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ags/tag2.xml" ContentType="application/vnd.openxmlformats-officedocument.presentationml.tags+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theme/theme3.xml" ContentType="application/vnd.openxmlformats-officedocument.theme+xml"/>
  <Override PartName="/ppt/tags/tag6.xml" ContentType="application/vnd.openxmlformats-officedocument.presentationml.tags+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4.xml" ContentType="application/vnd.openxmlformats-officedocument.theme+xml"/>
  <Override PartName="/ppt/tags/tag7.xml" ContentType="application/vnd.openxmlformats-officedocument.presentationml.tags+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theme/theme5.xml" ContentType="application/vnd.openxmlformats-officedocument.theme+xml"/>
  <Override PartName="/ppt/tags/tag8.xml" ContentType="application/vnd.openxmlformats-officedocument.presentationml.tags+xml"/>
  <Override PartName="/ppt/theme/theme6.xml" ContentType="application/vnd.openxmlformats-officedocument.theme+xml"/>
  <Override PartName="/ppt/theme/theme7.xml" ContentType="application/vnd.openxmlformats-officedocument.theme+xml"/>
  <Override PartName="/ppt/tags/tag9.xml" ContentType="application/vnd.openxmlformats-officedocument.presentationml.tags+xml"/>
  <Override PartName="/ppt/notesSlides/notesSlide1.xml" ContentType="application/vnd.openxmlformats-officedocument.presentationml.notesSlide+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notesSlides/notesSlide2.xml" ContentType="application/vnd.openxmlformats-officedocument.presentationml.notesSlide+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notesSlides/notesSlide3.xml" ContentType="application/vnd.openxmlformats-officedocument.presentationml.notesSlide+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notesSlides/notesSlide4.xml" ContentType="application/vnd.openxmlformats-officedocument.presentationml.notesSlide+xml"/>
  <Override PartName="/ppt/charts/chart4.xml" ContentType="application/vnd.openxmlformats-officedocument.drawingml.chart+xml"/>
  <Override PartName="/ppt/charts/chart5.xml" ContentType="application/vnd.openxmlformats-officedocument.drawingml.chart+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notesSlides/notesSlide5.xml" ContentType="application/vnd.openxmlformats-officedocument.presentationml.notesSlide+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charts/chart6.xml" ContentType="application/vnd.openxmlformats-officedocument.drawingml.chart+xml"/>
  <Override PartName="/ppt/charts/chart7.xml" ContentType="application/vnd.openxmlformats-officedocument.drawingml.chart+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charts/chart8.xml" ContentType="application/vnd.openxmlformats-officedocument.drawingml.chart+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charts/chart9.xml" ContentType="application/vnd.openxmlformats-officedocument.drawingml.chart+xml"/>
  <Override PartName="/ppt/charts/chart10.xml" ContentType="application/vnd.openxmlformats-officedocument.drawingml.chart+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charts/chart11.xml" ContentType="application/vnd.openxmlformats-officedocument.drawingml.chart+xml"/>
  <Override PartName="/ppt/charts/chart12.xml" ContentType="application/vnd.openxmlformats-officedocument.drawingml.chart+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notesSlides/notesSlide6.xml" ContentType="application/vnd.openxmlformats-officedocument.presentationml.notesSlide+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0.xml" ContentType="application/vnd.openxmlformats-officedocument.presentationml.tags+xml"/>
  <Override PartName="/ppt/charts/chart16.xml" ContentType="application/vnd.openxmlformats-officedocument.drawingml.chart+xml"/>
  <Override PartName="/ppt/charts/chart17.xml" ContentType="application/vnd.openxmlformats-officedocument.drawingml.chart+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charts/chart18.xml" ContentType="application/vnd.openxmlformats-officedocument.drawingml.chart+xml"/>
  <Override PartName="/ppt/tags/tag696.xml" ContentType="application/vnd.openxmlformats-officedocument.presentationml.tags+xml"/>
  <Override PartName="/ppt/tags/tag697.xml" ContentType="application/vnd.openxmlformats-officedocument.presentationml.tags+xml"/>
  <Override PartName="/ppt/notesSlides/notesSlide7.xml" ContentType="application/vnd.openxmlformats-officedocument.presentationml.notesSlide+xml"/>
  <Override PartName="/ppt/tags/tag698.xml" ContentType="application/vnd.openxmlformats-officedocument.presentationml.tags+xml"/>
  <Override PartName="/ppt/tags/tag699.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charts/chart19.xml" ContentType="application/vnd.openxmlformats-officedocument.drawingml.chart+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charts/chart20.xml" ContentType="application/vnd.openxmlformats-officedocument.drawingml.chart+xml"/>
  <Override PartName="/ppt/charts/style1.xml" ContentType="application/vnd.ms-office.chartstyle+xml"/>
  <Override PartName="/ppt/charts/colors1.xml" ContentType="application/vnd.ms-office.chartcolorstyle+xml"/>
  <Override PartName="/ppt/charts/chart21.xml" ContentType="application/vnd.openxmlformats-officedocument.drawingml.chart+xml"/>
  <Override PartName="/ppt/charts/style2.xml" ContentType="application/vnd.ms-office.chartstyle+xml"/>
  <Override PartName="/ppt/charts/colors2.xml" ContentType="application/vnd.ms-office.chartcolorstyle+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charts/chart22.xml" ContentType="application/vnd.openxmlformats-officedocument.drawingml.chart+xml"/>
  <Override PartName="/ppt/charts/chart23.xml" ContentType="application/vnd.openxmlformats-officedocument.drawingml.chart+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charts/chart24.xml" ContentType="application/vnd.openxmlformats-officedocument.drawingml.chart+xml"/>
  <Override PartName="/ppt/tags/tag759.xml" ContentType="application/vnd.openxmlformats-officedocument.presentationml.tags+xml"/>
  <Override PartName="/ppt/tags/tag760.xml" ContentType="application/vnd.openxmlformats-officedocument.presentationml.tags+xml"/>
  <Override PartName="/ppt/notesSlides/notesSlide8.xml" ContentType="application/vnd.openxmlformats-officedocument.presentationml.notesSlide+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charts/chart25.xml" ContentType="application/vnd.openxmlformats-officedocument.drawingml.chart+xml"/>
  <Override PartName="/ppt/charts/chart26.xml" ContentType="application/vnd.openxmlformats-officedocument.drawingml.chart+xml"/>
  <Override PartName="/ppt/tags/tag800.xml" ContentType="application/vnd.openxmlformats-officedocument.presentationml.tags+xml"/>
  <Override PartName="/ppt/tags/tag801.xml" ContentType="application/vnd.openxmlformats-officedocument.presentationml.tags+xml"/>
  <Override PartName="/ppt/notesSlides/notesSlide9.xml" ContentType="application/vnd.openxmlformats-officedocument.presentationml.notesSlide+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charts/chart27.xml" ContentType="application/vnd.openxmlformats-officedocument.drawingml.chart+xml"/>
  <Override PartName="/ppt/charts/style3.xml" ContentType="application/vnd.ms-office.chartstyle+xml"/>
  <Override PartName="/ppt/charts/colors3.xml" ContentType="application/vnd.ms-office.chartcolorstyle+xml"/>
  <Override PartName="/ppt/charts/chart28.xml" ContentType="application/vnd.openxmlformats-officedocument.drawingml.chart+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charts/chart29.xml" ContentType="application/vnd.openxmlformats-officedocument.drawingml.chart+xml"/>
  <Override PartName="/ppt/charts/chart30.xml" ContentType="application/vnd.openxmlformats-officedocument.drawingml.chart+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charts/chart31.xml" ContentType="application/vnd.openxmlformats-officedocument.drawingml.chart+xml"/>
  <Override PartName="/ppt/charts/chart32.xml" ContentType="application/vnd.openxmlformats-officedocument.drawingml.chart+xml"/>
  <Override PartName="/ppt/tags/tag894.xml" ContentType="application/vnd.openxmlformats-officedocument.presentationml.tags+xml"/>
  <Override PartName="/ppt/tags/tag895.xml" ContentType="application/vnd.openxmlformats-officedocument.presentationml.tags+xml"/>
  <Override PartName="/ppt/notesSlides/notesSlide10.xml" ContentType="application/vnd.openxmlformats-officedocument.presentationml.notesSlide+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tags/tag968.xml" ContentType="application/vnd.openxmlformats-officedocument.presentationml.tags+xml"/>
  <Override PartName="/ppt/tags/tag969.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charts/chart39.xml" ContentType="application/vnd.openxmlformats-officedocument.drawingml.chart+xml"/>
  <Override PartName="/ppt/charts/chart40.xml" ContentType="application/vnd.openxmlformats-officedocument.drawingml.chart+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charts/chart41.xml" ContentType="application/vnd.openxmlformats-officedocument.drawingml.chart+xml"/>
  <Override PartName="/ppt/charts/chart42.xml" ContentType="application/vnd.openxmlformats-officedocument.drawingml.chart+xml"/>
  <Override PartName="/ppt/tags/tag1028.xml" ContentType="application/vnd.openxmlformats-officedocument.presentationml.tags+xml"/>
  <Override PartName="/ppt/tags/tag1029.xml" ContentType="application/vnd.openxmlformats-officedocument.presentationml.tags+xml"/>
  <Override PartName="/ppt/notesSlides/notesSlide11.xml" ContentType="application/vnd.openxmlformats-officedocument.presentationml.notesSlide+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charts/chart43.xml" ContentType="application/vnd.openxmlformats-officedocument.drawingml.chart+xml"/>
  <Override PartName="/ppt/charts/chart44.xml" ContentType="application/vnd.openxmlformats-officedocument.drawingml.chart+xml"/>
  <Override PartName="/ppt/tags/tag1083.xml" ContentType="application/vnd.openxmlformats-officedocument.presentationml.tags+xml"/>
  <Override PartName="/ppt/tags/tag1084.xml" ContentType="application/vnd.openxmlformats-officedocument.presentationml.tags+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tags/tag1088.xml" ContentType="application/vnd.openxmlformats-officedocument.presentationml.tags+xml"/>
  <Override PartName="/ppt/tags/tag1089.xml" ContentType="application/vnd.openxmlformats-officedocument.presentationml.tags+xml"/>
  <Override PartName="/ppt/charts/chart45.xml" ContentType="application/vnd.openxmlformats-officedocument.drawingml.chart+xml"/>
  <Override PartName="/ppt/tags/tag1090.xml" ContentType="application/vnd.openxmlformats-officedocument.presentationml.tags+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tags/tag1095.xml" ContentType="application/vnd.openxmlformats-officedocument.presentationml.tags+xml"/>
  <Override PartName="/ppt/tags/tag1096.xml" ContentType="application/vnd.openxmlformats-officedocument.presentationml.tags+xml"/>
  <Override PartName="/ppt/charts/chart46.xml" ContentType="application/vnd.openxmlformats-officedocument.drawingml.chart+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tags/tag1102.xml" ContentType="application/vnd.openxmlformats-officedocument.presentationml.tags+xml"/>
  <Override PartName="/ppt/tags/tag1103.xml" ContentType="application/vnd.openxmlformats-officedocument.presentationml.tags+xml"/>
  <Override PartName="/ppt/charts/chart47.xml" ContentType="application/vnd.openxmlformats-officedocument.drawingml.chart+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tags/tag1112.xml" ContentType="application/vnd.openxmlformats-officedocument.presentationml.tags+xml"/>
  <Override PartName="/ppt/tags/tag1113.xml" ContentType="application/vnd.openxmlformats-officedocument.presentationml.tags+xml"/>
  <Override PartName="/ppt/tags/tag1114.xml" ContentType="application/vnd.openxmlformats-officedocument.presentationml.tags+xml"/>
  <Override PartName="/ppt/tags/tag1115.xml" ContentType="application/vnd.openxmlformats-officedocument.presentationml.tags+xml"/>
  <Override PartName="/ppt/tags/tag1116.xml" ContentType="application/vnd.openxmlformats-officedocument.presentationml.tags+xml"/>
  <Override PartName="/ppt/tags/tag1117.xml" ContentType="application/vnd.openxmlformats-officedocument.presentationml.tags+xml"/>
  <Override PartName="/ppt/charts/chart48.xml" ContentType="application/vnd.openxmlformats-officedocument.drawingml.chart+xml"/>
  <Override PartName="/ppt/tags/tag1118.xml" ContentType="application/vnd.openxmlformats-officedocument.presentationml.tags+xml"/>
  <Override PartName="/ppt/tags/tag1119.xml" ContentType="application/vnd.openxmlformats-officedocument.presentationml.tags+xml"/>
  <Override PartName="/ppt/tags/tag1120.xml" ContentType="application/vnd.openxmlformats-officedocument.presentationml.tags+xml"/>
  <Override PartName="/ppt/tags/tag1121.xml" ContentType="application/vnd.openxmlformats-officedocument.presentationml.tags+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charts/chart49.xml" ContentType="application/vnd.openxmlformats-officedocument.drawingml.chart+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charts/chart50.xml" ContentType="application/vnd.openxmlformats-officedocument.drawingml.chart+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tags/tag1144.xml" ContentType="application/vnd.openxmlformats-officedocument.presentationml.tags+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tags/tag1150.xml" ContentType="application/vnd.openxmlformats-officedocument.presentationml.tags+xml"/>
  <Override PartName="/ppt/tags/tag1151.xml" ContentType="application/vnd.openxmlformats-officedocument.presentationml.tags+xml"/>
  <Override PartName="/ppt/tags/tag1152.xml" ContentType="application/vnd.openxmlformats-officedocument.presentationml.tags+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charts/chart51.xml" ContentType="application/vnd.openxmlformats-officedocument.drawingml.chart+xml"/>
  <Override PartName="/ppt/charts/chart52.xml" ContentType="application/vnd.openxmlformats-officedocument.drawingml.chart+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0.xml" ContentType="application/vnd.openxmlformats-officedocument.presentationml.tags+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tags/tag1188.xml" ContentType="application/vnd.openxmlformats-officedocument.presentationml.tags+xml"/>
  <Override PartName="/ppt/charts/chart53.xml" ContentType="application/vnd.openxmlformats-officedocument.drawingml.chart+xml"/>
  <Override PartName="/ppt/charts/chart54.xml" ContentType="application/vnd.openxmlformats-officedocument.drawingml.chart+xml"/>
  <Override PartName="/ppt/tags/tag118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tags/tag1203.xml" ContentType="application/vnd.openxmlformats-officedocument.presentationml.tags+xml"/>
  <Override PartName="/ppt/charts/chart55.xml" ContentType="application/vnd.openxmlformats-officedocument.drawingml.chart+xml"/>
  <Override PartName="/ppt/charts/chart56.xml" ContentType="application/vnd.openxmlformats-officedocument.drawingml.chart+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tags/tag1207.xml" ContentType="application/vnd.openxmlformats-officedocument.presentationml.tags+xml"/>
  <Override PartName="/ppt/tags/tag1208.xml" ContentType="application/vnd.openxmlformats-officedocument.presentationml.tags+xml"/>
  <Override PartName="/ppt/tags/tag1209.xml" ContentType="application/vnd.openxmlformats-officedocument.presentationml.tags+xml"/>
  <Override PartName="/ppt/tags/tag1210.xml" ContentType="application/vnd.openxmlformats-officedocument.presentationml.tags+xml"/>
  <Override PartName="/ppt/tags/tag1211.xml" ContentType="application/vnd.openxmlformats-officedocument.presentationml.tags+xml"/>
  <Override PartName="/ppt/tags/tag1212.xml" ContentType="application/vnd.openxmlformats-officedocument.presentationml.tags+xml"/>
  <Override PartName="/ppt/tags/tag1213.xml" ContentType="application/vnd.openxmlformats-officedocument.presentationml.tags+xml"/>
  <Override PartName="/ppt/tags/tag1214.xml" ContentType="application/vnd.openxmlformats-officedocument.presentationml.tags+xml"/>
  <Override PartName="/ppt/tags/tag1215.xml" ContentType="application/vnd.openxmlformats-officedocument.presentationml.tags+xml"/>
  <Override PartName="/ppt/tags/tag1216.xml" ContentType="application/vnd.openxmlformats-officedocument.presentationml.tags+xml"/>
  <Override PartName="/ppt/tags/tag1217.xml" ContentType="application/vnd.openxmlformats-officedocument.presentationml.tags+xml"/>
  <Override PartName="/ppt/tags/tag1218.xml" ContentType="application/vnd.openxmlformats-officedocument.presentationml.tags+xml"/>
  <Override PartName="/ppt/tags/tag1219.xml" ContentType="application/vnd.openxmlformats-officedocument.presentationml.tags+xml"/>
  <Override PartName="/ppt/tags/tag1220.xml" ContentType="application/vnd.openxmlformats-officedocument.presentationml.tags+xml"/>
  <Override PartName="/ppt/charts/chart57.xml" ContentType="application/vnd.openxmlformats-officedocument.drawingml.chart+xml"/>
  <Override PartName="/ppt/charts/chart58.xml" ContentType="application/vnd.openxmlformats-officedocument.drawingml.chart+xml"/>
  <Override PartName="/ppt/tags/tag1221.xml" ContentType="application/vnd.openxmlformats-officedocument.presentationml.tags+xml"/>
  <Override PartName="/ppt/tags/tag1222.xml" ContentType="application/vnd.openxmlformats-officedocument.presentationml.tags+xml"/>
  <Override PartName="/ppt/notesSlides/notesSlide12.xml" ContentType="application/vnd.openxmlformats-officedocument.presentationml.notesSlide+xml"/>
  <Override PartName="/ppt/tags/tag1223.xml" ContentType="application/vnd.openxmlformats-officedocument.presentationml.tags+xml"/>
  <Override PartName="/ppt/tags/tag1224.xml" ContentType="application/vnd.openxmlformats-officedocument.presentationml.tags+xml"/>
  <Override PartName="/ppt/tags/tag1225.xml" ContentType="application/vnd.openxmlformats-officedocument.presentationml.tags+xml"/>
  <Override PartName="/ppt/tags/tag1226.xml" ContentType="application/vnd.openxmlformats-officedocument.presentationml.tags+xml"/>
  <Override PartName="/ppt/tags/tag1227.xml" ContentType="application/vnd.openxmlformats-officedocument.presentationml.tags+xml"/>
  <Override PartName="/ppt/tags/tag1228.xml" ContentType="application/vnd.openxmlformats-officedocument.presentationml.tags+xml"/>
  <Override PartName="/ppt/tags/tag1229.xml" ContentType="application/vnd.openxmlformats-officedocument.presentationml.tags+xml"/>
  <Override PartName="/ppt/tags/tag1230.xml" ContentType="application/vnd.openxmlformats-officedocument.presentationml.tags+xml"/>
  <Override PartName="/ppt/tags/tag1231.xml" ContentType="application/vnd.openxmlformats-officedocument.presentationml.tags+xml"/>
  <Override PartName="/ppt/tags/tag1232.xml" ContentType="application/vnd.openxmlformats-officedocument.presentationml.tags+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tags/tag1236.xml" ContentType="application/vnd.openxmlformats-officedocument.presentationml.tags+xml"/>
  <Override PartName="/ppt/tags/tag1237.xml" ContentType="application/vnd.openxmlformats-officedocument.presentationml.tags+xml"/>
  <Override PartName="/ppt/tags/tag1238.xml" ContentType="application/vnd.openxmlformats-officedocument.presentationml.tags+xml"/>
  <Override PartName="/ppt/tags/tag1239.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tags/tag1257.xml" ContentType="application/vnd.openxmlformats-officedocument.presentationml.tags+xml"/>
  <Override PartName="/ppt/tags/tag1258.xml" ContentType="application/vnd.openxmlformats-officedocument.presentationml.tags+xml"/>
  <Override PartName="/ppt/tags/tag1259.xml" ContentType="application/vnd.openxmlformats-officedocument.presentationml.tags+xml"/>
  <Override PartName="/ppt/tags/tag1260.xml" ContentType="application/vnd.openxmlformats-officedocument.presentationml.tags+xml"/>
  <Override PartName="/ppt/tags/tag1261.xml" ContentType="application/vnd.openxmlformats-officedocument.presentationml.tags+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charts/chart59.xml" ContentType="application/vnd.openxmlformats-officedocument.drawingml.chart+xml"/>
  <Override PartName="/ppt/charts/chart60.xml" ContentType="application/vnd.openxmlformats-officedocument.drawingml.chart+xml"/>
  <Override PartName="/ppt/tags/tag1272.xml" ContentType="application/vnd.openxmlformats-officedocument.presentationml.tags+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tags/tag1276.xml" ContentType="application/vnd.openxmlformats-officedocument.presentationml.tags+xml"/>
  <Override PartName="/ppt/tags/tag1277.xml" ContentType="application/vnd.openxmlformats-officedocument.presentationml.tags+xml"/>
  <Override PartName="/ppt/tags/tag1278.xml" ContentType="application/vnd.openxmlformats-officedocument.presentationml.tags+xml"/>
  <Override PartName="/ppt/tags/tag1279.xml" ContentType="application/vnd.openxmlformats-officedocument.presentationml.tags+xml"/>
  <Override PartName="/ppt/tags/tag1280.xml" ContentType="application/vnd.openxmlformats-officedocument.presentationml.tags+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charts/chart61.xml" ContentType="application/vnd.openxmlformats-officedocument.drawingml.chart+xml"/>
  <Override PartName="/ppt/tags/tag1286.xml" ContentType="application/vnd.openxmlformats-officedocument.presentationml.tags+xml"/>
  <Override PartName="/ppt/tags/tag1287.xml" ContentType="application/vnd.openxmlformats-officedocument.presentationml.tags+xml"/>
  <Override PartName="/ppt/tags/tag1288.xml" ContentType="application/vnd.openxmlformats-officedocument.presentationml.tags+xml"/>
  <Override PartName="/ppt/tags/tag128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charts/chart62.xml" ContentType="application/vnd.openxmlformats-officedocument.drawingml.chart+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00.xml" ContentType="application/vnd.openxmlformats-officedocument.presentationml.tags+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tags/tag1318.xml" ContentType="application/vnd.openxmlformats-officedocument.presentationml.tags+xml"/>
  <Override PartName="/ppt/tags/tag1319.xml" ContentType="application/vnd.openxmlformats-officedocument.presentationml.tags+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tags/tag1327.xml" ContentType="application/vnd.openxmlformats-officedocument.presentationml.tags+xml"/>
  <Override PartName="/ppt/tags/tag1328.xml" ContentType="application/vnd.openxmlformats-officedocument.presentationml.tags+xml"/>
  <Override PartName="/ppt/tags/tag1329.xml" ContentType="application/vnd.openxmlformats-officedocument.presentationml.tags+xml"/>
  <Override PartName="/ppt/charts/chart63.xml" ContentType="application/vnd.openxmlformats-officedocument.drawingml.chart+xml"/>
  <Override PartName="/ppt/charts/chart64.xml" ContentType="application/vnd.openxmlformats-officedocument.drawingml.chart+xml"/>
  <Override PartName="/ppt/tags/tag1330.xml" ContentType="application/vnd.openxmlformats-officedocument.presentationml.tags+xml"/>
  <Override PartName="/ppt/tags/tag1331.xml" ContentType="application/vnd.openxmlformats-officedocument.presentationml.tags+xml"/>
  <Override PartName="/ppt/notesSlides/notesSlide13.xml" ContentType="application/vnd.openxmlformats-officedocument.presentationml.notesSlide+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tags/tag1338.xml" ContentType="application/vnd.openxmlformats-officedocument.presentationml.tags+xml"/>
  <Override PartName="/ppt/charts/chart65.xml" ContentType="application/vnd.openxmlformats-officedocument.drawingml.chart+xml"/>
  <Override PartName="/ppt/charts/style4.xml" ContentType="application/vnd.ms-office.chartstyle+xml"/>
  <Override PartName="/ppt/charts/colors4.xml" ContentType="application/vnd.ms-office.chartcolorstyle+xml"/>
  <Override PartName="/ppt/tags/tag1339.xml" ContentType="application/vnd.openxmlformats-officedocument.presentationml.tags+xml"/>
  <Override PartName="/ppt/tags/tag1340.xml" ContentType="application/vnd.openxmlformats-officedocument.presentationml.tags+xml"/>
  <Override PartName="/ppt/tags/tag1341.xml" ContentType="application/vnd.openxmlformats-officedocument.presentationml.tags+xml"/>
  <Override PartName="/ppt/charts/chart66.xml" ContentType="application/vnd.openxmlformats-officedocument.drawingml.chart+xml"/>
  <Override PartName="/ppt/charts/style5.xml" ContentType="application/vnd.ms-office.chartstyle+xml"/>
  <Override PartName="/ppt/charts/colors5.xml" ContentType="application/vnd.ms-office.chartcolorstyle+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charts/chart67.xml" ContentType="application/vnd.openxmlformats-officedocument.drawingml.chart+xml"/>
  <Override PartName="/ppt/charts/style6.xml" ContentType="application/vnd.ms-office.chartstyle+xml"/>
  <Override PartName="/ppt/charts/colors6.xml" ContentType="application/vnd.ms-office.chartcolorstyle+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charts/chart68.xml" ContentType="application/vnd.openxmlformats-officedocument.drawingml.chart+xml"/>
  <Override PartName="/ppt/charts/style7.xml" ContentType="application/vnd.ms-office.chartstyle+xml"/>
  <Override PartName="/ppt/charts/colors7.xml" ContentType="application/vnd.ms-office.chartcolorstyle+xml"/>
  <Override PartName="/ppt/tags/tag1348.xml" ContentType="application/vnd.openxmlformats-officedocument.presentationml.tags+xml"/>
  <Override PartName="/ppt/tags/tag1349.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tags/tag1372.xml" ContentType="application/vnd.openxmlformats-officedocument.presentationml.tags+xml"/>
  <Override PartName="/ppt/tags/tag1373.xml" ContentType="application/vnd.openxmlformats-officedocument.presentationml.tags+xml"/>
  <Override PartName="/ppt/tags/tag1374.xml" ContentType="application/vnd.openxmlformats-officedocument.presentationml.tags+xml"/>
  <Override PartName="/ppt/tags/tag1375.xml" ContentType="application/vnd.openxmlformats-officedocument.presentationml.tags+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0.xml" ContentType="application/vnd.openxmlformats-officedocument.presentationml.tags+xml"/>
  <Override PartName="/ppt/tags/tag1381.xml" ContentType="application/vnd.openxmlformats-officedocument.presentationml.tags+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tags/tag1402.xml" ContentType="application/vnd.openxmlformats-officedocument.presentationml.tags+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tags/tag1428.xml" ContentType="application/vnd.openxmlformats-officedocument.presentationml.tags+xml"/>
  <Override PartName="/ppt/tags/tag1429.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0.xml" ContentType="application/vnd.openxmlformats-officedocument.presentationml.tags+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tags/tag1530.xml" ContentType="application/vnd.openxmlformats-officedocument.presentationml.tags+xml"/>
  <Override PartName="/ppt/tags/tag1531.xml" ContentType="application/vnd.openxmlformats-officedocument.presentationml.tags+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tags/tag1550.xml" ContentType="application/vnd.openxmlformats-officedocument.presentationml.tags+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charts/chart69.xml" ContentType="application/vnd.openxmlformats-officedocument.drawingml.chart+xml"/>
  <Override PartName="/ppt/tags/tag1579.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tags/tag1584.xml" ContentType="application/vnd.openxmlformats-officedocument.presentationml.tags+xml"/>
  <Override PartName="/ppt/tags/tag1585.xml" ContentType="application/vnd.openxmlformats-officedocument.presentationml.tags+xml"/>
  <Override PartName="/ppt/tags/tag1586.xml" ContentType="application/vnd.openxmlformats-officedocument.presentationml.tags+xml"/>
  <Override PartName="/ppt/tags/tag1587.xml" ContentType="application/vnd.openxmlformats-officedocument.presentationml.tags+xml"/>
  <Override PartName="/ppt/tags/tag1588.xml" ContentType="application/vnd.openxmlformats-officedocument.presentationml.tags+xml"/>
  <Override PartName="/ppt/tags/tag1589.xml" ContentType="application/vnd.openxmlformats-officedocument.presentationml.tags+xml"/>
  <Override PartName="/ppt/notesSlides/notesSlide14.xml" ContentType="application/vnd.openxmlformats-officedocument.presentationml.notesSlide+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tags/tag1609.xml" ContentType="application/vnd.openxmlformats-officedocument.presentationml.tags+xml"/>
  <Override PartName="/ppt/tags/tag1610.xml" ContentType="application/vnd.openxmlformats-officedocument.presentationml.tags+xml"/>
  <Override PartName="/ppt/tags/tag1611.xml" ContentType="application/vnd.openxmlformats-officedocument.presentationml.tags+xml"/>
  <Override PartName="/ppt/charts/chart70.xml" ContentType="application/vnd.openxmlformats-officedocument.drawingml.chart+xml"/>
  <Override PartName="/ppt/charts/chart71.xml" ContentType="application/vnd.openxmlformats-officedocument.drawingml.chart+xml"/>
  <Override PartName="/ppt/tags/tag1612.xml" ContentType="application/vnd.openxmlformats-officedocument.presentationml.tags+xml"/>
  <Override PartName="/ppt/tags/tag1613.xml" ContentType="application/vnd.openxmlformats-officedocument.presentationml.tags+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charts/chart72.xml" ContentType="application/vnd.openxmlformats-officedocument.drawingml.chart+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tags/tag1627.xml" ContentType="application/vnd.openxmlformats-officedocument.presentationml.tags+xml"/>
  <Override PartName="/ppt/tags/tag1628.xml" ContentType="application/vnd.openxmlformats-officedocument.presentationml.tags+xml"/>
  <Override PartName="/ppt/tags/tag1629.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charts/chart73.xml" ContentType="application/vnd.openxmlformats-officedocument.drawingml.chart+xml"/>
  <Override PartName="/ppt/charts/style8.xml" ContentType="application/vnd.ms-office.chartstyle+xml"/>
  <Override PartName="/ppt/charts/colors8.xml" ContentType="application/vnd.ms-office.chartcolorstyle+xml"/>
  <Override PartName="/ppt/drawings/drawing1.xml" ContentType="application/vnd.openxmlformats-officedocument.drawingml.chartshapes+xml"/>
  <Override PartName="/ppt/charts/chart74.xml" ContentType="application/vnd.openxmlformats-officedocument.drawingml.chart+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tags/tag1656.xml" ContentType="application/vnd.openxmlformats-officedocument.presentationml.tags+xml"/>
  <Override PartName="/ppt/tags/tag1657.xml" ContentType="application/vnd.openxmlformats-officedocument.presentationml.tags+xml"/>
  <Override PartName="/ppt/tags/tag1658.xml" ContentType="application/vnd.openxmlformats-officedocument.presentationml.tags+xml"/>
  <Override PartName="/ppt/tags/tag1659.xml" ContentType="application/vnd.openxmlformats-officedocument.presentationml.tags+xml"/>
  <Override PartName="/ppt/tags/tag1660.xml" ContentType="application/vnd.openxmlformats-officedocument.presentationml.tags+xml"/>
  <Override PartName="/ppt/tags/tag1661.xml" ContentType="application/vnd.openxmlformats-officedocument.presentationml.tags+xml"/>
  <Override PartName="/ppt/tags/tag1662.xml" ContentType="application/vnd.openxmlformats-officedocument.presentationml.tags+xml"/>
  <Override PartName="/ppt/tags/tag1663.xml" ContentType="application/vnd.openxmlformats-officedocument.presentationml.tags+xml"/>
  <Override PartName="/ppt/tags/tag1664.xml" ContentType="application/vnd.openxmlformats-officedocument.presentationml.tags+xml"/>
  <Override PartName="/ppt/tags/tag1665.xml" ContentType="application/vnd.openxmlformats-officedocument.presentationml.tags+xml"/>
  <Override PartName="/ppt/tags/tag1666.xml" ContentType="application/vnd.openxmlformats-officedocument.presentationml.tags+xml"/>
  <Override PartName="/ppt/tags/tag1667.xml" ContentType="application/vnd.openxmlformats-officedocument.presentationml.tags+xml"/>
  <Override PartName="/ppt/tags/tag1668.xml" ContentType="application/vnd.openxmlformats-officedocument.presentationml.tags+xml"/>
  <Override PartName="/ppt/tags/tag1669.xml" ContentType="application/vnd.openxmlformats-officedocument.presentationml.tags+xml"/>
  <Override PartName="/ppt/charts/chart75.xml" ContentType="application/vnd.openxmlformats-officedocument.drawingml.chart+xml"/>
  <Override PartName="/ppt/charts/chart76.xml" ContentType="application/vnd.openxmlformats-officedocument.drawingml.chart+xml"/>
  <Override PartName="/ppt/tags/tag1670.xml" ContentType="application/vnd.openxmlformats-officedocument.presentationml.tags+xml"/>
  <Override PartName="/ppt/tags/tag1671.xml" ContentType="application/vnd.openxmlformats-officedocument.presentationml.tags+xml"/>
  <Override PartName="/ppt/tags/tag1672.xml" ContentType="application/vnd.openxmlformats-officedocument.presentationml.tags+xml"/>
  <Override PartName="/ppt/tags/tag1673.xml" ContentType="application/vnd.openxmlformats-officedocument.presentationml.tags+xml"/>
  <Override PartName="/ppt/tags/tag1674.xml" ContentType="application/vnd.openxmlformats-officedocument.presentationml.tags+xml"/>
  <Override PartName="/ppt/tags/tag1675.xml" ContentType="application/vnd.openxmlformats-officedocument.presentationml.tags+xml"/>
  <Override PartName="/ppt/tags/tag1676.xml" ContentType="application/vnd.openxmlformats-officedocument.presentationml.tags+xml"/>
  <Override PartName="/ppt/tags/tag1677.xml" ContentType="application/vnd.openxmlformats-officedocument.presentationml.tags+xml"/>
  <Override PartName="/ppt/tags/tag1678.xml" ContentType="application/vnd.openxmlformats-officedocument.presentationml.tags+xml"/>
  <Override PartName="/ppt/tags/tag1679.xml" ContentType="application/vnd.openxmlformats-officedocument.presentationml.tags+xml"/>
  <Override PartName="/ppt/tags/tag1680.xml" ContentType="application/vnd.openxmlformats-officedocument.presentationml.tags+xml"/>
  <Override PartName="/ppt/tags/tag1681.xml" ContentType="application/vnd.openxmlformats-officedocument.presentationml.tags+xml"/>
  <Override PartName="/ppt/tags/tag1682.xml" ContentType="application/vnd.openxmlformats-officedocument.presentationml.tags+xml"/>
  <Override PartName="/ppt/tags/tag1683.xml" ContentType="application/vnd.openxmlformats-officedocument.presentationml.tags+xml"/>
  <Override PartName="/ppt/tags/tag1684.xml" ContentType="application/vnd.openxmlformats-officedocument.presentationml.tags+xml"/>
  <Override PartName="/ppt/tags/tag1685.xml" ContentType="application/vnd.openxmlformats-officedocument.presentationml.tags+xml"/>
  <Override PartName="/ppt/tags/tag1686.xml" ContentType="application/vnd.openxmlformats-officedocument.presentationml.tags+xml"/>
  <Override PartName="/ppt/tags/tag1687.xml" ContentType="application/vnd.openxmlformats-officedocument.presentationml.tags+xml"/>
  <Override PartName="/ppt/tags/tag1688.xml" ContentType="application/vnd.openxmlformats-officedocument.presentationml.tags+xml"/>
  <Override PartName="/ppt/tags/tag1689.xml" ContentType="application/vnd.openxmlformats-officedocument.presentationml.tags+xml"/>
  <Override PartName="/ppt/tags/tag1690.xml" ContentType="application/vnd.openxmlformats-officedocument.presentationml.tags+xml"/>
  <Override PartName="/ppt/tags/tag1691.xml" ContentType="application/vnd.openxmlformats-officedocument.presentationml.tags+xml"/>
  <Override PartName="/ppt/tags/tag1692.xml" ContentType="application/vnd.openxmlformats-officedocument.presentationml.tags+xml"/>
  <Override PartName="/ppt/tags/tag1693.xml" ContentType="application/vnd.openxmlformats-officedocument.presentationml.tags+xml"/>
  <Override PartName="/ppt/tags/tag1694.xml" ContentType="application/vnd.openxmlformats-officedocument.presentationml.tags+xml"/>
  <Override PartName="/ppt/tags/tag1695.xml" ContentType="application/vnd.openxmlformats-officedocument.presentationml.tags+xml"/>
  <Override PartName="/ppt/tags/tag1696.xml" ContentType="application/vnd.openxmlformats-officedocument.presentationml.tags+xml"/>
  <Override PartName="/ppt/tags/tag1697.xml" ContentType="application/vnd.openxmlformats-officedocument.presentationml.tags+xml"/>
  <Override PartName="/ppt/tags/tag1698.xml" ContentType="application/vnd.openxmlformats-officedocument.presentationml.tags+xml"/>
  <Override PartName="/ppt/tags/tag1699.xml" ContentType="application/vnd.openxmlformats-officedocument.presentationml.tags+xml"/>
  <Override PartName="/ppt/tags/tag1700.xml" ContentType="application/vnd.openxmlformats-officedocument.presentationml.tags+xml"/>
  <Override PartName="/ppt/tags/tag1701.xml" ContentType="application/vnd.openxmlformats-officedocument.presentationml.tags+xml"/>
  <Override PartName="/ppt/tags/tag1702.xml" ContentType="application/vnd.openxmlformats-officedocument.presentationml.tags+xml"/>
  <Override PartName="/ppt/tags/tag1703.xml" ContentType="application/vnd.openxmlformats-officedocument.presentationml.tags+xml"/>
  <Override PartName="/ppt/tags/tag1704.xml" ContentType="application/vnd.openxmlformats-officedocument.presentationml.tags+xml"/>
  <Override PartName="/ppt/tags/tag1705.xml" ContentType="application/vnd.openxmlformats-officedocument.presentationml.tags+xml"/>
  <Override PartName="/ppt/charts/chart77.xml" ContentType="application/vnd.openxmlformats-officedocument.drawingml.chart+xml"/>
  <Override PartName="/ppt/charts/chart78.xml" ContentType="application/vnd.openxmlformats-officedocument.drawingml.chart+xml"/>
  <Override PartName="/ppt/tags/tag1706.xml" ContentType="application/vnd.openxmlformats-officedocument.presentationml.tags+xml"/>
  <Override PartName="/ppt/tags/tag1707.xml" ContentType="application/vnd.openxmlformats-officedocument.presentationml.tags+xml"/>
  <Override PartName="/ppt/tags/tag1708.xml" ContentType="application/vnd.openxmlformats-officedocument.presentationml.tags+xml"/>
  <Override PartName="/ppt/tags/tag1709.xml" ContentType="application/vnd.openxmlformats-officedocument.presentationml.tags+xml"/>
  <Override PartName="/ppt/tags/tag1710.xml" ContentType="application/vnd.openxmlformats-officedocument.presentationml.tags+xml"/>
  <Override PartName="/ppt/tags/tag1711.xml" ContentType="application/vnd.openxmlformats-officedocument.presentationml.tags+xml"/>
  <Override PartName="/ppt/tags/tag1712.xml" ContentType="application/vnd.openxmlformats-officedocument.presentationml.tags+xml"/>
  <Override PartName="/ppt/tags/tag1713.xml" ContentType="application/vnd.openxmlformats-officedocument.presentationml.tags+xml"/>
  <Override PartName="/ppt/tags/tag1714.xml" ContentType="application/vnd.openxmlformats-officedocument.presentationml.tags+xml"/>
  <Override PartName="/ppt/tags/tag1715.xml" ContentType="application/vnd.openxmlformats-officedocument.presentationml.tags+xml"/>
  <Override PartName="/ppt/tags/tag1716.xml" ContentType="application/vnd.openxmlformats-officedocument.presentationml.tags+xml"/>
  <Override PartName="/ppt/tags/tag1717.xml" ContentType="application/vnd.openxmlformats-officedocument.presentationml.tags+xml"/>
  <Override PartName="/ppt/tags/tag1718.xml" ContentType="application/vnd.openxmlformats-officedocument.presentationml.tags+xml"/>
  <Override PartName="/ppt/tags/tag1719.xml" ContentType="application/vnd.openxmlformats-officedocument.presentationml.tags+xml"/>
  <Override PartName="/ppt/tags/tag1720.xml" ContentType="application/vnd.openxmlformats-officedocument.presentationml.tags+xml"/>
  <Override PartName="/ppt/tags/tag1721.xml" ContentType="application/vnd.openxmlformats-officedocument.presentationml.tags+xml"/>
  <Override PartName="/ppt/tags/tag1722.xml" ContentType="application/vnd.openxmlformats-officedocument.presentationml.tags+xml"/>
  <Override PartName="/ppt/tags/tag1723.xml" ContentType="application/vnd.openxmlformats-officedocument.presentationml.tags+xml"/>
  <Override PartName="/ppt/tags/tag1724.xml" ContentType="application/vnd.openxmlformats-officedocument.presentationml.tags+xml"/>
  <Override PartName="/ppt/tags/tag1725.xml" ContentType="application/vnd.openxmlformats-officedocument.presentationml.tags+xml"/>
  <Override PartName="/ppt/tags/tag1726.xml" ContentType="application/vnd.openxmlformats-officedocument.presentationml.tags+xml"/>
  <Override PartName="/ppt/tags/tag1727.xml" ContentType="application/vnd.openxmlformats-officedocument.presentationml.tags+xml"/>
  <Override PartName="/ppt/tags/tag1728.xml" ContentType="application/vnd.openxmlformats-officedocument.presentationml.tags+xml"/>
  <Override PartName="/ppt/tags/tag1729.xml" ContentType="application/vnd.openxmlformats-officedocument.presentationml.tags+xml"/>
  <Override PartName="/ppt/tags/tag1730.xml" ContentType="application/vnd.openxmlformats-officedocument.presentationml.tags+xml"/>
  <Override PartName="/ppt/tags/tag1731.xml" ContentType="application/vnd.openxmlformats-officedocument.presentationml.tags+xml"/>
  <Override PartName="/ppt/tags/tag1732.xml" ContentType="application/vnd.openxmlformats-officedocument.presentationml.tags+xml"/>
  <Override PartName="/ppt/tags/tag1733.xml" ContentType="application/vnd.openxmlformats-officedocument.presentationml.tags+xml"/>
  <Override PartName="/ppt/tags/tag1734.xml" ContentType="application/vnd.openxmlformats-officedocument.presentationml.tags+xml"/>
  <Override PartName="/ppt/tags/tag1735.xml" ContentType="application/vnd.openxmlformats-officedocument.presentationml.tags+xml"/>
  <Override PartName="/ppt/tags/tag1736.xml" ContentType="application/vnd.openxmlformats-officedocument.presentationml.tags+xml"/>
  <Override PartName="/ppt/charts/chart79.xml" ContentType="application/vnd.openxmlformats-officedocument.drawingml.chart+xml"/>
  <Override PartName="/ppt/tags/tag1737.xml" ContentType="application/vnd.openxmlformats-officedocument.presentationml.tags+xml"/>
  <Override PartName="/ppt/tags/tag1738.xml" ContentType="application/vnd.openxmlformats-officedocument.presentationml.tags+xml"/>
  <Override PartName="/ppt/tags/tag1739.xml" ContentType="application/vnd.openxmlformats-officedocument.presentationml.tags+xml"/>
  <Override PartName="/ppt/tags/tag1740.xml" ContentType="application/vnd.openxmlformats-officedocument.presentationml.tags+xml"/>
  <Override PartName="/ppt/tags/tag1741.xml" ContentType="application/vnd.openxmlformats-officedocument.presentationml.tags+xml"/>
  <Override PartName="/ppt/notesSlides/notesSlide15.xml" ContentType="application/vnd.openxmlformats-officedocument.presentationml.notesSlide+xml"/>
  <Override PartName="/ppt/tags/tag1742.xml" ContentType="application/vnd.openxmlformats-officedocument.presentationml.tags+xml"/>
  <Override PartName="/ppt/tags/tag1743.xml" ContentType="application/vnd.openxmlformats-officedocument.presentationml.tags+xml"/>
  <Override PartName="/ppt/tags/tag1744.xml" ContentType="application/vnd.openxmlformats-officedocument.presentationml.tags+xml"/>
  <Override PartName="/ppt/tags/tag1745.xml" ContentType="application/vnd.openxmlformats-officedocument.presentationml.tags+xml"/>
  <Override PartName="/ppt/tags/tag1746.xml" ContentType="application/vnd.openxmlformats-officedocument.presentationml.tags+xml"/>
  <Override PartName="/ppt/tags/tag1747.xml" ContentType="application/vnd.openxmlformats-officedocument.presentationml.tags+xml"/>
  <Override PartName="/ppt/tags/tag1748.xml" ContentType="application/vnd.openxmlformats-officedocument.presentationml.tags+xml"/>
  <Override PartName="/ppt/tags/tag1749.xml" ContentType="application/vnd.openxmlformats-officedocument.presentationml.tags+xml"/>
  <Override PartName="/ppt/tags/tag1750.xml" ContentType="application/vnd.openxmlformats-officedocument.presentationml.tags+xml"/>
  <Override PartName="/ppt/tags/tag1751.xml" ContentType="application/vnd.openxmlformats-officedocument.presentationml.tags+xml"/>
  <Override PartName="/ppt/tags/tag1752.xml" ContentType="application/vnd.openxmlformats-officedocument.presentationml.tags+xml"/>
  <Override PartName="/ppt/tags/tag1753.xml" ContentType="application/vnd.openxmlformats-officedocument.presentationml.tags+xml"/>
  <Override PartName="/ppt/tags/tag1754.xml" ContentType="application/vnd.openxmlformats-officedocument.presentationml.tags+xml"/>
  <Override PartName="/ppt/tags/tag1755.xml" ContentType="application/vnd.openxmlformats-officedocument.presentationml.tags+xml"/>
  <Override PartName="/ppt/tags/tag1756.xml" ContentType="application/vnd.openxmlformats-officedocument.presentationml.tags+xml"/>
  <Override PartName="/ppt/tags/tag1757.xml" ContentType="application/vnd.openxmlformats-officedocument.presentationml.tags+xml"/>
  <Override PartName="/ppt/tags/tag1758.xml" ContentType="application/vnd.openxmlformats-officedocument.presentationml.tags+xml"/>
  <Override PartName="/ppt/tags/tag1759.xml" ContentType="application/vnd.openxmlformats-officedocument.presentationml.tags+xml"/>
  <Override PartName="/ppt/charts/chart80.xml" ContentType="application/vnd.openxmlformats-officedocument.drawingml.chart+xml"/>
  <Override PartName="/ppt/charts/style9.xml" ContentType="application/vnd.ms-office.chartstyle+xml"/>
  <Override PartName="/ppt/charts/colors9.xml" ContentType="application/vnd.ms-office.chartcolorstyle+xml"/>
  <Override PartName="/ppt/tags/tag1760.xml" ContentType="application/vnd.openxmlformats-officedocument.presentationml.tags+xml"/>
  <Override PartName="/ppt/tags/tag1761.xml" ContentType="application/vnd.openxmlformats-officedocument.presentationml.tags+xml"/>
  <Override PartName="/ppt/tags/tag1762.xml" ContentType="application/vnd.openxmlformats-officedocument.presentationml.tags+xml"/>
  <Override PartName="/ppt/tags/tag1763.xml" ContentType="application/vnd.openxmlformats-officedocument.presentationml.tags+xml"/>
  <Override PartName="/ppt/charts/chart81.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82.xml" ContentType="application/vnd.openxmlformats-officedocument.drawingml.chart+xml"/>
  <Override PartName="/ppt/charts/style11.xml" ContentType="application/vnd.ms-office.chartstyle+xml"/>
  <Override PartName="/ppt/charts/colors11.xml" ContentType="application/vnd.ms-office.chartcolorstyle+xml"/>
  <Override PartName="/ppt/tags/tag1764.xml" ContentType="application/vnd.openxmlformats-officedocument.presentationml.tags+xml"/>
  <Override PartName="/ppt/tags/tag1765.xml" ContentType="application/vnd.openxmlformats-officedocument.presentationml.tags+xml"/>
  <Override PartName="/ppt/tags/tag1766.xml" ContentType="application/vnd.openxmlformats-officedocument.presentationml.tags+xml"/>
  <Override PartName="/ppt/tags/tag1767.xml" ContentType="application/vnd.openxmlformats-officedocument.presentationml.tags+xml"/>
  <Override PartName="/ppt/charts/chart83.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84.xml" ContentType="application/vnd.openxmlformats-officedocument.drawingml.chart+xml"/>
  <Override PartName="/ppt/charts/style13.xml" ContentType="application/vnd.ms-office.chartstyle+xml"/>
  <Override PartName="/ppt/charts/colors13.xml" ContentType="application/vnd.ms-office.chartcolorstyle+xml"/>
  <Override PartName="/ppt/tags/tag1768.xml" ContentType="application/vnd.openxmlformats-officedocument.presentationml.tags+xml"/>
  <Override PartName="/ppt/tags/tag1769.xml" ContentType="application/vnd.openxmlformats-officedocument.presentationml.tags+xml"/>
  <Override PartName="/ppt/tags/tag1770.xml" ContentType="application/vnd.openxmlformats-officedocument.presentationml.tags+xml"/>
  <Override PartName="/ppt/tags/tag1771.xml" ContentType="application/vnd.openxmlformats-officedocument.presentationml.tags+xml"/>
  <Override PartName="/ppt/tags/tag1772.xml" ContentType="application/vnd.openxmlformats-officedocument.presentationml.tags+xml"/>
  <Override PartName="/ppt/tags/tag1773.xml" ContentType="application/vnd.openxmlformats-officedocument.presentationml.tags+xml"/>
  <Override PartName="/ppt/tags/tag1774.xml" ContentType="application/vnd.openxmlformats-officedocument.presentationml.tags+xml"/>
  <Override PartName="/ppt/tags/tag1775.xml" ContentType="application/vnd.openxmlformats-officedocument.presentationml.tags+xml"/>
  <Override PartName="/ppt/tags/tag1776.xml" ContentType="application/vnd.openxmlformats-officedocument.presentationml.tags+xml"/>
  <Override PartName="/ppt/tags/tag1777.xml" ContentType="application/vnd.openxmlformats-officedocument.presentationml.tags+xml"/>
  <Override PartName="/ppt/tags/tag1778.xml" ContentType="application/vnd.openxmlformats-officedocument.presentationml.tags+xml"/>
  <Override PartName="/ppt/tags/tag1779.xml" ContentType="application/vnd.openxmlformats-officedocument.presentationml.tags+xml"/>
  <Override PartName="/ppt/tags/tag1780.xml" ContentType="application/vnd.openxmlformats-officedocument.presentationml.tags+xml"/>
  <Override PartName="/ppt/tags/tag1781.xml" ContentType="application/vnd.openxmlformats-officedocument.presentationml.tags+xml"/>
  <Override PartName="/ppt/tags/tag1782.xml" ContentType="application/vnd.openxmlformats-officedocument.presentationml.tags+xml"/>
  <Override PartName="/ppt/tags/tag1783.xml" ContentType="application/vnd.openxmlformats-officedocument.presentationml.tags+xml"/>
  <Override PartName="/ppt/tags/tag1784.xml" ContentType="application/vnd.openxmlformats-officedocument.presentationml.tags+xml"/>
  <Override PartName="/ppt/tags/tag1785.xml" ContentType="application/vnd.openxmlformats-officedocument.presentationml.tags+xml"/>
  <Override PartName="/ppt/tags/tag1786.xml" ContentType="application/vnd.openxmlformats-officedocument.presentationml.tags+xml"/>
  <Override PartName="/ppt/tags/tag1787.xml" ContentType="application/vnd.openxmlformats-officedocument.presentationml.tags+xml"/>
  <Override PartName="/ppt/tags/tag1788.xml" ContentType="application/vnd.openxmlformats-officedocument.presentationml.tags+xml"/>
  <Override PartName="/ppt/tags/tag1789.xml" ContentType="application/vnd.openxmlformats-officedocument.presentationml.tags+xml"/>
  <Override PartName="/ppt/tags/tag1790.xml" ContentType="application/vnd.openxmlformats-officedocument.presentationml.tags+xml"/>
  <Override PartName="/ppt/tags/tag1791.xml" ContentType="application/vnd.openxmlformats-officedocument.presentationml.tags+xml"/>
  <Override PartName="/ppt/tags/tag1792.xml" ContentType="application/vnd.openxmlformats-officedocument.presentationml.tags+xml"/>
  <Override PartName="/ppt/tags/tag1793.xml" ContentType="application/vnd.openxmlformats-officedocument.presentationml.tags+xml"/>
  <Override PartName="/ppt/tags/tag1794.xml" ContentType="application/vnd.openxmlformats-officedocument.presentationml.tags+xml"/>
  <Override PartName="/ppt/tags/tag1795.xml" ContentType="application/vnd.openxmlformats-officedocument.presentationml.tags+xml"/>
  <Override PartName="/ppt/tags/tag1796.xml" ContentType="application/vnd.openxmlformats-officedocument.presentationml.tags+xml"/>
  <Override PartName="/ppt/tags/tag1797.xml" ContentType="application/vnd.openxmlformats-officedocument.presentationml.tags+xml"/>
  <Override PartName="/ppt/tags/tag1798.xml" ContentType="application/vnd.openxmlformats-officedocument.presentationml.tags+xml"/>
  <Override PartName="/ppt/tags/tag1799.xml" ContentType="application/vnd.openxmlformats-officedocument.presentationml.tags+xml"/>
  <Override PartName="/ppt/tags/tag1800.xml" ContentType="application/vnd.openxmlformats-officedocument.presentationml.tags+xml"/>
  <Override PartName="/ppt/charts/chart85.xml" ContentType="application/vnd.openxmlformats-officedocument.drawingml.chart+xml"/>
  <Override PartName="/ppt/tags/tag1801.xml" ContentType="application/vnd.openxmlformats-officedocument.presentationml.tags+xml"/>
  <Override PartName="/ppt/tags/tag1802.xml" ContentType="application/vnd.openxmlformats-officedocument.presentationml.tags+xml"/>
  <Override PartName="/ppt/tags/tag1803.xml" ContentType="application/vnd.openxmlformats-officedocument.presentationml.tags+xml"/>
  <Override PartName="/ppt/tags/tag1804.xml" ContentType="application/vnd.openxmlformats-officedocument.presentationml.tags+xml"/>
  <Override PartName="/ppt/charts/chart86.xml" ContentType="application/vnd.openxmlformats-officedocument.drawingml.chart+xml"/>
  <Override PartName="/ppt/charts/style14.xml" ContentType="application/vnd.ms-office.chartstyle+xml"/>
  <Override PartName="/ppt/charts/colors14.xml" ContentType="application/vnd.ms-office.chartcolorstyle+xml"/>
  <Override PartName="/ppt/tags/tag1805.xml" ContentType="application/vnd.openxmlformats-officedocument.presentationml.tags+xml"/>
  <Override PartName="/ppt/tags/tag1806.xml" ContentType="application/vnd.openxmlformats-officedocument.presentationml.tags+xml"/>
  <Override PartName="/ppt/tags/tag1807.xml" ContentType="application/vnd.openxmlformats-officedocument.presentationml.tags+xml"/>
  <Override PartName="/ppt/tags/tag1808.xml" ContentType="application/vnd.openxmlformats-officedocument.presentationml.tags+xml"/>
  <Override PartName="/ppt/tags/tag1809.xml" ContentType="application/vnd.openxmlformats-officedocument.presentationml.tags+xml"/>
  <Override PartName="/ppt/tags/tag1810.xml" ContentType="application/vnd.openxmlformats-officedocument.presentationml.tags+xml"/>
  <Override PartName="/ppt/tags/tag1811.xml" ContentType="application/vnd.openxmlformats-officedocument.presentationml.tags+xml"/>
  <Override PartName="/ppt/tags/tag1812.xml" ContentType="application/vnd.openxmlformats-officedocument.presentationml.tags+xml"/>
  <Override PartName="/ppt/tags/tag1813.xml" ContentType="application/vnd.openxmlformats-officedocument.presentationml.tags+xml"/>
  <Override PartName="/ppt/tags/tag1814.xml" ContentType="application/vnd.openxmlformats-officedocument.presentationml.tags+xml"/>
  <Override PartName="/ppt/tags/tag1815.xml" ContentType="application/vnd.openxmlformats-officedocument.presentationml.tags+xml"/>
  <Override PartName="/ppt/tags/tag1816.xml" ContentType="application/vnd.openxmlformats-officedocument.presentationml.tags+xml"/>
  <Override PartName="/ppt/tags/tag1817.xml" ContentType="application/vnd.openxmlformats-officedocument.presentationml.tags+xml"/>
  <Override PartName="/ppt/tags/tag1818.xml" ContentType="application/vnd.openxmlformats-officedocument.presentationml.tags+xml"/>
  <Override PartName="/ppt/tags/tag1819.xml" ContentType="application/vnd.openxmlformats-officedocument.presentationml.tags+xml"/>
  <Override PartName="/ppt/tags/tag1820.xml" ContentType="application/vnd.openxmlformats-officedocument.presentationml.tags+xml"/>
  <Override PartName="/ppt/tags/tag1821.xml" ContentType="application/vnd.openxmlformats-officedocument.presentationml.tags+xml"/>
  <Override PartName="/ppt/tags/tag1822.xml" ContentType="application/vnd.openxmlformats-officedocument.presentationml.tags+xml"/>
  <Override PartName="/ppt/tags/tag1823.xml" ContentType="application/vnd.openxmlformats-officedocument.presentationml.tags+xml"/>
  <Override PartName="/ppt/tags/tag1824.xml" ContentType="application/vnd.openxmlformats-officedocument.presentationml.tags+xml"/>
  <Override PartName="/ppt/tags/tag1825.xml" ContentType="application/vnd.openxmlformats-officedocument.presentationml.tags+xml"/>
  <Override PartName="/ppt/tags/tag1826.xml" ContentType="application/vnd.openxmlformats-officedocument.presentationml.tags+xml"/>
  <Override PartName="/ppt/tags/tag1827.xml" ContentType="application/vnd.openxmlformats-officedocument.presentationml.tags+xml"/>
  <Override PartName="/ppt/tags/tag1828.xml" ContentType="application/vnd.openxmlformats-officedocument.presentationml.tags+xml"/>
  <Override PartName="/ppt/tags/tag1829.xml" ContentType="application/vnd.openxmlformats-officedocument.presentationml.tags+xml"/>
  <Override PartName="/ppt/tags/tag1830.xml" ContentType="application/vnd.openxmlformats-officedocument.presentationml.tags+xml"/>
  <Override PartName="/ppt/tags/tag1831.xml" ContentType="application/vnd.openxmlformats-officedocument.presentationml.tags+xml"/>
  <Override PartName="/ppt/tags/tag1832.xml" ContentType="application/vnd.openxmlformats-officedocument.presentationml.tags+xml"/>
  <Override PartName="/ppt/tags/tag1833.xml" ContentType="application/vnd.openxmlformats-officedocument.presentationml.tags+xml"/>
  <Override PartName="/ppt/tags/tag1834.xml" ContentType="application/vnd.openxmlformats-officedocument.presentationml.tags+xml"/>
  <Override PartName="/ppt/tags/tag1835.xml" ContentType="application/vnd.openxmlformats-officedocument.presentationml.tags+xml"/>
  <Override PartName="/ppt/tags/tag1836.xml" ContentType="application/vnd.openxmlformats-officedocument.presentationml.tags+xml"/>
  <Override PartName="/ppt/tags/tag1837.xml" ContentType="application/vnd.openxmlformats-officedocument.presentationml.tags+xml"/>
  <Override PartName="/ppt/tags/tag1838.xml" ContentType="application/vnd.openxmlformats-officedocument.presentationml.tags+xml"/>
  <Override PartName="/ppt/tags/tag1839.xml" ContentType="application/vnd.openxmlformats-officedocument.presentationml.tags+xml"/>
  <Override PartName="/ppt/tags/tag1840.xml" ContentType="application/vnd.openxmlformats-officedocument.presentationml.tags+xml"/>
  <Override PartName="/ppt/tags/tag1841.xml" ContentType="application/vnd.openxmlformats-officedocument.presentationml.tags+xml"/>
  <Override PartName="/ppt/tags/tag1842.xml" ContentType="application/vnd.openxmlformats-officedocument.presentationml.tags+xml"/>
  <Override PartName="/ppt/charts/chart87.xml" ContentType="application/vnd.openxmlformats-officedocument.drawingml.chart+xml"/>
  <Override PartName="/ppt/charts/chart88.xml" ContentType="application/vnd.openxmlformats-officedocument.drawingml.chart+xml"/>
  <Override PartName="/ppt/tags/tag1843.xml" ContentType="application/vnd.openxmlformats-officedocument.presentationml.tags+xml"/>
  <Override PartName="/ppt/tags/tag1844.xml" ContentType="application/vnd.openxmlformats-officedocument.presentationml.tags+xml"/>
  <Override PartName="/ppt/tags/tag1845.xml" ContentType="application/vnd.openxmlformats-officedocument.presentationml.tags+xml"/>
  <Override PartName="/ppt/tags/tag1846.xml" ContentType="application/vnd.openxmlformats-officedocument.presentationml.tags+xml"/>
  <Override PartName="/ppt/tags/tag1847.xml" ContentType="application/vnd.openxmlformats-officedocument.presentationml.tags+xml"/>
  <Override PartName="/ppt/tags/tag1848.xml" ContentType="application/vnd.openxmlformats-officedocument.presentationml.tags+xml"/>
  <Override PartName="/ppt/tags/tag1849.xml" ContentType="application/vnd.openxmlformats-officedocument.presentationml.tags+xml"/>
  <Override PartName="/ppt/tags/tag1850.xml" ContentType="application/vnd.openxmlformats-officedocument.presentationml.tags+xml"/>
  <Override PartName="/ppt/tags/tag1851.xml" ContentType="application/vnd.openxmlformats-officedocument.presentationml.tags+xml"/>
  <Override PartName="/ppt/tags/tag1852.xml" ContentType="application/vnd.openxmlformats-officedocument.presentationml.tags+xml"/>
  <Override PartName="/ppt/tags/tag1853.xml" ContentType="application/vnd.openxmlformats-officedocument.presentationml.tags+xml"/>
  <Override PartName="/ppt/tags/tag1854.xml" ContentType="application/vnd.openxmlformats-officedocument.presentationml.tags+xml"/>
  <Override PartName="/ppt/tags/tag1855.xml" ContentType="application/vnd.openxmlformats-officedocument.presentationml.tags+xml"/>
  <Override PartName="/ppt/tags/tag1856.xml" ContentType="application/vnd.openxmlformats-officedocument.presentationml.tags+xml"/>
  <Override PartName="/ppt/tags/tag1857.xml" ContentType="application/vnd.openxmlformats-officedocument.presentationml.tags+xml"/>
  <Override PartName="/ppt/tags/tag1858.xml" ContentType="application/vnd.openxmlformats-officedocument.presentationml.tags+xml"/>
  <Override PartName="/ppt/tags/tag1859.xml" ContentType="application/vnd.openxmlformats-officedocument.presentationml.tags+xml"/>
  <Override PartName="/ppt/tags/tag1860.xml" ContentType="application/vnd.openxmlformats-officedocument.presentationml.tags+xml"/>
  <Override PartName="/ppt/tags/tag1861.xml" ContentType="application/vnd.openxmlformats-officedocument.presentationml.tags+xml"/>
  <Override PartName="/ppt/tags/tag1862.xml" ContentType="application/vnd.openxmlformats-officedocument.presentationml.tags+xml"/>
  <Override PartName="/ppt/tags/tag1863.xml" ContentType="application/vnd.openxmlformats-officedocument.presentationml.tags+xml"/>
  <Override PartName="/ppt/tags/tag1864.xml" ContentType="application/vnd.openxmlformats-officedocument.presentationml.tags+xml"/>
  <Override PartName="/ppt/tags/tag1865.xml" ContentType="application/vnd.openxmlformats-officedocument.presentationml.tags+xml"/>
  <Override PartName="/ppt/tags/tag1866.xml" ContentType="application/vnd.openxmlformats-officedocument.presentationml.tags+xml"/>
  <Override PartName="/ppt/tags/tag1867.xml" ContentType="application/vnd.openxmlformats-officedocument.presentationml.tags+xml"/>
  <Override PartName="/ppt/tags/tag1868.xml" ContentType="application/vnd.openxmlformats-officedocument.presentationml.tags+xml"/>
  <Override PartName="/ppt/tags/tag1869.xml" ContentType="application/vnd.openxmlformats-officedocument.presentationml.tags+xml"/>
  <Override PartName="/ppt/tags/tag1870.xml" ContentType="application/vnd.openxmlformats-officedocument.presentationml.tags+xml"/>
  <Override PartName="/ppt/tags/tag1871.xml" ContentType="application/vnd.openxmlformats-officedocument.presentationml.tags+xml"/>
  <Override PartName="/ppt/tags/tag1872.xml" ContentType="application/vnd.openxmlformats-officedocument.presentationml.tags+xml"/>
  <Override PartName="/ppt/tags/tag1873.xml" ContentType="application/vnd.openxmlformats-officedocument.presentationml.tags+xml"/>
  <Override PartName="/ppt/tags/tag1874.xml" ContentType="application/vnd.openxmlformats-officedocument.presentationml.tags+xml"/>
  <Override PartName="/ppt/tags/tag1875.xml" ContentType="application/vnd.openxmlformats-officedocument.presentationml.tags+xml"/>
  <Override PartName="/ppt/tags/tag1876.xml" ContentType="application/vnd.openxmlformats-officedocument.presentationml.tags+xml"/>
  <Override PartName="/ppt/tags/tag1877.xml" ContentType="application/vnd.openxmlformats-officedocument.presentationml.tags+xml"/>
  <Override PartName="/ppt/tags/tag1878.xml" ContentType="application/vnd.openxmlformats-officedocument.presentationml.tags+xml"/>
  <Override PartName="/ppt/tags/tag1879.xml" ContentType="application/vnd.openxmlformats-officedocument.presentationml.tags+xml"/>
  <Override PartName="/ppt/tags/tag1880.xml" ContentType="application/vnd.openxmlformats-officedocument.presentationml.tags+xml"/>
  <Override PartName="/ppt/tags/tag1881.xml" ContentType="application/vnd.openxmlformats-officedocument.presentationml.tags+xml"/>
  <Override PartName="/ppt/tags/tag1882.xml" ContentType="application/vnd.openxmlformats-officedocument.presentationml.tags+xml"/>
  <Override PartName="/ppt/tags/tag1883.xml" ContentType="application/vnd.openxmlformats-officedocument.presentationml.tags+xml"/>
  <Override PartName="/ppt/tags/tag1884.xml" ContentType="application/vnd.openxmlformats-officedocument.presentationml.tags+xml"/>
  <Override PartName="/ppt/tags/tag1885.xml" ContentType="application/vnd.openxmlformats-officedocument.presentationml.tags+xml"/>
  <Override PartName="/ppt/tags/tag1886.xml" ContentType="application/vnd.openxmlformats-officedocument.presentationml.tags+xml"/>
  <Override PartName="/ppt/tags/tag1887.xml" ContentType="application/vnd.openxmlformats-officedocument.presentationml.tags+xml"/>
  <Override PartName="/ppt/tags/tag1888.xml" ContentType="application/vnd.openxmlformats-officedocument.presentationml.tags+xml"/>
  <Override PartName="/ppt/tags/tag1889.xml" ContentType="application/vnd.openxmlformats-officedocument.presentationml.tags+xml"/>
  <Override PartName="/ppt/charts/chart89.xml" ContentType="application/vnd.openxmlformats-officedocument.drawingml.chart+xml"/>
  <Override PartName="/ppt/charts/chart90.xml" ContentType="application/vnd.openxmlformats-officedocument.drawingml.chart+xml"/>
  <Override PartName="/ppt/tags/tag1890.xml" ContentType="application/vnd.openxmlformats-officedocument.presentationml.tags+xml"/>
  <Override PartName="/ppt/tags/tag1891.xml" ContentType="application/vnd.openxmlformats-officedocument.presentationml.tags+xml"/>
  <Override PartName="/ppt/tags/tag1892.xml" ContentType="application/vnd.openxmlformats-officedocument.presentationml.tags+xml"/>
  <Override PartName="/ppt/tags/tag1893.xml" ContentType="application/vnd.openxmlformats-officedocument.presentationml.tags+xml"/>
  <Override PartName="/ppt/tags/tag1894.xml" ContentType="application/vnd.openxmlformats-officedocument.presentationml.tags+xml"/>
  <Override PartName="/ppt/tags/tag1895.xml" ContentType="application/vnd.openxmlformats-officedocument.presentationml.tags+xml"/>
  <Override PartName="/ppt/tags/tag1896.xml" ContentType="application/vnd.openxmlformats-officedocument.presentationml.tags+xml"/>
  <Override PartName="/ppt/tags/tag1897.xml" ContentType="application/vnd.openxmlformats-officedocument.presentationml.tags+xml"/>
  <Override PartName="/ppt/tags/tag1898.xml" ContentType="application/vnd.openxmlformats-officedocument.presentationml.tags+xml"/>
  <Override PartName="/ppt/tags/tag1899.xml" ContentType="application/vnd.openxmlformats-officedocument.presentationml.tags+xml"/>
  <Override PartName="/ppt/tags/tag1900.xml" ContentType="application/vnd.openxmlformats-officedocument.presentationml.tags+xml"/>
  <Override PartName="/ppt/tags/tag1901.xml" ContentType="application/vnd.openxmlformats-officedocument.presentationml.tags+xml"/>
  <Override PartName="/ppt/tags/tag1902.xml" ContentType="application/vnd.openxmlformats-officedocument.presentationml.tags+xml"/>
  <Override PartName="/ppt/tags/tag1903.xml" ContentType="application/vnd.openxmlformats-officedocument.presentationml.tags+xml"/>
  <Override PartName="/ppt/tags/tag1904.xml" ContentType="application/vnd.openxmlformats-officedocument.presentationml.tags+xml"/>
  <Override PartName="/ppt/tags/tag1905.xml" ContentType="application/vnd.openxmlformats-officedocument.presentationml.tags+xml"/>
  <Override PartName="/ppt/tags/tag1906.xml" ContentType="application/vnd.openxmlformats-officedocument.presentationml.tags+xml"/>
  <Override PartName="/ppt/tags/tag1907.xml" ContentType="application/vnd.openxmlformats-officedocument.presentationml.tags+xml"/>
  <Override PartName="/ppt/tags/tag1908.xml" ContentType="application/vnd.openxmlformats-officedocument.presentationml.tags+xml"/>
  <Override PartName="/ppt/tags/tag1909.xml" ContentType="application/vnd.openxmlformats-officedocument.presentationml.tags+xml"/>
  <Override PartName="/ppt/tags/tag1910.xml" ContentType="application/vnd.openxmlformats-officedocument.presentationml.tags+xml"/>
  <Override PartName="/ppt/tags/tag1911.xml" ContentType="application/vnd.openxmlformats-officedocument.presentationml.tags+xml"/>
  <Override PartName="/ppt/tags/tag1912.xml" ContentType="application/vnd.openxmlformats-officedocument.presentationml.tags+xml"/>
  <Override PartName="/ppt/tags/tag1913.xml" ContentType="application/vnd.openxmlformats-officedocument.presentationml.tags+xml"/>
  <Override PartName="/ppt/tags/tag1914.xml" ContentType="application/vnd.openxmlformats-officedocument.presentationml.tags+xml"/>
  <Override PartName="/ppt/tags/tag1915.xml" ContentType="application/vnd.openxmlformats-officedocument.presentationml.tags+xml"/>
  <Override PartName="/ppt/tags/tag1916.xml" ContentType="application/vnd.openxmlformats-officedocument.presentationml.tags+xml"/>
  <Override PartName="/ppt/tags/tag1917.xml" ContentType="application/vnd.openxmlformats-officedocument.presentationml.tags+xml"/>
  <Override PartName="/ppt/tags/tag1918.xml" ContentType="application/vnd.openxmlformats-officedocument.presentationml.tags+xml"/>
  <Override PartName="/ppt/tags/tag1919.xml" ContentType="application/vnd.openxmlformats-officedocument.presentationml.tags+xml"/>
  <Override PartName="/ppt/tags/tag1920.xml" ContentType="application/vnd.openxmlformats-officedocument.presentationml.tags+xml"/>
  <Override PartName="/ppt/tags/tag1921.xml" ContentType="application/vnd.openxmlformats-officedocument.presentationml.tags+xml"/>
  <Override PartName="/ppt/tags/tag1922.xml" ContentType="application/vnd.openxmlformats-officedocument.presentationml.tags+xml"/>
  <Override PartName="/ppt/tags/tag1923.xml" ContentType="application/vnd.openxmlformats-officedocument.presentationml.tags+xml"/>
  <Override PartName="/ppt/tags/tag1924.xml" ContentType="application/vnd.openxmlformats-officedocument.presentationml.tags+xml"/>
  <Override PartName="/ppt/tags/tag1925.xml" ContentType="application/vnd.openxmlformats-officedocument.presentationml.tags+xml"/>
  <Override PartName="/ppt/tags/tag1926.xml" ContentType="application/vnd.openxmlformats-officedocument.presentationml.tags+xml"/>
  <Override PartName="/ppt/tags/tag1927.xml" ContentType="application/vnd.openxmlformats-officedocument.presentationml.tags+xml"/>
  <Override PartName="/ppt/tags/tag1928.xml" ContentType="application/vnd.openxmlformats-officedocument.presentationml.tags+xml"/>
  <Override PartName="/ppt/tags/tag1929.xml" ContentType="application/vnd.openxmlformats-officedocument.presentationml.tags+xml"/>
  <Override PartName="/ppt/tags/tag1930.xml" ContentType="application/vnd.openxmlformats-officedocument.presentationml.tags+xml"/>
  <Override PartName="/ppt/tags/tag1931.xml" ContentType="application/vnd.openxmlformats-officedocument.presentationml.tags+xml"/>
  <Override PartName="/ppt/tags/tag1932.xml" ContentType="application/vnd.openxmlformats-officedocument.presentationml.tags+xml"/>
  <Override PartName="/ppt/tags/tag1933.xml" ContentType="application/vnd.openxmlformats-officedocument.presentationml.tags+xml"/>
  <Override PartName="/ppt/tags/tag1934.xml" ContentType="application/vnd.openxmlformats-officedocument.presentationml.tags+xml"/>
  <Override PartName="/ppt/tags/tag1935.xml" ContentType="application/vnd.openxmlformats-officedocument.presentationml.tags+xml"/>
  <Override PartName="/ppt/tags/tag1936.xml" ContentType="application/vnd.openxmlformats-officedocument.presentationml.tags+xml"/>
  <Override PartName="/ppt/tags/tag1937.xml" ContentType="application/vnd.openxmlformats-officedocument.presentationml.tags+xml"/>
  <Override PartName="/ppt/tags/tag1938.xml" ContentType="application/vnd.openxmlformats-officedocument.presentationml.tags+xml"/>
  <Override PartName="/ppt/tags/tag1939.xml" ContentType="application/vnd.openxmlformats-officedocument.presentationml.tags+xml"/>
  <Override PartName="/ppt/tags/tag1940.xml" ContentType="application/vnd.openxmlformats-officedocument.presentationml.tags+xml"/>
  <Override PartName="/ppt/tags/tag1941.xml" ContentType="application/vnd.openxmlformats-officedocument.presentationml.tags+xml"/>
  <Override PartName="/ppt/tags/tag1942.xml" ContentType="application/vnd.openxmlformats-officedocument.presentationml.tags+xml"/>
  <Override PartName="/ppt/tags/tag1943.xml" ContentType="application/vnd.openxmlformats-officedocument.presentationml.tags+xml"/>
  <Override PartName="/ppt/tags/tag1944.xml" ContentType="application/vnd.openxmlformats-officedocument.presentationml.tags+xml"/>
  <Override PartName="/ppt/tags/tag1945.xml" ContentType="application/vnd.openxmlformats-officedocument.presentationml.tags+xml"/>
  <Override PartName="/ppt/tags/tag1946.xml" ContentType="application/vnd.openxmlformats-officedocument.presentationml.tags+xml"/>
  <Override PartName="/ppt/tags/tag1947.xml" ContentType="application/vnd.openxmlformats-officedocument.presentationml.tags+xml"/>
  <Override PartName="/ppt/tags/tag1948.xml" ContentType="application/vnd.openxmlformats-officedocument.presentationml.tags+xml"/>
  <Override PartName="/ppt/tags/tag1949.xml" ContentType="application/vnd.openxmlformats-officedocument.presentationml.tags+xml"/>
  <Override PartName="/ppt/tags/tag1950.xml" ContentType="application/vnd.openxmlformats-officedocument.presentationml.tags+xml"/>
  <Override PartName="/ppt/tags/tag1951.xml" ContentType="application/vnd.openxmlformats-officedocument.presentationml.tags+xml"/>
  <Override PartName="/ppt/tags/tag1952.xml" ContentType="application/vnd.openxmlformats-officedocument.presentationml.tags+xml"/>
  <Override PartName="/ppt/tags/tag1953.xml" ContentType="application/vnd.openxmlformats-officedocument.presentationml.tags+xml"/>
  <Override PartName="/ppt/tags/tag1954.xml" ContentType="application/vnd.openxmlformats-officedocument.presentationml.tags+xml"/>
  <Override PartName="/ppt/tags/tag1955.xml" ContentType="application/vnd.openxmlformats-officedocument.presentationml.tags+xml"/>
  <Override PartName="/ppt/tags/tag1956.xml" ContentType="application/vnd.openxmlformats-officedocument.presentationml.tags+xml"/>
  <Override PartName="/ppt/tags/tag1957.xml" ContentType="application/vnd.openxmlformats-officedocument.presentationml.tags+xml"/>
  <Override PartName="/ppt/tags/tag1958.xml" ContentType="application/vnd.openxmlformats-officedocument.presentationml.tags+xml"/>
  <Override PartName="/ppt/tags/tag1959.xml" ContentType="application/vnd.openxmlformats-officedocument.presentationml.tags+xml"/>
  <Override PartName="/ppt/tags/tag1960.xml" ContentType="application/vnd.openxmlformats-officedocument.presentationml.tags+xml"/>
  <Override PartName="/ppt/tags/tag1961.xml" ContentType="application/vnd.openxmlformats-officedocument.presentationml.tags+xml"/>
  <Override PartName="/ppt/tags/tag1962.xml" ContentType="application/vnd.openxmlformats-officedocument.presentationml.tags+xml"/>
  <Override PartName="/ppt/tags/tag1963.xml" ContentType="application/vnd.openxmlformats-officedocument.presentationml.tags+xml"/>
  <Override PartName="/ppt/tags/tag1964.xml" ContentType="application/vnd.openxmlformats-officedocument.presentationml.tags+xml"/>
  <Override PartName="/ppt/tags/tag1965.xml" ContentType="application/vnd.openxmlformats-officedocument.presentationml.tags+xml"/>
  <Override PartName="/ppt/tags/tag1966.xml" ContentType="application/vnd.openxmlformats-officedocument.presentationml.tags+xml"/>
  <Override PartName="/ppt/tags/tag1967.xml" ContentType="application/vnd.openxmlformats-officedocument.presentationml.tags+xml"/>
  <Override PartName="/ppt/tags/tag1968.xml" ContentType="application/vnd.openxmlformats-officedocument.presentationml.tags+xml"/>
  <Override PartName="/ppt/charts/chart91.xml" ContentType="application/vnd.openxmlformats-officedocument.drawingml.chart+xml"/>
  <Override PartName="/ppt/charts/chart92.xml" ContentType="application/vnd.openxmlformats-officedocument.drawingml.chart+xml"/>
  <Override PartName="/ppt/charts/chart93.xml" ContentType="application/vnd.openxmlformats-officedocument.drawingml.chart+xml"/>
  <Override PartName="/ppt/tags/tag1969.xml" ContentType="application/vnd.openxmlformats-officedocument.presentationml.tags+xml"/>
  <Override PartName="/ppt/tags/tag1970.xml" ContentType="application/vnd.openxmlformats-officedocument.presentationml.tags+xml"/>
  <Override PartName="/ppt/tags/tag1971.xml" ContentType="application/vnd.openxmlformats-officedocument.presentationml.tags+xml"/>
  <Override PartName="/ppt/tags/tag1972.xml" ContentType="application/vnd.openxmlformats-officedocument.presentationml.tags+xml"/>
  <Override PartName="/ppt/tags/tag1973.xml" ContentType="application/vnd.openxmlformats-officedocument.presentationml.tags+xml"/>
  <Override PartName="/ppt/tags/tag1974.xml" ContentType="application/vnd.openxmlformats-officedocument.presentationml.tags+xml"/>
  <Override PartName="/ppt/tags/tag1975.xml" ContentType="application/vnd.openxmlformats-officedocument.presentationml.tags+xml"/>
  <Override PartName="/ppt/tags/tag1976.xml" ContentType="application/vnd.openxmlformats-officedocument.presentationml.tags+xml"/>
  <Override PartName="/ppt/tags/tag1977.xml" ContentType="application/vnd.openxmlformats-officedocument.presentationml.tags+xml"/>
  <Override PartName="/ppt/tags/tag1978.xml" ContentType="application/vnd.openxmlformats-officedocument.presentationml.tags+xml"/>
  <Override PartName="/ppt/tags/tag1979.xml" ContentType="application/vnd.openxmlformats-officedocument.presentationml.tags+xml"/>
  <Override PartName="/ppt/tags/tag1980.xml" ContentType="application/vnd.openxmlformats-officedocument.presentationml.tags+xml"/>
  <Override PartName="/ppt/tags/tag1981.xml" ContentType="application/vnd.openxmlformats-officedocument.presentationml.tags+xml"/>
  <Override PartName="/ppt/tags/tag1982.xml" ContentType="application/vnd.openxmlformats-officedocument.presentationml.tags+xml"/>
  <Override PartName="/ppt/tags/tag1983.xml" ContentType="application/vnd.openxmlformats-officedocument.presentationml.tags+xml"/>
  <Override PartName="/ppt/tags/tag1984.xml" ContentType="application/vnd.openxmlformats-officedocument.presentationml.tags+xml"/>
  <Override PartName="/ppt/tags/tag1985.xml" ContentType="application/vnd.openxmlformats-officedocument.presentationml.tags+xml"/>
  <Override PartName="/ppt/tags/tag1986.xml" ContentType="application/vnd.openxmlformats-officedocument.presentationml.tags+xml"/>
  <Override PartName="/ppt/tags/tag1987.xml" ContentType="application/vnd.openxmlformats-officedocument.presentationml.tags+xml"/>
  <Override PartName="/ppt/tags/tag1988.xml" ContentType="application/vnd.openxmlformats-officedocument.presentationml.tags+xml"/>
  <Override PartName="/ppt/tags/tag1989.xml" ContentType="application/vnd.openxmlformats-officedocument.presentationml.tags+xml"/>
  <Override PartName="/ppt/tags/tag1990.xml" ContentType="application/vnd.openxmlformats-officedocument.presentationml.tags+xml"/>
  <Override PartName="/ppt/tags/tag1991.xml" ContentType="application/vnd.openxmlformats-officedocument.presentationml.tags+xml"/>
  <Override PartName="/ppt/tags/tag1992.xml" ContentType="application/vnd.openxmlformats-officedocument.presentationml.tags+xml"/>
  <Override PartName="/ppt/tags/tag1993.xml" ContentType="application/vnd.openxmlformats-officedocument.presentationml.tags+xml"/>
  <Override PartName="/ppt/tags/tag1994.xml" ContentType="application/vnd.openxmlformats-officedocument.presentationml.tags+xml"/>
  <Override PartName="/ppt/tags/tag1995.xml" ContentType="application/vnd.openxmlformats-officedocument.presentationml.tags+xml"/>
  <Override PartName="/ppt/tags/tag1996.xml" ContentType="application/vnd.openxmlformats-officedocument.presentationml.tags+xml"/>
  <Override PartName="/ppt/tags/tag1997.xml" ContentType="application/vnd.openxmlformats-officedocument.presentationml.tags+xml"/>
  <Override PartName="/ppt/tags/tag1998.xml" ContentType="application/vnd.openxmlformats-officedocument.presentationml.tags+xml"/>
  <Override PartName="/ppt/tags/tag1999.xml" ContentType="application/vnd.openxmlformats-officedocument.presentationml.tags+xml"/>
  <Override PartName="/ppt/tags/tag2000.xml" ContentType="application/vnd.openxmlformats-officedocument.presentationml.tags+xml"/>
  <Override PartName="/ppt/charts/chart94.xml" ContentType="application/vnd.openxmlformats-officedocument.drawingml.chart+xml"/>
  <Override PartName="/ppt/charts/chart95.xml" ContentType="application/vnd.openxmlformats-officedocument.drawingml.chart+xml"/>
  <Override PartName="/ppt/charts/chart96.xml" ContentType="application/vnd.openxmlformats-officedocument.drawingml.chart+xml"/>
  <Override PartName="/ppt/tags/tag2001.xml" ContentType="application/vnd.openxmlformats-officedocument.presentationml.tags+xml"/>
  <Override PartName="/ppt/tags/tag2002.xml" ContentType="application/vnd.openxmlformats-officedocument.presentationml.tags+xml"/>
  <Override PartName="/ppt/tags/tag2003.xml" ContentType="application/vnd.openxmlformats-officedocument.presentationml.tags+xml"/>
  <Override PartName="/ppt/tags/tag2004.xml" ContentType="application/vnd.openxmlformats-officedocument.presentationml.tags+xml"/>
  <Override PartName="/ppt/tags/tag2005.xml" ContentType="application/vnd.openxmlformats-officedocument.presentationml.tags+xml"/>
  <Override PartName="/ppt/tags/tag2006.xml" ContentType="application/vnd.openxmlformats-officedocument.presentationml.tags+xml"/>
  <Override PartName="/ppt/tags/tag2007.xml" ContentType="application/vnd.openxmlformats-officedocument.presentationml.tags+xml"/>
  <Override PartName="/ppt/tags/tag2008.xml" ContentType="application/vnd.openxmlformats-officedocument.presentationml.tags+xml"/>
  <Override PartName="/ppt/tags/tag2009.xml" ContentType="application/vnd.openxmlformats-officedocument.presentationml.tags+xml"/>
  <Override PartName="/ppt/tags/tag2010.xml" ContentType="application/vnd.openxmlformats-officedocument.presentationml.tags+xml"/>
  <Override PartName="/ppt/tags/tag2011.xml" ContentType="application/vnd.openxmlformats-officedocument.presentationml.tags+xml"/>
  <Override PartName="/ppt/tags/tag2012.xml" ContentType="application/vnd.openxmlformats-officedocument.presentationml.tags+xml"/>
  <Override PartName="/ppt/tags/tag2013.xml" ContentType="application/vnd.openxmlformats-officedocument.presentationml.tags+xml"/>
  <Override PartName="/ppt/tags/tag2014.xml" ContentType="application/vnd.openxmlformats-officedocument.presentationml.tags+xml"/>
  <Override PartName="/ppt/charts/chart97.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98.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99.xml" ContentType="application/vnd.openxmlformats-officedocument.drawingml.chart+xml"/>
  <Override PartName="/ppt/tags/tag2015.xml" ContentType="application/vnd.openxmlformats-officedocument.presentationml.tags+xml"/>
  <Override PartName="/ppt/tags/tag2016.xml" ContentType="application/vnd.openxmlformats-officedocument.presentationml.tags+xml"/>
  <Override PartName="/ppt/tags/tag2017.xml" ContentType="application/vnd.openxmlformats-officedocument.presentationml.tags+xml"/>
  <Override PartName="/ppt/tags/tag2018.xml" ContentType="application/vnd.openxmlformats-officedocument.presentationml.tags+xml"/>
  <Override PartName="/ppt/tags/tag2019.xml" ContentType="application/vnd.openxmlformats-officedocument.presentationml.tags+xml"/>
  <Override PartName="/ppt/tags/tag2020.xml" ContentType="application/vnd.openxmlformats-officedocument.presentationml.tags+xml"/>
  <Override PartName="/ppt/tags/tag2021.xml" ContentType="application/vnd.openxmlformats-officedocument.presentationml.tags+xml"/>
  <Override PartName="/ppt/tags/tag2022.xml" ContentType="application/vnd.openxmlformats-officedocument.presentationml.tags+xml"/>
  <Override PartName="/ppt/tags/tag2023.xml" ContentType="application/vnd.openxmlformats-officedocument.presentationml.tags+xml"/>
  <Override PartName="/ppt/tags/tag2024.xml" ContentType="application/vnd.openxmlformats-officedocument.presentationml.tags+xml"/>
  <Override PartName="/ppt/tags/tag2025.xml" ContentType="application/vnd.openxmlformats-officedocument.presentationml.tags+xml"/>
  <Override PartName="/ppt/tags/tag2026.xml" ContentType="application/vnd.openxmlformats-officedocument.presentationml.tags+xml"/>
  <Override PartName="/ppt/tags/tag2027.xml" ContentType="application/vnd.openxmlformats-officedocument.presentationml.tags+xml"/>
  <Override PartName="/ppt/tags/tag2028.xml" ContentType="application/vnd.openxmlformats-officedocument.presentationml.tags+xml"/>
  <Override PartName="/ppt/tags/tag2029.xml" ContentType="application/vnd.openxmlformats-officedocument.presentationml.tags+xml"/>
  <Override PartName="/ppt/tags/tag2030.xml" ContentType="application/vnd.openxmlformats-officedocument.presentationml.tags+xml"/>
  <Override PartName="/ppt/tags/tag2031.xml" ContentType="application/vnd.openxmlformats-officedocument.presentationml.tags+xml"/>
  <Override PartName="/ppt/charts/chart100.xml" ContentType="application/vnd.openxmlformats-officedocument.drawingml.chart+xml"/>
  <Override PartName="/ppt/charts/chart101.xml" ContentType="application/vnd.openxmlformats-officedocument.drawingml.chart+xml"/>
  <Override PartName="/ppt/tags/tag2032.xml" ContentType="application/vnd.openxmlformats-officedocument.presentationml.tags+xml"/>
  <Override PartName="/ppt/tags/tag2033.xml" ContentType="application/vnd.openxmlformats-officedocument.presentationml.tags+xml"/>
  <Override PartName="/ppt/tags/tag2034.xml" ContentType="application/vnd.openxmlformats-officedocument.presentationml.tags+xml"/>
  <Override PartName="/ppt/tags/tag2035.xml" ContentType="application/vnd.openxmlformats-officedocument.presentationml.tags+xml"/>
  <Override PartName="/ppt/tags/tag2036.xml" ContentType="application/vnd.openxmlformats-officedocument.presentationml.tags+xml"/>
  <Override PartName="/ppt/tags/tag2037.xml" ContentType="application/vnd.openxmlformats-officedocument.presentationml.tags+xml"/>
  <Override PartName="/ppt/tags/tag2038.xml" ContentType="application/vnd.openxmlformats-officedocument.presentationml.tags+xml"/>
  <Override PartName="/ppt/tags/tag2039.xml" ContentType="application/vnd.openxmlformats-officedocument.presentationml.tags+xml"/>
  <Override PartName="/ppt/tags/tag2040.xml" ContentType="application/vnd.openxmlformats-officedocument.presentationml.tags+xml"/>
  <Override PartName="/ppt/tags/tag2041.xml" ContentType="application/vnd.openxmlformats-officedocument.presentationml.tags+xml"/>
  <Override PartName="/ppt/tags/tag2042.xml" ContentType="application/vnd.openxmlformats-officedocument.presentationml.tags+xml"/>
  <Override PartName="/ppt/tags/tag2043.xml" ContentType="application/vnd.openxmlformats-officedocument.presentationml.tags+xml"/>
  <Override PartName="/ppt/tags/tag2044.xml" ContentType="application/vnd.openxmlformats-officedocument.presentationml.tags+xml"/>
  <Override PartName="/ppt/tags/tag2045.xml" ContentType="application/vnd.openxmlformats-officedocument.presentationml.tags+xml"/>
  <Override PartName="/ppt/tags/tag2046.xml" ContentType="application/vnd.openxmlformats-officedocument.presentationml.tags+xml"/>
  <Override PartName="/ppt/tags/tag2047.xml" ContentType="application/vnd.openxmlformats-officedocument.presentationml.tags+xml"/>
  <Override PartName="/ppt/tags/tag2048.xml" ContentType="application/vnd.openxmlformats-officedocument.presentationml.tags+xml"/>
  <Override PartName="/ppt/tags/tag2049.xml" ContentType="application/vnd.openxmlformats-officedocument.presentationml.tags+xml"/>
  <Override PartName="/ppt/tags/tag2050.xml" ContentType="application/vnd.openxmlformats-officedocument.presentationml.tags+xml"/>
  <Override PartName="/ppt/tags/tag2051.xml" ContentType="application/vnd.openxmlformats-officedocument.presentationml.tags+xml"/>
  <Override PartName="/ppt/tags/tag2052.xml" ContentType="application/vnd.openxmlformats-officedocument.presentationml.tags+xml"/>
  <Override PartName="/ppt/tags/tag2053.xml" ContentType="application/vnd.openxmlformats-officedocument.presentationml.tags+xml"/>
  <Override PartName="/ppt/tags/tag2054.xml" ContentType="application/vnd.openxmlformats-officedocument.presentationml.tags+xml"/>
  <Override PartName="/ppt/tags/tag2055.xml" ContentType="application/vnd.openxmlformats-officedocument.presentationml.tags+xml"/>
  <Override PartName="/ppt/tags/tag2056.xml" ContentType="application/vnd.openxmlformats-officedocument.presentationml.tags+xml"/>
  <Override PartName="/ppt/charts/chart102.xml" ContentType="application/vnd.openxmlformats-officedocument.drawingml.chart+xml"/>
  <Override PartName="/ppt/charts/chart103.xml" ContentType="application/vnd.openxmlformats-officedocument.drawingml.chart+xml"/>
  <Override PartName="/ppt/charts/chart104.xml" ContentType="application/vnd.openxmlformats-officedocument.drawingml.chart+xml"/>
  <Override PartName="/ppt/charts/chart105.xml" ContentType="application/vnd.openxmlformats-officedocument.drawingml.chart+xml"/>
  <Override PartName="/ppt/tags/tag2057.xml" ContentType="application/vnd.openxmlformats-officedocument.presentationml.tags+xml"/>
  <Override PartName="/ppt/tags/tag2058.xml" ContentType="application/vnd.openxmlformats-officedocument.presentationml.tags+xml"/>
  <Override PartName="/ppt/tags/tag2059.xml" ContentType="application/vnd.openxmlformats-officedocument.presentationml.tags+xml"/>
  <Override PartName="/ppt/tags/tag2060.xml" ContentType="application/vnd.openxmlformats-officedocument.presentationml.tags+xml"/>
  <Override PartName="/ppt/tags/tag2061.xml" ContentType="application/vnd.openxmlformats-officedocument.presentationml.tags+xml"/>
  <Override PartName="/ppt/tags/tag2062.xml" ContentType="application/vnd.openxmlformats-officedocument.presentationml.tags+xml"/>
  <Override PartName="/ppt/tags/tag2063.xml" ContentType="application/vnd.openxmlformats-officedocument.presentationml.tags+xml"/>
  <Override PartName="/ppt/tags/tag2064.xml" ContentType="application/vnd.openxmlformats-officedocument.presentationml.tags+xml"/>
  <Override PartName="/ppt/tags/tag2065.xml" ContentType="application/vnd.openxmlformats-officedocument.presentationml.tags+xml"/>
  <Override PartName="/ppt/tags/tag2066.xml" ContentType="application/vnd.openxmlformats-officedocument.presentationml.tags+xml"/>
  <Override PartName="/ppt/tags/tag2067.xml" ContentType="application/vnd.openxmlformats-officedocument.presentationml.tags+xml"/>
  <Override PartName="/ppt/tags/tag2068.xml" ContentType="application/vnd.openxmlformats-officedocument.presentationml.tags+xml"/>
  <Override PartName="/ppt/tags/tag2069.xml" ContentType="application/vnd.openxmlformats-officedocument.presentationml.tags+xml"/>
  <Override PartName="/ppt/tags/tag2070.xml" ContentType="application/vnd.openxmlformats-officedocument.presentationml.tags+xml"/>
  <Override PartName="/ppt/tags/tag2071.xml" ContentType="application/vnd.openxmlformats-officedocument.presentationml.tags+xml"/>
  <Override PartName="/ppt/tags/tag2072.xml" ContentType="application/vnd.openxmlformats-officedocument.presentationml.tags+xml"/>
  <Override PartName="/ppt/tags/tag2073.xml" ContentType="application/vnd.openxmlformats-officedocument.presentationml.tags+xml"/>
  <Override PartName="/ppt/tags/tag2074.xml" ContentType="application/vnd.openxmlformats-officedocument.presentationml.tags+xml"/>
  <Override PartName="/ppt/tags/tag2075.xml" ContentType="application/vnd.openxmlformats-officedocument.presentationml.tags+xml"/>
  <Override PartName="/ppt/tags/tag2076.xml" ContentType="application/vnd.openxmlformats-officedocument.presentationml.tags+xml"/>
  <Override PartName="/ppt/tags/tag2077.xml" ContentType="application/vnd.openxmlformats-officedocument.presentationml.tags+xml"/>
  <Override PartName="/ppt/tags/tag2078.xml" ContentType="application/vnd.openxmlformats-officedocument.presentationml.tags+xml"/>
  <Override PartName="/ppt/tags/tag2079.xml" ContentType="application/vnd.openxmlformats-officedocument.presentationml.tags+xml"/>
  <Override PartName="/ppt/tags/tag2080.xml" ContentType="application/vnd.openxmlformats-officedocument.presentationml.tags+xml"/>
  <Override PartName="/ppt/tags/tag2081.xml" ContentType="application/vnd.openxmlformats-officedocument.presentationml.tags+xml"/>
  <Override PartName="/ppt/tags/tag2082.xml" ContentType="application/vnd.openxmlformats-officedocument.presentationml.tags+xml"/>
  <Override PartName="/ppt/tags/tag2083.xml" ContentType="application/vnd.openxmlformats-officedocument.presentationml.tags+xml"/>
  <Override PartName="/ppt/tags/tag2084.xml" ContentType="application/vnd.openxmlformats-officedocument.presentationml.tags+xml"/>
  <Override PartName="/ppt/tags/tag2085.xml" ContentType="application/vnd.openxmlformats-officedocument.presentationml.tags+xml"/>
  <Override PartName="/ppt/tags/tag2086.xml" ContentType="application/vnd.openxmlformats-officedocument.presentationml.tags+xml"/>
  <Override PartName="/ppt/tags/tag2087.xml" ContentType="application/vnd.openxmlformats-officedocument.presentationml.tags+xml"/>
  <Override PartName="/ppt/charts/chart106.xml" ContentType="application/vnd.openxmlformats-officedocument.drawingml.chart+xml"/>
  <Override PartName="/ppt/charts/chart107.xml" ContentType="application/vnd.openxmlformats-officedocument.drawingml.chart+xml"/>
  <Override PartName="/ppt/charts/chart108.xml" ContentType="application/vnd.openxmlformats-officedocument.drawingml.chart+xml"/>
  <Override PartName="/ppt/charts/chart109.xml" ContentType="application/vnd.openxmlformats-officedocument.drawingml.chart+xml"/>
  <Override PartName="/ppt/tags/tag2088.xml" ContentType="application/vnd.openxmlformats-officedocument.presentationml.tags+xml"/>
  <Override PartName="/ppt/tags/tag2089.xml" ContentType="application/vnd.openxmlformats-officedocument.presentationml.tags+xml"/>
  <Override PartName="/ppt/tags/tag2090.xml" ContentType="application/vnd.openxmlformats-officedocument.presentationml.tags+xml"/>
  <Override PartName="/ppt/tags/tag2091.xml" ContentType="application/vnd.openxmlformats-officedocument.presentationml.tags+xml"/>
  <Override PartName="/ppt/tags/tag2092.xml" ContentType="application/vnd.openxmlformats-officedocument.presentationml.tags+xml"/>
  <Override PartName="/ppt/tags/tag2093.xml" ContentType="application/vnd.openxmlformats-officedocument.presentationml.tags+xml"/>
  <Override PartName="/ppt/tags/tag2094.xml" ContentType="application/vnd.openxmlformats-officedocument.presentationml.tags+xml"/>
  <Override PartName="/ppt/tags/tag2095.xml" ContentType="application/vnd.openxmlformats-officedocument.presentationml.tags+xml"/>
  <Override PartName="/ppt/tags/tag2096.xml" ContentType="application/vnd.openxmlformats-officedocument.presentationml.tags+xml"/>
  <Override PartName="/ppt/tags/tag2097.xml" ContentType="application/vnd.openxmlformats-officedocument.presentationml.tags+xml"/>
  <Override PartName="/ppt/tags/tag2098.xml" ContentType="application/vnd.openxmlformats-officedocument.presentationml.tags+xml"/>
  <Override PartName="/ppt/tags/tag2099.xml" ContentType="application/vnd.openxmlformats-officedocument.presentationml.tags+xml"/>
  <Override PartName="/ppt/tags/tag2100.xml" ContentType="application/vnd.openxmlformats-officedocument.presentationml.tags+xml"/>
  <Override PartName="/ppt/tags/tag2101.xml" ContentType="application/vnd.openxmlformats-officedocument.presentationml.tags+xml"/>
  <Override PartName="/ppt/tags/tag2102.xml" ContentType="application/vnd.openxmlformats-officedocument.presentationml.tags+xml"/>
  <Override PartName="/ppt/tags/tag2103.xml" ContentType="application/vnd.openxmlformats-officedocument.presentationml.tags+xml"/>
  <Override PartName="/ppt/tags/tag2104.xml" ContentType="application/vnd.openxmlformats-officedocument.presentationml.tags+xml"/>
  <Override PartName="/ppt/tags/tag2105.xml" ContentType="application/vnd.openxmlformats-officedocument.presentationml.tags+xml"/>
  <Override PartName="/ppt/tags/tag2106.xml" ContentType="application/vnd.openxmlformats-officedocument.presentationml.tags+xml"/>
  <Override PartName="/ppt/tags/tag2107.xml" ContentType="application/vnd.openxmlformats-officedocument.presentationml.tags+xml"/>
  <Override PartName="/ppt/tags/tag2108.xml" ContentType="application/vnd.openxmlformats-officedocument.presentationml.tags+xml"/>
  <Override PartName="/ppt/tags/tag2109.xml" ContentType="application/vnd.openxmlformats-officedocument.presentationml.tags+xml"/>
  <Override PartName="/ppt/tags/tag2110.xml" ContentType="application/vnd.openxmlformats-officedocument.presentationml.tags+xml"/>
  <Override PartName="/ppt/tags/tag2111.xml" ContentType="application/vnd.openxmlformats-officedocument.presentationml.tags+xml"/>
  <Override PartName="/ppt/tags/tag2112.xml" ContentType="application/vnd.openxmlformats-officedocument.presentationml.tags+xml"/>
  <Override PartName="/ppt/tags/tag2113.xml" ContentType="application/vnd.openxmlformats-officedocument.presentationml.tags+xml"/>
  <Override PartName="/ppt/tags/tag2114.xml" ContentType="application/vnd.openxmlformats-officedocument.presentationml.tags+xml"/>
  <Override PartName="/ppt/tags/tag2115.xml" ContentType="application/vnd.openxmlformats-officedocument.presentationml.tags+xml"/>
  <Override PartName="/ppt/tags/tag2116.xml" ContentType="application/vnd.openxmlformats-officedocument.presentationml.tags+xml"/>
  <Override PartName="/ppt/tags/tag2117.xml" ContentType="application/vnd.openxmlformats-officedocument.presentationml.tags+xml"/>
  <Override PartName="/ppt/tags/tag2118.xml" ContentType="application/vnd.openxmlformats-officedocument.presentationml.tags+xml"/>
  <Override PartName="/ppt/tags/tag2119.xml" ContentType="application/vnd.openxmlformats-officedocument.presentationml.tags+xml"/>
  <Override PartName="/ppt/tags/tag2120.xml" ContentType="application/vnd.openxmlformats-officedocument.presentationml.tags+xml"/>
  <Override PartName="/ppt/tags/tag2121.xml" ContentType="application/vnd.openxmlformats-officedocument.presentationml.tags+xml"/>
  <Override PartName="/ppt/tags/tag2122.xml" ContentType="application/vnd.openxmlformats-officedocument.presentationml.tags+xml"/>
  <Override PartName="/ppt/tags/tag2123.xml" ContentType="application/vnd.openxmlformats-officedocument.presentationml.tags+xml"/>
  <Override PartName="/ppt/tags/tag2124.xml" ContentType="application/vnd.openxmlformats-officedocument.presentationml.tags+xml"/>
  <Override PartName="/ppt/tags/tag2125.xml" ContentType="application/vnd.openxmlformats-officedocument.presentationml.tags+xml"/>
  <Override PartName="/ppt/tags/tag2126.xml" ContentType="application/vnd.openxmlformats-officedocument.presentationml.tags+xml"/>
  <Override PartName="/ppt/tags/tag2127.xml" ContentType="application/vnd.openxmlformats-officedocument.presentationml.tags+xml"/>
  <Override PartName="/ppt/tags/tag2128.xml" ContentType="application/vnd.openxmlformats-officedocument.presentationml.tags+xml"/>
  <Override PartName="/ppt/tags/tag2129.xml" ContentType="application/vnd.openxmlformats-officedocument.presentationml.tags+xml"/>
  <Override PartName="/ppt/tags/tag2130.xml" ContentType="application/vnd.openxmlformats-officedocument.presentationml.tags+xml"/>
  <Override PartName="/ppt/tags/tag2131.xml" ContentType="application/vnd.openxmlformats-officedocument.presentationml.tags+xml"/>
  <Override PartName="/ppt/tags/tag2132.xml" ContentType="application/vnd.openxmlformats-officedocument.presentationml.tags+xml"/>
  <Override PartName="/ppt/tags/tag2133.xml" ContentType="application/vnd.openxmlformats-officedocument.presentationml.tags+xml"/>
  <Override PartName="/ppt/tags/tag2134.xml" ContentType="application/vnd.openxmlformats-officedocument.presentationml.tags+xml"/>
  <Override PartName="/ppt/tags/tag2135.xml" ContentType="application/vnd.openxmlformats-officedocument.presentationml.tags+xml"/>
  <Override PartName="/ppt/tags/tag2136.xml" ContentType="application/vnd.openxmlformats-officedocument.presentationml.tags+xml"/>
  <Override PartName="/ppt/tags/tag2137.xml" ContentType="application/vnd.openxmlformats-officedocument.presentationml.tags+xml"/>
  <Override PartName="/ppt/charts/chart110.xml" ContentType="application/vnd.openxmlformats-officedocument.drawingml.chart+xml"/>
  <Override PartName="/ppt/charts/chart111.xml" ContentType="application/vnd.openxmlformats-officedocument.drawingml.chart+xml"/>
  <Override PartName="/ppt/tags/tag2138.xml" ContentType="application/vnd.openxmlformats-officedocument.presentationml.tags+xml"/>
  <Override PartName="/ppt/tags/tag2139.xml" ContentType="application/vnd.openxmlformats-officedocument.presentationml.tags+xml"/>
  <Override PartName="/ppt/tags/tag2140.xml" ContentType="application/vnd.openxmlformats-officedocument.presentationml.tags+xml"/>
  <Override PartName="/ppt/tags/tag2141.xml" ContentType="application/vnd.openxmlformats-officedocument.presentationml.tags+xml"/>
  <Override PartName="/ppt/tags/tag2142.xml" ContentType="application/vnd.openxmlformats-officedocument.presentationml.tags+xml"/>
  <Override PartName="/ppt/tags/tag2143.xml" ContentType="application/vnd.openxmlformats-officedocument.presentationml.tags+xml"/>
  <Override PartName="/ppt/tags/tag2144.xml" ContentType="application/vnd.openxmlformats-officedocument.presentationml.tags+xml"/>
  <Override PartName="/ppt/tags/tag2145.xml" ContentType="application/vnd.openxmlformats-officedocument.presentationml.tags+xml"/>
  <Override PartName="/ppt/tags/tag2146.xml" ContentType="application/vnd.openxmlformats-officedocument.presentationml.tags+xml"/>
  <Override PartName="/ppt/tags/tag2147.xml" ContentType="application/vnd.openxmlformats-officedocument.presentationml.tags+xml"/>
  <Override PartName="/ppt/tags/tag2148.xml" ContentType="application/vnd.openxmlformats-officedocument.presentationml.tags+xml"/>
  <Override PartName="/ppt/tags/tag2149.xml" ContentType="application/vnd.openxmlformats-officedocument.presentationml.tags+xml"/>
  <Override PartName="/ppt/tags/tag2150.xml" ContentType="application/vnd.openxmlformats-officedocument.presentationml.tags+xml"/>
  <Override PartName="/ppt/tags/tag2151.xml" ContentType="application/vnd.openxmlformats-officedocument.presentationml.tags+xml"/>
  <Override PartName="/ppt/tags/tag2152.xml" ContentType="application/vnd.openxmlformats-officedocument.presentationml.tags+xml"/>
  <Override PartName="/ppt/tags/tag2153.xml" ContentType="application/vnd.openxmlformats-officedocument.presentationml.tags+xml"/>
  <Override PartName="/ppt/tags/tag2154.xml" ContentType="application/vnd.openxmlformats-officedocument.presentationml.tags+xml"/>
  <Override PartName="/ppt/tags/tag2155.xml" ContentType="application/vnd.openxmlformats-officedocument.presentationml.tags+xml"/>
  <Override PartName="/ppt/tags/tag2156.xml" ContentType="application/vnd.openxmlformats-officedocument.presentationml.tags+xml"/>
  <Override PartName="/ppt/tags/tag2157.xml" ContentType="application/vnd.openxmlformats-officedocument.presentationml.tags+xml"/>
  <Override PartName="/ppt/tags/tag2158.xml" ContentType="application/vnd.openxmlformats-officedocument.presentationml.tags+xml"/>
  <Override PartName="/ppt/tags/tag2159.xml" ContentType="application/vnd.openxmlformats-officedocument.presentationml.tags+xml"/>
  <Override PartName="/ppt/tags/tag2160.xml" ContentType="application/vnd.openxmlformats-officedocument.presentationml.tags+xml"/>
  <Override PartName="/ppt/tags/tag2161.xml" ContentType="application/vnd.openxmlformats-officedocument.presentationml.tags+xml"/>
  <Override PartName="/ppt/tags/tag2162.xml" ContentType="application/vnd.openxmlformats-officedocument.presentationml.tags+xml"/>
  <Override PartName="/ppt/tags/tag2163.xml" ContentType="application/vnd.openxmlformats-officedocument.presentationml.tags+xml"/>
  <Override PartName="/ppt/tags/tag2164.xml" ContentType="application/vnd.openxmlformats-officedocument.presentationml.tags+xml"/>
  <Override PartName="/ppt/tags/tag2165.xml" ContentType="application/vnd.openxmlformats-officedocument.presentationml.tags+xml"/>
  <Override PartName="/ppt/tags/tag2166.xml" ContentType="application/vnd.openxmlformats-officedocument.presentationml.tags+xml"/>
  <Override PartName="/ppt/tags/tag2167.xml" ContentType="application/vnd.openxmlformats-officedocument.presentationml.tags+xml"/>
  <Override PartName="/ppt/tags/tag2168.xml" ContentType="application/vnd.openxmlformats-officedocument.presentationml.tags+xml"/>
  <Override PartName="/ppt/tags/tag2169.xml" ContentType="application/vnd.openxmlformats-officedocument.presentationml.tags+xml"/>
  <Override PartName="/ppt/tags/tag2170.xml" ContentType="application/vnd.openxmlformats-officedocument.presentationml.tags+xml"/>
  <Override PartName="/ppt/tags/tag2171.xml" ContentType="application/vnd.openxmlformats-officedocument.presentationml.tags+xml"/>
  <Override PartName="/ppt/tags/tag2172.xml" ContentType="application/vnd.openxmlformats-officedocument.presentationml.tags+xml"/>
  <Override PartName="/ppt/tags/tag2173.xml" ContentType="application/vnd.openxmlformats-officedocument.presentationml.tags+xml"/>
  <Override PartName="/ppt/tags/tag2174.xml" ContentType="application/vnd.openxmlformats-officedocument.presentationml.tags+xml"/>
  <Override PartName="/ppt/tags/tag2175.xml" ContentType="application/vnd.openxmlformats-officedocument.presentationml.tags+xml"/>
  <Override PartName="/ppt/tags/tag2176.xml" ContentType="application/vnd.openxmlformats-officedocument.presentationml.tags+xml"/>
  <Override PartName="/ppt/tags/tag2177.xml" ContentType="application/vnd.openxmlformats-officedocument.presentationml.tags+xml"/>
  <Override PartName="/ppt/charts/chart112.xml" ContentType="application/vnd.openxmlformats-officedocument.drawingml.chart+xml"/>
  <Override PartName="/ppt/charts/chart113.xml" ContentType="application/vnd.openxmlformats-officedocument.drawingml.chart+xml"/>
  <Override PartName="/ppt/tags/tag2178.xml" ContentType="application/vnd.openxmlformats-officedocument.presentationml.tags+xml"/>
  <Override PartName="/ppt/tags/tag2179.xml" ContentType="application/vnd.openxmlformats-officedocument.presentationml.tags+xml"/>
  <Override PartName="/ppt/tags/tag2180.xml" ContentType="application/vnd.openxmlformats-officedocument.presentationml.tags+xml"/>
  <Override PartName="/ppt/tags/tag2181.xml" ContentType="application/vnd.openxmlformats-officedocument.presentationml.tags+xml"/>
  <Override PartName="/ppt/tags/tag2182.xml" ContentType="application/vnd.openxmlformats-officedocument.presentationml.tags+xml"/>
  <Override PartName="/ppt/tags/tag2183.xml" ContentType="application/vnd.openxmlformats-officedocument.presentationml.tags+xml"/>
  <Override PartName="/ppt/tags/tag2184.xml" ContentType="application/vnd.openxmlformats-officedocument.presentationml.tags+xml"/>
  <Override PartName="/ppt/tags/tag2185.xml" ContentType="application/vnd.openxmlformats-officedocument.presentationml.tags+xml"/>
  <Override PartName="/ppt/tags/tag2186.xml" ContentType="application/vnd.openxmlformats-officedocument.presentationml.tags+xml"/>
  <Override PartName="/ppt/tags/tag2187.xml" ContentType="application/vnd.openxmlformats-officedocument.presentationml.tags+xml"/>
  <Override PartName="/ppt/tags/tag2188.xml" ContentType="application/vnd.openxmlformats-officedocument.presentationml.tags+xml"/>
  <Override PartName="/ppt/tags/tag2189.xml" ContentType="application/vnd.openxmlformats-officedocument.presentationml.tags+xml"/>
  <Override PartName="/ppt/tags/tag2190.xml" ContentType="application/vnd.openxmlformats-officedocument.presentationml.tags+xml"/>
  <Override PartName="/ppt/tags/tag2191.xml" ContentType="application/vnd.openxmlformats-officedocument.presentationml.tags+xml"/>
  <Override PartName="/ppt/tags/tag2192.xml" ContentType="application/vnd.openxmlformats-officedocument.presentationml.tags+xml"/>
  <Override PartName="/ppt/tags/tag2193.xml" ContentType="application/vnd.openxmlformats-officedocument.presentationml.tags+xml"/>
  <Override PartName="/ppt/tags/tag2194.xml" ContentType="application/vnd.openxmlformats-officedocument.presentationml.tags+xml"/>
  <Override PartName="/ppt/tags/tag2195.xml" ContentType="application/vnd.openxmlformats-officedocument.presentationml.tags+xml"/>
  <Override PartName="/ppt/tags/tag2196.xml" ContentType="application/vnd.openxmlformats-officedocument.presentationml.tags+xml"/>
  <Override PartName="/ppt/tags/tag2197.xml" ContentType="application/vnd.openxmlformats-officedocument.presentationml.tags+xml"/>
  <Override PartName="/ppt/tags/tag2198.xml" ContentType="application/vnd.openxmlformats-officedocument.presentationml.tags+xml"/>
  <Override PartName="/ppt/tags/tag2199.xml" ContentType="application/vnd.openxmlformats-officedocument.presentationml.tags+xml"/>
  <Override PartName="/ppt/tags/tag2200.xml" ContentType="application/vnd.openxmlformats-officedocument.presentationml.tags+xml"/>
  <Override PartName="/ppt/tags/tag2201.xml" ContentType="application/vnd.openxmlformats-officedocument.presentationml.tags+xml"/>
  <Override PartName="/ppt/tags/tag2202.xml" ContentType="application/vnd.openxmlformats-officedocument.presentationml.tags+xml"/>
  <Override PartName="/ppt/tags/tag2203.xml" ContentType="application/vnd.openxmlformats-officedocument.presentationml.tags+xml"/>
  <Override PartName="/ppt/charts/chart114.xml" ContentType="application/vnd.openxmlformats-officedocument.drawingml.chart+xml"/>
  <Override PartName="/ppt/charts/chart115.xml" ContentType="application/vnd.openxmlformats-officedocument.drawingml.chart+xml"/>
  <Override PartName="/ppt/tags/tag2204.xml" ContentType="application/vnd.openxmlformats-officedocument.presentationml.tags+xml"/>
  <Override PartName="/ppt/tags/tag2205.xml" ContentType="application/vnd.openxmlformats-officedocument.presentationml.tags+xml"/>
  <Override PartName="/ppt/tags/tag2206.xml" ContentType="application/vnd.openxmlformats-officedocument.presentationml.tags+xml"/>
  <Override PartName="/ppt/tags/tag2207.xml" ContentType="application/vnd.openxmlformats-officedocument.presentationml.tags+xml"/>
  <Override PartName="/ppt/tags/tag2208.xml" ContentType="application/vnd.openxmlformats-officedocument.presentationml.tags+xml"/>
  <Override PartName="/ppt/tags/tag2209.xml" ContentType="application/vnd.openxmlformats-officedocument.presentationml.tags+xml"/>
  <Override PartName="/ppt/tags/tag2210.xml" ContentType="application/vnd.openxmlformats-officedocument.presentationml.tags+xml"/>
  <Override PartName="/ppt/tags/tag2211.xml" ContentType="application/vnd.openxmlformats-officedocument.presentationml.tags+xml"/>
  <Override PartName="/ppt/tags/tag2212.xml" ContentType="application/vnd.openxmlformats-officedocument.presentationml.tags+xml"/>
  <Override PartName="/ppt/tags/tag2213.xml" ContentType="application/vnd.openxmlformats-officedocument.presentationml.tags+xml"/>
  <Override PartName="/ppt/tags/tag2214.xml" ContentType="application/vnd.openxmlformats-officedocument.presentationml.tags+xml"/>
  <Override PartName="/ppt/tags/tag2215.xml" ContentType="application/vnd.openxmlformats-officedocument.presentationml.tags+xml"/>
  <Override PartName="/ppt/tags/tag2216.xml" ContentType="application/vnd.openxmlformats-officedocument.presentationml.tags+xml"/>
  <Override PartName="/ppt/tags/tag2217.xml" ContentType="application/vnd.openxmlformats-officedocument.presentationml.tags+xml"/>
  <Override PartName="/ppt/tags/tag2218.xml" ContentType="application/vnd.openxmlformats-officedocument.presentationml.tags+xml"/>
  <Override PartName="/ppt/tags/tag2219.xml" ContentType="application/vnd.openxmlformats-officedocument.presentationml.tags+xml"/>
  <Override PartName="/ppt/tags/tag2220.xml" ContentType="application/vnd.openxmlformats-officedocument.presentationml.tags+xml"/>
  <Override PartName="/ppt/tags/tag2221.xml" ContentType="application/vnd.openxmlformats-officedocument.presentationml.tags+xml"/>
  <Override PartName="/ppt/tags/tag2222.xml" ContentType="application/vnd.openxmlformats-officedocument.presentationml.tags+xml"/>
  <Override PartName="/ppt/tags/tag2223.xml" ContentType="application/vnd.openxmlformats-officedocument.presentationml.tags+xml"/>
  <Override PartName="/ppt/tags/tag2224.xml" ContentType="application/vnd.openxmlformats-officedocument.presentationml.tags+xml"/>
  <Override PartName="/ppt/tags/tag2225.xml" ContentType="application/vnd.openxmlformats-officedocument.presentationml.tags+xml"/>
  <Override PartName="/ppt/tags/tag2226.xml" ContentType="application/vnd.openxmlformats-officedocument.presentationml.tags+xml"/>
  <Override PartName="/ppt/tags/tag2227.xml" ContentType="application/vnd.openxmlformats-officedocument.presentationml.tags+xml"/>
  <Override PartName="/ppt/tags/tag2228.xml" ContentType="application/vnd.openxmlformats-officedocument.presentationml.tags+xml"/>
  <Override PartName="/ppt/tags/tag2229.xml" ContentType="application/vnd.openxmlformats-officedocument.presentationml.tags+xml"/>
  <Override PartName="/ppt/tags/tag2230.xml" ContentType="application/vnd.openxmlformats-officedocument.presentationml.tags+xml"/>
  <Override PartName="/ppt/tags/tag2231.xml" ContentType="application/vnd.openxmlformats-officedocument.presentationml.tags+xml"/>
  <Override PartName="/ppt/charts/chart116.xml" ContentType="application/vnd.openxmlformats-officedocument.drawingml.chart+xml"/>
  <Override PartName="/ppt/charts/chart117.xml" ContentType="application/vnd.openxmlformats-officedocument.drawingml.chart+xml"/>
  <Override PartName="/ppt/tags/tag2232.xml" ContentType="application/vnd.openxmlformats-officedocument.presentationml.tags+xml"/>
  <Override PartName="/ppt/tags/tag2233.xml" ContentType="application/vnd.openxmlformats-officedocument.presentationml.tags+xml"/>
  <Override PartName="/ppt/tags/tag2234.xml" ContentType="application/vnd.openxmlformats-officedocument.presentationml.tags+xml"/>
  <Override PartName="/ppt/tags/tag2235.xml" ContentType="application/vnd.openxmlformats-officedocument.presentationml.tags+xml"/>
  <Override PartName="/ppt/tags/tag2236.xml" ContentType="application/vnd.openxmlformats-officedocument.presentationml.tags+xml"/>
  <Override PartName="/ppt/tags/tag2237.xml" ContentType="application/vnd.openxmlformats-officedocument.presentationml.tags+xml"/>
  <Override PartName="/ppt/tags/tag2238.xml" ContentType="application/vnd.openxmlformats-officedocument.presentationml.tags+xml"/>
  <Override PartName="/ppt/tags/tag2239.xml" ContentType="application/vnd.openxmlformats-officedocument.presentationml.tags+xml"/>
  <Override PartName="/ppt/tags/tag2240.xml" ContentType="application/vnd.openxmlformats-officedocument.presentationml.tags+xml"/>
  <Override PartName="/ppt/tags/tag2241.xml" ContentType="application/vnd.openxmlformats-officedocument.presentationml.tags+xml"/>
  <Override PartName="/ppt/tags/tag2242.xml" ContentType="application/vnd.openxmlformats-officedocument.presentationml.tags+xml"/>
  <Override PartName="/ppt/tags/tag2243.xml" ContentType="application/vnd.openxmlformats-officedocument.presentationml.tags+xml"/>
  <Override PartName="/ppt/tags/tag2244.xml" ContentType="application/vnd.openxmlformats-officedocument.presentationml.tags+xml"/>
  <Override PartName="/ppt/tags/tag2245.xml" ContentType="application/vnd.openxmlformats-officedocument.presentationml.tags+xml"/>
  <Override PartName="/ppt/tags/tag2246.xml" ContentType="application/vnd.openxmlformats-officedocument.presentationml.tags+xml"/>
  <Override PartName="/ppt/tags/tag2247.xml" ContentType="application/vnd.openxmlformats-officedocument.presentationml.tags+xml"/>
  <Override PartName="/ppt/tags/tag2248.xml" ContentType="application/vnd.openxmlformats-officedocument.presentationml.tags+xml"/>
  <Override PartName="/ppt/tags/tag2249.xml" ContentType="application/vnd.openxmlformats-officedocument.presentationml.tags+xml"/>
  <Override PartName="/ppt/tags/tag2250.xml" ContentType="application/vnd.openxmlformats-officedocument.presentationml.tags+xml"/>
  <Override PartName="/ppt/tags/tag2251.xml" ContentType="application/vnd.openxmlformats-officedocument.presentationml.tags+xml"/>
  <Override PartName="/ppt/tags/tag2252.xml" ContentType="application/vnd.openxmlformats-officedocument.presentationml.tags+xml"/>
  <Override PartName="/ppt/tags/tag2253.xml" ContentType="application/vnd.openxmlformats-officedocument.presentationml.tags+xml"/>
  <Override PartName="/ppt/tags/tag2254.xml" ContentType="application/vnd.openxmlformats-officedocument.presentationml.tags+xml"/>
  <Override PartName="/ppt/tags/tag2255.xml" ContentType="application/vnd.openxmlformats-officedocument.presentationml.tags+xml"/>
  <Override PartName="/ppt/tags/tag2256.xml" ContentType="application/vnd.openxmlformats-officedocument.presentationml.tags+xml"/>
  <Override PartName="/ppt/tags/tag2257.xml" ContentType="application/vnd.openxmlformats-officedocument.presentationml.tags+xml"/>
  <Override PartName="/ppt/tags/tag2258.xml" ContentType="application/vnd.openxmlformats-officedocument.presentationml.tags+xml"/>
  <Override PartName="/ppt/tags/tag2259.xml" ContentType="application/vnd.openxmlformats-officedocument.presentationml.tags+xml"/>
  <Override PartName="/ppt/tags/tag2260.xml" ContentType="application/vnd.openxmlformats-officedocument.presentationml.tags+xml"/>
  <Override PartName="/ppt/tags/tag2261.xml" ContentType="application/vnd.openxmlformats-officedocument.presentationml.tags+xml"/>
  <Override PartName="/ppt/tags/tag2262.xml" ContentType="application/vnd.openxmlformats-officedocument.presentationml.tags+xml"/>
  <Override PartName="/ppt/tags/tag2263.xml" ContentType="application/vnd.openxmlformats-officedocument.presentationml.tags+xml"/>
  <Override PartName="/ppt/tags/tag2264.xml" ContentType="application/vnd.openxmlformats-officedocument.presentationml.tags+xml"/>
  <Override PartName="/ppt/tags/tag2265.xml" ContentType="application/vnd.openxmlformats-officedocument.presentationml.tags+xml"/>
  <Override PartName="/ppt/tags/tag2266.xml" ContentType="application/vnd.openxmlformats-officedocument.presentationml.tags+xml"/>
  <Override PartName="/ppt/tags/tag2267.xml" ContentType="application/vnd.openxmlformats-officedocument.presentationml.tags+xml"/>
  <Override PartName="/ppt/charts/chart118.xml" ContentType="application/vnd.openxmlformats-officedocument.drawingml.chart+xml"/>
  <Override PartName="/ppt/charts/chart119.xml" ContentType="application/vnd.openxmlformats-officedocument.drawingml.chart+xml"/>
  <Override PartName="/ppt/tags/tag2268.xml" ContentType="application/vnd.openxmlformats-officedocument.presentationml.tags+xml"/>
  <Override PartName="/ppt/tags/tag2269.xml" ContentType="application/vnd.openxmlformats-officedocument.presentationml.tags+xml"/>
  <Override PartName="/ppt/tags/tag2270.xml" ContentType="application/vnd.openxmlformats-officedocument.presentationml.tags+xml"/>
  <Override PartName="/ppt/tags/tag2271.xml" ContentType="application/vnd.openxmlformats-officedocument.presentationml.tags+xml"/>
  <Override PartName="/ppt/tags/tag2272.xml" ContentType="application/vnd.openxmlformats-officedocument.presentationml.tags+xml"/>
  <Override PartName="/ppt/tags/tag2273.xml" ContentType="application/vnd.openxmlformats-officedocument.presentationml.tags+xml"/>
  <Override PartName="/ppt/tags/tag2274.xml" ContentType="application/vnd.openxmlformats-officedocument.presentationml.tags+xml"/>
  <Override PartName="/ppt/tags/tag2275.xml" ContentType="application/vnd.openxmlformats-officedocument.presentationml.tags+xml"/>
  <Override PartName="/ppt/tags/tag2276.xml" ContentType="application/vnd.openxmlformats-officedocument.presentationml.tags+xml"/>
  <Override PartName="/ppt/tags/tag2277.xml" ContentType="application/vnd.openxmlformats-officedocument.presentationml.tags+xml"/>
  <Override PartName="/ppt/tags/tag2278.xml" ContentType="application/vnd.openxmlformats-officedocument.presentationml.tags+xml"/>
  <Override PartName="/ppt/tags/tag2279.xml" ContentType="application/vnd.openxmlformats-officedocument.presentationml.tags+xml"/>
  <Override PartName="/ppt/tags/tag2280.xml" ContentType="application/vnd.openxmlformats-officedocument.presentationml.tags+xml"/>
  <Override PartName="/ppt/tags/tag2281.xml" ContentType="application/vnd.openxmlformats-officedocument.presentationml.tags+xml"/>
  <Override PartName="/ppt/tags/tag2282.xml" ContentType="application/vnd.openxmlformats-officedocument.presentationml.tags+xml"/>
  <Override PartName="/ppt/tags/tag2283.xml" ContentType="application/vnd.openxmlformats-officedocument.presentationml.tags+xml"/>
  <Override PartName="/ppt/tags/tag2284.xml" ContentType="application/vnd.openxmlformats-officedocument.presentationml.tags+xml"/>
  <Override PartName="/ppt/tags/tag2285.xml" ContentType="application/vnd.openxmlformats-officedocument.presentationml.tags+xml"/>
  <Override PartName="/ppt/tags/tag2286.xml" ContentType="application/vnd.openxmlformats-officedocument.presentationml.tags+xml"/>
  <Override PartName="/ppt/tags/tag2287.xml" ContentType="application/vnd.openxmlformats-officedocument.presentationml.tags+xml"/>
  <Override PartName="/ppt/tags/tag2288.xml" ContentType="application/vnd.openxmlformats-officedocument.presentationml.tags+xml"/>
  <Override PartName="/ppt/tags/tag2289.xml" ContentType="application/vnd.openxmlformats-officedocument.presentationml.tags+xml"/>
  <Override PartName="/ppt/tags/tag2290.xml" ContentType="application/vnd.openxmlformats-officedocument.presentationml.tags+xml"/>
  <Override PartName="/ppt/tags/tag2291.xml" ContentType="application/vnd.openxmlformats-officedocument.presentationml.tags+xml"/>
  <Override PartName="/ppt/tags/tag2292.xml" ContentType="application/vnd.openxmlformats-officedocument.presentationml.tags+xml"/>
  <Override PartName="/ppt/tags/tag2293.xml" ContentType="application/vnd.openxmlformats-officedocument.presentationml.tags+xml"/>
  <Override PartName="/ppt/tags/tag2294.xml" ContentType="application/vnd.openxmlformats-officedocument.presentationml.tags+xml"/>
  <Override PartName="/ppt/tags/tag2295.xml" ContentType="application/vnd.openxmlformats-officedocument.presentationml.tags+xml"/>
  <Override PartName="/ppt/tags/tag2296.xml" ContentType="application/vnd.openxmlformats-officedocument.presentationml.tags+xml"/>
  <Override PartName="/ppt/tags/tag2297.xml" ContentType="application/vnd.openxmlformats-officedocument.presentationml.tags+xml"/>
  <Override PartName="/ppt/tags/tag2298.xml" ContentType="application/vnd.openxmlformats-officedocument.presentationml.tags+xml"/>
  <Override PartName="/ppt/tags/tag2299.xml" ContentType="application/vnd.openxmlformats-officedocument.presentationml.tags+xml"/>
  <Override PartName="/ppt/tags/tag2300.xml" ContentType="application/vnd.openxmlformats-officedocument.presentationml.tags+xml"/>
  <Override PartName="/ppt/tags/tag2301.xml" ContentType="application/vnd.openxmlformats-officedocument.presentationml.tags+xml"/>
  <Override PartName="/ppt/tags/tag2302.xml" ContentType="application/vnd.openxmlformats-officedocument.presentationml.tags+xml"/>
  <Override PartName="/ppt/tags/tag2303.xml" ContentType="application/vnd.openxmlformats-officedocument.presentationml.tags+xml"/>
  <Override PartName="/ppt/tags/tag2304.xml" ContentType="application/vnd.openxmlformats-officedocument.presentationml.tags+xml"/>
  <Override PartName="/ppt/tags/tag2305.xml" ContentType="application/vnd.openxmlformats-officedocument.presentationml.tags+xml"/>
  <Override PartName="/ppt/tags/tag2306.xml" ContentType="application/vnd.openxmlformats-officedocument.presentationml.tags+xml"/>
  <Override PartName="/ppt/tags/tag2307.xml" ContentType="application/vnd.openxmlformats-officedocument.presentationml.tags+xml"/>
  <Override PartName="/ppt/tags/tag2308.xml" ContentType="application/vnd.openxmlformats-officedocument.presentationml.tags+xml"/>
  <Override PartName="/ppt/charts/chart120.xml" ContentType="application/vnd.openxmlformats-officedocument.drawingml.chart+xml"/>
  <Override PartName="/ppt/charts/chart121.xml" ContentType="application/vnd.openxmlformats-officedocument.drawingml.chart+xml"/>
  <Override PartName="/ppt/tags/tag2309.xml" ContentType="application/vnd.openxmlformats-officedocument.presentationml.tags+xml"/>
  <Override PartName="/ppt/tags/tag2310.xml" ContentType="application/vnd.openxmlformats-officedocument.presentationml.tags+xml"/>
  <Override PartName="/ppt/tags/tag2311.xml" ContentType="application/vnd.openxmlformats-officedocument.presentationml.tags+xml"/>
  <Override PartName="/ppt/tags/tag2312.xml" ContentType="application/vnd.openxmlformats-officedocument.presentationml.tags+xml"/>
  <Override PartName="/ppt/charts/chart122.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123.xml" ContentType="application/vnd.openxmlformats-officedocument.drawingml.chart+xml"/>
  <Override PartName="/ppt/charts/style18.xml" ContentType="application/vnd.ms-office.chartstyle+xml"/>
  <Override PartName="/ppt/charts/colors18.xml" ContentType="application/vnd.ms-office.chartcolorstyle+xml"/>
  <Override PartName="/ppt/tags/tag2313.xml" ContentType="application/vnd.openxmlformats-officedocument.presentationml.tags+xml"/>
  <Override PartName="/ppt/tags/tag2314.xml" ContentType="application/vnd.openxmlformats-officedocument.presentationml.tags+xml"/>
  <Override PartName="/ppt/tags/tag2315.xml" ContentType="application/vnd.openxmlformats-officedocument.presentationml.tags+xml"/>
  <Override PartName="/ppt/tags/tag2316.xml" ContentType="application/vnd.openxmlformats-officedocument.presentationml.tags+xml"/>
  <Override PartName="/ppt/tags/tag2317.xml" ContentType="application/vnd.openxmlformats-officedocument.presentationml.tags+xml"/>
  <Override PartName="/ppt/tags/tag2318.xml" ContentType="application/vnd.openxmlformats-officedocument.presentationml.tags+xml"/>
  <Override PartName="/ppt/tags/tag2319.xml" ContentType="application/vnd.openxmlformats-officedocument.presentationml.tags+xml"/>
  <Override PartName="/ppt/tags/tag2320.xml" ContentType="application/vnd.openxmlformats-officedocument.presentationml.tags+xml"/>
  <Override PartName="/ppt/tags/tag2321.xml" ContentType="application/vnd.openxmlformats-officedocument.presentationml.tags+xml"/>
  <Override PartName="/ppt/tags/tag2322.xml" ContentType="application/vnd.openxmlformats-officedocument.presentationml.tags+xml"/>
  <Override PartName="/ppt/tags/tag2323.xml" ContentType="application/vnd.openxmlformats-officedocument.presentationml.tags+xml"/>
  <Override PartName="/ppt/tags/tag2324.xml" ContentType="application/vnd.openxmlformats-officedocument.presentationml.tags+xml"/>
  <Override PartName="/ppt/tags/tag2325.xml" ContentType="application/vnd.openxmlformats-officedocument.presentationml.tags+xml"/>
  <Override PartName="/ppt/tags/tag2326.xml" ContentType="application/vnd.openxmlformats-officedocument.presentationml.tags+xml"/>
  <Override PartName="/ppt/tags/tag2327.xml" ContentType="application/vnd.openxmlformats-officedocument.presentationml.tags+xml"/>
  <Override PartName="/ppt/tags/tag2328.xml" ContentType="application/vnd.openxmlformats-officedocument.presentationml.tags+xml"/>
  <Override PartName="/ppt/tags/tag2329.xml" ContentType="application/vnd.openxmlformats-officedocument.presentationml.tags+xml"/>
  <Override PartName="/ppt/tags/tag2330.xml" ContentType="application/vnd.openxmlformats-officedocument.presentationml.tags+xml"/>
  <Override PartName="/ppt/tags/tag2331.xml" ContentType="application/vnd.openxmlformats-officedocument.presentationml.tags+xml"/>
  <Override PartName="/ppt/tags/tag2332.xml" ContentType="application/vnd.openxmlformats-officedocument.presentationml.tags+xml"/>
  <Override PartName="/ppt/tags/tag2333.xml" ContentType="application/vnd.openxmlformats-officedocument.presentationml.tags+xml"/>
  <Override PartName="/ppt/tags/tag2334.xml" ContentType="application/vnd.openxmlformats-officedocument.presentationml.tags+xml"/>
  <Override PartName="/ppt/tags/tag2335.xml" ContentType="application/vnd.openxmlformats-officedocument.presentationml.tags+xml"/>
  <Override PartName="/ppt/tags/tag2336.xml" ContentType="application/vnd.openxmlformats-officedocument.presentationml.tags+xml"/>
  <Override PartName="/ppt/charts/chart124.xml" ContentType="application/vnd.openxmlformats-officedocument.drawingml.chart+xml"/>
  <Override PartName="/ppt/charts/chart125.xml" ContentType="application/vnd.openxmlformats-officedocument.drawingml.chart+xml"/>
  <Override PartName="/ppt/tags/tag2337.xml" ContentType="application/vnd.openxmlformats-officedocument.presentationml.tags+xml"/>
  <Override PartName="/ppt/tags/tag2338.xml" ContentType="application/vnd.openxmlformats-officedocument.presentationml.tags+xml"/>
  <Override PartName="/ppt/tags/tag2339.xml" ContentType="application/vnd.openxmlformats-officedocument.presentationml.tags+xml"/>
  <Override PartName="/ppt/tags/tag2340.xml" ContentType="application/vnd.openxmlformats-officedocument.presentationml.tags+xml"/>
  <Override PartName="/ppt/tags/tag2341.xml" ContentType="application/vnd.openxmlformats-officedocument.presentationml.tags+xml"/>
  <Override PartName="/ppt/tags/tag2342.xml" ContentType="application/vnd.openxmlformats-officedocument.presentationml.tags+xml"/>
  <Override PartName="/ppt/tags/tag2343.xml" ContentType="application/vnd.openxmlformats-officedocument.presentationml.tags+xml"/>
  <Override PartName="/ppt/tags/tag2344.xml" ContentType="application/vnd.openxmlformats-officedocument.presentationml.tags+xml"/>
  <Override PartName="/ppt/tags/tag2345.xml" ContentType="application/vnd.openxmlformats-officedocument.presentationml.tags+xml"/>
  <Override PartName="/ppt/tags/tag2346.xml" ContentType="application/vnd.openxmlformats-officedocument.presentationml.tags+xml"/>
  <Override PartName="/ppt/tags/tag2347.xml" ContentType="application/vnd.openxmlformats-officedocument.presentationml.tags+xml"/>
  <Override PartName="/ppt/tags/tag2348.xml" ContentType="application/vnd.openxmlformats-officedocument.presentationml.tags+xml"/>
  <Override PartName="/ppt/tags/tag2349.xml" ContentType="application/vnd.openxmlformats-officedocument.presentationml.tags+xml"/>
  <Override PartName="/ppt/tags/tag2350.xml" ContentType="application/vnd.openxmlformats-officedocument.presentationml.tags+xml"/>
  <Override PartName="/ppt/tags/tag2351.xml" ContentType="application/vnd.openxmlformats-officedocument.presentationml.tags+xml"/>
  <Override PartName="/ppt/tags/tag2352.xml" ContentType="application/vnd.openxmlformats-officedocument.presentationml.tags+xml"/>
  <Override PartName="/ppt/tags/tag2353.xml" ContentType="application/vnd.openxmlformats-officedocument.presentationml.tags+xml"/>
  <Override PartName="/ppt/tags/tag2354.xml" ContentType="application/vnd.openxmlformats-officedocument.presentationml.tags+xml"/>
  <Override PartName="/ppt/tags/tag2355.xml" ContentType="application/vnd.openxmlformats-officedocument.presentationml.tags+xml"/>
  <Override PartName="/ppt/tags/tag2356.xml" ContentType="application/vnd.openxmlformats-officedocument.presentationml.tags+xml"/>
  <Override PartName="/ppt/tags/tag2357.xml" ContentType="application/vnd.openxmlformats-officedocument.presentationml.tags+xml"/>
  <Override PartName="/ppt/tags/tag2358.xml" ContentType="application/vnd.openxmlformats-officedocument.presentationml.tags+xml"/>
  <Override PartName="/ppt/tags/tag2359.xml" ContentType="application/vnd.openxmlformats-officedocument.presentationml.tags+xml"/>
  <Override PartName="/ppt/tags/tag2360.xml" ContentType="application/vnd.openxmlformats-officedocument.presentationml.tags+xml"/>
  <Override PartName="/ppt/tags/tag2361.xml" ContentType="application/vnd.openxmlformats-officedocument.presentationml.tags+xml"/>
  <Override PartName="/ppt/tags/tag2362.xml" ContentType="application/vnd.openxmlformats-officedocument.presentationml.tags+xml"/>
  <Override PartName="/ppt/tags/tag2363.xml" ContentType="application/vnd.openxmlformats-officedocument.presentationml.tags+xml"/>
  <Override PartName="/ppt/tags/tag2364.xml" ContentType="application/vnd.openxmlformats-officedocument.presentationml.tags+xml"/>
  <Override PartName="/ppt/tags/tag2365.xml" ContentType="application/vnd.openxmlformats-officedocument.presentationml.tags+xml"/>
  <Override PartName="/ppt/tags/tag2366.xml" ContentType="application/vnd.openxmlformats-officedocument.presentationml.tags+xml"/>
  <Override PartName="/ppt/tags/tag2367.xml" ContentType="application/vnd.openxmlformats-officedocument.presentationml.tags+xml"/>
  <Override PartName="/ppt/tags/tag2368.xml" ContentType="application/vnd.openxmlformats-officedocument.presentationml.tags+xml"/>
  <Override PartName="/ppt/tags/tag2369.xml" ContentType="application/vnd.openxmlformats-officedocument.presentationml.tags+xml"/>
  <Override PartName="/ppt/charts/chart126.xml" ContentType="application/vnd.openxmlformats-officedocument.drawingml.chart+xml"/>
  <Override PartName="/ppt/charts/chart127.xml" ContentType="application/vnd.openxmlformats-officedocument.drawingml.chart+xml"/>
  <Override PartName="/ppt/charts/chart128.xml" ContentType="application/vnd.openxmlformats-officedocument.drawingml.chart+xml"/>
  <Override PartName="/ppt/tags/tag2370.xml" ContentType="application/vnd.openxmlformats-officedocument.presentationml.tags+xml"/>
  <Override PartName="/ppt/tags/tag2371.xml" ContentType="application/vnd.openxmlformats-officedocument.presentationml.tags+xml"/>
  <Override PartName="/ppt/tags/tag2372.xml" ContentType="application/vnd.openxmlformats-officedocument.presentationml.tags+xml"/>
  <Override PartName="/ppt/tags/tag2373.xml" ContentType="application/vnd.openxmlformats-officedocument.presentationml.tags+xml"/>
  <Override PartName="/ppt/tags/tag2374.xml" ContentType="application/vnd.openxmlformats-officedocument.presentationml.tags+xml"/>
  <Override PartName="/ppt/tags/tag2375.xml" ContentType="application/vnd.openxmlformats-officedocument.presentationml.tags+xml"/>
  <Override PartName="/ppt/tags/tag2376.xml" ContentType="application/vnd.openxmlformats-officedocument.presentationml.tags+xml"/>
  <Override PartName="/ppt/tags/tag2377.xml" ContentType="application/vnd.openxmlformats-officedocument.presentationml.tags+xml"/>
  <Override PartName="/ppt/tags/tag2378.xml" ContentType="application/vnd.openxmlformats-officedocument.presentationml.tags+xml"/>
  <Override PartName="/ppt/tags/tag2379.xml" ContentType="application/vnd.openxmlformats-officedocument.presentationml.tags+xml"/>
  <Override PartName="/ppt/tags/tag2380.xml" ContentType="application/vnd.openxmlformats-officedocument.presentationml.tags+xml"/>
  <Override PartName="/ppt/tags/tag2381.xml" ContentType="application/vnd.openxmlformats-officedocument.presentationml.tags+xml"/>
  <Override PartName="/ppt/tags/tag2382.xml" ContentType="application/vnd.openxmlformats-officedocument.presentationml.tags+xml"/>
  <Override PartName="/ppt/tags/tag2383.xml" ContentType="application/vnd.openxmlformats-officedocument.presentationml.tags+xml"/>
  <Override PartName="/ppt/charts/chart129.xml" ContentType="application/vnd.openxmlformats-officedocument.drawingml.chart+xml"/>
  <Override PartName="/ppt/charts/chart130.xml" ContentType="application/vnd.openxmlformats-officedocument.drawingml.chart+xml"/>
  <Override PartName="/ppt/charts/style19.xml" ContentType="application/vnd.ms-office.chartstyle+xml"/>
  <Override PartName="/ppt/charts/colors19.xml" ContentType="application/vnd.ms-office.chartcolorstyle+xml"/>
  <Override PartName="/ppt/tags/tag2384.xml" ContentType="application/vnd.openxmlformats-officedocument.presentationml.tags+xml"/>
  <Override PartName="/ppt/tags/tag2385.xml" ContentType="application/vnd.openxmlformats-officedocument.presentationml.tags+xml"/>
  <Override PartName="/ppt/tags/tag2386.xml" ContentType="application/vnd.openxmlformats-officedocument.presentationml.tags+xml"/>
  <Override PartName="/ppt/tags/tag2387.xml" ContentType="application/vnd.openxmlformats-officedocument.presentationml.tags+xml"/>
  <Override PartName="/ppt/tags/tag2388.xml" ContentType="application/vnd.openxmlformats-officedocument.presentationml.tags+xml"/>
  <Override PartName="/ppt/tags/tag2389.xml" ContentType="application/vnd.openxmlformats-officedocument.presentationml.tags+xml"/>
  <Override PartName="/ppt/tags/tag2390.xml" ContentType="application/vnd.openxmlformats-officedocument.presentationml.tags+xml"/>
  <Override PartName="/ppt/tags/tag2391.xml" ContentType="application/vnd.openxmlformats-officedocument.presentationml.tags+xml"/>
  <Override PartName="/ppt/tags/tag2392.xml" ContentType="application/vnd.openxmlformats-officedocument.presentationml.tags+xml"/>
  <Override PartName="/ppt/tags/tag2393.xml" ContentType="application/vnd.openxmlformats-officedocument.presentationml.tags+xml"/>
  <Override PartName="/ppt/tags/tag2394.xml" ContentType="application/vnd.openxmlformats-officedocument.presentationml.tags+xml"/>
  <Override PartName="/ppt/tags/tag2395.xml" ContentType="application/vnd.openxmlformats-officedocument.presentationml.tags+xml"/>
  <Override PartName="/ppt/tags/tag2396.xml" ContentType="application/vnd.openxmlformats-officedocument.presentationml.tags+xml"/>
  <Override PartName="/ppt/tags/tag2397.xml" ContentType="application/vnd.openxmlformats-officedocument.presentationml.tags+xml"/>
  <Override PartName="/ppt/tags/tag2398.xml" ContentType="application/vnd.openxmlformats-officedocument.presentationml.tags+xml"/>
  <Override PartName="/ppt/tags/tag2399.xml" ContentType="application/vnd.openxmlformats-officedocument.presentationml.tags+xml"/>
  <Override PartName="/ppt/tags/tag2400.xml" ContentType="application/vnd.openxmlformats-officedocument.presentationml.tags+xml"/>
  <Override PartName="/ppt/tags/tag2401.xml" ContentType="application/vnd.openxmlformats-officedocument.presentationml.tags+xml"/>
  <Override PartName="/ppt/tags/tag2402.xml" ContentType="application/vnd.openxmlformats-officedocument.presentationml.tags+xml"/>
  <Override PartName="/ppt/tags/tag2403.xml" ContentType="application/vnd.openxmlformats-officedocument.presentationml.tags+xml"/>
  <Override PartName="/ppt/tags/tag2404.xml" ContentType="application/vnd.openxmlformats-officedocument.presentationml.tags+xml"/>
  <Override PartName="/ppt/tags/tag2405.xml" ContentType="application/vnd.openxmlformats-officedocument.presentationml.tags+xml"/>
  <Override PartName="/ppt/tags/tag2406.xml" ContentType="application/vnd.openxmlformats-officedocument.presentationml.tags+xml"/>
  <Override PartName="/ppt/tags/tag2407.xml" ContentType="application/vnd.openxmlformats-officedocument.presentationml.tags+xml"/>
  <Override PartName="/ppt/tags/tag2408.xml" ContentType="application/vnd.openxmlformats-officedocument.presentationml.tags+xml"/>
  <Override PartName="/ppt/tags/tag2409.xml" ContentType="application/vnd.openxmlformats-officedocument.presentationml.tags+xml"/>
  <Override PartName="/ppt/tags/tag2410.xml" ContentType="application/vnd.openxmlformats-officedocument.presentationml.tags+xml"/>
  <Override PartName="/ppt/tags/tag2411.xml" ContentType="application/vnd.openxmlformats-officedocument.presentationml.tags+xml"/>
  <Override PartName="/ppt/tags/tag2412.xml" ContentType="application/vnd.openxmlformats-officedocument.presentationml.tags+xml"/>
  <Override PartName="/ppt/tags/tag2413.xml" ContentType="application/vnd.openxmlformats-officedocument.presentationml.tags+xml"/>
  <Override PartName="/ppt/tags/tag2414.xml" ContentType="application/vnd.openxmlformats-officedocument.presentationml.tags+xml"/>
  <Override PartName="/ppt/charts/chart131.xml" ContentType="application/vnd.openxmlformats-officedocument.drawingml.chart+xml"/>
  <Override PartName="/ppt/charts/chart132.xml" ContentType="application/vnd.openxmlformats-officedocument.drawingml.chart+xml"/>
  <Override PartName="/ppt/tags/tag2415.xml" ContentType="application/vnd.openxmlformats-officedocument.presentationml.tags+xml"/>
  <Override PartName="/ppt/tags/tag2416.xml" ContentType="application/vnd.openxmlformats-officedocument.presentationml.tags+xml"/>
  <Override PartName="/ppt/tags/tag2417.xml" ContentType="application/vnd.openxmlformats-officedocument.presentationml.tags+xml"/>
  <Override PartName="/ppt/tags/tag2418.xml" ContentType="application/vnd.openxmlformats-officedocument.presentationml.tags+xml"/>
  <Override PartName="/ppt/tags/tag2419.xml" ContentType="application/vnd.openxmlformats-officedocument.presentationml.tags+xml"/>
  <Override PartName="/ppt/notesSlides/notesSlide16.xml" ContentType="application/vnd.openxmlformats-officedocument.presentationml.notesSlide+xml"/>
  <Override PartName="/ppt/tags/tag2420.xml" ContentType="application/vnd.openxmlformats-officedocument.presentationml.tags+xml"/>
  <Override PartName="/ppt/tags/tag2421.xml" ContentType="application/vnd.openxmlformats-officedocument.presentationml.tags+xml"/>
  <Override PartName="/ppt/tags/tag2422.xml" ContentType="application/vnd.openxmlformats-officedocument.presentationml.tags+xml"/>
  <Override PartName="/ppt/notesSlides/notesSlide17.xml" ContentType="application/vnd.openxmlformats-officedocument.presentationml.notesSlide+xml"/>
  <Override PartName="/ppt/tags/tag2423.xml" ContentType="application/vnd.openxmlformats-officedocument.presentationml.tags+xml"/>
  <Override PartName="/ppt/tags/tag2424.xml" ContentType="application/vnd.openxmlformats-officedocument.presentationml.tags+xml"/>
  <Override PartName="/ppt/tags/tag2425.xml" ContentType="application/vnd.openxmlformats-officedocument.presentationml.tags+xml"/>
  <Override PartName="/ppt/notesSlides/notesSlide18.xml" ContentType="application/vnd.openxmlformats-officedocument.presentationml.notesSlide+xml"/>
  <Override PartName="/ppt/tags/tag2426.xml" ContentType="application/vnd.openxmlformats-officedocument.presentationml.tags+xml"/>
  <Override PartName="/ppt/tags/tag2427.xml" ContentType="application/vnd.openxmlformats-officedocument.presentationml.tags+xml"/>
  <Override PartName="/ppt/tags/tag2428.xml" ContentType="application/vnd.openxmlformats-officedocument.presentationml.tags+xml"/>
  <Override PartName="/ppt/tags/tag2429.xml" ContentType="application/vnd.openxmlformats-officedocument.presentationml.tags+xml"/>
  <Override PartName="/ppt/tags/tag2430.xml" ContentType="application/vnd.openxmlformats-officedocument.presentationml.tags+xml"/>
  <Override PartName="/ppt/tags/tag2431.xml" ContentType="application/vnd.openxmlformats-officedocument.presentationml.tags+xml"/>
  <Override PartName="/ppt/tags/tag2432.xml" ContentType="application/vnd.openxmlformats-officedocument.presentationml.tags+xml"/>
  <Override PartName="/ppt/tags/tag2433.xml" ContentType="application/vnd.openxmlformats-officedocument.presentationml.tags+xml"/>
  <Override PartName="/ppt/tags/tag2434.xml" ContentType="application/vnd.openxmlformats-officedocument.presentationml.tags+xml"/>
  <Override PartName="/ppt/tags/tag2435.xml" ContentType="application/vnd.openxmlformats-officedocument.presentationml.tags+xml"/>
  <Override PartName="/ppt/tags/tag2436.xml" ContentType="application/vnd.openxmlformats-officedocument.presentationml.tags+xml"/>
  <Override PartName="/ppt/tags/tag2437.xml" ContentType="application/vnd.openxmlformats-officedocument.presentationml.tags+xml"/>
  <Override PartName="/ppt/tags/tag2438.xml" ContentType="application/vnd.openxmlformats-officedocument.presentationml.tags+xml"/>
  <Override PartName="/ppt/tags/tag2439.xml" ContentType="application/vnd.openxmlformats-officedocument.presentationml.tags+xml"/>
  <Override PartName="/ppt/tags/tag2440.xml" ContentType="application/vnd.openxmlformats-officedocument.presentationml.tags+xml"/>
  <Override PartName="/ppt/tags/tag2441.xml" ContentType="application/vnd.openxmlformats-officedocument.presentationml.tags+xml"/>
  <Override PartName="/ppt/tags/tag2442.xml" ContentType="application/vnd.openxmlformats-officedocument.presentationml.tags+xml"/>
  <Override PartName="/ppt/tags/tag2443.xml" ContentType="application/vnd.openxmlformats-officedocument.presentationml.tags+xml"/>
  <Override PartName="/ppt/tags/tag2444.xml" ContentType="application/vnd.openxmlformats-officedocument.presentationml.tags+xml"/>
  <Override PartName="/ppt/tags/tag2445.xml" ContentType="application/vnd.openxmlformats-officedocument.presentationml.tags+xml"/>
  <Override PartName="/ppt/tags/tag2446.xml" ContentType="application/vnd.openxmlformats-officedocument.presentationml.tags+xml"/>
  <Override PartName="/ppt/tags/tag2447.xml" ContentType="application/vnd.openxmlformats-officedocument.presentationml.tags+xml"/>
  <Override PartName="/ppt/tags/tag2448.xml" ContentType="application/vnd.openxmlformats-officedocument.presentationml.tags+xml"/>
  <Override PartName="/ppt/charts/chart133.xml" ContentType="application/vnd.openxmlformats-officedocument.drawingml.chart+xml"/>
  <Override PartName="/ppt/charts/chart134.xml" ContentType="application/vnd.openxmlformats-officedocument.drawingml.chart+xml"/>
  <Override PartName="/ppt/tags/tag2449.xml" ContentType="application/vnd.openxmlformats-officedocument.presentationml.tags+xml"/>
  <Override PartName="/ppt/tags/tag2450.xml" ContentType="application/vnd.openxmlformats-officedocument.presentationml.tags+xml"/>
  <Override PartName="/ppt/tags/tag2451.xml" ContentType="application/vnd.openxmlformats-officedocument.presentationml.tags+xml"/>
  <Override PartName="/ppt/tags/tag2452.xml" ContentType="application/vnd.openxmlformats-officedocument.presentationml.tags+xml"/>
  <Override PartName="/ppt/tags/tag2453.xml" ContentType="application/vnd.openxmlformats-officedocument.presentationml.tags+xml"/>
  <Override PartName="/ppt/tags/tag2454.xml" ContentType="application/vnd.openxmlformats-officedocument.presentationml.tags+xml"/>
  <Override PartName="/ppt/tags/tag2455.xml" ContentType="application/vnd.openxmlformats-officedocument.presentationml.tags+xml"/>
  <Override PartName="/ppt/tags/tag2456.xml" ContentType="application/vnd.openxmlformats-officedocument.presentationml.tags+xml"/>
  <Override PartName="/ppt/tags/tag2457.xml" ContentType="application/vnd.openxmlformats-officedocument.presentationml.tags+xml"/>
  <Override PartName="/ppt/tags/tag2458.xml" ContentType="application/vnd.openxmlformats-officedocument.presentationml.tags+xml"/>
  <Override PartName="/ppt/tags/tag2459.xml" ContentType="application/vnd.openxmlformats-officedocument.presentationml.tags+xml"/>
  <Override PartName="/ppt/tags/tag2460.xml" ContentType="application/vnd.openxmlformats-officedocument.presentationml.tags+xml"/>
  <Override PartName="/ppt/tags/tag2461.xml" ContentType="application/vnd.openxmlformats-officedocument.presentationml.tags+xml"/>
  <Override PartName="/ppt/tags/tag2462.xml" ContentType="application/vnd.openxmlformats-officedocument.presentationml.tags+xml"/>
  <Override PartName="/ppt/tags/tag2463.xml" ContentType="application/vnd.openxmlformats-officedocument.presentationml.tags+xml"/>
  <Override PartName="/ppt/tags/tag2464.xml" ContentType="application/vnd.openxmlformats-officedocument.presentationml.tags+xml"/>
  <Override PartName="/ppt/tags/tag2465.xml" ContentType="application/vnd.openxmlformats-officedocument.presentationml.tags+xml"/>
  <Override PartName="/ppt/tags/tag2466.xml" ContentType="application/vnd.openxmlformats-officedocument.presentationml.tags+xml"/>
  <Override PartName="/ppt/charts/chart135.xml" ContentType="application/vnd.openxmlformats-officedocument.drawingml.chart+xml"/>
  <Override PartName="/ppt/tags/tag2467.xml" ContentType="application/vnd.openxmlformats-officedocument.presentationml.tags+xml"/>
  <Override PartName="/ppt/tags/tag2468.xml" ContentType="application/vnd.openxmlformats-officedocument.presentationml.tags+xml"/>
  <Override PartName="/ppt/tags/tag2469.xml" ContentType="application/vnd.openxmlformats-officedocument.presentationml.tags+xml"/>
  <Override PartName="/ppt/tags/tag2470.xml" ContentType="application/vnd.openxmlformats-officedocument.presentationml.tags+xml"/>
  <Override PartName="/ppt/tags/tag2471.xml" ContentType="application/vnd.openxmlformats-officedocument.presentationml.tags+xml"/>
  <Override PartName="/ppt/tags/tag2472.xml" ContentType="application/vnd.openxmlformats-officedocument.presentationml.tags+xml"/>
  <Override PartName="/ppt/tags/tag2473.xml" ContentType="application/vnd.openxmlformats-officedocument.presentationml.tags+xml"/>
  <Override PartName="/ppt/tags/tag2474.xml" ContentType="application/vnd.openxmlformats-officedocument.presentationml.tags+xml"/>
  <Override PartName="/ppt/tags/tag2475.xml" ContentType="application/vnd.openxmlformats-officedocument.presentationml.tags+xml"/>
  <Override PartName="/ppt/tags/tag2476.xml" ContentType="application/vnd.openxmlformats-officedocument.presentationml.tags+xml"/>
  <Override PartName="/ppt/tags/tag2477.xml" ContentType="application/vnd.openxmlformats-officedocument.presentationml.tags+xml"/>
  <Override PartName="/ppt/tags/tag2478.xml" ContentType="application/vnd.openxmlformats-officedocument.presentationml.tags+xml"/>
  <Override PartName="/ppt/charts/chart136.xml" ContentType="application/vnd.openxmlformats-officedocument.drawingml.chart+xml"/>
  <Override PartName="/ppt/tags/tag2479.xml" ContentType="application/vnd.openxmlformats-officedocument.presentationml.tags+xml"/>
  <Override PartName="/ppt/tags/tag2480.xml" ContentType="application/vnd.openxmlformats-officedocument.presentationml.tags+xml"/>
  <Override PartName="/ppt/tags/tag2481.xml" ContentType="application/vnd.openxmlformats-officedocument.presentationml.tags+xml"/>
  <Override PartName="/ppt/tags/tag2482.xml" ContentType="application/vnd.openxmlformats-officedocument.presentationml.tags+xml"/>
  <Override PartName="/ppt/tags/tag2483.xml" ContentType="application/vnd.openxmlformats-officedocument.presentationml.tags+xml"/>
  <Override PartName="/ppt/tags/tag2484.xml" ContentType="application/vnd.openxmlformats-officedocument.presentationml.tags+xml"/>
  <Override PartName="/ppt/tags/tag2485.xml" ContentType="application/vnd.openxmlformats-officedocument.presentationml.tags+xml"/>
  <Override PartName="/ppt/tags/tag2486.xml" ContentType="application/vnd.openxmlformats-officedocument.presentationml.tags+xml"/>
  <Override PartName="/ppt/tags/tag2487.xml" ContentType="application/vnd.openxmlformats-officedocument.presentationml.tags+xml"/>
  <Override PartName="/ppt/tags/tag2488.xml" ContentType="application/vnd.openxmlformats-officedocument.presentationml.tags+xml"/>
  <Override PartName="/ppt/tags/tag2489.xml" ContentType="application/vnd.openxmlformats-officedocument.presentationml.tags+xml"/>
  <Override PartName="/ppt/tags/tag2490.xml" ContentType="application/vnd.openxmlformats-officedocument.presentationml.tags+xml"/>
  <Override PartName="/ppt/tags/tag2491.xml" ContentType="application/vnd.openxmlformats-officedocument.presentationml.tags+xml"/>
  <Override PartName="/ppt/tags/tag2492.xml" ContentType="application/vnd.openxmlformats-officedocument.presentationml.tags+xml"/>
  <Override PartName="/ppt/tags/tag2493.xml" ContentType="application/vnd.openxmlformats-officedocument.presentationml.tags+xml"/>
  <Override PartName="/ppt/tags/tag2494.xml" ContentType="application/vnd.openxmlformats-officedocument.presentationml.tags+xml"/>
  <Override PartName="/ppt/tags/tag2495.xml" ContentType="application/vnd.openxmlformats-officedocument.presentationml.tags+xml"/>
  <Override PartName="/ppt/tags/tag2496.xml" ContentType="application/vnd.openxmlformats-officedocument.presentationml.tags+xml"/>
  <Override PartName="/ppt/tags/tag2497.xml" ContentType="application/vnd.openxmlformats-officedocument.presentationml.tags+xml"/>
  <Override PartName="/ppt/tags/tag2498.xml" ContentType="application/vnd.openxmlformats-officedocument.presentationml.tags+xml"/>
  <Override PartName="/ppt/tags/tag2499.xml" ContentType="application/vnd.openxmlformats-officedocument.presentationml.tags+xml"/>
  <Override PartName="/ppt/tags/tag2500.xml" ContentType="application/vnd.openxmlformats-officedocument.presentationml.tags+xml"/>
  <Override PartName="/ppt/tags/tag2501.xml" ContentType="application/vnd.openxmlformats-officedocument.presentationml.tags+xml"/>
  <Override PartName="/ppt/charts/chart137.xml" ContentType="application/vnd.openxmlformats-officedocument.drawingml.chart+xml"/>
  <Override PartName="/ppt/tags/tag2502.xml" ContentType="application/vnd.openxmlformats-officedocument.presentationml.tags+xml"/>
  <Override PartName="/ppt/tags/tag2503.xml" ContentType="application/vnd.openxmlformats-officedocument.presentationml.tags+xml"/>
  <Override PartName="/ppt/tags/tag2504.xml" ContentType="application/vnd.openxmlformats-officedocument.presentationml.tags+xml"/>
  <Override PartName="/ppt/tags/tag2505.xml" ContentType="application/vnd.openxmlformats-officedocument.presentationml.tags+xml"/>
  <Override PartName="/ppt/tags/tag2506.xml" ContentType="application/vnd.openxmlformats-officedocument.presentationml.tags+xml"/>
  <Override PartName="/ppt/tags/tag2507.xml" ContentType="application/vnd.openxmlformats-officedocument.presentationml.tags+xml"/>
  <Override PartName="/ppt/tags/tag2508.xml" ContentType="application/vnd.openxmlformats-officedocument.presentationml.tags+xml"/>
  <Override PartName="/ppt/tags/tag2509.xml" ContentType="application/vnd.openxmlformats-officedocument.presentationml.tags+xml"/>
  <Override PartName="/ppt/tags/tag2510.xml" ContentType="application/vnd.openxmlformats-officedocument.presentationml.tags+xml"/>
  <Override PartName="/ppt/tags/tag2511.xml" ContentType="application/vnd.openxmlformats-officedocument.presentationml.tags+xml"/>
  <Override PartName="/ppt/tags/tag2512.xml" ContentType="application/vnd.openxmlformats-officedocument.presentationml.tags+xml"/>
  <Override PartName="/ppt/tags/tag2513.xml" ContentType="application/vnd.openxmlformats-officedocument.presentationml.tags+xml"/>
  <Override PartName="/ppt/tags/tag2514.xml" ContentType="application/vnd.openxmlformats-officedocument.presentationml.tags+xml"/>
  <Override PartName="/ppt/charts/chart138.xml" ContentType="application/vnd.openxmlformats-officedocument.drawingml.chart+xml"/>
  <Override PartName="/ppt/charts/chart139.xml" ContentType="application/vnd.openxmlformats-officedocument.drawingml.chart+xml"/>
  <Override PartName="/ppt/tags/tag2515.xml" ContentType="application/vnd.openxmlformats-officedocument.presentationml.tags+xml"/>
  <Override PartName="/ppt/tags/tag2516.xml" ContentType="application/vnd.openxmlformats-officedocument.presentationml.tags+xml"/>
  <Override PartName="/ppt/tags/tag2517.xml" ContentType="application/vnd.openxmlformats-officedocument.presentationml.tags+xml"/>
  <Override PartName="/ppt/notesSlides/notesSlide19.xml" ContentType="application/vnd.openxmlformats-officedocument.presentationml.notesSlide+xml"/>
  <Override PartName="/ppt/tags/tag2518.xml" ContentType="application/vnd.openxmlformats-officedocument.presentationml.tags+xml"/>
  <Override PartName="/ppt/notesSlides/notesSlide20.xml" ContentType="application/vnd.openxmlformats-officedocument.presentationml.notesSlide+xml"/>
  <Override PartName="/ppt/tags/tag2519.xml" ContentType="application/vnd.openxmlformats-officedocument.presentationml.tags+xml"/>
  <Override PartName="/ppt/notesSlides/notesSlide21.xml" ContentType="application/vnd.openxmlformats-officedocument.presentationml.notesSlide+xml"/>
  <Override PartName="/ppt/tags/tag2520.xml" ContentType="application/vnd.openxmlformats-officedocument.presentationml.tags+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tags/tag2521.xml" ContentType="application/vnd.openxmlformats-officedocument.presentationml.tags+xml"/>
  <Override PartName="/ppt/tags/tag2522.xml" ContentType="application/vnd.openxmlformats-officedocument.presentationml.tags+xml"/>
  <Override PartName="/ppt/notesSlides/notesSlide32.xml" ContentType="application/vnd.openxmlformats-officedocument.presentationml.notesSlide+xml"/>
  <Override PartName="/ppt/tags/tag2523.xml" ContentType="application/vnd.openxmlformats-officedocument.presentationml.tags+xml"/>
  <Override PartName="/ppt/tags/tag2524.xml" ContentType="application/vnd.openxmlformats-officedocument.presentationml.tags+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tags/tag2525.xml" ContentType="application/vnd.openxmlformats-officedocument.presentationml.tags+xml"/>
  <Override PartName="/ppt/tags/tag2526.xml" ContentType="application/vnd.openxmlformats-officedocument.presentationml.tags+xml"/>
  <Override PartName="/ppt/tags/tag2527.xml" ContentType="application/vnd.openxmlformats-officedocument.presentationml.tags+xml"/>
  <Override PartName="/ppt/tags/tag2528.xml" ContentType="application/vnd.openxmlformats-officedocument.presentationml.tags+xml"/>
  <Override PartName="/ppt/tags/tag2529.xml" ContentType="application/vnd.openxmlformats-officedocument.presentationml.tags+xml"/>
  <Override PartName="/ppt/tags/tag2530.xml" ContentType="application/vnd.openxmlformats-officedocument.presentationml.tags+xml"/>
  <Override PartName="/ppt/tags/tag2531.xml" ContentType="application/vnd.openxmlformats-officedocument.presentationml.tags+xml"/>
  <Override PartName="/ppt/tags/tag2532.xml" ContentType="application/vnd.openxmlformats-officedocument.presentationml.tags+xml"/>
  <Override PartName="/ppt/tags/tag2533.xml" ContentType="application/vnd.openxmlformats-officedocument.presentationml.tags+xml"/>
  <Override PartName="/ppt/tags/tag2534.xml" ContentType="application/vnd.openxmlformats-officedocument.presentationml.tags+xml"/>
  <Override PartName="/ppt/tags/tag2535.xml" ContentType="application/vnd.openxmlformats-officedocument.presentationml.tags+xml"/>
  <Override PartName="/ppt/tags/tag2536.xml" ContentType="application/vnd.openxmlformats-officedocument.presentationml.tags+xml"/>
  <Override PartName="/ppt/tags/tag2537.xml" ContentType="application/vnd.openxmlformats-officedocument.presentationml.tags+xml"/>
  <Override PartName="/ppt/tags/tag2538.xml" ContentType="application/vnd.openxmlformats-officedocument.presentationml.tags+xml"/>
  <Override PartName="/ppt/tags/tag2539.xml" ContentType="application/vnd.openxmlformats-officedocument.presentationml.tags+xml"/>
  <Override PartName="/ppt/tags/tag2540.xml" ContentType="application/vnd.openxmlformats-officedocument.presentationml.tags+xml"/>
  <Override PartName="/ppt/charts/chart140.xml" ContentType="application/vnd.openxmlformats-officedocument.drawingml.chart+xml"/>
  <Override PartName="/ppt/notesSlides/notesSlide35.xml" ContentType="application/vnd.openxmlformats-officedocument.presentationml.notesSlide+xml"/>
  <Override PartName="/ppt/tags/tag2541.xml" ContentType="application/vnd.openxmlformats-officedocument.presentationml.tags+xml"/>
  <Override PartName="/ppt/notesSlides/notesSlide36.xml" ContentType="application/vnd.openxmlformats-officedocument.presentationml.notesSlide+xml"/>
  <Override PartName="/ppt/tags/tag2542.xml" ContentType="application/vnd.openxmlformats-officedocument.presentationml.tags+xml"/>
  <Override PartName="/ppt/notesSlides/notesSlide37.xml" ContentType="application/vnd.openxmlformats-officedocument.presentationml.notesSlide+xml"/>
  <Override PartName="/ppt/tags/tag2543.xml" ContentType="application/vnd.openxmlformats-officedocument.presentationml.tags+xml"/>
  <Override PartName="/ppt/tags/tag2544.xml" ContentType="application/vnd.openxmlformats-officedocument.presentationml.tags+xml"/>
  <Override PartName="/ppt/notesSlides/notesSlide38.xml" ContentType="application/vnd.openxmlformats-officedocument.presentationml.notesSlide+xml"/>
  <Override PartName="/ppt/tags/tag2545.xml" ContentType="application/vnd.openxmlformats-officedocument.presentationml.tags+xml"/>
  <Override PartName="/ppt/notesSlides/notesSlide39.xml" ContentType="application/vnd.openxmlformats-officedocument.presentationml.notesSlide+xml"/>
  <Override PartName="/ppt/tags/tag2546.xml" ContentType="application/vnd.openxmlformats-officedocument.presentationml.tags+xml"/>
  <Override PartName="/ppt/tags/tag2547.xml" ContentType="application/vnd.openxmlformats-officedocument.presentationml.tags+xml"/>
  <Override PartName="/ppt/tags/tag2548.xml" ContentType="application/vnd.openxmlformats-officedocument.presentationml.tags+xml"/>
  <Override PartName="/ppt/tags/tag2549.xml" ContentType="application/vnd.openxmlformats-officedocument.presentationml.tags+xml"/>
  <Override PartName="/ppt/tags/tag2550.xml" ContentType="application/vnd.openxmlformats-officedocument.presentationml.tags+xml"/>
  <Override PartName="/ppt/tags/tag2551.xml" ContentType="application/vnd.openxmlformats-officedocument.presentationml.tags+xml"/>
  <Override PartName="/ppt/tags/tag2552.xml" ContentType="application/vnd.openxmlformats-officedocument.presentationml.tags+xml"/>
  <Override PartName="/ppt/tags/tag2553.xml" ContentType="application/vnd.openxmlformats-officedocument.presentationml.tags+xml"/>
  <Override PartName="/ppt/tags/tag2554.xml" ContentType="application/vnd.openxmlformats-officedocument.presentationml.tags+xml"/>
  <Override PartName="/ppt/tags/tag2555.xml" ContentType="application/vnd.openxmlformats-officedocument.presentationml.tags+xml"/>
  <Override PartName="/ppt/tags/tag2556.xml" ContentType="application/vnd.openxmlformats-officedocument.presentationml.tags+xml"/>
  <Override PartName="/ppt/tags/tag2557.xml" ContentType="application/vnd.openxmlformats-officedocument.presentationml.tags+xml"/>
  <Override PartName="/ppt/tags/tag2558.xml" ContentType="application/vnd.openxmlformats-officedocument.presentationml.tags+xml"/>
  <Override PartName="/ppt/tags/tag2559.xml" ContentType="application/vnd.openxmlformats-officedocument.presentationml.tags+xml"/>
  <Override PartName="/ppt/tags/tag2560.xml" ContentType="application/vnd.openxmlformats-officedocument.presentationml.tags+xml"/>
  <Override PartName="/ppt/tags/tag2561.xml" ContentType="application/vnd.openxmlformats-officedocument.presentationml.tags+xml"/>
  <Override PartName="/ppt/tags/tag2562.xml" ContentType="application/vnd.openxmlformats-officedocument.presentationml.tags+xml"/>
  <Override PartName="/ppt/tags/tag2563.xml" ContentType="application/vnd.openxmlformats-officedocument.presentationml.tags+xml"/>
  <Override PartName="/ppt/tags/tag2564.xml" ContentType="application/vnd.openxmlformats-officedocument.presentationml.tags+xml"/>
  <Override PartName="/ppt/tags/tag2565.xml" ContentType="application/vnd.openxmlformats-officedocument.presentationml.tags+xml"/>
  <Override PartName="/ppt/tags/tag2566.xml" ContentType="application/vnd.openxmlformats-officedocument.presentationml.tags+xml"/>
  <Override PartName="/ppt/tags/tag2567.xml" ContentType="application/vnd.openxmlformats-officedocument.presentationml.tags+xml"/>
  <Override PartName="/ppt/tags/tag2568.xml" ContentType="application/vnd.openxmlformats-officedocument.presentationml.tags+xml"/>
  <Override PartName="/ppt/tags/tag2569.xml" ContentType="application/vnd.openxmlformats-officedocument.presentationml.tags+xml"/>
  <Override PartName="/ppt/tags/tag2570.xml" ContentType="application/vnd.openxmlformats-officedocument.presentationml.tags+xml"/>
  <Override PartName="/ppt/tags/tag2571.xml" ContentType="application/vnd.openxmlformats-officedocument.presentationml.tags+xml"/>
  <Override PartName="/ppt/tags/tag2572.xml" ContentType="application/vnd.openxmlformats-officedocument.presentationml.tags+xml"/>
  <Override PartName="/ppt/tags/tag2573.xml" ContentType="application/vnd.openxmlformats-officedocument.presentationml.tags+xml"/>
  <Override PartName="/ppt/tags/tag2574.xml" ContentType="application/vnd.openxmlformats-officedocument.presentationml.tags+xml"/>
  <Override PartName="/ppt/tags/tag2575.xml" ContentType="application/vnd.openxmlformats-officedocument.presentationml.tags+xml"/>
  <Override PartName="/ppt/tags/tag2576.xml" ContentType="application/vnd.openxmlformats-officedocument.presentationml.tags+xml"/>
  <Override PartName="/ppt/tags/tag2577.xml" ContentType="application/vnd.openxmlformats-officedocument.presentationml.tags+xml"/>
  <Override PartName="/ppt/tags/tag2578.xml" ContentType="application/vnd.openxmlformats-officedocument.presentationml.tags+xml"/>
  <Override PartName="/ppt/tags/tag2579.xml" ContentType="application/vnd.openxmlformats-officedocument.presentationml.tags+xml"/>
  <Override PartName="/ppt/tags/tag2580.xml" ContentType="application/vnd.openxmlformats-officedocument.presentationml.tags+xml"/>
  <Override PartName="/ppt/tags/tag2581.xml" ContentType="application/vnd.openxmlformats-officedocument.presentationml.tags+xml"/>
  <Override PartName="/ppt/tags/tag2582.xml" ContentType="application/vnd.openxmlformats-officedocument.presentationml.tags+xml"/>
  <Override PartName="/ppt/tags/tag2583.xml" ContentType="application/vnd.openxmlformats-officedocument.presentationml.tags+xml"/>
  <Override PartName="/ppt/tags/tag2584.xml" ContentType="application/vnd.openxmlformats-officedocument.presentationml.tags+xml"/>
  <Override PartName="/ppt/tags/tag2585.xml" ContentType="application/vnd.openxmlformats-officedocument.presentationml.tags+xml"/>
  <Override PartName="/ppt/tags/tag2586.xml" ContentType="application/vnd.openxmlformats-officedocument.presentationml.tags+xml"/>
  <Override PartName="/ppt/tags/tag2587.xml" ContentType="application/vnd.openxmlformats-officedocument.presentationml.tags+xml"/>
  <Override PartName="/ppt/tags/tag2588.xml" ContentType="application/vnd.openxmlformats-officedocument.presentationml.tags+xml"/>
  <Override PartName="/ppt/tags/tag2589.xml" ContentType="application/vnd.openxmlformats-officedocument.presentationml.tags+xml"/>
  <Override PartName="/ppt/tags/tag2590.xml" ContentType="application/vnd.openxmlformats-officedocument.presentationml.tags+xml"/>
  <Override PartName="/ppt/tags/tag2591.xml" ContentType="application/vnd.openxmlformats-officedocument.presentationml.tags+xml"/>
  <Override PartName="/ppt/tags/tag2592.xml" ContentType="application/vnd.openxmlformats-officedocument.presentationml.tags+xml"/>
  <Override PartName="/ppt/tags/tag2593.xml" ContentType="application/vnd.openxmlformats-officedocument.presentationml.tags+xml"/>
  <Override PartName="/ppt/tags/tag2594.xml" ContentType="application/vnd.openxmlformats-officedocument.presentationml.tags+xml"/>
  <Override PartName="/ppt/tags/tag2595.xml" ContentType="application/vnd.openxmlformats-officedocument.presentationml.tags+xml"/>
  <Override PartName="/ppt/tags/tag2596.xml" ContentType="application/vnd.openxmlformats-officedocument.presentationml.tags+xml"/>
  <Override PartName="/ppt/tags/tag2597.xml" ContentType="application/vnd.openxmlformats-officedocument.presentationml.tags+xml"/>
  <Override PartName="/ppt/tags/tag2598.xml" ContentType="application/vnd.openxmlformats-officedocument.presentationml.tags+xml"/>
  <Override PartName="/ppt/tags/tag2599.xml" ContentType="application/vnd.openxmlformats-officedocument.presentationml.tags+xml"/>
  <Override PartName="/ppt/tags/tag2600.xml" ContentType="application/vnd.openxmlformats-officedocument.presentationml.tags+xml"/>
  <Override PartName="/ppt/tags/tag2601.xml" ContentType="application/vnd.openxmlformats-officedocument.presentationml.tags+xml"/>
  <Override PartName="/ppt/tags/tag2602.xml" ContentType="application/vnd.openxmlformats-officedocument.presentationml.tags+xml"/>
  <Override PartName="/ppt/tags/tag2603.xml" ContentType="application/vnd.openxmlformats-officedocument.presentationml.tags+xml"/>
  <Override PartName="/ppt/tags/tag2604.xml" ContentType="application/vnd.openxmlformats-officedocument.presentationml.tags+xml"/>
  <Override PartName="/ppt/tags/tag2605.xml" ContentType="application/vnd.openxmlformats-officedocument.presentationml.tags+xml"/>
  <Override PartName="/ppt/tags/tag2606.xml" ContentType="application/vnd.openxmlformats-officedocument.presentationml.tags+xml"/>
  <Override PartName="/ppt/tags/tag2607.xml" ContentType="application/vnd.openxmlformats-officedocument.presentationml.tags+xml"/>
  <Override PartName="/ppt/tags/tag2608.xml" ContentType="application/vnd.openxmlformats-officedocument.presentationml.tags+xml"/>
  <Override PartName="/ppt/tags/tag2609.xml" ContentType="application/vnd.openxmlformats-officedocument.presentationml.tags+xml"/>
  <Override PartName="/ppt/tags/tag2610.xml" ContentType="application/vnd.openxmlformats-officedocument.presentationml.tags+xml"/>
  <Override PartName="/ppt/tags/tag2611.xml" ContentType="application/vnd.openxmlformats-officedocument.presentationml.tags+xml"/>
  <Override PartName="/ppt/tags/tag2612.xml" ContentType="application/vnd.openxmlformats-officedocument.presentationml.tags+xml"/>
  <Override PartName="/ppt/tags/tag2613.xml" ContentType="application/vnd.openxmlformats-officedocument.presentationml.tags+xml"/>
  <Override PartName="/ppt/tags/tag2614.xml" ContentType="application/vnd.openxmlformats-officedocument.presentationml.tags+xml"/>
  <Override PartName="/ppt/tags/tag2615.xml" ContentType="application/vnd.openxmlformats-officedocument.presentationml.tags+xml"/>
  <Override PartName="/ppt/tags/tag2616.xml" ContentType="application/vnd.openxmlformats-officedocument.presentationml.tags+xml"/>
  <Override PartName="/ppt/tags/tag2617.xml" ContentType="application/vnd.openxmlformats-officedocument.presentationml.tags+xml"/>
  <Override PartName="/ppt/tags/tag2618.xml" ContentType="application/vnd.openxmlformats-officedocument.presentationml.tags+xml"/>
  <Override PartName="/ppt/tags/tag2619.xml" ContentType="application/vnd.openxmlformats-officedocument.presentationml.tags+xml"/>
  <Override PartName="/ppt/tags/tag2620.xml" ContentType="application/vnd.openxmlformats-officedocument.presentationml.tags+xml"/>
  <Override PartName="/ppt/tags/tag2621.xml" ContentType="application/vnd.openxmlformats-officedocument.presentationml.tags+xml"/>
  <Override PartName="/ppt/tags/tag2622.xml" ContentType="application/vnd.openxmlformats-officedocument.presentationml.tags+xml"/>
  <Override PartName="/ppt/tags/tag2623.xml" ContentType="application/vnd.openxmlformats-officedocument.presentationml.tags+xml"/>
  <Override PartName="/ppt/tags/tag2624.xml" ContentType="application/vnd.openxmlformats-officedocument.presentationml.tags+xml"/>
  <Override PartName="/ppt/tags/tag2625.xml" ContentType="application/vnd.openxmlformats-officedocument.presentationml.tags+xml"/>
  <Override PartName="/ppt/tags/tag2626.xml" ContentType="application/vnd.openxmlformats-officedocument.presentationml.tags+xml"/>
  <Override PartName="/ppt/tags/tag2627.xml" ContentType="application/vnd.openxmlformats-officedocument.presentationml.tags+xml"/>
  <Override PartName="/ppt/tags/tag2628.xml" ContentType="application/vnd.openxmlformats-officedocument.presentationml.tags+xml"/>
  <Override PartName="/ppt/tags/tag2629.xml" ContentType="application/vnd.openxmlformats-officedocument.presentationml.tags+xml"/>
  <Override PartName="/ppt/tags/tag2630.xml" ContentType="application/vnd.openxmlformats-officedocument.presentationml.tags+xml"/>
  <Override PartName="/ppt/tags/tag2631.xml" ContentType="application/vnd.openxmlformats-officedocument.presentationml.tags+xml"/>
  <Override PartName="/ppt/tags/tag2632.xml" ContentType="application/vnd.openxmlformats-officedocument.presentationml.tags+xml"/>
  <Override PartName="/ppt/tags/tag2633.xml" ContentType="application/vnd.openxmlformats-officedocument.presentationml.tags+xml"/>
  <Override PartName="/ppt/tags/tag2634.xml" ContentType="application/vnd.openxmlformats-officedocument.presentationml.tags+xml"/>
  <Override PartName="/ppt/tags/tag2635.xml" ContentType="application/vnd.openxmlformats-officedocument.presentationml.tags+xml"/>
  <Override PartName="/ppt/tags/tag2636.xml" ContentType="application/vnd.openxmlformats-officedocument.presentationml.tags+xml"/>
  <Override PartName="/ppt/tags/tag2637.xml" ContentType="application/vnd.openxmlformats-officedocument.presentationml.tags+xml"/>
  <Override PartName="/ppt/tags/tag2638.xml" ContentType="application/vnd.openxmlformats-officedocument.presentationml.tags+xml"/>
  <Override PartName="/ppt/tags/tag2639.xml" ContentType="application/vnd.openxmlformats-officedocument.presentationml.tags+xml"/>
  <Override PartName="/ppt/tags/tag2640.xml" ContentType="application/vnd.openxmlformats-officedocument.presentationml.tags+xml"/>
  <Override PartName="/ppt/tags/tag2641.xml" ContentType="application/vnd.openxmlformats-officedocument.presentationml.tags+xml"/>
  <Override PartName="/ppt/tags/tag2642.xml" ContentType="application/vnd.openxmlformats-officedocument.presentationml.tags+xml"/>
  <Override PartName="/ppt/tags/tag2643.xml" ContentType="application/vnd.openxmlformats-officedocument.presentationml.tags+xml"/>
  <Override PartName="/ppt/tags/tag2644.xml" ContentType="application/vnd.openxmlformats-officedocument.presentationml.tags+xml"/>
  <Override PartName="/ppt/tags/tag2645.xml" ContentType="application/vnd.openxmlformats-officedocument.presentationml.tags+xml"/>
  <Override PartName="/ppt/tags/tag2646.xml" ContentType="application/vnd.openxmlformats-officedocument.presentationml.tags+xml"/>
  <Override PartName="/ppt/tags/tag2647.xml" ContentType="application/vnd.openxmlformats-officedocument.presentationml.tags+xml"/>
  <Override PartName="/ppt/tags/tag2648.xml" ContentType="application/vnd.openxmlformats-officedocument.presentationml.tags+xml"/>
  <Override PartName="/ppt/tags/tag2649.xml" ContentType="application/vnd.openxmlformats-officedocument.presentationml.tags+xml"/>
  <Override PartName="/ppt/tags/tag2650.xml" ContentType="application/vnd.openxmlformats-officedocument.presentationml.tags+xml"/>
  <Override PartName="/ppt/tags/tag2651.xml" ContentType="application/vnd.openxmlformats-officedocument.presentationml.tags+xml"/>
  <Override PartName="/ppt/tags/tag2652.xml" ContentType="application/vnd.openxmlformats-officedocument.presentationml.tags+xml"/>
  <Override PartName="/ppt/tags/tag2653.xml" ContentType="application/vnd.openxmlformats-officedocument.presentationml.tags+xml"/>
  <Override PartName="/ppt/tags/tag2654.xml" ContentType="application/vnd.openxmlformats-officedocument.presentationml.tags+xml"/>
  <Override PartName="/ppt/tags/tag2655.xml" ContentType="application/vnd.openxmlformats-officedocument.presentationml.tags+xml"/>
  <Override PartName="/ppt/tags/tag2656.xml" ContentType="application/vnd.openxmlformats-officedocument.presentationml.tags+xml"/>
  <Override PartName="/ppt/tags/tag2657.xml" ContentType="application/vnd.openxmlformats-officedocument.presentationml.tags+xml"/>
  <Override PartName="/ppt/tags/tag2658.xml" ContentType="application/vnd.openxmlformats-officedocument.presentationml.tags+xml"/>
  <Override PartName="/ppt/tags/tag2659.xml" ContentType="application/vnd.openxmlformats-officedocument.presentationml.tags+xml"/>
  <Override PartName="/ppt/tags/tag2660.xml" ContentType="application/vnd.openxmlformats-officedocument.presentationml.tags+xml"/>
  <Override PartName="/ppt/tags/tag2661.xml" ContentType="application/vnd.openxmlformats-officedocument.presentationml.tags+xml"/>
  <Override PartName="/ppt/tags/tag2662.xml" ContentType="application/vnd.openxmlformats-officedocument.presentationml.tags+xml"/>
  <Override PartName="/ppt/tags/tag2663.xml" ContentType="application/vnd.openxmlformats-officedocument.presentationml.tags+xml"/>
  <Override PartName="/ppt/tags/tag2664.xml" ContentType="application/vnd.openxmlformats-officedocument.presentationml.tags+xml"/>
  <Override PartName="/ppt/tags/tag2665.xml" ContentType="application/vnd.openxmlformats-officedocument.presentationml.tags+xml"/>
  <Override PartName="/ppt/tags/tag2666.xml" ContentType="application/vnd.openxmlformats-officedocument.presentationml.tags+xml"/>
  <Override PartName="/ppt/tags/tag2667.xml" ContentType="application/vnd.openxmlformats-officedocument.presentationml.tags+xml"/>
  <Override PartName="/ppt/tags/tag2668.xml" ContentType="application/vnd.openxmlformats-officedocument.presentationml.tags+xml"/>
  <Override PartName="/ppt/tags/tag2669.xml" ContentType="application/vnd.openxmlformats-officedocument.presentationml.tags+xml"/>
  <Override PartName="/ppt/tags/tag2670.xml" ContentType="application/vnd.openxmlformats-officedocument.presentationml.tags+xml"/>
  <Override PartName="/ppt/tags/tag2671.xml" ContentType="application/vnd.openxmlformats-officedocument.presentationml.tags+xml"/>
  <Override PartName="/ppt/tags/tag2672.xml" ContentType="application/vnd.openxmlformats-officedocument.presentationml.tags+xml"/>
  <Override PartName="/ppt/tags/tag2673.xml" ContentType="application/vnd.openxmlformats-officedocument.presentationml.tags+xml"/>
  <Override PartName="/ppt/tags/tag2674.xml" ContentType="application/vnd.openxmlformats-officedocument.presentationml.tags+xml"/>
  <Override PartName="/ppt/tags/tag2675.xml" ContentType="application/vnd.openxmlformats-officedocument.presentationml.tags+xml"/>
  <Override PartName="/ppt/tags/tag2676.xml" ContentType="application/vnd.openxmlformats-officedocument.presentationml.tags+xml"/>
  <Override PartName="/ppt/tags/tag2677.xml" ContentType="application/vnd.openxmlformats-officedocument.presentationml.tags+xml"/>
  <Override PartName="/ppt/tags/tag2678.xml" ContentType="application/vnd.openxmlformats-officedocument.presentationml.tags+xml"/>
  <Override PartName="/ppt/tags/tag2679.xml" ContentType="application/vnd.openxmlformats-officedocument.presentationml.tags+xml"/>
  <Override PartName="/ppt/tags/tag2680.xml" ContentType="application/vnd.openxmlformats-officedocument.presentationml.tags+xml"/>
  <Override PartName="/ppt/tags/tag2681.xml" ContentType="application/vnd.openxmlformats-officedocument.presentationml.tags+xml"/>
  <Override PartName="/ppt/tags/tag2682.xml" ContentType="application/vnd.openxmlformats-officedocument.presentationml.tags+xml"/>
  <Override PartName="/ppt/tags/tag2683.xml" ContentType="application/vnd.openxmlformats-officedocument.presentationml.tags+xml"/>
  <Override PartName="/ppt/tags/tag2684.xml" ContentType="application/vnd.openxmlformats-officedocument.presentationml.tags+xml"/>
  <Override PartName="/ppt/tags/tag2685.xml" ContentType="application/vnd.openxmlformats-officedocument.presentationml.tags+xml"/>
  <Override PartName="/ppt/tags/tag2686.xml" ContentType="application/vnd.openxmlformats-officedocument.presentationml.tags+xml"/>
  <Override PartName="/ppt/tags/tag2687.xml" ContentType="application/vnd.openxmlformats-officedocument.presentationml.tags+xml"/>
  <Override PartName="/ppt/tags/tag2688.xml" ContentType="application/vnd.openxmlformats-officedocument.presentationml.tags+xml"/>
  <Override PartName="/ppt/tags/tag2689.xml" ContentType="application/vnd.openxmlformats-officedocument.presentationml.tags+xml"/>
  <Override PartName="/ppt/tags/tag2690.xml" ContentType="application/vnd.openxmlformats-officedocument.presentationml.tags+xml"/>
  <Override PartName="/ppt/tags/tag2691.xml" ContentType="application/vnd.openxmlformats-officedocument.presentationml.tags+xml"/>
  <Override PartName="/ppt/tags/tag2692.xml" ContentType="application/vnd.openxmlformats-officedocument.presentationml.tags+xml"/>
  <Override PartName="/ppt/tags/tag2693.xml" ContentType="application/vnd.openxmlformats-officedocument.presentationml.tags+xml"/>
  <Override PartName="/ppt/tags/tag2694.xml" ContentType="application/vnd.openxmlformats-officedocument.presentationml.tags+xml"/>
  <Override PartName="/ppt/tags/tag2695.xml" ContentType="application/vnd.openxmlformats-officedocument.presentationml.tags+xml"/>
  <Override PartName="/ppt/tags/tag2696.xml" ContentType="application/vnd.openxmlformats-officedocument.presentationml.tags+xml"/>
  <Override PartName="/ppt/tags/tag2697.xml" ContentType="application/vnd.openxmlformats-officedocument.presentationml.tags+xml"/>
  <Override PartName="/ppt/tags/tag2698.xml" ContentType="application/vnd.openxmlformats-officedocument.presentationml.tags+xml"/>
  <Override PartName="/ppt/tags/tag2699.xml" ContentType="application/vnd.openxmlformats-officedocument.presentationml.tags+xml"/>
  <Override PartName="/ppt/tags/tag2700.xml" ContentType="application/vnd.openxmlformats-officedocument.presentationml.tags+xml"/>
  <Override PartName="/ppt/tags/tag2701.xml" ContentType="application/vnd.openxmlformats-officedocument.presentationml.tags+xml"/>
  <Override PartName="/ppt/tags/tag2702.xml" ContentType="application/vnd.openxmlformats-officedocument.presentationml.tags+xml"/>
  <Override PartName="/ppt/tags/tag2703.xml" ContentType="application/vnd.openxmlformats-officedocument.presentationml.tags+xml"/>
  <Override PartName="/ppt/tags/tag2704.xml" ContentType="application/vnd.openxmlformats-officedocument.presentationml.tags+xml"/>
  <Override PartName="/ppt/tags/tag2705.xml" ContentType="application/vnd.openxmlformats-officedocument.presentationml.tags+xml"/>
  <Override PartName="/ppt/tags/tag2706.xml" ContentType="application/vnd.openxmlformats-officedocument.presentationml.tags+xml"/>
  <Override PartName="/ppt/tags/tag2707.xml" ContentType="application/vnd.openxmlformats-officedocument.presentationml.tags+xml"/>
  <Override PartName="/ppt/tags/tag2708.xml" ContentType="application/vnd.openxmlformats-officedocument.presentationml.tags+xml"/>
  <Override PartName="/ppt/tags/tag2709.xml" ContentType="application/vnd.openxmlformats-officedocument.presentationml.tags+xml"/>
  <Override PartName="/ppt/tags/tag2710.xml" ContentType="application/vnd.openxmlformats-officedocument.presentationml.tags+xml"/>
  <Override PartName="/ppt/tags/tag2711.xml" ContentType="application/vnd.openxmlformats-officedocument.presentationml.tags+xml"/>
  <Override PartName="/ppt/tags/tag2712.xml" ContentType="application/vnd.openxmlformats-officedocument.presentationml.tags+xml"/>
  <Override PartName="/ppt/tags/tag2713.xml" ContentType="application/vnd.openxmlformats-officedocument.presentationml.tags+xml"/>
  <Override PartName="/ppt/tags/tag2714.xml" ContentType="application/vnd.openxmlformats-officedocument.presentationml.tags+xml"/>
  <Override PartName="/ppt/tags/tag2715.xml" ContentType="application/vnd.openxmlformats-officedocument.presentationml.tags+xml"/>
  <Override PartName="/ppt/tags/tag2716.xml" ContentType="application/vnd.openxmlformats-officedocument.presentationml.tags+xml"/>
  <Override PartName="/ppt/tags/tag2717.xml" ContentType="application/vnd.openxmlformats-officedocument.presentationml.tags+xml"/>
  <Override PartName="/ppt/tags/tag2718.xml" ContentType="application/vnd.openxmlformats-officedocument.presentationml.tags+xml"/>
  <Override PartName="/ppt/tags/tag2719.xml" ContentType="application/vnd.openxmlformats-officedocument.presentationml.tags+xml"/>
  <Override PartName="/ppt/tags/tag2720.xml" ContentType="application/vnd.openxmlformats-officedocument.presentationml.tags+xml"/>
  <Override PartName="/ppt/tags/tag2721.xml" ContentType="application/vnd.openxmlformats-officedocument.presentationml.tags+xml"/>
  <Override PartName="/ppt/tags/tag2722.xml" ContentType="application/vnd.openxmlformats-officedocument.presentationml.tags+xml"/>
  <Override PartName="/ppt/tags/tag2723.xml" ContentType="application/vnd.openxmlformats-officedocument.presentationml.tags+xml"/>
  <Override PartName="/ppt/tags/tag2724.xml" ContentType="application/vnd.openxmlformats-officedocument.presentationml.tags+xml"/>
  <Override PartName="/ppt/tags/tag2725.xml" ContentType="application/vnd.openxmlformats-officedocument.presentationml.tags+xml"/>
  <Override PartName="/ppt/tags/tag2726.xml" ContentType="application/vnd.openxmlformats-officedocument.presentationml.tags+xml"/>
  <Override PartName="/ppt/tags/tag2727.xml" ContentType="application/vnd.openxmlformats-officedocument.presentationml.tags+xml"/>
  <Override PartName="/ppt/tags/tag2728.xml" ContentType="application/vnd.openxmlformats-officedocument.presentationml.tags+xml"/>
  <Override PartName="/ppt/tags/tag2729.xml" ContentType="application/vnd.openxmlformats-officedocument.presentationml.tags+xml"/>
  <Override PartName="/ppt/tags/tag2730.xml" ContentType="application/vnd.openxmlformats-officedocument.presentationml.tags+xml"/>
  <Override PartName="/ppt/tags/tag2731.xml" ContentType="application/vnd.openxmlformats-officedocument.presentationml.tags+xml"/>
  <Override PartName="/ppt/tags/tag2732.xml" ContentType="application/vnd.openxmlformats-officedocument.presentationml.tags+xml"/>
  <Override PartName="/ppt/tags/tag2733.xml" ContentType="application/vnd.openxmlformats-officedocument.presentationml.tags+xml"/>
  <Override PartName="/ppt/tags/tag2734.xml" ContentType="application/vnd.openxmlformats-officedocument.presentationml.tags+xml"/>
  <Override PartName="/ppt/tags/tag2735.xml" ContentType="application/vnd.openxmlformats-officedocument.presentationml.tags+xml"/>
  <Override PartName="/ppt/tags/tag2736.xml" ContentType="application/vnd.openxmlformats-officedocument.presentationml.tags+xml"/>
  <Override PartName="/ppt/tags/tag2737.xml" ContentType="application/vnd.openxmlformats-officedocument.presentationml.tags+xml"/>
  <Override PartName="/ppt/tags/tag2738.xml" ContentType="application/vnd.openxmlformats-officedocument.presentationml.tags+xml"/>
  <Override PartName="/ppt/tags/tag2739.xml" ContentType="application/vnd.openxmlformats-officedocument.presentationml.tags+xml"/>
  <Override PartName="/ppt/tags/tag2740.xml" ContentType="application/vnd.openxmlformats-officedocument.presentationml.tags+xml"/>
  <Override PartName="/ppt/tags/tag2741.xml" ContentType="application/vnd.openxmlformats-officedocument.presentationml.tags+xml"/>
  <Override PartName="/ppt/tags/tag2742.xml" ContentType="application/vnd.openxmlformats-officedocument.presentationml.tags+xml"/>
  <Override PartName="/ppt/tags/tag2743.xml" ContentType="application/vnd.openxmlformats-officedocument.presentationml.tags+xml"/>
  <Override PartName="/ppt/tags/tag2744.xml" ContentType="application/vnd.openxmlformats-officedocument.presentationml.tags+xml"/>
  <Override PartName="/ppt/tags/tag2745.xml" ContentType="application/vnd.openxmlformats-officedocument.presentationml.tags+xml"/>
  <Override PartName="/ppt/tags/tag2746.xml" ContentType="application/vnd.openxmlformats-officedocument.presentationml.tags+xml"/>
  <Override PartName="/ppt/tags/tag2747.xml" ContentType="application/vnd.openxmlformats-officedocument.presentationml.tags+xml"/>
  <Override PartName="/ppt/tags/tag2748.xml" ContentType="application/vnd.openxmlformats-officedocument.presentationml.tags+xml"/>
  <Override PartName="/ppt/tags/tag2749.xml" ContentType="application/vnd.openxmlformats-officedocument.presentationml.tags+xml"/>
  <Override PartName="/ppt/tags/tag2750.xml" ContentType="application/vnd.openxmlformats-officedocument.presentationml.tags+xml"/>
  <Override PartName="/ppt/tags/tag2751.xml" ContentType="application/vnd.openxmlformats-officedocument.presentationml.tags+xml"/>
  <Override PartName="/ppt/tags/tag2752.xml" ContentType="application/vnd.openxmlformats-officedocument.presentationml.tags+xml"/>
  <Override PartName="/ppt/notesSlides/notesSlide40.xml" ContentType="application/vnd.openxmlformats-officedocument.presentationml.notesSlide+xml"/>
  <Override PartName="/ppt/tags/tag2753.xml" ContentType="application/vnd.openxmlformats-officedocument.presentationml.tags+xml"/>
  <Override PartName="/ppt/tags/tag2754.xml" ContentType="application/vnd.openxmlformats-officedocument.presentationml.tags+xml"/>
  <Override PartName="/ppt/notesSlides/notesSlide41.xml" ContentType="application/vnd.openxmlformats-officedocument.presentationml.notesSlide+xml"/>
  <Override PartName="/ppt/tags/tag2755.xml" ContentType="application/vnd.openxmlformats-officedocument.presentationml.tags+xml"/>
  <Override PartName="/ppt/tags/tag2756.xml" ContentType="application/vnd.openxmlformats-officedocument.presentationml.tags+xml"/>
  <Override PartName="/ppt/tags/tag2757.xml" ContentType="application/vnd.openxmlformats-officedocument.presentationml.tags+xml"/>
  <Override PartName="/ppt/tags/tag2758.xml" ContentType="application/vnd.openxmlformats-officedocument.presentationml.tags+xml"/>
  <Override PartName="/ppt/tags/tag2759.xml" ContentType="application/vnd.openxmlformats-officedocument.presentationml.tags+xml"/>
  <Override PartName="/ppt/tags/tag2760.xml" ContentType="application/vnd.openxmlformats-officedocument.presentationml.tags+xml"/>
  <Override PartName="/ppt/tags/tag2761.xml" ContentType="application/vnd.openxmlformats-officedocument.presentationml.tags+xml"/>
  <Override PartName="/ppt/tags/tag2762.xml" ContentType="application/vnd.openxmlformats-officedocument.presentationml.tags+xml"/>
  <Override PartName="/ppt/tags/tag2763.xml" ContentType="application/vnd.openxmlformats-officedocument.presentationml.tags+xml"/>
  <Override PartName="/ppt/tags/tag2764.xml" ContentType="application/vnd.openxmlformats-officedocument.presentationml.tags+xml"/>
  <Override PartName="/ppt/tags/tag2765.xml" ContentType="application/vnd.openxmlformats-officedocument.presentationml.tags+xml"/>
  <Override PartName="/ppt/tags/tag2766.xml" ContentType="application/vnd.openxmlformats-officedocument.presentationml.tags+xml"/>
  <Override PartName="/ppt/tags/tag2767.xml" ContentType="application/vnd.openxmlformats-officedocument.presentationml.tags+xml"/>
  <Override PartName="/ppt/tags/tag2768.xml" ContentType="application/vnd.openxmlformats-officedocument.presentationml.tags+xml"/>
  <Override PartName="/ppt/tags/tag2769.xml" ContentType="application/vnd.openxmlformats-officedocument.presentationml.tags+xml"/>
  <Override PartName="/ppt/tags/tag2770.xml" ContentType="application/vnd.openxmlformats-officedocument.presentationml.tags+xml"/>
  <Override PartName="/ppt/tags/tag2771.xml" ContentType="application/vnd.openxmlformats-officedocument.presentationml.tags+xml"/>
  <Override PartName="/ppt/tags/tag2772.xml" ContentType="application/vnd.openxmlformats-officedocument.presentationml.tags+xml"/>
  <Override PartName="/ppt/tags/tag2773.xml" ContentType="application/vnd.openxmlformats-officedocument.presentationml.tags+xml"/>
  <Override PartName="/ppt/tags/tag2774.xml" ContentType="application/vnd.openxmlformats-officedocument.presentationml.tags+xml"/>
  <Override PartName="/ppt/tags/tag2775.xml" ContentType="application/vnd.openxmlformats-officedocument.presentationml.tags+xml"/>
  <Override PartName="/ppt/tags/tag2776.xml" ContentType="application/vnd.openxmlformats-officedocument.presentationml.tags+xml"/>
  <Override PartName="/ppt/tags/tag2777.xml" ContentType="application/vnd.openxmlformats-officedocument.presentationml.tags+xml"/>
  <Override PartName="/ppt/tags/tag2778.xml" ContentType="application/vnd.openxmlformats-officedocument.presentationml.tags+xml"/>
  <Override PartName="/ppt/tags/tag2779.xml" ContentType="application/vnd.openxmlformats-officedocument.presentationml.tags+xml"/>
  <Override PartName="/ppt/tags/tag2780.xml" ContentType="application/vnd.openxmlformats-officedocument.presentationml.tags+xml"/>
  <Override PartName="/ppt/tags/tag2781.xml" ContentType="application/vnd.openxmlformats-officedocument.presentationml.tags+xml"/>
  <Override PartName="/ppt/tags/tag2782.xml" ContentType="application/vnd.openxmlformats-officedocument.presentationml.tags+xml"/>
  <Override PartName="/ppt/tags/tag2783.xml" ContentType="application/vnd.openxmlformats-officedocument.presentationml.tags+xml"/>
  <Override PartName="/ppt/tags/tag2784.xml" ContentType="application/vnd.openxmlformats-officedocument.presentationml.tags+xml"/>
  <Override PartName="/ppt/tags/tag2785.xml" ContentType="application/vnd.openxmlformats-officedocument.presentationml.tags+xml"/>
  <Override PartName="/ppt/tags/tag2786.xml" ContentType="application/vnd.openxmlformats-officedocument.presentationml.tags+xml"/>
  <Override PartName="/ppt/tags/tag2787.xml" ContentType="application/vnd.openxmlformats-officedocument.presentationml.tags+xml"/>
  <Override PartName="/ppt/tags/tag2788.xml" ContentType="application/vnd.openxmlformats-officedocument.presentationml.tags+xml"/>
  <Override PartName="/ppt/tags/tag2789.xml" ContentType="application/vnd.openxmlformats-officedocument.presentationml.tags+xml"/>
  <Override PartName="/ppt/tags/tag2790.xml" ContentType="application/vnd.openxmlformats-officedocument.presentationml.tags+xml"/>
  <Override PartName="/ppt/tags/tag2791.xml" ContentType="application/vnd.openxmlformats-officedocument.presentationml.tags+xml"/>
  <Override PartName="/ppt/tags/tag2792.xml" ContentType="application/vnd.openxmlformats-officedocument.presentationml.tags+xml"/>
  <Override PartName="/ppt/tags/tag2793.xml" ContentType="application/vnd.openxmlformats-officedocument.presentationml.tags+xml"/>
  <Override PartName="/ppt/tags/tag2794.xml" ContentType="application/vnd.openxmlformats-officedocument.presentationml.tags+xml"/>
  <Override PartName="/ppt/tags/tag2795.xml" ContentType="application/vnd.openxmlformats-officedocument.presentationml.tags+xml"/>
  <Override PartName="/ppt/tags/tag2796.xml" ContentType="application/vnd.openxmlformats-officedocument.presentationml.tags+xml"/>
  <Override PartName="/ppt/tags/tag2797.xml" ContentType="application/vnd.openxmlformats-officedocument.presentationml.tags+xml"/>
  <Override PartName="/ppt/tags/tag2798.xml" ContentType="application/vnd.openxmlformats-officedocument.presentationml.tags+xml"/>
  <Override PartName="/ppt/tags/tag2799.xml" ContentType="application/vnd.openxmlformats-officedocument.presentationml.tags+xml"/>
  <Override PartName="/ppt/tags/tag2800.xml" ContentType="application/vnd.openxmlformats-officedocument.presentationml.tags+xml"/>
  <Override PartName="/ppt/tags/tag2801.xml" ContentType="application/vnd.openxmlformats-officedocument.presentationml.tags+xml"/>
  <Override PartName="/ppt/tags/tag2802.xml" ContentType="application/vnd.openxmlformats-officedocument.presentationml.tags+xml"/>
  <Override PartName="/ppt/tags/tag2803.xml" ContentType="application/vnd.openxmlformats-officedocument.presentationml.tags+xml"/>
  <Override PartName="/ppt/tags/tag2804.xml" ContentType="application/vnd.openxmlformats-officedocument.presentationml.tags+xml"/>
  <Override PartName="/ppt/tags/tag2805.xml" ContentType="application/vnd.openxmlformats-officedocument.presentationml.tags+xml"/>
  <Override PartName="/ppt/tags/tag2806.xml" ContentType="application/vnd.openxmlformats-officedocument.presentationml.tags+xml"/>
  <Override PartName="/ppt/tags/tag2807.xml" ContentType="application/vnd.openxmlformats-officedocument.presentationml.tags+xml"/>
  <Override PartName="/ppt/tags/tag2808.xml" ContentType="application/vnd.openxmlformats-officedocument.presentationml.tags+xml"/>
  <Override PartName="/ppt/tags/tag2809.xml" ContentType="application/vnd.openxmlformats-officedocument.presentationml.tags+xml"/>
  <Override PartName="/ppt/tags/tag2810.xml" ContentType="application/vnd.openxmlformats-officedocument.presentationml.tags+xml"/>
  <Override PartName="/ppt/tags/tag2811.xml" ContentType="application/vnd.openxmlformats-officedocument.presentationml.tags+xml"/>
  <Override PartName="/ppt/tags/tag2812.xml" ContentType="application/vnd.openxmlformats-officedocument.presentationml.tags+xml"/>
  <Override PartName="/ppt/tags/tag2813.xml" ContentType="application/vnd.openxmlformats-officedocument.presentationml.tags+xml"/>
  <Override PartName="/ppt/charts/chart141.xml" ContentType="application/vnd.openxmlformats-officedocument.drawingml.chart+xml"/>
  <Override PartName="/ppt/charts/chart142.xml" ContentType="application/vnd.openxmlformats-officedocument.drawingml.chart+xml"/>
  <Override PartName="/ppt/charts/chart143.xml" ContentType="application/vnd.openxmlformats-officedocument.drawingml.chart+xml"/>
  <Override PartName="/ppt/charts/chart144.xml" ContentType="application/vnd.openxmlformats-officedocument.drawingml.chart+xml"/>
  <Override PartName="/ppt/tags/tag2814.xml" ContentType="application/vnd.openxmlformats-officedocument.presentationml.tags+xml"/>
  <Override PartName="/ppt/tags/tag2815.xml" ContentType="application/vnd.openxmlformats-officedocument.presentationml.tags+xml"/>
  <Override PartName="/ppt/tags/tag2816.xml" ContentType="application/vnd.openxmlformats-officedocument.presentationml.tags+xml"/>
  <Override PartName="/ppt/tags/tag2817.xml" ContentType="application/vnd.openxmlformats-officedocument.presentationml.tags+xml"/>
  <Override PartName="/ppt/tags/tag2818.xml" ContentType="application/vnd.openxmlformats-officedocument.presentationml.tags+xml"/>
  <Override PartName="/ppt/tags/tag2819.xml" ContentType="application/vnd.openxmlformats-officedocument.presentationml.tags+xml"/>
  <Override PartName="/ppt/tags/tag2820.xml" ContentType="application/vnd.openxmlformats-officedocument.presentationml.tags+xml"/>
  <Override PartName="/ppt/tags/tag2821.xml" ContentType="application/vnd.openxmlformats-officedocument.presentationml.tags+xml"/>
  <Override PartName="/ppt/tags/tag2822.xml" ContentType="application/vnd.openxmlformats-officedocument.presentationml.tags+xml"/>
  <Override PartName="/ppt/tags/tag2823.xml" ContentType="application/vnd.openxmlformats-officedocument.presentationml.tags+xml"/>
  <Override PartName="/ppt/tags/tag2824.xml" ContentType="application/vnd.openxmlformats-officedocument.presentationml.tags+xml"/>
  <Override PartName="/ppt/tags/tag2825.xml" ContentType="application/vnd.openxmlformats-officedocument.presentationml.tags+xml"/>
  <Override PartName="/ppt/tags/tag2826.xml" ContentType="application/vnd.openxmlformats-officedocument.presentationml.tags+xml"/>
  <Override PartName="/ppt/tags/tag2827.xml" ContentType="application/vnd.openxmlformats-officedocument.presentationml.tags+xml"/>
  <Override PartName="/ppt/tags/tag2828.xml" ContentType="application/vnd.openxmlformats-officedocument.presentationml.tags+xml"/>
  <Override PartName="/ppt/tags/tag2829.xml" ContentType="application/vnd.openxmlformats-officedocument.presentationml.tags+xml"/>
  <Override PartName="/ppt/tags/tag2830.xml" ContentType="application/vnd.openxmlformats-officedocument.presentationml.tags+xml"/>
  <Override PartName="/ppt/tags/tag2831.xml" ContentType="application/vnd.openxmlformats-officedocument.presentationml.tags+xml"/>
  <Override PartName="/ppt/tags/tag2832.xml" ContentType="application/vnd.openxmlformats-officedocument.presentationml.tags+xml"/>
  <Override PartName="/ppt/tags/tag2833.xml" ContentType="application/vnd.openxmlformats-officedocument.presentationml.tags+xml"/>
  <Override PartName="/ppt/tags/tag2834.xml" ContentType="application/vnd.openxmlformats-officedocument.presentationml.tags+xml"/>
  <Override PartName="/ppt/tags/tag2835.xml" ContentType="application/vnd.openxmlformats-officedocument.presentationml.tags+xml"/>
  <Override PartName="/ppt/tags/tag2836.xml" ContentType="application/vnd.openxmlformats-officedocument.presentationml.tags+xml"/>
  <Override PartName="/ppt/tags/tag2837.xml" ContentType="application/vnd.openxmlformats-officedocument.presentationml.tags+xml"/>
  <Override PartName="/ppt/tags/tag2838.xml" ContentType="application/vnd.openxmlformats-officedocument.presentationml.tags+xml"/>
  <Override PartName="/ppt/tags/tag2839.xml" ContentType="application/vnd.openxmlformats-officedocument.presentationml.tags+xml"/>
  <Override PartName="/ppt/tags/tag2840.xml" ContentType="application/vnd.openxmlformats-officedocument.presentationml.tags+xml"/>
  <Override PartName="/ppt/tags/tag2841.xml" ContentType="application/vnd.openxmlformats-officedocument.presentationml.tags+xml"/>
  <Override PartName="/ppt/notesSlides/notesSlide42.xml" ContentType="application/vnd.openxmlformats-officedocument.presentationml.notesSlide+xml"/>
  <Override PartName="/ppt/tags/tag2842.xml" ContentType="application/vnd.openxmlformats-officedocument.presentationml.tags+xml"/>
  <Override PartName="/ppt/tags/tag2843.xml" ContentType="application/vnd.openxmlformats-officedocument.presentationml.tags+xml"/>
  <Override PartName="/ppt/tags/tag2844.xml" ContentType="application/vnd.openxmlformats-officedocument.presentationml.tags+xml"/>
  <Override PartName="/ppt/notesSlides/notesSlide43.xml" ContentType="application/vnd.openxmlformats-officedocument.presentationml.notesSlide+xml"/>
  <Override PartName="/ppt/tags/tag2845.xml" ContentType="application/vnd.openxmlformats-officedocument.presentationml.tags+xml"/>
  <Override PartName="/ppt/tags/tag2846.xml" ContentType="application/vnd.openxmlformats-officedocument.presentationml.tags+xml"/>
  <Override PartName="/ppt/tags/tag2847.xml" ContentType="application/vnd.openxmlformats-officedocument.presentationml.tags+xml"/>
  <Override PartName="/ppt/notesSlides/notesSlide44.xml" ContentType="application/vnd.openxmlformats-officedocument.presentationml.notesSlide+xml"/>
  <Override PartName="/ppt/tags/tag2848.xml" ContentType="application/vnd.openxmlformats-officedocument.presentationml.tags+xml"/>
  <Override PartName="/ppt/tags/tag2849.xml" ContentType="application/vnd.openxmlformats-officedocument.presentationml.tags+xml"/>
  <Override PartName="/ppt/tags/tag2850.xml" ContentType="application/vnd.openxmlformats-officedocument.presentationml.tags+xml"/>
  <Override PartName="/ppt/notesSlides/notesSlide45.xml" ContentType="application/vnd.openxmlformats-officedocument.presentationml.notesSlide+xml"/>
  <Override PartName="/ppt/tags/tag2851.xml" ContentType="application/vnd.openxmlformats-officedocument.presentationml.tags+xml"/>
  <Override PartName="/ppt/tags/tag2852.xml" ContentType="application/vnd.openxmlformats-officedocument.presentationml.tags+xml"/>
  <Override PartName="/ppt/tags/tag2853.xml" ContentType="application/vnd.openxmlformats-officedocument.presentationml.tags+xml"/>
  <Override PartName="/ppt/notesSlides/notesSlide46.xml" ContentType="application/vnd.openxmlformats-officedocument.presentationml.notesSlide+xml"/>
  <Override PartName="/ppt/tags/tag2854.xml" ContentType="application/vnd.openxmlformats-officedocument.presentationml.tags+xml"/>
  <Override PartName="/ppt/tags/tag2855.xml" ContentType="application/vnd.openxmlformats-officedocument.presentationml.tags+xml"/>
  <Override PartName="/ppt/tags/tag2856.xml" ContentType="application/vnd.openxmlformats-officedocument.presentationml.tags+xml"/>
  <Override PartName="/ppt/notesSlides/notesSlide47.xml" ContentType="application/vnd.openxmlformats-officedocument.presentationml.notesSlide+xml"/>
  <Override PartName="/ppt/tags/tag2857.xml" ContentType="application/vnd.openxmlformats-officedocument.presentationml.tags+xml"/>
  <Override PartName="/ppt/tags/tag2858.xml" ContentType="application/vnd.openxmlformats-officedocument.presentationml.tags+xml"/>
  <Override PartName="/ppt/tags/tag2859.xml" ContentType="application/vnd.openxmlformats-officedocument.presentationml.tags+xml"/>
  <Override PartName="/ppt/notesSlides/notesSlide48.xml" ContentType="application/vnd.openxmlformats-officedocument.presentationml.notesSlide+xml"/>
  <Override PartName="/ppt/tags/tag2860.xml" ContentType="application/vnd.openxmlformats-officedocument.presentationml.tags+xml"/>
  <Override PartName="/ppt/tags/tag2861.xml" ContentType="application/vnd.openxmlformats-officedocument.presentationml.tags+xml"/>
  <Override PartName="/ppt/tags/tag2862.xml" ContentType="application/vnd.openxmlformats-officedocument.presentationml.tags+xml"/>
  <Override PartName="/ppt/notesSlides/notesSlide49.xml" ContentType="application/vnd.openxmlformats-officedocument.presentationml.notesSlide+xml"/>
  <Override PartName="/ppt/tags/tag2863.xml" ContentType="application/vnd.openxmlformats-officedocument.presentationml.tags+xml"/>
  <Override PartName="/ppt/tags/tag2864.xml" ContentType="application/vnd.openxmlformats-officedocument.presentationml.tags+xml"/>
  <Override PartName="/ppt/tags/tag2865.xml" ContentType="application/vnd.openxmlformats-officedocument.presentationml.tags+xml"/>
  <Override PartName="/ppt/notesSlides/notesSlide50.xml" ContentType="application/vnd.openxmlformats-officedocument.presentationml.notesSlide+xml"/>
  <Override PartName="/ppt/tags/tag2866.xml" ContentType="application/vnd.openxmlformats-officedocument.presentationml.tags+xml"/>
  <Override PartName="/ppt/tags/tag2867.xml" ContentType="application/vnd.openxmlformats-officedocument.presentationml.tags+xml"/>
  <Override PartName="/ppt/tags/tag2868.xml" ContentType="application/vnd.openxmlformats-officedocument.presentationml.tags+xml"/>
  <Override PartName="/ppt/notesSlides/notesSlide51.xml" ContentType="application/vnd.openxmlformats-officedocument.presentationml.notesSlide+xml"/>
  <Override PartName="/ppt/tags/tag2869.xml" ContentType="application/vnd.openxmlformats-officedocument.presentationml.tags+xml"/>
  <Override PartName="/ppt/tags/tag2870.xml" ContentType="application/vnd.openxmlformats-officedocument.presentationml.tags+xml"/>
  <Override PartName="/ppt/tags/tag2871.xml" ContentType="application/vnd.openxmlformats-officedocument.presentationml.tags+xml"/>
  <Override PartName="/ppt/notesSlides/notesSlide52.xml" ContentType="application/vnd.openxmlformats-officedocument.presentationml.notesSlide+xml"/>
  <Override PartName="/ppt/tags/tag2872.xml" ContentType="application/vnd.openxmlformats-officedocument.presentationml.tags+xml"/>
  <Override PartName="/ppt/tags/tag2873.xml" ContentType="application/vnd.openxmlformats-officedocument.presentationml.tags+xml"/>
  <Override PartName="/ppt/tags/tag2874.xml" ContentType="application/vnd.openxmlformats-officedocument.presentationml.tags+xml"/>
  <Override PartName="/ppt/notesSlides/notesSlide53.xml" ContentType="application/vnd.openxmlformats-officedocument.presentationml.notesSlide+xml"/>
  <Override PartName="/ppt/tags/tag2875.xml" ContentType="application/vnd.openxmlformats-officedocument.presentationml.tags+xml"/>
  <Override PartName="/ppt/tags/tag2876.xml" ContentType="application/vnd.openxmlformats-officedocument.presentationml.tags+xml"/>
  <Override PartName="/ppt/tags/tag2877.xml" ContentType="application/vnd.openxmlformats-officedocument.presentationml.tags+xml"/>
  <Override PartName="/ppt/notesSlides/notesSlide54.xml" ContentType="application/vnd.openxmlformats-officedocument.presentationml.notesSlide+xml"/>
  <Override PartName="/ppt/tags/tag2878.xml" ContentType="application/vnd.openxmlformats-officedocument.presentationml.tags+xml"/>
  <Override PartName="/ppt/tags/tag2879.xml" ContentType="application/vnd.openxmlformats-officedocument.presentationml.tags+xml"/>
  <Override PartName="/ppt/tags/tag2880.xml" ContentType="application/vnd.openxmlformats-officedocument.presentationml.tags+xml"/>
  <Override PartName="/ppt/notesSlides/notesSlide55.xml" ContentType="application/vnd.openxmlformats-officedocument.presentationml.notesSlide+xml"/>
  <Override PartName="/ppt/tags/tag2881.xml" ContentType="application/vnd.openxmlformats-officedocument.presentationml.tags+xml"/>
  <Override PartName="/ppt/tags/tag2882.xml" ContentType="application/vnd.openxmlformats-officedocument.presentationml.tags+xml"/>
  <Override PartName="/ppt/tags/tag2883.xml" ContentType="application/vnd.openxmlformats-officedocument.presentationml.tags+xml"/>
  <Override PartName="/ppt/notesSlides/notesSlide56.xml" ContentType="application/vnd.openxmlformats-officedocument.presentationml.notesSlide+xml"/>
  <Override PartName="/ppt/tags/tag2884.xml" ContentType="application/vnd.openxmlformats-officedocument.presentationml.tags+xml"/>
  <Override PartName="/ppt/tags/tag2885.xml" ContentType="application/vnd.openxmlformats-officedocument.presentationml.tags+xml"/>
  <Override PartName="/ppt/tags/tag2886.xml" ContentType="application/vnd.openxmlformats-officedocument.presentationml.tags+xml"/>
  <Override PartName="/ppt/notesSlides/notesSlide57.xml" ContentType="application/vnd.openxmlformats-officedocument.presentationml.notesSlide+xml"/>
  <Override PartName="/ppt/tags/tag2887.xml" ContentType="application/vnd.openxmlformats-officedocument.presentationml.tags+xml"/>
  <Override PartName="/ppt/tags/tag2888.xml" ContentType="application/vnd.openxmlformats-officedocument.presentationml.tags+xml"/>
  <Override PartName="/ppt/tags/tag2889.xml" ContentType="application/vnd.openxmlformats-officedocument.presentationml.tags+xml"/>
  <Override PartName="/ppt/notesSlides/notesSlide58.xml" ContentType="application/vnd.openxmlformats-officedocument.presentationml.notesSlide+xml"/>
  <Override PartName="/ppt/tags/tag2890.xml" ContentType="application/vnd.openxmlformats-officedocument.presentationml.tags+xml"/>
  <Override PartName="/ppt/tags/tag2891.xml" ContentType="application/vnd.openxmlformats-officedocument.presentationml.tags+xml"/>
  <Override PartName="/ppt/tags/tag2892.xml" ContentType="application/vnd.openxmlformats-officedocument.presentationml.tags+xml"/>
  <Override PartName="/ppt/notesSlides/notesSlide59.xml" ContentType="application/vnd.openxmlformats-officedocument.presentationml.notesSlide+xml"/>
  <Override PartName="/ppt/tags/tag2893.xml" ContentType="application/vnd.openxmlformats-officedocument.presentationml.tags+xml"/>
  <Override PartName="/ppt/tags/tag2894.xml" ContentType="application/vnd.openxmlformats-officedocument.presentationml.tags+xml"/>
  <Override PartName="/ppt/tags/tag2895.xml" ContentType="application/vnd.openxmlformats-officedocument.presentationml.tags+xml"/>
  <Override PartName="/ppt/notesSlides/notesSlide60.xml" ContentType="application/vnd.openxmlformats-officedocument.presentationml.notesSlide+xml"/>
  <Override PartName="/ppt/tags/tag2896.xml" ContentType="application/vnd.openxmlformats-officedocument.presentationml.tags+xml"/>
  <Override PartName="/ppt/tags/tag2897.xml" ContentType="application/vnd.openxmlformats-officedocument.presentationml.tags+xml"/>
  <Override PartName="/ppt/tags/tag2898.xml" ContentType="application/vnd.openxmlformats-officedocument.presentationml.tags+xml"/>
  <Override PartName="/ppt/notesSlides/notesSlide61.xml" ContentType="application/vnd.openxmlformats-officedocument.presentationml.notesSlide+xml"/>
  <Override PartName="/ppt/tags/tag2899.xml" ContentType="application/vnd.openxmlformats-officedocument.presentationml.tags+xml"/>
  <Override PartName="/ppt/tags/tag2900.xml" ContentType="application/vnd.openxmlformats-officedocument.presentationml.tags+xml"/>
  <Override PartName="/ppt/tags/tag2901.xml" ContentType="application/vnd.openxmlformats-officedocument.presentationml.tags+xml"/>
  <Override PartName="/ppt/notesSlides/notesSlide62.xml" ContentType="application/vnd.openxmlformats-officedocument.presentationml.notesSlide+xml"/>
  <Override PartName="/ppt/tags/tag2902.xml" ContentType="application/vnd.openxmlformats-officedocument.presentationml.tags+xml"/>
  <Override PartName="/ppt/tags/tag2903.xml" ContentType="application/vnd.openxmlformats-officedocument.presentationml.tags+xml"/>
  <Override PartName="/ppt/tags/tag2904.xml" ContentType="application/vnd.openxmlformats-officedocument.presentationml.tags+xml"/>
  <Override PartName="/ppt/notesSlides/notesSlide63.xml" ContentType="application/vnd.openxmlformats-officedocument.presentationml.notesSlide+xml"/>
  <Override PartName="/ppt/tags/tag2905.xml" ContentType="application/vnd.openxmlformats-officedocument.presentationml.tags+xml"/>
  <Override PartName="/ppt/tags/tag2906.xml" ContentType="application/vnd.openxmlformats-officedocument.presentationml.tags+xml"/>
  <Override PartName="/ppt/tags/tag2907.xml" ContentType="application/vnd.openxmlformats-officedocument.presentationml.tags+xml"/>
  <Override PartName="/ppt/notesSlides/notesSlide64.xml" ContentType="application/vnd.openxmlformats-officedocument.presentationml.notesSlide+xml"/>
  <Override PartName="/ppt/tags/tag2908.xml" ContentType="application/vnd.openxmlformats-officedocument.presentationml.tags+xml"/>
  <Override PartName="/ppt/tags/tag2909.xml" ContentType="application/vnd.openxmlformats-officedocument.presentationml.tags+xml"/>
  <Override PartName="/ppt/tags/tag2910.xml" ContentType="application/vnd.openxmlformats-officedocument.presentationml.tags+xml"/>
  <Override PartName="/ppt/notesSlides/notesSlide65.xml" ContentType="application/vnd.openxmlformats-officedocument.presentationml.notesSlide+xml"/>
  <Override PartName="/ppt/tags/tag2911.xml" ContentType="application/vnd.openxmlformats-officedocument.presentationml.tags+xml"/>
  <Override PartName="/ppt/tags/tag2912.xml" ContentType="application/vnd.openxmlformats-officedocument.presentationml.tags+xml"/>
  <Override PartName="/ppt/tags/tag2913.xml" ContentType="application/vnd.openxmlformats-officedocument.presentationml.tags+xml"/>
  <Override PartName="/ppt/notesSlides/notesSlide66.xml" ContentType="application/vnd.openxmlformats-officedocument.presentationml.notesSlide+xml"/>
  <Override PartName="/ppt/tags/tag2914.xml" ContentType="application/vnd.openxmlformats-officedocument.presentationml.tags+xml"/>
  <Override PartName="/ppt/tags/tag2915.xml" ContentType="application/vnd.openxmlformats-officedocument.presentationml.tags+xml"/>
  <Override PartName="/ppt/tags/tag2916.xml" ContentType="application/vnd.openxmlformats-officedocument.presentationml.tags+xml"/>
  <Override PartName="/ppt/notesSlides/notesSlide67.xml" ContentType="application/vnd.openxmlformats-officedocument.presentationml.notesSlide+xml"/>
  <Override PartName="/ppt/tags/tag2917.xml" ContentType="application/vnd.openxmlformats-officedocument.presentationml.tags+xml"/>
  <Override PartName="/ppt/tags/tag2918.xml" ContentType="application/vnd.openxmlformats-officedocument.presentationml.tags+xml"/>
  <Override PartName="/ppt/tags/tag2919.xml" ContentType="application/vnd.openxmlformats-officedocument.presentationml.tags+xml"/>
  <Override PartName="/ppt/notesSlides/notesSlide68.xml" ContentType="application/vnd.openxmlformats-officedocument.presentationml.notesSlide+xml"/>
  <Override PartName="/ppt/tags/tag2920.xml" ContentType="application/vnd.openxmlformats-officedocument.presentationml.tags+xml"/>
  <Override PartName="/ppt/tags/tag2921.xml" ContentType="application/vnd.openxmlformats-officedocument.presentationml.tags+xml"/>
  <Override PartName="/ppt/tags/tag2922.xml" ContentType="application/vnd.openxmlformats-officedocument.presentationml.tags+xml"/>
  <Override PartName="/ppt/notesSlides/notesSlide69.xml" ContentType="application/vnd.openxmlformats-officedocument.presentationml.notesSlide+xml"/>
  <Override PartName="/ppt/tags/tag2923.xml" ContentType="application/vnd.openxmlformats-officedocument.presentationml.tags+xml"/>
  <Override PartName="/ppt/tags/tag2924.xml" ContentType="application/vnd.openxmlformats-officedocument.presentationml.tags+xml"/>
  <Override PartName="/ppt/tags/tag2925.xml" ContentType="application/vnd.openxmlformats-officedocument.presentationml.tags+xml"/>
  <Override PartName="/ppt/notesSlides/notesSlide70.xml" ContentType="application/vnd.openxmlformats-officedocument.presentationml.notesSlide+xml"/>
  <Override PartName="/ppt/tags/tag2926.xml" ContentType="application/vnd.openxmlformats-officedocument.presentationml.tags+xml"/>
  <Override PartName="/ppt/tags/tag2927.xml" ContentType="application/vnd.openxmlformats-officedocument.presentationml.tags+xml"/>
  <Override PartName="/ppt/notesSlides/notesSlide71.xml" ContentType="application/vnd.openxmlformats-officedocument.presentationml.notesSlide+xml"/>
  <Override PartName="/ppt/tags/tag2928.xml" ContentType="application/vnd.openxmlformats-officedocument.presentationml.tags+xml"/>
  <Override PartName="/ppt/tags/tag2929.xml" ContentType="application/vnd.openxmlformats-officedocument.presentationml.tags+xml"/>
  <Override PartName="/ppt/tags/tag2930.xml" ContentType="application/vnd.openxmlformats-officedocument.presentationml.tags+xml"/>
  <Override PartName="/ppt/tags/tag2931.xml" ContentType="application/vnd.openxmlformats-officedocument.presentationml.tags+xml"/>
  <Override PartName="/ppt/tags/tag2932.xml" ContentType="application/vnd.openxmlformats-officedocument.presentationml.tags+xml"/>
  <Override PartName="/ppt/tags/tag2933.xml" ContentType="application/vnd.openxmlformats-officedocument.presentationml.tags+xml"/>
  <Override PartName="/ppt/tags/tag2934.xml" ContentType="application/vnd.openxmlformats-officedocument.presentationml.tags+xml"/>
  <Override PartName="/ppt/tags/tag2935.xml" ContentType="application/vnd.openxmlformats-officedocument.presentationml.tags+xml"/>
  <Override PartName="/ppt/tags/tag2936.xml" ContentType="application/vnd.openxmlformats-officedocument.presentationml.tags+xml"/>
  <Override PartName="/ppt/tags/tag2937.xml" ContentType="application/vnd.openxmlformats-officedocument.presentationml.tags+xml"/>
  <Override PartName="/ppt/tags/tag2938.xml" ContentType="application/vnd.openxmlformats-officedocument.presentationml.tags+xml"/>
  <Override PartName="/ppt/tags/tag2939.xml" ContentType="application/vnd.openxmlformats-officedocument.presentationml.tags+xml"/>
  <Override PartName="/ppt/tags/tag2940.xml" ContentType="application/vnd.openxmlformats-officedocument.presentationml.tags+xml"/>
  <Override PartName="/ppt/tags/tag2941.xml" ContentType="application/vnd.openxmlformats-officedocument.presentationml.tags+xml"/>
  <Override PartName="/ppt/tags/tag2942.xml" ContentType="application/vnd.openxmlformats-officedocument.presentationml.tags+xml"/>
  <Override PartName="/ppt/tags/tag2943.xml" ContentType="application/vnd.openxmlformats-officedocument.presentationml.tags+xml"/>
  <Override PartName="/ppt/tags/tag2944.xml" ContentType="application/vnd.openxmlformats-officedocument.presentationml.tags+xml"/>
  <Override PartName="/ppt/tags/tag2945.xml" ContentType="application/vnd.openxmlformats-officedocument.presentationml.tags+xml"/>
  <Override PartName="/ppt/tags/tag2946.xml" ContentType="application/vnd.openxmlformats-officedocument.presentationml.tags+xml"/>
  <Override PartName="/ppt/tags/tag2947.xml" ContentType="application/vnd.openxmlformats-officedocument.presentationml.tags+xml"/>
  <Override PartName="/ppt/tags/tag2948.xml" ContentType="application/vnd.openxmlformats-officedocument.presentationml.tags+xml"/>
  <Override PartName="/ppt/tags/tag2949.xml" ContentType="application/vnd.openxmlformats-officedocument.presentationml.tags+xml"/>
  <Override PartName="/ppt/tags/tag2950.xml" ContentType="application/vnd.openxmlformats-officedocument.presentationml.tags+xml"/>
  <Override PartName="/ppt/tags/tag2951.xml" ContentType="application/vnd.openxmlformats-officedocument.presentationml.tags+xml"/>
  <Override PartName="/ppt/tags/tag2952.xml" ContentType="application/vnd.openxmlformats-officedocument.presentationml.tags+xml"/>
  <Override PartName="/ppt/tags/tag2953.xml" ContentType="application/vnd.openxmlformats-officedocument.presentationml.tags+xml"/>
  <Override PartName="/ppt/tags/tag2954.xml" ContentType="application/vnd.openxmlformats-officedocument.presentationml.tags+xml"/>
  <Override PartName="/ppt/tags/tag2955.xml" ContentType="application/vnd.openxmlformats-officedocument.presentationml.tags+xml"/>
  <Override PartName="/ppt/tags/tag2956.xml" ContentType="application/vnd.openxmlformats-officedocument.presentationml.tags+xml"/>
  <Override PartName="/ppt/tags/tag2957.xml" ContentType="application/vnd.openxmlformats-officedocument.presentationml.tags+xml"/>
  <Override PartName="/ppt/tags/tag2958.xml" ContentType="application/vnd.openxmlformats-officedocument.presentationml.tags+xml"/>
  <Override PartName="/ppt/tags/tag2959.xml" ContentType="application/vnd.openxmlformats-officedocument.presentationml.tags+xml"/>
  <Override PartName="/ppt/tags/tag2960.xml" ContentType="application/vnd.openxmlformats-officedocument.presentationml.tags+xml"/>
  <Override PartName="/ppt/tags/tag2961.xml" ContentType="application/vnd.openxmlformats-officedocument.presentationml.tags+xml"/>
  <Override PartName="/ppt/tags/tag2962.xml" ContentType="application/vnd.openxmlformats-officedocument.presentationml.tags+xml"/>
  <Override PartName="/ppt/tags/tag2963.xml" ContentType="application/vnd.openxmlformats-officedocument.presentationml.tags+xml"/>
  <Override PartName="/ppt/tags/tag2964.xml" ContentType="application/vnd.openxmlformats-officedocument.presentationml.tags+xml"/>
  <Override PartName="/ppt/tags/tag2965.xml" ContentType="application/vnd.openxmlformats-officedocument.presentationml.tags+xml"/>
  <Override PartName="/ppt/tags/tag2966.xml" ContentType="application/vnd.openxmlformats-officedocument.presentationml.tags+xml"/>
  <Override PartName="/ppt/tags/tag2967.xml" ContentType="application/vnd.openxmlformats-officedocument.presentationml.tags+xml"/>
  <Override PartName="/ppt/tags/tag2968.xml" ContentType="application/vnd.openxmlformats-officedocument.presentationml.tags+xml"/>
  <Override PartName="/ppt/tags/tag2969.xml" ContentType="application/vnd.openxmlformats-officedocument.presentationml.tags+xml"/>
  <Override PartName="/ppt/tags/tag2970.xml" ContentType="application/vnd.openxmlformats-officedocument.presentationml.tags+xml"/>
  <Override PartName="/ppt/tags/tag2971.xml" ContentType="application/vnd.openxmlformats-officedocument.presentationml.tags+xml"/>
  <Override PartName="/ppt/tags/tag2972.xml" ContentType="application/vnd.openxmlformats-officedocument.presentationml.tags+xml"/>
  <Override PartName="/ppt/tags/tag2973.xml" ContentType="application/vnd.openxmlformats-officedocument.presentationml.tags+xml"/>
  <Override PartName="/ppt/tags/tag2974.xml" ContentType="application/vnd.openxmlformats-officedocument.presentationml.tags+xml"/>
  <Override PartName="/ppt/charts/chart145.xml" ContentType="application/vnd.openxmlformats-officedocument.drawingml.chart+xml"/>
  <Override PartName="/ppt/charts/chart146.xml" ContentType="application/vnd.openxmlformats-officedocument.drawingml.chart+xml"/>
  <Override PartName="/ppt/notesSlides/notesSlide72.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ppt/tags/tag17590.xml" ContentType="application/vnd.openxmlformats-officedocument.presentationml.tag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648" r:id="rId4"/>
    <p:sldMasterId id="2147483762" r:id="rId5"/>
    <p:sldMasterId id="2147483770" r:id="rId6"/>
    <p:sldMasterId id="2147483779" r:id="rId7"/>
    <p:sldMasterId id="2147483787" r:id="rId8"/>
  </p:sldMasterIdLst>
  <p:notesMasterIdLst>
    <p:notesMasterId r:id="rId250"/>
  </p:notesMasterIdLst>
  <p:handoutMasterIdLst>
    <p:handoutMasterId r:id="rId251"/>
  </p:handoutMasterIdLst>
  <p:sldIdLst>
    <p:sldId id="418" r:id="rId9"/>
    <p:sldId id="711" r:id="rId10"/>
    <p:sldId id="724" r:id="rId11"/>
    <p:sldId id="725" r:id="rId12"/>
    <p:sldId id="726" r:id="rId13"/>
    <p:sldId id="727" r:id="rId14"/>
    <p:sldId id="728" r:id="rId15"/>
    <p:sldId id="772" r:id="rId16"/>
    <p:sldId id="773" r:id="rId17"/>
    <p:sldId id="774" r:id="rId18"/>
    <p:sldId id="775" r:id="rId19"/>
    <p:sldId id="776" r:id="rId20"/>
    <p:sldId id="777" r:id="rId21"/>
    <p:sldId id="778" r:id="rId22"/>
    <p:sldId id="779" r:id="rId23"/>
    <p:sldId id="780" r:id="rId24"/>
    <p:sldId id="781" r:id="rId25"/>
    <p:sldId id="767" r:id="rId26"/>
    <p:sldId id="768" r:id="rId27"/>
    <p:sldId id="766" r:id="rId28"/>
    <p:sldId id="745" r:id="rId29"/>
    <p:sldId id="746" r:id="rId30"/>
    <p:sldId id="687" r:id="rId31"/>
    <p:sldId id="688" r:id="rId32"/>
    <p:sldId id="405" r:id="rId33"/>
    <p:sldId id="410" r:id="rId34"/>
    <p:sldId id="552" r:id="rId35"/>
    <p:sldId id="685" r:id="rId36"/>
    <p:sldId id="406" r:id="rId37"/>
    <p:sldId id="343" r:id="rId38"/>
    <p:sldId id="344" r:id="rId39"/>
    <p:sldId id="453" r:id="rId40"/>
    <p:sldId id="345" r:id="rId41"/>
    <p:sldId id="346" r:id="rId42"/>
    <p:sldId id="347" r:id="rId43"/>
    <p:sldId id="407" r:id="rId44"/>
    <p:sldId id="348" r:id="rId45"/>
    <p:sldId id="349" r:id="rId46"/>
    <p:sldId id="350" r:id="rId47"/>
    <p:sldId id="408" r:id="rId48"/>
    <p:sldId id="351" r:id="rId49"/>
    <p:sldId id="391" r:id="rId50"/>
    <p:sldId id="352" r:id="rId51"/>
    <p:sldId id="353" r:id="rId52"/>
    <p:sldId id="454" r:id="rId53"/>
    <p:sldId id="455" r:id="rId54"/>
    <p:sldId id="458" r:id="rId55"/>
    <p:sldId id="472" r:id="rId56"/>
    <p:sldId id="473" r:id="rId57"/>
    <p:sldId id="474" r:id="rId58"/>
    <p:sldId id="662" r:id="rId59"/>
    <p:sldId id="534" r:id="rId60"/>
    <p:sldId id="535" r:id="rId61"/>
    <p:sldId id="536" r:id="rId62"/>
    <p:sldId id="537" r:id="rId63"/>
    <p:sldId id="409" r:id="rId64"/>
    <p:sldId id="354" r:id="rId65"/>
    <p:sldId id="541" r:id="rId66"/>
    <p:sldId id="542" r:id="rId67"/>
    <p:sldId id="357" r:id="rId68"/>
    <p:sldId id="355" r:id="rId69"/>
    <p:sldId id="356" r:id="rId70"/>
    <p:sldId id="426" r:id="rId71"/>
    <p:sldId id="358" r:id="rId72"/>
    <p:sldId id="450" r:id="rId73"/>
    <p:sldId id="468" r:id="rId74"/>
    <p:sldId id="771" r:id="rId75"/>
    <p:sldId id="442" r:id="rId76"/>
    <p:sldId id="443" r:id="rId77"/>
    <p:sldId id="452" r:id="rId78"/>
    <p:sldId id="444" r:id="rId79"/>
    <p:sldId id="447" r:id="rId80"/>
    <p:sldId id="476" r:id="rId81"/>
    <p:sldId id="532" r:id="rId82"/>
    <p:sldId id="544" r:id="rId83"/>
    <p:sldId id="749" r:id="rId84"/>
    <p:sldId id="540" r:id="rId85"/>
    <p:sldId id="750" r:id="rId86"/>
    <p:sldId id="477" r:id="rId87"/>
    <p:sldId id="689" r:id="rId88"/>
    <p:sldId id="580" r:id="rId89"/>
    <p:sldId id="581" r:id="rId90"/>
    <p:sldId id="575" r:id="rId91"/>
    <p:sldId id="663" r:id="rId92"/>
    <p:sldId id="605" r:id="rId93"/>
    <p:sldId id="748" r:id="rId94"/>
    <p:sldId id="682" r:id="rId95"/>
    <p:sldId id="681" r:id="rId96"/>
    <p:sldId id="471" r:id="rId97"/>
    <p:sldId id="475" r:id="rId98"/>
    <p:sldId id="691" r:id="rId99"/>
    <p:sldId id="582" r:id="rId100"/>
    <p:sldId id="583" r:id="rId101"/>
    <p:sldId id="595" r:id="rId102"/>
    <p:sldId id="593" r:id="rId103"/>
    <p:sldId id="690" r:id="rId104"/>
    <p:sldId id="548" r:id="rId105"/>
    <p:sldId id="549" r:id="rId106"/>
    <p:sldId id="550" r:id="rId107"/>
    <p:sldId id="551" r:id="rId108"/>
    <p:sldId id="692" r:id="rId109"/>
    <p:sldId id="677" r:id="rId110"/>
    <p:sldId id="704" r:id="rId111"/>
    <p:sldId id="705" r:id="rId112"/>
    <p:sldId id="675" r:id="rId113"/>
    <p:sldId id="679" r:id="rId114"/>
    <p:sldId id="693" r:id="rId115"/>
    <p:sldId id="633" r:id="rId116"/>
    <p:sldId id="634" r:id="rId117"/>
    <p:sldId id="635" r:id="rId118"/>
    <p:sldId id="636" r:id="rId119"/>
    <p:sldId id="638" r:id="rId120"/>
    <p:sldId id="637" r:id="rId121"/>
    <p:sldId id="783" r:id="rId122"/>
    <p:sldId id="784" r:id="rId123"/>
    <p:sldId id="639" r:id="rId124"/>
    <p:sldId id="680" r:id="rId125"/>
    <p:sldId id="640" r:id="rId126"/>
    <p:sldId id="641" r:id="rId127"/>
    <p:sldId id="642" r:id="rId128"/>
    <p:sldId id="720" r:id="rId129"/>
    <p:sldId id="718" r:id="rId130"/>
    <p:sldId id="694" r:id="rId131"/>
    <p:sldId id="648" r:id="rId132"/>
    <p:sldId id="649" r:id="rId133"/>
    <p:sldId id="650" r:id="rId134"/>
    <p:sldId id="651" r:id="rId135"/>
    <p:sldId id="652" r:id="rId136"/>
    <p:sldId id="653" r:id="rId137"/>
    <p:sldId id="719" r:id="rId138"/>
    <p:sldId id="695" r:id="rId139"/>
    <p:sldId id="721" r:id="rId140"/>
    <p:sldId id="722" r:id="rId141"/>
    <p:sldId id="723" r:id="rId142"/>
    <p:sldId id="553" r:id="rId143"/>
    <p:sldId id="554" r:id="rId144"/>
    <p:sldId id="555" r:id="rId145"/>
    <p:sldId id="556" r:id="rId146"/>
    <p:sldId id="557" r:id="rId147"/>
    <p:sldId id="478" r:id="rId148"/>
    <p:sldId id="479" r:id="rId149"/>
    <p:sldId id="480" r:id="rId150"/>
    <p:sldId id="481" r:id="rId151"/>
    <p:sldId id="482" r:id="rId152"/>
    <p:sldId id="483" r:id="rId153"/>
    <p:sldId id="484" r:id="rId154"/>
    <p:sldId id="485" r:id="rId155"/>
    <p:sldId id="486" r:id="rId156"/>
    <p:sldId id="487" r:id="rId157"/>
    <p:sldId id="697" r:id="rId158"/>
    <p:sldId id="488" r:id="rId159"/>
    <p:sldId id="489" r:id="rId160"/>
    <p:sldId id="490" r:id="rId161"/>
    <p:sldId id="491" r:id="rId162"/>
    <p:sldId id="492" r:id="rId163"/>
    <p:sldId id="493" r:id="rId164"/>
    <p:sldId id="706" r:id="rId165"/>
    <p:sldId id="494" r:id="rId166"/>
    <p:sldId id="707" r:id="rId167"/>
    <p:sldId id="708" r:id="rId168"/>
    <p:sldId id="709" r:id="rId169"/>
    <p:sldId id="710" r:id="rId170"/>
    <p:sldId id="712" r:id="rId171"/>
    <p:sldId id="500" r:id="rId172"/>
    <p:sldId id="501" r:id="rId173"/>
    <p:sldId id="713" r:id="rId174"/>
    <p:sldId id="502" r:id="rId175"/>
    <p:sldId id="503" r:id="rId176"/>
    <p:sldId id="714" r:id="rId177"/>
    <p:sldId id="703" r:id="rId178"/>
    <p:sldId id="504" r:id="rId179"/>
    <p:sldId id="698" r:id="rId180"/>
    <p:sldId id="696" r:id="rId181"/>
    <p:sldId id="565" r:id="rId182"/>
    <p:sldId id="570" r:id="rId183"/>
    <p:sldId id="566" r:id="rId184"/>
    <p:sldId id="567" r:id="rId185"/>
    <p:sldId id="571" r:id="rId186"/>
    <p:sldId id="568" r:id="rId187"/>
    <p:sldId id="569" r:id="rId188"/>
    <p:sldId id="425" r:id="rId189"/>
    <p:sldId id="683" r:id="rId190"/>
    <p:sldId id="684" r:id="rId191"/>
    <p:sldId id="715" r:id="rId192"/>
    <p:sldId id="785" r:id="rId193"/>
    <p:sldId id="573" r:id="rId194"/>
    <p:sldId id="574" r:id="rId195"/>
    <p:sldId id="577" r:id="rId196"/>
    <p:sldId id="578" r:id="rId197"/>
    <p:sldId id="584" r:id="rId198"/>
    <p:sldId id="664" r:id="rId199"/>
    <p:sldId id="665" r:id="rId200"/>
    <p:sldId id="666" r:id="rId201"/>
    <p:sldId id="667" r:id="rId202"/>
    <p:sldId id="668" r:id="rId203"/>
    <p:sldId id="669" r:id="rId204"/>
    <p:sldId id="670" r:id="rId205"/>
    <p:sldId id="671" r:id="rId206"/>
    <p:sldId id="530" r:id="rId207"/>
    <p:sldId id="505" r:id="rId208"/>
    <p:sldId id="506" r:id="rId209"/>
    <p:sldId id="507" r:id="rId210"/>
    <p:sldId id="508" r:id="rId211"/>
    <p:sldId id="509" r:id="rId212"/>
    <p:sldId id="510" r:id="rId213"/>
    <p:sldId id="511" r:id="rId214"/>
    <p:sldId id="512" r:id="rId215"/>
    <p:sldId id="513" r:id="rId216"/>
    <p:sldId id="514" r:id="rId217"/>
    <p:sldId id="515" r:id="rId218"/>
    <p:sldId id="516" r:id="rId219"/>
    <p:sldId id="517" r:id="rId220"/>
    <p:sldId id="518" r:id="rId221"/>
    <p:sldId id="519" r:id="rId222"/>
    <p:sldId id="520" r:id="rId223"/>
    <p:sldId id="521" r:id="rId224"/>
    <p:sldId id="522" r:id="rId225"/>
    <p:sldId id="523" r:id="rId226"/>
    <p:sldId id="524" r:id="rId227"/>
    <p:sldId id="525" r:id="rId228"/>
    <p:sldId id="526" r:id="rId229"/>
    <p:sldId id="527" r:id="rId230"/>
    <p:sldId id="528" r:id="rId231"/>
    <p:sldId id="529" r:id="rId232"/>
    <p:sldId id="699" r:id="rId233"/>
    <p:sldId id="700" r:id="rId234"/>
    <p:sldId id="701" r:id="rId235"/>
    <p:sldId id="531" r:id="rId236"/>
    <p:sldId id="432" r:id="rId237"/>
    <p:sldId id="433" r:id="rId238"/>
    <p:sldId id="434" r:id="rId239"/>
    <p:sldId id="435" r:id="rId240"/>
    <p:sldId id="436" r:id="rId241"/>
    <p:sldId id="437" r:id="rId242"/>
    <p:sldId id="438" r:id="rId243"/>
    <p:sldId id="439" r:id="rId244"/>
    <p:sldId id="440" r:id="rId245"/>
    <p:sldId id="441" r:id="rId246"/>
    <p:sldId id="563" r:id="rId247"/>
    <p:sldId id="786" r:id="rId248"/>
    <p:sldId id="424" r:id="rId249"/>
  </p:sldIdLst>
  <p:sldSz cx="10691813" cy="7559675"/>
  <p:notesSz cx="6735763" cy="9866313"/>
  <p:custDataLst>
    <p:tags r:id="rId252"/>
  </p:custDataLst>
  <p:defaultTextStyle>
    <a:defPPr>
      <a:defRPr lang="en-US"/>
    </a:defPPr>
    <a:lvl1pPr marL="0" algn="l" defTabSz="787481" rtl="0" eaLnBrk="1" latinLnBrk="0" hangingPunct="1">
      <a:defRPr sz="1550" kern="1200">
        <a:solidFill>
          <a:schemeClr val="tx1"/>
        </a:solidFill>
        <a:latin typeface="+mn-lt"/>
        <a:ea typeface="+mn-ea"/>
        <a:cs typeface="+mn-cs"/>
      </a:defRPr>
    </a:lvl1pPr>
    <a:lvl2pPr marL="393741" algn="l" defTabSz="787481" rtl="0" eaLnBrk="1" latinLnBrk="0" hangingPunct="1">
      <a:defRPr sz="1550" kern="1200">
        <a:solidFill>
          <a:schemeClr val="tx1"/>
        </a:solidFill>
        <a:latin typeface="+mn-lt"/>
        <a:ea typeface="+mn-ea"/>
        <a:cs typeface="+mn-cs"/>
      </a:defRPr>
    </a:lvl2pPr>
    <a:lvl3pPr marL="787481" algn="l" defTabSz="787481" rtl="0" eaLnBrk="1" latinLnBrk="0" hangingPunct="1">
      <a:defRPr sz="1550" kern="1200">
        <a:solidFill>
          <a:schemeClr val="tx1"/>
        </a:solidFill>
        <a:latin typeface="+mn-lt"/>
        <a:ea typeface="+mn-ea"/>
        <a:cs typeface="+mn-cs"/>
      </a:defRPr>
    </a:lvl3pPr>
    <a:lvl4pPr marL="1181222" algn="l" defTabSz="787481" rtl="0" eaLnBrk="1" latinLnBrk="0" hangingPunct="1">
      <a:defRPr sz="1550" kern="1200">
        <a:solidFill>
          <a:schemeClr val="tx1"/>
        </a:solidFill>
        <a:latin typeface="+mn-lt"/>
        <a:ea typeface="+mn-ea"/>
        <a:cs typeface="+mn-cs"/>
      </a:defRPr>
    </a:lvl4pPr>
    <a:lvl5pPr marL="1574963" algn="l" defTabSz="787481" rtl="0" eaLnBrk="1" latinLnBrk="0" hangingPunct="1">
      <a:defRPr sz="1550" kern="1200">
        <a:solidFill>
          <a:schemeClr val="tx1"/>
        </a:solidFill>
        <a:latin typeface="+mn-lt"/>
        <a:ea typeface="+mn-ea"/>
        <a:cs typeface="+mn-cs"/>
      </a:defRPr>
    </a:lvl5pPr>
    <a:lvl6pPr marL="1968703" algn="l" defTabSz="787481" rtl="0" eaLnBrk="1" latinLnBrk="0" hangingPunct="1">
      <a:defRPr sz="1550" kern="1200">
        <a:solidFill>
          <a:schemeClr val="tx1"/>
        </a:solidFill>
        <a:latin typeface="+mn-lt"/>
        <a:ea typeface="+mn-ea"/>
        <a:cs typeface="+mn-cs"/>
      </a:defRPr>
    </a:lvl6pPr>
    <a:lvl7pPr marL="2362444" algn="l" defTabSz="787481" rtl="0" eaLnBrk="1" latinLnBrk="0" hangingPunct="1">
      <a:defRPr sz="1550" kern="1200">
        <a:solidFill>
          <a:schemeClr val="tx1"/>
        </a:solidFill>
        <a:latin typeface="+mn-lt"/>
        <a:ea typeface="+mn-ea"/>
        <a:cs typeface="+mn-cs"/>
      </a:defRPr>
    </a:lvl7pPr>
    <a:lvl8pPr marL="2756184" algn="l" defTabSz="787481" rtl="0" eaLnBrk="1" latinLnBrk="0" hangingPunct="1">
      <a:defRPr sz="1550" kern="1200">
        <a:solidFill>
          <a:schemeClr val="tx1"/>
        </a:solidFill>
        <a:latin typeface="+mn-lt"/>
        <a:ea typeface="+mn-ea"/>
        <a:cs typeface="+mn-cs"/>
      </a:defRPr>
    </a:lvl8pPr>
    <a:lvl9pPr marL="3149925" algn="l" defTabSz="787481" rtl="0" eaLnBrk="1" latinLnBrk="0" hangingPunct="1">
      <a:defRPr sz="1550" kern="1200">
        <a:solidFill>
          <a:schemeClr val="tx1"/>
        </a:solidFill>
        <a:latin typeface="+mn-lt"/>
        <a:ea typeface="+mn-ea"/>
        <a:cs typeface="+mn-cs"/>
      </a:defRPr>
    </a:lvl9pPr>
  </p:defaultTextStyle>
  <p:extLst>
    <p:ext uri="{EFAFB233-063F-42B5-8137-9DF3F51BA10A}">
      <p15:sldGuideLst xmlns:p15="http://schemas.microsoft.com/office/powerpoint/2012/main">
        <p15:guide id="1" pos="2869" userDrawn="1">
          <p15:clr>
            <a:srgbClr val="A4A3A4"/>
          </p15:clr>
        </p15:guide>
        <p15:guide id="2" pos="2642" userDrawn="1">
          <p15:clr>
            <a:srgbClr val="A4A3A4"/>
          </p15:clr>
        </p15:guide>
        <p15:guide id="3" orient="horz" pos="2426" userDrawn="1">
          <p15:clr>
            <a:srgbClr val="A4A3A4"/>
          </p15:clr>
        </p15:guide>
      </p15:sldGuideLst>
    </p:ext>
    <p:ext uri="{2D200454-40CA-4A62-9FC3-DE9A4176ACB9}">
      <p15:notesGuideLst xmlns:p15="http://schemas.microsoft.com/office/powerpoint/2012/main">
        <p15:guide id="1" orient="horz" pos="3005" userDrawn="1">
          <p15:clr>
            <a:srgbClr val="A4A3A4"/>
          </p15:clr>
        </p15:guide>
        <p15:guide id="2" pos="2283" userDrawn="1">
          <p15:clr>
            <a:srgbClr val="A4A3A4"/>
          </p15:clr>
        </p15:guide>
        <p15:guide id="3" orient="horz" pos="3108" userDrawn="1">
          <p15:clr>
            <a:srgbClr val="A4A3A4"/>
          </p15:clr>
        </p15:guide>
        <p15:guide id="4" pos="2122" userDrawn="1">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0" name="Dora Poon" initials="" lastIdx="3" clrIdx="0"/>
  <p:cmAuthor id="1" name="Deloitte" initials="BS(-H" lastIdx="17" clrIdx="1">
    <p:extLst>
      <p:ext uri="{19B8F6BF-5375-455C-9EA6-DF929625EA0E}">
        <p15:presenceInfo xmlns:p15="http://schemas.microsoft.com/office/powerpoint/2012/main" userId="Deloitte" providerId="None"/>
      </p:ext>
    </p:extLst>
  </p:cmAuthor>
  <p:cmAuthor id="2" name="Mukundan, Pradeep  (IN - Mumbai)" initials="MP(-M" lastIdx="2" clrIdx="2">
    <p:extLst>
      <p:ext uri="{19B8F6BF-5375-455C-9EA6-DF929625EA0E}">
        <p15:presenceInfo xmlns:p15="http://schemas.microsoft.com/office/powerpoint/2012/main" userId="S-1-5-21-776561741-1482476501-682003330-27434" providerId="AD"/>
      </p:ext>
    </p:extLst>
  </p:cmAuthor>
  <p:cmAuthor id="3" name="Dandamudi, Nandini (IN - Hyderabad)" initials="DN(-H" lastIdx="40" clrIdx="3">
    <p:extLst>
      <p:ext uri="{19B8F6BF-5375-455C-9EA6-DF929625EA0E}">
        <p15:presenceInfo xmlns:p15="http://schemas.microsoft.com/office/powerpoint/2012/main" userId="S-1-5-21-776561741-1482476501-682003330-893302" providerId="AD"/>
      </p:ext>
    </p:extLst>
  </p:cmAuthor>
  <p:cmAuthor id="4" name="Pai, A, Rajarama  (IN - Bengaluru)" initials="PAR(-B" lastIdx="88" clrIdx="4">
    <p:extLst>
      <p:ext uri="{19B8F6BF-5375-455C-9EA6-DF929625EA0E}">
        <p15:presenceInfo xmlns:p15="http://schemas.microsoft.com/office/powerpoint/2012/main" userId="S-1-5-21-776561741-1482476501-682003330-28001" providerId="AD"/>
      </p:ext>
    </p:extLst>
  </p:cmAuthor>
  <p:cmAuthor id="5" name="Rao, Medha (IN - Bengaluru)" initials="RM(-B" lastIdx="29" clrIdx="5">
    <p:extLst>
      <p:ext uri="{19B8F6BF-5375-455C-9EA6-DF929625EA0E}">
        <p15:presenceInfo xmlns:p15="http://schemas.microsoft.com/office/powerpoint/2012/main" userId="S-1-5-21-776561741-1482476501-682003330-1200706" providerId="AD"/>
      </p:ext>
    </p:extLst>
  </p:cmAuthor>
  <p:cmAuthor id="6" name="Viswanatha, Aditya (IN - Bangalore)" initials="VA(-B" lastIdx="22" clrIdx="6">
    <p:extLst>
      <p:ext uri="{19B8F6BF-5375-455C-9EA6-DF929625EA0E}">
        <p15:presenceInfo xmlns:p15="http://schemas.microsoft.com/office/powerpoint/2012/main" userId="S-1-5-21-776561741-1482476501-682003330-585122" providerId="AD"/>
      </p:ext>
    </p:extLst>
  </p:cmAuthor>
  <p:cmAuthor id="7" name="Chaturvedi, Krishna R. (IN - Mumbai)" initials="CKR(-M" lastIdx="38" clrIdx="7">
    <p:extLst>
      <p:ext uri="{19B8F6BF-5375-455C-9EA6-DF929625EA0E}">
        <p15:presenceInfo xmlns:p15="http://schemas.microsoft.com/office/powerpoint/2012/main" userId="S-1-5-21-776561741-1482476501-682003330-27379" providerId="AD"/>
      </p:ext>
    </p:extLst>
  </p:cmAuthor>
  <p:cmAuthor id="8" name="Agarwal, Sujit (IN - Bengaluru)" initials="AS(-B" lastIdx="30" clrIdx="8">
    <p:extLst>
      <p:ext uri="{19B8F6BF-5375-455C-9EA6-DF929625EA0E}">
        <p15:presenceInfo xmlns:p15="http://schemas.microsoft.com/office/powerpoint/2012/main" userId="S-1-5-21-776561741-1482476501-682003330-1050335" providerId="AD"/>
      </p:ext>
    </p:extLst>
  </p:cmAuthor>
  <p:cmAuthor id="9" name="Betala, Alkesh (IN - Chennai)" initials="BA(-C" lastIdx="54" clrIdx="9">
    <p:extLst>
      <p:ext uri="{19B8F6BF-5375-455C-9EA6-DF929625EA0E}">
        <p15:presenceInfo xmlns:p15="http://schemas.microsoft.com/office/powerpoint/2012/main" userId="Betala, Alkesh (IN - Chennai)" providerId="None"/>
      </p:ext>
    </p:extLst>
  </p:cmAuthor>
  <p:cmAuthor id="10" name="Khurana, Rahul (IN - Delhi)" initials="KR(-D" lastIdx="5" clrIdx="10">
    <p:extLst>
      <p:ext uri="{19B8F6BF-5375-455C-9EA6-DF929625EA0E}">
        <p15:presenceInfo xmlns:p15="http://schemas.microsoft.com/office/powerpoint/2012/main" userId="S-1-5-21-776561741-1482476501-682003330-1070840" providerId="AD"/>
      </p:ext>
    </p:extLst>
  </p:cmAuthor>
  <p:cmAuthor id="11" name="Joshi, Anjaney (IN - Mumbai)" initials="JA(-M" lastIdx="17" clrIdx="11">
    <p:extLst>
      <p:ext uri="{19B8F6BF-5375-455C-9EA6-DF929625EA0E}">
        <p15:presenceInfo xmlns:p15="http://schemas.microsoft.com/office/powerpoint/2012/main" userId="Joshi, Anjaney (IN - Mumbai)" providerId="None"/>
      </p:ext>
    </p:extLst>
  </p:cmAuthor>
  <p:cmAuthor id="12" name="Joshi, Anjaney (IN - Mumbai)" initials="JA(-M [2]" lastIdx="14" clrIdx="12">
    <p:extLst>
      <p:ext uri="{19B8F6BF-5375-455C-9EA6-DF929625EA0E}">
        <p15:presenceInfo xmlns:p15="http://schemas.microsoft.com/office/powerpoint/2012/main" userId="S-1-5-21-776561741-1482476501-682003330-981311" providerId="AD"/>
      </p:ext>
    </p:extLst>
  </p:cmAuthor>
  <p:cmAuthor id="13" name="Pawar, Rajas (IN - Mumbai)" initials="PR(-M" lastIdx="69" clrIdx="13">
    <p:extLst>
      <p:ext uri="{19B8F6BF-5375-455C-9EA6-DF929625EA0E}">
        <p15:presenceInfo xmlns:p15="http://schemas.microsoft.com/office/powerpoint/2012/main" userId="S-1-5-21-776561741-1482476501-682003330-1283534" providerId="AD"/>
      </p:ext>
    </p:extLst>
  </p:cmAuthor>
  <p:cmAuthor id="14" name="Mhatre, Shreyas (IN - Mumbai)" initials="MS(-M" lastIdx="98" clrIdx="14">
    <p:extLst>
      <p:ext uri="{19B8F6BF-5375-455C-9EA6-DF929625EA0E}">
        <p15:presenceInfo xmlns:p15="http://schemas.microsoft.com/office/powerpoint/2012/main" userId="S-1-5-21-776561741-1482476501-682003330-393219" providerId="AD"/>
      </p:ext>
    </p:extLst>
  </p:cmAuthor>
  <p:cmAuthor id="15" name="Boreddy, Chandra (IN - Mumbai)" initials="BC(-M" lastIdx="61" clrIdx="15">
    <p:extLst>
      <p:ext uri="{19B8F6BF-5375-455C-9EA6-DF929625EA0E}">
        <p15:presenceInfo xmlns:p15="http://schemas.microsoft.com/office/powerpoint/2012/main" userId="S-1-5-21-776561741-1482476501-682003330-386381" providerId="AD"/>
      </p:ext>
    </p:extLst>
  </p:cmAuthor>
  <p:cmAuthor id="16" name="Pethi, Sreeram (IN - Bengaluru)" initials="PS(-B" lastIdx="26" clrIdx="16">
    <p:extLst>
      <p:ext uri="{19B8F6BF-5375-455C-9EA6-DF929625EA0E}">
        <p15:presenceInfo xmlns:p15="http://schemas.microsoft.com/office/powerpoint/2012/main" userId="S-1-5-21-776561741-1482476501-682003330-470730" providerId="AD"/>
      </p:ext>
    </p:extLst>
  </p:cmAuthor>
  <p:cmAuthor id="17" name="Khiroria, Adit" initials="KA" lastIdx="281" clrIdx="17">
    <p:extLst>
      <p:ext uri="{19B8F6BF-5375-455C-9EA6-DF929625EA0E}">
        <p15:presenceInfo xmlns:p15="http://schemas.microsoft.com/office/powerpoint/2012/main" userId="S-1-5-21-776561741-1482476501-682003330-970961" providerId="AD"/>
      </p:ext>
    </p:extLst>
  </p:cmAuthor>
  <p:cmAuthor id="18" name="rayush" initials="rayush" lastIdx="155" clrIdx="18">
    <p:extLst>
      <p:ext uri="{19B8F6BF-5375-455C-9EA6-DF929625EA0E}">
        <p15:presenceInfo xmlns:p15="http://schemas.microsoft.com/office/powerpoint/2012/main" userId="rayush" providerId="None"/>
      </p:ext>
    </p:extLst>
  </p:cmAuthor>
  <p:cmAuthor id="19" name="Naik, Siddhant" initials="NS" lastIdx="32" clrIdx="19">
    <p:extLst>
      <p:ext uri="{19B8F6BF-5375-455C-9EA6-DF929625EA0E}">
        <p15:presenceInfo xmlns:p15="http://schemas.microsoft.com/office/powerpoint/2012/main" userId="S-1-5-21-776561741-1482476501-682003330-1487932"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FFFF"/>
    <a:srgbClr val="62B5E5"/>
    <a:srgbClr val="046A38"/>
    <a:srgbClr val="0097A9"/>
    <a:srgbClr val="75787B"/>
    <a:srgbClr val="0070C0"/>
    <a:srgbClr val="86BC25"/>
    <a:srgbClr val="012169"/>
    <a:srgbClr val="00B050"/>
    <a:srgbClr val="E8F6C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C4037747-F56E-434D-943E-51775AFE607C}" v="226" dt="2022-09-25T14:51:45.229"/>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17292A2E-F333-43FB-9621-5CBBE7FDCDCB}" styleName="Light Style 2 - Accent 4">
    <a:wholeTbl>
      <a:tcTxStyle>
        <a:fontRef idx="minor">
          <a:scrgbClr r="0" g="0" b="0"/>
        </a:fontRef>
        <a:schemeClr val="tx1"/>
      </a:tcTxStyle>
      <a:tcStyle>
        <a:tcBdr>
          <a:left>
            <a:lnRef idx="1">
              <a:schemeClr val="accent4"/>
            </a:lnRef>
          </a:left>
          <a:right>
            <a:lnRef idx="1">
              <a:schemeClr val="accent4"/>
            </a:lnRef>
          </a:right>
          <a:top>
            <a:lnRef idx="1">
              <a:schemeClr val="accent4"/>
            </a:lnRef>
          </a:top>
          <a:bottom>
            <a:lnRef idx="1">
              <a:schemeClr val="accent4"/>
            </a:lnRef>
          </a:bottom>
          <a:insideH>
            <a:ln>
              <a:noFill/>
            </a:ln>
          </a:insideH>
          <a:insideV>
            <a:ln>
              <a:noFill/>
            </a:ln>
          </a:insideV>
        </a:tcBdr>
        <a:fill>
          <a:noFill/>
        </a:fill>
      </a:tcStyle>
    </a:wholeTbl>
    <a:band1H>
      <a:tcStyle>
        <a:tcBdr>
          <a:top>
            <a:lnRef idx="1">
              <a:schemeClr val="accent4"/>
            </a:lnRef>
          </a:top>
          <a:bottom>
            <a:lnRef idx="1">
              <a:schemeClr val="accent4"/>
            </a:lnRef>
          </a:bottom>
        </a:tcBdr>
      </a:tcStyle>
    </a:band1H>
    <a:band1V>
      <a:tcStyle>
        <a:tcBdr>
          <a:left>
            <a:lnRef idx="1">
              <a:schemeClr val="accent4"/>
            </a:lnRef>
          </a:left>
          <a:right>
            <a:lnRef idx="1">
              <a:schemeClr val="accent4"/>
            </a:lnRef>
          </a:right>
        </a:tcBdr>
      </a:tcStyle>
    </a:band1V>
    <a:band2V>
      <a:tcStyle>
        <a:tcBdr>
          <a:left>
            <a:lnRef idx="1">
              <a:schemeClr val="accent4"/>
            </a:lnRef>
          </a:left>
          <a:right>
            <a:lnRef idx="1">
              <a:schemeClr val="accent4"/>
            </a:lnRef>
          </a:right>
        </a:tcBdr>
      </a:tcStyle>
    </a:band2V>
    <a:lastCol>
      <a:tcTxStyle b="on"/>
      <a:tcStyle>
        <a:tcBdr/>
      </a:tcStyle>
    </a:lastCol>
    <a:firstCol>
      <a:tcTxStyle b="on"/>
      <a:tcStyle>
        <a:tcBdr/>
      </a:tcStyle>
    </a:firstCol>
    <a:lastRow>
      <a:tcTxStyle b="on"/>
      <a:tcStyle>
        <a:tcBdr>
          <a:top>
            <a:ln w="50800" cmpd="dbl">
              <a:solidFill>
                <a:schemeClr val="accent4"/>
              </a:solidFill>
            </a:ln>
          </a:top>
        </a:tcBdr>
      </a:tcStyle>
    </a:lastRow>
    <a:firstRow>
      <a:tcTxStyle b="on">
        <a:fontRef idx="minor">
          <a:scrgbClr r="0" g="0" b="0"/>
        </a:fontRef>
        <a:schemeClr val="bg1"/>
      </a:tcTxStyle>
      <a:tcStyle>
        <a:tcBdr/>
        <a:fillRef idx="1">
          <a:schemeClr val="accent4"/>
        </a:fillRef>
      </a:tcStyle>
    </a:firstRow>
  </a:tblStyle>
  <a:tblStyle styleId="{5A111915-BE36-4E01-A7E5-04B1672EAD32}" styleName="Light Style 2 - Accent 5">
    <a:wholeTbl>
      <a:tcTxStyle>
        <a:fontRef idx="minor">
          <a:scrgbClr r="0" g="0" b="0"/>
        </a:fontRef>
        <a:schemeClr val="tx1"/>
      </a:tcTxStyle>
      <a:tcStyle>
        <a:tcBdr>
          <a:left>
            <a:lnRef idx="1">
              <a:schemeClr val="accent5"/>
            </a:lnRef>
          </a:left>
          <a:right>
            <a:lnRef idx="1">
              <a:schemeClr val="accent5"/>
            </a:lnRef>
          </a:right>
          <a:top>
            <a:lnRef idx="1">
              <a:schemeClr val="accent5"/>
            </a:lnRef>
          </a:top>
          <a:bottom>
            <a:lnRef idx="1">
              <a:schemeClr val="accent5"/>
            </a:lnRef>
          </a:bottom>
          <a:insideH>
            <a:ln>
              <a:noFill/>
            </a:ln>
          </a:insideH>
          <a:insideV>
            <a:ln>
              <a:noFill/>
            </a:ln>
          </a:insideV>
        </a:tcBdr>
        <a:fill>
          <a:noFill/>
        </a:fill>
      </a:tcStyle>
    </a:wholeTbl>
    <a:band1H>
      <a:tcStyle>
        <a:tcBdr>
          <a:top>
            <a:lnRef idx="1">
              <a:schemeClr val="accent5"/>
            </a:lnRef>
          </a:top>
          <a:bottom>
            <a:lnRef idx="1">
              <a:schemeClr val="accent5"/>
            </a:lnRef>
          </a:bottom>
        </a:tcBdr>
      </a:tcStyle>
    </a:band1H>
    <a:band1V>
      <a:tcStyle>
        <a:tcBdr>
          <a:left>
            <a:lnRef idx="1">
              <a:schemeClr val="accent5"/>
            </a:lnRef>
          </a:left>
          <a:right>
            <a:lnRef idx="1">
              <a:schemeClr val="accent5"/>
            </a:lnRef>
          </a:right>
        </a:tcBdr>
      </a:tcStyle>
    </a:band1V>
    <a:band2V>
      <a:tcStyle>
        <a:tcBdr>
          <a:left>
            <a:lnRef idx="1">
              <a:schemeClr val="accent5"/>
            </a:lnRef>
          </a:left>
          <a:right>
            <a:lnRef idx="1">
              <a:schemeClr val="accent5"/>
            </a:lnRef>
          </a:right>
        </a:tcBdr>
      </a:tcStyle>
    </a:band2V>
    <a:lastCol>
      <a:tcTxStyle b="on"/>
      <a:tcStyle>
        <a:tcBdr/>
      </a:tcStyle>
    </a:lastCol>
    <a:firstCol>
      <a:tcTxStyle b="on"/>
      <a:tcStyle>
        <a:tcBdr/>
      </a:tcStyle>
    </a:firstCol>
    <a:lastRow>
      <a:tcTxStyle b="on"/>
      <a:tcStyle>
        <a:tcBdr>
          <a:top>
            <a:ln w="50800" cmpd="dbl">
              <a:solidFill>
                <a:schemeClr val="accent5"/>
              </a:solidFill>
            </a:ln>
          </a:top>
        </a:tcBdr>
      </a:tcStyle>
    </a:lastRow>
    <a:firstRow>
      <a:tcTxStyle b="on">
        <a:fontRef idx="minor">
          <a:scrgbClr r="0" g="0" b="0"/>
        </a:fontRef>
        <a:schemeClr val="bg1"/>
      </a:tcTxStyle>
      <a:tcStyle>
        <a:tcBdr/>
        <a:fillRef idx="1">
          <a:schemeClr val="accent5"/>
        </a:fillRef>
      </a:tcStyle>
    </a:firstRow>
  </a:tblStyle>
  <a:tblStyle styleId="{72833802-FEF1-4C79-8D5D-14CF1EAF98D9}" styleName="Light Style 2 - Accent 2">
    <a:wholeTbl>
      <a:tcTxStyle>
        <a:fontRef idx="minor">
          <a:scrgbClr r="0" g="0" b="0"/>
        </a:fontRef>
        <a:schemeClr val="tx1"/>
      </a:tcTxStyle>
      <a:tcStyle>
        <a:tcBdr>
          <a:left>
            <a:lnRef idx="1">
              <a:schemeClr val="accent2"/>
            </a:lnRef>
          </a:left>
          <a:right>
            <a:lnRef idx="1">
              <a:schemeClr val="accent2"/>
            </a:lnRef>
          </a:right>
          <a:top>
            <a:lnRef idx="1">
              <a:schemeClr val="accent2"/>
            </a:lnRef>
          </a:top>
          <a:bottom>
            <a:lnRef idx="1">
              <a:schemeClr val="accent2"/>
            </a:lnRef>
          </a:bottom>
          <a:insideH>
            <a:ln>
              <a:noFill/>
            </a:ln>
          </a:insideH>
          <a:insideV>
            <a:ln>
              <a:noFill/>
            </a:ln>
          </a:insideV>
        </a:tcBdr>
        <a:fill>
          <a:noFill/>
        </a:fill>
      </a:tcStyle>
    </a:wholeTbl>
    <a:band1H>
      <a:tcStyle>
        <a:tcBdr>
          <a:top>
            <a:lnRef idx="1">
              <a:schemeClr val="accent2"/>
            </a:lnRef>
          </a:top>
          <a:bottom>
            <a:lnRef idx="1">
              <a:schemeClr val="accent2"/>
            </a:lnRef>
          </a:bottom>
        </a:tcBdr>
      </a:tcStyle>
    </a:band1H>
    <a:band1V>
      <a:tcStyle>
        <a:tcBdr>
          <a:left>
            <a:lnRef idx="1">
              <a:schemeClr val="accent2"/>
            </a:lnRef>
          </a:left>
          <a:right>
            <a:lnRef idx="1">
              <a:schemeClr val="accent2"/>
            </a:lnRef>
          </a:right>
        </a:tcBdr>
      </a:tcStyle>
    </a:band1V>
    <a:band2V>
      <a:tcStyle>
        <a:tcBdr>
          <a:left>
            <a:lnRef idx="1">
              <a:schemeClr val="accent2"/>
            </a:lnRef>
          </a:left>
          <a:right>
            <a:lnRef idx="1">
              <a:schemeClr val="accent2"/>
            </a:lnRef>
          </a:right>
        </a:tcBdr>
      </a:tcStyle>
    </a:band2V>
    <a:lastCol>
      <a:tcTxStyle b="on"/>
      <a:tcStyle>
        <a:tcBdr/>
      </a:tcStyle>
    </a:lastCol>
    <a:firstCol>
      <a:tcTxStyle b="on"/>
      <a:tcStyle>
        <a:tcBdr/>
      </a:tcStyle>
    </a:firstCol>
    <a:lastRow>
      <a:tcTxStyle b="on"/>
      <a:tcStyle>
        <a:tcBdr>
          <a:top>
            <a:ln w="50800" cmpd="dbl">
              <a:solidFill>
                <a:schemeClr val="accent2"/>
              </a:solidFill>
            </a:ln>
          </a:top>
        </a:tcBdr>
      </a:tcStyle>
    </a:lastRow>
    <a:firstRow>
      <a:tcTxStyle b="on">
        <a:fontRef idx="minor">
          <a:scrgbClr r="0" g="0" b="0"/>
        </a:fontRef>
        <a:schemeClr val="bg1"/>
      </a:tcTxStyle>
      <a:tcStyle>
        <a:tcBdr/>
        <a:fillRef idx="1">
          <a:schemeClr val="accent2"/>
        </a:fillRef>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BC89EF96-8CEA-46FF-86C4-4CE0E7609802}" styleName="Light Style 3 - Accent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6E25E649-3F16-4E02-A733-19D2CDBF48F0}" styleName="Medium Style 3 - Accent 1">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1"/>
          </a:solidFill>
        </a:fill>
      </a:tcStyle>
    </a:lastCol>
    <a:firstCol>
      <a:tcTxStyle b="on">
        <a:fontRef idx="minor">
          <a:scrgbClr r="0" g="0" b="0"/>
        </a:fontRef>
        <a:schemeClr val="lt1"/>
      </a:tcTxStyle>
      <a:tcStyle>
        <a:tcBdr/>
        <a:fill>
          <a:solidFill>
            <a:schemeClr val="accent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1"/>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FABFCF23-3B69-468F-B69F-88F6DE6A72F2}" styleName="Medium Style 1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a:noFill/>
            </a:ln>
          </a:insideV>
        </a:tcBdr>
        <a:fill>
          <a:solidFill>
            <a:schemeClr val="lt1"/>
          </a:solidFill>
        </a:fill>
      </a:tcStyle>
    </a:wholeTbl>
    <a:band1H>
      <a:tcStyle>
        <a:tcBdr/>
        <a:fill>
          <a:solidFill>
            <a:schemeClr val="accent5">
              <a:tint val="20000"/>
            </a:schemeClr>
          </a:solidFill>
        </a:fill>
      </a:tcStyle>
    </a:band1H>
    <a:band1V>
      <a:tcStyle>
        <a:tcBdr/>
        <a:fill>
          <a:solidFill>
            <a:schemeClr val="accent5">
              <a:tint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solidFill>
            <a:schemeClr val="lt1"/>
          </a:solidFill>
        </a:fill>
      </a:tcStyle>
    </a:lastRow>
    <a:firstRow>
      <a:tcTxStyle b="on">
        <a:fontRef idx="minor">
          <a:scrgbClr r="0" g="0" b="0"/>
        </a:fontRef>
        <a:schemeClr val="lt1"/>
      </a:tcTxStyle>
      <a:tcStyle>
        <a:tcBdr/>
        <a:fill>
          <a:solidFill>
            <a:schemeClr val="accent5"/>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4995" autoAdjust="0"/>
    <p:restoredTop sz="94700" autoAdjust="0"/>
  </p:normalViewPr>
  <p:slideViewPr>
    <p:cSldViewPr snapToGrid="0" showGuides="1">
      <p:cViewPr varScale="1">
        <p:scale>
          <a:sx n="45" d="100"/>
          <a:sy n="45" d="100"/>
        </p:scale>
        <p:origin x="1636" y="44"/>
      </p:cViewPr>
      <p:guideLst>
        <p:guide pos="2869"/>
        <p:guide pos="2642"/>
        <p:guide orient="horz" pos="2426"/>
      </p:guideLst>
    </p:cSldViewPr>
  </p:slideViewPr>
  <p:outlineViewPr>
    <p:cViewPr>
      <p:scale>
        <a:sx n="33" d="100"/>
        <a:sy n="33" d="100"/>
      </p:scale>
      <p:origin x="0" y="0"/>
    </p:cViewPr>
  </p:outlineViewPr>
  <p:notesTextViewPr>
    <p:cViewPr>
      <p:scale>
        <a:sx n="100" d="100"/>
        <a:sy n="100" d="100"/>
      </p:scale>
      <p:origin x="0" y="0"/>
    </p:cViewPr>
  </p:notesTextViewPr>
  <p:sorterViewPr>
    <p:cViewPr varScale="1">
      <p:scale>
        <a:sx n="1" d="1"/>
        <a:sy n="1" d="1"/>
      </p:scale>
      <p:origin x="0" y="0"/>
    </p:cViewPr>
  </p:sorterViewPr>
  <p:notesViewPr>
    <p:cSldViewPr snapToGrid="0" showGuides="1">
      <p:cViewPr varScale="1">
        <p:scale>
          <a:sx n="63" d="100"/>
          <a:sy n="63" d="100"/>
        </p:scale>
        <p:origin x="3144" y="86"/>
      </p:cViewPr>
      <p:guideLst>
        <p:guide orient="horz" pos="3005"/>
        <p:guide pos="2283"/>
        <p:guide orient="horz" pos="3108"/>
        <p:guide pos="2122"/>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09.xml"/><Relationship Id="rId21" Type="http://schemas.openxmlformats.org/officeDocument/2006/relationships/slide" Target="slides/slide13.xml"/><Relationship Id="rId42" Type="http://schemas.openxmlformats.org/officeDocument/2006/relationships/slide" Target="slides/slide34.xml"/><Relationship Id="rId63" Type="http://schemas.openxmlformats.org/officeDocument/2006/relationships/slide" Target="slides/slide55.xml"/><Relationship Id="rId84" Type="http://schemas.openxmlformats.org/officeDocument/2006/relationships/slide" Target="slides/slide76.xml"/><Relationship Id="rId138" Type="http://schemas.openxmlformats.org/officeDocument/2006/relationships/slide" Target="slides/slide130.xml"/><Relationship Id="rId159" Type="http://schemas.openxmlformats.org/officeDocument/2006/relationships/slide" Target="slides/slide151.xml"/><Relationship Id="rId170" Type="http://schemas.openxmlformats.org/officeDocument/2006/relationships/slide" Target="slides/slide162.xml"/><Relationship Id="rId191" Type="http://schemas.openxmlformats.org/officeDocument/2006/relationships/slide" Target="slides/slide183.xml"/><Relationship Id="rId205" Type="http://schemas.openxmlformats.org/officeDocument/2006/relationships/slide" Target="slides/slide197.xml"/><Relationship Id="rId226" Type="http://schemas.openxmlformats.org/officeDocument/2006/relationships/slide" Target="slides/slide218.xml"/><Relationship Id="rId247" Type="http://schemas.openxmlformats.org/officeDocument/2006/relationships/slide" Target="slides/slide239.xml"/><Relationship Id="rId107" Type="http://schemas.openxmlformats.org/officeDocument/2006/relationships/slide" Target="slides/slide99.xml"/><Relationship Id="rId11" Type="http://schemas.openxmlformats.org/officeDocument/2006/relationships/slide" Target="slides/slide3.xml"/><Relationship Id="rId32" Type="http://schemas.openxmlformats.org/officeDocument/2006/relationships/slide" Target="slides/slide24.xml"/><Relationship Id="rId53" Type="http://schemas.openxmlformats.org/officeDocument/2006/relationships/slide" Target="slides/slide45.xml"/><Relationship Id="rId74" Type="http://schemas.openxmlformats.org/officeDocument/2006/relationships/slide" Target="slides/slide66.xml"/><Relationship Id="rId128" Type="http://schemas.openxmlformats.org/officeDocument/2006/relationships/slide" Target="slides/slide120.xml"/><Relationship Id="rId149" Type="http://schemas.openxmlformats.org/officeDocument/2006/relationships/slide" Target="slides/slide141.xml"/><Relationship Id="rId5" Type="http://schemas.openxmlformats.org/officeDocument/2006/relationships/slideMaster" Target="slideMasters/slideMaster2.xml"/><Relationship Id="rId95" Type="http://schemas.openxmlformats.org/officeDocument/2006/relationships/slide" Target="slides/slide87.xml"/><Relationship Id="rId160" Type="http://schemas.openxmlformats.org/officeDocument/2006/relationships/slide" Target="slides/slide152.xml"/><Relationship Id="rId181" Type="http://schemas.openxmlformats.org/officeDocument/2006/relationships/slide" Target="slides/slide173.xml"/><Relationship Id="rId216" Type="http://schemas.openxmlformats.org/officeDocument/2006/relationships/slide" Target="slides/slide208.xml"/><Relationship Id="rId237" Type="http://schemas.openxmlformats.org/officeDocument/2006/relationships/slide" Target="slides/slide229.xml"/><Relationship Id="rId258" Type="http://schemas.microsoft.com/office/2015/10/relationships/revisionInfo" Target="revisionInfo.xml"/><Relationship Id="rId22" Type="http://schemas.openxmlformats.org/officeDocument/2006/relationships/slide" Target="slides/slide14.xml"/><Relationship Id="rId43" Type="http://schemas.openxmlformats.org/officeDocument/2006/relationships/slide" Target="slides/slide35.xml"/><Relationship Id="rId64" Type="http://schemas.openxmlformats.org/officeDocument/2006/relationships/slide" Target="slides/slide56.xml"/><Relationship Id="rId118" Type="http://schemas.openxmlformats.org/officeDocument/2006/relationships/slide" Target="slides/slide110.xml"/><Relationship Id="rId139" Type="http://schemas.openxmlformats.org/officeDocument/2006/relationships/slide" Target="slides/slide131.xml"/><Relationship Id="rId85" Type="http://schemas.openxmlformats.org/officeDocument/2006/relationships/slide" Target="slides/slide77.xml"/><Relationship Id="rId150" Type="http://schemas.openxmlformats.org/officeDocument/2006/relationships/slide" Target="slides/slide142.xml"/><Relationship Id="rId171" Type="http://schemas.openxmlformats.org/officeDocument/2006/relationships/slide" Target="slides/slide163.xml"/><Relationship Id="rId192" Type="http://schemas.openxmlformats.org/officeDocument/2006/relationships/slide" Target="slides/slide184.xml"/><Relationship Id="rId206" Type="http://schemas.openxmlformats.org/officeDocument/2006/relationships/slide" Target="slides/slide198.xml"/><Relationship Id="rId227" Type="http://schemas.openxmlformats.org/officeDocument/2006/relationships/slide" Target="slides/slide219.xml"/><Relationship Id="rId248" Type="http://schemas.openxmlformats.org/officeDocument/2006/relationships/slide" Target="slides/slide240.xml"/><Relationship Id="rId12" Type="http://schemas.openxmlformats.org/officeDocument/2006/relationships/slide" Target="slides/slide4.xml"/><Relationship Id="rId33" Type="http://schemas.openxmlformats.org/officeDocument/2006/relationships/slide" Target="slides/slide25.xml"/><Relationship Id="rId108" Type="http://schemas.openxmlformats.org/officeDocument/2006/relationships/slide" Target="slides/slide100.xml"/><Relationship Id="rId129" Type="http://schemas.openxmlformats.org/officeDocument/2006/relationships/slide" Target="slides/slide121.xml"/><Relationship Id="rId54" Type="http://schemas.openxmlformats.org/officeDocument/2006/relationships/slide" Target="slides/slide46.xml"/><Relationship Id="rId75" Type="http://schemas.openxmlformats.org/officeDocument/2006/relationships/slide" Target="slides/slide67.xml"/><Relationship Id="rId96" Type="http://schemas.openxmlformats.org/officeDocument/2006/relationships/slide" Target="slides/slide88.xml"/><Relationship Id="rId140" Type="http://schemas.openxmlformats.org/officeDocument/2006/relationships/slide" Target="slides/slide132.xml"/><Relationship Id="rId161" Type="http://schemas.openxmlformats.org/officeDocument/2006/relationships/slide" Target="slides/slide153.xml"/><Relationship Id="rId182" Type="http://schemas.openxmlformats.org/officeDocument/2006/relationships/slide" Target="slides/slide174.xml"/><Relationship Id="rId217" Type="http://schemas.openxmlformats.org/officeDocument/2006/relationships/slide" Target="slides/slide209.xml"/><Relationship Id="rId6" Type="http://schemas.openxmlformats.org/officeDocument/2006/relationships/slideMaster" Target="slideMasters/slideMaster3.xml"/><Relationship Id="rId238" Type="http://schemas.openxmlformats.org/officeDocument/2006/relationships/slide" Target="slides/slide230.xml"/><Relationship Id="rId23" Type="http://schemas.openxmlformats.org/officeDocument/2006/relationships/slide" Target="slides/slide15.xml"/><Relationship Id="rId119" Type="http://schemas.openxmlformats.org/officeDocument/2006/relationships/slide" Target="slides/slide111.xml"/><Relationship Id="rId44" Type="http://schemas.openxmlformats.org/officeDocument/2006/relationships/slide" Target="slides/slide36.xml"/><Relationship Id="rId65" Type="http://schemas.openxmlformats.org/officeDocument/2006/relationships/slide" Target="slides/slide57.xml"/><Relationship Id="rId86" Type="http://schemas.openxmlformats.org/officeDocument/2006/relationships/slide" Target="slides/slide78.xml"/><Relationship Id="rId130" Type="http://schemas.openxmlformats.org/officeDocument/2006/relationships/slide" Target="slides/slide122.xml"/><Relationship Id="rId151" Type="http://schemas.openxmlformats.org/officeDocument/2006/relationships/slide" Target="slides/slide143.xml"/><Relationship Id="rId172" Type="http://schemas.openxmlformats.org/officeDocument/2006/relationships/slide" Target="slides/slide164.xml"/><Relationship Id="rId193" Type="http://schemas.openxmlformats.org/officeDocument/2006/relationships/slide" Target="slides/slide185.xml"/><Relationship Id="rId207" Type="http://schemas.openxmlformats.org/officeDocument/2006/relationships/slide" Target="slides/slide199.xml"/><Relationship Id="rId228" Type="http://schemas.openxmlformats.org/officeDocument/2006/relationships/slide" Target="slides/slide220.xml"/><Relationship Id="rId249" Type="http://schemas.openxmlformats.org/officeDocument/2006/relationships/slide" Target="slides/slide241.xml"/><Relationship Id="rId13" Type="http://schemas.openxmlformats.org/officeDocument/2006/relationships/slide" Target="slides/slide5.xml"/><Relationship Id="rId109" Type="http://schemas.openxmlformats.org/officeDocument/2006/relationships/slide" Target="slides/slide101.xml"/><Relationship Id="rId34" Type="http://schemas.openxmlformats.org/officeDocument/2006/relationships/slide" Target="slides/slide26.xml"/><Relationship Id="rId55" Type="http://schemas.openxmlformats.org/officeDocument/2006/relationships/slide" Target="slides/slide47.xml"/><Relationship Id="rId76" Type="http://schemas.openxmlformats.org/officeDocument/2006/relationships/slide" Target="slides/slide68.xml"/><Relationship Id="rId97" Type="http://schemas.openxmlformats.org/officeDocument/2006/relationships/slide" Target="slides/slide89.xml"/><Relationship Id="rId120" Type="http://schemas.openxmlformats.org/officeDocument/2006/relationships/slide" Target="slides/slide112.xml"/><Relationship Id="rId141" Type="http://schemas.openxmlformats.org/officeDocument/2006/relationships/slide" Target="slides/slide133.xml"/><Relationship Id="rId7" Type="http://schemas.openxmlformats.org/officeDocument/2006/relationships/slideMaster" Target="slideMasters/slideMaster4.xml"/><Relationship Id="rId162" Type="http://schemas.openxmlformats.org/officeDocument/2006/relationships/slide" Target="slides/slide154.xml"/><Relationship Id="rId183" Type="http://schemas.openxmlformats.org/officeDocument/2006/relationships/slide" Target="slides/slide175.xml"/><Relationship Id="rId218" Type="http://schemas.openxmlformats.org/officeDocument/2006/relationships/slide" Target="slides/slide210.xml"/><Relationship Id="rId239" Type="http://schemas.openxmlformats.org/officeDocument/2006/relationships/slide" Target="slides/slide231.xml"/><Relationship Id="rId250" Type="http://schemas.openxmlformats.org/officeDocument/2006/relationships/notesMaster" Target="notesMasters/notesMaster1.xml"/><Relationship Id="rId24" Type="http://schemas.openxmlformats.org/officeDocument/2006/relationships/slide" Target="slides/slide16.xml"/><Relationship Id="rId45" Type="http://schemas.openxmlformats.org/officeDocument/2006/relationships/slide" Target="slides/slide37.xml"/><Relationship Id="rId66" Type="http://schemas.openxmlformats.org/officeDocument/2006/relationships/slide" Target="slides/slide58.xml"/><Relationship Id="rId87" Type="http://schemas.openxmlformats.org/officeDocument/2006/relationships/slide" Target="slides/slide79.xml"/><Relationship Id="rId110" Type="http://schemas.openxmlformats.org/officeDocument/2006/relationships/slide" Target="slides/slide102.xml"/><Relationship Id="rId131" Type="http://schemas.openxmlformats.org/officeDocument/2006/relationships/slide" Target="slides/slide123.xml"/><Relationship Id="rId152" Type="http://schemas.openxmlformats.org/officeDocument/2006/relationships/slide" Target="slides/slide144.xml"/><Relationship Id="rId173" Type="http://schemas.openxmlformats.org/officeDocument/2006/relationships/slide" Target="slides/slide165.xml"/><Relationship Id="rId194" Type="http://schemas.openxmlformats.org/officeDocument/2006/relationships/slide" Target="slides/slide186.xml"/><Relationship Id="rId208" Type="http://schemas.openxmlformats.org/officeDocument/2006/relationships/slide" Target="slides/slide200.xml"/><Relationship Id="rId229" Type="http://schemas.openxmlformats.org/officeDocument/2006/relationships/slide" Target="slides/slide221.xml"/><Relationship Id="rId240" Type="http://schemas.openxmlformats.org/officeDocument/2006/relationships/slide" Target="slides/slide232.xml"/><Relationship Id="rId14" Type="http://schemas.openxmlformats.org/officeDocument/2006/relationships/slide" Target="slides/slide6.xml"/><Relationship Id="rId35" Type="http://schemas.openxmlformats.org/officeDocument/2006/relationships/slide" Target="slides/slide27.xml"/><Relationship Id="rId56" Type="http://schemas.openxmlformats.org/officeDocument/2006/relationships/slide" Target="slides/slide48.xml"/><Relationship Id="rId77" Type="http://schemas.openxmlformats.org/officeDocument/2006/relationships/slide" Target="slides/slide69.xml"/><Relationship Id="rId100" Type="http://schemas.openxmlformats.org/officeDocument/2006/relationships/slide" Target="slides/slide92.xml"/><Relationship Id="rId8" Type="http://schemas.openxmlformats.org/officeDocument/2006/relationships/slideMaster" Target="slideMasters/slideMaster5.xml"/><Relationship Id="rId98" Type="http://schemas.openxmlformats.org/officeDocument/2006/relationships/slide" Target="slides/slide90.xml"/><Relationship Id="rId121" Type="http://schemas.openxmlformats.org/officeDocument/2006/relationships/slide" Target="slides/slide113.xml"/><Relationship Id="rId142" Type="http://schemas.openxmlformats.org/officeDocument/2006/relationships/slide" Target="slides/slide134.xml"/><Relationship Id="rId163" Type="http://schemas.openxmlformats.org/officeDocument/2006/relationships/slide" Target="slides/slide155.xml"/><Relationship Id="rId184" Type="http://schemas.openxmlformats.org/officeDocument/2006/relationships/slide" Target="slides/slide176.xml"/><Relationship Id="rId219" Type="http://schemas.openxmlformats.org/officeDocument/2006/relationships/slide" Target="slides/slide211.xml"/><Relationship Id="rId230" Type="http://schemas.openxmlformats.org/officeDocument/2006/relationships/slide" Target="slides/slide222.xml"/><Relationship Id="rId251" Type="http://schemas.openxmlformats.org/officeDocument/2006/relationships/handoutMaster" Target="handoutMasters/handoutMaster1.xml"/><Relationship Id="rId25" Type="http://schemas.openxmlformats.org/officeDocument/2006/relationships/slide" Target="slides/slide17.xml"/><Relationship Id="rId46" Type="http://schemas.openxmlformats.org/officeDocument/2006/relationships/slide" Target="slides/slide38.xml"/><Relationship Id="rId67" Type="http://schemas.openxmlformats.org/officeDocument/2006/relationships/slide" Target="slides/slide59.xml"/><Relationship Id="rId88" Type="http://schemas.openxmlformats.org/officeDocument/2006/relationships/slide" Target="slides/slide80.xml"/><Relationship Id="rId111" Type="http://schemas.openxmlformats.org/officeDocument/2006/relationships/slide" Target="slides/slide103.xml"/><Relationship Id="rId132" Type="http://schemas.openxmlformats.org/officeDocument/2006/relationships/slide" Target="slides/slide124.xml"/><Relationship Id="rId153" Type="http://schemas.openxmlformats.org/officeDocument/2006/relationships/slide" Target="slides/slide145.xml"/><Relationship Id="rId174" Type="http://schemas.openxmlformats.org/officeDocument/2006/relationships/slide" Target="slides/slide166.xml"/><Relationship Id="rId195" Type="http://schemas.openxmlformats.org/officeDocument/2006/relationships/slide" Target="slides/slide187.xml"/><Relationship Id="rId209" Type="http://schemas.openxmlformats.org/officeDocument/2006/relationships/slide" Target="slides/slide201.xml"/><Relationship Id="rId220" Type="http://schemas.openxmlformats.org/officeDocument/2006/relationships/slide" Target="slides/slide212.xml"/><Relationship Id="rId241" Type="http://schemas.openxmlformats.org/officeDocument/2006/relationships/slide" Target="slides/slide233.xml"/><Relationship Id="rId15" Type="http://schemas.openxmlformats.org/officeDocument/2006/relationships/slide" Target="slides/slide7.xml"/><Relationship Id="rId36" Type="http://schemas.openxmlformats.org/officeDocument/2006/relationships/slide" Target="slides/slide28.xml"/><Relationship Id="rId57" Type="http://schemas.openxmlformats.org/officeDocument/2006/relationships/slide" Target="slides/slide49.xml"/><Relationship Id="rId78" Type="http://schemas.openxmlformats.org/officeDocument/2006/relationships/slide" Target="slides/slide70.xml"/><Relationship Id="rId99" Type="http://schemas.openxmlformats.org/officeDocument/2006/relationships/slide" Target="slides/slide91.xml"/><Relationship Id="rId101" Type="http://schemas.openxmlformats.org/officeDocument/2006/relationships/slide" Target="slides/slide93.xml"/><Relationship Id="rId122" Type="http://schemas.openxmlformats.org/officeDocument/2006/relationships/slide" Target="slides/slide114.xml"/><Relationship Id="rId143" Type="http://schemas.openxmlformats.org/officeDocument/2006/relationships/slide" Target="slides/slide135.xml"/><Relationship Id="rId164" Type="http://schemas.openxmlformats.org/officeDocument/2006/relationships/slide" Target="slides/slide156.xml"/><Relationship Id="rId185" Type="http://schemas.openxmlformats.org/officeDocument/2006/relationships/slide" Target="slides/slide177.xml"/><Relationship Id="rId9" Type="http://schemas.openxmlformats.org/officeDocument/2006/relationships/slide" Target="slides/slide1.xml"/><Relationship Id="rId210" Type="http://schemas.openxmlformats.org/officeDocument/2006/relationships/slide" Target="slides/slide202.xml"/><Relationship Id="rId26" Type="http://schemas.openxmlformats.org/officeDocument/2006/relationships/slide" Target="slides/slide18.xml"/><Relationship Id="rId231" Type="http://schemas.openxmlformats.org/officeDocument/2006/relationships/slide" Target="slides/slide223.xml"/><Relationship Id="rId252" Type="http://schemas.openxmlformats.org/officeDocument/2006/relationships/tags" Target="tags/tag1.xml"/><Relationship Id="rId47" Type="http://schemas.openxmlformats.org/officeDocument/2006/relationships/slide" Target="slides/slide39.xml"/><Relationship Id="rId68" Type="http://schemas.openxmlformats.org/officeDocument/2006/relationships/slide" Target="slides/slide60.xml"/><Relationship Id="rId89" Type="http://schemas.openxmlformats.org/officeDocument/2006/relationships/slide" Target="slides/slide81.xml"/><Relationship Id="rId112" Type="http://schemas.openxmlformats.org/officeDocument/2006/relationships/slide" Target="slides/slide104.xml"/><Relationship Id="rId133" Type="http://schemas.openxmlformats.org/officeDocument/2006/relationships/slide" Target="slides/slide125.xml"/><Relationship Id="rId154" Type="http://schemas.openxmlformats.org/officeDocument/2006/relationships/slide" Target="slides/slide146.xml"/><Relationship Id="rId175" Type="http://schemas.openxmlformats.org/officeDocument/2006/relationships/slide" Target="slides/slide167.xml"/><Relationship Id="rId196" Type="http://schemas.openxmlformats.org/officeDocument/2006/relationships/slide" Target="slides/slide188.xml"/><Relationship Id="rId200" Type="http://schemas.openxmlformats.org/officeDocument/2006/relationships/slide" Target="slides/slide192.xml"/><Relationship Id="rId16" Type="http://schemas.openxmlformats.org/officeDocument/2006/relationships/slide" Target="slides/slide8.xml"/><Relationship Id="rId221" Type="http://schemas.openxmlformats.org/officeDocument/2006/relationships/slide" Target="slides/slide213.xml"/><Relationship Id="rId242" Type="http://schemas.openxmlformats.org/officeDocument/2006/relationships/slide" Target="slides/slide234.xml"/><Relationship Id="rId37" Type="http://schemas.openxmlformats.org/officeDocument/2006/relationships/slide" Target="slides/slide29.xml"/><Relationship Id="rId58" Type="http://schemas.openxmlformats.org/officeDocument/2006/relationships/slide" Target="slides/slide50.xml"/><Relationship Id="rId79" Type="http://schemas.openxmlformats.org/officeDocument/2006/relationships/slide" Target="slides/slide71.xml"/><Relationship Id="rId102" Type="http://schemas.openxmlformats.org/officeDocument/2006/relationships/slide" Target="slides/slide94.xml"/><Relationship Id="rId123" Type="http://schemas.openxmlformats.org/officeDocument/2006/relationships/slide" Target="slides/slide115.xml"/><Relationship Id="rId144" Type="http://schemas.openxmlformats.org/officeDocument/2006/relationships/slide" Target="slides/slide136.xml"/><Relationship Id="rId90" Type="http://schemas.openxmlformats.org/officeDocument/2006/relationships/slide" Target="slides/slide82.xml"/><Relationship Id="rId165" Type="http://schemas.openxmlformats.org/officeDocument/2006/relationships/slide" Target="slides/slide157.xml"/><Relationship Id="rId186" Type="http://schemas.openxmlformats.org/officeDocument/2006/relationships/slide" Target="slides/slide178.xml"/><Relationship Id="rId211" Type="http://schemas.openxmlformats.org/officeDocument/2006/relationships/slide" Target="slides/slide203.xml"/><Relationship Id="rId232" Type="http://schemas.openxmlformats.org/officeDocument/2006/relationships/slide" Target="slides/slide224.xml"/><Relationship Id="rId253" Type="http://schemas.openxmlformats.org/officeDocument/2006/relationships/commentAuthors" Target="commentAuthors.xml"/><Relationship Id="rId27" Type="http://schemas.openxmlformats.org/officeDocument/2006/relationships/slide" Target="slides/slide19.xml"/><Relationship Id="rId48" Type="http://schemas.openxmlformats.org/officeDocument/2006/relationships/slide" Target="slides/slide40.xml"/><Relationship Id="rId69" Type="http://schemas.openxmlformats.org/officeDocument/2006/relationships/slide" Target="slides/slide61.xml"/><Relationship Id="rId113" Type="http://schemas.openxmlformats.org/officeDocument/2006/relationships/slide" Target="slides/slide105.xml"/><Relationship Id="rId134" Type="http://schemas.openxmlformats.org/officeDocument/2006/relationships/slide" Target="slides/slide126.xml"/><Relationship Id="rId80" Type="http://schemas.openxmlformats.org/officeDocument/2006/relationships/slide" Target="slides/slide72.xml"/><Relationship Id="rId155" Type="http://schemas.openxmlformats.org/officeDocument/2006/relationships/slide" Target="slides/slide147.xml"/><Relationship Id="rId176" Type="http://schemas.openxmlformats.org/officeDocument/2006/relationships/slide" Target="slides/slide168.xml"/><Relationship Id="rId197" Type="http://schemas.openxmlformats.org/officeDocument/2006/relationships/slide" Target="slides/slide189.xml"/><Relationship Id="rId201" Type="http://schemas.openxmlformats.org/officeDocument/2006/relationships/slide" Target="slides/slide193.xml"/><Relationship Id="rId222" Type="http://schemas.openxmlformats.org/officeDocument/2006/relationships/slide" Target="slides/slide214.xml"/><Relationship Id="rId243" Type="http://schemas.openxmlformats.org/officeDocument/2006/relationships/slide" Target="slides/slide235.xml"/><Relationship Id="rId17" Type="http://schemas.openxmlformats.org/officeDocument/2006/relationships/slide" Target="slides/slide9.xml"/><Relationship Id="rId38" Type="http://schemas.openxmlformats.org/officeDocument/2006/relationships/slide" Target="slides/slide30.xml"/><Relationship Id="rId59" Type="http://schemas.openxmlformats.org/officeDocument/2006/relationships/slide" Target="slides/slide51.xml"/><Relationship Id="rId103" Type="http://schemas.openxmlformats.org/officeDocument/2006/relationships/slide" Target="slides/slide95.xml"/><Relationship Id="rId124" Type="http://schemas.openxmlformats.org/officeDocument/2006/relationships/slide" Target="slides/slide116.xml"/><Relationship Id="rId70" Type="http://schemas.openxmlformats.org/officeDocument/2006/relationships/slide" Target="slides/slide62.xml"/><Relationship Id="rId91" Type="http://schemas.openxmlformats.org/officeDocument/2006/relationships/slide" Target="slides/slide83.xml"/><Relationship Id="rId145" Type="http://schemas.openxmlformats.org/officeDocument/2006/relationships/slide" Target="slides/slide137.xml"/><Relationship Id="rId166" Type="http://schemas.openxmlformats.org/officeDocument/2006/relationships/slide" Target="slides/slide158.xml"/><Relationship Id="rId187" Type="http://schemas.openxmlformats.org/officeDocument/2006/relationships/slide" Target="slides/slide179.xml"/><Relationship Id="rId1" Type="http://schemas.openxmlformats.org/officeDocument/2006/relationships/customXml" Target="../customXml/item1.xml"/><Relationship Id="rId212" Type="http://schemas.openxmlformats.org/officeDocument/2006/relationships/slide" Target="slides/slide204.xml"/><Relationship Id="rId233" Type="http://schemas.openxmlformats.org/officeDocument/2006/relationships/slide" Target="slides/slide225.xml"/><Relationship Id="rId254" Type="http://schemas.openxmlformats.org/officeDocument/2006/relationships/presProps" Target="presProps.xml"/><Relationship Id="rId28" Type="http://schemas.openxmlformats.org/officeDocument/2006/relationships/slide" Target="slides/slide20.xml"/><Relationship Id="rId49" Type="http://schemas.openxmlformats.org/officeDocument/2006/relationships/slide" Target="slides/slide41.xml"/><Relationship Id="rId114" Type="http://schemas.openxmlformats.org/officeDocument/2006/relationships/slide" Target="slides/slide106.xml"/><Relationship Id="rId60" Type="http://schemas.openxmlformats.org/officeDocument/2006/relationships/slide" Target="slides/slide52.xml"/><Relationship Id="rId81" Type="http://schemas.openxmlformats.org/officeDocument/2006/relationships/slide" Target="slides/slide73.xml"/><Relationship Id="rId135" Type="http://schemas.openxmlformats.org/officeDocument/2006/relationships/slide" Target="slides/slide127.xml"/><Relationship Id="rId156" Type="http://schemas.openxmlformats.org/officeDocument/2006/relationships/slide" Target="slides/slide148.xml"/><Relationship Id="rId177" Type="http://schemas.openxmlformats.org/officeDocument/2006/relationships/slide" Target="slides/slide169.xml"/><Relationship Id="rId198" Type="http://schemas.openxmlformats.org/officeDocument/2006/relationships/slide" Target="slides/slide190.xml"/><Relationship Id="rId202" Type="http://schemas.openxmlformats.org/officeDocument/2006/relationships/slide" Target="slides/slide194.xml"/><Relationship Id="rId223" Type="http://schemas.openxmlformats.org/officeDocument/2006/relationships/slide" Target="slides/slide215.xml"/><Relationship Id="rId244" Type="http://schemas.openxmlformats.org/officeDocument/2006/relationships/slide" Target="slides/slide236.xml"/><Relationship Id="rId18" Type="http://schemas.openxmlformats.org/officeDocument/2006/relationships/slide" Target="slides/slide10.xml"/><Relationship Id="rId39" Type="http://schemas.openxmlformats.org/officeDocument/2006/relationships/slide" Target="slides/slide31.xml"/><Relationship Id="rId50" Type="http://schemas.openxmlformats.org/officeDocument/2006/relationships/slide" Target="slides/slide42.xml"/><Relationship Id="rId104" Type="http://schemas.openxmlformats.org/officeDocument/2006/relationships/slide" Target="slides/slide96.xml"/><Relationship Id="rId125" Type="http://schemas.openxmlformats.org/officeDocument/2006/relationships/slide" Target="slides/slide117.xml"/><Relationship Id="rId146" Type="http://schemas.openxmlformats.org/officeDocument/2006/relationships/slide" Target="slides/slide138.xml"/><Relationship Id="rId167" Type="http://schemas.openxmlformats.org/officeDocument/2006/relationships/slide" Target="slides/slide159.xml"/><Relationship Id="rId188" Type="http://schemas.openxmlformats.org/officeDocument/2006/relationships/slide" Target="slides/slide180.xml"/><Relationship Id="rId71" Type="http://schemas.openxmlformats.org/officeDocument/2006/relationships/slide" Target="slides/slide63.xml"/><Relationship Id="rId92" Type="http://schemas.openxmlformats.org/officeDocument/2006/relationships/slide" Target="slides/slide84.xml"/><Relationship Id="rId213" Type="http://schemas.openxmlformats.org/officeDocument/2006/relationships/slide" Target="slides/slide205.xml"/><Relationship Id="rId234" Type="http://schemas.openxmlformats.org/officeDocument/2006/relationships/slide" Target="slides/slide226.xml"/><Relationship Id="rId2" Type="http://schemas.openxmlformats.org/officeDocument/2006/relationships/customXml" Target="../customXml/item2.xml"/><Relationship Id="rId29" Type="http://schemas.openxmlformats.org/officeDocument/2006/relationships/slide" Target="slides/slide21.xml"/><Relationship Id="rId255" Type="http://schemas.openxmlformats.org/officeDocument/2006/relationships/viewProps" Target="viewProps.xml"/><Relationship Id="rId40" Type="http://schemas.openxmlformats.org/officeDocument/2006/relationships/slide" Target="slides/slide32.xml"/><Relationship Id="rId115" Type="http://schemas.openxmlformats.org/officeDocument/2006/relationships/slide" Target="slides/slide107.xml"/><Relationship Id="rId136" Type="http://schemas.openxmlformats.org/officeDocument/2006/relationships/slide" Target="slides/slide128.xml"/><Relationship Id="rId157" Type="http://schemas.openxmlformats.org/officeDocument/2006/relationships/slide" Target="slides/slide149.xml"/><Relationship Id="rId178" Type="http://schemas.openxmlformats.org/officeDocument/2006/relationships/slide" Target="slides/slide170.xml"/><Relationship Id="rId61" Type="http://schemas.openxmlformats.org/officeDocument/2006/relationships/slide" Target="slides/slide53.xml"/><Relationship Id="rId82" Type="http://schemas.openxmlformats.org/officeDocument/2006/relationships/slide" Target="slides/slide74.xml"/><Relationship Id="rId199" Type="http://schemas.openxmlformats.org/officeDocument/2006/relationships/slide" Target="slides/slide191.xml"/><Relationship Id="rId203" Type="http://schemas.openxmlformats.org/officeDocument/2006/relationships/slide" Target="slides/slide195.xml"/><Relationship Id="rId19" Type="http://schemas.openxmlformats.org/officeDocument/2006/relationships/slide" Target="slides/slide11.xml"/><Relationship Id="rId224" Type="http://schemas.openxmlformats.org/officeDocument/2006/relationships/slide" Target="slides/slide216.xml"/><Relationship Id="rId245" Type="http://schemas.openxmlformats.org/officeDocument/2006/relationships/slide" Target="slides/slide237.xml"/><Relationship Id="rId30" Type="http://schemas.openxmlformats.org/officeDocument/2006/relationships/slide" Target="slides/slide22.xml"/><Relationship Id="rId105" Type="http://schemas.openxmlformats.org/officeDocument/2006/relationships/slide" Target="slides/slide97.xml"/><Relationship Id="rId126" Type="http://schemas.openxmlformats.org/officeDocument/2006/relationships/slide" Target="slides/slide118.xml"/><Relationship Id="rId147" Type="http://schemas.openxmlformats.org/officeDocument/2006/relationships/slide" Target="slides/slide139.xml"/><Relationship Id="rId168" Type="http://schemas.openxmlformats.org/officeDocument/2006/relationships/slide" Target="slides/slide160.xml"/><Relationship Id="rId51" Type="http://schemas.openxmlformats.org/officeDocument/2006/relationships/slide" Target="slides/slide43.xml"/><Relationship Id="rId72" Type="http://schemas.openxmlformats.org/officeDocument/2006/relationships/slide" Target="slides/slide64.xml"/><Relationship Id="rId93" Type="http://schemas.openxmlformats.org/officeDocument/2006/relationships/slide" Target="slides/slide85.xml"/><Relationship Id="rId189" Type="http://schemas.openxmlformats.org/officeDocument/2006/relationships/slide" Target="slides/slide181.xml"/><Relationship Id="rId3" Type="http://schemas.openxmlformats.org/officeDocument/2006/relationships/customXml" Target="../customXml/item3.xml"/><Relationship Id="rId214" Type="http://schemas.openxmlformats.org/officeDocument/2006/relationships/slide" Target="slides/slide206.xml"/><Relationship Id="rId235" Type="http://schemas.openxmlformats.org/officeDocument/2006/relationships/slide" Target="slides/slide227.xml"/><Relationship Id="rId256" Type="http://schemas.openxmlformats.org/officeDocument/2006/relationships/theme" Target="theme/theme1.xml"/><Relationship Id="rId116" Type="http://schemas.openxmlformats.org/officeDocument/2006/relationships/slide" Target="slides/slide108.xml"/><Relationship Id="rId137" Type="http://schemas.openxmlformats.org/officeDocument/2006/relationships/slide" Target="slides/slide129.xml"/><Relationship Id="rId158" Type="http://schemas.openxmlformats.org/officeDocument/2006/relationships/slide" Target="slides/slide150.xml"/><Relationship Id="rId20" Type="http://schemas.openxmlformats.org/officeDocument/2006/relationships/slide" Target="slides/slide12.xml"/><Relationship Id="rId41" Type="http://schemas.openxmlformats.org/officeDocument/2006/relationships/slide" Target="slides/slide33.xml"/><Relationship Id="rId62" Type="http://schemas.openxmlformats.org/officeDocument/2006/relationships/slide" Target="slides/slide54.xml"/><Relationship Id="rId83" Type="http://schemas.openxmlformats.org/officeDocument/2006/relationships/slide" Target="slides/slide75.xml"/><Relationship Id="rId179" Type="http://schemas.openxmlformats.org/officeDocument/2006/relationships/slide" Target="slides/slide171.xml"/><Relationship Id="rId190" Type="http://schemas.openxmlformats.org/officeDocument/2006/relationships/slide" Target="slides/slide182.xml"/><Relationship Id="rId204" Type="http://schemas.openxmlformats.org/officeDocument/2006/relationships/slide" Target="slides/slide196.xml"/><Relationship Id="rId225" Type="http://schemas.openxmlformats.org/officeDocument/2006/relationships/slide" Target="slides/slide217.xml"/><Relationship Id="rId246" Type="http://schemas.openxmlformats.org/officeDocument/2006/relationships/slide" Target="slides/slide238.xml"/><Relationship Id="rId106" Type="http://schemas.openxmlformats.org/officeDocument/2006/relationships/slide" Target="slides/slide98.xml"/><Relationship Id="rId127" Type="http://schemas.openxmlformats.org/officeDocument/2006/relationships/slide" Target="slides/slide119.xml"/><Relationship Id="rId10" Type="http://schemas.openxmlformats.org/officeDocument/2006/relationships/slide" Target="slides/slide2.xml"/><Relationship Id="rId31" Type="http://schemas.openxmlformats.org/officeDocument/2006/relationships/slide" Target="slides/slide23.xml"/><Relationship Id="rId52" Type="http://schemas.openxmlformats.org/officeDocument/2006/relationships/slide" Target="slides/slide44.xml"/><Relationship Id="rId73" Type="http://schemas.openxmlformats.org/officeDocument/2006/relationships/slide" Target="slides/slide65.xml"/><Relationship Id="rId94" Type="http://schemas.openxmlformats.org/officeDocument/2006/relationships/slide" Target="slides/slide86.xml"/><Relationship Id="rId148" Type="http://schemas.openxmlformats.org/officeDocument/2006/relationships/slide" Target="slides/slide140.xml"/><Relationship Id="rId169" Type="http://schemas.openxmlformats.org/officeDocument/2006/relationships/slide" Target="slides/slide161.xml"/><Relationship Id="rId4" Type="http://schemas.openxmlformats.org/officeDocument/2006/relationships/slideMaster" Target="slideMasters/slideMaster1.xml"/><Relationship Id="rId180" Type="http://schemas.openxmlformats.org/officeDocument/2006/relationships/slide" Target="slides/slide172.xml"/><Relationship Id="rId215" Type="http://schemas.openxmlformats.org/officeDocument/2006/relationships/slide" Target="slides/slide207.xml"/><Relationship Id="rId236" Type="http://schemas.openxmlformats.org/officeDocument/2006/relationships/slide" Target="slides/slide228.xml"/><Relationship Id="rId257" Type="http://schemas.openxmlformats.org/officeDocument/2006/relationships/tableStyles" Target="tableStyles.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Worksheet16.xlsx"/></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Worksheet17.xlsx"/></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Worksheet18.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1.xml"/><Relationship Id="rId1" Type="http://schemas.microsoft.com/office/2011/relationships/chartStyle" Target="style1.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2.xml"/><Relationship Id="rId1" Type="http://schemas.microsoft.com/office/2011/relationships/chartStyle" Target="style2.xml"/></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Worksheet21.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Worksheet22.xlsx"/></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Worksheet23.xlsx"/></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Worksheet24.xlsx"/></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Worksheet25.xlsx"/></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3.xml"/><Relationship Id="rId1" Type="http://schemas.microsoft.com/office/2011/relationships/chartStyle" Target="style3.xml"/></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Excel_Worksheet27.xlsx"/></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Excel_Worksheet28.xlsx"/></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Excel_Worksheet29.xlsx"/></Relationships>
</file>

<file path=ppt/charts/_rels/chart31.xml.rels><?xml version="1.0" encoding="UTF-8" standalone="yes"?>
<Relationships xmlns="http://schemas.openxmlformats.org/package/2006/relationships"><Relationship Id="rId1" Type="http://schemas.openxmlformats.org/officeDocument/2006/relationships/package" Target="../embeddings/Microsoft_Excel_Worksheet30.xlsx"/></Relationships>
</file>

<file path=ppt/charts/_rels/chart32.xml.rels><?xml version="1.0" encoding="UTF-8" standalone="yes"?>
<Relationships xmlns="http://schemas.openxmlformats.org/package/2006/relationships"><Relationship Id="rId1" Type="http://schemas.openxmlformats.org/officeDocument/2006/relationships/package" Target="../embeddings/Microsoft_Excel_Worksheet31.xlsx"/></Relationships>
</file>

<file path=ppt/charts/_rels/chart33.xml.rels><?xml version="1.0" encoding="UTF-8" standalone="yes"?>
<Relationships xmlns="http://schemas.openxmlformats.org/package/2006/relationships"><Relationship Id="rId1" Type="http://schemas.openxmlformats.org/officeDocument/2006/relationships/package" Target="../embeddings/Microsoft_Excel_Worksheet32.xlsx"/></Relationships>
</file>

<file path=ppt/charts/_rels/chart34.xml.rels><?xml version="1.0" encoding="UTF-8" standalone="yes"?>
<Relationships xmlns="http://schemas.openxmlformats.org/package/2006/relationships"><Relationship Id="rId1" Type="http://schemas.openxmlformats.org/officeDocument/2006/relationships/package" Target="../embeddings/Microsoft_Excel_Worksheet33.xlsx"/></Relationships>
</file>

<file path=ppt/charts/_rels/chart35.xml.rels><?xml version="1.0" encoding="UTF-8" standalone="yes"?>
<Relationships xmlns="http://schemas.openxmlformats.org/package/2006/relationships"><Relationship Id="rId1" Type="http://schemas.openxmlformats.org/officeDocument/2006/relationships/package" Target="../embeddings/Microsoft_Excel_Worksheet34.xlsx"/></Relationships>
</file>

<file path=ppt/charts/_rels/chart36.xml.rels><?xml version="1.0" encoding="UTF-8" standalone="yes"?>
<Relationships xmlns="http://schemas.openxmlformats.org/package/2006/relationships"><Relationship Id="rId1" Type="http://schemas.openxmlformats.org/officeDocument/2006/relationships/package" Target="../embeddings/Microsoft_Excel_Worksheet35.xlsx"/></Relationships>
</file>

<file path=ppt/charts/_rels/chart37.xml.rels><?xml version="1.0" encoding="UTF-8" standalone="yes"?>
<Relationships xmlns="http://schemas.openxmlformats.org/package/2006/relationships"><Relationship Id="rId1" Type="http://schemas.openxmlformats.org/officeDocument/2006/relationships/package" Target="../embeddings/Microsoft_Excel_Worksheet36.xlsx"/></Relationships>
</file>

<file path=ppt/charts/_rels/chart38.xml.rels><?xml version="1.0" encoding="UTF-8" standalone="yes"?>
<Relationships xmlns="http://schemas.openxmlformats.org/package/2006/relationships"><Relationship Id="rId1" Type="http://schemas.openxmlformats.org/officeDocument/2006/relationships/package" Target="../embeddings/Microsoft_Excel_Worksheet37.xlsx"/></Relationships>
</file>

<file path=ppt/charts/_rels/chart39.xml.rels><?xml version="1.0" encoding="UTF-8" standalone="yes"?>
<Relationships xmlns="http://schemas.openxmlformats.org/package/2006/relationships"><Relationship Id="rId1" Type="http://schemas.openxmlformats.org/officeDocument/2006/relationships/package" Target="../embeddings/Microsoft_Excel_Worksheet38.xlsx"/></Relationships>
</file>

<file path=ppt/charts/_rels/chart40.xml.rels><?xml version="1.0" encoding="UTF-8" standalone="yes"?>
<Relationships xmlns="http://schemas.openxmlformats.org/package/2006/relationships"><Relationship Id="rId1" Type="http://schemas.openxmlformats.org/officeDocument/2006/relationships/package" Target="../embeddings/Microsoft_Excel_Worksheet39.xlsx"/></Relationships>
</file>

<file path=ppt/charts/_rels/chart41.xml.rels><?xml version="1.0" encoding="UTF-8" standalone="yes"?>
<Relationships xmlns="http://schemas.openxmlformats.org/package/2006/relationships"><Relationship Id="rId1" Type="http://schemas.openxmlformats.org/officeDocument/2006/relationships/package" Target="../embeddings/Microsoft_Excel_Worksheet40.xlsx"/></Relationships>
</file>

<file path=ppt/charts/_rels/chart42.xml.rels><?xml version="1.0" encoding="UTF-8" standalone="yes"?>
<Relationships xmlns="http://schemas.openxmlformats.org/package/2006/relationships"><Relationship Id="rId1" Type="http://schemas.openxmlformats.org/officeDocument/2006/relationships/package" Target="../embeddings/Microsoft_Excel_Worksheet41.xlsx"/></Relationships>
</file>

<file path=ppt/charts/_rels/chart43.xml.rels><?xml version="1.0" encoding="UTF-8" standalone="yes"?>
<Relationships xmlns="http://schemas.openxmlformats.org/package/2006/relationships"><Relationship Id="rId1" Type="http://schemas.openxmlformats.org/officeDocument/2006/relationships/package" Target="../embeddings/Microsoft_Excel_Worksheet42.xlsx"/></Relationships>
</file>

<file path=ppt/charts/_rels/chart44.xml.rels><?xml version="1.0" encoding="UTF-8" standalone="yes"?>
<Relationships xmlns="http://schemas.openxmlformats.org/package/2006/relationships"><Relationship Id="rId1" Type="http://schemas.openxmlformats.org/officeDocument/2006/relationships/package" Target="../embeddings/Microsoft_Excel_Worksheet43.xlsx"/></Relationships>
</file>

<file path=ppt/charts/_rels/chart45.xml.rels><?xml version="1.0" encoding="UTF-8" standalone="yes"?>
<Relationships xmlns="http://schemas.openxmlformats.org/package/2006/relationships"><Relationship Id="rId1" Type="http://schemas.openxmlformats.org/officeDocument/2006/relationships/package" Target="../embeddings/Microsoft_Excel_Worksheet44.xlsx"/></Relationships>
</file>

<file path=ppt/charts/_rels/chart46.xml.rels><?xml version="1.0" encoding="UTF-8" standalone="yes"?>
<Relationships xmlns="http://schemas.openxmlformats.org/package/2006/relationships"><Relationship Id="rId1" Type="http://schemas.openxmlformats.org/officeDocument/2006/relationships/package" Target="../embeddings/Microsoft_Excel_Worksheet45.xlsx"/></Relationships>
</file>

<file path=ppt/charts/_rels/chart47.xml.rels><?xml version="1.0" encoding="UTF-8" standalone="yes"?>
<Relationships xmlns="http://schemas.openxmlformats.org/package/2006/relationships"><Relationship Id="rId1" Type="http://schemas.openxmlformats.org/officeDocument/2006/relationships/package" Target="../embeddings/Microsoft_Excel_Worksheet46.xlsx"/></Relationships>
</file>

<file path=ppt/charts/_rels/chart48.xml.rels><?xml version="1.0" encoding="UTF-8" standalone="yes"?>
<Relationships xmlns="http://schemas.openxmlformats.org/package/2006/relationships"><Relationship Id="rId1" Type="http://schemas.openxmlformats.org/officeDocument/2006/relationships/package" Target="../embeddings/Microsoft_Excel_Worksheet47.xlsx"/></Relationships>
</file>

<file path=ppt/charts/_rels/chart49.xml.rels><?xml version="1.0" encoding="UTF-8" standalone="yes"?>
<Relationships xmlns="http://schemas.openxmlformats.org/package/2006/relationships"><Relationship Id="rId1" Type="http://schemas.openxmlformats.org/officeDocument/2006/relationships/package" Target="../embeddings/Microsoft_Excel_Worksheet48.xlsx"/></Relationships>
</file>

<file path=ppt/charts/_rels/chart50.xml.rels><?xml version="1.0" encoding="UTF-8" standalone="yes"?>
<Relationships xmlns="http://schemas.openxmlformats.org/package/2006/relationships"><Relationship Id="rId1" Type="http://schemas.openxmlformats.org/officeDocument/2006/relationships/package" Target="../embeddings/Microsoft_Excel_Worksheet49.xlsx"/></Relationships>
</file>

<file path=ppt/charts/_rels/chart51.xml.rels><?xml version="1.0" encoding="UTF-8" standalone="yes"?>
<Relationships xmlns="http://schemas.openxmlformats.org/package/2006/relationships"><Relationship Id="rId1" Type="http://schemas.openxmlformats.org/officeDocument/2006/relationships/package" Target="../embeddings/Microsoft_Excel_Worksheet50.xlsx"/></Relationships>
</file>

<file path=ppt/charts/_rels/chart52.xml.rels><?xml version="1.0" encoding="UTF-8" standalone="yes"?>
<Relationships xmlns="http://schemas.openxmlformats.org/package/2006/relationships"><Relationship Id="rId1" Type="http://schemas.openxmlformats.org/officeDocument/2006/relationships/package" Target="../embeddings/Microsoft_Excel_Worksheet51.xlsx"/></Relationships>
</file>

<file path=ppt/charts/_rels/chart53.xml.rels><?xml version="1.0" encoding="UTF-8" standalone="yes"?>
<Relationships xmlns="http://schemas.openxmlformats.org/package/2006/relationships"><Relationship Id="rId1" Type="http://schemas.openxmlformats.org/officeDocument/2006/relationships/package" Target="../embeddings/Microsoft_Excel_Worksheet52.xlsx"/></Relationships>
</file>

<file path=ppt/charts/_rels/chart54.xml.rels><?xml version="1.0" encoding="UTF-8" standalone="yes"?>
<Relationships xmlns="http://schemas.openxmlformats.org/package/2006/relationships"><Relationship Id="rId1" Type="http://schemas.openxmlformats.org/officeDocument/2006/relationships/package" Target="../embeddings/Microsoft_Excel_Worksheet53.xlsx"/></Relationships>
</file>

<file path=ppt/charts/_rels/chart55.xml.rels><?xml version="1.0" encoding="UTF-8" standalone="yes"?>
<Relationships xmlns="http://schemas.openxmlformats.org/package/2006/relationships"><Relationship Id="rId1" Type="http://schemas.openxmlformats.org/officeDocument/2006/relationships/package" Target="../embeddings/Microsoft_Excel_Worksheet54.xlsx"/></Relationships>
</file>

<file path=ppt/charts/_rels/chart56.xml.rels><?xml version="1.0" encoding="UTF-8" standalone="yes"?>
<Relationships xmlns="http://schemas.openxmlformats.org/package/2006/relationships"><Relationship Id="rId1" Type="http://schemas.openxmlformats.org/officeDocument/2006/relationships/package" Target="../embeddings/Microsoft_Excel_Worksheet55.xlsx"/></Relationships>
</file>

<file path=ppt/charts/_rels/chart57.xml.rels><?xml version="1.0" encoding="UTF-8" standalone="yes"?>
<Relationships xmlns="http://schemas.openxmlformats.org/package/2006/relationships"><Relationship Id="rId1" Type="http://schemas.openxmlformats.org/officeDocument/2006/relationships/package" Target="../embeddings/Microsoft_Excel_Worksheet56.xlsx"/></Relationships>
</file>

<file path=ppt/charts/_rels/chart58.xml.rels><?xml version="1.0" encoding="UTF-8" standalone="yes"?>
<Relationships xmlns="http://schemas.openxmlformats.org/package/2006/relationships"><Relationship Id="rId1" Type="http://schemas.openxmlformats.org/officeDocument/2006/relationships/package" Target="../embeddings/Microsoft_Excel_Worksheet57.xlsx"/></Relationships>
</file>

<file path=ppt/charts/_rels/chart59.xml.rels><?xml version="1.0" encoding="UTF-8" standalone="yes"?>
<Relationships xmlns="http://schemas.openxmlformats.org/package/2006/relationships"><Relationship Id="rId1" Type="http://schemas.openxmlformats.org/officeDocument/2006/relationships/package" Target="../embeddings/Microsoft_Excel_Worksheet58.xlsx"/></Relationships>
</file>

<file path=ppt/charts/_rels/chart60.xml.rels><?xml version="1.0" encoding="UTF-8" standalone="yes"?>
<Relationships xmlns="http://schemas.openxmlformats.org/package/2006/relationships"><Relationship Id="rId1" Type="http://schemas.openxmlformats.org/officeDocument/2006/relationships/package" Target="../embeddings/Microsoft_Excel_Worksheet59.xlsx"/></Relationships>
</file>

<file path=ppt/charts/_rels/chart61.xml.rels><?xml version="1.0" encoding="UTF-8" standalone="yes"?>
<Relationships xmlns="http://schemas.openxmlformats.org/package/2006/relationships"><Relationship Id="rId1" Type="http://schemas.openxmlformats.org/officeDocument/2006/relationships/package" Target="../embeddings/Microsoft_Excel_Worksheet60.xlsx"/></Relationships>
</file>

<file path=ppt/charts/_rels/chart62.xml.rels><?xml version="1.0" encoding="UTF-8" standalone="yes"?>
<Relationships xmlns="http://schemas.openxmlformats.org/package/2006/relationships"><Relationship Id="rId1" Type="http://schemas.openxmlformats.org/officeDocument/2006/relationships/package" Target="../embeddings/Microsoft_Excel_Worksheet61.xlsx"/></Relationships>
</file>

<file path=ppt/charts/_rels/chart63.xml.rels><?xml version="1.0" encoding="UTF-8" standalone="yes"?>
<Relationships xmlns="http://schemas.openxmlformats.org/package/2006/relationships"><Relationship Id="rId1" Type="http://schemas.openxmlformats.org/officeDocument/2006/relationships/package" Target="../embeddings/Microsoft_Excel_Worksheet62.xlsx"/></Relationships>
</file>

<file path=ppt/charts/_rels/chart64.xml.rels><?xml version="1.0" encoding="UTF-8" standalone="yes"?>
<Relationships xmlns="http://schemas.openxmlformats.org/package/2006/relationships"><Relationship Id="rId1" Type="http://schemas.openxmlformats.org/officeDocument/2006/relationships/package" Target="../embeddings/Microsoft_Excel_Worksheet63.xlsx"/></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xml"/><Relationship Id="rId1" Type="http://schemas.microsoft.com/office/2011/relationships/chartStyle" Target="style4.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xml"/><Relationship Id="rId1" Type="http://schemas.microsoft.com/office/2011/relationships/chartStyle" Target="style5.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6.xml"/><Relationship Id="rId1" Type="http://schemas.microsoft.com/office/2011/relationships/chartStyle" Target="style6.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7.xml"/><Relationship Id="rId1" Type="http://schemas.microsoft.com/office/2011/relationships/chartStyle" Target="style7.xml"/></Relationships>
</file>

<file path=ppt/charts/_rels/chart69.xml.rels><?xml version="1.0" encoding="UTF-8" standalone="yes"?>
<Relationships xmlns="http://schemas.openxmlformats.org/package/2006/relationships"><Relationship Id="rId1" Type="http://schemas.openxmlformats.org/officeDocument/2006/relationships/package" Target="../embeddings/Microsoft_Excel_Worksheet68.xlsx"/></Relationships>
</file>

<file path=ppt/charts/_rels/chart70.xml.rels><?xml version="1.0" encoding="UTF-8" standalone="yes"?>
<Relationships xmlns="http://schemas.openxmlformats.org/package/2006/relationships"><Relationship Id="rId1" Type="http://schemas.openxmlformats.org/officeDocument/2006/relationships/package" Target="../embeddings/Microsoft_Excel_Worksheet69.xlsx"/></Relationships>
</file>

<file path=ppt/charts/_rels/chart71.xml.rels><?xml version="1.0" encoding="UTF-8" standalone="yes"?>
<Relationships xmlns="http://schemas.openxmlformats.org/package/2006/relationships"><Relationship Id="rId1" Type="http://schemas.openxmlformats.org/officeDocument/2006/relationships/package" Target="../embeddings/Microsoft_Excel_Worksheet70.xlsx"/></Relationships>
</file>

<file path=ppt/charts/_rels/chart72.xml.rels><?xml version="1.0" encoding="UTF-8" standalone="yes"?>
<Relationships xmlns="http://schemas.openxmlformats.org/package/2006/relationships"><Relationship Id="rId1" Type="http://schemas.openxmlformats.org/officeDocument/2006/relationships/package" Target="../embeddings/Microsoft_Excel_Worksheet71.xlsx"/></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8.xml"/><Relationship Id="rId1" Type="http://schemas.microsoft.com/office/2011/relationships/chartStyle" Target="style8.xml"/><Relationship Id="rId4" Type="http://schemas.openxmlformats.org/officeDocument/2006/relationships/chartUserShapes" Target="../drawings/drawing1.xml"/></Relationships>
</file>

<file path=ppt/charts/_rels/chart74.xml.rels><?xml version="1.0" encoding="UTF-8" standalone="yes"?>
<Relationships xmlns="http://schemas.openxmlformats.org/package/2006/relationships"><Relationship Id="rId1" Type="http://schemas.openxmlformats.org/officeDocument/2006/relationships/package" Target="../embeddings/Microsoft_Excel_Worksheet73.xlsx"/></Relationships>
</file>

<file path=ppt/charts/_rels/chart75.xml.rels><?xml version="1.0" encoding="UTF-8" standalone="yes"?>
<Relationships xmlns="http://schemas.openxmlformats.org/package/2006/relationships"><Relationship Id="rId1" Type="http://schemas.openxmlformats.org/officeDocument/2006/relationships/package" Target="../embeddings/Microsoft_Excel_Worksheet74.xlsx"/></Relationships>
</file>

<file path=ppt/charts/_rels/chart76.xml.rels><?xml version="1.0" encoding="UTF-8" standalone="yes"?>
<Relationships xmlns="http://schemas.openxmlformats.org/package/2006/relationships"><Relationship Id="rId1" Type="http://schemas.openxmlformats.org/officeDocument/2006/relationships/package" Target="../embeddings/Microsoft_Excel_Worksheet75.xlsx"/></Relationships>
</file>

<file path=ppt/charts/_rels/chart77.xml.rels><?xml version="1.0" encoding="UTF-8" standalone="yes"?>
<Relationships xmlns="http://schemas.openxmlformats.org/package/2006/relationships"><Relationship Id="rId1" Type="http://schemas.openxmlformats.org/officeDocument/2006/relationships/package" Target="../embeddings/Microsoft_Excel_Worksheet76.xlsx"/></Relationships>
</file>

<file path=ppt/charts/_rels/chart78.xml.rels><?xml version="1.0" encoding="UTF-8" standalone="yes"?>
<Relationships xmlns="http://schemas.openxmlformats.org/package/2006/relationships"><Relationship Id="rId1" Type="http://schemas.openxmlformats.org/officeDocument/2006/relationships/package" Target="../embeddings/Microsoft_Excel_Worksheet77.xlsx"/></Relationships>
</file>

<file path=ppt/charts/_rels/chart79.xml.rels><?xml version="1.0" encoding="UTF-8" standalone="yes"?>
<Relationships xmlns="http://schemas.openxmlformats.org/package/2006/relationships"><Relationship Id="rId1" Type="http://schemas.openxmlformats.org/officeDocument/2006/relationships/package" Target="../embeddings/Microsoft_Excel_Worksheet78.xlsx"/></Relationships>
</file>

<file path=ppt/charts/_rels/chart80.xml.rels><?xml version="1.0" encoding="UTF-8" standalone="yes"?>
<Relationships xmlns="http://schemas.openxmlformats.org/package/2006/relationships"><Relationship Id="rId3" Type="http://schemas.openxmlformats.org/officeDocument/2006/relationships/package" Target="../embeddings/Microsoft_Excel_Worksheet79.xlsx"/><Relationship Id="rId2" Type="http://schemas.microsoft.com/office/2011/relationships/chartColorStyle" Target="colors9.xml"/><Relationship Id="rId1" Type="http://schemas.microsoft.com/office/2011/relationships/chartStyle" Target="style9.xml"/></Relationships>
</file>

<file path=ppt/charts/_rels/chart81.xml.rels><?xml version="1.0" encoding="UTF-8" standalone="yes"?>
<Relationships xmlns="http://schemas.openxmlformats.org/package/2006/relationships"><Relationship Id="rId3" Type="http://schemas.openxmlformats.org/officeDocument/2006/relationships/package" Target="../embeddings/Microsoft_Excel_Worksheet80.xlsx"/><Relationship Id="rId2" Type="http://schemas.microsoft.com/office/2011/relationships/chartColorStyle" Target="colors10.xml"/><Relationship Id="rId1" Type="http://schemas.microsoft.com/office/2011/relationships/chartStyle" Target="style10.xml"/></Relationships>
</file>

<file path=ppt/charts/_rels/chart82.xml.rels><?xml version="1.0" encoding="UTF-8" standalone="yes"?>
<Relationships xmlns="http://schemas.openxmlformats.org/package/2006/relationships"><Relationship Id="rId3" Type="http://schemas.openxmlformats.org/officeDocument/2006/relationships/package" Target="../embeddings/Microsoft_Excel_Worksheet81.xlsx"/><Relationship Id="rId2" Type="http://schemas.microsoft.com/office/2011/relationships/chartColorStyle" Target="colors11.xml"/><Relationship Id="rId1" Type="http://schemas.microsoft.com/office/2011/relationships/chartStyle" Target="style11.xml"/></Relationships>
</file>

<file path=ppt/charts/_rels/chart83.xml.rels><?xml version="1.0" encoding="UTF-8" standalone="yes"?>
<Relationships xmlns="http://schemas.openxmlformats.org/package/2006/relationships"><Relationship Id="rId3" Type="http://schemas.openxmlformats.org/officeDocument/2006/relationships/package" Target="../embeddings/Microsoft_Excel_Worksheet82.xlsx"/><Relationship Id="rId2" Type="http://schemas.microsoft.com/office/2011/relationships/chartColorStyle" Target="colors12.xml"/><Relationship Id="rId1" Type="http://schemas.microsoft.com/office/2011/relationships/chartStyle" Target="style12.xml"/></Relationships>
</file>

<file path=ppt/charts/_rels/chart84.xml.rels><?xml version="1.0" encoding="UTF-8" standalone="yes"?>
<Relationships xmlns="http://schemas.openxmlformats.org/package/2006/relationships"><Relationship Id="rId3" Type="http://schemas.openxmlformats.org/officeDocument/2006/relationships/package" Target="../embeddings/Microsoft_Excel_Worksheet83.xlsx"/><Relationship Id="rId2" Type="http://schemas.microsoft.com/office/2011/relationships/chartColorStyle" Target="colors13.xml"/><Relationship Id="rId1" Type="http://schemas.microsoft.com/office/2011/relationships/chartStyle" Target="style13.xml"/></Relationships>
</file>

<file path=ppt/charts/_rels/chart85.xml.rels><?xml version="1.0" encoding="UTF-8" standalone="yes"?>
<Relationships xmlns="http://schemas.openxmlformats.org/package/2006/relationships"><Relationship Id="rId1" Type="http://schemas.openxmlformats.org/officeDocument/2006/relationships/package" Target="../embeddings/Microsoft_Excel_Worksheet84.xlsx"/></Relationships>
</file>

<file path=ppt/charts/_rels/chart86.xml.rels><?xml version="1.0" encoding="UTF-8" standalone="yes"?>
<Relationships xmlns="http://schemas.openxmlformats.org/package/2006/relationships"><Relationship Id="rId3" Type="http://schemas.openxmlformats.org/officeDocument/2006/relationships/package" Target="../embeddings/Microsoft_Excel_Worksheet85.xlsx"/><Relationship Id="rId2" Type="http://schemas.microsoft.com/office/2011/relationships/chartColorStyle" Target="colors14.xml"/><Relationship Id="rId1" Type="http://schemas.microsoft.com/office/2011/relationships/chartStyle" Target="style14.xml"/></Relationships>
</file>

<file path=ppt/charts/_rels/chart87.xml.rels><?xml version="1.0" encoding="UTF-8" standalone="yes"?>
<Relationships xmlns="http://schemas.openxmlformats.org/package/2006/relationships"><Relationship Id="rId1" Type="http://schemas.openxmlformats.org/officeDocument/2006/relationships/package" Target="../embeddings/Microsoft_Excel_Worksheet86.xlsx"/></Relationships>
</file>

<file path=ppt/charts/_rels/chart88.xml.rels><?xml version="1.0" encoding="UTF-8" standalone="yes"?>
<Relationships xmlns="http://schemas.openxmlformats.org/package/2006/relationships"><Relationship Id="rId1" Type="http://schemas.openxmlformats.org/officeDocument/2006/relationships/package" Target="../embeddings/Microsoft_Excel_Worksheet87.xlsx"/></Relationships>
</file>

<file path=ppt/charts/_rels/chart89.xml.rels><?xml version="1.0" encoding="UTF-8" standalone="yes"?>
<Relationships xmlns="http://schemas.openxmlformats.org/package/2006/relationships"><Relationship Id="rId1" Type="http://schemas.openxmlformats.org/officeDocument/2006/relationships/package" Target="../embeddings/Microsoft_Excel_Worksheet88.xlsx"/></Relationships>
</file>

<file path=ppt/charts/_rels/chart90.xml.rels><?xml version="1.0" encoding="UTF-8" standalone="yes"?>
<Relationships xmlns="http://schemas.openxmlformats.org/package/2006/relationships"><Relationship Id="rId1" Type="http://schemas.openxmlformats.org/officeDocument/2006/relationships/package" Target="../embeddings/Microsoft_Excel_Worksheet89.xlsx"/></Relationships>
</file>

<file path=ppt/charts/_rels/chart91.xml.rels><?xml version="1.0" encoding="UTF-8" standalone="yes"?>
<Relationships xmlns="http://schemas.openxmlformats.org/package/2006/relationships"><Relationship Id="rId1" Type="http://schemas.openxmlformats.org/officeDocument/2006/relationships/package" Target="../embeddings/Microsoft_Excel_Worksheet90.xlsx"/></Relationships>
</file>

<file path=ppt/charts/_rels/chart92.xml.rels><?xml version="1.0" encoding="UTF-8" standalone="yes"?>
<Relationships xmlns="http://schemas.openxmlformats.org/package/2006/relationships"><Relationship Id="rId1" Type="http://schemas.openxmlformats.org/officeDocument/2006/relationships/package" Target="../embeddings/Microsoft_Excel_Worksheet91.xlsx"/></Relationships>
</file>

<file path=ppt/charts/_rels/chart93.xml.rels><?xml version="1.0" encoding="UTF-8" standalone="yes"?>
<Relationships xmlns="http://schemas.openxmlformats.org/package/2006/relationships"><Relationship Id="rId1" Type="http://schemas.openxmlformats.org/officeDocument/2006/relationships/package" Target="../embeddings/Microsoft_Excel_Worksheet92.xlsx"/></Relationships>
</file>

<file path=ppt/charts/_rels/chart94.xml.rels><?xml version="1.0" encoding="UTF-8" standalone="yes"?>
<Relationships xmlns="http://schemas.openxmlformats.org/package/2006/relationships"><Relationship Id="rId1" Type="http://schemas.openxmlformats.org/officeDocument/2006/relationships/package" Target="../embeddings/Microsoft_Excel_Worksheet93.xlsx"/></Relationships>
</file>

<file path=ppt/charts/_rels/chart95.xml.rels><?xml version="1.0" encoding="UTF-8" standalone="yes"?>
<Relationships xmlns="http://schemas.openxmlformats.org/package/2006/relationships"><Relationship Id="rId1" Type="http://schemas.openxmlformats.org/officeDocument/2006/relationships/package" Target="../embeddings/Microsoft_Excel_Worksheet94.xlsx"/></Relationships>
</file>

<file path=ppt/charts/_rels/chart96.xml.rels><?xml version="1.0" encoding="UTF-8" standalone="yes"?>
<Relationships xmlns="http://schemas.openxmlformats.org/package/2006/relationships"><Relationship Id="rId1" Type="http://schemas.openxmlformats.org/officeDocument/2006/relationships/package" Target="../embeddings/Microsoft_Excel_Worksheet95.xlsx"/></Relationships>
</file>

<file path=ppt/charts/_rels/chart97.xml.rels><?xml version="1.0" encoding="UTF-8" standalone="yes"?>
<Relationships xmlns="http://schemas.openxmlformats.org/package/2006/relationships"><Relationship Id="rId3" Type="http://schemas.openxmlformats.org/officeDocument/2006/relationships/package" Target="../embeddings/Microsoft_Excel_Worksheet96.xlsx"/><Relationship Id="rId2" Type="http://schemas.microsoft.com/office/2011/relationships/chartColorStyle" Target="colors15.xml"/><Relationship Id="rId1" Type="http://schemas.microsoft.com/office/2011/relationships/chartStyle" Target="style15.xml"/></Relationships>
</file>

<file path=ppt/charts/_rels/chart98.xml.rels><?xml version="1.0" encoding="UTF-8" standalone="yes"?>
<Relationships xmlns="http://schemas.openxmlformats.org/package/2006/relationships"><Relationship Id="rId3" Type="http://schemas.openxmlformats.org/officeDocument/2006/relationships/package" Target="../embeddings/Microsoft_Excel_Worksheet97.xlsx"/><Relationship Id="rId2" Type="http://schemas.microsoft.com/office/2011/relationships/chartColorStyle" Target="colors16.xml"/><Relationship Id="rId1" Type="http://schemas.microsoft.com/office/2011/relationships/chartStyle" Target="style16.xml"/></Relationships>
</file>

<file path=ppt/charts/_rels/chart99.xml.rels><?xml version="1.0" encoding="UTF-8" standalone="yes"?>
<Relationships xmlns="http://schemas.openxmlformats.org/package/2006/relationships"><Relationship Id="rId1" Type="http://schemas.openxmlformats.org/officeDocument/2006/relationships/package" Target="../embeddings/Microsoft_Excel_Worksheet98.xlsx"/></Relationships>
</file>

<file path=ppt/charts/_rels/chart100.xml.rels><?xml version="1.0" encoding="UTF-8" standalone="yes"?>
<Relationships xmlns="http://schemas.openxmlformats.org/package/2006/relationships"><Relationship Id="rId1" Type="http://schemas.openxmlformats.org/officeDocument/2006/relationships/package" Target="../embeddings/Microsoft_Excel_Worksheet99.xlsx"/></Relationships>
</file>

<file path=ppt/charts/_rels/chart101.xml.rels><?xml version="1.0" encoding="UTF-8" standalone="yes"?>
<Relationships xmlns="http://schemas.openxmlformats.org/package/2006/relationships"><Relationship Id="rId1" Type="http://schemas.openxmlformats.org/officeDocument/2006/relationships/package" Target="../embeddings/Microsoft_Excel_Worksheet100.xlsx"/></Relationships>
</file>

<file path=ppt/charts/_rels/chart102.xml.rels><?xml version="1.0" encoding="UTF-8" standalone="yes"?>
<Relationships xmlns="http://schemas.openxmlformats.org/package/2006/relationships"><Relationship Id="rId1" Type="http://schemas.openxmlformats.org/officeDocument/2006/relationships/package" Target="../embeddings/Microsoft_Excel_Worksheet101.xlsx"/></Relationships>
</file>

<file path=ppt/charts/_rels/chart103.xml.rels><?xml version="1.0" encoding="UTF-8" standalone="yes"?>
<Relationships xmlns="http://schemas.openxmlformats.org/package/2006/relationships"><Relationship Id="rId1" Type="http://schemas.openxmlformats.org/officeDocument/2006/relationships/package" Target="../embeddings/Microsoft_Excel_Worksheet102.xlsx"/></Relationships>
</file>

<file path=ppt/charts/_rels/chart104.xml.rels><?xml version="1.0" encoding="UTF-8" standalone="yes"?>
<Relationships xmlns="http://schemas.openxmlformats.org/package/2006/relationships"><Relationship Id="rId1" Type="http://schemas.openxmlformats.org/officeDocument/2006/relationships/package" Target="../embeddings/Microsoft_Excel_Worksheet103.xlsx"/></Relationships>
</file>

<file path=ppt/charts/_rels/chart105.xml.rels><?xml version="1.0" encoding="UTF-8" standalone="yes"?>
<Relationships xmlns="http://schemas.openxmlformats.org/package/2006/relationships"><Relationship Id="rId1" Type="http://schemas.openxmlformats.org/officeDocument/2006/relationships/package" Target="../embeddings/Microsoft_Excel_Worksheet104.xlsx"/></Relationships>
</file>

<file path=ppt/charts/_rels/chart106.xml.rels><?xml version="1.0" encoding="UTF-8" standalone="yes"?>
<Relationships xmlns="http://schemas.openxmlformats.org/package/2006/relationships"><Relationship Id="rId1" Type="http://schemas.openxmlformats.org/officeDocument/2006/relationships/package" Target="../embeddings/Microsoft_Excel_Worksheet105.xlsx"/></Relationships>
</file>

<file path=ppt/charts/_rels/chart107.xml.rels><?xml version="1.0" encoding="UTF-8" standalone="yes"?>
<Relationships xmlns="http://schemas.openxmlformats.org/package/2006/relationships"><Relationship Id="rId1" Type="http://schemas.openxmlformats.org/officeDocument/2006/relationships/package" Target="../embeddings/Microsoft_Excel_Worksheet106.xlsx"/></Relationships>
</file>

<file path=ppt/charts/_rels/chart108.xml.rels><?xml version="1.0" encoding="UTF-8" standalone="yes"?>
<Relationships xmlns="http://schemas.openxmlformats.org/package/2006/relationships"><Relationship Id="rId1" Type="http://schemas.openxmlformats.org/officeDocument/2006/relationships/package" Target="../embeddings/Microsoft_Excel_Worksheet107.xlsx"/></Relationships>
</file>

<file path=ppt/charts/_rels/chart109.xml.rels><?xml version="1.0" encoding="UTF-8" standalone="yes"?>
<Relationships xmlns="http://schemas.openxmlformats.org/package/2006/relationships"><Relationship Id="rId1" Type="http://schemas.openxmlformats.org/officeDocument/2006/relationships/package" Target="../embeddings/Microsoft_Excel_Worksheet108.xlsx"/></Relationships>
</file>

<file path=ppt/charts/_rels/chart110.xml.rels><?xml version="1.0" encoding="UTF-8" standalone="yes"?>
<Relationships xmlns="http://schemas.openxmlformats.org/package/2006/relationships"><Relationship Id="rId1" Type="http://schemas.openxmlformats.org/officeDocument/2006/relationships/package" Target="../embeddings/Microsoft_Excel_Worksheet109.xlsx"/></Relationships>
</file>

<file path=ppt/charts/_rels/chart111.xml.rels><?xml version="1.0" encoding="UTF-8" standalone="yes"?>
<Relationships xmlns="http://schemas.openxmlformats.org/package/2006/relationships"><Relationship Id="rId1" Type="http://schemas.openxmlformats.org/officeDocument/2006/relationships/package" Target="../embeddings/Microsoft_Excel_Worksheet110.xlsx"/></Relationships>
</file>

<file path=ppt/charts/_rels/chart112.xml.rels><?xml version="1.0" encoding="UTF-8" standalone="yes"?>
<Relationships xmlns="http://schemas.openxmlformats.org/package/2006/relationships"><Relationship Id="rId1" Type="http://schemas.openxmlformats.org/officeDocument/2006/relationships/package" Target="../embeddings/Microsoft_Excel_Worksheet111.xlsx"/></Relationships>
</file>

<file path=ppt/charts/_rels/chart113.xml.rels><?xml version="1.0" encoding="UTF-8" standalone="yes"?>
<Relationships xmlns="http://schemas.openxmlformats.org/package/2006/relationships"><Relationship Id="rId1" Type="http://schemas.openxmlformats.org/officeDocument/2006/relationships/package" Target="../embeddings/Microsoft_Excel_Worksheet112.xlsx"/></Relationships>
</file>

<file path=ppt/charts/_rels/chart114.xml.rels><?xml version="1.0" encoding="UTF-8" standalone="yes"?>
<Relationships xmlns="http://schemas.openxmlformats.org/package/2006/relationships"><Relationship Id="rId1" Type="http://schemas.openxmlformats.org/officeDocument/2006/relationships/package" Target="../embeddings/Microsoft_Excel_Worksheet113.xlsx"/></Relationships>
</file>

<file path=ppt/charts/_rels/chart115.xml.rels><?xml version="1.0" encoding="UTF-8" standalone="yes"?>
<Relationships xmlns="http://schemas.openxmlformats.org/package/2006/relationships"><Relationship Id="rId1" Type="http://schemas.openxmlformats.org/officeDocument/2006/relationships/package" Target="../embeddings/Microsoft_Excel_Worksheet114.xlsx"/></Relationships>
</file>

<file path=ppt/charts/_rels/chart116.xml.rels><?xml version="1.0" encoding="UTF-8" standalone="yes"?>
<Relationships xmlns="http://schemas.openxmlformats.org/package/2006/relationships"><Relationship Id="rId1" Type="http://schemas.openxmlformats.org/officeDocument/2006/relationships/package" Target="../embeddings/Microsoft_Excel_Worksheet115.xlsx"/></Relationships>
</file>

<file path=ppt/charts/_rels/chart117.xml.rels><?xml version="1.0" encoding="UTF-8" standalone="yes"?>
<Relationships xmlns="http://schemas.openxmlformats.org/package/2006/relationships"><Relationship Id="rId1" Type="http://schemas.openxmlformats.org/officeDocument/2006/relationships/package" Target="../embeddings/Microsoft_Excel_Worksheet116.xlsx"/></Relationships>
</file>

<file path=ppt/charts/_rels/chart118.xml.rels><?xml version="1.0" encoding="UTF-8" standalone="yes"?>
<Relationships xmlns="http://schemas.openxmlformats.org/package/2006/relationships"><Relationship Id="rId1" Type="http://schemas.openxmlformats.org/officeDocument/2006/relationships/package" Target="../embeddings/Microsoft_Excel_Worksheet117.xlsx"/></Relationships>
</file>

<file path=ppt/charts/_rels/chart119.xml.rels><?xml version="1.0" encoding="UTF-8" standalone="yes"?>
<Relationships xmlns="http://schemas.openxmlformats.org/package/2006/relationships"><Relationship Id="rId1" Type="http://schemas.openxmlformats.org/officeDocument/2006/relationships/package" Target="../embeddings/Microsoft_Excel_Worksheet118.xlsx"/></Relationships>
</file>

<file path=ppt/charts/_rels/chart120.xml.rels><?xml version="1.0" encoding="UTF-8" standalone="yes"?>
<Relationships xmlns="http://schemas.openxmlformats.org/package/2006/relationships"><Relationship Id="rId1" Type="http://schemas.openxmlformats.org/officeDocument/2006/relationships/package" Target="../embeddings/Microsoft_Excel_Worksheet119.xlsx"/></Relationships>
</file>

<file path=ppt/charts/_rels/chart121.xml.rels><?xml version="1.0" encoding="UTF-8" standalone="yes"?>
<Relationships xmlns="http://schemas.openxmlformats.org/package/2006/relationships"><Relationship Id="rId1" Type="http://schemas.openxmlformats.org/officeDocument/2006/relationships/package" Target="../embeddings/Microsoft_Excel_Worksheet120.xlsx"/></Relationships>
</file>

<file path=ppt/charts/_rels/chart122.xml.rels><?xml version="1.0" encoding="UTF-8" standalone="yes"?>
<Relationships xmlns="http://schemas.openxmlformats.org/package/2006/relationships"><Relationship Id="rId3" Type="http://schemas.openxmlformats.org/officeDocument/2006/relationships/package" Target="../embeddings/Microsoft_Excel_Worksheet121.xlsx"/><Relationship Id="rId2" Type="http://schemas.microsoft.com/office/2011/relationships/chartColorStyle" Target="colors17.xml"/><Relationship Id="rId1" Type="http://schemas.microsoft.com/office/2011/relationships/chartStyle" Target="style17.xml"/></Relationships>
</file>

<file path=ppt/charts/_rels/chart123.xml.rels><?xml version="1.0" encoding="UTF-8" standalone="yes"?>
<Relationships xmlns="http://schemas.openxmlformats.org/package/2006/relationships"><Relationship Id="rId3" Type="http://schemas.openxmlformats.org/officeDocument/2006/relationships/package" Target="../embeddings/Microsoft_Excel_Worksheet122.xlsx"/><Relationship Id="rId2" Type="http://schemas.microsoft.com/office/2011/relationships/chartColorStyle" Target="colors18.xml"/><Relationship Id="rId1" Type="http://schemas.microsoft.com/office/2011/relationships/chartStyle" Target="style18.xml"/></Relationships>
</file>

<file path=ppt/charts/_rels/chart124.xml.rels><?xml version="1.0" encoding="UTF-8" standalone="yes"?>
<Relationships xmlns="http://schemas.openxmlformats.org/package/2006/relationships"><Relationship Id="rId1" Type="http://schemas.openxmlformats.org/officeDocument/2006/relationships/package" Target="../embeddings/Microsoft_Excel_Worksheet123.xlsx"/></Relationships>
</file>

<file path=ppt/charts/_rels/chart125.xml.rels><?xml version="1.0" encoding="UTF-8" standalone="yes"?>
<Relationships xmlns="http://schemas.openxmlformats.org/package/2006/relationships"><Relationship Id="rId1" Type="http://schemas.openxmlformats.org/officeDocument/2006/relationships/package" Target="../embeddings/Microsoft_Excel_Worksheet124.xlsx"/></Relationships>
</file>

<file path=ppt/charts/_rels/chart126.xml.rels><?xml version="1.0" encoding="UTF-8" standalone="yes"?>
<Relationships xmlns="http://schemas.openxmlformats.org/package/2006/relationships"><Relationship Id="rId1" Type="http://schemas.openxmlformats.org/officeDocument/2006/relationships/package" Target="../embeddings/Microsoft_Excel_Worksheet125.xlsx"/></Relationships>
</file>

<file path=ppt/charts/_rels/chart127.xml.rels><?xml version="1.0" encoding="UTF-8" standalone="yes"?>
<Relationships xmlns="http://schemas.openxmlformats.org/package/2006/relationships"><Relationship Id="rId1" Type="http://schemas.openxmlformats.org/officeDocument/2006/relationships/package" Target="../embeddings/Microsoft_Excel_Worksheet126.xlsx"/></Relationships>
</file>

<file path=ppt/charts/_rels/chart128.xml.rels><?xml version="1.0" encoding="UTF-8" standalone="yes"?>
<Relationships xmlns="http://schemas.openxmlformats.org/package/2006/relationships"><Relationship Id="rId1" Type="http://schemas.openxmlformats.org/officeDocument/2006/relationships/package" Target="../embeddings/Microsoft_Excel_Worksheet127.xlsx"/></Relationships>
</file>

<file path=ppt/charts/_rels/chart129.xml.rels><?xml version="1.0" encoding="UTF-8" standalone="yes"?>
<Relationships xmlns="http://schemas.openxmlformats.org/package/2006/relationships"><Relationship Id="rId1" Type="http://schemas.openxmlformats.org/officeDocument/2006/relationships/package" Target="../embeddings/Microsoft_Excel_Worksheet128.xlsx"/></Relationships>
</file>

<file path=ppt/charts/_rels/chart130.xml.rels><?xml version="1.0" encoding="UTF-8" standalone="yes"?>
<Relationships xmlns="http://schemas.openxmlformats.org/package/2006/relationships"><Relationship Id="rId3" Type="http://schemas.openxmlformats.org/officeDocument/2006/relationships/package" Target="../embeddings/Microsoft_Excel_Worksheet129.xlsx"/><Relationship Id="rId2" Type="http://schemas.microsoft.com/office/2011/relationships/chartColorStyle" Target="colors19.xml"/><Relationship Id="rId1" Type="http://schemas.microsoft.com/office/2011/relationships/chartStyle" Target="style19.xml"/></Relationships>
</file>

<file path=ppt/charts/_rels/chart131.xml.rels><?xml version="1.0" encoding="UTF-8" standalone="yes"?>
<Relationships xmlns="http://schemas.openxmlformats.org/package/2006/relationships"><Relationship Id="rId1" Type="http://schemas.openxmlformats.org/officeDocument/2006/relationships/package" Target="../embeddings/Microsoft_Excel_Worksheet130.xlsx"/></Relationships>
</file>

<file path=ppt/charts/_rels/chart132.xml.rels><?xml version="1.0" encoding="UTF-8" standalone="yes"?>
<Relationships xmlns="http://schemas.openxmlformats.org/package/2006/relationships"><Relationship Id="rId1" Type="http://schemas.openxmlformats.org/officeDocument/2006/relationships/package" Target="../embeddings/Microsoft_Excel_Worksheet131.xlsx"/></Relationships>
</file>

<file path=ppt/charts/_rels/chart133.xml.rels><?xml version="1.0" encoding="UTF-8" standalone="yes"?>
<Relationships xmlns="http://schemas.openxmlformats.org/package/2006/relationships"><Relationship Id="rId1" Type="http://schemas.openxmlformats.org/officeDocument/2006/relationships/package" Target="../embeddings/Microsoft_Excel_Worksheet132.xlsx"/></Relationships>
</file>

<file path=ppt/charts/_rels/chart134.xml.rels><?xml version="1.0" encoding="UTF-8" standalone="yes"?>
<Relationships xmlns="http://schemas.openxmlformats.org/package/2006/relationships"><Relationship Id="rId1" Type="http://schemas.openxmlformats.org/officeDocument/2006/relationships/package" Target="../embeddings/Microsoft_Excel_Worksheet133.xlsx"/></Relationships>
</file>

<file path=ppt/charts/_rels/chart135.xml.rels><?xml version="1.0" encoding="UTF-8" standalone="yes"?>
<Relationships xmlns="http://schemas.openxmlformats.org/package/2006/relationships"><Relationship Id="rId1" Type="http://schemas.openxmlformats.org/officeDocument/2006/relationships/package" Target="../embeddings/Microsoft_Excel_Worksheet134.xlsx"/></Relationships>
</file>

<file path=ppt/charts/_rels/chart136.xml.rels><?xml version="1.0" encoding="UTF-8" standalone="yes"?>
<Relationships xmlns="http://schemas.openxmlformats.org/package/2006/relationships"><Relationship Id="rId1" Type="http://schemas.openxmlformats.org/officeDocument/2006/relationships/package" Target="../embeddings/Microsoft_Excel_Worksheet135.xlsx"/></Relationships>
</file>

<file path=ppt/charts/_rels/chart137.xml.rels><?xml version="1.0" encoding="UTF-8" standalone="yes"?>
<Relationships xmlns="http://schemas.openxmlformats.org/package/2006/relationships"><Relationship Id="rId1" Type="http://schemas.openxmlformats.org/officeDocument/2006/relationships/package" Target="../embeddings/Microsoft_Excel_Worksheet136.xlsx"/></Relationships>
</file>

<file path=ppt/charts/_rels/chart138.xml.rels><?xml version="1.0" encoding="UTF-8" standalone="yes"?>
<Relationships xmlns="http://schemas.openxmlformats.org/package/2006/relationships"><Relationship Id="rId1" Type="http://schemas.openxmlformats.org/officeDocument/2006/relationships/package" Target="../embeddings/Microsoft_Excel_Worksheet137.xlsx"/></Relationships>
</file>

<file path=ppt/charts/_rels/chart139.xml.rels><?xml version="1.0" encoding="UTF-8" standalone="yes"?>
<Relationships xmlns="http://schemas.openxmlformats.org/package/2006/relationships"><Relationship Id="rId1" Type="http://schemas.openxmlformats.org/officeDocument/2006/relationships/package" Target="../embeddings/Microsoft_Excel_Worksheet138.xlsx"/></Relationships>
</file>

<file path=ppt/charts/_rels/chart140.xml.rels><?xml version="1.0" encoding="UTF-8" standalone="yes"?>
<Relationships xmlns="http://schemas.openxmlformats.org/package/2006/relationships"><Relationship Id="rId1" Type="http://schemas.openxmlformats.org/officeDocument/2006/relationships/package" Target="../embeddings/Microsoft_Excel_Worksheet139.xlsx"/></Relationships>
</file>

<file path=ppt/charts/_rels/chart141.xml.rels><?xml version="1.0" encoding="UTF-8" standalone="yes"?>
<Relationships xmlns="http://schemas.openxmlformats.org/package/2006/relationships"><Relationship Id="rId1" Type="http://schemas.openxmlformats.org/officeDocument/2006/relationships/package" Target="../embeddings/Microsoft_Excel_Worksheet140.xlsx"/></Relationships>
</file>

<file path=ppt/charts/_rels/chart142.xml.rels><?xml version="1.0" encoding="UTF-8" standalone="yes"?>
<Relationships xmlns="http://schemas.openxmlformats.org/package/2006/relationships"><Relationship Id="rId1" Type="http://schemas.openxmlformats.org/officeDocument/2006/relationships/package" Target="../embeddings/Microsoft_Excel_Worksheet141.xlsx"/></Relationships>
</file>

<file path=ppt/charts/_rels/chart143.xml.rels><?xml version="1.0" encoding="UTF-8" standalone="yes"?>
<Relationships xmlns="http://schemas.openxmlformats.org/package/2006/relationships"><Relationship Id="rId1" Type="http://schemas.openxmlformats.org/officeDocument/2006/relationships/package" Target="../embeddings/Microsoft_Excel_Worksheet142.xlsx"/></Relationships>
</file>

<file path=ppt/charts/_rels/chart144.xml.rels><?xml version="1.0" encoding="UTF-8" standalone="yes"?>
<Relationships xmlns="http://schemas.openxmlformats.org/package/2006/relationships"><Relationship Id="rId1" Type="http://schemas.openxmlformats.org/officeDocument/2006/relationships/package" Target="../embeddings/Microsoft_Excel_Worksheet143.xlsx"/></Relationships>
</file>

<file path=ppt/charts/_rels/chart145.xml.rels><?xml version="1.0" encoding="UTF-8" standalone="yes"?>
<Relationships xmlns="http://schemas.openxmlformats.org/package/2006/relationships"><Relationship Id="rId1" Type="http://schemas.openxmlformats.org/officeDocument/2006/relationships/package" Target="../embeddings/Microsoft_Excel_Worksheet144.xlsx"/></Relationships>
</file>

<file path=ppt/charts/_rels/chart146.xml.rels><?xml version="1.0" encoding="UTF-8" standalone="yes"?>
<Relationships xmlns="http://schemas.openxmlformats.org/package/2006/relationships"><Relationship Id="rId1" Type="http://schemas.openxmlformats.org/officeDocument/2006/relationships/package" Target="../embeddings/Microsoft_Excel_Worksheet145.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7296587926509186E-2"/>
          <c:y val="6.0046189376443418E-2"/>
          <c:w val="0.94540682414698163"/>
          <c:h val="0.87990762124711319"/>
        </c:manualLayout>
      </c:layout>
      <c:lineChart>
        <c:grouping val="standard"/>
        <c:varyColors val="0"/>
        <c:ser>
          <c:idx val="0"/>
          <c:order val="0"/>
          <c:spPr>
            <a:ln w="28575" algn="ctr">
              <a:solidFill>
                <a:srgbClr val="86BC25"/>
              </a:solidFill>
              <a:prstDash val="solid"/>
            </a:ln>
          </c:spPr>
          <c:marker>
            <c:symbol val="none"/>
          </c:marker>
          <c:dPt>
            <c:idx val="0"/>
            <c:marker>
              <c:symbol val="circle"/>
              <c:size val="3"/>
              <c:spPr>
                <a:solidFill>
                  <a:srgbClr val="86BC25"/>
                </a:solidFill>
                <a:ln w="9525" algn="ctr">
                  <a:solidFill>
                    <a:srgbClr val="86BC25"/>
                  </a:solidFill>
                  <a:prstDash val="solid"/>
                </a:ln>
              </c:spPr>
            </c:marker>
            <c:bubble3D val="0"/>
            <c:extLst>
              <c:ext xmlns:c16="http://schemas.microsoft.com/office/drawing/2014/chart" uri="{C3380CC4-5D6E-409C-BE32-E72D297353CC}">
                <c16:uniqueId val="{00000000-A43B-41F2-BD6B-786B33A3D471}"/>
              </c:ext>
            </c:extLst>
          </c:dPt>
          <c:dPt>
            <c:idx val="1"/>
            <c:marker>
              <c:symbol val="circle"/>
              <c:size val="3"/>
              <c:spPr>
                <a:solidFill>
                  <a:srgbClr val="86BC25"/>
                </a:solidFill>
                <a:ln w="9525" algn="ctr">
                  <a:solidFill>
                    <a:srgbClr val="86BC25"/>
                  </a:solidFill>
                  <a:prstDash val="solid"/>
                </a:ln>
              </c:spPr>
            </c:marker>
            <c:bubble3D val="0"/>
            <c:extLst>
              <c:ext xmlns:c16="http://schemas.microsoft.com/office/drawing/2014/chart" uri="{C3380CC4-5D6E-409C-BE32-E72D297353CC}">
                <c16:uniqueId val="{00000001-A43B-41F2-BD6B-786B33A3D471}"/>
              </c:ext>
            </c:extLst>
          </c:dPt>
          <c:dPt>
            <c:idx val="2"/>
            <c:marker>
              <c:symbol val="circle"/>
              <c:size val="3"/>
              <c:spPr>
                <a:solidFill>
                  <a:srgbClr val="86BC25"/>
                </a:solidFill>
                <a:ln w="9525" algn="ctr">
                  <a:solidFill>
                    <a:srgbClr val="86BC25"/>
                  </a:solidFill>
                  <a:prstDash val="solid"/>
                </a:ln>
              </c:spPr>
            </c:marker>
            <c:bubble3D val="0"/>
            <c:extLst>
              <c:ext xmlns:c16="http://schemas.microsoft.com/office/drawing/2014/chart" uri="{C3380CC4-5D6E-409C-BE32-E72D297353CC}">
                <c16:uniqueId val="{00000002-A43B-41F2-BD6B-786B33A3D471}"/>
              </c:ext>
            </c:extLst>
          </c:dPt>
          <c:dPt>
            <c:idx val="3"/>
            <c:marker>
              <c:symbol val="circle"/>
              <c:size val="3"/>
              <c:spPr>
                <a:solidFill>
                  <a:srgbClr val="86BC25"/>
                </a:solidFill>
                <a:ln w="9525" algn="ctr">
                  <a:solidFill>
                    <a:srgbClr val="86BC25"/>
                  </a:solidFill>
                  <a:prstDash val="solid"/>
                </a:ln>
              </c:spPr>
            </c:marker>
            <c:bubble3D val="0"/>
            <c:extLst>
              <c:ext xmlns:c16="http://schemas.microsoft.com/office/drawing/2014/chart" uri="{C3380CC4-5D6E-409C-BE32-E72D297353CC}">
                <c16:uniqueId val="{00000003-A43B-41F2-BD6B-786B33A3D471}"/>
              </c:ext>
            </c:extLst>
          </c:dPt>
          <c:dPt>
            <c:idx val="4"/>
            <c:marker>
              <c:symbol val="circle"/>
              <c:size val="3"/>
              <c:spPr>
                <a:solidFill>
                  <a:srgbClr val="86BC25"/>
                </a:solidFill>
                <a:ln w="9525" algn="ctr">
                  <a:solidFill>
                    <a:srgbClr val="86BC25"/>
                  </a:solidFill>
                  <a:prstDash val="solid"/>
                </a:ln>
              </c:spPr>
            </c:marker>
            <c:bubble3D val="0"/>
            <c:extLst>
              <c:ext xmlns:c16="http://schemas.microsoft.com/office/drawing/2014/chart" uri="{C3380CC4-5D6E-409C-BE32-E72D297353CC}">
                <c16:uniqueId val="{00000004-A43B-41F2-BD6B-786B33A3D471}"/>
              </c:ext>
            </c:extLst>
          </c:dPt>
          <c:dLbls>
            <c:dLbl>
              <c:idx val="3"/>
              <c:layout>
                <c:manualLayout>
                  <c:x val="0"/>
                  <c:y val="9.6997690531177835E-2"/>
                </c:manualLayout>
              </c:layout>
              <c:numFmt formatCode="#,##0.0;&quot;-&quot;#,##0.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A43B-41F2-BD6B-786B33A3D471}"/>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3.3000000000000003</c:v>
                </c:pt>
                <c:pt idx="1">
                  <c:v>2.8000000000000003</c:v>
                </c:pt>
                <c:pt idx="2">
                  <c:v>3</c:v>
                </c:pt>
                <c:pt idx="3">
                  <c:v>4.1900000000000004</c:v>
                </c:pt>
                <c:pt idx="4">
                  <c:v>3.92</c:v>
                </c:pt>
              </c:numCache>
            </c:numRef>
          </c:val>
          <c:smooth val="1"/>
          <c:extLst>
            <c:ext xmlns:c16="http://schemas.microsoft.com/office/drawing/2014/chart" uri="{C3380CC4-5D6E-409C-BE32-E72D297353CC}">
              <c16:uniqueId val="{00000005-A43B-41F2-BD6B-786B33A3D471}"/>
            </c:ext>
          </c:extLst>
        </c:ser>
        <c:ser>
          <c:idx val="1"/>
          <c:order val="1"/>
          <c:spPr>
            <a:ln w="28575" algn="ctr">
              <a:solidFill>
                <a:schemeClr val="accent3"/>
              </a:solidFill>
              <a:prstDash val="solid"/>
            </a:ln>
          </c:spPr>
          <c:marker>
            <c:symbol val="none"/>
          </c:marker>
          <c:dPt>
            <c:idx val="0"/>
            <c:marker>
              <c:symbol val="triangle"/>
              <c:size val="3"/>
              <c:spPr>
                <a:solidFill>
                  <a:schemeClr val="accent3"/>
                </a:solidFill>
                <a:ln w="9525" algn="ctr">
                  <a:solidFill>
                    <a:schemeClr val="accent3"/>
                  </a:solidFill>
                  <a:prstDash val="solid"/>
                </a:ln>
              </c:spPr>
            </c:marker>
            <c:bubble3D val="0"/>
            <c:extLst>
              <c:ext xmlns:c16="http://schemas.microsoft.com/office/drawing/2014/chart" uri="{C3380CC4-5D6E-409C-BE32-E72D297353CC}">
                <c16:uniqueId val="{00000006-A43B-41F2-BD6B-786B33A3D471}"/>
              </c:ext>
            </c:extLst>
          </c:dPt>
          <c:dPt>
            <c:idx val="1"/>
            <c:marker>
              <c:symbol val="triangle"/>
              <c:size val="3"/>
              <c:spPr>
                <a:solidFill>
                  <a:schemeClr val="accent3"/>
                </a:solidFill>
                <a:ln w="9525" algn="ctr">
                  <a:solidFill>
                    <a:schemeClr val="accent3"/>
                  </a:solidFill>
                  <a:prstDash val="solid"/>
                </a:ln>
              </c:spPr>
            </c:marker>
            <c:bubble3D val="0"/>
            <c:extLst>
              <c:ext xmlns:c16="http://schemas.microsoft.com/office/drawing/2014/chart" uri="{C3380CC4-5D6E-409C-BE32-E72D297353CC}">
                <c16:uniqueId val="{00000007-A43B-41F2-BD6B-786B33A3D471}"/>
              </c:ext>
            </c:extLst>
          </c:dPt>
          <c:dPt>
            <c:idx val="2"/>
            <c:marker>
              <c:symbol val="triangle"/>
              <c:size val="3"/>
              <c:spPr>
                <a:solidFill>
                  <a:schemeClr val="accent3"/>
                </a:solidFill>
                <a:ln w="9525" algn="ctr">
                  <a:solidFill>
                    <a:schemeClr val="accent3"/>
                  </a:solidFill>
                  <a:prstDash val="solid"/>
                </a:ln>
              </c:spPr>
            </c:marker>
            <c:bubble3D val="0"/>
            <c:extLst>
              <c:ext xmlns:c16="http://schemas.microsoft.com/office/drawing/2014/chart" uri="{C3380CC4-5D6E-409C-BE32-E72D297353CC}">
                <c16:uniqueId val="{00000008-A43B-41F2-BD6B-786B33A3D471}"/>
              </c:ext>
            </c:extLst>
          </c:dPt>
          <c:dPt>
            <c:idx val="3"/>
            <c:marker>
              <c:symbol val="triangle"/>
              <c:size val="3"/>
              <c:spPr>
                <a:solidFill>
                  <a:schemeClr val="accent3"/>
                </a:solidFill>
                <a:ln w="9525" algn="ctr">
                  <a:solidFill>
                    <a:schemeClr val="accent3"/>
                  </a:solidFill>
                  <a:prstDash val="solid"/>
                </a:ln>
              </c:spPr>
            </c:marker>
            <c:bubble3D val="0"/>
            <c:extLst>
              <c:ext xmlns:c16="http://schemas.microsoft.com/office/drawing/2014/chart" uri="{C3380CC4-5D6E-409C-BE32-E72D297353CC}">
                <c16:uniqueId val="{00000009-A43B-41F2-BD6B-786B33A3D471}"/>
              </c:ext>
            </c:extLst>
          </c:dPt>
          <c:dPt>
            <c:idx val="4"/>
            <c:marker>
              <c:symbol val="triangle"/>
              <c:size val="3"/>
              <c:spPr>
                <a:solidFill>
                  <a:schemeClr val="accent3"/>
                </a:solidFill>
                <a:ln w="9525" algn="ctr">
                  <a:solidFill>
                    <a:schemeClr val="accent3"/>
                  </a:solidFill>
                  <a:prstDash val="solid"/>
                </a:ln>
              </c:spPr>
            </c:marker>
            <c:bubble3D val="0"/>
            <c:extLst>
              <c:ext xmlns:c16="http://schemas.microsoft.com/office/drawing/2014/chart" uri="{C3380CC4-5D6E-409C-BE32-E72D297353CC}">
                <c16:uniqueId val="{0000000A-A43B-41F2-BD6B-786B33A3D471}"/>
              </c:ext>
            </c:extLst>
          </c:dPt>
          <c:val>
            <c:numRef>
              <c:f>Sheet1!$A$2:$E$2</c:f>
              <c:numCache>
                <c:formatCode>General</c:formatCode>
                <c:ptCount val="5"/>
                <c:pt idx="0">
                  <c:v>9.7000000000000011</c:v>
                </c:pt>
                <c:pt idx="1">
                  <c:v>11.1</c:v>
                </c:pt>
                <c:pt idx="2">
                  <c:v>12.1</c:v>
                </c:pt>
                <c:pt idx="3">
                  <c:v>12.06</c:v>
                </c:pt>
                <c:pt idx="4">
                  <c:v>12.67</c:v>
                </c:pt>
              </c:numCache>
            </c:numRef>
          </c:val>
          <c:smooth val="1"/>
          <c:extLst>
            <c:ext xmlns:c16="http://schemas.microsoft.com/office/drawing/2014/chart" uri="{C3380CC4-5D6E-409C-BE32-E72D297353CC}">
              <c16:uniqueId val="{0000000B-A43B-41F2-BD6B-786B33A3D471}"/>
            </c:ext>
          </c:extLst>
        </c:ser>
        <c:ser>
          <c:idx val="2"/>
          <c:order val="2"/>
          <c:spPr>
            <a:ln w="28575" algn="ctr">
              <a:solidFill>
                <a:schemeClr val="accent4"/>
              </a:solidFill>
              <a:prstDash val="solid"/>
            </a:ln>
          </c:spPr>
          <c:marker>
            <c:symbol val="none"/>
          </c:marker>
          <c:dPt>
            <c:idx val="0"/>
            <c:marker>
              <c:symbol val="diamond"/>
              <c:size val="3"/>
              <c:spPr>
                <a:solidFill>
                  <a:schemeClr val="accent4"/>
                </a:solidFill>
                <a:ln w="9525" algn="ctr">
                  <a:solidFill>
                    <a:schemeClr val="accent4"/>
                  </a:solidFill>
                  <a:prstDash val="solid"/>
                </a:ln>
              </c:spPr>
            </c:marker>
            <c:bubble3D val="0"/>
            <c:extLst>
              <c:ext xmlns:c16="http://schemas.microsoft.com/office/drawing/2014/chart" uri="{C3380CC4-5D6E-409C-BE32-E72D297353CC}">
                <c16:uniqueId val="{0000000C-A43B-41F2-BD6B-786B33A3D471}"/>
              </c:ext>
            </c:extLst>
          </c:dPt>
          <c:dPt>
            <c:idx val="1"/>
            <c:marker>
              <c:symbol val="diamond"/>
              <c:size val="3"/>
              <c:spPr>
                <a:solidFill>
                  <a:schemeClr val="accent4"/>
                </a:solidFill>
                <a:ln w="9525" algn="ctr">
                  <a:solidFill>
                    <a:schemeClr val="accent4"/>
                  </a:solidFill>
                  <a:prstDash val="solid"/>
                </a:ln>
              </c:spPr>
            </c:marker>
            <c:bubble3D val="0"/>
            <c:extLst>
              <c:ext xmlns:c16="http://schemas.microsoft.com/office/drawing/2014/chart" uri="{C3380CC4-5D6E-409C-BE32-E72D297353CC}">
                <c16:uniqueId val="{0000000D-A43B-41F2-BD6B-786B33A3D471}"/>
              </c:ext>
            </c:extLst>
          </c:dPt>
          <c:dPt>
            <c:idx val="2"/>
            <c:marker>
              <c:symbol val="diamond"/>
              <c:size val="3"/>
              <c:spPr>
                <a:solidFill>
                  <a:schemeClr val="accent4"/>
                </a:solidFill>
                <a:ln w="9525" algn="ctr">
                  <a:solidFill>
                    <a:schemeClr val="accent4"/>
                  </a:solidFill>
                  <a:prstDash val="solid"/>
                </a:ln>
              </c:spPr>
            </c:marker>
            <c:bubble3D val="0"/>
            <c:extLst>
              <c:ext xmlns:c16="http://schemas.microsoft.com/office/drawing/2014/chart" uri="{C3380CC4-5D6E-409C-BE32-E72D297353CC}">
                <c16:uniqueId val="{0000000E-A43B-41F2-BD6B-786B33A3D471}"/>
              </c:ext>
            </c:extLst>
          </c:dPt>
          <c:dPt>
            <c:idx val="3"/>
            <c:marker>
              <c:symbol val="diamond"/>
              <c:size val="3"/>
              <c:spPr>
                <a:solidFill>
                  <a:schemeClr val="accent4"/>
                </a:solidFill>
                <a:ln w="9525" algn="ctr">
                  <a:solidFill>
                    <a:schemeClr val="accent4"/>
                  </a:solidFill>
                  <a:prstDash val="solid"/>
                </a:ln>
              </c:spPr>
            </c:marker>
            <c:bubble3D val="0"/>
            <c:extLst>
              <c:ext xmlns:c16="http://schemas.microsoft.com/office/drawing/2014/chart" uri="{C3380CC4-5D6E-409C-BE32-E72D297353CC}">
                <c16:uniqueId val="{0000000F-A43B-41F2-BD6B-786B33A3D471}"/>
              </c:ext>
            </c:extLst>
          </c:dPt>
          <c:dPt>
            <c:idx val="4"/>
            <c:marker>
              <c:symbol val="diamond"/>
              <c:size val="3"/>
              <c:spPr>
                <a:solidFill>
                  <a:schemeClr val="accent4"/>
                </a:solidFill>
                <a:ln w="9525" algn="ctr">
                  <a:solidFill>
                    <a:schemeClr val="accent4"/>
                  </a:solidFill>
                  <a:prstDash val="solid"/>
                </a:ln>
              </c:spPr>
            </c:marker>
            <c:bubble3D val="0"/>
            <c:extLst>
              <c:ext xmlns:c16="http://schemas.microsoft.com/office/drawing/2014/chart" uri="{C3380CC4-5D6E-409C-BE32-E72D297353CC}">
                <c16:uniqueId val="{00000010-A43B-41F2-BD6B-786B33A3D471}"/>
              </c:ext>
            </c:extLst>
          </c:dPt>
          <c:val>
            <c:numRef>
              <c:f>Sheet1!$A$3:$E$3</c:f>
              <c:numCache>
                <c:formatCode>General</c:formatCode>
                <c:ptCount val="5"/>
                <c:pt idx="0">
                  <c:v>5.8000000000000007</c:v>
                </c:pt>
                <c:pt idx="1">
                  <c:v>6.3</c:v>
                </c:pt>
                <c:pt idx="2">
                  <c:v>6.7</c:v>
                </c:pt>
                <c:pt idx="3">
                  <c:v>6.39</c:v>
                </c:pt>
                <c:pt idx="4">
                  <c:v>6.78</c:v>
                </c:pt>
              </c:numCache>
            </c:numRef>
          </c:val>
          <c:smooth val="1"/>
          <c:extLst>
            <c:ext xmlns:c16="http://schemas.microsoft.com/office/drawing/2014/chart" uri="{C3380CC4-5D6E-409C-BE32-E72D297353CC}">
              <c16:uniqueId val="{00000011-A43B-41F2-BD6B-786B33A3D471}"/>
            </c:ext>
          </c:extLst>
        </c:ser>
        <c:ser>
          <c:idx val="3"/>
          <c:order val="3"/>
          <c:spPr>
            <a:ln w="38100" algn="ctr">
              <a:solidFill>
                <a:srgbClr val="63666A"/>
              </a:solidFill>
              <a:prstDash val="lgDash"/>
            </a:ln>
          </c:spPr>
          <c:marker>
            <c:symbol val="none"/>
          </c:marker>
          <c:dPt>
            <c:idx val="0"/>
            <c:marker>
              <c:symbol val="square"/>
              <c:size val="3"/>
              <c:spPr>
                <a:solidFill>
                  <a:srgbClr val="63666A"/>
                </a:solidFill>
                <a:ln w="9525" algn="ctr">
                  <a:solidFill>
                    <a:srgbClr val="63666A"/>
                  </a:solidFill>
                  <a:prstDash val="solid"/>
                </a:ln>
              </c:spPr>
            </c:marker>
            <c:bubble3D val="0"/>
            <c:extLst>
              <c:ext xmlns:c16="http://schemas.microsoft.com/office/drawing/2014/chart" uri="{C3380CC4-5D6E-409C-BE32-E72D297353CC}">
                <c16:uniqueId val="{00000012-A43B-41F2-BD6B-786B33A3D471}"/>
              </c:ext>
            </c:extLst>
          </c:dPt>
          <c:dPt>
            <c:idx val="1"/>
            <c:marker>
              <c:symbol val="square"/>
              <c:size val="3"/>
              <c:spPr>
                <a:solidFill>
                  <a:srgbClr val="63666A"/>
                </a:solidFill>
                <a:ln w="9525" algn="ctr">
                  <a:solidFill>
                    <a:srgbClr val="63666A"/>
                  </a:solidFill>
                  <a:prstDash val="solid"/>
                </a:ln>
              </c:spPr>
            </c:marker>
            <c:bubble3D val="0"/>
            <c:extLst>
              <c:ext xmlns:c16="http://schemas.microsoft.com/office/drawing/2014/chart" uri="{C3380CC4-5D6E-409C-BE32-E72D297353CC}">
                <c16:uniqueId val="{00000013-A43B-41F2-BD6B-786B33A3D471}"/>
              </c:ext>
            </c:extLst>
          </c:dPt>
          <c:dPt>
            <c:idx val="2"/>
            <c:marker>
              <c:symbol val="square"/>
              <c:size val="3"/>
              <c:spPr>
                <a:solidFill>
                  <a:srgbClr val="63666A"/>
                </a:solidFill>
                <a:ln w="9525" algn="ctr">
                  <a:solidFill>
                    <a:srgbClr val="63666A"/>
                  </a:solidFill>
                  <a:prstDash val="solid"/>
                </a:ln>
              </c:spPr>
            </c:marker>
            <c:bubble3D val="0"/>
            <c:extLst>
              <c:ext xmlns:c16="http://schemas.microsoft.com/office/drawing/2014/chart" uri="{C3380CC4-5D6E-409C-BE32-E72D297353CC}">
                <c16:uniqueId val="{00000014-A43B-41F2-BD6B-786B33A3D471}"/>
              </c:ext>
            </c:extLst>
          </c:dPt>
          <c:dPt>
            <c:idx val="3"/>
            <c:marker>
              <c:symbol val="square"/>
              <c:size val="3"/>
              <c:spPr>
                <a:solidFill>
                  <a:srgbClr val="63666A"/>
                </a:solidFill>
                <a:ln w="9525" algn="ctr">
                  <a:solidFill>
                    <a:srgbClr val="63666A"/>
                  </a:solidFill>
                  <a:prstDash val="solid"/>
                </a:ln>
              </c:spPr>
            </c:marker>
            <c:bubble3D val="0"/>
            <c:extLst>
              <c:ext xmlns:c16="http://schemas.microsoft.com/office/drawing/2014/chart" uri="{C3380CC4-5D6E-409C-BE32-E72D297353CC}">
                <c16:uniqueId val="{00000015-A43B-41F2-BD6B-786B33A3D471}"/>
              </c:ext>
            </c:extLst>
          </c:dPt>
          <c:dPt>
            <c:idx val="4"/>
            <c:marker>
              <c:symbol val="square"/>
              <c:size val="3"/>
              <c:spPr>
                <a:solidFill>
                  <a:srgbClr val="63666A"/>
                </a:solidFill>
                <a:ln w="9525" algn="ctr">
                  <a:solidFill>
                    <a:srgbClr val="63666A"/>
                  </a:solidFill>
                  <a:prstDash val="solid"/>
                </a:ln>
              </c:spPr>
            </c:marker>
            <c:bubble3D val="0"/>
            <c:extLst>
              <c:ext xmlns:c16="http://schemas.microsoft.com/office/drawing/2014/chart" uri="{C3380CC4-5D6E-409C-BE32-E72D297353CC}">
                <c16:uniqueId val="{00000016-A43B-41F2-BD6B-786B33A3D471}"/>
              </c:ext>
            </c:extLst>
          </c:dPt>
          <c:val>
            <c:numRef>
              <c:f>Sheet1!$A$4:$E$4</c:f>
              <c:numCache>
                <c:formatCode>General</c:formatCode>
                <c:ptCount val="5"/>
                <c:pt idx="0">
                  <c:v>6.2</c:v>
                </c:pt>
                <c:pt idx="1">
                  <c:v>7.1</c:v>
                </c:pt>
                <c:pt idx="2">
                  <c:v>7.3</c:v>
                </c:pt>
                <c:pt idx="3">
                  <c:v>7.86</c:v>
                </c:pt>
                <c:pt idx="4">
                  <c:v>8.15</c:v>
                </c:pt>
              </c:numCache>
            </c:numRef>
          </c:val>
          <c:smooth val="1"/>
          <c:extLst>
            <c:ext xmlns:c16="http://schemas.microsoft.com/office/drawing/2014/chart" uri="{C3380CC4-5D6E-409C-BE32-E72D297353CC}">
              <c16:uniqueId val="{00000017-A43B-41F2-BD6B-786B33A3D471}"/>
            </c:ext>
          </c:extLst>
        </c:ser>
        <c:dLbls>
          <c:showLegendKey val="0"/>
          <c:showVal val="0"/>
          <c:showCatName val="0"/>
          <c:showSerName val="0"/>
          <c:showPercent val="0"/>
          <c:showBubbleSize val="0"/>
        </c:dLbls>
        <c:smooth val="0"/>
        <c:axId val="1083762248"/>
        <c:axId val="1"/>
      </c:lineChart>
      <c:catAx>
        <c:axId val="1083762248"/>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800">
                <a:latin typeface="+mn-lt"/>
                <a:ea typeface="+mn-ea"/>
                <a:cs typeface="+mn-cs"/>
                <a:sym typeface="+mn-lt"/>
              </a:defRPr>
            </a:pPr>
            <a:endParaRPr lang="en-US"/>
          </a:p>
        </c:txPr>
        <c:crossAx val="1"/>
        <c:crosses val="min"/>
        <c:auto val="0"/>
        <c:lblAlgn val="ctr"/>
        <c:lblOffset val="100"/>
        <c:noMultiLvlLbl val="0"/>
      </c:catAx>
      <c:valAx>
        <c:axId val="1"/>
        <c:scaling>
          <c:orientation val="minMax"/>
          <c:max val="14"/>
          <c:min val="0"/>
        </c:scaling>
        <c:delete val="0"/>
        <c:axPos val="l"/>
        <c:majorGridlines>
          <c:spPr>
            <a:ln>
              <a:noFill/>
            </a:ln>
          </c:spPr>
        </c:majorGridlines>
        <c:numFmt formatCode="General" sourceLinked="1"/>
        <c:majorTickMark val="out"/>
        <c:minorTickMark val="none"/>
        <c:tickLblPos val="none"/>
        <c:spPr>
          <a:ln w="9525" algn="ctr">
            <a:solidFill>
              <a:schemeClr val="tx1"/>
            </a:solidFill>
            <a:prstDash val="solid"/>
          </a:ln>
        </c:spPr>
        <c:txPr>
          <a:bodyPr wrap="none"/>
          <a:lstStyle/>
          <a:p>
            <a:pPr>
              <a:defRPr sz="800">
                <a:latin typeface="+mn-lt"/>
                <a:ea typeface="+mn-ea"/>
                <a:cs typeface="+mn-cs"/>
                <a:sym typeface="+mn-lt"/>
              </a:defRPr>
            </a:pPr>
            <a:endParaRPr lang="en-US"/>
          </a:p>
        </c:txPr>
        <c:crossAx val="1083762248"/>
        <c:crosses val="min"/>
        <c:crossBetween val="midCat"/>
        <c:majorUnit val="2"/>
      </c:valAx>
    </c:plotArea>
    <c:plotVisOnly val="0"/>
    <c:dispBlanksAs val="gap"/>
    <c:showDLblsOverMax val="1"/>
  </c:chart>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5997566909975669"/>
          <c:y val="4.2518397383483238E-2"/>
          <c:w val="0.68065693430656937"/>
          <c:h val="0.91496320523303354"/>
        </c:manualLayout>
      </c:layout>
      <c:doughnutChart>
        <c:varyColors val="0"/>
        <c:ser>
          <c:idx val="0"/>
          <c:order val="0"/>
          <c:dPt>
            <c:idx val="0"/>
            <c:bubble3D val="0"/>
            <c:spPr>
              <a:solidFill>
                <a:srgbClr val="86BC25"/>
              </a:solidFill>
              <a:ln>
                <a:noFill/>
              </a:ln>
            </c:spPr>
            <c:extLst>
              <c:ext xmlns:c16="http://schemas.microsoft.com/office/drawing/2014/chart" uri="{C3380CC4-5D6E-409C-BE32-E72D297353CC}">
                <c16:uniqueId val="{00000000-BF56-40F9-8DF5-750307E36F39}"/>
              </c:ext>
            </c:extLst>
          </c:dPt>
          <c:dPt>
            <c:idx val="1"/>
            <c:bubble3D val="0"/>
            <c:spPr>
              <a:solidFill>
                <a:schemeClr val="accent3"/>
              </a:solidFill>
              <a:ln>
                <a:noFill/>
              </a:ln>
            </c:spPr>
            <c:extLst>
              <c:ext xmlns:c16="http://schemas.microsoft.com/office/drawing/2014/chart" uri="{C3380CC4-5D6E-409C-BE32-E72D297353CC}">
                <c16:uniqueId val="{00000001-BF56-40F9-8DF5-750307E36F39}"/>
              </c:ext>
            </c:extLst>
          </c:dPt>
          <c:dPt>
            <c:idx val="2"/>
            <c:bubble3D val="0"/>
            <c:spPr>
              <a:solidFill>
                <a:schemeClr val="accent4"/>
              </a:solidFill>
              <a:ln>
                <a:noFill/>
              </a:ln>
            </c:spPr>
            <c:extLst>
              <c:ext xmlns:c16="http://schemas.microsoft.com/office/drawing/2014/chart" uri="{C3380CC4-5D6E-409C-BE32-E72D297353CC}">
                <c16:uniqueId val="{00000002-BF56-40F9-8DF5-750307E36F39}"/>
              </c:ext>
            </c:extLst>
          </c:dPt>
          <c:dLbls>
            <c:dLbl>
              <c:idx val="0"/>
              <c:layout>
                <c:manualLayout>
                  <c:x val="1.2165450121654502E-2"/>
                  <c:y val="-3.025347506132461E-2"/>
                </c:manualLayout>
              </c:layout>
              <c:numFmt formatCode="0.0&quot;%&quot;;&quot;-&quot;0.0&quot;%&quot;" sourceLinked="0"/>
              <c:spPr>
                <a:noFill/>
                <a:ln>
                  <a:noFill/>
                </a:ln>
              </c:spPr>
              <c:txPr>
                <a:bodyPr wrap="none"/>
                <a:lstStyle/>
                <a:p>
                  <a:pPr>
                    <a:defRPr sz="800">
                      <a:solidFill>
                        <a:schemeClr val="bg1"/>
                      </a:solidFill>
                      <a:latin typeface="+mn-lt"/>
                      <a:ea typeface="+mn-ea"/>
                      <a:cs typeface="+mn-cs"/>
                      <a:sym typeface="+mn-lt"/>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BF56-40F9-8DF5-750307E36F39}"/>
                </c:ext>
              </c:extLst>
            </c:dLbl>
            <c:dLbl>
              <c:idx val="1"/>
              <c:layout>
                <c:manualLayout>
                  <c:x val="9.7323600973236012E-3"/>
                  <c:y val="5.7236304170073587E-3"/>
                </c:manualLayout>
              </c:layout>
              <c:numFmt formatCode="0.0&quot;%&quot;;&quot;-&quot;0.0&quot;%&quot;" sourceLinked="0"/>
              <c:spPr>
                <a:noFill/>
                <a:ln>
                  <a:noFill/>
                </a:ln>
              </c:spPr>
              <c:txPr>
                <a:bodyPr wrap="none"/>
                <a:lstStyle/>
                <a:p>
                  <a:pPr>
                    <a:defRPr sz="800">
                      <a:solidFill>
                        <a:schemeClr val="bg1"/>
                      </a:solidFill>
                      <a:latin typeface="+mn-lt"/>
                      <a:ea typeface="+mn-ea"/>
                      <a:cs typeface="+mn-cs"/>
                      <a:sym typeface="+mn-lt"/>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BF56-40F9-8DF5-750307E36F39}"/>
                </c:ext>
              </c:extLst>
            </c:dLbl>
            <c:dLbl>
              <c:idx val="2"/>
              <c:layout>
                <c:manualLayout>
                  <c:x val="-1.3381995133819951E-2"/>
                  <c:y val="2.4529844644317253E-3"/>
                </c:manualLayout>
              </c:layout>
              <c:numFmt formatCode="0.0&quot;%&quot;;&quot;-&quot;0.0&quot;%&quot;" sourceLinked="0"/>
              <c:spPr>
                <a:noFill/>
                <a:ln>
                  <a:noFill/>
                </a:ln>
              </c:spPr>
              <c:txPr>
                <a:bodyPr wrap="none"/>
                <a:lstStyle/>
                <a:p>
                  <a:pPr>
                    <a:defRPr sz="800">
                      <a:solidFill>
                        <a:schemeClr val="bg1"/>
                      </a:solidFill>
                      <a:latin typeface="+mn-lt"/>
                      <a:ea typeface="+mn-ea"/>
                      <a:cs typeface="+mn-cs"/>
                      <a:sym typeface="+mn-lt"/>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BF56-40F9-8DF5-750307E36F39}"/>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extLst>
          </c:dLbls>
          <c:val>
            <c:numRef>
              <c:f>Sheet1!$A$1:$A$3</c:f>
              <c:numCache>
                <c:formatCode>General</c:formatCode>
                <c:ptCount val="3"/>
                <c:pt idx="0">
                  <c:v>16</c:v>
                </c:pt>
                <c:pt idx="1">
                  <c:v>30.4</c:v>
                </c:pt>
                <c:pt idx="2">
                  <c:v>53.6</c:v>
                </c:pt>
              </c:numCache>
            </c:numRef>
          </c:val>
          <c:extLst>
            <c:ext xmlns:c16="http://schemas.microsoft.com/office/drawing/2014/chart" uri="{C3380CC4-5D6E-409C-BE32-E72D297353CC}">
              <c16:uniqueId val="{00000003-BF56-40F9-8DF5-750307E36F39}"/>
            </c:ext>
          </c:extLst>
        </c:ser>
        <c:dLbls>
          <c:showLegendKey val="0"/>
          <c:showVal val="0"/>
          <c:showCatName val="0"/>
          <c:showSerName val="0"/>
          <c:showPercent val="0"/>
          <c:showBubbleSize val="0"/>
          <c:showLeaderLines val="1"/>
        </c:dLbls>
        <c:firstSliceAng val="0"/>
        <c:holeSize val="50"/>
      </c:doughnutChart>
    </c:plotArea>
    <c:plotVisOnly val="0"/>
    <c:dispBlanksAs val="gap"/>
    <c:showDLblsOverMax val="1"/>
  </c:chart>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8489289740698983"/>
          <c:y val="4.2518397383483238E-2"/>
          <c:w val="0.63077790304396841"/>
          <c:h val="0.91496320523303354"/>
        </c:manualLayout>
      </c:layout>
      <c:doughnutChart>
        <c:varyColors val="0"/>
        <c:ser>
          <c:idx val="0"/>
          <c:order val="0"/>
          <c:dPt>
            <c:idx val="0"/>
            <c:bubble3D val="0"/>
            <c:spPr>
              <a:solidFill>
                <a:srgbClr val="86BC25"/>
              </a:solidFill>
              <a:ln>
                <a:noFill/>
              </a:ln>
            </c:spPr>
            <c:extLst>
              <c:ext xmlns:c16="http://schemas.microsoft.com/office/drawing/2014/chart" uri="{C3380CC4-5D6E-409C-BE32-E72D297353CC}">
                <c16:uniqueId val="{00000000-64CB-45C7-B5AE-D5465AE434BB}"/>
              </c:ext>
            </c:extLst>
          </c:dPt>
          <c:dPt>
            <c:idx val="1"/>
            <c:bubble3D val="0"/>
            <c:spPr>
              <a:solidFill>
                <a:schemeClr val="accent3"/>
              </a:solidFill>
              <a:ln>
                <a:noFill/>
              </a:ln>
            </c:spPr>
            <c:extLst>
              <c:ext xmlns:c16="http://schemas.microsoft.com/office/drawing/2014/chart" uri="{C3380CC4-5D6E-409C-BE32-E72D297353CC}">
                <c16:uniqueId val="{00000001-64CB-45C7-B5AE-D5465AE434BB}"/>
              </c:ext>
            </c:extLst>
          </c:dPt>
          <c:dPt>
            <c:idx val="2"/>
            <c:bubble3D val="0"/>
            <c:spPr>
              <a:solidFill>
                <a:schemeClr val="accent4"/>
              </a:solidFill>
              <a:ln>
                <a:noFill/>
              </a:ln>
            </c:spPr>
            <c:extLst>
              <c:ext xmlns:c16="http://schemas.microsoft.com/office/drawing/2014/chart" uri="{C3380CC4-5D6E-409C-BE32-E72D297353CC}">
                <c16:uniqueId val="{00000002-64CB-45C7-B5AE-D5465AE434BB}"/>
              </c:ext>
            </c:extLst>
          </c:dPt>
          <c:dLbls>
            <c:dLbl>
              <c:idx val="0"/>
              <c:layout>
                <c:manualLayout>
                  <c:x val="8.4554678692220966E-3"/>
                  <c:y val="-2.6982829108748978E-2"/>
                </c:manualLayout>
              </c:layout>
              <c:numFmt formatCode="0.0&quot;%&quot;;&quot;-&quot;0.0&quot;%&quot;" sourceLinked="0"/>
              <c:spPr>
                <a:noFill/>
                <a:ln>
                  <a:noFill/>
                </a:ln>
              </c:spPr>
              <c:txPr>
                <a:bodyPr wrap="none"/>
                <a:lstStyle/>
                <a:p>
                  <a:pPr>
                    <a:defRPr sz="900">
                      <a:solidFill>
                        <a:schemeClr val="bg1"/>
                      </a:solidFill>
                      <a:latin typeface="+mn-lt"/>
                      <a:ea typeface="+mn-ea"/>
                      <a:cs typeface="+mn-cs"/>
                      <a:sym typeface="+mn-lt"/>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64CB-45C7-B5AE-D5465AE434BB}"/>
                </c:ext>
              </c:extLst>
            </c:dLbl>
            <c:dLbl>
              <c:idx val="1"/>
              <c:layout>
                <c:manualLayout>
                  <c:x val="2.2547914317925591E-3"/>
                  <c:y val="8.1766148814390845E-4"/>
                </c:manualLayout>
              </c:layout>
              <c:numFmt formatCode="0.0&quot;%&quot;;&quot;-&quot;0.0&quot;%&quot;" sourceLinked="0"/>
              <c:spPr>
                <a:noFill/>
                <a:ln>
                  <a:noFill/>
                </a:ln>
              </c:spPr>
              <c:txPr>
                <a:bodyPr wrap="none"/>
                <a:lstStyle/>
                <a:p>
                  <a:pPr>
                    <a:defRPr sz="900">
                      <a:solidFill>
                        <a:schemeClr val="bg1"/>
                      </a:solidFill>
                      <a:latin typeface="+mn-lt"/>
                      <a:ea typeface="+mn-ea"/>
                      <a:cs typeface="+mn-cs"/>
                      <a:sym typeface="+mn-lt"/>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64CB-45C7-B5AE-D5465AE434BB}"/>
                </c:ext>
              </c:extLst>
            </c:dLbl>
            <c:dLbl>
              <c:idx val="2"/>
              <c:layout>
                <c:manualLayout>
                  <c:x val="-5.6369785794813977E-3"/>
                  <c:y val="8.1766148814390845E-4"/>
                </c:manualLayout>
              </c:layout>
              <c:numFmt formatCode="0.0&quot;%&quot;;&quot;-&quot;0.0&quot;%&quot;" sourceLinked="0"/>
              <c:spPr>
                <a:noFill/>
                <a:ln>
                  <a:noFill/>
                </a:ln>
              </c:spPr>
              <c:txPr>
                <a:bodyPr wrap="none"/>
                <a:lstStyle/>
                <a:p>
                  <a:pPr>
                    <a:defRPr sz="900">
                      <a:solidFill>
                        <a:schemeClr val="bg1"/>
                      </a:solidFill>
                      <a:latin typeface="+mn-lt"/>
                      <a:ea typeface="+mn-ea"/>
                      <a:cs typeface="+mn-cs"/>
                      <a:sym typeface="+mn-lt"/>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64CB-45C7-B5AE-D5465AE434B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extLst>
          </c:dLbls>
          <c:val>
            <c:numRef>
              <c:f>Sheet1!$A$1:$A$3</c:f>
              <c:numCache>
                <c:formatCode>General</c:formatCode>
                <c:ptCount val="3"/>
                <c:pt idx="0">
                  <c:v>13.600000000000001</c:v>
                </c:pt>
                <c:pt idx="1">
                  <c:v>35</c:v>
                </c:pt>
                <c:pt idx="2">
                  <c:v>51.4</c:v>
                </c:pt>
              </c:numCache>
            </c:numRef>
          </c:val>
          <c:extLst>
            <c:ext xmlns:c16="http://schemas.microsoft.com/office/drawing/2014/chart" uri="{C3380CC4-5D6E-409C-BE32-E72D297353CC}">
              <c16:uniqueId val="{00000003-64CB-45C7-B5AE-D5465AE434BB}"/>
            </c:ext>
          </c:extLst>
        </c:ser>
        <c:dLbls>
          <c:showLegendKey val="0"/>
          <c:showVal val="0"/>
          <c:showCatName val="0"/>
          <c:showSerName val="0"/>
          <c:showPercent val="0"/>
          <c:showBubbleSize val="0"/>
          <c:showLeaderLines val="1"/>
        </c:dLbls>
        <c:firstSliceAng val="0"/>
        <c:holeSize val="50"/>
      </c:doughnutChart>
    </c:plotArea>
    <c:plotVisOnly val="0"/>
    <c:dispBlanksAs val="gap"/>
    <c:showDLblsOverMax val="1"/>
  </c:chart>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133443163097197E-2"/>
          <c:y val="5.8035714285714281E-2"/>
          <c:w val="0.96573311367380554"/>
          <c:h val="0.8839285714285714"/>
        </c:manualLayout>
      </c:layout>
      <c:barChart>
        <c:barDir val="col"/>
        <c:grouping val="stacked"/>
        <c:varyColors val="0"/>
        <c:ser>
          <c:idx val="0"/>
          <c:order val="0"/>
          <c:spPr>
            <a:solidFill>
              <a:srgbClr val="012169"/>
            </a:solidFill>
            <a:ln>
              <a:noFill/>
            </a:ln>
          </c:spPr>
          <c:invertIfNegative val="0"/>
          <c:val>
            <c:numRef>
              <c:f>Sheet1!$A$1:$B$1</c:f>
              <c:numCache>
                <c:formatCode>General</c:formatCode>
                <c:ptCount val="2"/>
                <c:pt idx="0">
                  <c:v>30.558000000000003</c:v>
                </c:pt>
                <c:pt idx="1">
                  <c:v>8.6930000000000014</c:v>
                </c:pt>
              </c:numCache>
            </c:numRef>
          </c:val>
          <c:extLst>
            <c:ext xmlns:c16="http://schemas.microsoft.com/office/drawing/2014/chart" uri="{C3380CC4-5D6E-409C-BE32-E72D297353CC}">
              <c16:uniqueId val="{00000000-24DE-48EE-A917-ACFE619BBEAD}"/>
            </c:ext>
          </c:extLst>
        </c:ser>
        <c:ser>
          <c:idx val="1"/>
          <c:order val="1"/>
          <c:spPr>
            <a:solidFill>
              <a:srgbClr val="0097A9"/>
            </a:solidFill>
            <a:ln>
              <a:noFill/>
            </a:ln>
          </c:spPr>
          <c:invertIfNegative val="0"/>
          <c:dPt>
            <c:idx val="1"/>
            <c:invertIfNegative val="0"/>
            <c:bubble3D val="0"/>
            <c:spPr>
              <a:solidFill>
                <a:srgbClr val="DDEFE8"/>
              </a:solidFill>
              <a:ln>
                <a:noFill/>
              </a:ln>
            </c:spPr>
            <c:extLst>
              <c:ext xmlns:c16="http://schemas.microsoft.com/office/drawing/2014/chart" uri="{C3380CC4-5D6E-409C-BE32-E72D297353CC}">
                <c16:uniqueId val="{00000001-24DE-48EE-A917-ACFE619BBEAD}"/>
              </c:ext>
            </c:extLst>
          </c:dPt>
          <c:val>
            <c:numRef>
              <c:f>Sheet1!$A$2:$B$2</c:f>
              <c:numCache>
                <c:formatCode>General</c:formatCode>
                <c:ptCount val="2"/>
                <c:pt idx="0">
                  <c:v>2.3829999999999991</c:v>
                </c:pt>
                <c:pt idx="1">
                  <c:v>1.3780000000000001</c:v>
                </c:pt>
              </c:numCache>
            </c:numRef>
          </c:val>
          <c:extLst>
            <c:ext xmlns:c16="http://schemas.microsoft.com/office/drawing/2014/chart" uri="{C3380CC4-5D6E-409C-BE32-E72D297353CC}">
              <c16:uniqueId val="{00000002-24DE-48EE-A917-ACFE619BBEAD}"/>
            </c:ext>
          </c:extLst>
        </c:ser>
        <c:ser>
          <c:idx val="2"/>
          <c:order val="2"/>
          <c:spPr>
            <a:solidFill>
              <a:srgbClr val="75787B"/>
            </a:solidFill>
            <a:ln>
              <a:noFill/>
            </a:ln>
          </c:spPr>
          <c:invertIfNegative val="0"/>
          <c:dPt>
            <c:idx val="1"/>
            <c:invertIfNegative val="0"/>
            <c:bubble3D val="0"/>
            <c:spPr>
              <a:solidFill>
                <a:srgbClr val="E3E48D"/>
              </a:solidFill>
              <a:ln>
                <a:noFill/>
              </a:ln>
            </c:spPr>
            <c:extLst>
              <c:ext xmlns:c16="http://schemas.microsoft.com/office/drawing/2014/chart" uri="{C3380CC4-5D6E-409C-BE32-E72D297353CC}">
                <c16:uniqueId val="{00000003-24DE-48EE-A917-ACFE619BBEAD}"/>
              </c:ext>
            </c:extLst>
          </c:dPt>
          <c:val>
            <c:numRef>
              <c:f>Sheet1!$A$3:$B$3</c:f>
              <c:numCache>
                <c:formatCode>General</c:formatCode>
                <c:ptCount val="2"/>
                <c:pt idx="0">
                  <c:v>2.9320000000000022</c:v>
                </c:pt>
                <c:pt idx="1">
                  <c:v>25.27</c:v>
                </c:pt>
              </c:numCache>
            </c:numRef>
          </c:val>
          <c:extLst>
            <c:ext xmlns:c16="http://schemas.microsoft.com/office/drawing/2014/chart" uri="{C3380CC4-5D6E-409C-BE32-E72D297353CC}">
              <c16:uniqueId val="{00000004-24DE-48EE-A917-ACFE619BBEAD}"/>
            </c:ext>
          </c:extLst>
        </c:ser>
        <c:ser>
          <c:idx val="3"/>
          <c:order val="3"/>
          <c:spPr>
            <a:solidFill>
              <a:srgbClr val="86BC25"/>
            </a:solidFill>
            <a:ln>
              <a:noFill/>
            </a:ln>
          </c:spPr>
          <c:invertIfNegative val="0"/>
          <c:val>
            <c:numRef>
              <c:f>Sheet1!$A$4:$B$4</c:f>
              <c:numCache>
                <c:formatCode>General</c:formatCode>
                <c:ptCount val="2"/>
                <c:pt idx="0">
                  <c:v>4.3250000000000028</c:v>
                </c:pt>
              </c:numCache>
            </c:numRef>
          </c:val>
          <c:extLst>
            <c:ext xmlns:c16="http://schemas.microsoft.com/office/drawing/2014/chart" uri="{C3380CC4-5D6E-409C-BE32-E72D297353CC}">
              <c16:uniqueId val="{00000005-24DE-48EE-A917-ACFE619BBEAD}"/>
            </c:ext>
          </c:extLst>
        </c:ser>
        <c:ser>
          <c:idx val="4"/>
          <c:order val="4"/>
          <c:spPr>
            <a:solidFill>
              <a:srgbClr val="046A38"/>
            </a:solidFill>
            <a:ln>
              <a:noFill/>
            </a:ln>
          </c:spPr>
          <c:invertIfNegative val="0"/>
          <c:val>
            <c:numRef>
              <c:f>Sheet1!$A$5:$B$5</c:f>
              <c:numCache>
                <c:formatCode>General</c:formatCode>
                <c:ptCount val="2"/>
                <c:pt idx="0">
                  <c:v>4.9849999999999994</c:v>
                </c:pt>
              </c:numCache>
            </c:numRef>
          </c:val>
          <c:extLst>
            <c:ext xmlns:c16="http://schemas.microsoft.com/office/drawing/2014/chart" uri="{C3380CC4-5D6E-409C-BE32-E72D297353CC}">
              <c16:uniqueId val="{00000006-24DE-48EE-A917-ACFE619BBEAD}"/>
            </c:ext>
          </c:extLst>
        </c:ser>
        <c:ser>
          <c:idx val="5"/>
          <c:order val="5"/>
          <c:spPr>
            <a:solidFill>
              <a:srgbClr val="62B5E5"/>
            </a:solidFill>
            <a:ln>
              <a:noFill/>
            </a:ln>
          </c:spPr>
          <c:invertIfNegative val="0"/>
          <c:val>
            <c:numRef>
              <c:f>Sheet1!$A$6:$B$6</c:f>
              <c:numCache>
                <c:formatCode>General</c:formatCode>
                <c:ptCount val="2"/>
                <c:pt idx="0">
                  <c:v>5.1469999999999985</c:v>
                </c:pt>
              </c:numCache>
            </c:numRef>
          </c:val>
          <c:extLst>
            <c:ext xmlns:c16="http://schemas.microsoft.com/office/drawing/2014/chart" uri="{C3380CC4-5D6E-409C-BE32-E72D297353CC}">
              <c16:uniqueId val="{00000007-24DE-48EE-A917-ACFE619BBEAD}"/>
            </c:ext>
          </c:extLst>
        </c:ser>
        <c:ser>
          <c:idx val="6"/>
          <c:order val="6"/>
          <c:spPr>
            <a:solidFill>
              <a:srgbClr val="012169"/>
            </a:solidFill>
            <a:ln>
              <a:noFill/>
            </a:ln>
          </c:spPr>
          <c:invertIfNegative val="0"/>
          <c:val>
            <c:numRef>
              <c:f>Sheet1!$A$7:$B$7</c:f>
              <c:numCache>
                <c:formatCode>General</c:formatCode>
                <c:ptCount val="2"/>
                <c:pt idx="0">
                  <c:v>5.7310000000000016</c:v>
                </c:pt>
              </c:numCache>
            </c:numRef>
          </c:val>
          <c:extLst>
            <c:ext xmlns:c16="http://schemas.microsoft.com/office/drawing/2014/chart" uri="{C3380CC4-5D6E-409C-BE32-E72D297353CC}">
              <c16:uniqueId val="{00000008-24DE-48EE-A917-ACFE619BBEAD}"/>
            </c:ext>
          </c:extLst>
        </c:ser>
        <c:dLbls>
          <c:showLegendKey val="0"/>
          <c:showVal val="0"/>
          <c:showCatName val="0"/>
          <c:showSerName val="0"/>
          <c:showPercent val="0"/>
          <c:showBubbleSize val="0"/>
        </c:dLbls>
        <c:gapWidth val="80"/>
        <c:overlap val="100"/>
        <c:axId val="1142342208"/>
        <c:axId val="1"/>
      </c:barChart>
      <c:catAx>
        <c:axId val="1142342208"/>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56.061000000000007"/>
          <c:min val="0"/>
        </c:scaling>
        <c:delete val="1"/>
        <c:axPos val="l"/>
        <c:numFmt formatCode="General" sourceLinked="1"/>
        <c:majorTickMark val="out"/>
        <c:minorTickMark val="none"/>
        <c:tickLblPos val="nextTo"/>
        <c:crossAx val="1142342208"/>
        <c:crosses val="min"/>
        <c:crossBetween val="between"/>
      </c:valAx>
    </c:plotArea>
    <c:plotVisOnly val="0"/>
    <c:dispBlanksAs val="gap"/>
    <c:showDLblsOverMax val="1"/>
  </c:chart>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133443163097197E-2"/>
          <c:y val="0.15217391304347824"/>
          <c:w val="0.96573311367380554"/>
          <c:h val="0.69565217391304346"/>
        </c:manualLayout>
      </c:layout>
      <c:barChart>
        <c:barDir val="col"/>
        <c:grouping val="clustered"/>
        <c:varyColors val="0"/>
        <c:ser>
          <c:idx val="0"/>
          <c:order val="0"/>
          <c:spPr>
            <a:solidFill>
              <a:srgbClr val="86BC25"/>
            </a:solidFill>
            <a:ln>
              <a:noFill/>
            </a:ln>
          </c:spPr>
          <c:invertIfNegative val="0"/>
          <c:dLbls>
            <c:dLbl>
              <c:idx val="0"/>
              <c:layout>
                <c:manualLayout>
                  <c:x val="0"/>
                  <c:y val="-0.10024154589371981"/>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386B-4399-894C-225630D08003}"/>
                </c:ext>
              </c:extLst>
            </c:dLbl>
            <c:dLbl>
              <c:idx val="1"/>
              <c:layout>
                <c:manualLayout>
                  <c:x val="0"/>
                  <c:y val="-0.1280193236714976"/>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386B-4399-894C-225630D08003}"/>
                </c:ext>
              </c:extLst>
            </c:dLbl>
            <c:dLbl>
              <c:idx val="2"/>
              <c:layout>
                <c:manualLayout>
                  <c:x val="0"/>
                  <c:y val="-2.6570048309178744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386B-4399-894C-225630D08003}"/>
                </c:ext>
              </c:extLst>
            </c:dLbl>
            <c:dLbl>
              <c:idx val="3"/>
              <c:layout>
                <c:manualLayout>
                  <c:x val="0"/>
                  <c:y val="-0.25483091787439616"/>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386B-4399-894C-225630D08003}"/>
                </c:ext>
              </c:extLst>
            </c:dLbl>
            <c:dLbl>
              <c:idx val="4"/>
              <c:layout>
                <c:manualLayout>
                  <c:x val="0"/>
                  <c:y val="-0.16425120772946861"/>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386B-4399-894C-225630D0800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3.492</c:v>
                </c:pt>
                <c:pt idx="1">
                  <c:v>4.2619999999999996</c:v>
                </c:pt>
                <c:pt idx="2">
                  <c:v>-1.48</c:v>
                </c:pt>
                <c:pt idx="3">
                  <c:v>-9.7799999999999994</c:v>
                </c:pt>
                <c:pt idx="4">
                  <c:v>-5.2539999999999996</c:v>
                </c:pt>
              </c:numCache>
            </c:numRef>
          </c:val>
          <c:extLst>
            <c:ext xmlns:c16="http://schemas.microsoft.com/office/drawing/2014/chart" uri="{C3380CC4-5D6E-409C-BE32-E72D297353CC}">
              <c16:uniqueId val="{00000005-386B-4399-894C-225630D08003}"/>
            </c:ext>
          </c:extLst>
        </c:ser>
        <c:ser>
          <c:idx val="1"/>
          <c:order val="1"/>
          <c:spPr>
            <a:solidFill>
              <a:srgbClr val="046A38"/>
            </a:solidFill>
            <a:ln>
              <a:noFill/>
            </a:ln>
          </c:spPr>
          <c:invertIfNegative val="0"/>
          <c:dLbls>
            <c:dLbl>
              <c:idx val="0"/>
              <c:layout>
                <c:manualLayout>
                  <c:x val="0"/>
                  <c:y val="-3.7439613526570048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386B-4399-894C-225630D08003}"/>
                </c:ext>
              </c:extLst>
            </c:dLbl>
            <c:dLbl>
              <c:idx val="1"/>
              <c:layout>
                <c:manualLayout>
                  <c:x val="0"/>
                  <c:y val="-2.5362318840579712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386B-4399-894C-225630D08003}"/>
                </c:ext>
              </c:extLst>
            </c:dLbl>
            <c:dLbl>
              <c:idx val="2"/>
              <c:layout>
                <c:manualLayout>
                  <c:x val="0"/>
                  <c:y val="-0.1364734299516908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386B-4399-894C-225630D08003}"/>
                </c:ext>
              </c:extLst>
            </c:dLbl>
            <c:dLbl>
              <c:idx val="3"/>
              <c:layout>
                <c:manualLayout>
                  <c:x val="0"/>
                  <c:y val="-0.2475845410628019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386B-4399-894C-225630D08003}"/>
                </c:ext>
              </c:extLst>
            </c:dLbl>
            <c:dLbl>
              <c:idx val="4"/>
              <c:layout>
                <c:manualLayout>
                  <c:x val="0"/>
                  <c:y val="-0.18478260869565216"/>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386B-4399-894C-225630D0800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Sheet1!$A$2:$E$2</c:f>
              <c:numCache>
                <c:formatCode>General</c:formatCode>
                <c:ptCount val="5"/>
                <c:pt idx="0">
                  <c:v>1.7629999999999999</c:v>
                </c:pt>
                <c:pt idx="1">
                  <c:v>1.4079999999999999</c:v>
                </c:pt>
                <c:pt idx="2">
                  <c:v>4.4930000000000003</c:v>
                </c:pt>
                <c:pt idx="3">
                  <c:v>9.3680000000000003</c:v>
                </c:pt>
                <c:pt idx="4">
                  <c:v>5.8609999999999998</c:v>
                </c:pt>
              </c:numCache>
            </c:numRef>
          </c:val>
          <c:extLst>
            <c:ext xmlns:c16="http://schemas.microsoft.com/office/drawing/2014/chart" uri="{C3380CC4-5D6E-409C-BE32-E72D297353CC}">
              <c16:uniqueId val="{0000000B-386B-4399-894C-225630D08003}"/>
            </c:ext>
          </c:extLst>
        </c:ser>
        <c:dLbls>
          <c:showLegendKey val="0"/>
          <c:showVal val="0"/>
          <c:showCatName val="0"/>
          <c:showSerName val="0"/>
          <c:showPercent val="0"/>
          <c:showBubbleSize val="0"/>
        </c:dLbls>
        <c:gapWidth val="150"/>
        <c:axId val="630261928"/>
        <c:axId val="1"/>
      </c:barChart>
      <c:catAx>
        <c:axId val="630261928"/>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At val="0"/>
        <c:auto val="0"/>
        <c:lblAlgn val="ctr"/>
        <c:lblOffset val="100"/>
        <c:noMultiLvlLbl val="0"/>
      </c:catAx>
      <c:valAx>
        <c:axId val="1"/>
        <c:scaling>
          <c:orientation val="minMax"/>
          <c:max val="9.3680000000000003"/>
          <c:min val="-9.7799999999999994"/>
        </c:scaling>
        <c:delete val="1"/>
        <c:axPos val="l"/>
        <c:numFmt formatCode="General" sourceLinked="1"/>
        <c:majorTickMark val="out"/>
        <c:minorTickMark val="none"/>
        <c:tickLblPos val="nextTo"/>
        <c:crossAx val="630261928"/>
        <c:crosses val="min"/>
        <c:crossBetween val="between"/>
      </c:valAx>
    </c:plotArea>
    <c:plotVisOnly val="0"/>
    <c:dispBlanksAs val="gap"/>
    <c:showDLblsOverMax val="1"/>
  </c:chart>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5575364667747E-2"/>
          <c:y val="0.1939799331103679"/>
          <c:w val="0.96628849270664496"/>
          <c:h val="0.71906354515050164"/>
        </c:manualLayout>
      </c:layout>
      <c:barChart>
        <c:barDir val="col"/>
        <c:grouping val="stacked"/>
        <c:varyColors val="0"/>
        <c:ser>
          <c:idx val="0"/>
          <c:order val="0"/>
          <c:spPr>
            <a:solidFill>
              <a:srgbClr val="86BC25"/>
            </a:solidFill>
            <a:ln>
              <a:noFill/>
            </a:ln>
          </c:spPr>
          <c:invertIfNegative val="0"/>
          <c:dLbls>
            <c:dLbl>
              <c:idx val="0"/>
              <c:layout>
                <c:manualLayout>
                  <c:x val="0"/>
                  <c:y val="-0.31772575250836121"/>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101B-4641-9D37-4B8423747E81}"/>
                </c:ext>
              </c:extLst>
            </c:dLbl>
            <c:dLbl>
              <c:idx val="1"/>
              <c:layout>
                <c:manualLayout>
                  <c:x val="0"/>
                  <c:y val="-0.34949832775919731"/>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101B-4641-9D37-4B8423747E81}"/>
                </c:ext>
              </c:extLst>
            </c:dLbl>
            <c:dLbl>
              <c:idx val="2"/>
              <c:layout>
                <c:manualLayout>
                  <c:x val="0"/>
                  <c:y val="-0.36287625418060199"/>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101B-4641-9D37-4B8423747E81}"/>
                </c:ext>
              </c:extLst>
            </c:dLbl>
            <c:dLbl>
              <c:idx val="3"/>
              <c:layout>
                <c:manualLayout>
                  <c:x val="0"/>
                  <c:y val="-0.40301003344481606"/>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101B-4641-9D37-4B8423747E81}"/>
                </c:ext>
              </c:extLst>
            </c:dLbl>
            <c:dLbl>
              <c:idx val="4"/>
              <c:layout>
                <c:manualLayout>
                  <c:x val="0"/>
                  <c:y val="-0.45819397993311034"/>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101B-4641-9D37-4B8423747E81}"/>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7817</c:v>
                </c:pt>
                <c:pt idx="1">
                  <c:v>9036</c:v>
                </c:pt>
                <c:pt idx="2">
                  <c:v>9479</c:v>
                </c:pt>
                <c:pt idx="3">
                  <c:v>10958</c:v>
                </c:pt>
                <c:pt idx="4">
                  <c:v>12893</c:v>
                </c:pt>
              </c:numCache>
            </c:numRef>
          </c:val>
          <c:extLst>
            <c:ext xmlns:c16="http://schemas.microsoft.com/office/drawing/2014/chart" uri="{C3380CC4-5D6E-409C-BE32-E72D297353CC}">
              <c16:uniqueId val="{00000005-101B-4641-9D37-4B8423747E81}"/>
            </c:ext>
          </c:extLst>
        </c:ser>
        <c:dLbls>
          <c:showLegendKey val="0"/>
          <c:showVal val="0"/>
          <c:showCatName val="0"/>
          <c:showSerName val="0"/>
          <c:showPercent val="0"/>
          <c:showBubbleSize val="0"/>
        </c:dLbls>
        <c:gapWidth val="150"/>
        <c:overlap val="100"/>
        <c:axId val="268300984"/>
        <c:axId val="1"/>
      </c:barChart>
      <c:catAx>
        <c:axId val="268300984"/>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12893"/>
          <c:min val="0"/>
        </c:scaling>
        <c:delete val="1"/>
        <c:axPos val="l"/>
        <c:numFmt formatCode="General" sourceLinked="1"/>
        <c:majorTickMark val="out"/>
        <c:minorTickMark val="none"/>
        <c:tickLblPos val="nextTo"/>
        <c:crossAx val="268300984"/>
        <c:crosses val="min"/>
        <c:crossBetween val="between"/>
      </c:valAx>
    </c:plotArea>
    <c:plotVisOnly val="0"/>
    <c:dispBlanksAs val="gap"/>
    <c:showDLblsOverMax val="1"/>
  </c:chart>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2643301670488044"/>
          <c:y val="5.7868020304568529E-2"/>
          <c:w val="0.74713396659023901"/>
          <c:h val="0.884263959390863"/>
        </c:manualLayout>
      </c:layout>
      <c:barChart>
        <c:barDir val="col"/>
        <c:grouping val="stacked"/>
        <c:varyColors val="0"/>
        <c:ser>
          <c:idx val="0"/>
          <c:order val="0"/>
          <c:spPr>
            <a:solidFill>
              <a:srgbClr val="86BC25"/>
            </a:solidFill>
            <a:ln>
              <a:noFill/>
            </a:ln>
          </c:spPr>
          <c:invertIfNegative val="0"/>
          <c:dLbls>
            <c:dLbl>
              <c:idx val="0"/>
              <c:layout>
                <c:manualLayout>
                  <c:x val="0"/>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A5A8-452B-99DF-F1F4709B5F60}"/>
                </c:ext>
              </c:extLst>
            </c:dLbl>
            <c:dLbl>
              <c:idx val="1"/>
              <c:layout>
                <c:manualLayout>
                  <c:x val="0"/>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A5A8-452B-99DF-F1F4709B5F60}"/>
                </c:ext>
              </c:extLst>
            </c:dLbl>
            <c:dLbl>
              <c:idx val="2"/>
              <c:layout>
                <c:manualLayout>
                  <c:x val="0"/>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A5A8-452B-99DF-F1F4709B5F60}"/>
                </c:ext>
              </c:extLst>
            </c:dLbl>
            <c:dLbl>
              <c:idx val="3"/>
              <c:layout>
                <c:manualLayout>
                  <c:x val="0"/>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A5A8-452B-99DF-F1F4709B5F60}"/>
                </c:ext>
              </c:extLst>
            </c:dLbl>
            <c:dLbl>
              <c:idx val="4"/>
              <c:layout>
                <c:manualLayout>
                  <c:x val="0"/>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A5A8-452B-99DF-F1F4709B5F6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4698.2772000000004</c:v>
                </c:pt>
                <c:pt idx="1">
                  <c:v>4956.7596999999996</c:v>
                </c:pt>
                <c:pt idx="2">
                  <c:v>6317.7534999999998</c:v>
                </c:pt>
                <c:pt idx="3">
                  <c:v>6939.7013999999999</c:v>
                </c:pt>
                <c:pt idx="4">
                  <c:v>7832.4975000000004</c:v>
                </c:pt>
              </c:numCache>
            </c:numRef>
          </c:val>
          <c:extLst>
            <c:ext xmlns:c16="http://schemas.microsoft.com/office/drawing/2014/chart" uri="{C3380CC4-5D6E-409C-BE32-E72D297353CC}">
              <c16:uniqueId val="{00000005-A5A8-452B-99DF-F1F4709B5F60}"/>
            </c:ext>
          </c:extLst>
        </c:ser>
        <c:dLbls>
          <c:showLegendKey val="0"/>
          <c:showVal val="0"/>
          <c:showCatName val="0"/>
          <c:showSerName val="0"/>
          <c:showPercent val="0"/>
          <c:showBubbleSize val="0"/>
        </c:dLbls>
        <c:gapWidth val="80"/>
        <c:overlap val="100"/>
        <c:axId val="894944352"/>
        <c:axId val="1"/>
      </c:barChart>
      <c:lineChart>
        <c:grouping val="standard"/>
        <c:varyColors val="0"/>
        <c:ser>
          <c:idx val="1"/>
          <c:order val="1"/>
          <c:spPr>
            <a:ln w="19050" algn="ctr">
              <a:solidFill>
                <a:schemeClr val="accent1"/>
              </a:solidFill>
              <a:prstDash val="solid"/>
            </a:ln>
          </c:spPr>
          <c:marker>
            <c:symbol val="none"/>
          </c:marker>
          <c:dLbls>
            <c:dLbl>
              <c:idx val="0"/>
              <c:layout>
                <c:manualLayout>
                  <c:x val="0"/>
                  <c:y val="-7.6142131979695438E-2"/>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A5A8-452B-99DF-F1F4709B5F60}"/>
                </c:ext>
              </c:extLst>
            </c:dLbl>
            <c:dLbl>
              <c:idx val="1"/>
              <c:layout>
                <c:manualLayout>
                  <c:x val="0"/>
                  <c:y val="-7.6142131979695438E-2"/>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A5A8-452B-99DF-F1F4709B5F60}"/>
                </c:ext>
              </c:extLst>
            </c:dLbl>
            <c:dLbl>
              <c:idx val="2"/>
              <c:layout>
                <c:manualLayout>
                  <c:x val="0"/>
                  <c:y val="-7.6142131979695438E-2"/>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A5A8-452B-99DF-F1F4709B5F60}"/>
                </c:ext>
              </c:extLst>
            </c:dLbl>
            <c:dLbl>
              <c:idx val="3"/>
              <c:layout>
                <c:manualLayout>
                  <c:x val="0"/>
                  <c:y val="-7.6142131979695438E-2"/>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A5A8-452B-99DF-F1F4709B5F60}"/>
                </c:ext>
              </c:extLst>
            </c:dLbl>
            <c:dLbl>
              <c:idx val="4"/>
              <c:layout>
                <c:manualLayout>
                  <c:x val="0"/>
                  <c:y val="-7.6142131979695438E-2"/>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A5A8-452B-99DF-F1F4709B5F6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Sheet1!$A$2:$E$2</c:f>
              <c:numCache>
                <c:formatCode>General</c:formatCode>
                <c:ptCount val="5"/>
                <c:pt idx="0">
                  <c:v>43738</c:v>
                </c:pt>
                <c:pt idx="1">
                  <c:v>52193</c:v>
                </c:pt>
                <c:pt idx="2">
                  <c:v>57276</c:v>
                </c:pt>
                <c:pt idx="3">
                  <c:v>62678</c:v>
                </c:pt>
                <c:pt idx="4">
                  <c:v>70533</c:v>
                </c:pt>
              </c:numCache>
            </c:numRef>
          </c:val>
          <c:smooth val="0"/>
          <c:extLst>
            <c:ext xmlns:c16="http://schemas.microsoft.com/office/drawing/2014/chart" uri="{C3380CC4-5D6E-409C-BE32-E72D297353CC}">
              <c16:uniqueId val="{0000000B-A5A8-452B-99DF-F1F4709B5F60}"/>
            </c:ext>
          </c:extLst>
        </c:ser>
        <c:ser>
          <c:idx val="2"/>
          <c:order val="2"/>
          <c:spPr>
            <a:ln w="19050" algn="ctr">
              <a:solidFill>
                <a:schemeClr val="accent4"/>
              </a:solidFill>
              <a:prstDash val="solid"/>
            </a:ln>
          </c:spPr>
          <c:marker>
            <c:symbol val="none"/>
          </c:marker>
          <c:dLbls>
            <c:dLbl>
              <c:idx val="0"/>
              <c:layout>
                <c:manualLayout>
                  <c:x val="0"/>
                  <c:y val="7.7157360406091377E-2"/>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A5A8-452B-99DF-F1F4709B5F60}"/>
                </c:ext>
              </c:extLst>
            </c:dLbl>
            <c:dLbl>
              <c:idx val="1"/>
              <c:layout>
                <c:manualLayout>
                  <c:x val="0"/>
                  <c:y val="7.7157360406091377E-2"/>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A5A8-452B-99DF-F1F4709B5F60}"/>
                </c:ext>
              </c:extLst>
            </c:dLbl>
            <c:dLbl>
              <c:idx val="2"/>
              <c:layout>
                <c:manualLayout>
                  <c:x val="0"/>
                  <c:y val="7.7157360406091377E-2"/>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A5A8-452B-99DF-F1F4709B5F60}"/>
                </c:ext>
              </c:extLst>
            </c:dLbl>
            <c:dLbl>
              <c:idx val="3"/>
              <c:layout>
                <c:manualLayout>
                  <c:x val="0"/>
                  <c:y val="7.7157360406091377E-2"/>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A5A8-452B-99DF-F1F4709B5F60}"/>
                </c:ext>
              </c:extLst>
            </c:dLbl>
            <c:dLbl>
              <c:idx val="4"/>
              <c:layout>
                <c:manualLayout>
                  <c:x val="0"/>
                  <c:y val="7.7157360406091377E-2"/>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A5A8-452B-99DF-F1F4709B5F6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Sheet1!$A$3:$E$3</c:f>
              <c:numCache>
                <c:formatCode>General</c:formatCode>
                <c:ptCount val="5"/>
                <c:pt idx="0">
                  <c:v>39620</c:v>
                </c:pt>
                <c:pt idx="1">
                  <c:v>45299</c:v>
                </c:pt>
                <c:pt idx="2">
                  <c:v>50260</c:v>
                </c:pt>
                <c:pt idx="3">
                  <c:v>55103</c:v>
                </c:pt>
                <c:pt idx="4">
                  <c:v>62037</c:v>
                </c:pt>
              </c:numCache>
            </c:numRef>
          </c:val>
          <c:smooth val="0"/>
          <c:extLst>
            <c:ext xmlns:c16="http://schemas.microsoft.com/office/drawing/2014/chart" uri="{C3380CC4-5D6E-409C-BE32-E72D297353CC}">
              <c16:uniqueId val="{00000011-A5A8-452B-99DF-F1F4709B5F60}"/>
            </c:ext>
          </c:extLst>
        </c:ser>
        <c:dLbls>
          <c:showLegendKey val="0"/>
          <c:showVal val="0"/>
          <c:showCatName val="0"/>
          <c:showSerName val="0"/>
          <c:showPercent val="0"/>
          <c:showBubbleSize val="0"/>
        </c:dLbls>
        <c:marker val="1"/>
        <c:smooth val="0"/>
        <c:axId val="894944352"/>
        <c:axId val="2"/>
      </c:lineChart>
      <c:catAx>
        <c:axId val="894944352"/>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20000"/>
          <c:min val="0"/>
        </c:scaling>
        <c:delete val="0"/>
        <c:axPos val="l"/>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900">
                <a:solidFill>
                  <a:schemeClr val="tx1"/>
                </a:solidFill>
                <a:latin typeface="+mn-lt"/>
                <a:ea typeface="+mn-ea"/>
                <a:cs typeface="+mn-cs"/>
                <a:sym typeface="+mn-lt"/>
              </a:defRPr>
            </a:pPr>
            <a:endParaRPr lang="en-US"/>
          </a:p>
        </c:txPr>
        <c:crossAx val="894944352"/>
        <c:crosses val="min"/>
        <c:crossBetween val="between"/>
        <c:majorUnit val="5000"/>
      </c:valAx>
      <c:valAx>
        <c:axId val="2"/>
        <c:scaling>
          <c:orientation val="minMax"/>
          <c:max val="80000"/>
          <c:min val="10000"/>
        </c:scaling>
        <c:delete val="0"/>
        <c:axPos val="r"/>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900">
                <a:solidFill>
                  <a:schemeClr val="tx1"/>
                </a:solidFill>
                <a:latin typeface="+mn-lt"/>
                <a:ea typeface="+mn-ea"/>
                <a:cs typeface="+mn-cs"/>
                <a:sym typeface="+mn-lt"/>
              </a:defRPr>
            </a:pPr>
            <a:endParaRPr lang="en-US"/>
          </a:p>
        </c:txPr>
        <c:crossAx val="894944352"/>
        <c:crosses val="max"/>
        <c:crossBetween val="between"/>
        <c:majorUnit val="10000"/>
      </c:valAx>
    </c:plotArea>
    <c:plotVisOnly val="0"/>
    <c:dispBlanksAs val="gap"/>
    <c:showDLblsOverMax val="1"/>
  </c:chart>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910569105691057E-2"/>
          <c:y val="0.23161764705882354"/>
          <c:w val="0.96617886178861789"/>
          <c:h val="0.67279411764705876"/>
        </c:manualLayout>
      </c:layout>
      <c:barChart>
        <c:barDir val="col"/>
        <c:grouping val="stacked"/>
        <c:varyColors val="0"/>
        <c:ser>
          <c:idx val="0"/>
          <c:order val="0"/>
          <c:spPr>
            <a:solidFill>
              <a:srgbClr val="86BC25"/>
            </a:solidFill>
            <a:ln>
              <a:noFill/>
            </a:ln>
          </c:spPr>
          <c:invertIfNegative val="0"/>
          <c:dPt>
            <c:idx val="0"/>
            <c:invertIfNegative val="0"/>
            <c:bubble3D val="0"/>
            <c:spPr>
              <a:solidFill>
                <a:schemeClr val="accent4"/>
              </a:solidFill>
              <a:ln>
                <a:noFill/>
              </a:ln>
            </c:spPr>
            <c:extLst>
              <c:ext xmlns:c16="http://schemas.microsoft.com/office/drawing/2014/chart" uri="{C3380CC4-5D6E-409C-BE32-E72D297353CC}">
                <c16:uniqueId val="{00000000-5220-40FA-B13C-0D4F870D4DE7}"/>
              </c:ext>
            </c:extLst>
          </c:dPt>
          <c:dLbls>
            <c:dLbl>
              <c:idx val="0"/>
              <c:layout>
                <c:manualLayout>
                  <c:x val="0"/>
                  <c:y val="-0.40625"/>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5220-40FA-B13C-0D4F870D4DE7}"/>
                </c:ext>
              </c:extLst>
            </c:dLbl>
            <c:dLbl>
              <c:idx val="1"/>
              <c:layout>
                <c:manualLayout>
                  <c:x val="0"/>
                  <c:y val="-0.4301470588235294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5220-40FA-B13C-0D4F870D4DE7}"/>
                </c:ext>
              </c:extLst>
            </c:dLbl>
            <c:dLbl>
              <c:idx val="2"/>
              <c:layout>
                <c:manualLayout>
                  <c:x val="0"/>
                  <c:y val="-0.4540441176470588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5220-40FA-B13C-0D4F870D4DE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12893</c:v>
                </c:pt>
                <c:pt idx="1">
                  <c:v>13975</c:v>
                </c:pt>
                <c:pt idx="2">
                  <c:v>15041</c:v>
                </c:pt>
              </c:numCache>
            </c:numRef>
          </c:val>
          <c:extLst>
            <c:ext xmlns:c16="http://schemas.microsoft.com/office/drawing/2014/chart" uri="{C3380CC4-5D6E-409C-BE32-E72D297353CC}">
              <c16:uniqueId val="{00000003-5220-40FA-B13C-0D4F870D4DE7}"/>
            </c:ext>
          </c:extLst>
        </c:ser>
        <c:dLbls>
          <c:showLegendKey val="0"/>
          <c:showVal val="0"/>
          <c:showCatName val="0"/>
          <c:showSerName val="0"/>
          <c:showPercent val="0"/>
          <c:showBubbleSize val="0"/>
        </c:dLbls>
        <c:gapWidth val="150"/>
        <c:overlap val="100"/>
        <c:axId val="1174089336"/>
        <c:axId val="1"/>
      </c:barChart>
      <c:catAx>
        <c:axId val="1174089336"/>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15041"/>
          <c:min val="0"/>
        </c:scaling>
        <c:delete val="1"/>
        <c:axPos val="l"/>
        <c:numFmt formatCode="General" sourceLinked="1"/>
        <c:majorTickMark val="out"/>
        <c:minorTickMark val="none"/>
        <c:tickLblPos val="nextTo"/>
        <c:crossAx val="1174089336"/>
        <c:crosses val="min"/>
        <c:crossBetween val="between"/>
      </c:valAx>
    </c:plotArea>
    <c:plotVisOnly val="0"/>
    <c:dispBlanksAs val="gap"/>
    <c:showDLblsOverMax val="1"/>
  </c:chart>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218543046357615E-2"/>
          <c:y val="4.471195184866724E-2"/>
          <c:w val="0.96556291390728477"/>
          <c:h val="0.91057609630266556"/>
        </c:manualLayout>
      </c:layout>
      <c:barChart>
        <c:barDir val="col"/>
        <c:grouping val="stacked"/>
        <c:varyColors val="0"/>
        <c:ser>
          <c:idx val="0"/>
          <c:order val="0"/>
          <c:spPr>
            <a:solidFill>
              <a:srgbClr val="86BC25"/>
            </a:solidFill>
            <a:ln>
              <a:noFill/>
            </a:ln>
          </c:spPr>
          <c:invertIfNegative val="0"/>
          <c:val>
            <c:numRef>
              <c:f>Sheet1!$A$1:$E$1</c:f>
              <c:numCache>
                <c:formatCode>General</c:formatCode>
                <c:ptCount val="5"/>
                <c:pt idx="0">
                  <c:v>523.03679999999997</c:v>
                </c:pt>
                <c:pt idx="1">
                  <c:v>851.62120000000004</c:v>
                </c:pt>
                <c:pt idx="2">
                  <c:v>1005.3000000000001</c:v>
                </c:pt>
                <c:pt idx="3">
                  <c:v>1179.2041999999999</c:v>
                </c:pt>
                <c:pt idx="4">
                  <c:v>1377.2214000000001</c:v>
                </c:pt>
              </c:numCache>
            </c:numRef>
          </c:val>
          <c:extLst>
            <c:ext xmlns:c16="http://schemas.microsoft.com/office/drawing/2014/chart" uri="{C3380CC4-5D6E-409C-BE32-E72D297353CC}">
              <c16:uniqueId val="{00000000-6E16-4D02-BCE7-B6A21F05E70A}"/>
            </c:ext>
          </c:extLst>
        </c:ser>
        <c:ser>
          <c:idx val="1"/>
          <c:order val="1"/>
          <c:spPr>
            <a:solidFill>
              <a:srgbClr val="046A38"/>
            </a:solidFill>
            <a:ln>
              <a:noFill/>
            </a:ln>
          </c:spPr>
          <c:invertIfNegative val="0"/>
          <c:val>
            <c:numRef>
              <c:f>Sheet1!$A$2:$E$2</c:f>
              <c:numCache>
                <c:formatCode>General</c:formatCode>
                <c:ptCount val="5"/>
                <c:pt idx="0">
                  <c:v>3685.0320000000002</c:v>
                </c:pt>
                <c:pt idx="1">
                  <c:v>4230.9266000000007</c:v>
                </c:pt>
                <c:pt idx="2">
                  <c:v>4659.5655000000006</c:v>
                </c:pt>
                <c:pt idx="3">
                  <c:v>5063.9656999999997</c:v>
                </c:pt>
                <c:pt idx="4">
                  <c:v>7512.680699999999</c:v>
                </c:pt>
              </c:numCache>
            </c:numRef>
          </c:val>
          <c:extLst>
            <c:ext xmlns:c16="http://schemas.microsoft.com/office/drawing/2014/chart" uri="{C3380CC4-5D6E-409C-BE32-E72D297353CC}">
              <c16:uniqueId val="{00000001-6E16-4D02-BCE7-B6A21F05E70A}"/>
            </c:ext>
          </c:extLst>
        </c:ser>
        <c:ser>
          <c:idx val="2"/>
          <c:order val="2"/>
          <c:spPr>
            <a:solidFill>
              <a:srgbClr val="62B5E5"/>
            </a:solidFill>
            <a:ln>
              <a:noFill/>
            </a:ln>
          </c:spPr>
          <c:invertIfNegative val="0"/>
          <c:val>
            <c:numRef>
              <c:f>Sheet1!$A$3:$E$3</c:f>
              <c:numCache>
                <c:formatCode>General</c:formatCode>
                <c:ptCount val="5"/>
                <c:pt idx="0">
                  <c:v>13305.7392</c:v>
                </c:pt>
                <c:pt idx="1">
                  <c:v>15528.497199999998</c:v>
                </c:pt>
                <c:pt idx="2">
                  <c:v>17818.942499999997</c:v>
                </c:pt>
                <c:pt idx="3">
                  <c:v>18415.422599999998</c:v>
                </c:pt>
                <c:pt idx="4">
                  <c:v>18331.933499999999</c:v>
                </c:pt>
              </c:numCache>
            </c:numRef>
          </c:val>
          <c:extLst>
            <c:ext xmlns:c16="http://schemas.microsoft.com/office/drawing/2014/chart" uri="{C3380CC4-5D6E-409C-BE32-E72D297353CC}">
              <c16:uniqueId val="{00000002-6E16-4D02-BCE7-B6A21F05E70A}"/>
            </c:ext>
          </c:extLst>
        </c:ser>
        <c:ser>
          <c:idx val="3"/>
          <c:order val="3"/>
          <c:spPr>
            <a:solidFill>
              <a:srgbClr val="012169"/>
            </a:solidFill>
            <a:ln>
              <a:noFill/>
            </a:ln>
          </c:spPr>
          <c:invertIfNegative val="0"/>
          <c:val>
            <c:numRef>
              <c:f>Sheet1!$A$4:$E$4</c:f>
              <c:numCache>
                <c:formatCode>General</c:formatCode>
                <c:ptCount val="5"/>
                <c:pt idx="0">
                  <c:v>1636.4712</c:v>
                </c:pt>
                <c:pt idx="1">
                  <c:v>1635.2939000000006</c:v>
                </c:pt>
                <c:pt idx="2">
                  <c:v>1553.1885000000002</c:v>
                </c:pt>
                <c:pt idx="3">
                  <c:v>1432.6779999999999</c:v>
                </c:pt>
                <c:pt idx="4">
                  <c:v>1743.2396999999983</c:v>
                </c:pt>
              </c:numCache>
            </c:numRef>
          </c:val>
          <c:extLst>
            <c:ext xmlns:c16="http://schemas.microsoft.com/office/drawing/2014/chart" uri="{C3380CC4-5D6E-409C-BE32-E72D297353CC}">
              <c16:uniqueId val="{00000003-6E16-4D02-BCE7-B6A21F05E70A}"/>
            </c:ext>
          </c:extLst>
        </c:ser>
        <c:ser>
          <c:idx val="4"/>
          <c:order val="4"/>
          <c:spPr>
            <a:solidFill>
              <a:srgbClr val="0097A9"/>
            </a:solidFill>
            <a:ln>
              <a:noFill/>
            </a:ln>
          </c:spPr>
          <c:invertIfNegative val="0"/>
          <c:val>
            <c:numRef>
              <c:f>Sheet1!$A$5:$E$5</c:f>
              <c:numCache>
                <c:formatCode>General</c:formatCode>
                <c:ptCount val="5"/>
                <c:pt idx="0">
                  <c:v>20469.758399999995</c:v>
                </c:pt>
                <c:pt idx="1">
                  <c:v>23052.661100000001</c:v>
                </c:pt>
                <c:pt idx="2">
                  <c:v>25222.977000000003</c:v>
                </c:pt>
                <c:pt idx="3">
                  <c:v>29011.729500000001</c:v>
                </c:pt>
                <c:pt idx="4">
                  <c:v>33071.924700000003</c:v>
                </c:pt>
              </c:numCache>
            </c:numRef>
          </c:val>
          <c:extLst>
            <c:ext xmlns:c16="http://schemas.microsoft.com/office/drawing/2014/chart" uri="{C3380CC4-5D6E-409C-BE32-E72D297353CC}">
              <c16:uniqueId val="{00000004-6E16-4D02-BCE7-B6A21F05E70A}"/>
            </c:ext>
          </c:extLst>
        </c:ser>
        <c:dLbls>
          <c:showLegendKey val="0"/>
          <c:showVal val="0"/>
          <c:showCatName val="0"/>
          <c:showSerName val="0"/>
          <c:showPercent val="0"/>
          <c:showBubbleSize val="0"/>
        </c:dLbls>
        <c:gapWidth val="80"/>
        <c:overlap val="100"/>
        <c:axId val="843486816"/>
        <c:axId val="1"/>
      </c:barChart>
      <c:catAx>
        <c:axId val="843486816"/>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62037"/>
          <c:min val="0"/>
        </c:scaling>
        <c:delete val="1"/>
        <c:axPos val="l"/>
        <c:numFmt formatCode="General" sourceLinked="1"/>
        <c:majorTickMark val="out"/>
        <c:minorTickMark val="none"/>
        <c:tickLblPos val="nextTo"/>
        <c:crossAx val="843486816"/>
        <c:crosses val="min"/>
        <c:crossBetween val="between"/>
      </c:valAx>
    </c:plotArea>
    <c:plotVisOnly val="0"/>
    <c:dispBlanksAs val="gap"/>
    <c:showDLblsOverMax val="1"/>
  </c:chart>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621145374449341E-2"/>
          <c:y val="5.2472250252270432E-2"/>
          <c:w val="0.96475770925110138"/>
          <c:h val="0.89505549949545915"/>
        </c:manualLayout>
      </c:layout>
      <c:barChart>
        <c:barDir val="col"/>
        <c:grouping val="stacked"/>
        <c:varyColors val="0"/>
        <c:ser>
          <c:idx val="0"/>
          <c:order val="0"/>
          <c:spPr>
            <a:solidFill>
              <a:srgbClr val="86BC25"/>
            </a:solidFill>
            <a:ln>
              <a:noFill/>
            </a:ln>
          </c:spPr>
          <c:invertIfNegative val="0"/>
          <c:val>
            <c:numRef>
              <c:f>Sheet1!$A$1:$E$1</c:f>
              <c:numCache>
                <c:formatCode>General</c:formatCode>
                <c:ptCount val="5"/>
                <c:pt idx="0">
                  <c:v>73.17</c:v>
                </c:pt>
                <c:pt idx="1">
                  <c:v>75.92</c:v>
                </c:pt>
                <c:pt idx="2">
                  <c:v>88</c:v>
                </c:pt>
                <c:pt idx="3">
                  <c:v>90</c:v>
                </c:pt>
                <c:pt idx="4">
                  <c:v>96</c:v>
                </c:pt>
              </c:numCache>
            </c:numRef>
          </c:val>
          <c:extLst>
            <c:ext xmlns:c16="http://schemas.microsoft.com/office/drawing/2014/chart" uri="{C3380CC4-5D6E-409C-BE32-E72D297353CC}">
              <c16:uniqueId val="{00000000-4B13-4F05-9587-41997451B07F}"/>
            </c:ext>
          </c:extLst>
        </c:ser>
        <c:dLbls>
          <c:showLegendKey val="0"/>
          <c:showVal val="0"/>
          <c:showCatName val="0"/>
          <c:showSerName val="0"/>
          <c:showPercent val="0"/>
          <c:showBubbleSize val="0"/>
        </c:dLbls>
        <c:gapWidth val="150"/>
        <c:overlap val="100"/>
        <c:axId val="644537144"/>
        <c:axId val="1"/>
      </c:barChart>
      <c:catAx>
        <c:axId val="644537144"/>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96"/>
          <c:min val="0"/>
        </c:scaling>
        <c:delete val="1"/>
        <c:axPos val="l"/>
        <c:numFmt formatCode="General" sourceLinked="1"/>
        <c:majorTickMark val="out"/>
        <c:minorTickMark val="none"/>
        <c:tickLblPos val="nextTo"/>
        <c:crossAx val="644537144"/>
        <c:crosses val="min"/>
        <c:crossBetween val="between"/>
      </c:valAx>
    </c:plotArea>
    <c:plotVisOnly val="0"/>
    <c:dispBlanksAs val="gap"/>
    <c:showDLblsOverMax val="1"/>
  </c:chart>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5575364667747E-2"/>
          <c:y val="5.0880626223091974E-2"/>
          <c:w val="0.96628849270664496"/>
          <c:h val="0.89823874755381605"/>
        </c:manualLayout>
      </c:layout>
      <c:barChart>
        <c:barDir val="col"/>
        <c:grouping val="stacked"/>
        <c:varyColors val="0"/>
        <c:ser>
          <c:idx val="0"/>
          <c:order val="0"/>
          <c:spPr>
            <a:solidFill>
              <a:srgbClr val="046A38"/>
            </a:solidFill>
            <a:ln>
              <a:noFill/>
            </a:ln>
          </c:spPr>
          <c:invertIfNegative val="0"/>
          <c:dPt>
            <c:idx val="3"/>
            <c:invertIfNegative val="0"/>
            <c:bubble3D val="0"/>
            <c:spPr>
              <a:solidFill>
                <a:srgbClr val="6FC2B4"/>
              </a:solidFill>
              <a:ln>
                <a:noFill/>
              </a:ln>
            </c:spPr>
            <c:extLst>
              <c:ext xmlns:c16="http://schemas.microsoft.com/office/drawing/2014/chart" uri="{C3380CC4-5D6E-409C-BE32-E72D297353CC}">
                <c16:uniqueId val="{00000000-E6C0-45A7-85AD-3621AA7D37A8}"/>
              </c:ext>
            </c:extLst>
          </c:dPt>
          <c:dPt>
            <c:idx val="4"/>
            <c:invertIfNegative val="0"/>
            <c:bubble3D val="0"/>
            <c:spPr>
              <a:solidFill>
                <a:srgbClr val="6FC2B4"/>
              </a:solidFill>
              <a:ln>
                <a:noFill/>
              </a:ln>
            </c:spPr>
            <c:extLst>
              <c:ext xmlns:c16="http://schemas.microsoft.com/office/drawing/2014/chart" uri="{C3380CC4-5D6E-409C-BE32-E72D297353CC}">
                <c16:uniqueId val="{00000001-E6C0-45A7-85AD-3621AA7D37A8}"/>
              </c:ext>
            </c:extLst>
          </c:dPt>
          <c:val>
            <c:numRef>
              <c:f>Sheet1!$A$1:$E$1</c:f>
              <c:numCache>
                <c:formatCode>General</c:formatCode>
                <c:ptCount val="5"/>
                <c:pt idx="0">
                  <c:v>500</c:v>
                </c:pt>
                <c:pt idx="1">
                  <c:v>600</c:v>
                </c:pt>
                <c:pt idx="2">
                  <c:v>600</c:v>
                </c:pt>
                <c:pt idx="3">
                  <c:v>3</c:v>
                </c:pt>
                <c:pt idx="4">
                  <c:v>30</c:v>
                </c:pt>
              </c:numCache>
            </c:numRef>
          </c:val>
          <c:extLst>
            <c:ext xmlns:c16="http://schemas.microsoft.com/office/drawing/2014/chart" uri="{C3380CC4-5D6E-409C-BE32-E72D297353CC}">
              <c16:uniqueId val="{00000002-E6C0-45A7-85AD-3621AA7D37A8}"/>
            </c:ext>
          </c:extLst>
        </c:ser>
        <c:ser>
          <c:idx val="1"/>
          <c:order val="1"/>
          <c:spPr>
            <a:solidFill>
              <a:srgbClr val="62B5E5"/>
            </a:solidFill>
            <a:ln>
              <a:noFill/>
            </a:ln>
          </c:spPr>
          <c:invertIfNegative val="0"/>
          <c:dPt>
            <c:idx val="3"/>
            <c:invertIfNegative val="0"/>
            <c:bubble3D val="0"/>
            <c:spPr>
              <a:solidFill>
                <a:srgbClr val="046A38"/>
              </a:solidFill>
              <a:ln>
                <a:noFill/>
              </a:ln>
            </c:spPr>
            <c:extLst>
              <c:ext xmlns:c16="http://schemas.microsoft.com/office/drawing/2014/chart" uri="{C3380CC4-5D6E-409C-BE32-E72D297353CC}">
                <c16:uniqueId val="{00000003-E6C0-45A7-85AD-3621AA7D37A8}"/>
              </c:ext>
            </c:extLst>
          </c:dPt>
          <c:dPt>
            <c:idx val="4"/>
            <c:invertIfNegative val="0"/>
            <c:bubble3D val="0"/>
            <c:spPr>
              <a:solidFill>
                <a:srgbClr val="046A38"/>
              </a:solidFill>
              <a:ln>
                <a:noFill/>
              </a:ln>
            </c:spPr>
            <c:extLst>
              <c:ext xmlns:c16="http://schemas.microsoft.com/office/drawing/2014/chart" uri="{C3380CC4-5D6E-409C-BE32-E72D297353CC}">
                <c16:uniqueId val="{00000004-E6C0-45A7-85AD-3621AA7D37A8}"/>
              </c:ext>
            </c:extLst>
          </c:dPt>
          <c:val>
            <c:numRef>
              <c:f>Sheet1!$A$2:$E$2</c:f>
              <c:numCache>
                <c:formatCode>General</c:formatCode>
                <c:ptCount val="5"/>
                <c:pt idx="0">
                  <c:v>200</c:v>
                </c:pt>
                <c:pt idx="1">
                  <c:v>250</c:v>
                </c:pt>
                <c:pt idx="2">
                  <c:v>250</c:v>
                </c:pt>
                <c:pt idx="3">
                  <c:v>660</c:v>
                </c:pt>
                <c:pt idx="4">
                  <c:v>1160</c:v>
                </c:pt>
              </c:numCache>
            </c:numRef>
          </c:val>
          <c:extLst>
            <c:ext xmlns:c16="http://schemas.microsoft.com/office/drawing/2014/chart" uri="{C3380CC4-5D6E-409C-BE32-E72D297353CC}">
              <c16:uniqueId val="{00000005-E6C0-45A7-85AD-3621AA7D37A8}"/>
            </c:ext>
          </c:extLst>
        </c:ser>
        <c:ser>
          <c:idx val="2"/>
          <c:order val="2"/>
          <c:spPr>
            <a:solidFill>
              <a:srgbClr val="012169"/>
            </a:solidFill>
            <a:ln>
              <a:noFill/>
            </a:ln>
          </c:spPr>
          <c:invertIfNegative val="0"/>
          <c:dPt>
            <c:idx val="3"/>
            <c:invertIfNegative val="0"/>
            <c:bubble3D val="0"/>
            <c:spPr>
              <a:solidFill>
                <a:srgbClr val="62B5E5"/>
              </a:solidFill>
              <a:ln>
                <a:noFill/>
              </a:ln>
            </c:spPr>
            <c:extLst>
              <c:ext xmlns:c16="http://schemas.microsoft.com/office/drawing/2014/chart" uri="{C3380CC4-5D6E-409C-BE32-E72D297353CC}">
                <c16:uniqueId val="{00000006-E6C0-45A7-85AD-3621AA7D37A8}"/>
              </c:ext>
            </c:extLst>
          </c:dPt>
          <c:dPt>
            <c:idx val="4"/>
            <c:invertIfNegative val="0"/>
            <c:bubble3D val="0"/>
            <c:spPr>
              <a:solidFill>
                <a:srgbClr val="62B5E5"/>
              </a:solidFill>
              <a:ln>
                <a:noFill/>
              </a:ln>
            </c:spPr>
            <c:extLst>
              <c:ext xmlns:c16="http://schemas.microsoft.com/office/drawing/2014/chart" uri="{C3380CC4-5D6E-409C-BE32-E72D297353CC}">
                <c16:uniqueId val="{00000007-E6C0-45A7-85AD-3621AA7D37A8}"/>
              </c:ext>
            </c:extLst>
          </c:dPt>
          <c:val>
            <c:numRef>
              <c:f>Sheet1!$A$3:$E$3</c:f>
              <c:numCache>
                <c:formatCode>General</c:formatCode>
                <c:ptCount val="5"/>
                <c:pt idx="0">
                  <c:v>230</c:v>
                </c:pt>
                <c:pt idx="1">
                  <c:v>230</c:v>
                </c:pt>
                <c:pt idx="2">
                  <c:v>230</c:v>
                </c:pt>
                <c:pt idx="3">
                  <c:v>524</c:v>
                </c:pt>
                <c:pt idx="4">
                  <c:v>524</c:v>
                </c:pt>
              </c:numCache>
            </c:numRef>
          </c:val>
          <c:extLst>
            <c:ext xmlns:c16="http://schemas.microsoft.com/office/drawing/2014/chart" uri="{C3380CC4-5D6E-409C-BE32-E72D297353CC}">
              <c16:uniqueId val="{00000008-E6C0-45A7-85AD-3621AA7D37A8}"/>
            </c:ext>
          </c:extLst>
        </c:ser>
        <c:ser>
          <c:idx val="3"/>
          <c:order val="3"/>
          <c:spPr>
            <a:solidFill>
              <a:srgbClr val="0097A9"/>
            </a:solidFill>
            <a:ln>
              <a:noFill/>
            </a:ln>
          </c:spPr>
          <c:invertIfNegative val="0"/>
          <c:dPt>
            <c:idx val="3"/>
            <c:invertIfNegative val="0"/>
            <c:bubble3D val="0"/>
            <c:spPr>
              <a:solidFill>
                <a:srgbClr val="012169"/>
              </a:solidFill>
              <a:ln>
                <a:noFill/>
              </a:ln>
            </c:spPr>
            <c:extLst>
              <c:ext xmlns:c16="http://schemas.microsoft.com/office/drawing/2014/chart" uri="{C3380CC4-5D6E-409C-BE32-E72D297353CC}">
                <c16:uniqueId val="{00000009-E6C0-45A7-85AD-3621AA7D37A8}"/>
              </c:ext>
            </c:extLst>
          </c:dPt>
          <c:dPt>
            <c:idx val="4"/>
            <c:invertIfNegative val="0"/>
            <c:bubble3D val="0"/>
            <c:spPr>
              <a:solidFill>
                <a:srgbClr val="012169"/>
              </a:solidFill>
              <a:ln>
                <a:noFill/>
              </a:ln>
            </c:spPr>
            <c:extLst>
              <c:ext xmlns:c16="http://schemas.microsoft.com/office/drawing/2014/chart" uri="{C3380CC4-5D6E-409C-BE32-E72D297353CC}">
                <c16:uniqueId val="{0000000A-E6C0-45A7-85AD-3621AA7D37A8}"/>
              </c:ext>
            </c:extLst>
          </c:dPt>
          <c:val>
            <c:numRef>
              <c:f>Sheet1!$A$4:$E$4</c:f>
              <c:numCache>
                <c:formatCode>General</c:formatCode>
                <c:ptCount val="5"/>
                <c:pt idx="0">
                  <c:v>2301</c:v>
                </c:pt>
                <c:pt idx="1">
                  <c:v>2629</c:v>
                </c:pt>
                <c:pt idx="2">
                  <c:v>2785</c:v>
                </c:pt>
                <c:pt idx="3">
                  <c:v>230</c:v>
                </c:pt>
                <c:pt idx="4">
                  <c:v>230</c:v>
                </c:pt>
              </c:numCache>
            </c:numRef>
          </c:val>
          <c:extLst>
            <c:ext xmlns:c16="http://schemas.microsoft.com/office/drawing/2014/chart" uri="{C3380CC4-5D6E-409C-BE32-E72D297353CC}">
              <c16:uniqueId val="{0000000B-E6C0-45A7-85AD-3621AA7D37A8}"/>
            </c:ext>
          </c:extLst>
        </c:ser>
        <c:ser>
          <c:idx val="4"/>
          <c:order val="4"/>
          <c:spPr>
            <a:solidFill>
              <a:srgbClr val="75787B"/>
            </a:solidFill>
            <a:ln>
              <a:noFill/>
            </a:ln>
          </c:spPr>
          <c:invertIfNegative val="0"/>
          <c:dPt>
            <c:idx val="3"/>
            <c:invertIfNegative val="0"/>
            <c:bubble3D val="0"/>
            <c:spPr>
              <a:solidFill>
                <a:srgbClr val="0097A9"/>
              </a:solidFill>
              <a:ln>
                <a:noFill/>
              </a:ln>
            </c:spPr>
            <c:extLst>
              <c:ext xmlns:c16="http://schemas.microsoft.com/office/drawing/2014/chart" uri="{C3380CC4-5D6E-409C-BE32-E72D297353CC}">
                <c16:uniqueId val="{0000000C-E6C0-45A7-85AD-3621AA7D37A8}"/>
              </c:ext>
            </c:extLst>
          </c:dPt>
          <c:dPt>
            <c:idx val="4"/>
            <c:invertIfNegative val="0"/>
            <c:bubble3D val="0"/>
            <c:spPr>
              <a:solidFill>
                <a:srgbClr val="0097A9"/>
              </a:solidFill>
              <a:ln>
                <a:noFill/>
              </a:ln>
            </c:spPr>
            <c:extLst>
              <c:ext xmlns:c16="http://schemas.microsoft.com/office/drawing/2014/chart" uri="{C3380CC4-5D6E-409C-BE32-E72D297353CC}">
                <c16:uniqueId val="{0000000D-E6C0-45A7-85AD-3621AA7D37A8}"/>
              </c:ext>
            </c:extLst>
          </c:dPt>
          <c:val>
            <c:numRef>
              <c:f>Sheet1!$A$5:$E$5</c:f>
              <c:numCache>
                <c:formatCode>General</c:formatCode>
                <c:ptCount val="5"/>
                <c:pt idx="0">
                  <c:v>927</c:v>
                </c:pt>
                <c:pt idx="1">
                  <c:v>1028</c:v>
                </c:pt>
                <c:pt idx="2">
                  <c:v>880</c:v>
                </c:pt>
                <c:pt idx="3">
                  <c:v>3443</c:v>
                </c:pt>
                <c:pt idx="4">
                  <c:v>4770</c:v>
                </c:pt>
              </c:numCache>
            </c:numRef>
          </c:val>
          <c:extLst>
            <c:ext xmlns:c16="http://schemas.microsoft.com/office/drawing/2014/chart" uri="{C3380CC4-5D6E-409C-BE32-E72D297353CC}">
              <c16:uniqueId val="{0000000E-E6C0-45A7-85AD-3621AA7D37A8}"/>
            </c:ext>
          </c:extLst>
        </c:ser>
        <c:ser>
          <c:idx val="5"/>
          <c:order val="5"/>
          <c:spPr>
            <a:solidFill>
              <a:srgbClr val="86BC25"/>
            </a:solidFill>
            <a:ln>
              <a:noFill/>
            </a:ln>
          </c:spPr>
          <c:invertIfNegative val="0"/>
          <c:dPt>
            <c:idx val="3"/>
            <c:invertIfNegative val="0"/>
            <c:bubble3D val="0"/>
            <c:spPr>
              <a:solidFill>
                <a:srgbClr val="75787B"/>
              </a:solidFill>
              <a:ln>
                <a:noFill/>
              </a:ln>
            </c:spPr>
            <c:extLst>
              <c:ext xmlns:c16="http://schemas.microsoft.com/office/drawing/2014/chart" uri="{C3380CC4-5D6E-409C-BE32-E72D297353CC}">
                <c16:uniqueId val="{0000000F-E6C0-45A7-85AD-3621AA7D37A8}"/>
              </c:ext>
            </c:extLst>
          </c:dPt>
          <c:dPt>
            <c:idx val="4"/>
            <c:invertIfNegative val="0"/>
            <c:bubble3D val="0"/>
            <c:spPr>
              <a:solidFill>
                <a:srgbClr val="75787B"/>
              </a:solidFill>
              <a:ln>
                <a:noFill/>
              </a:ln>
            </c:spPr>
            <c:extLst>
              <c:ext xmlns:c16="http://schemas.microsoft.com/office/drawing/2014/chart" uri="{C3380CC4-5D6E-409C-BE32-E72D297353CC}">
                <c16:uniqueId val="{00000010-E6C0-45A7-85AD-3621AA7D37A8}"/>
              </c:ext>
            </c:extLst>
          </c:dPt>
          <c:val>
            <c:numRef>
              <c:f>Sheet1!$A$6:$E$6</c:f>
              <c:numCache>
                <c:formatCode>General</c:formatCode>
                <c:ptCount val="5"/>
                <c:pt idx="0">
                  <c:v>6781</c:v>
                </c:pt>
                <c:pt idx="1">
                  <c:v>7628</c:v>
                </c:pt>
                <c:pt idx="2">
                  <c:v>8810</c:v>
                </c:pt>
                <c:pt idx="3">
                  <c:v>1380</c:v>
                </c:pt>
                <c:pt idx="4">
                  <c:v>1370</c:v>
                </c:pt>
              </c:numCache>
            </c:numRef>
          </c:val>
          <c:extLst>
            <c:ext xmlns:c16="http://schemas.microsoft.com/office/drawing/2014/chart" uri="{C3380CC4-5D6E-409C-BE32-E72D297353CC}">
              <c16:uniqueId val="{00000011-E6C0-45A7-85AD-3621AA7D37A8}"/>
            </c:ext>
          </c:extLst>
        </c:ser>
        <c:ser>
          <c:idx val="6"/>
          <c:order val="6"/>
          <c:spPr>
            <a:solidFill>
              <a:srgbClr val="86BC25"/>
            </a:solidFill>
            <a:ln>
              <a:noFill/>
            </a:ln>
          </c:spPr>
          <c:invertIfNegative val="0"/>
          <c:val>
            <c:numRef>
              <c:f>Sheet1!$A$7:$E$7</c:f>
              <c:numCache>
                <c:formatCode>General</c:formatCode>
                <c:ptCount val="5"/>
                <c:pt idx="3">
                  <c:v>9714</c:v>
                </c:pt>
                <c:pt idx="4">
                  <c:v>10877</c:v>
                </c:pt>
              </c:numCache>
            </c:numRef>
          </c:val>
          <c:extLst>
            <c:ext xmlns:c16="http://schemas.microsoft.com/office/drawing/2014/chart" uri="{C3380CC4-5D6E-409C-BE32-E72D297353CC}">
              <c16:uniqueId val="{00000012-E6C0-45A7-85AD-3621AA7D37A8}"/>
            </c:ext>
          </c:extLst>
        </c:ser>
        <c:dLbls>
          <c:showLegendKey val="0"/>
          <c:showVal val="0"/>
          <c:showCatName val="0"/>
          <c:showSerName val="0"/>
          <c:showPercent val="0"/>
          <c:showBubbleSize val="0"/>
        </c:dLbls>
        <c:gapWidth val="80"/>
        <c:overlap val="100"/>
        <c:axId val="644542392"/>
        <c:axId val="1"/>
      </c:barChart>
      <c:catAx>
        <c:axId val="644542392"/>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18961"/>
          <c:min val="0"/>
        </c:scaling>
        <c:delete val="1"/>
        <c:axPos val="l"/>
        <c:numFmt formatCode="General" sourceLinked="1"/>
        <c:majorTickMark val="out"/>
        <c:minorTickMark val="none"/>
        <c:tickLblPos val="nextTo"/>
        <c:crossAx val="644542392"/>
        <c:crosses val="min"/>
        <c:crossBetween val="between"/>
      </c:valAx>
    </c:plotArea>
    <c:plotVisOnly val="0"/>
    <c:dispBlanksAs val="gap"/>
    <c:showDLblsOverMax val="1"/>
  </c:chart>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5575364667747E-2"/>
          <c:y val="5.1844466600199396E-2"/>
          <c:w val="0.96628849270664496"/>
          <c:h val="0.89631106679960115"/>
        </c:manualLayout>
      </c:layout>
      <c:barChart>
        <c:barDir val="col"/>
        <c:grouping val="clustered"/>
        <c:varyColors val="0"/>
        <c:ser>
          <c:idx val="0"/>
          <c:order val="0"/>
          <c:spPr>
            <a:solidFill>
              <a:srgbClr val="86BC25"/>
            </a:solidFill>
            <a:ln>
              <a:noFill/>
            </a:ln>
          </c:spPr>
          <c:invertIfNegative val="0"/>
          <c:val>
            <c:numRef>
              <c:f>Sheet1!$A$1:$E$1</c:f>
              <c:numCache>
                <c:formatCode>General</c:formatCode>
                <c:ptCount val="5"/>
                <c:pt idx="0">
                  <c:v>53.1</c:v>
                </c:pt>
                <c:pt idx="1">
                  <c:v>56.600000000000009</c:v>
                </c:pt>
                <c:pt idx="2">
                  <c:v>52.300000000000004</c:v>
                </c:pt>
                <c:pt idx="3">
                  <c:v>49.8</c:v>
                </c:pt>
                <c:pt idx="4">
                  <c:v>53.7</c:v>
                </c:pt>
              </c:numCache>
            </c:numRef>
          </c:val>
          <c:extLst>
            <c:ext xmlns:c16="http://schemas.microsoft.com/office/drawing/2014/chart" uri="{C3380CC4-5D6E-409C-BE32-E72D297353CC}">
              <c16:uniqueId val="{00000000-5352-4251-8C37-1472AA3829FC}"/>
            </c:ext>
          </c:extLst>
        </c:ser>
        <c:ser>
          <c:idx val="1"/>
          <c:order val="1"/>
          <c:spPr>
            <a:solidFill>
              <a:srgbClr val="0097A9"/>
            </a:solidFill>
            <a:ln>
              <a:noFill/>
            </a:ln>
          </c:spPr>
          <c:invertIfNegative val="0"/>
          <c:val>
            <c:numRef>
              <c:f>Sheet1!$A$2:$E$2</c:f>
              <c:numCache>
                <c:formatCode>General</c:formatCode>
                <c:ptCount val="5"/>
                <c:pt idx="0">
                  <c:v>36.799999999999997</c:v>
                </c:pt>
                <c:pt idx="1">
                  <c:v>37.700000000000003</c:v>
                </c:pt>
                <c:pt idx="2">
                  <c:v>40.79999999999999</c:v>
                </c:pt>
                <c:pt idx="3">
                  <c:v>36</c:v>
                </c:pt>
                <c:pt idx="4">
                  <c:v>27.3</c:v>
                </c:pt>
              </c:numCache>
            </c:numRef>
          </c:val>
          <c:extLst>
            <c:ext xmlns:c16="http://schemas.microsoft.com/office/drawing/2014/chart" uri="{C3380CC4-5D6E-409C-BE32-E72D297353CC}">
              <c16:uniqueId val="{00000001-5352-4251-8C37-1472AA3829FC}"/>
            </c:ext>
          </c:extLst>
        </c:ser>
        <c:ser>
          <c:idx val="2"/>
          <c:order val="2"/>
          <c:spPr>
            <a:solidFill>
              <a:srgbClr val="97999B"/>
            </a:solidFill>
            <a:ln>
              <a:noFill/>
            </a:ln>
          </c:spPr>
          <c:invertIfNegative val="0"/>
          <c:val>
            <c:numRef>
              <c:f>Sheet1!$A$3:$E$3</c:f>
              <c:numCache>
                <c:formatCode>General</c:formatCode>
                <c:ptCount val="5"/>
                <c:pt idx="0">
                  <c:v>21</c:v>
                </c:pt>
                <c:pt idx="1">
                  <c:v>23</c:v>
                </c:pt>
                <c:pt idx="2">
                  <c:v>34.099999999999994</c:v>
                </c:pt>
                <c:pt idx="3">
                  <c:v>37.4</c:v>
                </c:pt>
                <c:pt idx="4">
                  <c:v>16.8</c:v>
                </c:pt>
              </c:numCache>
            </c:numRef>
          </c:val>
          <c:extLst>
            <c:ext xmlns:c16="http://schemas.microsoft.com/office/drawing/2014/chart" uri="{C3380CC4-5D6E-409C-BE32-E72D297353CC}">
              <c16:uniqueId val="{00000002-5352-4251-8C37-1472AA3829FC}"/>
            </c:ext>
          </c:extLst>
        </c:ser>
        <c:dLbls>
          <c:showLegendKey val="0"/>
          <c:showVal val="0"/>
          <c:showCatName val="0"/>
          <c:showSerName val="0"/>
          <c:showPercent val="0"/>
          <c:showBubbleSize val="0"/>
        </c:dLbls>
        <c:gapWidth val="150"/>
        <c:axId val="643268104"/>
        <c:axId val="1"/>
      </c:barChart>
      <c:catAx>
        <c:axId val="643268104"/>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56.600000000000009"/>
          <c:min val="0"/>
        </c:scaling>
        <c:delete val="1"/>
        <c:axPos val="l"/>
        <c:numFmt formatCode="General" sourceLinked="1"/>
        <c:majorTickMark val="out"/>
        <c:minorTickMark val="none"/>
        <c:tickLblPos val="nextTo"/>
        <c:crossAx val="643268104"/>
        <c:crosses val="min"/>
        <c:crossBetween val="between"/>
      </c:valAx>
    </c:plotArea>
    <c:plotVisOnly val="0"/>
    <c:dispBlanksAs val="gap"/>
    <c:showDLblsOverMax val="1"/>
  </c:chart>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0585906571654791E-2"/>
          <c:y val="7.18232044198895E-2"/>
          <c:w val="0.94813935075217726"/>
          <c:h val="0.85635359116022092"/>
        </c:manualLayout>
      </c:layout>
      <c:barChart>
        <c:barDir val="col"/>
        <c:grouping val="stacked"/>
        <c:varyColors val="0"/>
        <c:ser>
          <c:idx val="0"/>
          <c:order val="0"/>
          <c:spPr>
            <a:solidFill>
              <a:srgbClr val="C4D600"/>
            </a:solidFill>
            <a:ln>
              <a:noFill/>
            </a:ln>
          </c:spPr>
          <c:invertIfNegative val="0"/>
          <c:val>
            <c:numRef>
              <c:f>Sheet1!$A$1:$F$1</c:f>
              <c:numCache>
                <c:formatCode>General</c:formatCode>
                <c:ptCount val="6"/>
                <c:pt idx="0">
                  <c:v>0.06</c:v>
                </c:pt>
                <c:pt idx="1">
                  <c:v>0.06</c:v>
                </c:pt>
                <c:pt idx="2">
                  <c:v>7.0000000000000007E-2</c:v>
                </c:pt>
                <c:pt idx="3">
                  <c:v>0.08</c:v>
                </c:pt>
                <c:pt idx="4">
                  <c:v>7.0000000000000007E-2</c:v>
                </c:pt>
                <c:pt idx="5">
                  <c:v>0.08</c:v>
                </c:pt>
              </c:numCache>
            </c:numRef>
          </c:val>
          <c:extLst>
            <c:ext xmlns:c16="http://schemas.microsoft.com/office/drawing/2014/chart" uri="{C3380CC4-5D6E-409C-BE32-E72D297353CC}">
              <c16:uniqueId val="{00000000-9A24-49EE-9F17-0B5C40D67E2D}"/>
            </c:ext>
          </c:extLst>
        </c:ser>
        <c:ser>
          <c:idx val="1"/>
          <c:order val="1"/>
          <c:spPr>
            <a:solidFill>
              <a:srgbClr val="DDEFE8"/>
            </a:solidFill>
            <a:ln>
              <a:noFill/>
            </a:ln>
          </c:spPr>
          <c:invertIfNegative val="0"/>
          <c:dLbls>
            <c:dLbl>
              <c:idx val="0"/>
              <c:layout>
                <c:manualLayout>
                  <c:x val="0"/>
                  <c:y val="0"/>
                </c:manualLayout>
              </c:layout>
              <c:numFmt formatCode="#,##0.0;&quot;-&quot;#,##0.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9A24-49EE-9F17-0B5C40D67E2D}"/>
                </c:ext>
              </c:extLst>
            </c:dLbl>
            <c:dLbl>
              <c:idx val="1"/>
              <c:layout>
                <c:manualLayout>
                  <c:x val="0"/>
                  <c:y val="0"/>
                </c:manualLayout>
              </c:layout>
              <c:numFmt formatCode="#,##0.0;&quot;-&quot;#,##0.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9A24-49EE-9F17-0B5C40D67E2D}"/>
                </c:ext>
              </c:extLst>
            </c:dLbl>
            <c:dLbl>
              <c:idx val="2"/>
              <c:layout>
                <c:manualLayout>
                  <c:x val="0"/>
                  <c:y val="0"/>
                </c:manualLayout>
              </c:layout>
              <c:numFmt formatCode="#,##0.0;&quot;-&quot;#,##0.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9A24-49EE-9F17-0B5C40D67E2D}"/>
                </c:ext>
              </c:extLst>
            </c:dLbl>
            <c:dLbl>
              <c:idx val="3"/>
              <c:layout>
                <c:manualLayout>
                  <c:x val="0"/>
                  <c:y val="0"/>
                </c:manualLayout>
              </c:layout>
              <c:numFmt formatCode="#,##0.0;&quot;-&quot;#,##0.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9A24-49EE-9F17-0B5C40D67E2D}"/>
                </c:ext>
              </c:extLst>
            </c:dLbl>
            <c:dLbl>
              <c:idx val="4"/>
              <c:layout>
                <c:manualLayout>
                  <c:x val="0"/>
                  <c:y val="0"/>
                </c:manualLayout>
              </c:layout>
              <c:numFmt formatCode="#,##0.0;&quot;-&quot;#,##0.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9A24-49EE-9F17-0B5C40D67E2D}"/>
                </c:ext>
              </c:extLst>
            </c:dLbl>
            <c:dLbl>
              <c:idx val="5"/>
              <c:layout>
                <c:manualLayout>
                  <c:x val="0"/>
                  <c:y val="0"/>
                </c:manualLayout>
              </c:layout>
              <c:numFmt formatCode="#,##0.0;&quot;-&quot;#,##0.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9A24-49EE-9F17-0B5C40D67E2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Sheet1!$A$2:$F$2</c:f>
              <c:numCache>
                <c:formatCode>General</c:formatCode>
                <c:ptCount val="6"/>
                <c:pt idx="0">
                  <c:v>11.15</c:v>
                </c:pt>
                <c:pt idx="1">
                  <c:v>11.64</c:v>
                </c:pt>
                <c:pt idx="2">
                  <c:v>12.48</c:v>
                </c:pt>
                <c:pt idx="3">
                  <c:v>12.45</c:v>
                </c:pt>
                <c:pt idx="4">
                  <c:v>12.45</c:v>
                </c:pt>
                <c:pt idx="5">
                  <c:v>12.22</c:v>
                </c:pt>
              </c:numCache>
            </c:numRef>
          </c:val>
          <c:extLst>
            <c:ext xmlns:c16="http://schemas.microsoft.com/office/drawing/2014/chart" uri="{C3380CC4-5D6E-409C-BE32-E72D297353CC}">
              <c16:uniqueId val="{00000007-9A24-49EE-9F17-0B5C40D67E2D}"/>
            </c:ext>
          </c:extLst>
        </c:ser>
        <c:ser>
          <c:idx val="2"/>
          <c:order val="2"/>
          <c:spPr>
            <a:solidFill>
              <a:srgbClr val="62B5E5"/>
            </a:solidFill>
            <a:ln>
              <a:noFill/>
            </a:ln>
          </c:spPr>
          <c:invertIfNegative val="0"/>
          <c:dLbls>
            <c:dLbl>
              <c:idx val="0"/>
              <c:layout>
                <c:manualLayout>
                  <c:x val="7.5613618368962784E-2"/>
                  <c:y val="0"/>
                </c:manualLayout>
              </c:layout>
              <c:numFmt formatCode="#,##0.0;&quot;-&quot;#,##0.0" sourceLinked="0"/>
              <c:spPr>
                <a:noFill/>
                <a:ln>
                  <a:noFill/>
                </a:ln>
              </c:spPr>
              <c:txPr>
                <a:bodyPr wrap="none"/>
                <a:lstStyle/>
                <a:p>
                  <a:pPr>
                    <a:defRPr sz="900">
                      <a:solidFill>
                        <a:srgbClr val="FFFFFF"/>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9A24-49EE-9F17-0B5C40D67E2D}"/>
                </c:ext>
              </c:extLst>
            </c:dLbl>
            <c:dLbl>
              <c:idx val="1"/>
              <c:layout>
                <c:manualLayout>
                  <c:x val="7.5613618368962784E-2"/>
                  <c:y val="0"/>
                </c:manualLayout>
              </c:layout>
              <c:numFmt formatCode="#,##0.0;&quot;-&quot;#,##0.0" sourceLinked="0"/>
              <c:spPr>
                <a:noFill/>
                <a:ln>
                  <a:noFill/>
                </a:ln>
              </c:spPr>
              <c:txPr>
                <a:bodyPr wrap="none"/>
                <a:lstStyle/>
                <a:p>
                  <a:pPr>
                    <a:defRPr sz="900">
                      <a:solidFill>
                        <a:srgbClr val="FFFFFF"/>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9A24-49EE-9F17-0B5C40D67E2D}"/>
                </c:ext>
              </c:extLst>
            </c:dLbl>
            <c:dLbl>
              <c:idx val="2"/>
              <c:layout>
                <c:manualLayout>
                  <c:x val="7.6009501187648459E-2"/>
                  <c:y val="0"/>
                </c:manualLayout>
              </c:layout>
              <c:numFmt formatCode="#,##0.0;&quot;-&quot;#,##0.0" sourceLinked="0"/>
              <c:spPr>
                <a:noFill/>
                <a:ln>
                  <a:noFill/>
                </a:ln>
              </c:spPr>
              <c:txPr>
                <a:bodyPr wrap="none"/>
                <a:lstStyle/>
                <a:p>
                  <a:pPr>
                    <a:defRPr sz="900">
                      <a:solidFill>
                        <a:srgbClr val="FFFFFF"/>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9A24-49EE-9F17-0B5C40D67E2D}"/>
                </c:ext>
              </c:extLst>
            </c:dLbl>
            <c:dLbl>
              <c:idx val="3"/>
              <c:layout>
                <c:manualLayout>
                  <c:x val="7.5613618368962784E-2"/>
                  <c:y val="0"/>
                </c:manualLayout>
              </c:layout>
              <c:numFmt formatCode="#,##0.0;&quot;-&quot;#,##0.0" sourceLinked="0"/>
              <c:spPr>
                <a:noFill/>
                <a:ln>
                  <a:noFill/>
                </a:ln>
              </c:spPr>
              <c:txPr>
                <a:bodyPr wrap="none"/>
                <a:lstStyle/>
                <a:p>
                  <a:pPr>
                    <a:defRPr sz="900">
                      <a:solidFill>
                        <a:srgbClr val="FFFFFF"/>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9A24-49EE-9F17-0B5C40D67E2D}"/>
                </c:ext>
              </c:extLst>
            </c:dLbl>
            <c:dLbl>
              <c:idx val="4"/>
              <c:layout>
                <c:manualLayout>
                  <c:x val="7.5613618368962784E-2"/>
                  <c:y val="0"/>
                </c:manualLayout>
              </c:layout>
              <c:numFmt formatCode="#,##0.0;&quot;-&quot;#,##0.0" sourceLinked="0"/>
              <c:spPr>
                <a:noFill/>
                <a:ln>
                  <a:noFill/>
                </a:ln>
              </c:spPr>
              <c:txPr>
                <a:bodyPr wrap="none"/>
                <a:lstStyle/>
                <a:p>
                  <a:pPr>
                    <a:defRPr sz="900">
                      <a:solidFill>
                        <a:srgbClr val="FFFFFF"/>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9A24-49EE-9F17-0B5C40D67E2D}"/>
                </c:ext>
              </c:extLst>
            </c:dLbl>
            <c:dLbl>
              <c:idx val="5"/>
              <c:layout>
                <c:manualLayout>
                  <c:x val="7.5613618368962784E-2"/>
                  <c:y val="0"/>
                </c:manualLayout>
              </c:layout>
              <c:numFmt formatCode="#,##0.0;&quot;-&quot;#,##0.0" sourceLinked="0"/>
              <c:spPr>
                <a:noFill/>
                <a:ln>
                  <a:noFill/>
                </a:ln>
              </c:spPr>
              <c:txPr>
                <a:bodyPr wrap="none"/>
                <a:lstStyle/>
                <a:p>
                  <a:pPr>
                    <a:defRPr sz="900">
                      <a:solidFill>
                        <a:srgbClr val="FFFFFF"/>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9A24-49EE-9F17-0B5C40D67E2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Sheet1!$A$3:$F$3</c:f>
              <c:numCache>
                <c:formatCode>General</c:formatCode>
                <c:ptCount val="6"/>
                <c:pt idx="0">
                  <c:v>4.17</c:v>
                </c:pt>
                <c:pt idx="1">
                  <c:v>4.18</c:v>
                </c:pt>
                <c:pt idx="2">
                  <c:v>4.0800000000000018</c:v>
                </c:pt>
                <c:pt idx="3">
                  <c:v>3.8100000000000005</c:v>
                </c:pt>
                <c:pt idx="4">
                  <c:v>3.33</c:v>
                </c:pt>
                <c:pt idx="5">
                  <c:v>4.4699999999999989</c:v>
                </c:pt>
              </c:numCache>
            </c:numRef>
          </c:val>
          <c:extLst>
            <c:ext xmlns:c16="http://schemas.microsoft.com/office/drawing/2014/chart" uri="{C3380CC4-5D6E-409C-BE32-E72D297353CC}">
              <c16:uniqueId val="{0000000E-9A24-49EE-9F17-0B5C40D67E2D}"/>
            </c:ext>
          </c:extLst>
        </c:ser>
        <c:ser>
          <c:idx val="3"/>
          <c:order val="3"/>
          <c:spPr>
            <a:solidFill>
              <a:srgbClr val="012169"/>
            </a:solidFill>
            <a:ln>
              <a:noFill/>
            </a:ln>
          </c:spPr>
          <c:invertIfNegative val="0"/>
          <c:val>
            <c:numRef>
              <c:f>Sheet1!$A$4:$F$4</c:f>
              <c:numCache>
                <c:formatCode>General</c:formatCode>
                <c:ptCount val="6"/>
                <c:pt idx="0">
                  <c:v>0.6899999999999995</c:v>
                </c:pt>
                <c:pt idx="1">
                  <c:v>0.70999999999999908</c:v>
                </c:pt>
                <c:pt idx="2">
                  <c:v>0.69999999999999929</c:v>
                </c:pt>
                <c:pt idx="3">
                  <c:v>0.67000000000000171</c:v>
                </c:pt>
                <c:pt idx="4">
                  <c:v>0.63000000000000078</c:v>
                </c:pt>
                <c:pt idx="5">
                  <c:v>0.62000000000000099</c:v>
                </c:pt>
              </c:numCache>
            </c:numRef>
          </c:val>
          <c:extLst>
            <c:ext xmlns:c16="http://schemas.microsoft.com/office/drawing/2014/chart" uri="{C3380CC4-5D6E-409C-BE32-E72D297353CC}">
              <c16:uniqueId val="{0000000F-9A24-49EE-9F17-0B5C40D67E2D}"/>
            </c:ext>
          </c:extLst>
        </c:ser>
        <c:ser>
          <c:idx val="4"/>
          <c:order val="4"/>
          <c:spPr>
            <a:solidFill>
              <a:srgbClr val="0097A9"/>
            </a:solidFill>
            <a:ln>
              <a:noFill/>
            </a:ln>
          </c:spPr>
          <c:invertIfNegative val="0"/>
          <c:dLbls>
            <c:dLbl>
              <c:idx val="0"/>
              <c:layout>
                <c:manualLayout>
                  <c:x val="0"/>
                  <c:y val="0"/>
                </c:manualLayout>
              </c:layout>
              <c:numFmt formatCode="#,##0.0;&quot;-&quot;#,##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9A24-49EE-9F17-0B5C40D67E2D}"/>
                </c:ext>
              </c:extLst>
            </c:dLbl>
            <c:dLbl>
              <c:idx val="1"/>
              <c:layout>
                <c:manualLayout>
                  <c:x val="0"/>
                  <c:y val="0"/>
                </c:manualLayout>
              </c:layout>
              <c:numFmt formatCode="#,##0.0;&quot;-&quot;#,##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9A24-49EE-9F17-0B5C40D67E2D}"/>
                </c:ext>
              </c:extLst>
            </c:dLbl>
            <c:dLbl>
              <c:idx val="2"/>
              <c:layout>
                <c:manualLayout>
                  <c:x val="0"/>
                  <c:y val="0"/>
                </c:manualLayout>
              </c:layout>
              <c:numFmt formatCode="#,##0.0;&quot;-&quot;#,##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2-9A24-49EE-9F17-0B5C40D67E2D}"/>
                </c:ext>
              </c:extLst>
            </c:dLbl>
            <c:dLbl>
              <c:idx val="3"/>
              <c:layout>
                <c:manualLayout>
                  <c:x val="0"/>
                  <c:y val="0"/>
                </c:manualLayout>
              </c:layout>
              <c:numFmt formatCode="#,##0.0;&quot;-&quot;#,##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3-9A24-49EE-9F17-0B5C40D67E2D}"/>
                </c:ext>
              </c:extLst>
            </c:dLbl>
            <c:dLbl>
              <c:idx val="4"/>
              <c:layout>
                <c:manualLayout>
                  <c:x val="0"/>
                  <c:y val="0"/>
                </c:manualLayout>
              </c:layout>
              <c:numFmt formatCode="#,##0.0;&quot;-&quot;#,##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4-9A24-49EE-9F17-0B5C40D67E2D}"/>
                </c:ext>
              </c:extLst>
            </c:dLbl>
            <c:dLbl>
              <c:idx val="5"/>
              <c:layout>
                <c:manualLayout>
                  <c:x val="0"/>
                  <c:y val="0"/>
                </c:manualLayout>
              </c:layout>
              <c:numFmt formatCode="#,##0.0;&quot;-&quot;#,##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5-9A24-49EE-9F17-0B5C40D67E2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Sheet1!$A$5:$F$5</c:f>
              <c:numCache>
                <c:formatCode>General</c:formatCode>
                <c:ptCount val="6"/>
                <c:pt idx="0">
                  <c:v>11.009999999999998</c:v>
                </c:pt>
                <c:pt idx="1">
                  <c:v>11.46</c:v>
                </c:pt>
                <c:pt idx="2">
                  <c:v>12.099999999999998</c:v>
                </c:pt>
                <c:pt idx="3">
                  <c:v>12.66</c:v>
                </c:pt>
                <c:pt idx="4">
                  <c:v>12.919999999999998</c:v>
                </c:pt>
                <c:pt idx="5">
                  <c:v>12.759999999999998</c:v>
                </c:pt>
              </c:numCache>
            </c:numRef>
          </c:val>
          <c:extLst>
            <c:ext xmlns:c16="http://schemas.microsoft.com/office/drawing/2014/chart" uri="{C3380CC4-5D6E-409C-BE32-E72D297353CC}">
              <c16:uniqueId val="{00000016-9A24-49EE-9F17-0B5C40D67E2D}"/>
            </c:ext>
          </c:extLst>
        </c:ser>
        <c:ser>
          <c:idx val="5"/>
          <c:order val="5"/>
          <c:spPr>
            <a:solidFill>
              <a:srgbClr val="75787B"/>
            </a:solidFill>
            <a:ln>
              <a:noFill/>
            </a:ln>
          </c:spPr>
          <c:invertIfNegative val="0"/>
          <c:dLbls>
            <c:dLbl>
              <c:idx val="2"/>
              <c:layout>
                <c:manualLayout>
                  <c:x val="7.6009501187648459E-2"/>
                  <c:y val="0"/>
                </c:manualLayout>
              </c:layout>
              <c:numFmt formatCode="#,##0.0;&quot;-&quot;#,##0.0" sourceLinked="0"/>
              <c:spPr>
                <a:noFill/>
                <a:ln>
                  <a:noFill/>
                </a:ln>
              </c:spPr>
              <c:txPr>
                <a:bodyPr wrap="none"/>
                <a:lstStyle/>
                <a:p>
                  <a:pPr>
                    <a:defRPr sz="900">
                      <a:solidFill>
                        <a:srgbClr val="FFFFFF"/>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7-9A24-49EE-9F17-0B5C40D67E2D}"/>
                </c:ext>
              </c:extLst>
            </c:dLbl>
            <c:dLbl>
              <c:idx val="3"/>
              <c:layout>
                <c:manualLayout>
                  <c:x val="7.5613618368962784E-2"/>
                  <c:y val="0"/>
                </c:manualLayout>
              </c:layout>
              <c:numFmt formatCode="#,##0.0;&quot;-&quot;#,##0.0" sourceLinked="0"/>
              <c:spPr>
                <a:noFill/>
                <a:ln>
                  <a:noFill/>
                </a:ln>
              </c:spPr>
              <c:txPr>
                <a:bodyPr wrap="none"/>
                <a:lstStyle/>
                <a:p>
                  <a:pPr>
                    <a:defRPr sz="900">
                      <a:solidFill>
                        <a:srgbClr val="FFFFFF"/>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8-9A24-49EE-9F17-0B5C40D67E2D}"/>
                </c:ext>
              </c:extLst>
            </c:dLbl>
            <c:dLbl>
              <c:idx val="4"/>
              <c:layout>
                <c:manualLayout>
                  <c:x val="7.5613618368962784E-2"/>
                  <c:y val="0"/>
                </c:manualLayout>
              </c:layout>
              <c:numFmt formatCode="#,##0.0;&quot;-&quot;#,##0.0" sourceLinked="0"/>
              <c:spPr>
                <a:noFill/>
                <a:ln>
                  <a:noFill/>
                </a:ln>
              </c:spPr>
              <c:txPr>
                <a:bodyPr wrap="none"/>
                <a:lstStyle/>
                <a:p>
                  <a:pPr>
                    <a:defRPr sz="900">
                      <a:solidFill>
                        <a:srgbClr val="FFFFFF"/>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9-9A24-49EE-9F17-0B5C40D67E2D}"/>
                </c:ext>
              </c:extLst>
            </c:dLbl>
            <c:dLbl>
              <c:idx val="5"/>
              <c:layout>
                <c:manualLayout>
                  <c:x val="7.5613618368962784E-2"/>
                  <c:y val="0"/>
                </c:manualLayout>
              </c:layout>
              <c:numFmt formatCode="#,##0.0;&quot;-&quot;#,##0.0" sourceLinked="0"/>
              <c:spPr>
                <a:noFill/>
                <a:ln>
                  <a:noFill/>
                </a:ln>
              </c:spPr>
              <c:txPr>
                <a:bodyPr wrap="none"/>
                <a:lstStyle/>
                <a:p>
                  <a:pPr>
                    <a:defRPr sz="900">
                      <a:solidFill>
                        <a:srgbClr val="FFFFFF"/>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A-9A24-49EE-9F17-0B5C40D67E2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Sheet1!$A$6:$F$6</c:f>
              <c:numCache>
                <c:formatCode>General</c:formatCode>
                <c:ptCount val="6"/>
                <c:pt idx="0">
                  <c:v>3.1099999999999994</c:v>
                </c:pt>
                <c:pt idx="1">
                  <c:v>3.3300000000000018</c:v>
                </c:pt>
                <c:pt idx="2">
                  <c:v>3.6099999999999994</c:v>
                </c:pt>
                <c:pt idx="3">
                  <c:v>3.6400000000000006</c:v>
                </c:pt>
                <c:pt idx="4">
                  <c:v>3.5799999999999983</c:v>
                </c:pt>
                <c:pt idx="5">
                  <c:v>3.3599999999999994</c:v>
                </c:pt>
              </c:numCache>
            </c:numRef>
          </c:val>
          <c:extLst>
            <c:ext xmlns:c16="http://schemas.microsoft.com/office/drawing/2014/chart" uri="{C3380CC4-5D6E-409C-BE32-E72D297353CC}">
              <c16:uniqueId val="{0000001B-9A24-49EE-9F17-0B5C40D67E2D}"/>
            </c:ext>
          </c:extLst>
        </c:ser>
        <c:ser>
          <c:idx val="6"/>
          <c:order val="6"/>
          <c:spPr>
            <a:solidFill>
              <a:srgbClr val="86BC25"/>
            </a:solidFill>
            <a:ln>
              <a:noFill/>
            </a:ln>
          </c:spPr>
          <c:invertIfNegative val="0"/>
          <c:dLbls>
            <c:dLbl>
              <c:idx val="1"/>
              <c:layout>
                <c:manualLayout>
                  <c:x val="0"/>
                  <c:y val="0"/>
                </c:manualLayout>
              </c:layout>
              <c:numFmt formatCode="#,##0.0;&quot;-&quot;#,##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C-9A24-49EE-9F17-0B5C40D67E2D}"/>
                </c:ext>
              </c:extLst>
            </c:dLbl>
            <c:dLbl>
              <c:idx val="2"/>
              <c:layout>
                <c:manualLayout>
                  <c:x val="0"/>
                  <c:y val="0"/>
                </c:manualLayout>
              </c:layout>
              <c:numFmt formatCode="#,##0.0;&quot;-&quot;#,##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D-9A24-49EE-9F17-0B5C40D67E2D}"/>
                </c:ext>
              </c:extLst>
            </c:dLbl>
            <c:dLbl>
              <c:idx val="3"/>
              <c:layout>
                <c:manualLayout>
                  <c:x val="0"/>
                  <c:y val="0"/>
                </c:manualLayout>
              </c:layout>
              <c:numFmt formatCode="#,##0.0;&quot;-&quot;#,##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E-9A24-49EE-9F17-0B5C40D67E2D}"/>
                </c:ext>
              </c:extLst>
            </c:dLbl>
            <c:dLbl>
              <c:idx val="4"/>
              <c:layout>
                <c:manualLayout>
                  <c:x val="0"/>
                  <c:y val="0"/>
                </c:manualLayout>
              </c:layout>
              <c:numFmt formatCode="#,##0.0;&quot;-&quot;#,##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F-9A24-49EE-9F17-0B5C40D67E2D}"/>
                </c:ext>
              </c:extLst>
            </c:dLbl>
            <c:dLbl>
              <c:idx val="5"/>
              <c:layout>
                <c:manualLayout>
                  <c:x val="0"/>
                  <c:y val="0"/>
                </c:manualLayout>
              </c:layout>
              <c:numFmt formatCode="#,##0.0;&quot;-&quot;#,##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0-9A24-49EE-9F17-0B5C40D67E2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Sheet1!$A$7:$F$7</c:f>
              <c:numCache>
                <c:formatCode>General</c:formatCode>
                <c:ptCount val="6"/>
                <c:pt idx="0">
                  <c:v>7.8800000000000026</c:v>
                </c:pt>
                <c:pt idx="1">
                  <c:v>9.1700000000000017</c:v>
                </c:pt>
                <c:pt idx="2">
                  <c:v>10.969999999999999</c:v>
                </c:pt>
                <c:pt idx="3">
                  <c:v>11.980000000000004</c:v>
                </c:pt>
                <c:pt idx="4">
                  <c:v>12.25</c:v>
                </c:pt>
                <c:pt idx="5">
                  <c:v>12.329999999999998</c:v>
                </c:pt>
              </c:numCache>
            </c:numRef>
          </c:val>
          <c:extLst>
            <c:ext xmlns:c16="http://schemas.microsoft.com/office/drawing/2014/chart" uri="{C3380CC4-5D6E-409C-BE32-E72D297353CC}">
              <c16:uniqueId val="{00000021-9A24-49EE-9F17-0B5C40D67E2D}"/>
            </c:ext>
          </c:extLst>
        </c:ser>
        <c:ser>
          <c:idx val="7"/>
          <c:order val="7"/>
          <c:spPr>
            <a:solidFill>
              <a:srgbClr val="046A38"/>
            </a:solidFill>
            <a:ln>
              <a:noFill/>
            </a:ln>
          </c:spPr>
          <c:invertIfNegative val="0"/>
          <c:dLbls>
            <c:dLbl>
              <c:idx val="0"/>
              <c:layout>
                <c:manualLayout>
                  <c:x val="0"/>
                  <c:y val="0"/>
                </c:manualLayout>
              </c:layout>
              <c:numFmt formatCode="#,##0.0;&quot;-&quot;#,##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2-9A24-49EE-9F17-0B5C40D67E2D}"/>
                </c:ext>
              </c:extLst>
            </c:dLbl>
            <c:dLbl>
              <c:idx val="1"/>
              <c:layout>
                <c:manualLayout>
                  <c:x val="0"/>
                  <c:y val="0"/>
                </c:manualLayout>
              </c:layout>
              <c:numFmt formatCode="#,##0.0;&quot;-&quot;#,##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3-9A24-49EE-9F17-0B5C40D67E2D}"/>
                </c:ext>
              </c:extLst>
            </c:dLbl>
            <c:dLbl>
              <c:idx val="2"/>
              <c:layout>
                <c:manualLayout>
                  <c:x val="0"/>
                  <c:y val="0"/>
                </c:manualLayout>
              </c:layout>
              <c:numFmt formatCode="#,##0.0;&quot;-&quot;#,##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4-9A24-49EE-9F17-0B5C40D67E2D}"/>
                </c:ext>
              </c:extLst>
            </c:dLbl>
            <c:dLbl>
              <c:idx val="3"/>
              <c:layout>
                <c:manualLayout>
                  <c:x val="0"/>
                  <c:y val="0"/>
                </c:manualLayout>
              </c:layout>
              <c:numFmt formatCode="#,##0.0;&quot;-&quot;#,##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5-9A24-49EE-9F17-0B5C40D67E2D}"/>
                </c:ext>
              </c:extLst>
            </c:dLbl>
            <c:dLbl>
              <c:idx val="4"/>
              <c:layout>
                <c:manualLayout>
                  <c:x val="0"/>
                  <c:y val="0"/>
                </c:manualLayout>
              </c:layout>
              <c:numFmt formatCode="#,##0.0;&quot;-&quot;#,##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6-9A24-49EE-9F17-0B5C40D67E2D}"/>
                </c:ext>
              </c:extLst>
            </c:dLbl>
            <c:dLbl>
              <c:idx val="5"/>
              <c:layout>
                <c:manualLayout>
                  <c:x val="0"/>
                  <c:y val="0"/>
                </c:manualLayout>
              </c:layout>
              <c:numFmt formatCode="#,##0.0;&quot;-&quot;#,##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7-9A24-49EE-9F17-0B5C40D67E2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Sheet1!$A$8:$F$8</c:f>
              <c:numCache>
                <c:formatCode>General</c:formatCode>
                <c:ptCount val="6"/>
                <c:pt idx="0">
                  <c:v>26.170000000000009</c:v>
                </c:pt>
                <c:pt idx="1">
                  <c:v>27.520000000000003</c:v>
                </c:pt>
                <c:pt idx="2">
                  <c:v>30.999999999999993</c:v>
                </c:pt>
                <c:pt idx="3">
                  <c:v>31.310000000000002</c:v>
                </c:pt>
                <c:pt idx="4">
                  <c:v>30.93</c:v>
                </c:pt>
                <c:pt idx="5">
                  <c:v>34.979999999999997</c:v>
                </c:pt>
              </c:numCache>
            </c:numRef>
          </c:val>
          <c:extLst>
            <c:ext xmlns:c16="http://schemas.microsoft.com/office/drawing/2014/chart" uri="{C3380CC4-5D6E-409C-BE32-E72D297353CC}">
              <c16:uniqueId val="{00000028-9A24-49EE-9F17-0B5C40D67E2D}"/>
            </c:ext>
          </c:extLst>
        </c:ser>
        <c:dLbls>
          <c:showLegendKey val="0"/>
          <c:showVal val="0"/>
          <c:showCatName val="0"/>
          <c:showSerName val="0"/>
          <c:showPercent val="0"/>
          <c:showBubbleSize val="0"/>
        </c:dLbls>
        <c:gapWidth val="80"/>
        <c:overlap val="100"/>
        <c:axId val="888039800"/>
        <c:axId val="1"/>
      </c:barChart>
      <c:catAx>
        <c:axId val="88803980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80.819999999999993"/>
          <c:min val="0"/>
        </c:scaling>
        <c:delete val="1"/>
        <c:axPos val="l"/>
        <c:numFmt formatCode="General" sourceLinked="1"/>
        <c:majorTickMark val="out"/>
        <c:minorTickMark val="none"/>
        <c:tickLblPos val="nextTo"/>
        <c:crossAx val="888039800"/>
        <c:crosses val="min"/>
        <c:crossBetween val="between"/>
      </c:valAx>
    </c:plotArea>
    <c:plotVisOnly val="0"/>
    <c:dispBlanksAs val="gap"/>
    <c:showDLblsOverMax val="1"/>
  </c:chart>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402061855670103"/>
          <c:y val="5.6644880174291944E-2"/>
          <c:w val="0.73195876288659789"/>
          <c:h val="0.88671023965141615"/>
        </c:manualLayout>
      </c:layout>
      <c:barChart>
        <c:barDir val="col"/>
        <c:grouping val="stacked"/>
        <c:varyColors val="0"/>
        <c:ser>
          <c:idx val="0"/>
          <c:order val="0"/>
          <c:spPr>
            <a:solidFill>
              <a:srgbClr val="FFFFFF"/>
            </a:solidFill>
            <a:ln>
              <a:noFill/>
            </a:ln>
          </c:spPr>
          <c:invertIfNegative val="0"/>
          <c:val>
            <c:numRef>
              <c:f>Sheet1!$A$1</c:f>
              <c:numCache>
                <c:formatCode>General</c:formatCode>
                <c:ptCount val="1"/>
                <c:pt idx="0">
                  <c:v>80.819999999999993</c:v>
                </c:pt>
              </c:numCache>
            </c:numRef>
          </c:val>
          <c:extLst>
            <c:ext xmlns:c16="http://schemas.microsoft.com/office/drawing/2014/chart" uri="{C3380CC4-5D6E-409C-BE32-E72D297353CC}">
              <c16:uniqueId val="{00000000-D0AD-4860-9304-2DE6D89F2F85}"/>
            </c:ext>
          </c:extLst>
        </c:ser>
        <c:ser>
          <c:idx val="1"/>
          <c:order val="1"/>
          <c:spPr>
            <a:pattFill prst="ltDnDiag">
              <a:fgClr>
                <a:schemeClr val="tx1"/>
              </a:fgClr>
              <a:bgClr>
                <a:schemeClr val="bg1"/>
              </a:bgClr>
            </a:pattFill>
            <a:ln>
              <a:noFill/>
            </a:ln>
          </c:spPr>
          <c:invertIfNegative val="0"/>
          <c:val>
            <c:numRef>
              <c:f>Sheet1!$A$2</c:f>
              <c:numCache>
                <c:formatCode>General</c:formatCode>
                <c:ptCount val="1"/>
                <c:pt idx="0">
                  <c:v>22.800000000000011</c:v>
                </c:pt>
              </c:numCache>
            </c:numRef>
          </c:val>
          <c:extLst>
            <c:ext xmlns:c16="http://schemas.microsoft.com/office/drawing/2014/chart" uri="{C3380CC4-5D6E-409C-BE32-E72D297353CC}">
              <c16:uniqueId val="{00000001-D0AD-4860-9304-2DE6D89F2F85}"/>
            </c:ext>
          </c:extLst>
        </c:ser>
        <c:dLbls>
          <c:showLegendKey val="0"/>
          <c:showVal val="0"/>
          <c:showCatName val="0"/>
          <c:showSerName val="0"/>
          <c:showPercent val="0"/>
          <c:showBubbleSize val="0"/>
        </c:dLbls>
        <c:gapWidth val="80"/>
        <c:overlap val="100"/>
        <c:axId val="887980432"/>
        <c:axId val="1"/>
      </c:barChart>
      <c:catAx>
        <c:axId val="887980432"/>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103.62"/>
          <c:min val="0"/>
        </c:scaling>
        <c:delete val="1"/>
        <c:axPos val="l"/>
        <c:numFmt formatCode="General" sourceLinked="1"/>
        <c:majorTickMark val="out"/>
        <c:minorTickMark val="none"/>
        <c:tickLblPos val="nextTo"/>
        <c:crossAx val="887980432"/>
        <c:crosses val="min"/>
        <c:crossBetween val="between"/>
      </c:valAx>
    </c:plotArea>
    <c:plotVisOnly val="0"/>
    <c:dispBlanksAs val="gap"/>
    <c:showDLblsOverMax val="1"/>
  </c:chart>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4809160305343511E-2"/>
          <c:y val="0.13825983313468415"/>
          <c:w val="0.95038167938931295"/>
          <c:h val="0.79976162097735393"/>
        </c:manualLayout>
      </c:layout>
      <c:barChart>
        <c:barDir val="col"/>
        <c:grouping val="stacked"/>
        <c:varyColors val="0"/>
        <c:ser>
          <c:idx val="0"/>
          <c:order val="0"/>
          <c:spPr>
            <a:solidFill>
              <a:schemeClr val="accent4"/>
            </a:solidFill>
            <a:ln>
              <a:noFill/>
            </a:ln>
          </c:spPr>
          <c:invertIfNegative val="0"/>
          <c:dLbls>
            <c:dLbl>
              <c:idx val="0"/>
              <c:layout>
                <c:manualLayout>
                  <c:x val="0"/>
                  <c:y val="-0.46960667461263411"/>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81C3-4610-A799-A788B0421D3F}"/>
                </c:ext>
              </c:extLst>
            </c:dLbl>
            <c:dLbl>
              <c:idx val="1"/>
              <c:layout>
                <c:manualLayout>
                  <c:x val="0"/>
                  <c:y val="-0.44338498212157329"/>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81C3-4610-A799-A788B0421D3F}"/>
                </c:ext>
              </c:extLst>
            </c:dLbl>
            <c:dLbl>
              <c:idx val="2"/>
              <c:layout>
                <c:manualLayout>
                  <c:x val="0"/>
                  <c:y val="-0.42431466030989273"/>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81C3-4610-A799-A788B0421D3F}"/>
                </c:ext>
              </c:extLst>
            </c:dLbl>
            <c:dLbl>
              <c:idx val="3"/>
              <c:layout>
                <c:manualLayout>
                  <c:x val="0"/>
                  <c:y val="-0.39690107270560193"/>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81C3-4610-A799-A788B0421D3F}"/>
                </c:ext>
              </c:extLst>
            </c:dLbl>
            <c:dLbl>
              <c:idx val="4"/>
              <c:layout>
                <c:manualLayout>
                  <c:x val="0"/>
                  <c:y val="-0.38498212157330153"/>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81C3-4610-A799-A788B0421D3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412.16430594900851</c:v>
                </c:pt>
                <c:pt idx="1">
                  <c:v>385.37705382436263</c:v>
                </c:pt>
                <c:pt idx="2">
                  <c:v>364.81274787535415</c:v>
                </c:pt>
                <c:pt idx="3">
                  <c:v>337.46713881019832</c:v>
                </c:pt>
                <c:pt idx="4">
                  <c:v>324.78753541076492</c:v>
                </c:pt>
              </c:numCache>
            </c:numRef>
          </c:val>
          <c:extLst>
            <c:ext xmlns:c16="http://schemas.microsoft.com/office/drawing/2014/chart" uri="{C3380CC4-5D6E-409C-BE32-E72D297353CC}">
              <c16:uniqueId val="{00000005-81C3-4610-A799-A788B0421D3F}"/>
            </c:ext>
          </c:extLst>
        </c:ser>
        <c:dLbls>
          <c:showLegendKey val="0"/>
          <c:showVal val="0"/>
          <c:showCatName val="0"/>
          <c:showSerName val="0"/>
          <c:showPercent val="0"/>
          <c:showBubbleSize val="0"/>
        </c:dLbls>
        <c:gapWidth val="150"/>
        <c:overlap val="100"/>
        <c:axId val="847796440"/>
        <c:axId val="1"/>
      </c:barChart>
      <c:catAx>
        <c:axId val="84779644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412.16430594900851"/>
          <c:min val="0"/>
        </c:scaling>
        <c:delete val="1"/>
        <c:axPos val="l"/>
        <c:numFmt formatCode="General" sourceLinked="1"/>
        <c:majorTickMark val="out"/>
        <c:minorTickMark val="none"/>
        <c:tickLblPos val="nextTo"/>
        <c:crossAx val="847796440"/>
        <c:crosses val="min"/>
        <c:crossBetween val="between"/>
      </c:valAx>
    </c:plotArea>
    <c:plotVisOnly val="0"/>
    <c:dispBlanksAs val="gap"/>
    <c:showDLblsOverMax val="1"/>
  </c:chart>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61219195849545E-2"/>
          <c:y val="6.5739570164348934E-2"/>
          <c:w val="0.96627756160830092"/>
          <c:h val="0.86852085967130221"/>
        </c:manualLayout>
      </c:layout>
      <c:barChart>
        <c:barDir val="col"/>
        <c:grouping val="stacked"/>
        <c:varyColors val="0"/>
        <c:ser>
          <c:idx val="0"/>
          <c:order val="0"/>
          <c:spPr>
            <a:solidFill>
              <a:srgbClr val="C4D600"/>
            </a:solidFill>
            <a:ln>
              <a:noFill/>
            </a:ln>
          </c:spPr>
          <c:invertIfNegative val="0"/>
          <c:val>
            <c:numRef>
              <c:f>Sheet1!$A$1:$E$1</c:f>
              <c:numCache>
                <c:formatCode>General</c:formatCode>
                <c:ptCount val="5"/>
                <c:pt idx="0">
                  <c:v>8.4985835694050993E-2</c:v>
                </c:pt>
                <c:pt idx="1">
                  <c:v>8.4985835694050993E-2</c:v>
                </c:pt>
                <c:pt idx="2">
                  <c:v>8.4985835694050993E-2</c:v>
                </c:pt>
                <c:pt idx="3">
                  <c:v>8.4985835694050993E-2</c:v>
                </c:pt>
                <c:pt idx="4">
                  <c:v>8.4985835694050993E-2</c:v>
                </c:pt>
              </c:numCache>
            </c:numRef>
          </c:val>
          <c:extLst>
            <c:ext xmlns:c16="http://schemas.microsoft.com/office/drawing/2014/chart" uri="{C3380CC4-5D6E-409C-BE32-E72D297353CC}">
              <c16:uniqueId val="{00000000-7397-4EF4-B905-DB876E9356A6}"/>
            </c:ext>
          </c:extLst>
        </c:ser>
        <c:ser>
          <c:idx val="1"/>
          <c:order val="1"/>
          <c:spPr>
            <a:solidFill>
              <a:srgbClr val="DDEFE8"/>
            </a:solidFill>
            <a:ln>
              <a:noFill/>
            </a:ln>
          </c:spPr>
          <c:invertIfNegative val="0"/>
          <c:dLbls>
            <c:dLbl>
              <c:idx val="0"/>
              <c:layout>
                <c:manualLayout>
                  <c:x val="-2.6913099870298315E-2"/>
                  <c:y val="0"/>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7397-4EF4-B905-DB876E9356A6}"/>
                </c:ext>
              </c:extLst>
            </c:dLbl>
            <c:dLbl>
              <c:idx val="1"/>
              <c:layout>
                <c:manualLayout>
                  <c:x val="-2.6913099870298315E-2"/>
                  <c:y val="0"/>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7397-4EF4-B905-DB876E9356A6}"/>
                </c:ext>
              </c:extLst>
            </c:dLbl>
            <c:dLbl>
              <c:idx val="2"/>
              <c:layout>
                <c:manualLayout>
                  <c:x val="-2.6913099870298315E-2"/>
                  <c:y val="0"/>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7397-4EF4-B905-DB876E9356A6}"/>
                </c:ext>
              </c:extLst>
            </c:dLbl>
            <c:dLbl>
              <c:idx val="3"/>
              <c:layout>
                <c:manualLayout>
                  <c:x val="0"/>
                  <c:y val="0"/>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7397-4EF4-B905-DB876E9356A6}"/>
                </c:ext>
              </c:extLst>
            </c:dLbl>
            <c:dLbl>
              <c:idx val="4"/>
              <c:layout>
                <c:manualLayout>
                  <c:x val="0"/>
                  <c:y val="0"/>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7397-4EF4-B905-DB876E9356A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Sheet1!$A$2:$E$2</c:f>
              <c:numCache>
                <c:formatCode>General</c:formatCode>
                <c:ptCount val="5"/>
                <c:pt idx="0">
                  <c:v>16.232294617563742</c:v>
                </c:pt>
                <c:pt idx="1">
                  <c:v>19.74504249291785</c:v>
                </c:pt>
                <c:pt idx="2">
                  <c:v>22.067988668555241</c:v>
                </c:pt>
                <c:pt idx="3">
                  <c:v>25.467422096317282</c:v>
                </c:pt>
                <c:pt idx="4">
                  <c:v>28.555240793201136</c:v>
                </c:pt>
              </c:numCache>
            </c:numRef>
          </c:val>
          <c:extLst>
            <c:ext xmlns:c16="http://schemas.microsoft.com/office/drawing/2014/chart" uri="{C3380CC4-5D6E-409C-BE32-E72D297353CC}">
              <c16:uniqueId val="{00000006-7397-4EF4-B905-DB876E9356A6}"/>
            </c:ext>
          </c:extLst>
        </c:ser>
        <c:ser>
          <c:idx val="2"/>
          <c:order val="2"/>
          <c:spPr>
            <a:solidFill>
              <a:srgbClr val="62B5E5"/>
            </a:solidFill>
            <a:ln>
              <a:noFill/>
            </a:ln>
          </c:spPr>
          <c:invertIfNegative val="0"/>
          <c:val>
            <c:numRef>
              <c:f>Sheet1!$A$3:$E$3</c:f>
              <c:numCache>
                <c:formatCode>General</c:formatCode>
                <c:ptCount val="5"/>
                <c:pt idx="0">
                  <c:v>8.980169971671387</c:v>
                </c:pt>
                <c:pt idx="1">
                  <c:v>8.980169971671387</c:v>
                </c:pt>
                <c:pt idx="2">
                  <c:v>8.980169971671387</c:v>
                </c:pt>
                <c:pt idx="3">
                  <c:v>8.980169971671387</c:v>
                </c:pt>
                <c:pt idx="4">
                  <c:v>8.9801699716713905</c:v>
                </c:pt>
              </c:numCache>
            </c:numRef>
          </c:val>
          <c:extLst>
            <c:ext xmlns:c16="http://schemas.microsoft.com/office/drawing/2014/chart" uri="{C3380CC4-5D6E-409C-BE32-E72D297353CC}">
              <c16:uniqueId val="{00000007-7397-4EF4-B905-DB876E9356A6}"/>
            </c:ext>
          </c:extLst>
        </c:ser>
        <c:ser>
          <c:idx val="3"/>
          <c:order val="3"/>
          <c:spPr>
            <a:solidFill>
              <a:srgbClr val="012169"/>
            </a:solidFill>
            <a:ln>
              <a:noFill/>
            </a:ln>
          </c:spPr>
          <c:invertIfNegative val="0"/>
          <c:val>
            <c:numRef>
              <c:f>Sheet1!$A$4:$E$4</c:f>
              <c:numCache>
                <c:formatCode>General</c:formatCode>
                <c:ptCount val="5"/>
                <c:pt idx="0">
                  <c:v>0.82152974504249343</c:v>
                </c:pt>
                <c:pt idx="1">
                  <c:v>0.87818696883852709</c:v>
                </c:pt>
                <c:pt idx="2">
                  <c:v>0.93484419263456431</c:v>
                </c:pt>
                <c:pt idx="3">
                  <c:v>0.96317280453257581</c:v>
                </c:pt>
                <c:pt idx="4">
                  <c:v>0.96317280453257581</c:v>
                </c:pt>
              </c:numCache>
            </c:numRef>
          </c:val>
          <c:extLst>
            <c:ext xmlns:c16="http://schemas.microsoft.com/office/drawing/2014/chart" uri="{C3380CC4-5D6E-409C-BE32-E72D297353CC}">
              <c16:uniqueId val="{00000008-7397-4EF4-B905-DB876E9356A6}"/>
            </c:ext>
          </c:extLst>
        </c:ser>
        <c:ser>
          <c:idx val="4"/>
          <c:order val="4"/>
          <c:spPr>
            <a:solidFill>
              <a:srgbClr val="0097A9"/>
            </a:solidFill>
            <a:ln>
              <a:noFill/>
            </a:ln>
          </c:spPr>
          <c:invertIfNegative val="0"/>
          <c:dLbls>
            <c:dLbl>
              <c:idx val="0"/>
              <c:layout>
                <c:manualLayout>
                  <c:x val="-2.6913099870298315E-2"/>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7397-4EF4-B905-DB876E9356A6}"/>
                </c:ext>
              </c:extLst>
            </c:dLbl>
            <c:dLbl>
              <c:idx val="1"/>
              <c:layout>
                <c:manualLayout>
                  <c:x val="-2.6913099870298315E-2"/>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7397-4EF4-B905-DB876E9356A6}"/>
                </c:ext>
              </c:extLst>
            </c:dLbl>
            <c:dLbl>
              <c:idx val="2"/>
              <c:layout>
                <c:manualLayout>
                  <c:x val="-2.6913099870298315E-2"/>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7397-4EF4-B905-DB876E9356A6}"/>
                </c:ext>
              </c:extLst>
            </c:dLbl>
            <c:dLbl>
              <c:idx val="3"/>
              <c:layout>
                <c:manualLayout>
                  <c:x val="-2.6913099870298315E-2"/>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7397-4EF4-B905-DB876E9356A6}"/>
                </c:ext>
              </c:extLst>
            </c:dLbl>
            <c:dLbl>
              <c:idx val="4"/>
              <c:layout>
                <c:manualLayout>
                  <c:x val="-2.6913099870298315E-2"/>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7397-4EF4-B905-DB876E9356A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Sheet1!$A$5:$E$5</c:f>
              <c:numCache>
                <c:formatCode>General</c:formatCode>
                <c:ptCount val="5"/>
                <c:pt idx="0">
                  <c:v>14.702549575070822</c:v>
                </c:pt>
                <c:pt idx="1">
                  <c:v>17.733711048158646</c:v>
                </c:pt>
                <c:pt idx="2">
                  <c:v>19.801699716713884</c:v>
                </c:pt>
                <c:pt idx="3">
                  <c:v>22.776203966005667</c:v>
                </c:pt>
                <c:pt idx="4">
                  <c:v>25.467422096317279</c:v>
                </c:pt>
              </c:numCache>
            </c:numRef>
          </c:val>
          <c:extLst>
            <c:ext xmlns:c16="http://schemas.microsoft.com/office/drawing/2014/chart" uri="{C3380CC4-5D6E-409C-BE32-E72D297353CC}">
              <c16:uniqueId val="{0000000E-7397-4EF4-B905-DB876E9356A6}"/>
            </c:ext>
          </c:extLst>
        </c:ser>
        <c:ser>
          <c:idx val="5"/>
          <c:order val="5"/>
          <c:spPr>
            <a:solidFill>
              <a:srgbClr val="75787B"/>
            </a:solidFill>
            <a:ln>
              <a:noFill/>
            </a:ln>
          </c:spPr>
          <c:invertIfNegative val="0"/>
          <c:val>
            <c:numRef>
              <c:f>Sheet1!$A$6:$E$6</c:f>
              <c:numCache>
                <c:formatCode>General</c:formatCode>
                <c:ptCount val="5"/>
                <c:pt idx="0">
                  <c:v>4.6742209631728073</c:v>
                </c:pt>
                <c:pt idx="1">
                  <c:v>4.7308781869688374</c:v>
                </c:pt>
                <c:pt idx="2">
                  <c:v>4.759206798866856</c:v>
                </c:pt>
                <c:pt idx="3">
                  <c:v>4.7875354107648747</c:v>
                </c:pt>
                <c:pt idx="4">
                  <c:v>4.8441926345609119</c:v>
                </c:pt>
              </c:numCache>
            </c:numRef>
          </c:val>
          <c:extLst>
            <c:ext xmlns:c16="http://schemas.microsoft.com/office/drawing/2014/chart" uri="{C3380CC4-5D6E-409C-BE32-E72D297353CC}">
              <c16:uniqueId val="{0000000F-7397-4EF4-B905-DB876E9356A6}"/>
            </c:ext>
          </c:extLst>
        </c:ser>
        <c:ser>
          <c:idx val="6"/>
          <c:order val="6"/>
          <c:spPr>
            <a:solidFill>
              <a:srgbClr val="86BC25"/>
            </a:solidFill>
            <a:ln>
              <a:noFill/>
            </a:ln>
          </c:spPr>
          <c:invertIfNegative val="0"/>
          <c:val>
            <c:numRef>
              <c:f>Sheet1!$A$7:$E$7</c:f>
              <c:numCache>
                <c:formatCode>General</c:formatCode>
                <c:ptCount val="5"/>
                <c:pt idx="0">
                  <c:v>12.691218130311618</c:v>
                </c:pt>
                <c:pt idx="1">
                  <c:v>12.691218130311611</c:v>
                </c:pt>
                <c:pt idx="2">
                  <c:v>12.691218130311611</c:v>
                </c:pt>
                <c:pt idx="3">
                  <c:v>12.691218130311611</c:v>
                </c:pt>
                <c:pt idx="4">
                  <c:v>12.691218130311611</c:v>
                </c:pt>
              </c:numCache>
            </c:numRef>
          </c:val>
          <c:extLst>
            <c:ext xmlns:c16="http://schemas.microsoft.com/office/drawing/2014/chart" uri="{C3380CC4-5D6E-409C-BE32-E72D297353CC}">
              <c16:uniqueId val="{00000010-7397-4EF4-B905-DB876E9356A6}"/>
            </c:ext>
          </c:extLst>
        </c:ser>
        <c:ser>
          <c:idx val="7"/>
          <c:order val="7"/>
          <c:spPr>
            <a:solidFill>
              <a:srgbClr val="046A38"/>
            </a:solidFill>
            <a:ln>
              <a:noFill/>
            </a:ln>
          </c:spPr>
          <c:invertIfNegative val="0"/>
          <c:dLbls>
            <c:dLbl>
              <c:idx val="0"/>
              <c:layout>
                <c:manualLayout>
                  <c:x val="0"/>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7397-4EF4-B905-DB876E9356A6}"/>
                </c:ext>
              </c:extLst>
            </c:dLbl>
            <c:dLbl>
              <c:idx val="1"/>
              <c:layout>
                <c:manualLayout>
                  <c:x val="0"/>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2-7397-4EF4-B905-DB876E9356A6}"/>
                </c:ext>
              </c:extLst>
            </c:dLbl>
            <c:dLbl>
              <c:idx val="2"/>
              <c:layout>
                <c:manualLayout>
                  <c:x val="0"/>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3-7397-4EF4-B905-DB876E9356A6}"/>
                </c:ext>
              </c:extLst>
            </c:dLbl>
            <c:dLbl>
              <c:idx val="3"/>
              <c:layout>
                <c:manualLayout>
                  <c:x val="0"/>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4-7397-4EF4-B905-DB876E9356A6}"/>
                </c:ext>
              </c:extLst>
            </c:dLbl>
            <c:dLbl>
              <c:idx val="4"/>
              <c:layout>
                <c:manualLayout>
                  <c:x val="0"/>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5-7397-4EF4-B905-DB876E9356A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Sheet1!$A$8:$E$8</c:f>
              <c:numCache>
                <c:formatCode>General</c:formatCode>
                <c:ptCount val="5"/>
                <c:pt idx="0">
                  <c:v>45.467422096317279</c:v>
                </c:pt>
                <c:pt idx="1">
                  <c:v>47.223796033994333</c:v>
                </c:pt>
                <c:pt idx="2">
                  <c:v>49.036827195467424</c:v>
                </c:pt>
                <c:pt idx="3">
                  <c:v>58.866855524079327</c:v>
                </c:pt>
                <c:pt idx="4">
                  <c:v>58.866855524079341</c:v>
                </c:pt>
              </c:numCache>
            </c:numRef>
          </c:val>
          <c:extLst>
            <c:ext xmlns:c16="http://schemas.microsoft.com/office/drawing/2014/chart" uri="{C3380CC4-5D6E-409C-BE32-E72D297353CC}">
              <c16:uniqueId val="{00000016-7397-4EF4-B905-DB876E9356A6}"/>
            </c:ext>
          </c:extLst>
        </c:ser>
        <c:dLbls>
          <c:showLegendKey val="0"/>
          <c:showVal val="0"/>
          <c:showCatName val="0"/>
          <c:showSerName val="0"/>
          <c:showPercent val="0"/>
          <c:showBubbleSize val="0"/>
        </c:dLbls>
        <c:gapWidth val="80"/>
        <c:overlap val="100"/>
        <c:axId val="852835048"/>
        <c:axId val="1"/>
      </c:barChart>
      <c:catAx>
        <c:axId val="852835048"/>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140.4532577903683"/>
          <c:min val="0"/>
        </c:scaling>
        <c:delete val="1"/>
        <c:axPos val="l"/>
        <c:numFmt formatCode="General" sourceLinked="1"/>
        <c:majorTickMark val="out"/>
        <c:minorTickMark val="none"/>
        <c:tickLblPos val="nextTo"/>
        <c:crossAx val="852835048"/>
        <c:crosses val="min"/>
        <c:crossBetween val="between"/>
      </c:valAx>
    </c:plotArea>
    <c:plotVisOnly val="0"/>
    <c:dispBlanksAs val="gap"/>
    <c:showDLblsOverMax val="1"/>
  </c:chart>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110891740704178E-2"/>
          <c:y val="0.21886792452830189"/>
          <c:w val="0.96577821651859164"/>
          <c:h val="0.68301886792452826"/>
        </c:manualLayout>
      </c:layout>
      <c:barChart>
        <c:barDir val="col"/>
        <c:grouping val="stacked"/>
        <c:varyColors val="0"/>
        <c:ser>
          <c:idx val="0"/>
          <c:order val="0"/>
          <c:spPr>
            <a:noFill/>
            <a:ln>
              <a:noFill/>
            </a:ln>
          </c:spPr>
          <c:invertIfNegative val="0"/>
          <c:dPt>
            <c:idx val="0"/>
            <c:invertIfNegative val="0"/>
            <c:bubble3D val="0"/>
            <c:spPr>
              <a:solidFill>
                <a:srgbClr val="86BC25"/>
              </a:solidFill>
              <a:ln>
                <a:noFill/>
              </a:ln>
            </c:spPr>
            <c:extLst>
              <c:ext xmlns:c16="http://schemas.microsoft.com/office/drawing/2014/chart" uri="{C3380CC4-5D6E-409C-BE32-E72D297353CC}">
                <c16:uniqueId val="{00000000-69B8-4F09-9E7A-479BA2E14465}"/>
              </c:ext>
            </c:extLst>
          </c:dPt>
          <c:dPt>
            <c:idx val="2"/>
            <c:invertIfNegative val="0"/>
            <c:bubble3D val="0"/>
            <c:spPr>
              <a:solidFill>
                <a:schemeClr val="accent6"/>
              </a:solidFill>
              <a:ln>
                <a:noFill/>
              </a:ln>
            </c:spPr>
            <c:extLst>
              <c:ext xmlns:c16="http://schemas.microsoft.com/office/drawing/2014/chart" uri="{C3380CC4-5D6E-409C-BE32-E72D297353CC}">
                <c16:uniqueId val="{00000001-69B8-4F09-9E7A-479BA2E14465}"/>
              </c:ext>
            </c:extLst>
          </c:dPt>
          <c:dPt>
            <c:idx val="4"/>
            <c:invertIfNegative val="0"/>
            <c:bubble3D val="0"/>
            <c:spPr>
              <a:solidFill>
                <a:schemeClr val="accent5"/>
              </a:solidFill>
              <a:ln>
                <a:noFill/>
              </a:ln>
            </c:spPr>
            <c:extLst>
              <c:ext xmlns:c16="http://schemas.microsoft.com/office/drawing/2014/chart" uri="{C3380CC4-5D6E-409C-BE32-E72D297353CC}">
                <c16:uniqueId val="{00000002-69B8-4F09-9E7A-479BA2E14465}"/>
              </c:ext>
            </c:extLst>
          </c:dPt>
          <c:dLbls>
            <c:dLbl>
              <c:idx val="0"/>
              <c:layout>
                <c:manualLayout>
                  <c:x val="0"/>
                  <c:y val="-0.30566037735849055"/>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69B8-4F09-9E7A-479BA2E14465}"/>
                </c:ext>
              </c:extLst>
            </c:dLbl>
            <c:dLbl>
              <c:idx val="2"/>
              <c:layout>
                <c:manualLayout>
                  <c:x val="0"/>
                  <c:y val="-0.38113207547169814"/>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69B8-4F09-9E7A-479BA2E14465}"/>
                </c:ext>
              </c:extLst>
            </c:dLbl>
            <c:dLbl>
              <c:idx val="4"/>
              <c:layout>
                <c:manualLayout>
                  <c:x val="0"/>
                  <c:y val="-0.45283018867924529"/>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69B8-4F09-9E7A-479BA2E1446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73</c:v>
                </c:pt>
                <c:pt idx="1">
                  <c:v>73</c:v>
                </c:pt>
                <c:pt idx="2">
                  <c:v>101.3</c:v>
                </c:pt>
                <c:pt idx="3">
                  <c:v>101.3</c:v>
                </c:pt>
                <c:pt idx="4">
                  <c:v>128.30000000000001</c:v>
                </c:pt>
              </c:numCache>
            </c:numRef>
          </c:val>
          <c:extLst>
            <c:ext xmlns:c16="http://schemas.microsoft.com/office/drawing/2014/chart" uri="{C3380CC4-5D6E-409C-BE32-E72D297353CC}">
              <c16:uniqueId val="{00000003-69B8-4F09-9E7A-479BA2E14465}"/>
            </c:ext>
          </c:extLst>
        </c:ser>
        <c:ser>
          <c:idx val="1"/>
          <c:order val="1"/>
          <c:spPr>
            <a:solidFill>
              <a:schemeClr val="accent3"/>
            </a:solidFill>
            <a:ln>
              <a:noFill/>
            </a:ln>
          </c:spPr>
          <c:invertIfNegative val="0"/>
          <c:dPt>
            <c:idx val="3"/>
            <c:invertIfNegative val="0"/>
            <c:bubble3D val="0"/>
            <c:spPr>
              <a:solidFill>
                <a:schemeClr val="accent4"/>
              </a:solidFill>
              <a:ln>
                <a:noFill/>
              </a:ln>
            </c:spPr>
            <c:extLst>
              <c:ext xmlns:c16="http://schemas.microsoft.com/office/drawing/2014/chart" uri="{C3380CC4-5D6E-409C-BE32-E72D297353CC}">
                <c16:uniqueId val="{00000004-69B8-4F09-9E7A-479BA2E14465}"/>
              </c:ext>
            </c:extLst>
          </c:dPt>
          <c:dLbls>
            <c:dLbl>
              <c:idx val="1"/>
              <c:layout>
                <c:manualLayout>
                  <c:x val="0"/>
                  <c:y val="0"/>
                </c:manualLayout>
              </c:layout>
              <c:numFmt formatCode="#,##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69B8-4F09-9E7A-479BA2E14465}"/>
                </c:ext>
              </c:extLst>
            </c:dLbl>
            <c:dLbl>
              <c:idx val="3"/>
              <c:layout>
                <c:manualLayout>
                  <c:x val="0"/>
                  <c:y val="0"/>
                </c:manualLayout>
              </c:layout>
              <c:numFmt formatCode="#,##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69B8-4F09-9E7A-479BA2E1446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Sheet1!$A$2:$E$2</c:f>
              <c:numCache>
                <c:formatCode>General</c:formatCode>
                <c:ptCount val="5"/>
                <c:pt idx="1">
                  <c:v>28.299999999999997</c:v>
                </c:pt>
                <c:pt idx="3">
                  <c:v>27.000000000000014</c:v>
                </c:pt>
              </c:numCache>
            </c:numRef>
          </c:val>
          <c:extLst>
            <c:ext xmlns:c16="http://schemas.microsoft.com/office/drawing/2014/chart" uri="{C3380CC4-5D6E-409C-BE32-E72D297353CC}">
              <c16:uniqueId val="{00000006-69B8-4F09-9E7A-479BA2E14465}"/>
            </c:ext>
          </c:extLst>
        </c:ser>
        <c:dLbls>
          <c:showLegendKey val="0"/>
          <c:showVal val="0"/>
          <c:showCatName val="0"/>
          <c:showSerName val="0"/>
          <c:showPercent val="0"/>
          <c:showBubbleSize val="0"/>
        </c:dLbls>
        <c:gapWidth val="80"/>
        <c:overlap val="100"/>
        <c:axId val="1067038392"/>
        <c:axId val="1"/>
      </c:barChart>
      <c:catAx>
        <c:axId val="1067038392"/>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128.30000000000001"/>
          <c:min val="0"/>
        </c:scaling>
        <c:delete val="1"/>
        <c:axPos val="l"/>
        <c:numFmt formatCode="General" sourceLinked="1"/>
        <c:majorTickMark val="out"/>
        <c:minorTickMark val="none"/>
        <c:tickLblPos val="nextTo"/>
        <c:crossAx val="1067038392"/>
        <c:crosses val="min"/>
        <c:crossBetween val="between"/>
      </c:valAx>
    </c:plotArea>
    <c:plotVisOnly val="0"/>
    <c:dispBlanksAs val="gap"/>
    <c:showDLblsOverMax val="1"/>
  </c:chart>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1302744776730848E-2"/>
          <c:y val="3.8980509745127435E-2"/>
          <c:w val="0.95739451044653834"/>
          <c:h val="0.92203898050974509"/>
        </c:manualLayout>
      </c:layout>
      <c:barChart>
        <c:barDir val="col"/>
        <c:grouping val="stacked"/>
        <c:varyColors val="0"/>
        <c:ser>
          <c:idx val="0"/>
          <c:order val="0"/>
          <c:spPr>
            <a:solidFill>
              <a:srgbClr val="0070C0"/>
            </a:solidFill>
            <a:ln>
              <a:noFill/>
            </a:ln>
          </c:spPr>
          <c:invertIfNegative val="0"/>
          <c:val>
            <c:numRef>
              <c:f>Sheet1!$A$1:$B$1</c:f>
              <c:numCache>
                <c:formatCode>General</c:formatCode>
                <c:ptCount val="2"/>
                <c:pt idx="0">
                  <c:v>7.2958904109589037E-2</c:v>
                </c:pt>
                <c:pt idx="1">
                  <c:v>8.5753424657534244E-2</c:v>
                </c:pt>
              </c:numCache>
            </c:numRef>
          </c:val>
          <c:extLst>
            <c:ext xmlns:c16="http://schemas.microsoft.com/office/drawing/2014/chart" uri="{C3380CC4-5D6E-409C-BE32-E72D297353CC}">
              <c16:uniqueId val="{00000000-9CA0-4415-9F6E-1CD07B73590F}"/>
            </c:ext>
          </c:extLst>
        </c:ser>
        <c:ser>
          <c:idx val="1"/>
          <c:order val="1"/>
          <c:spPr>
            <a:solidFill>
              <a:srgbClr val="046A38"/>
            </a:solidFill>
            <a:ln>
              <a:noFill/>
            </a:ln>
          </c:spPr>
          <c:invertIfNegative val="0"/>
          <c:dLbls>
            <c:dLbl>
              <c:idx val="0"/>
              <c:layout>
                <c:manualLayout>
                  <c:x val="0.1528062269561655"/>
                  <c:y val="-0.11244377811094453"/>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9CA0-4415-9F6E-1CD07B73590F}"/>
                </c:ext>
              </c:extLst>
            </c:dLbl>
            <c:dLbl>
              <c:idx val="1"/>
              <c:layout>
                <c:manualLayout>
                  <c:x val="0.1528062269561655"/>
                  <c:y val="-0.11244377811094453"/>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9CA0-4415-9F6E-1CD07B73590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Sheet1!$A$2:$B$2</c:f>
              <c:numCache>
                <c:formatCode>General</c:formatCode>
                <c:ptCount val="2"/>
                <c:pt idx="0">
                  <c:v>0.63380821917808217</c:v>
                </c:pt>
                <c:pt idx="1">
                  <c:v>0.72419178082191793</c:v>
                </c:pt>
              </c:numCache>
            </c:numRef>
          </c:val>
          <c:extLst>
            <c:ext xmlns:c16="http://schemas.microsoft.com/office/drawing/2014/chart" uri="{C3380CC4-5D6E-409C-BE32-E72D297353CC}">
              <c16:uniqueId val="{00000003-9CA0-4415-9F6E-1CD07B73590F}"/>
            </c:ext>
          </c:extLst>
        </c:ser>
        <c:ser>
          <c:idx val="2"/>
          <c:order val="2"/>
          <c:spPr>
            <a:solidFill>
              <a:srgbClr val="62B5E5"/>
            </a:solidFill>
            <a:ln>
              <a:noFill/>
            </a:ln>
          </c:spPr>
          <c:invertIfNegative val="0"/>
          <c:val>
            <c:numRef>
              <c:f>Sheet1!$A$3:$B$3</c:f>
              <c:numCache>
                <c:formatCode>General</c:formatCode>
                <c:ptCount val="2"/>
                <c:pt idx="0">
                  <c:v>3.5839726027397263</c:v>
                </c:pt>
                <c:pt idx="1">
                  <c:v>4.2879452054794518</c:v>
                </c:pt>
              </c:numCache>
            </c:numRef>
          </c:val>
          <c:extLst>
            <c:ext xmlns:c16="http://schemas.microsoft.com/office/drawing/2014/chart" uri="{C3380CC4-5D6E-409C-BE32-E72D297353CC}">
              <c16:uniqueId val="{00000004-9CA0-4415-9F6E-1CD07B73590F}"/>
            </c:ext>
          </c:extLst>
        </c:ser>
        <c:ser>
          <c:idx val="3"/>
          <c:order val="3"/>
          <c:spPr>
            <a:solidFill>
              <a:srgbClr val="012169"/>
            </a:solidFill>
            <a:ln>
              <a:noFill/>
            </a:ln>
          </c:spPr>
          <c:invertIfNegative val="0"/>
          <c:val>
            <c:numRef>
              <c:f>Sheet1!$A$4:$B$4</c:f>
              <c:numCache>
                <c:formatCode>General</c:formatCode>
                <c:ptCount val="2"/>
                <c:pt idx="0">
                  <c:v>3.3343561643835615</c:v>
                </c:pt>
                <c:pt idx="1">
                  <c:v>5.4313972602739717</c:v>
                </c:pt>
              </c:numCache>
            </c:numRef>
          </c:val>
          <c:extLst>
            <c:ext xmlns:c16="http://schemas.microsoft.com/office/drawing/2014/chart" uri="{C3380CC4-5D6E-409C-BE32-E72D297353CC}">
              <c16:uniqueId val="{00000005-9CA0-4415-9F6E-1CD07B73590F}"/>
            </c:ext>
          </c:extLst>
        </c:ser>
        <c:ser>
          <c:idx val="4"/>
          <c:order val="4"/>
          <c:spPr>
            <a:solidFill>
              <a:srgbClr val="0097A9"/>
            </a:solidFill>
            <a:ln>
              <a:noFill/>
            </a:ln>
          </c:spPr>
          <c:invertIfNegative val="0"/>
          <c:dLbls>
            <c:dLbl>
              <c:idx val="0"/>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9CA0-4415-9F6E-1CD07B73590F}"/>
                </c:ext>
              </c:extLst>
            </c:dLbl>
            <c:dLbl>
              <c:idx val="1"/>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9CA0-4415-9F6E-1CD07B73590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Sheet1!$A$5:$B$5</c:f>
              <c:numCache>
                <c:formatCode>General</c:formatCode>
                <c:ptCount val="2"/>
                <c:pt idx="0">
                  <c:v>12.254082191780819</c:v>
                </c:pt>
                <c:pt idx="1">
                  <c:v>13.340273972602741</c:v>
                </c:pt>
              </c:numCache>
            </c:numRef>
          </c:val>
          <c:extLst>
            <c:ext xmlns:c16="http://schemas.microsoft.com/office/drawing/2014/chart" uri="{C3380CC4-5D6E-409C-BE32-E72D297353CC}">
              <c16:uniqueId val="{00000008-9CA0-4415-9F6E-1CD07B73590F}"/>
            </c:ext>
          </c:extLst>
        </c:ser>
        <c:ser>
          <c:idx val="5"/>
          <c:order val="5"/>
          <c:spPr>
            <a:solidFill>
              <a:srgbClr val="75787B"/>
            </a:solidFill>
            <a:ln>
              <a:noFill/>
            </a:ln>
          </c:spPr>
          <c:invertIfNegative val="0"/>
          <c:dLbls>
            <c:dLbl>
              <c:idx val="0"/>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9CA0-4415-9F6E-1CD07B73590F}"/>
                </c:ext>
              </c:extLst>
            </c:dLbl>
            <c:dLbl>
              <c:idx val="1"/>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9CA0-4415-9F6E-1CD07B73590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Sheet1!$A$6:$B$6</c:f>
              <c:numCache>
                <c:formatCode>General</c:formatCode>
                <c:ptCount val="2"/>
                <c:pt idx="0">
                  <c:v>12.454109589041096</c:v>
                </c:pt>
                <c:pt idx="1">
                  <c:v>15.865424657534248</c:v>
                </c:pt>
              </c:numCache>
            </c:numRef>
          </c:val>
          <c:extLst>
            <c:ext xmlns:c16="http://schemas.microsoft.com/office/drawing/2014/chart" uri="{C3380CC4-5D6E-409C-BE32-E72D297353CC}">
              <c16:uniqueId val="{0000000B-9CA0-4415-9F6E-1CD07B73590F}"/>
            </c:ext>
          </c:extLst>
        </c:ser>
        <c:ser>
          <c:idx val="6"/>
          <c:order val="6"/>
          <c:spPr>
            <a:solidFill>
              <a:srgbClr val="86BC25"/>
            </a:solidFill>
            <a:ln>
              <a:noFill/>
            </a:ln>
          </c:spPr>
          <c:invertIfNegative val="0"/>
          <c:dLbls>
            <c:dLbl>
              <c:idx val="0"/>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9CA0-4415-9F6E-1CD07B73590F}"/>
                </c:ext>
              </c:extLst>
            </c:dLbl>
            <c:dLbl>
              <c:idx val="1"/>
              <c:layout>
                <c:manualLayout>
                  <c:x val="0"/>
                  <c:y val="-7.4962518740629683E-4"/>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9CA0-4415-9F6E-1CD07B73590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Sheet1!$A$7:$B$7</c:f>
              <c:numCache>
                <c:formatCode>General</c:formatCode>
                <c:ptCount val="2"/>
                <c:pt idx="0">
                  <c:v>12.921534246575341</c:v>
                </c:pt>
                <c:pt idx="1">
                  <c:v>16.008328767123288</c:v>
                </c:pt>
              </c:numCache>
            </c:numRef>
          </c:val>
          <c:extLst>
            <c:ext xmlns:c16="http://schemas.microsoft.com/office/drawing/2014/chart" uri="{C3380CC4-5D6E-409C-BE32-E72D297353CC}">
              <c16:uniqueId val="{0000000E-9CA0-4415-9F6E-1CD07B73590F}"/>
            </c:ext>
          </c:extLst>
        </c:ser>
        <c:ser>
          <c:idx val="7"/>
          <c:order val="7"/>
          <c:spPr>
            <a:solidFill>
              <a:srgbClr val="046A38"/>
            </a:solidFill>
            <a:ln>
              <a:noFill/>
            </a:ln>
          </c:spPr>
          <c:invertIfNegative val="0"/>
          <c:dLbls>
            <c:dLbl>
              <c:idx val="0"/>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9CA0-4415-9F6E-1CD07B73590F}"/>
                </c:ext>
              </c:extLst>
            </c:dLbl>
            <c:dLbl>
              <c:idx val="1"/>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9CA0-4415-9F6E-1CD07B73590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Sheet1!$A$8:$B$8</c:f>
              <c:numCache>
                <c:formatCode>General</c:formatCode>
                <c:ptCount val="2"/>
                <c:pt idx="0">
                  <c:v>30.927178082191773</c:v>
                </c:pt>
                <c:pt idx="1">
                  <c:v>39.544438356164385</c:v>
                </c:pt>
              </c:numCache>
            </c:numRef>
          </c:val>
          <c:extLst>
            <c:ext xmlns:c16="http://schemas.microsoft.com/office/drawing/2014/chart" uri="{C3380CC4-5D6E-409C-BE32-E72D297353CC}">
              <c16:uniqueId val="{00000011-9CA0-4415-9F6E-1CD07B73590F}"/>
            </c:ext>
          </c:extLst>
        </c:ser>
        <c:dLbls>
          <c:showLegendKey val="0"/>
          <c:showVal val="0"/>
          <c:showCatName val="0"/>
          <c:showSerName val="0"/>
          <c:showPercent val="0"/>
          <c:showBubbleSize val="0"/>
        </c:dLbls>
        <c:gapWidth val="80"/>
        <c:overlap val="100"/>
        <c:axId val="895546728"/>
        <c:axId val="1"/>
      </c:barChart>
      <c:catAx>
        <c:axId val="895546728"/>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95.287753424657538"/>
          <c:min val="0"/>
        </c:scaling>
        <c:delete val="1"/>
        <c:axPos val="l"/>
        <c:numFmt formatCode="General" sourceLinked="1"/>
        <c:majorTickMark val="out"/>
        <c:minorTickMark val="none"/>
        <c:tickLblPos val="nextTo"/>
        <c:crossAx val="895546728"/>
        <c:crosses val="min"/>
        <c:crossBetween val="between"/>
      </c:valAx>
    </c:plotArea>
    <c:plotVisOnly val="0"/>
    <c:dispBlanksAs val="gap"/>
    <c:showDLblsOverMax val="1"/>
  </c:chart>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5575389289783517E-2"/>
          <c:y val="0.19506462984723855"/>
          <c:w val="0.9088492214204329"/>
          <c:h val="0.74383078730904817"/>
        </c:manualLayout>
      </c:layout>
      <c:lineChart>
        <c:grouping val="standard"/>
        <c:varyColors val="0"/>
        <c:ser>
          <c:idx val="0"/>
          <c:order val="0"/>
          <c:spPr>
            <a:ln w="28575" algn="ctr">
              <a:solidFill>
                <a:srgbClr val="86BC25"/>
              </a:solidFill>
              <a:prstDash val="solid"/>
            </a:ln>
          </c:spPr>
          <c:marker>
            <c:symbol val="none"/>
          </c:marker>
          <c:dPt>
            <c:idx val="0"/>
            <c:marker>
              <c:symbol val="circle"/>
              <c:size val="5"/>
              <c:spPr>
                <a:solidFill>
                  <a:srgbClr val="86BC25"/>
                </a:solidFill>
                <a:ln w="9525" algn="ctr">
                  <a:solidFill>
                    <a:srgbClr val="86BC25"/>
                  </a:solidFill>
                  <a:prstDash val="solid"/>
                </a:ln>
              </c:spPr>
            </c:marker>
            <c:bubble3D val="0"/>
            <c:extLst>
              <c:ext xmlns:c16="http://schemas.microsoft.com/office/drawing/2014/chart" uri="{C3380CC4-5D6E-409C-BE32-E72D297353CC}">
                <c16:uniqueId val="{00000000-3D22-4224-8625-D9757F0F0868}"/>
              </c:ext>
            </c:extLst>
          </c:dPt>
          <c:dPt>
            <c:idx val="1"/>
            <c:marker>
              <c:symbol val="circle"/>
              <c:size val="5"/>
              <c:spPr>
                <a:solidFill>
                  <a:srgbClr val="86BC25"/>
                </a:solidFill>
                <a:ln w="9525" algn="ctr">
                  <a:solidFill>
                    <a:srgbClr val="86BC25"/>
                  </a:solidFill>
                  <a:prstDash val="solid"/>
                </a:ln>
              </c:spPr>
            </c:marker>
            <c:bubble3D val="0"/>
            <c:extLst>
              <c:ext xmlns:c16="http://schemas.microsoft.com/office/drawing/2014/chart" uri="{C3380CC4-5D6E-409C-BE32-E72D297353CC}">
                <c16:uniqueId val="{00000001-3D22-4224-8625-D9757F0F0868}"/>
              </c:ext>
            </c:extLst>
          </c:dPt>
          <c:dPt>
            <c:idx val="2"/>
            <c:marker>
              <c:symbol val="circle"/>
              <c:size val="5"/>
              <c:spPr>
                <a:solidFill>
                  <a:srgbClr val="86BC25"/>
                </a:solidFill>
                <a:ln w="9525" algn="ctr">
                  <a:solidFill>
                    <a:srgbClr val="86BC25"/>
                  </a:solidFill>
                  <a:prstDash val="solid"/>
                </a:ln>
              </c:spPr>
            </c:marker>
            <c:bubble3D val="0"/>
            <c:extLst>
              <c:ext xmlns:c16="http://schemas.microsoft.com/office/drawing/2014/chart" uri="{C3380CC4-5D6E-409C-BE32-E72D297353CC}">
                <c16:uniqueId val="{00000002-3D22-4224-8625-D9757F0F0868}"/>
              </c:ext>
            </c:extLst>
          </c:dPt>
          <c:dPt>
            <c:idx val="3"/>
            <c:marker>
              <c:symbol val="circle"/>
              <c:size val="5"/>
              <c:spPr>
                <a:solidFill>
                  <a:srgbClr val="86BC25"/>
                </a:solidFill>
                <a:ln w="9525" algn="ctr">
                  <a:solidFill>
                    <a:srgbClr val="86BC25"/>
                  </a:solidFill>
                  <a:prstDash val="solid"/>
                </a:ln>
              </c:spPr>
            </c:marker>
            <c:bubble3D val="0"/>
            <c:extLst>
              <c:ext xmlns:c16="http://schemas.microsoft.com/office/drawing/2014/chart" uri="{C3380CC4-5D6E-409C-BE32-E72D297353CC}">
                <c16:uniqueId val="{00000003-3D22-4224-8625-D9757F0F0868}"/>
              </c:ext>
            </c:extLst>
          </c:dPt>
          <c:dLbls>
            <c:dLbl>
              <c:idx val="0"/>
              <c:layout>
                <c:manualLayout>
                  <c:x val="0"/>
                  <c:y val="-0.12220916568742655"/>
                </c:manualLayout>
              </c:layout>
              <c:numFmt formatCode="#,##0.00;&quot;-&quot;#,##0.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3D22-4224-8625-D9757F0F0868}"/>
                </c:ext>
              </c:extLst>
            </c:dLbl>
            <c:dLbl>
              <c:idx val="1"/>
              <c:layout>
                <c:manualLayout>
                  <c:x val="0"/>
                  <c:y val="-0.12220916568742655"/>
                </c:manualLayout>
              </c:layout>
              <c:numFmt formatCode="#,##0.00;&quot;-&quot;#,##0.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3D22-4224-8625-D9757F0F0868}"/>
                </c:ext>
              </c:extLst>
            </c:dLbl>
            <c:dLbl>
              <c:idx val="2"/>
              <c:layout>
                <c:manualLayout>
                  <c:x val="0"/>
                  <c:y val="-0.12220916568742655"/>
                </c:manualLayout>
              </c:layout>
              <c:numFmt formatCode="#,##0.00;&quot;-&quot;#,##0.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3D22-4224-8625-D9757F0F0868}"/>
                </c:ext>
              </c:extLst>
            </c:dLbl>
            <c:dLbl>
              <c:idx val="3"/>
              <c:layout>
                <c:manualLayout>
                  <c:x val="0"/>
                  <c:y val="-0.12220916568742655"/>
                </c:manualLayout>
              </c:layout>
              <c:numFmt formatCode="#,##0.00;&quot;-&quot;#,##0.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3D22-4224-8625-D9757F0F086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2.82</c:v>
                </c:pt>
                <c:pt idx="1">
                  <c:v>2.99</c:v>
                </c:pt>
                <c:pt idx="2">
                  <c:v>3.16</c:v>
                </c:pt>
                <c:pt idx="3">
                  <c:v>4.45</c:v>
                </c:pt>
              </c:numCache>
            </c:numRef>
          </c:val>
          <c:smooth val="0"/>
          <c:extLst>
            <c:ext xmlns:c16="http://schemas.microsoft.com/office/drawing/2014/chart" uri="{C3380CC4-5D6E-409C-BE32-E72D297353CC}">
              <c16:uniqueId val="{00000004-3D22-4224-8625-D9757F0F0868}"/>
            </c:ext>
          </c:extLst>
        </c:ser>
        <c:ser>
          <c:idx val="1"/>
          <c:order val="1"/>
          <c:spPr>
            <a:ln w="28575" algn="ctr">
              <a:solidFill>
                <a:schemeClr val="accent4"/>
              </a:solidFill>
              <a:prstDash val="solid"/>
            </a:ln>
          </c:spPr>
          <c:marker>
            <c:symbol val="none"/>
          </c:marker>
          <c:dPt>
            <c:idx val="0"/>
            <c:marker>
              <c:symbol val="square"/>
              <c:size val="5"/>
              <c:spPr>
                <a:solidFill>
                  <a:schemeClr val="accent4"/>
                </a:solidFill>
                <a:ln w="9525" algn="ctr">
                  <a:solidFill>
                    <a:schemeClr val="accent4"/>
                  </a:solidFill>
                  <a:prstDash val="solid"/>
                </a:ln>
              </c:spPr>
            </c:marker>
            <c:bubble3D val="0"/>
            <c:extLst>
              <c:ext xmlns:c16="http://schemas.microsoft.com/office/drawing/2014/chart" uri="{C3380CC4-5D6E-409C-BE32-E72D297353CC}">
                <c16:uniqueId val="{00000005-3D22-4224-8625-D9757F0F0868}"/>
              </c:ext>
            </c:extLst>
          </c:dPt>
          <c:dPt>
            <c:idx val="1"/>
            <c:marker>
              <c:symbol val="square"/>
              <c:size val="5"/>
              <c:spPr>
                <a:solidFill>
                  <a:schemeClr val="accent4"/>
                </a:solidFill>
                <a:ln w="9525" algn="ctr">
                  <a:solidFill>
                    <a:schemeClr val="accent4"/>
                  </a:solidFill>
                  <a:prstDash val="solid"/>
                </a:ln>
              </c:spPr>
            </c:marker>
            <c:bubble3D val="0"/>
            <c:extLst>
              <c:ext xmlns:c16="http://schemas.microsoft.com/office/drawing/2014/chart" uri="{C3380CC4-5D6E-409C-BE32-E72D297353CC}">
                <c16:uniqueId val="{00000006-3D22-4224-8625-D9757F0F0868}"/>
              </c:ext>
            </c:extLst>
          </c:dPt>
          <c:dPt>
            <c:idx val="2"/>
            <c:marker>
              <c:symbol val="square"/>
              <c:size val="5"/>
              <c:spPr>
                <a:solidFill>
                  <a:schemeClr val="accent4"/>
                </a:solidFill>
                <a:ln w="9525" algn="ctr">
                  <a:solidFill>
                    <a:schemeClr val="accent4"/>
                  </a:solidFill>
                  <a:prstDash val="solid"/>
                </a:ln>
              </c:spPr>
            </c:marker>
            <c:bubble3D val="0"/>
            <c:extLst>
              <c:ext xmlns:c16="http://schemas.microsoft.com/office/drawing/2014/chart" uri="{C3380CC4-5D6E-409C-BE32-E72D297353CC}">
                <c16:uniqueId val="{00000007-3D22-4224-8625-D9757F0F0868}"/>
              </c:ext>
            </c:extLst>
          </c:dPt>
          <c:dPt>
            <c:idx val="3"/>
            <c:marker>
              <c:symbol val="square"/>
              <c:size val="5"/>
              <c:spPr>
                <a:solidFill>
                  <a:schemeClr val="accent4"/>
                </a:solidFill>
                <a:ln w="9525" algn="ctr">
                  <a:solidFill>
                    <a:schemeClr val="accent4"/>
                  </a:solidFill>
                  <a:prstDash val="solid"/>
                </a:ln>
              </c:spPr>
            </c:marker>
            <c:bubble3D val="0"/>
            <c:extLst>
              <c:ext xmlns:c16="http://schemas.microsoft.com/office/drawing/2014/chart" uri="{C3380CC4-5D6E-409C-BE32-E72D297353CC}">
                <c16:uniqueId val="{00000008-3D22-4224-8625-D9757F0F0868}"/>
              </c:ext>
            </c:extLst>
          </c:dPt>
          <c:dLbls>
            <c:dLbl>
              <c:idx val="0"/>
              <c:layout>
                <c:manualLayout>
                  <c:x val="0"/>
                  <c:y val="-0.12220916568742655"/>
                </c:manualLayout>
              </c:layout>
              <c:numFmt formatCode="#,##0.00;&quot;-&quot;#,##0.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3D22-4224-8625-D9757F0F0868}"/>
                </c:ext>
              </c:extLst>
            </c:dLbl>
            <c:dLbl>
              <c:idx val="1"/>
              <c:layout>
                <c:manualLayout>
                  <c:x val="0"/>
                  <c:y val="-0.12220916568742655"/>
                </c:manualLayout>
              </c:layout>
              <c:numFmt formatCode="#,##0.00;&quot;-&quot;#,##0.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3D22-4224-8625-D9757F0F0868}"/>
                </c:ext>
              </c:extLst>
            </c:dLbl>
            <c:dLbl>
              <c:idx val="2"/>
              <c:layout>
                <c:manualLayout>
                  <c:x val="0"/>
                  <c:y val="-0.12220916568742655"/>
                </c:manualLayout>
              </c:layout>
              <c:numFmt formatCode="#,##0.00;&quot;-&quot;#,##0.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3D22-4224-8625-D9757F0F0868}"/>
                </c:ext>
              </c:extLst>
            </c:dLbl>
            <c:dLbl>
              <c:idx val="3"/>
              <c:layout>
                <c:manualLayout>
                  <c:x val="0"/>
                  <c:y val="-0.12220916568742655"/>
                </c:manualLayout>
              </c:layout>
              <c:numFmt formatCode="#,##0.00;&quot;-&quot;#,##0.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3D22-4224-8625-D9757F0F086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Sheet1!$A$2:$D$2</c:f>
              <c:numCache>
                <c:formatCode>General</c:formatCode>
                <c:ptCount val="4"/>
                <c:pt idx="0">
                  <c:v>0.88829999999999987</c:v>
                </c:pt>
                <c:pt idx="1">
                  <c:v>0.94184999999999997</c:v>
                </c:pt>
                <c:pt idx="2">
                  <c:v>0.99540000000000006</c:v>
                </c:pt>
                <c:pt idx="3">
                  <c:v>1.4017500000000001</c:v>
                </c:pt>
              </c:numCache>
            </c:numRef>
          </c:val>
          <c:smooth val="0"/>
          <c:extLst>
            <c:ext xmlns:c16="http://schemas.microsoft.com/office/drawing/2014/chart" uri="{C3380CC4-5D6E-409C-BE32-E72D297353CC}">
              <c16:uniqueId val="{00000009-3D22-4224-8625-D9757F0F0868}"/>
            </c:ext>
          </c:extLst>
        </c:ser>
        <c:dLbls>
          <c:showLegendKey val="0"/>
          <c:showVal val="0"/>
          <c:showCatName val="0"/>
          <c:showSerName val="0"/>
          <c:showPercent val="0"/>
          <c:showBubbleSize val="0"/>
        </c:dLbls>
        <c:smooth val="0"/>
        <c:axId val="1133635896"/>
        <c:axId val="1"/>
      </c:lineChart>
      <c:catAx>
        <c:axId val="1133635896"/>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4.45"/>
          <c:min val="0"/>
        </c:scaling>
        <c:delete val="1"/>
        <c:axPos val="l"/>
        <c:numFmt formatCode="General" sourceLinked="1"/>
        <c:majorTickMark val="out"/>
        <c:minorTickMark val="none"/>
        <c:tickLblPos val="nextTo"/>
        <c:crossAx val="1133635896"/>
        <c:crosses val="min"/>
        <c:crossBetween val="midCat"/>
      </c:valAx>
    </c:plotArea>
    <c:plotVisOnly val="0"/>
    <c:dispBlanksAs val="gap"/>
    <c:showDLblsOverMax val="1"/>
  </c:chart>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Proposed hik by gas players</c:v>
                </c:pt>
              </c:strCache>
            </c:strRef>
          </c:tx>
          <c:spPr>
            <a:solidFill>
              <a:schemeClr val="accent1"/>
            </a:solidFill>
            <a:ln>
              <a:noFill/>
            </a:ln>
            <a:effectLst/>
          </c:spPr>
          <c:invertIfNegative val="0"/>
          <c:dLbls>
            <c:dLbl>
              <c:idx val="1"/>
              <c:layout>
                <c:manualLayout>
                  <c:x val="-5.4430538703756004E-3"/>
                  <c:y val="-3.202368816348299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59E-43DD-A165-52F4DB9A6B2A}"/>
                </c:ext>
              </c:extLst>
            </c:dLbl>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Sheet1!$A$2:$A$5</c:f>
              <c:numCache>
                <c:formatCode>mmm\-yy</c:formatCode>
                <c:ptCount val="4"/>
                <c:pt idx="0" formatCode="General">
                  <c:v>2009</c:v>
                </c:pt>
                <c:pt idx="1">
                  <c:v>42795</c:v>
                </c:pt>
                <c:pt idx="2">
                  <c:v>42887</c:v>
                </c:pt>
                <c:pt idx="3" formatCode="General">
                  <c:v>2019</c:v>
                </c:pt>
              </c:numCache>
            </c:numRef>
          </c:cat>
          <c:val>
            <c:numRef>
              <c:f>Sheet1!$B$2:$B$5</c:f>
              <c:numCache>
                <c:formatCode>0%</c:formatCode>
                <c:ptCount val="4"/>
                <c:pt idx="0">
                  <c:v>0.27</c:v>
                </c:pt>
                <c:pt idx="1">
                  <c:v>0.63</c:v>
                </c:pt>
                <c:pt idx="2">
                  <c:v>0.54</c:v>
                </c:pt>
                <c:pt idx="3">
                  <c:v>1.42</c:v>
                </c:pt>
              </c:numCache>
            </c:numRef>
          </c:val>
          <c:extLst>
            <c:ext xmlns:c16="http://schemas.microsoft.com/office/drawing/2014/chart" uri="{C3380CC4-5D6E-409C-BE32-E72D297353CC}">
              <c16:uniqueId val="{00000000-059E-43DD-A165-52F4DB9A6B2A}"/>
            </c:ext>
          </c:extLst>
        </c:ser>
        <c:ser>
          <c:idx val="1"/>
          <c:order val="1"/>
          <c:tx>
            <c:strRef>
              <c:f>Sheet1!$C$1</c:f>
              <c:strCache>
                <c:ptCount val="1"/>
                <c:pt idx="0">
                  <c:v>BERC hike</c:v>
                </c:pt>
              </c:strCache>
            </c:strRef>
          </c:tx>
          <c:spPr>
            <a:solidFill>
              <a:schemeClr val="accent2"/>
            </a:solidFill>
            <a:ln>
              <a:noFill/>
            </a:ln>
            <a:effectLst/>
          </c:spPr>
          <c:invertIfNegative val="0"/>
          <c:dLbls>
            <c:dLbl>
              <c:idx val="1"/>
              <c:layout>
                <c:manualLayout>
                  <c:x val="1.9050688546314552E-2"/>
                  <c:y val="-5.0704906590219254E-17"/>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59E-43DD-A165-52F4DB9A6B2A}"/>
                </c:ext>
              </c:extLst>
            </c:dLbl>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Sheet1!$A$2:$A$5</c:f>
              <c:numCache>
                <c:formatCode>mmm\-yy</c:formatCode>
                <c:ptCount val="4"/>
                <c:pt idx="0" formatCode="General">
                  <c:v>2009</c:v>
                </c:pt>
                <c:pt idx="1">
                  <c:v>42795</c:v>
                </c:pt>
                <c:pt idx="2">
                  <c:v>42887</c:v>
                </c:pt>
                <c:pt idx="3" formatCode="General">
                  <c:v>2019</c:v>
                </c:pt>
              </c:numCache>
            </c:numRef>
          </c:cat>
          <c:val>
            <c:numRef>
              <c:f>Sheet1!$C$2:$C$5</c:f>
              <c:numCache>
                <c:formatCode>0%</c:formatCode>
                <c:ptCount val="4"/>
                <c:pt idx="0">
                  <c:v>0.08</c:v>
                </c:pt>
                <c:pt idx="1">
                  <c:v>0.06</c:v>
                </c:pt>
                <c:pt idx="2">
                  <c:v>6.0761713856176458E-2</c:v>
                </c:pt>
                <c:pt idx="3">
                  <c:v>0.41</c:v>
                </c:pt>
              </c:numCache>
            </c:numRef>
          </c:val>
          <c:extLst>
            <c:ext xmlns:c16="http://schemas.microsoft.com/office/drawing/2014/chart" uri="{C3380CC4-5D6E-409C-BE32-E72D297353CC}">
              <c16:uniqueId val="{00000001-059E-43DD-A165-52F4DB9A6B2A}"/>
            </c:ext>
          </c:extLst>
        </c:ser>
        <c:dLbls>
          <c:showLegendKey val="0"/>
          <c:showVal val="0"/>
          <c:showCatName val="0"/>
          <c:showSerName val="0"/>
          <c:showPercent val="0"/>
          <c:showBubbleSize val="0"/>
        </c:dLbls>
        <c:gapWidth val="150"/>
        <c:axId val="622306256"/>
        <c:axId val="622305928"/>
      </c:barChart>
      <c:catAx>
        <c:axId val="622306256"/>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n-US"/>
          </a:p>
        </c:txPr>
        <c:crossAx val="622305928"/>
        <c:crosses val="autoZero"/>
        <c:auto val="1"/>
        <c:lblAlgn val="ctr"/>
        <c:lblOffset val="100"/>
        <c:noMultiLvlLbl val="0"/>
      </c:catAx>
      <c:valAx>
        <c:axId val="622305928"/>
        <c:scaling>
          <c:orientation val="minMax"/>
        </c:scaling>
        <c:delete val="1"/>
        <c:axPos val="l"/>
        <c:numFmt formatCode="0%" sourceLinked="1"/>
        <c:majorTickMark val="none"/>
        <c:minorTickMark val="none"/>
        <c:tickLblPos val="nextTo"/>
        <c:crossAx val="62230625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800">
          <a:solidFill>
            <a:schemeClr val="tx1"/>
          </a:solidFill>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8123280491486846E-2"/>
          <c:y val="3.799778488801378E-2"/>
          <c:w val="0.85591769596884448"/>
          <c:h val="0.66663146992236555"/>
        </c:manualLayout>
      </c:layout>
      <c:lineChart>
        <c:grouping val="standard"/>
        <c:varyColors val="0"/>
        <c:ser>
          <c:idx val="0"/>
          <c:order val="0"/>
          <c:tx>
            <c:strRef>
              <c:f>Sheet1!$C$1</c:f>
              <c:strCache>
                <c:ptCount val="1"/>
                <c:pt idx="0">
                  <c:v>Brent Crude oil price (USD/BBL) - Left</c:v>
                </c:pt>
              </c:strCache>
            </c:strRef>
          </c:tx>
          <c:spPr>
            <a:ln w="28575" cap="rnd">
              <a:solidFill>
                <a:schemeClr val="accent1"/>
              </a:solidFill>
              <a:round/>
            </a:ln>
            <a:effectLst/>
          </c:spPr>
          <c:marker>
            <c:symbol val="none"/>
          </c:marker>
          <c:cat>
            <c:numRef>
              <c:f>Sheet1!$A$2:$A$161</c:f>
              <c:numCache>
                <c:formatCode>mmm\-yy</c:formatCode>
                <c:ptCount val="160"/>
                <c:pt idx="0">
                  <c:v>39083</c:v>
                </c:pt>
                <c:pt idx="1">
                  <c:v>39114</c:v>
                </c:pt>
                <c:pt idx="2">
                  <c:v>39142</c:v>
                </c:pt>
                <c:pt idx="3">
                  <c:v>39173</c:v>
                </c:pt>
                <c:pt idx="4">
                  <c:v>39203</c:v>
                </c:pt>
                <c:pt idx="5">
                  <c:v>39234</c:v>
                </c:pt>
                <c:pt idx="6">
                  <c:v>39264</c:v>
                </c:pt>
                <c:pt idx="7">
                  <c:v>39295</c:v>
                </c:pt>
                <c:pt idx="8">
                  <c:v>39326</c:v>
                </c:pt>
                <c:pt idx="9">
                  <c:v>39356</c:v>
                </c:pt>
                <c:pt idx="10">
                  <c:v>39387</c:v>
                </c:pt>
                <c:pt idx="11">
                  <c:v>39417</c:v>
                </c:pt>
                <c:pt idx="12">
                  <c:v>39448</c:v>
                </c:pt>
                <c:pt idx="13">
                  <c:v>39479</c:v>
                </c:pt>
                <c:pt idx="14">
                  <c:v>39508</c:v>
                </c:pt>
                <c:pt idx="15">
                  <c:v>39539</c:v>
                </c:pt>
                <c:pt idx="16">
                  <c:v>39569</c:v>
                </c:pt>
                <c:pt idx="17">
                  <c:v>39600</c:v>
                </c:pt>
                <c:pt idx="18">
                  <c:v>39630</c:v>
                </c:pt>
                <c:pt idx="19">
                  <c:v>39661</c:v>
                </c:pt>
                <c:pt idx="20">
                  <c:v>39692</c:v>
                </c:pt>
                <c:pt idx="21">
                  <c:v>39722</c:v>
                </c:pt>
                <c:pt idx="22">
                  <c:v>39753</c:v>
                </c:pt>
                <c:pt idx="23">
                  <c:v>39783</c:v>
                </c:pt>
                <c:pt idx="24">
                  <c:v>39814</c:v>
                </c:pt>
                <c:pt idx="25">
                  <c:v>39845</c:v>
                </c:pt>
                <c:pt idx="26">
                  <c:v>39873</c:v>
                </c:pt>
                <c:pt idx="27">
                  <c:v>39904</c:v>
                </c:pt>
                <c:pt idx="28">
                  <c:v>39934</c:v>
                </c:pt>
                <c:pt idx="29">
                  <c:v>39965</c:v>
                </c:pt>
                <c:pt idx="30">
                  <c:v>39995</c:v>
                </c:pt>
                <c:pt idx="31">
                  <c:v>40026</c:v>
                </c:pt>
                <c:pt idx="32">
                  <c:v>40057</c:v>
                </c:pt>
                <c:pt idx="33">
                  <c:v>40087</c:v>
                </c:pt>
                <c:pt idx="34">
                  <c:v>40118</c:v>
                </c:pt>
                <c:pt idx="35">
                  <c:v>40148</c:v>
                </c:pt>
                <c:pt idx="36">
                  <c:v>40179</c:v>
                </c:pt>
                <c:pt idx="37">
                  <c:v>40210</c:v>
                </c:pt>
                <c:pt idx="38">
                  <c:v>40238</c:v>
                </c:pt>
                <c:pt idx="39">
                  <c:v>40269</c:v>
                </c:pt>
                <c:pt idx="40">
                  <c:v>40299</c:v>
                </c:pt>
                <c:pt idx="41">
                  <c:v>40330</c:v>
                </c:pt>
                <c:pt idx="42">
                  <c:v>40360</c:v>
                </c:pt>
                <c:pt idx="43">
                  <c:v>40391</c:v>
                </c:pt>
                <c:pt idx="44">
                  <c:v>40422</c:v>
                </c:pt>
                <c:pt idx="45">
                  <c:v>40452</c:v>
                </c:pt>
                <c:pt idx="46">
                  <c:v>40483</c:v>
                </c:pt>
                <c:pt idx="47">
                  <c:v>40513</c:v>
                </c:pt>
                <c:pt idx="48">
                  <c:v>40544</c:v>
                </c:pt>
                <c:pt idx="49">
                  <c:v>40575</c:v>
                </c:pt>
                <c:pt idx="50">
                  <c:v>40603</c:v>
                </c:pt>
                <c:pt idx="51">
                  <c:v>40634</c:v>
                </c:pt>
                <c:pt idx="52">
                  <c:v>40664</c:v>
                </c:pt>
                <c:pt idx="53">
                  <c:v>40695</c:v>
                </c:pt>
                <c:pt idx="54">
                  <c:v>40725</c:v>
                </c:pt>
                <c:pt idx="55">
                  <c:v>40756</c:v>
                </c:pt>
                <c:pt idx="56">
                  <c:v>40787</c:v>
                </c:pt>
                <c:pt idx="57">
                  <c:v>40817</c:v>
                </c:pt>
                <c:pt idx="58">
                  <c:v>40848</c:v>
                </c:pt>
                <c:pt idx="59">
                  <c:v>40878</c:v>
                </c:pt>
                <c:pt idx="60">
                  <c:v>40909</c:v>
                </c:pt>
                <c:pt idx="61">
                  <c:v>40940</c:v>
                </c:pt>
                <c:pt idx="62">
                  <c:v>40969</c:v>
                </c:pt>
                <c:pt idx="63">
                  <c:v>41000</c:v>
                </c:pt>
                <c:pt idx="64">
                  <c:v>41030</c:v>
                </c:pt>
                <c:pt idx="65">
                  <c:v>41061</c:v>
                </c:pt>
                <c:pt idx="66">
                  <c:v>41091</c:v>
                </c:pt>
                <c:pt idx="67">
                  <c:v>41122</c:v>
                </c:pt>
                <c:pt idx="68">
                  <c:v>41153</c:v>
                </c:pt>
                <c:pt idx="69">
                  <c:v>41183</c:v>
                </c:pt>
                <c:pt idx="70">
                  <c:v>41214</c:v>
                </c:pt>
                <c:pt idx="71">
                  <c:v>41244</c:v>
                </c:pt>
                <c:pt idx="72">
                  <c:v>41275</c:v>
                </c:pt>
                <c:pt idx="73">
                  <c:v>41306</c:v>
                </c:pt>
                <c:pt idx="74">
                  <c:v>41334</c:v>
                </c:pt>
                <c:pt idx="75">
                  <c:v>41365</c:v>
                </c:pt>
                <c:pt idx="76">
                  <c:v>41395</c:v>
                </c:pt>
                <c:pt idx="77">
                  <c:v>41426</c:v>
                </c:pt>
                <c:pt idx="78">
                  <c:v>41456</c:v>
                </c:pt>
                <c:pt idx="79">
                  <c:v>41487</c:v>
                </c:pt>
                <c:pt idx="80">
                  <c:v>41518</c:v>
                </c:pt>
                <c:pt idx="81">
                  <c:v>41548</c:v>
                </c:pt>
                <c:pt idx="82">
                  <c:v>41579</c:v>
                </c:pt>
                <c:pt idx="83">
                  <c:v>41609</c:v>
                </c:pt>
                <c:pt idx="84">
                  <c:v>41640</c:v>
                </c:pt>
                <c:pt idx="85">
                  <c:v>41671</c:v>
                </c:pt>
                <c:pt idx="86">
                  <c:v>41699</c:v>
                </c:pt>
                <c:pt idx="87">
                  <c:v>41730</c:v>
                </c:pt>
                <c:pt idx="88">
                  <c:v>41760</c:v>
                </c:pt>
                <c:pt idx="89">
                  <c:v>41791</c:v>
                </c:pt>
                <c:pt idx="90">
                  <c:v>41821</c:v>
                </c:pt>
                <c:pt idx="91">
                  <c:v>41852</c:v>
                </c:pt>
                <c:pt idx="92">
                  <c:v>41883</c:v>
                </c:pt>
                <c:pt idx="93">
                  <c:v>41913</c:v>
                </c:pt>
                <c:pt idx="94">
                  <c:v>41944</c:v>
                </c:pt>
                <c:pt idx="95">
                  <c:v>41974</c:v>
                </c:pt>
                <c:pt idx="96">
                  <c:v>42005</c:v>
                </c:pt>
                <c:pt idx="97">
                  <c:v>42036</c:v>
                </c:pt>
                <c:pt idx="98">
                  <c:v>42064</c:v>
                </c:pt>
                <c:pt idx="99">
                  <c:v>42095</c:v>
                </c:pt>
                <c:pt idx="100">
                  <c:v>42125</c:v>
                </c:pt>
                <c:pt idx="101">
                  <c:v>42156</c:v>
                </c:pt>
                <c:pt idx="102">
                  <c:v>42186</c:v>
                </c:pt>
                <c:pt idx="103">
                  <c:v>42217</c:v>
                </c:pt>
                <c:pt idx="104">
                  <c:v>42248</c:v>
                </c:pt>
                <c:pt idx="105">
                  <c:v>42278</c:v>
                </c:pt>
                <c:pt idx="106">
                  <c:v>42309</c:v>
                </c:pt>
                <c:pt idx="107">
                  <c:v>42339</c:v>
                </c:pt>
                <c:pt idx="108">
                  <c:v>42370</c:v>
                </c:pt>
                <c:pt idx="109">
                  <c:v>42401</c:v>
                </c:pt>
                <c:pt idx="110">
                  <c:v>42430</c:v>
                </c:pt>
                <c:pt idx="111">
                  <c:v>42461</c:v>
                </c:pt>
                <c:pt idx="112">
                  <c:v>42491</c:v>
                </c:pt>
                <c:pt idx="113">
                  <c:v>42522</c:v>
                </c:pt>
                <c:pt idx="114">
                  <c:v>42552</c:v>
                </c:pt>
                <c:pt idx="115">
                  <c:v>42583</c:v>
                </c:pt>
                <c:pt idx="116">
                  <c:v>42614</c:v>
                </c:pt>
                <c:pt idx="117">
                  <c:v>42644</c:v>
                </c:pt>
                <c:pt idx="118">
                  <c:v>42675</c:v>
                </c:pt>
                <c:pt idx="119">
                  <c:v>42705</c:v>
                </c:pt>
                <c:pt idx="120">
                  <c:v>42736</c:v>
                </c:pt>
                <c:pt idx="121">
                  <c:v>42767</c:v>
                </c:pt>
                <c:pt idx="122">
                  <c:v>42795</c:v>
                </c:pt>
                <c:pt idx="123">
                  <c:v>42826</c:v>
                </c:pt>
                <c:pt idx="124">
                  <c:v>42856</c:v>
                </c:pt>
                <c:pt idx="125">
                  <c:v>42887</c:v>
                </c:pt>
                <c:pt idx="126">
                  <c:v>42917</c:v>
                </c:pt>
                <c:pt idx="127">
                  <c:v>42948</c:v>
                </c:pt>
                <c:pt idx="128">
                  <c:v>42979</c:v>
                </c:pt>
                <c:pt idx="129">
                  <c:v>43009</c:v>
                </c:pt>
                <c:pt idx="130">
                  <c:v>43040</c:v>
                </c:pt>
                <c:pt idx="131">
                  <c:v>43070</c:v>
                </c:pt>
                <c:pt idx="132">
                  <c:v>43101</c:v>
                </c:pt>
                <c:pt idx="133">
                  <c:v>43132</c:v>
                </c:pt>
                <c:pt idx="134">
                  <c:v>43160</c:v>
                </c:pt>
                <c:pt idx="135">
                  <c:v>43191</c:v>
                </c:pt>
                <c:pt idx="136">
                  <c:v>43221</c:v>
                </c:pt>
                <c:pt idx="137">
                  <c:v>43252</c:v>
                </c:pt>
                <c:pt idx="138">
                  <c:v>43282</c:v>
                </c:pt>
                <c:pt idx="139">
                  <c:v>43313</c:v>
                </c:pt>
                <c:pt idx="140">
                  <c:v>43344</c:v>
                </c:pt>
                <c:pt idx="141">
                  <c:v>43374</c:v>
                </c:pt>
                <c:pt idx="142">
                  <c:v>43405</c:v>
                </c:pt>
                <c:pt idx="143">
                  <c:v>43435</c:v>
                </c:pt>
                <c:pt idx="144">
                  <c:v>43466</c:v>
                </c:pt>
                <c:pt idx="145">
                  <c:v>43497</c:v>
                </c:pt>
                <c:pt idx="146">
                  <c:v>43525</c:v>
                </c:pt>
                <c:pt idx="147">
                  <c:v>43556</c:v>
                </c:pt>
                <c:pt idx="148">
                  <c:v>43586</c:v>
                </c:pt>
                <c:pt idx="149">
                  <c:v>43617</c:v>
                </c:pt>
                <c:pt idx="150">
                  <c:v>43647</c:v>
                </c:pt>
                <c:pt idx="151">
                  <c:v>43678</c:v>
                </c:pt>
                <c:pt idx="152">
                  <c:v>43709</c:v>
                </c:pt>
                <c:pt idx="153">
                  <c:v>43739</c:v>
                </c:pt>
                <c:pt idx="154">
                  <c:v>43770</c:v>
                </c:pt>
                <c:pt idx="155">
                  <c:v>43800</c:v>
                </c:pt>
                <c:pt idx="156">
                  <c:v>43831</c:v>
                </c:pt>
                <c:pt idx="157">
                  <c:v>43862</c:v>
                </c:pt>
                <c:pt idx="158">
                  <c:v>43891</c:v>
                </c:pt>
                <c:pt idx="159">
                  <c:v>43922</c:v>
                </c:pt>
              </c:numCache>
            </c:numRef>
          </c:cat>
          <c:val>
            <c:numRef>
              <c:f>Sheet1!$C$2:$C$161</c:f>
              <c:numCache>
                <c:formatCode>0.00</c:formatCode>
                <c:ptCount val="160"/>
                <c:pt idx="0">
                  <c:v>53.681428571428569</c:v>
                </c:pt>
                <c:pt idx="1">
                  <c:v>57.555789473684207</c:v>
                </c:pt>
                <c:pt idx="2">
                  <c:v>62.050454545454549</c:v>
                </c:pt>
                <c:pt idx="3">
                  <c:v>67.485789473684207</c:v>
                </c:pt>
                <c:pt idx="4">
                  <c:v>67.212272727272747</c:v>
                </c:pt>
                <c:pt idx="5">
                  <c:v>71.045714285714283</c:v>
                </c:pt>
                <c:pt idx="6">
                  <c:v>76.929999999999978</c:v>
                </c:pt>
                <c:pt idx="7">
                  <c:v>70.760869565217391</c:v>
                </c:pt>
                <c:pt idx="8">
                  <c:v>77.173157894736832</c:v>
                </c:pt>
                <c:pt idx="9">
                  <c:v>82.34</c:v>
                </c:pt>
                <c:pt idx="10">
                  <c:v>92.414285714285711</c:v>
                </c:pt>
                <c:pt idx="11">
                  <c:v>90.926842105263162</c:v>
                </c:pt>
                <c:pt idx="12">
                  <c:v>92.178095238095253</c:v>
                </c:pt>
                <c:pt idx="13">
                  <c:v>94.986500000000007</c:v>
                </c:pt>
                <c:pt idx="14">
                  <c:v>103.63550000000002</c:v>
                </c:pt>
                <c:pt idx="15">
                  <c:v>109.07136363636363</c:v>
                </c:pt>
                <c:pt idx="16">
                  <c:v>122.79714285714284</c:v>
                </c:pt>
                <c:pt idx="17">
                  <c:v>132.32238095238097</c:v>
                </c:pt>
                <c:pt idx="18">
                  <c:v>132.71818181818182</c:v>
                </c:pt>
                <c:pt idx="19">
                  <c:v>113.24333333333331</c:v>
                </c:pt>
                <c:pt idx="20">
                  <c:v>97.234761904761925</c:v>
                </c:pt>
                <c:pt idx="21">
                  <c:v>71.582173913043462</c:v>
                </c:pt>
                <c:pt idx="22">
                  <c:v>52.452631578947368</c:v>
                </c:pt>
                <c:pt idx="23">
                  <c:v>39.94681818181818</c:v>
                </c:pt>
                <c:pt idx="24">
                  <c:v>43.439499999999995</c:v>
                </c:pt>
                <c:pt idx="25">
                  <c:v>43.324736842105253</c:v>
                </c:pt>
                <c:pt idx="26">
                  <c:v>46.540454545454544</c:v>
                </c:pt>
                <c:pt idx="27">
                  <c:v>50.181904761904761</c:v>
                </c:pt>
                <c:pt idx="28">
                  <c:v>57.302499999999995</c:v>
                </c:pt>
                <c:pt idx="29">
                  <c:v>68.609545454545454</c:v>
                </c:pt>
                <c:pt idx="30">
                  <c:v>64.435454545454533</c:v>
                </c:pt>
                <c:pt idx="31">
                  <c:v>72.508571428571415</c:v>
                </c:pt>
                <c:pt idx="32">
                  <c:v>67.646190476190469</c:v>
                </c:pt>
                <c:pt idx="33">
                  <c:v>72.769545454545451</c:v>
                </c:pt>
                <c:pt idx="34">
                  <c:v>76.661999999999992</c:v>
                </c:pt>
                <c:pt idx="35">
                  <c:v>74.456363636363648</c:v>
                </c:pt>
                <c:pt idx="36">
                  <c:v>76.167368421052629</c:v>
                </c:pt>
                <c:pt idx="37">
                  <c:v>73.752105263157887</c:v>
                </c:pt>
                <c:pt idx="38">
                  <c:v>78.827391304347842</c:v>
                </c:pt>
                <c:pt idx="39">
                  <c:v>84.817619047619033</c:v>
                </c:pt>
                <c:pt idx="40">
                  <c:v>75.945499999999996</c:v>
                </c:pt>
                <c:pt idx="41">
                  <c:v>74.760909090909095</c:v>
                </c:pt>
                <c:pt idx="42">
                  <c:v>75.58</c:v>
                </c:pt>
                <c:pt idx="43">
                  <c:v>77.039545454545447</c:v>
                </c:pt>
                <c:pt idx="44">
                  <c:v>77.840476190476195</c:v>
                </c:pt>
                <c:pt idx="45">
                  <c:v>82.664761904761903</c:v>
                </c:pt>
                <c:pt idx="46">
                  <c:v>85.274761904761903</c:v>
                </c:pt>
                <c:pt idx="47">
                  <c:v>91.446818181818159</c:v>
                </c:pt>
                <c:pt idx="48">
                  <c:v>96.523499999999984</c:v>
                </c:pt>
                <c:pt idx="49">
                  <c:v>103.71631578947368</c:v>
                </c:pt>
                <c:pt idx="50">
                  <c:v>114.64347826086956</c:v>
                </c:pt>
                <c:pt idx="51">
                  <c:v>123.25888888888888</c:v>
                </c:pt>
                <c:pt idx="52">
                  <c:v>114.9890476190476</c:v>
                </c:pt>
                <c:pt idx="53">
                  <c:v>113.83318181818184</c:v>
                </c:pt>
                <c:pt idx="54">
                  <c:v>116.97349999999999</c:v>
                </c:pt>
                <c:pt idx="55">
                  <c:v>110.21954545454547</c:v>
                </c:pt>
                <c:pt idx="56">
                  <c:v>112.83380952380955</c:v>
                </c:pt>
                <c:pt idx="57">
                  <c:v>109.54999999999998</c:v>
                </c:pt>
                <c:pt idx="58">
                  <c:v>110.76809523809523</c:v>
                </c:pt>
                <c:pt idx="59">
                  <c:v>107.87049999999999</c:v>
                </c:pt>
                <c:pt idx="60">
                  <c:v>110.68599999999999</c:v>
                </c:pt>
                <c:pt idx="61">
                  <c:v>119.327</c:v>
                </c:pt>
                <c:pt idx="62">
                  <c:v>125.44545454545454</c:v>
                </c:pt>
                <c:pt idx="63">
                  <c:v>119.42166666666668</c:v>
                </c:pt>
                <c:pt idx="64">
                  <c:v>110.33952380952381</c:v>
                </c:pt>
                <c:pt idx="65">
                  <c:v>95.155714285714296</c:v>
                </c:pt>
                <c:pt idx="66">
                  <c:v>102.61857142857141</c:v>
                </c:pt>
                <c:pt idx="67">
                  <c:v>113.35608695652174</c:v>
                </c:pt>
                <c:pt idx="68">
                  <c:v>112.86368421052633</c:v>
                </c:pt>
                <c:pt idx="69">
                  <c:v>111.71086956521739</c:v>
                </c:pt>
                <c:pt idx="70">
                  <c:v>109.05857142857143</c:v>
                </c:pt>
                <c:pt idx="71">
                  <c:v>109.494</c:v>
                </c:pt>
                <c:pt idx="72">
                  <c:v>112.96000000000001</c:v>
                </c:pt>
                <c:pt idx="73">
                  <c:v>116.05052631578945</c:v>
                </c:pt>
                <c:pt idx="74">
                  <c:v>108.474</c:v>
                </c:pt>
                <c:pt idx="75">
                  <c:v>102.24818181818182</c:v>
                </c:pt>
                <c:pt idx="76">
                  <c:v>102.55863636363634</c:v>
                </c:pt>
                <c:pt idx="77">
                  <c:v>102.9195</c:v>
                </c:pt>
                <c:pt idx="78">
                  <c:v>107.93318181818178</c:v>
                </c:pt>
                <c:pt idx="79">
                  <c:v>111.28045454545453</c:v>
                </c:pt>
                <c:pt idx="80">
                  <c:v>111.59649999999999</c:v>
                </c:pt>
                <c:pt idx="81">
                  <c:v>109.07652173913043</c:v>
                </c:pt>
                <c:pt idx="82">
                  <c:v>107.79199999999999</c:v>
                </c:pt>
                <c:pt idx="83">
                  <c:v>110.75666666666666</c:v>
                </c:pt>
                <c:pt idx="84">
                  <c:v>108.11772727272728</c:v>
                </c:pt>
                <c:pt idx="85">
                  <c:v>108.90052631578948</c:v>
                </c:pt>
                <c:pt idx="86">
                  <c:v>107.48095238095237</c:v>
                </c:pt>
                <c:pt idx="87">
                  <c:v>107.7552380952381</c:v>
                </c:pt>
                <c:pt idx="88">
                  <c:v>109.53909090909092</c:v>
                </c:pt>
                <c:pt idx="89">
                  <c:v>111.7952380952381</c:v>
                </c:pt>
                <c:pt idx="90">
                  <c:v>106.76818181818182</c:v>
                </c:pt>
                <c:pt idx="91">
                  <c:v>101.60809523809523</c:v>
                </c:pt>
                <c:pt idx="92">
                  <c:v>97.091428571428565</c:v>
                </c:pt>
                <c:pt idx="93">
                  <c:v>87.425217391304372</c:v>
                </c:pt>
                <c:pt idx="94">
                  <c:v>79.437894736842111</c:v>
                </c:pt>
                <c:pt idx="95">
                  <c:v>62.334999999999994</c:v>
                </c:pt>
                <c:pt idx="96">
                  <c:v>47.75950000000001</c:v>
                </c:pt>
                <c:pt idx="97">
                  <c:v>58.095500000000015</c:v>
                </c:pt>
                <c:pt idx="98">
                  <c:v>55.885454545454543</c:v>
                </c:pt>
                <c:pt idx="99">
                  <c:v>59.524285714285725</c:v>
                </c:pt>
                <c:pt idx="100">
                  <c:v>64.075000000000003</c:v>
                </c:pt>
                <c:pt idx="101">
                  <c:v>61.477727272727286</c:v>
                </c:pt>
                <c:pt idx="102">
                  <c:v>56.561304347826088</c:v>
                </c:pt>
                <c:pt idx="103">
                  <c:v>46.515000000000001</c:v>
                </c:pt>
                <c:pt idx="104">
                  <c:v>47.62318181818182</c:v>
                </c:pt>
                <c:pt idx="105">
                  <c:v>48.43</c:v>
                </c:pt>
                <c:pt idx="106">
                  <c:v>44.267619047619057</c:v>
                </c:pt>
                <c:pt idx="107">
                  <c:v>38.005454545454548</c:v>
                </c:pt>
                <c:pt idx="108">
                  <c:v>30.6995</c:v>
                </c:pt>
                <c:pt idx="109">
                  <c:v>32.1815</c:v>
                </c:pt>
                <c:pt idx="110">
                  <c:v>38.210454545454553</c:v>
                </c:pt>
                <c:pt idx="111">
                  <c:v>41.583333333333336</c:v>
                </c:pt>
                <c:pt idx="112">
                  <c:v>46.742380952380941</c:v>
                </c:pt>
                <c:pt idx="113">
                  <c:v>48.247272727272723</c:v>
                </c:pt>
                <c:pt idx="114">
                  <c:v>44.951904761904771</c:v>
                </c:pt>
                <c:pt idx="115">
                  <c:v>45.843043478260874</c:v>
                </c:pt>
                <c:pt idx="116">
                  <c:v>46.567727272727275</c:v>
                </c:pt>
                <c:pt idx="117">
                  <c:v>49.522380952380956</c:v>
                </c:pt>
                <c:pt idx="118">
                  <c:v>44.734090909090916</c:v>
                </c:pt>
                <c:pt idx="119">
                  <c:v>53.308499999999995</c:v>
                </c:pt>
                <c:pt idx="120">
                  <c:v>54.576666666666661</c:v>
                </c:pt>
                <c:pt idx="121">
                  <c:v>54.869500000000002</c:v>
                </c:pt>
                <c:pt idx="122">
                  <c:v>51.589130434782604</c:v>
                </c:pt>
                <c:pt idx="123">
                  <c:v>52.307894736842108</c:v>
                </c:pt>
                <c:pt idx="124">
                  <c:v>50.326521739130442</c:v>
                </c:pt>
                <c:pt idx="125">
                  <c:v>46.368181818181824</c:v>
                </c:pt>
                <c:pt idx="126">
                  <c:v>48.478571428571428</c:v>
                </c:pt>
                <c:pt idx="127">
                  <c:v>51.704347826086966</c:v>
                </c:pt>
                <c:pt idx="128">
                  <c:v>56.152857142857137</c:v>
                </c:pt>
                <c:pt idx="129">
                  <c:v>57.507727272727273</c:v>
                </c:pt>
                <c:pt idx="130">
                  <c:v>62.714090909090899</c:v>
                </c:pt>
                <c:pt idx="131">
                  <c:v>64.373684210526321</c:v>
                </c:pt>
                <c:pt idx="132">
                  <c:v>69.077272727272714</c:v>
                </c:pt>
                <c:pt idx="133">
                  <c:v>65.317499999999981</c:v>
                </c:pt>
                <c:pt idx="134">
                  <c:v>66.016666666666666</c:v>
                </c:pt>
                <c:pt idx="135">
                  <c:v>72.106000000000009</c:v>
                </c:pt>
                <c:pt idx="136">
                  <c:v>76.975238095238112</c:v>
                </c:pt>
                <c:pt idx="137">
                  <c:v>74.404761904761898</c:v>
                </c:pt>
                <c:pt idx="138">
                  <c:v>74.25409090909092</c:v>
                </c:pt>
                <c:pt idx="139">
                  <c:v>72.52826086956523</c:v>
                </c:pt>
                <c:pt idx="140">
                  <c:v>78.89100000000002</c:v>
                </c:pt>
                <c:pt idx="141">
                  <c:v>81.032173913043479</c:v>
                </c:pt>
                <c:pt idx="142">
                  <c:v>64.74818181818182</c:v>
                </c:pt>
                <c:pt idx="143">
                  <c:v>57.362352941176482</c:v>
                </c:pt>
                <c:pt idx="144">
                  <c:v>59.409545454545452</c:v>
                </c:pt>
                <c:pt idx="145">
                  <c:v>63.960499999999989</c:v>
                </c:pt>
                <c:pt idx="146">
                  <c:v>66.138571428571424</c:v>
                </c:pt>
                <c:pt idx="147">
                  <c:v>71.233333333333334</c:v>
                </c:pt>
                <c:pt idx="148">
                  <c:v>71.317727272727296</c:v>
                </c:pt>
                <c:pt idx="149">
                  <c:v>64.220499999999987</c:v>
                </c:pt>
                <c:pt idx="150">
                  <c:v>63.919130434782595</c:v>
                </c:pt>
                <c:pt idx="151">
                  <c:v>59.041818181818186</c:v>
                </c:pt>
                <c:pt idx="152">
                  <c:v>62.826666666666675</c:v>
                </c:pt>
                <c:pt idx="153">
                  <c:v>59.713043478260865</c:v>
                </c:pt>
                <c:pt idx="154">
                  <c:v>63.211904761904762</c:v>
                </c:pt>
                <c:pt idx="155">
                  <c:v>67.217142857142861</c:v>
                </c:pt>
                <c:pt idx="156">
                  <c:v>63.645454545454534</c:v>
                </c:pt>
                <c:pt idx="157">
                  <c:v>55.657000000000004</c:v>
                </c:pt>
                <c:pt idx="158">
                  <c:v>32.011363636363633</c:v>
                </c:pt>
                <c:pt idx="159">
                  <c:v>18.378500000000003</c:v>
                </c:pt>
              </c:numCache>
            </c:numRef>
          </c:val>
          <c:smooth val="0"/>
          <c:extLst>
            <c:ext xmlns:c16="http://schemas.microsoft.com/office/drawing/2014/chart" uri="{C3380CC4-5D6E-409C-BE32-E72D297353CC}">
              <c16:uniqueId val="{00000000-C149-4EE0-ACE6-90DD88997E58}"/>
            </c:ext>
          </c:extLst>
        </c:ser>
        <c:dLbls>
          <c:showLegendKey val="0"/>
          <c:showVal val="0"/>
          <c:showCatName val="0"/>
          <c:showSerName val="0"/>
          <c:showPercent val="0"/>
          <c:showBubbleSize val="0"/>
        </c:dLbls>
        <c:marker val="1"/>
        <c:smooth val="0"/>
        <c:axId val="414696864"/>
        <c:axId val="414698832"/>
      </c:lineChart>
      <c:lineChart>
        <c:grouping val="standard"/>
        <c:varyColors val="0"/>
        <c:ser>
          <c:idx val="1"/>
          <c:order val="1"/>
          <c:tx>
            <c:strRef>
              <c:f>Sheet1!$B$1</c:f>
              <c:strCache>
                <c:ptCount val="1"/>
                <c:pt idx="0">
                  <c:v>Domestic price of Gas (Tk/Cum) - Right</c:v>
                </c:pt>
              </c:strCache>
            </c:strRef>
          </c:tx>
          <c:spPr>
            <a:ln w="28575" cap="rnd">
              <a:solidFill>
                <a:schemeClr val="accent2"/>
              </a:solidFill>
              <a:round/>
            </a:ln>
            <a:effectLst/>
          </c:spPr>
          <c:marker>
            <c:symbol val="none"/>
          </c:marker>
          <c:dLbls>
            <c:dLbl>
              <c:idx val="1"/>
              <c:layout>
                <c:manualLayout>
                  <c:x val="-3.2312342466729323E-2"/>
                  <c:y val="-4.734160133898450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285-452F-B6D5-F758057A5C68}"/>
                </c:ext>
              </c:extLst>
            </c:dLbl>
            <c:dLbl>
              <c:idx val="32"/>
              <c:layout>
                <c:manualLayout>
                  <c:x val="-2.6926952055607762E-2"/>
                  <c:y val="-4.734160133898450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4285-452F-B6D5-F758057A5C68}"/>
                </c:ext>
              </c:extLst>
            </c:dLbl>
            <c:dLbl>
              <c:idx val="123"/>
              <c:layout>
                <c:manualLayout>
                  <c:x val="-8.8858941783505702E-2"/>
                  <c:y val="-3.787328107118760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285-452F-B6D5-F758057A5C68}"/>
                </c:ext>
              </c:extLst>
            </c:dLbl>
            <c:dLbl>
              <c:idx val="126"/>
              <c:layout>
                <c:manualLayout>
                  <c:x val="-2.6926952055607762E-2"/>
                  <c:y val="-4.260744120508613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285-452F-B6D5-F758057A5C68}"/>
                </c:ext>
              </c:extLst>
            </c:dLbl>
            <c:dLbl>
              <c:idx val="151"/>
              <c:layout>
                <c:manualLayout>
                  <c:x val="-6.7317380139019403E-2"/>
                  <c:y val="-4.260744120508605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285-452F-B6D5-F758057A5C68}"/>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cat>
            <c:numRef>
              <c:f>Sheet1!$A$2:$A$161</c:f>
              <c:numCache>
                <c:formatCode>mmm\-yy</c:formatCode>
                <c:ptCount val="160"/>
                <c:pt idx="0">
                  <c:v>39083</c:v>
                </c:pt>
                <c:pt idx="1">
                  <c:v>39114</c:v>
                </c:pt>
                <c:pt idx="2">
                  <c:v>39142</c:v>
                </c:pt>
                <c:pt idx="3">
                  <c:v>39173</c:v>
                </c:pt>
                <c:pt idx="4">
                  <c:v>39203</c:v>
                </c:pt>
                <c:pt idx="5">
                  <c:v>39234</c:v>
                </c:pt>
                <c:pt idx="6">
                  <c:v>39264</c:v>
                </c:pt>
                <c:pt idx="7">
                  <c:v>39295</c:v>
                </c:pt>
                <c:pt idx="8">
                  <c:v>39326</c:v>
                </c:pt>
                <c:pt idx="9">
                  <c:v>39356</c:v>
                </c:pt>
                <c:pt idx="10">
                  <c:v>39387</c:v>
                </c:pt>
                <c:pt idx="11">
                  <c:v>39417</c:v>
                </c:pt>
                <c:pt idx="12">
                  <c:v>39448</c:v>
                </c:pt>
                <c:pt idx="13">
                  <c:v>39479</c:v>
                </c:pt>
                <c:pt idx="14">
                  <c:v>39508</c:v>
                </c:pt>
                <c:pt idx="15">
                  <c:v>39539</c:v>
                </c:pt>
                <c:pt idx="16">
                  <c:v>39569</c:v>
                </c:pt>
                <c:pt idx="17">
                  <c:v>39600</c:v>
                </c:pt>
                <c:pt idx="18">
                  <c:v>39630</c:v>
                </c:pt>
                <c:pt idx="19">
                  <c:v>39661</c:v>
                </c:pt>
                <c:pt idx="20">
                  <c:v>39692</c:v>
                </c:pt>
                <c:pt idx="21">
                  <c:v>39722</c:v>
                </c:pt>
                <c:pt idx="22">
                  <c:v>39753</c:v>
                </c:pt>
                <c:pt idx="23">
                  <c:v>39783</c:v>
                </c:pt>
                <c:pt idx="24">
                  <c:v>39814</c:v>
                </c:pt>
                <c:pt idx="25">
                  <c:v>39845</c:v>
                </c:pt>
                <c:pt idx="26">
                  <c:v>39873</c:v>
                </c:pt>
                <c:pt idx="27">
                  <c:v>39904</c:v>
                </c:pt>
                <c:pt idx="28">
                  <c:v>39934</c:v>
                </c:pt>
                <c:pt idx="29">
                  <c:v>39965</c:v>
                </c:pt>
                <c:pt idx="30">
                  <c:v>39995</c:v>
                </c:pt>
                <c:pt idx="31">
                  <c:v>40026</c:v>
                </c:pt>
                <c:pt idx="32">
                  <c:v>40057</c:v>
                </c:pt>
                <c:pt idx="33">
                  <c:v>40087</c:v>
                </c:pt>
                <c:pt idx="34">
                  <c:v>40118</c:v>
                </c:pt>
                <c:pt idx="35">
                  <c:v>40148</c:v>
                </c:pt>
                <c:pt idx="36">
                  <c:v>40179</c:v>
                </c:pt>
                <c:pt idx="37">
                  <c:v>40210</c:v>
                </c:pt>
                <c:pt idx="38">
                  <c:v>40238</c:v>
                </c:pt>
                <c:pt idx="39">
                  <c:v>40269</c:v>
                </c:pt>
                <c:pt idx="40">
                  <c:v>40299</c:v>
                </c:pt>
                <c:pt idx="41">
                  <c:v>40330</c:v>
                </c:pt>
                <c:pt idx="42">
                  <c:v>40360</c:v>
                </c:pt>
                <c:pt idx="43">
                  <c:v>40391</c:v>
                </c:pt>
                <c:pt idx="44">
                  <c:v>40422</c:v>
                </c:pt>
                <c:pt idx="45">
                  <c:v>40452</c:v>
                </c:pt>
                <c:pt idx="46">
                  <c:v>40483</c:v>
                </c:pt>
                <c:pt idx="47">
                  <c:v>40513</c:v>
                </c:pt>
                <c:pt idx="48">
                  <c:v>40544</c:v>
                </c:pt>
                <c:pt idx="49">
                  <c:v>40575</c:v>
                </c:pt>
                <c:pt idx="50">
                  <c:v>40603</c:v>
                </c:pt>
                <c:pt idx="51">
                  <c:v>40634</c:v>
                </c:pt>
                <c:pt idx="52">
                  <c:v>40664</c:v>
                </c:pt>
                <c:pt idx="53">
                  <c:v>40695</c:v>
                </c:pt>
                <c:pt idx="54">
                  <c:v>40725</c:v>
                </c:pt>
                <c:pt idx="55">
                  <c:v>40756</c:v>
                </c:pt>
                <c:pt idx="56">
                  <c:v>40787</c:v>
                </c:pt>
                <c:pt idx="57">
                  <c:v>40817</c:v>
                </c:pt>
                <c:pt idx="58">
                  <c:v>40848</c:v>
                </c:pt>
                <c:pt idx="59">
                  <c:v>40878</c:v>
                </c:pt>
                <c:pt idx="60">
                  <c:v>40909</c:v>
                </c:pt>
                <c:pt idx="61">
                  <c:v>40940</c:v>
                </c:pt>
                <c:pt idx="62">
                  <c:v>40969</c:v>
                </c:pt>
                <c:pt idx="63">
                  <c:v>41000</c:v>
                </c:pt>
                <c:pt idx="64">
                  <c:v>41030</c:v>
                </c:pt>
                <c:pt idx="65">
                  <c:v>41061</c:v>
                </c:pt>
                <c:pt idx="66">
                  <c:v>41091</c:v>
                </c:pt>
                <c:pt idx="67">
                  <c:v>41122</c:v>
                </c:pt>
                <c:pt idx="68">
                  <c:v>41153</c:v>
                </c:pt>
                <c:pt idx="69">
                  <c:v>41183</c:v>
                </c:pt>
                <c:pt idx="70">
                  <c:v>41214</c:v>
                </c:pt>
                <c:pt idx="71">
                  <c:v>41244</c:v>
                </c:pt>
                <c:pt idx="72">
                  <c:v>41275</c:v>
                </c:pt>
                <c:pt idx="73">
                  <c:v>41306</c:v>
                </c:pt>
                <c:pt idx="74">
                  <c:v>41334</c:v>
                </c:pt>
                <c:pt idx="75">
                  <c:v>41365</c:v>
                </c:pt>
                <c:pt idx="76">
                  <c:v>41395</c:v>
                </c:pt>
                <c:pt idx="77">
                  <c:v>41426</c:v>
                </c:pt>
                <c:pt idx="78">
                  <c:v>41456</c:v>
                </c:pt>
                <c:pt idx="79">
                  <c:v>41487</c:v>
                </c:pt>
                <c:pt idx="80">
                  <c:v>41518</c:v>
                </c:pt>
                <c:pt idx="81">
                  <c:v>41548</c:v>
                </c:pt>
                <c:pt idx="82">
                  <c:v>41579</c:v>
                </c:pt>
                <c:pt idx="83">
                  <c:v>41609</c:v>
                </c:pt>
                <c:pt idx="84">
                  <c:v>41640</c:v>
                </c:pt>
                <c:pt idx="85">
                  <c:v>41671</c:v>
                </c:pt>
                <c:pt idx="86">
                  <c:v>41699</c:v>
                </c:pt>
                <c:pt idx="87">
                  <c:v>41730</c:v>
                </c:pt>
                <c:pt idx="88">
                  <c:v>41760</c:v>
                </c:pt>
                <c:pt idx="89">
                  <c:v>41791</c:v>
                </c:pt>
                <c:pt idx="90">
                  <c:v>41821</c:v>
                </c:pt>
                <c:pt idx="91">
                  <c:v>41852</c:v>
                </c:pt>
                <c:pt idx="92">
                  <c:v>41883</c:v>
                </c:pt>
                <c:pt idx="93">
                  <c:v>41913</c:v>
                </c:pt>
                <c:pt idx="94">
                  <c:v>41944</c:v>
                </c:pt>
                <c:pt idx="95">
                  <c:v>41974</c:v>
                </c:pt>
                <c:pt idx="96">
                  <c:v>42005</c:v>
                </c:pt>
                <c:pt idx="97">
                  <c:v>42036</c:v>
                </c:pt>
                <c:pt idx="98">
                  <c:v>42064</c:v>
                </c:pt>
                <c:pt idx="99">
                  <c:v>42095</c:v>
                </c:pt>
                <c:pt idx="100">
                  <c:v>42125</c:v>
                </c:pt>
                <c:pt idx="101">
                  <c:v>42156</c:v>
                </c:pt>
                <c:pt idx="102">
                  <c:v>42186</c:v>
                </c:pt>
                <c:pt idx="103">
                  <c:v>42217</c:v>
                </c:pt>
                <c:pt idx="104">
                  <c:v>42248</c:v>
                </c:pt>
                <c:pt idx="105">
                  <c:v>42278</c:v>
                </c:pt>
                <c:pt idx="106">
                  <c:v>42309</c:v>
                </c:pt>
                <c:pt idx="107">
                  <c:v>42339</c:v>
                </c:pt>
                <c:pt idx="108">
                  <c:v>42370</c:v>
                </c:pt>
                <c:pt idx="109">
                  <c:v>42401</c:v>
                </c:pt>
                <c:pt idx="110">
                  <c:v>42430</c:v>
                </c:pt>
                <c:pt idx="111">
                  <c:v>42461</c:v>
                </c:pt>
                <c:pt idx="112">
                  <c:v>42491</c:v>
                </c:pt>
                <c:pt idx="113">
                  <c:v>42522</c:v>
                </c:pt>
                <c:pt idx="114">
                  <c:v>42552</c:v>
                </c:pt>
                <c:pt idx="115">
                  <c:v>42583</c:v>
                </c:pt>
                <c:pt idx="116">
                  <c:v>42614</c:v>
                </c:pt>
                <c:pt idx="117">
                  <c:v>42644</c:v>
                </c:pt>
                <c:pt idx="118">
                  <c:v>42675</c:v>
                </c:pt>
                <c:pt idx="119">
                  <c:v>42705</c:v>
                </c:pt>
                <c:pt idx="120">
                  <c:v>42736</c:v>
                </c:pt>
                <c:pt idx="121">
                  <c:v>42767</c:v>
                </c:pt>
                <c:pt idx="122">
                  <c:v>42795</c:v>
                </c:pt>
                <c:pt idx="123">
                  <c:v>42826</c:v>
                </c:pt>
                <c:pt idx="124">
                  <c:v>42856</c:v>
                </c:pt>
                <c:pt idx="125">
                  <c:v>42887</c:v>
                </c:pt>
                <c:pt idx="126">
                  <c:v>42917</c:v>
                </c:pt>
                <c:pt idx="127">
                  <c:v>42948</c:v>
                </c:pt>
                <c:pt idx="128">
                  <c:v>42979</c:v>
                </c:pt>
                <c:pt idx="129">
                  <c:v>43009</c:v>
                </c:pt>
                <c:pt idx="130">
                  <c:v>43040</c:v>
                </c:pt>
                <c:pt idx="131">
                  <c:v>43070</c:v>
                </c:pt>
                <c:pt idx="132">
                  <c:v>43101</c:v>
                </c:pt>
                <c:pt idx="133">
                  <c:v>43132</c:v>
                </c:pt>
                <c:pt idx="134">
                  <c:v>43160</c:v>
                </c:pt>
                <c:pt idx="135">
                  <c:v>43191</c:v>
                </c:pt>
                <c:pt idx="136">
                  <c:v>43221</c:v>
                </c:pt>
                <c:pt idx="137">
                  <c:v>43252</c:v>
                </c:pt>
                <c:pt idx="138">
                  <c:v>43282</c:v>
                </c:pt>
                <c:pt idx="139">
                  <c:v>43313</c:v>
                </c:pt>
                <c:pt idx="140">
                  <c:v>43344</c:v>
                </c:pt>
                <c:pt idx="141">
                  <c:v>43374</c:v>
                </c:pt>
                <c:pt idx="142">
                  <c:v>43405</c:v>
                </c:pt>
                <c:pt idx="143">
                  <c:v>43435</c:v>
                </c:pt>
                <c:pt idx="144">
                  <c:v>43466</c:v>
                </c:pt>
                <c:pt idx="145">
                  <c:v>43497</c:v>
                </c:pt>
                <c:pt idx="146">
                  <c:v>43525</c:v>
                </c:pt>
                <c:pt idx="147">
                  <c:v>43556</c:v>
                </c:pt>
                <c:pt idx="148">
                  <c:v>43586</c:v>
                </c:pt>
                <c:pt idx="149">
                  <c:v>43617</c:v>
                </c:pt>
                <c:pt idx="150">
                  <c:v>43647</c:v>
                </c:pt>
                <c:pt idx="151">
                  <c:v>43678</c:v>
                </c:pt>
                <c:pt idx="152">
                  <c:v>43709</c:v>
                </c:pt>
                <c:pt idx="153">
                  <c:v>43739</c:v>
                </c:pt>
                <c:pt idx="154">
                  <c:v>43770</c:v>
                </c:pt>
                <c:pt idx="155">
                  <c:v>43800</c:v>
                </c:pt>
                <c:pt idx="156">
                  <c:v>43831</c:v>
                </c:pt>
                <c:pt idx="157">
                  <c:v>43862</c:v>
                </c:pt>
                <c:pt idx="158">
                  <c:v>43891</c:v>
                </c:pt>
                <c:pt idx="159">
                  <c:v>43922</c:v>
                </c:pt>
              </c:numCache>
            </c:numRef>
          </c:cat>
          <c:val>
            <c:numRef>
              <c:f>Sheet1!$B$2:$B$160</c:f>
              <c:numCache>
                <c:formatCode>0.00</c:formatCode>
                <c:ptCount val="159"/>
                <c:pt idx="0">
                  <c:v>2.61</c:v>
                </c:pt>
                <c:pt idx="1">
                  <c:v>2.61</c:v>
                </c:pt>
                <c:pt idx="2">
                  <c:v>2.61</c:v>
                </c:pt>
                <c:pt idx="3">
                  <c:v>2.61</c:v>
                </c:pt>
                <c:pt idx="4">
                  <c:v>2.61</c:v>
                </c:pt>
                <c:pt idx="5">
                  <c:v>2.61</c:v>
                </c:pt>
                <c:pt idx="6">
                  <c:v>2.61</c:v>
                </c:pt>
                <c:pt idx="7">
                  <c:v>2.61</c:v>
                </c:pt>
                <c:pt idx="8">
                  <c:v>2.61</c:v>
                </c:pt>
                <c:pt idx="9">
                  <c:v>2.61</c:v>
                </c:pt>
                <c:pt idx="10">
                  <c:v>2.61</c:v>
                </c:pt>
                <c:pt idx="11">
                  <c:v>2.61</c:v>
                </c:pt>
                <c:pt idx="12">
                  <c:v>2.61</c:v>
                </c:pt>
                <c:pt idx="13">
                  <c:v>2.61</c:v>
                </c:pt>
                <c:pt idx="14">
                  <c:v>2.61</c:v>
                </c:pt>
                <c:pt idx="15">
                  <c:v>2.61</c:v>
                </c:pt>
                <c:pt idx="16">
                  <c:v>2.61</c:v>
                </c:pt>
                <c:pt idx="17">
                  <c:v>2.61</c:v>
                </c:pt>
                <c:pt idx="18">
                  <c:v>2.61</c:v>
                </c:pt>
                <c:pt idx="19">
                  <c:v>2.61</c:v>
                </c:pt>
                <c:pt idx="20">
                  <c:v>2.61</c:v>
                </c:pt>
                <c:pt idx="21">
                  <c:v>2.61</c:v>
                </c:pt>
                <c:pt idx="22">
                  <c:v>2.61</c:v>
                </c:pt>
                <c:pt idx="23">
                  <c:v>2.61</c:v>
                </c:pt>
                <c:pt idx="24">
                  <c:v>2.61</c:v>
                </c:pt>
                <c:pt idx="25">
                  <c:v>2.61</c:v>
                </c:pt>
                <c:pt idx="26">
                  <c:v>2.61</c:v>
                </c:pt>
                <c:pt idx="27">
                  <c:v>2.61</c:v>
                </c:pt>
                <c:pt idx="28">
                  <c:v>2.61</c:v>
                </c:pt>
                <c:pt idx="29">
                  <c:v>2.61</c:v>
                </c:pt>
                <c:pt idx="30">
                  <c:v>2.61</c:v>
                </c:pt>
                <c:pt idx="31">
                  <c:v>2.61</c:v>
                </c:pt>
                <c:pt idx="32">
                  <c:v>2.82</c:v>
                </c:pt>
                <c:pt idx="33">
                  <c:v>2.82</c:v>
                </c:pt>
                <c:pt idx="34">
                  <c:v>2.82</c:v>
                </c:pt>
                <c:pt idx="35">
                  <c:v>2.82</c:v>
                </c:pt>
                <c:pt idx="36">
                  <c:v>2.82</c:v>
                </c:pt>
                <c:pt idx="37">
                  <c:v>2.82</c:v>
                </c:pt>
                <c:pt idx="38">
                  <c:v>2.82</c:v>
                </c:pt>
                <c:pt idx="39">
                  <c:v>2.82</c:v>
                </c:pt>
                <c:pt idx="40">
                  <c:v>2.82</c:v>
                </c:pt>
                <c:pt idx="41">
                  <c:v>2.82</c:v>
                </c:pt>
                <c:pt idx="42">
                  <c:v>2.82</c:v>
                </c:pt>
                <c:pt idx="43">
                  <c:v>2.82</c:v>
                </c:pt>
                <c:pt idx="44">
                  <c:v>2.82</c:v>
                </c:pt>
                <c:pt idx="45">
                  <c:v>2.82</c:v>
                </c:pt>
                <c:pt idx="46">
                  <c:v>2.82</c:v>
                </c:pt>
                <c:pt idx="47">
                  <c:v>2.82</c:v>
                </c:pt>
                <c:pt idx="48">
                  <c:v>2.82</c:v>
                </c:pt>
                <c:pt idx="49">
                  <c:v>2.82</c:v>
                </c:pt>
                <c:pt idx="50">
                  <c:v>2.82</c:v>
                </c:pt>
                <c:pt idx="51">
                  <c:v>2.82</c:v>
                </c:pt>
                <c:pt idx="52">
                  <c:v>2.82</c:v>
                </c:pt>
                <c:pt idx="53">
                  <c:v>2.82</c:v>
                </c:pt>
                <c:pt idx="54">
                  <c:v>2.82</c:v>
                </c:pt>
                <c:pt idx="55">
                  <c:v>2.82</c:v>
                </c:pt>
                <c:pt idx="56">
                  <c:v>2.82</c:v>
                </c:pt>
                <c:pt idx="57">
                  <c:v>2.82</c:v>
                </c:pt>
                <c:pt idx="58">
                  <c:v>2.82</c:v>
                </c:pt>
                <c:pt idx="59">
                  <c:v>2.82</c:v>
                </c:pt>
                <c:pt idx="60">
                  <c:v>2.82</c:v>
                </c:pt>
                <c:pt idx="61">
                  <c:v>2.82</c:v>
                </c:pt>
                <c:pt idx="62">
                  <c:v>2.82</c:v>
                </c:pt>
                <c:pt idx="63">
                  <c:v>2.82</c:v>
                </c:pt>
                <c:pt idx="64">
                  <c:v>2.82</c:v>
                </c:pt>
                <c:pt idx="65">
                  <c:v>2.82</c:v>
                </c:pt>
                <c:pt idx="66">
                  <c:v>2.82</c:v>
                </c:pt>
                <c:pt idx="67">
                  <c:v>2.82</c:v>
                </c:pt>
                <c:pt idx="68">
                  <c:v>2.82</c:v>
                </c:pt>
                <c:pt idx="69">
                  <c:v>2.82</c:v>
                </c:pt>
                <c:pt idx="70">
                  <c:v>2.82</c:v>
                </c:pt>
                <c:pt idx="71">
                  <c:v>2.82</c:v>
                </c:pt>
                <c:pt idx="72">
                  <c:v>2.82</c:v>
                </c:pt>
                <c:pt idx="73">
                  <c:v>2.82</c:v>
                </c:pt>
                <c:pt idx="74">
                  <c:v>2.82</c:v>
                </c:pt>
                <c:pt idx="75">
                  <c:v>2.82</c:v>
                </c:pt>
                <c:pt idx="76">
                  <c:v>2.82</c:v>
                </c:pt>
                <c:pt idx="77">
                  <c:v>2.82</c:v>
                </c:pt>
                <c:pt idx="78">
                  <c:v>2.82</c:v>
                </c:pt>
                <c:pt idx="79">
                  <c:v>2.82</c:v>
                </c:pt>
                <c:pt idx="80">
                  <c:v>2.82</c:v>
                </c:pt>
                <c:pt idx="81">
                  <c:v>2.82</c:v>
                </c:pt>
                <c:pt idx="82">
                  <c:v>2.82</c:v>
                </c:pt>
                <c:pt idx="83">
                  <c:v>2.82</c:v>
                </c:pt>
                <c:pt idx="84">
                  <c:v>2.82</c:v>
                </c:pt>
                <c:pt idx="85">
                  <c:v>2.82</c:v>
                </c:pt>
                <c:pt idx="86">
                  <c:v>2.82</c:v>
                </c:pt>
                <c:pt idx="87">
                  <c:v>2.82</c:v>
                </c:pt>
                <c:pt idx="88">
                  <c:v>2.82</c:v>
                </c:pt>
                <c:pt idx="89">
                  <c:v>2.82</c:v>
                </c:pt>
                <c:pt idx="90">
                  <c:v>2.82</c:v>
                </c:pt>
                <c:pt idx="91">
                  <c:v>2.82</c:v>
                </c:pt>
                <c:pt idx="92">
                  <c:v>2.82</c:v>
                </c:pt>
                <c:pt idx="93">
                  <c:v>2.82</c:v>
                </c:pt>
                <c:pt idx="94">
                  <c:v>2.82</c:v>
                </c:pt>
                <c:pt idx="95">
                  <c:v>2.82</c:v>
                </c:pt>
                <c:pt idx="96">
                  <c:v>2.82</c:v>
                </c:pt>
                <c:pt idx="97">
                  <c:v>2.82</c:v>
                </c:pt>
                <c:pt idx="98">
                  <c:v>2.82</c:v>
                </c:pt>
                <c:pt idx="99">
                  <c:v>2.82</c:v>
                </c:pt>
                <c:pt idx="100">
                  <c:v>2.82</c:v>
                </c:pt>
                <c:pt idx="101">
                  <c:v>2.82</c:v>
                </c:pt>
                <c:pt idx="102">
                  <c:v>2.82</c:v>
                </c:pt>
                <c:pt idx="103">
                  <c:v>2.82</c:v>
                </c:pt>
                <c:pt idx="104">
                  <c:v>2.82</c:v>
                </c:pt>
                <c:pt idx="105">
                  <c:v>2.82</c:v>
                </c:pt>
                <c:pt idx="106">
                  <c:v>2.82</c:v>
                </c:pt>
                <c:pt idx="107">
                  <c:v>2.82</c:v>
                </c:pt>
                <c:pt idx="108">
                  <c:v>2.82</c:v>
                </c:pt>
                <c:pt idx="109">
                  <c:v>2.82</c:v>
                </c:pt>
                <c:pt idx="110">
                  <c:v>2.82</c:v>
                </c:pt>
                <c:pt idx="111">
                  <c:v>2.82</c:v>
                </c:pt>
                <c:pt idx="112">
                  <c:v>2.82</c:v>
                </c:pt>
                <c:pt idx="113">
                  <c:v>2.82</c:v>
                </c:pt>
                <c:pt idx="114">
                  <c:v>2.82</c:v>
                </c:pt>
                <c:pt idx="115">
                  <c:v>2.82</c:v>
                </c:pt>
                <c:pt idx="116">
                  <c:v>2.82</c:v>
                </c:pt>
                <c:pt idx="117">
                  <c:v>2.82</c:v>
                </c:pt>
                <c:pt idx="118">
                  <c:v>2.82</c:v>
                </c:pt>
                <c:pt idx="119">
                  <c:v>2.82</c:v>
                </c:pt>
                <c:pt idx="120">
                  <c:v>2.82</c:v>
                </c:pt>
                <c:pt idx="121">
                  <c:v>2.82</c:v>
                </c:pt>
                <c:pt idx="122">
                  <c:v>2.99</c:v>
                </c:pt>
                <c:pt idx="123">
                  <c:v>2.99</c:v>
                </c:pt>
                <c:pt idx="124">
                  <c:v>2.99</c:v>
                </c:pt>
                <c:pt idx="125">
                  <c:v>2.99</c:v>
                </c:pt>
                <c:pt idx="126">
                  <c:v>3.16</c:v>
                </c:pt>
                <c:pt idx="127">
                  <c:v>3.16</c:v>
                </c:pt>
                <c:pt idx="128">
                  <c:v>3.16</c:v>
                </c:pt>
                <c:pt idx="129">
                  <c:v>3.16</c:v>
                </c:pt>
                <c:pt idx="130">
                  <c:v>3.16</c:v>
                </c:pt>
                <c:pt idx="131">
                  <c:v>3.16</c:v>
                </c:pt>
                <c:pt idx="132">
                  <c:v>3.16</c:v>
                </c:pt>
                <c:pt idx="133">
                  <c:v>3.16</c:v>
                </c:pt>
                <c:pt idx="134">
                  <c:v>3.16</c:v>
                </c:pt>
                <c:pt idx="135">
                  <c:v>3.16</c:v>
                </c:pt>
                <c:pt idx="136">
                  <c:v>3.16</c:v>
                </c:pt>
                <c:pt idx="137">
                  <c:v>3.16</c:v>
                </c:pt>
                <c:pt idx="138">
                  <c:v>3.16</c:v>
                </c:pt>
                <c:pt idx="139">
                  <c:v>3.16</c:v>
                </c:pt>
                <c:pt idx="140">
                  <c:v>3.16</c:v>
                </c:pt>
                <c:pt idx="141">
                  <c:v>3.16</c:v>
                </c:pt>
                <c:pt idx="142">
                  <c:v>3.16</c:v>
                </c:pt>
                <c:pt idx="143">
                  <c:v>3.16</c:v>
                </c:pt>
                <c:pt idx="144">
                  <c:v>3.16</c:v>
                </c:pt>
                <c:pt idx="145">
                  <c:v>3.16</c:v>
                </c:pt>
                <c:pt idx="146">
                  <c:v>3.16</c:v>
                </c:pt>
                <c:pt idx="147">
                  <c:v>3.16</c:v>
                </c:pt>
                <c:pt idx="148">
                  <c:v>3.16</c:v>
                </c:pt>
                <c:pt idx="149">
                  <c:v>3.16</c:v>
                </c:pt>
                <c:pt idx="150">
                  <c:v>4.45</c:v>
                </c:pt>
                <c:pt idx="151">
                  <c:v>4.45</c:v>
                </c:pt>
                <c:pt idx="152">
                  <c:v>4.45</c:v>
                </c:pt>
                <c:pt idx="153">
                  <c:v>4.45</c:v>
                </c:pt>
                <c:pt idx="154">
                  <c:v>4.45</c:v>
                </c:pt>
                <c:pt idx="155">
                  <c:v>4.45</c:v>
                </c:pt>
                <c:pt idx="156">
                  <c:v>4.45</c:v>
                </c:pt>
                <c:pt idx="157">
                  <c:v>4.45</c:v>
                </c:pt>
                <c:pt idx="158">
                  <c:v>4.45</c:v>
                </c:pt>
              </c:numCache>
            </c:numRef>
          </c:val>
          <c:smooth val="0"/>
          <c:extLst>
            <c:ext xmlns:c16="http://schemas.microsoft.com/office/drawing/2014/chart" uri="{C3380CC4-5D6E-409C-BE32-E72D297353CC}">
              <c16:uniqueId val="{00000002-C149-4EE0-ACE6-90DD88997E58}"/>
            </c:ext>
          </c:extLst>
        </c:ser>
        <c:dLbls>
          <c:showLegendKey val="0"/>
          <c:showVal val="0"/>
          <c:showCatName val="0"/>
          <c:showSerName val="0"/>
          <c:showPercent val="0"/>
          <c:showBubbleSize val="0"/>
        </c:dLbls>
        <c:marker val="1"/>
        <c:smooth val="0"/>
        <c:axId val="616004016"/>
        <c:axId val="616012544"/>
      </c:lineChart>
      <c:dateAx>
        <c:axId val="414696864"/>
        <c:scaling>
          <c:orientation val="minMax"/>
        </c:scaling>
        <c:delete val="0"/>
        <c:axPos val="b"/>
        <c:numFmt formatCode="mmm\-yy"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n-US"/>
          </a:p>
        </c:txPr>
        <c:crossAx val="414698832"/>
        <c:crosses val="autoZero"/>
        <c:auto val="1"/>
        <c:lblOffset val="100"/>
        <c:baseTimeUnit val="months"/>
        <c:majorUnit val="6"/>
      </c:dateAx>
      <c:valAx>
        <c:axId val="414698832"/>
        <c:scaling>
          <c:orientation val="minMax"/>
          <c:min val="0"/>
        </c:scaling>
        <c:delete val="0"/>
        <c:axPos val="l"/>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n-US"/>
          </a:p>
        </c:txPr>
        <c:crossAx val="414696864"/>
        <c:crossesAt val="1"/>
        <c:crossBetween val="between"/>
      </c:valAx>
      <c:valAx>
        <c:axId val="616012544"/>
        <c:scaling>
          <c:orientation val="minMax"/>
          <c:max val="14"/>
          <c:min val="0"/>
        </c:scaling>
        <c:delete val="0"/>
        <c:axPos val="r"/>
        <c:numFmt formatCode="0.00" sourceLinked="1"/>
        <c:majorTickMark val="out"/>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n-US"/>
          </a:p>
        </c:txPr>
        <c:crossAx val="616004016"/>
        <c:crosses val="max"/>
        <c:crossBetween val="between"/>
      </c:valAx>
      <c:dateAx>
        <c:axId val="616004016"/>
        <c:scaling>
          <c:orientation val="minMax"/>
        </c:scaling>
        <c:delete val="1"/>
        <c:axPos val="b"/>
        <c:numFmt formatCode="mmm\-yy" sourceLinked="1"/>
        <c:majorTickMark val="out"/>
        <c:minorTickMark val="none"/>
        <c:tickLblPos val="nextTo"/>
        <c:crossAx val="616012544"/>
        <c:crosses val="autoZero"/>
        <c:auto val="1"/>
        <c:lblOffset val="100"/>
        <c:baseTimeUnit val="months"/>
      </c:dateAx>
      <c:spPr>
        <a:noFill/>
        <a:ln>
          <a:noFill/>
        </a:ln>
        <a:effectLst/>
      </c:spPr>
    </c:plotArea>
    <c:legend>
      <c:legendPos val="b"/>
      <c:layout>
        <c:manualLayout>
          <c:xMode val="edge"/>
          <c:yMode val="edge"/>
          <c:x val="1.6962744001710273E-2"/>
          <c:y val="0.88283997420441884"/>
          <c:w val="0.9"/>
          <c:h val="0.10117123867249676"/>
        </c:manualLayout>
      </c:layout>
      <c:overlay val="0"/>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800">
          <a:solidFill>
            <a:schemeClr val="tx1"/>
          </a:solidFill>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3985239852398522E-2"/>
          <c:y val="0.14031180400890869"/>
          <c:w val="0.95202952029520294"/>
          <c:h val="0.80178173719376389"/>
        </c:manualLayout>
      </c:layout>
      <c:barChart>
        <c:barDir val="col"/>
        <c:grouping val="stacked"/>
        <c:varyColors val="0"/>
        <c:ser>
          <c:idx val="0"/>
          <c:order val="0"/>
          <c:spPr>
            <a:solidFill>
              <a:srgbClr val="86BC25"/>
            </a:solidFill>
            <a:ln>
              <a:noFill/>
            </a:ln>
          </c:spPr>
          <c:invertIfNegative val="0"/>
          <c:dPt>
            <c:idx val="1"/>
            <c:invertIfNegative val="0"/>
            <c:bubble3D val="0"/>
            <c:spPr>
              <a:solidFill>
                <a:schemeClr val="accent2"/>
              </a:solidFill>
              <a:ln>
                <a:noFill/>
              </a:ln>
            </c:spPr>
            <c:extLst>
              <c:ext xmlns:c16="http://schemas.microsoft.com/office/drawing/2014/chart" uri="{C3380CC4-5D6E-409C-BE32-E72D297353CC}">
                <c16:uniqueId val="{00000000-6148-4B37-9B8F-69C6870B13FA}"/>
              </c:ext>
            </c:extLst>
          </c:dPt>
          <c:dPt>
            <c:idx val="2"/>
            <c:invertIfNegative val="0"/>
            <c:bubble3D val="0"/>
            <c:spPr>
              <a:solidFill>
                <a:schemeClr val="accent4"/>
              </a:solidFill>
              <a:ln>
                <a:noFill/>
              </a:ln>
            </c:spPr>
            <c:extLst>
              <c:ext xmlns:c16="http://schemas.microsoft.com/office/drawing/2014/chart" uri="{C3380CC4-5D6E-409C-BE32-E72D297353CC}">
                <c16:uniqueId val="{00000001-6148-4B37-9B8F-69C6870B13FA}"/>
              </c:ext>
            </c:extLst>
          </c:dPt>
          <c:dLbls>
            <c:dLbl>
              <c:idx val="0"/>
              <c:layout>
                <c:manualLayout>
                  <c:x val="0"/>
                  <c:y val="-0.37193763919821826"/>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6148-4B37-9B8F-69C6870B13FA}"/>
                </c:ext>
              </c:extLst>
            </c:dLbl>
            <c:dLbl>
              <c:idx val="1"/>
              <c:layout>
                <c:manualLayout>
                  <c:x val="0"/>
                  <c:y val="-0.17037861915367483"/>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6148-4B37-9B8F-69C6870B13FA}"/>
                </c:ext>
              </c:extLst>
            </c:dLbl>
            <c:dLbl>
              <c:idx val="2"/>
              <c:layout>
                <c:manualLayout>
                  <c:x val="0"/>
                  <c:y val="-0.47216035634743875"/>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6148-4B37-9B8F-69C6870B13FA}"/>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72.5</c:v>
                </c:pt>
                <c:pt idx="1">
                  <c:v>24.06</c:v>
                </c:pt>
                <c:pt idx="2">
                  <c:v>96.56</c:v>
                </c:pt>
              </c:numCache>
            </c:numRef>
          </c:val>
          <c:extLst>
            <c:ext xmlns:c16="http://schemas.microsoft.com/office/drawing/2014/chart" uri="{C3380CC4-5D6E-409C-BE32-E72D297353CC}">
              <c16:uniqueId val="{00000003-6148-4B37-9B8F-69C6870B13FA}"/>
            </c:ext>
          </c:extLst>
        </c:ser>
        <c:dLbls>
          <c:showLegendKey val="0"/>
          <c:showVal val="0"/>
          <c:showCatName val="0"/>
          <c:showSerName val="0"/>
          <c:showPercent val="0"/>
          <c:showBubbleSize val="0"/>
        </c:dLbls>
        <c:gapWidth val="80"/>
        <c:overlap val="100"/>
        <c:axId val="976251320"/>
        <c:axId val="1"/>
      </c:barChart>
      <c:catAx>
        <c:axId val="97625132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96.56"/>
          <c:min val="0"/>
        </c:scaling>
        <c:delete val="1"/>
        <c:axPos val="l"/>
        <c:numFmt formatCode="General" sourceLinked="1"/>
        <c:majorTickMark val="out"/>
        <c:minorTickMark val="none"/>
        <c:tickLblPos val="nextTo"/>
        <c:crossAx val="976251320"/>
        <c:crosses val="min"/>
        <c:crossBetween val="between"/>
      </c:valAx>
    </c:plotArea>
    <c:plotVisOnly val="0"/>
    <c:dispBlanksAs val="gap"/>
    <c:showDLblsOverMax val="1"/>
  </c:chart>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8207282913165267E-2"/>
          <c:y val="0.16867469879518071"/>
          <c:w val="0.96358543417366949"/>
          <c:h val="0.76171352074966525"/>
        </c:manualLayout>
      </c:layout>
      <c:barChart>
        <c:barDir val="col"/>
        <c:grouping val="stacked"/>
        <c:varyColors val="0"/>
        <c:ser>
          <c:idx val="0"/>
          <c:order val="0"/>
          <c:spPr>
            <a:solidFill>
              <a:schemeClr val="accent4"/>
            </a:solidFill>
            <a:ln>
              <a:noFill/>
            </a:ln>
          </c:spPr>
          <c:invertIfNegative val="0"/>
          <c:dPt>
            <c:idx val="0"/>
            <c:invertIfNegative val="0"/>
            <c:bubble3D val="0"/>
            <c:spPr>
              <a:solidFill>
                <a:srgbClr val="86BC25"/>
              </a:solidFill>
              <a:ln>
                <a:noFill/>
              </a:ln>
            </c:spPr>
            <c:extLst>
              <c:ext xmlns:c16="http://schemas.microsoft.com/office/drawing/2014/chart" uri="{C3380CC4-5D6E-409C-BE32-E72D297353CC}">
                <c16:uniqueId val="{00000000-A3FF-49F5-80D2-3FD5940B6030}"/>
              </c:ext>
            </c:extLst>
          </c:dPt>
          <c:dPt>
            <c:idx val="1"/>
            <c:invertIfNegative val="0"/>
            <c:bubble3D val="0"/>
            <c:spPr>
              <a:solidFill>
                <a:schemeClr val="accent2"/>
              </a:solidFill>
              <a:ln>
                <a:noFill/>
              </a:ln>
            </c:spPr>
            <c:extLst>
              <c:ext xmlns:c16="http://schemas.microsoft.com/office/drawing/2014/chart" uri="{C3380CC4-5D6E-409C-BE32-E72D297353CC}">
                <c16:uniqueId val="{00000001-A3FF-49F5-80D2-3FD5940B6030}"/>
              </c:ext>
            </c:extLst>
          </c:dPt>
          <c:dLbls>
            <c:dLbl>
              <c:idx val="0"/>
              <c:layout>
                <c:manualLayout>
                  <c:x val="0"/>
                  <c:y val="-0.13253012048192772"/>
                </c:manualLayout>
              </c:layout>
              <c:numFmt formatCode="#,##0.00;&quot;-&quot;#,##0.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A3FF-49F5-80D2-3FD5940B6030}"/>
                </c:ext>
              </c:extLst>
            </c:dLbl>
            <c:dLbl>
              <c:idx val="1"/>
              <c:layout>
                <c:manualLayout>
                  <c:x val="0"/>
                  <c:y val="-0.46720214190093706"/>
                </c:manualLayout>
              </c:layout>
              <c:numFmt formatCode="#,##0.00;&quot;-&quot;#,##0.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A3FF-49F5-80D2-3FD5940B6030}"/>
                </c:ext>
              </c:extLst>
            </c:dLbl>
            <c:dLbl>
              <c:idx val="2"/>
              <c:layout>
                <c:manualLayout>
                  <c:x val="0"/>
                  <c:y val="-0.21552878179384202"/>
                </c:manualLayout>
              </c:layout>
              <c:numFmt formatCode="#,##0.00;&quot;-&quot;#,##0.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A3FF-49F5-80D2-3FD5940B6030}"/>
                </c:ext>
              </c:extLst>
            </c:dLbl>
            <c:dLbl>
              <c:idx val="3"/>
              <c:layout>
                <c:manualLayout>
                  <c:x val="0"/>
                  <c:y val="-0.13119143239625167"/>
                </c:manualLayout>
              </c:layout>
              <c:numFmt formatCode="#,##0.00;&quot;-&quot;#,##0.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A3FF-49F5-80D2-3FD5940B603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1.43</c:v>
                </c:pt>
                <c:pt idx="1">
                  <c:v>11.63</c:v>
                </c:pt>
                <c:pt idx="2">
                  <c:v>3.97</c:v>
                </c:pt>
                <c:pt idx="3">
                  <c:v>1.4</c:v>
                </c:pt>
              </c:numCache>
            </c:numRef>
          </c:val>
          <c:extLst>
            <c:ext xmlns:c16="http://schemas.microsoft.com/office/drawing/2014/chart" uri="{C3380CC4-5D6E-409C-BE32-E72D297353CC}">
              <c16:uniqueId val="{00000004-A3FF-49F5-80D2-3FD5940B6030}"/>
            </c:ext>
          </c:extLst>
        </c:ser>
        <c:dLbls>
          <c:showLegendKey val="0"/>
          <c:showVal val="0"/>
          <c:showCatName val="0"/>
          <c:showSerName val="0"/>
          <c:showPercent val="0"/>
          <c:showBubbleSize val="0"/>
        </c:dLbls>
        <c:gapWidth val="80"/>
        <c:overlap val="100"/>
        <c:axId val="1269229952"/>
        <c:axId val="1"/>
      </c:barChart>
      <c:catAx>
        <c:axId val="1269229952"/>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11.63"/>
          <c:min val="0"/>
        </c:scaling>
        <c:delete val="1"/>
        <c:axPos val="l"/>
        <c:numFmt formatCode="General" sourceLinked="1"/>
        <c:majorTickMark val="out"/>
        <c:minorTickMark val="none"/>
        <c:tickLblPos val="nextTo"/>
        <c:crossAx val="1269229952"/>
        <c:crosses val="min"/>
        <c:crossBetween val="between"/>
      </c:valAx>
    </c:plotArea>
    <c:plotVisOnly val="0"/>
    <c:dispBlanksAs val="gap"/>
    <c:showDLblsOverMax val="1"/>
  </c:chart>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8867924528301886E-2"/>
          <c:y val="3.4643570952698204E-2"/>
          <c:w val="0.94666182873730043"/>
          <c:h val="0.93071285809460358"/>
        </c:manualLayout>
      </c:layout>
      <c:lineChart>
        <c:grouping val="standard"/>
        <c:varyColors val="0"/>
        <c:ser>
          <c:idx val="0"/>
          <c:order val="0"/>
          <c:spPr>
            <a:ln w="28575" algn="ctr">
              <a:solidFill>
                <a:srgbClr val="86BC25"/>
              </a:solidFill>
              <a:prstDash val="solid"/>
            </a:ln>
          </c:spPr>
          <c:marker>
            <c:symbol val="none"/>
          </c:marker>
          <c:dPt>
            <c:idx val="0"/>
            <c:marker>
              <c:symbol val="circle"/>
              <c:size val="5"/>
              <c:spPr>
                <a:solidFill>
                  <a:srgbClr val="86BC25"/>
                </a:solidFill>
                <a:ln w="9525" algn="ctr">
                  <a:solidFill>
                    <a:srgbClr val="86BC25"/>
                  </a:solidFill>
                  <a:prstDash val="solid"/>
                </a:ln>
              </c:spPr>
            </c:marker>
            <c:bubble3D val="0"/>
            <c:extLst>
              <c:ext xmlns:c16="http://schemas.microsoft.com/office/drawing/2014/chart" uri="{C3380CC4-5D6E-409C-BE32-E72D297353CC}">
                <c16:uniqueId val="{00000000-40A6-4504-ABF0-8D8ECE617423}"/>
              </c:ext>
            </c:extLst>
          </c:dPt>
          <c:dPt>
            <c:idx val="1"/>
            <c:marker>
              <c:symbol val="circle"/>
              <c:size val="5"/>
              <c:spPr>
                <a:solidFill>
                  <a:srgbClr val="86BC25"/>
                </a:solidFill>
                <a:ln w="9525" algn="ctr">
                  <a:solidFill>
                    <a:srgbClr val="86BC25"/>
                  </a:solidFill>
                  <a:prstDash val="solid"/>
                </a:ln>
              </c:spPr>
            </c:marker>
            <c:bubble3D val="0"/>
            <c:extLst>
              <c:ext xmlns:c16="http://schemas.microsoft.com/office/drawing/2014/chart" uri="{C3380CC4-5D6E-409C-BE32-E72D297353CC}">
                <c16:uniqueId val="{00000001-40A6-4504-ABF0-8D8ECE617423}"/>
              </c:ext>
            </c:extLst>
          </c:dPt>
          <c:dPt>
            <c:idx val="2"/>
            <c:marker>
              <c:symbol val="circle"/>
              <c:size val="5"/>
              <c:spPr>
                <a:solidFill>
                  <a:srgbClr val="86BC25"/>
                </a:solidFill>
                <a:ln w="9525" algn="ctr">
                  <a:solidFill>
                    <a:srgbClr val="86BC25"/>
                  </a:solidFill>
                  <a:prstDash val="solid"/>
                </a:ln>
              </c:spPr>
            </c:marker>
            <c:bubble3D val="0"/>
            <c:extLst>
              <c:ext xmlns:c16="http://schemas.microsoft.com/office/drawing/2014/chart" uri="{C3380CC4-5D6E-409C-BE32-E72D297353CC}">
                <c16:uniqueId val="{00000002-40A6-4504-ABF0-8D8ECE617423}"/>
              </c:ext>
            </c:extLst>
          </c:dPt>
          <c:dPt>
            <c:idx val="3"/>
            <c:marker>
              <c:symbol val="circle"/>
              <c:size val="5"/>
              <c:spPr>
                <a:solidFill>
                  <a:srgbClr val="86BC25"/>
                </a:solidFill>
                <a:ln w="9525" algn="ctr">
                  <a:solidFill>
                    <a:srgbClr val="86BC25"/>
                  </a:solidFill>
                  <a:prstDash val="solid"/>
                </a:ln>
              </c:spPr>
            </c:marker>
            <c:bubble3D val="0"/>
            <c:extLst>
              <c:ext xmlns:c16="http://schemas.microsoft.com/office/drawing/2014/chart" uri="{C3380CC4-5D6E-409C-BE32-E72D297353CC}">
                <c16:uniqueId val="{00000003-40A6-4504-ABF0-8D8ECE617423}"/>
              </c:ext>
            </c:extLst>
          </c:dPt>
          <c:dPt>
            <c:idx val="4"/>
            <c:marker>
              <c:symbol val="circle"/>
              <c:size val="5"/>
              <c:spPr>
                <a:solidFill>
                  <a:srgbClr val="86BC25"/>
                </a:solidFill>
                <a:ln w="9525" algn="ctr">
                  <a:solidFill>
                    <a:srgbClr val="86BC25"/>
                  </a:solidFill>
                  <a:prstDash val="solid"/>
                </a:ln>
              </c:spPr>
            </c:marker>
            <c:bubble3D val="0"/>
            <c:extLst>
              <c:ext xmlns:c16="http://schemas.microsoft.com/office/drawing/2014/chart" uri="{C3380CC4-5D6E-409C-BE32-E72D297353CC}">
                <c16:uniqueId val="{00000004-40A6-4504-ABF0-8D8ECE617423}"/>
              </c:ext>
            </c:extLst>
          </c:dPt>
          <c:dPt>
            <c:idx val="5"/>
            <c:marker>
              <c:symbol val="circle"/>
              <c:size val="5"/>
              <c:spPr>
                <a:solidFill>
                  <a:srgbClr val="86BC25"/>
                </a:solidFill>
                <a:ln w="9525" algn="ctr">
                  <a:solidFill>
                    <a:srgbClr val="86BC25"/>
                  </a:solidFill>
                  <a:prstDash val="solid"/>
                </a:ln>
              </c:spPr>
            </c:marker>
            <c:bubble3D val="0"/>
            <c:extLst>
              <c:ext xmlns:c16="http://schemas.microsoft.com/office/drawing/2014/chart" uri="{C3380CC4-5D6E-409C-BE32-E72D297353CC}">
                <c16:uniqueId val="{00000005-40A6-4504-ABF0-8D8ECE617423}"/>
              </c:ext>
            </c:extLst>
          </c:dPt>
          <c:dPt>
            <c:idx val="6"/>
            <c:marker>
              <c:symbol val="circle"/>
              <c:size val="5"/>
              <c:spPr>
                <a:solidFill>
                  <a:srgbClr val="86BC25"/>
                </a:solidFill>
                <a:ln w="9525" algn="ctr">
                  <a:solidFill>
                    <a:srgbClr val="86BC25"/>
                  </a:solidFill>
                  <a:prstDash val="solid"/>
                </a:ln>
              </c:spPr>
            </c:marker>
            <c:bubble3D val="0"/>
            <c:extLst>
              <c:ext xmlns:c16="http://schemas.microsoft.com/office/drawing/2014/chart" uri="{C3380CC4-5D6E-409C-BE32-E72D297353CC}">
                <c16:uniqueId val="{00000006-40A6-4504-ABF0-8D8ECE617423}"/>
              </c:ext>
            </c:extLst>
          </c:dPt>
          <c:dLbls>
            <c:dLbl>
              <c:idx val="0"/>
              <c:layout>
                <c:manualLayout>
                  <c:x val="3.737300435413643E-2"/>
                  <c:y val="2.9980013324450366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0A6-4504-ABF0-8D8ECE617423}"/>
                </c:ext>
              </c:extLst>
            </c:dLbl>
            <c:dLbl>
              <c:idx val="2"/>
              <c:layout>
                <c:manualLayout>
                  <c:x val="0"/>
                  <c:y val="6.9287141905396407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40A6-4504-ABF0-8D8ECE617423}"/>
                </c:ext>
              </c:extLst>
            </c:dLbl>
            <c:dLbl>
              <c:idx val="3"/>
              <c:layout>
                <c:manualLayout>
                  <c:x val="0"/>
                  <c:y val="6.9287141905396407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40A6-4504-ABF0-8D8ECE617423}"/>
                </c:ext>
              </c:extLst>
            </c:dLbl>
            <c:dLbl>
              <c:idx val="4"/>
              <c:layout>
                <c:manualLayout>
                  <c:x val="-2.2496371552975326E-2"/>
                  <c:y val="8.3277814790139904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0A6-4504-ABF0-8D8ECE617423}"/>
                </c:ext>
              </c:extLst>
            </c:dLbl>
            <c:dLbl>
              <c:idx val="5"/>
              <c:layout>
                <c:manualLayout>
                  <c:x val="0"/>
                  <c:y val="6.9287141905396407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40A6-4504-ABF0-8D8ECE617423}"/>
                </c:ext>
              </c:extLst>
            </c:dLbl>
            <c:dLbl>
              <c:idx val="6"/>
              <c:layout>
                <c:manualLayout>
                  <c:x val="0"/>
                  <c:y val="6.9287141905396407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40A6-4504-ABF0-8D8ECE61742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Sheet1!$A$1:$G$1</c:f>
              <c:numCache>
                <c:formatCode>General</c:formatCode>
                <c:ptCount val="7"/>
                <c:pt idx="0">
                  <c:v>3.97</c:v>
                </c:pt>
                <c:pt idx="1">
                  <c:v>4.49</c:v>
                </c:pt>
                <c:pt idx="2">
                  <c:v>5.51</c:v>
                </c:pt>
                <c:pt idx="3">
                  <c:v>6.53</c:v>
                </c:pt>
                <c:pt idx="4">
                  <c:v>7.55</c:v>
                </c:pt>
                <c:pt idx="5">
                  <c:v>8.57</c:v>
                </c:pt>
                <c:pt idx="6">
                  <c:v>9.59</c:v>
                </c:pt>
              </c:numCache>
            </c:numRef>
          </c:val>
          <c:smooth val="0"/>
          <c:extLst>
            <c:ext xmlns:c16="http://schemas.microsoft.com/office/drawing/2014/chart" uri="{C3380CC4-5D6E-409C-BE32-E72D297353CC}">
              <c16:uniqueId val="{00000007-40A6-4504-ABF0-8D8ECE617423}"/>
            </c:ext>
          </c:extLst>
        </c:ser>
        <c:ser>
          <c:idx val="1"/>
          <c:order val="1"/>
          <c:spPr>
            <a:ln w="28575" algn="ctr">
              <a:solidFill>
                <a:schemeClr val="accent4"/>
              </a:solidFill>
              <a:prstDash val="solid"/>
            </a:ln>
          </c:spPr>
          <c:marker>
            <c:symbol val="none"/>
          </c:marker>
          <c:dPt>
            <c:idx val="0"/>
            <c:marker>
              <c:symbol val="triangle"/>
              <c:size val="5"/>
              <c:spPr>
                <a:solidFill>
                  <a:schemeClr val="accent4"/>
                </a:solidFill>
                <a:ln w="9525" algn="ctr">
                  <a:solidFill>
                    <a:schemeClr val="accent4"/>
                  </a:solidFill>
                  <a:prstDash val="solid"/>
                </a:ln>
              </c:spPr>
            </c:marker>
            <c:bubble3D val="0"/>
            <c:extLst>
              <c:ext xmlns:c16="http://schemas.microsoft.com/office/drawing/2014/chart" uri="{C3380CC4-5D6E-409C-BE32-E72D297353CC}">
                <c16:uniqueId val="{00000008-40A6-4504-ABF0-8D8ECE617423}"/>
              </c:ext>
            </c:extLst>
          </c:dPt>
          <c:dPt>
            <c:idx val="1"/>
            <c:marker>
              <c:symbol val="triangle"/>
              <c:size val="5"/>
              <c:spPr>
                <a:solidFill>
                  <a:schemeClr val="accent4"/>
                </a:solidFill>
                <a:ln w="9525" algn="ctr">
                  <a:solidFill>
                    <a:schemeClr val="accent4"/>
                  </a:solidFill>
                  <a:prstDash val="solid"/>
                </a:ln>
              </c:spPr>
            </c:marker>
            <c:bubble3D val="0"/>
            <c:extLst>
              <c:ext xmlns:c16="http://schemas.microsoft.com/office/drawing/2014/chart" uri="{C3380CC4-5D6E-409C-BE32-E72D297353CC}">
                <c16:uniqueId val="{00000009-40A6-4504-ABF0-8D8ECE617423}"/>
              </c:ext>
            </c:extLst>
          </c:dPt>
          <c:dPt>
            <c:idx val="2"/>
            <c:marker>
              <c:symbol val="triangle"/>
              <c:size val="5"/>
              <c:spPr>
                <a:solidFill>
                  <a:schemeClr val="accent4"/>
                </a:solidFill>
                <a:ln w="9525" algn="ctr">
                  <a:solidFill>
                    <a:schemeClr val="accent4"/>
                  </a:solidFill>
                  <a:prstDash val="solid"/>
                </a:ln>
              </c:spPr>
            </c:marker>
            <c:bubble3D val="0"/>
            <c:extLst>
              <c:ext xmlns:c16="http://schemas.microsoft.com/office/drawing/2014/chart" uri="{C3380CC4-5D6E-409C-BE32-E72D297353CC}">
                <c16:uniqueId val="{0000000A-40A6-4504-ABF0-8D8ECE617423}"/>
              </c:ext>
            </c:extLst>
          </c:dPt>
          <c:dPt>
            <c:idx val="3"/>
            <c:marker>
              <c:symbol val="triangle"/>
              <c:size val="5"/>
              <c:spPr>
                <a:solidFill>
                  <a:schemeClr val="accent4"/>
                </a:solidFill>
                <a:ln w="9525" algn="ctr">
                  <a:solidFill>
                    <a:schemeClr val="accent4"/>
                  </a:solidFill>
                  <a:prstDash val="solid"/>
                </a:ln>
              </c:spPr>
            </c:marker>
            <c:bubble3D val="0"/>
            <c:extLst>
              <c:ext xmlns:c16="http://schemas.microsoft.com/office/drawing/2014/chart" uri="{C3380CC4-5D6E-409C-BE32-E72D297353CC}">
                <c16:uniqueId val="{0000000B-40A6-4504-ABF0-8D8ECE617423}"/>
              </c:ext>
            </c:extLst>
          </c:dPt>
          <c:dPt>
            <c:idx val="4"/>
            <c:marker>
              <c:symbol val="triangle"/>
              <c:size val="5"/>
              <c:spPr>
                <a:solidFill>
                  <a:schemeClr val="accent4"/>
                </a:solidFill>
                <a:ln w="9525" algn="ctr">
                  <a:solidFill>
                    <a:schemeClr val="accent4"/>
                  </a:solidFill>
                  <a:prstDash val="solid"/>
                </a:ln>
              </c:spPr>
            </c:marker>
            <c:bubble3D val="0"/>
            <c:extLst>
              <c:ext xmlns:c16="http://schemas.microsoft.com/office/drawing/2014/chart" uri="{C3380CC4-5D6E-409C-BE32-E72D297353CC}">
                <c16:uniqueId val="{0000000C-40A6-4504-ABF0-8D8ECE617423}"/>
              </c:ext>
            </c:extLst>
          </c:dPt>
          <c:dPt>
            <c:idx val="5"/>
            <c:marker>
              <c:symbol val="triangle"/>
              <c:size val="5"/>
              <c:spPr>
                <a:solidFill>
                  <a:schemeClr val="accent4"/>
                </a:solidFill>
                <a:ln w="9525" algn="ctr">
                  <a:solidFill>
                    <a:schemeClr val="accent4"/>
                  </a:solidFill>
                  <a:prstDash val="solid"/>
                </a:ln>
              </c:spPr>
            </c:marker>
            <c:bubble3D val="0"/>
            <c:extLst>
              <c:ext xmlns:c16="http://schemas.microsoft.com/office/drawing/2014/chart" uri="{C3380CC4-5D6E-409C-BE32-E72D297353CC}">
                <c16:uniqueId val="{0000000D-40A6-4504-ABF0-8D8ECE617423}"/>
              </c:ext>
            </c:extLst>
          </c:dPt>
          <c:dPt>
            <c:idx val="6"/>
            <c:marker>
              <c:symbol val="triangle"/>
              <c:size val="5"/>
              <c:spPr>
                <a:solidFill>
                  <a:schemeClr val="accent4"/>
                </a:solidFill>
                <a:ln w="9525" algn="ctr">
                  <a:solidFill>
                    <a:schemeClr val="accent4"/>
                  </a:solidFill>
                  <a:prstDash val="solid"/>
                </a:ln>
              </c:spPr>
            </c:marker>
            <c:bubble3D val="0"/>
            <c:extLst>
              <c:ext xmlns:c16="http://schemas.microsoft.com/office/drawing/2014/chart" uri="{C3380CC4-5D6E-409C-BE32-E72D297353CC}">
                <c16:uniqueId val="{0000000E-40A6-4504-ABF0-8D8ECE617423}"/>
              </c:ext>
            </c:extLst>
          </c:dPt>
          <c:dLbls>
            <c:dLbl>
              <c:idx val="0"/>
              <c:layout>
                <c:manualLayout>
                  <c:x val="2.4310595065312045E-2"/>
                  <c:y val="5.4630246502331781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40A6-4504-ABF0-8D8ECE617423}"/>
                </c:ext>
              </c:extLst>
            </c:dLbl>
            <c:dLbl>
              <c:idx val="1"/>
              <c:layout>
                <c:manualLayout>
                  <c:x val="-2.104499274310595E-2"/>
                  <c:y val="8.0612924716855425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40A6-4504-ABF0-8D8ECE617423}"/>
                </c:ext>
              </c:extLst>
            </c:dLbl>
            <c:dLbl>
              <c:idx val="2"/>
              <c:layout>
                <c:manualLayout>
                  <c:x val="-2.104499274310595E-2"/>
                  <c:y val="8.0612924716855425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40A6-4504-ABF0-8D8ECE617423}"/>
                </c:ext>
              </c:extLst>
            </c:dLbl>
            <c:dLbl>
              <c:idx val="3"/>
              <c:layout>
                <c:manualLayout>
                  <c:x val="-2.104499274310595E-2"/>
                  <c:y val="8.0612924716855425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40A6-4504-ABF0-8D8ECE617423}"/>
                </c:ext>
              </c:extLst>
            </c:dLbl>
            <c:dLbl>
              <c:idx val="4"/>
              <c:layout>
                <c:manualLayout>
                  <c:x val="-4.7895500725689405E-2"/>
                  <c:y val="8.7275149900066629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40A6-4504-ABF0-8D8ECE617423}"/>
                </c:ext>
              </c:extLst>
            </c:dLbl>
            <c:dLbl>
              <c:idx val="5"/>
              <c:layout>
                <c:manualLayout>
                  <c:x val="-1.8867924528301886E-2"/>
                  <c:y val="6.0626249167221855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40A6-4504-ABF0-8D8ECE617423}"/>
                </c:ext>
              </c:extLst>
            </c:dLbl>
            <c:dLbl>
              <c:idx val="6"/>
              <c:layout>
                <c:manualLayout>
                  <c:x val="-1.8867924528301886E-2"/>
                  <c:y val="6.0626249167221855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40A6-4504-ABF0-8D8ECE61742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Sheet1!$A$2:$G$2</c:f>
              <c:numCache>
                <c:formatCode>General</c:formatCode>
                <c:ptCount val="7"/>
                <c:pt idx="0">
                  <c:v>3.06</c:v>
                </c:pt>
                <c:pt idx="1">
                  <c:v>3.4</c:v>
                </c:pt>
                <c:pt idx="2">
                  <c:v>4.0599999999999996</c:v>
                </c:pt>
                <c:pt idx="3">
                  <c:v>4.71</c:v>
                </c:pt>
                <c:pt idx="4">
                  <c:v>5.37</c:v>
                </c:pt>
                <c:pt idx="5">
                  <c:v>6.03</c:v>
                </c:pt>
                <c:pt idx="6">
                  <c:v>6.69</c:v>
                </c:pt>
              </c:numCache>
            </c:numRef>
          </c:val>
          <c:smooth val="0"/>
          <c:extLst>
            <c:ext xmlns:c16="http://schemas.microsoft.com/office/drawing/2014/chart" uri="{C3380CC4-5D6E-409C-BE32-E72D297353CC}">
              <c16:uniqueId val="{0000000F-40A6-4504-ABF0-8D8ECE617423}"/>
            </c:ext>
          </c:extLst>
        </c:ser>
        <c:ser>
          <c:idx val="2"/>
          <c:order val="2"/>
          <c:spPr>
            <a:ln w="28575" algn="ctr">
              <a:solidFill>
                <a:schemeClr val="accent5"/>
              </a:solidFill>
              <a:prstDash val="solid"/>
            </a:ln>
          </c:spPr>
          <c:marker>
            <c:symbol val="none"/>
          </c:marker>
          <c:dPt>
            <c:idx val="0"/>
            <c:marker>
              <c:symbol val="diamond"/>
              <c:size val="5"/>
              <c:spPr>
                <a:solidFill>
                  <a:schemeClr val="accent5"/>
                </a:solidFill>
                <a:ln w="9525" algn="ctr">
                  <a:solidFill>
                    <a:schemeClr val="accent5"/>
                  </a:solidFill>
                  <a:prstDash val="solid"/>
                </a:ln>
              </c:spPr>
            </c:marker>
            <c:bubble3D val="0"/>
            <c:extLst>
              <c:ext xmlns:c16="http://schemas.microsoft.com/office/drawing/2014/chart" uri="{C3380CC4-5D6E-409C-BE32-E72D297353CC}">
                <c16:uniqueId val="{00000010-40A6-4504-ABF0-8D8ECE617423}"/>
              </c:ext>
            </c:extLst>
          </c:dPt>
          <c:dPt>
            <c:idx val="1"/>
            <c:marker>
              <c:symbol val="diamond"/>
              <c:size val="5"/>
              <c:spPr>
                <a:solidFill>
                  <a:schemeClr val="accent5"/>
                </a:solidFill>
                <a:ln w="9525" algn="ctr">
                  <a:solidFill>
                    <a:schemeClr val="accent5"/>
                  </a:solidFill>
                  <a:prstDash val="solid"/>
                </a:ln>
              </c:spPr>
            </c:marker>
            <c:bubble3D val="0"/>
            <c:extLst>
              <c:ext xmlns:c16="http://schemas.microsoft.com/office/drawing/2014/chart" uri="{C3380CC4-5D6E-409C-BE32-E72D297353CC}">
                <c16:uniqueId val="{00000011-40A6-4504-ABF0-8D8ECE617423}"/>
              </c:ext>
            </c:extLst>
          </c:dPt>
          <c:dPt>
            <c:idx val="2"/>
            <c:marker>
              <c:symbol val="diamond"/>
              <c:size val="5"/>
              <c:spPr>
                <a:solidFill>
                  <a:schemeClr val="accent5"/>
                </a:solidFill>
                <a:ln w="9525" algn="ctr">
                  <a:solidFill>
                    <a:schemeClr val="accent5"/>
                  </a:solidFill>
                  <a:prstDash val="solid"/>
                </a:ln>
              </c:spPr>
            </c:marker>
            <c:bubble3D val="0"/>
            <c:extLst>
              <c:ext xmlns:c16="http://schemas.microsoft.com/office/drawing/2014/chart" uri="{C3380CC4-5D6E-409C-BE32-E72D297353CC}">
                <c16:uniqueId val="{00000012-40A6-4504-ABF0-8D8ECE617423}"/>
              </c:ext>
            </c:extLst>
          </c:dPt>
          <c:dPt>
            <c:idx val="3"/>
            <c:marker>
              <c:symbol val="diamond"/>
              <c:size val="5"/>
              <c:spPr>
                <a:solidFill>
                  <a:schemeClr val="accent5"/>
                </a:solidFill>
                <a:ln w="9525" algn="ctr">
                  <a:solidFill>
                    <a:schemeClr val="accent5"/>
                  </a:solidFill>
                  <a:prstDash val="solid"/>
                </a:ln>
              </c:spPr>
            </c:marker>
            <c:bubble3D val="0"/>
            <c:extLst>
              <c:ext xmlns:c16="http://schemas.microsoft.com/office/drawing/2014/chart" uri="{C3380CC4-5D6E-409C-BE32-E72D297353CC}">
                <c16:uniqueId val="{00000013-40A6-4504-ABF0-8D8ECE617423}"/>
              </c:ext>
            </c:extLst>
          </c:dPt>
          <c:dPt>
            <c:idx val="4"/>
            <c:marker>
              <c:symbol val="diamond"/>
              <c:size val="5"/>
              <c:spPr>
                <a:solidFill>
                  <a:schemeClr val="accent5"/>
                </a:solidFill>
                <a:ln w="9525" algn="ctr">
                  <a:solidFill>
                    <a:schemeClr val="accent5"/>
                  </a:solidFill>
                  <a:prstDash val="solid"/>
                </a:ln>
              </c:spPr>
            </c:marker>
            <c:bubble3D val="0"/>
            <c:extLst>
              <c:ext xmlns:c16="http://schemas.microsoft.com/office/drawing/2014/chart" uri="{C3380CC4-5D6E-409C-BE32-E72D297353CC}">
                <c16:uniqueId val="{00000014-40A6-4504-ABF0-8D8ECE617423}"/>
              </c:ext>
            </c:extLst>
          </c:dPt>
          <c:dPt>
            <c:idx val="5"/>
            <c:marker>
              <c:symbol val="diamond"/>
              <c:size val="5"/>
              <c:spPr>
                <a:solidFill>
                  <a:schemeClr val="accent5"/>
                </a:solidFill>
                <a:ln w="9525" algn="ctr">
                  <a:solidFill>
                    <a:schemeClr val="accent5"/>
                  </a:solidFill>
                  <a:prstDash val="solid"/>
                </a:ln>
              </c:spPr>
            </c:marker>
            <c:bubble3D val="0"/>
            <c:extLst>
              <c:ext xmlns:c16="http://schemas.microsoft.com/office/drawing/2014/chart" uri="{C3380CC4-5D6E-409C-BE32-E72D297353CC}">
                <c16:uniqueId val="{00000015-40A6-4504-ABF0-8D8ECE617423}"/>
              </c:ext>
            </c:extLst>
          </c:dPt>
          <c:dPt>
            <c:idx val="6"/>
            <c:marker>
              <c:symbol val="diamond"/>
              <c:size val="5"/>
              <c:spPr>
                <a:solidFill>
                  <a:schemeClr val="accent5"/>
                </a:solidFill>
                <a:ln w="9525" algn="ctr">
                  <a:solidFill>
                    <a:schemeClr val="accent5"/>
                  </a:solidFill>
                  <a:prstDash val="solid"/>
                </a:ln>
              </c:spPr>
            </c:marker>
            <c:bubble3D val="0"/>
            <c:extLst>
              <c:ext xmlns:c16="http://schemas.microsoft.com/office/drawing/2014/chart" uri="{C3380CC4-5D6E-409C-BE32-E72D297353CC}">
                <c16:uniqueId val="{00000016-40A6-4504-ABF0-8D8ECE617423}"/>
              </c:ext>
            </c:extLst>
          </c:dPt>
          <c:dLbls>
            <c:dLbl>
              <c:idx val="0"/>
              <c:layout>
                <c:manualLayout>
                  <c:x val="2.9027576197387519E-2"/>
                  <c:y val="-8.3277814790139904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40A6-4504-ABF0-8D8ECE617423}"/>
                </c:ext>
              </c:extLst>
            </c:dLbl>
            <c:dLbl>
              <c:idx val="1"/>
              <c:layout>
                <c:manualLayout>
                  <c:x val="0"/>
                  <c:y val="-6.9287141905396407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40A6-4504-ABF0-8D8ECE617423}"/>
                </c:ext>
              </c:extLst>
            </c:dLbl>
            <c:dLbl>
              <c:idx val="2"/>
              <c:layout>
                <c:manualLayout>
                  <c:x val="0"/>
                  <c:y val="-6.9287141905396407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2-40A6-4504-ABF0-8D8ECE617423}"/>
                </c:ext>
              </c:extLst>
            </c:dLbl>
            <c:dLbl>
              <c:idx val="3"/>
              <c:layout>
                <c:manualLayout>
                  <c:x val="0"/>
                  <c:y val="-6.9287141905396407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3-40A6-4504-ABF0-8D8ECE617423}"/>
                </c:ext>
              </c:extLst>
            </c:dLbl>
            <c:dLbl>
              <c:idx val="4"/>
              <c:layout>
                <c:manualLayout>
                  <c:x val="-4.2452830188679243E-2"/>
                  <c:y val="-6.1292471685542971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4-40A6-4504-ABF0-8D8ECE61742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Sheet1!$A$3:$G$3</c:f>
              <c:numCache>
                <c:formatCode>General</c:formatCode>
                <c:ptCount val="7"/>
                <c:pt idx="0">
                  <c:v>4.3099999999999996</c:v>
                </c:pt>
                <c:pt idx="1">
                  <c:v>4.9000000000000004</c:v>
                </c:pt>
                <c:pt idx="2">
                  <c:v>6.06</c:v>
                </c:pt>
                <c:pt idx="3">
                  <c:v>7.21</c:v>
                </c:pt>
                <c:pt idx="4">
                  <c:v>8.3699999999999992</c:v>
                </c:pt>
                <c:pt idx="5">
                  <c:v>9.5299999999999994</c:v>
                </c:pt>
                <c:pt idx="6">
                  <c:v>10.69</c:v>
                </c:pt>
              </c:numCache>
            </c:numRef>
          </c:val>
          <c:smooth val="0"/>
          <c:extLst>
            <c:ext xmlns:c16="http://schemas.microsoft.com/office/drawing/2014/chart" uri="{C3380CC4-5D6E-409C-BE32-E72D297353CC}">
              <c16:uniqueId val="{00000017-40A6-4504-ABF0-8D8ECE617423}"/>
            </c:ext>
          </c:extLst>
        </c:ser>
        <c:dLbls>
          <c:showLegendKey val="0"/>
          <c:showVal val="0"/>
          <c:showCatName val="0"/>
          <c:showSerName val="0"/>
          <c:showPercent val="0"/>
          <c:showBubbleSize val="0"/>
        </c:dLbls>
        <c:smooth val="0"/>
        <c:axId val="1226090808"/>
        <c:axId val="1"/>
      </c:lineChart>
      <c:catAx>
        <c:axId val="1226090808"/>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10.69"/>
          <c:min val="0"/>
        </c:scaling>
        <c:delete val="1"/>
        <c:axPos val="l"/>
        <c:numFmt formatCode="General" sourceLinked="1"/>
        <c:majorTickMark val="out"/>
        <c:minorTickMark val="none"/>
        <c:tickLblPos val="nextTo"/>
        <c:crossAx val="1226090808"/>
        <c:crosses val="min"/>
        <c:crossBetween val="midCat"/>
      </c:valAx>
    </c:plotArea>
    <c:plotVisOnly val="0"/>
    <c:dispBlanksAs val="gap"/>
    <c:showDLblsOverMax val="1"/>
  </c:chart>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910569105691057E-2"/>
          <c:y val="6.117647058823529E-2"/>
          <c:w val="0.96617886178861789"/>
          <c:h val="0.87764705882352934"/>
        </c:manualLayout>
      </c:layout>
      <c:barChart>
        <c:barDir val="col"/>
        <c:grouping val="stacked"/>
        <c:varyColors val="0"/>
        <c:ser>
          <c:idx val="0"/>
          <c:order val="0"/>
          <c:spPr>
            <a:solidFill>
              <a:srgbClr val="86BC25"/>
            </a:solidFill>
            <a:ln>
              <a:noFill/>
            </a:ln>
          </c:spPr>
          <c:invertIfNegative val="0"/>
          <c:dLbls>
            <c:dLbl>
              <c:idx val="0"/>
              <c:layout>
                <c:manualLayout>
                  <c:x val="0"/>
                  <c:y val="-1.176470588235294E-3"/>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AA9D-4BCD-BF65-28D721F9F0DA}"/>
                </c:ext>
              </c:extLst>
            </c:dLbl>
            <c:dLbl>
              <c:idx val="1"/>
              <c:layout>
                <c:manualLayout>
                  <c:x val="0"/>
                  <c:y val="-1.176470588235294E-3"/>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AA9D-4BCD-BF65-28D721F9F0DA}"/>
                </c:ext>
              </c:extLst>
            </c:dLbl>
            <c:dLbl>
              <c:idx val="2"/>
              <c:layout>
                <c:manualLayout>
                  <c:x val="0"/>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AA9D-4BCD-BF65-28D721F9F0DA}"/>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15230.044853333333</c:v>
                </c:pt>
                <c:pt idx="1">
                  <c:v>27728</c:v>
                </c:pt>
                <c:pt idx="2">
                  <c:v>36353.615553177238</c:v>
                </c:pt>
              </c:numCache>
            </c:numRef>
          </c:val>
          <c:extLst>
            <c:ext xmlns:c16="http://schemas.microsoft.com/office/drawing/2014/chart" uri="{C3380CC4-5D6E-409C-BE32-E72D297353CC}">
              <c16:uniqueId val="{00000003-AA9D-4BCD-BF65-28D721F9F0DA}"/>
            </c:ext>
          </c:extLst>
        </c:ser>
        <c:dLbls>
          <c:showLegendKey val="0"/>
          <c:showVal val="0"/>
          <c:showCatName val="0"/>
          <c:showSerName val="0"/>
          <c:showPercent val="0"/>
          <c:showBubbleSize val="0"/>
        </c:dLbls>
        <c:gapWidth val="80"/>
        <c:overlap val="100"/>
        <c:axId val="641415040"/>
        <c:axId val="1"/>
      </c:barChart>
      <c:catAx>
        <c:axId val="64141504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36353.615553177238"/>
          <c:min val="0"/>
        </c:scaling>
        <c:delete val="1"/>
        <c:axPos val="l"/>
        <c:numFmt formatCode="General" sourceLinked="1"/>
        <c:majorTickMark val="out"/>
        <c:minorTickMark val="none"/>
        <c:tickLblPos val="nextTo"/>
        <c:crossAx val="641415040"/>
        <c:crosses val="min"/>
        <c:crossBetween val="between"/>
      </c:valAx>
    </c:plotArea>
    <c:plotVisOnly val="0"/>
    <c:dispBlanksAs val="gap"/>
    <c:showDLblsOverMax val="1"/>
  </c:chart>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2126924285265472"/>
          <c:y val="6.7216981132075471E-2"/>
          <c:w val="0.74300973923971092"/>
          <c:h val="0.86556603773584906"/>
        </c:manualLayout>
      </c:layout>
      <c:barChart>
        <c:barDir val="col"/>
        <c:grouping val="stacked"/>
        <c:varyColors val="0"/>
        <c:ser>
          <c:idx val="0"/>
          <c:order val="0"/>
          <c:spPr>
            <a:solidFill>
              <a:srgbClr val="86BC25"/>
            </a:solidFill>
            <a:ln>
              <a:noFill/>
            </a:ln>
          </c:spPr>
          <c:invertIfNegative val="0"/>
          <c:dLbls>
            <c:dLbl>
              <c:idx val="0"/>
              <c:layout>
                <c:manualLayout>
                  <c:x val="0"/>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65CB-496E-B6ED-8C903AE99A64}"/>
                </c:ext>
              </c:extLst>
            </c:dLbl>
            <c:dLbl>
              <c:idx val="1"/>
              <c:layout>
                <c:manualLayout>
                  <c:x val="0"/>
                  <c:y val="0"/>
                </c:manualLayout>
              </c:layout>
              <c:numFmt formatCode="#,##0;&quot;-&quot;#,##0" sourceLinked="0"/>
              <c:spPr>
                <a:noFill/>
                <a:ln>
                  <a:noFill/>
                </a:ln>
              </c:spPr>
              <c:txPr>
                <a:bodyPr wrap="none"/>
                <a:lstStyle/>
                <a:p>
                  <a:pPr>
                    <a:defRPr sz="900">
                      <a:solidFill>
                        <a:srgbClr val="FFFFFF"/>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65CB-496E-B6ED-8C903AE99A64}"/>
                </c:ext>
              </c:extLst>
            </c:dLbl>
            <c:dLbl>
              <c:idx val="2"/>
              <c:layout>
                <c:manualLayout>
                  <c:x val="0"/>
                  <c:y val="-1.1792452830188679E-3"/>
                </c:manualLayout>
              </c:layout>
              <c:numFmt formatCode="#,##0;&quot;-&quot;#,##0" sourceLinked="0"/>
              <c:spPr>
                <a:noFill/>
                <a:ln>
                  <a:noFill/>
                </a:ln>
              </c:spPr>
              <c:txPr>
                <a:bodyPr wrap="none"/>
                <a:lstStyle/>
                <a:p>
                  <a:pPr>
                    <a:defRPr sz="900">
                      <a:solidFill>
                        <a:srgbClr val="FFFFFF"/>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65CB-496E-B6ED-8C903AE99A6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9233.9761945759983</c:v>
                </c:pt>
                <c:pt idx="1">
                  <c:v>17088.523170140692</c:v>
                </c:pt>
                <c:pt idx="2">
                  <c:v>23491.706370463133</c:v>
                </c:pt>
              </c:numCache>
            </c:numRef>
          </c:val>
          <c:extLst>
            <c:ext xmlns:c16="http://schemas.microsoft.com/office/drawing/2014/chart" uri="{C3380CC4-5D6E-409C-BE32-E72D297353CC}">
              <c16:uniqueId val="{00000003-65CB-496E-B6ED-8C903AE99A64}"/>
            </c:ext>
          </c:extLst>
        </c:ser>
        <c:dLbls>
          <c:showLegendKey val="0"/>
          <c:showVal val="0"/>
          <c:showCatName val="0"/>
          <c:showSerName val="0"/>
          <c:showPercent val="0"/>
          <c:showBubbleSize val="0"/>
        </c:dLbls>
        <c:gapWidth val="80"/>
        <c:overlap val="100"/>
        <c:axId val="1174093928"/>
        <c:axId val="1"/>
      </c:barChart>
      <c:lineChart>
        <c:grouping val="standard"/>
        <c:varyColors val="0"/>
        <c:ser>
          <c:idx val="1"/>
          <c:order val="1"/>
          <c:spPr>
            <a:ln w="19050" algn="ctr">
              <a:solidFill>
                <a:schemeClr val="accent4"/>
              </a:solidFill>
              <a:prstDash val="solid"/>
            </a:ln>
          </c:spPr>
          <c:marker>
            <c:symbol val="none"/>
          </c:marker>
          <c:dLbls>
            <c:dLbl>
              <c:idx val="0"/>
              <c:layout>
                <c:manualLayout>
                  <c:x val="0"/>
                  <c:y val="-8.8443396226415089E-2"/>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65CB-496E-B6ED-8C903AE99A64}"/>
                </c:ext>
              </c:extLst>
            </c:dLbl>
            <c:dLbl>
              <c:idx val="1"/>
              <c:layout>
                <c:manualLayout>
                  <c:x val="0"/>
                  <c:y val="-8.8443396226415089E-2"/>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65CB-496E-B6ED-8C903AE99A64}"/>
                </c:ext>
              </c:extLst>
            </c:dLbl>
            <c:dLbl>
              <c:idx val="2"/>
              <c:layout>
                <c:manualLayout>
                  <c:x val="0"/>
                  <c:y val="-8.8443396226415089E-2"/>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65CB-496E-B6ED-8C903AE99A6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80889.631464485748</c:v>
                </c:pt>
                <c:pt idx="1">
                  <c:v>149695.46297043245</c:v>
                </c:pt>
                <c:pt idx="2">
                  <c:v>205787.34780525704</c:v>
                </c:pt>
              </c:numCache>
            </c:numRef>
          </c:val>
          <c:smooth val="0"/>
          <c:extLst>
            <c:ext xmlns:c16="http://schemas.microsoft.com/office/drawing/2014/chart" uri="{C3380CC4-5D6E-409C-BE32-E72D297353CC}">
              <c16:uniqueId val="{00000007-65CB-496E-B6ED-8C903AE99A64}"/>
            </c:ext>
          </c:extLst>
        </c:ser>
        <c:dLbls>
          <c:showLegendKey val="0"/>
          <c:showVal val="0"/>
          <c:showCatName val="0"/>
          <c:showSerName val="0"/>
          <c:showPercent val="0"/>
          <c:showBubbleSize val="0"/>
        </c:dLbls>
        <c:marker val="1"/>
        <c:smooth val="0"/>
        <c:axId val="3"/>
        <c:axId val="2"/>
      </c:lineChart>
      <c:catAx>
        <c:axId val="1174093928"/>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30000"/>
          <c:min val="0"/>
        </c:scaling>
        <c:delete val="0"/>
        <c:axPos val="l"/>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900">
                <a:solidFill>
                  <a:schemeClr val="tx1"/>
                </a:solidFill>
                <a:latin typeface="+mn-lt"/>
                <a:ea typeface="+mn-ea"/>
                <a:cs typeface="+mn-cs"/>
                <a:sym typeface="+mn-lt"/>
              </a:defRPr>
            </a:pPr>
            <a:endParaRPr lang="en-US"/>
          </a:p>
        </c:txPr>
        <c:crossAx val="1174093928"/>
        <c:crosses val="min"/>
        <c:crossBetween val="between"/>
        <c:majorUnit val="5000"/>
      </c:valAx>
      <c:valAx>
        <c:axId val="2"/>
        <c:scaling>
          <c:orientation val="minMax"/>
          <c:max val="250000"/>
          <c:min val="0"/>
        </c:scaling>
        <c:delete val="0"/>
        <c:axPos val="r"/>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900">
                <a:solidFill>
                  <a:schemeClr val="tx1"/>
                </a:solidFill>
                <a:latin typeface="+mn-lt"/>
                <a:ea typeface="+mn-ea"/>
                <a:cs typeface="+mn-cs"/>
                <a:sym typeface="+mn-lt"/>
              </a:defRPr>
            </a:pPr>
            <a:endParaRPr lang="en-US"/>
          </a:p>
        </c:txPr>
        <c:crossAx val="3"/>
        <c:crosses val="max"/>
        <c:crossBetween val="between"/>
        <c:majorUnit val="50000"/>
      </c:valAx>
      <c:catAx>
        <c:axId val="3"/>
        <c:scaling>
          <c:orientation val="minMax"/>
        </c:scaling>
        <c:delete val="1"/>
        <c:axPos val="b"/>
        <c:majorTickMark val="out"/>
        <c:minorTickMark val="none"/>
        <c:tickLblPos val="nextTo"/>
        <c:crossAx val="2"/>
        <c:crosses val="min"/>
        <c:auto val="0"/>
        <c:lblAlgn val="ctr"/>
        <c:lblOffset val="100"/>
        <c:noMultiLvlLbl val="0"/>
      </c:catAx>
    </c:plotArea>
    <c:plotVisOnly val="0"/>
    <c:dispBlanksAs val="gap"/>
    <c:showDLblsOverMax val="1"/>
  </c:chart>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960" b="1" i="0" u="none" strike="noStrike" kern="1200" spc="0" baseline="0">
                <a:solidFill>
                  <a:schemeClr val="tx1"/>
                </a:solidFill>
                <a:latin typeface="+mn-lt"/>
                <a:ea typeface="+mn-ea"/>
                <a:cs typeface="+mn-cs"/>
              </a:defRPr>
            </a:pPr>
            <a:r>
              <a:rPr lang="en-IN" b="1" dirty="0"/>
              <a:t>GDP Growth – Scenario Projections</a:t>
            </a:r>
          </a:p>
        </c:rich>
      </c:tx>
      <c:overlay val="0"/>
      <c:spPr>
        <a:noFill/>
        <a:ln>
          <a:noFill/>
        </a:ln>
        <a:effectLst/>
      </c:spPr>
      <c:txPr>
        <a:bodyPr rot="0" spcFirstLastPara="1" vertOverflow="ellipsis" vert="horz" wrap="square" anchor="ctr" anchorCtr="1"/>
        <a:lstStyle/>
        <a:p>
          <a:pPr>
            <a:defRPr sz="960" b="1" i="0" u="none" strike="noStrike" kern="1200" spc="0" baseline="0">
              <a:solidFill>
                <a:schemeClr val="tx1"/>
              </a:solidFill>
              <a:latin typeface="+mn-lt"/>
              <a:ea typeface="+mn-ea"/>
              <a:cs typeface="+mn-cs"/>
            </a:defRPr>
          </a:pPr>
          <a:endParaRPr lang="en-US"/>
        </a:p>
      </c:txPr>
    </c:title>
    <c:autoTitleDeleted val="0"/>
    <c:plotArea>
      <c:layout>
        <c:manualLayout>
          <c:layoutTarget val="inner"/>
          <c:xMode val="edge"/>
          <c:yMode val="edge"/>
          <c:x val="3.171899386730196E-2"/>
          <c:y val="0.23893923993130925"/>
          <c:w val="0.93876071404874295"/>
          <c:h val="0.43220761838791671"/>
        </c:manualLayout>
      </c:layout>
      <c:lineChart>
        <c:grouping val="standard"/>
        <c:varyColors val="0"/>
        <c:ser>
          <c:idx val="1"/>
          <c:order val="0"/>
          <c:tx>
            <c:strRef>
              <c:f>Sheet1!$C$1</c:f>
              <c:strCache>
                <c:ptCount val="1"/>
                <c:pt idx="0">
                  <c:v>Covid 19 Base Case</c:v>
                </c:pt>
              </c:strCache>
            </c:strRef>
          </c:tx>
          <c:spPr>
            <a:ln w="28575" cap="rnd">
              <a:solidFill>
                <a:schemeClr val="accent2"/>
              </a:solidFill>
              <a:round/>
            </a:ln>
            <a:effectLst/>
          </c:spPr>
          <c:marker>
            <c:symbol val="circle"/>
            <c:size val="5"/>
            <c:spPr>
              <a:solidFill>
                <a:schemeClr val="accent2"/>
              </a:solidFill>
              <a:ln w="9525">
                <a:solidFill>
                  <a:schemeClr val="accent2"/>
                </a:solidFill>
              </a:ln>
              <a:effectLst/>
            </c:spPr>
          </c:marker>
          <c:dLbls>
            <c:dLbl>
              <c:idx val="0"/>
              <c:layout>
                <c:manualLayout>
                  <c:x val="-9.3933680497001099E-2"/>
                  <c:y val="-5.7352085809559616E-3"/>
                </c:manualLayout>
              </c:layout>
              <c:spPr>
                <a:solidFill>
                  <a:schemeClr val="accent2"/>
                </a:solid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40DC-4A81-92F3-2A3531D2289F}"/>
                </c:ext>
              </c:extLst>
            </c:dLbl>
            <c:dLbl>
              <c:idx val="1"/>
              <c:delete val="1"/>
              <c:extLst>
                <c:ext xmlns:c15="http://schemas.microsoft.com/office/drawing/2012/chart" uri="{CE6537A1-D6FC-4f65-9D91-7224C49458BB}"/>
                <c:ext xmlns:c16="http://schemas.microsoft.com/office/drawing/2014/chart" uri="{C3380CC4-5D6E-409C-BE32-E72D297353CC}">
                  <c16:uniqueId val="{00000013-40DC-4A81-92F3-2A3531D2289F}"/>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FY20</c:v>
                </c:pt>
                <c:pt idx="1">
                  <c:v>FY21</c:v>
                </c:pt>
                <c:pt idx="2">
                  <c:v>FY22</c:v>
                </c:pt>
                <c:pt idx="3">
                  <c:v>FY26</c:v>
                </c:pt>
                <c:pt idx="4">
                  <c:v>FY30</c:v>
                </c:pt>
              </c:strCache>
            </c:strRef>
          </c:cat>
          <c:val>
            <c:numRef>
              <c:f>Sheet1!$C$2:$C$6</c:f>
              <c:numCache>
                <c:formatCode>0.0%</c:formatCode>
                <c:ptCount val="5"/>
                <c:pt idx="0">
                  <c:v>0.02</c:v>
                </c:pt>
                <c:pt idx="1">
                  <c:v>7.8E-2</c:v>
                </c:pt>
              </c:numCache>
            </c:numRef>
          </c:val>
          <c:smooth val="0"/>
          <c:extLst>
            <c:ext xmlns:c16="http://schemas.microsoft.com/office/drawing/2014/chart" uri="{C3380CC4-5D6E-409C-BE32-E72D297353CC}">
              <c16:uniqueId val="{00000001-40DC-4A81-92F3-2A3531D2289F}"/>
            </c:ext>
          </c:extLst>
        </c:ser>
        <c:ser>
          <c:idx val="2"/>
          <c:order val="1"/>
          <c:tx>
            <c:strRef>
              <c:f>Sheet1!$D$1</c:f>
              <c:strCache>
                <c:ptCount val="1"/>
                <c:pt idx="0">
                  <c:v>Covid 19 Pessimistic Case</c:v>
                </c:pt>
              </c:strCache>
            </c:strRef>
          </c:tx>
          <c:spPr>
            <a:ln w="28575" cap="rnd">
              <a:solidFill>
                <a:schemeClr val="accent3"/>
              </a:solidFill>
              <a:round/>
            </a:ln>
            <a:effectLst/>
          </c:spPr>
          <c:marker>
            <c:symbol val="circle"/>
            <c:size val="5"/>
            <c:spPr>
              <a:solidFill>
                <a:schemeClr val="accent3"/>
              </a:solidFill>
              <a:ln w="9525">
                <a:solidFill>
                  <a:schemeClr val="accent3"/>
                </a:solidFill>
              </a:ln>
              <a:effectLst/>
            </c:spPr>
          </c:marker>
          <c:dLbls>
            <c:dLbl>
              <c:idx val="0"/>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40DC-4A81-92F3-2A3531D2289F}"/>
                </c:ext>
              </c:extLst>
            </c:dLbl>
            <c:spPr>
              <a:solidFill>
                <a:schemeClr val="accent3"/>
              </a:solid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bg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FY20</c:v>
                </c:pt>
                <c:pt idx="1">
                  <c:v>FY21</c:v>
                </c:pt>
                <c:pt idx="2">
                  <c:v>FY22</c:v>
                </c:pt>
                <c:pt idx="3">
                  <c:v>FY26</c:v>
                </c:pt>
                <c:pt idx="4">
                  <c:v>FY30</c:v>
                </c:pt>
              </c:strCache>
            </c:strRef>
          </c:cat>
          <c:val>
            <c:numRef>
              <c:f>Sheet1!$D$2:$D$6</c:f>
              <c:numCache>
                <c:formatCode>0.0%</c:formatCode>
                <c:ptCount val="5"/>
                <c:pt idx="0">
                  <c:v>0</c:v>
                </c:pt>
                <c:pt idx="1">
                  <c:v>0.05</c:v>
                </c:pt>
              </c:numCache>
            </c:numRef>
          </c:val>
          <c:smooth val="0"/>
          <c:extLst>
            <c:ext xmlns:c16="http://schemas.microsoft.com/office/drawing/2014/chart" uri="{C3380CC4-5D6E-409C-BE32-E72D297353CC}">
              <c16:uniqueId val="{00000002-40DC-4A81-92F3-2A3531D2289F}"/>
            </c:ext>
          </c:extLst>
        </c:ser>
        <c:ser>
          <c:idx val="3"/>
          <c:order val="2"/>
          <c:tx>
            <c:strRef>
              <c:f>Sheet1!$E$1</c:f>
              <c:strCache>
                <c:ptCount val="1"/>
                <c:pt idx="0">
                  <c:v>Covid 19 Optimistic Case</c:v>
                </c:pt>
              </c:strCache>
            </c:strRef>
          </c:tx>
          <c:spPr>
            <a:ln w="28575" cap="rnd">
              <a:solidFill>
                <a:schemeClr val="accent4"/>
              </a:solidFill>
              <a:round/>
            </a:ln>
            <a:effectLst/>
          </c:spPr>
          <c:marker>
            <c:symbol val="circle"/>
            <c:size val="5"/>
            <c:spPr>
              <a:solidFill>
                <a:schemeClr val="accent4"/>
              </a:solidFill>
              <a:ln w="9525">
                <a:solidFill>
                  <a:schemeClr val="accent4"/>
                </a:solidFill>
              </a:ln>
              <a:effectLst/>
            </c:spPr>
          </c:marker>
          <c:cat>
            <c:strRef>
              <c:f>Sheet1!$A$2:$A$6</c:f>
              <c:strCache>
                <c:ptCount val="5"/>
                <c:pt idx="0">
                  <c:v>FY20</c:v>
                </c:pt>
                <c:pt idx="1">
                  <c:v>FY21</c:v>
                </c:pt>
                <c:pt idx="2">
                  <c:v>FY22</c:v>
                </c:pt>
                <c:pt idx="3">
                  <c:v>FY26</c:v>
                </c:pt>
                <c:pt idx="4">
                  <c:v>FY30</c:v>
                </c:pt>
              </c:strCache>
            </c:strRef>
          </c:cat>
          <c:val>
            <c:numRef>
              <c:f>Sheet1!$E$2:$E$6</c:f>
              <c:numCache>
                <c:formatCode>0.0%</c:formatCode>
                <c:ptCount val="5"/>
                <c:pt idx="0">
                  <c:v>0.05</c:v>
                </c:pt>
                <c:pt idx="1">
                  <c:v>9.5000000000000001E-2</c:v>
                </c:pt>
              </c:numCache>
            </c:numRef>
          </c:val>
          <c:smooth val="0"/>
          <c:extLst>
            <c:ext xmlns:c16="http://schemas.microsoft.com/office/drawing/2014/chart" uri="{C3380CC4-5D6E-409C-BE32-E72D297353CC}">
              <c16:uniqueId val="{00000004-40DC-4A81-92F3-2A3531D2289F}"/>
            </c:ext>
          </c:extLst>
        </c:ser>
        <c:ser>
          <c:idx val="4"/>
          <c:order val="3"/>
          <c:tx>
            <c:strRef>
              <c:f>Sheet1!$F$1</c:f>
              <c:strCache>
                <c:ptCount val="1"/>
                <c:pt idx="0">
                  <c:v>Common Case</c:v>
                </c:pt>
              </c:strCache>
            </c:strRef>
          </c:tx>
          <c:spPr>
            <a:ln w="28575" cap="rnd">
              <a:solidFill>
                <a:schemeClr val="accent5"/>
              </a:solidFill>
              <a:round/>
            </a:ln>
            <a:effectLst/>
          </c:spPr>
          <c:marker>
            <c:symbol val="circle"/>
            <c:size val="5"/>
            <c:spPr>
              <a:solidFill>
                <a:schemeClr val="accent5"/>
              </a:solidFill>
              <a:ln w="9525">
                <a:solidFill>
                  <a:schemeClr val="accent5"/>
                </a:solidFill>
              </a:ln>
              <a:effectLst/>
            </c:spPr>
          </c:marker>
          <c:dPt>
            <c:idx val="0"/>
            <c:marker>
              <c:symbol val="circle"/>
              <c:size val="5"/>
              <c:spPr>
                <a:solidFill>
                  <a:schemeClr val="accent4"/>
                </a:solidFill>
                <a:ln w="9525">
                  <a:solidFill>
                    <a:schemeClr val="accent5"/>
                  </a:solidFill>
                </a:ln>
                <a:effectLst/>
              </c:spPr>
            </c:marker>
            <c:bubble3D val="0"/>
            <c:extLst>
              <c:ext xmlns:c16="http://schemas.microsoft.com/office/drawing/2014/chart" uri="{C3380CC4-5D6E-409C-BE32-E72D297353CC}">
                <c16:uniqueId val="{00000011-40DC-4A81-92F3-2A3531D2289F}"/>
              </c:ext>
            </c:extLst>
          </c:dPt>
          <c:dPt>
            <c:idx val="1"/>
            <c:marker>
              <c:symbol val="circle"/>
              <c:size val="5"/>
              <c:spPr>
                <a:solidFill>
                  <a:schemeClr val="accent4"/>
                </a:solidFill>
                <a:ln w="9525">
                  <a:solidFill>
                    <a:schemeClr val="accent5"/>
                  </a:solidFill>
                </a:ln>
                <a:effectLst/>
              </c:spPr>
            </c:marker>
            <c:bubble3D val="0"/>
            <c:spPr>
              <a:ln w="28575" cap="rnd">
                <a:solidFill>
                  <a:schemeClr val="accent4"/>
                </a:solidFill>
                <a:round/>
              </a:ln>
              <a:effectLst/>
            </c:spPr>
            <c:extLst>
              <c:ext xmlns:c16="http://schemas.microsoft.com/office/drawing/2014/chart" uri="{C3380CC4-5D6E-409C-BE32-E72D297353CC}">
                <c16:uniqueId val="{00000012-40DC-4A81-92F3-2A3531D2289F}"/>
              </c:ext>
            </c:extLst>
          </c:dPt>
          <c:dPt>
            <c:idx val="2"/>
            <c:marker>
              <c:symbol val="circle"/>
              <c:size val="5"/>
              <c:spPr>
                <a:solidFill>
                  <a:schemeClr val="accent5"/>
                </a:solidFill>
                <a:ln w="9525">
                  <a:solidFill>
                    <a:schemeClr val="accent5"/>
                  </a:solidFill>
                </a:ln>
                <a:effectLst/>
              </c:spPr>
            </c:marker>
            <c:bubble3D val="0"/>
            <c:spPr>
              <a:ln w="28575" cap="rnd">
                <a:solidFill>
                  <a:schemeClr val="accent4"/>
                </a:solidFill>
                <a:prstDash val="dash"/>
                <a:round/>
              </a:ln>
              <a:effectLst/>
            </c:spPr>
            <c:extLst>
              <c:ext xmlns:c16="http://schemas.microsoft.com/office/drawing/2014/chart" uri="{C3380CC4-5D6E-409C-BE32-E72D297353CC}">
                <c16:uniqueId val="{0000000A-40DC-4A81-92F3-2A3531D2289F}"/>
              </c:ext>
            </c:extLst>
          </c:dPt>
          <c:dLbls>
            <c:dLbl>
              <c:idx val="0"/>
              <c:layout>
                <c:manualLayout>
                  <c:x val="-0.1073527777108584"/>
                  <c:y val="-2.2940834323823423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40DC-4A81-92F3-2A3531D2289F}"/>
                </c:ext>
              </c:extLst>
            </c:dLbl>
            <c:dLbl>
              <c:idx val="1"/>
              <c:layout>
                <c:manualLayout>
                  <c:x val="-3.7573472198800487E-2"/>
                  <c:y val="-8.029292013338200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40DC-4A81-92F3-2A3531D2289F}"/>
                </c:ext>
              </c:extLst>
            </c:dLbl>
            <c:spPr>
              <a:solidFill>
                <a:schemeClr val="accent4"/>
              </a:solid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bg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FY20</c:v>
                </c:pt>
                <c:pt idx="1">
                  <c:v>FY21</c:v>
                </c:pt>
                <c:pt idx="2">
                  <c:v>FY22</c:v>
                </c:pt>
                <c:pt idx="3">
                  <c:v>FY26</c:v>
                </c:pt>
                <c:pt idx="4">
                  <c:v>FY30</c:v>
                </c:pt>
              </c:strCache>
            </c:strRef>
          </c:cat>
          <c:val>
            <c:numRef>
              <c:f>Sheet1!$F$2:$F$6</c:f>
              <c:numCache>
                <c:formatCode>0.0%</c:formatCode>
                <c:ptCount val="5"/>
                <c:pt idx="0">
                  <c:v>0.05</c:v>
                </c:pt>
                <c:pt idx="1">
                  <c:v>9.5000000000000001E-2</c:v>
                </c:pt>
                <c:pt idx="2">
                  <c:v>7.5999999999999998E-2</c:v>
                </c:pt>
                <c:pt idx="3">
                  <c:v>6.7000000000000004E-2</c:v>
                </c:pt>
                <c:pt idx="4" formatCode="0.00%">
                  <c:v>5.8999999999999997E-2</c:v>
                </c:pt>
              </c:numCache>
            </c:numRef>
          </c:val>
          <c:smooth val="0"/>
          <c:extLst>
            <c:ext xmlns:c16="http://schemas.microsoft.com/office/drawing/2014/chart" uri="{C3380CC4-5D6E-409C-BE32-E72D297353CC}">
              <c16:uniqueId val="{00000005-40DC-4A81-92F3-2A3531D2289F}"/>
            </c:ext>
          </c:extLst>
        </c:ser>
        <c:ser>
          <c:idx val="5"/>
          <c:order val="4"/>
          <c:tx>
            <c:strRef>
              <c:f>Sheet1!$G$1</c:f>
              <c:strCache>
                <c:ptCount val="1"/>
                <c:pt idx="0">
                  <c:v>Column1</c:v>
                </c:pt>
              </c:strCache>
            </c:strRef>
          </c:tx>
          <c:spPr>
            <a:ln w="28575" cap="rnd">
              <a:solidFill>
                <a:schemeClr val="accent6"/>
              </a:solidFill>
              <a:round/>
            </a:ln>
            <a:effectLst/>
          </c:spPr>
          <c:marker>
            <c:symbol val="circle"/>
            <c:size val="5"/>
            <c:spPr>
              <a:solidFill>
                <a:schemeClr val="accent6"/>
              </a:solidFill>
              <a:ln w="9525">
                <a:solidFill>
                  <a:schemeClr val="accent6"/>
                </a:solidFill>
              </a:ln>
              <a:effectLst/>
            </c:spPr>
          </c:marker>
          <c:dPt>
            <c:idx val="1"/>
            <c:marker>
              <c:symbol val="circle"/>
              <c:size val="5"/>
              <c:spPr>
                <a:solidFill>
                  <a:schemeClr val="accent3"/>
                </a:solidFill>
                <a:ln w="9525">
                  <a:solidFill>
                    <a:schemeClr val="accent6"/>
                  </a:solidFill>
                </a:ln>
                <a:effectLst/>
              </c:spPr>
            </c:marker>
            <c:bubble3D val="0"/>
            <c:extLst>
              <c:ext xmlns:c16="http://schemas.microsoft.com/office/drawing/2014/chart" uri="{C3380CC4-5D6E-409C-BE32-E72D297353CC}">
                <c16:uniqueId val="{00000016-40DC-4A81-92F3-2A3531D2289F}"/>
              </c:ext>
            </c:extLst>
          </c:dPt>
          <c:dPt>
            <c:idx val="2"/>
            <c:marker>
              <c:symbol val="circle"/>
              <c:size val="5"/>
              <c:spPr>
                <a:solidFill>
                  <a:schemeClr val="accent6"/>
                </a:solidFill>
                <a:ln w="9525">
                  <a:solidFill>
                    <a:schemeClr val="accent6"/>
                  </a:solidFill>
                </a:ln>
                <a:effectLst/>
              </c:spPr>
            </c:marker>
            <c:bubble3D val="0"/>
            <c:spPr>
              <a:ln w="28575" cap="rnd">
                <a:solidFill>
                  <a:schemeClr val="accent3"/>
                </a:solidFill>
                <a:prstDash val="dash"/>
                <a:round/>
              </a:ln>
              <a:effectLst/>
            </c:spPr>
            <c:extLst>
              <c:ext xmlns:c16="http://schemas.microsoft.com/office/drawing/2014/chart" uri="{C3380CC4-5D6E-409C-BE32-E72D297353CC}">
                <c16:uniqueId val="{00000008-40DC-4A81-92F3-2A3531D2289F}"/>
              </c:ext>
            </c:extLst>
          </c:dPt>
          <c:dLbls>
            <c:dLbl>
              <c:idx val="1"/>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40DC-4A81-92F3-2A3531D2289F}"/>
                </c:ext>
              </c:extLst>
            </c:dLbl>
            <c:spPr>
              <a:solidFill>
                <a:schemeClr val="accent3"/>
              </a:solid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bg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FY20</c:v>
                </c:pt>
                <c:pt idx="1">
                  <c:v>FY21</c:v>
                </c:pt>
                <c:pt idx="2">
                  <c:v>FY22</c:v>
                </c:pt>
                <c:pt idx="3">
                  <c:v>FY26</c:v>
                </c:pt>
                <c:pt idx="4">
                  <c:v>FY30</c:v>
                </c:pt>
              </c:strCache>
            </c:strRef>
          </c:cat>
          <c:val>
            <c:numRef>
              <c:f>Sheet1!$G$2:$G$6</c:f>
              <c:numCache>
                <c:formatCode>0%</c:formatCode>
                <c:ptCount val="5"/>
                <c:pt idx="1">
                  <c:v>0.05</c:v>
                </c:pt>
                <c:pt idx="2" formatCode="0.0%">
                  <c:v>7.5999999999999998E-2</c:v>
                </c:pt>
                <c:pt idx="3" formatCode="0.0%">
                  <c:v>6.7000000000000004E-2</c:v>
                </c:pt>
                <c:pt idx="4" formatCode="0.00%">
                  <c:v>5.8999999999999997E-2</c:v>
                </c:pt>
              </c:numCache>
            </c:numRef>
          </c:val>
          <c:smooth val="0"/>
          <c:extLst>
            <c:ext xmlns:c16="http://schemas.microsoft.com/office/drawing/2014/chart" uri="{C3380CC4-5D6E-409C-BE32-E72D297353CC}">
              <c16:uniqueId val="{00000006-40DC-4A81-92F3-2A3531D2289F}"/>
            </c:ext>
          </c:extLst>
        </c:ser>
        <c:ser>
          <c:idx val="6"/>
          <c:order val="5"/>
          <c:tx>
            <c:strRef>
              <c:f>Sheet1!$H$1</c:f>
              <c:strCache>
                <c:ptCount val="1"/>
                <c:pt idx="0">
                  <c:v>Column2</c:v>
                </c:pt>
              </c:strCache>
            </c:strRef>
          </c:tx>
          <c:spPr>
            <a:ln w="28575" cap="rnd">
              <a:solidFill>
                <a:schemeClr val="accent1">
                  <a:lumMod val="60000"/>
                </a:schemeClr>
              </a:solidFill>
              <a:round/>
            </a:ln>
            <a:effectLst/>
          </c:spPr>
          <c:marker>
            <c:symbol val="circle"/>
            <c:size val="5"/>
            <c:spPr>
              <a:solidFill>
                <a:schemeClr val="accent1">
                  <a:lumMod val="60000"/>
                </a:schemeClr>
              </a:solidFill>
              <a:ln w="9525">
                <a:solidFill>
                  <a:schemeClr val="accent1">
                    <a:lumMod val="60000"/>
                  </a:schemeClr>
                </a:solidFill>
              </a:ln>
              <a:effectLst/>
            </c:spPr>
          </c:marker>
          <c:dPt>
            <c:idx val="2"/>
            <c:marker>
              <c:symbol val="circle"/>
              <c:size val="5"/>
              <c:spPr>
                <a:solidFill>
                  <a:schemeClr val="accent1">
                    <a:lumMod val="60000"/>
                  </a:schemeClr>
                </a:solidFill>
                <a:ln w="9525">
                  <a:solidFill>
                    <a:schemeClr val="accent1">
                      <a:lumMod val="60000"/>
                    </a:schemeClr>
                  </a:solidFill>
                </a:ln>
                <a:effectLst/>
              </c:spPr>
            </c:marker>
            <c:bubble3D val="0"/>
            <c:spPr>
              <a:ln w="28575" cap="rnd">
                <a:solidFill>
                  <a:schemeClr val="accent2"/>
                </a:solidFill>
                <a:prstDash val="dash"/>
                <a:round/>
              </a:ln>
              <a:effectLst/>
            </c:spPr>
            <c:extLst>
              <c:ext xmlns:c16="http://schemas.microsoft.com/office/drawing/2014/chart" uri="{C3380CC4-5D6E-409C-BE32-E72D297353CC}">
                <c16:uniqueId val="{00000009-40DC-4A81-92F3-2A3531D2289F}"/>
              </c:ext>
            </c:extLst>
          </c:dPt>
          <c:dPt>
            <c:idx val="3"/>
            <c:marker>
              <c:symbol val="circle"/>
              <c:size val="5"/>
              <c:spPr>
                <a:solidFill>
                  <a:schemeClr val="accent1">
                    <a:lumMod val="60000"/>
                  </a:schemeClr>
                </a:solidFill>
                <a:ln w="9525">
                  <a:solidFill>
                    <a:schemeClr val="accent1">
                      <a:lumMod val="60000"/>
                    </a:schemeClr>
                  </a:solidFill>
                </a:ln>
                <a:effectLst/>
              </c:spPr>
            </c:marker>
            <c:bubble3D val="0"/>
            <c:spPr>
              <a:ln w="28575" cap="rnd">
                <a:solidFill>
                  <a:schemeClr val="accent6"/>
                </a:solidFill>
                <a:prstDash val="dash"/>
                <a:round/>
              </a:ln>
              <a:effectLst/>
            </c:spPr>
            <c:extLst>
              <c:ext xmlns:c16="http://schemas.microsoft.com/office/drawing/2014/chart" uri="{C3380CC4-5D6E-409C-BE32-E72D297353CC}">
                <c16:uniqueId val="{0000000B-40DC-4A81-92F3-2A3531D2289F}"/>
              </c:ext>
            </c:extLst>
          </c:dPt>
          <c:dPt>
            <c:idx val="4"/>
            <c:marker>
              <c:symbol val="circle"/>
              <c:size val="5"/>
              <c:spPr>
                <a:solidFill>
                  <a:schemeClr val="accent1">
                    <a:lumMod val="60000"/>
                  </a:schemeClr>
                </a:solidFill>
                <a:ln w="9525">
                  <a:solidFill>
                    <a:schemeClr val="accent1">
                      <a:lumMod val="60000"/>
                    </a:schemeClr>
                  </a:solidFill>
                </a:ln>
                <a:effectLst/>
              </c:spPr>
            </c:marker>
            <c:bubble3D val="0"/>
            <c:spPr>
              <a:ln w="28575" cap="rnd">
                <a:solidFill>
                  <a:schemeClr val="accent6"/>
                </a:solidFill>
                <a:round/>
              </a:ln>
              <a:effectLst/>
            </c:spPr>
            <c:extLst>
              <c:ext xmlns:c16="http://schemas.microsoft.com/office/drawing/2014/chart" uri="{C3380CC4-5D6E-409C-BE32-E72D297353CC}">
                <c16:uniqueId val="{0000000C-40DC-4A81-92F3-2A3531D2289F}"/>
              </c:ext>
            </c:extLst>
          </c:dPt>
          <c:dPt>
            <c:idx val="5"/>
            <c:marker>
              <c:symbol val="circle"/>
              <c:size val="5"/>
              <c:spPr>
                <a:solidFill>
                  <a:schemeClr val="accent1">
                    <a:lumMod val="60000"/>
                  </a:schemeClr>
                </a:solidFill>
                <a:ln w="9525">
                  <a:solidFill>
                    <a:schemeClr val="accent1">
                      <a:lumMod val="60000"/>
                    </a:schemeClr>
                  </a:solidFill>
                </a:ln>
                <a:effectLst/>
              </c:spPr>
            </c:marker>
            <c:bubble3D val="0"/>
            <c:spPr>
              <a:ln w="28575" cap="rnd">
                <a:solidFill>
                  <a:schemeClr val="accent6"/>
                </a:solidFill>
                <a:round/>
              </a:ln>
              <a:effectLst/>
            </c:spPr>
            <c:extLst>
              <c:ext xmlns:c16="http://schemas.microsoft.com/office/drawing/2014/chart" uri="{C3380CC4-5D6E-409C-BE32-E72D297353CC}">
                <c16:uniqueId val="{0000000D-40DC-4A81-92F3-2A3531D2289F}"/>
              </c:ext>
            </c:extLst>
          </c:dPt>
          <c:dLbls>
            <c:dLbl>
              <c:idx val="1"/>
              <c:layout>
                <c:manualLayout>
                  <c:x val="-8.143585686398562E-2"/>
                  <c:y val="4.6666543241262494E-2"/>
                </c:manualLayout>
              </c:layout>
              <c:numFmt formatCode="0.0%" sourceLinked="0"/>
              <c:spPr>
                <a:solidFill>
                  <a:schemeClr val="accent2"/>
                </a:solid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bg1"/>
                      </a:solidFill>
                      <a:latin typeface="+mn-lt"/>
                      <a:ea typeface="+mn-ea"/>
                      <a:cs typeface="+mn-cs"/>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40DC-4A81-92F3-2A3531D2289F}"/>
                </c:ext>
              </c:extLst>
            </c:dLbl>
            <c:numFmt formatCode="0.0%" sourceLinked="0"/>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FY20</c:v>
                </c:pt>
                <c:pt idx="1">
                  <c:v>FY21</c:v>
                </c:pt>
                <c:pt idx="2">
                  <c:v>FY22</c:v>
                </c:pt>
                <c:pt idx="3">
                  <c:v>FY26</c:v>
                </c:pt>
                <c:pt idx="4">
                  <c:v>FY30</c:v>
                </c:pt>
              </c:strCache>
            </c:strRef>
          </c:cat>
          <c:val>
            <c:numRef>
              <c:f>Sheet1!$H$2:$H$6</c:f>
              <c:numCache>
                <c:formatCode>0%</c:formatCode>
                <c:ptCount val="5"/>
                <c:pt idx="1">
                  <c:v>7.8E-2</c:v>
                </c:pt>
                <c:pt idx="2" formatCode="0.0%">
                  <c:v>7.5999999999999998E-2</c:v>
                </c:pt>
                <c:pt idx="3" formatCode="0.0%">
                  <c:v>6.7000000000000004E-2</c:v>
                </c:pt>
                <c:pt idx="4" formatCode="0.00%">
                  <c:v>5.8999999999999997E-2</c:v>
                </c:pt>
              </c:numCache>
            </c:numRef>
          </c:val>
          <c:smooth val="0"/>
          <c:extLst>
            <c:ext xmlns:c16="http://schemas.microsoft.com/office/drawing/2014/chart" uri="{C3380CC4-5D6E-409C-BE32-E72D297353CC}">
              <c16:uniqueId val="{00000007-40DC-4A81-92F3-2A3531D2289F}"/>
            </c:ext>
          </c:extLst>
        </c:ser>
        <c:dLbls>
          <c:showLegendKey val="0"/>
          <c:showVal val="0"/>
          <c:showCatName val="0"/>
          <c:showSerName val="0"/>
          <c:showPercent val="0"/>
          <c:showBubbleSize val="0"/>
        </c:dLbls>
        <c:marker val="1"/>
        <c:smooth val="0"/>
        <c:axId val="963131672"/>
        <c:axId val="963132984"/>
      </c:lineChart>
      <c:catAx>
        <c:axId val="963131672"/>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n-US"/>
          </a:p>
        </c:txPr>
        <c:crossAx val="963132984"/>
        <c:crosses val="autoZero"/>
        <c:auto val="1"/>
        <c:lblAlgn val="ctr"/>
        <c:lblOffset val="100"/>
        <c:noMultiLvlLbl val="0"/>
      </c:catAx>
      <c:valAx>
        <c:axId val="963132984"/>
        <c:scaling>
          <c:orientation val="minMax"/>
        </c:scaling>
        <c:delete val="1"/>
        <c:axPos val="l"/>
        <c:numFmt formatCode="0.0%" sourceLinked="1"/>
        <c:majorTickMark val="none"/>
        <c:minorTickMark val="none"/>
        <c:tickLblPos val="nextTo"/>
        <c:crossAx val="963131672"/>
        <c:crosses val="autoZero"/>
        <c:crossBetween val="between"/>
      </c:valAx>
      <c:spPr>
        <a:noFill/>
        <a:ln>
          <a:noFill/>
        </a:ln>
        <a:effectLst/>
      </c:spPr>
    </c:plotArea>
    <c:legend>
      <c:legendPos val="b"/>
      <c:legendEntry>
        <c:idx val="3"/>
        <c:delete val="1"/>
      </c:legendEntry>
      <c:legendEntry>
        <c:idx val="4"/>
        <c:delete val="1"/>
      </c:legendEntry>
      <c:legendEntry>
        <c:idx val="5"/>
        <c:delete val="1"/>
      </c:legendEntry>
      <c:layout>
        <c:manualLayout>
          <c:xMode val="edge"/>
          <c:yMode val="edge"/>
          <c:x val="1.5018822661241535E-2"/>
          <c:y val="0.7877349629153283"/>
          <c:w val="0.98338145189137416"/>
          <c:h val="0.17785378559893644"/>
        </c:manualLayout>
      </c:layout>
      <c:overlay val="0"/>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800">
          <a:solidFill>
            <a:schemeClr val="tx1"/>
          </a:solidFill>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14474118034949E-2"/>
          <c:y val="9.4356261022927684E-2"/>
          <c:w val="0.96571051763930105"/>
          <c:h val="0.85978835978835977"/>
        </c:manualLayout>
      </c:layout>
      <c:barChart>
        <c:barDir val="col"/>
        <c:grouping val="clustered"/>
        <c:varyColors val="0"/>
        <c:ser>
          <c:idx val="0"/>
          <c:order val="0"/>
          <c:spPr>
            <a:solidFill>
              <a:srgbClr val="86BC25"/>
            </a:solidFill>
            <a:ln>
              <a:noFill/>
            </a:ln>
          </c:spPr>
          <c:invertIfNegative val="0"/>
          <c:dLbls>
            <c:dLbl>
              <c:idx val="0"/>
              <c:layout>
                <c:manualLayout>
                  <c:x val="-6.923837784371909E-3"/>
                  <c:y val="-0.21693121693121692"/>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872A-4E8D-AF16-94800A8044DF}"/>
                </c:ext>
              </c:extLst>
            </c:dLbl>
            <c:dLbl>
              <c:idx val="1"/>
              <c:layout>
                <c:manualLayout>
                  <c:x val="-5.6050115397296403E-3"/>
                  <c:y val="-0.35449735449735448"/>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872A-4E8D-AF16-94800A8044DF}"/>
                </c:ext>
              </c:extLst>
            </c:dLbl>
            <c:dLbl>
              <c:idx val="2"/>
              <c:layout>
                <c:manualLayout>
                  <c:x val="-5.6050115397296403E-3"/>
                  <c:y val="-0.45061728395061729"/>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872A-4E8D-AF16-94800A8044D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13932.348713333333</c:v>
                </c:pt>
                <c:pt idx="1">
                  <c:v>25431.186040639313</c:v>
                </c:pt>
                <c:pt idx="2">
                  <c:v>33366.056566129766</c:v>
                </c:pt>
              </c:numCache>
            </c:numRef>
          </c:val>
          <c:extLst>
            <c:ext xmlns:c16="http://schemas.microsoft.com/office/drawing/2014/chart" uri="{C3380CC4-5D6E-409C-BE32-E72D297353CC}">
              <c16:uniqueId val="{00000003-872A-4E8D-AF16-94800A8044DF}"/>
            </c:ext>
          </c:extLst>
        </c:ser>
        <c:ser>
          <c:idx val="1"/>
          <c:order val="1"/>
          <c:spPr>
            <a:solidFill>
              <a:srgbClr val="046A38"/>
            </a:solidFill>
            <a:ln>
              <a:noFill/>
            </a:ln>
          </c:spPr>
          <c:invertIfNegative val="0"/>
          <c:dLbls>
            <c:dLbl>
              <c:idx val="0"/>
              <c:layout>
                <c:manualLayout>
                  <c:x val="-5.6050115397296403E-3"/>
                  <c:y val="-0.29012345679012347"/>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872A-4E8D-AF16-94800A8044D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13499.783333333335</c:v>
                </c:pt>
                <c:pt idx="1">
                  <c:v>23714.27437905148</c:v>
                </c:pt>
                <c:pt idx="2">
                  <c:v>31132.416189897987</c:v>
                </c:pt>
              </c:numCache>
            </c:numRef>
          </c:val>
          <c:extLst>
            <c:ext xmlns:c16="http://schemas.microsoft.com/office/drawing/2014/chart" uri="{C3380CC4-5D6E-409C-BE32-E72D297353CC}">
              <c16:uniqueId val="{00000005-872A-4E8D-AF16-94800A8044DF}"/>
            </c:ext>
          </c:extLst>
        </c:ser>
        <c:ser>
          <c:idx val="2"/>
          <c:order val="2"/>
          <c:spPr>
            <a:solidFill>
              <a:srgbClr val="62B5E5"/>
            </a:solidFill>
            <a:ln>
              <a:noFill/>
            </a:ln>
          </c:spPr>
          <c:invertIfNegative val="0"/>
          <c:dLbls>
            <c:dLbl>
              <c:idx val="0"/>
              <c:layout>
                <c:manualLayout>
                  <c:x val="7.2535443455324757E-3"/>
                  <c:y val="-0.22486772486772486"/>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872A-4E8D-AF16-94800A8044DF}"/>
                </c:ext>
              </c:extLst>
            </c:dLbl>
            <c:dLbl>
              <c:idx val="1"/>
              <c:layout>
                <c:manualLayout>
                  <c:x val="0"/>
                  <c:y val="-0.37654320987654322"/>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872A-4E8D-AF16-94800A8044DF}"/>
                </c:ext>
              </c:extLst>
            </c:dLbl>
            <c:dLbl>
              <c:idx val="2"/>
              <c:layout>
                <c:manualLayout>
                  <c:x val="0"/>
                  <c:y val="-0.47883597883597884"/>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872A-4E8D-AF16-94800A8044D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Sheet1!$A$3:$C$3</c:f>
              <c:numCache>
                <c:formatCode>General</c:formatCode>
                <c:ptCount val="3"/>
                <c:pt idx="0">
                  <c:v>14581.196783333333</c:v>
                </c:pt>
                <c:pt idx="1">
                  <c:v>27203.845205987509</c:v>
                </c:pt>
                <c:pt idx="2">
                  <c:v>35672.222441523285</c:v>
                </c:pt>
              </c:numCache>
            </c:numRef>
          </c:val>
          <c:extLst>
            <c:ext xmlns:c16="http://schemas.microsoft.com/office/drawing/2014/chart" uri="{C3380CC4-5D6E-409C-BE32-E72D297353CC}">
              <c16:uniqueId val="{00000009-872A-4E8D-AF16-94800A8044DF}"/>
            </c:ext>
          </c:extLst>
        </c:ser>
        <c:dLbls>
          <c:showLegendKey val="0"/>
          <c:showVal val="0"/>
          <c:showCatName val="0"/>
          <c:showSerName val="0"/>
          <c:showPercent val="0"/>
          <c:showBubbleSize val="0"/>
        </c:dLbls>
        <c:gapWidth val="150"/>
        <c:axId val="665865584"/>
        <c:axId val="1"/>
      </c:barChart>
      <c:catAx>
        <c:axId val="665865584"/>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800">
                <a:latin typeface="+mn-lt"/>
                <a:ea typeface="+mn-ea"/>
                <a:cs typeface="+mn-cs"/>
                <a:sym typeface="+mn-lt"/>
              </a:defRPr>
            </a:pPr>
            <a:endParaRPr lang="en-US"/>
          </a:p>
        </c:txPr>
        <c:crossAx val="1"/>
        <c:crosses val="min"/>
        <c:auto val="0"/>
        <c:lblAlgn val="ctr"/>
        <c:lblOffset val="100"/>
        <c:noMultiLvlLbl val="0"/>
      </c:catAx>
      <c:valAx>
        <c:axId val="1"/>
        <c:scaling>
          <c:orientation val="minMax"/>
          <c:max val="35672.222441523285"/>
          <c:min val="0"/>
        </c:scaling>
        <c:delete val="1"/>
        <c:axPos val="l"/>
        <c:numFmt formatCode="General" sourceLinked="1"/>
        <c:majorTickMark val="out"/>
        <c:minorTickMark val="none"/>
        <c:tickLblPos val="nextTo"/>
        <c:crossAx val="665865584"/>
        <c:crosses val="min"/>
        <c:crossBetween val="between"/>
      </c:valAx>
    </c:plotArea>
    <c:plotVisOnly val="0"/>
    <c:dispBlanksAs val="gap"/>
    <c:showDLblsOverMax val="1"/>
  </c:chart>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910569105691057E-2"/>
          <c:y val="0.10862944162436548"/>
          <c:w val="0.96617886178861789"/>
          <c:h val="0.83857868020304571"/>
        </c:manualLayout>
      </c:layout>
      <c:barChart>
        <c:barDir val="col"/>
        <c:grouping val="clustered"/>
        <c:varyColors val="0"/>
        <c:ser>
          <c:idx val="0"/>
          <c:order val="0"/>
          <c:spPr>
            <a:solidFill>
              <a:srgbClr val="62B5E5"/>
            </a:solidFill>
            <a:ln>
              <a:noFill/>
            </a:ln>
          </c:spPr>
          <c:invertIfNegative val="0"/>
          <c:dLbls>
            <c:dLbl>
              <c:idx val="0"/>
              <c:layout>
                <c:manualLayout>
                  <c:x val="0"/>
                  <c:y val="-0.2101522842639594"/>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9C0E-474D-99B4-35FDB6B35835}"/>
                </c:ext>
              </c:extLst>
            </c:dLbl>
            <c:dLbl>
              <c:idx val="1"/>
              <c:layout>
                <c:manualLayout>
                  <c:x val="0"/>
                  <c:y val="-0.34111675126903551"/>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9C0E-474D-99B4-35FDB6B35835}"/>
                </c:ext>
              </c:extLst>
            </c:dLbl>
            <c:dLbl>
              <c:idx val="2"/>
              <c:layout>
                <c:manualLayout>
                  <c:x val="0"/>
                  <c:y val="-0.44873096446700506"/>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9C0E-474D-99B4-35FDB6B3583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8447.1830248939987</c:v>
                </c:pt>
                <c:pt idx="1">
                  <c:v>15673.239956846008</c:v>
                </c:pt>
                <c:pt idx="2">
                  <c:v>21561</c:v>
                </c:pt>
              </c:numCache>
            </c:numRef>
          </c:val>
          <c:extLst>
            <c:ext xmlns:c16="http://schemas.microsoft.com/office/drawing/2014/chart" uri="{C3380CC4-5D6E-409C-BE32-E72D297353CC}">
              <c16:uniqueId val="{00000003-9C0E-474D-99B4-35FDB6B35835}"/>
            </c:ext>
          </c:extLst>
        </c:ser>
        <c:ser>
          <c:idx val="1"/>
          <c:order val="1"/>
          <c:spPr>
            <a:solidFill>
              <a:srgbClr val="046A38"/>
            </a:solidFill>
            <a:ln>
              <a:noFill/>
            </a:ln>
          </c:spPr>
          <c:invertIfNegative val="0"/>
          <c:dLbls>
            <c:dLbl>
              <c:idx val="0"/>
              <c:layout>
                <c:manualLayout>
                  <c:x val="0"/>
                  <c:y val="-0.20406091370558377"/>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9C0E-474D-99B4-35FDB6B35835}"/>
                </c:ext>
              </c:extLst>
            </c:dLbl>
            <c:dLbl>
              <c:idx val="1"/>
              <c:layout>
                <c:manualLayout>
                  <c:x val="0"/>
                  <c:y val="-0.32182741116751268"/>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9C0E-474D-99B4-35FDB6B35835}"/>
                </c:ext>
              </c:extLst>
            </c:dLbl>
            <c:dLbl>
              <c:idx val="2"/>
              <c:layout>
                <c:manualLayout>
                  <c:x val="0"/>
                  <c:y val="-0.42233502538071066"/>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9C0E-474D-99B4-35FDB6B3583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8184.918635</c:v>
                </c:pt>
                <c:pt idx="1">
                  <c:v>14615.107299809426</c:v>
                </c:pt>
                <c:pt idx="2">
                  <c:v>20118</c:v>
                </c:pt>
              </c:numCache>
            </c:numRef>
          </c:val>
          <c:extLst>
            <c:ext xmlns:c16="http://schemas.microsoft.com/office/drawing/2014/chart" uri="{C3380CC4-5D6E-409C-BE32-E72D297353CC}">
              <c16:uniqueId val="{00000007-9C0E-474D-99B4-35FDB6B35835}"/>
            </c:ext>
          </c:extLst>
        </c:ser>
        <c:ser>
          <c:idx val="2"/>
          <c:order val="2"/>
          <c:spPr>
            <a:solidFill>
              <a:srgbClr val="86BC25"/>
            </a:solidFill>
            <a:ln>
              <a:noFill/>
            </a:ln>
          </c:spPr>
          <c:invertIfNegative val="0"/>
          <c:dLbls>
            <c:dLbl>
              <c:idx val="0"/>
              <c:layout>
                <c:manualLayout>
                  <c:x val="0"/>
                  <c:y val="-0.21725888324873097"/>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9C0E-474D-99B4-35FDB6B35835}"/>
                </c:ext>
              </c:extLst>
            </c:dLbl>
            <c:dLbl>
              <c:idx val="1"/>
              <c:layout>
                <c:manualLayout>
                  <c:x val="0"/>
                  <c:y val="-0.3614213197969543"/>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9C0E-474D-99B4-35FDB6B35835}"/>
                </c:ext>
              </c:extLst>
            </c:dLbl>
            <c:dLbl>
              <c:idx val="2"/>
              <c:layout>
                <c:manualLayout>
                  <c:x val="0"/>
                  <c:y val="-0.47512690355329951"/>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9C0E-474D-99B4-35FDB6B3583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Sheet1!$A$3:$C$3</c:f>
              <c:numCache>
                <c:formatCode>General</c:formatCode>
                <c:ptCount val="3"/>
                <c:pt idx="0">
                  <c:v>8840.5796097349994</c:v>
                </c:pt>
                <c:pt idx="1">
                  <c:v>16765.729800450099</c:v>
                </c:pt>
                <c:pt idx="2">
                  <c:v>23051</c:v>
                </c:pt>
              </c:numCache>
            </c:numRef>
          </c:val>
          <c:extLst>
            <c:ext xmlns:c16="http://schemas.microsoft.com/office/drawing/2014/chart" uri="{C3380CC4-5D6E-409C-BE32-E72D297353CC}">
              <c16:uniqueId val="{0000000B-9C0E-474D-99B4-35FDB6B35835}"/>
            </c:ext>
          </c:extLst>
        </c:ser>
        <c:dLbls>
          <c:showLegendKey val="0"/>
          <c:showVal val="0"/>
          <c:showCatName val="0"/>
          <c:showSerName val="0"/>
          <c:showPercent val="0"/>
          <c:showBubbleSize val="0"/>
        </c:dLbls>
        <c:gapWidth val="80"/>
        <c:axId val="651092784"/>
        <c:axId val="1"/>
      </c:barChart>
      <c:catAx>
        <c:axId val="651092784"/>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800">
                <a:latin typeface="+mn-lt"/>
                <a:ea typeface="+mn-ea"/>
                <a:cs typeface="+mn-cs"/>
                <a:sym typeface="+mn-lt"/>
              </a:defRPr>
            </a:pPr>
            <a:endParaRPr lang="en-US"/>
          </a:p>
        </c:txPr>
        <c:crossAx val="1"/>
        <c:crosses val="min"/>
        <c:auto val="0"/>
        <c:lblAlgn val="ctr"/>
        <c:lblOffset val="100"/>
        <c:noMultiLvlLbl val="0"/>
      </c:catAx>
      <c:valAx>
        <c:axId val="1"/>
        <c:scaling>
          <c:orientation val="minMax"/>
          <c:max val="23051"/>
          <c:min val="0"/>
        </c:scaling>
        <c:delete val="1"/>
        <c:axPos val="l"/>
        <c:numFmt formatCode="General" sourceLinked="1"/>
        <c:majorTickMark val="out"/>
        <c:minorTickMark val="none"/>
        <c:tickLblPos val="nextTo"/>
        <c:crossAx val="651092784"/>
        <c:crosses val="min"/>
        <c:crossBetween val="between"/>
      </c:valAx>
    </c:plotArea>
    <c:plotVisOnly val="0"/>
    <c:dispBlanksAs val="gap"/>
    <c:showDLblsOverMax val="1"/>
  </c:chart>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5575364667747E-2"/>
          <c:y val="0.10862944162436548"/>
          <c:w val="0.96628849270664496"/>
          <c:h val="0.83857868020304571"/>
        </c:manualLayout>
      </c:layout>
      <c:barChart>
        <c:barDir val="col"/>
        <c:grouping val="clustered"/>
        <c:varyColors val="0"/>
        <c:ser>
          <c:idx val="0"/>
          <c:order val="0"/>
          <c:spPr>
            <a:solidFill>
              <a:srgbClr val="62B5E5"/>
            </a:solidFill>
            <a:ln>
              <a:noFill/>
            </a:ln>
          </c:spPr>
          <c:invertIfNegative val="0"/>
          <c:dLbls>
            <c:dLbl>
              <c:idx val="0"/>
              <c:layout>
                <c:manualLayout>
                  <c:x val="0"/>
                  <c:y val="-0.2101522842639594"/>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1BC-45A7-BF0C-1A699454E34D}"/>
                </c:ext>
              </c:extLst>
            </c:dLbl>
            <c:dLbl>
              <c:idx val="1"/>
              <c:layout>
                <c:manualLayout>
                  <c:x val="-6.4829821717990272E-3"/>
                  <c:y val="-0.34111675126903551"/>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71BC-45A7-BF0C-1A699454E34D}"/>
                </c:ext>
              </c:extLst>
            </c:dLbl>
            <c:dLbl>
              <c:idx val="2"/>
              <c:layout>
                <c:manualLayout>
                  <c:x val="-5.1863857374392216E-3"/>
                  <c:y val="-0.44873096446700506"/>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71BC-45A7-BF0C-1A699454E34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73997.323298071424</c:v>
                </c:pt>
                <c:pt idx="1">
                  <c:v>137297.58202197103</c:v>
                </c:pt>
                <c:pt idx="2">
                  <c:v>188875.63679656957</c:v>
                </c:pt>
              </c:numCache>
            </c:numRef>
          </c:val>
          <c:extLst>
            <c:ext xmlns:c16="http://schemas.microsoft.com/office/drawing/2014/chart" uri="{C3380CC4-5D6E-409C-BE32-E72D297353CC}">
              <c16:uniqueId val="{00000003-71BC-45A7-BF0C-1A699454E34D}"/>
            </c:ext>
          </c:extLst>
        </c:ser>
        <c:ser>
          <c:idx val="1"/>
          <c:order val="1"/>
          <c:spPr>
            <a:solidFill>
              <a:srgbClr val="046A38"/>
            </a:solidFill>
            <a:ln>
              <a:noFill/>
            </a:ln>
          </c:spPr>
          <c:invertIfNegative val="0"/>
          <c:dLbls>
            <c:dLbl>
              <c:idx val="0"/>
              <c:layout>
                <c:manualLayout>
                  <c:x val="0"/>
                  <c:y val="-0.20406091370558377"/>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71BC-45A7-BF0C-1A699454E34D}"/>
                </c:ext>
              </c:extLst>
            </c:dLbl>
            <c:dLbl>
              <c:idx val="1"/>
              <c:layout>
                <c:manualLayout>
                  <c:x val="0"/>
                  <c:y val="-0.4"/>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71BC-45A7-BF0C-1A699454E34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71699.887242600002</c:v>
                </c:pt>
                <c:pt idx="1">
                  <c:v>128028.33994633057</c:v>
                </c:pt>
                <c:pt idx="2">
                  <c:v>176231.64191514981</c:v>
                </c:pt>
              </c:numCache>
            </c:numRef>
          </c:val>
          <c:extLst>
            <c:ext xmlns:c16="http://schemas.microsoft.com/office/drawing/2014/chart" uri="{C3380CC4-5D6E-409C-BE32-E72D297353CC}">
              <c16:uniqueId val="{00000006-71BC-45A7-BF0C-1A699454E34D}"/>
            </c:ext>
          </c:extLst>
        </c:ser>
        <c:ser>
          <c:idx val="2"/>
          <c:order val="2"/>
          <c:spPr>
            <a:solidFill>
              <a:srgbClr val="86BC25"/>
            </a:solidFill>
            <a:ln>
              <a:noFill/>
            </a:ln>
          </c:spPr>
          <c:invertIfNegative val="0"/>
          <c:dLbls>
            <c:dLbl>
              <c:idx val="0"/>
              <c:layout>
                <c:manualLayout>
                  <c:x val="0"/>
                  <c:y val="-0.21725888324873097"/>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71BC-45A7-BF0C-1A699454E34D}"/>
                </c:ext>
              </c:extLst>
            </c:dLbl>
            <c:dLbl>
              <c:idx val="1"/>
              <c:layout>
                <c:manualLayout>
                  <c:x val="6.4829821717990272E-3"/>
                  <c:y val="-0.3614213197969543"/>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71BC-45A7-BF0C-1A699454E34D}"/>
                </c:ext>
              </c:extLst>
            </c:dLbl>
            <c:dLbl>
              <c:idx val="2"/>
              <c:layout>
                <c:manualLayout>
                  <c:x val="0"/>
                  <c:y val="-0.47512690355329951"/>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71BC-45A7-BF0C-1A699454E34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Sheet1!$A$3:$C$3</c:f>
              <c:numCache>
                <c:formatCode>General</c:formatCode>
                <c:ptCount val="3"/>
                <c:pt idx="0">
                  <c:v>77443.477381278586</c:v>
                </c:pt>
                <c:pt idx="1">
                  <c:v>146867.79305194286</c:v>
                </c:pt>
                <c:pt idx="2">
                  <c:v>201930.17764140014</c:v>
                </c:pt>
              </c:numCache>
            </c:numRef>
          </c:val>
          <c:extLst>
            <c:ext xmlns:c16="http://schemas.microsoft.com/office/drawing/2014/chart" uri="{C3380CC4-5D6E-409C-BE32-E72D297353CC}">
              <c16:uniqueId val="{0000000A-71BC-45A7-BF0C-1A699454E34D}"/>
            </c:ext>
          </c:extLst>
        </c:ser>
        <c:dLbls>
          <c:showLegendKey val="0"/>
          <c:showVal val="0"/>
          <c:showCatName val="0"/>
          <c:showSerName val="0"/>
          <c:showPercent val="0"/>
          <c:showBubbleSize val="0"/>
        </c:dLbls>
        <c:gapWidth val="80"/>
        <c:axId val="638266096"/>
        <c:axId val="1"/>
      </c:barChart>
      <c:catAx>
        <c:axId val="638266096"/>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800">
                <a:latin typeface="+mn-lt"/>
                <a:ea typeface="+mn-ea"/>
                <a:cs typeface="+mn-cs"/>
                <a:sym typeface="+mn-lt"/>
              </a:defRPr>
            </a:pPr>
            <a:endParaRPr lang="en-US"/>
          </a:p>
        </c:txPr>
        <c:crossAx val="1"/>
        <c:crosses val="min"/>
        <c:auto val="0"/>
        <c:lblAlgn val="ctr"/>
        <c:lblOffset val="100"/>
        <c:noMultiLvlLbl val="0"/>
      </c:catAx>
      <c:valAx>
        <c:axId val="1"/>
        <c:scaling>
          <c:orientation val="minMax"/>
          <c:max val="201930.17764140014"/>
          <c:min val="0"/>
        </c:scaling>
        <c:delete val="1"/>
        <c:axPos val="l"/>
        <c:numFmt formatCode="General" sourceLinked="1"/>
        <c:majorTickMark val="out"/>
        <c:minorTickMark val="none"/>
        <c:tickLblPos val="nextTo"/>
        <c:crossAx val="638266096"/>
        <c:crosses val="min"/>
        <c:crossBetween val="between"/>
      </c:valAx>
    </c:plotArea>
    <c:plotVisOnly val="0"/>
    <c:dispBlanksAs val="gap"/>
    <c:showDLblsOverMax val="1"/>
  </c:chart>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8.290816326530611E-3"/>
          <c:y val="0.10202286719437116"/>
          <c:w val="0.98341836734693866"/>
          <c:h val="0.85224274406332456"/>
        </c:manualLayout>
      </c:layout>
      <c:barChart>
        <c:barDir val="col"/>
        <c:grouping val="clustered"/>
        <c:varyColors val="0"/>
        <c:ser>
          <c:idx val="0"/>
          <c:order val="0"/>
          <c:spPr>
            <a:solidFill>
              <a:srgbClr val="012169"/>
            </a:solidFill>
            <a:ln>
              <a:noFill/>
            </a:ln>
          </c:spPr>
          <c:invertIfNegative val="0"/>
          <c:dLbls>
            <c:dLbl>
              <c:idx val="0"/>
              <c:layout>
                <c:manualLayout>
                  <c:x val="0"/>
                  <c:y val="-0.23043095866314864"/>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F5E3-4DAA-94F9-C0BE9EACFF57}"/>
                </c:ext>
              </c:extLst>
            </c:dLbl>
            <c:dLbl>
              <c:idx val="1"/>
              <c:layout>
                <c:manualLayout>
                  <c:x val="0"/>
                  <c:y val="-0.37642919964819699"/>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F5E3-4DAA-94F9-C0BE9EACFF57}"/>
                </c:ext>
              </c:extLst>
            </c:dLbl>
            <c:dLbl>
              <c:idx val="2"/>
              <c:layout>
                <c:manualLayout>
                  <c:x val="0"/>
                  <c:y val="-0.47845206684256814"/>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F5E3-4DAA-94F9-C0BE9EACFF5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15230.044853333333</c:v>
                </c:pt>
                <c:pt idx="1">
                  <c:v>27728</c:v>
                </c:pt>
                <c:pt idx="2">
                  <c:v>36353.615553177238</c:v>
                </c:pt>
              </c:numCache>
            </c:numRef>
          </c:val>
          <c:extLst>
            <c:ext xmlns:c16="http://schemas.microsoft.com/office/drawing/2014/chart" uri="{C3380CC4-5D6E-409C-BE32-E72D297353CC}">
              <c16:uniqueId val="{00000003-F5E3-4DAA-94F9-C0BE9EACFF57}"/>
            </c:ext>
          </c:extLst>
        </c:ser>
        <c:ser>
          <c:idx val="1"/>
          <c:order val="1"/>
          <c:spPr>
            <a:solidFill>
              <a:srgbClr val="62B5E5"/>
            </a:solidFill>
            <a:ln>
              <a:noFill/>
            </a:ln>
          </c:spPr>
          <c:invertIfNegative val="0"/>
          <c:dLbls>
            <c:dLbl>
              <c:idx val="0"/>
              <c:layout>
                <c:manualLayout>
                  <c:x val="0"/>
                  <c:y val="-0.21459982409850484"/>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F5E3-4DAA-94F9-C0BE9EACFF57}"/>
                </c:ext>
              </c:extLst>
            </c:dLbl>
            <c:dLbl>
              <c:idx val="1"/>
              <c:layout>
                <c:manualLayout>
                  <c:x val="0"/>
                  <c:y val="-0.35004397537379067"/>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F5E3-4DAA-94F9-C0BE9EACFF57}"/>
                </c:ext>
              </c:extLst>
            </c:dLbl>
            <c:dLbl>
              <c:idx val="2"/>
              <c:layout>
                <c:manualLayout>
                  <c:x val="0"/>
                  <c:y val="-0.44239226033421286"/>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F5E3-4DAA-94F9-C0BE9EACFF5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13932</c:v>
                </c:pt>
                <c:pt idx="1">
                  <c:v>25431.186040639313</c:v>
                </c:pt>
                <c:pt idx="2">
                  <c:v>33366</c:v>
                </c:pt>
              </c:numCache>
            </c:numRef>
          </c:val>
          <c:extLst>
            <c:ext xmlns:c16="http://schemas.microsoft.com/office/drawing/2014/chart" uri="{C3380CC4-5D6E-409C-BE32-E72D297353CC}">
              <c16:uniqueId val="{00000007-F5E3-4DAA-94F9-C0BE9EACFF57}"/>
            </c:ext>
          </c:extLst>
        </c:ser>
        <c:ser>
          <c:idx val="2"/>
          <c:order val="2"/>
          <c:spPr>
            <a:solidFill>
              <a:srgbClr val="046A38"/>
            </a:solidFill>
            <a:ln>
              <a:noFill/>
            </a:ln>
          </c:spPr>
          <c:invertIfNegative val="0"/>
          <c:dLbls>
            <c:dLbl>
              <c:idx val="0"/>
              <c:layout>
                <c:manualLayout>
                  <c:x val="0"/>
                  <c:y val="-0.21020228671943711"/>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F5E3-4DAA-94F9-C0BE9EACFF57}"/>
                </c:ext>
              </c:extLst>
            </c:dLbl>
            <c:dLbl>
              <c:idx val="1"/>
              <c:layout>
                <c:manualLayout>
                  <c:x val="0"/>
                  <c:y val="-0.32981530343007914"/>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F5E3-4DAA-94F9-C0BE9EACFF57}"/>
                </c:ext>
              </c:extLst>
            </c:dLbl>
            <c:dLbl>
              <c:idx val="2"/>
              <c:layout>
                <c:manualLayout>
                  <c:x val="0"/>
                  <c:y val="-0.41688654353562005"/>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F5E3-4DAA-94F9-C0BE9EACFF5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Sheet1!$A$3:$C$3</c:f>
              <c:numCache>
                <c:formatCode>General</c:formatCode>
                <c:ptCount val="3"/>
                <c:pt idx="0">
                  <c:v>13500</c:v>
                </c:pt>
                <c:pt idx="1">
                  <c:v>23714.27437905148</c:v>
                </c:pt>
                <c:pt idx="2">
                  <c:v>31132</c:v>
                </c:pt>
              </c:numCache>
            </c:numRef>
          </c:val>
          <c:extLst>
            <c:ext xmlns:c16="http://schemas.microsoft.com/office/drawing/2014/chart" uri="{C3380CC4-5D6E-409C-BE32-E72D297353CC}">
              <c16:uniqueId val="{0000000B-F5E3-4DAA-94F9-C0BE9EACFF57}"/>
            </c:ext>
          </c:extLst>
        </c:ser>
        <c:ser>
          <c:idx val="3"/>
          <c:order val="3"/>
          <c:spPr>
            <a:solidFill>
              <a:srgbClr val="86BC25"/>
            </a:solidFill>
            <a:ln>
              <a:noFill/>
            </a:ln>
          </c:spPr>
          <c:invertIfNegative val="0"/>
          <c:dLbls>
            <c:dLbl>
              <c:idx val="0"/>
              <c:layout>
                <c:manualLayout>
                  <c:x val="0"/>
                  <c:y val="-0.22339489885664029"/>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F5E3-4DAA-94F9-C0BE9EACFF57}"/>
                </c:ext>
              </c:extLst>
            </c:dLbl>
            <c:dLbl>
              <c:idx val="1"/>
              <c:layout>
                <c:manualLayout>
                  <c:x val="0"/>
                  <c:y val="-0.3702726473175022"/>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F5E3-4DAA-94F9-C0BE9EACFF57}"/>
                </c:ext>
              </c:extLst>
            </c:dLbl>
            <c:dLbl>
              <c:idx val="2"/>
              <c:layout>
                <c:manualLayout>
                  <c:x val="0"/>
                  <c:y val="-0.47053649956024624"/>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F5E3-4DAA-94F9-C0BE9EACFF5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Sheet1!$A$4:$C$4</c:f>
              <c:numCache>
                <c:formatCode>General</c:formatCode>
                <c:ptCount val="3"/>
                <c:pt idx="0">
                  <c:v>14581</c:v>
                </c:pt>
                <c:pt idx="1">
                  <c:v>27203.845205987509</c:v>
                </c:pt>
                <c:pt idx="2">
                  <c:v>35672</c:v>
                </c:pt>
              </c:numCache>
            </c:numRef>
          </c:val>
          <c:extLst>
            <c:ext xmlns:c16="http://schemas.microsoft.com/office/drawing/2014/chart" uri="{C3380CC4-5D6E-409C-BE32-E72D297353CC}">
              <c16:uniqueId val="{0000000F-F5E3-4DAA-94F9-C0BE9EACFF57}"/>
            </c:ext>
          </c:extLst>
        </c:ser>
        <c:dLbls>
          <c:showLegendKey val="0"/>
          <c:showVal val="0"/>
          <c:showCatName val="0"/>
          <c:showSerName val="0"/>
          <c:showPercent val="0"/>
          <c:showBubbleSize val="0"/>
        </c:dLbls>
        <c:gapWidth val="80"/>
        <c:axId val="638260192"/>
        <c:axId val="1"/>
      </c:barChart>
      <c:catAx>
        <c:axId val="638260192"/>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36353.615553177238"/>
          <c:min val="0"/>
        </c:scaling>
        <c:delete val="1"/>
        <c:axPos val="l"/>
        <c:numFmt formatCode="General" sourceLinked="1"/>
        <c:majorTickMark val="out"/>
        <c:minorTickMark val="none"/>
        <c:tickLblPos val="nextTo"/>
        <c:crossAx val="638260192"/>
        <c:crosses val="min"/>
        <c:crossBetween val="between"/>
      </c:valAx>
    </c:plotArea>
    <c:plotVisOnly val="0"/>
    <c:dispBlanksAs val="gap"/>
    <c:showDLblsOverMax val="1"/>
  </c:chart>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8.2921384149258481E-3"/>
          <c:y val="0.10770659238625813"/>
          <c:w val="0.98341572317014825"/>
          <c:h val="0.84401114206128136"/>
        </c:manualLayout>
      </c:layout>
      <c:barChart>
        <c:barDir val="col"/>
        <c:grouping val="clustered"/>
        <c:varyColors val="0"/>
        <c:ser>
          <c:idx val="0"/>
          <c:order val="0"/>
          <c:spPr>
            <a:solidFill>
              <a:srgbClr val="012169"/>
            </a:solidFill>
            <a:ln>
              <a:noFill/>
            </a:ln>
          </c:spPr>
          <c:invertIfNegative val="0"/>
          <c:dLbls>
            <c:dLbl>
              <c:idx val="0"/>
              <c:layout>
                <c:manualLayout>
                  <c:x val="0"/>
                  <c:y val="-0.22005571030640669"/>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7CF-4ADD-A07A-E5F0A7C61A40}"/>
                </c:ext>
              </c:extLst>
            </c:dLbl>
            <c:dLbl>
              <c:idx val="1"/>
              <c:layout>
                <c:manualLayout>
                  <c:x val="0"/>
                  <c:y val="-0.37418755803156917"/>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77CF-4ADD-A07A-E5F0A7C61A40}"/>
                </c:ext>
              </c:extLst>
            </c:dLbl>
            <c:dLbl>
              <c:idx val="2"/>
              <c:layout>
                <c:manualLayout>
                  <c:x val="0"/>
                  <c:y val="-0.47725162488393685"/>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77CF-4ADD-A07A-E5F0A7C61A4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9233.9761945759983</c:v>
                </c:pt>
                <c:pt idx="1">
                  <c:v>17809</c:v>
                </c:pt>
                <c:pt idx="2">
                  <c:v>23491.706370463133</c:v>
                </c:pt>
              </c:numCache>
            </c:numRef>
          </c:val>
          <c:extLst>
            <c:ext xmlns:c16="http://schemas.microsoft.com/office/drawing/2014/chart" uri="{C3380CC4-5D6E-409C-BE32-E72D297353CC}">
              <c16:uniqueId val="{00000003-77CF-4ADD-A07A-E5F0A7C61A40}"/>
            </c:ext>
          </c:extLst>
        </c:ser>
        <c:ser>
          <c:idx val="1"/>
          <c:order val="1"/>
          <c:spPr>
            <a:solidFill>
              <a:srgbClr val="62B5E5"/>
            </a:solidFill>
            <a:ln>
              <a:noFill/>
            </a:ln>
          </c:spPr>
          <c:invertIfNegative val="0"/>
          <c:dLbls>
            <c:dLbl>
              <c:idx val="0"/>
              <c:layout>
                <c:manualLayout>
                  <c:x val="0"/>
                  <c:y val="-0.20705663881151345"/>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77CF-4ADD-A07A-E5F0A7C61A40}"/>
                </c:ext>
              </c:extLst>
            </c:dLbl>
            <c:dLbl>
              <c:idx val="1"/>
              <c:layout>
                <c:manualLayout>
                  <c:x val="0"/>
                  <c:y val="-0.33611884865366759"/>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77CF-4ADD-A07A-E5F0A7C61A40}"/>
                </c:ext>
              </c:extLst>
            </c:dLbl>
            <c:dLbl>
              <c:idx val="2"/>
              <c:layout>
                <c:manualLayout>
                  <c:x val="0"/>
                  <c:y val="-0.44196843082636955"/>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77CF-4ADD-A07A-E5F0A7C61A4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8447.1830248939987</c:v>
                </c:pt>
                <c:pt idx="1">
                  <c:v>15673.239956846008</c:v>
                </c:pt>
                <c:pt idx="2">
                  <c:v>21561</c:v>
                </c:pt>
              </c:numCache>
            </c:numRef>
          </c:val>
          <c:extLst>
            <c:ext xmlns:c16="http://schemas.microsoft.com/office/drawing/2014/chart" uri="{C3380CC4-5D6E-409C-BE32-E72D297353CC}">
              <c16:uniqueId val="{00000007-77CF-4ADD-A07A-E5F0A7C61A40}"/>
            </c:ext>
          </c:extLst>
        </c:ser>
        <c:ser>
          <c:idx val="2"/>
          <c:order val="2"/>
          <c:spPr>
            <a:solidFill>
              <a:srgbClr val="046A38"/>
            </a:solidFill>
            <a:ln>
              <a:noFill/>
            </a:ln>
          </c:spPr>
          <c:invertIfNegative val="0"/>
          <c:dLbls>
            <c:dLbl>
              <c:idx val="0"/>
              <c:layout>
                <c:manualLayout>
                  <c:x val="0"/>
                  <c:y val="-0.20241411327762301"/>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77CF-4ADD-A07A-E5F0A7C61A40}"/>
                </c:ext>
              </c:extLst>
            </c:dLbl>
            <c:dLbl>
              <c:idx val="1"/>
              <c:layout>
                <c:manualLayout>
                  <c:x val="0"/>
                  <c:y val="-0.31754874651810583"/>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77CF-4ADD-A07A-E5F0A7C61A40}"/>
                </c:ext>
              </c:extLst>
            </c:dLbl>
            <c:dLbl>
              <c:idx val="2"/>
              <c:layout>
                <c:manualLayout>
                  <c:x val="0"/>
                  <c:y val="-0.41597028783658307"/>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77CF-4ADD-A07A-E5F0A7C61A4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Sheet1!$A$3:$C$3</c:f>
              <c:numCache>
                <c:formatCode>General</c:formatCode>
                <c:ptCount val="3"/>
                <c:pt idx="0">
                  <c:v>8184.918635</c:v>
                </c:pt>
                <c:pt idx="1">
                  <c:v>14615.107299809426</c:v>
                </c:pt>
                <c:pt idx="2">
                  <c:v>20118</c:v>
                </c:pt>
              </c:numCache>
            </c:numRef>
          </c:val>
          <c:extLst>
            <c:ext xmlns:c16="http://schemas.microsoft.com/office/drawing/2014/chart" uri="{C3380CC4-5D6E-409C-BE32-E72D297353CC}">
              <c16:uniqueId val="{0000000B-77CF-4ADD-A07A-E5F0A7C61A40}"/>
            </c:ext>
          </c:extLst>
        </c:ser>
        <c:ser>
          <c:idx val="3"/>
          <c:order val="3"/>
          <c:spPr>
            <a:solidFill>
              <a:srgbClr val="86BC25"/>
            </a:solidFill>
            <a:ln>
              <a:noFill/>
            </a:ln>
          </c:spPr>
          <c:invertIfNegative val="0"/>
          <c:dLbls>
            <c:dLbl>
              <c:idx val="0"/>
              <c:layout>
                <c:manualLayout>
                  <c:x val="0"/>
                  <c:y val="-0.21355617455896009"/>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77CF-4ADD-A07A-E5F0A7C61A40}"/>
                </c:ext>
              </c:extLst>
            </c:dLbl>
            <c:dLbl>
              <c:idx val="1"/>
              <c:layout>
                <c:manualLayout>
                  <c:x val="0"/>
                  <c:y val="-0.35654596100278552"/>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77CF-4ADD-A07A-E5F0A7C61A40}"/>
                </c:ext>
              </c:extLst>
            </c:dLbl>
            <c:dLbl>
              <c:idx val="2"/>
              <c:layout>
                <c:manualLayout>
                  <c:x val="0"/>
                  <c:y val="-0.46889507892293408"/>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77CF-4ADD-A07A-E5F0A7C61A4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Sheet1!$A$4:$C$4</c:f>
              <c:numCache>
                <c:formatCode>General</c:formatCode>
                <c:ptCount val="3"/>
                <c:pt idx="0">
                  <c:v>8840.5796097349994</c:v>
                </c:pt>
                <c:pt idx="1">
                  <c:v>16765.729800450099</c:v>
                </c:pt>
                <c:pt idx="2">
                  <c:v>23051</c:v>
                </c:pt>
              </c:numCache>
            </c:numRef>
          </c:val>
          <c:extLst>
            <c:ext xmlns:c16="http://schemas.microsoft.com/office/drawing/2014/chart" uri="{C3380CC4-5D6E-409C-BE32-E72D297353CC}">
              <c16:uniqueId val="{0000000F-77CF-4ADD-A07A-E5F0A7C61A40}"/>
            </c:ext>
          </c:extLst>
        </c:ser>
        <c:dLbls>
          <c:showLegendKey val="0"/>
          <c:showVal val="0"/>
          <c:showCatName val="0"/>
          <c:showSerName val="0"/>
          <c:showPercent val="0"/>
          <c:showBubbleSize val="0"/>
        </c:dLbls>
        <c:gapWidth val="80"/>
        <c:axId val="1187408032"/>
        <c:axId val="1"/>
      </c:barChart>
      <c:catAx>
        <c:axId val="1187408032"/>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23491.706370463133"/>
          <c:min val="0"/>
        </c:scaling>
        <c:delete val="1"/>
        <c:axPos val="l"/>
        <c:numFmt formatCode="General" sourceLinked="1"/>
        <c:majorTickMark val="out"/>
        <c:minorTickMark val="none"/>
        <c:tickLblPos val="nextTo"/>
        <c:crossAx val="1187408032"/>
        <c:crosses val="min"/>
        <c:crossBetween val="between"/>
      </c:valAx>
    </c:plotArea>
    <c:plotVisOnly val="0"/>
    <c:dispBlanksAs val="gap"/>
    <c:showDLblsOverMax val="1"/>
  </c:chart>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0498442367601251E-2"/>
          <c:y val="4.5256744995648392E-2"/>
          <c:w val="0.91838006230529601"/>
          <c:h val="0.90948651000870318"/>
        </c:manualLayout>
      </c:layout>
      <c:barChart>
        <c:barDir val="col"/>
        <c:grouping val="stacked"/>
        <c:varyColors val="0"/>
        <c:ser>
          <c:idx val="0"/>
          <c:order val="0"/>
          <c:spPr>
            <a:solidFill>
              <a:srgbClr val="6FC2B4"/>
            </a:solidFill>
            <a:ln>
              <a:noFill/>
            </a:ln>
          </c:spPr>
          <c:invertIfNegative val="0"/>
          <c:dPt>
            <c:idx val="2"/>
            <c:invertIfNegative val="0"/>
            <c:bubble3D val="0"/>
            <c:spPr>
              <a:solidFill>
                <a:srgbClr val="E3E48D"/>
              </a:solidFill>
              <a:ln>
                <a:noFill/>
              </a:ln>
            </c:spPr>
            <c:extLst>
              <c:ext xmlns:c16="http://schemas.microsoft.com/office/drawing/2014/chart" uri="{C3380CC4-5D6E-409C-BE32-E72D297353CC}">
                <c16:uniqueId val="{00000000-082B-49AC-BB3E-321A98753E4E}"/>
              </c:ext>
            </c:extLst>
          </c:dPt>
          <c:dLbls>
            <c:dLbl>
              <c:idx val="0"/>
              <c:layout>
                <c:manualLayout>
                  <c:x val="0"/>
                  <c:y val="-0.1906005221932115"/>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82B-49AC-BB3E-321A98753E4E}"/>
                </c:ext>
              </c:extLst>
            </c:dLbl>
            <c:dLbl>
              <c:idx val="1"/>
              <c:layout>
                <c:manualLayout>
                  <c:x val="0"/>
                  <c:y val="-0.3124456048738033"/>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82B-49AC-BB3E-321A98753E4E}"/>
                </c:ext>
              </c:extLst>
            </c:dLbl>
            <c:dLbl>
              <c:idx val="2"/>
              <c:layout>
                <c:manualLayout>
                  <c:x val="0"/>
                  <c:y val="-0.37859007832898173"/>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82B-49AC-BB3E-321A98753E4E}"/>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8447</c:v>
                </c:pt>
                <c:pt idx="1">
                  <c:v>15673</c:v>
                </c:pt>
                <c:pt idx="2">
                  <c:v>19591.25</c:v>
                </c:pt>
              </c:numCache>
            </c:numRef>
          </c:val>
          <c:extLst>
            <c:ext xmlns:c16="http://schemas.microsoft.com/office/drawing/2014/chart" uri="{C3380CC4-5D6E-409C-BE32-E72D297353CC}">
              <c16:uniqueId val="{00000003-082B-49AC-BB3E-321A98753E4E}"/>
            </c:ext>
          </c:extLst>
        </c:ser>
        <c:dLbls>
          <c:showLegendKey val="0"/>
          <c:showVal val="0"/>
          <c:showCatName val="0"/>
          <c:showSerName val="0"/>
          <c:showPercent val="0"/>
          <c:showBubbleSize val="0"/>
        </c:dLbls>
        <c:gapWidth val="150"/>
        <c:overlap val="100"/>
        <c:axId val="1269242744"/>
        <c:axId val="1"/>
      </c:barChart>
      <c:catAx>
        <c:axId val="1269242744"/>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800">
                <a:latin typeface="+mn-lt"/>
                <a:ea typeface="+mn-ea"/>
                <a:cs typeface="+mn-cs"/>
                <a:sym typeface="+mn-lt"/>
              </a:defRPr>
            </a:pPr>
            <a:endParaRPr lang="en-US"/>
          </a:p>
        </c:txPr>
        <c:crossAx val="1"/>
        <c:crossesAt val="0"/>
        <c:auto val="0"/>
        <c:lblAlgn val="ctr"/>
        <c:lblOffset val="100"/>
        <c:noMultiLvlLbl val="0"/>
      </c:catAx>
      <c:valAx>
        <c:axId val="1"/>
        <c:scaling>
          <c:orientation val="minMax"/>
          <c:max val="26950.6"/>
          <c:min val="-0.40000000000145519"/>
        </c:scaling>
        <c:delete val="1"/>
        <c:axPos val="l"/>
        <c:numFmt formatCode="General" sourceLinked="1"/>
        <c:majorTickMark val="out"/>
        <c:minorTickMark val="none"/>
        <c:tickLblPos val="nextTo"/>
        <c:crossAx val="1269242744"/>
        <c:crosses val="min"/>
        <c:crossBetween val="between"/>
      </c:valAx>
    </c:plotArea>
    <c:plotVisOnly val="0"/>
    <c:dispBlanksAs val="gap"/>
    <c:showDLblsOverMax val="1"/>
  </c:chart>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3100844069302531E-2"/>
          <c:y val="4.5256744995648392E-2"/>
          <c:w val="0.95379831186139485"/>
          <c:h val="0.90948651000870318"/>
        </c:manualLayout>
      </c:layout>
      <c:barChart>
        <c:barDir val="col"/>
        <c:grouping val="stacked"/>
        <c:varyColors val="0"/>
        <c:ser>
          <c:idx val="0"/>
          <c:order val="0"/>
          <c:spPr>
            <a:noFill/>
            <a:ln>
              <a:noFill/>
            </a:ln>
          </c:spPr>
          <c:invertIfNegative val="0"/>
          <c:dPt>
            <c:idx val="0"/>
            <c:invertIfNegative val="0"/>
            <c:bubble3D val="0"/>
            <c:spPr>
              <a:solidFill>
                <a:srgbClr val="86BC25"/>
              </a:solidFill>
              <a:ln>
                <a:noFill/>
              </a:ln>
            </c:spPr>
            <c:extLst>
              <c:ext xmlns:c16="http://schemas.microsoft.com/office/drawing/2014/chart" uri="{C3380CC4-5D6E-409C-BE32-E72D297353CC}">
                <c16:uniqueId val="{00000000-A260-4D97-8D11-4F606E2266A7}"/>
              </c:ext>
            </c:extLst>
          </c:dPt>
          <c:val>
            <c:numRef>
              <c:f>Sheet1!$A$1:$C$1</c:f>
              <c:numCache>
                <c:formatCode>General</c:formatCode>
                <c:ptCount val="3"/>
                <c:pt idx="0">
                  <c:v>30</c:v>
                </c:pt>
                <c:pt idx="1">
                  <c:v>13487.5</c:v>
                </c:pt>
                <c:pt idx="2">
                  <c:v>8721.5</c:v>
                </c:pt>
              </c:numCache>
            </c:numRef>
          </c:val>
          <c:extLst>
            <c:ext xmlns:c16="http://schemas.microsoft.com/office/drawing/2014/chart" uri="{C3380CC4-5D6E-409C-BE32-E72D297353CC}">
              <c16:uniqueId val="{00000001-A260-4D97-8D11-4F606E2266A7}"/>
            </c:ext>
          </c:extLst>
        </c:ser>
        <c:ser>
          <c:idx val="1"/>
          <c:order val="1"/>
          <c:spPr>
            <a:solidFill>
              <a:srgbClr val="046A38"/>
            </a:solidFill>
            <a:ln>
              <a:noFill/>
            </a:ln>
          </c:spPr>
          <c:invertIfNegative val="0"/>
          <c:dPt>
            <c:idx val="1"/>
            <c:invertIfNegative val="0"/>
            <c:bubble3D val="0"/>
            <c:spPr>
              <a:solidFill>
                <a:srgbClr val="012169"/>
              </a:solidFill>
              <a:ln>
                <a:noFill/>
              </a:ln>
            </c:spPr>
            <c:extLst>
              <c:ext xmlns:c16="http://schemas.microsoft.com/office/drawing/2014/chart" uri="{C3380CC4-5D6E-409C-BE32-E72D297353CC}">
                <c16:uniqueId val="{00000002-A260-4D97-8D11-4F606E2266A7}"/>
              </c:ext>
            </c:extLst>
          </c:dPt>
          <c:dPt>
            <c:idx val="2"/>
            <c:invertIfNegative val="0"/>
            <c:bubble3D val="0"/>
            <c:spPr>
              <a:solidFill>
                <a:srgbClr val="0097A9"/>
              </a:solidFill>
              <a:ln>
                <a:noFill/>
              </a:ln>
            </c:spPr>
            <c:extLst>
              <c:ext xmlns:c16="http://schemas.microsoft.com/office/drawing/2014/chart" uri="{C3380CC4-5D6E-409C-BE32-E72D297353CC}">
                <c16:uniqueId val="{00000003-A260-4D97-8D11-4F606E2266A7}"/>
              </c:ext>
            </c:extLst>
          </c:dPt>
          <c:dLbls>
            <c:dLbl>
              <c:idx val="2"/>
              <c:layout>
                <c:manualLayout>
                  <c:x val="0"/>
                  <c:y val="0"/>
                </c:manualLayout>
              </c:layout>
              <c:numFmt formatCode="#,##0;#,##0" sourceLinked="0"/>
              <c:spPr>
                <a:noFill/>
                <a:ln>
                  <a:noFill/>
                </a:ln>
              </c:spPr>
              <c:txPr>
                <a:bodyPr wrap="none"/>
                <a:lstStyle/>
                <a:p>
                  <a:pPr>
                    <a:defRPr sz="8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260-4D97-8D11-4F606E2266A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1160</c:v>
                </c:pt>
                <c:pt idx="1">
                  <c:v>0</c:v>
                </c:pt>
                <c:pt idx="2">
                  <c:v>3741</c:v>
                </c:pt>
              </c:numCache>
            </c:numRef>
          </c:val>
          <c:extLst>
            <c:ext xmlns:c16="http://schemas.microsoft.com/office/drawing/2014/chart" uri="{C3380CC4-5D6E-409C-BE32-E72D297353CC}">
              <c16:uniqueId val="{00000004-A260-4D97-8D11-4F606E2266A7}"/>
            </c:ext>
          </c:extLst>
        </c:ser>
        <c:ser>
          <c:idx val="2"/>
          <c:order val="2"/>
          <c:spPr>
            <a:solidFill>
              <a:srgbClr val="75787B"/>
            </a:solidFill>
            <a:ln>
              <a:noFill/>
            </a:ln>
          </c:spPr>
          <c:invertIfNegative val="0"/>
          <c:dPt>
            <c:idx val="0"/>
            <c:invertIfNegative val="0"/>
            <c:bubble3D val="0"/>
            <c:spPr>
              <a:solidFill>
                <a:srgbClr val="62B5E5"/>
              </a:solidFill>
              <a:ln>
                <a:noFill/>
              </a:ln>
            </c:spPr>
            <c:extLst>
              <c:ext xmlns:c16="http://schemas.microsoft.com/office/drawing/2014/chart" uri="{C3380CC4-5D6E-409C-BE32-E72D297353CC}">
                <c16:uniqueId val="{00000005-A260-4D97-8D11-4F606E2266A7}"/>
              </c:ext>
            </c:extLst>
          </c:dPt>
          <c:dPt>
            <c:idx val="1"/>
            <c:invertIfNegative val="0"/>
            <c:bubble3D val="0"/>
            <c:spPr>
              <a:solidFill>
                <a:srgbClr val="0097A9"/>
              </a:solidFill>
              <a:ln>
                <a:noFill/>
              </a:ln>
            </c:spPr>
            <c:extLst>
              <c:ext xmlns:c16="http://schemas.microsoft.com/office/drawing/2014/chart" uri="{C3380CC4-5D6E-409C-BE32-E72D297353CC}">
                <c16:uniqueId val="{00000006-A260-4D97-8D11-4F606E2266A7}"/>
              </c:ext>
            </c:extLst>
          </c:dPt>
          <c:val>
            <c:numRef>
              <c:f>Sheet1!$A$3:$C$3</c:f>
              <c:numCache>
                <c:formatCode>General</c:formatCode>
                <c:ptCount val="3"/>
                <c:pt idx="0">
                  <c:v>524</c:v>
                </c:pt>
                <c:pt idx="1">
                  <c:v>1029</c:v>
                </c:pt>
                <c:pt idx="2">
                  <c:v>1025</c:v>
                </c:pt>
              </c:numCache>
            </c:numRef>
          </c:val>
          <c:extLst>
            <c:ext xmlns:c16="http://schemas.microsoft.com/office/drawing/2014/chart" uri="{C3380CC4-5D6E-409C-BE32-E72D297353CC}">
              <c16:uniqueId val="{00000007-A260-4D97-8D11-4F606E2266A7}"/>
            </c:ext>
          </c:extLst>
        </c:ser>
        <c:ser>
          <c:idx val="3"/>
          <c:order val="3"/>
          <c:spPr>
            <a:solidFill>
              <a:srgbClr val="012169"/>
            </a:solidFill>
            <a:ln>
              <a:noFill/>
            </a:ln>
          </c:spPr>
          <c:invertIfNegative val="0"/>
          <c:dPt>
            <c:idx val="1"/>
            <c:invertIfNegative val="0"/>
            <c:bubble3D val="0"/>
            <c:spPr>
              <a:solidFill>
                <a:srgbClr val="75787B"/>
              </a:solidFill>
              <a:ln>
                <a:noFill/>
              </a:ln>
            </c:spPr>
            <c:extLst>
              <c:ext xmlns:c16="http://schemas.microsoft.com/office/drawing/2014/chart" uri="{C3380CC4-5D6E-409C-BE32-E72D297353CC}">
                <c16:uniqueId val="{00000008-A260-4D97-8D11-4F606E2266A7}"/>
              </c:ext>
            </c:extLst>
          </c:dPt>
          <c:dLbls>
            <c:dLbl>
              <c:idx val="1"/>
              <c:layout>
                <c:manualLayout>
                  <c:x val="0.12394491337183473"/>
                  <c:y val="-6.9625761531766752E-3"/>
                </c:manualLayout>
              </c:layout>
              <c:numFmt formatCode="#,##0;#,##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A260-4D97-8D11-4F606E2266A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Sheet1!$A$4:$C$4</c:f>
              <c:numCache>
                <c:formatCode>General</c:formatCode>
                <c:ptCount val="3"/>
                <c:pt idx="0">
                  <c:v>230</c:v>
                </c:pt>
                <c:pt idx="1">
                  <c:v>345</c:v>
                </c:pt>
              </c:numCache>
            </c:numRef>
          </c:val>
          <c:extLst>
            <c:ext xmlns:c16="http://schemas.microsoft.com/office/drawing/2014/chart" uri="{C3380CC4-5D6E-409C-BE32-E72D297353CC}">
              <c16:uniqueId val="{00000009-A260-4D97-8D11-4F606E2266A7}"/>
            </c:ext>
          </c:extLst>
        </c:ser>
        <c:ser>
          <c:idx val="4"/>
          <c:order val="4"/>
          <c:spPr>
            <a:solidFill>
              <a:srgbClr val="86BC25"/>
            </a:solidFill>
            <a:ln>
              <a:noFill/>
            </a:ln>
          </c:spPr>
          <c:invertIfNegative val="0"/>
          <c:dPt>
            <c:idx val="0"/>
            <c:invertIfNegative val="0"/>
            <c:bubble3D val="0"/>
            <c:spPr>
              <a:solidFill>
                <a:srgbClr val="0097A9"/>
              </a:solidFill>
              <a:ln>
                <a:noFill/>
              </a:ln>
            </c:spPr>
            <c:extLst>
              <c:ext xmlns:c16="http://schemas.microsoft.com/office/drawing/2014/chart" uri="{C3380CC4-5D6E-409C-BE32-E72D297353CC}">
                <c16:uniqueId val="{0000000A-A260-4D97-8D11-4F606E2266A7}"/>
              </c:ext>
            </c:extLst>
          </c:dPt>
          <c:dLbls>
            <c:dLbl>
              <c:idx val="0"/>
              <c:layout>
                <c:manualLayout>
                  <c:x val="0"/>
                  <c:y val="0"/>
                </c:manualLayout>
              </c:layout>
              <c:numFmt formatCode="#,##0;#,##0" sourceLinked="0"/>
              <c:spPr>
                <a:noFill/>
                <a:ln>
                  <a:noFill/>
                </a:ln>
              </c:spPr>
              <c:txPr>
                <a:bodyPr wrap="none"/>
                <a:lstStyle/>
                <a:p>
                  <a:pPr>
                    <a:defRPr sz="8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A260-4D97-8D11-4F606E2266A7}"/>
                </c:ext>
              </c:extLst>
            </c:dLbl>
            <c:dLbl>
              <c:idx val="1"/>
              <c:layout>
                <c:manualLayout>
                  <c:x val="0"/>
                  <c:y val="0"/>
                </c:manualLayout>
              </c:layout>
              <c:numFmt formatCode="#,##0;#,##0" sourceLinked="0"/>
              <c:spPr>
                <a:noFill/>
                <a:ln>
                  <a:noFill/>
                </a:ln>
              </c:spPr>
              <c:txPr>
                <a:bodyPr wrap="none"/>
                <a:lstStyle/>
                <a:p>
                  <a:pPr>
                    <a:defRPr sz="8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A260-4D97-8D11-4F606E2266A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Sheet1!$A$5:$C$5</c:f>
              <c:numCache>
                <c:formatCode>General</c:formatCode>
                <c:ptCount val="3"/>
                <c:pt idx="0">
                  <c:v>4770</c:v>
                </c:pt>
                <c:pt idx="1">
                  <c:v>4099.5</c:v>
                </c:pt>
              </c:numCache>
            </c:numRef>
          </c:val>
          <c:extLst>
            <c:ext xmlns:c16="http://schemas.microsoft.com/office/drawing/2014/chart" uri="{C3380CC4-5D6E-409C-BE32-E72D297353CC}">
              <c16:uniqueId val="{0000000C-A260-4D97-8D11-4F606E2266A7}"/>
            </c:ext>
          </c:extLst>
        </c:ser>
        <c:ser>
          <c:idx val="5"/>
          <c:order val="5"/>
          <c:spPr>
            <a:solidFill>
              <a:srgbClr val="75787B"/>
            </a:solidFill>
            <a:ln>
              <a:noFill/>
            </a:ln>
          </c:spPr>
          <c:invertIfNegative val="0"/>
          <c:val>
            <c:numRef>
              <c:f>Sheet1!$A$6:$C$6</c:f>
              <c:numCache>
                <c:formatCode>General</c:formatCode>
                <c:ptCount val="3"/>
                <c:pt idx="0">
                  <c:v>1370</c:v>
                </c:pt>
              </c:numCache>
            </c:numRef>
          </c:val>
          <c:extLst>
            <c:ext xmlns:c16="http://schemas.microsoft.com/office/drawing/2014/chart" uri="{C3380CC4-5D6E-409C-BE32-E72D297353CC}">
              <c16:uniqueId val="{0000000D-A260-4D97-8D11-4F606E2266A7}"/>
            </c:ext>
          </c:extLst>
        </c:ser>
        <c:ser>
          <c:idx val="6"/>
          <c:order val="6"/>
          <c:spPr>
            <a:solidFill>
              <a:srgbClr val="86BC25"/>
            </a:solidFill>
            <a:ln>
              <a:noFill/>
            </a:ln>
          </c:spPr>
          <c:invertIfNegative val="0"/>
          <c:dLbls>
            <c:dLbl>
              <c:idx val="0"/>
              <c:layout>
                <c:manualLayout>
                  <c:x val="0"/>
                  <c:y val="0"/>
                </c:manualLayout>
              </c:layout>
              <c:numFmt formatCode="#,##0;#,##0" sourceLinked="0"/>
              <c:spPr>
                <a:noFill/>
                <a:ln>
                  <a:noFill/>
                </a:ln>
              </c:spPr>
              <c:txPr>
                <a:bodyPr wrap="none"/>
                <a:lstStyle/>
                <a:p>
                  <a:pPr>
                    <a:defRPr sz="8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A260-4D97-8D11-4F606E2266A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Sheet1!$A$7:$C$7</c:f>
              <c:numCache>
                <c:formatCode>General</c:formatCode>
                <c:ptCount val="3"/>
                <c:pt idx="0">
                  <c:v>10877</c:v>
                </c:pt>
              </c:numCache>
            </c:numRef>
          </c:val>
          <c:extLst>
            <c:ext xmlns:c16="http://schemas.microsoft.com/office/drawing/2014/chart" uri="{C3380CC4-5D6E-409C-BE32-E72D297353CC}">
              <c16:uniqueId val="{0000000F-A260-4D97-8D11-4F606E2266A7}"/>
            </c:ext>
          </c:extLst>
        </c:ser>
        <c:dLbls>
          <c:showLegendKey val="0"/>
          <c:showVal val="0"/>
          <c:showCatName val="0"/>
          <c:showSerName val="0"/>
          <c:showPercent val="0"/>
          <c:showBubbleSize val="0"/>
        </c:dLbls>
        <c:gapWidth val="80"/>
        <c:overlap val="100"/>
        <c:axId val="859244328"/>
        <c:axId val="1"/>
      </c:barChart>
      <c:catAx>
        <c:axId val="859244328"/>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800">
                <a:latin typeface="+mn-lt"/>
                <a:ea typeface="+mn-ea"/>
                <a:cs typeface="+mn-cs"/>
                <a:sym typeface="+mn-lt"/>
              </a:defRPr>
            </a:pPr>
            <a:endParaRPr lang="en-US"/>
          </a:p>
        </c:txPr>
        <c:crossAx val="1"/>
        <c:crossesAt val="0"/>
        <c:auto val="0"/>
        <c:lblAlgn val="ctr"/>
        <c:lblOffset val="100"/>
        <c:noMultiLvlLbl val="0"/>
      </c:catAx>
      <c:valAx>
        <c:axId val="1"/>
        <c:scaling>
          <c:orientation val="minMax"/>
          <c:max val="26950.6"/>
          <c:min val="-0.40000000000145519"/>
        </c:scaling>
        <c:delete val="1"/>
        <c:axPos val="l"/>
        <c:numFmt formatCode="General" sourceLinked="1"/>
        <c:majorTickMark val="out"/>
        <c:minorTickMark val="none"/>
        <c:tickLblPos val="nextTo"/>
        <c:crossAx val="859244328"/>
        <c:crosses val="min"/>
        <c:crossBetween val="between"/>
      </c:valAx>
    </c:plotArea>
    <c:plotVisOnly val="0"/>
    <c:dispBlanksAs val="gap"/>
    <c:showDLblsOverMax val="1"/>
  </c:chart>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4401689347724072E-2"/>
          <c:y val="4.5256744995648392E-2"/>
          <c:w val="0.95119662130455185"/>
          <c:h val="0.90948651000870318"/>
        </c:manualLayout>
      </c:layout>
      <c:barChart>
        <c:barDir val="col"/>
        <c:grouping val="stacked"/>
        <c:varyColors val="0"/>
        <c:ser>
          <c:idx val="0"/>
          <c:order val="0"/>
          <c:spPr>
            <a:noFill/>
            <a:ln>
              <a:noFill/>
            </a:ln>
          </c:spPr>
          <c:invertIfNegative val="0"/>
          <c:dPt>
            <c:idx val="0"/>
            <c:invertIfNegative val="0"/>
            <c:bubble3D val="0"/>
            <c:spPr>
              <a:solidFill>
                <a:srgbClr val="A7A8AA"/>
              </a:solidFill>
              <a:ln>
                <a:noFill/>
              </a:ln>
            </c:spPr>
            <c:extLst>
              <c:ext xmlns:c16="http://schemas.microsoft.com/office/drawing/2014/chart" uri="{C3380CC4-5D6E-409C-BE32-E72D297353CC}">
                <c16:uniqueId val="{00000000-363F-4B23-9901-8112CE67B953}"/>
              </c:ext>
            </c:extLst>
          </c:dPt>
          <c:dPt>
            <c:idx val="2"/>
            <c:invertIfNegative val="0"/>
            <c:bubble3D val="0"/>
            <c:spPr>
              <a:solidFill>
                <a:srgbClr val="E3E48D"/>
              </a:solidFill>
              <a:ln>
                <a:noFill/>
              </a:ln>
            </c:spPr>
            <c:extLst>
              <c:ext xmlns:c16="http://schemas.microsoft.com/office/drawing/2014/chart" uri="{C3380CC4-5D6E-409C-BE32-E72D297353CC}">
                <c16:uniqueId val="{00000001-363F-4B23-9901-8112CE67B953}"/>
              </c:ext>
            </c:extLst>
          </c:dPt>
          <c:dLbls>
            <c:dLbl>
              <c:idx val="2"/>
              <c:layout>
                <c:manualLayout>
                  <c:x val="0"/>
                  <c:y val="-0.37859007832898173"/>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63F-4B23-9901-8112CE67B95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30</c:v>
                </c:pt>
                <c:pt idx="1">
                  <c:v>8721.5</c:v>
                </c:pt>
                <c:pt idx="2">
                  <c:v>19591</c:v>
                </c:pt>
              </c:numCache>
            </c:numRef>
          </c:val>
          <c:extLst>
            <c:ext xmlns:c16="http://schemas.microsoft.com/office/drawing/2014/chart" uri="{C3380CC4-5D6E-409C-BE32-E72D297353CC}">
              <c16:uniqueId val="{00000002-363F-4B23-9901-8112CE67B953}"/>
            </c:ext>
          </c:extLst>
        </c:ser>
        <c:ser>
          <c:idx val="1"/>
          <c:order val="1"/>
          <c:spPr>
            <a:solidFill>
              <a:srgbClr val="041E42"/>
            </a:solidFill>
            <a:ln>
              <a:noFill/>
            </a:ln>
          </c:spPr>
          <c:invertIfNegative val="0"/>
          <c:dPt>
            <c:idx val="0"/>
            <c:invertIfNegative val="0"/>
            <c:bubble3D val="0"/>
            <c:spPr>
              <a:solidFill>
                <a:schemeClr val="accent2"/>
              </a:solidFill>
              <a:ln>
                <a:noFill/>
              </a:ln>
            </c:spPr>
            <c:extLst>
              <c:ext xmlns:c16="http://schemas.microsoft.com/office/drawing/2014/chart" uri="{C3380CC4-5D6E-409C-BE32-E72D297353CC}">
                <c16:uniqueId val="{00000003-363F-4B23-9901-8112CE67B953}"/>
              </c:ext>
            </c:extLst>
          </c:dPt>
          <c:dLbls>
            <c:dLbl>
              <c:idx val="1"/>
              <c:layout>
                <c:manualLayout>
                  <c:x val="0"/>
                  <c:y val="0"/>
                </c:manualLayout>
              </c:layout>
              <c:numFmt formatCode="#,##0;#,##0" sourceLinked="0"/>
              <c:spPr>
                <a:noFill/>
                <a:ln>
                  <a:noFill/>
                </a:ln>
              </c:spPr>
              <c:txPr>
                <a:bodyPr wrap="none"/>
                <a:lstStyle/>
                <a:p>
                  <a:pPr>
                    <a:defRPr sz="8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63F-4B23-9901-8112CE67B95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1160</c:v>
                </c:pt>
                <c:pt idx="1">
                  <c:v>10869.5</c:v>
                </c:pt>
              </c:numCache>
            </c:numRef>
          </c:val>
          <c:extLst>
            <c:ext xmlns:c16="http://schemas.microsoft.com/office/drawing/2014/chart" uri="{C3380CC4-5D6E-409C-BE32-E72D297353CC}">
              <c16:uniqueId val="{00000005-363F-4B23-9901-8112CE67B953}"/>
            </c:ext>
          </c:extLst>
        </c:ser>
        <c:ser>
          <c:idx val="2"/>
          <c:order val="2"/>
          <c:spPr>
            <a:solidFill>
              <a:schemeClr val="accent3"/>
            </a:solidFill>
            <a:ln>
              <a:noFill/>
            </a:ln>
          </c:spPr>
          <c:invertIfNegative val="0"/>
          <c:val>
            <c:numRef>
              <c:f>Sheet1!$A$3:$C$3</c:f>
              <c:numCache>
                <c:formatCode>General</c:formatCode>
                <c:ptCount val="3"/>
                <c:pt idx="0">
                  <c:v>524</c:v>
                </c:pt>
              </c:numCache>
            </c:numRef>
          </c:val>
          <c:extLst>
            <c:ext xmlns:c16="http://schemas.microsoft.com/office/drawing/2014/chart" uri="{C3380CC4-5D6E-409C-BE32-E72D297353CC}">
              <c16:uniqueId val="{00000006-363F-4B23-9901-8112CE67B953}"/>
            </c:ext>
          </c:extLst>
        </c:ser>
        <c:ser>
          <c:idx val="3"/>
          <c:order val="3"/>
          <c:spPr>
            <a:solidFill>
              <a:schemeClr val="accent4"/>
            </a:solidFill>
            <a:ln>
              <a:noFill/>
            </a:ln>
          </c:spPr>
          <c:invertIfNegative val="0"/>
          <c:val>
            <c:numRef>
              <c:f>Sheet1!$A$4:$C$4</c:f>
              <c:numCache>
                <c:formatCode>General</c:formatCode>
                <c:ptCount val="3"/>
                <c:pt idx="0">
                  <c:v>230</c:v>
                </c:pt>
              </c:numCache>
            </c:numRef>
          </c:val>
          <c:extLst>
            <c:ext xmlns:c16="http://schemas.microsoft.com/office/drawing/2014/chart" uri="{C3380CC4-5D6E-409C-BE32-E72D297353CC}">
              <c16:uniqueId val="{00000007-363F-4B23-9901-8112CE67B953}"/>
            </c:ext>
          </c:extLst>
        </c:ser>
        <c:ser>
          <c:idx val="4"/>
          <c:order val="4"/>
          <c:spPr>
            <a:solidFill>
              <a:schemeClr val="accent5"/>
            </a:solidFill>
            <a:ln>
              <a:noFill/>
            </a:ln>
          </c:spPr>
          <c:invertIfNegative val="0"/>
          <c:val>
            <c:numRef>
              <c:f>Sheet1!$A$5:$C$5</c:f>
              <c:numCache>
                <c:formatCode>General</c:formatCode>
                <c:ptCount val="3"/>
                <c:pt idx="0">
                  <c:v>0</c:v>
                </c:pt>
              </c:numCache>
            </c:numRef>
          </c:val>
          <c:extLst>
            <c:ext xmlns:c16="http://schemas.microsoft.com/office/drawing/2014/chart" uri="{C3380CC4-5D6E-409C-BE32-E72D297353CC}">
              <c16:uniqueId val="{00000008-363F-4B23-9901-8112CE67B953}"/>
            </c:ext>
          </c:extLst>
        </c:ser>
        <c:ser>
          <c:idx val="5"/>
          <c:order val="5"/>
          <c:spPr>
            <a:solidFill>
              <a:schemeClr val="accent6"/>
            </a:solidFill>
            <a:ln>
              <a:noFill/>
            </a:ln>
          </c:spPr>
          <c:invertIfNegative val="0"/>
          <c:val>
            <c:numRef>
              <c:f>Sheet1!$A$6:$C$6</c:f>
              <c:numCache>
                <c:formatCode>General</c:formatCode>
                <c:ptCount val="3"/>
                <c:pt idx="0">
                  <c:v>0</c:v>
                </c:pt>
              </c:numCache>
            </c:numRef>
          </c:val>
          <c:extLst>
            <c:ext xmlns:c16="http://schemas.microsoft.com/office/drawing/2014/chart" uri="{C3380CC4-5D6E-409C-BE32-E72D297353CC}">
              <c16:uniqueId val="{00000009-363F-4B23-9901-8112CE67B953}"/>
            </c:ext>
          </c:extLst>
        </c:ser>
        <c:ser>
          <c:idx val="6"/>
          <c:order val="6"/>
          <c:spPr>
            <a:solidFill>
              <a:schemeClr val="accent1"/>
            </a:solidFill>
            <a:ln>
              <a:noFill/>
            </a:ln>
          </c:spPr>
          <c:invertIfNegative val="0"/>
          <c:dLbls>
            <c:dLbl>
              <c:idx val="0"/>
              <c:layout>
                <c:manualLayout>
                  <c:x val="0"/>
                  <c:y val="0"/>
                </c:manualLayout>
              </c:layout>
              <c:numFmt formatCode="#,##0;#,##0" sourceLinked="0"/>
              <c:spPr>
                <a:noFill/>
                <a:ln>
                  <a:noFill/>
                </a:ln>
              </c:spPr>
              <c:txPr>
                <a:bodyPr wrap="none"/>
                <a:lstStyle/>
                <a:p>
                  <a:pPr>
                    <a:defRPr sz="8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363F-4B23-9901-8112CE67B95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Sheet1!$A$7:$C$7</c:f>
              <c:numCache>
                <c:formatCode>General</c:formatCode>
                <c:ptCount val="3"/>
                <c:pt idx="0">
                  <c:v>6777.5</c:v>
                </c:pt>
              </c:numCache>
            </c:numRef>
          </c:val>
          <c:extLst>
            <c:ext xmlns:c16="http://schemas.microsoft.com/office/drawing/2014/chart" uri="{C3380CC4-5D6E-409C-BE32-E72D297353CC}">
              <c16:uniqueId val="{0000000B-363F-4B23-9901-8112CE67B953}"/>
            </c:ext>
          </c:extLst>
        </c:ser>
        <c:dLbls>
          <c:showLegendKey val="0"/>
          <c:showVal val="0"/>
          <c:showCatName val="0"/>
          <c:showSerName val="0"/>
          <c:showPercent val="0"/>
          <c:showBubbleSize val="0"/>
        </c:dLbls>
        <c:gapWidth val="80"/>
        <c:overlap val="100"/>
        <c:axId val="859236456"/>
        <c:axId val="1"/>
      </c:barChart>
      <c:catAx>
        <c:axId val="859236456"/>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800">
                <a:latin typeface="+mn-lt"/>
                <a:ea typeface="+mn-ea"/>
                <a:cs typeface="+mn-cs"/>
                <a:sym typeface="+mn-lt"/>
              </a:defRPr>
            </a:pPr>
            <a:endParaRPr lang="en-US"/>
          </a:p>
        </c:txPr>
        <c:crossAx val="1"/>
        <c:crossesAt val="0"/>
        <c:auto val="0"/>
        <c:lblAlgn val="ctr"/>
        <c:lblOffset val="100"/>
        <c:noMultiLvlLbl val="0"/>
      </c:catAx>
      <c:valAx>
        <c:axId val="1"/>
        <c:scaling>
          <c:orientation val="minMax"/>
          <c:max val="26950.6"/>
          <c:min val="-0.40000000000145519"/>
        </c:scaling>
        <c:delete val="1"/>
        <c:axPos val="l"/>
        <c:numFmt formatCode="General" sourceLinked="1"/>
        <c:majorTickMark val="out"/>
        <c:minorTickMark val="none"/>
        <c:tickLblPos val="nextTo"/>
        <c:crossAx val="859236456"/>
        <c:crosses val="min"/>
        <c:crossBetween val="between"/>
      </c:valAx>
    </c:plotArea>
    <c:plotVisOnly val="0"/>
    <c:dispBlanksAs val="gap"/>
    <c:showDLblsOverMax val="1"/>
  </c:chart>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910569105691057E-2"/>
          <c:y val="0.113107822410148"/>
          <c:w val="0.96617886178861789"/>
          <c:h val="0.83192389006342493"/>
        </c:manualLayout>
      </c:layout>
      <c:barChart>
        <c:barDir val="col"/>
        <c:grouping val="stacked"/>
        <c:varyColors val="0"/>
        <c:ser>
          <c:idx val="0"/>
          <c:order val="0"/>
          <c:spPr>
            <a:noFill/>
            <a:ln>
              <a:noFill/>
            </a:ln>
          </c:spPr>
          <c:invertIfNegative val="0"/>
          <c:dPt>
            <c:idx val="0"/>
            <c:invertIfNegative val="0"/>
            <c:bubble3D val="0"/>
            <c:spPr>
              <a:solidFill>
                <a:schemeClr val="accent1"/>
              </a:solidFill>
              <a:ln>
                <a:noFill/>
              </a:ln>
            </c:spPr>
            <c:extLst>
              <c:ext xmlns:c16="http://schemas.microsoft.com/office/drawing/2014/chart" uri="{C3380CC4-5D6E-409C-BE32-E72D297353CC}">
                <c16:uniqueId val="{00000000-5E6E-41B8-8455-840BA202FA2B}"/>
              </c:ext>
            </c:extLst>
          </c:dPt>
          <c:dPt>
            <c:idx val="3"/>
            <c:invertIfNegative val="0"/>
            <c:bubble3D val="0"/>
            <c:spPr>
              <a:solidFill>
                <a:schemeClr val="accent1"/>
              </a:solidFill>
              <a:ln>
                <a:noFill/>
              </a:ln>
            </c:spPr>
            <c:extLst>
              <c:ext xmlns:c16="http://schemas.microsoft.com/office/drawing/2014/chart" uri="{C3380CC4-5D6E-409C-BE32-E72D297353CC}">
                <c16:uniqueId val="{00000001-5E6E-41B8-8455-840BA202FA2B}"/>
              </c:ext>
            </c:extLst>
          </c:dPt>
          <c:dLbls>
            <c:dLbl>
              <c:idx val="0"/>
              <c:layout>
                <c:manualLayout>
                  <c:x val="0"/>
                  <c:y val="-0.24312896405919662"/>
                </c:manualLayout>
              </c:layout>
              <c:numFmt formatCode="#,##0;&quot;-&quot;#,##0" sourceLinked="0"/>
              <c:spPr>
                <a:noFill/>
                <a:ln>
                  <a:noFill/>
                </a:ln>
              </c:spPr>
              <c:txPr>
                <a:bodyPr wrap="none"/>
                <a:lstStyle/>
                <a:p>
                  <a:pPr>
                    <a:defRPr sz="800" b="1">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5E6E-41B8-8455-840BA202FA2B}"/>
                </c:ext>
              </c:extLst>
            </c:dLbl>
            <c:dLbl>
              <c:idx val="3"/>
              <c:layout>
                <c:manualLayout>
                  <c:x val="0"/>
                  <c:y val="-0.47463002114164904"/>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5E6E-41B8-8455-840BA202FA2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8722</c:v>
                </c:pt>
                <c:pt idx="1">
                  <c:v>8050</c:v>
                </c:pt>
                <c:pt idx="2">
                  <c:v>8050</c:v>
                </c:pt>
                <c:pt idx="3">
                  <c:v>19591</c:v>
                </c:pt>
              </c:numCache>
            </c:numRef>
          </c:val>
          <c:extLst>
            <c:ext xmlns:c16="http://schemas.microsoft.com/office/drawing/2014/chart" uri="{C3380CC4-5D6E-409C-BE32-E72D297353CC}">
              <c16:uniqueId val="{00000002-5E6E-41B8-8455-840BA202FA2B}"/>
            </c:ext>
          </c:extLst>
        </c:ser>
        <c:ser>
          <c:idx val="1"/>
          <c:order val="1"/>
          <c:spPr>
            <a:solidFill>
              <a:srgbClr val="000000"/>
            </a:solidFill>
            <a:ln>
              <a:noFill/>
            </a:ln>
          </c:spPr>
          <c:invertIfNegative val="0"/>
          <c:dPt>
            <c:idx val="1"/>
            <c:invertIfNegative val="0"/>
            <c:bubble3D val="0"/>
            <c:spPr>
              <a:solidFill>
                <a:schemeClr val="accent4"/>
              </a:solidFill>
              <a:ln>
                <a:noFill/>
              </a:ln>
            </c:spPr>
            <c:extLst>
              <c:ext xmlns:c16="http://schemas.microsoft.com/office/drawing/2014/chart" uri="{C3380CC4-5D6E-409C-BE32-E72D297353CC}">
                <c16:uniqueId val="{00000003-5E6E-41B8-8455-840BA202FA2B}"/>
              </c:ext>
            </c:extLst>
          </c:dPt>
          <c:dLbls>
            <c:dLbl>
              <c:idx val="2"/>
              <c:layout>
                <c:manualLayout>
                  <c:x val="0"/>
                  <c:y val="0"/>
                </c:manualLayout>
              </c:layout>
              <c:numFmt formatCode="#,##0;#,##0" sourceLinked="0"/>
              <c:spPr>
                <a:noFill/>
                <a:ln>
                  <a:noFill/>
                </a:ln>
              </c:spPr>
              <c:txPr>
                <a:bodyPr wrap="none"/>
                <a:lstStyle/>
                <a:p>
                  <a:pPr>
                    <a:defRPr sz="800" b="1">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5E6E-41B8-8455-840BA202FA2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Sheet1!$A$2:$D$2</c:f>
              <c:numCache>
                <c:formatCode>General</c:formatCode>
                <c:ptCount val="4"/>
                <c:pt idx="1">
                  <c:v>672</c:v>
                </c:pt>
                <c:pt idx="2">
                  <c:v>11541</c:v>
                </c:pt>
              </c:numCache>
            </c:numRef>
          </c:val>
          <c:extLst>
            <c:ext xmlns:c16="http://schemas.microsoft.com/office/drawing/2014/chart" uri="{C3380CC4-5D6E-409C-BE32-E72D297353CC}">
              <c16:uniqueId val="{00000005-5E6E-41B8-8455-840BA202FA2B}"/>
            </c:ext>
          </c:extLst>
        </c:ser>
        <c:dLbls>
          <c:showLegendKey val="0"/>
          <c:showVal val="0"/>
          <c:showCatName val="0"/>
          <c:showSerName val="0"/>
          <c:showPercent val="0"/>
          <c:showBubbleSize val="0"/>
        </c:dLbls>
        <c:gapWidth val="80"/>
        <c:overlap val="100"/>
        <c:axId val="1821951728"/>
        <c:axId val="1"/>
      </c:barChart>
      <c:catAx>
        <c:axId val="1821951728"/>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800">
                <a:latin typeface="+mn-lt"/>
                <a:ea typeface="+mn-ea"/>
                <a:cs typeface="+mn-cs"/>
                <a:sym typeface="+mn-lt"/>
              </a:defRPr>
            </a:pPr>
            <a:endParaRPr lang="en-US"/>
          </a:p>
        </c:txPr>
        <c:crossAx val="1"/>
        <c:crosses val="min"/>
        <c:auto val="0"/>
        <c:lblAlgn val="ctr"/>
        <c:lblOffset val="100"/>
        <c:noMultiLvlLbl val="0"/>
      </c:catAx>
      <c:valAx>
        <c:axId val="1"/>
        <c:scaling>
          <c:orientation val="minMax"/>
          <c:max val="19591"/>
          <c:min val="0"/>
        </c:scaling>
        <c:delete val="1"/>
        <c:axPos val="l"/>
        <c:numFmt formatCode="General" sourceLinked="1"/>
        <c:majorTickMark val="out"/>
        <c:minorTickMark val="none"/>
        <c:tickLblPos val="nextTo"/>
        <c:crossAx val="1821951728"/>
        <c:crosses val="min"/>
        <c:crossBetween val="between"/>
      </c:valAx>
    </c:plotArea>
    <c:plotVisOnly val="0"/>
    <c:dispBlanksAs val="gap"/>
    <c:showDLblsOverMax val="1"/>
  </c:chart>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26285714285714284"/>
          <c:y val="0.14381720430107528"/>
          <c:w val="0.47428571428571431"/>
          <c:h val="0.78629032258064524"/>
        </c:manualLayout>
      </c:layout>
      <c:barChart>
        <c:barDir val="col"/>
        <c:grouping val="stacked"/>
        <c:varyColors val="0"/>
        <c:ser>
          <c:idx val="0"/>
          <c:order val="0"/>
          <c:spPr>
            <a:solidFill>
              <a:srgbClr val="86BC25"/>
            </a:solidFill>
            <a:ln>
              <a:noFill/>
            </a:ln>
          </c:spPr>
          <c:invertIfNegative val="0"/>
          <c:dLbls>
            <c:dLbl>
              <c:idx val="0"/>
              <c:layout>
                <c:manualLayout>
                  <c:x val="0"/>
                  <c:y val="-0.46774193548387094"/>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69D6-420B-8D62-4C8B1459472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f>
              <c:numCache>
                <c:formatCode>General</c:formatCode>
                <c:ptCount val="1"/>
                <c:pt idx="0">
                  <c:v>1120</c:v>
                </c:pt>
              </c:numCache>
            </c:numRef>
          </c:val>
          <c:extLst>
            <c:ext xmlns:c16="http://schemas.microsoft.com/office/drawing/2014/chart" uri="{C3380CC4-5D6E-409C-BE32-E72D297353CC}">
              <c16:uniqueId val="{00000001-69D6-420B-8D62-4C8B14594724}"/>
            </c:ext>
          </c:extLst>
        </c:ser>
        <c:dLbls>
          <c:showLegendKey val="0"/>
          <c:showVal val="0"/>
          <c:showCatName val="0"/>
          <c:showSerName val="0"/>
          <c:showPercent val="0"/>
          <c:showBubbleSize val="0"/>
        </c:dLbls>
        <c:gapWidth val="150"/>
        <c:overlap val="100"/>
        <c:axId val="539259496"/>
        <c:axId val="1"/>
      </c:barChart>
      <c:catAx>
        <c:axId val="539259496"/>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800">
                <a:latin typeface="+mn-lt"/>
                <a:ea typeface="+mn-ea"/>
                <a:cs typeface="+mn-cs"/>
                <a:sym typeface="+mn-lt"/>
              </a:defRPr>
            </a:pPr>
            <a:endParaRPr lang="en-US"/>
          </a:p>
        </c:txPr>
        <c:crossAx val="1"/>
        <c:crosses val="min"/>
        <c:auto val="0"/>
        <c:lblAlgn val="ctr"/>
        <c:lblOffset val="100"/>
        <c:noMultiLvlLbl val="0"/>
      </c:catAx>
      <c:valAx>
        <c:axId val="1"/>
        <c:scaling>
          <c:orientation val="minMax"/>
          <c:max val="1120"/>
          <c:min val="0"/>
        </c:scaling>
        <c:delete val="1"/>
        <c:axPos val="l"/>
        <c:numFmt formatCode="General" sourceLinked="1"/>
        <c:majorTickMark val="out"/>
        <c:minorTickMark val="none"/>
        <c:tickLblPos val="nextTo"/>
        <c:crossAx val="539259496"/>
        <c:crosses val="min"/>
        <c:crossBetween val="between"/>
      </c:valAx>
    </c:plotArea>
    <c:plotVisOnly val="0"/>
    <c:dispBlanksAs val="gap"/>
    <c:showDLblsOverMax val="1"/>
  </c:chart>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3776863283036121E-2"/>
          <c:y val="0.14381720430107528"/>
          <c:w val="0.95244627343392774"/>
          <c:h val="0.78629032258064524"/>
        </c:manualLayout>
      </c:layout>
      <c:barChart>
        <c:barDir val="col"/>
        <c:grouping val="stacked"/>
        <c:varyColors val="0"/>
        <c:ser>
          <c:idx val="0"/>
          <c:order val="0"/>
          <c:spPr>
            <a:solidFill>
              <a:srgbClr val="86BC25"/>
            </a:solidFill>
            <a:ln>
              <a:noFill/>
            </a:ln>
          </c:spPr>
          <c:invertIfNegative val="0"/>
          <c:dPt>
            <c:idx val="1"/>
            <c:invertIfNegative val="0"/>
            <c:bubble3D val="0"/>
            <c:spPr>
              <a:noFill/>
              <a:ln>
                <a:noFill/>
              </a:ln>
            </c:spPr>
            <c:extLst>
              <c:ext xmlns:c16="http://schemas.microsoft.com/office/drawing/2014/chart" uri="{C3380CC4-5D6E-409C-BE32-E72D297353CC}">
                <c16:uniqueId val="{00000000-63B9-4AC6-A3F1-EF74B40327E2}"/>
              </c:ext>
            </c:extLst>
          </c:dPt>
          <c:dLbls>
            <c:dLbl>
              <c:idx val="0"/>
              <c:layout>
                <c:manualLayout>
                  <c:x val="0"/>
                  <c:y val="-0.23118279569892472"/>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63B9-4AC6-A3F1-EF74B40327E2}"/>
                </c:ext>
              </c:extLst>
            </c:dLbl>
            <c:dLbl>
              <c:idx val="2"/>
              <c:layout>
                <c:manualLayout>
                  <c:x val="0"/>
                  <c:y val="-0.46774193548387094"/>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63B9-4AC6-A3F1-EF74B40327E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448</c:v>
                </c:pt>
                <c:pt idx="1">
                  <c:v>448</c:v>
                </c:pt>
                <c:pt idx="2">
                  <c:v>1120</c:v>
                </c:pt>
              </c:numCache>
            </c:numRef>
          </c:val>
          <c:extLst>
            <c:ext xmlns:c16="http://schemas.microsoft.com/office/drawing/2014/chart" uri="{C3380CC4-5D6E-409C-BE32-E72D297353CC}">
              <c16:uniqueId val="{00000003-63B9-4AC6-A3F1-EF74B40327E2}"/>
            </c:ext>
          </c:extLst>
        </c:ser>
        <c:ser>
          <c:idx val="1"/>
          <c:order val="1"/>
          <c:spPr>
            <a:solidFill>
              <a:schemeClr val="accent4"/>
            </a:solidFill>
            <a:ln>
              <a:noFill/>
            </a:ln>
          </c:spPr>
          <c:invertIfNegative val="0"/>
          <c:dLbls>
            <c:dLbl>
              <c:idx val="1"/>
              <c:layout>
                <c:manualLayout>
                  <c:x val="0"/>
                  <c:y val="-1.3440860215053765E-3"/>
                </c:manualLayout>
              </c:layout>
              <c:numFmt formatCode="#,##0;#,##0" sourceLinked="0"/>
              <c:spPr>
                <a:noFill/>
                <a:ln>
                  <a:noFill/>
                </a:ln>
              </c:spPr>
              <c:txPr>
                <a:bodyPr wrap="none"/>
                <a:lstStyle/>
                <a:p>
                  <a:pPr>
                    <a:defRPr sz="8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63B9-4AC6-A3F1-EF74B40327E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1">
                  <c:v>672</c:v>
                </c:pt>
              </c:numCache>
            </c:numRef>
          </c:val>
          <c:extLst>
            <c:ext xmlns:c16="http://schemas.microsoft.com/office/drawing/2014/chart" uri="{C3380CC4-5D6E-409C-BE32-E72D297353CC}">
              <c16:uniqueId val="{00000005-63B9-4AC6-A3F1-EF74B40327E2}"/>
            </c:ext>
          </c:extLst>
        </c:ser>
        <c:dLbls>
          <c:showLegendKey val="0"/>
          <c:showVal val="0"/>
          <c:showCatName val="0"/>
          <c:showSerName val="0"/>
          <c:showPercent val="0"/>
          <c:showBubbleSize val="0"/>
        </c:dLbls>
        <c:gapWidth val="80"/>
        <c:overlap val="100"/>
        <c:axId val="903453120"/>
        <c:axId val="1"/>
      </c:barChart>
      <c:catAx>
        <c:axId val="90345312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800">
                <a:latin typeface="+mn-lt"/>
                <a:ea typeface="+mn-ea"/>
                <a:cs typeface="+mn-cs"/>
                <a:sym typeface="+mn-lt"/>
              </a:defRPr>
            </a:pPr>
            <a:endParaRPr lang="en-US"/>
          </a:p>
        </c:txPr>
        <c:crossAx val="1"/>
        <c:crosses val="min"/>
        <c:auto val="0"/>
        <c:lblAlgn val="ctr"/>
        <c:lblOffset val="100"/>
        <c:noMultiLvlLbl val="0"/>
      </c:catAx>
      <c:valAx>
        <c:axId val="1"/>
        <c:scaling>
          <c:orientation val="minMax"/>
          <c:max val="1120"/>
          <c:min val="0"/>
        </c:scaling>
        <c:delete val="1"/>
        <c:axPos val="l"/>
        <c:numFmt formatCode="General" sourceLinked="1"/>
        <c:majorTickMark val="out"/>
        <c:minorTickMark val="none"/>
        <c:tickLblPos val="nextTo"/>
        <c:crossAx val="903453120"/>
        <c:crosses val="min"/>
        <c:crossBetween val="between"/>
      </c:valAx>
    </c:plotArea>
    <c:plotVisOnly val="0"/>
    <c:dispBlanksAs val="gap"/>
    <c:showDLblsOverMax val="1"/>
  </c:chart>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2990654205607479E-2"/>
          <c:y val="9.4024604569420023E-2"/>
          <c:w val="0.91339563862928352"/>
          <c:h val="0.86028119507908607"/>
        </c:manualLayout>
      </c:layout>
      <c:barChart>
        <c:barDir val="col"/>
        <c:grouping val="stacked"/>
        <c:varyColors val="0"/>
        <c:ser>
          <c:idx val="0"/>
          <c:order val="0"/>
          <c:spPr>
            <a:solidFill>
              <a:srgbClr val="E3E48D"/>
            </a:solidFill>
            <a:ln>
              <a:noFill/>
            </a:ln>
          </c:spPr>
          <c:invertIfNegative val="0"/>
          <c:dPt>
            <c:idx val="0"/>
            <c:invertIfNegative val="0"/>
            <c:bubble3D val="0"/>
            <c:spPr>
              <a:solidFill>
                <a:srgbClr val="6FC2B4"/>
              </a:solidFill>
              <a:ln>
                <a:noFill/>
              </a:ln>
            </c:spPr>
            <c:extLst>
              <c:ext xmlns:c16="http://schemas.microsoft.com/office/drawing/2014/chart" uri="{C3380CC4-5D6E-409C-BE32-E72D297353CC}">
                <c16:uniqueId val="{00000000-2B2D-4189-9211-F1BE2901045C}"/>
              </c:ext>
            </c:extLst>
          </c:dPt>
          <c:dLbls>
            <c:dLbl>
              <c:idx val="0"/>
              <c:layout>
                <c:manualLayout>
                  <c:x val="0"/>
                  <c:y val="-0.39191564147627417"/>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2B2D-4189-9211-F1BE2901045C}"/>
                </c:ext>
              </c:extLst>
            </c:dLbl>
            <c:dLbl>
              <c:idx val="1"/>
              <c:layout>
                <c:manualLayout>
                  <c:x val="0"/>
                  <c:y val="-0.47891036906854129"/>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2B2D-4189-9211-F1BE2901045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21561</c:v>
                </c:pt>
                <c:pt idx="1">
                  <c:v>26951.25</c:v>
                </c:pt>
              </c:numCache>
            </c:numRef>
          </c:val>
          <c:extLst>
            <c:ext xmlns:c16="http://schemas.microsoft.com/office/drawing/2014/chart" uri="{C3380CC4-5D6E-409C-BE32-E72D297353CC}">
              <c16:uniqueId val="{00000002-2B2D-4189-9211-F1BE2901045C}"/>
            </c:ext>
          </c:extLst>
        </c:ser>
        <c:dLbls>
          <c:showLegendKey val="0"/>
          <c:showVal val="0"/>
          <c:showCatName val="0"/>
          <c:showSerName val="0"/>
          <c:showPercent val="0"/>
          <c:showBubbleSize val="0"/>
        </c:dLbls>
        <c:gapWidth val="150"/>
        <c:overlap val="100"/>
        <c:axId val="909421952"/>
        <c:axId val="1"/>
      </c:barChart>
      <c:catAx>
        <c:axId val="909421952"/>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800">
                <a:latin typeface="+mn-lt"/>
                <a:ea typeface="+mn-ea"/>
                <a:cs typeface="+mn-cs"/>
                <a:sym typeface="+mn-lt"/>
              </a:defRPr>
            </a:pPr>
            <a:endParaRPr lang="en-US"/>
          </a:p>
        </c:txPr>
        <c:crossAx val="1"/>
        <c:crosses val="min"/>
        <c:auto val="0"/>
        <c:lblAlgn val="ctr"/>
        <c:lblOffset val="100"/>
        <c:noMultiLvlLbl val="0"/>
      </c:catAx>
      <c:valAx>
        <c:axId val="1"/>
        <c:scaling>
          <c:orientation val="minMax"/>
          <c:max val="26951.25"/>
          <c:min val="0"/>
        </c:scaling>
        <c:delete val="1"/>
        <c:axPos val="l"/>
        <c:numFmt formatCode="General" sourceLinked="1"/>
        <c:majorTickMark val="out"/>
        <c:minorTickMark val="none"/>
        <c:tickLblPos val="nextTo"/>
        <c:crossAx val="909421952"/>
        <c:crosses val="min"/>
        <c:crossBetween val="between"/>
      </c:valAx>
    </c:plotArea>
    <c:plotVisOnly val="0"/>
    <c:dispBlanksAs val="gap"/>
    <c:showDLblsOverMax val="1"/>
  </c:chart>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1609734315695468E-2"/>
          <c:y val="9.4024604569420023E-2"/>
          <c:w val="0.9767805313686091"/>
          <c:h val="0.86028119507908607"/>
        </c:manualLayout>
      </c:layout>
      <c:barChart>
        <c:barDir val="col"/>
        <c:grouping val="stacked"/>
        <c:varyColors val="0"/>
        <c:ser>
          <c:idx val="0"/>
          <c:order val="0"/>
          <c:spPr>
            <a:noFill/>
            <a:ln>
              <a:noFill/>
            </a:ln>
          </c:spPr>
          <c:invertIfNegative val="0"/>
          <c:dPt>
            <c:idx val="0"/>
            <c:invertIfNegative val="0"/>
            <c:bubble3D val="0"/>
            <c:spPr>
              <a:solidFill>
                <a:srgbClr val="86BC25"/>
              </a:solidFill>
              <a:ln>
                <a:noFill/>
              </a:ln>
            </c:spPr>
            <c:extLst>
              <c:ext xmlns:c16="http://schemas.microsoft.com/office/drawing/2014/chart" uri="{C3380CC4-5D6E-409C-BE32-E72D297353CC}">
                <c16:uniqueId val="{00000000-F272-4850-893C-0209F2FB5264}"/>
              </c:ext>
            </c:extLst>
          </c:dPt>
          <c:dPt>
            <c:idx val="2"/>
            <c:invertIfNegative val="0"/>
            <c:bubble3D val="0"/>
            <c:spPr>
              <a:solidFill>
                <a:srgbClr val="62B5E5"/>
              </a:solidFill>
              <a:ln>
                <a:noFill/>
              </a:ln>
            </c:spPr>
            <c:extLst>
              <c:ext xmlns:c16="http://schemas.microsoft.com/office/drawing/2014/chart" uri="{C3380CC4-5D6E-409C-BE32-E72D297353CC}">
                <c16:uniqueId val="{00000001-F272-4850-893C-0209F2FB5264}"/>
              </c:ext>
            </c:extLst>
          </c:dPt>
          <c:dPt>
            <c:idx val="4"/>
            <c:invertIfNegative val="0"/>
            <c:bubble3D val="0"/>
            <c:spPr>
              <a:solidFill>
                <a:srgbClr val="E3E48D"/>
              </a:solidFill>
              <a:ln>
                <a:noFill/>
              </a:ln>
            </c:spPr>
            <c:extLst>
              <c:ext xmlns:c16="http://schemas.microsoft.com/office/drawing/2014/chart" uri="{C3380CC4-5D6E-409C-BE32-E72D297353CC}">
                <c16:uniqueId val="{00000002-F272-4850-893C-0209F2FB5264}"/>
              </c:ext>
            </c:extLst>
          </c:dPt>
          <c:dLbls>
            <c:dLbl>
              <c:idx val="0"/>
              <c:layout>
                <c:manualLayout>
                  <c:x val="0"/>
                  <c:y val="-0.36115992970123023"/>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F272-4850-893C-0209F2FB5264}"/>
                </c:ext>
              </c:extLst>
            </c:dLbl>
            <c:dLbl>
              <c:idx val="2"/>
              <c:layout>
                <c:manualLayout>
                  <c:x val="0"/>
                  <c:y val="-0.35413005272407733"/>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F272-4850-893C-0209F2FB5264}"/>
                </c:ext>
              </c:extLst>
            </c:dLbl>
            <c:dLbl>
              <c:idx val="4"/>
              <c:layout>
                <c:manualLayout>
                  <c:x val="0"/>
                  <c:y val="-0.47891036906854129"/>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F272-4850-893C-0209F2FB526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19591</c:v>
                </c:pt>
                <c:pt idx="1">
                  <c:v>19123</c:v>
                </c:pt>
                <c:pt idx="2">
                  <c:v>19123</c:v>
                </c:pt>
                <c:pt idx="3">
                  <c:v>19123</c:v>
                </c:pt>
                <c:pt idx="4">
                  <c:v>26951</c:v>
                </c:pt>
              </c:numCache>
            </c:numRef>
          </c:val>
          <c:extLst>
            <c:ext xmlns:c16="http://schemas.microsoft.com/office/drawing/2014/chart" uri="{C3380CC4-5D6E-409C-BE32-E72D297353CC}">
              <c16:uniqueId val="{00000003-F272-4850-893C-0209F2FB5264}"/>
            </c:ext>
          </c:extLst>
        </c:ser>
        <c:ser>
          <c:idx val="1"/>
          <c:order val="1"/>
          <c:spPr>
            <a:solidFill>
              <a:srgbClr val="000000"/>
            </a:solidFill>
            <a:ln>
              <a:noFill/>
            </a:ln>
          </c:spPr>
          <c:invertIfNegative val="0"/>
          <c:dPt>
            <c:idx val="1"/>
            <c:invertIfNegative val="0"/>
            <c:bubble3D val="0"/>
            <c:spPr>
              <a:solidFill>
                <a:srgbClr val="046A38"/>
              </a:solidFill>
              <a:ln>
                <a:noFill/>
              </a:ln>
            </c:spPr>
            <c:extLst>
              <c:ext xmlns:c16="http://schemas.microsoft.com/office/drawing/2014/chart" uri="{C3380CC4-5D6E-409C-BE32-E72D297353CC}">
                <c16:uniqueId val="{00000004-F272-4850-893C-0209F2FB5264}"/>
              </c:ext>
            </c:extLst>
          </c:dPt>
          <c:dLbls>
            <c:dLbl>
              <c:idx val="3"/>
              <c:layout>
                <c:manualLayout>
                  <c:x val="0"/>
                  <c:y val="0"/>
                </c:manualLayout>
              </c:layout>
              <c:numFmt formatCode="#,##0;#,##0" sourceLinked="0"/>
              <c:spPr>
                <a:noFill/>
                <a:ln>
                  <a:noFill/>
                </a:ln>
              </c:spPr>
              <c:txPr>
                <a:bodyPr wrap="none"/>
                <a:lstStyle/>
                <a:p>
                  <a:pPr>
                    <a:defRPr sz="8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F272-4850-893C-0209F2FB526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Sheet1!$A$2:$E$2</c:f>
              <c:numCache>
                <c:formatCode>General</c:formatCode>
                <c:ptCount val="5"/>
                <c:pt idx="1">
                  <c:v>468</c:v>
                </c:pt>
                <c:pt idx="3">
                  <c:v>7828</c:v>
                </c:pt>
              </c:numCache>
            </c:numRef>
          </c:val>
          <c:extLst>
            <c:ext xmlns:c16="http://schemas.microsoft.com/office/drawing/2014/chart" uri="{C3380CC4-5D6E-409C-BE32-E72D297353CC}">
              <c16:uniqueId val="{00000006-F272-4850-893C-0209F2FB5264}"/>
            </c:ext>
          </c:extLst>
        </c:ser>
        <c:dLbls>
          <c:showLegendKey val="0"/>
          <c:showVal val="0"/>
          <c:showCatName val="0"/>
          <c:showSerName val="0"/>
          <c:showPercent val="0"/>
          <c:showBubbleSize val="0"/>
        </c:dLbls>
        <c:gapWidth val="80"/>
        <c:overlap val="100"/>
        <c:axId val="641424552"/>
        <c:axId val="1"/>
      </c:barChart>
      <c:catAx>
        <c:axId val="641424552"/>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800">
                <a:latin typeface="+mn-lt"/>
                <a:ea typeface="+mn-ea"/>
                <a:cs typeface="+mn-cs"/>
                <a:sym typeface="+mn-lt"/>
              </a:defRPr>
            </a:pPr>
            <a:endParaRPr lang="en-US"/>
          </a:p>
        </c:txPr>
        <c:crossAx val="1"/>
        <c:crosses val="min"/>
        <c:auto val="0"/>
        <c:lblAlgn val="ctr"/>
        <c:lblOffset val="100"/>
        <c:noMultiLvlLbl val="0"/>
      </c:catAx>
      <c:valAx>
        <c:axId val="1"/>
        <c:scaling>
          <c:orientation val="minMax"/>
          <c:max val="26951.25"/>
          <c:min val="0"/>
        </c:scaling>
        <c:delete val="1"/>
        <c:axPos val="l"/>
        <c:numFmt formatCode="General" sourceLinked="1"/>
        <c:majorTickMark val="out"/>
        <c:minorTickMark val="none"/>
        <c:tickLblPos val="nextTo"/>
        <c:crossAx val="641424552"/>
        <c:crosses val="min"/>
        <c:crossBetween val="between"/>
      </c:valAx>
    </c:plotArea>
    <c:plotVisOnly val="0"/>
    <c:dispBlanksAs val="gap"/>
    <c:showDLblsOverMax val="1"/>
  </c:chart>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8337874659400547E-2"/>
          <c:y val="0.1006585136406397"/>
          <c:w val="0.94332425068119896"/>
          <c:h val="0.85042333019755412"/>
        </c:manualLayout>
      </c:layout>
      <c:barChart>
        <c:barDir val="col"/>
        <c:grouping val="stacked"/>
        <c:varyColors val="0"/>
        <c:ser>
          <c:idx val="0"/>
          <c:order val="0"/>
          <c:spPr>
            <a:solidFill>
              <a:srgbClr val="E3E48D"/>
            </a:solidFill>
            <a:ln>
              <a:noFill/>
            </a:ln>
          </c:spPr>
          <c:invertIfNegative val="0"/>
          <c:dPt>
            <c:idx val="0"/>
            <c:invertIfNegative val="0"/>
            <c:bubble3D val="0"/>
            <c:spPr>
              <a:solidFill>
                <a:srgbClr val="6FC2B4"/>
              </a:solidFill>
              <a:ln>
                <a:noFill/>
              </a:ln>
            </c:spPr>
            <c:extLst>
              <c:ext xmlns:c16="http://schemas.microsoft.com/office/drawing/2014/chart" uri="{C3380CC4-5D6E-409C-BE32-E72D297353CC}">
                <c16:uniqueId val="{00000000-4FA0-4EB4-BFA9-0299009432EE}"/>
              </c:ext>
            </c:extLst>
          </c:dPt>
          <c:dPt>
            <c:idx val="2"/>
            <c:invertIfNegative val="0"/>
            <c:bubble3D val="0"/>
            <c:spPr>
              <a:solidFill>
                <a:srgbClr val="6FC2B4"/>
              </a:solidFill>
              <a:ln>
                <a:noFill/>
              </a:ln>
            </c:spPr>
            <c:extLst>
              <c:ext xmlns:c16="http://schemas.microsoft.com/office/drawing/2014/chart" uri="{C3380CC4-5D6E-409C-BE32-E72D297353CC}">
                <c16:uniqueId val="{00000001-4FA0-4EB4-BFA9-0299009432EE}"/>
              </c:ext>
            </c:extLst>
          </c:dPt>
          <c:dLbls>
            <c:dLbl>
              <c:idx val="0"/>
              <c:layout>
                <c:manualLayout>
                  <c:x val="0"/>
                  <c:y val="-0.29915333960489182"/>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FA0-4EB4-BFA9-0299009432EE}"/>
                </c:ext>
              </c:extLst>
            </c:dLbl>
            <c:dLbl>
              <c:idx val="1"/>
              <c:layout>
                <c:manualLayout>
                  <c:x val="0"/>
                  <c:y val="-0.36030103480714959"/>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4FA0-4EB4-BFA9-0299009432EE}"/>
                </c:ext>
              </c:extLst>
            </c:dLbl>
            <c:dLbl>
              <c:idx val="2"/>
              <c:layout>
                <c:manualLayout>
                  <c:x val="0"/>
                  <c:y val="-0.39134524929444969"/>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4FA0-4EB4-BFA9-0299009432EE}"/>
                </c:ext>
              </c:extLst>
            </c:dLbl>
            <c:dLbl>
              <c:idx val="3"/>
              <c:layout>
                <c:manualLayout>
                  <c:x val="0"/>
                  <c:y val="-0.47695202257761055"/>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4FA0-4EB4-BFA9-0299009432EE}"/>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15673</c:v>
                </c:pt>
                <c:pt idx="1">
                  <c:v>19591</c:v>
                </c:pt>
                <c:pt idx="2">
                  <c:v>21561</c:v>
                </c:pt>
                <c:pt idx="3">
                  <c:v>26951.25</c:v>
                </c:pt>
              </c:numCache>
            </c:numRef>
          </c:val>
          <c:extLst>
            <c:ext xmlns:c16="http://schemas.microsoft.com/office/drawing/2014/chart" uri="{C3380CC4-5D6E-409C-BE32-E72D297353CC}">
              <c16:uniqueId val="{00000004-4FA0-4EB4-BFA9-0299009432EE}"/>
            </c:ext>
          </c:extLst>
        </c:ser>
        <c:dLbls>
          <c:showLegendKey val="0"/>
          <c:showVal val="0"/>
          <c:showCatName val="0"/>
          <c:showSerName val="0"/>
          <c:showPercent val="0"/>
          <c:showBubbleSize val="0"/>
        </c:dLbls>
        <c:gapWidth val="150"/>
        <c:overlap val="100"/>
        <c:axId val="909389152"/>
        <c:axId val="1"/>
      </c:barChart>
      <c:catAx>
        <c:axId val="909389152"/>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800">
                <a:latin typeface="+mn-lt"/>
                <a:ea typeface="+mn-ea"/>
                <a:cs typeface="+mn-cs"/>
                <a:sym typeface="+mn-lt"/>
              </a:defRPr>
            </a:pPr>
            <a:endParaRPr lang="en-US"/>
          </a:p>
        </c:txPr>
        <c:crossAx val="1"/>
        <c:crosses val="min"/>
        <c:auto val="0"/>
        <c:lblAlgn val="ctr"/>
        <c:lblOffset val="100"/>
        <c:noMultiLvlLbl val="0"/>
      </c:catAx>
      <c:valAx>
        <c:axId val="1"/>
        <c:scaling>
          <c:orientation val="minMax"/>
          <c:max val="26951.25"/>
          <c:min val="0"/>
        </c:scaling>
        <c:delete val="1"/>
        <c:axPos val="l"/>
        <c:numFmt formatCode="General" sourceLinked="1"/>
        <c:majorTickMark val="out"/>
        <c:minorTickMark val="none"/>
        <c:tickLblPos val="nextTo"/>
        <c:crossAx val="909389152"/>
        <c:crosses val="min"/>
        <c:crossBetween val="between"/>
      </c:valAx>
    </c:plotArea>
    <c:plotVisOnly val="0"/>
    <c:dispBlanksAs val="gap"/>
    <c:showDLblsOverMax val="1"/>
  </c:chart>
  <c:externalData r:id="rId1">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2521069106669877E-2"/>
          <c:y val="4.8014773776546629E-2"/>
          <c:w val="0.97495786178666022"/>
          <c:h val="0.90397045244690666"/>
        </c:manualLayout>
      </c:layout>
      <c:barChart>
        <c:barDir val="col"/>
        <c:grouping val="stacked"/>
        <c:varyColors val="0"/>
        <c:ser>
          <c:idx val="0"/>
          <c:order val="0"/>
          <c:spPr>
            <a:noFill/>
            <a:ln>
              <a:noFill/>
            </a:ln>
          </c:spPr>
          <c:invertIfNegative val="0"/>
          <c:dPt>
            <c:idx val="0"/>
            <c:invertIfNegative val="0"/>
            <c:bubble3D val="0"/>
            <c:spPr>
              <a:solidFill>
                <a:srgbClr val="0097A9"/>
              </a:solidFill>
              <a:ln>
                <a:noFill/>
              </a:ln>
            </c:spPr>
            <c:extLst>
              <c:ext xmlns:c16="http://schemas.microsoft.com/office/drawing/2014/chart" uri="{C3380CC4-5D6E-409C-BE32-E72D297353CC}">
                <c16:uniqueId val="{00000000-4DC7-4CB4-964A-330D079629E5}"/>
              </c:ext>
            </c:extLst>
          </c:dPt>
          <c:dPt>
            <c:idx val="2"/>
            <c:invertIfNegative val="0"/>
            <c:bubble3D val="0"/>
            <c:spPr>
              <a:solidFill>
                <a:srgbClr val="0097A9"/>
              </a:solidFill>
              <a:ln>
                <a:noFill/>
              </a:ln>
            </c:spPr>
            <c:extLst>
              <c:ext xmlns:c16="http://schemas.microsoft.com/office/drawing/2014/chart" uri="{C3380CC4-5D6E-409C-BE32-E72D297353CC}">
                <c16:uniqueId val="{00000001-4DC7-4CB4-964A-330D079629E5}"/>
              </c:ext>
            </c:extLst>
          </c:dPt>
          <c:dPt>
            <c:idx val="4"/>
            <c:invertIfNegative val="0"/>
            <c:bubble3D val="0"/>
            <c:spPr>
              <a:solidFill>
                <a:srgbClr val="E3E48D"/>
              </a:solidFill>
              <a:ln>
                <a:noFill/>
              </a:ln>
            </c:spPr>
            <c:extLst>
              <c:ext xmlns:c16="http://schemas.microsoft.com/office/drawing/2014/chart" uri="{C3380CC4-5D6E-409C-BE32-E72D297353CC}">
                <c16:uniqueId val="{00000002-4DC7-4CB4-964A-330D079629E5}"/>
              </c:ext>
            </c:extLst>
          </c:dPt>
          <c:dPt>
            <c:idx val="7"/>
            <c:invertIfNegative val="0"/>
            <c:bubble3D val="0"/>
            <c:spPr>
              <a:solidFill>
                <a:srgbClr val="E3E48D"/>
              </a:solidFill>
              <a:ln>
                <a:noFill/>
              </a:ln>
            </c:spPr>
            <c:extLst>
              <c:ext xmlns:c16="http://schemas.microsoft.com/office/drawing/2014/chart" uri="{C3380CC4-5D6E-409C-BE32-E72D297353CC}">
                <c16:uniqueId val="{00000003-4DC7-4CB4-964A-330D079629E5}"/>
              </c:ext>
            </c:extLst>
          </c:dPt>
          <c:dLbls>
            <c:dLbl>
              <c:idx val="0"/>
              <c:layout>
                <c:manualLayout>
                  <c:x val="0"/>
                  <c:y val="-0.36934441366574333"/>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DC7-4CB4-964A-330D079629E5}"/>
                </c:ext>
              </c:extLst>
            </c:dLbl>
            <c:dLbl>
              <c:idx val="2"/>
              <c:layout>
                <c:manualLayout>
                  <c:x val="0"/>
                  <c:y val="-0.18559556786703602"/>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4DC7-4CB4-964A-330D079629E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Sheet1!$A$1:$H$1</c:f>
              <c:numCache>
                <c:formatCode>General</c:formatCode>
                <c:ptCount val="8"/>
                <c:pt idx="0">
                  <c:v>18961</c:v>
                </c:pt>
                <c:pt idx="1">
                  <c:v>8048.6</c:v>
                </c:pt>
                <c:pt idx="2">
                  <c:v>8048.6</c:v>
                </c:pt>
                <c:pt idx="3">
                  <c:v>8048.6</c:v>
                </c:pt>
                <c:pt idx="4">
                  <c:v>19590.599999999999</c:v>
                </c:pt>
                <c:pt idx="5">
                  <c:v>19122.599999999999</c:v>
                </c:pt>
                <c:pt idx="6">
                  <c:v>19122.599999999999</c:v>
                </c:pt>
                <c:pt idx="7">
                  <c:v>26950.6</c:v>
                </c:pt>
              </c:numCache>
            </c:numRef>
          </c:val>
          <c:extLst>
            <c:ext xmlns:c16="http://schemas.microsoft.com/office/drawing/2014/chart" uri="{C3380CC4-5D6E-409C-BE32-E72D297353CC}">
              <c16:uniqueId val="{00000004-4DC7-4CB4-964A-330D079629E5}"/>
            </c:ext>
          </c:extLst>
        </c:ser>
        <c:ser>
          <c:idx val="1"/>
          <c:order val="1"/>
          <c:spPr>
            <a:solidFill>
              <a:srgbClr val="000000"/>
            </a:solidFill>
            <a:ln>
              <a:noFill/>
            </a:ln>
          </c:spPr>
          <c:invertIfNegative val="0"/>
          <c:dPt>
            <c:idx val="1"/>
            <c:invertIfNegative val="0"/>
            <c:bubble3D val="0"/>
            <c:spPr>
              <a:solidFill>
                <a:srgbClr val="046A38"/>
              </a:solidFill>
              <a:ln>
                <a:noFill/>
              </a:ln>
            </c:spPr>
            <c:extLst>
              <c:ext xmlns:c16="http://schemas.microsoft.com/office/drawing/2014/chart" uri="{C3380CC4-5D6E-409C-BE32-E72D297353CC}">
                <c16:uniqueId val="{00000005-4DC7-4CB4-964A-330D079629E5}"/>
              </c:ext>
            </c:extLst>
          </c:dPt>
          <c:dPt>
            <c:idx val="4"/>
            <c:invertIfNegative val="0"/>
            <c:bubble3D val="0"/>
            <c:spPr>
              <a:solidFill>
                <a:srgbClr val="E3E48D"/>
              </a:solidFill>
              <a:ln>
                <a:noFill/>
              </a:ln>
            </c:spPr>
            <c:extLst>
              <c:ext xmlns:c16="http://schemas.microsoft.com/office/drawing/2014/chart" uri="{C3380CC4-5D6E-409C-BE32-E72D297353CC}">
                <c16:uniqueId val="{00000006-4DC7-4CB4-964A-330D079629E5}"/>
              </c:ext>
            </c:extLst>
          </c:dPt>
          <c:dPt>
            <c:idx val="5"/>
            <c:invertIfNegative val="0"/>
            <c:bubble3D val="0"/>
            <c:spPr>
              <a:solidFill>
                <a:srgbClr val="012169"/>
              </a:solidFill>
              <a:ln>
                <a:noFill/>
              </a:ln>
            </c:spPr>
            <c:extLst>
              <c:ext xmlns:c16="http://schemas.microsoft.com/office/drawing/2014/chart" uri="{C3380CC4-5D6E-409C-BE32-E72D297353CC}">
                <c16:uniqueId val="{00000007-4DC7-4CB4-964A-330D079629E5}"/>
              </c:ext>
            </c:extLst>
          </c:dPt>
          <c:dPt>
            <c:idx val="7"/>
            <c:invertIfNegative val="0"/>
            <c:bubble3D val="0"/>
            <c:spPr>
              <a:solidFill>
                <a:srgbClr val="E3E48D"/>
              </a:solidFill>
              <a:ln>
                <a:noFill/>
              </a:ln>
            </c:spPr>
            <c:extLst>
              <c:ext xmlns:c16="http://schemas.microsoft.com/office/drawing/2014/chart" uri="{C3380CC4-5D6E-409C-BE32-E72D297353CC}">
                <c16:uniqueId val="{00000008-4DC7-4CB4-964A-330D079629E5}"/>
              </c:ext>
            </c:extLst>
          </c:dPt>
          <c:dLbls>
            <c:dLbl>
              <c:idx val="3"/>
              <c:layout>
                <c:manualLayout>
                  <c:x val="0"/>
                  <c:y val="0"/>
                </c:manualLayout>
              </c:layout>
              <c:numFmt formatCode="#,##0;#,##0" sourceLinked="0"/>
              <c:spPr>
                <a:noFill/>
                <a:ln>
                  <a:noFill/>
                </a:ln>
              </c:spPr>
              <c:txPr>
                <a:bodyPr wrap="none"/>
                <a:lstStyle/>
                <a:p>
                  <a:pPr>
                    <a:defRPr sz="8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4DC7-4CB4-964A-330D079629E5}"/>
                </c:ext>
              </c:extLst>
            </c:dLbl>
            <c:dLbl>
              <c:idx val="6"/>
              <c:layout>
                <c:manualLayout>
                  <c:x val="0"/>
                  <c:y val="0"/>
                </c:manualLayout>
              </c:layout>
              <c:numFmt formatCode="#,##0;#,##0" sourceLinked="0"/>
              <c:spPr>
                <a:noFill/>
                <a:ln>
                  <a:noFill/>
                </a:ln>
              </c:spPr>
              <c:txPr>
                <a:bodyPr wrap="none"/>
                <a:lstStyle/>
                <a:p>
                  <a:pPr>
                    <a:defRPr sz="8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4DC7-4CB4-964A-330D079629E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Sheet1!$A$2:$H$2</c:f>
              <c:numCache>
                <c:formatCode>General</c:formatCode>
                <c:ptCount val="8"/>
                <c:pt idx="1">
                  <c:v>672</c:v>
                </c:pt>
                <c:pt idx="3">
                  <c:v>11541.999999999998</c:v>
                </c:pt>
                <c:pt idx="4">
                  <c:v>-0.40000000000145519</c:v>
                </c:pt>
                <c:pt idx="5">
                  <c:v>468</c:v>
                </c:pt>
                <c:pt idx="6">
                  <c:v>7828</c:v>
                </c:pt>
                <c:pt idx="7">
                  <c:v>-0.40000000000145519</c:v>
                </c:pt>
              </c:numCache>
            </c:numRef>
          </c:val>
          <c:extLst>
            <c:ext xmlns:c16="http://schemas.microsoft.com/office/drawing/2014/chart" uri="{C3380CC4-5D6E-409C-BE32-E72D297353CC}">
              <c16:uniqueId val="{0000000B-4DC7-4CB4-964A-330D079629E5}"/>
            </c:ext>
          </c:extLst>
        </c:ser>
        <c:ser>
          <c:idx val="2"/>
          <c:order val="2"/>
          <c:spPr>
            <a:solidFill>
              <a:srgbClr val="62B5E5"/>
            </a:solidFill>
            <a:ln>
              <a:noFill/>
            </a:ln>
          </c:spPr>
          <c:invertIfNegative val="0"/>
          <c:dLbls>
            <c:dLbl>
              <c:idx val="1"/>
              <c:layout>
                <c:manualLayout>
                  <c:x val="0"/>
                  <c:y val="-9.2336103416435823E-4"/>
                </c:manualLayout>
              </c:layout>
              <c:numFmt formatCode="#,##0;#,##0" sourceLinked="0"/>
              <c:spPr>
                <a:noFill/>
                <a:ln>
                  <a:noFill/>
                </a:ln>
              </c:spPr>
              <c:txPr>
                <a:bodyPr wrap="none"/>
                <a:lstStyle/>
                <a:p>
                  <a:pPr>
                    <a:defRPr sz="8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4DC7-4CB4-964A-330D079629E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Sheet1!$A$3:$H$3</c:f>
              <c:numCache>
                <c:formatCode>General</c:formatCode>
                <c:ptCount val="8"/>
                <c:pt idx="1">
                  <c:v>4766</c:v>
                </c:pt>
              </c:numCache>
            </c:numRef>
          </c:val>
          <c:extLst>
            <c:ext xmlns:c16="http://schemas.microsoft.com/office/drawing/2014/chart" uri="{C3380CC4-5D6E-409C-BE32-E72D297353CC}">
              <c16:uniqueId val="{0000000D-4DC7-4CB4-964A-330D079629E5}"/>
            </c:ext>
          </c:extLst>
        </c:ser>
        <c:ser>
          <c:idx val="3"/>
          <c:order val="3"/>
          <c:spPr>
            <a:solidFill>
              <a:srgbClr val="012169"/>
            </a:solidFill>
            <a:ln>
              <a:noFill/>
            </a:ln>
          </c:spPr>
          <c:invertIfNegative val="0"/>
          <c:dLbls>
            <c:dLbl>
              <c:idx val="1"/>
              <c:layout>
                <c:manualLayout>
                  <c:x val="0"/>
                  <c:y val="-9.2336103416435823E-4"/>
                </c:manualLayout>
              </c:layout>
              <c:numFmt formatCode="#,##0;#,##0" sourceLinked="0"/>
              <c:spPr>
                <a:noFill/>
                <a:ln>
                  <a:noFill/>
                </a:ln>
              </c:spPr>
              <c:txPr>
                <a:bodyPr wrap="none"/>
                <a:lstStyle/>
                <a:p>
                  <a:pPr>
                    <a:defRPr sz="8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4DC7-4CB4-964A-330D079629E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Sheet1!$A$4:$H$4</c:f>
              <c:numCache>
                <c:formatCode>General</c:formatCode>
                <c:ptCount val="8"/>
                <c:pt idx="1">
                  <c:v>5474.4</c:v>
                </c:pt>
              </c:numCache>
            </c:numRef>
          </c:val>
          <c:extLst>
            <c:ext xmlns:c16="http://schemas.microsoft.com/office/drawing/2014/chart" uri="{C3380CC4-5D6E-409C-BE32-E72D297353CC}">
              <c16:uniqueId val="{0000000F-4DC7-4CB4-964A-330D079629E5}"/>
            </c:ext>
          </c:extLst>
        </c:ser>
        <c:dLbls>
          <c:showLegendKey val="0"/>
          <c:showVal val="0"/>
          <c:showCatName val="0"/>
          <c:showSerName val="0"/>
          <c:showPercent val="0"/>
          <c:showBubbleSize val="0"/>
        </c:dLbls>
        <c:gapWidth val="80"/>
        <c:overlap val="100"/>
        <c:axId val="1106146480"/>
        <c:axId val="1"/>
      </c:barChart>
      <c:catAx>
        <c:axId val="110614648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800">
                <a:latin typeface="+mn-lt"/>
                <a:ea typeface="+mn-ea"/>
                <a:cs typeface="+mn-cs"/>
                <a:sym typeface="+mn-lt"/>
              </a:defRPr>
            </a:pPr>
            <a:endParaRPr lang="en-US"/>
          </a:p>
        </c:txPr>
        <c:crossAx val="1"/>
        <c:crossesAt val="0"/>
        <c:auto val="0"/>
        <c:lblAlgn val="ctr"/>
        <c:lblOffset val="100"/>
        <c:noMultiLvlLbl val="0"/>
      </c:catAx>
      <c:valAx>
        <c:axId val="1"/>
        <c:scaling>
          <c:orientation val="minMax"/>
          <c:max val="26950.6"/>
          <c:min val="-0.40000000000145519"/>
        </c:scaling>
        <c:delete val="1"/>
        <c:axPos val="l"/>
        <c:numFmt formatCode="General" sourceLinked="1"/>
        <c:majorTickMark val="out"/>
        <c:minorTickMark val="none"/>
        <c:tickLblPos val="nextTo"/>
        <c:crossAx val="1106146480"/>
        <c:crosses val="min"/>
        <c:crossBetween val="between"/>
      </c:valAx>
    </c:plotArea>
    <c:plotVisOnly val="0"/>
    <c:dispBlanksAs val="gap"/>
    <c:showDLblsOverMax val="1"/>
  </c:chart>
  <c:externalData r:id="rId1">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5575364667747E-2"/>
          <c:y val="0.11688311688311688"/>
          <c:w val="0.96628849270664496"/>
          <c:h val="0.83487940630797774"/>
        </c:manualLayout>
      </c:layout>
      <c:barChart>
        <c:barDir val="col"/>
        <c:grouping val="stacked"/>
        <c:varyColors val="0"/>
        <c:ser>
          <c:idx val="0"/>
          <c:order val="0"/>
          <c:spPr>
            <a:noFill/>
            <a:ln>
              <a:noFill/>
            </a:ln>
          </c:spPr>
          <c:invertIfNegative val="0"/>
          <c:dPt>
            <c:idx val="0"/>
            <c:invertIfNegative val="0"/>
            <c:bubble3D val="0"/>
            <c:spPr>
              <a:solidFill>
                <a:schemeClr val="accent3"/>
              </a:solidFill>
              <a:ln>
                <a:noFill/>
              </a:ln>
            </c:spPr>
            <c:extLst>
              <c:ext xmlns:c16="http://schemas.microsoft.com/office/drawing/2014/chart" uri="{C3380CC4-5D6E-409C-BE32-E72D297353CC}">
                <c16:uniqueId val="{00000000-73D1-4CB1-B814-F0E39E641311}"/>
              </c:ext>
            </c:extLst>
          </c:dPt>
          <c:dPt>
            <c:idx val="8"/>
            <c:invertIfNegative val="0"/>
            <c:bubble3D val="0"/>
            <c:spPr>
              <a:pattFill prst="ltDnDiag">
                <a:fgClr>
                  <a:schemeClr val="tx1"/>
                </a:fgClr>
                <a:bgClr>
                  <a:schemeClr val="bg1"/>
                </a:bgClr>
              </a:pattFill>
              <a:ln>
                <a:noFill/>
              </a:ln>
            </c:spPr>
            <c:extLst>
              <c:ext xmlns:c16="http://schemas.microsoft.com/office/drawing/2014/chart" uri="{C3380CC4-5D6E-409C-BE32-E72D297353CC}">
                <c16:uniqueId val="{00000001-73D1-4CB1-B814-F0E39E641311}"/>
              </c:ext>
            </c:extLst>
          </c:dPt>
          <c:dLbls>
            <c:dLbl>
              <c:idx val="0"/>
              <c:layout>
                <c:manualLayout>
                  <c:x val="0"/>
                  <c:y val="-0.1307977736549165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3D1-4CB1-B814-F0E39E641311}"/>
                </c:ext>
              </c:extLst>
            </c:dLbl>
            <c:dLbl>
              <c:idx val="8"/>
              <c:layout>
                <c:manualLayout>
                  <c:x val="0"/>
                  <c:y val="-0.4768089053803339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73D1-4CB1-B814-F0E39E641311}"/>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Sheet1!$A$1:$I$1</c:f>
              <c:numCache>
                <c:formatCode>General</c:formatCode>
                <c:ptCount val="9"/>
                <c:pt idx="0">
                  <c:v>3020</c:v>
                </c:pt>
                <c:pt idx="1">
                  <c:v>3020</c:v>
                </c:pt>
                <c:pt idx="2">
                  <c:v>6055</c:v>
                </c:pt>
                <c:pt idx="3">
                  <c:v>12866</c:v>
                </c:pt>
                <c:pt idx="4">
                  <c:v>14702</c:v>
                </c:pt>
                <c:pt idx="5">
                  <c:v>16271</c:v>
                </c:pt>
                <c:pt idx="6">
                  <c:v>16432</c:v>
                </c:pt>
                <c:pt idx="7">
                  <c:v>16440</c:v>
                </c:pt>
                <c:pt idx="8">
                  <c:v>17640</c:v>
                </c:pt>
              </c:numCache>
            </c:numRef>
          </c:val>
          <c:extLst>
            <c:ext xmlns:c16="http://schemas.microsoft.com/office/drawing/2014/chart" uri="{C3380CC4-5D6E-409C-BE32-E72D297353CC}">
              <c16:uniqueId val="{00000002-73D1-4CB1-B814-F0E39E641311}"/>
            </c:ext>
          </c:extLst>
        </c:ser>
        <c:ser>
          <c:idx val="1"/>
          <c:order val="1"/>
          <c:spPr>
            <a:solidFill>
              <a:srgbClr val="86BC25"/>
            </a:solidFill>
            <a:ln>
              <a:noFill/>
            </a:ln>
          </c:spPr>
          <c:invertIfNegative val="0"/>
          <c:dPt>
            <c:idx val="1"/>
            <c:invertIfNegative val="0"/>
            <c:bubble3D val="0"/>
            <c:spPr>
              <a:solidFill>
                <a:srgbClr val="43B02A"/>
              </a:solidFill>
              <a:ln>
                <a:noFill/>
              </a:ln>
            </c:spPr>
            <c:extLst>
              <c:ext xmlns:c16="http://schemas.microsoft.com/office/drawing/2014/chart" uri="{C3380CC4-5D6E-409C-BE32-E72D297353CC}">
                <c16:uniqueId val="{00000003-73D1-4CB1-B814-F0E39E641311}"/>
              </c:ext>
            </c:extLst>
          </c:dPt>
          <c:dPt>
            <c:idx val="2"/>
            <c:invertIfNegative val="0"/>
            <c:bubble3D val="0"/>
            <c:spPr>
              <a:solidFill>
                <a:schemeClr val="bg2"/>
              </a:solidFill>
              <a:ln>
                <a:noFill/>
              </a:ln>
            </c:spPr>
            <c:extLst>
              <c:ext xmlns:c16="http://schemas.microsoft.com/office/drawing/2014/chart" uri="{C3380CC4-5D6E-409C-BE32-E72D297353CC}">
                <c16:uniqueId val="{00000004-73D1-4CB1-B814-F0E39E641311}"/>
              </c:ext>
            </c:extLst>
          </c:dPt>
          <c:dPt>
            <c:idx val="3"/>
            <c:invertIfNegative val="0"/>
            <c:bubble3D val="0"/>
            <c:spPr>
              <a:solidFill>
                <a:schemeClr val="accent4"/>
              </a:solidFill>
              <a:ln>
                <a:noFill/>
              </a:ln>
            </c:spPr>
            <c:extLst>
              <c:ext xmlns:c16="http://schemas.microsoft.com/office/drawing/2014/chart" uri="{C3380CC4-5D6E-409C-BE32-E72D297353CC}">
                <c16:uniqueId val="{00000005-73D1-4CB1-B814-F0E39E641311}"/>
              </c:ext>
            </c:extLst>
          </c:dPt>
          <c:dPt>
            <c:idx val="5"/>
            <c:invertIfNegative val="0"/>
            <c:bubble3D val="0"/>
            <c:spPr>
              <a:solidFill>
                <a:schemeClr val="accent2"/>
              </a:solidFill>
              <a:ln>
                <a:noFill/>
              </a:ln>
            </c:spPr>
            <c:extLst>
              <c:ext xmlns:c16="http://schemas.microsoft.com/office/drawing/2014/chart" uri="{C3380CC4-5D6E-409C-BE32-E72D297353CC}">
                <c16:uniqueId val="{00000006-73D1-4CB1-B814-F0E39E641311}"/>
              </c:ext>
            </c:extLst>
          </c:dPt>
          <c:dLbls>
            <c:dLbl>
              <c:idx val="7"/>
              <c:layout>
                <c:manualLayout>
                  <c:x val="0"/>
                  <c:y val="8.7198515769944335E-2"/>
                </c:manualLayout>
              </c:layout>
              <c:numFmt formatCode="#,##0;#,##0" sourceLinked="0"/>
              <c:spPr>
                <a:noFill/>
                <a:ln>
                  <a:noFill/>
                </a:ln>
              </c:spPr>
              <c:txPr>
                <a:bodyPr wrap="none"/>
                <a:lstStyle/>
                <a:p>
                  <a:pPr>
                    <a:defRPr sz="1000">
                      <a:solidFill>
                        <a:srgbClr val="000000"/>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73D1-4CB1-B814-F0E39E641311}"/>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Sheet1!$A$2:$I$2</c:f>
              <c:numCache>
                <c:formatCode>General</c:formatCode>
                <c:ptCount val="9"/>
                <c:pt idx="1">
                  <c:v>3035</c:v>
                </c:pt>
                <c:pt idx="2">
                  <c:v>6811</c:v>
                </c:pt>
                <c:pt idx="3">
                  <c:v>1836</c:v>
                </c:pt>
                <c:pt idx="4">
                  <c:v>1569</c:v>
                </c:pt>
                <c:pt idx="5">
                  <c:v>161</c:v>
                </c:pt>
                <c:pt idx="6">
                  <c:v>8</c:v>
                </c:pt>
                <c:pt idx="7">
                  <c:v>1200</c:v>
                </c:pt>
              </c:numCache>
            </c:numRef>
          </c:val>
          <c:extLst>
            <c:ext xmlns:c16="http://schemas.microsoft.com/office/drawing/2014/chart" uri="{C3380CC4-5D6E-409C-BE32-E72D297353CC}">
              <c16:uniqueId val="{00000008-73D1-4CB1-B814-F0E39E641311}"/>
            </c:ext>
          </c:extLst>
        </c:ser>
        <c:dLbls>
          <c:showLegendKey val="0"/>
          <c:showVal val="0"/>
          <c:showCatName val="0"/>
          <c:showSerName val="0"/>
          <c:showPercent val="0"/>
          <c:showBubbleSize val="0"/>
        </c:dLbls>
        <c:gapWidth val="80"/>
        <c:overlap val="100"/>
        <c:axId val="690188944"/>
        <c:axId val="1"/>
      </c:barChart>
      <c:catAx>
        <c:axId val="690188944"/>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17640"/>
          <c:min val="0"/>
        </c:scaling>
        <c:delete val="1"/>
        <c:axPos val="l"/>
        <c:numFmt formatCode="General" sourceLinked="1"/>
        <c:majorTickMark val="out"/>
        <c:minorTickMark val="none"/>
        <c:tickLblPos val="nextTo"/>
        <c:crossAx val="690188944"/>
        <c:crosses val="min"/>
        <c:crossBetween val="between"/>
      </c:valAx>
    </c:plotArea>
    <c:plotVisOnly val="0"/>
    <c:dispBlanksAs val="gap"/>
    <c:showDLblsOverMax val="1"/>
  </c:chart>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5575364667747E-2"/>
          <c:y val="0.11688311688311688"/>
          <c:w val="0.96628849270664496"/>
          <c:h val="0.83487940630797774"/>
        </c:manualLayout>
      </c:layout>
      <c:barChart>
        <c:barDir val="col"/>
        <c:grouping val="stacked"/>
        <c:varyColors val="0"/>
        <c:ser>
          <c:idx val="0"/>
          <c:order val="0"/>
          <c:spPr>
            <a:noFill/>
            <a:ln>
              <a:noFill/>
            </a:ln>
          </c:spPr>
          <c:invertIfNegative val="0"/>
          <c:dPt>
            <c:idx val="0"/>
            <c:invertIfNegative val="0"/>
            <c:bubble3D val="0"/>
            <c:spPr>
              <a:solidFill>
                <a:schemeClr val="accent3"/>
              </a:solidFill>
              <a:ln>
                <a:noFill/>
              </a:ln>
            </c:spPr>
            <c:extLst>
              <c:ext xmlns:c16="http://schemas.microsoft.com/office/drawing/2014/chart" uri="{C3380CC4-5D6E-409C-BE32-E72D297353CC}">
                <c16:uniqueId val="{00000000-E3B8-4021-BEF4-43F7EE9C905C}"/>
              </c:ext>
            </c:extLst>
          </c:dPt>
          <c:dPt>
            <c:idx val="7"/>
            <c:invertIfNegative val="0"/>
            <c:bubble3D val="0"/>
            <c:spPr>
              <a:pattFill prst="ltDnDiag">
                <a:fgClr>
                  <a:schemeClr val="tx1"/>
                </a:fgClr>
                <a:bgClr>
                  <a:schemeClr val="bg1"/>
                </a:bgClr>
              </a:pattFill>
              <a:ln>
                <a:noFill/>
              </a:ln>
            </c:spPr>
            <c:extLst>
              <c:ext xmlns:c16="http://schemas.microsoft.com/office/drawing/2014/chart" uri="{C3380CC4-5D6E-409C-BE32-E72D297353CC}">
                <c16:uniqueId val="{00000001-E3B8-4021-BEF4-43F7EE9C905C}"/>
              </c:ext>
            </c:extLst>
          </c:dPt>
          <c:dLbls>
            <c:dLbl>
              <c:idx val="0"/>
              <c:layout>
                <c:manualLayout>
                  <c:x val="0"/>
                  <c:y val="-0.371985157699443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E3B8-4021-BEF4-43F7EE9C905C}"/>
                </c:ext>
              </c:extLst>
            </c:dLbl>
            <c:dLbl>
              <c:idx val="7"/>
              <c:layout>
                <c:manualLayout>
                  <c:x val="0"/>
                  <c:y val="-0.4768089053803339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E3B8-4021-BEF4-43F7EE9C905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Sheet1!$A$1:$H$1</c:f>
              <c:numCache>
                <c:formatCode>General</c:formatCode>
                <c:ptCount val="8"/>
                <c:pt idx="0">
                  <c:v>4099.5</c:v>
                </c:pt>
                <c:pt idx="4">
                  <c:v>4099.5</c:v>
                </c:pt>
                <c:pt idx="5">
                  <c:v>5128.5</c:v>
                </c:pt>
                <c:pt idx="7">
                  <c:v>5473.5</c:v>
                </c:pt>
              </c:numCache>
            </c:numRef>
          </c:val>
          <c:extLst>
            <c:ext xmlns:c16="http://schemas.microsoft.com/office/drawing/2014/chart" uri="{C3380CC4-5D6E-409C-BE32-E72D297353CC}">
              <c16:uniqueId val="{00000002-E3B8-4021-BEF4-43F7EE9C905C}"/>
            </c:ext>
          </c:extLst>
        </c:ser>
        <c:ser>
          <c:idx val="1"/>
          <c:order val="1"/>
          <c:spPr>
            <a:solidFill>
              <a:srgbClr val="86BC25"/>
            </a:solidFill>
            <a:ln>
              <a:noFill/>
            </a:ln>
          </c:spPr>
          <c:invertIfNegative val="0"/>
          <c:dPt>
            <c:idx val="5"/>
            <c:invertIfNegative val="0"/>
            <c:bubble3D val="0"/>
            <c:spPr>
              <a:solidFill>
                <a:schemeClr val="accent2"/>
              </a:solidFill>
              <a:ln>
                <a:noFill/>
              </a:ln>
            </c:spPr>
            <c:extLst>
              <c:ext xmlns:c16="http://schemas.microsoft.com/office/drawing/2014/chart" uri="{C3380CC4-5D6E-409C-BE32-E72D297353CC}">
                <c16:uniqueId val="{00000003-E3B8-4021-BEF4-43F7EE9C905C}"/>
              </c:ext>
            </c:extLst>
          </c:dPt>
          <c:val>
            <c:numRef>
              <c:f>Sheet1!$A$2:$H$2</c:f>
              <c:numCache>
                <c:formatCode>General</c:formatCode>
                <c:ptCount val="8"/>
                <c:pt idx="4">
                  <c:v>1029</c:v>
                </c:pt>
                <c:pt idx="5">
                  <c:v>345</c:v>
                </c:pt>
              </c:numCache>
            </c:numRef>
          </c:val>
          <c:extLst>
            <c:ext xmlns:c16="http://schemas.microsoft.com/office/drawing/2014/chart" uri="{C3380CC4-5D6E-409C-BE32-E72D297353CC}">
              <c16:uniqueId val="{00000004-E3B8-4021-BEF4-43F7EE9C905C}"/>
            </c:ext>
          </c:extLst>
        </c:ser>
        <c:dLbls>
          <c:showLegendKey val="0"/>
          <c:showVal val="0"/>
          <c:showCatName val="0"/>
          <c:showSerName val="0"/>
          <c:showPercent val="0"/>
          <c:showBubbleSize val="0"/>
        </c:dLbls>
        <c:gapWidth val="80"/>
        <c:overlap val="100"/>
        <c:axId val="1715479768"/>
        <c:axId val="1"/>
      </c:barChart>
      <c:catAx>
        <c:axId val="1715479768"/>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5473.5"/>
          <c:min val="0"/>
        </c:scaling>
        <c:delete val="1"/>
        <c:axPos val="l"/>
        <c:numFmt formatCode="General" sourceLinked="1"/>
        <c:majorTickMark val="out"/>
        <c:minorTickMark val="none"/>
        <c:tickLblPos val="nextTo"/>
        <c:crossAx val="1715479768"/>
        <c:crosses val="min"/>
        <c:crossBetween val="between"/>
      </c:valAx>
    </c:plotArea>
    <c:plotVisOnly val="0"/>
    <c:dispBlanksAs val="gap"/>
    <c:showDLblsOverMax val="1"/>
  </c:chart>
  <c:externalData r:id="rId1">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910569105691057E-2"/>
          <c:y val="0.15730337078651685"/>
          <c:w val="0.96617886178861789"/>
          <c:h val="0.77777777777777779"/>
        </c:manualLayout>
      </c:layout>
      <c:barChart>
        <c:barDir val="col"/>
        <c:grouping val="stacked"/>
        <c:varyColors val="0"/>
        <c:ser>
          <c:idx val="0"/>
          <c:order val="0"/>
          <c:spPr>
            <a:solidFill>
              <a:srgbClr val="86BC25"/>
            </a:solidFill>
            <a:ln>
              <a:noFill/>
            </a:ln>
          </c:spPr>
          <c:invertIfNegative val="0"/>
          <c:dPt>
            <c:idx val="1"/>
            <c:invertIfNegative val="0"/>
            <c:bubble3D val="0"/>
            <c:spPr>
              <a:solidFill>
                <a:schemeClr val="accent4"/>
              </a:solidFill>
              <a:ln>
                <a:noFill/>
              </a:ln>
            </c:spPr>
            <c:extLst>
              <c:ext xmlns:c16="http://schemas.microsoft.com/office/drawing/2014/chart" uri="{C3380CC4-5D6E-409C-BE32-E72D297353CC}">
                <c16:uniqueId val="{00000000-ADA1-410A-BA63-40AD522104A6}"/>
              </c:ext>
            </c:extLst>
          </c:dPt>
          <c:dLbls>
            <c:dLbl>
              <c:idx val="0"/>
              <c:layout>
                <c:manualLayout>
                  <c:x val="0"/>
                  <c:y val="-0.46941323345817726"/>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ADA1-410A-BA63-40AD522104A6}"/>
                </c:ext>
              </c:extLst>
            </c:dLbl>
            <c:dLbl>
              <c:idx val="1"/>
              <c:layout>
                <c:manualLayout>
                  <c:x val="0"/>
                  <c:y val="-0.449438202247191"/>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ADA1-410A-BA63-40AD522104A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3020</c:v>
                </c:pt>
                <c:pt idx="1">
                  <c:v>2870</c:v>
                </c:pt>
              </c:numCache>
            </c:numRef>
          </c:val>
          <c:extLst>
            <c:ext xmlns:c16="http://schemas.microsoft.com/office/drawing/2014/chart" uri="{C3380CC4-5D6E-409C-BE32-E72D297353CC}">
              <c16:uniqueId val="{00000002-ADA1-410A-BA63-40AD522104A6}"/>
            </c:ext>
          </c:extLst>
        </c:ser>
        <c:dLbls>
          <c:showLegendKey val="0"/>
          <c:showVal val="0"/>
          <c:showCatName val="0"/>
          <c:showSerName val="0"/>
          <c:showPercent val="0"/>
          <c:showBubbleSize val="0"/>
        </c:dLbls>
        <c:gapWidth val="150"/>
        <c:overlap val="100"/>
        <c:axId val="903445248"/>
        <c:axId val="1"/>
      </c:barChart>
      <c:catAx>
        <c:axId val="903445248"/>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3020"/>
          <c:min val="0"/>
        </c:scaling>
        <c:delete val="1"/>
        <c:axPos val="l"/>
        <c:numFmt formatCode="General" sourceLinked="1"/>
        <c:majorTickMark val="out"/>
        <c:minorTickMark val="none"/>
        <c:tickLblPos val="nextTo"/>
        <c:crossAx val="903445248"/>
        <c:crosses val="min"/>
        <c:crossBetween val="between"/>
      </c:valAx>
    </c:plotArea>
    <c:plotVisOnly val="0"/>
    <c:dispBlanksAs val="gap"/>
    <c:showDLblsOverMax val="1"/>
  </c:chart>
  <c:externalData r:id="rId1">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910569105691057E-2"/>
          <c:y val="0.12512413108242304"/>
          <c:w val="0.96617886178861789"/>
          <c:h val="0.82323733862959281"/>
        </c:manualLayout>
      </c:layout>
      <c:barChart>
        <c:barDir val="col"/>
        <c:grouping val="stacked"/>
        <c:varyColors val="0"/>
        <c:ser>
          <c:idx val="0"/>
          <c:order val="0"/>
          <c:spPr>
            <a:solidFill>
              <a:srgbClr val="86BC25"/>
            </a:solidFill>
            <a:ln>
              <a:noFill/>
            </a:ln>
          </c:spPr>
          <c:invertIfNegative val="0"/>
          <c:dPt>
            <c:idx val="1"/>
            <c:invertIfNegative val="0"/>
            <c:bubble3D val="0"/>
            <c:spPr>
              <a:solidFill>
                <a:srgbClr val="012169"/>
              </a:solidFill>
              <a:ln>
                <a:noFill/>
              </a:ln>
            </c:spPr>
            <c:extLst>
              <c:ext xmlns:c16="http://schemas.microsoft.com/office/drawing/2014/chart" uri="{C3380CC4-5D6E-409C-BE32-E72D297353CC}">
                <c16:uniqueId val="{00000000-5B24-4BE9-ABC3-33905B1BBF79}"/>
              </c:ext>
            </c:extLst>
          </c:dPt>
          <c:dLbls>
            <c:dLbl>
              <c:idx val="0"/>
              <c:layout>
                <c:manualLayout>
                  <c:x val="0"/>
                  <c:y val="-0.47467725918570008"/>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5B24-4BE9-ABC3-33905B1BBF79}"/>
                </c:ext>
              </c:extLst>
            </c:dLbl>
            <c:dLbl>
              <c:idx val="1"/>
              <c:layout>
                <c:manualLayout>
                  <c:x val="0"/>
                  <c:y val="-0.37040714995034757"/>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5B24-4BE9-ABC3-33905B1BBF79}"/>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1569</c:v>
                </c:pt>
                <c:pt idx="1">
                  <c:v>1169</c:v>
                </c:pt>
              </c:numCache>
            </c:numRef>
          </c:val>
          <c:extLst>
            <c:ext xmlns:c16="http://schemas.microsoft.com/office/drawing/2014/chart" uri="{C3380CC4-5D6E-409C-BE32-E72D297353CC}">
              <c16:uniqueId val="{00000002-5B24-4BE9-ABC3-33905B1BBF79}"/>
            </c:ext>
          </c:extLst>
        </c:ser>
        <c:dLbls>
          <c:showLegendKey val="0"/>
          <c:showVal val="0"/>
          <c:showCatName val="0"/>
          <c:showSerName val="0"/>
          <c:showPercent val="0"/>
          <c:showBubbleSize val="0"/>
        </c:dLbls>
        <c:gapWidth val="150"/>
        <c:overlap val="100"/>
        <c:axId val="2113139584"/>
        <c:axId val="1"/>
      </c:barChart>
      <c:catAx>
        <c:axId val="2113139584"/>
        <c:scaling>
          <c:orientation val="minMax"/>
        </c:scaling>
        <c:delete val="0"/>
        <c:axPos val="b"/>
        <c:majorGridlines>
          <c:spPr>
            <a:ln>
              <a:noFill/>
            </a:ln>
          </c:spPr>
        </c:majorGridlines>
        <c:majorTickMark val="out"/>
        <c:minorTickMark val="none"/>
        <c:tickLblPos val="none"/>
        <c:spPr>
          <a:ln w="9525">
            <a:solidFill>
              <a:schemeClr val="tx1"/>
            </a:solidFill>
            <a:prstDash val="solid"/>
          </a:ln>
        </c:spPr>
        <c:txPr>
          <a:bodyPr wrap="none"/>
          <a:lstStyle/>
          <a:p>
            <a:pPr>
              <a:defRPr sz="1000">
                <a:solidFill>
                  <a:schemeClr val="tx1"/>
                </a:solidFill>
                <a:latin typeface="+mn-lt"/>
                <a:ea typeface="+mn-ea"/>
                <a:cs typeface="+mn-cs"/>
                <a:sym typeface="+mn-lt"/>
              </a:defRPr>
            </a:pPr>
            <a:endParaRPr lang="en-US"/>
          </a:p>
        </c:txPr>
        <c:crossAx val="1"/>
        <c:crosses val="min"/>
        <c:auto val="0"/>
        <c:lblAlgn val="ctr"/>
        <c:lblOffset val="100"/>
        <c:noMultiLvlLbl val="0"/>
      </c:catAx>
      <c:valAx>
        <c:axId val="1"/>
        <c:scaling>
          <c:orientation val="minMax"/>
          <c:max val="1569"/>
          <c:min val="0"/>
        </c:scaling>
        <c:delete val="1"/>
        <c:axPos val="l"/>
        <c:numFmt formatCode="General" sourceLinked="1"/>
        <c:majorTickMark val="out"/>
        <c:minorTickMark val="none"/>
        <c:tickLblPos val="nextTo"/>
        <c:crossAx val="2113139584"/>
        <c:crosses val="min"/>
        <c:crossBetween val="between"/>
      </c:valAx>
    </c:plotArea>
    <c:plotVisOnly val="0"/>
    <c:dispBlanksAs val="gap"/>
    <c:showDLblsOverMax val="1"/>
  </c:chart>
  <c:externalData r:id="rId1">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910569105691057E-2"/>
          <c:y val="0.18"/>
          <c:w val="0.96617886178861789"/>
          <c:h val="0.74571428571428566"/>
        </c:manualLayout>
      </c:layout>
      <c:barChart>
        <c:barDir val="col"/>
        <c:grouping val="stacked"/>
        <c:varyColors val="0"/>
        <c:ser>
          <c:idx val="0"/>
          <c:order val="0"/>
          <c:spPr>
            <a:solidFill>
              <a:srgbClr val="86BC25"/>
            </a:solidFill>
            <a:ln>
              <a:noFill/>
            </a:ln>
          </c:spPr>
          <c:invertIfNegative val="0"/>
          <c:dPt>
            <c:idx val="1"/>
            <c:invertIfNegative val="0"/>
            <c:bubble3D val="0"/>
            <c:spPr>
              <a:solidFill>
                <a:schemeClr val="accent4"/>
              </a:solidFill>
              <a:ln>
                <a:noFill/>
              </a:ln>
            </c:spPr>
            <c:extLst>
              <c:ext xmlns:c16="http://schemas.microsoft.com/office/drawing/2014/chart" uri="{C3380CC4-5D6E-409C-BE32-E72D297353CC}">
                <c16:uniqueId val="{00000000-6EC8-4C9A-A626-2AE0029C1C15}"/>
              </c:ext>
            </c:extLst>
          </c:dPt>
          <c:dLbls>
            <c:dLbl>
              <c:idx val="0"/>
              <c:layout>
                <c:manualLayout>
                  <c:x val="0"/>
                  <c:y val="-0.4642857142857143"/>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6EC8-4C9A-A626-2AE0029C1C15}"/>
                </c:ext>
              </c:extLst>
            </c:dLbl>
            <c:dLbl>
              <c:idx val="1"/>
              <c:layout>
                <c:manualLayout>
                  <c:x val="0"/>
                  <c:y val="-0.23571428571428571"/>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6EC8-4C9A-A626-2AE0029C1C1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6811</c:v>
                </c:pt>
                <c:pt idx="1">
                  <c:v>2640</c:v>
                </c:pt>
              </c:numCache>
            </c:numRef>
          </c:val>
          <c:extLst>
            <c:ext xmlns:c16="http://schemas.microsoft.com/office/drawing/2014/chart" uri="{C3380CC4-5D6E-409C-BE32-E72D297353CC}">
              <c16:uniqueId val="{00000002-6EC8-4C9A-A626-2AE0029C1C15}"/>
            </c:ext>
          </c:extLst>
        </c:ser>
        <c:dLbls>
          <c:showLegendKey val="0"/>
          <c:showVal val="0"/>
          <c:showCatName val="0"/>
          <c:showSerName val="0"/>
          <c:showPercent val="0"/>
          <c:showBubbleSize val="0"/>
        </c:dLbls>
        <c:gapWidth val="150"/>
        <c:overlap val="100"/>
        <c:axId val="915115992"/>
        <c:axId val="1"/>
      </c:barChart>
      <c:catAx>
        <c:axId val="915115992"/>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6811"/>
          <c:min val="0"/>
        </c:scaling>
        <c:delete val="1"/>
        <c:axPos val="l"/>
        <c:numFmt formatCode="General" sourceLinked="1"/>
        <c:majorTickMark val="out"/>
        <c:minorTickMark val="none"/>
        <c:tickLblPos val="nextTo"/>
        <c:crossAx val="915115992"/>
        <c:crosses val="min"/>
        <c:crossBetween val="between"/>
      </c:valAx>
    </c:plotArea>
    <c:plotVisOnly val="0"/>
    <c:dispBlanksAs val="gap"/>
    <c:showDLblsOverMax val="1"/>
  </c:chart>
  <c:externalData r:id="rId1">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110891740704178E-2"/>
          <c:y val="0.21886792452830189"/>
          <c:w val="0.96577821651859164"/>
          <c:h val="0.68301886792452826"/>
        </c:manualLayout>
      </c:layout>
      <c:barChart>
        <c:barDir val="col"/>
        <c:grouping val="stacked"/>
        <c:varyColors val="0"/>
        <c:ser>
          <c:idx val="0"/>
          <c:order val="0"/>
          <c:spPr>
            <a:noFill/>
            <a:ln>
              <a:noFill/>
            </a:ln>
          </c:spPr>
          <c:invertIfNegative val="0"/>
          <c:dPt>
            <c:idx val="0"/>
            <c:invertIfNegative val="0"/>
            <c:bubble3D val="0"/>
            <c:spPr>
              <a:solidFill>
                <a:srgbClr val="86BC25"/>
              </a:solidFill>
              <a:ln>
                <a:noFill/>
              </a:ln>
            </c:spPr>
            <c:extLst>
              <c:ext xmlns:c16="http://schemas.microsoft.com/office/drawing/2014/chart" uri="{C3380CC4-5D6E-409C-BE32-E72D297353CC}">
                <c16:uniqueId val="{00000000-F9AE-4410-8809-F8DAD0AF909D}"/>
              </c:ext>
            </c:extLst>
          </c:dPt>
          <c:dPt>
            <c:idx val="2"/>
            <c:invertIfNegative val="0"/>
            <c:bubble3D val="0"/>
            <c:spPr>
              <a:solidFill>
                <a:schemeClr val="accent6"/>
              </a:solidFill>
              <a:ln>
                <a:noFill/>
              </a:ln>
            </c:spPr>
            <c:extLst>
              <c:ext xmlns:c16="http://schemas.microsoft.com/office/drawing/2014/chart" uri="{C3380CC4-5D6E-409C-BE32-E72D297353CC}">
                <c16:uniqueId val="{00000001-F9AE-4410-8809-F8DAD0AF909D}"/>
              </c:ext>
            </c:extLst>
          </c:dPt>
          <c:dPt>
            <c:idx val="4"/>
            <c:invertIfNegative val="0"/>
            <c:bubble3D val="0"/>
            <c:spPr>
              <a:solidFill>
                <a:schemeClr val="accent5"/>
              </a:solidFill>
              <a:ln>
                <a:noFill/>
              </a:ln>
            </c:spPr>
            <c:extLst>
              <c:ext xmlns:c16="http://schemas.microsoft.com/office/drawing/2014/chart" uri="{C3380CC4-5D6E-409C-BE32-E72D297353CC}">
                <c16:uniqueId val="{00000002-F9AE-4410-8809-F8DAD0AF909D}"/>
              </c:ext>
            </c:extLst>
          </c:dPt>
          <c:dLbls>
            <c:dLbl>
              <c:idx val="0"/>
              <c:layout>
                <c:manualLayout>
                  <c:x val="0"/>
                  <c:y val="-0.30566037735849055"/>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F9AE-4410-8809-F8DAD0AF909D}"/>
                </c:ext>
              </c:extLst>
            </c:dLbl>
            <c:dLbl>
              <c:idx val="2"/>
              <c:layout>
                <c:manualLayout>
                  <c:x val="0"/>
                  <c:y val="-0.38113207547169814"/>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F9AE-4410-8809-F8DAD0AF909D}"/>
                </c:ext>
              </c:extLst>
            </c:dLbl>
            <c:dLbl>
              <c:idx val="4"/>
              <c:layout>
                <c:manualLayout>
                  <c:x val="0"/>
                  <c:y val="-0.45283018867924529"/>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F9AE-4410-8809-F8DAD0AF909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73</c:v>
                </c:pt>
                <c:pt idx="1">
                  <c:v>73</c:v>
                </c:pt>
                <c:pt idx="2">
                  <c:v>101.3</c:v>
                </c:pt>
                <c:pt idx="3">
                  <c:v>101.3</c:v>
                </c:pt>
                <c:pt idx="4">
                  <c:v>128.30000000000001</c:v>
                </c:pt>
              </c:numCache>
            </c:numRef>
          </c:val>
          <c:extLst>
            <c:ext xmlns:c16="http://schemas.microsoft.com/office/drawing/2014/chart" uri="{C3380CC4-5D6E-409C-BE32-E72D297353CC}">
              <c16:uniqueId val="{00000003-F9AE-4410-8809-F8DAD0AF909D}"/>
            </c:ext>
          </c:extLst>
        </c:ser>
        <c:ser>
          <c:idx val="1"/>
          <c:order val="1"/>
          <c:spPr>
            <a:solidFill>
              <a:schemeClr val="accent3"/>
            </a:solidFill>
            <a:ln>
              <a:noFill/>
            </a:ln>
          </c:spPr>
          <c:invertIfNegative val="0"/>
          <c:dPt>
            <c:idx val="3"/>
            <c:invertIfNegative val="0"/>
            <c:bubble3D val="0"/>
            <c:spPr>
              <a:solidFill>
                <a:schemeClr val="accent4"/>
              </a:solidFill>
              <a:ln>
                <a:noFill/>
              </a:ln>
            </c:spPr>
            <c:extLst>
              <c:ext xmlns:c16="http://schemas.microsoft.com/office/drawing/2014/chart" uri="{C3380CC4-5D6E-409C-BE32-E72D297353CC}">
                <c16:uniqueId val="{00000004-F9AE-4410-8809-F8DAD0AF909D}"/>
              </c:ext>
            </c:extLst>
          </c:dPt>
          <c:dLbls>
            <c:dLbl>
              <c:idx val="1"/>
              <c:layout>
                <c:manualLayout>
                  <c:x val="0"/>
                  <c:y val="0"/>
                </c:manualLayout>
              </c:layout>
              <c:numFmt formatCode="#,##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F9AE-4410-8809-F8DAD0AF909D}"/>
                </c:ext>
              </c:extLst>
            </c:dLbl>
            <c:dLbl>
              <c:idx val="3"/>
              <c:layout>
                <c:manualLayout>
                  <c:x val="0"/>
                  <c:y val="0"/>
                </c:manualLayout>
              </c:layout>
              <c:numFmt formatCode="#,##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F9AE-4410-8809-F8DAD0AF909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Sheet1!$A$2:$E$2</c:f>
              <c:numCache>
                <c:formatCode>General</c:formatCode>
                <c:ptCount val="5"/>
                <c:pt idx="1">
                  <c:v>28.299999999999997</c:v>
                </c:pt>
                <c:pt idx="3">
                  <c:v>27.000000000000014</c:v>
                </c:pt>
              </c:numCache>
            </c:numRef>
          </c:val>
          <c:extLst>
            <c:ext xmlns:c16="http://schemas.microsoft.com/office/drawing/2014/chart" uri="{C3380CC4-5D6E-409C-BE32-E72D297353CC}">
              <c16:uniqueId val="{00000006-F9AE-4410-8809-F8DAD0AF909D}"/>
            </c:ext>
          </c:extLst>
        </c:ser>
        <c:dLbls>
          <c:showLegendKey val="0"/>
          <c:showVal val="0"/>
          <c:showCatName val="0"/>
          <c:showSerName val="0"/>
          <c:showPercent val="0"/>
          <c:showBubbleSize val="0"/>
        </c:dLbls>
        <c:gapWidth val="80"/>
        <c:overlap val="100"/>
        <c:axId val="903441312"/>
        <c:axId val="1"/>
      </c:barChart>
      <c:catAx>
        <c:axId val="903441312"/>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128.30000000000001"/>
          <c:min val="0"/>
        </c:scaling>
        <c:delete val="1"/>
        <c:axPos val="l"/>
        <c:numFmt formatCode="General" sourceLinked="1"/>
        <c:majorTickMark val="out"/>
        <c:minorTickMark val="none"/>
        <c:tickLblPos val="nextTo"/>
        <c:crossAx val="903441312"/>
        <c:crosses val="min"/>
        <c:crossBetween val="between"/>
      </c:valAx>
    </c:plotArea>
    <c:plotVisOnly val="0"/>
    <c:dispBlanksAs val="gap"/>
    <c:showDLblsOverMax val="1"/>
  </c:chart>
  <c:externalData r:id="rId1">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44833171363784E-2"/>
          <c:y val="0.14893617021276595"/>
          <c:w val="0.96631033365727248"/>
          <c:h val="0.78959810874704495"/>
        </c:manualLayout>
      </c:layout>
      <c:barChart>
        <c:barDir val="col"/>
        <c:grouping val="stacked"/>
        <c:varyColors val="0"/>
        <c:ser>
          <c:idx val="0"/>
          <c:order val="0"/>
          <c:spPr>
            <a:solidFill>
              <a:srgbClr val="86BC25"/>
            </a:solidFill>
            <a:ln>
              <a:noFill/>
            </a:ln>
          </c:spPr>
          <c:invertIfNegative val="0"/>
          <c:dPt>
            <c:idx val="1"/>
            <c:invertIfNegative val="0"/>
            <c:bubble3D val="0"/>
            <c:spPr>
              <a:solidFill>
                <a:schemeClr val="accent4"/>
              </a:solidFill>
              <a:ln>
                <a:noFill/>
              </a:ln>
            </c:spPr>
            <c:extLst>
              <c:ext xmlns:c16="http://schemas.microsoft.com/office/drawing/2014/chart" uri="{C3380CC4-5D6E-409C-BE32-E72D297353CC}">
                <c16:uniqueId val="{00000000-7A11-4D0E-8491-4771B8FB73C8}"/>
              </c:ext>
            </c:extLst>
          </c:dPt>
          <c:dLbls>
            <c:dLbl>
              <c:idx val="0"/>
              <c:layout>
                <c:manualLayout>
                  <c:x val="0"/>
                  <c:y val="-0.47044917257683216"/>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7A11-4D0E-8491-4771B8FB73C8}"/>
                </c:ext>
              </c:extLst>
            </c:dLbl>
            <c:dLbl>
              <c:idx val="1"/>
              <c:layout>
                <c:manualLayout>
                  <c:x val="0"/>
                  <c:y val="-0.22813238770685579"/>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A11-4D0E-8491-4771B8FB73C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3035</c:v>
                </c:pt>
                <c:pt idx="1">
                  <c:v>1167</c:v>
                </c:pt>
              </c:numCache>
            </c:numRef>
          </c:val>
          <c:extLst>
            <c:ext xmlns:c16="http://schemas.microsoft.com/office/drawing/2014/chart" uri="{C3380CC4-5D6E-409C-BE32-E72D297353CC}">
              <c16:uniqueId val="{00000002-7A11-4D0E-8491-4771B8FB73C8}"/>
            </c:ext>
          </c:extLst>
        </c:ser>
        <c:dLbls>
          <c:showLegendKey val="0"/>
          <c:showVal val="0"/>
          <c:showCatName val="0"/>
          <c:showSerName val="0"/>
          <c:showPercent val="0"/>
          <c:showBubbleSize val="0"/>
        </c:dLbls>
        <c:gapWidth val="150"/>
        <c:overlap val="100"/>
        <c:axId val="895515616"/>
        <c:axId val="1"/>
      </c:barChart>
      <c:catAx>
        <c:axId val="895515616"/>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3035"/>
          <c:min val="0"/>
        </c:scaling>
        <c:delete val="1"/>
        <c:axPos val="l"/>
        <c:numFmt formatCode="General" sourceLinked="1"/>
        <c:majorTickMark val="out"/>
        <c:minorTickMark val="none"/>
        <c:tickLblPos val="nextTo"/>
        <c:crossAx val="895515616"/>
        <c:crosses val="min"/>
        <c:crossBetween val="between"/>
      </c:valAx>
    </c:plotArea>
    <c:plotVisOnly val="0"/>
    <c:dispBlanksAs val="gap"/>
    <c:showDLblsOverMax val="1"/>
  </c:chart>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910569105691057E-2"/>
          <c:y val="0.1891891891891892"/>
          <c:w val="0.96617886178861789"/>
          <c:h val="0.73273273273273276"/>
        </c:manualLayout>
      </c:layout>
      <c:barChart>
        <c:barDir val="col"/>
        <c:grouping val="stacked"/>
        <c:varyColors val="0"/>
        <c:ser>
          <c:idx val="0"/>
          <c:order val="0"/>
          <c:spPr>
            <a:solidFill>
              <a:srgbClr val="86BC25"/>
            </a:solidFill>
            <a:ln>
              <a:noFill/>
            </a:ln>
          </c:spPr>
          <c:invertIfNegative val="0"/>
          <c:dPt>
            <c:idx val="1"/>
            <c:invertIfNegative val="0"/>
            <c:bubble3D val="0"/>
            <c:spPr>
              <a:solidFill>
                <a:schemeClr val="accent4"/>
              </a:solidFill>
              <a:ln>
                <a:noFill/>
              </a:ln>
            </c:spPr>
            <c:extLst>
              <c:ext xmlns:c16="http://schemas.microsoft.com/office/drawing/2014/chart" uri="{C3380CC4-5D6E-409C-BE32-E72D297353CC}">
                <c16:uniqueId val="{00000000-4B98-4189-BBDD-36E303C2F5B5}"/>
              </c:ext>
            </c:extLst>
          </c:dPt>
          <c:dLbls>
            <c:dLbl>
              <c:idx val="0"/>
              <c:layout>
                <c:manualLayout>
                  <c:x val="0"/>
                  <c:y val="-0.46246246246246248"/>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4B98-4189-BBDD-36E303C2F5B5}"/>
                </c:ext>
              </c:extLst>
            </c:dLbl>
            <c:dLbl>
              <c:idx val="1"/>
              <c:layout>
                <c:manualLayout>
                  <c:x val="0"/>
                  <c:y val="-0.46246246246246248"/>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B98-4189-BBDD-36E303C2F5B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1836</c:v>
                </c:pt>
                <c:pt idx="1">
                  <c:v>1836</c:v>
                </c:pt>
              </c:numCache>
            </c:numRef>
          </c:val>
          <c:extLst>
            <c:ext xmlns:c16="http://schemas.microsoft.com/office/drawing/2014/chart" uri="{C3380CC4-5D6E-409C-BE32-E72D297353CC}">
              <c16:uniqueId val="{00000002-4B98-4189-BBDD-36E303C2F5B5}"/>
            </c:ext>
          </c:extLst>
        </c:ser>
        <c:dLbls>
          <c:showLegendKey val="0"/>
          <c:showVal val="0"/>
          <c:showCatName val="0"/>
          <c:showSerName val="0"/>
          <c:showPercent val="0"/>
          <c:showBubbleSize val="0"/>
        </c:dLbls>
        <c:gapWidth val="150"/>
        <c:overlap val="100"/>
        <c:axId val="903409824"/>
        <c:axId val="1"/>
      </c:barChart>
      <c:catAx>
        <c:axId val="903409824"/>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1836"/>
          <c:min val="0"/>
        </c:scaling>
        <c:delete val="1"/>
        <c:axPos val="l"/>
        <c:numFmt formatCode="General" sourceLinked="1"/>
        <c:majorTickMark val="out"/>
        <c:minorTickMark val="none"/>
        <c:tickLblPos val="nextTo"/>
        <c:crossAx val="903409824"/>
        <c:crosses val="min"/>
        <c:crossBetween val="between"/>
      </c:valAx>
    </c:plotArea>
    <c:plotVisOnly val="0"/>
    <c:dispBlanksAs val="gap"/>
    <c:showDLblsOverMax val="1"/>
  </c:chart>
  <c:externalData r:id="rId1">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910569105691057E-2"/>
          <c:y val="0.14518147684605759"/>
          <c:w val="0.96617886178861789"/>
          <c:h val="0.78973717146433042"/>
        </c:manualLayout>
      </c:layout>
      <c:barChart>
        <c:barDir val="col"/>
        <c:grouping val="stacked"/>
        <c:varyColors val="0"/>
        <c:ser>
          <c:idx val="0"/>
          <c:order val="0"/>
          <c:spPr>
            <a:noFill/>
            <a:ln>
              <a:noFill/>
            </a:ln>
          </c:spPr>
          <c:invertIfNegative val="0"/>
          <c:dPt>
            <c:idx val="0"/>
            <c:invertIfNegative val="0"/>
            <c:bubble3D val="0"/>
            <c:spPr>
              <a:solidFill>
                <a:schemeClr val="accent4"/>
              </a:solidFill>
              <a:ln>
                <a:noFill/>
              </a:ln>
            </c:spPr>
            <c:extLst>
              <c:ext xmlns:c16="http://schemas.microsoft.com/office/drawing/2014/chart" uri="{C3380CC4-5D6E-409C-BE32-E72D297353CC}">
                <c16:uniqueId val="{00000000-DBED-4BF4-9A4C-125B4D000D13}"/>
              </c:ext>
            </c:extLst>
          </c:dPt>
          <c:dPt>
            <c:idx val="7"/>
            <c:invertIfNegative val="0"/>
            <c:bubble3D val="0"/>
            <c:spPr>
              <a:solidFill>
                <a:schemeClr val="accent4"/>
              </a:solidFill>
              <a:ln>
                <a:noFill/>
              </a:ln>
            </c:spPr>
            <c:extLst>
              <c:ext xmlns:c16="http://schemas.microsoft.com/office/drawing/2014/chart" uri="{C3380CC4-5D6E-409C-BE32-E72D297353CC}">
                <c16:uniqueId val="{00000001-DBED-4BF4-9A4C-125B4D000D13}"/>
              </c:ext>
            </c:extLst>
          </c:dPt>
          <c:dLbls>
            <c:dLbl>
              <c:idx val="0"/>
              <c:layout>
                <c:manualLayout>
                  <c:x val="0"/>
                  <c:y val="-0.18898623279098872"/>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DBED-4BF4-9A4C-125B4D000D13}"/>
                </c:ext>
              </c:extLst>
            </c:dLbl>
            <c:dLbl>
              <c:idx val="7"/>
              <c:layout>
                <c:manualLayout>
                  <c:x val="0"/>
                  <c:y val="-0.46933667083854819"/>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DBED-4BF4-9A4C-125B4D000D1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Sheet1!$A$1:$H$1</c:f>
              <c:numCache>
                <c:formatCode>General</c:formatCode>
                <c:ptCount val="8"/>
                <c:pt idx="0">
                  <c:v>2870</c:v>
                </c:pt>
                <c:pt idx="1">
                  <c:v>2870</c:v>
                </c:pt>
                <c:pt idx="2">
                  <c:v>4037</c:v>
                </c:pt>
                <c:pt idx="3">
                  <c:v>6677</c:v>
                </c:pt>
                <c:pt idx="4">
                  <c:v>8513</c:v>
                </c:pt>
                <c:pt idx="5">
                  <c:v>9699</c:v>
                </c:pt>
                <c:pt idx="6">
                  <c:v>9860</c:v>
                </c:pt>
                <c:pt idx="7">
                  <c:v>9868</c:v>
                </c:pt>
              </c:numCache>
            </c:numRef>
          </c:val>
          <c:extLst>
            <c:ext xmlns:c16="http://schemas.microsoft.com/office/drawing/2014/chart" uri="{C3380CC4-5D6E-409C-BE32-E72D297353CC}">
              <c16:uniqueId val="{00000002-DBED-4BF4-9A4C-125B4D000D13}"/>
            </c:ext>
          </c:extLst>
        </c:ser>
        <c:ser>
          <c:idx val="1"/>
          <c:order val="1"/>
          <c:spPr>
            <a:solidFill>
              <a:schemeClr val="accent4"/>
            </a:solidFill>
            <a:ln>
              <a:noFill/>
            </a:ln>
          </c:spPr>
          <c:invertIfNegative val="0"/>
          <c:dLbls>
            <c:dLbl>
              <c:idx val="1"/>
              <c:layout>
                <c:manualLayout>
                  <c:x val="0"/>
                  <c:y val="-0.12015018773466833"/>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DBED-4BF4-9A4C-125B4D000D13}"/>
                </c:ext>
              </c:extLst>
            </c:dLbl>
            <c:dLbl>
              <c:idx val="2"/>
              <c:layout>
                <c:manualLayout>
                  <c:x val="0"/>
                  <c:y val="-0.17897371714643304"/>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DBED-4BF4-9A4C-125B4D000D13}"/>
                </c:ext>
              </c:extLst>
            </c:dLbl>
            <c:dLbl>
              <c:idx val="3"/>
              <c:layout>
                <c:manualLayout>
                  <c:x val="0"/>
                  <c:y val="-0.14643304130162704"/>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DBED-4BF4-9A4C-125B4D000D13}"/>
                </c:ext>
              </c:extLst>
            </c:dLbl>
            <c:dLbl>
              <c:idx val="4"/>
              <c:layout>
                <c:manualLayout>
                  <c:x val="0"/>
                  <c:y val="-0.1214017521902378"/>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DBED-4BF4-9A4C-125B4D000D13}"/>
                </c:ext>
              </c:extLst>
            </c:dLbl>
            <c:dLbl>
              <c:idx val="5"/>
              <c:layout>
                <c:manualLayout>
                  <c:x val="0"/>
                  <c:y val="-8.0100125156445559E-2"/>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DBED-4BF4-9A4C-125B4D000D1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Sheet1!$A$2:$H$2</c:f>
              <c:numCache>
                <c:formatCode>General</c:formatCode>
                <c:ptCount val="8"/>
                <c:pt idx="1">
                  <c:v>1167</c:v>
                </c:pt>
                <c:pt idx="2">
                  <c:v>2640</c:v>
                </c:pt>
                <c:pt idx="3">
                  <c:v>1836</c:v>
                </c:pt>
                <c:pt idx="4">
                  <c:v>1186</c:v>
                </c:pt>
                <c:pt idx="5">
                  <c:v>161</c:v>
                </c:pt>
                <c:pt idx="6">
                  <c:v>8</c:v>
                </c:pt>
              </c:numCache>
            </c:numRef>
          </c:val>
          <c:extLst>
            <c:ext xmlns:c16="http://schemas.microsoft.com/office/drawing/2014/chart" uri="{C3380CC4-5D6E-409C-BE32-E72D297353CC}">
              <c16:uniqueId val="{00000008-DBED-4BF4-9A4C-125B4D000D13}"/>
            </c:ext>
          </c:extLst>
        </c:ser>
        <c:dLbls>
          <c:showLegendKey val="0"/>
          <c:showVal val="0"/>
          <c:showCatName val="0"/>
          <c:showSerName val="0"/>
          <c:showPercent val="0"/>
          <c:showBubbleSize val="0"/>
        </c:dLbls>
        <c:gapWidth val="80"/>
        <c:overlap val="100"/>
        <c:axId val="1299642376"/>
        <c:axId val="1"/>
      </c:barChart>
      <c:catAx>
        <c:axId val="1299642376"/>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9868"/>
          <c:min val="0"/>
        </c:scaling>
        <c:delete val="1"/>
        <c:axPos val="l"/>
        <c:numFmt formatCode="General" sourceLinked="1"/>
        <c:majorTickMark val="out"/>
        <c:minorTickMark val="none"/>
        <c:tickLblPos val="nextTo"/>
        <c:crossAx val="1299642376"/>
        <c:crosses val="min"/>
        <c:crossBetween val="between"/>
      </c:valAx>
    </c:plotArea>
    <c:plotVisOnly val="0"/>
    <c:dispBlanksAs val="gap"/>
    <c:showDLblsOverMax val="1"/>
  </c:chart>
  <c:externalData r:id="rId1">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910569105691057E-2"/>
          <c:y val="9.9827882960413089E-2"/>
          <c:w val="0.96617886178861789"/>
          <c:h val="0.85542168674698793"/>
        </c:manualLayout>
      </c:layout>
      <c:barChart>
        <c:barDir val="col"/>
        <c:grouping val="stacked"/>
        <c:varyColors val="0"/>
        <c:ser>
          <c:idx val="0"/>
          <c:order val="0"/>
          <c:spPr>
            <a:noFill/>
            <a:ln>
              <a:noFill/>
            </a:ln>
          </c:spPr>
          <c:invertIfNegative val="0"/>
          <c:dPt>
            <c:idx val="0"/>
            <c:invertIfNegative val="0"/>
            <c:bubble3D val="0"/>
            <c:spPr>
              <a:solidFill>
                <a:schemeClr val="accent1"/>
              </a:solidFill>
              <a:ln>
                <a:noFill/>
              </a:ln>
            </c:spPr>
            <c:extLst>
              <c:ext xmlns:c16="http://schemas.microsoft.com/office/drawing/2014/chart" uri="{C3380CC4-5D6E-409C-BE32-E72D297353CC}">
                <c16:uniqueId val="{00000000-BF75-4107-B35E-D71EEC22307C}"/>
              </c:ext>
            </c:extLst>
          </c:dPt>
          <c:dPt>
            <c:idx val="2"/>
            <c:invertIfNegative val="0"/>
            <c:bubble3D val="0"/>
            <c:spPr>
              <a:solidFill>
                <a:srgbClr val="E3E48D"/>
              </a:solidFill>
              <a:ln>
                <a:noFill/>
              </a:ln>
            </c:spPr>
            <c:extLst>
              <c:ext xmlns:c16="http://schemas.microsoft.com/office/drawing/2014/chart" uri="{C3380CC4-5D6E-409C-BE32-E72D297353CC}">
                <c16:uniqueId val="{00000001-BF75-4107-B35E-D71EEC22307C}"/>
              </c:ext>
            </c:extLst>
          </c:dPt>
          <c:dLbls>
            <c:dLbl>
              <c:idx val="0"/>
              <c:layout>
                <c:manualLayout>
                  <c:x val="0"/>
                  <c:y val="-0.36660929432013767"/>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BF75-4107-B35E-D71EEC22307C}"/>
                </c:ext>
              </c:extLst>
            </c:dLbl>
            <c:dLbl>
              <c:idx val="2"/>
              <c:layout>
                <c:manualLayout>
                  <c:x val="0"/>
                  <c:y val="-0.47848537005163511"/>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BF75-4107-B35E-D71EEC22307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8521</c:v>
                </c:pt>
                <c:pt idx="1">
                  <c:v>8521</c:v>
                </c:pt>
                <c:pt idx="2">
                  <c:v>11542</c:v>
                </c:pt>
              </c:numCache>
            </c:numRef>
          </c:val>
          <c:extLst>
            <c:ext xmlns:c16="http://schemas.microsoft.com/office/drawing/2014/chart" uri="{C3380CC4-5D6E-409C-BE32-E72D297353CC}">
              <c16:uniqueId val="{00000002-BF75-4107-B35E-D71EEC22307C}"/>
            </c:ext>
          </c:extLst>
        </c:ser>
        <c:ser>
          <c:idx val="1"/>
          <c:order val="1"/>
          <c:spPr>
            <a:solidFill>
              <a:srgbClr val="141414"/>
            </a:solidFill>
            <a:ln>
              <a:noFill/>
            </a:ln>
          </c:spPr>
          <c:invertIfNegative val="0"/>
          <c:dLbls>
            <c:dLbl>
              <c:idx val="1"/>
              <c:layout>
                <c:manualLayout>
                  <c:x val="0"/>
                  <c:y val="0"/>
                </c:manualLayout>
              </c:layout>
              <c:numFmt formatCode="#,##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BF75-4107-B35E-D71EEC22307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1">
                  <c:v>3021</c:v>
                </c:pt>
              </c:numCache>
            </c:numRef>
          </c:val>
          <c:extLst>
            <c:ext xmlns:c16="http://schemas.microsoft.com/office/drawing/2014/chart" uri="{C3380CC4-5D6E-409C-BE32-E72D297353CC}">
              <c16:uniqueId val="{00000004-BF75-4107-B35E-D71EEC22307C}"/>
            </c:ext>
          </c:extLst>
        </c:ser>
        <c:dLbls>
          <c:showLegendKey val="0"/>
          <c:showVal val="0"/>
          <c:showCatName val="0"/>
          <c:showSerName val="0"/>
          <c:showPercent val="0"/>
          <c:showBubbleSize val="0"/>
        </c:dLbls>
        <c:gapWidth val="80"/>
        <c:overlap val="100"/>
        <c:axId val="562901104"/>
        <c:axId val="1"/>
      </c:barChart>
      <c:catAx>
        <c:axId val="562901104"/>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11542"/>
          <c:min val="0"/>
        </c:scaling>
        <c:delete val="1"/>
        <c:axPos val="l"/>
        <c:numFmt formatCode="General" sourceLinked="1"/>
        <c:majorTickMark val="out"/>
        <c:minorTickMark val="none"/>
        <c:tickLblPos val="nextTo"/>
        <c:crossAx val="562901104"/>
        <c:crosses val="min"/>
        <c:crossBetween val="between"/>
      </c:valAx>
    </c:plotArea>
    <c:plotVisOnly val="0"/>
    <c:dispBlanksAs val="gap"/>
    <c:showDLblsOverMax val="1"/>
  </c:chart>
  <c:externalData r:id="rId1">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5575364667747E-2"/>
          <c:y val="0.11688311688311688"/>
          <c:w val="0.96628849270664496"/>
          <c:h val="0.83487940630797774"/>
        </c:manualLayout>
      </c:layout>
      <c:barChart>
        <c:barDir val="col"/>
        <c:grouping val="stacked"/>
        <c:varyColors val="0"/>
        <c:ser>
          <c:idx val="0"/>
          <c:order val="0"/>
          <c:spPr>
            <a:noFill/>
            <a:ln>
              <a:noFill/>
            </a:ln>
          </c:spPr>
          <c:invertIfNegative val="0"/>
          <c:dPt>
            <c:idx val="0"/>
            <c:invertIfNegative val="0"/>
            <c:bubble3D val="0"/>
            <c:spPr>
              <a:solidFill>
                <a:schemeClr val="bg2"/>
              </a:solidFill>
              <a:ln>
                <a:noFill/>
              </a:ln>
            </c:spPr>
            <c:extLst>
              <c:ext xmlns:c16="http://schemas.microsoft.com/office/drawing/2014/chart" uri="{C3380CC4-5D6E-409C-BE32-E72D297353CC}">
                <c16:uniqueId val="{00000000-26D6-4C60-BB17-CE06FC4FAE75}"/>
              </c:ext>
            </c:extLst>
          </c:dPt>
          <c:dPt>
            <c:idx val="6"/>
            <c:invertIfNegative val="0"/>
            <c:bubble3D val="0"/>
            <c:spPr>
              <a:pattFill prst="ltDnDiag">
                <a:fgClr>
                  <a:schemeClr val="tx1"/>
                </a:fgClr>
                <a:bgClr>
                  <a:schemeClr val="bg1"/>
                </a:bgClr>
              </a:pattFill>
              <a:ln>
                <a:noFill/>
              </a:ln>
            </c:spPr>
            <c:extLst>
              <c:ext xmlns:c16="http://schemas.microsoft.com/office/drawing/2014/chart" uri="{C3380CC4-5D6E-409C-BE32-E72D297353CC}">
                <c16:uniqueId val="{00000001-26D6-4C60-BB17-CE06FC4FAE75}"/>
              </c:ext>
            </c:extLst>
          </c:dPt>
          <c:dLbls>
            <c:dLbl>
              <c:idx val="0"/>
              <c:layout>
                <c:manualLayout>
                  <c:x val="0"/>
                  <c:y val="-0.20686456400742115"/>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26D6-4C60-BB17-CE06FC4FAE75}"/>
                </c:ext>
              </c:extLst>
            </c:dLbl>
            <c:dLbl>
              <c:idx val="6"/>
              <c:layout>
                <c:manualLayout>
                  <c:x val="0"/>
                  <c:y val="-0.4768089053803339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26D6-4C60-BB17-CE06FC4FAE7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Sheet1!$A$1:$G$1</c:f>
              <c:numCache>
                <c:formatCode>General</c:formatCode>
                <c:ptCount val="7"/>
                <c:pt idx="0">
                  <c:v>1320</c:v>
                </c:pt>
                <c:pt idx="5">
                  <c:v>1320</c:v>
                </c:pt>
                <c:pt idx="6">
                  <c:v>3720</c:v>
                </c:pt>
              </c:numCache>
            </c:numRef>
          </c:val>
          <c:extLst>
            <c:ext xmlns:c16="http://schemas.microsoft.com/office/drawing/2014/chart" uri="{C3380CC4-5D6E-409C-BE32-E72D297353CC}">
              <c16:uniqueId val="{00000002-26D6-4C60-BB17-CE06FC4FAE75}"/>
            </c:ext>
          </c:extLst>
        </c:ser>
        <c:ser>
          <c:idx val="1"/>
          <c:order val="1"/>
          <c:spPr>
            <a:solidFill>
              <a:schemeClr val="accent5"/>
            </a:solidFill>
            <a:ln>
              <a:noFill/>
            </a:ln>
          </c:spPr>
          <c:invertIfNegative val="0"/>
          <c:dLbls>
            <c:dLbl>
              <c:idx val="5"/>
              <c:layout>
                <c:manualLayout>
                  <c:x val="0"/>
                  <c:y val="0.32931354359925791"/>
                </c:manualLayout>
              </c:layout>
              <c:numFmt formatCode="#,##0;#,##0" sourceLinked="0"/>
              <c:spPr>
                <a:noFill/>
                <a:ln>
                  <a:noFill/>
                </a:ln>
              </c:spPr>
              <c:txPr>
                <a:bodyPr wrap="none"/>
                <a:lstStyle/>
                <a:p>
                  <a:pPr>
                    <a:defRPr sz="1000">
                      <a:solidFill>
                        <a:srgbClr val="000000"/>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26D6-4C60-BB17-CE06FC4FAE7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Sheet1!$A$2:$G$2</c:f>
              <c:numCache>
                <c:formatCode>General</c:formatCode>
                <c:ptCount val="7"/>
                <c:pt idx="5">
                  <c:v>2400</c:v>
                </c:pt>
              </c:numCache>
            </c:numRef>
          </c:val>
          <c:extLst>
            <c:ext xmlns:c16="http://schemas.microsoft.com/office/drawing/2014/chart" uri="{C3380CC4-5D6E-409C-BE32-E72D297353CC}">
              <c16:uniqueId val="{00000004-26D6-4C60-BB17-CE06FC4FAE75}"/>
            </c:ext>
          </c:extLst>
        </c:ser>
        <c:dLbls>
          <c:showLegendKey val="0"/>
          <c:showVal val="0"/>
          <c:showCatName val="0"/>
          <c:showSerName val="0"/>
          <c:showPercent val="0"/>
          <c:showBubbleSize val="0"/>
        </c:dLbls>
        <c:gapWidth val="80"/>
        <c:overlap val="100"/>
        <c:axId val="562904056"/>
        <c:axId val="1"/>
      </c:barChart>
      <c:catAx>
        <c:axId val="562904056"/>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3720"/>
          <c:min val="0"/>
        </c:scaling>
        <c:delete val="1"/>
        <c:axPos val="l"/>
        <c:numFmt formatCode="General" sourceLinked="1"/>
        <c:majorTickMark val="out"/>
        <c:minorTickMark val="none"/>
        <c:tickLblPos val="nextTo"/>
        <c:crossAx val="562904056"/>
        <c:crosses val="min"/>
        <c:crossBetween val="between"/>
      </c:valAx>
    </c:plotArea>
    <c:plotVisOnly val="0"/>
    <c:dispBlanksAs val="gap"/>
    <c:showDLblsOverMax val="1"/>
  </c:chart>
  <c:externalData r:id="rId1">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235664567451108E-2"/>
          <c:y val="0.12146596858638745"/>
          <c:w val="0.96552867086509775"/>
          <c:h val="0.82408376963350793"/>
        </c:manualLayout>
      </c:layout>
      <c:barChart>
        <c:barDir val="col"/>
        <c:grouping val="stacked"/>
        <c:varyColors val="0"/>
        <c:ser>
          <c:idx val="0"/>
          <c:order val="0"/>
          <c:spPr>
            <a:noFill/>
            <a:ln>
              <a:noFill/>
            </a:ln>
          </c:spPr>
          <c:invertIfNegative val="0"/>
          <c:dPt>
            <c:idx val="0"/>
            <c:invertIfNegative val="0"/>
            <c:bubble3D val="0"/>
            <c:spPr>
              <a:solidFill>
                <a:schemeClr val="accent1"/>
              </a:solidFill>
              <a:ln>
                <a:noFill/>
              </a:ln>
            </c:spPr>
            <c:extLst>
              <c:ext xmlns:c16="http://schemas.microsoft.com/office/drawing/2014/chart" uri="{C3380CC4-5D6E-409C-BE32-E72D297353CC}">
                <c16:uniqueId val="{00000000-F0EE-4E7C-AF61-98A15B322DC6}"/>
              </c:ext>
            </c:extLst>
          </c:dPt>
          <c:dPt>
            <c:idx val="2"/>
            <c:invertIfNegative val="0"/>
            <c:bubble3D val="0"/>
            <c:spPr>
              <a:solidFill>
                <a:srgbClr val="E3E48D"/>
              </a:solidFill>
              <a:ln>
                <a:noFill/>
              </a:ln>
            </c:spPr>
            <c:extLst>
              <c:ext xmlns:c16="http://schemas.microsoft.com/office/drawing/2014/chart" uri="{C3380CC4-5D6E-409C-BE32-E72D297353CC}">
                <c16:uniqueId val="{00000001-F0EE-4E7C-AF61-98A15B322DC6}"/>
              </c:ext>
            </c:extLst>
          </c:dPt>
          <c:dLbls>
            <c:dLbl>
              <c:idx val="0"/>
              <c:layout>
                <c:manualLayout>
                  <c:x val="0"/>
                  <c:y val="-0.25759162303664923"/>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F0EE-4E7C-AF61-98A15B322DC6}"/>
                </c:ext>
              </c:extLst>
            </c:dLbl>
            <c:dLbl>
              <c:idx val="2"/>
              <c:layout>
                <c:manualLayout>
                  <c:x val="0"/>
                  <c:y val="-0.47434554973821991"/>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F0EE-4E7C-AF61-98A15B322DC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3720</c:v>
                </c:pt>
                <c:pt idx="1">
                  <c:v>3720</c:v>
                </c:pt>
                <c:pt idx="2">
                  <c:v>7828</c:v>
                </c:pt>
              </c:numCache>
            </c:numRef>
          </c:val>
          <c:extLst>
            <c:ext xmlns:c16="http://schemas.microsoft.com/office/drawing/2014/chart" uri="{C3380CC4-5D6E-409C-BE32-E72D297353CC}">
              <c16:uniqueId val="{00000002-F0EE-4E7C-AF61-98A15B322DC6}"/>
            </c:ext>
          </c:extLst>
        </c:ser>
        <c:ser>
          <c:idx val="1"/>
          <c:order val="1"/>
          <c:spPr>
            <a:solidFill>
              <a:srgbClr val="141414"/>
            </a:solidFill>
            <a:ln>
              <a:noFill/>
            </a:ln>
          </c:spPr>
          <c:invertIfNegative val="0"/>
          <c:dLbls>
            <c:dLbl>
              <c:idx val="1"/>
              <c:layout>
                <c:manualLayout>
                  <c:x val="0"/>
                  <c:y val="-1.0471204188481676E-3"/>
                </c:manualLayout>
              </c:layout>
              <c:numFmt formatCode="#,##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F0EE-4E7C-AF61-98A15B322DC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1">
                  <c:v>4108</c:v>
                </c:pt>
              </c:numCache>
            </c:numRef>
          </c:val>
          <c:extLst>
            <c:ext xmlns:c16="http://schemas.microsoft.com/office/drawing/2014/chart" uri="{C3380CC4-5D6E-409C-BE32-E72D297353CC}">
              <c16:uniqueId val="{00000004-F0EE-4E7C-AF61-98A15B322DC6}"/>
            </c:ext>
          </c:extLst>
        </c:ser>
        <c:dLbls>
          <c:showLegendKey val="0"/>
          <c:showVal val="0"/>
          <c:showCatName val="0"/>
          <c:showSerName val="0"/>
          <c:showPercent val="0"/>
          <c:showBubbleSize val="0"/>
        </c:dLbls>
        <c:gapWidth val="80"/>
        <c:overlap val="100"/>
        <c:axId val="595792872"/>
        <c:axId val="1"/>
      </c:barChart>
      <c:catAx>
        <c:axId val="595792872"/>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7828"/>
          <c:min val="0"/>
        </c:scaling>
        <c:delete val="1"/>
        <c:axPos val="l"/>
        <c:numFmt formatCode="General" sourceLinked="1"/>
        <c:majorTickMark val="out"/>
        <c:minorTickMark val="none"/>
        <c:tickLblPos val="nextTo"/>
        <c:crossAx val="595792872"/>
        <c:crosses val="min"/>
        <c:crossBetween val="between"/>
      </c:valAx>
    </c:plotArea>
    <c:plotVisOnly val="0"/>
    <c:dispBlanksAs val="gap"/>
    <c:showDLblsOverMax val="1"/>
  </c:chart>
  <c:externalData r:id="rId1">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292983039574324E-2"/>
          <c:y val="0.10396039603960396"/>
          <c:w val="0.96541403392085123"/>
          <c:h val="0.85313531353135319"/>
        </c:manualLayout>
      </c:layout>
      <c:barChart>
        <c:barDir val="col"/>
        <c:grouping val="stacked"/>
        <c:varyColors val="0"/>
        <c:ser>
          <c:idx val="0"/>
          <c:order val="0"/>
          <c:spPr>
            <a:noFill/>
            <a:ln>
              <a:noFill/>
            </a:ln>
          </c:spPr>
          <c:invertIfNegative val="0"/>
          <c:dPt>
            <c:idx val="0"/>
            <c:invertIfNegative val="0"/>
            <c:bubble3D val="0"/>
            <c:spPr>
              <a:solidFill>
                <a:srgbClr val="012169"/>
              </a:solidFill>
              <a:ln>
                <a:noFill/>
              </a:ln>
            </c:spPr>
            <c:extLst>
              <c:ext xmlns:c16="http://schemas.microsoft.com/office/drawing/2014/chart" uri="{C3380CC4-5D6E-409C-BE32-E72D297353CC}">
                <c16:uniqueId val="{00000000-319D-4884-978F-81484E662223}"/>
              </c:ext>
            </c:extLst>
          </c:dPt>
          <c:dPt>
            <c:idx val="2"/>
            <c:invertIfNegative val="0"/>
            <c:bubble3D val="0"/>
            <c:spPr>
              <a:solidFill>
                <a:srgbClr val="000000"/>
              </a:solidFill>
              <a:ln>
                <a:noFill/>
              </a:ln>
            </c:spPr>
            <c:extLst>
              <c:ext xmlns:c16="http://schemas.microsoft.com/office/drawing/2014/chart" uri="{C3380CC4-5D6E-409C-BE32-E72D297353CC}">
                <c16:uniqueId val="{00000001-319D-4884-978F-81484E662223}"/>
              </c:ext>
            </c:extLst>
          </c:dPt>
          <c:dLbls>
            <c:dLbl>
              <c:idx val="0"/>
              <c:layout>
                <c:manualLayout>
                  <c:x val="0"/>
                  <c:y val="-0.3671617161716171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319D-4884-978F-81484E662223}"/>
                </c:ext>
              </c:extLst>
            </c:dLbl>
            <c:dLbl>
              <c:idx val="2"/>
              <c:layout>
                <c:manualLayout>
                  <c:x val="0"/>
                  <c:y val="-0.47937293729372937"/>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319D-4884-978F-81484E66222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8521</c:v>
                </c:pt>
                <c:pt idx="1">
                  <c:v>8521</c:v>
                </c:pt>
                <c:pt idx="2">
                  <c:v>11542</c:v>
                </c:pt>
              </c:numCache>
            </c:numRef>
          </c:val>
          <c:extLst>
            <c:ext xmlns:c16="http://schemas.microsoft.com/office/drawing/2014/chart" uri="{C3380CC4-5D6E-409C-BE32-E72D297353CC}">
              <c16:uniqueId val="{00000002-319D-4884-978F-81484E662223}"/>
            </c:ext>
          </c:extLst>
        </c:ser>
        <c:ser>
          <c:idx val="1"/>
          <c:order val="1"/>
          <c:spPr>
            <a:solidFill>
              <a:schemeClr val="accent2"/>
            </a:solidFill>
            <a:ln>
              <a:noFill/>
            </a:ln>
          </c:spPr>
          <c:invertIfNegative val="0"/>
          <c:dLbls>
            <c:dLbl>
              <c:idx val="1"/>
              <c:layout>
                <c:manualLayout>
                  <c:x val="0"/>
                  <c:y val="0"/>
                </c:manualLayout>
              </c:layout>
              <c:numFmt formatCode="#,##0;#,##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319D-4884-978F-81484E66222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1">
                  <c:v>3021</c:v>
                </c:pt>
              </c:numCache>
            </c:numRef>
          </c:val>
          <c:extLst>
            <c:ext xmlns:c16="http://schemas.microsoft.com/office/drawing/2014/chart" uri="{C3380CC4-5D6E-409C-BE32-E72D297353CC}">
              <c16:uniqueId val="{00000004-319D-4884-978F-81484E662223}"/>
            </c:ext>
          </c:extLst>
        </c:ser>
        <c:dLbls>
          <c:showLegendKey val="0"/>
          <c:showVal val="0"/>
          <c:showCatName val="0"/>
          <c:showSerName val="0"/>
          <c:showPercent val="0"/>
          <c:showBubbleSize val="0"/>
        </c:dLbls>
        <c:gapWidth val="80"/>
        <c:overlap val="100"/>
        <c:axId val="895513320"/>
        <c:axId val="1"/>
      </c:barChart>
      <c:catAx>
        <c:axId val="89551332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11542"/>
          <c:min val="0"/>
        </c:scaling>
        <c:delete val="1"/>
        <c:axPos val="l"/>
        <c:numFmt formatCode="General" sourceLinked="1"/>
        <c:majorTickMark val="out"/>
        <c:minorTickMark val="none"/>
        <c:tickLblPos val="nextTo"/>
        <c:crossAx val="895513320"/>
        <c:crosses val="min"/>
        <c:crossBetween val="between"/>
      </c:valAx>
    </c:plotArea>
    <c:plotVisOnly val="0"/>
    <c:dispBlanksAs val="gap"/>
    <c:showDLblsOverMax val="1"/>
  </c:chart>
  <c:externalData r:id="rId1">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235664567451108E-2"/>
          <c:y val="0.10396039603960396"/>
          <c:w val="0.96552867086509775"/>
          <c:h val="0.85313531353135319"/>
        </c:manualLayout>
      </c:layout>
      <c:barChart>
        <c:barDir val="col"/>
        <c:grouping val="stacked"/>
        <c:varyColors val="0"/>
        <c:ser>
          <c:idx val="0"/>
          <c:order val="0"/>
          <c:spPr>
            <a:noFill/>
            <a:ln>
              <a:noFill/>
            </a:ln>
          </c:spPr>
          <c:invertIfNegative val="0"/>
          <c:dPt>
            <c:idx val="0"/>
            <c:invertIfNegative val="0"/>
            <c:bubble3D val="0"/>
            <c:spPr>
              <a:solidFill>
                <a:srgbClr val="012169"/>
              </a:solidFill>
              <a:ln>
                <a:noFill/>
              </a:ln>
            </c:spPr>
            <c:extLst>
              <c:ext xmlns:c16="http://schemas.microsoft.com/office/drawing/2014/chart" uri="{C3380CC4-5D6E-409C-BE32-E72D297353CC}">
                <c16:uniqueId val="{00000000-B29F-4B9E-8E95-EBDABCC79D73}"/>
              </c:ext>
            </c:extLst>
          </c:dPt>
          <c:dPt>
            <c:idx val="2"/>
            <c:invertIfNegative val="0"/>
            <c:bubble3D val="0"/>
            <c:spPr>
              <a:solidFill>
                <a:srgbClr val="000000"/>
              </a:solidFill>
              <a:ln>
                <a:noFill/>
              </a:ln>
            </c:spPr>
            <c:extLst>
              <c:ext xmlns:c16="http://schemas.microsoft.com/office/drawing/2014/chart" uri="{C3380CC4-5D6E-409C-BE32-E72D297353CC}">
                <c16:uniqueId val="{00000001-B29F-4B9E-8E95-EBDABCC79D73}"/>
              </c:ext>
            </c:extLst>
          </c:dPt>
          <c:dLbls>
            <c:dLbl>
              <c:idx val="0"/>
              <c:layout>
                <c:manualLayout>
                  <c:x val="0"/>
                  <c:y val="-0.25495049504950495"/>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B29F-4B9E-8E95-EBDABCC79D73}"/>
                </c:ext>
              </c:extLst>
            </c:dLbl>
            <c:dLbl>
              <c:idx val="2"/>
              <c:layout>
                <c:manualLayout>
                  <c:x val="0"/>
                  <c:y val="-0.47937293729372937"/>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B29F-4B9E-8E95-EBDABCC79D7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3720</c:v>
                </c:pt>
                <c:pt idx="1">
                  <c:v>3720</c:v>
                </c:pt>
                <c:pt idx="2">
                  <c:v>7828</c:v>
                </c:pt>
              </c:numCache>
            </c:numRef>
          </c:val>
          <c:extLst>
            <c:ext xmlns:c16="http://schemas.microsoft.com/office/drawing/2014/chart" uri="{C3380CC4-5D6E-409C-BE32-E72D297353CC}">
              <c16:uniqueId val="{00000002-B29F-4B9E-8E95-EBDABCC79D73}"/>
            </c:ext>
          </c:extLst>
        </c:ser>
        <c:ser>
          <c:idx val="1"/>
          <c:order val="1"/>
          <c:spPr>
            <a:solidFill>
              <a:schemeClr val="accent2"/>
            </a:solidFill>
            <a:ln>
              <a:noFill/>
            </a:ln>
          </c:spPr>
          <c:invertIfNegative val="0"/>
          <c:dLbls>
            <c:dLbl>
              <c:idx val="1"/>
              <c:layout>
                <c:manualLayout>
                  <c:x val="0"/>
                  <c:y val="0"/>
                </c:manualLayout>
              </c:layout>
              <c:numFmt formatCode="#,##0;#,##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B29F-4B9E-8E95-EBDABCC79D7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1">
                  <c:v>4108</c:v>
                </c:pt>
              </c:numCache>
            </c:numRef>
          </c:val>
          <c:extLst>
            <c:ext xmlns:c16="http://schemas.microsoft.com/office/drawing/2014/chart" uri="{C3380CC4-5D6E-409C-BE32-E72D297353CC}">
              <c16:uniqueId val="{00000004-B29F-4B9E-8E95-EBDABCC79D73}"/>
            </c:ext>
          </c:extLst>
        </c:ser>
        <c:dLbls>
          <c:showLegendKey val="0"/>
          <c:showVal val="0"/>
          <c:showCatName val="0"/>
          <c:showSerName val="0"/>
          <c:showPercent val="0"/>
          <c:showBubbleSize val="0"/>
        </c:dLbls>
        <c:gapWidth val="80"/>
        <c:overlap val="100"/>
        <c:axId val="939267104"/>
        <c:axId val="1"/>
      </c:barChart>
      <c:catAx>
        <c:axId val="939267104"/>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7828"/>
          <c:min val="0"/>
        </c:scaling>
        <c:delete val="1"/>
        <c:axPos val="l"/>
        <c:numFmt formatCode="General" sourceLinked="1"/>
        <c:majorTickMark val="out"/>
        <c:minorTickMark val="none"/>
        <c:tickLblPos val="nextTo"/>
        <c:crossAx val="939267104"/>
        <c:crosses val="min"/>
        <c:crossBetween val="between"/>
      </c:valAx>
    </c:plotArea>
    <c:plotVisOnly val="0"/>
    <c:dispBlanksAs val="gap"/>
    <c:showDLblsOverMax val="1"/>
  </c:chart>
  <c:externalData r:id="rId1">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826534110387385E-2"/>
          <c:y val="3.6958066808813077E-2"/>
          <c:w val="0.96434693177922526"/>
          <c:h val="0.92608386638237383"/>
        </c:manualLayout>
      </c:layout>
      <c:barChart>
        <c:barDir val="col"/>
        <c:grouping val="stacked"/>
        <c:varyColors val="0"/>
        <c:ser>
          <c:idx val="0"/>
          <c:order val="0"/>
          <c:spPr>
            <a:noFill/>
            <a:ln>
              <a:noFill/>
            </a:ln>
          </c:spPr>
          <c:invertIfNegative val="0"/>
          <c:dPt>
            <c:idx val="0"/>
            <c:invertIfNegative val="0"/>
            <c:bubble3D val="0"/>
            <c:spPr>
              <a:solidFill>
                <a:srgbClr val="012169"/>
              </a:solidFill>
              <a:ln>
                <a:noFill/>
              </a:ln>
            </c:spPr>
            <c:extLst>
              <c:ext xmlns:c16="http://schemas.microsoft.com/office/drawing/2014/chart" uri="{C3380CC4-5D6E-409C-BE32-E72D297353CC}">
                <c16:uniqueId val="{00000000-2CC2-4FF6-87D0-CD69DB1B332C}"/>
              </c:ext>
            </c:extLst>
          </c:dPt>
          <c:dPt>
            <c:idx val="1"/>
            <c:invertIfNegative val="0"/>
            <c:bubble3D val="0"/>
            <c:spPr>
              <a:solidFill>
                <a:srgbClr val="012169"/>
              </a:solidFill>
              <a:ln>
                <a:noFill/>
              </a:ln>
            </c:spPr>
            <c:extLst>
              <c:ext xmlns:c16="http://schemas.microsoft.com/office/drawing/2014/chart" uri="{C3380CC4-5D6E-409C-BE32-E72D297353CC}">
                <c16:uniqueId val="{00000001-2CC2-4FF6-87D0-CD69DB1B332C}"/>
              </c:ext>
            </c:extLst>
          </c:dPt>
          <c:dLbls>
            <c:dLbl>
              <c:idx val="0"/>
              <c:layout>
                <c:manualLayout>
                  <c:x val="0"/>
                  <c:y val="-0.39161336176261552"/>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2CC2-4FF6-87D0-CD69DB1B332C}"/>
                </c:ext>
              </c:extLst>
            </c:dLbl>
            <c:dLbl>
              <c:idx val="1"/>
              <c:layout>
                <c:manualLayout>
                  <c:x val="0"/>
                  <c:y val="-0.31058990760483296"/>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2CC2-4FF6-87D0-CD69DB1B332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25431</c:v>
                </c:pt>
                <c:pt idx="1">
                  <c:v>19591</c:v>
                </c:pt>
                <c:pt idx="2">
                  <c:v>19591</c:v>
                </c:pt>
                <c:pt idx="3">
                  <c:v>19591</c:v>
                </c:pt>
              </c:numCache>
            </c:numRef>
          </c:val>
          <c:extLst>
            <c:ext xmlns:c16="http://schemas.microsoft.com/office/drawing/2014/chart" uri="{C3380CC4-5D6E-409C-BE32-E72D297353CC}">
              <c16:uniqueId val="{00000002-2CC2-4FF6-87D0-CD69DB1B332C}"/>
            </c:ext>
          </c:extLst>
        </c:ser>
        <c:ser>
          <c:idx val="1"/>
          <c:order val="1"/>
          <c:spPr>
            <a:solidFill>
              <a:srgbClr val="012169"/>
            </a:solidFill>
            <a:ln>
              <a:noFill/>
            </a:ln>
          </c:spPr>
          <c:invertIfNegative val="0"/>
          <c:dPt>
            <c:idx val="3"/>
            <c:invertIfNegative val="0"/>
            <c:bubble3D val="0"/>
            <c:spPr>
              <a:solidFill>
                <a:schemeClr val="tx1"/>
              </a:solidFill>
              <a:ln>
                <a:noFill/>
              </a:ln>
            </c:spPr>
            <c:extLst>
              <c:ext xmlns:c16="http://schemas.microsoft.com/office/drawing/2014/chart" uri="{C3380CC4-5D6E-409C-BE32-E72D297353CC}">
                <c16:uniqueId val="{00000003-2CC2-4FF6-87D0-CD69DB1B332C}"/>
              </c:ext>
            </c:extLst>
          </c:dPt>
          <c:dLbls>
            <c:dLbl>
              <c:idx val="2"/>
              <c:layout>
                <c:manualLayout>
                  <c:x val="0"/>
                  <c:y val="0"/>
                </c:manualLayout>
              </c:layout>
              <c:numFmt formatCode="#,##0;#,##0" sourceLinked="0"/>
              <c:spPr>
                <a:noFill/>
                <a:ln>
                  <a:noFill/>
                </a:ln>
              </c:spPr>
              <c:txPr>
                <a:bodyPr wrap="none"/>
                <a:lstStyle/>
                <a:p>
                  <a:pPr>
                    <a:defRPr sz="8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2CC2-4FF6-87D0-CD69DB1B332C}"/>
                </c:ext>
              </c:extLst>
            </c:dLbl>
            <c:dLbl>
              <c:idx val="3"/>
              <c:layout>
                <c:manualLayout>
                  <c:x val="0"/>
                  <c:y val="-7.1073205401563609E-4"/>
                </c:manualLayout>
              </c:layout>
              <c:numFmt formatCode="#,##0;#,##0" sourceLinked="0"/>
              <c:spPr>
                <a:noFill/>
                <a:ln>
                  <a:noFill/>
                </a:ln>
              </c:spPr>
              <c:txPr>
                <a:bodyPr wrap="none"/>
                <a:lstStyle/>
                <a:p>
                  <a:pPr>
                    <a:defRPr sz="8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2CC2-4FF6-87D0-CD69DB1B332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Sheet1!$A$2:$D$2</c:f>
              <c:numCache>
                <c:formatCode>General</c:formatCode>
                <c:ptCount val="4"/>
                <c:pt idx="2">
                  <c:v>5840</c:v>
                </c:pt>
                <c:pt idx="3">
                  <c:v>6113</c:v>
                </c:pt>
              </c:numCache>
            </c:numRef>
          </c:val>
          <c:extLst>
            <c:ext xmlns:c16="http://schemas.microsoft.com/office/drawing/2014/chart" uri="{C3380CC4-5D6E-409C-BE32-E72D297353CC}">
              <c16:uniqueId val="{00000005-2CC2-4FF6-87D0-CD69DB1B332C}"/>
            </c:ext>
          </c:extLst>
        </c:ser>
        <c:dLbls>
          <c:showLegendKey val="0"/>
          <c:showVal val="0"/>
          <c:showCatName val="0"/>
          <c:showSerName val="0"/>
          <c:showPercent val="0"/>
          <c:showBubbleSize val="0"/>
        </c:dLbls>
        <c:gapWidth val="80"/>
        <c:overlap val="100"/>
        <c:axId val="1782416432"/>
        <c:axId val="1"/>
      </c:barChart>
      <c:catAx>
        <c:axId val="1782416432"/>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800">
                <a:latin typeface="+mn-lt"/>
                <a:ea typeface="+mn-ea"/>
                <a:cs typeface="+mn-cs"/>
                <a:sym typeface="+mn-lt"/>
              </a:defRPr>
            </a:pPr>
            <a:endParaRPr lang="en-US"/>
          </a:p>
        </c:txPr>
        <c:crossAx val="1"/>
        <c:crosses val="min"/>
        <c:auto val="0"/>
        <c:lblAlgn val="ctr"/>
        <c:lblOffset val="100"/>
        <c:noMultiLvlLbl val="0"/>
      </c:catAx>
      <c:valAx>
        <c:axId val="1"/>
        <c:scaling>
          <c:orientation val="minMax"/>
          <c:max val="33366"/>
          <c:min val="0"/>
        </c:scaling>
        <c:delete val="1"/>
        <c:axPos val="l"/>
        <c:numFmt formatCode="General" sourceLinked="1"/>
        <c:majorTickMark val="out"/>
        <c:minorTickMark val="none"/>
        <c:tickLblPos val="nextTo"/>
        <c:crossAx val="1782416432"/>
        <c:crosses val="min"/>
        <c:crossBetween val="between"/>
      </c:valAx>
    </c:plotArea>
    <c:plotVisOnly val="0"/>
    <c:dispBlanksAs val="gap"/>
    <c:showDLblsOverMax val="1"/>
  </c:chart>
  <c:externalData r:id="rId1">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650656420108868E-2"/>
          <c:y val="7.2838665759019733E-2"/>
          <c:w val="0.96669868715978213"/>
          <c:h val="0.89176310415248461"/>
        </c:manualLayout>
      </c:layout>
      <c:barChart>
        <c:barDir val="col"/>
        <c:grouping val="stacked"/>
        <c:varyColors val="0"/>
        <c:ser>
          <c:idx val="0"/>
          <c:order val="0"/>
          <c:spPr>
            <a:noFill/>
            <a:ln>
              <a:noFill/>
            </a:ln>
          </c:spPr>
          <c:invertIfNegative val="0"/>
          <c:dPt>
            <c:idx val="0"/>
            <c:invertIfNegative val="0"/>
            <c:bubble3D val="0"/>
            <c:spPr>
              <a:solidFill>
                <a:srgbClr val="012169"/>
              </a:solidFill>
              <a:ln>
                <a:noFill/>
              </a:ln>
            </c:spPr>
            <c:extLst>
              <c:ext xmlns:c16="http://schemas.microsoft.com/office/drawing/2014/chart" uri="{C3380CC4-5D6E-409C-BE32-E72D297353CC}">
                <c16:uniqueId val="{00000000-836A-4404-AEDE-801803542892}"/>
              </c:ext>
            </c:extLst>
          </c:dPt>
          <c:dPt>
            <c:idx val="1"/>
            <c:invertIfNegative val="0"/>
            <c:bubble3D val="0"/>
            <c:spPr>
              <a:solidFill>
                <a:srgbClr val="012169"/>
              </a:solidFill>
              <a:ln>
                <a:noFill/>
              </a:ln>
            </c:spPr>
            <c:extLst>
              <c:ext xmlns:c16="http://schemas.microsoft.com/office/drawing/2014/chart" uri="{C3380CC4-5D6E-409C-BE32-E72D297353CC}">
                <c16:uniqueId val="{00000001-836A-4404-AEDE-801803542892}"/>
              </c:ext>
            </c:extLst>
          </c:dPt>
          <c:dLbls>
            <c:dLbl>
              <c:idx val="0"/>
              <c:layout>
                <c:manualLayout>
                  <c:x val="0"/>
                  <c:y val="-0.48332198774676649"/>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836A-4404-AEDE-801803542892}"/>
                </c:ext>
              </c:extLst>
            </c:dLbl>
            <c:dLbl>
              <c:idx val="1"/>
              <c:layout>
                <c:manualLayout>
                  <c:x val="0"/>
                  <c:y val="-0.39754935330156571"/>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836A-4404-AEDE-80180354289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33366</c:v>
                </c:pt>
                <c:pt idx="1">
                  <c:v>26951</c:v>
                </c:pt>
                <c:pt idx="2">
                  <c:v>26951</c:v>
                </c:pt>
                <c:pt idx="3">
                  <c:v>26951</c:v>
                </c:pt>
              </c:numCache>
            </c:numRef>
          </c:val>
          <c:extLst>
            <c:ext xmlns:c16="http://schemas.microsoft.com/office/drawing/2014/chart" uri="{C3380CC4-5D6E-409C-BE32-E72D297353CC}">
              <c16:uniqueId val="{00000002-836A-4404-AEDE-801803542892}"/>
            </c:ext>
          </c:extLst>
        </c:ser>
        <c:ser>
          <c:idx val="1"/>
          <c:order val="1"/>
          <c:spPr>
            <a:solidFill>
              <a:srgbClr val="012169"/>
            </a:solidFill>
            <a:ln>
              <a:noFill/>
            </a:ln>
          </c:spPr>
          <c:invertIfNegative val="0"/>
          <c:dPt>
            <c:idx val="3"/>
            <c:invertIfNegative val="0"/>
            <c:bubble3D val="0"/>
            <c:spPr>
              <a:solidFill>
                <a:schemeClr val="accent5"/>
              </a:solidFill>
              <a:ln>
                <a:noFill/>
              </a:ln>
            </c:spPr>
            <c:extLst>
              <c:ext xmlns:c16="http://schemas.microsoft.com/office/drawing/2014/chart" uri="{C3380CC4-5D6E-409C-BE32-E72D297353CC}">
                <c16:uniqueId val="{00000003-836A-4404-AEDE-801803542892}"/>
              </c:ext>
            </c:extLst>
          </c:dPt>
          <c:dLbls>
            <c:dLbl>
              <c:idx val="2"/>
              <c:layout>
                <c:manualLayout>
                  <c:x val="0"/>
                  <c:y val="0"/>
                </c:manualLayout>
              </c:layout>
              <c:numFmt formatCode="#,##0;#,##0" sourceLinked="0"/>
              <c:spPr>
                <a:noFill/>
                <a:ln>
                  <a:noFill/>
                </a:ln>
              </c:spPr>
              <c:txPr>
                <a:bodyPr wrap="none"/>
                <a:lstStyle/>
                <a:p>
                  <a:pPr>
                    <a:defRPr sz="8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836A-4404-AEDE-801803542892}"/>
                </c:ext>
              </c:extLst>
            </c:dLbl>
            <c:dLbl>
              <c:idx val="3"/>
              <c:layout>
                <c:manualLayout>
                  <c:x val="0"/>
                  <c:y val="0"/>
                </c:manualLayout>
              </c:layout>
              <c:numFmt formatCode="#,##0;#,##0" sourceLinked="0"/>
              <c:spPr>
                <a:noFill/>
                <a:ln>
                  <a:noFill/>
                </a:ln>
              </c:spPr>
              <c:txPr>
                <a:bodyPr wrap="none"/>
                <a:lstStyle/>
                <a:p>
                  <a:pPr>
                    <a:defRPr sz="8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836A-4404-AEDE-80180354289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Sheet1!$A$2:$D$2</c:f>
              <c:numCache>
                <c:formatCode>General</c:formatCode>
                <c:ptCount val="4"/>
                <c:pt idx="2">
                  <c:v>6415</c:v>
                </c:pt>
                <c:pt idx="3">
                  <c:v>5698</c:v>
                </c:pt>
              </c:numCache>
            </c:numRef>
          </c:val>
          <c:extLst>
            <c:ext xmlns:c16="http://schemas.microsoft.com/office/drawing/2014/chart" uri="{C3380CC4-5D6E-409C-BE32-E72D297353CC}">
              <c16:uniqueId val="{00000005-836A-4404-AEDE-801803542892}"/>
            </c:ext>
          </c:extLst>
        </c:ser>
        <c:dLbls>
          <c:showLegendKey val="0"/>
          <c:showVal val="0"/>
          <c:showCatName val="0"/>
          <c:showSerName val="0"/>
          <c:showPercent val="0"/>
          <c:showBubbleSize val="0"/>
        </c:dLbls>
        <c:gapWidth val="80"/>
        <c:overlap val="100"/>
        <c:axId val="59556943"/>
        <c:axId val="1"/>
      </c:barChart>
      <c:catAx>
        <c:axId val="59556943"/>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800">
                <a:latin typeface="+mn-lt"/>
                <a:ea typeface="+mn-ea"/>
                <a:cs typeface="+mn-cs"/>
                <a:sym typeface="+mn-lt"/>
              </a:defRPr>
            </a:pPr>
            <a:endParaRPr lang="en-US"/>
          </a:p>
        </c:txPr>
        <c:crossAx val="1"/>
        <c:crosses val="min"/>
        <c:auto val="0"/>
        <c:lblAlgn val="ctr"/>
        <c:lblOffset val="100"/>
        <c:noMultiLvlLbl val="0"/>
      </c:catAx>
      <c:valAx>
        <c:axId val="1"/>
        <c:scaling>
          <c:orientation val="minMax"/>
          <c:max val="33366"/>
          <c:min val="0"/>
        </c:scaling>
        <c:delete val="1"/>
        <c:axPos val="l"/>
        <c:numFmt formatCode="General" sourceLinked="1"/>
        <c:majorTickMark val="out"/>
        <c:minorTickMark val="none"/>
        <c:tickLblPos val="nextTo"/>
        <c:crossAx val="59556943"/>
        <c:crosses val="min"/>
        <c:crossBetween val="between"/>
      </c:valAx>
    </c:plotArea>
    <c:plotVisOnly val="0"/>
    <c:dispBlanksAs val="gap"/>
    <c:showDLblsOverMax val="1"/>
  </c:chart>
  <c:externalData r:id="rId1">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826534110387385E-2"/>
          <c:y val="4.4293015332197615E-2"/>
          <c:w val="0.96434693177922526"/>
          <c:h val="0.91141396933560481"/>
        </c:manualLayout>
      </c:layout>
      <c:barChart>
        <c:barDir val="col"/>
        <c:grouping val="clustered"/>
        <c:varyColors val="0"/>
        <c:ser>
          <c:idx val="0"/>
          <c:order val="0"/>
          <c:spPr>
            <a:solidFill>
              <a:srgbClr val="86BC25"/>
            </a:solidFill>
            <a:ln>
              <a:noFill/>
            </a:ln>
          </c:spPr>
          <c:invertIfNegative val="0"/>
          <c:val>
            <c:numRef>
              <c:f>Sheet1!$A$1:$D$1</c:f>
              <c:numCache>
                <c:formatCode>General</c:formatCode>
                <c:ptCount val="4"/>
                <c:pt idx="0">
                  <c:v>65.285725144170215</c:v>
                </c:pt>
                <c:pt idx="1">
                  <c:v>66.620798661937812</c:v>
                </c:pt>
                <c:pt idx="2">
                  <c:v>70.714214576291283</c:v>
                </c:pt>
                <c:pt idx="3">
                  <c:v>66.728451419505248</c:v>
                </c:pt>
              </c:numCache>
            </c:numRef>
          </c:val>
          <c:extLst>
            <c:ext xmlns:c16="http://schemas.microsoft.com/office/drawing/2014/chart" uri="{C3380CC4-5D6E-409C-BE32-E72D297353CC}">
              <c16:uniqueId val="{00000000-EC2C-4BD9-AAB9-A61524D4CE75}"/>
            </c:ext>
          </c:extLst>
        </c:ser>
        <c:ser>
          <c:idx val="1"/>
          <c:order val="1"/>
          <c:spPr>
            <a:solidFill>
              <a:srgbClr val="046A38"/>
            </a:solidFill>
            <a:ln>
              <a:noFill/>
            </a:ln>
          </c:spPr>
          <c:invertIfNegative val="0"/>
          <c:val>
            <c:numRef>
              <c:f>Sheet1!$A$2:$D$2</c:f>
              <c:numCache>
                <c:formatCode>General</c:formatCode>
                <c:ptCount val="4"/>
                <c:pt idx="0">
                  <c:v>69.117800427010764</c:v>
                </c:pt>
                <c:pt idx="1">
                  <c:v>53.205487384481131</c:v>
                </c:pt>
                <c:pt idx="2">
                  <c:v>46.033114731871528</c:v>
                </c:pt>
                <c:pt idx="3">
                  <c:v>58.809163277073885</c:v>
                </c:pt>
              </c:numCache>
            </c:numRef>
          </c:val>
          <c:extLst>
            <c:ext xmlns:c16="http://schemas.microsoft.com/office/drawing/2014/chart" uri="{C3380CC4-5D6E-409C-BE32-E72D297353CC}">
              <c16:uniqueId val="{00000001-EC2C-4BD9-AAB9-A61524D4CE75}"/>
            </c:ext>
          </c:extLst>
        </c:ser>
        <c:ser>
          <c:idx val="2"/>
          <c:order val="2"/>
          <c:spPr>
            <a:solidFill>
              <a:srgbClr val="62B5E5"/>
            </a:solidFill>
            <a:ln>
              <a:noFill/>
            </a:ln>
          </c:spPr>
          <c:invertIfNegative val="0"/>
          <c:val>
            <c:numRef>
              <c:f>Sheet1!$A$3:$D$3</c:f>
              <c:numCache>
                <c:formatCode>General</c:formatCode>
                <c:ptCount val="4"/>
                <c:pt idx="0">
                  <c:v>51.35118472614819</c:v>
                </c:pt>
                <c:pt idx="1">
                  <c:v>57.272927350427352</c:v>
                </c:pt>
                <c:pt idx="2">
                  <c:v>45.674811417373775</c:v>
                </c:pt>
                <c:pt idx="3">
                  <c:v>52.050901983620804</c:v>
                </c:pt>
              </c:numCache>
            </c:numRef>
          </c:val>
          <c:extLst>
            <c:ext xmlns:c16="http://schemas.microsoft.com/office/drawing/2014/chart" uri="{C3380CC4-5D6E-409C-BE32-E72D297353CC}">
              <c16:uniqueId val="{00000002-EC2C-4BD9-AAB9-A61524D4CE75}"/>
            </c:ext>
          </c:extLst>
        </c:ser>
        <c:ser>
          <c:idx val="3"/>
          <c:order val="3"/>
          <c:spPr>
            <a:solidFill>
              <a:srgbClr val="012169"/>
            </a:solidFill>
            <a:ln>
              <a:noFill/>
            </a:ln>
          </c:spPr>
          <c:invertIfNegative val="0"/>
          <c:val>
            <c:numRef>
              <c:f>Sheet1!$A$4:$D$4</c:f>
              <c:numCache>
                <c:formatCode>General</c:formatCode>
                <c:ptCount val="4"/>
                <c:pt idx="0">
                  <c:v>46.353843209007238</c:v>
                </c:pt>
                <c:pt idx="1">
                  <c:v>40.984117009746377</c:v>
                </c:pt>
                <c:pt idx="2">
                  <c:v>36.540925498359258</c:v>
                </c:pt>
                <c:pt idx="3">
                  <c:v>44.016504801121357</c:v>
                </c:pt>
              </c:numCache>
            </c:numRef>
          </c:val>
          <c:extLst>
            <c:ext xmlns:c16="http://schemas.microsoft.com/office/drawing/2014/chart" uri="{C3380CC4-5D6E-409C-BE32-E72D297353CC}">
              <c16:uniqueId val="{00000003-EC2C-4BD9-AAB9-A61524D4CE75}"/>
            </c:ext>
          </c:extLst>
        </c:ser>
        <c:dLbls>
          <c:showLegendKey val="0"/>
          <c:showVal val="0"/>
          <c:showCatName val="0"/>
          <c:showSerName val="0"/>
          <c:showPercent val="0"/>
          <c:showBubbleSize val="0"/>
        </c:dLbls>
        <c:gapWidth val="150"/>
        <c:axId val="894509056"/>
        <c:axId val="1"/>
      </c:barChart>
      <c:lineChart>
        <c:grouping val="standard"/>
        <c:varyColors val="0"/>
        <c:ser>
          <c:idx val="4"/>
          <c:order val="4"/>
          <c:spPr>
            <a:ln w="28575" algn="ctr">
              <a:solidFill>
                <a:schemeClr val="accent5"/>
              </a:solidFill>
              <a:prstDash val="solid"/>
            </a:ln>
          </c:spPr>
          <c:marker>
            <c:symbol val="none"/>
          </c:marker>
          <c:dPt>
            <c:idx val="0"/>
            <c:marker>
              <c:symbol val="triangle"/>
              <c:size val="3"/>
              <c:spPr>
                <a:solidFill>
                  <a:schemeClr val="accent5"/>
                </a:solidFill>
                <a:ln w="9525" algn="ctr">
                  <a:solidFill>
                    <a:schemeClr val="accent5"/>
                  </a:solidFill>
                  <a:prstDash val="solid"/>
                </a:ln>
              </c:spPr>
            </c:marker>
            <c:bubble3D val="0"/>
            <c:extLst>
              <c:ext xmlns:c16="http://schemas.microsoft.com/office/drawing/2014/chart" uri="{C3380CC4-5D6E-409C-BE32-E72D297353CC}">
                <c16:uniqueId val="{00000004-EC2C-4BD9-AAB9-A61524D4CE75}"/>
              </c:ext>
            </c:extLst>
          </c:dPt>
          <c:dPt>
            <c:idx val="1"/>
            <c:marker>
              <c:symbol val="triangle"/>
              <c:size val="3"/>
              <c:spPr>
                <a:solidFill>
                  <a:schemeClr val="accent5"/>
                </a:solidFill>
                <a:ln w="9525" algn="ctr">
                  <a:solidFill>
                    <a:schemeClr val="accent5"/>
                  </a:solidFill>
                  <a:prstDash val="solid"/>
                </a:ln>
              </c:spPr>
            </c:marker>
            <c:bubble3D val="0"/>
            <c:extLst>
              <c:ext xmlns:c16="http://schemas.microsoft.com/office/drawing/2014/chart" uri="{C3380CC4-5D6E-409C-BE32-E72D297353CC}">
                <c16:uniqueId val="{00000005-EC2C-4BD9-AAB9-A61524D4CE75}"/>
              </c:ext>
            </c:extLst>
          </c:dPt>
          <c:dPt>
            <c:idx val="2"/>
            <c:marker>
              <c:symbol val="triangle"/>
              <c:size val="3"/>
              <c:spPr>
                <a:solidFill>
                  <a:schemeClr val="accent5"/>
                </a:solidFill>
                <a:ln w="9525" algn="ctr">
                  <a:solidFill>
                    <a:schemeClr val="accent5"/>
                  </a:solidFill>
                  <a:prstDash val="solid"/>
                </a:ln>
              </c:spPr>
            </c:marker>
            <c:bubble3D val="0"/>
            <c:extLst>
              <c:ext xmlns:c16="http://schemas.microsoft.com/office/drawing/2014/chart" uri="{C3380CC4-5D6E-409C-BE32-E72D297353CC}">
                <c16:uniqueId val="{00000006-EC2C-4BD9-AAB9-A61524D4CE75}"/>
              </c:ext>
            </c:extLst>
          </c:dPt>
          <c:dPt>
            <c:idx val="3"/>
            <c:marker>
              <c:symbol val="triangle"/>
              <c:size val="3"/>
              <c:spPr>
                <a:solidFill>
                  <a:schemeClr val="accent5"/>
                </a:solidFill>
                <a:ln w="9525" algn="ctr">
                  <a:solidFill>
                    <a:schemeClr val="accent5"/>
                  </a:solidFill>
                  <a:prstDash val="solid"/>
                </a:ln>
              </c:spPr>
            </c:marker>
            <c:bubble3D val="0"/>
            <c:extLst>
              <c:ext xmlns:c16="http://schemas.microsoft.com/office/drawing/2014/chart" uri="{C3380CC4-5D6E-409C-BE32-E72D297353CC}">
                <c16:uniqueId val="{00000007-EC2C-4BD9-AAB9-A61524D4CE75}"/>
              </c:ext>
            </c:extLst>
          </c:dPt>
          <c:val>
            <c:numRef>
              <c:f>Sheet1!$A$5:$D$5</c:f>
              <c:numCache>
                <c:formatCode>General</c:formatCode>
                <c:ptCount val="4"/>
                <c:pt idx="0">
                  <c:v>56.608670770748482</c:v>
                </c:pt>
                <c:pt idx="1">
                  <c:v>52.305739119618124</c:v>
                </c:pt>
                <c:pt idx="2">
                  <c:v>49.776389206182671</c:v>
                </c:pt>
                <c:pt idx="3">
                  <c:v>53.697651573447061</c:v>
                </c:pt>
              </c:numCache>
            </c:numRef>
          </c:val>
          <c:smooth val="0"/>
          <c:extLst>
            <c:ext xmlns:c16="http://schemas.microsoft.com/office/drawing/2014/chart" uri="{C3380CC4-5D6E-409C-BE32-E72D297353CC}">
              <c16:uniqueId val="{00000008-EC2C-4BD9-AAB9-A61524D4CE75}"/>
            </c:ext>
          </c:extLst>
        </c:ser>
        <c:dLbls>
          <c:showLegendKey val="0"/>
          <c:showVal val="0"/>
          <c:showCatName val="0"/>
          <c:showSerName val="0"/>
          <c:showPercent val="0"/>
          <c:showBubbleSize val="0"/>
        </c:dLbls>
        <c:marker val="1"/>
        <c:smooth val="0"/>
        <c:axId val="3"/>
        <c:axId val="2"/>
      </c:lineChart>
      <c:catAx>
        <c:axId val="894509056"/>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95"/>
          <c:min val="0"/>
        </c:scaling>
        <c:delete val="0"/>
        <c:axPos val="l"/>
        <c:majorGridlines>
          <c:spPr>
            <a:ln>
              <a:noFill/>
            </a:ln>
          </c:spPr>
        </c:majorGridlines>
        <c:numFmt formatCode="General" sourceLinked="1"/>
        <c:majorTickMark val="none"/>
        <c:minorTickMark val="none"/>
        <c:tickLblPos val="none"/>
        <c:spPr>
          <a:ln w="9525" algn="ctr">
            <a:solidFill>
              <a:srgbClr val="FFFFFF"/>
            </a:solidFill>
            <a:prstDash val="solid"/>
          </a:ln>
        </c:spPr>
        <c:crossAx val="894509056"/>
        <c:crosses val="min"/>
        <c:crossBetween val="between"/>
      </c:valAx>
      <c:valAx>
        <c:axId val="2"/>
        <c:scaling>
          <c:orientation val="minMax"/>
          <c:max val="56.608670770748482"/>
          <c:min val="0"/>
        </c:scaling>
        <c:delete val="0"/>
        <c:axPos val="r"/>
        <c:majorGridlines>
          <c:spPr>
            <a:ln>
              <a:noFill/>
            </a:ln>
          </c:spPr>
        </c:majorGridlines>
        <c:numFmt formatCode="General" sourceLinked="1"/>
        <c:majorTickMark val="none"/>
        <c:minorTickMark val="none"/>
        <c:tickLblPos val="none"/>
        <c:spPr>
          <a:ln w="9525" algn="ctr">
            <a:solidFill>
              <a:srgbClr val="FFFFFF"/>
            </a:solidFill>
            <a:prstDash val="solid"/>
          </a:ln>
        </c:spPr>
        <c:crossAx val="3"/>
        <c:crosses val="max"/>
        <c:crossBetween val="between"/>
      </c:valAx>
      <c:catAx>
        <c:axId val="3"/>
        <c:scaling>
          <c:orientation val="minMax"/>
        </c:scaling>
        <c:delete val="1"/>
        <c:axPos val="b"/>
        <c:majorTickMark val="out"/>
        <c:minorTickMark val="none"/>
        <c:tickLblPos val="nextTo"/>
        <c:crossAx val="2"/>
        <c:crosses val="min"/>
        <c:auto val="0"/>
        <c:lblAlgn val="ctr"/>
        <c:lblOffset val="100"/>
        <c:noMultiLvlLbl val="0"/>
      </c:catAx>
    </c:plotArea>
    <c:plotVisOnly val="0"/>
    <c:dispBlanksAs val="gap"/>
    <c:showDLblsOverMax val="1"/>
  </c:chart>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8322762508809022E-2"/>
          <c:y val="8.0745341614906832E-2"/>
          <c:w val="0.96335447498238203"/>
          <c:h val="0.83850931677018625"/>
        </c:manualLayout>
      </c:layout>
      <c:barChart>
        <c:barDir val="col"/>
        <c:grouping val="stacked"/>
        <c:varyColors val="0"/>
        <c:ser>
          <c:idx val="0"/>
          <c:order val="0"/>
          <c:spPr>
            <a:solidFill>
              <a:srgbClr val="86BC25"/>
            </a:solidFill>
            <a:ln>
              <a:noFill/>
            </a:ln>
          </c:spPr>
          <c:invertIfNegative val="0"/>
          <c:dPt>
            <c:idx val="2"/>
            <c:invertIfNegative val="0"/>
            <c:bubble3D val="0"/>
            <c:spPr>
              <a:solidFill>
                <a:schemeClr val="accent2"/>
              </a:solidFill>
              <a:ln>
                <a:noFill/>
              </a:ln>
            </c:spPr>
            <c:extLst>
              <c:ext xmlns:c16="http://schemas.microsoft.com/office/drawing/2014/chart" uri="{C3380CC4-5D6E-409C-BE32-E72D297353CC}">
                <c16:uniqueId val="{00000000-B2C6-4437-8F78-CF9EF23C38B3}"/>
              </c:ext>
            </c:extLst>
          </c:dPt>
          <c:dPt>
            <c:idx val="3"/>
            <c:invertIfNegative val="0"/>
            <c:bubble3D val="0"/>
            <c:spPr>
              <a:solidFill>
                <a:schemeClr val="accent3"/>
              </a:solidFill>
              <a:ln>
                <a:noFill/>
              </a:ln>
            </c:spPr>
            <c:extLst>
              <c:ext xmlns:c16="http://schemas.microsoft.com/office/drawing/2014/chart" uri="{C3380CC4-5D6E-409C-BE32-E72D297353CC}">
                <c16:uniqueId val="{00000001-B2C6-4437-8F78-CF9EF23C38B3}"/>
              </c:ext>
            </c:extLst>
          </c:dPt>
          <c:val>
            <c:numRef>
              <c:f>Sheet1!$A$1:$D$1</c:f>
              <c:numCache>
                <c:formatCode>General</c:formatCode>
                <c:ptCount val="4"/>
                <c:pt idx="0">
                  <c:v>40</c:v>
                </c:pt>
                <c:pt idx="1">
                  <c:v>33.5</c:v>
                </c:pt>
                <c:pt idx="2">
                  <c:v>41.762614012738858</c:v>
                </c:pt>
                <c:pt idx="3">
                  <c:v>32.767764959217523</c:v>
                </c:pt>
              </c:numCache>
            </c:numRef>
          </c:val>
          <c:extLst>
            <c:ext xmlns:c16="http://schemas.microsoft.com/office/drawing/2014/chart" uri="{C3380CC4-5D6E-409C-BE32-E72D297353CC}">
              <c16:uniqueId val="{00000002-B2C6-4437-8F78-CF9EF23C38B3}"/>
            </c:ext>
          </c:extLst>
        </c:ser>
        <c:dLbls>
          <c:showLegendKey val="0"/>
          <c:showVal val="0"/>
          <c:showCatName val="0"/>
          <c:showSerName val="0"/>
          <c:showPercent val="0"/>
          <c:showBubbleSize val="0"/>
        </c:dLbls>
        <c:gapWidth val="150"/>
        <c:overlap val="100"/>
        <c:axId val="772728600"/>
        <c:axId val="1"/>
      </c:barChart>
      <c:catAx>
        <c:axId val="77272860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41.762614012738858"/>
          <c:min val="0"/>
        </c:scaling>
        <c:delete val="1"/>
        <c:axPos val="l"/>
        <c:numFmt formatCode="General" sourceLinked="1"/>
        <c:majorTickMark val="out"/>
        <c:minorTickMark val="none"/>
        <c:tickLblPos val="nextTo"/>
        <c:crossAx val="772728600"/>
        <c:crosses val="min"/>
        <c:crossBetween val="between"/>
      </c:valAx>
    </c:plotArea>
    <c:plotVisOnly val="0"/>
    <c:dispBlanksAs val="gap"/>
    <c:showDLblsOverMax val="1"/>
  </c:chart>
  <c:externalData r:id="rId1">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8767079758500161E-2"/>
          <c:y val="2.7469624933967249E-2"/>
          <c:w val="0.94343819510645066"/>
          <c:h val="0.89064976228209192"/>
        </c:manualLayout>
      </c:layout>
      <c:bubbleChart>
        <c:varyColors val="0"/>
        <c:ser>
          <c:idx val="1"/>
          <c:order val="0"/>
          <c:spPr>
            <a:solidFill>
              <a:schemeClr val="accent1"/>
            </a:solidFill>
            <a:ln>
              <a:noFill/>
            </a:ln>
          </c:spPr>
          <c:invertIfNegative val="0"/>
          <c:xVal>
            <c:numRef>
              <c:f>Sheet1!$A$1:$A$56</c:f>
              <c:numCache>
                <c:formatCode>General</c:formatCode>
                <c:ptCount val="56"/>
                <c:pt idx="0">
                  <c:v>38.26</c:v>
                </c:pt>
                <c:pt idx="1">
                  <c:v>35.510000000000005</c:v>
                </c:pt>
                <c:pt idx="2">
                  <c:v>38.26</c:v>
                </c:pt>
                <c:pt idx="3">
                  <c:v>38.26</c:v>
                </c:pt>
                <c:pt idx="4">
                  <c:v>37.26</c:v>
                </c:pt>
                <c:pt idx="5">
                  <c:v>28.88</c:v>
                </c:pt>
                <c:pt idx="6">
                  <c:v>35.839999999999996</c:v>
                </c:pt>
                <c:pt idx="7">
                  <c:v>35.699999999999996</c:v>
                </c:pt>
                <c:pt idx="8">
                  <c:v>43.09</c:v>
                </c:pt>
                <c:pt idx="9">
                  <c:v>42.71</c:v>
                </c:pt>
              </c:numCache>
            </c:numRef>
          </c:xVal>
          <c:yVal>
            <c:numRef>
              <c:f>Sheet1!$D$1:$D$56</c:f>
              <c:numCache>
                <c:formatCode>General</c:formatCode>
                <c:ptCount val="56"/>
                <c:pt idx="0">
                  <c:v>87.759833955998332</c:v>
                </c:pt>
                <c:pt idx="1">
                  <c:v>52.518296400752085</c:v>
                </c:pt>
                <c:pt idx="2">
                  <c:v>82.774414694894148</c:v>
                </c:pt>
                <c:pt idx="3">
                  <c:v>76.627567455375683</c:v>
                </c:pt>
                <c:pt idx="4">
                  <c:v>40.488286931337733</c:v>
                </c:pt>
                <c:pt idx="5">
                  <c:v>79.185343938724401</c:v>
                </c:pt>
                <c:pt idx="6">
                  <c:v>60.138838356164392</c:v>
                </c:pt>
                <c:pt idx="7">
                  <c:v>78.540381754769314</c:v>
                </c:pt>
                <c:pt idx="8">
                  <c:v>26.834217493824386</c:v>
                </c:pt>
                <c:pt idx="9">
                  <c:v>34.304881544439979</c:v>
                </c:pt>
              </c:numCache>
            </c:numRef>
          </c:yVal>
          <c:bubbleSize>
            <c:numRef>
              <c:f>Sheet1!$E$1:$E$56</c:f>
              <c:numCache>
                <c:formatCode>General</c:formatCode>
                <c:ptCount val="56"/>
                <c:pt idx="0">
                  <c:v>22</c:v>
                </c:pt>
                <c:pt idx="1">
                  <c:v>51</c:v>
                </c:pt>
                <c:pt idx="2">
                  <c:v>22</c:v>
                </c:pt>
                <c:pt idx="3">
                  <c:v>22</c:v>
                </c:pt>
                <c:pt idx="4">
                  <c:v>108</c:v>
                </c:pt>
                <c:pt idx="5">
                  <c:v>341</c:v>
                </c:pt>
                <c:pt idx="6">
                  <c:v>25</c:v>
                </c:pt>
                <c:pt idx="7">
                  <c:v>163</c:v>
                </c:pt>
                <c:pt idx="8">
                  <c:v>305</c:v>
                </c:pt>
                <c:pt idx="9">
                  <c:v>281.99099999999999</c:v>
                </c:pt>
              </c:numCache>
            </c:numRef>
          </c:bubbleSize>
          <c:bubble3D val="0"/>
          <c:extLst>
            <c:ext xmlns:c16="http://schemas.microsoft.com/office/drawing/2014/chart" uri="{C3380CC4-5D6E-409C-BE32-E72D297353CC}">
              <c16:uniqueId val="{00000000-9E4D-4906-84A0-F7F6A0450C0B}"/>
            </c:ext>
          </c:extLst>
        </c:ser>
        <c:ser>
          <c:idx val="2"/>
          <c:order val="1"/>
          <c:spPr>
            <a:solidFill>
              <a:schemeClr val="accent2"/>
            </a:solidFill>
            <a:ln>
              <a:noFill/>
            </a:ln>
          </c:spPr>
          <c:invertIfNegative val="0"/>
          <c:dPt>
            <c:idx val="10"/>
            <c:invertIfNegative val="0"/>
            <c:bubble3D val="0"/>
            <c:spPr>
              <a:solidFill>
                <a:schemeClr val="accent3"/>
              </a:solidFill>
              <a:ln>
                <a:noFill/>
              </a:ln>
            </c:spPr>
            <c:extLst>
              <c:ext xmlns:c16="http://schemas.microsoft.com/office/drawing/2014/chart" uri="{C3380CC4-5D6E-409C-BE32-E72D297353CC}">
                <c16:uniqueId val="{00000001-9E4D-4906-84A0-F7F6A0450C0B}"/>
              </c:ext>
            </c:extLst>
          </c:dPt>
          <c:dPt>
            <c:idx val="11"/>
            <c:invertIfNegative val="0"/>
            <c:bubble3D val="0"/>
            <c:spPr>
              <a:solidFill>
                <a:schemeClr val="accent3"/>
              </a:solidFill>
              <a:ln>
                <a:noFill/>
              </a:ln>
            </c:spPr>
            <c:extLst>
              <c:ext xmlns:c16="http://schemas.microsoft.com/office/drawing/2014/chart" uri="{C3380CC4-5D6E-409C-BE32-E72D297353CC}">
                <c16:uniqueId val="{00000002-9E4D-4906-84A0-F7F6A0450C0B}"/>
              </c:ext>
            </c:extLst>
          </c:dPt>
          <c:dPt>
            <c:idx val="12"/>
            <c:invertIfNegative val="0"/>
            <c:bubble3D val="0"/>
            <c:spPr>
              <a:solidFill>
                <a:schemeClr val="accent3"/>
              </a:solidFill>
              <a:ln>
                <a:noFill/>
              </a:ln>
            </c:spPr>
            <c:extLst>
              <c:ext xmlns:c16="http://schemas.microsoft.com/office/drawing/2014/chart" uri="{C3380CC4-5D6E-409C-BE32-E72D297353CC}">
                <c16:uniqueId val="{00000003-9E4D-4906-84A0-F7F6A0450C0B}"/>
              </c:ext>
            </c:extLst>
          </c:dPt>
          <c:dPt>
            <c:idx val="13"/>
            <c:invertIfNegative val="0"/>
            <c:bubble3D val="0"/>
            <c:spPr>
              <a:solidFill>
                <a:schemeClr val="accent3"/>
              </a:solidFill>
              <a:ln>
                <a:noFill/>
              </a:ln>
            </c:spPr>
            <c:extLst>
              <c:ext xmlns:c16="http://schemas.microsoft.com/office/drawing/2014/chart" uri="{C3380CC4-5D6E-409C-BE32-E72D297353CC}">
                <c16:uniqueId val="{00000004-9E4D-4906-84A0-F7F6A0450C0B}"/>
              </c:ext>
            </c:extLst>
          </c:dPt>
          <c:dPt>
            <c:idx val="14"/>
            <c:invertIfNegative val="0"/>
            <c:bubble3D val="0"/>
            <c:spPr>
              <a:solidFill>
                <a:schemeClr val="accent3"/>
              </a:solidFill>
              <a:ln>
                <a:noFill/>
              </a:ln>
            </c:spPr>
            <c:extLst>
              <c:ext xmlns:c16="http://schemas.microsoft.com/office/drawing/2014/chart" uri="{C3380CC4-5D6E-409C-BE32-E72D297353CC}">
                <c16:uniqueId val="{00000005-9E4D-4906-84A0-F7F6A0450C0B}"/>
              </c:ext>
            </c:extLst>
          </c:dPt>
          <c:dPt>
            <c:idx val="15"/>
            <c:invertIfNegative val="0"/>
            <c:bubble3D val="0"/>
            <c:spPr>
              <a:solidFill>
                <a:schemeClr val="accent3"/>
              </a:solidFill>
              <a:ln>
                <a:noFill/>
              </a:ln>
            </c:spPr>
            <c:extLst>
              <c:ext xmlns:c16="http://schemas.microsoft.com/office/drawing/2014/chart" uri="{C3380CC4-5D6E-409C-BE32-E72D297353CC}">
                <c16:uniqueId val="{00000006-9E4D-4906-84A0-F7F6A0450C0B}"/>
              </c:ext>
            </c:extLst>
          </c:dPt>
          <c:dPt>
            <c:idx val="16"/>
            <c:invertIfNegative val="0"/>
            <c:bubble3D val="0"/>
            <c:spPr>
              <a:solidFill>
                <a:schemeClr val="accent3"/>
              </a:solidFill>
              <a:ln>
                <a:noFill/>
              </a:ln>
            </c:spPr>
            <c:extLst>
              <c:ext xmlns:c16="http://schemas.microsoft.com/office/drawing/2014/chart" uri="{C3380CC4-5D6E-409C-BE32-E72D297353CC}">
                <c16:uniqueId val="{00000007-9E4D-4906-84A0-F7F6A0450C0B}"/>
              </c:ext>
            </c:extLst>
          </c:dPt>
          <c:dPt>
            <c:idx val="17"/>
            <c:invertIfNegative val="0"/>
            <c:bubble3D val="0"/>
            <c:spPr>
              <a:solidFill>
                <a:schemeClr val="accent3"/>
              </a:solidFill>
              <a:ln>
                <a:noFill/>
              </a:ln>
            </c:spPr>
            <c:extLst>
              <c:ext xmlns:c16="http://schemas.microsoft.com/office/drawing/2014/chart" uri="{C3380CC4-5D6E-409C-BE32-E72D297353CC}">
                <c16:uniqueId val="{00000008-9E4D-4906-84A0-F7F6A0450C0B}"/>
              </c:ext>
            </c:extLst>
          </c:dPt>
          <c:dPt>
            <c:idx val="18"/>
            <c:invertIfNegative val="0"/>
            <c:bubble3D val="0"/>
            <c:spPr>
              <a:solidFill>
                <a:schemeClr val="accent1"/>
              </a:solidFill>
              <a:ln>
                <a:noFill/>
              </a:ln>
            </c:spPr>
            <c:extLst>
              <c:ext xmlns:c16="http://schemas.microsoft.com/office/drawing/2014/chart" uri="{C3380CC4-5D6E-409C-BE32-E72D297353CC}">
                <c16:uniqueId val="{00000009-9E4D-4906-84A0-F7F6A0450C0B}"/>
              </c:ext>
            </c:extLst>
          </c:dPt>
          <c:dPt>
            <c:idx val="19"/>
            <c:invertIfNegative val="0"/>
            <c:bubble3D val="0"/>
            <c:spPr>
              <a:solidFill>
                <a:schemeClr val="accent1"/>
              </a:solidFill>
              <a:ln>
                <a:noFill/>
              </a:ln>
            </c:spPr>
            <c:extLst>
              <c:ext xmlns:c16="http://schemas.microsoft.com/office/drawing/2014/chart" uri="{C3380CC4-5D6E-409C-BE32-E72D297353CC}">
                <c16:uniqueId val="{0000000A-9E4D-4906-84A0-F7F6A0450C0B}"/>
              </c:ext>
            </c:extLst>
          </c:dPt>
          <c:dPt>
            <c:idx val="20"/>
            <c:invertIfNegative val="0"/>
            <c:bubble3D val="0"/>
            <c:spPr>
              <a:solidFill>
                <a:schemeClr val="accent1"/>
              </a:solidFill>
              <a:ln>
                <a:noFill/>
              </a:ln>
            </c:spPr>
            <c:extLst>
              <c:ext xmlns:c16="http://schemas.microsoft.com/office/drawing/2014/chart" uri="{C3380CC4-5D6E-409C-BE32-E72D297353CC}">
                <c16:uniqueId val="{0000000B-9E4D-4906-84A0-F7F6A0450C0B}"/>
              </c:ext>
            </c:extLst>
          </c:dPt>
          <c:xVal>
            <c:numRef>
              <c:f>Sheet1!$A$1:$A$56</c:f>
              <c:numCache>
                <c:formatCode>General</c:formatCode>
                <c:ptCount val="56"/>
                <c:pt idx="10">
                  <c:v>28.419189189189186</c:v>
                </c:pt>
                <c:pt idx="11">
                  <c:v>26.029999999999998</c:v>
                </c:pt>
                <c:pt idx="12">
                  <c:v>25.540000000000003</c:v>
                </c:pt>
                <c:pt idx="13">
                  <c:v>28.326915422885573</c:v>
                </c:pt>
                <c:pt idx="14">
                  <c:v>27.750000000000004</c:v>
                </c:pt>
                <c:pt idx="15">
                  <c:v>19.28</c:v>
                </c:pt>
                <c:pt idx="16">
                  <c:v>30.459999999999997</c:v>
                </c:pt>
                <c:pt idx="17">
                  <c:v>40.21</c:v>
                </c:pt>
                <c:pt idx="18">
                  <c:v>45.17</c:v>
                </c:pt>
                <c:pt idx="19">
                  <c:v>49.059999999999995</c:v>
                </c:pt>
                <c:pt idx="20">
                  <c:v>42.51</c:v>
                </c:pt>
                <c:pt idx="21">
                  <c:v>30.599999999999998</c:v>
                </c:pt>
                <c:pt idx="22">
                  <c:v>38.019999999999996</c:v>
                </c:pt>
                <c:pt idx="23">
                  <c:v>47.74</c:v>
                </c:pt>
                <c:pt idx="24">
                  <c:v>52.449999999999996</c:v>
                </c:pt>
                <c:pt idx="25">
                  <c:v>50.17</c:v>
                </c:pt>
                <c:pt idx="26">
                  <c:v>25.130000000000003</c:v>
                </c:pt>
                <c:pt idx="27">
                  <c:v>31.840000000000003</c:v>
                </c:pt>
                <c:pt idx="28">
                  <c:v>56.13</c:v>
                </c:pt>
                <c:pt idx="29">
                  <c:v>41.88</c:v>
                </c:pt>
                <c:pt idx="30">
                  <c:v>38.54</c:v>
                </c:pt>
              </c:numCache>
            </c:numRef>
          </c:xVal>
          <c:yVal>
            <c:numRef>
              <c:f>Sheet1!$F$1:$F$56</c:f>
              <c:numCache>
                <c:formatCode>General</c:formatCode>
                <c:ptCount val="56"/>
                <c:pt idx="10">
                  <c:v>31.523194326175485</c:v>
                </c:pt>
                <c:pt idx="11">
                  <c:v>30.721003479017174</c:v>
                </c:pt>
                <c:pt idx="12">
                  <c:v>39.976711187214612</c:v>
                </c:pt>
                <c:pt idx="13">
                  <c:v>58.370277968036518</c:v>
                </c:pt>
                <c:pt idx="14">
                  <c:v>94.254016171993911</c:v>
                </c:pt>
                <c:pt idx="15">
                  <c:v>5.2554202798374599</c:v>
                </c:pt>
                <c:pt idx="16">
                  <c:v>50.736201571560635</c:v>
                </c:pt>
                <c:pt idx="17">
                  <c:v>63.716190189566916</c:v>
                </c:pt>
                <c:pt idx="18">
                  <c:v>77.489458092338921</c:v>
                </c:pt>
                <c:pt idx="19">
                  <c:v>79.457502536783352</c:v>
                </c:pt>
                <c:pt idx="20">
                  <c:v>27.042218241423722</c:v>
                </c:pt>
                <c:pt idx="21">
                  <c:v>27.67553129009379</c:v>
                </c:pt>
                <c:pt idx="22">
                  <c:v>56.903383105022833</c:v>
                </c:pt>
                <c:pt idx="23">
                  <c:v>85.298459817351599</c:v>
                </c:pt>
                <c:pt idx="24">
                  <c:v>64.590486656519545</c:v>
                </c:pt>
                <c:pt idx="25">
                  <c:v>59.784537163876209</c:v>
                </c:pt>
                <c:pt idx="26">
                  <c:v>18.561639269406392</c:v>
                </c:pt>
                <c:pt idx="27">
                  <c:v>27.953752845362235</c:v>
                </c:pt>
                <c:pt idx="28">
                  <c:v>77.981185496741588</c:v>
                </c:pt>
                <c:pt idx="29">
                  <c:v>53.098683893731845</c:v>
                </c:pt>
                <c:pt idx="30">
                  <c:v>42.163066158156916</c:v>
                </c:pt>
              </c:numCache>
            </c:numRef>
          </c:yVal>
          <c:bubbleSize>
            <c:numRef>
              <c:f>Sheet1!$G$1:$G$56</c:f>
              <c:numCache>
                <c:formatCode>General</c:formatCode>
                <c:ptCount val="56"/>
                <c:pt idx="10">
                  <c:v>740</c:v>
                </c:pt>
                <c:pt idx="11">
                  <c:v>420</c:v>
                </c:pt>
                <c:pt idx="12">
                  <c:v>20</c:v>
                </c:pt>
                <c:pt idx="13">
                  <c:v>180</c:v>
                </c:pt>
                <c:pt idx="14">
                  <c:v>60</c:v>
                </c:pt>
                <c:pt idx="15">
                  <c:v>109</c:v>
                </c:pt>
                <c:pt idx="16">
                  <c:v>163</c:v>
                </c:pt>
                <c:pt idx="17">
                  <c:v>330</c:v>
                </c:pt>
                <c:pt idx="18">
                  <c:v>450</c:v>
                </c:pt>
                <c:pt idx="19">
                  <c:v>360</c:v>
                </c:pt>
                <c:pt idx="20">
                  <c:v>195</c:v>
                </c:pt>
                <c:pt idx="21">
                  <c:v>573</c:v>
                </c:pt>
                <c:pt idx="22">
                  <c:v>50</c:v>
                </c:pt>
                <c:pt idx="23">
                  <c:v>225</c:v>
                </c:pt>
                <c:pt idx="24">
                  <c:v>450</c:v>
                </c:pt>
                <c:pt idx="25">
                  <c:v>450</c:v>
                </c:pt>
                <c:pt idx="26">
                  <c:v>420</c:v>
                </c:pt>
                <c:pt idx="27">
                  <c:v>335</c:v>
                </c:pt>
                <c:pt idx="28">
                  <c:v>412</c:v>
                </c:pt>
                <c:pt idx="29">
                  <c:v>220</c:v>
                </c:pt>
                <c:pt idx="30">
                  <c:v>220</c:v>
                </c:pt>
              </c:numCache>
            </c:numRef>
          </c:bubbleSize>
          <c:bubble3D val="0"/>
          <c:extLst>
            <c:ext xmlns:c16="http://schemas.microsoft.com/office/drawing/2014/chart" uri="{C3380CC4-5D6E-409C-BE32-E72D297353CC}">
              <c16:uniqueId val="{0000000C-9E4D-4906-84A0-F7F6A0450C0B}"/>
            </c:ext>
          </c:extLst>
        </c:ser>
        <c:ser>
          <c:idx val="3"/>
          <c:order val="2"/>
          <c:spPr>
            <a:solidFill>
              <a:srgbClr val="012169"/>
            </a:solidFill>
            <a:ln>
              <a:noFill/>
            </a:ln>
          </c:spPr>
          <c:invertIfNegative val="0"/>
          <c:dPt>
            <c:idx val="31"/>
            <c:invertIfNegative val="0"/>
            <c:bubble3D val="0"/>
            <c:spPr>
              <a:solidFill>
                <a:schemeClr val="accent3"/>
              </a:solidFill>
              <a:ln>
                <a:noFill/>
              </a:ln>
            </c:spPr>
            <c:extLst>
              <c:ext xmlns:c16="http://schemas.microsoft.com/office/drawing/2014/chart" uri="{C3380CC4-5D6E-409C-BE32-E72D297353CC}">
                <c16:uniqueId val="{0000000D-9E4D-4906-84A0-F7F6A0450C0B}"/>
              </c:ext>
            </c:extLst>
          </c:dPt>
          <c:dPt>
            <c:idx val="32"/>
            <c:invertIfNegative val="0"/>
            <c:bubble3D val="0"/>
            <c:spPr>
              <a:solidFill>
                <a:schemeClr val="accent3"/>
              </a:solidFill>
              <a:ln>
                <a:noFill/>
              </a:ln>
            </c:spPr>
            <c:extLst>
              <c:ext xmlns:c16="http://schemas.microsoft.com/office/drawing/2014/chart" uri="{C3380CC4-5D6E-409C-BE32-E72D297353CC}">
                <c16:uniqueId val="{0000000E-9E4D-4906-84A0-F7F6A0450C0B}"/>
              </c:ext>
            </c:extLst>
          </c:dPt>
          <c:dPt>
            <c:idx val="33"/>
            <c:invertIfNegative val="0"/>
            <c:bubble3D val="0"/>
            <c:spPr>
              <a:solidFill>
                <a:schemeClr val="accent3"/>
              </a:solidFill>
              <a:ln>
                <a:noFill/>
              </a:ln>
            </c:spPr>
            <c:extLst>
              <c:ext xmlns:c16="http://schemas.microsoft.com/office/drawing/2014/chart" uri="{C3380CC4-5D6E-409C-BE32-E72D297353CC}">
                <c16:uniqueId val="{0000000F-9E4D-4906-84A0-F7F6A0450C0B}"/>
              </c:ext>
            </c:extLst>
          </c:dPt>
          <c:dPt>
            <c:idx val="34"/>
            <c:invertIfNegative val="0"/>
            <c:bubble3D val="0"/>
            <c:spPr>
              <a:solidFill>
                <a:schemeClr val="accent3"/>
              </a:solidFill>
              <a:ln>
                <a:noFill/>
              </a:ln>
            </c:spPr>
            <c:extLst>
              <c:ext xmlns:c16="http://schemas.microsoft.com/office/drawing/2014/chart" uri="{C3380CC4-5D6E-409C-BE32-E72D297353CC}">
                <c16:uniqueId val="{00000010-9E4D-4906-84A0-F7F6A0450C0B}"/>
              </c:ext>
            </c:extLst>
          </c:dPt>
          <c:dPt>
            <c:idx val="35"/>
            <c:invertIfNegative val="0"/>
            <c:bubble3D val="0"/>
            <c:spPr>
              <a:solidFill>
                <a:schemeClr val="accent3"/>
              </a:solidFill>
              <a:ln>
                <a:noFill/>
              </a:ln>
            </c:spPr>
            <c:extLst>
              <c:ext xmlns:c16="http://schemas.microsoft.com/office/drawing/2014/chart" uri="{C3380CC4-5D6E-409C-BE32-E72D297353CC}">
                <c16:uniqueId val="{00000011-9E4D-4906-84A0-F7F6A0450C0B}"/>
              </c:ext>
            </c:extLst>
          </c:dPt>
          <c:dPt>
            <c:idx val="36"/>
            <c:invertIfNegative val="0"/>
            <c:bubble3D val="0"/>
            <c:spPr>
              <a:solidFill>
                <a:schemeClr val="accent3"/>
              </a:solidFill>
              <a:ln>
                <a:noFill/>
              </a:ln>
            </c:spPr>
            <c:extLst>
              <c:ext xmlns:c16="http://schemas.microsoft.com/office/drawing/2014/chart" uri="{C3380CC4-5D6E-409C-BE32-E72D297353CC}">
                <c16:uniqueId val="{00000012-9E4D-4906-84A0-F7F6A0450C0B}"/>
              </c:ext>
            </c:extLst>
          </c:dPt>
          <c:dPt>
            <c:idx val="37"/>
            <c:invertIfNegative val="0"/>
            <c:bubble3D val="0"/>
            <c:spPr>
              <a:solidFill>
                <a:schemeClr val="accent2"/>
              </a:solidFill>
              <a:ln>
                <a:noFill/>
              </a:ln>
            </c:spPr>
            <c:extLst>
              <c:ext xmlns:c16="http://schemas.microsoft.com/office/drawing/2014/chart" uri="{C3380CC4-5D6E-409C-BE32-E72D297353CC}">
                <c16:uniqueId val="{00000013-9E4D-4906-84A0-F7F6A0450C0B}"/>
              </c:ext>
            </c:extLst>
          </c:dPt>
          <c:dPt>
            <c:idx val="38"/>
            <c:invertIfNegative val="0"/>
            <c:bubble3D val="0"/>
            <c:spPr>
              <a:solidFill>
                <a:schemeClr val="accent2"/>
              </a:solidFill>
              <a:ln>
                <a:noFill/>
              </a:ln>
            </c:spPr>
            <c:extLst>
              <c:ext xmlns:c16="http://schemas.microsoft.com/office/drawing/2014/chart" uri="{C3380CC4-5D6E-409C-BE32-E72D297353CC}">
                <c16:uniqueId val="{00000014-9E4D-4906-84A0-F7F6A0450C0B}"/>
              </c:ext>
            </c:extLst>
          </c:dPt>
          <c:xVal>
            <c:numRef>
              <c:f>Sheet1!$A$1:$A$56</c:f>
              <c:numCache>
                <c:formatCode>General</c:formatCode>
                <c:ptCount val="56"/>
                <c:pt idx="31">
                  <c:v>27.864502923976609</c:v>
                </c:pt>
                <c:pt idx="32">
                  <c:v>44.74</c:v>
                </c:pt>
                <c:pt idx="33">
                  <c:v>32.18</c:v>
                </c:pt>
                <c:pt idx="34">
                  <c:v>27.889999999999997</c:v>
                </c:pt>
                <c:pt idx="35">
                  <c:v>25.89</c:v>
                </c:pt>
                <c:pt idx="36">
                  <c:v>52.33</c:v>
                </c:pt>
                <c:pt idx="37">
                  <c:v>43.2</c:v>
                </c:pt>
                <c:pt idx="38">
                  <c:v>45.7</c:v>
                </c:pt>
                <c:pt idx="39">
                  <c:v>27.250000000000004</c:v>
                </c:pt>
                <c:pt idx="40">
                  <c:v>43.05</c:v>
                </c:pt>
                <c:pt idx="41">
                  <c:v>37.909999999999997</c:v>
                </c:pt>
                <c:pt idx="42">
                  <c:v>35.96</c:v>
                </c:pt>
                <c:pt idx="43">
                  <c:v>36.24</c:v>
                </c:pt>
                <c:pt idx="44">
                  <c:v>34.25</c:v>
                </c:pt>
                <c:pt idx="45">
                  <c:v>28.410000000000004</c:v>
                </c:pt>
                <c:pt idx="46">
                  <c:v>28.49</c:v>
                </c:pt>
                <c:pt idx="47">
                  <c:v>32.5</c:v>
                </c:pt>
                <c:pt idx="48">
                  <c:v>35.85</c:v>
                </c:pt>
                <c:pt idx="49">
                  <c:v>36.309999999999995</c:v>
                </c:pt>
                <c:pt idx="50">
                  <c:v>34.25</c:v>
                </c:pt>
                <c:pt idx="51">
                  <c:v>31.28</c:v>
                </c:pt>
              </c:numCache>
            </c:numRef>
          </c:xVal>
          <c:yVal>
            <c:numRef>
              <c:f>Sheet1!$H$1:$H$56</c:f>
              <c:numCache>
                <c:formatCode>General</c:formatCode>
                <c:ptCount val="56"/>
                <c:pt idx="31">
                  <c:v>18.110343400357817</c:v>
                </c:pt>
                <c:pt idx="32">
                  <c:v>70.602135328704577</c:v>
                </c:pt>
                <c:pt idx="33">
                  <c:v>36.599292161339427</c:v>
                </c:pt>
                <c:pt idx="34">
                  <c:v>56.564852511415531</c:v>
                </c:pt>
                <c:pt idx="35">
                  <c:v>6.4064631441617754</c:v>
                </c:pt>
                <c:pt idx="36">
                  <c:v>78.757396499238979</c:v>
                </c:pt>
                <c:pt idx="37">
                  <c:v>67.085828277886506</c:v>
                </c:pt>
                <c:pt idx="38">
                  <c:v>66.461251585489606</c:v>
                </c:pt>
                <c:pt idx="39">
                  <c:v>65.933258999681428</c:v>
                </c:pt>
                <c:pt idx="40">
                  <c:v>71.027682648401822</c:v>
                </c:pt>
                <c:pt idx="41">
                  <c:v>69.195522428149346</c:v>
                </c:pt>
                <c:pt idx="42">
                  <c:v>45.650822992210585</c:v>
                </c:pt>
                <c:pt idx="43">
                  <c:v>79.176320475847163</c:v>
                </c:pt>
                <c:pt idx="44">
                  <c:v>67.916315068493162</c:v>
                </c:pt>
                <c:pt idx="45">
                  <c:v>73.842147945205483</c:v>
                </c:pt>
                <c:pt idx="46">
                  <c:v>67.90698491766986</c:v>
                </c:pt>
                <c:pt idx="47">
                  <c:v>26.808719800747195</c:v>
                </c:pt>
                <c:pt idx="48">
                  <c:v>40.071710147456599</c:v>
                </c:pt>
                <c:pt idx="49">
                  <c:v>19.59086844145774</c:v>
                </c:pt>
                <c:pt idx="50">
                  <c:v>52.798641552511413</c:v>
                </c:pt>
                <c:pt idx="51">
                  <c:v>86.540123754669992</c:v>
                </c:pt>
              </c:numCache>
            </c:numRef>
          </c:yVal>
          <c:bubbleSize>
            <c:numRef>
              <c:f>Sheet1!$I$1:$I$56</c:f>
              <c:numCache>
                <c:formatCode>General</c:formatCode>
                <c:ptCount val="56"/>
                <c:pt idx="31">
                  <c:v>171</c:v>
                </c:pt>
                <c:pt idx="32">
                  <c:v>365</c:v>
                </c:pt>
                <c:pt idx="33">
                  <c:v>150</c:v>
                </c:pt>
                <c:pt idx="34">
                  <c:v>150</c:v>
                </c:pt>
                <c:pt idx="35">
                  <c:v>210</c:v>
                </c:pt>
                <c:pt idx="36">
                  <c:v>195</c:v>
                </c:pt>
                <c:pt idx="37">
                  <c:v>210</c:v>
                </c:pt>
                <c:pt idx="38">
                  <c:v>360</c:v>
                </c:pt>
                <c:pt idx="39">
                  <c:v>86</c:v>
                </c:pt>
                <c:pt idx="40">
                  <c:v>10</c:v>
                </c:pt>
                <c:pt idx="41">
                  <c:v>51</c:v>
                </c:pt>
                <c:pt idx="42">
                  <c:v>85</c:v>
                </c:pt>
                <c:pt idx="43">
                  <c:v>95</c:v>
                </c:pt>
                <c:pt idx="44">
                  <c:v>50</c:v>
                </c:pt>
                <c:pt idx="45">
                  <c:v>50</c:v>
                </c:pt>
                <c:pt idx="46">
                  <c:v>33</c:v>
                </c:pt>
                <c:pt idx="47">
                  <c:v>55</c:v>
                </c:pt>
                <c:pt idx="48">
                  <c:v>78.5</c:v>
                </c:pt>
                <c:pt idx="49">
                  <c:v>53</c:v>
                </c:pt>
                <c:pt idx="50">
                  <c:v>20</c:v>
                </c:pt>
                <c:pt idx="51">
                  <c:v>44</c:v>
                </c:pt>
              </c:numCache>
            </c:numRef>
          </c:bubbleSize>
          <c:bubble3D val="0"/>
          <c:extLst>
            <c:ext xmlns:c16="http://schemas.microsoft.com/office/drawing/2014/chart" uri="{C3380CC4-5D6E-409C-BE32-E72D297353CC}">
              <c16:uniqueId val="{00000015-9E4D-4906-84A0-F7F6A0450C0B}"/>
            </c:ext>
          </c:extLst>
        </c:ser>
        <c:ser>
          <c:idx val="4"/>
          <c:order val="3"/>
          <c:spPr>
            <a:solidFill>
              <a:schemeClr val="accent1"/>
            </a:solidFill>
            <a:ln>
              <a:noFill/>
            </a:ln>
          </c:spPr>
          <c:invertIfNegative val="0"/>
          <c:dPt>
            <c:idx val="52"/>
            <c:invertIfNegative val="0"/>
            <c:bubble3D val="0"/>
            <c:spPr>
              <a:solidFill>
                <a:schemeClr val="accent3"/>
              </a:solidFill>
              <a:ln>
                <a:noFill/>
              </a:ln>
            </c:spPr>
            <c:extLst>
              <c:ext xmlns:c16="http://schemas.microsoft.com/office/drawing/2014/chart" uri="{C3380CC4-5D6E-409C-BE32-E72D297353CC}">
                <c16:uniqueId val="{00000016-9E4D-4906-84A0-F7F6A0450C0B}"/>
              </c:ext>
            </c:extLst>
          </c:dPt>
          <c:dPt>
            <c:idx val="53"/>
            <c:invertIfNegative val="0"/>
            <c:bubble3D val="0"/>
            <c:extLst>
              <c:ext xmlns:c16="http://schemas.microsoft.com/office/drawing/2014/chart" uri="{C3380CC4-5D6E-409C-BE32-E72D297353CC}">
                <c16:uniqueId val="{00000017-9E4D-4906-84A0-F7F6A0450C0B}"/>
              </c:ext>
            </c:extLst>
          </c:dPt>
          <c:dPt>
            <c:idx val="54"/>
            <c:invertIfNegative val="0"/>
            <c:bubble3D val="0"/>
            <c:extLst>
              <c:ext xmlns:c16="http://schemas.microsoft.com/office/drawing/2014/chart" uri="{C3380CC4-5D6E-409C-BE32-E72D297353CC}">
                <c16:uniqueId val="{00000018-9E4D-4906-84A0-F7F6A0450C0B}"/>
              </c:ext>
            </c:extLst>
          </c:dPt>
          <c:dPt>
            <c:idx val="55"/>
            <c:invertIfNegative val="0"/>
            <c:bubble3D val="0"/>
            <c:spPr>
              <a:solidFill>
                <a:srgbClr val="012169"/>
              </a:solidFill>
              <a:ln>
                <a:noFill/>
              </a:ln>
            </c:spPr>
            <c:extLst>
              <c:ext xmlns:c16="http://schemas.microsoft.com/office/drawing/2014/chart" uri="{C3380CC4-5D6E-409C-BE32-E72D297353CC}">
                <c16:uniqueId val="{00000019-9E4D-4906-84A0-F7F6A0450C0B}"/>
              </c:ext>
            </c:extLst>
          </c:dPt>
          <c:xVal>
            <c:numRef>
              <c:f>Sheet1!$A$1:$A$56</c:f>
              <c:numCache>
                <c:formatCode>General</c:formatCode>
                <c:ptCount val="56"/>
                <c:pt idx="52">
                  <c:v>45.71</c:v>
                </c:pt>
                <c:pt idx="53">
                  <c:v>45.15</c:v>
                </c:pt>
                <c:pt idx="54">
                  <c:v>38.229999999999997</c:v>
                </c:pt>
                <c:pt idx="55">
                  <c:v>31.619999999999997</c:v>
                </c:pt>
              </c:numCache>
            </c:numRef>
          </c:xVal>
          <c:yVal>
            <c:numRef>
              <c:f>Sheet1!$J$1:$J$56</c:f>
              <c:numCache>
                <c:formatCode>General</c:formatCode>
                <c:ptCount val="56"/>
                <c:pt idx="52">
                  <c:v>53.289166260781329</c:v>
                </c:pt>
                <c:pt idx="53">
                  <c:v>57.758474885844755</c:v>
                </c:pt>
                <c:pt idx="54">
                  <c:v>66.878256537982566</c:v>
                </c:pt>
                <c:pt idx="55">
                  <c:v>87.050734744707341</c:v>
                </c:pt>
              </c:numCache>
            </c:numRef>
          </c:yVal>
          <c:bubbleSize>
            <c:numRef>
              <c:f>Sheet1!$K$1:$K$56</c:f>
              <c:numCache>
                <c:formatCode>General</c:formatCode>
                <c:ptCount val="56"/>
                <c:pt idx="52">
                  <c:v>225</c:v>
                </c:pt>
                <c:pt idx="53">
                  <c:v>210</c:v>
                </c:pt>
                <c:pt idx="54">
                  <c:v>33</c:v>
                </c:pt>
                <c:pt idx="55">
                  <c:v>22</c:v>
                </c:pt>
              </c:numCache>
            </c:numRef>
          </c:bubbleSize>
          <c:bubble3D val="0"/>
          <c:extLst>
            <c:ext xmlns:c16="http://schemas.microsoft.com/office/drawing/2014/chart" uri="{C3380CC4-5D6E-409C-BE32-E72D297353CC}">
              <c16:uniqueId val="{0000001A-9E4D-4906-84A0-F7F6A0450C0B}"/>
            </c:ext>
          </c:extLst>
        </c:ser>
        <c:dLbls>
          <c:showLegendKey val="0"/>
          <c:showVal val="0"/>
          <c:showCatName val="0"/>
          <c:showSerName val="0"/>
          <c:showPercent val="0"/>
          <c:showBubbleSize val="0"/>
        </c:dLbls>
        <c:bubbleScale val="101"/>
        <c:showNegBubbles val="0"/>
        <c:axId val="880061728"/>
        <c:axId val="1"/>
      </c:bubbleChart>
      <c:valAx>
        <c:axId val="880061728"/>
        <c:scaling>
          <c:orientation val="minMax"/>
          <c:max val="57"/>
          <c:min val="19"/>
        </c:scaling>
        <c:delete val="0"/>
        <c:axPos val="b"/>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800">
                <a:solidFill>
                  <a:schemeClr val="tx1"/>
                </a:solidFill>
                <a:latin typeface="+mn-lt"/>
                <a:ea typeface="+mn-ea"/>
                <a:cs typeface="+mn-cs"/>
                <a:sym typeface="+mn-lt"/>
              </a:defRPr>
            </a:pPr>
            <a:endParaRPr lang="en-US"/>
          </a:p>
        </c:txPr>
        <c:crossAx val="1"/>
        <c:crosses val="min"/>
        <c:crossBetween val="midCat"/>
        <c:majorUnit val="1"/>
      </c:valAx>
      <c:valAx>
        <c:axId val="1"/>
        <c:scaling>
          <c:orientation val="minMax"/>
          <c:max val="100"/>
          <c:min val="0"/>
        </c:scaling>
        <c:delete val="0"/>
        <c:axPos val="l"/>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800">
                <a:solidFill>
                  <a:schemeClr val="tx1"/>
                </a:solidFill>
                <a:latin typeface="+mn-lt"/>
                <a:ea typeface="+mn-ea"/>
                <a:cs typeface="+mn-cs"/>
                <a:sym typeface="+mn-lt"/>
              </a:defRPr>
            </a:pPr>
            <a:endParaRPr lang="en-US"/>
          </a:p>
        </c:txPr>
        <c:crossAx val="880061728"/>
        <c:crosses val="min"/>
        <c:crossBetween val="midCat"/>
        <c:majorUnit val="10"/>
      </c:valAx>
      <c:spPr>
        <a:noFill/>
        <a:ln w="9525" algn="ctr">
          <a:solidFill>
            <a:schemeClr val="tx1"/>
          </a:solidFill>
          <a:prstDash val="solid"/>
        </a:ln>
      </c:spPr>
    </c:plotArea>
    <c:plotVisOnly val="0"/>
    <c:dispBlanksAs val="gap"/>
    <c:showDLblsOverMax val="1"/>
  </c:chart>
  <c:externalData r:id="rId1">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8.4170854271356788E-2"/>
          <c:y val="6.222707423580786E-2"/>
          <c:w val="0.87719849246231152"/>
          <c:h val="0.75545851528384278"/>
        </c:manualLayout>
      </c:layout>
      <c:bubbleChart>
        <c:varyColors val="0"/>
        <c:ser>
          <c:idx val="0"/>
          <c:order val="0"/>
          <c:spPr>
            <a:solidFill>
              <a:srgbClr val="86BC25"/>
            </a:solidFill>
            <a:ln>
              <a:noFill/>
            </a:ln>
          </c:spPr>
          <c:invertIfNegative val="0"/>
          <c:xVal>
            <c:numRef>
              <c:f>Sheet1!$A$1:$A$29</c:f>
              <c:numCache>
                <c:formatCode>General</c:formatCode>
                <c:ptCount val="29"/>
                <c:pt idx="0">
                  <c:v>38.26</c:v>
                </c:pt>
                <c:pt idx="1">
                  <c:v>35.510000000000005</c:v>
                </c:pt>
                <c:pt idx="2">
                  <c:v>38.26</c:v>
                </c:pt>
                <c:pt idx="3">
                  <c:v>38.26</c:v>
                </c:pt>
                <c:pt idx="4">
                  <c:v>37.26</c:v>
                </c:pt>
                <c:pt idx="5">
                  <c:v>28.88</c:v>
                </c:pt>
                <c:pt idx="6">
                  <c:v>35.839999999999996</c:v>
                </c:pt>
                <c:pt idx="7">
                  <c:v>35.699999999999996</c:v>
                </c:pt>
                <c:pt idx="8">
                  <c:v>43.09</c:v>
                </c:pt>
                <c:pt idx="9">
                  <c:v>42.71</c:v>
                </c:pt>
              </c:numCache>
            </c:numRef>
          </c:xVal>
          <c:yVal>
            <c:numRef>
              <c:f>Sheet1!$B$1:$B$29</c:f>
              <c:numCache>
                <c:formatCode>General</c:formatCode>
                <c:ptCount val="29"/>
                <c:pt idx="0">
                  <c:v>84.759833955998332</c:v>
                </c:pt>
                <c:pt idx="1">
                  <c:v>49.518296400752085</c:v>
                </c:pt>
                <c:pt idx="2">
                  <c:v>79.774414694894148</c:v>
                </c:pt>
                <c:pt idx="3">
                  <c:v>73.627567455375669</c:v>
                </c:pt>
                <c:pt idx="4">
                  <c:v>37.488286931337733</c:v>
                </c:pt>
                <c:pt idx="5">
                  <c:v>76.185343938724401</c:v>
                </c:pt>
                <c:pt idx="6">
                  <c:v>57.138838356164392</c:v>
                </c:pt>
                <c:pt idx="7">
                  <c:v>75.540381754769314</c:v>
                </c:pt>
                <c:pt idx="8">
                  <c:v>23.834217493824386</c:v>
                </c:pt>
                <c:pt idx="9">
                  <c:v>31.304881544439979</c:v>
                </c:pt>
              </c:numCache>
            </c:numRef>
          </c:yVal>
          <c:bubbleSize>
            <c:numRef>
              <c:f>Sheet1!$C$1:$C$29</c:f>
              <c:numCache>
                <c:formatCode>General</c:formatCode>
                <c:ptCount val="29"/>
                <c:pt idx="0">
                  <c:v>22</c:v>
                </c:pt>
                <c:pt idx="1">
                  <c:v>51</c:v>
                </c:pt>
                <c:pt idx="2">
                  <c:v>22</c:v>
                </c:pt>
                <c:pt idx="3">
                  <c:v>22</c:v>
                </c:pt>
                <c:pt idx="4">
                  <c:v>108</c:v>
                </c:pt>
                <c:pt idx="5">
                  <c:v>341</c:v>
                </c:pt>
                <c:pt idx="6">
                  <c:v>25</c:v>
                </c:pt>
                <c:pt idx="7">
                  <c:v>163</c:v>
                </c:pt>
                <c:pt idx="8">
                  <c:v>305</c:v>
                </c:pt>
                <c:pt idx="9">
                  <c:v>281.99099999999999</c:v>
                </c:pt>
              </c:numCache>
            </c:numRef>
          </c:bubbleSize>
          <c:bubble3D val="0"/>
          <c:extLst>
            <c:ext xmlns:c16="http://schemas.microsoft.com/office/drawing/2014/chart" uri="{C3380CC4-5D6E-409C-BE32-E72D297353CC}">
              <c16:uniqueId val="{00000000-1160-4C1D-BC33-7F1157388C37}"/>
            </c:ext>
          </c:extLst>
        </c:ser>
        <c:ser>
          <c:idx val="1"/>
          <c:order val="1"/>
          <c:spPr>
            <a:solidFill>
              <a:schemeClr val="accent4"/>
            </a:solidFill>
            <a:ln>
              <a:noFill/>
            </a:ln>
          </c:spPr>
          <c:invertIfNegative val="0"/>
          <c:dPt>
            <c:idx val="10"/>
            <c:invertIfNegative val="0"/>
            <c:bubble3D val="0"/>
            <c:spPr>
              <a:solidFill>
                <a:srgbClr val="86BC25"/>
              </a:solidFill>
              <a:ln>
                <a:noFill/>
              </a:ln>
            </c:spPr>
            <c:extLst>
              <c:ext xmlns:c16="http://schemas.microsoft.com/office/drawing/2014/chart" uri="{C3380CC4-5D6E-409C-BE32-E72D297353CC}">
                <c16:uniqueId val="{00000001-1160-4C1D-BC33-7F1157388C37}"/>
              </c:ext>
            </c:extLst>
          </c:dPt>
          <c:dPt>
            <c:idx val="11"/>
            <c:invertIfNegative val="0"/>
            <c:bubble3D val="0"/>
            <c:spPr>
              <a:solidFill>
                <a:srgbClr val="86BC25"/>
              </a:solidFill>
              <a:ln>
                <a:noFill/>
              </a:ln>
            </c:spPr>
            <c:extLst>
              <c:ext xmlns:c16="http://schemas.microsoft.com/office/drawing/2014/chart" uri="{C3380CC4-5D6E-409C-BE32-E72D297353CC}">
                <c16:uniqueId val="{00000002-1160-4C1D-BC33-7F1157388C37}"/>
              </c:ext>
            </c:extLst>
          </c:dPt>
          <c:dPt>
            <c:idx val="12"/>
            <c:invertIfNegative val="0"/>
            <c:bubble3D val="0"/>
            <c:spPr>
              <a:solidFill>
                <a:srgbClr val="86BC25"/>
              </a:solidFill>
              <a:ln>
                <a:noFill/>
              </a:ln>
            </c:spPr>
            <c:extLst>
              <c:ext xmlns:c16="http://schemas.microsoft.com/office/drawing/2014/chart" uri="{C3380CC4-5D6E-409C-BE32-E72D297353CC}">
                <c16:uniqueId val="{00000003-1160-4C1D-BC33-7F1157388C37}"/>
              </c:ext>
            </c:extLst>
          </c:dPt>
          <c:dPt>
            <c:idx val="13"/>
            <c:invertIfNegative val="0"/>
            <c:bubble3D val="0"/>
            <c:spPr>
              <a:solidFill>
                <a:srgbClr val="86BC25"/>
              </a:solidFill>
              <a:ln>
                <a:noFill/>
              </a:ln>
            </c:spPr>
            <c:extLst>
              <c:ext xmlns:c16="http://schemas.microsoft.com/office/drawing/2014/chart" uri="{C3380CC4-5D6E-409C-BE32-E72D297353CC}">
                <c16:uniqueId val="{00000004-1160-4C1D-BC33-7F1157388C37}"/>
              </c:ext>
            </c:extLst>
          </c:dPt>
          <c:xVal>
            <c:numRef>
              <c:f>Sheet1!$A$1:$A$29</c:f>
              <c:numCache>
                <c:formatCode>General</c:formatCode>
                <c:ptCount val="29"/>
                <c:pt idx="10">
                  <c:v>45.17</c:v>
                </c:pt>
                <c:pt idx="11">
                  <c:v>49.059999999999995</c:v>
                </c:pt>
                <c:pt idx="12">
                  <c:v>45.15</c:v>
                </c:pt>
                <c:pt idx="13">
                  <c:v>42.51</c:v>
                </c:pt>
                <c:pt idx="14">
                  <c:v>27.250000000000004</c:v>
                </c:pt>
                <c:pt idx="15">
                  <c:v>43.05</c:v>
                </c:pt>
                <c:pt idx="16">
                  <c:v>37.909999999999997</c:v>
                </c:pt>
                <c:pt idx="17">
                  <c:v>35.96</c:v>
                </c:pt>
                <c:pt idx="18">
                  <c:v>36.24</c:v>
                </c:pt>
                <c:pt idx="19">
                  <c:v>34.25</c:v>
                </c:pt>
                <c:pt idx="20">
                  <c:v>28.410000000000004</c:v>
                </c:pt>
                <c:pt idx="21">
                  <c:v>28.49</c:v>
                </c:pt>
                <c:pt idx="22">
                  <c:v>32.5</c:v>
                </c:pt>
                <c:pt idx="23">
                  <c:v>35.85</c:v>
                </c:pt>
                <c:pt idx="24">
                  <c:v>36.309999999999995</c:v>
                </c:pt>
                <c:pt idx="25">
                  <c:v>34.25</c:v>
                </c:pt>
                <c:pt idx="26">
                  <c:v>31.28</c:v>
                </c:pt>
              </c:numCache>
            </c:numRef>
          </c:xVal>
          <c:yVal>
            <c:numRef>
              <c:f>Sheet1!$D$1:$D$29</c:f>
              <c:numCache>
                <c:formatCode>General</c:formatCode>
                <c:ptCount val="29"/>
                <c:pt idx="10">
                  <c:v>74.489458092338921</c:v>
                </c:pt>
                <c:pt idx="11">
                  <c:v>76.457502536783352</c:v>
                </c:pt>
                <c:pt idx="12">
                  <c:v>54.758474885844755</c:v>
                </c:pt>
                <c:pt idx="13">
                  <c:v>24.042218241423726</c:v>
                </c:pt>
                <c:pt idx="14">
                  <c:v>62.933258999681428</c:v>
                </c:pt>
                <c:pt idx="15">
                  <c:v>68.027682648401822</c:v>
                </c:pt>
                <c:pt idx="16">
                  <c:v>66.195522428149346</c:v>
                </c:pt>
                <c:pt idx="17">
                  <c:v>42.650822992210585</c:v>
                </c:pt>
                <c:pt idx="18">
                  <c:v>76.176320475847163</c:v>
                </c:pt>
                <c:pt idx="19">
                  <c:v>64.916315068493162</c:v>
                </c:pt>
                <c:pt idx="20">
                  <c:v>70.842147945205483</c:v>
                </c:pt>
                <c:pt idx="21">
                  <c:v>64.906984917669845</c:v>
                </c:pt>
                <c:pt idx="22">
                  <c:v>23.808719800747198</c:v>
                </c:pt>
                <c:pt idx="23">
                  <c:v>37.071710147456592</c:v>
                </c:pt>
                <c:pt idx="24">
                  <c:v>16.59086844145774</c:v>
                </c:pt>
                <c:pt idx="25">
                  <c:v>49.79864155251142</c:v>
                </c:pt>
                <c:pt idx="26">
                  <c:v>83.540123754669992</c:v>
                </c:pt>
              </c:numCache>
            </c:numRef>
          </c:yVal>
          <c:bubbleSize>
            <c:numRef>
              <c:f>Sheet1!$E$1:$E$29</c:f>
              <c:numCache>
                <c:formatCode>General</c:formatCode>
                <c:ptCount val="29"/>
                <c:pt idx="10">
                  <c:v>450</c:v>
                </c:pt>
                <c:pt idx="11">
                  <c:v>360</c:v>
                </c:pt>
                <c:pt idx="12">
                  <c:v>210</c:v>
                </c:pt>
                <c:pt idx="13">
                  <c:v>195</c:v>
                </c:pt>
                <c:pt idx="14">
                  <c:v>86</c:v>
                </c:pt>
                <c:pt idx="15">
                  <c:v>10</c:v>
                </c:pt>
                <c:pt idx="16">
                  <c:v>51</c:v>
                </c:pt>
                <c:pt idx="17">
                  <c:v>85</c:v>
                </c:pt>
                <c:pt idx="18">
                  <c:v>95</c:v>
                </c:pt>
                <c:pt idx="19">
                  <c:v>50</c:v>
                </c:pt>
                <c:pt idx="20">
                  <c:v>50</c:v>
                </c:pt>
                <c:pt idx="21">
                  <c:v>33</c:v>
                </c:pt>
                <c:pt idx="22">
                  <c:v>55</c:v>
                </c:pt>
                <c:pt idx="23">
                  <c:v>78.5</c:v>
                </c:pt>
                <c:pt idx="24">
                  <c:v>53</c:v>
                </c:pt>
                <c:pt idx="25">
                  <c:v>20</c:v>
                </c:pt>
                <c:pt idx="26">
                  <c:v>44</c:v>
                </c:pt>
              </c:numCache>
            </c:numRef>
          </c:bubbleSize>
          <c:bubble3D val="0"/>
          <c:extLst>
            <c:ext xmlns:c16="http://schemas.microsoft.com/office/drawing/2014/chart" uri="{C3380CC4-5D6E-409C-BE32-E72D297353CC}">
              <c16:uniqueId val="{00000005-1160-4C1D-BC33-7F1157388C37}"/>
            </c:ext>
          </c:extLst>
        </c:ser>
        <c:ser>
          <c:idx val="2"/>
          <c:order val="2"/>
          <c:spPr>
            <a:solidFill>
              <a:srgbClr val="86BC25"/>
            </a:solidFill>
            <a:ln>
              <a:noFill/>
            </a:ln>
          </c:spPr>
          <c:invertIfNegative val="0"/>
          <c:dPt>
            <c:idx val="27"/>
            <c:invertIfNegative val="0"/>
            <c:bubble3D val="0"/>
            <c:extLst>
              <c:ext xmlns:c16="http://schemas.microsoft.com/office/drawing/2014/chart" uri="{C3380CC4-5D6E-409C-BE32-E72D297353CC}">
                <c16:uniqueId val="{00000006-1160-4C1D-BC33-7F1157388C37}"/>
              </c:ext>
            </c:extLst>
          </c:dPt>
          <c:dPt>
            <c:idx val="28"/>
            <c:invertIfNegative val="0"/>
            <c:bubble3D val="0"/>
            <c:spPr>
              <a:solidFill>
                <a:schemeClr val="accent4"/>
              </a:solidFill>
              <a:ln>
                <a:noFill/>
              </a:ln>
            </c:spPr>
            <c:extLst>
              <c:ext xmlns:c16="http://schemas.microsoft.com/office/drawing/2014/chart" uri="{C3380CC4-5D6E-409C-BE32-E72D297353CC}">
                <c16:uniqueId val="{00000007-1160-4C1D-BC33-7F1157388C37}"/>
              </c:ext>
            </c:extLst>
          </c:dPt>
          <c:xVal>
            <c:numRef>
              <c:f>Sheet1!$A$1:$A$29</c:f>
              <c:numCache>
                <c:formatCode>General</c:formatCode>
                <c:ptCount val="29"/>
                <c:pt idx="27">
                  <c:v>38.229999999999997</c:v>
                </c:pt>
                <c:pt idx="28">
                  <c:v>31.619999999999997</c:v>
                </c:pt>
              </c:numCache>
            </c:numRef>
          </c:xVal>
          <c:yVal>
            <c:numRef>
              <c:f>Sheet1!$F$1:$F$29</c:f>
              <c:numCache>
                <c:formatCode>General</c:formatCode>
                <c:ptCount val="29"/>
                <c:pt idx="27">
                  <c:v>63.878256537982573</c:v>
                </c:pt>
                <c:pt idx="28">
                  <c:v>84.050734744707341</c:v>
                </c:pt>
              </c:numCache>
            </c:numRef>
          </c:yVal>
          <c:bubbleSize>
            <c:numRef>
              <c:f>Sheet1!$G$1:$G$29</c:f>
              <c:numCache>
                <c:formatCode>General</c:formatCode>
                <c:ptCount val="29"/>
                <c:pt idx="27">
                  <c:v>33</c:v>
                </c:pt>
                <c:pt idx="28">
                  <c:v>22</c:v>
                </c:pt>
              </c:numCache>
            </c:numRef>
          </c:bubbleSize>
          <c:bubble3D val="0"/>
          <c:extLst>
            <c:ext xmlns:c16="http://schemas.microsoft.com/office/drawing/2014/chart" uri="{C3380CC4-5D6E-409C-BE32-E72D297353CC}">
              <c16:uniqueId val="{00000008-1160-4C1D-BC33-7F1157388C37}"/>
            </c:ext>
          </c:extLst>
        </c:ser>
        <c:dLbls>
          <c:showLegendKey val="0"/>
          <c:showVal val="0"/>
          <c:showCatName val="0"/>
          <c:showSerName val="0"/>
          <c:showPercent val="0"/>
          <c:showBubbleSize val="0"/>
        </c:dLbls>
        <c:bubbleScale val="87"/>
        <c:showNegBubbles val="0"/>
        <c:axId val="601783800"/>
        <c:axId val="1"/>
      </c:bubbleChart>
      <c:valAx>
        <c:axId val="601783800"/>
        <c:scaling>
          <c:orientation val="minMax"/>
          <c:max val="50"/>
          <c:min val="26"/>
        </c:scaling>
        <c:delete val="0"/>
        <c:axPos val="b"/>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900">
                <a:solidFill>
                  <a:schemeClr val="tx1"/>
                </a:solidFill>
                <a:latin typeface="+mn-lt"/>
                <a:ea typeface="+mn-ea"/>
                <a:cs typeface="+mn-cs"/>
                <a:sym typeface="+mn-lt"/>
              </a:defRPr>
            </a:pPr>
            <a:endParaRPr lang="en-US"/>
          </a:p>
        </c:txPr>
        <c:crossAx val="1"/>
        <c:crosses val="min"/>
        <c:crossBetween val="midCat"/>
        <c:majorUnit val="1"/>
      </c:valAx>
      <c:valAx>
        <c:axId val="1"/>
        <c:scaling>
          <c:orientation val="minMax"/>
          <c:max val="100"/>
          <c:min val="0"/>
        </c:scaling>
        <c:delete val="0"/>
        <c:axPos val="l"/>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900">
                <a:solidFill>
                  <a:schemeClr val="tx1"/>
                </a:solidFill>
                <a:latin typeface="+mn-lt"/>
                <a:ea typeface="+mn-ea"/>
                <a:cs typeface="+mn-cs"/>
                <a:sym typeface="+mn-lt"/>
              </a:defRPr>
            </a:pPr>
            <a:endParaRPr lang="en-US"/>
          </a:p>
        </c:txPr>
        <c:crossAx val="601783800"/>
        <c:crosses val="min"/>
        <c:crossBetween val="midCat"/>
        <c:majorUnit val="20"/>
      </c:valAx>
      <c:spPr>
        <a:noFill/>
        <a:ln w="9525" algn="ctr">
          <a:solidFill>
            <a:schemeClr val="tx1"/>
          </a:solidFill>
          <a:prstDash val="solid"/>
        </a:ln>
      </c:spPr>
    </c:plotArea>
    <c:plotVisOnly val="0"/>
    <c:dispBlanksAs val="gap"/>
    <c:showDLblsOverMax val="1"/>
  </c:chart>
  <c:externalData r:id="rId1">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252820172528202E-2"/>
          <c:y val="0.16710875331564987"/>
          <c:w val="0.96549435965494357"/>
          <c:h val="0.76392572944297077"/>
        </c:manualLayout>
      </c:layout>
      <c:barChart>
        <c:barDir val="col"/>
        <c:grouping val="stacked"/>
        <c:varyColors val="0"/>
        <c:ser>
          <c:idx val="0"/>
          <c:order val="0"/>
          <c:spPr>
            <a:solidFill>
              <a:srgbClr val="86BC25"/>
            </a:solidFill>
            <a:ln>
              <a:noFill/>
            </a:ln>
          </c:spPr>
          <c:invertIfNegative val="0"/>
          <c:dLbls>
            <c:dLbl>
              <c:idx val="0"/>
              <c:layout>
                <c:manualLayout>
                  <c:x val="0"/>
                  <c:y val="-0.35145888594164454"/>
                </c:manualLayout>
              </c:layout>
              <c:numFmt formatCode="#,##0;&quot;-&quot;#,##0" sourceLinked="0"/>
              <c:spPr>
                <a:noFill/>
                <a:ln>
                  <a:noFill/>
                </a:ln>
              </c:spPr>
              <c:txPr>
                <a:bodyPr wrap="none"/>
                <a:lstStyle/>
                <a:p>
                  <a:pPr>
                    <a:defRPr sz="1000">
                      <a:solidFill>
                        <a:srgbClr val="000000"/>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CF8-4C6F-B1B2-ADC9386E4664}"/>
                </c:ext>
              </c:extLst>
            </c:dLbl>
            <c:dLbl>
              <c:idx val="1"/>
              <c:layout>
                <c:manualLayout>
                  <c:x val="0"/>
                  <c:y val="-0.38726790450928383"/>
                </c:manualLayout>
              </c:layout>
              <c:numFmt formatCode="#,##0;&quot;-&quot;#,##0" sourceLinked="0"/>
              <c:spPr>
                <a:noFill/>
                <a:ln>
                  <a:noFill/>
                </a:ln>
              </c:spPr>
              <c:txPr>
                <a:bodyPr wrap="none"/>
                <a:lstStyle/>
                <a:p>
                  <a:pPr>
                    <a:defRPr sz="1000">
                      <a:solidFill>
                        <a:srgbClr val="000000"/>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7CF8-4C6F-B1B2-ADC9386E4664}"/>
                </c:ext>
              </c:extLst>
            </c:dLbl>
            <c:dLbl>
              <c:idx val="2"/>
              <c:layout>
                <c:manualLayout>
                  <c:x val="0"/>
                  <c:y val="-0.46684350132625996"/>
                </c:manualLayout>
              </c:layout>
              <c:numFmt formatCode="#,##0;&quot;-&quot;#,##0" sourceLinked="0"/>
              <c:spPr>
                <a:noFill/>
                <a:ln>
                  <a:noFill/>
                </a:ln>
              </c:spPr>
              <c:txPr>
                <a:bodyPr wrap="none"/>
                <a:lstStyle/>
                <a:p>
                  <a:pPr>
                    <a:defRPr sz="1000">
                      <a:solidFill>
                        <a:srgbClr val="000000"/>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7CF8-4C6F-B1B2-ADC9386E466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34.9</c:v>
                </c:pt>
                <c:pt idx="1">
                  <c:v>39.544438356164385</c:v>
                </c:pt>
                <c:pt idx="2">
                  <c:v>50</c:v>
                </c:pt>
              </c:numCache>
            </c:numRef>
          </c:val>
          <c:extLst>
            <c:ext xmlns:c16="http://schemas.microsoft.com/office/drawing/2014/chart" uri="{C3380CC4-5D6E-409C-BE32-E72D297353CC}">
              <c16:uniqueId val="{00000003-7CF8-4C6F-B1B2-ADC9386E4664}"/>
            </c:ext>
          </c:extLst>
        </c:ser>
        <c:dLbls>
          <c:showLegendKey val="0"/>
          <c:showVal val="0"/>
          <c:showCatName val="0"/>
          <c:showSerName val="0"/>
          <c:showPercent val="0"/>
          <c:showBubbleSize val="0"/>
        </c:dLbls>
        <c:gapWidth val="80"/>
        <c:overlap val="100"/>
        <c:axId val="1822000600"/>
        <c:axId val="1"/>
      </c:barChart>
      <c:catAx>
        <c:axId val="182200060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50"/>
          <c:min val="0"/>
        </c:scaling>
        <c:delete val="1"/>
        <c:axPos val="l"/>
        <c:numFmt formatCode="General" sourceLinked="1"/>
        <c:majorTickMark val="out"/>
        <c:minorTickMark val="none"/>
        <c:tickLblPos val="nextTo"/>
        <c:crossAx val="1822000600"/>
        <c:crosses val="min"/>
        <c:crossBetween val="between"/>
      </c:valAx>
    </c:plotArea>
    <c:plotVisOnly val="0"/>
    <c:dispBlanksAs val="gap"/>
    <c:showDLblsOverMax val="1"/>
  </c:chart>
  <c:externalData r:id="rId1">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344896597731821E-2"/>
          <c:y val="9.8113207547169817E-2"/>
          <c:w val="0.96531020680453627"/>
          <c:h val="0.80377358490566042"/>
        </c:manualLayout>
      </c:layout>
      <c:barChart>
        <c:barDir val="col"/>
        <c:grouping val="clustered"/>
        <c:varyColors val="0"/>
        <c:ser>
          <c:idx val="0"/>
          <c:order val="0"/>
          <c:spPr>
            <a:solidFill>
              <a:srgbClr val="005587"/>
            </a:solidFill>
            <a:ln>
              <a:noFill/>
            </a:ln>
          </c:spPr>
          <c:invertIfNegative val="0"/>
          <c:val>
            <c:numRef>
              <c:f>Sheet1!$A$1:$C$1</c:f>
              <c:numCache>
                <c:formatCode>General</c:formatCode>
                <c:ptCount val="3"/>
                <c:pt idx="0">
                  <c:v>53</c:v>
                </c:pt>
                <c:pt idx="1">
                  <c:v>58.533911164681008</c:v>
                </c:pt>
                <c:pt idx="2">
                  <c:v>75</c:v>
                </c:pt>
              </c:numCache>
            </c:numRef>
          </c:val>
          <c:extLst>
            <c:ext xmlns:c16="http://schemas.microsoft.com/office/drawing/2014/chart" uri="{C3380CC4-5D6E-409C-BE32-E72D297353CC}">
              <c16:uniqueId val="{00000000-3500-4D48-8247-05D72F5BF42F}"/>
            </c:ext>
          </c:extLst>
        </c:ser>
        <c:ser>
          <c:idx val="1"/>
          <c:order val="1"/>
          <c:spPr>
            <a:solidFill>
              <a:schemeClr val="accent5"/>
            </a:solidFill>
            <a:ln>
              <a:noFill/>
            </a:ln>
          </c:spPr>
          <c:invertIfNegative val="0"/>
          <c:val>
            <c:numRef>
              <c:f>Sheet1!$A$2:$C$2</c:f>
              <c:numCache>
                <c:formatCode>General</c:formatCode>
                <c:ptCount val="3"/>
                <c:pt idx="0">
                  <c:v>67</c:v>
                </c:pt>
                <c:pt idx="1">
                  <c:v>72</c:v>
                </c:pt>
                <c:pt idx="2">
                  <c:v>80</c:v>
                </c:pt>
              </c:numCache>
            </c:numRef>
          </c:val>
          <c:extLst>
            <c:ext xmlns:c16="http://schemas.microsoft.com/office/drawing/2014/chart" uri="{C3380CC4-5D6E-409C-BE32-E72D297353CC}">
              <c16:uniqueId val="{00000001-3500-4D48-8247-05D72F5BF42F}"/>
            </c:ext>
          </c:extLst>
        </c:ser>
        <c:dLbls>
          <c:showLegendKey val="0"/>
          <c:showVal val="0"/>
          <c:showCatName val="0"/>
          <c:showSerName val="0"/>
          <c:showPercent val="0"/>
          <c:showBubbleSize val="0"/>
        </c:dLbls>
        <c:gapWidth val="150"/>
        <c:axId val="185026199"/>
        <c:axId val="1"/>
      </c:barChart>
      <c:catAx>
        <c:axId val="185026199"/>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80"/>
          <c:min val="0"/>
        </c:scaling>
        <c:delete val="1"/>
        <c:axPos val="l"/>
        <c:numFmt formatCode="General" sourceLinked="1"/>
        <c:majorTickMark val="out"/>
        <c:minorTickMark val="none"/>
        <c:tickLblPos val="nextTo"/>
        <c:crossAx val="185026199"/>
        <c:crosses val="min"/>
        <c:crossBetween val="between"/>
      </c:valAx>
    </c:plotArea>
    <c:plotVisOnly val="0"/>
    <c:dispBlanksAs val="gap"/>
    <c:showDLblsOverMax val="1"/>
  </c:chart>
  <c:externalData r:id="rId1">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080" b="0" i="0" u="none" strike="noStrike" kern="1200" spc="0" baseline="0">
                <a:solidFill>
                  <a:schemeClr val="tx1"/>
                </a:solidFill>
                <a:latin typeface="+mn-lt"/>
                <a:ea typeface="+mn-ea"/>
                <a:cs typeface="+mn-cs"/>
              </a:defRPr>
            </a:pPr>
            <a:r>
              <a:rPr lang="en-IN" b="1" dirty="0"/>
              <a:t>YoY Tariff Projections with Gas as Primary Fuel (BDT / kWh)</a:t>
            </a:r>
          </a:p>
        </c:rich>
      </c:tx>
      <c:layout>
        <c:manualLayout>
          <c:xMode val="edge"/>
          <c:yMode val="edge"/>
          <c:x val="0.28157909249670637"/>
          <c:y val="1.728637880989407E-2"/>
        </c:manualLayout>
      </c:layout>
      <c:overlay val="0"/>
      <c:spPr>
        <a:noFill/>
        <a:ln>
          <a:noFill/>
        </a:ln>
        <a:effectLst/>
      </c:spPr>
      <c:txPr>
        <a:bodyPr rot="0" spcFirstLastPara="1" vertOverflow="ellipsis" vert="horz" wrap="square" anchor="ctr" anchorCtr="1"/>
        <a:lstStyle/>
        <a:p>
          <a:pPr>
            <a:defRPr sz="1080" b="0" i="0" u="none" strike="noStrike" kern="1200" spc="0" baseline="0">
              <a:solidFill>
                <a:schemeClr val="tx1"/>
              </a:solidFill>
              <a:latin typeface="+mn-lt"/>
              <a:ea typeface="+mn-ea"/>
              <a:cs typeface="+mn-cs"/>
            </a:defRPr>
          </a:pPr>
          <a:endParaRPr lang="en-US"/>
        </a:p>
      </c:txPr>
    </c:title>
    <c:autoTitleDeleted val="0"/>
    <c:plotArea>
      <c:layout/>
      <c:lineChart>
        <c:grouping val="standard"/>
        <c:varyColors val="0"/>
        <c:ser>
          <c:idx val="0"/>
          <c:order val="0"/>
          <c:tx>
            <c:strRef>
              <c:f>Sheet1!$B$1</c:f>
              <c:strCache>
                <c:ptCount val="1"/>
                <c:pt idx="0">
                  <c:v>Total Tariff (Gas at 100% PLF)</c:v>
                </c:pt>
              </c:strCache>
            </c:strRef>
          </c:tx>
          <c:spPr>
            <a:ln w="28575" cap="rnd">
              <a:solidFill>
                <a:schemeClr val="accent1"/>
              </a:solidFill>
              <a:round/>
            </a:ln>
            <a:effectLst/>
          </c:spPr>
          <c:marker>
            <c:symbol val="circle"/>
            <c:size val="5"/>
            <c:spPr>
              <a:solidFill>
                <a:schemeClr val="accent1"/>
              </a:solidFill>
              <a:ln w="9525">
                <a:solidFill>
                  <a:schemeClr val="accent1"/>
                </a:solidFill>
              </a:ln>
              <a:effectLst/>
            </c:spPr>
          </c:marker>
          <c:dLbls>
            <c:spPr>
              <a:solidFill>
                <a:schemeClr val="accent1"/>
              </a:solidFill>
              <a:ln>
                <a:noFill/>
              </a:ln>
              <a:effectLst/>
            </c:spPr>
            <c:txPr>
              <a:bodyPr rot="0" spcFirstLastPara="1" vertOverflow="ellipsis" vert="horz" wrap="square" anchor="ctr" anchorCtr="1"/>
              <a:lstStyle/>
              <a:p>
                <a:pPr>
                  <a:defRPr sz="900" b="0" i="0" u="none" strike="noStrike" kern="1200" baseline="0">
                    <a:solidFill>
                      <a:schemeClr val="bg1"/>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Sheet1!$A$2:$A$23</c:f>
              <c:strCache>
                <c:ptCount val="22"/>
                <c:pt idx="0">
                  <c:v>Y1</c:v>
                </c:pt>
                <c:pt idx="1">
                  <c:v>Y2</c:v>
                </c:pt>
                <c:pt idx="2">
                  <c:v>Y3</c:v>
                </c:pt>
                <c:pt idx="3">
                  <c:v>Y4</c:v>
                </c:pt>
                <c:pt idx="4">
                  <c:v>Y5</c:v>
                </c:pt>
                <c:pt idx="5">
                  <c:v>Y6</c:v>
                </c:pt>
                <c:pt idx="6">
                  <c:v>Y7</c:v>
                </c:pt>
                <c:pt idx="7">
                  <c:v>Y8</c:v>
                </c:pt>
                <c:pt idx="8">
                  <c:v>Y9</c:v>
                </c:pt>
                <c:pt idx="9">
                  <c:v>Y10</c:v>
                </c:pt>
                <c:pt idx="10">
                  <c:v>Y11</c:v>
                </c:pt>
                <c:pt idx="11">
                  <c:v>Y12</c:v>
                </c:pt>
                <c:pt idx="12">
                  <c:v>Y13</c:v>
                </c:pt>
                <c:pt idx="13">
                  <c:v>Y14</c:v>
                </c:pt>
                <c:pt idx="14">
                  <c:v>Y15</c:v>
                </c:pt>
                <c:pt idx="15">
                  <c:v>Y16</c:v>
                </c:pt>
                <c:pt idx="16">
                  <c:v>Y17</c:v>
                </c:pt>
                <c:pt idx="17">
                  <c:v>Y18</c:v>
                </c:pt>
                <c:pt idx="18">
                  <c:v>Y19</c:v>
                </c:pt>
                <c:pt idx="19">
                  <c:v>Y20</c:v>
                </c:pt>
                <c:pt idx="20">
                  <c:v>Y21</c:v>
                </c:pt>
                <c:pt idx="21">
                  <c:v>Y22</c:v>
                </c:pt>
              </c:strCache>
            </c:strRef>
          </c:cat>
          <c:val>
            <c:numRef>
              <c:f>Sheet1!$B$2:$B$23</c:f>
              <c:numCache>
                <c:formatCode>_(* #,##0.00_);_(* \(#,##0.00\);_(* "-"??_);_(@_)</c:formatCode>
                <c:ptCount val="22"/>
                <c:pt idx="0">
                  <c:v>2.6209615857778013</c:v>
                </c:pt>
                <c:pt idx="1">
                  <c:v>2.6278315720791712</c:v>
                </c:pt>
                <c:pt idx="2">
                  <c:v>2.6349551312572528</c:v>
                </c:pt>
                <c:pt idx="3">
                  <c:v>2.6423443051586233</c:v>
                </c:pt>
                <c:pt idx="4">
                  <c:v>2.6500117946901298</c:v>
                </c:pt>
                <c:pt idx="5">
                  <c:v>2.6579709980935031</c:v>
                </c:pt>
                <c:pt idx="6">
                  <c:v>2.6662360514910546</c:v>
                </c:pt>
                <c:pt idx="7">
                  <c:v>2.6748218718382333</c:v>
                </c:pt>
                <c:pt idx="8">
                  <c:v>2.6837442024269333</c:v>
                </c:pt>
                <c:pt idx="9">
                  <c:v>2.6930196610920594</c:v>
                </c:pt>
                <c:pt idx="10">
                  <c:v>2.2115288049816497</c:v>
                </c:pt>
                <c:pt idx="11">
                  <c:v>2.2215641298701128</c:v>
                </c:pt>
                <c:pt idx="12">
                  <c:v>2.2320082096756488</c:v>
                </c:pt>
                <c:pt idx="13">
                  <c:v>2.2428817024017582</c:v>
                </c:pt>
                <c:pt idx="14">
                  <c:v>2.2542064281863201</c:v>
                </c:pt>
                <c:pt idx="15">
                  <c:v>2.2660054374827387</c:v>
                </c:pt>
                <c:pt idx="16">
                  <c:v>2.2783030833010223</c:v>
                </c:pt>
                <c:pt idx="17">
                  <c:v>2.2911250977517632</c:v>
                </c:pt>
                <c:pt idx="18">
                  <c:v>2.3044986731505772</c:v>
                </c:pt>
                <c:pt idx="19">
                  <c:v>2.3184525479559688</c:v>
                </c:pt>
                <c:pt idx="20">
                  <c:v>2.3330170978299853</c:v>
                </c:pt>
                <c:pt idx="21">
                  <c:v>2.3482244321283501</c:v>
                </c:pt>
              </c:numCache>
            </c:numRef>
          </c:val>
          <c:smooth val="1"/>
          <c:extLst>
            <c:ext xmlns:c16="http://schemas.microsoft.com/office/drawing/2014/chart" uri="{C3380CC4-5D6E-409C-BE32-E72D297353CC}">
              <c16:uniqueId val="{00000000-3D99-4AFC-907E-C0AADB5F03D5}"/>
            </c:ext>
          </c:extLst>
        </c:ser>
        <c:ser>
          <c:idx val="1"/>
          <c:order val="1"/>
          <c:tx>
            <c:strRef>
              <c:f>Sheet1!$C$1</c:f>
              <c:strCache>
                <c:ptCount val="1"/>
                <c:pt idx="0">
                  <c:v>Total Tariff (Gas at 80% PLF)</c:v>
                </c:pt>
              </c:strCache>
            </c:strRef>
          </c:tx>
          <c:spPr>
            <a:ln w="28575" cap="rnd">
              <a:solidFill>
                <a:schemeClr val="accent2"/>
              </a:solidFill>
              <a:round/>
            </a:ln>
            <a:effectLst/>
          </c:spPr>
          <c:marker>
            <c:symbol val="circle"/>
            <c:size val="5"/>
            <c:spPr>
              <a:solidFill>
                <a:schemeClr val="accent2"/>
              </a:solidFill>
              <a:ln w="9525">
                <a:solidFill>
                  <a:schemeClr val="accent2"/>
                </a:solidFill>
              </a:ln>
              <a:effectLst/>
            </c:spPr>
          </c:marker>
          <c:dLbls>
            <c:dLbl>
              <c:idx val="10"/>
              <c:layout>
                <c:manualLayout>
                  <c:x val="-2.0210790771776097E-2"/>
                  <c:y val="-0.10389262450957994"/>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D99-4AFC-907E-C0AADB5F03D5}"/>
                </c:ext>
              </c:extLst>
            </c:dLbl>
            <c:numFmt formatCode="#,##0.00" sourceLinked="0"/>
            <c:spPr>
              <a:solidFill>
                <a:schemeClr val="accent2"/>
              </a:solidFill>
              <a:ln>
                <a:noFill/>
              </a:ln>
              <a:effectLst/>
            </c:spPr>
            <c:txPr>
              <a:bodyPr rot="0" spcFirstLastPara="1" vertOverflow="ellipsis" vert="horz" wrap="square" anchor="ctr" anchorCtr="1"/>
              <a:lstStyle/>
              <a:p>
                <a:pPr>
                  <a:defRPr sz="900" b="0" i="0" u="none" strike="noStrike" kern="1200" baseline="0">
                    <a:solidFill>
                      <a:schemeClr val="bg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Sheet1!$A$2:$A$23</c:f>
              <c:strCache>
                <c:ptCount val="22"/>
                <c:pt idx="0">
                  <c:v>Y1</c:v>
                </c:pt>
                <c:pt idx="1">
                  <c:v>Y2</c:v>
                </c:pt>
                <c:pt idx="2">
                  <c:v>Y3</c:v>
                </c:pt>
                <c:pt idx="3">
                  <c:v>Y4</c:v>
                </c:pt>
                <c:pt idx="4">
                  <c:v>Y5</c:v>
                </c:pt>
                <c:pt idx="5">
                  <c:v>Y6</c:v>
                </c:pt>
                <c:pt idx="6">
                  <c:v>Y7</c:v>
                </c:pt>
                <c:pt idx="7">
                  <c:v>Y8</c:v>
                </c:pt>
                <c:pt idx="8">
                  <c:v>Y9</c:v>
                </c:pt>
                <c:pt idx="9">
                  <c:v>Y10</c:v>
                </c:pt>
                <c:pt idx="10">
                  <c:v>Y11</c:v>
                </c:pt>
                <c:pt idx="11">
                  <c:v>Y12</c:v>
                </c:pt>
                <c:pt idx="12">
                  <c:v>Y13</c:v>
                </c:pt>
                <c:pt idx="13">
                  <c:v>Y14</c:v>
                </c:pt>
                <c:pt idx="14">
                  <c:v>Y15</c:v>
                </c:pt>
                <c:pt idx="15">
                  <c:v>Y16</c:v>
                </c:pt>
                <c:pt idx="16">
                  <c:v>Y17</c:v>
                </c:pt>
                <c:pt idx="17">
                  <c:v>Y18</c:v>
                </c:pt>
                <c:pt idx="18">
                  <c:v>Y19</c:v>
                </c:pt>
                <c:pt idx="19">
                  <c:v>Y20</c:v>
                </c:pt>
                <c:pt idx="20">
                  <c:v>Y21</c:v>
                </c:pt>
                <c:pt idx="21">
                  <c:v>Y22</c:v>
                </c:pt>
              </c:strCache>
            </c:strRef>
          </c:cat>
          <c:val>
            <c:numRef>
              <c:f>Sheet1!$C$2:$C$23</c:f>
              <c:numCache>
                <c:formatCode>General</c:formatCode>
                <c:ptCount val="22"/>
                <c:pt idx="0">
                  <c:v>3.0240794267067641</c:v>
                </c:pt>
                <c:pt idx="1">
                  <c:v>3.0324914095834767</c:v>
                </c:pt>
                <c:pt idx="2">
                  <c:v>3.0412149285560788</c:v>
                </c:pt>
                <c:pt idx="3">
                  <c:v>3.050264812132792</c:v>
                </c:pt>
                <c:pt idx="4">
                  <c:v>3.0596567012591755</c:v>
                </c:pt>
                <c:pt idx="5">
                  <c:v>3.069407096518912</c:v>
                </c:pt>
                <c:pt idx="6">
                  <c:v>3.0795334081357177</c:v>
                </c:pt>
                <c:pt idx="7">
                  <c:v>3.0900540089438469</c:v>
                </c:pt>
                <c:pt idx="8">
                  <c:v>3.1009882905046648</c:v>
                </c:pt>
                <c:pt idx="9">
                  <c:v>3.1123567225574176</c:v>
                </c:pt>
                <c:pt idx="10">
                  <c:v>2.5102596831268742</c:v>
                </c:pt>
                <c:pt idx="11">
                  <c:v>2.5225624567594691</c:v>
                </c:pt>
                <c:pt idx="12">
                  <c:v>2.5353679079612688</c:v>
                </c:pt>
                <c:pt idx="13">
                  <c:v>2.5487014876094509</c:v>
                </c:pt>
                <c:pt idx="14">
                  <c:v>2.5625900794382832</c:v>
                </c:pt>
                <c:pt idx="15">
                  <c:v>2.5770620841266405</c:v>
                </c:pt>
                <c:pt idx="16">
                  <c:v>2.5921475083930892</c:v>
                </c:pt>
                <c:pt idx="17">
                  <c:v>2.607878059398252</c:v>
                </c:pt>
                <c:pt idx="18">
                  <c:v>2.6242872447721051</c:v>
                </c:pt>
                <c:pt idx="19">
                  <c:v>2.6414104786029386</c:v>
                </c:pt>
                <c:pt idx="20">
                  <c:v>2.6592851937448616</c:v>
                </c:pt>
                <c:pt idx="21">
                  <c:v>2.6779509608221646</c:v>
                </c:pt>
              </c:numCache>
            </c:numRef>
          </c:val>
          <c:smooth val="1"/>
          <c:extLst>
            <c:ext xmlns:c16="http://schemas.microsoft.com/office/drawing/2014/chart" uri="{C3380CC4-5D6E-409C-BE32-E72D297353CC}">
              <c16:uniqueId val="{00000001-3D99-4AFC-907E-C0AADB5F03D5}"/>
            </c:ext>
          </c:extLst>
        </c:ser>
        <c:ser>
          <c:idx val="2"/>
          <c:order val="2"/>
          <c:tx>
            <c:strRef>
              <c:f>Sheet1!$D$1</c:f>
              <c:strCache>
                <c:ptCount val="1"/>
                <c:pt idx="0">
                  <c:v>Total Tariff (Gas at 60% PLF)</c:v>
                </c:pt>
              </c:strCache>
            </c:strRef>
          </c:tx>
          <c:spPr>
            <a:ln w="28575" cap="rnd">
              <a:solidFill>
                <a:schemeClr val="accent3"/>
              </a:solidFill>
              <a:round/>
            </a:ln>
            <a:effectLst/>
          </c:spPr>
          <c:marker>
            <c:symbol val="circle"/>
            <c:size val="5"/>
            <c:spPr>
              <a:solidFill>
                <a:schemeClr val="accent3"/>
              </a:solidFill>
              <a:ln w="9525">
                <a:solidFill>
                  <a:schemeClr val="accent3"/>
                </a:solidFill>
              </a:ln>
              <a:effectLst/>
            </c:spPr>
          </c:marker>
          <c:dLbls>
            <c:dLbl>
              <c:idx val="10"/>
              <c:layout>
                <c:manualLayout>
                  <c:x val="-1.1131672743241726E-2"/>
                  <c:y val="-9.345553223417882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D99-4AFC-907E-C0AADB5F03D5}"/>
                </c:ext>
              </c:extLst>
            </c:dLbl>
            <c:numFmt formatCode="#,##0.00" sourceLinked="0"/>
            <c:spPr>
              <a:solidFill>
                <a:schemeClr val="accent3"/>
              </a:solidFill>
              <a:ln>
                <a:noFill/>
              </a:ln>
              <a:effectLst/>
            </c:spPr>
            <c:txPr>
              <a:bodyPr rot="0" spcFirstLastPara="1" vertOverflow="ellipsis" vert="horz" wrap="square" anchor="ctr" anchorCtr="1"/>
              <a:lstStyle/>
              <a:p>
                <a:pPr>
                  <a:defRPr sz="900" b="0" i="0" u="none" strike="noStrike" kern="1200" baseline="0">
                    <a:solidFill>
                      <a:schemeClr val="bg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Sheet1!$A$2:$A$23</c:f>
              <c:strCache>
                <c:ptCount val="22"/>
                <c:pt idx="0">
                  <c:v>Y1</c:v>
                </c:pt>
                <c:pt idx="1">
                  <c:v>Y2</c:v>
                </c:pt>
                <c:pt idx="2">
                  <c:v>Y3</c:v>
                </c:pt>
                <c:pt idx="3">
                  <c:v>Y4</c:v>
                </c:pt>
                <c:pt idx="4">
                  <c:v>Y5</c:v>
                </c:pt>
                <c:pt idx="5">
                  <c:v>Y6</c:v>
                </c:pt>
                <c:pt idx="6">
                  <c:v>Y7</c:v>
                </c:pt>
                <c:pt idx="7">
                  <c:v>Y8</c:v>
                </c:pt>
                <c:pt idx="8">
                  <c:v>Y9</c:v>
                </c:pt>
                <c:pt idx="9">
                  <c:v>Y10</c:v>
                </c:pt>
                <c:pt idx="10">
                  <c:v>Y11</c:v>
                </c:pt>
                <c:pt idx="11">
                  <c:v>Y12</c:v>
                </c:pt>
                <c:pt idx="12">
                  <c:v>Y13</c:v>
                </c:pt>
                <c:pt idx="13">
                  <c:v>Y14</c:v>
                </c:pt>
                <c:pt idx="14">
                  <c:v>Y15</c:v>
                </c:pt>
                <c:pt idx="15">
                  <c:v>Y16</c:v>
                </c:pt>
                <c:pt idx="16">
                  <c:v>Y17</c:v>
                </c:pt>
                <c:pt idx="17">
                  <c:v>Y18</c:v>
                </c:pt>
                <c:pt idx="18">
                  <c:v>Y19</c:v>
                </c:pt>
                <c:pt idx="19">
                  <c:v>Y20</c:v>
                </c:pt>
                <c:pt idx="20">
                  <c:v>Y21</c:v>
                </c:pt>
                <c:pt idx="21">
                  <c:v>Y22</c:v>
                </c:pt>
              </c:strCache>
            </c:strRef>
          </c:cat>
          <c:val>
            <c:numRef>
              <c:f>Sheet1!$D$2:$D$23</c:f>
              <c:numCache>
                <c:formatCode>General</c:formatCode>
                <c:ptCount val="22"/>
                <c:pt idx="0">
                  <c:v>3.7593507932227306</c:v>
                </c:pt>
                <c:pt idx="1">
                  <c:v>3.7703327703916805</c:v>
                </c:pt>
                <c:pt idx="2">
                  <c:v>3.7817228890218169</c:v>
                </c:pt>
                <c:pt idx="3">
                  <c:v>3.7935406220574337</c:v>
                </c:pt>
                <c:pt idx="4">
                  <c:v>3.8058065105086114</c:v>
                </c:pt>
                <c:pt idx="5">
                  <c:v>3.8185422255289532</c:v>
                </c:pt>
                <c:pt idx="6">
                  <c:v>3.8317706341778512</c:v>
                </c:pt>
                <c:pt idx="7">
                  <c:v>3.8455158690875639</c:v>
                </c:pt>
                <c:pt idx="8">
                  <c:v>3.8598034022685792</c:v>
                </c:pt>
                <c:pt idx="9">
                  <c:v>3.8746601233007092</c:v>
                </c:pt>
                <c:pt idx="10">
                  <c:v>3.0715527783366094</c:v>
                </c:pt>
                <c:pt idx="11">
                  <c:v>3.0876346332094244</c:v>
                </c:pt>
                <c:pt idx="12">
                  <c:v>3.1043757034049966</c:v>
                </c:pt>
                <c:pt idx="13">
                  <c:v>3.1218094279232997</c:v>
                </c:pt>
                <c:pt idx="14">
                  <c:v>3.1399711298259163</c:v>
                </c:pt>
                <c:pt idx="15">
                  <c:v>3.15889812683417</c:v>
                </c:pt>
                <c:pt idx="16">
                  <c:v>3.178629848514229</c:v>
                </c:pt>
                <c:pt idx="17">
                  <c:v>3.1992079604434269</c:v>
                </c:pt>
                <c:pt idx="18">
                  <c:v>3.2206764957756797</c:v>
                </c:pt>
                <c:pt idx="19">
                  <c:v>3.2430819946489167</c:v>
                </c:pt>
                <c:pt idx="20">
                  <c:v>3.266473651904017</c:v>
                </c:pt>
                <c:pt idx="21">
                  <c:v>3.2909034736128828</c:v>
                </c:pt>
              </c:numCache>
            </c:numRef>
          </c:val>
          <c:smooth val="1"/>
          <c:extLst>
            <c:ext xmlns:c16="http://schemas.microsoft.com/office/drawing/2014/chart" uri="{C3380CC4-5D6E-409C-BE32-E72D297353CC}">
              <c16:uniqueId val="{00000002-3D99-4AFC-907E-C0AADB5F03D5}"/>
            </c:ext>
          </c:extLst>
        </c:ser>
        <c:dLbls>
          <c:dLblPos val="t"/>
          <c:showLegendKey val="0"/>
          <c:showVal val="1"/>
          <c:showCatName val="0"/>
          <c:showSerName val="0"/>
          <c:showPercent val="0"/>
          <c:showBubbleSize val="0"/>
        </c:dLbls>
        <c:marker val="1"/>
        <c:smooth val="0"/>
        <c:axId val="1180375136"/>
        <c:axId val="1180380056"/>
      </c:lineChart>
      <c:catAx>
        <c:axId val="118037513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1180380056"/>
        <c:crosses val="autoZero"/>
        <c:auto val="1"/>
        <c:lblAlgn val="ctr"/>
        <c:lblOffset val="100"/>
        <c:noMultiLvlLbl val="0"/>
      </c:catAx>
      <c:valAx>
        <c:axId val="1180380056"/>
        <c:scaling>
          <c:orientation val="minMax"/>
          <c:min val="2"/>
        </c:scaling>
        <c:delete val="0"/>
        <c:axPos val="l"/>
        <c:numFmt formatCode="_(* #,##0.00_);_(* \(#,##0.00\);_(* &quot;-&quot;??_);_(@_)"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11803751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900">
          <a:solidFill>
            <a:schemeClr val="tx1"/>
          </a:solidFill>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080" b="0" i="0" u="none" strike="noStrike" kern="1200" spc="0" baseline="0">
                <a:solidFill>
                  <a:schemeClr val="tx1"/>
                </a:solidFill>
                <a:latin typeface="+mn-lt"/>
                <a:ea typeface="+mn-ea"/>
                <a:cs typeface="+mn-cs"/>
              </a:defRPr>
            </a:pPr>
            <a:r>
              <a:rPr lang="en-IN" b="1" dirty="0"/>
              <a:t>YoY Tariff Projections with Gas as Primary Fuel (US Cents / kWh)</a:t>
            </a:r>
          </a:p>
        </c:rich>
      </c:tx>
      <c:layout>
        <c:manualLayout>
          <c:xMode val="edge"/>
          <c:yMode val="edge"/>
          <c:x val="0.28157909249670637"/>
          <c:y val="1.728637880989407E-2"/>
        </c:manualLayout>
      </c:layout>
      <c:overlay val="0"/>
      <c:spPr>
        <a:noFill/>
        <a:ln>
          <a:noFill/>
        </a:ln>
        <a:effectLst/>
      </c:spPr>
      <c:txPr>
        <a:bodyPr rot="0" spcFirstLastPara="1" vertOverflow="ellipsis" vert="horz" wrap="square" anchor="ctr" anchorCtr="1"/>
        <a:lstStyle/>
        <a:p>
          <a:pPr>
            <a:defRPr sz="1080" b="0" i="0" u="none" strike="noStrike" kern="1200" spc="0" baseline="0">
              <a:solidFill>
                <a:schemeClr val="tx1"/>
              </a:solidFill>
              <a:latin typeface="+mn-lt"/>
              <a:ea typeface="+mn-ea"/>
              <a:cs typeface="+mn-cs"/>
            </a:defRPr>
          </a:pPr>
          <a:endParaRPr lang="en-US"/>
        </a:p>
      </c:txPr>
    </c:title>
    <c:autoTitleDeleted val="0"/>
    <c:plotArea>
      <c:layout/>
      <c:lineChart>
        <c:grouping val="standard"/>
        <c:varyColors val="0"/>
        <c:ser>
          <c:idx val="0"/>
          <c:order val="0"/>
          <c:tx>
            <c:strRef>
              <c:f>Sheet1!$B$1</c:f>
              <c:strCache>
                <c:ptCount val="1"/>
                <c:pt idx="0">
                  <c:v>Total Tariff (Gas at 100% PLF)</c:v>
                </c:pt>
              </c:strCache>
            </c:strRef>
          </c:tx>
          <c:spPr>
            <a:ln w="28575" cap="rnd">
              <a:solidFill>
                <a:schemeClr val="accent1"/>
              </a:solidFill>
              <a:round/>
            </a:ln>
            <a:effectLst/>
          </c:spPr>
          <c:marker>
            <c:symbol val="circle"/>
            <c:size val="5"/>
            <c:spPr>
              <a:solidFill>
                <a:schemeClr val="accent1"/>
              </a:solidFill>
              <a:ln w="9525">
                <a:solidFill>
                  <a:schemeClr val="accent1"/>
                </a:solidFill>
              </a:ln>
              <a:effectLst/>
            </c:spPr>
          </c:marker>
          <c:dLbls>
            <c:spPr>
              <a:solidFill>
                <a:schemeClr val="accent1"/>
              </a:solidFill>
              <a:ln>
                <a:noFill/>
              </a:ln>
              <a:effectLst/>
            </c:spPr>
            <c:txPr>
              <a:bodyPr rot="0" spcFirstLastPara="1" vertOverflow="ellipsis" vert="horz" wrap="square" anchor="ctr" anchorCtr="1"/>
              <a:lstStyle/>
              <a:p>
                <a:pPr>
                  <a:defRPr sz="900" b="0" i="0" u="none" strike="noStrike" kern="1200" baseline="0">
                    <a:solidFill>
                      <a:schemeClr val="bg1"/>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Sheet1!$A$2:$A$23</c:f>
              <c:strCache>
                <c:ptCount val="22"/>
                <c:pt idx="0">
                  <c:v>Y1</c:v>
                </c:pt>
                <c:pt idx="1">
                  <c:v>Y2</c:v>
                </c:pt>
                <c:pt idx="2">
                  <c:v>Y3</c:v>
                </c:pt>
                <c:pt idx="3">
                  <c:v>Y4</c:v>
                </c:pt>
                <c:pt idx="4">
                  <c:v>Y5</c:v>
                </c:pt>
                <c:pt idx="5">
                  <c:v>Y6</c:v>
                </c:pt>
                <c:pt idx="6">
                  <c:v>Y7</c:v>
                </c:pt>
                <c:pt idx="7">
                  <c:v>Y8</c:v>
                </c:pt>
                <c:pt idx="8">
                  <c:v>Y9</c:v>
                </c:pt>
                <c:pt idx="9">
                  <c:v>Y10</c:v>
                </c:pt>
                <c:pt idx="10">
                  <c:v>Y11</c:v>
                </c:pt>
                <c:pt idx="11">
                  <c:v>Y12</c:v>
                </c:pt>
                <c:pt idx="12">
                  <c:v>Y13</c:v>
                </c:pt>
                <c:pt idx="13">
                  <c:v>Y14</c:v>
                </c:pt>
                <c:pt idx="14">
                  <c:v>Y15</c:v>
                </c:pt>
                <c:pt idx="15">
                  <c:v>Y16</c:v>
                </c:pt>
                <c:pt idx="16">
                  <c:v>Y17</c:v>
                </c:pt>
                <c:pt idx="17">
                  <c:v>Y18</c:v>
                </c:pt>
                <c:pt idx="18">
                  <c:v>Y19</c:v>
                </c:pt>
                <c:pt idx="19">
                  <c:v>Y20</c:v>
                </c:pt>
                <c:pt idx="20">
                  <c:v>Y21</c:v>
                </c:pt>
                <c:pt idx="21">
                  <c:v>Y22</c:v>
                </c:pt>
              </c:strCache>
            </c:strRef>
          </c:cat>
          <c:val>
            <c:numRef>
              <c:f>Sheet1!$B$2:$B$23</c:f>
              <c:numCache>
                <c:formatCode>_(* #,##0.00_);_(* \(#,##0.00\);_(* "-"??_);_(@_)</c:formatCode>
                <c:ptCount val="22"/>
                <c:pt idx="0">
                  <c:v>3.083484218562119</c:v>
                </c:pt>
                <c:pt idx="1">
                  <c:v>3.0915665553872604</c:v>
                </c:pt>
                <c:pt idx="2">
                  <c:v>3.0999472132438268</c:v>
                </c:pt>
                <c:pt idx="3">
                  <c:v>3.108640359010145</c:v>
                </c:pt>
                <c:pt idx="4">
                  <c:v>3.1176609349295648</c:v>
                </c:pt>
                <c:pt idx="5">
                  <c:v>3.1270247036394152</c:v>
                </c:pt>
                <c:pt idx="6">
                  <c:v>3.1367482958718287</c:v>
                </c:pt>
                <c:pt idx="7">
                  <c:v>3.1468492609861567</c:v>
                </c:pt>
                <c:pt idx="8">
                  <c:v>3.1573461205022744</c:v>
                </c:pt>
                <c:pt idx="9">
                  <c:v>3.1682584248141876</c:v>
                </c:pt>
                <c:pt idx="10">
                  <c:v>2.6017985940960586</c:v>
                </c:pt>
                <c:pt idx="11">
                  <c:v>2.6136048586707208</c:v>
                </c:pt>
                <c:pt idx="12">
                  <c:v>2.6258920113831161</c:v>
                </c:pt>
                <c:pt idx="13">
                  <c:v>2.6386843557667747</c:v>
                </c:pt>
                <c:pt idx="14">
                  <c:v>2.6520075625721411</c:v>
                </c:pt>
                <c:pt idx="15">
                  <c:v>2.6658887499796924</c:v>
                </c:pt>
                <c:pt idx="16">
                  <c:v>2.6803565685894379</c:v>
                </c:pt>
                <c:pt idx="17">
                  <c:v>2.6954412914726626</c:v>
                </c:pt>
                <c:pt idx="18">
                  <c:v>2.7111749095889146</c:v>
                </c:pt>
                <c:pt idx="19">
                  <c:v>2.7275912328893752</c:v>
                </c:pt>
                <c:pt idx="20">
                  <c:v>2.7447259974470417</c:v>
                </c:pt>
                <c:pt idx="21">
                  <c:v>2.7626169789745294</c:v>
                </c:pt>
              </c:numCache>
            </c:numRef>
          </c:val>
          <c:smooth val="1"/>
          <c:extLst>
            <c:ext xmlns:c16="http://schemas.microsoft.com/office/drawing/2014/chart" uri="{C3380CC4-5D6E-409C-BE32-E72D297353CC}">
              <c16:uniqueId val="{00000000-3D99-4AFC-907E-C0AADB5F03D5}"/>
            </c:ext>
          </c:extLst>
        </c:ser>
        <c:ser>
          <c:idx val="1"/>
          <c:order val="1"/>
          <c:tx>
            <c:strRef>
              <c:f>Sheet1!$C$1</c:f>
              <c:strCache>
                <c:ptCount val="1"/>
                <c:pt idx="0">
                  <c:v>Total Tariff (Gas at 80% PLF)</c:v>
                </c:pt>
              </c:strCache>
            </c:strRef>
          </c:tx>
          <c:spPr>
            <a:ln w="28575" cap="rnd">
              <a:solidFill>
                <a:schemeClr val="accent2"/>
              </a:solidFill>
              <a:round/>
            </a:ln>
            <a:effectLst/>
          </c:spPr>
          <c:marker>
            <c:symbol val="circle"/>
            <c:size val="5"/>
            <c:spPr>
              <a:solidFill>
                <a:schemeClr val="accent2"/>
              </a:solidFill>
              <a:ln w="9525">
                <a:solidFill>
                  <a:schemeClr val="accent2"/>
                </a:solidFill>
              </a:ln>
              <a:effectLst/>
            </c:spPr>
          </c:marker>
          <c:dLbls>
            <c:dLbl>
              <c:idx val="10"/>
              <c:layout>
                <c:manualLayout>
                  <c:x val="-2.0210790771776097E-2"/>
                  <c:y val="-0.10389262450957994"/>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D99-4AFC-907E-C0AADB5F03D5}"/>
                </c:ext>
              </c:extLst>
            </c:dLbl>
            <c:numFmt formatCode="#,##0.00" sourceLinked="0"/>
            <c:spPr>
              <a:solidFill>
                <a:schemeClr val="accent2"/>
              </a:solidFill>
              <a:ln>
                <a:noFill/>
              </a:ln>
              <a:effectLst/>
            </c:spPr>
            <c:txPr>
              <a:bodyPr rot="0" spcFirstLastPara="1" vertOverflow="ellipsis" vert="horz" wrap="square" anchor="ctr" anchorCtr="1"/>
              <a:lstStyle/>
              <a:p>
                <a:pPr>
                  <a:defRPr sz="900" b="0" i="0" u="none" strike="noStrike" kern="1200" baseline="0">
                    <a:solidFill>
                      <a:schemeClr val="bg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Sheet1!$A$2:$A$23</c:f>
              <c:strCache>
                <c:ptCount val="22"/>
                <c:pt idx="0">
                  <c:v>Y1</c:v>
                </c:pt>
                <c:pt idx="1">
                  <c:v>Y2</c:v>
                </c:pt>
                <c:pt idx="2">
                  <c:v>Y3</c:v>
                </c:pt>
                <c:pt idx="3">
                  <c:v>Y4</c:v>
                </c:pt>
                <c:pt idx="4">
                  <c:v>Y5</c:v>
                </c:pt>
                <c:pt idx="5">
                  <c:v>Y6</c:v>
                </c:pt>
                <c:pt idx="6">
                  <c:v>Y7</c:v>
                </c:pt>
                <c:pt idx="7">
                  <c:v>Y8</c:v>
                </c:pt>
                <c:pt idx="8">
                  <c:v>Y9</c:v>
                </c:pt>
                <c:pt idx="9">
                  <c:v>Y10</c:v>
                </c:pt>
                <c:pt idx="10">
                  <c:v>Y11</c:v>
                </c:pt>
                <c:pt idx="11">
                  <c:v>Y12</c:v>
                </c:pt>
                <c:pt idx="12">
                  <c:v>Y13</c:v>
                </c:pt>
                <c:pt idx="13">
                  <c:v>Y14</c:v>
                </c:pt>
                <c:pt idx="14">
                  <c:v>Y15</c:v>
                </c:pt>
                <c:pt idx="15">
                  <c:v>Y16</c:v>
                </c:pt>
                <c:pt idx="16">
                  <c:v>Y17</c:v>
                </c:pt>
                <c:pt idx="17">
                  <c:v>Y18</c:v>
                </c:pt>
                <c:pt idx="18">
                  <c:v>Y19</c:v>
                </c:pt>
                <c:pt idx="19">
                  <c:v>Y20</c:v>
                </c:pt>
                <c:pt idx="20">
                  <c:v>Y21</c:v>
                </c:pt>
                <c:pt idx="21">
                  <c:v>Y22</c:v>
                </c:pt>
              </c:strCache>
            </c:strRef>
          </c:cat>
          <c:val>
            <c:numRef>
              <c:f>Sheet1!$C$2:$C$23</c:f>
              <c:numCache>
                <c:formatCode>General</c:formatCode>
                <c:ptCount val="22"/>
                <c:pt idx="0">
                  <c:v>3.5577405020079578</c:v>
                </c:pt>
                <c:pt idx="1">
                  <c:v>3.5676369524511489</c:v>
                </c:pt>
                <c:pt idx="2">
                  <c:v>3.5778999159483278</c:v>
                </c:pt>
                <c:pt idx="3">
                  <c:v>3.5885468378032845</c:v>
                </c:pt>
                <c:pt idx="4">
                  <c:v>3.5995961191284418</c:v>
                </c:pt>
                <c:pt idx="5">
                  <c:v>3.6110671723751904</c:v>
                </c:pt>
                <c:pt idx="6">
                  <c:v>3.6229804801596681</c:v>
                </c:pt>
                <c:pt idx="7">
                  <c:v>3.6353576575809963</c:v>
                </c:pt>
                <c:pt idx="8">
                  <c:v>3.6482215182407822</c:v>
                </c:pt>
                <c:pt idx="9">
                  <c:v>3.6615961441851974</c:v>
                </c:pt>
                <c:pt idx="10">
                  <c:v>2.9532466860316164</c:v>
                </c:pt>
                <c:pt idx="11">
                  <c:v>2.9677205373640816</c:v>
                </c:pt>
                <c:pt idx="12">
                  <c:v>2.9827857740720809</c:v>
                </c:pt>
                <c:pt idx="13">
                  <c:v>2.9984723383640599</c:v>
                </c:pt>
                <c:pt idx="14">
                  <c:v>3.0148118581626862</c:v>
                </c:pt>
                <c:pt idx="15">
                  <c:v>3.0318377460313415</c:v>
                </c:pt>
                <c:pt idx="16">
                  <c:v>3.0495853039918694</c:v>
                </c:pt>
                <c:pt idx="17">
                  <c:v>3.0680918345861787</c:v>
                </c:pt>
                <c:pt idx="18">
                  <c:v>3.0873967585554176</c:v>
                </c:pt>
                <c:pt idx="19">
                  <c:v>3.1075417395328691</c:v>
                </c:pt>
                <c:pt idx="20">
                  <c:v>3.1285708161704258</c:v>
                </c:pt>
                <c:pt idx="21">
                  <c:v>3.1505305421437231</c:v>
                </c:pt>
              </c:numCache>
            </c:numRef>
          </c:val>
          <c:smooth val="1"/>
          <c:extLst>
            <c:ext xmlns:c16="http://schemas.microsoft.com/office/drawing/2014/chart" uri="{C3380CC4-5D6E-409C-BE32-E72D297353CC}">
              <c16:uniqueId val="{00000001-3D99-4AFC-907E-C0AADB5F03D5}"/>
            </c:ext>
          </c:extLst>
        </c:ser>
        <c:ser>
          <c:idx val="2"/>
          <c:order val="2"/>
          <c:tx>
            <c:strRef>
              <c:f>Sheet1!$D$1</c:f>
              <c:strCache>
                <c:ptCount val="1"/>
                <c:pt idx="0">
                  <c:v>Total Tariff (Gas at 60% PLF)</c:v>
                </c:pt>
              </c:strCache>
            </c:strRef>
          </c:tx>
          <c:spPr>
            <a:ln w="28575" cap="rnd">
              <a:solidFill>
                <a:schemeClr val="accent3"/>
              </a:solidFill>
              <a:round/>
            </a:ln>
            <a:effectLst/>
          </c:spPr>
          <c:marker>
            <c:symbol val="circle"/>
            <c:size val="5"/>
            <c:spPr>
              <a:solidFill>
                <a:schemeClr val="accent3"/>
              </a:solidFill>
              <a:ln w="9525">
                <a:solidFill>
                  <a:schemeClr val="accent3"/>
                </a:solidFill>
              </a:ln>
              <a:effectLst/>
            </c:spPr>
          </c:marker>
          <c:dLbls>
            <c:dLbl>
              <c:idx val="10"/>
              <c:layout>
                <c:manualLayout>
                  <c:x val="-1.1131672743241726E-2"/>
                  <c:y val="-9.345553223417882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D99-4AFC-907E-C0AADB5F03D5}"/>
                </c:ext>
              </c:extLst>
            </c:dLbl>
            <c:numFmt formatCode="#,##0.00" sourceLinked="0"/>
            <c:spPr>
              <a:solidFill>
                <a:schemeClr val="accent3"/>
              </a:solidFill>
              <a:ln>
                <a:noFill/>
              </a:ln>
              <a:effectLst/>
            </c:spPr>
            <c:txPr>
              <a:bodyPr rot="0" spcFirstLastPara="1" vertOverflow="ellipsis" vert="horz" wrap="square" anchor="ctr" anchorCtr="1"/>
              <a:lstStyle/>
              <a:p>
                <a:pPr>
                  <a:defRPr sz="900" b="0" i="0" u="none" strike="noStrike" kern="1200" baseline="0">
                    <a:solidFill>
                      <a:schemeClr val="bg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Sheet1!$A$2:$A$23</c:f>
              <c:strCache>
                <c:ptCount val="22"/>
                <c:pt idx="0">
                  <c:v>Y1</c:v>
                </c:pt>
                <c:pt idx="1">
                  <c:v>Y2</c:v>
                </c:pt>
                <c:pt idx="2">
                  <c:v>Y3</c:v>
                </c:pt>
                <c:pt idx="3">
                  <c:v>Y4</c:v>
                </c:pt>
                <c:pt idx="4">
                  <c:v>Y5</c:v>
                </c:pt>
                <c:pt idx="5">
                  <c:v>Y6</c:v>
                </c:pt>
                <c:pt idx="6">
                  <c:v>Y7</c:v>
                </c:pt>
                <c:pt idx="7">
                  <c:v>Y8</c:v>
                </c:pt>
                <c:pt idx="8">
                  <c:v>Y9</c:v>
                </c:pt>
                <c:pt idx="9">
                  <c:v>Y10</c:v>
                </c:pt>
                <c:pt idx="10">
                  <c:v>Y11</c:v>
                </c:pt>
                <c:pt idx="11">
                  <c:v>Y12</c:v>
                </c:pt>
                <c:pt idx="12">
                  <c:v>Y13</c:v>
                </c:pt>
                <c:pt idx="13">
                  <c:v>Y14</c:v>
                </c:pt>
                <c:pt idx="14">
                  <c:v>Y15</c:v>
                </c:pt>
                <c:pt idx="15">
                  <c:v>Y16</c:v>
                </c:pt>
                <c:pt idx="16">
                  <c:v>Y17</c:v>
                </c:pt>
                <c:pt idx="17">
                  <c:v>Y18</c:v>
                </c:pt>
                <c:pt idx="18">
                  <c:v>Y19</c:v>
                </c:pt>
                <c:pt idx="19">
                  <c:v>Y20</c:v>
                </c:pt>
                <c:pt idx="20">
                  <c:v>Y21</c:v>
                </c:pt>
                <c:pt idx="21">
                  <c:v>Y22</c:v>
                </c:pt>
              </c:strCache>
            </c:strRef>
          </c:cat>
          <c:val>
            <c:numRef>
              <c:f>Sheet1!$D$2:$D$23</c:f>
              <c:numCache>
                <c:formatCode>General</c:formatCode>
                <c:ptCount val="22"/>
                <c:pt idx="0">
                  <c:v>4.422765639085565</c:v>
                </c:pt>
                <c:pt idx="1">
                  <c:v>4.4356856122255071</c:v>
                </c:pt>
                <c:pt idx="2">
                  <c:v>4.4490857517903732</c:v>
                </c:pt>
                <c:pt idx="3">
                  <c:v>4.4629889671263925</c:v>
                </c:pt>
                <c:pt idx="4">
                  <c:v>4.4774194241277776</c:v>
                </c:pt>
                <c:pt idx="5">
                  <c:v>4.4924026182693568</c:v>
                </c:pt>
                <c:pt idx="6">
                  <c:v>4.5079654519739432</c:v>
                </c:pt>
                <c:pt idx="7">
                  <c:v>4.524136316573605</c:v>
                </c:pt>
                <c:pt idx="8">
                  <c:v>4.5409451791395048</c:v>
                </c:pt>
                <c:pt idx="9">
                  <c:v>4.558423674471423</c:v>
                </c:pt>
                <c:pt idx="10">
                  <c:v>3.6135915039254227</c:v>
                </c:pt>
                <c:pt idx="11">
                  <c:v>3.632511333187558</c:v>
                </c:pt>
                <c:pt idx="12">
                  <c:v>3.6522067098882309</c:v>
                </c:pt>
                <c:pt idx="13">
                  <c:v>3.6727169740274115</c:v>
                </c:pt>
                <c:pt idx="14">
                  <c:v>3.6940836821481366</c:v>
                </c:pt>
                <c:pt idx="15">
                  <c:v>3.7163507374519651</c:v>
                </c:pt>
                <c:pt idx="16">
                  <c:v>3.739564527663799</c:v>
                </c:pt>
                <c:pt idx="17">
                  <c:v>3.7637740711099141</c:v>
                </c:pt>
                <c:pt idx="18">
                  <c:v>3.7890311715007994</c:v>
                </c:pt>
                <c:pt idx="19">
                  <c:v>3.8153905819399023</c:v>
                </c:pt>
                <c:pt idx="20">
                  <c:v>3.8429101787106084</c:v>
                </c:pt>
                <c:pt idx="21">
                  <c:v>3.8716511454269207</c:v>
                </c:pt>
              </c:numCache>
            </c:numRef>
          </c:val>
          <c:smooth val="1"/>
          <c:extLst>
            <c:ext xmlns:c16="http://schemas.microsoft.com/office/drawing/2014/chart" uri="{C3380CC4-5D6E-409C-BE32-E72D297353CC}">
              <c16:uniqueId val="{00000002-3D99-4AFC-907E-C0AADB5F03D5}"/>
            </c:ext>
          </c:extLst>
        </c:ser>
        <c:dLbls>
          <c:dLblPos val="t"/>
          <c:showLegendKey val="0"/>
          <c:showVal val="1"/>
          <c:showCatName val="0"/>
          <c:showSerName val="0"/>
          <c:showPercent val="0"/>
          <c:showBubbleSize val="0"/>
        </c:dLbls>
        <c:marker val="1"/>
        <c:smooth val="0"/>
        <c:axId val="1180375136"/>
        <c:axId val="1180380056"/>
      </c:lineChart>
      <c:catAx>
        <c:axId val="118037513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1180380056"/>
        <c:crosses val="autoZero"/>
        <c:auto val="1"/>
        <c:lblAlgn val="ctr"/>
        <c:lblOffset val="100"/>
        <c:noMultiLvlLbl val="0"/>
      </c:catAx>
      <c:valAx>
        <c:axId val="1180380056"/>
        <c:scaling>
          <c:orientation val="minMax"/>
          <c:min val="2"/>
        </c:scaling>
        <c:delete val="0"/>
        <c:axPos val="l"/>
        <c:numFmt formatCode="_(* #,##0.00_);_(* \(#,##0.00\);_(* &quot;-&quot;??_);_(@_)"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11803751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900">
          <a:solidFill>
            <a:schemeClr val="tx1"/>
          </a:solidFill>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080" b="0" i="0" u="none" strike="noStrike" kern="1200" spc="0" baseline="0">
                <a:solidFill>
                  <a:schemeClr val="tx1"/>
                </a:solidFill>
                <a:latin typeface="+mn-lt"/>
                <a:ea typeface="+mn-ea"/>
                <a:cs typeface="+mn-cs"/>
              </a:defRPr>
            </a:pPr>
            <a:r>
              <a:rPr lang="en-IN" b="1" dirty="0"/>
              <a:t>YoY Tariff Projections with HSD as Primary Fuel (BDT / kWh)</a:t>
            </a:r>
          </a:p>
        </c:rich>
      </c:tx>
      <c:overlay val="0"/>
      <c:spPr>
        <a:noFill/>
        <a:ln>
          <a:noFill/>
        </a:ln>
        <a:effectLst/>
      </c:spPr>
      <c:txPr>
        <a:bodyPr rot="0" spcFirstLastPara="1" vertOverflow="ellipsis" vert="horz" wrap="square" anchor="ctr" anchorCtr="1"/>
        <a:lstStyle/>
        <a:p>
          <a:pPr>
            <a:defRPr sz="1080" b="0" i="0" u="none" strike="noStrike" kern="1200" spc="0" baseline="0">
              <a:solidFill>
                <a:schemeClr val="tx1"/>
              </a:solidFill>
              <a:latin typeface="+mn-lt"/>
              <a:ea typeface="+mn-ea"/>
              <a:cs typeface="+mn-cs"/>
            </a:defRPr>
          </a:pPr>
          <a:endParaRPr lang="en-US"/>
        </a:p>
      </c:txPr>
    </c:title>
    <c:autoTitleDeleted val="0"/>
    <c:plotArea>
      <c:layout>
        <c:manualLayout>
          <c:layoutTarget val="inner"/>
          <c:xMode val="edge"/>
          <c:yMode val="edge"/>
          <c:x val="5.5673682812994681E-2"/>
          <c:y val="0.11427748267675721"/>
          <c:w val="0.93005913171359411"/>
          <c:h val="0.76121431139755369"/>
        </c:manualLayout>
      </c:layout>
      <c:lineChart>
        <c:grouping val="standard"/>
        <c:varyColors val="0"/>
        <c:ser>
          <c:idx val="0"/>
          <c:order val="0"/>
          <c:tx>
            <c:strRef>
              <c:f>Sheet1!$B$1</c:f>
              <c:strCache>
                <c:ptCount val="1"/>
                <c:pt idx="0">
                  <c:v>Total Tariff (HSD at 100% PLF)</c:v>
                </c:pt>
              </c:strCache>
            </c:strRef>
          </c:tx>
          <c:spPr>
            <a:ln w="28575" cap="rnd">
              <a:solidFill>
                <a:schemeClr val="accent1"/>
              </a:solidFill>
              <a:round/>
            </a:ln>
            <a:effectLst/>
          </c:spPr>
          <c:marker>
            <c:symbol val="circle"/>
            <c:size val="5"/>
            <c:spPr>
              <a:solidFill>
                <a:schemeClr val="accent1"/>
              </a:solidFill>
              <a:ln w="9525">
                <a:solidFill>
                  <a:schemeClr val="accent1"/>
                </a:solidFill>
              </a:ln>
              <a:effectLst/>
            </c:spPr>
          </c:marker>
          <c:dLbls>
            <c:spPr>
              <a:solidFill>
                <a:schemeClr val="accent1"/>
              </a:solidFill>
              <a:ln>
                <a:noFill/>
              </a:ln>
              <a:effectLst/>
            </c:spPr>
            <c:txPr>
              <a:bodyPr rot="0" spcFirstLastPara="1" vertOverflow="ellipsis" vert="horz" wrap="square" anchor="ctr" anchorCtr="1"/>
              <a:lstStyle/>
              <a:p>
                <a:pPr>
                  <a:defRPr sz="900" b="0" i="0" u="none" strike="noStrike" kern="1200" baseline="0">
                    <a:solidFill>
                      <a:schemeClr val="bg1"/>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Sheet1!$A$2:$A$23</c:f>
              <c:strCache>
                <c:ptCount val="22"/>
                <c:pt idx="0">
                  <c:v>Y1</c:v>
                </c:pt>
                <c:pt idx="1">
                  <c:v>Y2</c:v>
                </c:pt>
                <c:pt idx="2">
                  <c:v>Y3</c:v>
                </c:pt>
                <c:pt idx="3">
                  <c:v>Y4</c:v>
                </c:pt>
                <c:pt idx="4">
                  <c:v>Y5</c:v>
                </c:pt>
                <c:pt idx="5">
                  <c:v>Y6</c:v>
                </c:pt>
                <c:pt idx="6">
                  <c:v>Y7</c:v>
                </c:pt>
                <c:pt idx="7">
                  <c:v>Y8</c:v>
                </c:pt>
                <c:pt idx="8">
                  <c:v>Y9</c:v>
                </c:pt>
                <c:pt idx="9">
                  <c:v>Y10</c:v>
                </c:pt>
                <c:pt idx="10">
                  <c:v>Y11</c:v>
                </c:pt>
                <c:pt idx="11">
                  <c:v>Y12</c:v>
                </c:pt>
                <c:pt idx="12">
                  <c:v>Y13</c:v>
                </c:pt>
                <c:pt idx="13">
                  <c:v>Y14</c:v>
                </c:pt>
                <c:pt idx="14">
                  <c:v>Y15</c:v>
                </c:pt>
                <c:pt idx="15">
                  <c:v>Y16</c:v>
                </c:pt>
                <c:pt idx="16">
                  <c:v>Y17</c:v>
                </c:pt>
                <c:pt idx="17">
                  <c:v>Y18</c:v>
                </c:pt>
                <c:pt idx="18">
                  <c:v>Y19</c:v>
                </c:pt>
                <c:pt idx="19">
                  <c:v>Y20</c:v>
                </c:pt>
                <c:pt idx="20">
                  <c:v>Y21</c:v>
                </c:pt>
                <c:pt idx="21">
                  <c:v>Y22</c:v>
                </c:pt>
              </c:strCache>
            </c:strRef>
          </c:cat>
          <c:val>
            <c:numRef>
              <c:f>Sheet1!$B$2:$B$23</c:f>
              <c:numCache>
                <c:formatCode>_(* #,##0.00_);_(* \(#,##0.00\);_(* "-"??_);_(@_)</c:formatCode>
                <c:ptCount val="22"/>
                <c:pt idx="0">
                  <c:v>14.149714505048726</c:v>
                </c:pt>
                <c:pt idx="1">
                  <c:v>14.158734258473382</c:v>
                </c:pt>
                <c:pt idx="2">
                  <c:v>14.168073889706259</c:v>
                </c:pt>
                <c:pt idx="3">
                  <c:v>14.177748165267902</c:v>
                </c:pt>
                <c:pt idx="4">
                  <c:v>14.187772649147135</c:v>
                </c:pt>
                <c:pt idx="5">
                  <c:v>14.198163748878692</c:v>
                </c:pt>
                <c:pt idx="6">
                  <c:v>14.2089387643501</c:v>
                </c:pt>
                <c:pt idx="7">
                  <c:v>14.22011593950087</c:v>
                </c:pt>
                <c:pt idx="8">
                  <c:v>14.231714517086788</c:v>
                </c:pt>
                <c:pt idx="9">
                  <c:v>14.243754796692482</c:v>
                </c:pt>
                <c:pt idx="10">
                  <c:v>13.959340387967256</c:v>
                </c:pt>
                <c:pt idx="11">
                  <c:v>13.972329508604997</c:v>
                </c:pt>
                <c:pt idx="12">
                  <c:v>13.98582820399864</c:v>
                </c:pt>
                <c:pt idx="13">
                  <c:v>13.999861653183892</c:v>
                </c:pt>
                <c:pt idx="14">
                  <c:v>14.014456438029605</c:v>
                </c:pt>
                <c:pt idx="15">
                  <c:v>14.029640625249597</c:v>
                </c:pt>
                <c:pt idx="16">
                  <c:v>14.045443853291996</c:v>
                </c:pt>
                <c:pt idx="17">
                  <c:v>14.061897424397928</c:v>
                </c:pt>
                <c:pt idx="18">
                  <c:v>14.079034402138827</c:v>
                </c:pt>
                <c:pt idx="19">
                  <c:v>14.096889714760161</c:v>
                </c:pt>
                <c:pt idx="20">
                  <c:v>14.115500264679079</c:v>
                </c:pt>
                <c:pt idx="21">
                  <c:v>14.134905044504238</c:v>
                </c:pt>
              </c:numCache>
            </c:numRef>
          </c:val>
          <c:smooth val="1"/>
          <c:extLst>
            <c:ext xmlns:c16="http://schemas.microsoft.com/office/drawing/2014/chart" uri="{C3380CC4-5D6E-409C-BE32-E72D297353CC}">
              <c16:uniqueId val="{00000000-3D99-4AFC-907E-C0AADB5F03D5}"/>
            </c:ext>
          </c:extLst>
        </c:ser>
        <c:ser>
          <c:idx val="1"/>
          <c:order val="1"/>
          <c:tx>
            <c:strRef>
              <c:f>Sheet1!$C$1</c:f>
              <c:strCache>
                <c:ptCount val="1"/>
                <c:pt idx="0">
                  <c:v>Total Tariff (HSD at 80% PLF)</c:v>
                </c:pt>
              </c:strCache>
            </c:strRef>
          </c:tx>
          <c:spPr>
            <a:ln w="28575" cap="rnd">
              <a:solidFill>
                <a:schemeClr val="accent2"/>
              </a:solidFill>
              <a:round/>
            </a:ln>
            <a:effectLst/>
          </c:spPr>
          <c:marker>
            <c:symbol val="circle"/>
            <c:size val="5"/>
            <c:spPr>
              <a:solidFill>
                <a:schemeClr val="accent2"/>
              </a:solidFill>
              <a:ln w="9525">
                <a:solidFill>
                  <a:schemeClr val="accent2"/>
                </a:solidFill>
              </a:ln>
              <a:effectLst/>
            </c:spPr>
          </c:marker>
          <c:dLbls>
            <c:dLbl>
              <c:idx val="10"/>
              <c:layout>
                <c:manualLayout>
                  <c:x val="-2.0210790771776097E-2"/>
                  <c:y val="-0.10389262450957994"/>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D99-4AFC-907E-C0AADB5F03D5}"/>
                </c:ext>
              </c:extLst>
            </c:dLbl>
            <c:numFmt formatCode="#,##0.00" sourceLinked="0"/>
            <c:spPr>
              <a:solidFill>
                <a:schemeClr val="accent2"/>
              </a:solidFill>
              <a:ln>
                <a:noFill/>
              </a:ln>
              <a:effectLst/>
            </c:spPr>
            <c:txPr>
              <a:bodyPr rot="0" spcFirstLastPara="1" vertOverflow="ellipsis" vert="horz" wrap="square" anchor="ctr" anchorCtr="1"/>
              <a:lstStyle/>
              <a:p>
                <a:pPr>
                  <a:defRPr sz="900" b="0" i="0" u="none" strike="noStrike" kern="1200" baseline="0">
                    <a:solidFill>
                      <a:schemeClr val="bg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Sheet1!$A$2:$A$23</c:f>
              <c:strCache>
                <c:ptCount val="22"/>
                <c:pt idx="0">
                  <c:v>Y1</c:v>
                </c:pt>
                <c:pt idx="1">
                  <c:v>Y2</c:v>
                </c:pt>
                <c:pt idx="2">
                  <c:v>Y3</c:v>
                </c:pt>
                <c:pt idx="3">
                  <c:v>Y4</c:v>
                </c:pt>
                <c:pt idx="4">
                  <c:v>Y5</c:v>
                </c:pt>
                <c:pt idx="5">
                  <c:v>Y6</c:v>
                </c:pt>
                <c:pt idx="6">
                  <c:v>Y7</c:v>
                </c:pt>
                <c:pt idx="7">
                  <c:v>Y8</c:v>
                </c:pt>
                <c:pt idx="8">
                  <c:v>Y9</c:v>
                </c:pt>
                <c:pt idx="9">
                  <c:v>Y10</c:v>
                </c:pt>
                <c:pt idx="10">
                  <c:v>Y11</c:v>
                </c:pt>
                <c:pt idx="11">
                  <c:v>Y12</c:v>
                </c:pt>
                <c:pt idx="12">
                  <c:v>Y13</c:v>
                </c:pt>
                <c:pt idx="13">
                  <c:v>Y14</c:v>
                </c:pt>
                <c:pt idx="14">
                  <c:v>Y15</c:v>
                </c:pt>
                <c:pt idx="15">
                  <c:v>Y16</c:v>
                </c:pt>
                <c:pt idx="16">
                  <c:v>Y17</c:v>
                </c:pt>
                <c:pt idx="17">
                  <c:v>Y18</c:v>
                </c:pt>
                <c:pt idx="18">
                  <c:v>Y19</c:v>
                </c:pt>
                <c:pt idx="19">
                  <c:v>Y20</c:v>
                </c:pt>
                <c:pt idx="20">
                  <c:v>Y21</c:v>
                </c:pt>
                <c:pt idx="21">
                  <c:v>Y22</c:v>
                </c:pt>
              </c:strCache>
            </c:strRef>
          </c:cat>
          <c:val>
            <c:numRef>
              <c:f>Sheet1!$C$2:$C$23</c:f>
              <c:numCache>
                <c:formatCode>General</c:formatCode>
                <c:ptCount val="22"/>
                <c:pt idx="0">
                  <c:v>15.113010261154207</c:v>
                </c:pt>
                <c:pt idx="1">
                  <c:v>15.124106452935028</c:v>
                </c:pt>
                <c:pt idx="2">
                  <c:v>15.135596881976122</c:v>
                </c:pt>
                <c:pt idx="3">
                  <c:v>15.147499771828178</c:v>
                </c:pt>
                <c:pt idx="4">
                  <c:v>15.159834330841218</c:v>
                </c:pt>
                <c:pt idx="5">
                  <c:v>15.1726208090803</c:v>
                </c:pt>
                <c:pt idx="6">
                  <c:v>15.185880558612697</c:v>
                </c:pt>
                <c:pt idx="7">
                  <c:v>15.19963609736798</c:v>
                </c:pt>
                <c:pt idx="8">
                  <c:v>15.213911176784542</c:v>
                </c:pt>
                <c:pt idx="9">
                  <c:v>15.228730853468782</c:v>
                </c:pt>
                <c:pt idx="10">
                  <c:v>14.872974304832841</c:v>
                </c:pt>
                <c:pt idx="11">
                  <c:v>14.888963950608947</c:v>
                </c:pt>
                <c:pt idx="12">
                  <c:v>14.905581976400203</c:v>
                </c:pt>
                <c:pt idx="13">
                  <c:v>14.922859465032897</c:v>
                </c:pt>
                <c:pt idx="14">
                  <c:v>14.94082923190339</c:v>
                </c:pt>
                <c:pt idx="15">
                  <c:v>14.959525926284345</c:v>
                </c:pt>
                <c:pt idx="16">
                  <c:v>14.978986138656357</c:v>
                </c:pt>
                <c:pt idx="17">
                  <c:v>14.999248514425455</c:v>
                </c:pt>
                <c:pt idx="18">
                  <c:v>15.020353874408558</c:v>
                </c:pt>
                <c:pt idx="19">
                  <c:v>15.042345342491862</c:v>
                </c:pt>
                <c:pt idx="20">
                  <c:v>15.065268480891405</c:v>
                </c:pt>
                <c:pt idx="21">
                  <c:v>15.089171433470785</c:v>
                </c:pt>
              </c:numCache>
            </c:numRef>
          </c:val>
          <c:smooth val="1"/>
          <c:extLst>
            <c:ext xmlns:c16="http://schemas.microsoft.com/office/drawing/2014/chart" uri="{C3380CC4-5D6E-409C-BE32-E72D297353CC}">
              <c16:uniqueId val="{00000001-3D99-4AFC-907E-C0AADB5F03D5}"/>
            </c:ext>
          </c:extLst>
        </c:ser>
        <c:ser>
          <c:idx val="2"/>
          <c:order val="2"/>
          <c:tx>
            <c:strRef>
              <c:f>Sheet1!$D$1</c:f>
              <c:strCache>
                <c:ptCount val="1"/>
                <c:pt idx="0">
                  <c:v>Total Tariff (HSD at 60% PLF)</c:v>
                </c:pt>
              </c:strCache>
            </c:strRef>
          </c:tx>
          <c:spPr>
            <a:ln w="28575" cap="rnd">
              <a:solidFill>
                <a:schemeClr val="accent3"/>
              </a:solidFill>
              <a:round/>
            </a:ln>
            <a:effectLst/>
          </c:spPr>
          <c:marker>
            <c:symbol val="circle"/>
            <c:size val="5"/>
            <c:spPr>
              <a:solidFill>
                <a:schemeClr val="accent3"/>
              </a:solidFill>
              <a:ln w="9525">
                <a:solidFill>
                  <a:schemeClr val="accent3"/>
                </a:solidFill>
              </a:ln>
              <a:effectLst/>
            </c:spPr>
          </c:marker>
          <c:dLbls>
            <c:dLbl>
              <c:idx val="10"/>
              <c:layout>
                <c:manualLayout>
                  <c:x val="-1.1131672743241726E-2"/>
                  <c:y val="-9.345553223417882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D99-4AFC-907E-C0AADB5F03D5}"/>
                </c:ext>
              </c:extLst>
            </c:dLbl>
            <c:numFmt formatCode="#,##0.00" sourceLinked="0"/>
            <c:spPr>
              <a:solidFill>
                <a:schemeClr val="accent3"/>
              </a:solidFill>
              <a:ln>
                <a:noFill/>
              </a:ln>
              <a:effectLst/>
            </c:spPr>
            <c:txPr>
              <a:bodyPr rot="0" spcFirstLastPara="1" vertOverflow="ellipsis" vert="horz" wrap="square" anchor="ctr" anchorCtr="1"/>
              <a:lstStyle/>
              <a:p>
                <a:pPr>
                  <a:defRPr sz="900" b="0" i="0" u="none" strike="noStrike" kern="1200" baseline="0">
                    <a:solidFill>
                      <a:schemeClr val="bg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Sheet1!$A$2:$A$23</c:f>
              <c:strCache>
                <c:ptCount val="22"/>
                <c:pt idx="0">
                  <c:v>Y1</c:v>
                </c:pt>
                <c:pt idx="1">
                  <c:v>Y2</c:v>
                </c:pt>
                <c:pt idx="2">
                  <c:v>Y3</c:v>
                </c:pt>
                <c:pt idx="3">
                  <c:v>Y4</c:v>
                </c:pt>
                <c:pt idx="4">
                  <c:v>Y5</c:v>
                </c:pt>
                <c:pt idx="5">
                  <c:v>Y6</c:v>
                </c:pt>
                <c:pt idx="6">
                  <c:v>Y7</c:v>
                </c:pt>
                <c:pt idx="7">
                  <c:v>Y8</c:v>
                </c:pt>
                <c:pt idx="8">
                  <c:v>Y9</c:v>
                </c:pt>
                <c:pt idx="9">
                  <c:v>Y10</c:v>
                </c:pt>
                <c:pt idx="10">
                  <c:v>Y11</c:v>
                </c:pt>
                <c:pt idx="11">
                  <c:v>Y12</c:v>
                </c:pt>
                <c:pt idx="12">
                  <c:v>Y13</c:v>
                </c:pt>
                <c:pt idx="13">
                  <c:v>Y14</c:v>
                </c:pt>
                <c:pt idx="14">
                  <c:v>Y15</c:v>
                </c:pt>
                <c:pt idx="15">
                  <c:v>Y16</c:v>
                </c:pt>
                <c:pt idx="16">
                  <c:v>Y17</c:v>
                </c:pt>
                <c:pt idx="17">
                  <c:v>Y18</c:v>
                </c:pt>
                <c:pt idx="18">
                  <c:v>Y19</c:v>
                </c:pt>
                <c:pt idx="19">
                  <c:v>Y20</c:v>
                </c:pt>
                <c:pt idx="20">
                  <c:v>Y21</c:v>
                </c:pt>
                <c:pt idx="21">
                  <c:v>Y22</c:v>
                </c:pt>
              </c:strCache>
            </c:strRef>
          </c:cat>
          <c:val>
            <c:numRef>
              <c:f>Sheet1!$D$2:$D$23</c:f>
              <c:numCache>
                <c:formatCode>General</c:formatCode>
                <c:ptCount val="22"/>
                <c:pt idx="0">
                  <c:v>16.924052681913242</c:v>
                </c:pt>
                <c:pt idx="1">
                  <c:v>16.938609604287674</c:v>
                </c:pt>
                <c:pt idx="2">
                  <c:v>16.953684696342467</c:v>
                </c:pt>
                <c:pt idx="3">
                  <c:v>16.969301943345204</c:v>
                </c:pt>
                <c:pt idx="4">
                  <c:v>16.98548662758126</c:v>
                </c:pt>
                <c:pt idx="5">
                  <c:v>17.002265403332895</c:v>
                </c:pt>
                <c:pt idx="6">
                  <c:v>17.019666376300265</c:v>
                </c:pt>
                <c:pt idx="7">
                  <c:v>17.037719187729731</c:v>
                </c:pt>
                <c:pt idx="8">
                  <c:v>17.056455103530705</c:v>
                </c:pt>
                <c:pt idx="9">
                  <c:v>17.075907108679186</c:v>
                </c:pt>
                <c:pt idx="10">
                  <c:v>16.601246993525386</c:v>
                </c:pt>
                <c:pt idx="11">
                  <c:v>16.622237514532099</c:v>
                </c:pt>
                <c:pt idx="12">
                  <c:v>16.644054424319382</c:v>
                </c:pt>
                <c:pt idx="13">
                  <c:v>16.666738645364475</c:v>
                </c:pt>
                <c:pt idx="14">
                  <c:v>16.690333382276265</c:v>
                </c:pt>
                <c:pt idx="15">
                  <c:v>16.714884255258827</c:v>
                </c:pt>
                <c:pt idx="16">
                  <c:v>16.740439441513534</c:v>
                </c:pt>
                <c:pt idx="17">
                  <c:v>16.767049825054574</c:v>
                </c:pt>
                <c:pt idx="18">
                  <c:v>16.794769155441347</c:v>
                </c:pt>
                <c:pt idx="19">
                  <c:v>16.823654215961266</c:v>
                </c:pt>
                <c:pt idx="20">
                  <c:v>16.853765001828517</c:v>
                </c:pt>
                <c:pt idx="21">
                  <c:v>16.885164908998266</c:v>
                </c:pt>
              </c:numCache>
            </c:numRef>
          </c:val>
          <c:smooth val="1"/>
          <c:extLst>
            <c:ext xmlns:c16="http://schemas.microsoft.com/office/drawing/2014/chart" uri="{C3380CC4-5D6E-409C-BE32-E72D297353CC}">
              <c16:uniqueId val="{00000002-3D99-4AFC-907E-C0AADB5F03D5}"/>
            </c:ext>
          </c:extLst>
        </c:ser>
        <c:dLbls>
          <c:dLblPos val="t"/>
          <c:showLegendKey val="0"/>
          <c:showVal val="1"/>
          <c:showCatName val="0"/>
          <c:showSerName val="0"/>
          <c:showPercent val="0"/>
          <c:showBubbleSize val="0"/>
        </c:dLbls>
        <c:marker val="1"/>
        <c:smooth val="0"/>
        <c:axId val="1180375136"/>
        <c:axId val="1180380056"/>
      </c:lineChart>
      <c:catAx>
        <c:axId val="118037513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1180380056"/>
        <c:crosses val="autoZero"/>
        <c:auto val="1"/>
        <c:lblAlgn val="ctr"/>
        <c:lblOffset val="100"/>
        <c:noMultiLvlLbl val="0"/>
      </c:catAx>
      <c:valAx>
        <c:axId val="1180380056"/>
        <c:scaling>
          <c:orientation val="minMax"/>
          <c:max val="20"/>
          <c:min val="13"/>
        </c:scaling>
        <c:delete val="0"/>
        <c:axPos val="l"/>
        <c:numFmt formatCode="_(* #,##0.00_);_(* \(#,##0.00\);_(* &quot;-&quot;??_);_(@_)"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11803751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900">
          <a:solidFill>
            <a:schemeClr val="tx1"/>
          </a:solidFill>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080" b="0" i="0" u="none" strike="noStrike" kern="1200" spc="0" baseline="0">
                <a:solidFill>
                  <a:schemeClr val="tx1"/>
                </a:solidFill>
                <a:latin typeface="+mn-lt"/>
                <a:ea typeface="+mn-ea"/>
                <a:cs typeface="+mn-cs"/>
              </a:defRPr>
            </a:pPr>
            <a:r>
              <a:rPr lang="en-IN" b="1" dirty="0"/>
              <a:t>YoY Tariff Projections with HSD as Primary Fuel (US Cents / kWh)</a:t>
            </a:r>
          </a:p>
        </c:rich>
      </c:tx>
      <c:overlay val="0"/>
      <c:spPr>
        <a:noFill/>
        <a:ln>
          <a:noFill/>
        </a:ln>
        <a:effectLst/>
      </c:spPr>
      <c:txPr>
        <a:bodyPr rot="0" spcFirstLastPara="1" vertOverflow="ellipsis" vert="horz" wrap="square" anchor="ctr" anchorCtr="1"/>
        <a:lstStyle/>
        <a:p>
          <a:pPr>
            <a:defRPr sz="1080" b="0" i="0" u="none" strike="noStrike" kern="1200" spc="0" baseline="0">
              <a:solidFill>
                <a:schemeClr val="tx1"/>
              </a:solidFill>
              <a:latin typeface="+mn-lt"/>
              <a:ea typeface="+mn-ea"/>
              <a:cs typeface="+mn-cs"/>
            </a:defRPr>
          </a:pPr>
          <a:endParaRPr lang="en-US"/>
        </a:p>
      </c:txPr>
    </c:title>
    <c:autoTitleDeleted val="0"/>
    <c:plotArea>
      <c:layout>
        <c:manualLayout>
          <c:layoutTarget val="inner"/>
          <c:xMode val="edge"/>
          <c:yMode val="edge"/>
          <c:x val="5.5673682812994681E-2"/>
          <c:y val="0.11427748267675721"/>
          <c:w val="0.93005913171359411"/>
          <c:h val="0.76121431139755369"/>
        </c:manualLayout>
      </c:layout>
      <c:lineChart>
        <c:grouping val="standard"/>
        <c:varyColors val="0"/>
        <c:ser>
          <c:idx val="0"/>
          <c:order val="0"/>
          <c:tx>
            <c:strRef>
              <c:f>Sheet1!$B$1</c:f>
              <c:strCache>
                <c:ptCount val="1"/>
                <c:pt idx="0">
                  <c:v>Total Tariff (HSD at 100% PLF)</c:v>
                </c:pt>
              </c:strCache>
            </c:strRef>
          </c:tx>
          <c:spPr>
            <a:ln w="28575" cap="rnd">
              <a:solidFill>
                <a:schemeClr val="accent1"/>
              </a:solidFill>
              <a:round/>
            </a:ln>
            <a:effectLst/>
          </c:spPr>
          <c:marker>
            <c:symbol val="circle"/>
            <c:size val="5"/>
            <c:spPr>
              <a:solidFill>
                <a:schemeClr val="accent1"/>
              </a:solidFill>
              <a:ln w="9525">
                <a:solidFill>
                  <a:schemeClr val="accent1"/>
                </a:solidFill>
              </a:ln>
              <a:effectLst/>
            </c:spPr>
          </c:marker>
          <c:dLbls>
            <c:spPr>
              <a:solidFill>
                <a:schemeClr val="accent1"/>
              </a:solidFill>
              <a:ln>
                <a:noFill/>
              </a:ln>
              <a:effectLst/>
            </c:spPr>
            <c:txPr>
              <a:bodyPr rot="0" spcFirstLastPara="1" vertOverflow="ellipsis" vert="horz" wrap="square" anchor="ctr" anchorCtr="1"/>
              <a:lstStyle/>
              <a:p>
                <a:pPr>
                  <a:defRPr sz="900" b="0" i="0" u="none" strike="noStrike" kern="1200" baseline="0">
                    <a:solidFill>
                      <a:schemeClr val="bg1"/>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Sheet1!$A$2:$A$23</c:f>
              <c:strCache>
                <c:ptCount val="22"/>
                <c:pt idx="0">
                  <c:v>Y1</c:v>
                </c:pt>
                <c:pt idx="1">
                  <c:v>Y2</c:v>
                </c:pt>
                <c:pt idx="2">
                  <c:v>Y3</c:v>
                </c:pt>
                <c:pt idx="3">
                  <c:v>Y4</c:v>
                </c:pt>
                <c:pt idx="4">
                  <c:v>Y5</c:v>
                </c:pt>
                <c:pt idx="5">
                  <c:v>Y6</c:v>
                </c:pt>
                <c:pt idx="6">
                  <c:v>Y7</c:v>
                </c:pt>
                <c:pt idx="7">
                  <c:v>Y8</c:v>
                </c:pt>
                <c:pt idx="8">
                  <c:v>Y9</c:v>
                </c:pt>
                <c:pt idx="9">
                  <c:v>Y10</c:v>
                </c:pt>
                <c:pt idx="10">
                  <c:v>Y11</c:v>
                </c:pt>
                <c:pt idx="11">
                  <c:v>Y12</c:v>
                </c:pt>
                <c:pt idx="12">
                  <c:v>Y13</c:v>
                </c:pt>
                <c:pt idx="13">
                  <c:v>Y14</c:v>
                </c:pt>
                <c:pt idx="14">
                  <c:v>Y15</c:v>
                </c:pt>
                <c:pt idx="15">
                  <c:v>Y16</c:v>
                </c:pt>
                <c:pt idx="16">
                  <c:v>Y17</c:v>
                </c:pt>
                <c:pt idx="17">
                  <c:v>Y18</c:v>
                </c:pt>
                <c:pt idx="18">
                  <c:v>Y19</c:v>
                </c:pt>
                <c:pt idx="19">
                  <c:v>Y20</c:v>
                </c:pt>
                <c:pt idx="20">
                  <c:v>Y21</c:v>
                </c:pt>
                <c:pt idx="21">
                  <c:v>Y22</c:v>
                </c:pt>
              </c:strCache>
            </c:strRef>
          </c:cat>
          <c:val>
            <c:numRef>
              <c:f>Sheet1!$B$2:$B$23</c:f>
              <c:numCache>
                <c:formatCode>_(* #,##0.00_);_(* \(#,##0.00\);_(* "-"??_);_(@_)</c:formatCode>
                <c:ptCount val="22"/>
                <c:pt idx="0">
                  <c:v>16.64672294711615</c:v>
                </c:pt>
                <c:pt idx="1">
                  <c:v>16.657334421733392</c:v>
                </c:pt>
                <c:pt idx="2">
                  <c:v>16.668322223183836</c:v>
                </c:pt>
                <c:pt idx="3">
                  <c:v>16.67970372384459</c:v>
                </c:pt>
                <c:pt idx="4">
                  <c:v>16.691497234290747</c:v>
                </c:pt>
                <c:pt idx="5">
                  <c:v>16.703722057504343</c:v>
                </c:pt>
                <c:pt idx="6">
                  <c:v>16.716398546294233</c:v>
                </c:pt>
                <c:pt idx="7">
                  <c:v>16.729548164118672</c:v>
                </c:pt>
                <c:pt idx="8">
                  <c:v>16.743193549513869</c:v>
                </c:pt>
                <c:pt idx="9">
                  <c:v>16.757358584344097</c:v>
                </c:pt>
                <c:pt idx="10">
                  <c:v>16.422753397608535</c:v>
                </c:pt>
                <c:pt idx="11">
                  <c:v>16.438034716005877</c:v>
                </c:pt>
                <c:pt idx="12">
                  <c:v>16.453915534116049</c:v>
                </c:pt>
                <c:pt idx="13">
                  <c:v>16.47042547433399</c:v>
                </c:pt>
                <c:pt idx="14">
                  <c:v>16.487595809446592</c:v>
                </c:pt>
                <c:pt idx="15">
                  <c:v>16.50545955911717</c:v>
                </c:pt>
                <c:pt idx="16">
                  <c:v>16.524051592108229</c:v>
                </c:pt>
                <c:pt idx="17">
                  <c:v>16.5434087345858</c:v>
                </c:pt>
                <c:pt idx="18">
                  <c:v>16.56356988486921</c:v>
                </c:pt>
                <c:pt idx="19">
                  <c:v>16.584576135011954</c:v>
                </c:pt>
                <c:pt idx="20">
                  <c:v>16.606470899622447</c:v>
                </c:pt>
                <c:pt idx="21">
                  <c:v>16.62930005235793</c:v>
                </c:pt>
              </c:numCache>
            </c:numRef>
          </c:val>
          <c:smooth val="1"/>
          <c:extLst>
            <c:ext xmlns:c16="http://schemas.microsoft.com/office/drawing/2014/chart" uri="{C3380CC4-5D6E-409C-BE32-E72D297353CC}">
              <c16:uniqueId val="{00000000-3D99-4AFC-907E-C0AADB5F03D5}"/>
            </c:ext>
          </c:extLst>
        </c:ser>
        <c:ser>
          <c:idx val="1"/>
          <c:order val="1"/>
          <c:tx>
            <c:strRef>
              <c:f>Sheet1!$C$1</c:f>
              <c:strCache>
                <c:ptCount val="1"/>
                <c:pt idx="0">
                  <c:v>Total Tariff (HSD at 80% PLF)</c:v>
                </c:pt>
              </c:strCache>
            </c:strRef>
          </c:tx>
          <c:spPr>
            <a:ln w="28575" cap="rnd">
              <a:solidFill>
                <a:schemeClr val="accent2"/>
              </a:solidFill>
              <a:round/>
            </a:ln>
            <a:effectLst/>
          </c:spPr>
          <c:marker>
            <c:symbol val="circle"/>
            <c:size val="5"/>
            <c:spPr>
              <a:solidFill>
                <a:schemeClr val="accent2"/>
              </a:solidFill>
              <a:ln w="9525">
                <a:solidFill>
                  <a:schemeClr val="accent2"/>
                </a:solidFill>
              </a:ln>
              <a:effectLst/>
            </c:spPr>
          </c:marker>
          <c:dLbls>
            <c:dLbl>
              <c:idx val="10"/>
              <c:layout>
                <c:manualLayout>
                  <c:x val="-2.0210790771776097E-2"/>
                  <c:y val="-0.10389262450957994"/>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D99-4AFC-907E-C0AADB5F03D5}"/>
                </c:ext>
              </c:extLst>
            </c:dLbl>
            <c:numFmt formatCode="#,##0.00" sourceLinked="0"/>
            <c:spPr>
              <a:solidFill>
                <a:schemeClr val="accent2"/>
              </a:solidFill>
              <a:ln>
                <a:noFill/>
              </a:ln>
              <a:effectLst/>
            </c:spPr>
            <c:txPr>
              <a:bodyPr rot="0" spcFirstLastPara="1" vertOverflow="ellipsis" vert="horz" wrap="square" anchor="ctr" anchorCtr="1"/>
              <a:lstStyle/>
              <a:p>
                <a:pPr>
                  <a:defRPr sz="900" b="0" i="0" u="none" strike="noStrike" kern="1200" baseline="0">
                    <a:solidFill>
                      <a:schemeClr val="bg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Sheet1!$A$2:$A$23</c:f>
              <c:strCache>
                <c:ptCount val="22"/>
                <c:pt idx="0">
                  <c:v>Y1</c:v>
                </c:pt>
                <c:pt idx="1">
                  <c:v>Y2</c:v>
                </c:pt>
                <c:pt idx="2">
                  <c:v>Y3</c:v>
                </c:pt>
                <c:pt idx="3">
                  <c:v>Y4</c:v>
                </c:pt>
                <c:pt idx="4">
                  <c:v>Y5</c:v>
                </c:pt>
                <c:pt idx="5">
                  <c:v>Y6</c:v>
                </c:pt>
                <c:pt idx="6">
                  <c:v>Y7</c:v>
                </c:pt>
                <c:pt idx="7">
                  <c:v>Y8</c:v>
                </c:pt>
                <c:pt idx="8">
                  <c:v>Y9</c:v>
                </c:pt>
                <c:pt idx="9">
                  <c:v>Y10</c:v>
                </c:pt>
                <c:pt idx="10">
                  <c:v>Y11</c:v>
                </c:pt>
                <c:pt idx="11">
                  <c:v>Y12</c:v>
                </c:pt>
                <c:pt idx="12">
                  <c:v>Y13</c:v>
                </c:pt>
                <c:pt idx="13">
                  <c:v>Y14</c:v>
                </c:pt>
                <c:pt idx="14">
                  <c:v>Y15</c:v>
                </c:pt>
                <c:pt idx="15">
                  <c:v>Y16</c:v>
                </c:pt>
                <c:pt idx="16">
                  <c:v>Y17</c:v>
                </c:pt>
                <c:pt idx="17">
                  <c:v>Y18</c:v>
                </c:pt>
                <c:pt idx="18">
                  <c:v>Y19</c:v>
                </c:pt>
                <c:pt idx="19">
                  <c:v>Y20</c:v>
                </c:pt>
                <c:pt idx="20">
                  <c:v>Y21</c:v>
                </c:pt>
                <c:pt idx="21">
                  <c:v>Y22</c:v>
                </c:pt>
              </c:strCache>
            </c:strRef>
          </c:cat>
          <c:val>
            <c:numRef>
              <c:f>Sheet1!$C$2:$C$23</c:f>
              <c:numCache>
                <c:formatCode>General</c:formatCode>
                <c:ptCount val="22"/>
                <c:pt idx="0">
                  <c:v>17.780012071946125</c:v>
                </c:pt>
                <c:pt idx="1">
                  <c:v>17.79306641521768</c:v>
                </c:pt>
                <c:pt idx="2">
                  <c:v>17.806584567030733</c:v>
                </c:pt>
                <c:pt idx="3">
                  <c:v>17.820587966856678</c:v>
                </c:pt>
                <c:pt idx="4">
                  <c:v>17.835099212754375</c:v>
                </c:pt>
                <c:pt idx="5">
                  <c:v>17.850142128329765</c:v>
                </c:pt>
                <c:pt idx="6">
                  <c:v>17.865741833661996</c:v>
                </c:pt>
                <c:pt idx="7">
                  <c:v>17.881924820432918</c:v>
                </c:pt>
                <c:pt idx="8">
                  <c:v>17.898719031511227</c:v>
                </c:pt>
                <c:pt idx="9">
                  <c:v>17.916153945257392</c:v>
                </c:pt>
                <c:pt idx="10">
                  <c:v>17.497616829215108</c:v>
                </c:pt>
                <c:pt idx="11">
                  <c:v>17.516428177186995</c:v>
                </c:pt>
                <c:pt idx="12">
                  <c:v>17.535978795764944</c:v>
                </c:pt>
                <c:pt idx="13">
                  <c:v>17.556305252979879</c:v>
                </c:pt>
                <c:pt idx="14">
                  <c:v>17.577446155180461</c:v>
                </c:pt>
                <c:pt idx="15">
                  <c:v>17.599442266216876</c:v>
                </c:pt>
                <c:pt idx="16">
                  <c:v>17.622336633713363</c:v>
                </c:pt>
                <c:pt idx="17">
                  <c:v>17.646174722853473</c:v>
                </c:pt>
                <c:pt idx="18">
                  <c:v>17.671004558127716</c:v>
                </c:pt>
                <c:pt idx="19">
                  <c:v>17.696876873519837</c:v>
                </c:pt>
                <c:pt idx="20">
                  <c:v>17.723845271636947</c:v>
                </c:pt>
                <c:pt idx="21">
                  <c:v>17.751966392318572</c:v>
                </c:pt>
              </c:numCache>
            </c:numRef>
          </c:val>
          <c:smooth val="1"/>
          <c:extLst>
            <c:ext xmlns:c16="http://schemas.microsoft.com/office/drawing/2014/chart" uri="{C3380CC4-5D6E-409C-BE32-E72D297353CC}">
              <c16:uniqueId val="{00000001-3D99-4AFC-907E-C0AADB5F03D5}"/>
            </c:ext>
          </c:extLst>
        </c:ser>
        <c:ser>
          <c:idx val="2"/>
          <c:order val="2"/>
          <c:tx>
            <c:strRef>
              <c:f>Sheet1!$D$1</c:f>
              <c:strCache>
                <c:ptCount val="1"/>
                <c:pt idx="0">
                  <c:v>Total Tariff (HSD at 60% PLF)</c:v>
                </c:pt>
              </c:strCache>
            </c:strRef>
          </c:tx>
          <c:spPr>
            <a:ln w="28575" cap="rnd">
              <a:solidFill>
                <a:schemeClr val="accent3"/>
              </a:solidFill>
              <a:round/>
            </a:ln>
            <a:effectLst/>
          </c:spPr>
          <c:marker>
            <c:symbol val="circle"/>
            <c:size val="5"/>
            <c:spPr>
              <a:solidFill>
                <a:schemeClr val="accent3"/>
              </a:solidFill>
              <a:ln w="9525">
                <a:solidFill>
                  <a:schemeClr val="accent3"/>
                </a:solidFill>
              </a:ln>
              <a:effectLst/>
            </c:spPr>
          </c:marker>
          <c:dLbls>
            <c:dLbl>
              <c:idx val="10"/>
              <c:layout>
                <c:manualLayout>
                  <c:x val="-1.1131672743241726E-2"/>
                  <c:y val="-9.345553223417882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D99-4AFC-907E-C0AADB5F03D5}"/>
                </c:ext>
              </c:extLst>
            </c:dLbl>
            <c:numFmt formatCode="#,##0.00" sourceLinked="0"/>
            <c:spPr>
              <a:solidFill>
                <a:schemeClr val="accent3"/>
              </a:solidFill>
              <a:ln>
                <a:noFill/>
              </a:ln>
              <a:effectLst/>
            </c:spPr>
            <c:txPr>
              <a:bodyPr rot="0" spcFirstLastPara="1" vertOverflow="ellipsis" vert="horz" wrap="square" anchor="ctr" anchorCtr="1"/>
              <a:lstStyle/>
              <a:p>
                <a:pPr>
                  <a:defRPr sz="900" b="0" i="0" u="none" strike="noStrike" kern="1200" baseline="0">
                    <a:solidFill>
                      <a:schemeClr val="bg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Sheet1!$A$2:$A$23</c:f>
              <c:strCache>
                <c:ptCount val="22"/>
                <c:pt idx="0">
                  <c:v>Y1</c:v>
                </c:pt>
                <c:pt idx="1">
                  <c:v>Y2</c:v>
                </c:pt>
                <c:pt idx="2">
                  <c:v>Y3</c:v>
                </c:pt>
                <c:pt idx="3">
                  <c:v>Y4</c:v>
                </c:pt>
                <c:pt idx="4">
                  <c:v>Y5</c:v>
                </c:pt>
                <c:pt idx="5">
                  <c:v>Y6</c:v>
                </c:pt>
                <c:pt idx="6">
                  <c:v>Y7</c:v>
                </c:pt>
                <c:pt idx="7">
                  <c:v>Y8</c:v>
                </c:pt>
                <c:pt idx="8">
                  <c:v>Y9</c:v>
                </c:pt>
                <c:pt idx="9">
                  <c:v>Y10</c:v>
                </c:pt>
                <c:pt idx="10">
                  <c:v>Y11</c:v>
                </c:pt>
                <c:pt idx="11">
                  <c:v>Y12</c:v>
                </c:pt>
                <c:pt idx="12">
                  <c:v>Y13</c:v>
                </c:pt>
                <c:pt idx="13">
                  <c:v>Y14</c:v>
                </c:pt>
                <c:pt idx="14">
                  <c:v>Y15</c:v>
                </c:pt>
                <c:pt idx="15">
                  <c:v>Y16</c:v>
                </c:pt>
                <c:pt idx="16">
                  <c:v>Y17</c:v>
                </c:pt>
                <c:pt idx="17">
                  <c:v>Y18</c:v>
                </c:pt>
                <c:pt idx="18">
                  <c:v>Y19</c:v>
                </c:pt>
                <c:pt idx="19">
                  <c:v>Y20</c:v>
                </c:pt>
                <c:pt idx="20">
                  <c:v>Y21</c:v>
                </c:pt>
                <c:pt idx="21">
                  <c:v>Y22</c:v>
                </c:pt>
              </c:strCache>
            </c:strRef>
          </c:cat>
          <c:val>
            <c:numRef>
              <c:f>Sheet1!$D$2:$D$23</c:f>
              <c:numCache>
                <c:formatCode>General</c:formatCode>
                <c:ptCount val="22"/>
                <c:pt idx="0">
                  <c:v>19.910650214015579</c:v>
                </c:pt>
                <c:pt idx="1">
                  <c:v>19.927776005044322</c:v>
                </c:pt>
                <c:pt idx="2">
                  <c:v>19.945511407461726</c:v>
                </c:pt>
                <c:pt idx="3">
                  <c:v>19.963884639229651</c:v>
                </c:pt>
                <c:pt idx="4">
                  <c:v>19.982925444213244</c:v>
                </c:pt>
                <c:pt idx="5">
                  <c:v>20.002665180391642</c:v>
                </c:pt>
                <c:pt idx="6">
                  <c:v>20.023136913294429</c:v>
                </c:pt>
                <c:pt idx="7">
                  <c:v>20.044375514976153</c:v>
                </c:pt>
                <c:pt idx="8">
                  <c:v>20.066417768859655</c:v>
                </c:pt>
                <c:pt idx="9">
                  <c:v>20.089302480799041</c:v>
                </c:pt>
                <c:pt idx="10">
                  <c:v>19.530878815912221</c:v>
                </c:pt>
                <c:pt idx="11">
                  <c:v>19.555573546508352</c:v>
                </c:pt>
                <c:pt idx="12">
                  <c:v>19.581240499199275</c:v>
                </c:pt>
                <c:pt idx="13">
                  <c:v>19.607927818075854</c:v>
                </c:pt>
                <c:pt idx="14">
                  <c:v>19.635686332089726</c:v>
                </c:pt>
                <c:pt idx="15">
                  <c:v>19.664569712069209</c:v>
                </c:pt>
                <c:pt idx="16">
                  <c:v>19.694634637074746</c:v>
                </c:pt>
                <c:pt idx="17">
                  <c:v>19.725940970652438</c:v>
                </c:pt>
                <c:pt idx="18">
                  <c:v>19.758551947578056</c:v>
                </c:pt>
                <c:pt idx="19">
                  <c:v>19.792534371719135</c:v>
                </c:pt>
                <c:pt idx="20">
                  <c:v>19.827958825680607</c:v>
                </c:pt>
                <c:pt idx="21">
                  <c:v>19.864899892939135</c:v>
                </c:pt>
              </c:numCache>
            </c:numRef>
          </c:val>
          <c:smooth val="1"/>
          <c:extLst>
            <c:ext xmlns:c16="http://schemas.microsoft.com/office/drawing/2014/chart" uri="{C3380CC4-5D6E-409C-BE32-E72D297353CC}">
              <c16:uniqueId val="{00000002-3D99-4AFC-907E-C0AADB5F03D5}"/>
            </c:ext>
          </c:extLst>
        </c:ser>
        <c:dLbls>
          <c:dLblPos val="t"/>
          <c:showLegendKey val="0"/>
          <c:showVal val="1"/>
          <c:showCatName val="0"/>
          <c:showSerName val="0"/>
          <c:showPercent val="0"/>
          <c:showBubbleSize val="0"/>
        </c:dLbls>
        <c:marker val="1"/>
        <c:smooth val="0"/>
        <c:axId val="1180375136"/>
        <c:axId val="1180380056"/>
      </c:lineChart>
      <c:catAx>
        <c:axId val="118037513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1180380056"/>
        <c:crosses val="autoZero"/>
        <c:auto val="1"/>
        <c:lblAlgn val="ctr"/>
        <c:lblOffset val="100"/>
        <c:noMultiLvlLbl val="0"/>
      </c:catAx>
      <c:valAx>
        <c:axId val="1180380056"/>
        <c:scaling>
          <c:orientation val="minMax"/>
          <c:max val="24"/>
          <c:min val="14"/>
        </c:scaling>
        <c:delete val="0"/>
        <c:axPos val="l"/>
        <c:numFmt formatCode="_(* #,##0.00_);_(* \(#,##0.00\);_(* &quot;-&quot;??_);_(@_)"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11803751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900">
          <a:solidFill>
            <a:schemeClr val="tx1"/>
          </a:solidFill>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44833171363784E-2"/>
          <c:y val="0.10552763819095477"/>
          <c:w val="0.96631033365727248"/>
          <c:h val="0.85092127303182585"/>
        </c:manualLayout>
      </c:layout>
      <c:barChart>
        <c:barDir val="col"/>
        <c:grouping val="stacked"/>
        <c:varyColors val="0"/>
        <c:ser>
          <c:idx val="0"/>
          <c:order val="0"/>
          <c:spPr>
            <a:solidFill>
              <a:srgbClr val="86BC25"/>
            </a:solidFill>
            <a:ln>
              <a:noFill/>
            </a:ln>
          </c:spPr>
          <c:invertIfNegative val="0"/>
          <c:dLbls>
            <c:dLbl>
              <c:idx val="0"/>
              <c:layout>
                <c:manualLayout>
                  <c:x val="0"/>
                  <c:y val="-0.27638190954773867"/>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28C3-4303-8C14-85FF9DB7BBEF}"/>
                </c:ext>
              </c:extLst>
            </c:dLbl>
            <c:dLbl>
              <c:idx val="1"/>
              <c:layout>
                <c:manualLayout>
                  <c:x val="0"/>
                  <c:y val="-0.27638190954773867"/>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28C3-4303-8C14-85FF9DB7BBEF}"/>
                </c:ext>
              </c:extLst>
            </c:dLbl>
            <c:dLbl>
              <c:idx val="2"/>
              <c:layout>
                <c:manualLayout>
                  <c:x val="0"/>
                  <c:y val="-0.3048576214405360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28C3-4303-8C14-85FF9DB7BBEF}"/>
                </c:ext>
              </c:extLst>
            </c:dLbl>
            <c:dLbl>
              <c:idx val="3"/>
              <c:layout>
                <c:manualLayout>
                  <c:x val="0"/>
                  <c:y val="-0.38860971524288107"/>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28C3-4303-8C14-85FF9DB7BBEF}"/>
                </c:ext>
              </c:extLst>
            </c:dLbl>
            <c:dLbl>
              <c:idx val="4"/>
              <c:layout>
                <c:manualLayout>
                  <c:x val="0"/>
                  <c:y val="-0.4120603015075377"/>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28C3-4303-8C14-85FF9DB7BBEF}"/>
                </c:ext>
              </c:extLst>
            </c:dLbl>
            <c:dLbl>
              <c:idx val="5"/>
              <c:layout>
                <c:manualLayout>
                  <c:x val="0"/>
                  <c:y val="-0.4296482412060301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28C3-4303-8C14-85FF9DB7BBEF}"/>
                </c:ext>
              </c:extLst>
            </c:dLbl>
            <c:dLbl>
              <c:idx val="6"/>
              <c:layout>
                <c:manualLayout>
                  <c:x val="0"/>
                  <c:y val="-0.47068676716917923"/>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28C3-4303-8C14-85FF9DB7BBEF}"/>
                </c:ext>
              </c:extLst>
            </c:dLbl>
            <c:dLbl>
              <c:idx val="7"/>
              <c:layout>
                <c:manualLayout>
                  <c:x val="0"/>
                  <c:y val="-0.4790619765494137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28C3-4303-8C14-85FF9DB7BBE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Sheet1!$A$1:$H$1</c:f>
              <c:numCache>
                <c:formatCode>General</c:formatCode>
                <c:ptCount val="8"/>
                <c:pt idx="0">
                  <c:v>814.87</c:v>
                </c:pt>
                <c:pt idx="1">
                  <c:v>816.37</c:v>
                </c:pt>
                <c:pt idx="2">
                  <c:v>920.37</c:v>
                </c:pt>
                <c:pt idx="3">
                  <c:v>1230.07</c:v>
                </c:pt>
                <c:pt idx="4">
                  <c:v>1314.07</c:v>
                </c:pt>
                <c:pt idx="5">
                  <c:v>1378.37</c:v>
                </c:pt>
                <c:pt idx="6">
                  <c:v>1529.37</c:v>
                </c:pt>
                <c:pt idx="7">
                  <c:v>1559.37</c:v>
                </c:pt>
              </c:numCache>
            </c:numRef>
          </c:val>
          <c:extLst>
            <c:ext xmlns:c16="http://schemas.microsoft.com/office/drawing/2014/chart" uri="{C3380CC4-5D6E-409C-BE32-E72D297353CC}">
              <c16:uniqueId val="{00000008-28C3-4303-8C14-85FF9DB7BBEF}"/>
            </c:ext>
          </c:extLst>
        </c:ser>
        <c:dLbls>
          <c:showLegendKey val="0"/>
          <c:showVal val="0"/>
          <c:showCatName val="0"/>
          <c:showSerName val="0"/>
          <c:showPercent val="0"/>
          <c:showBubbleSize val="0"/>
        </c:dLbls>
        <c:gapWidth val="150"/>
        <c:overlap val="100"/>
        <c:axId val="1157535720"/>
        <c:axId val="1"/>
      </c:barChart>
      <c:catAx>
        <c:axId val="115753572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1559.37"/>
          <c:min val="0"/>
        </c:scaling>
        <c:delete val="1"/>
        <c:axPos val="l"/>
        <c:numFmt formatCode="General" sourceLinked="1"/>
        <c:majorTickMark val="out"/>
        <c:minorTickMark val="none"/>
        <c:tickLblPos val="nextTo"/>
        <c:crossAx val="1157535720"/>
        <c:crosses val="min"/>
        <c:crossBetween val="between"/>
      </c:valAx>
    </c:plotArea>
    <c:plotVisOnly val="0"/>
    <c:dispBlanksAs val="gap"/>
    <c:showDLblsOverMax val="1"/>
  </c:chart>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350684017350685E-2"/>
          <c:y val="0.21686746987951808"/>
          <c:w val="0.96529863196529864"/>
          <c:h val="0.69363166953528399"/>
        </c:manualLayout>
      </c:layout>
      <c:barChart>
        <c:barDir val="col"/>
        <c:grouping val="stacked"/>
        <c:varyColors val="0"/>
        <c:ser>
          <c:idx val="0"/>
          <c:order val="0"/>
          <c:spPr>
            <a:noFill/>
            <a:ln>
              <a:noFill/>
            </a:ln>
          </c:spPr>
          <c:invertIfNegative val="0"/>
          <c:dPt>
            <c:idx val="0"/>
            <c:invertIfNegative val="0"/>
            <c:bubble3D val="0"/>
            <c:spPr>
              <a:solidFill>
                <a:srgbClr val="86BC25"/>
              </a:solidFill>
              <a:ln>
                <a:noFill/>
              </a:ln>
            </c:spPr>
            <c:extLst>
              <c:ext xmlns:c16="http://schemas.microsoft.com/office/drawing/2014/chart" uri="{C3380CC4-5D6E-409C-BE32-E72D297353CC}">
                <c16:uniqueId val="{00000000-EB8B-4033-86AD-16F15DA597FD}"/>
              </c:ext>
            </c:extLst>
          </c:dPt>
          <c:dPt>
            <c:idx val="4"/>
            <c:invertIfNegative val="0"/>
            <c:bubble3D val="0"/>
            <c:spPr>
              <a:solidFill>
                <a:schemeClr val="accent5"/>
              </a:solidFill>
              <a:ln>
                <a:noFill/>
              </a:ln>
            </c:spPr>
            <c:extLst>
              <c:ext xmlns:c16="http://schemas.microsoft.com/office/drawing/2014/chart" uri="{C3380CC4-5D6E-409C-BE32-E72D297353CC}">
                <c16:uniqueId val="{00000001-EB8B-4033-86AD-16F15DA597FD}"/>
              </c:ext>
            </c:extLst>
          </c:dPt>
          <c:dLbls>
            <c:dLbl>
              <c:idx val="0"/>
              <c:layout>
                <c:manualLayout>
                  <c:x val="0"/>
                  <c:y val="-0.2254733218588640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EB8B-4033-86AD-16F15DA597FD}"/>
                </c:ext>
              </c:extLst>
            </c:dLbl>
            <c:dLbl>
              <c:idx val="4"/>
              <c:layout>
                <c:manualLayout>
                  <c:x val="0"/>
                  <c:y val="-0.45783132530120479"/>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EB8B-4033-86AD-16F15DA597F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29.48</c:v>
                </c:pt>
                <c:pt idx="1">
                  <c:v>29.48</c:v>
                </c:pt>
                <c:pt idx="2">
                  <c:v>37.42</c:v>
                </c:pt>
                <c:pt idx="3">
                  <c:v>55.400000000000006</c:v>
                </c:pt>
                <c:pt idx="4">
                  <c:v>88.34</c:v>
                </c:pt>
              </c:numCache>
            </c:numRef>
          </c:val>
          <c:extLst>
            <c:ext xmlns:c16="http://schemas.microsoft.com/office/drawing/2014/chart" uri="{C3380CC4-5D6E-409C-BE32-E72D297353CC}">
              <c16:uniqueId val="{00000002-EB8B-4033-86AD-16F15DA597FD}"/>
            </c:ext>
          </c:extLst>
        </c:ser>
        <c:ser>
          <c:idx val="1"/>
          <c:order val="1"/>
          <c:spPr>
            <a:solidFill>
              <a:schemeClr val="accent2"/>
            </a:solidFill>
            <a:ln>
              <a:noFill/>
            </a:ln>
          </c:spPr>
          <c:invertIfNegative val="0"/>
          <c:dPt>
            <c:idx val="2"/>
            <c:invertIfNegative val="0"/>
            <c:bubble3D val="0"/>
            <c:spPr>
              <a:solidFill>
                <a:schemeClr val="accent3"/>
              </a:solidFill>
              <a:ln>
                <a:noFill/>
              </a:ln>
            </c:spPr>
            <c:extLst>
              <c:ext xmlns:c16="http://schemas.microsoft.com/office/drawing/2014/chart" uri="{C3380CC4-5D6E-409C-BE32-E72D297353CC}">
                <c16:uniqueId val="{00000003-EB8B-4033-86AD-16F15DA597FD}"/>
              </c:ext>
            </c:extLst>
          </c:dPt>
          <c:dPt>
            <c:idx val="3"/>
            <c:invertIfNegative val="0"/>
            <c:bubble3D val="0"/>
            <c:spPr>
              <a:solidFill>
                <a:schemeClr val="accent4"/>
              </a:solidFill>
              <a:ln>
                <a:noFill/>
              </a:ln>
            </c:spPr>
            <c:extLst>
              <c:ext xmlns:c16="http://schemas.microsoft.com/office/drawing/2014/chart" uri="{C3380CC4-5D6E-409C-BE32-E72D297353CC}">
                <c16:uniqueId val="{00000004-EB8B-4033-86AD-16F15DA597FD}"/>
              </c:ext>
            </c:extLst>
          </c:dPt>
          <c:dLbls>
            <c:dLbl>
              <c:idx val="2"/>
              <c:layout>
                <c:manualLayout>
                  <c:x val="0"/>
                  <c:y val="0"/>
                </c:manualLayout>
              </c:layout>
              <c:numFmt formatCode="#,##0;#,##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EB8B-4033-86AD-16F15DA597FD}"/>
                </c:ext>
              </c:extLst>
            </c:dLbl>
            <c:dLbl>
              <c:idx val="3"/>
              <c:layout>
                <c:manualLayout>
                  <c:x val="0"/>
                  <c:y val="0"/>
                </c:manualLayout>
              </c:layout>
              <c:numFmt formatCode="#,##0;#,##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EB8B-4033-86AD-16F15DA597F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Sheet1!$A$2:$E$2</c:f>
              <c:numCache>
                <c:formatCode>General</c:formatCode>
                <c:ptCount val="5"/>
                <c:pt idx="1">
                  <c:v>7.9400000000000013</c:v>
                </c:pt>
                <c:pt idx="2">
                  <c:v>17.980000000000004</c:v>
                </c:pt>
                <c:pt idx="3">
                  <c:v>32.94</c:v>
                </c:pt>
              </c:numCache>
            </c:numRef>
          </c:val>
          <c:extLst>
            <c:ext xmlns:c16="http://schemas.microsoft.com/office/drawing/2014/chart" uri="{C3380CC4-5D6E-409C-BE32-E72D297353CC}">
              <c16:uniqueId val="{00000005-EB8B-4033-86AD-16F15DA597FD}"/>
            </c:ext>
          </c:extLst>
        </c:ser>
        <c:dLbls>
          <c:showLegendKey val="0"/>
          <c:showVal val="0"/>
          <c:showCatName val="0"/>
          <c:showSerName val="0"/>
          <c:showPercent val="0"/>
          <c:showBubbleSize val="0"/>
        </c:dLbls>
        <c:gapWidth val="80"/>
        <c:overlap val="100"/>
        <c:axId val="795704736"/>
        <c:axId val="1"/>
      </c:barChart>
      <c:catAx>
        <c:axId val="795704736"/>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88.34"/>
          <c:min val="0"/>
        </c:scaling>
        <c:delete val="1"/>
        <c:axPos val="l"/>
        <c:numFmt formatCode="General" sourceLinked="1"/>
        <c:majorTickMark val="out"/>
        <c:minorTickMark val="none"/>
        <c:tickLblPos val="nextTo"/>
        <c:crossAx val="795704736"/>
        <c:crosses val="min"/>
        <c:crossBetween val="between"/>
      </c:valAx>
    </c:plotArea>
    <c:plotVisOnly val="0"/>
    <c:dispBlanksAs val="gap"/>
    <c:showDLblsOverMax val="1"/>
  </c:chart>
  <c:externalData r:id="rId1">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350684017350685E-2"/>
          <c:y val="0.2135593220338983"/>
          <c:w val="0.96529863196529864"/>
          <c:h val="0.69830508474576269"/>
        </c:manualLayout>
      </c:layout>
      <c:barChart>
        <c:barDir val="col"/>
        <c:grouping val="clustered"/>
        <c:varyColors val="0"/>
        <c:ser>
          <c:idx val="0"/>
          <c:order val="0"/>
          <c:spPr>
            <a:solidFill>
              <a:srgbClr val="86BC25"/>
            </a:solidFill>
            <a:ln>
              <a:noFill/>
            </a:ln>
          </c:spPr>
          <c:invertIfNegative val="0"/>
          <c:dLbls>
            <c:dLbl>
              <c:idx val="0"/>
              <c:layout>
                <c:manualLayout>
                  <c:x val="0"/>
                  <c:y val="-0.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C93C-458A-B517-464B412AF4B2}"/>
                </c:ext>
              </c:extLst>
            </c:dLbl>
            <c:dLbl>
              <c:idx val="1"/>
              <c:layout>
                <c:manualLayout>
                  <c:x val="0"/>
                  <c:y val="-0.38474576271186439"/>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C93C-458A-B517-464B412AF4B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351</c:v>
                </c:pt>
                <c:pt idx="1">
                  <c:v>332</c:v>
                </c:pt>
              </c:numCache>
            </c:numRef>
          </c:val>
          <c:extLst>
            <c:ext xmlns:c16="http://schemas.microsoft.com/office/drawing/2014/chart" uri="{C3380CC4-5D6E-409C-BE32-E72D297353CC}">
              <c16:uniqueId val="{00000002-C93C-458A-B517-464B412AF4B2}"/>
            </c:ext>
          </c:extLst>
        </c:ser>
        <c:ser>
          <c:idx val="1"/>
          <c:order val="1"/>
          <c:spPr>
            <a:solidFill>
              <a:srgbClr val="046A38"/>
            </a:solidFill>
            <a:ln>
              <a:noFill/>
            </a:ln>
          </c:spPr>
          <c:invertIfNegative val="0"/>
          <c:dLbls>
            <c:dLbl>
              <c:idx val="1"/>
              <c:layout>
                <c:manualLayout>
                  <c:x val="0"/>
                  <c:y val="-0.4576271186440678"/>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C93C-458A-B517-464B412AF4B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Sheet1!$A$2:$B$2</c:f>
              <c:numCache>
                <c:formatCode>General</c:formatCode>
                <c:ptCount val="2"/>
                <c:pt idx="1">
                  <c:v>420</c:v>
                </c:pt>
              </c:numCache>
            </c:numRef>
          </c:val>
          <c:extLst>
            <c:ext xmlns:c16="http://schemas.microsoft.com/office/drawing/2014/chart" uri="{C3380CC4-5D6E-409C-BE32-E72D297353CC}">
              <c16:uniqueId val="{00000004-C93C-458A-B517-464B412AF4B2}"/>
            </c:ext>
          </c:extLst>
        </c:ser>
        <c:dLbls>
          <c:showLegendKey val="0"/>
          <c:showVal val="0"/>
          <c:showCatName val="0"/>
          <c:showSerName val="0"/>
          <c:showPercent val="0"/>
          <c:showBubbleSize val="0"/>
        </c:dLbls>
        <c:gapWidth val="150"/>
        <c:axId val="66334687"/>
        <c:axId val="1"/>
      </c:barChart>
      <c:catAx>
        <c:axId val="66334687"/>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420"/>
          <c:min val="0"/>
        </c:scaling>
        <c:delete val="1"/>
        <c:axPos val="l"/>
        <c:numFmt formatCode="General" sourceLinked="1"/>
        <c:majorTickMark val="out"/>
        <c:minorTickMark val="none"/>
        <c:tickLblPos val="nextTo"/>
        <c:crossAx val="66334687"/>
        <c:crosses val="min"/>
        <c:crossBetween val="between"/>
      </c:valAx>
    </c:plotArea>
    <c:plotVisOnly val="0"/>
    <c:dispBlanksAs val="gap"/>
    <c:showDLblsOverMax val="1"/>
  </c:chart>
  <c:externalData r:id="rId1">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350684017350685E-2"/>
          <c:y val="0.25301204819277107"/>
          <c:w val="0.96529863196529864"/>
          <c:h val="0.64257028112449799"/>
        </c:manualLayout>
      </c:layout>
      <c:barChart>
        <c:barDir val="col"/>
        <c:grouping val="clustered"/>
        <c:varyColors val="0"/>
        <c:ser>
          <c:idx val="0"/>
          <c:order val="0"/>
          <c:spPr>
            <a:solidFill>
              <a:srgbClr val="86BC25"/>
            </a:solidFill>
            <a:ln>
              <a:noFill/>
            </a:ln>
          </c:spPr>
          <c:invertIfNegative val="0"/>
          <c:dLbls>
            <c:dLbl>
              <c:idx val="0"/>
              <c:layout>
                <c:manualLayout>
                  <c:x val="0"/>
                  <c:y val="-0.39558232931726905"/>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5374-468A-9148-85A4F9BBEF54}"/>
                </c:ext>
              </c:extLst>
            </c:dLbl>
            <c:dLbl>
              <c:idx val="1"/>
              <c:layout>
                <c:manualLayout>
                  <c:x val="0"/>
                  <c:y val="-0.38353413654618473"/>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5374-468A-9148-85A4F9BBEF5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351</c:v>
                </c:pt>
                <c:pt idx="1">
                  <c:v>332</c:v>
                </c:pt>
              </c:numCache>
            </c:numRef>
          </c:val>
          <c:extLst>
            <c:ext xmlns:c16="http://schemas.microsoft.com/office/drawing/2014/chart" uri="{C3380CC4-5D6E-409C-BE32-E72D297353CC}">
              <c16:uniqueId val="{00000002-5374-468A-9148-85A4F9BBEF54}"/>
            </c:ext>
          </c:extLst>
        </c:ser>
        <c:ser>
          <c:idx val="1"/>
          <c:order val="1"/>
          <c:spPr>
            <a:solidFill>
              <a:srgbClr val="046A38"/>
            </a:solidFill>
            <a:ln>
              <a:noFill/>
            </a:ln>
          </c:spPr>
          <c:invertIfNegative val="0"/>
          <c:dLbls>
            <c:dLbl>
              <c:idx val="1"/>
              <c:layout>
                <c:manualLayout>
                  <c:x val="0"/>
                  <c:y val="-0.44979919678714858"/>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5374-468A-9148-85A4F9BBEF5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Sheet1!$A$2:$B$2</c:f>
              <c:numCache>
                <c:formatCode>General</c:formatCode>
                <c:ptCount val="2"/>
                <c:pt idx="1">
                  <c:v>420</c:v>
                </c:pt>
              </c:numCache>
            </c:numRef>
          </c:val>
          <c:extLst>
            <c:ext xmlns:c16="http://schemas.microsoft.com/office/drawing/2014/chart" uri="{C3380CC4-5D6E-409C-BE32-E72D297353CC}">
              <c16:uniqueId val="{00000004-5374-468A-9148-85A4F9BBEF54}"/>
            </c:ext>
          </c:extLst>
        </c:ser>
        <c:dLbls>
          <c:showLegendKey val="0"/>
          <c:showVal val="0"/>
          <c:showCatName val="0"/>
          <c:showSerName val="0"/>
          <c:showPercent val="0"/>
          <c:showBubbleSize val="0"/>
        </c:dLbls>
        <c:gapWidth val="150"/>
        <c:axId val="118303863"/>
        <c:axId val="1"/>
      </c:barChart>
      <c:catAx>
        <c:axId val="118303863"/>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420"/>
          <c:min val="0"/>
        </c:scaling>
        <c:delete val="1"/>
        <c:axPos val="l"/>
        <c:numFmt formatCode="General" sourceLinked="1"/>
        <c:majorTickMark val="out"/>
        <c:minorTickMark val="none"/>
        <c:tickLblPos val="nextTo"/>
        <c:crossAx val="118303863"/>
        <c:crosses val="min"/>
        <c:crossBetween val="between"/>
      </c:valAx>
    </c:plotArea>
    <c:plotVisOnly val="0"/>
    <c:dispBlanksAs val="gap"/>
    <c:showDLblsOverMax val="1"/>
  </c:chart>
  <c:externalData r:id="rId1">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280906033088723"/>
          <c:y val="5.8703701074637057E-2"/>
          <c:w val="0.8677756737528034"/>
          <c:h val="0.6130582180922417"/>
        </c:manualLayout>
      </c:layout>
      <c:lineChart>
        <c:grouping val="standard"/>
        <c:varyColors val="0"/>
        <c:ser>
          <c:idx val="0"/>
          <c:order val="0"/>
          <c:tx>
            <c:strRef>
              <c:f>Sheet1!$B$1</c:f>
              <c:strCache>
                <c:ptCount val="1"/>
                <c:pt idx="0">
                  <c:v>Demand (mmcfd)</c:v>
                </c:pt>
              </c:strCache>
            </c:strRef>
          </c:tx>
          <c:spPr>
            <a:ln w="28575" cap="rnd">
              <a:solidFill>
                <a:schemeClr val="accent1"/>
              </a:solidFill>
              <a:round/>
            </a:ln>
            <a:effectLst/>
          </c:spPr>
          <c:marker>
            <c:symbol val="none"/>
          </c:marker>
          <c:cat>
            <c:numRef>
              <c:f>Sheet1!$A$2:$A$348</c:f>
              <c:numCache>
                <c:formatCode>m/d/yyyy</c:formatCode>
                <c:ptCount val="347"/>
                <c:pt idx="0">
                  <c:v>43564</c:v>
                </c:pt>
                <c:pt idx="1">
                  <c:v>43565</c:v>
                </c:pt>
                <c:pt idx="2">
                  <c:v>43566</c:v>
                </c:pt>
                <c:pt idx="3">
                  <c:v>43567</c:v>
                </c:pt>
                <c:pt idx="4">
                  <c:v>43568</c:v>
                </c:pt>
                <c:pt idx="5">
                  <c:v>43569</c:v>
                </c:pt>
                <c:pt idx="6">
                  <c:v>43570</c:v>
                </c:pt>
                <c:pt idx="7">
                  <c:v>43571</c:v>
                </c:pt>
                <c:pt idx="8">
                  <c:v>43572</c:v>
                </c:pt>
                <c:pt idx="9">
                  <c:v>43573</c:v>
                </c:pt>
                <c:pt idx="10">
                  <c:v>43574</c:v>
                </c:pt>
                <c:pt idx="11">
                  <c:v>43575</c:v>
                </c:pt>
                <c:pt idx="12">
                  <c:v>43576</c:v>
                </c:pt>
                <c:pt idx="13">
                  <c:v>43577</c:v>
                </c:pt>
                <c:pt idx="14">
                  <c:v>43578</c:v>
                </c:pt>
                <c:pt idx="15">
                  <c:v>43579</c:v>
                </c:pt>
                <c:pt idx="16">
                  <c:v>43580</c:v>
                </c:pt>
                <c:pt idx="17">
                  <c:v>43581</c:v>
                </c:pt>
                <c:pt idx="18">
                  <c:v>43582</c:v>
                </c:pt>
                <c:pt idx="19">
                  <c:v>43583</c:v>
                </c:pt>
                <c:pt idx="20">
                  <c:v>43584</c:v>
                </c:pt>
                <c:pt idx="21">
                  <c:v>43585</c:v>
                </c:pt>
                <c:pt idx="22">
                  <c:v>43586</c:v>
                </c:pt>
                <c:pt idx="23">
                  <c:v>43587</c:v>
                </c:pt>
                <c:pt idx="24">
                  <c:v>43588</c:v>
                </c:pt>
                <c:pt idx="25">
                  <c:v>43589</c:v>
                </c:pt>
                <c:pt idx="26">
                  <c:v>43590</c:v>
                </c:pt>
                <c:pt idx="27">
                  <c:v>43591</c:v>
                </c:pt>
                <c:pt idx="28">
                  <c:v>43592</c:v>
                </c:pt>
                <c:pt idx="29">
                  <c:v>43593</c:v>
                </c:pt>
                <c:pt idx="30">
                  <c:v>43594</c:v>
                </c:pt>
                <c:pt idx="31">
                  <c:v>43595</c:v>
                </c:pt>
                <c:pt idx="32">
                  <c:v>43596</c:v>
                </c:pt>
                <c:pt idx="33">
                  <c:v>43597</c:v>
                </c:pt>
                <c:pt idx="34">
                  <c:v>43598</c:v>
                </c:pt>
                <c:pt idx="35">
                  <c:v>43599</c:v>
                </c:pt>
                <c:pt idx="36">
                  <c:v>43600</c:v>
                </c:pt>
                <c:pt idx="37">
                  <c:v>43601</c:v>
                </c:pt>
                <c:pt idx="38">
                  <c:v>43602</c:v>
                </c:pt>
                <c:pt idx="39">
                  <c:v>43603</c:v>
                </c:pt>
                <c:pt idx="40">
                  <c:v>43604</c:v>
                </c:pt>
                <c:pt idx="41">
                  <c:v>43605</c:v>
                </c:pt>
                <c:pt idx="42">
                  <c:v>43606</c:v>
                </c:pt>
                <c:pt idx="43">
                  <c:v>43607</c:v>
                </c:pt>
                <c:pt idx="44">
                  <c:v>43608</c:v>
                </c:pt>
                <c:pt idx="45">
                  <c:v>43609</c:v>
                </c:pt>
                <c:pt idx="46">
                  <c:v>43610</c:v>
                </c:pt>
                <c:pt idx="47">
                  <c:v>43611</c:v>
                </c:pt>
                <c:pt idx="48">
                  <c:v>43612</c:v>
                </c:pt>
                <c:pt idx="49">
                  <c:v>43613</c:v>
                </c:pt>
                <c:pt idx="50">
                  <c:v>43614</c:v>
                </c:pt>
                <c:pt idx="51">
                  <c:v>43615</c:v>
                </c:pt>
                <c:pt idx="52">
                  <c:v>43626</c:v>
                </c:pt>
                <c:pt idx="53">
                  <c:v>43627</c:v>
                </c:pt>
                <c:pt idx="54">
                  <c:v>43628</c:v>
                </c:pt>
                <c:pt idx="55">
                  <c:v>43629</c:v>
                </c:pt>
                <c:pt idx="56">
                  <c:v>43630</c:v>
                </c:pt>
                <c:pt idx="57">
                  <c:v>43631</c:v>
                </c:pt>
                <c:pt idx="58">
                  <c:v>43632</c:v>
                </c:pt>
                <c:pt idx="59">
                  <c:v>43633</c:v>
                </c:pt>
                <c:pt idx="60">
                  <c:v>43634</c:v>
                </c:pt>
                <c:pt idx="61">
                  <c:v>43635</c:v>
                </c:pt>
                <c:pt idx="62">
                  <c:v>43636</c:v>
                </c:pt>
                <c:pt idx="63">
                  <c:v>43637</c:v>
                </c:pt>
                <c:pt idx="64">
                  <c:v>43638</c:v>
                </c:pt>
                <c:pt idx="65">
                  <c:v>43639</c:v>
                </c:pt>
                <c:pt idx="66">
                  <c:v>43640</c:v>
                </c:pt>
                <c:pt idx="67">
                  <c:v>43641</c:v>
                </c:pt>
                <c:pt idx="68">
                  <c:v>43642</c:v>
                </c:pt>
                <c:pt idx="69">
                  <c:v>43643</c:v>
                </c:pt>
                <c:pt idx="70">
                  <c:v>43644</c:v>
                </c:pt>
                <c:pt idx="71">
                  <c:v>43645</c:v>
                </c:pt>
                <c:pt idx="72">
                  <c:v>43646</c:v>
                </c:pt>
                <c:pt idx="73">
                  <c:v>43647</c:v>
                </c:pt>
                <c:pt idx="74">
                  <c:v>43648</c:v>
                </c:pt>
                <c:pt idx="75">
                  <c:v>43649</c:v>
                </c:pt>
                <c:pt idx="76">
                  <c:v>43650</c:v>
                </c:pt>
                <c:pt idx="77">
                  <c:v>43651</c:v>
                </c:pt>
                <c:pt idx="78">
                  <c:v>43652</c:v>
                </c:pt>
                <c:pt idx="79">
                  <c:v>43653</c:v>
                </c:pt>
                <c:pt idx="80">
                  <c:v>43654</c:v>
                </c:pt>
                <c:pt idx="81">
                  <c:v>43655</c:v>
                </c:pt>
                <c:pt idx="82">
                  <c:v>43656</c:v>
                </c:pt>
                <c:pt idx="83">
                  <c:v>43657</c:v>
                </c:pt>
                <c:pt idx="84">
                  <c:v>43658</c:v>
                </c:pt>
                <c:pt idx="85">
                  <c:v>43659</c:v>
                </c:pt>
                <c:pt idx="86">
                  <c:v>43660</c:v>
                </c:pt>
                <c:pt idx="87">
                  <c:v>43661</c:v>
                </c:pt>
                <c:pt idx="88">
                  <c:v>43662</c:v>
                </c:pt>
                <c:pt idx="89">
                  <c:v>43663</c:v>
                </c:pt>
                <c:pt idx="90">
                  <c:v>43664</c:v>
                </c:pt>
                <c:pt idx="91">
                  <c:v>43666</c:v>
                </c:pt>
                <c:pt idx="92">
                  <c:v>43667</c:v>
                </c:pt>
                <c:pt idx="93">
                  <c:v>43668</c:v>
                </c:pt>
                <c:pt idx="94">
                  <c:v>43669</c:v>
                </c:pt>
                <c:pt idx="95">
                  <c:v>43670</c:v>
                </c:pt>
                <c:pt idx="96">
                  <c:v>43671</c:v>
                </c:pt>
                <c:pt idx="97">
                  <c:v>43672</c:v>
                </c:pt>
                <c:pt idx="98">
                  <c:v>43673</c:v>
                </c:pt>
                <c:pt idx="99">
                  <c:v>43674</c:v>
                </c:pt>
                <c:pt idx="100">
                  <c:v>43675</c:v>
                </c:pt>
                <c:pt idx="101">
                  <c:v>43676</c:v>
                </c:pt>
                <c:pt idx="102">
                  <c:v>43677</c:v>
                </c:pt>
                <c:pt idx="103">
                  <c:v>43678</c:v>
                </c:pt>
                <c:pt idx="104">
                  <c:v>43679</c:v>
                </c:pt>
                <c:pt idx="105">
                  <c:v>43681</c:v>
                </c:pt>
                <c:pt idx="106">
                  <c:v>43682</c:v>
                </c:pt>
                <c:pt idx="107">
                  <c:v>43683</c:v>
                </c:pt>
                <c:pt idx="108">
                  <c:v>43684</c:v>
                </c:pt>
                <c:pt idx="109">
                  <c:v>43685</c:v>
                </c:pt>
                <c:pt idx="110">
                  <c:v>43692</c:v>
                </c:pt>
                <c:pt idx="111">
                  <c:v>43693</c:v>
                </c:pt>
                <c:pt idx="112">
                  <c:v>43694</c:v>
                </c:pt>
                <c:pt idx="113">
                  <c:v>43695</c:v>
                </c:pt>
                <c:pt idx="114">
                  <c:v>43696</c:v>
                </c:pt>
                <c:pt idx="115">
                  <c:v>43697</c:v>
                </c:pt>
                <c:pt idx="116">
                  <c:v>43698</c:v>
                </c:pt>
                <c:pt idx="117">
                  <c:v>43699</c:v>
                </c:pt>
                <c:pt idx="118">
                  <c:v>43700</c:v>
                </c:pt>
                <c:pt idx="119">
                  <c:v>43701</c:v>
                </c:pt>
                <c:pt idx="120">
                  <c:v>43702</c:v>
                </c:pt>
                <c:pt idx="121">
                  <c:v>43703</c:v>
                </c:pt>
                <c:pt idx="122">
                  <c:v>43704</c:v>
                </c:pt>
                <c:pt idx="123">
                  <c:v>43705</c:v>
                </c:pt>
                <c:pt idx="124">
                  <c:v>43706</c:v>
                </c:pt>
                <c:pt idx="125">
                  <c:v>43707</c:v>
                </c:pt>
                <c:pt idx="126">
                  <c:v>43708</c:v>
                </c:pt>
                <c:pt idx="127">
                  <c:v>43709</c:v>
                </c:pt>
                <c:pt idx="128">
                  <c:v>43710</c:v>
                </c:pt>
                <c:pt idx="129">
                  <c:v>43711</c:v>
                </c:pt>
                <c:pt idx="130">
                  <c:v>43712</c:v>
                </c:pt>
                <c:pt idx="131">
                  <c:v>43713</c:v>
                </c:pt>
                <c:pt idx="132">
                  <c:v>43714</c:v>
                </c:pt>
                <c:pt idx="133">
                  <c:v>43715</c:v>
                </c:pt>
                <c:pt idx="134">
                  <c:v>43716</c:v>
                </c:pt>
                <c:pt idx="135">
                  <c:v>43717</c:v>
                </c:pt>
                <c:pt idx="136">
                  <c:v>43718</c:v>
                </c:pt>
                <c:pt idx="137">
                  <c:v>43719</c:v>
                </c:pt>
                <c:pt idx="138">
                  <c:v>43720</c:v>
                </c:pt>
                <c:pt idx="139">
                  <c:v>43721</c:v>
                </c:pt>
                <c:pt idx="140">
                  <c:v>43722</c:v>
                </c:pt>
                <c:pt idx="141">
                  <c:v>43723</c:v>
                </c:pt>
                <c:pt idx="142">
                  <c:v>43724</c:v>
                </c:pt>
                <c:pt idx="143">
                  <c:v>43725</c:v>
                </c:pt>
                <c:pt idx="144">
                  <c:v>43726</c:v>
                </c:pt>
                <c:pt idx="145">
                  <c:v>43727</c:v>
                </c:pt>
                <c:pt idx="146">
                  <c:v>43728</c:v>
                </c:pt>
                <c:pt idx="147">
                  <c:v>43729</c:v>
                </c:pt>
                <c:pt idx="148">
                  <c:v>43730</c:v>
                </c:pt>
                <c:pt idx="149">
                  <c:v>43731</c:v>
                </c:pt>
                <c:pt idx="150">
                  <c:v>43732</c:v>
                </c:pt>
                <c:pt idx="151">
                  <c:v>43733</c:v>
                </c:pt>
                <c:pt idx="152">
                  <c:v>43734</c:v>
                </c:pt>
                <c:pt idx="153">
                  <c:v>43735</c:v>
                </c:pt>
                <c:pt idx="154">
                  <c:v>43736</c:v>
                </c:pt>
                <c:pt idx="155">
                  <c:v>43737</c:v>
                </c:pt>
                <c:pt idx="156">
                  <c:v>43738</c:v>
                </c:pt>
                <c:pt idx="157">
                  <c:v>43739</c:v>
                </c:pt>
                <c:pt idx="158">
                  <c:v>43740</c:v>
                </c:pt>
                <c:pt idx="159">
                  <c:v>43741</c:v>
                </c:pt>
                <c:pt idx="160">
                  <c:v>43746</c:v>
                </c:pt>
                <c:pt idx="161">
                  <c:v>43747</c:v>
                </c:pt>
                <c:pt idx="162">
                  <c:v>43748</c:v>
                </c:pt>
                <c:pt idx="163">
                  <c:v>43749</c:v>
                </c:pt>
                <c:pt idx="164">
                  <c:v>43750</c:v>
                </c:pt>
                <c:pt idx="165">
                  <c:v>43751</c:v>
                </c:pt>
                <c:pt idx="166">
                  <c:v>43752</c:v>
                </c:pt>
                <c:pt idx="167">
                  <c:v>43753</c:v>
                </c:pt>
                <c:pt idx="168">
                  <c:v>43754</c:v>
                </c:pt>
                <c:pt idx="169">
                  <c:v>43755</c:v>
                </c:pt>
                <c:pt idx="170">
                  <c:v>43759</c:v>
                </c:pt>
                <c:pt idx="171">
                  <c:v>43760</c:v>
                </c:pt>
                <c:pt idx="172">
                  <c:v>43761</c:v>
                </c:pt>
                <c:pt idx="173">
                  <c:v>43765</c:v>
                </c:pt>
                <c:pt idx="174">
                  <c:v>43768</c:v>
                </c:pt>
                <c:pt idx="175">
                  <c:v>43772</c:v>
                </c:pt>
                <c:pt idx="176">
                  <c:v>43773</c:v>
                </c:pt>
                <c:pt idx="177">
                  <c:v>43775</c:v>
                </c:pt>
                <c:pt idx="178">
                  <c:v>43776</c:v>
                </c:pt>
                <c:pt idx="179">
                  <c:v>43782</c:v>
                </c:pt>
                <c:pt idx="180">
                  <c:v>43783</c:v>
                </c:pt>
                <c:pt idx="181">
                  <c:v>43789</c:v>
                </c:pt>
                <c:pt idx="182">
                  <c:v>43790</c:v>
                </c:pt>
                <c:pt idx="183">
                  <c:v>43791</c:v>
                </c:pt>
                <c:pt idx="184">
                  <c:v>43792</c:v>
                </c:pt>
                <c:pt idx="185">
                  <c:v>43793</c:v>
                </c:pt>
                <c:pt idx="186">
                  <c:v>43794</c:v>
                </c:pt>
                <c:pt idx="187">
                  <c:v>43796</c:v>
                </c:pt>
                <c:pt idx="188">
                  <c:v>43797</c:v>
                </c:pt>
                <c:pt idx="189">
                  <c:v>43801</c:v>
                </c:pt>
                <c:pt idx="190">
                  <c:v>43802</c:v>
                </c:pt>
                <c:pt idx="191">
                  <c:v>43804</c:v>
                </c:pt>
                <c:pt idx="192">
                  <c:v>43815</c:v>
                </c:pt>
                <c:pt idx="193">
                  <c:v>43816</c:v>
                </c:pt>
                <c:pt idx="194">
                  <c:v>43817</c:v>
                </c:pt>
                <c:pt idx="195">
                  <c:v>43822</c:v>
                </c:pt>
                <c:pt idx="196">
                  <c:v>43823</c:v>
                </c:pt>
                <c:pt idx="197">
                  <c:v>43824</c:v>
                </c:pt>
                <c:pt idx="198">
                  <c:v>43825</c:v>
                </c:pt>
                <c:pt idx="199">
                  <c:v>43826</c:v>
                </c:pt>
                <c:pt idx="200">
                  <c:v>43827</c:v>
                </c:pt>
                <c:pt idx="201">
                  <c:v>43828</c:v>
                </c:pt>
                <c:pt idx="202">
                  <c:v>43829</c:v>
                </c:pt>
                <c:pt idx="203">
                  <c:v>43830</c:v>
                </c:pt>
                <c:pt idx="204">
                  <c:v>43831</c:v>
                </c:pt>
                <c:pt idx="205">
                  <c:v>43833</c:v>
                </c:pt>
                <c:pt idx="206">
                  <c:v>43834</c:v>
                </c:pt>
                <c:pt idx="207">
                  <c:v>43835</c:v>
                </c:pt>
                <c:pt idx="208">
                  <c:v>43836</c:v>
                </c:pt>
                <c:pt idx="209">
                  <c:v>43837</c:v>
                </c:pt>
                <c:pt idx="210">
                  <c:v>43838</c:v>
                </c:pt>
                <c:pt idx="211">
                  <c:v>43839</c:v>
                </c:pt>
                <c:pt idx="212">
                  <c:v>43840</c:v>
                </c:pt>
                <c:pt idx="213">
                  <c:v>43841</c:v>
                </c:pt>
                <c:pt idx="214">
                  <c:v>43842</c:v>
                </c:pt>
                <c:pt idx="215">
                  <c:v>43843</c:v>
                </c:pt>
                <c:pt idx="216">
                  <c:v>43845</c:v>
                </c:pt>
                <c:pt idx="217">
                  <c:v>43846</c:v>
                </c:pt>
                <c:pt idx="218">
                  <c:v>43847</c:v>
                </c:pt>
                <c:pt idx="219">
                  <c:v>43848</c:v>
                </c:pt>
                <c:pt idx="220">
                  <c:v>43849</c:v>
                </c:pt>
                <c:pt idx="221">
                  <c:v>43850</c:v>
                </c:pt>
                <c:pt idx="222">
                  <c:v>43851</c:v>
                </c:pt>
                <c:pt idx="223">
                  <c:v>43852</c:v>
                </c:pt>
                <c:pt idx="224">
                  <c:v>43853</c:v>
                </c:pt>
                <c:pt idx="225">
                  <c:v>43855</c:v>
                </c:pt>
                <c:pt idx="226">
                  <c:v>43856</c:v>
                </c:pt>
                <c:pt idx="227">
                  <c:v>43865</c:v>
                </c:pt>
                <c:pt idx="228">
                  <c:v>43866</c:v>
                </c:pt>
                <c:pt idx="229">
                  <c:v>43867</c:v>
                </c:pt>
                <c:pt idx="230">
                  <c:v>43873</c:v>
                </c:pt>
                <c:pt idx="231">
                  <c:v>43874</c:v>
                </c:pt>
                <c:pt idx="232">
                  <c:v>43875</c:v>
                </c:pt>
                <c:pt idx="233">
                  <c:v>43876</c:v>
                </c:pt>
                <c:pt idx="234">
                  <c:v>43877</c:v>
                </c:pt>
                <c:pt idx="235">
                  <c:v>43878</c:v>
                </c:pt>
                <c:pt idx="236">
                  <c:v>43879</c:v>
                </c:pt>
                <c:pt idx="237">
                  <c:v>43880</c:v>
                </c:pt>
                <c:pt idx="238">
                  <c:v>43882</c:v>
                </c:pt>
                <c:pt idx="239">
                  <c:v>43883</c:v>
                </c:pt>
                <c:pt idx="240">
                  <c:v>43884</c:v>
                </c:pt>
                <c:pt idx="241">
                  <c:v>43885</c:v>
                </c:pt>
                <c:pt idx="242">
                  <c:v>43886</c:v>
                </c:pt>
                <c:pt idx="243">
                  <c:v>43887</c:v>
                </c:pt>
                <c:pt idx="244">
                  <c:v>43888</c:v>
                </c:pt>
                <c:pt idx="245">
                  <c:v>43889</c:v>
                </c:pt>
                <c:pt idx="246">
                  <c:v>43890</c:v>
                </c:pt>
                <c:pt idx="247">
                  <c:v>43891</c:v>
                </c:pt>
                <c:pt idx="248">
                  <c:v>43892</c:v>
                </c:pt>
                <c:pt idx="249">
                  <c:v>43893</c:v>
                </c:pt>
                <c:pt idx="250">
                  <c:v>43894</c:v>
                </c:pt>
                <c:pt idx="251">
                  <c:v>43895</c:v>
                </c:pt>
                <c:pt idx="252">
                  <c:v>43896</c:v>
                </c:pt>
                <c:pt idx="253">
                  <c:v>43897</c:v>
                </c:pt>
                <c:pt idx="254">
                  <c:v>43898</c:v>
                </c:pt>
                <c:pt idx="255">
                  <c:v>43899</c:v>
                </c:pt>
                <c:pt idx="256">
                  <c:v>43902</c:v>
                </c:pt>
                <c:pt idx="257">
                  <c:v>43903</c:v>
                </c:pt>
                <c:pt idx="258">
                  <c:v>43904</c:v>
                </c:pt>
                <c:pt idx="259">
                  <c:v>43905</c:v>
                </c:pt>
                <c:pt idx="260">
                  <c:v>43906</c:v>
                </c:pt>
                <c:pt idx="261">
                  <c:v>43909</c:v>
                </c:pt>
                <c:pt idx="262">
                  <c:v>43911</c:v>
                </c:pt>
                <c:pt idx="263">
                  <c:v>43912</c:v>
                </c:pt>
                <c:pt idx="264">
                  <c:v>43913</c:v>
                </c:pt>
                <c:pt idx="265">
                  <c:v>43914</c:v>
                </c:pt>
                <c:pt idx="266">
                  <c:v>43915</c:v>
                </c:pt>
                <c:pt idx="267">
                  <c:v>43916</c:v>
                </c:pt>
                <c:pt idx="268">
                  <c:v>43917</c:v>
                </c:pt>
                <c:pt idx="269">
                  <c:v>43918</c:v>
                </c:pt>
                <c:pt idx="270">
                  <c:v>43919</c:v>
                </c:pt>
                <c:pt idx="271">
                  <c:v>43920</c:v>
                </c:pt>
                <c:pt idx="272">
                  <c:v>43921</c:v>
                </c:pt>
                <c:pt idx="273">
                  <c:v>43922</c:v>
                </c:pt>
                <c:pt idx="274">
                  <c:v>43923</c:v>
                </c:pt>
                <c:pt idx="275">
                  <c:v>43924</c:v>
                </c:pt>
                <c:pt idx="276">
                  <c:v>43925</c:v>
                </c:pt>
                <c:pt idx="277">
                  <c:v>43926</c:v>
                </c:pt>
                <c:pt idx="278">
                  <c:v>43927</c:v>
                </c:pt>
                <c:pt idx="279">
                  <c:v>43928</c:v>
                </c:pt>
                <c:pt idx="280">
                  <c:v>43929</c:v>
                </c:pt>
                <c:pt idx="281">
                  <c:v>43930</c:v>
                </c:pt>
                <c:pt idx="282">
                  <c:v>43931</c:v>
                </c:pt>
                <c:pt idx="283">
                  <c:v>43932</c:v>
                </c:pt>
                <c:pt idx="284">
                  <c:v>43933</c:v>
                </c:pt>
                <c:pt idx="285">
                  <c:v>43934</c:v>
                </c:pt>
                <c:pt idx="286">
                  <c:v>43935</c:v>
                </c:pt>
                <c:pt idx="287">
                  <c:v>43936</c:v>
                </c:pt>
                <c:pt idx="288">
                  <c:v>43937</c:v>
                </c:pt>
                <c:pt idx="289">
                  <c:v>43938</c:v>
                </c:pt>
                <c:pt idx="290">
                  <c:v>43939</c:v>
                </c:pt>
                <c:pt idx="291">
                  <c:v>43940</c:v>
                </c:pt>
                <c:pt idx="292">
                  <c:v>43941</c:v>
                </c:pt>
                <c:pt idx="293">
                  <c:v>43942</c:v>
                </c:pt>
                <c:pt idx="294">
                  <c:v>43943</c:v>
                </c:pt>
                <c:pt idx="295">
                  <c:v>43944</c:v>
                </c:pt>
                <c:pt idx="296">
                  <c:v>43945</c:v>
                </c:pt>
                <c:pt idx="297">
                  <c:v>43946</c:v>
                </c:pt>
                <c:pt idx="298">
                  <c:v>43947</c:v>
                </c:pt>
                <c:pt idx="299">
                  <c:v>43948</c:v>
                </c:pt>
                <c:pt idx="300">
                  <c:v>43949</c:v>
                </c:pt>
                <c:pt idx="301">
                  <c:v>43950</c:v>
                </c:pt>
                <c:pt idx="302">
                  <c:v>43951</c:v>
                </c:pt>
                <c:pt idx="303">
                  <c:v>43952</c:v>
                </c:pt>
                <c:pt idx="304">
                  <c:v>43953</c:v>
                </c:pt>
                <c:pt idx="305">
                  <c:v>43954</c:v>
                </c:pt>
                <c:pt idx="306">
                  <c:v>43955</c:v>
                </c:pt>
                <c:pt idx="307">
                  <c:v>43956</c:v>
                </c:pt>
                <c:pt idx="308">
                  <c:v>43957</c:v>
                </c:pt>
                <c:pt idx="309">
                  <c:v>43958</c:v>
                </c:pt>
                <c:pt idx="310">
                  <c:v>43959</c:v>
                </c:pt>
                <c:pt idx="311">
                  <c:v>43960</c:v>
                </c:pt>
                <c:pt idx="312">
                  <c:v>43961</c:v>
                </c:pt>
                <c:pt idx="313">
                  <c:v>43962</c:v>
                </c:pt>
                <c:pt idx="314">
                  <c:v>43963</c:v>
                </c:pt>
                <c:pt idx="315">
                  <c:v>43964</c:v>
                </c:pt>
                <c:pt idx="316">
                  <c:v>43965</c:v>
                </c:pt>
                <c:pt idx="317">
                  <c:v>43966</c:v>
                </c:pt>
                <c:pt idx="318">
                  <c:v>43967</c:v>
                </c:pt>
                <c:pt idx="319">
                  <c:v>43968</c:v>
                </c:pt>
                <c:pt idx="320">
                  <c:v>43969</c:v>
                </c:pt>
                <c:pt idx="321">
                  <c:v>43970</c:v>
                </c:pt>
                <c:pt idx="322">
                  <c:v>43971</c:v>
                </c:pt>
                <c:pt idx="323">
                  <c:v>43972</c:v>
                </c:pt>
                <c:pt idx="324">
                  <c:v>43973</c:v>
                </c:pt>
                <c:pt idx="325">
                  <c:v>43974</c:v>
                </c:pt>
                <c:pt idx="326">
                  <c:v>43975</c:v>
                </c:pt>
                <c:pt idx="327">
                  <c:v>43976</c:v>
                </c:pt>
                <c:pt idx="328">
                  <c:v>43977</c:v>
                </c:pt>
                <c:pt idx="329">
                  <c:v>43978</c:v>
                </c:pt>
                <c:pt idx="330">
                  <c:v>43979</c:v>
                </c:pt>
                <c:pt idx="331">
                  <c:v>43980</c:v>
                </c:pt>
                <c:pt idx="332">
                  <c:v>43981</c:v>
                </c:pt>
                <c:pt idx="333">
                  <c:v>43982</c:v>
                </c:pt>
                <c:pt idx="334">
                  <c:v>43983</c:v>
                </c:pt>
                <c:pt idx="335">
                  <c:v>43984</c:v>
                </c:pt>
                <c:pt idx="336">
                  <c:v>43985</c:v>
                </c:pt>
                <c:pt idx="337">
                  <c:v>43987</c:v>
                </c:pt>
                <c:pt idx="338">
                  <c:v>43988</c:v>
                </c:pt>
                <c:pt idx="339">
                  <c:v>43989</c:v>
                </c:pt>
                <c:pt idx="340">
                  <c:v>43990</c:v>
                </c:pt>
                <c:pt idx="341">
                  <c:v>43991</c:v>
                </c:pt>
                <c:pt idx="342">
                  <c:v>43992</c:v>
                </c:pt>
                <c:pt idx="343">
                  <c:v>43993</c:v>
                </c:pt>
                <c:pt idx="344">
                  <c:v>43994</c:v>
                </c:pt>
                <c:pt idx="345">
                  <c:v>43995</c:v>
                </c:pt>
                <c:pt idx="346">
                  <c:v>43996</c:v>
                </c:pt>
              </c:numCache>
            </c:numRef>
          </c:cat>
          <c:val>
            <c:numRef>
              <c:f>Sheet1!$B$2:$B$348</c:f>
              <c:numCache>
                <c:formatCode>General</c:formatCode>
                <c:ptCount val="347"/>
                <c:pt idx="0">
                  <c:v>35</c:v>
                </c:pt>
                <c:pt idx="1">
                  <c:v>35</c:v>
                </c:pt>
                <c:pt idx="2">
                  <c:v>35</c:v>
                </c:pt>
                <c:pt idx="3">
                  <c:v>35</c:v>
                </c:pt>
                <c:pt idx="4">
                  <c:v>35</c:v>
                </c:pt>
                <c:pt idx="5">
                  <c:v>35</c:v>
                </c:pt>
                <c:pt idx="6">
                  <c:v>35</c:v>
                </c:pt>
                <c:pt idx="7">
                  <c:v>35</c:v>
                </c:pt>
                <c:pt idx="8">
                  <c:v>35</c:v>
                </c:pt>
                <c:pt idx="9">
                  <c:v>35</c:v>
                </c:pt>
                <c:pt idx="10">
                  <c:v>35</c:v>
                </c:pt>
                <c:pt idx="11">
                  <c:v>35</c:v>
                </c:pt>
                <c:pt idx="12">
                  <c:v>35</c:v>
                </c:pt>
                <c:pt idx="13">
                  <c:v>35</c:v>
                </c:pt>
                <c:pt idx="14">
                  <c:v>35</c:v>
                </c:pt>
                <c:pt idx="15">
                  <c:v>35</c:v>
                </c:pt>
                <c:pt idx="16">
                  <c:v>35</c:v>
                </c:pt>
                <c:pt idx="17">
                  <c:v>35</c:v>
                </c:pt>
                <c:pt idx="18">
                  <c:v>35</c:v>
                </c:pt>
                <c:pt idx="19">
                  <c:v>35</c:v>
                </c:pt>
                <c:pt idx="20">
                  <c:v>35</c:v>
                </c:pt>
                <c:pt idx="21">
                  <c:v>35</c:v>
                </c:pt>
                <c:pt idx="22">
                  <c:v>35</c:v>
                </c:pt>
                <c:pt idx="23">
                  <c:v>35</c:v>
                </c:pt>
                <c:pt idx="24">
                  <c:v>35</c:v>
                </c:pt>
                <c:pt idx="25">
                  <c:v>35</c:v>
                </c:pt>
                <c:pt idx="26">
                  <c:v>35</c:v>
                </c:pt>
                <c:pt idx="27">
                  <c:v>35</c:v>
                </c:pt>
                <c:pt idx="28">
                  <c:v>35</c:v>
                </c:pt>
                <c:pt idx="29">
                  <c:v>35</c:v>
                </c:pt>
                <c:pt idx="30">
                  <c:v>35</c:v>
                </c:pt>
                <c:pt idx="31">
                  <c:v>35</c:v>
                </c:pt>
                <c:pt idx="32">
                  <c:v>35</c:v>
                </c:pt>
                <c:pt idx="33">
                  <c:v>35</c:v>
                </c:pt>
                <c:pt idx="34">
                  <c:v>35</c:v>
                </c:pt>
                <c:pt idx="35">
                  <c:v>35</c:v>
                </c:pt>
                <c:pt idx="36">
                  <c:v>35</c:v>
                </c:pt>
                <c:pt idx="37">
                  <c:v>35</c:v>
                </c:pt>
                <c:pt idx="38">
                  <c:v>35</c:v>
                </c:pt>
                <c:pt idx="39">
                  <c:v>35</c:v>
                </c:pt>
                <c:pt idx="40">
                  <c:v>35</c:v>
                </c:pt>
                <c:pt idx="41">
                  <c:v>35</c:v>
                </c:pt>
                <c:pt idx="42">
                  <c:v>35</c:v>
                </c:pt>
                <c:pt idx="43">
                  <c:v>35</c:v>
                </c:pt>
                <c:pt idx="44">
                  <c:v>35</c:v>
                </c:pt>
                <c:pt idx="45">
                  <c:v>35</c:v>
                </c:pt>
                <c:pt idx="46">
                  <c:v>35</c:v>
                </c:pt>
                <c:pt idx="47">
                  <c:v>35</c:v>
                </c:pt>
                <c:pt idx="48">
                  <c:v>35</c:v>
                </c:pt>
                <c:pt idx="49">
                  <c:v>35</c:v>
                </c:pt>
                <c:pt idx="50">
                  <c:v>35</c:v>
                </c:pt>
                <c:pt idx="51">
                  <c:v>35</c:v>
                </c:pt>
                <c:pt idx="52">
                  <c:v>35</c:v>
                </c:pt>
                <c:pt idx="53">
                  <c:v>35</c:v>
                </c:pt>
                <c:pt idx="54">
                  <c:v>35</c:v>
                </c:pt>
                <c:pt idx="55">
                  <c:v>35</c:v>
                </c:pt>
                <c:pt idx="56">
                  <c:v>35</c:v>
                </c:pt>
                <c:pt idx="57">
                  <c:v>35</c:v>
                </c:pt>
                <c:pt idx="58">
                  <c:v>35</c:v>
                </c:pt>
                <c:pt idx="59">
                  <c:v>35</c:v>
                </c:pt>
                <c:pt idx="60">
                  <c:v>35</c:v>
                </c:pt>
                <c:pt idx="61">
                  <c:v>35</c:v>
                </c:pt>
                <c:pt idx="62">
                  <c:v>35</c:v>
                </c:pt>
                <c:pt idx="63">
                  <c:v>35</c:v>
                </c:pt>
                <c:pt idx="64">
                  <c:v>35</c:v>
                </c:pt>
                <c:pt idx="65">
                  <c:v>35</c:v>
                </c:pt>
                <c:pt idx="66">
                  <c:v>35</c:v>
                </c:pt>
                <c:pt idx="67">
                  <c:v>35</c:v>
                </c:pt>
                <c:pt idx="68">
                  <c:v>35</c:v>
                </c:pt>
                <c:pt idx="69">
                  <c:v>35</c:v>
                </c:pt>
                <c:pt idx="70">
                  <c:v>35</c:v>
                </c:pt>
                <c:pt idx="71">
                  <c:v>35</c:v>
                </c:pt>
                <c:pt idx="72">
                  <c:v>35</c:v>
                </c:pt>
                <c:pt idx="73">
                  <c:v>35</c:v>
                </c:pt>
                <c:pt idx="74">
                  <c:v>35</c:v>
                </c:pt>
                <c:pt idx="75">
                  <c:v>35</c:v>
                </c:pt>
                <c:pt idx="76">
                  <c:v>35</c:v>
                </c:pt>
                <c:pt idx="77">
                  <c:v>35</c:v>
                </c:pt>
                <c:pt idx="78">
                  <c:v>35</c:v>
                </c:pt>
                <c:pt idx="79">
                  <c:v>35</c:v>
                </c:pt>
                <c:pt idx="80">
                  <c:v>35</c:v>
                </c:pt>
                <c:pt idx="81">
                  <c:v>35</c:v>
                </c:pt>
                <c:pt idx="82">
                  <c:v>35</c:v>
                </c:pt>
                <c:pt idx="83">
                  <c:v>35</c:v>
                </c:pt>
                <c:pt idx="84">
                  <c:v>35</c:v>
                </c:pt>
                <c:pt idx="85">
                  <c:v>35</c:v>
                </c:pt>
                <c:pt idx="86">
                  <c:v>35</c:v>
                </c:pt>
                <c:pt idx="87">
                  <c:v>35</c:v>
                </c:pt>
                <c:pt idx="88">
                  <c:v>35</c:v>
                </c:pt>
                <c:pt idx="89">
                  <c:v>35</c:v>
                </c:pt>
                <c:pt idx="90">
                  <c:v>35</c:v>
                </c:pt>
                <c:pt idx="91">
                  <c:v>35</c:v>
                </c:pt>
                <c:pt idx="92">
                  <c:v>35</c:v>
                </c:pt>
                <c:pt idx="93">
                  <c:v>35</c:v>
                </c:pt>
                <c:pt idx="94">
                  <c:v>35</c:v>
                </c:pt>
                <c:pt idx="95">
                  <c:v>35</c:v>
                </c:pt>
                <c:pt idx="96">
                  <c:v>35</c:v>
                </c:pt>
                <c:pt idx="97">
                  <c:v>35</c:v>
                </c:pt>
                <c:pt idx="98">
                  <c:v>35</c:v>
                </c:pt>
                <c:pt idx="99">
                  <c:v>35</c:v>
                </c:pt>
                <c:pt idx="100">
                  <c:v>35</c:v>
                </c:pt>
                <c:pt idx="101">
                  <c:v>35</c:v>
                </c:pt>
                <c:pt idx="102">
                  <c:v>35</c:v>
                </c:pt>
                <c:pt idx="103">
                  <c:v>35</c:v>
                </c:pt>
                <c:pt idx="104">
                  <c:v>35</c:v>
                </c:pt>
                <c:pt idx="105">
                  <c:v>35</c:v>
                </c:pt>
                <c:pt idx="106">
                  <c:v>35</c:v>
                </c:pt>
                <c:pt idx="107">
                  <c:v>35</c:v>
                </c:pt>
                <c:pt idx="108">
                  <c:v>35</c:v>
                </c:pt>
                <c:pt idx="109">
                  <c:v>35</c:v>
                </c:pt>
                <c:pt idx="110">
                  <c:v>35</c:v>
                </c:pt>
                <c:pt idx="111">
                  <c:v>35</c:v>
                </c:pt>
                <c:pt idx="112">
                  <c:v>35</c:v>
                </c:pt>
                <c:pt idx="113">
                  <c:v>35</c:v>
                </c:pt>
                <c:pt idx="114">
                  <c:v>35</c:v>
                </c:pt>
                <c:pt idx="115">
                  <c:v>35</c:v>
                </c:pt>
                <c:pt idx="116">
                  <c:v>35</c:v>
                </c:pt>
                <c:pt idx="117">
                  <c:v>35</c:v>
                </c:pt>
                <c:pt idx="118">
                  <c:v>35</c:v>
                </c:pt>
                <c:pt idx="119">
                  <c:v>35</c:v>
                </c:pt>
                <c:pt idx="120">
                  <c:v>35</c:v>
                </c:pt>
                <c:pt idx="121">
                  <c:v>35</c:v>
                </c:pt>
                <c:pt idx="122">
                  <c:v>35</c:v>
                </c:pt>
                <c:pt idx="123">
                  <c:v>35</c:v>
                </c:pt>
                <c:pt idx="124">
                  <c:v>35</c:v>
                </c:pt>
                <c:pt idx="125">
                  <c:v>35</c:v>
                </c:pt>
                <c:pt idx="126">
                  <c:v>35</c:v>
                </c:pt>
                <c:pt idx="127">
                  <c:v>35</c:v>
                </c:pt>
                <c:pt idx="128">
                  <c:v>35</c:v>
                </c:pt>
                <c:pt idx="129">
                  <c:v>35</c:v>
                </c:pt>
                <c:pt idx="130">
                  <c:v>35</c:v>
                </c:pt>
                <c:pt idx="131">
                  <c:v>35</c:v>
                </c:pt>
                <c:pt idx="132">
                  <c:v>35</c:v>
                </c:pt>
                <c:pt idx="133">
                  <c:v>35</c:v>
                </c:pt>
                <c:pt idx="134">
                  <c:v>35</c:v>
                </c:pt>
                <c:pt idx="135">
                  <c:v>35</c:v>
                </c:pt>
                <c:pt idx="136">
                  <c:v>35</c:v>
                </c:pt>
                <c:pt idx="137">
                  <c:v>35</c:v>
                </c:pt>
                <c:pt idx="138">
                  <c:v>35</c:v>
                </c:pt>
                <c:pt idx="139">
                  <c:v>35</c:v>
                </c:pt>
                <c:pt idx="140">
                  <c:v>35</c:v>
                </c:pt>
                <c:pt idx="141">
                  <c:v>35</c:v>
                </c:pt>
                <c:pt idx="142">
                  <c:v>35</c:v>
                </c:pt>
                <c:pt idx="143">
                  <c:v>35</c:v>
                </c:pt>
                <c:pt idx="144">
                  <c:v>35</c:v>
                </c:pt>
                <c:pt idx="145">
                  <c:v>35</c:v>
                </c:pt>
                <c:pt idx="146">
                  <c:v>35</c:v>
                </c:pt>
                <c:pt idx="147">
                  <c:v>35</c:v>
                </c:pt>
                <c:pt idx="148">
                  <c:v>35</c:v>
                </c:pt>
                <c:pt idx="149">
                  <c:v>35</c:v>
                </c:pt>
                <c:pt idx="150">
                  <c:v>35</c:v>
                </c:pt>
                <c:pt idx="151">
                  <c:v>35</c:v>
                </c:pt>
                <c:pt idx="152">
                  <c:v>35</c:v>
                </c:pt>
                <c:pt idx="153">
                  <c:v>35</c:v>
                </c:pt>
                <c:pt idx="154">
                  <c:v>35</c:v>
                </c:pt>
                <c:pt idx="155">
                  <c:v>35</c:v>
                </c:pt>
                <c:pt idx="156">
                  <c:v>35</c:v>
                </c:pt>
                <c:pt idx="157">
                  <c:v>35</c:v>
                </c:pt>
                <c:pt idx="158">
                  <c:v>35</c:v>
                </c:pt>
                <c:pt idx="159">
                  <c:v>35</c:v>
                </c:pt>
                <c:pt idx="160">
                  <c:v>35</c:v>
                </c:pt>
                <c:pt idx="161">
                  <c:v>35</c:v>
                </c:pt>
                <c:pt idx="162">
                  <c:v>35</c:v>
                </c:pt>
                <c:pt idx="163">
                  <c:v>35</c:v>
                </c:pt>
                <c:pt idx="164">
                  <c:v>35</c:v>
                </c:pt>
                <c:pt idx="165">
                  <c:v>35</c:v>
                </c:pt>
                <c:pt idx="166">
                  <c:v>35</c:v>
                </c:pt>
                <c:pt idx="167">
                  <c:v>35</c:v>
                </c:pt>
                <c:pt idx="168">
                  <c:v>35</c:v>
                </c:pt>
                <c:pt idx="169">
                  <c:v>35</c:v>
                </c:pt>
                <c:pt idx="170">
                  <c:v>35</c:v>
                </c:pt>
                <c:pt idx="171">
                  <c:v>35</c:v>
                </c:pt>
                <c:pt idx="172">
                  <c:v>35</c:v>
                </c:pt>
                <c:pt idx="173">
                  <c:v>35</c:v>
                </c:pt>
                <c:pt idx="174">
                  <c:v>35</c:v>
                </c:pt>
                <c:pt idx="175">
                  <c:v>35</c:v>
                </c:pt>
                <c:pt idx="176">
                  <c:v>35</c:v>
                </c:pt>
                <c:pt idx="177">
                  <c:v>35</c:v>
                </c:pt>
                <c:pt idx="178">
                  <c:v>35</c:v>
                </c:pt>
                <c:pt idx="179">
                  <c:v>35</c:v>
                </c:pt>
                <c:pt idx="180">
                  <c:v>35</c:v>
                </c:pt>
                <c:pt idx="181">
                  <c:v>35</c:v>
                </c:pt>
                <c:pt idx="182">
                  <c:v>35</c:v>
                </c:pt>
                <c:pt idx="183">
                  <c:v>35</c:v>
                </c:pt>
                <c:pt idx="184">
                  <c:v>35</c:v>
                </c:pt>
                <c:pt idx="185">
                  <c:v>35</c:v>
                </c:pt>
                <c:pt idx="186">
                  <c:v>35</c:v>
                </c:pt>
                <c:pt idx="187">
                  <c:v>35</c:v>
                </c:pt>
                <c:pt idx="188">
                  <c:v>35</c:v>
                </c:pt>
                <c:pt idx="189">
                  <c:v>35</c:v>
                </c:pt>
                <c:pt idx="190">
                  <c:v>35</c:v>
                </c:pt>
                <c:pt idx="191">
                  <c:v>35</c:v>
                </c:pt>
                <c:pt idx="192">
                  <c:v>35</c:v>
                </c:pt>
                <c:pt idx="193">
                  <c:v>35</c:v>
                </c:pt>
                <c:pt idx="194">
                  <c:v>35</c:v>
                </c:pt>
                <c:pt idx="195">
                  <c:v>35</c:v>
                </c:pt>
                <c:pt idx="196">
                  <c:v>35</c:v>
                </c:pt>
                <c:pt idx="197">
                  <c:v>35</c:v>
                </c:pt>
                <c:pt idx="198">
                  <c:v>35</c:v>
                </c:pt>
                <c:pt idx="199">
                  <c:v>35</c:v>
                </c:pt>
                <c:pt idx="200">
                  <c:v>35</c:v>
                </c:pt>
                <c:pt idx="201">
                  <c:v>35</c:v>
                </c:pt>
                <c:pt idx="202">
                  <c:v>35</c:v>
                </c:pt>
                <c:pt idx="203">
                  <c:v>35</c:v>
                </c:pt>
                <c:pt idx="204">
                  <c:v>35</c:v>
                </c:pt>
                <c:pt idx="205">
                  <c:v>35</c:v>
                </c:pt>
                <c:pt idx="206">
                  <c:v>35</c:v>
                </c:pt>
                <c:pt idx="207">
                  <c:v>35</c:v>
                </c:pt>
                <c:pt idx="208">
                  <c:v>35</c:v>
                </c:pt>
                <c:pt idx="209">
                  <c:v>35</c:v>
                </c:pt>
                <c:pt idx="210">
                  <c:v>35</c:v>
                </c:pt>
                <c:pt idx="211">
                  <c:v>35</c:v>
                </c:pt>
                <c:pt idx="212">
                  <c:v>35</c:v>
                </c:pt>
                <c:pt idx="213">
                  <c:v>35</c:v>
                </c:pt>
                <c:pt idx="214">
                  <c:v>35</c:v>
                </c:pt>
                <c:pt idx="215">
                  <c:v>35</c:v>
                </c:pt>
                <c:pt idx="216">
                  <c:v>35</c:v>
                </c:pt>
                <c:pt idx="217">
                  <c:v>35</c:v>
                </c:pt>
                <c:pt idx="218">
                  <c:v>35</c:v>
                </c:pt>
                <c:pt idx="219">
                  <c:v>35</c:v>
                </c:pt>
                <c:pt idx="220">
                  <c:v>35</c:v>
                </c:pt>
                <c:pt idx="221">
                  <c:v>35</c:v>
                </c:pt>
                <c:pt idx="222">
                  <c:v>35</c:v>
                </c:pt>
                <c:pt idx="223">
                  <c:v>35</c:v>
                </c:pt>
                <c:pt idx="224">
                  <c:v>35</c:v>
                </c:pt>
                <c:pt idx="225">
                  <c:v>35</c:v>
                </c:pt>
                <c:pt idx="226">
                  <c:v>35</c:v>
                </c:pt>
                <c:pt idx="227">
                  <c:v>35</c:v>
                </c:pt>
                <c:pt idx="228">
                  <c:v>35</c:v>
                </c:pt>
                <c:pt idx="229">
                  <c:v>35</c:v>
                </c:pt>
                <c:pt idx="230">
                  <c:v>35</c:v>
                </c:pt>
                <c:pt idx="231">
                  <c:v>35</c:v>
                </c:pt>
                <c:pt idx="232">
                  <c:v>35</c:v>
                </c:pt>
                <c:pt idx="233">
                  <c:v>35</c:v>
                </c:pt>
                <c:pt idx="234">
                  <c:v>35</c:v>
                </c:pt>
                <c:pt idx="235">
                  <c:v>35</c:v>
                </c:pt>
                <c:pt idx="236">
                  <c:v>35</c:v>
                </c:pt>
                <c:pt idx="237">
                  <c:v>35</c:v>
                </c:pt>
                <c:pt idx="238">
                  <c:v>35</c:v>
                </c:pt>
                <c:pt idx="239">
                  <c:v>35</c:v>
                </c:pt>
                <c:pt idx="240">
                  <c:v>35</c:v>
                </c:pt>
                <c:pt idx="241">
                  <c:v>35</c:v>
                </c:pt>
                <c:pt idx="242">
                  <c:v>35</c:v>
                </c:pt>
                <c:pt idx="243">
                  <c:v>35</c:v>
                </c:pt>
                <c:pt idx="244">
                  <c:v>35</c:v>
                </c:pt>
                <c:pt idx="245">
                  <c:v>35</c:v>
                </c:pt>
                <c:pt idx="246">
                  <c:v>35</c:v>
                </c:pt>
                <c:pt idx="247">
                  <c:v>35</c:v>
                </c:pt>
                <c:pt idx="248">
                  <c:v>35</c:v>
                </c:pt>
                <c:pt idx="249">
                  <c:v>35</c:v>
                </c:pt>
                <c:pt idx="250">
                  <c:v>35</c:v>
                </c:pt>
                <c:pt idx="251">
                  <c:v>35</c:v>
                </c:pt>
                <c:pt idx="252">
                  <c:v>35</c:v>
                </c:pt>
                <c:pt idx="253">
                  <c:v>35</c:v>
                </c:pt>
                <c:pt idx="254">
                  <c:v>35</c:v>
                </c:pt>
                <c:pt idx="255">
                  <c:v>35</c:v>
                </c:pt>
                <c:pt idx="256">
                  <c:v>35</c:v>
                </c:pt>
                <c:pt idx="257">
                  <c:v>35</c:v>
                </c:pt>
                <c:pt idx="258">
                  <c:v>35</c:v>
                </c:pt>
                <c:pt idx="259">
                  <c:v>35</c:v>
                </c:pt>
                <c:pt idx="260">
                  <c:v>35</c:v>
                </c:pt>
                <c:pt idx="261">
                  <c:v>35</c:v>
                </c:pt>
                <c:pt idx="262">
                  <c:v>35</c:v>
                </c:pt>
                <c:pt idx="263">
                  <c:v>35</c:v>
                </c:pt>
                <c:pt idx="264">
                  <c:v>35</c:v>
                </c:pt>
                <c:pt idx="265">
                  <c:v>35</c:v>
                </c:pt>
                <c:pt idx="266">
                  <c:v>35</c:v>
                </c:pt>
                <c:pt idx="267">
                  <c:v>35</c:v>
                </c:pt>
                <c:pt idx="268">
                  <c:v>35</c:v>
                </c:pt>
                <c:pt idx="269">
                  <c:v>35</c:v>
                </c:pt>
                <c:pt idx="270">
                  <c:v>35</c:v>
                </c:pt>
                <c:pt idx="271">
                  <c:v>35</c:v>
                </c:pt>
                <c:pt idx="272">
                  <c:v>35</c:v>
                </c:pt>
                <c:pt idx="273">
                  <c:v>35</c:v>
                </c:pt>
                <c:pt idx="274">
                  <c:v>35</c:v>
                </c:pt>
                <c:pt idx="275">
                  <c:v>35</c:v>
                </c:pt>
                <c:pt idx="276">
                  <c:v>35</c:v>
                </c:pt>
                <c:pt idx="277">
                  <c:v>35</c:v>
                </c:pt>
                <c:pt idx="278">
                  <c:v>35</c:v>
                </c:pt>
                <c:pt idx="279">
                  <c:v>35</c:v>
                </c:pt>
                <c:pt idx="280">
                  <c:v>35</c:v>
                </c:pt>
                <c:pt idx="281">
                  <c:v>35</c:v>
                </c:pt>
                <c:pt idx="282">
                  <c:v>35</c:v>
                </c:pt>
                <c:pt idx="283">
                  <c:v>35</c:v>
                </c:pt>
                <c:pt idx="284">
                  <c:v>35</c:v>
                </c:pt>
                <c:pt idx="285">
                  <c:v>35</c:v>
                </c:pt>
                <c:pt idx="286">
                  <c:v>35</c:v>
                </c:pt>
                <c:pt idx="287">
                  <c:v>35</c:v>
                </c:pt>
                <c:pt idx="288">
                  <c:v>35</c:v>
                </c:pt>
                <c:pt idx="289">
                  <c:v>35</c:v>
                </c:pt>
                <c:pt idx="290">
                  <c:v>35</c:v>
                </c:pt>
                <c:pt idx="291">
                  <c:v>35</c:v>
                </c:pt>
                <c:pt idx="292">
                  <c:v>35</c:v>
                </c:pt>
                <c:pt idx="293">
                  <c:v>35</c:v>
                </c:pt>
                <c:pt idx="294">
                  <c:v>35</c:v>
                </c:pt>
                <c:pt idx="295">
                  <c:v>35</c:v>
                </c:pt>
                <c:pt idx="296">
                  <c:v>35</c:v>
                </c:pt>
                <c:pt idx="297">
                  <c:v>35</c:v>
                </c:pt>
                <c:pt idx="298">
                  <c:v>35</c:v>
                </c:pt>
                <c:pt idx="299">
                  <c:v>35</c:v>
                </c:pt>
                <c:pt idx="300">
                  <c:v>35</c:v>
                </c:pt>
                <c:pt idx="301">
                  <c:v>35</c:v>
                </c:pt>
                <c:pt idx="302">
                  <c:v>35</c:v>
                </c:pt>
                <c:pt idx="303">
                  <c:v>35</c:v>
                </c:pt>
                <c:pt idx="304">
                  <c:v>35</c:v>
                </c:pt>
                <c:pt idx="305">
                  <c:v>35</c:v>
                </c:pt>
                <c:pt idx="306">
                  <c:v>35</c:v>
                </c:pt>
                <c:pt idx="307">
                  <c:v>35</c:v>
                </c:pt>
                <c:pt idx="308">
                  <c:v>35</c:v>
                </c:pt>
                <c:pt idx="309">
                  <c:v>35</c:v>
                </c:pt>
                <c:pt idx="310">
                  <c:v>35</c:v>
                </c:pt>
                <c:pt idx="311">
                  <c:v>35</c:v>
                </c:pt>
                <c:pt idx="312">
                  <c:v>35</c:v>
                </c:pt>
                <c:pt idx="313">
                  <c:v>35</c:v>
                </c:pt>
                <c:pt idx="314">
                  <c:v>35</c:v>
                </c:pt>
                <c:pt idx="315">
                  <c:v>35</c:v>
                </c:pt>
                <c:pt idx="316">
                  <c:v>35</c:v>
                </c:pt>
                <c:pt idx="317">
                  <c:v>35</c:v>
                </c:pt>
                <c:pt idx="318">
                  <c:v>35</c:v>
                </c:pt>
                <c:pt idx="319">
                  <c:v>35</c:v>
                </c:pt>
                <c:pt idx="320">
                  <c:v>35</c:v>
                </c:pt>
                <c:pt idx="321">
                  <c:v>35</c:v>
                </c:pt>
                <c:pt idx="322">
                  <c:v>35</c:v>
                </c:pt>
                <c:pt idx="323">
                  <c:v>35</c:v>
                </c:pt>
                <c:pt idx="324">
                  <c:v>35</c:v>
                </c:pt>
                <c:pt idx="325">
                  <c:v>35</c:v>
                </c:pt>
                <c:pt idx="326">
                  <c:v>35</c:v>
                </c:pt>
                <c:pt idx="327">
                  <c:v>35</c:v>
                </c:pt>
                <c:pt idx="328">
                  <c:v>35</c:v>
                </c:pt>
                <c:pt idx="329">
                  <c:v>35</c:v>
                </c:pt>
                <c:pt idx="330">
                  <c:v>35</c:v>
                </c:pt>
                <c:pt idx="331">
                  <c:v>35</c:v>
                </c:pt>
                <c:pt idx="332">
                  <c:v>35</c:v>
                </c:pt>
                <c:pt idx="333">
                  <c:v>35</c:v>
                </c:pt>
                <c:pt idx="334">
                  <c:v>35</c:v>
                </c:pt>
                <c:pt idx="335">
                  <c:v>35</c:v>
                </c:pt>
                <c:pt idx="336">
                  <c:v>35</c:v>
                </c:pt>
                <c:pt idx="337">
                  <c:v>35</c:v>
                </c:pt>
                <c:pt idx="338">
                  <c:v>35</c:v>
                </c:pt>
                <c:pt idx="339">
                  <c:v>35</c:v>
                </c:pt>
                <c:pt idx="340">
                  <c:v>35</c:v>
                </c:pt>
                <c:pt idx="341">
                  <c:v>35</c:v>
                </c:pt>
                <c:pt idx="342">
                  <c:v>35</c:v>
                </c:pt>
                <c:pt idx="343">
                  <c:v>35</c:v>
                </c:pt>
                <c:pt idx="344">
                  <c:v>35</c:v>
                </c:pt>
                <c:pt idx="345">
                  <c:v>35</c:v>
                </c:pt>
                <c:pt idx="346">
                  <c:v>35</c:v>
                </c:pt>
              </c:numCache>
            </c:numRef>
          </c:val>
          <c:smooth val="0"/>
          <c:extLst>
            <c:ext xmlns:c16="http://schemas.microsoft.com/office/drawing/2014/chart" uri="{C3380CC4-5D6E-409C-BE32-E72D297353CC}">
              <c16:uniqueId val="{00000000-4DA4-43EF-9618-061B6B26B572}"/>
            </c:ext>
          </c:extLst>
        </c:ser>
        <c:ser>
          <c:idx val="1"/>
          <c:order val="1"/>
          <c:tx>
            <c:strRef>
              <c:f>Sheet1!$C$1</c:f>
              <c:strCache>
                <c:ptCount val="1"/>
                <c:pt idx="0">
                  <c:v>Supply (mmcfd)</c:v>
                </c:pt>
              </c:strCache>
            </c:strRef>
          </c:tx>
          <c:spPr>
            <a:ln w="28575" cap="rnd">
              <a:solidFill>
                <a:schemeClr val="accent2"/>
              </a:solidFill>
              <a:round/>
            </a:ln>
            <a:effectLst/>
          </c:spPr>
          <c:marker>
            <c:symbol val="none"/>
          </c:marker>
          <c:cat>
            <c:numRef>
              <c:f>Sheet1!$A$2:$A$348</c:f>
              <c:numCache>
                <c:formatCode>m/d/yyyy</c:formatCode>
                <c:ptCount val="347"/>
                <c:pt idx="0">
                  <c:v>43564</c:v>
                </c:pt>
                <c:pt idx="1">
                  <c:v>43565</c:v>
                </c:pt>
                <c:pt idx="2">
                  <c:v>43566</c:v>
                </c:pt>
                <c:pt idx="3">
                  <c:v>43567</c:v>
                </c:pt>
                <c:pt idx="4">
                  <c:v>43568</c:v>
                </c:pt>
                <c:pt idx="5">
                  <c:v>43569</c:v>
                </c:pt>
                <c:pt idx="6">
                  <c:v>43570</c:v>
                </c:pt>
                <c:pt idx="7">
                  <c:v>43571</c:v>
                </c:pt>
                <c:pt idx="8">
                  <c:v>43572</c:v>
                </c:pt>
                <c:pt idx="9">
                  <c:v>43573</c:v>
                </c:pt>
                <c:pt idx="10">
                  <c:v>43574</c:v>
                </c:pt>
                <c:pt idx="11">
                  <c:v>43575</c:v>
                </c:pt>
                <c:pt idx="12">
                  <c:v>43576</c:v>
                </c:pt>
                <c:pt idx="13">
                  <c:v>43577</c:v>
                </c:pt>
                <c:pt idx="14">
                  <c:v>43578</c:v>
                </c:pt>
                <c:pt idx="15">
                  <c:v>43579</c:v>
                </c:pt>
                <c:pt idx="16">
                  <c:v>43580</c:v>
                </c:pt>
                <c:pt idx="17">
                  <c:v>43581</c:v>
                </c:pt>
                <c:pt idx="18">
                  <c:v>43582</c:v>
                </c:pt>
                <c:pt idx="19">
                  <c:v>43583</c:v>
                </c:pt>
                <c:pt idx="20">
                  <c:v>43584</c:v>
                </c:pt>
                <c:pt idx="21">
                  <c:v>43585</c:v>
                </c:pt>
                <c:pt idx="22">
                  <c:v>43586</c:v>
                </c:pt>
                <c:pt idx="23">
                  <c:v>43587</c:v>
                </c:pt>
                <c:pt idx="24">
                  <c:v>43588</c:v>
                </c:pt>
                <c:pt idx="25">
                  <c:v>43589</c:v>
                </c:pt>
                <c:pt idx="26">
                  <c:v>43590</c:v>
                </c:pt>
                <c:pt idx="27">
                  <c:v>43591</c:v>
                </c:pt>
                <c:pt idx="28">
                  <c:v>43592</c:v>
                </c:pt>
                <c:pt idx="29">
                  <c:v>43593</c:v>
                </c:pt>
                <c:pt idx="30">
                  <c:v>43594</c:v>
                </c:pt>
                <c:pt idx="31">
                  <c:v>43595</c:v>
                </c:pt>
                <c:pt idx="32">
                  <c:v>43596</c:v>
                </c:pt>
                <c:pt idx="33">
                  <c:v>43597</c:v>
                </c:pt>
                <c:pt idx="34">
                  <c:v>43598</c:v>
                </c:pt>
                <c:pt idx="35">
                  <c:v>43599</c:v>
                </c:pt>
                <c:pt idx="36">
                  <c:v>43600</c:v>
                </c:pt>
                <c:pt idx="37">
                  <c:v>43601</c:v>
                </c:pt>
                <c:pt idx="38">
                  <c:v>43602</c:v>
                </c:pt>
                <c:pt idx="39">
                  <c:v>43603</c:v>
                </c:pt>
                <c:pt idx="40">
                  <c:v>43604</c:v>
                </c:pt>
                <c:pt idx="41">
                  <c:v>43605</c:v>
                </c:pt>
                <c:pt idx="42">
                  <c:v>43606</c:v>
                </c:pt>
                <c:pt idx="43">
                  <c:v>43607</c:v>
                </c:pt>
                <c:pt idx="44">
                  <c:v>43608</c:v>
                </c:pt>
                <c:pt idx="45">
                  <c:v>43609</c:v>
                </c:pt>
                <c:pt idx="46">
                  <c:v>43610</c:v>
                </c:pt>
                <c:pt idx="47">
                  <c:v>43611</c:v>
                </c:pt>
                <c:pt idx="48">
                  <c:v>43612</c:v>
                </c:pt>
                <c:pt idx="49">
                  <c:v>43613</c:v>
                </c:pt>
                <c:pt idx="50">
                  <c:v>43614</c:v>
                </c:pt>
                <c:pt idx="51">
                  <c:v>43615</c:v>
                </c:pt>
                <c:pt idx="52">
                  <c:v>43626</c:v>
                </c:pt>
                <c:pt idx="53">
                  <c:v>43627</c:v>
                </c:pt>
                <c:pt idx="54">
                  <c:v>43628</c:v>
                </c:pt>
                <c:pt idx="55">
                  <c:v>43629</c:v>
                </c:pt>
                <c:pt idx="56">
                  <c:v>43630</c:v>
                </c:pt>
                <c:pt idx="57">
                  <c:v>43631</c:v>
                </c:pt>
                <c:pt idx="58">
                  <c:v>43632</c:v>
                </c:pt>
                <c:pt idx="59">
                  <c:v>43633</c:v>
                </c:pt>
                <c:pt idx="60">
                  <c:v>43634</c:v>
                </c:pt>
                <c:pt idx="61">
                  <c:v>43635</c:v>
                </c:pt>
                <c:pt idx="62">
                  <c:v>43636</c:v>
                </c:pt>
                <c:pt idx="63">
                  <c:v>43637</c:v>
                </c:pt>
                <c:pt idx="64">
                  <c:v>43638</c:v>
                </c:pt>
                <c:pt idx="65">
                  <c:v>43639</c:v>
                </c:pt>
                <c:pt idx="66">
                  <c:v>43640</c:v>
                </c:pt>
                <c:pt idx="67">
                  <c:v>43641</c:v>
                </c:pt>
                <c:pt idx="68">
                  <c:v>43642</c:v>
                </c:pt>
                <c:pt idx="69">
                  <c:v>43643</c:v>
                </c:pt>
                <c:pt idx="70">
                  <c:v>43644</c:v>
                </c:pt>
                <c:pt idx="71">
                  <c:v>43645</c:v>
                </c:pt>
                <c:pt idx="72">
                  <c:v>43646</c:v>
                </c:pt>
                <c:pt idx="73">
                  <c:v>43647</c:v>
                </c:pt>
                <c:pt idx="74">
                  <c:v>43648</c:v>
                </c:pt>
                <c:pt idx="75">
                  <c:v>43649</c:v>
                </c:pt>
                <c:pt idx="76">
                  <c:v>43650</c:v>
                </c:pt>
                <c:pt idx="77">
                  <c:v>43651</c:v>
                </c:pt>
                <c:pt idx="78">
                  <c:v>43652</c:v>
                </c:pt>
                <c:pt idx="79">
                  <c:v>43653</c:v>
                </c:pt>
                <c:pt idx="80">
                  <c:v>43654</c:v>
                </c:pt>
                <c:pt idx="81">
                  <c:v>43655</c:v>
                </c:pt>
                <c:pt idx="82">
                  <c:v>43656</c:v>
                </c:pt>
                <c:pt idx="83">
                  <c:v>43657</c:v>
                </c:pt>
                <c:pt idx="84">
                  <c:v>43658</c:v>
                </c:pt>
                <c:pt idx="85">
                  <c:v>43659</c:v>
                </c:pt>
                <c:pt idx="86">
                  <c:v>43660</c:v>
                </c:pt>
                <c:pt idx="87">
                  <c:v>43661</c:v>
                </c:pt>
                <c:pt idx="88">
                  <c:v>43662</c:v>
                </c:pt>
                <c:pt idx="89">
                  <c:v>43663</c:v>
                </c:pt>
                <c:pt idx="90">
                  <c:v>43664</c:v>
                </c:pt>
                <c:pt idx="91">
                  <c:v>43666</c:v>
                </c:pt>
                <c:pt idx="92">
                  <c:v>43667</c:v>
                </c:pt>
                <c:pt idx="93">
                  <c:v>43668</c:v>
                </c:pt>
                <c:pt idx="94">
                  <c:v>43669</c:v>
                </c:pt>
                <c:pt idx="95">
                  <c:v>43670</c:v>
                </c:pt>
                <c:pt idx="96">
                  <c:v>43671</c:v>
                </c:pt>
                <c:pt idx="97">
                  <c:v>43672</c:v>
                </c:pt>
                <c:pt idx="98">
                  <c:v>43673</c:v>
                </c:pt>
                <c:pt idx="99">
                  <c:v>43674</c:v>
                </c:pt>
                <c:pt idx="100">
                  <c:v>43675</c:v>
                </c:pt>
                <c:pt idx="101">
                  <c:v>43676</c:v>
                </c:pt>
                <c:pt idx="102">
                  <c:v>43677</c:v>
                </c:pt>
                <c:pt idx="103">
                  <c:v>43678</c:v>
                </c:pt>
                <c:pt idx="104">
                  <c:v>43679</c:v>
                </c:pt>
                <c:pt idx="105">
                  <c:v>43681</c:v>
                </c:pt>
                <c:pt idx="106">
                  <c:v>43682</c:v>
                </c:pt>
                <c:pt idx="107">
                  <c:v>43683</c:v>
                </c:pt>
                <c:pt idx="108">
                  <c:v>43684</c:v>
                </c:pt>
                <c:pt idx="109">
                  <c:v>43685</c:v>
                </c:pt>
                <c:pt idx="110">
                  <c:v>43692</c:v>
                </c:pt>
                <c:pt idx="111">
                  <c:v>43693</c:v>
                </c:pt>
                <c:pt idx="112">
                  <c:v>43694</c:v>
                </c:pt>
                <c:pt idx="113">
                  <c:v>43695</c:v>
                </c:pt>
                <c:pt idx="114">
                  <c:v>43696</c:v>
                </c:pt>
                <c:pt idx="115">
                  <c:v>43697</c:v>
                </c:pt>
                <c:pt idx="116">
                  <c:v>43698</c:v>
                </c:pt>
                <c:pt idx="117">
                  <c:v>43699</c:v>
                </c:pt>
                <c:pt idx="118">
                  <c:v>43700</c:v>
                </c:pt>
                <c:pt idx="119">
                  <c:v>43701</c:v>
                </c:pt>
                <c:pt idx="120">
                  <c:v>43702</c:v>
                </c:pt>
                <c:pt idx="121">
                  <c:v>43703</c:v>
                </c:pt>
                <c:pt idx="122">
                  <c:v>43704</c:v>
                </c:pt>
                <c:pt idx="123">
                  <c:v>43705</c:v>
                </c:pt>
                <c:pt idx="124">
                  <c:v>43706</c:v>
                </c:pt>
                <c:pt idx="125">
                  <c:v>43707</c:v>
                </c:pt>
                <c:pt idx="126">
                  <c:v>43708</c:v>
                </c:pt>
                <c:pt idx="127">
                  <c:v>43709</c:v>
                </c:pt>
                <c:pt idx="128">
                  <c:v>43710</c:v>
                </c:pt>
                <c:pt idx="129">
                  <c:v>43711</c:v>
                </c:pt>
                <c:pt idx="130">
                  <c:v>43712</c:v>
                </c:pt>
                <c:pt idx="131">
                  <c:v>43713</c:v>
                </c:pt>
                <c:pt idx="132">
                  <c:v>43714</c:v>
                </c:pt>
                <c:pt idx="133">
                  <c:v>43715</c:v>
                </c:pt>
                <c:pt idx="134">
                  <c:v>43716</c:v>
                </c:pt>
                <c:pt idx="135">
                  <c:v>43717</c:v>
                </c:pt>
                <c:pt idx="136">
                  <c:v>43718</c:v>
                </c:pt>
                <c:pt idx="137">
                  <c:v>43719</c:v>
                </c:pt>
                <c:pt idx="138">
                  <c:v>43720</c:v>
                </c:pt>
                <c:pt idx="139">
                  <c:v>43721</c:v>
                </c:pt>
                <c:pt idx="140">
                  <c:v>43722</c:v>
                </c:pt>
                <c:pt idx="141">
                  <c:v>43723</c:v>
                </c:pt>
                <c:pt idx="142">
                  <c:v>43724</c:v>
                </c:pt>
                <c:pt idx="143">
                  <c:v>43725</c:v>
                </c:pt>
                <c:pt idx="144">
                  <c:v>43726</c:v>
                </c:pt>
                <c:pt idx="145">
                  <c:v>43727</c:v>
                </c:pt>
                <c:pt idx="146">
                  <c:v>43728</c:v>
                </c:pt>
                <c:pt idx="147">
                  <c:v>43729</c:v>
                </c:pt>
                <c:pt idx="148">
                  <c:v>43730</c:v>
                </c:pt>
                <c:pt idx="149">
                  <c:v>43731</c:v>
                </c:pt>
                <c:pt idx="150">
                  <c:v>43732</c:v>
                </c:pt>
                <c:pt idx="151">
                  <c:v>43733</c:v>
                </c:pt>
                <c:pt idx="152">
                  <c:v>43734</c:v>
                </c:pt>
                <c:pt idx="153">
                  <c:v>43735</c:v>
                </c:pt>
                <c:pt idx="154">
                  <c:v>43736</c:v>
                </c:pt>
                <c:pt idx="155">
                  <c:v>43737</c:v>
                </c:pt>
                <c:pt idx="156">
                  <c:v>43738</c:v>
                </c:pt>
                <c:pt idx="157">
                  <c:v>43739</c:v>
                </c:pt>
                <c:pt idx="158">
                  <c:v>43740</c:v>
                </c:pt>
                <c:pt idx="159">
                  <c:v>43741</c:v>
                </c:pt>
                <c:pt idx="160">
                  <c:v>43746</c:v>
                </c:pt>
                <c:pt idx="161">
                  <c:v>43747</c:v>
                </c:pt>
                <c:pt idx="162">
                  <c:v>43748</c:v>
                </c:pt>
                <c:pt idx="163">
                  <c:v>43749</c:v>
                </c:pt>
                <c:pt idx="164">
                  <c:v>43750</c:v>
                </c:pt>
                <c:pt idx="165">
                  <c:v>43751</c:v>
                </c:pt>
                <c:pt idx="166">
                  <c:v>43752</c:v>
                </c:pt>
                <c:pt idx="167">
                  <c:v>43753</c:v>
                </c:pt>
                <c:pt idx="168">
                  <c:v>43754</c:v>
                </c:pt>
                <c:pt idx="169">
                  <c:v>43755</c:v>
                </c:pt>
                <c:pt idx="170">
                  <c:v>43759</c:v>
                </c:pt>
                <c:pt idx="171">
                  <c:v>43760</c:v>
                </c:pt>
                <c:pt idx="172">
                  <c:v>43761</c:v>
                </c:pt>
                <c:pt idx="173">
                  <c:v>43765</c:v>
                </c:pt>
                <c:pt idx="174">
                  <c:v>43768</c:v>
                </c:pt>
                <c:pt idx="175">
                  <c:v>43772</c:v>
                </c:pt>
                <c:pt idx="176">
                  <c:v>43773</c:v>
                </c:pt>
                <c:pt idx="177">
                  <c:v>43775</c:v>
                </c:pt>
                <c:pt idx="178">
                  <c:v>43776</c:v>
                </c:pt>
                <c:pt idx="179">
                  <c:v>43782</c:v>
                </c:pt>
                <c:pt idx="180">
                  <c:v>43783</c:v>
                </c:pt>
                <c:pt idx="181">
                  <c:v>43789</c:v>
                </c:pt>
                <c:pt idx="182">
                  <c:v>43790</c:v>
                </c:pt>
                <c:pt idx="183">
                  <c:v>43791</c:v>
                </c:pt>
                <c:pt idx="184">
                  <c:v>43792</c:v>
                </c:pt>
                <c:pt idx="185">
                  <c:v>43793</c:v>
                </c:pt>
                <c:pt idx="186">
                  <c:v>43794</c:v>
                </c:pt>
                <c:pt idx="187">
                  <c:v>43796</c:v>
                </c:pt>
                <c:pt idx="188">
                  <c:v>43797</c:v>
                </c:pt>
                <c:pt idx="189">
                  <c:v>43801</c:v>
                </c:pt>
                <c:pt idx="190">
                  <c:v>43802</c:v>
                </c:pt>
                <c:pt idx="191">
                  <c:v>43804</c:v>
                </c:pt>
                <c:pt idx="192">
                  <c:v>43815</c:v>
                </c:pt>
                <c:pt idx="193">
                  <c:v>43816</c:v>
                </c:pt>
                <c:pt idx="194">
                  <c:v>43817</c:v>
                </c:pt>
                <c:pt idx="195">
                  <c:v>43822</c:v>
                </c:pt>
                <c:pt idx="196">
                  <c:v>43823</c:v>
                </c:pt>
                <c:pt idx="197">
                  <c:v>43824</c:v>
                </c:pt>
                <c:pt idx="198">
                  <c:v>43825</c:v>
                </c:pt>
                <c:pt idx="199">
                  <c:v>43826</c:v>
                </c:pt>
                <c:pt idx="200">
                  <c:v>43827</c:v>
                </c:pt>
                <c:pt idx="201">
                  <c:v>43828</c:v>
                </c:pt>
                <c:pt idx="202">
                  <c:v>43829</c:v>
                </c:pt>
                <c:pt idx="203">
                  <c:v>43830</c:v>
                </c:pt>
                <c:pt idx="204">
                  <c:v>43831</c:v>
                </c:pt>
                <c:pt idx="205">
                  <c:v>43833</c:v>
                </c:pt>
                <c:pt idx="206">
                  <c:v>43834</c:v>
                </c:pt>
                <c:pt idx="207">
                  <c:v>43835</c:v>
                </c:pt>
                <c:pt idx="208">
                  <c:v>43836</c:v>
                </c:pt>
                <c:pt idx="209">
                  <c:v>43837</c:v>
                </c:pt>
                <c:pt idx="210">
                  <c:v>43838</c:v>
                </c:pt>
                <c:pt idx="211">
                  <c:v>43839</c:v>
                </c:pt>
                <c:pt idx="212">
                  <c:v>43840</c:v>
                </c:pt>
                <c:pt idx="213">
                  <c:v>43841</c:v>
                </c:pt>
                <c:pt idx="214">
                  <c:v>43842</c:v>
                </c:pt>
                <c:pt idx="215">
                  <c:v>43843</c:v>
                </c:pt>
                <c:pt idx="216">
                  <c:v>43845</c:v>
                </c:pt>
                <c:pt idx="217">
                  <c:v>43846</c:v>
                </c:pt>
                <c:pt idx="218">
                  <c:v>43847</c:v>
                </c:pt>
                <c:pt idx="219">
                  <c:v>43848</c:v>
                </c:pt>
                <c:pt idx="220">
                  <c:v>43849</c:v>
                </c:pt>
                <c:pt idx="221">
                  <c:v>43850</c:v>
                </c:pt>
                <c:pt idx="222">
                  <c:v>43851</c:v>
                </c:pt>
                <c:pt idx="223">
                  <c:v>43852</c:v>
                </c:pt>
                <c:pt idx="224">
                  <c:v>43853</c:v>
                </c:pt>
                <c:pt idx="225">
                  <c:v>43855</c:v>
                </c:pt>
                <c:pt idx="226">
                  <c:v>43856</c:v>
                </c:pt>
                <c:pt idx="227">
                  <c:v>43865</c:v>
                </c:pt>
                <c:pt idx="228">
                  <c:v>43866</c:v>
                </c:pt>
                <c:pt idx="229">
                  <c:v>43867</c:v>
                </c:pt>
                <c:pt idx="230">
                  <c:v>43873</c:v>
                </c:pt>
                <c:pt idx="231">
                  <c:v>43874</c:v>
                </c:pt>
                <c:pt idx="232">
                  <c:v>43875</c:v>
                </c:pt>
                <c:pt idx="233">
                  <c:v>43876</c:v>
                </c:pt>
                <c:pt idx="234">
                  <c:v>43877</c:v>
                </c:pt>
                <c:pt idx="235">
                  <c:v>43878</c:v>
                </c:pt>
                <c:pt idx="236">
                  <c:v>43879</c:v>
                </c:pt>
                <c:pt idx="237">
                  <c:v>43880</c:v>
                </c:pt>
                <c:pt idx="238">
                  <c:v>43882</c:v>
                </c:pt>
                <c:pt idx="239">
                  <c:v>43883</c:v>
                </c:pt>
                <c:pt idx="240">
                  <c:v>43884</c:v>
                </c:pt>
                <c:pt idx="241">
                  <c:v>43885</c:v>
                </c:pt>
                <c:pt idx="242">
                  <c:v>43886</c:v>
                </c:pt>
                <c:pt idx="243">
                  <c:v>43887</c:v>
                </c:pt>
                <c:pt idx="244">
                  <c:v>43888</c:v>
                </c:pt>
                <c:pt idx="245">
                  <c:v>43889</c:v>
                </c:pt>
                <c:pt idx="246">
                  <c:v>43890</c:v>
                </c:pt>
                <c:pt idx="247">
                  <c:v>43891</c:v>
                </c:pt>
                <c:pt idx="248">
                  <c:v>43892</c:v>
                </c:pt>
                <c:pt idx="249">
                  <c:v>43893</c:v>
                </c:pt>
                <c:pt idx="250">
                  <c:v>43894</c:v>
                </c:pt>
                <c:pt idx="251">
                  <c:v>43895</c:v>
                </c:pt>
                <c:pt idx="252">
                  <c:v>43896</c:v>
                </c:pt>
                <c:pt idx="253">
                  <c:v>43897</c:v>
                </c:pt>
                <c:pt idx="254">
                  <c:v>43898</c:v>
                </c:pt>
                <c:pt idx="255">
                  <c:v>43899</c:v>
                </c:pt>
                <c:pt idx="256">
                  <c:v>43902</c:v>
                </c:pt>
                <c:pt idx="257">
                  <c:v>43903</c:v>
                </c:pt>
                <c:pt idx="258">
                  <c:v>43904</c:v>
                </c:pt>
                <c:pt idx="259">
                  <c:v>43905</c:v>
                </c:pt>
                <c:pt idx="260">
                  <c:v>43906</c:v>
                </c:pt>
                <c:pt idx="261">
                  <c:v>43909</c:v>
                </c:pt>
                <c:pt idx="262">
                  <c:v>43911</c:v>
                </c:pt>
                <c:pt idx="263">
                  <c:v>43912</c:v>
                </c:pt>
                <c:pt idx="264">
                  <c:v>43913</c:v>
                </c:pt>
                <c:pt idx="265">
                  <c:v>43914</c:v>
                </c:pt>
                <c:pt idx="266">
                  <c:v>43915</c:v>
                </c:pt>
                <c:pt idx="267">
                  <c:v>43916</c:v>
                </c:pt>
                <c:pt idx="268">
                  <c:v>43917</c:v>
                </c:pt>
                <c:pt idx="269">
                  <c:v>43918</c:v>
                </c:pt>
                <c:pt idx="270">
                  <c:v>43919</c:v>
                </c:pt>
                <c:pt idx="271">
                  <c:v>43920</c:v>
                </c:pt>
                <c:pt idx="272">
                  <c:v>43921</c:v>
                </c:pt>
                <c:pt idx="273">
                  <c:v>43922</c:v>
                </c:pt>
                <c:pt idx="274">
                  <c:v>43923</c:v>
                </c:pt>
                <c:pt idx="275">
                  <c:v>43924</c:v>
                </c:pt>
                <c:pt idx="276">
                  <c:v>43925</c:v>
                </c:pt>
                <c:pt idx="277">
                  <c:v>43926</c:v>
                </c:pt>
                <c:pt idx="278">
                  <c:v>43927</c:v>
                </c:pt>
                <c:pt idx="279">
                  <c:v>43928</c:v>
                </c:pt>
                <c:pt idx="280">
                  <c:v>43929</c:v>
                </c:pt>
                <c:pt idx="281">
                  <c:v>43930</c:v>
                </c:pt>
                <c:pt idx="282">
                  <c:v>43931</c:v>
                </c:pt>
                <c:pt idx="283">
                  <c:v>43932</c:v>
                </c:pt>
                <c:pt idx="284">
                  <c:v>43933</c:v>
                </c:pt>
                <c:pt idx="285">
                  <c:v>43934</c:v>
                </c:pt>
                <c:pt idx="286">
                  <c:v>43935</c:v>
                </c:pt>
                <c:pt idx="287">
                  <c:v>43936</c:v>
                </c:pt>
                <c:pt idx="288">
                  <c:v>43937</c:v>
                </c:pt>
                <c:pt idx="289">
                  <c:v>43938</c:v>
                </c:pt>
                <c:pt idx="290">
                  <c:v>43939</c:v>
                </c:pt>
                <c:pt idx="291">
                  <c:v>43940</c:v>
                </c:pt>
                <c:pt idx="292">
                  <c:v>43941</c:v>
                </c:pt>
                <c:pt idx="293">
                  <c:v>43942</c:v>
                </c:pt>
                <c:pt idx="294">
                  <c:v>43943</c:v>
                </c:pt>
                <c:pt idx="295">
                  <c:v>43944</c:v>
                </c:pt>
                <c:pt idx="296">
                  <c:v>43945</c:v>
                </c:pt>
                <c:pt idx="297">
                  <c:v>43946</c:v>
                </c:pt>
                <c:pt idx="298">
                  <c:v>43947</c:v>
                </c:pt>
                <c:pt idx="299">
                  <c:v>43948</c:v>
                </c:pt>
                <c:pt idx="300">
                  <c:v>43949</c:v>
                </c:pt>
                <c:pt idx="301">
                  <c:v>43950</c:v>
                </c:pt>
                <c:pt idx="302">
                  <c:v>43951</c:v>
                </c:pt>
                <c:pt idx="303">
                  <c:v>43952</c:v>
                </c:pt>
                <c:pt idx="304">
                  <c:v>43953</c:v>
                </c:pt>
                <c:pt idx="305">
                  <c:v>43954</c:v>
                </c:pt>
                <c:pt idx="306">
                  <c:v>43955</c:v>
                </c:pt>
                <c:pt idx="307">
                  <c:v>43956</c:v>
                </c:pt>
                <c:pt idx="308">
                  <c:v>43957</c:v>
                </c:pt>
                <c:pt idx="309">
                  <c:v>43958</c:v>
                </c:pt>
                <c:pt idx="310">
                  <c:v>43959</c:v>
                </c:pt>
                <c:pt idx="311">
                  <c:v>43960</c:v>
                </c:pt>
                <c:pt idx="312">
                  <c:v>43961</c:v>
                </c:pt>
                <c:pt idx="313">
                  <c:v>43962</c:v>
                </c:pt>
                <c:pt idx="314">
                  <c:v>43963</c:v>
                </c:pt>
                <c:pt idx="315">
                  <c:v>43964</c:v>
                </c:pt>
                <c:pt idx="316">
                  <c:v>43965</c:v>
                </c:pt>
                <c:pt idx="317">
                  <c:v>43966</c:v>
                </c:pt>
                <c:pt idx="318">
                  <c:v>43967</c:v>
                </c:pt>
                <c:pt idx="319">
                  <c:v>43968</c:v>
                </c:pt>
                <c:pt idx="320">
                  <c:v>43969</c:v>
                </c:pt>
                <c:pt idx="321">
                  <c:v>43970</c:v>
                </c:pt>
                <c:pt idx="322">
                  <c:v>43971</c:v>
                </c:pt>
                <c:pt idx="323">
                  <c:v>43972</c:v>
                </c:pt>
                <c:pt idx="324">
                  <c:v>43973</c:v>
                </c:pt>
                <c:pt idx="325">
                  <c:v>43974</c:v>
                </c:pt>
                <c:pt idx="326">
                  <c:v>43975</c:v>
                </c:pt>
                <c:pt idx="327">
                  <c:v>43976</c:v>
                </c:pt>
                <c:pt idx="328">
                  <c:v>43977</c:v>
                </c:pt>
                <c:pt idx="329">
                  <c:v>43978</c:v>
                </c:pt>
                <c:pt idx="330">
                  <c:v>43979</c:v>
                </c:pt>
                <c:pt idx="331">
                  <c:v>43980</c:v>
                </c:pt>
                <c:pt idx="332">
                  <c:v>43981</c:v>
                </c:pt>
                <c:pt idx="333">
                  <c:v>43982</c:v>
                </c:pt>
                <c:pt idx="334">
                  <c:v>43983</c:v>
                </c:pt>
                <c:pt idx="335">
                  <c:v>43984</c:v>
                </c:pt>
                <c:pt idx="336">
                  <c:v>43985</c:v>
                </c:pt>
                <c:pt idx="337">
                  <c:v>43987</c:v>
                </c:pt>
                <c:pt idx="338">
                  <c:v>43988</c:v>
                </c:pt>
                <c:pt idx="339">
                  <c:v>43989</c:v>
                </c:pt>
                <c:pt idx="340">
                  <c:v>43990</c:v>
                </c:pt>
                <c:pt idx="341">
                  <c:v>43991</c:v>
                </c:pt>
                <c:pt idx="342">
                  <c:v>43992</c:v>
                </c:pt>
                <c:pt idx="343">
                  <c:v>43993</c:v>
                </c:pt>
                <c:pt idx="344">
                  <c:v>43994</c:v>
                </c:pt>
                <c:pt idx="345">
                  <c:v>43995</c:v>
                </c:pt>
                <c:pt idx="346">
                  <c:v>43996</c:v>
                </c:pt>
              </c:numCache>
            </c:numRef>
          </c:cat>
          <c:val>
            <c:numRef>
              <c:f>Sheet1!$C$2:$C$348</c:f>
              <c:numCache>
                <c:formatCode>General</c:formatCode>
                <c:ptCount val="347"/>
                <c:pt idx="0">
                  <c:v>30.6</c:v>
                </c:pt>
                <c:pt idx="1">
                  <c:v>30.6</c:v>
                </c:pt>
                <c:pt idx="2">
                  <c:v>32</c:v>
                </c:pt>
                <c:pt idx="3">
                  <c:v>31.3</c:v>
                </c:pt>
                <c:pt idx="4">
                  <c:v>28.2</c:v>
                </c:pt>
                <c:pt idx="5">
                  <c:v>28.7</c:v>
                </c:pt>
                <c:pt idx="6">
                  <c:v>30.5</c:v>
                </c:pt>
                <c:pt idx="7">
                  <c:v>29.8</c:v>
                </c:pt>
                <c:pt idx="8">
                  <c:v>29.8</c:v>
                </c:pt>
                <c:pt idx="9">
                  <c:v>30.3</c:v>
                </c:pt>
                <c:pt idx="10">
                  <c:v>30.5</c:v>
                </c:pt>
                <c:pt idx="11">
                  <c:v>30.5</c:v>
                </c:pt>
                <c:pt idx="12">
                  <c:v>30.4</c:v>
                </c:pt>
                <c:pt idx="13">
                  <c:v>30.6</c:v>
                </c:pt>
                <c:pt idx="14">
                  <c:v>30.4</c:v>
                </c:pt>
                <c:pt idx="15">
                  <c:v>31</c:v>
                </c:pt>
                <c:pt idx="16">
                  <c:v>31</c:v>
                </c:pt>
                <c:pt idx="17">
                  <c:v>31</c:v>
                </c:pt>
                <c:pt idx="18">
                  <c:v>31</c:v>
                </c:pt>
                <c:pt idx="19">
                  <c:v>30.7</c:v>
                </c:pt>
                <c:pt idx="20">
                  <c:v>31</c:v>
                </c:pt>
                <c:pt idx="21">
                  <c:v>31.2</c:v>
                </c:pt>
                <c:pt idx="22">
                  <c:v>31.1</c:v>
                </c:pt>
                <c:pt idx="23">
                  <c:v>31</c:v>
                </c:pt>
                <c:pt idx="24">
                  <c:v>31.1</c:v>
                </c:pt>
                <c:pt idx="25">
                  <c:v>28.7</c:v>
                </c:pt>
                <c:pt idx="26">
                  <c:v>27.8</c:v>
                </c:pt>
                <c:pt idx="27">
                  <c:v>31.3</c:v>
                </c:pt>
                <c:pt idx="28">
                  <c:v>29.6</c:v>
                </c:pt>
                <c:pt idx="29">
                  <c:v>31.7</c:v>
                </c:pt>
                <c:pt idx="30">
                  <c:v>31.7</c:v>
                </c:pt>
                <c:pt idx="31">
                  <c:v>30.7</c:v>
                </c:pt>
                <c:pt idx="32">
                  <c:v>31</c:v>
                </c:pt>
                <c:pt idx="33">
                  <c:v>28</c:v>
                </c:pt>
                <c:pt idx="34">
                  <c:v>30.6</c:v>
                </c:pt>
                <c:pt idx="35">
                  <c:v>30.9</c:v>
                </c:pt>
                <c:pt idx="36">
                  <c:v>31.1</c:v>
                </c:pt>
                <c:pt idx="37">
                  <c:v>31.1</c:v>
                </c:pt>
                <c:pt idx="38">
                  <c:v>31.1</c:v>
                </c:pt>
                <c:pt idx="39">
                  <c:v>31.1</c:v>
                </c:pt>
                <c:pt idx="40">
                  <c:v>31.1</c:v>
                </c:pt>
                <c:pt idx="41">
                  <c:v>31.1</c:v>
                </c:pt>
                <c:pt idx="42">
                  <c:v>31.2</c:v>
                </c:pt>
                <c:pt idx="43">
                  <c:v>31</c:v>
                </c:pt>
                <c:pt idx="44">
                  <c:v>30.8</c:v>
                </c:pt>
                <c:pt idx="45">
                  <c:v>31.1</c:v>
                </c:pt>
                <c:pt idx="46">
                  <c:v>30.9</c:v>
                </c:pt>
                <c:pt idx="47">
                  <c:v>30.6</c:v>
                </c:pt>
                <c:pt idx="48">
                  <c:v>31.1</c:v>
                </c:pt>
                <c:pt idx="49">
                  <c:v>31.1</c:v>
                </c:pt>
                <c:pt idx="50">
                  <c:v>31.2</c:v>
                </c:pt>
                <c:pt idx="51">
                  <c:v>31.1</c:v>
                </c:pt>
                <c:pt idx="52">
                  <c:v>31.8</c:v>
                </c:pt>
                <c:pt idx="53">
                  <c:v>31.5</c:v>
                </c:pt>
                <c:pt idx="54">
                  <c:v>31.5</c:v>
                </c:pt>
                <c:pt idx="55">
                  <c:v>31.4</c:v>
                </c:pt>
                <c:pt idx="56">
                  <c:v>31.2</c:v>
                </c:pt>
                <c:pt idx="57">
                  <c:v>31.4</c:v>
                </c:pt>
                <c:pt idx="58">
                  <c:v>30.9</c:v>
                </c:pt>
                <c:pt idx="59">
                  <c:v>31.3</c:v>
                </c:pt>
                <c:pt idx="60">
                  <c:v>31</c:v>
                </c:pt>
                <c:pt idx="61">
                  <c:v>30.3</c:v>
                </c:pt>
                <c:pt idx="62">
                  <c:v>31.1</c:v>
                </c:pt>
                <c:pt idx="63">
                  <c:v>31.3</c:v>
                </c:pt>
                <c:pt idx="64">
                  <c:v>30.9</c:v>
                </c:pt>
                <c:pt idx="65">
                  <c:v>30.9</c:v>
                </c:pt>
                <c:pt idx="66">
                  <c:v>30.9</c:v>
                </c:pt>
                <c:pt idx="67">
                  <c:v>30.9</c:v>
                </c:pt>
                <c:pt idx="68">
                  <c:v>29.3</c:v>
                </c:pt>
                <c:pt idx="69">
                  <c:v>31</c:v>
                </c:pt>
                <c:pt idx="70">
                  <c:v>30.3</c:v>
                </c:pt>
                <c:pt idx="71">
                  <c:v>31.2</c:v>
                </c:pt>
                <c:pt idx="72">
                  <c:v>31.1</c:v>
                </c:pt>
                <c:pt idx="73">
                  <c:v>31.1</c:v>
                </c:pt>
                <c:pt idx="74">
                  <c:v>31.1</c:v>
                </c:pt>
                <c:pt idx="75">
                  <c:v>31</c:v>
                </c:pt>
                <c:pt idx="76">
                  <c:v>22.3</c:v>
                </c:pt>
                <c:pt idx="77">
                  <c:v>15.7</c:v>
                </c:pt>
                <c:pt idx="78">
                  <c:v>15.9</c:v>
                </c:pt>
                <c:pt idx="79">
                  <c:v>15.7</c:v>
                </c:pt>
                <c:pt idx="80">
                  <c:v>26</c:v>
                </c:pt>
                <c:pt idx="81">
                  <c:v>30.5</c:v>
                </c:pt>
                <c:pt idx="82">
                  <c:v>30.6</c:v>
                </c:pt>
                <c:pt idx="83">
                  <c:v>22</c:v>
                </c:pt>
                <c:pt idx="84">
                  <c:v>15.8</c:v>
                </c:pt>
                <c:pt idx="85">
                  <c:v>15.7</c:v>
                </c:pt>
                <c:pt idx="86">
                  <c:v>15.5</c:v>
                </c:pt>
                <c:pt idx="87">
                  <c:v>14</c:v>
                </c:pt>
                <c:pt idx="88">
                  <c:v>15.6</c:v>
                </c:pt>
                <c:pt idx="89">
                  <c:v>15.8</c:v>
                </c:pt>
                <c:pt idx="90">
                  <c:v>15.6</c:v>
                </c:pt>
                <c:pt idx="91">
                  <c:v>21.9</c:v>
                </c:pt>
                <c:pt idx="92">
                  <c:v>30.2</c:v>
                </c:pt>
                <c:pt idx="93">
                  <c:v>31.2</c:v>
                </c:pt>
                <c:pt idx="94">
                  <c:v>31</c:v>
                </c:pt>
                <c:pt idx="95">
                  <c:v>31.1</c:v>
                </c:pt>
                <c:pt idx="96">
                  <c:v>30.9</c:v>
                </c:pt>
                <c:pt idx="97">
                  <c:v>31.2</c:v>
                </c:pt>
                <c:pt idx="98">
                  <c:v>31.2</c:v>
                </c:pt>
                <c:pt idx="99">
                  <c:v>31.3</c:v>
                </c:pt>
                <c:pt idx="100">
                  <c:v>31.3</c:v>
                </c:pt>
                <c:pt idx="101">
                  <c:v>31.3</c:v>
                </c:pt>
                <c:pt idx="102">
                  <c:v>31.3</c:v>
                </c:pt>
                <c:pt idx="103">
                  <c:v>31.9</c:v>
                </c:pt>
                <c:pt idx="104">
                  <c:v>32.1</c:v>
                </c:pt>
                <c:pt idx="105">
                  <c:v>32.200000000000003</c:v>
                </c:pt>
                <c:pt idx="106">
                  <c:v>32.200000000000003</c:v>
                </c:pt>
                <c:pt idx="107">
                  <c:v>32.200000000000003</c:v>
                </c:pt>
                <c:pt idx="108">
                  <c:v>32.1</c:v>
                </c:pt>
                <c:pt idx="109">
                  <c:v>33.9</c:v>
                </c:pt>
                <c:pt idx="110">
                  <c:v>32.799999999999997</c:v>
                </c:pt>
                <c:pt idx="111">
                  <c:v>32.6</c:v>
                </c:pt>
                <c:pt idx="112">
                  <c:v>33.200000000000003</c:v>
                </c:pt>
                <c:pt idx="113">
                  <c:v>33.9</c:v>
                </c:pt>
                <c:pt idx="114">
                  <c:v>28.8</c:v>
                </c:pt>
                <c:pt idx="115">
                  <c:v>31.1</c:v>
                </c:pt>
                <c:pt idx="116">
                  <c:v>31.9</c:v>
                </c:pt>
                <c:pt idx="117">
                  <c:v>31.9</c:v>
                </c:pt>
                <c:pt idx="118">
                  <c:v>31.9</c:v>
                </c:pt>
                <c:pt idx="119">
                  <c:v>31.1</c:v>
                </c:pt>
                <c:pt idx="120">
                  <c:v>29.9</c:v>
                </c:pt>
                <c:pt idx="121">
                  <c:v>31.8</c:v>
                </c:pt>
                <c:pt idx="122">
                  <c:v>31.5</c:v>
                </c:pt>
                <c:pt idx="123">
                  <c:v>31.6</c:v>
                </c:pt>
                <c:pt idx="124">
                  <c:v>31.6</c:v>
                </c:pt>
                <c:pt idx="125">
                  <c:v>31.7</c:v>
                </c:pt>
                <c:pt idx="126">
                  <c:v>31.8</c:v>
                </c:pt>
                <c:pt idx="127">
                  <c:v>31.8</c:v>
                </c:pt>
                <c:pt idx="128">
                  <c:v>31.6</c:v>
                </c:pt>
                <c:pt idx="129">
                  <c:v>31.6</c:v>
                </c:pt>
                <c:pt idx="130">
                  <c:v>31.5</c:v>
                </c:pt>
                <c:pt idx="131">
                  <c:v>31.7</c:v>
                </c:pt>
                <c:pt idx="132">
                  <c:v>31.6</c:v>
                </c:pt>
                <c:pt idx="133">
                  <c:v>31.7</c:v>
                </c:pt>
                <c:pt idx="134">
                  <c:v>31.6</c:v>
                </c:pt>
                <c:pt idx="135">
                  <c:v>31.6</c:v>
                </c:pt>
                <c:pt idx="136">
                  <c:v>31.7</c:v>
                </c:pt>
                <c:pt idx="137">
                  <c:v>31.7</c:v>
                </c:pt>
                <c:pt idx="138">
                  <c:v>31.7</c:v>
                </c:pt>
                <c:pt idx="139">
                  <c:v>24.9</c:v>
                </c:pt>
                <c:pt idx="140">
                  <c:v>16.7</c:v>
                </c:pt>
                <c:pt idx="141">
                  <c:v>17.100000000000001</c:v>
                </c:pt>
                <c:pt idx="142">
                  <c:v>20.5</c:v>
                </c:pt>
                <c:pt idx="143">
                  <c:v>33</c:v>
                </c:pt>
                <c:pt idx="144">
                  <c:v>30.8</c:v>
                </c:pt>
                <c:pt idx="145">
                  <c:v>29.5</c:v>
                </c:pt>
                <c:pt idx="146">
                  <c:v>31.9</c:v>
                </c:pt>
                <c:pt idx="147">
                  <c:v>31.1</c:v>
                </c:pt>
                <c:pt idx="148">
                  <c:v>32.4</c:v>
                </c:pt>
                <c:pt idx="149">
                  <c:v>32.700000000000003</c:v>
                </c:pt>
                <c:pt idx="150">
                  <c:v>32.5</c:v>
                </c:pt>
                <c:pt idx="151">
                  <c:v>32.700000000000003</c:v>
                </c:pt>
                <c:pt idx="152">
                  <c:v>29.5</c:v>
                </c:pt>
                <c:pt idx="153">
                  <c:v>33.200000000000003</c:v>
                </c:pt>
                <c:pt idx="154">
                  <c:v>31.2</c:v>
                </c:pt>
                <c:pt idx="155">
                  <c:v>32.200000000000003</c:v>
                </c:pt>
                <c:pt idx="156">
                  <c:v>31</c:v>
                </c:pt>
                <c:pt idx="157">
                  <c:v>31.4</c:v>
                </c:pt>
                <c:pt idx="158">
                  <c:v>31.6</c:v>
                </c:pt>
                <c:pt idx="159">
                  <c:v>31.8</c:v>
                </c:pt>
                <c:pt idx="160">
                  <c:v>31.9</c:v>
                </c:pt>
                <c:pt idx="161">
                  <c:v>31.9</c:v>
                </c:pt>
                <c:pt idx="162">
                  <c:v>31.8</c:v>
                </c:pt>
                <c:pt idx="163">
                  <c:v>30.8</c:v>
                </c:pt>
                <c:pt idx="164">
                  <c:v>30.4</c:v>
                </c:pt>
                <c:pt idx="165">
                  <c:v>30.7</c:v>
                </c:pt>
                <c:pt idx="166">
                  <c:v>30.8</c:v>
                </c:pt>
                <c:pt idx="167">
                  <c:v>30.8</c:v>
                </c:pt>
                <c:pt idx="168">
                  <c:v>30.8</c:v>
                </c:pt>
                <c:pt idx="169">
                  <c:v>30.6</c:v>
                </c:pt>
                <c:pt idx="170">
                  <c:v>30.9</c:v>
                </c:pt>
                <c:pt idx="171">
                  <c:v>30.7</c:v>
                </c:pt>
                <c:pt idx="172">
                  <c:v>30.7</c:v>
                </c:pt>
                <c:pt idx="173">
                  <c:v>30.7</c:v>
                </c:pt>
                <c:pt idx="174">
                  <c:v>31.5</c:v>
                </c:pt>
                <c:pt idx="175">
                  <c:v>30.8</c:v>
                </c:pt>
                <c:pt idx="176">
                  <c:v>30.6</c:v>
                </c:pt>
                <c:pt idx="177">
                  <c:v>30.8</c:v>
                </c:pt>
                <c:pt idx="178">
                  <c:v>30.5</c:v>
                </c:pt>
                <c:pt idx="179">
                  <c:v>28.7</c:v>
                </c:pt>
                <c:pt idx="180">
                  <c:v>28.9</c:v>
                </c:pt>
                <c:pt idx="181">
                  <c:v>30</c:v>
                </c:pt>
                <c:pt idx="182">
                  <c:v>28.6</c:v>
                </c:pt>
                <c:pt idx="183">
                  <c:v>27.9</c:v>
                </c:pt>
                <c:pt idx="184">
                  <c:v>29.2</c:v>
                </c:pt>
                <c:pt idx="185">
                  <c:v>28.4</c:v>
                </c:pt>
                <c:pt idx="186">
                  <c:v>29.4</c:v>
                </c:pt>
                <c:pt idx="187">
                  <c:v>28.8</c:v>
                </c:pt>
                <c:pt idx="188">
                  <c:v>29.1</c:v>
                </c:pt>
                <c:pt idx="189">
                  <c:v>29.1</c:v>
                </c:pt>
                <c:pt idx="190">
                  <c:v>29.5</c:v>
                </c:pt>
                <c:pt idx="191">
                  <c:v>8</c:v>
                </c:pt>
                <c:pt idx="192">
                  <c:v>30.4</c:v>
                </c:pt>
                <c:pt idx="193">
                  <c:v>30</c:v>
                </c:pt>
                <c:pt idx="194">
                  <c:v>26</c:v>
                </c:pt>
                <c:pt idx="195">
                  <c:v>16.600000000000001</c:v>
                </c:pt>
                <c:pt idx="196">
                  <c:v>10.9</c:v>
                </c:pt>
                <c:pt idx="197">
                  <c:v>12.5</c:v>
                </c:pt>
                <c:pt idx="198">
                  <c:v>17.600000000000001</c:v>
                </c:pt>
                <c:pt idx="199">
                  <c:v>15.3</c:v>
                </c:pt>
                <c:pt idx="200">
                  <c:v>22.7</c:v>
                </c:pt>
                <c:pt idx="201">
                  <c:v>35.700000000000003</c:v>
                </c:pt>
                <c:pt idx="202">
                  <c:v>33.200000000000003</c:v>
                </c:pt>
                <c:pt idx="203">
                  <c:v>33.700000000000003</c:v>
                </c:pt>
                <c:pt idx="204">
                  <c:v>32.6</c:v>
                </c:pt>
                <c:pt idx="205">
                  <c:v>30.8</c:v>
                </c:pt>
                <c:pt idx="206">
                  <c:v>30.2</c:v>
                </c:pt>
                <c:pt idx="207">
                  <c:v>29.7</c:v>
                </c:pt>
                <c:pt idx="208">
                  <c:v>8</c:v>
                </c:pt>
                <c:pt idx="209">
                  <c:v>0</c:v>
                </c:pt>
                <c:pt idx="210">
                  <c:v>15</c:v>
                </c:pt>
                <c:pt idx="211">
                  <c:v>22.9</c:v>
                </c:pt>
                <c:pt idx="212">
                  <c:v>30</c:v>
                </c:pt>
                <c:pt idx="213">
                  <c:v>31.8</c:v>
                </c:pt>
                <c:pt idx="214">
                  <c:v>30.9</c:v>
                </c:pt>
                <c:pt idx="215">
                  <c:v>31.6</c:v>
                </c:pt>
                <c:pt idx="216">
                  <c:v>32.9</c:v>
                </c:pt>
                <c:pt idx="217">
                  <c:v>32.5</c:v>
                </c:pt>
                <c:pt idx="218">
                  <c:v>26.5</c:v>
                </c:pt>
                <c:pt idx="219">
                  <c:v>30.6</c:v>
                </c:pt>
                <c:pt idx="220">
                  <c:v>30.7</c:v>
                </c:pt>
                <c:pt idx="221">
                  <c:v>32.299999999999997</c:v>
                </c:pt>
                <c:pt idx="222">
                  <c:v>30.6</c:v>
                </c:pt>
                <c:pt idx="223">
                  <c:v>16.899999999999999</c:v>
                </c:pt>
                <c:pt idx="224">
                  <c:v>13.5</c:v>
                </c:pt>
                <c:pt idx="225">
                  <c:v>17.399999999999999</c:v>
                </c:pt>
                <c:pt idx="226">
                  <c:v>14.1</c:v>
                </c:pt>
                <c:pt idx="227">
                  <c:v>33.9</c:v>
                </c:pt>
                <c:pt idx="228">
                  <c:v>32.5</c:v>
                </c:pt>
                <c:pt idx="229">
                  <c:v>31.9</c:v>
                </c:pt>
                <c:pt idx="230">
                  <c:v>30.5</c:v>
                </c:pt>
                <c:pt idx="231">
                  <c:v>22.9</c:v>
                </c:pt>
                <c:pt idx="232">
                  <c:v>15</c:v>
                </c:pt>
                <c:pt idx="233">
                  <c:v>16.600000000000001</c:v>
                </c:pt>
                <c:pt idx="234">
                  <c:v>16.2</c:v>
                </c:pt>
                <c:pt idx="235">
                  <c:v>15.3</c:v>
                </c:pt>
                <c:pt idx="236">
                  <c:v>15.4</c:v>
                </c:pt>
                <c:pt idx="237">
                  <c:v>17.100000000000001</c:v>
                </c:pt>
                <c:pt idx="238">
                  <c:v>16.5</c:v>
                </c:pt>
                <c:pt idx="239">
                  <c:v>16.2</c:v>
                </c:pt>
                <c:pt idx="240">
                  <c:v>1.9</c:v>
                </c:pt>
                <c:pt idx="241">
                  <c:v>12.4</c:v>
                </c:pt>
                <c:pt idx="242">
                  <c:v>1.8</c:v>
                </c:pt>
                <c:pt idx="243">
                  <c:v>7.6</c:v>
                </c:pt>
                <c:pt idx="244">
                  <c:v>14.9</c:v>
                </c:pt>
                <c:pt idx="245">
                  <c:v>16.5</c:v>
                </c:pt>
                <c:pt idx="246">
                  <c:v>20.100000000000001</c:v>
                </c:pt>
                <c:pt idx="247">
                  <c:v>18.2</c:v>
                </c:pt>
                <c:pt idx="248">
                  <c:v>22.6</c:v>
                </c:pt>
                <c:pt idx="249">
                  <c:v>31.1</c:v>
                </c:pt>
                <c:pt idx="250">
                  <c:v>20.9</c:v>
                </c:pt>
                <c:pt idx="251">
                  <c:v>31.7</c:v>
                </c:pt>
                <c:pt idx="252">
                  <c:v>33.6</c:v>
                </c:pt>
                <c:pt idx="253">
                  <c:v>31.4</c:v>
                </c:pt>
                <c:pt idx="254">
                  <c:v>33.200000000000003</c:v>
                </c:pt>
                <c:pt idx="255">
                  <c:v>28.8</c:v>
                </c:pt>
                <c:pt idx="256">
                  <c:v>33.799999999999997</c:v>
                </c:pt>
                <c:pt idx="257">
                  <c:v>32.4</c:v>
                </c:pt>
                <c:pt idx="258">
                  <c:v>34.1</c:v>
                </c:pt>
                <c:pt idx="259">
                  <c:v>33.5</c:v>
                </c:pt>
                <c:pt idx="260">
                  <c:v>33</c:v>
                </c:pt>
                <c:pt idx="261">
                  <c:v>33.799999999999997</c:v>
                </c:pt>
                <c:pt idx="262">
                  <c:v>32.9</c:v>
                </c:pt>
                <c:pt idx="263">
                  <c:v>31.8</c:v>
                </c:pt>
                <c:pt idx="264">
                  <c:v>29.1</c:v>
                </c:pt>
                <c:pt idx="265">
                  <c:v>31.3</c:v>
                </c:pt>
                <c:pt idx="266">
                  <c:v>33.6</c:v>
                </c:pt>
                <c:pt idx="267">
                  <c:v>33.299999999999997</c:v>
                </c:pt>
                <c:pt idx="268">
                  <c:v>33.700000000000003</c:v>
                </c:pt>
                <c:pt idx="269">
                  <c:v>33.299999999999997</c:v>
                </c:pt>
                <c:pt idx="270">
                  <c:v>33.299999999999997</c:v>
                </c:pt>
                <c:pt idx="271">
                  <c:v>33.5</c:v>
                </c:pt>
                <c:pt idx="272">
                  <c:v>32.799999999999997</c:v>
                </c:pt>
                <c:pt idx="273">
                  <c:v>32.799999999999997</c:v>
                </c:pt>
                <c:pt idx="274">
                  <c:v>33.200000000000003</c:v>
                </c:pt>
                <c:pt idx="275">
                  <c:v>33.299999999999997</c:v>
                </c:pt>
                <c:pt idx="276">
                  <c:v>32.799999999999997</c:v>
                </c:pt>
                <c:pt idx="277">
                  <c:v>33</c:v>
                </c:pt>
                <c:pt idx="278">
                  <c:v>32.799999999999997</c:v>
                </c:pt>
                <c:pt idx="279">
                  <c:v>32.799999999999997</c:v>
                </c:pt>
                <c:pt idx="280">
                  <c:v>32.9</c:v>
                </c:pt>
                <c:pt idx="281">
                  <c:v>32.799999999999997</c:v>
                </c:pt>
                <c:pt idx="282">
                  <c:v>33</c:v>
                </c:pt>
                <c:pt idx="283">
                  <c:v>33.5</c:v>
                </c:pt>
                <c:pt idx="284">
                  <c:v>30.2</c:v>
                </c:pt>
                <c:pt idx="285">
                  <c:v>29.5</c:v>
                </c:pt>
                <c:pt idx="286">
                  <c:v>30.7</c:v>
                </c:pt>
                <c:pt idx="287">
                  <c:v>31.5</c:v>
                </c:pt>
                <c:pt idx="288">
                  <c:v>30.9</c:v>
                </c:pt>
                <c:pt idx="289">
                  <c:v>31.9</c:v>
                </c:pt>
                <c:pt idx="290">
                  <c:v>32.200000000000003</c:v>
                </c:pt>
                <c:pt idx="291">
                  <c:v>30.4</c:v>
                </c:pt>
                <c:pt idx="292">
                  <c:v>31.1</c:v>
                </c:pt>
                <c:pt idx="293">
                  <c:v>30.1</c:v>
                </c:pt>
                <c:pt idx="294">
                  <c:v>30.5</c:v>
                </c:pt>
                <c:pt idx="295">
                  <c:v>24.3</c:v>
                </c:pt>
                <c:pt idx="296">
                  <c:v>14.7</c:v>
                </c:pt>
                <c:pt idx="297">
                  <c:v>15.1</c:v>
                </c:pt>
                <c:pt idx="298">
                  <c:v>16.100000000000001</c:v>
                </c:pt>
                <c:pt idx="299">
                  <c:v>16.8</c:v>
                </c:pt>
                <c:pt idx="300">
                  <c:v>16.8</c:v>
                </c:pt>
                <c:pt idx="301">
                  <c:v>16.8</c:v>
                </c:pt>
                <c:pt idx="302">
                  <c:v>16.8</c:v>
                </c:pt>
                <c:pt idx="303">
                  <c:v>16.600000000000001</c:v>
                </c:pt>
                <c:pt idx="304">
                  <c:v>16</c:v>
                </c:pt>
                <c:pt idx="305">
                  <c:v>14.9</c:v>
                </c:pt>
                <c:pt idx="306">
                  <c:v>16.8</c:v>
                </c:pt>
                <c:pt idx="307">
                  <c:v>17</c:v>
                </c:pt>
                <c:pt idx="308">
                  <c:v>12.8</c:v>
                </c:pt>
                <c:pt idx="309">
                  <c:v>14.6</c:v>
                </c:pt>
                <c:pt idx="310">
                  <c:v>16.2</c:v>
                </c:pt>
                <c:pt idx="311">
                  <c:v>16.8</c:v>
                </c:pt>
                <c:pt idx="312">
                  <c:v>16.8</c:v>
                </c:pt>
                <c:pt idx="313">
                  <c:v>15.6</c:v>
                </c:pt>
                <c:pt idx="314">
                  <c:v>14</c:v>
                </c:pt>
                <c:pt idx="315">
                  <c:v>16.899999999999999</c:v>
                </c:pt>
                <c:pt idx="316">
                  <c:v>16.8</c:v>
                </c:pt>
                <c:pt idx="317">
                  <c:v>16.399999999999999</c:v>
                </c:pt>
                <c:pt idx="318">
                  <c:v>17</c:v>
                </c:pt>
                <c:pt idx="319">
                  <c:v>15.8</c:v>
                </c:pt>
                <c:pt idx="320">
                  <c:v>16.8</c:v>
                </c:pt>
                <c:pt idx="321">
                  <c:v>16.7</c:v>
                </c:pt>
                <c:pt idx="322">
                  <c:v>17</c:v>
                </c:pt>
                <c:pt idx="323">
                  <c:v>9.6999999999999993</c:v>
                </c:pt>
                <c:pt idx="324">
                  <c:v>10</c:v>
                </c:pt>
                <c:pt idx="325">
                  <c:v>16.899999999999999</c:v>
                </c:pt>
                <c:pt idx="326">
                  <c:v>16.8</c:v>
                </c:pt>
                <c:pt idx="327">
                  <c:v>15</c:v>
                </c:pt>
                <c:pt idx="328">
                  <c:v>16.8</c:v>
                </c:pt>
                <c:pt idx="329">
                  <c:v>16.8</c:v>
                </c:pt>
                <c:pt idx="330">
                  <c:v>14.5</c:v>
                </c:pt>
                <c:pt idx="331">
                  <c:v>0</c:v>
                </c:pt>
                <c:pt idx="332">
                  <c:v>0</c:v>
                </c:pt>
                <c:pt idx="333">
                  <c:v>0</c:v>
                </c:pt>
                <c:pt idx="334">
                  <c:v>10.4</c:v>
                </c:pt>
                <c:pt idx="335">
                  <c:v>18.3</c:v>
                </c:pt>
                <c:pt idx="336">
                  <c:v>16.2</c:v>
                </c:pt>
                <c:pt idx="337">
                  <c:v>17.899999999999999</c:v>
                </c:pt>
                <c:pt idx="338">
                  <c:v>17.8</c:v>
                </c:pt>
                <c:pt idx="339">
                  <c:v>17.899999999999999</c:v>
                </c:pt>
                <c:pt idx="340">
                  <c:v>17.899999999999999</c:v>
                </c:pt>
                <c:pt idx="341">
                  <c:v>17.7</c:v>
                </c:pt>
                <c:pt idx="342">
                  <c:v>17.899999999999999</c:v>
                </c:pt>
                <c:pt idx="343">
                  <c:v>15.7</c:v>
                </c:pt>
                <c:pt idx="344">
                  <c:v>18.3</c:v>
                </c:pt>
                <c:pt idx="345">
                  <c:v>18.399999999999999</c:v>
                </c:pt>
                <c:pt idx="346">
                  <c:v>18.399999999999999</c:v>
                </c:pt>
              </c:numCache>
            </c:numRef>
          </c:val>
          <c:smooth val="0"/>
          <c:extLst>
            <c:ext xmlns:c16="http://schemas.microsoft.com/office/drawing/2014/chart" uri="{C3380CC4-5D6E-409C-BE32-E72D297353CC}">
              <c16:uniqueId val="{00000001-4DA4-43EF-9618-061B6B26B572}"/>
            </c:ext>
          </c:extLst>
        </c:ser>
        <c:dLbls>
          <c:showLegendKey val="0"/>
          <c:showVal val="0"/>
          <c:showCatName val="0"/>
          <c:showSerName val="0"/>
          <c:showPercent val="0"/>
          <c:showBubbleSize val="0"/>
        </c:dLbls>
        <c:smooth val="0"/>
        <c:axId val="490909120"/>
        <c:axId val="490909776"/>
      </c:lineChart>
      <c:dateAx>
        <c:axId val="490909120"/>
        <c:scaling>
          <c:orientation val="minMax"/>
        </c:scaling>
        <c:delete val="0"/>
        <c:axPos val="b"/>
        <c:numFmt formatCode="m/d/yyyy" sourceLinked="0"/>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n-US"/>
          </a:p>
        </c:txPr>
        <c:crossAx val="490909776"/>
        <c:crosses val="autoZero"/>
        <c:auto val="1"/>
        <c:lblOffset val="100"/>
        <c:baseTimeUnit val="days"/>
      </c:dateAx>
      <c:valAx>
        <c:axId val="490909776"/>
        <c:scaling>
          <c:orientation val="minMax"/>
          <c:max val="35"/>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n-US"/>
          </a:p>
        </c:txPr>
        <c:crossAx val="490909120"/>
        <c:crosses val="autoZero"/>
        <c:crossBetween val="between"/>
      </c:valAx>
      <c:spPr>
        <a:noFill/>
        <a:ln>
          <a:noFill/>
        </a:ln>
        <a:effectLst/>
      </c:spPr>
    </c:plotArea>
    <c:legend>
      <c:legendPos val="b"/>
      <c:layout>
        <c:manualLayout>
          <c:xMode val="edge"/>
          <c:yMode val="edge"/>
          <c:x val="4.268412887169673E-2"/>
          <c:y val="0.91298826463150895"/>
          <c:w val="0.57595347368822691"/>
          <c:h val="8.1778801839520354E-2"/>
        </c:manualLayout>
      </c:layout>
      <c:overlay val="0"/>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800">
          <a:solidFill>
            <a:schemeClr val="tx1"/>
          </a:solidFill>
        </a:defRPr>
      </a:pPr>
      <a:endParaRPr lang="en-US"/>
    </a:p>
  </c:txPr>
  <c:externalData r:id="rId3">
    <c:autoUpdate val="0"/>
  </c:externalData>
  <c:userShapes r:id="rId4"/>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993079584775085E-2"/>
          <c:y val="5.823068309070549E-2"/>
          <c:w val="0.96401384083044983"/>
          <c:h val="0.88353863381858899"/>
        </c:manualLayout>
      </c:layout>
      <c:barChart>
        <c:barDir val="col"/>
        <c:grouping val="clustered"/>
        <c:varyColors val="0"/>
        <c:ser>
          <c:idx val="0"/>
          <c:order val="0"/>
          <c:spPr>
            <a:solidFill>
              <a:srgbClr val="86BC25"/>
            </a:solidFill>
            <a:ln>
              <a:noFill/>
            </a:ln>
          </c:spPr>
          <c:invertIfNegative val="0"/>
          <c:val>
            <c:numRef>
              <c:f>Sheet1!$A$1:$D$1</c:f>
              <c:numCache>
                <c:formatCode>General</c:formatCode>
                <c:ptCount val="4"/>
                <c:pt idx="0">
                  <c:v>56.999999999999993</c:v>
                </c:pt>
                <c:pt idx="1">
                  <c:v>60</c:v>
                </c:pt>
                <c:pt idx="2">
                  <c:v>79</c:v>
                </c:pt>
                <c:pt idx="3">
                  <c:v>76</c:v>
                </c:pt>
              </c:numCache>
            </c:numRef>
          </c:val>
          <c:extLst>
            <c:ext xmlns:c16="http://schemas.microsoft.com/office/drawing/2014/chart" uri="{C3380CC4-5D6E-409C-BE32-E72D297353CC}">
              <c16:uniqueId val="{00000000-AC18-4F18-ACDE-1822DD24D04C}"/>
            </c:ext>
          </c:extLst>
        </c:ser>
        <c:ser>
          <c:idx val="1"/>
          <c:order val="1"/>
          <c:spPr>
            <a:solidFill>
              <a:srgbClr val="046A38"/>
            </a:solidFill>
            <a:ln>
              <a:noFill/>
            </a:ln>
          </c:spPr>
          <c:invertIfNegative val="0"/>
          <c:val>
            <c:numRef>
              <c:f>Sheet1!$A$2:$D$2</c:f>
              <c:numCache>
                <c:formatCode>General</c:formatCode>
                <c:ptCount val="4"/>
                <c:pt idx="0">
                  <c:v>45.9</c:v>
                </c:pt>
                <c:pt idx="1">
                  <c:v>47.54</c:v>
                </c:pt>
                <c:pt idx="2">
                  <c:v>52.180000000000007</c:v>
                </c:pt>
                <c:pt idx="3">
                  <c:v>52.33</c:v>
                </c:pt>
              </c:numCache>
            </c:numRef>
          </c:val>
          <c:extLst>
            <c:ext xmlns:c16="http://schemas.microsoft.com/office/drawing/2014/chart" uri="{C3380CC4-5D6E-409C-BE32-E72D297353CC}">
              <c16:uniqueId val="{00000001-AC18-4F18-ACDE-1822DD24D04C}"/>
            </c:ext>
          </c:extLst>
        </c:ser>
        <c:dLbls>
          <c:showLegendKey val="0"/>
          <c:showVal val="0"/>
          <c:showCatName val="0"/>
          <c:showSerName val="0"/>
          <c:showPercent val="0"/>
          <c:showBubbleSize val="0"/>
        </c:dLbls>
        <c:gapWidth val="150"/>
        <c:axId val="1135043792"/>
        <c:axId val="1"/>
      </c:barChart>
      <c:catAx>
        <c:axId val="1135043792"/>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800">
                <a:latin typeface="+mn-lt"/>
                <a:ea typeface="+mn-ea"/>
                <a:cs typeface="+mn-cs"/>
                <a:sym typeface="+mn-lt"/>
              </a:defRPr>
            </a:pPr>
            <a:endParaRPr lang="en-US"/>
          </a:p>
        </c:txPr>
        <c:crossAx val="1"/>
        <c:crosses val="min"/>
        <c:auto val="0"/>
        <c:lblAlgn val="ctr"/>
        <c:lblOffset val="100"/>
        <c:noMultiLvlLbl val="0"/>
      </c:catAx>
      <c:valAx>
        <c:axId val="1"/>
        <c:scaling>
          <c:orientation val="minMax"/>
          <c:max val="79"/>
          <c:min val="0"/>
        </c:scaling>
        <c:delete val="1"/>
        <c:axPos val="l"/>
        <c:numFmt formatCode="General" sourceLinked="1"/>
        <c:majorTickMark val="out"/>
        <c:minorTickMark val="none"/>
        <c:tickLblPos val="nextTo"/>
        <c:crossAx val="1135043792"/>
        <c:crosses val="min"/>
        <c:crossBetween val="between"/>
      </c:valAx>
    </c:plotArea>
    <c:plotVisOnly val="0"/>
    <c:dispBlanksAs val="gap"/>
    <c:showDLblsOverMax val="1"/>
  </c:chart>
  <c:externalData r:id="rId1">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1428571428571425E-2"/>
          <c:y val="8.027006751687922E-2"/>
          <c:w val="0.8571428571428571"/>
          <c:h val="0.88072018004501129"/>
        </c:manualLayout>
      </c:layout>
      <c:barChart>
        <c:barDir val="col"/>
        <c:grouping val="stacked"/>
        <c:varyColors val="0"/>
        <c:ser>
          <c:idx val="0"/>
          <c:order val="0"/>
          <c:spPr>
            <a:solidFill>
              <a:srgbClr val="86BC25"/>
            </a:solidFill>
            <a:ln>
              <a:noFill/>
            </a:ln>
          </c:spPr>
          <c:invertIfNegative val="0"/>
          <c:dLbls>
            <c:dLbl>
              <c:idx val="0"/>
              <c:layout>
                <c:manualLayout>
                  <c:x val="0"/>
                  <c:y val="-9.0022505626406596E-2"/>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6DED-479B-80AF-BE4717ACD244}"/>
                </c:ext>
              </c:extLst>
            </c:dLbl>
            <c:dLbl>
              <c:idx val="1"/>
              <c:layout>
                <c:manualLayout>
                  <c:x val="0"/>
                  <c:y val="-0.24081020255063765"/>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6DED-479B-80AF-BE4717ACD244}"/>
                </c:ext>
              </c:extLst>
            </c:dLbl>
            <c:dLbl>
              <c:idx val="2"/>
              <c:layout>
                <c:manualLayout>
                  <c:x val="0"/>
                  <c:y val="-0.4816204051012753"/>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6DED-479B-80AF-BE4717ACD24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861</c:v>
                </c:pt>
                <c:pt idx="1">
                  <c:v>3500</c:v>
                </c:pt>
                <c:pt idx="2">
                  <c:v>7706</c:v>
                </c:pt>
              </c:numCache>
            </c:numRef>
          </c:val>
          <c:extLst>
            <c:ext xmlns:c16="http://schemas.microsoft.com/office/drawing/2014/chart" uri="{C3380CC4-5D6E-409C-BE32-E72D297353CC}">
              <c16:uniqueId val="{00000003-6DED-479B-80AF-BE4717ACD244}"/>
            </c:ext>
          </c:extLst>
        </c:ser>
        <c:dLbls>
          <c:showLegendKey val="0"/>
          <c:showVal val="0"/>
          <c:showCatName val="0"/>
          <c:showSerName val="0"/>
          <c:showPercent val="0"/>
          <c:showBubbleSize val="0"/>
        </c:dLbls>
        <c:gapWidth val="150"/>
        <c:overlap val="100"/>
        <c:axId val="595752176"/>
        <c:axId val="1"/>
      </c:barChart>
      <c:catAx>
        <c:axId val="595752176"/>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800">
                <a:latin typeface="+mn-lt"/>
                <a:ea typeface="+mn-ea"/>
                <a:cs typeface="+mn-cs"/>
                <a:sym typeface="+mn-lt"/>
              </a:defRPr>
            </a:pPr>
            <a:endParaRPr lang="en-US"/>
          </a:p>
        </c:txPr>
        <c:crossAx val="1"/>
        <c:crosses val="min"/>
        <c:auto val="0"/>
        <c:lblAlgn val="ctr"/>
        <c:lblOffset val="100"/>
        <c:noMultiLvlLbl val="0"/>
      </c:catAx>
      <c:valAx>
        <c:axId val="1"/>
        <c:scaling>
          <c:orientation val="minMax"/>
          <c:max val="7706"/>
          <c:min val="0"/>
        </c:scaling>
        <c:delete val="1"/>
        <c:axPos val="l"/>
        <c:numFmt formatCode="General" sourceLinked="1"/>
        <c:majorTickMark val="out"/>
        <c:minorTickMark val="none"/>
        <c:tickLblPos val="nextTo"/>
        <c:crossAx val="595752176"/>
        <c:crosses val="min"/>
        <c:crossBetween val="between"/>
      </c:valAx>
    </c:plotArea>
    <c:plotVisOnly val="0"/>
    <c:dispBlanksAs val="gap"/>
    <c:showDLblsOverMax val="1"/>
  </c:chart>
  <c:externalData r:id="rId1">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9714285714285717E-2"/>
          <c:y val="8.027006751687922E-2"/>
          <c:w val="0.94057142857142861"/>
          <c:h val="0.88072018004501129"/>
        </c:manualLayout>
      </c:layout>
      <c:barChart>
        <c:barDir val="col"/>
        <c:grouping val="stacked"/>
        <c:varyColors val="0"/>
        <c:ser>
          <c:idx val="0"/>
          <c:order val="0"/>
          <c:spPr>
            <a:solidFill>
              <a:schemeClr val="accent4"/>
            </a:solidFill>
            <a:ln>
              <a:noFill/>
            </a:ln>
          </c:spPr>
          <c:invertIfNegative val="0"/>
          <c:dLbls>
            <c:dLbl>
              <c:idx val="0"/>
              <c:layout>
                <c:manualLayout>
                  <c:x val="0"/>
                  <c:y val="-5.926481620405101E-2"/>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DDF5-4EAE-A022-B4BAE578FD80}"/>
                </c:ext>
              </c:extLst>
            </c:dLbl>
            <c:dLbl>
              <c:idx val="1"/>
              <c:layout>
                <c:manualLayout>
                  <c:x val="0"/>
                  <c:y val="-0.1072768192048012"/>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DDF5-4EAE-A022-B4BAE578FD80}"/>
                </c:ext>
              </c:extLst>
            </c:dLbl>
            <c:dLbl>
              <c:idx val="2"/>
              <c:layout>
                <c:manualLayout>
                  <c:x val="0"/>
                  <c:y val="-6.4516129032258063E-2"/>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DDF5-4EAE-A022-B4BAE578FD80}"/>
                </c:ext>
              </c:extLst>
            </c:dLbl>
            <c:dLbl>
              <c:idx val="3"/>
              <c:layout>
                <c:manualLayout>
                  <c:x val="0"/>
                  <c:y val="-0.2760690172543136"/>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DDF5-4EAE-A022-B4BAE578FD80}"/>
                </c:ext>
              </c:extLst>
            </c:dLbl>
            <c:dLbl>
              <c:idx val="4"/>
              <c:layout>
                <c:manualLayout>
                  <c:x val="0"/>
                  <c:y val="-0.4816204051012753"/>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DDF5-4EAE-A022-B4BAE578FD8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1000</c:v>
                </c:pt>
                <c:pt idx="1">
                  <c:v>3770</c:v>
                </c:pt>
                <c:pt idx="2">
                  <c:v>1300</c:v>
                </c:pt>
                <c:pt idx="3">
                  <c:v>13385</c:v>
                </c:pt>
                <c:pt idx="4">
                  <c:v>25104</c:v>
                </c:pt>
              </c:numCache>
            </c:numRef>
          </c:val>
          <c:extLst>
            <c:ext xmlns:c16="http://schemas.microsoft.com/office/drawing/2014/chart" uri="{C3380CC4-5D6E-409C-BE32-E72D297353CC}">
              <c16:uniqueId val="{00000005-DDF5-4EAE-A022-B4BAE578FD80}"/>
            </c:ext>
          </c:extLst>
        </c:ser>
        <c:dLbls>
          <c:showLegendKey val="0"/>
          <c:showVal val="0"/>
          <c:showCatName val="0"/>
          <c:showSerName val="0"/>
          <c:showPercent val="0"/>
          <c:showBubbleSize val="0"/>
        </c:dLbls>
        <c:gapWidth val="150"/>
        <c:overlap val="100"/>
        <c:axId val="951109304"/>
        <c:axId val="1"/>
      </c:barChart>
      <c:catAx>
        <c:axId val="951109304"/>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800">
                <a:latin typeface="+mn-lt"/>
                <a:ea typeface="+mn-ea"/>
                <a:cs typeface="+mn-cs"/>
                <a:sym typeface="+mn-lt"/>
              </a:defRPr>
            </a:pPr>
            <a:endParaRPr lang="en-US"/>
          </a:p>
        </c:txPr>
        <c:crossAx val="1"/>
        <c:crosses val="min"/>
        <c:auto val="0"/>
        <c:lblAlgn val="ctr"/>
        <c:lblOffset val="100"/>
        <c:noMultiLvlLbl val="0"/>
      </c:catAx>
      <c:valAx>
        <c:axId val="1"/>
        <c:scaling>
          <c:orientation val="minMax"/>
          <c:max val="25104"/>
          <c:min val="0"/>
        </c:scaling>
        <c:delete val="1"/>
        <c:axPos val="l"/>
        <c:numFmt formatCode="General" sourceLinked="1"/>
        <c:majorTickMark val="out"/>
        <c:minorTickMark val="none"/>
        <c:tickLblPos val="nextTo"/>
        <c:crossAx val="951109304"/>
        <c:crosses val="min"/>
        <c:crossBetween val="between"/>
      </c:valAx>
    </c:plotArea>
    <c:plotVisOnly val="0"/>
    <c:dispBlanksAs val="gap"/>
    <c:showDLblsOverMax val="1"/>
  </c:chart>
  <c:externalData r:id="rId1">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109697933227345"/>
          <c:y val="4.7662694775435381E-2"/>
          <c:w val="0.87249602543720195"/>
          <c:h val="0.9037580201649863"/>
        </c:manualLayout>
      </c:layout>
      <c:barChart>
        <c:barDir val="col"/>
        <c:grouping val="clustered"/>
        <c:varyColors val="0"/>
        <c:ser>
          <c:idx val="0"/>
          <c:order val="0"/>
          <c:spPr>
            <a:solidFill>
              <a:srgbClr val="86BC25"/>
            </a:solidFill>
            <a:ln>
              <a:noFill/>
            </a:ln>
          </c:spPr>
          <c:invertIfNegative val="0"/>
          <c:val>
            <c:numRef>
              <c:f>Sheet1!$A$1:$J$1</c:f>
              <c:numCache>
                <c:formatCode>General</c:formatCode>
                <c:ptCount val="10"/>
                <c:pt idx="0">
                  <c:v>0</c:v>
                </c:pt>
                <c:pt idx="1">
                  <c:v>0</c:v>
                </c:pt>
                <c:pt idx="2">
                  <c:v>0</c:v>
                </c:pt>
                <c:pt idx="3">
                  <c:v>0</c:v>
                </c:pt>
                <c:pt idx="4">
                  <c:v>500</c:v>
                </c:pt>
                <c:pt idx="5">
                  <c:v>500</c:v>
                </c:pt>
                <c:pt idx="6">
                  <c:v>500</c:v>
                </c:pt>
                <c:pt idx="7">
                  <c:v>500</c:v>
                </c:pt>
                <c:pt idx="8">
                  <c:v>500</c:v>
                </c:pt>
                <c:pt idx="9">
                  <c:v>1000</c:v>
                </c:pt>
              </c:numCache>
            </c:numRef>
          </c:val>
          <c:extLst>
            <c:ext xmlns:c16="http://schemas.microsoft.com/office/drawing/2014/chart" uri="{C3380CC4-5D6E-409C-BE32-E72D297353CC}">
              <c16:uniqueId val="{00000000-4087-4048-8384-9687B6777FB6}"/>
            </c:ext>
          </c:extLst>
        </c:ser>
        <c:ser>
          <c:idx val="1"/>
          <c:order val="1"/>
          <c:spPr>
            <a:solidFill>
              <a:srgbClr val="046A38"/>
            </a:solidFill>
            <a:ln>
              <a:noFill/>
            </a:ln>
          </c:spPr>
          <c:invertIfNegative val="0"/>
          <c:val>
            <c:numRef>
              <c:f>Sheet1!$A$2:$J$2</c:f>
              <c:numCache>
                <c:formatCode>General</c:formatCode>
                <c:ptCount val="10"/>
                <c:pt idx="0">
                  <c:v>0</c:v>
                </c:pt>
                <c:pt idx="1">
                  <c:v>0</c:v>
                </c:pt>
                <c:pt idx="2">
                  <c:v>0</c:v>
                </c:pt>
                <c:pt idx="3">
                  <c:v>0</c:v>
                </c:pt>
                <c:pt idx="4">
                  <c:v>0</c:v>
                </c:pt>
                <c:pt idx="5">
                  <c:v>520</c:v>
                </c:pt>
                <c:pt idx="6">
                  <c:v>520</c:v>
                </c:pt>
                <c:pt idx="7">
                  <c:v>1560</c:v>
                </c:pt>
                <c:pt idx="8">
                  <c:v>2600</c:v>
                </c:pt>
                <c:pt idx="9">
                  <c:v>3120</c:v>
                </c:pt>
              </c:numCache>
            </c:numRef>
          </c:val>
          <c:extLst>
            <c:ext xmlns:c16="http://schemas.microsoft.com/office/drawing/2014/chart" uri="{C3380CC4-5D6E-409C-BE32-E72D297353CC}">
              <c16:uniqueId val="{00000001-4087-4048-8384-9687B6777FB6}"/>
            </c:ext>
          </c:extLst>
        </c:ser>
        <c:ser>
          <c:idx val="2"/>
          <c:order val="2"/>
          <c:spPr>
            <a:solidFill>
              <a:srgbClr val="62B5E5"/>
            </a:solidFill>
            <a:ln>
              <a:noFill/>
            </a:ln>
          </c:spPr>
          <c:invertIfNegative val="0"/>
          <c:val>
            <c:numRef>
              <c:f>Sheet1!$A$3:$J$3</c:f>
              <c:numCache>
                <c:formatCode>General</c:formatCode>
                <c:ptCount val="10"/>
                <c:pt idx="0">
                  <c:v>0</c:v>
                </c:pt>
                <c:pt idx="1">
                  <c:v>0</c:v>
                </c:pt>
                <c:pt idx="2">
                  <c:v>0</c:v>
                </c:pt>
                <c:pt idx="3">
                  <c:v>0</c:v>
                </c:pt>
                <c:pt idx="4">
                  <c:v>0</c:v>
                </c:pt>
                <c:pt idx="5">
                  <c:v>0</c:v>
                </c:pt>
                <c:pt idx="6">
                  <c:v>0</c:v>
                </c:pt>
                <c:pt idx="7">
                  <c:v>650</c:v>
                </c:pt>
                <c:pt idx="8">
                  <c:v>650</c:v>
                </c:pt>
                <c:pt idx="9">
                  <c:v>650</c:v>
                </c:pt>
              </c:numCache>
            </c:numRef>
          </c:val>
          <c:extLst>
            <c:ext xmlns:c16="http://schemas.microsoft.com/office/drawing/2014/chart" uri="{C3380CC4-5D6E-409C-BE32-E72D297353CC}">
              <c16:uniqueId val="{00000002-4087-4048-8384-9687B6777FB6}"/>
            </c:ext>
          </c:extLst>
        </c:ser>
        <c:ser>
          <c:idx val="3"/>
          <c:order val="3"/>
          <c:spPr>
            <a:solidFill>
              <a:srgbClr val="012169"/>
            </a:solidFill>
            <a:ln>
              <a:noFill/>
            </a:ln>
          </c:spPr>
          <c:invertIfNegative val="0"/>
          <c:val>
            <c:numRef>
              <c:f>Sheet1!$A$4:$J$4</c:f>
              <c:numCache>
                <c:formatCode>General</c:formatCode>
                <c:ptCount val="10"/>
                <c:pt idx="0">
                  <c:v>6300</c:v>
                </c:pt>
                <c:pt idx="1">
                  <c:v>6675</c:v>
                </c:pt>
                <c:pt idx="2">
                  <c:v>6675</c:v>
                </c:pt>
                <c:pt idx="3">
                  <c:v>6975</c:v>
                </c:pt>
                <c:pt idx="4">
                  <c:v>8775</c:v>
                </c:pt>
                <c:pt idx="5">
                  <c:v>9075</c:v>
                </c:pt>
                <c:pt idx="6">
                  <c:v>9375</c:v>
                </c:pt>
                <c:pt idx="7">
                  <c:v>9675</c:v>
                </c:pt>
                <c:pt idx="8">
                  <c:v>10275</c:v>
                </c:pt>
                <c:pt idx="9">
                  <c:v>11475</c:v>
                </c:pt>
              </c:numCache>
            </c:numRef>
          </c:val>
          <c:extLst>
            <c:ext xmlns:c16="http://schemas.microsoft.com/office/drawing/2014/chart" uri="{C3380CC4-5D6E-409C-BE32-E72D297353CC}">
              <c16:uniqueId val="{00000003-4087-4048-8384-9687B6777FB6}"/>
            </c:ext>
          </c:extLst>
        </c:ser>
        <c:ser>
          <c:idx val="4"/>
          <c:order val="4"/>
          <c:spPr>
            <a:solidFill>
              <a:srgbClr val="0097A9"/>
            </a:solidFill>
            <a:ln>
              <a:noFill/>
            </a:ln>
          </c:spPr>
          <c:invertIfNegative val="0"/>
          <c:val>
            <c:numRef>
              <c:f>Sheet1!$A$5:$J$5</c:f>
              <c:numCache>
                <c:formatCode>General</c:formatCode>
                <c:ptCount val="10"/>
                <c:pt idx="0">
                  <c:v>7844</c:v>
                </c:pt>
                <c:pt idx="1">
                  <c:v>8437</c:v>
                </c:pt>
                <c:pt idx="2">
                  <c:v>8727</c:v>
                </c:pt>
                <c:pt idx="3">
                  <c:v>9705</c:v>
                </c:pt>
                <c:pt idx="4">
                  <c:v>10714.3</c:v>
                </c:pt>
                <c:pt idx="5">
                  <c:v>11963.72</c:v>
                </c:pt>
                <c:pt idx="6">
                  <c:v>12655.5</c:v>
                </c:pt>
                <c:pt idx="7">
                  <c:v>14154.5</c:v>
                </c:pt>
                <c:pt idx="8">
                  <c:v>16597.900000000001</c:v>
                </c:pt>
                <c:pt idx="9">
                  <c:v>19907</c:v>
                </c:pt>
              </c:numCache>
            </c:numRef>
          </c:val>
          <c:extLst>
            <c:ext xmlns:c16="http://schemas.microsoft.com/office/drawing/2014/chart" uri="{C3380CC4-5D6E-409C-BE32-E72D297353CC}">
              <c16:uniqueId val="{00000004-4087-4048-8384-9687B6777FB6}"/>
            </c:ext>
          </c:extLst>
        </c:ser>
        <c:dLbls>
          <c:showLegendKey val="0"/>
          <c:showVal val="0"/>
          <c:showCatName val="0"/>
          <c:showSerName val="0"/>
          <c:showPercent val="0"/>
          <c:showBubbleSize val="0"/>
        </c:dLbls>
        <c:gapWidth val="150"/>
        <c:axId val="725510544"/>
        <c:axId val="1"/>
      </c:barChart>
      <c:catAx>
        <c:axId val="725510544"/>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800">
                <a:latin typeface="+mn-lt"/>
                <a:ea typeface="+mn-ea"/>
                <a:cs typeface="+mn-cs"/>
                <a:sym typeface="+mn-lt"/>
              </a:defRPr>
            </a:pPr>
            <a:endParaRPr lang="en-US"/>
          </a:p>
        </c:txPr>
        <c:crossAx val="1"/>
        <c:crosses val="min"/>
        <c:auto val="0"/>
        <c:lblAlgn val="ctr"/>
        <c:lblOffset val="100"/>
        <c:noMultiLvlLbl val="0"/>
      </c:catAx>
      <c:valAx>
        <c:axId val="1"/>
        <c:scaling>
          <c:orientation val="minMax"/>
          <c:max val="20000"/>
          <c:min val="0"/>
        </c:scaling>
        <c:delete val="0"/>
        <c:axPos val="l"/>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800">
                <a:solidFill>
                  <a:schemeClr val="tx1"/>
                </a:solidFill>
                <a:latin typeface="+mn-lt"/>
                <a:ea typeface="+mn-ea"/>
                <a:cs typeface="+mn-cs"/>
                <a:sym typeface="+mn-lt"/>
              </a:defRPr>
            </a:pPr>
            <a:endParaRPr lang="en-US"/>
          </a:p>
        </c:txPr>
        <c:crossAx val="725510544"/>
        <c:crosses val="min"/>
        <c:crossBetween val="between"/>
        <c:majorUnit val="5000"/>
      </c:valAx>
    </c:plotArea>
    <c:plotVisOnly val="0"/>
    <c:dispBlanksAs val="gap"/>
    <c:showDLblsOverMax val="1"/>
  </c:chart>
  <c:externalData r:id="rId1">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8698309960445882E-2"/>
          <c:y val="5.2472250252270432E-2"/>
          <c:w val="0.96260338007910817"/>
          <c:h val="0.89505549949545915"/>
        </c:manualLayout>
      </c:layout>
      <c:barChart>
        <c:barDir val="col"/>
        <c:grouping val="stacked"/>
        <c:varyColors val="0"/>
        <c:ser>
          <c:idx val="0"/>
          <c:order val="0"/>
          <c:spPr>
            <a:solidFill>
              <a:srgbClr val="86BC25"/>
            </a:solidFill>
            <a:ln>
              <a:noFill/>
            </a:ln>
          </c:spPr>
          <c:invertIfNegative val="0"/>
          <c:val>
            <c:numRef>
              <c:f>Sheet1!$A$1:$D$1</c:f>
              <c:numCache>
                <c:formatCode>General</c:formatCode>
                <c:ptCount val="4"/>
                <c:pt idx="0">
                  <c:v>6.3188550188722603</c:v>
                </c:pt>
                <c:pt idx="1">
                  <c:v>5.8296668761785071</c:v>
                </c:pt>
                <c:pt idx="2">
                  <c:v>5.5153562076336033</c:v>
                </c:pt>
                <c:pt idx="3">
                  <c:v>5.6512554407156967</c:v>
                </c:pt>
              </c:numCache>
            </c:numRef>
          </c:val>
          <c:extLst>
            <c:ext xmlns:c16="http://schemas.microsoft.com/office/drawing/2014/chart" uri="{C3380CC4-5D6E-409C-BE32-E72D297353CC}">
              <c16:uniqueId val="{00000000-9649-4E86-A7E9-2E9E571A1027}"/>
            </c:ext>
          </c:extLst>
        </c:ser>
        <c:dLbls>
          <c:showLegendKey val="0"/>
          <c:showVal val="0"/>
          <c:showCatName val="0"/>
          <c:showSerName val="0"/>
          <c:showPercent val="0"/>
          <c:showBubbleSize val="0"/>
        </c:dLbls>
        <c:gapWidth val="150"/>
        <c:overlap val="100"/>
        <c:axId val="773019328"/>
        <c:axId val="1"/>
      </c:barChart>
      <c:catAx>
        <c:axId val="773019328"/>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6.3188550188722603"/>
          <c:min val="0"/>
        </c:scaling>
        <c:delete val="1"/>
        <c:axPos val="l"/>
        <c:numFmt formatCode="General" sourceLinked="1"/>
        <c:majorTickMark val="out"/>
        <c:minorTickMark val="none"/>
        <c:tickLblPos val="nextTo"/>
        <c:crossAx val="773019328"/>
        <c:crosses val="min"/>
        <c:crossBetween val="between"/>
      </c:valAx>
    </c:plotArea>
    <c:plotVisOnly val="0"/>
    <c:dispBlanksAs val="gap"/>
    <c:showDLblsOverMax val="1"/>
  </c:chart>
  <c:externalData r:id="rId1">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3937823834197E-2"/>
          <c:y val="3.8404726735598228E-2"/>
          <c:w val="0.96632124352331605"/>
          <c:h val="0.92319054652880361"/>
        </c:manualLayout>
      </c:layout>
      <c:barChart>
        <c:barDir val="col"/>
        <c:grouping val="stacked"/>
        <c:varyColors val="0"/>
        <c:ser>
          <c:idx val="0"/>
          <c:order val="0"/>
          <c:spPr>
            <a:solidFill>
              <a:srgbClr val="86BC25"/>
            </a:solidFill>
            <a:ln>
              <a:noFill/>
            </a:ln>
          </c:spPr>
          <c:invertIfNegative val="0"/>
          <c:val>
            <c:numRef>
              <c:f>Sheet1!$A$1:$D$1</c:f>
              <c:numCache>
                <c:formatCode>General</c:formatCode>
                <c:ptCount val="4"/>
                <c:pt idx="0">
                  <c:v>7606.2000000000007</c:v>
                </c:pt>
                <c:pt idx="1">
                  <c:v>10932.58</c:v>
                </c:pt>
                <c:pt idx="2">
                  <c:v>31030.120000000003</c:v>
                </c:pt>
                <c:pt idx="3">
                  <c:v>28015.719999993624</c:v>
                </c:pt>
              </c:numCache>
            </c:numRef>
          </c:val>
          <c:extLst>
            <c:ext xmlns:c16="http://schemas.microsoft.com/office/drawing/2014/chart" uri="{C3380CC4-5D6E-409C-BE32-E72D297353CC}">
              <c16:uniqueId val="{00000000-63D7-4344-AB94-E3348C643449}"/>
            </c:ext>
          </c:extLst>
        </c:ser>
        <c:ser>
          <c:idx val="1"/>
          <c:order val="1"/>
          <c:spPr>
            <a:solidFill>
              <a:srgbClr val="046A38"/>
            </a:solidFill>
            <a:ln>
              <a:noFill/>
            </a:ln>
          </c:spPr>
          <c:invertIfNegative val="0"/>
          <c:val>
            <c:numRef>
              <c:f>Sheet1!$A$2:$D$2</c:f>
              <c:numCache>
                <c:formatCode>General</c:formatCode>
                <c:ptCount val="4"/>
                <c:pt idx="0">
                  <c:v>2220.5866666666661</c:v>
                </c:pt>
                <c:pt idx="1">
                  <c:v>3708.25</c:v>
                </c:pt>
                <c:pt idx="2">
                  <c:v>8767.5900000000038</c:v>
                </c:pt>
                <c:pt idx="3">
                  <c:v>7663.0033333196661</c:v>
                </c:pt>
              </c:numCache>
            </c:numRef>
          </c:val>
          <c:extLst>
            <c:ext xmlns:c16="http://schemas.microsoft.com/office/drawing/2014/chart" uri="{C3380CC4-5D6E-409C-BE32-E72D297353CC}">
              <c16:uniqueId val="{00000001-63D7-4344-AB94-E3348C643449}"/>
            </c:ext>
          </c:extLst>
        </c:ser>
        <c:ser>
          <c:idx val="2"/>
          <c:order val="2"/>
          <c:spPr>
            <a:solidFill>
              <a:srgbClr val="62B5E5"/>
            </a:solidFill>
            <a:ln>
              <a:noFill/>
            </a:ln>
          </c:spPr>
          <c:invertIfNegative val="0"/>
          <c:val>
            <c:numRef>
              <c:f>Sheet1!$A$3:$D$3</c:f>
              <c:numCache>
                <c:formatCode>General</c:formatCode>
                <c:ptCount val="4"/>
                <c:pt idx="0">
                  <c:v>8884.9766666666692</c:v>
                </c:pt>
                <c:pt idx="1">
                  <c:v>12854.139999999998</c:v>
                </c:pt>
                <c:pt idx="2">
                  <c:v>13834.059999999998</c:v>
                </c:pt>
                <c:pt idx="3">
                  <c:v>11945.406666667011</c:v>
                </c:pt>
              </c:numCache>
            </c:numRef>
          </c:val>
          <c:extLst>
            <c:ext xmlns:c16="http://schemas.microsoft.com/office/drawing/2014/chart" uri="{C3380CC4-5D6E-409C-BE32-E72D297353CC}">
              <c16:uniqueId val="{00000002-63D7-4344-AB94-E3348C643449}"/>
            </c:ext>
          </c:extLst>
        </c:ser>
        <c:dLbls>
          <c:showLegendKey val="0"/>
          <c:showVal val="0"/>
          <c:showCatName val="0"/>
          <c:showSerName val="0"/>
          <c:showPercent val="0"/>
          <c:showBubbleSize val="0"/>
        </c:dLbls>
        <c:gapWidth val="80"/>
        <c:overlap val="100"/>
        <c:axId val="545315504"/>
        <c:axId val="1"/>
      </c:barChart>
      <c:catAx>
        <c:axId val="545315504"/>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53631.770000000004"/>
          <c:min val="0"/>
        </c:scaling>
        <c:delete val="1"/>
        <c:axPos val="l"/>
        <c:numFmt formatCode="General" sourceLinked="1"/>
        <c:majorTickMark val="out"/>
        <c:minorTickMark val="none"/>
        <c:tickLblPos val="nextTo"/>
        <c:crossAx val="545315504"/>
        <c:crosses val="min"/>
        <c:crossBetween val="between"/>
      </c:valAx>
    </c:plotArea>
    <c:plotVisOnly val="0"/>
    <c:dispBlanksAs val="gap"/>
    <c:showDLblsOverMax val="1"/>
  </c:chart>
  <c:externalData r:id="rId1">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7601202913842376E-2"/>
          <c:y val="3.1871174212072813E-2"/>
          <c:w val="0.87114329154638337"/>
          <c:h val="0.49777912154642795"/>
        </c:manualLayout>
      </c:layout>
      <c:lineChart>
        <c:grouping val="standard"/>
        <c:varyColors val="0"/>
        <c:ser>
          <c:idx val="0"/>
          <c:order val="0"/>
          <c:tx>
            <c:strRef>
              <c:f>Sheet1!$B$1</c:f>
              <c:strCache>
                <c:ptCount val="1"/>
                <c:pt idx="0">
                  <c:v>Brent Crude oil price (USD/BBL)</c:v>
                </c:pt>
              </c:strCache>
            </c:strRef>
          </c:tx>
          <c:spPr>
            <a:ln w="28575" cap="rnd">
              <a:solidFill>
                <a:schemeClr val="accent1"/>
              </a:solidFill>
              <a:round/>
            </a:ln>
            <a:effectLst/>
          </c:spPr>
          <c:marker>
            <c:symbol val="none"/>
          </c:marker>
          <c:cat>
            <c:numRef>
              <c:f>Sheet1!$A$2:$A$31</c:f>
              <c:numCache>
                <c:formatCode>mmm\-yy</c:formatCode>
                <c:ptCount val="30"/>
                <c:pt idx="0">
                  <c:v>43101</c:v>
                </c:pt>
                <c:pt idx="1">
                  <c:v>43132</c:v>
                </c:pt>
                <c:pt idx="2">
                  <c:v>43160</c:v>
                </c:pt>
                <c:pt idx="3">
                  <c:v>43191</c:v>
                </c:pt>
                <c:pt idx="4">
                  <c:v>43221</c:v>
                </c:pt>
                <c:pt idx="5">
                  <c:v>43252</c:v>
                </c:pt>
                <c:pt idx="6">
                  <c:v>43282</c:v>
                </c:pt>
                <c:pt idx="7">
                  <c:v>43313</c:v>
                </c:pt>
                <c:pt idx="8">
                  <c:v>43344</c:v>
                </c:pt>
                <c:pt idx="9">
                  <c:v>43374</c:v>
                </c:pt>
                <c:pt idx="10">
                  <c:v>43405</c:v>
                </c:pt>
                <c:pt idx="11">
                  <c:v>43435</c:v>
                </c:pt>
                <c:pt idx="12">
                  <c:v>43466</c:v>
                </c:pt>
                <c:pt idx="13">
                  <c:v>43497</c:v>
                </c:pt>
                <c:pt idx="14">
                  <c:v>43525</c:v>
                </c:pt>
                <c:pt idx="15">
                  <c:v>43556</c:v>
                </c:pt>
                <c:pt idx="16">
                  <c:v>43586</c:v>
                </c:pt>
                <c:pt idx="17">
                  <c:v>43617</c:v>
                </c:pt>
                <c:pt idx="18">
                  <c:v>43647</c:v>
                </c:pt>
                <c:pt idx="19">
                  <c:v>43678</c:v>
                </c:pt>
                <c:pt idx="20">
                  <c:v>43709</c:v>
                </c:pt>
                <c:pt idx="21">
                  <c:v>43739</c:v>
                </c:pt>
                <c:pt idx="22">
                  <c:v>43770</c:v>
                </c:pt>
                <c:pt idx="23">
                  <c:v>43800</c:v>
                </c:pt>
                <c:pt idx="24">
                  <c:v>43831</c:v>
                </c:pt>
                <c:pt idx="25">
                  <c:v>43862</c:v>
                </c:pt>
                <c:pt idx="26">
                  <c:v>43891</c:v>
                </c:pt>
                <c:pt idx="27">
                  <c:v>43922</c:v>
                </c:pt>
                <c:pt idx="28">
                  <c:v>43952</c:v>
                </c:pt>
                <c:pt idx="29">
                  <c:v>43983</c:v>
                </c:pt>
              </c:numCache>
            </c:numRef>
          </c:cat>
          <c:val>
            <c:numRef>
              <c:f>Sheet1!$B$2:$B$31</c:f>
              <c:numCache>
                <c:formatCode>0.00</c:formatCode>
                <c:ptCount val="30"/>
                <c:pt idx="0">
                  <c:v>69.077272727272714</c:v>
                </c:pt>
                <c:pt idx="1">
                  <c:v>65.277368421052614</c:v>
                </c:pt>
                <c:pt idx="2">
                  <c:v>66.016666666666666</c:v>
                </c:pt>
                <c:pt idx="3">
                  <c:v>72.106000000000009</c:v>
                </c:pt>
                <c:pt idx="4">
                  <c:v>76.975238095238112</c:v>
                </c:pt>
                <c:pt idx="5">
                  <c:v>74.404761904761898</c:v>
                </c:pt>
                <c:pt idx="6">
                  <c:v>74.25409090909092</c:v>
                </c:pt>
                <c:pt idx="7">
                  <c:v>72.52826086956523</c:v>
                </c:pt>
                <c:pt idx="8">
                  <c:v>78.89100000000002</c:v>
                </c:pt>
                <c:pt idx="9">
                  <c:v>81.032173913043479</c:v>
                </c:pt>
                <c:pt idx="10">
                  <c:v>64.74818181818182</c:v>
                </c:pt>
                <c:pt idx="11">
                  <c:v>57.362352941176482</c:v>
                </c:pt>
                <c:pt idx="12">
                  <c:v>59.409545454545452</c:v>
                </c:pt>
                <c:pt idx="13">
                  <c:v>63.960499999999989</c:v>
                </c:pt>
                <c:pt idx="14">
                  <c:v>66.138571428571424</c:v>
                </c:pt>
                <c:pt idx="15">
                  <c:v>71.233333333333334</c:v>
                </c:pt>
                <c:pt idx="16">
                  <c:v>71.317727272727296</c:v>
                </c:pt>
                <c:pt idx="17">
                  <c:v>64.220499999999987</c:v>
                </c:pt>
                <c:pt idx="18">
                  <c:v>63.919130434782595</c:v>
                </c:pt>
                <c:pt idx="19">
                  <c:v>59.041818181818186</c:v>
                </c:pt>
                <c:pt idx="20">
                  <c:v>62.826666666666675</c:v>
                </c:pt>
                <c:pt idx="21">
                  <c:v>59.713043478260865</c:v>
                </c:pt>
                <c:pt idx="22">
                  <c:v>63.211904761904762</c:v>
                </c:pt>
                <c:pt idx="23">
                  <c:v>67.217142857142861</c:v>
                </c:pt>
                <c:pt idx="24">
                  <c:v>63.645454545454534</c:v>
                </c:pt>
                <c:pt idx="25">
                  <c:v>55.657000000000004</c:v>
                </c:pt>
                <c:pt idx="26">
                  <c:v>32.011363636363633</c:v>
                </c:pt>
                <c:pt idx="27">
                  <c:v>18.378500000000003</c:v>
                </c:pt>
              </c:numCache>
            </c:numRef>
          </c:val>
          <c:smooth val="0"/>
          <c:extLst>
            <c:ext xmlns:c16="http://schemas.microsoft.com/office/drawing/2014/chart" uri="{C3380CC4-5D6E-409C-BE32-E72D297353CC}">
              <c16:uniqueId val="{00000000-E036-4A5E-8B5E-4BAF2A7F0F94}"/>
            </c:ext>
          </c:extLst>
        </c:ser>
        <c:dLbls>
          <c:showLegendKey val="0"/>
          <c:showVal val="0"/>
          <c:showCatName val="0"/>
          <c:showSerName val="0"/>
          <c:showPercent val="0"/>
          <c:showBubbleSize val="0"/>
        </c:dLbls>
        <c:marker val="1"/>
        <c:smooth val="0"/>
        <c:axId val="414696864"/>
        <c:axId val="414698832"/>
      </c:lineChart>
      <c:lineChart>
        <c:grouping val="standard"/>
        <c:varyColors val="0"/>
        <c:ser>
          <c:idx val="1"/>
          <c:order val="1"/>
          <c:tx>
            <c:strRef>
              <c:f>Sheet1!$C$1</c:f>
              <c:strCache>
                <c:ptCount val="1"/>
                <c:pt idx="0">
                  <c:v>LNG Landed cost (USD/MMBTU)</c:v>
                </c:pt>
              </c:strCache>
            </c:strRef>
          </c:tx>
          <c:spPr>
            <a:ln w="28575" cap="rnd">
              <a:solidFill>
                <a:schemeClr val="accent2"/>
              </a:solidFill>
              <a:round/>
            </a:ln>
            <a:effectLst/>
          </c:spPr>
          <c:marker>
            <c:symbol val="none"/>
          </c:marker>
          <c:cat>
            <c:numRef>
              <c:f>Sheet1!$A$2:$A$31</c:f>
              <c:numCache>
                <c:formatCode>mmm\-yy</c:formatCode>
                <c:ptCount val="30"/>
                <c:pt idx="0">
                  <c:v>43101</c:v>
                </c:pt>
                <c:pt idx="1">
                  <c:v>43132</c:v>
                </c:pt>
                <c:pt idx="2">
                  <c:v>43160</c:v>
                </c:pt>
                <c:pt idx="3">
                  <c:v>43191</c:v>
                </c:pt>
                <c:pt idx="4">
                  <c:v>43221</c:v>
                </c:pt>
                <c:pt idx="5">
                  <c:v>43252</c:v>
                </c:pt>
                <c:pt idx="6">
                  <c:v>43282</c:v>
                </c:pt>
                <c:pt idx="7">
                  <c:v>43313</c:v>
                </c:pt>
                <c:pt idx="8">
                  <c:v>43344</c:v>
                </c:pt>
                <c:pt idx="9">
                  <c:v>43374</c:v>
                </c:pt>
                <c:pt idx="10">
                  <c:v>43405</c:v>
                </c:pt>
                <c:pt idx="11">
                  <c:v>43435</c:v>
                </c:pt>
                <c:pt idx="12">
                  <c:v>43466</c:v>
                </c:pt>
                <c:pt idx="13">
                  <c:v>43497</c:v>
                </c:pt>
                <c:pt idx="14">
                  <c:v>43525</c:v>
                </c:pt>
                <c:pt idx="15">
                  <c:v>43556</c:v>
                </c:pt>
                <c:pt idx="16">
                  <c:v>43586</c:v>
                </c:pt>
                <c:pt idx="17">
                  <c:v>43617</c:v>
                </c:pt>
                <c:pt idx="18">
                  <c:v>43647</c:v>
                </c:pt>
                <c:pt idx="19">
                  <c:v>43678</c:v>
                </c:pt>
                <c:pt idx="20">
                  <c:v>43709</c:v>
                </c:pt>
                <c:pt idx="21">
                  <c:v>43739</c:v>
                </c:pt>
                <c:pt idx="22">
                  <c:v>43770</c:v>
                </c:pt>
                <c:pt idx="23">
                  <c:v>43800</c:v>
                </c:pt>
                <c:pt idx="24">
                  <c:v>43831</c:v>
                </c:pt>
                <c:pt idx="25">
                  <c:v>43862</c:v>
                </c:pt>
                <c:pt idx="26">
                  <c:v>43891</c:v>
                </c:pt>
                <c:pt idx="27">
                  <c:v>43922</c:v>
                </c:pt>
                <c:pt idx="28">
                  <c:v>43952</c:v>
                </c:pt>
                <c:pt idx="29">
                  <c:v>43983</c:v>
                </c:pt>
              </c:numCache>
            </c:numRef>
          </c:cat>
          <c:val>
            <c:numRef>
              <c:f>Sheet1!$C$2:$C$31</c:f>
              <c:numCache>
                <c:formatCode>General</c:formatCode>
                <c:ptCount val="30"/>
                <c:pt idx="3">
                  <c:v>11.814271779956583</c:v>
                </c:pt>
                <c:pt idx="4">
                  <c:v>11.970642175046578</c:v>
                </c:pt>
                <c:pt idx="5">
                  <c:v>12.574592395040002</c:v>
                </c:pt>
                <c:pt idx="6">
                  <c:v>13.007662014165001</c:v>
                </c:pt>
                <c:pt idx="7">
                  <c:v>13.1185659661875</c:v>
                </c:pt>
                <c:pt idx="8">
                  <c:v>12.888972634362499</c:v>
                </c:pt>
                <c:pt idx="9">
                  <c:v>13.120592968665003</c:v>
                </c:pt>
                <c:pt idx="10">
                  <c:v>13.470539141377499</c:v>
                </c:pt>
                <c:pt idx="11">
                  <c:v>13.068860837077501</c:v>
                </c:pt>
                <c:pt idx="12">
                  <c:v>11.957356649607354</c:v>
                </c:pt>
                <c:pt idx="13">
                  <c:v>10.841000289169852</c:v>
                </c:pt>
                <c:pt idx="14">
                  <c:v>10.800333003533602</c:v>
                </c:pt>
                <c:pt idx="15">
                  <c:v>11.253441067976253</c:v>
                </c:pt>
                <c:pt idx="16">
                  <c:v>11.863892328713751</c:v>
                </c:pt>
                <c:pt idx="17">
                  <c:v>12.243739185762502</c:v>
                </c:pt>
                <c:pt idx="18">
                  <c:v>12.144710927326251</c:v>
                </c:pt>
                <c:pt idx="19">
                  <c:v>11.76708537902625</c:v>
                </c:pt>
                <c:pt idx="20">
                  <c:v>11.133291517188749</c:v>
                </c:pt>
                <c:pt idx="21">
                  <c:v>11.061329188000004</c:v>
                </c:pt>
                <c:pt idx="22">
                  <c:v>10.84417279855</c:v>
                </c:pt>
                <c:pt idx="23">
                  <c:v>11.059470521775003</c:v>
                </c:pt>
                <c:pt idx="24">
                  <c:v>11.286146757274999</c:v>
                </c:pt>
                <c:pt idx="25">
                  <c:v>11.489173513025001</c:v>
                </c:pt>
                <c:pt idx="26">
                  <c:v>11.099120749567501</c:v>
                </c:pt>
                <c:pt idx="27">
                  <c:v>9.2814788457299979</c:v>
                </c:pt>
                <c:pt idx="28">
                  <c:v>6.9443877413137507</c:v>
                </c:pt>
                <c:pt idx="29">
                  <c:v>5.3716592623443749</c:v>
                </c:pt>
              </c:numCache>
            </c:numRef>
          </c:val>
          <c:smooth val="0"/>
          <c:extLst>
            <c:ext xmlns:c16="http://schemas.microsoft.com/office/drawing/2014/chart" uri="{C3380CC4-5D6E-409C-BE32-E72D297353CC}">
              <c16:uniqueId val="{00000003-E036-4A5E-8B5E-4BAF2A7F0F94}"/>
            </c:ext>
          </c:extLst>
        </c:ser>
        <c:dLbls>
          <c:showLegendKey val="0"/>
          <c:showVal val="0"/>
          <c:showCatName val="0"/>
          <c:showSerName val="0"/>
          <c:showPercent val="0"/>
          <c:showBubbleSize val="0"/>
        </c:dLbls>
        <c:marker val="1"/>
        <c:smooth val="0"/>
        <c:axId val="742582880"/>
        <c:axId val="742581240"/>
      </c:lineChart>
      <c:dateAx>
        <c:axId val="414696864"/>
        <c:scaling>
          <c:orientation val="minMax"/>
        </c:scaling>
        <c:delete val="0"/>
        <c:axPos val="b"/>
        <c:numFmt formatCode="mmm\-yy"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414698832"/>
        <c:crosses val="autoZero"/>
        <c:auto val="1"/>
        <c:lblOffset val="100"/>
        <c:baseTimeUnit val="months"/>
        <c:majorUnit val="3"/>
      </c:dateAx>
      <c:valAx>
        <c:axId val="414698832"/>
        <c:scaling>
          <c:orientation val="minMax"/>
          <c:min val="10"/>
        </c:scaling>
        <c:delete val="0"/>
        <c:axPos val="l"/>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414696864"/>
        <c:crosses val="autoZero"/>
        <c:crossBetween val="between"/>
      </c:valAx>
      <c:valAx>
        <c:axId val="742581240"/>
        <c:scaling>
          <c:orientation val="minMax"/>
          <c:min val="3"/>
        </c:scaling>
        <c:delete val="0"/>
        <c:axPos val="r"/>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742582880"/>
        <c:crosses val="max"/>
        <c:crossBetween val="between"/>
      </c:valAx>
      <c:dateAx>
        <c:axId val="742582880"/>
        <c:scaling>
          <c:orientation val="minMax"/>
        </c:scaling>
        <c:delete val="1"/>
        <c:axPos val="b"/>
        <c:numFmt formatCode="mmm\-yy" sourceLinked="1"/>
        <c:majorTickMark val="out"/>
        <c:minorTickMark val="none"/>
        <c:tickLblPos val="nextTo"/>
        <c:crossAx val="742581240"/>
        <c:crosses val="autoZero"/>
        <c:auto val="1"/>
        <c:lblOffset val="100"/>
        <c:baseTimeUnit val="months"/>
      </c:dateAx>
      <c:spPr>
        <a:noFill/>
        <a:ln>
          <a:noFill/>
        </a:ln>
        <a:effectLst/>
      </c:spPr>
    </c:plotArea>
    <c:legend>
      <c:legendPos val="b"/>
      <c:layout>
        <c:manualLayout>
          <c:xMode val="edge"/>
          <c:yMode val="edge"/>
          <c:x val="4.9999925229124664E-2"/>
          <c:y val="0.85443514644351459"/>
          <c:w val="0.89999993591067828"/>
          <c:h val="0.14556470373731684"/>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900">
          <a:solidFill>
            <a:schemeClr val="tx1"/>
          </a:solidFill>
        </a:defRPr>
      </a:pPr>
      <a:endParaRPr lang="en-US"/>
    </a:p>
  </c:txPr>
  <c:externalData r:id="rId3">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000" b="1" i="0" u="none" strike="noStrike" kern="1200" spc="0" baseline="0">
                <a:solidFill>
                  <a:schemeClr val="tx1"/>
                </a:solidFill>
                <a:latin typeface="+mn-lt"/>
                <a:ea typeface="+mn-ea"/>
                <a:cs typeface="+mn-cs"/>
              </a:defRPr>
            </a:pPr>
            <a:r>
              <a:rPr lang="en-US" sz="1000" b="1" baseline="0" dirty="0">
                <a:solidFill>
                  <a:schemeClr val="tx1"/>
                </a:solidFill>
              </a:rPr>
              <a:t>Crude Oil Price Forecast ($/BBL)</a:t>
            </a:r>
            <a:endParaRPr lang="en-IN" sz="1000" b="1" dirty="0">
              <a:solidFill>
                <a:schemeClr val="tx1"/>
              </a:solidFill>
            </a:endParaRPr>
          </a:p>
        </c:rich>
      </c:tx>
      <c:overlay val="0"/>
      <c:spPr>
        <a:noFill/>
        <a:ln>
          <a:noFill/>
        </a:ln>
        <a:effectLst/>
      </c:spPr>
      <c:txPr>
        <a:bodyPr rot="0" spcFirstLastPara="1" vertOverflow="ellipsis" vert="horz" wrap="square" anchor="ctr" anchorCtr="1"/>
        <a:lstStyle/>
        <a:p>
          <a:pPr>
            <a:defRPr sz="1000" b="1" i="0" u="none" strike="noStrike" kern="1200" spc="0" baseline="0">
              <a:solidFill>
                <a:schemeClr val="tx1"/>
              </a:solidFill>
              <a:latin typeface="+mn-lt"/>
              <a:ea typeface="+mn-ea"/>
              <a:cs typeface="+mn-cs"/>
            </a:defRPr>
          </a:pPr>
          <a:endParaRPr lang="en-US"/>
        </a:p>
      </c:txPr>
    </c:title>
    <c:autoTitleDeleted val="0"/>
    <c:plotArea>
      <c:layout/>
      <c:lineChart>
        <c:grouping val="standard"/>
        <c:varyColors val="0"/>
        <c:ser>
          <c:idx val="0"/>
          <c:order val="0"/>
          <c:tx>
            <c:strRef>
              <c:f>Sheet1!$B$1</c:f>
              <c:strCache>
                <c:ptCount val="1"/>
                <c:pt idx="0">
                  <c:v>World Bank</c:v>
                </c:pt>
              </c:strCache>
            </c:strRef>
          </c:tx>
          <c:spPr>
            <a:ln w="28575" cap="rnd">
              <a:solidFill>
                <a:schemeClr val="accent1"/>
              </a:solidFill>
              <a:round/>
            </a:ln>
            <a:effectLst/>
          </c:spPr>
          <c:marker>
            <c:symbol val="circle"/>
            <c:size val="5"/>
            <c:spPr>
              <a:solidFill>
                <a:schemeClr val="accent1"/>
              </a:solidFill>
              <a:ln w="9525">
                <a:solidFill>
                  <a:schemeClr val="accent1"/>
                </a:solidFill>
              </a:ln>
              <a:effectLst/>
            </c:spPr>
          </c:marker>
          <c:dLbls>
            <c:dLbl>
              <c:idx val="0"/>
              <c:layout>
                <c:manualLayout>
                  <c:x val="-6.6556852760881885E-2"/>
                  <c:y val="-4.811826501981657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20C-44D5-A38A-AE5C81993863}"/>
                </c:ext>
              </c:extLst>
            </c:dLbl>
            <c:dLbl>
              <c:idx val="1"/>
              <c:layout>
                <c:manualLayout>
                  <c:x val="1.0178387877019685E-2"/>
                  <c:y val="4.404760572843544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20C-44D5-A38A-AE5C81993863}"/>
                </c:ext>
              </c:extLst>
            </c:dLbl>
            <c:numFmt formatCode="#,##0" sourceLinked="0"/>
            <c:spPr>
              <a:solidFill>
                <a:schemeClr val="accent1"/>
              </a:solid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bg1"/>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Sheet1!$A$2:$A$10</c:f>
              <c:strCache>
                <c:ptCount val="9"/>
                <c:pt idx="0">
                  <c:v>FY19</c:v>
                </c:pt>
                <c:pt idx="1">
                  <c:v>FY20</c:v>
                </c:pt>
                <c:pt idx="2">
                  <c:v>FY21 (P)</c:v>
                </c:pt>
                <c:pt idx="3">
                  <c:v>FY22 (P)</c:v>
                </c:pt>
                <c:pt idx="4">
                  <c:v>FY23 (P)</c:v>
                </c:pt>
                <c:pt idx="5">
                  <c:v>FY24 (P)</c:v>
                </c:pt>
                <c:pt idx="6">
                  <c:v>FY25 (P)</c:v>
                </c:pt>
                <c:pt idx="7">
                  <c:v>FY26 (P)</c:v>
                </c:pt>
                <c:pt idx="8">
                  <c:v>FY30 (P)</c:v>
                </c:pt>
              </c:strCache>
            </c:strRef>
          </c:cat>
          <c:val>
            <c:numRef>
              <c:f>Sheet1!$B$2:$B$10</c:f>
              <c:numCache>
                <c:formatCode>General</c:formatCode>
                <c:ptCount val="9"/>
                <c:pt idx="0">
                  <c:v>61.4</c:v>
                </c:pt>
                <c:pt idx="1">
                  <c:v>35</c:v>
                </c:pt>
                <c:pt idx="2">
                  <c:v>42</c:v>
                </c:pt>
                <c:pt idx="3">
                  <c:v>44.5</c:v>
                </c:pt>
                <c:pt idx="4">
                  <c:v>47</c:v>
                </c:pt>
                <c:pt idx="5">
                  <c:v>49.8</c:v>
                </c:pt>
                <c:pt idx="6">
                  <c:v>52.7</c:v>
                </c:pt>
                <c:pt idx="7">
                  <c:v>55.778681300000002</c:v>
                </c:pt>
                <c:pt idx="8">
                  <c:v>70</c:v>
                </c:pt>
              </c:numCache>
            </c:numRef>
          </c:val>
          <c:smooth val="0"/>
          <c:extLst>
            <c:ext xmlns:c16="http://schemas.microsoft.com/office/drawing/2014/chart" uri="{C3380CC4-5D6E-409C-BE32-E72D297353CC}">
              <c16:uniqueId val="{00000000-7506-4A33-AC2B-0C53E1A55BB4}"/>
            </c:ext>
          </c:extLst>
        </c:ser>
        <c:ser>
          <c:idx val="1"/>
          <c:order val="1"/>
          <c:tx>
            <c:strRef>
              <c:f>Sheet1!$C$1</c:f>
              <c:strCache>
                <c:ptCount val="1"/>
                <c:pt idx="0">
                  <c:v>EIA</c:v>
                </c:pt>
              </c:strCache>
            </c:strRef>
          </c:tx>
          <c:spPr>
            <a:ln w="28575" cap="rnd">
              <a:solidFill>
                <a:schemeClr val="accent2"/>
              </a:solidFill>
              <a:round/>
            </a:ln>
            <a:effectLst/>
          </c:spPr>
          <c:marker>
            <c:symbol val="circle"/>
            <c:size val="5"/>
            <c:spPr>
              <a:solidFill>
                <a:schemeClr val="accent2"/>
              </a:solidFill>
              <a:ln w="9525">
                <a:solidFill>
                  <a:schemeClr val="accent2"/>
                </a:solidFill>
              </a:ln>
              <a:effectLst/>
            </c:spPr>
          </c:marker>
          <c:dLbls>
            <c:dLbl>
              <c:idx val="0"/>
              <c:layout>
                <c:manualLayout>
                  <c:x val="-7.9643351459907266E-2"/>
                  <c:y val="4.811826501981657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20C-44D5-A38A-AE5C81993863}"/>
                </c:ext>
              </c:extLst>
            </c:dLbl>
            <c:dLbl>
              <c:idx val="1"/>
              <c:layout>
                <c:manualLayout>
                  <c:x val="-2.3096752143130957E-2"/>
                  <c:y val="-7.092931803000894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20C-44D5-A38A-AE5C81993863}"/>
                </c:ext>
              </c:extLst>
            </c:dLbl>
            <c:dLbl>
              <c:idx val="2"/>
              <c:layout>
                <c:manualLayout>
                  <c:x val="-7.6950656254346481E-2"/>
                  <c:y val="-4.788785034294593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520C-44D5-A38A-AE5C81993863}"/>
                </c:ext>
              </c:extLst>
            </c:dLbl>
            <c:numFmt formatCode="#,##0" sourceLinked="0"/>
            <c:spPr>
              <a:solidFill>
                <a:schemeClr val="accent2"/>
              </a:solid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bg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Sheet1!$A$2:$A$10</c:f>
              <c:strCache>
                <c:ptCount val="9"/>
                <c:pt idx="0">
                  <c:v>FY19</c:v>
                </c:pt>
                <c:pt idx="1">
                  <c:v>FY20</c:v>
                </c:pt>
                <c:pt idx="2">
                  <c:v>FY21 (P)</c:v>
                </c:pt>
                <c:pt idx="3">
                  <c:v>FY22 (P)</c:v>
                </c:pt>
                <c:pt idx="4">
                  <c:v>FY23 (P)</c:v>
                </c:pt>
                <c:pt idx="5">
                  <c:v>FY24 (P)</c:v>
                </c:pt>
                <c:pt idx="6">
                  <c:v>FY25 (P)</c:v>
                </c:pt>
                <c:pt idx="7">
                  <c:v>FY26 (P)</c:v>
                </c:pt>
                <c:pt idx="8">
                  <c:v>FY30 (P)</c:v>
                </c:pt>
              </c:strCache>
            </c:strRef>
          </c:cat>
          <c:val>
            <c:numRef>
              <c:f>Sheet1!$C$2:$C$10</c:f>
              <c:numCache>
                <c:formatCode>General</c:formatCode>
                <c:ptCount val="9"/>
                <c:pt idx="0">
                  <c:v>57.02</c:v>
                </c:pt>
                <c:pt idx="1">
                  <c:v>35.14</c:v>
                </c:pt>
                <c:pt idx="2">
                  <c:v>43.88</c:v>
                </c:pt>
              </c:numCache>
            </c:numRef>
          </c:val>
          <c:smooth val="0"/>
          <c:extLst>
            <c:ext xmlns:c16="http://schemas.microsoft.com/office/drawing/2014/chart" uri="{C3380CC4-5D6E-409C-BE32-E72D297353CC}">
              <c16:uniqueId val="{00000001-7506-4A33-AC2B-0C53E1A55BB4}"/>
            </c:ext>
          </c:extLst>
        </c:ser>
        <c:dLbls>
          <c:showLegendKey val="0"/>
          <c:showVal val="0"/>
          <c:showCatName val="0"/>
          <c:showSerName val="0"/>
          <c:showPercent val="0"/>
          <c:showBubbleSize val="0"/>
        </c:dLbls>
        <c:marker val="1"/>
        <c:smooth val="0"/>
        <c:axId val="872199536"/>
        <c:axId val="872208392"/>
      </c:lineChart>
      <c:catAx>
        <c:axId val="872199536"/>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872208392"/>
        <c:crosses val="autoZero"/>
        <c:auto val="1"/>
        <c:lblAlgn val="ctr"/>
        <c:lblOffset val="100"/>
        <c:noMultiLvlLbl val="0"/>
      </c:catAx>
      <c:valAx>
        <c:axId val="872208392"/>
        <c:scaling>
          <c:orientation val="minMax"/>
          <c:min val="20"/>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872199536"/>
        <c:crosses val="autoZero"/>
        <c:crossBetween val="between"/>
      </c:valAx>
      <c:spPr>
        <a:noFill/>
        <a:ln w="25400">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900"/>
      </a:pPr>
      <a:endParaRPr lang="en-US"/>
    </a:p>
  </c:txPr>
  <c:externalData r:id="rId3">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000" b="1" i="0" u="none" strike="noStrike" kern="1200" spc="0" baseline="0">
                <a:solidFill>
                  <a:schemeClr val="tx1"/>
                </a:solidFill>
                <a:latin typeface="+mn-lt"/>
                <a:ea typeface="+mn-ea"/>
                <a:cs typeface="+mn-cs"/>
              </a:defRPr>
            </a:pPr>
            <a:r>
              <a:rPr lang="en-US" sz="1000" b="1" baseline="0" dirty="0">
                <a:solidFill>
                  <a:schemeClr val="tx1"/>
                </a:solidFill>
              </a:rPr>
              <a:t>LNG Price Forecast (Landed at Bangladesh) ($/MMBTU)</a:t>
            </a:r>
            <a:endParaRPr lang="en-IN" sz="1000" b="1" dirty="0">
              <a:solidFill>
                <a:schemeClr val="tx1"/>
              </a:solidFill>
            </a:endParaRPr>
          </a:p>
        </c:rich>
      </c:tx>
      <c:overlay val="0"/>
      <c:spPr>
        <a:noFill/>
        <a:ln>
          <a:noFill/>
        </a:ln>
        <a:effectLst/>
      </c:spPr>
      <c:txPr>
        <a:bodyPr rot="0" spcFirstLastPara="1" vertOverflow="ellipsis" vert="horz" wrap="square" anchor="ctr" anchorCtr="1"/>
        <a:lstStyle/>
        <a:p>
          <a:pPr>
            <a:defRPr sz="1000" b="1" i="0" u="none" strike="noStrike" kern="1200" spc="0" baseline="0">
              <a:solidFill>
                <a:schemeClr val="tx1"/>
              </a:solidFill>
              <a:latin typeface="+mn-lt"/>
              <a:ea typeface="+mn-ea"/>
              <a:cs typeface="+mn-cs"/>
            </a:defRPr>
          </a:pPr>
          <a:endParaRPr lang="en-US"/>
        </a:p>
      </c:txPr>
    </c:title>
    <c:autoTitleDeleted val="0"/>
    <c:plotArea>
      <c:layout/>
      <c:lineChart>
        <c:grouping val="standard"/>
        <c:varyColors val="0"/>
        <c:ser>
          <c:idx val="0"/>
          <c:order val="0"/>
          <c:tx>
            <c:strRef>
              <c:f>Sheet1!$B$1</c:f>
              <c:strCache>
                <c:ptCount val="1"/>
                <c:pt idx="0">
                  <c:v>Estimation for Landed LNG cost at Bangladesh</c:v>
                </c:pt>
              </c:strCache>
            </c:strRef>
          </c:tx>
          <c:spPr>
            <a:ln w="28575" cap="rnd">
              <a:solidFill>
                <a:schemeClr val="accent1"/>
              </a:solidFill>
              <a:round/>
            </a:ln>
            <a:effectLst/>
          </c:spPr>
          <c:marker>
            <c:symbol val="circle"/>
            <c:size val="5"/>
            <c:spPr>
              <a:solidFill>
                <a:schemeClr val="accent1"/>
              </a:solidFill>
              <a:ln w="9525">
                <a:solidFill>
                  <a:schemeClr val="accent1"/>
                </a:solidFill>
              </a:ln>
              <a:effectLst/>
            </c:spPr>
          </c:marker>
          <c:dLbls>
            <c:dLbl>
              <c:idx val="0"/>
              <c:layout>
                <c:manualLayout>
                  <c:x val="-1.8088339060787911E-2"/>
                  <c:y val="5.66703658934045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916-44D7-BB51-F34D2253F808}"/>
                </c:ext>
              </c:extLst>
            </c:dLbl>
            <c:dLbl>
              <c:idx val="1"/>
              <c:layout>
                <c:manualLayout>
                  <c:x val="-3.5597430617513456E-2"/>
                  <c:y val="7.016836623461024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916-44D7-BB51-F34D2253F808}"/>
                </c:ext>
              </c:extLst>
            </c:dLbl>
            <c:numFmt formatCode="#,##0.0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c:f>
              <c:strCache>
                <c:ptCount val="7"/>
                <c:pt idx="0">
                  <c:v>FY21 (P)</c:v>
                </c:pt>
                <c:pt idx="1">
                  <c:v>FY22 (P)</c:v>
                </c:pt>
                <c:pt idx="2">
                  <c:v>FY23 (P)</c:v>
                </c:pt>
                <c:pt idx="3">
                  <c:v>FY24 (P)</c:v>
                </c:pt>
                <c:pt idx="4">
                  <c:v>FY25 (P)</c:v>
                </c:pt>
                <c:pt idx="5">
                  <c:v>FY26 (P)</c:v>
                </c:pt>
                <c:pt idx="6">
                  <c:v>FY30 (P)</c:v>
                </c:pt>
              </c:strCache>
            </c:strRef>
          </c:cat>
          <c:val>
            <c:numRef>
              <c:f>Sheet1!$B$2:$B$8</c:f>
              <c:numCache>
                <c:formatCode>0.00</c:formatCode>
                <c:ptCount val="7"/>
                <c:pt idx="0">
                  <c:v>8.1201437635499989</c:v>
                </c:pt>
                <c:pt idx="1">
                  <c:v>8.3617678462500002</c:v>
                </c:pt>
                <c:pt idx="2">
                  <c:v>8.7489859275000015</c:v>
                </c:pt>
                <c:pt idx="3">
                  <c:v>9.1826701784999987</c:v>
                </c:pt>
                <c:pt idx="4">
                  <c:v>9.6318431527500028</c:v>
                </c:pt>
                <c:pt idx="5">
                  <c:v>10.23</c:v>
                </c:pt>
                <c:pt idx="6">
                  <c:v>12.311392275000003</c:v>
                </c:pt>
              </c:numCache>
            </c:numRef>
          </c:val>
          <c:smooth val="0"/>
          <c:extLst>
            <c:ext xmlns:c16="http://schemas.microsoft.com/office/drawing/2014/chart" uri="{C3380CC4-5D6E-409C-BE32-E72D297353CC}">
              <c16:uniqueId val="{00000002-F916-44D7-BB51-F34D2253F808}"/>
            </c:ext>
          </c:extLst>
        </c:ser>
        <c:dLbls>
          <c:showLegendKey val="0"/>
          <c:showVal val="0"/>
          <c:showCatName val="0"/>
          <c:showSerName val="0"/>
          <c:showPercent val="0"/>
          <c:showBubbleSize val="0"/>
        </c:dLbls>
        <c:marker val="1"/>
        <c:smooth val="0"/>
        <c:axId val="872199536"/>
        <c:axId val="872208392"/>
      </c:lineChart>
      <c:catAx>
        <c:axId val="872199536"/>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872208392"/>
        <c:crosses val="autoZero"/>
        <c:auto val="1"/>
        <c:lblAlgn val="ctr"/>
        <c:lblOffset val="100"/>
        <c:noMultiLvlLbl val="0"/>
      </c:catAx>
      <c:valAx>
        <c:axId val="872208392"/>
        <c:scaling>
          <c:orientation val="minMax"/>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872199536"/>
        <c:crosses val="autoZero"/>
        <c:crossBetween val="between"/>
      </c:valAx>
      <c:spPr>
        <a:noFill/>
        <a:ln w="25400">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900"/>
      </a:pPr>
      <a:endParaRPr lang="en-US"/>
    </a:p>
  </c:txPr>
  <c:externalData r:id="rId3">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693810447827017"/>
          <c:y val="6.769985267891758E-2"/>
          <c:w val="0.83805685784943962"/>
          <c:h val="0.62781557726603088"/>
        </c:manualLayout>
      </c:layout>
      <c:lineChart>
        <c:grouping val="standard"/>
        <c:varyColors val="0"/>
        <c:ser>
          <c:idx val="0"/>
          <c:order val="0"/>
          <c:tx>
            <c:strRef>
              <c:f>Sheet1!$B$1</c:f>
              <c:strCache>
                <c:ptCount val="1"/>
                <c:pt idx="0">
                  <c:v>Cost of Domestic Gas Production</c:v>
                </c:pt>
              </c:strCache>
            </c:strRef>
          </c:tx>
          <c:spPr>
            <a:ln w="28575" cap="rnd">
              <a:solidFill>
                <a:schemeClr val="accent1"/>
              </a:solidFill>
              <a:round/>
            </a:ln>
            <a:effectLst/>
          </c:spPr>
          <c:marker>
            <c:symbol val="circle"/>
            <c:size val="5"/>
            <c:spPr>
              <a:noFill/>
              <a:ln w="9525">
                <a:solidFill>
                  <a:schemeClr val="accent1"/>
                </a:solidFill>
              </a:ln>
              <a:effectLst/>
            </c:spPr>
          </c:marker>
          <c:dLbls>
            <c:numFmt formatCode="#,##0.0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FY20</c:v>
                </c:pt>
                <c:pt idx="1">
                  <c:v>FY21 (P)</c:v>
                </c:pt>
                <c:pt idx="2">
                  <c:v>FY22 (P)</c:v>
                </c:pt>
                <c:pt idx="3">
                  <c:v>FY23 (P)</c:v>
                </c:pt>
                <c:pt idx="4">
                  <c:v>FY24 (P)</c:v>
                </c:pt>
                <c:pt idx="5">
                  <c:v>FY25 (P)</c:v>
                </c:pt>
                <c:pt idx="6">
                  <c:v>FY26 (P)</c:v>
                </c:pt>
              </c:strCache>
            </c:strRef>
          </c:cat>
          <c:val>
            <c:numRef>
              <c:f>Sheet1!$B$2:$B$8</c:f>
              <c:numCache>
                <c:formatCode>General</c:formatCode>
                <c:ptCount val="7"/>
                <c:pt idx="0">
                  <c:v>1.43</c:v>
                </c:pt>
                <c:pt idx="1">
                  <c:v>1.4967426278827549</c:v>
                </c:pt>
                <c:pt idx="2">
                  <c:v>1.5666003455394231</c:v>
                </c:pt>
                <c:pt idx="3">
                  <c:v>1.6397185440732225</c:v>
                </c:pt>
                <c:pt idx="4">
                  <c:v>1.7162494004505175</c:v>
                </c:pt>
                <c:pt idx="5">
                  <c:v>1.7963521942185388</c:v>
                </c:pt>
                <c:pt idx="6">
                  <c:v>1.8801936390053209</c:v>
                </c:pt>
              </c:numCache>
            </c:numRef>
          </c:val>
          <c:smooth val="0"/>
          <c:extLst>
            <c:ext xmlns:c16="http://schemas.microsoft.com/office/drawing/2014/chart" uri="{C3380CC4-5D6E-409C-BE32-E72D297353CC}">
              <c16:uniqueId val="{00000000-7506-4A33-AC2B-0C53E1A55BB4}"/>
            </c:ext>
          </c:extLst>
        </c:ser>
        <c:ser>
          <c:idx val="1"/>
          <c:order val="1"/>
          <c:tx>
            <c:strRef>
              <c:f>Sheet1!$C$1</c:f>
              <c:strCache>
                <c:ptCount val="1"/>
                <c:pt idx="0">
                  <c:v>Landed LNG import cost</c:v>
                </c:pt>
              </c:strCache>
            </c:strRef>
          </c:tx>
          <c:spPr>
            <a:ln w="28575" cap="rnd">
              <a:solidFill>
                <a:schemeClr val="accent2"/>
              </a:solidFill>
              <a:round/>
            </a:ln>
            <a:effectLst/>
          </c:spPr>
          <c:marker>
            <c:symbol val="circle"/>
            <c:size val="5"/>
            <c:spPr>
              <a:solidFill>
                <a:schemeClr val="accent2"/>
              </a:solidFill>
              <a:ln w="9525">
                <a:solidFill>
                  <a:schemeClr val="accent2"/>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FY20</c:v>
                </c:pt>
                <c:pt idx="1">
                  <c:v>FY21 (P)</c:v>
                </c:pt>
                <c:pt idx="2">
                  <c:v>FY22 (P)</c:v>
                </c:pt>
                <c:pt idx="3">
                  <c:v>FY23 (P)</c:v>
                </c:pt>
                <c:pt idx="4">
                  <c:v>FY24 (P)</c:v>
                </c:pt>
                <c:pt idx="5">
                  <c:v>FY25 (P)</c:v>
                </c:pt>
                <c:pt idx="6">
                  <c:v>FY26 (P)</c:v>
                </c:pt>
              </c:strCache>
            </c:strRef>
          </c:cat>
          <c:val>
            <c:numRef>
              <c:f>Sheet1!$C$2:$C$8</c:f>
              <c:numCache>
                <c:formatCode>0.00</c:formatCode>
                <c:ptCount val="7"/>
                <c:pt idx="0">
                  <c:v>11.63</c:v>
                </c:pt>
                <c:pt idx="1">
                  <c:v>8.1201437635499989</c:v>
                </c:pt>
                <c:pt idx="2">
                  <c:v>8.3617678462500002</c:v>
                </c:pt>
                <c:pt idx="3">
                  <c:v>8.7489859275000015</c:v>
                </c:pt>
                <c:pt idx="4">
                  <c:v>9.1826701784999987</c:v>
                </c:pt>
                <c:pt idx="5">
                  <c:v>9.6318431527500028</c:v>
                </c:pt>
                <c:pt idx="6">
                  <c:v>10.232382037897509</c:v>
                </c:pt>
              </c:numCache>
            </c:numRef>
          </c:val>
          <c:smooth val="0"/>
          <c:extLst>
            <c:ext xmlns:c16="http://schemas.microsoft.com/office/drawing/2014/chart" uri="{C3380CC4-5D6E-409C-BE32-E72D297353CC}">
              <c16:uniqueId val="{00000001-7506-4A33-AC2B-0C53E1A55BB4}"/>
            </c:ext>
          </c:extLst>
        </c:ser>
        <c:dLbls>
          <c:showLegendKey val="0"/>
          <c:showVal val="0"/>
          <c:showCatName val="0"/>
          <c:showSerName val="0"/>
          <c:showPercent val="0"/>
          <c:showBubbleSize val="0"/>
        </c:dLbls>
        <c:marker val="1"/>
        <c:smooth val="0"/>
        <c:axId val="872199536"/>
        <c:axId val="872208392"/>
      </c:lineChart>
      <c:catAx>
        <c:axId val="872199536"/>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872208392"/>
        <c:crosses val="autoZero"/>
        <c:auto val="1"/>
        <c:lblAlgn val="ctr"/>
        <c:lblOffset val="100"/>
        <c:noMultiLvlLbl val="0"/>
      </c:catAx>
      <c:valAx>
        <c:axId val="872208392"/>
        <c:scaling>
          <c:orientation val="minMax"/>
          <c:min val="0"/>
        </c:scaling>
        <c:delete val="0"/>
        <c:axPos val="l"/>
        <c:title>
          <c:tx>
            <c:rich>
              <a:bodyPr rot="-54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r>
                  <a:rPr lang="en-IN" dirty="0"/>
                  <a:t>$/MMBTU</a:t>
                </a:r>
              </a:p>
            </c:rich>
          </c:tx>
          <c:overlay val="0"/>
          <c:spPr>
            <a:noFill/>
            <a:ln>
              <a:noFill/>
            </a:ln>
            <a:effectLst/>
          </c:spPr>
          <c:txPr>
            <a:bodyPr rot="-54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872199536"/>
        <c:crosses val="autoZero"/>
        <c:crossBetween val="between"/>
      </c:valAx>
      <c:spPr>
        <a:noFill/>
        <a:ln w="25400">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900"/>
      </a:pPr>
      <a:endParaRPr lang="en-US"/>
    </a:p>
  </c:txPr>
  <c:externalData r:id="rId3">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Tariff for Power Sector</c:v>
                </c:pt>
              </c:strCache>
            </c:strRef>
          </c:tx>
          <c:spPr>
            <a:ln w="28575" cap="rnd">
              <a:solidFill>
                <a:schemeClr val="accent1"/>
              </a:solidFill>
              <a:round/>
            </a:ln>
            <a:effectLst/>
          </c:spPr>
          <c:marker>
            <c:symbol val="circle"/>
            <c:size val="5"/>
            <c:spPr>
              <a:solidFill>
                <a:schemeClr val="accent1"/>
              </a:solidFill>
              <a:ln w="9525">
                <a:solidFill>
                  <a:schemeClr val="accent1"/>
                </a:solidFill>
              </a:ln>
              <a:effectLst/>
            </c:spPr>
          </c:marker>
          <c:dLbls>
            <c:dLbl>
              <c:idx val="0"/>
              <c:layout>
                <c:manualLayout>
                  <c:x val="-1.8088339060787911E-2"/>
                  <c:y val="5.66703658934045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916-44D7-BB51-F34D2253F808}"/>
                </c:ext>
              </c:extLst>
            </c:dLbl>
            <c:dLbl>
              <c:idx val="1"/>
              <c:layout>
                <c:manualLayout>
                  <c:x val="-5.1753601850878163E-2"/>
                  <c:y val="7.669857384379326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916-44D7-BB51-F34D2253F808}"/>
                </c:ext>
              </c:extLst>
            </c:dLbl>
            <c:numFmt formatCode="#,##0.0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c:f>
              <c:strCache>
                <c:ptCount val="7"/>
                <c:pt idx="0">
                  <c:v>FY 20</c:v>
                </c:pt>
                <c:pt idx="1">
                  <c:v>FY21 (P)</c:v>
                </c:pt>
                <c:pt idx="2">
                  <c:v>FY22 (P)</c:v>
                </c:pt>
                <c:pt idx="3">
                  <c:v>FY23 (P)</c:v>
                </c:pt>
                <c:pt idx="4">
                  <c:v>FY24 (P)</c:v>
                </c:pt>
                <c:pt idx="5">
                  <c:v>FY25 (P)</c:v>
                </c:pt>
                <c:pt idx="6">
                  <c:v>FY26 (P)</c:v>
                </c:pt>
              </c:strCache>
            </c:strRef>
          </c:cat>
          <c:val>
            <c:numRef>
              <c:f>Sheet1!$B$2:$B$8</c:f>
              <c:numCache>
                <c:formatCode>General</c:formatCode>
                <c:ptCount val="7"/>
                <c:pt idx="0">
                  <c:v>1.393</c:v>
                </c:pt>
                <c:pt idx="1">
                  <c:v>1.393</c:v>
                </c:pt>
                <c:pt idx="2">
                  <c:v>1.4694264993226804</c:v>
                </c:pt>
                <c:pt idx="3">
                  <c:v>1.7085176949649585</c:v>
                </c:pt>
                <c:pt idx="4">
                  <c:v>1.9705700272295885</c:v>
                </c:pt>
                <c:pt idx="5">
                  <c:v>2.253134960310843</c:v>
                </c:pt>
                <c:pt idx="6">
                  <c:v>2.5793564801734394</c:v>
                </c:pt>
              </c:numCache>
            </c:numRef>
          </c:val>
          <c:smooth val="0"/>
          <c:extLst>
            <c:ext xmlns:c16="http://schemas.microsoft.com/office/drawing/2014/chart" uri="{C3380CC4-5D6E-409C-BE32-E72D297353CC}">
              <c16:uniqueId val="{00000002-F916-44D7-BB51-F34D2253F808}"/>
            </c:ext>
          </c:extLst>
        </c:ser>
        <c:dLbls>
          <c:showLegendKey val="0"/>
          <c:showVal val="0"/>
          <c:showCatName val="0"/>
          <c:showSerName val="0"/>
          <c:showPercent val="0"/>
          <c:showBubbleSize val="0"/>
        </c:dLbls>
        <c:marker val="1"/>
        <c:smooth val="0"/>
        <c:axId val="872199536"/>
        <c:axId val="872208392"/>
      </c:lineChart>
      <c:catAx>
        <c:axId val="872199536"/>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872208392"/>
        <c:crosses val="autoZero"/>
        <c:auto val="1"/>
        <c:lblAlgn val="ctr"/>
        <c:lblOffset val="100"/>
        <c:noMultiLvlLbl val="0"/>
      </c:catAx>
      <c:valAx>
        <c:axId val="872208392"/>
        <c:scaling>
          <c:orientation val="minMax"/>
        </c:scaling>
        <c:delete val="0"/>
        <c:axPos val="l"/>
        <c:title>
          <c:tx>
            <c:rich>
              <a:bodyPr rot="-54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r>
                  <a:rPr lang="en-IN" dirty="0"/>
                  <a:t>$/MMBtu</a:t>
                </a:r>
              </a:p>
            </c:rich>
          </c:tx>
          <c:overlay val="0"/>
          <c:spPr>
            <a:noFill/>
            <a:ln>
              <a:noFill/>
            </a:ln>
            <a:effectLst/>
          </c:spPr>
          <c:txPr>
            <a:bodyPr rot="-54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872199536"/>
        <c:crosses val="autoZero"/>
        <c:crossBetween val="between"/>
      </c:valAx>
      <c:spPr>
        <a:noFill/>
        <a:ln w="25400">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900"/>
      </a:pPr>
      <a:endParaRPr lang="en-US"/>
    </a:p>
  </c:txPr>
  <c:externalData r:id="rId3">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8.1934184016118197E-2"/>
          <c:y val="3.4233048057932848E-2"/>
          <c:w val="0.83613163196776363"/>
          <c:h val="0.93087557603686633"/>
        </c:manualLayout>
      </c:layout>
      <c:scatterChart>
        <c:scatterStyle val="lineMarker"/>
        <c:varyColors val="0"/>
        <c:ser>
          <c:idx val="0"/>
          <c:order val="0"/>
          <c:spPr>
            <a:ln w="28575" algn="ctr">
              <a:solidFill>
                <a:srgbClr val="86BC25"/>
              </a:solidFill>
              <a:prstDash val="solid"/>
            </a:ln>
          </c:spPr>
          <c:marker>
            <c:symbol val="none"/>
          </c:marker>
          <c:xVal>
            <c:numRef>
              <c:f>Sheet1!$A$1:$CV$1</c:f>
              <c:numCache>
                <c:formatCode>General</c:formatCode>
                <c:ptCount val="100"/>
                <c:pt idx="0">
                  <c:v>15218</c:v>
                </c:pt>
                <c:pt idx="1">
                  <c:v>15279</c:v>
                </c:pt>
                <c:pt idx="2">
                  <c:v>15309</c:v>
                </c:pt>
                <c:pt idx="3">
                  <c:v>15431</c:v>
                </c:pt>
                <c:pt idx="4">
                  <c:v>15461</c:v>
                </c:pt>
                <c:pt idx="5">
                  <c:v>15492</c:v>
                </c:pt>
                <c:pt idx="6">
                  <c:v>15522</c:v>
                </c:pt>
                <c:pt idx="7">
                  <c:v>15553</c:v>
                </c:pt>
                <c:pt idx="8">
                  <c:v>15584</c:v>
                </c:pt>
                <c:pt idx="9">
                  <c:v>15614</c:v>
                </c:pt>
                <c:pt idx="10">
                  <c:v>15645</c:v>
                </c:pt>
                <c:pt idx="11">
                  <c:v>15675</c:v>
                </c:pt>
                <c:pt idx="12">
                  <c:v>15706</c:v>
                </c:pt>
                <c:pt idx="13">
                  <c:v>15737</c:v>
                </c:pt>
                <c:pt idx="14">
                  <c:v>15765</c:v>
                </c:pt>
                <c:pt idx="15">
                  <c:v>15796</c:v>
                </c:pt>
                <c:pt idx="16">
                  <c:v>15826</c:v>
                </c:pt>
                <c:pt idx="17">
                  <c:v>15857</c:v>
                </c:pt>
                <c:pt idx="18">
                  <c:v>15887</c:v>
                </c:pt>
                <c:pt idx="19">
                  <c:v>15918</c:v>
                </c:pt>
                <c:pt idx="20">
                  <c:v>15949</c:v>
                </c:pt>
                <c:pt idx="21">
                  <c:v>15979</c:v>
                </c:pt>
                <c:pt idx="22">
                  <c:v>16010</c:v>
                </c:pt>
                <c:pt idx="23">
                  <c:v>16040</c:v>
                </c:pt>
                <c:pt idx="24">
                  <c:v>16071</c:v>
                </c:pt>
                <c:pt idx="25">
                  <c:v>16102</c:v>
                </c:pt>
                <c:pt idx="26">
                  <c:v>16130</c:v>
                </c:pt>
                <c:pt idx="27">
                  <c:v>16161</c:v>
                </c:pt>
                <c:pt idx="28">
                  <c:v>16191</c:v>
                </c:pt>
                <c:pt idx="29">
                  <c:v>16222</c:v>
                </c:pt>
                <c:pt idx="30">
                  <c:v>16252</c:v>
                </c:pt>
                <c:pt idx="31">
                  <c:v>16283</c:v>
                </c:pt>
                <c:pt idx="32">
                  <c:v>16314</c:v>
                </c:pt>
                <c:pt idx="33">
                  <c:v>16344</c:v>
                </c:pt>
                <c:pt idx="34">
                  <c:v>16375</c:v>
                </c:pt>
                <c:pt idx="35">
                  <c:v>16405</c:v>
                </c:pt>
                <c:pt idx="36">
                  <c:v>16436</c:v>
                </c:pt>
                <c:pt idx="37">
                  <c:v>16467</c:v>
                </c:pt>
                <c:pt idx="38">
                  <c:v>16495</c:v>
                </c:pt>
                <c:pt idx="39">
                  <c:v>16526</c:v>
                </c:pt>
                <c:pt idx="40">
                  <c:v>16556</c:v>
                </c:pt>
                <c:pt idx="41">
                  <c:v>16587</c:v>
                </c:pt>
                <c:pt idx="42">
                  <c:v>16617</c:v>
                </c:pt>
                <c:pt idx="43">
                  <c:v>16648</c:v>
                </c:pt>
                <c:pt idx="44">
                  <c:v>16679</c:v>
                </c:pt>
                <c:pt idx="45">
                  <c:v>16709</c:v>
                </c:pt>
                <c:pt idx="46">
                  <c:v>16740</c:v>
                </c:pt>
                <c:pt idx="47">
                  <c:v>16770</c:v>
                </c:pt>
                <c:pt idx="48">
                  <c:v>16801</c:v>
                </c:pt>
                <c:pt idx="49">
                  <c:v>16832</c:v>
                </c:pt>
                <c:pt idx="50">
                  <c:v>16861</c:v>
                </c:pt>
                <c:pt idx="51">
                  <c:v>16892</c:v>
                </c:pt>
                <c:pt idx="52">
                  <c:v>16922</c:v>
                </c:pt>
                <c:pt idx="53">
                  <c:v>16953</c:v>
                </c:pt>
                <c:pt idx="54">
                  <c:v>16983</c:v>
                </c:pt>
                <c:pt idx="55">
                  <c:v>17014</c:v>
                </c:pt>
                <c:pt idx="56">
                  <c:v>17045</c:v>
                </c:pt>
                <c:pt idx="57">
                  <c:v>17075</c:v>
                </c:pt>
                <c:pt idx="58">
                  <c:v>17106</c:v>
                </c:pt>
                <c:pt idx="59">
                  <c:v>17136</c:v>
                </c:pt>
                <c:pt idx="60">
                  <c:v>17167</c:v>
                </c:pt>
                <c:pt idx="61">
                  <c:v>17198</c:v>
                </c:pt>
                <c:pt idx="62">
                  <c:v>17226</c:v>
                </c:pt>
                <c:pt idx="63">
                  <c:v>17257</c:v>
                </c:pt>
                <c:pt idx="64">
                  <c:v>17287</c:v>
                </c:pt>
                <c:pt idx="65">
                  <c:v>17318</c:v>
                </c:pt>
                <c:pt idx="66">
                  <c:v>17348</c:v>
                </c:pt>
                <c:pt idx="67">
                  <c:v>17379</c:v>
                </c:pt>
                <c:pt idx="68">
                  <c:v>17410</c:v>
                </c:pt>
                <c:pt idx="69">
                  <c:v>17440</c:v>
                </c:pt>
                <c:pt idx="70">
                  <c:v>17471</c:v>
                </c:pt>
                <c:pt idx="71">
                  <c:v>17501</c:v>
                </c:pt>
                <c:pt idx="72">
                  <c:v>17532</c:v>
                </c:pt>
                <c:pt idx="73">
                  <c:v>17563</c:v>
                </c:pt>
                <c:pt idx="74">
                  <c:v>17591</c:v>
                </c:pt>
                <c:pt idx="75">
                  <c:v>17622</c:v>
                </c:pt>
                <c:pt idx="76">
                  <c:v>17652</c:v>
                </c:pt>
                <c:pt idx="77">
                  <c:v>17683</c:v>
                </c:pt>
                <c:pt idx="78">
                  <c:v>17713</c:v>
                </c:pt>
                <c:pt idx="79">
                  <c:v>17744</c:v>
                </c:pt>
                <c:pt idx="80">
                  <c:v>17775</c:v>
                </c:pt>
                <c:pt idx="81">
                  <c:v>17805</c:v>
                </c:pt>
                <c:pt idx="82">
                  <c:v>17836</c:v>
                </c:pt>
                <c:pt idx="83">
                  <c:v>17866</c:v>
                </c:pt>
                <c:pt idx="84">
                  <c:v>17897</c:v>
                </c:pt>
                <c:pt idx="85">
                  <c:v>17928</c:v>
                </c:pt>
                <c:pt idx="86">
                  <c:v>17956</c:v>
                </c:pt>
                <c:pt idx="87">
                  <c:v>17987</c:v>
                </c:pt>
                <c:pt idx="88">
                  <c:v>18017</c:v>
                </c:pt>
                <c:pt idx="89">
                  <c:v>18048</c:v>
                </c:pt>
                <c:pt idx="90">
                  <c:v>18078</c:v>
                </c:pt>
                <c:pt idx="91">
                  <c:v>18109</c:v>
                </c:pt>
                <c:pt idx="92">
                  <c:v>18140</c:v>
                </c:pt>
                <c:pt idx="93">
                  <c:v>18170</c:v>
                </c:pt>
                <c:pt idx="94">
                  <c:v>18201</c:v>
                </c:pt>
                <c:pt idx="95">
                  <c:v>18231</c:v>
                </c:pt>
                <c:pt idx="96">
                  <c:v>18262</c:v>
                </c:pt>
                <c:pt idx="97">
                  <c:v>18293</c:v>
                </c:pt>
                <c:pt idx="98">
                  <c:v>18322</c:v>
                </c:pt>
                <c:pt idx="99">
                  <c:v>18353</c:v>
                </c:pt>
              </c:numCache>
            </c:numRef>
          </c:xVal>
          <c:yVal>
            <c:numRef>
              <c:f>Sheet1!$A$2:$CV$2</c:f>
              <c:numCache>
                <c:formatCode>General</c:formatCode>
                <c:ptCount val="100"/>
                <c:pt idx="3">
                  <c:v>119.42166666666668</c:v>
                </c:pt>
                <c:pt idx="4">
                  <c:v>110.33952380952381</c:v>
                </c:pt>
                <c:pt idx="5">
                  <c:v>95.155714285714296</c:v>
                </c:pt>
                <c:pt idx="6">
                  <c:v>102.61857142857141</c:v>
                </c:pt>
                <c:pt idx="7">
                  <c:v>113.35608695652174</c:v>
                </c:pt>
                <c:pt idx="8">
                  <c:v>112.86368421052633</c:v>
                </c:pt>
                <c:pt idx="9">
                  <c:v>111.71086956521739</c:v>
                </c:pt>
                <c:pt idx="10">
                  <c:v>109.05857142857143</c:v>
                </c:pt>
                <c:pt idx="11">
                  <c:v>109.494</c:v>
                </c:pt>
                <c:pt idx="12">
                  <c:v>112.96000000000001</c:v>
                </c:pt>
                <c:pt idx="13">
                  <c:v>116.05052631578945</c:v>
                </c:pt>
                <c:pt idx="14">
                  <c:v>108.474</c:v>
                </c:pt>
                <c:pt idx="15">
                  <c:v>102.24818181818182</c:v>
                </c:pt>
                <c:pt idx="16">
                  <c:v>102.55863636363634</c:v>
                </c:pt>
                <c:pt idx="17">
                  <c:v>102.9195</c:v>
                </c:pt>
                <c:pt idx="18">
                  <c:v>107.93318181818178</c:v>
                </c:pt>
                <c:pt idx="19">
                  <c:v>111.28045454545453</c:v>
                </c:pt>
                <c:pt idx="20">
                  <c:v>111.59649999999999</c:v>
                </c:pt>
                <c:pt idx="21">
                  <c:v>109.07652173913043</c:v>
                </c:pt>
                <c:pt idx="22">
                  <c:v>107.79199999999999</c:v>
                </c:pt>
                <c:pt idx="23">
                  <c:v>110.75666666666666</c:v>
                </c:pt>
                <c:pt idx="24">
                  <c:v>108.11772727272728</c:v>
                </c:pt>
                <c:pt idx="25">
                  <c:v>108.90052631578948</c:v>
                </c:pt>
                <c:pt idx="26">
                  <c:v>107.48095238095237</c:v>
                </c:pt>
                <c:pt idx="27">
                  <c:v>107.7552380952381</c:v>
                </c:pt>
                <c:pt idx="28">
                  <c:v>109.53909090909092</c:v>
                </c:pt>
                <c:pt idx="29">
                  <c:v>111.7952380952381</c:v>
                </c:pt>
                <c:pt idx="30">
                  <c:v>106.76818181818182</c:v>
                </c:pt>
                <c:pt idx="31">
                  <c:v>101.60809523809523</c:v>
                </c:pt>
                <c:pt idx="32">
                  <c:v>97.091428571428565</c:v>
                </c:pt>
                <c:pt idx="33">
                  <c:v>87.425217391304372</c:v>
                </c:pt>
                <c:pt idx="34">
                  <c:v>79.437894736842111</c:v>
                </c:pt>
                <c:pt idx="35">
                  <c:v>62.334999999999994</c:v>
                </c:pt>
                <c:pt idx="36">
                  <c:v>47.75950000000001</c:v>
                </c:pt>
                <c:pt idx="37">
                  <c:v>58.095500000000015</c:v>
                </c:pt>
                <c:pt idx="38">
                  <c:v>55.885454545454543</c:v>
                </c:pt>
                <c:pt idx="39">
                  <c:v>59.524285714285725</c:v>
                </c:pt>
                <c:pt idx="40">
                  <c:v>64.075000000000003</c:v>
                </c:pt>
                <c:pt idx="41">
                  <c:v>61.477727272727286</c:v>
                </c:pt>
                <c:pt idx="42">
                  <c:v>56.561304347826088</c:v>
                </c:pt>
                <c:pt idx="43">
                  <c:v>46.515000000000001</c:v>
                </c:pt>
                <c:pt idx="44">
                  <c:v>47.62318181818182</c:v>
                </c:pt>
                <c:pt idx="45">
                  <c:v>48.43</c:v>
                </c:pt>
                <c:pt idx="46">
                  <c:v>44.267619047619057</c:v>
                </c:pt>
                <c:pt idx="47">
                  <c:v>38.005454545454548</c:v>
                </c:pt>
                <c:pt idx="48">
                  <c:v>30.6995</c:v>
                </c:pt>
                <c:pt idx="49">
                  <c:v>32.1815</c:v>
                </c:pt>
                <c:pt idx="50">
                  <c:v>38.210454545454553</c:v>
                </c:pt>
                <c:pt idx="51">
                  <c:v>41.583333333333336</c:v>
                </c:pt>
                <c:pt idx="52">
                  <c:v>46.742380952380941</c:v>
                </c:pt>
                <c:pt idx="53">
                  <c:v>48.247272727272723</c:v>
                </c:pt>
                <c:pt idx="54">
                  <c:v>44.951904761904771</c:v>
                </c:pt>
                <c:pt idx="55">
                  <c:v>45.843043478260874</c:v>
                </c:pt>
                <c:pt idx="56">
                  <c:v>46.567727272727275</c:v>
                </c:pt>
                <c:pt idx="57">
                  <c:v>49.522380952380956</c:v>
                </c:pt>
                <c:pt idx="58">
                  <c:v>44.734090909090916</c:v>
                </c:pt>
                <c:pt idx="59">
                  <c:v>53.308499999999995</c:v>
                </c:pt>
                <c:pt idx="60">
                  <c:v>54.576666666666661</c:v>
                </c:pt>
                <c:pt idx="61">
                  <c:v>54.869500000000002</c:v>
                </c:pt>
                <c:pt idx="62">
                  <c:v>51.589130434782604</c:v>
                </c:pt>
                <c:pt idx="63">
                  <c:v>52.307894736842108</c:v>
                </c:pt>
                <c:pt idx="64">
                  <c:v>50.326521739130442</c:v>
                </c:pt>
                <c:pt idx="65">
                  <c:v>46.368181818181824</c:v>
                </c:pt>
                <c:pt idx="66">
                  <c:v>48.478571428571428</c:v>
                </c:pt>
                <c:pt idx="67">
                  <c:v>51.704347826086966</c:v>
                </c:pt>
                <c:pt idx="68">
                  <c:v>56.152857142857137</c:v>
                </c:pt>
                <c:pt idx="69">
                  <c:v>57.507727272727273</c:v>
                </c:pt>
                <c:pt idx="70">
                  <c:v>62.714090909090899</c:v>
                </c:pt>
                <c:pt idx="71">
                  <c:v>64.373684210526321</c:v>
                </c:pt>
                <c:pt idx="72">
                  <c:v>69.077272727272714</c:v>
                </c:pt>
                <c:pt idx="73">
                  <c:v>65.317499999999981</c:v>
                </c:pt>
                <c:pt idx="74">
                  <c:v>66.016666666666666</c:v>
                </c:pt>
                <c:pt idx="75">
                  <c:v>72.106000000000009</c:v>
                </c:pt>
                <c:pt idx="76">
                  <c:v>76.975238095238112</c:v>
                </c:pt>
                <c:pt idx="77">
                  <c:v>74.404761904761898</c:v>
                </c:pt>
                <c:pt idx="78">
                  <c:v>74.25409090909092</c:v>
                </c:pt>
                <c:pt idx="79">
                  <c:v>72.52826086956523</c:v>
                </c:pt>
                <c:pt idx="80">
                  <c:v>78.89100000000002</c:v>
                </c:pt>
                <c:pt idx="81">
                  <c:v>81.032173913043479</c:v>
                </c:pt>
                <c:pt idx="82">
                  <c:v>64.74818181818182</c:v>
                </c:pt>
                <c:pt idx="83">
                  <c:v>57.362352941176482</c:v>
                </c:pt>
                <c:pt idx="84">
                  <c:v>59.409545454545452</c:v>
                </c:pt>
                <c:pt idx="85">
                  <c:v>63.960499999999989</c:v>
                </c:pt>
                <c:pt idx="86">
                  <c:v>66.138571428571424</c:v>
                </c:pt>
                <c:pt idx="87">
                  <c:v>71.233333333333334</c:v>
                </c:pt>
                <c:pt idx="88">
                  <c:v>71.317727272727296</c:v>
                </c:pt>
                <c:pt idx="89">
                  <c:v>64.220499999999987</c:v>
                </c:pt>
                <c:pt idx="90">
                  <c:v>63.919130434782595</c:v>
                </c:pt>
                <c:pt idx="91">
                  <c:v>59.041818181818186</c:v>
                </c:pt>
                <c:pt idx="92">
                  <c:v>62.826666666666675</c:v>
                </c:pt>
                <c:pt idx="93">
                  <c:v>59.713043478260865</c:v>
                </c:pt>
                <c:pt idx="94">
                  <c:v>63.211904761904762</c:v>
                </c:pt>
                <c:pt idx="95">
                  <c:v>67.217142857142861</c:v>
                </c:pt>
                <c:pt idx="96">
                  <c:v>63.645454545454534</c:v>
                </c:pt>
                <c:pt idx="97">
                  <c:v>55.657000000000004</c:v>
                </c:pt>
                <c:pt idx="98">
                  <c:v>32.011363636363633</c:v>
                </c:pt>
                <c:pt idx="99">
                  <c:v>18.378500000000003</c:v>
                </c:pt>
              </c:numCache>
            </c:numRef>
          </c:yVal>
          <c:smooth val="0"/>
          <c:extLst>
            <c:ext xmlns:c16="http://schemas.microsoft.com/office/drawing/2014/chart" uri="{C3380CC4-5D6E-409C-BE32-E72D297353CC}">
              <c16:uniqueId val="{00000000-AEE7-4C74-BE14-BC5C8CEC1A82}"/>
            </c:ext>
          </c:extLst>
        </c:ser>
        <c:dLbls>
          <c:showLegendKey val="0"/>
          <c:showVal val="0"/>
          <c:showCatName val="0"/>
          <c:showSerName val="0"/>
          <c:showPercent val="0"/>
          <c:showBubbleSize val="0"/>
        </c:dLbls>
        <c:axId val="573727079"/>
        <c:axId val="1"/>
      </c:scatterChart>
      <c:scatterChart>
        <c:scatterStyle val="lineMarker"/>
        <c:varyColors val="0"/>
        <c:ser>
          <c:idx val="1"/>
          <c:order val="1"/>
          <c:spPr>
            <a:ln w="28575" algn="ctr">
              <a:solidFill>
                <a:schemeClr val="accent3"/>
              </a:solidFill>
              <a:prstDash val="solid"/>
            </a:ln>
          </c:spPr>
          <c:marker>
            <c:symbol val="none"/>
          </c:marker>
          <c:xVal>
            <c:numRef>
              <c:f>Sheet1!$A$1:$CV$1</c:f>
              <c:numCache>
                <c:formatCode>General</c:formatCode>
                <c:ptCount val="100"/>
                <c:pt idx="0">
                  <c:v>15218</c:v>
                </c:pt>
                <c:pt idx="1">
                  <c:v>15279</c:v>
                </c:pt>
                <c:pt idx="2">
                  <c:v>15309</c:v>
                </c:pt>
                <c:pt idx="3">
                  <c:v>15431</c:v>
                </c:pt>
                <c:pt idx="4">
                  <c:v>15461</c:v>
                </c:pt>
                <c:pt idx="5">
                  <c:v>15492</c:v>
                </c:pt>
                <c:pt idx="6">
                  <c:v>15522</c:v>
                </c:pt>
                <c:pt idx="7">
                  <c:v>15553</c:v>
                </c:pt>
                <c:pt idx="8">
                  <c:v>15584</c:v>
                </c:pt>
                <c:pt idx="9">
                  <c:v>15614</c:v>
                </c:pt>
                <c:pt idx="10">
                  <c:v>15645</c:v>
                </c:pt>
                <c:pt idx="11">
                  <c:v>15675</c:v>
                </c:pt>
                <c:pt idx="12">
                  <c:v>15706</c:v>
                </c:pt>
                <c:pt idx="13">
                  <c:v>15737</c:v>
                </c:pt>
                <c:pt idx="14">
                  <c:v>15765</c:v>
                </c:pt>
                <c:pt idx="15">
                  <c:v>15796</c:v>
                </c:pt>
                <c:pt idx="16">
                  <c:v>15826</c:v>
                </c:pt>
                <c:pt idx="17">
                  <c:v>15857</c:v>
                </c:pt>
                <c:pt idx="18">
                  <c:v>15887</c:v>
                </c:pt>
                <c:pt idx="19">
                  <c:v>15918</c:v>
                </c:pt>
                <c:pt idx="20">
                  <c:v>15949</c:v>
                </c:pt>
                <c:pt idx="21">
                  <c:v>15979</c:v>
                </c:pt>
                <c:pt idx="22">
                  <c:v>16010</c:v>
                </c:pt>
                <c:pt idx="23">
                  <c:v>16040</c:v>
                </c:pt>
                <c:pt idx="24">
                  <c:v>16071</c:v>
                </c:pt>
                <c:pt idx="25">
                  <c:v>16102</c:v>
                </c:pt>
                <c:pt idx="26">
                  <c:v>16130</c:v>
                </c:pt>
                <c:pt idx="27">
                  <c:v>16161</c:v>
                </c:pt>
                <c:pt idx="28">
                  <c:v>16191</c:v>
                </c:pt>
                <c:pt idx="29">
                  <c:v>16222</c:v>
                </c:pt>
                <c:pt idx="30">
                  <c:v>16252</c:v>
                </c:pt>
                <c:pt idx="31">
                  <c:v>16283</c:v>
                </c:pt>
                <c:pt idx="32">
                  <c:v>16314</c:v>
                </c:pt>
                <c:pt idx="33">
                  <c:v>16344</c:v>
                </c:pt>
                <c:pt idx="34">
                  <c:v>16375</c:v>
                </c:pt>
                <c:pt idx="35">
                  <c:v>16405</c:v>
                </c:pt>
                <c:pt idx="36">
                  <c:v>16436</c:v>
                </c:pt>
                <c:pt idx="37">
                  <c:v>16467</c:v>
                </c:pt>
                <c:pt idx="38">
                  <c:v>16495</c:v>
                </c:pt>
                <c:pt idx="39">
                  <c:v>16526</c:v>
                </c:pt>
                <c:pt idx="40">
                  <c:v>16556</c:v>
                </c:pt>
                <c:pt idx="41">
                  <c:v>16587</c:v>
                </c:pt>
                <c:pt idx="42">
                  <c:v>16617</c:v>
                </c:pt>
                <c:pt idx="43">
                  <c:v>16648</c:v>
                </c:pt>
                <c:pt idx="44">
                  <c:v>16679</c:v>
                </c:pt>
                <c:pt idx="45">
                  <c:v>16709</c:v>
                </c:pt>
                <c:pt idx="46">
                  <c:v>16740</c:v>
                </c:pt>
                <c:pt idx="47">
                  <c:v>16770</c:v>
                </c:pt>
                <c:pt idx="48">
                  <c:v>16801</c:v>
                </c:pt>
                <c:pt idx="49">
                  <c:v>16832</c:v>
                </c:pt>
                <c:pt idx="50">
                  <c:v>16861</c:v>
                </c:pt>
                <c:pt idx="51">
                  <c:v>16892</c:v>
                </c:pt>
                <c:pt idx="52">
                  <c:v>16922</c:v>
                </c:pt>
                <c:pt idx="53">
                  <c:v>16953</c:v>
                </c:pt>
                <c:pt idx="54">
                  <c:v>16983</c:v>
                </c:pt>
                <c:pt idx="55">
                  <c:v>17014</c:v>
                </c:pt>
                <c:pt idx="56">
                  <c:v>17045</c:v>
                </c:pt>
                <c:pt idx="57">
                  <c:v>17075</c:v>
                </c:pt>
                <c:pt idx="58">
                  <c:v>17106</c:v>
                </c:pt>
                <c:pt idx="59">
                  <c:v>17136</c:v>
                </c:pt>
                <c:pt idx="60">
                  <c:v>17167</c:v>
                </c:pt>
                <c:pt idx="61">
                  <c:v>17198</c:v>
                </c:pt>
                <c:pt idx="62">
                  <c:v>17226</c:v>
                </c:pt>
                <c:pt idx="63">
                  <c:v>17257</c:v>
                </c:pt>
                <c:pt idx="64">
                  <c:v>17287</c:v>
                </c:pt>
                <c:pt idx="65">
                  <c:v>17318</c:v>
                </c:pt>
                <c:pt idx="66">
                  <c:v>17348</c:v>
                </c:pt>
                <c:pt idx="67">
                  <c:v>17379</c:v>
                </c:pt>
                <c:pt idx="68">
                  <c:v>17410</c:v>
                </c:pt>
                <c:pt idx="69">
                  <c:v>17440</c:v>
                </c:pt>
                <c:pt idx="70">
                  <c:v>17471</c:v>
                </c:pt>
                <c:pt idx="71">
                  <c:v>17501</c:v>
                </c:pt>
                <c:pt idx="72">
                  <c:v>17532</c:v>
                </c:pt>
                <c:pt idx="73">
                  <c:v>17563</c:v>
                </c:pt>
                <c:pt idx="74">
                  <c:v>17591</c:v>
                </c:pt>
                <c:pt idx="75">
                  <c:v>17622</c:v>
                </c:pt>
                <c:pt idx="76">
                  <c:v>17652</c:v>
                </c:pt>
                <c:pt idx="77">
                  <c:v>17683</c:v>
                </c:pt>
                <c:pt idx="78">
                  <c:v>17713</c:v>
                </c:pt>
                <c:pt idx="79">
                  <c:v>17744</c:v>
                </c:pt>
                <c:pt idx="80">
                  <c:v>17775</c:v>
                </c:pt>
                <c:pt idx="81">
                  <c:v>17805</c:v>
                </c:pt>
                <c:pt idx="82">
                  <c:v>17836</c:v>
                </c:pt>
                <c:pt idx="83">
                  <c:v>17866</c:v>
                </c:pt>
                <c:pt idx="84">
                  <c:v>17897</c:v>
                </c:pt>
                <c:pt idx="85">
                  <c:v>17928</c:v>
                </c:pt>
                <c:pt idx="86">
                  <c:v>17956</c:v>
                </c:pt>
                <c:pt idx="87">
                  <c:v>17987</c:v>
                </c:pt>
                <c:pt idx="88">
                  <c:v>18017</c:v>
                </c:pt>
                <c:pt idx="89">
                  <c:v>18048</c:v>
                </c:pt>
                <c:pt idx="90">
                  <c:v>18078</c:v>
                </c:pt>
                <c:pt idx="91">
                  <c:v>18109</c:v>
                </c:pt>
                <c:pt idx="92">
                  <c:v>18140</c:v>
                </c:pt>
                <c:pt idx="93">
                  <c:v>18170</c:v>
                </c:pt>
                <c:pt idx="94">
                  <c:v>18201</c:v>
                </c:pt>
                <c:pt idx="95">
                  <c:v>18231</c:v>
                </c:pt>
                <c:pt idx="96">
                  <c:v>18262</c:v>
                </c:pt>
                <c:pt idx="97">
                  <c:v>18293</c:v>
                </c:pt>
                <c:pt idx="98">
                  <c:v>18322</c:v>
                </c:pt>
                <c:pt idx="99">
                  <c:v>18353</c:v>
                </c:pt>
              </c:numCache>
            </c:numRef>
          </c:xVal>
          <c:yVal>
            <c:numRef>
              <c:f>Sheet1!$A$3:$CV$3</c:f>
              <c:numCache>
                <c:formatCode>General</c:formatCode>
                <c:ptCount val="100"/>
                <c:pt idx="3">
                  <c:v>99.147936598589823</c:v>
                </c:pt>
                <c:pt idx="4">
                  <c:v>101.39148318625632</c:v>
                </c:pt>
                <c:pt idx="5">
                  <c:v>99.083265358323715</c:v>
                </c:pt>
                <c:pt idx="6">
                  <c:v>91.304071623705696</c:v>
                </c:pt>
                <c:pt idx="7">
                  <c:v>86.988599385334595</c:v>
                </c:pt>
                <c:pt idx="8">
                  <c:v>87.763331322022609</c:v>
                </c:pt>
                <c:pt idx="9">
                  <c:v>92.311198933650772</c:v>
                </c:pt>
                <c:pt idx="10">
                  <c:v>94.646337765854213</c:v>
                </c:pt>
                <c:pt idx="11">
                  <c:v>93.542623914801823</c:v>
                </c:pt>
                <c:pt idx="12">
                  <c:v>92.677201297328622</c:v>
                </c:pt>
                <c:pt idx="13">
                  <c:v>92.998010507597655</c:v>
                </c:pt>
                <c:pt idx="14">
                  <c:v>94.793726521830806</c:v>
                </c:pt>
                <c:pt idx="15">
                  <c:v>94.53176397143362</c:v>
                </c:pt>
                <c:pt idx="16">
                  <c:v>91.780690235845171</c:v>
                </c:pt>
                <c:pt idx="17">
                  <c:v>88.31562170491928</c:v>
                </c:pt>
                <c:pt idx="18">
                  <c:v>86.889081522388622</c:v>
                </c:pt>
                <c:pt idx="19">
                  <c:v>88.349137501808286</c:v>
                </c:pt>
                <c:pt idx="20">
                  <c:v>90.589127438092405</c:v>
                </c:pt>
                <c:pt idx="21">
                  <c:v>92.817606898677226</c:v>
                </c:pt>
                <c:pt idx="22">
                  <c:v>93.111246351287662</c:v>
                </c:pt>
                <c:pt idx="23">
                  <c:v>92.215320420236722</c:v>
                </c:pt>
                <c:pt idx="24">
                  <c:v>91.999629359542013</c:v>
                </c:pt>
                <c:pt idx="25">
                  <c:v>91.753385983340351</c:v>
                </c:pt>
                <c:pt idx="26">
                  <c:v>92.038084395954698</c:v>
                </c:pt>
                <c:pt idx="27">
                  <c:v>91.196795701191704</c:v>
                </c:pt>
                <c:pt idx="28">
                  <c:v>91.103699044891258</c:v>
                </c:pt>
                <c:pt idx="29">
                  <c:v>91.267699054160474</c:v>
                </c:pt>
                <c:pt idx="30">
                  <c:v>92.375719925588427</c:v>
                </c:pt>
                <c:pt idx="31">
                  <c:v>92.12221818076172</c:v>
                </c:pt>
                <c:pt idx="32">
                  <c:v>90.085332050209544</c:v>
                </c:pt>
                <c:pt idx="33">
                  <c:v>86.309011027256801</c:v>
                </c:pt>
                <c:pt idx="34">
                  <c:v>81.341234268916423</c:v>
                </c:pt>
                <c:pt idx="35">
                  <c:v>75.647349694283491</c:v>
                </c:pt>
                <c:pt idx="36">
                  <c:v>66.720994134215232</c:v>
                </c:pt>
                <c:pt idx="37">
                  <c:v>56.533805417390965</c:v>
                </c:pt>
                <c:pt idx="38">
                  <c:v>51.052522910678235</c:v>
                </c:pt>
                <c:pt idx="39">
                  <c:v>49.39611175756508</c:v>
                </c:pt>
                <c:pt idx="40">
                  <c:v>52.417614964026704</c:v>
                </c:pt>
                <c:pt idx="41">
                  <c:v>53.953306209222845</c:v>
                </c:pt>
                <c:pt idx="42">
                  <c:v>55.38954741133373</c:v>
                </c:pt>
                <c:pt idx="43">
                  <c:v>54.628576670611018</c:v>
                </c:pt>
                <c:pt idx="44">
                  <c:v>50.118711587302322</c:v>
                </c:pt>
                <c:pt idx="45">
                  <c:v>46.560503683511456</c:v>
                </c:pt>
                <c:pt idx="46">
                  <c:v>44.472173070754209</c:v>
                </c:pt>
                <c:pt idx="47">
                  <c:v>43.894987143303418</c:v>
                </c:pt>
                <c:pt idx="48">
                  <c:v>41.424904432138355</c:v>
                </c:pt>
                <c:pt idx="49">
                  <c:v>36.871250510748567</c:v>
                </c:pt>
                <c:pt idx="50">
                  <c:v>33.767220540044157</c:v>
                </c:pt>
                <c:pt idx="51">
                  <c:v>33.81986987615339</c:v>
                </c:pt>
                <c:pt idx="52">
                  <c:v>36.615121580171134</c:v>
                </c:pt>
                <c:pt idx="53">
                  <c:v>40.354734825578731</c:v>
                </c:pt>
                <c:pt idx="54">
                  <c:v>42.932450991051375</c:v>
                </c:pt>
                <c:pt idx="55">
                  <c:v>43.797587817153058</c:v>
                </c:pt>
                <c:pt idx="56">
                  <c:v>43.566614544223384</c:v>
                </c:pt>
                <c:pt idx="57">
                  <c:v>43.135263553261858</c:v>
                </c:pt>
                <c:pt idx="58">
                  <c:v>44.309080807562673</c:v>
                </c:pt>
                <c:pt idx="59">
                  <c:v>44.024272921984938</c:v>
                </c:pt>
                <c:pt idx="60">
                  <c:v>45.755478819322448</c:v>
                </c:pt>
                <c:pt idx="61">
                  <c:v>47.053550952803263</c:v>
                </c:pt>
                <c:pt idx="62">
                  <c:v>49.656587830032208</c:v>
                </c:pt>
                <c:pt idx="63">
                  <c:v>49.215008970836458</c:v>
                </c:pt>
                <c:pt idx="64">
                  <c:v>48.632329283575274</c:v>
                </c:pt>
                <c:pt idx="65">
                  <c:v>47.465574213363055</c:v>
                </c:pt>
                <c:pt idx="66">
                  <c:v>46.124698708365536</c:v>
                </c:pt>
                <c:pt idx="67">
                  <c:v>45.141228806277262</c:v>
                </c:pt>
                <c:pt idx="68">
                  <c:v>45.495090409946798</c:v>
                </c:pt>
                <c:pt idx="69">
                  <c:v>48.00804972647672</c:v>
                </c:pt>
                <c:pt idx="70">
                  <c:v>50.326971974387376</c:v>
                </c:pt>
                <c:pt idx="71">
                  <c:v>53.154560579526262</c:v>
                </c:pt>
                <c:pt idx="72">
                  <c:v>55.265882956997807</c:v>
                </c:pt>
                <c:pt idx="73">
                  <c:v>58.237243382692988</c:v>
                </c:pt>
                <c:pt idx="74">
                  <c:v>58.905866603459479</c:v>
                </c:pt>
                <c:pt idx="75">
                  <c:v>59.327827264702975</c:v>
                </c:pt>
                <c:pt idx="76">
                  <c:v>60.105683265508084</c:v>
                </c:pt>
                <c:pt idx="77">
                  <c:v>63.099693856970049</c:v>
                </c:pt>
                <c:pt idx="78">
                  <c:v>65.253975054564222</c:v>
                </c:pt>
                <c:pt idx="79">
                  <c:v>65.80566071439803</c:v>
                </c:pt>
                <c:pt idx="80">
                  <c:v>64.663561208912213</c:v>
                </c:pt>
                <c:pt idx="81">
                  <c:v>65.815743927655035</c:v>
                </c:pt>
                <c:pt idx="82">
                  <c:v>67.556532075223004</c:v>
                </c:pt>
                <c:pt idx="83">
                  <c:v>65.558405260916885</c:v>
                </c:pt>
                <c:pt idx="84">
                  <c:v>60.029288309808415</c:v>
                </c:pt>
                <c:pt idx="85">
                  <c:v>54.476034488946375</c:v>
                </c:pt>
                <c:pt idx="86">
                  <c:v>54.273737294836167</c:v>
                </c:pt>
                <c:pt idx="87">
                  <c:v>56.527698645621513</c:v>
                </c:pt>
                <c:pt idx="88">
                  <c:v>59.564355143741906</c:v>
                </c:pt>
                <c:pt idx="89">
                  <c:v>61.453882614541421</c:v>
                </c:pt>
                <c:pt idx="90">
                  <c:v>60.961271944666336</c:v>
                </c:pt>
                <c:pt idx="91">
                  <c:v>59.082794253071278</c:v>
                </c:pt>
                <c:pt idx="92">
                  <c:v>55.930021259052907</c:v>
                </c:pt>
                <c:pt idx="93">
                  <c:v>55.572048577848356</c:v>
                </c:pt>
                <c:pt idx="94">
                  <c:v>54.491815963806353</c:v>
                </c:pt>
                <c:pt idx="95">
                  <c:v>55.562802744097169</c:v>
                </c:pt>
                <c:pt idx="96">
                  <c:v>56.690391313033771</c:v>
                </c:pt>
                <c:pt idx="97">
                  <c:v>57.700336834967345</c:v>
                </c:pt>
                <c:pt idx="98">
                  <c:v>55.760040639441328</c:v>
                </c:pt>
                <c:pt idx="99">
                  <c:v>46.718280136111758</c:v>
                </c:pt>
              </c:numCache>
            </c:numRef>
          </c:yVal>
          <c:smooth val="0"/>
          <c:extLst>
            <c:ext xmlns:c16="http://schemas.microsoft.com/office/drawing/2014/chart" uri="{C3380CC4-5D6E-409C-BE32-E72D297353CC}">
              <c16:uniqueId val="{00000001-AEE7-4C74-BE14-BC5C8CEC1A82}"/>
            </c:ext>
          </c:extLst>
        </c:ser>
        <c:ser>
          <c:idx val="2"/>
          <c:order val="2"/>
          <c:spPr>
            <a:ln w="28575" algn="ctr">
              <a:solidFill>
                <a:schemeClr val="accent4"/>
              </a:solidFill>
              <a:prstDash val="solid"/>
            </a:ln>
          </c:spPr>
          <c:marker>
            <c:symbol val="none"/>
          </c:marker>
          <c:xVal>
            <c:numRef>
              <c:f>Sheet1!$A$1:$CV$1</c:f>
              <c:numCache>
                <c:formatCode>General</c:formatCode>
                <c:ptCount val="100"/>
                <c:pt idx="0">
                  <c:v>15218</c:v>
                </c:pt>
                <c:pt idx="1">
                  <c:v>15279</c:v>
                </c:pt>
                <c:pt idx="2">
                  <c:v>15309</c:v>
                </c:pt>
                <c:pt idx="3">
                  <c:v>15431</c:v>
                </c:pt>
                <c:pt idx="4">
                  <c:v>15461</c:v>
                </c:pt>
                <c:pt idx="5">
                  <c:v>15492</c:v>
                </c:pt>
                <c:pt idx="6">
                  <c:v>15522</c:v>
                </c:pt>
                <c:pt idx="7">
                  <c:v>15553</c:v>
                </c:pt>
                <c:pt idx="8">
                  <c:v>15584</c:v>
                </c:pt>
                <c:pt idx="9">
                  <c:v>15614</c:v>
                </c:pt>
                <c:pt idx="10">
                  <c:v>15645</c:v>
                </c:pt>
                <c:pt idx="11">
                  <c:v>15675</c:v>
                </c:pt>
                <c:pt idx="12">
                  <c:v>15706</c:v>
                </c:pt>
                <c:pt idx="13">
                  <c:v>15737</c:v>
                </c:pt>
                <c:pt idx="14">
                  <c:v>15765</c:v>
                </c:pt>
                <c:pt idx="15">
                  <c:v>15796</c:v>
                </c:pt>
                <c:pt idx="16">
                  <c:v>15826</c:v>
                </c:pt>
                <c:pt idx="17">
                  <c:v>15857</c:v>
                </c:pt>
                <c:pt idx="18">
                  <c:v>15887</c:v>
                </c:pt>
                <c:pt idx="19">
                  <c:v>15918</c:v>
                </c:pt>
                <c:pt idx="20">
                  <c:v>15949</c:v>
                </c:pt>
                <c:pt idx="21">
                  <c:v>15979</c:v>
                </c:pt>
                <c:pt idx="22">
                  <c:v>16010</c:v>
                </c:pt>
                <c:pt idx="23">
                  <c:v>16040</c:v>
                </c:pt>
                <c:pt idx="24">
                  <c:v>16071</c:v>
                </c:pt>
                <c:pt idx="25">
                  <c:v>16102</c:v>
                </c:pt>
                <c:pt idx="26">
                  <c:v>16130</c:v>
                </c:pt>
                <c:pt idx="27">
                  <c:v>16161</c:v>
                </c:pt>
                <c:pt idx="28">
                  <c:v>16191</c:v>
                </c:pt>
                <c:pt idx="29">
                  <c:v>16222</c:v>
                </c:pt>
                <c:pt idx="30">
                  <c:v>16252</c:v>
                </c:pt>
                <c:pt idx="31">
                  <c:v>16283</c:v>
                </c:pt>
                <c:pt idx="32">
                  <c:v>16314</c:v>
                </c:pt>
                <c:pt idx="33">
                  <c:v>16344</c:v>
                </c:pt>
                <c:pt idx="34">
                  <c:v>16375</c:v>
                </c:pt>
                <c:pt idx="35">
                  <c:v>16405</c:v>
                </c:pt>
                <c:pt idx="36">
                  <c:v>16436</c:v>
                </c:pt>
                <c:pt idx="37">
                  <c:v>16467</c:v>
                </c:pt>
                <c:pt idx="38">
                  <c:v>16495</c:v>
                </c:pt>
                <c:pt idx="39">
                  <c:v>16526</c:v>
                </c:pt>
                <c:pt idx="40">
                  <c:v>16556</c:v>
                </c:pt>
                <c:pt idx="41">
                  <c:v>16587</c:v>
                </c:pt>
                <c:pt idx="42">
                  <c:v>16617</c:v>
                </c:pt>
                <c:pt idx="43">
                  <c:v>16648</c:v>
                </c:pt>
                <c:pt idx="44">
                  <c:v>16679</c:v>
                </c:pt>
                <c:pt idx="45">
                  <c:v>16709</c:v>
                </c:pt>
                <c:pt idx="46">
                  <c:v>16740</c:v>
                </c:pt>
                <c:pt idx="47">
                  <c:v>16770</c:v>
                </c:pt>
                <c:pt idx="48">
                  <c:v>16801</c:v>
                </c:pt>
                <c:pt idx="49">
                  <c:v>16832</c:v>
                </c:pt>
                <c:pt idx="50">
                  <c:v>16861</c:v>
                </c:pt>
                <c:pt idx="51">
                  <c:v>16892</c:v>
                </c:pt>
                <c:pt idx="52">
                  <c:v>16922</c:v>
                </c:pt>
                <c:pt idx="53">
                  <c:v>16953</c:v>
                </c:pt>
                <c:pt idx="54">
                  <c:v>16983</c:v>
                </c:pt>
                <c:pt idx="55">
                  <c:v>17014</c:v>
                </c:pt>
                <c:pt idx="56">
                  <c:v>17045</c:v>
                </c:pt>
                <c:pt idx="57">
                  <c:v>17075</c:v>
                </c:pt>
                <c:pt idx="58">
                  <c:v>17106</c:v>
                </c:pt>
                <c:pt idx="59">
                  <c:v>17136</c:v>
                </c:pt>
                <c:pt idx="60">
                  <c:v>17167</c:v>
                </c:pt>
                <c:pt idx="61">
                  <c:v>17198</c:v>
                </c:pt>
                <c:pt idx="62">
                  <c:v>17226</c:v>
                </c:pt>
                <c:pt idx="63">
                  <c:v>17257</c:v>
                </c:pt>
                <c:pt idx="64">
                  <c:v>17287</c:v>
                </c:pt>
                <c:pt idx="65">
                  <c:v>17318</c:v>
                </c:pt>
                <c:pt idx="66">
                  <c:v>17348</c:v>
                </c:pt>
                <c:pt idx="67">
                  <c:v>17379</c:v>
                </c:pt>
                <c:pt idx="68">
                  <c:v>17410</c:v>
                </c:pt>
                <c:pt idx="69">
                  <c:v>17440</c:v>
                </c:pt>
                <c:pt idx="70">
                  <c:v>17471</c:v>
                </c:pt>
                <c:pt idx="71">
                  <c:v>17501</c:v>
                </c:pt>
                <c:pt idx="72">
                  <c:v>17532</c:v>
                </c:pt>
                <c:pt idx="73">
                  <c:v>17563</c:v>
                </c:pt>
                <c:pt idx="74">
                  <c:v>17591</c:v>
                </c:pt>
                <c:pt idx="75">
                  <c:v>17622</c:v>
                </c:pt>
                <c:pt idx="76">
                  <c:v>17652</c:v>
                </c:pt>
                <c:pt idx="77">
                  <c:v>17683</c:v>
                </c:pt>
                <c:pt idx="78">
                  <c:v>17713</c:v>
                </c:pt>
                <c:pt idx="79">
                  <c:v>17744</c:v>
                </c:pt>
                <c:pt idx="80">
                  <c:v>17775</c:v>
                </c:pt>
                <c:pt idx="81">
                  <c:v>17805</c:v>
                </c:pt>
                <c:pt idx="82">
                  <c:v>17836</c:v>
                </c:pt>
                <c:pt idx="83">
                  <c:v>17866</c:v>
                </c:pt>
                <c:pt idx="84">
                  <c:v>17897</c:v>
                </c:pt>
                <c:pt idx="85">
                  <c:v>17928</c:v>
                </c:pt>
                <c:pt idx="86">
                  <c:v>17956</c:v>
                </c:pt>
                <c:pt idx="87">
                  <c:v>17987</c:v>
                </c:pt>
                <c:pt idx="88">
                  <c:v>18017</c:v>
                </c:pt>
                <c:pt idx="89">
                  <c:v>18048</c:v>
                </c:pt>
                <c:pt idx="90">
                  <c:v>18078</c:v>
                </c:pt>
                <c:pt idx="91">
                  <c:v>18109</c:v>
                </c:pt>
                <c:pt idx="92">
                  <c:v>18140</c:v>
                </c:pt>
                <c:pt idx="93">
                  <c:v>18170</c:v>
                </c:pt>
                <c:pt idx="94">
                  <c:v>18201</c:v>
                </c:pt>
                <c:pt idx="95">
                  <c:v>18231</c:v>
                </c:pt>
                <c:pt idx="96">
                  <c:v>18262</c:v>
                </c:pt>
                <c:pt idx="97">
                  <c:v>18293</c:v>
                </c:pt>
                <c:pt idx="98">
                  <c:v>18322</c:v>
                </c:pt>
                <c:pt idx="99">
                  <c:v>18353</c:v>
                </c:pt>
              </c:numCache>
            </c:numRef>
          </c:xVal>
          <c:yVal>
            <c:numRef>
              <c:f>Sheet1!$A$4:$CV$4</c:f>
              <c:numCache>
                <c:formatCode>General</c:formatCode>
                <c:ptCount val="100"/>
                <c:pt idx="0">
                  <c:v>51</c:v>
                </c:pt>
                <c:pt idx="1">
                  <c:v>56</c:v>
                </c:pt>
                <c:pt idx="2">
                  <c:v>61</c:v>
                </c:pt>
                <c:pt idx="3">
                  <c:v>61</c:v>
                </c:pt>
                <c:pt idx="4">
                  <c:v>61</c:v>
                </c:pt>
                <c:pt idx="5">
                  <c:v>61</c:v>
                </c:pt>
                <c:pt idx="6">
                  <c:v>61</c:v>
                </c:pt>
                <c:pt idx="7">
                  <c:v>61</c:v>
                </c:pt>
                <c:pt idx="8">
                  <c:v>61</c:v>
                </c:pt>
                <c:pt idx="9">
                  <c:v>61</c:v>
                </c:pt>
                <c:pt idx="10">
                  <c:v>61</c:v>
                </c:pt>
                <c:pt idx="11">
                  <c:v>61</c:v>
                </c:pt>
                <c:pt idx="12">
                  <c:v>68</c:v>
                </c:pt>
                <c:pt idx="13">
                  <c:v>68</c:v>
                </c:pt>
                <c:pt idx="14">
                  <c:v>68</c:v>
                </c:pt>
                <c:pt idx="15">
                  <c:v>68</c:v>
                </c:pt>
                <c:pt idx="16">
                  <c:v>68</c:v>
                </c:pt>
                <c:pt idx="17">
                  <c:v>68</c:v>
                </c:pt>
                <c:pt idx="18">
                  <c:v>68</c:v>
                </c:pt>
                <c:pt idx="19">
                  <c:v>68</c:v>
                </c:pt>
                <c:pt idx="20">
                  <c:v>68</c:v>
                </c:pt>
                <c:pt idx="21">
                  <c:v>68</c:v>
                </c:pt>
                <c:pt idx="22">
                  <c:v>68</c:v>
                </c:pt>
                <c:pt idx="23">
                  <c:v>68</c:v>
                </c:pt>
                <c:pt idx="24">
                  <c:v>68</c:v>
                </c:pt>
                <c:pt idx="25">
                  <c:v>68</c:v>
                </c:pt>
                <c:pt idx="26">
                  <c:v>68</c:v>
                </c:pt>
                <c:pt idx="27">
                  <c:v>68</c:v>
                </c:pt>
                <c:pt idx="28">
                  <c:v>68</c:v>
                </c:pt>
                <c:pt idx="29">
                  <c:v>68</c:v>
                </c:pt>
                <c:pt idx="30">
                  <c:v>68</c:v>
                </c:pt>
                <c:pt idx="31">
                  <c:v>68</c:v>
                </c:pt>
                <c:pt idx="32">
                  <c:v>68</c:v>
                </c:pt>
                <c:pt idx="33">
                  <c:v>68</c:v>
                </c:pt>
                <c:pt idx="34">
                  <c:v>68</c:v>
                </c:pt>
                <c:pt idx="35">
                  <c:v>68</c:v>
                </c:pt>
                <c:pt idx="36">
                  <c:v>68</c:v>
                </c:pt>
                <c:pt idx="37">
                  <c:v>68</c:v>
                </c:pt>
                <c:pt idx="38">
                  <c:v>68</c:v>
                </c:pt>
                <c:pt idx="39">
                  <c:v>68</c:v>
                </c:pt>
                <c:pt idx="40">
                  <c:v>68</c:v>
                </c:pt>
                <c:pt idx="41">
                  <c:v>68</c:v>
                </c:pt>
                <c:pt idx="42">
                  <c:v>68</c:v>
                </c:pt>
                <c:pt idx="43">
                  <c:v>68</c:v>
                </c:pt>
                <c:pt idx="44">
                  <c:v>68</c:v>
                </c:pt>
                <c:pt idx="45">
                  <c:v>68</c:v>
                </c:pt>
                <c:pt idx="46">
                  <c:v>68</c:v>
                </c:pt>
                <c:pt idx="47">
                  <c:v>68</c:v>
                </c:pt>
                <c:pt idx="48">
                  <c:v>68</c:v>
                </c:pt>
                <c:pt idx="49">
                  <c:v>68</c:v>
                </c:pt>
                <c:pt idx="50">
                  <c:v>68</c:v>
                </c:pt>
                <c:pt idx="51">
                  <c:v>68</c:v>
                </c:pt>
                <c:pt idx="52">
                  <c:v>65</c:v>
                </c:pt>
                <c:pt idx="53">
                  <c:v>65</c:v>
                </c:pt>
                <c:pt idx="54">
                  <c:v>65</c:v>
                </c:pt>
                <c:pt idx="55">
                  <c:v>65</c:v>
                </c:pt>
                <c:pt idx="56">
                  <c:v>65</c:v>
                </c:pt>
                <c:pt idx="57">
                  <c:v>65</c:v>
                </c:pt>
                <c:pt idx="58">
                  <c:v>65</c:v>
                </c:pt>
                <c:pt idx="59">
                  <c:v>65</c:v>
                </c:pt>
                <c:pt idx="60">
                  <c:v>65</c:v>
                </c:pt>
                <c:pt idx="61">
                  <c:v>65</c:v>
                </c:pt>
                <c:pt idx="62">
                  <c:v>65</c:v>
                </c:pt>
                <c:pt idx="63">
                  <c:v>65</c:v>
                </c:pt>
                <c:pt idx="64">
                  <c:v>65</c:v>
                </c:pt>
                <c:pt idx="65">
                  <c:v>65</c:v>
                </c:pt>
                <c:pt idx="66">
                  <c:v>65</c:v>
                </c:pt>
                <c:pt idx="67">
                  <c:v>65</c:v>
                </c:pt>
                <c:pt idx="68">
                  <c:v>65</c:v>
                </c:pt>
                <c:pt idx="69">
                  <c:v>65</c:v>
                </c:pt>
                <c:pt idx="70">
                  <c:v>65</c:v>
                </c:pt>
                <c:pt idx="71">
                  <c:v>65</c:v>
                </c:pt>
                <c:pt idx="72">
                  <c:v>65</c:v>
                </c:pt>
                <c:pt idx="73">
                  <c:v>65</c:v>
                </c:pt>
                <c:pt idx="74">
                  <c:v>65</c:v>
                </c:pt>
                <c:pt idx="75">
                  <c:v>65</c:v>
                </c:pt>
                <c:pt idx="76">
                  <c:v>65</c:v>
                </c:pt>
                <c:pt idx="77">
                  <c:v>65</c:v>
                </c:pt>
                <c:pt idx="78">
                  <c:v>65</c:v>
                </c:pt>
                <c:pt idx="79">
                  <c:v>65</c:v>
                </c:pt>
                <c:pt idx="80">
                  <c:v>65</c:v>
                </c:pt>
                <c:pt idx="81">
                  <c:v>65</c:v>
                </c:pt>
                <c:pt idx="82">
                  <c:v>65</c:v>
                </c:pt>
                <c:pt idx="83">
                  <c:v>65</c:v>
                </c:pt>
                <c:pt idx="84">
                  <c:v>65</c:v>
                </c:pt>
                <c:pt idx="85">
                  <c:v>65</c:v>
                </c:pt>
                <c:pt idx="86">
                  <c:v>65</c:v>
                </c:pt>
                <c:pt idx="87">
                  <c:v>65</c:v>
                </c:pt>
                <c:pt idx="88">
                  <c:v>65</c:v>
                </c:pt>
                <c:pt idx="89">
                  <c:v>65</c:v>
                </c:pt>
                <c:pt idx="90">
                  <c:v>65</c:v>
                </c:pt>
                <c:pt idx="91">
                  <c:v>65</c:v>
                </c:pt>
                <c:pt idx="92">
                  <c:v>65</c:v>
                </c:pt>
                <c:pt idx="93">
                  <c:v>65</c:v>
                </c:pt>
                <c:pt idx="94">
                  <c:v>65</c:v>
                </c:pt>
                <c:pt idx="95">
                  <c:v>65</c:v>
                </c:pt>
                <c:pt idx="96">
                  <c:v>65</c:v>
                </c:pt>
                <c:pt idx="97">
                  <c:v>65</c:v>
                </c:pt>
                <c:pt idx="98">
                  <c:v>65</c:v>
                </c:pt>
                <c:pt idx="99">
                  <c:v>65</c:v>
                </c:pt>
              </c:numCache>
            </c:numRef>
          </c:yVal>
          <c:smooth val="0"/>
          <c:extLst>
            <c:ext xmlns:c16="http://schemas.microsoft.com/office/drawing/2014/chart" uri="{C3380CC4-5D6E-409C-BE32-E72D297353CC}">
              <c16:uniqueId val="{00000002-AEE7-4C74-BE14-BC5C8CEC1A82}"/>
            </c:ext>
          </c:extLst>
        </c:ser>
        <c:dLbls>
          <c:showLegendKey val="0"/>
          <c:showVal val="0"/>
          <c:showCatName val="0"/>
          <c:showSerName val="0"/>
          <c:showPercent val="0"/>
          <c:showBubbleSize val="0"/>
        </c:dLbls>
        <c:axId val="3"/>
        <c:axId val="2"/>
      </c:scatterChart>
      <c:valAx>
        <c:axId val="573727079"/>
        <c:scaling>
          <c:orientation val="minMax"/>
          <c:max val="18628"/>
          <c:min val="14975"/>
        </c:scaling>
        <c:delete val="0"/>
        <c:axPos val="b"/>
        <c:majorGridlines>
          <c:spPr>
            <a:ln>
              <a:noFill/>
            </a:ln>
          </c:spPr>
        </c:majorGridlines>
        <c:numFmt formatCode="General" sourceLinked="1"/>
        <c:majorTickMark val="none"/>
        <c:minorTickMark val="none"/>
        <c:tickLblPos val="none"/>
        <c:spPr>
          <a:ln w="9525" algn="ctr">
            <a:solidFill>
              <a:schemeClr val="tx1"/>
            </a:solidFill>
            <a:prstDash val="solid"/>
          </a:ln>
        </c:spPr>
        <c:crossAx val="1"/>
        <c:crosses val="min"/>
        <c:crossBetween val="midCat"/>
      </c:valAx>
      <c:valAx>
        <c:axId val="1"/>
        <c:scaling>
          <c:orientation val="minMax"/>
          <c:max val="120"/>
          <c:min val="0"/>
        </c:scaling>
        <c:delete val="0"/>
        <c:axPos val="l"/>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800">
                <a:solidFill>
                  <a:schemeClr val="tx1"/>
                </a:solidFill>
                <a:latin typeface="+mn-lt"/>
                <a:ea typeface="+mn-ea"/>
                <a:cs typeface="+mn-cs"/>
                <a:sym typeface="+mn-lt"/>
              </a:defRPr>
            </a:pPr>
            <a:endParaRPr lang="en-US"/>
          </a:p>
        </c:txPr>
        <c:crossAx val="573727079"/>
        <c:crosses val="min"/>
        <c:crossBetween val="midCat"/>
        <c:majorUnit val="10"/>
      </c:valAx>
      <c:valAx>
        <c:axId val="2"/>
        <c:scaling>
          <c:orientation val="minMax"/>
          <c:max val="110"/>
          <c:min val="0"/>
        </c:scaling>
        <c:delete val="0"/>
        <c:axPos val="r"/>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800">
                <a:solidFill>
                  <a:schemeClr val="tx1"/>
                </a:solidFill>
                <a:latin typeface="+mn-lt"/>
                <a:ea typeface="+mn-ea"/>
                <a:cs typeface="+mn-cs"/>
                <a:sym typeface="+mn-lt"/>
              </a:defRPr>
            </a:pPr>
            <a:endParaRPr lang="en-US"/>
          </a:p>
        </c:txPr>
        <c:crossAx val="3"/>
        <c:crosses val="max"/>
        <c:crossBetween val="midCat"/>
        <c:majorUnit val="10"/>
      </c:valAx>
      <c:valAx>
        <c:axId val="3"/>
        <c:scaling>
          <c:orientation val="minMax"/>
          <c:max val="18628"/>
          <c:min val="14975"/>
        </c:scaling>
        <c:delete val="1"/>
        <c:axPos val="b"/>
        <c:numFmt formatCode="General" sourceLinked="1"/>
        <c:majorTickMark val="out"/>
        <c:minorTickMark val="none"/>
        <c:tickLblPos val="nextTo"/>
        <c:crossAx val="2"/>
        <c:crosses val="min"/>
        <c:crossBetween val="midCat"/>
      </c:valAx>
    </c:plotArea>
    <c:plotVisOnly val="0"/>
    <c:dispBlanksAs val="gap"/>
    <c:showDLblsOverMax val="1"/>
  </c:chart>
  <c:externalData r:id="rId1">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000" b="1" i="0" u="none" strike="noStrike" kern="1200" spc="0" baseline="0">
                <a:solidFill>
                  <a:schemeClr val="tx1"/>
                </a:solidFill>
                <a:latin typeface="+mn-lt"/>
                <a:ea typeface="+mn-ea"/>
                <a:cs typeface="+mn-cs"/>
              </a:defRPr>
            </a:pPr>
            <a:r>
              <a:rPr lang="en-US" sz="1000" b="1" baseline="0" dirty="0">
                <a:solidFill>
                  <a:schemeClr val="tx1"/>
                </a:solidFill>
              </a:rPr>
              <a:t>Landed HSD cost Forecast (BDT / Liter)</a:t>
            </a:r>
            <a:endParaRPr lang="en-IN" sz="1000" b="1" dirty="0">
              <a:solidFill>
                <a:schemeClr val="tx1"/>
              </a:solidFill>
            </a:endParaRPr>
          </a:p>
        </c:rich>
      </c:tx>
      <c:overlay val="0"/>
      <c:spPr>
        <a:noFill/>
        <a:ln>
          <a:noFill/>
        </a:ln>
        <a:effectLst/>
      </c:spPr>
      <c:txPr>
        <a:bodyPr rot="0" spcFirstLastPara="1" vertOverflow="ellipsis" vert="horz" wrap="square" anchor="ctr" anchorCtr="1"/>
        <a:lstStyle/>
        <a:p>
          <a:pPr>
            <a:defRPr sz="1000" b="1" i="0" u="none" strike="noStrike" kern="1200" spc="0" baseline="0">
              <a:solidFill>
                <a:schemeClr val="tx1"/>
              </a:solidFill>
              <a:latin typeface="+mn-lt"/>
              <a:ea typeface="+mn-ea"/>
              <a:cs typeface="+mn-cs"/>
            </a:defRPr>
          </a:pPr>
          <a:endParaRPr lang="en-US"/>
        </a:p>
      </c:txPr>
    </c:title>
    <c:autoTitleDeleted val="0"/>
    <c:plotArea>
      <c:layout/>
      <c:lineChart>
        <c:grouping val="standard"/>
        <c:varyColors val="0"/>
        <c:ser>
          <c:idx val="0"/>
          <c:order val="0"/>
          <c:tx>
            <c:strRef>
              <c:f>Sheet1!$B$1</c:f>
              <c:strCache>
                <c:ptCount val="1"/>
                <c:pt idx="0">
                  <c:v>Estimation for Landed HSD cost at Bangladesh</c:v>
                </c:pt>
              </c:strCache>
            </c:strRef>
          </c:tx>
          <c:spPr>
            <a:ln w="28575" cap="rnd">
              <a:solidFill>
                <a:schemeClr val="accent1"/>
              </a:solidFill>
              <a:round/>
            </a:ln>
            <a:effectLst/>
          </c:spPr>
          <c:marker>
            <c:symbol val="circle"/>
            <c:size val="5"/>
            <c:spPr>
              <a:solidFill>
                <a:schemeClr val="accent1"/>
              </a:solidFill>
              <a:ln w="9525">
                <a:solidFill>
                  <a:schemeClr val="accent1"/>
                </a:solidFill>
              </a:ln>
              <a:effectLst/>
            </c:spPr>
          </c:marker>
          <c:dLbls>
            <c:dLbl>
              <c:idx val="0"/>
              <c:layout>
                <c:manualLayout>
                  <c:x val="-1.8088339060787911E-2"/>
                  <c:y val="5.66703658934045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916-44D7-BB51-F34D2253F808}"/>
                </c:ext>
              </c:extLst>
            </c:dLbl>
            <c:dLbl>
              <c:idx val="1"/>
              <c:layout>
                <c:manualLayout>
                  <c:x val="-5.1753601850878163E-2"/>
                  <c:y val="5.380867105778907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916-44D7-BB51-F34D2253F808}"/>
                </c:ext>
              </c:extLst>
            </c:dLbl>
            <c:numFmt formatCode="#,##0.0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FY21 (P)</c:v>
                </c:pt>
                <c:pt idx="1">
                  <c:v>FY22 (P)</c:v>
                </c:pt>
                <c:pt idx="2">
                  <c:v>FY23 (P)</c:v>
                </c:pt>
                <c:pt idx="3">
                  <c:v>FY24 (P)</c:v>
                </c:pt>
                <c:pt idx="4">
                  <c:v>FY25 (P)</c:v>
                </c:pt>
                <c:pt idx="5">
                  <c:v>FY26 (P)</c:v>
                </c:pt>
              </c:strCache>
            </c:strRef>
          </c:cat>
          <c:val>
            <c:numRef>
              <c:f>Sheet1!$B$2:$B$7</c:f>
              <c:numCache>
                <c:formatCode>General</c:formatCode>
                <c:ptCount val="6"/>
                <c:pt idx="0">
                  <c:v>40.94</c:v>
                </c:pt>
                <c:pt idx="1">
                  <c:v>42.14</c:v>
                </c:pt>
                <c:pt idx="2">
                  <c:v>44.07</c:v>
                </c:pt>
                <c:pt idx="3">
                  <c:v>46.23</c:v>
                </c:pt>
                <c:pt idx="4">
                  <c:v>48.46</c:v>
                </c:pt>
                <c:pt idx="5">
                  <c:v>50.83</c:v>
                </c:pt>
              </c:numCache>
            </c:numRef>
          </c:val>
          <c:smooth val="0"/>
          <c:extLst>
            <c:ext xmlns:c16="http://schemas.microsoft.com/office/drawing/2014/chart" uri="{C3380CC4-5D6E-409C-BE32-E72D297353CC}">
              <c16:uniqueId val="{00000002-F916-44D7-BB51-F34D2253F808}"/>
            </c:ext>
          </c:extLst>
        </c:ser>
        <c:dLbls>
          <c:showLegendKey val="0"/>
          <c:showVal val="0"/>
          <c:showCatName val="0"/>
          <c:showSerName val="0"/>
          <c:showPercent val="0"/>
          <c:showBubbleSize val="0"/>
        </c:dLbls>
        <c:marker val="1"/>
        <c:smooth val="0"/>
        <c:axId val="872199536"/>
        <c:axId val="872208392"/>
      </c:lineChart>
      <c:catAx>
        <c:axId val="872199536"/>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872208392"/>
        <c:crosses val="autoZero"/>
        <c:auto val="1"/>
        <c:lblAlgn val="ctr"/>
        <c:lblOffset val="100"/>
        <c:noMultiLvlLbl val="0"/>
      </c:catAx>
      <c:valAx>
        <c:axId val="872208392"/>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872199536"/>
        <c:crosses val="autoZero"/>
        <c:crossBetween val="between"/>
      </c:valAx>
      <c:spPr>
        <a:noFill/>
        <a:ln w="25400">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900"/>
      </a:pPr>
      <a:endParaRPr lang="en-US"/>
    </a:p>
  </c:txPr>
  <c:externalData r:id="rId3">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5575364667747E-2"/>
          <c:y val="0.13475935828877006"/>
          <c:w val="0.96628849270664496"/>
          <c:h val="0.73048128342245988"/>
        </c:manualLayout>
      </c:layout>
      <c:barChart>
        <c:barDir val="col"/>
        <c:grouping val="clustered"/>
        <c:varyColors val="0"/>
        <c:ser>
          <c:idx val="0"/>
          <c:order val="0"/>
          <c:spPr>
            <a:solidFill>
              <a:srgbClr val="86BC25"/>
            </a:solidFill>
            <a:ln>
              <a:noFill/>
            </a:ln>
          </c:spPr>
          <c:invertIfNegative val="0"/>
          <c:dLbls>
            <c:dLbl>
              <c:idx val="0"/>
              <c:layout>
                <c:manualLayout>
                  <c:x val="0"/>
                  <c:y val="-0.24812834224598931"/>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1D7B-4C68-84CE-99E168BEA16F}"/>
                </c:ext>
              </c:extLst>
            </c:dLbl>
            <c:dLbl>
              <c:idx val="1"/>
              <c:layout>
                <c:manualLayout>
                  <c:x val="0"/>
                  <c:y val="-0.28235294117647058"/>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1D7B-4C68-84CE-99E168BEA16F}"/>
                </c:ext>
              </c:extLst>
            </c:dLbl>
            <c:dLbl>
              <c:idx val="2"/>
              <c:layout>
                <c:manualLayout>
                  <c:x val="0"/>
                  <c:y val="-0.30802139037433157"/>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1D7B-4C68-84CE-99E168BEA16F}"/>
                </c:ext>
              </c:extLst>
            </c:dLbl>
            <c:dLbl>
              <c:idx val="3"/>
              <c:layout>
                <c:manualLayout>
                  <c:x val="0"/>
                  <c:y val="-0.32727272727272727"/>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1D7B-4C68-84CE-99E168BEA16F}"/>
                </c:ext>
              </c:extLst>
            </c:dLbl>
            <c:dLbl>
              <c:idx val="4"/>
              <c:layout>
                <c:manualLayout>
                  <c:x val="0"/>
                  <c:y val="-0.360427807486631"/>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1D7B-4C68-84CE-99E168BEA16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204.82970218599999</c:v>
                </c:pt>
                <c:pt idx="1">
                  <c:v>242.00642178300001</c:v>
                </c:pt>
                <c:pt idx="2">
                  <c:v>271.03466527500001</c:v>
                </c:pt>
                <c:pt idx="3">
                  <c:v>293.64409364900001</c:v>
                </c:pt>
                <c:pt idx="4">
                  <c:v>332.033221083</c:v>
                </c:pt>
              </c:numCache>
            </c:numRef>
          </c:val>
          <c:extLst>
            <c:ext xmlns:c16="http://schemas.microsoft.com/office/drawing/2014/chart" uri="{C3380CC4-5D6E-409C-BE32-E72D297353CC}">
              <c16:uniqueId val="{00000005-1D7B-4C68-84CE-99E168BEA16F}"/>
            </c:ext>
          </c:extLst>
        </c:ser>
        <c:ser>
          <c:idx val="1"/>
          <c:order val="1"/>
          <c:spPr>
            <a:solidFill>
              <a:srgbClr val="046A38"/>
            </a:solidFill>
            <a:ln>
              <a:noFill/>
            </a:ln>
          </c:spPr>
          <c:invertIfNegative val="0"/>
          <c:dLbls>
            <c:dLbl>
              <c:idx val="0"/>
              <c:layout>
                <c:manualLayout>
                  <c:x val="0"/>
                  <c:y val="-9.8395721925133683E-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1D7B-4C68-84CE-99E168BEA16F}"/>
                </c:ext>
              </c:extLst>
            </c:dLbl>
            <c:dLbl>
              <c:idx val="1"/>
              <c:layout>
                <c:manualLayout>
                  <c:x val="0"/>
                  <c:y val="-4.0641711229946524E-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1D7B-4C68-84CE-99E168BEA16F}"/>
                </c:ext>
              </c:extLst>
            </c:dLbl>
            <c:dLbl>
              <c:idx val="2"/>
              <c:layout>
                <c:manualLayout>
                  <c:x val="0"/>
                  <c:y val="-5.1336898395721926E-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1D7B-4C68-84CE-99E168BEA16F}"/>
                </c:ext>
              </c:extLst>
            </c:dLbl>
            <c:dLbl>
              <c:idx val="3"/>
              <c:layout>
                <c:manualLayout>
                  <c:x val="0"/>
                  <c:y val="-0.12192513368983957"/>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1D7B-4C68-84CE-99E168BEA16F}"/>
                </c:ext>
              </c:extLst>
            </c:dLbl>
            <c:dLbl>
              <c:idx val="4"/>
              <c:layout>
                <c:manualLayout>
                  <c:x val="0"/>
                  <c:y val="2.1390374331550801E-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1D7B-4C68-84CE-99E168BEA16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Sheet1!$A$2:$E$2</c:f>
              <c:numCache>
                <c:formatCode>General</c:formatCode>
                <c:ptCount val="5"/>
                <c:pt idx="0">
                  <c:v>-69.317906590000007</c:v>
                </c:pt>
                <c:pt idx="1">
                  <c:v>-36.684789913000003</c:v>
                </c:pt>
                <c:pt idx="2">
                  <c:v>-42.426683908999998</c:v>
                </c:pt>
                <c:pt idx="3">
                  <c:v>-82.562044964999998</c:v>
                </c:pt>
                <c:pt idx="4">
                  <c:v>-1.0261443269999999</c:v>
                </c:pt>
              </c:numCache>
            </c:numRef>
          </c:val>
          <c:extLst>
            <c:ext xmlns:c16="http://schemas.microsoft.com/office/drawing/2014/chart" uri="{C3380CC4-5D6E-409C-BE32-E72D297353CC}">
              <c16:uniqueId val="{0000000B-1D7B-4C68-84CE-99E168BEA16F}"/>
            </c:ext>
          </c:extLst>
        </c:ser>
        <c:dLbls>
          <c:showLegendKey val="0"/>
          <c:showVal val="0"/>
          <c:showCatName val="0"/>
          <c:showSerName val="0"/>
          <c:showPercent val="0"/>
          <c:showBubbleSize val="0"/>
        </c:dLbls>
        <c:gapWidth val="150"/>
        <c:axId val="718231008"/>
        <c:axId val="1"/>
      </c:barChart>
      <c:catAx>
        <c:axId val="718231008"/>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At val="0"/>
        <c:auto val="0"/>
        <c:lblAlgn val="ctr"/>
        <c:lblOffset val="100"/>
        <c:noMultiLvlLbl val="0"/>
      </c:catAx>
      <c:valAx>
        <c:axId val="1"/>
        <c:scaling>
          <c:orientation val="minMax"/>
          <c:max val="332.033221083"/>
          <c:min val="-82.562044964999998"/>
        </c:scaling>
        <c:delete val="1"/>
        <c:axPos val="l"/>
        <c:numFmt formatCode="General" sourceLinked="1"/>
        <c:majorTickMark val="out"/>
        <c:minorTickMark val="none"/>
        <c:tickLblPos val="nextTo"/>
        <c:crossAx val="718231008"/>
        <c:crosses val="min"/>
        <c:crossBetween val="between"/>
      </c:valAx>
    </c:plotArea>
    <c:plotVisOnly val="0"/>
    <c:dispBlanksAs val="gap"/>
    <c:showDLblsOverMax val="1"/>
  </c:chart>
  <c:externalData r:id="rId1">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910569105691057E-2"/>
          <c:y val="7.252440725244072E-2"/>
          <c:w val="0.96617886178861789"/>
          <c:h val="0.8549511854951185"/>
        </c:manualLayout>
      </c:layout>
      <c:barChart>
        <c:barDir val="col"/>
        <c:grouping val="stacked"/>
        <c:varyColors val="0"/>
        <c:ser>
          <c:idx val="0"/>
          <c:order val="0"/>
          <c:spPr>
            <a:solidFill>
              <a:srgbClr val="046A38"/>
            </a:solidFill>
            <a:ln>
              <a:noFill/>
            </a:ln>
          </c:spPr>
          <c:invertIfNegative val="0"/>
          <c:dPt>
            <c:idx val="3"/>
            <c:invertIfNegative val="0"/>
            <c:bubble3D val="0"/>
            <c:spPr>
              <a:solidFill>
                <a:srgbClr val="86BC25"/>
              </a:solidFill>
              <a:ln>
                <a:noFill/>
              </a:ln>
            </c:spPr>
            <c:extLst>
              <c:ext xmlns:c16="http://schemas.microsoft.com/office/drawing/2014/chart" uri="{C3380CC4-5D6E-409C-BE32-E72D297353CC}">
                <c16:uniqueId val="{00000000-7A72-4A0A-B632-343801546A6F}"/>
              </c:ext>
            </c:extLst>
          </c:dPt>
          <c:dPt>
            <c:idx val="4"/>
            <c:invertIfNegative val="0"/>
            <c:bubble3D val="0"/>
            <c:spPr>
              <a:solidFill>
                <a:srgbClr val="86BC25"/>
              </a:solidFill>
              <a:ln>
                <a:noFill/>
              </a:ln>
            </c:spPr>
            <c:extLst>
              <c:ext xmlns:c16="http://schemas.microsoft.com/office/drawing/2014/chart" uri="{C3380CC4-5D6E-409C-BE32-E72D297353CC}">
                <c16:uniqueId val="{00000001-7A72-4A0A-B632-343801546A6F}"/>
              </c:ext>
            </c:extLst>
          </c:dPt>
          <c:dLbls>
            <c:dLbl>
              <c:idx val="4"/>
              <c:layout>
                <c:manualLayout>
                  <c:x val="0"/>
                  <c:y val="-1.3947001394700139E-3"/>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7A72-4A0A-B632-343801546A6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7.8066219779999999</c:v>
                </c:pt>
                <c:pt idx="1">
                  <c:v>9.9464978219999995</c:v>
                </c:pt>
                <c:pt idx="2">
                  <c:v>11.288297046</c:v>
                </c:pt>
                <c:pt idx="3">
                  <c:v>9.5619999999999994</c:v>
                </c:pt>
                <c:pt idx="4">
                  <c:v>79.667299999999997</c:v>
                </c:pt>
              </c:numCache>
            </c:numRef>
          </c:val>
          <c:extLst>
            <c:ext xmlns:c16="http://schemas.microsoft.com/office/drawing/2014/chart" uri="{C3380CC4-5D6E-409C-BE32-E72D297353CC}">
              <c16:uniqueId val="{00000002-7A72-4A0A-B632-343801546A6F}"/>
            </c:ext>
          </c:extLst>
        </c:ser>
        <c:ser>
          <c:idx val="1"/>
          <c:order val="1"/>
          <c:spPr>
            <a:solidFill>
              <a:srgbClr val="62B5E5"/>
            </a:solidFill>
            <a:ln>
              <a:noFill/>
            </a:ln>
          </c:spPr>
          <c:invertIfNegative val="0"/>
          <c:dPt>
            <c:idx val="3"/>
            <c:invertIfNegative val="0"/>
            <c:bubble3D val="0"/>
            <c:spPr>
              <a:solidFill>
                <a:srgbClr val="046A38"/>
              </a:solidFill>
              <a:ln>
                <a:noFill/>
              </a:ln>
            </c:spPr>
            <c:extLst>
              <c:ext xmlns:c16="http://schemas.microsoft.com/office/drawing/2014/chart" uri="{C3380CC4-5D6E-409C-BE32-E72D297353CC}">
                <c16:uniqueId val="{00000003-7A72-4A0A-B632-343801546A6F}"/>
              </c:ext>
            </c:extLst>
          </c:dPt>
          <c:dPt>
            <c:idx val="4"/>
            <c:invertIfNegative val="0"/>
            <c:bubble3D val="0"/>
            <c:spPr>
              <a:solidFill>
                <a:srgbClr val="046A38"/>
              </a:solidFill>
              <a:ln>
                <a:noFill/>
              </a:ln>
            </c:spPr>
            <c:extLst>
              <c:ext xmlns:c16="http://schemas.microsoft.com/office/drawing/2014/chart" uri="{C3380CC4-5D6E-409C-BE32-E72D297353CC}">
                <c16:uniqueId val="{00000004-7A72-4A0A-B632-343801546A6F}"/>
              </c:ext>
            </c:extLst>
          </c:dPt>
          <c:dLbls>
            <c:dLbl>
              <c:idx val="0"/>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7A72-4A0A-B632-343801546A6F}"/>
                </c:ext>
              </c:extLst>
            </c:dLbl>
            <c:dLbl>
              <c:idx val="1"/>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7A72-4A0A-B632-343801546A6F}"/>
                </c:ext>
              </c:extLst>
            </c:dLbl>
            <c:dLbl>
              <c:idx val="2"/>
              <c:layout>
                <c:manualLayout>
                  <c:x val="0"/>
                  <c:y val="-1.3947001394700139E-3"/>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7A72-4A0A-B632-343801546A6F}"/>
                </c:ext>
              </c:extLst>
            </c:dLbl>
            <c:dLbl>
              <c:idx val="3"/>
              <c:layout>
                <c:manualLayout>
                  <c:x val="2.6991869918699188E-2"/>
                  <c:y val="-1.3947001394700139E-3"/>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7A72-4A0A-B632-343801546A6F}"/>
                </c:ext>
              </c:extLst>
            </c:dLbl>
            <c:dLbl>
              <c:idx val="4"/>
              <c:layout>
                <c:manualLayout>
                  <c:x val="-2.6666666666666668E-2"/>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7A72-4A0A-B632-343801546A6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Sheet1!$A$2:$E$2</c:f>
              <c:numCache>
                <c:formatCode>General</c:formatCode>
                <c:ptCount val="5"/>
                <c:pt idx="0">
                  <c:v>91.852053333000001</c:v>
                </c:pt>
                <c:pt idx="1">
                  <c:v>27.949000000000005</c:v>
                </c:pt>
                <c:pt idx="2">
                  <c:v>39.940100000000001</c:v>
                </c:pt>
                <c:pt idx="3">
                  <c:v>11.883129000000002</c:v>
                </c:pt>
                <c:pt idx="4">
                  <c:v>12.948036000000002</c:v>
                </c:pt>
              </c:numCache>
            </c:numRef>
          </c:val>
          <c:extLst>
            <c:ext xmlns:c16="http://schemas.microsoft.com/office/drawing/2014/chart" uri="{C3380CC4-5D6E-409C-BE32-E72D297353CC}">
              <c16:uniqueId val="{00000008-7A72-4A0A-B632-343801546A6F}"/>
            </c:ext>
          </c:extLst>
        </c:ser>
        <c:ser>
          <c:idx val="2"/>
          <c:order val="2"/>
          <c:spPr>
            <a:solidFill>
              <a:srgbClr val="62B5E5"/>
            </a:solidFill>
            <a:ln>
              <a:noFill/>
            </a:ln>
          </c:spPr>
          <c:invertIfNegative val="0"/>
          <c:dLbls>
            <c:dLbl>
              <c:idx val="3"/>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7A72-4A0A-B632-343801546A6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Sheet1!$A$3:$E$3</c:f>
              <c:numCache>
                <c:formatCode>General</c:formatCode>
                <c:ptCount val="5"/>
                <c:pt idx="3">
                  <c:v>35.496899999999997</c:v>
                </c:pt>
                <c:pt idx="4">
                  <c:v>0</c:v>
                </c:pt>
              </c:numCache>
            </c:numRef>
          </c:val>
          <c:extLst>
            <c:ext xmlns:c16="http://schemas.microsoft.com/office/drawing/2014/chart" uri="{C3380CC4-5D6E-409C-BE32-E72D297353CC}">
              <c16:uniqueId val="{0000000A-7A72-4A0A-B632-343801546A6F}"/>
            </c:ext>
          </c:extLst>
        </c:ser>
        <c:dLbls>
          <c:showLegendKey val="0"/>
          <c:showVal val="0"/>
          <c:showCatName val="0"/>
          <c:showSerName val="0"/>
          <c:showPercent val="0"/>
          <c:showBubbleSize val="0"/>
        </c:dLbls>
        <c:gapWidth val="80"/>
        <c:overlap val="100"/>
        <c:axId val="822725184"/>
        <c:axId val="1"/>
      </c:barChart>
      <c:catAx>
        <c:axId val="822725184"/>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99.658675310999996"/>
          <c:min val="7.0110376564095871"/>
        </c:scaling>
        <c:delete val="1"/>
        <c:axPos val="r"/>
        <c:numFmt formatCode="General" sourceLinked="1"/>
        <c:majorTickMark val="out"/>
        <c:minorTickMark val="none"/>
        <c:tickLblPos val="nextTo"/>
        <c:crossAx val="822725184"/>
        <c:crosses val="max"/>
        <c:crossBetween val="between"/>
      </c:valAx>
    </c:plotArea>
    <c:plotVisOnly val="0"/>
    <c:dispBlanksAs val="gap"/>
    <c:showDLblsOverMax val="1"/>
  </c:chart>
  <c:externalData r:id="rId1">
    <c:autoUpdate val="0"/>
  </c:externalData>
</c:chartSpace>
</file>

<file path=ppt/charts/chart8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675050985723997E-2"/>
          <c:y val="6.7532467532467527E-2"/>
          <c:w val="0.96464989802855194"/>
          <c:h val="0.86493506493506489"/>
        </c:manualLayout>
      </c:layout>
      <c:barChart>
        <c:barDir val="col"/>
        <c:grouping val="stacked"/>
        <c:varyColors val="0"/>
        <c:ser>
          <c:idx val="0"/>
          <c:order val="0"/>
          <c:spPr>
            <a:solidFill>
              <a:srgbClr val="86BC25"/>
            </a:solidFill>
            <a:ln>
              <a:noFill/>
            </a:ln>
          </c:spPr>
          <c:invertIfNegative val="0"/>
          <c:dLbls>
            <c:dLbl>
              <c:idx val="0"/>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3437-4322-B06D-5457D0F86F0B}"/>
                </c:ext>
              </c:extLst>
            </c:dLbl>
            <c:dLbl>
              <c:idx val="1"/>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3437-4322-B06D-5457D0F86F0B}"/>
                </c:ext>
              </c:extLst>
            </c:dLbl>
            <c:dLbl>
              <c:idx val="2"/>
              <c:layout>
                <c:manualLayout>
                  <c:x val="0"/>
                  <c:y val="-1.2987012987012987E-3"/>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3437-4322-B06D-5457D0F86F0B}"/>
                </c:ext>
              </c:extLst>
            </c:dLbl>
            <c:dLbl>
              <c:idx val="3"/>
              <c:layout>
                <c:manualLayout>
                  <c:x val="0"/>
                  <c:y val="-1.2987012987012987E-3"/>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3437-4322-B06D-5457D0F86F0B}"/>
                </c:ext>
              </c:extLst>
            </c:dLbl>
            <c:dLbl>
              <c:idx val="4"/>
              <c:layout>
                <c:manualLayout>
                  <c:x val="0"/>
                  <c:y val="-1.2987012987012987E-3"/>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3437-4322-B06D-5457D0F86F0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126.44684719500003</c:v>
                </c:pt>
                <c:pt idx="1">
                  <c:v>139.86381354699998</c:v>
                </c:pt>
                <c:pt idx="2">
                  <c:v>155.218671911</c:v>
                </c:pt>
                <c:pt idx="3">
                  <c:v>168.36383507100004</c:v>
                </c:pt>
                <c:pt idx="4">
                  <c:v>180.99900966399994</c:v>
                </c:pt>
              </c:numCache>
            </c:numRef>
          </c:val>
          <c:extLst>
            <c:ext xmlns:c16="http://schemas.microsoft.com/office/drawing/2014/chart" uri="{C3380CC4-5D6E-409C-BE32-E72D297353CC}">
              <c16:uniqueId val="{00000005-3437-4322-B06D-5457D0F86F0B}"/>
            </c:ext>
          </c:extLst>
        </c:ser>
        <c:ser>
          <c:idx val="1"/>
          <c:order val="1"/>
          <c:spPr>
            <a:solidFill>
              <a:srgbClr val="62B5E5"/>
            </a:solidFill>
            <a:ln>
              <a:noFill/>
            </a:ln>
          </c:spPr>
          <c:invertIfNegative val="0"/>
          <c:dLbls>
            <c:dLbl>
              <c:idx val="0"/>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3437-4322-B06D-5457D0F86F0B}"/>
                </c:ext>
              </c:extLst>
            </c:dLbl>
            <c:dLbl>
              <c:idx val="1"/>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3437-4322-B06D-5457D0F86F0B}"/>
                </c:ext>
              </c:extLst>
            </c:dLbl>
            <c:dLbl>
              <c:idx val="2"/>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3437-4322-B06D-5457D0F86F0B}"/>
                </c:ext>
              </c:extLst>
            </c:dLbl>
            <c:dLbl>
              <c:idx val="3"/>
              <c:layout>
                <c:manualLayout>
                  <c:x val="0"/>
                  <c:y val="-1.2987012987012987E-3"/>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3437-4322-B06D-5457D0F86F0B}"/>
                </c:ext>
              </c:extLst>
            </c:dLbl>
            <c:dLbl>
              <c:idx val="4"/>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3437-4322-B06D-5457D0F86F0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Sheet1!$A$2:$E$2</c:f>
              <c:numCache>
                <c:formatCode>General</c:formatCode>
                <c:ptCount val="5"/>
                <c:pt idx="0">
                  <c:v>129.13797054099999</c:v>
                </c:pt>
                <c:pt idx="1">
                  <c:v>133.63575834100001</c:v>
                </c:pt>
                <c:pt idx="2">
                  <c:v>139.16012454099996</c:v>
                </c:pt>
                <c:pt idx="3">
                  <c:v>149.10935489299999</c:v>
                </c:pt>
                <c:pt idx="4">
                  <c:v>154.03842509299997</c:v>
                </c:pt>
              </c:numCache>
            </c:numRef>
          </c:val>
          <c:extLst>
            <c:ext xmlns:c16="http://schemas.microsoft.com/office/drawing/2014/chart" uri="{C3380CC4-5D6E-409C-BE32-E72D297353CC}">
              <c16:uniqueId val="{0000000B-3437-4322-B06D-5457D0F86F0B}"/>
            </c:ext>
          </c:extLst>
        </c:ser>
        <c:ser>
          <c:idx val="2"/>
          <c:order val="2"/>
          <c:spPr>
            <a:solidFill>
              <a:srgbClr val="046A38"/>
            </a:solidFill>
            <a:ln>
              <a:noFill/>
            </a:ln>
          </c:spPr>
          <c:invertIfNegative val="0"/>
          <c:dLbls>
            <c:dLbl>
              <c:idx val="0"/>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3437-4322-B06D-5457D0F86F0B}"/>
                </c:ext>
              </c:extLst>
            </c:dLbl>
            <c:dLbl>
              <c:idx val="1"/>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3437-4322-B06D-5457D0F86F0B}"/>
                </c:ext>
              </c:extLst>
            </c:dLbl>
            <c:dLbl>
              <c:idx val="2"/>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3437-4322-B06D-5457D0F86F0B}"/>
                </c:ext>
              </c:extLst>
            </c:dLbl>
            <c:dLbl>
              <c:idx val="3"/>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3437-4322-B06D-5457D0F86F0B}"/>
                </c:ext>
              </c:extLst>
            </c:dLbl>
            <c:dLbl>
              <c:idx val="4"/>
              <c:layout>
                <c:manualLayout>
                  <c:x val="0"/>
                  <c:y val="1.2987012987012987E-3"/>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3437-4322-B06D-5457D0F86F0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Sheet1!$A$3:$E$3</c:f>
              <c:numCache>
                <c:formatCode>General</c:formatCode>
                <c:ptCount val="5"/>
                <c:pt idx="0">
                  <c:v>-388.803270634</c:v>
                </c:pt>
                <c:pt idx="1">
                  <c:v>-420.58261715100002</c:v>
                </c:pt>
                <c:pt idx="2">
                  <c:v>-460.25169658700003</c:v>
                </c:pt>
                <c:pt idx="3">
                  <c:v>-542.75736867900002</c:v>
                </c:pt>
                <c:pt idx="4">
                  <c:v>-546.24444106399994</c:v>
                </c:pt>
              </c:numCache>
            </c:numRef>
          </c:val>
          <c:extLst>
            <c:ext xmlns:c16="http://schemas.microsoft.com/office/drawing/2014/chart" uri="{C3380CC4-5D6E-409C-BE32-E72D297353CC}">
              <c16:uniqueId val="{00000011-3437-4322-B06D-5457D0F86F0B}"/>
            </c:ext>
          </c:extLst>
        </c:ser>
        <c:dLbls>
          <c:showLegendKey val="0"/>
          <c:showVal val="0"/>
          <c:showCatName val="0"/>
          <c:showSerName val="0"/>
          <c:showPercent val="0"/>
          <c:showBubbleSize val="0"/>
        </c:dLbls>
        <c:gapWidth val="80"/>
        <c:overlap val="100"/>
        <c:axId val="717749664"/>
        <c:axId val="1"/>
      </c:barChart>
      <c:catAx>
        <c:axId val="717749664"/>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At val="0"/>
        <c:auto val="0"/>
        <c:lblAlgn val="ctr"/>
        <c:lblOffset val="100"/>
        <c:noMultiLvlLbl val="0"/>
      </c:catAx>
      <c:valAx>
        <c:axId val="1"/>
        <c:scaling>
          <c:orientation val="minMax"/>
          <c:max val="335.03743475699991"/>
          <c:min val="-546.24444106399994"/>
        </c:scaling>
        <c:delete val="1"/>
        <c:axPos val="l"/>
        <c:numFmt formatCode="General" sourceLinked="1"/>
        <c:majorTickMark val="out"/>
        <c:minorTickMark val="none"/>
        <c:tickLblPos val="nextTo"/>
        <c:crossAx val="717749664"/>
        <c:crosses val="min"/>
        <c:crossBetween val="between"/>
      </c:valAx>
    </c:plotArea>
    <c:plotVisOnly val="0"/>
    <c:dispBlanksAs val="gap"/>
    <c:showDLblsOverMax val="1"/>
  </c:chart>
  <c:externalData r:id="rId1">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675050985723997E-2"/>
          <c:y val="8.4967320261437912E-2"/>
          <c:w val="0.96464989802855194"/>
          <c:h val="0.83006535947712423"/>
        </c:manualLayout>
      </c:layout>
      <c:barChart>
        <c:barDir val="col"/>
        <c:grouping val="stacked"/>
        <c:varyColors val="0"/>
        <c:ser>
          <c:idx val="0"/>
          <c:order val="0"/>
          <c:spPr>
            <a:solidFill>
              <a:srgbClr val="86BC25"/>
            </a:solidFill>
            <a:ln>
              <a:noFill/>
            </a:ln>
          </c:spPr>
          <c:invertIfNegative val="0"/>
          <c:dLbls>
            <c:dLbl>
              <c:idx val="2"/>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830E-4742-A7BE-80F359248975}"/>
                </c:ext>
              </c:extLst>
            </c:dLbl>
            <c:dLbl>
              <c:idx val="3"/>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830E-4742-A7BE-80F359248975}"/>
                </c:ext>
              </c:extLst>
            </c:dLbl>
            <c:dLbl>
              <c:idx val="4"/>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830E-4742-A7BE-80F35924897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15.707807986000001</c:v>
                </c:pt>
                <c:pt idx="1">
                  <c:v>40.790702416999999</c:v>
                </c:pt>
                <c:pt idx="2">
                  <c:v>94.865814654999994</c:v>
                </c:pt>
                <c:pt idx="3">
                  <c:v>127.69323947700001</c:v>
                </c:pt>
                <c:pt idx="4">
                  <c:v>129.81717843199999</c:v>
                </c:pt>
              </c:numCache>
            </c:numRef>
          </c:val>
          <c:extLst>
            <c:ext xmlns:c16="http://schemas.microsoft.com/office/drawing/2014/chart" uri="{C3380CC4-5D6E-409C-BE32-E72D297353CC}">
              <c16:uniqueId val="{00000003-830E-4742-A7BE-80F359248975}"/>
            </c:ext>
          </c:extLst>
        </c:ser>
        <c:ser>
          <c:idx val="1"/>
          <c:order val="1"/>
          <c:spPr>
            <a:solidFill>
              <a:srgbClr val="046A38"/>
            </a:solidFill>
            <a:ln>
              <a:noFill/>
            </a:ln>
          </c:spPr>
          <c:invertIfNegative val="0"/>
          <c:dLbls>
            <c:dLbl>
              <c:idx val="0"/>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830E-4742-A7BE-80F359248975}"/>
                </c:ext>
              </c:extLst>
            </c:dLbl>
            <c:dLbl>
              <c:idx val="1"/>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830E-4742-A7BE-80F359248975}"/>
                </c:ext>
              </c:extLst>
            </c:dLbl>
            <c:dLbl>
              <c:idx val="2"/>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830E-4742-A7BE-80F359248975}"/>
                </c:ext>
              </c:extLst>
            </c:dLbl>
            <c:dLbl>
              <c:idx val="3"/>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830E-4742-A7BE-80F359248975}"/>
                </c:ext>
              </c:extLst>
            </c:dLbl>
            <c:dLbl>
              <c:idx val="4"/>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830E-4742-A7BE-80F35924897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Sheet1!$A$2:$E$2</c:f>
              <c:numCache>
                <c:formatCode>General</c:formatCode>
                <c:ptCount val="5"/>
                <c:pt idx="0">
                  <c:v>328.21519999999998</c:v>
                </c:pt>
                <c:pt idx="1">
                  <c:v>356.16419999999999</c:v>
                </c:pt>
                <c:pt idx="2">
                  <c:v>396.10430000000002</c:v>
                </c:pt>
                <c:pt idx="3">
                  <c:v>431.60119999999995</c:v>
                </c:pt>
                <c:pt idx="4">
                  <c:v>431.60120000000006</c:v>
                </c:pt>
              </c:numCache>
            </c:numRef>
          </c:val>
          <c:extLst>
            <c:ext xmlns:c16="http://schemas.microsoft.com/office/drawing/2014/chart" uri="{C3380CC4-5D6E-409C-BE32-E72D297353CC}">
              <c16:uniqueId val="{00000009-830E-4742-A7BE-80F359248975}"/>
            </c:ext>
          </c:extLst>
        </c:ser>
        <c:ser>
          <c:idx val="2"/>
          <c:order val="2"/>
          <c:spPr>
            <a:solidFill>
              <a:srgbClr val="62B5E5"/>
            </a:solidFill>
            <a:ln>
              <a:noFill/>
            </a:ln>
          </c:spPr>
          <c:invertIfNegative val="0"/>
          <c:val>
            <c:numRef>
              <c:f>Sheet1!$A$3:$E$3</c:f>
              <c:numCache>
                <c:formatCode>General</c:formatCode>
                <c:ptCount val="5"/>
                <c:pt idx="0">
                  <c:v>53.471836208000013</c:v>
                </c:pt>
                <c:pt idx="1">
                  <c:v>53.880011458000013</c:v>
                </c:pt>
                <c:pt idx="2">
                  <c:v>54.580323557999975</c:v>
                </c:pt>
                <c:pt idx="3">
                  <c:v>59.169963062999955</c:v>
                </c:pt>
                <c:pt idx="4">
                  <c:v>59.852728802999991</c:v>
                </c:pt>
              </c:numCache>
            </c:numRef>
          </c:val>
          <c:extLst>
            <c:ext xmlns:c16="http://schemas.microsoft.com/office/drawing/2014/chart" uri="{C3380CC4-5D6E-409C-BE32-E72D297353CC}">
              <c16:uniqueId val="{0000000A-830E-4742-A7BE-80F359248975}"/>
            </c:ext>
          </c:extLst>
        </c:ser>
        <c:dLbls>
          <c:showLegendKey val="0"/>
          <c:showVal val="0"/>
          <c:showCatName val="0"/>
          <c:showSerName val="0"/>
          <c:showPercent val="0"/>
          <c:showBubbleSize val="0"/>
        </c:dLbls>
        <c:gapWidth val="80"/>
        <c:overlap val="100"/>
        <c:axId val="715822648"/>
        <c:axId val="1"/>
      </c:barChart>
      <c:catAx>
        <c:axId val="715822648"/>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621.27110723500004"/>
          <c:min val="0"/>
        </c:scaling>
        <c:delete val="1"/>
        <c:axPos val="l"/>
        <c:numFmt formatCode="General" sourceLinked="1"/>
        <c:majorTickMark val="out"/>
        <c:minorTickMark val="none"/>
        <c:tickLblPos val="nextTo"/>
        <c:crossAx val="715822648"/>
        <c:crosses val="min"/>
        <c:crossBetween val="between"/>
      </c:valAx>
    </c:plotArea>
    <c:plotVisOnly val="0"/>
    <c:dispBlanksAs val="gap"/>
    <c:showDLblsOverMax val="1"/>
  </c:chart>
  <c:externalData r:id="rId1">
    <c:autoUpdate val="0"/>
  </c:externalData>
</c:chartSpace>
</file>

<file path=ppt/charts/chart9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110891740704178E-2"/>
          <c:y val="0.16237113402061856"/>
          <c:w val="0.96577821651859164"/>
          <c:h val="0.77061855670103097"/>
        </c:manualLayout>
      </c:layout>
      <c:barChart>
        <c:barDir val="col"/>
        <c:grouping val="clustered"/>
        <c:varyColors val="0"/>
        <c:ser>
          <c:idx val="0"/>
          <c:order val="0"/>
          <c:spPr>
            <a:solidFill>
              <a:srgbClr val="86BC25"/>
            </a:solidFill>
            <a:ln>
              <a:noFill/>
            </a:ln>
          </c:spPr>
          <c:invertIfNegative val="0"/>
          <c:dLbls>
            <c:dLbl>
              <c:idx val="0"/>
              <c:layout>
                <c:manualLayout>
                  <c:x val="0"/>
                  <c:y val="-0.46649484536082475"/>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0DC9-49EB-B6E0-2B4905009483}"/>
                </c:ext>
              </c:extLst>
            </c:dLbl>
            <c:dLbl>
              <c:idx val="1"/>
              <c:layout>
                <c:manualLayout>
                  <c:x val="0"/>
                  <c:y val="-0.42139175257731959"/>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0DC9-49EB-B6E0-2B4905009483}"/>
                </c:ext>
              </c:extLst>
            </c:dLbl>
            <c:dLbl>
              <c:idx val="2"/>
              <c:layout>
                <c:manualLayout>
                  <c:x val="0"/>
                  <c:y val="-0.4265463917525773"/>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0DC9-49EB-B6E0-2B4905009483}"/>
                </c:ext>
              </c:extLst>
            </c:dLbl>
            <c:dLbl>
              <c:idx val="3"/>
              <c:layout>
                <c:manualLayout>
                  <c:x val="0"/>
                  <c:y val="-0.46778350515463918"/>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0DC9-49EB-B6E0-2B4905009483}"/>
                </c:ext>
              </c:extLst>
            </c:dLbl>
            <c:dLbl>
              <c:idx val="4"/>
              <c:layout>
                <c:manualLayout>
                  <c:x val="0"/>
                  <c:y val="-0.4484536082474227"/>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0DC9-49EB-B6E0-2B490500948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6.3142633829065842</c:v>
                </c:pt>
                <c:pt idx="1">
                  <c:v>5.5750100143545094</c:v>
                </c:pt>
                <c:pt idx="2">
                  <c:v>5.6596879972999927</c:v>
                </c:pt>
                <c:pt idx="3">
                  <c:v>6.3324385691089802</c:v>
                </c:pt>
                <c:pt idx="4">
                  <c:v>6.0124496965011476</c:v>
                </c:pt>
              </c:numCache>
            </c:numRef>
          </c:val>
          <c:extLst>
            <c:ext xmlns:c16="http://schemas.microsoft.com/office/drawing/2014/chart" uri="{C3380CC4-5D6E-409C-BE32-E72D297353CC}">
              <c16:uniqueId val="{00000005-0DC9-49EB-B6E0-2B4905009483}"/>
            </c:ext>
          </c:extLst>
        </c:ser>
        <c:ser>
          <c:idx val="1"/>
          <c:order val="1"/>
          <c:spPr>
            <a:solidFill>
              <a:srgbClr val="046A38"/>
            </a:solidFill>
            <a:ln>
              <a:noFill/>
            </a:ln>
          </c:spPr>
          <c:invertIfNegative val="0"/>
          <c:dLbls>
            <c:dLbl>
              <c:idx val="0"/>
              <c:layout>
                <c:manualLayout>
                  <c:x val="0"/>
                  <c:y val="-0.375"/>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0DC9-49EB-B6E0-2B4905009483}"/>
                </c:ext>
              </c:extLst>
            </c:dLbl>
            <c:dLbl>
              <c:idx val="1"/>
              <c:layout>
                <c:manualLayout>
                  <c:x val="0"/>
                  <c:y val="-0.38917525773195877"/>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0DC9-49EB-B6E0-2B4905009483}"/>
                </c:ext>
              </c:extLst>
            </c:dLbl>
            <c:dLbl>
              <c:idx val="2"/>
              <c:layout>
                <c:manualLayout>
                  <c:x val="0"/>
                  <c:y val="-0.3917525773195876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0DC9-49EB-B6E0-2B4905009483}"/>
                </c:ext>
              </c:extLst>
            </c:dLbl>
            <c:dLbl>
              <c:idx val="3"/>
              <c:layout>
                <c:manualLayout>
                  <c:x val="0"/>
                  <c:y val="-0.38788659793814434"/>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0DC9-49EB-B6E0-2B4905009483}"/>
                </c:ext>
              </c:extLst>
            </c:dLbl>
            <c:dLbl>
              <c:idx val="4"/>
              <c:layout>
                <c:manualLayout>
                  <c:x val="0"/>
                  <c:y val="-0.38402061855670105"/>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0DC9-49EB-B6E0-2B490500948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Sheet1!$A$2:$E$2</c:f>
              <c:numCache>
                <c:formatCode>General</c:formatCode>
                <c:ptCount val="5"/>
                <c:pt idx="0">
                  <c:v>4.8091371987704434</c:v>
                </c:pt>
                <c:pt idx="1">
                  <c:v>5.0259740259740262</c:v>
                </c:pt>
                <c:pt idx="2">
                  <c:v>5.0699421322056528</c:v>
                </c:pt>
                <c:pt idx="3">
                  <c:v>5.0172402147850459</c:v>
                </c:pt>
                <c:pt idx="4">
                  <c:v>4.9691937786460292</c:v>
                </c:pt>
              </c:numCache>
            </c:numRef>
          </c:val>
          <c:extLst>
            <c:ext xmlns:c16="http://schemas.microsoft.com/office/drawing/2014/chart" uri="{C3380CC4-5D6E-409C-BE32-E72D297353CC}">
              <c16:uniqueId val="{0000000B-0DC9-49EB-B6E0-2B4905009483}"/>
            </c:ext>
          </c:extLst>
        </c:ser>
        <c:dLbls>
          <c:showLegendKey val="0"/>
          <c:showVal val="0"/>
          <c:showCatName val="0"/>
          <c:showSerName val="0"/>
          <c:showPercent val="0"/>
          <c:showBubbleSize val="0"/>
        </c:dLbls>
        <c:gapWidth val="150"/>
        <c:axId val="979948184"/>
        <c:axId val="1"/>
      </c:barChart>
      <c:catAx>
        <c:axId val="979948184"/>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6.3324385691089802"/>
          <c:min val="0"/>
        </c:scaling>
        <c:delete val="1"/>
        <c:axPos val="l"/>
        <c:numFmt formatCode="General" sourceLinked="1"/>
        <c:majorTickMark val="out"/>
        <c:minorTickMark val="none"/>
        <c:tickLblPos val="nextTo"/>
        <c:crossAx val="979948184"/>
        <c:crosses val="min"/>
        <c:crossBetween val="between"/>
      </c:valAx>
    </c:plotArea>
    <c:plotVisOnly val="0"/>
    <c:dispBlanksAs val="gap"/>
    <c:showDLblsOverMax val="1"/>
  </c:chart>
  <c:externalData r:id="rId1">
    <c:autoUpdate val="0"/>
  </c:externalData>
</c:chartSpace>
</file>

<file path=ppt/charts/chart9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110891740704178E-2"/>
          <c:y val="0.1501787842669845"/>
          <c:w val="0.96577821651859164"/>
          <c:h val="0.78784266984505358"/>
        </c:manualLayout>
      </c:layout>
      <c:barChart>
        <c:barDir val="col"/>
        <c:grouping val="clustered"/>
        <c:varyColors val="0"/>
        <c:ser>
          <c:idx val="0"/>
          <c:order val="0"/>
          <c:spPr>
            <a:solidFill>
              <a:srgbClr val="86BC25"/>
            </a:solidFill>
            <a:ln>
              <a:noFill/>
            </a:ln>
          </c:spPr>
          <c:invertIfNegative val="0"/>
          <c:dLbls>
            <c:dLbl>
              <c:idx val="0"/>
              <c:layout>
                <c:manualLayout>
                  <c:x val="0"/>
                  <c:y val="-4.6483909415971393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D69C-4D14-8A41-CE7BCECC5E9C}"/>
                </c:ext>
              </c:extLst>
            </c:dLbl>
            <c:dLbl>
              <c:idx val="1"/>
              <c:layout>
                <c:manualLayout>
                  <c:x val="0"/>
                  <c:y val="-5.2443384982121574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D69C-4D14-8A41-CE7BCECC5E9C}"/>
                </c:ext>
              </c:extLst>
            </c:dLbl>
            <c:dLbl>
              <c:idx val="2"/>
              <c:layout>
                <c:manualLayout>
                  <c:x val="0"/>
                  <c:y val="-5.0059594755661505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D69C-4D14-8A41-CE7BCECC5E9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2.5977057787993623</c:v>
                </c:pt>
                <c:pt idx="1">
                  <c:v>2.8132901127917309</c:v>
                </c:pt>
                <c:pt idx="2">
                  <c:v>2.7288517769367706</c:v>
                </c:pt>
              </c:numCache>
            </c:numRef>
          </c:val>
          <c:extLst>
            <c:ext xmlns:c16="http://schemas.microsoft.com/office/drawing/2014/chart" uri="{C3380CC4-5D6E-409C-BE32-E72D297353CC}">
              <c16:uniqueId val="{00000003-D69C-4D14-8A41-CE7BCECC5E9C}"/>
            </c:ext>
          </c:extLst>
        </c:ser>
        <c:ser>
          <c:idx val="1"/>
          <c:order val="1"/>
          <c:spPr>
            <a:solidFill>
              <a:srgbClr val="046A38"/>
            </a:solidFill>
            <a:ln>
              <a:noFill/>
            </a:ln>
          </c:spPr>
          <c:invertIfNegative val="0"/>
          <c:dLbls>
            <c:dLbl>
              <c:idx val="0"/>
              <c:layout>
                <c:manualLayout>
                  <c:x val="0"/>
                  <c:y val="-0.38974970202622167"/>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D69C-4D14-8A41-CE7BCECC5E9C}"/>
                </c:ext>
              </c:extLst>
            </c:dLbl>
            <c:dLbl>
              <c:idx val="1"/>
              <c:layout>
                <c:manualLayout>
                  <c:x val="0"/>
                  <c:y val="-0.35518474374255066"/>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D69C-4D14-8A41-CE7BCECC5E9C}"/>
                </c:ext>
              </c:extLst>
            </c:dLbl>
            <c:dLbl>
              <c:idx val="2"/>
              <c:layout>
                <c:manualLayout>
                  <c:x val="0"/>
                  <c:y val="-0.47079856972586415"/>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D69C-4D14-8A41-CE7BCECC5E9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22.422028376029687</c:v>
                </c:pt>
                <c:pt idx="1">
                  <c:v>19.991443202895383</c:v>
                </c:pt>
                <c:pt idx="2">
                  <c:v>28.167294292682072</c:v>
                </c:pt>
              </c:numCache>
            </c:numRef>
          </c:val>
          <c:extLst>
            <c:ext xmlns:c16="http://schemas.microsoft.com/office/drawing/2014/chart" uri="{C3380CC4-5D6E-409C-BE32-E72D297353CC}">
              <c16:uniqueId val="{00000007-D69C-4D14-8A41-CE7BCECC5E9C}"/>
            </c:ext>
          </c:extLst>
        </c:ser>
        <c:ser>
          <c:idx val="2"/>
          <c:order val="2"/>
          <c:spPr>
            <a:solidFill>
              <a:srgbClr val="62B5E5"/>
            </a:solidFill>
            <a:ln>
              <a:noFill/>
            </a:ln>
          </c:spPr>
          <c:invertIfNegative val="0"/>
          <c:dLbls>
            <c:dLbl>
              <c:idx val="0"/>
              <c:layout>
                <c:manualLayout>
                  <c:x val="5.9230009871668312E-3"/>
                  <c:y val="-0.23837902264600716"/>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D69C-4D14-8A41-CE7BCECC5E9C}"/>
                </c:ext>
              </c:extLst>
            </c:dLbl>
            <c:dLbl>
              <c:idx val="1"/>
              <c:layout>
                <c:manualLayout>
                  <c:x val="5.9230009871668312E-3"/>
                  <c:y val="-0.23718712753277713"/>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D69C-4D14-8A41-CE7BCECC5E9C}"/>
                </c:ext>
              </c:extLst>
            </c:dLbl>
            <c:dLbl>
              <c:idx val="2"/>
              <c:layout>
                <c:manualLayout>
                  <c:x val="5.9230009871668312E-3"/>
                  <c:y val="-0.26817640047675806"/>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D69C-4D14-8A41-CE7BCECC5E9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Sheet1!$A$3:$C$3</c:f>
              <c:numCache>
                <c:formatCode>General</c:formatCode>
                <c:ptCount val="3"/>
                <c:pt idx="0">
                  <c:v>11.531491744558622</c:v>
                </c:pt>
                <c:pt idx="1">
                  <c:v>11.443999959498582</c:v>
                </c:pt>
                <c:pt idx="2">
                  <c:v>13.774070224699139</c:v>
                </c:pt>
              </c:numCache>
            </c:numRef>
          </c:val>
          <c:extLst>
            <c:ext xmlns:c16="http://schemas.microsoft.com/office/drawing/2014/chart" uri="{C3380CC4-5D6E-409C-BE32-E72D297353CC}">
              <c16:uniqueId val="{0000000B-D69C-4D14-8A41-CE7BCECC5E9C}"/>
            </c:ext>
          </c:extLst>
        </c:ser>
        <c:ser>
          <c:idx val="3"/>
          <c:order val="3"/>
          <c:spPr>
            <a:solidFill>
              <a:srgbClr val="012169"/>
            </a:solidFill>
            <a:ln>
              <a:noFill/>
            </a:ln>
          </c:spPr>
          <c:invertIfNegative val="0"/>
          <c:dLbls>
            <c:dLbl>
              <c:idx val="0"/>
              <c:layout>
                <c:manualLayout>
                  <c:x val="0"/>
                  <c:y val="-0.12872467222884387"/>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D69C-4D14-8A41-CE7BCECC5E9C}"/>
                </c:ext>
              </c:extLst>
            </c:dLbl>
            <c:dLbl>
              <c:idx val="1"/>
              <c:layout>
                <c:manualLayout>
                  <c:x val="0"/>
                  <c:y val="-0.13825983313468415"/>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D69C-4D14-8A41-CE7BCECC5E9C}"/>
                </c:ext>
              </c:extLst>
            </c:dLbl>
            <c:dLbl>
              <c:idx val="2"/>
              <c:layout>
                <c:manualLayout>
                  <c:x val="0"/>
                  <c:y val="-0.1263408820023838"/>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D69C-4D14-8A41-CE7BCECC5E9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Sheet1!$A$4:$C$4</c:f>
              <c:numCache>
                <c:formatCode>General</c:formatCode>
                <c:ptCount val="3"/>
                <c:pt idx="0">
                  <c:v>5.5230648697419342</c:v>
                </c:pt>
                <c:pt idx="1">
                  <c:v>5.8743596925398265</c:v>
                </c:pt>
                <c:pt idx="2">
                  <c:v>5.4604254371059024</c:v>
                </c:pt>
              </c:numCache>
            </c:numRef>
          </c:val>
          <c:extLst>
            <c:ext xmlns:c16="http://schemas.microsoft.com/office/drawing/2014/chart" uri="{C3380CC4-5D6E-409C-BE32-E72D297353CC}">
              <c16:uniqueId val="{0000000F-D69C-4D14-8A41-CE7BCECC5E9C}"/>
            </c:ext>
          </c:extLst>
        </c:ser>
        <c:dLbls>
          <c:showLegendKey val="0"/>
          <c:showVal val="0"/>
          <c:showCatName val="0"/>
          <c:showSerName val="0"/>
          <c:showPercent val="0"/>
          <c:showBubbleSize val="0"/>
        </c:dLbls>
        <c:gapWidth val="150"/>
        <c:axId val="984425056"/>
        <c:axId val="1"/>
      </c:barChart>
      <c:catAx>
        <c:axId val="984425056"/>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28.167294292682072"/>
          <c:min val="0"/>
        </c:scaling>
        <c:delete val="1"/>
        <c:axPos val="l"/>
        <c:numFmt formatCode="General" sourceLinked="1"/>
        <c:majorTickMark val="out"/>
        <c:minorTickMark val="none"/>
        <c:tickLblPos val="nextTo"/>
        <c:crossAx val="984425056"/>
        <c:crosses val="min"/>
        <c:crossBetween val="between"/>
      </c:valAx>
    </c:plotArea>
    <c:plotVisOnly val="0"/>
    <c:dispBlanksAs val="gap"/>
    <c:showDLblsOverMax val="1"/>
  </c:chart>
  <c:externalData r:id="rId1">
    <c:autoUpdate val="0"/>
  </c:externalData>
</c:chartSpace>
</file>

<file path=ppt/charts/chart9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44833171363784E-2"/>
          <c:y val="5.3224155578300923E-2"/>
          <c:w val="0.96631033365727248"/>
          <c:h val="0.8935516888433982"/>
        </c:manualLayout>
      </c:layout>
      <c:barChart>
        <c:barDir val="col"/>
        <c:grouping val="stacked"/>
        <c:varyColors val="0"/>
        <c:ser>
          <c:idx val="0"/>
          <c:order val="0"/>
          <c:spPr>
            <a:solidFill>
              <a:schemeClr val="accent1"/>
            </a:solidFill>
            <a:ln>
              <a:noFill/>
            </a:ln>
          </c:spPr>
          <c:invertIfNegative val="0"/>
          <c:val>
            <c:numRef>
              <c:f>Sheet1!$A$1:$C$1</c:f>
              <c:numCache>
                <c:formatCode>General</c:formatCode>
                <c:ptCount val="3"/>
                <c:pt idx="0">
                  <c:v>38052</c:v>
                </c:pt>
                <c:pt idx="1">
                  <c:v>39804.199999999997</c:v>
                </c:pt>
                <c:pt idx="2">
                  <c:v>48306</c:v>
                </c:pt>
              </c:numCache>
            </c:numRef>
          </c:val>
          <c:extLst>
            <c:ext xmlns:c16="http://schemas.microsoft.com/office/drawing/2014/chart" uri="{C3380CC4-5D6E-409C-BE32-E72D297353CC}">
              <c16:uniqueId val="{00000000-C582-41C2-A3AA-DEDA098EB100}"/>
            </c:ext>
          </c:extLst>
        </c:ser>
        <c:ser>
          <c:idx val="1"/>
          <c:order val="1"/>
          <c:spPr>
            <a:solidFill>
              <a:schemeClr val="accent2"/>
            </a:solidFill>
            <a:ln>
              <a:noFill/>
            </a:ln>
          </c:spPr>
          <c:invertIfNegative val="0"/>
          <c:val>
            <c:numRef>
              <c:f>Sheet1!$A$2:$C$2</c:f>
              <c:numCache>
                <c:formatCode>General</c:formatCode>
                <c:ptCount val="3"/>
                <c:pt idx="0">
                  <c:v>2627</c:v>
                </c:pt>
                <c:pt idx="1">
                  <c:v>4520.3099999999977</c:v>
                </c:pt>
                <c:pt idx="2">
                  <c:v>2022</c:v>
                </c:pt>
              </c:numCache>
            </c:numRef>
          </c:val>
          <c:extLst>
            <c:ext xmlns:c16="http://schemas.microsoft.com/office/drawing/2014/chart" uri="{C3380CC4-5D6E-409C-BE32-E72D297353CC}">
              <c16:uniqueId val="{00000001-C582-41C2-A3AA-DEDA098EB100}"/>
            </c:ext>
          </c:extLst>
        </c:ser>
        <c:ser>
          <c:idx val="2"/>
          <c:order val="2"/>
          <c:spPr>
            <a:solidFill>
              <a:schemeClr val="accent3"/>
            </a:solidFill>
            <a:ln>
              <a:noFill/>
            </a:ln>
          </c:spPr>
          <c:invertIfNegative val="0"/>
          <c:val>
            <c:numRef>
              <c:f>Sheet1!$A$3:$C$3</c:f>
              <c:numCache>
                <c:formatCode>General</c:formatCode>
                <c:ptCount val="3"/>
                <c:pt idx="0">
                  <c:v>9950</c:v>
                </c:pt>
                <c:pt idx="1">
                  <c:v>10849.71</c:v>
                </c:pt>
                <c:pt idx="2">
                  <c:v>11426</c:v>
                </c:pt>
              </c:numCache>
            </c:numRef>
          </c:val>
          <c:extLst>
            <c:ext xmlns:c16="http://schemas.microsoft.com/office/drawing/2014/chart" uri="{C3380CC4-5D6E-409C-BE32-E72D297353CC}">
              <c16:uniqueId val="{00000002-C582-41C2-A3AA-DEDA098EB100}"/>
            </c:ext>
          </c:extLst>
        </c:ser>
        <c:ser>
          <c:idx val="3"/>
          <c:order val="3"/>
          <c:spPr>
            <a:solidFill>
              <a:schemeClr val="accent4"/>
            </a:solidFill>
            <a:ln>
              <a:noFill/>
            </a:ln>
          </c:spPr>
          <c:invertIfNegative val="0"/>
          <c:val>
            <c:numRef>
              <c:f>Sheet1!$A$4:$C$4</c:f>
              <c:numCache>
                <c:formatCode>General</c:formatCode>
                <c:ptCount val="3"/>
                <c:pt idx="0">
                  <c:v>4656</c:v>
                </c:pt>
                <c:pt idx="1">
                  <c:v>4782.7200000000012</c:v>
                </c:pt>
                <c:pt idx="2">
                  <c:v>6786</c:v>
                </c:pt>
              </c:numCache>
            </c:numRef>
          </c:val>
          <c:extLst>
            <c:ext xmlns:c16="http://schemas.microsoft.com/office/drawing/2014/chart" uri="{C3380CC4-5D6E-409C-BE32-E72D297353CC}">
              <c16:uniqueId val="{00000003-C582-41C2-A3AA-DEDA098EB100}"/>
            </c:ext>
          </c:extLst>
        </c:ser>
        <c:ser>
          <c:idx val="4"/>
          <c:order val="4"/>
          <c:spPr>
            <a:solidFill>
              <a:schemeClr val="accent6"/>
            </a:solidFill>
            <a:ln>
              <a:noFill/>
            </a:ln>
          </c:spPr>
          <c:invertIfNegative val="0"/>
          <c:val>
            <c:numRef>
              <c:f>Sheet1!$A$5:$C$5</c:f>
              <c:numCache>
                <c:formatCode>General</c:formatCode>
                <c:ptCount val="3"/>
                <c:pt idx="0">
                  <c:v>1991</c:v>
                </c:pt>
                <c:pt idx="1">
                  <c:v>2721.0600000000049</c:v>
                </c:pt>
                <c:pt idx="2">
                  <c:v>1993</c:v>
                </c:pt>
              </c:numCache>
            </c:numRef>
          </c:val>
          <c:extLst>
            <c:ext xmlns:c16="http://schemas.microsoft.com/office/drawing/2014/chart" uri="{C3380CC4-5D6E-409C-BE32-E72D297353CC}">
              <c16:uniqueId val="{00000004-C582-41C2-A3AA-DEDA098EB100}"/>
            </c:ext>
          </c:extLst>
        </c:ser>
        <c:dLbls>
          <c:showLegendKey val="0"/>
          <c:showVal val="0"/>
          <c:showCatName val="0"/>
          <c:showSerName val="0"/>
          <c:showPercent val="0"/>
          <c:showBubbleSize val="0"/>
        </c:dLbls>
        <c:gapWidth val="80"/>
        <c:overlap val="100"/>
        <c:axId val="2118155568"/>
        <c:axId val="1"/>
      </c:barChart>
      <c:catAx>
        <c:axId val="2118155568"/>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70533"/>
          <c:min val="0"/>
        </c:scaling>
        <c:delete val="1"/>
        <c:axPos val="l"/>
        <c:numFmt formatCode="General" sourceLinked="1"/>
        <c:majorTickMark val="out"/>
        <c:minorTickMark val="none"/>
        <c:tickLblPos val="nextTo"/>
        <c:crossAx val="2118155568"/>
        <c:crosses val="min"/>
        <c:crossBetween val="between"/>
      </c:valAx>
    </c:plotArea>
    <c:plotVisOnly val="0"/>
    <c:dispBlanksAs val="gap"/>
    <c:showDLblsOverMax val="1"/>
  </c:chart>
  <c:externalData r:id="rId1">
    <c:autoUpdate val="0"/>
  </c:externalData>
</c:chartSpace>
</file>

<file path=ppt/charts/chart9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910569105691057E-2"/>
          <c:y val="0.1784702549575071"/>
          <c:w val="0.96617886178861789"/>
          <c:h val="0.74787535410764872"/>
        </c:manualLayout>
      </c:layout>
      <c:barChart>
        <c:barDir val="col"/>
        <c:grouping val="clustered"/>
        <c:varyColors val="0"/>
        <c:ser>
          <c:idx val="0"/>
          <c:order val="0"/>
          <c:spPr>
            <a:solidFill>
              <a:srgbClr val="86BC25"/>
            </a:solidFill>
            <a:ln>
              <a:noFill/>
            </a:ln>
          </c:spPr>
          <c:invertIfNegative val="0"/>
          <c:dLbls>
            <c:dLbl>
              <c:idx val="0"/>
              <c:layout>
                <c:manualLayout>
                  <c:x val="0"/>
                  <c:y val="-0.335694050991501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600-49B6-AC0E-F9A0ED234AF6}"/>
                </c:ext>
              </c:extLst>
            </c:dLbl>
            <c:dLbl>
              <c:idx val="1"/>
              <c:layout>
                <c:manualLayout>
                  <c:x val="0"/>
                  <c:y val="-0.335694050991501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4600-49B6-AC0E-F9A0ED234AF6}"/>
                </c:ext>
              </c:extLst>
            </c:dLbl>
            <c:dLbl>
              <c:idx val="2"/>
              <c:layout>
                <c:manualLayout>
                  <c:x val="0"/>
                  <c:y val="-0.36685552407932009"/>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4600-49B6-AC0E-F9A0ED234AF6}"/>
                </c:ext>
              </c:extLst>
            </c:dLbl>
            <c:dLbl>
              <c:idx val="3"/>
              <c:layout>
                <c:manualLayout>
                  <c:x val="0"/>
                  <c:y val="-0.4376770538243626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4600-49B6-AC0E-F9A0ED234AF6}"/>
                </c:ext>
              </c:extLst>
            </c:dLbl>
            <c:dLbl>
              <c:idx val="4"/>
              <c:layout>
                <c:manualLayout>
                  <c:x val="0"/>
                  <c:y val="-0.4645892351274787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600-49B6-AC0E-F9A0ED234AF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255.99751679799999</c:v>
                </c:pt>
                <c:pt idx="1">
                  <c:v>256.03974752300002</c:v>
                </c:pt>
                <c:pt idx="2">
                  <c:v>288.53234474800001</c:v>
                </c:pt>
                <c:pt idx="3">
                  <c:v>362.25834257899999</c:v>
                </c:pt>
                <c:pt idx="4">
                  <c:v>389.52115611400001</c:v>
                </c:pt>
              </c:numCache>
            </c:numRef>
          </c:val>
          <c:extLst>
            <c:ext xmlns:c16="http://schemas.microsoft.com/office/drawing/2014/chart" uri="{C3380CC4-5D6E-409C-BE32-E72D297353CC}">
              <c16:uniqueId val="{00000005-4600-49B6-AC0E-F9A0ED234AF6}"/>
            </c:ext>
          </c:extLst>
        </c:ser>
        <c:ser>
          <c:idx val="1"/>
          <c:order val="1"/>
          <c:spPr>
            <a:solidFill>
              <a:srgbClr val="046A38"/>
            </a:solidFill>
            <a:ln>
              <a:noFill/>
            </a:ln>
          </c:spPr>
          <c:invertIfNegative val="0"/>
          <c:dLbls>
            <c:dLbl>
              <c:idx val="0"/>
              <c:layout>
                <c:manualLayout>
                  <c:x val="0"/>
                  <c:y val="-0.28753541076487255"/>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4600-49B6-AC0E-F9A0ED234AF6}"/>
                </c:ext>
              </c:extLst>
            </c:dLbl>
            <c:dLbl>
              <c:idx val="1"/>
              <c:layout>
                <c:manualLayout>
                  <c:x val="0"/>
                  <c:y val="-0.32577903682719545"/>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4600-49B6-AC0E-F9A0ED234AF6}"/>
                </c:ext>
              </c:extLst>
            </c:dLbl>
            <c:dLbl>
              <c:idx val="2"/>
              <c:layout>
                <c:manualLayout>
                  <c:x val="0"/>
                  <c:y val="-0.3541076487252124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4600-49B6-AC0E-F9A0ED234AF6}"/>
                </c:ext>
              </c:extLst>
            </c:dLbl>
            <c:dLbl>
              <c:idx val="3"/>
              <c:layout>
                <c:manualLayout>
                  <c:x val="0"/>
                  <c:y val="-0.37677053824362605"/>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4600-49B6-AC0E-F9A0ED234AF6}"/>
                </c:ext>
              </c:extLst>
            </c:dLbl>
            <c:dLbl>
              <c:idx val="4"/>
              <c:layout>
                <c:manualLayout>
                  <c:x val="0"/>
                  <c:y val="-0.4079320113314447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4600-49B6-AC0E-F9A0ED234AF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Sheet1!$A$2:$E$2</c:f>
              <c:numCache>
                <c:formatCode>General</c:formatCode>
                <c:ptCount val="5"/>
                <c:pt idx="0">
                  <c:v>204.95099999999999</c:v>
                </c:pt>
                <c:pt idx="1">
                  <c:v>245.745</c:v>
                </c:pt>
                <c:pt idx="2">
                  <c:v>273.351</c:v>
                </c:pt>
                <c:pt idx="3">
                  <c:v>297.13099999999997</c:v>
                </c:pt>
                <c:pt idx="4">
                  <c:v>330.67500000000001</c:v>
                </c:pt>
              </c:numCache>
            </c:numRef>
          </c:val>
          <c:extLst>
            <c:ext xmlns:c16="http://schemas.microsoft.com/office/drawing/2014/chart" uri="{C3380CC4-5D6E-409C-BE32-E72D297353CC}">
              <c16:uniqueId val="{0000000B-4600-49B6-AC0E-F9A0ED234AF6}"/>
            </c:ext>
          </c:extLst>
        </c:ser>
        <c:dLbls>
          <c:showLegendKey val="0"/>
          <c:showVal val="0"/>
          <c:showCatName val="0"/>
          <c:showSerName val="0"/>
          <c:showPercent val="0"/>
          <c:showBubbleSize val="0"/>
        </c:dLbls>
        <c:gapWidth val="150"/>
        <c:axId val="1023837792"/>
        <c:axId val="1"/>
      </c:barChart>
      <c:catAx>
        <c:axId val="1023837792"/>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389.52115611400001"/>
          <c:min val="0"/>
        </c:scaling>
        <c:delete val="1"/>
        <c:axPos val="l"/>
        <c:numFmt formatCode="General" sourceLinked="1"/>
        <c:majorTickMark val="out"/>
        <c:minorTickMark val="none"/>
        <c:tickLblPos val="nextTo"/>
        <c:crossAx val="1023837792"/>
        <c:crosses val="min"/>
        <c:crossBetween val="between"/>
      </c:valAx>
    </c:plotArea>
    <c:plotVisOnly val="0"/>
    <c:dispBlanksAs val="gap"/>
    <c:showDLblsOverMax val="1"/>
  </c:chart>
  <c:externalData r:id="rId1">
    <c:autoUpdate val="0"/>
  </c:externalData>
</c:chartSpace>
</file>

<file path=ppt/charts/chart9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910569105691057E-2"/>
          <c:y val="0.17119565217391303"/>
          <c:w val="0.96617886178861789"/>
          <c:h val="0.75815217391304346"/>
        </c:manualLayout>
      </c:layout>
      <c:barChart>
        <c:barDir val="col"/>
        <c:grouping val="clustered"/>
        <c:varyColors val="0"/>
        <c:ser>
          <c:idx val="0"/>
          <c:order val="0"/>
          <c:spPr>
            <a:solidFill>
              <a:srgbClr val="86BC25"/>
            </a:solidFill>
            <a:ln>
              <a:noFill/>
            </a:ln>
          </c:spPr>
          <c:invertIfNegative val="0"/>
          <c:dLbls>
            <c:dLbl>
              <c:idx val="0"/>
              <c:layout>
                <c:manualLayout>
                  <c:x val="0"/>
                  <c:y val="-0.32065217391304346"/>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913C-4090-8137-881D6D3D61B2}"/>
                </c:ext>
              </c:extLst>
            </c:dLbl>
            <c:dLbl>
              <c:idx val="1"/>
              <c:layout>
                <c:manualLayout>
                  <c:x val="0"/>
                  <c:y val="-0.36820652173913043"/>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913C-4090-8137-881D6D3D61B2}"/>
                </c:ext>
              </c:extLst>
            </c:dLbl>
            <c:dLbl>
              <c:idx val="2"/>
              <c:layout>
                <c:manualLayout>
                  <c:x val="0"/>
                  <c:y val="-0.3980978260869565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913C-4090-8137-881D6D3D61B2}"/>
                </c:ext>
              </c:extLst>
            </c:dLbl>
            <c:dLbl>
              <c:idx val="3"/>
              <c:layout>
                <c:manualLayout>
                  <c:x val="0"/>
                  <c:y val="-0.4266304347826087"/>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913C-4090-8137-881D6D3D61B2}"/>
                </c:ext>
              </c:extLst>
            </c:dLbl>
            <c:dLbl>
              <c:idx val="4"/>
              <c:layout>
                <c:manualLayout>
                  <c:x val="0"/>
                  <c:y val="-0.4633152173913043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913C-4090-8137-881D6D3D61B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204.95099999999999</c:v>
                </c:pt>
                <c:pt idx="1">
                  <c:v>245.745</c:v>
                </c:pt>
                <c:pt idx="2">
                  <c:v>273.351</c:v>
                </c:pt>
                <c:pt idx="3">
                  <c:v>297.13099999999997</c:v>
                </c:pt>
                <c:pt idx="4">
                  <c:v>330.67500000000001</c:v>
                </c:pt>
              </c:numCache>
            </c:numRef>
          </c:val>
          <c:extLst>
            <c:ext xmlns:c16="http://schemas.microsoft.com/office/drawing/2014/chart" uri="{C3380CC4-5D6E-409C-BE32-E72D297353CC}">
              <c16:uniqueId val="{00000005-913C-4090-8137-881D6D3D61B2}"/>
            </c:ext>
          </c:extLst>
        </c:ser>
        <c:ser>
          <c:idx val="1"/>
          <c:order val="1"/>
          <c:spPr>
            <a:solidFill>
              <a:srgbClr val="046A38"/>
            </a:solidFill>
            <a:ln>
              <a:noFill/>
            </a:ln>
          </c:spPr>
          <c:invertIfNegative val="0"/>
          <c:dLbls>
            <c:dLbl>
              <c:idx val="0"/>
              <c:layout>
                <c:manualLayout>
                  <c:x val="0"/>
                  <c:y val="-0.3070652173913043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913C-4090-8137-881D6D3D61B2}"/>
                </c:ext>
              </c:extLst>
            </c:dLbl>
            <c:dLbl>
              <c:idx val="1"/>
              <c:layout>
                <c:manualLayout>
                  <c:x val="0"/>
                  <c:y val="-0.33967391304347827"/>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913C-4090-8137-881D6D3D61B2}"/>
                </c:ext>
              </c:extLst>
            </c:dLbl>
            <c:dLbl>
              <c:idx val="2"/>
              <c:layout>
                <c:manualLayout>
                  <c:x val="0"/>
                  <c:y val="-0.4008152173913043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913C-4090-8137-881D6D3D61B2}"/>
                </c:ext>
              </c:extLst>
            </c:dLbl>
            <c:dLbl>
              <c:idx val="3"/>
              <c:layout>
                <c:manualLayout>
                  <c:x val="0"/>
                  <c:y val="-0.42119565217391303"/>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913C-4090-8137-881D6D3D61B2}"/>
                </c:ext>
              </c:extLst>
            </c:dLbl>
            <c:dLbl>
              <c:idx val="4"/>
              <c:layout>
                <c:manualLayout>
                  <c:x val="0"/>
                  <c:y val="-0.46603260869565216"/>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913C-4090-8137-881D6D3D61B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Sheet1!$A$2:$E$2</c:f>
              <c:numCache>
                <c:formatCode>General</c:formatCode>
                <c:ptCount val="5"/>
                <c:pt idx="0">
                  <c:v>193.01300000000001</c:v>
                </c:pt>
                <c:pt idx="1">
                  <c:v>222.38300000000001</c:v>
                </c:pt>
                <c:pt idx="2">
                  <c:v>274.35399999999998</c:v>
                </c:pt>
                <c:pt idx="3">
                  <c:v>293.72500000000002</c:v>
                </c:pt>
                <c:pt idx="4">
                  <c:v>332.29500000000002</c:v>
                </c:pt>
              </c:numCache>
            </c:numRef>
          </c:val>
          <c:extLst>
            <c:ext xmlns:c16="http://schemas.microsoft.com/office/drawing/2014/chart" uri="{C3380CC4-5D6E-409C-BE32-E72D297353CC}">
              <c16:uniqueId val="{0000000B-913C-4090-8137-881D6D3D61B2}"/>
            </c:ext>
          </c:extLst>
        </c:ser>
        <c:dLbls>
          <c:showLegendKey val="0"/>
          <c:showVal val="0"/>
          <c:showCatName val="0"/>
          <c:showSerName val="0"/>
          <c:showPercent val="0"/>
          <c:showBubbleSize val="0"/>
        </c:dLbls>
        <c:gapWidth val="150"/>
        <c:axId val="889414112"/>
        <c:axId val="1"/>
      </c:barChart>
      <c:catAx>
        <c:axId val="889414112"/>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332.29500000000002"/>
          <c:min val="0"/>
        </c:scaling>
        <c:delete val="1"/>
        <c:axPos val="l"/>
        <c:numFmt formatCode="General" sourceLinked="1"/>
        <c:majorTickMark val="out"/>
        <c:minorTickMark val="none"/>
        <c:tickLblPos val="nextTo"/>
        <c:crossAx val="889414112"/>
        <c:crosses val="min"/>
        <c:crossBetween val="between"/>
      </c:valAx>
    </c:plotArea>
    <c:plotVisOnly val="0"/>
    <c:dispBlanksAs val="gap"/>
    <c:showDLblsOverMax val="1"/>
  </c:chart>
  <c:externalData r:id="rId1">
    <c:autoUpdate val="0"/>
  </c:externalData>
</c:chartSpace>
</file>

<file path=ppt/charts/chart9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44833171363784E-2"/>
          <c:y val="0.22183098591549297"/>
          <c:w val="0.96631033365727248"/>
          <c:h val="0.68661971830985913"/>
        </c:manualLayout>
      </c:layout>
      <c:barChart>
        <c:barDir val="col"/>
        <c:grouping val="clustered"/>
        <c:varyColors val="0"/>
        <c:ser>
          <c:idx val="0"/>
          <c:order val="0"/>
          <c:invertIfNegative val="0"/>
          <c:val>
            <c:numRef>
              <c:f>Sheet1!$A$1:$E$1</c:f>
              <c:numCache>
                <c:formatCode>General</c:formatCode>
                <c:ptCount val="5"/>
                <c:pt idx="0">
                  <c:v>0</c:v>
                </c:pt>
              </c:numCache>
            </c:numRef>
          </c:val>
          <c:extLst>
            <c:ext xmlns:c16="http://schemas.microsoft.com/office/drawing/2014/chart" uri="{C3380CC4-5D6E-409C-BE32-E72D297353CC}">
              <c16:uniqueId val="{00000000-0FE8-421F-A16B-DAD427A020B2}"/>
            </c:ext>
          </c:extLst>
        </c:ser>
        <c:ser>
          <c:idx val="1"/>
          <c:order val="1"/>
          <c:spPr>
            <a:solidFill>
              <a:srgbClr val="00ABAB"/>
            </a:solidFill>
            <a:ln>
              <a:noFill/>
            </a:ln>
          </c:spPr>
          <c:invertIfNegative val="0"/>
          <c:dLbls>
            <c:dLbl>
              <c:idx val="0"/>
              <c:layout>
                <c:manualLayout>
                  <c:x val="0"/>
                  <c:y val="-0.39260563380281688"/>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0FE8-421F-A16B-DAD427A020B2}"/>
                </c:ext>
              </c:extLst>
            </c:dLbl>
            <c:dLbl>
              <c:idx val="1"/>
              <c:layout>
                <c:manualLayout>
                  <c:x val="0"/>
                  <c:y val="-0.3714788732394366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0FE8-421F-A16B-DAD427A020B2}"/>
                </c:ext>
              </c:extLst>
            </c:dLbl>
            <c:dLbl>
              <c:idx val="2"/>
              <c:layout>
                <c:manualLayout>
                  <c:x val="0"/>
                  <c:y val="-0.45598591549295775"/>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0FE8-421F-A16B-DAD427A020B2}"/>
                </c:ext>
              </c:extLst>
            </c:dLbl>
            <c:dLbl>
              <c:idx val="3"/>
              <c:layout>
                <c:manualLayout>
                  <c:x val="0"/>
                  <c:y val="-0.29753521126760563"/>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0FE8-421F-A16B-DAD427A020B2}"/>
                </c:ext>
              </c:extLst>
            </c:dLbl>
            <c:dLbl>
              <c:idx val="4"/>
              <c:layout>
                <c:manualLayout>
                  <c:x val="0"/>
                  <c:y val="-0.30809859154929575"/>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0FE8-421F-A16B-DAD427A020B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Sheet1!$A$2:$E$2</c:f>
              <c:numCache>
                <c:formatCode>General</c:formatCode>
                <c:ptCount val="5"/>
                <c:pt idx="0">
                  <c:v>56.072792059999998</c:v>
                </c:pt>
                <c:pt idx="1">
                  <c:v>51.667646183000002</c:v>
                </c:pt>
                <c:pt idx="2">
                  <c:v>68.521395509000001</c:v>
                </c:pt>
                <c:pt idx="3">
                  <c:v>36.964240597</c:v>
                </c:pt>
                <c:pt idx="4">
                  <c:v>38.982839427000002</c:v>
                </c:pt>
              </c:numCache>
            </c:numRef>
          </c:val>
          <c:extLst>
            <c:ext xmlns:c16="http://schemas.microsoft.com/office/drawing/2014/chart" uri="{C3380CC4-5D6E-409C-BE32-E72D297353CC}">
              <c16:uniqueId val="{00000006-0FE8-421F-A16B-DAD427A020B2}"/>
            </c:ext>
          </c:extLst>
        </c:ser>
        <c:dLbls>
          <c:showLegendKey val="0"/>
          <c:showVal val="0"/>
          <c:showCatName val="0"/>
          <c:showSerName val="0"/>
          <c:showPercent val="0"/>
          <c:showBubbleSize val="0"/>
        </c:dLbls>
        <c:gapWidth val="80"/>
        <c:axId val="1174217440"/>
        <c:axId val="1"/>
      </c:barChart>
      <c:catAx>
        <c:axId val="117421744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68.521395509000001"/>
          <c:min val="0"/>
        </c:scaling>
        <c:delete val="1"/>
        <c:axPos val="r"/>
        <c:numFmt formatCode="General" sourceLinked="1"/>
        <c:majorTickMark val="out"/>
        <c:minorTickMark val="none"/>
        <c:tickLblPos val="nextTo"/>
        <c:crossAx val="1174217440"/>
        <c:crosses val="max"/>
        <c:crossBetween val="between"/>
      </c:valAx>
    </c:plotArea>
    <c:plotVisOnly val="0"/>
    <c:dispBlanksAs val="gap"/>
    <c:showDLblsOverMax val="1"/>
  </c:chart>
  <c:externalData r:id="rId1">
    <c:autoUpdate val="0"/>
  </c:externalData>
</c:chartSpace>
</file>

<file path=ppt/charts/chart9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7909929841588674E-2"/>
          <c:y val="7.4850700446103743E-2"/>
          <c:w val="0.94418014031682262"/>
          <c:h val="0.58905733124301451"/>
        </c:manualLayout>
      </c:layout>
      <c:barChart>
        <c:barDir val="col"/>
        <c:grouping val="clustered"/>
        <c:varyColors val="0"/>
        <c:ser>
          <c:idx val="0"/>
          <c:order val="0"/>
          <c:tx>
            <c:strRef>
              <c:f>Sheet1!$B$1</c:f>
              <c:strCache>
                <c:ptCount val="1"/>
                <c:pt idx="0">
                  <c:v>Creditor's Turnover Ratio</c:v>
                </c:pt>
              </c:strCache>
            </c:strRef>
          </c:tx>
          <c:spPr>
            <a:solidFill>
              <a:schemeClr val="accent1"/>
            </a:solidFill>
            <a:ln>
              <a:noFill/>
            </a:ln>
            <a:effectLst/>
          </c:spPr>
          <c:invertIfNegative val="0"/>
          <c:dLbls>
            <c:dLbl>
              <c:idx val="1"/>
              <c:layout>
                <c:manualLayout>
                  <c:x val="5.835712603241263E-2"/>
                  <c:y val="6.1241482183175794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BD2B-414E-B6D8-A3176F491269}"/>
                </c:ext>
              </c:extLst>
            </c:dLbl>
            <c:dLbl>
              <c:idx val="2"/>
              <c:layout>
                <c:manualLayout>
                  <c:x val="6.3431658730883259E-2"/>
                  <c:y val="8.845991870903169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BD2B-414E-B6D8-A3176F491269}"/>
                </c:ext>
              </c:extLst>
            </c:dLbl>
            <c:numFmt formatCode="#,##0.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FY15</c:v>
                </c:pt>
                <c:pt idx="1">
                  <c:v>FY16</c:v>
                </c:pt>
                <c:pt idx="2">
                  <c:v>FY17</c:v>
                </c:pt>
                <c:pt idx="3">
                  <c:v>FY18</c:v>
                </c:pt>
                <c:pt idx="4">
                  <c:v>FY19</c:v>
                </c:pt>
              </c:strCache>
            </c:strRef>
          </c:cat>
          <c:val>
            <c:numRef>
              <c:f>Sheet1!$B$2:$B$6</c:f>
              <c:numCache>
                <c:formatCode>0</c:formatCode>
                <c:ptCount val="5"/>
                <c:pt idx="0">
                  <c:v>6.4542594656533865</c:v>
                </c:pt>
                <c:pt idx="1">
                  <c:v>6.8234740584613425</c:v>
                </c:pt>
                <c:pt idx="2">
                  <c:v>7.3699754890512832</c:v>
                </c:pt>
                <c:pt idx="3">
                  <c:v>6.2844790423021024</c:v>
                </c:pt>
                <c:pt idx="4">
                  <c:v>5.5164787352091098</c:v>
                </c:pt>
              </c:numCache>
            </c:numRef>
          </c:val>
          <c:extLst>
            <c:ext xmlns:c16="http://schemas.microsoft.com/office/drawing/2014/chart" uri="{C3380CC4-5D6E-409C-BE32-E72D297353CC}">
              <c16:uniqueId val="{00000000-BD2B-414E-B6D8-A3176F491269}"/>
            </c:ext>
          </c:extLst>
        </c:ser>
        <c:dLbls>
          <c:showLegendKey val="0"/>
          <c:showVal val="1"/>
          <c:showCatName val="0"/>
          <c:showSerName val="0"/>
          <c:showPercent val="0"/>
          <c:showBubbleSize val="0"/>
        </c:dLbls>
        <c:gapWidth val="219"/>
        <c:overlap val="-27"/>
        <c:axId val="757560624"/>
        <c:axId val="757559312"/>
      </c:barChart>
      <c:lineChart>
        <c:grouping val="standard"/>
        <c:varyColors val="0"/>
        <c:ser>
          <c:idx val="1"/>
          <c:order val="1"/>
          <c:tx>
            <c:strRef>
              <c:f>Sheet1!$C$1</c:f>
              <c:strCache>
                <c:ptCount val="1"/>
                <c:pt idx="0">
                  <c:v>Creditor's Days</c:v>
                </c:pt>
              </c:strCache>
            </c:strRef>
          </c:tx>
          <c:spPr>
            <a:ln w="28575" cap="rnd">
              <a:solidFill>
                <a:schemeClr val="accent2"/>
              </a:solidFill>
              <a:round/>
            </a:ln>
            <a:effectLst/>
          </c:spPr>
          <c:marker>
            <c:symbol val="circle"/>
            <c:size val="5"/>
            <c:spPr>
              <a:solidFill>
                <a:schemeClr val="accent2"/>
              </a:solidFill>
              <a:ln w="9525">
                <a:solidFill>
                  <a:schemeClr val="accent2"/>
                </a:solidFill>
              </a:ln>
              <a:effectLst/>
            </c:spPr>
          </c:marker>
          <c:dLbls>
            <c:dLbl>
              <c:idx val="1"/>
              <c:layout>
                <c:manualLayout>
                  <c:x val="-3.7691191510266842E-2"/>
                  <c:y val="-0.10940096936211344"/>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D2B-414E-B6D8-A3176F491269}"/>
                </c:ext>
              </c:extLst>
            </c:dLbl>
            <c:spPr>
              <a:solidFill>
                <a:schemeClr val="accent2"/>
              </a:solid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FY15</c:v>
                </c:pt>
                <c:pt idx="1">
                  <c:v>FY16</c:v>
                </c:pt>
                <c:pt idx="2">
                  <c:v>FY17</c:v>
                </c:pt>
                <c:pt idx="3">
                  <c:v>FY18</c:v>
                </c:pt>
                <c:pt idx="4">
                  <c:v>FY19</c:v>
                </c:pt>
              </c:strCache>
            </c:strRef>
          </c:cat>
          <c:val>
            <c:numRef>
              <c:f>Sheet1!$C$2:$C$6</c:f>
              <c:numCache>
                <c:formatCode>0</c:formatCode>
                <c:ptCount val="5"/>
                <c:pt idx="0">
                  <c:v>58.820264968670358</c:v>
                </c:pt>
                <c:pt idx="1">
                  <c:v>48.173063222564771</c:v>
                </c:pt>
                <c:pt idx="2">
                  <c:v>56.302400305009847</c:v>
                </c:pt>
                <c:pt idx="3">
                  <c:v>71.315327527912189</c:v>
                </c:pt>
                <c:pt idx="4">
                  <c:v>66.006865941089515</c:v>
                </c:pt>
              </c:numCache>
            </c:numRef>
          </c:val>
          <c:smooth val="0"/>
          <c:extLst>
            <c:ext xmlns:c16="http://schemas.microsoft.com/office/drawing/2014/chart" uri="{C3380CC4-5D6E-409C-BE32-E72D297353CC}">
              <c16:uniqueId val="{00000001-BD2B-414E-B6D8-A3176F491269}"/>
            </c:ext>
          </c:extLst>
        </c:ser>
        <c:dLbls>
          <c:showLegendKey val="0"/>
          <c:showVal val="1"/>
          <c:showCatName val="0"/>
          <c:showSerName val="0"/>
          <c:showPercent val="0"/>
          <c:showBubbleSize val="0"/>
        </c:dLbls>
        <c:marker val="1"/>
        <c:smooth val="0"/>
        <c:axId val="1055926704"/>
        <c:axId val="1055930968"/>
      </c:lineChart>
      <c:catAx>
        <c:axId val="757560624"/>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757559312"/>
        <c:crosses val="autoZero"/>
        <c:auto val="1"/>
        <c:lblAlgn val="ctr"/>
        <c:lblOffset val="100"/>
        <c:noMultiLvlLbl val="0"/>
      </c:catAx>
      <c:valAx>
        <c:axId val="757559312"/>
        <c:scaling>
          <c:orientation val="minMax"/>
          <c:max val="14"/>
          <c:min val="0"/>
        </c:scaling>
        <c:delete val="0"/>
        <c:axPos val="l"/>
        <c:numFmt formatCode="0" sourceLinked="1"/>
        <c:majorTickMark val="none"/>
        <c:minorTickMark val="none"/>
        <c:tickLblPos val="none"/>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757560624"/>
        <c:crosses val="autoZero"/>
        <c:crossBetween val="between"/>
      </c:valAx>
      <c:valAx>
        <c:axId val="1055930968"/>
        <c:scaling>
          <c:orientation val="minMax"/>
          <c:min val="0"/>
        </c:scaling>
        <c:delete val="0"/>
        <c:axPos val="r"/>
        <c:numFmt formatCode="0" sourceLinked="1"/>
        <c:majorTickMark val="out"/>
        <c:minorTickMark val="none"/>
        <c:tickLblPos val="none"/>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1055926704"/>
        <c:crosses val="max"/>
        <c:crossBetween val="between"/>
      </c:valAx>
      <c:catAx>
        <c:axId val="1055926704"/>
        <c:scaling>
          <c:orientation val="minMax"/>
        </c:scaling>
        <c:delete val="1"/>
        <c:axPos val="b"/>
        <c:numFmt formatCode="General" sourceLinked="1"/>
        <c:majorTickMark val="out"/>
        <c:minorTickMark val="none"/>
        <c:tickLblPos val="nextTo"/>
        <c:crossAx val="1055930968"/>
        <c:crosses val="autoZero"/>
        <c:auto val="1"/>
        <c:lblAlgn val="ctr"/>
        <c:lblOffset val="100"/>
        <c:noMultiLvlLbl val="0"/>
      </c:cat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000">
          <a:solidFill>
            <a:schemeClr val="tx1"/>
          </a:solidFill>
        </a:defRPr>
      </a:pPr>
      <a:endParaRPr lang="en-US"/>
    </a:p>
  </c:txPr>
  <c:externalData r:id="rId3">
    <c:autoUpdate val="0"/>
  </c:externalData>
</c:chartSpace>
</file>

<file path=ppt/charts/chart9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7909929841588674E-2"/>
          <c:y val="7.4850700446103743E-2"/>
          <c:w val="0.94418014031682262"/>
          <c:h val="0.58905733124301451"/>
        </c:manualLayout>
      </c:layout>
      <c:barChart>
        <c:barDir val="col"/>
        <c:grouping val="clustered"/>
        <c:varyColors val="0"/>
        <c:ser>
          <c:idx val="0"/>
          <c:order val="0"/>
          <c:tx>
            <c:strRef>
              <c:f>Sheet1!$B$1</c:f>
              <c:strCache>
                <c:ptCount val="1"/>
                <c:pt idx="0">
                  <c:v>Debtor's Turnover Ratio</c:v>
                </c:pt>
              </c:strCache>
            </c:strRef>
          </c:tx>
          <c:spPr>
            <a:solidFill>
              <a:schemeClr val="accent1"/>
            </a:solidFill>
            <a:ln>
              <a:noFill/>
            </a:ln>
            <a:effectLst/>
          </c:spPr>
          <c:invertIfNegative val="0"/>
          <c:dLbls>
            <c:dLbl>
              <c:idx val="1"/>
              <c:layout>
                <c:manualLayout>
                  <c:x val="5.835712603241263E-2"/>
                  <c:y val="6.1241482183175794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FC8-4CD0-AE87-C59BC09B069D}"/>
                </c:ext>
              </c:extLst>
            </c:dLbl>
            <c:dLbl>
              <c:idx val="2"/>
              <c:layout>
                <c:manualLayout>
                  <c:x val="6.3431658730883259E-2"/>
                  <c:y val="8.845991870903169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FC8-4CD0-AE87-C59BC09B069D}"/>
                </c:ext>
              </c:extLst>
            </c:dLbl>
            <c:numFmt formatCode="#,##0.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FY15</c:v>
                </c:pt>
                <c:pt idx="1">
                  <c:v>FY16</c:v>
                </c:pt>
                <c:pt idx="2">
                  <c:v>FY17</c:v>
                </c:pt>
                <c:pt idx="3">
                  <c:v>FY18</c:v>
                </c:pt>
                <c:pt idx="4">
                  <c:v>FY19</c:v>
                </c:pt>
              </c:strCache>
            </c:strRef>
          </c:cat>
          <c:val>
            <c:numRef>
              <c:f>Sheet1!$B$2:$B$6</c:f>
              <c:numCache>
                <c:formatCode>0.0</c:formatCode>
                <c:ptCount val="5"/>
                <c:pt idx="0">
                  <c:v>2.1077284531222271</c:v>
                </c:pt>
                <c:pt idx="1">
                  <c:v>2.1942092549702088</c:v>
                </c:pt>
                <c:pt idx="2">
                  <c:v>2.1603145180404622</c:v>
                </c:pt>
                <c:pt idx="3">
                  <c:v>1.9970461757048459</c:v>
                </c:pt>
                <c:pt idx="4">
                  <c:v>2.0401347335024345</c:v>
                </c:pt>
              </c:numCache>
            </c:numRef>
          </c:val>
          <c:extLst>
            <c:ext xmlns:c16="http://schemas.microsoft.com/office/drawing/2014/chart" uri="{C3380CC4-5D6E-409C-BE32-E72D297353CC}">
              <c16:uniqueId val="{00000002-FFC8-4CD0-AE87-C59BC09B069D}"/>
            </c:ext>
          </c:extLst>
        </c:ser>
        <c:dLbls>
          <c:showLegendKey val="0"/>
          <c:showVal val="1"/>
          <c:showCatName val="0"/>
          <c:showSerName val="0"/>
          <c:showPercent val="0"/>
          <c:showBubbleSize val="0"/>
        </c:dLbls>
        <c:gapWidth val="219"/>
        <c:overlap val="-27"/>
        <c:axId val="757560624"/>
        <c:axId val="757559312"/>
      </c:barChart>
      <c:lineChart>
        <c:grouping val="standard"/>
        <c:varyColors val="0"/>
        <c:ser>
          <c:idx val="1"/>
          <c:order val="1"/>
          <c:tx>
            <c:strRef>
              <c:f>Sheet1!$C$1</c:f>
              <c:strCache>
                <c:ptCount val="1"/>
                <c:pt idx="0">
                  <c:v>Debtor's Days</c:v>
                </c:pt>
              </c:strCache>
            </c:strRef>
          </c:tx>
          <c:spPr>
            <a:ln w="28575" cap="rnd">
              <a:solidFill>
                <a:schemeClr val="accent2"/>
              </a:solidFill>
              <a:round/>
            </a:ln>
            <a:effectLst/>
          </c:spPr>
          <c:marker>
            <c:symbol val="circle"/>
            <c:size val="5"/>
            <c:spPr>
              <a:solidFill>
                <a:schemeClr val="accent2"/>
              </a:solidFill>
              <a:ln w="9525">
                <a:solidFill>
                  <a:schemeClr val="accent2"/>
                </a:solidFill>
              </a:ln>
              <a:effectLst/>
            </c:spPr>
          </c:marker>
          <c:dLbls>
            <c:dLbl>
              <c:idx val="1"/>
              <c:layout>
                <c:manualLayout>
                  <c:x val="-3.7691191510266842E-2"/>
                  <c:y val="-0.10940096936211344"/>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FC8-4CD0-AE87-C59BC09B069D}"/>
                </c:ext>
              </c:extLst>
            </c:dLbl>
            <c:numFmt formatCode="#,##0" sourceLinked="0"/>
            <c:spPr>
              <a:solidFill>
                <a:schemeClr val="accent2"/>
              </a:solid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FY15</c:v>
                </c:pt>
                <c:pt idx="1">
                  <c:v>FY16</c:v>
                </c:pt>
                <c:pt idx="2">
                  <c:v>FY17</c:v>
                </c:pt>
                <c:pt idx="3">
                  <c:v>FY18</c:v>
                </c:pt>
                <c:pt idx="4">
                  <c:v>FY19</c:v>
                </c:pt>
              </c:strCache>
            </c:strRef>
          </c:cat>
          <c:val>
            <c:numRef>
              <c:f>Sheet1!$C$2:$C$6</c:f>
              <c:numCache>
                <c:formatCode>_(* #,##0.00_);_(* \(#,##0.00\);_(* "-"??_);_(@_)</c:formatCode>
                <c:ptCount val="5"/>
                <c:pt idx="0">
                  <c:v>189.54879238538035</c:v>
                </c:pt>
                <c:pt idx="1">
                  <c:v>171.720358314853</c:v>
                </c:pt>
                <c:pt idx="2">
                  <c:v>184.51179292853121</c:v>
                </c:pt>
                <c:pt idx="3">
                  <c:v>195.65528728277923</c:v>
                </c:pt>
                <c:pt idx="4">
                  <c:v>182.13736834892455</c:v>
                </c:pt>
              </c:numCache>
            </c:numRef>
          </c:val>
          <c:smooth val="0"/>
          <c:extLst>
            <c:ext xmlns:c16="http://schemas.microsoft.com/office/drawing/2014/chart" uri="{C3380CC4-5D6E-409C-BE32-E72D297353CC}">
              <c16:uniqueId val="{00000004-FFC8-4CD0-AE87-C59BC09B069D}"/>
            </c:ext>
          </c:extLst>
        </c:ser>
        <c:dLbls>
          <c:showLegendKey val="0"/>
          <c:showVal val="1"/>
          <c:showCatName val="0"/>
          <c:showSerName val="0"/>
          <c:showPercent val="0"/>
          <c:showBubbleSize val="0"/>
        </c:dLbls>
        <c:marker val="1"/>
        <c:smooth val="0"/>
        <c:axId val="1055926704"/>
        <c:axId val="1055930968"/>
      </c:lineChart>
      <c:catAx>
        <c:axId val="757560624"/>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757559312"/>
        <c:crosses val="autoZero"/>
        <c:auto val="1"/>
        <c:lblAlgn val="ctr"/>
        <c:lblOffset val="100"/>
        <c:noMultiLvlLbl val="0"/>
      </c:catAx>
      <c:valAx>
        <c:axId val="757559312"/>
        <c:scaling>
          <c:orientation val="minMax"/>
          <c:max val="14"/>
          <c:min val="0"/>
        </c:scaling>
        <c:delete val="0"/>
        <c:axPos val="l"/>
        <c:numFmt formatCode="0.0" sourceLinked="1"/>
        <c:majorTickMark val="none"/>
        <c:minorTickMark val="none"/>
        <c:tickLblPos val="none"/>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757560624"/>
        <c:crosses val="autoZero"/>
        <c:crossBetween val="between"/>
      </c:valAx>
      <c:valAx>
        <c:axId val="1055930968"/>
        <c:scaling>
          <c:orientation val="minMax"/>
          <c:min val="0"/>
        </c:scaling>
        <c:delete val="0"/>
        <c:axPos val="r"/>
        <c:numFmt formatCode="_(* #,##0.00_);_(* \(#,##0.00\);_(* &quot;-&quot;??_);_(@_)" sourceLinked="1"/>
        <c:majorTickMark val="out"/>
        <c:minorTickMark val="none"/>
        <c:tickLblPos val="none"/>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1055926704"/>
        <c:crosses val="max"/>
        <c:crossBetween val="between"/>
      </c:valAx>
      <c:catAx>
        <c:axId val="1055926704"/>
        <c:scaling>
          <c:orientation val="minMax"/>
        </c:scaling>
        <c:delete val="1"/>
        <c:axPos val="b"/>
        <c:numFmt formatCode="General" sourceLinked="1"/>
        <c:majorTickMark val="out"/>
        <c:minorTickMark val="none"/>
        <c:tickLblPos val="nextTo"/>
        <c:crossAx val="1055930968"/>
        <c:crosses val="autoZero"/>
        <c:auto val="1"/>
        <c:lblAlgn val="ctr"/>
        <c:lblOffset val="100"/>
        <c:noMultiLvlLbl val="0"/>
      </c:cat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000">
          <a:solidFill>
            <a:schemeClr val="tx1"/>
          </a:solidFill>
        </a:defRPr>
      </a:pPr>
      <a:endParaRPr lang="en-US"/>
    </a:p>
  </c:txPr>
  <c:externalData r:id="rId3">
    <c:autoUpdate val="0"/>
  </c:externalData>
</c:chartSpace>
</file>

<file path=ppt/charts/chart9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910569105691057E-2"/>
          <c:y val="0.13404255319148936"/>
          <c:w val="0.96617886178861789"/>
          <c:h val="0.81063829787234043"/>
        </c:manualLayout>
      </c:layout>
      <c:barChart>
        <c:barDir val="col"/>
        <c:grouping val="clustered"/>
        <c:varyColors val="0"/>
        <c:ser>
          <c:idx val="0"/>
          <c:order val="0"/>
          <c:spPr>
            <a:solidFill>
              <a:srgbClr val="86BC25"/>
            </a:solidFill>
            <a:ln>
              <a:noFill/>
            </a:ln>
          </c:spPr>
          <c:invertIfNegative val="0"/>
          <c:dLbls>
            <c:dLbl>
              <c:idx val="0"/>
              <c:layout>
                <c:manualLayout>
                  <c:x val="0"/>
                  <c:y val="-0.17234042553191489"/>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3D70-4802-B756-DBE469C84B73}"/>
                </c:ext>
              </c:extLst>
            </c:dLbl>
            <c:dLbl>
              <c:idx val="1"/>
              <c:layout>
                <c:manualLayout>
                  <c:x val="0"/>
                  <c:y val="-0.14893617021276595"/>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3D70-4802-B756-DBE469C84B73}"/>
                </c:ext>
              </c:extLst>
            </c:dLbl>
            <c:dLbl>
              <c:idx val="2"/>
              <c:layout>
                <c:manualLayout>
                  <c:x val="0"/>
                  <c:y val="-0.18191489361702129"/>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3D70-4802-B756-DBE469C84B73}"/>
                </c:ext>
              </c:extLst>
            </c:dLbl>
            <c:dLbl>
              <c:idx val="3"/>
              <c:layout>
                <c:manualLayout>
                  <c:x val="0"/>
                  <c:y val="-0.24893617021276596"/>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3D70-4802-B756-DBE469C84B73}"/>
                </c:ext>
              </c:extLst>
            </c:dLbl>
            <c:dLbl>
              <c:idx val="4"/>
              <c:layout>
                <c:manualLayout>
                  <c:x val="0"/>
                  <c:y val="-0.24787234042553191"/>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3D70-4802-B756-DBE469C84B7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41.254361011999997</c:v>
                </c:pt>
                <c:pt idx="1">
                  <c:v>33.792380670999997</c:v>
                </c:pt>
                <c:pt idx="2">
                  <c:v>44.507023492999998</c:v>
                </c:pt>
                <c:pt idx="3">
                  <c:v>70.779650275999998</c:v>
                </c:pt>
                <c:pt idx="4">
                  <c:v>70.441289678999993</c:v>
                </c:pt>
              </c:numCache>
            </c:numRef>
          </c:val>
          <c:extLst>
            <c:ext xmlns:c16="http://schemas.microsoft.com/office/drawing/2014/chart" uri="{C3380CC4-5D6E-409C-BE32-E72D297353CC}">
              <c16:uniqueId val="{00000005-3D70-4802-B756-DBE469C84B73}"/>
            </c:ext>
          </c:extLst>
        </c:ser>
        <c:ser>
          <c:idx val="1"/>
          <c:order val="1"/>
          <c:spPr>
            <a:solidFill>
              <a:srgbClr val="046A38"/>
            </a:solidFill>
            <a:ln>
              <a:noFill/>
            </a:ln>
          </c:spPr>
          <c:invertIfNegative val="0"/>
          <c:dLbls>
            <c:dLbl>
              <c:idx val="0"/>
              <c:layout>
                <c:manualLayout>
                  <c:x val="0"/>
                  <c:y val="-0.33191489361702126"/>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3D70-4802-B756-DBE469C84B73}"/>
                </c:ext>
              </c:extLst>
            </c:dLbl>
            <c:dLbl>
              <c:idx val="1"/>
              <c:layout>
                <c:manualLayout>
                  <c:x val="0"/>
                  <c:y val="-0.35106382978723405"/>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3D70-4802-B756-DBE469C84B73}"/>
                </c:ext>
              </c:extLst>
            </c:dLbl>
            <c:dLbl>
              <c:idx val="2"/>
              <c:layout>
                <c:manualLayout>
                  <c:x val="0"/>
                  <c:y val="-0.4074468085106383"/>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3D70-4802-B756-DBE469C84B73}"/>
                </c:ext>
              </c:extLst>
            </c:dLbl>
            <c:dLbl>
              <c:idx val="3"/>
              <c:layout>
                <c:manualLayout>
                  <c:x val="0"/>
                  <c:y val="-0.45957446808510638"/>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3D70-4802-B756-DBE469C84B73}"/>
                </c:ext>
              </c:extLst>
            </c:dLbl>
            <c:dLbl>
              <c:idx val="4"/>
              <c:layout>
                <c:manualLayout>
                  <c:x val="0"/>
                  <c:y val="-0.47340425531914893"/>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3D70-4802-B756-DBE469C84B7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Sheet1!$A$2:$E$2</c:f>
              <c:numCache>
                <c:formatCode>General</c:formatCode>
                <c:ptCount val="5"/>
                <c:pt idx="0">
                  <c:v>103.998417452</c:v>
                </c:pt>
                <c:pt idx="1">
                  <c:v>110.94150668499999</c:v>
                </c:pt>
                <c:pt idx="2">
                  <c:v>133.44037756899999</c:v>
                </c:pt>
                <c:pt idx="3">
                  <c:v>153.68266471600001</c:v>
                </c:pt>
                <c:pt idx="4">
                  <c:v>159.329552127</c:v>
                </c:pt>
              </c:numCache>
            </c:numRef>
          </c:val>
          <c:extLst>
            <c:ext xmlns:c16="http://schemas.microsoft.com/office/drawing/2014/chart" uri="{C3380CC4-5D6E-409C-BE32-E72D297353CC}">
              <c16:uniqueId val="{0000000B-3D70-4802-B756-DBE469C84B73}"/>
            </c:ext>
          </c:extLst>
        </c:ser>
        <c:dLbls>
          <c:showLegendKey val="0"/>
          <c:showVal val="0"/>
          <c:showCatName val="0"/>
          <c:showSerName val="0"/>
          <c:showPercent val="0"/>
          <c:showBubbleSize val="0"/>
        </c:dLbls>
        <c:gapWidth val="150"/>
        <c:axId val="879882320"/>
        <c:axId val="1"/>
      </c:barChart>
      <c:catAx>
        <c:axId val="87988232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159.329552127"/>
          <c:min val="0"/>
        </c:scaling>
        <c:delete val="1"/>
        <c:axPos val="l"/>
        <c:numFmt formatCode="General" sourceLinked="1"/>
        <c:majorTickMark val="out"/>
        <c:minorTickMark val="none"/>
        <c:tickLblPos val="nextTo"/>
        <c:crossAx val="879882320"/>
        <c:crosses val="min"/>
        <c:crossBetween val="between"/>
      </c:valAx>
    </c:plotArea>
    <c:plotVisOnly val="0"/>
    <c:dispBlanksAs val="gap"/>
    <c:showDLblsOverMax val="1"/>
  </c:chart>
  <c:externalData r:id="rId1">
    <c:autoUpdate val="0"/>
  </c:externalData>
</c:chartSpace>
</file>

<file path=ppt/charts/chart10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61219195849545E-2"/>
          <c:y val="0.16050955414012738"/>
          <c:w val="0.96627756160830092"/>
          <c:h val="0.77324840764331204"/>
        </c:manualLayout>
      </c:layout>
      <c:barChart>
        <c:barDir val="col"/>
        <c:grouping val="stacked"/>
        <c:varyColors val="0"/>
        <c:ser>
          <c:idx val="0"/>
          <c:order val="0"/>
          <c:spPr>
            <a:solidFill>
              <a:schemeClr val="accent1"/>
            </a:solidFill>
            <a:ln>
              <a:noFill/>
            </a:ln>
          </c:spPr>
          <c:invertIfNegative val="0"/>
          <c:dLbls>
            <c:dLbl>
              <c:idx val="0"/>
              <c:layout>
                <c:manualLayout>
                  <c:x val="0"/>
                  <c:y val="-0.27388535031847133"/>
                </c:manualLayout>
              </c:layout>
              <c:numFmt formatCode="#,##0;&quot;-&quot;#,##0" sourceLinked="0"/>
              <c:spPr>
                <a:noFill/>
                <a:ln>
                  <a:noFill/>
                </a:ln>
              </c:spPr>
              <c:txPr>
                <a:bodyPr wrap="none"/>
                <a:lstStyle/>
                <a:p>
                  <a:pPr>
                    <a:defRPr sz="1000">
                      <a:solidFill>
                        <a:srgbClr val="000000"/>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62F5-46BD-A787-60355FF6B3E7}"/>
                </c:ext>
              </c:extLst>
            </c:dLbl>
            <c:dLbl>
              <c:idx val="1"/>
              <c:layout>
                <c:manualLayout>
                  <c:x val="0"/>
                  <c:y val="-0.46878980891719746"/>
                </c:manualLayout>
              </c:layout>
              <c:numFmt formatCode="#,##0;&quot;-&quot;#,##0" sourceLinked="0"/>
              <c:spPr>
                <a:noFill/>
                <a:ln>
                  <a:noFill/>
                </a:ln>
              </c:spPr>
              <c:txPr>
                <a:bodyPr wrap="none"/>
                <a:lstStyle/>
                <a:p>
                  <a:pPr>
                    <a:defRPr sz="1000">
                      <a:solidFill>
                        <a:srgbClr val="000000"/>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62F5-46BD-A787-60355FF6B3E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7832</c:v>
                </c:pt>
                <c:pt idx="1">
                  <c:v>15673</c:v>
                </c:pt>
              </c:numCache>
            </c:numRef>
          </c:val>
          <c:extLst>
            <c:ext xmlns:c16="http://schemas.microsoft.com/office/drawing/2014/chart" uri="{C3380CC4-5D6E-409C-BE32-E72D297353CC}">
              <c16:uniqueId val="{00000002-62F5-46BD-A787-60355FF6B3E7}"/>
            </c:ext>
          </c:extLst>
        </c:ser>
        <c:dLbls>
          <c:showLegendKey val="0"/>
          <c:showVal val="0"/>
          <c:showCatName val="0"/>
          <c:showSerName val="0"/>
          <c:showPercent val="0"/>
          <c:showBubbleSize val="0"/>
        </c:dLbls>
        <c:gapWidth val="80"/>
        <c:overlap val="100"/>
        <c:axId val="931249280"/>
        <c:axId val="1"/>
      </c:barChart>
      <c:catAx>
        <c:axId val="93124928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15673"/>
          <c:min val="0"/>
        </c:scaling>
        <c:delete val="1"/>
        <c:axPos val="l"/>
        <c:numFmt formatCode="General" sourceLinked="1"/>
        <c:majorTickMark val="out"/>
        <c:minorTickMark val="none"/>
        <c:tickLblPos val="nextTo"/>
        <c:crossAx val="931249280"/>
        <c:crosses val="min"/>
        <c:crossBetween val="between"/>
      </c:valAx>
    </c:plotArea>
    <c:plotVisOnly val="0"/>
    <c:dispBlanksAs val="gap"/>
    <c:showDLblsOverMax val="1"/>
  </c:chart>
  <c:externalData r:id="rId1">
    <c:autoUpdate val="0"/>
  </c:externalData>
</c:chartSpace>
</file>

<file path=ppt/charts/chart10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61219195849545E-2"/>
          <c:y val="0.14031180400890869"/>
          <c:w val="0.96627756160830092"/>
          <c:h val="0.80178173719376389"/>
        </c:manualLayout>
      </c:layout>
      <c:barChart>
        <c:barDir val="col"/>
        <c:grouping val="stacked"/>
        <c:varyColors val="0"/>
        <c:ser>
          <c:idx val="0"/>
          <c:order val="0"/>
          <c:spPr>
            <a:solidFill>
              <a:schemeClr val="accent5"/>
            </a:solidFill>
            <a:ln>
              <a:noFill/>
            </a:ln>
          </c:spPr>
          <c:invertIfNegative val="0"/>
          <c:dLbls>
            <c:dLbl>
              <c:idx val="0"/>
              <c:layout>
                <c:manualLayout>
                  <c:x val="0"/>
                  <c:y val="-0.3173719376391982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033E-4D96-9E21-C9254DF0401B}"/>
                </c:ext>
              </c:extLst>
            </c:dLbl>
            <c:dLbl>
              <c:idx val="1"/>
              <c:layout>
                <c:manualLayout>
                  <c:x val="0"/>
                  <c:y val="-0.47216035634743875"/>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033E-4D96-9E21-C9254DF0401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173</c:v>
                </c:pt>
                <c:pt idx="1">
                  <c:v>281</c:v>
                </c:pt>
              </c:numCache>
            </c:numRef>
          </c:val>
          <c:extLst>
            <c:ext xmlns:c16="http://schemas.microsoft.com/office/drawing/2014/chart" uri="{C3380CC4-5D6E-409C-BE32-E72D297353CC}">
              <c16:uniqueId val="{00000002-033E-4D96-9E21-C9254DF0401B}"/>
            </c:ext>
          </c:extLst>
        </c:ser>
        <c:dLbls>
          <c:showLegendKey val="0"/>
          <c:showVal val="0"/>
          <c:showCatName val="0"/>
          <c:showSerName val="0"/>
          <c:showPercent val="0"/>
          <c:showBubbleSize val="0"/>
        </c:dLbls>
        <c:gapWidth val="150"/>
        <c:overlap val="100"/>
        <c:axId val="905656240"/>
        <c:axId val="1"/>
      </c:barChart>
      <c:catAx>
        <c:axId val="90565624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281"/>
          <c:min val="0"/>
        </c:scaling>
        <c:delete val="1"/>
        <c:axPos val="l"/>
        <c:numFmt formatCode="General" sourceLinked="1"/>
        <c:majorTickMark val="out"/>
        <c:minorTickMark val="none"/>
        <c:tickLblPos val="nextTo"/>
        <c:crossAx val="905656240"/>
        <c:crosses val="min"/>
        <c:crossBetween val="between"/>
      </c:valAx>
    </c:plotArea>
    <c:plotVisOnly val="0"/>
    <c:dispBlanksAs val="gap"/>
    <c:showDLblsOverMax val="1"/>
  </c:chart>
  <c:externalData r:id="rId1">
    <c:autoUpdate val="0"/>
  </c:externalData>
</c:chartSpace>
</file>

<file path=ppt/charts/chart10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520215633423181E-2"/>
          <c:y val="0.18604651162790697"/>
          <c:w val="0.96495956873315369"/>
          <c:h val="0.73333333333333328"/>
        </c:manualLayout>
      </c:layout>
      <c:barChart>
        <c:barDir val="col"/>
        <c:grouping val="clustered"/>
        <c:varyColors val="0"/>
        <c:ser>
          <c:idx val="0"/>
          <c:order val="0"/>
          <c:invertIfNegative val="0"/>
          <c:val>
            <c:numRef>
              <c:f>Sheet1!$A$1:$B$1</c:f>
              <c:numCache>
                <c:formatCode>General</c:formatCode>
                <c:ptCount val="2"/>
                <c:pt idx="0">
                  <c:v>0</c:v>
                </c:pt>
              </c:numCache>
            </c:numRef>
          </c:val>
          <c:extLst>
            <c:ext xmlns:c16="http://schemas.microsoft.com/office/drawing/2014/chart" uri="{C3380CC4-5D6E-409C-BE32-E72D297353CC}">
              <c16:uniqueId val="{00000000-269A-455E-9F68-61E807286F50}"/>
            </c:ext>
          </c:extLst>
        </c:ser>
        <c:ser>
          <c:idx val="1"/>
          <c:order val="1"/>
          <c:spPr>
            <a:solidFill>
              <a:srgbClr val="86BC25"/>
            </a:solidFill>
            <a:ln>
              <a:noFill/>
            </a:ln>
          </c:spPr>
          <c:invertIfNegative val="0"/>
          <c:dLbls>
            <c:dLbl>
              <c:idx val="0"/>
              <c:layout>
                <c:manualLayout>
                  <c:x val="0"/>
                  <c:y val="-0.4573643410852713"/>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269A-455E-9F68-61E807286F50}"/>
                </c:ext>
              </c:extLst>
            </c:dLbl>
            <c:dLbl>
              <c:idx val="1"/>
              <c:layout>
                <c:manualLayout>
                  <c:x val="0"/>
                  <c:y val="-0.46201550387596901"/>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269A-455E-9F68-61E807286F5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Sheet1!$A$2:$B$2</c:f>
              <c:numCache>
                <c:formatCode>General</c:formatCode>
                <c:ptCount val="2"/>
                <c:pt idx="0">
                  <c:v>4.97</c:v>
                </c:pt>
                <c:pt idx="1">
                  <c:v>5.03</c:v>
                </c:pt>
              </c:numCache>
            </c:numRef>
          </c:val>
          <c:extLst>
            <c:ext xmlns:c16="http://schemas.microsoft.com/office/drawing/2014/chart" uri="{C3380CC4-5D6E-409C-BE32-E72D297353CC}">
              <c16:uniqueId val="{00000003-269A-455E-9F68-61E807286F50}"/>
            </c:ext>
          </c:extLst>
        </c:ser>
        <c:dLbls>
          <c:showLegendKey val="0"/>
          <c:showVal val="0"/>
          <c:showCatName val="0"/>
          <c:showSerName val="0"/>
          <c:showPercent val="0"/>
          <c:showBubbleSize val="0"/>
        </c:dLbls>
        <c:gapWidth val="200"/>
        <c:axId val="583623808"/>
        <c:axId val="1"/>
      </c:barChart>
      <c:catAx>
        <c:axId val="583623808"/>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5.0999999999999996"/>
          <c:min val="0"/>
        </c:scaling>
        <c:delete val="1"/>
        <c:axPos val="l"/>
        <c:numFmt formatCode="General" sourceLinked="1"/>
        <c:majorTickMark val="out"/>
        <c:minorTickMark val="none"/>
        <c:tickLblPos val="nextTo"/>
        <c:crossAx val="583623808"/>
        <c:crosses val="min"/>
        <c:crossBetween val="between"/>
      </c:valAx>
    </c:plotArea>
    <c:plotVisOnly val="0"/>
    <c:dispBlanksAs val="gap"/>
    <c:showDLblsOverMax val="1"/>
  </c:chart>
  <c:externalData r:id="rId1">
    <c:autoUpdate val="0"/>
  </c:externalData>
</c:chartSpace>
</file>

<file path=ppt/charts/chart10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660714285714284"/>
          <c:y val="9.0121317157712294E-2"/>
          <c:w val="0.72678571428571426"/>
          <c:h val="0.81975736568457536"/>
        </c:manualLayout>
      </c:layout>
      <c:barChart>
        <c:barDir val="col"/>
        <c:grouping val="stacked"/>
        <c:varyColors val="0"/>
        <c:ser>
          <c:idx val="0"/>
          <c:order val="0"/>
          <c:spPr>
            <a:solidFill>
              <a:srgbClr val="012169"/>
            </a:solidFill>
            <a:ln>
              <a:noFill/>
            </a:ln>
          </c:spPr>
          <c:invertIfNegative val="0"/>
          <c:dLbls>
            <c:dLbl>
              <c:idx val="0"/>
              <c:layout>
                <c:manualLayout>
                  <c:x val="0"/>
                  <c:y val="0"/>
                </c:manualLayout>
              </c:layout>
              <c:numFmt formatCode="#,##0.0;&quot;-&quot;#,##0.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8FF8-45CC-A255-6F726985864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f>
              <c:numCache>
                <c:formatCode>General</c:formatCode>
                <c:ptCount val="1"/>
                <c:pt idx="0">
                  <c:v>2.98</c:v>
                </c:pt>
              </c:numCache>
            </c:numRef>
          </c:val>
          <c:extLst>
            <c:ext xmlns:c16="http://schemas.microsoft.com/office/drawing/2014/chart" uri="{C3380CC4-5D6E-409C-BE32-E72D297353CC}">
              <c16:uniqueId val="{00000001-8FF8-45CC-A255-6F7269858646}"/>
            </c:ext>
          </c:extLst>
        </c:ser>
        <c:ser>
          <c:idx val="1"/>
          <c:order val="1"/>
          <c:spPr>
            <a:solidFill>
              <a:schemeClr val="accent5"/>
            </a:solidFill>
            <a:ln>
              <a:noFill/>
            </a:ln>
          </c:spPr>
          <c:invertIfNegative val="0"/>
          <c:dLbls>
            <c:dLbl>
              <c:idx val="0"/>
              <c:layout>
                <c:manualLayout>
                  <c:x val="0"/>
                  <c:y val="-1.7331022530329288E-3"/>
                </c:manualLayout>
              </c:layout>
              <c:numFmt formatCode="#,##0.0;&quot;-&quot;#,##0.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8FF8-45CC-A255-6F726985864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f>
              <c:numCache>
                <c:formatCode>General</c:formatCode>
                <c:ptCount val="1"/>
                <c:pt idx="0">
                  <c:v>2.0499999999999994</c:v>
                </c:pt>
              </c:numCache>
            </c:numRef>
          </c:val>
          <c:extLst>
            <c:ext xmlns:c16="http://schemas.microsoft.com/office/drawing/2014/chart" uri="{C3380CC4-5D6E-409C-BE32-E72D297353CC}">
              <c16:uniqueId val="{00000003-8FF8-45CC-A255-6F7269858646}"/>
            </c:ext>
          </c:extLst>
        </c:ser>
        <c:dLbls>
          <c:showLegendKey val="0"/>
          <c:showVal val="0"/>
          <c:showCatName val="0"/>
          <c:showSerName val="0"/>
          <c:showPercent val="0"/>
          <c:showBubbleSize val="0"/>
        </c:dLbls>
        <c:gapWidth val="150"/>
        <c:overlap val="100"/>
        <c:axId val="583628072"/>
        <c:axId val="1"/>
      </c:barChart>
      <c:catAx>
        <c:axId val="583628072"/>
        <c:scaling>
          <c:orientation val="minMax"/>
        </c:scaling>
        <c:delete val="0"/>
        <c:axPos val="b"/>
        <c:majorGridlines>
          <c:spPr>
            <a:ln>
              <a:noFill/>
            </a:ln>
          </c:spPr>
        </c:majorGridlines>
        <c:majorTickMark val="none"/>
        <c:minorTickMark val="none"/>
        <c:tickLblPos val="none"/>
        <c:spPr>
          <a:ln w="9525" algn="ctr">
            <a:solidFill>
              <a:srgbClr val="FFFFFF"/>
            </a:solidFill>
            <a:prstDash val="solid"/>
          </a:ln>
        </c:spPr>
        <c:crossAx val="1"/>
        <c:crosses val="min"/>
        <c:auto val="0"/>
        <c:lblAlgn val="ctr"/>
        <c:lblOffset val="100"/>
        <c:noMultiLvlLbl val="0"/>
      </c:catAx>
      <c:valAx>
        <c:axId val="1"/>
        <c:scaling>
          <c:orientation val="minMax"/>
          <c:max val="5.0999999999999996"/>
          <c:min val="0"/>
        </c:scaling>
        <c:delete val="1"/>
        <c:axPos val="l"/>
        <c:numFmt formatCode="General" sourceLinked="1"/>
        <c:majorTickMark val="out"/>
        <c:minorTickMark val="none"/>
        <c:tickLblPos val="nextTo"/>
        <c:crossAx val="583628072"/>
        <c:crosses val="min"/>
        <c:crossBetween val="between"/>
      </c:valAx>
    </c:plotArea>
    <c:plotVisOnly val="0"/>
    <c:dispBlanksAs val="gap"/>
    <c:showDLblsOverMax val="1"/>
  </c:chart>
  <c:externalData r:id="rId1">
    <c:autoUpdate val="0"/>
  </c:externalData>
</c:chartSpace>
</file>

<file path=ppt/charts/chart10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660714285714284"/>
          <c:y val="6.7708333333333329E-2"/>
          <c:w val="0.72678571428571426"/>
          <c:h val="0.86458333333333326"/>
        </c:manualLayout>
      </c:layout>
      <c:barChart>
        <c:barDir val="col"/>
        <c:grouping val="stacked"/>
        <c:varyColors val="0"/>
        <c:ser>
          <c:idx val="0"/>
          <c:order val="0"/>
          <c:spPr>
            <a:solidFill>
              <a:srgbClr val="012169"/>
            </a:solidFill>
            <a:ln>
              <a:noFill/>
            </a:ln>
          </c:spPr>
          <c:invertIfNegative val="0"/>
          <c:dLbls>
            <c:dLbl>
              <c:idx val="0"/>
              <c:layout>
                <c:manualLayout>
                  <c:x val="0"/>
                  <c:y val="0"/>
                </c:manualLayout>
              </c:layout>
              <c:numFmt formatCode="#,##0.0;&quot;-&quot;#,##0.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5C8-4064-BF00-C284148C4F1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f>
              <c:numCache>
                <c:formatCode>General</c:formatCode>
                <c:ptCount val="1"/>
                <c:pt idx="0">
                  <c:v>3.16</c:v>
                </c:pt>
              </c:numCache>
            </c:numRef>
          </c:val>
          <c:extLst>
            <c:ext xmlns:c16="http://schemas.microsoft.com/office/drawing/2014/chart" uri="{C3380CC4-5D6E-409C-BE32-E72D297353CC}">
              <c16:uniqueId val="{00000001-45C8-4064-BF00-C284148C4F1F}"/>
            </c:ext>
          </c:extLst>
        </c:ser>
        <c:ser>
          <c:idx val="1"/>
          <c:order val="1"/>
          <c:spPr>
            <a:solidFill>
              <a:schemeClr val="accent5"/>
            </a:solidFill>
            <a:ln>
              <a:noFill/>
            </a:ln>
          </c:spPr>
          <c:invertIfNegative val="0"/>
          <c:dLbls>
            <c:dLbl>
              <c:idx val="0"/>
              <c:layout>
                <c:manualLayout>
                  <c:x val="0"/>
                  <c:y val="0"/>
                </c:manualLayout>
              </c:layout>
              <c:numFmt formatCode="#,##0.0;&quot;-&quot;#,##0.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45C8-4064-BF00-C284148C4F1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f>
              <c:numCache>
                <c:formatCode>General</c:formatCode>
                <c:ptCount val="1"/>
                <c:pt idx="0">
                  <c:v>2.5199999999999996</c:v>
                </c:pt>
              </c:numCache>
            </c:numRef>
          </c:val>
          <c:extLst>
            <c:ext xmlns:c16="http://schemas.microsoft.com/office/drawing/2014/chart" uri="{C3380CC4-5D6E-409C-BE32-E72D297353CC}">
              <c16:uniqueId val="{00000003-45C8-4064-BF00-C284148C4F1F}"/>
            </c:ext>
          </c:extLst>
        </c:ser>
        <c:dLbls>
          <c:showLegendKey val="0"/>
          <c:showVal val="0"/>
          <c:showCatName val="0"/>
          <c:showSerName val="0"/>
          <c:showPercent val="0"/>
          <c:showBubbleSize val="0"/>
        </c:dLbls>
        <c:gapWidth val="150"/>
        <c:overlap val="100"/>
        <c:axId val="958777072"/>
        <c:axId val="1"/>
      </c:barChart>
      <c:catAx>
        <c:axId val="958777072"/>
        <c:scaling>
          <c:orientation val="minMax"/>
        </c:scaling>
        <c:delete val="0"/>
        <c:axPos val="b"/>
        <c:majorGridlines>
          <c:spPr>
            <a:ln>
              <a:noFill/>
            </a:ln>
          </c:spPr>
        </c:majorGridlines>
        <c:majorTickMark val="none"/>
        <c:minorTickMark val="none"/>
        <c:tickLblPos val="none"/>
        <c:spPr>
          <a:ln w="9525" algn="ctr">
            <a:solidFill>
              <a:srgbClr val="FFFFFF"/>
            </a:solidFill>
            <a:prstDash val="solid"/>
          </a:ln>
        </c:spPr>
        <c:crossAx val="1"/>
        <c:crosses val="min"/>
        <c:auto val="0"/>
        <c:lblAlgn val="ctr"/>
        <c:lblOffset val="100"/>
        <c:noMultiLvlLbl val="0"/>
      </c:catAx>
      <c:valAx>
        <c:axId val="1"/>
        <c:scaling>
          <c:orientation val="minMax"/>
          <c:max val="5.68"/>
          <c:min val="0"/>
        </c:scaling>
        <c:delete val="1"/>
        <c:axPos val="l"/>
        <c:numFmt formatCode="General" sourceLinked="1"/>
        <c:majorTickMark val="out"/>
        <c:minorTickMark val="none"/>
        <c:tickLblPos val="nextTo"/>
        <c:crossAx val="958777072"/>
        <c:crosses val="min"/>
        <c:crossBetween val="between"/>
      </c:valAx>
    </c:plotArea>
    <c:plotVisOnly val="0"/>
    <c:dispBlanksAs val="gap"/>
    <c:showDLblsOverMax val="1"/>
  </c:chart>
  <c:externalData r:id="rId1">
    <c:autoUpdate val="0"/>
  </c:externalData>
</c:chartSpace>
</file>

<file path=ppt/charts/chart10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61219195849545E-2"/>
          <c:y val="0.16133162612035851"/>
          <c:w val="0.96627756160830092"/>
          <c:h val="0.77208706786171577"/>
        </c:manualLayout>
      </c:layout>
      <c:barChart>
        <c:barDir val="col"/>
        <c:grouping val="stacked"/>
        <c:varyColors val="0"/>
        <c:ser>
          <c:idx val="0"/>
          <c:order val="0"/>
          <c:spPr>
            <a:solidFill>
              <a:srgbClr val="012169"/>
            </a:solidFill>
            <a:ln>
              <a:noFill/>
            </a:ln>
          </c:spPr>
          <c:invertIfNegative val="0"/>
          <c:dLbls>
            <c:dLbl>
              <c:idx val="0"/>
              <c:layout>
                <c:manualLayout>
                  <c:x val="0"/>
                  <c:y val="-0.28681177976952626"/>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D0D4-491A-8438-2675EAC382DC}"/>
                </c:ext>
              </c:extLst>
            </c:dLbl>
            <c:dLbl>
              <c:idx val="1"/>
              <c:layout>
                <c:manualLayout>
                  <c:x val="0"/>
                  <c:y val="-0.46862996158770809"/>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D0D4-491A-8438-2675EAC382D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217</c:v>
                </c:pt>
                <c:pt idx="1">
                  <c:v>409</c:v>
                </c:pt>
              </c:numCache>
            </c:numRef>
          </c:val>
          <c:extLst>
            <c:ext xmlns:c16="http://schemas.microsoft.com/office/drawing/2014/chart" uri="{C3380CC4-5D6E-409C-BE32-E72D297353CC}">
              <c16:uniqueId val="{00000002-D0D4-491A-8438-2675EAC382DC}"/>
            </c:ext>
          </c:extLst>
        </c:ser>
        <c:dLbls>
          <c:showLegendKey val="0"/>
          <c:showVal val="0"/>
          <c:showCatName val="0"/>
          <c:showSerName val="0"/>
          <c:showPercent val="0"/>
          <c:showBubbleSize val="0"/>
        </c:dLbls>
        <c:gapWidth val="150"/>
        <c:overlap val="100"/>
        <c:axId val="583642176"/>
        <c:axId val="1"/>
      </c:barChart>
      <c:catAx>
        <c:axId val="583642176"/>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409"/>
          <c:min val="0"/>
        </c:scaling>
        <c:delete val="1"/>
        <c:axPos val="l"/>
        <c:numFmt formatCode="General" sourceLinked="1"/>
        <c:majorTickMark val="out"/>
        <c:minorTickMark val="none"/>
        <c:tickLblPos val="nextTo"/>
        <c:crossAx val="583642176"/>
        <c:crosses val="min"/>
        <c:crossBetween val="between"/>
      </c:valAx>
    </c:plotArea>
    <c:plotVisOnly val="0"/>
    <c:dispBlanksAs val="gap"/>
    <c:showDLblsOverMax val="1"/>
  </c:chart>
  <c:externalData r:id="rId1">
    <c:autoUpdate val="0"/>
  </c:externalData>
</c:chartSpace>
</file>

<file path=ppt/charts/chart10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520215633423181E-2"/>
          <c:y val="0.18604651162790697"/>
          <c:w val="0.96495956873315369"/>
          <c:h val="0.73333333333333328"/>
        </c:manualLayout>
      </c:layout>
      <c:barChart>
        <c:barDir val="col"/>
        <c:grouping val="clustered"/>
        <c:varyColors val="0"/>
        <c:ser>
          <c:idx val="0"/>
          <c:order val="0"/>
          <c:invertIfNegative val="0"/>
          <c:val>
            <c:numRef>
              <c:f>Sheet1!$A$1:$B$1</c:f>
              <c:numCache>
                <c:formatCode>General</c:formatCode>
                <c:ptCount val="2"/>
                <c:pt idx="0">
                  <c:v>0</c:v>
                </c:pt>
              </c:numCache>
            </c:numRef>
          </c:val>
          <c:extLst>
            <c:ext xmlns:c16="http://schemas.microsoft.com/office/drawing/2014/chart" uri="{C3380CC4-5D6E-409C-BE32-E72D297353CC}">
              <c16:uniqueId val="{00000000-B9F4-41E9-AAA9-6ECBA768BD7F}"/>
            </c:ext>
          </c:extLst>
        </c:ser>
        <c:ser>
          <c:idx val="1"/>
          <c:order val="1"/>
          <c:spPr>
            <a:solidFill>
              <a:srgbClr val="86BC25"/>
            </a:solidFill>
            <a:ln>
              <a:noFill/>
            </a:ln>
          </c:spPr>
          <c:invertIfNegative val="0"/>
          <c:dLbls>
            <c:dLbl>
              <c:idx val="0"/>
              <c:layout>
                <c:manualLayout>
                  <c:x val="0"/>
                  <c:y val="-0.4573643410852713"/>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B9F4-41E9-AAA9-6ECBA768BD7F}"/>
                </c:ext>
              </c:extLst>
            </c:dLbl>
            <c:dLbl>
              <c:idx val="1"/>
              <c:layout>
                <c:manualLayout>
                  <c:x val="0"/>
                  <c:y val="-0.46201550387596901"/>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B9F4-41E9-AAA9-6ECBA768BD7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Sheet1!$A$2:$B$2</c:f>
              <c:numCache>
                <c:formatCode>General</c:formatCode>
                <c:ptCount val="2"/>
                <c:pt idx="0">
                  <c:v>4.97</c:v>
                </c:pt>
                <c:pt idx="1">
                  <c:v>5.03</c:v>
                </c:pt>
              </c:numCache>
            </c:numRef>
          </c:val>
          <c:extLst>
            <c:ext xmlns:c16="http://schemas.microsoft.com/office/drawing/2014/chart" uri="{C3380CC4-5D6E-409C-BE32-E72D297353CC}">
              <c16:uniqueId val="{00000003-B9F4-41E9-AAA9-6ECBA768BD7F}"/>
            </c:ext>
          </c:extLst>
        </c:ser>
        <c:dLbls>
          <c:showLegendKey val="0"/>
          <c:showVal val="0"/>
          <c:showCatName val="0"/>
          <c:showSerName val="0"/>
          <c:showPercent val="0"/>
          <c:showBubbleSize val="0"/>
        </c:dLbls>
        <c:gapWidth val="200"/>
        <c:axId val="583621840"/>
        <c:axId val="1"/>
      </c:barChart>
      <c:catAx>
        <c:axId val="58362184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5.0999999999999996"/>
          <c:min val="0"/>
        </c:scaling>
        <c:delete val="1"/>
        <c:axPos val="l"/>
        <c:numFmt formatCode="General" sourceLinked="1"/>
        <c:majorTickMark val="out"/>
        <c:minorTickMark val="none"/>
        <c:tickLblPos val="nextTo"/>
        <c:crossAx val="583621840"/>
        <c:crosses val="min"/>
        <c:crossBetween val="between"/>
      </c:valAx>
    </c:plotArea>
    <c:plotVisOnly val="0"/>
    <c:dispBlanksAs val="gap"/>
    <c:showDLblsOverMax val="1"/>
  </c:chart>
  <c:externalData r:id="rId1">
    <c:autoUpdate val="0"/>
  </c:externalData>
</c:chartSpace>
</file>

<file path=ppt/charts/chart10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660714285714284"/>
          <c:y val="7.9147640791476404E-2"/>
          <c:w val="0.72678571428571426"/>
          <c:h val="0.84170471841704719"/>
        </c:manualLayout>
      </c:layout>
      <c:barChart>
        <c:barDir val="col"/>
        <c:grouping val="stacked"/>
        <c:varyColors val="0"/>
        <c:ser>
          <c:idx val="0"/>
          <c:order val="0"/>
          <c:spPr>
            <a:solidFill>
              <a:srgbClr val="012169"/>
            </a:solidFill>
            <a:ln>
              <a:noFill/>
            </a:ln>
          </c:spPr>
          <c:invertIfNegative val="0"/>
          <c:dLbls>
            <c:dLbl>
              <c:idx val="0"/>
              <c:layout>
                <c:manualLayout>
                  <c:x val="0"/>
                  <c:y val="-1.5220700152207001E-3"/>
                </c:manualLayout>
              </c:layout>
              <c:numFmt formatCode="#,##0.0;&quot;-&quot;#,##0.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F9A8-4F82-A33B-0A08B129D4DA}"/>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f>
              <c:numCache>
                <c:formatCode>General</c:formatCode>
                <c:ptCount val="1"/>
                <c:pt idx="0">
                  <c:v>2.2000000000000002</c:v>
                </c:pt>
              </c:numCache>
            </c:numRef>
          </c:val>
          <c:extLst>
            <c:ext xmlns:c16="http://schemas.microsoft.com/office/drawing/2014/chart" uri="{C3380CC4-5D6E-409C-BE32-E72D297353CC}">
              <c16:uniqueId val="{00000001-F9A8-4F82-A33B-0A08B129D4DA}"/>
            </c:ext>
          </c:extLst>
        </c:ser>
        <c:ser>
          <c:idx val="1"/>
          <c:order val="1"/>
          <c:spPr>
            <a:solidFill>
              <a:schemeClr val="accent5"/>
            </a:solidFill>
            <a:ln>
              <a:noFill/>
            </a:ln>
          </c:spPr>
          <c:invertIfNegative val="0"/>
          <c:dLbls>
            <c:dLbl>
              <c:idx val="0"/>
              <c:layout>
                <c:manualLayout>
                  <c:x val="0"/>
                  <c:y val="0"/>
                </c:manualLayout>
              </c:layout>
              <c:numFmt formatCode="#,##0.0;&quot;-&quot;#,##0.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F9A8-4F82-A33B-0A08B129D4DA}"/>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f>
              <c:numCache>
                <c:formatCode>General</c:formatCode>
                <c:ptCount val="1"/>
                <c:pt idx="0">
                  <c:v>2.8999999999999995</c:v>
                </c:pt>
              </c:numCache>
            </c:numRef>
          </c:val>
          <c:extLst>
            <c:ext xmlns:c16="http://schemas.microsoft.com/office/drawing/2014/chart" uri="{C3380CC4-5D6E-409C-BE32-E72D297353CC}">
              <c16:uniqueId val="{00000003-F9A8-4F82-A33B-0A08B129D4DA}"/>
            </c:ext>
          </c:extLst>
        </c:ser>
        <c:dLbls>
          <c:showLegendKey val="0"/>
          <c:showVal val="0"/>
          <c:showCatName val="0"/>
          <c:showSerName val="0"/>
          <c:showPercent val="0"/>
          <c:showBubbleSize val="0"/>
        </c:dLbls>
        <c:gapWidth val="150"/>
        <c:overlap val="100"/>
        <c:axId val="966866696"/>
        <c:axId val="1"/>
      </c:barChart>
      <c:catAx>
        <c:axId val="966866696"/>
        <c:scaling>
          <c:orientation val="minMax"/>
        </c:scaling>
        <c:delete val="0"/>
        <c:axPos val="b"/>
        <c:majorGridlines>
          <c:spPr>
            <a:ln>
              <a:noFill/>
            </a:ln>
          </c:spPr>
        </c:majorGridlines>
        <c:majorTickMark val="none"/>
        <c:minorTickMark val="none"/>
        <c:tickLblPos val="none"/>
        <c:spPr>
          <a:ln w="9525" algn="ctr">
            <a:solidFill>
              <a:srgbClr val="FFFFFF"/>
            </a:solidFill>
            <a:prstDash val="solid"/>
          </a:ln>
        </c:spPr>
        <c:crossAx val="1"/>
        <c:crosses val="min"/>
        <c:auto val="0"/>
        <c:lblAlgn val="ctr"/>
        <c:lblOffset val="100"/>
        <c:noMultiLvlLbl val="0"/>
      </c:catAx>
      <c:valAx>
        <c:axId val="1"/>
        <c:scaling>
          <c:orientation val="minMax"/>
          <c:max val="5.0999999999999996"/>
          <c:min val="0"/>
        </c:scaling>
        <c:delete val="1"/>
        <c:axPos val="l"/>
        <c:numFmt formatCode="General" sourceLinked="1"/>
        <c:majorTickMark val="out"/>
        <c:minorTickMark val="none"/>
        <c:tickLblPos val="nextTo"/>
        <c:crossAx val="966866696"/>
        <c:crosses val="min"/>
        <c:crossBetween val="between"/>
      </c:valAx>
    </c:plotArea>
    <c:plotVisOnly val="0"/>
    <c:dispBlanksAs val="gap"/>
    <c:showDLblsOverMax val="1"/>
  </c:chart>
  <c:externalData r:id="rId1">
    <c:autoUpdate val="0"/>
  </c:externalData>
</c:chartSpace>
</file>

<file path=ppt/charts/chart10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660714285714284"/>
          <c:y val="6.7708333333333329E-2"/>
          <c:w val="0.72678571428571426"/>
          <c:h val="0.86458333333333326"/>
        </c:manualLayout>
      </c:layout>
      <c:barChart>
        <c:barDir val="col"/>
        <c:grouping val="stacked"/>
        <c:varyColors val="0"/>
        <c:ser>
          <c:idx val="0"/>
          <c:order val="0"/>
          <c:spPr>
            <a:solidFill>
              <a:srgbClr val="012169"/>
            </a:solidFill>
            <a:ln>
              <a:noFill/>
            </a:ln>
          </c:spPr>
          <c:invertIfNegative val="0"/>
          <c:dLbls>
            <c:dLbl>
              <c:idx val="0"/>
              <c:layout>
                <c:manualLayout>
                  <c:x val="0"/>
                  <c:y val="0"/>
                </c:manualLayout>
              </c:layout>
              <c:numFmt formatCode="#,##0.0;&quot;-&quot;#,##0.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5C8-4064-BF00-C284148C4F1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f>
              <c:numCache>
                <c:formatCode>General</c:formatCode>
                <c:ptCount val="1"/>
                <c:pt idx="0">
                  <c:v>3.16</c:v>
                </c:pt>
              </c:numCache>
            </c:numRef>
          </c:val>
          <c:extLst>
            <c:ext xmlns:c16="http://schemas.microsoft.com/office/drawing/2014/chart" uri="{C3380CC4-5D6E-409C-BE32-E72D297353CC}">
              <c16:uniqueId val="{00000001-45C8-4064-BF00-C284148C4F1F}"/>
            </c:ext>
          </c:extLst>
        </c:ser>
        <c:ser>
          <c:idx val="1"/>
          <c:order val="1"/>
          <c:spPr>
            <a:solidFill>
              <a:schemeClr val="accent5"/>
            </a:solidFill>
            <a:ln>
              <a:noFill/>
            </a:ln>
          </c:spPr>
          <c:invertIfNegative val="0"/>
          <c:dLbls>
            <c:dLbl>
              <c:idx val="0"/>
              <c:layout>
                <c:manualLayout>
                  <c:x val="0"/>
                  <c:y val="0"/>
                </c:manualLayout>
              </c:layout>
              <c:numFmt formatCode="#,##0.0;&quot;-&quot;#,##0.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45C8-4064-BF00-C284148C4F1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f>
              <c:numCache>
                <c:formatCode>General</c:formatCode>
                <c:ptCount val="1"/>
                <c:pt idx="0">
                  <c:v>2.5199999999999996</c:v>
                </c:pt>
              </c:numCache>
            </c:numRef>
          </c:val>
          <c:extLst>
            <c:ext xmlns:c16="http://schemas.microsoft.com/office/drawing/2014/chart" uri="{C3380CC4-5D6E-409C-BE32-E72D297353CC}">
              <c16:uniqueId val="{00000003-45C8-4064-BF00-C284148C4F1F}"/>
            </c:ext>
          </c:extLst>
        </c:ser>
        <c:dLbls>
          <c:showLegendKey val="0"/>
          <c:showVal val="0"/>
          <c:showCatName val="0"/>
          <c:showSerName val="0"/>
          <c:showPercent val="0"/>
          <c:showBubbleSize val="0"/>
        </c:dLbls>
        <c:gapWidth val="150"/>
        <c:overlap val="100"/>
        <c:axId val="958777072"/>
        <c:axId val="1"/>
      </c:barChart>
      <c:catAx>
        <c:axId val="958777072"/>
        <c:scaling>
          <c:orientation val="minMax"/>
        </c:scaling>
        <c:delete val="0"/>
        <c:axPos val="b"/>
        <c:majorGridlines>
          <c:spPr>
            <a:ln>
              <a:noFill/>
            </a:ln>
          </c:spPr>
        </c:majorGridlines>
        <c:majorTickMark val="none"/>
        <c:minorTickMark val="none"/>
        <c:tickLblPos val="none"/>
        <c:spPr>
          <a:ln w="9525" algn="ctr">
            <a:solidFill>
              <a:srgbClr val="FFFFFF"/>
            </a:solidFill>
            <a:prstDash val="solid"/>
          </a:ln>
        </c:spPr>
        <c:crossAx val="1"/>
        <c:crosses val="min"/>
        <c:auto val="0"/>
        <c:lblAlgn val="ctr"/>
        <c:lblOffset val="100"/>
        <c:noMultiLvlLbl val="0"/>
      </c:catAx>
      <c:valAx>
        <c:axId val="1"/>
        <c:scaling>
          <c:orientation val="minMax"/>
          <c:max val="5.68"/>
          <c:min val="0"/>
        </c:scaling>
        <c:delete val="1"/>
        <c:axPos val="l"/>
        <c:numFmt formatCode="General" sourceLinked="1"/>
        <c:majorTickMark val="out"/>
        <c:minorTickMark val="none"/>
        <c:tickLblPos val="nextTo"/>
        <c:crossAx val="958777072"/>
        <c:crosses val="min"/>
        <c:crossBetween val="between"/>
      </c:valAx>
    </c:plotArea>
    <c:plotVisOnly val="0"/>
    <c:dispBlanksAs val="gap"/>
    <c:showDLblsOverMax val="1"/>
  </c:chart>
  <c:externalData r:id="rId1">
    <c:autoUpdate val="0"/>
  </c:externalData>
</c:chartSpace>
</file>

<file path=ppt/charts/chart10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520215633423181E-2"/>
          <c:y val="8.0870917573872478E-2"/>
          <c:w val="0.96495956873315369"/>
          <c:h val="0.83825816485225502"/>
        </c:manualLayout>
      </c:layout>
      <c:barChart>
        <c:barDir val="col"/>
        <c:grouping val="stacked"/>
        <c:varyColors val="0"/>
        <c:ser>
          <c:idx val="0"/>
          <c:order val="0"/>
          <c:spPr>
            <a:solidFill>
              <a:srgbClr val="012169"/>
            </a:solidFill>
            <a:ln>
              <a:noFill/>
            </a:ln>
          </c:spPr>
          <c:invertIfNegative val="0"/>
          <c:dLbls>
            <c:dLbl>
              <c:idx val="0"/>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B261-4715-9704-6766CD9E74DB}"/>
                </c:ext>
              </c:extLst>
            </c:dLbl>
            <c:dLbl>
              <c:idx val="1"/>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B261-4715-9704-6766CD9E74D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217</c:v>
                </c:pt>
                <c:pt idx="1">
                  <c:v>212</c:v>
                </c:pt>
              </c:numCache>
            </c:numRef>
          </c:val>
          <c:extLst>
            <c:ext xmlns:c16="http://schemas.microsoft.com/office/drawing/2014/chart" uri="{C3380CC4-5D6E-409C-BE32-E72D297353CC}">
              <c16:uniqueId val="{00000002-B261-4715-9704-6766CD9E74DB}"/>
            </c:ext>
          </c:extLst>
        </c:ser>
        <c:ser>
          <c:idx val="1"/>
          <c:order val="1"/>
          <c:spPr>
            <a:solidFill>
              <a:schemeClr val="accent5"/>
            </a:solidFill>
            <a:ln>
              <a:noFill/>
            </a:ln>
          </c:spPr>
          <c:invertIfNegative val="0"/>
          <c:dLbls>
            <c:dLbl>
              <c:idx val="0"/>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B261-4715-9704-6766CD9E74DB}"/>
                </c:ext>
              </c:extLst>
            </c:dLbl>
            <c:dLbl>
              <c:idx val="1"/>
              <c:layout>
                <c:manualLayout>
                  <c:x val="0"/>
                  <c:y val="-1.5552099533437014E-3"/>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B261-4715-9704-6766CD9E74D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Sheet1!$A$2:$B$2</c:f>
              <c:numCache>
                <c:formatCode>General</c:formatCode>
                <c:ptCount val="2"/>
                <c:pt idx="0">
                  <c:v>173</c:v>
                </c:pt>
                <c:pt idx="1">
                  <c:v>281</c:v>
                </c:pt>
              </c:numCache>
            </c:numRef>
          </c:val>
          <c:extLst>
            <c:ext xmlns:c16="http://schemas.microsoft.com/office/drawing/2014/chart" uri="{C3380CC4-5D6E-409C-BE32-E72D297353CC}">
              <c16:uniqueId val="{00000005-B261-4715-9704-6766CD9E74DB}"/>
            </c:ext>
          </c:extLst>
        </c:ser>
        <c:dLbls>
          <c:showLegendKey val="0"/>
          <c:showVal val="0"/>
          <c:showCatName val="0"/>
          <c:showSerName val="0"/>
          <c:showPercent val="0"/>
          <c:showBubbleSize val="0"/>
        </c:dLbls>
        <c:gapWidth val="150"/>
        <c:overlap val="100"/>
        <c:axId val="905655584"/>
        <c:axId val="1"/>
      </c:barChart>
      <c:catAx>
        <c:axId val="905655584"/>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493"/>
          <c:min val="0"/>
        </c:scaling>
        <c:delete val="1"/>
        <c:axPos val="l"/>
        <c:numFmt formatCode="General" sourceLinked="1"/>
        <c:majorTickMark val="out"/>
        <c:minorTickMark val="none"/>
        <c:tickLblPos val="nextTo"/>
        <c:crossAx val="905655584"/>
        <c:crosses val="min"/>
        <c:crossBetween val="between"/>
      </c:valAx>
    </c:plotArea>
    <c:plotVisOnly val="0"/>
    <c:dispBlanksAs val="gap"/>
    <c:showDLblsOverMax val="1"/>
  </c:chart>
  <c:externalData r:id="rId1">
    <c:autoUpdate val="0"/>
  </c:externalData>
</c:chartSpace>
</file>

<file path=ppt/charts/chart1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3402340234023402E-2"/>
          <c:y val="5.2953156822810585E-2"/>
          <c:w val="0.95319531953195313"/>
          <c:h val="0.89409368635437869"/>
        </c:manualLayout>
      </c:layout>
      <c:barChart>
        <c:barDir val="col"/>
        <c:grouping val="stacked"/>
        <c:varyColors val="0"/>
        <c:ser>
          <c:idx val="0"/>
          <c:order val="0"/>
          <c:spPr>
            <a:solidFill>
              <a:srgbClr val="86BC25"/>
            </a:solidFill>
            <a:ln>
              <a:noFill/>
            </a:ln>
          </c:spPr>
          <c:invertIfNegative val="0"/>
          <c:val>
            <c:numRef>
              <c:f>Sheet1!$A$1:$B$1</c:f>
              <c:numCache>
                <c:formatCode>General</c:formatCode>
                <c:ptCount val="2"/>
                <c:pt idx="0">
                  <c:v>619.22825999999986</c:v>
                </c:pt>
                <c:pt idx="1">
                  <c:v>404.7280427586208</c:v>
                </c:pt>
              </c:numCache>
            </c:numRef>
          </c:val>
          <c:extLst>
            <c:ext xmlns:c16="http://schemas.microsoft.com/office/drawing/2014/chart" uri="{C3380CC4-5D6E-409C-BE32-E72D297353CC}">
              <c16:uniqueId val="{00000000-B499-4533-843C-C4B8210497D9}"/>
            </c:ext>
          </c:extLst>
        </c:ser>
        <c:ser>
          <c:idx val="1"/>
          <c:order val="1"/>
          <c:spPr>
            <a:solidFill>
              <a:srgbClr val="046A38"/>
            </a:solidFill>
            <a:ln>
              <a:noFill/>
            </a:ln>
          </c:spPr>
          <c:invertIfNegative val="0"/>
          <c:val>
            <c:numRef>
              <c:f>Sheet1!$A$2:$B$2</c:f>
              <c:numCache>
                <c:formatCode>General</c:formatCode>
                <c:ptCount val="2"/>
                <c:pt idx="0">
                  <c:v>52.472512999999935</c:v>
                </c:pt>
                <c:pt idx="1">
                  <c:v>24.904352068965522</c:v>
                </c:pt>
              </c:numCache>
            </c:numRef>
          </c:val>
          <c:extLst>
            <c:ext xmlns:c16="http://schemas.microsoft.com/office/drawing/2014/chart" uri="{C3380CC4-5D6E-409C-BE32-E72D297353CC}">
              <c16:uniqueId val="{00000001-B499-4533-843C-C4B8210497D9}"/>
            </c:ext>
          </c:extLst>
        </c:ser>
        <c:ser>
          <c:idx val="2"/>
          <c:order val="2"/>
          <c:spPr>
            <a:solidFill>
              <a:srgbClr val="62B5E5"/>
            </a:solidFill>
            <a:ln>
              <a:noFill/>
            </a:ln>
          </c:spPr>
          <c:invertIfNegative val="0"/>
          <c:val>
            <c:numRef>
              <c:f>Sheet1!$A$3:$B$3</c:f>
              <c:numCache>
                <c:formatCode>General</c:formatCode>
                <c:ptCount val="2"/>
                <c:pt idx="0">
                  <c:v>1234.6929320000002</c:v>
                </c:pt>
                <c:pt idx="1">
                  <c:v>419.37216931034476</c:v>
                </c:pt>
              </c:numCache>
            </c:numRef>
          </c:val>
          <c:extLst>
            <c:ext xmlns:c16="http://schemas.microsoft.com/office/drawing/2014/chart" uri="{C3380CC4-5D6E-409C-BE32-E72D297353CC}">
              <c16:uniqueId val="{00000002-B499-4533-843C-C4B8210497D9}"/>
            </c:ext>
          </c:extLst>
        </c:ser>
        <c:ser>
          <c:idx val="3"/>
          <c:order val="3"/>
          <c:spPr>
            <a:solidFill>
              <a:srgbClr val="012169"/>
            </a:solidFill>
            <a:ln>
              <a:noFill/>
            </a:ln>
          </c:spPr>
          <c:invertIfNegative val="0"/>
          <c:val>
            <c:numRef>
              <c:f>Sheet1!$A$4:$B$4</c:f>
              <c:numCache>
                <c:formatCode>General</c:formatCode>
                <c:ptCount val="2"/>
                <c:pt idx="0">
                  <c:v>3.9545359999999619</c:v>
                </c:pt>
                <c:pt idx="1">
                  <c:v>5.7581193103447958</c:v>
                </c:pt>
              </c:numCache>
            </c:numRef>
          </c:val>
          <c:extLst>
            <c:ext xmlns:c16="http://schemas.microsoft.com/office/drawing/2014/chart" uri="{C3380CC4-5D6E-409C-BE32-E72D297353CC}">
              <c16:uniqueId val="{00000003-B499-4533-843C-C4B8210497D9}"/>
            </c:ext>
          </c:extLst>
        </c:ser>
        <c:ser>
          <c:idx val="4"/>
          <c:order val="4"/>
          <c:spPr>
            <a:solidFill>
              <a:srgbClr val="0097A9"/>
            </a:solidFill>
            <a:ln>
              <a:noFill/>
            </a:ln>
          </c:spPr>
          <c:invertIfNegative val="0"/>
          <c:val>
            <c:numRef>
              <c:f>Sheet1!$A$5:$B$5</c:f>
              <c:numCache>
                <c:formatCode>General</c:formatCode>
                <c:ptCount val="2"/>
                <c:pt idx="0">
                  <c:v>168.53138199999989</c:v>
                </c:pt>
                <c:pt idx="1">
                  <c:v>417.16195034482769</c:v>
                </c:pt>
              </c:numCache>
            </c:numRef>
          </c:val>
          <c:extLst>
            <c:ext xmlns:c16="http://schemas.microsoft.com/office/drawing/2014/chart" uri="{C3380CC4-5D6E-409C-BE32-E72D297353CC}">
              <c16:uniqueId val="{00000004-B499-4533-843C-C4B8210497D9}"/>
            </c:ext>
          </c:extLst>
        </c:ser>
        <c:ser>
          <c:idx val="5"/>
          <c:order val="5"/>
          <c:spPr>
            <a:solidFill>
              <a:srgbClr val="75787B"/>
            </a:solidFill>
            <a:ln>
              <a:noFill/>
            </a:ln>
          </c:spPr>
          <c:invertIfNegative val="0"/>
          <c:val>
            <c:numRef>
              <c:f>Sheet1!$A$6:$B$6</c:f>
              <c:numCache>
                <c:formatCode>General</c:formatCode>
                <c:ptCount val="2"/>
                <c:pt idx="0">
                  <c:v>4075.9124490000004</c:v>
                </c:pt>
                <c:pt idx="1">
                  <c:v>3894.8254882758611</c:v>
                </c:pt>
              </c:numCache>
            </c:numRef>
          </c:val>
          <c:extLst>
            <c:ext xmlns:c16="http://schemas.microsoft.com/office/drawing/2014/chart" uri="{C3380CC4-5D6E-409C-BE32-E72D297353CC}">
              <c16:uniqueId val="{00000005-B499-4533-843C-C4B8210497D9}"/>
            </c:ext>
          </c:extLst>
        </c:ser>
        <c:dLbls>
          <c:showLegendKey val="0"/>
          <c:showVal val="0"/>
          <c:showCatName val="0"/>
          <c:showSerName val="0"/>
          <c:showPercent val="0"/>
          <c:showBubbleSize val="0"/>
        </c:dLbls>
        <c:gapWidth val="80"/>
        <c:overlap val="100"/>
        <c:axId val="60820519"/>
        <c:axId val="1"/>
      </c:barChart>
      <c:catAx>
        <c:axId val="60820519"/>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6154.7920720000002"/>
          <c:min val="0"/>
        </c:scaling>
        <c:delete val="1"/>
        <c:axPos val="l"/>
        <c:numFmt formatCode="General" sourceLinked="1"/>
        <c:majorTickMark val="out"/>
        <c:minorTickMark val="none"/>
        <c:tickLblPos val="nextTo"/>
        <c:crossAx val="60820519"/>
        <c:crosses val="min"/>
        <c:crossBetween val="between"/>
      </c:valAx>
    </c:plotArea>
    <c:plotVisOnly val="0"/>
    <c:dispBlanksAs val="gap"/>
    <c:showDLblsOverMax val="1"/>
  </c:chart>
  <c:externalData r:id="rId1">
    <c:autoUpdate val="0"/>
  </c:externalData>
</c:chartSpace>
</file>

<file path=ppt/charts/chart1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2384847180370211E-2"/>
          <c:y val="6.0535506402793947E-2"/>
          <c:w val="0.95523030563925959"/>
          <c:h val="0.87892898719441204"/>
        </c:manualLayout>
      </c:layout>
      <c:barChart>
        <c:barDir val="col"/>
        <c:grouping val="stacked"/>
        <c:varyColors val="0"/>
        <c:ser>
          <c:idx val="0"/>
          <c:order val="0"/>
          <c:spPr>
            <a:solidFill>
              <a:srgbClr val="86BC25"/>
            </a:solidFill>
            <a:ln>
              <a:noFill/>
            </a:ln>
          </c:spPr>
          <c:invertIfNegative val="0"/>
          <c:dLbls>
            <c:dLbl>
              <c:idx val="0"/>
              <c:layout>
                <c:manualLayout>
                  <c:x val="0"/>
                  <c:y val="0"/>
                </c:manualLayout>
              </c:layout>
              <c:numFmt formatCode="#,##0.0;&quot;-&quot;#,##0.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D3DA-4400-9A66-80C303CC2038}"/>
                </c:ext>
              </c:extLst>
            </c:dLbl>
            <c:dLbl>
              <c:idx val="1"/>
              <c:layout>
                <c:manualLayout>
                  <c:x val="0"/>
                  <c:y val="0"/>
                </c:manualLayout>
              </c:layout>
              <c:numFmt formatCode="#,##0.0;&quot;-&quot;#,##0.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D3DA-4400-9A66-80C303CC203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2.4</c:v>
                </c:pt>
                <c:pt idx="1">
                  <c:v>2.66</c:v>
                </c:pt>
              </c:numCache>
            </c:numRef>
          </c:val>
          <c:extLst>
            <c:ext xmlns:c16="http://schemas.microsoft.com/office/drawing/2014/chart" uri="{C3380CC4-5D6E-409C-BE32-E72D297353CC}">
              <c16:uniqueId val="{00000002-D3DA-4400-9A66-80C303CC2038}"/>
            </c:ext>
          </c:extLst>
        </c:ser>
        <c:ser>
          <c:idx val="1"/>
          <c:order val="1"/>
          <c:spPr>
            <a:solidFill>
              <a:srgbClr val="046A38"/>
            </a:solidFill>
            <a:ln>
              <a:noFill/>
            </a:ln>
          </c:spPr>
          <c:invertIfNegative val="0"/>
          <c:dLbls>
            <c:dLbl>
              <c:idx val="0"/>
              <c:layout>
                <c:manualLayout>
                  <c:x val="0"/>
                  <c:y val="0"/>
                </c:manualLayout>
              </c:layout>
              <c:numFmt formatCode="#,##0.0;&quot;-&quot;#,##0.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D3DA-4400-9A66-80C303CC2038}"/>
                </c:ext>
              </c:extLst>
            </c:dLbl>
            <c:dLbl>
              <c:idx val="1"/>
              <c:layout>
                <c:manualLayout>
                  <c:x val="0"/>
                  <c:y val="0"/>
                </c:manualLayout>
              </c:layout>
              <c:numFmt formatCode="#,##0.0;&quot;-&quot;#,##0.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D3DA-4400-9A66-80C303CC203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Sheet1!$A$2:$B$2</c:f>
              <c:numCache>
                <c:formatCode>General</c:formatCode>
                <c:ptCount val="2"/>
                <c:pt idx="0">
                  <c:v>3.28</c:v>
                </c:pt>
                <c:pt idx="1">
                  <c:v>2.3200000000000003</c:v>
                </c:pt>
              </c:numCache>
            </c:numRef>
          </c:val>
          <c:extLst>
            <c:ext xmlns:c16="http://schemas.microsoft.com/office/drawing/2014/chart" uri="{C3380CC4-5D6E-409C-BE32-E72D297353CC}">
              <c16:uniqueId val="{00000005-D3DA-4400-9A66-80C303CC2038}"/>
            </c:ext>
          </c:extLst>
        </c:ser>
        <c:dLbls>
          <c:showLegendKey val="0"/>
          <c:showVal val="0"/>
          <c:showCatName val="0"/>
          <c:showSerName val="0"/>
          <c:showPercent val="0"/>
          <c:showBubbleSize val="0"/>
        </c:dLbls>
        <c:gapWidth val="80"/>
        <c:overlap val="100"/>
        <c:axId val="1048535440"/>
        <c:axId val="1"/>
      </c:barChart>
      <c:catAx>
        <c:axId val="104853544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5.68"/>
          <c:min val="0"/>
        </c:scaling>
        <c:delete val="1"/>
        <c:axPos val="l"/>
        <c:numFmt formatCode="General" sourceLinked="1"/>
        <c:majorTickMark val="out"/>
        <c:minorTickMark val="none"/>
        <c:tickLblPos val="nextTo"/>
        <c:crossAx val="1048535440"/>
        <c:crosses val="min"/>
        <c:crossBetween val="between"/>
      </c:valAx>
    </c:plotArea>
    <c:plotVisOnly val="0"/>
    <c:dispBlanksAs val="gap"/>
    <c:showDLblsOverMax val="1"/>
  </c:chart>
  <c:externalData r:id="rId1">
    <c:autoUpdate val="0"/>
  </c:externalData>
</c:chartSpace>
</file>

<file path=ppt/charts/chart1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9630049075122686E-2"/>
          <c:y val="4.8417132216014895E-2"/>
          <c:w val="0.96073990184975455"/>
          <c:h val="0.9031657355679702"/>
        </c:manualLayout>
      </c:layout>
      <c:barChart>
        <c:barDir val="col"/>
        <c:grouping val="stacked"/>
        <c:varyColors val="0"/>
        <c:ser>
          <c:idx val="0"/>
          <c:order val="0"/>
          <c:spPr>
            <a:solidFill>
              <a:srgbClr val="86BC25"/>
            </a:solidFill>
            <a:ln>
              <a:noFill/>
            </a:ln>
          </c:spPr>
          <c:invertIfNegative val="0"/>
          <c:val>
            <c:numRef>
              <c:f>Sheet1!$A$1:$B$1</c:f>
              <c:numCache>
                <c:formatCode>General</c:formatCode>
                <c:ptCount val="2"/>
                <c:pt idx="0">
                  <c:v>3.3812497422788264</c:v>
                </c:pt>
                <c:pt idx="1">
                  <c:v>2.6195663944860441</c:v>
                </c:pt>
              </c:numCache>
            </c:numRef>
          </c:val>
          <c:extLst>
            <c:ext xmlns:c16="http://schemas.microsoft.com/office/drawing/2014/chart" uri="{C3380CC4-5D6E-409C-BE32-E72D297353CC}">
              <c16:uniqueId val="{00000000-6B6C-44D3-9D2D-E50DC00DD60F}"/>
            </c:ext>
          </c:extLst>
        </c:ser>
        <c:ser>
          <c:idx val="1"/>
          <c:order val="1"/>
          <c:spPr>
            <a:solidFill>
              <a:srgbClr val="046A38"/>
            </a:solidFill>
            <a:ln>
              <a:noFill/>
            </a:ln>
          </c:spPr>
          <c:invertIfNegative val="0"/>
          <c:val>
            <c:numRef>
              <c:f>Sheet1!$A$2:$B$2</c:f>
              <c:numCache>
                <c:formatCode>General</c:formatCode>
                <c:ptCount val="2"/>
                <c:pt idx="0">
                  <c:v>8.5620189294279836E-2</c:v>
                </c:pt>
                <c:pt idx="1">
                  <c:v>8.8897285036837026E-2</c:v>
                </c:pt>
              </c:numCache>
            </c:numRef>
          </c:val>
          <c:extLst>
            <c:ext xmlns:c16="http://schemas.microsoft.com/office/drawing/2014/chart" uri="{C3380CC4-5D6E-409C-BE32-E72D297353CC}">
              <c16:uniqueId val="{00000001-6B6C-44D3-9D2D-E50DC00DD60F}"/>
            </c:ext>
          </c:extLst>
        </c:ser>
        <c:ser>
          <c:idx val="2"/>
          <c:order val="2"/>
          <c:spPr>
            <a:solidFill>
              <a:srgbClr val="62B5E5"/>
            </a:solidFill>
            <a:ln>
              <a:noFill/>
            </a:ln>
          </c:spPr>
          <c:invertIfNegative val="0"/>
          <c:val>
            <c:numRef>
              <c:f>Sheet1!$A$3:$B$3</c:f>
              <c:numCache>
                <c:formatCode>General</c:formatCode>
                <c:ptCount val="2"/>
                <c:pt idx="0">
                  <c:v>19.668033428749617</c:v>
                </c:pt>
                <c:pt idx="1">
                  <c:v>9.8344495314828304</c:v>
                </c:pt>
              </c:numCache>
            </c:numRef>
          </c:val>
          <c:extLst>
            <c:ext xmlns:c16="http://schemas.microsoft.com/office/drawing/2014/chart" uri="{C3380CC4-5D6E-409C-BE32-E72D297353CC}">
              <c16:uniqueId val="{00000002-6B6C-44D3-9D2D-E50DC00DD60F}"/>
            </c:ext>
          </c:extLst>
        </c:ser>
        <c:ser>
          <c:idx val="3"/>
          <c:order val="3"/>
          <c:spPr>
            <a:solidFill>
              <a:srgbClr val="012169"/>
            </a:solidFill>
            <a:ln>
              <a:noFill/>
            </a:ln>
          </c:spPr>
          <c:invertIfNegative val="0"/>
          <c:val>
            <c:numRef>
              <c:f>Sheet1!$A$4:$B$4</c:f>
              <c:numCache>
                <c:formatCode>General</c:formatCode>
                <c:ptCount val="2"/>
                <c:pt idx="0">
                  <c:v>4.8663818940585912E-2</c:v>
                </c:pt>
                <c:pt idx="1">
                  <c:v>3.8304312833332688E-2</c:v>
                </c:pt>
              </c:numCache>
            </c:numRef>
          </c:val>
          <c:extLst>
            <c:ext xmlns:c16="http://schemas.microsoft.com/office/drawing/2014/chart" uri="{C3380CC4-5D6E-409C-BE32-E72D297353CC}">
              <c16:uniqueId val="{00000003-6B6C-44D3-9D2D-E50DC00DD60F}"/>
            </c:ext>
          </c:extLst>
        </c:ser>
        <c:ser>
          <c:idx val="4"/>
          <c:order val="4"/>
          <c:spPr>
            <a:solidFill>
              <a:srgbClr val="0097A9"/>
            </a:solidFill>
            <a:ln>
              <a:noFill/>
            </a:ln>
          </c:spPr>
          <c:invertIfNegative val="0"/>
          <c:val>
            <c:numRef>
              <c:f>Sheet1!$A$5:$B$5</c:f>
              <c:numCache>
                <c:formatCode>General</c:formatCode>
                <c:ptCount val="2"/>
                <c:pt idx="0">
                  <c:v>1.3903839015000017</c:v>
                </c:pt>
                <c:pt idx="1">
                  <c:v>2.56356371893526</c:v>
                </c:pt>
              </c:numCache>
            </c:numRef>
          </c:val>
          <c:extLst>
            <c:ext xmlns:c16="http://schemas.microsoft.com/office/drawing/2014/chart" uri="{C3380CC4-5D6E-409C-BE32-E72D297353CC}">
              <c16:uniqueId val="{00000004-6B6C-44D3-9D2D-E50DC00DD60F}"/>
            </c:ext>
          </c:extLst>
        </c:ser>
        <c:ser>
          <c:idx val="5"/>
          <c:order val="5"/>
          <c:spPr>
            <a:solidFill>
              <a:srgbClr val="75787B"/>
            </a:solidFill>
            <a:ln>
              <a:noFill/>
            </a:ln>
          </c:spPr>
          <c:invertIfNegative val="0"/>
          <c:val>
            <c:numRef>
              <c:f>Sheet1!$A$6:$B$6</c:f>
              <c:numCache>
                <c:formatCode>General</c:formatCode>
                <c:ptCount val="2"/>
                <c:pt idx="0">
                  <c:v>11.122560929092355</c:v>
                </c:pt>
                <c:pt idx="1">
                  <c:v>10.576183916837923</c:v>
                </c:pt>
              </c:numCache>
            </c:numRef>
          </c:val>
          <c:extLst>
            <c:ext xmlns:c16="http://schemas.microsoft.com/office/drawing/2014/chart" uri="{C3380CC4-5D6E-409C-BE32-E72D297353CC}">
              <c16:uniqueId val="{00000005-6B6C-44D3-9D2D-E50DC00DD60F}"/>
            </c:ext>
          </c:extLst>
        </c:ser>
        <c:dLbls>
          <c:showLegendKey val="0"/>
          <c:showVal val="0"/>
          <c:showCatName val="0"/>
          <c:showSerName val="0"/>
          <c:showPercent val="0"/>
          <c:showBubbleSize val="0"/>
        </c:dLbls>
        <c:gapWidth val="80"/>
        <c:overlap val="100"/>
        <c:axId val="1133596536"/>
        <c:axId val="1"/>
      </c:barChart>
      <c:catAx>
        <c:axId val="1133596536"/>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35.696512009855667"/>
          <c:min val="0"/>
        </c:scaling>
        <c:delete val="1"/>
        <c:axPos val="l"/>
        <c:numFmt formatCode="General" sourceLinked="1"/>
        <c:majorTickMark val="out"/>
        <c:minorTickMark val="none"/>
        <c:tickLblPos val="nextTo"/>
        <c:crossAx val="1133596536"/>
        <c:crosses val="min"/>
        <c:crossBetween val="between"/>
      </c:valAx>
    </c:plotArea>
    <c:plotVisOnly val="0"/>
    <c:dispBlanksAs val="gap"/>
    <c:showDLblsOverMax val="1"/>
  </c:chart>
  <c:externalData r:id="rId1">
    <c:autoUpdate val="0"/>
  </c:externalData>
</c:chartSpace>
</file>

<file path=ppt/charts/chart1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9630049075122686E-2"/>
          <c:y val="0.14482758620689656"/>
          <c:w val="0.96073990184975455"/>
          <c:h val="0.79540229885057467"/>
        </c:manualLayout>
      </c:layout>
      <c:barChart>
        <c:barDir val="col"/>
        <c:grouping val="stacked"/>
        <c:varyColors val="0"/>
        <c:ser>
          <c:idx val="0"/>
          <c:order val="0"/>
          <c:spPr>
            <a:solidFill>
              <a:srgbClr val="86BC25"/>
            </a:solidFill>
            <a:ln>
              <a:noFill/>
            </a:ln>
          </c:spPr>
          <c:invertIfNegative val="0"/>
          <c:dLbls>
            <c:dLbl>
              <c:idx val="0"/>
              <c:layout>
                <c:manualLayout>
                  <c:x val="0"/>
                  <c:y val="-0.47126436781609193"/>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556B-4157-ABF3-556D788E722E}"/>
                </c:ext>
              </c:extLst>
            </c:dLbl>
            <c:dLbl>
              <c:idx val="1"/>
              <c:layout>
                <c:manualLayout>
                  <c:x val="0"/>
                  <c:y val="-0.40689655172413791"/>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556B-4157-ABF3-556D788E722E}"/>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30.58</c:v>
                </c:pt>
                <c:pt idx="1">
                  <c:v>25.675000000000001</c:v>
                </c:pt>
              </c:numCache>
            </c:numRef>
          </c:val>
          <c:extLst>
            <c:ext xmlns:c16="http://schemas.microsoft.com/office/drawing/2014/chart" uri="{C3380CC4-5D6E-409C-BE32-E72D297353CC}">
              <c16:uniqueId val="{00000002-556B-4157-ABF3-556D788E722E}"/>
            </c:ext>
          </c:extLst>
        </c:ser>
        <c:dLbls>
          <c:showLegendKey val="0"/>
          <c:showVal val="0"/>
          <c:showCatName val="0"/>
          <c:showSerName val="0"/>
          <c:showPercent val="0"/>
          <c:showBubbleSize val="0"/>
        </c:dLbls>
        <c:gapWidth val="150"/>
        <c:overlap val="100"/>
        <c:axId val="2118173936"/>
        <c:axId val="1"/>
      </c:barChart>
      <c:catAx>
        <c:axId val="2118173936"/>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30.58"/>
          <c:min val="0"/>
        </c:scaling>
        <c:delete val="1"/>
        <c:axPos val="l"/>
        <c:numFmt formatCode="General" sourceLinked="1"/>
        <c:majorTickMark val="out"/>
        <c:minorTickMark val="none"/>
        <c:tickLblPos val="nextTo"/>
        <c:crossAx val="2118173936"/>
        <c:crosses val="min"/>
        <c:crossBetween val="between"/>
      </c:valAx>
    </c:plotArea>
    <c:plotVisOnly val="0"/>
    <c:dispBlanksAs val="gap"/>
    <c:showDLblsOverMax val="1"/>
  </c:chart>
  <c:externalData r:id="rId1">
    <c:autoUpdate val="0"/>
  </c:externalData>
</c:chartSpace>
</file>

<file path=ppt/charts/chart1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72160934458143E-2"/>
          <c:y val="0.13785557986870897"/>
          <c:w val="0.96625567813108371"/>
          <c:h val="0.80525164113785552"/>
        </c:manualLayout>
      </c:layout>
      <c:barChart>
        <c:barDir val="col"/>
        <c:grouping val="stacked"/>
        <c:varyColors val="0"/>
        <c:ser>
          <c:idx val="0"/>
          <c:order val="0"/>
          <c:spPr>
            <a:solidFill>
              <a:srgbClr val="86BC25"/>
            </a:solidFill>
            <a:ln>
              <a:noFill/>
            </a:ln>
          </c:spPr>
          <c:invertIfNegative val="0"/>
          <c:dLbls>
            <c:dLbl>
              <c:idx val="0"/>
              <c:layout>
                <c:manualLayout>
                  <c:x val="0"/>
                  <c:y val="-0.43435448577680524"/>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0129-42FE-A82F-1BA809A0794C}"/>
                </c:ext>
              </c:extLst>
            </c:dLbl>
            <c:dLbl>
              <c:idx val="1"/>
              <c:layout>
                <c:manualLayout>
                  <c:x val="0"/>
                  <c:y val="-0.44091903719912473"/>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0129-42FE-A82F-1BA809A0794C}"/>
                </c:ext>
              </c:extLst>
            </c:dLbl>
            <c:dLbl>
              <c:idx val="2"/>
              <c:layout>
                <c:manualLayout>
                  <c:x val="0"/>
                  <c:y val="-0.44091903719912473"/>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0129-42FE-A82F-1BA809A0794C}"/>
                </c:ext>
              </c:extLst>
            </c:dLbl>
            <c:dLbl>
              <c:idx val="3"/>
              <c:layout>
                <c:manualLayout>
                  <c:x val="0"/>
                  <c:y val="-0.47264770240700221"/>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0129-42FE-A82F-1BA809A0794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4.67</c:v>
                </c:pt>
                <c:pt idx="1">
                  <c:v>4.7699999999999996</c:v>
                </c:pt>
                <c:pt idx="2">
                  <c:v>4.7699999999999996</c:v>
                </c:pt>
                <c:pt idx="3">
                  <c:v>5.17</c:v>
                </c:pt>
              </c:numCache>
            </c:numRef>
          </c:val>
          <c:extLst>
            <c:ext xmlns:c16="http://schemas.microsoft.com/office/drawing/2014/chart" uri="{C3380CC4-5D6E-409C-BE32-E72D297353CC}">
              <c16:uniqueId val="{00000004-0129-42FE-A82F-1BA809A0794C}"/>
            </c:ext>
          </c:extLst>
        </c:ser>
        <c:dLbls>
          <c:showLegendKey val="0"/>
          <c:showVal val="0"/>
          <c:showCatName val="0"/>
          <c:showSerName val="0"/>
          <c:showPercent val="0"/>
          <c:showBubbleSize val="0"/>
        </c:dLbls>
        <c:gapWidth val="80"/>
        <c:overlap val="100"/>
        <c:axId val="856206160"/>
        <c:axId val="1"/>
      </c:barChart>
      <c:catAx>
        <c:axId val="85620616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5.17"/>
          <c:min val="0"/>
        </c:scaling>
        <c:delete val="1"/>
        <c:axPos val="l"/>
        <c:numFmt formatCode="General" sourceLinked="1"/>
        <c:majorTickMark val="out"/>
        <c:minorTickMark val="none"/>
        <c:tickLblPos val="nextTo"/>
        <c:crossAx val="856206160"/>
        <c:crosses val="min"/>
        <c:crossBetween val="between"/>
      </c:valAx>
    </c:plotArea>
    <c:plotVisOnly val="0"/>
    <c:dispBlanksAs val="gap"/>
    <c:showDLblsOverMax val="1"/>
  </c:chart>
  <c:externalData r:id="rId1">
    <c:autoUpdate val="0"/>
  </c:externalData>
</c:chartSpace>
</file>

<file path=ppt/charts/chart1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72160934458143E-2"/>
          <c:y val="0.13785557986870897"/>
          <c:w val="0.96625567813108371"/>
          <c:h val="0.80525164113785552"/>
        </c:manualLayout>
      </c:layout>
      <c:barChart>
        <c:barDir val="col"/>
        <c:grouping val="stacked"/>
        <c:varyColors val="0"/>
        <c:ser>
          <c:idx val="0"/>
          <c:order val="0"/>
          <c:spPr>
            <a:solidFill>
              <a:srgbClr val="86BC25"/>
            </a:solidFill>
            <a:ln>
              <a:noFill/>
            </a:ln>
          </c:spPr>
          <c:invertIfNegative val="0"/>
          <c:dLbls>
            <c:dLbl>
              <c:idx val="0"/>
              <c:layout>
                <c:manualLayout>
                  <c:x val="0"/>
                  <c:y val="-0.41794310722100658"/>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CD2B-4D4A-BCAB-2509A0200503}"/>
                </c:ext>
              </c:extLst>
            </c:dLbl>
            <c:dLbl>
              <c:idx val="1"/>
              <c:layout>
                <c:manualLayout>
                  <c:x val="0"/>
                  <c:y val="-0.42669584245076586"/>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CD2B-4D4A-BCAB-2509A0200503}"/>
                </c:ext>
              </c:extLst>
            </c:dLbl>
            <c:dLbl>
              <c:idx val="2"/>
              <c:layout>
                <c:manualLayout>
                  <c:x val="0"/>
                  <c:y val="-0.45295404814004375"/>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CD2B-4D4A-BCAB-2509A0200503}"/>
                </c:ext>
              </c:extLst>
            </c:dLbl>
            <c:dLbl>
              <c:idx val="3"/>
              <c:layout>
                <c:manualLayout>
                  <c:x val="0"/>
                  <c:y val="-0.47264770240700221"/>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CD2B-4D4A-BCAB-2509A020050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6.15</c:v>
                </c:pt>
                <c:pt idx="1">
                  <c:v>6.33</c:v>
                </c:pt>
                <c:pt idx="2">
                  <c:v>6.77</c:v>
                </c:pt>
                <c:pt idx="3">
                  <c:v>7.13</c:v>
                </c:pt>
              </c:numCache>
            </c:numRef>
          </c:val>
          <c:extLst>
            <c:ext xmlns:c16="http://schemas.microsoft.com/office/drawing/2014/chart" uri="{C3380CC4-5D6E-409C-BE32-E72D297353CC}">
              <c16:uniqueId val="{00000004-CD2B-4D4A-BCAB-2509A0200503}"/>
            </c:ext>
          </c:extLst>
        </c:ser>
        <c:dLbls>
          <c:showLegendKey val="0"/>
          <c:showVal val="0"/>
          <c:showCatName val="0"/>
          <c:showSerName val="0"/>
          <c:showPercent val="0"/>
          <c:showBubbleSize val="0"/>
        </c:dLbls>
        <c:gapWidth val="80"/>
        <c:overlap val="100"/>
        <c:axId val="658283336"/>
        <c:axId val="1"/>
      </c:barChart>
      <c:catAx>
        <c:axId val="658283336"/>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7.13"/>
          <c:min val="0"/>
        </c:scaling>
        <c:delete val="1"/>
        <c:axPos val="l"/>
        <c:numFmt formatCode="General" sourceLinked="1"/>
        <c:majorTickMark val="out"/>
        <c:minorTickMark val="none"/>
        <c:tickLblPos val="nextTo"/>
        <c:crossAx val="658283336"/>
        <c:crosses val="min"/>
        <c:crossBetween val="between"/>
      </c:valAx>
    </c:plotArea>
    <c:plotVisOnly val="0"/>
    <c:dispBlanksAs val="gap"/>
    <c:showDLblsOverMax val="1"/>
  </c:chart>
  <c:externalData r:id="rId1">
    <c:autoUpdate val="0"/>
  </c:externalData>
</c:chartSpace>
</file>

<file path=ppt/charts/chart1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9346425283829394E-2"/>
          <c:y val="0.11215834118755891"/>
          <c:w val="0.91469776004909487"/>
          <c:h val="0.78416588124410935"/>
        </c:manualLayout>
      </c:layout>
      <c:barChart>
        <c:barDir val="col"/>
        <c:grouping val="clustered"/>
        <c:varyColors val="0"/>
        <c:ser>
          <c:idx val="0"/>
          <c:order val="0"/>
          <c:spPr>
            <a:solidFill>
              <a:srgbClr val="86BC25"/>
            </a:solidFill>
            <a:ln>
              <a:noFill/>
            </a:ln>
          </c:spPr>
          <c:invertIfNegative val="0"/>
          <c:dLbls>
            <c:dLbl>
              <c:idx val="0"/>
              <c:layout>
                <c:manualLayout>
                  <c:x val="0"/>
                  <c:y val="-0.24882186616399624"/>
                </c:manualLayout>
              </c:layout>
              <c:numFmt formatCode="#,##0.00;&quot;-&quot;#,##0.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FA27-44C1-89A2-67E21F8EFEDD}"/>
                </c:ext>
              </c:extLst>
            </c:dLbl>
            <c:dLbl>
              <c:idx val="1"/>
              <c:layout>
                <c:manualLayout>
                  <c:x val="0"/>
                  <c:y val="-4.7125353440150798E-3"/>
                </c:manualLayout>
              </c:layout>
              <c:numFmt formatCode="#,##0.00;&quot;-&quot;#,##0.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FA27-44C1-89A2-67E21F8EFEDD}"/>
                </c:ext>
              </c:extLst>
            </c:dLbl>
            <c:dLbl>
              <c:idx val="2"/>
              <c:layout>
                <c:manualLayout>
                  <c:x val="-7.3642221540349802E-3"/>
                  <c:y val="-4.3355325164938736E-2"/>
                </c:manualLayout>
              </c:layout>
              <c:numFmt formatCode="#,##0.00;&quot;-&quot;#,##0.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FA27-44C1-89A2-67E21F8EFEDD}"/>
                </c:ext>
              </c:extLst>
            </c:dLbl>
            <c:dLbl>
              <c:idx val="3"/>
              <c:layout>
                <c:manualLayout>
                  <c:x val="-7.3642221540349802E-3"/>
                  <c:y val="-1.413760603204524E-2"/>
                </c:manualLayout>
              </c:layout>
              <c:numFmt formatCode="#,##0.00;&quot;-&quot;#,##0.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FA27-44C1-89A2-67E21F8EFED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-1.9223027369999999</c:v>
                </c:pt>
                <c:pt idx="1">
                  <c:v>-0.12960432799999999</c:v>
                </c:pt>
                <c:pt idx="2">
                  <c:v>0.32694526699999998</c:v>
                </c:pt>
                <c:pt idx="3">
                  <c:v>0.17581366499999998</c:v>
                </c:pt>
              </c:numCache>
            </c:numRef>
          </c:val>
          <c:extLst>
            <c:ext xmlns:c16="http://schemas.microsoft.com/office/drawing/2014/chart" uri="{C3380CC4-5D6E-409C-BE32-E72D297353CC}">
              <c16:uniqueId val="{00000004-FA27-44C1-89A2-67E21F8EFEDD}"/>
            </c:ext>
          </c:extLst>
        </c:ser>
        <c:ser>
          <c:idx val="1"/>
          <c:order val="1"/>
          <c:spPr>
            <a:solidFill>
              <a:srgbClr val="046A38"/>
            </a:solidFill>
            <a:ln>
              <a:noFill/>
            </a:ln>
          </c:spPr>
          <c:invertIfNegative val="0"/>
          <c:dLbls>
            <c:dLbl>
              <c:idx val="1"/>
              <c:layout>
                <c:manualLayout>
                  <c:x val="-7.3642221540349802E-3"/>
                  <c:y val="-2.5447690857681431E-2"/>
                </c:manualLayout>
              </c:layout>
              <c:numFmt formatCode="#,##0.00;&quot;-&quot;#,##0.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FA27-44C1-89A2-67E21F8EFEDD}"/>
                </c:ext>
              </c:extLst>
            </c:dLbl>
            <c:dLbl>
              <c:idx val="2"/>
              <c:layout>
                <c:manualLayout>
                  <c:x val="-7.3642221540349802E-3"/>
                  <c:y val="-0.13383600377002827"/>
                </c:manualLayout>
              </c:layout>
              <c:numFmt formatCode="#,##0.00;&quot;-&quot;#,##0.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FA27-44C1-89A2-67E21F8EFED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Sheet1!$A$2:$D$2</c:f>
              <c:numCache>
                <c:formatCode>General</c:formatCode>
                <c:ptCount val="4"/>
                <c:pt idx="0">
                  <c:v>-0.97747656400000005</c:v>
                </c:pt>
                <c:pt idx="1">
                  <c:v>0.233521427</c:v>
                </c:pt>
                <c:pt idx="2">
                  <c:v>0.70196334699999996</c:v>
                </c:pt>
                <c:pt idx="3">
                  <c:v>0.47189347800000003</c:v>
                </c:pt>
              </c:numCache>
            </c:numRef>
          </c:val>
          <c:extLst>
            <c:ext xmlns:c16="http://schemas.microsoft.com/office/drawing/2014/chart" uri="{C3380CC4-5D6E-409C-BE32-E72D297353CC}">
              <c16:uniqueId val="{00000007-FA27-44C1-89A2-67E21F8EFEDD}"/>
            </c:ext>
          </c:extLst>
        </c:ser>
        <c:ser>
          <c:idx val="2"/>
          <c:order val="2"/>
          <c:spPr>
            <a:solidFill>
              <a:srgbClr val="62B5E5"/>
            </a:solidFill>
            <a:ln>
              <a:noFill/>
            </a:ln>
          </c:spPr>
          <c:invertIfNegative val="0"/>
          <c:dLbls>
            <c:dLbl>
              <c:idx val="0"/>
              <c:layout>
                <c:manualLayout>
                  <c:x val="1.2887388769561215E-2"/>
                  <c:y val="-0.12064090480678605"/>
                </c:manualLayout>
              </c:layout>
              <c:numFmt formatCode="#,##0.00;&quot;-&quot;#,##0.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FA27-44C1-89A2-67E21F8EFEDD}"/>
                </c:ext>
              </c:extLst>
            </c:dLbl>
            <c:dLbl>
              <c:idx val="1"/>
              <c:layout>
                <c:manualLayout>
                  <c:x val="0"/>
                  <c:y val="-0.12818096135721019"/>
                </c:manualLayout>
              </c:layout>
              <c:numFmt formatCode="#,##0.00;&quot;-&quot;#,##0.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FA27-44C1-89A2-67E21F8EFEDD}"/>
                </c:ext>
              </c:extLst>
            </c:dLbl>
            <c:dLbl>
              <c:idx val="2"/>
              <c:layout>
                <c:manualLayout>
                  <c:x val="0"/>
                  <c:y val="-0.25353440150801132"/>
                </c:manualLayout>
              </c:layout>
              <c:numFmt formatCode="#,##0.00;&quot;-&quot;#,##0.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FA27-44C1-89A2-67E21F8EFEDD}"/>
                </c:ext>
              </c:extLst>
            </c:dLbl>
            <c:dLbl>
              <c:idx val="3"/>
              <c:layout>
                <c:manualLayout>
                  <c:x val="0"/>
                  <c:y val="-0.16776625824693686"/>
                </c:manualLayout>
              </c:layout>
              <c:numFmt formatCode="#,##0.00;&quot;-&quot;#,##0.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FA27-44C1-89A2-67E21F8EFED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Sheet1!$A$3:$D$3</c:f>
              <c:numCache>
                <c:formatCode>General</c:formatCode>
                <c:ptCount val="4"/>
                <c:pt idx="0">
                  <c:v>-0.719998523</c:v>
                </c:pt>
                <c:pt idx="1">
                  <c:v>0.75944784700000001</c:v>
                </c:pt>
                <c:pt idx="2">
                  <c:v>1.964220748</c:v>
                </c:pt>
                <c:pt idx="3">
                  <c:v>1.1026126079999998</c:v>
                </c:pt>
              </c:numCache>
            </c:numRef>
          </c:val>
          <c:extLst>
            <c:ext xmlns:c16="http://schemas.microsoft.com/office/drawing/2014/chart" uri="{C3380CC4-5D6E-409C-BE32-E72D297353CC}">
              <c16:uniqueId val="{0000000C-FA27-44C1-89A2-67E21F8EFEDD}"/>
            </c:ext>
          </c:extLst>
        </c:ser>
        <c:dLbls>
          <c:showLegendKey val="0"/>
          <c:showVal val="0"/>
          <c:showCatName val="0"/>
          <c:showSerName val="0"/>
          <c:showPercent val="0"/>
          <c:showBubbleSize val="0"/>
        </c:dLbls>
        <c:gapWidth val="150"/>
        <c:axId val="1035180416"/>
        <c:axId val="1"/>
      </c:barChart>
      <c:catAx>
        <c:axId val="1035180416"/>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At val="0"/>
        <c:auto val="0"/>
        <c:lblAlgn val="ctr"/>
        <c:lblOffset val="100"/>
        <c:noMultiLvlLbl val="0"/>
      </c:catAx>
      <c:valAx>
        <c:axId val="1"/>
        <c:scaling>
          <c:orientation val="minMax"/>
          <c:max val="2"/>
          <c:min val="-2"/>
        </c:scaling>
        <c:delete val="0"/>
        <c:axPos val="l"/>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1000">
                <a:solidFill>
                  <a:schemeClr val="tx1"/>
                </a:solidFill>
                <a:latin typeface="+mn-lt"/>
                <a:ea typeface="+mn-ea"/>
                <a:cs typeface="+mn-cs"/>
                <a:sym typeface="+mn-lt"/>
              </a:defRPr>
            </a:pPr>
            <a:endParaRPr lang="en-US"/>
          </a:p>
        </c:txPr>
        <c:crossAx val="1035180416"/>
        <c:crosses val="min"/>
        <c:crossBetween val="between"/>
        <c:majorUnit val="1"/>
      </c:valAx>
    </c:plotArea>
    <c:plotVisOnly val="0"/>
    <c:dispBlanksAs val="gap"/>
    <c:showDLblsOverMax val="1"/>
  </c:chart>
  <c:externalData r:id="rId1">
    <c:autoUpdate val="0"/>
  </c:externalData>
</c:chartSpace>
</file>

<file path=ppt/charts/chart1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3610262675626148E-2"/>
          <c:y val="0.10110974106041924"/>
          <c:w val="0.9105070250458156"/>
          <c:h val="0.82244143033292227"/>
        </c:manualLayout>
      </c:layout>
      <c:barChart>
        <c:barDir val="col"/>
        <c:grouping val="clustered"/>
        <c:varyColors val="0"/>
        <c:ser>
          <c:idx val="0"/>
          <c:order val="0"/>
          <c:spPr>
            <a:solidFill>
              <a:srgbClr val="86BC25"/>
            </a:solidFill>
            <a:ln>
              <a:noFill/>
            </a:ln>
          </c:spPr>
          <c:invertIfNegative val="0"/>
          <c:dLbls>
            <c:dLbl>
              <c:idx val="0"/>
              <c:layout>
                <c:manualLayout>
                  <c:x val="0"/>
                  <c:y val="-0.27620221948212081"/>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ABE5-419A-BE16-C01B4D0F5114}"/>
                </c:ext>
              </c:extLst>
            </c:dLbl>
            <c:dLbl>
              <c:idx val="1"/>
              <c:layout>
                <c:manualLayout>
                  <c:x val="0"/>
                  <c:y val="-7.1516646115906288E-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ABE5-419A-BE16-C01B4D0F5114}"/>
                </c:ext>
              </c:extLst>
            </c:dLbl>
            <c:dLbl>
              <c:idx val="2"/>
              <c:layout>
                <c:manualLayout>
                  <c:x val="0"/>
                  <c:y val="-0.11467324290998766"/>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ABE5-419A-BE16-C01B4D0F5114}"/>
                </c:ext>
              </c:extLst>
            </c:dLbl>
            <c:dLbl>
              <c:idx val="3"/>
              <c:layout>
                <c:manualLayout>
                  <c:x val="0"/>
                  <c:y val="-0.12700369913686807"/>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ABE5-419A-BE16-C01B4D0F511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38.511843775999999</c:v>
                </c:pt>
                <c:pt idx="1">
                  <c:v>9.6270000000000007</c:v>
                </c:pt>
                <c:pt idx="2">
                  <c:v>13.803733494999999</c:v>
                </c:pt>
                <c:pt idx="3">
                  <c:v>15.02157828</c:v>
                </c:pt>
              </c:numCache>
            </c:numRef>
          </c:val>
          <c:extLst>
            <c:ext xmlns:c16="http://schemas.microsoft.com/office/drawing/2014/chart" uri="{C3380CC4-5D6E-409C-BE32-E72D297353CC}">
              <c16:uniqueId val="{00000004-ABE5-419A-BE16-C01B4D0F5114}"/>
            </c:ext>
          </c:extLst>
        </c:ser>
        <c:ser>
          <c:idx val="1"/>
          <c:order val="1"/>
          <c:spPr>
            <a:solidFill>
              <a:srgbClr val="046A38"/>
            </a:solidFill>
            <a:ln>
              <a:noFill/>
            </a:ln>
          </c:spPr>
          <c:invertIfNegative val="0"/>
          <c:dLbls>
            <c:dLbl>
              <c:idx val="0"/>
              <c:layout>
                <c:manualLayout>
                  <c:x val="0"/>
                  <c:y val="-0.2996300863131936"/>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ABE5-419A-BE16-C01B4D0F5114}"/>
                </c:ext>
              </c:extLst>
            </c:dLbl>
            <c:dLbl>
              <c:idx val="1"/>
              <c:layout>
                <c:manualLayout>
                  <c:x val="0"/>
                  <c:y val="-9.3711467324291003E-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ABE5-419A-BE16-C01B4D0F5114}"/>
                </c:ext>
              </c:extLst>
            </c:dLbl>
            <c:dLbl>
              <c:idx val="2"/>
              <c:layout>
                <c:manualLayout>
                  <c:x val="0"/>
                  <c:y val="-0.15289765721331688"/>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ABE5-419A-BE16-C01B4D0F5114}"/>
                </c:ext>
              </c:extLst>
            </c:dLbl>
            <c:dLbl>
              <c:idx val="3"/>
              <c:layout>
                <c:manualLayout>
                  <c:x val="0"/>
                  <c:y val="-0.13686806411837238"/>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ABE5-419A-BE16-C01B4D0F511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Sheet1!$A$2:$D$2</c:f>
              <c:numCache>
                <c:formatCode>General</c:formatCode>
                <c:ptCount val="4"/>
                <c:pt idx="0">
                  <c:v>42.931517049</c:v>
                </c:pt>
                <c:pt idx="1">
                  <c:v>11.727040000000001</c:v>
                </c:pt>
                <c:pt idx="2">
                  <c:v>17.504001743</c:v>
                </c:pt>
                <c:pt idx="3">
                  <c:v>15.954633738</c:v>
                </c:pt>
              </c:numCache>
            </c:numRef>
          </c:val>
          <c:extLst>
            <c:ext xmlns:c16="http://schemas.microsoft.com/office/drawing/2014/chart" uri="{C3380CC4-5D6E-409C-BE32-E72D297353CC}">
              <c16:uniqueId val="{00000009-ABE5-419A-BE16-C01B4D0F5114}"/>
            </c:ext>
          </c:extLst>
        </c:ser>
        <c:ser>
          <c:idx val="2"/>
          <c:order val="2"/>
          <c:spPr>
            <a:solidFill>
              <a:srgbClr val="62B5E5"/>
            </a:solidFill>
            <a:ln>
              <a:noFill/>
            </a:ln>
          </c:spPr>
          <c:invertIfNegative val="0"/>
          <c:dLbls>
            <c:dLbl>
              <c:idx val="0"/>
              <c:layout>
                <c:manualLayout>
                  <c:x val="0"/>
                  <c:y val="-0.3538840937114673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ABE5-419A-BE16-C01B4D0F5114}"/>
                </c:ext>
              </c:extLst>
            </c:dLbl>
            <c:dLbl>
              <c:idx val="1"/>
              <c:layout>
                <c:manualLayout>
                  <c:x val="0"/>
                  <c:y val="-0.11220715166461159"/>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ABE5-419A-BE16-C01B4D0F5114}"/>
                </c:ext>
              </c:extLst>
            </c:dLbl>
            <c:dLbl>
              <c:idx val="2"/>
              <c:layout>
                <c:manualLayout>
                  <c:x val="0"/>
                  <c:y val="-0.4636251541307028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ABE5-419A-BE16-C01B4D0F5114}"/>
                </c:ext>
              </c:extLst>
            </c:dLbl>
            <c:dLbl>
              <c:idx val="3"/>
              <c:layout>
                <c:manualLayout>
                  <c:x val="0"/>
                  <c:y val="-0.16152897657213316"/>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ABE5-419A-BE16-C01B4D0F511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Sheet1!$A$3:$D$3</c:f>
              <c:numCache>
                <c:formatCode>General</c:formatCode>
                <c:ptCount val="4"/>
                <c:pt idx="0">
                  <c:v>53.344592689000002</c:v>
                </c:pt>
                <c:pt idx="1">
                  <c:v>13.61027</c:v>
                </c:pt>
                <c:pt idx="2">
                  <c:v>74.672234617000001</c:v>
                </c:pt>
                <c:pt idx="3">
                  <c:v>18.405950754999999</c:v>
                </c:pt>
              </c:numCache>
            </c:numRef>
          </c:val>
          <c:extLst>
            <c:ext xmlns:c16="http://schemas.microsoft.com/office/drawing/2014/chart" uri="{C3380CC4-5D6E-409C-BE32-E72D297353CC}">
              <c16:uniqueId val="{0000000E-ABE5-419A-BE16-C01B4D0F5114}"/>
            </c:ext>
          </c:extLst>
        </c:ser>
        <c:dLbls>
          <c:showLegendKey val="0"/>
          <c:showVal val="0"/>
          <c:showCatName val="0"/>
          <c:showSerName val="0"/>
          <c:showPercent val="0"/>
          <c:showBubbleSize val="0"/>
        </c:dLbls>
        <c:gapWidth val="150"/>
        <c:axId val="723945360"/>
        <c:axId val="1"/>
      </c:barChart>
      <c:catAx>
        <c:axId val="72394536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80"/>
          <c:min val="0"/>
        </c:scaling>
        <c:delete val="0"/>
        <c:axPos val="l"/>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1000">
                <a:solidFill>
                  <a:schemeClr val="tx1"/>
                </a:solidFill>
                <a:latin typeface="+mn-lt"/>
                <a:ea typeface="+mn-ea"/>
                <a:cs typeface="+mn-cs"/>
                <a:sym typeface="+mn-lt"/>
              </a:defRPr>
            </a:pPr>
            <a:endParaRPr lang="en-US"/>
          </a:p>
        </c:txPr>
        <c:crossAx val="723945360"/>
        <c:crosses val="min"/>
        <c:crossBetween val="between"/>
        <c:majorUnit val="20"/>
      </c:valAx>
    </c:plotArea>
    <c:plotVisOnly val="0"/>
    <c:dispBlanksAs val="gap"/>
    <c:showDLblsOverMax val="1"/>
  </c:chart>
  <c:externalData r:id="rId1">
    <c:autoUpdate val="0"/>
  </c:externalData>
</c:chartSpace>
</file>

<file path=ppt/charts/chart1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184401850627889E-2"/>
          <c:y val="0.14600231749710313"/>
          <c:w val="0.96563119629874417"/>
          <c:h val="0.70799536500579374"/>
        </c:manualLayout>
      </c:layout>
      <c:barChart>
        <c:barDir val="col"/>
        <c:grouping val="clustered"/>
        <c:varyColors val="0"/>
        <c:ser>
          <c:idx val="0"/>
          <c:order val="0"/>
          <c:spPr>
            <a:solidFill>
              <a:srgbClr val="86BC25"/>
            </a:solidFill>
            <a:ln>
              <a:noFill/>
            </a:ln>
          </c:spPr>
          <c:invertIfNegative val="0"/>
          <c:dLbls>
            <c:dLbl>
              <c:idx val="0"/>
              <c:layout>
                <c:manualLayout>
                  <c:x val="0"/>
                  <c:y val="-0.1819235225955967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6CA9-4B57-9C21-20F9F1D0BFE1}"/>
                </c:ext>
              </c:extLst>
            </c:dLbl>
            <c:dLbl>
              <c:idx val="1"/>
              <c:layout>
                <c:manualLayout>
                  <c:x val="0"/>
                  <c:y val="-0.21668597914252608"/>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6CA9-4B57-9C21-20F9F1D0BFE1}"/>
                </c:ext>
              </c:extLst>
            </c:dLbl>
            <c:dLbl>
              <c:idx val="2"/>
              <c:layout>
                <c:manualLayout>
                  <c:x val="0"/>
                  <c:y val="-0.30706836616454231"/>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6CA9-4B57-9C21-20F9F1D0BFE1}"/>
                </c:ext>
              </c:extLst>
            </c:dLbl>
            <c:dLbl>
              <c:idx val="3"/>
              <c:layout>
                <c:manualLayout>
                  <c:x val="0"/>
                  <c:y val="-0.28273464658169178"/>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6CA9-4B57-9C21-20F9F1D0BFE1}"/>
                </c:ext>
              </c:extLst>
            </c:dLbl>
            <c:dLbl>
              <c:idx val="4"/>
              <c:layout>
                <c:manualLayout>
                  <c:x val="0"/>
                  <c:y val="-0.27809965237543455"/>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6CA9-4B57-9C21-20F9F1D0BFE1}"/>
                </c:ext>
              </c:extLst>
            </c:dLbl>
            <c:dLbl>
              <c:idx val="5"/>
              <c:layout>
                <c:manualLayout>
                  <c:x val="0"/>
                  <c:y val="-0.3673232908458864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6CA9-4B57-9C21-20F9F1D0BFE1}"/>
                </c:ext>
              </c:extLst>
            </c:dLbl>
            <c:dLbl>
              <c:idx val="6"/>
              <c:layout>
                <c:manualLayout>
                  <c:x val="0"/>
                  <c:y val="-0.35457705677867901"/>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6CA9-4B57-9C21-20F9F1D0BFE1}"/>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Sheet1!$A$1:$G$1</c:f>
              <c:numCache>
                <c:formatCode>General</c:formatCode>
                <c:ptCount val="7"/>
                <c:pt idx="0">
                  <c:v>174.036</c:v>
                </c:pt>
                <c:pt idx="1">
                  <c:v>230.75900000000001</c:v>
                </c:pt>
                <c:pt idx="2">
                  <c:v>377.848147837</c:v>
                </c:pt>
                <c:pt idx="3">
                  <c:v>337.198730162</c:v>
                </c:pt>
                <c:pt idx="4">
                  <c:v>329.90413357400001</c:v>
                </c:pt>
                <c:pt idx="5">
                  <c:v>473.828387056</c:v>
                </c:pt>
                <c:pt idx="6">
                  <c:v>453.21476370599999</c:v>
                </c:pt>
              </c:numCache>
            </c:numRef>
          </c:val>
          <c:extLst>
            <c:ext xmlns:c16="http://schemas.microsoft.com/office/drawing/2014/chart" uri="{C3380CC4-5D6E-409C-BE32-E72D297353CC}">
              <c16:uniqueId val="{00000007-6CA9-4B57-9C21-20F9F1D0BFE1}"/>
            </c:ext>
          </c:extLst>
        </c:ser>
        <c:ser>
          <c:idx val="1"/>
          <c:order val="1"/>
          <c:spPr>
            <a:solidFill>
              <a:srgbClr val="046A38"/>
            </a:solidFill>
            <a:ln>
              <a:noFill/>
            </a:ln>
          </c:spPr>
          <c:invertIfNegative val="0"/>
          <c:dLbls>
            <c:dLbl>
              <c:idx val="0"/>
              <c:layout>
                <c:manualLayout>
                  <c:x val="0"/>
                  <c:y val="-6.9524913093858632E-3"/>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6CA9-4B57-9C21-20F9F1D0BFE1}"/>
                </c:ext>
              </c:extLst>
            </c:dLbl>
            <c:dLbl>
              <c:idx val="1"/>
              <c:layout>
                <c:manualLayout>
                  <c:x val="0"/>
                  <c:y val="-9.6176129779837777E-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6CA9-4B57-9C21-20F9F1D0BFE1}"/>
                </c:ext>
              </c:extLst>
            </c:dLbl>
            <c:dLbl>
              <c:idx val="2"/>
              <c:layout>
                <c:manualLayout>
                  <c:x val="0"/>
                  <c:y val="-2.7809965237543453E-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6CA9-4B57-9C21-20F9F1D0BFE1}"/>
                </c:ext>
              </c:extLst>
            </c:dLbl>
            <c:dLbl>
              <c:idx val="3"/>
              <c:layout>
                <c:manualLayout>
                  <c:x val="0"/>
                  <c:y val="-6.9524913093858637E-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6CA9-4B57-9C21-20F9F1D0BFE1}"/>
                </c:ext>
              </c:extLst>
            </c:dLbl>
            <c:dLbl>
              <c:idx val="4"/>
              <c:layout>
                <c:manualLayout>
                  <c:x val="0"/>
                  <c:y val="-3.0127462340672075E-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6CA9-4B57-9C21-20F9F1D0BFE1}"/>
                </c:ext>
              </c:extLst>
            </c:dLbl>
            <c:dLbl>
              <c:idx val="5"/>
              <c:layout>
                <c:manualLayout>
                  <c:x val="0"/>
                  <c:y val="-5.4461181923522596E-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6CA9-4B57-9C21-20F9F1D0BFE1}"/>
                </c:ext>
              </c:extLst>
            </c:dLbl>
            <c:dLbl>
              <c:idx val="6"/>
              <c:layout>
                <c:manualLayout>
                  <c:x val="0"/>
                  <c:y val="-2.20162224797219E-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6CA9-4B57-9C21-20F9F1D0BFE1}"/>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Sheet1!$A$2:$G$2</c:f>
              <c:numCache>
                <c:formatCode>General</c:formatCode>
                <c:ptCount val="7"/>
                <c:pt idx="0">
                  <c:v>-25.712</c:v>
                </c:pt>
                <c:pt idx="1">
                  <c:v>-97.9</c:v>
                </c:pt>
                <c:pt idx="2">
                  <c:v>43.04210526</c:v>
                </c:pt>
                <c:pt idx="3">
                  <c:v>77.533029518999996</c:v>
                </c:pt>
                <c:pt idx="4">
                  <c:v>45.510181729999999</c:v>
                </c:pt>
                <c:pt idx="5">
                  <c:v>65.333810991999997</c:v>
                </c:pt>
                <c:pt idx="6">
                  <c:v>38.460864344000001</c:v>
                </c:pt>
              </c:numCache>
            </c:numRef>
          </c:val>
          <c:extLst>
            <c:ext xmlns:c16="http://schemas.microsoft.com/office/drawing/2014/chart" uri="{C3380CC4-5D6E-409C-BE32-E72D297353CC}">
              <c16:uniqueId val="{0000000F-6CA9-4B57-9C21-20F9F1D0BFE1}"/>
            </c:ext>
          </c:extLst>
        </c:ser>
        <c:dLbls>
          <c:showLegendKey val="0"/>
          <c:showVal val="0"/>
          <c:showCatName val="0"/>
          <c:showSerName val="0"/>
          <c:showPercent val="0"/>
          <c:showBubbleSize val="0"/>
        </c:dLbls>
        <c:gapWidth val="150"/>
        <c:axId val="48307647"/>
        <c:axId val="1"/>
      </c:barChart>
      <c:catAx>
        <c:axId val="48307647"/>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At val="0"/>
        <c:auto val="0"/>
        <c:lblAlgn val="ctr"/>
        <c:lblOffset val="100"/>
        <c:noMultiLvlLbl val="0"/>
      </c:catAx>
      <c:valAx>
        <c:axId val="1"/>
        <c:scaling>
          <c:orientation val="minMax"/>
          <c:max val="473.828387056"/>
          <c:min val="-97.9"/>
        </c:scaling>
        <c:delete val="1"/>
        <c:axPos val="l"/>
        <c:numFmt formatCode="General" sourceLinked="1"/>
        <c:majorTickMark val="out"/>
        <c:minorTickMark val="none"/>
        <c:tickLblPos val="nextTo"/>
        <c:crossAx val="48307647"/>
        <c:crosses val="min"/>
        <c:crossBetween val="between"/>
      </c:valAx>
    </c:plotArea>
    <c:plotVisOnly val="0"/>
    <c:dispBlanksAs val="gap"/>
    <c:showDLblsOverMax val="1"/>
  </c:chart>
  <c:externalData r:id="rId1">
    <c:autoUpdate val="0"/>
  </c:externalData>
</c:chartSpace>
</file>

<file path=ppt/charts/chart1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184401850627889E-2"/>
          <c:y val="0.15107913669064746"/>
          <c:w val="0.96563119629874417"/>
          <c:h val="0.69784172661870503"/>
        </c:manualLayout>
      </c:layout>
      <c:barChart>
        <c:barDir val="col"/>
        <c:grouping val="clustered"/>
        <c:varyColors val="0"/>
        <c:ser>
          <c:idx val="0"/>
          <c:order val="0"/>
          <c:spPr>
            <a:solidFill>
              <a:srgbClr val="86BC25"/>
            </a:solidFill>
            <a:ln>
              <a:noFill/>
            </a:ln>
          </c:spPr>
          <c:invertIfNegative val="0"/>
          <c:dLbls>
            <c:dLbl>
              <c:idx val="0"/>
              <c:layout>
                <c:manualLayout>
                  <c:x val="0"/>
                  <c:y val="-0.14028776978417265"/>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BADA-466B-AB3C-3EAB58644317}"/>
                </c:ext>
              </c:extLst>
            </c:dLbl>
            <c:dLbl>
              <c:idx val="1"/>
              <c:layout>
                <c:manualLayout>
                  <c:x val="0"/>
                  <c:y val="-0.1966426858513189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BADA-466B-AB3C-3EAB58644317}"/>
                </c:ext>
              </c:extLst>
            </c:dLbl>
            <c:dLbl>
              <c:idx val="2"/>
              <c:layout>
                <c:manualLayout>
                  <c:x val="0"/>
                  <c:y val="-0.25179856115107913"/>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BADA-466B-AB3C-3EAB58644317}"/>
                </c:ext>
              </c:extLst>
            </c:dLbl>
            <c:dLbl>
              <c:idx val="3"/>
              <c:layout>
                <c:manualLayout>
                  <c:x val="0"/>
                  <c:y val="-0.22781774580335731"/>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BADA-466B-AB3C-3EAB58644317}"/>
                </c:ext>
              </c:extLst>
            </c:dLbl>
            <c:dLbl>
              <c:idx val="4"/>
              <c:layout>
                <c:manualLayout>
                  <c:x val="0"/>
                  <c:y val="-0.21462829736211031"/>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BADA-466B-AB3C-3EAB58644317}"/>
                </c:ext>
              </c:extLst>
            </c:dLbl>
            <c:dLbl>
              <c:idx val="5"/>
              <c:layout>
                <c:manualLayout>
                  <c:x val="0"/>
                  <c:y val="-0.18585131894484413"/>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BADA-466B-AB3C-3EAB58644317}"/>
                </c:ext>
              </c:extLst>
            </c:dLbl>
            <c:dLbl>
              <c:idx val="6"/>
              <c:layout>
                <c:manualLayout>
                  <c:x val="0"/>
                  <c:y val="-9.7122302158273388E-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BADA-466B-AB3C-3EAB5864431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Sheet1!$A$1:$G$1</c:f>
              <c:numCache>
                <c:formatCode>General</c:formatCode>
                <c:ptCount val="7"/>
                <c:pt idx="0">
                  <c:v>-222.205080299</c:v>
                </c:pt>
                <c:pt idx="1">
                  <c:v>-320.204080299</c:v>
                </c:pt>
                <c:pt idx="2">
                  <c:v>-468.87</c:v>
                </c:pt>
                <c:pt idx="3">
                  <c:v>-401.337337338</c:v>
                </c:pt>
                <c:pt idx="4">
                  <c:v>-367.82715560775</c:v>
                </c:pt>
                <c:pt idx="5">
                  <c:v>-291.95757119699999</c:v>
                </c:pt>
                <c:pt idx="6">
                  <c:v>-165.17611299000001</c:v>
                </c:pt>
              </c:numCache>
            </c:numRef>
          </c:val>
          <c:extLst>
            <c:ext xmlns:c16="http://schemas.microsoft.com/office/drawing/2014/chart" uri="{C3380CC4-5D6E-409C-BE32-E72D297353CC}">
              <c16:uniqueId val="{00000007-BADA-466B-AB3C-3EAB58644317}"/>
            </c:ext>
          </c:extLst>
        </c:ser>
        <c:ser>
          <c:idx val="1"/>
          <c:order val="1"/>
          <c:spPr>
            <a:solidFill>
              <a:srgbClr val="046A38"/>
            </a:solidFill>
            <a:ln>
              <a:noFill/>
            </a:ln>
          </c:spPr>
          <c:invertIfNegative val="0"/>
          <c:dLbls>
            <c:dLbl>
              <c:idx val="0"/>
              <c:layout>
                <c:manualLayout>
                  <c:x val="0"/>
                  <c:y val="-0.10191846522781775"/>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BADA-466B-AB3C-3EAB58644317}"/>
                </c:ext>
              </c:extLst>
            </c:dLbl>
            <c:dLbl>
              <c:idx val="1"/>
              <c:layout>
                <c:manualLayout>
                  <c:x val="0"/>
                  <c:y val="-0.1318944844124700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BADA-466B-AB3C-3EAB58644317}"/>
                </c:ext>
              </c:extLst>
            </c:dLbl>
            <c:dLbl>
              <c:idx val="2"/>
              <c:layout>
                <c:manualLayout>
                  <c:x val="0"/>
                  <c:y val="-0.2505995203836930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BADA-466B-AB3C-3EAB58644317}"/>
                </c:ext>
              </c:extLst>
            </c:dLbl>
            <c:dLbl>
              <c:idx val="3"/>
              <c:layout>
                <c:manualLayout>
                  <c:x val="0"/>
                  <c:y val="-0.2505995203836930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BADA-466B-AB3C-3EAB58644317}"/>
                </c:ext>
              </c:extLst>
            </c:dLbl>
            <c:dLbl>
              <c:idx val="4"/>
              <c:layout>
                <c:manualLayout>
                  <c:x val="0"/>
                  <c:y val="-0.2505995203836930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BADA-466B-AB3C-3EAB58644317}"/>
                </c:ext>
              </c:extLst>
            </c:dLbl>
            <c:dLbl>
              <c:idx val="5"/>
              <c:layout>
                <c:manualLayout>
                  <c:x val="0"/>
                  <c:y val="-0.2505995203836930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BADA-466B-AB3C-3EAB58644317}"/>
                </c:ext>
              </c:extLst>
            </c:dLbl>
            <c:dLbl>
              <c:idx val="6"/>
              <c:layout>
                <c:manualLayout>
                  <c:x val="0"/>
                  <c:y val="-0.24340527577937651"/>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BADA-466B-AB3C-3EAB5864431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Sheet1!$A$2:$G$2</c:f>
              <c:numCache>
                <c:formatCode>General</c:formatCode>
                <c:ptCount val="7"/>
                <c:pt idx="0">
                  <c:v>170.91</c:v>
                </c:pt>
                <c:pt idx="1">
                  <c:v>210.91</c:v>
                </c:pt>
                <c:pt idx="2">
                  <c:v>462.74900000000002</c:v>
                </c:pt>
                <c:pt idx="3">
                  <c:v>462.70980028000002</c:v>
                </c:pt>
                <c:pt idx="4">
                  <c:v>462.70980028000002</c:v>
                </c:pt>
                <c:pt idx="5">
                  <c:v>462.65779315399999</c:v>
                </c:pt>
                <c:pt idx="6">
                  <c:v>443.534003154</c:v>
                </c:pt>
              </c:numCache>
            </c:numRef>
          </c:val>
          <c:extLst>
            <c:ext xmlns:c16="http://schemas.microsoft.com/office/drawing/2014/chart" uri="{C3380CC4-5D6E-409C-BE32-E72D297353CC}">
              <c16:uniqueId val="{0000000F-BADA-466B-AB3C-3EAB58644317}"/>
            </c:ext>
          </c:extLst>
        </c:ser>
        <c:dLbls>
          <c:showLegendKey val="0"/>
          <c:showVal val="0"/>
          <c:showCatName val="0"/>
          <c:showSerName val="0"/>
          <c:showPercent val="0"/>
          <c:showBubbleSize val="0"/>
        </c:dLbls>
        <c:gapWidth val="150"/>
        <c:axId val="60843151"/>
        <c:axId val="1"/>
      </c:barChart>
      <c:catAx>
        <c:axId val="60843151"/>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At val="0"/>
        <c:auto val="0"/>
        <c:lblAlgn val="ctr"/>
        <c:lblOffset val="100"/>
        <c:noMultiLvlLbl val="0"/>
      </c:catAx>
      <c:valAx>
        <c:axId val="1"/>
        <c:scaling>
          <c:orientation val="minMax"/>
          <c:max val="462.74900000000002"/>
          <c:min val="-468.87"/>
        </c:scaling>
        <c:delete val="1"/>
        <c:axPos val="l"/>
        <c:numFmt formatCode="General" sourceLinked="1"/>
        <c:majorTickMark val="out"/>
        <c:minorTickMark val="none"/>
        <c:tickLblPos val="nextTo"/>
        <c:crossAx val="60843151"/>
        <c:crosses val="min"/>
        <c:crossBetween val="between"/>
      </c:valAx>
    </c:plotArea>
    <c:plotVisOnly val="0"/>
    <c:dispBlanksAs val="gap"/>
    <c:showDLblsOverMax val="1"/>
  </c:chart>
  <c:externalData r:id="rId1">
    <c:autoUpdate val="0"/>
  </c:externalData>
</c:chartSpace>
</file>

<file path=ppt/charts/chart1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910569105691057E-2"/>
          <c:y val="8.7102177554438859E-2"/>
          <c:w val="0.96617886178861789"/>
          <c:h val="0.82579564489112234"/>
        </c:manualLayout>
      </c:layout>
      <c:barChart>
        <c:barDir val="col"/>
        <c:grouping val="stacked"/>
        <c:varyColors val="0"/>
        <c:ser>
          <c:idx val="0"/>
          <c:order val="0"/>
          <c:spPr>
            <a:solidFill>
              <a:srgbClr val="86BC25"/>
            </a:solidFill>
            <a:ln>
              <a:noFill/>
            </a:ln>
          </c:spPr>
          <c:invertIfNegative val="0"/>
          <c:dLbls>
            <c:dLbl>
              <c:idx val="1"/>
              <c:layout>
                <c:manualLayout>
                  <c:x val="-3.3495934959349591E-2"/>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8643-4669-A07C-32B5C912CD9B}"/>
                </c:ext>
              </c:extLst>
            </c:dLbl>
            <c:dLbl>
              <c:idx val="2"/>
              <c:layout>
                <c:manualLayout>
                  <c:x val="-3.3495934959349591E-2"/>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8643-4669-A07C-32B5C912CD9B}"/>
                </c:ext>
              </c:extLst>
            </c:dLbl>
            <c:dLbl>
              <c:idx val="3"/>
              <c:layout>
                <c:manualLayout>
                  <c:x val="-3.3495934959349591E-2"/>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8643-4669-A07C-32B5C912CD9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61.315936937000004</c:v>
                </c:pt>
                <c:pt idx="1">
                  <c:v>84.045109962999987</c:v>
                </c:pt>
                <c:pt idx="2">
                  <c:v>68.973305767999989</c:v>
                </c:pt>
                <c:pt idx="3">
                  <c:v>101.60945391299998</c:v>
                </c:pt>
              </c:numCache>
            </c:numRef>
          </c:val>
          <c:extLst>
            <c:ext xmlns:c16="http://schemas.microsoft.com/office/drawing/2014/chart" uri="{C3380CC4-5D6E-409C-BE32-E72D297353CC}">
              <c16:uniqueId val="{00000003-8643-4669-A07C-32B5C912CD9B}"/>
            </c:ext>
          </c:extLst>
        </c:ser>
        <c:ser>
          <c:idx val="1"/>
          <c:order val="1"/>
          <c:spPr>
            <a:solidFill>
              <a:srgbClr val="046A38"/>
            </a:solidFill>
            <a:ln>
              <a:noFill/>
            </a:ln>
          </c:spPr>
          <c:invertIfNegative val="0"/>
          <c:val>
            <c:numRef>
              <c:f>Sheet1!$A$2:$D$2</c:f>
              <c:numCache>
                <c:formatCode>General</c:formatCode>
                <c:ptCount val="4"/>
                <c:pt idx="0">
                  <c:v>6.6051999999999964</c:v>
                </c:pt>
                <c:pt idx="1">
                  <c:v>12.406599999999997</c:v>
                </c:pt>
                <c:pt idx="2">
                  <c:v>20.915199999999999</c:v>
                </c:pt>
                <c:pt idx="3">
                  <c:v>12.8249</c:v>
                </c:pt>
              </c:numCache>
            </c:numRef>
          </c:val>
          <c:extLst>
            <c:ext xmlns:c16="http://schemas.microsoft.com/office/drawing/2014/chart" uri="{C3380CC4-5D6E-409C-BE32-E72D297353CC}">
              <c16:uniqueId val="{00000004-8643-4669-A07C-32B5C912CD9B}"/>
            </c:ext>
          </c:extLst>
        </c:ser>
        <c:ser>
          <c:idx val="2"/>
          <c:order val="2"/>
          <c:spPr>
            <a:solidFill>
              <a:srgbClr val="62B5E5"/>
            </a:solidFill>
            <a:ln>
              <a:noFill/>
            </a:ln>
          </c:spPr>
          <c:invertIfNegative val="0"/>
          <c:dLbls>
            <c:dLbl>
              <c:idx val="0"/>
              <c:layout>
                <c:manualLayout>
                  <c:x val="-3.3495934959349591E-2"/>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8643-4669-A07C-32B5C912CD9B}"/>
                </c:ext>
              </c:extLst>
            </c:dLbl>
            <c:dLbl>
              <c:idx val="1"/>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8643-4669-A07C-32B5C912CD9B}"/>
                </c:ext>
              </c:extLst>
            </c:dLbl>
            <c:dLbl>
              <c:idx val="2"/>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8643-4669-A07C-32B5C912CD9B}"/>
                </c:ext>
              </c:extLst>
            </c:dLbl>
            <c:dLbl>
              <c:idx val="3"/>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8643-4669-A07C-32B5C912CD9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Sheet1!$A$3:$D$3</c:f>
              <c:numCache>
                <c:formatCode>General</c:formatCode>
                <c:ptCount val="4"/>
                <c:pt idx="0">
                  <c:v>111.10310000000001</c:v>
                </c:pt>
                <c:pt idx="1">
                  <c:v>144.3391</c:v>
                </c:pt>
                <c:pt idx="2">
                  <c:v>233.0067</c:v>
                </c:pt>
                <c:pt idx="3">
                  <c:v>233.76499999999999</c:v>
                </c:pt>
              </c:numCache>
            </c:numRef>
          </c:val>
          <c:extLst>
            <c:ext xmlns:c16="http://schemas.microsoft.com/office/drawing/2014/chart" uri="{C3380CC4-5D6E-409C-BE32-E72D297353CC}">
              <c16:uniqueId val="{00000009-8643-4669-A07C-32B5C912CD9B}"/>
            </c:ext>
          </c:extLst>
        </c:ser>
        <c:ser>
          <c:idx val="3"/>
          <c:order val="3"/>
          <c:spPr>
            <a:solidFill>
              <a:srgbClr val="012169"/>
            </a:solidFill>
            <a:ln>
              <a:noFill/>
            </a:ln>
          </c:spPr>
          <c:invertIfNegative val="0"/>
          <c:val>
            <c:numRef>
              <c:f>Sheet1!$A$4:$D$4</c:f>
              <c:numCache>
                <c:formatCode>General</c:formatCode>
                <c:ptCount val="4"/>
                <c:pt idx="0">
                  <c:v>32.259199999999993</c:v>
                </c:pt>
                <c:pt idx="1">
                  <c:v>41.323499999999996</c:v>
                </c:pt>
                <c:pt idx="2">
                  <c:v>46.038099999999986</c:v>
                </c:pt>
                <c:pt idx="3">
                  <c:v>60.803899999999999</c:v>
                </c:pt>
              </c:numCache>
            </c:numRef>
          </c:val>
          <c:extLst>
            <c:ext xmlns:c16="http://schemas.microsoft.com/office/drawing/2014/chart" uri="{C3380CC4-5D6E-409C-BE32-E72D297353CC}">
              <c16:uniqueId val="{0000000A-8643-4669-A07C-32B5C912CD9B}"/>
            </c:ext>
          </c:extLst>
        </c:ser>
        <c:dLbls>
          <c:showLegendKey val="0"/>
          <c:showVal val="0"/>
          <c:showCatName val="0"/>
          <c:showSerName val="0"/>
          <c:showPercent val="0"/>
          <c:showBubbleSize val="0"/>
        </c:dLbls>
        <c:gapWidth val="80"/>
        <c:overlap val="100"/>
        <c:axId val="1133533888"/>
        <c:axId val="1"/>
      </c:barChart>
      <c:catAx>
        <c:axId val="1133533888"/>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409.00325391299998"/>
          <c:min val="0"/>
        </c:scaling>
        <c:delete val="1"/>
        <c:axPos val="l"/>
        <c:numFmt formatCode="General" sourceLinked="1"/>
        <c:majorTickMark val="out"/>
        <c:minorTickMark val="none"/>
        <c:tickLblPos val="nextTo"/>
        <c:crossAx val="1133533888"/>
        <c:crosses val="min"/>
        <c:crossBetween val="between"/>
      </c:valAx>
    </c:plotArea>
    <c:plotVisOnly val="0"/>
    <c:dispBlanksAs val="gap"/>
    <c:showDLblsOverMax val="1"/>
  </c:chart>
  <c:externalData r:id="rId1">
    <c:autoUpdate val="0"/>
  </c:externalData>
</c:chartSpace>
</file>

<file path=ppt/charts/chart1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5575364667747E-2"/>
          <c:y val="0.15053763440860213"/>
          <c:w val="0.96628849270664496"/>
          <c:h val="0.78733572281959374"/>
        </c:manualLayout>
      </c:layout>
      <c:barChart>
        <c:barDir val="col"/>
        <c:grouping val="stacked"/>
        <c:varyColors val="0"/>
        <c:ser>
          <c:idx val="0"/>
          <c:order val="0"/>
          <c:spPr>
            <a:solidFill>
              <a:srgbClr val="86BC25"/>
            </a:solidFill>
            <a:ln>
              <a:noFill/>
            </a:ln>
          </c:spPr>
          <c:invertIfNegative val="0"/>
          <c:dLbls>
            <c:dLbl>
              <c:idx val="0"/>
              <c:layout>
                <c:manualLayout>
                  <c:x val="0"/>
                  <c:y val="-0.35961768219832735"/>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8FF1-4DAB-B0D8-DD390858C6CD}"/>
                </c:ext>
              </c:extLst>
            </c:dLbl>
            <c:dLbl>
              <c:idx val="1"/>
              <c:layout>
                <c:manualLayout>
                  <c:x val="0"/>
                  <c:y val="-0.35483870967741937"/>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8FF1-4DAB-B0D8-DD390858C6CD}"/>
                </c:ext>
              </c:extLst>
            </c:dLbl>
            <c:dLbl>
              <c:idx val="2"/>
              <c:layout>
                <c:manualLayout>
                  <c:x val="0"/>
                  <c:y val="-0.47072879330943845"/>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8FF1-4DAB-B0D8-DD390858C6CD}"/>
                </c:ext>
              </c:extLst>
            </c:dLbl>
            <c:dLbl>
              <c:idx val="3"/>
              <c:layout>
                <c:manualLayout>
                  <c:x val="0"/>
                  <c:y val="-0.44802867383512546"/>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8FF1-4DAB-B0D8-DD390858C6C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333.63637022299997</c:v>
                </c:pt>
                <c:pt idx="1">
                  <c:v>327.58659381500001</c:v>
                </c:pt>
                <c:pt idx="2">
                  <c:v>462.80137385900002</c:v>
                </c:pt>
                <c:pt idx="3">
                  <c:v>437.796565413</c:v>
                </c:pt>
              </c:numCache>
            </c:numRef>
          </c:val>
          <c:extLst>
            <c:ext xmlns:c16="http://schemas.microsoft.com/office/drawing/2014/chart" uri="{C3380CC4-5D6E-409C-BE32-E72D297353CC}">
              <c16:uniqueId val="{00000004-8FF1-4DAB-B0D8-DD390858C6CD}"/>
            </c:ext>
          </c:extLst>
        </c:ser>
        <c:dLbls>
          <c:showLegendKey val="0"/>
          <c:showVal val="0"/>
          <c:showCatName val="0"/>
          <c:showSerName val="0"/>
          <c:showPercent val="0"/>
          <c:showBubbleSize val="0"/>
        </c:dLbls>
        <c:gapWidth val="150"/>
        <c:overlap val="100"/>
        <c:axId val="1238039040"/>
        <c:axId val="1"/>
      </c:barChart>
      <c:catAx>
        <c:axId val="123803904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462.80137385900002"/>
          <c:min val="0"/>
        </c:scaling>
        <c:delete val="1"/>
        <c:axPos val="l"/>
        <c:numFmt formatCode="General" sourceLinked="1"/>
        <c:majorTickMark val="out"/>
        <c:minorTickMark val="none"/>
        <c:tickLblPos val="nextTo"/>
        <c:crossAx val="1238039040"/>
        <c:crosses val="min"/>
        <c:crossBetween val="between"/>
      </c:valAx>
    </c:plotArea>
    <c:plotVisOnly val="0"/>
    <c:dispBlanksAs val="gap"/>
    <c:showDLblsOverMax val="1"/>
  </c:chart>
  <c:externalData r:id="rId1">
    <c:autoUpdate val="0"/>
  </c:externalData>
</c:chartSpace>
</file>

<file path=ppt/charts/chart1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7909929841588674E-2"/>
          <c:y val="7.4850700446103743E-2"/>
          <c:w val="0.94418014031682262"/>
          <c:h val="0.58905733124301451"/>
        </c:manualLayout>
      </c:layout>
      <c:barChart>
        <c:barDir val="col"/>
        <c:grouping val="clustered"/>
        <c:varyColors val="0"/>
        <c:ser>
          <c:idx val="0"/>
          <c:order val="0"/>
          <c:tx>
            <c:strRef>
              <c:f>Sheet1!$B$1</c:f>
              <c:strCache>
                <c:ptCount val="1"/>
                <c:pt idx="0">
                  <c:v>Accounts Receivable (Trading)</c:v>
                </c:pt>
              </c:strCache>
            </c:strRef>
          </c:tx>
          <c:spPr>
            <a:solidFill>
              <a:schemeClr val="accent1"/>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FY16</c:v>
                </c:pt>
                <c:pt idx="1">
                  <c:v>FY17</c:v>
                </c:pt>
                <c:pt idx="2">
                  <c:v>FY18</c:v>
                </c:pt>
                <c:pt idx="3">
                  <c:v>FY19</c:v>
                </c:pt>
              </c:strCache>
            </c:strRef>
          </c:cat>
          <c:val>
            <c:numRef>
              <c:f>Sheet1!$B$2:$B$5</c:f>
              <c:numCache>
                <c:formatCode>General</c:formatCode>
                <c:ptCount val="4"/>
                <c:pt idx="0">
                  <c:v>204.06268207700001</c:v>
                </c:pt>
                <c:pt idx="1">
                  <c:v>257.51785417455</c:v>
                </c:pt>
                <c:pt idx="2">
                  <c:v>304.70696627900003</c:v>
                </c:pt>
                <c:pt idx="3">
                  <c:v>251.238538339</c:v>
                </c:pt>
              </c:numCache>
            </c:numRef>
          </c:val>
          <c:extLst>
            <c:ext xmlns:c16="http://schemas.microsoft.com/office/drawing/2014/chart" uri="{C3380CC4-5D6E-409C-BE32-E72D297353CC}">
              <c16:uniqueId val="{00000002-9302-436E-9460-61EB1A4669A7}"/>
            </c:ext>
          </c:extLst>
        </c:ser>
        <c:ser>
          <c:idx val="1"/>
          <c:order val="1"/>
          <c:tx>
            <c:strRef>
              <c:f>Sheet1!$C$1</c:f>
              <c:strCache>
                <c:ptCount val="1"/>
                <c:pt idx="0">
                  <c:v>Accounts Receivable (Others)</c:v>
                </c:pt>
              </c:strCache>
            </c:strRef>
          </c:tx>
          <c:spPr>
            <a:solidFill>
              <a:schemeClr val="accent2"/>
            </a:solidFill>
            <a:ln>
              <a:noFill/>
            </a:ln>
            <a:effectLst/>
          </c:spPr>
          <c:invertIfNegative val="0"/>
          <c:dLbls>
            <c:dLbl>
              <c:idx val="1"/>
              <c:layout>
                <c:manualLayout>
                  <c:x val="1.0516869125204505E-2"/>
                  <c:y val="-1.3613856718871973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302-436E-9460-61EB1A4669A7}"/>
                </c:ext>
              </c:extLst>
            </c:dLbl>
            <c:numFmt formatCode="#,##0" sourceLinked="0"/>
            <c:spPr>
              <a:solidFill>
                <a:schemeClr val="accent2"/>
              </a:solid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FY16</c:v>
                </c:pt>
                <c:pt idx="1">
                  <c:v>FY17</c:v>
                </c:pt>
                <c:pt idx="2">
                  <c:v>FY18</c:v>
                </c:pt>
                <c:pt idx="3">
                  <c:v>FY19</c:v>
                </c:pt>
              </c:strCache>
            </c:strRef>
          </c:cat>
          <c:val>
            <c:numRef>
              <c:f>Sheet1!$C$2:$C$5</c:f>
              <c:numCache>
                <c:formatCode>General</c:formatCode>
                <c:ptCount val="4"/>
                <c:pt idx="0">
                  <c:v>1.45</c:v>
                </c:pt>
                <c:pt idx="1">
                  <c:v>1.45</c:v>
                </c:pt>
                <c:pt idx="2">
                  <c:v>1.4</c:v>
                </c:pt>
                <c:pt idx="3">
                  <c:v>1.4</c:v>
                </c:pt>
              </c:numCache>
            </c:numRef>
          </c:val>
          <c:extLst>
            <c:ext xmlns:c16="http://schemas.microsoft.com/office/drawing/2014/chart" uri="{C3380CC4-5D6E-409C-BE32-E72D297353CC}">
              <c16:uniqueId val="{00000004-9302-436E-9460-61EB1A4669A7}"/>
            </c:ext>
          </c:extLst>
        </c:ser>
        <c:dLbls>
          <c:showLegendKey val="0"/>
          <c:showVal val="0"/>
          <c:showCatName val="0"/>
          <c:showSerName val="0"/>
          <c:showPercent val="0"/>
          <c:showBubbleSize val="0"/>
        </c:dLbls>
        <c:gapWidth val="150"/>
        <c:axId val="757560624"/>
        <c:axId val="757559312"/>
      </c:barChart>
      <c:lineChart>
        <c:grouping val="standard"/>
        <c:varyColors val="0"/>
        <c:ser>
          <c:idx val="2"/>
          <c:order val="2"/>
          <c:tx>
            <c:strRef>
              <c:f>Sheet1!$D$1</c:f>
              <c:strCache>
                <c:ptCount val="1"/>
                <c:pt idx="0">
                  <c:v>Debtor Days (Overall)</c:v>
                </c:pt>
              </c:strCache>
            </c:strRef>
          </c:tx>
          <c:spPr>
            <a:ln w="28575" cap="rnd">
              <a:solidFill>
                <a:schemeClr val="accent3"/>
              </a:solidFill>
              <a:round/>
            </a:ln>
            <a:effectLst/>
          </c:spPr>
          <c:marker>
            <c:symbol val="circle"/>
            <c:size val="5"/>
            <c:spPr>
              <a:solidFill>
                <a:schemeClr val="accent3"/>
              </a:solidFill>
              <a:ln w="9525">
                <a:solidFill>
                  <a:schemeClr val="accent3"/>
                </a:solidFill>
              </a:ln>
              <a:effectLst/>
            </c:spPr>
          </c:marker>
          <c:dLbls>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FY16</c:v>
                </c:pt>
                <c:pt idx="1">
                  <c:v>FY17</c:v>
                </c:pt>
                <c:pt idx="2">
                  <c:v>FY18</c:v>
                </c:pt>
                <c:pt idx="3">
                  <c:v>FY19</c:v>
                </c:pt>
              </c:strCache>
            </c:strRef>
          </c:cat>
          <c:val>
            <c:numRef>
              <c:f>Sheet1!$D$2:$D$5</c:f>
              <c:numCache>
                <c:formatCode>General</c:formatCode>
                <c:ptCount val="4"/>
                <c:pt idx="0">
                  <c:v>200.23105403800392</c:v>
                </c:pt>
                <c:pt idx="1">
                  <c:v>258.76121333469069</c:v>
                </c:pt>
                <c:pt idx="2">
                  <c:v>222.83077183885376</c:v>
                </c:pt>
                <c:pt idx="3">
                  <c:v>232.92222303981671</c:v>
                </c:pt>
              </c:numCache>
            </c:numRef>
          </c:val>
          <c:smooth val="0"/>
          <c:extLst>
            <c:ext xmlns:c16="http://schemas.microsoft.com/office/drawing/2014/chart" uri="{C3380CC4-5D6E-409C-BE32-E72D297353CC}">
              <c16:uniqueId val="{00000005-9302-436E-9460-61EB1A4669A7}"/>
            </c:ext>
          </c:extLst>
        </c:ser>
        <c:dLbls>
          <c:showLegendKey val="0"/>
          <c:showVal val="1"/>
          <c:showCatName val="0"/>
          <c:showSerName val="0"/>
          <c:showPercent val="0"/>
          <c:showBubbleSize val="0"/>
        </c:dLbls>
        <c:marker val="1"/>
        <c:smooth val="0"/>
        <c:axId val="1055926704"/>
        <c:axId val="1055930968"/>
      </c:lineChart>
      <c:catAx>
        <c:axId val="757560624"/>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757559312"/>
        <c:crosses val="autoZero"/>
        <c:auto val="1"/>
        <c:lblAlgn val="ctr"/>
        <c:lblOffset val="100"/>
        <c:noMultiLvlLbl val="0"/>
      </c:catAx>
      <c:valAx>
        <c:axId val="757559312"/>
        <c:scaling>
          <c:orientation val="minMax"/>
          <c:max val="500"/>
          <c:min val="0"/>
        </c:scaling>
        <c:delete val="0"/>
        <c:axPos val="l"/>
        <c:numFmt formatCode="General" sourceLinked="1"/>
        <c:majorTickMark val="out"/>
        <c:minorTickMark val="none"/>
        <c:tickLblPos val="none"/>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757560624"/>
        <c:crosses val="autoZero"/>
        <c:crossBetween val="between"/>
      </c:valAx>
      <c:valAx>
        <c:axId val="1055930968"/>
        <c:scaling>
          <c:orientation val="minMax"/>
          <c:min val="0"/>
        </c:scaling>
        <c:delete val="0"/>
        <c:axPos val="r"/>
        <c:numFmt formatCode="General" sourceLinked="1"/>
        <c:majorTickMark val="out"/>
        <c:minorTickMark val="none"/>
        <c:tickLblPos val="none"/>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1055926704"/>
        <c:crosses val="max"/>
        <c:crossBetween val="between"/>
      </c:valAx>
      <c:catAx>
        <c:axId val="1055926704"/>
        <c:scaling>
          <c:orientation val="minMax"/>
        </c:scaling>
        <c:delete val="1"/>
        <c:axPos val="t"/>
        <c:numFmt formatCode="General" sourceLinked="1"/>
        <c:majorTickMark val="out"/>
        <c:minorTickMark val="none"/>
        <c:tickLblPos val="nextTo"/>
        <c:crossAx val="1055930968"/>
        <c:crosses val="max"/>
        <c:auto val="1"/>
        <c:lblAlgn val="ctr"/>
        <c:lblOffset val="100"/>
        <c:noMultiLvlLbl val="0"/>
      </c:catAx>
      <c:spPr>
        <a:noFill/>
        <a:ln>
          <a:noFill/>
        </a:ln>
        <a:effectLst/>
      </c:spPr>
    </c:plotArea>
    <c:legend>
      <c:legendPos val="b"/>
      <c:layout>
        <c:manualLayout>
          <c:xMode val="edge"/>
          <c:yMode val="edge"/>
          <c:x val="3.3164268816775036E-5"/>
          <c:y val="0.83556432857072827"/>
          <c:w val="0.99940504100881711"/>
          <c:h val="0.1644356714292717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000">
          <a:solidFill>
            <a:schemeClr val="tx1"/>
          </a:solidFill>
        </a:defRPr>
      </a:pPr>
      <a:endParaRPr lang="en-US"/>
    </a:p>
  </c:txPr>
  <c:externalData r:id="rId3">
    <c:autoUpdate val="0"/>
  </c:externalData>
</c:chartSpace>
</file>

<file path=ppt/charts/chart1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7909929841588674E-2"/>
          <c:y val="7.4850700446103743E-2"/>
          <c:w val="0.94418014031682262"/>
          <c:h val="0.58905733124301451"/>
        </c:manualLayout>
      </c:layout>
      <c:barChart>
        <c:barDir val="col"/>
        <c:grouping val="clustered"/>
        <c:varyColors val="0"/>
        <c:ser>
          <c:idx val="0"/>
          <c:order val="0"/>
          <c:tx>
            <c:strRef>
              <c:f>Sheet1!$B$1</c:f>
              <c:strCache>
                <c:ptCount val="1"/>
                <c:pt idx="0">
                  <c:v>Accounts Payable (Trading)</c:v>
                </c:pt>
              </c:strCache>
            </c:strRef>
          </c:tx>
          <c:spPr>
            <a:solidFill>
              <a:schemeClr val="accent1"/>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FY16</c:v>
                </c:pt>
                <c:pt idx="1">
                  <c:v>FY17</c:v>
                </c:pt>
                <c:pt idx="2">
                  <c:v>FY18</c:v>
                </c:pt>
                <c:pt idx="3">
                  <c:v>FY19</c:v>
                </c:pt>
              </c:strCache>
            </c:strRef>
          </c:cat>
          <c:val>
            <c:numRef>
              <c:f>Sheet1!$B$2:$B$5</c:f>
              <c:numCache>
                <c:formatCode>General</c:formatCode>
                <c:ptCount val="4"/>
                <c:pt idx="0">
                  <c:v>33.630855441000001</c:v>
                </c:pt>
                <c:pt idx="1">
                  <c:v>34.197420151610004</c:v>
                </c:pt>
                <c:pt idx="2">
                  <c:v>46.302427782999999</c:v>
                </c:pt>
                <c:pt idx="3">
                  <c:v>45.677100625000001</c:v>
                </c:pt>
              </c:numCache>
            </c:numRef>
          </c:val>
          <c:extLst>
            <c:ext xmlns:c16="http://schemas.microsoft.com/office/drawing/2014/chart" uri="{C3380CC4-5D6E-409C-BE32-E72D297353CC}">
              <c16:uniqueId val="{00000000-D062-4886-9364-08F74FAE02F4}"/>
            </c:ext>
          </c:extLst>
        </c:ser>
        <c:ser>
          <c:idx val="1"/>
          <c:order val="1"/>
          <c:tx>
            <c:strRef>
              <c:f>Sheet1!$C$1</c:f>
              <c:strCache>
                <c:ptCount val="1"/>
                <c:pt idx="0">
                  <c:v>Accounts Payable (Others)</c:v>
                </c:pt>
              </c:strCache>
            </c:strRef>
          </c:tx>
          <c:spPr>
            <a:solidFill>
              <a:schemeClr val="accent2"/>
            </a:solidFill>
            <a:ln>
              <a:noFill/>
            </a:ln>
            <a:effectLst/>
          </c:spPr>
          <c:invertIfNegative val="0"/>
          <c:dLbls>
            <c:dLbl>
              <c:idx val="2"/>
              <c:layout>
                <c:manualLayout>
                  <c:x val="-9.3032024758073504E-17"/>
                  <c:y val="2.0525838582865934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062-4886-9364-08F74FAE02F4}"/>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FY16</c:v>
                </c:pt>
                <c:pt idx="1">
                  <c:v>FY17</c:v>
                </c:pt>
                <c:pt idx="2">
                  <c:v>FY18</c:v>
                </c:pt>
                <c:pt idx="3">
                  <c:v>FY19</c:v>
                </c:pt>
              </c:strCache>
            </c:strRef>
          </c:cat>
          <c:val>
            <c:numRef>
              <c:f>Sheet1!$C$2:$C$5</c:f>
              <c:numCache>
                <c:formatCode>General</c:formatCode>
                <c:ptCount val="4"/>
                <c:pt idx="0">
                  <c:v>184.11113693799999</c:v>
                </c:pt>
                <c:pt idx="1">
                  <c:v>244.84429623969001</c:v>
                </c:pt>
                <c:pt idx="2">
                  <c:v>315.05768422800003</c:v>
                </c:pt>
                <c:pt idx="3">
                  <c:v>230.89309396799999</c:v>
                </c:pt>
              </c:numCache>
            </c:numRef>
          </c:val>
          <c:extLst>
            <c:ext xmlns:c16="http://schemas.microsoft.com/office/drawing/2014/chart" uri="{C3380CC4-5D6E-409C-BE32-E72D297353CC}">
              <c16:uniqueId val="{00000002-D062-4886-9364-08F74FAE02F4}"/>
            </c:ext>
          </c:extLst>
        </c:ser>
        <c:dLbls>
          <c:showLegendKey val="0"/>
          <c:showVal val="0"/>
          <c:showCatName val="0"/>
          <c:showSerName val="0"/>
          <c:showPercent val="0"/>
          <c:showBubbleSize val="0"/>
        </c:dLbls>
        <c:gapWidth val="150"/>
        <c:axId val="757560624"/>
        <c:axId val="757559312"/>
      </c:barChart>
      <c:lineChart>
        <c:grouping val="standard"/>
        <c:varyColors val="0"/>
        <c:ser>
          <c:idx val="2"/>
          <c:order val="2"/>
          <c:tx>
            <c:strRef>
              <c:f>Sheet1!$D$1</c:f>
              <c:strCache>
                <c:ptCount val="1"/>
                <c:pt idx="0">
                  <c:v>Creditor Days (Overall)</c:v>
                </c:pt>
              </c:strCache>
            </c:strRef>
          </c:tx>
          <c:spPr>
            <a:ln w="28575" cap="rnd">
              <a:solidFill>
                <a:schemeClr val="accent3"/>
              </a:solidFill>
              <a:round/>
            </a:ln>
            <a:effectLst/>
          </c:spPr>
          <c:marker>
            <c:symbol val="circle"/>
            <c:size val="5"/>
            <c:spPr>
              <a:solidFill>
                <a:schemeClr val="accent3"/>
              </a:solidFill>
              <a:ln w="9525">
                <a:solidFill>
                  <a:schemeClr val="accent3"/>
                </a:solidFill>
              </a:ln>
              <a:effectLst/>
            </c:spPr>
          </c:marker>
          <c:dLbls>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FY16</c:v>
                </c:pt>
                <c:pt idx="1">
                  <c:v>FY17</c:v>
                </c:pt>
                <c:pt idx="2">
                  <c:v>FY18</c:v>
                </c:pt>
                <c:pt idx="3">
                  <c:v>FY19</c:v>
                </c:pt>
              </c:strCache>
            </c:strRef>
          </c:cat>
          <c:val>
            <c:numRef>
              <c:f>Sheet1!$D$2:$D$5</c:f>
              <c:numCache>
                <c:formatCode>General</c:formatCode>
                <c:ptCount val="4"/>
                <c:pt idx="0">
                  <c:v>352.2670025692243</c:v>
                </c:pt>
                <c:pt idx="1">
                  <c:v>321.50340801329997</c:v>
                </c:pt>
                <c:pt idx="2">
                  <c:v>316.6078362561189</c:v>
                </c:pt>
                <c:pt idx="3">
                  <c:v>284.48563296442109</c:v>
                </c:pt>
              </c:numCache>
            </c:numRef>
          </c:val>
          <c:smooth val="0"/>
          <c:extLst>
            <c:ext xmlns:c16="http://schemas.microsoft.com/office/drawing/2014/chart" uri="{C3380CC4-5D6E-409C-BE32-E72D297353CC}">
              <c16:uniqueId val="{00000003-D062-4886-9364-08F74FAE02F4}"/>
            </c:ext>
          </c:extLst>
        </c:ser>
        <c:dLbls>
          <c:showLegendKey val="0"/>
          <c:showVal val="1"/>
          <c:showCatName val="0"/>
          <c:showSerName val="0"/>
          <c:showPercent val="0"/>
          <c:showBubbleSize val="0"/>
        </c:dLbls>
        <c:marker val="1"/>
        <c:smooth val="0"/>
        <c:axId val="1055926704"/>
        <c:axId val="1055930968"/>
      </c:lineChart>
      <c:catAx>
        <c:axId val="757560624"/>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757559312"/>
        <c:crosses val="autoZero"/>
        <c:auto val="1"/>
        <c:lblAlgn val="ctr"/>
        <c:lblOffset val="100"/>
        <c:noMultiLvlLbl val="0"/>
      </c:catAx>
      <c:valAx>
        <c:axId val="757559312"/>
        <c:scaling>
          <c:orientation val="minMax"/>
          <c:max val="500"/>
          <c:min val="0"/>
        </c:scaling>
        <c:delete val="0"/>
        <c:axPos val="l"/>
        <c:numFmt formatCode="General" sourceLinked="1"/>
        <c:majorTickMark val="out"/>
        <c:minorTickMark val="none"/>
        <c:tickLblPos val="none"/>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757560624"/>
        <c:crosses val="autoZero"/>
        <c:crossBetween val="between"/>
      </c:valAx>
      <c:valAx>
        <c:axId val="1055930968"/>
        <c:scaling>
          <c:orientation val="minMax"/>
          <c:min val="0"/>
        </c:scaling>
        <c:delete val="0"/>
        <c:axPos val="r"/>
        <c:numFmt formatCode="General" sourceLinked="1"/>
        <c:majorTickMark val="out"/>
        <c:minorTickMark val="none"/>
        <c:tickLblPos val="none"/>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1055926704"/>
        <c:crosses val="max"/>
        <c:crossBetween val="between"/>
      </c:valAx>
      <c:catAx>
        <c:axId val="1055926704"/>
        <c:scaling>
          <c:orientation val="minMax"/>
        </c:scaling>
        <c:delete val="1"/>
        <c:axPos val="t"/>
        <c:numFmt formatCode="General" sourceLinked="1"/>
        <c:majorTickMark val="out"/>
        <c:minorTickMark val="none"/>
        <c:tickLblPos val="nextTo"/>
        <c:crossAx val="1055930968"/>
        <c:crosses val="max"/>
        <c:auto val="1"/>
        <c:lblAlgn val="ctr"/>
        <c:lblOffset val="100"/>
        <c:noMultiLvlLbl val="0"/>
      </c:catAx>
      <c:spPr>
        <a:noFill/>
        <a:ln>
          <a:noFill/>
        </a:ln>
        <a:effectLst/>
      </c:spPr>
    </c:plotArea>
    <c:legend>
      <c:legendPos val="b"/>
      <c:layout>
        <c:manualLayout>
          <c:xMode val="edge"/>
          <c:yMode val="edge"/>
          <c:x val="3.3164268816775036E-5"/>
          <c:y val="0.83556432857072827"/>
          <c:w val="0.99940504100881711"/>
          <c:h val="0.1644356714292717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000">
          <a:solidFill>
            <a:schemeClr val="tx1"/>
          </a:solidFill>
        </a:defRPr>
      </a:pPr>
      <a:endParaRPr lang="en-US"/>
    </a:p>
  </c:txPr>
  <c:externalData r:id="rId3">
    <c:autoUpdate val="0"/>
  </c:externalData>
</c:chartSpace>
</file>

<file path=ppt/charts/chart1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5575364667747E-2"/>
          <c:y val="0.11856823266219239"/>
          <c:w val="0.96628849270664496"/>
          <c:h val="0.8232662192393736"/>
        </c:manualLayout>
      </c:layout>
      <c:barChart>
        <c:barDir val="col"/>
        <c:grouping val="clustered"/>
        <c:varyColors val="0"/>
        <c:ser>
          <c:idx val="0"/>
          <c:order val="0"/>
          <c:spPr>
            <a:solidFill>
              <a:srgbClr val="86BC25"/>
            </a:solidFill>
            <a:ln>
              <a:noFill/>
            </a:ln>
          </c:spPr>
          <c:invertIfNegative val="0"/>
          <c:dLbls>
            <c:dLbl>
              <c:idx val="0"/>
              <c:layout>
                <c:manualLayout>
                  <c:x val="0"/>
                  <c:y val="-0.1912751677852349"/>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CCAC-47C5-9E70-A8B38A3196BB}"/>
                </c:ext>
              </c:extLst>
            </c:dLbl>
            <c:dLbl>
              <c:idx val="1"/>
              <c:layout>
                <c:manualLayout>
                  <c:x val="0"/>
                  <c:y val="-0.24049217002237136"/>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CCAC-47C5-9E70-A8B38A3196BB}"/>
                </c:ext>
              </c:extLst>
            </c:dLbl>
            <c:dLbl>
              <c:idx val="2"/>
              <c:layout>
                <c:manualLayout>
                  <c:x val="0"/>
                  <c:y val="-0.3042505592841163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CCAC-47C5-9E70-A8B38A3196BB}"/>
                </c:ext>
              </c:extLst>
            </c:dLbl>
            <c:dLbl>
              <c:idx val="3"/>
              <c:layout>
                <c:manualLayout>
                  <c:x val="0"/>
                  <c:y val="-0.3042505592841163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CCAC-47C5-9E70-A8B38A3196B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290.75086874499999</c:v>
                </c:pt>
                <c:pt idx="1">
                  <c:v>411.78586279174999</c:v>
                </c:pt>
                <c:pt idx="2">
                  <c:v>565.40890268099997</c:v>
                </c:pt>
                <c:pt idx="3">
                  <c:v>567.19774460999997</c:v>
                </c:pt>
              </c:numCache>
            </c:numRef>
          </c:val>
          <c:extLst>
            <c:ext xmlns:c16="http://schemas.microsoft.com/office/drawing/2014/chart" uri="{C3380CC4-5D6E-409C-BE32-E72D297353CC}">
              <c16:uniqueId val="{00000004-CCAC-47C5-9E70-A8B38A3196BB}"/>
            </c:ext>
          </c:extLst>
        </c:ser>
        <c:ser>
          <c:idx val="1"/>
          <c:order val="1"/>
          <c:spPr>
            <a:solidFill>
              <a:srgbClr val="046A38"/>
            </a:solidFill>
            <a:ln>
              <a:noFill/>
            </a:ln>
          </c:spPr>
          <c:invertIfNegative val="0"/>
          <c:dLbls>
            <c:dLbl>
              <c:idx val="0"/>
              <c:layout>
                <c:manualLayout>
                  <c:x val="0"/>
                  <c:y val="-0.1711409395973154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CCAC-47C5-9E70-A8B38A3196BB}"/>
                </c:ext>
              </c:extLst>
            </c:dLbl>
            <c:dLbl>
              <c:idx val="1"/>
              <c:layout>
                <c:manualLayout>
                  <c:x val="0"/>
                  <c:y val="-0.20693512304250558"/>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CCAC-47C5-9E70-A8B38A3196BB}"/>
                </c:ext>
              </c:extLst>
            </c:dLbl>
            <c:dLbl>
              <c:idx val="2"/>
              <c:layout>
                <c:manualLayout>
                  <c:x val="0"/>
                  <c:y val="-0.23937360178970918"/>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CCAC-47C5-9E70-A8B38A3196BB}"/>
                </c:ext>
              </c:extLst>
            </c:dLbl>
            <c:dLbl>
              <c:idx val="3"/>
              <c:layout>
                <c:manualLayout>
                  <c:x val="0"/>
                  <c:y val="-0.2046979865771812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CCAC-47C5-9E70-A8B38A3196B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Sheet1!$A$2:$D$2</c:f>
              <c:numCache>
                <c:formatCode>General</c:formatCode>
                <c:ptCount val="4"/>
                <c:pt idx="0">
                  <c:v>241.47602434199999</c:v>
                </c:pt>
                <c:pt idx="1">
                  <c:v>329.00300385859003</c:v>
                </c:pt>
                <c:pt idx="2">
                  <c:v>409.51808157300002</c:v>
                </c:pt>
                <c:pt idx="3">
                  <c:v>323.12074821900001</c:v>
                </c:pt>
              </c:numCache>
            </c:numRef>
          </c:val>
          <c:extLst>
            <c:ext xmlns:c16="http://schemas.microsoft.com/office/drawing/2014/chart" uri="{C3380CC4-5D6E-409C-BE32-E72D297353CC}">
              <c16:uniqueId val="{00000009-CCAC-47C5-9E70-A8B38A3196BB}"/>
            </c:ext>
          </c:extLst>
        </c:ser>
        <c:dLbls>
          <c:showLegendKey val="0"/>
          <c:showVal val="0"/>
          <c:showCatName val="0"/>
          <c:showSerName val="0"/>
          <c:showPercent val="0"/>
          <c:showBubbleSize val="0"/>
        </c:dLbls>
        <c:gapWidth val="150"/>
        <c:axId val="1088867776"/>
        <c:axId val="1"/>
      </c:barChart>
      <c:lineChart>
        <c:grouping val="standard"/>
        <c:varyColors val="0"/>
        <c:ser>
          <c:idx val="2"/>
          <c:order val="2"/>
          <c:spPr>
            <a:ln w="28575" algn="ctr">
              <a:solidFill>
                <a:schemeClr val="accent4"/>
              </a:solidFill>
              <a:prstDash val="solid"/>
            </a:ln>
          </c:spPr>
          <c:marker>
            <c:symbol val="none"/>
          </c:marker>
          <c:dPt>
            <c:idx val="0"/>
            <c:marker>
              <c:symbol val="triangle"/>
              <c:size val="5"/>
              <c:spPr>
                <a:solidFill>
                  <a:schemeClr val="accent4"/>
                </a:solidFill>
                <a:ln w="9525" algn="ctr">
                  <a:solidFill>
                    <a:schemeClr val="accent4"/>
                  </a:solidFill>
                  <a:prstDash val="solid"/>
                </a:ln>
              </c:spPr>
            </c:marker>
            <c:bubble3D val="0"/>
            <c:extLst>
              <c:ext xmlns:c16="http://schemas.microsoft.com/office/drawing/2014/chart" uri="{C3380CC4-5D6E-409C-BE32-E72D297353CC}">
                <c16:uniqueId val="{0000000A-CCAC-47C5-9E70-A8B38A3196BB}"/>
              </c:ext>
            </c:extLst>
          </c:dPt>
          <c:dPt>
            <c:idx val="1"/>
            <c:marker>
              <c:symbol val="triangle"/>
              <c:size val="5"/>
              <c:spPr>
                <a:solidFill>
                  <a:schemeClr val="accent4"/>
                </a:solidFill>
                <a:ln w="9525" algn="ctr">
                  <a:solidFill>
                    <a:schemeClr val="accent4"/>
                  </a:solidFill>
                  <a:prstDash val="solid"/>
                </a:ln>
              </c:spPr>
            </c:marker>
            <c:bubble3D val="0"/>
            <c:extLst>
              <c:ext xmlns:c16="http://schemas.microsoft.com/office/drawing/2014/chart" uri="{C3380CC4-5D6E-409C-BE32-E72D297353CC}">
                <c16:uniqueId val="{0000000B-CCAC-47C5-9E70-A8B38A3196BB}"/>
              </c:ext>
            </c:extLst>
          </c:dPt>
          <c:dPt>
            <c:idx val="2"/>
            <c:marker>
              <c:symbol val="triangle"/>
              <c:size val="5"/>
              <c:spPr>
                <a:solidFill>
                  <a:schemeClr val="accent4"/>
                </a:solidFill>
                <a:ln w="9525" algn="ctr">
                  <a:solidFill>
                    <a:schemeClr val="accent4"/>
                  </a:solidFill>
                  <a:prstDash val="solid"/>
                </a:ln>
              </c:spPr>
            </c:marker>
            <c:bubble3D val="0"/>
            <c:extLst>
              <c:ext xmlns:c16="http://schemas.microsoft.com/office/drawing/2014/chart" uri="{C3380CC4-5D6E-409C-BE32-E72D297353CC}">
                <c16:uniqueId val="{0000000C-CCAC-47C5-9E70-A8B38A3196BB}"/>
              </c:ext>
            </c:extLst>
          </c:dPt>
          <c:dPt>
            <c:idx val="3"/>
            <c:marker>
              <c:symbol val="triangle"/>
              <c:size val="5"/>
              <c:spPr>
                <a:solidFill>
                  <a:schemeClr val="accent4"/>
                </a:solidFill>
                <a:ln w="9525" algn="ctr">
                  <a:solidFill>
                    <a:schemeClr val="accent4"/>
                  </a:solidFill>
                  <a:prstDash val="solid"/>
                </a:ln>
              </c:spPr>
            </c:marker>
            <c:bubble3D val="0"/>
            <c:extLst>
              <c:ext xmlns:c16="http://schemas.microsoft.com/office/drawing/2014/chart" uri="{C3380CC4-5D6E-409C-BE32-E72D297353CC}">
                <c16:uniqueId val="{0000000D-CCAC-47C5-9E70-A8B38A3196BB}"/>
              </c:ext>
            </c:extLst>
          </c:dPt>
          <c:dLbls>
            <c:dLbl>
              <c:idx val="1"/>
              <c:layout>
                <c:manualLayout>
                  <c:x val="0"/>
                  <c:y val="-0.116331096196868"/>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CCAC-47C5-9E70-A8B38A3196BB}"/>
                </c:ext>
              </c:extLst>
            </c:dLbl>
            <c:dLbl>
              <c:idx val="2"/>
              <c:layout>
                <c:manualLayout>
                  <c:x val="0"/>
                  <c:y val="-0.116331096196868"/>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CCAC-47C5-9E70-A8B38A3196BB}"/>
                </c:ext>
              </c:extLst>
            </c:dLbl>
            <c:dLbl>
              <c:idx val="3"/>
              <c:layout>
                <c:manualLayout>
                  <c:x val="0"/>
                  <c:y val="-0.116331096196868"/>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CCAC-47C5-9E70-A8B38A3196B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Sheet1!$A$3:$D$3</c:f>
              <c:numCache>
                <c:formatCode>General</c:formatCode>
                <c:ptCount val="4"/>
                <c:pt idx="0">
                  <c:v>1.2040565043145346</c:v>
                </c:pt>
                <c:pt idx="1">
                  <c:v>1.251617334681665</c:v>
                </c:pt>
                <c:pt idx="2">
                  <c:v>1.3806689572861994</c:v>
                </c:pt>
                <c:pt idx="3">
                  <c:v>1.7553739514889268</c:v>
                </c:pt>
              </c:numCache>
            </c:numRef>
          </c:val>
          <c:smooth val="0"/>
          <c:extLst>
            <c:ext xmlns:c16="http://schemas.microsoft.com/office/drawing/2014/chart" uri="{C3380CC4-5D6E-409C-BE32-E72D297353CC}">
              <c16:uniqueId val="{0000000E-CCAC-47C5-9E70-A8B38A3196BB}"/>
            </c:ext>
          </c:extLst>
        </c:ser>
        <c:dLbls>
          <c:showLegendKey val="0"/>
          <c:showVal val="0"/>
          <c:showCatName val="0"/>
          <c:showSerName val="0"/>
          <c:showPercent val="0"/>
          <c:showBubbleSize val="0"/>
        </c:dLbls>
        <c:marker val="1"/>
        <c:smooth val="0"/>
        <c:axId val="3"/>
        <c:axId val="2"/>
      </c:lineChart>
      <c:catAx>
        <c:axId val="1088867776"/>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1000"/>
          <c:min val="0"/>
        </c:scaling>
        <c:delete val="0"/>
        <c:axPos val="l"/>
        <c:majorGridlines>
          <c:spPr>
            <a:ln>
              <a:noFill/>
            </a:ln>
          </c:spPr>
        </c:majorGridlines>
        <c:numFmt formatCode="General" sourceLinked="1"/>
        <c:majorTickMark val="out"/>
        <c:minorTickMark val="none"/>
        <c:tickLblPos val="none"/>
        <c:spPr>
          <a:ln w="9525" algn="ctr">
            <a:solidFill>
              <a:schemeClr val="bg1"/>
            </a:solidFill>
            <a:prstDash val="solid"/>
          </a:ln>
        </c:spPr>
        <c:txPr>
          <a:bodyPr wrap="none"/>
          <a:lstStyle/>
          <a:p>
            <a:pPr>
              <a:defRPr sz="1000">
                <a:latin typeface="+mn-lt"/>
                <a:ea typeface="+mn-ea"/>
                <a:cs typeface="+mn-cs"/>
                <a:sym typeface="+mn-lt"/>
              </a:defRPr>
            </a:pPr>
            <a:endParaRPr lang="en-US"/>
          </a:p>
        </c:txPr>
        <c:crossAx val="1088867776"/>
        <c:crosses val="min"/>
        <c:crossBetween val="between"/>
        <c:majorUnit val="200"/>
      </c:valAx>
      <c:valAx>
        <c:axId val="2"/>
        <c:scaling>
          <c:orientation val="minMax"/>
          <c:max val="2"/>
          <c:min val="-1"/>
        </c:scaling>
        <c:delete val="0"/>
        <c:axPos val="r"/>
        <c:majorGridlines>
          <c:spPr>
            <a:ln>
              <a:noFill/>
            </a:ln>
          </c:spPr>
        </c:majorGridlines>
        <c:numFmt formatCode="General" sourceLinked="1"/>
        <c:majorTickMark val="out"/>
        <c:minorTickMark val="none"/>
        <c:tickLblPos val="none"/>
        <c:spPr>
          <a:ln w="9525" algn="ctr">
            <a:solidFill>
              <a:schemeClr val="bg1"/>
            </a:solidFill>
            <a:prstDash val="solid"/>
          </a:ln>
        </c:spPr>
        <c:txPr>
          <a:bodyPr wrap="none"/>
          <a:lstStyle/>
          <a:p>
            <a:pPr>
              <a:defRPr sz="1000">
                <a:latin typeface="+mn-lt"/>
                <a:ea typeface="+mn-ea"/>
                <a:cs typeface="+mn-cs"/>
                <a:sym typeface="+mn-lt"/>
              </a:defRPr>
            </a:pPr>
            <a:endParaRPr lang="en-US"/>
          </a:p>
        </c:txPr>
        <c:crossAx val="3"/>
        <c:crosses val="max"/>
        <c:crossBetween val="between"/>
        <c:majorUnit val="0.5"/>
      </c:valAx>
      <c:catAx>
        <c:axId val="3"/>
        <c:scaling>
          <c:orientation val="minMax"/>
        </c:scaling>
        <c:delete val="1"/>
        <c:axPos val="b"/>
        <c:majorTickMark val="out"/>
        <c:minorTickMark val="none"/>
        <c:tickLblPos val="nextTo"/>
        <c:crossAx val="2"/>
        <c:crosses val="min"/>
        <c:auto val="0"/>
        <c:lblAlgn val="ctr"/>
        <c:lblOffset val="100"/>
        <c:noMultiLvlLbl val="0"/>
      </c:catAx>
    </c:plotArea>
    <c:plotVisOnly val="0"/>
    <c:dispBlanksAs val="gap"/>
    <c:showDLblsOverMax val="1"/>
  </c:chart>
  <c:externalData r:id="rId1">
    <c:autoUpdate val="0"/>
  </c:externalData>
</c:chartSpace>
</file>

<file path=ppt/charts/chart1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723244717109749E-2"/>
          <c:y val="0.15347137637028013"/>
          <c:w val="0.96455351056578054"/>
          <c:h val="0.78319123020706449"/>
        </c:manualLayout>
      </c:layout>
      <c:barChart>
        <c:barDir val="col"/>
        <c:grouping val="stacked"/>
        <c:varyColors val="0"/>
        <c:ser>
          <c:idx val="0"/>
          <c:order val="0"/>
          <c:spPr>
            <a:solidFill>
              <a:schemeClr val="accent4"/>
            </a:solidFill>
            <a:ln>
              <a:noFill/>
            </a:ln>
          </c:spPr>
          <c:invertIfNegative val="0"/>
          <c:dLbls>
            <c:dLbl>
              <c:idx val="0"/>
              <c:layout>
                <c:manualLayout>
                  <c:x val="0"/>
                  <c:y val="-0.16443361753958588"/>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BCC1-4D5E-9416-145227070A58}"/>
                </c:ext>
              </c:extLst>
            </c:dLbl>
            <c:dLbl>
              <c:idx val="1"/>
              <c:layout>
                <c:manualLayout>
                  <c:x val="0"/>
                  <c:y val="-0.26187576126674789"/>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BCC1-4D5E-9416-145227070A58}"/>
                </c:ext>
              </c:extLst>
            </c:dLbl>
            <c:dLbl>
              <c:idx val="2"/>
              <c:layout>
                <c:manualLayout>
                  <c:x val="0"/>
                  <c:y val="-0.38611449451887941"/>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BCC1-4D5E-9416-145227070A58}"/>
                </c:ext>
              </c:extLst>
            </c:dLbl>
            <c:dLbl>
              <c:idx val="3"/>
              <c:layout>
                <c:manualLayout>
                  <c:x val="0"/>
                  <c:y val="-0.4701583434835566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BCC1-4D5E-9416-145227070A5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58.237056832</c:v>
                </c:pt>
                <c:pt idx="1">
                  <c:v>123.36894744</c:v>
                </c:pt>
                <c:pt idx="2">
                  <c:v>207.071347218</c:v>
                </c:pt>
                <c:pt idx="3">
                  <c:v>263.102258979</c:v>
                </c:pt>
              </c:numCache>
            </c:numRef>
          </c:val>
          <c:extLst>
            <c:ext xmlns:c16="http://schemas.microsoft.com/office/drawing/2014/chart" uri="{C3380CC4-5D6E-409C-BE32-E72D297353CC}">
              <c16:uniqueId val="{00000004-BCC1-4D5E-9416-145227070A58}"/>
            </c:ext>
          </c:extLst>
        </c:ser>
        <c:dLbls>
          <c:showLegendKey val="0"/>
          <c:showVal val="0"/>
          <c:showCatName val="0"/>
          <c:showSerName val="0"/>
          <c:showPercent val="0"/>
          <c:showBubbleSize val="0"/>
        </c:dLbls>
        <c:gapWidth val="150"/>
        <c:overlap val="100"/>
        <c:axId val="2125372072"/>
        <c:axId val="1"/>
      </c:barChart>
      <c:catAx>
        <c:axId val="2125372072"/>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263.102258979"/>
          <c:min val="0"/>
        </c:scaling>
        <c:delete val="1"/>
        <c:axPos val="l"/>
        <c:numFmt formatCode="General" sourceLinked="1"/>
        <c:majorTickMark val="out"/>
        <c:minorTickMark val="none"/>
        <c:tickLblPos val="nextTo"/>
        <c:crossAx val="2125372072"/>
        <c:crosses val="min"/>
        <c:crossBetween val="between"/>
      </c:valAx>
    </c:plotArea>
    <c:plotVisOnly val="0"/>
    <c:dispBlanksAs val="gap"/>
    <c:showDLblsOverMax val="1"/>
  </c:chart>
  <c:externalData r:id="rId1">
    <c:autoUpdate val="0"/>
  </c:externalData>
</c:chartSpace>
</file>

<file path=ppt/charts/chart1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2667829119442023E-2"/>
          <c:y val="0.1728395061728395"/>
          <c:w val="0.95466434176111603"/>
          <c:h val="0.75582990397805205"/>
        </c:manualLayout>
      </c:layout>
      <c:barChart>
        <c:barDir val="col"/>
        <c:grouping val="clustered"/>
        <c:varyColors val="0"/>
        <c:ser>
          <c:idx val="0"/>
          <c:order val="0"/>
          <c:spPr>
            <a:solidFill>
              <a:srgbClr val="86BC25"/>
            </a:solidFill>
            <a:ln>
              <a:noFill/>
            </a:ln>
          </c:spPr>
          <c:invertIfNegative val="0"/>
          <c:dLbls>
            <c:dLbl>
              <c:idx val="0"/>
              <c:layout>
                <c:manualLayout>
                  <c:x val="-1.3513513513513514E-2"/>
                  <c:y val="-3.7037037037037035E-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E60D-49C0-894F-42FF194BC176}"/>
                </c:ext>
              </c:extLst>
            </c:dLbl>
            <c:dLbl>
              <c:idx val="1"/>
              <c:layout>
                <c:manualLayout>
                  <c:x val="0"/>
                  <c:y val="-0.1577503429355281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E60D-49C0-894F-42FF194BC176}"/>
                </c:ext>
              </c:extLst>
            </c:dLbl>
            <c:dLbl>
              <c:idx val="2"/>
              <c:layout>
                <c:manualLayout>
                  <c:x val="0"/>
                  <c:y val="-0.20576131687242799"/>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E60D-49C0-894F-42FF194BC176}"/>
                </c:ext>
              </c:extLst>
            </c:dLbl>
            <c:dLbl>
              <c:idx val="3"/>
              <c:layout>
                <c:manualLayout>
                  <c:x val="0"/>
                  <c:y val="-0.37448559670781895"/>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E60D-49C0-894F-42FF194BC176}"/>
                </c:ext>
              </c:extLst>
            </c:dLbl>
            <c:dLbl>
              <c:idx val="4"/>
              <c:layout>
                <c:manualLayout>
                  <c:x val="0"/>
                  <c:y val="-0.4663923182441701"/>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E60D-49C0-894F-42FF194BC17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314.39999999999998</c:v>
                </c:pt>
                <c:pt idx="1">
                  <c:v>875.5</c:v>
                </c:pt>
                <c:pt idx="2">
                  <c:v>1100.9000000000001</c:v>
                </c:pt>
                <c:pt idx="3">
                  <c:v>2668.5</c:v>
                </c:pt>
                <c:pt idx="4">
                  <c:v>3521.7</c:v>
                </c:pt>
              </c:numCache>
            </c:numRef>
          </c:val>
          <c:extLst>
            <c:ext xmlns:c16="http://schemas.microsoft.com/office/drawing/2014/chart" uri="{C3380CC4-5D6E-409C-BE32-E72D297353CC}">
              <c16:uniqueId val="{00000005-E60D-49C0-894F-42FF194BC176}"/>
            </c:ext>
          </c:extLst>
        </c:ser>
        <c:ser>
          <c:idx val="1"/>
          <c:order val="1"/>
          <c:spPr>
            <a:solidFill>
              <a:srgbClr val="046A38"/>
            </a:solidFill>
            <a:ln>
              <a:noFill/>
            </a:ln>
          </c:spPr>
          <c:invertIfNegative val="0"/>
          <c:dLbls>
            <c:dLbl>
              <c:idx val="0"/>
              <c:layout>
                <c:manualLayout>
                  <c:x val="0"/>
                  <c:y val="2.194787379972565E-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E60D-49C0-894F-42FF194BC176}"/>
                </c:ext>
              </c:extLst>
            </c:dLbl>
            <c:dLbl>
              <c:idx val="1"/>
              <c:layout>
                <c:manualLayout>
                  <c:x val="0"/>
                  <c:y val="1.646090534979424E-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E60D-49C0-894F-42FF194BC176}"/>
                </c:ext>
              </c:extLst>
            </c:dLbl>
            <c:dLbl>
              <c:idx val="2"/>
              <c:layout>
                <c:manualLayout>
                  <c:x val="0"/>
                  <c:y val="2.194787379972565E-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E60D-49C0-894F-42FF194BC176}"/>
                </c:ext>
              </c:extLst>
            </c:dLbl>
            <c:dLbl>
              <c:idx val="3"/>
              <c:layout>
                <c:manualLayout>
                  <c:x val="1.3077593722755012E-2"/>
                  <c:y val="-1.646090534979424E-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E60D-49C0-894F-42FF194BC176}"/>
                </c:ext>
              </c:extLst>
            </c:dLbl>
            <c:dLbl>
              <c:idx val="4"/>
              <c:layout>
                <c:manualLayout>
                  <c:x val="1.3077593722755012E-2"/>
                  <c:y val="-5.4869684499314127E-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E60D-49C0-894F-42FF194BC17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Sheet1!$A$2:$E$2</c:f>
              <c:numCache>
                <c:formatCode>General</c:formatCode>
                <c:ptCount val="5"/>
                <c:pt idx="0">
                  <c:v>35.9</c:v>
                </c:pt>
                <c:pt idx="1">
                  <c:v>60.8</c:v>
                </c:pt>
                <c:pt idx="2">
                  <c:v>38.9</c:v>
                </c:pt>
                <c:pt idx="3">
                  <c:v>216.6</c:v>
                </c:pt>
                <c:pt idx="4">
                  <c:v>399</c:v>
                </c:pt>
              </c:numCache>
            </c:numRef>
          </c:val>
          <c:extLst>
            <c:ext xmlns:c16="http://schemas.microsoft.com/office/drawing/2014/chart" uri="{C3380CC4-5D6E-409C-BE32-E72D297353CC}">
              <c16:uniqueId val="{0000000B-E60D-49C0-894F-42FF194BC176}"/>
            </c:ext>
          </c:extLst>
        </c:ser>
        <c:dLbls>
          <c:showLegendKey val="0"/>
          <c:showVal val="0"/>
          <c:showCatName val="0"/>
          <c:showSerName val="0"/>
          <c:showPercent val="0"/>
          <c:showBubbleSize val="0"/>
        </c:dLbls>
        <c:gapWidth val="150"/>
        <c:axId val="828841704"/>
        <c:axId val="1"/>
      </c:barChart>
      <c:catAx>
        <c:axId val="828841704"/>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3521.7"/>
          <c:min val="0"/>
        </c:scaling>
        <c:delete val="1"/>
        <c:axPos val="l"/>
        <c:numFmt formatCode="General" sourceLinked="1"/>
        <c:majorTickMark val="out"/>
        <c:minorTickMark val="none"/>
        <c:tickLblPos val="nextTo"/>
        <c:crossAx val="828841704"/>
        <c:crosses val="min"/>
        <c:crossBetween val="between"/>
      </c:valAx>
    </c:plotArea>
    <c:plotVisOnly val="0"/>
    <c:dispBlanksAs val="gap"/>
    <c:showDLblsOverMax val="1"/>
  </c:chart>
  <c:externalData r:id="rId1">
    <c:autoUpdate val="0"/>
  </c:externalData>
</c:chartSpace>
</file>

<file path=ppt/charts/chart1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303684879288437E-2"/>
          <c:y val="0.11742777260018639"/>
          <c:w val="0.93392630241423125"/>
          <c:h val="0.83410997204100645"/>
        </c:manualLayout>
      </c:layout>
      <c:barChart>
        <c:barDir val="col"/>
        <c:grouping val="stacked"/>
        <c:varyColors val="0"/>
        <c:ser>
          <c:idx val="0"/>
          <c:order val="0"/>
          <c:spPr>
            <a:solidFill>
              <a:srgbClr val="86BC25"/>
            </a:solidFill>
            <a:ln>
              <a:noFill/>
            </a:ln>
          </c:spPr>
          <c:invertIfNegative val="0"/>
          <c:dLbls>
            <c:dLbl>
              <c:idx val="0"/>
              <c:layout>
                <c:manualLayout>
                  <c:x val="0"/>
                  <c:y val="-9.8788443616029828E-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292C-44EA-B84B-D942F224D048}"/>
                </c:ext>
              </c:extLst>
            </c:dLbl>
            <c:dLbl>
              <c:idx val="1"/>
              <c:layout>
                <c:manualLayout>
                  <c:x val="0"/>
                  <c:y val="-0.18546132339235788"/>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292C-44EA-B84B-D942F224D048}"/>
                </c:ext>
              </c:extLst>
            </c:dLbl>
            <c:dLbl>
              <c:idx val="2"/>
              <c:layout>
                <c:manualLayout>
                  <c:x val="0"/>
                  <c:y val="-0.20876048462255359"/>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292C-44EA-B84B-D942F224D048}"/>
                </c:ext>
              </c:extLst>
            </c:dLbl>
            <c:dLbl>
              <c:idx val="3"/>
              <c:layout>
                <c:manualLayout>
                  <c:x val="0"/>
                  <c:y val="-0.38863000931966452"/>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292C-44EA-B84B-D942F224D048}"/>
                </c:ext>
              </c:extLst>
            </c:dLbl>
            <c:dLbl>
              <c:idx val="4"/>
              <c:layout>
                <c:manualLayout>
                  <c:x val="0"/>
                  <c:y val="-0.47716682199440819"/>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292C-44EA-B84B-D942F224D04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0.24906849315068491</c:v>
                </c:pt>
                <c:pt idx="1">
                  <c:v>0.80695890410958915</c:v>
                </c:pt>
                <c:pt idx="2">
                  <c:v>0.95202739726027397</c:v>
                </c:pt>
                <c:pt idx="3">
                  <c:v>2.0999452054794521</c:v>
                </c:pt>
                <c:pt idx="4">
                  <c:v>2.6620547945205479</c:v>
                </c:pt>
              </c:numCache>
            </c:numRef>
          </c:val>
          <c:extLst>
            <c:ext xmlns:c16="http://schemas.microsoft.com/office/drawing/2014/chart" uri="{C3380CC4-5D6E-409C-BE32-E72D297353CC}">
              <c16:uniqueId val="{00000005-292C-44EA-B84B-D942F224D048}"/>
            </c:ext>
          </c:extLst>
        </c:ser>
        <c:dLbls>
          <c:showLegendKey val="0"/>
          <c:showVal val="0"/>
          <c:showCatName val="0"/>
          <c:showSerName val="0"/>
          <c:showPercent val="0"/>
          <c:showBubbleSize val="0"/>
        </c:dLbls>
        <c:gapWidth val="150"/>
        <c:overlap val="100"/>
        <c:axId val="956591464"/>
        <c:axId val="1"/>
      </c:barChart>
      <c:catAx>
        <c:axId val="956591464"/>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2.6620547945205479"/>
          <c:min val="0"/>
        </c:scaling>
        <c:delete val="1"/>
        <c:axPos val="l"/>
        <c:numFmt formatCode="General" sourceLinked="1"/>
        <c:majorTickMark val="out"/>
        <c:minorTickMark val="none"/>
        <c:tickLblPos val="nextTo"/>
        <c:crossAx val="956591464"/>
        <c:crosses val="min"/>
        <c:crossBetween val="between"/>
      </c:valAx>
    </c:plotArea>
    <c:plotVisOnly val="0"/>
    <c:dispBlanksAs val="gap"/>
    <c:showDLblsOverMax val="1"/>
  </c:chart>
  <c:externalData r:id="rId1">
    <c:autoUpdate val="0"/>
  </c:externalData>
</c:chartSpace>
</file>

<file path=ppt/charts/chart1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4982698961937718E-2"/>
          <c:y val="5.2052052052052052E-2"/>
          <c:w val="0.91003460207612463"/>
          <c:h val="0.89589589589589591"/>
        </c:manualLayout>
      </c:layout>
      <c:barChart>
        <c:barDir val="col"/>
        <c:grouping val="stacked"/>
        <c:varyColors val="0"/>
        <c:ser>
          <c:idx val="0"/>
          <c:order val="0"/>
          <c:spPr>
            <a:solidFill>
              <a:schemeClr val="accent4"/>
            </a:solidFill>
            <a:ln>
              <a:noFill/>
            </a:ln>
          </c:spPr>
          <c:invertIfNegative val="0"/>
          <c:val>
            <c:numRef>
              <c:f>Sheet1!$A$1:$B$1</c:f>
              <c:numCache>
                <c:formatCode>General</c:formatCode>
                <c:ptCount val="2"/>
                <c:pt idx="0">
                  <c:v>1.9800000000000002E-2</c:v>
                </c:pt>
                <c:pt idx="1">
                  <c:v>4.1580821917808215E-2</c:v>
                </c:pt>
              </c:numCache>
            </c:numRef>
          </c:val>
          <c:extLst>
            <c:ext xmlns:c16="http://schemas.microsoft.com/office/drawing/2014/chart" uri="{C3380CC4-5D6E-409C-BE32-E72D297353CC}">
              <c16:uniqueId val="{00000000-E2EA-4F9C-9405-D516A6DE404F}"/>
            </c:ext>
          </c:extLst>
        </c:ser>
        <c:ser>
          <c:idx val="1"/>
          <c:order val="1"/>
          <c:spPr>
            <a:solidFill>
              <a:srgbClr val="046A38"/>
            </a:solidFill>
            <a:ln>
              <a:noFill/>
            </a:ln>
          </c:spPr>
          <c:invertIfNegative val="0"/>
          <c:val>
            <c:numRef>
              <c:f>Sheet1!$A$2:$B$2</c:f>
              <c:numCache>
                <c:formatCode>General</c:formatCode>
                <c:ptCount val="2"/>
                <c:pt idx="0">
                  <c:v>2.0855726027397261</c:v>
                </c:pt>
                <c:pt idx="1">
                  <c:v>2.6430219178082193</c:v>
                </c:pt>
              </c:numCache>
            </c:numRef>
          </c:val>
          <c:extLst>
            <c:ext xmlns:c16="http://schemas.microsoft.com/office/drawing/2014/chart" uri="{C3380CC4-5D6E-409C-BE32-E72D297353CC}">
              <c16:uniqueId val="{00000001-E2EA-4F9C-9405-D516A6DE404F}"/>
            </c:ext>
          </c:extLst>
        </c:ser>
        <c:dLbls>
          <c:showLegendKey val="0"/>
          <c:showVal val="0"/>
          <c:showCatName val="0"/>
          <c:showSerName val="0"/>
          <c:showPercent val="0"/>
          <c:showBubbleSize val="0"/>
        </c:dLbls>
        <c:gapWidth val="80"/>
        <c:overlap val="100"/>
        <c:axId val="264023040"/>
        <c:axId val="1"/>
      </c:barChart>
      <c:catAx>
        <c:axId val="26402304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2.6846027397260275"/>
          <c:min val="0"/>
        </c:scaling>
        <c:delete val="1"/>
        <c:axPos val="l"/>
        <c:numFmt formatCode="General" sourceLinked="1"/>
        <c:majorTickMark val="out"/>
        <c:minorTickMark val="none"/>
        <c:tickLblPos val="nextTo"/>
        <c:crossAx val="264023040"/>
        <c:crosses val="min"/>
        <c:crossBetween val="between"/>
      </c:valAx>
    </c:plotArea>
    <c:plotVisOnly val="0"/>
    <c:dispBlanksAs val="gap"/>
    <c:showDLblsOverMax val="1"/>
  </c:chart>
  <c:externalData r:id="rId1">
    <c:autoUpdate val="0"/>
  </c:externalData>
</c:chartSpace>
</file>

<file path=ppt/charts/chart1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455521987244042E-2"/>
          <c:y val="0.20967741935483872"/>
          <c:w val="0.96508895602551192"/>
          <c:h val="0.71407624633431088"/>
        </c:manualLayout>
      </c:layout>
      <c:barChart>
        <c:barDir val="col"/>
        <c:grouping val="clustered"/>
        <c:varyColors val="0"/>
        <c:ser>
          <c:idx val="0"/>
          <c:order val="0"/>
          <c:spPr>
            <a:solidFill>
              <a:srgbClr val="86BC25"/>
            </a:solidFill>
            <a:ln>
              <a:noFill/>
            </a:ln>
          </c:spPr>
          <c:invertIfNegative val="0"/>
          <c:dLbls>
            <c:dLbl>
              <c:idx val="0"/>
              <c:layout>
                <c:manualLayout>
                  <c:x val="0"/>
                  <c:y val="-1.7595307917888565E-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BDD-4749-A03C-550E3FBCDDBF}"/>
                </c:ext>
              </c:extLst>
            </c:dLbl>
            <c:dLbl>
              <c:idx val="1"/>
              <c:layout>
                <c:manualLayout>
                  <c:x val="0"/>
                  <c:y val="-0.12609970674486803"/>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7BDD-4749-A03C-550E3FBCDDBF}"/>
                </c:ext>
              </c:extLst>
            </c:dLbl>
            <c:dLbl>
              <c:idx val="2"/>
              <c:layout>
                <c:manualLayout>
                  <c:x val="-1.8798254447801276E-2"/>
                  <c:y val="-0.16422287390029325"/>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7BDD-4749-A03C-550E3FBCDDBF}"/>
                </c:ext>
              </c:extLst>
            </c:dLbl>
            <c:dLbl>
              <c:idx val="3"/>
              <c:layout>
                <c:manualLayout>
                  <c:x val="-1.5441423296408191E-2"/>
                  <c:y val="-0.325513196480938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7BDD-4749-A03C-550E3FBCDDBF}"/>
                </c:ext>
              </c:extLst>
            </c:dLbl>
            <c:dLbl>
              <c:idx val="4"/>
              <c:layout>
                <c:manualLayout>
                  <c:x val="-1.6784155756965426E-2"/>
                  <c:y val="-0.39296187683284456"/>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7BDD-4749-A03C-550E3FBCDDB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262.89999999999998</c:v>
                </c:pt>
                <c:pt idx="1">
                  <c:v>844.5</c:v>
                </c:pt>
                <c:pt idx="2">
                  <c:v>1042.7</c:v>
                </c:pt>
                <c:pt idx="3">
                  <c:v>2470.1</c:v>
                </c:pt>
                <c:pt idx="4">
                  <c:v>3179.5</c:v>
                </c:pt>
              </c:numCache>
            </c:numRef>
          </c:val>
          <c:extLst>
            <c:ext xmlns:c16="http://schemas.microsoft.com/office/drawing/2014/chart" uri="{C3380CC4-5D6E-409C-BE32-E72D297353CC}">
              <c16:uniqueId val="{00000005-7BDD-4749-A03C-550E3FBCDDBF}"/>
            </c:ext>
          </c:extLst>
        </c:ser>
        <c:ser>
          <c:idx val="1"/>
          <c:order val="1"/>
          <c:spPr>
            <a:solidFill>
              <a:srgbClr val="046A38"/>
            </a:solidFill>
            <a:ln>
              <a:noFill/>
            </a:ln>
          </c:spPr>
          <c:invertIfNegative val="0"/>
          <c:dLbls>
            <c:dLbl>
              <c:idx val="0"/>
              <c:layout>
                <c:manualLayout>
                  <c:x val="6.7136623027861698E-4"/>
                  <c:y val="-5.8651026392961877E-3"/>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7BDD-4749-A03C-550E3FBCDDBF}"/>
                </c:ext>
              </c:extLst>
            </c:dLbl>
            <c:dLbl>
              <c:idx val="1"/>
              <c:layout>
                <c:manualLayout>
                  <c:x val="6.7136623027861698E-4"/>
                  <c:y val="-0.12903225806451613"/>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7BDD-4749-A03C-550E3FBCDDBF}"/>
                </c:ext>
              </c:extLst>
            </c:dLbl>
            <c:dLbl>
              <c:idx val="2"/>
              <c:layout>
                <c:manualLayout>
                  <c:x val="0"/>
                  <c:y val="-0.1099706744868035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7BDD-4749-A03C-550E3FBCDDBF}"/>
                </c:ext>
              </c:extLst>
            </c:dLbl>
            <c:dLbl>
              <c:idx val="3"/>
              <c:layout>
                <c:manualLayout>
                  <c:x val="1.6784155756965426E-2"/>
                  <c:y val="-0.31671554252199413"/>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7BDD-4749-A03C-550E3FBCDDBF}"/>
                </c:ext>
              </c:extLst>
            </c:dLbl>
            <c:dLbl>
              <c:idx val="4"/>
              <c:layout>
                <c:manualLayout>
                  <c:x val="0"/>
                  <c:y val="-0.47507331378299122"/>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7BDD-4749-A03C-550E3FBCDDB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Sheet1!$A$2:$E$2</c:f>
              <c:numCache>
                <c:formatCode>General</c:formatCode>
                <c:ptCount val="5"/>
                <c:pt idx="0">
                  <c:v>198.9</c:v>
                </c:pt>
                <c:pt idx="1">
                  <c:v>854.1</c:v>
                </c:pt>
                <c:pt idx="2">
                  <c:v>757.4</c:v>
                </c:pt>
                <c:pt idx="3">
                  <c:v>2379.1</c:v>
                </c:pt>
                <c:pt idx="4">
                  <c:v>3796.8</c:v>
                </c:pt>
              </c:numCache>
            </c:numRef>
          </c:val>
          <c:extLst>
            <c:ext xmlns:c16="http://schemas.microsoft.com/office/drawing/2014/chart" uri="{C3380CC4-5D6E-409C-BE32-E72D297353CC}">
              <c16:uniqueId val="{0000000B-7BDD-4749-A03C-550E3FBCDDBF}"/>
            </c:ext>
          </c:extLst>
        </c:ser>
        <c:dLbls>
          <c:showLegendKey val="0"/>
          <c:showVal val="0"/>
          <c:showCatName val="0"/>
          <c:showSerName val="0"/>
          <c:showPercent val="0"/>
          <c:showBubbleSize val="0"/>
        </c:dLbls>
        <c:gapWidth val="150"/>
        <c:axId val="1255306440"/>
        <c:axId val="1"/>
      </c:barChart>
      <c:catAx>
        <c:axId val="1255306440"/>
        <c:scaling>
          <c:orientation val="minMax"/>
        </c:scaling>
        <c:delete val="0"/>
        <c:axPos val="b"/>
        <c:majorGridlines>
          <c:spPr>
            <a:ln>
              <a:noFill/>
            </a:ln>
          </c:spPr>
        </c:majorGridlines>
        <c:majorTickMark val="out"/>
        <c:minorTickMark val="none"/>
        <c:tickLblPos val="none"/>
        <c:spPr>
          <a:ln w="9525">
            <a:solidFill>
              <a:schemeClr val="tx1"/>
            </a:solidFill>
            <a:prstDash val="solid"/>
          </a:ln>
        </c:spPr>
        <c:txPr>
          <a:bodyPr wrap="none"/>
          <a:lstStyle/>
          <a:p>
            <a:pPr>
              <a:defRPr sz="1000">
                <a:solidFill>
                  <a:schemeClr val="tx1"/>
                </a:solidFill>
                <a:latin typeface="+mn-lt"/>
                <a:ea typeface="+mn-ea"/>
                <a:cs typeface="+mn-cs"/>
                <a:sym typeface="+mn-lt"/>
              </a:defRPr>
            </a:pPr>
            <a:endParaRPr lang="en-US"/>
          </a:p>
        </c:txPr>
        <c:crossAx val="1"/>
        <c:crosses val="min"/>
        <c:auto val="0"/>
        <c:lblAlgn val="ctr"/>
        <c:lblOffset val="100"/>
        <c:noMultiLvlLbl val="0"/>
      </c:catAx>
      <c:valAx>
        <c:axId val="1"/>
        <c:scaling>
          <c:orientation val="minMax"/>
          <c:max val="3796.8"/>
          <c:min val="0"/>
        </c:scaling>
        <c:delete val="1"/>
        <c:axPos val="l"/>
        <c:numFmt formatCode="General" sourceLinked="1"/>
        <c:majorTickMark val="out"/>
        <c:minorTickMark val="none"/>
        <c:tickLblPos val="nextTo"/>
        <c:crossAx val="1255306440"/>
        <c:crosses val="min"/>
        <c:crossBetween val="between"/>
      </c:valAx>
    </c:plotArea>
    <c:plotVisOnly val="0"/>
    <c:dispBlanksAs val="gap"/>
    <c:showDLblsOverMax val="1"/>
  </c:chart>
  <c:externalData r:id="rId1">
    <c:autoUpdate val="0"/>
  </c:externalData>
</c:chartSpace>
</file>

<file path=ppt/charts/chart1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Debt Equity Ratio</c:v>
                </c:pt>
              </c:strCache>
            </c:strRef>
          </c:tx>
          <c:spPr>
            <a:ln w="28575" cap="rnd">
              <a:solidFill>
                <a:schemeClr val="accent1"/>
              </a:solidFill>
              <a:round/>
            </a:ln>
            <a:effectLst/>
          </c:spPr>
          <c:marker>
            <c:symbol val="circle"/>
            <c:size val="5"/>
            <c:spPr>
              <a:solidFill>
                <a:schemeClr val="accent1"/>
              </a:solidFill>
              <a:ln w="9525">
                <a:solidFill>
                  <a:schemeClr val="accent1"/>
                </a:solidFill>
              </a:ln>
              <a:effectLst/>
            </c:spPr>
          </c:marker>
          <c:dLbls>
            <c:numFmt formatCode="#,##0.00" sourceLinked="0"/>
            <c:spPr>
              <a:solidFill>
                <a:schemeClr val="accent1"/>
              </a:solidFill>
              <a:ln>
                <a:noFill/>
              </a:ln>
              <a:effectLst/>
            </c:spPr>
            <c:txPr>
              <a:bodyPr rot="0" spcFirstLastPara="1" vertOverflow="ellipsis" vert="horz" wrap="square" anchor="ctr" anchorCtr="1"/>
              <a:lstStyle/>
              <a:p>
                <a:pPr>
                  <a:defRPr sz="1000" b="0" i="0" u="none" strike="noStrike" kern="1200" baseline="0">
                    <a:solidFill>
                      <a:schemeClr val="bg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FY16</c:v>
                </c:pt>
                <c:pt idx="1">
                  <c:v>FY17</c:v>
                </c:pt>
                <c:pt idx="2">
                  <c:v>FY18</c:v>
                </c:pt>
                <c:pt idx="3">
                  <c:v>FY19</c:v>
                </c:pt>
              </c:strCache>
            </c:strRef>
          </c:cat>
          <c:val>
            <c:numRef>
              <c:f>Sheet1!$B$2:$B$5</c:f>
              <c:numCache>
                <c:formatCode>General</c:formatCode>
                <c:ptCount val="4"/>
                <c:pt idx="0">
                  <c:v>5.9783670621074672</c:v>
                </c:pt>
                <c:pt idx="1">
                  <c:v>5.7842605156037994</c:v>
                </c:pt>
                <c:pt idx="2">
                  <c:v>4.2727272727272734</c:v>
                </c:pt>
                <c:pt idx="3">
                  <c:v>4.0632911392405067</c:v>
                </c:pt>
              </c:numCache>
            </c:numRef>
          </c:val>
          <c:smooth val="0"/>
          <c:extLst>
            <c:ext xmlns:c16="http://schemas.microsoft.com/office/drawing/2014/chart" uri="{C3380CC4-5D6E-409C-BE32-E72D297353CC}">
              <c16:uniqueId val="{00000000-83BC-4FEF-B567-A12DDEF0709F}"/>
            </c:ext>
          </c:extLst>
        </c:ser>
        <c:ser>
          <c:idx val="1"/>
          <c:order val="1"/>
          <c:tx>
            <c:strRef>
              <c:f>Sheet1!$C$1</c:f>
              <c:strCache>
                <c:ptCount val="1"/>
                <c:pt idx="0">
                  <c:v>Current Ratio</c:v>
                </c:pt>
              </c:strCache>
            </c:strRef>
          </c:tx>
          <c:spPr>
            <a:ln w="28575" cap="rnd">
              <a:solidFill>
                <a:schemeClr val="accent2"/>
              </a:solidFill>
              <a:round/>
            </a:ln>
            <a:effectLst/>
          </c:spPr>
          <c:marker>
            <c:symbol val="circle"/>
            <c:size val="5"/>
            <c:spPr>
              <a:solidFill>
                <a:schemeClr val="accent2"/>
              </a:solidFill>
              <a:ln w="9525">
                <a:solidFill>
                  <a:schemeClr val="accent2"/>
                </a:solidFill>
              </a:ln>
              <a:effectLst/>
            </c:spPr>
          </c:marker>
          <c:dLbls>
            <c:dLbl>
              <c:idx val="3"/>
              <c:layout>
                <c:manualLayout>
                  <c:x val="-1.909777509595012E-2"/>
                  <c:y val="5.004989870825927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3BC-4FEF-B567-A12DDEF0709F}"/>
                </c:ext>
              </c:extLst>
            </c:dLbl>
            <c:spPr>
              <a:solidFill>
                <a:schemeClr val="accent2"/>
              </a:solidFill>
              <a:ln>
                <a:noFill/>
              </a:ln>
              <a:effectLst/>
            </c:spPr>
            <c:txPr>
              <a:bodyPr rot="0" spcFirstLastPara="1" vertOverflow="ellipsis" vert="horz" wrap="square" anchor="ctr" anchorCtr="1"/>
              <a:lstStyle/>
              <a:p>
                <a:pPr>
                  <a:defRPr sz="1000" b="0" i="0" u="none" strike="noStrike" kern="1200" baseline="0">
                    <a:solidFill>
                      <a:schemeClr val="bg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FY16</c:v>
                </c:pt>
                <c:pt idx="1">
                  <c:v>FY17</c:v>
                </c:pt>
                <c:pt idx="2">
                  <c:v>FY18</c:v>
                </c:pt>
                <c:pt idx="3">
                  <c:v>FY19</c:v>
                </c:pt>
              </c:strCache>
            </c:strRef>
          </c:cat>
          <c:val>
            <c:numRef>
              <c:f>Sheet1!$C$2:$C$5</c:f>
              <c:numCache>
                <c:formatCode>General</c:formatCode>
                <c:ptCount val="4"/>
                <c:pt idx="0">
                  <c:v>1.51</c:v>
                </c:pt>
                <c:pt idx="1">
                  <c:v>1.28</c:v>
                </c:pt>
                <c:pt idx="2">
                  <c:v>1.4</c:v>
                </c:pt>
                <c:pt idx="3">
                  <c:v>1.86</c:v>
                </c:pt>
              </c:numCache>
            </c:numRef>
          </c:val>
          <c:smooth val="0"/>
          <c:extLst>
            <c:ext xmlns:c16="http://schemas.microsoft.com/office/drawing/2014/chart" uri="{C3380CC4-5D6E-409C-BE32-E72D297353CC}">
              <c16:uniqueId val="{00000001-83BC-4FEF-B567-A12DDEF0709F}"/>
            </c:ext>
          </c:extLst>
        </c:ser>
        <c:dLbls>
          <c:dLblPos val="t"/>
          <c:showLegendKey val="0"/>
          <c:showVal val="1"/>
          <c:showCatName val="0"/>
          <c:showSerName val="0"/>
          <c:showPercent val="0"/>
          <c:showBubbleSize val="0"/>
        </c:dLbls>
        <c:marker val="1"/>
        <c:smooth val="0"/>
        <c:axId val="956589496"/>
        <c:axId val="956587856"/>
      </c:lineChart>
      <c:catAx>
        <c:axId val="956589496"/>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956587856"/>
        <c:crosses val="autoZero"/>
        <c:auto val="1"/>
        <c:lblAlgn val="ctr"/>
        <c:lblOffset val="100"/>
        <c:noMultiLvlLbl val="0"/>
      </c:catAx>
      <c:valAx>
        <c:axId val="956587856"/>
        <c:scaling>
          <c:orientation val="minMax"/>
        </c:scaling>
        <c:delete val="1"/>
        <c:axPos val="l"/>
        <c:numFmt formatCode="General" sourceLinked="1"/>
        <c:majorTickMark val="none"/>
        <c:minorTickMark val="none"/>
        <c:tickLblPos val="nextTo"/>
        <c:crossAx val="95658949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000">
          <a:solidFill>
            <a:schemeClr val="tx1"/>
          </a:solidFill>
        </a:defRPr>
      </a:pPr>
      <a:endParaRPr lang="en-US"/>
    </a:p>
  </c:txPr>
  <c:externalData r:id="rId3">
    <c:autoUpdate val="0"/>
  </c:externalData>
</c:chartSpace>
</file>

<file path=ppt/charts/chart1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5575364667747E-2"/>
          <c:y val="5.9838895281933258E-2"/>
          <c:w val="0.96628849270664496"/>
          <c:h val="0.79516685845799773"/>
        </c:manualLayout>
      </c:layout>
      <c:barChart>
        <c:barDir val="col"/>
        <c:grouping val="clustered"/>
        <c:varyColors val="0"/>
        <c:ser>
          <c:idx val="0"/>
          <c:order val="0"/>
          <c:spPr>
            <a:solidFill>
              <a:srgbClr val="86BC25"/>
            </a:solidFill>
            <a:ln>
              <a:noFill/>
            </a:ln>
          </c:spPr>
          <c:invertIfNegative val="0"/>
          <c:dLbls>
            <c:dLbl>
              <c:idx val="0"/>
              <c:layout>
                <c:manualLayout>
                  <c:x val="0"/>
                  <c:y val="-0.46605293440736478"/>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096E-4393-9846-5BCD91A9E197}"/>
                </c:ext>
              </c:extLst>
            </c:dLbl>
            <c:dLbl>
              <c:idx val="1"/>
              <c:layout>
                <c:manualLayout>
                  <c:x val="0"/>
                  <c:y val="-0.46720368239355581"/>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096E-4393-9846-5BCD91A9E197}"/>
                </c:ext>
              </c:extLst>
            </c:dLbl>
            <c:dLbl>
              <c:idx val="2"/>
              <c:layout>
                <c:manualLayout>
                  <c:x val="0"/>
                  <c:y val="-0.47065592635212888"/>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096E-4393-9846-5BCD91A9E19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-20.088999999999999</c:v>
                </c:pt>
                <c:pt idx="1">
                  <c:v>-20.093</c:v>
                </c:pt>
                <c:pt idx="2">
                  <c:v>-20.312000000000001</c:v>
                </c:pt>
              </c:numCache>
            </c:numRef>
          </c:val>
          <c:extLst>
            <c:ext xmlns:c16="http://schemas.microsoft.com/office/drawing/2014/chart" uri="{C3380CC4-5D6E-409C-BE32-E72D297353CC}">
              <c16:uniqueId val="{00000003-096E-4393-9846-5BCD91A9E197}"/>
            </c:ext>
          </c:extLst>
        </c:ser>
        <c:ser>
          <c:idx val="1"/>
          <c:order val="1"/>
          <c:spPr>
            <a:solidFill>
              <a:srgbClr val="046A38"/>
            </a:solidFill>
            <a:ln>
              <a:noFill/>
            </a:ln>
          </c:spPr>
          <c:invertIfNegative val="0"/>
          <c:dLbls>
            <c:dLbl>
              <c:idx val="0"/>
              <c:layout>
                <c:manualLayout>
                  <c:x val="0"/>
                  <c:y val="-0.4234752589182969"/>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096E-4393-9846-5BCD91A9E197}"/>
                </c:ext>
              </c:extLst>
            </c:dLbl>
            <c:dLbl>
              <c:idx val="1"/>
              <c:layout>
                <c:manualLayout>
                  <c:x val="0"/>
                  <c:y val="-0.44073647871116228"/>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096E-4393-9846-5BCD91A9E197}"/>
                </c:ext>
              </c:extLst>
            </c:dLbl>
            <c:dLbl>
              <c:idx val="2"/>
              <c:layout>
                <c:manualLayout>
                  <c:x val="0"/>
                  <c:y val="-0.43037974683544306"/>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096E-4393-9846-5BCD91A9E19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-17.883055851000002</c:v>
                </c:pt>
                <c:pt idx="1">
                  <c:v>-18.742590743000001</c:v>
                </c:pt>
                <c:pt idx="2">
                  <c:v>-18.256851360999999</c:v>
                </c:pt>
              </c:numCache>
            </c:numRef>
          </c:val>
          <c:extLst>
            <c:ext xmlns:c16="http://schemas.microsoft.com/office/drawing/2014/chart" uri="{C3380CC4-5D6E-409C-BE32-E72D297353CC}">
              <c16:uniqueId val="{00000007-096E-4393-9846-5BCD91A9E197}"/>
            </c:ext>
          </c:extLst>
        </c:ser>
        <c:dLbls>
          <c:showLegendKey val="0"/>
          <c:showVal val="0"/>
          <c:showCatName val="0"/>
          <c:showSerName val="0"/>
          <c:showPercent val="0"/>
          <c:showBubbleSize val="0"/>
        </c:dLbls>
        <c:gapWidth val="150"/>
        <c:axId val="554616384"/>
        <c:axId val="1"/>
      </c:barChart>
      <c:catAx>
        <c:axId val="554616384"/>
        <c:scaling>
          <c:orientation val="minMax"/>
        </c:scaling>
        <c:delete val="0"/>
        <c:axPos val="t"/>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ax"/>
        <c:auto val="0"/>
        <c:lblAlgn val="ctr"/>
        <c:lblOffset val="100"/>
        <c:noMultiLvlLbl val="0"/>
      </c:catAx>
      <c:valAx>
        <c:axId val="1"/>
        <c:scaling>
          <c:orientation val="minMax"/>
          <c:max val="0"/>
          <c:min val="-20.312000000000001"/>
        </c:scaling>
        <c:delete val="1"/>
        <c:axPos val="l"/>
        <c:numFmt formatCode="General" sourceLinked="1"/>
        <c:majorTickMark val="out"/>
        <c:minorTickMark val="none"/>
        <c:tickLblPos val="nextTo"/>
        <c:crossAx val="554616384"/>
        <c:crosses val="min"/>
        <c:crossBetween val="between"/>
      </c:valAx>
    </c:plotArea>
    <c:plotVisOnly val="0"/>
    <c:dispBlanksAs val="gap"/>
    <c:showDLblsOverMax val="1"/>
  </c:chart>
  <c:externalData r:id="rId1">
    <c:autoUpdate val="0"/>
  </c:externalData>
</c:chartSpace>
</file>

<file path=ppt/charts/chart1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5575364667747E-2"/>
          <c:y val="6.096131301289566E-2"/>
          <c:w val="0.96628849270664496"/>
          <c:h val="0.8780773739742086"/>
        </c:manualLayout>
      </c:layout>
      <c:barChart>
        <c:barDir val="col"/>
        <c:grouping val="stacked"/>
        <c:varyColors val="0"/>
        <c:ser>
          <c:idx val="0"/>
          <c:order val="0"/>
          <c:spPr>
            <a:solidFill>
              <a:srgbClr val="86BC25"/>
            </a:solidFill>
            <a:ln>
              <a:noFill/>
            </a:ln>
          </c:spPr>
          <c:invertIfNegative val="0"/>
          <c:dLbls>
            <c:dLbl>
              <c:idx val="0"/>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3001-422D-A5DD-B178F01741A1}"/>
                </c:ext>
              </c:extLst>
            </c:dLbl>
            <c:dLbl>
              <c:idx val="1"/>
              <c:layout>
                <c:manualLayout>
                  <c:x val="0"/>
                  <c:y val="-1.1723329425556857E-3"/>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3001-422D-A5DD-B178F01741A1}"/>
                </c:ext>
              </c:extLst>
            </c:dLbl>
            <c:dLbl>
              <c:idx val="2"/>
              <c:layout>
                <c:manualLayout>
                  <c:x val="0"/>
                  <c:y val="-1.1723329425556857E-3"/>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3001-422D-A5DD-B178F01741A1}"/>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34.511371478000001</c:v>
                </c:pt>
                <c:pt idx="1">
                  <c:v>50.268686217000003</c:v>
                </c:pt>
                <c:pt idx="2">
                  <c:v>117.785081694</c:v>
                </c:pt>
              </c:numCache>
            </c:numRef>
          </c:val>
          <c:extLst>
            <c:ext xmlns:c16="http://schemas.microsoft.com/office/drawing/2014/chart" uri="{C3380CC4-5D6E-409C-BE32-E72D297353CC}">
              <c16:uniqueId val="{00000003-3001-422D-A5DD-B178F01741A1}"/>
            </c:ext>
          </c:extLst>
        </c:ser>
        <c:ser>
          <c:idx val="1"/>
          <c:order val="1"/>
          <c:spPr>
            <a:solidFill>
              <a:srgbClr val="046A38"/>
            </a:solidFill>
            <a:ln>
              <a:noFill/>
            </a:ln>
          </c:spPr>
          <c:invertIfNegative val="0"/>
          <c:dLbls>
            <c:dLbl>
              <c:idx val="0"/>
              <c:layout>
                <c:manualLayout>
                  <c:x val="0"/>
                  <c:y val="-1.1723329425556857E-3"/>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3001-422D-A5DD-B178F01741A1}"/>
                </c:ext>
              </c:extLst>
            </c:dLbl>
            <c:dLbl>
              <c:idx val="2"/>
              <c:layout>
                <c:manualLayout>
                  <c:x val="0"/>
                  <c:y val="0"/>
                </c:manualLayout>
              </c:layout>
              <c:numFmt formatCode="#,##0;&quot;-&quot;#,##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3001-422D-A5DD-B178F01741A1}"/>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51.317081090000002</c:v>
                </c:pt>
                <c:pt idx="1">
                  <c:v>18.992895761000007</c:v>
                </c:pt>
                <c:pt idx="2">
                  <c:v>54.60279315999999</c:v>
                </c:pt>
              </c:numCache>
            </c:numRef>
          </c:val>
          <c:extLst>
            <c:ext xmlns:c16="http://schemas.microsoft.com/office/drawing/2014/chart" uri="{C3380CC4-5D6E-409C-BE32-E72D297353CC}">
              <c16:uniqueId val="{00000006-3001-422D-A5DD-B178F01741A1}"/>
            </c:ext>
          </c:extLst>
        </c:ser>
        <c:ser>
          <c:idx val="2"/>
          <c:order val="2"/>
          <c:spPr>
            <a:solidFill>
              <a:srgbClr val="62B5E5"/>
            </a:solidFill>
            <a:ln>
              <a:noFill/>
            </a:ln>
          </c:spPr>
          <c:invertIfNegative val="0"/>
          <c:val>
            <c:numRef>
              <c:f>Sheet1!$A$3:$C$3</c:f>
              <c:numCache>
                <c:formatCode>General</c:formatCode>
                <c:ptCount val="3"/>
                <c:pt idx="0">
                  <c:v>17.637070418999997</c:v>
                </c:pt>
                <c:pt idx="1">
                  <c:v>18.386929237999993</c:v>
                </c:pt>
                <c:pt idx="2">
                  <c:v>18.999518396000013</c:v>
                </c:pt>
              </c:numCache>
            </c:numRef>
          </c:val>
          <c:extLst>
            <c:ext xmlns:c16="http://schemas.microsoft.com/office/drawing/2014/chart" uri="{C3380CC4-5D6E-409C-BE32-E72D297353CC}">
              <c16:uniqueId val="{00000007-3001-422D-A5DD-B178F01741A1}"/>
            </c:ext>
          </c:extLst>
        </c:ser>
        <c:ser>
          <c:idx val="3"/>
          <c:order val="3"/>
          <c:spPr>
            <a:solidFill>
              <a:srgbClr val="012169"/>
            </a:solidFill>
            <a:ln>
              <a:noFill/>
            </a:ln>
          </c:spPr>
          <c:invertIfNegative val="0"/>
          <c:val>
            <c:numRef>
              <c:f>Sheet1!$A$4:$C$4</c:f>
              <c:numCache>
                <c:formatCode>General</c:formatCode>
                <c:ptCount val="3"/>
                <c:pt idx="0">
                  <c:v>1.4999999999929514E-3</c:v>
                </c:pt>
                <c:pt idx="1">
                  <c:v>1.4999999999929514E-3</c:v>
                </c:pt>
                <c:pt idx="2">
                  <c:v>1.4999999999929514E-3</c:v>
                </c:pt>
              </c:numCache>
            </c:numRef>
          </c:val>
          <c:extLst>
            <c:ext xmlns:c16="http://schemas.microsoft.com/office/drawing/2014/chart" uri="{C3380CC4-5D6E-409C-BE32-E72D297353CC}">
              <c16:uniqueId val="{00000008-3001-422D-A5DD-B178F01741A1}"/>
            </c:ext>
          </c:extLst>
        </c:ser>
        <c:dLbls>
          <c:showLegendKey val="0"/>
          <c:showVal val="0"/>
          <c:showCatName val="0"/>
          <c:showSerName val="0"/>
          <c:showPercent val="0"/>
          <c:showBubbleSize val="0"/>
        </c:dLbls>
        <c:gapWidth val="80"/>
        <c:overlap val="100"/>
        <c:axId val="1710091600"/>
        <c:axId val="1"/>
      </c:barChart>
      <c:catAx>
        <c:axId val="171009160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191.38889325"/>
          <c:min val="0"/>
        </c:scaling>
        <c:delete val="1"/>
        <c:axPos val="l"/>
        <c:numFmt formatCode="General" sourceLinked="1"/>
        <c:majorTickMark val="out"/>
        <c:minorTickMark val="none"/>
        <c:tickLblPos val="nextTo"/>
        <c:crossAx val="1710091600"/>
        <c:crosses val="min"/>
        <c:crossBetween val="between"/>
      </c:valAx>
    </c:plotArea>
    <c:plotVisOnly val="0"/>
    <c:dispBlanksAs val="gap"/>
    <c:showDLblsOverMax val="1"/>
  </c:chart>
  <c:externalData r:id="rId1">
    <c:autoUpdate val="0"/>
  </c:externalData>
</c:chartSpace>
</file>

<file path=ppt/charts/chart1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44833171363784E-2"/>
          <c:y val="0.11239964317573596"/>
          <c:w val="0.96631033365727248"/>
          <c:h val="0.84121320249776987"/>
        </c:manualLayout>
      </c:layout>
      <c:barChart>
        <c:barDir val="col"/>
        <c:grouping val="stacked"/>
        <c:varyColors val="0"/>
        <c:ser>
          <c:idx val="0"/>
          <c:order val="0"/>
          <c:spPr>
            <a:noFill/>
            <a:ln>
              <a:noFill/>
            </a:ln>
          </c:spPr>
          <c:invertIfNegative val="0"/>
          <c:dPt>
            <c:idx val="0"/>
            <c:invertIfNegative val="0"/>
            <c:bubble3D val="0"/>
            <c:spPr>
              <a:solidFill>
                <a:srgbClr val="86BC25"/>
              </a:solidFill>
              <a:ln>
                <a:noFill/>
              </a:ln>
            </c:spPr>
            <c:extLst>
              <c:ext xmlns:c16="http://schemas.microsoft.com/office/drawing/2014/chart" uri="{C3380CC4-5D6E-409C-BE32-E72D297353CC}">
                <c16:uniqueId val="{00000000-6FD6-4CE2-8E78-7BDEF49861D3}"/>
              </c:ext>
            </c:extLst>
          </c:dPt>
          <c:dPt>
            <c:idx val="5"/>
            <c:invertIfNegative val="0"/>
            <c:bubble3D val="0"/>
            <c:spPr>
              <a:solidFill>
                <a:schemeClr val="accent4"/>
              </a:solidFill>
              <a:ln>
                <a:noFill/>
              </a:ln>
            </c:spPr>
            <c:extLst>
              <c:ext xmlns:c16="http://schemas.microsoft.com/office/drawing/2014/chart" uri="{C3380CC4-5D6E-409C-BE32-E72D297353CC}">
                <c16:uniqueId val="{00000001-6FD6-4CE2-8E78-7BDEF49861D3}"/>
              </c:ext>
            </c:extLst>
          </c:dPt>
          <c:dLbls>
            <c:dLbl>
              <c:idx val="0"/>
              <c:layout>
                <c:manualLayout>
                  <c:x val="0"/>
                  <c:y val="-0.17841213202497769"/>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6FD6-4CE2-8E78-7BDEF49861D3}"/>
                </c:ext>
              </c:extLst>
            </c:dLbl>
            <c:dLbl>
              <c:idx val="5"/>
              <c:layout>
                <c:manualLayout>
                  <c:x val="0"/>
                  <c:y val="-0.47814451382694023"/>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6FD6-4CE2-8E78-7BDEF49861D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Sheet1!$A$1:$F$1</c:f>
              <c:numCache>
                <c:formatCode>General</c:formatCode>
                <c:ptCount val="6"/>
                <c:pt idx="0">
                  <c:v>5498</c:v>
                </c:pt>
                <c:pt idx="1">
                  <c:v>5498</c:v>
                </c:pt>
                <c:pt idx="2">
                  <c:v>9758</c:v>
                </c:pt>
                <c:pt idx="3">
                  <c:v>16261</c:v>
                </c:pt>
                <c:pt idx="4">
                  <c:v>17801</c:v>
                </c:pt>
                <c:pt idx="5">
                  <c:v>18961</c:v>
                </c:pt>
              </c:numCache>
            </c:numRef>
          </c:val>
          <c:extLst>
            <c:ext xmlns:c16="http://schemas.microsoft.com/office/drawing/2014/chart" uri="{C3380CC4-5D6E-409C-BE32-E72D297353CC}">
              <c16:uniqueId val="{00000002-6FD6-4CE2-8E78-7BDEF49861D3}"/>
            </c:ext>
          </c:extLst>
        </c:ser>
        <c:ser>
          <c:idx val="1"/>
          <c:order val="1"/>
          <c:spPr>
            <a:solidFill>
              <a:srgbClr val="86BC25"/>
            </a:solidFill>
            <a:ln>
              <a:noFill/>
            </a:ln>
          </c:spPr>
          <c:invertIfNegative val="0"/>
          <c:dPt>
            <c:idx val="2"/>
            <c:invertIfNegative val="0"/>
            <c:bubble3D val="0"/>
            <c:spPr>
              <a:solidFill>
                <a:schemeClr val="accent2"/>
              </a:solidFill>
              <a:ln>
                <a:noFill/>
              </a:ln>
            </c:spPr>
            <c:extLst>
              <c:ext xmlns:c16="http://schemas.microsoft.com/office/drawing/2014/chart" uri="{C3380CC4-5D6E-409C-BE32-E72D297353CC}">
                <c16:uniqueId val="{00000003-6FD6-4CE2-8E78-7BDEF49861D3}"/>
              </c:ext>
            </c:extLst>
          </c:dPt>
          <c:dPt>
            <c:idx val="3"/>
            <c:invertIfNegative val="0"/>
            <c:bubble3D val="0"/>
            <c:spPr>
              <a:solidFill>
                <a:schemeClr val="accent2"/>
              </a:solidFill>
              <a:ln>
                <a:noFill/>
              </a:ln>
            </c:spPr>
            <c:extLst>
              <c:ext xmlns:c16="http://schemas.microsoft.com/office/drawing/2014/chart" uri="{C3380CC4-5D6E-409C-BE32-E72D297353CC}">
                <c16:uniqueId val="{00000004-6FD6-4CE2-8E78-7BDEF49861D3}"/>
              </c:ext>
            </c:extLst>
          </c:dPt>
          <c:dLbls>
            <c:dLbl>
              <c:idx val="1"/>
              <c:layout>
                <c:manualLayout>
                  <c:x val="0"/>
                  <c:y val="0"/>
                </c:manualLayout>
              </c:layout>
              <c:numFmt formatCode="#,##0;#,##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6FD6-4CE2-8E78-7BDEF49861D3}"/>
                </c:ext>
              </c:extLst>
            </c:dLbl>
            <c:dLbl>
              <c:idx val="2"/>
              <c:layout>
                <c:manualLayout>
                  <c:x val="0"/>
                  <c:y val="0"/>
                </c:manualLayout>
              </c:layout>
              <c:numFmt formatCode="#,##0;#,##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6FD6-4CE2-8E78-7BDEF49861D3}"/>
                </c:ext>
              </c:extLst>
            </c:dLbl>
            <c:dLbl>
              <c:idx val="3"/>
              <c:layout>
                <c:manualLayout>
                  <c:x val="0"/>
                  <c:y val="0"/>
                </c:manualLayout>
              </c:layout>
              <c:numFmt formatCode="#,##0;#,##0" sourceLinked="0"/>
              <c:spPr>
                <a:noFill/>
                <a:ln>
                  <a:noFill/>
                </a:ln>
              </c:spPr>
              <c:txPr>
                <a:bodyPr wrap="none"/>
                <a:lstStyle/>
                <a:p>
                  <a:pPr>
                    <a:defRPr sz="1000">
                      <a:solidFill>
                        <a:srgbClr val="FFFFFF"/>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6FD6-4CE2-8E78-7BDEF49861D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Sheet1!$A$2:$F$2</c:f>
              <c:numCache>
                <c:formatCode>General</c:formatCode>
                <c:ptCount val="6"/>
                <c:pt idx="1">
                  <c:v>4260</c:v>
                </c:pt>
                <c:pt idx="2">
                  <c:v>6503</c:v>
                </c:pt>
                <c:pt idx="3">
                  <c:v>1540</c:v>
                </c:pt>
                <c:pt idx="4">
                  <c:v>1160</c:v>
                </c:pt>
              </c:numCache>
            </c:numRef>
          </c:val>
          <c:extLst>
            <c:ext xmlns:c16="http://schemas.microsoft.com/office/drawing/2014/chart" uri="{C3380CC4-5D6E-409C-BE32-E72D297353CC}">
              <c16:uniqueId val="{00000006-6FD6-4CE2-8E78-7BDEF49861D3}"/>
            </c:ext>
          </c:extLst>
        </c:ser>
        <c:dLbls>
          <c:showLegendKey val="0"/>
          <c:showVal val="0"/>
          <c:showCatName val="0"/>
          <c:showSerName val="0"/>
          <c:showPercent val="0"/>
          <c:showBubbleSize val="0"/>
        </c:dLbls>
        <c:gapWidth val="80"/>
        <c:overlap val="100"/>
        <c:axId val="1103124448"/>
        <c:axId val="1"/>
      </c:barChart>
      <c:catAx>
        <c:axId val="1103124448"/>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18961"/>
          <c:min val="0"/>
        </c:scaling>
        <c:delete val="1"/>
        <c:axPos val="l"/>
        <c:numFmt formatCode="General" sourceLinked="1"/>
        <c:majorTickMark val="out"/>
        <c:minorTickMark val="none"/>
        <c:tickLblPos val="nextTo"/>
        <c:crossAx val="1103124448"/>
        <c:crosses val="min"/>
        <c:crossBetween val="between"/>
      </c:valAx>
    </c:plotArea>
    <c:plotVisOnly val="0"/>
    <c:dispBlanksAs val="gap"/>
    <c:showDLblsOverMax val="1"/>
  </c:chart>
  <c:externalData r:id="rId1">
    <c:autoUpdate val="0"/>
  </c:externalData>
</c:chartSpace>
</file>

<file path=ppt/charts/chart1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763378465506126E-2"/>
          <c:y val="0.11444141689373297"/>
          <c:w val="0.96647324306898774"/>
          <c:h val="0.83832879200726607"/>
        </c:manualLayout>
      </c:layout>
      <c:barChart>
        <c:barDir val="col"/>
        <c:grouping val="stacked"/>
        <c:varyColors val="0"/>
        <c:ser>
          <c:idx val="0"/>
          <c:order val="0"/>
          <c:spPr>
            <a:solidFill>
              <a:schemeClr val="accent2"/>
            </a:solidFill>
            <a:ln>
              <a:noFill/>
            </a:ln>
          </c:spPr>
          <c:invertIfNegative val="0"/>
          <c:dLbls>
            <c:dLbl>
              <c:idx val="0"/>
              <c:layout>
                <c:manualLayout>
                  <c:x val="0"/>
                  <c:y val="-0.38964577656675747"/>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01C7-4ADD-96E8-B800DD21EE53}"/>
                </c:ext>
              </c:extLst>
            </c:dLbl>
            <c:dLbl>
              <c:idx val="1"/>
              <c:layout>
                <c:manualLayout>
                  <c:x val="0"/>
                  <c:y val="-0.39963669391462309"/>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01C7-4ADD-96E8-B800DD21EE53}"/>
                </c:ext>
              </c:extLst>
            </c:dLbl>
            <c:dLbl>
              <c:idx val="2"/>
              <c:layout>
                <c:manualLayout>
                  <c:x val="0"/>
                  <c:y val="-0.47774750227066304"/>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01C7-4ADD-96E8-B800DD21EE5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1997</c:v>
                </c:pt>
                <c:pt idx="1">
                  <c:v>2057</c:v>
                </c:pt>
                <c:pt idx="2">
                  <c:v>2525</c:v>
                </c:pt>
              </c:numCache>
            </c:numRef>
          </c:val>
          <c:extLst>
            <c:ext xmlns:c16="http://schemas.microsoft.com/office/drawing/2014/chart" uri="{C3380CC4-5D6E-409C-BE32-E72D297353CC}">
              <c16:uniqueId val="{00000003-01C7-4ADD-96E8-B800DD21EE53}"/>
            </c:ext>
          </c:extLst>
        </c:ser>
        <c:dLbls>
          <c:showLegendKey val="0"/>
          <c:showVal val="0"/>
          <c:showCatName val="0"/>
          <c:showSerName val="0"/>
          <c:showPercent val="0"/>
          <c:showBubbleSize val="0"/>
        </c:dLbls>
        <c:gapWidth val="150"/>
        <c:overlap val="100"/>
        <c:axId val="1819334024"/>
        <c:axId val="1"/>
      </c:barChart>
      <c:catAx>
        <c:axId val="1819334024"/>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2525"/>
          <c:min val="0"/>
        </c:scaling>
        <c:delete val="1"/>
        <c:axPos val="l"/>
        <c:numFmt formatCode="General" sourceLinked="1"/>
        <c:majorTickMark val="out"/>
        <c:minorTickMark val="none"/>
        <c:tickLblPos val="nextTo"/>
        <c:crossAx val="1819334024"/>
        <c:crosses val="min"/>
        <c:crossBetween val="between"/>
      </c:valAx>
    </c:plotArea>
    <c:plotVisOnly val="0"/>
    <c:dispBlanksAs val="gap"/>
    <c:showDLblsOverMax val="1"/>
  </c:chart>
  <c:externalData r:id="rId1">
    <c:autoUpdate val="0"/>
  </c:externalData>
</c:chartSpace>
</file>

<file path=ppt/charts/chart1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44833171363784E-2"/>
          <c:y val="5.5201698513800426E-2"/>
          <c:w val="0.96631033365727248"/>
          <c:h val="0.88959660297239918"/>
        </c:manualLayout>
      </c:layout>
      <c:barChart>
        <c:barDir val="col"/>
        <c:grouping val="stacked"/>
        <c:varyColors val="0"/>
        <c:ser>
          <c:idx val="0"/>
          <c:order val="0"/>
          <c:spPr>
            <a:solidFill>
              <a:schemeClr val="accent1"/>
            </a:solidFill>
            <a:ln>
              <a:noFill/>
            </a:ln>
          </c:spPr>
          <c:invertIfNegative val="0"/>
          <c:dLbls>
            <c:dLbl>
              <c:idx val="0"/>
              <c:layout>
                <c:manualLayout>
                  <c:x val="0"/>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8D30-4153-855D-D0DA62B0FD62}"/>
                </c:ext>
              </c:extLst>
            </c:dLbl>
            <c:dLbl>
              <c:idx val="1"/>
              <c:layout>
                <c:manualLayout>
                  <c:x val="0"/>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8D30-4153-855D-D0DA62B0FD62}"/>
                </c:ext>
              </c:extLst>
            </c:dLbl>
            <c:dLbl>
              <c:idx val="2"/>
              <c:layout>
                <c:manualLayout>
                  <c:x val="0"/>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8D30-4153-855D-D0DA62B0FD6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1432.991</c:v>
                </c:pt>
                <c:pt idx="1">
                  <c:v>889.99099999999999</c:v>
                </c:pt>
                <c:pt idx="2">
                  <c:v>2040.991</c:v>
                </c:pt>
              </c:numCache>
            </c:numRef>
          </c:val>
          <c:extLst>
            <c:ext xmlns:c16="http://schemas.microsoft.com/office/drawing/2014/chart" uri="{C3380CC4-5D6E-409C-BE32-E72D297353CC}">
              <c16:uniqueId val="{00000003-8D30-4153-855D-D0DA62B0FD62}"/>
            </c:ext>
          </c:extLst>
        </c:ser>
        <c:ser>
          <c:idx val="1"/>
          <c:order val="1"/>
          <c:spPr>
            <a:solidFill>
              <a:srgbClr val="046A38"/>
            </a:solidFill>
            <a:ln>
              <a:noFill/>
            </a:ln>
          </c:spPr>
          <c:invertIfNegative val="0"/>
          <c:dLbls>
            <c:dLbl>
              <c:idx val="0"/>
              <c:layout>
                <c:manualLayout>
                  <c:x val="0"/>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8D30-4153-855D-D0DA62B0FD6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350</c:v>
                </c:pt>
                <c:pt idx="1">
                  <c:v>100</c:v>
                </c:pt>
                <c:pt idx="2">
                  <c:v>0</c:v>
                </c:pt>
              </c:numCache>
            </c:numRef>
          </c:val>
          <c:extLst>
            <c:ext xmlns:c16="http://schemas.microsoft.com/office/drawing/2014/chart" uri="{C3380CC4-5D6E-409C-BE32-E72D297353CC}">
              <c16:uniqueId val="{00000005-8D30-4153-855D-D0DA62B0FD62}"/>
            </c:ext>
          </c:extLst>
        </c:ser>
        <c:ser>
          <c:idx val="2"/>
          <c:order val="2"/>
          <c:spPr>
            <a:solidFill>
              <a:schemeClr val="accent4"/>
            </a:solidFill>
            <a:ln>
              <a:noFill/>
            </a:ln>
          </c:spPr>
          <c:invertIfNegative val="0"/>
          <c:dLbls>
            <c:dLbl>
              <c:idx val="0"/>
              <c:layout>
                <c:manualLayout>
                  <c:x val="0"/>
                  <c:y val="-1.0615711252653928E-3"/>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8D30-4153-855D-D0DA62B0FD62}"/>
                </c:ext>
              </c:extLst>
            </c:dLbl>
            <c:dLbl>
              <c:idx val="1"/>
              <c:layout>
                <c:manualLayout>
                  <c:x val="0"/>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8D30-4153-855D-D0DA62B0FD62}"/>
                </c:ext>
              </c:extLst>
            </c:dLbl>
            <c:dLbl>
              <c:idx val="2"/>
              <c:layout>
                <c:manualLayout>
                  <c:x val="0"/>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8D30-4153-855D-D0DA62B0FD6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Sheet1!$A$3:$C$3</c:f>
              <c:numCache>
                <c:formatCode>General</c:formatCode>
                <c:ptCount val="3"/>
                <c:pt idx="0">
                  <c:v>214</c:v>
                </c:pt>
                <c:pt idx="1">
                  <c:v>1066.9719999999998</c:v>
                </c:pt>
                <c:pt idx="2">
                  <c:v>484</c:v>
                </c:pt>
              </c:numCache>
            </c:numRef>
          </c:val>
          <c:extLst>
            <c:ext xmlns:c16="http://schemas.microsoft.com/office/drawing/2014/chart" uri="{C3380CC4-5D6E-409C-BE32-E72D297353CC}">
              <c16:uniqueId val="{00000009-8D30-4153-855D-D0DA62B0FD62}"/>
            </c:ext>
          </c:extLst>
        </c:ser>
        <c:dLbls>
          <c:showLegendKey val="0"/>
          <c:showVal val="0"/>
          <c:showCatName val="0"/>
          <c:showSerName val="0"/>
          <c:showPercent val="0"/>
          <c:showBubbleSize val="0"/>
        </c:dLbls>
        <c:gapWidth val="80"/>
        <c:overlap val="100"/>
        <c:axId val="1819362560"/>
        <c:axId val="1"/>
      </c:barChart>
      <c:catAx>
        <c:axId val="181936256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2524.991"/>
          <c:min val="0"/>
        </c:scaling>
        <c:delete val="1"/>
        <c:axPos val="l"/>
        <c:numFmt formatCode="General" sourceLinked="1"/>
        <c:majorTickMark val="out"/>
        <c:minorTickMark val="none"/>
        <c:tickLblPos val="nextTo"/>
        <c:crossAx val="1819362560"/>
        <c:crosses val="min"/>
        <c:crossBetween val="between"/>
      </c:valAx>
    </c:plotArea>
    <c:plotVisOnly val="0"/>
    <c:dispBlanksAs val="gap"/>
    <c:showDLblsOverMax val="1"/>
  </c:chart>
  <c:externalData r:id="rId1">
    <c:autoUpdate val="0"/>
  </c:externalData>
</c:chartSpace>
</file>

<file path=ppt/charts/chart1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66688290626014E-2"/>
          <c:y val="0.10851262862488308"/>
          <c:w val="0.96626662341874792"/>
          <c:h val="0.84284377923292797"/>
        </c:manualLayout>
      </c:layout>
      <c:barChart>
        <c:barDir val="col"/>
        <c:grouping val="stacked"/>
        <c:varyColors val="0"/>
        <c:ser>
          <c:idx val="0"/>
          <c:order val="0"/>
          <c:spPr>
            <a:noFill/>
            <a:ln>
              <a:noFill/>
            </a:ln>
          </c:spPr>
          <c:invertIfNegative val="0"/>
          <c:dPt>
            <c:idx val="0"/>
            <c:invertIfNegative val="0"/>
            <c:bubble3D val="0"/>
            <c:spPr>
              <a:solidFill>
                <a:srgbClr val="86BC25"/>
              </a:solidFill>
              <a:ln>
                <a:noFill/>
              </a:ln>
            </c:spPr>
            <c:extLst>
              <c:ext xmlns:c16="http://schemas.microsoft.com/office/drawing/2014/chart" uri="{C3380CC4-5D6E-409C-BE32-E72D297353CC}">
                <c16:uniqueId val="{00000000-D78F-4860-92A7-29647AE30903}"/>
              </c:ext>
            </c:extLst>
          </c:dPt>
          <c:dPt>
            <c:idx val="3"/>
            <c:invertIfNegative val="0"/>
            <c:bubble3D val="0"/>
            <c:spPr>
              <a:solidFill>
                <a:schemeClr val="accent4"/>
              </a:solidFill>
              <a:ln>
                <a:noFill/>
              </a:ln>
            </c:spPr>
            <c:extLst>
              <c:ext xmlns:c16="http://schemas.microsoft.com/office/drawing/2014/chart" uri="{C3380CC4-5D6E-409C-BE32-E72D297353CC}">
                <c16:uniqueId val="{00000001-D78F-4860-92A7-29647AE30903}"/>
              </c:ext>
            </c:extLst>
          </c:dPt>
          <c:dLbls>
            <c:dLbl>
              <c:idx val="0"/>
              <c:layout>
                <c:manualLayout>
                  <c:x val="0"/>
                  <c:y val="-0.47708138447146864"/>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D78F-4860-92A7-29647AE30903}"/>
                </c:ext>
              </c:extLst>
            </c:dLbl>
            <c:dLbl>
              <c:idx val="3"/>
              <c:layout>
                <c:manualLayout>
                  <c:x val="0"/>
                  <c:y val="-0.22825070159027128"/>
                </c:manualLayout>
              </c:layout>
              <c:numFmt formatCode="#,##0;&quot;-&quot;#,##0" sourceLinked="0"/>
              <c:spPr>
                <a:noFill/>
                <a:ln>
                  <a:noFill/>
                </a:ln>
              </c:spPr>
              <c:txPr>
                <a:bodyPr wrap="none"/>
                <a:lstStyle/>
                <a:p>
                  <a:pPr>
                    <a:defRPr sz="9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D78F-4860-92A7-29647AE3090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3407.4</c:v>
                </c:pt>
                <c:pt idx="1">
                  <c:v>1906.4</c:v>
                </c:pt>
                <c:pt idx="2">
                  <c:v>1393.9</c:v>
                </c:pt>
                <c:pt idx="3">
                  <c:v>1393.9</c:v>
                </c:pt>
              </c:numCache>
            </c:numRef>
          </c:val>
          <c:extLst>
            <c:ext xmlns:c16="http://schemas.microsoft.com/office/drawing/2014/chart" uri="{C3380CC4-5D6E-409C-BE32-E72D297353CC}">
              <c16:uniqueId val="{00000002-D78F-4860-92A7-29647AE30903}"/>
            </c:ext>
          </c:extLst>
        </c:ser>
        <c:ser>
          <c:idx val="1"/>
          <c:order val="1"/>
          <c:spPr>
            <a:solidFill>
              <a:srgbClr val="86BC25"/>
            </a:solidFill>
            <a:ln>
              <a:noFill/>
            </a:ln>
          </c:spPr>
          <c:invertIfNegative val="0"/>
          <c:dLbls>
            <c:dLbl>
              <c:idx val="1"/>
              <c:layout>
                <c:manualLayout>
                  <c:x val="0"/>
                  <c:y val="0"/>
                </c:manualLayout>
              </c:layout>
              <c:numFmt formatCode="#,##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D78F-4860-92A7-29647AE30903}"/>
                </c:ext>
              </c:extLst>
            </c:dLbl>
            <c:dLbl>
              <c:idx val="2"/>
              <c:layout>
                <c:manualLayout>
                  <c:x val="0"/>
                  <c:y val="-9.3545369504209543E-4"/>
                </c:manualLayout>
              </c:layout>
              <c:numFmt formatCode="#,##0;#,##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D78F-4860-92A7-29647AE3090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Sheet1!$A$2:$D$2</c:f>
              <c:numCache>
                <c:formatCode>General</c:formatCode>
                <c:ptCount val="4"/>
                <c:pt idx="1">
                  <c:v>1501</c:v>
                </c:pt>
                <c:pt idx="2">
                  <c:v>512.5</c:v>
                </c:pt>
              </c:numCache>
            </c:numRef>
          </c:val>
          <c:extLst>
            <c:ext xmlns:c16="http://schemas.microsoft.com/office/drawing/2014/chart" uri="{C3380CC4-5D6E-409C-BE32-E72D297353CC}">
              <c16:uniqueId val="{00000005-D78F-4860-92A7-29647AE30903}"/>
            </c:ext>
          </c:extLst>
        </c:ser>
        <c:dLbls>
          <c:showLegendKey val="0"/>
          <c:showVal val="0"/>
          <c:showCatName val="0"/>
          <c:showSerName val="0"/>
          <c:showPercent val="0"/>
          <c:showBubbleSize val="0"/>
        </c:dLbls>
        <c:gapWidth val="80"/>
        <c:overlap val="100"/>
        <c:axId val="2055459104"/>
        <c:axId val="1"/>
      </c:barChart>
      <c:catAx>
        <c:axId val="2055459104"/>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3407.4"/>
          <c:min val="0"/>
        </c:scaling>
        <c:delete val="1"/>
        <c:axPos val="l"/>
        <c:numFmt formatCode="General" sourceLinked="1"/>
        <c:majorTickMark val="out"/>
        <c:minorTickMark val="none"/>
        <c:tickLblPos val="nextTo"/>
        <c:crossAx val="2055459104"/>
        <c:crosses val="min"/>
        <c:crossBetween val="between"/>
      </c:valAx>
    </c:plotArea>
    <c:plotVisOnly val="0"/>
    <c:dispBlanksAs val="gap"/>
    <c:showDLblsOverMax val="1"/>
  </c:chart>
  <c:externalData r:id="rId1">
    <c:autoUpdate val="0"/>
  </c:externalData>
</c:chartSpace>
</file>

<file path=ppt/charts/chart1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44833171363784E-2"/>
          <c:y val="5.823068309070549E-2"/>
          <c:w val="0.96631033365727248"/>
          <c:h val="0.88353863381858899"/>
        </c:manualLayout>
      </c:layout>
      <c:barChart>
        <c:barDir val="col"/>
        <c:grouping val="stacked"/>
        <c:varyColors val="0"/>
        <c:ser>
          <c:idx val="0"/>
          <c:order val="0"/>
          <c:spPr>
            <a:solidFill>
              <a:schemeClr val="accent1"/>
            </a:solidFill>
            <a:ln>
              <a:noFill/>
            </a:ln>
          </c:spPr>
          <c:invertIfNegative val="0"/>
          <c:dPt>
            <c:idx val="2"/>
            <c:invertIfNegative val="0"/>
            <c:bubble3D val="0"/>
            <c:spPr>
              <a:solidFill>
                <a:srgbClr val="62B5E5"/>
              </a:solidFill>
              <a:ln>
                <a:noFill/>
              </a:ln>
            </c:spPr>
            <c:extLst>
              <c:ext xmlns:c16="http://schemas.microsoft.com/office/drawing/2014/chart" uri="{C3380CC4-5D6E-409C-BE32-E72D297353CC}">
                <c16:uniqueId val="{00000000-2FD7-4264-A326-79BB0D09930B}"/>
              </c:ext>
            </c:extLst>
          </c:dPt>
          <c:dLbls>
            <c:dLbl>
              <c:idx val="2"/>
              <c:layout>
                <c:manualLayout>
                  <c:x val="0"/>
                  <c:y val="-1.1198208286674132E-3"/>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2FD7-4264-A326-79BB0D09930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220</c:v>
                </c:pt>
                <c:pt idx="1">
                  <c:v>220</c:v>
                </c:pt>
                <c:pt idx="2">
                  <c:v>1301</c:v>
                </c:pt>
              </c:numCache>
            </c:numRef>
          </c:val>
          <c:extLst>
            <c:ext xmlns:c16="http://schemas.microsoft.com/office/drawing/2014/chart" uri="{C3380CC4-5D6E-409C-BE32-E72D297353CC}">
              <c16:uniqueId val="{00000001-2FD7-4264-A326-79BB0D09930B}"/>
            </c:ext>
          </c:extLst>
        </c:ser>
        <c:ser>
          <c:idx val="1"/>
          <c:order val="1"/>
          <c:spPr>
            <a:solidFill>
              <a:srgbClr val="62B5E5"/>
            </a:solidFill>
            <a:ln>
              <a:noFill/>
            </a:ln>
          </c:spPr>
          <c:invertIfNegative val="0"/>
          <c:dPt>
            <c:idx val="2"/>
            <c:invertIfNegative val="0"/>
            <c:bubble3D val="0"/>
            <c:spPr>
              <a:solidFill>
                <a:srgbClr val="046A38"/>
              </a:solidFill>
              <a:ln>
                <a:noFill/>
              </a:ln>
            </c:spPr>
            <c:extLst>
              <c:ext xmlns:c16="http://schemas.microsoft.com/office/drawing/2014/chart" uri="{C3380CC4-5D6E-409C-BE32-E72D297353CC}">
                <c16:uniqueId val="{00000002-2FD7-4264-A326-79BB0D09930B}"/>
              </c:ext>
            </c:extLst>
          </c:dPt>
          <c:dLbls>
            <c:dLbl>
              <c:idx val="0"/>
              <c:layout>
                <c:manualLayout>
                  <c:x val="0"/>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2FD7-4264-A326-79BB0D09930B}"/>
                </c:ext>
              </c:extLst>
            </c:dLbl>
            <c:dLbl>
              <c:idx val="1"/>
              <c:layout>
                <c:manualLayout>
                  <c:x val="0"/>
                  <c:y val="-1.1198208286674132E-3"/>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2FD7-4264-A326-79BB0D09930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1885</c:v>
                </c:pt>
                <c:pt idx="1">
                  <c:v>718</c:v>
                </c:pt>
                <c:pt idx="2">
                  <c:v>0</c:v>
                </c:pt>
              </c:numCache>
            </c:numRef>
          </c:val>
          <c:extLst>
            <c:ext xmlns:c16="http://schemas.microsoft.com/office/drawing/2014/chart" uri="{C3380CC4-5D6E-409C-BE32-E72D297353CC}">
              <c16:uniqueId val="{00000005-2FD7-4264-A326-79BB0D09930B}"/>
            </c:ext>
          </c:extLst>
        </c:ser>
        <c:ser>
          <c:idx val="2"/>
          <c:order val="2"/>
          <c:spPr>
            <a:solidFill>
              <a:srgbClr val="046A38"/>
            </a:solidFill>
            <a:ln>
              <a:noFill/>
            </a:ln>
          </c:spPr>
          <c:invertIfNegative val="0"/>
          <c:dPt>
            <c:idx val="2"/>
            <c:invertIfNegative val="0"/>
            <c:bubble3D val="0"/>
            <c:spPr>
              <a:solidFill>
                <a:schemeClr val="accent4"/>
              </a:solidFill>
              <a:ln>
                <a:noFill/>
              </a:ln>
            </c:spPr>
            <c:extLst>
              <c:ext xmlns:c16="http://schemas.microsoft.com/office/drawing/2014/chart" uri="{C3380CC4-5D6E-409C-BE32-E72D297353CC}">
                <c16:uniqueId val="{00000006-2FD7-4264-A326-79BB0D09930B}"/>
              </c:ext>
            </c:extLst>
          </c:dPt>
          <c:dLbls>
            <c:dLbl>
              <c:idx val="0"/>
              <c:layout>
                <c:manualLayout>
                  <c:x val="0"/>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2FD7-4264-A326-79BB0D09930B}"/>
                </c:ext>
              </c:extLst>
            </c:dLbl>
            <c:dLbl>
              <c:idx val="1"/>
              <c:layout>
                <c:manualLayout>
                  <c:x val="0"/>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2FD7-4264-A326-79BB0D09930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Sheet1!$A$3:$C$3</c:f>
              <c:numCache>
                <c:formatCode>General</c:formatCode>
                <c:ptCount val="3"/>
                <c:pt idx="0">
                  <c:v>1531</c:v>
                </c:pt>
                <c:pt idx="1">
                  <c:v>1224</c:v>
                </c:pt>
                <c:pt idx="2">
                  <c:v>115</c:v>
                </c:pt>
              </c:numCache>
            </c:numRef>
          </c:val>
          <c:extLst>
            <c:ext xmlns:c16="http://schemas.microsoft.com/office/drawing/2014/chart" uri="{C3380CC4-5D6E-409C-BE32-E72D297353CC}">
              <c16:uniqueId val="{00000009-2FD7-4264-A326-79BB0D09930B}"/>
            </c:ext>
          </c:extLst>
        </c:ser>
        <c:ser>
          <c:idx val="3"/>
          <c:order val="3"/>
          <c:spPr>
            <a:solidFill>
              <a:schemeClr val="accent4"/>
            </a:solidFill>
            <a:ln>
              <a:noFill/>
            </a:ln>
          </c:spPr>
          <c:invertIfNegative val="0"/>
          <c:dPt>
            <c:idx val="2"/>
            <c:invertIfNegative val="0"/>
            <c:bubble3D val="0"/>
            <c:spPr>
              <a:solidFill>
                <a:schemeClr val="accent1"/>
              </a:solidFill>
              <a:ln>
                <a:noFill/>
              </a:ln>
            </c:spPr>
            <c:extLst>
              <c:ext xmlns:c16="http://schemas.microsoft.com/office/drawing/2014/chart" uri="{C3380CC4-5D6E-409C-BE32-E72D297353CC}">
                <c16:uniqueId val="{0000000A-2FD7-4264-A326-79BB0D09930B}"/>
              </c:ext>
            </c:extLst>
          </c:dPt>
          <c:dLbls>
            <c:dLbl>
              <c:idx val="0"/>
              <c:layout>
                <c:manualLayout>
                  <c:x val="0"/>
                  <c:y val="0"/>
                </c:manualLayout>
              </c:layout>
              <c:numFmt formatCode="#,##0;&quot;-&quot;#,##0" sourceLinked="0"/>
              <c:spPr>
                <a:noFill/>
                <a:ln>
                  <a:noFill/>
                </a:ln>
              </c:spPr>
              <c:txPr>
                <a:bodyPr wrap="none"/>
                <a:lstStyle/>
                <a:p>
                  <a:pPr>
                    <a:defRPr sz="9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2FD7-4264-A326-79BB0D09930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Sheet1!$A$4:$C$4</c:f>
              <c:numCache>
                <c:formatCode>General</c:formatCode>
                <c:ptCount val="3"/>
                <c:pt idx="0">
                  <c:v>391</c:v>
                </c:pt>
                <c:pt idx="1">
                  <c:v>229</c:v>
                </c:pt>
                <c:pt idx="2">
                  <c:v>0</c:v>
                </c:pt>
              </c:numCache>
            </c:numRef>
          </c:val>
          <c:extLst>
            <c:ext xmlns:c16="http://schemas.microsoft.com/office/drawing/2014/chart" uri="{C3380CC4-5D6E-409C-BE32-E72D297353CC}">
              <c16:uniqueId val="{0000000C-2FD7-4264-A326-79BB0D09930B}"/>
            </c:ext>
          </c:extLst>
        </c:ser>
        <c:dLbls>
          <c:showLegendKey val="0"/>
          <c:showVal val="0"/>
          <c:showCatName val="0"/>
          <c:showSerName val="0"/>
          <c:showPercent val="0"/>
          <c:showBubbleSize val="0"/>
        </c:dLbls>
        <c:gapWidth val="80"/>
        <c:overlap val="100"/>
        <c:axId val="2119393640"/>
        <c:axId val="1"/>
      </c:barChart>
      <c:catAx>
        <c:axId val="211939364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900">
                <a:latin typeface="+mn-lt"/>
                <a:ea typeface="+mn-ea"/>
                <a:cs typeface="+mn-cs"/>
                <a:sym typeface="+mn-lt"/>
              </a:defRPr>
            </a:pPr>
            <a:endParaRPr lang="en-US"/>
          </a:p>
        </c:txPr>
        <c:crossAx val="1"/>
        <c:crosses val="min"/>
        <c:auto val="0"/>
        <c:lblAlgn val="ctr"/>
        <c:lblOffset val="100"/>
        <c:noMultiLvlLbl val="0"/>
      </c:catAx>
      <c:valAx>
        <c:axId val="1"/>
        <c:scaling>
          <c:orientation val="minMax"/>
          <c:max val="4027"/>
          <c:min val="0"/>
        </c:scaling>
        <c:delete val="1"/>
        <c:axPos val="l"/>
        <c:numFmt formatCode="General" sourceLinked="1"/>
        <c:majorTickMark val="out"/>
        <c:minorTickMark val="none"/>
        <c:tickLblPos val="nextTo"/>
        <c:crossAx val="2119393640"/>
        <c:crosses val="min"/>
        <c:crossBetween val="between"/>
      </c:valAx>
    </c:plotArea>
    <c:plotVisOnly val="0"/>
    <c:dispBlanksAs val="gap"/>
    <c:showDLblsOverMax val="1"/>
  </c:chart>
  <c:externalData r:id="rId1">
    <c:autoUpdate val="0"/>
  </c:externalData>
</c:chartSpace>
</file>

<file path=ppt/charts/chart1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44833171363784E-2"/>
          <c:y val="0.14893617021276595"/>
          <c:w val="0.96631033365727248"/>
          <c:h val="0.78959810874704495"/>
        </c:manualLayout>
      </c:layout>
      <c:barChart>
        <c:barDir val="col"/>
        <c:grouping val="stacked"/>
        <c:varyColors val="0"/>
        <c:ser>
          <c:idx val="0"/>
          <c:order val="0"/>
          <c:spPr>
            <a:solidFill>
              <a:srgbClr val="86BC25"/>
            </a:solidFill>
            <a:ln>
              <a:noFill/>
            </a:ln>
          </c:spPr>
          <c:invertIfNegative val="0"/>
          <c:dPt>
            <c:idx val="1"/>
            <c:invertIfNegative val="0"/>
            <c:bubble3D val="0"/>
            <c:spPr>
              <a:solidFill>
                <a:schemeClr val="accent4"/>
              </a:solidFill>
              <a:ln>
                <a:noFill/>
              </a:ln>
            </c:spPr>
            <c:extLst>
              <c:ext xmlns:c16="http://schemas.microsoft.com/office/drawing/2014/chart" uri="{C3380CC4-5D6E-409C-BE32-E72D297353CC}">
                <c16:uniqueId val="{00000001-D94A-4605-A318-3B12A4724EB1}"/>
              </c:ext>
            </c:extLst>
          </c:dPt>
          <c:dLbls>
            <c:dLbl>
              <c:idx val="0"/>
              <c:layout>
                <c:manualLayout>
                  <c:x val="0"/>
                  <c:y val="-0.47044917257683216"/>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D94A-4605-A318-3B12A4724EB1}"/>
                </c:ext>
              </c:extLst>
            </c:dLbl>
            <c:dLbl>
              <c:idx val="1"/>
              <c:layout>
                <c:manualLayout>
                  <c:x val="0"/>
                  <c:y val="-0.2860520094562648"/>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D94A-4605-A318-3B12A4724EB1}"/>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3035</c:v>
                </c:pt>
                <c:pt idx="1">
                  <c:v>1167</c:v>
                </c:pt>
              </c:numCache>
            </c:numRef>
          </c:val>
          <c:extLst>
            <c:ext xmlns:c16="http://schemas.microsoft.com/office/drawing/2014/chart" uri="{C3380CC4-5D6E-409C-BE32-E72D297353CC}">
              <c16:uniqueId val="{00000003-D94A-4605-A318-3B12A4724EB1}"/>
            </c:ext>
          </c:extLst>
        </c:ser>
        <c:dLbls>
          <c:showLegendKey val="0"/>
          <c:showVal val="0"/>
          <c:showCatName val="0"/>
          <c:showSerName val="0"/>
          <c:showPercent val="0"/>
          <c:showBubbleSize val="0"/>
        </c:dLbls>
        <c:gapWidth val="150"/>
        <c:overlap val="100"/>
        <c:axId val="1187426728"/>
        <c:axId val="1"/>
      </c:barChart>
      <c:catAx>
        <c:axId val="1187426728"/>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3035"/>
          <c:min val="0"/>
        </c:scaling>
        <c:delete val="1"/>
        <c:axPos val="l"/>
        <c:numFmt formatCode="General" sourceLinked="1"/>
        <c:majorTickMark val="out"/>
        <c:minorTickMark val="none"/>
        <c:tickLblPos val="nextTo"/>
        <c:crossAx val="1187426728"/>
        <c:crosses val="min"/>
        <c:crossBetween val="between"/>
      </c:valAx>
    </c:plotArea>
    <c:plotVisOnly val="0"/>
    <c:dispBlanksAs val="gap"/>
    <c:showDLblsOverMax val="1"/>
  </c:chart>
  <c:externalData r:id="rId1">
    <c:autoUpdate val="0"/>
  </c:externalData>
</c:chartSpace>
</file>

<file path=ppt/charts/chart1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44833171363784E-2"/>
          <c:y val="0.10667996011964107"/>
          <c:w val="0.96631033365727248"/>
          <c:h val="0.84147557328015943"/>
        </c:manualLayout>
      </c:layout>
      <c:barChart>
        <c:barDir val="col"/>
        <c:grouping val="stacked"/>
        <c:varyColors val="0"/>
        <c:ser>
          <c:idx val="0"/>
          <c:order val="0"/>
          <c:spPr>
            <a:solidFill>
              <a:srgbClr val="86BC25"/>
            </a:solidFill>
            <a:ln>
              <a:noFill/>
            </a:ln>
          </c:spPr>
          <c:invertIfNegative val="0"/>
          <c:dPt>
            <c:idx val="1"/>
            <c:invertIfNegative val="0"/>
            <c:bubble3D val="0"/>
            <c:spPr>
              <a:noFill/>
              <a:ln>
                <a:noFill/>
              </a:ln>
            </c:spPr>
            <c:extLst>
              <c:ext xmlns:c16="http://schemas.microsoft.com/office/drawing/2014/chart" uri="{C3380CC4-5D6E-409C-BE32-E72D297353CC}">
                <c16:uniqueId val="{00000000-EAB5-4A12-BB20-14DD0AFB9451}"/>
              </c:ext>
            </c:extLst>
          </c:dPt>
          <c:dLbls>
            <c:dLbl>
              <c:idx val="0"/>
              <c:layout>
                <c:manualLayout>
                  <c:x val="0"/>
                  <c:y val="-0.47557328015952144"/>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EAB5-4A12-BB20-14DD0AFB9451}"/>
                </c:ext>
              </c:extLst>
            </c:dLbl>
            <c:dLbl>
              <c:idx val="2"/>
              <c:layout>
                <c:manualLayout>
                  <c:x val="0"/>
                  <c:y val="-8.7736789631106676E-2"/>
                </c:manualLayout>
              </c:layout>
              <c:numFmt formatCode="#,##0;&quot;-&quot;#,##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EAB5-4A12-BB20-14DD0AFB9451}"/>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2870</c:v>
                </c:pt>
                <c:pt idx="1">
                  <c:v>220</c:v>
                </c:pt>
                <c:pt idx="2">
                  <c:v>220</c:v>
                </c:pt>
              </c:numCache>
            </c:numRef>
          </c:val>
          <c:extLst>
            <c:ext xmlns:c16="http://schemas.microsoft.com/office/drawing/2014/chart" uri="{C3380CC4-5D6E-409C-BE32-E72D297353CC}">
              <c16:uniqueId val="{00000003-EAB5-4A12-BB20-14DD0AFB9451}"/>
            </c:ext>
          </c:extLst>
        </c:ser>
        <c:ser>
          <c:idx val="1"/>
          <c:order val="1"/>
          <c:spPr>
            <a:solidFill>
              <a:srgbClr val="86BC25"/>
            </a:solidFill>
            <a:ln>
              <a:noFill/>
            </a:ln>
          </c:spPr>
          <c:invertIfNegative val="0"/>
          <c:dLbls>
            <c:dLbl>
              <c:idx val="1"/>
              <c:layout>
                <c:manualLayout>
                  <c:x val="0"/>
                  <c:y val="-9.9700897308075765E-4"/>
                </c:manualLayout>
              </c:layout>
              <c:numFmt formatCode="#,##0;#,##0" sourceLinked="0"/>
              <c:spPr>
                <a:noFill/>
                <a:ln>
                  <a:noFill/>
                </a:ln>
              </c:spPr>
              <c:txPr>
                <a:bodyPr wrap="none"/>
                <a:lstStyle/>
                <a:p>
                  <a:pPr>
                    <a:defRPr sz="8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EAB5-4A12-BB20-14DD0AFB9451}"/>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1">
                  <c:v>2650</c:v>
                </c:pt>
              </c:numCache>
            </c:numRef>
          </c:val>
          <c:extLst>
            <c:ext xmlns:c16="http://schemas.microsoft.com/office/drawing/2014/chart" uri="{C3380CC4-5D6E-409C-BE32-E72D297353CC}">
              <c16:uniqueId val="{00000005-EAB5-4A12-BB20-14DD0AFB9451}"/>
            </c:ext>
          </c:extLst>
        </c:ser>
        <c:dLbls>
          <c:showLegendKey val="0"/>
          <c:showVal val="0"/>
          <c:showCatName val="0"/>
          <c:showSerName val="0"/>
          <c:showPercent val="0"/>
          <c:showBubbleSize val="0"/>
        </c:dLbls>
        <c:gapWidth val="80"/>
        <c:overlap val="100"/>
        <c:axId val="822738960"/>
        <c:axId val="1"/>
      </c:barChart>
      <c:catAx>
        <c:axId val="82273896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800">
                <a:latin typeface="+mn-lt"/>
                <a:ea typeface="+mn-ea"/>
                <a:cs typeface="+mn-cs"/>
                <a:sym typeface="+mn-lt"/>
              </a:defRPr>
            </a:pPr>
            <a:endParaRPr lang="en-US"/>
          </a:p>
        </c:txPr>
        <c:crossAx val="1"/>
        <c:crosses val="min"/>
        <c:auto val="0"/>
        <c:lblAlgn val="ctr"/>
        <c:lblOffset val="100"/>
        <c:noMultiLvlLbl val="0"/>
      </c:catAx>
      <c:valAx>
        <c:axId val="1"/>
        <c:scaling>
          <c:orientation val="minMax"/>
          <c:max val="2870"/>
          <c:min val="0"/>
        </c:scaling>
        <c:delete val="1"/>
        <c:axPos val="l"/>
        <c:numFmt formatCode="General" sourceLinked="1"/>
        <c:majorTickMark val="out"/>
        <c:minorTickMark val="none"/>
        <c:tickLblPos val="nextTo"/>
        <c:crossAx val="822738960"/>
        <c:crosses val="min"/>
        <c:crossBetween val="between"/>
      </c:valAx>
    </c:plotArea>
    <c:plotVisOnly val="0"/>
    <c:dispBlanksAs val="gap"/>
    <c:showDLblsOverMax val="1"/>
  </c:chart>
  <c:externalData r:id="rId1">
    <c:autoUpdate val="0"/>
  </c:externalData>
</c:chartSpace>
</file>

<file path=ppt/charts/chart1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2191563590231523E-2"/>
          <c:y val="2.2033898305084745E-2"/>
          <c:w val="0.94164287979701866"/>
          <c:h val="0.91228813559322031"/>
        </c:manualLayout>
      </c:layout>
      <c:bubbleChart>
        <c:varyColors val="0"/>
        <c:ser>
          <c:idx val="1"/>
          <c:order val="0"/>
          <c:spPr>
            <a:solidFill>
              <a:schemeClr val="accent1"/>
            </a:solidFill>
            <a:ln>
              <a:noFill/>
            </a:ln>
          </c:spPr>
          <c:invertIfNegative val="0"/>
          <c:xVal>
            <c:numRef>
              <c:f>Sheet1!$A$1:$A$56</c:f>
              <c:numCache>
                <c:formatCode>General</c:formatCode>
                <c:ptCount val="56"/>
                <c:pt idx="0">
                  <c:v>2247.7783585990592</c:v>
                </c:pt>
                <c:pt idx="1">
                  <c:v>2421.8529991551673</c:v>
                </c:pt>
                <c:pt idx="2">
                  <c:v>2247.7783585990592</c:v>
                </c:pt>
                <c:pt idx="3">
                  <c:v>2247.7783585990592</c:v>
                </c:pt>
                <c:pt idx="4">
                  <c:v>2977.8393351800555</c:v>
                </c:pt>
                <c:pt idx="5">
                  <c:v>2399.5535714285716</c:v>
                </c:pt>
                <c:pt idx="6">
                  <c:v>2408.9635854341736</c:v>
                </c:pt>
                <c:pt idx="7">
                  <c:v>1995.8226966813645</c:v>
                </c:pt>
                <c:pt idx="8">
                  <c:v>2013.5799578553033</c:v>
                </c:pt>
              </c:numCache>
            </c:numRef>
          </c:xVal>
          <c:yVal>
            <c:numRef>
              <c:f>Sheet1!$D$1:$D$56</c:f>
              <c:numCache>
                <c:formatCode>General</c:formatCode>
                <c:ptCount val="56"/>
                <c:pt idx="0">
                  <c:v>87.759833955998332</c:v>
                </c:pt>
                <c:pt idx="1">
                  <c:v>52.518296400752085</c:v>
                </c:pt>
                <c:pt idx="2">
                  <c:v>82.774414694894148</c:v>
                </c:pt>
                <c:pt idx="3">
                  <c:v>76.627567455375683</c:v>
                </c:pt>
                <c:pt idx="4">
                  <c:v>79.185343938724401</c:v>
                </c:pt>
                <c:pt idx="5">
                  <c:v>60.138838356164392</c:v>
                </c:pt>
                <c:pt idx="6">
                  <c:v>78.540381754769314</c:v>
                </c:pt>
                <c:pt idx="7">
                  <c:v>26.834217493824386</c:v>
                </c:pt>
                <c:pt idx="8">
                  <c:v>34.304881544439979</c:v>
                </c:pt>
              </c:numCache>
            </c:numRef>
          </c:yVal>
          <c:bubbleSize>
            <c:numRef>
              <c:f>Sheet1!$E$1:$E$56</c:f>
              <c:numCache>
                <c:formatCode>General</c:formatCode>
                <c:ptCount val="56"/>
                <c:pt idx="0">
                  <c:v>22</c:v>
                </c:pt>
                <c:pt idx="1">
                  <c:v>51</c:v>
                </c:pt>
                <c:pt idx="2">
                  <c:v>22</c:v>
                </c:pt>
                <c:pt idx="3">
                  <c:v>22</c:v>
                </c:pt>
                <c:pt idx="4">
                  <c:v>341</c:v>
                </c:pt>
                <c:pt idx="5">
                  <c:v>25</c:v>
                </c:pt>
                <c:pt idx="6">
                  <c:v>163</c:v>
                </c:pt>
                <c:pt idx="7">
                  <c:v>305</c:v>
                </c:pt>
                <c:pt idx="8">
                  <c:v>281.99099999999999</c:v>
                </c:pt>
              </c:numCache>
            </c:numRef>
          </c:bubbleSize>
          <c:bubble3D val="0"/>
          <c:extLst>
            <c:ext xmlns:c16="http://schemas.microsoft.com/office/drawing/2014/chart" uri="{C3380CC4-5D6E-409C-BE32-E72D297353CC}">
              <c16:uniqueId val="{00000000-4149-4346-A052-81600FD1E00D}"/>
            </c:ext>
          </c:extLst>
        </c:ser>
        <c:ser>
          <c:idx val="2"/>
          <c:order val="1"/>
          <c:spPr>
            <a:solidFill>
              <a:schemeClr val="accent2"/>
            </a:solidFill>
            <a:ln>
              <a:noFill/>
            </a:ln>
          </c:spPr>
          <c:invertIfNegative val="0"/>
          <c:dPt>
            <c:idx val="9"/>
            <c:invertIfNegative val="0"/>
            <c:bubble3D val="0"/>
            <c:spPr>
              <a:solidFill>
                <a:schemeClr val="accent3"/>
              </a:solidFill>
              <a:ln>
                <a:noFill/>
              </a:ln>
            </c:spPr>
            <c:extLst>
              <c:ext xmlns:c16="http://schemas.microsoft.com/office/drawing/2014/chart" uri="{C3380CC4-5D6E-409C-BE32-E72D297353CC}">
                <c16:uniqueId val="{00000001-4149-4346-A052-81600FD1E00D}"/>
              </c:ext>
            </c:extLst>
          </c:dPt>
          <c:dPt>
            <c:idx val="10"/>
            <c:invertIfNegative val="0"/>
            <c:bubble3D val="0"/>
            <c:spPr>
              <a:solidFill>
                <a:schemeClr val="accent3"/>
              </a:solidFill>
              <a:ln>
                <a:noFill/>
              </a:ln>
            </c:spPr>
            <c:extLst>
              <c:ext xmlns:c16="http://schemas.microsoft.com/office/drawing/2014/chart" uri="{C3380CC4-5D6E-409C-BE32-E72D297353CC}">
                <c16:uniqueId val="{00000002-4149-4346-A052-81600FD1E00D}"/>
              </c:ext>
            </c:extLst>
          </c:dPt>
          <c:dPt>
            <c:idx val="11"/>
            <c:invertIfNegative val="0"/>
            <c:bubble3D val="0"/>
            <c:spPr>
              <a:solidFill>
                <a:schemeClr val="accent3"/>
              </a:solidFill>
              <a:ln>
                <a:noFill/>
              </a:ln>
            </c:spPr>
            <c:extLst>
              <c:ext xmlns:c16="http://schemas.microsoft.com/office/drawing/2014/chart" uri="{C3380CC4-5D6E-409C-BE32-E72D297353CC}">
                <c16:uniqueId val="{00000003-4149-4346-A052-81600FD1E00D}"/>
              </c:ext>
            </c:extLst>
          </c:dPt>
          <c:dPt>
            <c:idx val="12"/>
            <c:invertIfNegative val="0"/>
            <c:bubble3D val="0"/>
            <c:spPr>
              <a:solidFill>
                <a:schemeClr val="accent3"/>
              </a:solidFill>
              <a:ln>
                <a:noFill/>
              </a:ln>
            </c:spPr>
            <c:extLst>
              <c:ext xmlns:c16="http://schemas.microsoft.com/office/drawing/2014/chart" uri="{C3380CC4-5D6E-409C-BE32-E72D297353CC}">
                <c16:uniqueId val="{00000004-4149-4346-A052-81600FD1E00D}"/>
              </c:ext>
            </c:extLst>
          </c:dPt>
          <c:dPt>
            <c:idx val="13"/>
            <c:invertIfNegative val="0"/>
            <c:bubble3D val="0"/>
            <c:spPr>
              <a:solidFill>
                <a:schemeClr val="accent3"/>
              </a:solidFill>
              <a:ln>
                <a:noFill/>
              </a:ln>
            </c:spPr>
            <c:extLst>
              <c:ext xmlns:c16="http://schemas.microsoft.com/office/drawing/2014/chart" uri="{C3380CC4-5D6E-409C-BE32-E72D297353CC}">
                <c16:uniqueId val="{00000005-4149-4346-A052-81600FD1E00D}"/>
              </c:ext>
            </c:extLst>
          </c:dPt>
          <c:dPt>
            <c:idx val="14"/>
            <c:invertIfNegative val="0"/>
            <c:bubble3D val="0"/>
            <c:spPr>
              <a:solidFill>
                <a:schemeClr val="accent3"/>
              </a:solidFill>
              <a:ln>
                <a:noFill/>
              </a:ln>
            </c:spPr>
            <c:extLst>
              <c:ext xmlns:c16="http://schemas.microsoft.com/office/drawing/2014/chart" uri="{C3380CC4-5D6E-409C-BE32-E72D297353CC}">
                <c16:uniqueId val="{00000006-4149-4346-A052-81600FD1E00D}"/>
              </c:ext>
            </c:extLst>
          </c:dPt>
          <c:dPt>
            <c:idx val="15"/>
            <c:invertIfNegative val="0"/>
            <c:bubble3D val="0"/>
            <c:spPr>
              <a:solidFill>
                <a:schemeClr val="accent3"/>
              </a:solidFill>
              <a:ln>
                <a:noFill/>
              </a:ln>
            </c:spPr>
            <c:extLst>
              <c:ext xmlns:c16="http://schemas.microsoft.com/office/drawing/2014/chart" uri="{C3380CC4-5D6E-409C-BE32-E72D297353CC}">
                <c16:uniqueId val="{00000007-4149-4346-A052-81600FD1E00D}"/>
              </c:ext>
            </c:extLst>
          </c:dPt>
          <c:dPt>
            <c:idx val="16"/>
            <c:invertIfNegative val="0"/>
            <c:bubble3D val="0"/>
            <c:spPr>
              <a:solidFill>
                <a:schemeClr val="accent3"/>
              </a:solidFill>
              <a:ln>
                <a:noFill/>
              </a:ln>
            </c:spPr>
            <c:extLst>
              <c:ext xmlns:c16="http://schemas.microsoft.com/office/drawing/2014/chart" uri="{C3380CC4-5D6E-409C-BE32-E72D297353CC}">
                <c16:uniqueId val="{00000008-4149-4346-A052-81600FD1E00D}"/>
              </c:ext>
            </c:extLst>
          </c:dPt>
          <c:dPt>
            <c:idx val="17"/>
            <c:invertIfNegative val="0"/>
            <c:bubble3D val="0"/>
            <c:spPr>
              <a:solidFill>
                <a:schemeClr val="accent1"/>
              </a:solidFill>
              <a:ln>
                <a:noFill/>
              </a:ln>
            </c:spPr>
            <c:extLst>
              <c:ext xmlns:c16="http://schemas.microsoft.com/office/drawing/2014/chart" uri="{C3380CC4-5D6E-409C-BE32-E72D297353CC}">
                <c16:uniqueId val="{00000009-4149-4346-A052-81600FD1E00D}"/>
              </c:ext>
            </c:extLst>
          </c:dPt>
          <c:dPt>
            <c:idx val="18"/>
            <c:invertIfNegative val="0"/>
            <c:bubble3D val="0"/>
            <c:spPr>
              <a:solidFill>
                <a:schemeClr val="accent1"/>
              </a:solidFill>
              <a:ln>
                <a:noFill/>
              </a:ln>
            </c:spPr>
            <c:extLst>
              <c:ext xmlns:c16="http://schemas.microsoft.com/office/drawing/2014/chart" uri="{C3380CC4-5D6E-409C-BE32-E72D297353CC}">
                <c16:uniqueId val="{0000000A-4149-4346-A052-81600FD1E00D}"/>
              </c:ext>
            </c:extLst>
          </c:dPt>
          <c:dPt>
            <c:idx val="19"/>
            <c:invertIfNegative val="0"/>
            <c:bubble3D val="0"/>
            <c:spPr>
              <a:solidFill>
                <a:schemeClr val="accent1"/>
              </a:solidFill>
              <a:ln>
                <a:noFill/>
              </a:ln>
            </c:spPr>
            <c:extLst>
              <c:ext xmlns:c16="http://schemas.microsoft.com/office/drawing/2014/chart" uri="{C3380CC4-5D6E-409C-BE32-E72D297353CC}">
                <c16:uniqueId val="{0000000B-4149-4346-A052-81600FD1E00D}"/>
              </c:ext>
            </c:extLst>
          </c:dPt>
          <c:xVal>
            <c:numRef>
              <c:f>Sheet1!$A$1:$A$56</c:f>
              <c:numCache>
                <c:formatCode>General</c:formatCode>
                <c:ptCount val="56"/>
                <c:pt idx="9">
                  <c:v>3026.1243354794537</c:v>
                </c:pt>
                <c:pt idx="10">
                  <c:v>3303.8801383019595</c:v>
                </c:pt>
                <c:pt idx="11">
                  <c:v>3367.2670321064993</c:v>
                </c:pt>
                <c:pt idx="12">
                  <c:v>3035.9818115077865</c:v>
                </c:pt>
                <c:pt idx="13">
                  <c:v>3099.099099099099</c:v>
                </c:pt>
                <c:pt idx="14">
                  <c:v>3321.74584781769</c:v>
                </c:pt>
                <c:pt idx="15">
                  <c:v>2823.3749179251481</c:v>
                </c:pt>
                <c:pt idx="16">
                  <c:v>2138.7714498880873</c:v>
                </c:pt>
                <c:pt idx="17">
                  <c:v>1903.9185299977862</c:v>
                </c:pt>
                <c:pt idx="18">
                  <c:v>1752.9555646147576</c:v>
                </c:pt>
                <c:pt idx="19">
                  <c:v>2023.0533992001883</c:v>
                </c:pt>
                <c:pt idx="20">
                  <c:v>2810.4575163398695</c:v>
                </c:pt>
                <c:pt idx="21">
                  <c:v>2261.9673855865335</c:v>
                </c:pt>
                <c:pt idx="22">
                  <c:v>1801.4243820695433</c:v>
                </c:pt>
                <c:pt idx="23">
                  <c:v>1639.6568160152526</c:v>
                </c:pt>
                <c:pt idx="24">
                  <c:v>1714.1718158261908</c:v>
                </c:pt>
                <c:pt idx="25">
                  <c:v>3422.2045364106643</c:v>
                </c:pt>
                <c:pt idx="26">
                  <c:v>2701.005025125628</c:v>
                </c:pt>
                <c:pt idx="27">
                  <c:v>1532.1574915375022</c:v>
                </c:pt>
                <c:pt idx="28">
                  <c:v>2053.4861509073544</c:v>
                </c:pt>
                <c:pt idx="29">
                  <c:v>2231.4478463933574</c:v>
                </c:pt>
              </c:numCache>
            </c:numRef>
          </c:xVal>
          <c:yVal>
            <c:numRef>
              <c:f>Sheet1!$F$1:$F$56</c:f>
              <c:numCache>
                <c:formatCode>General</c:formatCode>
                <c:ptCount val="56"/>
                <c:pt idx="9">
                  <c:v>31.523194326175485</c:v>
                </c:pt>
                <c:pt idx="10">
                  <c:v>30.721003479017174</c:v>
                </c:pt>
                <c:pt idx="11">
                  <c:v>39.976711187214612</c:v>
                </c:pt>
                <c:pt idx="12">
                  <c:v>58.370277968036518</c:v>
                </c:pt>
                <c:pt idx="13">
                  <c:v>94.254016171993911</c:v>
                </c:pt>
                <c:pt idx="14">
                  <c:v>6.4064631441617754</c:v>
                </c:pt>
                <c:pt idx="15">
                  <c:v>50.736201571560635</c:v>
                </c:pt>
                <c:pt idx="16">
                  <c:v>63.716190189566916</c:v>
                </c:pt>
                <c:pt idx="17">
                  <c:v>77.489458092338921</c:v>
                </c:pt>
                <c:pt idx="18">
                  <c:v>79.457502536783352</c:v>
                </c:pt>
                <c:pt idx="19">
                  <c:v>27.042218241423722</c:v>
                </c:pt>
                <c:pt idx="20">
                  <c:v>27.67553129009379</c:v>
                </c:pt>
                <c:pt idx="21">
                  <c:v>56.903383105022833</c:v>
                </c:pt>
                <c:pt idx="22">
                  <c:v>85.298459817351599</c:v>
                </c:pt>
                <c:pt idx="23">
                  <c:v>64.590486656519545</c:v>
                </c:pt>
                <c:pt idx="24">
                  <c:v>59.784537163876209</c:v>
                </c:pt>
                <c:pt idx="25">
                  <c:v>18.561639269406392</c:v>
                </c:pt>
                <c:pt idx="26">
                  <c:v>27.953752845362235</c:v>
                </c:pt>
                <c:pt idx="27">
                  <c:v>77.981185496741588</c:v>
                </c:pt>
                <c:pt idx="28">
                  <c:v>53.098683893731845</c:v>
                </c:pt>
                <c:pt idx="29">
                  <c:v>42.163066158156916</c:v>
                </c:pt>
              </c:numCache>
            </c:numRef>
          </c:yVal>
          <c:bubbleSize>
            <c:numRef>
              <c:f>Sheet1!$G$1:$G$56</c:f>
              <c:numCache>
                <c:formatCode>General</c:formatCode>
                <c:ptCount val="56"/>
                <c:pt idx="9">
                  <c:v>740</c:v>
                </c:pt>
                <c:pt idx="10">
                  <c:v>420</c:v>
                </c:pt>
                <c:pt idx="11">
                  <c:v>20</c:v>
                </c:pt>
                <c:pt idx="12">
                  <c:v>180</c:v>
                </c:pt>
                <c:pt idx="13">
                  <c:v>60</c:v>
                </c:pt>
                <c:pt idx="14">
                  <c:v>210</c:v>
                </c:pt>
                <c:pt idx="15">
                  <c:v>163</c:v>
                </c:pt>
                <c:pt idx="16">
                  <c:v>330</c:v>
                </c:pt>
                <c:pt idx="17">
                  <c:v>450</c:v>
                </c:pt>
                <c:pt idx="18">
                  <c:v>360</c:v>
                </c:pt>
                <c:pt idx="19">
                  <c:v>195</c:v>
                </c:pt>
                <c:pt idx="20">
                  <c:v>573</c:v>
                </c:pt>
                <c:pt idx="21">
                  <c:v>50</c:v>
                </c:pt>
                <c:pt idx="22">
                  <c:v>225</c:v>
                </c:pt>
                <c:pt idx="23">
                  <c:v>450</c:v>
                </c:pt>
                <c:pt idx="24">
                  <c:v>450</c:v>
                </c:pt>
                <c:pt idx="25">
                  <c:v>420</c:v>
                </c:pt>
                <c:pt idx="26">
                  <c:v>335</c:v>
                </c:pt>
                <c:pt idx="27">
                  <c:v>412</c:v>
                </c:pt>
                <c:pt idx="28">
                  <c:v>220</c:v>
                </c:pt>
                <c:pt idx="29">
                  <c:v>220</c:v>
                </c:pt>
              </c:numCache>
            </c:numRef>
          </c:bubbleSize>
          <c:bubble3D val="0"/>
          <c:extLst>
            <c:ext xmlns:c16="http://schemas.microsoft.com/office/drawing/2014/chart" uri="{C3380CC4-5D6E-409C-BE32-E72D297353CC}">
              <c16:uniqueId val="{0000000C-4149-4346-A052-81600FD1E00D}"/>
            </c:ext>
          </c:extLst>
        </c:ser>
        <c:ser>
          <c:idx val="3"/>
          <c:order val="2"/>
          <c:spPr>
            <a:solidFill>
              <a:srgbClr val="012169"/>
            </a:solidFill>
            <a:ln>
              <a:noFill/>
            </a:ln>
          </c:spPr>
          <c:invertIfNegative val="0"/>
          <c:dPt>
            <c:idx val="30"/>
            <c:invertIfNegative val="0"/>
            <c:bubble3D val="0"/>
            <c:spPr>
              <a:solidFill>
                <a:schemeClr val="accent3"/>
              </a:solidFill>
              <a:ln>
                <a:noFill/>
              </a:ln>
            </c:spPr>
            <c:extLst>
              <c:ext xmlns:c16="http://schemas.microsoft.com/office/drawing/2014/chart" uri="{C3380CC4-5D6E-409C-BE32-E72D297353CC}">
                <c16:uniqueId val="{0000000D-4149-4346-A052-81600FD1E00D}"/>
              </c:ext>
            </c:extLst>
          </c:dPt>
          <c:dPt>
            <c:idx val="31"/>
            <c:invertIfNegative val="0"/>
            <c:bubble3D val="0"/>
            <c:spPr>
              <a:solidFill>
                <a:schemeClr val="accent3"/>
              </a:solidFill>
              <a:ln>
                <a:noFill/>
              </a:ln>
            </c:spPr>
            <c:extLst>
              <c:ext xmlns:c16="http://schemas.microsoft.com/office/drawing/2014/chart" uri="{C3380CC4-5D6E-409C-BE32-E72D297353CC}">
                <c16:uniqueId val="{0000000E-4149-4346-A052-81600FD1E00D}"/>
              </c:ext>
            </c:extLst>
          </c:dPt>
          <c:dPt>
            <c:idx val="32"/>
            <c:invertIfNegative val="0"/>
            <c:bubble3D val="0"/>
            <c:spPr>
              <a:solidFill>
                <a:schemeClr val="accent3"/>
              </a:solidFill>
              <a:ln>
                <a:noFill/>
              </a:ln>
            </c:spPr>
            <c:extLst>
              <c:ext xmlns:c16="http://schemas.microsoft.com/office/drawing/2014/chart" uri="{C3380CC4-5D6E-409C-BE32-E72D297353CC}">
                <c16:uniqueId val="{0000000F-4149-4346-A052-81600FD1E00D}"/>
              </c:ext>
            </c:extLst>
          </c:dPt>
          <c:dPt>
            <c:idx val="33"/>
            <c:invertIfNegative val="0"/>
            <c:bubble3D val="0"/>
            <c:spPr>
              <a:solidFill>
                <a:schemeClr val="accent3"/>
              </a:solidFill>
              <a:ln>
                <a:noFill/>
              </a:ln>
            </c:spPr>
            <c:extLst>
              <c:ext xmlns:c16="http://schemas.microsoft.com/office/drawing/2014/chart" uri="{C3380CC4-5D6E-409C-BE32-E72D297353CC}">
                <c16:uniqueId val="{00000010-4149-4346-A052-81600FD1E00D}"/>
              </c:ext>
            </c:extLst>
          </c:dPt>
          <c:dPt>
            <c:idx val="34"/>
            <c:invertIfNegative val="0"/>
            <c:bubble3D val="0"/>
            <c:spPr>
              <a:solidFill>
                <a:schemeClr val="accent3"/>
              </a:solidFill>
              <a:ln>
                <a:noFill/>
              </a:ln>
            </c:spPr>
            <c:extLst>
              <c:ext xmlns:c16="http://schemas.microsoft.com/office/drawing/2014/chart" uri="{C3380CC4-5D6E-409C-BE32-E72D297353CC}">
                <c16:uniqueId val="{00000011-4149-4346-A052-81600FD1E00D}"/>
              </c:ext>
            </c:extLst>
          </c:dPt>
          <c:dPt>
            <c:idx val="35"/>
            <c:invertIfNegative val="0"/>
            <c:bubble3D val="0"/>
            <c:spPr>
              <a:solidFill>
                <a:schemeClr val="accent1"/>
              </a:solidFill>
              <a:ln>
                <a:noFill/>
              </a:ln>
            </c:spPr>
            <c:extLst>
              <c:ext xmlns:c16="http://schemas.microsoft.com/office/drawing/2014/chart" uri="{C3380CC4-5D6E-409C-BE32-E72D297353CC}">
                <c16:uniqueId val="{00000012-4149-4346-A052-81600FD1E00D}"/>
              </c:ext>
            </c:extLst>
          </c:dPt>
          <c:dPt>
            <c:idx val="36"/>
            <c:invertIfNegative val="0"/>
            <c:bubble3D val="0"/>
            <c:spPr>
              <a:solidFill>
                <a:schemeClr val="accent2"/>
              </a:solidFill>
              <a:ln>
                <a:noFill/>
              </a:ln>
            </c:spPr>
            <c:extLst>
              <c:ext xmlns:c16="http://schemas.microsoft.com/office/drawing/2014/chart" uri="{C3380CC4-5D6E-409C-BE32-E72D297353CC}">
                <c16:uniqueId val="{00000013-4149-4346-A052-81600FD1E00D}"/>
              </c:ext>
            </c:extLst>
          </c:dPt>
          <c:xVal>
            <c:numRef>
              <c:f>Sheet1!$A$1:$A$56</c:f>
              <c:numCache>
                <c:formatCode>General</c:formatCode>
                <c:ptCount val="56"/>
                <c:pt idx="30">
                  <c:v>3086.3640465661942</c:v>
                </c:pt>
                <c:pt idx="31">
                  <c:v>1922.2172552525703</c:v>
                </c:pt>
                <c:pt idx="32">
                  <c:v>2672.467371037912</c:v>
                </c:pt>
                <c:pt idx="33">
                  <c:v>3083.5424883470782</c:v>
                </c:pt>
                <c:pt idx="34">
                  <c:v>1643.416778138735</c:v>
                </c:pt>
                <c:pt idx="35">
                  <c:v>2308.1052066559314</c:v>
                </c:pt>
                <c:pt idx="36">
                  <c:v>1881.8380743982493</c:v>
                </c:pt>
                <c:pt idx="37">
                  <c:v>3155.9633027522932</c:v>
                </c:pt>
                <c:pt idx="38">
                  <c:v>2268.5307306779214</c:v>
                </c:pt>
                <c:pt idx="39">
                  <c:v>2391.5461624026698</c:v>
                </c:pt>
                <c:pt idx="40">
                  <c:v>2373.0684326710816</c:v>
                </c:pt>
                <c:pt idx="41">
                  <c:v>2510.9489051094888</c:v>
                </c:pt>
                <c:pt idx="42">
                  <c:v>3027.1031326997536</c:v>
                </c:pt>
                <c:pt idx="43">
                  <c:v>3018.6030186030189</c:v>
                </c:pt>
                <c:pt idx="44">
                  <c:v>2646.1538461538462</c:v>
                </c:pt>
                <c:pt idx="45">
                  <c:v>2398.884239888424</c:v>
                </c:pt>
                <c:pt idx="46">
                  <c:v>2368.4935279537317</c:v>
                </c:pt>
                <c:pt idx="47">
                  <c:v>2510.9489051094888</c:v>
                </c:pt>
                <c:pt idx="48">
                  <c:v>2749.3606138107416</c:v>
                </c:pt>
              </c:numCache>
            </c:numRef>
          </c:xVal>
          <c:yVal>
            <c:numRef>
              <c:f>Sheet1!$H$1:$H$56</c:f>
              <c:numCache>
                <c:formatCode>General</c:formatCode>
                <c:ptCount val="56"/>
                <c:pt idx="30">
                  <c:v>18.110343400357817</c:v>
                </c:pt>
                <c:pt idx="31">
                  <c:v>70.602135328704577</c:v>
                </c:pt>
                <c:pt idx="32">
                  <c:v>36.599292161339427</c:v>
                </c:pt>
                <c:pt idx="33">
                  <c:v>56.564852511415531</c:v>
                </c:pt>
                <c:pt idx="34">
                  <c:v>78.757396499238979</c:v>
                </c:pt>
                <c:pt idx="35">
                  <c:v>40.488286931337733</c:v>
                </c:pt>
                <c:pt idx="36">
                  <c:v>66.461251585489606</c:v>
                </c:pt>
                <c:pt idx="37">
                  <c:v>65.933258999681428</c:v>
                </c:pt>
                <c:pt idx="38">
                  <c:v>69.195522428149346</c:v>
                </c:pt>
                <c:pt idx="39">
                  <c:v>45.650822992210585</c:v>
                </c:pt>
                <c:pt idx="40">
                  <c:v>79.176320475847163</c:v>
                </c:pt>
                <c:pt idx="41">
                  <c:v>67.916315068493162</c:v>
                </c:pt>
                <c:pt idx="42">
                  <c:v>73.842147945205483</c:v>
                </c:pt>
                <c:pt idx="43">
                  <c:v>67.90698491766986</c:v>
                </c:pt>
                <c:pt idx="44">
                  <c:v>26.808719800747195</c:v>
                </c:pt>
                <c:pt idx="45">
                  <c:v>40.071710147456599</c:v>
                </c:pt>
                <c:pt idx="46">
                  <c:v>19.59086844145774</c:v>
                </c:pt>
                <c:pt idx="47">
                  <c:v>52.798641552511413</c:v>
                </c:pt>
                <c:pt idx="48">
                  <c:v>86.540123754669992</c:v>
                </c:pt>
              </c:numCache>
            </c:numRef>
          </c:yVal>
          <c:bubbleSize>
            <c:numRef>
              <c:f>Sheet1!$I$1:$I$56</c:f>
              <c:numCache>
                <c:formatCode>General</c:formatCode>
                <c:ptCount val="56"/>
                <c:pt idx="30">
                  <c:v>171</c:v>
                </c:pt>
                <c:pt idx="31">
                  <c:v>365</c:v>
                </c:pt>
                <c:pt idx="32">
                  <c:v>150</c:v>
                </c:pt>
                <c:pt idx="33">
                  <c:v>150</c:v>
                </c:pt>
                <c:pt idx="34">
                  <c:v>195</c:v>
                </c:pt>
                <c:pt idx="35">
                  <c:v>108</c:v>
                </c:pt>
                <c:pt idx="36">
                  <c:v>360</c:v>
                </c:pt>
                <c:pt idx="37">
                  <c:v>86</c:v>
                </c:pt>
                <c:pt idx="38">
                  <c:v>51</c:v>
                </c:pt>
                <c:pt idx="39">
                  <c:v>85</c:v>
                </c:pt>
                <c:pt idx="40">
                  <c:v>95</c:v>
                </c:pt>
                <c:pt idx="41">
                  <c:v>50</c:v>
                </c:pt>
                <c:pt idx="42">
                  <c:v>50</c:v>
                </c:pt>
                <c:pt idx="43">
                  <c:v>33</c:v>
                </c:pt>
                <c:pt idx="44">
                  <c:v>55</c:v>
                </c:pt>
                <c:pt idx="45">
                  <c:v>78.5</c:v>
                </c:pt>
                <c:pt idx="46">
                  <c:v>53</c:v>
                </c:pt>
                <c:pt idx="47">
                  <c:v>20</c:v>
                </c:pt>
                <c:pt idx="48">
                  <c:v>44</c:v>
                </c:pt>
              </c:numCache>
            </c:numRef>
          </c:bubbleSize>
          <c:bubble3D val="0"/>
          <c:extLst>
            <c:ext xmlns:c16="http://schemas.microsoft.com/office/drawing/2014/chart" uri="{C3380CC4-5D6E-409C-BE32-E72D297353CC}">
              <c16:uniqueId val="{00000014-4149-4346-A052-81600FD1E00D}"/>
            </c:ext>
          </c:extLst>
        </c:ser>
        <c:ser>
          <c:idx val="4"/>
          <c:order val="3"/>
          <c:spPr>
            <a:solidFill>
              <a:srgbClr val="012169"/>
            </a:solidFill>
            <a:ln>
              <a:noFill/>
            </a:ln>
          </c:spPr>
          <c:invertIfNegative val="0"/>
          <c:dPt>
            <c:idx val="49"/>
            <c:invertIfNegative val="0"/>
            <c:bubble3D val="0"/>
            <c:spPr>
              <a:solidFill>
                <a:schemeClr val="accent3"/>
              </a:solidFill>
              <a:ln>
                <a:noFill/>
              </a:ln>
            </c:spPr>
            <c:extLst>
              <c:ext xmlns:c16="http://schemas.microsoft.com/office/drawing/2014/chart" uri="{C3380CC4-5D6E-409C-BE32-E72D297353CC}">
                <c16:uniqueId val="{00000015-4149-4346-A052-81600FD1E00D}"/>
              </c:ext>
            </c:extLst>
          </c:dPt>
          <c:dPt>
            <c:idx val="50"/>
            <c:invertIfNegative val="0"/>
            <c:bubble3D val="0"/>
            <c:spPr>
              <a:solidFill>
                <a:schemeClr val="accent1"/>
              </a:solidFill>
              <a:ln>
                <a:noFill/>
              </a:ln>
            </c:spPr>
            <c:extLst>
              <c:ext xmlns:c16="http://schemas.microsoft.com/office/drawing/2014/chart" uri="{C3380CC4-5D6E-409C-BE32-E72D297353CC}">
                <c16:uniqueId val="{00000016-4149-4346-A052-81600FD1E00D}"/>
              </c:ext>
            </c:extLst>
          </c:dPt>
          <c:dPt>
            <c:idx val="51"/>
            <c:invertIfNegative val="0"/>
            <c:bubble3D val="0"/>
            <c:spPr>
              <a:solidFill>
                <a:schemeClr val="accent1"/>
              </a:solidFill>
              <a:ln>
                <a:noFill/>
              </a:ln>
            </c:spPr>
            <c:extLst>
              <c:ext xmlns:c16="http://schemas.microsoft.com/office/drawing/2014/chart" uri="{C3380CC4-5D6E-409C-BE32-E72D297353CC}">
                <c16:uniqueId val="{00000017-4149-4346-A052-81600FD1E00D}"/>
              </c:ext>
            </c:extLst>
          </c:dPt>
          <c:dPt>
            <c:idx val="52"/>
            <c:invertIfNegative val="0"/>
            <c:bubble3D val="0"/>
            <c:spPr>
              <a:solidFill>
                <a:schemeClr val="accent2"/>
              </a:solidFill>
              <a:ln>
                <a:noFill/>
              </a:ln>
            </c:spPr>
            <c:extLst>
              <c:ext xmlns:c16="http://schemas.microsoft.com/office/drawing/2014/chart" uri="{C3380CC4-5D6E-409C-BE32-E72D297353CC}">
                <c16:uniqueId val="{00000018-4149-4346-A052-81600FD1E00D}"/>
              </c:ext>
            </c:extLst>
          </c:dPt>
          <c:dPt>
            <c:idx val="53"/>
            <c:invertIfNegative val="0"/>
            <c:bubble3D val="0"/>
            <c:extLst>
              <c:ext xmlns:c16="http://schemas.microsoft.com/office/drawing/2014/chart" uri="{C3380CC4-5D6E-409C-BE32-E72D297353CC}">
                <c16:uniqueId val="{00000019-4149-4346-A052-81600FD1E00D}"/>
              </c:ext>
            </c:extLst>
          </c:dPt>
          <c:dPt>
            <c:idx val="54"/>
            <c:invertIfNegative val="0"/>
            <c:bubble3D val="0"/>
            <c:extLst>
              <c:ext xmlns:c16="http://schemas.microsoft.com/office/drawing/2014/chart" uri="{C3380CC4-5D6E-409C-BE32-E72D297353CC}">
                <c16:uniqueId val="{0000001A-4149-4346-A052-81600FD1E00D}"/>
              </c:ext>
            </c:extLst>
          </c:dPt>
          <c:dPt>
            <c:idx val="55"/>
            <c:invertIfNegative val="0"/>
            <c:bubble3D val="0"/>
            <c:spPr>
              <a:pattFill prst="pct75">
                <a:fgClr>
                  <a:schemeClr val="tx1"/>
                </a:fgClr>
                <a:bgClr>
                  <a:schemeClr val="bg1"/>
                </a:bgClr>
              </a:pattFill>
              <a:ln>
                <a:noFill/>
              </a:ln>
            </c:spPr>
            <c:extLst>
              <c:ext xmlns:c16="http://schemas.microsoft.com/office/drawing/2014/chart" uri="{C3380CC4-5D6E-409C-BE32-E72D297353CC}">
                <c16:uniqueId val="{0000001B-4149-4346-A052-81600FD1E00D}"/>
              </c:ext>
            </c:extLst>
          </c:dPt>
          <c:xVal>
            <c:numRef>
              <c:f>Sheet1!$A$1:$A$56</c:f>
              <c:numCache>
                <c:formatCode>General</c:formatCode>
                <c:ptCount val="56"/>
                <c:pt idx="49">
                  <c:v>1881.4263837234741</c:v>
                </c:pt>
                <c:pt idx="50">
                  <c:v>1904.7619047619048</c:v>
                </c:pt>
                <c:pt idx="51">
                  <c:v>2249.5422443107509</c:v>
                </c:pt>
                <c:pt idx="52">
                  <c:v>1990.7407407407409</c:v>
                </c:pt>
                <c:pt idx="53">
                  <c:v>2719.7975964579382</c:v>
                </c:pt>
                <c:pt idx="54">
                  <c:v>1997.6771196283391</c:v>
                </c:pt>
                <c:pt idx="55">
                  <c:v>1878</c:v>
                </c:pt>
              </c:numCache>
            </c:numRef>
          </c:xVal>
          <c:yVal>
            <c:numRef>
              <c:f>Sheet1!$J$1:$J$56</c:f>
              <c:numCache>
                <c:formatCode>General</c:formatCode>
                <c:ptCount val="56"/>
                <c:pt idx="49">
                  <c:v>53.289166260781329</c:v>
                </c:pt>
                <c:pt idx="50">
                  <c:v>57.758474885844755</c:v>
                </c:pt>
                <c:pt idx="51">
                  <c:v>66.878256537982566</c:v>
                </c:pt>
                <c:pt idx="52">
                  <c:v>67.085828277886506</c:v>
                </c:pt>
                <c:pt idx="53">
                  <c:v>87.050734744707341</c:v>
                </c:pt>
                <c:pt idx="54">
                  <c:v>71.027682648401822</c:v>
                </c:pt>
                <c:pt idx="55">
                  <c:v>80</c:v>
                </c:pt>
              </c:numCache>
            </c:numRef>
          </c:yVal>
          <c:bubbleSize>
            <c:numRef>
              <c:f>Sheet1!$K$1:$K$56</c:f>
              <c:numCache>
                <c:formatCode>General</c:formatCode>
                <c:ptCount val="56"/>
                <c:pt idx="49">
                  <c:v>225</c:v>
                </c:pt>
                <c:pt idx="50">
                  <c:v>210</c:v>
                </c:pt>
                <c:pt idx="51">
                  <c:v>33</c:v>
                </c:pt>
                <c:pt idx="52">
                  <c:v>210</c:v>
                </c:pt>
                <c:pt idx="53">
                  <c:v>22</c:v>
                </c:pt>
                <c:pt idx="54">
                  <c:v>10</c:v>
                </c:pt>
                <c:pt idx="55">
                  <c:v>220</c:v>
                </c:pt>
              </c:numCache>
            </c:numRef>
          </c:bubbleSize>
          <c:bubble3D val="0"/>
          <c:extLst>
            <c:ext xmlns:c16="http://schemas.microsoft.com/office/drawing/2014/chart" uri="{C3380CC4-5D6E-409C-BE32-E72D297353CC}">
              <c16:uniqueId val="{0000001C-4149-4346-A052-81600FD1E00D}"/>
            </c:ext>
          </c:extLst>
        </c:ser>
        <c:dLbls>
          <c:showLegendKey val="0"/>
          <c:showVal val="0"/>
          <c:showCatName val="0"/>
          <c:showSerName val="0"/>
          <c:showPercent val="0"/>
          <c:showBubbleSize val="0"/>
        </c:dLbls>
        <c:bubbleScale val="103"/>
        <c:showNegBubbles val="0"/>
        <c:axId val="1778794760"/>
        <c:axId val="1"/>
      </c:bubbleChart>
      <c:valAx>
        <c:axId val="1778794760"/>
        <c:scaling>
          <c:orientation val="minMax"/>
          <c:max val="3500"/>
          <c:min val="1400"/>
        </c:scaling>
        <c:delete val="0"/>
        <c:axPos val="b"/>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800">
                <a:solidFill>
                  <a:schemeClr val="tx1"/>
                </a:solidFill>
                <a:latin typeface="+mn-lt"/>
                <a:ea typeface="+mn-ea"/>
                <a:cs typeface="+mn-cs"/>
                <a:sym typeface="+mn-lt"/>
              </a:defRPr>
            </a:pPr>
            <a:endParaRPr lang="en-US"/>
          </a:p>
        </c:txPr>
        <c:crossAx val="1"/>
        <c:crosses val="min"/>
        <c:crossBetween val="midCat"/>
        <c:majorUnit val="100"/>
      </c:valAx>
      <c:valAx>
        <c:axId val="1"/>
        <c:scaling>
          <c:orientation val="minMax"/>
          <c:max val="95"/>
          <c:min val="0"/>
        </c:scaling>
        <c:delete val="0"/>
        <c:axPos val="l"/>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800">
                <a:solidFill>
                  <a:schemeClr val="tx1"/>
                </a:solidFill>
                <a:latin typeface="+mn-lt"/>
                <a:ea typeface="+mn-ea"/>
                <a:cs typeface="+mn-cs"/>
                <a:sym typeface="+mn-lt"/>
              </a:defRPr>
            </a:pPr>
            <a:endParaRPr lang="en-US"/>
          </a:p>
        </c:txPr>
        <c:crossAx val="1778794760"/>
        <c:crosses val="min"/>
        <c:crossBetween val="midCat"/>
        <c:majorUnit val="5"/>
      </c:valAx>
      <c:spPr>
        <a:noFill/>
        <a:ln w="9525" algn="ctr">
          <a:solidFill>
            <a:schemeClr val="tx1"/>
          </a:solidFill>
          <a:prstDash val="solid"/>
        </a:ln>
      </c:spPr>
    </c:plotArea>
    <c:plotVisOnly val="0"/>
    <c:dispBlanksAs val="gap"/>
    <c:showDLblsOverMax val="1"/>
  </c:chart>
  <c:externalData r:id="rId1">
    <c:autoUpdate val="0"/>
  </c:externalData>
</c:chartSpace>
</file>

<file path=ppt/charts/chart1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520215633423181E-2"/>
          <c:y val="0.18604651162790697"/>
          <c:w val="0.96495956873315369"/>
          <c:h val="0.73333333333333328"/>
        </c:manualLayout>
      </c:layout>
      <c:barChart>
        <c:barDir val="col"/>
        <c:grouping val="clustered"/>
        <c:varyColors val="0"/>
        <c:ser>
          <c:idx val="0"/>
          <c:order val="0"/>
          <c:invertIfNegative val="0"/>
          <c:val>
            <c:numRef>
              <c:f>Sheet1!$A$1:$B$1</c:f>
              <c:numCache>
                <c:formatCode>General</c:formatCode>
                <c:ptCount val="2"/>
                <c:pt idx="0">
                  <c:v>0</c:v>
                </c:pt>
              </c:numCache>
            </c:numRef>
          </c:val>
          <c:extLst>
            <c:ext xmlns:c16="http://schemas.microsoft.com/office/drawing/2014/chart" uri="{C3380CC4-5D6E-409C-BE32-E72D297353CC}">
              <c16:uniqueId val="{00000000-269A-455E-9F68-61E807286F50}"/>
            </c:ext>
          </c:extLst>
        </c:ser>
        <c:ser>
          <c:idx val="1"/>
          <c:order val="1"/>
          <c:spPr>
            <a:solidFill>
              <a:srgbClr val="86BC25"/>
            </a:solidFill>
            <a:ln>
              <a:noFill/>
            </a:ln>
          </c:spPr>
          <c:invertIfNegative val="0"/>
          <c:dLbls>
            <c:dLbl>
              <c:idx val="0"/>
              <c:layout>
                <c:manualLayout>
                  <c:x val="0"/>
                  <c:y val="-0.4573643410852713"/>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269A-455E-9F68-61E807286F50}"/>
                </c:ext>
              </c:extLst>
            </c:dLbl>
            <c:dLbl>
              <c:idx val="1"/>
              <c:layout>
                <c:manualLayout>
                  <c:x val="0"/>
                  <c:y val="-0.46201550387596901"/>
                </c:manualLayout>
              </c:layout>
              <c:numFmt formatCode="#,##0.0;&quot;-&quot;#,##0.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269A-455E-9F68-61E807286F5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Sheet1!$A$2:$B$2</c:f>
              <c:numCache>
                <c:formatCode>General</c:formatCode>
                <c:ptCount val="2"/>
                <c:pt idx="0">
                  <c:v>4.97</c:v>
                </c:pt>
                <c:pt idx="1">
                  <c:v>5.03</c:v>
                </c:pt>
              </c:numCache>
            </c:numRef>
          </c:val>
          <c:extLst>
            <c:ext xmlns:c16="http://schemas.microsoft.com/office/drawing/2014/chart" uri="{C3380CC4-5D6E-409C-BE32-E72D297353CC}">
              <c16:uniqueId val="{00000003-269A-455E-9F68-61E807286F50}"/>
            </c:ext>
          </c:extLst>
        </c:ser>
        <c:dLbls>
          <c:showLegendKey val="0"/>
          <c:showVal val="0"/>
          <c:showCatName val="0"/>
          <c:showSerName val="0"/>
          <c:showPercent val="0"/>
          <c:showBubbleSize val="0"/>
        </c:dLbls>
        <c:gapWidth val="200"/>
        <c:axId val="583623808"/>
        <c:axId val="1"/>
      </c:barChart>
      <c:catAx>
        <c:axId val="583623808"/>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5.0999999999999996"/>
          <c:min val="0"/>
        </c:scaling>
        <c:delete val="1"/>
        <c:axPos val="l"/>
        <c:numFmt formatCode="General" sourceLinked="1"/>
        <c:majorTickMark val="out"/>
        <c:minorTickMark val="none"/>
        <c:tickLblPos val="nextTo"/>
        <c:crossAx val="583623808"/>
        <c:crosses val="min"/>
        <c:crossBetween val="between"/>
      </c:valAx>
    </c:plotArea>
    <c:plotVisOnly val="0"/>
    <c:dispBlanksAs val="gap"/>
    <c:showDLblsOverMax val="1"/>
  </c:chart>
  <c:externalData r:id="rId1">
    <c:autoUpdate val="0"/>
  </c:externalData>
</c:chartSpace>
</file>

<file path=ppt/charts/chart1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660714285714284"/>
          <c:y val="9.0121317157712294E-2"/>
          <c:w val="0.72678571428571426"/>
          <c:h val="0.81975736568457536"/>
        </c:manualLayout>
      </c:layout>
      <c:barChart>
        <c:barDir val="col"/>
        <c:grouping val="stacked"/>
        <c:varyColors val="0"/>
        <c:ser>
          <c:idx val="0"/>
          <c:order val="0"/>
          <c:spPr>
            <a:solidFill>
              <a:srgbClr val="012169"/>
            </a:solidFill>
            <a:ln>
              <a:noFill/>
            </a:ln>
          </c:spPr>
          <c:invertIfNegative val="0"/>
          <c:dLbls>
            <c:dLbl>
              <c:idx val="0"/>
              <c:layout>
                <c:manualLayout>
                  <c:x val="0"/>
                  <c:y val="0"/>
                </c:manualLayout>
              </c:layout>
              <c:numFmt formatCode="#,##0.0;&quot;-&quot;#,##0.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8FF8-45CC-A255-6F726985864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f>
              <c:numCache>
                <c:formatCode>General</c:formatCode>
                <c:ptCount val="1"/>
                <c:pt idx="0">
                  <c:v>2.98</c:v>
                </c:pt>
              </c:numCache>
            </c:numRef>
          </c:val>
          <c:extLst>
            <c:ext xmlns:c16="http://schemas.microsoft.com/office/drawing/2014/chart" uri="{C3380CC4-5D6E-409C-BE32-E72D297353CC}">
              <c16:uniqueId val="{00000001-8FF8-45CC-A255-6F7269858646}"/>
            </c:ext>
          </c:extLst>
        </c:ser>
        <c:ser>
          <c:idx val="1"/>
          <c:order val="1"/>
          <c:spPr>
            <a:solidFill>
              <a:schemeClr val="accent5"/>
            </a:solidFill>
            <a:ln>
              <a:noFill/>
            </a:ln>
          </c:spPr>
          <c:invertIfNegative val="0"/>
          <c:dLbls>
            <c:dLbl>
              <c:idx val="0"/>
              <c:layout>
                <c:manualLayout>
                  <c:x val="0"/>
                  <c:y val="-1.7331022530329288E-3"/>
                </c:manualLayout>
              </c:layout>
              <c:numFmt formatCode="#,##0.0;&quot;-&quot;#,##0.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8FF8-45CC-A255-6F726985864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f>
              <c:numCache>
                <c:formatCode>General</c:formatCode>
                <c:ptCount val="1"/>
                <c:pt idx="0">
                  <c:v>2.0499999999999994</c:v>
                </c:pt>
              </c:numCache>
            </c:numRef>
          </c:val>
          <c:extLst>
            <c:ext xmlns:c16="http://schemas.microsoft.com/office/drawing/2014/chart" uri="{C3380CC4-5D6E-409C-BE32-E72D297353CC}">
              <c16:uniqueId val="{00000003-8FF8-45CC-A255-6F7269858646}"/>
            </c:ext>
          </c:extLst>
        </c:ser>
        <c:dLbls>
          <c:showLegendKey val="0"/>
          <c:showVal val="0"/>
          <c:showCatName val="0"/>
          <c:showSerName val="0"/>
          <c:showPercent val="0"/>
          <c:showBubbleSize val="0"/>
        </c:dLbls>
        <c:gapWidth val="150"/>
        <c:overlap val="100"/>
        <c:axId val="583628072"/>
        <c:axId val="1"/>
      </c:barChart>
      <c:catAx>
        <c:axId val="583628072"/>
        <c:scaling>
          <c:orientation val="minMax"/>
        </c:scaling>
        <c:delete val="0"/>
        <c:axPos val="b"/>
        <c:majorGridlines>
          <c:spPr>
            <a:ln>
              <a:noFill/>
            </a:ln>
          </c:spPr>
        </c:majorGridlines>
        <c:majorTickMark val="none"/>
        <c:minorTickMark val="none"/>
        <c:tickLblPos val="none"/>
        <c:spPr>
          <a:ln w="9525" algn="ctr">
            <a:solidFill>
              <a:srgbClr val="FFFFFF"/>
            </a:solidFill>
            <a:prstDash val="solid"/>
          </a:ln>
        </c:spPr>
        <c:crossAx val="1"/>
        <c:crosses val="min"/>
        <c:auto val="0"/>
        <c:lblAlgn val="ctr"/>
        <c:lblOffset val="100"/>
        <c:noMultiLvlLbl val="0"/>
      </c:catAx>
      <c:valAx>
        <c:axId val="1"/>
        <c:scaling>
          <c:orientation val="minMax"/>
          <c:max val="5.0999999999999996"/>
          <c:min val="0"/>
        </c:scaling>
        <c:delete val="1"/>
        <c:axPos val="l"/>
        <c:numFmt formatCode="General" sourceLinked="1"/>
        <c:majorTickMark val="out"/>
        <c:minorTickMark val="none"/>
        <c:tickLblPos val="nextTo"/>
        <c:crossAx val="583628072"/>
        <c:crosses val="min"/>
        <c:crossBetween val="between"/>
      </c:valAx>
    </c:plotArea>
    <c:plotVisOnly val="0"/>
    <c:dispBlanksAs val="gap"/>
    <c:showDLblsOverMax val="1"/>
  </c:chart>
  <c:externalData r:id="rId1">
    <c:autoUpdate val="0"/>
  </c:externalData>
</c:chartSpace>
</file>

<file path=ppt/charts/chart1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660714285714284"/>
          <c:y val="6.7708333333333329E-2"/>
          <c:w val="0.72678571428571426"/>
          <c:h val="0.86458333333333326"/>
        </c:manualLayout>
      </c:layout>
      <c:barChart>
        <c:barDir val="col"/>
        <c:grouping val="stacked"/>
        <c:varyColors val="0"/>
        <c:ser>
          <c:idx val="0"/>
          <c:order val="0"/>
          <c:spPr>
            <a:solidFill>
              <a:srgbClr val="012169"/>
            </a:solidFill>
            <a:ln>
              <a:noFill/>
            </a:ln>
          </c:spPr>
          <c:invertIfNegative val="0"/>
          <c:dLbls>
            <c:dLbl>
              <c:idx val="0"/>
              <c:layout>
                <c:manualLayout>
                  <c:x val="0"/>
                  <c:y val="0"/>
                </c:manualLayout>
              </c:layout>
              <c:numFmt formatCode="#,##0.0;&quot;-&quot;#,##0.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5C8-4064-BF00-C284148C4F1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f>
              <c:numCache>
                <c:formatCode>General</c:formatCode>
                <c:ptCount val="1"/>
                <c:pt idx="0">
                  <c:v>3.16</c:v>
                </c:pt>
              </c:numCache>
            </c:numRef>
          </c:val>
          <c:extLst>
            <c:ext xmlns:c16="http://schemas.microsoft.com/office/drawing/2014/chart" uri="{C3380CC4-5D6E-409C-BE32-E72D297353CC}">
              <c16:uniqueId val="{00000001-45C8-4064-BF00-C284148C4F1F}"/>
            </c:ext>
          </c:extLst>
        </c:ser>
        <c:ser>
          <c:idx val="1"/>
          <c:order val="1"/>
          <c:spPr>
            <a:solidFill>
              <a:schemeClr val="accent5"/>
            </a:solidFill>
            <a:ln>
              <a:noFill/>
            </a:ln>
          </c:spPr>
          <c:invertIfNegative val="0"/>
          <c:dLbls>
            <c:dLbl>
              <c:idx val="0"/>
              <c:layout>
                <c:manualLayout>
                  <c:x val="0"/>
                  <c:y val="0"/>
                </c:manualLayout>
              </c:layout>
              <c:numFmt formatCode="#,##0.0;&quot;-&quot;#,##0.0" sourceLinked="0"/>
              <c:spPr>
                <a:noFill/>
                <a:ln>
                  <a:noFill/>
                </a:ln>
              </c:spPr>
              <c:txPr>
                <a:bodyPr wrap="none"/>
                <a:lstStyle/>
                <a:p>
                  <a:pPr>
                    <a:defRPr sz="1000">
                      <a:solidFill>
                        <a:schemeClr val="bg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45C8-4064-BF00-C284148C4F1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f>
              <c:numCache>
                <c:formatCode>General</c:formatCode>
                <c:ptCount val="1"/>
                <c:pt idx="0">
                  <c:v>2.5199999999999996</c:v>
                </c:pt>
              </c:numCache>
            </c:numRef>
          </c:val>
          <c:extLst>
            <c:ext xmlns:c16="http://schemas.microsoft.com/office/drawing/2014/chart" uri="{C3380CC4-5D6E-409C-BE32-E72D297353CC}">
              <c16:uniqueId val="{00000003-45C8-4064-BF00-C284148C4F1F}"/>
            </c:ext>
          </c:extLst>
        </c:ser>
        <c:dLbls>
          <c:showLegendKey val="0"/>
          <c:showVal val="0"/>
          <c:showCatName val="0"/>
          <c:showSerName val="0"/>
          <c:showPercent val="0"/>
          <c:showBubbleSize val="0"/>
        </c:dLbls>
        <c:gapWidth val="150"/>
        <c:overlap val="100"/>
        <c:axId val="958777072"/>
        <c:axId val="1"/>
      </c:barChart>
      <c:catAx>
        <c:axId val="958777072"/>
        <c:scaling>
          <c:orientation val="minMax"/>
        </c:scaling>
        <c:delete val="0"/>
        <c:axPos val="b"/>
        <c:majorGridlines>
          <c:spPr>
            <a:ln>
              <a:noFill/>
            </a:ln>
          </c:spPr>
        </c:majorGridlines>
        <c:majorTickMark val="none"/>
        <c:minorTickMark val="none"/>
        <c:tickLblPos val="none"/>
        <c:spPr>
          <a:ln w="9525" algn="ctr">
            <a:solidFill>
              <a:srgbClr val="FFFFFF"/>
            </a:solidFill>
            <a:prstDash val="solid"/>
          </a:ln>
        </c:spPr>
        <c:crossAx val="1"/>
        <c:crosses val="min"/>
        <c:auto val="0"/>
        <c:lblAlgn val="ctr"/>
        <c:lblOffset val="100"/>
        <c:noMultiLvlLbl val="0"/>
      </c:catAx>
      <c:valAx>
        <c:axId val="1"/>
        <c:scaling>
          <c:orientation val="minMax"/>
          <c:max val="5.68"/>
          <c:min val="0"/>
        </c:scaling>
        <c:delete val="1"/>
        <c:axPos val="l"/>
        <c:numFmt formatCode="General" sourceLinked="1"/>
        <c:majorTickMark val="out"/>
        <c:minorTickMark val="none"/>
        <c:tickLblPos val="nextTo"/>
        <c:crossAx val="958777072"/>
        <c:crosses val="min"/>
        <c:crossBetween val="between"/>
      </c:valAx>
    </c:plotArea>
    <c:plotVisOnly val="0"/>
    <c:dispBlanksAs val="gap"/>
    <c:showDLblsOverMax val="1"/>
  </c:chart>
  <c:externalData r:id="rId1">
    <c:autoUpdate val="0"/>
  </c:externalData>
</c:chartSpace>
</file>

<file path=ppt/charts/chart1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861219195849545E-2"/>
          <c:y val="0.16133162612035851"/>
          <c:w val="0.96627756160830092"/>
          <c:h val="0.77208706786171577"/>
        </c:manualLayout>
      </c:layout>
      <c:barChart>
        <c:barDir val="col"/>
        <c:grouping val="stacked"/>
        <c:varyColors val="0"/>
        <c:ser>
          <c:idx val="0"/>
          <c:order val="0"/>
          <c:spPr>
            <a:solidFill>
              <a:srgbClr val="012169"/>
            </a:solidFill>
            <a:ln>
              <a:noFill/>
            </a:ln>
          </c:spPr>
          <c:invertIfNegative val="0"/>
          <c:dLbls>
            <c:dLbl>
              <c:idx val="0"/>
              <c:layout>
                <c:manualLayout>
                  <c:x val="0"/>
                  <c:y val="-0.28681177976952626"/>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D0D4-491A-8438-2675EAC382DC}"/>
                </c:ext>
              </c:extLst>
            </c:dLbl>
            <c:dLbl>
              <c:idx val="1"/>
              <c:layout>
                <c:manualLayout>
                  <c:x val="0"/>
                  <c:y val="-0.46862996158770809"/>
                </c:manualLayout>
              </c:layout>
              <c:numFmt formatCode="#,##0;&quot;-&quot;#,##0" sourceLinked="0"/>
              <c:spPr>
                <a:noFill/>
                <a:ln>
                  <a:noFill/>
                </a:ln>
              </c:spPr>
              <c:txPr>
                <a:bodyPr wrap="none"/>
                <a:lstStyle/>
                <a:p>
                  <a:pPr>
                    <a:defRPr sz="10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D0D4-491A-8438-2675EAC382D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217</c:v>
                </c:pt>
                <c:pt idx="1">
                  <c:v>409</c:v>
                </c:pt>
              </c:numCache>
            </c:numRef>
          </c:val>
          <c:extLst>
            <c:ext xmlns:c16="http://schemas.microsoft.com/office/drawing/2014/chart" uri="{C3380CC4-5D6E-409C-BE32-E72D297353CC}">
              <c16:uniqueId val="{00000002-D0D4-491A-8438-2675EAC382DC}"/>
            </c:ext>
          </c:extLst>
        </c:ser>
        <c:dLbls>
          <c:showLegendKey val="0"/>
          <c:showVal val="0"/>
          <c:showCatName val="0"/>
          <c:showSerName val="0"/>
          <c:showPercent val="0"/>
          <c:showBubbleSize val="0"/>
        </c:dLbls>
        <c:gapWidth val="150"/>
        <c:overlap val="100"/>
        <c:axId val="583642176"/>
        <c:axId val="1"/>
      </c:barChart>
      <c:catAx>
        <c:axId val="583642176"/>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a:latin typeface="+mn-lt"/>
                <a:ea typeface="+mn-ea"/>
                <a:cs typeface="+mn-cs"/>
                <a:sym typeface="+mn-lt"/>
              </a:defRPr>
            </a:pPr>
            <a:endParaRPr lang="en-US"/>
          </a:p>
        </c:txPr>
        <c:crossAx val="1"/>
        <c:crosses val="min"/>
        <c:auto val="0"/>
        <c:lblAlgn val="ctr"/>
        <c:lblOffset val="100"/>
        <c:noMultiLvlLbl val="0"/>
      </c:catAx>
      <c:valAx>
        <c:axId val="1"/>
        <c:scaling>
          <c:orientation val="minMax"/>
          <c:max val="409"/>
          <c:min val="0"/>
        </c:scaling>
        <c:delete val="1"/>
        <c:axPos val="l"/>
        <c:numFmt formatCode="General" sourceLinked="1"/>
        <c:majorTickMark val="out"/>
        <c:minorTickMark val="none"/>
        <c:tickLblPos val="nextTo"/>
        <c:crossAx val="583642176"/>
        <c:crosses val="min"/>
        <c:crossBetween val="between"/>
      </c:valAx>
    </c:plotArea>
    <c:plotVisOnly val="0"/>
    <c:dispBlanksAs val="gap"/>
    <c:showDLblsOverMax val="1"/>
  </c:chart>
  <c:externalData r:id="rId1">
    <c:autoUpdate val="0"/>
  </c:externalData>
</c:chartSpace>
</file>

<file path=ppt/charts/chart1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618728028124002E-2"/>
          <c:y val="9.9350046425255342E-2"/>
          <c:w val="0.96676254394375205"/>
          <c:h val="0.85236768802228413"/>
        </c:manualLayout>
      </c:layout>
      <c:barChart>
        <c:barDir val="col"/>
        <c:grouping val="clustered"/>
        <c:varyColors val="0"/>
        <c:ser>
          <c:idx val="0"/>
          <c:order val="0"/>
          <c:spPr>
            <a:solidFill>
              <a:srgbClr val="0097A9"/>
            </a:solidFill>
            <a:ln>
              <a:noFill/>
            </a:ln>
          </c:spPr>
          <c:invertIfNegative val="0"/>
          <c:dLbls>
            <c:dLbl>
              <c:idx val="0"/>
              <c:layout>
                <c:manualLayout>
                  <c:x val="0"/>
                  <c:y val="-0.30547818012999073"/>
                </c:manualLayout>
              </c:layout>
              <c:numFmt formatCode="#,##0.0;&quot;-&quot;#,##0.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DCC4-4260-9F31-A0A397091A40}"/>
                </c:ext>
              </c:extLst>
            </c:dLbl>
            <c:dLbl>
              <c:idx val="1"/>
              <c:layout>
                <c:manualLayout>
                  <c:x val="0"/>
                  <c:y val="-0.31104921077065922"/>
                </c:manualLayout>
              </c:layout>
              <c:numFmt formatCode="#,##0.0;&quot;-&quot;#,##0.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DCC4-4260-9F31-A0A397091A40}"/>
                </c:ext>
              </c:extLst>
            </c:dLbl>
            <c:dLbl>
              <c:idx val="2"/>
              <c:layout>
                <c:manualLayout>
                  <c:x val="0"/>
                  <c:y val="-0.32869080779944287"/>
                </c:manualLayout>
              </c:layout>
              <c:numFmt formatCode="#,##0.0;&quot;-&quot;#,##0.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DCC4-4260-9F31-A0A397091A40}"/>
                </c:ext>
              </c:extLst>
            </c:dLbl>
            <c:dLbl>
              <c:idx val="3"/>
              <c:layout>
                <c:manualLayout>
                  <c:x val="0"/>
                  <c:y val="-0.34540389972144847"/>
                </c:manualLayout>
              </c:layout>
              <c:numFmt formatCode="#,##0.0;&quot;-&quot;#,##0.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DCC4-4260-9F31-A0A397091A4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5.85</c:v>
                </c:pt>
                <c:pt idx="1">
                  <c:v>5.99</c:v>
                </c:pt>
                <c:pt idx="2">
                  <c:v>6.38</c:v>
                </c:pt>
                <c:pt idx="3">
                  <c:v>6.77</c:v>
                </c:pt>
              </c:numCache>
            </c:numRef>
          </c:val>
          <c:extLst>
            <c:ext xmlns:c16="http://schemas.microsoft.com/office/drawing/2014/chart" uri="{C3380CC4-5D6E-409C-BE32-E72D297353CC}">
              <c16:uniqueId val="{00000004-DCC4-4260-9F31-A0A397091A40}"/>
            </c:ext>
          </c:extLst>
        </c:ser>
        <c:ser>
          <c:idx val="1"/>
          <c:order val="1"/>
          <c:spPr>
            <a:solidFill>
              <a:srgbClr val="012169"/>
            </a:solidFill>
            <a:ln>
              <a:noFill/>
            </a:ln>
          </c:spPr>
          <c:invertIfNegative val="0"/>
          <c:dLbls>
            <c:dLbl>
              <c:idx val="0"/>
              <c:layout>
                <c:manualLayout>
                  <c:x val="0"/>
                  <c:y val="-0.15970287836583102"/>
                </c:manualLayout>
              </c:layout>
              <c:numFmt formatCode="#,##0.0;&quot;-&quot;#,##0.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DCC4-4260-9F31-A0A397091A40}"/>
                </c:ext>
              </c:extLst>
            </c:dLbl>
            <c:dLbl>
              <c:idx val="1"/>
              <c:layout>
                <c:manualLayout>
                  <c:x val="0"/>
                  <c:y val="-0.21727019498607242"/>
                </c:manualLayout>
              </c:layout>
              <c:numFmt formatCode="#,##0.0;&quot;-&quot;#,##0.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DCC4-4260-9F31-A0A397091A40}"/>
                </c:ext>
              </c:extLst>
            </c:dLbl>
            <c:dLbl>
              <c:idx val="2"/>
              <c:layout>
                <c:manualLayout>
                  <c:x val="0"/>
                  <c:y val="-0.22562674094707522"/>
                </c:manualLayout>
              </c:layout>
              <c:numFmt formatCode="#,##0.0;&quot;-&quot;#,##0.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DCC4-4260-9F31-A0A397091A40}"/>
                </c:ext>
              </c:extLst>
            </c:dLbl>
            <c:dLbl>
              <c:idx val="3"/>
              <c:layout>
                <c:manualLayout>
                  <c:x val="0"/>
                  <c:y val="-0.23212627669452182"/>
                </c:manualLayout>
              </c:layout>
              <c:numFmt formatCode="#,##0.0;&quot;-&quot;#,##0.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DCC4-4260-9F31-A0A397091A4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Sheet1!$A$2:$D$2</c:f>
              <c:numCache>
                <c:formatCode>General</c:formatCode>
                <c:ptCount val="4"/>
                <c:pt idx="0">
                  <c:v>2.5099999999999998</c:v>
                </c:pt>
                <c:pt idx="1">
                  <c:v>3.82</c:v>
                </c:pt>
                <c:pt idx="2">
                  <c:v>4</c:v>
                </c:pt>
                <c:pt idx="3">
                  <c:v>4.16</c:v>
                </c:pt>
              </c:numCache>
            </c:numRef>
          </c:val>
          <c:extLst>
            <c:ext xmlns:c16="http://schemas.microsoft.com/office/drawing/2014/chart" uri="{C3380CC4-5D6E-409C-BE32-E72D297353CC}">
              <c16:uniqueId val="{00000009-DCC4-4260-9F31-A0A397091A40}"/>
            </c:ext>
          </c:extLst>
        </c:ser>
        <c:ser>
          <c:idx val="2"/>
          <c:order val="2"/>
          <c:spPr>
            <a:solidFill>
              <a:srgbClr val="62B5E5"/>
            </a:solidFill>
            <a:ln>
              <a:noFill/>
            </a:ln>
          </c:spPr>
          <c:invertIfNegative val="0"/>
          <c:dLbls>
            <c:dLbl>
              <c:idx val="0"/>
              <c:layout>
                <c:manualLayout>
                  <c:x val="0"/>
                  <c:y val="-0.37325905292479111"/>
                </c:manualLayout>
              </c:layout>
              <c:numFmt formatCode="#,##0.0;&quot;-&quot;#,##0.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DCC4-4260-9F31-A0A397091A40}"/>
                </c:ext>
              </c:extLst>
            </c:dLbl>
            <c:dLbl>
              <c:idx val="1"/>
              <c:layout>
                <c:manualLayout>
                  <c:x val="0"/>
                  <c:y val="-0.38440111420612816"/>
                </c:manualLayout>
              </c:layout>
              <c:numFmt formatCode="#,##0.0;&quot;-&quot;#,##0.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DCC4-4260-9F31-A0A397091A40}"/>
                </c:ext>
              </c:extLst>
            </c:dLbl>
            <c:dLbl>
              <c:idx val="2"/>
              <c:layout>
                <c:manualLayout>
                  <c:x val="0"/>
                  <c:y val="-0.40482822655524603"/>
                </c:manualLayout>
              </c:layout>
              <c:numFmt formatCode="#,##0.0;&quot;-&quot;#,##0.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DCC4-4260-9F31-A0A397091A40}"/>
                </c:ext>
              </c:extLst>
            </c:dLbl>
            <c:dLbl>
              <c:idx val="3"/>
              <c:layout>
                <c:manualLayout>
                  <c:x val="0"/>
                  <c:y val="-0.42061281337047352"/>
                </c:manualLayout>
              </c:layout>
              <c:numFmt formatCode="#,##0.0;&quot;-&quot;#,##0.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DCC4-4260-9F31-A0A397091A4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Sheet1!$A$3:$D$3</c:f>
              <c:numCache>
                <c:formatCode>General</c:formatCode>
                <c:ptCount val="4"/>
                <c:pt idx="0">
                  <c:v>7.42</c:v>
                </c:pt>
                <c:pt idx="1">
                  <c:v>7.66</c:v>
                </c:pt>
                <c:pt idx="2">
                  <c:v>8.1333333333333346</c:v>
                </c:pt>
                <c:pt idx="3">
                  <c:v>8.51</c:v>
                </c:pt>
              </c:numCache>
            </c:numRef>
          </c:val>
          <c:extLst>
            <c:ext xmlns:c16="http://schemas.microsoft.com/office/drawing/2014/chart" uri="{C3380CC4-5D6E-409C-BE32-E72D297353CC}">
              <c16:uniqueId val="{0000000E-DCC4-4260-9F31-A0A397091A40}"/>
            </c:ext>
          </c:extLst>
        </c:ser>
        <c:ser>
          <c:idx val="3"/>
          <c:order val="3"/>
          <c:spPr>
            <a:solidFill>
              <a:srgbClr val="046A38"/>
            </a:solidFill>
            <a:ln>
              <a:noFill/>
            </a:ln>
          </c:spPr>
          <c:invertIfNegative val="0"/>
          <c:dLbls>
            <c:dLbl>
              <c:idx val="0"/>
              <c:layout>
                <c:manualLayout>
                  <c:x val="0"/>
                  <c:y val="-0.46703806870937792"/>
                </c:manualLayout>
              </c:layout>
              <c:numFmt formatCode="#,##0.0;&quot;-&quot;#,##0.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DCC4-4260-9F31-A0A397091A40}"/>
                </c:ext>
              </c:extLst>
            </c:dLbl>
            <c:dLbl>
              <c:idx val="1"/>
              <c:layout>
                <c:manualLayout>
                  <c:x val="0"/>
                  <c:y val="-0.47725162488393685"/>
                </c:manualLayout>
              </c:layout>
              <c:numFmt formatCode="#,##0.0;&quot;-&quot;#,##0.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DCC4-4260-9F31-A0A397091A40}"/>
                </c:ext>
              </c:extLst>
            </c:dLbl>
            <c:dLbl>
              <c:idx val="2"/>
              <c:layout>
                <c:manualLayout>
                  <c:x val="0"/>
                  <c:y val="-0.44196843082636955"/>
                </c:manualLayout>
              </c:layout>
              <c:numFmt formatCode="#,##0.0;&quot;-&quot;#,##0.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DCC4-4260-9F31-A0A397091A40}"/>
                </c:ext>
              </c:extLst>
            </c:dLbl>
            <c:dLbl>
              <c:idx val="3"/>
              <c:layout>
                <c:manualLayout>
                  <c:x val="0"/>
                  <c:y val="-0.46332404828226553"/>
                </c:manualLayout>
              </c:layout>
              <c:numFmt formatCode="#,##0.0;&quot;-&quot;#,##0.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2-DCC4-4260-9F31-A0A397091A4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Sheet1!$A$4:$D$4</c:f>
              <c:numCache>
                <c:formatCode>General</c:formatCode>
                <c:ptCount val="4"/>
                <c:pt idx="0">
                  <c:v>9.58</c:v>
                </c:pt>
                <c:pt idx="1">
                  <c:v>9.8000000000000007</c:v>
                </c:pt>
                <c:pt idx="2">
                  <c:v>9</c:v>
                </c:pt>
                <c:pt idx="3">
                  <c:v>9.48</c:v>
                </c:pt>
              </c:numCache>
            </c:numRef>
          </c:val>
          <c:extLst>
            <c:ext xmlns:c16="http://schemas.microsoft.com/office/drawing/2014/chart" uri="{C3380CC4-5D6E-409C-BE32-E72D297353CC}">
              <c16:uniqueId val="{00000013-DCC4-4260-9F31-A0A397091A40}"/>
            </c:ext>
          </c:extLst>
        </c:ser>
        <c:ser>
          <c:idx val="4"/>
          <c:order val="4"/>
          <c:spPr>
            <a:solidFill>
              <a:srgbClr val="86BC25"/>
            </a:solidFill>
            <a:ln>
              <a:noFill/>
            </a:ln>
          </c:spPr>
          <c:invertIfNegative val="0"/>
          <c:dLbls>
            <c:dLbl>
              <c:idx val="0"/>
              <c:layout>
                <c:manualLayout>
                  <c:x val="0"/>
                  <c:y val="-0.31847725162488394"/>
                </c:manualLayout>
              </c:layout>
              <c:numFmt formatCode="#,##0.0;&quot;-&quot;#,##0.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4-DCC4-4260-9F31-A0A397091A40}"/>
                </c:ext>
              </c:extLst>
            </c:dLbl>
            <c:dLbl>
              <c:idx val="1"/>
              <c:layout>
                <c:manualLayout>
                  <c:x val="0"/>
                  <c:y val="-0.32683379758588671"/>
                </c:manualLayout>
              </c:layout>
              <c:numFmt formatCode="#,##0.0;&quot;-&quot;#,##0.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5-DCC4-4260-9F31-A0A397091A40}"/>
                </c:ext>
              </c:extLst>
            </c:dLbl>
            <c:dLbl>
              <c:idx val="2"/>
              <c:layout>
                <c:manualLayout>
                  <c:x val="0"/>
                  <c:y val="-0.34540389972144847"/>
                </c:manualLayout>
              </c:layout>
              <c:numFmt formatCode="#,##0.0;&quot;-&quot;#,##0.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6-DCC4-4260-9F31-A0A397091A40}"/>
                </c:ext>
              </c:extLst>
            </c:dLbl>
            <c:dLbl>
              <c:idx val="3"/>
              <c:layout>
                <c:manualLayout>
                  <c:x val="0"/>
                  <c:y val="-0.36118848653667596"/>
                </c:manualLayout>
              </c:layout>
              <c:numFmt formatCode="#,##0.0;&quot;-&quot;#,##0.0" sourceLinked="0"/>
              <c:spPr>
                <a:noFill/>
                <a:ln>
                  <a:noFill/>
                </a:ln>
              </c:spPr>
              <c:txPr>
                <a:bodyPr wrap="none"/>
                <a:lstStyle/>
                <a:p>
                  <a:pPr>
                    <a:defRPr sz="800">
                      <a:solidFill>
                        <a:schemeClr val="tx1"/>
                      </a:solidFill>
                      <a:latin typeface="+mn-lt"/>
                      <a:ea typeface="+mn-ea"/>
                      <a:cs typeface="+mn-cs"/>
                      <a:sym typeface="+mn-l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7-DCC4-4260-9F31-A0A397091A4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Sheet1!$A$5:$D$5</c:f>
              <c:numCache>
                <c:formatCode>General</c:formatCode>
                <c:ptCount val="4"/>
                <c:pt idx="0">
                  <c:v>6.15</c:v>
                </c:pt>
                <c:pt idx="1">
                  <c:v>6.33</c:v>
                </c:pt>
                <c:pt idx="2">
                  <c:v>6.77</c:v>
                </c:pt>
                <c:pt idx="3">
                  <c:v>7.13</c:v>
                </c:pt>
              </c:numCache>
            </c:numRef>
          </c:val>
          <c:extLst>
            <c:ext xmlns:c16="http://schemas.microsoft.com/office/drawing/2014/chart" uri="{C3380CC4-5D6E-409C-BE32-E72D297353CC}">
              <c16:uniqueId val="{00000018-DCC4-4260-9F31-A0A397091A40}"/>
            </c:ext>
          </c:extLst>
        </c:ser>
        <c:dLbls>
          <c:showLegendKey val="0"/>
          <c:showVal val="0"/>
          <c:showCatName val="0"/>
          <c:showSerName val="0"/>
          <c:showPercent val="0"/>
          <c:showBubbleSize val="0"/>
        </c:dLbls>
        <c:gapWidth val="80"/>
        <c:axId val="966819792"/>
        <c:axId val="1"/>
      </c:barChart>
      <c:catAx>
        <c:axId val="966819792"/>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800">
                <a:latin typeface="+mn-lt"/>
                <a:ea typeface="+mn-ea"/>
                <a:cs typeface="+mn-cs"/>
                <a:sym typeface="+mn-lt"/>
              </a:defRPr>
            </a:pPr>
            <a:endParaRPr lang="en-US"/>
          </a:p>
        </c:txPr>
        <c:crossAx val="1"/>
        <c:crosses val="min"/>
        <c:auto val="0"/>
        <c:lblAlgn val="ctr"/>
        <c:lblOffset val="100"/>
        <c:noMultiLvlLbl val="0"/>
      </c:catAx>
      <c:valAx>
        <c:axId val="1"/>
        <c:scaling>
          <c:orientation val="minMax"/>
          <c:max val="9.8000000000000007"/>
          <c:min val="0"/>
        </c:scaling>
        <c:delete val="1"/>
        <c:axPos val="l"/>
        <c:numFmt formatCode="General" sourceLinked="1"/>
        <c:majorTickMark val="out"/>
        <c:minorTickMark val="none"/>
        <c:tickLblPos val="nextTo"/>
        <c:crossAx val="966819792"/>
        <c:crosses val="min"/>
        <c:crossBetween val="between"/>
      </c:valAx>
    </c:plotArea>
    <c:plotVisOnly val="0"/>
    <c:dispBlanksAs val="gap"/>
    <c:showDLblsOverMax val="1"/>
  </c:chart>
  <c:externalData r:id="rId1">
    <c:autoUpdate val="0"/>
  </c:externalData>
</c:chartSpace>
</file>

<file path=ppt/charts/chart1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9151756129887343"/>
          <c:y val="5.0880626223091974E-2"/>
          <c:w val="0.60834990059642147"/>
          <c:h val="0.89823874755381605"/>
        </c:manualLayout>
      </c:layout>
      <c:doughnutChart>
        <c:varyColors val="0"/>
        <c:ser>
          <c:idx val="0"/>
          <c:order val="0"/>
          <c:dPt>
            <c:idx val="0"/>
            <c:bubble3D val="0"/>
            <c:spPr>
              <a:solidFill>
                <a:schemeClr val="accent5"/>
              </a:solidFill>
              <a:ln>
                <a:noFill/>
              </a:ln>
            </c:spPr>
            <c:extLst>
              <c:ext xmlns:c16="http://schemas.microsoft.com/office/drawing/2014/chart" uri="{C3380CC4-5D6E-409C-BE32-E72D297353CC}">
                <c16:uniqueId val="{00000000-4E39-40A2-B180-BD3B6A124721}"/>
              </c:ext>
            </c:extLst>
          </c:dPt>
          <c:dPt>
            <c:idx val="1"/>
            <c:bubble3D val="0"/>
            <c:spPr>
              <a:solidFill>
                <a:schemeClr val="accent4"/>
              </a:solidFill>
              <a:ln>
                <a:noFill/>
              </a:ln>
            </c:spPr>
            <c:extLst>
              <c:ext xmlns:c16="http://schemas.microsoft.com/office/drawing/2014/chart" uri="{C3380CC4-5D6E-409C-BE32-E72D297353CC}">
                <c16:uniqueId val="{00000001-4E39-40A2-B180-BD3B6A124721}"/>
              </c:ext>
            </c:extLst>
          </c:dPt>
          <c:dPt>
            <c:idx val="2"/>
            <c:bubble3D val="0"/>
            <c:spPr>
              <a:solidFill>
                <a:srgbClr val="62B5E5"/>
              </a:solidFill>
              <a:ln>
                <a:noFill/>
              </a:ln>
            </c:spPr>
            <c:extLst>
              <c:ext xmlns:c16="http://schemas.microsoft.com/office/drawing/2014/chart" uri="{C3380CC4-5D6E-409C-BE32-E72D297353CC}">
                <c16:uniqueId val="{00000002-4E39-40A2-B180-BD3B6A124721}"/>
              </c:ext>
            </c:extLst>
          </c:dPt>
          <c:dPt>
            <c:idx val="3"/>
            <c:bubble3D val="0"/>
            <c:spPr>
              <a:solidFill>
                <a:schemeClr val="accent2"/>
              </a:solidFill>
              <a:ln>
                <a:noFill/>
              </a:ln>
            </c:spPr>
            <c:extLst>
              <c:ext xmlns:c16="http://schemas.microsoft.com/office/drawing/2014/chart" uri="{C3380CC4-5D6E-409C-BE32-E72D297353CC}">
                <c16:uniqueId val="{00000003-4E39-40A2-B180-BD3B6A124721}"/>
              </c:ext>
            </c:extLst>
          </c:dPt>
          <c:dPt>
            <c:idx val="4"/>
            <c:bubble3D val="0"/>
            <c:spPr>
              <a:solidFill>
                <a:srgbClr val="53565A"/>
              </a:solidFill>
              <a:ln>
                <a:noFill/>
              </a:ln>
            </c:spPr>
            <c:extLst>
              <c:ext xmlns:c16="http://schemas.microsoft.com/office/drawing/2014/chart" uri="{C3380CC4-5D6E-409C-BE32-E72D297353CC}">
                <c16:uniqueId val="{00000004-4E39-40A2-B180-BD3B6A124721}"/>
              </c:ext>
            </c:extLst>
          </c:dPt>
          <c:dLbls>
            <c:dLbl>
              <c:idx val="0"/>
              <c:layout>
                <c:manualLayout>
                  <c:x val="4.6388336646785953E-3"/>
                  <c:y val="0"/>
                </c:manualLayout>
              </c:layout>
              <c:numFmt formatCode="0&quot;%&quot;;&quot;-&quot;0&quot;%&quot;" sourceLinked="0"/>
              <c:spPr>
                <a:noFill/>
                <a:ln>
                  <a:noFill/>
                </a:ln>
              </c:spPr>
              <c:txPr>
                <a:bodyPr wrap="none"/>
                <a:lstStyle/>
                <a:p>
                  <a:pPr>
                    <a:defRPr sz="1000">
                      <a:solidFill>
                        <a:schemeClr val="bg1"/>
                      </a:solidFill>
                      <a:latin typeface="+mn-lt"/>
                      <a:ea typeface="+mn-ea"/>
                      <a:cs typeface="+mn-cs"/>
                      <a:sym typeface="+mn-lt"/>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E39-40A2-B180-BD3B6A124721}"/>
                </c:ext>
              </c:extLst>
            </c:dLbl>
            <c:dLbl>
              <c:idx val="2"/>
              <c:layout>
                <c:manualLayout>
                  <c:x val="-1.9880715705765406E-3"/>
                  <c:y val="9.7847358121330719E-4"/>
                </c:manualLayout>
              </c:layout>
              <c:numFmt formatCode="0&quot;%&quot;;&quot;-&quot;0&quot;%&quot;" sourceLinked="0"/>
              <c:spPr>
                <a:noFill/>
                <a:ln>
                  <a:noFill/>
                </a:ln>
              </c:spPr>
              <c:txPr>
                <a:bodyPr wrap="none"/>
                <a:lstStyle/>
                <a:p>
                  <a:pPr>
                    <a:defRPr sz="1000">
                      <a:solidFill>
                        <a:schemeClr val="bg1"/>
                      </a:solidFill>
                      <a:latin typeface="+mn-lt"/>
                      <a:ea typeface="+mn-ea"/>
                      <a:cs typeface="+mn-cs"/>
                      <a:sym typeface="+mn-lt"/>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4E39-40A2-B180-BD3B6A124721}"/>
                </c:ext>
              </c:extLst>
            </c:dLbl>
            <c:dLbl>
              <c:idx val="3"/>
              <c:layout>
                <c:manualLayout>
                  <c:x val="-4.6388336646785953E-3"/>
                  <c:y val="-1.1741682974559686E-2"/>
                </c:manualLayout>
              </c:layout>
              <c:numFmt formatCode="0&quot;%&quot;;&quot;-&quot;0&quot;%&quot;" sourceLinked="0"/>
              <c:spPr>
                <a:noFill/>
                <a:ln>
                  <a:noFill/>
                </a:ln>
              </c:spPr>
              <c:txPr>
                <a:bodyPr wrap="none"/>
                <a:lstStyle/>
                <a:p>
                  <a:pPr>
                    <a:defRPr sz="1000">
                      <a:solidFill>
                        <a:schemeClr val="bg1"/>
                      </a:solidFill>
                      <a:latin typeface="+mn-lt"/>
                      <a:ea typeface="+mn-ea"/>
                      <a:cs typeface="+mn-cs"/>
                      <a:sym typeface="+mn-lt"/>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4E39-40A2-B180-BD3B6A124721}"/>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extLst>
          </c:dLbls>
          <c:val>
            <c:numRef>
              <c:f>Sheet1!$A$1:$A$5</c:f>
              <c:numCache>
                <c:formatCode>General</c:formatCode>
                <c:ptCount val="5"/>
                <c:pt idx="0">
                  <c:v>53.31</c:v>
                </c:pt>
                <c:pt idx="1">
                  <c:v>2.81</c:v>
                </c:pt>
                <c:pt idx="2">
                  <c:v>29.549999999999997</c:v>
                </c:pt>
                <c:pt idx="3">
                  <c:v>12.11</c:v>
                </c:pt>
                <c:pt idx="4">
                  <c:v>2.2200000000000002</c:v>
                </c:pt>
              </c:numCache>
            </c:numRef>
          </c:val>
          <c:extLst>
            <c:ext xmlns:c16="http://schemas.microsoft.com/office/drawing/2014/chart" uri="{C3380CC4-5D6E-409C-BE32-E72D297353CC}">
              <c16:uniqueId val="{00000005-4E39-40A2-B180-BD3B6A124721}"/>
            </c:ext>
          </c:extLst>
        </c:ser>
        <c:dLbls>
          <c:showLegendKey val="0"/>
          <c:showVal val="0"/>
          <c:showCatName val="0"/>
          <c:showSerName val="0"/>
          <c:showPercent val="0"/>
          <c:showBubbleSize val="0"/>
          <c:showLeaderLines val="1"/>
        </c:dLbls>
        <c:firstSliceAng val="0"/>
        <c:holeSize val="50"/>
      </c:doughnutChart>
    </c:plotArea>
    <c:plotVisOnly val="0"/>
    <c:dispBlanksAs val="gap"/>
    <c:showDLblsOverMax val="1"/>
  </c:chart>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0.90786</cdr:x>
      <cdr:y>0.5993</cdr:y>
    </cdr:from>
    <cdr:to>
      <cdr:x>0.96842</cdr:x>
      <cdr:y>0.70056</cdr:y>
    </cdr:to>
    <cdr:sp macro="" textlink="">
      <cdr:nvSpPr>
        <cdr:cNvPr id="2" name="Oval 1"/>
        <cdr:cNvSpPr/>
      </cdr:nvSpPr>
      <cdr:spPr bwMode="gray">
        <a:xfrm xmlns:a="http://schemas.openxmlformats.org/drawingml/2006/main">
          <a:off x="4425645" y="1454469"/>
          <a:ext cx="295220" cy="245751"/>
        </a:xfrm>
        <a:prstGeom xmlns:a="http://schemas.openxmlformats.org/drawingml/2006/main" prst="ellipse">
          <a:avLst/>
        </a:prstGeom>
        <a:noFill xmlns:a="http://schemas.openxmlformats.org/drawingml/2006/main"/>
        <a:ln xmlns:a="http://schemas.openxmlformats.org/drawingml/2006/main" w="19050" algn="ctr">
          <a:solidFill>
            <a:schemeClr val="tx1"/>
          </a:solidFill>
          <a:miter lim="800000"/>
          <a:headEnd/>
          <a:tailEnd/>
        </a:ln>
      </cdr:spPr>
      <cdr:txBody>
        <a:bodyPr xmlns:a="http://schemas.openxmlformats.org/drawingml/2006/main" vertOverflow="clip" wrap="square" lIns="88900" tIns="88900" rIns="88900" bIns="88900" rtlCol="0" anchor="ctr"/>
        <a:lstStyle xmlns:a="http://schemas.openxmlformats.org/drawingml/2006/main"/>
        <a:p xmlns:a="http://schemas.openxmlformats.org/drawingml/2006/main">
          <a:endParaRPr lang="en-US" dirty="0"/>
        </a:p>
      </cdr:txBody>
    </cdr:sp>
  </cdr:relSizeAnchor>
  <cdr:relSizeAnchor xmlns:cdr="http://schemas.openxmlformats.org/drawingml/2006/chartDrawing">
    <cdr:from>
      <cdr:x>0.61515</cdr:x>
      <cdr:y>0.58313</cdr:y>
    </cdr:from>
    <cdr:to>
      <cdr:x>0.67571</cdr:x>
      <cdr:y>0.68439</cdr:y>
    </cdr:to>
    <cdr:sp macro="" textlink="">
      <cdr:nvSpPr>
        <cdr:cNvPr id="3" name="Oval 2"/>
        <cdr:cNvSpPr/>
      </cdr:nvSpPr>
      <cdr:spPr bwMode="gray">
        <a:xfrm xmlns:a="http://schemas.openxmlformats.org/drawingml/2006/main">
          <a:off x="2998750" y="1415222"/>
          <a:ext cx="295220" cy="245752"/>
        </a:xfrm>
        <a:prstGeom xmlns:a="http://schemas.openxmlformats.org/drawingml/2006/main" prst="ellipse">
          <a:avLst/>
        </a:prstGeom>
        <a:noFill xmlns:a="http://schemas.openxmlformats.org/drawingml/2006/main"/>
        <a:ln xmlns:a="http://schemas.openxmlformats.org/drawingml/2006/main" w="19050" algn="ctr">
          <a:solidFill>
            <a:schemeClr val="tx1"/>
          </a:solidFill>
          <a:miter lim="800000"/>
          <a:headEnd/>
          <a:tailEnd/>
        </a:ln>
      </cdr:spPr>
      <cdr:txBody>
        <a:bodyPr xmlns:a="http://schemas.openxmlformats.org/drawingml/2006/main" vertOverflow="clip" wrap="square" lIns="88900" tIns="88900" rIns="88900" bIns="88900" rtlCol="0" anchor="ctr"/>
        <a:lstStyle xmlns:a="http://schemas.openxmlformats.org/drawingml/2006/main"/>
        <a:p xmlns:a="http://schemas.openxmlformats.org/drawingml/2006/main">
          <a:endParaRPr lang="en-US" dirty="0"/>
        </a:p>
      </cdr:txBody>
    </cdr:sp>
  </cdr:relSizeAnchor>
  <cdr:relSizeAnchor xmlns:cdr="http://schemas.openxmlformats.org/drawingml/2006/chartDrawing">
    <cdr:from>
      <cdr:x>0.55461</cdr:x>
      <cdr:y>0.47018</cdr:y>
    </cdr:from>
    <cdr:to>
      <cdr:x>0.61166</cdr:x>
      <cdr:y>0.56558</cdr:y>
    </cdr:to>
    <cdr:sp macro="" textlink="">
      <cdr:nvSpPr>
        <cdr:cNvPr id="4" name="Oval 3"/>
        <cdr:cNvSpPr/>
      </cdr:nvSpPr>
      <cdr:spPr bwMode="gray">
        <a:xfrm xmlns:a="http://schemas.openxmlformats.org/drawingml/2006/main">
          <a:off x="2703633" y="1331844"/>
          <a:ext cx="278109" cy="270235"/>
        </a:xfrm>
        <a:prstGeom xmlns:a="http://schemas.openxmlformats.org/drawingml/2006/main" prst="ellipse">
          <a:avLst/>
        </a:prstGeom>
        <a:noFill xmlns:a="http://schemas.openxmlformats.org/drawingml/2006/main"/>
        <a:ln xmlns:a="http://schemas.openxmlformats.org/drawingml/2006/main" w="19050" algn="ctr">
          <a:solidFill>
            <a:schemeClr val="tx1"/>
          </a:solidFill>
          <a:miter lim="800000"/>
          <a:headEnd/>
          <a:tailEnd/>
        </a:ln>
      </cdr:spPr>
      <cdr:txBody>
        <a:bodyPr xmlns:a="http://schemas.openxmlformats.org/drawingml/2006/main" vertOverflow="clip" wrap="square" lIns="88900" tIns="88900" rIns="88900" bIns="88900" rtlCol="0" anchor="ctr"/>
        <a:lstStyle xmlns:a="http://schemas.openxmlformats.org/drawingml/2006/main"/>
        <a:p xmlns:a="http://schemas.openxmlformats.org/drawingml/2006/main">
          <a:endParaRPr lang="en-US" dirty="0"/>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7.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4" y="1"/>
            <a:ext cx="2919032" cy="492781"/>
          </a:xfrm>
          <a:prstGeom prst="rect">
            <a:avLst/>
          </a:prstGeom>
        </p:spPr>
        <p:txBody>
          <a:bodyPr vert="horz" lIns="90231" tIns="45116" rIns="90231" bIns="45116" rtlCol="0"/>
          <a:lstStyle>
            <a:lvl1pPr algn="l">
              <a:defRPr sz="1100"/>
            </a:lvl1pPr>
          </a:lstStyle>
          <a:p>
            <a:endParaRPr lang="en-US" dirty="0">
              <a:latin typeface="Arial" panose="020B0604020202020204" pitchFamily="34" charset="0"/>
            </a:endParaRPr>
          </a:p>
        </p:txBody>
      </p:sp>
      <p:sp>
        <p:nvSpPr>
          <p:cNvPr id="3" name="Date Placeholder 2"/>
          <p:cNvSpPr>
            <a:spLocks noGrp="1"/>
          </p:cNvSpPr>
          <p:nvPr>
            <p:ph type="dt" sz="quarter" idx="1"/>
          </p:nvPr>
        </p:nvSpPr>
        <p:spPr>
          <a:xfrm>
            <a:off x="3815226" y="1"/>
            <a:ext cx="2919032" cy="492781"/>
          </a:xfrm>
          <a:prstGeom prst="rect">
            <a:avLst/>
          </a:prstGeom>
        </p:spPr>
        <p:txBody>
          <a:bodyPr vert="horz" lIns="90231" tIns="45116" rIns="90231" bIns="45116" rtlCol="0"/>
          <a:lstStyle>
            <a:lvl1pPr algn="r">
              <a:defRPr sz="1100"/>
            </a:lvl1pPr>
          </a:lstStyle>
          <a:p>
            <a:fld id="{B4AD245C-091B-44E2-BFB0-BD94217887F7}" type="datetimeFigureOut">
              <a:rPr lang="en-US" smtClean="0">
                <a:latin typeface="Arial" panose="020B0604020202020204" pitchFamily="34" charset="0"/>
              </a:rPr>
              <a:t>25-Sep-22</a:t>
            </a:fld>
            <a:endParaRPr lang="en-US" dirty="0">
              <a:latin typeface="Arial" panose="020B0604020202020204" pitchFamily="34" charset="0"/>
            </a:endParaRPr>
          </a:p>
        </p:txBody>
      </p:sp>
      <p:sp>
        <p:nvSpPr>
          <p:cNvPr id="4" name="Footer Placeholder 3"/>
          <p:cNvSpPr>
            <a:spLocks noGrp="1"/>
          </p:cNvSpPr>
          <p:nvPr>
            <p:ph type="ftr" sz="quarter" idx="2"/>
          </p:nvPr>
        </p:nvSpPr>
        <p:spPr>
          <a:xfrm>
            <a:off x="4" y="9372004"/>
            <a:ext cx="2919032" cy="492781"/>
          </a:xfrm>
          <a:prstGeom prst="rect">
            <a:avLst/>
          </a:prstGeom>
        </p:spPr>
        <p:txBody>
          <a:bodyPr vert="horz" lIns="90231" tIns="45116" rIns="90231" bIns="45116" rtlCol="0" anchor="b"/>
          <a:lstStyle>
            <a:lvl1pPr algn="l">
              <a:defRPr sz="1100"/>
            </a:lvl1pPr>
          </a:lstStyle>
          <a:p>
            <a:endParaRPr lang="en-US" dirty="0">
              <a:latin typeface="Arial" panose="020B0604020202020204" pitchFamily="34" charset="0"/>
            </a:endParaRPr>
          </a:p>
        </p:txBody>
      </p:sp>
      <p:sp>
        <p:nvSpPr>
          <p:cNvPr id="5" name="Slide Number Placeholder 4"/>
          <p:cNvSpPr>
            <a:spLocks noGrp="1"/>
          </p:cNvSpPr>
          <p:nvPr>
            <p:ph type="sldNum" sz="quarter" idx="3"/>
          </p:nvPr>
        </p:nvSpPr>
        <p:spPr>
          <a:xfrm>
            <a:off x="3815226" y="9372004"/>
            <a:ext cx="2919032" cy="492781"/>
          </a:xfrm>
          <a:prstGeom prst="rect">
            <a:avLst/>
          </a:prstGeom>
        </p:spPr>
        <p:txBody>
          <a:bodyPr vert="horz" lIns="90231" tIns="45116" rIns="90231" bIns="45116" rtlCol="0" anchor="b"/>
          <a:lstStyle>
            <a:lvl1pPr algn="r">
              <a:defRPr sz="1100"/>
            </a:lvl1pPr>
          </a:lstStyle>
          <a:p>
            <a:fld id="{9A913F39-CFF6-40F1-84D1-700840B41EAB}" type="slidenum">
              <a:rPr lang="en-US" smtClean="0">
                <a:latin typeface="Arial" panose="020B0604020202020204" pitchFamily="34" charset="0"/>
              </a:rPr>
              <a:t>‹#›</a:t>
            </a:fld>
            <a:endParaRPr lang="en-US" dirty="0">
              <a:latin typeface="Arial" panose="020B0604020202020204" pitchFamily="34" charset="0"/>
            </a:endParaRPr>
          </a:p>
        </p:txBody>
      </p:sp>
    </p:spTree>
    <p:extLst>
      <p:ext uri="{BB962C8B-B14F-4D97-AF65-F5344CB8AC3E}">
        <p14:creationId xmlns:p14="http://schemas.microsoft.com/office/powerpoint/2010/main" val="1954813182"/>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1" y="2"/>
            <a:ext cx="2918830" cy="493315"/>
          </a:xfrm>
          <a:prstGeom prst="rect">
            <a:avLst/>
          </a:prstGeom>
        </p:spPr>
        <p:txBody>
          <a:bodyPr vert="horz" lIns="97739" tIns="48869" rIns="97739" bIns="48869" rtlCol="0"/>
          <a:lstStyle>
            <a:lvl1pPr algn="l">
              <a:defRPr sz="1200">
                <a:latin typeface="Arial" panose="020B0604020202020204" pitchFamily="34" charset="0"/>
              </a:defRPr>
            </a:lvl1pPr>
          </a:lstStyle>
          <a:p>
            <a:endParaRPr lang="en-US" dirty="0"/>
          </a:p>
        </p:txBody>
      </p:sp>
      <p:sp>
        <p:nvSpPr>
          <p:cNvPr id="3" name="Date Placeholder 2"/>
          <p:cNvSpPr>
            <a:spLocks noGrp="1"/>
          </p:cNvSpPr>
          <p:nvPr>
            <p:ph type="dt" idx="1"/>
          </p:nvPr>
        </p:nvSpPr>
        <p:spPr>
          <a:xfrm>
            <a:off x="3815377" y="2"/>
            <a:ext cx="2918830" cy="493315"/>
          </a:xfrm>
          <a:prstGeom prst="rect">
            <a:avLst/>
          </a:prstGeom>
        </p:spPr>
        <p:txBody>
          <a:bodyPr vert="horz" lIns="97739" tIns="48869" rIns="97739" bIns="48869" rtlCol="0"/>
          <a:lstStyle>
            <a:lvl1pPr algn="r">
              <a:defRPr sz="1200">
                <a:latin typeface="Arial" panose="020B0604020202020204" pitchFamily="34" charset="0"/>
              </a:defRPr>
            </a:lvl1pPr>
          </a:lstStyle>
          <a:p>
            <a:fld id="{0BA5BBE4-AEA3-489A-A28E-0C2FAF2506E3}" type="datetimeFigureOut">
              <a:rPr lang="en-US" smtClean="0"/>
              <a:pPr/>
              <a:t>25-Sep-22</a:t>
            </a:fld>
            <a:endParaRPr lang="en-US" dirty="0"/>
          </a:p>
        </p:txBody>
      </p:sp>
      <p:sp>
        <p:nvSpPr>
          <p:cNvPr id="4" name="Slide Image Placeholder 3"/>
          <p:cNvSpPr>
            <a:spLocks noGrp="1" noRot="1" noChangeAspect="1"/>
          </p:cNvSpPr>
          <p:nvPr>
            <p:ph type="sldImg" idx="2"/>
          </p:nvPr>
        </p:nvSpPr>
        <p:spPr>
          <a:xfrm>
            <a:off x="752475" y="739775"/>
            <a:ext cx="5230813" cy="3698875"/>
          </a:xfrm>
          <a:prstGeom prst="rect">
            <a:avLst/>
          </a:prstGeom>
          <a:noFill/>
          <a:ln w="12700">
            <a:solidFill>
              <a:prstClr val="black"/>
            </a:solidFill>
          </a:ln>
        </p:spPr>
        <p:txBody>
          <a:bodyPr vert="horz" lIns="97739" tIns="48869" rIns="97739" bIns="48869" rtlCol="0" anchor="ctr"/>
          <a:lstStyle/>
          <a:p>
            <a:endParaRPr lang="en-GB" dirty="0"/>
          </a:p>
        </p:txBody>
      </p:sp>
      <p:sp>
        <p:nvSpPr>
          <p:cNvPr id="5" name="Notes Placeholder 4"/>
          <p:cNvSpPr>
            <a:spLocks noGrp="1"/>
          </p:cNvSpPr>
          <p:nvPr>
            <p:ph type="body" sz="quarter" idx="3"/>
          </p:nvPr>
        </p:nvSpPr>
        <p:spPr>
          <a:xfrm>
            <a:off x="673577" y="4686500"/>
            <a:ext cx="5388610" cy="4439841"/>
          </a:xfrm>
          <a:prstGeom prst="rect">
            <a:avLst/>
          </a:prstGeom>
        </p:spPr>
        <p:txBody>
          <a:bodyPr vert="horz" lIns="97739" tIns="48869" rIns="97739" bIns="48869"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Footer Placeholder 5"/>
          <p:cNvSpPr>
            <a:spLocks noGrp="1"/>
          </p:cNvSpPr>
          <p:nvPr>
            <p:ph type="ftr" sz="quarter" idx="4"/>
          </p:nvPr>
        </p:nvSpPr>
        <p:spPr>
          <a:xfrm>
            <a:off x="1" y="9371287"/>
            <a:ext cx="2918830" cy="493315"/>
          </a:xfrm>
          <a:prstGeom prst="rect">
            <a:avLst/>
          </a:prstGeom>
        </p:spPr>
        <p:txBody>
          <a:bodyPr vert="horz" lIns="97739" tIns="48869" rIns="97739" bIns="48869" rtlCol="0" anchor="b"/>
          <a:lstStyle>
            <a:lvl1pPr algn="l">
              <a:defRPr sz="1200">
                <a:latin typeface="Arial" panose="020B0604020202020204" pitchFamily="34" charset="0"/>
              </a:defRPr>
            </a:lvl1pPr>
          </a:lstStyle>
          <a:p>
            <a:endParaRPr lang="en-US" dirty="0"/>
          </a:p>
        </p:txBody>
      </p:sp>
      <p:sp>
        <p:nvSpPr>
          <p:cNvPr id="7" name="Slide Number Placeholder 6"/>
          <p:cNvSpPr>
            <a:spLocks noGrp="1"/>
          </p:cNvSpPr>
          <p:nvPr>
            <p:ph type="sldNum" sz="quarter" idx="5"/>
          </p:nvPr>
        </p:nvSpPr>
        <p:spPr>
          <a:xfrm>
            <a:off x="3815377" y="9371287"/>
            <a:ext cx="2918830" cy="493315"/>
          </a:xfrm>
          <a:prstGeom prst="rect">
            <a:avLst/>
          </a:prstGeom>
        </p:spPr>
        <p:txBody>
          <a:bodyPr vert="horz" lIns="97739" tIns="48869" rIns="97739" bIns="48869" rtlCol="0" anchor="b"/>
          <a:lstStyle>
            <a:lvl1pPr algn="r">
              <a:defRPr sz="1200">
                <a:latin typeface="Arial" panose="020B0604020202020204" pitchFamily="34" charset="0"/>
              </a:defRPr>
            </a:lvl1pPr>
          </a:lstStyle>
          <a:p>
            <a:fld id="{C0F4A2C8-6C88-4E71-83EE-698B9D4FE22F}" type="slidenum">
              <a:rPr lang="en-US" smtClean="0"/>
              <a:pPr/>
              <a:t>‹#›</a:t>
            </a:fld>
            <a:endParaRPr lang="en-US" dirty="0"/>
          </a:p>
        </p:txBody>
      </p:sp>
    </p:spTree>
    <p:extLst>
      <p:ext uri="{BB962C8B-B14F-4D97-AF65-F5344CB8AC3E}">
        <p14:creationId xmlns:p14="http://schemas.microsoft.com/office/powerpoint/2010/main" val="1904730299"/>
      </p:ext>
    </p:extLst>
  </p:cSld>
  <p:clrMap bg1="lt1" tx1="dk1" bg2="lt2" tx2="dk2" accent1="accent1" accent2="accent2" accent3="accent3" accent4="accent4" accent5="accent5" accent6="accent6" hlink="hlink" folHlink="folHlink"/>
  <p:hf hdr="0" ftr="0" dt="0"/>
  <p:notesStyle>
    <a:lvl1pPr marL="0" algn="l" defTabSz="787481" rtl="0" eaLnBrk="1" latinLnBrk="0" hangingPunct="1">
      <a:defRPr sz="1033" kern="1200">
        <a:solidFill>
          <a:schemeClr val="tx1"/>
        </a:solidFill>
        <a:latin typeface="Arial" panose="020B0604020202020204" pitchFamily="34" charset="0"/>
        <a:ea typeface="+mn-ea"/>
        <a:cs typeface="+mn-cs"/>
      </a:defRPr>
    </a:lvl1pPr>
    <a:lvl2pPr marL="393741" algn="l" defTabSz="787481" rtl="0" eaLnBrk="1" latinLnBrk="0" hangingPunct="1">
      <a:defRPr sz="1033" kern="1200">
        <a:solidFill>
          <a:schemeClr val="tx1"/>
        </a:solidFill>
        <a:latin typeface="Arial" panose="020B0604020202020204" pitchFamily="34" charset="0"/>
        <a:ea typeface="+mn-ea"/>
        <a:cs typeface="+mn-cs"/>
      </a:defRPr>
    </a:lvl2pPr>
    <a:lvl3pPr marL="787481" algn="l" defTabSz="787481" rtl="0" eaLnBrk="1" latinLnBrk="0" hangingPunct="1">
      <a:defRPr sz="1033" kern="1200">
        <a:solidFill>
          <a:schemeClr val="tx1"/>
        </a:solidFill>
        <a:latin typeface="Arial" panose="020B0604020202020204" pitchFamily="34" charset="0"/>
        <a:ea typeface="+mn-ea"/>
        <a:cs typeface="+mn-cs"/>
      </a:defRPr>
    </a:lvl3pPr>
    <a:lvl4pPr marL="1181222" algn="l" defTabSz="787481" rtl="0" eaLnBrk="1" latinLnBrk="0" hangingPunct="1">
      <a:defRPr sz="1033" kern="1200">
        <a:solidFill>
          <a:schemeClr val="tx1"/>
        </a:solidFill>
        <a:latin typeface="Arial" panose="020B0604020202020204" pitchFamily="34" charset="0"/>
        <a:ea typeface="+mn-ea"/>
        <a:cs typeface="+mn-cs"/>
      </a:defRPr>
    </a:lvl4pPr>
    <a:lvl5pPr marL="1574963" algn="l" defTabSz="787481" rtl="0" eaLnBrk="1" latinLnBrk="0" hangingPunct="1">
      <a:defRPr sz="1033" kern="1200">
        <a:solidFill>
          <a:schemeClr val="tx1"/>
        </a:solidFill>
        <a:latin typeface="Arial" panose="020B0604020202020204" pitchFamily="34" charset="0"/>
        <a:ea typeface="+mn-ea"/>
        <a:cs typeface="+mn-cs"/>
      </a:defRPr>
    </a:lvl5pPr>
    <a:lvl6pPr marL="1968703" algn="l" defTabSz="787481" rtl="0" eaLnBrk="1" latinLnBrk="0" hangingPunct="1">
      <a:defRPr sz="1033" kern="1200">
        <a:solidFill>
          <a:schemeClr val="tx1"/>
        </a:solidFill>
        <a:latin typeface="+mn-lt"/>
        <a:ea typeface="+mn-ea"/>
        <a:cs typeface="+mn-cs"/>
      </a:defRPr>
    </a:lvl6pPr>
    <a:lvl7pPr marL="2362444" algn="l" defTabSz="787481" rtl="0" eaLnBrk="1" latinLnBrk="0" hangingPunct="1">
      <a:defRPr sz="1033" kern="1200">
        <a:solidFill>
          <a:schemeClr val="tx1"/>
        </a:solidFill>
        <a:latin typeface="+mn-lt"/>
        <a:ea typeface="+mn-ea"/>
        <a:cs typeface="+mn-cs"/>
      </a:defRPr>
    </a:lvl7pPr>
    <a:lvl8pPr marL="2756184" algn="l" defTabSz="787481" rtl="0" eaLnBrk="1" latinLnBrk="0" hangingPunct="1">
      <a:defRPr sz="1033" kern="1200">
        <a:solidFill>
          <a:schemeClr val="tx1"/>
        </a:solidFill>
        <a:latin typeface="+mn-lt"/>
        <a:ea typeface="+mn-ea"/>
        <a:cs typeface="+mn-cs"/>
      </a:defRPr>
    </a:lvl8pPr>
    <a:lvl9pPr marL="3149925" algn="l" defTabSz="787481" rtl="0" eaLnBrk="1" latinLnBrk="0" hangingPunct="1">
      <a:defRPr sz="1033"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289ACC3-B2DA-4628-885A-D8DF3FDC35F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1945756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65956530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912603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27</a:t>
            </a:fld>
            <a:endParaRPr lang="en-US" dirty="0"/>
          </a:p>
        </p:txBody>
      </p:sp>
    </p:spTree>
    <p:extLst>
      <p:ext uri="{BB962C8B-B14F-4D97-AF65-F5344CB8AC3E}">
        <p14:creationId xmlns:p14="http://schemas.microsoft.com/office/powerpoint/2010/main" val="352218590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03228708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0419980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29862882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70925219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60489151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91587261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64355161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09957448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75195548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73656249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32912102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fld id="{B3F06452-CDA3-4A98-A320-C57A3D908BC3}" type="slidenum">
              <a:rPr lang="en-IN" smtClean="0"/>
              <a:t>132</a:t>
            </a:fld>
            <a:endParaRPr lang="en-IN"/>
          </a:p>
        </p:txBody>
      </p:sp>
    </p:spTree>
    <p:extLst>
      <p:ext uri="{BB962C8B-B14F-4D97-AF65-F5344CB8AC3E}">
        <p14:creationId xmlns:p14="http://schemas.microsoft.com/office/powerpoint/2010/main" val="115210450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fld id="{B3F06452-CDA3-4A98-A320-C57A3D908BC3}" type="slidenum">
              <a:rPr lang="en-IN" smtClean="0"/>
              <a:t>133</a:t>
            </a:fld>
            <a:endParaRPr lang="en-IN"/>
          </a:p>
        </p:txBody>
      </p:sp>
    </p:spTree>
    <p:extLst>
      <p:ext uri="{BB962C8B-B14F-4D97-AF65-F5344CB8AC3E}">
        <p14:creationId xmlns:p14="http://schemas.microsoft.com/office/powerpoint/2010/main" val="144185765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fld id="{B3F06452-CDA3-4A98-A320-C57A3D908BC3}" type="slidenum">
              <a:rPr lang="en-IN" smtClean="0"/>
              <a:t>134</a:t>
            </a:fld>
            <a:endParaRPr lang="en-IN"/>
          </a:p>
        </p:txBody>
      </p:sp>
    </p:spTree>
    <p:extLst>
      <p:ext uri="{BB962C8B-B14F-4D97-AF65-F5344CB8AC3E}">
        <p14:creationId xmlns:p14="http://schemas.microsoft.com/office/powerpoint/2010/main" val="194977195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141</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411632093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142</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45923681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143</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56302896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144</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7069214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145</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6154159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146</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35407938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147</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1366662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148</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65802504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149</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411371829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150</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69441674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151</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25595251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152</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30047409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153</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72615743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154</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62056831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155</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77539355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156</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421703947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158</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776030436"/>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159</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65011137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163</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51213612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0084189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167</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88805744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171</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57762183"/>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172</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199245873"/>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199</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21583189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200</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66543708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201</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46744994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202</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6621539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203</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424356638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204</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62591186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205</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474096978"/>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206</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923971179"/>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207</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57658777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208</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791782138"/>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209</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4257046138"/>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210</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297216337"/>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211</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99471895"/>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212</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86711583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213</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06377670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214</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377261538"/>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215</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516368065"/>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216</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496938136"/>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217</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05975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218</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563696730"/>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219</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450684911"/>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220</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73416796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221</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01239134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222</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416764111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223</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900521914"/>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6763" y="744538"/>
            <a:ext cx="5264150" cy="3722687"/>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224</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488012330"/>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fld id="{8988782D-1EFE-4B58-B064-2AB55BBAD723}" type="slidenum">
              <a:rPr lang="en-IN" smtClean="0"/>
              <a:t>225</a:t>
            </a:fld>
            <a:endParaRPr lang="en-IN"/>
          </a:p>
        </p:txBody>
      </p:sp>
    </p:spTree>
    <p:extLst>
      <p:ext uri="{BB962C8B-B14F-4D97-AF65-F5344CB8AC3E}">
        <p14:creationId xmlns:p14="http://schemas.microsoft.com/office/powerpoint/2010/main" val="3999902782"/>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fld id="{8988782D-1EFE-4B58-B064-2AB55BBAD723}" type="slidenum">
              <a:rPr lang="en-IN" smtClean="0"/>
              <a:t>226</a:t>
            </a:fld>
            <a:endParaRPr lang="en-IN"/>
          </a:p>
        </p:txBody>
      </p:sp>
    </p:spTree>
    <p:extLst>
      <p:ext uri="{BB962C8B-B14F-4D97-AF65-F5344CB8AC3E}">
        <p14:creationId xmlns:p14="http://schemas.microsoft.com/office/powerpoint/2010/main" val="1680722603"/>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fld id="{8988782D-1EFE-4B58-B064-2AB55BBAD723}" type="slidenum">
              <a:rPr lang="en-IN" smtClean="0"/>
              <a:t>227</a:t>
            </a:fld>
            <a:endParaRPr lang="en-IN"/>
          </a:p>
        </p:txBody>
      </p:sp>
    </p:spTree>
    <p:extLst>
      <p:ext uri="{BB962C8B-B14F-4D97-AF65-F5344CB8AC3E}">
        <p14:creationId xmlns:p14="http://schemas.microsoft.com/office/powerpoint/2010/main" val="1225862504"/>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pPr marL="0" marR="0" lvl="0" indent="0" algn="r" defTabSz="787481"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787481" rtl="0" eaLnBrk="1" fontAlgn="auto" latinLnBrk="0" hangingPunct="1">
                <a:lnSpc>
                  <a:spcPct val="100000"/>
                </a:lnSpc>
                <a:spcBef>
                  <a:spcPts val="0"/>
                </a:spcBef>
                <a:spcAft>
                  <a:spcPts val="0"/>
                </a:spcAft>
                <a:buClrTx/>
                <a:buSzTx/>
                <a:buFontTx/>
                <a:buNone/>
                <a:tabLst/>
                <a:defRPr/>
              </a:pPr>
              <a:t>228</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188835348"/>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12838" y="720725"/>
            <a:ext cx="50895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a:xfrm>
            <a:off x="4143375" y="9120188"/>
            <a:ext cx="3170238" cy="481012"/>
          </a:xfrm>
          <a:prstGeom prst="rect">
            <a:avLst/>
          </a:prstGeom>
        </p:spPr>
        <p:txBody>
          <a:bodyPr/>
          <a:lstStyle/>
          <a:p>
            <a:fld id="{B1FEB637-BC42-497E-9119-65CA0380A6EE}" type="slidenum">
              <a:rPr lang="en-GB" smtClean="0"/>
              <a:t>241</a:t>
            </a:fld>
            <a:endParaRPr lang="en-GB" dirty="0"/>
          </a:p>
        </p:txBody>
      </p:sp>
    </p:spTree>
    <p:extLst>
      <p:ext uri="{BB962C8B-B14F-4D97-AF65-F5344CB8AC3E}">
        <p14:creationId xmlns:p14="http://schemas.microsoft.com/office/powerpoint/2010/main" val="26432858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slide" Target="../slides/slide1.xml"/><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3" Type="http://schemas.openxmlformats.org/officeDocument/2006/relationships/slide" Target="../slides/slide1.xml"/><Relationship Id="rId2" Type="http://schemas.openxmlformats.org/officeDocument/2006/relationships/image" Target="../media/image2.jpg"/><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3" Type="http://schemas.openxmlformats.org/officeDocument/2006/relationships/slideMaster" Target="../slideMasters/slideMaster2.xml"/><Relationship Id="rId7" Type="http://schemas.openxmlformats.org/officeDocument/2006/relationships/image" Target="../media/image5.png"/><Relationship Id="rId2" Type="http://schemas.openxmlformats.org/officeDocument/2006/relationships/tags" Target="../tags/tag5.xml"/><Relationship Id="rId1" Type="http://schemas.openxmlformats.org/officeDocument/2006/relationships/tags" Target="../tags/tag4.xml"/><Relationship Id="rId6" Type="http://schemas.openxmlformats.org/officeDocument/2006/relationships/image" Target="../media/image4.emf"/><Relationship Id="rId5" Type="http://schemas.openxmlformats.org/officeDocument/2006/relationships/oleObject" Target="../embeddings/oleObject3.bin"/><Relationship Id="rId4" Type="http://schemas.openxmlformats.org/officeDocument/2006/relationships/image" Target="../media/image3.jpe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3" Type="http://schemas.openxmlformats.org/officeDocument/2006/relationships/slide" Target="../slides/slide1.xml"/><Relationship Id="rId2" Type="http://schemas.openxmlformats.org/officeDocument/2006/relationships/image" Target="../media/image2.jpg"/><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xml.rels><?xml version="1.0" encoding="UTF-8" standalone="yes"?>
<Relationships xmlns="http://schemas.openxmlformats.org/package/2006/relationships"><Relationship Id="rId3" Type="http://schemas.openxmlformats.org/officeDocument/2006/relationships/slide" Target="../slides/slide1.xml"/><Relationship Id="rId2" Type="http://schemas.openxmlformats.org/officeDocument/2006/relationships/image" Target="../media/image2.jpg"/><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1.xml.rels><?xml version="1.0" encoding="UTF-8" standalone="yes"?>
<Relationships xmlns="http://schemas.openxmlformats.org/package/2006/relationships"><Relationship Id="rId3" Type="http://schemas.openxmlformats.org/officeDocument/2006/relationships/slide" Target="../slides/slide1.xml"/><Relationship Id="rId2" Type="http://schemas.openxmlformats.org/officeDocument/2006/relationships/image" Target="../media/image2.jpg"/><Relationship Id="rId1" Type="http://schemas.openxmlformats.org/officeDocument/2006/relationships/slideMaster" Target="../slideMasters/slideMaster5.xml"/><Relationship Id="rId4" Type="http://schemas.openxmlformats.org/officeDocument/2006/relationships/slide" Target="../slides/slide82.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9" name="Text Placeholder 8"/>
          <p:cNvSpPr>
            <a:spLocks noGrp="1"/>
          </p:cNvSpPr>
          <p:nvPr>
            <p:ph type="body" sz="quarter" idx="13" hasCustomPrompt="1"/>
          </p:nvPr>
        </p:nvSpPr>
        <p:spPr>
          <a:xfrm>
            <a:off x="449264" y="1079500"/>
            <a:ext cx="9791700" cy="518400"/>
          </a:xfrm>
          <a:prstGeom prst="rect">
            <a:avLst/>
          </a:prstGeom>
        </p:spPr>
        <p:txBody>
          <a:bodyPr lIns="0" tIns="0" rIns="0" bIns="0">
            <a:noAutofit/>
          </a:bodyPr>
          <a:lstStyle>
            <a:lvl1pPr marL="0" indent="0">
              <a:buNone/>
              <a:defRPr sz="1400" b="0">
                <a:solidFill>
                  <a:srgbClr val="575757"/>
                </a:solidFill>
              </a:defRPr>
            </a:lvl1pPr>
          </a:lstStyle>
          <a:p>
            <a:pPr lvl="0"/>
            <a:r>
              <a:rPr lang="en-US" dirty="0"/>
              <a:t>Click to add subtitle</a:t>
            </a:r>
          </a:p>
        </p:txBody>
      </p:sp>
      <p:sp>
        <p:nvSpPr>
          <p:cNvPr id="14" name="Title Placeholder 1"/>
          <p:cNvSpPr>
            <a:spLocks noGrp="1"/>
          </p:cNvSpPr>
          <p:nvPr>
            <p:ph type="title"/>
          </p:nvPr>
        </p:nvSpPr>
        <p:spPr>
          <a:xfrm>
            <a:off x="449263" y="647700"/>
            <a:ext cx="9791700" cy="432000"/>
          </a:xfrm>
          <a:prstGeom prst="rect">
            <a:avLst/>
          </a:prstGeom>
        </p:spPr>
        <p:txBody>
          <a:bodyPr vert="horz" lIns="0" tIns="0" rIns="0" bIns="0" rtlCol="0" anchor="t" anchorCtr="0">
            <a:noAutofit/>
          </a:bodyPr>
          <a:lstStyle>
            <a:lvl1pPr>
              <a:defRPr/>
            </a:lvl1pPr>
          </a:lstStyle>
          <a:p>
            <a:r>
              <a:rPr lang="en-US" noProof="0" dirty="0"/>
              <a:t>Click to edit Master title style</a:t>
            </a:r>
          </a:p>
        </p:txBody>
      </p:sp>
    </p:spTree>
    <p:extLst>
      <p:ext uri="{BB962C8B-B14F-4D97-AF65-F5344CB8AC3E}">
        <p14:creationId xmlns:p14="http://schemas.microsoft.com/office/powerpoint/2010/main" val="3272647120"/>
      </p:ext>
    </p:extLst>
  </p:cSld>
  <p:clrMapOvr>
    <a:masterClrMapping/>
  </p:clrMapOvr>
  <p:transition>
    <p:fade/>
  </p:transition>
  <p:extLst>
    <p:ext uri="{DCECCB84-F9BA-43D5-87BE-67443E8EF086}">
      <p15:sldGuideLst xmlns:p15="http://schemas.microsoft.com/office/powerpoint/2012/main"/>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SectionDivider">
    <p:spTree>
      <p:nvGrpSpPr>
        <p:cNvPr id="1" name=""/>
        <p:cNvGrpSpPr/>
        <p:nvPr/>
      </p:nvGrpSpPr>
      <p:grpSpPr>
        <a:xfrm>
          <a:off x="0" y="0"/>
          <a:ext cx="0" cy="0"/>
          <a:chOff x="0" y="0"/>
          <a:chExt cx="0" cy="0"/>
        </a:xfrm>
      </p:grpSpPr>
      <p:sp>
        <p:nvSpPr>
          <p:cNvPr id="7" name="Title Placeholder 1"/>
          <p:cNvSpPr>
            <a:spLocks noGrp="1"/>
          </p:cNvSpPr>
          <p:nvPr>
            <p:ph type="title" hasCustomPrompt="1"/>
          </p:nvPr>
        </p:nvSpPr>
        <p:spPr>
          <a:xfrm>
            <a:off x="449264" y="647700"/>
            <a:ext cx="9791700" cy="431800"/>
          </a:xfrm>
          <a:prstGeom prst="rect">
            <a:avLst/>
          </a:prstGeom>
        </p:spPr>
        <p:txBody>
          <a:bodyPr vert="horz" lIns="0" tIns="0" rIns="0" bIns="0" rtlCol="0" anchor="t" anchorCtr="0">
            <a:noAutofit/>
          </a:bodyPr>
          <a:lstStyle>
            <a:lvl1pPr>
              <a:defRPr/>
            </a:lvl1pPr>
          </a:lstStyle>
          <a:p>
            <a:r>
              <a:rPr lang="en-US" dirty="0"/>
              <a:t>Click to add title</a:t>
            </a:r>
          </a:p>
        </p:txBody>
      </p:sp>
    </p:spTree>
    <p:extLst>
      <p:ext uri="{BB962C8B-B14F-4D97-AF65-F5344CB8AC3E}">
        <p14:creationId xmlns:p14="http://schemas.microsoft.com/office/powerpoint/2010/main" val="236510875"/>
      </p:ext>
    </p:extLst>
  </p:cSld>
  <p:clrMapOvr>
    <a:masterClrMapping/>
  </p:clrMapOvr>
  <p:transition>
    <p:fade/>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Empty+Logo">
    <p:spTree>
      <p:nvGrpSpPr>
        <p:cNvPr id="1" name=""/>
        <p:cNvGrpSpPr/>
        <p:nvPr/>
      </p:nvGrpSpPr>
      <p:grpSpPr>
        <a:xfrm>
          <a:off x="0" y="0"/>
          <a:ext cx="0" cy="0"/>
          <a:chOff x="0" y="0"/>
          <a:chExt cx="0" cy="0"/>
        </a:xfrm>
      </p:grpSpPr>
      <p:grpSp>
        <p:nvGrpSpPr>
          <p:cNvPr id="16" name="Group 6"/>
          <p:cNvGrpSpPr>
            <a:grpSpLocks noChangeAspect="1"/>
          </p:cNvGrpSpPr>
          <p:nvPr userDrawn="1"/>
        </p:nvGrpSpPr>
        <p:grpSpPr>
          <a:xfrm>
            <a:off x="449263" y="285583"/>
            <a:ext cx="2020500" cy="362117"/>
            <a:chOff x="398463" y="404813"/>
            <a:chExt cx="1627187" cy="307976"/>
          </a:xfrm>
          <a:solidFill>
            <a:schemeClr val="tx1"/>
          </a:solidFill>
        </p:grpSpPr>
        <p:sp>
          <p:nvSpPr>
            <p:cNvPr id="17" name="Oval 16"/>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18"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19"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1"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2"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3"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4"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5"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6"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7"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grpSp>
    </p:spTree>
    <p:extLst>
      <p:ext uri="{BB962C8B-B14F-4D97-AF65-F5344CB8AC3E}">
        <p14:creationId xmlns:p14="http://schemas.microsoft.com/office/powerpoint/2010/main" val="2284120127"/>
      </p:ext>
    </p:extLst>
  </p:cSld>
  <p:clrMapOvr>
    <a:masterClrMapping/>
  </p:clrMapOvr>
  <p:transition>
    <p:fade/>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Empty">
    <p:spTree>
      <p:nvGrpSpPr>
        <p:cNvPr id="1" name=""/>
        <p:cNvGrpSpPr/>
        <p:nvPr/>
      </p:nvGrpSpPr>
      <p:grpSpPr>
        <a:xfrm>
          <a:off x="0" y="0"/>
          <a:ext cx="0" cy="0"/>
          <a:chOff x="0" y="0"/>
          <a:chExt cx="0" cy="0"/>
        </a:xfrm>
      </p:grpSpPr>
    </p:spTree>
    <p:extLst>
      <p:ext uri="{BB962C8B-B14F-4D97-AF65-F5344CB8AC3E}">
        <p14:creationId xmlns:p14="http://schemas.microsoft.com/office/powerpoint/2010/main" val="37423936"/>
      </p:ext>
    </p:extLst>
  </p:cSld>
  <p:clrMapOvr>
    <a:masterClrMapping/>
  </p:clrMapOvr>
  <p:transition>
    <p:fade/>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Graphics">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735013" y="403225"/>
            <a:ext cx="9221787" cy="435871"/>
          </a:xfrm>
          <a:prstGeom prst="rect">
            <a:avLst/>
          </a:prstGeom>
        </p:spPr>
        <p:txBody>
          <a:bodyPr/>
          <a:lstStyle>
            <a:lvl1pPr>
              <a:defRPr/>
            </a:lvl1pPr>
          </a:lstStyle>
          <a:p>
            <a:r>
              <a:rPr lang="en-US" dirty="0"/>
              <a:t>Icons, other graphics &amp; </a:t>
            </a:r>
            <a:r>
              <a:rPr lang="en-US" dirty="0" err="1"/>
              <a:t>misc</a:t>
            </a:r>
            <a:r>
              <a:rPr lang="en-US" dirty="0"/>
              <a:t> placeholders</a:t>
            </a:r>
            <a:endParaRPr lang="en-GB" dirty="0"/>
          </a:p>
        </p:txBody>
      </p:sp>
      <p:graphicFrame>
        <p:nvGraphicFramePr>
          <p:cNvPr id="63" name="NavigationTable"/>
          <p:cNvGraphicFramePr>
            <a:graphicFrameLocks/>
          </p:cNvGraphicFramePr>
          <p:nvPr userDrawn="1">
            <p:extLst>
              <p:ext uri="{D42A27DB-BD31-4B8C-83A1-F6EECF244321}">
                <p14:modId xmlns:p14="http://schemas.microsoft.com/office/powerpoint/2010/main" val="514470412"/>
              </p:ext>
            </p:extLst>
          </p:nvPr>
        </p:nvGraphicFramePr>
        <p:xfrm>
          <a:off x="449262" y="2522487"/>
          <a:ext cx="8813961" cy="359610"/>
        </p:xfrm>
        <a:graphic>
          <a:graphicData uri="http://schemas.openxmlformats.org/drawingml/2006/table">
            <a:tbl>
              <a:tblPr>
                <a:tableStyleId>{5C22544A-7EE6-4342-B048-85BDC9FD1C3A}</a:tableStyleId>
              </a:tblPr>
              <a:tblGrid>
                <a:gridCol w="979329">
                  <a:extLst>
                    <a:ext uri="{9D8B030D-6E8A-4147-A177-3AD203B41FA5}">
                      <a16:colId xmlns:a16="http://schemas.microsoft.com/office/drawing/2014/main" val="20000"/>
                    </a:ext>
                  </a:extLst>
                </a:gridCol>
                <a:gridCol w="979329">
                  <a:extLst>
                    <a:ext uri="{9D8B030D-6E8A-4147-A177-3AD203B41FA5}">
                      <a16:colId xmlns:a16="http://schemas.microsoft.com/office/drawing/2014/main" val="20001"/>
                    </a:ext>
                  </a:extLst>
                </a:gridCol>
                <a:gridCol w="979329">
                  <a:extLst>
                    <a:ext uri="{9D8B030D-6E8A-4147-A177-3AD203B41FA5}">
                      <a16:colId xmlns:a16="http://schemas.microsoft.com/office/drawing/2014/main" val="20002"/>
                    </a:ext>
                  </a:extLst>
                </a:gridCol>
                <a:gridCol w="979329">
                  <a:extLst>
                    <a:ext uri="{9D8B030D-6E8A-4147-A177-3AD203B41FA5}">
                      <a16:colId xmlns:a16="http://schemas.microsoft.com/office/drawing/2014/main" val="20003"/>
                    </a:ext>
                  </a:extLst>
                </a:gridCol>
                <a:gridCol w="979329">
                  <a:extLst>
                    <a:ext uri="{9D8B030D-6E8A-4147-A177-3AD203B41FA5}">
                      <a16:colId xmlns:a16="http://schemas.microsoft.com/office/drawing/2014/main" val="20004"/>
                    </a:ext>
                  </a:extLst>
                </a:gridCol>
                <a:gridCol w="979329">
                  <a:extLst>
                    <a:ext uri="{9D8B030D-6E8A-4147-A177-3AD203B41FA5}">
                      <a16:colId xmlns:a16="http://schemas.microsoft.com/office/drawing/2014/main" val="20005"/>
                    </a:ext>
                  </a:extLst>
                </a:gridCol>
                <a:gridCol w="979329">
                  <a:extLst>
                    <a:ext uri="{9D8B030D-6E8A-4147-A177-3AD203B41FA5}">
                      <a16:colId xmlns:a16="http://schemas.microsoft.com/office/drawing/2014/main" val="20006"/>
                    </a:ext>
                  </a:extLst>
                </a:gridCol>
                <a:gridCol w="979329">
                  <a:extLst>
                    <a:ext uri="{9D8B030D-6E8A-4147-A177-3AD203B41FA5}">
                      <a16:colId xmlns:a16="http://schemas.microsoft.com/office/drawing/2014/main" val="20007"/>
                    </a:ext>
                  </a:extLst>
                </a:gridCol>
                <a:gridCol w="979329">
                  <a:extLst>
                    <a:ext uri="{9D8B030D-6E8A-4147-A177-3AD203B41FA5}">
                      <a16:colId xmlns:a16="http://schemas.microsoft.com/office/drawing/2014/main" val="20008"/>
                    </a:ext>
                  </a:extLst>
                </a:gridCol>
              </a:tblGrid>
              <a:tr h="359610">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bg1"/>
                          </a:solidFill>
                          <a:effectLst/>
                          <a:latin typeface="+mn-lt"/>
                          <a:cs typeface="Arial" charset="0"/>
                        </a:rPr>
                        <a:t>Section 1</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2</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3</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4</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5</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6</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7</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8</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9</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extLst>
                  <a:ext uri="{0D108BD9-81ED-4DB2-BD59-A6C34878D82A}">
                    <a16:rowId xmlns:a16="http://schemas.microsoft.com/office/drawing/2014/main" val="10000"/>
                  </a:ext>
                </a:extLst>
              </a:tr>
            </a:tbl>
          </a:graphicData>
        </a:graphic>
      </p:graphicFrame>
      <p:grpSp>
        <p:nvGrpSpPr>
          <p:cNvPr id="37" name="MasterNavigationGroup"/>
          <p:cNvGrpSpPr/>
          <p:nvPr userDrawn="1"/>
        </p:nvGrpSpPr>
        <p:grpSpPr>
          <a:xfrm>
            <a:off x="5979677" y="3739139"/>
            <a:ext cx="905889" cy="361950"/>
            <a:chOff x="6293713" y="4256376"/>
            <a:chExt cx="905889" cy="361950"/>
          </a:xfrm>
        </p:grpSpPr>
        <p:pic>
          <p:nvPicPr>
            <p:cNvPr id="35" name="Picture 3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49394" y="4354513"/>
              <a:ext cx="183024" cy="183024"/>
            </a:xfrm>
            <a:prstGeom prst="rect">
              <a:avLst/>
            </a:prstGeom>
          </p:spPr>
        </p:pic>
        <p:grpSp>
          <p:nvGrpSpPr>
            <p:cNvPr id="36" name="Group 35"/>
            <p:cNvGrpSpPr/>
            <p:nvPr userDrawn="1"/>
          </p:nvGrpSpPr>
          <p:grpSpPr>
            <a:xfrm>
              <a:off x="6293713" y="4256376"/>
              <a:ext cx="905889" cy="361950"/>
              <a:chOff x="6293713" y="4256376"/>
              <a:chExt cx="905889" cy="361950"/>
            </a:xfrm>
          </p:grpSpPr>
          <p:grpSp>
            <p:nvGrpSpPr>
              <p:cNvPr id="6" name="Group 5"/>
              <p:cNvGrpSpPr/>
              <p:nvPr/>
            </p:nvGrpSpPr>
            <p:grpSpPr>
              <a:xfrm>
                <a:off x="6911602" y="4312312"/>
                <a:ext cx="288000" cy="287155"/>
                <a:chOff x="5840121" y="174998"/>
                <a:chExt cx="288000" cy="287155"/>
              </a:xfrm>
            </p:grpSpPr>
            <p:sp>
              <p:nvSpPr>
                <p:cNvPr id="29" name="Freeform 211"/>
                <p:cNvSpPr>
                  <a:spLocks/>
                </p:cNvSpPr>
                <p:nvPr/>
              </p:nvSpPr>
              <p:spPr bwMode="auto">
                <a:xfrm rot="10800000">
                  <a:off x="5894174" y="264523"/>
                  <a:ext cx="180739" cy="108105"/>
                </a:xfrm>
                <a:custGeom>
                  <a:avLst/>
                  <a:gdLst>
                    <a:gd name="T0" fmla="*/ 310 w 321"/>
                    <a:gd name="T1" fmla="*/ 86 h 193"/>
                    <a:gd name="T2" fmla="*/ 37 w 321"/>
                    <a:gd name="T3" fmla="*/ 86 h 193"/>
                    <a:gd name="T4" fmla="*/ 104 w 321"/>
                    <a:gd name="T5" fmla="*/ 19 h 193"/>
                    <a:gd name="T6" fmla="*/ 104 w 321"/>
                    <a:gd name="T7" fmla="*/ 4 h 193"/>
                    <a:gd name="T8" fmla="*/ 89 w 321"/>
                    <a:gd name="T9" fmla="*/ 4 h 193"/>
                    <a:gd name="T10" fmla="*/ 4 w 321"/>
                    <a:gd name="T11" fmla="*/ 89 h 193"/>
                    <a:gd name="T12" fmla="*/ 1 w 321"/>
                    <a:gd name="T13" fmla="*/ 93 h 193"/>
                    <a:gd name="T14" fmla="*/ 1 w 321"/>
                    <a:gd name="T15" fmla="*/ 101 h 193"/>
                    <a:gd name="T16" fmla="*/ 4 w 321"/>
                    <a:gd name="T17" fmla="*/ 104 h 193"/>
                    <a:gd name="T18" fmla="*/ 89 w 321"/>
                    <a:gd name="T19" fmla="*/ 190 h 193"/>
                    <a:gd name="T20" fmla="*/ 97 w 321"/>
                    <a:gd name="T21" fmla="*/ 193 h 193"/>
                    <a:gd name="T22" fmla="*/ 104 w 321"/>
                    <a:gd name="T23" fmla="*/ 190 h 193"/>
                    <a:gd name="T24" fmla="*/ 104 w 321"/>
                    <a:gd name="T25" fmla="*/ 174 h 193"/>
                    <a:gd name="T26" fmla="*/ 37 w 321"/>
                    <a:gd name="T27" fmla="*/ 107 h 193"/>
                    <a:gd name="T28" fmla="*/ 310 w 321"/>
                    <a:gd name="T29" fmla="*/ 107 h 193"/>
                    <a:gd name="T30" fmla="*/ 321 w 321"/>
                    <a:gd name="T31" fmla="*/ 97 h 193"/>
                    <a:gd name="T32" fmla="*/ 310 w 321"/>
                    <a:gd name="T33" fmla="*/ 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1" h="193">
                      <a:moveTo>
                        <a:pt x="310" y="86"/>
                      </a:moveTo>
                      <a:cubicBezTo>
                        <a:pt x="37" y="86"/>
                        <a:pt x="37" y="86"/>
                        <a:pt x="37" y="86"/>
                      </a:cubicBezTo>
                      <a:cubicBezTo>
                        <a:pt x="104" y="19"/>
                        <a:pt x="104" y="19"/>
                        <a:pt x="104" y="19"/>
                      </a:cubicBezTo>
                      <a:cubicBezTo>
                        <a:pt x="108" y="15"/>
                        <a:pt x="108" y="8"/>
                        <a:pt x="104" y="4"/>
                      </a:cubicBezTo>
                      <a:cubicBezTo>
                        <a:pt x="100" y="0"/>
                        <a:pt x="93" y="0"/>
                        <a:pt x="89" y="4"/>
                      </a:cubicBezTo>
                      <a:cubicBezTo>
                        <a:pt x="4" y="89"/>
                        <a:pt x="4" y="89"/>
                        <a:pt x="4" y="89"/>
                      </a:cubicBezTo>
                      <a:cubicBezTo>
                        <a:pt x="3" y="90"/>
                        <a:pt x="2" y="91"/>
                        <a:pt x="1" y="93"/>
                      </a:cubicBezTo>
                      <a:cubicBezTo>
                        <a:pt x="0" y="95"/>
                        <a:pt x="0" y="98"/>
                        <a:pt x="1" y="101"/>
                      </a:cubicBezTo>
                      <a:cubicBezTo>
                        <a:pt x="2" y="102"/>
                        <a:pt x="3" y="103"/>
                        <a:pt x="4" y="104"/>
                      </a:cubicBezTo>
                      <a:cubicBezTo>
                        <a:pt x="89" y="190"/>
                        <a:pt x="89" y="190"/>
                        <a:pt x="89" y="190"/>
                      </a:cubicBezTo>
                      <a:cubicBezTo>
                        <a:pt x="91" y="192"/>
                        <a:pt x="94" y="193"/>
                        <a:pt x="97" y="193"/>
                      </a:cubicBezTo>
                      <a:cubicBezTo>
                        <a:pt x="99" y="193"/>
                        <a:pt x="102" y="192"/>
                        <a:pt x="104" y="190"/>
                      </a:cubicBezTo>
                      <a:cubicBezTo>
                        <a:pt x="108" y="185"/>
                        <a:pt x="108" y="179"/>
                        <a:pt x="104" y="174"/>
                      </a:cubicBezTo>
                      <a:cubicBezTo>
                        <a:pt x="37" y="107"/>
                        <a:pt x="37" y="107"/>
                        <a:pt x="37" y="107"/>
                      </a:cubicBezTo>
                      <a:cubicBezTo>
                        <a:pt x="310" y="107"/>
                        <a:pt x="310" y="107"/>
                        <a:pt x="310" y="107"/>
                      </a:cubicBezTo>
                      <a:cubicBezTo>
                        <a:pt x="316" y="107"/>
                        <a:pt x="321" y="103"/>
                        <a:pt x="321" y="97"/>
                      </a:cubicBezTo>
                      <a:cubicBezTo>
                        <a:pt x="321" y="91"/>
                        <a:pt x="316" y="86"/>
                        <a:pt x="310" y="86"/>
                      </a:cubicBez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sp>
              <p:nvSpPr>
                <p:cNvPr id="30" name="Freeform 212">
                  <a:hlinkClick r:id="" action="ppaction://hlinkshowjump?jump=nextslide"/>
                </p:cNvPr>
                <p:cNvSpPr>
                  <a:spLocks noEditPoints="1"/>
                </p:cNvSpPr>
                <p:nvPr/>
              </p:nvSpPr>
              <p:spPr bwMode="auto">
                <a:xfrm rot="10800000">
                  <a:off x="5840121" y="174998"/>
                  <a:ext cx="288000" cy="287155"/>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grpSp>
          <p:grpSp>
            <p:nvGrpSpPr>
              <p:cNvPr id="7" name="Group 6"/>
              <p:cNvGrpSpPr/>
              <p:nvPr/>
            </p:nvGrpSpPr>
            <p:grpSpPr>
              <a:xfrm>
                <a:off x="6601029" y="4312311"/>
                <a:ext cx="288000" cy="287155"/>
                <a:chOff x="1739755" y="155947"/>
                <a:chExt cx="288000" cy="287155"/>
              </a:xfrm>
            </p:grpSpPr>
            <p:sp>
              <p:nvSpPr>
                <p:cNvPr id="27" name="Freeform 211"/>
                <p:cNvSpPr>
                  <a:spLocks/>
                </p:cNvSpPr>
                <p:nvPr/>
              </p:nvSpPr>
              <p:spPr bwMode="auto">
                <a:xfrm>
                  <a:off x="1792963" y="245472"/>
                  <a:ext cx="180739" cy="108105"/>
                </a:xfrm>
                <a:custGeom>
                  <a:avLst/>
                  <a:gdLst>
                    <a:gd name="T0" fmla="*/ 310 w 321"/>
                    <a:gd name="T1" fmla="*/ 86 h 193"/>
                    <a:gd name="T2" fmla="*/ 37 w 321"/>
                    <a:gd name="T3" fmla="*/ 86 h 193"/>
                    <a:gd name="T4" fmla="*/ 104 w 321"/>
                    <a:gd name="T5" fmla="*/ 19 h 193"/>
                    <a:gd name="T6" fmla="*/ 104 w 321"/>
                    <a:gd name="T7" fmla="*/ 4 h 193"/>
                    <a:gd name="T8" fmla="*/ 89 w 321"/>
                    <a:gd name="T9" fmla="*/ 4 h 193"/>
                    <a:gd name="T10" fmla="*/ 4 w 321"/>
                    <a:gd name="T11" fmla="*/ 89 h 193"/>
                    <a:gd name="T12" fmla="*/ 1 w 321"/>
                    <a:gd name="T13" fmla="*/ 93 h 193"/>
                    <a:gd name="T14" fmla="*/ 1 w 321"/>
                    <a:gd name="T15" fmla="*/ 101 h 193"/>
                    <a:gd name="T16" fmla="*/ 4 w 321"/>
                    <a:gd name="T17" fmla="*/ 104 h 193"/>
                    <a:gd name="T18" fmla="*/ 89 w 321"/>
                    <a:gd name="T19" fmla="*/ 190 h 193"/>
                    <a:gd name="T20" fmla="*/ 97 w 321"/>
                    <a:gd name="T21" fmla="*/ 193 h 193"/>
                    <a:gd name="T22" fmla="*/ 104 w 321"/>
                    <a:gd name="T23" fmla="*/ 190 h 193"/>
                    <a:gd name="T24" fmla="*/ 104 w 321"/>
                    <a:gd name="T25" fmla="*/ 174 h 193"/>
                    <a:gd name="T26" fmla="*/ 37 w 321"/>
                    <a:gd name="T27" fmla="*/ 107 h 193"/>
                    <a:gd name="T28" fmla="*/ 310 w 321"/>
                    <a:gd name="T29" fmla="*/ 107 h 193"/>
                    <a:gd name="T30" fmla="*/ 321 w 321"/>
                    <a:gd name="T31" fmla="*/ 97 h 193"/>
                    <a:gd name="T32" fmla="*/ 310 w 321"/>
                    <a:gd name="T33" fmla="*/ 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1" h="193">
                      <a:moveTo>
                        <a:pt x="310" y="86"/>
                      </a:moveTo>
                      <a:cubicBezTo>
                        <a:pt x="37" y="86"/>
                        <a:pt x="37" y="86"/>
                        <a:pt x="37" y="86"/>
                      </a:cubicBezTo>
                      <a:cubicBezTo>
                        <a:pt x="104" y="19"/>
                        <a:pt x="104" y="19"/>
                        <a:pt x="104" y="19"/>
                      </a:cubicBezTo>
                      <a:cubicBezTo>
                        <a:pt x="108" y="15"/>
                        <a:pt x="108" y="8"/>
                        <a:pt x="104" y="4"/>
                      </a:cubicBezTo>
                      <a:cubicBezTo>
                        <a:pt x="100" y="0"/>
                        <a:pt x="93" y="0"/>
                        <a:pt x="89" y="4"/>
                      </a:cubicBezTo>
                      <a:cubicBezTo>
                        <a:pt x="4" y="89"/>
                        <a:pt x="4" y="89"/>
                        <a:pt x="4" y="89"/>
                      </a:cubicBezTo>
                      <a:cubicBezTo>
                        <a:pt x="3" y="90"/>
                        <a:pt x="2" y="91"/>
                        <a:pt x="1" y="93"/>
                      </a:cubicBezTo>
                      <a:cubicBezTo>
                        <a:pt x="0" y="95"/>
                        <a:pt x="0" y="98"/>
                        <a:pt x="1" y="101"/>
                      </a:cubicBezTo>
                      <a:cubicBezTo>
                        <a:pt x="2" y="102"/>
                        <a:pt x="3" y="103"/>
                        <a:pt x="4" y="104"/>
                      </a:cubicBezTo>
                      <a:cubicBezTo>
                        <a:pt x="89" y="190"/>
                        <a:pt x="89" y="190"/>
                        <a:pt x="89" y="190"/>
                      </a:cubicBezTo>
                      <a:cubicBezTo>
                        <a:pt x="91" y="192"/>
                        <a:pt x="94" y="193"/>
                        <a:pt x="97" y="193"/>
                      </a:cubicBezTo>
                      <a:cubicBezTo>
                        <a:pt x="99" y="193"/>
                        <a:pt x="102" y="192"/>
                        <a:pt x="104" y="190"/>
                      </a:cubicBezTo>
                      <a:cubicBezTo>
                        <a:pt x="108" y="185"/>
                        <a:pt x="108" y="179"/>
                        <a:pt x="104" y="174"/>
                      </a:cubicBezTo>
                      <a:cubicBezTo>
                        <a:pt x="37" y="107"/>
                        <a:pt x="37" y="107"/>
                        <a:pt x="37" y="107"/>
                      </a:cubicBezTo>
                      <a:cubicBezTo>
                        <a:pt x="310" y="107"/>
                        <a:pt x="310" y="107"/>
                        <a:pt x="310" y="107"/>
                      </a:cubicBezTo>
                      <a:cubicBezTo>
                        <a:pt x="316" y="107"/>
                        <a:pt x="321" y="103"/>
                        <a:pt x="321" y="97"/>
                      </a:cubicBezTo>
                      <a:cubicBezTo>
                        <a:pt x="321" y="91"/>
                        <a:pt x="316" y="86"/>
                        <a:pt x="310" y="86"/>
                      </a:cubicBez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sp>
              <p:nvSpPr>
                <p:cNvPr id="28" name="Freeform 212">
                  <a:hlinkClick r:id="" action="ppaction://hlinkshowjump?jump=previousslide"/>
                </p:cNvPr>
                <p:cNvSpPr>
                  <a:spLocks noEditPoints="1"/>
                </p:cNvSpPr>
                <p:nvPr/>
              </p:nvSpPr>
              <p:spPr bwMode="auto">
                <a:xfrm>
                  <a:off x="1739755" y="155947"/>
                  <a:ext cx="288000" cy="287155"/>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grpSp>
          <p:sp>
            <p:nvSpPr>
              <p:cNvPr id="9" name="LinkHome">
                <a:hlinkClick r:id="rId3" action="ppaction://hlinksldjump"/>
              </p:cNvPr>
              <p:cNvSpPr/>
              <p:nvPr userDrawn="1"/>
            </p:nvSpPr>
            <p:spPr bwMode="gray">
              <a:xfrm>
                <a:off x="6293713" y="4256376"/>
                <a:ext cx="323850" cy="361950"/>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10" name="LinkForward">
                <a:hlinkClick r:id="" action="ppaction://hlinkshowjump?jump=nextslide"/>
              </p:cNvPr>
              <p:cNvSpPr/>
              <p:nvPr userDrawn="1"/>
            </p:nvSpPr>
            <p:spPr bwMode="gray">
              <a:xfrm>
                <a:off x="6875752" y="4256376"/>
                <a:ext cx="323850" cy="361950"/>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11" name="LinkBackward">
                <a:hlinkClick r:id="" action="ppaction://hlinkshowjump?jump=previousslide"/>
              </p:cNvPr>
              <p:cNvSpPr/>
              <p:nvPr userDrawn="1"/>
            </p:nvSpPr>
            <p:spPr bwMode="gray">
              <a:xfrm>
                <a:off x="6580114" y="4256376"/>
                <a:ext cx="323850" cy="361950"/>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grpSp>
        <p:sp>
          <p:nvSpPr>
            <p:cNvPr id="14" name="Freeform 212">
              <a:hlinkClick r:id="" action="ppaction://noaction"/>
            </p:cNvPr>
            <p:cNvSpPr>
              <a:spLocks noEditPoints="1"/>
            </p:cNvSpPr>
            <p:nvPr/>
          </p:nvSpPr>
          <p:spPr bwMode="auto">
            <a:xfrm>
              <a:off x="6299693" y="4312311"/>
              <a:ext cx="288000" cy="28800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grpSp>
      <p:graphicFrame>
        <p:nvGraphicFramePr>
          <p:cNvPr id="19" name="ContentsTable"/>
          <p:cNvGraphicFramePr>
            <a:graphicFrameLocks noGrp="1"/>
          </p:cNvGraphicFramePr>
          <p:nvPr userDrawn="1">
            <p:extLst>
              <p:ext uri="{D42A27DB-BD31-4B8C-83A1-F6EECF244321}">
                <p14:modId xmlns:p14="http://schemas.microsoft.com/office/powerpoint/2010/main" val="3867947900"/>
              </p:ext>
            </p:extLst>
          </p:nvPr>
        </p:nvGraphicFramePr>
        <p:xfrm>
          <a:off x="601663" y="3449502"/>
          <a:ext cx="3984130" cy="3708400"/>
        </p:xfrm>
        <a:graphic>
          <a:graphicData uri="http://schemas.openxmlformats.org/drawingml/2006/table">
            <a:tbl>
              <a:tblPr>
                <a:tableStyleId>{5C22544A-7EE6-4342-B048-85BDC9FD1C3A}</a:tableStyleId>
              </a:tblPr>
              <a:tblGrid>
                <a:gridCol w="3450025">
                  <a:extLst>
                    <a:ext uri="{9D8B030D-6E8A-4147-A177-3AD203B41FA5}">
                      <a16:colId xmlns:a16="http://schemas.microsoft.com/office/drawing/2014/main" val="20000"/>
                    </a:ext>
                  </a:extLst>
                </a:gridCol>
                <a:gridCol w="534105">
                  <a:extLst>
                    <a:ext uri="{9D8B030D-6E8A-4147-A177-3AD203B41FA5}">
                      <a16:colId xmlns:a16="http://schemas.microsoft.com/office/drawing/2014/main" val="20001"/>
                    </a:ext>
                  </a:extLst>
                </a:gridCol>
              </a:tblGrid>
              <a:tr h="370840">
                <a:tc>
                  <a:txBody>
                    <a:bodyPr/>
                    <a:lstStyle/>
                    <a:p>
                      <a:r>
                        <a:rPr lang="en-GB" sz="1000" b="0" dirty="0">
                          <a:solidFill>
                            <a:schemeClr val="tx1"/>
                          </a:solidFill>
                        </a:rPr>
                        <a:t>Content line 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6</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6</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10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bl>
          </a:graphicData>
        </a:graphic>
      </p:graphicFrame>
      <p:graphicFrame>
        <p:nvGraphicFramePr>
          <p:cNvPr id="20" name="MasterContentsTable"/>
          <p:cNvGraphicFramePr>
            <a:graphicFrameLocks noGrp="1"/>
          </p:cNvGraphicFramePr>
          <p:nvPr userDrawn="1">
            <p:extLst>
              <p:ext uri="{D42A27DB-BD31-4B8C-83A1-F6EECF244321}">
                <p14:modId xmlns:p14="http://schemas.microsoft.com/office/powerpoint/2010/main" val="4083108497"/>
              </p:ext>
            </p:extLst>
          </p:nvPr>
        </p:nvGraphicFramePr>
        <p:xfrm>
          <a:off x="449263" y="3297102"/>
          <a:ext cx="3984130" cy="5562600"/>
        </p:xfrm>
        <a:graphic>
          <a:graphicData uri="http://schemas.openxmlformats.org/drawingml/2006/table">
            <a:tbl>
              <a:tblPr>
                <a:tableStyleId>{5C22544A-7EE6-4342-B048-85BDC9FD1C3A}</a:tableStyleId>
              </a:tblPr>
              <a:tblGrid>
                <a:gridCol w="3450025">
                  <a:extLst>
                    <a:ext uri="{9D8B030D-6E8A-4147-A177-3AD203B41FA5}">
                      <a16:colId xmlns:a16="http://schemas.microsoft.com/office/drawing/2014/main" val="20000"/>
                    </a:ext>
                  </a:extLst>
                </a:gridCol>
                <a:gridCol w="534105">
                  <a:extLst>
                    <a:ext uri="{9D8B030D-6E8A-4147-A177-3AD203B41FA5}">
                      <a16:colId xmlns:a16="http://schemas.microsoft.com/office/drawing/2014/main" val="20001"/>
                    </a:ext>
                  </a:extLst>
                </a:gridCol>
              </a:tblGrid>
              <a:tr h="370840">
                <a:tc>
                  <a:txBody>
                    <a:bodyPr/>
                    <a:lstStyle/>
                    <a:p>
                      <a:r>
                        <a:rPr lang="en-GB" sz="1000" b="0" dirty="0">
                          <a:solidFill>
                            <a:schemeClr val="tx1"/>
                          </a:solidFill>
                        </a:rPr>
                        <a:t>Content line 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6</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6</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10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3"/>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4"/>
                  </a:ext>
                </a:extLst>
              </a:tr>
            </a:tbl>
          </a:graphicData>
        </a:graphic>
      </p:graphicFrame>
    </p:spTree>
    <p:extLst>
      <p:ext uri="{BB962C8B-B14F-4D97-AF65-F5344CB8AC3E}">
        <p14:creationId xmlns:p14="http://schemas.microsoft.com/office/powerpoint/2010/main" val="946399222"/>
      </p:ext>
    </p:extLst>
  </p:cSld>
  <p:clrMapOvr>
    <a:masterClrMapping/>
  </p:clrMapOvr>
  <p:transition>
    <p:fade/>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9" name="Text Placeholder 8"/>
          <p:cNvSpPr>
            <a:spLocks noGrp="1"/>
          </p:cNvSpPr>
          <p:nvPr>
            <p:ph type="body" sz="quarter" idx="13" hasCustomPrompt="1"/>
          </p:nvPr>
        </p:nvSpPr>
        <p:spPr>
          <a:xfrm>
            <a:off x="449264" y="1079500"/>
            <a:ext cx="9791700" cy="518400"/>
          </a:xfrm>
          <a:prstGeom prst="rect">
            <a:avLst/>
          </a:prstGeom>
        </p:spPr>
        <p:txBody>
          <a:bodyPr lIns="0" tIns="0" rIns="0" bIns="0">
            <a:noAutofit/>
          </a:bodyPr>
          <a:lstStyle>
            <a:lvl1pPr marL="0" indent="0">
              <a:buNone/>
              <a:defRPr sz="1400" b="0">
                <a:solidFill>
                  <a:srgbClr val="575757"/>
                </a:solidFill>
              </a:defRPr>
            </a:lvl1pPr>
          </a:lstStyle>
          <a:p>
            <a:pPr lvl="0"/>
            <a:r>
              <a:rPr lang="en-US" dirty="0"/>
              <a:t>Click to add subtitle</a:t>
            </a:r>
          </a:p>
        </p:txBody>
      </p:sp>
      <p:sp>
        <p:nvSpPr>
          <p:cNvPr id="14" name="Title Placeholder 1"/>
          <p:cNvSpPr>
            <a:spLocks noGrp="1"/>
          </p:cNvSpPr>
          <p:nvPr>
            <p:ph type="title"/>
          </p:nvPr>
        </p:nvSpPr>
        <p:spPr>
          <a:xfrm>
            <a:off x="449263" y="647700"/>
            <a:ext cx="9791700" cy="432000"/>
          </a:xfrm>
          <a:prstGeom prst="rect">
            <a:avLst/>
          </a:prstGeom>
        </p:spPr>
        <p:txBody>
          <a:bodyPr vert="horz" lIns="0" tIns="0" rIns="0" bIns="0" rtlCol="0" anchor="t" anchorCtr="0">
            <a:noAutofit/>
          </a:bodyPr>
          <a:lstStyle>
            <a:lvl1pPr>
              <a:defRPr/>
            </a:lvl1pPr>
          </a:lstStyle>
          <a:p>
            <a:r>
              <a:rPr lang="en-US" noProof="0" dirty="0"/>
              <a:t>Click to edit Master title style</a:t>
            </a:r>
          </a:p>
        </p:txBody>
      </p:sp>
    </p:spTree>
    <p:extLst>
      <p:ext uri="{BB962C8B-B14F-4D97-AF65-F5344CB8AC3E}">
        <p14:creationId xmlns:p14="http://schemas.microsoft.com/office/powerpoint/2010/main" val="1118238636"/>
      </p:ext>
    </p:extLst>
  </p:cSld>
  <p:clrMapOvr>
    <a:masterClrMapping/>
  </p:clrMapOvr>
  <p:transition>
    <p:fade/>
  </p:transition>
  <p:extLst>
    <p:ext uri="{DCECCB84-F9BA-43D5-87BE-67443E8EF086}">
      <p15:sldGuideLst xmlns:p15="http://schemas.microsoft.com/office/powerpoint/2012/main"/>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ectionDivider">
    <p:spTree>
      <p:nvGrpSpPr>
        <p:cNvPr id="1" name=""/>
        <p:cNvGrpSpPr/>
        <p:nvPr/>
      </p:nvGrpSpPr>
      <p:grpSpPr>
        <a:xfrm>
          <a:off x="0" y="0"/>
          <a:ext cx="0" cy="0"/>
          <a:chOff x="0" y="0"/>
          <a:chExt cx="0" cy="0"/>
        </a:xfrm>
      </p:grpSpPr>
      <p:sp>
        <p:nvSpPr>
          <p:cNvPr id="7" name="Title Placeholder 1"/>
          <p:cNvSpPr>
            <a:spLocks noGrp="1"/>
          </p:cNvSpPr>
          <p:nvPr>
            <p:ph type="title" hasCustomPrompt="1"/>
          </p:nvPr>
        </p:nvSpPr>
        <p:spPr>
          <a:xfrm>
            <a:off x="449264" y="647700"/>
            <a:ext cx="9791700" cy="431800"/>
          </a:xfrm>
          <a:prstGeom prst="rect">
            <a:avLst/>
          </a:prstGeom>
        </p:spPr>
        <p:txBody>
          <a:bodyPr vert="horz" lIns="0" tIns="0" rIns="0" bIns="0" rtlCol="0" anchor="t" anchorCtr="0">
            <a:noAutofit/>
          </a:bodyPr>
          <a:lstStyle>
            <a:lvl1pPr>
              <a:defRPr/>
            </a:lvl1pPr>
          </a:lstStyle>
          <a:p>
            <a:r>
              <a:rPr lang="en-US" dirty="0"/>
              <a:t>Click to add title</a:t>
            </a:r>
          </a:p>
        </p:txBody>
      </p:sp>
    </p:spTree>
    <p:extLst>
      <p:ext uri="{BB962C8B-B14F-4D97-AF65-F5344CB8AC3E}">
        <p14:creationId xmlns:p14="http://schemas.microsoft.com/office/powerpoint/2010/main" val="677831495"/>
      </p:ext>
    </p:extLst>
  </p:cSld>
  <p:clrMapOvr>
    <a:masterClrMapping/>
  </p:clrMapOvr>
  <p:transition>
    <p:fade/>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userDrawn="1">
  <p:cSld name="Empty+Logo">
    <p:spTree>
      <p:nvGrpSpPr>
        <p:cNvPr id="1" name=""/>
        <p:cNvGrpSpPr/>
        <p:nvPr/>
      </p:nvGrpSpPr>
      <p:grpSpPr>
        <a:xfrm>
          <a:off x="0" y="0"/>
          <a:ext cx="0" cy="0"/>
          <a:chOff x="0" y="0"/>
          <a:chExt cx="0" cy="0"/>
        </a:xfrm>
      </p:grpSpPr>
      <p:grpSp>
        <p:nvGrpSpPr>
          <p:cNvPr id="16" name="Group 6"/>
          <p:cNvGrpSpPr>
            <a:grpSpLocks noChangeAspect="1"/>
          </p:cNvGrpSpPr>
          <p:nvPr userDrawn="1"/>
        </p:nvGrpSpPr>
        <p:grpSpPr>
          <a:xfrm>
            <a:off x="449263" y="285583"/>
            <a:ext cx="2020500" cy="362117"/>
            <a:chOff x="398463" y="404813"/>
            <a:chExt cx="1627187" cy="307976"/>
          </a:xfrm>
          <a:solidFill>
            <a:schemeClr val="tx1"/>
          </a:solidFill>
        </p:grpSpPr>
        <p:sp>
          <p:nvSpPr>
            <p:cNvPr id="17" name="Oval 16"/>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18"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19"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1"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2"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3"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4"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5"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6"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7"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grpSp>
    </p:spTree>
    <p:extLst>
      <p:ext uri="{BB962C8B-B14F-4D97-AF65-F5344CB8AC3E}">
        <p14:creationId xmlns:p14="http://schemas.microsoft.com/office/powerpoint/2010/main" val="3481455299"/>
      </p:ext>
    </p:extLst>
  </p:cSld>
  <p:clrMapOvr>
    <a:masterClrMapping/>
  </p:clrMapOvr>
  <p:transition>
    <p:fade/>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Empty">
    <p:spTree>
      <p:nvGrpSpPr>
        <p:cNvPr id="1" name=""/>
        <p:cNvGrpSpPr/>
        <p:nvPr/>
      </p:nvGrpSpPr>
      <p:grpSpPr>
        <a:xfrm>
          <a:off x="0" y="0"/>
          <a:ext cx="0" cy="0"/>
          <a:chOff x="0" y="0"/>
          <a:chExt cx="0" cy="0"/>
        </a:xfrm>
      </p:grpSpPr>
    </p:spTree>
    <p:extLst>
      <p:ext uri="{BB962C8B-B14F-4D97-AF65-F5344CB8AC3E}">
        <p14:creationId xmlns:p14="http://schemas.microsoft.com/office/powerpoint/2010/main" val="3542205578"/>
      </p:ext>
    </p:extLst>
  </p:cSld>
  <p:clrMapOvr>
    <a:masterClrMapping/>
  </p:clrMapOvr>
  <p:transition>
    <p:fade/>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Graphics">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735013" y="403225"/>
            <a:ext cx="9221787" cy="435871"/>
          </a:xfrm>
          <a:prstGeom prst="rect">
            <a:avLst/>
          </a:prstGeom>
        </p:spPr>
        <p:txBody>
          <a:bodyPr/>
          <a:lstStyle>
            <a:lvl1pPr>
              <a:defRPr/>
            </a:lvl1pPr>
          </a:lstStyle>
          <a:p>
            <a:r>
              <a:rPr lang="en-US" dirty="0"/>
              <a:t>Icons, other graphics &amp; </a:t>
            </a:r>
            <a:r>
              <a:rPr lang="en-US" dirty="0" err="1"/>
              <a:t>misc</a:t>
            </a:r>
            <a:r>
              <a:rPr lang="en-US" dirty="0"/>
              <a:t> placeholders</a:t>
            </a:r>
            <a:endParaRPr lang="en-GB" dirty="0"/>
          </a:p>
        </p:txBody>
      </p:sp>
      <p:graphicFrame>
        <p:nvGraphicFramePr>
          <p:cNvPr id="63" name="NavigationTable"/>
          <p:cNvGraphicFramePr>
            <a:graphicFrameLocks/>
          </p:cNvGraphicFramePr>
          <p:nvPr userDrawn="1"/>
        </p:nvGraphicFramePr>
        <p:xfrm>
          <a:off x="449262" y="2522487"/>
          <a:ext cx="8813961" cy="359610"/>
        </p:xfrm>
        <a:graphic>
          <a:graphicData uri="http://schemas.openxmlformats.org/drawingml/2006/table">
            <a:tbl>
              <a:tblPr>
                <a:tableStyleId>{5C22544A-7EE6-4342-B048-85BDC9FD1C3A}</a:tableStyleId>
              </a:tblPr>
              <a:tblGrid>
                <a:gridCol w="979329">
                  <a:extLst>
                    <a:ext uri="{9D8B030D-6E8A-4147-A177-3AD203B41FA5}">
                      <a16:colId xmlns:a16="http://schemas.microsoft.com/office/drawing/2014/main" val="20000"/>
                    </a:ext>
                  </a:extLst>
                </a:gridCol>
                <a:gridCol w="979329">
                  <a:extLst>
                    <a:ext uri="{9D8B030D-6E8A-4147-A177-3AD203B41FA5}">
                      <a16:colId xmlns:a16="http://schemas.microsoft.com/office/drawing/2014/main" val="20001"/>
                    </a:ext>
                  </a:extLst>
                </a:gridCol>
                <a:gridCol w="979329">
                  <a:extLst>
                    <a:ext uri="{9D8B030D-6E8A-4147-A177-3AD203B41FA5}">
                      <a16:colId xmlns:a16="http://schemas.microsoft.com/office/drawing/2014/main" val="20002"/>
                    </a:ext>
                  </a:extLst>
                </a:gridCol>
                <a:gridCol w="979329">
                  <a:extLst>
                    <a:ext uri="{9D8B030D-6E8A-4147-A177-3AD203B41FA5}">
                      <a16:colId xmlns:a16="http://schemas.microsoft.com/office/drawing/2014/main" val="20003"/>
                    </a:ext>
                  </a:extLst>
                </a:gridCol>
                <a:gridCol w="979329">
                  <a:extLst>
                    <a:ext uri="{9D8B030D-6E8A-4147-A177-3AD203B41FA5}">
                      <a16:colId xmlns:a16="http://schemas.microsoft.com/office/drawing/2014/main" val="20004"/>
                    </a:ext>
                  </a:extLst>
                </a:gridCol>
                <a:gridCol w="979329">
                  <a:extLst>
                    <a:ext uri="{9D8B030D-6E8A-4147-A177-3AD203B41FA5}">
                      <a16:colId xmlns:a16="http://schemas.microsoft.com/office/drawing/2014/main" val="20005"/>
                    </a:ext>
                  </a:extLst>
                </a:gridCol>
                <a:gridCol w="979329">
                  <a:extLst>
                    <a:ext uri="{9D8B030D-6E8A-4147-A177-3AD203B41FA5}">
                      <a16:colId xmlns:a16="http://schemas.microsoft.com/office/drawing/2014/main" val="20006"/>
                    </a:ext>
                  </a:extLst>
                </a:gridCol>
                <a:gridCol w="979329">
                  <a:extLst>
                    <a:ext uri="{9D8B030D-6E8A-4147-A177-3AD203B41FA5}">
                      <a16:colId xmlns:a16="http://schemas.microsoft.com/office/drawing/2014/main" val="20007"/>
                    </a:ext>
                  </a:extLst>
                </a:gridCol>
                <a:gridCol w="979329">
                  <a:extLst>
                    <a:ext uri="{9D8B030D-6E8A-4147-A177-3AD203B41FA5}">
                      <a16:colId xmlns:a16="http://schemas.microsoft.com/office/drawing/2014/main" val="20008"/>
                    </a:ext>
                  </a:extLst>
                </a:gridCol>
              </a:tblGrid>
              <a:tr h="359610">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bg1"/>
                          </a:solidFill>
                          <a:effectLst/>
                          <a:latin typeface="+mn-lt"/>
                          <a:cs typeface="Arial" charset="0"/>
                        </a:rPr>
                        <a:t>Section 1</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2</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3</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4</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5</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6</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7</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8</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9</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extLst>
                  <a:ext uri="{0D108BD9-81ED-4DB2-BD59-A6C34878D82A}">
                    <a16:rowId xmlns:a16="http://schemas.microsoft.com/office/drawing/2014/main" val="10000"/>
                  </a:ext>
                </a:extLst>
              </a:tr>
            </a:tbl>
          </a:graphicData>
        </a:graphic>
      </p:graphicFrame>
      <p:grpSp>
        <p:nvGrpSpPr>
          <p:cNvPr id="37" name="MasterNavigationGroup"/>
          <p:cNvGrpSpPr/>
          <p:nvPr userDrawn="1"/>
        </p:nvGrpSpPr>
        <p:grpSpPr>
          <a:xfrm>
            <a:off x="5979677" y="3739139"/>
            <a:ext cx="905889" cy="361950"/>
            <a:chOff x="6293713" y="4256376"/>
            <a:chExt cx="905889" cy="361950"/>
          </a:xfrm>
        </p:grpSpPr>
        <p:pic>
          <p:nvPicPr>
            <p:cNvPr id="35" name="Picture 3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49394" y="4354513"/>
              <a:ext cx="183024" cy="183024"/>
            </a:xfrm>
            <a:prstGeom prst="rect">
              <a:avLst/>
            </a:prstGeom>
          </p:spPr>
        </p:pic>
        <p:grpSp>
          <p:nvGrpSpPr>
            <p:cNvPr id="36" name="Group 35"/>
            <p:cNvGrpSpPr/>
            <p:nvPr userDrawn="1"/>
          </p:nvGrpSpPr>
          <p:grpSpPr>
            <a:xfrm>
              <a:off x="6293713" y="4256376"/>
              <a:ext cx="905889" cy="361950"/>
              <a:chOff x="6293713" y="4256376"/>
              <a:chExt cx="905889" cy="361950"/>
            </a:xfrm>
          </p:grpSpPr>
          <p:grpSp>
            <p:nvGrpSpPr>
              <p:cNvPr id="6" name="Group 5"/>
              <p:cNvGrpSpPr/>
              <p:nvPr/>
            </p:nvGrpSpPr>
            <p:grpSpPr>
              <a:xfrm>
                <a:off x="6911602" y="4312312"/>
                <a:ext cx="288000" cy="287155"/>
                <a:chOff x="5840121" y="174998"/>
                <a:chExt cx="288000" cy="287155"/>
              </a:xfrm>
            </p:grpSpPr>
            <p:sp>
              <p:nvSpPr>
                <p:cNvPr id="29" name="Freeform 211"/>
                <p:cNvSpPr>
                  <a:spLocks/>
                </p:cNvSpPr>
                <p:nvPr/>
              </p:nvSpPr>
              <p:spPr bwMode="auto">
                <a:xfrm rot="10800000">
                  <a:off x="5894174" y="264523"/>
                  <a:ext cx="180739" cy="108105"/>
                </a:xfrm>
                <a:custGeom>
                  <a:avLst/>
                  <a:gdLst>
                    <a:gd name="T0" fmla="*/ 310 w 321"/>
                    <a:gd name="T1" fmla="*/ 86 h 193"/>
                    <a:gd name="T2" fmla="*/ 37 w 321"/>
                    <a:gd name="T3" fmla="*/ 86 h 193"/>
                    <a:gd name="T4" fmla="*/ 104 w 321"/>
                    <a:gd name="T5" fmla="*/ 19 h 193"/>
                    <a:gd name="T6" fmla="*/ 104 w 321"/>
                    <a:gd name="T7" fmla="*/ 4 h 193"/>
                    <a:gd name="T8" fmla="*/ 89 w 321"/>
                    <a:gd name="T9" fmla="*/ 4 h 193"/>
                    <a:gd name="T10" fmla="*/ 4 w 321"/>
                    <a:gd name="T11" fmla="*/ 89 h 193"/>
                    <a:gd name="T12" fmla="*/ 1 w 321"/>
                    <a:gd name="T13" fmla="*/ 93 h 193"/>
                    <a:gd name="T14" fmla="*/ 1 w 321"/>
                    <a:gd name="T15" fmla="*/ 101 h 193"/>
                    <a:gd name="T16" fmla="*/ 4 w 321"/>
                    <a:gd name="T17" fmla="*/ 104 h 193"/>
                    <a:gd name="T18" fmla="*/ 89 w 321"/>
                    <a:gd name="T19" fmla="*/ 190 h 193"/>
                    <a:gd name="T20" fmla="*/ 97 w 321"/>
                    <a:gd name="T21" fmla="*/ 193 h 193"/>
                    <a:gd name="T22" fmla="*/ 104 w 321"/>
                    <a:gd name="T23" fmla="*/ 190 h 193"/>
                    <a:gd name="T24" fmla="*/ 104 w 321"/>
                    <a:gd name="T25" fmla="*/ 174 h 193"/>
                    <a:gd name="T26" fmla="*/ 37 w 321"/>
                    <a:gd name="T27" fmla="*/ 107 h 193"/>
                    <a:gd name="T28" fmla="*/ 310 w 321"/>
                    <a:gd name="T29" fmla="*/ 107 h 193"/>
                    <a:gd name="T30" fmla="*/ 321 w 321"/>
                    <a:gd name="T31" fmla="*/ 97 h 193"/>
                    <a:gd name="T32" fmla="*/ 310 w 321"/>
                    <a:gd name="T33" fmla="*/ 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1" h="193">
                      <a:moveTo>
                        <a:pt x="310" y="86"/>
                      </a:moveTo>
                      <a:cubicBezTo>
                        <a:pt x="37" y="86"/>
                        <a:pt x="37" y="86"/>
                        <a:pt x="37" y="86"/>
                      </a:cubicBezTo>
                      <a:cubicBezTo>
                        <a:pt x="104" y="19"/>
                        <a:pt x="104" y="19"/>
                        <a:pt x="104" y="19"/>
                      </a:cubicBezTo>
                      <a:cubicBezTo>
                        <a:pt x="108" y="15"/>
                        <a:pt x="108" y="8"/>
                        <a:pt x="104" y="4"/>
                      </a:cubicBezTo>
                      <a:cubicBezTo>
                        <a:pt x="100" y="0"/>
                        <a:pt x="93" y="0"/>
                        <a:pt x="89" y="4"/>
                      </a:cubicBezTo>
                      <a:cubicBezTo>
                        <a:pt x="4" y="89"/>
                        <a:pt x="4" y="89"/>
                        <a:pt x="4" y="89"/>
                      </a:cubicBezTo>
                      <a:cubicBezTo>
                        <a:pt x="3" y="90"/>
                        <a:pt x="2" y="91"/>
                        <a:pt x="1" y="93"/>
                      </a:cubicBezTo>
                      <a:cubicBezTo>
                        <a:pt x="0" y="95"/>
                        <a:pt x="0" y="98"/>
                        <a:pt x="1" y="101"/>
                      </a:cubicBezTo>
                      <a:cubicBezTo>
                        <a:pt x="2" y="102"/>
                        <a:pt x="3" y="103"/>
                        <a:pt x="4" y="104"/>
                      </a:cubicBezTo>
                      <a:cubicBezTo>
                        <a:pt x="89" y="190"/>
                        <a:pt x="89" y="190"/>
                        <a:pt x="89" y="190"/>
                      </a:cubicBezTo>
                      <a:cubicBezTo>
                        <a:pt x="91" y="192"/>
                        <a:pt x="94" y="193"/>
                        <a:pt x="97" y="193"/>
                      </a:cubicBezTo>
                      <a:cubicBezTo>
                        <a:pt x="99" y="193"/>
                        <a:pt x="102" y="192"/>
                        <a:pt x="104" y="190"/>
                      </a:cubicBezTo>
                      <a:cubicBezTo>
                        <a:pt x="108" y="185"/>
                        <a:pt x="108" y="179"/>
                        <a:pt x="104" y="174"/>
                      </a:cubicBezTo>
                      <a:cubicBezTo>
                        <a:pt x="37" y="107"/>
                        <a:pt x="37" y="107"/>
                        <a:pt x="37" y="107"/>
                      </a:cubicBezTo>
                      <a:cubicBezTo>
                        <a:pt x="310" y="107"/>
                        <a:pt x="310" y="107"/>
                        <a:pt x="310" y="107"/>
                      </a:cubicBezTo>
                      <a:cubicBezTo>
                        <a:pt x="316" y="107"/>
                        <a:pt x="321" y="103"/>
                        <a:pt x="321" y="97"/>
                      </a:cubicBezTo>
                      <a:cubicBezTo>
                        <a:pt x="321" y="91"/>
                        <a:pt x="316" y="86"/>
                        <a:pt x="310" y="86"/>
                      </a:cubicBez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sp>
              <p:nvSpPr>
                <p:cNvPr id="30" name="Freeform 212">
                  <a:hlinkClick r:id="" action="ppaction://hlinkshowjump?jump=nextslide"/>
                </p:cNvPr>
                <p:cNvSpPr>
                  <a:spLocks noEditPoints="1"/>
                </p:cNvSpPr>
                <p:nvPr/>
              </p:nvSpPr>
              <p:spPr bwMode="auto">
                <a:xfrm rot="10800000">
                  <a:off x="5840121" y="174998"/>
                  <a:ext cx="288000" cy="287155"/>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grpSp>
          <p:grpSp>
            <p:nvGrpSpPr>
              <p:cNvPr id="7" name="Group 6"/>
              <p:cNvGrpSpPr/>
              <p:nvPr/>
            </p:nvGrpSpPr>
            <p:grpSpPr>
              <a:xfrm>
                <a:off x="6601029" y="4312311"/>
                <a:ext cx="288000" cy="287155"/>
                <a:chOff x="1739755" y="155947"/>
                <a:chExt cx="288000" cy="287155"/>
              </a:xfrm>
            </p:grpSpPr>
            <p:sp>
              <p:nvSpPr>
                <p:cNvPr id="27" name="Freeform 211"/>
                <p:cNvSpPr>
                  <a:spLocks/>
                </p:cNvSpPr>
                <p:nvPr/>
              </p:nvSpPr>
              <p:spPr bwMode="auto">
                <a:xfrm>
                  <a:off x="1792963" y="245472"/>
                  <a:ext cx="180739" cy="108105"/>
                </a:xfrm>
                <a:custGeom>
                  <a:avLst/>
                  <a:gdLst>
                    <a:gd name="T0" fmla="*/ 310 w 321"/>
                    <a:gd name="T1" fmla="*/ 86 h 193"/>
                    <a:gd name="T2" fmla="*/ 37 w 321"/>
                    <a:gd name="T3" fmla="*/ 86 h 193"/>
                    <a:gd name="T4" fmla="*/ 104 w 321"/>
                    <a:gd name="T5" fmla="*/ 19 h 193"/>
                    <a:gd name="T6" fmla="*/ 104 w 321"/>
                    <a:gd name="T7" fmla="*/ 4 h 193"/>
                    <a:gd name="T8" fmla="*/ 89 w 321"/>
                    <a:gd name="T9" fmla="*/ 4 h 193"/>
                    <a:gd name="T10" fmla="*/ 4 w 321"/>
                    <a:gd name="T11" fmla="*/ 89 h 193"/>
                    <a:gd name="T12" fmla="*/ 1 w 321"/>
                    <a:gd name="T13" fmla="*/ 93 h 193"/>
                    <a:gd name="T14" fmla="*/ 1 w 321"/>
                    <a:gd name="T15" fmla="*/ 101 h 193"/>
                    <a:gd name="T16" fmla="*/ 4 w 321"/>
                    <a:gd name="T17" fmla="*/ 104 h 193"/>
                    <a:gd name="T18" fmla="*/ 89 w 321"/>
                    <a:gd name="T19" fmla="*/ 190 h 193"/>
                    <a:gd name="T20" fmla="*/ 97 w 321"/>
                    <a:gd name="T21" fmla="*/ 193 h 193"/>
                    <a:gd name="T22" fmla="*/ 104 w 321"/>
                    <a:gd name="T23" fmla="*/ 190 h 193"/>
                    <a:gd name="T24" fmla="*/ 104 w 321"/>
                    <a:gd name="T25" fmla="*/ 174 h 193"/>
                    <a:gd name="T26" fmla="*/ 37 w 321"/>
                    <a:gd name="T27" fmla="*/ 107 h 193"/>
                    <a:gd name="T28" fmla="*/ 310 w 321"/>
                    <a:gd name="T29" fmla="*/ 107 h 193"/>
                    <a:gd name="T30" fmla="*/ 321 w 321"/>
                    <a:gd name="T31" fmla="*/ 97 h 193"/>
                    <a:gd name="T32" fmla="*/ 310 w 321"/>
                    <a:gd name="T33" fmla="*/ 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1" h="193">
                      <a:moveTo>
                        <a:pt x="310" y="86"/>
                      </a:moveTo>
                      <a:cubicBezTo>
                        <a:pt x="37" y="86"/>
                        <a:pt x="37" y="86"/>
                        <a:pt x="37" y="86"/>
                      </a:cubicBezTo>
                      <a:cubicBezTo>
                        <a:pt x="104" y="19"/>
                        <a:pt x="104" y="19"/>
                        <a:pt x="104" y="19"/>
                      </a:cubicBezTo>
                      <a:cubicBezTo>
                        <a:pt x="108" y="15"/>
                        <a:pt x="108" y="8"/>
                        <a:pt x="104" y="4"/>
                      </a:cubicBezTo>
                      <a:cubicBezTo>
                        <a:pt x="100" y="0"/>
                        <a:pt x="93" y="0"/>
                        <a:pt x="89" y="4"/>
                      </a:cubicBezTo>
                      <a:cubicBezTo>
                        <a:pt x="4" y="89"/>
                        <a:pt x="4" y="89"/>
                        <a:pt x="4" y="89"/>
                      </a:cubicBezTo>
                      <a:cubicBezTo>
                        <a:pt x="3" y="90"/>
                        <a:pt x="2" y="91"/>
                        <a:pt x="1" y="93"/>
                      </a:cubicBezTo>
                      <a:cubicBezTo>
                        <a:pt x="0" y="95"/>
                        <a:pt x="0" y="98"/>
                        <a:pt x="1" y="101"/>
                      </a:cubicBezTo>
                      <a:cubicBezTo>
                        <a:pt x="2" y="102"/>
                        <a:pt x="3" y="103"/>
                        <a:pt x="4" y="104"/>
                      </a:cubicBezTo>
                      <a:cubicBezTo>
                        <a:pt x="89" y="190"/>
                        <a:pt x="89" y="190"/>
                        <a:pt x="89" y="190"/>
                      </a:cubicBezTo>
                      <a:cubicBezTo>
                        <a:pt x="91" y="192"/>
                        <a:pt x="94" y="193"/>
                        <a:pt x="97" y="193"/>
                      </a:cubicBezTo>
                      <a:cubicBezTo>
                        <a:pt x="99" y="193"/>
                        <a:pt x="102" y="192"/>
                        <a:pt x="104" y="190"/>
                      </a:cubicBezTo>
                      <a:cubicBezTo>
                        <a:pt x="108" y="185"/>
                        <a:pt x="108" y="179"/>
                        <a:pt x="104" y="174"/>
                      </a:cubicBezTo>
                      <a:cubicBezTo>
                        <a:pt x="37" y="107"/>
                        <a:pt x="37" y="107"/>
                        <a:pt x="37" y="107"/>
                      </a:cubicBezTo>
                      <a:cubicBezTo>
                        <a:pt x="310" y="107"/>
                        <a:pt x="310" y="107"/>
                        <a:pt x="310" y="107"/>
                      </a:cubicBezTo>
                      <a:cubicBezTo>
                        <a:pt x="316" y="107"/>
                        <a:pt x="321" y="103"/>
                        <a:pt x="321" y="97"/>
                      </a:cubicBezTo>
                      <a:cubicBezTo>
                        <a:pt x="321" y="91"/>
                        <a:pt x="316" y="86"/>
                        <a:pt x="310" y="86"/>
                      </a:cubicBez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sp>
              <p:nvSpPr>
                <p:cNvPr id="28" name="Freeform 212">
                  <a:hlinkClick r:id="" action="ppaction://hlinkshowjump?jump=previousslide"/>
                </p:cNvPr>
                <p:cNvSpPr>
                  <a:spLocks noEditPoints="1"/>
                </p:cNvSpPr>
                <p:nvPr/>
              </p:nvSpPr>
              <p:spPr bwMode="auto">
                <a:xfrm>
                  <a:off x="1739755" y="155947"/>
                  <a:ext cx="288000" cy="287155"/>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grpSp>
          <p:sp>
            <p:nvSpPr>
              <p:cNvPr id="9" name="LinkHome">
                <a:hlinkClick r:id="rId3" action="ppaction://hlinksldjump"/>
              </p:cNvPr>
              <p:cNvSpPr/>
              <p:nvPr userDrawn="1"/>
            </p:nvSpPr>
            <p:spPr bwMode="gray">
              <a:xfrm>
                <a:off x="6293713" y="4256376"/>
                <a:ext cx="323850" cy="361950"/>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10" name="LinkForward">
                <a:hlinkClick r:id="" action="ppaction://hlinkshowjump?jump=nextslide"/>
              </p:cNvPr>
              <p:cNvSpPr/>
              <p:nvPr userDrawn="1"/>
            </p:nvSpPr>
            <p:spPr bwMode="gray">
              <a:xfrm>
                <a:off x="6875752" y="4256376"/>
                <a:ext cx="323850" cy="361950"/>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11" name="LinkBackward">
                <a:hlinkClick r:id="" action="ppaction://hlinkshowjump?jump=previousslide"/>
              </p:cNvPr>
              <p:cNvSpPr/>
              <p:nvPr userDrawn="1"/>
            </p:nvSpPr>
            <p:spPr bwMode="gray">
              <a:xfrm>
                <a:off x="6580114" y="4256376"/>
                <a:ext cx="323850" cy="361950"/>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grpSp>
        <p:sp>
          <p:nvSpPr>
            <p:cNvPr id="14" name="Freeform 212">
              <a:hlinkClick r:id="" action="ppaction://noaction"/>
            </p:cNvPr>
            <p:cNvSpPr>
              <a:spLocks noEditPoints="1"/>
            </p:cNvSpPr>
            <p:nvPr/>
          </p:nvSpPr>
          <p:spPr bwMode="auto">
            <a:xfrm>
              <a:off x="6299693" y="4312311"/>
              <a:ext cx="288000" cy="28800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grpSp>
      <p:graphicFrame>
        <p:nvGraphicFramePr>
          <p:cNvPr id="19" name="ContentsTable"/>
          <p:cNvGraphicFramePr>
            <a:graphicFrameLocks noGrp="1"/>
          </p:cNvGraphicFramePr>
          <p:nvPr userDrawn="1"/>
        </p:nvGraphicFramePr>
        <p:xfrm>
          <a:off x="601663" y="3449502"/>
          <a:ext cx="3984130" cy="3708400"/>
        </p:xfrm>
        <a:graphic>
          <a:graphicData uri="http://schemas.openxmlformats.org/drawingml/2006/table">
            <a:tbl>
              <a:tblPr>
                <a:tableStyleId>{5C22544A-7EE6-4342-B048-85BDC9FD1C3A}</a:tableStyleId>
              </a:tblPr>
              <a:tblGrid>
                <a:gridCol w="3450025">
                  <a:extLst>
                    <a:ext uri="{9D8B030D-6E8A-4147-A177-3AD203B41FA5}">
                      <a16:colId xmlns:a16="http://schemas.microsoft.com/office/drawing/2014/main" val="20000"/>
                    </a:ext>
                  </a:extLst>
                </a:gridCol>
                <a:gridCol w="534105">
                  <a:extLst>
                    <a:ext uri="{9D8B030D-6E8A-4147-A177-3AD203B41FA5}">
                      <a16:colId xmlns:a16="http://schemas.microsoft.com/office/drawing/2014/main" val="20001"/>
                    </a:ext>
                  </a:extLst>
                </a:gridCol>
              </a:tblGrid>
              <a:tr h="370840">
                <a:tc>
                  <a:txBody>
                    <a:bodyPr/>
                    <a:lstStyle/>
                    <a:p>
                      <a:r>
                        <a:rPr lang="en-GB" sz="1000" b="0" dirty="0">
                          <a:solidFill>
                            <a:schemeClr val="tx1"/>
                          </a:solidFill>
                        </a:rPr>
                        <a:t>Content line 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6</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6</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10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bl>
          </a:graphicData>
        </a:graphic>
      </p:graphicFrame>
      <p:graphicFrame>
        <p:nvGraphicFramePr>
          <p:cNvPr id="20" name="MasterContentsTable"/>
          <p:cNvGraphicFramePr>
            <a:graphicFrameLocks noGrp="1"/>
          </p:cNvGraphicFramePr>
          <p:nvPr userDrawn="1"/>
        </p:nvGraphicFramePr>
        <p:xfrm>
          <a:off x="449263" y="3297102"/>
          <a:ext cx="3984130" cy="5562600"/>
        </p:xfrm>
        <a:graphic>
          <a:graphicData uri="http://schemas.openxmlformats.org/drawingml/2006/table">
            <a:tbl>
              <a:tblPr>
                <a:tableStyleId>{5C22544A-7EE6-4342-B048-85BDC9FD1C3A}</a:tableStyleId>
              </a:tblPr>
              <a:tblGrid>
                <a:gridCol w="3450025">
                  <a:extLst>
                    <a:ext uri="{9D8B030D-6E8A-4147-A177-3AD203B41FA5}">
                      <a16:colId xmlns:a16="http://schemas.microsoft.com/office/drawing/2014/main" val="20000"/>
                    </a:ext>
                  </a:extLst>
                </a:gridCol>
                <a:gridCol w="534105">
                  <a:extLst>
                    <a:ext uri="{9D8B030D-6E8A-4147-A177-3AD203B41FA5}">
                      <a16:colId xmlns:a16="http://schemas.microsoft.com/office/drawing/2014/main" val="20001"/>
                    </a:ext>
                  </a:extLst>
                </a:gridCol>
              </a:tblGrid>
              <a:tr h="370840">
                <a:tc>
                  <a:txBody>
                    <a:bodyPr/>
                    <a:lstStyle/>
                    <a:p>
                      <a:r>
                        <a:rPr lang="en-GB" sz="1000" b="0" dirty="0">
                          <a:solidFill>
                            <a:schemeClr val="tx1"/>
                          </a:solidFill>
                        </a:rPr>
                        <a:t>Content line 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6</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6</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10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3"/>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4"/>
                  </a:ext>
                </a:extLst>
              </a:tr>
            </a:tbl>
          </a:graphicData>
        </a:graphic>
      </p:graphicFrame>
    </p:spTree>
    <p:extLst>
      <p:ext uri="{BB962C8B-B14F-4D97-AF65-F5344CB8AC3E}">
        <p14:creationId xmlns:p14="http://schemas.microsoft.com/office/powerpoint/2010/main" val="3369998732"/>
      </p:ext>
    </p:extLst>
  </p:cSld>
  <p:clrMapOvr>
    <a:masterClrMapping/>
  </p:clrMapOvr>
  <p:transition>
    <p:fade/>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userDrawn="1">
  <p:cSld name="Divider - Deloitte green">
    <p:bg bwMode="gray">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439925" y="1880185"/>
            <a:ext cx="9243963" cy="1755330"/>
          </a:xfrm>
        </p:spPr>
        <p:txBody>
          <a:bodyPr anchor="b"/>
          <a:lstStyle>
            <a:lvl1pPr>
              <a:lnSpc>
                <a:spcPct val="95000"/>
              </a:lnSpc>
              <a:defRPr sz="3898" b="1">
                <a:solidFill>
                  <a:schemeClr val="bg1"/>
                </a:solidFill>
                <a:latin typeface="+mj-lt"/>
                <a:ea typeface="Open Sans" panose="020B0606030504020204" pitchFamily="34" charset="0"/>
                <a:cs typeface="Open Sans" panose="020B0606030504020204" pitchFamily="34" charset="0"/>
              </a:defRPr>
            </a:lvl1pPr>
          </a:lstStyle>
          <a:p>
            <a:r>
              <a:rPr lang="en-US" noProof="0" dirty="0"/>
              <a:t>Click to edit Master title style</a:t>
            </a:r>
          </a:p>
        </p:txBody>
      </p:sp>
      <p:sp>
        <p:nvSpPr>
          <p:cNvPr id="3" name="Text Placeholder 2"/>
          <p:cNvSpPr>
            <a:spLocks noGrp="1"/>
          </p:cNvSpPr>
          <p:nvPr>
            <p:ph type="body" idx="1"/>
          </p:nvPr>
        </p:nvSpPr>
        <p:spPr bwMode="gray">
          <a:xfrm>
            <a:off x="439925" y="3779838"/>
            <a:ext cx="9243963" cy="1726812"/>
          </a:xfrm>
        </p:spPr>
        <p:txBody>
          <a:bodyPr lIns="0" tIns="0" rIns="0" bIns="0">
            <a:noAutofit/>
          </a:bodyPr>
          <a:lstStyle>
            <a:lvl1pPr marL="0" indent="0">
              <a:lnSpc>
                <a:spcPct val="95000"/>
              </a:lnSpc>
              <a:spcAft>
                <a:spcPts val="0"/>
              </a:spcAft>
              <a:buNone/>
              <a:defRPr sz="3898">
                <a:solidFill>
                  <a:schemeClr val="bg1"/>
                </a:solidFill>
              </a:defRPr>
            </a:lvl1pPr>
            <a:lvl2pPr marL="503998" indent="0">
              <a:buNone/>
              <a:defRPr sz="2205">
                <a:solidFill>
                  <a:schemeClr val="tx1">
                    <a:tint val="75000"/>
                  </a:schemeClr>
                </a:solidFill>
              </a:defRPr>
            </a:lvl2pPr>
            <a:lvl3pPr marL="1007997" indent="0">
              <a:buNone/>
              <a:defRPr sz="1984">
                <a:solidFill>
                  <a:schemeClr val="tx1">
                    <a:tint val="75000"/>
                  </a:schemeClr>
                </a:solidFill>
              </a:defRPr>
            </a:lvl3pPr>
            <a:lvl4pPr marL="1511995" indent="0">
              <a:buNone/>
              <a:defRPr sz="1763">
                <a:solidFill>
                  <a:schemeClr val="tx1">
                    <a:tint val="75000"/>
                  </a:schemeClr>
                </a:solidFill>
              </a:defRPr>
            </a:lvl4pPr>
            <a:lvl5pPr marL="2015994" indent="0">
              <a:buNone/>
              <a:defRPr sz="1763">
                <a:solidFill>
                  <a:schemeClr val="tx1">
                    <a:tint val="75000"/>
                  </a:schemeClr>
                </a:solidFill>
              </a:defRPr>
            </a:lvl5pPr>
            <a:lvl6pPr marL="2519993" indent="0">
              <a:buNone/>
              <a:defRPr sz="1763">
                <a:solidFill>
                  <a:schemeClr val="tx1">
                    <a:tint val="75000"/>
                  </a:schemeClr>
                </a:solidFill>
              </a:defRPr>
            </a:lvl6pPr>
            <a:lvl7pPr marL="3023991" indent="0">
              <a:buNone/>
              <a:defRPr sz="1763">
                <a:solidFill>
                  <a:schemeClr val="tx1">
                    <a:tint val="75000"/>
                  </a:schemeClr>
                </a:solidFill>
              </a:defRPr>
            </a:lvl7pPr>
            <a:lvl8pPr marL="3527989" indent="0">
              <a:buNone/>
              <a:defRPr sz="1763">
                <a:solidFill>
                  <a:schemeClr val="tx1">
                    <a:tint val="75000"/>
                  </a:schemeClr>
                </a:solidFill>
              </a:defRPr>
            </a:lvl8pPr>
            <a:lvl9pPr marL="4031988" indent="0">
              <a:buNone/>
              <a:defRPr sz="1763">
                <a:solidFill>
                  <a:schemeClr val="tx1">
                    <a:tint val="75000"/>
                  </a:schemeClr>
                </a:solidFill>
              </a:defRPr>
            </a:lvl9pPr>
          </a:lstStyle>
          <a:p>
            <a:pPr lvl="0"/>
            <a:r>
              <a:rPr lang="en-US" noProof="0" dirty="0"/>
              <a:t>Click to edit Master text styles</a:t>
            </a:r>
          </a:p>
        </p:txBody>
      </p:sp>
      <p:sp>
        <p:nvSpPr>
          <p:cNvPr id="7" name="TextBox 6"/>
          <p:cNvSpPr txBox="1"/>
          <p:nvPr userDrawn="1"/>
        </p:nvSpPr>
        <p:spPr>
          <a:xfrm>
            <a:off x="439924" y="7139694"/>
            <a:ext cx="4696231" cy="110305"/>
          </a:xfrm>
          <a:prstGeom prst="rect">
            <a:avLst/>
          </a:prstGeom>
          <a:noFill/>
        </p:spPr>
        <p:txBody>
          <a:bodyPr wrap="square" lIns="0" tIns="0" rIns="0" bIns="0" rtlCol="0">
            <a:spAutoFit/>
          </a:bodyPr>
          <a:lstStyle/>
          <a:p>
            <a:pPr>
              <a:spcBef>
                <a:spcPts val="662"/>
              </a:spcBef>
              <a:buSzPct val="100000"/>
              <a:buFont typeface="Arial"/>
              <a:buNone/>
            </a:pPr>
            <a:r>
              <a:rPr lang="fr-FR" sz="717" dirty="0">
                <a:solidFill>
                  <a:prstClr val="white"/>
                </a:solidFill>
              </a:rPr>
              <a:t>© 2020</a:t>
            </a:r>
            <a:r>
              <a:rPr lang="fr-FR" sz="717" baseline="0" dirty="0">
                <a:solidFill>
                  <a:prstClr val="white"/>
                </a:solidFill>
              </a:rPr>
              <a:t> </a:t>
            </a:r>
            <a:r>
              <a:rPr lang="fr-FR" sz="717" dirty="0">
                <a:solidFill>
                  <a:prstClr val="white"/>
                </a:solidFill>
              </a:rPr>
              <a:t>Deloitte Touche Tohmatsu India LLP</a:t>
            </a:r>
          </a:p>
        </p:txBody>
      </p:sp>
      <p:sp>
        <p:nvSpPr>
          <p:cNvPr id="8" name="TextBox 7"/>
          <p:cNvSpPr txBox="1"/>
          <p:nvPr userDrawn="1"/>
        </p:nvSpPr>
        <p:spPr>
          <a:xfrm>
            <a:off x="9981812" y="7139694"/>
            <a:ext cx="270079" cy="110305"/>
          </a:xfrm>
          <a:prstGeom prst="rect">
            <a:avLst/>
          </a:prstGeom>
          <a:noFill/>
        </p:spPr>
        <p:txBody>
          <a:bodyPr wrap="square" lIns="0" tIns="0" rIns="0" bIns="0" rtlCol="0">
            <a:spAutoFit/>
          </a:bodyPr>
          <a:lstStyle/>
          <a:p>
            <a:pPr algn="r">
              <a:spcBef>
                <a:spcPts val="662"/>
              </a:spcBef>
              <a:buSzPct val="100000"/>
              <a:buFont typeface="Arial"/>
              <a:buNone/>
            </a:pPr>
            <a:fld id="{C58DF478-B544-4ED8-9ED4-6A2648E2D233}" type="slidenum">
              <a:rPr lang="en-US" sz="717" smtClean="0">
                <a:solidFill>
                  <a:prstClr val="white"/>
                </a:solidFill>
              </a:rPr>
              <a:pPr algn="r">
                <a:spcBef>
                  <a:spcPts val="662"/>
                </a:spcBef>
                <a:buSzPct val="100000"/>
                <a:buFont typeface="Arial"/>
                <a:buNone/>
              </a:pPr>
              <a:t>‹#›</a:t>
            </a:fld>
            <a:endParaRPr lang="en-US" sz="717" dirty="0">
              <a:solidFill>
                <a:prstClr val="white"/>
              </a:solidFill>
            </a:endParaRPr>
          </a:p>
        </p:txBody>
      </p:sp>
    </p:spTree>
    <p:extLst>
      <p:ext uri="{BB962C8B-B14F-4D97-AF65-F5344CB8AC3E}">
        <p14:creationId xmlns:p14="http://schemas.microsoft.com/office/powerpoint/2010/main" val="2810900706"/>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userDrawn="1">
  <p:cSld name="Title Slide - Circle Black">
    <p:bg bwMode="gray">
      <p:bgPr>
        <a:blipFill dpi="0" rotWithShape="1">
          <a:blip r:embed="rId4" cstate="screen">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userDrawn="1">
            <p:custDataLst>
              <p:tags r:id="rId1"/>
            </p:custDataLst>
            <p:extLst>
              <p:ext uri="{D42A27DB-BD31-4B8C-83A1-F6EECF244321}">
                <p14:modId xmlns:p14="http://schemas.microsoft.com/office/powerpoint/2010/main" val="1130807295"/>
              </p:ext>
            </p:extLst>
          </p:nvPr>
        </p:nvGraphicFramePr>
        <p:xfrm>
          <a:off x="1591" y="1591"/>
          <a:ext cx="1587" cy="1586"/>
        </p:xfrm>
        <a:graphic>
          <a:graphicData uri="http://schemas.openxmlformats.org/presentationml/2006/ole">
            <mc:AlternateContent xmlns:mc="http://schemas.openxmlformats.org/markup-compatibility/2006">
              <mc:Choice xmlns:v="urn:schemas-microsoft-com:vml" Requires="v">
                <p:oleObj name="think-cell Slide" r:id="rId5" imgW="421" imgH="420" progId="TCLayout.ActiveDocument.1">
                  <p:embed/>
                </p:oleObj>
              </mc:Choice>
              <mc:Fallback>
                <p:oleObj name="think-cell Slide" r:id="rId5" imgW="421" imgH="420" progId="TCLayout.ActiveDocument.1">
                  <p:embed/>
                  <p:pic>
                    <p:nvPicPr>
                      <p:cNvPr id="4" name="Object 3" hidden="1"/>
                      <p:cNvPicPr/>
                      <p:nvPr/>
                    </p:nvPicPr>
                    <p:blipFill>
                      <a:blip r:embed="rId6"/>
                      <a:stretch>
                        <a:fillRect/>
                      </a:stretch>
                    </p:blipFill>
                    <p:spPr>
                      <a:xfrm>
                        <a:off x="1591" y="1591"/>
                        <a:ext cx="1587" cy="1586"/>
                      </a:xfrm>
                      <a:prstGeom prst="rect">
                        <a:avLst/>
                      </a:prstGeom>
                    </p:spPr>
                  </p:pic>
                </p:oleObj>
              </mc:Fallback>
            </mc:AlternateContent>
          </a:graphicData>
        </a:graphic>
      </p:graphicFrame>
      <p:sp>
        <p:nvSpPr>
          <p:cNvPr id="6" name="Rectangle 5" hidden="1"/>
          <p:cNvSpPr/>
          <p:nvPr userDrawn="1">
            <p:custDataLst>
              <p:tags r:id="rId2"/>
            </p:custDataLst>
          </p:nvPr>
        </p:nvSpPr>
        <p:spPr bwMode="gray">
          <a:xfrm>
            <a:off x="0" y="0"/>
            <a:ext cx="171343" cy="174992"/>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marL="0" lvl="0" indent="0" algn="ctr" eaLnBrk="1">
              <a:lnSpc>
                <a:spcPts val="3475"/>
              </a:lnSpc>
              <a:spcBef>
                <a:spcPct val="0"/>
              </a:spcBef>
              <a:spcAft>
                <a:spcPct val="0"/>
              </a:spcAft>
              <a:buFont typeface="Wingdings 2" pitchFamily="18" charset="2"/>
              <a:buNone/>
            </a:pPr>
            <a:endParaRPr lang="en-US" sz="2978" b="0" i="0" baseline="0" dirty="0">
              <a:solidFill>
                <a:schemeClr val="bg1"/>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p:txBody>
      </p:sp>
      <p:sp>
        <p:nvSpPr>
          <p:cNvPr id="2" name="Title 1"/>
          <p:cNvSpPr>
            <a:spLocks noGrp="1"/>
          </p:cNvSpPr>
          <p:nvPr>
            <p:ph type="ctrTitle"/>
          </p:nvPr>
        </p:nvSpPr>
        <p:spPr bwMode="gray">
          <a:xfrm>
            <a:off x="2925516" y="1507967"/>
            <a:ext cx="4840781" cy="4563583"/>
          </a:xfrm>
          <a:prstGeom prst="ellipse">
            <a:avLst/>
          </a:prstGeom>
          <a:ln w="25400">
            <a:solidFill>
              <a:schemeClr val="accent1"/>
            </a:solidFill>
          </a:ln>
        </p:spPr>
        <p:txBody>
          <a:bodyPr lIns="108000" tIns="108000" rIns="108000" bIns="108000" anchor="ctr" anchorCtr="0">
            <a:normAutofit/>
          </a:bodyPr>
          <a:lstStyle>
            <a:lvl1pPr algn="ctr">
              <a:lnSpc>
                <a:spcPts val="3475"/>
              </a:lnSpc>
              <a:defRPr sz="2978" b="0">
                <a:solidFill>
                  <a:schemeClr val="bg1"/>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stStyle>
          <a:p>
            <a:r>
              <a:rPr lang="en-US" noProof="0"/>
              <a:t>Click to edit Master title style</a:t>
            </a:r>
            <a:endParaRPr lang="en-US" noProof="0" dirty="0"/>
          </a:p>
        </p:txBody>
      </p:sp>
      <p:sp>
        <p:nvSpPr>
          <p:cNvPr id="3" name="Subtitle 2"/>
          <p:cNvSpPr>
            <a:spLocks noGrp="1"/>
          </p:cNvSpPr>
          <p:nvPr>
            <p:ph type="subTitle" idx="1"/>
          </p:nvPr>
        </p:nvSpPr>
        <p:spPr bwMode="gray">
          <a:xfrm>
            <a:off x="441977" y="6464229"/>
            <a:ext cx="4903932" cy="557380"/>
          </a:xfrm>
          <a:prstGeom prst="rect">
            <a:avLst/>
          </a:prstGeom>
        </p:spPr>
        <p:txBody>
          <a:bodyPr lIns="0" tIns="0" rIns="0" bIns="0" anchor="b" anchorCtr="0">
            <a:noAutofit/>
          </a:bodyPr>
          <a:lstStyle>
            <a:lvl1pPr marL="0" indent="0" algn="l">
              <a:lnSpc>
                <a:spcPct val="100000"/>
              </a:lnSpc>
              <a:spcAft>
                <a:spcPts val="0"/>
              </a:spcAft>
              <a:buNone/>
              <a:defRPr sz="1323">
                <a:solidFill>
                  <a:schemeClr val="bg1"/>
                </a:solidFill>
                <a:latin typeface="Verdana" panose="020B0604030504040204" pitchFamily="34" charset="0"/>
                <a:sym typeface="Verdana" panose="020B0604030504040204" pitchFamily="34" charset="0"/>
              </a:defRPr>
            </a:lvl1pPr>
            <a:lvl2pPr marL="378247" indent="0" algn="ctr">
              <a:buNone/>
              <a:defRPr sz="1655"/>
            </a:lvl2pPr>
            <a:lvl3pPr marL="756495" indent="0" algn="ctr">
              <a:buNone/>
              <a:defRPr sz="1489"/>
            </a:lvl3pPr>
            <a:lvl4pPr marL="1134743" indent="0" algn="ctr">
              <a:buNone/>
              <a:defRPr sz="1323"/>
            </a:lvl4pPr>
            <a:lvl5pPr marL="1512990" indent="0" algn="ctr">
              <a:buNone/>
              <a:defRPr sz="1323"/>
            </a:lvl5pPr>
            <a:lvl6pPr marL="1891237" indent="0" algn="ctr">
              <a:buNone/>
              <a:defRPr sz="1323"/>
            </a:lvl6pPr>
            <a:lvl7pPr marL="2269485" indent="0" algn="ctr">
              <a:buNone/>
              <a:defRPr sz="1323"/>
            </a:lvl7pPr>
            <a:lvl8pPr marL="2647731" indent="0" algn="ctr">
              <a:buNone/>
              <a:defRPr sz="1323"/>
            </a:lvl8pPr>
            <a:lvl9pPr marL="3025978" indent="0" algn="ctr">
              <a:buNone/>
              <a:defRPr sz="1323"/>
            </a:lvl9pPr>
          </a:lstStyle>
          <a:p>
            <a:r>
              <a:rPr lang="en-US" noProof="0"/>
              <a:t>Click to edit Master subtitle style</a:t>
            </a:r>
            <a:endParaRPr lang="en-US" noProof="0" dirty="0"/>
          </a:p>
        </p:txBody>
      </p:sp>
      <p:sp>
        <p:nvSpPr>
          <p:cNvPr id="5" name="Text Placeholder 4"/>
          <p:cNvSpPr>
            <a:spLocks noGrp="1"/>
          </p:cNvSpPr>
          <p:nvPr>
            <p:ph type="body" sz="quarter" idx="10"/>
          </p:nvPr>
        </p:nvSpPr>
        <p:spPr>
          <a:xfrm>
            <a:off x="439925" y="7034697"/>
            <a:ext cx="4905983" cy="328986"/>
          </a:xfrm>
          <a:prstGeom prst="rect">
            <a:avLst/>
          </a:prstGeom>
        </p:spPr>
        <p:txBody>
          <a:bodyPr/>
          <a:lstStyle>
            <a:lvl1pPr>
              <a:spcAft>
                <a:spcPts val="0"/>
              </a:spcAft>
              <a:defRPr sz="828">
                <a:solidFill>
                  <a:schemeClr val="bg1"/>
                </a:solidFill>
                <a:latin typeface="Verdana" panose="020B0604030504040204" pitchFamily="34" charset="0"/>
                <a:sym typeface="Verdana" panose="020B0604030504040204"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Click to edit Master text styles</a:t>
            </a:r>
          </a:p>
        </p:txBody>
      </p:sp>
      <p:pic>
        <p:nvPicPr>
          <p:cNvPr id="40" name="Picture 39"/>
          <p:cNvPicPr/>
          <p:nvPr userDrawn="1"/>
        </p:nvPicPr>
        <p:blipFill>
          <a:blip r:embed="rId7">
            <a:extLst>
              <a:ext uri="{28A0092B-C50C-407E-A947-70E740481C1C}">
                <a14:useLocalDpi xmlns:a14="http://schemas.microsoft.com/office/drawing/2010/main" val="0"/>
              </a:ext>
            </a:extLst>
          </a:blip>
          <a:srcRect/>
          <a:stretch>
            <a:fillRect/>
          </a:stretch>
        </p:blipFill>
        <p:spPr bwMode="auto">
          <a:xfrm>
            <a:off x="344898" y="317786"/>
            <a:ext cx="1904651" cy="372384"/>
          </a:xfrm>
          <a:prstGeom prst="rect">
            <a:avLst/>
          </a:prstGeom>
          <a:noFill/>
        </p:spPr>
      </p:pic>
    </p:spTree>
    <p:extLst>
      <p:ext uri="{BB962C8B-B14F-4D97-AF65-F5344CB8AC3E}">
        <p14:creationId xmlns:p14="http://schemas.microsoft.com/office/powerpoint/2010/main" val="403628717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4508">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9" name="Text Placeholder 8"/>
          <p:cNvSpPr>
            <a:spLocks noGrp="1"/>
          </p:cNvSpPr>
          <p:nvPr>
            <p:ph type="body" sz="quarter" idx="13" hasCustomPrompt="1"/>
          </p:nvPr>
        </p:nvSpPr>
        <p:spPr>
          <a:xfrm>
            <a:off x="449264" y="1079500"/>
            <a:ext cx="9791700" cy="518400"/>
          </a:xfrm>
          <a:prstGeom prst="rect">
            <a:avLst/>
          </a:prstGeom>
        </p:spPr>
        <p:txBody>
          <a:bodyPr lIns="0" tIns="0" rIns="0" bIns="0">
            <a:noAutofit/>
          </a:bodyPr>
          <a:lstStyle>
            <a:lvl1pPr marL="0" indent="0">
              <a:buNone/>
              <a:defRPr sz="1400" b="0">
                <a:solidFill>
                  <a:srgbClr val="575757"/>
                </a:solidFill>
              </a:defRPr>
            </a:lvl1pPr>
          </a:lstStyle>
          <a:p>
            <a:pPr lvl="0"/>
            <a:r>
              <a:rPr lang="en-US" dirty="0"/>
              <a:t>Click to add subtitle</a:t>
            </a:r>
          </a:p>
        </p:txBody>
      </p:sp>
      <p:sp>
        <p:nvSpPr>
          <p:cNvPr id="14" name="Title Placeholder 1"/>
          <p:cNvSpPr>
            <a:spLocks noGrp="1"/>
          </p:cNvSpPr>
          <p:nvPr>
            <p:ph type="title"/>
          </p:nvPr>
        </p:nvSpPr>
        <p:spPr>
          <a:xfrm>
            <a:off x="449263" y="647700"/>
            <a:ext cx="9791700" cy="432000"/>
          </a:xfrm>
          <a:prstGeom prst="rect">
            <a:avLst/>
          </a:prstGeom>
        </p:spPr>
        <p:txBody>
          <a:bodyPr vert="horz" lIns="0" tIns="0" rIns="0" bIns="0" rtlCol="0" anchor="t" anchorCtr="0">
            <a:noAutofit/>
          </a:bodyPr>
          <a:lstStyle>
            <a:lvl1pPr>
              <a:defRPr/>
            </a:lvl1pPr>
          </a:lstStyle>
          <a:p>
            <a:r>
              <a:rPr lang="en-US" noProof="0" dirty="0"/>
              <a:t>Click to edit Master title style</a:t>
            </a:r>
          </a:p>
        </p:txBody>
      </p:sp>
    </p:spTree>
    <p:extLst>
      <p:ext uri="{BB962C8B-B14F-4D97-AF65-F5344CB8AC3E}">
        <p14:creationId xmlns:p14="http://schemas.microsoft.com/office/powerpoint/2010/main" val="3458884760"/>
      </p:ext>
    </p:extLst>
  </p:cSld>
  <p:clrMapOvr>
    <a:masterClrMapping/>
  </p:clrMapOvr>
  <p:transition>
    <p:fade/>
  </p:transition>
  <p:extLst>
    <p:ext uri="{DCECCB84-F9BA-43D5-87BE-67443E8EF086}">
      <p15:sldGuideLst xmlns:p15="http://schemas.microsoft.com/office/powerpoint/2012/main"/>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SectionDivider">
    <p:spTree>
      <p:nvGrpSpPr>
        <p:cNvPr id="1" name=""/>
        <p:cNvGrpSpPr/>
        <p:nvPr/>
      </p:nvGrpSpPr>
      <p:grpSpPr>
        <a:xfrm>
          <a:off x="0" y="0"/>
          <a:ext cx="0" cy="0"/>
          <a:chOff x="0" y="0"/>
          <a:chExt cx="0" cy="0"/>
        </a:xfrm>
      </p:grpSpPr>
      <p:sp>
        <p:nvSpPr>
          <p:cNvPr id="7" name="Title Placeholder 1"/>
          <p:cNvSpPr>
            <a:spLocks noGrp="1"/>
          </p:cNvSpPr>
          <p:nvPr>
            <p:ph type="title" hasCustomPrompt="1"/>
          </p:nvPr>
        </p:nvSpPr>
        <p:spPr>
          <a:xfrm>
            <a:off x="449264" y="647700"/>
            <a:ext cx="9791700" cy="431800"/>
          </a:xfrm>
          <a:prstGeom prst="rect">
            <a:avLst/>
          </a:prstGeom>
        </p:spPr>
        <p:txBody>
          <a:bodyPr vert="horz" lIns="0" tIns="0" rIns="0" bIns="0" rtlCol="0" anchor="t" anchorCtr="0">
            <a:noAutofit/>
          </a:bodyPr>
          <a:lstStyle>
            <a:lvl1pPr>
              <a:defRPr/>
            </a:lvl1pPr>
          </a:lstStyle>
          <a:p>
            <a:r>
              <a:rPr lang="en-US" dirty="0"/>
              <a:t>Click to add title</a:t>
            </a:r>
          </a:p>
        </p:txBody>
      </p:sp>
    </p:spTree>
    <p:extLst>
      <p:ext uri="{BB962C8B-B14F-4D97-AF65-F5344CB8AC3E}">
        <p14:creationId xmlns:p14="http://schemas.microsoft.com/office/powerpoint/2010/main" val="3151138492"/>
      </p:ext>
    </p:extLst>
  </p:cSld>
  <p:clrMapOvr>
    <a:masterClrMapping/>
  </p:clrMapOvr>
  <p:transition>
    <p:fade/>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preserve="1" userDrawn="1">
  <p:cSld name="Empty+Logo">
    <p:spTree>
      <p:nvGrpSpPr>
        <p:cNvPr id="1" name=""/>
        <p:cNvGrpSpPr/>
        <p:nvPr/>
      </p:nvGrpSpPr>
      <p:grpSpPr>
        <a:xfrm>
          <a:off x="0" y="0"/>
          <a:ext cx="0" cy="0"/>
          <a:chOff x="0" y="0"/>
          <a:chExt cx="0" cy="0"/>
        </a:xfrm>
      </p:grpSpPr>
      <p:grpSp>
        <p:nvGrpSpPr>
          <p:cNvPr id="16" name="Group 6"/>
          <p:cNvGrpSpPr>
            <a:grpSpLocks noChangeAspect="1"/>
          </p:cNvGrpSpPr>
          <p:nvPr userDrawn="1"/>
        </p:nvGrpSpPr>
        <p:grpSpPr>
          <a:xfrm>
            <a:off x="449263" y="285583"/>
            <a:ext cx="2020500" cy="362117"/>
            <a:chOff x="398463" y="404813"/>
            <a:chExt cx="1627187" cy="307976"/>
          </a:xfrm>
          <a:solidFill>
            <a:schemeClr val="tx1"/>
          </a:solidFill>
        </p:grpSpPr>
        <p:sp>
          <p:nvSpPr>
            <p:cNvPr id="17" name="Oval 16"/>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18"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19"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1"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2"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3"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4"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5"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6"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7"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grpSp>
    </p:spTree>
    <p:extLst>
      <p:ext uri="{BB962C8B-B14F-4D97-AF65-F5344CB8AC3E}">
        <p14:creationId xmlns:p14="http://schemas.microsoft.com/office/powerpoint/2010/main" val="2398930933"/>
      </p:ext>
    </p:extLst>
  </p:cSld>
  <p:clrMapOvr>
    <a:masterClrMapping/>
  </p:clrMapOvr>
  <p:transition>
    <p:fade/>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Empty">
    <p:spTree>
      <p:nvGrpSpPr>
        <p:cNvPr id="1" name=""/>
        <p:cNvGrpSpPr/>
        <p:nvPr/>
      </p:nvGrpSpPr>
      <p:grpSpPr>
        <a:xfrm>
          <a:off x="0" y="0"/>
          <a:ext cx="0" cy="0"/>
          <a:chOff x="0" y="0"/>
          <a:chExt cx="0" cy="0"/>
        </a:xfrm>
      </p:grpSpPr>
    </p:spTree>
    <p:extLst>
      <p:ext uri="{BB962C8B-B14F-4D97-AF65-F5344CB8AC3E}">
        <p14:creationId xmlns:p14="http://schemas.microsoft.com/office/powerpoint/2010/main" val="1639990359"/>
      </p:ext>
    </p:extLst>
  </p:cSld>
  <p:clrMapOvr>
    <a:masterClrMapping/>
  </p:clrMapOvr>
  <p:transition>
    <p:fade/>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Graphics">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735013" y="403225"/>
            <a:ext cx="9221787" cy="435871"/>
          </a:xfrm>
          <a:prstGeom prst="rect">
            <a:avLst/>
          </a:prstGeom>
        </p:spPr>
        <p:txBody>
          <a:bodyPr/>
          <a:lstStyle>
            <a:lvl1pPr>
              <a:defRPr/>
            </a:lvl1pPr>
          </a:lstStyle>
          <a:p>
            <a:r>
              <a:rPr lang="en-US" dirty="0"/>
              <a:t>Icons, other graphics &amp; </a:t>
            </a:r>
            <a:r>
              <a:rPr lang="en-US" dirty="0" err="1"/>
              <a:t>misc</a:t>
            </a:r>
            <a:r>
              <a:rPr lang="en-US" dirty="0"/>
              <a:t> placeholders</a:t>
            </a:r>
            <a:endParaRPr lang="en-GB" dirty="0"/>
          </a:p>
        </p:txBody>
      </p:sp>
      <p:graphicFrame>
        <p:nvGraphicFramePr>
          <p:cNvPr id="63" name="NavigationTable"/>
          <p:cNvGraphicFramePr>
            <a:graphicFrameLocks/>
          </p:cNvGraphicFramePr>
          <p:nvPr userDrawn="1"/>
        </p:nvGraphicFramePr>
        <p:xfrm>
          <a:off x="449262" y="2522487"/>
          <a:ext cx="8813961" cy="359610"/>
        </p:xfrm>
        <a:graphic>
          <a:graphicData uri="http://schemas.openxmlformats.org/drawingml/2006/table">
            <a:tbl>
              <a:tblPr>
                <a:tableStyleId>{5C22544A-7EE6-4342-B048-85BDC9FD1C3A}</a:tableStyleId>
              </a:tblPr>
              <a:tblGrid>
                <a:gridCol w="979329">
                  <a:extLst>
                    <a:ext uri="{9D8B030D-6E8A-4147-A177-3AD203B41FA5}">
                      <a16:colId xmlns:a16="http://schemas.microsoft.com/office/drawing/2014/main" val="20000"/>
                    </a:ext>
                  </a:extLst>
                </a:gridCol>
                <a:gridCol w="979329">
                  <a:extLst>
                    <a:ext uri="{9D8B030D-6E8A-4147-A177-3AD203B41FA5}">
                      <a16:colId xmlns:a16="http://schemas.microsoft.com/office/drawing/2014/main" val="20001"/>
                    </a:ext>
                  </a:extLst>
                </a:gridCol>
                <a:gridCol w="979329">
                  <a:extLst>
                    <a:ext uri="{9D8B030D-6E8A-4147-A177-3AD203B41FA5}">
                      <a16:colId xmlns:a16="http://schemas.microsoft.com/office/drawing/2014/main" val="20002"/>
                    </a:ext>
                  </a:extLst>
                </a:gridCol>
                <a:gridCol w="979329">
                  <a:extLst>
                    <a:ext uri="{9D8B030D-6E8A-4147-A177-3AD203B41FA5}">
                      <a16:colId xmlns:a16="http://schemas.microsoft.com/office/drawing/2014/main" val="20003"/>
                    </a:ext>
                  </a:extLst>
                </a:gridCol>
                <a:gridCol w="979329">
                  <a:extLst>
                    <a:ext uri="{9D8B030D-6E8A-4147-A177-3AD203B41FA5}">
                      <a16:colId xmlns:a16="http://schemas.microsoft.com/office/drawing/2014/main" val="20004"/>
                    </a:ext>
                  </a:extLst>
                </a:gridCol>
                <a:gridCol w="979329">
                  <a:extLst>
                    <a:ext uri="{9D8B030D-6E8A-4147-A177-3AD203B41FA5}">
                      <a16:colId xmlns:a16="http://schemas.microsoft.com/office/drawing/2014/main" val="20005"/>
                    </a:ext>
                  </a:extLst>
                </a:gridCol>
                <a:gridCol w="979329">
                  <a:extLst>
                    <a:ext uri="{9D8B030D-6E8A-4147-A177-3AD203B41FA5}">
                      <a16:colId xmlns:a16="http://schemas.microsoft.com/office/drawing/2014/main" val="20006"/>
                    </a:ext>
                  </a:extLst>
                </a:gridCol>
                <a:gridCol w="979329">
                  <a:extLst>
                    <a:ext uri="{9D8B030D-6E8A-4147-A177-3AD203B41FA5}">
                      <a16:colId xmlns:a16="http://schemas.microsoft.com/office/drawing/2014/main" val="20007"/>
                    </a:ext>
                  </a:extLst>
                </a:gridCol>
                <a:gridCol w="979329">
                  <a:extLst>
                    <a:ext uri="{9D8B030D-6E8A-4147-A177-3AD203B41FA5}">
                      <a16:colId xmlns:a16="http://schemas.microsoft.com/office/drawing/2014/main" val="20008"/>
                    </a:ext>
                  </a:extLst>
                </a:gridCol>
              </a:tblGrid>
              <a:tr h="359610">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bg1"/>
                          </a:solidFill>
                          <a:effectLst/>
                          <a:latin typeface="+mn-lt"/>
                          <a:cs typeface="Arial" charset="0"/>
                        </a:rPr>
                        <a:t>Section 1</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2</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3</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4</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5</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6</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7</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8</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9</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extLst>
                  <a:ext uri="{0D108BD9-81ED-4DB2-BD59-A6C34878D82A}">
                    <a16:rowId xmlns:a16="http://schemas.microsoft.com/office/drawing/2014/main" val="10000"/>
                  </a:ext>
                </a:extLst>
              </a:tr>
            </a:tbl>
          </a:graphicData>
        </a:graphic>
      </p:graphicFrame>
      <p:grpSp>
        <p:nvGrpSpPr>
          <p:cNvPr id="37" name="MasterNavigationGroup"/>
          <p:cNvGrpSpPr/>
          <p:nvPr userDrawn="1"/>
        </p:nvGrpSpPr>
        <p:grpSpPr>
          <a:xfrm>
            <a:off x="5979677" y="3739139"/>
            <a:ext cx="905889" cy="361950"/>
            <a:chOff x="6293713" y="4256376"/>
            <a:chExt cx="905889" cy="361950"/>
          </a:xfrm>
        </p:grpSpPr>
        <p:pic>
          <p:nvPicPr>
            <p:cNvPr id="35" name="Picture 3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49394" y="4354513"/>
              <a:ext cx="183024" cy="183024"/>
            </a:xfrm>
            <a:prstGeom prst="rect">
              <a:avLst/>
            </a:prstGeom>
          </p:spPr>
        </p:pic>
        <p:grpSp>
          <p:nvGrpSpPr>
            <p:cNvPr id="36" name="Group 35"/>
            <p:cNvGrpSpPr/>
            <p:nvPr userDrawn="1"/>
          </p:nvGrpSpPr>
          <p:grpSpPr>
            <a:xfrm>
              <a:off x="6293713" y="4256376"/>
              <a:ext cx="905889" cy="361950"/>
              <a:chOff x="6293713" y="4256376"/>
              <a:chExt cx="905889" cy="361950"/>
            </a:xfrm>
          </p:grpSpPr>
          <p:grpSp>
            <p:nvGrpSpPr>
              <p:cNvPr id="6" name="Group 5"/>
              <p:cNvGrpSpPr/>
              <p:nvPr/>
            </p:nvGrpSpPr>
            <p:grpSpPr>
              <a:xfrm>
                <a:off x="6911602" y="4312312"/>
                <a:ext cx="288000" cy="287155"/>
                <a:chOff x="5840121" y="174998"/>
                <a:chExt cx="288000" cy="287155"/>
              </a:xfrm>
            </p:grpSpPr>
            <p:sp>
              <p:nvSpPr>
                <p:cNvPr id="29" name="Freeform 211"/>
                <p:cNvSpPr>
                  <a:spLocks/>
                </p:cNvSpPr>
                <p:nvPr/>
              </p:nvSpPr>
              <p:spPr bwMode="auto">
                <a:xfrm rot="10800000">
                  <a:off x="5894174" y="264523"/>
                  <a:ext cx="180739" cy="108105"/>
                </a:xfrm>
                <a:custGeom>
                  <a:avLst/>
                  <a:gdLst>
                    <a:gd name="T0" fmla="*/ 310 w 321"/>
                    <a:gd name="T1" fmla="*/ 86 h 193"/>
                    <a:gd name="T2" fmla="*/ 37 w 321"/>
                    <a:gd name="T3" fmla="*/ 86 h 193"/>
                    <a:gd name="T4" fmla="*/ 104 w 321"/>
                    <a:gd name="T5" fmla="*/ 19 h 193"/>
                    <a:gd name="T6" fmla="*/ 104 w 321"/>
                    <a:gd name="T7" fmla="*/ 4 h 193"/>
                    <a:gd name="T8" fmla="*/ 89 w 321"/>
                    <a:gd name="T9" fmla="*/ 4 h 193"/>
                    <a:gd name="T10" fmla="*/ 4 w 321"/>
                    <a:gd name="T11" fmla="*/ 89 h 193"/>
                    <a:gd name="T12" fmla="*/ 1 w 321"/>
                    <a:gd name="T13" fmla="*/ 93 h 193"/>
                    <a:gd name="T14" fmla="*/ 1 w 321"/>
                    <a:gd name="T15" fmla="*/ 101 h 193"/>
                    <a:gd name="T16" fmla="*/ 4 w 321"/>
                    <a:gd name="T17" fmla="*/ 104 h 193"/>
                    <a:gd name="T18" fmla="*/ 89 w 321"/>
                    <a:gd name="T19" fmla="*/ 190 h 193"/>
                    <a:gd name="T20" fmla="*/ 97 w 321"/>
                    <a:gd name="T21" fmla="*/ 193 h 193"/>
                    <a:gd name="T22" fmla="*/ 104 w 321"/>
                    <a:gd name="T23" fmla="*/ 190 h 193"/>
                    <a:gd name="T24" fmla="*/ 104 w 321"/>
                    <a:gd name="T25" fmla="*/ 174 h 193"/>
                    <a:gd name="T26" fmla="*/ 37 w 321"/>
                    <a:gd name="T27" fmla="*/ 107 h 193"/>
                    <a:gd name="T28" fmla="*/ 310 w 321"/>
                    <a:gd name="T29" fmla="*/ 107 h 193"/>
                    <a:gd name="T30" fmla="*/ 321 w 321"/>
                    <a:gd name="T31" fmla="*/ 97 h 193"/>
                    <a:gd name="T32" fmla="*/ 310 w 321"/>
                    <a:gd name="T33" fmla="*/ 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1" h="193">
                      <a:moveTo>
                        <a:pt x="310" y="86"/>
                      </a:moveTo>
                      <a:cubicBezTo>
                        <a:pt x="37" y="86"/>
                        <a:pt x="37" y="86"/>
                        <a:pt x="37" y="86"/>
                      </a:cubicBezTo>
                      <a:cubicBezTo>
                        <a:pt x="104" y="19"/>
                        <a:pt x="104" y="19"/>
                        <a:pt x="104" y="19"/>
                      </a:cubicBezTo>
                      <a:cubicBezTo>
                        <a:pt x="108" y="15"/>
                        <a:pt x="108" y="8"/>
                        <a:pt x="104" y="4"/>
                      </a:cubicBezTo>
                      <a:cubicBezTo>
                        <a:pt x="100" y="0"/>
                        <a:pt x="93" y="0"/>
                        <a:pt x="89" y="4"/>
                      </a:cubicBezTo>
                      <a:cubicBezTo>
                        <a:pt x="4" y="89"/>
                        <a:pt x="4" y="89"/>
                        <a:pt x="4" y="89"/>
                      </a:cubicBezTo>
                      <a:cubicBezTo>
                        <a:pt x="3" y="90"/>
                        <a:pt x="2" y="91"/>
                        <a:pt x="1" y="93"/>
                      </a:cubicBezTo>
                      <a:cubicBezTo>
                        <a:pt x="0" y="95"/>
                        <a:pt x="0" y="98"/>
                        <a:pt x="1" y="101"/>
                      </a:cubicBezTo>
                      <a:cubicBezTo>
                        <a:pt x="2" y="102"/>
                        <a:pt x="3" y="103"/>
                        <a:pt x="4" y="104"/>
                      </a:cubicBezTo>
                      <a:cubicBezTo>
                        <a:pt x="89" y="190"/>
                        <a:pt x="89" y="190"/>
                        <a:pt x="89" y="190"/>
                      </a:cubicBezTo>
                      <a:cubicBezTo>
                        <a:pt x="91" y="192"/>
                        <a:pt x="94" y="193"/>
                        <a:pt x="97" y="193"/>
                      </a:cubicBezTo>
                      <a:cubicBezTo>
                        <a:pt x="99" y="193"/>
                        <a:pt x="102" y="192"/>
                        <a:pt x="104" y="190"/>
                      </a:cubicBezTo>
                      <a:cubicBezTo>
                        <a:pt x="108" y="185"/>
                        <a:pt x="108" y="179"/>
                        <a:pt x="104" y="174"/>
                      </a:cubicBezTo>
                      <a:cubicBezTo>
                        <a:pt x="37" y="107"/>
                        <a:pt x="37" y="107"/>
                        <a:pt x="37" y="107"/>
                      </a:cubicBezTo>
                      <a:cubicBezTo>
                        <a:pt x="310" y="107"/>
                        <a:pt x="310" y="107"/>
                        <a:pt x="310" y="107"/>
                      </a:cubicBezTo>
                      <a:cubicBezTo>
                        <a:pt x="316" y="107"/>
                        <a:pt x="321" y="103"/>
                        <a:pt x="321" y="97"/>
                      </a:cubicBezTo>
                      <a:cubicBezTo>
                        <a:pt x="321" y="91"/>
                        <a:pt x="316" y="86"/>
                        <a:pt x="310" y="86"/>
                      </a:cubicBez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sp>
              <p:nvSpPr>
                <p:cNvPr id="30" name="Freeform 212">
                  <a:hlinkClick r:id="" action="ppaction://hlinkshowjump?jump=nextslide"/>
                </p:cNvPr>
                <p:cNvSpPr>
                  <a:spLocks noEditPoints="1"/>
                </p:cNvSpPr>
                <p:nvPr/>
              </p:nvSpPr>
              <p:spPr bwMode="auto">
                <a:xfrm rot="10800000">
                  <a:off x="5840121" y="174998"/>
                  <a:ext cx="288000" cy="287155"/>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grpSp>
          <p:grpSp>
            <p:nvGrpSpPr>
              <p:cNvPr id="7" name="Group 6"/>
              <p:cNvGrpSpPr/>
              <p:nvPr/>
            </p:nvGrpSpPr>
            <p:grpSpPr>
              <a:xfrm>
                <a:off x="6601029" y="4312311"/>
                <a:ext cx="288000" cy="287155"/>
                <a:chOff x="1739755" y="155947"/>
                <a:chExt cx="288000" cy="287155"/>
              </a:xfrm>
            </p:grpSpPr>
            <p:sp>
              <p:nvSpPr>
                <p:cNvPr id="27" name="Freeform 211"/>
                <p:cNvSpPr>
                  <a:spLocks/>
                </p:cNvSpPr>
                <p:nvPr/>
              </p:nvSpPr>
              <p:spPr bwMode="auto">
                <a:xfrm>
                  <a:off x="1792963" y="245472"/>
                  <a:ext cx="180739" cy="108105"/>
                </a:xfrm>
                <a:custGeom>
                  <a:avLst/>
                  <a:gdLst>
                    <a:gd name="T0" fmla="*/ 310 w 321"/>
                    <a:gd name="T1" fmla="*/ 86 h 193"/>
                    <a:gd name="T2" fmla="*/ 37 w 321"/>
                    <a:gd name="T3" fmla="*/ 86 h 193"/>
                    <a:gd name="T4" fmla="*/ 104 w 321"/>
                    <a:gd name="T5" fmla="*/ 19 h 193"/>
                    <a:gd name="T6" fmla="*/ 104 w 321"/>
                    <a:gd name="T7" fmla="*/ 4 h 193"/>
                    <a:gd name="T8" fmla="*/ 89 w 321"/>
                    <a:gd name="T9" fmla="*/ 4 h 193"/>
                    <a:gd name="T10" fmla="*/ 4 w 321"/>
                    <a:gd name="T11" fmla="*/ 89 h 193"/>
                    <a:gd name="T12" fmla="*/ 1 w 321"/>
                    <a:gd name="T13" fmla="*/ 93 h 193"/>
                    <a:gd name="T14" fmla="*/ 1 w 321"/>
                    <a:gd name="T15" fmla="*/ 101 h 193"/>
                    <a:gd name="T16" fmla="*/ 4 w 321"/>
                    <a:gd name="T17" fmla="*/ 104 h 193"/>
                    <a:gd name="T18" fmla="*/ 89 w 321"/>
                    <a:gd name="T19" fmla="*/ 190 h 193"/>
                    <a:gd name="T20" fmla="*/ 97 w 321"/>
                    <a:gd name="T21" fmla="*/ 193 h 193"/>
                    <a:gd name="T22" fmla="*/ 104 w 321"/>
                    <a:gd name="T23" fmla="*/ 190 h 193"/>
                    <a:gd name="T24" fmla="*/ 104 w 321"/>
                    <a:gd name="T25" fmla="*/ 174 h 193"/>
                    <a:gd name="T26" fmla="*/ 37 w 321"/>
                    <a:gd name="T27" fmla="*/ 107 h 193"/>
                    <a:gd name="T28" fmla="*/ 310 w 321"/>
                    <a:gd name="T29" fmla="*/ 107 h 193"/>
                    <a:gd name="T30" fmla="*/ 321 w 321"/>
                    <a:gd name="T31" fmla="*/ 97 h 193"/>
                    <a:gd name="T32" fmla="*/ 310 w 321"/>
                    <a:gd name="T33" fmla="*/ 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1" h="193">
                      <a:moveTo>
                        <a:pt x="310" y="86"/>
                      </a:moveTo>
                      <a:cubicBezTo>
                        <a:pt x="37" y="86"/>
                        <a:pt x="37" y="86"/>
                        <a:pt x="37" y="86"/>
                      </a:cubicBezTo>
                      <a:cubicBezTo>
                        <a:pt x="104" y="19"/>
                        <a:pt x="104" y="19"/>
                        <a:pt x="104" y="19"/>
                      </a:cubicBezTo>
                      <a:cubicBezTo>
                        <a:pt x="108" y="15"/>
                        <a:pt x="108" y="8"/>
                        <a:pt x="104" y="4"/>
                      </a:cubicBezTo>
                      <a:cubicBezTo>
                        <a:pt x="100" y="0"/>
                        <a:pt x="93" y="0"/>
                        <a:pt x="89" y="4"/>
                      </a:cubicBezTo>
                      <a:cubicBezTo>
                        <a:pt x="4" y="89"/>
                        <a:pt x="4" y="89"/>
                        <a:pt x="4" y="89"/>
                      </a:cubicBezTo>
                      <a:cubicBezTo>
                        <a:pt x="3" y="90"/>
                        <a:pt x="2" y="91"/>
                        <a:pt x="1" y="93"/>
                      </a:cubicBezTo>
                      <a:cubicBezTo>
                        <a:pt x="0" y="95"/>
                        <a:pt x="0" y="98"/>
                        <a:pt x="1" y="101"/>
                      </a:cubicBezTo>
                      <a:cubicBezTo>
                        <a:pt x="2" y="102"/>
                        <a:pt x="3" y="103"/>
                        <a:pt x="4" y="104"/>
                      </a:cubicBezTo>
                      <a:cubicBezTo>
                        <a:pt x="89" y="190"/>
                        <a:pt x="89" y="190"/>
                        <a:pt x="89" y="190"/>
                      </a:cubicBezTo>
                      <a:cubicBezTo>
                        <a:pt x="91" y="192"/>
                        <a:pt x="94" y="193"/>
                        <a:pt x="97" y="193"/>
                      </a:cubicBezTo>
                      <a:cubicBezTo>
                        <a:pt x="99" y="193"/>
                        <a:pt x="102" y="192"/>
                        <a:pt x="104" y="190"/>
                      </a:cubicBezTo>
                      <a:cubicBezTo>
                        <a:pt x="108" y="185"/>
                        <a:pt x="108" y="179"/>
                        <a:pt x="104" y="174"/>
                      </a:cubicBezTo>
                      <a:cubicBezTo>
                        <a:pt x="37" y="107"/>
                        <a:pt x="37" y="107"/>
                        <a:pt x="37" y="107"/>
                      </a:cubicBezTo>
                      <a:cubicBezTo>
                        <a:pt x="310" y="107"/>
                        <a:pt x="310" y="107"/>
                        <a:pt x="310" y="107"/>
                      </a:cubicBezTo>
                      <a:cubicBezTo>
                        <a:pt x="316" y="107"/>
                        <a:pt x="321" y="103"/>
                        <a:pt x="321" y="97"/>
                      </a:cubicBezTo>
                      <a:cubicBezTo>
                        <a:pt x="321" y="91"/>
                        <a:pt x="316" y="86"/>
                        <a:pt x="310" y="86"/>
                      </a:cubicBez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sp>
              <p:nvSpPr>
                <p:cNvPr id="28" name="Freeform 212">
                  <a:hlinkClick r:id="" action="ppaction://hlinkshowjump?jump=previousslide"/>
                </p:cNvPr>
                <p:cNvSpPr>
                  <a:spLocks noEditPoints="1"/>
                </p:cNvSpPr>
                <p:nvPr/>
              </p:nvSpPr>
              <p:spPr bwMode="auto">
                <a:xfrm>
                  <a:off x="1739755" y="155947"/>
                  <a:ext cx="288000" cy="287155"/>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grpSp>
          <p:sp>
            <p:nvSpPr>
              <p:cNvPr id="9" name="LinkHome">
                <a:hlinkClick r:id="rId3" action="ppaction://hlinksldjump"/>
              </p:cNvPr>
              <p:cNvSpPr/>
              <p:nvPr userDrawn="1"/>
            </p:nvSpPr>
            <p:spPr bwMode="gray">
              <a:xfrm>
                <a:off x="6293713" y="4256376"/>
                <a:ext cx="323850" cy="361950"/>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10" name="LinkForward">
                <a:hlinkClick r:id="" action="ppaction://hlinkshowjump?jump=nextslide"/>
              </p:cNvPr>
              <p:cNvSpPr/>
              <p:nvPr userDrawn="1"/>
            </p:nvSpPr>
            <p:spPr bwMode="gray">
              <a:xfrm>
                <a:off x="6875752" y="4256376"/>
                <a:ext cx="323850" cy="361950"/>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11" name="LinkBackward">
                <a:hlinkClick r:id="" action="ppaction://hlinkshowjump?jump=previousslide"/>
              </p:cNvPr>
              <p:cNvSpPr/>
              <p:nvPr userDrawn="1"/>
            </p:nvSpPr>
            <p:spPr bwMode="gray">
              <a:xfrm>
                <a:off x="6580114" y="4256376"/>
                <a:ext cx="323850" cy="361950"/>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grpSp>
        <p:sp>
          <p:nvSpPr>
            <p:cNvPr id="14" name="Freeform 212">
              <a:hlinkClick r:id="" action="ppaction://noaction"/>
            </p:cNvPr>
            <p:cNvSpPr>
              <a:spLocks noEditPoints="1"/>
            </p:cNvSpPr>
            <p:nvPr/>
          </p:nvSpPr>
          <p:spPr bwMode="auto">
            <a:xfrm>
              <a:off x="6299693" y="4312311"/>
              <a:ext cx="288000" cy="28800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grpSp>
      <p:graphicFrame>
        <p:nvGraphicFramePr>
          <p:cNvPr id="19" name="ContentsTable"/>
          <p:cNvGraphicFramePr>
            <a:graphicFrameLocks noGrp="1"/>
          </p:cNvGraphicFramePr>
          <p:nvPr userDrawn="1"/>
        </p:nvGraphicFramePr>
        <p:xfrm>
          <a:off x="601663" y="3449502"/>
          <a:ext cx="3984130" cy="3708400"/>
        </p:xfrm>
        <a:graphic>
          <a:graphicData uri="http://schemas.openxmlformats.org/drawingml/2006/table">
            <a:tbl>
              <a:tblPr>
                <a:tableStyleId>{5C22544A-7EE6-4342-B048-85BDC9FD1C3A}</a:tableStyleId>
              </a:tblPr>
              <a:tblGrid>
                <a:gridCol w="3450025">
                  <a:extLst>
                    <a:ext uri="{9D8B030D-6E8A-4147-A177-3AD203B41FA5}">
                      <a16:colId xmlns:a16="http://schemas.microsoft.com/office/drawing/2014/main" val="20000"/>
                    </a:ext>
                  </a:extLst>
                </a:gridCol>
                <a:gridCol w="534105">
                  <a:extLst>
                    <a:ext uri="{9D8B030D-6E8A-4147-A177-3AD203B41FA5}">
                      <a16:colId xmlns:a16="http://schemas.microsoft.com/office/drawing/2014/main" val="20001"/>
                    </a:ext>
                  </a:extLst>
                </a:gridCol>
              </a:tblGrid>
              <a:tr h="370840">
                <a:tc>
                  <a:txBody>
                    <a:bodyPr/>
                    <a:lstStyle/>
                    <a:p>
                      <a:r>
                        <a:rPr lang="en-GB" sz="1000" b="0" dirty="0">
                          <a:solidFill>
                            <a:schemeClr val="tx1"/>
                          </a:solidFill>
                        </a:rPr>
                        <a:t>Content line 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6</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6</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10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bl>
          </a:graphicData>
        </a:graphic>
      </p:graphicFrame>
      <p:graphicFrame>
        <p:nvGraphicFramePr>
          <p:cNvPr id="20" name="MasterContentsTable"/>
          <p:cNvGraphicFramePr>
            <a:graphicFrameLocks noGrp="1"/>
          </p:cNvGraphicFramePr>
          <p:nvPr userDrawn="1"/>
        </p:nvGraphicFramePr>
        <p:xfrm>
          <a:off x="449263" y="3297102"/>
          <a:ext cx="3984130" cy="5562600"/>
        </p:xfrm>
        <a:graphic>
          <a:graphicData uri="http://schemas.openxmlformats.org/drawingml/2006/table">
            <a:tbl>
              <a:tblPr>
                <a:tableStyleId>{5C22544A-7EE6-4342-B048-85BDC9FD1C3A}</a:tableStyleId>
              </a:tblPr>
              <a:tblGrid>
                <a:gridCol w="3450025">
                  <a:extLst>
                    <a:ext uri="{9D8B030D-6E8A-4147-A177-3AD203B41FA5}">
                      <a16:colId xmlns:a16="http://schemas.microsoft.com/office/drawing/2014/main" val="20000"/>
                    </a:ext>
                  </a:extLst>
                </a:gridCol>
                <a:gridCol w="534105">
                  <a:extLst>
                    <a:ext uri="{9D8B030D-6E8A-4147-A177-3AD203B41FA5}">
                      <a16:colId xmlns:a16="http://schemas.microsoft.com/office/drawing/2014/main" val="20001"/>
                    </a:ext>
                  </a:extLst>
                </a:gridCol>
              </a:tblGrid>
              <a:tr h="370840">
                <a:tc>
                  <a:txBody>
                    <a:bodyPr/>
                    <a:lstStyle/>
                    <a:p>
                      <a:r>
                        <a:rPr lang="en-GB" sz="1000" b="0" dirty="0">
                          <a:solidFill>
                            <a:schemeClr val="tx1"/>
                          </a:solidFill>
                        </a:rPr>
                        <a:t>Content line 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6</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6</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10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3"/>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4"/>
                  </a:ext>
                </a:extLst>
              </a:tr>
            </a:tbl>
          </a:graphicData>
        </a:graphic>
      </p:graphicFrame>
    </p:spTree>
    <p:extLst>
      <p:ext uri="{BB962C8B-B14F-4D97-AF65-F5344CB8AC3E}">
        <p14:creationId xmlns:p14="http://schemas.microsoft.com/office/powerpoint/2010/main" val="3695694462"/>
      </p:ext>
    </p:extLst>
  </p:cSld>
  <p:clrMapOvr>
    <a:masterClrMapping/>
  </p:clrMapOvr>
  <p:transition>
    <p:fade/>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userDrawn="1">
  <p:cSld name="1_Project">
    <p:bg>
      <p:bgPr>
        <a:solidFill>
          <a:schemeClr val="bg1"/>
        </a:solidFill>
        <a:effectLst/>
      </p:bgPr>
    </p:bg>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637139" y="709330"/>
            <a:ext cx="5641636" cy="5641636"/>
          </a:xfrm>
          <a:prstGeom prst="rect">
            <a:avLst/>
          </a:prstGeom>
        </p:spPr>
      </p:pic>
      <p:sp>
        <p:nvSpPr>
          <p:cNvPr id="120835" name="ProjectTitle"/>
          <p:cNvSpPr>
            <a:spLocks noGrp="1"/>
          </p:cNvSpPr>
          <p:nvPr>
            <p:ph type="ctrTitle"/>
          </p:nvPr>
        </p:nvSpPr>
        <p:spPr bwMode="gray">
          <a:xfrm>
            <a:off x="449264" y="6083447"/>
            <a:ext cx="4716462" cy="357150"/>
          </a:xfrm>
          <a:prstGeom prst="rect">
            <a:avLst/>
          </a:prstGeom>
        </p:spPr>
        <p:txBody>
          <a:bodyPr lIns="0" tIns="0" rIns="0" bIns="0" anchor="b" anchorCtr="0">
            <a:noAutofit/>
          </a:bodyPr>
          <a:lstStyle>
            <a:lvl1pPr>
              <a:lnSpc>
                <a:spcPct val="100000"/>
              </a:lnSpc>
              <a:defRPr lang="en-GB" sz="2159" b="1" kern="1200" noProof="0" dirty="0" smtClean="0">
                <a:solidFill>
                  <a:schemeClr val="tx1"/>
                </a:solidFill>
                <a:latin typeface="+mj-lt"/>
                <a:ea typeface="Verdana" panose="020B0604030504040204" pitchFamily="34" charset="0"/>
                <a:cs typeface="Verdana" panose="020B0604030504040204" pitchFamily="34" charset="0"/>
              </a:defRPr>
            </a:lvl1pPr>
          </a:lstStyle>
          <a:p>
            <a:r>
              <a:rPr lang="en-GB" noProof="0" dirty="0"/>
              <a:t>Click to edit Master title style</a:t>
            </a:r>
          </a:p>
        </p:txBody>
      </p:sp>
      <p:sp>
        <p:nvSpPr>
          <p:cNvPr id="120836" name="Text Placeholder 2"/>
          <p:cNvSpPr>
            <a:spLocks noGrp="1"/>
          </p:cNvSpPr>
          <p:nvPr>
            <p:ph type="subTitle" idx="1"/>
          </p:nvPr>
        </p:nvSpPr>
        <p:spPr bwMode="gray">
          <a:xfrm>
            <a:off x="449264" y="6464415"/>
            <a:ext cx="4716462" cy="559535"/>
          </a:xfrm>
          <a:prstGeom prst="rect">
            <a:avLst/>
          </a:prstGeom>
        </p:spPr>
        <p:txBody>
          <a:bodyPr wrap="square" lIns="0" tIns="0" rIns="0" bIns="0">
            <a:noAutofit/>
          </a:bodyPr>
          <a:lstStyle>
            <a:lvl1pPr marL="0" indent="0" algn="l" defTabSz="1069116" rtl="0" eaLnBrk="1" latinLnBrk="0" hangingPunct="1">
              <a:lnSpc>
                <a:spcPct val="100000"/>
              </a:lnSpc>
              <a:spcBef>
                <a:spcPts val="0"/>
              </a:spcBef>
              <a:spcAft>
                <a:spcPts val="0"/>
              </a:spcAft>
              <a:buClrTx/>
              <a:buSzPct val="100000"/>
              <a:buFont typeface="Arial" panose="020B0604020202020204" pitchFamily="34" charset="0"/>
              <a:buNone/>
              <a:defRPr lang="en-GB" sz="1835" b="0" kern="1200" noProof="0" dirty="0" smtClean="0">
                <a:solidFill>
                  <a:schemeClr val="tx1"/>
                </a:solidFill>
                <a:latin typeface="+mn-lt"/>
                <a:ea typeface="+mn-ea"/>
                <a:cs typeface="+mn-cs"/>
              </a:defRPr>
            </a:lvl1pPr>
          </a:lstStyle>
          <a:p>
            <a:r>
              <a:rPr lang="en-GB" noProof="0" dirty="0"/>
              <a:t>Click to edit Master subtitle style</a:t>
            </a:r>
          </a:p>
        </p:txBody>
      </p:sp>
      <p:sp>
        <p:nvSpPr>
          <p:cNvPr id="8" name="Text Placeholder 7"/>
          <p:cNvSpPr>
            <a:spLocks noGrp="1"/>
          </p:cNvSpPr>
          <p:nvPr>
            <p:ph type="body" sz="quarter" idx="11"/>
          </p:nvPr>
        </p:nvSpPr>
        <p:spPr>
          <a:xfrm>
            <a:off x="449263" y="7137399"/>
            <a:ext cx="4716462" cy="194733"/>
          </a:xfrm>
          <a:prstGeom prst="rect">
            <a:avLst/>
          </a:prstGeom>
        </p:spPr>
        <p:txBody>
          <a:bodyPr lIns="0" tIns="0" rIns="0" bIns="0" anchor="t" anchorCtr="0">
            <a:noAutofit/>
          </a:bodyPr>
          <a:lstStyle>
            <a:lvl1pPr>
              <a:spcBef>
                <a:spcPts val="0"/>
              </a:spcBef>
              <a:spcAft>
                <a:spcPts val="1189"/>
              </a:spcAft>
              <a:defRPr lang="en-GB" sz="1133" b="0" kern="1200" noProof="0" dirty="0" smtClean="0">
                <a:solidFill>
                  <a:schemeClr val="tx1"/>
                </a:solidFill>
                <a:latin typeface="+mn-lt"/>
                <a:ea typeface="+mn-ea"/>
                <a:cs typeface="+mn-cs"/>
              </a:defRPr>
            </a:lvl1pPr>
          </a:lstStyle>
          <a:p>
            <a:pPr lvl="0"/>
            <a:r>
              <a:rPr lang="en-GB" noProof="0" dirty="0"/>
              <a:t>Click to edit Master text styles</a:t>
            </a:r>
          </a:p>
        </p:txBody>
      </p:sp>
      <p:sp>
        <p:nvSpPr>
          <p:cNvPr id="19" name="Text Placeholder 5"/>
          <p:cNvSpPr>
            <a:spLocks noGrp="1"/>
          </p:cNvSpPr>
          <p:nvPr>
            <p:ph type="body" sz="quarter" idx="13" hasCustomPrompt="1"/>
          </p:nvPr>
        </p:nvSpPr>
        <p:spPr>
          <a:xfrm>
            <a:off x="5524499" y="7155912"/>
            <a:ext cx="4716464" cy="116955"/>
          </a:xfrm>
          <a:prstGeom prst="rect">
            <a:avLst/>
          </a:prstGeom>
        </p:spPr>
        <p:txBody>
          <a:bodyPr wrap="square" anchor="b" anchorCtr="0">
            <a:spAutoFit/>
          </a:bodyPr>
          <a:lstStyle>
            <a:lvl1pPr algn="r">
              <a:defRPr lang="en-US" sz="760" b="1" kern="1200" dirty="0" smtClean="0">
                <a:solidFill>
                  <a:schemeClr val="tx1"/>
                </a:solidFill>
                <a:latin typeface="+mn-lt"/>
                <a:ea typeface="+mn-ea"/>
                <a:cs typeface="Verdana" panose="020B0604030504040204" pitchFamily="34" charset="0"/>
              </a:defRPr>
            </a:lvl1pPr>
          </a:lstStyle>
          <a:p>
            <a:pPr lvl="0"/>
            <a:r>
              <a:rPr lang="en-US" dirty="0"/>
              <a:t>[Confidentiality statement]</a:t>
            </a:r>
          </a:p>
        </p:txBody>
      </p:sp>
      <p:grpSp>
        <p:nvGrpSpPr>
          <p:cNvPr id="20" name="Group 6"/>
          <p:cNvGrpSpPr>
            <a:grpSpLocks noChangeAspect="1"/>
          </p:cNvGrpSpPr>
          <p:nvPr userDrawn="1"/>
        </p:nvGrpSpPr>
        <p:grpSpPr>
          <a:xfrm>
            <a:off x="449263" y="285583"/>
            <a:ext cx="2020500" cy="362117"/>
            <a:chOff x="398463" y="404813"/>
            <a:chExt cx="1627187" cy="307976"/>
          </a:xfrm>
          <a:solidFill>
            <a:schemeClr val="tx1"/>
          </a:solidFill>
        </p:grpSpPr>
        <p:sp>
          <p:nvSpPr>
            <p:cNvPr id="21" name="Oval 20"/>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22"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23"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24"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25"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26"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27"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28"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29"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0"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grpSp>
    </p:spTree>
    <p:extLst>
      <p:ext uri="{BB962C8B-B14F-4D97-AF65-F5344CB8AC3E}">
        <p14:creationId xmlns:p14="http://schemas.microsoft.com/office/powerpoint/2010/main" val="2925899000"/>
      </p:ext>
    </p:extLst>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userDrawn="1">
  <p:cSld name="Divider - Deloitte green">
    <p:bg bwMode="gray">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439925" y="1880185"/>
            <a:ext cx="9243963" cy="1755330"/>
          </a:xfrm>
        </p:spPr>
        <p:txBody>
          <a:bodyPr anchor="b"/>
          <a:lstStyle>
            <a:lvl1pPr>
              <a:lnSpc>
                <a:spcPct val="95000"/>
              </a:lnSpc>
              <a:defRPr sz="3898" b="1">
                <a:solidFill>
                  <a:schemeClr val="bg1"/>
                </a:solidFill>
                <a:latin typeface="+mj-lt"/>
                <a:ea typeface="Open Sans" panose="020B0606030504020204" pitchFamily="34" charset="0"/>
                <a:cs typeface="Open Sans" panose="020B0606030504020204" pitchFamily="34" charset="0"/>
              </a:defRPr>
            </a:lvl1pPr>
          </a:lstStyle>
          <a:p>
            <a:r>
              <a:rPr lang="en-US" noProof="0" dirty="0"/>
              <a:t>Click to edit Master title style</a:t>
            </a:r>
          </a:p>
        </p:txBody>
      </p:sp>
      <p:sp>
        <p:nvSpPr>
          <p:cNvPr id="3" name="Text Placeholder 2"/>
          <p:cNvSpPr>
            <a:spLocks noGrp="1"/>
          </p:cNvSpPr>
          <p:nvPr>
            <p:ph type="body" idx="1"/>
          </p:nvPr>
        </p:nvSpPr>
        <p:spPr bwMode="gray">
          <a:xfrm>
            <a:off x="439925" y="3779838"/>
            <a:ext cx="9243963" cy="1726812"/>
          </a:xfrm>
        </p:spPr>
        <p:txBody>
          <a:bodyPr lIns="0" tIns="0" rIns="0" bIns="0">
            <a:noAutofit/>
          </a:bodyPr>
          <a:lstStyle>
            <a:lvl1pPr marL="0" indent="0">
              <a:lnSpc>
                <a:spcPct val="95000"/>
              </a:lnSpc>
              <a:spcAft>
                <a:spcPts val="0"/>
              </a:spcAft>
              <a:buNone/>
              <a:defRPr sz="3898">
                <a:solidFill>
                  <a:schemeClr val="bg1"/>
                </a:solidFill>
              </a:defRPr>
            </a:lvl1pPr>
            <a:lvl2pPr marL="503998" indent="0">
              <a:buNone/>
              <a:defRPr sz="2205">
                <a:solidFill>
                  <a:schemeClr val="tx1">
                    <a:tint val="75000"/>
                  </a:schemeClr>
                </a:solidFill>
              </a:defRPr>
            </a:lvl2pPr>
            <a:lvl3pPr marL="1007997" indent="0">
              <a:buNone/>
              <a:defRPr sz="1984">
                <a:solidFill>
                  <a:schemeClr val="tx1">
                    <a:tint val="75000"/>
                  </a:schemeClr>
                </a:solidFill>
              </a:defRPr>
            </a:lvl3pPr>
            <a:lvl4pPr marL="1511995" indent="0">
              <a:buNone/>
              <a:defRPr sz="1763">
                <a:solidFill>
                  <a:schemeClr val="tx1">
                    <a:tint val="75000"/>
                  </a:schemeClr>
                </a:solidFill>
              </a:defRPr>
            </a:lvl4pPr>
            <a:lvl5pPr marL="2015994" indent="0">
              <a:buNone/>
              <a:defRPr sz="1763">
                <a:solidFill>
                  <a:schemeClr val="tx1">
                    <a:tint val="75000"/>
                  </a:schemeClr>
                </a:solidFill>
              </a:defRPr>
            </a:lvl5pPr>
            <a:lvl6pPr marL="2519993" indent="0">
              <a:buNone/>
              <a:defRPr sz="1763">
                <a:solidFill>
                  <a:schemeClr val="tx1">
                    <a:tint val="75000"/>
                  </a:schemeClr>
                </a:solidFill>
              </a:defRPr>
            </a:lvl6pPr>
            <a:lvl7pPr marL="3023991" indent="0">
              <a:buNone/>
              <a:defRPr sz="1763">
                <a:solidFill>
                  <a:schemeClr val="tx1">
                    <a:tint val="75000"/>
                  </a:schemeClr>
                </a:solidFill>
              </a:defRPr>
            </a:lvl7pPr>
            <a:lvl8pPr marL="3527989" indent="0">
              <a:buNone/>
              <a:defRPr sz="1763">
                <a:solidFill>
                  <a:schemeClr val="tx1">
                    <a:tint val="75000"/>
                  </a:schemeClr>
                </a:solidFill>
              </a:defRPr>
            </a:lvl8pPr>
            <a:lvl9pPr marL="4031988" indent="0">
              <a:buNone/>
              <a:defRPr sz="1763">
                <a:solidFill>
                  <a:schemeClr val="tx1">
                    <a:tint val="75000"/>
                  </a:schemeClr>
                </a:solidFill>
              </a:defRPr>
            </a:lvl9pPr>
          </a:lstStyle>
          <a:p>
            <a:pPr lvl="0"/>
            <a:r>
              <a:rPr lang="en-US" noProof="0" dirty="0"/>
              <a:t>Click to edit Master text styles</a:t>
            </a:r>
          </a:p>
        </p:txBody>
      </p:sp>
      <p:sp>
        <p:nvSpPr>
          <p:cNvPr id="7" name="TextBox 6"/>
          <p:cNvSpPr txBox="1"/>
          <p:nvPr userDrawn="1"/>
        </p:nvSpPr>
        <p:spPr>
          <a:xfrm>
            <a:off x="439924" y="7139694"/>
            <a:ext cx="4696231" cy="110305"/>
          </a:xfrm>
          <a:prstGeom prst="rect">
            <a:avLst/>
          </a:prstGeom>
          <a:noFill/>
        </p:spPr>
        <p:txBody>
          <a:bodyPr wrap="square" lIns="0" tIns="0" rIns="0" bIns="0" rtlCol="0">
            <a:spAutoFit/>
          </a:bodyPr>
          <a:lstStyle/>
          <a:p>
            <a:pPr>
              <a:spcBef>
                <a:spcPts val="662"/>
              </a:spcBef>
              <a:buSzPct val="100000"/>
              <a:buFont typeface="Arial"/>
              <a:buNone/>
            </a:pPr>
            <a:r>
              <a:rPr lang="fr-FR" sz="717" dirty="0">
                <a:solidFill>
                  <a:prstClr val="white"/>
                </a:solidFill>
              </a:rPr>
              <a:t>© 2020</a:t>
            </a:r>
            <a:r>
              <a:rPr lang="fr-FR" sz="717" baseline="0" dirty="0">
                <a:solidFill>
                  <a:prstClr val="white"/>
                </a:solidFill>
              </a:rPr>
              <a:t> </a:t>
            </a:r>
            <a:r>
              <a:rPr lang="fr-FR" sz="717" dirty="0">
                <a:solidFill>
                  <a:prstClr val="white"/>
                </a:solidFill>
              </a:rPr>
              <a:t>Deloitte Touche Tohmatsu India LLP</a:t>
            </a:r>
          </a:p>
        </p:txBody>
      </p:sp>
      <p:sp>
        <p:nvSpPr>
          <p:cNvPr id="8" name="TextBox 7"/>
          <p:cNvSpPr txBox="1"/>
          <p:nvPr userDrawn="1"/>
        </p:nvSpPr>
        <p:spPr>
          <a:xfrm>
            <a:off x="9981812" y="7139694"/>
            <a:ext cx="270079" cy="110305"/>
          </a:xfrm>
          <a:prstGeom prst="rect">
            <a:avLst/>
          </a:prstGeom>
          <a:noFill/>
        </p:spPr>
        <p:txBody>
          <a:bodyPr wrap="square" lIns="0" tIns="0" rIns="0" bIns="0" rtlCol="0">
            <a:spAutoFit/>
          </a:bodyPr>
          <a:lstStyle/>
          <a:p>
            <a:pPr algn="r">
              <a:spcBef>
                <a:spcPts val="662"/>
              </a:spcBef>
              <a:buSzPct val="100000"/>
              <a:buFont typeface="Arial"/>
              <a:buNone/>
            </a:pPr>
            <a:fld id="{C58DF478-B544-4ED8-9ED4-6A2648E2D233}" type="slidenum">
              <a:rPr lang="en-US" sz="717" smtClean="0">
                <a:solidFill>
                  <a:prstClr val="white"/>
                </a:solidFill>
              </a:rPr>
              <a:pPr algn="r">
                <a:spcBef>
                  <a:spcPts val="662"/>
                </a:spcBef>
                <a:buSzPct val="100000"/>
                <a:buFont typeface="Arial"/>
                <a:buNone/>
              </a:pPr>
              <a:t>‹#›</a:t>
            </a:fld>
            <a:endParaRPr lang="en-US" sz="717" dirty="0">
              <a:solidFill>
                <a:prstClr val="white"/>
              </a:solidFill>
            </a:endParaRPr>
          </a:p>
        </p:txBody>
      </p:sp>
    </p:spTree>
    <p:extLst>
      <p:ext uri="{BB962C8B-B14F-4D97-AF65-F5344CB8AC3E}">
        <p14:creationId xmlns:p14="http://schemas.microsoft.com/office/powerpoint/2010/main" val="3965656308"/>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9" name="Text Placeholder 8"/>
          <p:cNvSpPr>
            <a:spLocks noGrp="1"/>
          </p:cNvSpPr>
          <p:nvPr>
            <p:ph type="body" sz="quarter" idx="13" hasCustomPrompt="1"/>
          </p:nvPr>
        </p:nvSpPr>
        <p:spPr>
          <a:xfrm>
            <a:off x="449264" y="1079500"/>
            <a:ext cx="9791700" cy="518400"/>
          </a:xfrm>
          <a:prstGeom prst="rect">
            <a:avLst/>
          </a:prstGeom>
        </p:spPr>
        <p:txBody>
          <a:bodyPr lIns="0" tIns="0" rIns="0" bIns="0">
            <a:noAutofit/>
          </a:bodyPr>
          <a:lstStyle>
            <a:lvl1pPr marL="0" indent="0">
              <a:buNone/>
              <a:defRPr sz="1400" b="0">
                <a:solidFill>
                  <a:srgbClr val="575757"/>
                </a:solidFill>
              </a:defRPr>
            </a:lvl1pPr>
          </a:lstStyle>
          <a:p>
            <a:pPr lvl="0"/>
            <a:r>
              <a:rPr lang="en-US" dirty="0"/>
              <a:t>Click to add subtitle</a:t>
            </a:r>
          </a:p>
        </p:txBody>
      </p:sp>
      <p:sp>
        <p:nvSpPr>
          <p:cNvPr id="14" name="Title Placeholder 1"/>
          <p:cNvSpPr>
            <a:spLocks noGrp="1"/>
          </p:cNvSpPr>
          <p:nvPr>
            <p:ph type="title"/>
          </p:nvPr>
        </p:nvSpPr>
        <p:spPr>
          <a:xfrm>
            <a:off x="449263" y="647700"/>
            <a:ext cx="9791700" cy="432000"/>
          </a:xfrm>
          <a:prstGeom prst="rect">
            <a:avLst/>
          </a:prstGeom>
        </p:spPr>
        <p:txBody>
          <a:bodyPr vert="horz" lIns="0" tIns="0" rIns="0" bIns="0" rtlCol="0" anchor="t" anchorCtr="0">
            <a:noAutofit/>
          </a:bodyPr>
          <a:lstStyle>
            <a:lvl1pPr>
              <a:defRPr/>
            </a:lvl1pPr>
          </a:lstStyle>
          <a:p>
            <a:r>
              <a:rPr lang="en-US" noProof="0" dirty="0"/>
              <a:t>Click to edit Master title style</a:t>
            </a:r>
          </a:p>
        </p:txBody>
      </p:sp>
    </p:spTree>
    <p:extLst>
      <p:ext uri="{BB962C8B-B14F-4D97-AF65-F5344CB8AC3E}">
        <p14:creationId xmlns:p14="http://schemas.microsoft.com/office/powerpoint/2010/main" val="1579312232"/>
      </p:ext>
    </p:extLst>
  </p:cSld>
  <p:clrMapOvr>
    <a:masterClrMapping/>
  </p:clrMapOvr>
  <p:transition>
    <p:fade/>
  </p:transition>
  <p:extLst>
    <p:ext uri="{DCECCB84-F9BA-43D5-87BE-67443E8EF086}">
      <p15:sldGuideLst xmlns:p15="http://schemas.microsoft.com/office/powerpoint/2012/main"/>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SectionDivider">
    <p:spTree>
      <p:nvGrpSpPr>
        <p:cNvPr id="1" name=""/>
        <p:cNvGrpSpPr/>
        <p:nvPr/>
      </p:nvGrpSpPr>
      <p:grpSpPr>
        <a:xfrm>
          <a:off x="0" y="0"/>
          <a:ext cx="0" cy="0"/>
          <a:chOff x="0" y="0"/>
          <a:chExt cx="0" cy="0"/>
        </a:xfrm>
      </p:grpSpPr>
      <p:sp>
        <p:nvSpPr>
          <p:cNvPr id="7" name="Title Placeholder 1"/>
          <p:cNvSpPr>
            <a:spLocks noGrp="1"/>
          </p:cNvSpPr>
          <p:nvPr>
            <p:ph type="title" hasCustomPrompt="1"/>
          </p:nvPr>
        </p:nvSpPr>
        <p:spPr>
          <a:xfrm>
            <a:off x="449264" y="647700"/>
            <a:ext cx="9791700" cy="431800"/>
          </a:xfrm>
          <a:prstGeom prst="rect">
            <a:avLst/>
          </a:prstGeom>
        </p:spPr>
        <p:txBody>
          <a:bodyPr vert="horz" lIns="0" tIns="0" rIns="0" bIns="0" rtlCol="0" anchor="t" anchorCtr="0">
            <a:noAutofit/>
          </a:bodyPr>
          <a:lstStyle>
            <a:lvl1pPr>
              <a:defRPr/>
            </a:lvl1pPr>
          </a:lstStyle>
          <a:p>
            <a:r>
              <a:rPr lang="en-US" dirty="0"/>
              <a:t>Click to add title</a:t>
            </a:r>
          </a:p>
        </p:txBody>
      </p:sp>
    </p:spTree>
    <p:extLst>
      <p:ext uri="{BB962C8B-B14F-4D97-AF65-F5344CB8AC3E}">
        <p14:creationId xmlns:p14="http://schemas.microsoft.com/office/powerpoint/2010/main" val="489403068"/>
      </p:ext>
    </p:extLst>
  </p:cSld>
  <p:clrMapOvr>
    <a:masterClrMapping/>
  </p:clrMapOvr>
  <p:transition>
    <p:fade/>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userDrawn="1">
  <p:cSld name="Empty+Logo">
    <p:spTree>
      <p:nvGrpSpPr>
        <p:cNvPr id="1" name=""/>
        <p:cNvGrpSpPr/>
        <p:nvPr/>
      </p:nvGrpSpPr>
      <p:grpSpPr>
        <a:xfrm>
          <a:off x="0" y="0"/>
          <a:ext cx="0" cy="0"/>
          <a:chOff x="0" y="0"/>
          <a:chExt cx="0" cy="0"/>
        </a:xfrm>
      </p:grpSpPr>
      <p:grpSp>
        <p:nvGrpSpPr>
          <p:cNvPr id="16" name="Group 6"/>
          <p:cNvGrpSpPr>
            <a:grpSpLocks noChangeAspect="1"/>
          </p:cNvGrpSpPr>
          <p:nvPr userDrawn="1"/>
        </p:nvGrpSpPr>
        <p:grpSpPr>
          <a:xfrm>
            <a:off x="449263" y="285583"/>
            <a:ext cx="2020500" cy="362117"/>
            <a:chOff x="398463" y="404813"/>
            <a:chExt cx="1627187" cy="307976"/>
          </a:xfrm>
          <a:solidFill>
            <a:schemeClr val="tx1"/>
          </a:solidFill>
        </p:grpSpPr>
        <p:sp>
          <p:nvSpPr>
            <p:cNvPr id="17" name="Oval 16"/>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18"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19"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1"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2"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3"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4"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5"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6"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7"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grpSp>
    </p:spTree>
    <p:extLst>
      <p:ext uri="{BB962C8B-B14F-4D97-AF65-F5344CB8AC3E}">
        <p14:creationId xmlns:p14="http://schemas.microsoft.com/office/powerpoint/2010/main" val="3821689728"/>
      </p:ext>
    </p:extLst>
  </p:cSld>
  <p:clrMapOvr>
    <a:masterClrMapping/>
  </p:clrMapOvr>
  <p:transition>
    <p:fade/>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Empty">
    <p:spTree>
      <p:nvGrpSpPr>
        <p:cNvPr id="1" name=""/>
        <p:cNvGrpSpPr/>
        <p:nvPr/>
      </p:nvGrpSpPr>
      <p:grpSpPr>
        <a:xfrm>
          <a:off x="0" y="0"/>
          <a:ext cx="0" cy="0"/>
          <a:chOff x="0" y="0"/>
          <a:chExt cx="0" cy="0"/>
        </a:xfrm>
      </p:grpSpPr>
    </p:spTree>
    <p:extLst>
      <p:ext uri="{BB962C8B-B14F-4D97-AF65-F5344CB8AC3E}">
        <p14:creationId xmlns:p14="http://schemas.microsoft.com/office/powerpoint/2010/main" val="2128268832"/>
      </p:ext>
    </p:extLst>
  </p:cSld>
  <p:clrMapOvr>
    <a:masterClrMapping/>
  </p:clrMapOvr>
  <p:transition>
    <p:fade/>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Graphics">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735013" y="403225"/>
            <a:ext cx="9221787" cy="435871"/>
          </a:xfrm>
          <a:prstGeom prst="rect">
            <a:avLst/>
          </a:prstGeom>
        </p:spPr>
        <p:txBody>
          <a:bodyPr/>
          <a:lstStyle>
            <a:lvl1pPr>
              <a:defRPr/>
            </a:lvl1pPr>
          </a:lstStyle>
          <a:p>
            <a:r>
              <a:rPr lang="en-US" dirty="0"/>
              <a:t>Icons, other graphics &amp; </a:t>
            </a:r>
            <a:r>
              <a:rPr lang="en-US" dirty="0" err="1"/>
              <a:t>misc</a:t>
            </a:r>
            <a:r>
              <a:rPr lang="en-US" dirty="0"/>
              <a:t> placeholders</a:t>
            </a:r>
            <a:endParaRPr lang="en-GB" dirty="0"/>
          </a:p>
        </p:txBody>
      </p:sp>
      <p:graphicFrame>
        <p:nvGraphicFramePr>
          <p:cNvPr id="63" name="NavigationTable"/>
          <p:cNvGraphicFramePr>
            <a:graphicFrameLocks/>
          </p:cNvGraphicFramePr>
          <p:nvPr userDrawn="1"/>
        </p:nvGraphicFramePr>
        <p:xfrm>
          <a:off x="449262" y="2522487"/>
          <a:ext cx="8813961" cy="359610"/>
        </p:xfrm>
        <a:graphic>
          <a:graphicData uri="http://schemas.openxmlformats.org/drawingml/2006/table">
            <a:tbl>
              <a:tblPr>
                <a:tableStyleId>{5C22544A-7EE6-4342-B048-85BDC9FD1C3A}</a:tableStyleId>
              </a:tblPr>
              <a:tblGrid>
                <a:gridCol w="979329">
                  <a:extLst>
                    <a:ext uri="{9D8B030D-6E8A-4147-A177-3AD203B41FA5}">
                      <a16:colId xmlns:a16="http://schemas.microsoft.com/office/drawing/2014/main" val="20000"/>
                    </a:ext>
                  </a:extLst>
                </a:gridCol>
                <a:gridCol w="979329">
                  <a:extLst>
                    <a:ext uri="{9D8B030D-6E8A-4147-A177-3AD203B41FA5}">
                      <a16:colId xmlns:a16="http://schemas.microsoft.com/office/drawing/2014/main" val="20001"/>
                    </a:ext>
                  </a:extLst>
                </a:gridCol>
                <a:gridCol w="979329">
                  <a:extLst>
                    <a:ext uri="{9D8B030D-6E8A-4147-A177-3AD203B41FA5}">
                      <a16:colId xmlns:a16="http://schemas.microsoft.com/office/drawing/2014/main" val="20002"/>
                    </a:ext>
                  </a:extLst>
                </a:gridCol>
                <a:gridCol w="979329">
                  <a:extLst>
                    <a:ext uri="{9D8B030D-6E8A-4147-A177-3AD203B41FA5}">
                      <a16:colId xmlns:a16="http://schemas.microsoft.com/office/drawing/2014/main" val="20003"/>
                    </a:ext>
                  </a:extLst>
                </a:gridCol>
                <a:gridCol w="979329">
                  <a:extLst>
                    <a:ext uri="{9D8B030D-6E8A-4147-A177-3AD203B41FA5}">
                      <a16:colId xmlns:a16="http://schemas.microsoft.com/office/drawing/2014/main" val="20004"/>
                    </a:ext>
                  </a:extLst>
                </a:gridCol>
                <a:gridCol w="979329">
                  <a:extLst>
                    <a:ext uri="{9D8B030D-6E8A-4147-A177-3AD203B41FA5}">
                      <a16:colId xmlns:a16="http://schemas.microsoft.com/office/drawing/2014/main" val="20005"/>
                    </a:ext>
                  </a:extLst>
                </a:gridCol>
                <a:gridCol w="979329">
                  <a:extLst>
                    <a:ext uri="{9D8B030D-6E8A-4147-A177-3AD203B41FA5}">
                      <a16:colId xmlns:a16="http://schemas.microsoft.com/office/drawing/2014/main" val="20006"/>
                    </a:ext>
                  </a:extLst>
                </a:gridCol>
                <a:gridCol w="979329">
                  <a:extLst>
                    <a:ext uri="{9D8B030D-6E8A-4147-A177-3AD203B41FA5}">
                      <a16:colId xmlns:a16="http://schemas.microsoft.com/office/drawing/2014/main" val="20007"/>
                    </a:ext>
                  </a:extLst>
                </a:gridCol>
                <a:gridCol w="979329">
                  <a:extLst>
                    <a:ext uri="{9D8B030D-6E8A-4147-A177-3AD203B41FA5}">
                      <a16:colId xmlns:a16="http://schemas.microsoft.com/office/drawing/2014/main" val="20008"/>
                    </a:ext>
                  </a:extLst>
                </a:gridCol>
              </a:tblGrid>
              <a:tr h="359610">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bg1"/>
                          </a:solidFill>
                          <a:effectLst/>
                          <a:latin typeface="+mn-lt"/>
                          <a:cs typeface="Arial" charset="0"/>
                        </a:rPr>
                        <a:t>Section 1</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2</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3</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4</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5</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6</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7</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8</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9</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extLst>
                  <a:ext uri="{0D108BD9-81ED-4DB2-BD59-A6C34878D82A}">
                    <a16:rowId xmlns:a16="http://schemas.microsoft.com/office/drawing/2014/main" val="10000"/>
                  </a:ext>
                </a:extLst>
              </a:tr>
            </a:tbl>
          </a:graphicData>
        </a:graphic>
      </p:graphicFrame>
      <p:grpSp>
        <p:nvGrpSpPr>
          <p:cNvPr id="37" name="MasterNavigationGroup"/>
          <p:cNvGrpSpPr/>
          <p:nvPr userDrawn="1"/>
        </p:nvGrpSpPr>
        <p:grpSpPr>
          <a:xfrm>
            <a:off x="5979677" y="3739139"/>
            <a:ext cx="905889" cy="361950"/>
            <a:chOff x="6293713" y="4256376"/>
            <a:chExt cx="905889" cy="361950"/>
          </a:xfrm>
        </p:grpSpPr>
        <p:pic>
          <p:nvPicPr>
            <p:cNvPr id="35" name="Picture 3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49394" y="4354513"/>
              <a:ext cx="183024" cy="183024"/>
            </a:xfrm>
            <a:prstGeom prst="rect">
              <a:avLst/>
            </a:prstGeom>
          </p:spPr>
        </p:pic>
        <p:grpSp>
          <p:nvGrpSpPr>
            <p:cNvPr id="36" name="Group 35"/>
            <p:cNvGrpSpPr/>
            <p:nvPr userDrawn="1"/>
          </p:nvGrpSpPr>
          <p:grpSpPr>
            <a:xfrm>
              <a:off x="6293713" y="4256376"/>
              <a:ext cx="905889" cy="361950"/>
              <a:chOff x="6293713" y="4256376"/>
              <a:chExt cx="905889" cy="361950"/>
            </a:xfrm>
          </p:grpSpPr>
          <p:grpSp>
            <p:nvGrpSpPr>
              <p:cNvPr id="6" name="Group 5"/>
              <p:cNvGrpSpPr/>
              <p:nvPr/>
            </p:nvGrpSpPr>
            <p:grpSpPr>
              <a:xfrm>
                <a:off x="6911602" y="4312312"/>
                <a:ext cx="288000" cy="287155"/>
                <a:chOff x="5840121" y="174998"/>
                <a:chExt cx="288000" cy="287155"/>
              </a:xfrm>
            </p:grpSpPr>
            <p:sp>
              <p:nvSpPr>
                <p:cNvPr id="29" name="Freeform 211"/>
                <p:cNvSpPr>
                  <a:spLocks/>
                </p:cNvSpPr>
                <p:nvPr/>
              </p:nvSpPr>
              <p:spPr bwMode="auto">
                <a:xfrm rot="10800000">
                  <a:off x="5894174" y="264523"/>
                  <a:ext cx="180739" cy="108105"/>
                </a:xfrm>
                <a:custGeom>
                  <a:avLst/>
                  <a:gdLst>
                    <a:gd name="T0" fmla="*/ 310 w 321"/>
                    <a:gd name="T1" fmla="*/ 86 h 193"/>
                    <a:gd name="T2" fmla="*/ 37 w 321"/>
                    <a:gd name="T3" fmla="*/ 86 h 193"/>
                    <a:gd name="T4" fmla="*/ 104 w 321"/>
                    <a:gd name="T5" fmla="*/ 19 h 193"/>
                    <a:gd name="T6" fmla="*/ 104 w 321"/>
                    <a:gd name="T7" fmla="*/ 4 h 193"/>
                    <a:gd name="T8" fmla="*/ 89 w 321"/>
                    <a:gd name="T9" fmla="*/ 4 h 193"/>
                    <a:gd name="T10" fmla="*/ 4 w 321"/>
                    <a:gd name="T11" fmla="*/ 89 h 193"/>
                    <a:gd name="T12" fmla="*/ 1 w 321"/>
                    <a:gd name="T13" fmla="*/ 93 h 193"/>
                    <a:gd name="T14" fmla="*/ 1 w 321"/>
                    <a:gd name="T15" fmla="*/ 101 h 193"/>
                    <a:gd name="T16" fmla="*/ 4 w 321"/>
                    <a:gd name="T17" fmla="*/ 104 h 193"/>
                    <a:gd name="T18" fmla="*/ 89 w 321"/>
                    <a:gd name="T19" fmla="*/ 190 h 193"/>
                    <a:gd name="T20" fmla="*/ 97 w 321"/>
                    <a:gd name="T21" fmla="*/ 193 h 193"/>
                    <a:gd name="T22" fmla="*/ 104 w 321"/>
                    <a:gd name="T23" fmla="*/ 190 h 193"/>
                    <a:gd name="T24" fmla="*/ 104 w 321"/>
                    <a:gd name="T25" fmla="*/ 174 h 193"/>
                    <a:gd name="T26" fmla="*/ 37 w 321"/>
                    <a:gd name="T27" fmla="*/ 107 h 193"/>
                    <a:gd name="T28" fmla="*/ 310 w 321"/>
                    <a:gd name="T29" fmla="*/ 107 h 193"/>
                    <a:gd name="T30" fmla="*/ 321 w 321"/>
                    <a:gd name="T31" fmla="*/ 97 h 193"/>
                    <a:gd name="T32" fmla="*/ 310 w 321"/>
                    <a:gd name="T33" fmla="*/ 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1" h="193">
                      <a:moveTo>
                        <a:pt x="310" y="86"/>
                      </a:moveTo>
                      <a:cubicBezTo>
                        <a:pt x="37" y="86"/>
                        <a:pt x="37" y="86"/>
                        <a:pt x="37" y="86"/>
                      </a:cubicBezTo>
                      <a:cubicBezTo>
                        <a:pt x="104" y="19"/>
                        <a:pt x="104" y="19"/>
                        <a:pt x="104" y="19"/>
                      </a:cubicBezTo>
                      <a:cubicBezTo>
                        <a:pt x="108" y="15"/>
                        <a:pt x="108" y="8"/>
                        <a:pt x="104" y="4"/>
                      </a:cubicBezTo>
                      <a:cubicBezTo>
                        <a:pt x="100" y="0"/>
                        <a:pt x="93" y="0"/>
                        <a:pt x="89" y="4"/>
                      </a:cubicBezTo>
                      <a:cubicBezTo>
                        <a:pt x="4" y="89"/>
                        <a:pt x="4" y="89"/>
                        <a:pt x="4" y="89"/>
                      </a:cubicBezTo>
                      <a:cubicBezTo>
                        <a:pt x="3" y="90"/>
                        <a:pt x="2" y="91"/>
                        <a:pt x="1" y="93"/>
                      </a:cubicBezTo>
                      <a:cubicBezTo>
                        <a:pt x="0" y="95"/>
                        <a:pt x="0" y="98"/>
                        <a:pt x="1" y="101"/>
                      </a:cubicBezTo>
                      <a:cubicBezTo>
                        <a:pt x="2" y="102"/>
                        <a:pt x="3" y="103"/>
                        <a:pt x="4" y="104"/>
                      </a:cubicBezTo>
                      <a:cubicBezTo>
                        <a:pt x="89" y="190"/>
                        <a:pt x="89" y="190"/>
                        <a:pt x="89" y="190"/>
                      </a:cubicBezTo>
                      <a:cubicBezTo>
                        <a:pt x="91" y="192"/>
                        <a:pt x="94" y="193"/>
                        <a:pt x="97" y="193"/>
                      </a:cubicBezTo>
                      <a:cubicBezTo>
                        <a:pt x="99" y="193"/>
                        <a:pt x="102" y="192"/>
                        <a:pt x="104" y="190"/>
                      </a:cubicBezTo>
                      <a:cubicBezTo>
                        <a:pt x="108" y="185"/>
                        <a:pt x="108" y="179"/>
                        <a:pt x="104" y="174"/>
                      </a:cubicBezTo>
                      <a:cubicBezTo>
                        <a:pt x="37" y="107"/>
                        <a:pt x="37" y="107"/>
                        <a:pt x="37" y="107"/>
                      </a:cubicBezTo>
                      <a:cubicBezTo>
                        <a:pt x="310" y="107"/>
                        <a:pt x="310" y="107"/>
                        <a:pt x="310" y="107"/>
                      </a:cubicBezTo>
                      <a:cubicBezTo>
                        <a:pt x="316" y="107"/>
                        <a:pt x="321" y="103"/>
                        <a:pt x="321" y="97"/>
                      </a:cubicBezTo>
                      <a:cubicBezTo>
                        <a:pt x="321" y="91"/>
                        <a:pt x="316" y="86"/>
                        <a:pt x="310" y="86"/>
                      </a:cubicBez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sp>
              <p:nvSpPr>
                <p:cNvPr id="30" name="Freeform 212">
                  <a:hlinkClick r:id="" action="ppaction://hlinkshowjump?jump=nextslide"/>
                </p:cNvPr>
                <p:cNvSpPr>
                  <a:spLocks noEditPoints="1"/>
                </p:cNvSpPr>
                <p:nvPr/>
              </p:nvSpPr>
              <p:spPr bwMode="auto">
                <a:xfrm rot="10800000">
                  <a:off x="5840121" y="174998"/>
                  <a:ext cx="288000" cy="287155"/>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grpSp>
          <p:grpSp>
            <p:nvGrpSpPr>
              <p:cNvPr id="7" name="Group 6"/>
              <p:cNvGrpSpPr/>
              <p:nvPr/>
            </p:nvGrpSpPr>
            <p:grpSpPr>
              <a:xfrm>
                <a:off x="6601029" y="4312311"/>
                <a:ext cx="288000" cy="287155"/>
                <a:chOff x="1739755" y="155947"/>
                <a:chExt cx="288000" cy="287155"/>
              </a:xfrm>
            </p:grpSpPr>
            <p:sp>
              <p:nvSpPr>
                <p:cNvPr id="27" name="Freeform 211"/>
                <p:cNvSpPr>
                  <a:spLocks/>
                </p:cNvSpPr>
                <p:nvPr/>
              </p:nvSpPr>
              <p:spPr bwMode="auto">
                <a:xfrm>
                  <a:off x="1792963" y="245472"/>
                  <a:ext cx="180739" cy="108105"/>
                </a:xfrm>
                <a:custGeom>
                  <a:avLst/>
                  <a:gdLst>
                    <a:gd name="T0" fmla="*/ 310 w 321"/>
                    <a:gd name="T1" fmla="*/ 86 h 193"/>
                    <a:gd name="T2" fmla="*/ 37 w 321"/>
                    <a:gd name="T3" fmla="*/ 86 h 193"/>
                    <a:gd name="T4" fmla="*/ 104 w 321"/>
                    <a:gd name="T5" fmla="*/ 19 h 193"/>
                    <a:gd name="T6" fmla="*/ 104 w 321"/>
                    <a:gd name="T7" fmla="*/ 4 h 193"/>
                    <a:gd name="T8" fmla="*/ 89 w 321"/>
                    <a:gd name="T9" fmla="*/ 4 h 193"/>
                    <a:gd name="T10" fmla="*/ 4 w 321"/>
                    <a:gd name="T11" fmla="*/ 89 h 193"/>
                    <a:gd name="T12" fmla="*/ 1 w 321"/>
                    <a:gd name="T13" fmla="*/ 93 h 193"/>
                    <a:gd name="T14" fmla="*/ 1 w 321"/>
                    <a:gd name="T15" fmla="*/ 101 h 193"/>
                    <a:gd name="T16" fmla="*/ 4 w 321"/>
                    <a:gd name="T17" fmla="*/ 104 h 193"/>
                    <a:gd name="T18" fmla="*/ 89 w 321"/>
                    <a:gd name="T19" fmla="*/ 190 h 193"/>
                    <a:gd name="T20" fmla="*/ 97 w 321"/>
                    <a:gd name="T21" fmla="*/ 193 h 193"/>
                    <a:gd name="T22" fmla="*/ 104 w 321"/>
                    <a:gd name="T23" fmla="*/ 190 h 193"/>
                    <a:gd name="T24" fmla="*/ 104 w 321"/>
                    <a:gd name="T25" fmla="*/ 174 h 193"/>
                    <a:gd name="T26" fmla="*/ 37 w 321"/>
                    <a:gd name="T27" fmla="*/ 107 h 193"/>
                    <a:gd name="T28" fmla="*/ 310 w 321"/>
                    <a:gd name="T29" fmla="*/ 107 h 193"/>
                    <a:gd name="T30" fmla="*/ 321 w 321"/>
                    <a:gd name="T31" fmla="*/ 97 h 193"/>
                    <a:gd name="T32" fmla="*/ 310 w 321"/>
                    <a:gd name="T33" fmla="*/ 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1" h="193">
                      <a:moveTo>
                        <a:pt x="310" y="86"/>
                      </a:moveTo>
                      <a:cubicBezTo>
                        <a:pt x="37" y="86"/>
                        <a:pt x="37" y="86"/>
                        <a:pt x="37" y="86"/>
                      </a:cubicBezTo>
                      <a:cubicBezTo>
                        <a:pt x="104" y="19"/>
                        <a:pt x="104" y="19"/>
                        <a:pt x="104" y="19"/>
                      </a:cubicBezTo>
                      <a:cubicBezTo>
                        <a:pt x="108" y="15"/>
                        <a:pt x="108" y="8"/>
                        <a:pt x="104" y="4"/>
                      </a:cubicBezTo>
                      <a:cubicBezTo>
                        <a:pt x="100" y="0"/>
                        <a:pt x="93" y="0"/>
                        <a:pt x="89" y="4"/>
                      </a:cubicBezTo>
                      <a:cubicBezTo>
                        <a:pt x="4" y="89"/>
                        <a:pt x="4" y="89"/>
                        <a:pt x="4" y="89"/>
                      </a:cubicBezTo>
                      <a:cubicBezTo>
                        <a:pt x="3" y="90"/>
                        <a:pt x="2" y="91"/>
                        <a:pt x="1" y="93"/>
                      </a:cubicBezTo>
                      <a:cubicBezTo>
                        <a:pt x="0" y="95"/>
                        <a:pt x="0" y="98"/>
                        <a:pt x="1" y="101"/>
                      </a:cubicBezTo>
                      <a:cubicBezTo>
                        <a:pt x="2" y="102"/>
                        <a:pt x="3" y="103"/>
                        <a:pt x="4" y="104"/>
                      </a:cubicBezTo>
                      <a:cubicBezTo>
                        <a:pt x="89" y="190"/>
                        <a:pt x="89" y="190"/>
                        <a:pt x="89" y="190"/>
                      </a:cubicBezTo>
                      <a:cubicBezTo>
                        <a:pt x="91" y="192"/>
                        <a:pt x="94" y="193"/>
                        <a:pt x="97" y="193"/>
                      </a:cubicBezTo>
                      <a:cubicBezTo>
                        <a:pt x="99" y="193"/>
                        <a:pt x="102" y="192"/>
                        <a:pt x="104" y="190"/>
                      </a:cubicBezTo>
                      <a:cubicBezTo>
                        <a:pt x="108" y="185"/>
                        <a:pt x="108" y="179"/>
                        <a:pt x="104" y="174"/>
                      </a:cubicBezTo>
                      <a:cubicBezTo>
                        <a:pt x="37" y="107"/>
                        <a:pt x="37" y="107"/>
                        <a:pt x="37" y="107"/>
                      </a:cubicBezTo>
                      <a:cubicBezTo>
                        <a:pt x="310" y="107"/>
                        <a:pt x="310" y="107"/>
                        <a:pt x="310" y="107"/>
                      </a:cubicBezTo>
                      <a:cubicBezTo>
                        <a:pt x="316" y="107"/>
                        <a:pt x="321" y="103"/>
                        <a:pt x="321" y="97"/>
                      </a:cubicBezTo>
                      <a:cubicBezTo>
                        <a:pt x="321" y="91"/>
                        <a:pt x="316" y="86"/>
                        <a:pt x="310" y="86"/>
                      </a:cubicBez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sp>
              <p:nvSpPr>
                <p:cNvPr id="28" name="Freeform 212">
                  <a:hlinkClick r:id="" action="ppaction://hlinkshowjump?jump=previousslide"/>
                </p:cNvPr>
                <p:cNvSpPr>
                  <a:spLocks noEditPoints="1"/>
                </p:cNvSpPr>
                <p:nvPr/>
              </p:nvSpPr>
              <p:spPr bwMode="auto">
                <a:xfrm>
                  <a:off x="1739755" y="155947"/>
                  <a:ext cx="288000" cy="287155"/>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grpSp>
          <p:sp>
            <p:nvSpPr>
              <p:cNvPr id="9" name="LinkHome">
                <a:hlinkClick r:id="rId3" action="ppaction://hlinksldjump"/>
              </p:cNvPr>
              <p:cNvSpPr/>
              <p:nvPr userDrawn="1"/>
            </p:nvSpPr>
            <p:spPr bwMode="gray">
              <a:xfrm>
                <a:off x="6293713" y="4256376"/>
                <a:ext cx="323850" cy="361950"/>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10" name="LinkForward">
                <a:hlinkClick r:id="" action="ppaction://hlinkshowjump?jump=nextslide"/>
              </p:cNvPr>
              <p:cNvSpPr/>
              <p:nvPr userDrawn="1"/>
            </p:nvSpPr>
            <p:spPr bwMode="gray">
              <a:xfrm>
                <a:off x="6875752" y="4256376"/>
                <a:ext cx="323850" cy="361950"/>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11" name="LinkBackward">
                <a:hlinkClick r:id="" action="ppaction://hlinkshowjump?jump=previousslide"/>
              </p:cNvPr>
              <p:cNvSpPr/>
              <p:nvPr userDrawn="1"/>
            </p:nvSpPr>
            <p:spPr bwMode="gray">
              <a:xfrm>
                <a:off x="6580114" y="4256376"/>
                <a:ext cx="323850" cy="361950"/>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grpSp>
        <p:sp>
          <p:nvSpPr>
            <p:cNvPr id="14" name="Freeform 212">
              <a:hlinkClick r:id="" action="ppaction://noaction"/>
            </p:cNvPr>
            <p:cNvSpPr>
              <a:spLocks noEditPoints="1"/>
            </p:cNvSpPr>
            <p:nvPr/>
          </p:nvSpPr>
          <p:spPr bwMode="auto">
            <a:xfrm>
              <a:off x="6299693" y="4312311"/>
              <a:ext cx="288000" cy="28800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grpSp>
      <p:graphicFrame>
        <p:nvGraphicFramePr>
          <p:cNvPr id="19" name="ContentsTable"/>
          <p:cNvGraphicFramePr>
            <a:graphicFrameLocks noGrp="1"/>
          </p:cNvGraphicFramePr>
          <p:nvPr userDrawn="1"/>
        </p:nvGraphicFramePr>
        <p:xfrm>
          <a:off x="601663" y="3449502"/>
          <a:ext cx="3984130" cy="3708400"/>
        </p:xfrm>
        <a:graphic>
          <a:graphicData uri="http://schemas.openxmlformats.org/drawingml/2006/table">
            <a:tbl>
              <a:tblPr>
                <a:tableStyleId>{5C22544A-7EE6-4342-B048-85BDC9FD1C3A}</a:tableStyleId>
              </a:tblPr>
              <a:tblGrid>
                <a:gridCol w="3450025">
                  <a:extLst>
                    <a:ext uri="{9D8B030D-6E8A-4147-A177-3AD203B41FA5}">
                      <a16:colId xmlns:a16="http://schemas.microsoft.com/office/drawing/2014/main" val="20000"/>
                    </a:ext>
                  </a:extLst>
                </a:gridCol>
                <a:gridCol w="534105">
                  <a:extLst>
                    <a:ext uri="{9D8B030D-6E8A-4147-A177-3AD203B41FA5}">
                      <a16:colId xmlns:a16="http://schemas.microsoft.com/office/drawing/2014/main" val="20001"/>
                    </a:ext>
                  </a:extLst>
                </a:gridCol>
              </a:tblGrid>
              <a:tr h="370840">
                <a:tc>
                  <a:txBody>
                    <a:bodyPr/>
                    <a:lstStyle/>
                    <a:p>
                      <a:r>
                        <a:rPr lang="en-GB" sz="1000" b="0" dirty="0">
                          <a:solidFill>
                            <a:schemeClr val="tx1"/>
                          </a:solidFill>
                        </a:rPr>
                        <a:t>Content line 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6</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6</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10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bl>
          </a:graphicData>
        </a:graphic>
      </p:graphicFrame>
      <p:graphicFrame>
        <p:nvGraphicFramePr>
          <p:cNvPr id="20" name="MasterContentsTable"/>
          <p:cNvGraphicFramePr>
            <a:graphicFrameLocks noGrp="1"/>
          </p:cNvGraphicFramePr>
          <p:nvPr userDrawn="1"/>
        </p:nvGraphicFramePr>
        <p:xfrm>
          <a:off x="449263" y="3297102"/>
          <a:ext cx="3984130" cy="5562600"/>
        </p:xfrm>
        <a:graphic>
          <a:graphicData uri="http://schemas.openxmlformats.org/drawingml/2006/table">
            <a:tbl>
              <a:tblPr>
                <a:tableStyleId>{5C22544A-7EE6-4342-B048-85BDC9FD1C3A}</a:tableStyleId>
              </a:tblPr>
              <a:tblGrid>
                <a:gridCol w="3450025">
                  <a:extLst>
                    <a:ext uri="{9D8B030D-6E8A-4147-A177-3AD203B41FA5}">
                      <a16:colId xmlns:a16="http://schemas.microsoft.com/office/drawing/2014/main" val="20000"/>
                    </a:ext>
                  </a:extLst>
                </a:gridCol>
                <a:gridCol w="534105">
                  <a:extLst>
                    <a:ext uri="{9D8B030D-6E8A-4147-A177-3AD203B41FA5}">
                      <a16:colId xmlns:a16="http://schemas.microsoft.com/office/drawing/2014/main" val="20001"/>
                    </a:ext>
                  </a:extLst>
                </a:gridCol>
              </a:tblGrid>
              <a:tr h="370840">
                <a:tc>
                  <a:txBody>
                    <a:bodyPr/>
                    <a:lstStyle/>
                    <a:p>
                      <a:r>
                        <a:rPr lang="en-GB" sz="1000" b="0" dirty="0">
                          <a:solidFill>
                            <a:schemeClr val="tx1"/>
                          </a:solidFill>
                        </a:rPr>
                        <a:t>Content line 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6</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6</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10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3"/>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4"/>
                  </a:ext>
                </a:extLst>
              </a:tr>
            </a:tbl>
          </a:graphicData>
        </a:graphic>
      </p:graphicFrame>
    </p:spTree>
    <p:extLst>
      <p:ext uri="{BB962C8B-B14F-4D97-AF65-F5344CB8AC3E}">
        <p14:creationId xmlns:p14="http://schemas.microsoft.com/office/powerpoint/2010/main" val="2844075035"/>
      </p:ext>
    </p:extLst>
  </p:cSld>
  <p:clrMapOvr>
    <a:masterClrMapping/>
  </p:clrMapOvr>
  <p:transition>
    <p:fade/>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userDrawn="1">
  <p:cSld name="1_Project">
    <p:bg>
      <p:bgPr>
        <a:solidFill>
          <a:schemeClr val="bg1"/>
        </a:solidFill>
        <a:effectLst/>
      </p:bgPr>
    </p:bg>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637139" y="709330"/>
            <a:ext cx="5641636" cy="5641636"/>
          </a:xfrm>
          <a:prstGeom prst="rect">
            <a:avLst/>
          </a:prstGeom>
        </p:spPr>
      </p:pic>
      <p:sp>
        <p:nvSpPr>
          <p:cNvPr id="120835" name="ProjectTitle"/>
          <p:cNvSpPr>
            <a:spLocks noGrp="1"/>
          </p:cNvSpPr>
          <p:nvPr>
            <p:ph type="ctrTitle"/>
          </p:nvPr>
        </p:nvSpPr>
        <p:spPr bwMode="gray">
          <a:xfrm>
            <a:off x="449264" y="6083447"/>
            <a:ext cx="4716462" cy="357150"/>
          </a:xfrm>
          <a:prstGeom prst="rect">
            <a:avLst/>
          </a:prstGeom>
        </p:spPr>
        <p:txBody>
          <a:bodyPr lIns="0" tIns="0" rIns="0" bIns="0" anchor="b" anchorCtr="0">
            <a:noAutofit/>
          </a:bodyPr>
          <a:lstStyle>
            <a:lvl1pPr>
              <a:lnSpc>
                <a:spcPct val="100000"/>
              </a:lnSpc>
              <a:defRPr lang="en-GB" sz="2159" b="1" kern="1200" noProof="0" dirty="0" smtClean="0">
                <a:solidFill>
                  <a:schemeClr val="tx1"/>
                </a:solidFill>
                <a:latin typeface="+mj-lt"/>
                <a:ea typeface="Verdana" panose="020B0604030504040204" pitchFamily="34" charset="0"/>
                <a:cs typeface="Verdana" panose="020B0604030504040204" pitchFamily="34" charset="0"/>
              </a:defRPr>
            </a:lvl1pPr>
          </a:lstStyle>
          <a:p>
            <a:r>
              <a:rPr lang="en-GB" noProof="0" dirty="0"/>
              <a:t>Click to edit Master title style</a:t>
            </a:r>
          </a:p>
        </p:txBody>
      </p:sp>
      <p:sp>
        <p:nvSpPr>
          <p:cNvPr id="120836" name="Text Placeholder 2"/>
          <p:cNvSpPr>
            <a:spLocks noGrp="1"/>
          </p:cNvSpPr>
          <p:nvPr>
            <p:ph type="subTitle" idx="1"/>
          </p:nvPr>
        </p:nvSpPr>
        <p:spPr bwMode="gray">
          <a:xfrm>
            <a:off x="449264" y="6464415"/>
            <a:ext cx="4716462" cy="559535"/>
          </a:xfrm>
          <a:prstGeom prst="rect">
            <a:avLst/>
          </a:prstGeom>
        </p:spPr>
        <p:txBody>
          <a:bodyPr wrap="square" lIns="0" tIns="0" rIns="0" bIns="0">
            <a:noAutofit/>
          </a:bodyPr>
          <a:lstStyle>
            <a:lvl1pPr marL="0" indent="0" algn="l" defTabSz="1069116" rtl="0" eaLnBrk="1" latinLnBrk="0" hangingPunct="1">
              <a:lnSpc>
                <a:spcPct val="100000"/>
              </a:lnSpc>
              <a:spcBef>
                <a:spcPts val="0"/>
              </a:spcBef>
              <a:spcAft>
                <a:spcPts val="0"/>
              </a:spcAft>
              <a:buClrTx/>
              <a:buSzPct val="100000"/>
              <a:buFont typeface="Arial" panose="020B0604020202020204" pitchFamily="34" charset="0"/>
              <a:buNone/>
              <a:defRPr lang="en-GB" sz="1835" b="0" kern="1200" noProof="0" dirty="0" smtClean="0">
                <a:solidFill>
                  <a:schemeClr val="tx1"/>
                </a:solidFill>
                <a:latin typeface="+mn-lt"/>
                <a:ea typeface="+mn-ea"/>
                <a:cs typeface="+mn-cs"/>
              </a:defRPr>
            </a:lvl1pPr>
          </a:lstStyle>
          <a:p>
            <a:r>
              <a:rPr lang="en-GB" noProof="0" dirty="0"/>
              <a:t>Click to edit Master subtitle style</a:t>
            </a:r>
          </a:p>
        </p:txBody>
      </p:sp>
      <p:sp>
        <p:nvSpPr>
          <p:cNvPr id="8" name="Text Placeholder 7"/>
          <p:cNvSpPr>
            <a:spLocks noGrp="1"/>
          </p:cNvSpPr>
          <p:nvPr>
            <p:ph type="body" sz="quarter" idx="11"/>
          </p:nvPr>
        </p:nvSpPr>
        <p:spPr>
          <a:xfrm>
            <a:off x="449263" y="7137399"/>
            <a:ext cx="4716462" cy="194733"/>
          </a:xfrm>
          <a:prstGeom prst="rect">
            <a:avLst/>
          </a:prstGeom>
        </p:spPr>
        <p:txBody>
          <a:bodyPr lIns="0" tIns="0" rIns="0" bIns="0" anchor="t" anchorCtr="0">
            <a:noAutofit/>
          </a:bodyPr>
          <a:lstStyle>
            <a:lvl1pPr>
              <a:spcBef>
                <a:spcPts val="0"/>
              </a:spcBef>
              <a:spcAft>
                <a:spcPts val="1189"/>
              </a:spcAft>
              <a:defRPr lang="en-GB" sz="1133" b="0" kern="1200" noProof="0" dirty="0" smtClean="0">
                <a:solidFill>
                  <a:schemeClr val="tx1"/>
                </a:solidFill>
                <a:latin typeface="+mn-lt"/>
                <a:ea typeface="+mn-ea"/>
                <a:cs typeface="+mn-cs"/>
              </a:defRPr>
            </a:lvl1pPr>
          </a:lstStyle>
          <a:p>
            <a:pPr lvl="0"/>
            <a:r>
              <a:rPr lang="en-GB" noProof="0" dirty="0"/>
              <a:t>Click to edit Master text styles</a:t>
            </a:r>
          </a:p>
        </p:txBody>
      </p:sp>
      <p:sp>
        <p:nvSpPr>
          <p:cNvPr id="19" name="Text Placeholder 5"/>
          <p:cNvSpPr>
            <a:spLocks noGrp="1"/>
          </p:cNvSpPr>
          <p:nvPr>
            <p:ph type="body" sz="quarter" idx="13" hasCustomPrompt="1"/>
          </p:nvPr>
        </p:nvSpPr>
        <p:spPr>
          <a:xfrm>
            <a:off x="5524499" y="7155912"/>
            <a:ext cx="4716464" cy="116955"/>
          </a:xfrm>
          <a:prstGeom prst="rect">
            <a:avLst/>
          </a:prstGeom>
        </p:spPr>
        <p:txBody>
          <a:bodyPr wrap="square" anchor="b" anchorCtr="0">
            <a:spAutoFit/>
          </a:bodyPr>
          <a:lstStyle>
            <a:lvl1pPr algn="r">
              <a:defRPr lang="en-US" sz="760" b="1" kern="1200" dirty="0" smtClean="0">
                <a:solidFill>
                  <a:schemeClr val="tx1"/>
                </a:solidFill>
                <a:latin typeface="+mn-lt"/>
                <a:ea typeface="+mn-ea"/>
                <a:cs typeface="Verdana" panose="020B0604030504040204" pitchFamily="34" charset="0"/>
              </a:defRPr>
            </a:lvl1pPr>
          </a:lstStyle>
          <a:p>
            <a:pPr lvl="0"/>
            <a:r>
              <a:rPr lang="en-US" dirty="0"/>
              <a:t>[Confidentiality statement]</a:t>
            </a:r>
          </a:p>
        </p:txBody>
      </p:sp>
      <p:grpSp>
        <p:nvGrpSpPr>
          <p:cNvPr id="20" name="Group 6"/>
          <p:cNvGrpSpPr>
            <a:grpSpLocks noChangeAspect="1"/>
          </p:cNvGrpSpPr>
          <p:nvPr userDrawn="1"/>
        </p:nvGrpSpPr>
        <p:grpSpPr>
          <a:xfrm>
            <a:off x="449263" y="285583"/>
            <a:ext cx="2020500" cy="362117"/>
            <a:chOff x="398463" y="404813"/>
            <a:chExt cx="1627187" cy="307976"/>
          </a:xfrm>
          <a:solidFill>
            <a:schemeClr val="tx1"/>
          </a:solidFill>
        </p:grpSpPr>
        <p:sp>
          <p:nvSpPr>
            <p:cNvPr id="21" name="Oval 20"/>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22"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23"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24"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25"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26"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27"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28"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29"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0"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grpSp>
    </p:spTree>
    <p:extLst>
      <p:ext uri="{BB962C8B-B14F-4D97-AF65-F5344CB8AC3E}">
        <p14:creationId xmlns:p14="http://schemas.microsoft.com/office/powerpoint/2010/main" val="2317551011"/>
      </p:ext>
    </p:extLst>
  </p:cSld>
  <p:clrMapOvr>
    <a:masterClrMapping/>
  </p:clrMapOvr>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userDrawn="1">
  <p:cSld name="Divider - Deloitte green">
    <p:bg bwMode="gray">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439925" y="1880185"/>
            <a:ext cx="9243963" cy="1755330"/>
          </a:xfrm>
        </p:spPr>
        <p:txBody>
          <a:bodyPr anchor="b"/>
          <a:lstStyle>
            <a:lvl1pPr>
              <a:lnSpc>
                <a:spcPct val="95000"/>
              </a:lnSpc>
              <a:defRPr sz="3898" b="1">
                <a:solidFill>
                  <a:schemeClr val="bg1"/>
                </a:solidFill>
                <a:latin typeface="+mj-lt"/>
                <a:ea typeface="Open Sans" panose="020B0606030504020204" pitchFamily="34" charset="0"/>
                <a:cs typeface="Open Sans" panose="020B0606030504020204" pitchFamily="34" charset="0"/>
              </a:defRPr>
            </a:lvl1pPr>
          </a:lstStyle>
          <a:p>
            <a:r>
              <a:rPr lang="en-US" noProof="0" dirty="0"/>
              <a:t>Click to edit Master title style</a:t>
            </a:r>
          </a:p>
        </p:txBody>
      </p:sp>
      <p:sp>
        <p:nvSpPr>
          <p:cNvPr id="3" name="Text Placeholder 2"/>
          <p:cNvSpPr>
            <a:spLocks noGrp="1"/>
          </p:cNvSpPr>
          <p:nvPr>
            <p:ph type="body" idx="1"/>
          </p:nvPr>
        </p:nvSpPr>
        <p:spPr bwMode="gray">
          <a:xfrm>
            <a:off x="439925" y="3779838"/>
            <a:ext cx="9243963" cy="1726812"/>
          </a:xfrm>
        </p:spPr>
        <p:txBody>
          <a:bodyPr lIns="0" tIns="0" rIns="0" bIns="0">
            <a:noAutofit/>
          </a:bodyPr>
          <a:lstStyle>
            <a:lvl1pPr marL="0" indent="0">
              <a:lnSpc>
                <a:spcPct val="95000"/>
              </a:lnSpc>
              <a:spcAft>
                <a:spcPts val="0"/>
              </a:spcAft>
              <a:buNone/>
              <a:defRPr sz="3898">
                <a:solidFill>
                  <a:schemeClr val="bg1"/>
                </a:solidFill>
              </a:defRPr>
            </a:lvl1pPr>
            <a:lvl2pPr marL="503998" indent="0">
              <a:buNone/>
              <a:defRPr sz="2205">
                <a:solidFill>
                  <a:schemeClr val="tx1">
                    <a:tint val="75000"/>
                  </a:schemeClr>
                </a:solidFill>
              </a:defRPr>
            </a:lvl2pPr>
            <a:lvl3pPr marL="1007997" indent="0">
              <a:buNone/>
              <a:defRPr sz="1984">
                <a:solidFill>
                  <a:schemeClr val="tx1">
                    <a:tint val="75000"/>
                  </a:schemeClr>
                </a:solidFill>
              </a:defRPr>
            </a:lvl3pPr>
            <a:lvl4pPr marL="1511995" indent="0">
              <a:buNone/>
              <a:defRPr sz="1763">
                <a:solidFill>
                  <a:schemeClr val="tx1">
                    <a:tint val="75000"/>
                  </a:schemeClr>
                </a:solidFill>
              </a:defRPr>
            </a:lvl4pPr>
            <a:lvl5pPr marL="2015994" indent="0">
              <a:buNone/>
              <a:defRPr sz="1763">
                <a:solidFill>
                  <a:schemeClr val="tx1">
                    <a:tint val="75000"/>
                  </a:schemeClr>
                </a:solidFill>
              </a:defRPr>
            </a:lvl5pPr>
            <a:lvl6pPr marL="2519993" indent="0">
              <a:buNone/>
              <a:defRPr sz="1763">
                <a:solidFill>
                  <a:schemeClr val="tx1">
                    <a:tint val="75000"/>
                  </a:schemeClr>
                </a:solidFill>
              </a:defRPr>
            </a:lvl6pPr>
            <a:lvl7pPr marL="3023991" indent="0">
              <a:buNone/>
              <a:defRPr sz="1763">
                <a:solidFill>
                  <a:schemeClr val="tx1">
                    <a:tint val="75000"/>
                  </a:schemeClr>
                </a:solidFill>
              </a:defRPr>
            </a:lvl7pPr>
            <a:lvl8pPr marL="3527989" indent="0">
              <a:buNone/>
              <a:defRPr sz="1763">
                <a:solidFill>
                  <a:schemeClr val="tx1">
                    <a:tint val="75000"/>
                  </a:schemeClr>
                </a:solidFill>
              </a:defRPr>
            </a:lvl8pPr>
            <a:lvl9pPr marL="4031988" indent="0">
              <a:buNone/>
              <a:defRPr sz="1763">
                <a:solidFill>
                  <a:schemeClr val="tx1">
                    <a:tint val="75000"/>
                  </a:schemeClr>
                </a:solidFill>
              </a:defRPr>
            </a:lvl9pPr>
          </a:lstStyle>
          <a:p>
            <a:pPr lvl="0"/>
            <a:r>
              <a:rPr lang="en-US" noProof="0" dirty="0"/>
              <a:t>Click to edit Master text styles</a:t>
            </a:r>
          </a:p>
        </p:txBody>
      </p:sp>
      <p:sp>
        <p:nvSpPr>
          <p:cNvPr id="7" name="TextBox 6"/>
          <p:cNvSpPr txBox="1"/>
          <p:nvPr userDrawn="1"/>
        </p:nvSpPr>
        <p:spPr>
          <a:xfrm>
            <a:off x="439924" y="7139694"/>
            <a:ext cx="4696231" cy="110305"/>
          </a:xfrm>
          <a:prstGeom prst="rect">
            <a:avLst/>
          </a:prstGeom>
          <a:noFill/>
        </p:spPr>
        <p:txBody>
          <a:bodyPr wrap="square" lIns="0" tIns="0" rIns="0" bIns="0" rtlCol="0">
            <a:spAutoFit/>
          </a:bodyPr>
          <a:lstStyle/>
          <a:p>
            <a:pPr>
              <a:spcBef>
                <a:spcPts val="662"/>
              </a:spcBef>
              <a:buSzPct val="100000"/>
              <a:buFont typeface="Arial"/>
              <a:buNone/>
            </a:pPr>
            <a:r>
              <a:rPr lang="fr-FR" sz="717" dirty="0">
                <a:solidFill>
                  <a:prstClr val="white"/>
                </a:solidFill>
              </a:rPr>
              <a:t>© 2020</a:t>
            </a:r>
            <a:r>
              <a:rPr lang="fr-FR" sz="717" baseline="0" dirty="0">
                <a:solidFill>
                  <a:prstClr val="white"/>
                </a:solidFill>
              </a:rPr>
              <a:t> </a:t>
            </a:r>
            <a:r>
              <a:rPr lang="fr-FR" sz="717" dirty="0">
                <a:solidFill>
                  <a:prstClr val="white"/>
                </a:solidFill>
              </a:rPr>
              <a:t>Deloitte Touche Tohmatsu India LLP</a:t>
            </a:r>
          </a:p>
        </p:txBody>
      </p:sp>
      <p:sp>
        <p:nvSpPr>
          <p:cNvPr id="8" name="TextBox 7"/>
          <p:cNvSpPr txBox="1"/>
          <p:nvPr userDrawn="1"/>
        </p:nvSpPr>
        <p:spPr>
          <a:xfrm>
            <a:off x="9981812" y="7139694"/>
            <a:ext cx="270079" cy="110305"/>
          </a:xfrm>
          <a:prstGeom prst="rect">
            <a:avLst/>
          </a:prstGeom>
          <a:noFill/>
        </p:spPr>
        <p:txBody>
          <a:bodyPr wrap="square" lIns="0" tIns="0" rIns="0" bIns="0" rtlCol="0">
            <a:spAutoFit/>
          </a:bodyPr>
          <a:lstStyle/>
          <a:p>
            <a:pPr algn="r">
              <a:spcBef>
                <a:spcPts val="662"/>
              </a:spcBef>
              <a:buSzPct val="100000"/>
              <a:buFont typeface="Arial"/>
              <a:buNone/>
            </a:pPr>
            <a:fld id="{C58DF478-B544-4ED8-9ED4-6A2648E2D233}" type="slidenum">
              <a:rPr lang="en-US" sz="717" smtClean="0">
                <a:solidFill>
                  <a:prstClr val="white"/>
                </a:solidFill>
              </a:rPr>
              <a:pPr algn="r">
                <a:spcBef>
                  <a:spcPts val="662"/>
                </a:spcBef>
                <a:buSzPct val="100000"/>
                <a:buFont typeface="Arial"/>
                <a:buNone/>
              </a:pPr>
              <a:t>‹#›</a:t>
            </a:fld>
            <a:endParaRPr lang="en-US" sz="717" dirty="0">
              <a:solidFill>
                <a:prstClr val="white"/>
              </a:solidFill>
            </a:endParaRPr>
          </a:p>
        </p:txBody>
      </p:sp>
    </p:spTree>
    <p:extLst>
      <p:ext uri="{BB962C8B-B14F-4D97-AF65-F5344CB8AC3E}">
        <p14:creationId xmlns:p14="http://schemas.microsoft.com/office/powerpoint/2010/main" val="1557128917"/>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9" name="Text Placeholder 8"/>
          <p:cNvSpPr>
            <a:spLocks noGrp="1"/>
          </p:cNvSpPr>
          <p:nvPr>
            <p:ph type="body" sz="quarter" idx="13" hasCustomPrompt="1"/>
          </p:nvPr>
        </p:nvSpPr>
        <p:spPr>
          <a:xfrm>
            <a:off x="449264" y="1079500"/>
            <a:ext cx="9791700" cy="518400"/>
          </a:xfrm>
          <a:prstGeom prst="rect">
            <a:avLst/>
          </a:prstGeom>
        </p:spPr>
        <p:txBody>
          <a:bodyPr lIns="0" tIns="0" rIns="0" bIns="0">
            <a:noAutofit/>
          </a:bodyPr>
          <a:lstStyle>
            <a:lvl1pPr marL="0" indent="0">
              <a:buNone/>
              <a:defRPr sz="1400" b="0">
                <a:solidFill>
                  <a:srgbClr val="575757"/>
                </a:solidFill>
              </a:defRPr>
            </a:lvl1pPr>
          </a:lstStyle>
          <a:p>
            <a:pPr lvl="0"/>
            <a:r>
              <a:rPr lang="en-US" dirty="0"/>
              <a:t>Click to add subtitle</a:t>
            </a:r>
          </a:p>
        </p:txBody>
      </p:sp>
      <p:sp>
        <p:nvSpPr>
          <p:cNvPr id="14" name="Title Placeholder 1"/>
          <p:cNvSpPr>
            <a:spLocks noGrp="1"/>
          </p:cNvSpPr>
          <p:nvPr>
            <p:ph type="title"/>
          </p:nvPr>
        </p:nvSpPr>
        <p:spPr>
          <a:xfrm>
            <a:off x="449263" y="647700"/>
            <a:ext cx="9791700" cy="432000"/>
          </a:xfrm>
          <a:prstGeom prst="rect">
            <a:avLst/>
          </a:prstGeom>
        </p:spPr>
        <p:txBody>
          <a:bodyPr vert="horz" lIns="0" tIns="0" rIns="0" bIns="0" rtlCol="0" anchor="t" anchorCtr="0">
            <a:noAutofit/>
          </a:bodyPr>
          <a:lstStyle>
            <a:lvl1pPr>
              <a:defRPr/>
            </a:lvl1pPr>
          </a:lstStyle>
          <a:p>
            <a:r>
              <a:rPr lang="en-US" noProof="0" dirty="0"/>
              <a:t>Click to edit Master title style</a:t>
            </a:r>
          </a:p>
        </p:txBody>
      </p:sp>
    </p:spTree>
    <p:extLst>
      <p:ext uri="{BB962C8B-B14F-4D97-AF65-F5344CB8AC3E}">
        <p14:creationId xmlns:p14="http://schemas.microsoft.com/office/powerpoint/2010/main" val="4230446990"/>
      </p:ext>
    </p:extLst>
  </p:cSld>
  <p:clrMapOvr>
    <a:masterClrMapping/>
  </p:clrMapOvr>
  <p:transition>
    <p:fade/>
  </p:transition>
  <p:extLst>
    <p:ext uri="{DCECCB84-F9BA-43D5-87BE-67443E8EF086}">
      <p15:sldGuideLst xmlns:p15="http://schemas.microsoft.com/office/powerpoint/2012/main"/>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SectionDivider">
    <p:spTree>
      <p:nvGrpSpPr>
        <p:cNvPr id="1" name=""/>
        <p:cNvGrpSpPr/>
        <p:nvPr/>
      </p:nvGrpSpPr>
      <p:grpSpPr>
        <a:xfrm>
          <a:off x="0" y="0"/>
          <a:ext cx="0" cy="0"/>
          <a:chOff x="0" y="0"/>
          <a:chExt cx="0" cy="0"/>
        </a:xfrm>
      </p:grpSpPr>
      <p:sp>
        <p:nvSpPr>
          <p:cNvPr id="7" name="Title Placeholder 1"/>
          <p:cNvSpPr>
            <a:spLocks noGrp="1"/>
          </p:cNvSpPr>
          <p:nvPr>
            <p:ph type="title" hasCustomPrompt="1"/>
          </p:nvPr>
        </p:nvSpPr>
        <p:spPr>
          <a:xfrm>
            <a:off x="449264" y="647700"/>
            <a:ext cx="9791700" cy="431800"/>
          </a:xfrm>
          <a:prstGeom prst="rect">
            <a:avLst/>
          </a:prstGeom>
        </p:spPr>
        <p:txBody>
          <a:bodyPr vert="horz" lIns="0" tIns="0" rIns="0" bIns="0" rtlCol="0" anchor="t" anchorCtr="0">
            <a:noAutofit/>
          </a:bodyPr>
          <a:lstStyle>
            <a:lvl1pPr>
              <a:defRPr/>
            </a:lvl1pPr>
          </a:lstStyle>
          <a:p>
            <a:r>
              <a:rPr lang="en-US" dirty="0"/>
              <a:t>Click to add title</a:t>
            </a:r>
          </a:p>
        </p:txBody>
      </p:sp>
    </p:spTree>
    <p:extLst>
      <p:ext uri="{BB962C8B-B14F-4D97-AF65-F5344CB8AC3E}">
        <p14:creationId xmlns:p14="http://schemas.microsoft.com/office/powerpoint/2010/main" val="2045942889"/>
      </p:ext>
    </p:extLst>
  </p:cSld>
  <p:clrMapOvr>
    <a:masterClrMapping/>
  </p:clrMapOvr>
  <p:transition>
    <p:fade/>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reserve="1" userDrawn="1">
  <p:cSld name="Empty+Logo">
    <p:spTree>
      <p:nvGrpSpPr>
        <p:cNvPr id="1" name=""/>
        <p:cNvGrpSpPr/>
        <p:nvPr/>
      </p:nvGrpSpPr>
      <p:grpSpPr>
        <a:xfrm>
          <a:off x="0" y="0"/>
          <a:ext cx="0" cy="0"/>
          <a:chOff x="0" y="0"/>
          <a:chExt cx="0" cy="0"/>
        </a:xfrm>
      </p:grpSpPr>
      <p:grpSp>
        <p:nvGrpSpPr>
          <p:cNvPr id="16" name="Group 6"/>
          <p:cNvGrpSpPr>
            <a:grpSpLocks noChangeAspect="1"/>
          </p:cNvGrpSpPr>
          <p:nvPr userDrawn="1"/>
        </p:nvGrpSpPr>
        <p:grpSpPr>
          <a:xfrm>
            <a:off x="449263" y="285583"/>
            <a:ext cx="2020500" cy="362117"/>
            <a:chOff x="398463" y="404813"/>
            <a:chExt cx="1627187" cy="307976"/>
          </a:xfrm>
          <a:solidFill>
            <a:schemeClr val="tx1"/>
          </a:solidFill>
        </p:grpSpPr>
        <p:sp>
          <p:nvSpPr>
            <p:cNvPr id="17" name="Oval 16"/>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18"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19"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1"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2"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3"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4"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5"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6"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7"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grpSp>
    </p:spTree>
    <p:extLst>
      <p:ext uri="{BB962C8B-B14F-4D97-AF65-F5344CB8AC3E}">
        <p14:creationId xmlns:p14="http://schemas.microsoft.com/office/powerpoint/2010/main" val="797332570"/>
      </p:ext>
    </p:extLst>
  </p:cSld>
  <p:clrMapOvr>
    <a:masterClrMapping/>
  </p:clrMapOvr>
  <p:transition>
    <p:fade/>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Empty">
    <p:spTree>
      <p:nvGrpSpPr>
        <p:cNvPr id="1" name=""/>
        <p:cNvGrpSpPr/>
        <p:nvPr/>
      </p:nvGrpSpPr>
      <p:grpSpPr>
        <a:xfrm>
          <a:off x="0" y="0"/>
          <a:ext cx="0" cy="0"/>
          <a:chOff x="0" y="0"/>
          <a:chExt cx="0" cy="0"/>
        </a:xfrm>
      </p:grpSpPr>
    </p:spTree>
    <p:extLst>
      <p:ext uri="{BB962C8B-B14F-4D97-AF65-F5344CB8AC3E}">
        <p14:creationId xmlns:p14="http://schemas.microsoft.com/office/powerpoint/2010/main" val="2224748613"/>
      </p:ext>
    </p:extLst>
  </p:cSld>
  <p:clrMapOvr>
    <a:masterClrMapping/>
  </p:clrMapOvr>
  <p:transition>
    <p:fade/>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Graphics">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735013" y="403225"/>
            <a:ext cx="9221787" cy="435871"/>
          </a:xfrm>
          <a:prstGeom prst="rect">
            <a:avLst/>
          </a:prstGeom>
        </p:spPr>
        <p:txBody>
          <a:bodyPr/>
          <a:lstStyle>
            <a:lvl1pPr>
              <a:defRPr/>
            </a:lvl1pPr>
          </a:lstStyle>
          <a:p>
            <a:r>
              <a:rPr lang="en-US" dirty="0"/>
              <a:t>Icons, other graphics &amp; </a:t>
            </a:r>
            <a:r>
              <a:rPr lang="en-US" dirty="0" err="1"/>
              <a:t>misc</a:t>
            </a:r>
            <a:r>
              <a:rPr lang="en-US" dirty="0"/>
              <a:t> placeholders</a:t>
            </a:r>
            <a:endParaRPr lang="en-GB" dirty="0"/>
          </a:p>
        </p:txBody>
      </p:sp>
      <p:graphicFrame>
        <p:nvGraphicFramePr>
          <p:cNvPr id="63" name="NavigationTable"/>
          <p:cNvGraphicFramePr>
            <a:graphicFrameLocks/>
          </p:cNvGraphicFramePr>
          <p:nvPr userDrawn="1"/>
        </p:nvGraphicFramePr>
        <p:xfrm>
          <a:off x="449262" y="2522487"/>
          <a:ext cx="8813961" cy="359610"/>
        </p:xfrm>
        <a:graphic>
          <a:graphicData uri="http://schemas.openxmlformats.org/drawingml/2006/table">
            <a:tbl>
              <a:tblPr>
                <a:tableStyleId>{5C22544A-7EE6-4342-B048-85BDC9FD1C3A}</a:tableStyleId>
              </a:tblPr>
              <a:tblGrid>
                <a:gridCol w="979329">
                  <a:extLst>
                    <a:ext uri="{9D8B030D-6E8A-4147-A177-3AD203B41FA5}">
                      <a16:colId xmlns:a16="http://schemas.microsoft.com/office/drawing/2014/main" val="20000"/>
                    </a:ext>
                  </a:extLst>
                </a:gridCol>
                <a:gridCol w="979329">
                  <a:extLst>
                    <a:ext uri="{9D8B030D-6E8A-4147-A177-3AD203B41FA5}">
                      <a16:colId xmlns:a16="http://schemas.microsoft.com/office/drawing/2014/main" val="20001"/>
                    </a:ext>
                  </a:extLst>
                </a:gridCol>
                <a:gridCol w="979329">
                  <a:extLst>
                    <a:ext uri="{9D8B030D-6E8A-4147-A177-3AD203B41FA5}">
                      <a16:colId xmlns:a16="http://schemas.microsoft.com/office/drawing/2014/main" val="20002"/>
                    </a:ext>
                  </a:extLst>
                </a:gridCol>
                <a:gridCol w="979329">
                  <a:extLst>
                    <a:ext uri="{9D8B030D-6E8A-4147-A177-3AD203B41FA5}">
                      <a16:colId xmlns:a16="http://schemas.microsoft.com/office/drawing/2014/main" val="20003"/>
                    </a:ext>
                  </a:extLst>
                </a:gridCol>
                <a:gridCol w="979329">
                  <a:extLst>
                    <a:ext uri="{9D8B030D-6E8A-4147-A177-3AD203B41FA5}">
                      <a16:colId xmlns:a16="http://schemas.microsoft.com/office/drawing/2014/main" val="20004"/>
                    </a:ext>
                  </a:extLst>
                </a:gridCol>
                <a:gridCol w="979329">
                  <a:extLst>
                    <a:ext uri="{9D8B030D-6E8A-4147-A177-3AD203B41FA5}">
                      <a16:colId xmlns:a16="http://schemas.microsoft.com/office/drawing/2014/main" val="20005"/>
                    </a:ext>
                  </a:extLst>
                </a:gridCol>
                <a:gridCol w="979329">
                  <a:extLst>
                    <a:ext uri="{9D8B030D-6E8A-4147-A177-3AD203B41FA5}">
                      <a16:colId xmlns:a16="http://schemas.microsoft.com/office/drawing/2014/main" val="20006"/>
                    </a:ext>
                  </a:extLst>
                </a:gridCol>
                <a:gridCol w="979329">
                  <a:extLst>
                    <a:ext uri="{9D8B030D-6E8A-4147-A177-3AD203B41FA5}">
                      <a16:colId xmlns:a16="http://schemas.microsoft.com/office/drawing/2014/main" val="20007"/>
                    </a:ext>
                  </a:extLst>
                </a:gridCol>
                <a:gridCol w="979329">
                  <a:extLst>
                    <a:ext uri="{9D8B030D-6E8A-4147-A177-3AD203B41FA5}">
                      <a16:colId xmlns:a16="http://schemas.microsoft.com/office/drawing/2014/main" val="20008"/>
                    </a:ext>
                  </a:extLst>
                </a:gridCol>
              </a:tblGrid>
              <a:tr h="359610">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bg1"/>
                          </a:solidFill>
                          <a:effectLst/>
                          <a:latin typeface="+mn-lt"/>
                          <a:cs typeface="Arial" charset="0"/>
                        </a:rPr>
                        <a:t>Section 1</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2</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3</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4</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5</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6</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7</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8</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tc>
                  <a:txBody>
                    <a:bodyPr/>
                    <a:lstStyle/>
                    <a:p>
                      <a:pPr marL="0" marR="0" lvl="0" indent="0" algn="l" defTabSz="914400" rtl="0" eaLnBrk="1" fontAlgn="base" latinLnBrk="0" hangingPunct="1">
                        <a:lnSpc>
                          <a:spcPct val="100000"/>
                        </a:lnSpc>
                        <a:spcBef>
                          <a:spcPct val="0"/>
                        </a:spcBef>
                        <a:spcAft>
                          <a:spcPct val="35000"/>
                        </a:spcAft>
                        <a:buClrTx/>
                        <a:buSzTx/>
                        <a:buFontTx/>
                        <a:buNone/>
                        <a:tabLst>
                          <a:tab pos="5715000" algn="l"/>
                        </a:tabLst>
                      </a:pPr>
                      <a:r>
                        <a:rPr kumimoji="0" lang="en-GB" sz="800" b="0" i="0" u="none" strike="noStrike" cap="none" normalizeH="0" baseline="0" noProof="0" dirty="0">
                          <a:ln>
                            <a:noFill/>
                          </a:ln>
                          <a:solidFill>
                            <a:schemeClr val="tx1"/>
                          </a:solidFill>
                          <a:effectLst/>
                          <a:latin typeface="+mn-lt"/>
                          <a:cs typeface="Arial" charset="0"/>
                        </a:rPr>
                        <a:t>Section 9</a:t>
                      </a:r>
                    </a:p>
                  </a:txBody>
                  <a:tcPr marL="72000" marR="72000" marT="36000" marB="36000" anchor="ctr" horzOverflow="overflow">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25400" cmpd="sng">
                      <a:solidFill>
                        <a:srgbClr val="FFFFFF"/>
                      </a:solidFill>
                    </a:lnT>
                    <a:lnB w="25400" cap="flat" cmpd="sng" algn="ctr">
                      <a:solidFill>
                        <a:srgbClr val="FFFFFF"/>
                      </a:solidFill>
                      <a:prstDash val="solid"/>
                      <a:round/>
                      <a:headEnd type="none" w="med" len="med"/>
                      <a:tailEnd type="none" w="med" len="med"/>
                    </a:lnB>
                    <a:solidFill>
                      <a:srgbClr val="046A38"/>
                    </a:solidFill>
                  </a:tcPr>
                </a:tc>
                <a:extLst>
                  <a:ext uri="{0D108BD9-81ED-4DB2-BD59-A6C34878D82A}">
                    <a16:rowId xmlns:a16="http://schemas.microsoft.com/office/drawing/2014/main" val="10000"/>
                  </a:ext>
                </a:extLst>
              </a:tr>
            </a:tbl>
          </a:graphicData>
        </a:graphic>
      </p:graphicFrame>
      <p:grpSp>
        <p:nvGrpSpPr>
          <p:cNvPr id="37" name="MasterNavigationGroup"/>
          <p:cNvGrpSpPr/>
          <p:nvPr userDrawn="1"/>
        </p:nvGrpSpPr>
        <p:grpSpPr>
          <a:xfrm>
            <a:off x="5979677" y="3739139"/>
            <a:ext cx="905889" cy="361950"/>
            <a:chOff x="6293713" y="4256376"/>
            <a:chExt cx="905889" cy="361950"/>
          </a:xfrm>
        </p:grpSpPr>
        <p:pic>
          <p:nvPicPr>
            <p:cNvPr id="35" name="Picture 3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49394" y="4354513"/>
              <a:ext cx="183024" cy="183024"/>
            </a:xfrm>
            <a:prstGeom prst="rect">
              <a:avLst/>
            </a:prstGeom>
          </p:spPr>
        </p:pic>
        <p:grpSp>
          <p:nvGrpSpPr>
            <p:cNvPr id="36" name="Group 35"/>
            <p:cNvGrpSpPr/>
            <p:nvPr userDrawn="1"/>
          </p:nvGrpSpPr>
          <p:grpSpPr>
            <a:xfrm>
              <a:off x="6293713" y="4256376"/>
              <a:ext cx="905889" cy="361950"/>
              <a:chOff x="6293713" y="4256376"/>
              <a:chExt cx="905889" cy="361950"/>
            </a:xfrm>
          </p:grpSpPr>
          <p:grpSp>
            <p:nvGrpSpPr>
              <p:cNvPr id="6" name="Group 5"/>
              <p:cNvGrpSpPr/>
              <p:nvPr/>
            </p:nvGrpSpPr>
            <p:grpSpPr>
              <a:xfrm>
                <a:off x="6911602" y="4312312"/>
                <a:ext cx="288000" cy="287155"/>
                <a:chOff x="5840121" y="174998"/>
                <a:chExt cx="288000" cy="287155"/>
              </a:xfrm>
            </p:grpSpPr>
            <p:sp>
              <p:nvSpPr>
                <p:cNvPr id="29" name="Freeform 211"/>
                <p:cNvSpPr>
                  <a:spLocks/>
                </p:cNvSpPr>
                <p:nvPr/>
              </p:nvSpPr>
              <p:spPr bwMode="auto">
                <a:xfrm rot="10800000">
                  <a:off x="5894174" y="264523"/>
                  <a:ext cx="180739" cy="108105"/>
                </a:xfrm>
                <a:custGeom>
                  <a:avLst/>
                  <a:gdLst>
                    <a:gd name="T0" fmla="*/ 310 w 321"/>
                    <a:gd name="T1" fmla="*/ 86 h 193"/>
                    <a:gd name="T2" fmla="*/ 37 w 321"/>
                    <a:gd name="T3" fmla="*/ 86 h 193"/>
                    <a:gd name="T4" fmla="*/ 104 w 321"/>
                    <a:gd name="T5" fmla="*/ 19 h 193"/>
                    <a:gd name="T6" fmla="*/ 104 w 321"/>
                    <a:gd name="T7" fmla="*/ 4 h 193"/>
                    <a:gd name="T8" fmla="*/ 89 w 321"/>
                    <a:gd name="T9" fmla="*/ 4 h 193"/>
                    <a:gd name="T10" fmla="*/ 4 w 321"/>
                    <a:gd name="T11" fmla="*/ 89 h 193"/>
                    <a:gd name="T12" fmla="*/ 1 w 321"/>
                    <a:gd name="T13" fmla="*/ 93 h 193"/>
                    <a:gd name="T14" fmla="*/ 1 w 321"/>
                    <a:gd name="T15" fmla="*/ 101 h 193"/>
                    <a:gd name="T16" fmla="*/ 4 w 321"/>
                    <a:gd name="T17" fmla="*/ 104 h 193"/>
                    <a:gd name="T18" fmla="*/ 89 w 321"/>
                    <a:gd name="T19" fmla="*/ 190 h 193"/>
                    <a:gd name="T20" fmla="*/ 97 w 321"/>
                    <a:gd name="T21" fmla="*/ 193 h 193"/>
                    <a:gd name="T22" fmla="*/ 104 w 321"/>
                    <a:gd name="T23" fmla="*/ 190 h 193"/>
                    <a:gd name="T24" fmla="*/ 104 w 321"/>
                    <a:gd name="T25" fmla="*/ 174 h 193"/>
                    <a:gd name="T26" fmla="*/ 37 w 321"/>
                    <a:gd name="T27" fmla="*/ 107 h 193"/>
                    <a:gd name="T28" fmla="*/ 310 w 321"/>
                    <a:gd name="T29" fmla="*/ 107 h 193"/>
                    <a:gd name="T30" fmla="*/ 321 w 321"/>
                    <a:gd name="T31" fmla="*/ 97 h 193"/>
                    <a:gd name="T32" fmla="*/ 310 w 321"/>
                    <a:gd name="T33" fmla="*/ 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1" h="193">
                      <a:moveTo>
                        <a:pt x="310" y="86"/>
                      </a:moveTo>
                      <a:cubicBezTo>
                        <a:pt x="37" y="86"/>
                        <a:pt x="37" y="86"/>
                        <a:pt x="37" y="86"/>
                      </a:cubicBezTo>
                      <a:cubicBezTo>
                        <a:pt x="104" y="19"/>
                        <a:pt x="104" y="19"/>
                        <a:pt x="104" y="19"/>
                      </a:cubicBezTo>
                      <a:cubicBezTo>
                        <a:pt x="108" y="15"/>
                        <a:pt x="108" y="8"/>
                        <a:pt x="104" y="4"/>
                      </a:cubicBezTo>
                      <a:cubicBezTo>
                        <a:pt x="100" y="0"/>
                        <a:pt x="93" y="0"/>
                        <a:pt x="89" y="4"/>
                      </a:cubicBezTo>
                      <a:cubicBezTo>
                        <a:pt x="4" y="89"/>
                        <a:pt x="4" y="89"/>
                        <a:pt x="4" y="89"/>
                      </a:cubicBezTo>
                      <a:cubicBezTo>
                        <a:pt x="3" y="90"/>
                        <a:pt x="2" y="91"/>
                        <a:pt x="1" y="93"/>
                      </a:cubicBezTo>
                      <a:cubicBezTo>
                        <a:pt x="0" y="95"/>
                        <a:pt x="0" y="98"/>
                        <a:pt x="1" y="101"/>
                      </a:cubicBezTo>
                      <a:cubicBezTo>
                        <a:pt x="2" y="102"/>
                        <a:pt x="3" y="103"/>
                        <a:pt x="4" y="104"/>
                      </a:cubicBezTo>
                      <a:cubicBezTo>
                        <a:pt x="89" y="190"/>
                        <a:pt x="89" y="190"/>
                        <a:pt x="89" y="190"/>
                      </a:cubicBezTo>
                      <a:cubicBezTo>
                        <a:pt x="91" y="192"/>
                        <a:pt x="94" y="193"/>
                        <a:pt x="97" y="193"/>
                      </a:cubicBezTo>
                      <a:cubicBezTo>
                        <a:pt x="99" y="193"/>
                        <a:pt x="102" y="192"/>
                        <a:pt x="104" y="190"/>
                      </a:cubicBezTo>
                      <a:cubicBezTo>
                        <a:pt x="108" y="185"/>
                        <a:pt x="108" y="179"/>
                        <a:pt x="104" y="174"/>
                      </a:cubicBezTo>
                      <a:cubicBezTo>
                        <a:pt x="37" y="107"/>
                        <a:pt x="37" y="107"/>
                        <a:pt x="37" y="107"/>
                      </a:cubicBezTo>
                      <a:cubicBezTo>
                        <a:pt x="310" y="107"/>
                        <a:pt x="310" y="107"/>
                        <a:pt x="310" y="107"/>
                      </a:cubicBezTo>
                      <a:cubicBezTo>
                        <a:pt x="316" y="107"/>
                        <a:pt x="321" y="103"/>
                        <a:pt x="321" y="97"/>
                      </a:cubicBezTo>
                      <a:cubicBezTo>
                        <a:pt x="321" y="91"/>
                        <a:pt x="316" y="86"/>
                        <a:pt x="310" y="86"/>
                      </a:cubicBez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sp>
              <p:nvSpPr>
                <p:cNvPr id="30" name="Freeform 212">
                  <a:hlinkClick r:id="" action="ppaction://hlinkshowjump?jump=nextslide"/>
                </p:cNvPr>
                <p:cNvSpPr>
                  <a:spLocks noEditPoints="1"/>
                </p:cNvSpPr>
                <p:nvPr/>
              </p:nvSpPr>
              <p:spPr bwMode="auto">
                <a:xfrm rot="10800000">
                  <a:off x="5840121" y="174998"/>
                  <a:ext cx="288000" cy="287155"/>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grpSp>
          <p:grpSp>
            <p:nvGrpSpPr>
              <p:cNvPr id="7" name="Group 6"/>
              <p:cNvGrpSpPr/>
              <p:nvPr/>
            </p:nvGrpSpPr>
            <p:grpSpPr>
              <a:xfrm>
                <a:off x="6601029" y="4312311"/>
                <a:ext cx="288000" cy="287155"/>
                <a:chOff x="1739755" y="155947"/>
                <a:chExt cx="288000" cy="287155"/>
              </a:xfrm>
            </p:grpSpPr>
            <p:sp>
              <p:nvSpPr>
                <p:cNvPr id="27" name="Freeform 211"/>
                <p:cNvSpPr>
                  <a:spLocks/>
                </p:cNvSpPr>
                <p:nvPr/>
              </p:nvSpPr>
              <p:spPr bwMode="auto">
                <a:xfrm>
                  <a:off x="1792963" y="245472"/>
                  <a:ext cx="180739" cy="108105"/>
                </a:xfrm>
                <a:custGeom>
                  <a:avLst/>
                  <a:gdLst>
                    <a:gd name="T0" fmla="*/ 310 w 321"/>
                    <a:gd name="T1" fmla="*/ 86 h 193"/>
                    <a:gd name="T2" fmla="*/ 37 w 321"/>
                    <a:gd name="T3" fmla="*/ 86 h 193"/>
                    <a:gd name="T4" fmla="*/ 104 w 321"/>
                    <a:gd name="T5" fmla="*/ 19 h 193"/>
                    <a:gd name="T6" fmla="*/ 104 w 321"/>
                    <a:gd name="T7" fmla="*/ 4 h 193"/>
                    <a:gd name="T8" fmla="*/ 89 w 321"/>
                    <a:gd name="T9" fmla="*/ 4 h 193"/>
                    <a:gd name="T10" fmla="*/ 4 w 321"/>
                    <a:gd name="T11" fmla="*/ 89 h 193"/>
                    <a:gd name="T12" fmla="*/ 1 w 321"/>
                    <a:gd name="T13" fmla="*/ 93 h 193"/>
                    <a:gd name="T14" fmla="*/ 1 w 321"/>
                    <a:gd name="T15" fmla="*/ 101 h 193"/>
                    <a:gd name="T16" fmla="*/ 4 w 321"/>
                    <a:gd name="T17" fmla="*/ 104 h 193"/>
                    <a:gd name="T18" fmla="*/ 89 w 321"/>
                    <a:gd name="T19" fmla="*/ 190 h 193"/>
                    <a:gd name="T20" fmla="*/ 97 w 321"/>
                    <a:gd name="T21" fmla="*/ 193 h 193"/>
                    <a:gd name="T22" fmla="*/ 104 w 321"/>
                    <a:gd name="T23" fmla="*/ 190 h 193"/>
                    <a:gd name="T24" fmla="*/ 104 w 321"/>
                    <a:gd name="T25" fmla="*/ 174 h 193"/>
                    <a:gd name="T26" fmla="*/ 37 w 321"/>
                    <a:gd name="T27" fmla="*/ 107 h 193"/>
                    <a:gd name="T28" fmla="*/ 310 w 321"/>
                    <a:gd name="T29" fmla="*/ 107 h 193"/>
                    <a:gd name="T30" fmla="*/ 321 w 321"/>
                    <a:gd name="T31" fmla="*/ 97 h 193"/>
                    <a:gd name="T32" fmla="*/ 310 w 321"/>
                    <a:gd name="T33" fmla="*/ 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1" h="193">
                      <a:moveTo>
                        <a:pt x="310" y="86"/>
                      </a:moveTo>
                      <a:cubicBezTo>
                        <a:pt x="37" y="86"/>
                        <a:pt x="37" y="86"/>
                        <a:pt x="37" y="86"/>
                      </a:cubicBezTo>
                      <a:cubicBezTo>
                        <a:pt x="104" y="19"/>
                        <a:pt x="104" y="19"/>
                        <a:pt x="104" y="19"/>
                      </a:cubicBezTo>
                      <a:cubicBezTo>
                        <a:pt x="108" y="15"/>
                        <a:pt x="108" y="8"/>
                        <a:pt x="104" y="4"/>
                      </a:cubicBezTo>
                      <a:cubicBezTo>
                        <a:pt x="100" y="0"/>
                        <a:pt x="93" y="0"/>
                        <a:pt x="89" y="4"/>
                      </a:cubicBezTo>
                      <a:cubicBezTo>
                        <a:pt x="4" y="89"/>
                        <a:pt x="4" y="89"/>
                        <a:pt x="4" y="89"/>
                      </a:cubicBezTo>
                      <a:cubicBezTo>
                        <a:pt x="3" y="90"/>
                        <a:pt x="2" y="91"/>
                        <a:pt x="1" y="93"/>
                      </a:cubicBezTo>
                      <a:cubicBezTo>
                        <a:pt x="0" y="95"/>
                        <a:pt x="0" y="98"/>
                        <a:pt x="1" y="101"/>
                      </a:cubicBezTo>
                      <a:cubicBezTo>
                        <a:pt x="2" y="102"/>
                        <a:pt x="3" y="103"/>
                        <a:pt x="4" y="104"/>
                      </a:cubicBezTo>
                      <a:cubicBezTo>
                        <a:pt x="89" y="190"/>
                        <a:pt x="89" y="190"/>
                        <a:pt x="89" y="190"/>
                      </a:cubicBezTo>
                      <a:cubicBezTo>
                        <a:pt x="91" y="192"/>
                        <a:pt x="94" y="193"/>
                        <a:pt x="97" y="193"/>
                      </a:cubicBezTo>
                      <a:cubicBezTo>
                        <a:pt x="99" y="193"/>
                        <a:pt x="102" y="192"/>
                        <a:pt x="104" y="190"/>
                      </a:cubicBezTo>
                      <a:cubicBezTo>
                        <a:pt x="108" y="185"/>
                        <a:pt x="108" y="179"/>
                        <a:pt x="104" y="174"/>
                      </a:cubicBezTo>
                      <a:cubicBezTo>
                        <a:pt x="37" y="107"/>
                        <a:pt x="37" y="107"/>
                        <a:pt x="37" y="107"/>
                      </a:cubicBezTo>
                      <a:cubicBezTo>
                        <a:pt x="310" y="107"/>
                        <a:pt x="310" y="107"/>
                        <a:pt x="310" y="107"/>
                      </a:cubicBezTo>
                      <a:cubicBezTo>
                        <a:pt x="316" y="107"/>
                        <a:pt x="321" y="103"/>
                        <a:pt x="321" y="97"/>
                      </a:cubicBezTo>
                      <a:cubicBezTo>
                        <a:pt x="321" y="91"/>
                        <a:pt x="316" y="86"/>
                        <a:pt x="310" y="86"/>
                      </a:cubicBez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sp>
              <p:nvSpPr>
                <p:cNvPr id="28" name="Freeform 212">
                  <a:hlinkClick r:id="" action="ppaction://hlinkshowjump?jump=previousslide"/>
                </p:cNvPr>
                <p:cNvSpPr>
                  <a:spLocks noEditPoints="1"/>
                </p:cNvSpPr>
                <p:nvPr/>
              </p:nvSpPr>
              <p:spPr bwMode="auto">
                <a:xfrm>
                  <a:off x="1739755" y="155947"/>
                  <a:ext cx="288000" cy="287155"/>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grpSp>
          <p:sp>
            <p:nvSpPr>
              <p:cNvPr id="9" name="LinkHome">
                <a:hlinkClick r:id="rId3" action="ppaction://hlinksldjump"/>
              </p:cNvPr>
              <p:cNvSpPr/>
              <p:nvPr userDrawn="1"/>
            </p:nvSpPr>
            <p:spPr bwMode="gray">
              <a:xfrm>
                <a:off x="6293713" y="4256376"/>
                <a:ext cx="323850" cy="361950"/>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10" name="LinkForward">
                <a:hlinkClick r:id="" action="ppaction://hlinkshowjump?jump=nextslide"/>
              </p:cNvPr>
              <p:cNvSpPr/>
              <p:nvPr userDrawn="1"/>
            </p:nvSpPr>
            <p:spPr bwMode="gray">
              <a:xfrm>
                <a:off x="6875752" y="4256376"/>
                <a:ext cx="323850" cy="361950"/>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11" name="LinkBackward">
                <a:hlinkClick r:id="" action="ppaction://hlinkshowjump?jump=previousslide"/>
              </p:cNvPr>
              <p:cNvSpPr/>
              <p:nvPr userDrawn="1"/>
            </p:nvSpPr>
            <p:spPr bwMode="gray">
              <a:xfrm>
                <a:off x="6580114" y="4256376"/>
                <a:ext cx="323850" cy="361950"/>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grpSp>
        <p:sp>
          <p:nvSpPr>
            <p:cNvPr id="14" name="Freeform 212">
              <a:hlinkClick r:id="rId4" action="ppaction://hlinksldjump"/>
            </p:cNvPr>
            <p:cNvSpPr>
              <a:spLocks noEditPoints="1"/>
            </p:cNvSpPr>
            <p:nvPr/>
          </p:nvSpPr>
          <p:spPr bwMode="auto">
            <a:xfrm>
              <a:off x="6299693" y="4312311"/>
              <a:ext cx="288000" cy="28800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00796" tIns="50398" rIns="100796" bIns="50398" numCol="1" anchor="t" anchorCtr="0" compatLnSpc="1">
              <a:prstTxWarp prst="textNoShape">
                <a:avLst/>
              </a:prstTxWarp>
            </a:bodyPr>
            <a:lstStyle/>
            <a:p>
              <a:endParaRPr lang="en-GB" sz="1709" dirty="0"/>
            </a:p>
          </p:txBody>
        </p:sp>
      </p:grpSp>
      <p:graphicFrame>
        <p:nvGraphicFramePr>
          <p:cNvPr id="19" name="ContentsTable"/>
          <p:cNvGraphicFramePr>
            <a:graphicFrameLocks noGrp="1"/>
          </p:cNvGraphicFramePr>
          <p:nvPr userDrawn="1"/>
        </p:nvGraphicFramePr>
        <p:xfrm>
          <a:off x="601663" y="3449502"/>
          <a:ext cx="3984130" cy="3708400"/>
        </p:xfrm>
        <a:graphic>
          <a:graphicData uri="http://schemas.openxmlformats.org/drawingml/2006/table">
            <a:tbl>
              <a:tblPr>
                <a:tableStyleId>{5C22544A-7EE6-4342-B048-85BDC9FD1C3A}</a:tableStyleId>
              </a:tblPr>
              <a:tblGrid>
                <a:gridCol w="3450025">
                  <a:extLst>
                    <a:ext uri="{9D8B030D-6E8A-4147-A177-3AD203B41FA5}">
                      <a16:colId xmlns:a16="http://schemas.microsoft.com/office/drawing/2014/main" val="20000"/>
                    </a:ext>
                  </a:extLst>
                </a:gridCol>
                <a:gridCol w="534105">
                  <a:extLst>
                    <a:ext uri="{9D8B030D-6E8A-4147-A177-3AD203B41FA5}">
                      <a16:colId xmlns:a16="http://schemas.microsoft.com/office/drawing/2014/main" val="20001"/>
                    </a:ext>
                  </a:extLst>
                </a:gridCol>
              </a:tblGrid>
              <a:tr h="370840">
                <a:tc>
                  <a:txBody>
                    <a:bodyPr/>
                    <a:lstStyle/>
                    <a:p>
                      <a:r>
                        <a:rPr lang="en-GB" sz="1000" b="0" dirty="0">
                          <a:solidFill>
                            <a:schemeClr val="tx1"/>
                          </a:solidFill>
                        </a:rPr>
                        <a:t>Content line 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6</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6</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10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bl>
          </a:graphicData>
        </a:graphic>
      </p:graphicFrame>
      <p:graphicFrame>
        <p:nvGraphicFramePr>
          <p:cNvPr id="20" name="MasterContentsTable"/>
          <p:cNvGraphicFramePr>
            <a:graphicFrameLocks noGrp="1"/>
          </p:cNvGraphicFramePr>
          <p:nvPr userDrawn="1"/>
        </p:nvGraphicFramePr>
        <p:xfrm>
          <a:off x="449263" y="3297102"/>
          <a:ext cx="3984130" cy="5562600"/>
        </p:xfrm>
        <a:graphic>
          <a:graphicData uri="http://schemas.openxmlformats.org/drawingml/2006/table">
            <a:tbl>
              <a:tblPr>
                <a:tableStyleId>{5C22544A-7EE6-4342-B048-85BDC9FD1C3A}</a:tableStyleId>
              </a:tblPr>
              <a:tblGrid>
                <a:gridCol w="3450025">
                  <a:extLst>
                    <a:ext uri="{9D8B030D-6E8A-4147-A177-3AD203B41FA5}">
                      <a16:colId xmlns:a16="http://schemas.microsoft.com/office/drawing/2014/main" val="20000"/>
                    </a:ext>
                  </a:extLst>
                </a:gridCol>
                <a:gridCol w="534105">
                  <a:extLst>
                    <a:ext uri="{9D8B030D-6E8A-4147-A177-3AD203B41FA5}">
                      <a16:colId xmlns:a16="http://schemas.microsoft.com/office/drawing/2014/main" val="20001"/>
                    </a:ext>
                  </a:extLst>
                </a:gridCol>
              </a:tblGrid>
              <a:tr h="370840">
                <a:tc>
                  <a:txBody>
                    <a:bodyPr/>
                    <a:lstStyle/>
                    <a:p>
                      <a:r>
                        <a:rPr lang="en-GB" sz="1000" b="0" dirty="0">
                          <a:solidFill>
                            <a:schemeClr val="tx1"/>
                          </a:solidFill>
                        </a:rPr>
                        <a:t>Content line 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6</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6</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10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3"/>
                  </a:ext>
                </a:extLst>
              </a:tr>
              <a:tr h="37084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GB" sz="1000" b="0" dirty="0">
                          <a:solidFill>
                            <a:schemeClr val="tx1"/>
                          </a:solidFill>
                        </a:rPr>
                        <a:t>Content Line 15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GB" sz="1000" b="0" dirty="0">
                          <a:solidFill>
                            <a:schemeClr val="tx1"/>
                          </a:solidFill>
                        </a:rPr>
                        <a:t> 15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4"/>
                  </a:ext>
                </a:extLst>
              </a:tr>
            </a:tbl>
          </a:graphicData>
        </a:graphic>
      </p:graphicFrame>
    </p:spTree>
    <p:extLst>
      <p:ext uri="{BB962C8B-B14F-4D97-AF65-F5344CB8AC3E}">
        <p14:creationId xmlns:p14="http://schemas.microsoft.com/office/powerpoint/2010/main" val="2518376470"/>
      </p:ext>
    </p:extLst>
  </p:cSld>
  <p:clrMapOvr>
    <a:masterClrMapping/>
  </p:clrMapOvr>
  <p:transition>
    <p:fade/>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userDrawn="1">
  <p:cSld name="1_Project">
    <p:bg>
      <p:bgPr>
        <a:solidFill>
          <a:schemeClr val="bg1"/>
        </a:solidFill>
        <a:effectLst/>
      </p:bgPr>
    </p:bg>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637139" y="709330"/>
            <a:ext cx="5641636" cy="5641636"/>
          </a:xfrm>
          <a:prstGeom prst="rect">
            <a:avLst/>
          </a:prstGeom>
        </p:spPr>
      </p:pic>
      <p:sp>
        <p:nvSpPr>
          <p:cNvPr id="120835" name="ProjectTitle"/>
          <p:cNvSpPr>
            <a:spLocks noGrp="1"/>
          </p:cNvSpPr>
          <p:nvPr>
            <p:ph type="ctrTitle"/>
          </p:nvPr>
        </p:nvSpPr>
        <p:spPr bwMode="gray">
          <a:xfrm>
            <a:off x="449264" y="6083447"/>
            <a:ext cx="4716462" cy="357150"/>
          </a:xfrm>
          <a:prstGeom prst="rect">
            <a:avLst/>
          </a:prstGeom>
        </p:spPr>
        <p:txBody>
          <a:bodyPr lIns="0" tIns="0" rIns="0" bIns="0" anchor="b" anchorCtr="0">
            <a:noAutofit/>
          </a:bodyPr>
          <a:lstStyle>
            <a:lvl1pPr>
              <a:lnSpc>
                <a:spcPct val="100000"/>
              </a:lnSpc>
              <a:defRPr lang="en-GB" sz="2159" b="1" kern="1200" noProof="0" dirty="0" smtClean="0">
                <a:solidFill>
                  <a:schemeClr val="tx1"/>
                </a:solidFill>
                <a:latin typeface="+mj-lt"/>
                <a:ea typeface="Verdana" panose="020B0604030504040204" pitchFamily="34" charset="0"/>
                <a:cs typeface="Verdana" panose="020B0604030504040204" pitchFamily="34" charset="0"/>
              </a:defRPr>
            </a:lvl1pPr>
          </a:lstStyle>
          <a:p>
            <a:r>
              <a:rPr lang="en-GB" noProof="0" dirty="0"/>
              <a:t>Click to edit Master title style</a:t>
            </a:r>
          </a:p>
        </p:txBody>
      </p:sp>
      <p:sp>
        <p:nvSpPr>
          <p:cNvPr id="120836" name="Text Placeholder 2"/>
          <p:cNvSpPr>
            <a:spLocks noGrp="1"/>
          </p:cNvSpPr>
          <p:nvPr>
            <p:ph type="subTitle" idx="1"/>
          </p:nvPr>
        </p:nvSpPr>
        <p:spPr bwMode="gray">
          <a:xfrm>
            <a:off x="449264" y="6464415"/>
            <a:ext cx="4716462" cy="559535"/>
          </a:xfrm>
          <a:prstGeom prst="rect">
            <a:avLst/>
          </a:prstGeom>
        </p:spPr>
        <p:txBody>
          <a:bodyPr wrap="square" lIns="0" tIns="0" rIns="0" bIns="0">
            <a:noAutofit/>
          </a:bodyPr>
          <a:lstStyle>
            <a:lvl1pPr marL="0" indent="0" algn="l" defTabSz="1069116" rtl="0" eaLnBrk="1" latinLnBrk="0" hangingPunct="1">
              <a:lnSpc>
                <a:spcPct val="100000"/>
              </a:lnSpc>
              <a:spcBef>
                <a:spcPts val="0"/>
              </a:spcBef>
              <a:spcAft>
                <a:spcPts val="0"/>
              </a:spcAft>
              <a:buClrTx/>
              <a:buSzPct val="100000"/>
              <a:buFont typeface="Arial" panose="020B0604020202020204" pitchFamily="34" charset="0"/>
              <a:buNone/>
              <a:defRPr lang="en-GB" sz="1835" b="0" kern="1200" noProof="0" dirty="0" smtClean="0">
                <a:solidFill>
                  <a:schemeClr val="tx1"/>
                </a:solidFill>
                <a:latin typeface="+mn-lt"/>
                <a:ea typeface="+mn-ea"/>
                <a:cs typeface="+mn-cs"/>
              </a:defRPr>
            </a:lvl1pPr>
          </a:lstStyle>
          <a:p>
            <a:r>
              <a:rPr lang="en-GB" noProof="0" dirty="0"/>
              <a:t>Click to edit Master subtitle style</a:t>
            </a:r>
          </a:p>
        </p:txBody>
      </p:sp>
      <p:sp>
        <p:nvSpPr>
          <p:cNvPr id="8" name="Text Placeholder 7"/>
          <p:cNvSpPr>
            <a:spLocks noGrp="1"/>
          </p:cNvSpPr>
          <p:nvPr>
            <p:ph type="body" sz="quarter" idx="11"/>
          </p:nvPr>
        </p:nvSpPr>
        <p:spPr>
          <a:xfrm>
            <a:off x="449263" y="7137399"/>
            <a:ext cx="4716462" cy="194733"/>
          </a:xfrm>
          <a:prstGeom prst="rect">
            <a:avLst/>
          </a:prstGeom>
        </p:spPr>
        <p:txBody>
          <a:bodyPr lIns="0" tIns="0" rIns="0" bIns="0" anchor="t" anchorCtr="0">
            <a:noAutofit/>
          </a:bodyPr>
          <a:lstStyle>
            <a:lvl1pPr>
              <a:spcBef>
                <a:spcPts val="0"/>
              </a:spcBef>
              <a:spcAft>
                <a:spcPts val="1189"/>
              </a:spcAft>
              <a:defRPr lang="en-GB" sz="1133" b="0" kern="1200" noProof="0" dirty="0" smtClean="0">
                <a:solidFill>
                  <a:schemeClr val="tx1"/>
                </a:solidFill>
                <a:latin typeface="+mn-lt"/>
                <a:ea typeface="+mn-ea"/>
                <a:cs typeface="+mn-cs"/>
              </a:defRPr>
            </a:lvl1pPr>
          </a:lstStyle>
          <a:p>
            <a:pPr lvl="0"/>
            <a:r>
              <a:rPr lang="en-GB" noProof="0" dirty="0"/>
              <a:t>Click to edit Master text styles</a:t>
            </a:r>
          </a:p>
        </p:txBody>
      </p:sp>
      <p:sp>
        <p:nvSpPr>
          <p:cNvPr id="19" name="Text Placeholder 5"/>
          <p:cNvSpPr>
            <a:spLocks noGrp="1"/>
          </p:cNvSpPr>
          <p:nvPr>
            <p:ph type="body" sz="quarter" idx="13" hasCustomPrompt="1"/>
          </p:nvPr>
        </p:nvSpPr>
        <p:spPr>
          <a:xfrm>
            <a:off x="5524499" y="7155912"/>
            <a:ext cx="4716464" cy="116955"/>
          </a:xfrm>
          <a:prstGeom prst="rect">
            <a:avLst/>
          </a:prstGeom>
        </p:spPr>
        <p:txBody>
          <a:bodyPr wrap="square" anchor="b" anchorCtr="0">
            <a:spAutoFit/>
          </a:bodyPr>
          <a:lstStyle>
            <a:lvl1pPr algn="r">
              <a:defRPr lang="en-US" sz="760" b="1" kern="1200" dirty="0" smtClean="0">
                <a:solidFill>
                  <a:schemeClr val="tx1"/>
                </a:solidFill>
                <a:latin typeface="+mn-lt"/>
                <a:ea typeface="+mn-ea"/>
                <a:cs typeface="Verdana" panose="020B0604030504040204" pitchFamily="34" charset="0"/>
              </a:defRPr>
            </a:lvl1pPr>
          </a:lstStyle>
          <a:p>
            <a:pPr lvl="0"/>
            <a:r>
              <a:rPr lang="en-US" dirty="0"/>
              <a:t>[Confidentiality statement]</a:t>
            </a:r>
          </a:p>
        </p:txBody>
      </p:sp>
      <p:grpSp>
        <p:nvGrpSpPr>
          <p:cNvPr id="20" name="Group 6"/>
          <p:cNvGrpSpPr>
            <a:grpSpLocks noChangeAspect="1"/>
          </p:cNvGrpSpPr>
          <p:nvPr userDrawn="1"/>
        </p:nvGrpSpPr>
        <p:grpSpPr>
          <a:xfrm>
            <a:off x="449263" y="285583"/>
            <a:ext cx="2020500" cy="362117"/>
            <a:chOff x="398463" y="404813"/>
            <a:chExt cx="1627187" cy="307976"/>
          </a:xfrm>
          <a:solidFill>
            <a:schemeClr val="tx1"/>
          </a:solidFill>
        </p:grpSpPr>
        <p:sp>
          <p:nvSpPr>
            <p:cNvPr id="21" name="Oval 20"/>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22"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23"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24"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25"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26"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27"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28"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29"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sp>
          <p:nvSpPr>
            <p:cNvPr id="30"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105" dirty="0">
                <a:solidFill>
                  <a:schemeClr val="bg1"/>
                </a:solidFill>
                <a:latin typeface="Verdana" panose="020B0604030504040204" pitchFamily="34" charset="0"/>
                <a:cs typeface="Verdana" panose="020B0604030504040204" pitchFamily="34" charset="0"/>
              </a:endParaRPr>
            </a:p>
          </p:txBody>
        </p:sp>
      </p:grpSp>
    </p:spTree>
    <p:extLst>
      <p:ext uri="{BB962C8B-B14F-4D97-AF65-F5344CB8AC3E}">
        <p14:creationId xmlns:p14="http://schemas.microsoft.com/office/powerpoint/2010/main" val="685023559"/>
      </p:ext>
    </p:extLst>
  </p:cSld>
  <p:clrMapOvr>
    <a:masterClrMapping/>
  </p:clrMapOvr>
  <p:transition/>
</p:sldLayout>
</file>

<file path=ppt/slideMasters/_rels/slideMaster1.xml.rels><?xml version="1.0" encoding="UTF-8" standalone="yes"?>
<Relationships xmlns="http://schemas.openxmlformats.org/package/2006/relationships"><Relationship Id="rId8" Type="http://schemas.openxmlformats.org/officeDocument/2006/relationships/oleObject" Target="../embeddings/oleObject1.bin"/><Relationship Id="rId3" Type="http://schemas.openxmlformats.org/officeDocument/2006/relationships/slideLayout" Target="../slideLayouts/slideLayout3.xml"/><Relationship Id="rId7" Type="http://schemas.openxmlformats.org/officeDocument/2006/relationships/tags" Target="../tags/tag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 Id="rId9" Type="http://schemas.openxmlformats.org/officeDocument/2006/relationships/image" Target="../media/image1.emf"/></Relationships>
</file>

<file path=ppt/slideMasters/_rels/slideMaster2.xml.rels><?xml version="1.0" encoding="UTF-8" standalone="yes"?>
<Relationships xmlns="http://schemas.openxmlformats.org/package/2006/relationships"><Relationship Id="rId8" Type="http://schemas.openxmlformats.org/officeDocument/2006/relationships/theme" Target="../theme/theme2.xml"/><Relationship Id="rId3" Type="http://schemas.openxmlformats.org/officeDocument/2006/relationships/slideLayout" Target="../slideLayouts/slideLayout8.xml"/><Relationship Id="rId7" Type="http://schemas.openxmlformats.org/officeDocument/2006/relationships/slideLayout" Target="../slideLayouts/slideLayout12.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slideLayout" Target="../slideLayouts/slideLayout11.xml"/><Relationship Id="rId11" Type="http://schemas.openxmlformats.org/officeDocument/2006/relationships/image" Target="../media/image1.emf"/><Relationship Id="rId5" Type="http://schemas.openxmlformats.org/officeDocument/2006/relationships/slideLayout" Target="../slideLayouts/slideLayout10.xml"/><Relationship Id="rId10" Type="http://schemas.openxmlformats.org/officeDocument/2006/relationships/oleObject" Target="../embeddings/oleObject2.bin"/><Relationship Id="rId4" Type="http://schemas.openxmlformats.org/officeDocument/2006/relationships/slideLayout" Target="../slideLayouts/slideLayout9.xml"/><Relationship Id="rId9" Type="http://schemas.openxmlformats.org/officeDocument/2006/relationships/tags" Target="../tags/tag3.xml"/></Relationships>
</file>

<file path=ppt/slideMasters/_rels/slideMaster3.xml.rels><?xml version="1.0" encoding="UTF-8" standalone="yes"?>
<Relationships xmlns="http://schemas.openxmlformats.org/package/2006/relationships"><Relationship Id="rId8" Type="http://schemas.openxmlformats.org/officeDocument/2006/relationships/theme" Target="../theme/theme3.xml"/><Relationship Id="rId3" Type="http://schemas.openxmlformats.org/officeDocument/2006/relationships/slideLayout" Target="../slideLayouts/slideLayout15.xml"/><Relationship Id="rId7" Type="http://schemas.openxmlformats.org/officeDocument/2006/relationships/slideLayout" Target="../slideLayouts/slideLayout19.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image" Target="../media/image1.emf"/><Relationship Id="rId5" Type="http://schemas.openxmlformats.org/officeDocument/2006/relationships/slideLayout" Target="../slideLayouts/slideLayout17.xml"/><Relationship Id="rId10" Type="http://schemas.openxmlformats.org/officeDocument/2006/relationships/oleObject" Target="../embeddings/oleObject4.bin"/><Relationship Id="rId4" Type="http://schemas.openxmlformats.org/officeDocument/2006/relationships/slideLayout" Target="../slideLayouts/slideLayout16.xml"/><Relationship Id="rId9" Type="http://schemas.openxmlformats.org/officeDocument/2006/relationships/tags" Target="../tags/tag6.xml"/></Relationships>
</file>

<file path=ppt/slideMasters/_rels/slideMaster4.xml.rels><?xml version="1.0" encoding="UTF-8" standalone="yes"?>
<Relationships xmlns="http://schemas.openxmlformats.org/package/2006/relationships"><Relationship Id="rId8" Type="http://schemas.openxmlformats.org/officeDocument/2006/relationships/theme" Target="../theme/theme4.xml"/><Relationship Id="rId3" Type="http://schemas.openxmlformats.org/officeDocument/2006/relationships/slideLayout" Target="../slideLayouts/slideLayout22.xml"/><Relationship Id="rId7" Type="http://schemas.openxmlformats.org/officeDocument/2006/relationships/slideLayout" Target="../slideLayouts/slideLayout26.xml"/><Relationship Id="rId2" Type="http://schemas.openxmlformats.org/officeDocument/2006/relationships/slideLayout" Target="../slideLayouts/slideLayout21.xml"/><Relationship Id="rId1" Type="http://schemas.openxmlformats.org/officeDocument/2006/relationships/slideLayout" Target="../slideLayouts/slideLayout20.xml"/><Relationship Id="rId6" Type="http://schemas.openxmlformats.org/officeDocument/2006/relationships/slideLayout" Target="../slideLayouts/slideLayout25.xml"/><Relationship Id="rId11" Type="http://schemas.openxmlformats.org/officeDocument/2006/relationships/image" Target="../media/image1.emf"/><Relationship Id="rId5" Type="http://schemas.openxmlformats.org/officeDocument/2006/relationships/slideLayout" Target="../slideLayouts/slideLayout24.xml"/><Relationship Id="rId10" Type="http://schemas.openxmlformats.org/officeDocument/2006/relationships/oleObject" Target="../embeddings/oleObject5.bin"/><Relationship Id="rId4" Type="http://schemas.openxmlformats.org/officeDocument/2006/relationships/slideLayout" Target="../slideLayouts/slideLayout23.xml"/><Relationship Id="rId9" Type="http://schemas.openxmlformats.org/officeDocument/2006/relationships/tags" Target="../tags/tag7.xml"/></Relationships>
</file>

<file path=ppt/slideMasters/_rels/slideMaster5.xml.rels><?xml version="1.0" encoding="UTF-8" standalone="yes"?>
<Relationships xmlns="http://schemas.openxmlformats.org/package/2006/relationships"><Relationship Id="rId8" Type="http://schemas.openxmlformats.org/officeDocument/2006/relationships/tags" Target="../tags/tag8.xml"/><Relationship Id="rId3" Type="http://schemas.openxmlformats.org/officeDocument/2006/relationships/slideLayout" Target="../slideLayouts/slideLayout29.xml"/><Relationship Id="rId7" Type="http://schemas.openxmlformats.org/officeDocument/2006/relationships/theme" Target="../theme/theme5.xml"/><Relationship Id="rId2" Type="http://schemas.openxmlformats.org/officeDocument/2006/relationships/slideLayout" Target="../slideLayouts/slideLayout28.xml"/><Relationship Id="rId1" Type="http://schemas.openxmlformats.org/officeDocument/2006/relationships/slideLayout" Target="../slideLayouts/slideLayout27.xml"/><Relationship Id="rId6" Type="http://schemas.openxmlformats.org/officeDocument/2006/relationships/slideLayout" Target="../slideLayouts/slideLayout32.xml"/><Relationship Id="rId5" Type="http://schemas.openxmlformats.org/officeDocument/2006/relationships/slideLayout" Target="../slideLayouts/slideLayout31.xml"/><Relationship Id="rId10" Type="http://schemas.openxmlformats.org/officeDocument/2006/relationships/image" Target="../media/image1.emf"/><Relationship Id="rId4" Type="http://schemas.openxmlformats.org/officeDocument/2006/relationships/slideLayout" Target="../slideLayouts/slideLayout30.xml"/><Relationship Id="rId9" Type="http://schemas.openxmlformats.org/officeDocument/2006/relationships/oleObject" Target="../embeddings/oleObject6.bin"/></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7"/>
            </p:custDataLst>
            <p:extLst>
              <p:ext uri="{D42A27DB-BD31-4B8C-83A1-F6EECF244321}">
                <p14:modId xmlns:p14="http://schemas.microsoft.com/office/powerpoint/2010/main" val="2846152400"/>
              </p:ext>
            </p:extLst>
          </p:nvPr>
        </p:nvGraphicFramePr>
        <p:xfrm>
          <a:off x="1859" y="1757"/>
          <a:ext cx="1856" cy="1750"/>
        </p:xfrm>
        <a:graphic>
          <a:graphicData uri="http://schemas.openxmlformats.org/presentationml/2006/ole">
            <mc:AlternateContent xmlns:mc="http://schemas.openxmlformats.org/markup-compatibility/2006">
              <mc:Choice xmlns:v="urn:schemas-microsoft-com:vml" Requires="v">
                <p:oleObj name="think-cell Slide" r:id="rId8" imgW="270" imgH="270" progId="TCLayout.ActiveDocument.1">
                  <p:embed/>
                </p:oleObj>
              </mc:Choice>
              <mc:Fallback>
                <p:oleObj name="think-cell Slide" r:id="rId8" imgW="270" imgH="270" progId="TCLayout.ActiveDocument.1">
                  <p:embed/>
                  <p:pic>
                    <p:nvPicPr>
                      <p:cNvPr id="4" name="Object 3" hidden="1"/>
                      <p:cNvPicPr/>
                      <p:nvPr/>
                    </p:nvPicPr>
                    <p:blipFill>
                      <a:blip r:embed="rId9"/>
                      <a:stretch>
                        <a:fillRect/>
                      </a:stretch>
                    </p:blipFill>
                    <p:spPr>
                      <a:xfrm>
                        <a:off x="1859" y="1757"/>
                        <a:ext cx="1856" cy="1750"/>
                      </a:xfrm>
                      <a:prstGeom prst="rect">
                        <a:avLst/>
                      </a:prstGeom>
                    </p:spPr>
                  </p:pic>
                </p:oleObj>
              </mc:Fallback>
            </mc:AlternateContent>
          </a:graphicData>
        </a:graphic>
      </p:graphicFrame>
      <p:sp>
        <p:nvSpPr>
          <p:cNvPr id="19" name="StandardTextbox"/>
          <p:cNvSpPr>
            <a:spLocks noGrp="1"/>
          </p:cNvSpPr>
          <p:nvPr>
            <p:ph type="body" idx="1"/>
          </p:nvPr>
        </p:nvSpPr>
        <p:spPr>
          <a:xfrm>
            <a:off x="449263" y="1943100"/>
            <a:ext cx="2503776" cy="1683382"/>
          </a:xfrm>
          <a:prstGeom prst="rect">
            <a:avLst/>
          </a:prstGeom>
        </p:spPr>
        <p:txBody>
          <a:bodyPr vert="horz" lIns="0" tIns="0" rIns="0" bIns="0" rtlCol="0">
            <a:noAutofit/>
          </a:body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5" name="Ffooter"/>
          <p:cNvSpPr txBox="1"/>
          <p:nvPr userDrawn="1"/>
        </p:nvSpPr>
        <p:spPr>
          <a:xfrm>
            <a:off x="450000" y="7138988"/>
            <a:ext cx="4412733" cy="107722"/>
          </a:xfrm>
          <a:prstGeom prst="rect">
            <a:avLst/>
          </a:prstGeom>
          <a:noFill/>
        </p:spPr>
        <p:txBody>
          <a:bodyPr wrap="square" lIns="0" tIns="0" rIns="0" bIns="0" rtlCol="0" anchor="b">
            <a:spAutoFit/>
          </a:bodyPr>
          <a:lstStyle/>
          <a:p>
            <a:pPr algn="l" rtl="0" fontAlgn="base">
              <a:spcBef>
                <a:spcPct val="0"/>
              </a:spcBef>
              <a:spcAft>
                <a:spcPts val="0"/>
              </a:spcAft>
              <a:tabLst>
                <a:tab pos="9648000" algn="r"/>
              </a:tabLst>
            </a:pPr>
            <a:r>
              <a:rPr lang="en-GB" sz="700" b="0" kern="1200" noProof="0" dirty="0">
                <a:solidFill>
                  <a:srgbClr val="000000"/>
                </a:solidFill>
                <a:latin typeface="+mj-lt"/>
                <a:ea typeface="+mn-ea"/>
                <a:cs typeface="Arial" charset="0"/>
              </a:rPr>
              <a:t>Project Nimbus – Final Report – 20 Oct 2020</a:t>
            </a:r>
          </a:p>
        </p:txBody>
      </p:sp>
      <p:sp>
        <p:nvSpPr>
          <p:cNvPr id="6" name="TextBox 5"/>
          <p:cNvSpPr txBox="1"/>
          <p:nvPr userDrawn="1"/>
        </p:nvSpPr>
        <p:spPr>
          <a:xfrm>
            <a:off x="9825327" y="7137400"/>
            <a:ext cx="415636" cy="107722"/>
          </a:xfrm>
          <a:prstGeom prst="rect">
            <a:avLst/>
          </a:prstGeom>
          <a:noFill/>
        </p:spPr>
        <p:txBody>
          <a:bodyPr wrap="square" lIns="0" tIns="0" rIns="0" bIns="0" rtlCol="0">
            <a:spAutoFit/>
          </a:bodyPr>
          <a:lstStyle/>
          <a:p>
            <a:pPr marL="0" indent="0" algn="r">
              <a:spcBef>
                <a:spcPts val="600"/>
              </a:spcBef>
              <a:buSzPct val="100000"/>
              <a:buFont typeface="Arial"/>
              <a:buNone/>
            </a:pPr>
            <a:fld id="{6A8D1C03-AAA8-43EC-B489-78E602BCCCAE}" type="slidenum">
              <a:rPr lang="en-GB" sz="700" b="0" kern="1200" smtClean="0">
                <a:solidFill>
                  <a:srgbClr val="000000"/>
                </a:solidFill>
                <a:latin typeface="+mj-lt"/>
                <a:ea typeface="+mn-ea"/>
                <a:cs typeface="Arial" charset="0"/>
              </a:rPr>
              <a:pPr marL="0" indent="0" algn="r">
                <a:spcBef>
                  <a:spcPts val="600"/>
                </a:spcBef>
                <a:buSzPct val="100000"/>
                <a:buFont typeface="Arial"/>
                <a:buNone/>
              </a:pPr>
              <a:t>‹#›</a:t>
            </a:fld>
            <a:endParaRPr lang="en-GB" sz="700" b="0" kern="1200" dirty="0">
              <a:solidFill>
                <a:srgbClr val="000000"/>
              </a:solidFill>
              <a:latin typeface="+mj-lt"/>
              <a:ea typeface="+mn-ea"/>
              <a:cs typeface="Arial" charset="0"/>
            </a:endParaRPr>
          </a:p>
        </p:txBody>
      </p:sp>
    </p:spTree>
  </p:cSld>
  <p:clrMap bg1="lt1" tx1="dk1" bg2="lt2" tx2="dk2" accent1="accent1" accent2="accent2" accent3="accent3" accent4="accent4" accent5="accent5" accent6="accent6" hlink="hlink" folHlink="folHlink"/>
  <p:sldLayoutIdLst>
    <p:sldLayoutId id="2147483681" r:id="rId1"/>
    <p:sldLayoutId id="2147483679" r:id="rId2"/>
    <p:sldLayoutId id="2147483754" r:id="rId3"/>
    <p:sldLayoutId id="2147483696" r:id="rId4"/>
    <p:sldLayoutId id="2147483761" r:id="rId5"/>
  </p:sldLayoutIdLst>
  <p:transition>
    <p:fade/>
  </p:transition>
  <p:hf hdr="0" dt="0"/>
  <p:txStyles>
    <p:titleStyle>
      <a:lvl1pPr algn="l" defTabSz="990571" rtl="0" eaLnBrk="1" latinLnBrk="0" hangingPunct="1">
        <a:spcBef>
          <a:spcPct val="0"/>
        </a:spcBef>
        <a:buNone/>
        <a:defRPr sz="2000" kern="1200">
          <a:solidFill>
            <a:schemeClr val="tx1"/>
          </a:solidFill>
          <a:latin typeface="+mj-lt"/>
          <a:ea typeface="+mj-ea"/>
          <a:cs typeface="+mj-cs"/>
        </a:defRPr>
      </a:lvl1pPr>
    </p:titleStyle>
    <p:body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p:bodyStyle>
    <p:otherStyle>
      <a:defPPr>
        <a:defRPr lang="en-US"/>
      </a:defPPr>
      <a:lvl1pPr marL="0" algn="l" defTabSz="990571" rtl="0" eaLnBrk="1" latinLnBrk="0" hangingPunct="1">
        <a:defRPr sz="1950" kern="1200">
          <a:solidFill>
            <a:schemeClr val="tx1"/>
          </a:solidFill>
          <a:latin typeface="+mn-lt"/>
          <a:ea typeface="+mn-ea"/>
          <a:cs typeface="+mn-cs"/>
        </a:defRPr>
      </a:lvl1pPr>
      <a:lvl2pPr marL="495286" algn="l" defTabSz="990571" rtl="0" eaLnBrk="1" latinLnBrk="0" hangingPunct="1">
        <a:defRPr sz="1950" kern="1200">
          <a:solidFill>
            <a:schemeClr val="tx1"/>
          </a:solidFill>
          <a:latin typeface="+mn-lt"/>
          <a:ea typeface="+mn-ea"/>
          <a:cs typeface="+mn-cs"/>
        </a:defRPr>
      </a:lvl2pPr>
      <a:lvl3pPr marL="990571" algn="l" defTabSz="990571" rtl="0" eaLnBrk="1" latinLnBrk="0" hangingPunct="1">
        <a:defRPr sz="1950" kern="1200">
          <a:solidFill>
            <a:schemeClr val="tx1"/>
          </a:solidFill>
          <a:latin typeface="+mn-lt"/>
          <a:ea typeface="+mn-ea"/>
          <a:cs typeface="+mn-cs"/>
        </a:defRPr>
      </a:lvl3pPr>
      <a:lvl4pPr marL="1485856" algn="l" defTabSz="990571" rtl="0" eaLnBrk="1" latinLnBrk="0" hangingPunct="1">
        <a:defRPr sz="1950" kern="1200">
          <a:solidFill>
            <a:schemeClr val="tx1"/>
          </a:solidFill>
          <a:latin typeface="+mn-lt"/>
          <a:ea typeface="+mn-ea"/>
          <a:cs typeface="+mn-cs"/>
        </a:defRPr>
      </a:lvl4pPr>
      <a:lvl5pPr marL="1981140" algn="l" defTabSz="990571" rtl="0" eaLnBrk="1" latinLnBrk="0" hangingPunct="1">
        <a:defRPr sz="1950" kern="1200">
          <a:solidFill>
            <a:schemeClr val="tx1"/>
          </a:solidFill>
          <a:latin typeface="+mn-lt"/>
          <a:ea typeface="+mn-ea"/>
          <a:cs typeface="+mn-cs"/>
        </a:defRPr>
      </a:lvl5pPr>
      <a:lvl6pPr marL="2476426" algn="l" defTabSz="990571" rtl="0" eaLnBrk="1" latinLnBrk="0" hangingPunct="1">
        <a:defRPr sz="1950" kern="1200">
          <a:solidFill>
            <a:schemeClr val="tx1"/>
          </a:solidFill>
          <a:latin typeface="+mn-lt"/>
          <a:ea typeface="+mn-ea"/>
          <a:cs typeface="+mn-cs"/>
        </a:defRPr>
      </a:lvl6pPr>
      <a:lvl7pPr marL="2971711" algn="l" defTabSz="990571" rtl="0" eaLnBrk="1" latinLnBrk="0" hangingPunct="1">
        <a:defRPr sz="1950" kern="1200">
          <a:solidFill>
            <a:schemeClr val="tx1"/>
          </a:solidFill>
          <a:latin typeface="+mn-lt"/>
          <a:ea typeface="+mn-ea"/>
          <a:cs typeface="+mn-cs"/>
        </a:defRPr>
      </a:lvl7pPr>
      <a:lvl8pPr marL="3466995" algn="l" defTabSz="990571" rtl="0" eaLnBrk="1" latinLnBrk="0" hangingPunct="1">
        <a:defRPr sz="1950" kern="1200">
          <a:solidFill>
            <a:schemeClr val="tx1"/>
          </a:solidFill>
          <a:latin typeface="+mn-lt"/>
          <a:ea typeface="+mn-ea"/>
          <a:cs typeface="+mn-cs"/>
        </a:defRPr>
      </a:lvl8pPr>
      <a:lvl9pPr marL="3962281" algn="l" defTabSz="990571" rtl="0" eaLnBrk="1" latinLnBrk="0" hangingPunct="1">
        <a:defRPr sz="195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283">
          <p15:clr>
            <a:srgbClr val="F26B43"/>
          </p15:clr>
        </p15:guide>
        <p15:guide id="2" pos="6451">
          <p15:clr>
            <a:srgbClr val="F26B43"/>
          </p15:clr>
        </p15:guide>
        <p15:guide id="3" orient="horz" pos="74">
          <p15:clr>
            <a:srgbClr val="F26B43"/>
          </p15:clr>
        </p15:guide>
        <p15:guide id="4" orient="horz" pos="408">
          <p15:clr>
            <a:srgbClr val="F26B43"/>
          </p15:clr>
        </p15:guide>
        <p15:guide id="5" orient="horz" pos="680">
          <p15:clr>
            <a:srgbClr val="F26B43"/>
          </p15:clr>
        </p15:guide>
        <p15:guide id="6" orient="horz" pos="1224">
          <p15:clr>
            <a:srgbClr val="F26B43"/>
          </p15:clr>
        </p15:guide>
        <p15:guide id="7" orient="horz" pos="4496">
          <p15:clr>
            <a:srgbClr val="F26B43"/>
          </p15:clr>
        </p15:guide>
        <p15:guide id="10" pos="3254">
          <p15:clr>
            <a:srgbClr val="43B02A"/>
          </p15:clr>
        </p15:guide>
        <p15:guide id="11" pos="3480">
          <p15:clr>
            <a:srgbClr val="43B02A"/>
          </p15:clr>
        </p15:guide>
        <p15:guide id="14" orient="horz" pos="2743">
          <p15:clr>
            <a:srgbClr val="43B02A"/>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9"/>
            </p:custDataLst>
          </p:nvPr>
        </p:nvGraphicFramePr>
        <p:xfrm>
          <a:off x="1859" y="1757"/>
          <a:ext cx="1856" cy="1750"/>
        </p:xfrm>
        <a:graphic>
          <a:graphicData uri="http://schemas.openxmlformats.org/presentationml/2006/ole">
            <mc:AlternateContent xmlns:mc="http://schemas.openxmlformats.org/markup-compatibility/2006">
              <mc:Choice xmlns:v="urn:schemas-microsoft-com:vml" Requires="v">
                <p:oleObj name="think-cell Slide" r:id="rId10" imgW="270" imgH="270" progId="TCLayout.ActiveDocument.1">
                  <p:embed/>
                </p:oleObj>
              </mc:Choice>
              <mc:Fallback>
                <p:oleObj name="think-cell Slide" r:id="rId10" imgW="270" imgH="270" progId="TCLayout.ActiveDocument.1">
                  <p:embed/>
                  <p:pic>
                    <p:nvPicPr>
                      <p:cNvPr id="4" name="Object 3" hidden="1"/>
                      <p:cNvPicPr/>
                      <p:nvPr/>
                    </p:nvPicPr>
                    <p:blipFill>
                      <a:blip r:embed="rId11"/>
                      <a:stretch>
                        <a:fillRect/>
                      </a:stretch>
                    </p:blipFill>
                    <p:spPr>
                      <a:xfrm>
                        <a:off x="1859" y="1757"/>
                        <a:ext cx="1856" cy="1750"/>
                      </a:xfrm>
                      <a:prstGeom prst="rect">
                        <a:avLst/>
                      </a:prstGeom>
                    </p:spPr>
                  </p:pic>
                </p:oleObj>
              </mc:Fallback>
            </mc:AlternateContent>
          </a:graphicData>
        </a:graphic>
      </p:graphicFrame>
      <p:sp>
        <p:nvSpPr>
          <p:cNvPr id="19" name="StandardTextbox"/>
          <p:cNvSpPr>
            <a:spLocks noGrp="1"/>
          </p:cNvSpPr>
          <p:nvPr>
            <p:ph type="body" idx="1"/>
          </p:nvPr>
        </p:nvSpPr>
        <p:spPr>
          <a:xfrm>
            <a:off x="449263" y="1943100"/>
            <a:ext cx="2503776" cy="1683382"/>
          </a:xfrm>
          <a:prstGeom prst="rect">
            <a:avLst/>
          </a:prstGeom>
        </p:spPr>
        <p:txBody>
          <a:bodyPr vert="horz" lIns="0" tIns="0" rIns="0" bIns="0" rtlCol="0">
            <a:noAutofit/>
          </a:body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5" name="Ffooter"/>
          <p:cNvSpPr txBox="1"/>
          <p:nvPr userDrawn="1"/>
        </p:nvSpPr>
        <p:spPr>
          <a:xfrm>
            <a:off x="450000" y="7138988"/>
            <a:ext cx="4412733" cy="107722"/>
          </a:xfrm>
          <a:prstGeom prst="rect">
            <a:avLst/>
          </a:prstGeom>
          <a:noFill/>
        </p:spPr>
        <p:txBody>
          <a:bodyPr wrap="square" lIns="0" tIns="0" rIns="0" bIns="0" rtlCol="0" anchor="b">
            <a:spAutoFit/>
          </a:bodyPr>
          <a:lstStyle/>
          <a:p>
            <a:pPr algn="l" rtl="0" fontAlgn="base">
              <a:spcBef>
                <a:spcPct val="0"/>
              </a:spcBef>
              <a:spcAft>
                <a:spcPts val="0"/>
              </a:spcAft>
              <a:tabLst>
                <a:tab pos="9648000" algn="r"/>
              </a:tabLst>
            </a:pPr>
            <a:r>
              <a:rPr lang="en-GB" sz="700" b="0" kern="1200" noProof="0" dirty="0">
                <a:solidFill>
                  <a:srgbClr val="000000"/>
                </a:solidFill>
                <a:latin typeface="+mj-lt"/>
                <a:ea typeface="+mn-ea"/>
                <a:cs typeface="Arial" charset="0"/>
              </a:rPr>
              <a:t>Project Nimbus – Final Report – 20 Oct 2020</a:t>
            </a:r>
          </a:p>
        </p:txBody>
      </p:sp>
      <p:sp>
        <p:nvSpPr>
          <p:cNvPr id="6" name="TextBox 5"/>
          <p:cNvSpPr txBox="1"/>
          <p:nvPr userDrawn="1"/>
        </p:nvSpPr>
        <p:spPr>
          <a:xfrm>
            <a:off x="9825327" y="7137400"/>
            <a:ext cx="415636" cy="107722"/>
          </a:xfrm>
          <a:prstGeom prst="rect">
            <a:avLst/>
          </a:prstGeom>
          <a:noFill/>
        </p:spPr>
        <p:txBody>
          <a:bodyPr wrap="square" lIns="0" tIns="0" rIns="0" bIns="0" rtlCol="0">
            <a:spAutoFit/>
          </a:bodyPr>
          <a:lstStyle/>
          <a:p>
            <a:pPr marL="0" indent="0" algn="r">
              <a:spcBef>
                <a:spcPts val="600"/>
              </a:spcBef>
              <a:buSzPct val="100000"/>
              <a:buFont typeface="Arial"/>
              <a:buNone/>
            </a:pPr>
            <a:fld id="{6A8D1C03-AAA8-43EC-B489-78E602BCCCAE}" type="slidenum">
              <a:rPr lang="en-GB" sz="700" b="0" kern="1200" smtClean="0">
                <a:solidFill>
                  <a:srgbClr val="000000"/>
                </a:solidFill>
                <a:latin typeface="+mj-lt"/>
                <a:ea typeface="+mn-ea"/>
                <a:cs typeface="Arial" charset="0"/>
              </a:rPr>
              <a:pPr marL="0" indent="0" algn="r">
                <a:spcBef>
                  <a:spcPts val="600"/>
                </a:spcBef>
                <a:buSzPct val="100000"/>
                <a:buFont typeface="Arial"/>
                <a:buNone/>
              </a:pPr>
              <a:t>‹#›</a:t>
            </a:fld>
            <a:endParaRPr lang="en-GB" sz="700" b="0" kern="1200" dirty="0">
              <a:solidFill>
                <a:srgbClr val="000000"/>
              </a:solidFill>
              <a:latin typeface="+mj-lt"/>
              <a:ea typeface="+mn-ea"/>
              <a:cs typeface="Arial" charset="0"/>
            </a:endParaRPr>
          </a:p>
        </p:txBody>
      </p:sp>
    </p:spTree>
    <p:extLst>
      <p:ext uri="{BB962C8B-B14F-4D97-AF65-F5344CB8AC3E}">
        <p14:creationId xmlns:p14="http://schemas.microsoft.com/office/powerpoint/2010/main" val="634603948"/>
      </p:ext>
    </p:extLst>
  </p:cSld>
  <p:clrMap bg1="lt1" tx1="dk1" bg2="lt2" tx2="dk2" accent1="accent1" accent2="accent2" accent3="accent3" accent4="accent4" accent5="accent5" accent6="accent6" hlink="hlink" folHlink="folHlink"/>
  <p:sldLayoutIdLst>
    <p:sldLayoutId id="2147483763" r:id="rId1"/>
    <p:sldLayoutId id="2147483764" r:id="rId2"/>
    <p:sldLayoutId id="2147483765" r:id="rId3"/>
    <p:sldLayoutId id="2147483766" r:id="rId4"/>
    <p:sldLayoutId id="2147483767" r:id="rId5"/>
    <p:sldLayoutId id="2147483769" r:id="rId6"/>
    <p:sldLayoutId id="2147483778" r:id="rId7"/>
  </p:sldLayoutIdLst>
  <p:transition>
    <p:fade/>
  </p:transition>
  <p:hf hdr="0" dt="0"/>
  <p:txStyles>
    <p:titleStyle>
      <a:lvl1pPr algn="l" defTabSz="990571" rtl="0" eaLnBrk="1" latinLnBrk="0" hangingPunct="1">
        <a:spcBef>
          <a:spcPct val="0"/>
        </a:spcBef>
        <a:buNone/>
        <a:defRPr sz="2000" kern="1200">
          <a:solidFill>
            <a:schemeClr val="tx1"/>
          </a:solidFill>
          <a:latin typeface="+mj-lt"/>
          <a:ea typeface="+mj-ea"/>
          <a:cs typeface="+mj-cs"/>
        </a:defRPr>
      </a:lvl1pPr>
    </p:titleStyle>
    <p:body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p:bodyStyle>
    <p:otherStyle>
      <a:defPPr>
        <a:defRPr lang="en-US"/>
      </a:defPPr>
      <a:lvl1pPr marL="0" algn="l" defTabSz="990571" rtl="0" eaLnBrk="1" latinLnBrk="0" hangingPunct="1">
        <a:defRPr sz="1950" kern="1200">
          <a:solidFill>
            <a:schemeClr val="tx1"/>
          </a:solidFill>
          <a:latin typeface="+mn-lt"/>
          <a:ea typeface="+mn-ea"/>
          <a:cs typeface="+mn-cs"/>
        </a:defRPr>
      </a:lvl1pPr>
      <a:lvl2pPr marL="495286" algn="l" defTabSz="990571" rtl="0" eaLnBrk="1" latinLnBrk="0" hangingPunct="1">
        <a:defRPr sz="1950" kern="1200">
          <a:solidFill>
            <a:schemeClr val="tx1"/>
          </a:solidFill>
          <a:latin typeface="+mn-lt"/>
          <a:ea typeface="+mn-ea"/>
          <a:cs typeface="+mn-cs"/>
        </a:defRPr>
      </a:lvl2pPr>
      <a:lvl3pPr marL="990571" algn="l" defTabSz="990571" rtl="0" eaLnBrk="1" latinLnBrk="0" hangingPunct="1">
        <a:defRPr sz="1950" kern="1200">
          <a:solidFill>
            <a:schemeClr val="tx1"/>
          </a:solidFill>
          <a:latin typeface="+mn-lt"/>
          <a:ea typeface="+mn-ea"/>
          <a:cs typeface="+mn-cs"/>
        </a:defRPr>
      </a:lvl3pPr>
      <a:lvl4pPr marL="1485856" algn="l" defTabSz="990571" rtl="0" eaLnBrk="1" latinLnBrk="0" hangingPunct="1">
        <a:defRPr sz="1950" kern="1200">
          <a:solidFill>
            <a:schemeClr val="tx1"/>
          </a:solidFill>
          <a:latin typeface="+mn-lt"/>
          <a:ea typeface="+mn-ea"/>
          <a:cs typeface="+mn-cs"/>
        </a:defRPr>
      </a:lvl4pPr>
      <a:lvl5pPr marL="1981140" algn="l" defTabSz="990571" rtl="0" eaLnBrk="1" latinLnBrk="0" hangingPunct="1">
        <a:defRPr sz="1950" kern="1200">
          <a:solidFill>
            <a:schemeClr val="tx1"/>
          </a:solidFill>
          <a:latin typeface="+mn-lt"/>
          <a:ea typeface="+mn-ea"/>
          <a:cs typeface="+mn-cs"/>
        </a:defRPr>
      </a:lvl5pPr>
      <a:lvl6pPr marL="2476426" algn="l" defTabSz="990571" rtl="0" eaLnBrk="1" latinLnBrk="0" hangingPunct="1">
        <a:defRPr sz="1950" kern="1200">
          <a:solidFill>
            <a:schemeClr val="tx1"/>
          </a:solidFill>
          <a:latin typeface="+mn-lt"/>
          <a:ea typeface="+mn-ea"/>
          <a:cs typeface="+mn-cs"/>
        </a:defRPr>
      </a:lvl6pPr>
      <a:lvl7pPr marL="2971711" algn="l" defTabSz="990571" rtl="0" eaLnBrk="1" latinLnBrk="0" hangingPunct="1">
        <a:defRPr sz="1950" kern="1200">
          <a:solidFill>
            <a:schemeClr val="tx1"/>
          </a:solidFill>
          <a:latin typeface="+mn-lt"/>
          <a:ea typeface="+mn-ea"/>
          <a:cs typeface="+mn-cs"/>
        </a:defRPr>
      </a:lvl7pPr>
      <a:lvl8pPr marL="3466995" algn="l" defTabSz="990571" rtl="0" eaLnBrk="1" latinLnBrk="0" hangingPunct="1">
        <a:defRPr sz="1950" kern="1200">
          <a:solidFill>
            <a:schemeClr val="tx1"/>
          </a:solidFill>
          <a:latin typeface="+mn-lt"/>
          <a:ea typeface="+mn-ea"/>
          <a:cs typeface="+mn-cs"/>
        </a:defRPr>
      </a:lvl8pPr>
      <a:lvl9pPr marL="3962281" algn="l" defTabSz="990571" rtl="0" eaLnBrk="1" latinLnBrk="0" hangingPunct="1">
        <a:defRPr sz="195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283">
          <p15:clr>
            <a:srgbClr val="F26B43"/>
          </p15:clr>
        </p15:guide>
        <p15:guide id="2" pos="6451">
          <p15:clr>
            <a:srgbClr val="F26B43"/>
          </p15:clr>
        </p15:guide>
        <p15:guide id="3" orient="horz" pos="74">
          <p15:clr>
            <a:srgbClr val="F26B43"/>
          </p15:clr>
        </p15:guide>
        <p15:guide id="4" orient="horz" pos="408">
          <p15:clr>
            <a:srgbClr val="F26B43"/>
          </p15:clr>
        </p15:guide>
        <p15:guide id="5" orient="horz" pos="680">
          <p15:clr>
            <a:srgbClr val="F26B43"/>
          </p15:clr>
        </p15:guide>
        <p15:guide id="6" orient="horz" pos="1224">
          <p15:clr>
            <a:srgbClr val="F26B43"/>
          </p15:clr>
        </p15:guide>
        <p15:guide id="7" orient="horz" pos="4496">
          <p15:clr>
            <a:srgbClr val="F26B43"/>
          </p15:clr>
        </p15:guide>
        <p15:guide id="10" pos="3254">
          <p15:clr>
            <a:srgbClr val="43B02A"/>
          </p15:clr>
        </p15:guide>
        <p15:guide id="11" pos="3480">
          <p15:clr>
            <a:srgbClr val="43B02A"/>
          </p15:clr>
        </p15:guide>
        <p15:guide id="14" orient="horz" pos="2743">
          <p15:clr>
            <a:srgbClr val="43B02A"/>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9"/>
            </p:custDataLst>
          </p:nvPr>
        </p:nvGraphicFramePr>
        <p:xfrm>
          <a:off x="1859" y="1757"/>
          <a:ext cx="1856" cy="1750"/>
        </p:xfrm>
        <a:graphic>
          <a:graphicData uri="http://schemas.openxmlformats.org/presentationml/2006/ole">
            <mc:AlternateContent xmlns:mc="http://schemas.openxmlformats.org/markup-compatibility/2006">
              <mc:Choice xmlns:v="urn:schemas-microsoft-com:vml" Requires="v">
                <p:oleObj name="think-cell Slide" r:id="rId10" imgW="270" imgH="270" progId="TCLayout.ActiveDocument.1">
                  <p:embed/>
                </p:oleObj>
              </mc:Choice>
              <mc:Fallback>
                <p:oleObj name="think-cell Slide" r:id="rId10" imgW="270" imgH="270" progId="TCLayout.ActiveDocument.1">
                  <p:embed/>
                  <p:pic>
                    <p:nvPicPr>
                      <p:cNvPr id="4" name="Object 3" hidden="1"/>
                      <p:cNvPicPr/>
                      <p:nvPr/>
                    </p:nvPicPr>
                    <p:blipFill>
                      <a:blip r:embed="rId11"/>
                      <a:stretch>
                        <a:fillRect/>
                      </a:stretch>
                    </p:blipFill>
                    <p:spPr>
                      <a:xfrm>
                        <a:off x="1859" y="1757"/>
                        <a:ext cx="1856" cy="1750"/>
                      </a:xfrm>
                      <a:prstGeom prst="rect">
                        <a:avLst/>
                      </a:prstGeom>
                    </p:spPr>
                  </p:pic>
                </p:oleObj>
              </mc:Fallback>
            </mc:AlternateContent>
          </a:graphicData>
        </a:graphic>
      </p:graphicFrame>
      <p:sp>
        <p:nvSpPr>
          <p:cNvPr id="19" name="StandardTextbox"/>
          <p:cNvSpPr>
            <a:spLocks noGrp="1"/>
          </p:cNvSpPr>
          <p:nvPr>
            <p:ph type="body" idx="1"/>
          </p:nvPr>
        </p:nvSpPr>
        <p:spPr>
          <a:xfrm>
            <a:off x="449263" y="1943100"/>
            <a:ext cx="2503776" cy="1683382"/>
          </a:xfrm>
          <a:prstGeom prst="rect">
            <a:avLst/>
          </a:prstGeom>
        </p:spPr>
        <p:txBody>
          <a:bodyPr vert="horz" lIns="0" tIns="0" rIns="0" bIns="0" rtlCol="0">
            <a:noAutofit/>
          </a:body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5" name="Ffooter"/>
          <p:cNvSpPr txBox="1"/>
          <p:nvPr userDrawn="1"/>
        </p:nvSpPr>
        <p:spPr>
          <a:xfrm>
            <a:off x="450000" y="7138988"/>
            <a:ext cx="4412733" cy="107722"/>
          </a:xfrm>
          <a:prstGeom prst="rect">
            <a:avLst/>
          </a:prstGeom>
          <a:noFill/>
        </p:spPr>
        <p:txBody>
          <a:bodyPr wrap="square" lIns="0" tIns="0" rIns="0" bIns="0" rtlCol="0" anchor="b">
            <a:spAutoFit/>
          </a:bodyPr>
          <a:lstStyle/>
          <a:p>
            <a:pPr algn="l" rtl="0" fontAlgn="base">
              <a:spcBef>
                <a:spcPct val="0"/>
              </a:spcBef>
              <a:spcAft>
                <a:spcPts val="0"/>
              </a:spcAft>
              <a:tabLst>
                <a:tab pos="9648000" algn="r"/>
              </a:tabLst>
            </a:pPr>
            <a:r>
              <a:rPr lang="en-GB" sz="700" b="0" kern="1200" noProof="0" dirty="0">
                <a:solidFill>
                  <a:srgbClr val="000000"/>
                </a:solidFill>
                <a:latin typeface="+mj-lt"/>
                <a:ea typeface="+mn-ea"/>
                <a:cs typeface="Arial" charset="0"/>
              </a:rPr>
              <a:t>Project Nimbus – Final Report – 20 Oct 2020</a:t>
            </a:r>
          </a:p>
        </p:txBody>
      </p:sp>
      <p:sp>
        <p:nvSpPr>
          <p:cNvPr id="6" name="TextBox 5"/>
          <p:cNvSpPr txBox="1"/>
          <p:nvPr userDrawn="1"/>
        </p:nvSpPr>
        <p:spPr>
          <a:xfrm>
            <a:off x="9825327" y="7137400"/>
            <a:ext cx="415636" cy="107722"/>
          </a:xfrm>
          <a:prstGeom prst="rect">
            <a:avLst/>
          </a:prstGeom>
          <a:noFill/>
        </p:spPr>
        <p:txBody>
          <a:bodyPr wrap="square" lIns="0" tIns="0" rIns="0" bIns="0" rtlCol="0">
            <a:spAutoFit/>
          </a:bodyPr>
          <a:lstStyle/>
          <a:p>
            <a:pPr marL="0" indent="0" algn="r">
              <a:spcBef>
                <a:spcPts val="600"/>
              </a:spcBef>
              <a:buSzPct val="100000"/>
              <a:buFont typeface="Arial"/>
              <a:buNone/>
            </a:pPr>
            <a:fld id="{6A8D1C03-AAA8-43EC-B489-78E602BCCCAE}" type="slidenum">
              <a:rPr lang="en-GB" sz="700" b="0" kern="1200" smtClean="0">
                <a:solidFill>
                  <a:srgbClr val="000000"/>
                </a:solidFill>
                <a:latin typeface="+mj-lt"/>
                <a:ea typeface="+mn-ea"/>
                <a:cs typeface="Arial" charset="0"/>
              </a:rPr>
              <a:pPr marL="0" indent="0" algn="r">
                <a:spcBef>
                  <a:spcPts val="600"/>
                </a:spcBef>
                <a:buSzPct val="100000"/>
                <a:buFont typeface="Arial"/>
                <a:buNone/>
              </a:pPr>
              <a:t>‹#›</a:t>
            </a:fld>
            <a:endParaRPr lang="en-GB" sz="700" b="0" kern="1200" dirty="0">
              <a:solidFill>
                <a:srgbClr val="000000"/>
              </a:solidFill>
              <a:latin typeface="+mj-lt"/>
              <a:ea typeface="+mn-ea"/>
              <a:cs typeface="Arial" charset="0"/>
            </a:endParaRPr>
          </a:p>
        </p:txBody>
      </p:sp>
    </p:spTree>
    <p:extLst>
      <p:ext uri="{BB962C8B-B14F-4D97-AF65-F5344CB8AC3E}">
        <p14:creationId xmlns:p14="http://schemas.microsoft.com/office/powerpoint/2010/main" val="3274088914"/>
      </p:ext>
    </p:extLst>
  </p:cSld>
  <p:clrMap bg1="lt1" tx1="dk1" bg2="lt2" tx2="dk2" accent1="accent1" accent2="accent2" accent3="accent3" accent4="accent4" accent5="accent5" accent6="accent6" hlink="hlink" folHlink="folHlink"/>
  <p:sldLayoutIdLst>
    <p:sldLayoutId id="2147483771" r:id="rId1"/>
    <p:sldLayoutId id="2147483772" r:id="rId2"/>
    <p:sldLayoutId id="2147483773" r:id="rId3"/>
    <p:sldLayoutId id="2147483774" r:id="rId4"/>
    <p:sldLayoutId id="2147483775" r:id="rId5"/>
    <p:sldLayoutId id="2147483776" r:id="rId6"/>
    <p:sldLayoutId id="2147483777" r:id="rId7"/>
  </p:sldLayoutIdLst>
  <p:transition>
    <p:fade/>
  </p:transition>
  <p:hf hdr="0" dt="0"/>
  <p:txStyles>
    <p:titleStyle>
      <a:lvl1pPr algn="l" defTabSz="990571" rtl="0" eaLnBrk="1" latinLnBrk="0" hangingPunct="1">
        <a:spcBef>
          <a:spcPct val="0"/>
        </a:spcBef>
        <a:buNone/>
        <a:defRPr sz="2000" kern="1200">
          <a:solidFill>
            <a:schemeClr val="tx1"/>
          </a:solidFill>
          <a:latin typeface="+mj-lt"/>
          <a:ea typeface="+mj-ea"/>
          <a:cs typeface="+mj-cs"/>
        </a:defRPr>
      </a:lvl1pPr>
    </p:titleStyle>
    <p:body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p:bodyStyle>
    <p:otherStyle>
      <a:defPPr>
        <a:defRPr lang="en-US"/>
      </a:defPPr>
      <a:lvl1pPr marL="0" algn="l" defTabSz="990571" rtl="0" eaLnBrk="1" latinLnBrk="0" hangingPunct="1">
        <a:defRPr sz="1950" kern="1200">
          <a:solidFill>
            <a:schemeClr val="tx1"/>
          </a:solidFill>
          <a:latin typeface="+mn-lt"/>
          <a:ea typeface="+mn-ea"/>
          <a:cs typeface="+mn-cs"/>
        </a:defRPr>
      </a:lvl1pPr>
      <a:lvl2pPr marL="495286" algn="l" defTabSz="990571" rtl="0" eaLnBrk="1" latinLnBrk="0" hangingPunct="1">
        <a:defRPr sz="1950" kern="1200">
          <a:solidFill>
            <a:schemeClr val="tx1"/>
          </a:solidFill>
          <a:latin typeface="+mn-lt"/>
          <a:ea typeface="+mn-ea"/>
          <a:cs typeface="+mn-cs"/>
        </a:defRPr>
      </a:lvl2pPr>
      <a:lvl3pPr marL="990571" algn="l" defTabSz="990571" rtl="0" eaLnBrk="1" latinLnBrk="0" hangingPunct="1">
        <a:defRPr sz="1950" kern="1200">
          <a:solidFill>
            <a:schemeClr val="tx1"/>
          </a:solidFill>
          <a:latin typeface="+mn-lt"/>
          <a:ea typeface="+mn-ea"/>
          <a:cs typeface="+mn-cs"/>
        </a:defRPr>
      </a:lvl3pPr>
      <a:lvl4pPr marL="1485856" algn="l" defTabSz="990571" rtl="0" eaLnBrk="1" latinLnBrk="0" hangingPunct="1">
        <a:defRPr sz="1950" kern="1200">
          <a:solidFill>
            <a:schemeClr val="tx1"/>
          </a:solidFill>
          <a:latin typeface="+mn-lt"/>
          <a:ea typeface="+mn-ea"/>
          <a:cs typeface="+mn-cs"/>
        </a:defRPr>
      </a:lvl4pPr>
      <a:lvl5pPr marL="1981140" algn="l" defTabSz="990571" rtl="0" eaLnBrk="1" latinLnBrk="0" hangingPunct="1">
        <a:defRPr sz="1950" kern="1200">
          <a:solidFill>
            <a:schemeClr val="tx1"/>
          </a:solidFill>
          <a:latin typeface="+mn-lt"/>
          <a:ea typeface="+mn-ea"/>
          <a:cs typeface="+mn-cs"/>
        </a:defRPr>
      </a:lvl5pPr>
      <a:lvl6pPr marL="2476426" algn="l" defTabSz="990571" rtl="0" eaLnBrk="1" latinLnBrk="0" hangingPunct="1">
        <a:defRPr sz="1950" kern="1200">
          <a:solidFill>
            <a:schemeClr val="tx1"/>
          </a:solidFill>
          <a:latin typeface="+mn-lt"/>
          <a:ea typeface="+mn-ea"/>
          <a:cs typeface="+mn-cs"/>
        </a:defRPr>
      </a:lvl6pPr>
      <a:lvl7pPr marL="2971711" algn="l" defTabSz="990571" rtl="0" eaLnBrk="1" latinLnBrk="0" hangingPunct="1">
        <a:defRPr sz="1950" kern="1200">
          <a:solidFill>
            <a:schemeClr val="tx1"/>
          </a:solidFill>
          <a:latin typeface="+mn-lt"/>
          <a:ea typeface="+mn-ea"/>
          <a:cs typeface="+mn-cs"/>
        </a:defRPr>
      </a:lvl7pPr>
      <a:lvl8pPr marL="3466995" algn="l" defTabSz="990571" rtl="0" eaLnBrk="1" latinLnBrk="0" hangingPunct="1">
        <a:defRPr sz="1950" kern="1200">
          <a:solidFill>
            <a:schemeClr val="tx1"/>
          </a:solidFill>
          <a:latin typeface="+mn-lt"/>
          <a:ea typeface="+mn-ea"/>
          <a:cs typeface="+mn-cs"/>
        </a:defRPr>
      </a:lvl8pPr>
      <a:lvl9pPr marL="3962281" algn="l" defTabSz="990571" rtl="0" eaLnBrk="1" latinLnBrk="0" hangingPunct="1">
        <a:defRPr sz="195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283">
          <p15:clr>
            <a:srgbClr val="F26B43"/>
          </p15:clr>
        </p15:guide>
        <p15:guide id="2" pos="6451">
          <p15:clr>
            <a:srgbClr val="F26B43"/>
          </p15:clr>
        </p15:guide>
        <p15:guide id="3" orient="horz" pos="74">
          <p15:clr>
            <a:srgbClr val="F26B43"/>
          </p15:clr>
        </p15:guide>
        <p15:guide id="4" orient="horz" pos="408">
          <p15:clr>
            <a:srgbClr val="F26B43"/>
          </p15:clr>
        </p15:guide>
        <p15:guide id="5" orient="horz" pos="680">
          <p15:clr>
            <a:srgbClr val="F26B43"/>
          </p15:clr>
        </p15:guide>
        <p15:guide id="6" orient="horz" pos="1224">
          <p15:clr>
            <a:srgbClr val="F26B43"/>
          </p15:clr>
        </p15:guide>
        <p15:guide id="7" orient="horz" pos="4496">
          <p15:clr>
            <a:srgbClr val="F26B43"/>
          </p15:clr>
        </p15:guide>
        <p15:guide id="10" pos="3254">
          <p15:clr>
            <a:srgbClr val="43B02A"/>
          </p15:clr>
        </p15:guide>
        <p15:guide id="11" pos="3480">
          <p15:clr>
            <a:srgbClr val="43B02A"/>
          </p15:clr>
        </p15:guide>
        <p15:guide id="14" orient="horz" pos="2743">
          <p15:clr>
            <a:srgbClr val="43B02A"/>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9"/>
            </p:custDataLst>
          </p:nvPr>
        </p:nvGraphicFramePr>
        <p:xfrm>
          <a:off x="1859" y="1757"/>
          <a:ext cx="1856" cy="1750"/>
        </p:xfrm>
        <a:graphic>
          <a:graphicData uri="http://schemas.openxmlformats.org/presentationml/2006/ole">
            <mc:AlternateContent xmlns:mc="http://schemas.openxmlformats.org/markup-compatibility/2006">
              <mc:Choice xmlns:v="urn:schemas-microsoft-com:vml" Requires="v">
                <p:oleObj name="think-cell Slide" r:id="rId10" imgW="270" imgH="270" progId="TCLayout.ActiveDocument.1">
                  <p:embed/>
                </p:oleObj>
              </mc:Choice>
              <mc:Fallback>
                <p:oleObj name="think-cell Slide" r:id="rId10" imgW="270" imgH="270" progId="TCLayout.ActiveDocument.1">
                  <p:embed/>
                  <p:pic>
                    <p:nvPicPr>
                      <p:cNvPr id="4" name="Object 3" hidden="1"/>
                      <p:cNvPicPr/>
                      <p:nvPr/>
                    </p:nvPicPr>
                    <p:blipFill>
                      <a:blip r:embed="rId11"/>
                      <a:stretch>
                        <a:fillRect/>
                      </a:stretch>
                    </p:blipFill>
                    <p:spPr>
                      <a:xfrm>
                        <a:off x="1859" y="1757"/>
                        <a:ext cx="1856" cy="1750"/>
                      </a:xfrm>
                      <a:prstGeom prst="rect">
                        <a:avLst/>
                      </a:prstGeom>
                    </p:spPr>
                  </p:pic>
                </p:oleObj>
              </mc:Fallback>
            </mc:AlternateContent>
          </a:graphicData>
        </a:graphic>
      </p:graphicFrame>
      <p:sp>
        <p:nvSpPr>
          <p:cNvPr id="19" name="StandardTextbox"/>
          <p:cNvSpPr>
            <a:spLocks noGrp="1"/>
          </p:cNvSpPr>
          <p:nvPr>
            <p:ph type="body" idx="1"/>
          </p:nvPr>
        </p:nvSpPr>
        <p:spPr>
          <a:xfrm>
            <a:off x="449263" y="1943100"/>
            <a:ext cx="2503776" cy="1683382"/>
          </a:xfrm>
          <a:prstGeom prst="rect">
            <a:avLst/>
          </a:prstGeom>
        </p:spPr>
        <p:txBody>
          <a:bodyPr vert="horz" lIns="0" tIns="0" rIns="0" bIns="0" rtlCol="0">
            <a:noAutofit/>
          </a:body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6" name="TextBox 5"/>
          <p:cNvSpPr txBox="1"/>
          <p:nvPr userDrawn="1"/>
        </p:nvSpPr>
        <p:spPr>
          <a:xfrm>
            <a:off x="9825327" y="7137400"/>
            <a:ext cx="415636" cy="107722"/>
          </a:xfrm>
          <a:prstGeom prst="rect">
            <a:avLst/>
          </a:prstGeom>
          <a:noFill/>
        </p:spPr>
        <p:txBody>
          <a:bodyPr wrap="square" lIns="0" tIns="0" rIns="0" bIns="0" rtlCol="0">
            <a:spAutoFit/>
          </a:bodyPr>
          <a:lstStyle/>
          <a:p>
            <a:pPr marL="0" indent="0" algn="r">
              <a:spcBef>
                <a:spcPts val="600"/>
              </a:spcBef>
              <a:buSzPct val="100000"/>
              <a:buFont typeface="Arial"/>
              <a:buNone/>
            </a:pPr>
            <a:fld id="{6A8D1C03-AAA8-43EC-B489-78E602BCCCAE}" type="slidenum">
              <a:rPr lang="en-GB" sz="700" b="0" kern="1200" smtClean="0">
                <a:solidFill>
                  <a:srgbClr val="000000"/>
                </a:solidFill>
                <a:latin typeface="+mj-lt"/>
                <a:ea typeface="+mn-ea"/>
                <a:cs typeface="Arial" charset="0"/>
              </a:rPr>
              <a:pPr marL="0" indent="0" algn="r">
                <a:spcBef>
                  <a:spcPts val="600"/>
                </a:spcBef>
                <a:buSzPct val="100000"/>
                <a:buFont typeface="Arial"/>
                <a:buNone/>
              </a:pPr>
              <a:t>‹#›</a:t>
            </a:fld>
            <a:endParaRPr lang="en-GB" sz="700" b="0" kern="1200" dirty="0">
              <a:solidFill>
                <a:srgbClr val="000000"/>
              </a:solidFill>
              <a:latin typeface="+mj-lt"/>
              <a:ea typeface="+mn-ea"/>
              <a:cs typeface="Arial" charset="0"/>
            </a:endParaRPr>
          </a:p>
        </p:txBody>
      </p:sp>
      <p:sp>
        <p:nvSpPr>
          <p:cNvPr id="7" name="Ffooter"/>
          <p:cNvSpPr txBox="1"/>
          <p:nvPr userDrawn="1"/>
        </p:nvSpPr>
        <p:spPr>
          <a:xfrm>
            <a:off x="450000" y="7138988"/>
            <a:ext cx="4412733" cy="107722"/>
          </a:xfrm>
          <a:prstGeom prst="rect">
            <a:avLst/>
          </a:prstGeom>
          <a:noFill/>
        </p:spPr>
        <p:txBody>
          <a:bodyPr wrap="square" lIns="0" tIns="0" rIns="0" bIns="0" rtlCol="0" anchor="b">
            <a:spAutoFit/>
          </a:bodyPr>
          <a:lstStyle/>
          <a:p>
            <a:pPr algn="l" rtl="0" fontAlgn="base">
              <a:spcBef>
                <a:spcPct val="0"/>
              </a:spcBef>
              <a:spcAft>
                <a:spcPts val="0"/>
              </a:spcAft>
              <a:tabLst>
                <a:tab pos="9648000" algn="r"/>
              </a:tabLst>
            </a:pPr>
            <a:r>
              <a:rPr lang="en-GB" sz="700" b="0" kern="1200" noProof="0" dirty="0">
                <a:solidFill>
                  <a:srgbClr val="000000"/>
                </a:solidFill>
                <a:latin typeface="+mj-lt"/>
                <a:ea typeface="+mn-ea"/>
                <a:cs typeface="Arial" charset="0"/>
              </a:rPr>
              <a:t>Project Nimbus – Final Report – 20 Oct 2020</a:t>
            </a:r>
          </a:p>
        </p:txBody>
      </p:sp>
    </p:spTree>
    <p:extLst>
      <p:ext uri="{BB962C8B-B14F-4D97-AF65-F5344CB8AC3E}">
        <p14:creationId xmlns:p14="http://schemas.microsoft.com/office/powerpoint/2010/main" val="4028423463"/>
      </p:ext>
    </p:extLst>
  </p:cSld>
  <p:clrMap bg1="lt1" tx1="dk1" bg2="lt2" tx2="dk2" accent1="accent1" accent2="accent2" accent3="accent3" accent4="accent4" accent5="accent5" accent6="accent6" hlink="hlink" folHlink="folHlink"/>
  <p:sldLayoutIdLst>
    <p:sldLayoutId id="2147483780" r:id="rId1"/>
    <p:sldLayoutId id="2147483781" r:id="rId2"/>
    <p:sldLayoutId id="2147483782" r:id="rId3"/>
    <p:sldLayoutId id="2147483783" r:id="rId4"/>
    <p:sldLayoutId id="2147483784" r:id="rId5"/>
    <p:sldLayoutId id="2147483785" r:id="rId6"/>
    <p:sldLayoutId id="2147483786" r:id="rId7"/>
  </p:sldLayoutIdLst>
  <p:transition>
    <p:fade/>
  </p:transition>
  <p:hf hdr="0" dt="0"/>
  <p:txStyles>
    <p:titleStyle>
      <a:lvl1pPr algn="l" defTabSz="990571" rtl="0" eaLnBrk="1" latinLnBrk="0" hangingPunct="1">
        <a:spcBef>
          <a:spcPct val="0"/>
        </a:spcBef>
        <a:buNone/>
        <a:defRPr sz="2000" kern="1200">
          <a:solidFill>
            <a:schemeClr val="tx1"/>
          </a:solidFill>
          <a:latin typeface="+mj-lt"/>
          <a:ea typeface="+mj-ea"/>
          <a:cs typeface="+mj-cs"/>
        </a:defRPr>
      </a:lvl1pPr>
    </p:titleStyle>
    <p:body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p:bodyStyle>
    <p:otherStyle>
      <a:defPPr>
        <a:defRPr lang="en-US"/>
      </a:defPPr>
      <a:lvl1pPr marL="0" algn="l" defTabSz="990571" rtl="0" eaLnBrk="1" latinLnBrk="0" hangingPunct="1">
        <a:defRPr sz="1950" kern="1200">
          <a:solidFill>
            <a:schemeClr val="tx1"/>
          </a:solidFill>
          <a:latin typeface="+mn-lt"/>
          <a:ea typeface="+mn-ea"/>
          <a:cs typeface="+mn-cs"/>
        </a:defRPr>
      </a:lvl1pPr>
      <a:lvl2pPr marL="495286" algn="l" defTabSz="990571" rtl="0" eaLnBrk="1" latinLnBrk="0" hangingPunct="1">
        <a:defRPr sz="1950" kern="1200">
          <a:solidFill>
            <a:schemeClr val="tx1"/>
          </a:solidFill>
          <a:latin typeface="+mn-lt"/>
          <a:ea typeface="+mn-ea"/>
          <a:cs typeface="+mn-cs"/>
        </a:defRPr>
      </a:lvl2pPr>
      <a:lvl3pPr marL="990571" algn="l" defTabSz="990571" rtl="0" eaLnBrk="1" latinLnBrk="0" hangingPunct="1">
        <a:defRPr sz="1950" kern="1200">
          <a:solidFill>
            <a:schemeClr val="tx1"/>
          </a:solidFill>
          <a:latin typeface="+mn-lt"/>
          <a:ea typeface="+mn-ea"/>
          <a:cs typeface="+mn-cs"/>
        </a:defRPr>
      </a:lvl3pPr>
      <a:lvl4pPr marL="1485856" algn="l" defTabSz="990571" rtl="0" eaLnBrk="1" latinLnBrk="0" hangingPunct="1">
        <a:defRPr sz="1950" kern="1200">
          <a:solidFill>
            <a:schemeClr val="tx1"/>
          </a:solidFill>
          <a:latin typeface="+mn-lt"/>
          <a:ea typeface="+mn-ea"/>
          <a:cs typeface="+mn-cs"/>
        </a:defRPr>
      </a:lvl4pPr>
      <a:lvl5pPr marL="1981140" algn="l" defTabSz="990571" rtl="0" eaLnBrk="1" latinLnBrk="0" hangingPunct="1">
        <a:defRPr sz="1950" kern="1200">
          <a:solidFill>
            <a:schemeClr val="tx1"/>
          </a:solidFill>
          <a:latin typeface="+mn-lt"/>
          <a:ea typeface="+mn-ea"/>
          <a:cs typeface="+mn-cs"/>
        </a:defRPr>
      </a:lvl5pPr>
      <a:lvl6pPr marL="2476426" algn="l" defTabSz="990571" rtl="0" eaLnBrk="1" latinLnBrk="0" hangingPunct="1">
        <a:defRPr sz="1950" kern="1200">
          <a:solidFill>
            <a:schemeClr val="tx1"/>
          </a:solidFill>
          <a:latin typeface="+mn-lt"/>
          <a:ea typeface="+mn-ea"/>
          <a:cs typeface="+mn-cs"/>
        </a:defRPr>
      </a:lvl6pPr>
      <a:lvl7pPr marL="2971711" algn="l" defTabSz="990571" rtl="0" eaLnBrk="1" latinLnBrk="0" hangingPunct="1">
        <a:defRPr sz="1950" kern="1200">
          <a:solidFill>
            <a:schemeClr val="tx1"/>
          </a:solidFill>
          <a:latin typeface="+mn-lt"/>
          <a:ea typeface="+mn-ea"/>
          <a:cs typeface="+mn-cs"/>
        </a:defRPr>
      </a:lvl7pPr>
      <a:lvl8pPr marL="3466995" algn="l" defTabSz="990571" rtl="0" eaLnBrk="1" latinLnBrk="0" hangingPunct="1">
        <a:defRPr sz="1950" kern="1200">
          <a:solidFill>
            <a:schemeClr val="tx1"/>
          </a:solidFill>
          <a:latin typeface="+mn-lt"/>
          <a:ea typeface="+mn-ea"/>
          <a:cs typeface="+mn-cs"/>
        </a:defRPr>
      </a:lvl8pPr>
      <a:lvl9pPr marL="3962281" algn="l" defTabSz="990571" rtl="0" eaLnBrk="1" latinLnBrk="0" hangingPunct="1">
        <a:defRPr sz="195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283">
          <p15:clr>
            <a:srgbClr val="F26B43"/>
          </p15:clr>
        </p15:guide>
        <p15:guide id="2" pos="6451">
          <p15:clr>
            <a:srgbClr val="F26B43"/>
          </p15:clr>
        </p15:guide>
        <p15:guide id="3" orient="horz" pos="74">
          <p15:clr>
            <a:srgbClr val="F26B43"/>
          </p15:clr>
        </p15:guide>
        <p15:guide id="4" orient="horz" pos="408">
          <p15:clr>
            <a:srgbClr val="F26B43"/>
          </p15:clr>
        </p15:guide>
        <p15:guide id="5" orient="horz" pos="680">
          <p15:clr>
            <a:srgbClr val="F26B43"/>
          </p15:clr>
        </p15:guide>
        <p15:guide id="6" orient="horz" pos="1224">
          <p15:clr>
            <a:srgbClr val="F26B43"/>
          </p15:clr>
        </p15:guide>
        <p15:guide id="7" orient="horz" pos="4496">
          <p15:clr>
            <a:srgbClr val="F26B43"/>
          </p15:clr>
        </p15:guide>
        <p15:guide id="10" pos="3254">
          <p15:clr>
            <a:srgbClr val="43B02A"/>
          </p15:clr>
        </p15:guide>
        <p15:guide id="11" pos="3480">
          <p15:clr>
            <a:srgbClr val="43B02A"/>
          </p15:clr>
        </p15:guide>
        <p15:guide id="14" orient="horz" pos="2743">
          <p15:clr>
            <a:srgbClr val="43B02A"/>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8"/>
            </p:custDataLst>
          </p:nvPr>
        </p:nvGraphicFramePr>
        <p:xfrm>
          <a:off x="1859" y="1757"/>
          <a:ext cx="1856" cy="1750"/>
        </p:xfrm>
        <a:graphic>
          <a:graphicData uri="http://schemas.openxmlformats.org/presentationml/2006/ole">
            <mc:AlternateContent xmlns:mc="http://schemas.openxmlformats.org/markup-compatibility/2006">
              <mc:Choice xmlns:v="urn:schemas-microsoft-com:vml" Requires="v">
                <p:oleObj name="think-cell Slide" r:id="rId9" imgW="270" imgH="270" progId="TCLayout.ActiveDocument.1">
                  <p:embed/>
                </p:oleObj>
              </mc:Choice>
              <mc:Fallback>
                <p:oleObj name="think-cell Slide" r:id="rId9" imgW="270" imgH="270" progId="TCLayout.ActiveDocument.1">
                  <p:embed/>
                  <p:pic>
                    <p:nvPicPr>
                      <p:cNvPr id="4" name="Object 3" hidden="1"/>
                      <p:cNvPicPr/>
                      <p:nvPr/>
                    </p:nvPicPr>
                    <p:blipFill>
                      <a:blip r:embed="rId10"/>
                      <a:stretch>
                        <a:fillRect/>
                      </a:stretch>
                    </p:blipFill>
                    <p:spPr>
                      <a:xfrm>
                        <a:off x="1859" y="1757"/>
                        <a:ext cx="1856" cy="1750"/>
                      </a:xfrm>
                      <a:prstGeom prst="rect">
                        <a:avLst/>
                      </a:prstGeom>
                    </p:spPr>
                  </p:pic>
                </p:oleObj>
              </mc:Fallback>
            </mc:AlternateContent>
          </a:graphicData>
        </a:graphic>
      </p:graphicFrame>
      <p:sp>
        <p:nvSpPr>
          <p:cNvPr id="19" name="StandardTextbox"/>
          <p:cNvSpPr>
            <a:spLocks noGrp="1"/>
          </p:cNvSpPr>
          <p:nvPr>
            <p:ph type="body" idx="1"/>
          </p:nvPr>
        </p:nvSpPr>
        <p:spPr>
          <a:xfrm>
            <a:off x="449263" y="1943100"/>
            <a:ext cx="2503776" cy="1683382"/>
          </a:xfrm>
          <a:prstGeom prst="rect">
            <a:avLst/>
          </a:prstGeom>
        </p:spPr>
        <p:txBody>
          <a:bodyPr vert="horz" lIns="0" tIns="0" rIns="0" bIns="0" rtlCol="0">
            <a:noAutofit/>
          </a:body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5" name="Ffooter"/>
          <p:cNvSpPr txBox="1"/>
          <p:nvPr userDrawn="1"/>
        </p:nvSpPr>
        <p:spPr>
          <a:xfrm>
            <a:off x="450000" y="7138988"/>
            <a:ext cx="4412733" cy="107722"/>
          </a:xfrm>
          <a:prstGeom prst="rect">
            <a:avLst/>
          </a:prstGeom>
          <a:noFill/>
        </p:spPr>
        <p:txBody>
          <a:bodyPr wrap="square" lIns="0" tIns="0" rIns="0" bIns="0" rtlCol="0" anchor="b">
            <a:spAutoFit/>
          </a:bodyPr>
          <a:lstStyle/>
          <a:p>
            <a:pPr algn="l" rtl="0" fontAlgn="base">
              <a:spcBef>
                <a:spcPct val="0"/>
              </a:spcBef>
              <a:spcAft>
                <a:spcPts val="0"/>
              </a:spcAft>
              <a:tabLst>
                <a:tab pos="9648000" algn="r"/>
              </a:tabLst>
            </a:pPr>
            <a:r>
              <a:rPr lang="en-GB" sz="700" b="0" kern="1200" noProof="0" dirty="0">
                <a:solidFill>
                  <a:srgbClr val="000000"/>
                </a:solidFill>
                <a:latin typeface="+mj-lt"/>
                <a:ea typeface="+mn-ea"/>
                <a:cs typeface="Arial" charset="0"/>
              </a:rPr>
              <a:t>Project Nimbus – Final Report – 20 Oct 2020</a:t>
            </a:r>
          </a:p>
        </p:txBody>
      </p:sp>
      <p:sp>
        <p:nvSpPr>
          <p:cNvPr id="6" name="TextBox 5"/>
          <p:cNvSpPr txBox="1"/>
          <p:nvPr userDrawn="1"/>
        </p:nvSpPr>
        <p:spPr>
          <a:xfrm>
            <a:off x="9825327" y="7137400"/>
            <a:ext cx="415636" cy="107722"/>
          </a:xfrm>
          <a:prstGeom prst="rect">
            <a:avLst/>
          </a:prstGeom>
          <a:noFill/>
        </p:spPr>
        <p:txBody>
          <a:bodyPr wrap="square" lIns="0" tIns="0" rIns="0" bIns="0" rtlCol="0">
            <a:spAutoFit/>
          </a:bodyPr>
          <a:lstStyle/>
          <a:p>
            <a:pPr marL="0" indent="0" algn="r">
              <a:spcBef>
                <a:spcPts val="600"/>
              </a:spcBef>
              <a:buSzPct val="100000"/>
              <a:buFont typeface="Arial"/>
              <a:buNone/>
            </a:pPr>
            <a:fld id="{6A8D1C03-AAA8-43EC-B489-78E602BCCCAE}" type="slidenum">
              <a:rPr lang="en-GB" sz="700" b="0" kern="1200" smtClean="0">
                <a:solidFill>
                  <a:srgbClr val="000000"/>
                </a:solidFill>
                <a:latin typeface="+mj-lt"/>
                <a:ea typeface="+mn-ea"/>
                <a:cs typeface="Arial" charset="0"/>
              </a:rPr>
              <a:pPr marL="0" indent="0" algn="r">
                <a:spcBef>
                  <a:spcPts val="600"/>
                </a:spcBef>
                <a:buSzPct val="100000"/>
                <a:buFont typeface="Arial"/>
                <a:buNone/>
              </a:pPr>
              <a:t>‹#›</a:t>
            </a:fld>
            <a:endParaRPr lang="en-GB" sz="700" b="0" kern="1200" dirty="0">
              <a:solidFill>
                <a:srgbClr val="000000"/>
              </a:solidFill>
              <a:latin typeface="+mj-lt"/>
              <a:ea typeface="+mn-ea"/>
              <a:cs typeface="Arial" charset="0"/>
            </a:endParaRPr>
          </a:p>
        </p:txBody>
      </p:sp>
    </p:spTree>
    <p:extLst>
      <p:ext uri="{BB962C8B-B14F-4D97-AF65-F5344CB8AC3E}">
        <p14:creationId xmlns:p14="http://schemas.microsoft.com/office/powerpoint/2010/main" val="1020091988"/>
      </p:ext>
    </p:extLst>
  </p:cSld>
  <p:clrMap bg1="lt1" tx1="dk1" bg2="lt2" tx2="dk2" accent1="accent1" accent2="accent2" accent3="accent3" accent4="accent4" accent5="accent5" accent6="accent6" hlink="hlink" folHlink="folHlink"/>
  <p:sldLayoutIdLst>
    <p:sldLayoutId id="2147483788" r:id="rId1"/>
    <p:sldLayoutId id="2147483789" r:id="rId2"/>
    <p:sldLayoutId id="2147483790" r:id="rId3"/>
    <p:sldLayoutId id="2147483791" r:id="rId4"/>
    <p:sldLayoutId id="2147483792" r:id="rId5"/>
    <p:sldLayoutId id="2147483793" r:id="rId6"/>
  </p:sldLayoutIdLst>
  <p:transition>
    <p:fade/>
  </p:transition>
  <p:hf hdr="0" dt="0"/>
  <p:txStyles>
    <p:titleStyle>
      <a:lvl1pPr algn="l" defTabSz="990571" rtl="0" eaLnBrk="1" latinLnBrk="0" hangingPunct="1">
        <a:spcBef>
          <a:spcPct val="0"/>
        </a:spcBef>
        <a:buNone/>
        <a:defRPr sz="2000" kern="1200">
          <a:solidFill>
            <a:schemeClr val="tx1"/>
          </a:solidFill>
          <a:latin typeface="+mj-lt"/>
          <a:ea typeface="+mj-ea"/>
          <a:cs typeface="+mj-cs"/>
        </a:defRPr>
      </a:lvl1pPr>
    </p:titleStyle>
    <p:body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p:bodyStyle>
    <p:otherStyle>
      <a:defPPr>
        <a:defRPr lang="en-US"/>
      </a:defPPr>
      <a:lvl1pPr marL="0" algn="l" defTabSz="990571" rtl="0" eaLnBrk="1" latinLnBrk="0" hangingPunct="1">
        <a:defRPr sz="1950" kern="1200">
          <a:solidFill>
            <a:schemeClr val="tx1"/>
          </a:solidFill>
          <a:latin typeface="+mn-lt"/>
          <a:ea typeface="+mn-ea"/>
          <a:cs typeface="+mn-cs"/>
        </a:defRPr>
      </a:lvl1pPr>
      <a:lvl2pPr marL="495286" algn="l" defTabSz="990571" rtl="0" eaLnBrk="1" latinLnBrk="0" hangingPunct="1">
        <a:defRPr sz="1950" kern="1200">
          <a:solidFill>
            <a:schemeClr val="tx1"/>
          </a:solidFill>
          <a:latin typeface="+mn-lt"/>
          <a:ea typeface="+mn-ea"/>
          <a:cs typeface="+mn-cs"/>
        </a:defRPr>
      </a:lvl2pPr>
      <a:lvl3pPr marL="990571" algn="l" defTabSz="990571" rtl="0" eaLnBrk="1" latinLnBrk="0" hangingPunct="1">
        <a:defRPr sz="1950" kern="1200">
          <a:solidFill>
            <a:schemeClr val="tx1"/>
          </a:solidFill>
          <a:latin typeface="+mn-lt"/>
          <a:ea typeface="+mn-ea"/>
          <a:cs typeface="+mn-cs"/>
        </a:defRPr>
      </a:lvl3pPr>
      <a:lvl4pPr marL="1485856" algn="l" defTabSz="990571" rtl="0" eaLnBrk="1" latinLnBrk="0" hangingPunct="1">
        <a:defRPr sz="1950" kern="1200">
          <a:solidFill>
            <a:schemeClr val="tx1"/>
          </a:solidFill>
          <a:latin typeface="+mn-lt"/>
          <a:ea typeface="+mn-ea"/>
          <a:cs typeface="+mn-cs"/>
        </a:defRPr>
      </a:lvl4pPr>
      <a:lvl5pPr marL="1981140" algn="l" defTabSz="990571" rtl="0" eaLnBrk="1" latinLnBrk="0" hangingPunct="1">
        <a:defRPr sz="1950" kern="1200">
          <a:solidFill>
            <a:schemeClr val="tx1"/>
          </a:solidFill>
          <a:latin typeface="+mn-lt"/>
          <a:ea typeface="+mn-ea"/>
          <a:cs typeface="+mn-cs"/>
        </a:defRPr>
      </a:lvl5pPr>
      <a:lvl6pPr marL="2476426" algn="l" defTabSz="990571" rtl="0" eaLnBrk="1" latinLnBrk="0" hangingPunct="1">
        <a:defRPr sz="1950" kern="1200">
          <a:solidFill>
            <a:schemeClr val="tx1"/>
          </a:solidFill>
          <a:latin typeface="+mn-lt"/>
          <a:ea typeface="+mn-ea"/>
          <a:cs typeface="+mn-cs"/>
        </a:defRPr>
      </a:lvl6pPr>
      <a:lvl7pPr marL="2971711" algn="l" defTabSz="990571" rtl="0" eaLnBrk="1" latinLnBrk="0" hangingPunct="1">
        <a:defRPr sz="1950" kern="1200">
          <a:solidFill>
            <a:schemeClr val="tx1"/>
          </a:solidFill>
          <a:latin typeface="+mn-lt"/>
          <a:ea typeface="+mn-ea"/>
          <a:cs typeface="+mn-cs"/>
        </a:defRPr>
      </a:lvl7pPr>
      <a:lvl8pPr marL="3466995" algn="l" defTabSz="990571" rtl="0" eaLnBrk="1" latinLnBrk="0" hangingPunct="1">
        <a:defRPr sz="1950" kern="1200">
          <a:solidFill>
            <a:schemeClr val="tx1"/>
          </a:solidFill>
          <a:latin typeface="+mn-lt"/>
          <a:ea typeface="+mn-ea"/>
          <a:cs typeface="+mn-cs"/>
        </a:defRPr>
      </a:lvl8pPr>
      <a:lvl9pPr marL="3962281" algn="l" defTabSz="990571" rtl="0" eaLnBrk="1" latinLnBrk="0" hangingPunct="1">
        <a:defRPr sz="195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283">
          <p15:clr>
            <a:srgbClr val="F26B43"/>
          </p15:clr>
        </p15:guide>
        <p15:guide id="2" pos="6451">
          <p15:clr>
            <a:srgbClr val="F26B43"/>
          </p15:clr>
        </p15:guide>
        <p15:guide id="3" orient="horz" pos="74">
          <p15:clr>
            <a:srgbClr val="F26B43"/>
          </p15:clr>
        </p15:guide>
        <p15:guide id="4" orient="horz" pos="408">
          <p15:clr>
            <a:srgbClr val="F26B43"/>
          </p15:clr>
        </p15:guide>
        <p15:guide id="5" orient="horz" pos="680">
          <p15:clr>
            <a:srgbClr val="F26B43"/>
          </p15:clr>
        </p15:guide>
        <p15:guide id="6" orient="horz" pos="1224">
          <p15:clr>
            <a:srgbClr val="F26B43"/>
          </p15:clr>
        </p15:guide>
        <p15:guide id="7" orient="horz" pos="4496">
          <p15:clr>
            <a:srgbClr val="F26B43"/>
          </p15:clr>
        </p15:guide>
        <p15:guide id="10" pos="3254">
          <p15:clr>
            <a:srgbClr val="43B02A"/>
          </p15:clr>
        </p15:guide>
        <p15:guide id="11" pos="3480">
          <p15:clr>
            <a:srgbClr val="43B02A"/>
          </p15:clr>
        </p15:guide>
        <p15:guide id="14" orient="horz" pos="2743">
          <p15:clr>
            <a:srgbClr val="43B02A"/>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12.xml"/><Relationship Id="rId1" Type="http://schemas.openxmlformats.org/officeDocument/2006/relationships/tags" Target="../tags/tag9.xml"/><Relationship Id="rId6" Type="http://schemas.openxmlformats.org/officeDocument/2006/relationships/image" Target="../media/image8.jpeg"/><Relationship Id="rId5" Type="http://schemas.openxmlformats.org/officeDocument/2006/relationships/image" Target="../media/image7.emf"/><Relationship Id="rId4" Type="http://schemas.openxmlformats.org/officeDocument/2006/relationships/oleObject" Target="../embeddings/oleObject7.bin"/></Relationships>
</file>

<file path=ppt/slides/_rels/slide2.xml.rels><?xml version="1.0" encoding="UTF-8" standalone="yes"?>
<Relationships xmlns="http://schemas.openxmlformats.org/package/2006/relationships"><Relationship Id="rId3" Type="http://schemas.openxmlformats.org/officeDocument/2006/relationships/oleObject" Target="../embeddings/oleObject8.bin"/><Relationship Id="rId2" Type="http://schemas.openxmlformats.org/officeDocument/2006/relationships/slideLayout" Target="../slideLayouts/slideLayout7.xml"/><Relationship Id="rId1" Type="http://schemas.openxmlformats.org/officeDocument/2006/relationships/tags" Target="../tags/tag10.xml"/><Relationship Id="rId4" Type="http://schemas.openxmlformats.org/officeDocument/2006/relationships/image" Target="../media/image9.emf"/></Relationships>
</file>

<file path=ppt/slides/_rels/slide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12.xml"/><Relationship Id="rId1" Type="http://schemas.openxmlformats.org/officeDocument/2006/relationships/tags" Target="../tags/tag11.xml"/><Relationship Id="rId5" Type="http://schemas.openxmlformats.org/officeDocument/2006/relationships/image" Target="../media/image9.emf"/><Relationship Id="rId4" Type="http://schemas.openxmlformats.org/officeDocument/2006/relationships/oleObject" Target="../embeddings/oleObject9.bin"/></Relationships>
</file>

<file path=ppt/slides/_rels/slide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14.xml"/><Relationship Id="rId1" Type="http://schemas.openxmlformats.org/officeDocument/2006/relationships/tags" Target="../tags/tag13.xml"/><Relationship Id="rId5" Type="http://schemas.openxmlformats.org/officeDocument/2006/relationships/image" Target="../media/image9.emf"/><Relationship Id="rId4" Type="http://schemas.openxmlformats.org/officeDocument/2006/relationships/oleObject" Target="../embeddings/oleObject10.bin"/></Relationships>
</file>

<file path=ppt/slides/_rels/slide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16.xml"/><Relationship Id="rId1" Type="http://schemas.openxmlformats.org/officeDocument/2006/relationships/tags" Target="../tags/tag15.xml"/><Relationship Id="rId5" Type="http://schemas.openxmlformats.org/officeDocument/2006/relationships/image" Target="../media/image9.emf"/><Relationship Id="rId4" Type="http://schemas.openxmlformats.org/officeDocument/2006/relationships/oleObject" Target="../embeddings/oleObject11.bin"/></Relationships>
</file>

<file path=ppt/slides/_rels/slide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18.xml"/><Relationship Id="rId1" Type="http://schemas.openxmlformats.org/officeDocument/2006/relationships/tags" Target="../tags/tag17.xml"/><Relationship Id="rId5" Type="http://schemas.openxmlformats.org/officeDocument/2006/relationships/image" Target="../media/image9.emf"/><Relationship Id="rId4" Type="http://schemas.openxmlformats.org/officeDocument/2006/relationships/oleObject" Target="../embeddings/oleObject12.bin"/></Relationships>
</file>

<file path=ppt/slides/_rels/slide7.xml.rels><?xml version="1.0" encoding="UTF-8" standalone="yes"?>
<Relationships xmlns="http://schemas.openxmlformats.org/package/2006/relationships"><Relationship Id="rId3" Type="http://schemas.openxmlformats.org/officeDocument/2006/relationships/slideLayout" Target="../slideLayouts/slideLayout11.xml"/><Relationship Id="rId2" Type="http://schemas.openxmlformats.org/officeDocument/2006/relationships/tags" Target="../tags/tag20.xml"/><Relationship Id="rId1" Type="http://schemas.openxmlformats.org/officeDocument/2006/relationships/tags" Target="../tags/tag19.xml"/><Relationship Id="rId6" Type="http://schemas.openxmlformats.org/officeDocument/2006/relationships/image" Target="../media/image9.emf"/><Relationship Id="rId5" Type="http://schemas.openxmlformats.org/officeDocument/2006/relationships/oleObject" Target="../embeddings/oleObject13.bin"/><Relationship Id="rId4" Type="http://schemas.openxmlformats.org/officeDocument/2006/relationships/notesSlide" Target="../notesSlides/notesSlide2.xml"/></Relationships>
</file>

<file path=ppt/slides/_rels/slide8.xml.rels><?xml version="1.0" encoding="UTF-8" standalone="yes"?>
<Relationships xmlns="http://schemas.openxmlformats.org/package/2006/relationships"><Relationship Id="rId3" Type="http://schemas.openxmlformats.org/officeDocument/2006/relationships/oleObject" Target="../embeddings/oleObject14.bin"/><Relationship Id="rId2" Type="http://schemas.openxmlformats.org/officeDocument/2006/relationships/slideLayout" Target="../slideLayouts/slideLayout7.xml"/><Relationship Id="rId1" Type="http://schemas.openxmlformats.org/officeDocument/2006/relationships/tags" Target="../tags/tag21.xml"/><Relationship Id="rId4" Type="http://schemas.openxmlformats.org/officeDocument/2006/relationships/image" Target="../media/image9.emf"/></Relationships>
</file>

<file path=ppt/slides/_rels/slide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23.xml"/><Relationship Id="rId1" Type="http://schemas.openxmlformats.org/officeDocument/2006/relationships/tags" Target="../tags/tag22.xml"/><Relationship Id="rId5" Type="http://schemas.openxmlformats.org/officeDocument/2006/relationships/image" Target="../media/image9.emf"/><Relationship Id="rId4" Type="http://schemas.openxmlformats.org/officeDocument/2006/relationships/oleObject" Target="../embeddings/oleObject15.bin"/></Relationships>
</file>

<file path=ppt/slides/_rels/slide1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25.xml"/><Relationship Id="rId1" Type="http://schemas.openxmlformats.org/officeDocument/2006/relationships/tags" Target="../tags/tag24.xml"/><Relationship Id="rId5" Type="http://schemas.openxmlformats.org/officeDocument/2006/relationships/image" Target="../media/image9.emf"/><Relationship Id="rId4" Type="http://schemas.openxmlformats.org/officeDocument/2006/relationships/oleObject" Target="../embeddings/oleObject16.bin"/></Relationships>
</file>

<file path=ppt/slides/_rels/slide1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27.xml"/><Relationship Id="rId1" Type="http://schemas.openxmlformats.org/officeDocument/2006/relationships/tags" Target="../tags/tag26.xml"/><Relationship Id="rId5" Type="http://schemas.openxmlformats.org/officeDocument/2006/relationships/image" Target="../media/image9.emf"/><Relationship Id="rId4" Type="http://schemas.openxmlformats.org/officeDocument/2006/relationships/oleObject" Target="../embeddings/oleObject17.bin"/></Relationships>
</file>

<file path=ppt/slides/_rels/slide1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29.xml"/><Relationship Id="rId1" Type="http://schemas.openxmlformats.org/officeDocument/2006/relationships/tags" Target="../tags/tag28.xml"/><Relationship Id="rId5" Type="http://schemas.openxmlformats.org/officeDocument/2006/relationships/image" Target="../media/image9.emf"/><Relationship Id="rId4" Type="http://schemas.openxmlformats.org/officeDocument/2006/relationships/oleObject" Target="../embeddings/oleObject18.bin"/></Relationships>
</file>

<file path=ppt/slides/_rels/slide1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31.xml"/><Relationship Id="rId1" Type="http://schemas.openxmlformats.org/officeDocument/2006/relationships/tags" Target="../tags/tag30.xml"/><Relationship Id="rId5" Type="http://schemas.openxmlformats.org/officeDocument/2006/relationships/image" Target="../media/image9.emf"/><Relationship Id="rId4" Type="http://schemas.openxmlformats.org/officeDocument/2006/relationships/oleObject" Target="../embeddings/oleObject19.bin"/></Relationships>
</file>

<file path=ppt/slides/_rels/slide1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33.xml"/><Relationship Id="rId1" Type="http://schemas.openxmlformats.org/officeDocument/2006/relationships/tags" Target="../tags/tag32.xml"/><Relationship Id="rId5" Type="http://schemas.openxmlformats.org/officeDocument/2006/relationships/image" Target="../media/image9.emf"/><Relationship Id="rId4" Type="http://schemas.openxmlformats.org/officeDocument/2006/relationships/oleObject" Target="../embeddings/oleObject20.bin"/></Relationships>
</file>

<file path=ppt/slides/_rels/slide1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35.xml"/><Relationship Id="rId1" Type="http://schemas.openxmlformats.org/officeDocument/2006/relationships/tags" Target="../tags/tag34.xml"/><Relationship Id="rId5" Type="http://schemas.openxmlformats.org/officeDocument/2006/relationships/image" Target="../media/image9.emf"/><Relationship Id="rId4" Type="http://schemas.openxmlformats.org/officeDocument/2006/relationships/oleObject" Target="../embeddings/oleObject21.bin"/></Relationships>
</file>

<file path=ppt/slides/_rels/slide1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37.xml"/><Relationship Id="rId1" Type="http://schemas.openxmlformats.org/officeDocument/2006/relationships/tags" Target="../tags/tag36.xml"/><Relationship Id="rId5" Type="http://schemas.openxmlformats.org/officeDocument/2006/relationships/image" Target="../media/image9.emf"/><Relationship Id="rId4" Type="http://schemas.openxmlformats.org/officeDocument/2006/relationships/oleObject" Target="../embeddings/oleObject22.bin"/></Relationships>
</file>

<file path=ppt/slides/_rels/slide1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39.xml"/><Relationship Id="rId1" Type="http://schemas.openxmlformats.org/officeDocument/2006/relationships/tags" Target="../tags/tag38.xml"/><Relationship Id="rId5" Type="http://schemas.openxmlformats.org/officeDocument/2006/relationships/image" Target="../media/image9.emf"/><Relationship Id="rId4" Type="http://schemas.openxmlformats.org/officeDocument/2006/relationships/oleObject" Target="../embeddings/oleObject23.bin"/></Relationships>
</file>

<file path=ppt/slides/_rels/slide1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41.xml"/><Relationship Id="rId1" Type="http://schemas.openxmlformats.org/officeDocument/2006/relationships/tags" Target="../tags/tag40.xml"/><Relationship Id="rId5" Type="http://schemas.openxmlformats.org/officeDocument/2006/relationships/image" Target="../media/image9.emf"/><Relationship Id="rId4" Type="http://schemas.openxmlformats.org/officeDocument/2006/relationships/oleObject" Target="../embeddings/oleObject24.bin"/></Relationships>
</file>

<file path=ppt/slides/_rels/slide1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43.xml"/><Relationship Id="rId1" Type="http://schemas.openxmlformats.org/officeDocument/2006/relationships/tags" Target="../tags/tag42.xml"/><Relationship Id="rId5" Type="http://schemas.openxmlformats.org/officeDocument/2006/relationships/image" Target="../media/image9.emf"/><Relationship Id="rId4" Type="http://schemas.openxmlformats.org/officeDocument/2006/relationships/oleObject" Target="../embeddings/oleObject25.bin"/></Relationships>
</file>

<file path=ppt/slides/_rels/slide2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45.xml"/><Relationship Id="rId1" Type="http://schemas.openxmlformats.org/officeDocument/2006/relationships/tags" Target="../tags/tag44.xml"/><Relationship Id="rId5" Type="http://schemas.openxmlformats.org/officeDocument/2006/relationships/image" Target="../media/image9.emf"/><Relationship Id="rId4" Type="http://schemas.openxmlformats.org/officeDocument/2006/relationships/oleObject" Target="../embeddings/oleObject26.bin"/></Relationships>
</file>

<file path=ppt/slides/_rels/slide2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47.xml"/><Relationship Id="rId1" Type="http://schemas.openxmlformats.org/officeDocument/2006/relationships/tags" Target="../tags/tag46.xml"/><Relationship Id="rId5" Type="http://schemas.openxmlformats.org/officeDocument/2006/relationships/image" Target="../media/image9.emf"/><Relationship Id="rId4" Type="http://schemas.openxmlformats.org/officeDocument/2006/relationships/oleObject" Target="../embeddings/oleObject27.bin"/></Relationships>
</file>

<file path=ppt/slides/_rels/slide2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49.xml"/><Relationship Id="rId1" Type="http://schemas.openxmlformats.org/officeDocument/2006/relationships/tags" Target="../tags/tag48.xml"/><Relationship Id="rId5" Type="http://schemas.openxmlformats.org/officeDocument/2006/relationships/image" Target="../media/image9.emf"/><Relationship Id="rId4" Type="http://schemas.openxmlformats.org/officeDocument/2006/relationships/oleObject" Target="../embeddings/oleObject28.bin"/></Relationships>
</file>

<file path=ppt/slides/_rels/slide23.xml.rels><?xml version="1.0" encoding="UTF-8" standalone="yes"?>
<Relationships xmlns="http://schemas.openxmlformats.org/package/2006/relationships"><Relationship Id="rId3" Type="http://schemas.openxmlformats.org/officeDocument/2006/relationships/slideLayout" Target="../slideLayouts/slideLayout7.xml"/><Relationship Id="rId7" Type="http://schemas.microsoft.com/office/2007/relationships/hdphoto" Target="../media/hdphoto1.wdp"/><Relationship Id="rId2" Type="http://schemas.openxmlformats.org/officeDocument/2006/relationships/tags" Target="../tags/tag51.xml"/><Relationship Id="rId1" Type="http://schemas.openxmlformats.org/officeDocument/2006/relationships/tags" Target="../tags/tag50.xml"/><Relationship Id="rId6" Type="http://schemas.openxmlformats.org/officeDocument/2006/relationships/image" Target="../media/image10.png"/><Relationship Id="rId5" Type="http://schemas.openxmlformats.org/officeDocument/2006/relationships/image" Target="../media/image9.emf"/><Relationship Id="rId4" Type="http://schemas.openxmlformats.org/officeDocument/2006/relationships/oleObject" Target="../embeddings/oleObject29.bin"/></Relationships>
</file>

<file path=ppt/slides/_rels/slide24.xml.rels><?xml version="1.0" encoding="UTF-8" standalone="yes"?>
<Relationships xmlns="http://schemas.openxmlformats.org/package/2006/relationships"><Relationship Id="rId3" Type="http://schemas.openxmlformats.org/officeDocument/2006/relationships/slideLayout" Target="../slideLayouts/slideLayout7.xml"/><Relationship Id="rId7" Type="http://schemas.microsoft.com/office/2007/relationships/hdphoto" Target="../media/hdphoto1.wdp"/><Relationship Id="rId2" Type="http://schemas.openxmlformats.org/officeDocument/2006/relationships/tags" Target="../tags/tag53.xml"/><Relationship Id="rId1" Type="http://schemas.openxmlformats.org/officeDocument/2006/relationships/tags" Target="../tags/tag52.xml"/><Relationship Id="rId6" Type="http://schemas.openxmlformats.org/officeDocument/2006/relationships/image" Target="../media/image10.png"/><Relationship Id="rId5" Type="http://schemas.openxmlformats.org/officeDocument/2006/relationships/image" Target="../media/image9.emf"/><Relationship Id="rId4" Type="http://schemas.openxmlformats.org/officeDocument/2006/relationships/oleObject" Target="../embeddings/oleObject30.bin"/></Relationships>
</file>

<file path=ppt/slides/_rels/slide25.xml.rels><?xml version="1.0" encoding="UTF-8" standalone="yes"?>
<Relationships xmlns="http://schemas.openxmlformats.org/package/2006/relationships"><Relationship Id="rId3" Type="http://schemas.openxmlformats.org/officeDocument/2006/relationships/slideLayout" Target="../slideLayouts/slideLayout19.xml"/><Relationship Id="rId2" Type="http://schemas.openxmlformats.org/officeDocument/2006/relationships/tags" Target="../tags/tag55.xml"/><Relationship Id="rId1" Type="http://schemas.openxmlformats.org/officeDocument/2006/relationships/tags" Target="../tags/tag54.xml"/><Relationship Id="rId6" Type="http://schemas.openxmlformats.org/officeDocument/2006/relationships/image" Target="../media/image9.emf"/><Relationship Id="rId5" Type="http://schemas.openxmlformats.org/officeDocument/2006/relationships/oleObject" Target="../embeddings/oleObject31.bin"/><Relationship Id="rId4" Type="http://schemas.openxmlformats.org/officeDocument/2006/relationships/notesSlide" Target="../notesSlides/notesSlide3.xml"/></Relationships>
</file>

<file path=ppt/slides/_rels/slide26.xml.rels><?xml version="1.0" encoding="UTF-8" standalone="yes"?>
<Relationships xmlns="http://schemas.openxmlformats.org/package/2006/relationships"><Relationship Id="rId13" Type="http://schemas.openxmlformats.org/officeDocument/2006/relationships/tags" Target="../tags/tag68.xml"/><Relationship Id="rId18" Type="http://schemas.openxmlformats.org/officeDocument/2006/relationships/tags" Target="../tags/tag73.xml"/><Relationship Id="rId26" Type="http://schemas.openxmlformats.org/officeDocument/2006/relationships/tags" Target="../tags/tag81.xml"/><Relationship Id="rId39" Type="http://schemas.openxmlformats.org/officeDocument/2006/relationships/tags" Target="../tags/tag94.xml"/><Relationship Id="rId21" Type="http://schemas.openxmlformats.org/officeDocument/2006/relationships/tags" Target="../tags/tag76.xml"/><Relationship Id="rId34" Type="http://schemas.openxmlformats.org/officeDocument/2006/relationships/tags" Target="../tags/tag89.xml"/><Relationship Id="rId42" Type="http://schemas.openxmlformats.org/officeDocument/2006/relationships/tags" Target="../tags/tag97.xml"/><Relationship Id="rId47" Type="http://schemas.openxmlformats.org/officeDocument/2006/relationships/tags" Target="../tags/tag102.xml"/><Relationship Id="rId50" Type="http://schemas.openxmlformats.org/officeDocument/2006/relationships/tags" Target="../tags/tag105.xml"/><Relationship Id="rId55" Type="http://schemas.openxmlformats.org/officeDocument/2006/relationships/chart" Target="../charts/chart1.xml"/><Relationship Id="rId7" Type="http://schemas.openxmlformats.org/officeDocument/2006/relationships/tags" Target="../tags/tag62.xml"/><Relationship Id="rId2" Type="http://schemas.openxmlformats.org/officeDocument/2006/relationships/tags" Target="../tags/tag57.xml"/><Relationship Id="rId16" Type="http://schemas.openxmlformats.org/officeDocument/2006/relationships/tags" Target="../tags/tag71.xml"/><Relationship Id="rId29" Type="http://schemas.openxmlformats.org/officeDocument/2006/relationships/tags" Target="../tags/tag84.xml"/><Relationship Id="rId11" Type="http://schemas.openxmlformats.org/officeDocument/2006/relationships/tags" Target="../tags/tag66.xml"/><Relationship Id="rId24" Type="http://schemas.openxmlformats.org/officeDocument/2006/relationships/tags" Target="../tags/tag79.xml"/><Relationship Id="rId32" Type="http://schemas.openxmlformats.org/officeDocument/2006/relationships/tags" Target="../tags/tag87.xml"/><Relationship Id="rId37" Type="http://schemas.openxmlformats.org/officeDocument/2006/relationships/tags" Target="../tags/tag92.xml"/><Relationship Id="rId40" Type="http://schemas.openxmlformats.org/officeDocument/2006/relationships/tags" Target="../tags/tag95.xml"/><Relationship Id="rId45" Type="http://schemas.openxmlformats.org/officeDocument/2006/relationships/tags" Target="../tags/tag100.xml"/><Relationship Id="rId53" Type="http://schemas.openxmlformats.org/officeDocument/2006/relationships/oleObject" Target="../embeddings/oleObject32.bin"/><Relationship Id="rId5" Type="http://schemas.openxmlformats.org/officeDocument/2006/relationships/tags" Target="../tags/tag60.xml"/><Relationship Id="rId19" Type="http://schemas.openxmlformats.org/officeDocument/2006/relationships/tags" Target="../tags/tag74.xml"/><Relationship Id="rId4" Type="http://schemas.openxmlformats.org/officeDocument/2006/relationships/tags" Target="../tags/tag59.xml"/><Relationship Id="rId9" Type="http://schemas.openxmlformats.org/officeDocument/2006/relationships/tags" Target="../tags/tag64.xml"/><Relationship Id="rId14" Type="http://schemas.openxmlformats.org/officeDocument/2006/relationships/tags" Target="../tags/tag69.xml"/><Relationship Id="rId22" Type="http://schemas.openxmlformats.org/officeDocument/2006/relationships/tags" Target="../tags/tag77.xml"/><Relationship Id="rId27" Type="http://schemas.openxmlformats.org/officeDocument/2006/relationships/tags" Target="../tags/tag82.xml"/><Relationship Id="rId30" Type="http://schemas.openxmlformats.org/officeDocument/2006/relationships/tags" Target="../tags/tag85.xml"/><Relationship Id="rId35" Type="http://schemas.openxmlformats.org/officeDocument/2006/relationships/tags" Target="../tags/tag90.xml"/><Relationship Id="rId43" Type="http://schemas.openxmlformats.org/officeDocument/2006/relationships/tags" Target="../tags/tag98.xml"/><Relationship Id="rId48" Type="http://schemas.openxmlformats.org/officeDocument/2006/relationships/tags" Target="../tags/tag103.xml"/><Relationship Id="rId56" Type="http://schemas.openxmlformats.org/officeDocument/2006/relationships/chart" Target="../charts/chart2.xml"/><Relationship Id="rId8" Type="http://schemas.openxmlformats.org/officeDocument/2006/relationships/tags" Target="../tags/tag63.xml"/><Relationship Id="rId51" Type="http://schemas.openxmlformats.org/officeDocument/2006/relationships/tags" Target="../tags/tag106.xml"/><Relationship Id="rId3" Type="http://schemas.openxmlformats.org/officeDocument/2006/relationships/tags" Target="../tags/tag58.xml"/><Relationship Id="rId12" Type="http://schemas.openxmlformats.org/officeDocument/2006/relationships/tags" Target="../tags/tag67.xml"/><Relationship Id="rId17" Type="http://schemas.openxmlformats.org/officeDocument/2006/relationships/tags" Target="../tags/tag72.xml"/><Relationship Id="rId25" Type="http://schemas.openxmlformats.org/officeDocument/2006/relationships/tags" Target="../tags/tag80.xml"/><Relationship Id="rId33" Type="http://schemas.openxmlformats.org/officeDocument/2006/relationships/tags" Target="../tags/tag88.xml"/><Relationship Id="rId38" Type="http://schemas.openxmlformats.org/officeDocument/2006/relationships/tags" Target="../tags/tag93.xml"/><Relationship Id="rId46" Type="http://schemas.openxmlformats.org/officeDocument/2006/relationships/tags" Target="../tags/tag101.xml"/><Relationship Id="rId20" Type="http://schemas.openxmlformats.org/officeDocument/2006/relationships/tags" Target="../tags/tag75.xml"/><Relationship Id="rId41" Type="http://schemas.openxmlformats.org/officeDocument/2006/relationships/tags" Target="../tags/tag96.xml"/><Relationship Id="rId54" Type="http://schemas.openxmlformats.org/officeDocument/2006/relationships/image" Target="../media/image9.emf"/><Relationship Id="rId1" Type="http://schemas.openxmlformats.org/officeDocument/2006/relationships/tags" Target="../tags/tag56.xml"/><Relationship Id="rId6" Type="http://schemas.openxmlformats.org/officeDocument/2006/relationships/tags" Target="../tags/tag61.xml"/><Relationship Id="rId15" Type="http://schemas.openxmlformats.org/officeDocument/2006/relationships/tags" Target="../tags/tag70.xml"/><Relationship Id="rId23" Type="http://schemas.openxmlformats.org/officeDocument/2006/relationships/tags" Target="../tags/tag78.xml"/><Relationship Id="rId28" Type="http://schemas.openxmlformats.org/officeDocument/2006/relationships/tags" Target="../tags/tag83.xml"/><Relationship Id="rId36" Type="http://schemas.openxmlformats.org/officeDocument/2006/relationships/tags" Target="../tags/tag91.xml"/><Relationship Id="rId49" Type="http://schemas.openxmlformats.org/officeDocument/2006/relationships/tags" Target="../tags/tag104.xml"/><Relationship Id="rId57" Type="http://schemas.openxmlformats.org/officeDocument/2006/relationships/chart" Target="../charts/chart3.xml"/><Relationship Id="rId10" Type="http://schemas.openxmlformats.org/officeDocument/2006/relationships/tags" Target="../tags/tag65.xml"/><Relationship Id="rId31" Type="http://schemas.openxmlformats.org/officeDocument/2006/relationships/tags" Target="../tags/tag86.xml"/><Relationship Id="rId44" Type="http://schemas.openxmlformats.org/officeDocument/2006/relationships/tags" Target="../tags/tag99.xml"/><Relationship Id="rId52"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13" Type="http://schemas.openxmlformats.org/officeDocument/2006/relationships/tags" Target="../tags/tag119.xml"/><Relationship Id="rId18" Type="http://schemas.openxmlformats.org/officeDocument/2006/relationships/tags" Target="../tags/tag124.xml"/><Relationship Id="rId26" Type="http://schemas.openxmlformats.org/officeDocument/2006/relationships/tags" Target="../tags/tag132.xml"/><Relationship Id="rId39" Type="http://schemas.openxmlformats.org/officeDocument/2006/relationships/tags" Target="../tags/tag145.xml"/><Relationship Id="rId21" Type="http://schemas.openxmlformats.org/officeDocument/2006/relationships/tags" Target="../tags/tag127.xml"/><Relationship Id="rId34" Type="http://schemas.openxmlformats.org/officeDocument/2006/relationships/tags" Target="../tags/tag140.xml"/><Relationship Id="rId42" Type="http://schemas.openxmlformats.org/officeDocument/2006/relationships/oleObject" Target="../embeddings/oleObject33.bin"/><Relationship Id="rId7" Type="http://schemas.openxmlformats.org/officeDocument/2006/relationships/tags" Target="../tags/tag113.xml"/><Relationship Id="rId2" Type="http://schemas.openxmlformats.org/officeDocument/2006/relationships/tags" Target="../tags/tag108.xml"/><Relationship Id="rId16" Type="http://schemas.openxmlformats.org/officeDocument/2006/relationships/tags" Target="../tags/tag122.xml"/><Relationship Id="rId29" Type="http://schemas.openxmlformats.org/officeDocument/2006/relationships/tags" Target="../tags/tag135.xml"/><Relationship Id="rId1" Type="http://schemas.openxmlformats.org/officeDocument/2006/relationships/tags" Target="../tags/tag107.xml"/><Relationship Id="rId6" Type="http://schemas.openxmlformats.org/officeDocument/2006/relationships/tags" Target="../tags/tag112.xml"/><Relationship Id="rId11" Type="http://schemas.openxmlformats.org/officeDocument/2006/relationships/tags" Target="../tags/tag117.xml"/><Relationship Id="rId24" Type="http://schemas.openxmlformats.org/officeDocument/2006/relationships/tags" Target="../tags/tag130.xml"/><Relationship Id="rId32" Type="http://schemas.openxmlformats.org/officeDocument/2006/relationships/tags" Target="../tags/tag138.xml"/><Relationship Id="rId37" Type="http://schemas.openxmlformats.org/officeDocument/2006/relationships/tags" Target="../tags/tag143.xml"/><Relationship Id="rId40" Type="http://schemas.openxmlformats.org/officeDocument/2006/relationships/slideLayout" Target="../slideLayouts/slideLayout6.xml"/><Relationship Id="rId45" Type="http://schemas.openxmlformats.org/officeDocument/2006/relationships/chart" Target="../charts/chart5.xml"/><Relationship Id="rId5" Type="http://schemas.openxmlformats.org/officeDocument/2006/relationships/tags" Target="../tags/tag111.xml"/><Relationship Id="rId15" Type="http://schemas.openxmlformats.org/officeDocument/2006/relationships/tags" Target="../tags/tag121.xml"/><Relationship Id="rId23" Type="http://schemas.openxmlformats.org/officeDocument/2006/relationships/tags" Target="../tags/tag129.xml"/><Relationship Id="rId28" Type="http://schemas.openxmlformats.org/officeDocument/2006/relationships/tags" Target="../tags/tag134.xml"/><Relationship Id="rId36" Type="http://schemas.openxmlformats.org/officeDocument/2006/relationships/tags" Target="../tags/tag142.xml"/><Relationship Id="rId10" Type="http://schemas.openxmlformats.org/officeDocument/2006/relationships/tags" Target="../tags/tag116.xml"/><Relationship Id="rId19" Type="http://schemas.openxmlformats.org/officeDocument/2006/relationships/tags" Target="../tags/tag125.xml"/><Relationship Id="rId31" Type="http://schemas.openxmlformats.org/officeDocument/2006/relationships/tags" Target="../tags/tag137.xml"/><Relationship Id="rId44" Type="http://schemas.openxmlformats.org/officeDocument/2006/relationships/chart" Target="../charts/chart4.xml"/><Relationship Id="rId4" Type="http://schemas.openxmlformats.org/officeDocument/2006/relationships/tags" Target="../tags/tag110.xml"/><Relationship Id="rId9" Type="http://schemas.openxmlformats.org/officeDocument/2006/relationships/tags" Target="../tags/tag115.xml"/><Relationship Id="rId14" Type="http://schemas.openxmlformats.org/officeDocument/2006/relationships/tags" Target="../tags/tag120.xml"/><Relationship Id="rId22" Type="http://schemas.openxmlformats.org/officeDocument/2006/relationships/tags" Target="../tags/tag128.xml"/><Relationship Id="rId27" Type="http://schemas.openxmlformats.org/officeDocument/2006/relationships/tags" Target="../tags/tag133.xml"/><Relationship Id="rId30" Type="http://schemas.openxmlformats.org/officeDocument/2006/relationships/tags" Target="../tags/tag136.xml"/><Relationship Id="rId35" Type="http://schemas.openxmlformats.org/officeDocument/2006/relationships/tags" Target="../tags/tag141.xml"/><Relationship Id="rId43" Type="http://schemas.openxmlformats.org/officeDocument/2006/relationships/image" Target="../media/image9.emf"/><Relationship Id="rId8" Type="http://schemas.openxmlformats.org/officeDocument/2006/relationships/tags" Target="../tags/tag114.xml"/><Relationship Id="rId3" Type="http://schemas.openxmlformats.org/officeDocument/2006/relationships/tags" Target="../tags/tag109.xml"/><Relationship Id="rId12" Type="http://schemas.openxmlformats.org/officeDocument/2006/relationships/tags" Target="../tags/tag118.xml"/><Relationship Id="rId17" Type="http://schemas.openxmlformats.org/officeDocument/2006/relationships/tags" Target="../tags/tag123.xml"/><Relationship Id="rId25" Type="http://schemas.openxmlformats.org/officeDocument/2006/relationships/tags" Target="../tags/tag131.xml"/><Relationship Id="rId33" Type="http://schemas.openxmlformats.org/officeDocument/2006/relationships/tags" Target="../tags/tag139.xml"/><Relationship Id="rId38" Type="http://schemas.openxmlformats.org/officeDocument/2006/relationships/tags" Target="../tags/tag144.xml"/><Relationship Id="rId20" Type="http://schemas.openxmlformats.org/officeDocument/2006/relationships/tags" Target="../tags/tag126.xml"/><Relationship Id="rId41" Type="http://schemas.openxmlformats.org/officeDocument/2006/relationships/notesSlide" Target="../notesSlides/notesSlide4.xml"/></Relationships>
</file>

<file path=ppt/slides/_rels/slide28.xml.rels><?xml version="1.0" encoding="UTF-8" standalone="yes"?>
<Relationships xmlns="http://schemas.openxmlformats.org/package/2006/relationships"><Relationship Id="rId3" Type="http://schemas.openxmlformats.org/officeDocument/2006/relationships/slideLayout" Target="../slideLayouts/slideLayout14.xml"/><Relationship Id="rId7" Type="http://schemas.microsoft.com/office/2007/relationships/hdphoto" Target="../media/hdphoto1.wdp"/><Relationship Id="rId2" Type="http://schemas.openxmlformats.org/officeDocument/2006/relationships/tags" Target="../tags/tag147.xml"/><Relationship Id="rId1" Type="http://schemas.openxmlformats.org/officeDocument/2006/relationships/tags" Target="../tags/tag146.xml"/><Relationship Id="rId6" Type="http://schemas.openxmlformats.org/officeDocument/2006/relationships/image" Target="../media/image10.png"/><Relationship Id="rId5" Type="http://schemas.openxmlformats.org/officeDocument/2006/relationships/image" Target="../media/image9.emf"/><Relationship Id="rId4" Type="http://schemas.openxmlformats.org/officeDocument/2006/relationships/oleObject" Target="../embeddings/oleObject34.bin"/></Relationships>
</file>

<file path=ppt/slides/_rels/slide29.xml.rels><?xml version="1.0" encoding="UTF-8" standalone="yes"?>
<Relationships xmlns="http://schemas.openxmlformats.org/package/2006/relationships"><Relationship Id="rId3" Type="http://schemas.openxmlformats.org/officeDocument/2006/relationships/slideLayout" Target="../slideLayouts/slideLayout19.xml"/><Relationship Id="rId2" Type="http://schemas.openxmlformats.org/officeDocument/2006/relationships/tags" Target="../tags/tag149.xml"/><Relationship Id="rId1" Type="http://schemas.openxmlformats.org/officeDocument/2006/relationships/tags" Target="../tags/tag148.xml"/><Relationship Id="rId6" Type="http://schemas.openxmlformats.org/officeDocument/2006/relationships/image" Target="../media/image9.emf"/><Relationship Id="rId5" Type="http://schemas.openxmlformats.org/officeDocument/2006/relationships/oleObject" Target="../embeddings/oleObject35.bin"/><Relationship Id="rId4" Type="http://schemas.openxmlformats.org/officeDocument/2006/relationships/notesSlide" Target="../notesSlides/notesSlide5.xml"/></Relationships>
</file>

<file path=ppt/slides/_rels/slide3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151.xml"/><Relationship Id="rId1" Type="http://schemas.openxmlformats.org/officeDocument/2006/relationships/tags" Target="../tags/tag150.xml"/><Relationship Id="rId5" Type="http://schemas.openxmlformats.org/officeDocument/2006/relationships/image" Target="../media/image9.emf"/><Relationship Id="rId4" Type="http://schemas.openxmlformats.org/officeDocument/2006/relationships/oleObject" Target="../embeddings/oleObject36.bin"/></Relationships>
</file>

<file path=ppt/slides/_rels/slide31.xml.rels><?xml version="1.0" encoding="UTF-8" standalone="yes"?>
<Relationships xmlns="http://schemas.openxmlformats.org/package/2006/relationships"><Relationship Id="rId13" Type="http://schemas.openxmlformats.org/officeDocument/2006/relationships/tags" Target="../tags/tag164.xml"/><Relationship Id="rId18" Type="http://schemas.openxmlformats.org/officeDocument/2006/relationships/tags" Target="../tags/tag169.xml"/><Relationship Id="rId26" Type="http://schemas.openxmlformats.org/officeDocument/2006/relationships/tags" Target="../tags/tag177.xml"/><Relationship Id="rId3" Type="http://schemas.openxmlformats.org/officeDocument/2006/relationships/tags" Target="../tags/tag154.xml"/><Relationship Id="rId21" Type="http://schemas.openxmlformats.org/officeDocument/2006/relationships/tags" Target="../tags/tag172.xml"/><Relationship Id="rId7" Type="http://schemas.openxmlformats.org/officeDocument/2006/relationships/tags" Target="../tags/tag158.xml"/><Relationship Id="rId12" Type="http://schemas.openxmlformats.org/officeDocument/2006/relationships/tags" Target="../tags/tag163.xml"/><Relationship Id="rId17" Type="http://schemas.openxmlformats.org/officeDocument/2006/relationships/tags" Target="../tags/tag168.xml"/><Relationship Id="rId25" Type="http://schemas.openxmlformats.org/officeDocument/2006/relationships/tags" Target="../tags/tag176.xml"/><Relationship Id="rId33" Type="http://schemas.openxmlformats.org/officeDocument/2006/relationships/chart" Target="../charts/chart7.xml"/><Relationship Id="rId2" Type="http://schemas.openxmlformats.org/officeDocument/2006/relationships/tags" Target="../tags/tag153.xml"/><Relationship Id="rId16" Type="http://schemas.openxmlformats.org/officeDocument/2006/relationships/tags" Target="../tags/tag167.xml"/><Relationship Id="rId20" Type="http://schemas.openxmlformats.org/officeDocument/2006/relationships/tags" Target="../tags/tag171.xml"/><Relationship Id="rId29" Type="http://schemas.openxmlformats.org/officeDocument/2006/relationships/slideLayout" Target="../slideLayouts/slideLayout7.xml"/><Relationship Id="rId1" Type="http://schemas.openxmlformats.org/officeDocument/2006/relationships/tags" Target="../tags/tag152.xml"/><Relationship Id="rId6" Type="http://schemas.openxmlformats.org/officeDocument/2006/relationships/tags" Target="../tags/tag157.xml"/><Relationship Id="rId11" Type="http://schemas.openxmlformats.org/officeDocument/2006/relationships/tags" Target="../tags/tag162.xml"/><Relationship Id="rId24" Type="http://schemas.openxmlformats.org/officeDocument/2006/relationships/tags" Target="../tags/tag175.xml"/><Relationship Id="rId32" Type="http://schemas.openxmlformats.org/officeDocument/2006/relationships/chart" Target="../charts/chart6.xml"/><Relationship Id="rId5" Type="http://schemas.openxmlformats.org/officeDocument/2006/relationships/tags" Target="../tags/tag156.xml"/><Relationship Id="rId15" Type="http://schemas.openxmlformats.org/officeDocument/2006/relationships/tags" Target="../tags/tag166.xml"/><Relationship Id="rId23" Type="http://schemas.openxmlformats.org/officeDocument/2006/relationships/tags" Target="../tags/tag174.xml"/><Relationship Id="rId28" Type="http://schemas.openxmlformats.org/officeDocument/2006/relationships/tags" Target="../tags/tag179.xml"/><Relationship Id="rId10" Type="http://schemas.openxmlformats.org/officeDocument/2006/relationships/tags" Target="../tags/tag161.xml"/><Relationship Id="rId19" Type="http://schemas.openxmlformats.org/officeDocument/2006/relationships/tags" Target="../tags/tag170.xml"/><Relationship Id="rId31" Type="http://schemas.openxmlformats.org/officeDocument/2006/relationships/image" Target="../media/image9.emf"/><Relationship Id="rId4" Type="http://schemas.openxmlformats.org/officeDocument/2006/relationships/tags" Target="../tags/tag155.xml"/><Relationship Id="rId9" Type="http://schemas.openxmlformats.org/officeDocument/2006/relationships/tags" Target="../tags/tag160.xml"/><Relationship Id="rId14" Type="http://schemas.openxmlformats.org/officeDocument/2006/relationships/tags" Target="../tags/tag165.xml"/><Relationship Id="rId22" Type="http://schemas.openxmlformats.org/officeDocument/2006/relationships/tags" Target="../tags/tag173.xml"/><Relationship Id="rId27" Type="http://schemas.openxmlformats.org/officeDocument/2006/relationships/tags" Target="../tags/tag178.xml"/><Relationship Id="rId30" Type="http://schemas.openxmlformats.org/officeDocument/2006/relationships/oleObject" Target="../embeddings/oleObject37.bin"/><Relationship Id="rId8" Type="http://schemas.openxmlformats.org/officeDocument/2006/relationships/tags" Target="../tags/tag159.xml"/></Relationships>
</file>

<file path=ppt/slides/_rels/slide32.xml.rels><?xml version="1.0" encoding="UTF-8" standalone="yes"?>
<Relationships xmlns="http://schemas.openxmlformats.org/package/2006/relationships"><Relationship Id="rId8" Type="http://schemas.openxmlformats.org/officeDocument/2006/relationships/tags" Target="../tags/tag187.xml"/><Relationship Id="rId3" Type="http://schemas.openxmlformats.org/officeDocument/2006/relationships/tags" Target="../tags/tag182.xml"/><Relationship Id="rId7" Type="http://schemas.openxmlformats.org/officeDocument/2006/relationships/tags" Target="../tags/tag186.xml"/><Relationship Id="rId12" Type="http://schemas.openxmlformats.org/officeDocument/2006/relationships/chart" Target="../charts/chart8.xml"/><Relationship Id="rId2" Type="http://schemas.openxmlformats.org/officeDocument/2006/relationships/tags" Target="../tags/tag181.xml"/><Relationship Id="rId1" Type="http://schemas.openxmlformats.org/officeDocument/2006/relationships/tags" Target="../tags/tag180.xml"/><Relationship Id="rId6" Type="http://schemas.openxmlformats.org/officeDocument/2006/relationships/tags" Target="../tags/tag185.xml"/><Relationship Id="rId11" Type="http://schemas.openxmlformats.org/officeDocument/2006/relationships/image" Target="../media/image9.emf"/><Relationship Id="rId5" Type="http://schemas.openxmlformats.org/officeDocument/2006/relationships/tags" Target="../tags/tag184.xml"/><Relationship Id="rId10" Type="http://schemas.openxmlformats.org/officeDocument/2006/relationships/oleObject" Target="../embeddings/oleObject38.bin"/><Relationship Id="rId4" Type="http://schemas.openxmlformats.org/officeDocument/2006/relationships/tags" Target="../tags/tag183.xml"/><Relationship Id="rId9"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6" Type="http://schemas.openxmlformats.org/officeDocument/2006/relationships/tags" Target="../tags/tag213.xml"/><Relationship Id="rId21" Type="http://schemas.openxmlformats.org/officeDocument/2006/relationships/tags" Target="../tags/tag208.xml"/><Relationship Id="rId34" Type="http://schemas.openxmlformats.org/officeDocument/2006/relationships/tags" Target="../tags/tag221.xml"/><Relationship Id="rId42" Type="http://schemas.openxmlformats.org/officeDocument/2006/relationships/tags" Target="../tags/tag229.xml"/><Relationship Id="rId47" Type="http://schemas.openxmlformats.org/officeDocument/2006/relationships/tags" Target="../tags/tag234.xml"/><Relationship Id="rId50" Type="http://schemas.openxmlformats.org/officeDocument/2006/relationships/tags" Target="../tags/tag237.xml"/><Relationship Id="rId55" Type="http://schemas.openxmlformats.org/officeDocument/2006/relationships/tags" Target="../tags/tag242.xml"/><Relationship Id="rId63" Type="http://schemas.openxmlformats.org/officeDocument/2006/relationships/slideLayout" Target="../slideLayouts/slideLayout7.xml"/><Relationship Id="rId7" Type="http://schemas.openxmlformats.org/officeDocument/2006/relationships/tags" Target="../tags/tag194.xml"/><Relationship Id="rId2" Type="http://schemas.openxmlformats.org/officeDocument/2006/relationships/tags" Target="../tags/tag189.xml"/><Relationship Id="rId16" Type="http://schemas.openxmlformats.org/officeDocument/2006/relationships/tags" Target="../tags/tag203.xml"/><Relationship Id="rId29" Type="http://schemas.openxmlformats.org/officeDocument/2006/relationships/tags" Target="../tags/tag216.xml"/><Relationship Id="rId11" Type="http://schemas.openxmlformats.org/officeDocument/2006/relationships/tags" Target="../tags/tag198.xml"/><Relationship Id="rId24" Type="http://schemas.openxmlformats.org/officeDocument/2006/relationships/tags" Target="../tags/tag211.xml"/><Relationship Id="rId32" Type="http://schemas.openxmlformats.org/officeDocument/2006/relationships/tags" Target="../tags/tag219.xml"/><Relationship Id="rId37" Type="http://schemas.openxmlformats.org/officeDocument/2006/relationships/tags" Target="../tags/tag224.xml"/><Relationship Id="rId40" Type="http://schemas.openxmlformats.org/officeDocument/2006/relationships/tags" Target="../tags/tag227.xml"/><Relationship Id="rId45" Type="http://schemas.openxmlformats.org/officeDocument/2006/relationships/tags" Target="../tags/tag232.xml"/><Relationship Id="rId53" Type="http://schemas.openxmlformats.org/officeDocument/2006/relationships/tags" Target="../tags/tag240.xml"/><Relationship Id="rId58" Type="http://schemas.openxmlformats.org/officeDocument/2006/relationships/tags" Target="../tags/tag245.xml"/><Relationship Id="rId66" Type="http://schemas.openxmlformats.org/officeDocument/2006/relationships/chart" Target="../charts/chart9.xml"/><Relationship Id="rId5" Type="http://schemas.openxmlformats.org/officeDocument/2006/relationships/tags" Target="../tags/tag192.xml"/><Relationship Id="rId61" Type="http://schemas.openxmlformats.org/officeDocument/2006/relationships/tags" Target="../tags/tag248.xml"/><Relationship Id="rId19" Type="http://schemas.openxmlformats.org/officeDocument/2006/relationships/tags" Target="../tags/tag206.xml"/><Relationship Id="rId14" Type="http://schemas.openxmlformats.org/officeDocument/2006/relationships/tags" Target="../tags/tag201.xml"/><Relationship Id="rId22" Type="http://schemas.openxmlformats.org/officeDocument/2006/relationships/tags" Target="../tags/tag209.xml"/><Relationship Id="rId27" Type="http://schemas.openxmlformats.org/officeDocument/2006/relationships/tags" Target="../tags/tag214.xml"/><Relationship Id="rId30" Type="http://schemas.openxmlformats.org/officeDocument/2006/relationships/tags" Target="../tags/tag217.xml"/><Relationship Id="rId35" Type="http://schemas.openxmlformats.org/officeDocument/2006/relationships/tags" Target="../tags/tag222.xml"/><Relationship Id="rId43" Type="http://schemas.openxmlformats.org/officeDocument/2006/relationships/tags" Target="../tags/tag230.xml"/><Relationship Id="rId48" Type="http://schemas.openxmlformats.org/officeDocument/2006/relationships/tags" Target="../tags/tag235.xml"/><Relationship Id="rId56" Type="http://schemas.openxmlformats.org/officeDocument/2006/relationships/tags" Target="../tags/tag243.xml"/><Relationship Id="rId64" Type="http://schemas.openxmlformats.org/officeDocument/2006/relationships/oleObject" Target="../embeddings/oleObject39.bin"/><Relationship Id="rId8" Type="http://schemas.openxmlformats.org/officeDocument/2006/relationships/tags" Target="../tags/tag195.xml"/><Relationship Id="rId51" Type="http://schemas.openxmlformats.org/officeDocument/2006/relationships/tags" Target="../tags/tag238.xml"/><Relationship Id="rId3" Type="http://schemas.openxmlformats.org/officeDocument/2006/relationships/tags" Target="../tags/tag190.xml"/><Relationship Id="rId12" Type="http://schemas.openxmlformats.org/officeDocument/2006/relationships/tags" Target="../tags/tag199.xml"/><Relationship Id="rId17" Type="http://schemas.openxmlformats.org/officeDocument/2006/relationships/tags" Target="../tags/tag204.xml"/><Relationship Id="rId25" Type="http://schemas.openxmlformats.org/officeDocument/2006/relationships/tags" Target="../tags/tag212.xml"/><Relationship Id="rId33" Type="http://schemas.openxmlformats.org/officeDocument/2006/relationships/tags" Target="../tags/tag220.xml"/><Relationship Id="rId38" Type="http://schemas.openxmlformats.org/officeDocument/2006/relationships/tags" Target="../tags/tag225.xml"/><Relationship Id="rId46" Type="http://schemas.openxmlformats.org/officeDocument/2006/relationships/tags" Target="../tags/tag233.xml"/><Relationship Id="rId59" Type="http://schemas.openxmlformats.org/officeDocument/2006/relationships/tags" Target="../tags/tag246.xml"/><Relationship Id="rId67" Type="http://schemas.openxmlformats.org/officeDocument/2006/relationships/chart" Target="../charts/chart10.xml"/><Relationship Id="rId20" Type="http://schemas.openxmlformats.org/officeDocument/2006/relationships/tags" Target="../tags/tag207.xml"/><Relationship Id="rId41" Type="http://schemas.openxmlformats.org/officeDocument/2006/relationships/tags" Target="../tags/tag228.xml"/><Relationship Id="rId54" Type="http://schemas.openxmlformats.org/officeDocument/2006/relationships/tags" Target="../tags/tag241.xml"/><Relationship Id="rId62" Type="http://schemas.openxmlformats.org/officeDocument/2006/relationships/tags" Target="../tags/tag249.xml"/><Relationship Id="rId1" Type="http://schemas.openxmlformats.org/officeDocument/2006/relationships/tags" Target="../tags/tag188.xml"/><Relationship Id="rId6" Type="http://schemas.openxmlformats.org/officeDocument/2006/relationships/tags" Target="../tags/tag193.xml"/><Relationship Id="rId15" Type="http://schemas.openxmlformats.org/officeDocument/2006/relationships/tags" Target="../tags/tag202.xml"/><Relationship Id="rId23" Type="http://schemas.openxmlformats.org/officeDocument/2006/relationships/tags" Target="../tags/tag210.xml"/><Relationship Id="rId28" Type="http://schemas.openxmlformats.org/officeDocument/2006/relationships/tags" Target="../tags/tag215.xml"/><Relationship Id="rId36" Type="http://schemas.openxmlformats.org/officeDocument/2006/relationships/tags" Target="../tags/tag223.xml"/><Relationship Id="rId49" Type="http://schemas.openxmlformats.org/officeDocument/2006/relationships/tags" Target="../tags/tag236.xml"/><Relationship Id="rId57" Type="http://schemas.openxmlformats.org/officeDocument/2006/relationships/tags" Target="../tags/tag244.xml"/><Relationship Id="rId10" Type="http://schemas.openxmlformats.org/officeDocument/2006/relationships/tags" Target="../tags/tag197.xml"/><Relationship Id="rId31" Type="http://schemas.openxmlformats.org/officeDocument/2006/relationships/tags" Target="../tags/tag218.xml"/><Relationship Id="rId44" Type="http://schemas.openxmlformats.org/officeDocument/2006/relationships/tags" Target="../tags/tag231.xml"/><Relationship Id="rId52" Type="http://schemas.openxmlformats.org/officeDocument/2006/relationships/tags" Target="../tags/tag239.xml"/><Relationship Id="rId60" Type="http://schemas.openxmlformats.org/officeDocument/2006/relationships/tags" Target="../tags/tag247.xml"/><Relationship Id="rId65" Type="http://schemas.openxmlformats.org/officeDocument/2006/relationships/image" Target="../media/image9.emf"/><Relationship Id="rId4" Type="http://schemas.openxmlformats.org/officeDocument/2006/relationships/tags" Target="../tags/tag191.xml"/><Relationship Id="rId9" Type="http://schemas.openxmlformats.org/officeDocument/2006/relationships/tags" Target="../tags/tag196.xml"/><Relationship Id="rId13" Type="http://schemas.openxmlformats.org/officeDocument/2006/relationships/tags" Target="../tags/tag200.xml"/><Relationship Id="rId18" Type="http://schemas.openxmlformats.org/officeDocument/2006/relationships/tags" Target="../tags/tag205.xml"/><Relationship Id="rId39" Type="http://schemas.openxmlformats.org/officeDocument/2006/relationships/tags" Target="../tags/tag226.xml"/></Relationships>
</file>

<file path=ppt/slides/_rels/slide34.xml.rels><?xml version="1.0" encoding="UTF-8" standalone="yes"?>
<Relationships xmlns="http://schemas.openxmlformats.org/package/2006/relationships"><Relationship Id="rId26" Type="http://schemas.openxmlformats.org/officeDocument/2006/relationships/tags" Target="../tags/tag275.xml"/><Relationship Id="rId21" Type="http://schemas.openxmlformats.org/officeDocument/2006/relationships/tags" Target="../tags/tag270.xml"/><Relationship Id="rId42" Type="http://schemas.openxmlformats.org/officeDocument/2006/relationships/tags" Target="../tags/tag291.xml"/><Relationship Id="rId47" Type="http://schemas.openxmlformats.org/officeDocument/2006/relationships/tags" Target="../tags/tag296.xml"/><Relationship Id="rId63" Type="http://schemas.openxmlformats.org/officeDocument/2006/relationships/tags" Target="../tags/tag312.xml"/><Relationship Id="rId68" Type="http://schemas.openxmlformats.org/officeDocument/2006/relationships/tags" Target="../tags/tag317.xml"/><Relationship Id="rId16" Type="http://schemas.openxmlformats.org/officeDocument/2006/relationships/tags" Target="../tags/tag265.xml"/><Relationship Id="rId11" Type="http://schemas.openxmlformats.org/officeDocument/2006/relationships/tags" Target="../tags/tag260.xml"/><Relationship Id="rId32" Type="http://schemas.openxmlformats.org/officeDocument/2006/relationships/tags" Target="../tags/tag281.xml"/><Relationship Id="rId37" Type="http://schemas.openxmlformats.org/officeDocument/2006/relationships/tags" Target="../tags/tag286.xml"/><Relationship Id="rId53" Type="http://schemas.openxmlformats.org/officeDocument/2006/relationships/tags" Target="../tags/tag302.xml"/><Relationship Id="rId58" Type="http://schemas.openxmlformats.org/officeDocument/2006/relationships/tags" Target="../tags/tag307.xml"/><Relationship Id="rId74" Type="http://schemas.openxmlformats.org/officeDocument/2006/relationships/tags" Target="../tags/tag323.xml"/><Relationship Id="rId79" Type="http://schemas.openxmlformats.org/officeDocument/2006/relationships/slideLayout" Target="../slideLayouts/slideLayout7.xml"/><Relationship Id="rId5" Type="http://schemas.openxmlformats.org/officeDocument/2006/relationships/tags" Target="../tags/tag254.xml"/><Relationship Id="rId61" Type="http://schemas.openxmlformats.org/officeDocument/2006/relationships/tags" Target="../tags/tag310.xml"/><Relationship Id="rId82" Type="http://schemas.openxmlformats.org/officeDocument/2006/relationships/chart" Target="../charts/chart11.xml"/><Relationship Id="rId19" Type="http://schemas.openxmlformats.org/officeDocument/2006/relationships/tags" Target="../tags/tag268.xml"/><Relationship Id="rId14" Type="http://schemas.openxmlformats.org/officeDocument/2006/relationships/tags" Target="../tags/tag263.xml"/><Relationship Id="rId22" Type="http://schemas.openxmlformats.org/officeDocument/2006/relationships/tags" Target="../tags/tag271.xml"/><Relationship Id="rId27" Type="http://schemas.openxmlformats.org/officeDocument/2006/relationships/tags" Target="../tags/tag276.xml"/><Relationship Id="rId30" Type="http://schemas.openxmlformats.org/officeDocument/2006/relationships/tags" Target="../tags/tag279.xml"/><Relationship Id="rId35" Type="http://schemas.openxmlformats.org/officeDocument/2006/relationships/tags" Target="../tags/tag284.xml"/><Relationship Id="rId43" Type="http://schemas.openxmlformats.org/officeDocument/2006/relationships/tags" Target="../tags/tag292.xml"/><Relationship Id="rId48" Type="http://schemas.openxmlformats.org/officeDocument/2006/relationships/tags" Target="../tags/tag297.xml"/><Relationship Id="rId56" Type="http://schemas.openxmlformats.org/officeDocument/2006/relationships/tags" Target="../tags/tag305.xml"/><Relationship Id="rId64" Type="http://schemas.openxmlformats.org/officeDocument/2006/relationships/tags" Target="../tags/tag313.xml"/><Relationship Id="rId69" Type="http://schemas.openxmlformats.org/officeDocument/2006/relationships/tags" Target="../tags/tag318.xml"/><Relationship Id="rId77" Type="http://schemas.openxmlformats.org/officeDocument/2006/relationships/tags" Target="../tags/tag326.xml"/><Relationship Id="rId8" Type="http://schemas.openxmlformats.org/officeDocument/2006/relationships/tags" Target="../tags/tag257.xml"/><Relationship Id="rId51" Type="http://schemas.openxmlformats.org/officeDocument/2006/relationships/tags" Target="../tags/tag300.xml"/><Relationship Id="rId72" Type="http://schemas.openxmlformats.org/officeDocument/2006/relationships/tags" Target="../tags/tag321.xml"/><Relationship Id="rId80" Type="http://schemas.openxmlformats.org/officeDocument/2006/relationships/oleObject" Target="../embeddings/oleObject40.bin"/><Relationship Id="rId3" Type="http://schemas.openxmlformats.org/officeDocument/2006/relationships/tags" Target="../tags/tag252.xml"/><Relationship Id="rId12" Type="http://schemas.openxmlformats.org/officeDocument/2006/relationships/tags" Target="../tags/tag261.xml"/><Relationship Id="rId17" Type="http://schemas.openxmlformats.org/officeDocument/2006/relationships/tags" Target="../tags/tag266.xml"/><Relationship Id="rId25" Type="http://schemas.openxmlformats.org/officeDocument/2006/relationships/tags" Target="../tags/tag274.xml"/><Relationship Id="rId33" Type="http://schemas.openxmlformats.org/officeDocument/2006/relationships/tags" Target="../tags/tag282.xml"/><Relationship Id="rId38" Type="http://schemas.openxmlformats.org/officeDocument/2006/relationships/tags" Target="../tags/tag287.xml"/><Relationship Id="rId46" Type="http://schemas.openxmlformats.org/officeDocument/2006/relationships/tags" Target="../tags/tag295.xml"/><Relationship Id="rId59" Type="http://schemas.openxmlformats.org/officeDocument/2006/relationships/tags" Target="../tags/tag308.xml"/><Relationship Id="rId67" Type="http://schemas.openxmlformats.org/officeDocument/2006/relationships/tags" Target="../tags/tag316.xml"/><Relationship Id="rId20" Type="http://schemas.openxmlformats.org/officeDocument/2006/relationships/tags" Target="../tags/tag269.xml"/><Relationship Id="rId41" Type="http://schemas.openxmlformats.org/officeDocument/2006/relationships/tags" Target="../tags/tag290.xml"/><Relationship Id="rId54" Type="http://schemas.openxmlformats.org/officeDocument/2006/relationships/tags" Target="../tags/tag303.xml"/><Relationship Id="rId62" Type="http://schemas.openxmlformats.org/officeDocument/2006/relationships/tags" Target="../tags/tag311.xml"/><Relationship Id="rId70" Type="http://schemas.openxmlformats.org/officeDocument/2006/relationships/tags" Target="../tags/tag319.xml"/><Relationship Id="rId75" Type="http://schemas.openxmlformats.org/officeDocument/2006/relationships/tags" Target="../tags/tag324.xml"/><Relationship Id="rId83" Type="http://schemas.openxmlformats.org/officeDocument/2006/relationships/chart" Target="../charts/chart12.xml"/><Relationship Id="rId1" Type="http://schemas.openxmlformats.org/officeDocument/2006/relationships/tags" Target="../tags/tag250.xml"/><Relationship Id="rId6" Type="http://schemas.openxmlformats.org/officeDocument/2006/relationships/tags" Target="../tags/tag255.xml"/><Relationship Id="rId15" Type="http://schemas.openxmlformats.org/officeDocument/2006/relationships/tags" Target="../tags/tag264.xml"/><Relationship Id="rId23" Type="http://schemas.openxmlformats.org/officeDocument/2006/relationships/tags" Target="../tags/tag272.xml"/><Relationship Id="rId28" Type="http://schemas.openxmlformats.org/officeDocument/2006/relationships/tags" Target="../tags/tag277.xml"/><Relationship Id="rId36" Type="http://schemas.openxmlformats.org/officeDocument/2006/relationships/tags" Target="../tags/tag285.xml"/><Relationship Id="rId49" Type="http://schemas.openxmlformats.org/officeDocument/2006/relationships/tags" Target="../tags/tag298.xml"/><Relationship Id="rId57" Type="http://schemas.openxmlformats.org/officeDocument/2006/relationships/tags" Target="../tags/tag306.xml"/><Relationship Id="rId10" Type="http://schemas.openxmlformats.org/officeDocument/2006/relationships/tags" Target="../tags/tag259.xml"/><Relationship Id="rId31" Type="http://schemas.openxmlformats.org/officeDocument/2006/relationships/tags" Target="../tags/tag280.xml"/><Relationship Id="rId44" Type="http://schemas.openxmlformats.org/officeDocument/2006/relationships/tags" Target="../tags/tag293.xml"/><Relationship Id="rId52" Type="http://schemas.openxmlformats.org/officeDocument/2006/relationships/tags" Target="../tags/tag301.xml"/><Relationship Id="rId60" Type="http://schemas.openxmlformats.org/officeDocument/2006/relationships/tags" Target="../tags/tag309.xml"/><Relationship Id="rId65" Type="http://schemas.openxmlformats.org/officeDocument/2006/relationships/tags" Target="../tags/tag314.xml"/><Relationship Id="rId73" Type="http://schemas.openxmlformats.org/officeDocument/2006/relationships/tags" Target="../tags/tag322.xml"/><Relationship Id="rId78" Type="http://schemas.openxmlformats.org/officeDocument/2006/relationships/tags" Target="../tags/tag327.xml"/><Relationship Id="rId81" Type="http://schemas.openxmlformats.org/officeDocument/2006/relationships/image" Target="../media/image9.emf"/><Relationship Id="rId4" Type="http://schemas.openxmlformats.org/officeDocument/2006/relationships/tags" Target="../tags/tag253.xml"/><Relationship Id="rId9" Type="http://schemas.openxmlformats.org/officeDocument/2006/relationships/tags" Target="../tags/tag258.xml"/><Relationship Id="rId13" Type="http://schemas.openxmlformats.org/officeDocument/2006/relationships/tags" Target="../tags/tag262.xml"/><Relationship Id="rId18" Type="http://schemas.openxmlformats.org/officeDocument/2006/relationships/tags" Target="../tags/tag267.xml"/><Relationship Id="rId39" Type="http://schemas.openxmlformats.org/officeDocument/2006/relationships/tags" Target="../tags/tag288.xml"/><Relationship Id="rId34" Type="http://schemas.openxmlformats.org/officeDocument/2006/relationships/tags" Target="../tags/tag283.xml"/><Relationship Id="rId50" Type="http://schemas.openxmlformats.org/officeDocument/2006/relationships/tags" Target="../tags/tag299.xml"/><Relationship Id="rId55" Type="http://schemas.openxmlformats.org/officeDocument/2006/relationships/tags" Target="../tags/tag304.xml"/><Relationship Id="rId76" Type="http://schemas.openxmlformats.org/officeDocument/2006/relationships/tags" Target="../tags/tag325.xml"/><Relationship Id="rId7" Type="http://schemas.openxmlformats.org/officeDocument/2006/relationships/tags" Target="../tags/tag256.xml"/><Relationship Id="rId71" Type="http://schemas.openxmlformats.org/officeDocument/2006/relationships/tags" Target="../tags/tag320.xml"/><Relationship Id="rId2" Type="http://schemas.openxmlformats.org/officeDocument/2006/relationships/tags" Target="../tags/tag251.xml"/><Relationship Id="rId29" Type="http://schemas.openxmlformats.org/officeDocument/2006/relationships/tags" Target="../tags/tag278.xml"/><Relationship Id="rId24" Type="http://schemas.openxmlformats.org/officeDocument/2006/relationships/tags" Target="../tags/tag273.xml"/><Relationship Id="rId40" Type="http://schemas.openxmlformats.org/officeDocument/2006/relationships/tags" Target="../tags/tag289.xml"/><Relationship Id="rId45" Type="http://schemas.openxmlformats.org/officeDocument/2006/relationships/tags" Target="../tags/tag294.xml"/><Relationship Id="rId66" Type="http://schemas.openxmlformats.org/officeDocument/2006/relationships/tags" Target="../tags/tag315.xml"/></Relationships>
</file>

<file path=ppt/slides/_rels/slide35.xml.rels><?xml version="1.0" encoding="UTF-8" standalone="yes"?>
<Relationships xmlns="http://schemas.openxmlformats.org/package/2006/relationships"><Relationship Id="rId117" Type="http://schemas.openxmlformats.org/officeDocument/2006/relationships/tags" Target="../tags/tag444.xml"/><Relationship Id="rId21" Type="http://schemas.openxmlformats.org/officeDocument/2006/relationships/tags" Target="../tags/tag348.xml"/><Relationship Id="rId42" Type="http://schemas.openxmlformats.org/officeDocument/2006/relationships/tags" Target="../tags/tag369.xml"/><Relationship Id="rId63" Type="http://schemas.openxmlformats.org/officeDocument/2006/relationships/tags" Target="../tags/tag390.xml"/><Relationship Id="rId84" Type="http://schemas.openxmlformats.org/officeDocument/2006/relationships/tags" Target="../tags/tag411.xml"/><Relationship Id="rId138" Type="http://schemas.openxmlformats.org/officeDocument/2006/relationships/tags" Target="../tags/tag465.xml"/><Relationship Id="rId159" Type="http://schemas.openxmlformats.org/officeDocument/2006/relationships/tags" Target="../tags/tag486.xml"/><Relationship Id="rId170" Type="http://schemas.openxmlformats.org/officeDocument/2006/relationships/tags" Target="../tags/tag497.xml"/><Relationship Id="rId191" Type="http://schemas.openxmlformats.org/officeDocument/2006/relationships/tags" Target="../tags/tag518.xml"/><Relationship Id="rId205" Type="http://schemas.openxmlformats.org/officeDocument/2006/relationships/tags" Target="../tags/tag532.xml"/><Relationship Id="rId107" Type="http://schemas.openxmlformats.org/officeDocument/2006/relationships/tags" Target="../tags/tag434.xml"/><Relationship Id="rId11" Type="http://schemas.openxmlformats.org/officeDocument/2006/relationships/tags" Target="../tags/tag338.xml"/><Relationship Id="rId32" Type="http://schemas.openxmlformats.org/officeDocument/2006/relationships/tags" Target="../tags/tag359.xml"/><Relationship Id="rId53" Type="http://schemas.openxmlformats.org/officeDocument/2006/relationships/tags" Target="../tags/tag380.xml"/><Relationship Id="rId74" Type="http://schemas.openxmlformats.org/officeDocument/2006/relationships/tags" Target="../tags/tag401.xml"/><Relationship Id="rId128" Type="http://schemas.openxmlformats.org/officeDocument/2006/relationships/tags" Target="../tags/tag455.xml"/><Relationship Id="rId149" Type="http://schemas.openxmlformats.org/officeDocument/2006/relationships/tags" Target="../tags/tag476.xml"/><Relationship Id="rId5" Type="http://schemas.openxmlformats.org/officeDocument/2006/relationships/tags" Target="../tags/tag332.xml"/><Relationship Id="rId95" Type="http://schemas.openxmlformats.org/officeDocument/2006/relationships/tags" Target="../tags/tag422.xml"/><Relationship Id="rId160" Type="http://schemas.openxmlformats.org/officeDocument/2006/relationships/tags" Target="../tags/tag487.xml"/><Relationship Id="rId181" Type="http://schemas.openxmlformats.org/officeDocument/2006/relationships/tags" Target="../tags/tag508.xml"/><Relationship Id="rId216" Type="http://schemas.openxmlformats.org/officeDocument/2006/relationships/slideLayout" Target="../slideLayouts/slideLayout7.xml"/><Relationship Id="rId22" Type="http://schemas.openxmlformats.org/officeDocument/2006/relationships/tags" Target="../tags/tag349.xml"/><Relationship Id="rId43" Type="http://schemas.openxmlformats.org/officeDocument/2006/relationships/tags" Target="../tags/tag370.xml"/><Relationship Id="rId64" Type="http://schemas.openxmlformats.org/officeDocument/2006/relationships/tags" Target="../tags/tag391.xml"/><Relationship Id="rId118" Type="http://schemas.openxmlformats.org/officeDocument/2006/relationships/tags" Target="../tags/tag445.xml"/><Relationship Id="rId139" Type="http://schemas.openxmlformats.org/officeDocument/2006/relationships/tags" Target="../tags/tag466.xml"/><Relationship Id="rId85" Type="http://schemas.openxmlformats.org/officeDocument/2006/relationships/tags" Target="../tags/tag412.xml"/><Relationship Id="rId150" Type="http://schemas.openxmlformats.org/officeDocument/2006/relationships/tags" Target="../tags/tag477.xml"/><Relationship Id="rId171" Type="http://schemas.openxmlformats.org/officeDocument/2006/relationships/tags" Target="../tags/tag498.xml"/><Relationship Id="rId192" Type="http://schemas.openxmlformats.org/officeDocument/2006/relationships/tags" Target="../tags/tag519.xml"/><Relationship Id="rId206" Type="http://schemas.openxmlformats.org/officeDocument/2006/relationships/tags" Target="../tags/tag533.xml"/><Relationship Id="rId12" Type="http://schemas.openxmlformats.org/officeDocument/2006/relationships/tags" Target="../tags/tag339.xml"/><Relationship Id="rId33" Type="http://schemas.openxmlformats.org/officeDocument/2006/relationships/tags" Target="../tags/tag360.xml"/><Relationship Id="rId108" Type="http://schemas.openxmlformats.org/officeDocument/2006/relationships/tags" Target="../tags/tag435.xml"/><Relationship Id="rId129" Type="http://schemas.openxmlformats.org/officeDocument/2006/relationships/tags" Target="../tags/tag456.xml"/><Relationship Id="rId54" Type="http://schemas.openxmlformats.org/officeDocument/2006/relationships/tags" Target="../tags/tag381.xml"/><Relationship Id="rId75" Type="http://schemas.openxmlformats.org/officeDocument/2006/relationships/tags" Target="../tags/tag402.xml"/><Relationship Id="rId96" Type="http://schemas.openxmlformats.org/officeDocument/2006/relationships/tags" Target="../tags/tag423.xml"/><Relationship Id="rId140" Type="http://schemas.openxmlformats.org/officeDocument/2006/relationships/tags" Target="../tags/tag467.xml"/><Relationship Id="rId161" Type="http://schemas.openxmlformats.org/officeDocument/2006/relationships/tags" Target="../tags/tag488.xml"/><Relationship Id="rId182" Type="http://schemas.openxmlformats.org/officeDocument/2006/relationships/tags" Target="../tags/tag509.xml"/><Relationship Id="rId217" Type="http://schemas.openxmlformats.org/officeDocument/2006/relationships/oleObject" Target="../embeddings/oleObject41.bin"/><Relationship Id="rId6" Type="http://schemas.openxmlformats.org/officeDocument/2006/relationships/tags" Target="../tags/tag333.xml"/><Relationship Id="rId23" Type="http://schemas.openxmlformats.org/officeDocument/2006/relationships/tags" Target="../tags/tag350.xml"/><Relationship Id="rId119" Type="http://schemas.openxmlformats.org/officeDocument/2006/relationships/tags" Target="../tags/tag446.xml"/><Relationship Id="rId44" Type="http://schemas.openxmlformats.org/officeDocument/2006/relationships/tags" Target="../tags/tag371.xml"/><Relationship Id="rId65" Type="http://schemas.openxmlformats.org/officeDocument/2006/relationships/tags" Target="../tags/tag392.xml"/><Relationship Id="rId86" Type="http://schemas.openxmlformats.org/officeDocument/2006/relationships/tags" Target="../tags/tag413.xml"/><Relationship Id="rId130" Type="http://schemas.openxmlformats.org/officeDocument/2006/relationships/tags" Target="../tags/tag457.xml"/><Relationship Id="rId151" Type="http://schemas.openxmlformats.org/officeDocument/2006/relationships/tags" Target="../tags/tag478.xml"/><Relationship Id="rId172" Type="http://schemas.openxmlformats.org/officeDocument/2006/relationships/tags" Target="../tags/tag499.xml"/><Relationship Id="rId193" Type="http://schemas.openxmlformats.org/officeDocument/2006/relationships/tags" Target="../tags/tag520.xml"/><Relationship Id="rId207" Type="http://schemas.openxmlformats.org/officeDocument/2006/relationships/tags" Target="../tags/tag534.xml"/><Relationship Id="rId13" Type="http://schemas.openxmlformats.org/officeDocument/2006/relationships/tags" Target="../tags/tag340.xml"/><Relationship Id="rId109" Type="http://schemas.openxmlformats.org/officeDocument/2006/relationships/tags" Target="../tags/tag436.xml"/><Relationship Id="rId34" Type="http://schemas.openxmlformats.org/officeDocument/2006/relationships/tags" Target="../tags/tag361.xml"/><Relationship Id="rId55" Type="http://schemas.openxmlformats.org/officeDocument/2006/relationships/tags" Target="../tags/tag382.xml"/><Relationship Id="rId76" Type="http://schemas.openxmlformats.org/officeDocument/2006/relationships/tags" Target="../tags/tag403.xml"/><Relationship Id="rId97" Type="http://schemas.openxmlformats.org/officeDocument/2006/relationships/tags" Target="../tags/tag424.xml"/><Relationship Id="rId120" Type="http://schemas.openxmlformats.org/officeDocument/2006/relationships/tags" Target="../tags/tag447.xml"/><Relationship Id="rId141" Type="http://schemas.openxmlformats.org/officeDocument/2006/relationships/tags" Target="../tags/tag468.xml"/><Relationship Id="rId7" Type="http://schemas.openxmlformats.org/officeDocument/2006/relationships/tags" Target="../tags/tag334.xml"/><Relationship Id="rId162" Type="http://schemas.openxmlformats.org/officeDocument/2006/relationships/tags" Target="../tags/tag489.xml"/><Relationship Id="rId183" Type="http://schemas.openxmlformats.org/officeDocument/2006/relationships/tags" Target="../tags/tag510.xml"/><Relationship Id="rId218" Type="http://schemas.openxmlformats.org/officeDocument/2006/relationships/image" Target="../media/image9.emf"/><Relationship Id="rId24" Type="http://schemas.openxmlformats.org/officeDocument/2006/relationships/tags" Target="../tags/tag351.xml"/><Relationship Id="rId45" Type="http://schemas.openxmlformats.org/officeDocument/2006/relationships/tags" Target="../tags/tag372.xml"/><Relationship Id="rId66" Type="http://schemas.openxmlformats.org/officeDocument/2006/relationships/tags" Target="../tags/tag393.xml"/><Relationship Id="rId87" Type="http://schemas.openxmlformats.org/officeDocument/2006/relationships/tags" Target="../tags/tag414.xml"/><Relationship Id="rId110" Type="http://schemas.openxmlformats.org/officeDocument/2006/relationships/tags" Target="../tags/tag437.xml"/><Relationship Id="rId131" Type="http://schemas.openxmlformats.org/officeDocument/2006/relationships/tags" Target="../tags/tag458.xml"/><Relationship Id="rId152" Type="http://schemas.openxmlformats.org/officeDocument/2006/relationships/tags" Target="../tags/tag479.xml"/><Relationship Id="rId173" Type="http://schemas.openxmlformats.org/officeDocument/2006/relationships/tags" Target="../tags/tag500.xml"/><Relationship Id="rId194" Type="http://schemas.openxmlformats.org/officeDocument/2006/relationships/tags" Target="../tags/tag521.xml"/><Relationship Id="rId208" Type="http://schemas.openxmlformats.org/officeDocument/2006/relationships/tags" Target="../tags/tag535.xml"/><Relationship Id="rId14" Type="http://schemas.openxmlformats.org/officeDocument/2006/relationships/tags" Target="../tags/tag341.xml"/><Relationship Id="rId30" Type="http://schemas.openxmlformats.org/officeDocument/2006/relationships/tags" Target="../tags/tag357.xml"/><Relationship Id="rId35" Type="http://schemas.openxmlformats.org/officeDocument/2006/relationships/tags" Target="../tags/tag362.xml"/><Relationship Id="rId56" Type="http://schemas.openxmlformats.org/officeDocument/2006/relationships/tags" Target="../tags/tag383.xml"/><Relationship Id="rId77" Type="http://schemas.openxmlformats.org/officeDocument/2006/relationships/tags" Target="../tags/tag404.xml"/><Relationship Id="rId100" Type="http://schemas.openxmlformats.org/officeDocument/2006/relationships/tags" Target="../tags/tag427.xml"/><Relationship Id="rId105" Type="http://schemas.openxmlformats.org/officeDocument/2006/relationships/tags" Target="../tags/tag432.xml"/><Relationship Id="rId126" Type="http://schemas.openxmlformats.org/officeDocument/2006/relationships/tags" Target="../tags/tag453.xml"/><Relationship Id="rId147" Type="http://schemas.openxmlformats.org/officeDocument/2006/relationships/tags" Target="../tags/tag474.xml"/><Relationship Id="rId168" Type="http://schemas.openxmlformats.org/officeDocument/2006/relationships/tags" Target="../tags/tag495.xml"/><Relationship Id="rId8" Type="http://schemas.openxmlformats.org/officeDocument/2006/relationships/tags" Target="../tags/tag335.xml"/><Relationship Id="rId51" Type="http://schemas.openxmlformats.org/officeDocument/2006/relationships/tags" Target="../tags/tag378.xml"/><Relationship Id="rId72" Type="http://schemas.openxmlformats.org/officeDocument/2006/relationships/tags" Target="../tags/tag399.xml"/><Relationship Id="rId93" Type="http://schemas.openxmlformats.org/officeDocument/2006/relationships/tags" Target="../tags/tag420.xml"/><Relationship Id="rId98" Type="http://schemas.openxmlformats.org/officeDocument/2006/relationships/tags" Target="../tags/tag425.xml"/><Relationship Id="rId121" Type="http://schemas.openxmlformats.org/officeDocument/2006/relationships/tags" Target="../tags/tag448.xml"/><Relationship Id="rId142" Type="http://schemas.openxmlformats.org/officeDocument/2006/relationships/tags" Target="../tags/tag469.xml"/><Relationship Id="rId163" Type="http://schemas.openxmlformats.org/officeDocument/2006/relationships/tags" Target="../tags/tag490.xml"/><Relationship Id="rId184" Type="http://schemas.openxmlformats.org/officeDocument/2006/relationships/tags" Target="../tags/tag511.xml"/><Relationship Id="rId189" Type="http://schemas.openxmlformats.org/officeDocument/2006/relationships/tags" Target="../tags/tag516.xml"/><Relationship Id="rId3" Type="http://schemas.openxmlformats.org/officeDocument/2006/relationships/tags" Target="../tags/tag330.xml"/><Relationship Id="rId214" Type="http://schemas.openxmlformats.org/officeDocument/2006/relationships/tags" Target="../tags/tag541.xml"/><Relationship Id="rId25" Type="http://schemas.openxmlformats.org/officeDocument/2006/relationships/tags" Target="../tags/tag352.xml"/><Relationship Id="rId46" Type="http://schemas.openxmlformats.org/officeDocument/2006/relationships/tags" Target="../tags/tag373.xml"/><Relationship Id="rId67" Type="http://schemas.openxmlformats.org/officeDocument/2006/relationships/tags" Target="../tags/tag394.xml"/><Relationship Id="rId116" Type="http://schemas.openxmlformats.org/officeDocument/2006/relationships/tags" Target="../tags/tag443.xml"/><Relationship Id="rId137" Type="http://schemas.openxmlformats.org/officeDocument/2006/relationships/tags" Target="../tags/tag464.xml"/><Relationship Id="rId158" Type="http://schemas.openxmlformats.org/officeDocument/2006/relationships/tags" Target="../tags/tag485.xml"/><Relationship Id="rId20" Type="http://schemas.openxmlformats.org/officeDocument/2006/relationships/tags" Target="../tags/tag347.xml"/><Relationship Id="rId41" Type="http://schemas.openxmlformats.org/officeDocument/2006/relationships/tags" Target="../tags/tag368.xml"/><Relationship Id="rId62" Type="http://schemas.openxmlformats.org/officeDocument/2006/relationships/tags" Target="../tags/tag389.xml"/><Relationship Id="rId83" Type="http://schemas.openxmlformats.org/officeDocument/2006/relationships/tags" Target="../tags/tag410.xml"/><Relationship Id="rId88" Type="http://schemas.openxmlformats.org/officeDocument/2006/relationships/tags" Target="../tags/tag415.xml"/><Relationship Id="rId111" Type="http://schemas.openxmlformats.org/officeDocument/2006/relationships/tags" Target="../tags/tag438.xml"/><Relationship Id="rId132" Type="http://schemas.openxmlformats.org/officeDocument/2006/relationships/tags" Target="../tags/tag459.xml"/><Relationship Id="rId153" Type="http://schemas.openxmlformats.org/officeDocument/2006/relationships/tags" Target="../tags/tag480.xml"/><Relationship Id="rId174" Type="http://schemas.openxmlformats.org/officeDocument/2006/relationships/tags" Target="../tags/tag501.xml"/><Relationship Id="rId179" Type="http://schemas.openxmlformats.org/officeDocument/2006/relationships/tags" Target="../tags/tag506.xml"/><Relationship Id="rId195" Type="http://schemas.openxmlformats.org/officeDocument/2006/relationships/tags" Target="../tags/tag522.xml"/><Relationship Id="rId209" Type="http://schemas.openxmlformats.org/officeDocument/2006/relationships/tags" Target="../tags/tag536.xml"/><Relationship Id="rId190" Type="http://schemas.openxmlformats.org/officeDocument/2006/relationships/tags" Target="../tags/tag517.xml"/><Relationship Id="rId204" Type="http://schemas.openxmlformats.org/officeDocument/2006/relationships/tags" Target="../tags/tag531.xml"/><Relationship Id="rId15" Type="http://schemas.openxmlformats.org/officeDocument/2006/relationships/tags" Target="../tags/tag342.xml"/><Relationship Id="rId36" Type="http://schemas.openxmlformats.org/officeDocument/2006/relationships/tags" Target="../tags/tag363.xml"/><Relationship Id="rId57" Type="http://schemas.openxmlformats.org/officeDocument/2006/relationships/tags" Target="../tags/tag384.xml"/><Relationship Id="rId106" Type="http://schemas.openxmlformats.org/officeDocument/2006/relationships/tags" Target="../tags/tag433.xml"/><Relationship Id="rId127" Type="http://schemas.openxmlformats.org/officeDocument/2006/relationships/tags" Target="../tags/tag454.xml"/><Relationship Id="rId10" Type="http://schemas.openxmlformats.org/officeDocument/2006/relationships/tags" Target="../tags/tag337.xml"/><Relationship Id="rId31" Type="http://schemas.openxmlformats.org/officeDocument/2006/relationships/tags" Target="../tags/tag358.xml"/><Relationship Id="rId52" Type="http://schemas.openxmlformats.org/officeDocument/2006/relationships/tags" Target="../tags/tag379.xml"/><Relationship Id="rId73" Type="http://schemas.openxmlformats.org/officeDocument/2006/relationships/tags" Target="../tags/tag400.xml"/><Relationship Id="rId78" Type="http://schemas.openxmlformats.org/officeDocument/2006/relationships/tags" Target="../tags/tag405.xml"/><Relationship Id="rId94" Type="http://schemas.openxmlformats.org/officeDocument/2006/relationships/tags" Target="../tags/tag421.xml"/><Relationship Id="rId99" Type="http://schemas.openxmlformats.org/officeDocument/2006/relationships/tags" Target="../tags/tag426.xml"/><Relationship Id="rId101" Type="http://schemas.openxmlformats.org/officeDocument/2006/relationships/tags" Target="../tags/tag428.xml"/><Relationship Id="rId122" Type="http://schemas.openxmlformats.org/officeDocument/2006/relationships/tags" Target="../tags/tag449.xml"/><Relationship Id="rId143" Type="http://schemas.openxmlformats.org/officeDocument/2006/relationships/tags" Target="../tags/tag470.xml"/><Relationship Id="rId148" Type="http://schemas.openxmlformats.org/officeDocument/2006/relationships/tags" Target="../tags/tag475.xml"/><Relationship Id="rId164" Type="http://schemas.openxmlformats.org/officeDocument/2006/relationships/tags" Target="../tags/tag491.xml"/><Relationship Id="rId169" Type="http://schemas.openxmlformats.org/officeDocument/2006/relationships/tags" Target="../tags/tag496.xml"/><Relationship Id="rId185" Type="http://schemas.openxmlformats.org/officeDocument/2006/relationships/tags" Target="../tags/tag512.xml"/><Relationship Id="rId4" Type="http://schemas.openxmlformats.org/officeDocument/2006/relationships/tags" Target="../tags/tag331.xml"/><Relationship Id="rId9" Type="http://schemas.openxmlformats.org/officeDocument/2006/relationships/tags" Target="../tags/tag336.xml"/><Relationship Id="rId180" Type="http://schemas.openxmlformats.org/officeDocument/2006/relationships/tags" Target="../tags/tag507.xml"/><Relationship Id="rId210" Type="http://schemas.openxmlformats.org/officeDocument/2006/relationships/tags" Target="../tags/tag537.xml"/><Relationship Id="rId215" Type="http://schemas.openxmlformats.org/officeDocument/2006/relationships/tags" Target="../tags/tag542.xml"/><Relationship Id="rId26" Type="http://schemas.openxmlformats.org/officeDocument/2006/relationships/tags" Target="../tags/tag353.xml"/><Relationship Id="rId47" Type="http://schemas.openxmlformats.org/officeDocument/2006/relationships/tags" Target="../tags/tag374.xml"/><Relationship Id="rId68" Type="http://schemas.openxmlformats.org/officeDocument/2006/relationships/tags" Target="../tags/tag395.xml"/><Relationship Id="rId89" Type="http://schemas.openxmlformats.org/officeDocument/2006/relationships/tags" Target="../tags/tag416.xml"/><Relationship Id="rId112" Type="http://schemas.openxmlformats.org/officeDocument/2006/relationships/tags" Target="../tags/tag439.xml"/><Relationship Id="rId133" Type="http://schemas.openxmlformats.org/officeDocument/2006/relationships/tags" Target="../tags/tag460.xml"/><Relationship Id="rId154" Type="http://schemas.openxmlformats.org/officeDocument/2006/relationships/tags" Target="../tags/tag481.xml"/><Relationship Id="rId175" Type="http://schemas.openxmlformats.org/officeDocument/2006/relationships/tags" Target="../tags/tag502.xml"/><Relationship Id="rId196" Type="http://schemas.openxmlformats.org/officeDocument/2006/relationships/tags" Target="../tags/tag523.xml"/><Relationship Id="rId200" Type="http://schemas.openxmlformats.org/officeDocument/2006/relationships/tags" Target="../tags/tag527.xml"/><Relationship Id="rId16" Type="http://schemas.openxmlformats.org/officeDocument/2006/relationships/tags" Target="../tags/tag343.xml"/><Relationship Id="rId37" Type="http://schemas.openxmlformats.org/officeDocument/2006/relationships/tags" Target="../tags/tag364.xml"/><Relationship Id="rId58" Type="http://schemas.openxmlformats.org/officeDocument/2006/relationships/tags" Target="../tags/tag385.xml"/><Relationship Id="rId79" Type="http://schemas.openxmlformats.org/officeDocument/2006/relationships/tags" Target="../tags/tag406.xml"/><Relationship Id="rId102" Type="http://schemas.openxmlformats.org/officeDocument/2006/relationships/tags" Target="../tags/tag429.xml"/><Relationship Id="rId123" Type="http://schemas.openxmlformats.org/officeDocument/2006/relationships/tags" Target="../tags/tag450.xml"/><Relationship Id="rId144" Type="http://schemas.openxmlformats.org/officeDocument/2006/relationships/tags" Target="../tags/tag471.xml"/><Relationship Id="rId90" Type="http://schemas.openxmlformats.org/officeDocument/2006/relationships/tags" Target="../tags/tag417.xml"/><Relationship Id="rId165" Type="http://schemas.openxmlformats.org/officeDocument/2006/relationships/tags" Target="../tags/tag492.xml"/><Relationship Id="rId186" Type="http://schemas.openxmlformats.org/officeDocument/2006/relationships/tags" Target="../tags/tag513.xml"/><Relationship Id="rId211" Type="http://schemas.openxmlformats.org/officeDocument/2006/relationships/tags" Target="../tags/tag538.xml"/><Relationship Id="rId27" Type="http://schemas.openxmlformats.org/officeDocument/2006/relationships/tags" Target="../tags/tag354.xml"/><Relationship Id="rId48" Type="http://schemas.openxmlformats.org/officeDocument/2006/relationships/tags" Target="../tags/tag375.xml"/><Relationship Id="rId69" Type="http://schemas.openxmlformats.org/officeDocument/2006/relationships/tags" Target="../tags/tag396.xml"/><Relationship Id="rId113" Type="http://schemas.openxmlformats.org/officeDocument/2006/relationships/tags" Target="../tags/tag440.xml"/><Relationship Id="rId134" Type="http://schemas.openxmlformats.org/officeDocument/2006/relationships/tags" Target="../tags/tag461.xml"/><Relationship Id="rId80" Type="http://schemas.openxmlformats.org/officeDocument/2006/relationships/tags" Target="../tags/tag407.xml"/><Relationship Id="rId155" Type="http://schemas.openxmlformats.org/officeDocument/2006/relationships/tags" Target="../tags/tag482.xml"/><Relationship Id="rId176" Type="http://schemas.openxmlformats.org/officeDocument/2006/relationships/tags" Target="../tags/tag503.xml"/><Relationship Id="rId197" Type="http://schemas.openxmlformats.org/officeDocument/2006/relationships/tags" Target="../tags/tag524.xml"/><Relationship Id="rId201" Type="http://schemas.openxmlformats.org/officeDocument/2006/relationships/tags" Target="../tags/tag528.xml"/><Relationship Id="rId17" Type="http://schemas.openxmlformats.org/officeDocument/2006/relationships/tags" Target="../tags/tag344.xml"/><Relationship Id="rId38" Type="http://schemas.openxmlformats.org/officeDocument/2006/relationships/tags" Target="../tags/tag365.xml"/><Relationship Id="rId59" Type="http://schemas.openxmlformats.org/officeDocument/2006/relationships/tags" Target="../tags/tag386.xml"/><Relationship Id="rId103" Type="http://schemas.openxmlformats.org/officeDocument/2006/relationships/tags" Target="../tags/tag430.xml"/><Relationship Id="rId124" Type="http://schemas.openxmlformats.org/officeDocument/2006/relationships/tags" Target="../tags/tag451.xml"/><Relationship Id="rId70" Type="http://schemas.openxmlformats.org/officeDocument/2006/relationships/tags" Target="../tags/tag397.xml"/><Relationship Id="rId91" Type="http://schemas.openxmlformats.org/officeDocument/2006/relationships/tags" Target="../tags/tag418.xml"/><Relationship Id="rId145" Type="http://schemas.openxmlformats.org/officeDocument/2006/relationships/tags" Target="../tags/tag472.xml"/><Relationship Id="rId166" Type="http://schemas.openxmlformats.org/officeDocument/2006/relationships/tags" Target="../tags/tag493.xml"/><Relationship Id="rId187" Type="http://schemas.openxmlformats.org/officeDocument/2006/relationships/tags" Target="../tags/tag514.xml"/><Relationship Id="rId1" Type="http://schemas.openxmlformats.org/officeDocument/2006/relationships/tags" Target="../tags/tag328.xml"/><Relationship Id="rId212" Type="http://schemas.openxmlformats.org/officeDocument/2006/relationships/tags" Target="../tags/tag539.xml"/><Relationship Id="rId28" Type="http://schemas.openxmlformats.org/officeDocument/2006/relationships/tags" Target="../tags/tag355.xml"/><Relationship Id="rId49" Type="http://schemas.openxmlformats.org/officeDocument/2006/relationships/tags" Target="../tags/tag376.xml"/><Relationship Id="rId114" Type="http://schemas.openxmlformats.org/officeDocument/2006/relationships/tags" Target="../tags/tag441.xml"/><Relationship Id="rId60" Type="http://schemas.openxmlformats.org/officeDocument/2006/relationships/tags" Target="../tags/tag387.xml"/><Relationship Id="rId81" Type="http://schemas.openxmlformats.org/officeDocument/2006/relationships/tags" Target="../tags/tag408.xml"/><Relationship Id="rId135" Type="http://schemas.openxmlformats.org/officeDocument/2006/relationships/tags" Target="../tags/tag462.xml"/><Relationship Id="rId156" Type="http://schemas.openxmlformats.org/officeDocument/2006/relationships/tags" Target="../tags/tag483.xml"/><Relationship Id="rId177" Type="http://schemas.openxmlformats.org/officeDocument/2006/relationships/tags" Target="../tags/tag504.xml"/><Relationship Id="rId198" Type="http://schemas.openxmlformats.org/officeDocument/2006/relationships/tags" Target="../tags/tag525.xml"/><Relationship Id="rId202" Type="http://schemas.openxmlformats.org/officeDocument/2006/relationships/tags" Target="../tags/tag529.xml"/><Relationship Id="rId18" Type="http://schemas.openxmlformats.org/officeDocument/2006/relationships/tags" Target="../tags/tag345.xml"/><Relationship Id="rId39" Type="http://schemas.openxmlformats.org/officeDocument/2006/relationships/tags" Target="../tags/tag366.xml"/><Relationship Id="rId50" Type="http://schemas.openxmlformats.org/officeDocument/2006/relationships/tags" Target="../tags/tag377.xml"/><Relationship Id="rId104" Type="http://schemas.openxmlformats.org/officeDocument/2006/relationships/tags" Target="../tags/tag431.xml"/><Relationship Id="rId125" Type="http://schemas.openxmlformats.org/officeDocument/2006/relationships/tags" Target="../tags/tag452.xml"/><Relationship Id="rId146" Type="http://schemas.openxmlformats.org/officeDocument/2006/relationships/tags" Target="../tags/tag473.xml"/><Relationship Id="rId167" Type="http://schemas.openxmlformats.org/officeDocument/2006/relationships/tags" Target="../tags/tag494.xml"/><Relationship Id="rId188" Type="http://schemas.openxmlformats.org/officeDocument/2006/relationships/tags" Target="../tags/tag515.xml"/><Relationship Id="rId71" Type="http://schemas.openxmlformats.org/officeDocument/2006/relationships/tags" Target="../tags/tag398.xml"/><Relationship Id="rId92" Type="http://schemas.openxmlformats.org/officeDocument/2006/relationships/tags" Target="../tags/tag419.xml"/><Relationship Id="rId213" Type="http://schemas.openxmlformats.org/officeDocument/2006/relationships/tags" Target="../tags/tag540.xml"/><Relationship Id="rId2" Type="http://schemas.openxmlformats.org/officeDocument/2006/relationships/tags" Target="../tags/tag329.xml"/><Relationship Id="rId29" Type="http://schemas.openxmlformats.org/officeDocument/2006/relationships/tags" Target="../tags/tag356.xml"/><Relationship Id="rId40" Type="http://schemas.openxmlformats.org/officeDocument/2006/relationships/tags" Target="../tags/tag367.xml"/><Relationship Id="rId115" Type="http://schemas.openxmlformats.org/officeDocument/2006/relationships/tags" Target="../tags/tag442.xml"/><Relationship Id="rId136" Type="http://schemas.openxmlformats.org/officeDocument/2006/relationships/tags" Target="../tags/tag463.xml"/><Relationship Id="rId157" Type="http://schemas.openxmlformats.org/officeDocument/2006/relationships/tags" Target="../tags/tag484.xml"/><Relationship Id="rId178" Type="http://schemas.openxmlformats.org/officeDocument/2006/relationships/tags" Target="../tags/tag505.xml"/><Relationship Id="rId61" Type="http://schemas.openxmlformats.org/officeDocument/2006/relationships/tags" Target="../tags/tag388.xml"/><Relationship Id="rId82" Type="http://schemas.openxmlformats.org/officeDocument/2006/relationships/tags" Target="../tags/tag409.xml"/><Relationship Id="rId199" Type="http://schemas.openxmlformats.org/officeDocument/2006/relationships/tags" Target="../tags/tag526.xml"/><Relationship Id="rId203" Type="http://schemas.openxmlformats.org/officeDocument/2006/relationships/tags" Target="../tags/tag530.xml"/><Relationship Id="rId19" Type="http://schemas.openxmlformats.org/officeDocument/2006/relationships/tags" Target="../tags/tag346.xml"/></Relationships>
</file>

<file path=ppt/slides/_rels/slide36.xml.rels><?xml version="1.0" encoding="UTF-8" standalone="yes"?>
<Relationships xmlns="http://schemas.openxmlformats.org/package/2006/relationships"><Relationship Id="rId3" Type="http://schemas.openxmlformats.org/officeDocument/2006/relationships/slideLayout" Target="../slideLayouts/slideLayout19.xml"/><Relationship Id="rId2" Type="http://schemas.openxmlformats.org/officeDocument/2006/relationships/tags" Target="../tags/tag544.xml"/><Relationship Id="rId1" Type="http://schemas.openxmlformats.org/officeDocument/2006/relationships/tags" Target="../tags/tag543.xml"/><Relationship Id="rId6" Type="http://schemas.openxmlformats.org/officeDocument/2006/relationships/image" Target="../media/image9.emf"/><Relationship Id="rId5" Type="http://schemas.openxmlformats.org/officeDocument/2006/relationships/oleObject" Target="../embeddings/oleObject42.bin"/><Relationship Id="rId4" Type="http://schemas.openxmlformats.org/officeDocument/2006/relationships/notesSlide" Target="../notesSlides/notesSlide6.xml"/></Relationships>
</file>

<file path=ppt/slides/_rels/slide37.xml.rels><?xml version="1.0" encoding="UTF-8" standalone="yes"?>
<Relationships xmlns="http://schemas.openxmlformats.org/package/2006/relationships"><Relationship Id="rId26" Type="http://schemas.openxmlformats.org/officeDocument/2006/relationships/tags" Target="../tags/tag570.xml"/><Relationship Id="rId21" Type="http://schemas.openxmlformats.org/officeDocument/2006/relationships/tags" Target="../tags/tag565.xml"/><Relationship Id="rId34" Type="http://schemas.openxmlformats.org/officeDocument/2006/relationships/tags" Target="../tags/tag578.xml"/><Relationship Id="rId42" Type="http://schemas.openxmlformats.org/officeDocument/2006/relationships/tags" Target="../tags/tag586.xml"/><Relationship Id="rId47" Type="http://schemas.openxmlformats.org/officeDocument/2006/relationships/tags" Target="../tags/tag591.xml"/><Relationship Id="rId50" Type="http://schemas.openxmlformats.org/officeDocument/2006/relationships/tags" Target="../tags/tag594.xml"/><Relationship Id="rId55" Type="http://schemas.openxmlformats.org/officeDocument/2006/relationships/tags" Target="../tags/tag599.xml"/><Relationship Id="rId63" Type="http://schemas.openxmlformats.org/officeDocument/2006/relationships/image" Target="../media/image9.emf"/><Relationship Id="rId7" Type="http://schemas.openxmlformats.org/officeDocument/2006/relationships/tags" Target="../tags/tag551.xml"/><Relationship Id="rId2" Type="http://schemas.openxmlformats.org/officeDocument/2006/relationships/tags" Target="../tags/tag546.xml"/><Relationship Id="rId16" Type="http://schemas.openxmlformats.org/officeDocument/2006/relationships/tags" Target="../tags/tag560.xml"/><Relationship Id="rId29" Type="http://schemas.openxmlformats.org/officeDocument/2006/relationships/tags" Target="../tags/tag573.xml"/><Relationship Id="rId11" Type="http://schemas.openxmlformats.org/officeDocument/2006/relationships/tags" Target="../tags/tag555.xml"/><Relationship Id="rId24" Type="http://schemas.openxmlformats.org/officeDocument/2006/relationships/tags" Target="../tags/tag568.xml"/><Relationship Id="rId32" Type="http://schemas.openxmlformats.org/officeDocument/2006/relationships/tags" Target="../tags/tag576.xml"/><Relationship Id="rId37" Type="http://schemas.openxmlformats.org/officeDocument/2006/relationships/tags" Target="../tags/tag581.xml"/><Relationship Id="rId40" Type="http://schemas.openxmlformats.org/officeDocument/2006/relationships/tags" Target="../tags/tag584.xml"/><Relationship Id="rId45" Type="http://schemas.openxmlformats.org/officeDocument/2006/relationships/tags" Target="../tags/tag589.xml"/><Relationship Id="rId53" Type="http://schemas.openxmlformats.org/officeDocument/2006/relationships/tags" Target="../tags/tag597.xml"/><Relationship Id="rId58" Type="http://schemas.openxmlformats.org/officeDocument/2006/relationships/tags" Target="../tags/tag602.xml"/><Relationship Id="rId66" Type="http://schemas.openxmlformats.org/officeDocument/2006/relationships/chart" Target="../charts/chart15.xml"/><Relationship Id="rId5" Type="http://schemas.openxmlformats.org/officeDocument/2006/relationships/tags" Target="../tags/tag549.xml"/><Relationship Id="rId61" Type="http://schemas.openxmlformats.org/officeDocument/2006/relationships/slideLayout" Target="../slideLayouts/slideLayout7.xml"/><Relationship Id="rId19" Type="http://schemas.openxmlformats.org/officeDocument/2006/relationships/tags" Target="../tags/tag563.xml"/><Relationship Id="rId14" Type="http://schemas.openxmlformats.org/officeDocument/2006/relationships/tags" Target="../tags/tag558.xml"/><Relationship Id="rId22" Type="http://schemas.openxmlformats.org/officeDocument/2006/relationships/tags" Target="../tags/tag566.xml"/><Relationship Id="rId27" Type="http://schemas.openxmlformats.org/officeDocument/2006/relationships/tags" Target="../tags/tag571.xml"/><Relationship Id="rId30" Type="http://schemas.openxmlformats.org/officeDocument/2006/relationships/tags" Target="../tags/tag574.xml"/><Relationship Id="rId35" Type="http://schemas.openxmlformats.org/officeDocument/2006/relationships/tags" Target="../tags/tag579.xml"/><Relationship Id="rId43" Type="http://schemas.openxmlformats.org/officeDocument/2006/relationships/tags" Target="../tags/tag587.xml"/><Relationship Id="rId48" Type="http://schemas.openxmlformats.org/officeDocument/2006/relationships/tags" Target="../tags/tag592.xml"/><Relationship Id="rId56" Type="http://schemas.openxmlformats.org/officeDocument/2006/relationships/tags" Target="../tags/tag600.xml"/><Relationship Id="rId64" Type="http://schemas.openxmlformats.org/officeDocument/2006/relationships/chart" Target="../charts/chart13.xml"/><Relationship Id="rId8" Type="http://schemas.openxmlformats.org/officeDocument/2006/relationships/tags" Target="../tags/tag552.xml"/><Relationship Id="rId51" Type="http://schemas.openxmlformats.org/officeDocument/2006/relationships/tags" Target="../tags/tag595.xml"/><Relationship Id="rId3" Type="http://schemas.openxmlformats.org/officeDocument/2006/relationships/tags" Target="../tags/tag547.xml"/><Relationship Id="rId12" Type="http://schemas.openxmlformats.org/officeDocument/2006/relationships/tags" Target="../tags/tag556.xml"/><Relationship Id="rId17" Type="http://schemas.openxmlformats.org/officeDocument/2006/relationships/tags" Target="../tags/tag561.xml"/><Relationship Id="rId25" Type="http://schemas.openxmlformats.org/officeDocument/2006/relationships/tags" Target="../tags/tag569.xml"/><Relationship Id="rId33" Type="http://schemas.openxmlformats.org/officeDocument/2006/relationships/tags" Target="../tags/tag577.xml"/><Relationship Id="rId38" Type="http://schemas.openxmlformats.org/officeDocument/2006/relationships/tags" Target="../tags/tag582.xml"/><Relationship Id="rId46" Type="http://schemas.openxmlformats.org/officeDocument/2006/relationships/tags" Target="../tags/tag590.xml"/><Relationship Id="rId59" Type="http://schemas.openxmlformats.org/officeDocument/2006/relationships/tags" Target="../tags/tag603.xml"/><Relationship Id="rId20" Type="http://schemas.openxmlformats.org/officeDocument/2006/relationships/tags" Target="../tags/tag564.xml"/><Relationship Id="rId41" Type="http://schemas.openxmlformats.org/officeDocument/2006/relationships/tags" Target="../tags/tag585.xml"/><Relationship Id="rId54" Type="http://schemas.openxmlformats.org/officeDocument/2006/relationships/tags" Target="../tags/tag598.xml"/><Relationship Id="rId62" Type="http://schemas.openxmlformats.org/officeDocument/2006/relationships/oleObject" Target="../embeddings/oleObject43.bin"/><Relationship Id="rId1" Type="http://schemas.openxmlformats.org/officeDocument/2006/relationships/tags" Target="../tags/tag545.xml"/><Relationship Id="rId6" Type="http://schemas.openxmlformats.org/officeDocument/2006/relationships/tags" Target="../tags/tag550.xml"/><Relationship Id="rId15" Type="http://schemas.openxmlformats.org/officeDocument/2006/relationships/tags" Target="../tags/tag559.xml"/><Relationship Id="rId23" Type="http://schemas.openxmlformats.org/officeDocument/2006/relationships/tags" Target="../tags/tag567.xml"/><Relationship Id="rId28" Type="http://schemas.openxmlformats.org/officeDocument/2006/relationships/tags" Target="../tags/tag572.xml"/><Relationship Id="rId36" Type="http://schemas.openxmlformats.org/officeDocument/2006/relationships/tags" Target="../tags/tag580.xml"/><Relationship Id="rId49" Type="http://schemas.openxmlformats.org/officeDocument/2006/relationships/tags" Target="../tags/tag593.xml"/><Relationship Id="rId57" Type="http://schemas.openxmlformats.org/officeDocument/2006/relationships/tags" Target="../tags/tag601.xml"/><Relationship Id="rId10" Type="http://schemas.openxmlformats.org/officeDocument/2006/relationships/tags" Target="../tags/tag554.xml"/><Relationship Id="rId31" Type="http://schemas.openxmlformats.org/officeDocument/2006/relationships/tags" Target="../tags/tag575.xml"/><Relationship Id="rId44" Type="http://schemas.openxmlformats.org/officeDocument/2006/relationships/tags" Target="../tags/tag588.xml"/><Relationship Id="rId52" Type="http://schemas.openxmlformats.org/officeDocument/2006/relationships/tags" Target="../tags/tag596.xml"/><Relationship Id="rId60" Type="http://schemas.openxmlformats.org/officeDocument/2006/relationships/tags" Target="../tags/tag604.xml"/><Relationship Id="rId65" Type="http://schemas.openxmlformats.org/officeDocument/2006/relationships/chart" Target="../charts/chart14.xml"/><Relationship Id="rId4" Type="http://schemas.openxmlformats.org/officeDocument/2006/relationships/tags" Target="../tags/tag548.xml"/><Relationship Id="rId9" Type="http://schemas.openxmlformats.org/officeDocument/2006/relationships/tags" Target="../tags/tag553.xml"/><Relationship Id="rId13" Type="http://schemas.openxmlformats.org/officeDocument/2006/relationships/tags" Target="../tags/tag557.xml"/><Relationship Id="rId18" Type="http://schemas.openxmlformats.org/officeDocument/2006/relationships/tags" Target="../tags/tag562.xml"/><Relationship Id="rId39" Type="http://schemas.openxmlformats.org/officeDocument/2006/relationships/tags" Target="../tags/tag583.xml"/></Relationships>
</file>

<file path=ppt/slides/_rels/slide38.xml.rels><?xml version="1.0" encoding="UTF-8" standalone="yes"?>
<Relationships xmlns="http://schemas.openxmlformats.org/package/2006/relationships"><Relationship Id="rId13" Type="http://schemas.openxmlformats.org/officeDocument/2006/relationships/tags" Target="../tags/tag617.xml"/><Relationship Id="rId18" Type="http://schemas.openxmlformats.org/officeDocument/2006/relationships/tags" Target="../tags/tag622.xml"/><Relationship Id="rId26" Type="http://schemas.openxmlformats.org/officeDocument/2006/relationships/tags" Target="../tags/tag630.xml"/><Relationship Id="rId39" Type="http://schemas.openxmlformats.org/officeDocument/2006/relationships/tags" Target="../tags/tag643.xml"/><Relationship Id="rId21" Type="http://schemas.openxmlformats.org/officeDocument/2006/relationships/tags" Target="../tags/tag625.xml"/><Relationship Id="rId34" Type="http://schemas.openxmlformats.org/officeDocument/2006/relationships/tags" Target="../tags/tag638.xml"/><Relationship Id="rId42" Type="http://schemas.openxmlformats.org/officeDocument/2006/relationships/tags" Target="../tags/tag646.xml"/><Relationship Id="rId47" Type="http://schemas.openxmlformats.org/officeDocument/2006/relationships/tags" Target="../tags/tag651.xml"/><Relationship Id="rId50" Type="http://schemas.openxmlformats.org/officeDocument/2006/relationships/tags" Target="../tags/tag654.xml"/><Relationship Id="rId55" Type="http://schemas.openxmlformats.org/officeDocument/2006/relationships/tags" Target="../tags/tag659.xml"/><Relationship Id="rId7" Type="http://schemas.openxmlformats.org/officeDocument/2006/relationships/tags" Target="../tags/tag611.xml"/><Relationship Id="rId2" Type="http://schemas.openxmlformats.org/officeDocument/2006/relationships/tags" Target="../tags/tag606.xml"/><Relationship Id="rId16" Type="http://schemas.openxmlformats.org/officeDocument/2006/relationships/tags" Target="../tags/tag620.xml"/><Relationship Id="rId29" Type="http://schemas.openxmlformats.org/officeDocument/2006/relationships/tags" Target="../tags/tag633.xml"/><Relationship Id="rId11" Type="http://schemas.openxmlformats.org/officeDocument/2006/relationships/tags" Target="../tags/tag615.xml"/><Relationship Id="rId24" Type="http://schemas.openxmlformats.org/officeDocument/2006/relationships/tags" Target="../tags/tag628.xml"/><Relationship Id="rId32" Type="http://schemas.openxmlformats.org/officeDocument/2006/relationships/tags" Target="../tags/tag636.xml"/><Relationship Id="rId37" Type="http://schemas.openxmlformats.org/officeDocument/2006/relationships/tags" Target="../tags/tag641.xml"/><Relationship Id="rId40" Type="http://schemas.openxmlformats.org/officeDocument/2006/relationships/tags" Target="../tags/tag644.xml"/><Relationship Id="rId45" Type="http://schemas.openxmlformats.org/officeDocument/2006/relationships/tags" Target="../tags/tag649.xml"/><Relationship Id="rId53" Type="http://schemas.openxmlformats.org/officeDocument/2006/relationships/tags" Target="../tags/tag657.xml"/><Relationship Id="rId58" Type="http://schemas.openxmlformats.org/officeDocument/2006/relationships/oleObject" Target="../embeddings/oleObject44.bin"/><Relationship Id="rId5" Type="http://schemas.openxmlformats.org/officeDocument/2006/relationships/tags" Target="../tags/tag609.xml"/><Relationship Id="rId61" Type="http://schemas.openxmlformats.org/officeDocument/2006/relationships/chart" Target="../charts/chart17.xml"/><Relationship Id="rId19" Type="http://schemas.openxmlformats.org/officeDocument/2006/relationships/tags" Target="../tags/tag623.xml"/><Relationship Id="rId14" Type="http://schemas.openxmlformats.org/officeDocument/2006/relationships/tags" Target="../tags/tag618.xml"/><Relationship Id="rId22" Type="http://schemas.openxmlformats.org/officeDocument/2006/relationships/tags" Target="../tags/tag626.xml"/><Relationship Id="rId27" Type="http://schemas.openxmlformats.org/officeDocument/2006/relationships/tags" Target="../tags/tag631.xml"/><Relationship Id="rId30" Type="http://schemas.openxmlformats.org/officeDocument/2006/relationships/tags" Target="../tags/tag634.xml"/><Relationship Id="rId35" Type="http://schemas.openxmlformats.org/officeDocument/2006/relationships/tags" Target="../tags/tag639.xml"/><Relationship Id="rId43" Type="http://schemas.openxmlformats.org/officeDocument/2006/relationships/tags" Target="../tags/tag647.xml"/><Relationship Id="rId48" Type="http://schemas.openxmlformats.org/officeDocument/2006/relationships/tags" Target="../tags/tag652.xml"/><Relationship Id="rId56" Type="http://schemas.openxmlformats.org/officeDocument/2006/relationships/tags" Target="../tags/tag660.xml"/><Relationship Id="rId8" Type="http://schemas.openxmlformats.org/officeDocument/2006/relationships/tags" Target="../tags/tag612.xml"/><Relationship Id="rId51" Type="http://schemas.openxmlformats.org/officeDocument/2006/relationships/tags" Target="../tags/tag655.xml"/><Relationship Id="rId3" Type="http://schemas.openxmlformats.org/officeDocument/2006/relationships/tags" Target="../tags/tag607.xml"/><Relationship Id="rId12" Type="http://schemas.openxmlformats.org/officeDocument/2006/relationships/tags" Target="../tags/tag616.xml"/><Relationship Id="rId17" Type="http://schemas.openxmlformats.org/officeDocument/2006/relationships/tags" Target="../tags/tag621.xml"/><Relationship Id="rId25" Type="http://schemas.openxmlformats.org/officeDocument/2006/relationships/tags" Target="../tags/tag629.xml"/><Relationship Id="rId33" Type="http://schemas.openxmlformats.org/officeDocument/2006/relationships/tags" Target="../tags/tag637.xml"/><Relationship Id="rId38" Type="http://schemas.openxmlformats.org/officeDocument/2006/relationships/tags" Target="../tags/tag642.xml"/><Relationship Id="rId46" Type="http://schemas.openxmlformats.org/officeDocument/2006/relationships/tags" Target="../tags/tag650.xml"/><Relationship Id="rId59" Type="http://schemas.openxmlformats.org/officeDocument/2006/relationships/image" Target="../media/image9.emf"/><Relationship Id="rId20" Type="http://schemas.openxmlformats.org/officeDocument/2006/relationships/tags" Target="../tags/tag624.xml"/><Relationship Id="rId41" Type="http://schemas.openxmlformats.org/officeDocument/2006/relationships/tags" Target="../tags/tag645.xml"/><Relationship Id="rId54" Type="http://schemas.openxmlformats.org/officeDocument/2006/relationships/tags" Target="../tags/tag658.xml"/><Relationship Id="rId1" Type="http://schemas.openxmlformats.org/officeDocument/2006/relationships/tags" Target="../tags/tag605.xml"/><Relationship Id="rId6" Type="http://schemas.openxmlformats.org/officeDocument/2006/relationships/tags" Target="../tags/tag610.xml"/><Relationship Id="rId15" Type="http://schemas.openxmlformats.org/officeDocument/2006/relationships/tags" Target="../tags/tag619.xml"/><Relationship Id="rId23" Type="http://schemas.openxmlformats.org/officeDocument/2006/relationships/tags" Target="../tags/tag627.xml"/><Relationship Id="rId28" Type="http://schemas.openxmlformats.org/officeDocument/2006/relationships/tags" Target="../tags/tag632.xml"/><Relationship Id="rId36" Type="http://schemas.openxmlformats.org/officeDocument/2006/relationships/tags" Target="../tags/tag640.xml"/><Relationship Id="rId49" Type="http://schemas.openxmlformats.org/officeDocument/2006/relationships/tags" Target="../tags/tag653.xml"/><Relationship Id="rId57" Type="http://schemas.openxmlformats.org/officeDocument/2006/relationships/slideLayout" Target="../slideLayouts/slideLayout7.xml"/><Relationship Id="rId10" Type="http://schemas.openxmlformats.org/officeDocument/2006/relationships/tags" Target="../tags/tag614.xml"/><Relationship Id="rId31" Type="http://schemas.openxmlformats.org/officeDocument/2006/relationships/tags" Target="../tags/tag635.xml"/><Relationship Id="rId44" Type="http://schemas.openxmlformats.org/officeDocument/2006/relationships/tags" Target="../tags/tag648.xml"/><Relationship Id="rId52" Type="http://schemas.openxmlformats.org/officeDocument/2006/relationships/tags" Target="../tags/tag656.xml"/><Relationship Id="rId60" Type="http://schemas.openxmlformats.org/officeDocument/2006/relationships/chart" Target="../charts/chart16.xml"/><Relationship Id="rId4" Type="http://schemas.openxmlformats.org/officeDocument/2006/relationships/tags" Target="../tags/tag608.xml"/><Relationship Id="rId9" Type="http://schemas.openxmlformats.org/officeDocument/2006/relationships/tags" Target="../tags/tag613.xml"/></Relationships>
</file>

<file path=ppt/slides/_rels/slide39.xml.rels><?xml version="1.0" encoding="UTF-8" standalone="yes"?>
<Relationships xmlns="http://schemas.openxmlformats.org/package/2006/relationships"><Relationship Id="rId13" Type="http://schemas.openxmlformats.org/officeDocument/2006/relationships/tags" Target="../tags/tag673.xml"/><Relationship Id="rId18" Type="http://schemas.openxmlformats.org/officeDocument/2006/relationships/tags" Target="../tags/tag678.xml"/><Relationship Id="rId26" Type="http://schemas.openxmlformats.org/officeDocument/2006/relationships/tags" Target="../tags/tag686.xml"/><Relationship Id="rId39" Type="http://schemas.openxmlformats.org/officeDocument/2006/relationships/chart" Target="../charts/chart18.xml"/><Relationship Id="rId21" Type="http://schemas.openxmlformats.org/officeDocument/2006/relationships/tags" Target="../tags/tag681.xml"/><Relationship Id="rId34" Type="http://schemas.openxmlformats.org/officeDocument/2006/relationships/tags" Target="../tags/tag694.xml"/><Relationship Id="rId7" Type="http://schemas.openxmlformats.org/officeDocument/2006/relationships/tags" Target="../tags/tag667.xml"/><Relationship Id="rId12" Type="http://schemas.openxmlformats.org/officeDocument/2006/relationships/tags" Target="../tags/tag672.xml"/><Relationship Id="rId17" Type="http://schemas.openxmlformats.org/officeDocument/2006/relationships/tags" Target="../tags/tag677.xml"/><Relationship Id="rId25" Type="http://schemas.openxmlformats.org/officeDocument/2006/relationships/tags" Target="../tags/tag685.xml"/><Relationship Id="rId33" Type="http://schemas.openxmlformats.org/officeDocument/2006/relationships/tags" Target="../tags/tag693.xml"/><Relationship Id="rId38" Type="http://schemas.openxmlformats.org/officeDocument/2006/relationships/image" Target="../media/image9.emf"/><Relationship Id="rId2" Type="http://schemas.openxmlformats.org/officeDocument/2006/relationships/tags" Target="../tags/tag662.xml"/><Relationship Id="rId16" Type="http://schemas.openxmlformats.org/officeDocument/2006/relationships/tags" Target="../tags/tag676.xml"/><Relationship Id="rId20" Type="http://schemas.openxmlformats.org/officeDocument/2006/relationships/tags" Target="../tags/tag680.xml"/><Relationship Id="rId29" Type="http://schemas.openxmlformats.org/officeDocument/2006/relationships/tags" Target="../tags/tag689.xml"/><Relationship Id="rId1" Type="http://schemas.openxmlformats.org/officeDocument/2006/relationships/tags" Target="../tags/tag661.xml"/><Relationship Id="rId6" Type="http://schemas.openxmlformats.org/officeDocument/2006/relationships/tags" Target="../tags/tag666.xml"/><Relationship Id="rId11" Type="http://schemas.openxmlformats.org/officeDocument/2006/relationships/tags" Target="../tags/tag671.xml"/><Relationship Id="rId24" Type="http://schemas.openxmlformats.org/officeDocument/2006/relationships/tags" Target="../tags/tag684.xml"/><Relationship Id="rId32" Type="http://schemas.openxmlformats.org/officeDocument/2006/relationships/tags" Target="../tags/tag692.xml"/><Relationship Id="rId37" Type="http://schemas.openxmlformats.org/officeDocument/2006/relationships/oleObject" Target="../embeddings/oleObject45.bin"/><Relationship Id="rId5" Type="http://schemas.openxmlformats.org/officeDocument/2006/relationships/tags" Target="../tags/tag665.xml"/><Relationship Id="rId15" Type="http://schemas.openxmlformats.org/officeDocument/2006/relationships/tags" Target="../tags/tag675.xml"/><Relationship Id="rId23" Type="http://schemas.openxmlformats.org/officeDocument/2006/relationships/tags" Target="../tags/tag683.xml"/><Relationship Id="rId28" Type="http://schemas.openxmlformats.org/officeDocument/2006/relationships/tags" Target="../tags/tag688.xml"/><Relationship Id="rId36" Type="http://schemas.openxmlformats.org/officeDocument/2006/relationships/slideLayout" Target="../slideLayouts/slideLayout7.xml"/><Relationship Id="rId10" Type="http://schemas.openxmlformats.org/officeDocument/2006/relationships/tags" Target="../tags/tag670.xml"/><Relationship Id="rId19" Type="http://schemas.openxmlformats.org/officeDocument/2006/relationships/tags" Target="../tags/tag679.xml"/><Relationship Id="rId31" Type="http://schemas.openxmlformats.org/officeDocument/2006/relationships/tags" Target="../tags/tag691.xml"/><Relationship Id="rId4" Type="http://schemas.openxmlformats.org/officeDocument/2006/relationships/tags" Target="../tags/tag664.xml"/><Relationship Id="rId9" Type="http://schemas.openxmlformats.org/officeDocument/2006/relationships/tags" Target="../tags/tag669.xml"/><Relationship Id="rId14" Type="http://schemas.openxmlformats.org/officeDocument/2006/relationships/tags" Target="../tags/tag674.xml"/><Relationship Id="rId22" Type="http://schemas.openxmlformats.org/officeDocument/2006/relationships/tags" Target="../tags/tag682.xml"/><Relationship Id="rId27" Type="http://schemas.openxmlformats.org/officeDocument/2006/relationships/tags" Target="../tags/tag687.xml"/><Relationship Id="rId30" Type="http://schemas.openxmlformats.org/officeDocument/2006/relationships/tags" Target="../tags/tag690.xml"/><Relationship Id="rId35" Type="http://schemas.openxmlformats.org/officeDocument/2006/relationships/tags" Target="../tags/tag695.xml"/><Relationship Id="rId8" Type="http://schemas.openxmlformats.org/officeDocument/2006/relationships/tags" Target="../tags/tag668.xml"/><Relationship Id="rId3" Type="http://schemas.openxmlformats.org/officeDocument/2006/relationships/tags" Target="../tags/tag663.xml"/></Relationships>
</file>

<file path=ppt/slides/_rels/slide40.xml.rels><?xml version="1.0" encoding="UTF-8" standalone="yes"?>
<Relationships xmlns="http://schemas.openxmlformats.org/package/2006/relationships"><Relationship Id="rId3" Type="http://schemas.openxmlformats.org/officeDocument/2006/relationships/slideLayout" Target="../slideLayouts/slideLayout19.xml"/><Relationship Id="rId2" Type="http://schemas.openxmlformats.org/officeDocument/2006/relationships/tags" Target="../tags/tag697.xml"/><Relationship Id="rId1" Type="http://schemas.openxmlformats.org/officeDocument/2006/relationships/tags" Target="../tags/tag696.xml"/><Relationship Id="rId6" Type="http://schemas.openxmlformats.org/officeDocument/2006/relationships/image" Target="../media/image9.emf"/><Relationship Id="rId5" Type="http://schemas.openxmlformats.org/officeDocument/2006/relationships/oleObject" Target="../embeddings/oleObject46.bin"/><Relationship Id="rId4" Type="http://schemas.openxmlformats.org/officeDocument/2006/relationships/notesSlide" Target="../notesSlides/notesSlide7.xml"/></Relationships>
</file>

<file path=ppt/slides/_rels/slide41.xml.rels><?xml version="1.0" encoding="UTF-8" standalone="yes"?>
<Relationships xmlns="http://schemas.openxmlformats.org/package/2006/relationships"><Relationship Id="rId8" Type="http://schemas.openxmlformats.org/officeDocument/2006/relationships/tags" Target="../tags/tag705.xml"/><Relationship Id="rId13" Type="http://schemas.openxmlformats.org/officeDocument/2006/relationships/tags" Target="../tags/tag710.xml"/><Relationship Id="rId18" Type="http://schemas.openxmlformats.org/officeDocument/2006/relationships/image" Target="../media/image9.emf"/><Relationship Id="rId3" Type="http://schemas.openxmlformats.org/officeDocument/2006/relationships/tags" Target="../tags/tag700.xml"/><Relationship Id="rId21" Type="http://schemas.openxmlformats.org/officeDocument/2006/relationships/chart" Target="../charts/chart19.xml"/><Relationship Id="rId7" Type="http://schemas.openxmlformats.org/officeDocument/2006/relationships/tags" Target="../tags/tag704.xml"/><Relationship Id="rId12" Type="http://schemas.openxmlformats.org/officeDocument/2006/relationships/tags" Target="../tags/tag709.xml"/><Relationship Id="rId17" Type="http://schemas.openxmlformats.org/officeDocument/2006/relationships/oleObject" Target="../embeddings/oleObject47.bin"/><Relationship Id="rId2" Type="http://schemas.openxmlformats.org/officeDocument/2006/relationships/tags" Target="../tags/tag699.xml"/><Relationship Id="rId16" Type="http://schemas.openxmlformats.org/officeDocument/2006/relationships/slideLayout" Target="../slideLayouts/slideLayout7.xml"/><Relationship Id="rId20" Type="http://schemas.openxmlformats.org/officeDocument/2006/relationships/slide" Target="slide183.xml"/><Relationship Id="rId1" Type="http://schemas.openxmlformats.org/officeDocument/2006/relationships/tags" Target="../tags/tag698.xml"/><Relationship Id="rId6" Type="http://schemas.openxmlformats.org/officeDocument/2006/relationships/tags" Target="../tags/tag703.xml"/><Relationship Id="rId11" Type="http://schemas.openxmlformats.org/officeDocument/2006/relationships/tags" Target="../tags/tag708.xml"/><Relationship Id="rId5" Type="http://schemas.openxmlformats.org/officeDocument/2006/relationships/tags" Target="../tags/tag702.xml"/><Relationship Id="rId15" Type="http://schemas.openxmlformats.org/officeDocument/2006/relationships/tags" Target="../tags/tag712.xml"/><Relationship Id="rId10" Type="http://schemas.openxmlformats.org/officeDocument/2006/relationships/tags" Target="../tags/tag707.xml"/><Relationship Id="rId19" Type="http://schemas.openxmlformats.org/officeDocument/2006/relationships/slide" Target="slide182.xml"/><Relationship Id="rId4" Type="http://schemas.openxmlformats.org/officeDocument/2006/relationships/tags" Target="../tags/tag701.xml"/><Relationship Id="rId9" Type="http://schemas.openxmlformats.org/officeDocument/2006/relationships/tags" Target="../tags/tag706.xml"/><Relationship Id="rId14" Type="http://schemas.openxmlformats.org/officeDocument/2006/relationships/tags" Target="../tags/tag711.xml"/></Relationships>
</file>

<file path=ppt/slides/_rels/slide42.xml.rels><?xml version="1.0" encoding="UTF-8" standalone="yes"?>
<Relationships xmlns="http://schemas.openxmlformats.org/package/2006/relationships"><Relationship Id="rId8" Type="http://schemas.openxmlformats.org/officeDocument/2006/relationships/chart" Target="../charts/chart20.xml"/><Relationship Id="rId3" Type="http://schemas.openxmlformats.org/officeDocument/2006/relationships/tags" Target="../tags/tag715.xml"/><Relationship Id="rId7" Type="http://schemas.openxmlformats.org/officeDocument/2006/relationships/image" Target="../media/image9.emf"/><Relationship Id="rId2" Type="http://schemas.openxmlformats.org/officeDocument/2006/relationships/tags" Target="../tags/tag714.xml"/><Relationship Id="rId1" Type="http://schemas.openxmlformats.org/officeDocument/2006/relationships/tags" Target="../tags/tag713.xml"/><Relationship Id="rId6" Type="http://schemas.openxmlformats.org/officeDocument/2006/relationships/oleObject" Target="../embeddings/oleObject48.bin"/><Relationship Id="rId5" Type="http://schemas.openxmlformats.org/officeDocument/2006/relationships/slideLayout" Target="../slideLayouts/slideLayout14.xml"/><Relationship Id="rId4" Type="http://schemas.openxmlformats.org/officeDocument/2006/relationships/tags" Target="../tags/tag716.xml"/><Relationship Id="rId9" Type="http://schemas.openxmlformats.org/officeDocument/2006/relationships/chart" Target="../charts/chart21.xml"/></Relationships>
</file>

<file path=ppt/slides/_rels/slide43.xml.rels><?xml version="1.0" encoding="UTF-8" standalone="yes"?>
<Relationships xmlns="http://schemas.openxmlformats.org/package/2006/relationships"><Relationship Id="rId8" Type="http://schemas.openxmlformats.org/officeDocument/2006/relationships/tags" Target="../tags/tag724.xml"/><Relationship Id="rId13" Type="http://schemas.openxmlformats.org/officeDocument/2006/relationships/tags" Target="../tags/tag729.xml"/><Relationship Id="rId18" Type="http://schemas.openxmlformats.org/officeDocument/2006/relationships/slideLayout" Target="../slideLayouts/slideLayout7.xml"/><Relationship Id="rId3" Type="http://schemas.openxmlformats.org/officeDocument/2006/relationships/tags" Target="../tags/tag719.xml"/><Relationship Id="rId21" Type="http://schemas.openxmlformats.org/officeDocument/2006/relationships/chart" Target="../charts/chart22.xml"/><Relationship Id="rId7" Type="http://schemas.openxmlformats.org/officeDocument/2006/relationships/tags" Target="../tags/tag723.xml"/><Relationship Id="rId12" Type="http://schemas.openxmlformats.org/officeDocument/2006/relationships/tags" Target="../tags/tag728.xml"/><Relationship Id="rId17" Type="http://schemas.openxmlformats.org/officeDocument/2006/relationships/tags" Target="../tags/tag733.xml"/><Relationship Id="rId2" Type="http://schemas.openxmlformats.org/officeDocument/2006/relationships/tags" Target="../tags/tag718.xml"/><Relationship Id="rId16" Type="http://schemas.openxmlformats.org/officeDocument/2006/relationships/tags" Target="../tags/tag732.xml"/><Relationship Id="rId20" Type="http://schemas.openxmlformats.org/officeDocument/2006/relationships/image" Target="../media/image9.emf"/><Relationship Id="rId1" Type="http://schemas.openxmlformats.org/officeDocument/2006/relationships/tags" Target="../tags/tag717.xml"/><Relationship Id="rId6" Type="http://schemas.openxmlformats.org/officeDocument/2006/relationships/tags" Target="../tags/tag722.xml"/><Relationship Id="rId11" Type="http://schemas.openxmlformats.org/officeDocument/2006/relationships/tags" Target="../tags/tag727.xml"/><Relationship Id="rId5" Type="http://schemas.openxmlformats.org/officeDocument/2006/relationships/tags" Target="../tags/tag721.xml"/><Relationship Id="rId15" Type="http://schemas.openxmlformats.org/officeDocument/2006/relationships/tags" Target="../tags/tag731.xml"/><Relationship Id="rId10" Type="http://schemas.openxmlformats.org/officeDocument/2006/relationships/tags" Target="../tags/tag726.xml"/><Relationship Id="rId19" Type="http://schemas.openxmlformats.org/officeDocument/2006/relationships/oleObject" Target="../embeddings/oleObject49.bin"/><Relationship Id="rId4" Type="http://schemas.openxmlformats.org/officeDocument/2006/relationships/tags" Target="../tags/tag720.xml"/><Relationship Id="rId9" Type="http://schemas.openxmlformats.org/officeDocument/2006/relationships/tags" Target="../tags/tag725.xml"/><Relationship Id="rId14" Type="http://schemas.openxmlformats.org/officeDocument/2006/relationships/tags" Target="../tags/tag730.xml"/><Relationship Id="rId22" Type="http://schemas.openxmlformats.org/officeDocument/2006/relationships/chart" Target="../charts/chart23.xml"/></Relationships>
</file>

<file path=ppt/slides/_rels/slide44.xml.rels><?xml version="1.0" encoding="UTF-8" standalone="yes"?>
<Relationships xmlns="http://schemas.openxmlformats.org/package/2006/relationships"><Relationship Id="rId8" Type="http://schemas.openxmlformats.org/officeDocument/2006/relationships/tags" Target="../tags/tag741.xml"/><Relationship Id="rId13" Type="http://schemas.openxmlformats.org/officeDocument/2006/relationships/tags" Target="../tags/tag746.xml"/><Relationship Id="rId18" Type="http://schemas.openxmlformats.org/officeDocument/2006/relationships/tags" Target="../tags/tag751.xml"/><Relationship Id="rId26" Type="http://schemas.openxmlformats.org/officeDocument/2006/relationships/slideLayout" Target="../slideLayouts/slideLayout7.xml"/><Relationship Id="rId3" Type="http://schemas.openxmlformats.org/officeDocument/2006/relationships/tags" Target="../tags/tag736.xml"/><Relationship Id="rId21" Type="http://schemas.openxmlformats.org/officeDocument/2006/relationships/tags" Target="../tags/tag754.xml"/><Relationship Id="rId7" Type="http://schemas.openxmlformats.org/officeDocument/2006/relationships/tags" Target="../tags/tag740.xml"/><Relationship Id="rId12" Type="http://schemas.openxmlformats.org/officeDocument/2006/relationships/tags" Target="../tags/tag745.xml"/><Relationship Id="rId17" Type="http://schemas.openxmlformats.org/officeDocument/2006/relationships/tags" Target="../tags/tag750.xml"/><Relationship Id="rId25" Type="http://schemas.openxmlformats.org/officeDocument/2006/relationships/tags" Target="../tags/tag758.xml"/><Relationship Id="rId2" Type="http://schemas.openxmlformats.org/officeDocument/2006/relationships/tags" Target="../tags/tag735.xml"/><Relationship Id="rId16" Type="http://schemas.openxmlformats.org/officeDocument/2006/relationships/tags" Target="../tags/tag749.xml"/><Relationship Id="rId20" Type="http://schemas.openxmlformats.org/officeDocument/2006/relationships/tags" Target="../tags/tag753.xml"/><Relationship Id="rId29" Type="http://schemas.openxmlformats.org/officeDocument/2006/relationships/chart" Target="../charts/chart24.xml"/><Relationship Id="rId1" Type="http://schemas.openxmlformats.org/officeDocument/2006/relationships/tags" Target="../tags/tag734.xml"/><Relationship Id="rId6" Type="http://schemas.openxmlformats.org/officeDocument/2006/relationships/tags" Target="../tags/tag739.xml"/><Relationship Id="rId11" Type="http://schemas.openxmlformats.org/officeDocument/2006/relationships/tags" Target="../tags/tag744.xml"/><Relationship Id="rId24" Type="http://schemas.openxmlformats.org/officeDocument/2006/relationships/tags" Target="../tags/tag757.xml"/><Relationship Id="rId5" Type="http://schemas.openxmlformats.org/officeDocument/2006/relationships/tags" Target="../tags/tag738.xml"/><Relationship Id="rId15" Type="http://schemas.openxmlformats.org/officeDocument/2006/relationships/tags" Target="../tags/tag748.xml"/><Relationship Id="rId23" Type="http://schemas.openxmlformats.org/officeDocument/2006/relationships/tags" Target="../tags/tag756.xml"/><Relationship Id="rId28" Type="http://schemas.openxmlformats.org/officeDocument/2006/relationships/image" Target="../media/image9.emf"/><Relationship Id="rId10" Type="http://schemas.openxmlformats.org/officeDocument/2006/relationships/tags" Target="../tags/tag743.xml"/><Relationship Id="rId19" Type="http://schemas.openxmlformats.org/officeDocument/2006/relationships/tags" Target="../tags/tag752.xml"/><Relationship Id="rId4" Type="http://schemas.openxmlformats.org/officeDocument/2006/relationships/tags" Target="../tags/tag737.xml"/><Relationship Id="rId9" Type="http://schemas.openxmlformats.org/officeDocument/2006/relationships/tags" Target="../tags/tag742.xml"/><Relationship Id="rId14" Type="http://schemas.openxmlformats.org/officeDocument/2006/relationships/tags" Target="../tags/tag747.xml"/><Relationship Id="rId22" Type="http://schemas.openxmlformats.org/officeDocument/2006/relationships/tags" Target="../tags/tag755.xml"/><Relationship Id="rId27" Type="http://schemas.openxmlformats.org/officeDocument/2006/relationships/oleObject" Target="../embeddings/oleObject50.bin"/></Relationships>
</file>

<file path=ppt/slides/_rels/slide45.xml.rels><?xml version="1.0" encoding="UTF-8" standalone="yes"?>
<Relationships xmlns="http://schemas.openxmlformats.org/package/2006/relationships"><Relationship Id="rId3" Type="http://schemas.openxmlformats.org/officeDocument/2006/relationships/slideLayout" Target="../slideLayouts/slideLayout11.xml"/><Relationship Id="rId2" Type="http://schemas.openxmlformats.org/officeDocument/2006/relationships/tags" Target="../tags/tag760.xml"/><Relationship Id="rId1" Type="http://schemas.openxmlformats.org/officeDocument/2006/relationships/tags" Target="../tags/tag759.xml"/><Relationship Id="rId6" Type="http://schemas.openxmlformats.org/officeDocument/2006/relationships/image" Target="../media/image9.emf"/><Relationship Id="rId5" Type="http://schemas.openxmlformats.org/officeDocument/2006/relationships/oleObject" Target="../embeddings/oleObject51.bin"/><Relationship Id="rId4" Type="http://schemas.openxmlformats.org/officeDocument/2006/relationships/notesSlide" Target="../notesSlides/notesSlide8.xml"/></Relationships>
</file>

<file path=ppt/slides/_rels/slide46.xml.rels><?xml version="1.0" encoding="UTF-8" standalone="yes"?>
<Relationships xmlns="http://schemas.openxmlformats.org/package/2006/relationships"><Relationship Id="rId13" Type="http://schemas.openxmlformats.org/officeDocument/2006/relationships/tags" Target="../tags/tag773.xml"/><Relationship Id="rId18" Type="http://schemas.openxmlformats.org/officeDocument/2006/relationships/tags" Target="../tags/tag778.xml"/><Relationship Id="rId26" Type="http://schemas.openxmlformats.org/officeDocument/2006/relationships/tags" Target="../tags/tag786.xml"/><Relationship Id="rId39" Type="http://schemas.openxmlformats.org/officeDocument/2006/relationships/tags" Target="../tags/tag799.xml"/><Relationship Id="rId21" Type="http://schemas.openxmlformats.org/officeDocument/2006/relationships/tags" Target="../tags/tag781.xml"/><Relationship Id="rId34" Type="http://schemas.openxmlformats.org/officeDocument/2006/relationships/tags" Target="../tags/tag794.xml"/><Relationship Id="rId42" Type="http://schemas.openxmlformats.org/officeDocument/2006/relationships/image" Target="../media/image9.emf"/><Relationship Id="rId7" Type="http://schemas.openxmlformats.org/officeDocument/2006/relationships/tags" Target="../tags/tag767.xml"/><Relationship Id="rId2" Type="http://schemas.openxmlformats.org/officeDocument/2006/relationships/tags" Target="../tags/tag762.xml"/><Relationship Id="rId16" Type="http://schemas.openxmlformats.org/officeDocument/2006/relationships/tags" Target="../tags/tag776.xml"/><Relationship Id="rId20" Type="http://schemas.openxmlformats.org/officeDocument/2006/relationships/tags" Target="../tags/tag780.xml"/><Relationship Id="rId29" Type="http://schemas.openxmlformats.org/officeDocument/2006/relationships/tags" Target="../tags/tag789.xml"/><Relationship Id="rId41" Type="http://schemas.openxmlformats.org/officeDocument/2006/relationships/oleObject" Target="../embeddings/oleObject52.bin"/><Relationship Id="rId1" Type="http://schemas.openxmlformats.org/officeDocument/2006/relationships/tags" Target="../tags/tag761.xml"/><Relationship Id="rId6" Type="http://schemas.openxmlformats.org/officeDocument/2006/relationships/tags" Target="../tags/tag766.xml"/><Relationship Id="rId11" Type="http://schemas.openxmlformats.org/officeDocument/2006/relationships/tags" Target="../tags/tag771.xml"/><Relationship Id="rId24" Type="http://schemas.openxmlformats.org/officeDocument/2006/relationships/tags" Target="../tags/tag784.xml"/><Relationship Id="rId32" Type="http://schemas.openxmlformats.org/officeDocument/2006/relationships/tags" Target="../tags/tag792.xml"/><Relationship Id="rId37" Type="http://schemas.openxmlformats.org/officeDocument/2006/relationships/tags" Target="../tags/tag797.xml"/><Relationship Id="rId40" Type="http://schemas.openxmlformats.org/officeDocument/2006/relationships/slideLayout" Target="../slideLayouts/slideLayout7.xml"/><Relationship Id="rId5" Type="http://schemas.openxmlformats.org/officeDocument/2006/relationships/tags" Target="../tags/tag765.xml"/><Relationship Id="rId15" Type="http://schemas.openxmlformats.org/officeDocument/2006/relationships/tags" Target="../tags/tag775.xml"/><Relationship Id="rId23" Type="http://schemas.openxmlformats.org/officeDocument/2006/relationships/tags" Target="../tags/tag783.xml"/><Relationship Id="rId28" Type="http://schemas.openxmlformats.org/officeDocument/2006/relationships/tags" Target="../tags/tag788.xml"/><Relationship Id="rId36" Type="http://schemas.openxmlformats.org/officeDocument/2006/relationships/tags" Target="../tags/tag796.xml"/><Relationship Id="rId10" Type="http://schemas.openxmlformats.org/officeDocument/2006/relationships/tags" Target="../tags/tag770.xml"/><Relationship Id="rId19" Type="http://schemas.openxmlformats.org/officeDocument/2006/relationships/tags" Target="../tags/tag779.xml"/><Relationship Id="rId31" Type="http://schemas.openxmlformats.org/officeDocument/2006/relationships/tags" Target="../tags/tag791.xml"/><Relationship Id="rId44" Type="http://schemas.openxmlformats.org/officeDocument/2006/relationships/chart" Target="../charts/chart26.xml"/><Relationship Id="rId4" Type="http://schemas.openxmlformats.org/officeDocument/2006/relationships/tags" Target="../tags/tag764.xml"/><Relationship Id="rId9" Type="http://schemas.openxmlformats.org/officeDocument/2006/relationships/tags" Target="../tags/tag769.xml"/><Relationship Id="rId14" Type="http://schemas.openxmlformats.org/officeDocument/2006/relationships/tags" Target="../tags/tag774.xml"/><Relationship Id="rId22" Type="http://schemas.openxmlformats.org/officeDocument/2006/relationships/tags" Target="../tags/tag782.xml"/><Relationship Id="rId27" Type="http://schemas.openxmlformats.org/officeDocument/2006/relationships/tags" Target="../tags/tag787.xml"/><Relationship Id="rId30" Type="http://schemas.openxmlformats.org/officeDocument/2006/relationships/tags" Target="../tags/tag790.xml"/><Relationship Id="rId35" Type="http://schemas.openxmlformats.org/officeDocument/2006/relationships/tags" Target="../tags/tag795.xml"/><Relationship Id="rId43" Type="http://schemas.openxmlformats.org/officeDocument/2006/relationships/chart" Target="../charts/chart25.xml"/><Relationship Id="rId8" Type="http://schemas.openxmlformats.org/officeDocument/2006/relationships/tags" Target="../tags/tag768.xml"/><Relationship Id="rId3" Type="http://schemas.openxmlformats.org/officeDocument/2006/relationships/tags" Target="../tags/tag763.xml"/><Relationship Id="rId12" Type="http://schemas.openxmlformats.org/officeDocument/2006/relationships/tags" Target="../tags/tag772.xml"/><Relationship Id="rId17" Type="http://schemas.openxmlformats.org/officeDocument/2006/relationships/tags" Target="../tags/tag777.xml"/><Relationship Id="rId25" Type="http://schemas.openxmlformats.org/officeDocument/2006/relationships/tags" Target="../tags/tag785.xml"/><Relationship Id="rId33" Type="http://schemas.openxmlformats.org/officeDocument/2006/relationships/tags" Target="../tags/tag793.xml"/><Relationship Id="rId38" Type="http://schemas.openxmlformats.org/officeDocument/2006/relationships/tags" Target="../tags/tag798.xml"/></Relationships>
</file>

<file path=ppt/slides/_rels/slide47.xml.rels><?xml version="1.0" encoding="UTF-8" standalone="yes"?>
<Relationships xmlns="http://schemas.openxmlformats.org/package/2006/relationships"><Relationship Id="rId3" Type="http://schemas.openxmlformats.org/officeDocument/2006/relationships/slideLayout" Target="../slideLayouts/slideLayout11.xml"/><Relationship Id="rId2" Type="http://schemas.openxmlformats.org/officeDocument/2006/relationships/tags" Target="../tags/tag801.xml"/><Relationship Id="rId1" Type="http://schemas.openxmlformats.org/officeDocument/2006/relationships/tags" Target="../tags/tag800.xml"/><Relationship Id="rId6" Type="http://schemas.openxmlformats.org/officeDocument/2006/relationships/image" Target="../media/image9.emf"/><Relationship Id="rId5" Type="http://schemas.openxmlformats.org/officeDocument/2006/relationships/oleObject" Target="../embeddings/oleObject53.bin"/><Relationship Id="rId4" Type="http://schemas.openxmlformats.org/officeDocument/2006/relationships/notesSlide" Target="../notesSlides/notesSlide9.xml"/></Relationships>
</file>

<file path=ppt/slides/_rels/slide48.xml.rels><?xml version="1.0" encoding="UTF-8" standalone="yes"?>
<Relationships xmlns="http://schemas.openxmlformats.org/package/2006/relationships"><Relationship Id="rId8" Type="http://schemas.openxmlformats.org/officeDocument/2006/relationships/tags" Target="../tags/tag809.xml"/><Relationship Id="rId13" Type="http://schemas.openxmlformats.org/officeDocument/2006/relationships/tags" Target="../tags/tag814.xml"/><Relationship Id="rId18" Type="http://schemas.openxmlformats.org/officeDocument/2006/relationships/tags" Target="../tags/tag819.xml"/><Relationship Id="rId26" Type="http://schemas.openxmlformats.org/officeDocument/2006/relationships/chart" Target="../charts/chart27.xml"/><Relationship Id="rId3" Type="http://schemas.openxmlformats.org/officeDocument/2006/relationships/tags" Target="../tags/tag804.xml"/><Relationship Id="rId21" Type="http://schemas.openxmlformats.org/officeDocument/2006/relationships/tags" Target="../tags/tag822.xml"/><Relationship Id="rId7" Type="http://schemas.openxmlformats.org/officeDocument/2006/relationships/tags" Target="../tags/tag808.xml"/><Relationship Id="rId12" Type="http://schemas.openxmlformats.org/officeDocument/2006/relationships/tags" Target="../tags/tag813.xml"/><Relationship Id="rId17" Type="http://schemas.openxmlformats.org/officeDocument/2006/relationships/tags" Target="../tags/tag818.xml"/><Relationship Id="rId25" Type="http://schemas.openxmlformats.org/officeDocument/2006/relationships/image" Target="../media/image9.emf"/><Relationship Id="rId2" Type="http://schemas.openxmlformats.org/officeDocument/2006/relationships/tags" Target="../tags/tag803.xml"/><Relationship Id="rId16" Type="http://schemas.openxmlformats.org/officeDocument/2006/relationships/tags" Target="../tags/tag817.xml"/><Relationship Id="rId20" Type="http://schemas.openxmlformats.org/officeDocument/2006/relationships/tags" Target="../tags/tag821.xml"/><Relationship Id="rId1" Type="http://schemas.openxmlformats.org/officeDocument/2006/relationships/tags" Target="../tags/tag802.xml"/><Relationship Id="rId6" Type="http://schemas.openxmlformats.org/officeDocument/2006/relationships/tags" Target="../tags/tag807.xml"/><Relationship Id="rId11" Type="http://schemas.openxmlformats.org/officeDocument/2006/relationships/tags" Target="../tags/tag812.xml"/><Relationship Id="rId24" Type="http://schemas.openxmlformats.org/officeDocument/2006/relationships/oleObject" Target="../embeddings/oleObject54.bin"/><Relationship Id="rId5" Type="http://schemas.openxmlformats.org/officeDocument/2006/relationships/tags" Target="../tags/tag806.xml"/><Relationship Id="rId15" Type="http://schemas.openxmlformats.org/officeDocument/2006/relationships/tags" Target="../tags/tag816.xml"/><Relationship Id="rId23" Type="http://schemas.openxmlformats.org/officeDocument/2006/relationships/slideLayout" Target="../slideLayouts/slideLayout7.xml"/><Relationship Id="rId10" Type="http://schemas.openxmlformats.org/officeDocument/2006/relationships/tags" Target="../tags/tag811.xml"/><Relationship Id="rId19" Type="http://schemas.openxmlformats.org/officeDocument/2006/relationships/tags" Target="../tags/tag820.xml"/><Relationship Id="rId4" Type="http://schemas.openxmlformats.org/officeDocument/2006/relationships/tags" Target="../tags/tag805.xml"/><Relationship Id="rId9" Type="http://schemas.openxmlformats.org/officeDocument/2006/relationships/tags" Target="../tags/tag810.xml"/><Relationship Id="rId14" Type="http://schemas.openxmlformats.org/officeDocument/2006/relationships/tags" Target="../tags/tag815.xml"/><Relationship Id="rId22" Type="http://schemas.openxmlformats.org/officeDocument/2006/relationships/tags" Target="../tags/tag823.xml"/><Relationship Id="rId27" Type="http://schemas.openxmlformats.org/officeDocument/2006/relationships/chart" Target="../charts/chart28.xml"/></Relationships>
</file>

<file path=ppt/slides/_rels/slide49.xml.rels><?xml version="1.0" encoding="UTF-8" standalone="yes"?>
<Relationships xmlns="http://schemas.openxmlformats.org/package/2006/relationships"><Relationship Id="rId13" Type="http://schemas.openxmlformats.org/officeDocument/2006/relationships/tags" Target="../tags/tag836.xml"/><Relationship Id="rId18" Type="http://schemas.openxmlformats.org/officeDocument/2006/relationships/tags" Target="../tags/tag841.xml"/><Relationship Id="rId26" Type="http://schemas.openxmlformats.org/officeDocument/2006/relationships/tags" Target="../tags/tag849.xml"/><Relationship Id="rId3" Type="http://schemas.openxmlformats.org/officeDocument/2006/relationships/tags" Target="../tags/tag826.xml"/><Relationship Id="rId21" Type="http://schemas.openxmlformats.org/officeDocument/2006/relationships/tags" Target="../tags/tag844.xml"/><Relationship Id="rId34" Type="http://schemas.openxmlformats.org/officeDocument/2006/relationships/image" Target="../media/image9.emf"/><Relationship Id="rId7" Type="http://schemas.openxmlformats.org/officeDocument/2006/relationships/tags" Target="../tags/tag830.xml"/><Relationship Id="rId12" Type="http://schemas.openxmlformats.org/officeDocument/2006/relationships/tags" Target="../tags/tag835.xml"/><Relationship Id="rId17" Type="http://schemas.openxmlformats.org/officeDocument/2006/relationships/tags" Target="../tags/tag840.xml"/><Relationship Id="rId25" Type="http://schemas.openxmlformats.org/officeDocument/2006/relationships/tags" Target="../tags/tag848.xml"/><Relationship Id="rId33" Type="http://schemas.openxmlformats.org/officeDocument/2006/relationships/oleObject" Target="../embeddings/oleObject55.bin"/><Relationship Id="rId2" Type="http://schemas.openxmlformats.org/officeDocument/2006/relationships/tags" Target="../tags/tag825.xml"/><Relationship Id="rId16" Type="http://schemas.openxmlformats.org/officeDocument/2006/relationships/tags" Target="../tags/tag839.xml"/><Relationship Id="rId20" Type="http://schemas.openxmlformats.org/officeDocument/2006/relationships/tags" Target="../tags/tag843.xml"/><Relationship Id="rId29" Type="http://schemas.openxmlformats.org/officeDocument/2006/relationships/tags" Target="../tags/tag852.xml"/><Relationship Id="rId1" Type="http://schemas.openxmlformats.org/officeDocument/2006/relationships/tags" Target="../tags/tag824.xml"/><Relationship Id="rId6" Type="http://schemas.openxmlformats.org/officeDocument/2006/relationships/tags" Target="../tags/tag829.xml"/><Relationship Id="rId11" Type="http://schemas.openxmlformats.org/officeDocument/2006/relationships/tags" Target="../tags/tag834.xml"/><Relationship Id="rId24" Type="http://schemas.openxmlformats.org/officeDocument/2006/relationships/tags" Target="../tags/tag847.xml"/><Relationship Id="rId32" Type="http://schemas.openxmlformats.org/officeDocument/2006/relationships/slideLayout" Target="../slideLayouts/slideLayout7.xml"/><Relationship Id="rId5" Type="http://schemas.openxmlformats.org/officeDocument/2006/relationships/tags" Target="../tags/tag828.xml"/><Relationship Id="rId15" Type="http://schemas.openxmlformats.org/officeDocument/2006/relationships/tags" Target="../tags/tag838.xml"/><Relationship Id="rId23" Type="http://schemas.openxmlformats.org/officeDocument/2006/relationships/tags" Target="../tags/tag846.xml"/><Relationship Id="rId28" Type="http://schemas.openxmlformats.org/officeDocument/2006/relationships/tags" Target="../tags/tag851.xml"/><Relationship Id="rId36" Type="http://schemas.openxmlformats.org/officeDocument/2006/relationships/chart" Target="../charts/chart30.xml"/><Relationship Id="rId10" Type="http://schemas.openxmlformats.org/officeDocument/2006/relationships/tags" Target="../tags/tag833.xml"/><Relationship Id="rId19" Type="http://schemas.openxmlformats.org/officeDocument/2006/relationships/tags" Target="../tags/tag842.xml"/><Relationship Id="rId31" Type="http://schemas.openxmlformats.org/officeDocument/2006/relationships/tags" Target="../tags/tag854.xml"/><Relationship Id="rId4" Type="http://schemas.openxmlformats.org/officeDocument/2006/relationships/tags" Target="../tags/tag827.xml"/><Relationship Id="rId9" Type="http://schemas.openxmlformats.org/officeDocument/2006/relationships/tags" Target="../tags/tag832.xml"/><Relationship Id="rId14" Type="http://schemas.openxmlformats.org/officeDocument/2006/relationships/tags" Target="../tags/tag837.xml"/><Relationship Id="rId22" Type="http://schemas.openxmlformats.org/officeDocument/2006/relationships/tags" Target="../tags/tag845.xml"/><Relationship Id="rId27" Type="http://schemas.openxmlformats.org/officeDocument/2006/relationships/tags" Target="../tags/tag850.xml"/><Relationship Id="rId30" Type="http://schemas.openxmlformats.org/officeDocument/2006/relationships/tags" Target="../tags/tag853.xml"/><Relationship Id="rId35" Type="http://schemas.openxmlformats.org/officeDocument/2006/relationships/chart" Target="../charts/chart29.xml"/><Relationship Id="rId8" Type="http://schemas.openxmlformats.org/officeDocument/2006/relationships/tags" Target="../tags/tag831.xml"/></Relationships>
</file>

<file path=ppt/slides/_rels/slide50.xml.rels><?xml version="1.0" encoding="UTF-8" standalone="yes"?>
<Relationships xmlns="http://schemas.openxmlformats.org/package/2006/relationships"><Relationship Id="rId13" Type="http://schemas.openxmlformats.org/officeDocument/2006/relationships/tags" Target="../tags/tag867.xml"/><Relationship Id="rId18" Type="http://schemas.openxmlformats.org/officeDocument/2006/relationships/tags" Target="../tags/tag872.xml"/><Relationship Id="rId26" Type="http://schemas.openxmlformats.org/officeDocument/2006/relationships/tags" Target="../tags/tag880.xml"/><Relationship Id="rId39" Type="http://schemas.openxmlformats.org/officeDocument/2006/relationships/tags" Target="../tags/tag893.xml"/><Relationship Id="rId21" Type="http://schemas.openxmlformats.org/officeDocument/2006/relationships/tags" Target="../tags/tag875.xml"/><Relationship Id="rId34" Type="http://schemas.openxmlformats.org/officeDocument/2006/relationships/tags" Target="../tags/tag888.xml"/><Relationship Id="rId42" Type="http://schemas.openxmlformats.org/officeDocument/2006/relationships/image" Target="../media/image9.emf"/><Relationship Id="rId7" Type="http://schemas.openxmlformats.org/officeDocument/2006/relationships/tags" Target="../tags/tag861.xml"/><Relationship Id="rId2" Type="http://schemas.openxmlformats.org/officeDocument/2006/relationships/tags" Target="../tags/tag856.xml"/><Relationship Id="rId16" Type="http://schemas.openxmlformats.org/officeDocument/2006/relationships/tags" Target="../tags/tag870.xml"/><Relationship Id="rId20" Type="http://schemas.openxmlformats.org/officeDocument/2006/relationships/tags" Target="../tags/tag874.xml"/><Relationship Id="rId29" Type="http://schemas.openxmlformats.org/officeDocument/2006/relationships/tags" Target="../tags/tag883.xml"/><Relationship Id="rId41" Type="http://schemas.openxmlformats.org/officeDocument/2006/relationships/oleObject" Target="../embeddings/oleObject56.bin"/><Relationship Id="rId1" Type="http://schemas.openxmlformats.org/officeDocument/2006/relationships/tags" Target="../tags/tag855.xml"/><Relationship Id="rId6" Type="http://schemas.openxmlformats.org/officeDocument/2006/relationships/tags" Target="../tags/tag860.xml"/><Relationship Id="rId11" Type="http://schemas.openxmlformats.org/officeDocument/2006/relationships/tags" Target="../tags/tag865.xml"/><Relationship Id="rId24" Type="http://schemas.openxmlformats.org/officeDocument/2006/relationships/tags" Target="../tags/tag878.xml"/><Relationship Id="rId32" Type="http://schemas.openxmlformats.org/officeDocument/2006/relationships/tags" Target="../tags/tag886.xml"/><Relationship Id="rId37" Type="http://schemas.openxmlformats.org/officeDocument/2006/relationships/tags" Target="../tags/tag891.xml"/><Relationship Id="rId40" Type="http://schemas.openxmlformats.org/officeDocument/2006/relationships/slideLayout" Target="../slideLayouts/slideLayout7.xml"/><Relationship Id="rId5" Type="http://schemas.openxmlformats.org/officeDocument/2006/relationships/tags" Target="../tags/tag859.xml"/><Relationship Id="rId15" Type="http://schemas.openxmlformats.org/officeDocument/2006/relationships/tags" Target="../tags/tag869.xml"/><Relationship Id="rId23" Type="http://schemas.openxmlformats.org/officeDocument/2006/relationships/tags" Target="../tags/tag877.xml"/><Relationship Id="rId28" Type="http://schemas.openxmlformats.org/officeDocument/2006/relationships/tags" Target="../tags/tag882.xml"/><Relationship Id="rId36" Type="http://schemas.openxmlformats.org/officeDocument/2006/relationships/tags" Target="../tags/tag890.xml"/><Relationship Id="rId10" Type="http://schemas.openxmlformats.org/officeDocument/2006/relationships/tags" Target="../tags/tag864.xml"/><Relationship Id="rId19" Type="http://schemas.openxmlformats.org/officeDocument/2006/relationships/tags" Target="../tags/tag873.xml"/><Relationship Id="rId31" Type="http://schemas.openxmlformats.org/officeDocument/2006/relationships/tags" Target="../tags/tag885.xml"/><Relationship Id="rId44" Type="http://schemas.openxmlformats.org/officeDocument/2006/relationships/chart" Target="../charts/chart32.xml"/><Relationship Id="rId4" Type="http://schemas.openxmlformats.org/officeDocument/2006/relationships/tags" Target="../tags/tag858.xml"/><Relationship Id="rId9" Type="http://schemas.openxmlformats.org/officeDocument/2006/relationships/tags" Target="../tags/tag863.xml"/><Relationship Id="rId14" Type="http://schemas.openxmlformats.org/officeDocument/2006/relationships/tags" Target="../tags/tag868.xml"/><Relationship Id="rId22" Type="http://schemas.openxmlformats.org/officeDocument/2006/relationships/tags" Target="../tags/tag876.xml"/><Relationship Id="rId27" Type="http://schemas.openxmlformats.org/officeDocument/2006/relationships/tags" Target="../tags/tag881.xml"/><Relationship Id="rId30" Type="http://schemas.openxmlformats.org/officeDocument/2006/relationships/tags" Target="../tags/tag884.xml"/><Relationship Id="rId35" Type="http://schemas.openxmlformats.org/officeDocument/2006/relationships/tags" Target="../tags/tag889.xml"/><Relationship Id="rId43" Type="http://schemas.openxmlformats.org/officeDocument/2006/relationships/chart" Target="../charts/chart31.xml"/><Relationship Id="rId8" Type="http://schemas.openxmlformats.org/officeDocument/2006/relationships/tags" Target="../tags/tag862.xml"/><Relationship Id="rId3" Type="http://schemas.openxmlformats.org/officeDocument/2006/relationships/tags" Target="../tags/tag857.xml"/><Relationship Id="rId12" Type="http://schemas.openxmlformats.org/officeDocument/2006/relationships/tags" Target="../tags/tag866.xml"/><Relationship Id="rId17" Type="http://schemas.openxmlformats.org/officeDocument/2006/relationships/tags" Target="../tags/tag871.xml"/><Relationship Id="rId25" Type="http://schemas.openxmlformats.org/officeDocument/2006/relationships/tags" Target="../tags/tag879.xml"/><Relationship Id="rId33" Type="http://schemas.openxmlformats.org/officeDocument/2006/relationships/tags" Target="../tags/tag887.xml"/><Relationship Id="rId38" Type="http://schemas.openxmlformats.org/officeDocument/2006/relationships/tags" Target="../tags/tag892.xml"/></Relationships>
</file>

<file path=ppt/slides/_rels/slide51.xml.rels><?xml version="1.0" encoding="UTF-8" standalone="yes"?>
<Relationships xmlns="http://schemas.openxmlformats.org/package/2006/relationships"><Relationship Id="rId3" Type="http://schemas.openxmlformats.org/officeDocument/2006/relationships/slideLayout" Target="../slideLayouts/slideLayout11.xml"/><Relationship Id="rId2" Type="http://schemas.openxmlformats.org/officeDocument/2006/relationships/tags" Target="../tags/tag895.xml"/><Relationship Id="rId1" Type="http://schemas.openxmlformats.org/officeDocument/2006/relationships/tags" Target="../tags/tag894.xml"/><Relationship Id="rId6" Type="http://schemas.openxmlformats.org/officeDocument/2006/relationships/image" Target="../media/image9.emf"/><Relationship Id="rId5" Type="http://schemas.openxmlformats.org/officeDocument/2006/relationships/oleObject" Target="../embeddings/oleObject57.bin"/><Relationship Id="rId4" Type="http://schemas.openxmlformats.org/officeDocument/2006/relationships/notesSlide" Target="../notesSlides/notesSlide10.xml"/></Relationships>
</file>

<file path=ppt/slides/_rels/slide52.xml.rels><?xml version="1.0" encoding="UTF-8" standalone="yes"?>
<Relationships xmlns="http://schemas.openxmlformats.org/package/2006/relationships"><Relationship Id="rId13" Type="http://schemas.openxmlformats.org/officeDocument/2006/relationships/tags" Target="../tags/tag908.xml"/><Relationship Id="rId18" Type="http://schemas.openxmlformats.org/officeDocument/2006/relationships/tags" Target="../tags/tag913.xml"/><Relationship Id="rId26" Type="http://schemas.openxmlformats.org/officeDocument/2006/relationships/tags" Target="../tags/tag921.xml"/><Relationship Id="rId39" Type="http://schemas.openxmlformats.org/officeDocument/2006/relationships/tags" Target="../tags/tag934.xml"/><Relationship Id="rId21" Type="http://schemas.openxmlformats.org/officeDocument/2006/relationships/tags" Target="../tags/tag916.xml"/><Relationship Id="rId34" Type="http://schemas.openxmlformats.org/officeDocument/2006/relationships/tags" Target="../tags/tag929.xml"/><Relationship Id="rId42" Type="http://schemas.openxmlformats.org/officeDocument/2006/relationships/tags" Target="../tags/tag937.xml"/><Relationship Id="rId47" Type="http://schemas.openxmlformats.org/officeDocument/2006/relationships/tags" Target="../tags/tag942.xml"/><Relationship Id="rId50" Type="http://schemas.openxmlformats.org/officeDocument/2006/relationships/tags" Target="../tags/tag945.xml"/><Relationship Id="rId55" Type="http://schemas.openxmlformats.org/officeDocument/2006/relationships/chart" Target="../charts/chart33.xml"/><Relationship Id="rId7" Type="http://schemas.openxmlformats.org/officeDocument/2006/relationships/tags" Target="../tags/tag902.xml"/><Relationship Id="rId2" Type="http://schemas.openxmlformats.org/officeDocument/2006/relationships/tags" Target="../tags/tag897.xml"/><Relationship Id="rId16" Type="http://schemas.openxmlformats.org/officeDocument/2006/relationships/tags" Target="../tags/tag911.xml"/><Relationship Id="rId29" Type="http://schemas.openxmlformats.org/officeDocument/2006/relationships/tags" Target="../tags/tag924.xml"/><Relationship Id="rId11" Type="http://schemas.openxmlformats.org/officeDocument/2006/relationships/tags" Target="../tags/tag906.xml"/><Relationship Id="rId24" Type="http://schemas.openxmlformats.org/officeDocument/2006/relationships/tags" Target="../tags/tag919.xml"/><Relationship Id="rId32" Type="http://schemas.openxmlformats.org/officeDocument/2006/relationships/tags" Target="../tags/tag927.xml"/><Relationship Id="rId37" Type="http://schemas.openxmlformats.org/officeDocument/2006/relationships/tags" Target="../tags/tag932.xml"/><Relationship Id="rId40" Type="http://schemas.openxmlformats.org/officeDocument/2006/relationships/tags" Target="../tags/tag935.xml"/><Relationship Id="rId45" Type="http://schemas.openxmlformats.org/officeDocument/2006/relationships/tags" Target="../tags/tag940.xml"/><Relationship Id="rId53" Type="http://schemas.openxmlformats.org/officeDocument/2006/relationships/oleObject" Target="../embeddings/oleObject58.bin"/><Relationship Id="rId5" Type="http://schemas.openxmlformats.org/officeDocument/2006/relationships/tags" Target="../tags/tag900.xml"/><Relationship Id="rId19" Type="http://schemas.openxmlformats.org/officeDocument/2006/relationships/tags" Target="../tags/tag914.xml"/><Relationship Id="rId4" Type="http://schemas.openxmlformats.org/officeDocument/2006/relationships/tags" Target="../tags/tag899.xml"/><Relationship Id="rId9" Type="http://schemas.openxmlformats.org/officeDocument/2006/relationships/tags" Target="../tags/tag904.xml"/><Relationship Id="rId14" Type="http://schemas.openxmlformats.org/officeDocument/2006/relationships/tags" Target="../tags/tag909.xml"/><Relationship Id="rId22" Type="http://schemas.openxmlformats.org/officeDocument/2006/relationships/tags" Target="../tags/tag917.xml"/><Relationship Id="rId27" Type="http://schemas.openxmlformats.org/officeDocument/2006/relationships/tags" Target="../tags/tag922.xml"/><Relationship Id="rId30" Type="http://schemas.openxmlformats.org/officeDocument/2006/relationships/tags" Target="../tags/tag925.xml"/><Relationship Id="rId35" Type="http://schemas.openxmlformats.org/officeDocument/2006/relationships/tags" Target="../tags/tag930.xml"/><Relationship Id="rId43" Type="http://schemas.openxmlformats.org/officeDocument/2006/relationships/tags" Target="../tags/tag938.xml"/><Relationship Id="rId48" Type="http://schemas.openxmlformats.org/officeDocument/2006/relationships/tags" Target="../tags/tag943.xml"/><Relationship Id="rId56" Type="http://schemas.openxmlformats.org/officeDocument/2006/relationships/chart" Target="../charts/chart34.xml"/><Relationship Id="rId8" Type="http://schemas.openxmlformats.org/officeDocument/2006/relationships/tags" Target="../tags/tag903.xml"/><Relationship Id="rId51" Type="http://schemas.openxmlformats.org/officeDocument/2006/relationships/tags" Target="../tags/tag946.xml"/><Relationship Id="rId3" Type="http://schemas.openxmlformats.org/officeDocument/2006/relationships/tags" Target="../tags/tag898.xml"/><Relationship Id="rId12" Type="http://schemas.openxmlformats.org/officeDocument/2006/relationships/tags" Target="../tags/tag907.xml"/><Relationship Id="rId17" Type="http://schemas.openxmlformats.org/officeDocument/2006/relationships/tags" Target="../tags/tag912.xml"/><Relationship Id="rId25" Type="http://schemas.openxmlformats.org/officeDocument/2006/relationships/tags" Target="../tags/tag920.xml"/><Relationship Id="rId33" Type="http://schemas.openxmlformats.org/officeDocument/2006/relationships/tags" Target="../tags/tag928.xml"/><Relationship Id="rId38" Type="http://schemas.openxmlformats.org/officeDocument/2006/relationships/tags" Target="../tags/tag933.xml"/><Relationship Id="rId46" Type="http://schemas.openxmlformats.org/officeDocument/2006/relationships/tags" Target="../tags/tag941.xml"/><Relationship Id="rId20" Type="http://schemas.openxmlformats.org/officeDocument/2006/relationships/tags" Target="../tags/tag915.xml"/><Relationship Id="rId41" Type="http://schemas.openxmlformats.org/officeDocument/2006/relationships/tags" Target="../tags/tag936.xml"/><Relationship Id="rId54" Type="http://schemas.openxmlformats.org/officeDocument/2006/relationships/image" Target="../media/image9.emf"/><Relationship Id="rId1" Type="http://schemas.openxmlformats.org/officeDocument/2006/relationships/tags" Target="../tags/tag896.xml"/><Relationship Id="rId6" Type="http://schemas.openxmlformats.org/officeDocument/2006/relationships/tags" Target="../tags/tag901.xml"/><Relationship Id="rId15" Type="http://schemas.openxmlformats.org/officeDocument/2006/relationships/tags" Target="../tags/tag910.xml"/><Relationship Id="rId23" Type="http://schemas.openxmlformats.org/officeDocument/2006/relationships/tags" Target="../tags/tag918.xml"/><Relationship Id="rId28" Type="http://schemas.openxmlformats.org/officeDocument/2006/relationships/tags" Target="../tags/tag923.xml"/><Relationship Id="rId36" Type="http://schemas.openxmlformats.org/officeDocument/2006/relationships/tags" Target="../tags/tag931.xml"/><Relationship Id="rId49" Type="http://schemas.openxmlformats.org/officeDocument/2006/relationships/tags" Target="../tags/tag944.xml"/><Relationship Id="rId57" Type="http://schemas.openxmlformats.org/officeDocument/2006/relationships/chart" Target="../charts/chart35.xml"/><Relationship Id="rId10" Type="http://schemas.openxmlformats.org/officeDocument/2006/relationships/tags" Target="../tags/tag905.xml"/><Relationship Id="rId31" Type="http://schemas.openxmlformats.org/officeDocument/2006/relationships/tags" Target="../tags/tag926.xml"/><Relationship Id="rId44" Type="http://schemas.openxmlformats.org/officeDocument/2006/relationships/tags" Target="../tags/tag939.xml"/><Relationship Id="rId52"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8" Type="http://schemas.openxmlformats.org/officeDocument/2006/relationships/tags" Target="../tags/tag954.xml"/><Relationship Id="rId13" Type="http://schemas.openxmlformats.org/officeDocument/2006/relationships/tags" Target="../tags/tag959.xml"/><Relationship Id="rId18" Type="http://schemas.openxmlformats.org/officeDocument/2006/relationships/tags" Target="../tags/tag964.xml"/><Relationship Id="rId26" Type="http://schemas.openxmlformats.org/officeDocument/2006/relationships/chart" Target="../charts/chart37.xml"/><Relationship Id="rId3" Type="http://schemas.openxmlformats.org/officeDocument/2006/relationships/tags" Target="../tags/tag949.xml"/><Relationship Id="rId21" Type="http://schemas.openxmlformats.org/officeDocument/2006/relationships/tags" Target="../tags/tag967.xml"/><Relationship Id="rId7" Type="http://schemas.openxmlformats.org/officeDocument/2006/relationships/tags" Target="../tags/tag953.xml"/><Relationship Id="rId12" Type="http://schemas.openxmlformats.org/officeDocument/2006/relationships/tags" Target="../tags/tag958.xml"/><Relationship Id="rId17" Type="http://schemas.openxmlformats.org/officeDocument/2006/relationships/tags" Target="../tags/tag963.xml"/><Relationship Id="rId25" Type="http://schemas.openxmlformats.org/officeDocument/2006/relationships/chart" Target="../charts/chart36.xml"/><Relationship Id="rId2" Type="http://schemas.openxmlformats.org/officeDocument/2006/relationships/tags" Target="../tags/tag948.xml"/><Relationship Id="rId16" Type="http://schemas.openxmlformats.org/officeDocument/2006/relationships/tags" Target="../tags/tag962.xml"/><Relationship Id="rId20" Type="http://schemas.openxmlformats.org/officeDocument/2006/relationships/tags" Target="../tags/tag966.xml"/><Relationship Id="rId1" Type="http://schemas.openxmlformats.org/officeDocument/2006/relationships/tags" Target="../tags/tag947.xml"/><Relationship Id="rId6" Type="http://schemas.openxmlformats.org/officeDocument/2006/relationships/tags" Target="../tags/tag952.xml"/><Relationship Id="rId11" Type="http://schemas.openxmlformats.org/officeDocument/2006/relationships/tags" Target="../tags/tag957.xml"/><Relationship Id="rId24" Type="http://schemas.openxmlformats.org/officeDocument/2006/relationships/image" Target="../media/image9.emf"/><Relationship Id="rId5" Type="http://schemas.openxmlformats.org/officeDocument/2006/relationships/tags" Target="../tags/tag951.xml"/><Relationship Id="rId15" Type="http://schemas.openxmlformats.org/officeDocument/2006/relationships/tags" Target="../tags/tag961.xml"/><Relationship Id="rId23" Type="http://schemas.openxmlformats.org/officeDocument/2006/relationships/oleObject" Target="../embeddings/oleObject59.bin"/><Relationship Id="rId10" Type="http://schemas.openxmlformats.org/officeDocument/2006/relationships/tags" Target="../tags/tag956.xml"/><Relationship Id="rId19" Type="http://schemas.openxmlformats.org/officeDocument/2006/relationships/tags" Target="../tags/tag965.xml"/><Relationship Id="rId4" Type="http://schemas.openxmlformats.org/officeDocument/2006/relationships/tags" Target="../tags/tag950.xml"/><Relationship Id="rId9" Type="http://schemas.openxmlformats.org/officeDocument/2006/relationships/tags" Target="../tags/tag955.xml"/><Relationship Id="rId14" Type="http://schemas.openxmlformats.org/officeDocument/2006/relationships/tags" Target="../tags/tag960.xml"/><Relationship Id="rId22" Type="http://schemas.openxmlformats.org/officeDocument/2006/relationships/slideLayout" Target="../slideLayouts/slideLayout7.xml"/><Relationship Id="rId27" Type="http://schemas.openxmlformats.org/officeDocument/2006/relationships/chart" Target="../charts/chart38.xml"/></Relationships>
</file>

<file path=ppt/slides/_rels/slide54.xml.rels><?xml version="1.0" encoding="UTF-8" standalone="yes"?>
<Relationships xmlns="http://schemas.openxmlformats.org/package/2006/relationships"><Relationship Id="rId8" Type="http://schemas.openxmlformats.org/officeDocument/2006/relationships/tags" Target="../tags/tag975.xml"/><Relationship Id="rId13" Type="http://schemas.openxmlformats.org/officeDocument/2006/relationships/tags" Target="../tags/tag980.xml"/><Relationship Id="rId18" Type="http://schemas.openxmlformats.org/officeDocument/2006/relationships/tags" Target="../tags/tag985.xml"/><Relationship Id="rId26" Type="http://schemas.openxmlformats.org/officeDocument/2006/relationships/chart" Target="../charts/chart39.xml"/><Relationship Id="rId3" Type="http://schemas.openxmlformats.org/officeDocument/2006/relationships/tags" Target="../tags/tag970.xml"/><Relationship Id="rId21" Type="http://schemas.openxmlformats.org/officeDocument/2006/relationships/tags" Target="../tags/tag988.xml"/><Relationship Id="rId7" Type="http://schemas.openxmlformats.org/officeDocument/2006/relationships/tags" Target="../tags/tag974.xml"/><Relationship Id="rId12" Type="http://schemas.openxmlformats.org/officeDocument/2006/relationships/tags" Target="../tags/tag979.xml"/><Relationship Id="rId17" Type="http://schemas.openxmlformats.org/officeDocument/2006/relationships/tags" Target="../tags/tag984.xml"/><Relationship Id="rId25" Type="http://schemas.openxmlformats.org/officeDocument/2006/relationships/image" Target="../media/image9.emf"/><Relationship Id="rId2" Type="http://schemas.openxmlformats.org/officeDocument/2006/relationships/tags" Target="../tags/tag969.xml"/><Relationship Id="rId16" Type="http://schemas.openxmlformats.org/officeDocument/2006/relationships/tags" Target="../tags/tag983.xml"/><Relationship Id="rId20" Type="http://schemas.openxmlformats.org/officeDocument/2006/relationships/tags" Target="../tags/tag987.xml"/><Relationship Id="rId1" Type="http://schemas.openxmlformats.org/officeDocument/2006/relationships/tags" Target="../tags/tag968.xml"/><Relationship Id="rId6" Type="http://schemas.openxmlformats.org/officeDocument/2006/relationships/tags" Target="../tags/tag973.xml"/><Relationship Id="rId11" Type="http://schemas.openxmlformats.org/officeDocument/2006/relationships/tags" Target="../tags/tag978.xml"/><Relationship Id="rId24" Type="http://schemas.openxmlformats.org/officeDocument/2006/relationships/oleObject" Target="../embeddings/oleObject60.bin"/><Relationship Id="rId5" Type="http://schemas.openxmlformats.org/officeDocument/2006/relationships/tags" Target="../tags/tag972.xml"/><Relationship Id="rId15" Type="http://schemas.openxmlformats.org/officeDocument/2006/relationships/tags" Target="../tags/tag982.xml"/><Relationship Id="rId23" Type="http://schemas.openxmlformats.org/officeDocument/2006/relationships/slideLayout" Target="../slideLayouts/slideLayout7.xml"/><Relationship Id="rId10" Type="http://schemas.openxmlformats.org/officeDocument/2006/relationships/tags" Target="../tags/tag977.xml"/><Relationship Id="rId19" Type="http://schemas.openxmlformats.org/officeDocument/2006/relationships/tags" Target="../tags/tag986.xml"/><Relationship Id="rId4" Type="http://schemas.openxmlformats.org/officeDocument/2006/relationships/tags" Target="../tags/tag971.xml"/><Relationship Id="rId9" Type="http://schemas.openxmlformats.org/officeDocument/2006/relationships/tags" Target="../tags/tag976.xml"/><Relationship Id="rId14" Type="http://schemas.openxmlformats.org/officeDocument/2006/relationships/tags" Target="../tags/tag981.xml"/><Relationship Id="rId22" Type="http://schemas.openxmlformats.org/officeDocument/2006/relationships/tags" Target="../tags/tag989.xml"/><Relationship Id="rId27" Type="http://schemas.openxmlformats.org/officeDocument/2006/relationships/chart" Target="../charts/chart40.xml"/></Relationships>
</file>

<file path=ppt/slides/_rels/slide55.xml.rels><?xml version="1.0" encoding="UTF-8" standalone="yes"?>
<Relationships xmlns="http://schemas.openxmlformats.org/package/2006/relationships"><Relationship Id="rId13" Type="http://schemas.openxmlformats.org/officeDocument/2006/relationships/tags" Target="../tags/tag1002.xml"/><Relationship Id="rId18" Type="http://schemas.openxmlformats.org/officeDocument/2006/relationships/tags" Target="../tags/tag1007.xml"/><Relationship Id="rId26" Type="http://schemas.openxmlformats.org/officeDocument/2006/relationships/tags" Target="../tags/tag1015.xml"/><Relationship Id="rId39" Type="http://schemas.openxmlformats.org/officeDocument/2006/relationships/slideLayout" Target="../slideLayouts/slideLayout7.xml"/><Relationship Id="rId21" Type="http://schemas.openxmlformats.org/officeDocument/2006/relationships/tags" Target="../tags/tag1010.xml"/><Relationship Id="rId34" Type="http://schemas.openxmlformats.org/officeDocument/2006/relationships/tags" Target="../tags/tag1023.xml"/><Relationship Id="rId42" Type="http://schemas.openxmlformats.org/officeDocument/2006/relationships/chart" Target="../charts/chart41.xml"/><Relationship Id="rId7" Type="http://schemas.openxmlformats.org/officeDocument/2006/relationships/tags" Target="../tags/tag996.xml"/><Relationship Id="rId2" Type="http://schemas.openxmlformats.org/officeDocument/2006/relationships/tags" Target="../tags/tag991.xml"/><Relationship Id="rId16" Type="http://schemas.openxmlformats.org/officeDocument/2006/relationships/tags" Target="../tags/tag1005.xml"/><Relationship Id="rId20" Type="http://schemas.openxmlformats.org/officeDocument/2006/relationships/tags" Target="../tags/tag1009.xml"/><Relationship Id="rId29" Type="http://schemas.openxmlformats.org/officeDocument/2006/relationships/tags" Target="../tags/tag1018.xml"/><Relationship Id="rId41" Type="http://schemas.openxmlformats.org/officeDocument/2006/relationships/image" Target="../media/image9.emf"/><Relationship Id="rId1" Type="http://schemas.openxmlformats.org/officeDocument/2006/relationships/tags" Target="../tags/tag990.xml"/><Relationship Id="rId6" Type="http://schemas.openxmlformats.org/officeDocument/2006/relationships/tags" Target="../tags/tag995.xml"/><Relationship Id="rId11" Type="http://schemas.openxmlformats.org/officeDocument/2006/relationships/tags" Target="../tags/tag1000.xml"/><Relationship Id="rId24" Type="http://schemas.openxmlformats.org/officeDocument/2006/relationships/tags" Target="../tags/tag1013.xml"/><Relationship Id="rId32" Type="http://schemas.openxmlformats.org/officeDocument/2006/relationships/tags" Target="../tags/tag1021.xml"/><Relationship Id="rId37" Type="http://schemas.openxmlformats.org/officeDocument/2006/relationships/tags" Target="../tags/tag1026.xml"/><Relationship Id="rId40" Type="http://schemas.openxmlformats.org/officeDocument/2006/relationships/oleObject" Target="../embeddings/oleObject61.bin"/><Relationship Id="rId5" Type="http://schemas.openxmlformats.org/officeDocument/2006/relationships/tags" Target="../tags/tag994.xml"/><Relationship Id="rId15" Type="http://schemas.openxmlformats.org/officeDocument/2006/relationships/tags" Target="../tags/tag1004.xml"/><Relationship Id="rId23" Type="http://schemas.openxmlformats.org/officeDocument/2006/relationships/tags" Target="../tags/tag1012.xml"/><Relationship Id="rId28" Type="http://schemas.openxmlformats.org/officeDocument/2006/relationships/tags" Target="../tags/tag1017.xml"/><Relationship Id="rId36" Type="http://schemas.openxmlformats.org/officeDocument/2006/relationships/tags" Target="../tags/tag1025.xml"/><Relationship Id="rId10" Type="http://schemas.openxmlformats.org/officeDocument/2006/relationships/tags" Target="../tags/tag999.xml"/><Relationship Id="rId19" Type="http://schemas.openxmlformats.org/officeDocument/2006/relationships/tags" Target="../tags/tag1008.xml"/><Relationship Id="rId31" Type="http://schemas.openxmlformats.org/officeDocument/2006/relationships/tags" Target="../tags/tag1020.xml"/><Relationship Id="rId4" Type="http://schemas.openxmlformats.org/officeDocument/2006/relationships/tags" Target="../tags/tag993.xml"/><Relationship Id="rId9" Type="http://schemas.openxmlformats.org/officeDocument/2006/relationships/tags" Target="../tags/tag998.xml"/><Relationship Id="rId14" Type="http://schemas.openxmlformats.org/officeDocument/2006/relationships/tags" Target="../tags/tag1003.xml"/><Relationship Id="rId22" Type="http://schemas.openxmlformats.org/officeDocument/2006/relationships/tags" Target="../tags/tag1011.xml"/><Relationship Id="rId27" Type="http://schemas.openxmlformats.org/officeDocument/2006/relationships/tags" Target="../tags/tag1016.xml"/><Relationship Id="rId30" Type="http://schemas.openxmlformats.org/officeDocument/2006/relationships/tags" Target="../tags/tag1019.xml"/><Relationship Id="rId35" Type="http://schemas.openxmlformats.org/officeDocument/2006/relationships/tags" Target="../tags/tag1024.xml"/><Relationship Id="rId43" Type="http://schemas.openxmlformats.org/officeDocument/2006/relationships/chart" Target="../charts/chart42.xml"/><Relationship Id="rId8" Type="http://schemas.openxmlformats.org/officeDocument/2006/relationships/tags" Target="../tags/tag997.xml"/><Relationship Id="rId3" Type="http://schemas.openxmlformats.org/officeDocument/2006/relationships/tags" Target="../tags/tag992.xml"/><Relationship Id="rId12" Type="http://schemas.openxmlformats.org/officeDocument/2006/relationships/tags" Target="../tags/tag1001.xml"/><Relationship Id="rId17" Type="http://schemas.openxmlformats.org/officeDocument/2006/relationships/tags" Target="../tags/tag1006.xml"/><Relationship Id="rId25" Type="http://schemas.openxmlformats.org/officeDocument/2006/relationships/tags" Target="../tags/tag1014.xml"/><Relationship Id="rId33" Type="http://schemas.openxmlformats.org/officeDocument/2006/relationships/tags" Target="../tags/tag1022.xml"/><Relationship Id="rId38" Type="http://schemas.openxmlformats.org/officeDocument/2006/relationships/tags" Target="../tags/tag1027.xml"/></Relationships>
</file>

<file path=ppt/slides/_rels/slide56.xml.rels><?xml version="1.0" encoding="UTF-8" standalone="yes"?>
<Relationships xmlns="http://schemas.openxmlformats.org/package/2006/relationships"><Relationship Id="rId3" Type="http://schemas.openxmlformats.org/officeDocument/2006/relationships/slideLayout" Target="../slideLayouts/slideLayout11.xml"/><Relationship Id="rId2" Type="http://schemas.openxmlformats.org/officeDocument/2006/relationships/tags" Target="../tags/tag1029.xml"/><Relationship Id="rId1" Type="http://schemas.openxmlformats.org/officeDocument/2006/relationships/tags" Target="../tags/tag1028.xml"/><Relationship Id="rId6" Type="http://schemas.openxmlformats.org/officeDocument/2006/relationships/image" Target="../media/image9.emf"/><Relationship Id="rId5" Type="http://schemas.openxmlformats.org/officeDocument/2006/relationships/oleObject" Target="../embeddings/oleObject62.bin"/><Relationship Id="rId4" Type="http://schemas.openxmlformats.org/officeDocument/2006/relationships/notesSlide" Target="../notesSlides/notesSlide11.xml"/></Relationships>
</file>

<file path=ppt/slides/_rels/slide57.xml.rels><?xml version="1.0" encoding="UTF-8" standalone="yes"?>
<Relationships xmlns="http://schemas.openxmlformats.org/package/2006/relationships"><Relationship Id="rId13" Type="http://schemas.openxmlformats.org/officeDocument/2006/relationships/tags" Target="../tags/tag1042.xml"/><Relationship Id="rId18" Type="http://schemas.openxmlformats.org/officeDocument/2006/relationships/tags" Target="../tags/tag1047.xml"/><Relationship Id="rId26" Type="http://schemas.openxmlformats.org/officeDocument/2006/relationships/tags" Target="../tags/tag1055.xml"/><Relationship Id="rId39" Type="http://schemas.openxmlformats.org/officeDocument/2006/relationships/tags" Target="../tags/tag1068.xml"/><Relationship Id="rId21" Type="http://schemas.openxmlformats.org/officeDocument/2006/relationships/tags" Target="../tags/tag1050.xml"/><Relationship Id="rId34" Type="http://schemas.openxmlformats.org/officeDocument/2006/relationships/tags" Target="../tags/tag1063.xml"/><Relationship Id="rId42" Type="http://schemas.openxmlformats.org/officeDocument/2006/relationships/tags" Target="../tags/tag1071.xml"/><Relationship Id="rId47" Type="http://schemas.openxmlformats.org/officeDocument/2006/relationships/tags" Target="../tags/tag1076.xml"/><Relationship Id="rId50" Type="http://schemas.openxmlformats.org/officeDocument/2006/relationships/tags" Target="../tags/tag1079.xml"/><Relationship Id="rId55" Type="http://schemas.openxmlformats.org/officeDocument/2006/relationships/oleObject" Target="../embeddings/oleObject63.bin"/><Relationship Id="rId7" Type="http://schemas.openxmlformats.org/officeDocument/2006/relationships/tags" Target="../tags/tag1036.xml"/><Relationship Id="rId2" Type="http://schemas.openxmlformats.org/officeDocument/2006/relationships/tags" Target="../tags/tag1031.xml"/><Relationship Id="rId16" Type="http://schemas.openxmlformats.org/officeDocument/2006/relationships/tags" Target="../tags/tag1045.xml"/><Relationship Id="rId29" Type="http://schemas.openxmlformats.org/officeDocument/2006/relationships/tags" Target="../tags/tag1058.xml"/><Relationship Id="rId11" Type="http://schemas.openxmlformats.org/officeDocument/2006/relationships/tags" Target="../tags/tag1040.xml"/><Relationship Id="rId24" Type="http://schemas.openxmlformats.org/officeDocument/2006/relationships/tags" Target="../tags/tag1053.xml"/><Relationship Id="rId32" Type="http://schemas.openxmlformats.org/officeDocument/2006/relationships/tags" Target="../tags/tag1061.xml"/><Relationship Id="rId37" Type="http://schemas.openxmlformats.org/officeDocument/2006/relationships/tags" Target="../tags/tag1066.xml"/><Relationship Id="rId40" Type="http://schemas.openxmlformats.org/officeDocument/2006/relationships/tags" Target="../tags/tag1069.xml"/><Relationship Id="rId45" Type="http://schemas.openxmlformats.org/officeDocument/2006/relationships/tags" Target="../tags/tag1074.xml"/><Relationship Id="rId53" Type="http://schemas.openxmlformats.org/officeDocument/2006/relationships/tags" Target="../tags/tag1082.xml"/><Relationship Id="rId58" Type="http://schemas.openxmlformats.org/officeDocument/2006/relationships/chart" Target="../charts/chart44.xml"/><Relationship Id="rId5" Type="http://schemas.openxmlformats.org/officeDocument/2006/relationships/tags" Target="../tags/tag1034.xml"/><Relationship Id="rId19" Type="http://schemas.openxmlformats.org/officeDocument/2006/relationships/tags" Target="../tags/tag1048.xml"/><Relationship Id="rId4" Type="http://schemas.openxmlformats.org/officeDocument/2006/relationships/tags" Target="../tags/tag1033.xml"/><Relationship Id="rId9" Type="http://schemas.openxmlformats.org/officeDocument/2006/relationships/tags" Target="../tags/tag1038.xml"/><Relationship Id="rId14" Type="http://schemas.openxmlformats.org/officeDocument/2006/relationships/tags" Target="../tags/tag1043.xml"/><Relationship Id="rId22" Type="http://schemas.openxmlformats.org/officeDocument/2006/relationships/tags" Target="../tags/tag1051.xml"/><Relationship Id="rId27" Type="http://schemas.openxmlformats.org/officeDocument/2006/relationships/tags" Target="../tags/tag1056.xml"/><Relationship Id="rId30" Type="http://schemas.openxmlformats.org/officeDocument/2006/relationships/tags" Target="../tags/tag1059.xml"/><Relationship Id="rId35" Type="http://schemas.openxmlformats.org/officeDocument/2006/relationships/tags" Target="../tags/tag1064.xml"/><Relationship Id="rId43" Type="http://schemas.openxmlformats.org/officeDocument/2006/relationships/tags" Target="../tags/tag1072.xml"/><Relationship Id="rId48" Type="http://schemas.openxmlformats.org/officeDocument/2006/relationships/tags" Target="../tags/tag1077.xml"/><Relationship Id="rId56" Type="http://schemas.openxmlformats.org/officeDocument/2006/relationships/image" Target="../media/image9.emf"/><Relationship Id="rId8" Type="http://schemas.openxmlformats.org/officeDocument/2006/relationships/tags" Target="../tags/tag1037.xml"/><Relationship Id="rId51" Type="http://schemas.openxmlformats.org/officeDocument/2006/relationships/tags" Target="../tags/tag1080.xml"/><Relationship Id="rId3" Type="http://schemas.openxmlformats.org/officeDocument/2006/relationships/tags" Target="../tags/tag1032.xml"/><Relationship Id="rId12" Type="http://schemas.openxmlformats.org/officeDocument/2006/relationships/tags" Target="../tags/tag1041.xml"/><Relationship Id="rId17" Type="http://schemas.openxmlformats.org/officeDocument/2006/relationships/tags" Target="../tags/tag1046.xml"/><Relationship Id="rId25" Type="http://schemas.openxmlformats.org/officeDocument/2006/relationships/tags" Target="../tags/tag1054.xml"/><Relationship Id="rId33" Type="http://schemas.openxmlformats.org/officeDocument/2006/relationships/tags" Target="../tags/tag1062.xml"/><Relationship Id="rId38" Type="http://schemas.openxmlformats.org/officeDocument/2006/relationships/tags" Target="../tags/tag1067.xml"/><Relationship Id="rId46" Type="http://schemas.openxmlformats.org/officeDocument/2006/relationships/tags" Target="../tags/tag1075.xml"/><Relationship Id="rId20" Type="http://schemas.openxmlformats.org/officeDocument/2006/relationships/tags" Target="../tags/tag1049.xml"/><Relationship Id="rId41" Type="http://schemas.openxmlformats.org/officeDocument/2006/relationships/tags" Target="../tags/tag1070.xml"/><Relationship Id="rId54" Type="http://schemas.openxmlformats.org/officeDocument/2006/relationships/slideLayout" Target="../slideLayouts/slideLayout7.xml"/><Relationship Id="rId1" Type="http://schemas.openxmlformats.org/officeDocument/2006/relationships/tags" Target="../tags/tag1030.xml"/><Relationship Id="rId6" Type="http://schemas.openxmlformats.org/officeDocument/2006/relationships/tags" Target="../tags/tag1035.xml"/><Relationship Id="rId15" Type="http://schemas.openxmlformats.org/officeDocument/2006/relationships/tags" Target="../tags/tag1044.xml"/><Relationship Id="rId23" Type="http://schemas.openxmlformats.org/officeDocument/2006/relationships/tags" Target="../tags/tag1052.xml"/><Relationship Id="rId28" Type="http://schemas.openxmlformats.org/officeDocument/2006/relationships/tags" Target="../tags/tag1057.xml"/><Relationship Id="rId36" Type="http://schemas.openxmlformats.org/officeDocument/2006/relationships/tags" Target="../tags/tag1065.xml"/><Relationship Id="rId49" Type="http://schemas.openxmlformats.org/officeDocument/2006/relationships/tags" Target="../tags/tag1078.xml"/><Relationship Id="rId57" Type="http://schemas.openxmlformats.org/officeDocument/2006/relationships/chart" Target="../charts/chart43.xml"/><Relationship Id="rId10" Type="http://schemas.openxmlformats.org/officeDocument/2006/relationships/tags" Target="../tags/tag1039.xml"/><Relationship Id="rId31" Type="http://schemas.openxmlformats.org/officeDocument/2006/relationships/tags" Target="../tags/tag1060.xml"/><Relationship Id="rId44" Type="http://schemas.openxmlformats.org/officeDocument/2006/relationships/tags" Target="../tags/tag1073.xml"/><Relationship Id="rId52" Type="http://schemas.openxmlformats.org/officeDocument/2006/relationships/tags" Target="../tags/tag1081.xml"/></Relationships>
</file>

<file path=ppt/slides/_rels/slide58.xml.rels><?xml version="1.0" encoding="UTF-8" standalone="yes"?>
<Relationships xmlns="http://schemas.openxmlformats.org/package/2006/relationships"><Relationship Id="rId8" Type="http://schemas.openxmlformats.org/officeDocument/2006/relationships/slideLayout" Target="../slideLayouts/slideLayout7.xml"/><Relationship Id="rId3" Type="http://schemas.openxmlformats.org/officeDocument/2006/relationships/tags" Target="../tags/tag1085.xml"/><Relationship Id="rId7" Type="http://schemas.openxmlformats.org/officeDocument/2006/relationships/tags" Target="../tags/tag1089.xml"/><Relationship Id="rId2" Type="http://schemas.openxmlformats.org/officeDocument/2006/relationships/tags" Target="../tags/tag1084.xml"/><Relationship Id="rId1" Type="http://schemas.openxmlformats.org/officeDocument/2006/relationships/tags" Target="../tags/tag1083.xml"/><Relationship Id="rId6" Type="http://schemas.openxmlformats.org/officeDocument/2006/relationships/tags" Target="../tags/tag1088.xml"/><Relationship Id="rId11" Type="http://schemas.openxmlformats.org/officeDocument/2006/relationships/chart" Target="../charts/chart45.xml"/><Relationship Id="rId5" Type="http://schemas.openxmlformats.org/officeDocument/2006/relationships/tags" Target="../tags/tag1087.xml"/><Relationship Id="rId10" Type="http://schemas.openxmlformats.org/officeDocument/2006/relationships/image" Target="../media/image9.emf"/><Relationship Id="rId4" Type="http://schemas.openxmlformats.org/officeDocument/2006/relationships/tags" Target="../tags/tag1086.xml"/><Relationship Id="rId9" Type="http://schemas.openxmlformats.org/officeDocument/2006/relationships/oleObject" Target="../embeddings/oleObject64.bin"/></Relationships>
</file>

<file path=ppt/slides/_rels/slide59.xml.rels><?xml version="1.0" encoding="UTF-8" standalone="yes"?>
<Relationships xmlns="http://schemas.openxmlformats.org/package/2006/relationships"><Relationship Id="rId8" Type="http://schemas.openxmlformats.org/officeDocument/2006/relationships/slideLayout" Target="../slideLayouts/slideLayout7.xml"/><Relationship Id="rId3" Type="http://schemas.openxmlformats.org/officeDocument/2006/relationships/tags" Target="../tags/tag1092.xml"/><Relationship Id="rId7" Type="http://schemas.openxmlformats.org/officeDocument/2006/relationships/tags" Target="../tags/tag1096.xml"/><Relationship Id="rId2" Type="http://schemas.openxmlformats.org/officeDocument/2006/relationships/tags" Target="../tags/tag1091.xml"/><Relationship Id="rId1" Type="http://schemas.openxmlformats.org/officeDocument/2006/relationships/tags" Target="../tags/tag1090.xml"/><Relationship Id="rId6" Type="http://schemas.openxmlformats.org/officeDocument/2006/relationships/tags" Target="../tags/tag1095.xml"/><Relationship Id="rId11" Type="http://schemas.openxmlformats.org/officeDocument/2006/relationships/chart" Target="../charts/chart46.xml"/><Relationship Id="rId5" Type="http://schemas.openxmlformats.org/officeDocument/2006/relationships/tags" Target="../tags/tag1094.xml"/><Relationship Id="rId10" Type="http://schemas.openxmlformats.org/officeDocument/2006/relationships/image" Target="../media/image9.emf"/><Relationship Id="rId4" Type="http://schemas.openxmlformats.org/officeDocument/2006/relationships/tags" Target="../tags/tag1093.xml"/><Relationship Id="rId9" Type="http://schemas.openxmlformats.org/officeDocument/2006/relationships/oleObject" Target="../embeddings/oleObject65.bin"/></Relationships>
</file>

<file path=ppt/slides/_rels/slide60.xml.rels><?xml version="1.0" encoding="UTF-8" standalone="yes"?>
<Relationships xmlns="http://schemas.openxmlformats.org/package/2006/relationships"><Relationship Id="rId8" Type="http://schemas.openxmlformats.org/officeDocument/2006/relationships/slideLayout" Target="../slideLayouts/slideLayout7.xml"/><Relationship Id="rId3" Type="http://schemas.openxmlformats.org/officeDocument/2006/relationships/tags" Target="../tags/tag1099.xml"/><Relationship Id="rId7" Type="http://schemas.openxmlformats.org/officeDocument/2006/relationships/tags" Target="../tags/tag1103.xml"/><Relationship Id="rId2" Type="http://schemas.openxmlformats.org/officeDocument/2006/relationships/tags" Target="../tags/tag1098.xml"/><Relationship Id="rId1" Type="http://schemas.openxmlformats.org/officeDocument/2006/relationships/tags" Target="../tags/tag1097.xml"/><Relationship Id="rId6" Type="http://schemas.openxmlformats.org/officeDocument/2006/relationships/tags" Target="../tags/tag1102.xml"/><Relationship Id="rId11" Type="http://schemas.openxmlformats.org/officeDocument/2006/relationships/chart" Target="../charts/chart47.xml"/><Relationship Id="rId5" Type="http://schemas.openxmlformats.org/officeDocument/2006/relationships/tags" Target="../tags/tag1101.xml"/><Relationship Id="rId10" Type="http://schemas.openxmlformats.org/officeDocument/2006/relationships/image" Target="../media/image9.emf"/><Relationship Id="rId4" Type="http://schemas.openxmlformats.org/officeDocument/2006/relationships/tags" Target="../tags/tag1100.xml"/><Relationship Id="rId9" Type="http://schemas.openxmlformats.org/officeDocument/2006/relationships/oleObject" Target="../embeddings/oleObject66.bin"/></Relationships>
</file>

<file path=ppt/slides/_rels/slide61.xml.rels><?xml version="1.0" encoding="UTF-8" standalone="yes"?>
<Relationships xmlns="http://schemas.openxmlformats.org/package/2006/relationships"><Relationship Id="rId8" Type="http://schemas.openxmlformats.org/officeDocument/2006/relationships/tags" Target="../tags/tag1111.xml"/><Relationship Id="rId13" Type="http://schemas.openxmlformats.org/officeDocument/2006/relationships/tags" Target="../tags/tag1116.xml"/><Relationship Id="rId18" Type="http://schemas.openxmlformats.org/officeDocument/2006/relationships/chart" Target="../charts/chart48.xml"/><Relationship Id="rId3" Type="http://schemas.openxmlformats.org/officeDocument/2006/relationships/tags" Target="../tags/tag1106.xml"/><Relationship Id="rId7" Type="http://schemas.openxmlformats.org/officeDocument/2006/relationships/tags" Target="../tags/tag1110.xml"/><Relationship Id="rId12" Type="http://schemas.openxmlformats.org/officeDocument/2006/relationships/tags" Target="../tags/tag1115.xml"/><Relationship Id="rId17" Type="http://schemas.openxmlformats.org/officeDocument/2006/relationships/image" Target="../media/image9.emf"/><Relationship Id="rId2" Type="http://schemas.openxmlformats.org/officeDocument/2006/relationships/tags" Target="../tags/tag1105.xml"/><Relationship Id="rId16" Type="http://schemas.openxmlformats.org/officeDocument/2006/relationships/oleObject" Target="../embeddings/oleObject67.bin"/><Relationship Id="rId1" Type="http://schemas.openxmlformats.org/officeDocument/2006/relationships/tags" Target="../tags/tag1104.xml"/><Relationship Id="rId6" Type="http://schemas.openxmlformats.org/officeDocument/2006/relationships/tags" Target="../tags/tag1109.xml"/><Relationship Id="rId11" Type="http://schemas.openxmlformats.org/officeDocument/2006/relationships/tags" Target="../tags/tag1114.xml"/><Relationship Id="rId5" Type="http://schemas.openxmlformats.org/officeDocument/2006/relationships/tags" Target="../tags/tag1108.xml"/><Relationship Id="rId15" Type="http://schemas.openxmlformats.org/officeDocument/2006/relationships/slideLayout" Target="../slideLayouts/slideLayout7.xml"/><Relationship Id="rId10" Type="http://schemas.openxmlformats.org/officeDocument/2006/relationships/tags" Target="../tags/tag1113.xml"/><Relationship Id="rId4" Type="http://schemas.openxmlformats.org/officeDocument/2006/relationships/tags" Target="../tags/tag1107.xml"/><Relationship Id="rId9" Type="http://schemas.openxmlformats.org/officeDocument/2006/relationships/tags" Target="../tags/tag1112.xml"/><Relationship Id="rId14" Type="http://schemas.openxmlformats.org/officeDocument/2006/relationships/tags" Target="../tags/tag1117.xml"/></Relationships>
</file>

<file path=ppt/slides/_rels/slide62.xml.rels><?xml version="1.0" encoding="UTF-8" standalone="yes"?>
<Relationships xmlns="http://schemas.openxmlformats.org/package/2006/relationships"><Relationship Id="rId8" Type="http://schemas.openxmlformats.org/officeDocument/2006/relationships/slideLayout" Target="../slideLayouts/slideLayout7.xml"/><Relationship Id="rId3" Type="http://schemas.openxmlformats.org/officeDocument/2006/relationships/tags" Target="../tags/tag1120.xml"/><Relationship Id="rId7" Type="http://schemas.openxmlformats.org/officeDocument/2006/relationships/tags" Target="../tags/tag1124.xml"/><Relationship Id="rId2" Type="http://schemas.openxmlformats.org/officeDocument/2006/relationships/tags" Target="../tags/tag1119.xml"/><Relationship Id="rId1" Type="http://schemas.openxmlformats.org/officeDocument/2006/relationships/tags" Target="../tags/tag1118.xml"/><Relationship Id="rId6" Type="http://schemas.openxmlformats.org/officeDocument/2006/relationships/tags" Target="../tags/tag1123.xml"/><Relationship Id="rId11" Type="http://schemas.openxmlformats.org/officeDocument/2006/relationships/chart" Target="../charts/chart49.xml"/><Relationship Id="rId5" Type="http://schemas.openxmlformats.org/officeDocument/2006/relationships/tags" Target="../tags/tag1122.xml"/><Relationship Id="rId10" Type="http://schemas.openxmlformats.org/officeDocument/2006/relationships/image" Target="../media/image9.emf"/><Relationship Id="rId4" Type="http://schemas.openxmlformats.org/officeDocument/2006/relationships/tags" Target="../tags/tag1121.xml"/><Relationship Id="rId9" Type="http://schemas.openxmlformats.org/officeDocument/2006/relationships/oleObject" Target="../embeddings/oleObject68.bin"/></Relationships>
</file>

<file path=ppt/slides/_rels/slide63.xml.rels><?xml version="1.0" encoding="UTF-8" standalone="yes"?>
<Relationships xmlns="http://schemas.openxmlformats.org/package/2006/relationships"><Relationship Id="rId8" Type="http://schemas.openxmlformats.org/officeDocument/2006/relationships/slideLayout" Target="../slideLayouts/slideLayout7.xml"/><Relationship Id="rId3" Type="http://schemas.openxmlformats.org/officeDocument/2006/relationships/tags" Target="../tags/tag1127.xml"/><Relationship Id="rId7" Type="http://schemas.openxmlformats.org/officeDocument/2006/relationships/tags" Target="../tags/tag1131.xml"/><Relationship Id="rId2" Type="http://schemas.openxmlformats.org/officeDocument/2006/relationships/tags" Target="../tags/tag1126.xml"/><Relationship Id="rId1" Type="http://schemas.openxmlformats.org/officeDocument/2006/relationships/tags" Target="../tags/tag1125.xml"/><Relationship Id="rId6" Type="http://schemas.openxmlformats.org/officeDocument/2006/relationships/tags" Target="../tags/tag1130.xml"/><Relationship Id="rId11" Type="http://schemas.openxmlformats.org/officeDocument/2006/relationships/chart" Target="../charts/chart50.xml"/><Relationship Id="rId5" Type="http://schemas.openxmlformats.org/officeDocument/2006/relationships/tags" Target="../tags/tag1129.xml"/><Relationship Id="rId10" Type="http://schemas.openxmlformats.org/officeDocument/2006/relationships/image" Target="../media/image9.emf"/><Relationship Id="rId4" Type="http://schemas.openxmlformats.org/officeDocument/2006/relationships/tags" Target="../tags/tag1128.xml"/><Relationship Id="rId9" Type="http://schemas.openxmlformats.org/officeDocument/2006/relationships/oleObject" Target="../embeddings/oleObject69.bin"/></Relationships>
</file>

<file path=ppt/slides/_rels/slide64.xml.rels><?xml version="1.0" encoding="UTF-8" standalone="yes"?>
<Relationships xmlns="http://schemas.openxmlformats.org/package/2006/relationships"><Relationship Id="rId13" Type="http://schemas.openxmlformats.org/officeDocument/2006/relationships/tags" Target="../tags/tag1144.xml"/><Relationship Id="rId18" Type="http://schemas.openxmlformats.org/officeDocument/2006/relationships/tags" Target="../tags/tag1149.xml"/><Relationship Id="rId26" Type="http://schemas.openxmlformats.org/officeDocument/2006/relationships/tags" Target="../tags/tag1157.xml"/><Relationship Id="rId3" Type="http://schemas.openxmlformats.org/officeDocument/2006/relationships/tags" Target="../tags/tag1134.xml"/><Relationship Id="rId21" Type="http://schemas.openxmlformats.org/officeDocument/2006/relationships/tags" Target="../tags/tag1152.xml"/><Relationship Id="rId7" Type="http://schemas.openxmlformats.org/officeDocument/2006/relationships/tags" Target="../tags/tag1138.xml"/><Relationship Id="rId12" Type="http://schemas.openxmlformats.org/officeDocument/2006/relationships/tags" Target="../tags/tag1143.xml"/><Relationship Id="rId17" Type="http://schemas.openxmlformats.org/officeDocument/2006/relationships/tags" Target="../tags/tag1148.xml"/><Relationship Id="rId25" Type="http://schemas.openxmlformats.org/officeDocument/2006/relationships/tags" Target="../tags/tag1156.xml"/><Relationship Id="rId33" Type="http://schemas.openxmlformats.org/officeDocument/2006/relationships/chart" Target="../charts/chart52.xml"/><Relationship Id="rId2" Type="http://schemas.openxmlformats.org/officeDocument/2006/relationships/tags" Target="../tags/tag1133.xml"/><Relationship Id="rId16" Type="http://schemas.openxmlformats.org/officeDocument/2006/relationships/tags" Target="../tags/tag1147.xml"/><Relationship Id="rId20" Type="http://schemas.openxmlformats.org/officeDocument/2006/relationships/tags" Target="../tags/tag1151.xml"/><Relationship Id="rId29" Type="http://schemas.openxmlformats.org/officeDocument/2006/relationships/slideLayout" Target="../slideLayouts/slideLayout7.xml"/><Relationship Id="rId1" Type="http://schemas.openxmlformats.org/officeDocument/2006/relationships/tags" Target="../tags/tag1132.xml"/><Relationship Id="rId6" Type="http://schemas.openxmlformats.org/officeDocument/2006/relationships/tags" Target="../tags/tag1137.xml"/><Relationship Id="rId11" Type="http://schemas.openxmlformats.org/officeDocument/2006/relationships/tags" Target="../tags/tag1142.xml"/><Relationship Id="rId24" Type="http://schemas.openxmlformats.org/officeDocument/2006/relationships/tags" Target="../tags/tag1155.xml"/><Relationship Id="rId32" Type="http://schemas.openxmlformats.org/officeDocument/2006/relationships/chart" Target="../charts/chart51.xml"/><Relationship Id="rId5" Type="http://schemas.openxmlformats.org/officeDocument/2006/relationships/tags" Target="../tags/tag1136.xml"/><Relationship Id="rId15" Type="http://schemas.openxmlformats.org/officeDocument/2006/relationships/tags" Target="../tags/tag1146.xml"/><Relationship Id="rId23" Type="http://schemas.openxmlformats.org/officeDocument/2006/relationships/tags" Target="../tags/tag1154.xml"/><Relationship Id="rId28" Type="http://schemas.openxmlformats.org/officeDocument/2006/relationships/tags" Target="../tags/tag1159.xml"/><Relationship Id="rId10" Type="http://schemas.openxmlformats.org/officeDocument/2006/relationships/tags" Target="../tags/tag1141.xml"/><Relationship Id="rId19" Type="http://schemas.openxmlformats.org/officeDocument/2006/relationships/tags" Target="../tags/tag1150.xml"/><Relationship Id="rId31" Type="http://schemas.openxmlformats.org/officeDocument/2006/relationships/image" Target="../media/image9.emf"/><Relationship Id="rId4" Type="http://schemas.openxmlformats.org/officeDocument/2006/relationships/tags" Target="../tags/tag1135.xml"/><Relationship Id="rId9" Type="http://schemas.openxmlformats.org/officeDocument/2006/relationships/tags" Target="../tags/tag1140.xml"/><Relationship Id="rId14" Type="http://schemas.openxmlformats.org/officeDocument/2006/relationships/tags" Target="../tags/tag1145.xml"/><Relationship Id="rId22" Type="http://schemas.openxmlformats.org/officeDocument/2006/relationships/tags" Target="../tags/tag1153.xml"/><Relationship Id="rId27" Type="http://schemas.openxmlformats.org/officeDocument/2006/relationships/tags" Target="../tags/tag1158.xml"/><Relationship Id="rId30" Type="http://schemas.openxmlformats.org/officeDocument/2006/relationships/oleObject" Target="../embeddings/oleObject70.bin"/><Relationship Id="rId8" Type="http://schemas.openxmlformats.org/officeDocument/2006/relationships/tags" Target="../tags/tag1139.xml"/></Relationships>
</file>

<file path=ppt/slides/_rels/slide65.xml.rels><?xml version="1.0" encoding="UTF-8" standalone="yes"?>
<Relationships xmlns="http://schemas.openxmlformats.org/package/2006/relationships"><Relationship Id="rId13" Type="http://schemas.openxmlformats.org/officeDocument/2006/relationships/tags" Target="../tags/tag1172.xml"/><Relationship Id="rId18" Type="http://schemas.openxmlformats.org/officeDocument/2006/relationships/tags" Target="../tags/tag1177.xml"/><Relationship Id="rId26" Type="http://schemas.openxmlformats.org/officeDocument/2006/relationships/tags" Target="../tags/tag1185.xml"/><Relationship Id="rId3" Type="http://schemas.openxmlformats.org/officeDocument/2006/relationships/tags" Target="../tags/tag1162.xml"/><Relationship Id="rId21" Type="http://schemas.openxmlformats.org/officeDocument/2006/relationships/tags" Target="../tags/tag1180.xml"/><Relationship Id="rId34" Type="http://schemas.openxmlformats.org/officeDocument/2006/relationships/chart" Target="../charts/chart54.xml"/><Relationship Id="rId7" Type="http://schemas.openxmlformats.org/officeDocument/2006/relationships/tags" Target="../tags/tag1166.xml"/><Relationship Id="rId12" Type="http://schemas.openxmlformats.org/officeDocument/2006/relationships/tags" Target="../tags/tag1171.xml"/><Relationship Id="rId17" Type="http://schemas.openxmlformats.org/officeDocument/2006/relationships/tags" Target="../tags/tag1176.xml"/><Relationship Id="rId25" Type="http://schemas.openxmlformats.org/officeDocument/2006/relationships/tags" Target="../tags/tag1184.xml"/><Relationship Id="rId33" Type="http://schemas.openxmlformats.org/officeDocument/2006/relationships/chart" Target="../charts/chart53.xml"/><Relationship Id="rId2" Type="http://schemas.openxmlformats.org/officeDocument/2006/relationships/tags" Target="../tags/tag1161.xml"/><Relationship Id="rId16" Type="http://schemas.openxmlformats.org/officeDocument/2006/relationships/tags" Target="../tags/tag1175.xml"/><Relationship Id="rId20" Type="http://schemas.openxmlformats.org/officeDocument/2006/relationships/tags" Target="../tags/tag1179.xml"/><Relationship Id="rId29" Type="http://schemas.openxmlformats.org/officeDocument/2006/relationships/tags" Target="../tags/tag1188.xml"/><Relationship Id="rId1" Type="http://schemas.openxmlformats.org/officeDocument/2006/relationships/tags" Target="../tags/tag1160.xml"/><Relationship Id="rId6" Type="http://schemas.openxmlformats.org/officeDocument/2006/relationships/tags" Target="../tags/tag1165.xml"/><Relationship Id="rId11" Type="http://schemas.openxmlformats.org/officeDocument/2006/relationships/tags" Target="../tags/tag1170.xml"/><Relationship Id="rId24" Type="http://schemas.openxmlformats.org/officeDocument/2006/relationships/tags" Target="../tags/tag1183.xml"/><Relationship Id="rId32" Type="http://schemas.openxmlformats.org/officeDocument/2006/relationships/image" Target="../media/image9.emf"/><Relationship Id="rId5" Type="http://schemas.openxmlformats.org/officeDocument/2006/relationships/tags" Target="../tags/tag1164.xml"/><Relationship Id="rId15" Type="http://schemas.openxmlformats.org/officeDocument/2006/relationships/tags" Target="../tags/tag1174.xml"/><Relationship Id="rId23" Type="http://schemas.openxmlformats.org/officeDocument/2006/relationships/tags" Target="../tags/tag1182.xml"/><Relationship Id="rId28" Type="http://schemas.openxmlformats.org/officeDocument/2006/relationships/tags" Target="../tags/tag1187.xml"/><Relationship Id="rId10" Type="http://schemas.openxmlformats.org/officeDocument/2006/relationships/tags" Target="../tags/tag1169.xml"/><Relationship Id="rId19" Type="http://schemas.openxmlformats.org/officeDocument/2006/relationships/tags" Target="../tags/tag1178.xml"/><Relationship Id="rId31" Type="http://schemas.openxmlformats.org/officeDocument/2006/relationships/oleObject" Target="../embeddings/oleObject71.bin"/><Relationship Id="rId4" Type="http://schemas.openxmlformats.org/officeDocument/2006/relationships/tags" Target="../tags/tag1163.xml"/><Relationship Id="rId9" Type="http://schemas.openxmlformats.org/officeDocument/2006/relationships/tags" Target="../tags/tag1168.xml"/><Relationship Id="rId14" Type="http://schemas.openxmlformats.org/officeDocument/2006/relationships/tags" Target="../tags/tag1173.xml"/><Relationship Id="rId22" Type="http://schemas.openxmlformats.org/officeDocument/2006/relationships/tags" Target="../tags/tag1181.xml"/><Relationship Id="rId27" Type="http://schemas.openxmlformats.org/officeDocument/2006/relationships/tags" Target="../tags/tag1186.xml"/><Relationship Id="rId30" Type="http://schemas.openxmlformats.org/officeDocument/2006/relationships/slideLayout" Target="../slideLayouts/slideLayout7.xml"/><Relationship Id="rId8" Type="http://schemas.openxmlformats.org/officeDocument/2006/relationships/tags" Target="../tags/tag1167.xml"/></Relationships>
</file>

<file path=ppt/slides/_rels/slide66.xml.rels><?xml version="1.0" encoding="UTF-8" standalone="yes"?>
<Relationships xmlns="http://schemas.openxmlformats.org/package/2006/relationships"><Relationship Id="rId8" Type="http://schemas.openxmlformats.org/officeDocument/2006/relationships/tags" Target="../tags/tag1196.xml"/><Relationship Id="rId13" Type="http://schemas.openxmlformats.org/officeDocument/2006/relationships/tags" Target="../tags/tag1201.xml"/><Relationship Id="rId18" Type="http://schemas.openxmlformats.org/officeDocument/2006/relationships/image" Target="../media/image9.emf"/><Relationship Id="rId3" Type="http://schemas.openxmlformats.org/officeDocument/2006/relationships/tags" Target="../tags/tag1191.xml"/><Relationship Id="rId7" Type="http://schemas.openxmlformats.org/officeDocument/2006/relationships/tags" Target="../tags/tag1195.xml"/><Relationship Id="rId12" Type="http://schemas.openxmlformats.org/officeDocument/2006/relationships/tags" Target="../tags/tag1200.xml"/><Relationship Id="rId17" Type="http://schemas.openxmlformats.org/officeDocument/2006/relationships/oleObject" Target="../embeddings/oleObject72.bin"/><Relationship Id="rId2" Type="http://schemas.openxmlformats.org/officeDocument/2006/relationships/tags" Target="../tags/tag1190.xml"/><Relationship Id="rId16" Type="http://schemas.openxmlformats.org/officeDocument/2006/relationships/slideLayout" Target="../slideLayouts/slideLayout7.xml"/><Relationship Id="rId20" Type="http://schemas.openxmlformats.org/officeDocument/2006/relationships/chart" Target="../charts/chart56.xml"/><Relationship Id="rId1" Type="http://schemas.openxmlformats.org/officeDocument/2006/relationships/tags" Target="../tags/tag1189.xml"/><Relationship Id="rId6" Type="http://schemas.openxmlformats.org/officeDocument/2006/relationships/tags" Target="../tags/tag1194.xml"/><Relationship Id="rId11" Type="http://schemas.openxmlformats.org/officeDocument/2006/relationships/tags" Target="../tags/tag1199.xml"/><Relationship Id="rId5" Type="http://schemas.openxmlformats.org/officeDocument/2006/relationships/tags" Target="../tags/tag1193.xml"/><Relationship Id="rId15" Type="http://schemas.openxmlformats.org/officeDocument/2006/relationships/tags" Target="../tags/tag1203.xml"/><Relationship Id="rId10" Type="http://schemas.openxmlformats.org/officeDocument/2006/relationships/tags" Target="../tags/tag1198.xml"/><Relationship Id="rId19" Type="http://schemas.openxmlformats.org/officeDocument/2006/relationships/chart" Target="../charts/chart55.xml"/><Relationship Id="rId4" Type="http://schemas.openxmlformats.org/officeDocument/2006/relationships/tags" Target="../tags/tag1192.xml"/><Relationship Id="rId9" Type="http://schemas.openxmlformats.org/officeDocument/2006/relationships/tags" Target="../tags/tag1197.xml"/><Relationship Id="rId14" Type="http://schemas.openxmlformats.org/officeDocument/2006/relationships/tags" Target="../tags/tag1202.xml"/></Relationships>
</file>

<file path=ppt/slides/_rels/slide67.xml.rels><?xml version="1.0" encoding="UTF-8" standalone="yes"?>
<Relationships xmlns="http://schemas.openxmlformats.org/package/2006/relationships"><Relationship Id="rId8" Type="http://schemas.openxmlformats.org/officeDocument/2006/relationships/tags" Target="../tags/tag1211.xml"/><Relationship Id="rId13" Type="http://schemas.openxmlformats.org/officeDocument/2006/relationships/tags" Target="../tags/tag1216.xml"/><Relationship Id="rId18" Type="http://schemas.openxmlformats.org/officeDocument/2006/relationships/slideLayout" Target="../slideLayouts/slideLayout7.xml"/><Relationship Id="rId3" Type="http://schemas.openxmlformats.org/officeDocument/2006/relationships/tags" Target="../tags/tag1206.xml"/><Relationship Id="rId21" Type="http://schemas.openxmlformats.org/officeDocument/2006/relationships/chart" Target="../charts/chart57.xml"/><Relationship Id="rId7" Type="http://schemas.openxmlformats.org/officeDocument/2006/relationships/tags" Target="../tags/tag1210.xml"/><Relationship Id="rId12" Type="http://schemas.openxmlformats.org/officeDocument/2006/relationships/tags" Target="../tags/tag1215.xml"/><Relationship Id="rId17" Type="http://schemas.openxmlformats.org/officeDocument/2006/relationships/tags" Target="../tags/tag1220.xml"/><Relationship Id="rId2" Type="http://schemas.openxmlformats.org/officeDocument/2006/relationships/tags" Target="../tags/tag1205.xml"/><Relationship Id="rId16" Type="http://schemas.openxmlformats.org/officeDocument/2006/relationships/tags" Target="../tags/tag1219.xml"/><Relationship Id="rId20" Type="http://schemas.openxmlformats.org/officeDocument/2006/relationships/image" Target="../media/image9.emf"/><Relationship Id="rId1" Type="http://schemas.openxmlformats.org/officeDocument/2006/relationships/tags" Target="../tags/tag1204.xml"/><Relationship Id="rId6" Type="http://schemas.openxmlformats.org/officeDocument/2006/relationships/tags" Target="../tags/tag1209.xml"/><Relationship Id="rId11" Type="http://schemas.openxmlformats.org/officeDocument/2006/relationships/tags" Target="../tags/tag1214.xml"/><Relationship Id="rId5" Type="http://schemas.openxmlformats.org/officeDocument/2006/relationships/tags" Target="../tags/tag1208.xml"/><Relationship Id="rId15" Type="http://schemas.openxmlformats.org/officeDocument/2006/relationships/tags" Target="../tags/tag1218.xml"/><Relationship Id="rId10" Type="http://schemas.openxmlformats.org/officeDocument/2006/relationships/tags" Target="../tags/tag1213.xml"/><Relationship Id="rId19" Type="http://schemas.openxmlformats.org/officeDocument/2006/relationships/oleObject" Target="../embeddings/oleObject73.bin"/><Relationship Id="rId4" Type="http://schemas.openxmlformats.org/officeDocument/2006/relationships/tags" Target="../tags/tag1207.xml"/><Relationship Id="rId9" Type="http://schemas.openxmlformats.org/officeDocument/2006/relationships/tags" Target="../tags/tag1212.xml"/><Relationship Id="rId14" Type="http://schemas.openxmlformats.org/officeDocument/2006/relationships/tags" Target="../tags/tag1217.xml"/><Relationship Id="rId22" Type="http://schemas.openxmlformats.org/officeDocument/2006/relationships/chart" Target="../charts/chart58.xml"/></Relationships>
</file>

<file path=ppt/slides/_rels/slide68.xml.rels><?xml version="1.0" encoding="UTF-8" standalone="yes"?>
<Relationships xmlns="http://schemas.openxmlformats.org/package/2006/relationships"><Relationship Id="rId3" Type="http://schemas.openxmlformats.org/officeDocument/2006/relationships/slideLayout" Target="../slideLayouts/slideLayout11.xml"/><Relationship Id="rId2" Type="http://schemas.openxmlformats.org/officeDocument/2006/relationships/tags" Target="../tags/tag1222.xml"/><Relationship Id="rId1" Type="http://schemas.openxmlformats.org/officeDocument/2006/relationships/tags" Target="../tags/tag1221.xml"/><Relationship Id="rId6" Type="http://schemas.openxmlformats.org/officeDocument/2006/relationships/image" Target="../media/image9.emf"/><Relationship Id="rId5" Type="http://schemas.openxmlformats.org/officeDocument/2006/relationships/oleObject" Target="../embeddings/oleObject74.bin"/><Relationship Id="rId4" Type="http://schemas.openxmlformats.org/officeDocument/2006/relationships/notesSlide" Target="../notesSlides/notesSlide12.xml"/></Relationships>
</file>

<file path=ppt/slides/_rels/slide69.xml.rels><?xml version="1.0" encoding="UTF-8" standalone="yes"?>
<Relationships xmlns="http://schemas.openxmlformats.org/package/2006/relationships"><Relationship Id="rId13" Type="http://schemas.openxmlformats.org/officeDocument/2006/relationships/tags" Target="../tags/tag1235.xml"/><Relationship Id="rId18" Type="http://schemas.openxmlformats.org/officeDocument/2006/relationships/tags" Target="../tags/tag1240.xml"/><Relationship Id="rId26" Type="http://schemas.openxmlformats.org/officeDocument/2006/relationships/tags" Target="../tags/tag1248.xml"/><Relationship Id="rId39" Type="http://schemas.openxmlformats.org/officeDocument/2006/relationships/tags" Target="../tags/tag1261.xml"/><Relationship Id="rId21" Type="http://schemas.openxmlformats.org/officeDocument/2006/relationships/tags" Target="../tags/tag1243.xml"/><Relationship Id="rId34" Type="http://schemas.openxmlformats.org/officeDocument/2006/relationships/tags" Target="../tags/tag1256.xml"/><Relationship Id="rId42" Type="http://schemas.openxmlformats.org/officeDocument/2006/relationships/tags" Target="../tags/tag1264.xml"/><Relationship Id="rId47" Type="http://schemas.openxmlformats.org/officeDocument/2006/relationships/tags" Target="../tags/tag1269.xml"/><Relationship Id="rId50" Type="http://schemas.openxmlformats.org/officeDocument/2006/relationships/slideLayout" Target="../slideLayouts/slideLayout7.xml"/><Relationship Id="rId7" Type="http://schemas.openxmlformats.org/officeDocument/2006/relationships/tags" Target="../tags/tag1229.xml"/><Relationship Id="rId2" Type="http://schemas.openxmlformats.org/officeDocument/2006/relationships/tags" Target="../tags/tag1224.xml"/><Relationship Id="rId16" Type="http://schemas.openxmlformats.org/officeDocument/2006/relationships/tags" Target="../tags/tag1238.xml"/><Relationship Id="rId29" Type="http://schemas.openxmlformats.org/officeDocument/2006/relationships/tags" Target="../tags/tag1251.xml"/><Relationship Id="rId11" Type="http://schemas.openxmlformats.org/officeDocument/2006/relationships/tags" Target="../tags/tag1233.xml"/><Relationship Id="rId24" Type="http://schemas.openxmlformats.org/officeDocument/2006/relationships/tags" Target="../tags/tag1246.xml"/><Relationship Id="rId32" Type="http://schemas.openxmlformats.org/officeDocument/2006/relationships/tags" Target="../tags/tag1254.xml"/><Relationship Id="rId37" Type="http://schemas.openxmlformats.org/officeDocument/2006/relationships/tags" Target="../tags/tag1259.xml"/><Relationship Id="rId40" Type="http://schemas.openxmlformats.org/officeDocument/2006/relationships/tags" Target="../tags/tag1262.xml"/><Relationship Id="rId45" Type="http://schemas.openxmlformats.org/officeDocument/2006/relationships/tags" Target="../tags/tag1267.xml"/><Relationship Id="rId53" Type="http://schemas.openxmlformats.org/officeDocument/2006/relationships/chart" Target="../charts/chart59.xml"/><Relationship Id="rId5" Type="http://schemas.openxmlformats.org/officeDocument/2006/relationships/tags" Target="../tags/tag1227.xml"/><Relationship Id="rId10" Type="http://schemas.openxmlformats.org/officeDocument/2006/relationships/tags" Target="../tags/tag1232.xml"/><Relationship Id="rId19" Type="http://schemas.openxmlformats.org/officeDocument/2006/relationships/tags" Target="../tags/tag1241.xml"/><Relationship Id="rId31" Type="http://schemas.openxmlformats.org/officeDocument/2006/relationships/tags" Target="../tags/tag1253.xml"/><Relationship Id="rId44" Type="http://schemas.openxmlformats.org/officeDocument/2006/relationships/tags" Target="../tags/tag1266.xml"/><Relationship Id="rId52" Type="http://schemas.openxmlformats.org/officeDocument/2006/relationships/image" Target="../media/image9.emf"/><Relationship Id="rId4" Type="http://schemas.openxmlformats.org/officeDocument/2006/relationships/tags" Target="../tags/tag1226.xml"/><Relationship Id="rId9" Type="http://schemas.openxmlformats.org/officeDocument/2006/relationships/tags" Target="../tags/tag1231.xml"/><Relationship Id="rId14" Type="http://schemas.openxmlformats.org/officeDocument/2006/relationships/tags" Target="../tags/tag1236.xml"/><Relationship Id="rId22" Type="http://schemas.openxmlformats.org/officeDocument/2006/relationships/tags" Target="../tags/tag1244.xml"/><Relationship Id="rId27" Type="http://schemas.openxmlformats.org/officeDocument/2006/relationships/tags" Target="../tags/tag1249.xml"/><Relationship Id="rId30" Type="http://schemas.openxmlformats.org/officeDocument/2006/relationships/tags" Target="../tags/tag1252.xml"/><Relationship Id="rId35" Type="http://schemas.openxmlformats.org/officeDocument/2006/relationships/tags" Target="../tags/tag1257.xml"/><Relationship Id="rId43" Type="http://schemas.openxmlformats.org/officeDocument/2006/relationships/tags" Target="../tags/tag1265.xml"/><Relationship Id="rId48" Type="http://schemas.openxmlformats.org/officeDocument/2006/relationships/tags" Target="../tags/tag1270.xml"/><Relationship Id="rId8" Type="http://schemas.openxmlformats.org/officeDocument/2006/relationships/tags" Target="../tags/tag1230.xml"/><Relationship Id="rId51" Type="http://schemas.openxmlformats.org/officeDocument/2006/relationships/oleObject" Target="../embeddings/oleObject75.bin"/><Relationship Id="rId3" Type="http://schemas.openxmlformats.org/officeDocument/2006/relationships/tags" Target="../tags/tag1225.xml"/><Relationship Id="rId12" Type="http://schemas.openxmlformats.org/officeDocument/2006/relationships/tags" Target="../tags/tag1234.xml"/><Relationship Id="rId17" Type="http://schemas.openxmlformats.org/officeDocument/2006/relationships/tags" Target="../tags/tag1239.xml"/><Relationship Id="rId25" Type="http://schemas.openxmlformats.org/officeDocument/2006/relationships/tags" Target="../tags/tag1247.xml"/><Relationship Id="rId33" Type="http://schemas.openxmlformats.org/officeDocument/2006/relationships/tags" Target="../tags/tag1255.xml"/><Relationship Id="rId38" Type="http://schemas.openxmlformats.org/officeDocument/2006/relationships/tags" Target="../tags/tag1260.xml"/><Relationship Id="rId46" Type="http://schemas.openxmlformats.org/officeDocument/2006/relationships/tags" Target="../tags/tag1268.xml"/><Relationship Id="rId20" Type="http://schemas.openxmlformats.org/officeDocument/2006/relationships/tags" Target="../tags/tag1242.xml"/><Relationship Id="rId41" Type="http://schemas.openxmlformats.org/officeDocument/2006/relationships/tags" Target="../tags/tag1263.xml"/><Relationship Id="rId54" Type="http://schemas.openxmlformats.org/officeDocument/2006/relationships/chart" Target="../charts/chart60.xml"/><Relationship Id="rId1" Type="http://schemas.openxmlformats.org/officeDocument/2006/relationships/tags" Target="../tags/tag1223.xml"/><Relationship Id="rId6" Type="http://schemas.openxmlformats.org/officeDocument/2006/relationships/tags" Target="../tags/tag1228.xml"/><Relationship Id="rId15" Type="http://schemas.openxmlformats.org/officeDocument/2006/relationships/tags" Target="../tags/tag1237.xml"/><Relationship Id="rId23" Type="http://schemas.openxmlformats.org/officeDocument/2006/relationships/tags" Target="../tags/tag1245.xml"/><Relationship Id="rId28" Type="http://schemas.openxmlformats.org/officeDocument/2006/relationships/tags" Target="../tags/tag1250.xml"/><Relationship Id="rId36" Type="http://schemas.openxmlformats.org/officeDocument/2006/relationships/tags" Target="../tags/tag1258.xml"/><Relationship Id="rId49" Type="http://schemas.openxmlformats.org/officeDocument/2006/relationships/tags" Target="../tags/tag1271.xml"/></Relationships>
</file>

<file path=ppt/slides/_rels/slide70.xml.rels><?xml version="1.0" encoding="UTF-8" standalone="yes"?>
<Relationships xmlns="http://schemas.openxmlformats.org/package/2006/relationships"><Relationship Id="rId8" Type="http://schemas.openxmlformats.org/officeDocument/2006/relationships/tags" Target="../tags/tag1279.xml"/><Relationship Id="rId13" Type="http://schemas.openxmlformats.org/officeDocument/2006/relationships/tags" Target="../tags/tag1284.xml"/><Relationship Id="rId18" Type="http://schemas.openxmlformats.org/officeDocument/2006/relationships/chart" Target="../charts/chart61.xml"/><Relationship Id="rId3" Type="http://schemas.openxmlformats.org/officeDocument/2006/relationships/tags" Target="../tags/tag1274.xml"/><Relationship Id="rId7" Type="http://schemas.openxmlformats.org/officeDocument/2006/relationships/tags" Target="../tags/tag1278.xml"/><Relationship Id="rId12" Type="http://schemas.openxmlformats.org/officeDocument/2006/relationships/tags" Target="../tags/tag1283.xml"/><Relationship Id="rId17" Type="http://schemas.openxmlformats.org/officeDocument/2006/relationships/image" Target="../media/image9.emf"/><Relationship Id="rId2" Type="http://schemas.openxmlformats.org/officeDocument/2006/relationships/tags" Target="../tags/tag1273.xml"/><Relationship Id="rId16" Type="http://schemas.openxmlformats.org/officeDocument/2006/relationships/oleObject" Target="../embeddings/oleObject76.bin"/><Relationship Id="rId1" Type="http://schemas.openxmlformats.org/officeDocument/2006/relationships/tags" Target="../tags/tag1272.xml"/><Relationship Id="rId6" Type="http://schemas.openxmlformats.org/officeDocument/2006/relationships/tags" Target="../tags/tag1277.xml"/><Relationship Id="rId11" Type="http://schemas.openxmlformats.org/officeDocument/2006/relationships/tags" Target="../tags/tag1282.xml"/><Relationship Id="rId5" Type="http://schemas.openxmlformats.org/officeDocument/2006/relationships/tags" Target="../tags/tag1276.xml"/><Relationship Id="rId15" Type="http://schemas.openxmlformats.org/officeDocument/2006/relationships/slideLayout" Target="../slideLayouts/slideLayout7.xml"/><Relationship Id="rId10" Type="http://schemas.openxmlformats.org/officeDocument/2006/relationships/tags" Target="../tags/tag1281.xml"/><Relationship Id="rId4" Type="http://schemas.openxmlformats.org/officeDocument/2006/relationships/tags" Target="../tags/tag1275.xml"/><Relationship Id="rId9" Type="http://schemas.openxmlformats.org/officeDocument/2006/relationships/tags" Target="../tags/tag1280.xml"/><Relationship Id="rId14" Type="http://schemas.openxmlformats.org/officeDocument/2006/relationships/tags" Target="../tags/tag1285.xml"/></Relationships>
</file>

<file path=ppt/slides/_rels/slide71.xml.rels><?xml version="1.0" encoding="UTF-8" standalone="yes"?>
<Relationships xmlns="http://schemas.openxmlformats.org/package/2006/relationships"><Relationship Id="rId8" Type="http://schemas.openxmlformats.org/officeDocument/2006/relationships/tags" Target="../tags/tag1293.xml"/><Relationship Id="rId13" Type="http://schemas.openxmlformats.org/officeDocument/2006/relationships/oleObject" Target="../embeddings/oleObject77.bin"/><Relationship Id="rId3" Type="http://schemas.openxmlformats.org/officeDocument/2006/relationships/tags" Target="../tags/tag1288.xml"/><Relationship Id="rId7" Type="http://schemas.openxmlformats.org/officeDocument/2006/relationships/tags" Target="../tags/tag1292.xml"/><Relationship Id="rId12" Type="http://schemas.openxmlformats.org/officeDocument/2006/relationships/slideLayout" Target="../slideLayouts/slideLayout7.xml"/><Relationship Id="rId2" Type="http://schemas.openxmlformats.org/officeDocument/2006/relationships/tags" Target="../tags/tag1287.xml"/><Relationship Id="rId1" Type="http://schemas.openxmlformats.org/officeDocument/2006/relationships/tags" Target="../tags/tag1286.xml"/><Relationship Id="rId6" Type="http://schemas.openxmlformats.org/officeDocument/2006/relationships/tags" Target="../tags/tag1291.xml"/><Relationship Id="rId11" Type="http://schemas.openxmlformats.org/officeDocument/2006/relationships/tags" Target="../tags/tag1296.xml"/><Relationship Id="rId5" Type="http://schemas.openxmlformats.org/officeDocument/2006/relationships/tags" Target="../tags/tag1290.xml"/><Relationship Id="rId15" Type="http://schemas.openxmlformats.org/officeDocument/2006/relationships/chart" Target="../charts/chart62.xml"/><Relationship Id="rId10" Type="http://schemas.openxmlformats.org/officeDocument/2006/relationships/tags" Target="../tags/tag1295.xml"/><Relationship Id="rId4" Type="http://schemas.openxmlformats.org/officeDocument/2006/relationships/tags" Target="../tags/tag1289.xml"/><Relationship Id="rId9" Type="http://schemas.openxmlformats.org/officeDocument/2006/relationships/tags" Target="../tags/tag1294.xml"/><Relationship Id="rId14" Type="http://schemas.openxmlformats.org/officeDocument/2006/relationships/image" Target="../media/image9.emf"/></Relationships>
</file>

<file path=ppt/slides/_rels/slide72.xml.rels><?xml version="1.0" encoding="UTF-8" standalone="yes"?>
<Relationships xmlns="http://schemas.openxmlformats.org/package/2006/relationships"><Relationship Id="rId13" Type="http://schemas.openxmlformats.org/officeDocument/2006/relationships/tags" Target="../tags/tag1309.xml"/><Relationship Id="rId18" Type="http://schemas.openxmlformats.org/officeDocument/2006/relationships/tags" Target="../tags/tag1314.xml"/><Relationship Id="rId26" Type="http://schemas.openxmlformats.org/officeDocument/2006/relationships/tags" Target="../tags/tag1322.xml"/><Relationship Id="rId21" Type="http://schemas.openxmlformats.org/officeDocument/2006/relationships/tags" Target="../tags/tag1317.xml"/><Relationship Id="rId34" Type="http://schemas.openxmlformats.org/officeDocument/2006/relationships/slideLayout" Target="../slideLayouts/slideLayout7.xml"/><Relationship Id="rId7" Type="http://schemas.openxmlformats.org/officeDocument/2006/relationships/tags" Target="../tags/tag1303.xml"/><Relationship Id="rId12" Type="http://schemas.openxmlformats.org/officeDocument/2006/relationships/tags" Target="../tags/tag1308.xml"/><Relationship Id="rId17" Type="http://schemas.openxmlformats.org/officeDocument/2006/relationships/tags" Target="../tags/tag1313.xml"/><Relationship Id="rId25" Type="http://schemas.openxmlformats.org/officeDocument/2006/relationships/tags" Target="../tags/tag1321.xml"/><Relationship Id="rId33" Type="http://schemas.openxmlformats.org/officeDocument/2006/relationships/tags" Target="../tags/tag1329.xml"/><Relationship Id="rId38" Type="http://schemas.openxmlformats.org/officeDocument/2006/relationships/chart" Target="../charts/chart64.xml"/><Relationship Id="rId2" Type="http://schemas.openxmlformats.org/officeDocument/2006/relationships/tags" Target="../tags/tag1298.xml"/><Relationship Id="rId16" Type="http://schemas.openxmlformats.org/officeDocument/2006/relationships/tags" Target="../tags/tag1312.xml"/><Relationship Id="rId20" Type="http://schemas.openxmlformats.org/officeDocument/2006/relationships/tags" Target="../tags/tag1316.xml"/><Relationship Id="rId29" Type="http://schemas.openxmlformats.org/officeDocument/2006/relationships/tags" Target="../tags/tag1325.xml"/><Relationship Id="rId1" Type="http://schemas.openxmlformats.org/officeDocument/2006/relationships/tags" Target="../tags/tag1297.xml"/><Relationship Id="rId6" Type="http://schemas.openxmlformats.org/officeDocument/2006/relationships/tags" Target="../tags/tag1302.xml"/><Relationship Id="rId11" Type="http://schemas.openxmlformats.org/officeDocument/2006/relationships/tags" Target="../tags/tag1307.xml"/><Relationship Id="rId24" Type="http://schemas.openxmlformats.org/officeDocument/2006/relationships/tags" Target="../tags/tag1320.xml"/><Relationship Id="rId32" Type="http://schemas.openxmlformats.org/officeDocument/2006/relationships/tags" Target="../tags/tag1328.xml"/><Relationship Id="rId37" Type="http://schemas.openxmlformats.org/officeDocument/2006/relationships/chart" Target="../charts/chart63.xml"/><Relationship Id="rId5" Type="http://schemas.openxmlformats.org/officeDocument/2006/relationships/tags" Target="../tags/tag1301.xml"/><Relationship Id="rId15" Type="http://schemas.openxmlformats.org/officeDocument/2006/relationships/tags" Target="../tags/tag1311.xml"/><Relationship Id="rId23" Type="http://schemas.openxmlformats.org/officeDocument/2006/relationships/tags" Target="../tags/tag1319.xml"/><Relationship Id="rId28" Type="http://schemas.openxmlformats.org/officeDocument/2006/relationships/tags" Target="../tags/tag1324.xml"/><Relationship Id="rId36" Type="http://schemas.openxmlformats.org/officeDocument/2006/relationships/image" Target="../media/image9.emf"/><Relationship Id="rId10" Type="http://schemas.openxmlformats.org/officeDocument/2006/relationships/tags" Target="../tags/tag1306.xml"/><Relationship Id="rId19" Type="http://schemas.openxmlformats.org/officeDocument/2006/relationships/tags" Target="../tags/tag1315.xml"/><Relationship Id="rId31" Type="http://schemas.openxmlformats.org/officeDocument/2006/relationships/tags" Target="../tags/tag1327.xml"/><Relationship Id="rId4" Type="http://schemas.openxmlformats.org/officeDocument/2006/relationships/tags" Target="../tags/tag1300.xml"/><Relationship Id="rId9" Type="http://schemas.openxmlformats.org/officeDocument/2006/relationships/tags" Target="../tags/tag1305.xml"/><Relationship Id="rId14" Type="http://schemas.openxmlformats.org/officeDocument/2006/relationships/tags" Target="../tags/tag1310.xml"/><Relationship Id="rId22" Type="http://schemas.openxmlformats.org/officeDocument/2006/relationships/tags" Target="../tags/tag1318.xml"/><Relationship Id="rId27" Type="http://schemas.openxmlformats.org/officeDocument/2006/relationships/tags" Target="../tags/tag1323.xml"/><Relationship Id="rId30" Type="http://schemas.openxmlformats.org/officeDocument/2006/relationships/tags" Target="../tags/tag1326.xml"/><Relationship Id="rId35" Type="http://schemas.openxmlformats.org/officeDocument/2006/relationships/oleObject" Target="../embeddings/oleObject78.bin"/><Relationship Id="rId8" Type="http://schemas.openxmlformats.org/officeDocument/2006/relationships/tags" Target="../tags/tag1304.xml"/><Relationship Id="rId3" Type="http://schemas.openxmlformats.org/officeDocument/2006/relationships/tags" Target="../tags/tag1299.xml"/></Relationships>
</file>

<file path=ppt/slides/_rels/slide73.xml.rels><?xml version="1.0" encoding="UTF-8" standalone="yes"?>
<Relationships xmlns="http://schemas.openxmlformats.org/package/2006/relationships"><Relationship Id="rId3" Type="http://schemas.openxmlformats.org/officeDocument/2006/relationships/slideLayout" Target="../slideLayouts/slideLayout11.xml"/><Relationship Id="rId2" Type="http://schemas.openxmlformats.org/officeDocument/2006/relationships/tags" Target="../tags/tag1331.xml"/><Relationship Id="rId1" Type="http://schemas.openxmlformats.org/officeDocument/2006/relationships/tags" Target="../tags/tag1330.xml"/><Relationship Id="rId6" Type="http://schemas.openxmlformats.org/officeDocument/2006/relationships/image" Target="../media/image9.emf"/><Relationship Id="rId5" Type="http://schemas.openxmlformats.org/officeDocument/2006/relationships/oleObject" Target="../embeddings/oleObject79.bin"/><Relationship Id="rId4" Type="http://schemas.openxmlformats.org/officeDocument/2006/relationships/notesSlide" Target="../notesSlides/notesSlide13.xml"/></Relationships>
</file>

<file path=ppt/slides/_rels/slide74.xml.rels><?xml version="1.0" encoding="UTF-8" standalone="yes"?>
<Relationships xmlns="http://schemas.openxmlformats.org/package/2006/relationships"><Relationship Id="rId3" Type="http://schemas.openxmlformats.org/officeDocument/2006/relationships/tags" Target="../tags/tag1334.xml"/><Relationship Id="rId7" Type="http://schemas.openxmlformats.org/officeDocument/2006/relationships/image" Target="../media/image9.emf"/><Relationship Id="rId2" Type="http://schemas.openxmlformats.org/officeDocument/2006/relationships/tags" Target="../tags/tag1333.xml"/><Relationship Id="rId1" Type="http://schemas.openxmlformats.org/officeDocument/2006/relationships/tags" Target="../tags/tag1332.xml"/><Relationship Id="rId6" Type="http://schemas.openxmlformats.org/officeDocument/2006/relationships/oleObject" Target="../embeddings/oleObject80.bin"/><Relationship Id="rId5" Type="http://schemas.openxmlformats.org/officeDocument/2006/relationships/slideLayout" Target="../slideLayouts/slideLayout7.xml"/><Relationship Id="rId4" Type="http://schemas.openxmlformats.org/officeDocument/2006/relationships/tags" Target="../tags/tag1335.xml"/></Relationships>
</file>

<file path=ppt/slides/_rels/slide75.xml.rels><?xml version="1.0" encoding="UTF-8" standalone="yes"?>
<Relationships xmlns="http://schemas.openxmlformats.org/package/2006/relationships"><Relationship Id="rId3" Type="http://schemas.openxmlformats.org/officeDocument/2006/relationships/tags" Target="../tags/tag1338.xml"/><Relationship Id="rId7" Type="http://schemas.openxmlformats.org/officeDocument/2006/relationships/chart" Target="../charts/chart65.xml"/><Relationship Id="rId2" Type="http://schemas.openxmlformats.org/officeDocument/2006/relationships/tags" Target="../tags/tag1337.xml"/><Relationship Id="rId1" Type="http://schemas.openxmlformats.org/officeDocument/2006/relationships/tags" Target="../tags/tag1336.xml"/><Relationship Id="rId6" Type="http://schemas.openxmlformats.org/officeDocument/2006/relationships/image" Target="../media/image9.emf"/><Relationship Id="rId5" Type="http://schemas.openxmlformats.org/officeDocument/2006/relationships/oleObject" Target="../embeddings/oleObject81.bin"/><Relationship Id="rId4"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3" Type="http://schemas.openxmlformats.org/officeDocument/2006/relationships/tags" Target="../tags/tag1341.xml"/><Relationship Id="rId7" Type="http://schemas.openxmlformats.org/officeDocument/2006/relationships/chart" Target="../charts/chart66.xml"/><Relationship Id="rId2" Type="http://schemas.openxmlformats.org/officeDocument/2006/relationships/tags" Target="../tags/tag1340.xml"/><Relationship Id="rId1" Type="http://schemas.openxmlformats.org/officeDocument/2006/relationships/tags" Target="../tags/tag1339.xml"/><Relationship Id="rId6" Type="http://schemas.openxmlformats.org/officeDocument/2006/relationships/image" Target="../media/image9.emf"/><Relationship Id="rId5" Type="http://schemas.openxmlformats.org/officeDocument/2006/relationships/oleObject" Target="../embeddings/oleObject82.bin"/><Relationship Id="rId4"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3" Type="http://schemas.openxmlformats.org/officeDocument/2006/relationships/tags" Target="../tags/tag1344.xml"/><Relationship Id="rId7" Type="http://schemas.openxmlformats.org/officeDocument/2006/relationships/chart" Target="../charts/chart67.xml"/><Relationship Id="rId2" Type="http://schemas.openxmlformats.org/officeDocument/2006/relationships/tags" Target="../tags/tag1343.xml"/><Relationship Id="rId1" Type="http://schemas.openxmlformats.org/officeDocument/2006/relationships/tags" Target="../tags/tag1342.xml"/><Relationship Id="rId6" Type="http://schemas.openxmlformats.org/officeDocument/2006/relationships/image" Target="../media/image9.emf"/><Relationship Id="rId5" Type="http://schemas.openxmlformats.org/officeDocument/2006/relationships/oleObject" Target="../embeddings/oleObject83.bin"/><Relationship Id="rId4"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3" Type="http://schemas.openxmlformats.org/officeDocument/2006/relationships/tags" Target="../tags/tag1347.xml"/><Relationship Id="rId7" Type="http://schemas.openxmlformats.org/officeDocument/2006/relationships/chart" Target="../charts/chart68.xml"/><Relationship Id="rId2" Type="http://schemas.openxmlformats.org/officeDocument/2006/relationships/tags" Target="../tags/tag1346.xml"/><Relationship Id="rId1" Type="http://schemas.openxmlformats.org/officeDocument/2006/relationships/tags" Target="../tags/tag1345.xml"/><Relationship Id="rId6" Type="http://schemas.openxmlformats.org/officeDocument/2006/relationships/image" Target="../media/image9.emf"/><Relationship Id="rId5" Type="http://schemas.openxmlformats.org/officeDocument/2006/relationships/oleObject" Target="../embeddings/oleObject84.bin"/><Relationship Id="rId4"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117" Type="http://schemas.openxmlformats.org/officeDocument/2006/relationships/tags" Target="../tags/tag1464.xml"/><Relationship Id="rId21" Type="http://schemas.openxmlformats.org/officeDocument/2006/relationships/tags" Target="../tags/tag1368.xml"/><Relationship Id="rId42" Type="http://schemas.openxmlformats.org/officeDocument/2006/relationships/tags" Target="../tags/tag1389.xml"/><Relationship Id="rId63" Type="http://schemas.openxmlformats.org/officeDocument/2006/relationships/tags" Target="../tags/tag1410.xml"/><Relationship Id="rId84" Type="http://schemas.openxmlformats.org/officeDocument/2006/relationships/tags" Target="../tags/tag1431.xml"/><Relationship Id="rId138" Type="http://schemas.openxmlformats.org/officeDocument/2006/relationships/tags" Target="../tags/tag1485.xml"/><Relationship Id="rId159" Type="http://schemas.openxmlformats.org/officeDocument/2006/relationships/tags" Target="../tags/tag1506.xml"/><Relationship Id="rId170" Type="http://schemas.openxmlformats.org/officeDocument/2006/relationships/tags" Target="../tags/tag1517.xml"/><Relationship Id="rId191" Type="http://schemas.openxmlformats.org/officeDocument/2006/relationships/tags" Target="../tags/tag1538.xml"/><Relationship Id="rId205" Type="http://schemas.openxmlformats.org/officeDocument/2006/relationships/tags" Target="../tags/tag1552.xml"/><Relationship Id="rId107" Type="http://schemas.openxmlformats.org/officeDocument/2006/relationships/tags" Target="../tags/tag1454.xml"/><Relationship Id="rId11" Type="http://schemas.openxmlformats.org/officeDocument/2006/relationships/tags" Target="../tags/tag1358.xml"/><Relationship Id="rId32" Type="http://schemas.openxmlformats.org/officeDocument/2006/relationships/tags" Target="../tags/tag1379.xml"/><Relationship Id="rId53" Type="http://schemas.openxmlformats.org/officeDocument/2006/relationships/tags" Target="../tags/tag1400.xml"/><Relationship Id="rId74" Type="http://schemas.openxmlformats.org/officeDocument/2006/relationships/tags" Target="../tags/tag1421.xml"/><Relationship Id="rId128" Type="http://schemas.openxmlformats.org/officeDocument/2006/relationships/tags" Target="../tags/tag1475.xml"/><Relationship Id="rId149" Type="http://schemas.openxmlformats.org/officeDocument/2006/relationships/tags" Target="../tags/tag1496.xml"/><Relationship Id="rId5" Type="http://schemas.openxmlformats.org/officeDocument/2006/relationships/tags" Target="../tags/tag1352.xml"/><Relationship Id="rId95" Type="http://schemas.openxmlformats.org/officeDocument/2006/relationships/tags" Target="../tags/tag1442.xml"/><Relationship Id="rId160" Type="http://schemas.openxmlformats.org/officeDocument/2006/relationships/tags" Target="../tags/tag1507.xml"/><Relationship Id="rId181" Type="http://schemas.openxmlformats.org/officeDocument/2006/relationships/tags" Target="../tags/tag1528.xml"/><Relationship Id="rId216" Type="http://schemas.openxmlformats.org/officeDocument/2006/relationships/slideLayout" Target="../slideLayouts/slideLayout7.xml"/><Relationship Id="rId22" Type="http://schemas.openxmlformats.org/officeDocument/2006/relationships/tags" Target="../tags/tag1369.xml"/><Relationship Id="rId43" Type="http://schemas.openxmlformats.org/officeDocument/2006/relationships/tags" Target="../tags/tag1390.xml"/><Relationship Id="rId64" Type="http://schemas.openxmlformats.org/officeDocument/2006/relationships/tags" Target="../tags/tag1411.xml"/><Relationship Id="rId118" Type="http://schemas.openxmlformats.org/officeDocument/2006/relationships/tags" Target="../tags/tag1465.xml"/><Relationship Id="rId139" Type="http://schemas.openxmlformats.org/officeDocument/2006/relationships/tags" Target="../tags/tag1486.xml"/><Relationship Id="rId85" Type="http://schemas.openxmlformats.org/officeDocument/2006/relationships/tags" Target="../tags/tag1432.xml"/><Relationship Id="rId150" Type="http://schemas.openxmlformats.org/officeDocument/2006/relationships/tags" Target="../tags/tag1497.xml"/><Relationship Id="rId171" Type="http://schemas.openxmlformats.org/officeDocument/2006/relationships/tags" Target="../tags/tag1518.xml"/><Relationship Id="rId192" Type="http://schemas.openxmlformats.org/officeDocument/2006/relationships/tags" Target="../tags/tag1539.xml"/><Relationship Id="rId206" Type="http://schemas.openxmlformats.org/officeDocument/2006/relationships/tags" Target="../tags/tag1553.xml"/><Relationship Id="rId12" Type="http://schemas.openxmlformats.org/officeDocument/2006/relationships/tags" Target="../tags/tag1359.xml"/><Relationship Id="rId33" Type="http://schemas.openxmlformats.org/officeDocument/2006/relationships/tags" Target="../tags/tag1380.xml"/><Relationship Id="rId108" Type="http://schemas.openxmlformats.org/officeDocument/2006/relationships/tags" Target="../tags/tag1455.xml"/><Relationship Id="rId129" Type="http://schemas.openxmlformats.org/officeDocument/2006/relationships/tags" Target="../tags/tag1476.xml"/><Relationship Id="rId54" Type="http://schemas.openxmlformats.org/officeDocument/2006/relationships/tags" Target="../tags/tag1401.xml"/><Relationship Id="rId75" Type="http://schemas.openxmlformats.org/officeDocument/2006/relationships/tags" Target="../tags/tag1422.xml"/><Relationship Id="rId96" Type="http://schemas.openxmlformats.org/officeDocument/2006/relationships/tags" Target="../tags/tag1443.xml"/><Relationship Id="rId140" Type="http://schemas.openxmlformats.org/officeDocument/2006/relationships/tags" Target="../tags/tag1487.xml"/><Relationship Id="rId161" Type="http://schemas.openxmlformats.org/officeDocument/2006/relationships/tags" Target="../tags/tag1508.xml"/><Relationship Id="rId182" Type="http://schemas.openxmlformats.org/officeDocument/2006/relationships/tags" Target="../tags/tag1529.xml"/><Relationship Id="rId217" Type="http://schemas.openxmlformats.org/officeDocument/2006/relationships/oleObject" Target="../embeddings/oleObject85.bin"/><Relationship Id="rId6" Type="http://schemas.openxmlformats.org/officeDocument/2006/relationships/tags" Target="../tags/tag1353.xml"/><Relationship Id="rId23" Type="http://schemas.openxmlformats.org/officeDocument/2006/relationships/tags" Target="../tags/tag1370.xml"/><Relationship Id="rId119" Type="http://schemas.openxmlformats.org/officeDocument/2006/relationships/tags" Target="../tags/tag1466.xml"/><Relationship Id="rId44" Type="http://schemas.openxmlformats.org/officeDocument/2006/relationships/tags" Target="../tags/tag1391.xml"/><Relationship Id="rId65" Type="http://schemas.openxmlformats.org/officeDocument/2006/relationships/tags" Target="../tags/tag1412.xml"/><Relationship Id="rId86" Type="http://schemas.openxmlformats.org/officeDocument/2006/relationships/tags" Target="../tags/tag1433.xml"/><Relationship Id="rId130" Type="http://schemas.openxmlformats.org/officeDocument/2006/relationships/tags" Target="../tags/tag1477.xml"/><Relationship Id="rId151" Type="http://schemas.openxmlformats.org/officeDocument/2006/relationships/tags" Target="../tags/tag1498.xml"/><Relationship Id="rId172" Type="http://schemas.openxmlformats.org/officeDocument/2006/relationships/tags" Target="../tags/tag1519.xml"/><Relationship Id="rId193" Type="http://schemas.openxmlformats.org/officeDocument/2006/relationships/tags" Target="../tags/tag1540.xml"/><Relationship Id="rId207" Type="http://schemas.openxmlformats.org/officeDocument/2006/relationships/tags" Target="../tags/tag1554.xml"/><Relationship Id="rId13" Type="http://schemas.openxmlformats.org/officeDocument/2006/relationships/tags" Target="../tags/tag1360.xml"/><Relationship Id="rId109" Type="http://schemas.openxmlformats.org/officeDocument/2006/relationships/tags" Target="../tags/tag1456.xml"/><Relationship Id="rId34" Type="http://schemas.openxmlformats.org/officeDocument/2006/relationships/tags" Target="../tags/tag1381.xml"/><Relationship Id="rId55" Type="http://schemas.openxmlformats.org/officeDocument/2006/relationships/tags" Target="../tags/tag1402.xml"/><Relationship Id="rId76" Type="http://schemas.openxmlformats.org/officeDocument/2006/relationships/tags" Target="../tags/tag1423.xml"/><Relationship Id="rId97" Type="http://schemas.openxmlformats.org/officeDocument/2006/relationships/tags" Target="../tags/tag1444.xml"/><Relationship Id="rId120" Type="http://schemas.openxmlformats.org/officeDocument/2006/relationships/tags" Target="../tags/tag1467.xml"/><Relationship Id="rId141" Type="http://schemas.openxmlformats.org/officeDocument/2006/relationships/tags" Target="../tags/tag1488.xml"/><Relationship Id="rId7" Type="http://schemas.openxmlformats.org/officeDocument/2006/relationships/tags" Target="../tags/tag1354.xml"/><Relationship Id="rId162" Type="http://schemas.openxmlformats.org/officeDocument/2006/relationships/tags" Target="../tags/tag1509.xml"/><Relationship Id="rId183" Type="http://schemas.openxmlformats.org/officeDocument/2006/relationships/tags" Target="../tags/tag1530.xml"/><Relationship Id="rId218" Type="http://schemas.openxmlformats.org/officeDocument/2006/relationships/image" Target="../media/image9.emf"/><Relationship Id="rId24" Type="http://schemas.openxmlformats.org/officeDocument/2006/relationships/tags" Target="../tags/tag1371.xml"/><Relationship Id="rId45" Type="http://schemas.openxmlformats.org/officeDocument/2006/relationships/tags" Target="../tags/tag1392.xml"/><Relationship Id="rId66" Type="http://schemas.openxmlformats.org/officeDocument/2006/relationships/tags" Target="../tags/tag1413.xml"/><Relationship Id="rId87" Type="http://schemas.openxmlformats.org/officeDocument/2006/relationships/tags" Target="../tags/tag1434.xml"/><Relationship Id="rId110" Type="http://schemas.openxmlformats.org/officeDocument/2006/relationships/tags" Target="../tags/tag1457.xml"/><Relationship Id="rId131" Type="http://schemas.openxmlformats.org/officeDocument/2006/relationships/tags" Target="../tags/tag1478.xml"/><Relationship Id="rId152" Type="http://schemas.openxmlformats.org/officeDocument/2006/relationships/tags" Target="../tags/tag1499.xml"/><Relationship Id="rId173" Type="http://schemas.openxmlformats.org/officeDocument/2006/relationships/tags" Target="../tags/tag1520.xml"/><Relationship Id="rId194" Type="http://schemas.openxmlformats.org/officeDocument/2006/relationships/tags" Target="../tags/tag1541.xml"/><Relationship Id="rId208" Type="http://schemas.openxmlformats.org/officeDocument/2006/relationships/tags" Target="../tags/tag1555.xml"/><Relationship Id="rId14" Type="http://schemas.openxmlformats.org/officeDocument/2006/relationships/tags" Target="../tags/tag1361.xml"/><Relationship Id="rId30" Type="http://schemas.openxmlformats.org/officeDocument/2006/relationships/tags" Target="../tags/tag1377.xml"/><Relationship Id="rId35" Type="http://schemas.openxmlformats.org/officeDocument/2006/relationships/tags" Target="../tags/tag1382.xml"/><Relationship Id="rId56" Type="http://schemas.openxmlformats.org/officeDocument/2006/relationships/tags" Target="../tags/tag1403.xml"/><Relationship Id="rId77" Type="http://schemas.openxmlformats.org/officeDocument/2006/relationships/tags" Target="../tags/tag1424.xml"/><Relationship Id="rId100" Type="http://schemas.openxmlformats.org/officeDocument/2006/relationships/tags" Target="../tags/tag1447.xml"/><Relationship Id="rId105" Type="http://schemas.openxmlformats.org/officeDocument/2006/relationships/tags" Target="../tags/tag1452.xml"/><Relationship Id="rId126" Type="http://schemas.openxmlformats.org/officeDocument/2006/relationships/tags" Target="../tags/tag1473.xml"/><Relationship Id="rId147" Type="http://schemas.openxmlformats.org/officeDocument/2006/relationships/tags" Target="../tags/tag1494.xml"/><Relationship Id="rId168" Type="http://schemas.openxmlformats.org/officeDocument/2006/relationships/tags" Target="../tags/tag1515.xml"/><Relationship Id="rId8" Type="http://schemas.openxmlformats.org/officeDocument/2006/relationships/tags" Target="../tags/tag1355.xml"/><Relationship Id="rId51" Type="http://schemas.openxmlformats.org/officeDocument/2006/relationships/tags" Target="../tags/tag1398.xml"/><Relationship Id="rId72" Type="http://schemas.openxmlformats.org/officeDocument/2006/relationships/tags" Target="../tags/tag1419.xml"/><Relationship Id="rId93" Type="http://schemas.openxmlformats.org/officeDocument/2006/relationships/tags" Target="../tags/tag1440.xml"/><Relationship Id="rId98" Type="http://schemas.openxmlformats.org/officeDocument/2006/relationships/tags" Target="../tags/tag1445.xml"/><Relationship Id="rId121" Type="http://schemas.openxmlformats.org/officeDocument/2006/relationships/tags" Target="../tags/tag1468.xml"/><Relationship Id="rId142" Type="http://schemas.openxmlformats.org/officeDocument/2006/relationships/tags" Target="../tags/tag1489.xml"/><Relationship Id="rId163" Type="http://schemas.openxmlformats.org/officeDocument/2006/relationships/tags" Target="../tags/tag1510.xml"/><Relationship Id="rId184" Type="http://schemas.openxmlformats.org/officeDocument/2006/relationships/tags" Target="../tags/tag1531.xml"/><Relationship Id="rId189" Type="http://schemas.openxmlformats.org/officeDocument/2006/relationships/tags" Target="../tags/tag1536.xml"/><Relationship Id="rId3" Type="http://schemas.openxmlformats.org/officeDocument/2006/relationships/tags" Target="../tags/tag1350.xml"/><Relationship Id="rId214" Type="http://schemas.openxmlformats.org/officeDocument/2006/relationships/tags" Target="../tags/tag1561.xml"/><Relationship Id="rId25" Type="http://schemas.openxmlformats.org/officeDocument/2006/relationships/tags" Target="../tags/tag1372.xml"/><Relationship Id="rId46" Type="http://schemas.openxmlformats.org/officeDocument/2006/relationships/tags" Target="../tags/tag1393.xml"/><Relationship Id="rId67" Type="http://schemas.openxmlformats.org/officeDocument/2006/relationships/tags" Target="../tags/tag1414.xml"/><Relationship Id="rId116" Type="http://schemas.openxmlformats.org/officeDocument/2006/relationships/tags" Target="../tags/tag1463.xml"/><Relationship Id="rId137" Type="http://schemas.openxmlformats.org/officeDocument/2006/relationships/tags" Target="../tags/tag1484.xml"/><Relationship Id="rId158" Type="http://schemas.openxmlformats.org/officeDocument/2006/relationships/tags" Target="../tags/tag1505.xml"/><Relationship Id="rId20" Type="http://schemas.openxmlformats.org/officeDocument/2006/relationships/tags" Target="../tags/tag1367.xml"/><Relationship Id="rId41" Type="http://schemas.openxmlformats.org/officeDocument/2006/relationships/tags" Target="../tags/tag1388.xml"/><Relationship Id="rId62" Type="http://schemas.openxmlformats.org/officeDocument/2006/relationships/tags" Target="../tags/tag1409.xml"/><Relationship Id="rId83" Type="http://schemas.openxmlformats.org/officeDocument/2006/relationships/tags" Target="../tags/tag1430.xml"/><Relationship Id="rId88" Type="http://schemas.openxmlformats.org/officeDocument/2006/relationships/tags" Target="../tags/tag1435.xml"/><Relationship Id="rId111" Type="http://schemas.openxmlformats.org/officeDocument/2006/relationships/tags" Target="../tags/tag1458.xml"/><Relationship Id="rId132" Type="http://schemas.openxmlformats.org/officeDocument/2006/relationships/tags" Target="../tags/tag1479.xml"/><Relationship Id="rId153" Type="http://schemas.openxmlformats.org/officeDocument/2006/relationships/tags" Target="../tags/tag1500.xml"/><Relationship Id="rId174" Type="http://schemas.openxmlformats.org/officeDocument/2006/relationships/tags" Target="../tags/tag1521.xml"/><Relationship Id="rId179" Type="http://schemas.openxmlformats.org/officeDocument/2006/relationships/tags" Target="../tags/tag1526.xml"/><Relationship Id="rId195" Type="http://schemas.openxmlformats.org/officeDocument/2006/relationships/tags" Target="../tags/tag1542.xml"/><Relationship Id="rId209" Type="http://schemas.openxmlformats.org/officeDocument/2006/relationships/tags" Target="../tags/tag1556.xml"/><Relationship Id="rId190" Type="http://schemas.openxmlformats.org/officeDocument/2006/relationships/tags" Target="../tags/tag1537.xml"/><Relationship Id="rId204" Type="http://schemas.openxmlformats.org/officeDocument/2006/relationships/tags" Target="../tags/tag1551.xml"/><Relationship Id="rId15" Type="http://schemas.openxmlformats.org/officeDocument/2006/relationships/tags" Target="../tags/tag1362.xml"/><Relationship Id="rId36" Type="http://schemas.openxmlformats.org/officeDocument/2006/relationships/tags" Target="../tags/tag1383.xml"/><Relationship Id="rId57" Type="http://schemas.openxmlformats.org/officeDocument/2006/relationships/tags" Target="../tags/tag1404.xml"/><Relationship Id="rId106" Type="http://schemas.openxmlformats.org/officeDocument/2006/relationships/tags" Target="../tags/tag1453.xml"/><Relationship Id="rId127" Type="http://schemas.openxmlformats.org/officeDocument/2006/relationships/tags" Target="../tags/tag1474.xml"/><Relationship Id="rId10" Type="http://schemas.openxmlformats.org/officeDocument/2006/relationships/tags" Target="../tags/tag1357.xml"/><Relationship Id="rId31" Type="http://schemas.openxmlformats.org/officeDocument/2006/relationships/tags" Target="../tags/tag1378.xml"/><Relationship Id="rId52" Type="http://schemas.openxmlformats.org/officeDocument/2006/relationships/tags" Target="../tags/tag1399.xml"/><Relationship Id="rId73" Type="http://schemas.openxmlformats.org/officeDocument/2006/relationships/tags" Target="../tags/tag1420.xml"/><Relationship Id="rId78" Type="http://schemas.openxmlformats.org/officeDocument/2006/relationships/tags" Target="../tags/tag1425.xml"/><Relationship Id="rId94" Type="http://schemas.openxmlformats.org/officeDocument/2006/relationships/tags" Target="../tags/tag1441.xml"/><Relationship Id="rId99" Type="http://schemas.openxmlformats.org/officeDocument/2006/relationships/tags" Target="../tags/tag1446.xml"/><Relationship Id="rId101" Type="http://schemas.openxmlformats.org/officeDocument/2006/relationships/tags" Target="../tags/tag1448.xml"/><Relationship Id="rId122" Type="http://schemas.openxmlformats.org/officeDocument/2006/relationships/tags" Target="../tags/tag1469.xml"/><Relationship Id="rId143" Type="http://schemas.openxmlformats.org/officeDocument/2006/relationships/tags" Target="../tags/tag1490.xml"/><Relationship Id="rId148" Type="http://schemas.openxmlformats.org/officeDocument/2006/relationships/tags" Target="../tags/tag1495.xml"/><Relationship Id="rId164" Type="http://schemas.openxmlformats.org/officeDocument/2006/relationships/tags" Target="../tags/tag1511.xml"/><Relationship Id="rId169" Type="http://schemas.openxmlformats.org/officeDocument/2006/relationships/tags" Target="../tags/tag1516.xml"/><Relationship Id="rId185" Type="http://schemas.openxmlformats.org/officeDocument/2006/relationships/tags" Target="../tags/tag1532.xml"/><Relationship Id="rId4" Type="http://schemas.openxmlformats.org/officeDocument/2006/relationships/tags" Target="../tags/tag1351.xml"/><Relationship Id="rId9" Type="http://schemas.openxmlformats.org/officeDocument/2006/relationships/tags" Target="../tags/tag1356.xml"/><Relationship Id="rId180" Type="http://schemas.openxmlformats.org/officeDocument/2006/relationships/tags" Target="../tags/tag1527.xml"/><Relationship Id="rId210" Type="http://schemas.openxmlformats.org/officeDocument/2006/relationships/tags" Target="../tags/tag1557.xml"/><Relationship Id="rId215" Type="http://schemas.openxmlformats.org/officeDocument/2006/relationships/tags" Target="../tags/tag1562.xml"/><Relationship Id="rId26" Type="http://schemas.openxmlformats.org/officeDocument/2006/relationships/tags" Target="../tags/tag1373.xml"/><Relationship Id="rId47" Type="http://schemas.openxmlformats.org/officeDocument/2006/relationships/tags" Target="../tags/tag1394.xml"/><Relationship Id="rId68" Type="http://schemas.openxmlformats.org/officeDocument/2006/relationships/tags" Target="../tags/tag1415.xml"/><Relationship Id="rId89" Type="http://schemas.openxmlformats.org/officeDocument/2006/relationships/tags" Target="../tags/tag1436.xml"/><Relationship Id="rId112" Type="http://schemas.openxmlformats.org/officeDocument/2006/relationships/tags" Target="../tags/tag1459.xml"/><Relationship Id="rId133" Type="http://schemas.openxmlformats.org/officeDocument/2006/relationships/tags" Target="../tags/tag1480.xml"/><Relationship Id="rId154" Type="http://schemas.openxmlformats.org/officeDocument/2006/relationships/tags" Target="../tags/tag1501.xml"/><Relationship Id="rId175" Type="http://schemas.openxmlformats.org/officeDocument/2006/relationships/tags" Target="../tags/tag1522.xml"/><Relationship Id="rId196" Type="http://schemas.openxmlformats.org/officeDocument/2006/relationships/tags" Target="../tags/tag1543.xml"/><Relationship Id="rId200" Type="http://schemas.openxmlformats.org/officeDocument/2006/relationships/tags" Target="../tags/tag1547.xml"/><Relationship Id="rId16" Type="http://schemas.openxmlformats.org/officeDocument/2006/relationships/tags" Target="../tags/tag1363.xml"/><Relationship Id="rId37" Type="http://schemas.openxmlformats.org/officeDocument/2006/relationships/tags" Target="../tags/tag1384.xml"/><Relationship Id="rId58" Type="http://schemas.openxmlformats.org/officeDocument/2006/relationships/tags" Target="../tags/tag1405.xml"/><Relationship Id="rId79" Type="http://schemas.openxmlformats.org/officeDocument/2006/relationships/tags" Target="../tags/tag1426.xml"/><Relationship Id="rId102" Type="http://schemas.openxmlformats.org/officeDocument/2006/relationships/tags" Target="../tags/tag1449.xml"/><Relationship Id="rId123" Type="http://schemas.openxmlformats.org/officeDocument/2006/relationships/tags" Target="../tags/tag1470.xml"/><Relationship Id="rId144" Type="http://schemas.openxmlformats.org/officeDocument/2006/relationships/tags" Target="../tags/tag1491.xml"/><Relationship Id="rId90" Type="http://schemas.openxmlformats.org/officeDocument/2006/relationships/tags" Target="../tags/tag1437.xml"/><Relationship Id="rId165" Type="http://schemas.openxmlformats.org/officeDocument/2006/relationships/tags" Target="../tags/tag1512.xml"/><Relationship Id="rId186" Type="http://schemas.openxmlformats.org/officeDocument/2006/relationships/tags" Target="../tags/tag1533.xml"/><Relationship Id="rId211" Type="http://schemas.openxmlformats.org/officeDocument/2006/relationships/tags" Target="../tags/tag1558.xml"/><Relationship Id="rId27" Type="http://schemas.openxmlformats.org/officeDocument/2006/relationships/tags" Target="../tags/tag1374.xml"/><Relationship Id="rId48" Type="http://schemas.openxmlformats.org/officeDocument/2006/relationships/tags" Target="../tags/tag1395.xml"/><Relationship Id="rId69" Type="http://schemas.openxmlformats.org/officeDocument/2006/relationships/tags" Target="../tags/tag1416.xml"/><Relationship Id="rId113" Type="http://schemas.openxmlformats.org/officeDocument/2006/relationships/tags" Target="../tags/tag1460.xml"/><Relationship Id="rId134" Type="http://schemas.openxmlformats.org/officeDocument/2006/relationships/tags" Target="../tags/tag1481.xml"/><Relationship Id="rId80" Type="http://schemas.openxmlformats.org/officeDocument/2006/relationships/tags" Target="../tags/tag1427.xml"/><Relationship Id="rId155" Type="http://schemas.openxmlformats.org/officeDocument/2006/relationships/tags" Target="../tags/tag1502.xml"/><Relationship Id="rId176" Type="http://schemas.openxmlformats.org/officeDocument/2006/relationships/tags" Target="../tags/tag1523.xml"/><Relationship Id="rId197" Type="http://schemas.openxmlformats.org/officeDocument/2006/relationships/tags" Target="../tags/tag1544.xml"/><Relationship Id="rId201" Type="http://schemas.openxmlformats.org/officeDocument/2006/relationships/tags" Target="../tags/tag1548.xml"/><Relationship Id="rId17" Type="http://schemas.openxmlformats.org/officeDocument/2006/relationships/tags" Target="../tags/tag1364.xml"/><Relationship Id="rId38" Type="http://schemas.openxmlformats.org/officeDocument/2006/relationships/tags" Target="../tags/tag1385.xml"/><Relationship Id="rId59" Type="http://schemas.openxmlformats.org/officeDocument/2006/relationships/tags" Target="../tags/tag1406.xml"/><Relationship Id="rId103" Type="http://schemas.openxmlformats.org/officeDocument/2006/relationships/tags" Target="../tags/tag1450.xml"/><Relationship Id="rId124" Type="http://schemas.openxmlformats.org/officeDocument/2006/relationships/tags" Target="../tags/tag1471.xml"/><Relationship Id="rId70" Type="http://schemas.openxmlformats.org/officeDocument/2006/relationships/tags" Target="../tags/tag1417.xml"/><Relationship Id="rId91" Type="http://schemas.openxmlformats.org/officeDocument/2006/relationships/tags" Target="../tags/tag1438.xml"/><Relationship Id="rId145" Type="http://schemas.openxmlformats.org/officeDocument/2006/relationships/tags" Target="../tags/tag1492.xml"/><Relationship Id="rId166" Type="http://schemas.openxmlformats.org/officeDocument/2006/relationships/tags" Target="../tags/tag1513.xml"/><Relationship Id="rId187" Type="http://schemas.openxmlformats.org/officeDocument/2006/relationships/tags" Target="../tags/tag1534.xml"/><Relationship Id="rId1" Type="http://schemas.openxmlformats.org/officeDocument/2006/relationships/tags" Target="../tags/tag1348.xml"/><Relationship Id="rId212" Type="http://schemas.openxmlformats.org/officeDocument/2006/relationships/tags" Target="../tags/tag1559.xml"/><Relationship Id="rId28" Type="http://schemas.openxmlformats.org/officeDocument/2006/relationships/tags" Target="../tags/tag1375.xml"/><Relationship Id="rId49" Type="http://schemas.openxmlformats.org/officeDocument/2006/relationships/tags" Target="../tags/tag1396.xml"/><Relationship Id="rId114" Type="http://schemas.openxmlformats.org/officeDocument/2006/relationships/tags" Target="../tags/tag1461.xml"/><Relationship Id="rId60" Type="http://schemas.openxmlformats.org/officeDocument/2006/relationships/tags" Target="../tags/tag1407.xml"/><Relationship Id="rId81" Type="http://schemas.openxmlformats.org/officeDocument/2006/relationships/tags" Target="../tags/tag1428.xml"/><Relationship Id="rId135" Type="http://schemas.openxmlformats.org/officeDocument/2006/relationships/tags" Target="../tags/tag1482.xml"/><Relationship Id="rId156" Type="http://schemas.openxmlformats.org/officeDocument/2006/relationships/tags" Target="../tags/tag1503.xml"/><Relationship Id="rId177" Type="http://schemas.openxmlformats.org/officeDocument/2006/relationships/tags" Target="../tags/tag1524.xml"/><Relationship Id="rId198" Type="http://schemas.openxmlformats.org/officeDocument/2006/relationships/tags" Target="../tags/tag1545.xml"/><Relationship Id="rId202" Type="http://schemas.openxmlformats.org/officeDocument/2006/relationships/tags" Target="../tags/tag1549.xml"/><Relationship Id="rId18" Type="http://schemas.openxmlformats.org/officeDocument/2006/relationships/tags" Target="../tags/tag1365.xml"/><Relationship Id="rId39" Type="http://schemas.openxmlformats.org/officeDocument/2006/relationships/tags" Target="../tags/tag1386.xml"/><Relationship Id="rId50" Type="http://schemas.openxmlformats.org/officeDocument/2006/relationships/tags" Target="../tags/tag1397.xml"/><Relationship Id="rId104" Type="http://schemas.openxmlformats.org/officeDocument/2006/relationships/tags" Target="../tags/tag1451.xml"/><Relationship Id="rId125" Type="http://schemas.openxmlformats.org/officeDocument/2006/relationships/tags" Target="../tags/tag1472.xml"/><Relationship Id="rId146" Type="http://schemas.openxmlformats.org/officeDocument/2006/relationships/tags" Target="../tags/tag1493.xml"/><Relationship Id="rId167" Type="http://schemas.openxmlformats.org/officeDocument/2006/relationships/tags" Target="../tags/tag1514.xml"/><Relationship Id="rId188" Type="http://schemas.openxmlformats.org/officeDocument/2006/relationships/tags" Target="../tags/tag1535.xml"/><Relationship Id="rId71" Type="http://schemas.openxmlformats.org/officeDocument/2006/relationships/tags" Target="../tags/tag1418.xml"/><Relationship Id="rId92" Type="http://schemas.openxmlformats.org/officeDocument/2006/relationships/tags" Target="../tags/tag1439.xml"/><Relationship Id="rId213" Type="http://schemas.openxmlformats.org/officeDocument/2006/relationships/tags" Target="../tags/tag1560.xml"/><Relationship Id="rId2" Type="http://schemas.openxmlformats.org/officeDocument/2006/relationships/tags" Target="../tags/tag1349.xml"/><Relationship Id="rId29" Type="http://schemas.openxmlformats.org/officeDocument/2006/relationships/tags" Target="../tags/tag1376.xml"/><Relationship Id="rId40" Type="http://schemas.openxmlformats.org/officeDocument/2006/relationships/tags" Target="../tags/tag1387.xml"/><Relationship Id="rId115" Type="http://schemas.openxmlformats.org/officeDocument/2006/relationships/tags" Target="../tags/tag1462.xml"/><Relationship Id="rId136" Type="http://schemas.openxmlformats.org/officeDocument/2006/relationships/tags" Target="../tags/tag1483.xml"/><Relationship Id="rId157" Type="http://schemas.openxmlformats.org/officeDocument/2006/relationships/tags" Target="../tags/tag1504.xml"/><Relationship Id="rId178" Type="http://schemas.openxmlformats.org/officeDocument/2006/relationships/tags" Target="../tags/tag1525.xml"/><Relationship Id="rId61" Type="http://schemas.openxmlformats.org/officeDocument/2006/relationships/tags" Target="../tags/tag1408.xml"/><Relationship Id="rId82" Type="http://schemas.openxmlformats.org/officeDocument/2006/relationships/tags" Target="../tags/tag1429.xml"/><Relationship Id="rId199" Type="http://schemas.openxmlformats.org/officeDocument/2006/relationships/tags" Target="../tags/tag1546.xml"/><Relationship Id="rId203" Type="http://schemas.openxmlformats.org/officeDocument/2006/relationships/tags" Target="../tags/tag1550.xml"/><Relationship Id="rId19" Type="http://schemas.openxmlformats.org/officeDocument/2006/relationships/tags" Target="../tags/tag1366.xml"/></Relationships>
</file>

<file path=ppt/slides/_rels/slide80.xml.rels><?xml version="1.0" encoding="UTF-8" standalone="yes"?>
<Relationships xmlns="http://schemas.openxmlformats.org/package/2006/relationships"><Relationship Id="rId3" Type="http://schemas.openxmlformats.org/officeDocument/2006/relationships/slideLayout" Target="../slideLayouts/slideLayout7.xml"/><Relationship Id="rId7" Type="http://schemas.microsoft.com/office/2007/relationships/hdphoto" Target="../media/hdphoto1.wdp"/><Relationship Id="rId2" Type="http://schemas.openxmlformats.org/officeDocument/2006/relationships/tags" Target="../tags/tag1564.xml"/><Relationship Id="rId1" Type="http://schemas.openxmlformats.org/officeDocument/2006/relationships/tags" Target="../tags/tag1563.xml"/><Relationship Id="rId6" Type="http://schemas.openxmlformats.org/officeDocument/2006/relationships/image" Target="../media/image10.png"/><Relationship Id="rId5" Type="http://schemas.openxmlformats.org/officeDocument/2006/relationships/image" Target="../media/image9.emf"/><Relationship Id="rId4" Type="http://schemas.openxmlformats.org/officeDocument/2006/relationships/oleObject" Target="../embeddings/oleObject86.bin"/></Relationships>
</file>

<file path=ppt/slides/_rels/slide81.xml.rels><?xml version="1.0" encoding="UTF-8" standalone="yes"?>
<Relationships xmlns="http://schemas.openxmlformats.org/package/2006/relationships"><Relationship Id="rId8" Type="http://schemas.openxmlformats.org/officeDocument/2006/relationships/tags" Target="../tags/tag1572.xml"/><Relationship Id="rId13" Type="http://schemas.openxmlformats.org/officeDocument/2006/relationships/tags" Target="../tags/tag1577.xml"/><Relationship Id="rId18" Type="http://schemas.openxmlformats.org/officeDocument/2006/relationships/slide" Target="slide186.xml"/><Relationship Id="rId3" Type="http://schemas.openxmlformats.org/officeDocument/2006/relationships/tags" Target="../tags/tag1567.xml"/><Relationship Id="rId7" Type="http://schemas.openxmlformats.org/officeDocument/2006/relationships/tags" Target="../tags/tag1571.xml"/><Relationship Id="rId12" Type="http://schemas.openxmlformats.org/officeDocument/2006/relationships/tags" Target="../tags/tag1576.xml"/><Relationship Id="rId17" Type="http://schemas.openxmlformats.org/officeDocument/2006/relationships/image" Target="../media/image9.emf"/><Relationship Id="rId2" Type="http://schemas.openxmlformats.org/officeDocument/2006/relationships/tags" Target="../tags/tag1566.xml"/><Relationship Id="rId16" Type="http://schemas.openxmlformats.org/officeDocument/2006/relationships/oleObject" Target="../embeddings/oleObject87.bin"/><Relationship Id="rId1" Type="http://schemas.openxmlformats.org/officeDocument/2006/relationships/tags" Target="../tags/tag1565.xml"/><Relationship Id="rId6" Type="http://schemas.openxmlformats.org/officeDocument/2006/relationships/tags" Target="../tags/tag1570.xml"/><Relationship Id="rId11" Type="http://schemas.openxmlformats.org/officeDocument/2006/relationships/tags" Target="../tags/tag1575.xml"/><Relationship Id="rId5" Type="http://schemas.openxmlformats.org/officeDocument/2006/relationships/tags" Target="../tags/tag1569.xml"/><Relationship Id="rId15" Type="http://schemas.openxmlformats.org/officeDocument/2006/relationships/slideLayout" Target="../slideLayouts/slideLayout7.xml"/><Relationship Id="rId10" Type="http://schemas.openxmlformats.org/officeDocument/2006/relationships/tags" Target="../tags/tag1574.xml"/><Relationship Id="rId19" Type="http://schemas.openxmlformats.org/officeDocument/2006/relationships/chart" Target="../charts/chart69.xml"/><Relationship Id="rId4" Type="http://schemas.openxmlformats.org/officeDocument/2006/relationships/tags" Target="../tags/tag1568.xml"/><Relationship Id="rId9" Type="http://schemas.openxmlformats.org/officeDocument/2006/relationships/tags" Target="../tags/tag1573.xml"/><Relationship Id="rId14" Type="http://schemas.openxmlformats.org/officeDocument/2006/relationships/tags" Target="../tags/tag1578.xml"/></Relationships>
</file>

<file path=ppt/slides/_rels/slide82.xml.rels><?xml version="1.0" encoding="UTF-8" standalone="yes"?>
<Relationships xmlns="http://schemas.openxmlformats.org/package/2006/relationships"><Relationship Id="rId3" Type="http://schemas.openxmlformats.org/officeDocument/2006/relationships/tags" Target="../tags/tag1581.xml"/><Relationship Id="rId2" Type="http://schemas.openxmlformats.org/officeDocument/2006/relationships/tags" Target="../tags/tag1580.xml"/><Relationship Id="rId1" Type="http://schemas.openxmlformats.org/officeDocument/2006/relationships/tags" Target="../tags/tag1579.xml"/><Relationship Id="rId6" Type="http://schemas.openxmlformats.org/officeDocument/2006/relationships/image" Target="../media/image9.emf"/><Relationship Id="rId5" Type="http://schemas.openxmlformats.org/officeDocument/2006/relationships/oleObject" Target="../embeddings/oleObject88.bin"/><Relationship Id="rId4"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tags" Target="../tags/tag1584.xml"/><Relationship Id="rId7" Type="http://schemas.openxmlformats.org/officeDocument/2006/relationships/image" Target="../media/image11.png"/><Relationship Id="rId2" Type="http://schemas.openxmlformats.org/officeDocument/2006/relationships/tags" Target="../tags/tag1583.xml"/><Relationship Id="rId1" Type="http://schemas.openxmlformats.org/officeDocument/2006/relationships/tags" Target="../tags/tag1582.xml"/><Relationship Id="rId6" Type="http://schemas.openxmlformats.org/officeDocument/2006/relationships/image" Target="../media/image9.emf"/><Relationship Id="rId5" Type="http://schemas.openxmlformats.org/officeDocument/2006/relationships/oleObject" Target="../embeddings/oleObject89.bin"/><Relationship Id="rId4" Type="http://schemas.openxmlformats.org/officeDocument/2006/relationships/slideLayout" Target="../slideLayouts/slideLayout7.xml"/></Relationships>
</file>

<file path=ppt/slides/_rels/slide84.xml.rels><?xml version="1.0" encoding="UTF-8" standalone="yes"?>
<Relationships xmlns="http://schemas.openxmlformats.org/package/2006/relationships"><Relationship Id="rId3" Type="http://schemas.openxmlformats.org/officeDocument/2006/relationships/tags" Target="../tags/tag1587.xml"/><Relationship Id="rId7" Type="http://schemas.openxmlformats.org/officeDocument/2006/relationships/image" Target="../media/image11.png"/><Relationship Id="rId2" Type="http://schemas.openxmlformats.org/officeDocument/2006/relationships/tags" Target="../tags/tag1586.xml"/><Relationship Id="rId1" Type="http://schemas.openxmlformats.org/officeDocument/2006/relationships/tags" Target="../tags/tag1585.xml"/><Relationship Id="rId6" Type="http://schemas.openxmlformats.org/officeDocument/2006/relationships/image" Target="../media/image9.emf"/><Relationship Id="rId5" Type="http://schemas.openxmlformats.org/officeDocument/2006/relationships/oleObject" Target="../embeddings/oleObject90.bin"/><Relationship Id="rId4"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3" Type="http://schemas.openxmlformats.org/officeDocument/2006/relationships/slideLayout" Target="../slideLayouts/slideLayout11.xml"/><Relationship Id="rId2" Type="http://schemas.openxmlformats.org/officeDocument/2006/relationships/tags" Target="../tags/tag1589.xml"/><Relationship Id="rId1" Type="http://schemas.openxmlformats.org/officeDocument/2006/relationships/tags" Target="../tags/tag1588.xml"/><Relationship Id="rId6" Type="http://schemas.openxmlformats.org/officeDocument/2006/relationships/image" Target="../media/image9.emf"/><Relationship Id="rId5" Type="http://schemas.openxmlformats.org/officeDocument/2006/relationships/oleObject" Target="../embeddings/oleObject91.bin"/><Relationship Id="rId4" Type="http://schemas.openxmlformats.org/officeDocument/2006/relationships/notesSlide" Target="../notesSlides/notesSlide14.xml"/></Relationships>
</file>

<file path=ppt/slides/_rels/slide86.xml.rels><?xml version="1.0" encoding="UTF-8" standalone="yes"?>
<Relationships xmlns="http://schemas.openxmlformats.org/package/2006/relationships"><Relationship Id="rId8" Type="http://schemas.openxmlformats.org/officeDocument/2006/relationships/tags" Target="../tags/tag1597.xml"/><Relationship Id="rId13" Type="http://schemas.openxmlformats.org/officeDocument/2006/relationships/tags" Target="../tags/tag1602.xml"/><Relationship Id="rId18" Type="http://schemas.openxmlformats.org/officeDocument/2006/relationships/tags" Target="../tags/tag1607.xml"/><Relationship Id="rId26" Type="http://schemas.openxmlformats.org/officeDocument/2006/relationships/chart" Target="../charts/chart70.xml"/><Relationship Id="rId3" Type="http://schemas.openxmlformats.org/officeDocument/2006/relationships/tags" Target="../tags/tag1592.xml"/><Relationship Id="rId21" Type="http://schemas.openxmlformats.org/officeDocument/2006/relationships/tags" Target="../tags/tag1610.xml"/><Relationship Id="rId7" Type="http://schemas.openxmlformats.org/officeDocument/2006/relationships/tags" Target="../tags/tag1596.xml"/><Relationship Id="rId12" Type="http://schemas.openxmlformats.org/officeDocument/2006/relationships/tags" Target="../tags/tag1601.xml"/><Relationship Id="rId17" Type="http://schemas.openxmlformats.org/officeDocument/2006/relationships/tags" Target="../tags/tag1606.xml"/><Relationship Id="rId25" Type="http://schemas.openxmlformats.org/officeDocument/2006/relationships/image" Target="../media/image9.emf"/><Relationship Id="rId2" Type="http://schemas.openxmlformats.org/officeDocument/2006/relationships/tags" Target="../tags/tag1591.xml"/><Relationship Id="rId16" Type="http://schemas.openxmlformats.org/officeDocument/2006/relationships/tags" Target="../tags/tag1605.xml"/><Relationship Id="rId20" Type="http://schemas.openxmlformats.org/officeDocument/2006/relationships/tags" Target="../tags/tag1609.xml"/><Relationship Id="rId1" Type="http://schemas.openxmlformats.org/officeDocument/2006/relationships/tags" Target="../tags/tag1590.xml"/><Relationship Id="rId6" Type="http://schemas.openxmlformats.org/officeDocument/2006/relationships/tags" Target="../tags/tag1595.xml"/><Relationship Id="rId11" Type="http://schemas.openxmlformats.org/officeDocument/2006/relationships/tags" Target="../tags/tag1600.xml"/><Relationship Id="rId24" Type="http://schemas.openxmlformats.org/officeDocument/2006/relationships/oleObject" Target="../embeddings/oleObject92.bin"/><Relationship Id="rId5" Type="http://schemas.openxmlformats.org/officeDocument/2006/relationships/tags" Target="../tags/tag1594.xml"/><Relationship Id="rId15" Type="http://schemas.openxmlformats.org/officeDocument/2006/relationships/tags" Target="../tags/tag1604.xml"/><Relationship Id="rId23" Type="http://schemas.openxmlformats.org/officeDocument/2006/relationships/slideLayout" Target="../slideLayouts/slideLayout7.xml"/><Relationship Id="rId10" Type="http://schemas.openxmlformats.org/officeDocument/2006/relationships/tags" Target="../tags/tag1599.xml"/><Relationship Id="rId19" Type="http://schemas.openxmlformats.org/officeDocument/2006/relationships/tags" Target="../tags/tag1608.xml"/><Relationship Id="rId4" Type="http://schemas.openxmlformats.org/officeDocument/2006/relationships/tags" Target="../tags/tag1593.xml"/><Relationship Id="rId9" Type="http://schemas.openxmlformats.org/officeDocument/2006/relationships/tags" Target="../tags/tag1598.xml"/><Relationship Id="rId14" Type="http://schemas.openxmlformats.org/officeDocument/2006/relationships/tags" Target="../tags/tag1603.xml"/><Relationship Id="rId22" Type="http://schemas.openxmlformats.org/officeDocument/2006/relationships/tags" Target="../tags/tag1611.xml"/><Relationship Id="rId27" Type="http://schemas.openxmlformats.org/officeDocument/2006/relationships/chart" Target="../charts/chart71.xml"/></Relationships>
</file>

<file path=ppt/slides/_rels/slide87.xml.rels><?xml version="1.0" encoding="UTF-8" standalone="yes"?>
<Relationships xmlns="http://schemas.openxmlformats.org/package/2006/relationships"><Relationship Id="rId8" Type="http://schemas.openxmlformats.org/officeDocument/2006/relationships/tags" Target="../tags/tag1619.xml"/><Relationship Id="rId13" Type="http://schemas.openxmlformats.org/officeDocument/2006/relationships/oleObject" Target="../embeddings/oleObject93.bin"/><Relationship Id="rId3" Type="http://schemas.openxmlformats.org/officeDocument/2006/relationships/tags" Target="../tags/tag1614.xml"/><Relationship Id="rId7" Type="http://schemas.openxmlformats.org/officeDocument/2006/relationships/tags" Target="../tags/tag1618.xml"/><Relationship Id="rId12" Type="http://schemas.openxmlformats.org/officeDocument/2006/relationships/slideLayout" Target="../slideLayouts/slideLayout7.xml"/><Relationship Id="rId2" Type="http://schemas.openxmlformats.org/officeDocument/2006/relationships/tags" Target="../tags/tag1613.xml"/><Relationship Id="rId1" Type="http://schemas.openxmlformats.org/officeDocument/2006/relationships/tags" Target="../tags/tag1612.xml"/><Relationship Id="rId6" Type="http://schemas.openxmlformats.org/officeDocument/2006/relationships/tags" Target="../tags/tag1617.xml"/><Relationship Id="rId11" Type="http://schemas.openxmlformats.org/officeDocument/2006/relationships/tags" Target="../tags/tag1622.xml"/><Relationship Id="rId5" Type="http://schemas.openxmlformats.org/officeDocument/2006/relationships/tags" Target="../tags/tag1616.xml"/><Relationship Id="rId15" Type="http://schemas.openxmlformats.org/officeDocument/2006/relationships/chart" Target="../charts/chart72.xml"/><Relationship Id="rId10" Type="http://schemas.openxmlformats.org/officeDocument/2006/relationships/tags" Target="../tags/tag1621.xml"/><Relationship Id="rId4" Type="http://schemas.openxmlformats.org/officeDocument/2006/relationships/tags" Target="../tags/tag1615.xml"/><Relationship Id="rId9" Type="http://schemas.openxmlformats.org/officeDocument/2006/relationships/tags" Target="../tags/tag1620.xml"/><Relationship Id="rId14" Type="http://schemas.openxmlformats.org/officeDocument/2006/relationships/image" Target="../media/image9.emf"/></Relationships>
</file>

<file path=ppt/slides/_rels/slide88.xml.rels><?xml version="1.0" encoding="UTF-8" standalone="yes"?>
<Relationships xmlns="http://schemas.openxmlformats.org/package/2006/relationships"><Relationship Id="rId8" Type="http://schemas.openxmlformats.org/officeDocument/2006/relationships/tags" Target="../tags/tag1630.xml"/><Relationship Id="rId13" Type="http://schemas.openxmlformats.org/officeDocument/2006/relationships/tags" Target="../tags/tag1635.xml"/><Relationship Id="rId18" Type="http://schemas.openxmlformats.org/officeDocument/2006/relationships/tags" Target="../tags/tag1640.xml"/><Relationship Id="rId26" Type="http://schemas.openxmlformats.org/officeDocument/2006/relationships/chart" Target="../charts/chart74.xml"/><Relationship Id="rId3" Type="http://schemas.openxmlformats.org/officeDocument/2006/relationships/tags" Target="../tags/tag1625.xml"/><Relationship Id="rId21" Type="http://schemas.openxmlformats.org/officeDocument/2006/relationships/tags" Target="../tags/tag1643.xml"/><Relationship Id="rId7" Type="http://schemas.openxmlformats.org/officeDocument/2006/relationships/tags" Target="../tags/tag1629.xml"/><Relationship Id="rId12" Type="http://schemas.openxmlformats.org/officeDocument/2006/relationships/tags" Target="../tags/tag1634.xml"/><Relationship Id="rId17" Type="http://schemas.openxmlformats.org/officeDocument/2006/relationships/tags" Target="../tags/tag1639.xml"/><Relationship Id="rId25" Type="http://schemas.openxmlformats.org/officeDocument/2006/relationships/chart" Target="../charts/chart73.xml"/><Relationship Id="rId2" Type="http://schemas.openxmlformats.org/officeDocument/2006/relationships/tags" Target="../tags/tag1624.xml"/><Relationship Id="rId16" Type="http://schemas.openxmlformats.org/officeDocument/2006/relationships/tags" Target="../tags/tag1638.xml"/><Relationship Id="rId20" Type="http://schemas.openxmlformats.org/officeDocument/2006/relationships/tags" Target="../tags/tag1642.xml"/><Relationship Id="rId1" Type="http://schemas.openxmlformats.org/officeDocument/2006/relationships/tags" Target="../tags/tag1623.xml"/><Relationship Id="rId6" Type="http://schemas.openxmlformats.org/officeDocument/2006/relationships/tags" Target="../tags/tag1628.xml"/><Relationship Id="rId11" Type="http://schemas.openxmlformats.org/officeDocument/2006/relationships/tags" Target="../tags/tag1633.xml"/><Relationship Id="rId24" Type="http://schemas.openxmlformats.org/officeDocument/2006/relationships/image" Target="../media/image9.emf"/><Relationship Id="rId5" Type="http://schemas.openxmlformats.org/officeDocument/2006/relationships/tags" Target="../tags/tag1627.xml"/><Relationship Id="rId15" Type="http://schemas.openxmlformats.org/officeDocument/2006/relationships/tags" Target="../tags/tag1637.xml"/><Relationship Id="rId23" Type="http://schemas.openxmlformats.org/officeDocument/2006/relationships/oleObject" Target="../embeddings/oleObject94.bin"/><Relationship Id="rId10" Type="http://schemas.openxmlformats.org/officeDocument/2006/relationships/tags" Target="../tags/tag1632.xml"/><Relationship Id="rId19" Type="http://schemas.openxmlformats.org/officeDocument/2006/relationships/tags" Target="../tags/tag1641.xml"/><Relationship Id="rId4" Type="http://schemas.openxmlformats.org/officeDocument/2006/relationships/tags" Target="../tags/tag1626.xml"/><Relationship Id="rId9" Type="http://schemas.openxmlformats.org/officeDocument/2006/relationships/tags" Target="../tags/tag1631.xml"/><Relationship Id="rId14" Type="http://schemas.openxmlformats.org/officeDocument/2006/relationships/tags" Target="../tags/tag1636.xml"/><Relationship Id="rId22"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tags" Target="../tags/tag1646.xml"/><Relationship Id="rId7" Type="http://schemas.openxmlformats.org/officeDocument/2006/relationships/image" Target="../media/image13.png"/><Relationship Id="rId2" Type="http://schemas.openxmlformats.org/officeDocument/2006/relationships/tags" Target="../tags/tag1645.xml"/><Relationship Id="rId1" Type="http://schemas.openxmlformats.org/officeDocument/2006/relationships/tags" Target="../tags/tag1644.xml"/><Relationship Id="rId6" Type="http://schemas.openxmlformats.org/officeDocument/2006/relationships/image" Target="../media/image9.emf"/><Relationship Id="rId5" Type="http://schemas.openxmlformats.org/officeDocument/2006/relationships/oleObject" Target="../embeddings/oleObject95.bin"/><Relationship Id="rId4"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3" Type="http://schemas.openxmlformats.org/officeDocument/2006/relationships/tags" Target="../tags/tag1649.xml"/><Relationship Id="rId7" Type="http://schemas.openxmlformats.org/officeDocument/2006/relationships/image" Target="../media/image9.emf"/><Relationship Id="rId2" Type="http://schemas.openxmlformats.org/officeDocument/2006/relationships/tags" Target="../tags/tag1648.xml"/><Relationship Id="rId1" Type="http://schemas.openxmlformats.org/officeDocument/2006/relationships/tags" Target="../tags/tag1647.xml"/><Relationship Id="rId6" Type="http://schemas.openxmlformats.org/officeDocument/2006/relationships/oleObject" Target="../embeddings/oleObject96.bin"/><Relationship Id="rId5" Type="http://schemas.openxmlformats.org/officeDocument/2006/relationships/slideLayout" Target="../slideLayouts/slideLayout7.xml"/><Relationship Id="rId4" Type="http://schemas.openxmlformats.org/officeDocument/2006/relationships/tags" Target="../tags/tag1650.xml"/></Relationships>
</file>

<file path=ppt/slides/_rels/slide91.xml.rels><?xml version="1.0" encoding="UTF-8" standalone="yes"?>
<Relationships xmlns="http://schemas.openxmlformats.org/package/2006/relationships"><Relationship Id="rId3" Type="http://schemas.openxmlformats.org/officeDocument/2006/relationships/slideLayout" Target="../slideLayouts/slideLayout7.xml"/><Relationship Id="rId7" Type="http://schemas.microsoft.com/office/2007/relationships/hdphoto" Target="../media/hdphoto1.wdp"/><Relationship Id="rId2" Type="http://schemas.openxmlformats.org/officeDocument/2006/relationships/tags" Target="../tags/tag1652.xml"/><Relationship Id="rId1" Type="http://schemas.openxmlformats.org/officeDocument/2006/relationships/tags" Target="../tags/tag1651.xml"/><Relationship Id="rId6" Type="http://schemas.openxmlformats.org/officeDocument/2006/relationships/image" Target="../media/image10.png"/><Relationship Id="rId5" Type="http://schemas.openxmlformats.org/officeDocument/2006/relationships/image" Target="../media/image9.emf"/><Relationship Id="rId4" Type="http://schemas.openxmlformats.org/officeDocument/2006/relationships/oleObject" Target="../embeddings/oleObject97.bin"/></Relationships>
</file>

<file path=ppt/slides/_rels/slide92.xml.rels><?xml version="1.0" encoding="UTF-8" standalone="yes"?>
<Relationships xmlns="http://schemas.openxmlformats.org/package/2006/relationships"><Relationship Id="rId8" Type="http://schemas.openxmlformats.org/officeDocument/2006/relationships/tags" Target="../tags/tag1660.xml"/><Relationship Id="rId13" Type="http://schemas.openxmlformats.org/officeDocument/2006/relationships/tags" Target="../tags/tag1665.xml"/><Relationship Id="rId18" Type="http://schemas.openxmlformats.org/officeDocument/2006/relationships/slideLayout" Target="../slideLayouts/slideLayout7.xml"/><Relationship Id="rId3" Type="http://schemas.openxmlformats.org/officeDocument/2006/relationships/tags" Target="../tags/tag1655.xml"/><Relationship Id="rId21" Type="http://schemas.openxmlformats.org/officeDocument/2006/relationships/image" Target="../media/image15.png"/><Relationship Id="rId7" Type="http://schemas.openxmlformats.org/officeDocument/2006/relationships/tags" Target="../tags/tag1659.xml"/><Relationship Id="rId12" Type="http://schemas.openxmlformats.org/officeDocument/2006/relationships/tags" Target="../tags/tag1664.xml"/><Relationship Id="rId17" Type="http://schemas.openxmlformats.org/officeDocument/2006/relationships/tags" Target="../tags/tag1669.xml"/><Relationship Id="rId2" Type="http://schemas.openxmlformats.org/officeDocument/2006/relationships/tags" Target="../tags/tag1654.xml"/><Relationship Id="rId16" Type="http://schemas.openxmlformats.org/officeDocument/2006/relationships/tags" Target="../tags/tag1668.xml"/><Relationship Id="rId20" Type="http://schemas.openxmlformats.org/officeDocument/2006/relationships/image" Target="../media/image9.emf"/><Relationship Id="rId1" Type="http://schemas.openxmlformats.org/officeDocument/2006/relationships/tags" Target="../tags/tag1653.xml"/><Relationship Id="rId6" Type="http://schemas.openxmlformats.org/officeDocument/2006/relationships/tags" Target="../tags/tag1658.xml"/><Relationship Id="rId11" Type="http://schemas.openxmlformats.org/officeDocument/2006/relationships/tags" Target="../tags/tag1663.xml"/><Relationship Id="rId5" Type="http://schemas.openxmlformats.org/officeDocument/2006/relationships/tags" Target="../tags/tag1657.xml"/><Relationship Id="rId15" Type="http://schemas.openxmlformats.org/officeDocument/2006/relationships/tags" Target="../tags/tag1667.xml"/><Relationship Id="rId23" Type="http://schemas.openxmlformats.org/officeDocument/2006/relationships/chart" Target="../charts/chart76.xml"/><Relationship Id="rId10" Type="http://schemas.openxmlformats.org/officeDocument/2006/relationships/tags" Target="../tags/tag1662.xml"/><Relationship Id="rId19" Type="http://schemas.openxmlformats.org/officeDocument/2006/relationships/oleObject" Target="../embeddings/oleObject98.bin"/><Relationship Id="rId4" Type="http://schemas.openxmlformats.org/officeDocument/2006/relationships/tags" Target="../tags/tag1656.xml"/><Relationship Id="rId9" Type="http://schemas.openxmlformats.org/officeDocument/2006/relationships/tags" Target="../tags/tag1661.xml"/><Relationship Id="rId14" Type="http://schemas.openxmlformats.org/officeDocument/2006/relationships/tags" Target="../tags/tag1666.xml"/><Relationship Id="rId22" Type="http://schemas.openxmlformats.org/officeDocument/2006/relationships/chart" Target="../charts/chart75.xml"/></Relationships>
</file>

<file path=ppt/slides/_rels/slide93.xml.rels><?xml version="1.0" encoding="UTF-8" standalone="yes"?>
<Relationships xmlns="http://schemas.openxmlformats.org/package/2006/relationships"><Relationship Id="rId13" Type="http://schemas.openxmlformats.org/officeDocument/2006/relationships/tags" Target="../tags/tag1682.xml"/><Relationship Id="rId18" Type="http://schemas.openxmlformats.org/officeDocument/2006/relationships/tags" Target="../tags/tag1687.xml"/><Relationship Id="rId26" Type="http://schemas.openxmlformats.org/officeDocument/2006/relationships/tags" Target="../tags/tag1695.xml"/><Relationship Id="rId39" Type="http://schemas.openxmlformats.org/officeDocument/2006/relationships/image" Target="../media/image9.emf"/><Relationship Id="rId21" Type="http://schemas.openxmlformats.org/officeDocument/2006/relationships/tags" Target="../tags/tag1690.xml"/><Relationship Id="rId34" Type="http://schemas.openxmlformats.org/officeDocument/2006/relationships/tags" Target="../tags/tag1703.xml"/><Relationship Id="rId7" Type="http://schemas.openxmlformats.org/officeDocument/2006/relationships/tags" Target="../tags/tag1676.xml"/><Relationship Id="rId2" Type="http://schemas.openxmlformats.org/officeDocument/2006/relationships/tags" Target="../tags/tag1671.xml"/><Relationship Id="rId16" Type="http://schemas.openxmlformats.org/officeDocument/2006/relationships/tags" Target="../tags/tag1685.xml"/><Relationship Id="rId20" Type="http://schemas.openxmlformats.org/officeDocument/2006/relationships/tags" Target="../tags/tag1689.xml"/><Relationship Id="rId29" Type="http://schemas.openxmlformats.org/officeDocument/2006/relationships/tags" Target="../tags/tag1698.xml"/><Relationship Id="rId41" Type="http://schemas.openxmlformats.org/officeDocument/2006/relationships/chart" Target="../charts/chart78.xml"/><Relationship Id="rId1" Type="http://schemas.openxmlformats.org/officeDocument/2006/relationships/tags" Target="../tags/tag1670.xml"/><Relationship Id="rId6" Type="http://schemas.openxmlformats.org/officeDocument/2006/relationships/tags" Target="../tags/tag1675.xml"/><Relationship Id="rId11" Type="http://schemas.openxmlformats.org/officeDocument/2006/relationships/tags" Target="../tags/tag1680.xml"/><Relationship Id="rId24" Type="http://schemas.openxmlformats.org/officeDocument/2006/relationships/tags" Target="../tags/tag1693.xml"/><Relationship Id="rId32" Type="http://schemas.openxmlformats.org/officeDocument/2006/relationships/tags" Target="../tags/tag1701.xml"/><Relationship Id="rId37" Type="http://schemas.openxmlformats.org/officeDocument/2006/relationships/slideLayout" Target="../slideLayouts/slideLayout7.xml"/><Relationship Id="rId40" Type="http://schemas.openxmlformats.org/officeDocument/2006/relationships/chart" Target="../charts/chart77.xml"/><Relationship Id="rId5" Type="http://schemas.openxmlformats.org/officeDocument/2006/relationships/tags" Target="../tags/tag1674.xml"/><Relationship Id="rId15" Type="http://schemas.openxmlformats.org/officeDocument/2006/relationships/tags" Target="../tags/tag1684.xml"/><Relationship Id="rId23" Type="http://schemas.openxmlformats.org/officeDocument/2006/relationships/tags" Target="../tags/tag1692.xml"/><Relationship Id="rId28" Type="http://schemas.openxmlformats.org/officeDocument/2006/relationships/tags" Target="../tags/tag1697.xml"/><Relationship Id="rId36" Type="http://schemas.openxmlformats.org/officeDocument/2006/relationships/tags" Target="../tags/tag1705.xml"/><Relationship Id="rId10" Type="http://schemas.openxmlformats.org/officeDocument/2006/relationships/tags" Target="../tags/tag1679.xml"/><Relationship Id="rId19" Type="http://schemas.openxmlformats.org/officeDocument/2006/relationships/tags" Target="../tags/tag1688.xml"/><Relationship Id="rId31" Type="http://schemas.openxmlformats.org/officeDocument/2006/relationships/tags" Target="../tags/tag1700.xml"/><Relationship Id="rId4" Type="http://schemas.openxmlformats.org/officeDocument/2006/relationships/tags" Target="../tags/tag1673.xml"/><Relationship Id="rId9" Type="http://schemas.openxmlformats.org/officeDocument/2006/relationships/tags" Target="../tags/tag1678.xml"/><Relationship Id="rId14" Type="http://schemas.openxmlformats.org/officeDocument/2006/relationships/tags" Target="../tags/tag1683.xml"/><Relationship Id="rId22" Type="http://schemas.openxmlformats.org/officeDocument/2006/relationships/tags" Target="../tags/tag1691.xml"/><Relationship Id="rId27" Type="http://schemas.openxmlformats.org/officeDocument/2006/relationships/tags" Target="../tags/tag1696.xml"/><Relationship Id="rId30" Type="http://schemas.openxmlformats.org/officeDocument/2006/relationships/tags" Target="../tags/tag1699.xml"/><Relationship Id="rId35" Type="http://schemas.openxmlformats.org/officeDocument/2006/relationships/tags" Target="../tags/tag1704.xml"/><Relationship Id="rId8" Type="http://schemas.openxmlformats.org/officeDocument/2006/relationships/tags" Target="../tags/tag1677.xml"/><Relationship Id="rId3" Type="http://schemas.openxmlformats.org/officeDocument/2006/relationships/tags" Target="../tags/tag1672.xml"/><Relationship Id="rId12" Type="http://schemas.openxmlformats.org/officeDocument/2006/relationships/tags" Target="../tags/tag1681.xml"/><Relationship Id="rId17" Type="http://schemas.openxmlformats.org/officeDocument/2006/relationships/tags" Target="../tags/tag1686.xml"/><Relationship Id="rId25" Type="http://schemas.openxmlformats.org/officeDocument/2006/relationships/tags" Target="../tags/tag1694.xml"/><Relationship Id="rId33" Type="http://schemas.openxmlformats.org/officeDocument/2006/relationships/tags" Target="../tags/tag1702.xml"/><Relationship Id="rId38" Type="http://schemas.openxmlformats.org/officeDocument/2006/relationships/oleObject" Target="../embeddings/oleObject99.bin"/></Relationships>
</file>

<file path=ppt/slides/_rels/slide94.xml.rels><?xml version="1.0" encoding="UTF-8" standalone="yes"?>
<Relationships xmlns="http://schemas.openxmlformats.org/package/2006/relationships"><Relationship Id="rId13" Type="http://schemas.openxmlformats.org/officeDocument/2006/relationships/tags" Target="../tags/tag1718.xml"/><Relationship Id="rId18" Type="http://schemas.openxmlformats.org/officeDocument/2006/relationships/tags" Target="../tags/tag1723.xml"/><Relationship Id="rId26" Type="http://schemas.openxmlformats.org/officeDocument/2006/relationships/tags" Target="../tags/tag1731.xml"/><Relationship Id="rId3" Type="http://schemas.openxmlformats.org/officeDocument/2006/relationships/tags" Target="../tags/tag1708.xml"/><Relationship Id="rId21" Type="http://schemas.openxmlformats.org/officeDocument/2006/relationships/tags" Target="../tags/tag1726.xml"/><Relationship Id="rId34" Type="http://schemas.openxmlformats.org/officeDocument/2006/relationships/image" Target="../media/image9.emf"/><Relationship Id="rId7" Type="http://schemas.openxmlformats.org/officeDocument/2006/relationships/tags" Target="../tags/tag1712.xml"/><Relationship Id="rId12" Type="http://schemas.openxmlformats.org/officeDocument/2006/relationships/tags" Target="../tags/tag1717.xml"/><Relationship Id="rId17" Type="http://schemas.openxmlformats.org/officeDocument/2006/relationships/tags" Target="../tags/tag1722.xml"/><Relationship Id="rId25" Type="http://schemas.openxmlformats.org/officeDocument/2006/relationships/tags" Target="../tags/tag1730.xml"/><Relationship Id="rId33" Type="http://schemas.openxmlformats.org/officeDocument/2006/relationships/oleObject" Target="../embeddings/oleObject100.bin"/><Relationship Id="rId2" Type="http://schemas.openxmlformats.org/officeDocument/2006/relationships/tags" Target="../tags/tag1707.xml"/><Relationship Id="rId16" Type="http://schemas.openxmlformats.org/officeDocument/2006/relationships/tags" Target="../tags/tag1721.xml"/><Relationship Id="rId20" Type="http://schemas.openxmlformats.org/officeDocument/2006/relationships/tags" Target="../tags/tag1725.xml"/><Relationship Id="rId29" Type="http://schemas.openxmlformats.org/officeDocument/2006/relationships/tags" Target="../tags/tag1734.xml"/><Relationship Id="rId1" Type="http://schemas.openxmlformats.org/officeDocument/2006/relationships/tags" Target="../tags/tag1706.xml"/><Relationship Id="rId6" Type="http://schemas.openxmlformats.org/officeDocument/2006/relationships/tags" Target="../tags/tag1711.xml"/><Relationship Id="rId11" Type="http://schemas.openxmlformats.org/officeDocument/2006/relationships/tags" Target="../tags/tag1716.xml"/><Relationship Id="rId24" Type="http://schemas.openxmlformats.org/officeDocument/2006/relationships/tags" Target="../tags/tag1729.xml"/><Relationship Id="rId32" Type="http://schemas.openxmlformats.org/officeDocument/2006/relationships/slideLayout" Target="../slideLayouts/slideLayout7.xml"/><Relationship Id="rId5" Type="http://schemas.openxmlformats.org/officeDocument/2006/relationships/tags" Target="../tags/tag1710.xml"/><Relationship Id="rId15" Type="http://schemas.openxmlformats.org/officeDocument/2006/relationships/tags" Target="../tags/tag1720.xml"/><Relationship Id="rId23" Type="http://schemas.openxmlformats.org/officeDocument/2006/relationships/tags" Target="../tags/tag1728.xml"/><Relationship Id="rId28" Type="http://schemas.openxmlformats.org/officeDocument/2006/relationships/tags" Target="../tags/tag1733.xml"/><Relationship Id="rId10" Type="http://schemas.openxmlformats.org/officeDocument/2006/relationships/tags" Target="../tags/tag1715.xml"/><Relationship Id="rId19" Type="http://schemas.openxmlformats.org/officeDocument/2006/relationships/tags" Target="../tags/tag1724.xml"/><Relationship Id="rId31" Type="http://schemas.openxmlformats.org/officeDocument/2006/relationships/tags" Target="../tags/tag1736.xml"/><Relationship Id="rId4" Type="http://schemas.openxmlformats.org/officeDocument/2006/relationships/tags" Target="../tags/tag1709.xml"/><Relationship Id="rId9" Type="http://schemas.openxmlformats.org/officeDocument/2006/relationships/tags" Target="../tags/tag1714.xml"/><Relationship Id="rId14" Type="http://schemas.openxmlformats.org/officeDocument/2006/relationships/tags" Target="../tags/tag1719.xml"/><Relationship Id="rId22" Type="http://schemas.openxmlformats.org/officeDocument/2006/relationships/tags" Target="../tags/tag1727.xml"/><Relationship Id="rId27" Type="http://schemas.openxmlformats.org/officeDocument/2006/relationships/tags" Target="../tags/tag1732.xml"/><Relationship Id="rId30" Type="http://schemas.openxmlformats.org/officeDocument/2006/relationships/tags" Target="../tags/tag1735.xml"/><Relationship Id="rId35" Type="http://schemas.openxmlformats.org/officeDocument/2006/relationships/chart" Target="../charts/chart79.xml"/><Relationship Id="rId8" Type="http://schemas.openxmlformats.org/officeDocument/2006/relationships/tags" Target="../tags/tag1713.xml"/></Relationships>
</file>

<file path=ppt/slides/_rels/slide95.xml.rels><?xml version="1.0" encoding="UTF-8" standalone="yes"?>
<Relationships xmlns="http://schemas.openxmlformats.org/package/2006/relationships"><Relationship Id="rId8" Type="http://schemas.openxmlformats.org/officeDocument/2006/relationships/slide" Target="slide190.xml"/><Relationship Id="rId3" Type="http://schemas.openxmlformats.org/officeDocument/2006/relationships/tags" Target="../tags/tag1739.xml"/><Relationship Id="rId7" Type="http://schemas.openxmlformats.org/officeDocument/2006/relationships/image" Target="../media/image15.png"/><Relationship Id="rId2" Type="http://schemas.openxmlformats.org/officeDocument/2006/relationships/tags" Target="../tags/tag1738.xml"/><Relationship Id="rId1" Type="http://schemas.openxmlformats.org/officeDocument/2006/relationships/tags" Target="../tags/tag1737.xml"/><Relationship Id="rId6" Type="http://schemas.openxmlformats.org/officeDocument/2006/relationships/image" Target="../media/image9.emf"/><Relationship Id="rId5" Type="http://schemas.openxmlformats.org/officeDocument/2006/relationships/oleObject" Target="../embeddings/oleObject101.bin"/><Relationship Id="rId4"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3" Type="http://schemas.openxmlformats.org/officeDocument/2006/relationships/slideLayout" Target="../slideLayouts/slideLayout11.xml"/><Relationship Id="rId2" Type="http://schemas.openxmlformats.org/officeDocument/2006/relationships/tags" Target="../tags/tag1741.xml"/><Relationship Id="rId1" Type="http://schemas.openxmlformats.org/officeDocument/2006/relationships/tags" Target="../tags/tag1740.xml"/><Relationship Id="rId6" Type="http://schemas.openxmlformats.org/officeDocument/2006/relationships/image" Target="../media/image9.emf"/><Relationship Id="rId5" Type="http://schemas.openxmlformats.org/officeDocument/2006/relationships/oleObject" Target="../embeddings/oleObject102.bin"/><Relationship Id="rId4" Type="http://schemas.openxmlformats.org/officeDocument/2006/relationships/notesSlide" Target="../notesSlides/notesSlide15.xml"/></Relationships>
</file>

<file path=ppt/slides/_rels/slide97.xml.rels><?xml version="1.0" encoding="UTF-8" standalone="yes"?>
<Relationships xmlns="http://schemas.openxmlformats.org/package/2006/relationships"><Relationship Id="rId8" Type="http://schemas.openxmlformats.org/officeDocument/2006/relationships/image" Target="../media/image17.png"/><Relationship Id="rId3" Type="http://schemas.openxmlformats.org/officeDocument/2006/relationships/tags" Target="../tags/tag1744.xml"/><Relationship Id="rId7" Type="http://schemas.openxmlformats.org/officeDocument/2006/relationships/image" Target="../media/image16.png"/><Relationship Id="rId2" Type="http://schemas.openxmlformats.org/officeDocument/2006/relationships/tags" Target="../tags/tag1743.xml"/><Relationship Id="rId1" Type="http://schemas.openxmlformats.org/officeDocument/2006/relationships/tags" Target="../tags/tag1742.xml"/><Relationship Id="rId6" Type="http://schemas.openxmlformats.org/officeDocument/2006/relationships/image" Target="../media/image9.emf"/><Relationship Id="rId5" Type="http://schemas.openxmlformats.org/officeDocument/2006/relationships/oleObject" Target="../embeddings/oleObject103.bin"/><Relationship Id="rId4"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3" Type="http://schemas.openxmlformats.org/officeDocument/2006/relationships/tags" Target="../tags/tag1747.xml"/><Relationship Id="rId7" Type="http://schemas.openxmlformats.org/officeDocument/2006/relationships/image" Target="../media/image18.png"/><Relationship Id="rId2" Type="http://schemas.openxmlformats.org/officeDocument/2006/relationships/tags" Target="../tags/tag1746.xml"/><Relationship Id="rId1" Type="http://schemas.openxmlformats.org/officeDocument/2006/relationships/tags" Target="../tags/tag1745.xml"/><Relationship Id="rId6" Type="http://schemas.openxmlformats.org/officeDocument/2006/relationships/image" Target="../media/image9.emf"/><Relationship Id="rId5" Type="http://schemas.openxmlformats.org/officeDocument/2006/relationships/oleObject" Target="../embeddings/oleObject104.bin"/><Relationship Id="rId4"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3" Type="http://schemas.openxmlformats.org/officeDocument/2006/relationships/tags" Target="../tags/tag1750.xml"/><Relationship Id="rId7" Type="http://schemas.openxmlformats.org/officeDocument/2006/relationships/image" Target="../media/image18.png"/><Relationship Id="rId2" Type="http://schemas.openxmlformats.org/officeDocument/2006/relationships/tags" Target="../tags/tag1749.xml"/><Relationship Id="rId1" Type="http://schemas.openxmlformats.org/officeDocument/2006/relationships/tags" Target="../tags/tag1748.xml"/><Relationship Id="rId6" Type="http://schemas.openxmlformats.org/officeDocument/2006/relationships/image" Target="../media/image9.emf"/><Relationship Id="rId5" Type="http://schemas.openxmlformats.org/officeDocument/2006/relationships/oleObject" Target="../embeddings/oleObject105.bin"/><Relationship Id="rId4"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8" Type="http://schemas.openxmlformats.org/officeDocument/2006/relationships/image" Target="../media/image17.png"/><Relationship Id="rId3" Type="http://schemas.openxmlformats.org/officeDocument/2006/relationships/tags" Target="../tags/tag1753.xml"/><Relationship Id="rId7" Type="http://schemas.openxmlformats.org/officeDocument/2006/relationships/image" Target="../media/image16.png"/><Relationship Id="rId2" Type="http://schemas.openxmlformats.org/officeDocument/2006/relationships/tags" Target="../tags/tag1752.xml"/><Relationship Id="rId1" Type="http://schemas.openxmlformats.org/officeDocument/2006/relationships/tags" Target="../tags/tag1751.xml"/><Relationship Id="rId6" Type="http://schemas.openxmlformats.org/officeDocument/2006/relationships/image" Target="../media/image9.emf"/><Relationship Id="rId5" Type="http://schemas.openxmlformats.org/officeDocument/2006/relationships/oleObject" Target="../embeddings/oleObject106.bin"/><Relationship Id="rId4"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3" Type="http://schemas.openxmlformats.org/officeDocument/2006/relationships/slideLayout" Target="../slideLayouts/slideLayout7.xml"/><Relationship Id="rId7" Type="http://schemas.microsoft.com/office/2007/relationships/hdphoto" Target="../media/hdphoto1.wdp"/><Relationship Id="rId2" Type="http://schemas.openxmlformats.org/officeDocument/2006/relationships/tags" Target="../tags/tag1755.xml"/><Relationship Id="rId1" Type="http://schemas.openxmlformats.org/officeDocument/2006/relationships/tags" Target="../tags/tag1754.xml"/><Relationship Id="rId6" Type="http://schemas.openxmlformats.org/officeDocument/2006/relationships/image" Target="../media/image10.png"/><Relationship Id="rId5" Type="http://schemas.openxmlformats.org/officeDocument/2006/relationships/image" Target="../media/image9.emf"/><Relationship Id="rId4" Type="http://schemas.openxmlformats.org/officeDocument/2006/relationships/oleObject" Target="../embeddings/oleObject107.bin"/></Relationships>
</file>

<file path=ppt/slides/_rels/slide102.xml.rels><?xml version="1.0" encoding="UTF-8" standalone="yes"?>
<Relationships xmlns="http://schemas.openxmlformats.org/package/2006/relationships"><Relationship Id="rId3" Type="http://schemas.openxmlformats.org/officeDocument/2006/relationships/tags" Target="../tags/tag1758.xml"/><Relationship Id="rId7" Type="http://schemas.openxmlformats.org/officeDocument/2006/relationships/image" Target="../media/image9.emf"/><Relationship Id="rId2" Type="http://schemas.openxmlformats.org/officeDocument/2006/relationships/tags" Target="../tags/tag1757.xml"/><Relationship Id="rId1" Type="http://schemas.openxmlformats.org/officeDocument/2006/relationships/tags" Target="../tags/tag1756.xml"/><Relationship Id="rId6" Type="http://schemas.openxmlformats.org/officeDocument/2006/relationships/oleObject" Target="../embeddings/oleObject108.bin"/><Relationship Id="rId11" Type="http://schemas.openxmlformats.org/officeDocument/2006/relationships/chart" Target="../charts/chart80.xml"/><Relationship Id="rId5" Type="http://schemas.openxmlformats.org/officeDocument/2006/relationships/slideLayout" Target="../slideLayouts/slideLayout7.xml"/><Relationship Id="rId10" Type="http://schemas.openxmlformats.org/officeDocument/2006/relationships/image" Target="../media/image19.png"/><Relationship Id="rId4" Type="http://schemas.openxmlformats.org/officeDocument/2006/relationships/tags" Target="../tags/tag1759.xml"/><Relationship Id="rId9" Type="http://schemas.openxmlformats.org/officeDocument/2006/relationships/tags" Target="../tags/tag17590.xml"/></Relationships>
</file>

<file path=ppt/slides/_rels/slide103.xml.rels><?xml version="1.0" encoding="UTF-8" standalone="yes"?>
<Relationships xmlns="http://schemas.openxmlformats.org/package/2006/relationships"><Relationship Id="rId8" Type="http://schemas.openxmlformats.org/officeDocument/2006/relationships/chart" Target="../charts/chart81.xml"/><Relationship Id="rId3" Type="http://schemas.openxmlformats.org/officeDocument/2006/relationships/tags" Target="../tags/tag1762.xml"/><Relationship Id="rId7" Type="http://schemas.openxmlformats.org/officeDocument/2006/relationships/image" Target="../media/image9.emf"/><Relationship Id="rId2" Type="http://schemas.openxmlformats.org/officeDocument/2006/relationships/tags" Target="../tags/tag1761.xml"/><Relationship Id="rId1" Type="http://schemas.openxmlformats.org/officeDocument/2006/relationships/tags" Target="../tags/tag1760.xml"/><Relationship Id="rId6" Type="http://schemas.openxmlformats.org/officeDocument/2006/relationships/oleObject" Target="../embeddings/oleObject109.bin"/><Relationship Id="rId5" Type="http://schemas.openxmlformats.org/officeDocument/2006/relationships/slideLayout" Target="../slideLayouts/slideLayout7.xml"/><Relationship Id="rId10" Type="http://schemas.openxmlformats.org/officeDocument/2006/relationships/hyperlink" Target="https://www.eia.gov/analysis" TargetMode="External"/><Relationship Id="rId4" Type="http://schemas.openxmlformats.org/officeDocument/2006/relationships/tags" Target="../tags/tag1763.xml"/><Relationship Id="rId9" Type="http://schemas.openxmlformats.org/officeDocument/2006/relationships/chart" Target="../charts/chart82.xml"/></Relationships>
</file>

<file path=ppt/slides/_rels/slide104.xml.rels><?xml version="1.0" encoding="UTF-8" standalone="yes"?>
<Relationships xmlns="http://schemas.openxmlformats.org/package/2006/relationships"><Relationship Id="rId8" Type="http://schemas.openxmlformats.org/officeDocument/2006/relationships/chart" Target="../charts/chart83.xml"/><Relationship Id="rId3" Type="http://schemas.openxmlformats.org/officeDocument/2006/relationships/tags" Target="../tags/tag1766.xml"/><Relationship Id="rId7" Type="http://schemas.openxmlformats.org/officeDocument/2006/relationships/image" Target="../media/image9.emf"/><Relationship Id="rId2" Type="http://schemas.openxmlformats.org/officeDocument/2006/relationships/tags" Target="../tags/tag1765.xml"/><Relationship Id="rId1" Type="http://schemas.openxmlformats.org/officeDocument/2006/relationships/tags" Target="../tags/tag1764.xml"/><Relationship Id="rId6" Type="http://schemas.openxmlformats.org/officeDocument/2006/relationships/oleObject" Target="../embeddings/oleObject110.bin"/><Relationship Id="rId5" Type="http://schemas.openxmlformats.org/officeDocument/2006/relationships/slideLayout" Target="../slideLayouts/slideLayout7.xml"/><Relationship Id="rId4" Type="http://schemas.openxmlformats.org/officeDocument/2006/relationships/tags" Target="../tags/tag1767.xml"/><Relationship Id="rId9" Type="http://schemas.openxmlformats.org/officeDocument/2006/relationships/chart" Target="../charts/chart84.xml"/></Relationships>
</file>

<file path=ppt/slides/_rels/slide105.xml.rels><?xml version="1.0" encoding="UTF-8" standalone="yes"?>
<Relationships xmlns="http://schemas.openxmlformats.org/package/2006/relationships"><Relationship Id="rId13" Type="http://schemas.openxmlformats.org/officeDocument/2006/relationships/tags" Target="../tags/tag1780.xml"/><Relationship Id="rId18" Type="http://schemas.openxmlformats.org/officeDocument/2006/relationships/tags" Target="../tags/tag1785.xml"/><Relationship Id="rId26" Type="http://schemas.openxmlformats.org/officeDocument/2006/relationships/tags" Target="../tags/tag1793.xml"/><Relationship Id="rId21" Type="http://schemas.openxmlformats.org/officeDocument/2006/relationships/tags" Target="../tags/tag1788.xml"/><Relationship Id="rId34" Type="http://schemas.openxmlformats.org/officeDocument/2006/relationships/slideLayout" Target="../slideLayouts/slideLayout7.xml"/><Relationship Id="rId7" Type="http://schemas.openxmlformats.org/officeDocument/2006/relationships/tags" Target="../tags/tag1774.xml"/><Relationship Id="rId12" Type="http://schemas.openxmlformats.org/officeDocument/2006/relationships/tags" Target="../tags/tag1779.xml"/><Relationship Id="rId17" Type="http://schemas.openxmlformats.org/officeDocument/2006/relationships/tags" Target="../tags/tag1784.xml"/><Relationship Id="rId25" Type="http://schemas.openxmlformats.org/officeDocument/2006/relationships/tags" Target="../tags/tag1792.xml"/><Relationship Id="rId33" Type="http://schemas.openxmlformats.org/officeDocument/2006/relationships/tags" Target="../tags/tag1800.xml"/><Relationship Id="rId2" Type="http://schemas.openxmlformats.org/officeDocument/2006/relationships/tags" Target="../tags/tag1769.xml"/><Relationship Id="rId16" Type="http://schemas.openxmlformats.org/officeDocument/2006/relationships/tags" Target="../tags/tag1783.xml"/><Relationship Id="rId20" Type="http://schemas.openxmlformats.org/officeDocument/2006/relationships/tags" Target="../tags/tag1787.xml"/><Relationship Id="rId29" Type="http://schemas.openxmlformats.org/officeDocument/2006/relationships/tags" Target="../tags/tag1796.xml"/><Relationship Id="rId1" Type="http://schemas.openxmlformats.org/officeDocument/2006/relationships/tags" Target="../tags/tag1768.xml"/><Relationship Id="rId6" Type="http://schemas.openxmlformats.org/officeDocument/2006/relationships/tags" Target="../tags/tag1773.xml"/><Relationship Id="rId11" Type="http://schemas.openxmlformats.org/officeDocument/2006/relationships/tags" Target="../tags/tag1778.xml"/><Relationship Id="rId24" Type="http://schemas.openxmlformats.org/officeDocument/2006/relationships/tags" Target="../tags/tag1791.xml"/><Relationship Id="rId32" Type="http://schemas.openxmlformats.org/officeDocument/2006/relationships/tags" Target="../tags/tag1799.xml"/><Relationship Id="rId37" Type="http://schemas.openxmlformats.org/officeDocument/2006/relationships/chart" Target="../charts/chart85.xml"/><Relationship Id="rId5" Type="http://schemas.openxmlformats.org/officeDocument/2006/relationships/tags" Target="../tags/tag1772.xml"/><Relationship Id="rId15" Type="http://schemas.openxmlformats.org/officeDocument/2006/relationships/tags" Target="../tags/tag1782.xml"/><Relationship Id="rId23" Type="http://schemas.openxmlformats.org/officeDocument/2006/relationships/tags" Target="../tags/tag1790.xml"/><Relationship Id="rId28" Type="http://schemas.openxmlformats.org/officeDocument/2006/relationships/tags" Target="../tags/tag1795.xml"/><Relationship Id="rId36" Type="http://schemas.openxmlformats.org/officeDocument/2006/relationships/image" Target="../media/image9.emf"/><Relationship Id="rId10" Type="http://schemas.openxmlformats.org/officeDocument/2006/relationships/tags" Target="../tags/tag1777.xml"/><Relationship Id="rId19" Type="http://schemas.openxmlformats.org/officeDocument/2006/relationships/tags" Target="../tags/tag1786.xml"/><Relationship Id="rId31" Type="http://schemas.openxmlformats.org/officeDocument/2006/relationships/tags" Target="../tags/tag1798.xml"/><Relationship Id="rId4" Type="http://schemas.openxmlformats.org/officeDocument/2006/relationships/tags" Target="../tags/tag1771.xml"/><Relationship Id="rId9" Type="http://schemas.openxmlformats.org/officeDocument/2006/relationships/tags" Target="../tags/tag1776.xml"/><Relationship Id="rId14" Type="http://schemas.openxmlformats.org/officeDocument/2006/relationships/tags" Target="../tags/tag1781.xml"/><Relationship Id="rId22" Type="http://schemas.openxmlformats.org/officeDocument/2006/relationships/tags" Target="../tags/tag1789.xml"/><Relationship Id="rId27" Type="http://schemas.openxmlformats.org/officeDocument/2006/relationships/tags" Target="../tags/tag1794.xml"/><Relationship Id="rId30" Type="http://schemas.openxmlformats.org/officeDocument/2006/relationships/tags" Target="../tags/tag1797.xml"/><Relationship Id="rId35" Type="http://schemas.openxmlformats.org/officeDocument/2006/relationships/oleObject" Target="../embeddings/oleObject111.bin"/><Relationship Id="rId8" Type="http://schemas.openxmlformats.org/officeDocument/2006/relationships/tags" Target="../tags/tag1775.xml"/><Relationship Id="rId3" Type="http://schemas.openxmlformats.org/officeDocument/2006/relationships/tags" Target="../tags/tag1770.xml"/></Relationships>
</file>

<file path=ppt/slides/_rels/slide106.xml.rels><?xml version="1.0" encoding="UTF-8" standalone="yes"?>
<Relationships xmlns="http://schemas.openxmlformats.org/package/2006/relationships"><Relationship Id="rId8" Type="http://schemas.openxmlformats.org/officeDocument/2006/relationships/chart" Target="../charts/chart86.xml"/><Relationship Id="rId3" Type="http://schemas.openxmlformats.org/officeDocument/2006/relationships/tags" Target="../tags/tag1803.xml"/><Relationship Id="rId7" Type="http://schemas.openxmlformats.org/officeDocument/2006/relationships/image" Target="../media/image9.emf"/><Relationship Id="rId2" Type="http://schemas.openxmlformats.org/officeDocument/2006/relationships/tags" Target="../tags/tag1802.xml"/><Relationship Id="rId1" Type="http://schemas.openxmlformats.org/officeDocument/2006/relationships/tags" Target="../tags/tag1801.xml"/><Relationship Id="rId6" Type="http://schemas.openxmlformats.org/officeDocument/2006/relationships/oleObject" Target="../embeddings/oleObject112.bin"/><Relationship Id="rId5" Type="http://schemas.openxmlformats.org/officeDocument/2006/relationships/slideLayout" Target="../slideLayouts/slideLayout7.xml"/><Relationship Id="rId4" Type="http://schemas.openxmlformats.org/officeDocument/2006/relationships/tags" Target="../tags/tag1804.xml"/></Relationships>
</file>

<file path=ppt/slides/_rels/slide107.xml.rels><?xml version="1.0" encoding="UTF-8" standalone="yes"?>
<Relationships xmlns="http://schemas.openxmlformats.org/package/2006/relationships"><Relationship Id="rId3" Type="http://schemas.openxmlformats.org/officeDocument/2006/relationships/slideLayout" Target="../slideLayouts/slideLayout7.xml"/><Relationship Id="rId7" Type="http://schemas.microsoft.com/office/2007/relationships/hdphoto" Target="../media/hdphoto1.wdp"/><Relationship Id="rId2" Type="http://schemas.openxmlformats.org/officeDocument/2006/relationships/tags" Target="../tags/tag1806.xml"/><Relationship Id="rId1" Type="http://schemas.openxmlformats.org/officeDocument/2006/relationships/tags" Target="../tags/tag1805.xml"/><Relationship Id="rId6" Type="http://schemas.openxmlformats.org/officeDocument/2006/relationships/image" Target="../media/image10.png"/><Relationship Id="rId5" Type="http://schemas.openxmlformats.org/officeDocument/2006/relationships/image" Target="../media/image9.emf"/><Relationship Id="rId4" Type="http://schemas.openxmlformats.org/officeDocument/2006/relationships/oleObject" Target="../embeddings/oleObject113.bin"/></Relationships>
</file>

<file path=ppt/slides/_rels/slide108.xml.rels><?xml version="1.0" encoding="UTF-8" standalone="yes"?>
<Relationships xmlns="http://schemas.openxmlformats.org/package/2006/relationships"><Relationship Id="rId13" Type="http://schemas.openxmlformats.org/officeDocument/2006/relationships/tags" Target="../tags/tag1819.xml"/><Relationship Id="rId18" Type="http://schemas.openxmlformats.org/officeDocument/2006/relationships/tags" Target="../tags/tag1824.xml"/><Relationship Id="rId26" Type="http://schemas.openxmlformats.org/officeDocument/2006/relationships/tags" Target="../tags/tag1832.xml"/><Relationship Id="rId39" Type="http://schemas.openxmlformats.org/officeDocument/2006/relationships/image" Target="../media/image9.emf"/><Relationship Id="rId21" Type="http://schemas.openxmlformats.org/officeDocument/2006/relationships/tags" Target="../tags/tag1827.xml"/><Relationship Id="rId34" Type="http://schemas.openxmlformats.org/officeDocument/2006/relationships/tags" Target="../tags/tag1840.xml"/><Relationship Id="rId7" Type="http://schemas.openxmlformats.org/officeDocument/2006/relationships/tags" Target="../tags/tag1813.xml"/><Relationship Id="rId2" Type="http://schemas.openxmlformats.org/officeDocument/2006/relationships/tags" Target="../tags/tag1808.xml"/><Relationship Id="rId16" Type="http://schemas.openxmlformats.org/officeDocument/2006/relationships/tags" Target="../tags/tag1822.xml"/><Relationship Id="rId20" Type="http://schemas.openxmlformats.org/officeDocument/2006/relationships/tags" Target="../tags/tag1826.xml"/><Relationship Id="rId29" Type="http://schemas.openxmlformats.org/officeDocument/2006/relationships/tags" Target="../tags/tag1835.xml"/><Relationship Id="rId41" Type="http://schemas.openxmlformats.org/officeDocument/2006/relationships/chart" Target="../charts/chart88.xml"/><Relationship Id="rId1" Type="http://schemas.openxmlformats.org/officeDocument/2006/relationships/tags" Target="../tags/tag1807.xml"/><Relationship Id="rId6" Type="http://schemas.openxmlformats.org/officeDocument/2006/relationships/tags" Target="../tags/tag1812.xml"/><Relationship Id="rId11" Type="http://schemas.openxmlformats.org/officeDocument/2006/relationships/tags" Target="../tags/tag1817.xml"/><Relationship Id="rId24" Type="http://schemas.openxmlformats.org/officeDocument/2006/relationships/tags" Target="../tags/tag1830.xml"/><Relationship Id="rId32" Type="http://schemas.openxmlformats.org/officeDocument/2006/relationships/tags" Target="../tags/tag1838.xml"/><Relationship Id="rId37" Type="http://schemas.openxmlformats.org/officeDocument/2006/relationships/slideLayout" Target="../slideLayouts/slideLayout7.xml"/><Relationship Id="rId40" Type="http://schemas.openxmlformats.org/officeDocument/2006/relationships/chart" Target="../charts/chart87.xml"/><Relationship Id="rId5" Type="http://schemas.openxmlformats.org/officeDocument/2006/relationships/tags" Target="../tags/tag1811.xml"/><Relationship Id="rId15" Type="http://schemas.openxmlformats.org/officeDocument/2006/relationships/tags" Target="../tags/tag1821.xml"/><Relationship Id="rId23" Type="http://schemas.openxmlformats.org/officeDocument/2006/relationships/tags" Target="../tags/tag1829.xml"/><Relationship Id="rId28" Type="http://schemas.openxmlformats.org/officeDocument/2006/relationships/tags" Target="../tags/tag1834.xml"/><Relationship Id="rId36" Type="http://schemas.openxmlformats.org/officeDocument/2006/relationships/tags" Target="../tags/tag1842.xml"/><Relationship Id="rId10" Type="http://schemas.openxmlformats.org/officeDocument/2006/relationships/tags" Target="../tags/tag1816.xml"/><Relationship Id="rId19" Type="http://schemas.openxmlformats.org/officeDocument/2006/relationships/tags" Target="../tags/tag1825.xml"/><Relationship Id="rId31" Type="http://schemas.openxmlformats.org/officeDocument/2006/relationships/tags" Target="../tags/tag1837.xml"/><Relationship Id="rId4" Type="http://schemas.openxmlformats.org/officeDocument/2006/relationships/tags" Target="../tags/tag1810.xml"/><Relationship Id="rId9" Type="http://schemas.openxmlformats.org/officeDocument/2006/relationships/tags" Target="../tags/tag1815.xml"/><Relationship Id="rId14" Type="http://schemas.openxmlformats.org/officeDocument/2006/relationships/tags" Target="../tags/tag1820.xml"/><Relationship Id="rId22" Type="http://schemas.openxmlformats.org/officeDocument/2006/relationships/tags" Target="../tags/tag1828.xml"/><Relationship Id="rId27" Type="http://schemas.openxmlformats.org/officeDocument/2006/relationships/tags" Target="../tags/tag1833.xml"/><Relationship Id="rId30" Type="http://schemas.openxmlformats.org/officeDocument/2006/relationships/tags" Target="../tags/tag1836.xml"/><Relationship Id="rId35" Type="http://schemas.openxmlformats.org/officeDocument/2006/relationships/tags" Target="../tags/tag1841.xml"/><Relationship Id="rId8" Type="http://schemas.openxmlformats.org/officeDocument/2006/relationships/tags" Target="../tags/tag1814.xml"/><Relationship Id="rId3" Type="http://schemas.openxmlformats.org/officeDocument/2006/relationships/tags" Target="../tags/tag1809.xml"/><Relationship Id="rId12" Type="http://schemas.openxmlformats.org/officeDocument/2006/relationships/tags" Target="../tags/tag1818.xml"/><Relationship Id="rId17" Type="http://schemas.openxmlformats.org/officeDocument/2006/relationships/tags" Target="../tags/tag1823.xml"/><Relationship Id="rId25" Type="http://schemas.openxmlformats.org/officeDocument/2006/relationships/tags" Target="../tags/tag1831.xml"/><Relationship Id="rId33" Type="http://schemas.openxmlformats.org/officeDocument/2006/relationships/tags" Target="../tags/tag1839.xml"/><Relationship Id="rId38" Type="http://schemas.openxmlformats.org/officeDocument/2006/relationships/oleObject" Target="../embeddings/oleObject114.bin"/></Relationships>
</file>

<file path=ppt/slides/_rels/slide109.xml.rels><?xml version="1.0" encoding="UTF-8" standalone="yes"?>
<Relationships xmlns="http://schemas.openxmlformats.org/package/2006/relationships"><Relationship Id="rId13" Type="http://schemas.openxmlformats.org/officeDocument/2006/relationships/tags" Target="../tags/tag1855.xml"/><Relationship Id="rId18" Type="http://schemas.openxmlformats.org/officeDocument/2006/relationships/tags" Target="../tags/tag1860.xml"/><Relationship Id="rId26" Type="http://schemas.openxmlformats.org/officeDocument/2006/relationships/tags" Target="../tags/tag1868.xml"/><Relationship Id="rId39" Type="http://schemas.openxmlformats.org/officeDocument/2006/relationships/tags" Target="../tags/tag1881.xml"/><Relationship Id="rId21" Type="http://schemas.openxmlformats.org/officeDocument/2006/relationships/tags" Target="../tags/tag1863.xml"/><Relationship Id="rId34" Type="http://schemas.openxmlformats.org/officeDocument/2006/relationships/tags" Target="../tags/tag1876.xml"/><Relationship Id="rId42" Type="http://schemas.openxmlformats.org/officeDocument/2006/relationships/tags" Target="../tags/tag1884.xml"/><Relationship Id="rId47" Type="http://schemas.openxmlformats.org/officeDocument/2006/relationships/tags" Target="../tags/tag1889.xml"/><Relationship Id="rId50" Type="http://schemas.openxmlformats.org/officeDocument/2006/relationships/image" Target="../media/image9.emf"/><Relationship Id="rId7" Type="http://schemas.openxmlformats.org/officeDocument/2006/relationships/tags" Target="../tags/tag1849.xml"/><Relationship Id="rId2" Type="http://schemas.openxmlformats.org/officeDocument/2006/relationships/tags" Target="../tags/tag1844.xml"/><Relationship Id="rId16" Type="http://schemas.openxmlformats.org/officeDocument/2006/relationships/tags" Target="../tags/tag1858.xml"/><Relationship Id="rId29" Type="http://schemas.openxmlformats.org/officeDocument/2006/relationships/tags" Target="../tags/tag1871.xml"/><Relationship Id="rId11" Type="http://schemas.openxmlformats.org/officeDocument/2006/relationships/tags" Target="../tags/tag1853.xml"/><Relationship Id="rId24" Type="http://schemas.openxmlformats.org/officeDocument/2006/relationships/tags" Target="../tags/tag1866.xml"/><Relationship Id="rId32" Type="http://schemas.openxmlformats.org/officeDocument/2006/relationships/tags" Target="../tags/tag1874.xml"/><Relationship Id="rId37" Type="http://schemas.openxmlformats.org/officeDocument/2006/relationships/tags" Target="../tags/tag1879.xml"/><Relationship Id="rId40" Type="http://schemas.openxmlformats.org/officeDocument/2006/relationships/tags" Target="../tags/tag1882.xml"/><Relationship Id="rId45" Type="http://schemas.openxmlformats.org/officeDocument/2006/relationships/tags" Target="../tags/tag1887.xml"/><Relationship Id="rId5" Type="http://schemas.openxmlformats.org/officeDocument/2006/relationships/tags" Target="../tags/tag1847.xml"/><Relationship Id="rId15" Type="http://schemas.openxmlformats.org/officeDocument/2006/relationships/tags" Target="../tags/tag1857.xml"/><Relationship Id="rId23" Type="http://schemas.openxmlformats.org/officeDocument/2006/relationships/tags" Target="../tags/tag1865.xml"/><Relationship Id="rId28" Type="http://schemas.openxmlformats.org/officeDocument/2006/relationships/tags" Target="../tags/tag1870.xml"/><Relationship Id="rId36" Type="http://schemas.openxmlformats.org/officeDocument/2006/relationships/tags" Target="../tags/tag1878.xml"/><Relationship Id="rId49" Type="http://schemas.openxmlformats.org/officeDocument/2006/relationships/oleObject" Target="../embeddings/oleObject115.bin"/><Relationship Id="rId10" Type="http://schemas.openxmlformats.org/officeDocument/2006/relationships/tags" Target="../tags/tag1852.xml"/><Relationship Id="rId19" Type="http://schemas.openxmlformats.org/officeDocument/2006/relationships/tags" Target="../tags/tag1861.xml"/><Relationship Id="rId31" Type="http://schemas.openxmlformats.org/officeDocument/2006/relationships/tags" Target="../tags/tag1873.xml"/><Relationship Id="rId44" Type="http://schemas.openxmlformats.org/officeDocument/2006/relationships/tags" Target="../tags/tag1886.xml"/><Relationship Id="rId52" Type="http://schemas.openxmlformats.org/officeDocument/2006/relationships/chart" Target="../charts/chart90.xml"/><Relationship Id="rId4" Type="http://schemas.openxmlformats.org/officeDocument/2006/relationships/tags" Target="../tags/tag1846.xml"/><Relationship Id="rId9" Type="http://schemas.openxmlformats.org/officeDocument/2006/relationships/tags" Target="../tags/tag1851.xml"/><Relationship Id="rId14" Type="http://schemas.openxmlformats.org/officeDocument/2006/relationships/tags" Target="../tags/tag1856.xml"/><Relationship Id="rId22" Type="http://schemas.openxmlformats.org/officeDocument/2006/relationships/tags" Target="../tags/tag1864.xml"/><Relationship Id="rId27" Type="http://schemas.openxmlformats.org/officeDocument/2006/relationships/tags" Target="../tags/tag1869.xml"/><Relationship Id="rId30" Type="http://schemas.openxmlformats.org/officeDocument/2006/relationships/tags" Target="../tags/tag1872.xml"/><Relationship Id="rId35" Type="http://schemas.openxmlformats.org/officeDocument/2006/relationships/tags" Target="../tags/tag1877.xml"/><Relationship Id="rId43" Type="http://schemas.openxmlformats.org/officeDocument/2006/relationships/tags" Target="../tags/tag1885.xml"/><Relationship Id="rId48" Type="http://schemas.openxmlformats.org/officeDocument/2006/relationships/slideLayout" Target="../slideLayouts/slideLayout7.xml"/><Relationship Id="rId8" Type="http://schemas.openxmlformats.org/officeDocument/2006/relationships/tags" Target="../tags/tag1850.xml"/><Relationship Id="rId51" Type="http://schemas.openxmlformats.org/officeDocument/2006/relationships/chart" Target="../charts/chart89.xml"/><Relationship Id="rId3" Type="http://schemas.openxmlformats.org/officeDocument/2006/relationships/tags" Target="../tags/tag1845.xml"/><Relationship Id="rId12" Type="http://schemas.openxmlformats.org/officeDocument/2006/relationships/tags" Target="../tags/tag1854.xml"/><Relationship Id="rId17" Type="http://schemas.openxmlformats.org/officeDocument/2006/relationships/tags" Target="../tags/tag1859.xml"/><Relationship Id="rId25" Type="http://schemas.openxmlformats.org/officeDocument/2006/relationships/tags" Target="../tags/tag1867.xml"/><Relationship Id="rId33" Type="http://schemas.openxmlformats.org/officeDocument/2006/relationships/tags" Target="../tags/tag1875.xml"/><Relationship Id="rId38" Type="http://schemas.openxmlformats.org/officeDocument/2006/relationships/tags" Target="../tags/tag1880.xml"/><Relationship Id="rId46" Type="http://schemas.openxmlformats.org/officeDocument/2006/relationships/tags" Target="../tags/tag1888.xml"/><Relationship Id="rId20" Type="http://schemas.openxmlformats.org/officeDocument/2006/relationships/tags" Target="../tags/tag1862.xml"/><Relationship Id="rId41" Type="http://schemas.openxmlformats.org/officeDocument/2006/relationships/tags" Target="../tags/tag1883.xml"/><Relationship Id="rId1" Type="http://schemas.openxmlformats.org/officeDocument/2006/relationships/tags" Target="../tags/tag1843.xml"/><Relationship Id="rId6" Type="http://schemas.openxmlformats.org/officeDocument/2006/relationships/tags" Target="../tags/tag1848.xml"/></Relationships>
</file>

<file path=ppt/slides/_rels/slide110.xml.rels><?xml version="1.0" encoding="UTF-8" standalone="yes"?>
<Relationships xmlns="http://schemas.openxmlformats.org/package/2006/relationships"><Relationship Id="rId26" Type="http://schemas.openxmlformats.org/officeDocument/2006/relationships/tags" Target="../tags/tag1915.xml"/><Relationship Id="rId21" Type="http://schemas.openxmlformats.org/officeDocument/2006/relationships/tags" Target="../tags/tag1910.xml"/><Relationship Id="rId42" Type="http://schemas.openxmlformats.org/officeDocument/2006/relationships/tags" Target="../tags/tag1931.xml"/><Relationship Id="rId47" Type="http://schemas.openxmlformats.org/officeDocument/2006/relationships/tags" Target="../tags/tag1936.xml"/><Relationship Id="rId63" Type="http://schemas.openxmlformats.org/officeDocument/2006/relationships/tags" Target="../tags/tag1952.xml"/><Relationship Id="rId68" Type="http://schemas.openxmlformats.org/officeDocument/2006/relationships/tags" Target="../tags/tag1957.xml"/><Relationship Id="rId84" Type="http://schemas.openxmlformats.org/officeDocument/2006/relationships/chart" Target="../charts/chart92.xml"/><Relationship Id="rId16" Type="http://schemas.openxmlformats.org/officeDocument/2006/relationships/tags" Target="../tags/tag1905.xml"/><Relationship Id="rId11" Type="http://schemas.openxmlformats.org/officeDocument/2006/relationships/tags" Target="../tags/tag1900.xml"/><Relationship Id="rId32" Type="http://schemas.openxmlformats.org/officeDocument/2006/relationships/tags" Target="../tags/tag1921.xml"/><Relationship Id="rId37" Type="http://schemas.openxmlformats.org/officeDocument/2006/relationships/tags" Target="../tags/tag1926.xml"/><Relationship Id="rId53" Type="http://schemas.openxmlformats.org/officeDocument/2006/relationships/tags" Target="../tags/tag1942.xml"/><Relationship Id="rId58" Type="http://schemas.openxmlformats.org/officeDocument/2006/relationships/tags" Target="../tags/tag1947.xml"/><Relationship Id="rId74" Type="http://schemas.openxmlformats.org/officeDocument/2006/relationships/tags" Target="../tags/tag1963.xml"/><Relationship Id="rId79" Type="http://schemas.openxmlformats.org/officeDocument/2006/relationships/tags" Target="../tags/tag1968.xml"/><Relationship Id="rId5" Type="http://schemas.openxmlformats.org/officeDocument/2006/relationships/tags" Target="../tags/tag1894.xml"/><Relationship Id="rId19" Type="http://schemas.openxmlformats.org/officeDocument/2006/relationships/tags" Target="../tags/tag1908.xml"/><Relationship Id="rId14" Type="http://schemas.openxmlformats.org/officeDocument/2006/relationships/tags" Target="../tags/tag1903.xml"/><Relationship Id="rId22" Type="http://schemas.openxmlformats.org/officeDocument/2006/relationships/tags" Target="../tags/tag1911.xml"/><Relationship Id="rId27" Type="http://schemas.openxmlformats.org/officeDocument/2006/relationships/tags" Target="../tags/tag1916.xml"/><Relationship Id="rId30" Type="http://schemas.openxmlformats.org/officeDocument/2006/relationships/tags" Target="../tags/tag1919.xml"/><Relationship Id="rId35" Type="http://schemas.openxmlformats.org/officeDocument/2006/relationships/tags" Target="../tags/tag1924.xml"/><Relationship Id="rId43" Type="http://schemas.openxmlformats.org/officeDocument/2006/relationships/tags" Target="../tags/tag1932.xml"/><Relationship Id="rId48" Type="http://schemas.openxmlformats.org/officeDocument/2006/relationships/tags" Target="../tags/tag1937.xml"/><Relationship Id="rId56" Type="http://schemas.openxmlformats.org/officeDocument/2006/relationships/tags" Target="../tags/tag1945.xml"/><Relationship Id="rId64" Type="http://schemas.openxmlformats.org/officeDocument/2006/relationships/tags" Target="../tags/tag1953.xml"/><Relationship Id="rId69" Type="http://schemas.openxmlformats.org/officeDocument/2006/relationships/tags" Target="../tags/tag1958.xml"/><Relationship Id="rId77" Type="http://schemas.openxmlformats.org/officeDocument/2006/relationships/tags" Target="../tags/tag1966.xml"/><Relationship Id="rId8" Type="http://schemas.openxmlformats.org/officeDocument/2006/relationships/tags" Target="../tags/tag1897.xml"/><Relationship Id="rId51" Type="http://schemas.openxmlformats.org/officeDocument/2006/relationships/tags" Target="../tags/tag1940.xml"/><Relationship Id="rId72" Type="http://schemas.openxmlformats.org/officeDocument/2006/relationships/tags" Target="../tags/tag1961.xml"/><Relationship Id="rId80" Type="http://schemas.openxmlformats.org/officeDocument/2006/relationships/slideLayout" Target="../slideLayouts/slideLayout7.xml"/><Relationship Id="rId85" Type="http://schemas.openxmlformats.org/officeDocument/2006/relationships/chart" Target="../charts/chart93.xml"/><Relationship Id="rId3" Type="http://schemas.openxmlformats.org/officeDocument/2006/relationships/tags" Target="../tags/tag1892.xml"/><Relationship Id="rId12" Type="http://schemas.openxmlformats.org/officeDocument/2006/relationships/tags" Target="../tags/tag1901.xml"/><Relationship Id="rId17" Type="http://schemas.openxmlformats.org/officeDocument/2006/relationships/tags" Target="../tags/tag1906.xml"/><Relationship Id="rId25" Type="http://schemas.openxmlformats.org/officeDocument/2006/relationships/tags" Target="../tags/tag1914.xml"/><Relationship Id="rId33" Type="http://schemas.openxmlformats.org/officeDocument/2006/relationships/tags" Target="../tags/tag1922.xml"/><Relationship Id="rId38" Type="http://schemas.openxmlformats.org/officeDocument/2006/relationships/tags" Target="../tags/tag1927.xml"/><Relationship Id="rId46" Type="http://schemas.openxmlformats.org/officeDocument/2006/relationships/tags" Target="../tags/tag1935.xml"/><Relationship Id="rId59" Type="http://schemas.openxmlformats.org/officeDocument/2006/relationships/tags" Target="../tags/tag1948.xml"/><Relationship Id="rId67" Type="http://schemas.openxmlformats.org/officeDocument/2006/relationships/tags" Target="../tags/tag1956.xml"/><Relationship Id="rId20" Type="http://schemas.openxmlformats.org/officeDocument/2006/relationships/tags" Target="../tags/tag1909.xml"/><Relationship Id="rId41" Type="http://schemas.openxmlformats.org/officeDocument/2006/relationships/tags" Target="../tags/tag1930.xml"/><Relationship Id="rId54" Type="http://schemas.openxmlformats.org/officeDocument/2006/relationships/tags" Target="../tags/tag1943.xml"/><Relationship Id="rId62" Type="http://schemas.openxmlformats.org/officeDocument/2006/relationships/tags" Target="../tags/tag1951.xml"/><Relationship Id="rId70" Type="http://schemas.openxmlformats.org/officeDocument/2006/relationships/tags" Target="../tags/tag1959.xml"/><Relationship Id="rId75" Type="http://schemas.openxmlformats.org/officeDocument/2006/relationships/tags" Target="../tags/tag1964.xml"/><Relationship Id="rId83" Type="http://schemas.openxmlformats.org/officeDocument/2006/relationships/chart" Target="../charts/chart91.xml"/><Relationship Id="rId1" Type="http://schemas.openxmlformats.org/officeDocument/2006/relationships/tags" Target="../tags/tag1890.xml"/><Relationship Id="rId6" Type="http://schemas.openxmlformats.org/officeDocument/2006/relationships/tags" Target="../tags/tag1895.xml"/><Relationship Id="rId15" Type="http://schemas.openxmlformats.org/officeDocument/2006/relationships/tags" Target="../tags/tag1904.xml"/><Relationship Id="rId23" Type="http://schemas.openxmlformats.org/officeDocument/2006/relationships/tags" Target="../tags/tag1912.xml"/><Relationship Id="rId28" Type="http://schemas.openxmlformats.org/officeDocument/2006/relationships/tags" Target="../tags/tag1917.xml"/><Relationship Id="rId36" Type="http://schemas.openxmlformats.org/officeDocument/2006/relationships/tags" Target="../tags/tag1925.xml"/><Relationship Id="rId49" Type="http://schemas.openxmlformats.org/officeDocument/2006/relationships/tags" Target="../tags/tag1938.xml"/><Relationship Id="rId57" Type="http://schemas.openxmlformats.org/officeDocument/2006/relationships/tags" Target="../tags/tag1946.xml"/><Relationship Id="rId10" Type="http://schemas.openxmlformats.org/officeDocument/2006/relationships/tags" Target="../tags/tag1899.xml"/><Relationship Id="rId31" Type="http://schemas.openxmlformats.org/officeDocument/2006/relationships/tags" Target="../tags/tag1920.xml"/><Relationship Id="rId44" Type="http://schemas.openxmlformats.org/officeDocument/2006/relationships/tags" Target="../tags/tag1933.xml"/><Relationship Id="rId52" Type="http://schemas.openxmlformats.org/officeDocument/2006/relationships/tags" Target="../tags/tag1941.xml"/><Relationship Id="rId60" Type="http://schemas.openxmlformats.org/officeDocument/2006/relationships/tags" Target="../tags/tag1949.xml"/><Relationship Id="rId65" Type="http://schemas.openxmlformats.org/officeDocument/2006/relationships/tags" Target="../tags/tag1954.xml"/><Relationship Id="rId73" Type="http://schemas.openxmlformats.org/officeDocument/2006/relationships/tags" Target="../tags/tag1962.xml"/><Relationship Id="rId78" Type="http://schemas.openxmlformats.org/officeDocument/2006/relationships/tags" Target="../tags/tag1967.xml"/><Relationship Id="rId81" Type="http://schemas.openxmlformats.org/officeDocument/2006/relationships/oleObject" Target="../embeddings/oleObject116.bin"/><Relationship Id="rId4" Type="http://schemas.openxmlformats.org/officeDocument/2006/relationships/tags" Target="../tags/tag1893.xml"/><Relationship Id="rId9" Type="http://schemas.openxmlformats.org/officeDocument/2006/relationships/tags" Target="../tags/tag1898.xml"/><Relationship Id="rId13" Type="http://schemas.openxmlformats.org/officeDocument/2006/relationships/tags" Target="../tags/tag1902.xml"/><Relationship Id="rId18" Type="http://schemas.openxmlformats.org/officeDocument/2006/relationships/tags" Target="../tags/tag1907.xml"/><Relationship Id="rId39" Type="http://schemas.openxmlformats.org/officeDocument/2006/relationships/tags" Target="../tags/tag1928.xml"/><Relationship Id="rId34" Type="http://schemas.openxmlformats.org/officeDocument/2006/relationships/tags" Target="../tags/tag1923.xml"/><Relationship Id="rId50" Type="http://schemas.openxmlformats.org/officeDocument/2006/relationships/tags" Target="../tags/tag1939.xml"/><Relationship Id="rId55" Type="http://schemas.openxmlformats.org/officeDocument/2006/relationships/tags" Target="../tags/tag1944.xml"/><Relationship Id="rId76" Type="http://schemas.openxmlformats.org/officeDocument/2006/relationships/tags" Target="../tags/tag1965.xml"/><Relationship Id="rId7" Type="http://schemas.openxmlformats.org/officeDocument/2006/relationships/tags" Target="../tags/tag1896.xml"/><Relationship Id="rId71" Type="http://schemas.openxmlformats.org/officeDocument/2006/relationships/tags" Target="../tags/tag1960.xml"/><Relationship Id="rId2" Type="http://schemas.openxmlformats.org/officeDocument/2006/relationships/tags" Target="../tags/tag1891.xml"/><Relationship Id="rId29" Type="http://schemas.openxmlformats.org/officeDocument/2006/relationships/tags" Target="../tags/tag1918.xml"/><Relationship Id="rId24" Type="http://schemas.openxmlformats.org/officeDocument/2006/relationships/tags" Target="../tags/tag1913.xml"/><Relationship Id="rId40" Type="http://schemas.openxmlformats.org/officeDocument/2006/relationships/tags" Target="../tags/tag1929.xml"/><Relationship Id="rId45" Type="http://schemas.openxmlformats.org/officeDocument/2006/relationships/tags" Target="../tags/tag1934.xml"/><Relationship Id="rId66" Type="http://schemas.openxmlformats.org/officeDocument/2006/relationships/tags" Target="../tags/tag1955.xml"/><Relationship Id="rId61" Type="http://schemas.openxmlformats.org/officeDocument/2006/relationships/tags" Target="../tags/tag1950.xml"/><Relationship Id="rId82" Type="http://schemas.openxmlformats.org/officeDocument/2006/relationships/image" Target="../media/image9.emf"/></Relationships>
</file>

<file path=ppt/slides/_rels/slide111.xml.rels><?xml version="1.0" encoding="UTF-8" standalone="yes"?>
<Relationships xmlns="http://schemas.openxmlformats.org/package/2006/relationships"><Relationship Id="rId13" Type="http://schemas.openxmlformats.org/officeDocument/2006/relationships/tags" Target="../tags/tag1981.xml"/><Relationship Id="rId18" Type="http://schemas.openxmlformats.org/officeDocument/2006/relationships/tags" Target="../tags/tag1986.xml"/><Relationship Id="rId26" Type="http://schemas.openxmlformats.org/officeDocument/2006/relationships/tags" Target="../tags/tag1994.xml"/><Relationship Id="rId21" Type="http://schemas.openxmlformats.org/officeDocument/2006/relationships/tags" Target="../tags/tag1989.xml"/><Relationship Id="rId34" Type="http://schemas.openxmlformats.org/officeDocument/2006/relationships/oleObject" Target="../embeddings/oleObject117.bin"/><Relationship Id="rId7" Type="http://schemas.openxmlformats.org/officeDocument/2006/relationships/tags" Target="../tags/tag1975.xml"/><Relationship Id="rId12" Type="http://schemas.openxmlformats.org/officeDocument/2006/relationships/tags" Target="../tags/tag1980.xml"/><Relationship Id="rId17" Type="http://schemas.openxmlformats.org/officeDocument/2006/relationships/tags" Target="../tags/tag1985.xml"/><Relationship Id="rId25" Type="http://schemas.openxmlformats.org/officeDocument/2006/relationships/tags" Target="../tags/tag1993.xml"/><Relationship Id="rId33" Type="http://schemas.openxmlformats.org/officeDocument/2006/relationships/slideLayout" Target="../slideLayouts/slideLayout7.xml"/><Relationship Id="rId38" Type="http://schemas.openxmlformats.org/officeDocument/2006/relationships/chart" Target="../charts/chart96.xml"/><Relationship Id="rId2" Type="http://schemas.openxmlformats.org/officeDocument/2006/relationships/tags" Target="../tags/tag1970.xml"/><Relationship Id="rId16" Type="http://schemas.openxmlformats.org/officeDocument/2006/relationships/tags" Target="../tags/tag1984.xml"/><Relationship Id="rId20" Type="http://schemas.openxmlformats.org/officeDocument/2006/relationships/tags" Target="../tags/tag1988.xml"/><Relationship Id="rId29" Type="http://schemas.openxmlformats.org/officeDocument/2006/relationships/tags" Target="../tags/tag1997.xml"/><Relationship Id="rId1" Type="http://schemas.openxmlformats.org/officeDocument/2006/relationships/tags" Target="../tags/tag1969.xml"/><Relationship Id="rId6" Type="http://schemas.openxmlformats.org/officeDocument/2006/relationships/tags" Target="../tags/tag1974.xml"/><Relationship Id="rId11" Type="http://schemas.openxmlformats.org/officeDocument/2006/relationships/tags" Target="../tags/tag1979.xml"/><Relationship Id="rId24" Type="http://schemas.openxmlformats.org/officeDocument/2006/relationships/tags" Target="../tags/tag1992.xml"/><Relationship Id="rId32" Type="http://schemas.openxmlformats.org/officeDocument/2006/relationships/tags" Target="../tags/tag2000.xml"/><Relationship Id="rId37" Type="http://schemas.openxmlformats.org/officeDocument/2006/relationships/chart" Target="../charts/chart95.xml"/><Relationship Id="rId5" Type="http://schemas.openxmlformats.org/officeDocument/2006/relationships/tags" Target="../tags/tag1973.xml"/><Relationship Id="rId15" Type="http://schemas.openxmlformats.org/officeDocument/2006/relationships/tags" Target="../tags/tag1983.xml"/><Relationship Id="rId23" Type="http://schemas.openxmlformats.org/officeDocument/2006/relationships/tags" Target="../tags/tag1991.xml"/><Relationship Id="rId28" Type="http://schemas.openxmlformats.org/officeDocument/2006/relationships/tags" Target="../tags/tag1996.xml"/><Relationship Id="rId36" Type="http://schemas.openxmlformats.org/officeDocument/2006/relationships/chart" Target="../charts/chart94.xml"/><Relationship Id="rId10" Type="http://schemas.openxmlformats.org/officeDocument/2006/relationships/tags" Target="../tags/tag1978.xml"/><Relationship Id="rId19" Type="http://schemas.openxmlformats.org/officeDocument/2006/relationships/tags" Target="../tags/tag1987.xml"/><Relationship Id="rId31" Type="http://schemas.openxmlformats.org/officeDocument/2006/relationships/tags" Target="../tags/tag1999.xml"/><Relationship Id="rId4" Type="http://schemas.openxmlformats.org/officeDocument/2006/relationships/tags" Target="../tags/tag1972.xml"/><Relationship Id="rId9" Type="http://schemas.openxmlformats.org/officeDocument/2006/relationships/tags" Target="../tags/tag1977.xml"/><Relationship Id="rId14" Type="http://schemas.openxmlformats.org/officeDocument/2006/relationships/tags" Target="../tags/tag1982.xml"/><Relationship Id="rId22" Type="http://schemas.openxmlformats.org/officeDocument/2006/relationships/tags" Target="../tags/tag1990.xml"/><Relationship Id="rId27" Type="http://schemas.openxmlformats.org/officeDocument/2006/relationships/tags" Target="../tags/tag1995.xml"/><Relationship Id="rId30" Type="http://schemas.openxmlformats.org/officeDocument/2006/relationships/tags" Target="../tags/tag1998.xml"/><Relationship Id="rId35" Type="http://schemas.openxmlformats.org/officeDocument/2006/relationships/image" Target="../media/image9.emf"/><Relationship Id="rId8" Type="http://schemas.openxmlformats.org/officeDocument/2006/relationships/tags" Target="../tags/tag1976.xml"/><Relationship Id="rId3" Type="http://schemas.openxmlformats.org/officeDocument/2006/relationships/tags" Target="../tags/tag1971.xml"/></Relationships>
</file>

<file path=ppt/slides/_rels/slide112.xml.rels><?xml version="1.0" encoding="UTF-8" standalone="yes"?>
<Relationships xmlns="http://schemas.openxmlformats.org/package/2006/relationships"><Relationship Id="rId8" Type="http://schemas.openxmlformats.org/officeDocument/2006/relationships/tags" Target="../tags/tag2008.xml"/><Relationship Id="rId13" Type="http://schemas.openxmlformats.org/officeDocument/2006/relationships/tags" Target="../tags/tag2013.xml"/><Relationship Id="rId18" Type="http://schemas.openxmlformats.org/officeDocument/2006/relationships/chart" Target="../charts/chart97.xml"/><Relationship Id="rId3" Type="http://schemas.openxmlformats.org/officeDocument/2006/relationships/tags" Target="../tags/tag2003.xml"/><Relationship Id="rId7" Type="http://schemas.openxmlformats.org/officeDocument/2006/relationships/tags" Target="../tags/tag2007.xml"/><Relationship Id="rId12" Type="http://schemas.openxmlformats.org/officeDocument/2006/relationships/tags" Target="../tags/tag2012.xml"/><Relationship Id="rId17" Type="http://schemas.openxmlformats.org/officeDocument/2006/relationships/image" Target="../media/image9.emf"/><Relationship Id="rId2" Type="http://schemas.openxmlformats.org/officeDocument/2006/relationships/tags" Target="../tags/tag2002.xml"/><Relationship Id="rId16" Type="http://schemas.openxmlformats.org/officeDocument/2006/relationships/oleObject" Target="../embeddings/oleObject118.bin"/><Relationship Id="rId20" Type="http://schemas.openxmlformats.org/officeDocument/2006/relationships/chart" Target="../charts/chart99.xml"/><Relationship Id="rId1" Type="http://schemas.openxmlformats.org/officeDocument/2006/relationships/tags" Target="../tags/tag2001.xml"/><Relationship Id="rId6" Type="http://schemas.openxmlformats.org/officeDocument/2006/relationships/tags" Target="../tags/tag2006.xml"/><Relationship Id="rId11" Type="http://schemas.openxmlformats.org/officeDocument/2006/relationships/tags" Target="../tags/tag2011.xml"/><Relationship Id="rId5" Type="http://schemas.openxmlformats.org/officeDocument/2006/relationships/tags" Target="../tags/tag2005.xml"/><Relationship Id="rId15" Type="http://schemas.openxmlformats.org/officeDocument/2006/relationships/slideLayout" Target="../slideLayouts/slideLayout7.xml"/><Relationship Id="rId10" Type="http://schemas.openxmlformats.org/officeDocument/2006/relationships/tags" Target="../tags/tag2010.xml"/><Relationship Id="rId19" Type="http://schemas.openxmlformats.org/officeDocument/2006/relationships/chart" Target="../charts/chart98.xml"/><Relationship Id="rId4" Type="http://schemas.openxmlformats.org/officeDocument/2006/relationships/tags" Target="../tags/tag2004.xml"/><Relationship Id="rId9" Type="http://schemas.openxmlformats.org/officeDocument/2006/relationships/tags" Target="../tags/tag2009.xml"/><Relationship Id="rId14" Type="http://schemas.openxmlformats.org/officeDocument/2006/relationships/tags" Target="../tags/tag2014.xml"/></Relationships>
</file>

<file path=ppt/slides/_rels/slide113.xml.rels><?xml version="1.0" encoding="UTF-8" standalone="yes"?>
<Relationships xmlns="http://schemas.openxmlformats.org/package/2006/relationships"><Relationship Id="rId8" Type="http://schemas.openxmlformats.org/officeDocument/2006/relationships/tags" Target="../tags/tag2022.xml"/><Relationship Id="rId13" Type="http://schemas.openxmlformats.org/officeDocument/2006/relationships/tags" Target="../tags/tag2027.xml"/><Relationship Id="rId18" Type="http://schemas.openxmlformats.org/officeDocument/2006/relationships/slideLayout" Target="../slideLayouts/slideLayout7.xml"/><Relationship Id="rId3" Type="http://schemas.openxmlformats.org/officeDocument/2006/relationships/tags" Target="../tags/tag2017.xml"/><Relationship Id="rId21" Type="http://schemas.openxmlformats.org/officeDocument/2006/relationships/chart" Target="../charts/chart100.xml"/><Relationship Id="rId7" Type="http://schemas.openxmlformats.org/officeDocument/2006/relationships/tags" Target="../tags/tag2021.xml"/><Relationship Id="rId12" Type="http://schemas.openxmlformats.org/officeDocument/2006/relationships/tags" Target="../tags/tag2026.xml"/><Relationship Id="rId17" Type="http://schemas.openxmlformats.org/officeDocument/2006/relationships/tags" Target="../tags/tag2031.xml"/><Relationship Id="rId2" Type="http://schemas.openxmlformats.org/officeDocument/2006/relationships/tags" Target="../tags/tag2016.xml"/><Relationship Id="rId16" Type="http://schemas.openxmlformats.org/officeDocument/2006/relationships/tags" Target="../tags/tag2030.xml"/><Relationship Id="rId20" Type="http://schemas.openxmlformats.org/officeDocument/2006/relationships/image" Target="../media/image9.emf"/><Relationship Id="rId1" Type="http://schemas.openxmlformats.org/officeDocument/2006/relationships/tags" Target="../tags/tag2015.xml"/><Relationship Id="rId6" Type="http://schemas.openxmlformats.org/officeDocument/2006/relationships/tags" Target="../tags/tag2020.xml"/><Relationship Id="rId11" Type="http://schemas.openxmlformats.org/officeDocument/2006/relationships/tags" Target="../tags/tag2025.xml"/><Relationship Id="rId5" Type="http://schemas.openxmlformats.org/officeDocument/2006/relationships/tags" Target="../tags/tag2019.xml"/><Relationship Id="rId15" Type="http://schemas.openxmlformats.org/officeDocument/2006/relationships/tags" Target="../tags/tag2029.xml"/><Relationship Id="rId10" Type="http://schemas.openxmlformats.org/officeDocument/2006/relationships/tags" Target="../tags/tag2024.xml"/><Relationship Id="rId19" Type="http://schemas.openxmlformats.org/officeDocument/2006/relationships/oleObject" Target="../embeddings/oleObject119.bin"/><Relationship Id="rId4" Type="http://schemas.openxmlformats.org/officeDocument/2006/relationships/tags" Target="../tags/tag2018.xml"/><Relationship Id="rId9" Type="http://schemas.openxmlformats.org/officeDocument/2006/relationships/tags" Target="../tags/tag2023.xml"/><Relationship Id="rId14" Type="http://schemas.openxmlformats.org/officeDocument/2006/relationships/tags" Target="../tags/tag2028.xml"/><Relationship Id="rId22" Type="http://schemas.openxmlformats.org/officeDocument/2006/relationships/chart" Target="../charts/chart101.xml"/></Relationships>
</file>

<file path=ppt/slides/_rels/slide114.xml.rels><?xml version="1.0" encoding="UTF-8" standalone="yes"?>
<Relationships xmlns="http://schemas.openxmlformats.org/package/2006/relationships"><Relationship Id="rId8" Type="http://schemas.openxmlformats.org/officeDocument/2006/relationships/tags" Target="../tags/tag2039.xml"/><Relationship Id="rId13" Type="http://schemas.openxmlformats.org/officeDocument/2006/relationships/tags" Target="../tags/tag2044.xml"/><Relationship Id="rId18" Type="http://schemas.openxmlformats.org/officeDocument/2006/relationships/tags" Target="../tags/tag2049.xml"/><Relationship Id="rId26" Type="http://schemas.openxmlformats.org/officeDocument/2006/relationships/slideLayout" Target="../slideLayouts/slideLayout7.xml"/><Relationship Id="rId3" Type="http://schemas.openxmlformats.org/officeDocument/2006/relationships/tags" Target="../tags/tag2034.xml"/><Relationship Id="rId21" Type="http://schemas.openxmlformats.org/officeDocument/2006/relationships/tags" Target="../tags/tag2052.xml"/><Relationship Id="rId7" Type="http://schemas.openxmlformats.org/officeDocument/2006/relationships/tags" Target="../tags/tag2038.xml"/><Relationship Id="rId12" Type="http://schemas.openxmlformats.org/officeDocument/2006/relationships/tags" Target="../tags/tag2043.xml"/><Relationship Id="rId17" Type="http://schemas.openxmlformats.org/officeDocument/2006/relationships/tags" Target="../tags/tag2048.xml"/><Relationship Id="rId25" Type="http://schemas.openxmlformats.org/officeDocument/2006/relationships/tags" Target="../tags/tag2056.xml"/><Relationship Id="rId2" Type="http://schemas.openxmlformats.org/officeDocument/2006/relationships/tags" Target="../tags/tag2033.xml"/><Relationship Id="rId16" Type="http://schemas.openxmlformats.org/officeDocument/2006/relationships/tags" Target="../tags/tag2047.xml"/><Relationship Id="rId20" Type="http://schemas.openxmlformats.org/officeDocument/2006/relationships/tags" Target="../tags/tag2051.xml"/><Relationship Id="rId29" Type="http://schemas.openxmlformats.org/officeDocument/2006/relationships/chart" Target="../charts/chart102.xml"/><Relationship Id="rId1" Type="http://schemas.openxmlformats.org/officeDocument/2006/relationships/tags" Target="../tags/tag2032.xml"/><Relationship Id="rId6" Type="http://schemas.openxmlformats.org/officeDocument/2006/relationships/tags" Target="../tags/tag2037.xml"/><Relationship Id="rId11" Type="http://schemas.openxmlformats.org/officeDocument/2006/relationships/tags" Target="../tags/tag2042.xml"/><Relationship Id="rId24" Type="http://schemas.openxmlformats.org/officeDocument/2006/relationships/tags" Target="../tags/tag2055.xml"/><Relationship Id="rId32" Type="http://schemas.openxmlformats.org/officeDocument/2006/relationships/chart" Target="../charts/chart105.xml"/><Relationship Id="rId5" Type="http://schemas.openxmlformats.org/officeDocument/2006/relationships/tags" Target="../tags/tag2036.xml"/><Relationship Id="rId15" Type="http://schemas.openxmlformats.org/officeDocument/2006/relationships/tags" Target="../tags/tag2046.xml"/><Relationship Id="rId23" Type="http://schemas.openxmlformats.org/officeDocument/2006/relationships/tags" Target="../tags/tag2054.xml"/><Relationship Id="rId28" Type="http://schemas.openxmlformats.org/officeDocument/2006/relationships/image" Target="../media/image9.emf"/><Relationship Id="rId10" Type="http://schemas.openxmlformats.org/officeDocument/2006/relationships/tags" Target="../tags/tag2041.xml"/><Relationship Id="rId19" Type="http://schemas.openxmlformats.org/officeDocument/2006/relationships/tags" Target="../tags/tag2050.xml"/><Relationship Id="rId31" Type="http://schemas.openxmlformats.org/officeDocument/2006/relationships/chart" Target="../charts/chart104.xml"/><Relationship Id="rId4" Type="http://schemas.openxmlformats.org/officeDocument/2006/relationships/tags" Target="../tags/tag2035.xml"/><Relationship Id="rId9" Type="http://schemas.openxmlformats.org/officeDocument/2006/relationships/tags" Target="../tags/tag2040.xml"/><Relationship Id="rId14" Type="http://schemas.openxmlformats.org/officeDocument/2006/relationships/tags" Target="../tags/tag2045.xml"/><Relationship Id="rId22" Type="http://schemas.openxmlformats.org/officeDocument/2006/relationships/tags" Target="../tags/tag2053.xml"/><Relationship Id="rId27" Type="http://schemas.openxmlformats.org/officeDocument/2006/relationships/oleObject" Target="../embeddings/oleObject120.bin"/><Relationship Id="rId30" Type="http://schemas.openxmlformats.org/officeDocument/2006/relationships/chart" Target="../charts/chart103.xml"/></Relationships>
</file>

<file path=ppt/slides/_rels/slide115.xml.rels><?xml version="1.0" encoding="UTF-8" standalone="yes"?>
<Relationships xmlns="http://schemas.openxmlformats.org/package/2006/relationships"><Relationship Id="rId13" Type="http://schemas.openxmlformats.org/officeDocument/2006/relationships/tags" Target="../tags/tag2069.xml"/><Relationship Id="rId18" Type="http://schemas.openxmlformats.org/officeDocument/2006/relationships/tags" Target="../tags/tag2074.xml"/><Relationship Id="rId26" Type="http://schemas.openxmlformats.org/officeDocument/2006/relationships/tags" Target="../tags/tag2082.xml"/><Relationship Id="rId21" Type="http://schemas.openxmlformats.org/officeDocument/2006/relationships/tags" Target="../tags/tag2077.xml"/><Relationship Id="rId34" Type="http://schemas.openxmlformats.org/officeDocument/2006/relationships/image" Target="../media/image9.emf"/><Relationship Id="rId7" Type="http://schemas.openxmlformats.org/officeDocument/2006/relationships/tags" Target="../tags/tag2063.xml"/><Relationship Id="rId12" Type="http://schemas.openxmlformats.org/officeDocument/2006/relationships/tags" Target="../tags/tag2068.xml"/><Relationship Id="rId17" Type="http://schemas.openxmlformats.org/officeDocument/2006/relationships/tags" Target="../tags/tag2073.xml"/><Relationship Id="rId25" Type="http://schemas.openxmlformats.org/officeDocument/2006/relationships/tags" Target="../tags/tag2081.xml"/><Relationship Id="rId33" Type="http://schemas.openxmlformats.org/officeDocument/2006/relationships/oleObject" Target="../embeddings/oleObject121.bin"/><Relationship Id="rId38" Type="http://schemas.openxmlformats.org/officeDocument/2006/relationships/chart" Target="../charts/chart109.xml"/><Relationship Id="rId2" Type="http://schemas.openxmlformats.org/officeDocument/2006/relationships/tags" Target="../tags/tag2058.xml"/><Relationship Id="rId16" Type="http://schemas.openxmlformats.org/officeDocument/2006/relationships/tags" Target="../tags/tag2072.xml"/><Relationship Id="rId20" Type="http://schemas.openxmlformats.org/officeDocument/2006/relationships/tags" Target="../tags/tag2076.xml"/><Relationship Id="rId29" Type="http://schemas.openxmlformats.org/officeDocument/2006/relationships/tags" Target="../tags/tag2085.xml"/><Relationship Id="rId1" Type="http://schemas.openxmlformats.org/officeDocument/2006/relationships/tags" Target="../tags/tag2057.xml"/><Relationship Id="rId6" Type="http://schemas.openxmlformats.org/officeDocument/2006/relationships/tags" Target="../tags/tag2062.xml"/><Relationship Id="rId11" Type="http://schemas.openxmlformats.org/officeDocument/2006/relationships/tags" Target="../tags/tag2067.xml"/><Relationship Id="rId24" Type="http://schemas.openxmlformats.org/officeDocument/2006/relationships/tags" Target="../tags/tag2080.xml"/><Relationship Id="rId32" Type="http://schemas.openxmlformats.org/officeDocument/2006/relationships/slideLayout" Target="../slideLayouts/slideLayout7.xml"/><Relationship Id="rId37" Type="http://schemas.openxmlformats.org/officeDocument/2006/relationships/chart" Target="../charts/chart108.xml"/><Relationship Id="rId5" Type="http://schemas.openxmlformats.org/officeDocument/2006/relationships/tags" Target="../tags/tag2061.xml"/><Relationship Id="rId15" Type="http://schemas.openxmlformats.org/officeDocument/2006/relationships/tags" Target="../tags/tag2071.xml"/><Relationship Id="rId23" Type="http://schemas.openxmlformats.org/officeDocument/2006/relationships/tags" Target="../tags/tag2079.xml"/><Relationship Id="rId28" Type="http://schemas.openxmlformats.org/officeDocument/2006/relationships/tags" Target="../tags/tag2084.xml"/><Relationship Id="rId36" Type="http://schemas.openxmlformats.org/officeDocument/2006/relationships/chart" Target="../charts/chart107.xml"/><Relationship Id="rId10" Type="http://schemas.openxmlformats.org/officeDocument/2006/relationships/tags" Target="../tags/tag2066.xml"/><Relationship Id="rId19" Type="http://schemas.openxmlformats.org/officeDocument/2006/relationships/tags" Target="../tags/tag2075.xml"/><Relationship Id="rId31" Type="http://schemas.openxmlformats.org/officeDocument/2006/relationships/tags" Target="../tags/tag2087.xml"/><Relationship Id="rId4" Type="http://schemas.openxmlformats.org/officeDocument/2006/relationships/tags" Target="../tags/tag2060.xml"/><Relationship Id="rId9" Type="http://schemas.openxmlformats.org/officeDocument/2006/relationships/tags" Target="../tags/tag2065.xml"/><Relationship Id="rId14" Type="http://schemas.openxmlformats.org/officeDocument/2006/relationships/tags" Target="../tags/tag2070.xml"/><Relationship Id="rId22" Type="http://schemas.openxmlformats.org/officeDocument/2006/relationships/tags" Target="../tags/tag2078.xml"/><Relationship Id="rId27" Type="http://schemas.openxmlformats.org/officeDocument/2006/relationships/tags" Target="../tags/tag2083.xml"/><Relationship Id="rId30" Type="http://schemas.openxmlformats.org/officeDocument/2006/relationships/tags" Target="../tags/tag2086.xml"/><Relationship Id="rId35" Type="http://schemas.openxmlformats.org/officeDocument/2006/relationships/chart" Target="../charts/chart106.xml"/><Relationship Id="rId8" Type="http://schemas.openxmlformats.org/officeDocument/2006/relationships/tags" Target="../tags/tag2064.xml"/><Relationship Id="rId3" Type="http://schemas.openxmlformats.org/officeDocument/2006/relationships/tags" Target="../tags/tag2059.xml"/></Relationships>
</file>

<file path=ppt/slides/_rels/slide116.xml.rels><?xml version="1.0" encoding="UTF-8" standalone="yes"?>
<Relationships xmlns="http://schemas.openxmlformats.org/package/2006/relationships"><Relationship Id="rId3" Type="http://schemas.openxmlformats.org/officeDocument/2006/relationships/tags" Target="../tags/tag2090.xml"/><Relationship Id="rId7" Type="http://schemas.openxmlformats.org/officeDocument/2006/relationships/image" Target="../media/image9.emf"/><Relationship Id="rId2" Type="http://schemas.openxmlformats.org/officeDocument/2006/relationships/tags" Target="../tags/tag2089.xml"/><Relationship Id="rId1" Type="http://schemas.openxmlformats.org/officeDocument/2006/relationships/tags" Target="../tags/tag2088.xml"/><Relationship Id="rId6" Type="http://schemas.openxmlformats.org/officeDocument/2006/relationships/oleObject" Target="../embeddings/oleObject122.bin"/><Relationship Id="rId5" Type="http://schemas.openxmlformats.org/officeDocument/2006/relationships/slideLayout" Target="../slideLayouts/slideLayout7.xml"/><Relationship Id="rId4" Type="http://schemas.openxmlformats.org/officeDocument/2006/relationships/tags" Target="../tags/tag2091.xml"/></Relationships>
</file>

<file path=ppt/slides/_rels/slide117.xml.rels><?xml version="1.0" encoding="UTF-8" standalone="yes"?>
<Relationships xmlns="http://schemas.openxmlformats.org/package/2006/relationships"><Relationship Id="rId3" Type="http://schemas.openxmlformats.org/officeDocument/2006/relationships/tags" Target="../tags/tag2094.xml"/><Relationship Id="rId7" Type="http://schemas.openxmlformats.org/officeDocument/2006/relationships/image" Target="../media/image9.emf"/><Relationship Id="rId2" Type="http://schemas.openxmlformats.org/officeDocument/2006/relationships/tags" Target="../tags/tag2093.xml"/><Relationship Id="rId1" Type="http://schemas.openxmlformats.org/officeDocument/2006/relationships/tags" Target="../tags/tag2092.xml"/><Relationship Id="rId6" Type="http://schemas.openxmlformats.org/officeDocument/2006/relationships/oleObject" Target="../embeddings/oleObject123.bin"/><Relationship Id="rId5" Type="http://schemas.openxmlformats.org/officeDocument/2006/relationships/slideLayout" Target="../slideLayouts/slideLayout7.xml"/><Relationship Id="rId4" Type="http://schemas.openxmlformats.org/officeDocument/2006/relationships/tags" Target="../tags/tag2095.xml"/></Relationships>
</file>

<file path=ppt/slides/_rels/slide118.xml.rels><?xml version="1.0" encoding="UTF-8" standalone="yes"?>
<Relationships xmlns="http://schemas.openxmlformats.org/package/2006/relationships"><Relationship Id="rId13" Type="http://schemas.openxmlformats.org/officeDocument/2006/relationships/tags" Target="../tags/tag2108.xml"/><Relationship Id="rId18" Type="http://schemas.openxmlformats.org/officeDocument/2006/relationships/tags" Target="../tags/tag2113.xml"/><Relationship Id="rId26" Type="http://schemas.openxmlformats.org/officeDocument/2006/relationships/tags" Target="../tags/tag2121.xml"/><Relationship Id="rId39" Type="http://schemas.openxmlformats.org/officeDocument/2006/relationships/tags" Target="../tags/tag2134.xml"/><Relationship Id="rId21" Type="http://schemas.openxmlformats.org/officeDocument/2006/relationships/tags" Target="../tags/tag2116.xml"/><Relationship Id="rId34" Type="http://schemas.openxmlformats.org/officeDocument/2006/relationships/tags" Target="../tags/tag2129.xml"/><Relationship Id="rId42" Type="http://schemas.openxmlformats.org/officeDocument/2006/relationships/tags" Target="../tags/tag2137.xml"/><Relationship Id="rId47" Type="http://schemas.openxmlformats.org/officeDocument/2006/relationships/chart" Target="../charts/chart111.xml"/><Relationship Id="rId7" Type="http://schemas.openxmlformats.org/officeDocument/2006/relationships/tags" Target="../tags/tag2102.xml"/><Relationship Id="rId2" Type="http://schemas.openxmlformats.org/officeDocument/2006/relationships/tags" Target="../tags/tag2097.xml"/><Relationship Id="rId16" Type="http://schemas.openxmlformats.org/officeDocument/2006/relationships/tags" Target="../tags/tag2111.xml"/><Relationship Id="rId29" Type="http://schemas.openxmlformats.org/officeDocument/2006/relationships/tags" Target="../tags/tag2124.xml"/><Relationship Id="rId1" Type="http://schemas.openxmlformats.org/officeDocument/2006/relationships/tags" Target="../tags/tag2096.xml"/><Relationship Id="rId6" Type="http://schemas.openxmlformats.org/officeDocument/2006/relationships/tags" Target="../tags/tag2101.xml"/><Relationship Id="rId11" Type="http://schemas.openxmlformats.org/officeDocument/2006/relationships/tags" Target="../tags/tag2106.xml"/><Relationship Id="rId24" Type="http://schemas.openxmlformats.org/officeDocument/2006/relationships/tags" Target="../tags/tag2119.xml"/><Relationship Id="rId32" Type="http://schemas.openxmlformats.org/officeDocument/2006/relationships/tags" Target="../tags/tag2127.xml"/><Relationship Id="rId37" Type="http://schemas.openxmlformats.org/officeDocument/2006/relationships/tags" Target="../tags/tag2132.xml"/><Relationship Id="rId40" Type="http://schemas.openxmlformats.org/officeDocument/2006/relationships/tags" Target="../tags/tag2135.xml"/><Relationship Id="rId45" Type="http://schemas.openxmlformats.org/officeDocument/2006/relationships/image" Target="../media/image9.emf"/><Relationship Id="rId5" Type="http://schemas.openxmlformats.org/officeDocument/2006/relationships/tags" Target="../tags/tag2100.xml"/><Relationship Id="rId15" Type="http://schemas.openxmlformats.org/officeDocument/2006/relationships/tags" Target="../tags/tag2110.xml"/><Relationship Id="rId23" Type="http://schemas.openxmlformats.org/officeDocument/2006/relationships/tags" Target="../tags/tag2118.xml"/><Relationship Id="rId28" Type="http://schemas.openxmlformats.org/officeDocument/2006/relationships/tags" Target="../tags/tag2123.xml"/><Relationship Id="rId36" Type="http://schemas.openxmlformats.org/officeDocument/2006/relationships/tags" Target="../tags/tag2131.xml"/><Relationship Id="rId10" Type="http://schemas.openxmlformats.org/officeDocument/2006/relationships/tags" Target="../tags/tag2105.xml"/><Relationship Id="rId19" Type="http://schemas.openxmlformats.org/officeDocument/2006/relationships/tags" Target="../tags/tag2114.xml"/><Relationship Id="rId31" Type="http://schemas.openxmlformats.org/officeDocument/2006/relationships/tags" Target="../tags/tag2126.xml"/><Relationship Id="rId44" Type="http://schemas.openxmlformats.org/officeDocument/2006/relationships/oleObject" Target="../embeddings/oleObject124.bin"/><Relationship Id="rId4" Type="http://schemas.openxmlformats.org/officeDocument/2006/relationships/tags" Target="../tags/tag2099.xml"/><Relationship Id="rId9" Type="http://schemas.openxmlformats.org/officeDocument/2006/relationships/tags" Target="../tags/tag2104.xml"/><Relationship Id="rId14" Type="http://schemas.openxmlformats.org/officeDocument/2006/relationships/tags" Target="../tags/tag2109.xml"/><Relationship Id="rId22" Type="http://schemas.openxmlformats.org/officeDocument/2006/relationships/tags" Target="../tags/tag2117.xml"/><Relationship Id="rId27" Type="http://schemas.openxmlformats.org/officeDocument/2006/relationships/tags" Target="../tags/tag2122.xml"/><Relationship Id="rId30" Type="http://schemas.openxmlformats.org/officeDocument/2006/relationships/tags" Target="../tags/tag2125.xml"/><Relationship Id="rId35" Type="http://schemas.openxmlformats.org/officeDocument/2006/relationships/tags" Target="../tags/tag2130.xml"/><Relationship Id="rId43" Type="http://schemas.openxmlformats.org/officeDocument/2006/relationships/slideLayout" Target="../slideLayouts/slideLayout7.xml"/><Relationship Id="rId8" Type="http://schemas.openxmlformats.org/officeDocument/2006/relationships/tags" Target="../tags/tag2103.xml"/><Relationship Id="rId3" Type="http://schemas.openxmlformats.org/officeDocument/2006/relationships/tags" Target="../tags/tag2098.xml"/><Relationship Id="rId12" Type="http://schemas.openxmlformats.org/officeDocument/2006/relationships/tags" Target="../tags/tag2107.xml"/><Relationship Id="rId17" Type="http://schemas.openxmlformats.org/officeDocument/2006/relationships/tags" Target="../tags/tag2112.xml"/><Relationship Id="rId25" Type="http://schemas.openxmlformats.org/officeDocument/2006/relationships/tags" Target="../tags/tag2120.xml"/><Relationship Id="rId33" Type="http://schemas.openxmlformats.org/officeDocument/2006/relationships/tags" Target="../tags/tag2128.xml"/><Relationship Id="rId38" Type="http://schemas.openxmlformats.org/officeDocument/2006/relationships/tags" Target="../tags/tag2133.xml"/><Relationship Id="rId46" Type="http://schemas.openxmlformats.org/officeDocument/2006/relationships/chart" Target="../charts/chart110.xml"/><Relationship Id="rId20" Type="http://schemas.openxmlformats.org/officeDocument/2006/relationships/tags" Target="../tags/tag2115.xml"/><Relationship Id="rId41" Type="http://schemas.openxmlformats.org/officeDocument/2006/relationships/tags" Target="../tags/tag2136.xml"/></Relationships>
</file>

<file path=ppt/slides/_rels/slide119.xml.rels><?xml version="1.0" encoding="UTF-8" standalone="yes"?>
<Relationships xmlns="http://schemas.openxmlformats.org/package/2006/relationships"><Relationship Id="rId13" Type="http://schemas.openxmlformats.org/officeDocument/2006/relationships/tags" Target="../tags/tag2150.xml"/><Relationship Id="rId18" Type="http://schemas.openxmlformats.org/officeDocument/2006/relationships/tags" Target="../tags/tag2155.xml"/><Relationship Id="rId26" Type="http://schemas.openxmlformats.org/officeDocument/2006/relationships/tags" Target="../tags/tag2163.xml"/><Relationship Id="rId39" Type="http://schemas.openxmlformats.org/officeDocument/2006/relationships/tags" Target="../tags/tag2176.xml"/><Relationship Id="rId21" Type="http://schemas.openxmlformats.org/officeDocument/2006/relationships/tags" Target="../tags/tag2158.xml"/><Relationship Id="rId34" Type="http://schemas.openxmlformats.org/officeDocument/2006/relationships/tags" Target="../tags/tag2171.xml"/><Relationship Id="rId42" Type="http://schemas.openxmlformats.org/officeDocument/2006/relationships/oleObject" Target="../embeddings/oleObject125.bin"/><Relationship Id="rId7" Type="http://schemas.openxmlformats.org/officeDocument/2006/relationships/tags" Target="../tags/tag2144.xml"/><Relationship Id="rId2" Type="http://schemas.openxmlformats.org/officeDocument/2006/relationships/tags" Target="../tags/tag2139.xml"/><Relationship Id="rId16" Type="http://schemas.openxmlformats.org/officeDocument/2006/relationships/tags" Target="../tags/tag2153.xml"/><Relationship Id="rId29" Type="http://schemas.openxmlformats.org/officeDocument/2006/relationships/tags" Target="../tags/tag2166.xml"/><Relationship Id="rId1" Type="http://schemas.openxmlformats.org/officeDocument/2006/relationships/tags" Target="../tags/tag2138.xml"/><Relationship Id="rId6" Type="http://schemas.openxmlformats.org/officeDocument/2006/relationships/tags" Target="../tags/tag2143.xml"/><Relationship Id="rId11" Type="http://schemas.openxmlformats.org/officeDocument/2006/relationships/tags" Target="../tags/tag2148.xml"/><Relationship Id="rId24" Type="http://schemas.openxmlformats.org/officeDocument/2006/relationships/tags" Target="../tags/tag2161.xml"/><Relationship Id="rId32" Type="http://schemas.openxmlformats.org/officeDocument/2006/relationships/tags" Target="../tags/tag2169.xml"/><Relationship Id="rId37" Type="http://schemas.openxmlformats.org/officeDocument/2006/relationships/tags" Target="../tags/tag2174.xml"/><Relationship Id="rId40" Type="http://schemas.openxmlformats.org/officeDocument/2006/relationships/tags" Target="../tags/tag2177.xml"/><Relationship Id="rId45" Type="http://schemas.openxmlformats.org/officeDocument/2006/relationships/chart" Target="../charts/chart113.xml"/><Relationship Id="rId5" Type="http://schemas.openxmlformats.org/officeDocument/2006/relationships/tags" Target="../tags/tag2142.xml"/><Relationship Id="rId15" Type="http://schemas.openxmlformats.org/officeDocument/2006/relationships/tags" Target="../tags/tag2152.xml"/><Relationship Id="rId23" Type="http://schemas.openxmlformats.org/officeDocument/2006/relationships/tags" Target="../tags/tag2160.xml"/><Relationship Id="rId28" Type="http://schemas.openxmlformats.org/officeDocument/2006/relationships/tags" Target="../tags/tag2165.xml"/><Relationship Id="rId36" Type="http://schemas.openxmlformats.org/officeDocument/2006/relationships/tags" Target="../tags/tag2173.xml"/><Relationship Id="rId10" Type="http://schemas.openxmlformats.org/officeDocument/2006/relationships/tags" Target="../tags/tag2147.xml"/><Relationship Id="rId19" Type="http://schemas.openxmlformats.org/officeDocument/2006/relationships/tags" Target="../tags/tag2156.xml"/><Relationship Id="rId31" Type="http://schemas.openxmlformats.org/officeDocument/2006/relationships/tags" Target="../tags/tag2168.xml"/><Relationship Id="rId44" Type="http://schemas.openxmlformats.org/officeDocument/2006/relationships/chart" Target="../charts/chart112.xml"/><Relationship Id="rId4" Type="http://schemas.openxmlformats.org/officeDocument/2006/relationships/tags" Target="../tags/tag2141.xml"/><Relationship Id="rId9" Type="http://schemas.openxmlformats.org/officeDocument/2006/relationships/tags" Target="../tags/tag2146.xml"/><Relationship Id="rId14" Type="http://schemas.openxmlformats.org/officeDocument/2006/relationships/tags" Target="../tags/tag2151.xml"/><Relationship Id="rId22" Type="http://schemas.openxmlformats.org/officeDocument/2006/relationships/tags" Target="../tags/tag2159.xml"/><Relationship Id="rId27" Type="http://schemas.openxmlformats.org/officeDocument/2006/relationships/tags" Target="../tags/tag2164.xml"/><Relationship Id="rId30" Type="http://schemas.openxmlformats.org/officeDocument/2006/relationships/tags" Target="../tags/tag2167.xml"/><Relationship Id="rId35" Type="http://schemas.openxmlformats.org/officeDocument/2006/relationships/tags" Target="../tags/tag2172.xml"/><Relationship Id="rId43" Type="http://schemas.openxmlformats.org/officeDocument/2006/relationships/image" Target="../media/image9.emf"/><Relationship Id="rId8" Type="http://schemas.openxmlformats.org/officeDocument/2006/relationships/tags" Target="../tags/tag2145.xml"/><Relationship Id="rId3" Type="http://schemas.openxmlformats.org/officeDocument/2006/relationships/tags" Target="../tags/tag2140.xml"/><Relationship Id="rId12" Type="http://schemas.openxmlformats.org/officeDocument/2006/relationships/tags" Target="../tags/tag2149.xml"/><Relationship Id="rId17" Type="http://schemas.openxmlformats.org/officeDocument/2006/relationships/tags" Target="../tags/tag2154.xml"/><Relationship Id="rId25" Type="http://schemas.openxmlformats.org/officeDocument/2006/relationships/tags" Target="../tags/tag2162.xml"/><Relationship Id="rId33" Type="http://schemas.openxmlformats.org/officeDocument/2006/relationships/tags" Target="../tags/tag2170.xml"/><Relationship Id="rId38" Type="http://schemas.openxmlformats.org/officeDocument/2006/relationships/tags" Target="../tags/tag2175.xml"/><Relationship Id="rId20" Type="http://schemas.openxmlformats.org/officeDocument/2006/relationships/tags" Target="../tags/tag2157.xml"/><Relationship Id="rId41" Type="http://schemas.openxmlformats.org/officeDocument/2006/relationships/slideLayout" Target="../slideLayouts/slideLayout7.xml"/></Relationships>
</file>

<file path=ppt/slides/_rels/slide120.xml.rels><?xml version="1.0" encoding="UTF-8" standalone="yes"?>
<Relationships xmlns="http://schemas.openxmlformats.org/package/2006/relationships"><Relationship Id="rId3" Type="http://schemas.openxmlformats.org/officeDocument/2006/relationships/tags" Target="../tags/tag2180.xml"/><Relationship Id="rId7" Type="http://schemas.openxmlformats.org/officeDocument/2006/relationships/image" Target="../media/image9.emf"/><Relationship Id="rId2" Type="http://schemas.openxmlformats.org/officeDocument/2006/relationships/tags" Target="../tags/tag2179.xml"/><Relationship Id="rId1" Type="http://schemas.openxmlformats.org/officeDocument/2006/relationships/tags" Target="../tags/tag2178.xml"/><Relationship Id="rId6" Type="http://schemas.openxmlformats.org/officeDocument/2006/relationships/oleObject" Target="../embeddings/oleObject126.bin"/><Relationship Id="rId5" Type="http://schemas.openxmlformats.org/officeDocument/2006/relationships/slideLayout" Target="../slideLayouts/slideLayout7.xml"/><Relationship Id="rId4" Type="http://schemas.openxmlformats.org/officeDocument/2006/relationships/tags" Target="../tags/tag2181.xml"/></Relationships>
</file>

<file path=ppt/slides/_rels/slide121.xml.rels><?xml version="1.0" encoding="UTF-8" standalone="yes"?>
<Relationships xmlns="http://schemas.openxmlformats.org/package/2006/relationships"><Relationship Id="rId8" Type="http://schemas.openxmlformats.org/officeDocument/2006/relationships/tags" Target="../tags/tag2189.xml"/><Relationship Id="rId13" Type="http://schemas.openxmlformats.org/officeDocument/2006/relationships/tags" Target="../tags/tag2194.xml"/><Relationship Id="rId18" Type="http://schemas.openxmlformats.org/officeDocument/2006/relationships/tags" Target="../tags/tag2199.xml"/><Relationship Id="rId26" Type="http://schemas.openxmlformats.org/officeDocument/2006/relationships/slide" Target="slide113.xml"/><Relationship Id="rId3" Type="http://schemas.openxmlformats.org/officeDocument/2006/relationships/tags" Target="../tags/tag2184.xml"/><Relationship Id="rId21" Type="http://schemas.openxmlformats.org/officeDocument/2006/relationships/tags" Target="../tags/tag2202.xml"/><Relationship Id="rId7" Type="http://schemas.openxmlformats.org/officeDocument/2006/relationships/tags" Target="../tags/tag2188.xml"/><Relationship Id="rId12" Type="http://schemas.openxmlformats.org/officeDocument/2006/relationships/tags" Target="../tags/tag2193.xml"/><Relationship Id="rId17" Type="http://schemas.openxmlformats.org/officeDocument/2006/relationships/tags" Target="../tags/tag2198.xml"/><Relationship Id="rId25" Type="http://schemas.openxmlformats.org/officeDocument/2006/relationships/image" Target="../media/image9.emf"/><Relationship Id="rId2" Type="http://schemas.openxmlformats.org/officeDocument/2006/relationships/tags" Target="../tags/tag2183.xml"/><Relationship Id="rId16" Type="http://schemas.openxmlformats.org/officeDocument/2006/relationships/tags" Target="../tags/tag2197.xml"/><Relationship Id="rId20" Type="http://schemas.openxmlformats.org/officeDocument/2006/relationships/tags" Target="../tags/tag2201.xml"/><Relationship Id="rId1" Type="http://schemas.openxmlformats.org/officeDocument/2006/relationships/tags" Target="../tags/tag2182.xml"/><Relationship Id="rId6" Type="http://schemas.openxmlformats.org/officeDocument/2006/relationships/tags" Target="../tags/tag2187.xml"/><Relationship Id="rId11" Type="http://schemas.openxmlformats.org/officeDocument/2006/relationships/tags" Target="../tags/tag2192.xml"/><Relationship Id="rId24" Type="http://schemas.openxmlformats.org/officeDocument/2006/relationships/oleObject" Target="../embeddings/oleObject127.bin"/><Relationship Id="rId5" Type="http://schemas.openxmlformats.org/officeDocument/2006/relationships/tags" Target="../tags/tag2186.xml"/><Relationship Id="rId15" Type="http://schemas.openxmlformats.org/officeDocument/2006/relationships/tags" Target="../tags/tag2196.xml"/><Relationship Id="rId23" Type="http://schemas.openxmlformats.org/officeDocument/2006/relationships/slideLayout" Target="../slideLayouts/slideLayout7.xml"/><Relationship Id="rId28" Type="http://schemas.openxmlformats.org/officeDocument/2006/relationships/chart" Target="../charts/chart115.xml"/><Relationship Id="rId10" Type="http://schemas.openxmlformats.org/officeDocument/2006/relationships/tags" Target="../tags/tag2191.xml"/><Relationship Id="rId19" Type="http://schemas.openxmlformats.org/officeDocument/2006/relationships/tags" Target="../tags/tag2200.xml"/><Relationship Id="rId4" Type="http://schemas.openxmlformats.org/officeDocument/2006/relationships/tags" Target="../tags/tag2185.xml"/><Relationship Id="rId9" Type="http://schemas.openxmlformats.org/officeDocument/2006/relationships/tags" Target="../tags/tag2190.xml"/><Relationship Id="rId14" Type="http://schemas.openxmlformats.org/officeDocument/2006/relationships/tags" Target="../tags/tag2195.xml"/><Relationship Id="rId22" Type="http://schemas.openxmlformats.org/officeDocument/2006/relationships/tags" Target="../tags/tag2203.xml"/><Relationship Id="rId27" Type="http://schemas.openxmlformats.org/officeDocument/2006/relationships/chart" Target="../charts/chart114.xml"/></Relationships>
</file>

<file path=ppt/slides/_rels/slide122.xml.rels><?xml version="1.0" encoding="UTF-8" standalone="yes"?>
<Relationships xmlns="http://schemas.openxmlformats.org/package/2006/relationships"><Relationship Id="rId13" Type="http://schemas.openxmlformats.org/officeDocument/2006/relationships/tags" Target="../tags/tag2216.xml"/><Relationship Id="rId18" Type="http://schemas.openxmlformats.org/officeDocument/2006/relationships/tags" Target="../tags/tag2221.xml"/><Relationship Id="rId26" Type="http://schemas.openxmlformats.org/officeDocument/2006/relationships/tags" Target="../tags/tag2229.xml"/><Relationship Id="rId3" Type="http://schemas.openxmlformats.org/officeDocument/2006/relationships/tags" Target="../tags/tag2206.xml"/><Relationship Id="rId21" Type="http://schemas.openxmlformats.org/officeDocument/2006/relationships/tags" Target="../tags/tag2224.xml"/><Relationship Id="rId7" Type="http://schemas.openxmlformats.org/officeDocument/2006/relationships/tags" Target="../tags/tag2210.xml"/><Relationship Id="rId12" Type="http://schemas.openxmlformats.org/officeDocument/2006/relationships/tags" Target="../tags/tag2215.xml"/><Relationship Id="rId17" Type="http://schemas.openxmlformats.org/officeDocument/2006/relationships/tags" Target="../tags/tag2220.xml"/><Relationship Id="rId25" Type="http://schemas.openxmlformats.org/officeDocument/2006/relationships/tags" Target="../tags/tag2228.xml"/><Relationship Id="rId33" Type="http://schemas.openxmlformats.org/officeDocument/2006/relationships/chart" Target="../charts/chart117.xml"/><Relationship Id="rId2" Type="http://schemas.openxmlformats.org/officeDocument/2006/relationships/tags" Target="../tags/tag2205.xml"/><Relationship Id="rId16" Type="http://schemas.openxmlformats.org/officeDocument/2006/relationships/tags" Target="../tags/tag2219.xml"/><Relationship Id="rId20" Type="http://schemas.openxmlformats.org/officeDocument/2006/relationships/tags" Target="../tags/tag2223.xml"/><Relationship Id="rId29" Type="http://schemas.openxmlformats.org/officeDocument/2006/relationships/slideLayout" Target="../slideLayouts/slideLayout7.xml"/><Relationship Id="rId1" Type="http://schemas.openxmlformats.org/officeDocument/2006/relationships/tags" Target="../tags/tag2204.xml"/><Relationship Id="rId6" Type="http://schemas.openxmlformats.org/officeDocument/2006/relationships/tags" Target="../tags/tag2209.xml"/><Relationship Id="rId11" Type="http://schemas.openxmlformats.org/officeDocument/2006/relationships/tags" Target="../tags/tag2214.xml"/><Relationship Id="rId24" Type="http://schemas.openxmlformats.org/officeDocument/2006/relationships/tags" Target="../tags/tag2227.xml"/><Relationship Id="rId32" Type="http://schemas.openxmlformats.org/officeDocument/2006/relationships/chart" Target="../charts/chart116.xml"/><Relationship Id="rId5" Type="http://schemas.openxmlformats.org/officeDocument/2006/relationships/tags" Target="../tags/tag2208.xml"/><Relationship Id="rId15" Type="http://schemas.openxmlformats.org/officeDocument/2006/relationships/tags" Target="../tags/tag2218.xml"/><Relationship Id="rId23" Type="http://schemas.openxmlformats.org/officeDocument/2006/relationships/tags" Target="../tags/tag2226.xml"/><Relationship Id="rId28" Type="http://schemas.openxmlformats.org/officeDocument/2006/relationships/tags" Target="../tags/tag2231.xml"/><Relationship Id="rId10" Type="http://schemas.openxmlformats.org/officeDocument/2006/relationships/tags" Target="../tags/tag2213.xml"/><Relationship Id="rId19" Type="http://schemas.openxmlformats.org/officeDocument/2006/relationships/tags" Target="../tags/tag2222.xml"/><Relationship Id="rId31" Type="http://schemas.openxmlformats.org/officeDocument/2006/relationships/image" Target="../media/image9.emf"/><Relationship Id="rId4" Type="http://schemas.openxmlformats.org/officeDocument/2006/relationships/tags" Target="../tags/tag2207.xml"/><Relationship Id="rId9" Type="http://schemas.openxmlformats.org/officeDocument/2006/relationships/tags" Target="../tags/tag2212.xml"/><Relationship Id="rId14" Type="http://schemas.openxmlformats.org/officeDocument/2006/relationships/tags" Target="../tags/tag2217.xml"/><Relationship Id="rId22" Type="http://schemas.openxmlformats.org/officeDocument/2006/relationships/tags" Target="../tags/tag2225.xml"/><Relationship Id="rId27" Type="http://schemas.openxmlformats.org/officeDocument/2006/relationships/tags" Target="../tags/tag2230.xml"/><Relationship Id="rId30" Type="http://schemas.openxmlformats.org/officeDocument/2006/relationships/oleObject" Target="../embeddings/oleObject128.bin"/><Relationship Id="rId8" Type="http://schemas.openxmlformats.org/officeDocument/2006/relationships/tags" Target="../tags/tag2211.xml"/></Relationships>
</file>

<file path=ppt/slides/_rels/slide123.xml.rels><?xml version="1.0" encoding="UTF-8" standalone="yes"?>
<Relationships xmlns="http://schemas.openxmlformats.org/package/2006/relationships"><Relationship Id="rId3" Type="http://schemas.openxmlformats.org/officeDocument/2006/relationships/slideLayout" Target="../slideLayouts/slideLayout7.xml"/><Relationship Id="rId7" Type="http://schemas.microsoft.com/office/2007/relationships/hdphoto" Target="../media/hdphoto1.wdp"/><Relationship Id="rId2" Type="http://schemas.openxmlformats.org/officeDocument/2006/relationships/tags" Target="../tags/tag2233.xml"/><Relationship Id="rId1" Type="http://schemas.openxmlformats.org/officeDocument/2006/relationships/tags" Target="../tags/tag2232.xml"/><Relationship Id="rId6" Type="http://schemas.openxmlformats.org/officeDocument/2006/relationships/image" Target="../media/image10.png"/><Relationship Id="rId5" Type="http://schemas.openxmlformats.org/officeDocument/2006/relationships/image" Target="../media/image9.emf"/><Relationship Id="rId4" Type="http://schemas.openxmlformats.org/officeDocument/2006/relationships/oleObject" Target="../embeddings/oleObject129.bin"/></Relationships>
</file>

<file path=ppt/slides/_rels/slide124.xml.rels><?xml version="1.0" encoding="UTF-8" standalone="yes"?>
<Relationships xmlns="http://schemas.openxmlformats.org/package/2006/relationships"><Relationship Id="rId13" Type="http://schemas.openxmlformats.org/officeDocument/2006/relationships/tags" Target="../tags/tag2246.xml"/><Relationship Id="rId18" Type="http://schemas.openxmlformats.org/officeDocument/2006/relationships/tags" Target="../tags/tag2251.xml"/><Relationship Id="rId26" Type="http://schemas.openxmlformats.org/officeDocument/2006/relationships/tags" Target="../tags/tag2259.xml"/><Relationship Id="rId39" Type="http://schemas.openxmlformats.org/officeDocument/2006/relationships/chart" Target="../charts/chart119.xml"/><Relationship Id="rId21" Type="http://schemas.openxmlformats.org/officeDocument/2006/relationships/tags" Target="../tags/tag2254.xml"/><Relationship Id="rId34" Type="http://schemas.openxmlformats.org/officeDocument/2006/relationships/tags" Target="../tags/tag2267.xml"/><Relationship Id="rId7" Type="http://schemas.openxmlformats.org/officeDocument/2006/relationships/tags" Target="../tags/tag2240.xml"/><Relationship Id="rId12" Type="http://schemas.openxmlformats.org/officeDocument/2006/relationships/tags" Target="../tags/tag2245.xml"/><Relationship Id="rId17" Type="http://schemas.openxmlformats.org/officeDocument/2006/relationships/tags" Target="../tags/tag2250.xml"/><Relationship Id="rId25" Type="http://schemas.openxmlformats.org/officeDocument/2006/relationships/tags" Target="../tags/tag2258.xml"/><Relationship Id="rId33" Type="http://schemas.openxmlformats.org/officeDocument/2006/relationships/tags" Target="../tags/tag2266.xml"/><Relationship Id="rId38" Type="http://schemas.openxmlformats.org/officeDocument/2006/relationships/chart" Target="../charts/chart118.xml"/><Relationship Id="rId2" Type="http://schemas.openxmlformats.org/officeDocument/2006/relationships/tags" Target="../tags/tag2235.xml"/><Relationship Id="rId16" Type="http://schemas.openxmlformats.org/officeDocument/2006/relationships/tags" Target="../tags/tag2249.xml"/><Relationship Id="rId20" Type="http://schemas.openxmlformats.org/officeDocument/2006/relationships/tags" Target="../tags/tag2253.xml"/><Relationship Id="rId29" Type="http://schemas.openxmlformats.org/officeDocument/2006/relationships/tags" Target="../tags/tag2262.xml"/><Relationship Id="rId1" Type="http://schemas.openxmlformats.org/officeDocument/2006/relationships/tags" Target="../tags/tag2234.xml"/><Relationship Id="rId6" Type="http://schemas.openxmlformats.org/officeDocument/2006/relationships/tags" Target="../tags/tag2239.xml"/><Relationship Id="rId11" Type="http://schemas.openxmlformats.org/officeDocument/2006/relationships/tags" Target="../tags/tag2244.xml"/><Relationship Id="rId24" Type="http://schemas.openxmlformats.org/officeDocument/2006/relationships/tags" Target="../tags/tag2257.xml"/><Relationship Id="rId32" Type="http://schemas.openxmlformats.org/officeDocument/2006/relationships/tags" Target="../tags/tag2265.xml"/><Relationship Id="rId37" Type="http://schemas.openxmlformats.org/officeDocument/2006/relationships/image" Target="../media/image9.emf"/><Relationship Id="rId5" Type="http://schemas.openxmlformats.org/officeDocument/2006/relationships/tags" Target="../tags/tag2238.xml"/><Relationship Id="rId15" Type="http://schemas.openxmlformats.org/officeDocument/2006/relationships/tags" Target="../tags/tag2248.xml"/><Relationship Id="rId23" Type="http://schemas.openxmlformats.org/officeDocument/2006/relationships/tags" Target="../tags/tag2256.xml"/><Relationship Id="rId28" Type="http://schemas.openxmlformats.org/officeDocument/2006/relationships/tags" Target="../tags/tag2261.xml"/><Relationship Id="rId36" Type="http://schemas.openxmlformats.org/officeDocument/2006/relationships/oleObject" Target="../embeddings/oleObject130.bin"/><Relationship Id="rId10" Type="http://schemas.openxmlformats.org/officeDocument/2006/relationships/tags" Target="../tags/tag2243.xml"/><Relationship Id="rId19" Type="http://schemas.openxmlformats.org/officeDocument/2006/relationships/tags" Target="../tags/tag2252.xml"/><Relationship Id="rId31" Type="http://schemas.openxmlformats.org/officeDocument/2006/relationships/tags" Target="../tags/tag2264.xml"/><Relationship Id="rId4" Type="http://schemas.openxmlformats.org/officeDocument/2006/relationships/tags" Target="../tags/tag2237.xml"/><Relationship Id="rId9" Type="http://schemas.openxmlformats.org/officeDocument/2006/relationships/tags" Target="../tags/tag2242.xml"/><Relationship Id="rId14" Type="http://schemas.openxmlformats.org/officeDocument/2006/relationships/tags" Target="../tags/tag2247.xml"/><Relationship Id="rId22" Type="http://schemas.openxmlformats.org/officeDocument/2006/relationships/tags" Target="../tags/tag2255.xml"/><Relationship Id="rId27" Type="http://schemas.openxmlformats.org/officeDocument/2006/relationships/tags" Target="../tags/tag2260.xml"/><Relationship Id="rId30" Type="http://schemas.openxmlformats.org/officeDocument/2006/relationships/tags" Target="../tags/tag2263.xml"/><Relationship Id="rId35" Type="http://schemas.openxmlformats.org/officeDocument/2006/relationships/slideLayout" Target="../slideLayouts/slideLayout7.xml"/><Relationship Id="rId8" Type="http://schemas.openxmlformats.org/officeDocument/2006/relationships/tags" Target="../tags/tag2241.xml"/><Relationship Id="rId3" Type="http://schemas.openxmlformats.org/officeDocument/2006/relationships/tags" Target="../tags/tag2236.xml"/></Relationships>
</file>

<file path=ppt/slides/_rels/slide125.xml.rels><?xml version="1.0" encoding="UTF-8" standalone="yes"?>
<Relationships xmlns="http://schemas.openxmlformats.org/package/2006/relationships"><Relationship Id="rId13" Type="http://schemas.openxmlformats.org/officeDocument/2006/relationships/tags" Target="../tags/tag2280.xml"/><Relationship Id="rId18" Type="http://schemas.openxmlformats.org/officeDocument/2006/relationships/tags" Target="../tags/tag2285.xml"/><Relationship Id="rId26" Type="http://schemas.openxmlformats.org/officeDocument/2006/relationships/tags" Target="../tags/tag2293.xml"/><Relationship Id="rId39" Type="http://schemas.openxmlformats.org/officeDocument/2006/relationships/tags" Target="../tags/tag2306.xml"/><Relationship Id="rId21" Type="http://schemas.openxmlformats.org/officeDocument/2006/relationships/tags" Target="../tags/tag2288.xml"/><Relationship Id="rId34" Type="http://schemas.openxmlformats.org/officeDocument/2006/relationships/tags" Target="../tags/tag2301.xml"/><Relationship Id="rId42" Type="http://schemas.openxmlformats.org/officeDocument/2006/relationships/slideLayout" Target="../slideLayouts/slideLayout7.xml"/><Relationship Id="rId7" Type="http://schemas.openxmlformats.org/officeDocument/2006/relationships/tags" Target="../tags/tag2274.xml"/><Relationship Id="rId2" Type="http://schemas.openxmlformats.org/officeDocument/2006/relationships/tags" Target="../tags/tag2269.xml"/><Relationship Id="rId16" Type="http://schemas.openxmlformats.org/officeDocument/2006/relationships/tags" Target="../tags/tag2283.xml"/><Relationship Id="rId29" Type="http://schemas.openxmlformats.org/officeDocument/2006/relationships/tags" Target="../tags/tag2296.xml"/><Relationship Id="rId1" Type="http://schemas.openxmlformats.org/officeDocument/2006/relationships/tags" Target="../tags/tag2268.xml"/><Relationship Id="rId6" Type="http://schemas.openxmlformats.org/officeDocument/2006/relationships/tags" Target="../tags/tag2273.xml"/><Relationship Id="rId11" Type="http://schemas.openxmlformats.org/officeDocument/2006/relationships/tags" Target="../tags/tag2278.xml"/><Relationship Id="rId24" Type="http://schemas.openxmlformats.org/officeDocument/2006/relationships/tags" Target="../tags/tag2291.xml"/><Relationship Id="rId32" Type="http://schemas.openxmlformats.org/officeDocument/2006/relationships/tags" Target="../tags/tag2299.xml"/><Relationship Id="rId37" Type="http://schemas.openxmlformats.org/officeDocument/2006/relationships/tags" Target="../tags/tag2304.xml"/><Relationship Id="rId40" Type="http://schemas.openxmlformats.org/officeDocument/2006/relationships/tags" Target="../tags/tag2307.xml"/><Relationship Id="rId45" Type="http://schemas.openxmlformats.org/officeDocument/2006/relationships/chart" Target="../charts/chart120.xml"/><Relationship Id="rId5" Type="http://schemas.openxmlformats.org/officeDocument/2006/relationships/tags" Target="../tags/tag2272.xml"/><Relationship Id="rId15" Type="http://schemas.openxmlformats.org/officeDocument/2006/relationships/tags" Target="../tags/tag2282.xml"/><Relationship Id="rId23" Type="http://schemas.openxmlformats.org/officeDocument/2006/relationships/tags" Target="../tags/tag2290.xml"/><Relationship Id="rId28" Type="http://schemas.openxmlformats.org/officeDocument/2006/relationships/tags" Target="../tags/tag2295.xml"/><Relationship Id="rId36" Type="http://schemas.openxmlformats.org/officeDocument/2006/relationships/tags" Target="../tags/tag2303.xml"/><Relationship Id="rId10" Type="http://schemas.openxmlformats.org/officeDocument/2006/relationships/tags" Target="../tags/tag2277.xml"/><Relationship Id="rId19" Type="http://schemas.openxmlformats.org/officeDocument/2006/relationships/tags" Target="../tags/tag2286.xml"/><Relationship Id="rId31" Type="http://schemas.openxmlformats.org/officeDocument/2006/relationships/tags" Target="../tags/tag2298.xml"/><Relationship Id="rId44" Type="http://schemas.openxmlformats.org/officeDocument/2006/relationships/image" Target="../media/image9.emf"/><Relationship Id="rId4" Type="http://schemas.openxmlformats.org/officeDocument/2006/relationships/tags" Target="../tags/tag2271.xml"/><Relationship Id="rId9" Type="http://schemas.openxmlformats.org/officeDocument/2006/relationships/tags" Target="../tags/tag2276.xml"/><Relationship Id="rId14" Type="http://schemas.openxmlformats.org/officeDocument/2006/relationships/tags" Target="../tags/tag2281.xml"/><Relationship Id="rId22" Type="http://schemas.openxmlformats.org/officeDocument/2006/relationships/tags" Target="../tags/tag2289.xml"/><Relationship Id="rId27" Type="http://schemas.openxmlformats.org/officeDocument/2006/relationships/tags" Target="../tags/tag2294.xml"/><Relationship Id="rId30" Type="http://schemas.openxmlformats.org/officeDocument/2006/relationships/tags" Target="../tags/tag2297.xml"/><Relationship Id="rId35" Type="http://schemas.openxmlformats.org/officeDocument/2006/relationships/tags" Target="../tags/tag2302.xml"/><Relationship Id="rId43" Type="http://schemas.openxmlformats.org/officeDocument/2006/relationships/oleObject" Target="../embeddings/oleObject131.bin"/><Relationship Id="rId8" Type="http://schemas.openxmlformats.org/officeDocument/2006/relationships/tags" Target="../tags/tag2275.xml"/><Relationship Id="rId3" Type="http://schemas.openxmlformats.org/officeDocument/2006/relationships/tags" Target="../tags/tag2270.xml"/><Relationship Id="rId12" Type="http://schemas.openxmlformats.org/officeDocument/2006/relationships/tags" Target="../tags/tag2279.xml"/><Relationship Id="rId17" Type="http://schemas.openxmlformats.org/officeDocument/2006/relationships/tags" Target="../tags/tag2284.xml"/><Relationship Id="rId25" Type="http://schemas.openxmlformats.org/officeDocument/2006/relationships/tags" Target="../tags/tag2292.xml"/><Relationship Id="rId33" Type="http://schemas.openxmlformats.org/officeDocument/2006/relationships/tags" Target="../tags/tag2300.xml"/><Relationship Id="rId38" Type="http://schemas.openxmlformats.org/officeDocument/2006/relationships/tags" Target="../tags/tag2305.xml"/><Relationship Id="rId46" Type="http://schemas.openxmlformats.org/officeDocument/2006/relationships/chart" Target="../charts/chart121.xml"/><Relationship Id="rId20" Type="http://schemas.openxmlformats.org/officeDocument/2006/relationships/tags" Target="../tags/tag2287.xml"/><Relationship Id="rId41" Type="http://schemas.openxmlformats.org/officeDocument/2006/relationships/tags" Target="../tags/tag2308.xml"/></Relationships>
</file>

<file path=ppt/slides/_rels/slide126.xml.rels><?xml version="1.0" encoding="UTF-8" standalone="yes"?>
<Relationships xmlns="http://schemas.openxmlformats.org/package/2006/relationships"><Relationship Id="rId8" Type="http://schemas.openxmlformats.org/officeDocument/2006/relationships/chart" Target="../charts/chart122.xml"/><Relationship Id="rId3" Type="http://schemas.openxmlformats.org/officeDocument/2006/relationships/tags" Target="../tags/tag2311.xml"/><Relationship Id="rId7" Type="http://schemas.openxmlformats.org/officeDocument/2006/relationships/image" Target="../media/image9.emf"/><Relationship Id="rId2" Type="http://schemas.openxmlformats.org/officeDocument/2006/relationships/tags" Target="../tags/tag2310.xml"/><Relationship Id="rId1" Type="http://schemas.openxmlformats.org/officeDocument/2006/relationships/tags" Target="../tags/tag2309.xml"/><Relationship Id="rId6" Type="http://schemas.openxmlformats.org/officeDocument/2006/relationships/oleObject" Target="../embeddings/oleObject132.bin"/><Relationship Id="rId5" Type="http://schemas.openxmlformats.org/officeDocument/2006/relationships/slideLayout" Target="../slideLayouts/slideLayout7.xml"/><Relationship Id="rId4" Type="http://schemas.openxmlformats.org/officeDocument/2006/relationships/tags" Target="../tags/tag2312.xml"/><Relationship Id="rId9" Type="http://schemas.openxmlformats.org/officeDocument/2006/relationships/chart" Target="../charts/chart123.xml"/></Relationships>
</file>

<file path=ppt/slides/_rels/slide127.xml.rels><?xml version="1.0" encoding="UTF-8" standalone="yes"?>
<Relationships xmlns="http://schemas.openxmlformats.org/package/2006/relationships"><Relationship Id="rId8" Type="http://schemas.openxmlformats.org/officeDocument/2006/relationships/tags" Target="../tags/tag2320.xml"/><Relationship Id="rId13" Type="http://schemas.openxmlformats.org/officeDocument/2006/relationships/tags" Target="../tags/tag2325.xml"/><Relationship Id="rId18" Type="http://schemas.openxmlformats.org/officeDocument/2006/relationships/tags" Target="../tags/tag2330.xml"/><Relationship Id="rId26" Type="http://schemas.openxmlformats.org/officeDocument/2006/relationships/oleObject" Target="../embeddings/oleObject133.bin"/><Relationship Id="rId3" Type="http://schemas.openxmlformats.org/officeDocument/2006/relationships/tags" Target="../tags/tag2315.xml"/><Relationship Id="rId21" Type="http://schemas.openxmlformats.org/officeDocument/2006/relationships/tags" Target="../tags/tag2333.xml"/><Relationship Id="rId7" Type="http://schemas.openxmlformats.org/officeDocument/2006/relationships/tags" Target="../tags/tag2319.xml"/><Relationship Id="rId12" Type="http://schemas.openxmlformats.org/officeDocument/2006/relationships/tags" Target="../tags/tag2324.xml"/><Relationship Id="rId17" Type="http://schemas.openxmlformats.org/officeDocument/2006/relationships/tags" Target="../tags/tag2329.xml"/><Relationship Id="rId25" Type="http://schemas.openxmlformats.org/officeDocument/2006/relationships/slideLayout" Target="../slideLayouts/slideLayout7.xml"/><Relationship Id="rId2" Type="http://schemas.openxmlformats.org/officeDocument/2006/relationships/tags" Target="../tags/tag2314.xml"/><Relationship Id="rId16" Type="http://schemas.openxmlformats.org/officeDocument/2006/relationships/tags" Target="../tags/tag2328.xml"/><Relationship Id="rId20" Type="http://schemas.openxmlformats.org/officeDocument/2006/relationships/tags" Target="../tags/tag2332.xml"/><Relationship Id="rId29" Type="http://schemas.openxmlformats.org/officeDocument/2006/relationships/chart" Target="../charts/chart125.xml"/><Relationship Id="rId1" Type="http://schemas.openxmlformats.org/officeDocument/2006/relationships/tags" Target="../tags/tag2313.xml"/><Relationship Id="rId6" Type="http://schemas.openxmlformats.org/officeDocument/2006/relationships/tags" Target="../tags/tag2318.xml"/><Relationship Id="rId11" Type="http://schemas.openxmlformats.org/officeDocument/2006/relationships/tags" Target="../tags/tag2323.xml"/><Relationship Id="rId24" Type="http://schemas.openxmlformats.org/officeDocument/2006/relationships/tags" Target="../tags/tag2336.xml"/><Relationship Id="rId5" Type="http://schemas.openxmlformats.org/officeDocument/2006/relationships/tags" Target="../tags/tag2317.xml"/><Relationship Id="rId15" Type="http://schemas.openxmlformats.org/officeDocument/2006/relationships/tags" Target="../tags/tag2327.xml"/><Relationship Id="rId23" Type="http://schemas.openxmlformats.org/officeDocument/2006/relationships/tags" Target="../tags/tag2335.xml"/><Relationship Id="rId28" Type="http://schemas.openxmlformats.org/officeDocument/2006/relationships/chart" Target="../charts/chart124.xml"/><Relationship Id="rId10" Type="http://schemas.openxmlformats.org/officeDocument/2006/relationships/tags" Target="../tags/tag2322.xml"/><Relationship Id="rId19" Type="http://schemas.openxmlformats.org/officeDocument/2006/relationships/tags" Target="../tags/tag2331.xml"/><Relationship Id="rId4" Type="http://schemas.openxmlformats.org/officeDocument/2006/relationships/tags" Target="../tags/tag2316.xml"/><Relationship Id="rId9" Type="http://schemas.openxmlformats.org/officeDocument/2006/relationships/tags" Target="../tags/tag2321.xml"/><Relationship Id="rId14" Type="http://schemas.openxmlformats.org/officeDocument/2006/relationships/tags" Target="../tags/tag2326.xml"/><Relationship Id="rId22" Type="http://schemas.openxmlformats.org/officeDocument/2006/relationships/tags" Target="../tags/tag2334.xml"/><Relationship Id="rId27" Type="http://schemas.openxmlformats.org/officeDocument/2006/relationships/image" Target="../media/image9.emf"/></Relationships>
</file>

<file path=ppt/slides/_rels/slide128.xml.rels><?xml version="1.0" encoding="UTF-8" standalone="yes"?>
<Relationships xmlns="http://schemas.openxmlformats.org/package/2006/relationships"><Relationship Id="rId13" Type="http://schemas.openxmlformats.org/officeDocument/2006/relationships/tags" Target="../tags/tag2349.xml"/><Relationship Id="rId18" Type="http://schemas.openxmlformats.org/officeDocument/2006/relationships/tags" Target="../tags/tag2354.xml"/><Relationship Id="rId26" Type="http://schemas.openxmlformats.org/officeDocument/2006/relationships/tags" Target="../tags/tag2362.xml"/><Relationship Id="rId39" Type="http://schemas.openxmlformats.org/officeDocument/2006/relationships/chart" Target="../charts/chart128.xml"/><Relationship Id="rId21" Type="http://schemas.openxmlformats.org/officeDocument/2006/relationships/tags" Target="../tags/tag2357.xml"/><Relationship Id="rId34" Type="http://schemas.openxmlformats.org/officeDocument/2006/relationships/slideLayout" Target="../slideLayouts/slideLayout7.xml"/><Relationship Id="rId7" Type="http://schemas.openxmlformats.org/officeDocument/2006/relationships/tags" Target="../tags/tag2343.xml"/><Relationship Id="rId12" Type="http://schemas.openxmlformats.org/officeDocument/2006/relationships/tags" Target="../tags/tag2348.xml"/><Relationship Id="rId17" Type="http://schemas.openxmlformats.org/officeDocument/2006/relationships/tags" Target="../tags/tag2353.xml"/><Relationship Id="rId25" Type="http://schemas.openxmlformats.org/officeDocument/2006/relationships/tags" Target="../tags/tag2361.xml"/><Relationship Id="rId33" Type="http://schemas.openxmlformats.org/officeDocument/2006/relationships/tags" Target="../tags/tag2369.xml"/><Relationship Id="rId38" Type="http://schemas.openxmlformats.org/officeDocument/2006/relationships/chart" Target="../charts/chart127.xml"/><Relationship Id="rId2" Type="http://schemas.openxmlformats.org/officeDocument/2006/relationships/tags" Target="../tags/tag2338.xml"/><Relationship Id="rId16" Type="http://schemas.openxmlformats.org/officeDocument/2006/relationships/tags" Target="../tags/tag2352.xml"/><Relationship Id="rId20" Type="http://schemas.openxmlformats.org/officeDocument/2006/relationships/tags" Target="../tags/tag2356.xml"/><Relationship Id="rId29" Type="http://schemas.openxmlformats.org/officeDocument/2006/relationships/tags" Target="../tags/tag2365.xml"/><Relationship Id="rId1" Type="http://schemas.openxmlformats.org/officeDocument/2006/relationships/tags" Target="../tags/tag2337.xml"/><Relationship Id="rId6" Type="http://schemas.openxmlformats.org/officeDocument/2006/relationships/tags" Target="../tags/tag2342.xml"/><Relationship Id="rId11" Type="http://schemas.openxmlformats.org/officeDocument/2006/relationships/tags" Target="../tags/tag2347.xml"/><Relationship Id="rId24" Type="http://schemas.openxmlformats.org/officeDocument/2006/relationships/tags" Target="../tags/tag2360.xml"/><Relationship Id="rId32" Type="http://schemas.openxmlformats.org/officeDocument/2006/relationships/tags" Target="../tags/tag2368.xml"/><Relationship Id="rId37" Type="http://schemas.openxmlformats.org/officeDocument/2006/relationships/chart" Target="../charts/chart126.xml"/><Relationship Id="rId5" Type="http://schemas.openxmlformats.org/officeDocument/2006/relationships/tags" Target="../tags/tag2341.xml"/><Relationship Id="rId15" Type="http://schemas.openxmlformats.org/officeDocument/2006/relationships/tags" Target="../tags/tag2351.xml"/><Relationship Id="rId23" Type="http://schemas.openxmlformats.org/officeDocument/2006/relationships/tags" Target="../tags/tag2359.xml"/><Relationship Id="rId28" Type="http://schemas.openxmlformats.org/officeDocument/2006/relationships/tags" Target="../tags/tag2364.xml"/><Relationship Id="rId36" Type="http://schemas.openxmlformats.org/officeDocument/2006/relationships/image" Target="../media/image9.emf"/><Relationship Id="rId10" Type="http://schemas.openxmlformats.org/officeDocument/2006/relationships/tags" Target="../tags/tag2346.xml"/><Relationship Id="rId19" Type="http://schemas.openxmlformats.org/officeDocument/2006/relationships/tags" Target="../tags/tag2355.xml"/><Relationship Id="rId31" Type="http://schemas.openxmlformats.org/officeDocument/2006/relationships/tags" Target="../tags/tag2367.xml"/><Relationship Id="rId4" Type="http://schemas.openxmlformats.org/officeDocument/2006/relationships/tags" Target="../tags/tag2340.xml"/><Relationship Id="rId9" Type="http://schemas.openxmlformats.org/officeDocument/2006/relationships/tags" Target="../tags/tag2345.xml"/><Relationship Id="rId14" Type="http://schemas.openxmlformats.org/officeDocument/2006/relationships/tags" Target="../tags/tag2350.xml"/><Relationship Id="rId22" Type="http://schemas.openxmlformats.org/officeDocument/2006/relationships/tags" Target="../tags/tag2358.xml"/><Relationship Id="rId27" Type="http://schemas.openxmlformats.org/officeDocument/2006/relationships/tags" Target="../tags/tag2363.xml"/><Relationship Id="rId30" Type="http://schemas.openxmlformats.org/officeDocument/2006/relationships/tags" Target="../tags/tag2366.xml"/><Relationship Id="rId35" Type="http://schemas.openxmlformats.org/officeDocument/2006/relationships/oleObject" Target="../embeddings/oleObject134.bin"/><Relationship Id="rId8" Type="http://schemas.openxmlformats.org/officeDocument/2006/relationships/tags" Target="../tags/tag2344.xml"/><Relationship Id="rId3" Type="http://schemas.openxmlformats.org/officeDocument/2006/relationships/tags" Target="../tags/tag2339.xml"/></Relationships>
</file>

<file path=ppt/slides/_rels/slide129.xml.rels><?xml version="1.0" encoding="UTF-8" standalone="yes"?>
<Relationships xmlns="http://schemas.openxmlformats.org/package/2006/relationships"><Relationship Id="rId8" Type="http://schemas.openxmlformats.org/officeDocument/2006/relationships/tags" Target="../tags/tag2377.xml"/><Relationship Id="rId13" Type="http://schemas.openxmlformats.org/officeDocument/2006/relationships/tags" Target="../tags/tag2382.xml"/><Relationship Id="rId18" Type="http://schemas.openxmlformats.org/officeDocument/2006/relationships/chart" Target="../charts/chart129.xml"/><Relationship Id="rId3" Type="http://schemas.openxmlformats.org/officeDocument/2006/relationships/tags" Target="../tags/tag2372.xml"/><Relationship Id="rId7" Type="http://schemas.openxmlformats.org/officeDocument/2006/relationships/tags" Target="../tags/tag2376.xml"/><Relationship Id="rId12" Type="http://schemas.openxmlformats.org/officeDocument/2006/relationships/tags" Target="../tags/tag2381.xml"/><Relationship Id="rId17" Type="http://schemas.openxmlformats.org/officeDocument/2006/relationships/image" Target="../media/image9.emf"/><Relationship Id="rId2" Type="http://schemas.openxmlformats.org/officeDocument/2006/relationships/tags" Target="../tags/tag2371.xml"/><Relationship Id="rId16" Type="http://schemas.openxmlformats.org/officeDocument/2006/relationships/oleObject" Target="../embeddings/oleObject135.bin"/><Relationship Id="rId1" Type="http://schemas.openxmlformats.org/officeDocument/2006/relationships/tags" Target="../tags/tag2370.xml"/><Relationship Id="rId6" Type="http://schemas.openxmlformats.org/officeDocument/2006/relationships/tags" Target="../tags/tag2375.xml"/><Relationship Id="rId11" Type="http://schemas.openxmlformats.org/officeDocument/2006/relationships/tags" Target="../tags/tag2380.xml"/><Relationship Id="rId5" Type="http://schemas.openxmlformats.org/officeDocument/2006/relationships/tags" Target="../tags/tag2374.xml"/><Relationship Id="rId15" Type="http://schemas.openxmlformats.org/officeDocument/2006/relationships/slideLayout" Target="../slideLayouts/slideLayout7.xml"/><Relationship Id="rId10" Type="http://schemas.openxmlformats.org/officeDocument/2006/relationships/tags" Target="../tags/tag2379.xml"/><Relationship Id="rId19" Type="http://schemas.openxmlformats.org/officeDocument/2006/relationships/chart" Target="../charts/chart130.xml"/><Relationship Id="rId4" Type="http://schemas.openxmlformats.org/officeDocument/2006/relationships/tags" Target="../tags/tag2373.xml"/><Relationship Id="rId9" Type="http://schemas.openxmlformats.org/officeDocument/2006/relationships/tags" Target="../tags/tag2378.xml"/><Relationship Id="rId14" Type="http://schemas.openxmlformats.org/officeDocument/2006/relationships/tags" Target="../tags/tag2383.xml"/></Relationships>
</file>

<file path=ppt/slides/_rels/slide130.xml.rels><?xml version="1.0" encoding="UTF-8" standalone="yes"?>
<Relationships xmlns="http://schemas.openxmlformats.org/package/2006/relationships"><Relationship Id="rId13" Type="http://schemas.openxmlformats.org/officeDocument/2006/relationships/tags" Target="../tags/tag2396.xml"/><Relationship Id="rId18" Type="http://schemas.openxmlformats.org/officeDocument/2006/relationships/tags" Target="../tags/tag2401.xml"/><Relationship Id="rId26" Type="http://schemas.openxmlformats.org/officeDocument/2006/relationships/tags" Target="../tags/tag2409.xml"/><Relationship Id="rId3" Type="http://schemas.openxmlformats.org/officeDocument/2006/relationships/tags" Target="../tags/tag2386.xml"/><Relationship Id="rId21" Type="http://schemas.openxmlformats.org/officeDocument/2006/relationships/tags" Target="../tags/tag2404.xml"/><Relationship Id="rId34" Type="http://schemas.openxmlformats.org/officeDocument/2006/relationships/image" Target="../media/image9.emf"/><Relationship Id="rId7" Type="http://schemas.openxmlformats.org/officeDocument/2006/relationships/tags" Target="../tags/tag2390.xml"/><Relationship Id="rId12" Type="http://schemas.openxmlformats.org/officeDocument/2006/relationships/tags" Target="../tags/tag2395.xml"/><Relationship Id="rId17" Type="http://schemas.openxmlformats.org/officeDocument/2006/relationships/tags" Target="../tags/tag2400.xml"/><Relationship Id="rId25" Type="http://schemas.openxmlformats.org/officeDocument/2006/relationships/tags" Target="../tags/tag2408.xml"/><Relationship Id="rId33" Type="http://schemas.openxmlformats.org/officeDocument/2006/relationships/oleObject" Target="../embeddings/oleObject136.bin"/><Relationship Id="rId2" Type="http://schemas.openxmlformats.org/officeDocument/2006/relationships/tags" Target="../tags/tag2385.xml"/><Relationship Id="rId16" Type="http://schemas.openxmlformats.org/officeDocument/2006/relationships/tags" Target="../tags/tag2399.xml"/><Relationship Id="rId20" Type="http://schemas.openxmlformats.org/officeDocument/2006/relationships/tags" Target="../tags/tag2403.xml"/><Relationship Id="rId29" Type="http://schemas.openxmlformats.org/officeDocument/2006/relationships/tags" Target="../tags/tag2412.xml"/><Relationship Id="rId1" Type="http://schemas.openxmlformats.org/officeDocument/2006/relationships/tags" Target="../tags/tag2384.xml"/><Relationship Id="rId6" Type="http://schemas.openxmlformats.org/officeDocument/2006/relationships/tags" Target="../tags/tag2389.xml"/><Relationship Id="rId11" Type="http://schemas.openxmlformats.org/officeDocument/2006/relationships/tags" Target="../tags/tag2394.xml"/><Relationship Id="rId24" Type="http://schemas.openxmlformats.org/officeDocument/2006/relationships/tags" Target="../tags/tag2407.xml"/><Relationship Id="rId32" Type="http://schemas.openxmlformats.org/officeDocument/2006/relationships/slideLayout" Target="../slideLayouts/slideLayout7.xml"/><Relationship Id="rId5" Type="http://schemas.openxmlformats.org/officeDocument/2006/relationships/tags" Target="../tags/tag2388.xml"/><Relationship Id="rId15" Type="http://schemas.openxmlformats.org/officeDocument/2006/relationships/tags" Target="../tags/tag2398.xml"/><Relationship Id="rId23" Type="http://schemas.openxmlformats.org/officeDocument/2006/relationships/tags" Target="../tags/tag2406.xml"/><Relationship Id="rId28" Type="http://schemas.openxmlformats.org/officeDocument/2006/relationships/tags" Target="../tags/tag2411.xml"/><Relationship Id="rId36" Type="http://schemas.openxmlformats.org/officeDocument/2006/relationships/chart" Target="../charts/chart132.xml"/><Relationship Id="rId10" Type="http://schemas.openxmlformats.org/officeDocument/2006/relationships/tags" Target="../tags/tag2393.xml"/><Relationship Id="rId19" Type="http://schemas.openxmlformats.org/officeDocument/2006/relationships/tags" Target="../tags/tag2402.xml"/><Relationship Id="rId31" Type="http://schemas.openxmlformats.org/officeDocument/2006/relationships/tags" Target="../tags/tag2414.xml"/><Relationship Id="rId4" Type="http://schemas.openxmlformats.org/officeDocument/2006/relationships/tags" Target="../tags/tag2387.xml"/><Relationship Id="rId9" Type="http://schemas.openxmlformats.org/officeDocument/2006/relationships/tags" Target="../tags/tag2392.xml"/><Relationship Id="rId14" Type="http://schemas.openxmlformats.org/officeDocument/2006/relationships/tags" Target="../tags/tag2397.xml"/><Relationship Id="rId22" Type="http://schemas.openxmlformats.org/officeDocument/2006/relationships/tags" Target="../tags/tag2405.xml"/><Relationship Id="rId27" Type="http://schemas.openxmlformats.org/officeDocument/2006/relationships/tags" Target="../tags/tag2410.xml"/><Relationship Id="rId30" Type="http://schemas.openxmlformats.org/officeDocument/2006/relationships/tags" Target="../tags/tag2413.xml"/><Relationship Id="rId35" Type="http://schemas.openxmlformats.org/officeDocument/2006/relationships/chart" Target="../charts/chart131.xml"/><Relationship Id="rId8" Type="http://schemas.openxmlformats.org/officeDocument/2006/relationships/tags" Target="../tags/tag2391.xml"/></Relationships>
</file>

<file path=ppt/slides/_rels/slide131.xml.rels><?xml version="1.0" encoding="UTF-8" standalone="yes"?>
<Relationships xmlns="http://schemas.openxmlformats.org/package/2006/relationships"><Relationship Id="rId3" Type="http://schemas.openxmlformats.org/officeDocument/2006/relationships/slideLayout" Target="../slideLayouts/slideLayout7.xml"/><Relationship Id="rId7" Type="http://schemas.microsoft.com/office/2007/relationships/hdphoto" Target="../media/hdphoto1.wdp"/><Relationship Id="rId2" Type="http://schemas.openxmlformats.org/officeDocument/2006/relationships/tags" Target="../tags/tag2416.xml"/><Relationship Id="rId1" Type="http://schemas.openxmlformats.org/officeDocument/2006/relationships/tags" Target="../tags/tag2415.xml"/><Relationship Id="rId6" Type="http://schemas.openxmlformats.org/officeDocument/2006/relationships/image" Target="../media/image10.png"/><Relationship Id="rId5" Type="http://schemas.openxmlformats.org/officeDocument/2006/relationships/image" Target="../media/image9.emf"/><Relationship Id="rId4" Type="http://schemas.openxmlformats.org/officeDocument/2006/relationships/oleObject" Target="../embeddings/oleObject137.bin"/></Relationships>
</file>

<file path=ppt/slides/_rels/slide132.xml.rels><?xml version="1.0" encoding="UTF-8" standalone="yes"?>
<Relationships xmlns="http://schemas.openxmlformats.org/package/2006/relationships"><Relationship Id="rId3" Type="http://schemas.openxmlformats.org/officeDocument/2006/relationships/tags" Target="../tags/tag2419.xml"/><Relationship Id="rId7" Type="http://schemas.openxmlformats.org/officeDocument/2006/relationships/image" Target="../media/image9.emf"/><Relationship Id="rId2" Type="http://schemas.openxmlformats.org/officeDocument/2006/relationships/tags" Target="../tags/tag2418.xml"/><Relationship Id="rId1" Type="http://schemas.openxmlformats.org/officeDocument/2006/relationships/tags" Target="../tags/tag2417.xml"/><Relationship Id="rId6" Type="http://schemas.openxmlformats.org/officeDocument/2006/relationships/oleObject" Target="../embeddings/oleObject138.bin"/><Relationship Id="rId5" Type="http://schemas.openxmlformats.org/officeDocument/2006/relationships/notesSlide" Target="../notesSlides/notesSlide16.xml"/><Relationship Id="rId4" Type="http://schemas.openxmlformats.org/officeDocument/2006/relationships/slideLayout" Target="../slideLayouts/slideLayout7.xml"/></Relationships>
</file>

<file path=ppt/slides/_rels/slide133.xml.rels><?xml version="1.0" encoding="UTF-8" standalone="yes"?>
<Relationships xmlns="http://schemas.openxmlformats.org/package/2006/relationships"><Relationship Id="rId3" Type="http://schemas.openxmlformats.org/officeDocument/2006/relationships/tags" Target="../tags/tag2422.xml"/><Relationship Id="rId7" Type="http://schemas.openxmlformats.org/officeDocument/2006/relationships/image" Target="../media/image9.emf"/><Relationship Id="rId2" Type="http://schemas.openxmlformats.org/officeDocument/2006/relationships/tags" Target="../tags/tag2421.xml"/><Relationship Id="rId1" Type="http://schemas.openxmlformats.org/officeDocument/2006/relationships/tags" Target="../tags/tag2420.xml"/><Relationship Id="rId6" Type="http://schemas.openxmlformats.org/officeDocument/2006/relationships/oleObject" Target="../embeddings/oleObject139.bin"/><Relationship Id="rId5" Type="http://schemas.openxmlformats.org/officeDocument/2006/relationships/notesSlide" Target="../notesSlides/notesSlide17.xml"/><Relationship Id="rId4" Type="http://schemas.openxmlformats.org/officeDocument/2006/relationships/slideLayout" Target="../slideLayouts/slideLayout7.xml"/></Relationships>
</file>

<file path=ppt/slides/_rels/slide134.xml.rels><?xml version="1.0" encoding="UTF-8" standalone="yes"?>
<Relationships xmlns="http://schemas.openxmlformats.org/package/2006/relationships"><Relationship Id="rId3" Type="http://schemas.openxmlformats.org/officeDocument/2006/relationships/tags" Target="../tags/tag2425.xml"/><Relationship Id="rId7" Type="http://schemas.openxmlformats.org/officeDocument/2006/relationships/image" Target="../media/image9.emf"/><Relationship Id="rId2" Type="http://schemas.openxmlformats.org/officeDocument/2006/relationships/tags" Target="../tags/tag2424.xml"/><Relationship Id="rId1" Type="http://schemas.openxmlformats.org/officeDocument/2006/relationships/tags" Target="../tags/tag2423.xml"/><Relationship Id="rId6" Type="http://schemas.openxmlformats.org/officeDocument/2006/relationships/oleObject" Target="../embeddings/oleObject140.bin"/><Relationship Id="rId5" Type="http://schemas.openxmlformats.org/officeDocument/2006/relationships/notesSlide" Target="../notesSlides/notesSlide18.xml"/><Relationship Id="rId4" Type="http://schemas.openxmlformats.org/officeDocument/2006/relationships/slideLayout" Target="../slideLayouts/slideLayout7.xml"/></Relationships>
</file>

<file path=ppt/slides/_rels/slide135.xml.rels><?xml version="1.0" encoding="UTF-8" standalone="yes"?>
<Relationships xmlns="http://schemas.openxmlformats.org/package/2006/relationships"><Relationship Id="rId8" Type="http://schemas.openxmlformats.org/officeDocument/2006/relationships/tags" Target="../tags/tag2433.xml"/><Relationship Id="rId13" Type="http://schemas.openxmlformats.org/officeDocument/2006/relationships/tags" Target="../tags/tag2438.xml"/><Relationship Id="rId18" Type="http://schemas.openxmlformats.org/officeDocument/2006/relationships/tags" Target="../tags/tag2443.xml"/><Relationship Id="rId26" Type="http://schemas.openxmlformats.org/officeDocument/2006/relationships/image" Target="../media/image9.emf"/><Relationship Id="rId3" Type="http://schemas.openxmlformats.org/officeDocument/2006/relationships/tags" Target="../tags/tag2428.xml"/><Relationship Id="rId21" Type="http://schemas.openxmlformats.org/officeDocument/2006/relationships/tags" Target="../tags/tag2446.xml"/><Relationship Id="rId7" Type="http://schemas.openxmlformats.org/officeDocument/2006/relationships/tags" Target="../tags/tag2432.xml"/><Relationship Id="rId12" Type="http://schemas.openxmlformats.org/officeDocument/2006/relationships/tags" Target="../tags/tag2437.xml"/><Relationship Id="rId17" Type="http://schemas.openxmlformats.org/officeDocument/2006/relationships/tags" Target="../tags/tag2442.xml"/><Relationship Id="rId25" Type="http://schemas.openxmlformats.org/officeDocument/2006/relationships/oleObject" Target="../embeddings/oleObject141.bin"/><Relationship Id="rId2" Type="http://schemas.openxmlformats.org/officeDocument/2006/relationships/tags" Target="../tags/tag2427.xml"/><Relationship Id="rId16" Type="http://schemas.openxmlformats.org/officeDocument/2006/relationships/tags" Target="../tags/tag2441.xml"/><Relationship Id="rId20" Type="http://schemas.openxmlformats.org/officeDocument/2006/relationships/tags" Target="../tags/tag2445.xml"/><Relationship Id="rId29" Type="http://schemas.openxmlformats.org/officeDocument/2006/relationships/chart" Target="../charts/chart134.xml"/><Relationship Id="rId1" Type="http://schemas.openxmlformats.org/officeDocument/2006/relationships/tags" Target="../tags/tag2426.xml"/><Relationship Id="rId6" Type="http://schemas.openxmlformats.org/officeDocument/2006/relationships/tags" Target="../tags/tag2431.xml"/><Relationship Id="rId11" Type="http://schemas.openxmlformats.org/officeDocument/2006/relationships/tags" Target="../tags/tag2436.xml"/><Relationship Id="rId24" Type="http://schemas.openxmlformats.org/officeDocument/2006/relationships/slideLayout" Target="../slideLayouts/slideLayout7.xml"/><Relationship Id="rId5" Type="http://schemas.openxmlformats.org/officeDocument/2006/relationships/tags" Target="../tags/tag2430.xml"/><Relationship Id="rId15" Type="http://schemas.openxmlformats.org/officeDocument/2006/relationships/tags" Target="../tags/tag2440.xml"/><Relationship Id="rId23" Type="http://schemas.openxmlformats.org/officeDocument/2006/relationships/tags" Target="../tags/tag2448.xml"/><Relationship Id="rId28" Type="http://schemas.openxmlformats.org/officeDocument/2006/relationships/chart" Target="../charts/chart133.xml"/><Relationship Id="rId10" Type="http://schemas.openxmlformats.org/officeDocument/2006/relationships/tags" Target="../tags/tag2435.xml"/><Relationship Id="rId19" Type="http://schemas.openxmlformats.org/officeDocument/2006/relationships/tags" Target="../tags/tag2444.xml"/><Relationship Id="rId4" Type="http://schemas.openxmlformats.org/officeDocument/2006/relationships/tags" Target="../tags/tag2429.xml"/><Relationship Id="rId9" Type="http://schemas.openxmlformats.org/officeDocument/2006/relationships/tags" Target="../tags/tag2434.xml"/><Relationship Id="rId14" Type="http://schemas.openxmlformats.org/officeDocument/2006/relationships/tags" Target="../tags/tag2439.xml"/><Relationship Id="rId22" Type="http://schemas.openxmlformats.org/officeDocument/2006/relationships/tags" Target="../tags/tag2447.xml"/><Relationship Id="rId27" Type="http://schemas.openxmlformats.org/officeDocument/2006/relationships/slide" Target="slide229.xml"/></Relationships>
</file>

<file path=ppt/slides/_rels/slide136.xml.rels><?xml version="1.0" encoding="UTF-8" standalone="yes"?>
<Relationships xmlns="http://schemas.openxmlformats.org/package/2006/relationships"><Relationship Id="rId8" Type="http://schemas.openxmlformats.org/officeDocument/2006/relationships/tags" Target="../tags/tag2456.xml"/><Relationship Id="rId13" Type="http://schemas.openxmlformats.org/officeDocument/2006/relationships/tags" Target="../tags/tag2461.xml"/><Relationship Id="rId18" Type="http://schemas.openxmlformats.org/officeDocument/2006/relationships/tags" Target="../tags/tag2466.xml"/><Relationship Id="rId3" Type="http://schemas.openxmlformats.org/officeDocument/2006/relationships/tags" Target="../tags/tag2451.xml"/><Relationship Id="rId21" Type="http://schemas.openxmlformats.org/officeDocument/2006/relationships/image" Target="../media/image9.emf"/><Relationship Id="rId7" Type="http://schemas.openxmlformats.org/officeDocument/2006/relationships/tags" Target="../tags/tag2455.xml"/><Relationship Id="rId12" Type="http://schemas.openxmlformats.org/officeDocument/2006/relationships/tags" Target="../tags/tag2460.xml"/><Relationship Id="rId17" Type="http://schemas.openxmlformats.org/officeDocument/2006/relationships/tags" Target="../tags/tag2465.xml"/><Relationship Id="rId2" Type="http://schemas.openxmlformats.org/officeDocument/2006/relationships/tags" Target="../tags/tag2450.xml"/><Relationship Id="rId16" Type="http://schemas.openxmlformats.org/officeDocument/2006/relationships/tags" Target="../tags/tag2464.xml"/><Relationship Id="rId20" Type="http://schemas.openxmlformats.org/officeDocument/2006/relationships/oleObject" Target="../embeddings/oleObject142.bin"/><Relationship Id="rId1" Type="http://schemas.openxmlformats.org/officeDocument/2006/relationships/tags" Target="../tags/tag2449.xml"/><Relationship Id="rId6" Type="http://schemas.openxmlformats.org/officeDocument/2006/relationships/tags" Target="../tags/tag2454.xml"/><Relationship Id="rId11" Type="http://schemas.openxmlformats.org/officeDocument/2006/relationships/tags" Target="../tags/tag2459.xml"/><Relationship Id="rId5" Type="http://schemas.openxmlformats.org/officeDocument/2006/relationships/tags" Target="../tags/tag2453.xml"/><Relationship Id="rId15" Type="http://schemas.openxmlformats.org/officeDocument/2006/relationships/tags" Target="../tags/tag2463.xml"/><Relationship Id="rId10" Type="http://schemas.openxmlformats.org/officeDocument/2006/relationships/tags" Target="../tags/tag2458.xml"/><Relationship Id="rId19" Type="http://schemas.openxmlformats.org/officeDocument/2006/relationships/slideLayout" Target="../slideLayouts/slideLayout7.xml"/><Relationship Id="rId4" Type="http://schemas.openxmlformats.org/officeDocument/2006/relationships/tags" Target="../tags/tag2452.xml"/><Relationship Id="rId9" Type="http://schemas.openxmlformats.org/officeDocument/2006/relationships/tags" Target="../tags/tag2457.xml"/><Relationship Id="rId14" Type="http://schemas.openxmlformats.org/officeDocument/2006/relationships/tags" Target="../tags/tag2462.xml"/><Relationship Id="rId22" Type="http://schemas.openxmlformats.org/officeDocument/2006/relationships/chart" Target="../charts/chart135.xml"/></Relationships>
</file>

<file path=ppt/slides/_rels/slide137.xml.rels><?xml version="1.0" encoding="UTF-8" standalone="yes"?>
<Relationships xmlns="http://schemas.openxmlformats.org/package/2006/relationships"><Relationship Id="rId8" Type="http://schemas.openxmlformats.org/officeDocument/2006/relationships/tags" Target="../tags/tag2474.xml"/><Relationship Id="rId13" Type="http://schemas.openxmlformats.org/officeDocument/2006/relationships/slideLayout" Target="../slideLayouts/slideLayout7.xml"/><Relationship Id="rId3" Type="http://schemas.openxmlformats.org/officeDocument/2006/relationships/tags" Target="../tags/tag2469.xml"/><Relationship Id="rId7" Type="http://schemas.openxmlformats.org/officeDocument/2006/relationships/tags" Target="../tags/tag2473.xml"/><Relationship Id="rId12" Type="http://schemas.openxmlformats.org/officeDocument/2006/relationships/tags" Target="../tags/tag2478.xml"/><Relationship Id="rId2" Type="http://schemas.openxmlformats.org/officeDocument/2006/relationships/tags" Target="../tags/tag2468.xml"/><Relationship Id="rId16" Type="http://schemas.openxmlformats.org/officeDocument/2006/relationships/chart" Target="../charts/chart136.xml"/><Relationship Id="rId1" Type="http://schemas.openxmlformats.org/officeDocument/2006/relationships/tags" Target="../tags/tag2467.xml"/><Relationship Id="rId6" Type="http://schemas.openxmlformats.org/officeDocument/2006/relationships/tags" Target="../tags/tag2472.xml"/><Relationship Id="rId11" Type="http://schemas.openxmlformats.org/officeDocument/2006/relationships/tags" Target="../tags/tag2477.xml"/><Relationship Id="rId5" Type="http://schemas.openxmlformats.org/officeDocument/2006/relationships/tags" Target="../tags/tag2471.xml"/><Relationship Id="rId15" Type="http://schemas.openxmlformats.org/officeDocument/2006/relationships/image" Target="../media/image9.emf"/><Relationship Id="rId10" Type="http://schemas.openxmlformats.org/officeDocument/2006/relationships/tags" Target="../tags/tag2476.xml"/><Relationship Id="rId4" Type="http://schemas.openxmlformats.org/officeDocument/2006/relationships/tags" Target="../tags/tag2470.xml"/><Relationship Id="rId9" Type="http://schemas.openxmlformats.org/officeDocument/2006/relationships/tags" Target="../tags/tag2475.xml"/><Relationship Id="rId14" Type="http://schemas.openxmlformats.org/officeDocument/2006/relationships/oleObject" Target="../embeddings/oleObject143.bin"/></Relationships>
</file>

<file path=ppt/slides/_rels/slide138.xml.rels><?xml version="1.0" encoding="UTF-8" standalone="yes"?>
<Relationships xmlns="http://schemas.openxmlformats.org/package/2006/relationships"><Relationship Id="rId8" Type="http://schemas.openxmlformats.org/officeDocument/2006/relationships/tags" Target="../tags/tag2486.xml"/><Relationship Id="rId13" Type="http://schemas.openxmlformats.org/officeDocument/2006/relationships/tags" Target="../tags/tag2491.xml"/><Relationship Id="rId18" Type="http://schemas.openxmlformats.org/officeDocument/2006/relationships/tags" Target="../tags/tag2496.xml"/><Relationship Id="rId26" Type="http://schemas.openxmlformats.org/officeDocument/2006/relationships/image" Target="../media/image9.emf"/><Relationship Id="rId3" Type="http://schemas.openxmlformats.org/officeDocument/2006/relationships/tags" Target="../tags/tag2481.xml"/><Relationship Id="rId21" Type="http://schemas.openxmlformats.org/officeDocument/2006/relationships/tags" Target="../tags/tag2499.xml"/><Relationship Id="rId7" Type="http://schemas.openxmlformats.org/officeDocument/2006/relationships/tags" Target="../tags/tag2485.xml"/><Relationship Id="rId12" Type="http://schemas.openxmlformats.org/officeDocument/2006/relationships/tags" Target="../tags/tag2490.xml"/><Relationship Id="rId17" Type="http://schemas.openxmlformats.org/officeDocument/2006/relationships/tags" Target="../tags/tag2495.xml"/><Relationship Id="rId25" Type="http://schemas.openxmlformats.org/officeDocument/2006/relationships/oleObject" Target="../embeddings/oleObject144.bin"/><Relationship Id="rId2" Type="http://schemas.openxmlformats.org/officeDocument/2006/relationships/tags" Target="../tags/tag2480.xml"/><Relationship Id="rId16" Type="http://schemas.openxmlformats.org/officeDocument/2006/relationships/tags" Target="../tags/tag2494.xml"/><Relationship Id="rId20" Type="http://schemas.openxmlformats.org/officeDocument/2006/relationships/tags" Target="../tags/tag2498.xml"/><Relationship Id="rId1" Type="http://schemas.openxmlformats.org/officeDocument/2006/relationships/tags" Target="../tags/tag2479.xml"/><Relationship Id="rId6" Type="http://schemas.openxmlformats.org/officeDocument/2006/relationships/tags" Target="../tags/tag2484.xml"/><Relationship Id="rId11" Type="http://schemas.openxmlformats.org/officeDocument/2006/relationships/tags" Target="../tags/tag2489.xml"/><Relationship Id="rId24" Type="http://schemas.openxmlformats.org/officeDocument/2006/relationships/slideLayout" Target="../slideLayouts/slideLayout7.xml"/><Relationship Id="rId5" Type="http://schemas.openxmlformats.org/officeDocument/2006/relationships/tags" Target="../tags/tag2483.xml"/><Relationship Id="rId15" Type="http://schemas.openxmlformats.org/officeDocument/2006/relationships/tags" Target="../tags/tag2493.xml"/><Relationship Id="rId23" Type="http://schemas.openxmlformats.org/officeDocument/2006/relationships/tags" Target="../tags/tag2501.xml"/><Relationship Id="rId10" Type="http://schemas.openxmlformats.org/officeDocument/2006/relationships/tags" Target="../tags/tag2488.xml"/><Relationship Id="rId19" Type="http://schemas.openxmlformats.org/officeDocument/2006/relationships/tags" Target="../tags/tag2497.xml"/><Relationship Id="rId4" Type="http://schemas.openxmlformats.org/officeDocument/2006/relationships/tags" Target="../tags/tag2482.xml"/><Relationship Id="rId9" Type="http://schemas.openxmlformats.org/officeDocument/2006/relationships/tags" Target="../tags/tag2487.xml"/><Relationship Id="rId14" Type="http://schemas.openxmlformats.org/officeDocument/2006/relationships/tags" Target="../tags/tag2492.xml"/><Relationship Id="rId22" Type="http://schemas.openxmlformats.org/officeDocument/2006/relationships/tags" Target="../tags/tag2500.xml"/><Relationship Id="rId27" Type="http://schemas.openxmlformats.org/officeDocument/2006/relationships/chart" Target="../charts/chart137.xml"/></Relationships>
</file>

<file path=ppt/slides/_rels/slide139.xml.rels><?xml version="1.0" encoding="UTF-8" standalone="yes"?>
<Relationships xmlns="http://schemas.openxmlformats.org/package/2006/relationships"><Relationship Id="rId8" Type="http://schemas.openxmlformats.org/officeDocument/2006/relationships/tags" Target="../tags/tag2509.xml"/><Relationship Id="rId13" Type="http://schemas.openxmlformats.org/officeDocument/2006/relationships/tags" Target="../tags/tag2514.xml"/><Relationship Id="rId18" Type="http://schemas.openxmlformats.org/officeDocument/2006/relationships/chart" Target="../charts/chart139.xml"/><Relationship Id="rId3" Type="http://schemas.openxmlformats.org/officeDocument/2006/relationships/tags" Target="../tags/tag2504.xml"/><Relationship Id="rId7" Type="http://schemas.openxmlformats.org/officeDocument/2006/relationships/tags" Target="../tags/tag2508.xml"/><Relationship Id="rId12" Type="http://schemas.openxmlformats.org/officeDocument/2006/relationships/tags" Target="../tags/tag2513.xml"/><Relationship Id="rId17" Type="http://schemas.openxmlformats.org/officeDocument/2006/relationships/chart" Target="../charts/chart138.xml"/><Relationship Id="rId2" Type="http://schemas.openxmlformats.org/officeDocument/2006/relationships/tags" Target="../tags/tag2503.xml"/><Relationship Id="rId16" Type="http://schemas.openxmlformats.org/officeDocument/2006/relationships/image" Target="../media/image9.emf"/><Relationship Id="rId1" Type="http://schemas.openxmlformats.org/officeDocument/2006/relationships/tags" Target="../tags/tag2502.xml"/><Relationship Id="rId6" Type="http://schemas.openxmlformats.org/officeDocument/2006/relationships/tags" Target="../tags/tag2507.xml"/><Relationship Id="rId11" Type="http://schemas.openxmlformats.org/officeDocument/2006/relationships/tags" Target="../tags/tag2512.xml"/><Relationship Id="rId5" Type="http://schemas.openxmlformats.org/officeDocument/2006/relationships/tags" Target="../tags/tag2506.xml"/><Relationship Id="rId15" Type="http://schemas.openxmlformats.org/officeDocument/2006/relationships/oleObject" Target="../embeddings/oleObject145.bin"/><Relationship Id="rId10" Type="http://schemas.openxmlformats.org/officeDocument/2006/relationships/tags" Target="../tags/tag2511.xml"/><Relationship Id="rId4" Type="http://schemas.openxmlformats.org/officeDocument/2006/relationships/tags" Target="../tags/tag2505.xml"/><Relationship Id="rId9" Type="http://schemas.openxmlformats.org/officeDocument/2006/relationships/tags" Target="../tags/tag2510.xml"/><Relationship Id="rId14" Type="http://schemas.openxmlformats.org/officeDocument/2006/relationships/slideLayout" Target="../slideLayouts/slideLayout7.xml"/></Relationships>
</file>

<file path=ppt/slides/_rels/slide140.xml.rels><?xml version="1.0" encoding="UTF-8" standalone="yes"?>
<Relationships xmlns="http://schemas.openxmlformats.org/package/2006/relationships"><Relationship Id="rId3" Type="http://schemas.openxmlformats.org/officeDocument/2006/relationships/slideLayout" Target="../slideLayouts/slideLayout7.xml"/><Relationship Id="rId7" Type="http://schemas.microsoft.com/office/2007/relationships/hdphoto" Target="../media/hdphoto1.wdp"/><Relationship Id="rId2" Type="http://schemas.openxmlformats.org/officeDocument/2006/relationships/tags" Target="../tags/tag2516.xml"/><Relationship Id="rId1" Type="http://schemas.openxmlformats.org/officeDocument/2006/relationships/tags" Target="../tags/tag2515.xml"/><Relationship Id="rId6" Type="http://schemas.openxmlformats.org/officeDocument/2006/relationships/image" Target="../media/image10.png"/><Relationship Id="rId5" Type="http://schemas.openxmlformats.org/officeDocument/2006/relationships/image" Target="../media/image9.emf"/><Relationship Id="rId4" Type="http://schemas.openxmlformats.org/officeDocument/2006/relationships/oleObject" Target="../embeddings/oleObject146.bin"/></Relationships>
</file>

<file path=ppt/slides/_rels/slide141.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20.xml"/><Relationship Id="rId1" Type="http://schemas.openxmlformats.org/officeDocument/2006/relationships/tags" Target="../tags/tag2517.xml"/></Relationships>
</file>

<file path=ppt/slides/_rels/slide142.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20.xml"/><Relationship Id="rId1" Type="http://schemas.openxmlformats.org/officeDocument/2006/relationships/tags" Target="../tags/tag2518.xml"/></Relationships>
</file>

<file path=ppt/slides/_rels/slide143.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20.xml"/><Relationship Id="rId1" Type="http://schemas.openxmlformats.org/officeDocument/2006/relationships/tags" Target="../tags/tag2519.xml"/></Relationships>
</file>

<file path=ppt/slides/_rels/slide144.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20.xml"/><Relationship Id="rId1" Type="http://schemas.openxmlformats.org/officeDocument/2006/relationships/tags" Target="../tags/tag2520.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0.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0.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0.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0.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0.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0.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0.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0.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0.xml"/></Relationships>
</file>

<file path=ppt/slides/_rels/slide154.xml.rels><?xml version="1.0" encoding="UTF-8" standalone="yes"?>
<Relationships xmlns="http://schemas.openxmlformats.org/package/2006/relationships"><Relationship Id="rId3" Type="http://schemas.openxmlformats.org/officeDocument/2006/relationships/slideLayout" Target="../slideLayouts/slideLayout20.xml"/><Relationship Id="rId2" Type="http://schemas.openxmlformats.org/officeDocument/2006/relationships/tags" Target="../tags/tag2522.xml"/><Relationship Id="rId1" Type="http://schemas.openxmlformats.org/officeDocument/2006/relationships/tags" Target="../tags/tag2521.xml"/><Relationship Id="rId6" Type="http://schemas.openxmlformats.org/officeDocument/2006/relationships/image" Target="../media/image19.emf"/><Relationship Id="rId5" Type="http://schemas.openxmlformats.org/officeDocument/2006/relationships/oleObject" Target="../embeddings/oleObject147.bin"/><Relationship Id="rId4" Type="http://schemas.openxmlformats.org/officeDocument/2006/relationships/notesSlide" Target="../notesSlides/notesSlide32.xml"/></Relationships>
</file>

<file path=ppt/slides/_rels/slide155.xml.rels><?xml version="1.0" encoding="UTF-8" standalone="yes"?>
<Relationships xmlns="http://schemas.openxmlformats.org/package/2006/relationships"><Relationship Id="rId3" Type="http://schemas.openxmlformats.org/officeDocument/2006/relationships/slideLayout" Target="../slideLayouts/slideLayout20.xml"/><Relationship Id="rId2" Type="http://schemas.openxmlformats.org/officeDocument/2006/relationships/tags" Target="../tags/tag2524.xml"/><Relationship Id="rId1" Type="http://schemas.openxmlformats.org/officeDocument/2006/relationships/tags" Target="../tags/tag2523.xml"/><Relationship Id="rId6" Type="http://schemas.openxmlformats.org/officeDocument/2006/relationships/image" Target="../media/image19.emf"/><Relationship Id="rId5" Type="http://schemas.openxmlformats.org/officeDocument/2006/relationships/oleObject" Target="../embeddings/oleObject148.bin"/><Relationship Id="rId4" Type="http://schemas.openxmlformats.org/officeDocument/2006/relationships/notesSlide" Target="../notesSlides/notesSlide33.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0.xml"/></Relationships>
</file>

<file path=ppt/slides/_rels/slide157.xml.rels><?xml version="1.0" encoding="UTF-8" standalone="yes"?>
<Relationships xmlns="http://schemas.openxmlformats.org/package/2006/relationships"><Relationship Id="rId8" Type="http://schemas.openxmlformats.org/officeDocument/2006/relationships/tags" Target="../tags/tag2532.xml"/><Relationship Id="rId13" Type="http://schemas.openxmlformats.org/officeDocument/2006/relationships/tags" Target="../tags/tag2537.xml"/><Relationship Id="rId18" Type="http://schemas.openxmlformats.org/officeDocument/2006/relationships/oleObject" Target="../embeddings/oleObject149.bin"/><Relationship Id="rId3" Type="http://schemas.openxmlformats.org/officeDocument/2006/relationships/tags" Target="../tags/tag2527.xml"/><Relationship Id="rId7" Type="http://schemas.openxmlformats.org/officeDocument/2006/relationships/tags" Target="../tags/tag2531.xml"/><Relationship Id="rId12" Type="http://schemas.openxmlformats.org/officeDocument/2006/relationships/tags" Target="../tags/tag2536.xml"/><Relationship Id="rId17" Type="http://schemas.openxmlformats.org/officeDocument/2006/relationships/slideLayout" Target="../slideLayouts/slideLayout14.xml"/><Relationship Id="rId2" Type="http://schemas.openxmlformats.org/officeDocument/2006/relationships/tags" Target="../tags/tag2526.xml"/><Relationship Id="rId16" Type="http://schemas.openxmlformats.org/officeDocument/2006/relationships/tags" Target="../tags/tag2540.xml"/><Relationship Id="rId20" Type="http://schemas.openxmlformats.org/officeDocument/2006/relationships/chart" Target="../charts/chart140.xml"/><Relationship Id="rId1" Type="http://schemas.openxmlformats.org/officeDocument/2006/relationships/tags" Target="../tags/tag2525.xml"/><Relationship Id="rId6" Type="http://schemas.openxmlformats.org/officeDocument/2006/relationships/tags" Target="../tags/tag2530.xml"/><Relationship Id="rId11" Type="http://schemas.openxmlformats.org/officeDocument/2006/relationships/tags" Target="../tags/tag2535.xml"/><Relationship Id="rId5" Type="http://schemas.openxmlformats.org/officeDocument/2006/relationships/tags" Target="../tags/tag2529.xml"/><Relationship Id="rId15" Type="http://schemas.openxmlformats.org/officeDocument/2006/relationships/tags" Target="../tags/tag2539.xml"/><Relationship Id="rId10" Type="http://schemas.openxmlformats.org/officeDocument/2006/relationships/tags" Target="../tags/tag2534.xml"/><Relationship Id="rId19" Type="http://schemas.openxmlformats.org/officeDocument/2006/relationships/image" Target="../media/image9.emf"/><Relationship Id="rId4" Type="http://schemas.openxmlformats.org/officeDocument/2006/relationships/tags" Target="../tags/tag2528.xml"/><Relationship Id="rId9" Type="http://schemas.openxmlformats.org/officeDocument/2006/relationships/tags" Target="../tags/tag2533.xml"/><Relationship Id="rId14" Type="http://schemas.openxmlformats.org/officeDocument/2006/relationships/tags" Target="../tags/tag2538.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0.xml"/></Relationships>
</file>

<file path=ppt/slides/_rels/slide159.xml.rels><?xml version="1.0" encoding="UTF-8" standalone="yes"?>
<Relationships xmlns="http://schemas.openxmlformats.org/package/2006/relationships"><Relationship Id="rId3" Type="http://schemas.openxmlformats.org/officeDocument/2006/relationships/notesSlide" Target="../notesSlides/notesSlide36.xml"/><Relationship Id="rId2" Type="http://schemas.openxmlformats.org/officeDocument/2006/relationships/slideLayout" Target="../slideLayouts/slideLayout20.xml"/><Relationship Id="rId1" Type="http://schemas.openxmlformats.org/officeDocument/2006/relationships/tags" Target="../tags/tag2541.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63.xml.rels><?xml version="1.0" encoding="UTF-8" standalone="yes"?>
<Relationships xmlns="http://schemas.openxmlformats.org/package/2006/relationships"><Relationship Id="rId3" Type="http://schemas.openxmlformats.org/officeDocument/2006/relationships/notesSlide" Target="../notesSlides/notesSlide37.xml"/><Relationship Id="rId2" Type="http://schemas.openxmlformats.org/officeDocument/2006/relationships/slideLayout" Target="../slideLayouts/slideLayout20.xml"/><Relationship Id="rId1" Type="http://schemas.openxmlformats.org/officeDocument/2006/relationships/tags" Target="../tags/tag2542.xml"/><Relationship Id="rId5" Type="http://schemas.microsoft.com/office/2007/relationships/hdphoto" Target="../media/hdphoto2.wdp"/><Relationship Id="rId4" Type="http://schemas.openxmlformats.org/officeDocument/2006/relationships/image" Target="../media/image20.png"/></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66.xml.rels><?xml version="1.0" encoding="UTF-8" standalone="yes"?>
<Relationships xmlns="http://schemas.openxmlformats.org/package/2006/relationships"><Relationship Id="rId3" Type="http://schemas.openxmlformats.org/officeDocument/2006/relationships/slideLayout" Target="../slideLayouts/slideLayout20.xml"/><Relationship Id="rId2" Type="http://schemas.openxmlformats.org/officeDocument/2006/relationships/tags" Target="../tags/tag2544.xml"/><Relationship Id="rId1" Type="http://schemas.openxmlformats.org/officeDocument/2006/relationships/tags" Target="../tags/tag2543.xml"/><Relationship Id="rId4" Type="http://schemas.openxmlformats.org/officeDocument/2006/relationships/notesSlide" Target="../notesSlides/notesSlide38.xml"/></Relationships>
</file>

<file path=ppt/slides/_rels/slide167.xml.rels><?xml version="1.0" encoding="UTF-8" standalone="yes"?>
<Relationships xmlns="http://schemas.openxmlformats.org/package/2006/relationships"><Relationship Id="rId3" Type="http://schemas.openxmlformats.org/officeDocument/2006/relationships/notesSlide" Target="../notesSlides/notesSlide39.xml"/><Relationship Id="rId2" Type="http://schemas.openxmlformats.org/officeDocument/2006/relationships/slideLayout" Target="../slideLayouts/slideLayout20.xml"/><Relationship Id="rId1" Type="http://schemas.openxmlformats.org/officeDocument/2006/relationships/tags" Target="../tags/tag2545.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69.xml.rels><?xml version="1.0" encoding="UTF-8" standalone="yes"?>
<Relationships xmlns="http://schemas.openxmlformats.org/package/2006/relationships"><Relationship Id="rId26" Type="http://schemas.openxmlformats.org/officeDocument/2006/relationships/tags" Target="../tags/tag2571.xml"/><Relationship Id="rId117" Type="http://schemas.openxmlformats.org/officeDocument/2006/relationships/tags" Target="../tags/tag2662.xml"/><Relationship Id="rId21" Type="http://schemas.openxmlformats.org/officeDocument/2006/relationships/tags" Target="../tags/tag2566.xml"/><Relationship Id="rId42" Type="http://schemas.openxmlformats.org/officeDocument/2006/relationships/tags" Target="../tags/tag2587.xml"/><Relationship Id="rId47" Type="http://schemas.openxmlformats.org/officeDocument/2006/relationships/tags" Target="../tags/tag2592.xml"/><Relationship Id="rId63" Type="http://schemas.openxmlformats.org/officeDocument/2006/relationships/tags" Target="../tags/tag2608.xml"/><Relationship Id="rId68" Type="http://schemas.openxmlformats.org/officeDocument/2006/relationships/tags" Target="../tags/tag2613.xml"/><Relationship Id="rId84" Type="http://schemas.openxmlformats.org/officeDocument/2006/relationships/tags" Target="../tags/tag2629.xml"/><Relationship Id="rId89" Type="http://schemas.openxmlformats.org/officeDocument/2006/relationships/tags" Target="../tags/tag2634.xml"/><Relationship Id="rId112" Type="http://schemas.openxmlformats.org/officeDocument/2006/relationships/tags" Target="../tags/tag2657.xml"/><Relationship Id="rId16" Type="http://schemas.openxmlformats.org/officeDocument/2006/relationships/tags" Target="../tags/tag2561.xml"/><Relationship Id="rId107" Type="http://schemas.openxmlformats.org/officeDocument/2006/relationships/tags" Target="../tags/tag2652.xml"/><Relationship Id="rId11" Type="http://schemas.openxmlformats.org/officeDocument/2006/relationships/tags" Target="../tags/tag2556.xml"/><Relationship Id="rId32" Type="http://schemas.openxmlformats.org/officeDocument/2006/relationships/tags" Target="../tags/tag2577.xml"/><Relationship Id="rId37" Type="http://schemas.openxmlformats.org/officeDocument/2006/relationships/tags" Target="../tags/tag2582.xml"/><Relationship Id="rId53" Type="http://schemas.openxmlformats.org/officeDocument/2006/relationships/tags" Target="../tags/tag2598.xml"/><Relationship Id="rId58" Type="http://schemas.openxmlformats.org/officeDocument/2006/relationships/tags" Target="../tags/tag2603.xml"/><Relationship Id="rId74" Type="http://schemas.openxmlformats.org/officeDocument/2006/relationships/tags" Target="../tags/tag2619.xml"/><Relationship Id="rId79" Type="http://schemas.openxmlformats.org/officeDocument/2006/relationships/tags" Target="../tags/tag2624.xml"/><Relationship Id="rId102" Type="http://schemas.openxmlformats.org/officeDocument/2006/relationships/tags" Target="../tags/tag2647.xml"/><Relationship Id="rId123" Type="http://schemas.openxmlformats.org/officeDocument/2006/relationships/slideLayout" Target="../slideLayouts/slideLayout21.xml"/><Relationship Id="rId5" Type="http://schemas.openxmlformats.org/officeDocument/2006/relationships/tags" Target="../tags/tag2550.xml"/><Relationship Id="rId90" Type="http://schemas.openxmlformats.org/officeDocument/2006/relationships/tags" Target="../tags/tag2635.xml"/><Relationship Id="rId95" Type="http://schemas.openxmlformats.org/officeDocument/2006/relationships/tags" Target="../tags/tag2640.xml"/><Relationship Id="rId22" Type="http://schemas.openxmlformats.org/officeDocument/2006/relationships/tags" Target="../tags/tag2567.xml"/><Relationship Id="rId27" Type="http://schemas.openxmlformats.org/officeDocument/2006/relationships/tags" Target="../tags/tag2572.xml"/><Relationship Id="rId43" Type="http://schemas.openxmlformats.org/officeDocument/2006/relationships/tags" Target="../tags/tag2588.xml"/><Relationship Id="rId48" Type="http://schemas.openxmlformats.org/officeDocument/2006/relationships/tags" Target="../tags/tag2593.xml"/><Relationship Id="rId64" Type="http://schemas.openxmlformats.org/officeDocument/2006/relationships/tags" Target="../tags/tag2609.xml"/><Relationship Id="rId69" Type="http://schemas.openxmlformats.org/officeDocument/2006/relationships/tags" Target="../tags/tag2614.xml"/><Relationship Id="rId113" Type="http://schemas.openxmlformats.org/officeDocument/2006/relationships/tags" Target="../tags/tag2658.xml"/><Relationship Id="rId118" Type="http://schemas.openxmlformats.org/officeDocument/2006/relationships/tags" Target="../tags/tag2663.xml"/><Relationship Id="rId80" Type="http://schemas.openxmlformats.org/officeDocument/2006/relationships/tags" Target="../tags/tag2625.xml"/><Relationship Id="rId85" Type="http://schemas.openxmlformats.org/officeDocument/2006/relationships/tags" Target="../tags/tag2630.xml"/><Relationship Id="rId12" Type="http://schemas.openxmlformats.org/officeDocument/2006/relationships/tags" Target="../tags/tag2557.xml"/><Relationship Id="rId17" Type="http://schemas.openxmlformats.org/officeDocument/2006/relationships/tags" Target="../tags/tag2562.xml"/><Relationship Id="rId33" Type="http://schemas.openxmlformats.org/officeDocument/2006/relationships/tags" Target="../tags/tag2578.xml"/><Relationship Id="rId38" Type="http://schemas.openxmlformats.org/officeDocument/2006/relationships/tags" Target="../tags/tag2583.xml"/><Relationship Id="rId59" Type="http://schemas.openxmlformats.org/officeDocument/2006/relationships/tags" Target="../tags/tag2604.xml"/><Relationship Id="rId103" Type="http://schemas.openxmlformats.org/officeDocument/2006/relationships/tags" Target="../tags/tag2648.xml"/><Relationship Id="rId108" Type="http://schemas.openxmlformats.org/officeDocument/2006/relationships/tags" Target="../tags/tag2653.xml"/><Relationship Id="rId124" Type="http://schemas.openxmlformats.org/officeDocument/2006/relationships/oleObject" Target="../embeddings/oleObject150.bin"/><Relationship Id="rId54" Type="http://schemas.openxmlformats.org/officeDocument/2006/relationships/tags" Target="../tags/tag2599.xml"/><Relationship Id="rId70" Type="http://schemas.openxmlformats.org/officeDocument/2006/relationships/tags" Target="../tags/tag2615.xml"/><Relationship Id="rId75" Type="http://schemas.openxmlformats.org/officeDocument/2006/relationships/tags" Target="../tags/tag2620.xml"/><Relationship Id="rId91" Type="http://schemas.openxmlformats.org/officeDocument/2006/relationships/tags" Target="../tags/tag2636.xml"/><Relationship Id="rId96" Type="http://schemas.openxmlformats.org/officeDocument/2006/relationships/tags" Target="../tags/tag2641.xml"/><Relationship Id="rId1" Type="http://schemas.openxmlformats.org/officeDocument/2006/relationships/tags" Target="../tags/tag2546.xml"/><Relationship Id="rId6" Type="http://schemas.openxmlformats.org/officeDocument/2006/relationships/tags" Target="../tags/tag2551.xml"/><Relationship Id="rId23" Type="http://schemas.openxmlformats.org/officeDocument/2006/relationships/tags" Target="../tags/tag2568.xml"/><Relationship Id="rId28" Type="http://schemas.openxmlformats.org/officeDocument/2006/relationships/tags" Target="../tags/tag2573.xml"/><Relationship Id="rId49" Type="http://schemas.openxmlformats.org/officeDocument/2006/relationships/tags" Target="../tags/tag2594.xml"/><Relationship Id="rId114" Type="http://schemas.openxmlformats.org/officeDocument/2006/relationships/tags" Target="../tags/tag2659.xml"/><Relationship Id="rId119" Type="http://schemas.openxmlformats.org/officeDocument/2006/relationships/tags" Target="../tags/tag2664.xml"/><Relationship Id="rId44" Type="http://schemas.openxmlformats.org/officeDocument/2006/relationships/tags" Target="../tags/tag2589.xml"/><Relationship Id="rId60" Type="http://schemas.openxmlformats.org/officeDocument/2006/relationships/tags" Target="../tags/tag2605.xml"/><Relationship Id="rId65" Type="http://schemas.openxmlformats.org/officeDocument/2006/relationships/tags" Target="../tags/tag2610.xml"/><Relationship Id="rId81" Type="http://schemas.openxmlformats.org/officeDocument/2006/relationships/tags" Target="../tags/tag2626.xml"/><Relationship Id="rId86" Type="http://schemas.openxmlformats.org/officeDocument/2006/relationships/tags" Target="../tags/tag2631.xml"/><Relationship Id="rId13" Type="http://schemas.openxmlformats.org/officeDocument/2006/relationships/tags" Target="../tags/tag2558.xml"/><Relationship Id="rId18" Type="http://schemas.openxmlformats.org/officeDocument/2006/relationships/tags" Target="../tags/tag2563.xml"/><Relationship Id="rId39" Type="http://schemas.openxmlformats.org/officeDocument/2006/relationships/tags" Target="../tags/tag2584.xml"/><Relationship Id="rId109" Type="http://schemas.openxmlformats.org/officeDocument/2006/relationships/tags" Target="../tags/tag2654.xml"/><Relationship Id="rId34" Type="http://schemas.openxmlformats.org/officeDocument/2006/relationships/tags" Target="../tags/tag2579.xml"/><Relationship Id="rId50" Type="http://schemas.openxmlformats.org/officeDocument/2006/relationships/tags" Target="../tags/tag2595.xml"/><Relationship Id="rId55" Type="http://schemas.openxmlformats.org/officeDocument/2006/relationships/tags" Target="../tags/tag2600.xml"/><Relationship Id="rId76" Type="http://schemas.openxmlformats.org/officeDocument/2006/relationships/tags" Target="../tags/tag2621.xml"/><Relationship Id="rId97" Type="http://schemas.openxmlformats.org/officeDocument/2006/relationships/tags" Target="../tags/tag2642.xml"/><Relationship Id="rId104" Type="http://schemas.openxmlformats.org/officeDocument/2006/relationships/tags" Target="../tags/tag2649.xml"/><Relationship Id="rId120" Type="http://schemas.openxmlformats.org/officeDocument/2006/relationships/tags" Target="../tags/tag2665.xml"/><Relationship Id="rId125" Type="http://schemas.openxmlformats.org/officeDocument/2006/relationships/image" Target="../media/image9.emf"/><Relationship Id="rId7" Type="http://schemas.openxmlformats.org/officeDocument/2006/relationships/tags" Target="../tags/tag2552.xml"/><Relationship Id="rId71" Type="http://schemas.openxmlformats.org/officeDocument/2006/relationships/tags" Target="../tags/tag2616.xml"/><Relationship Id="rId92" Type="http://schemas.openxmlformats.org/officeDocument/2006/relationships/tags" Target="../tags/tag2637.xml"/><Relationship Id="rId2" Type="http://schemas.openxmlformats.org/officeDocument/2006/relationships/tags" Target="../tags/tag2547.xml"/><Relationship Id="rId29" Type="http://schemas.openxmlformats.org/officeDocument/2006/relationships/tags" Target="../tags/tag2574.xml"/><Relationship Id="rId24" Type="http://schemas.openxmlformats.org/officeDocument/2006/relationships/tags" Target="../tags/tag2569.xml"/><Relationship Id="rId40" Type="http://schemas.openxmlformats.org/officeDocument/2006/relationships/tags" Target="../tags/tag2585.xml"/><Relationship Id="rId45" Type="http://schemas.openxmlformats.org/officeDocument/2006/relationships/tags" Target="../tags/tag2590.xml"/><Relationship Id="rId66" Type="http://schemas.openxmlformats.org/officeDocument/2006/relationships/tags" Target="../tags/tag2611.xml"/><Relationship Id="rId87" Type="http://schemas.openxmlformats.org/officeDocument/2006/relationships/tags" Target="../tags/tag2632.xml"/><Relationship Id="rId110" Type="http://schemas.openxmlformats.org/officeDocument/2006/relationships/tags" Target="../tags/tag2655.xml"/><Relationship Id="rId115" Type="http://schemas.openxmlformats.org/officeDocument/2006/relationships/tags" Target="../tags/tag2660.xml"/><Relationship Id="rId61" Type="http://schemas.openxmlformats.org/officeDocument/2006/relationships/tags" Target="../tags/tag2606.xml"/><Relationship Id="rId82" Type="http://schemas.openxmlformats.org/officeDocument/2006/relationships/tags" Target="../tags/tag2627.xml"/><Relationship Id="rId19" Type="http://schemas.openxmlformats.org/officeDocument/2006/relationships/tags" Target="../tags/tag2564.xml"/><Relationship Id="rId14" Type="http://schemas.openxmlformats.org/officeDocument/2006/relationships/tags" Target="../tags/tag2559.xml"/><Relationship Id="rId30" Type="http://schemas.openxmlformats.org/officeDocument/2006/relationships/tags" Target="../tags/tag2575.xml"/><Relationship Id="rId35" Type="http://schemas.openxmlformats.org/officeDocument/2006/relationships/tags" Target="../tags/tag2580.xml"/><Relationship Id="rId56" Type="http://schemas.openxmlformats.org/officeDocument/2006/relationships/tags" Target="../tags/tag2601.xml"/><Relationship Id="rId77" Type="http://schemas.openxmlformats.org/officeDocument/2006/relationships/tags" Target="../tags/tag2622.xml"/><Relationship Id="rId100" Type="http://schemas.openxmlformats.org/officeDocument/2006/relationships/tags" Target="../tags/tag2645.xml"/><Relationship Id="rId105" Type="http://schemas.openxmlformats.org/officeDocument/2006/relationships/tags" Target="../tags/tag2650.xml"/><Relationship Id="rId8" Type="http://schemas.openxmlformats.org/officeDocument/2006/relationships/tags" Target="../tags/tag2553.xml"/><Relationship Id="rId51" Type="http://schemas.openxmlformats.org/officeDocument/2006/relationships/tags" Target="../tags/tag2596.xml"/><Relationship Id="rId72" Type="http://schemas.openxmlformats.org/officeDocument/2006/relationships/tags" Target="../tags/tag2617.xml"/><Relationship Id="rId93" Type="http://schemas.openxmlformats.org/officeDocument/2006/relationships/tags" Target="../tags/tag2638.xml"/><Relationship Id="rId98" Type="http://schemas.openxmlformats.org/officeDocument/2006/relationships/tags" Target="../tags/tag2643.xml"/><Relationship Id="rId121" Type="http://schemas.openxmlformats.org/officeDocument/2006/relationships/tags" Target="../tags/tag2666.xml"/><Relationship Id="rId3" Type="http://schemas.openxmlformats.org/officeDocument/2006/relationships/tags" Target="../tags/tag2548.xml"/><Relationship Id="rId25" Type="http://schemas.openxmlformats.org/officeDocument/2006/relationships/tags" Target="../tags/tag2570.xml"/><Relationship Id="rId46" Type="http://schemas.openxmlformats.org/officeDocument/2006/relationships/tags" Target="../tags/tag2591.xml"/><Relationship Id="rId67" Type="http://schemas.openxmlformats.org/officeDocument/2006/relationships/tags" Target="../tags/tag2612.xml"/><Relationship Id="rId116" Type="http://schemas.openxmlformats.org/officeDocument/2006/relationships/tags" Target="../tags/tag2661.xml"/><Relationship Id="rId20" Type="http://schemas.openxmlformats.org/officeDocument/2006/relationships/tags" Target="../tags/tag2565.xml"/><Relationship Id="rId41" Type="http://schemas.openxmlformats.org/officeDocument/2006/relationships/tags" Target="../tags/tag2586.xml"/><Relationship Id="rId62" Type="http://schemas.openxmlformats.org/officeDocument/2006/relationships/tags" Target="../tags/tag2607.xml"/><Relationship Id="rId83" Type="http://schemas.openxmlformats.org/officeDocument/2006/relationships/tags" Target="../tags/tag2628.xml"/><Relationship Id="rId88" Type="http://schemas.openxmlformats.org/officeDocument/2006/relationships/tags" Target="../tags/tag2633.xml"/><Relationship Id="rId111" Type="http://schemas.openxmlformats.org/officeDocument/2006/relationships/tags" Target="../tags/tag2656.xml"/><Relationship Id="rId15" Type="http://schemas.openxmlformats.org/officeDocument/2006/relationships/tags" Target="../tags/tag2560.xml"/><Relationship Id="rId36" Type="http://schemas.openxmlformats.org/officeDocument/2006/relationships/tags" Target="../tags/tag2581.xml"/><Relationship Id="rId57" Type="http://schemas.openxmlformats.org/officeDocument/2006/relationships/tags" Target="../tags/tag2602.xml"/><Relationship Id="rId106" Type="http://schemas.openxmlformats.org/officeDocument/2006/relationships/tags" Target="../tags/tag2651.xml"/><Relationship Id="rId10" Type="http://schemas.openxmlformats.org/officeDocument/2006/relationships/tags" Target="../tags/tag2555.xml"/><Relationship Id="rId31" Type="http://schemas.openxmlformats.org/officeDocument/2006/relationships/tags" Target="../tags/tag2576.xml"/><Relationship Id="rId52" Type="http://schemas.openxmlformats.org/officeDocument/2006/relationships/tags" Target="../tags/tag2597.xml"/><Relationship Id="rId73" Type="http://schemas.openxmlformats.org/officeDocument/2006/relationships/tags" Target="../tags/tag2618.xml"/><Relationship Id="rId78" Type="http://schemas.openxmlformats.org/officeDocument/2006/relationships/tags" Target="../tags/tag2623.xml"/><Relationship Id="rId94" Type="http://schemas.openxmlformats.org/officeDocument/2006/relationships/tags" Target="../tags/tag2639.xml"/><Relationship Id="rId99" Type="http://schemas.openxmlformats.org/officeDocument/2006/relationships/tags" Target="../tags/tag2644.xml"/><Relationship Id="rId101" Type="http://schemas.openxmlformats.org/officeDocument/2006/relationships/tags" Target="../tags/tag2646.xml"/><Relationship Id="rId122" Type="http://schemas.openxmlformats.org/officeDocument/2006/relationships/tags" Target="../tags/tag2667.xml"/><Relationship Id="rId4" Type="http://schemas.openxmlformats.org/officeDocument/2006/relationships/tags" Target="../tags/tag2549.xml"/><Relationship Id="rId9" Type="http://schemas.openxmlformats.org/officeDocument/2006/relationships/tags" Target="../tags/tag2554.xml"/></Relationships>
</file>

<file path=ppt/slides/_rels/slide170.xml.rels><?xml version="1.0" encoding="UTF-8" standalone="yes"?>
<Relationships xmlns="http://schemas.openxmlformats.org/package/2006/relationships"><Relationship Id="rId26" Type="http://schemas.openxmlformats.org/officeDocument/2006/relationships/tags" Target="../tags/tag2693.xml"/><Relationship Id="rId21" Type="http://schemas.openxmlformats.org/officeDocument/2006/relationships/tags" Target="../tags/tag2688.xml"/><Relationship Id="rId42" Type="http://schemas.openxmlformats.org/officeDocument/2006/relationships/tags" Target="../tags/tag2709.xml"/><Relationship Id="rId47" Type="http://schemas.openxmlformats.org/officeDocument/2006/relationships/tags" Target="../tags/tag2714.xml"/><Relationship Id="rId63" Type="http://schemas.openxmlformats.org/officeDocument/2006/relationships/tags" Target="../tags/tag2730.xml"/><Relationship Id="rId68" Type="http://schemas.openxmlformats.org/officeDocument/2006/relationships/tags" Target="../tags/tag2735.xml"/><Relationship Id="rId84" Type="http://schemas.openxmlformats.org/officeDocument/2006/relationships/tags" Target="../tags/tag2751.xml"/><Relationship Id="rId16" Type="http://schemas.openxmlformats.org/officeDocument/2006/relationships/tags" Target="../tags/tag2683.xml"/><Relationship Id="rId11" Type="http://schemas.openxmlformats.org/officeDocument/2006/relationships/tags" Target="../tags/tag2678.xml"/><Relationship Id="rId32" Type="http://schemas.openxmlformats.org/officeDocument/2006/relationships/tags" Target="../tags/tag2699.xml"/><Relationship Id="rId37" Type="http://schemas.openxmlformats.org/officeDocument/2006/relationships/tags" Target="../tags/tag2704.xml"/><Relationship Id="rId53" Type="http://schemas.openxmlformats.org/officeDocument/2006/relationships/tags" Target="../tags/tag2720.xml"/><Relationship Id="rId58" Type="http://schemas.openxmlformats.org/officeDocument/2006/relationships/tags" Target="../tags/tag2725.xml"/><Relationship Id="rId74" Type="http://schemas.openxmlformats.org/officeDocument/2006/relationships/tags" Target="../tags/tag2741.xml"/><Relationship Id="rId79" Type="http://schemas.openxmlformats.org/officeDocument/2006/relationships/tags" Target="../tags/tag2746.xml"/><Relationship Id="rId5" Type="http://schemas.openxmlformats.org/officeDocument/2006/relationships/tags" Target="../tags/tag2672.xml"/><Relationship Id="rId19" Type="http://schemas.openxmlformats.org/officeDocument/2006/relationships/tags" Target="../tags/tag2686.xml"/><Relationship Id="rId14" Type="http://schemas.openxmlformats.org/officeDocument/2006/relationships/tags" Target="../tags/tag2681.xml"/><Relationship Id="rId22" Type="http://schemas.openxmlformats.org/officeDocument/2006/relationships/tags" Target="../tags/tag2689.xml"/><Relationship Id="rId27" Type="http://schemas.openxmlformats.org/officeDocument/2006/relationships/tags" Target="../tags/tag2694.xml"/><Relationship Id="rId30" Type="http://schemas.openxmlformats.org/officeDocument/2006/relationships/tags" Target="../tags/tag2697.xml"/><Relationship Id="rId35" Type="http://schemas.openxmlformats.org/officeDocument/2006/relationships/tags" Target="../tags/tag2702.xml"/><Relationship Id="rId43" Type="http://schemas.openxmlformats.org/officeDocument/2006/relationships/tags" Target="../tags/tag2710.xml"/><Relationship Id="rId48" Type="http://schemas.openxmlformats.org/officeDocument/2006/relationships/tags" Target="../tags/tag2715.xml"/><Relationship Id="rId56" Type="http://schemas.openxmlformats.org/officeDocument/2006/relationships/tags" Target="../tags/tag2723.xml"/><Relationship Id="rId64" Type="http://schemas.openxmlformats.org/officeDocument/2006/relationships/tags" Target="../tags/tag2731.xml"/><Relationship Id="rId69" Type="http://schemas.openxmlformats.org/officeDocument/2006/relationships/tags" Target="../tags/tag2736.xml"/><Relationship Id="rId77" Type="http://schemas.openxmlformats.org/officeDocument/2006/relationships/tags" Target="../tags/tag2744.xml"/><Relationship Id="rId8" Type="http://schemas.openxmlformats.org/officeDocument/2006/relationships/tags" Target="../tags/tag2675.xml"/><Relationship Id="rId51" Type="http://schemas.openxmlformats.org/officeDocument/2006/relationships/tags" Target="../tags/tag2718.xml"/><Relationship Id="rId72" Type="http://schemas.openxmlformats.org/officeDocument/2006/relationships/tags" Target="../tags/tag2739.xml"/><Relationship Id="rId80" Type="http://schemas.openxmlformats.org/officeDocument/2006/relationships/tags" Target="../tags/tag2747.xml"/><Relationship Id="rId85" Type="http://schemas.openxmlformats.org/officeDocument/2006/relationships/slideLayout" Target="../slideLayouts/slideLayout21.xml"/><Relationship Id="rId3" Type="http://schemas.openxmlformats.org/officeDocument/2006/relationships/tags" Target="../tags/tag2670.xml"/><Relationship Id="rId12" Type="http://schemas.openxmlformats.org/officeDocument/2006/relationships/tags" Target="../tags/tag2679.xml"/><Relationship Id="rId17" Type="http://schemas.openxmlformats.org/officeDocument/2006/relationships/tags" Target="../tags/tag2684.xml"/><Relationship Id="rId25" Type="http://schemas.openxmlformats.org/officeDocument/2006/relationships/tags" Target="../tags/tag2692.xml"/><Relationship Id="rId33" Type="http://schemas.openxmlformats.org/officeDocument/2006/relationships/tags" Target="../tags/tag2700.xml"/><Relationship Id="rId38" Type="http://schemas.openxmlformats.org/officeDocument/2006/relationships/tags" Target="../tags/tag2705.xml"/><Relationship Id="rId46" Type="http://schemas.openxmlformats.org/officeDocument/2006/relationships/tags" Target="../tags/tag2713.xml"/><Relationship Id="rId59" Type="http://schemas.openxmlformats.org/officeDocument/2006/relationships/tags" Target="../tags/tag2726.xml"/><Relationship Id="rId67" Type="http://schemas.openxmlformats.org/officeDocument/2006/relationships/tags" Target="../tags/tag2734.xml"/><Relationship Id="rId20" Type="http://schemas.openxmlformats.org/officeDocument/2006/relationships/tags" Target="../tags/tag2687.xml"/><Relationship Id="rId41" Type="http://schemas.openxmlformats.org/officeDocument/2006/relationships/tags" Target="../tags/tag2708.xml"/><Relationship Id="rId54" Type="http://schemas.openxmlformats.org/officeDocument/2006/relationships/tags" Target="../tags/tag2721.xml"/><Relationship Id="rId62" Type="http://schemas.openxmlformats.org/officeDocument/2006/relationships/tags" Target="../tags/tag2729.xml"/><Relationship Id="rId70" Type="http://schemas.openxmlformats.org/officeDocument/2006/relationships/tags" Target="../tags/tag2737.xml"/><Relationship Id="rId75" Type="http://schemas.openxmlformats.org/officeDocument/2006/relationships/tags" Target="../tags/tag2742.xml"/><Relationship Id="rId83" Type="http://schemas.openxmlformats.org/officeDocument/2006/relationships/tags" Target="../tags/tag2750.xml"/><Relationship Id="rId1" Type="http://schemas.openxmlformats.org/officeDocument/2006/relationships/tags" Target="../tags/tag2668.xml"/><Relationship Id="rId6" Type="http://schemas.openxmlformats.org/officeDocument/2006/relationships/tags" Target="../tags/tag2673.xml"/><Relationship Id="rId15" Type="http://schemas.openxmlformats.org/officeDocument/2006/relationships/tags" Target="../tags/tag2682.xml"/><Relationship Id="rId23" Type="http://schemas.openxmlformats.org/officeDocument/2006/relationships/tags" Target="../tags/tag2690.xml"/><Relationship Id="rId28" Type="http://schemas.openxmlformats.org/officeDocument/2006/relationships/tags" Target="../tags/tag2695.xml"/><Relationship Id="rId36" Type="http://schemas.openxmlformats.org/officeDocument/2006/relationships/tags" Target="../tags/tag2703.xml"/><Relationship Id="rId49" Type="http://schemas.openxmlformats.org/officeDocument/2006/relationships/tags" Target="../tags/tag2716.xml"/><Relationship Id="rId57" Type="http://schemas.openxmlformats.org/officeDocument/2006/relationships/tags" Target="../tags/tag2724.xml"/><Relationship Id="rId10" Type="http://schemas.openxmlformats.org/officeDocument/2006/relationships/tags" Target="../tags/tag2677.xml"/><Relationship Id="rId31" Type="http://schemas.openxmlformats.org/officeDocument/2006/relationships/tags" Target="../tags/tag2698.xml"/><Relationship Id="rId44" Type="http://schemas.openxmlformats.org/officeDocument/2006/relationships/tags" Target="../tags/tag2711.xml"/><Relationship Id="rId52" Type="http://schemas.openxmlformats.org/officeDocument/2006/relationships/tags" Target="../tags/tag2719.xml"/><Relationship Id="rId60" Type="http://schemas.openxmlformats.org/officeDocument/2006/relationships/tags" Target="../tags/tag2727.xml"/><Relationship Id="rId65" Type="http://schemas.openxmlformats.org/officeDocument/2006/relationships/tags" Target="../tags/tag2732.xml"/><Relationship Id="rId73" Type="http://schemas.openxmlformats.org/officeDocument/2006/relationships/tags" Target="../tags/tag2740.xml"/><Relationship Id="rId78" Type="http://schemas.openxmlformats.org/officeDocument/2006/relationships/tags" Target="../tags/tag2745.xml"/><Relationship Id="rId81" Type="http://schemas.openxmlformats.org/officeDocument/2006/relationships/tags" Target="../tags/tag2748.xml"/><Relationship Id="rId86" Type="http://schemas.openxmlformats.org/officeDocument/2006/relationships/oleObject" Target="../embeddings/oleObject151.bin"/><Relationship Id="rId4" Type="http://schemas.openxmlformats.org/officeDocument/2006/relationships/tags" Target="../tags/tag2671.xml"/><Relationship Id="rId9" Type="http://schemas.openxmlformats.org/officeDocument/2006/relationships/tags" Target="../tags/tag2676.xml"/><Relationship Id="rId13" Type="http://schemas.openxmlformats.org/officeDocument/2006/relationships/tags" Target="../tags/tag2680.xml"/><Relationship Id="rId18" Type="http://schemas.openxmlformats.org/officeDocument/2006/relationships/tags" Target="../tags/tag2685.xml"/><Relationship Id="rId39" Type="http://schemas.openxmlformats.org/officeDocument/2006/relationships/tags" Target="../tags/tag2706.xml"/><Relationship Id="rId34" Type="http://schemas.openxmlformats.org/officeDocument/2006/relationships/tags" Target="../tags/tag2701.xml"/><Relationship Id="rId50" Type="http://schemas.openxmlformats.org/officeDocument/2006/relationships/tags" Target="../tags/tag2717.xml"/><Relationship Id="rId55" Type="http://schemas.openxmlformats.org/officeDocument/2006/relationships/tags" Target="../tags/tag2722.xml"/><Relationship Id="rId76" Type="http://schemas.openxmlformats.org/officeDocument/2006/relationships/tags" Target="../tags/tag2743.xml"/><Relationship Id="rId7" Type="http://schemas.openxmlformats.org/officeDocument/2006/relationships/tags" Target="../tags/tag2674.xml"/><Relationship Id="rId71" Type="http://schemas.openxmlformats.org/officeDocument/2006/relationships/tags" Target="../tags/tag2738.xml"/><Relationship Id="rId2" Type="http://schemas.openxmlformats.org/officeDocument/2006/relationships/tags" Target="../tags/tag2669.xml"/><Relationship Id="rId29" Type="http://schemas.openxmlformats.org/officeDocument/2006/relationships/tags" Target="../tags/tag2696.xml"/><Relationship Id="rId24" Type="http://schemas.openxmlformats.org/officeDocument/2006/relationships/tags" Target="../tags/tag2691.xml"/><Relationship Id="rId40" Type="http://schemas.openxmlformats.org/officeDocument/2006/relationships/tags" Target="../tags/tag2707.xml"/><Relationship Id="rId45" Type="http://schemas.openxmlformats.org/officeDocument/2006/relationships/tags" Target="../tags/tag2712.xml"/><Relationship Id="rId66" Type="http://schemas.openxmlformats.org/officeDocument/2006/relationships/tags" Target="../tags/tag2733.xml"/><Relationship Id="rId87" Type="http://schemas.openxmlformats.org/officeDocument/2006/relationships/image" Target="../media/image9.emf"/><Relationship Id="rId61" Type="http://schemas.openxmlformats.org/officeDocument/2006/relationships/tags" Target="../tags/tag2728.xml"/><Relationship Id="rId82" Type="http://schemas.openxmlformats.org/officeDocument/2006/relationships/tags" Target="../tags/tag2749.xml"/></Relationships>
</file>

<file path=ppt/slides/_rels/slide171.xml.rels><?xml version="1.0" encoding="UTF-8" standalone="yes"?>
<Relationships xmlns="http://schemas.openxmlformats.org/package/2006/relationships"><Relationship Id="rId3" Type="http://schemas.openxmlformats.org/officeDocument/2006/relationships/notesSlide" Target="../notesSlides/notesSlide40.xml"/><Relationship Id="rId2" Type="http://schemas.openxmlformats.org/officeDocument/2006/relationships/slideLayout" Target="../slideLayouts/slideLayout20.xml"/><Relationship Id="rId1" Type="http://schemas.openxmlformats.org/officeDocument/2006/relationships/tags" Target="../tags/tag2752.xml"/></Relationships>
</file>

<file path=ppt/slides/_rels/slide172.xml.rels><?xml version="1.0" encoding="UTF-8" standalone="yes"?>
<Relationships xmlns="http://schemas.openxmlformats.org/package/2006/relationships"><Relationship Id="rId3" Type="http://schemas.openxmlformats.org/officeDocument/2006/relationships/slideLayout" Target="../slideLayouts/slideLayout20.xml"/><Relationship Id="rId2" Type="http://schemas.openxmlformats.org/officeDocument/2006/relationships/tags" Target="../tags/tag2754.xml"/><Relationship Id="rId1" Type="http://schemas.openxmlformats.org/officeDocument/2006/relationships/tags" Target="../tags/tag2753.xml"/><Relationship Id="rId6" Type="http://schemas.openxmlformats.org/officeDocument/2006/relationships/image" Target="../media/image19.emf"/><Relationship Id="rId5" Type="http://schemas.openxmlformats.org/officeDocument/2006/relationships/oleObject" Target="../embeddings/oleObject152.bin"/><Relationship Id="rId4" Type="http://schemas.openxmlformats.org/officeDocument/2006/relationships/notesSlide" Target="../notesSlides/notesSlide41.xml"/></Relationships>
</file>

<file path=ppt/slides/_rels/slide173.xml.rels><?xml version="1.0" encoding="UTF-8" standalone="yes"?>
<Relationships xmlns="http://schemas.openxmlformats.org/package/2006/relationships"><Relationship Id="rId3" Type="http://schemas.openxmlformats.org/officeDocument/2006/relationships/slideLayout" Target="../slideLayouts/slideLayout7.xml"/><Relationship Id="rId7" Type="http://schemas.microsoft.com/office/2007/relationships/hdphoto" Target="../media/hdphoto1.wdp"/><Relationship Id="rId2" Type="http://schemas.openxmlformats.org/officeDocument/2006/relationships/tags" Target="../tags/tag2756.xml"/><Relationship Id="rId1" Type="http://schemas.openxmlformats.org/officeDocument/2006/relationships/tags" Target="../tags/tag2755.xml"/><Relationship Id="rId6" Type="http://schemas.openxmlformats.org/officeDocument/2006/relationships/image" Target="../media/image10.png"/><Relationship Id="rId5" Type="http://schemas.openxmlformats.org/officeDocument/2006/relationships/image" Target="../media/image9.emf"/><Relationship Id="rId4" Type="http://schemas.openxmlformats.org/officeDocument/2006/relationships/oleObject" Target="../embeddings/oleObject153.bin"/></Relationships>
</file>

<file path=ppt/slides/_rels/slide174.xml.rels><?xml version="1.0" encoding="UTF-8" standalone="yes"?>
<Relationships xmlns="http://schemas.openxmlformats.org/package/2006/relationships"><Relationship Id="rId3" Type="http://schemas.openxmlformats.org/officeDocument/2006/relationships/tags" Target="../tags/tag2759.xml"/><Relationship Id="rId2" Type="http://schemas.openxmlformats.org/officeDocument/2006/relationships/tags" Target="../tags/tag2758.xml"/><Relationship Id="rId1" Type="http://schemas.openxmlformats.org/officeDocument/2006/relationships/tags" Target="../tags/tag2757.xml"/><Relationship Id="rId6" Type="http://schemas.openxmlformats.org/officeDocument/2006/relationships/image" Target="../media/image9.emf"/><Relationship Id="rId5" Type="http://schemas.openxmlformats.org/officeDocument/2006/relationships/oleObject" Target="../embeddings/oleObject154.bin"/><Relationship Id="rId4" Type="http://schemas.openxmlformats.org/officeDocument/2006/relationships/slideLayout" Target="../slideLayouts/slideLayout28.xml"/></Relationships>
</file>

<file path=ppt/slides/_rels/slide175.xml.rels><?xml version="1.0" encoding="UTF-8" standalone="yes"?>
<Relationships xmlns="http://schemas.openxmlformats.org/package/2006/relationships"><Relationship Id="rId3" Type="http://schemas.openxmlformats.org/officeDocument/2006/relationships/tags" Target="../tags/tag2762.xml"/><Relationship Id="rId2" Type="http://schemas.openxmlformats.org/officeDocument/2006/relationships/tags" Target="../tags/tag2761.xml"/><Relationship Id="rId1" Type="http://schemas.openxmlformats.org/officeDocument/2006/relationships/tags" Target="../tags/tag2760.xml"/><Relationship Id="rId6" Type="http://schemas.openxmlformats.org/officeDocument/2006/relationships/image" Target="../media/image9.emf"/><Relationship Id="rId5" Type="http://schemas.openxmlformats.org/officeDocument/2006/relationships/oleObject" Target="../embeddings/oleObject155.bin"/><Relationship Id="rId4" Type="http://schemas.openxmlformats.org/officeDocument/2006/relationships/slideLayout" Target="../slideLayouts/slideLayout28.xml"/></Relationships>
</file>

<file path=ppt/slides/_rels/slide176.xml.rels><?xml version="1.0" encoding="UTF-8" standalone="yes"?>
<Relationships xmlns="http://schemas.openxmlformats.org/package/2006/relationships"><Relationship Id="rId3" Type="http://schemas.openxmlformats.org/officeDocument/2006/relationships/tags" Target="../tags/tag2765.xml"/><Relationship Id="rId2" Type="http://schemas.openxmlformats.org/officeDocument/2006/relationships/tags" Target="../tags/tag2764.xml"/><Relationship Id="rId1" Type="http://schemas.openxmlformats.org/officeDocument/2006/relationships/tags" Target="../tags/tag2763.xml"/><Relationship Id="rId6" Type="http://schemas.openxmlformats.org/officeDocument/2006/relationships/image" Target="../media/image9.emf"/><Relationship Id="rId5" Type="http://schemas.openxmlformats.org/officeDocument/2006/relationships/oleObject" Target="../embeddings/oleObject156.bin"/><Relationship Id="rId4" Type="http://schemas.openxmlformats.org/officeDocument/2006/relationships/slideLayout" Target="../slideLayouts/slideLayout28.xml"/></Relationships>
</file>

<file path=ppt/slides/_rels/slide177.xml.rels><?xml version="1.0" encoding="UTF-8" standalone="yes"?>
<Relationships xmlns="http://schemas.openxmlformats.org/package/2006/relationships"><Relationship Id="rId3" Type="http://schemas.openxmlformats.org/officeDocument/2006/relationships/tags" Target="../tags/tag2768.xml"/><Relationship Id="rId2" Type="http://schemas.openxmlformats.org/officeDocument/2006/relationships/tags" Target="../tags/tag2767.xml"/><Relationship Id="rId1" Type="http://schemas.openxmlformats.org/officeDocument/2006/relationships/tags" Target="../tags/tag2766.xml"/><Relationship Id="rId6" Type="http://schemas.openxmlformats.org/officeDocument/2006/relationships/image" Target="../media/image9.emf"/><Relationship Id="rId5" Type="http://schemas.openxmlformats.org/officeDocument/2006/relationships/oleObject" Target="../embeddings/oleObject157.bin"/><Relationship Id="rId4" Type="http://schemas.openxmlformats.org/officeDocument/2006/relationships/slideLayout" Target="../slideLayouts/slideLayout28.xml"/></Relationships>
</file>

<file path=ppt/slides/_rels/slide178.xml.rels><?xml version="1.0" encoding="UTF-8" standalone="yes"?>
<Relationships xmlns="http://schemas.openxmlformats.org/package/2006/relationships"><Relationship Id="rId3" Type="http://schemas.openxmlformats.org/officeDocument/2006/relationships/tags" Target="../tags/tag2771.xml"/><Relationship Id="rId2" Type="http://schemas.openxmlformats.org/officeDocument/2006/relationships/tags" Target="../tags/tag2770.xml"/><Relationship Id="rId1" Type="http://schemas.openxmlformats.org/officeDocument/2006/relationships/tags" Target="../tags/tag2769.xml"/><Relationship Id="rId6" Type="http://schemas.openxmlformats.org/officeDocument/2006/relationships/image" Target="../media/image9.emf"/><Relationship Id="rId5" Type="http://schemas.openxmlformats.org/officeDocument/2006/relationships/oleObject" Target="../embeddings/oleObject158.bin"/><Relationship Id="rId4" Type="http://schemas.openxmlformats.org/officeDocument/2006/relationships/slideLayout" Target="../slideLayouts/slideLayout28.xml"/></Relationships>
</file>

<file path=ppt/slides/_rels/slide179.xml.rels><?xml version="1.0" encoding="UTF-8" standalone="yes"?>
<Relationships xmlns="http://schemas.openxmlformats.org/package/2006/relationships"><Relationship Id="rId3" Type="http://schemas.openxmlformats.org/officeDocument/2006/relationships/tags" Target="../tags/tag2774.xml"/><Relationship Id="rId2" Type="http://schemas.openxmlformats.org/officeDocument/2006/relationships/tags" Target="../tags/tag2773.xml"/><Relationship Id="rId1" Type="http://schemas.openxmlformats.org/officeDocument/2006/relationships/tags" Target="../tags/tag2772.xml"/><Relationship Id="rId6" Type="http://schemas.openxmlformats.org/officeDocument/2006/relationships/image" Target="../media/image9.emf"/><Relationship Id="rId5" Type="http://schemas.openxmlformats.org/officeDocument/2006/relationships/oleObject" Target="../embeddings/oleObject159.bin"/><Relationship Id="rId4" Type="http://schemas.openxmlformats.org/officeDocument/2006/relationships/slideLayout" Target="../slideLayouts/slideLayout28.xml"/></Relationships>
</file>

<file path=ppt/slides/_rels/slide180.xml.rels><?xml version="1.0" encoding="UTF-8" standalone="yes"?>
<Relationships xmlns="http://schemas.openxmlformats.org/package/2006/relationships"><Relationship Id="rId3" Type="http://schemas.openxmlformats.org/officeDocument/2006/relationships/tags" Target="../tags/tag2777.xml"/><Relationship Id="rId2" Type="http://schemas.openxmlformats.org/officeDocument/2006/relationships/tags" Target="../tags/tag2776.xml"/><Relationship Id="rId1" Type="http://schemas.openxmlformats.org/officeDocument/2006/relationships/tags" Target="../tags/tag2775.xml"/><Relationship Id="rId6" Type="http://schemas.openxmlformats.org/officeDocument/2006/relationships/image" Target="../media/image9.emf"/><Relationship Id="rId5" Type="http://schemas.openxmlformats.org/officeDocument/2006/relationships/oleObject" Target="../embeddings/oleObject160.bin"/><Relationship Id="rId4" Type="http://schemas.openxmlformats.org/officeDocument/2006/relationships/slideLayout" Target="../slideLayouts/slideLayout28.xml"/></Relationships>
</file>

<file path=ppt/slides/_rels/slide181.xml.rels><?xml version="1.0" encoding="UTF-8" standalone="yes"?>
<Relationships xmlns="http://schemas.openxmlformats.org/package/2006/relationships"><Relationship Id="rId3" Type="http://schemas.openxmlformats.org/officeDocument/2006/relationships/slideLayout" Target="../slideLayouts/slideLayout14.xml"/><Relationship Id="rId7" Type="http://schemas.microsoft.com/office/2007/relationships/hdphoto" Target="../media/hdphoto1.wdp"/><Relationship Id="rId2" Type="http://schemas.openxmlformats.org/officeDocument/2006/relationships/tags" Target="../tags/tag2779.xml"/><Relationship Id="rId1" Type="http://schemas.openxmlformats.org/officeDocument/2006/relationships/tags" Target="../tags/tag2778.xml"/><Relationship Id="rId6" Type="http://schemas.openxmlformats.org/officeDocument/2006/relationships/image" Target="../media/image10.png"/><Relationship Id="rId5" Type="http://schemas.openxmlformats.org/officeDocument/2006/relationships/image" Target="../media/image9.emf"/><Relationship Id="rId4" Type="http://schemas.openxmlformats.org/officeDocument/2006/relationships/oleObject" Target="../embeddings/oleObject161.bin"/></Relationships>
</file>

<file path=ppt/slides/_rels/slide182.xml.rels><?xml version="1.0" encoding="UTF-8" standalone="yes"?>
<Relationships xmlns="http://schemas.openxmlformats.org/package/2006/relationships"><Relationship Id="rId3" Type="http://schemas.openxmlformats.org/officeDocument/2006/relationships/tags" Target="../tags/tag2782.xml"/><Relationship Id="rId2" Type="http://schemas.openxmlformats.org/officeDocument/2006/relationships/tags" Target="../tags/tag2781.xml"/><Relationship Id="rId1" Type="http://schemas.openxmlformats.org/officeDocument/2006/relationships/tags" Target="../tags/tag2780.xml"/><Relationship Id="rId6" Type="http://schemas.openxmlformats.org/officeDocument/2006/relationships/image" Target="../media/image9.emf"/><Relationship Id="rId5" Type="http://schemas.openxmlformats.org/officeDocument/2006/relationships/oleObject" Target="../embeddings/oleObject162.bin"/><Relationship Id="rId4" Type="http://schemas.openxmlformats.org/officeDocument/2006/relationships/slideLayout" Target="../slideLayouts/slideLayout14.xml"/></Relationships>
</file>

<file path=ppt/slides/_rels/slide183.xml.rels><?xml version="1.0" encoding="UTF-8" standalone="yes"?>
<Relationships xmlns="http://schemas.openxmlformats.org/package/2006/relationships"><Relationship Id="rId3" Type="http://schemas.openxmlformats.org/officeDocument/2006/relationships/tags" Target="../tags/tag2785.xml"/><Relationship Id="rId2" Type="http://schemas.openxmlformats.org/officeDocument/2006/relationships/tags" Target="../tags/tag2784.xml"/><Relationship Id="rId1" Type="http://schemas.openxmlformats.org/officeDocument/2006/relationships/tags" Target="../tags/tag2783.xml"/><Relationship Id="rId6" Type="http://schemas.openxmlformats.org/officeDocument/2006/relationships/image" Target="../media/image9.emf"/><Relationship Id="rId5" Type="http://schemas.openxmlformats.org/officeDocument/2006/relationships/oleObject" Target="../embeddings/oleObject163.bin"/><Relationship Id="rId4" Type="http://schemas.openxmlformats.org/officeDocument/2006/relationships/slideLayout" Target="../slideLayouts/slideLayout14.xml"/></Relationships>
</file>

<file path=ppt/slides/_rels/slide184.xml.rels><?xml version="1.0" encoding="UTF-8" standalone="yes"?>
<Relationships xmlns="http://schemas.openxmlformats.org/package/2006/relationships"><Relationship Id="rId3" Type="http://schemas.openxmlformats.org/officeDocument/2006/relationships/tags" Target="../tags/tag2788.xml"/><Relationship Id="rId2" Type="http://schemas.openxmlformats.org/officeDocument/2006/relationships/tags" Target="../tags/tag2787.xml"/><Relationship Id="rId1" Type="http://schemas.openxmlformats.org/officeDocument/2006/relationships/tags" Target="../tags/tag2786.xml"/><Relationship Id="rId6" Type="http://schemas.openxmlformats.org/officeDocument/2006/relationships/image" Target="../media/image9.emf"/><Relationship Id="rId5" Type="http://schemas.openxmlformats.org/officeDocument/2006/relationships/oleObject" Target="../embeddings/oleObject164.bin"/><Relationship Id="rId4" Type="http://schemas.openxmlformats.org/officeDocument/2006/relationships/slideLayout" Target="../slideLayouts/slideLayout14.xml"/></Relationships>
</file>

<file path=ppt/slides/_rels/slide185.xml.rels><?xml version="1.0" encoding="UTF-8" standalone="yes"?>
<Relationships xmlns="http://schemas.openxmlformats.org/package/2006/relationships"><Relationship Id="rId8" Type="http://schemas.openxmlformats.org/officeDocument/2006/relationships/tags" Target="../tags/tag2796.xml"/><Relationship Id="rId13" Type="http://schemas.openxmlformats.org/officeDocument/2006/relationships/tags" Target="../tags/tag2801.xml"/><Relationship Id="rId18" Type="http://schemas.openxmlformats.org/officeDocument/2006/relationships/tags" Target="../tags/tag2806.xml"/><Relationship Id="rId26" Type="http://schemas.openxmlformats.org/officeDocument/2006/relationships/slideLayout" Target="../slideLayouts/slideLayout14.xml"/><Relationship Id="rId3" Type="http://schemas.openxmlformats.org/officeDocument/2006/relationships/tags" Target="../tags/tag2791.xml"/><Relationship Id="rId21" Type="http://schemas.openxmlformats.org/officeDocument/2006/relationships/tags" Target="../tags/tag2809.xml"/><Relationship Id="rId7" Type="http://schemas.openxmlformats.org/officeDocument/2006/relationships/tags" Target="../tags/tag2795.xml"/><Relationship Id="rId12" Type="http://schemas.openxmlformats.org/officeDocument/2006/relationships/tags" Target="../tags/tag2800.xml"/><Relationship Id="rId17" Type="http://schemas.openxmlformats.org/officeDocument/2006/relationships/tags" Target="../tags/tag2805.xml"/><Relationship Id="rId25" Type="http://schemas.openxmlformats.org/officeDocument/2006/relationships/tags" Target="../tags/tag2813.xml"/><Relationship Id="rId2" Type="http://schemas.openxmlformats.org/officeDocument/2006/relationships/tags" Target="../tags/tag2790.xml"/><Relationship Id="rId16" Type="http://schemas.openxmlformats.org/officeDocument/2006/relationships/tags" Target="../tags/tag2804.xml"/><Relationship Id="rId20" Type="http://schemas.openxmlformats.org/officeDocument/2006/relationships/tags" Target="../tags/tag2808.xml"/><Relationship Id="rId29" Type="http://schemas.openxmlformats.org/officeDocument/2006/relationships/chart" Target="../charts/chart141.xml"/><Relationship Id="rId1" Type="http://schemas.openxmlformats.org/officeDocument/2006/relationships/tags" Target="../tags/tag2789.xml"/><Relationship Id="rId6" Type="http://schemas.openxmlformats.org/officeDocument/2006/relationships/tags" Target="../tags/tag2794.xml"/><Relationship Id="rId11" Type="http://schemas.openxmlformats.org/officeDocument/2006/relationships/tags" Target="../tags/tag2799.xml"/><Relationship Id="rId24" Type="http://schemas.openxmlformats.org/officeDocument/2006/relationships/tags" Target="../tags/tag2812.xml"/><Relationship Id="rId32" Type="http://schemas.openxmlformats.org/officeDocument/2006/relationships/chart" Target="../charts/chart144.xml"/><Relationship Id="rId5" Type="http://schemas.openxmlformats.org/officeDocument/2006/relationships/tags" Target="../tags/tag2793.xml"/><Relationship Id="rId15" Type="http://schemas.openxmlformats.org/officeDocument/2006/relationships/tags" Target="../tags/tag2803.xml"/><Relationship Id="rId23" Type="http://schemas.openxmlformats.org/officeDocument/2006/relationships/tags" Target="../tags/tag2811.xml"/><Relationship Id="rId28" Type="http://schemas.openxmlformats.org/officeDocument/2006/relationships/image" Target="../media/image9.emf"/><Relationship Id="rId10" Type="http://schemas.openxmlformats.org/officeDocument/2006/relationships/tags" Target="../tags/tag2798.xml"/><Relationship Id="rId19" Type="http://schemas.openxmlformats.org/officeDocument/2006/relationships/tags" Target="../tags/tag2807.xml"/><Relationship Id="rId31" Type="http://schemas.openxmlformats.org/officeDocument/2006/relationships/chart" Target="../charts/chart143.xml"/><Relationship Id="rId4" Type="http://schemas.openxmlformats.org/officeDocument/2006/relationships/tags" Target="../tags/tag2792.xml"/><Relationship Id="rId9" Type="http://schemas.openxmlformats.org/officeDocument/2006/relationships/tags" Target="../tags/tag2797.xml"/><Relationship Id="rId14" Type="http://schemas.openxmlformats.org/officeDocument/2006/relationships/tags" Target="../tags/tag2802.xml"/><Relationship Id="rId22" Type="http://schemas.openxmlformats.org/officeDocument/2006/relationships/tags" Target="../tags/tag2810.xml"/><Relationship Id="rId27" Type="http://schemas.openxmlformats.org/officeDocument/2006/relationships/oleObject" Target="../embeddings/oleObject165.bin"/><Relationship Id="rId30" Type="http://schemas.openxmlformats.org/officeDocument/2006/relationships/chart" Target="../charts/chart142.xml"/></Relationships>
</file>

<file path=ppt/slides/_rels/slide18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2815.xml"/><Relationship Id="rId1" Type="http://schemas.openxmlformats.org/officeDocument/2006/relationships/tags" Target="../tags/tag2814.xml"/><Relationship Id="rId5" Type="http://schemas.openxmlformats.org/officeDocument/2006/relationships/image" Target="../media/image9.emf"/><Relationship Id="rId4" Type="http://schemas.openxmlformats.org/officeDocument/2006/relationships/oleObject" Target="../embeddings/oleObject166.bin"/></Relationships>
</file>

<file path=ppt/slides/_rels/slide18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2817.xml"/><Relationship Id="rId1" Type="http://schemas.openxmlformats.org/officeDocument/2006/relationships/tags" Target="../tags/tag2816.xml"/><Relationship Id="rId5" Type="http://schemas.openxmlformats.org/officeDocument/2006/relationships/image" Target="../media/image9.emf"/><Relationship Id="rId4" Type="http://schemas.openxmlformats.org/officeDocument/2006/relationships/oleObject" Target="../embeddings/oleObject167.bin"/></Relationships>
</file>

<file path=ppt/slides/_rels/slide18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2819.xml"/><Relationship Id="rId1" Type="http://schemas.openxmlformats.org/officeDocument/2006/relationships/tags" Target="../tags/tag2818.xml"/><Relationship Id="rId5" Type="http://schemas.openxmlformats.org/officeDocument/2006/relationships/image" Target="../media/image9.emf"/><Relationship Id="rId4" Type="http://schemas.openxmlformats.org/officeDocument/2006/relationships/oleObject" Target="../embeddings/oleObject168.bin"/></Relationships>
</file>

<file path=ppt/slides/_rels/slide18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2821.xml"/><Relationship Id="rId1" Type="http://schemas.openxmlformats.org/officeDocument/2006/relationships/tags" Target="../tags/tag2820.xml"/><Relationship Id="rId5" Type="http://schemas.openxmlformats.org/officeDocument/2006/relationships/image" Target="../media/image9.emf"/><Relationship Id="rId4" Type="http://schemas.openxmlformats.org/officeDocument/2006/relationships/oleObject" Target="../embeddings/oleObject169.bin"/></Relationships>
</file>

<file path=ppt/slides/_rels/slide19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2823.xml"/><Relationship Id="rId1" Type="http://schemas.openxmlformats.org/officeDocument/2006/relationships/tags" Target="../tags/tag2822.xml"/><Relationship Id="rId5" Type="http://schemas.openxmlformats.org/officeDocument/2006/relationships/image" Target="../media/image9.emf"/><Relationship Id="rId4" Type="http://schemas.openxmlformats.org/officeDocument/2006/relationships/oleObject" Target="../embeddings/oleObject170.bin"/></Relationships>
</file>

<file path=ppt/slides/_rels/slide19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2825.xml"/><Relationship Id="rId1" Type="http://schemas.openxmlformats.org/officeDocument/2006/relationships/tags" Target="../tags/tag2824.xml"/><Relationship Id="rId5" Type="http://schemas.openxmlformats.org/officeDocument/2006/relationships/image" Target="../media/image9.emf"/><Relationship Id="rId4" Type="http://schemas.openxmlformats.org/officeDocument/2006/relationships/oleObject" Target="../embeddings/oleObject171.bin"/></Relationships>
</file>

<file path=ppt/slides/_rels/slide19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2827.xml"/><Relationship Id="rId1" Type="http://schemas.openxmlformats.org/officeDocument/2006/relationships/tags" Target="../tags/tag2826.xml"/><Relationship Id="rId5" Type="http://schemas.openxmlformats.org/officeDocument/2006/relationships/image" Target="../media/image9.emf"/><Relationship Id="rId4" Type="http://schemas.openxmlformats.org/officeDocument/2006/relationships/oleObject" Target="../embeddings/oleObject172.bin"/></Relationships>
</file>

<file path=ppt/slides/_rels/slide19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2829.xml"/><Relationship Id="rId1" Type="http://schemas.openxmlformats.org/officeDocument/2006/relationships/tags" Target="../tags/tag2828.xml"/><Relationship Id="rId5" Type="http://schemas.openxmlformats.org/officeDocument/2006/relationships/image" Target="../media/image9.emf"/><Relationship Id="rId4" Type="http://schemas.openxmlformats.org/officeDocument/2006/relationships/oleObject" Target="../embeddings/oleObject173.bin"/></Relationships>
</file>

<file path=ppt/slides/_rels/slide19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2831.xml"/><Relationship Id="rId1" Type="http://schemas.openxmlformats.org/officeDocument/2006/relationships/tags" Target="../tags/tag2830.xml"/><Relationship Id="rId5" Type="http://schemas.openxmlformats.org/officeDocument/2006/relationships/image" Target="../media/image9.emf"/><Relationship Id="rId4" Type="http://schemas.openxmlformats.org/officeDocument/2006/relationships/oleObject" Target="../embeddings/oleObject174.bin"/></Relationships>
</file>

<file path=ppt/slides/_rels/slide19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2833.xml"/><Relationship Id="rId1" Type="http://schemas.openxmlformats.org/officeDocument/2006/relationships/tags" Target="../tags/tag2832.xml"/><Relationship Id="rId5" Type="http://schemas.openxmlformats.org/officeDocument/2006/relationships/image" Target="../media/image9.emf"/><Relationship Id="rId4" Type="http://schemas.openxmlformats.org/officeDocument/2006/relationships/oleObject" Target="../embeddings/oleObject175.bin"/></Relationships>
</file>

<file path=ppt/slides/_rels/slide19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2835.xml"/><Relationship Id="rId1" Type="http://schemas.openxmlformats.org/officeDocument/2006/relationships/tags" Target="../tags/tag2834.xml"/><Relationship Id="rId5" Type="http://schemas.openxmlformats.org/officeDocument/2006/relationships/image" Target="../media/image9.emf"/><Relationship Id="rId4" Type="http://schemas.openxmlformats.org/officeDocument/2006/relationships/oleObject" Target="../embeddings/oleObject176.bin"/></Relationships>
</file>

<file path=ppt/slides/_rels/slide19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2837.xml"/><Relationship Id="rId1" Type="http://schemas.openxmlformats.org/officeDocument/2006/relationships/tags" Target="../tags/tag2836.xml"/><Relationship Id="rId5" Type="http://schemas.openxmlformats.org/officeDocument/2006/relationships/image" Target="../media/image9.emf"/><Relationship Id="rId4" Type="http://schemas.openxmlformats.org/officeDocument/2006/relationships/oleObject" Target="../embeddings/oleObject177.bin"/></Relationships>
</file>

<file path=ppt/slides/_rels/slide19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2839.xml"/><Relationship Id="rId1" Type="http://schemas.openxmlformats.org/officeDocument/2006/relationships/tags" Target="../tags/tag2838.xml"/><Relationship Id="rId5" Type="http://schemas.openxmlformats.org/officeDocument/2006/relationships/image" Target="../media/image9.emf"/><Relationship Id="rId4" Type="http://schemas.openxmlformats.org/officeDocument/2006/relationships/oleObject" Target="../embeddings/oleObject178.bin"/></Relationships>
</file>

<file path=ppt/slides/_rels/slide199.xml.rels><?xml version="1.0" encoding="UTF-8" standalone="yes"?>
<Relationships xmlns="http://schemas.openxmlformats.org/package/2006/relationships"><Relationship Id="rId3" Type="http://schemas.openxmlformats.org/officeDocument/2006/relationships/slideLayout" Target="../slideLayouts/slideLayout11.xml"/><Relationship Id="rId2" Type="http://schemas.openxmlformats.org/officeDocument/2006/relationships/tags" Target="../tags/tag2841.xml"/><Relationship Id="rId1" Type="http://schemas.openxmlformats.org/officeDocument/2006/relationships/tags" Target="../tags/tag2840.xml"/><Relationship Id="rId6" Type="http://schemas.openxmlformats.org/officeDocument/2006/relationships/image" Target="../media/image9.emf"/><Relationship Id="rId5" Type="http://schemas.openxmlformats.org/officeDocument/2006/relationships/oleObject" Target="../embeddings/oleObject179.bin"/><Relationship Id="rId4" Type="http://schemas.openxmlformats.org/officeDocument/2006/relationships/notesSlide" Target="../notesSlides/notesSlide42.xml"/></Relationships>
</file>

<file path=ppt/slides/_rels/slide200.xml.rels><?xml version="1.0" encoding="UTF-8" standalone="yes"?>
<Relationships xmlns="http://schemas.openxmlformats.org/package/2006/relationships"><Relationship Id="rId3" Type="http://schemas.openxmlformats.org/officeDocument/2006/relationships/tags" Target="../tags/tag2844.xml"/><Relationship Id="rId7" Type="http://schemas.openxmlformats.org/officeDocument/2006/relationships/image" Target="../media/image19.emf"/><Relationship Id="rId2" Type="http://schemas.openxmlformats.org/officeDocument/2006/relationships/tags" Target="../tags/tag2843.xml"/><Relationship Id="rId1" Type="http://schemas.openxmlformats.org/officeDocument/2006/relationships/tags" Target="../tags/tag2842.xml"/><Relationship Id="rId6" Type="http://schemas.openxmlformats.org/officeDocument/2006/relationships/oleObject" Target="../embeddings/oleObject180.bin"/><Relationship Id="rId5" Type="http://schemas.openxmlformats.org/officeDocument/2006/relationships/notesSlide" Target="../notesSlides/notesSlide43.xml"/><Relationship Id="rId4" Type="http://schemas.openxmlformats.org/officeDocument/2006/relationships/slideLayout" Target="../slideLayouts/slideLayout20.xml"/></Relationships>
</file>

<file path=ppt/slides/_rels/slide201.xml.rels><?xml version="1.0" encoding="UTF-8" standalone="yes"?>
<Relationships xmlns="http://schemas.openxmlformats.org/package/2006/relationships"><Relationship Id="rId3" Type="http://schemas.openxmlformats.org/officeDocument/2006/relationships/tags" Target="../tags/tag2847.xml"/><Relationship Id="rId7" Type="http://schemas.openxmlformats.org/officeDocument/2006/relationships/image" Target="../media/image9.emf"/><Relationship Id="rId2" Type="http://schemas.openxmlformats.org/officeDocument/2006/relationships/tags" Target="../tags/tag2846.xml"/><Relationship Id="rId1" Type="http://schemas.openxmlformats.org/officeDocument/2006/relationships/tags" Target="../tags/tag2845.xml"/><Relationship Id="rId6" Type="http://schemas.openxmlformats.org/officeDocument/2006/relationships/oleObject" Target="../embeddings/oleObject181.bin"/><Relationship Id="rId5" Type="http://schemas.openxmlformats.org/officeDocument/2006/relationships/notesSlide" Target="../notesSlides/notesSlide44.xml"/><Relationship Id="rId4" Type="http://schemas.openxmlformats.org/officeDocument/2006/relationships/slideLayout" Target="../slideLayouts/slideLayout20.xml"/></Relationships>
</file>

<file path=ppt/slides/_rels/slide202.xml.rels><?xml version="1.0" encoding="UTF-8" standalone="yes"?>
<Relationships xmlns="http://schemas.openxmlformats.org/package/2006/relationships"><Relationship Id="rId3" Type="http://schemas.openxmlformats.org/officeDocument/2006/relationships/tags" Target="../tags/tag2850.xml"/><Relationship Id="rId7" Type="http://schemas.openxmlformats.org/officeDocument/2006/relationships/image" Target="../media/image9.emf"/><Relationship Id="rId2" Type="http://schemas.openxmlformats.org/officeDocument/2006/relationships/tags" Target="../tags/tag2849.xml"/><Relationship Id="rId1" Type="http://schemas.openxmlformats.org/officeDocument/2006/relationships/tags" Target="../tags/tag2848.xml"/><Relationship Id="rId6" Type="http://schemas.openxmlformats.org/officeDocument/2006/relationships/oleObject" Target="../embeddings/oleObject182.bin"/><Relationship Id="rId5" Type="http://schemas.openxmlformats.org/officeDocument/2006/relationships/notesSlide" Target="../notesSlides/notesSlide45.xml"/><Relationship Id="rId4" Type="http://schemas.openxmlformats.org/officeDocument/2006/relationships/slideLayout" Target="../slideLayouts/slideLayout20.xml"/></Relationships>
</file>

<file path=ppt/slides/_rels/slide203.xml.rels><?xml version="1.0" encoding="UTF-8" standalone="yes"?>
<Relationships xmlns="http://schemas.openxmlformats.org/package/2006/relationships"><Relationship Id="rId3" Type="http://schemas.openxmlformats.org/officeDocument/2006/relationships/tags" Target="../tags/tag2853.xml"/><Relationship Id="rId7" Type="http://schemas.openxmlformats.org/officeDocument/2006/relationships/image" Target="../media/image9.emf"/><Relationship Id="rId2" Type="http://schemas.openxmlformats.org/officeDocument/2006/relationships/tags" Target="../tags/tag2852.xml"/><Relationship Id="rId1" Type="http://schemas.openxmlformats.org/officeDocument/2006/relationships/tags" Target="../tags/tag2851.xml"/><Relationship Id="rId6" Type="http://schemas.openxmlformats.org/officeDocument/2006/relationships/oleObject" Target="../embeddings/oleObject183.bin"/><Relationship Id="rId5" Type="http://schemas.openxmlformats.org/officeDocument/2006/relationships/notesSlide" Target="../notesSlides/notesSlide46.xml"/><Relationship Id="rId4" Type="http://schemas.openxmlformats.org/officeDocument/2006/relationships/slideLayout" Target="../slideLayouts/slideLayout20.xml"/></Relationships>
</file>

<file path=ppt/slides/_rels/slide204.xml.rels><?xml version="1.0" encoding="UTF-8" standalone="yes"?>
<Relationships xmlns="http://schemas.openxmlformats.org/package/2006/relationships"><Relationship Id="rId3" Type="http://schemas.openxmlformats.org/officeDocument/2006/relationships/tags" Target="../tags/tag2856.xml"/><Relationship Id="rId7" Type="http://schemas.openxmlformats.org/officeDocument/2006/relationships/image" Target="../media/image9.emf"/><Relationship Id="rId2" Type="http://schemas.openxmlformats.org/officeDocument/2006/relationships/tags" Target="../tags/tag2855.xml"/><Relationship Id="rId1" Type="http://schemas.openxmlformats.org/officeDocument/2006/relationships/tags" Target="../tags/tag2854.xml"/><Relationship Id="rId6" Type="http://schemas.openxmlformats.org/officeDocument/2006/relationships/oleObject" Target="../embeddings/oleObject184.bin"/><Relationship Id="rId5" Type="http://schemas.openxmlformats.org/officeDocument/2006/relationships/notesSlide" Target="../notesSlides/notesSlide47.xml"/><Relationship Id="rId4" Type="http://schemas.openxmlformats.org/officeDocument/2006/relationships/slideLayout" Target="../slideLayouts/slideLayout20.xml"/></Relationships>
</file>

<file path=ppt/slides/_rels/slide205.xml.rels><?xml version="1.0" encoding="UTF-8" standalone="yes"?>
<Relationships xmlns="http://schemas.openxmlformats.org/package/2006/relationships"><Relationship Id="rId3" Type="http://schemas.openxmlformats.org/officeDocument/2006/relationships/tags" Target="../tags/tag2859.xml"/><Relationship Id="rId7" Type="http://schemas.openxmlformats.org/officeDocument/2006/relationships/image" Target="../media/image9.emf"/><Relationship Id="rId2" Type="http://schemas.openxmlformats.org/officeDocument/2006/relationships/tags" Target="../tags/tag2858.xml"/><Relationship Id="rId1" Type="http://schemas.openxmlformats.org/officeDocument/2006/relationships/tags" Target="../tags/tag2857.xml"/><Relationship Id="rId6" Type="http://schemas.openxmlformats.org/officeDocument/2006/relationships/oleObject" Target="../embeddings/oleObject185.bin"/><Relationship Id="rId5" Type="http://schemas.openxmlformats.org/officeDocument/2006/relationships/notesSlide" Target="../notesSlides/notesSlide48.xml"/><Relationship Id="rId4" Type="http://schemas.openxmlformats.org/officeDocument/2006/relationships/slideLayout" Target="../slideLayouts/slideLayout20.xml"/></Relationships>
</file>

<file path=ppt/slides/_rels/slide206.xml.rels><?xml version="1.0" encoding="UTF-8" standalone="yes"?>
<Relationships xmlns="http://schemas.openxmlformats.org/package/2006/relationships"><Relationship Id="rId3" Type="http://schemas.openxmlformats.org/officeDocument/2006/relationships/tags" Target="../tags/tag2862.xml"/><Relationship Id="rId7" Type="http://schemas.openxmlformats.org/officeDocument/2006/relationships/image" Target="../media/image9.emf"/><Relationship Id="rId2" Type="http://schemas.openxmlformats.org/officeDocument/2006/relationships/tags" Target="../tags/tag2861.xml"/><Relationship Id="rId1" Type="http://schemas.openxmlformats.org/officeDocument/2006/relationships/tags" Target="../tags/tag2860.xml"/><Relationship Id="rId6" Type="http://schemas.openxmlformats.org/officeDocument/2006/relationships/oleObject" Target="../embeddings/oleObject186.bin"/><Relationship Id="rId5" Type="http://schemas.openxmlformats.org/officeDocument/2006/relationships/notesSlide" Target="../notesSlides/notesSlide49.xml"/><Relationship Id="rId4" Type="http://schemas.openxmlformats.org/officeDocument/2006/relationships/slideLayout" Target="../slideLayouts/slideLayout20.xml"/></Relationships>
</file>

<file path=ppt/slides/_rels/slide207.xml.rels><?xml version="1.0" encoding="UTF-8" standalone="yes"?>
<Relationships xmlns="http://schemas.openxmlformats.org/package/2006/relationships"><Relationship Id="rId3" Type="http://schemas.openxmlformats.org/officeDocument/2006/relationships/tags" Target="../tags/tag2865.xml"/><Relationship Id="rId7" Type="http://schemas.openxmlformats.org/officeDocument/2006/relationships/image" Target="../media/image9.emf"/><Relationship Id="rId2" Type="http://schemas.openxmlformats.org/officeDocument/2006/relationships/tags" Target="../tags/tag2864.xml"/><Relationship Id="rId1" Type="http://schemas.openxmlformats.org/officeDocument/2006/relationships/tags" Target="../tags/tag2863.xml"/><Relationship Id="rId6" Type="http://schemas.openxmlformats.org/officeDocument/2006/relationships/oleObject" Target="../embeddings/oleObject187.bin"/><Relationship Id="rId5" Type="http://schemas.openxmlformats.org/officeDocument/2006/relationships/notesSlide" Target="../notesSlides/notesSlide50.xml"/><Relationship Id="rId4" Type="http://schemas.openxmlformats.org/officeDocument/2006/relationships/slideLayout" Target="../slideLayouts/slideLayout20.xml"/></Relationships>
</file>

<file path=ppt/slides/_rels/slide208.xml.rels><?xml version="1.0" encoding="UTF-8" standalone="yes"?>
<Relationships xmlns="http://schemas.openxmlformats.org/package/2006/relationships"><Relationship Id="rId3" Type="http://schemas.openxmlformats.org/officeDocument/2006/relationships/tags" Target="../tags/tag2868.xml"/><Relationship Id="rId7" Type="http://schemas.openxmlformats.org/officeDocument/2006/relationships/image" Target="../media/image9.emf"/><Relationship Id="rId2" Type="http://schemas.openxmlformats.org/officeDocument/2006/relationships/tags" Target="../tags/tag2867.xml"/><Relationship Id="rId1" Type="http://schemas.openxmlformats.org/officeDocument/2006/relationships/tags" Target="../tags/tag2866.xml"/><Relationship Id="rId6" Type="http://schemas.openxmlformats.org/officeDocument/2006/relationships/oleObject" Target="../embeddings/oleObject188.bin"/><Relationship Id="rId5" Type="http://schemas.openxmlformats.org/officeDocument/2006/relationships/notesSlide" Target="../notesSlides/notesSlide51.xml"/><Relationship Id="rId4" Type="http://schemas.openxmlformats.org/officeDocument/2006/relationships/slideLayout" Target="../slideLayouts/slideLayout20.xml"/></Relationships>
</file>

<file path=ppt/slides/_rels/slide209.xml.rels><?xml version="1.0" encoding="UTF-8" standalone="yes"?>
<Relationships xmlns="http://schemas.openxmlformats.org/package/2006/relationships"><Relationship Id="rId3" Type="http://schemas.openxmlformats.org/officeDocument/2006/relationships/tags" Target="../tags/tag2871.xml"/><Relationship Id="rId7" Type="http://schemas.openxmlformats.org/officeDocument/2006/relationships/image" Target="../media/image9.emf"/><Relationship Id="rId2" Type="http://schemas.openxmlformats.org/officeDocument/2006/relationships/tags" Target="../tags/tag2870.xml"/><Relationship Id="rId1" Type="http://schemas.openxmlformats.org/officeDocument/2006/relationships/tags" Target="../tags/tag2869.xml"/><Relationship Id="rId6" Type="http://schemas.openxmlformats.org/officeDocument/2006/relationships/oleObject" Target="../embeddings/oleObject189.bin"/><Relationship Id="rId5" Type="http://schemas.openxmlformats.org/officeDocument/2006/relationships/notesSlide" Target="../notesSlides/notesSlide52.xml"/><Relationship Id="rId4" Type="http://schemas.openxmlformats.org/officeDocument/2006/relationships/slideLayout" Target="../slideLayouts/slideLayout20.xml"/></Relationships>
</file>

<file path=ppt/slides/_rels/slide210.xml.rels><?xml version="1.0" encoding="UTF-8" standalone="yes"?>
<Relationships xmlns="http://schemas.openxmlformats.org/package/2006/relationships"><Relationship Id="rId3" Type="http://schemas.openxmlformats.org/officeDocument/2006/relationships/tags" Target="../tags/tag2874.xml"/><Relationship Id="rId7" Type="http://schemas.openxmlformats.org/officeDocument/2006/relationships/image" Target="../media/image9.emf"/><Relationship Id="rId2" Type="http://schemas.openxmlformats.org/officeDocument/2006/relationships/tags" Target="../tags/tag2873.xml"/><Relationship Id="rId1" Type="http://schemas.openxmlformats.org/officeDocument/2006/relationships/tags" Target="../tags/tag2872.xml"/><Relationship Id="rId6" Type="http://schemas.openxmlformats.org/officeDocument/2006/relationships/oleObject" Target="../embeddings/oleObject190.bin"/><Relationship Id="rId5" Type="http://schemas.openxmlformats.org/officeDocument/2006/relationships/notesSlide" Target="../notesSlides/notesSlide53.xml"/><Relationship Id="rId4" Type="http://schemas.openxmlformats.org/officeDocument/2006/relationships/slideLayout" Target="../slideLayouts/slideLayout20.xml"/></Relationships>
</file>

<file path=ppt/slides/_rels/slide211.xml.rels><?xml version="1.0" encoding="UTF-8" standalone="yes"?>
<Relationships xmlns="http://schemas.openxmlformats.org/package/2006/relationships"><Relationship Id="rId3" Type="http://schemas.openxmlformats.org/officeDocument/2006/relationships/tags" Target="../tags/tag2877.xml"/><Relationship Id="rId7" Type="http://schemas.openxmlformats.org/officeDocument/2006/relationships/image" Target="../media/image9.emf"/><Relationship Id="rId2" Type="http://schemas.openxmlformats.org/officeDocument/2006/relationships/tags" Target="../tags/tag2876.xml"/><Relationship Id="rId1" Type="http://schemas.openxmlformats.org/officeDocument/2006/relationships/tags" Target="../tags/tag2875.xml"/><Relationship Id="rId6" Type="http://schemas.openxmlformats.org/officeDocument/2006/relationships/oleObject" Target="../embeddings/oleObject191.bin"/><Relationship Id="rId5" Type="http://schemas.openxmlformats.org/officeDocument/2006/relationships/notesSlide" Target="../notesSlides/notesSlide54.xml"/><Relationship Id="rId4" Type="http://schemas.openxmlformats.org/officeDocument/2006/relationships/slideLayout" Target="../slideLayouts/slideLayout20.xml"/></Relationships>
</file>

<file path=ppt/slides/_rels/slide212.xml.rels><?xml version="1.0" encoding="UTF-8" standalone="yes"?>
<Relationships xmlns="http://schemas.openxmlformats.org/package/2006/relationships"><Relationship Id="rId3" Type="http://schemas.openxmlformats.org/officeDocument/2006/relationships/tags" Target="../tags/tag2880.xml"/><Relationship Id="rId7" Type="http://schemas.openxmlformats.org/officeDocument/2006/relationships/image" Target="../media/image9.emf"/><Relationship Id="rId2" Type="http://schemas.openxmlformats.org/officeDocument/2006/relationships/tags" Target="../tags/tag2879.xml"/><Relationship Id="rId1" Type="http://schemas.openxmlformats.org/officeDocument/2006/relationships/tags" Target="../tags/tag2878.xml"/><Relationship Id="rId6" Type="http://schemas.openxmlformats.org/officeDocument/2006/relationships/oleObject" Target="../embeddings/oleObject192.bin"/><Relationship Id="rId5" Type="http://schemas.openxmlformats.org/officeDocument/2006/relationships/notesSlide" Target="../notesSlides/notesSlide55.xml"/><Relationship Id="rId4" Type="http://schemas.openxmlformats.org/officeDocument/2006/relationships/slideLayout" Target="../slideLayouts/slideLayout20.xml"/></Relationships>
</file>

<file path=ppt/slides/_rels/slide213.xml.rels><?xml version="1.0" encoding="UTF-8" standalone="yes"?>
<Relationships xmlns="http://schemas.openxmlformats.org/package/2006/relationships"><Relationship Id="rId3" Type="http://schemas.openxmlformats.org/officeDocument/2006/relationships/tags" Target="../tags/tag2883.xml"/><Relationship Id="rId7" Type="http://schemas.openxmlformats.org/officeDocument/2006/relationships/image" Target="../media/image9.emf"/><Relationship Id="rId2" Type="http://schemas.openxmlformats.org/officeDocument/2006/relationships/tags" Target="../tags/tag2882.xml"/><Relationship Id="rId1" Type="http://schemas.openxmlformats.org/officeDocument/2006/relationships/tags" Target="../tags/tag2881.xml"/><Relationship Id="rId6" Type="http://schemas.openxmlformats.org/officeDocument/2006/relationships/oleObject" Target="../embeddings/oleObject193.bin"/><Relationship Id="rId5" Type="http://schemas.openxmlformats.org/officeDocument/2006/relationships/notesSlide" Target="../notesSlides/notesSlide56.xml"/><Relationship Id="rId4" Type="http://schemas.openxmlformats.org/officeDocument/2006/relationships/slideLayout" Target="../slideLayouts/slideLayout20.xml"/></Relationships>
</file>

<file path=ppt/slides/_rels/slide214.xml.rels><?xml version="1.0" encoding="UTF-8" standalone="yes"?>
<Relationships xmlns="http://schemas.openxmlformats.org/package/2006/relationships"><Relationship Id="rId3" Type="http://schemas.openxmlformats.org/officeDocument/2006/relationships/tags" Target="../tags/tag2886.xml"/><Relationship Id="rId7" Type="http://schemas.openxmlformats.org/officeDocument/2006/relationships/image" Target="../media/image9.emf"/><Relationship Id="rId2" Type="http://schemas.openxmlformats.org/officeDocument/2006/relationships/tags" Target="../tags/tag2885.xml"/><Relationship Id="rId1" Type="http://schemas.openxmlformats.org/officeDocument/2006/relationships/tags" Target="../tags/tag2884.xml"/><Relationship Id="rId6" Type="http://schemas.openxmlformats.org/officeDocument/2006/relationships/oleObject" Target="../embeddings/oleObject194.bin"/><Relationship Id="rId5" Type="http://schemas.openxmlformats.org/officeDocument/2006/relationships/notesSlide" Target="../notesSlides/notesSlide57.xml"/><Relationship Id="rId4" Type="http://schemas.openxmlformats.org/officeDocument/2006/relationships/slideLayout" Target="../slideLayouts/slideLayout20.xml"/></Relationships>
</file>

<file path=ppt/slides/_rels/slide215.xml.rels><?xml version="1.0" encoding="UTF-8" standalone="yes"?>
<Relationships xmlns="http://schemas.openxmlformats.org/package/2006/relationships"><Relationship Id="rId3" Type="http://schemas.openxmlformats.org/officeDocument/2006/relationships/tags" Target="../tags/tag2889.xml"/><Relationship Id="rId7" Type="http://schemas.openxmlformats.org/officeDocument/2006/relationships/image" Target="../media/image9.emf"/><Relationship Id="rId2" Type="http://schemas.openxmlformats.org/officeDocument/2006/relationships/tags" Target="../tags/tag2888.xml"/><Relationship Id="rId1" Type="http://schemas.openxmlformats.org/officeDocument/2006/relationships/tags" Target="../tags/tag2887.xml"/><Relationship Id="rId6" Type="http://schemas.openxmlformats.org/officeDocument/2006/relationships/oleObject" Target="../embeddings/oleObject195.bin"/><Relationship Id="rId5" Type="http://schemas.openxmlformats.org/officeDocument/2006/relationships/notesSlide" Target="../notesSlides/notesSlide58.xml"/><Relationship Id="rId4" Type="http://schemas.openxmlformats.org/officeDocument/2006/relationships/slideLayout" Target="../slideLayouts/slideLayout20.xml"/></Relationships>
</file>

<file path=ppt/slides/_rels/slide216.xml.rels><?xml version="1.0" encoding="UTF-8" standalone="yes"?>
<Relationships xmlns="http://schemas.openxmlformats.org/package/2006/relationships"><Relationship Id="rId3" Type="http://schemas.openxmlformats.org/officeDocument/2006/relationships/tags" Target="../tags/tag2892.xml"/><Relationship Id="rId7" Type="http://schemas.openxmlformats.org/officeDocument/2006/relationships/image" Target="../media/image9.emf"/><Relationship Id="rId2" Type="http://schemas.openxmlformats.org/officeDocument/2006/relationships/tags" Target="../tags/tag2891.xml"/><Relationship Id="rId1" Type="http://schemas.openxmlformats.org/officeDocument/2006/relationships/tags" Target="../tags/tag2890.xml"/><Relationship Id="rId6" Type="http://schemas.openxmlformats.org/officeDocument/2006/relationships/oleObject" Target="../embeddings/oleObject196.bin"/><Relationship Id="rId5" Type="http://schemas.openxmlformats.org/officeDocument/2006/relationships/notesSlide" Target="../notesSlides/notesSlide59.xml"/><Relationship Id="rId4" Type="http://schemas.openxmlformats.org/officeDocument/2006/relationships/slideLayout" Target="../slideLayouts/slideLayout20.xml"/></Relationships>
</file>

<file path=ppt/slides/_rels/slide217.xml.rels><?xml version="1.0" encoding="UTF-8" standalone="yes"?>
<Relationships xmlns="http://schemas.openxmlformats.org/package/2006/relationships"><Relationship Id="rId3" Type="http://schemas.openxmlformats.org/officeDocument/2006/relationships/tags" Target="../tags/tag2895.xml"/><Relationship Id="rId7" Type="http://schemas.openxmlformats.org/officeDocument/2006/relationships/image" Target="../media/image9.emf"/><Relationship Id="rId2" Type="http://schemas.openxmlformats.org/officeDocument/2006/relationships/tags" Target="../tags/tag2894.xml"/><Relationship Id="rId1" Type="http://schemas.openxmlformats.org/officeDocument/2006/relationships/tags" Target="../tags/tag2893.xml"/><Relationship Id="rId6" Type="http://schemas.openxmlformats.org/officeDocument/2006/relationships/oleObject" Target="../embeddings/oleObject197.bin"/><Relationship Id="rId5" Type="http://schemas.openxmlformats.org/officeDocument/2006/relationships/notesSlide" Target="../notesSlides/notesSlide60.xml"/><Relationship Id="rId4" Type="http://schemas.openxmlformats.org/officeDocument/2006/relationships/slideLayout" Target="../slideLayouts/slideLayout20.xml"/></Relationships>
</file>

<file path=ppt/slides/_rels/slide218.xml.rels><?xml version="1.0" encoding="UTF-8" standalone="yes"?>
<Relationships xmlns="http://schemas.openxmlformats.org/package/2006/relationships"><Relationship Id="rId3" Type="http://schemas.openxmlformats.org/officeDocument/2006/relationships/tags" Target="../tags/tag2898.xml"/><Relationship Id="rId7" Type="http://schemas.openxmlformats.org/officeDocument/2006/relationships/image" Target="../media/image9.emf"/><Relationship Id="rId2" Type="http://schemas.openxmlformats.org/officeDocument/2006/relationships/tags" Target="../tags/tag2897.xml"/><Relationship Id="rId1" Type="http://schemas.openxmlformats.org/officeDocument/2006/relationships/tags" Target="../tags/tag2896.xml"/><Relationship Id="rId6" Type="http://schemas.openxmlformats.org/officeDocument/2006/relationships/oleObject" Target="../embeddings/oleObject198.bin"/><Relationship Id="rId5" Type="http://schemas.openxmlformats.org/officeDocument/2006/relationships/notesSlide" Target="../notesSlides/notesSlide61.xml"/><Relationship Id="rId4" Type="http://schemas.openxmlformats.org/officeDocument/2006/relationships/slideLayout" Target="../slideLayouts/slideLayout20.xml"/></Relationships>
</file>

<file path=ppt/slides/_rels/slide219.xml.rels><?xml version="1.0" encoding="UTF-8" standalone="yes"?>
<Relationships xmlns="http://schemas.openxmlformats.org/package/2006/relationships"><Relationship Id="rId3" Type="http://schemas.openxmlformats.org/officeDocument/2006/relationships/tags" Target="../tags/tag2901.xml"/><Relationship Id="rId7" Type="http://schemas.openxmlformats.org/officeDocument/2006/relationships/image" Target="../media/image9.emf"/><Relationship Id="rId2" Type="http://schemas.openxmlformats.org/officeDocument/2006/relationships/tags" Target="../tags/tag2900.xml"/><Relationship Id="rId1" Type="http://schemas.openxmlformats.org/officeDocument/2006/relationships/tags" Target="../tags/tag2899.xml"/><Relationship Id="rId6" Type="http://schemas.openxmlformats.org/officeDocument/2006/relationships/oleObject" Target="../embeddings/oleObject199.bin"/><Relationship Id="rId5" Type="http://schemas.openxmlformats.org/officeDocument/2006/relationships/notesSlide" Target="../notesSlides/notesSlide62.xml"/><Relationship Id="rId4" Type="http://schemas.openxmlformats.org/officeDocument/2006/relationships/slideLayout" Target="../slideLayouts/slideLayout20.xml"/></Relationships>
</file>

<file path=ppt/slides/_rels/slide220.xml.rels><?xml version="1.0" encoding="UTF-8" standalone="yes"?>
<Relationships xmlns="http://schemas.openxmlformats.org/package/2006/relationships"><Relationship Id="rId3" Type="http://schemas.openxmlformats.org/officeDocument/2006/relationships/tags" Target="../tags/tag2904.xml"/><Relationship Id="rId7" Type="http://schemas.openxmlformats.org/officeDocument/2006/relationships/image" Target="../media/image9.emf"/><Relationship Id="rId2" Type="http://schemas.openxmlformats.org/officeDocument/2006/relationships/tags" Target="../tags/tag2903.xml"/><Relationship Id="rId1" Type="http://schemas.openxmlformats.org/officeDocument/2006/relationships/tags" Target="../tags/tag2902.xml"/><Relationship Id="rId6" Type="http://schemas.openxmlformats.org/officeDocument/2006/relationships/oleObject" Target="../embeddings/oleObject200.bin"/><Relationship Id="rId5" Type="http://schemas.openxmlformats.org/officeDocument/2006/relationships/notesSlide" Target="../notesSlides/notesSlide63.xml"/><Relationship Id="rId4" Type="http://schemas.openxmlformats.org/officeDocument/2006/relationships/slideLayout" Target="../slideLayouts/slideLayout20.xml"/></Relationships>
</file>

<file path=ppt/slides/_rels/slide221.xml.rels><?xml version="1.0" encoding="UTF-8" standalone="yes"?>
<Relationships xmlns="http://schemas.openxmlformats.org/package/2006/relationships"><Relationship Id="rId3" Type="http://schemas.openxmlformats.org/officeDocument/2006/relationships/tags" Target="../tags/tag2907.xml"/><Relationship Id="rId7" Type="http://schemas.openxmlformats.org/officeDocument/2006/relationships/image" Target="../media/image9.emf"/><Relationship Id="rId2" Type="http://schemas.openxmlformats.org/officeDocument/2006/relationships/tags" Target="../tags/tag2906.xml"/><Relationship Id="rId1" Type="http://schemas.openxmlformats.org/officeDocument/2006/relationships/tags" Target="../tags/tag2905.xml"/><Relationship Id="rId6" Type="http://schemas.openxmlformats.org/officeDocument/2006/relationships/oleObject" Target="../embeddings/oleObject201.bin"/><Relationship Id="rId5" Type="http://schemas.openxmlformats.org/officeDocument/2006/relationships/notesSlide" Target="../notesSlides/notesSlide64.xml"/><Relationship Id="rId4" Type="http://schemas.openxmlformats.org/officeDocument/2006/relationships/slideLayout" Target="../slideLayouts/slideLayout20.xml"/></Relationships>
</file>

<file path=ppt/slides/_rels/slide222.xml.rels><?xml version="1.0" encoding="UTF-8" standalone="yes"?>
<Relationships xmlns="http://schemas.openxmlformats.org/package/2006/relationships"><Relationship Id="rId3" Type="http://schemas.openxmlformats.org/officeDocument/2006/relationships/tags" Target="../tags/tag2910.xml"/><Relationship Id="rId7" Type="http://schemas.openxmlformats.org/officeDocument/2006/relationships/image" Target="../media/image9.emf"/><Relationship Id="rId2" Type="http://schemas.openxmlformats.org/officeDocument/2006/relationships/tags" Target="../tags/tag2909.xml"/><Relationship Id="rId1" Type="http://schemas.openxmlformats.org/officeDocument/2006/relationships/tags" Target="../tags/tag2908.xml"/><Relationship Id="rId6" Type="http://schemas.openxmlformats.org/officeDocument/2006/relationships/oleObject" Target="../embeddings/oleObject202.bin"/><Relationship Id="rId5" Type="http://schemas.openxmlformats.org/officeDocument/2006/relationships/notesSlide" Target="../notesSlides/notesSlide65.xml"/><Relationship Id="rId4" Type="http://schemas.openxmlformats.org/officeDocument/2006/relationships/slideLayout" Target="../slideLayouts/slideLayout20.xml"/></Relationships>
</file>

<file path=ppt/slides/_rels/slide223.xml.rels><?xml version="1.0" encoding="UTF-8" standalone="yes"?>
<Relationships xmlns="http://schemas.openxmlformats.org/package/2006/relationships"><Relationship Id="rId3" Type="http://schemas.openxmlformats.org/officeDocument/2006/relationships/tags" Target="../tags/tag2913.xml"/><Relationship Id="rId7" Type="http://schemas.openxmlformats.org/officeDocument/2006/relationships/image" Target="../media/image9.emf"/><Relationship Id="rId2" Type="http://schemas.openxmlformats.org/officeDocument/2006/relationships/tags" Target="../tags/tag2912.xml"/><Relationship Id="rId1" Type="http://schemas.openxmlformats.org/officeDocument/2006/relationships/tags" Target="../tags/tag2911.xml"/><Relationship Id="rId6" Type="http://schemas.openxmlformats.org/officeDocument/2006/relationships/oleObject" Target="../embeddings/oleObject203.bin"/><Relationship Id="rId5" Type="http://schemas.openxmlformats.org/officeDocument/2006/relationships/notesSlide" Target="../notesSlides/notesSlide66.xml"/><Relationship Id="rId4" Type="http://schemas.openxmlformats.org/officeDocument/2006/relationships/slideLayout" Target="../slideLayouts/slideLayout20.xml"/></Relationships>
</file>

<file path=ppt/slides/_rels/slide224.xml.rels><?xml version="1.0" encoding="UTF-8" standalone="yes"?>
<Relationships xmlns="http://schemas.openxmlformats.org/package/2006/relationships"><Relationship Id="rId3" Type="http://schemas.openxmlformats.org/officeDocument/2006/relationships/tags" Target="../tags/tag2916.xml"/><Relationship Id="rId7" Type="http://schemas.openxmlformats.org/officeDocument/2006/relationships/image" Target="../media/image9.emf"/><Relationship Id="rId2" Type="http://schemas.openxmlformats.org/officeDocument/2006/relationships/tags" Target="../tags/tag2915.xml"/><Relationship Id="rId1" Type="http://schemas.openxmlformats.org/officeDocument/2006/relationships/tags" Target="../tags/tag2914.xml"/><Relationship Id="rId6" Type="http://schemas.openxmlformats.org/officeDocument/2006/relationships/oleObject" Target="../embeddings/oleObject204.bin"/><Relationship Id="rId5" Type="http://schemas.openxmlformats.org/officeDocument/2006/relationships/notesSlide" Target="../notesSlides/notesSlide67.xml"/><Relationship Id="rId4" Type="http://schemas.openxmlformats.org/officeDocument/2006/relationships/slideLayout" Target="../slideLayouts/slideLayout20.xml"/></Relationships>
</file>

<file path=ppt/slides/_rels/slide225.xml.rels><?xml version="1.0" encoding="UTF-8" standalone="yes"?>
<Relationships xmlns="http://schemas.openxmlformats.org/package/2006/relationships"><Relationship Id="rId3" Type="http://schemas.openxmlformats.org/officeDocument/2006/relationships/tags" Target="../tags/tag2919.xml"/><Relationship Id="rId7" Type="http://schemas.openxmlformats.org/officeDocument/2006/relationships/image" Target="../media/image9.emf"/><Relationship Id="rId2" Type="http://schemas.openxmlformats.org/officeDocument/2006/relationships/tags" Target="../tags/tag2918.xml"/><Relationship Id="rId1" Type="http://schemas.openxmlformats.org/officeDocument/2006/relationships/tags" Target="../tags/tag2917.xml"/><Relationship Id="rId6" Type="http://schemas.openxmlformats.org/officeDocument/2006/relationships/oleObject" Target="../embeddings/oleObject205.bin"/><Relationship Id="rId5" Type="http://schemas.openxmlformats.org/officeDocument/2006/relationships/notesSlide" Target="../notesSlides/notesSlide68.xml"/><Relationship Id="rId4" Type="http://schemas.openxmlformats.org/officeDocument/2006/relationships/slideLayout" Target="../slideLayouts/slideLayout21.xml"/></Relationships>
</file>

<file path=ppt/slides/_rels/slide226.xml.rels><?xml version="1.0" encoding="UTF-8" standalone="yes"?>
<Relationships xmlns="http://schemas.openxmlformats.org/package/2006/relationships"><Relationship Id="rId3" Type="http://schemas.openxmlformats.org/officeDocument/2006/relationships/tags" Target="../tags/tag2922.xml"/><Relationship Id="rId7" Type="http://schemas.openxmlformats.org/officeDocument/2006/relationships/image" Target="../media/image9.emf"/><Relationship Id="rId2" Type="http://schemas.openxmlformats.org/officeDocument/2006/relationships/tags" Target="../tags/tag2921.xml"/><Relationship Id="rId1" Type="http://schemas.openxmlformats.org/officeDocument/2006/relationships/tags" Target="../tags/tag2920.xml"/><Relationship Id="rId6" Type="http://schemas.openxmlformats.org/officeDocument/2006/relationships/oleObject" Target="../embeddings/oleObject206.bin"/><Relationship Id="rId5" Type="http://schemas.openxmlformats.org/officeDocument/2006/relationships/notesSlide" Target="../notesSlides/notesSlide69.xml"/><Relationship Id="rId4" Type="http://schemas.openxmlformats.org/officeDocument/2006/relationships/slideLayout" Target="../slideLayouts/slideLayout21.xml"/></Relationships>
</file>

<file path=ppt/slides/_rels/slide227.xml.rels><?xml version="1.0" encoding="UTF-8" standalone="yes"?>
<Relationships xmlns="http://schemas.openxmlformats.org/package/2006/relationships"><Relationship Id="rId3" Type="http://schemas.openxmlformats.org/officeDocument/2006/relationships/tags" Target="../tags/tag2925.xml"/><Relationship Id="rId7" Type="http://schemas.openxmlformats.org/officeDocument/2006/relationships/image" Target="../media/image9.emf"/><Relationship Id="rId2" Type="http://schemas.openxmlformats.org/officeDocument/2006/relationships/tags" Target="../tags/tag2924.xml"/><Relationship Id="rId1" Type="http://schemas.openxmlformats.org/officeDocument/2006/relationships/tags" Target="../tags/tag2923.xml"/><Relationship Id="rId6" Type="http://schemas.openxmlformats.org/officeDocument/2006/relationships/oleObject" Target="../embeddings/oleObject207.bin"/><Relationship Id="rId5" Type="http://schemas.openxmlformats.org/officeDocument/2006/relationships/notesSlide" Target="../notesSlides/notesSlide70.xml"/><Relationship Id="rId4" Type="http://schemas.openxmlformats.org/officeDocument/2006/relationships/slideLayout" Target="../slideLayouts/slideLayout21.xml"/></Relationships>
</file>

<file path=ppt/slides/_rels/slide228.xml.rels><?xml version="1.0" encoding="UTF-8" standalone="yes"?>
<Relationships xmlns="http://schemas.openxmlformats.org/package/2006/relationships"><Relationship Id="rId3" Type="http://schemas.openxmlformats.org/officeDocument/2006/relationships/slideLayout" Target="../slideLayouts/slideLayout11.xml"/><Relationship Id="rId2" Type="http://schemas.openxmlformats.org/officeDocument/2006/relationships/tags" Target="../tags/tag2927.xml"/><Relationship Id="rId1" Type="http://schemas.openxmlformats.org/officeDocument/2006/relationships/tags" Target="../tags/tag2926.xml"/><Relationship Id="rId6" Type="http://schemas.openxmlformats.org/officeDocument/2006/relationships/image" Target="../media/image9.emf"/><Relationship Id="rId5" Type="http://schemas.openxmlformats.org/officeDocument/2006/relationships/oleObject" Target="../embeddings/oleObject208.bin"/><Relationship Id="rId4" Type="http://schemas.openxmlformats.org/officeDocument/2006/relationships/notesSlide" Target="../notesSlides/notesSlide71.xml"/></Relationships>
</file>

<file path=ppt/slides/_rels/slide229.xml.rels><?xml version="1.0" encoding="UTF-8" standalone="yes"?>
<Relationships xmlns="http://schemas.openxmlformats.org/package/2006/relationships"><Relationship Id="rId3" Type="http://schemas.openxmlformats.org/officeDocument/2006/relationships/slideLayout" Target="../slideLayouts/slideLayout13.xml"/><Relationship Id="rId2" Type="http://schemas.openxmlformats.org/officeDocument/2006/relationships/tags" Target="../tags/tag2929.xml"/><Relationship Id="rId1" Type="http://schemas.openxmlformats.org/officeDocument/2006/relationships/tags" Target="../tags/tag2928.xml"/><Relationship Id="rId5" Type="http://schemas.openxmlformats.org/officeDocument/2006/relationships/image" Target="../media/image9.emf"/><Relationship Id="rId4" Type="http://schemas.openxmlformats.org/officeDocument/2006/relationships/oleObject" Target="../embeddings/oleObject209.bin"/></Relationships>
</file>

<file path=ppt/slides/_rels/slide230.xml.rels><?xml version="1.0" encoding="UTF-8" standalone="yes"?>
<Relationships xmlns="http://schemas.openxmlformats.org/package/2006/relationships"><Relationship Id="rId3" Type="http://schemas.openxmlformats.org/officeDocument/2006/relationships/slideLayout" Target="../slideLayouts/slideLayout13.xml"/><Relationship Id="rId2" Type="http://schemas.openxmlformats.org/officeDocument/2006/relationships/tags" Target="../tags/tag2931.xml"/><Relationship Id="rId1" Type="http://schemas.openxmlformats.org/officeDocument/2006/relationships/tags" Target="../tags/tag2930.xml"/><Relationship Id="rId5" Type="http://schemas.openxmlformats.org/officeDocument/2006/relationships/image" Target="../media/image9.emf"/><Relationship Id="rId4" Type="http://schemas.openxmlformats.org/officeDocument/2006/relationships/oleObject" Target="../embeddings/oleObject210.bin"/></Relationships>
</file>

<file path=ppt/slides/_rels/slide231.xml.rels><?xml version="1.0" encoding="UTF-8" standalone="yes"?>
<Relationships xmlns="http://schemas.openxmlformats.org/package/2006/relationships"><Relationship Id="rId3" Type="http://schemas.openxmlformats.org/officeDocument/2006/relationships/slideLayout" Target="../slideLayouts/slideLayout13.xml"/><Relationship Id="rId2" Type="http://schemas.openxmlformats.org/officeDocument/2006/relationships/tags" Target="../tags/tag2933.xml"/><Relationship Id="rId1" Type="http://schemas.openxmlformats.org/officeDocument/2006/relationships/tags" Target="../tags/tag2932.xml"/><Relationship Id="rId5" Type="http://schemas.openxmlformats.org/officeDocument/2006/relationships/image" Target="../media/image9.emf"/><Relationship Id="rId4" Type="http://schemas.openxmlformats.org/officeDocument/2006/relationships/oleObject" Target="../embeddings/oleObject211.bin"/></Relationships>
</file>

<file path=ppt/slides/_rels/slide232.xml.rels><?xml version="1.0" encoding="UTF-8" standalone="yes"?>
<Relationships xmlns="http://schemas.openxmlformats.org/package/2006/relationships"><Relationship Id="rId3" Type="http://schemas.openxmlformats.org/officeDocument/2006/relationships/slideLayout" Target="../slideLayouts/slideLayout13.xml"/><Relationship Id="rId2" Type="http://schemas.openxmlformats.org/officeDocument/2006/relationships/tags" Target="../tags/tag2935.xml"/><Relationship Id="rId1" Type="http://schemas.openxmlformats.org/officeDocument/2006/relationships/tags" Target="../tags/tag2934.xml"/><Relationship Id="rId5" Type="http://schemas.openxmlformats.org/officeDocument/2006/relationships/image" Target="../media/image9.emf"/><Relationship Id="rId4" Type="http://schemas.openxmlformats.org/officeDocument/2006/relationships/oleObject" Target="../embeddings/oleObject212.bin"/></Relationships>
</file>

<file path=ppt/slides/_rels/slide233.xml.rels><?xml version="1.0" encoding="UTF-8" standalone="yes"?>
<Relationships xmlns="http://schemas.openxmlformats.org/package/2006/relationships"><Relationship Id="rId3" Type="http://schemas.openxmlformats.org/officeDocument/2006/relationships/slideLayout" Target="../slideLayouts/slideLayout13.xml"/><Relationship Id="rId2" Type="http://schemas.openxmlformats.org/officeDocument/2006/relationships/tags" Target="../tags/tag2937.xml"/><Relationship Id="rId1" Type="http://schemas.openxmlformats.org/officeDocument/2006/relationships/tags" Target="../tags/tag2936.xml"/><Relationship Id="rId5" Type="http://schemas.openxmlformats.org/officeDocument/2006/relationships/image" Target="../media/image9.emf"/><Relationship Id="rId4" Type="http://schemas.openxmlformats.org/officeDocument/2006/relationships/oleObject" Target="../embeddings/oleObject213.bin"/></Relationships>
</file>

<file path=ppt/slides/_rels/slide234.xml.rels><?xml version="1.0" encoding="UTF-8" standalone="yes"?>
<Relationships xmlns="http://schemas.openxmlformats.org/package/2006/relationships"><Relationship Id="rId3" Type="http://schemas.openxmlformats.org/officeDocument/2006/relationships/slideLayout" Target="../slideLayouts/slideLayout13.xml"/><Relationship Id="rId2" Type="http://schemas.openxmlformats.org/officeDocument/2006/relationships/tags" Target="../tags/tag2939.xml"/><Relationship Id="rId1" Type="http://schemas.openxmlformats.org/officeDocument/2006/relationships/tags" Target="../tags/tag2938.xml"/><Relationship Id="rId5" Type="http://schemas.openxmlformats.org/officeDocument/2006/relationships/image" Target="../media/image9.emf"/><Relationship Id="rId4" Type="http://schemas.openxmlformats.org/officeDocument/2006/relationships/oleObject" Target="../embeddings/oleObject214.bin"/></Relationships>
</file>

<file path=ppt/slides/_rels/slide235.xml.rels><?xml version="1.0" encoding="UTF-8" standalone="yes"?>
<Relationships xmlns="http://schemas.openxmlformats.org/package/2006/relationships"><Relationship Id="rId3" Type="http://schemas.openxmlformats.org/officeDocument/2006/relationships/slideLayout" Target="../slideLayouts/slideLayout13.xml"/><Relationship Id="rId2" Type="http://schemas.openxmlformats.org/officeDocument/2006/relationships/tags" Target="../tags/tag2941.xml"/><Relationship Id="rId1" Type="http://schemas.openxmlformats.org/officeDocument/2006/relationships/tags" Target="../tags/tag2940.xml"/><Relationship Id="rId5" Type="http://schemas.openxmlformats.org/officeDocument/2006/relationships/image" Target="../media/image9.emf"/><Relationship Id="rId4" Type="http://schemas.openxmlformats.org/officeDocument/2006/relationships/oleObject" Target="../embeddings/oleObject215.bin"/></Relationships>
</file>

<file path=ppt/slides/_rels/slide236.xml.rels><?xml version="1.0" encoding="UTF-8" standalone="yes"?>
<Relationships xmlns="http://schemas.openxmlformats.org/package/2006/relationships"><Relationship Id="rId3" Type="http://schemas.openxmlformats.org/officeDocument/2006/relationships/slideLayout" Target="../slideLayouts/slideLayout13.xml"/><Relationship Id="rId2" Type="http://schemas.openxmlformats.org/officeDocument/2006/relationships/tags" Target="../tags/tag2943.xml"/><Relationship Id="rId1" Type="http://schemas.openxmlformats.org/officeDocument/2006/relationships/tags" Target="../tags/tag2942.xml"/><Relationship Id="rId5" Type="http://schemas.openxmlformats.org/officeDocument/2006/relationships/image" Target="../media/image9.emf"/><Relationship Id="rId4" Type="http://schemas.openxmlformats.org/officeDocument/2006/relationships/oleObject" Target="../embeddings/oleObject216.bin"/></Relationships>
</file>

<file path=ppt/slides/_rels/slide237.xml.rels><?xml version="1.0" encoding="UTF-8" standalone="yes"?>
<Relationships xmlns="http://schemas.openxmlformats.org/package/2006/relationships"><Relationship Id="rId3" Type="http://schemas.openxmlformats.org/officeDocument/2006/relationships/slideLayout" Target="../slideLayouts/slideLayout13.xml"/><Relationship Id="rId2" Type="http://schemas.openxmlformats.org/officeDocument/2006/relationships/tags" Target="../tags/tag2945.xml"/><Relationship Id="rId1" Type="http://schemas.openxmlformats.org/officeDocument/2006/relationships/tags" Target="../tags/tag2944.xml"/><Relationship Id="rId5" Type="http://schemas.openxmlformats.org/officeDocument/2006/relationships/image" Target="../media/image9.emf"/><Relationship Id="rId4" Type="http://schemas.openxmlformats.org/officeDocument/2006/relationships/oleObject" Target="../embeddings/oleObject217.bin"/></Relationships>
</file>

<file path=ppt/slides/_rels/slide238.xml.rels><?xml version="1.0" encoding="UTF-8" standalone="yes"?>
<Relationships xmlns="http://schemas.openxmlformats.org/package/2006/relationships"><Relationship Id="rId3" Type="http://schemas.openxmlformats.org/officeDocument/2006/relationships/slideLayout" Target="../slideLayouts/slideLayout13.xml"/><Relationship Id="rId2" Type="http://schemas.openxmlformats.org/officeDocument/2006/relationships/tags" Target="../tags/tag2947.xml"/><Relationship Id="rId1" Type="http://schemas.openxmlformats.org/officeDocument/2006/relationships/tags" Target="../tags/tag2946.xml"/><Relationship Id="rId5" Type="http://schemas.openxmlformats.org/officeDocument/2006/relationships/image" Target="../media/image9.emf"/><Relationship Id="rId4" Type="http://schemas.openxmlformats.org/officeDocument/2006/relationships/oleObject" Target="../embeddings/oleObject218.bin"/></Relationships>
</file>

<file path=ppt/slides/_rels/slide239.xml.rels><?xml version="1.0" encoding="UTF-8" standalone="yes"?>
<Relationships xmlns="http://schemas.openxmlformats.org/package/2006/relationships"><Relationship Id="rId3" Type="http://schemas.openxmlformats.org/officeDocument/2006/relationships/tags" Target="../tags/tag2950.xml"/><Relationship Id="rId2" Type="http://schemas.openxmlformats.org/officeDocument/2006/relationships/tags" Target="../tags/tag2949.xml"/><Relationship Id="rId1" Type="http://schemas.openxmlformats.org/officeDocument/2006/relationships/tags" Target="../tags/tag2948.xml"/><Relationship Id="rId6" Type="http://schemas.openxmlformats.org/officeDocument/2006/relationships/image" Target="../media/image9.emf"/><Relationship Id="rId5" Type="http://schemas.openxmlformats.org/officeDocument/2006/relationships/oleObject" Target="../embeddings/oleObject219.bin"/><Relationship Id="rId4" Type="http://schemas.openxmlformats.org/officeDocument/2006/relationships/slideLayout" Target="../slideLayouts/slideLayout7.xml"/></Relationships>
</file>

<file path=ppt/slides/_rels/slide240.xml.rels><?xml version="1.0" encoding="UTF-8" standalone="yes"?>
<Relationships xmlns="http://schemas.openxmlformats.org/package/2006/relationships"><Relationship Id="rId8" Type="http://schemas.openxmlformats.org/officeDocument/2006/relationships/tags" Target="../tags/tag2958.xml"/><Relationship Id="rId13" Type="http://schemas.openxmlformats.org/officeDocument/2006/relationships/tags" Target="../tags/tag2963.xml"/><Relationship Id="rId18" Type="http://schemas.openxmlformats.org/officeDocument/2006/relationships/tags" Target="../tags/tag2968.xml"/><Relationship Id="rId26" Type="http://schemas.openxmlformats.org/officeDocument/2006/relationships/oleObject" Target="../embeddings/oleObject220.bin"/><Relationship Id="rId3" Type="http://schemas.openxmlformats.org/officeDocument/2006/relationships/tags" Target="../tags/tag2953.xml"/><Relationship Id="rId21" Type="http://schemas.openxmlformats.org/officeDocument/2006/relationships/tags" Target="../tags/tag2971.xml"/><Relationship Id="rId7" Type="http://schemas.openxmlformats.org/officeDocument/2006/relationships/tags" Target="../tags/tag2957.xml"/><Relationship Id="rId12" Type="http://schemas.openxmlformats.org/officeDocument/2006/relationships/tags" Target="../tags/tag2962.xml"/><Relationship Id="rId17" Type="http://schemas.openxmlformats.org/officeDocument/2006/relationships/tags" Target="../tags/tag2967.xml"/><Relationship Id="rId25" Type="http://schemas.openxmlformats.org/officeDocument/2006/relationships/slideLayout" Target="../slideLayouts/slideLayout7.xml"/><Relationship Id="rId2" Type="http://schemas.openxmlformats.org/officeDocument/2006/relationships/tags" Target="../tags/tag2952.xml"/><Relationship Id="rId16" Type="http://schemas.openxmlformats.org/officeDocument/2006/relationships/tags" Target="../tags/tag2966.xml"/><Relationship Id="rId20" Type="http://schemas.openxmlformats.org/officeDocument/2006/relationships/tags" Target="../tags/tag2970.xml"/><Relationship Id="rId29" Type="http://schemas.openxmlformats.org/officeDocument/2006/relationships/chart" Target="../charts/chart146.xml"/><Relationship Id="rId1" Type="http://schemas.openxmlformats.org/officeDocument/2006/relationships/tags" Target="../tags/tag2951.xml"/><Relationship Id="rId6" Type="http://schemas.openxmlformats.org/officeDocument/2006/relationships/tags" Target="../tags/tag2956.xml"/><Relationship Id="rId11" Type="http://schemas.openxmlformats.org/officeDocument/2006/relationships/tags" Target="../tags/tag2961.xml"/><Relationship Id="rId24" Type="http://schemas.openxmlformats.org/officeDocument/2006/relationships/tags" Target="../tags/tag2974.xml"/><Relationship Id="rId5" Type="http://schemas.openxmlformats.org/officeDocument/2006/relationships/tags" Target="../tags/tag2955.xml"/><Relationship Id="rId15" Type="http://schemas.openxmlformats.org/officeDocument/2006/relationships/tags" Target="../tags/tag2965.xml"/><Relationship Id="rId23" Type="http://schemas.openxmlformats.org/officeDocument/2006/relationships/tags" Target="../tags/tag2973.xml"/><Relationship Id="rId28" Type="http://schemas.openxmlformats.org/officeDocument/2006/relationships/chart" Target="../charts/chart145.xml"/><Relationship Id="rId10" Type="http://schemas.openxmlformats.org/officeDocument/2006/relationships/tags" Target="../tags/tag2960.xml"/><Relationship Id="rId19" Type="http://schemas.openxmlformats.org/officeDocument/2006/relationships/tags" Target="../tags/tag2969.xml"/><Relationship Id="rId4" Type="http://schemas.openxmlformats.org/officeDocument/2006/relationships/tags" Target="../tags/tag2954.xml"/><Relationship Id="rId9" Type="http://schemas.openxmlformats.org/officeDocument/2006/relationships/tags" Target="../tags/tag2959.xml"/><Relationship Id="rId14" Type="http://schemas.openxmlformats.org/officeDocument/2006/relationships/tags" Target="../tags/tag2964.xml"/><Relationship Id="rId22" Type="http://schemas.openxmlformats.org/officeDocument/2006/relationships/tags" Target="../tags/tag2972.xml"/><Relationship Id="rId27" Type="http://schemas.openxmlformats.org/officeDocument/2006/relationships/image" Target="../media/image9.emf"/></Relationships>
</file>

<file path=ppt/slides/_rels/slide241.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1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4155486710"/>
              </p:ext>
            </p:extLst>
          </p:nvPr>
        </p:nvGraphicFramePr>
        <p:xfrm>
          <a:off x="1714" y="80539"/>
          <a:ext cx="1714" cy="1714"/>
        </p:xfrm>
        <a:graphic>
          <a:graphicData uri="http://schemas.openxmlformats.org/presentationml/2006/ole">
            <mc:AlternateContent xmlns:mc="http://schemas.openxmlformats.org/markup-compatibility/2006">
              <mc:Choice xmlns:v="urn:schemas-microsoft-com:vml" Requires="v">
                <p:oleObj name="think-cell Slide" r:id="rId4" imgW="470" imgH="469" progId="TCLayout.ActiveDocument.1">
                  <p:embed/>
                </p:oleObj>
              </mc:Choice>
              <mc:Fallback>
                <p:oleObj name="think-cell Slide" r:id="rId4" imgW="470" imgH="469" progId="TCLayout.ActiveDocument.1">
                  <p:embed/>
                  <p:pic>
                    <p:nvPicPr>
                      <p:cNvPr id="4" name="Object 3" hidden="1"/>
                      <p:cNvPicPr/>
                      <p:nvPr/>
                    </p:nvPicPr>
                    <p:blipFill>
                      <a:blip r:embed="rId5"/>
                      <a:stretch>
                        <a:fillRect/>
                      </a:stretch>
                    </p:blipFill>
                    <p:spPr>
                      <a:xfrm>
                        <a:off x="1714" y="80539"/>
                        <a:ext cx="1714" cy="1714"/>
                      </a:xfrm>
                      <a:prstGeom prst="rect">
                        <a:avLst/>
                      </a:prstGeom>
                    </p:spPr>
                  </p:pic>
                </p:oleObj>
              </mc:Fallback>
            </mc:AlternateContent>
          </a:graphicData>
        </a:graphic>
      </p:graphicFrame>
      <p:pic>
        <p:nvPicPr>
          <p:cNvPr id="3" name="Picture 2"/>
          <p:cNvPicPr>
            <a:picLocks noChangeAspect="1"/>
          </p:cNvPicPr>
          <p:nvPr/>
        </p:nvPicPr>
        <p:blipFill>
          <a:blip r:embed="rId6"/>
          <a:stretch>
            <a:fillRect/>
          </a:stretch>
        </p:blipFill>
        <p:spPr>
          <a:xfrm>
            <a:off x="439923" y="906578"/>
            <a:ext cx="9906992" cy="5173458"/>
          </a:xfrm>
          <a:prstGeom prst="rect">
            <a:avLst/>
          </a:prstGeom>
        </p:spPr>
      </p:pic>
      <p:sp>
        <p:nvSpPr>
          <p:cNvPr id="15" name="Subtitle 3"/>
          <p:cNvSpPr>
            <a:spLocks noGrp="1"/>
          </p:cNvSpPr>
          <p:nvPr>
            <p:ph type="subTitle" idx="1"/>
          </p:nvPr>
        </p:nvSpPr>
        <p:spPr>
          <a:xfrm>
            <a:off x="439924" y="6408247"/>
            <a:ext cx="6022918" cy="545756"/>
          </a:xfrm>
        </p:spPr>
        <p:txBody>
          <a:bodyPr/>
          <a:lstStyle/>
          <a:p>
            <a:r>
              <a:rPr lang="en-US" sz="1727" dirty="0"/>
              <a:t>Project Nimbus </a:t>
            </a:r>
            <a:r>
              <a:rPr lang="en-US" sz="1727"/>
              <a:t>– Revised Final </a:t>
            </a:r>
            <a:r>
              <a:rPr lang="en-US" sz="1727" dirty="0"/>
              <a:t>Report</a:t>
            </a:r>
          </a:p>
          <a:p>
            <a:r>
              <a:rPr lang="en-US" sz="1727" noProof="0" dirty="0">
                <a:solidFill>
                  <a:schemeClr val="accent1"/>
                </a:solidFill>
              </a:rPr>
              <a:t>Commercial Due Diligence – Bangladesh</a:t>
            </a:r>
          </a:p>
          <a:p>
            <a:r>
              <a:rPr lang="en-US" sz="1400" b="0" dirty="0">
                <a:solidFill>
                  <a:schemeClr val="accent1"/>
                </a:solidFill>
              </a:rPr>
              <a:t>Actis GP LLP, October 2020</a:t>
            </a:r>
            <a:endParaRPr lang="en-US" sz="1100" b="0" noProof="0" dirty="0">
              <a:solidFill>
                <a:schemeClr val="accent1"/>
              </a:solidFill>
            </a:endParaRPr>
          </a:p>
        </p:txBody>
      </p:sp>
      <p:sp>
        <p:nvSpPr>
          <p:cNvPr id="16" name="Text Placeholder 4"/>
          <p:cNvSpPr>
            <a:spLocks noGrp="1"/>
          </p:cNvSpPr>
          <p:nvPr>
            <p:ph type="body" sz="quarter" idx="10"/>
          </p:nvPr>
        </p:nvSpPr>
        <p:spPr>
          <a:xfrm>
            <a:off x="439924" y="6966820"/>
            <a:ext cx="4905982" cy="322125"/>
          </a:xfrm>
        </p:spPr>
        <p:txBody>
          <a:bodyPr vert="horz" lIns="0" tIns="0" rIns="0" bIns="0" rtlCol="0" anchor="ctr" anchorCtr="0">
            <a:noAutofit/>
          </a:bodyPr>
          <a:lstStyle/>
          <a:p>
            <a:r>
              <a:rPr lang="en-US" sz="1187" dirty="0"/>
              <a:t>Deloitte </a:t>
            </a:r>
            <a:r>
              <a:rPr lang="en-US" sz="1187" dirty="0" err="1"/>
              <a:t>Touche</a:t>
            </a:r>
            <a:r>
              <a:rPr lang="en-US" sz="1187" dirty="0"/>
              <a:t>  Tohmatsu India LLP</a:t>
            </a:r>
          </a:p>
        </p:txBody>
      </p:sp>
    </p:spTree>
    <p:extLst>
      <p:ext uri="{BB962C8B-B14F-4D97-AF65-F5344CB8AC3E}">
        <p14:creationId xmlns:p14="http://schemas.microsoft.com/office/powerpoint/2010/main" val="3335361863"/>
      </p:ext>
    </p:extLst>
  </p:cSld>
  <p:clrMapOvr>
    <a:masterClrMapping/>
  </p:clrMapOvr>
  <p:transition>
    <p:fade/>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251150295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30" imgH="531" progId="TCLayout.ActiveDocument.1">
                  <p:embed/>
                </p:oleObj>
              </mc:Choice>
              <mc:Fallback>
                <p:oleObj name="think-cell Slide" r:id="rId3" imgW="530" imgH="531" progId="TCLayout.ActiveDocument.1">
                  <p:embed/>
                  <p:pic>
                    <p:nvPicPr>
                      <p:cNvPr id="3" name="Object 2" hidden="1"/>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p:nvPr>
        </p:nvSpPr>
        <p:spPr/>
        <p:txBody>
          <a:bodyPr/>
          <a:lstStyle/>
          <a:p>
            <a:r>
              <a:rPr lang="en-US" dirty="0"/>
              <a:t>Disclaimer</a:t>
            </a:r>
            <a:endParaRPr lang="en-IN" dirty="0"/>
          </a:p>
        </p:txBody>
      </p:sp>
      <p:sp>
        <p:nvSpPr>
          <p:cNvPr id="4" name="TextBox 3"/>
          <p:cNvSpPr txBox="1"/>
          <p:nvPr/>
        </p:nvSpPr>
        <p:spPr>
          <a:xfrm>
            <a:off x="449264" y="1507470"/>
            <a:ext cx="9666286" cy="5016758"/>
          </a:xfrm>
          <a:prstGeom prst="rect">
            <a:avLst/>
          </a:prstGeom>
          <a:noFill/>
        </p:spPr>
        <p:txBody>
          <a:bodyPr wrap="square" lIns="0" tIns="0" rIns="0" bIns="0" rtlCol="0">
            <a:spAutoFit/>
          </a:bodyPr>
          <a:lstStyle/>
          <a:p>
            <a:pPr algn="just">
              <a:spcBef>
                <a:spcPts val="600"/>
              </a:spcBef>
              <a:spcAft>
                <a:spcPts val="600"/>
              </a:spcAft>
            </a:pPr>
            <a:r>
              <a:rPr lang="en-US" sz="1100" dirty="0"/>
              <a:t>This Report has been prepared by Deloitte Touche Tohmatsu India LLP (“DTTI LLP”) in accordance with the Engagement Letter dated 8</a:t>
            </a:r>
            <a:r>
              <a:rPr lang="en-US" sz="1100" baseline="30000" dirty="0"/>
              <a:t>th</a:t>
            </a:r>
            <a:r>
              <a:rPr lang="en-US" sz="1100" dirty="0"/>
              <a:t> June 2020 executed between DTTI LLP and Actis GP LLP (“Client”) and is subject to the scope of work, approach, assumptions and other conditions mentioned in the Engagement Letter and the conditions mentioned in this Report.</a:t>
            </a:r>
          </a:p>
          <a:p>
            <a:pPr algn="just">
              <a:spcBef>
                <a:spcPts val="600"/>
              </a:spcBef>
              <a:spcAft>
                <a:spcPts val="600"/>
              </a:spcAft>
            </a:pPr>
            <a:r>
              <a:rPr lang="en-US" sz="1100" dirty="0"/>
              <a:t>This Report and the information contained herein has been prepared by DTTI LLP solely for the benefit of the Client and is intended for use by the Client solely for the purpose of Project Nimbus - Commercial Due Diligence of NBBL’s 220 MW Gas / 212 HSD based power plant in Bangladesh. The Client shall not use this Report for any other purpose and in particular shall not use this Report in connection with the business decisions of any third party and for advisement purposes. </a:t>
            </a:r>
          </a:p>
          <a:p>
            <a:pPr algn="just">
              <a:spcBef>
                <a:spcPts val="600"/>
              </a:spcBef>
              <a:spcAft>
                <a:spcPts val="600"/>
              </a:spcAft>
            </a:pPr>
            <a:r>
              <a:rPr lang="en-US" sz="1100" dirty="0"/>
              <a:t>This Report contains analyses that are intended to provide high-level information on the subject and are not an exhaustive treatment of the subject. The analyses in the Report are limited by the scope of work, the time allocated, information made available to DTTI LLP or collected by DTTI LLP and are heavily dependent upon the assumptions specified in the Engagement Letter and this Report. It should be noted that a different set of assumptions will lead to a different analyses. This Report is not intended to be relied upon as a sole basis for any decision and the Client should take decisions only after seeking professional advice and after carrying out their own due diligence procedures, detailed analysis to ensure that they are making an informed decision. This Report is not and should not be construed in any way as giving any investment advice or any recommendations by DTTI LLP to the Client or any other party. The Client shall be solely responsible for any and all decisions (including the implications thereof) made by the Client on the basis of this Report. The Client shall hold us harmless from any claims for damages arising from the use of our deliverables.</a:t>
            </a:r>
          </a:p>
          <a:p>
            <a:pPr algn="just">
              <a:spcBef>
                <a:spcPts val="600"/>
              </a:spcBef>
              <a:spcAft>
                <a:spcPts val="600"/>
              </a:spcAft>
            </a:pPr>
            <a:r>
              <a:rPr lang="en-US" sz="1100" dirty="0"/>
              <a:t>This Report has been prepared on the basis of information made available, obtained and collected by DTTI LLP from Client and various secondary sources till 18</a:t>
            </a:r>
            <a:r>
              <a:rPr lang="en-US" sz="1100" baseline="30000" dirty="0"/>
              <a:t>th</a:t>
            </a:r>
            <a:r>
              <a:rPr lang="en-US" sz="1100" dirty="0"/>
              <a:t> July 2020. The sources of any material information used in the Report has been mentioned or cited herein. The information obtained and collected from the Client and various secondary sources has been used on an “as-is” basis without any independent verification by DTTI LLP. DTTI LLP shall not be responsible for any error or omissions, or for the results obtained from the use of this information and provides no assurance regarding the accuracy, timeliness, adequacy, comprehensiveness and/ or completeness of such information and provides no warranty of any kind, express or implied, including, but not limited to warranties of performance and fitness for a particular purpose. DTTI LLP shall not be liable for any losses and damages arising as a result of any inaccuracy or inadequacy or incomprehensiveness or incompleteness of such information. </a:t>
            </a:r>
          </a:p>
          <a:p>
            <a:pPr algn="just">
              <a:spcBef>
                <a:spcPts val="600"/>
              </a:spcBef>
              <a:spcAft>
                <a:spcPts val="600"/>
              </a:spcAft>
            </a:pPr>
            <a:r>
              <a:rPr lang="en-US" sz="1100" dirty="0"/>
              <a:t>This Report is solely for the use of the Client, as per the terms of the Contract. The Report is issued on the basis that this Report or any information derived therefrom, shall not be shared with or provided to any third party without the prior written consent of DTTI LLP.</a:t>
            </a:r>
          </a:p>
        </p:txBody>
      </p:sp>
    </p:spTree>
    <p:extLst>
      <p:ext uri="{BB962C8B-B14F-4D97-AF65-F5344CB8AC3E}">
        <p14:creationId xmlns:p14="http://schemas.microsoft.com/office/powerpoint/2010/main" val="3095886178"/>
      </p:ext>
    </p:extLst>
  </p:cSld>
  <p:clrMapOvr>
    <a:masterClrMapping/>
  </p:clrMapOvr>
  <p:transition>
    <p:fade/>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Object 6" hidden="1"/>
          <p:cNvGraphicFramePr>
            <a:graphicFrameLocks noChangeAspect="1"/>
          </p:cNvGraphicFramePr>
          <p:nvPr>
            <p:custDataLst>
              <p:tags r:id="rId1"/>
            </p:custDataLst>
            <p:extLst>
              <p:ext uri="{D42A27DB-BD31-4B8C-83A1-F6EECF244321}">
                <p14:modId xmlns:p14="http://schemas.microsoft.com/office/powerpoint/2010/main" val="39180818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7" name="Object 6"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6" name="Rectangle 5"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Abbreviation List</a:t>
            </a:r>
            <a:endParaRPr lang="en-IN" dirty="0"/>
          </a:p>
        </p:txBody>
      </p:sp>
      <p:graphicFrame>
        <p:nvGraphicFramePr>
          <p:cNvPr id="3" name="Table 2"/>
          <p:cNvGraphicFramePr>
            <a:graphicFrameLocks noGrp="1"/>
          </p:cNvGraphicFramePr>
          <p:nvPr>
            <p:extLst>
              <p:ext uri="{D42A27DB-BD31-4B8C-83A1-F6EECF244321}">
                <p14:modId xmlns:p14="http://schemas.microsoft.com/office/powerpoint/2010/main" val="636806033"/>
              </p:ext>
            </p:extLst>
          </p:nvPr>
        </p:nvGraphicFramePr>
        <p:xfrm>
          <a:off x="449264" y="1338593"/>
          <a:ext cx="4540425" cy="5793456"/>
        </p:xfrm>
        <a:graphic>
          <a:graphicData uri="http://schemas.openxmlformats.org/drawingml/2006/table">
            <a:tbl>
              <a:tblPr firstRow="1" firstCol="1">
                <a:tableStyleId>{FABFCF23-3B69-468F-B69F-88F6DE6A72F2}</a:tableStyleId>
              </a:tblPr>
              <a:tblGrid>
                <a:gridCol w="1334380">
                  <a:extLst>
                    <a:ext uri="{9D8B030D-6E8A-4147-A177-3AD203B41FA5}">
                      <a16:colId xmlns:a16="http://schemas.microsoft.com/office/drawing/2014/main" val="20000"/>
                    </a:ext>
                  </a:extLst>
                </a:gridCol>
                <a:gridCol w="3206045">
                  <a:extLst>
                    <a:ext uri="{9D8B030D-6E8A-4147-A177-3AD203B41FA5}">
                      <a16:colId xmlns:a16="http://schemas.microsoft.com/office/drawing/2014/main" val="20001"/>
                    </a:ext>
                  </a:extLst>
                </a:gridCol>
              </a:tblGrid>
              <a:tr h="391476">
                <a:tc>
                  <a:txBody>
                    <a:bodyPr/>
                    <a:lstStyle/>
                    <a:p>
                      <a:pPr marL="0" marR="0">
                        <a:lnSpc>
                          <a:spcPct val="107000"/>
                        </a:lnSpc>
                        <a:spcBef>
                          <a:spcPts val="0"/>
                        </a:spcBef>
                        <a:spcAft>
                          <a:spcPts val="0"/>
                        </a:spcAft>
                      </a:pPr>
                      <a:r>
                        <a:rPr lang="en-US" sz="1100" dirty="0">
                          <a:solidFill>
                            <a:schemeClr val="tx1"/>
                          </a:solidFill>
                          <a:effectLst/>
                        </a:rPr>
                        <a:t>Abbreviations</a:t>
                      </a:r>
                      <a:endParaRPr lang="en-US" sz="1100" dirty="0">
                        <a:solidFill>
                          <a:schemeClr val="tx1"/>
                        </a:solidFill>
                        <a:effectLst/>
                        <a:latin typeface="+mn-lt"/>
                        <a:ea typeface="Calibri" panose="020F0502020204030204" pitchFamily="34" charset="0"/>
                        <a:cs typeface="Times New Roman" panose="02020603050405020304" pitchFamily="18" charset="0"/>
                      </a:endParaRPr>
                    </a:p>
                  </a:txBody>
                  <a:tcPr marL="0" marR="0" marT="0" marB="0" anchor="ctr">
                    <a:lnL w="12700" cmpd="sng">
                      <a:noFill/>
                    </a:lnL>
                    <a:lnR>
                      <a:noFill/>
                    </a:lnR>
                    <a:lnT w="38100" cap="flat" cmpd="sng" algn="ctr">
                      <a:solidFill>
                        <a:schemeClr val="accent1"/>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nSpc>
                          <a:spcPct val="107000"/>
                        </a:lnSpc>
                        <a:spcBef>
                          <a:spcPts val="0"/>
                        </a:spcBef>
                        <a:spcAft>
                          <a:spcPts val="0"/>
                        </a:spcAft>
                      </a:pPr>
                      <a:r>
                        <a:rPr lang="en-US" sz="1100" dirty="0">
                          <a:solidFill>
                            <a:schemeClr val="tx1"/>
                          </a:solidFill>
                          <a:effectLst/>
                          <a:latin typeface="+mn-lt"/>
                          <a:ea typeface="Calibri" panose="020F0502020204030204" pitchFamily="34" charset="0"/>
                          <a:cs typeface="Times New Roman" panose="02020603050405020304" pitchFamily="18" charset="0"/>
                        </a:rPr>
                        <a:t>Description</a:t>
                      </a:r>
                    </a:p>
                  </a:txBody>
                  <a:tcPr marL="0" marR="0" marT="0" marB="0" anchor="ctr">
                    <a:lnL>
                      <a:noFill/>
                    </a:lnL>
                    <a:lnR w="12700" cmpd="sng">
                      <a:noFill/>
                    </a:lnR>
                    <a:lnT w="38100" cap="flat" cmpd="sng" algn="ctr">
                      <a:solidFill>
                        <a:schemeClr val="accent1"/>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253335">
                <a:tc>
                  <a:txBody>
                    <a:bodyPr/>
                    <a:lstStyle/>
                    <a:p>
                      <a:pPr algn="l" fontAlgn="b"/>
                      <a:r>
                        <a:rPr lang="en-IN" sz="1100" b="0" i="0" u="none" strike="noStrike" dirty="0">
                          <a:solidFill>
                            <a:srgbClr val="000000"/>
                          </a:solidFill>
                          <a:effectLst/>
                          <a:latin typeface="Verdana" panose="020B0604030504040204" pitchFamily="34" charset="0"/>
                        </a:rPr>
                        <a:t>2P</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Proved + Probable</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253335">
                <a:tc>
                  <a:txBody>
                    <a:bodyPr/>
                    <a:lstStyle/>
                    <a:p>
                      <a:pPr algn="l" fontAlgn="b"/>
                      <a:r>
                        <a:rPr lang="en-IN" sz="1100" b="0" i="0" u="none" strike="noStrike">
                          <a:solidFill>
                            <a:srgbClr val="000000"/>
                          </a:solidFill>
                          <a:effectLst/>
                          <a:latin typeface="Verdana" panose="020B0604030504040204" pitchFamily="34" charset="0"/>
                        </a:rPr>
                        <a:t>ADB</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Asian Development Bank</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253335">
                <a:tc>
                  <a:txBody>
                    <a:bodyPr/>
                    <a:lstStyle/>
                    <a:p>
                      <a:pPr algn="l" fontAlgn="b"/>
                      <a:r>
                        <a:rPr lang="en-IN" sz="1100" b="0" i="0" u="none" strike="noStrike">
                          <a:solidFill>
                            <a:srgbClr val="000000"/>
                          </a:solidFill>
                          <a:effectLst/>
                          <a:latin typeface="Verdana" panose="020B0604030504040204" pitchFamily="34" charset="0"/>
                        </a:rPr>
                        <a:t>AIT</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Advanced Income Tax</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66580609"/>
                  </a:ext>
                </a:extLst>
              </a:tr>
              <a:tr h="253335">
                <a:tc>
                  <a:txBody>
                    <a:bodyPr/>
                    <a:lstStyle/>
                    <a:p>
                      <a:pPr algn="l" fontAlgn="b"/>
                      <a:r>
                        <a:rPr lang="en-IN" sz="1100" b="0" i="0" u="none" strike="noStrike" dirty="0">
                          <a:solidFill>
                            <a:srgbClr val="000000"/>
                          </a:solidFill>
                          <a:effectLst/>
                          <a:latin typeface="Verdana" panose="020B0604030504040204" pitchFamily="34" charset="0"/>
                        </a:rPr>
                        <a:t>APSCL</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US" sz="1100" b="0" i="0" u="none" strike="noStrike">
                          <a:solidFill>
                            <a:srgbClr val="000000"/>
                          </a:solidFill>
                          <a:effectLst/>
                          <a:latin typeface="Verdana" panose="020B0604030504040204" pitchFamily="34" charset="0"/>
                        </a:rPr>
                        <a:t>Ashuganj Power Station Company Limited</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5"/>
                  </a:ext>
                </a:extLst>
              </a:tr>
              <a:tr h="253335">
                <a:tc>
                  <a:txBody>
                    <a:bodyPr/>
                    <a:lstStyle/>
                    <a:p>
                      <a:pPr algn="l" fontAlgn="b"/>
                      <a:r>
                        <a:rPr lang="en-IN" sz="1100" b="0" i="0" u="none" strike="noStrike">
                          <a:solidFill>
                            <a:srgbClr val="000000"/>
                          </a:solidFill>
                          <a:effectLst/>
                          <a:latin typeface="Verdana" panose="020B0604030504040204" pitchFamily="34" charset="0"/>
                        </a:rPr>
                        <a:t>ATV</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Advanced VAT</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83751536"/>
                  </a:ext>
                </a:extLst>
              </a:tr>
              <a:tr h="253335">
                <a:tc>
                  <a:txBody>
                    <a:bodyPr/>
                    <a:lstStyle/>
                    <a:p>
                      <a:pPr algn="l" fontAlgn="b"/>
                      <a:r>
                        <a:rPr lang="en-IN" sz="1100" b="0" i="0" u="none" strike="noStrike">
                          <a:solidFill>
                            <a:srgbClr val="000000"/>
                          </a:solidFill>
                          <a:effectLst/>
                          <a:latin typeface="Verdana" panose="020B0604030504040204" pitchFamily="34" charset="0"/>
                        </a:rPr>
                        <a:t>BAU</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Business As Usual</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11252168"/>
                  </a:ext>
                </a:extLst>
              </a:tr>
              <a:tr h="253335">
                <a:tc>
                  <a:txBody>
                    <a:bodyPr/>
                    <a:lstStyle/>
                    <a:p>
                      <a:pPr algn="l" fontAlgn="b"/>
                      <a:r>
                        <a:rPr lang="en-IN" sz="1100" b="0" i="0" u="none" strike="noStrike">
                          <a:solidFill>
                            <a:srgbClr val="000000"/>
                          </a:solidFill>
                          <a:effectLst/>
                          <a:latin typeface="Verdana" panose="020B0604030504040204" pitchFamily="34" charset="0"/>
                        </a:rPr>
                        <a:t>BBL</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Barrel</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84401982"/>
                  </a:ext>
                </a:extLst>
              </a:tr>
              <a:tr h="253335">
                <a:tc>
                  <a:txBody>
                    <a:bodyPr/>
                    <a:lstStyle/>
                    <a:p>
                      <a:pPr algn="l" fontAlgn="b"/>
                      <a:r>
                        <a:rPr lang="en-IN" sz="1100" b="0" i="0" u="none" strike="noStrike">
                          <a:solidFill>
                            <a:srgbClr val="000000"/>
                          </a:solidFill>
                          <a:effectLst/>
                          <a:latin typeface="Verdana" panose="020B0604030504040204" pitchFamily="34" charset="0"/>
                        </a:rPr>
                        <a:t>BCF</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Billion Cubic Feet</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674987"/>
                  </a:ext>
                </a:extLst>
              </a:tr>
              <a:tr h="253335">
                <a:tc>
                  <a:txBody>
                    <a:bodyPr/>
                    <a:lstStyle/>
                    <a:p>
                      <a:pPr algn="l" fontAlgn="b"/>
                      <a:r>
                        <a:rPr lang="en-IN" sz="1100" b="0" i="0" u="none" strike="noStrike">
                          <a:solidFill>
                            <a:srgbClr val="000000"/>
                          </a:solidFill>
                          <a:effectLst/>
                          <a:latin typeface="Verdana" panose="020B0604030504040204" pitchFamily="34" charset="0"/>
                        </a:rPr>
                        <a:t>BCM</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Billion Cubic Meter</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46931988"/>
                  </a:ext>
                </a:extLst>
              </a:tr>
              <a:tr h="253335">
                <a:tc>
                  <a:txBody>
                    <a:bodyPr/>
                    <a:lstStyle/>
                    <a:p>
                      <a:pPr algn="l" fontAlgn="b"/>
                      <a:r>
                        <a:rPr lang="en-IN" sz="1100" b="0" i="0" u="none" strike="noStrike">
                          <a:solidFill>
                            <a:srgbClr val="000000"/>
                          </a:solidFill>
                          <a:effectLst/>
                          <a:latin typeface="Verdana" panose="020B0604030504040204" pitchFamily="34" charset="0"/>
                        </a:rPr>
                        <a:t>BDT</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Bangladesh Taka</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08483971"/>
                  </a:ext>
                </a:extLst>
              </a:tr>
              <a:tr h="253335">
                <a:tc>
                  <a:txBody>
                    <a:bodyPr/>
                    <a:lstStyle/>
                    <a:p>
                      <a:pPr algn="l" fontAlgn="b"/>
                      <a:r>
                        <a:rPr lang="en-IN" sz="1100" b="0" i="0" u="none" strike="noStrike">
                          <a:solidFill>
                            <a:srgbClr val="000000"/>
                          </a:solidFill>
                          <a:effectLst/>
                          <a:latin typeface="Verdana" panose="020B0604030504040204" pitchFamily="34" charset="0"/>
                        </a:rPr>
                        <a:t>BERC</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Bangladesh Energy Regulatory Commission</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8992077"/>
                  </a:ext>
                </a:extLst>
              </a:tr>
              <a:tr h="253335">
                <a:tc>
                  <a:txBody>
                    <a:bodyPr/>
                    <a:lstStyle/>
                    <a:p>
                      <a:pPr algn="l" fontAlgn="b"/>
                      <a:r>
                        <a:rPr lang="en-IN" sz="1100" b="0" i="0" u="none" strike="noStrike">
                          <a:solidFill>
                            <a:srgbClr val="000000"/>
                          </a:solidFill>
                          <a:effectLst/>
                          <a:latin typeface="Verdana" panose="020B0604030504040204" pitchFamily="34" charset="0"/>
                        </a:rPr>
                        <a:t>BIFPCL</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US" sz="1100" b="0" i="0" u="none" strike="noStrike">
                          <a:solidFill>
                            <a:srgbClr val="000000"/>
                          </a:solidFill>
                          <a:effectLst/>
                          <a:latin typeface="Verdana" panose="020B0604030504040204" pitchFamily="34" charset="0"/>
                        </a:rPr>
                        <a:t>Bangladesh India Friendship Power Company Limited</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83864474"/>
                  </a:ext>
                </a:extLst>
              </a:tr>
              <a:tr h="253335">
                <a:tc>
                  <a:txBody>
                    <a:bodyPr/>
                    <a:lstStyle/>
                    <a:p>
                      <a:pPr algn="l" fontAlgn="b"/>
                      <a:r>
                        <a:rPr lang="en-IN" sz="1100" b="0" i="0" u="none" strike="noStrike">
                          <a:solidFill>
                            <a:srgbClr val="000000"/>
                          </a:solidFill>
                          <a:effectLst/>
                          <a:latin typeface="Verdana" panose="020B0604030504040204" pitchFamily="34" charset="0"/>
                        </a:rPr>
                        <a:t>BPC</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Bangladesh Petroleum Corporation</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80132508"/>
                  </a:ext>
                </a:extLst>
              </a:tr>
              <a:tr h="253335">
                <a:tc>
                  <a:txBody>
                    <a:bodyPr/>
                    <a:lstStyle/>
                    <a:p>
                      <a:pPr algn="l" fontAlgn="b"/>
                      <a:r>
                        <a:rPr lang="en-IN" sz="1100" b="0" i="0" u="none" strike="noStrike">
                          <a:solidFill>
                            <a:srgbClr val="000000"/>
                          </a:solidFill>
                          <a:effectLst/>
                          <a:latin typeface="Verdana" panose="020B0604030504040204" pitchFamily="34" charset="0"/>
                        </a:rPr>
                        <a:t>BPDB</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Bangladesh Power Development Board</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53999197"/>
                  </a:ext>
                </a:extLst>
              </a:tr>
              <a:tr h="253335">
                <a:tc>
                  <a:txBody>
                    <a:bodyPr/>
                    <a:lstStyle/>
                    <a:p>
                      <a:pPr algn="l" fontAlgn="b"/>
                      <a:r>
                        <a:rPr lang="en-IN" sz="1100" b="0" i="0" u="none" strike="noStrike">
                          <a:solidFill>
                            <a:srgbClr val="000000"/>
                          </a:solidFill>
                          <a:effectLst/>
                          <a:latin typeface="Verdana" panose="020B0604030504040204" pitchFamily="34" charset="0"/>
                        </a:rPr>
                        <a:t>CAGR</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Compounded Annual Growth Rate</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98603031"/>
                  </a:ext>
                </a:extLst>
              </a:tr>
              <a:tr h="253335">
                <a:tc>
                  <a:txBody>
                    <a:bodyPr/>
                    <a:lstStyle/>
                    <a:p>
                      <a:pPr algn="l" fontAlgn="b"/>
                      <a:r>
                        <a:rPr lang="en-IN" sz="1100" b="0" i="0" u="none" strike="noStrike">
                          <a:solidFill>
                            <a:srgbClr val="000000"/>
                          </a:solidFill>
                          <a:effectLst/>
                          <a:latin typeface="Verdana" panose="020B0604030504040204" pitchFamily="34" charset="0"/>
                        </a:rPr>
                        <a:t>CCPP</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Combined Cycle Power Plant</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92261672"/>
                  </a:ext>
                </a:extLst>
              </a:tr>
              <a:tr h="253335">
                <a:tc>
                  <a:txBody>
                    <a:bodyPr/>
                    <a:lstStyle/>
                    <a:p>
                      <a:pPr algn="l" fontAlgn="b"/>
                      <a:r>
                        <a:rPr lang="en-IN" sz="1100" b="0" i="0" u="none" strike="noStrike">
                          <a:solidFill>
                            <a:srgbClr val="000000"/>
                          </a:solidFill>
                          <a:effectLst/>
                          <a:latin typeface="Verdana" panose="020B0604030504040204" pitchFamily="34" charset="0"/>
                        </a:rPr>
                        <a:t>CDC</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China Development Corporation</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21744788"/>
                  </a:ext>
                </a:extLst>
              </a:tr>
              <a:tr h="253335">
                <a:tc>
                  <a:txBody>
                    <a:bodyPr/>
                    <a:lstStyle/>
                    <a:p>
                      <a:pPr algn="l" fontAlgn="b"/>
                      <a:r>
                        <a:rPr lang="en-IN" sz="1100" b="0" i="0" u="none" strike="noStrike">
                          <a:solidFill>
                            <a:srgbClr val="000000"/>
                          </a:solidFill>
                          <a:effectLst/>
                          <a:latin typeface="Verdana" panose="020B0604030504040204" pitchFamily="34" charset="0"/>
                        </a:rPr>
                        <a:t>CEXIM</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Exim Bank of China</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46279198"/>
                  </a:ext>
                </a:extLst>
              </a:tr>
              <a:tr h="253335">
                <a:tc>
                  <a:txBody>
                    <a:bodyPr/>
                    <a:lstStyle/>
                    <a:p>
                      <a:pPr algn="l" fontAlgn="b"/>
                      <a:r>
                        <a:rPr lang="en-IN" sz="1100" b="0" i="0" u="none" strike="noStrike">
                          <a:solidFill>
                            <a:srgbClr val="000000"/>
                          </a:solidFill>
                          <a:effectLst/>
                          <a:latin typeface="Verdana" panose="020B0604030504040204" pitchFamily="34" charset="0"/>
                        </a:rPr>
                        <a:t>CIF</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Cost, Insurance and Freight</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9057717"/>
                  </a:ext>
                </a:extLst>
              </a:tr>
              <a:tr h="253335">
                <a:tc>
                  <a:txBody>
                    <a:bodyPr/>
                    <a:lstStyle/>
                    <a:p>
                      <a:pPr algn="l" fontAlgn="b"/>
                      <a:r>
                        <a:rPr lang="en-IN" sz="1100" b="0" i="0" u="none" strike="noStrike">
                          <a:solidFill>
                            <a:srgbClr val="000000"/>
                          </a:solidFill>
                          <a:effectLst/>
                          <a:latin typeface="Verdana" panose="020B0604030504040204" pitchFamily="34" charset="0"/>
                        </a:rPr>
                        <a:t>CNG</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Compressed Natural Gas</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62032655"/>
                  </a:ext>
                </a:extLst>
              </a:tr>
              <a:tr h="253335">
                <a:tc>
                  <a:txBody>
                    <a:bodyPr/>
                    <a:lstStyle/>
                    <a:p>
                      <a:pPr algn="l" fontAlgn="b"/>
                      <a:r>
                        <a:rPr lang="en-IN" sz="1100" b="0" i="0" u="none" strike="noStrike">
                          <a:solidFill>
                            <a:srgbClr val="000000"/>
                          </a:solidFill>
                          <a:effectLst/>
                          <a:latin typeface="Verdana" panose="020B0604030504040204" pitchFamily="34" charset="0"/>
                        </a:rPr>
                        <a:t>COD</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Commissioning Date</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50325064"/>
                  </a:ext>
                </a:extLst>
              </a:tr>
            </a:tbl>
          </a:graphicData>
        </a:graphic>
      </p:graphicFrame>
      <p:graphicFrame>
        <p:nvGraphicFramePr>
          <p:cNvPr id="5" name="Table 4"/>
          <p:cNvGraphicFramePr>
            <a:graphicFrameLocks noGrp="1"/>
          </p:cNvGraphicFramePr>
          <p:nvPr>
            <p:extLst>
              <p:ext uri="{D42A27DB-BD31-4B8C-83A1-F6EECF244321}">
                <p14:modId xmlns:p14="http://schemas.microsoft.com/office/powerpoint/2010/main" val="2762602344"/>
              </p:ext>
            </p:extLst>
          </p:nvPr>
        </p:nvGraphicFramePr>
        <p:xfrm>
          <a:off x="5700539" y="1338593"/>
          <a:ext cx="4540425" cy="5875401"/>
        </p:xfrm>
        <a:graphic>
          <a:graphicData uri="http://schemas.openxmlformats.org/drawingml/2006/table">
            <a:tbl>
              <a:tblPr firstRow="1" firstCol="1">
                <a:tableStyleId>{FABFCF23-3B69-468F-B69F-88F6DE6A72F2}</a:tableStyleId>
              </a:tblPr>
              <a:tblGrid>
                <a:gridCol w="1334380">
                  <a:extLst>
                    <a:ext uri="{9D8B030D-6E8A-4147-A177-3AD203B41FA5}">
                      <a16:colId xmlns:a16="http://schemas.microsoft.com/office/drawing/2014/main" val="20000"/>
                    </a:ext>
                  </a:extLst>
                </a:gridCol>
                <a:gridCol w="3206045">
                  <a:extLst>
                    <a:ext uri="{9D8B030D-6E8A-4147-A177-3AD203B41FA5}">
                      <a16:colId xmlns:a16="http://schemas.microsoft.com/office/drawing/2014/main" val="20001"/>
                    </a:ext>
                  </a:extLst>
                </a:gridCol>
              </a:tblGrid>
              <a:tr h="391476">
                <a:tc>
                  <a:txBody>
                    <a:bodyPr/>
                    <a:lstStyle/>
                    <a:p>
                      <a:pPr marL="0" marR="0">
                        <a:lnSpc>
                          <a:spcPct val="107000"/>
                        </a:lnSpc>
                        <a:spcBef>
                          <a:spcPts val="0"/>
                        </a:spcBef>
                        <a:spcAft>
                          <a:spcPts val="0"/>
                        </a:spcAft>
                      </a:pPr>
                      <a:r>
                        <a:rPr lang="en-US" sz="1100" dirty="0">
                          <a:solidFill>
                            <a:schemeClr val="tx1"/>
                          </a:solidFill>
                          <a:effectLst/>
                        </a:rPr>
                        <a:t>Abbreviations</a:t>
                      </a:r>
                      <a:endParaRPr lang="en-US" sz="1100" dirty="0">
                        <a:solidFill>
                          <a:schemeClr val="tx1"/>
                        </a:solidFill>
                        <a:effectLst/>
                        <a:latin typeface="+mn-lt"/>
                        <a:ea typeface="Calibri" panose="020F0502020204030204" pitchFamily="34" charset="0"/>
                        <a:cs typeface="Times New Roman" panose="02020603050405020304" pitchFamily="18" charset="0"/>
                      </a:endParaRPr>
                    </a:p>
                  </a:txBody>
                  <a:tcPr marL="0" marR="0" marT="0" marB="0" anchor="ctr">
                    <a:lnL w="12700" cmpd="sng">
                      <a:noFill/>
                    </a:lnL>
                    <a:lnR>
                      <a:noFill/>
                    </a:lnR>
                    <a:lnT w="38100" cap="flat" cmpd="sng" algn="ctr">
                      <a:solidFill>
                        <a:schemeClr val="accent1"/>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nSpc>
                          <a:spcPct val="107000"/>
                        </a:lnSpc>
                        <a:spcBef>
                          <a:spcPts val="0"/>
                        </a:spcBef>
                        <a:spcAft>
                          <a:spcPts val="0"/>
                        </a:spcAft>
                      </a:pPr>
                      <a:r>
                        <a:rPr lang="en-US" sz="1100" dirty="0">
                          <a:solidFill>
                            <a:schemeClr val="tx1"/>
                          </a:solidFill>
                          <a:effectLst/>
                          <a:latin typeface="+mn-lt"/>
                          <a:ea typeface="Calibri" panose="020F0502020204030204" pitchFamily="34" charset="0"/>
                          <a:cs typeface="Times New Roman" panose="02020603050405020304" pitchFamily="18" charset="0"/>
                        </a:rPr>
                        <a:t>Description</a:t>
                      </a:r>
                    </a:p>
                  </a:txBody>
                  <a:tcPr marL="0" marR="0" marT="0" marB="0" anchor="ctr">
                    <a:lnL>
                      <a:noFill/>
                    </a:lnL>
                    <a:lnR w="12700" cmpd="sng">
                      <a:noFill/>
                    </a:lnR>
                    <a:lnT w="38100" cap="flat" cmpd="sng" algn="ctr">
                      <a:solidFill>
                        <a:schemeClr val="accent1"/>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253335">
                <a:tc>
                  <a:txBody>
                    <a:bodyPr/>
                    <a:lstStyle/>
                    <a:p>
                      <a:pPr algn="l" fontAlgn="b"/>
                      <a:r>
                        <a:rPr lang="en-IN" sz="1100" b="0" i="0" u="none" strike="noStrike" dirty="0">
                          <a:solidFill>
                            <a:srgbClr val="000000"/>
                          </a:solidFill>
                          <a:effectLst/>
                          <a:latin typeface="Verdana" panose="020B0604030504040204" pitchFamily="34" charset="0"/>
                        </a:rPr>
                        <a:t>COVID 19</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Coronavirus Disease</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253335">
                <a:tc>
                  <a:txBody>
                    <a:bodyPr/>
                    <a:lstStyle/>
                    <a:p>
                      <a:pPr algn="l" fontAlgn="b"/>
                      <a:r>
                        <a:rPr lang="en-IN" sz="1100" b="0" i="0" u="none" strike="noStrike" dirty="0">
                          <a:solidFill>
                            <a:srgbClr val="000000"/>
                          </a:solidFill>
                          <a:effectLst/>
                          <a:latin typeface="Verdana" panose="020B0604030504040204" pitchFamily="34" charset="0"/>
                        </a:rPr>
                        <a:t>DEG</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Deutsche Investitions- und Entwicklungsgesellschaft</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253335">
                <a:tc>
                  <a:txBody>
                    <a:bodyPr/>
                    <a:lstStyle/>
                    <a:p>
                      <a:pPr algn="l" fontAlgn="b"/>
                      <a:r>
                        <a:rPr lang="en-IN" sz="1100" b="0" i="0" u="none" strike="noStrike" dirty="0">
                          <a:solidFill>
                            <a:srgbClr val="000000"/>
                          </a:solidFill>
                          <a:effectLst/>
                          <a:latin typeface="Verdana" panose="020B0604030504040204" pitchFamily="34" charset="0"/>
                        </a:rPr>
                        <a:t>DES</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Delivered Ex-Ship</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66580609"/>
                  </a:ext>
                </a:extLst>
              </a:tr>
              <a:tr h="253335">
                <a:tc>
                  <a:txBody>
                    <a:bodyPr/>
                    <a:lstStyle/>
                    <a:p>
                      <a:pPr algn="l" fontAlgn="b"/>
                      <a:r>
                        <a:rPr lang="en-IN" sz="1100" b="0" i="0" u="none" strike="noStrike" dirty="0">
                          <a:solidFill>
                            <a:srgbClr val="000000"/>
                          </a:solidFill>
                          <a:effectLst/>
                          <a:latin typeface="Verdana" panose="020B0604030504040204" pitchFamily="34" charset="0"/>
                        </a:rPr>
                        <a:t>DESCO</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Dhaka Electricity Supply Company</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5"/>
                  </a:ext>
                </a:extLst>
              </a:tr>
              <a:tr h="253335">
                <a:tc>
                  <a:txBody>
                    <a:bodyPr/>
                    <a:lstStyle/>
                    <a:p>
                      <a:pPr algn="l" fontAlgn="b"/>
                      <a:r>
                        <a:rPr lang="en-IN" sz="1100" b="0" i="0" u="none" strike="noStrike" dirty="0">
                          <a:solidFill>
                            <a:srgbClr val="000000"/>
                          </a:solidFill>
                          <a:effectLst/>
                          <a:latin typeface="Verdana" panose="020B0604030504040204" pitchFamily="34" charset="0"/>
                        </a:rPr>
                        <a:t>DPDC</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Dhaka Power Distribution Company</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83751536"/>
                  </a:ext>
                </a:extLst>
              </a:tr>
              <a:tr h="253335">
                <a:tc>
                  <a:txBody>
                    <a:bodyPr/>
                    <a:lstStyle/>
                    <a:p>
                      <a:pPr algn="l" fontAlgn="b"/>
                      <a:r>
                        <a:rPr lang="en-IN" sz="1100" b="0" i="0" u="none" strike="noStrike">
                          <a:solidFill>
                            <a:srgbClr val="000000"/>
                          </a:solidFill>
                          <a:effectLst/>
                          <a:latin typeface="Verdana" panose="020B0604030504040204" pitchFamily="34" charset="0"/>
                        </a:rPr>
                        <a:t>EC</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Energy Charge</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11252168"/>
                  </a:ext>
                </a:extLst>
              </a:tr>
              <a:tr h="253335">
                <a:tc>
                  <a:txBody>
                    <a:bodyPr/>
                    <a:lstStyle/>
                    <a:p>
                      <a:pPr algn="l" fontAlgn="b"/>
                      <a:r>
                        <a:rPr lang="en-IN" sz="1100" b="0" i="0" u="none" strike="noStrike">
                          <a:solidFill>
                            <a:srgbClr val="000000"/>
                          </a:solidFill>
                          <a:effectLst/>
                          <a:latin typeface="Verdana" panose="020B0604030504040204" pitchFamily="34" charset="0"/>
                        </a:rPr>
                        <a:t>EE</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Energy Efficiency</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84401982"/>
                  </a:ext>
                </a:extLst>
              </a:tr>
              <a:tr h="253335">
                <a:tc>
                  <a:txBody>
                    <a:bodyPr/>
                    <a:lstStyle/>
                    <a:p>
                      <a:pPr algn="l" fontAlgn="b"/>
                      <a:r>
                        <a:rPr lang="en-IN" sz="1100" b="0" i="0" u="none" strike="noStrike" dirty="0">
                          <a:solidFill>
                            <a:srgbClr val="000000"/>
                          </a:solidFill>
                          <a:effectLst/>
                          <a:latin typeface="Verdana" panose="020B0604030504040204" pitchFamily="34" charset="0"/>
                        </a:rPr>
                        <a:t>EE&amp;C</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US" sz="1100" b="0" i="0" u="none" strike="noStrike">
                          <a:solidFill>
                            <a:srgbClr val="000000"/>
                          </a:solidFill>
                          <a:effectLst/>
                          <a:latin typeface="Verdana" panose="020B0604030504040204" pitchFamily="34" charset="0"/>
                        </a:rPr>
                        <a:t>Energy Efficiency and Conservation Measures</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674987"/>
                  </a:ext>
                </a:extLst>
              </a:tr>
              <a:tr h="253335">
                <a:tc>
                  <a:txBody>
                    <a:bodyPr/>
                    <a:lstStyle/>
                    <a:p>
                      <a:pPr algn="l" fontAlgn="b"/>
                      <a:r>
                        <a:rPr lang="en-IN" sz="1100" b="0" i="0" u="none" strike="noStrike">
                          <a:solidFill>
                            <a:srgbClr val="000000"/>
                          </a:solidFill>
                          <a:effectLst/>
                          <a:latin typeface="Verdana" panose="020B0604030504040204" pitchFamily="34" charset="0"/>
                        </a:rPr>
                        <a:t>EGCB</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US" sz="1100" b="0" i="0" u="none" strike="noStrike">
                          <a:solidFill>
                            <a:srgbClr val="000000"/>
                          </a:solidFill>
                          <a:effectLst/>
                          <a:latin typeface="Verdana" panose="020B0604030504040204" pitchFamily="34" charset="0"/>
                        </a:rPr>
                        <a:t>Electricity Generation Company of Bangladesh</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46931988"/>
                  </a:ext>
                </a:extLst>
              </a:tr>
              <a:tr h="253335">
                <a:tc>
                  <a:txBody>
                    <a:bodyPr/>
                    <a:lstStyle/>
                    <a:p>
                      <a:pPr algn="l" fontAlgn="b"/>
                      <a:r>
                        <a:rPr lang="en-IN" sz="1100" b="0" i="0" u="none" strike="noStrike">
                          <a:solidFill>
                            <a:srgbClr val="000000"/>
                          </a:solidFill>
                          <a:effectLst/>
                          <a:latin typeface="Verdana" panose="020B0604030504040204" pitchFamily="34" charset="0"/>
                        </a:rPr>
                        <a:t>EIA</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Environmental Impact Assessment</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08483971"/>
                  </a:ext>
                </a:extLst>
              </a:tr>
              <a:tr h="253335">
                <a:tc>
                  <a:txBody>
                    <a:bodyPr/>
                    <a:lstStyle/>
                    <a:p>
                      <a:pPr algn="l" fontAlgn="b"/>
                      <a:r>
                        <a:rPr lang="en-IN" sz="1100" b="0" i="0" u="none" strike="noStrike">
                          <a:solidFill>
                            <a:srgbClr val="000000"/>
                          </a:solidFill>
                          <a:effectLst/>
                          <a:latin typeface="Verdana" panose="020B0604030504040204" pitchFamily="34" charset="0"/>
                        </a:rPr>
                        <a:t>EPC</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Engineering, Procurement and Construction</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8992077"/>
                  </a:ext>
                </a:extLst>
              </a:tr>
              <a:tr h="253335">
                <a:tc>
                  <a:txBody>
                    <a:bodyPr/>
                    <a:lstStyle/>
                    <a:p>
                      <a:pPr algn="l" fontAlgn="b"/>
                      <a:r>
                        <a:rPr lang="en-IN" sz="1100" b="0" i="0" u="none" strike="noStrike">
                          <a:solidFill>
                            <a:srgbClr val="000000"/>
                          </a:solidFill>
                          <a:effectLst/>
                          <a:latin typeface="Verdana" panose="020B0604030504040204" pitchFamily="34" charset="0"/>
                        </a:rPr>
                        <a:t>ERD</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Economic Relations Division Bangladesh</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83864474"/>
                  </a:ext>
                </a:extLst>
              </a:tr>
              <a:tr h="253335">
                <a:tc>
                  <a:txBody>
                    <a:bodyPr/>
                    <a:lstStyle/>
                    <a:p>
                      <a:pPr algn="l" fontAlgn="b"/>
                      <a:r>
                        <a:rPr lang="en-IN" sz="1100" b="0" i="0" u="none" strike="noStrike">
                          <a:solidFill>
                            <a:srgbClr val="000000"/>
                          </a:solidFill>
                          <a:effectLst/>
                          <a:latin typeface="Verdana" panose="020B0604030504040204" pitchFamily="34" charset="0"/>
                        </a:rPr>
                        <a:t>FC</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Fixed Charge</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80132508"/>
                  </a:ext>
                </a:extLst>
              </a:tr>
              <a:tr h="253335">
                <a:tc>
                  <a:txBody>
                    <a:bodyPr/>
                    <a:lstStyle/>
                    <a:p>
                      <a:pPr algn="l" fontAlgn="b"/>
                      <a:r>
                        <a:rPr lang="en-IN" sz="1100" b="0" i="0" u="none" strike="noStrike">
                          <a:solidFill>
                            <a:srgbClr val="000000"/>
                          </a:solidFill>
                          <a:effectLst/>
                          <a:latin typeface="Verdana" panose="020B0604030504040204" pitchFamily="34" charset="0"/>
                        </a:rPr>
                        <a:t>FMO</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Entrepreneurial Development Bank</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53999197"/>
                  </a:ext>
                </a:extLst>
              </a:tr>
              <a:tr h="253335">
                <a:tc>
                  <a:txBody>
                    <a:bodyPr/>
                    <a:lstStyle/>
                    <a:p>
                      <a:pPr algn="l" fontAlgn="b"/>
                      <a:r>
                        <a:rPr lang="en-IN" sz="1100" b="0" i="0" u="none" strike="noStrike">
                          <a:solidFill>
                            <a:srgbClr val="000000"/>
                          </a:solidFill>
                          <a:effectLst/>
                          <a:latin typeface="Verdana" panose="020B0604030504040204" pitchFamily="34" charset="0"/>
                        </a:rPr>
                        <a:t>FOB</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Free-on-Board</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98603031"/>
                  </a:ext>
                </a:extLst>
              </a:tr>
              <a:tr h="253335">
                <a:tc>
                  <a:txBody>
                    <a:bodyPr/>
                    <a:lstStyle/>
                    <a:p>
                      <a:pPr algn="l" fontAlgn="b"/>
                      <a:r>
                        <a:rPr lang="en-IN" sz="1100" b="0" i="0" u="none" strike="noStrike">
                          <a:solidFill>
                            <a:srgbClr val="000000"/>
                          </a:solidFill>
                          <a:effectLst/>
                          <a:latin typeface="Verdana" panose="020B0604030504040204" pitchFamily="34" charset="0"/>
                        </a:rPr>
                        <a:t>FOREX</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Foreign Exchange</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92261672"/>
                  </a:ext>
                </a:extLst>
              </a:tr>
              <a:tr h="253335">
                <a:tc>
                  <a:txBody>
                    <a:bodyPr/>
                    <a:lstStyle/>
                    <a:p>
                      <a:pPr algn="l" fontAlgn="b"/>
                      <a:r>
                        <a:rPr lang="en-IN" sz="1100" b="0" i="0" u="none" strike="noStrike">
                          <a:solidFill>
                            <a:srgbClr val="000000"/>
                          </a:solidFill>
                          <a:effectLst/>
                          <a:latin typeface="Verdana" panose="020B0604030504040204" pitchFamily="34" charset="0"/>
                        </a:rPr>
                        <a:t>FSA</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Fuel Supply Agreement</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21744788"/>
                  </a:ext>
                </a:extLst>
              </a:tr>
              <a:tr h="253335">
                <a:tc>
                  <a:txBody>
                    <a:bodyPr/>
                    <a:lstStyle/>
                    <a:p>
                      <a:pPr algn="l" fontAlgn="b"/>
                      <a:r>
                        <a:rPr lang="en-IN" sz="1100" b="0" i="0" u="none" strike="noStrike">
                          <a:solidFill>
                            <a:srgbClr val="000000"/>
                          </a:solidFill>
                          <a:effectLst/>
                          <a:latin typeface="Verdana" panose="020B0604030504040204" pitchFamily="34" charset="0"/>
                        </a:rPr>
                        <a:t>FSRU</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Floating Storage Regasification Unit</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46279198"/>
                  </a:ext>
                </a:extLst>
              </a:tr>
              <a:tr h="253335">
                <a:tc>
                  <a:txBody>
                    <a:bodyPr/>
                    <a:lstStyle/>
                    <a:p>
                      <a:pPr algn="l" fontAlgn="b"/>
                      <a:r>
                        <a:rPr lang="en-IN" sz="1100" b="0" i="0" u="none" strike="noStrike">
                          <a:solidFill>
                            <a:srgbClr val="000000"/>
                          </a:solidFill>
                          <a:effectLst/>
                          <a:latin typeface="Verdana" panose="020B0604030504040204" pitchFamily="34" charset="0"/>
                        </a:rPr>
                        <a:t>FY</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Financial Year</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9057717"/>
                  </a:ext>
                </a:extLst>
              </a:tr>
              <a:tr h="253335">
                <a:tc>
                  <a:txBody>
                    <a:bodyPr/>
                    <a:lstStyle/>
                    <a:p>
                      <a:pPr algn="l" fontAlgn="b"/>
                      <a:r>
                        <a:rPr lang="en-IN" sz="1100" b="0" i="0" u="none" strike="noStrike">
                          <a:solidFill>
                            <a:srgbClr val="000000"/>
                          </a:solidFill>
                          <a:effectLst/>
                          <a:latin typeface="Verdana" panose="020B0604030504040204" pitchFamily="34" charset="0"/>
                        </a:rPr>
                        <a:t>GCV</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Gross Calorific Value</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62032655"/>
                  </a:ext>
                </a:extLst>
              </a:tr>
              <a:tr h="253335">
                <a:tc>
                  <a:txBody>
                    <a:bodyPr/>
                    <a:lstStyle/>
                    <a:p>
                      <a:pPr algn="l" fontAlgn="b"/>
                      <a:r>
                        <a:rPr lang="en-IN" sz="1100" b="0" i="0" u="none" strike="noStrike">
                          <a:solidFill>
                            <a:srgbClr val="000000"/>
                          </a:solidFill>
                          <a:effectLst/>
                          <a:latin typeface="Verdana" panose="020B0604030504040204" pitchFamily="34" charset="0"/>
                        </a:rPr>
                        <a:t>GDP</a:t>
                      </a:r>
                    </a:p>
                  </a:txBody>
                  <a:tcPr marL="0" marR="0" marT="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Gross Domestic Product</a:t>
                      </a:r>
                    </a:p>
                  </a:txBody>
                  <a:tcPr marL="0" marR="0" marT="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50325064"/>
                  </a:ext>
                </a:extLst>
              </a:tr>
            </a:tbl>
          </a:graphicData>
        </a:graphic>
      </p:graphicFrame>
    </p:spTree>
    <p:extLst>
      <p:ext uri="{BB962C8B-B14F-4D97-AF65-F5344CB8AC3E}">
        <p14:creationId xmlns:p14="http://schemas.microsoft.com/office/powerpoint/2010/main" val="487227051"/>
      </p:ext>
    </p:extLst>
  </p:cSld>
  <p:clrMapOvr>
    <a:masterClrMapping/>
  </p:clrMapOvr>
  <p:transition>
    <p:fade/>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Object 6"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7" name="Object 6"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6" name="Rectangle 5"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Abbreviation List</a:t>
            </a:r>
            <a:endParaRPr lang="en-IN" dirty="0"/>
          </a:p>
        </p:txBody>
      </p:sp>
      <p:graphicFrame>
        <p:nvGraphicFramePr>
          <p:cNvPr id="3" name="Table 2"/>
          <p:cNvGraphicFramePr>
            <a:graphicFrameLocks noGrp="1"/>
          </p:cNvGraphicFramePr>
          <p:nvPr>
            <p:extLst>
              <p:ext uri="{D42A27DB-BD31-4B8C-83A1-F6EECF244321}">
                <p14:modId xmlns:p14="http://schemas.microsoft.com/office/powerpoint/2010/main" val="480583241"/>
              </p:ext>
            </p:extLst>
          </p:nvPr>
        </p:nvGraphicFramePr>
        <p:xfrm>
          <a:off x="449264" y="1338593"/>
          <a:ext cx="4540425" cy="5801076"/>
        </p:xfrm>
        <a:graphic>
          <a:graphicData uri="http://schemas.openxmlformats.org/drawingml/2006/table">
            <a:tbl>
              <a:tblPr firstRow="1" firstCol="1">
                <a:tableStyleId>{FABFCF23-3B69-468F-B69F-88F6DE6A72F2}</a:tableStyleId>
              </a:tblPr>
              <a:tblGrid>
                <a:gridCol w="1334380">
                  <a:extLst>
                    <a:ext uri="{9D8B030D-6E8A-4147-A177-3AD203B41FA5}">
                      <a16:colId xmlns:a16="http://schemas.microsoft.com/office/drawing/2014/main" val="20000"/>
                    </a:ext>
                  </a:extLst>
                </a:gridCol>
                <a:gridCol w="3206045">
                  <a:extLst>
                    <a:ext uri="{9D8B030D-6E8A-4147-A177-3AD203B41FA5}">
                      <a16:colId xmlns:a16="http://schemas.microsoft.com/office/drawing/2014/main" val="20001"/>
                    </a:ext>
                  </a:extLst>
                </a:gridCol>
              </a:tblGrid>
              <a:tr h="391476">
                <a:tc>
                  <a:txBody>
                    <a:bodyPr/>
                    <a:lstStyle/>
                    <a:p>
                      <a:pPr marL="0" marR="0">
                        <a:lnSpc>
                          <a:spcPct val="107000"/>
                        </a:lnSpc>
                        <a:spcBef>
                          <a:spcPts val="0"/>
                        </a:spcBef>
                        <a:spcAft>
                          <a:spcPts val="0"/>
                        </a:spcAft>
                      </a:pPr>
                      <a:r>
                        <a:rPr lang="en-US" sz="1100" dirty="0">
                          <a:solidFill>
                            <a:schemeClr val="tx1"/>
                          </a:solidFill>
                          <a:effectLst/>
                        </a:rPr>
                        <a:t>Abbreviations</a:t>
                      </a:r>
                      <a:endParaRPr lang="en-US" sz="1100" dirty="0">
                        <a:solidFill>
                          <a:schemeClr val="tx1"/>
                        </a:solidFill>
                        <a:effectLst/>
                        <a:latin typeface="+mn-lt"/>
                        <a:ea typeface="Calibri" panose="020F0502020204030204" pitchFamily="34" charset="0"/>
                        <a:cs typeface="Times New Roman" panose="02020603050405020304" pitchFamily="18" charset="0"/>
                      </a:endParaRPr>
                    </a:p>
                  </a:txBody>
                  <a:tcPr marL="0" marR="0" marT="0" marB="0" anchor="ctr">
                    <a:lnL w="12700" cmpd="sng">
                      <a:noFill/>
                    </a:lnL>
                    <a:lnR>
                      <a:noFill/>
                    </a:lnR>
                    <a:lnT w="38100" cap="flat" cmpd="sng" algn="ctr">
                      <a:solidFill>
                        <a:schemeClr val="accent1"/>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nSpc>
                          <a:spcPct val="107000"/>
                        </a:lnSpc>
                        <a:spcBef>
                          <a:spcPts val="0"/>
                        </a:spcBef>
                        <a:spcAft>
                          <a:spcPts val="0"/>
                        </a:spcAft>
                      </a:pPr>
                      <a:r>
                        <a:rPr lang="en-US" sz="1100" dirty="0">
                          <a:solidFill>
                            <a:schemeClr val="tx1"/>
                          </a:solidFill>
                          <a:effectLst/>
                          <a:latin typeface="+mn-lt"/>
                          <a:ea typeface="Calibri" panose="020F0502020204030204" pitchFamily="34" charset="0"/>
                          <a:cs typeface="Times New Roman" panose="02020603050405020304" pitchFamily="18" charset="0"/>
                        </a:rPr>
                        <a:t>Description</a:t>
                      </a:r>
                    </a:p>
                  </a:txBody>
                  <a:tcPr marL="0" marR="0" marT="0" marB="0" anchor="ctr">
                    <a:lnL>
                      <a:noFill/>
                    </a:lnL>
                    <a:lnR w="12700" cmpd="sng">
                      <a:noFill/>
                    </a:lnR>
                    <a:lnT w="38100" cap="flat" cmpd="sng" algn="ctr">
                      <a:solidFill>
                        <a:schemeClr val="accent1"/>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253335">
                <a:tc>
                  <a:txBody>
                    <a:bodyPr/>
                    <a:lstStyle/>
                    <a:p>
                      <a:pPr algn="l" fontAlgn="b"/>
                      <a:r>
                        <a:rPr lang="en-IN" sz="1100" b="0" i="0" u="none" strike="noStrike" dirty="0">
                          <a:solidFill>
                            <a:srgbClr val="000000"/>
                          </a:solidFill>
                          <a:effectLst/>
                          <a:latin typeface="Verdana" panose="020B0604030504040204" pitchFamily="34" charset="0"/>
                        </a:rPr>
                        <a:t>GE</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General Electric</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253335">
                <a:tc>
                  <a:txBody>
                    <a:bodyPr/>
                    <a:lstStyle/>
                    <a:p>
                      <a:pPr algn="l" fontAlgn="b"/>
                      <a:r>
                        <a:rPr lang="en-IN" sz="1100" b="0" i="0" u="none" strike="noStrike" dirty="0">
                          <a:solidFill>
                            <a:srgbClr val="000000"/>
                          </a:solidFill>
                          <a:effectLst/>
                          <a:latin typeface="Verdana" panose="020B0604030504040204" pitchFamily="34" charset="0"/>
                        </a:rPr>
                        <a:t>GF</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Gas Field</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253335">
                <a:tc>
                  <a:txBody>
                    <a:bodyPr/>
                    <a:lstStyle/>
                    <a:p>
                      <a:pPr algn="l" fontAlgn="b"/>
                      <a:r>
                        <a:rPr lang="en-IN" sz="1100" b="0" i="0" u="none" strike="noStrike" dirty="0">
                          <a:solidFill>
                            <a:srgbClr val="000000"/>
                          </a:solidFill>
                          <a:effectLst/>
                          <a:latin typeface="Verdana" panose="020B0604030504040204" pitchFamily="34" charset="0"/>
                        </a:rPr>
                        <a:t>GIIGLN</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US" sz="1100" b="0" i="0" u="none" strike="noStrike">
                          <a:solidFill>
                            <a:srgbClr val="000000"/>
                          </a:solidFill>
                          <a:effectLst/>
                          <a:latin typeface="Verdana" panose="020B0604030504040204" pitchFamily="34" charset="0"/>
                        </a:rPr>
                        <a:t>International Group of Liquefied Natural Gas Importers</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66580609"/>
                  </a:ext>
                </a:extLst>
              </a:tr>
              <a:tr h="253335">
                <a:tc>
                  <a:txBody>
                    <a:bodyPr/>
                    <a:lstStyle/>
                    <a:p>
                      <a:pPr algn="l" fontAlgn="b"/>
                      <a:r>
                        <a:rPr lang="en-IN" sz="1100" b="0" i="0" u="none" strike="noStrike">
                          <a:solidFill>
                            <a:srgbClr val="000000"/>
                          </a:solidFill>
                          <a:effectLst/>
                          <a:latin typeface="Verdana" panose="020B0604030504040204" pitchFamily="34" charset="0"/>
                        </a:rPr>
                        <a:t>GNI</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Gross National Income</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5"/>
                  </a:ext>
                </a:extLst>
              </a:tr>
              <a:tr h="253335">
                <a:tc>
                  <a:txBody>
                    <a:bodyPr/>
                    <a:lstStyle/>
                    <a:p>
                      <a:pPr algn="l" fontAlgn="b"/>
                      <a:r>
                        <a:rPr lang="en-IN" sz="1100" b="0" i="0" u="none" strike="noStrike" dirty="0">
                          <a:solidFill>
                            <a:srgbClr val="000000"/>
                          </a:solidFill>
                          <a:effectLst/>
                          <a:latin typeface="Verdana" panose="020B0604030504040204" pitchFamily="34" charset="0"/>
                        </a:rPr>
                        <a:t>GSA</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Gas Supply Agreement</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83751536"/>
                  </a:ext>
                </a:extLst>
              </a:tr>
              <a:tr h="253335">
                <a:tc>
                  <a:txBody>
                    <a:bodyPr/>
                    <a:lstStyle/>
                    <a:p>
                      <a:pPr algn="l" fontAlgn="b"/>
                      <a:r>
                        <a:rPr lang="en-IN" sz="1100" b="0" i="0" u="none" strike="noStrike">
                          <a:solidFill>
                            <a:srgbClr val="000000"/>
                          </a:solidFill>
                          <a:effectLst/>
                          <a:latin typeface="Verdana" panose="020B0604030504040204" pitchFamily="34" charset="0"/>
                        </a:rPr>
                        <a:t>GSMP</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Gas Sector Master Plan</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11252168"/>
                  </a:ext>
                </a:extLst>
              </a:tr>
              <a:tr h="253335">
                <a:tc>
                  <a:txBody>
                    <a:bodyPr/>
                    <a:lstStyle/>
                    <a:p>
                      <a:pPr algn="l" fontAlgn="b"/>
                      <a:r>
                        <a:rPr lang="en-IN" sz="1100" b="0" i="0" u="none" strike="noStrike" dirty="0">
                          <a:solidFill>
                            <a:srgbClr val="000000"/>
                          </a:solidFill>
                          <a:effectLst/>
                          <a:latin typeface="Verdana" panose="020B0604030504040204" pitchFamily="34" charset="0"/>
                        </a:rPr>
                        <a:t>GTCL</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US" sz="1100" b="0" i="0" u="none" strike="noStrike" dirty="0">
                          <a:solidFill>
                            <a:srgbClr val="000000"/>
                          </a:solidFill>
                          <a:effectLst/>
                          <a:latin typeface="Verdana" panose="020B0604030504040204" pitchFamily="34" charset="0"/>
                        </a:rPr>
                        <a:t>Gas Transmission Company Limited</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84401982"/>
                  </a:ext>
                </a:extLst>
              </a:tr>
              <a:tr h="253335">
                <a:tc>
                  <a:txBody>
                    <a:bodyPr/>
                    <a:lstStyle/>
                    <a:p>
                      <a:pPr algn="l" fontAlgn="b"/>
                      <a:r>
                        <a:rPr lang="en-IN" sz="1100" b="0" i="0" u="none" strike="noStrike">
                          <a:solidFill>
                            <a:srgbClr val="000000"/>
                          </a:solidFill>
                          <a:effectLst/>
                          <a:latin typeface="Verdana" panose="020B0604030504040204" pitchFamily="34" charset="0"/>
                        </a:rPr>
                        <a:t>GW</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Giga Watt</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674987"/>
                  </a:ext>
                </a:extLst>
              </a:tr>
              <a:tr h="253335">
                <a:tc>
                  <a:txBody>
                    <a:bodyPr/>
                    <a:lstStyle/>
                    <a:p>
                      <a:pPr algn="l" fontAlgn="b"/>
                      <a:r>
                        <a:rPr lang="en-IN" sz="1100" b="0" i="0" u="none" strike="noStrike" dirty="0">
                          <a:solidFill>
                            <a:srgbClr val="000000"/>
                          </a:solidFill>
                          <a:effectLst/>
                          <a:latin typeface="Verdana" panose="020B0604030504040204" pitchFamily="34" charset="0"/>
                        </a:rPr>
                        <a:t>HFO</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Heavy Fuel Oil</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46931988"/>
                  </a:ext>
                </a:extLst>
              </a:tr>
              <a:tr h="253335">
                <a:tc>
                  <a:txBody>
                    <a:bodyPr/>
                    <a:lstStyle/>
                    <a:p>
                      <a:pPr algn="l" fontAlgn="b"/>
                      <a:r>
                        <a:rPr lang="en-IN" sz="1100" b="0" i="0" u="none" strike="noStrike">
                          <a:solidFill>
                            <a:srgbClr val="000000"/>
                          </a:solidFill>
                          <a:effectLst/>
                          <a:latin typeface="Verdana" panose="020B0604030504040204" pitchFamily="34" charset="0"/>
                        </a:rPr>
                        <a:t>HSD</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High Speed Diesel</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08483971"/>
                  </a:ext>
                </a:extLst>
              </a:tr>
              <a:tr h="253335">
                <a:tc>
                  <a:txBody>
                    <a:bodyPr/>
                    <a:lstStyle/>
                    <a:p>
                      <a:pPr algn="l" fontAlgn="b"/>
                      <a:r>
                        <a:rPr lang="en-IN" sz="1100" b="0" i="0" u="none" strike="noStrike" dirty="0">
                          <a:solidFill>
                            <a:srgbClr val="000000"/>
                          </a:solidFill>
                          <a:effectLst/>
                          <a:latin typeface="Verdana" panose="020B0604030504040204" pitchFamily="34" charset="0"/>
                        </a:rPr>
                        <a:t>HTG</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HTG Development Group</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8992077"/>
                  </a:ext>
                </a:extLst>
              </a:tr>
              <a:tr h="253335">
                <a:tc>
                  <a:txBody>
                    <a:bodyPr/>
                    <a:lstStyle/>
                    <a:p>
                      <a:pPr algn="l" fontAlgn="b"/>
                      <a:r>
                        <a:rPr lang="en-IN" sz="1100" b="0" i="0" u="none" strike="noStrike" dirty="0">
                          <a:solidFill>
                            <a:srgbClr val="000000"/>
                          </a:solidFill>
                          <a:effectLst/>
                          <a:latin typeface="Verdana" panose="020B0604030504040204" pitchFamily="34" charset="0"/>
                        </a:rPr>
                        <a:t>HVDC</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High Voltage Direct Current</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83864474"/>
                  </a:ext>
                </a:extLst>
              </a:tr>
              <a:tr h="253335">
                <a:tc>
                  <a:txBody>
                    <a:bodyPr/>
                    <a:lstStyle/>
                    <a:p>
                      <a:pPr algn="l" fontAlgn="b"/>
                      <a:r>
                        <a:rPr lang="en-IN" sz="1100" b="0" i="0" u="none" strike="noStrike">
                          <a:solidFill>
                            <a:srgbClr val="000000"/>
                          </a:solidFill>
                          <a:effectLst/>
                          <a:latin typeface="Verdana" panose="020B0604030504040204" pitchFamily="34" charset="0"/>
                        </a:rPr>
                        <a:t>IA</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Implementation Agreement</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80132508"/>
                  </a:ext>
                </a:extLst>
              </a:tr>
              <a:tr h="253335">
                <a:tc>
                  <a:txBody>
                    <a:bodyPr/>
                    <a:lstStyle/>
                    <a:p>
                      <a:pPr algn="l" fontAlgn="b"/>
                      <a:r>
                        <a:rPr lang="en-IN" sz="1100" b="0" i="0" u="none" strike="noStrike" dirty="0">
                          <a:solidFill>
                            <a:srgbClr val="000000"/>
                          </a:solidFill>
                          <a:effectLst/>
                          <a:latin typeface="Verdana" panose="020B0604030504040204" pitchFamily="34" charset="0"/>
                        </a:rPr>
                        <a:t>IDA</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International Development Association</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53999197"/>
                  </a:ext>
                </a:extLst>
              </a:tr>
              <a:tr h="253335">
                <a:tc>
                  <a:txBody>
                    <a:bodyPr/>
                    <a:lstStyle/>
                    <a:p>
                      <a:pPr algn="l" fontAlgn="b"/>
                      <a:r>
                        <a:rPr lang="en-US" sz="1100" b="0" i="0" u="none" strike="noStrike" dirty="0">
                          <a:solidFill>
                            <a:srgbClr val="000000"/>
                          </a:solidFill>
                          <a:effectLst/>
                          <a:latin typeface="Verdana" panose="020B0604030504040204" pitchFamily="34" charset="0"/>
                        </a:rPr>
                        <a:t>IDO</a:t>
                      </a:r>
                      <a:endParaRPr lang="en-IN" sz="1100" b="0" i="0" u="none" strike="noStrike" dirty="0">
                        <a:solidFill>
                          <a:srgbClr val="000000"/>
                        </a:solidFill>
                        <a:effectLst/>
                        <a:latin typeface="Verdana" panose="020B0604030504040204" pitchFamily="34" charset="0"/>
                      </a:endParaRP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US" sz="1100" b="0" i="0" u="none" strike="noStrike" dirty="0">
                          <a:solidFill>
                            <a:srgbClr val="000000"/>
                          </a:solidFill>
                          <a:effectLst/>
                          <a:latin typeface="Verdana" panose="020B0604030504040204" pitchFamily="34" charset="0"/>
                        </a:rPr>
                        <a:t>International Donor Agencies</a:t>
                      </a:r>
                      <a:endParaRPr lang="en-IN" sz="1100" b="0" i="0" u="none" strike="noStrike" dirty="0">
                        <a:solidFill>
                          <a:srgbClr val="000000"/>
                        </a:solidFill>
                        <a:effectLst/>
                        <a:latin typeface="Verdana" panose="020B0604030504040204" pitchFamily="34" charset="0"/>
                      </a:endParaRP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14988334"/>
                  </a:ext>
                </a:extLst>
              </a:tr>
              <a:tr h="253335">
                <a:tc>
                  <a:txBody>
                    <a:bodyPr/>
                    <a:lstStyle/>
                    <a:p>
                      <a:pPr algn="l" fontAlgn="b"/>
                      <a:r>
                        <a:rPr lang="en-IN" sz="1100" b="0" i="0" u="none" strike="noStrike" dirty="0">
                          <a:solidFill>
                            <a:srgbClr val="000000"/>
                          </a:solidFill>
                          <a:effectLst/>
                          <a:latin typeface="Verdana" panose="020B0604030504040204" pitchFamily="34" charset="0"/>
                        </a:rPr>
                        <a:t>IFC</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International Finance Corporation</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98603031"/>
                  </a:ext>
                </a:extLst>
              </a:tr>
              <a:tr h="253335">
                <a:tc>
                  <a:txBody>
                    <a:bodyPr/>
                    <a:lstStyle/>
                    <a:p>
                      <a:pPr algn="l" fontAlgn="b"/>
                      <a:r>
                        <a:rPr lang="en-IN" sz="1100" b="0" i="0" u="none" strike="noStrike">
                          <a:solidFill>
                            <a:srgbClr val="000000"/>
                          </a:solidFill>
                          <a:effectLst/>
                          <a:latin typeface="Verdana" panose="020B0604030504040204" pitchFamily="34" charset="0"/>
                        </a:rPr>
                        <a:t>IMF</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International Montary Fund</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92261672"/>
                  </a:ext>
                </a:extLst>
              </a:tr>
              <a:tr h="253335">
                <a:tc>
                  <a:txBody>
                    <a:bodyPr/>
                    <a:lstStyle/>
                    <a:p>
                      <a:pPr algn="l" fontAlgn="b"/>
                      <a:r>
                        <a:rPr lang="en-IN" sz="1100" b="0" i="0" u="none" strike="noStrike">
                          <a:solidFill>
                            <a:srgbClr val="000000"/>
                          </a:solidFill>
                          <a:effectLst/>
                          <a:latin typeface="Verdana" panose="020B0604030504040204" pitchFamily="34" charset="0"/>
                        </a:rPr>
                        <a:t>IPFF</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US" sz="1100" b="0" i="0" u="none" strike="noStrike" dirty="0">
                          <a:solidFill>
                            <a:srgbClr val="000000"/>
                          </a:solidFill>
                          <a:effectLst/>
                          <a:latin typeface="Verdana" panose="020B0604030504040204" pitchFamily="34" charset="0"/>
                        </a:rPr>
                        <a:t>Investment Promotion and Financing Facility</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21744788"/>
                  </a:ext>
                </a:extLst>
              </a:tr>
              <a:tr h="253335">
                <a:tc>
                  <a:txBody>
                    <a:bodyPr/>
                    <a:lstStyle/>
                    <a:p>
                      <a:pPr algn="l" fontAlgn="b"/>
                      <a:r>
                        <a:rPr lang="en-IN" sz="1100" b="0" i="0" u="none" strike="noStrike">
                          <a:solidFill>
                            <a:srgbClr val="000000"/>
                          </a:solidFill>
                          <a:effectLst/>
                          <a:latin typeface="Verdana" panose="020B0604030504040204" pitchFamily="34" charset="0"/>
                        </a:rPr>
                        <a:t>IPP</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Independent Power Producer</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46279198"/>
                  </a:ext>
                </a:extLst>
              </a:tr>
              <a:tr h="253335">
                <a:tc>
                  <a:txBody>
                    <a:bodyPr/>
                    <a:lstStyle/>
                    <a:p>
                      <a:pPr algn="l" fontAlgn="b"/>
                      <a:r>
                        <a:rPr lang="en-IN" sz="1100" b="0" i="0" u="none" strike="noStrike">
                          <a:solidFill>
                            <a:srgbClr val="000000"/>
                          </a:solidFill>
                          <a:effectLst/>
                          <a:latin typeface="Verdana" panose="020B0604030504040204" pitchFamily="34" charset="0"/>
                        </a:rPr>
                        <a:t>Kcal</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Kilo Calorie</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9057717"/>
                  </a:ext>
                </a:extLst>
              </a:tr>
              <a:tr h="253335">
                <a:tc>
                  <a:txBody>
                    <a:bodyPr/>
                    <a:lstStyle/>
                    <a:p>
                      <a:pPr algn="l" fontAlgn="b"/>
                      <a:r>
                        <a:rPr lang="en-IN" sz="1100" b="0" i="0" u="none" strike="noStrike">
                          <a:solidFill>
                            <a:srgbClr val="000000"/>
                          </a:solidFill>
                          <a:effectLst/>
                          <a:latin typeface="Verdana" panose="020B0604030504040204" pitchFamily="34" charset="0"/>
                        </a:rPr>
                        <a:t>Kg</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Kilo Gram</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62032655"/>
                  </a:ext>
                </a:extLst>
              </a:tr>
            </a:tbl>
          </a:graphicData>
        </a:graphic>
      </p:graphicFrame>
      <p:graphicFrame>
        <p:nvGraphicFramePr>
          <p:cNvPr id="5" name="Table 4"/>
          <p:cNvGraphicFramePr>
            <a:graphicFrameLocks noGrp="1"/>
          </p:cNvGraphicFramePr>
          <p:nvPr>
            <p:extLst>
              <p:ext uri="{D42A27DB-BD31-4B8C-83A1-F6EECF244321}">
                <p14:modId xmlns:p14="http://schemas.microsoft.com/office/powerpoint/2010/main" val="1421542878"/>
              </p:ext>
            </p:extLst>
          </p:nvPr>
        </p:nvGraphicFramePr>
        <p:xfrm>
          <a:off x="5700539" y="1338593"/>
          <a:ext cx="4540425" cy="5890641"/>
        </p:xfrm>
        <a:graphic>
          <a:graphicData uri="http://schemas.openxmlformats.org/drawingml/2006/table">
            <a:tbl>
              <a:tblPr firstRow="1" firstCol="1">
                <a:tableStyleId>{FABFCF23-3B69-468F-B69F-88F6DE6A72F2}</a:tableStyleId>
              </a:tblPr>
              <a:tblGrid>
                <a:gridCol w="1334380">
                  <a:extLst>
                    <a:ext uri="{9D8B030D-6E8A-4147-A177-3AD203B41FA5}">
                      <a16:colId xmlns:a16="http://schemas.microsoft.com/office/drawing/2014/main" val="20000"/>
                    </a:ext>
                  </a:extLst>
                </a:gridCol>
                <a:gridCol w="3206045">
                  <a:extLst>
                    <a:ext uri="{9D8B030D-6E8A-4147-A177-3AD203B41FA5}">
                      <a16:colId xmlns:a16="http://schemas.microsoft.com/office/drawing/2014/main" val="20001"/>
                    </a:ext>
                  </a:extLst>
                </a:gridCol>
              </a:tblGrid>
              <a:tr h="391476">
                <a:tc>
                  <a:txBody>
                    <a:bodyPr/>
                    <a:lstStyle/>
                    <a:p>
                      <a:pPr marL="0" marR="0">
                        <a:lnSpc>
                          <a:spcPct val="107000"/>
                        </a:lnSpc>
                        <a:spcBef>
                          <a:spcPts val="0"/>
                        </a:spcBef>
                        <a:spcAft>
                          <a:spcPts val="0"/>
                        </a:spcAft>
                      </a:pPr>
                      <a:r>
                        <a:rPr lang="en-US" sz="1100" dirty="0">
                          <a:solidFill>
                            <a:schemeClr val="tx1"/>
                          </a:solidFill>
                          <a:effectLst/>
                        </a:rPr>
                        <a:t>Abbreviations</a:t>
                      </a:r>
                      <a:endParaRPr lang="en-US" sz="1100" dirty="0">
                        <a:solidFill>
                          <a:schemeClr val="tx1"/>
                        </a:solidFill>
                        <a:effectLst/>
                        <a:latin typeface="+mn-lt"/>
                        <a:ea typeface="Calibri" panose="020F0502020204030204" pitchFamily="34" charset="0"/>
                        <a:cs typeface="Times New Roman" panose="02020603050405020304" pitchFamily="18" charset="0"/>
                      </a:endParaRPr>
                    </a:p>
                  </a:txBody>
                  <a:tcPr marL="0" marR="0" marT="0" marB="0" anchor="ctr">
                    <a:lnL w="12700" cmpd="sng">
                      <a:noFill/>
                    </a:lnL>
                    <a:lnR>
                      <a:noFill/>
                    </a:lnR>
                    <a:lnT w="38100" cap="flat" cmpd="sng" algn="ctr">
                      <a:solidFill>
                        <a:schemeClr val="accent1"/>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nSpc>
                          <a:spcPct val="107000"/>
                        </a:lnSpc>
                        <a:spcBef>
                          <a:spcPts val="0"/>
                        </a:spcBef>
                        <a:spcAft>
                          <a:spcPts val="0"/>
                        </a:spcAft>
                      </a:pPr>
                      <a:r>
                        <a:rPr lang="en-US" sz="1100" dirty="0">
                          <a:solidFill>
                            <a:schemeClr val="tx1"/>
                          </a:solidFill>
                          <a:effectLst/>
                          <a:latin typeface="+mn-lt"/>
                          <a:ea typeface="Calibri" panose="020F0502020204030204" pitchFamily="34" charset="0"/>
                          <a:cs typeface="Times New Roman" panose="02020603050405020304" pitchFamily="18" charset="0"/>
                        </a:rPr>
                        <a:t>Description</a:t>
                      </a:r>
                    </a:p>
                  </a:txBody>
                  <a:tcPr marL="0" marR="0" marT="0" marB="0" anchor="ctr">
                    <a:lnL>
                      <a:noFill/>
                    </a:lnL>
                    <a:lnR w="12700" cmpd="sng">
                      <a:noFill/>
                    </a:lnR>
                    <a:lnT w="38100" cap="flat" cmpd="sng" algn="ctr">
                      <a:solidFill>
                        <a:schemeClr val="accent1"/>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253335">
                <a:tc>
                  <a:txBody>
                    <a:bodyPr/>
                    <a:lstStyle/>
                    <a:p>
                      <a:pPr algn="l" fontAlgn="b"/>
                      <a:r>
                        <a:rPr lang="en-IN" sz="1100" b="0" i="0" u="none" strike="noStrike" dirty="0">
                          <a:solidFill>
                            <a:srgbClr val="000000"/>
                          </a:solidFill>
                          <a:effectLst/>
                          <a:latin typeface="Verdana" panose="020B0604030504040204" pitchFamily="34" charset="0"/>
                        </a:rPr>
                        <a:t>KJ</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Kilo Joule</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667277540"/>
                  </a:ext>
                </a:extLst>
              </a:tr>
              <a:tr h="253335">
                <a:tc>
                  <a:txBody>
                    <a:bodyPr/>
                    <a:lstStyle/>
                    <a:p>
                      <a:pPr algn="l" fontAlgn="b"/>
                      <a:r>
                        <a:rPr lang="en-IN" sz="1100" b="0" i="0" u="none" strike="noStrike" dirty="0">
                          <a:solidFill>
                            <a:srgbClr val="000000"/>
                          </a:solidFill>
                          <a:effectLst/>
                          <a:latin typeface="Verdana" panose="020B0604030504040204" pitchFamily="34" charset="0"/>
                        </a:rPr>
                        <a:t>KPCL</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err="1">
                          <a:solidFill>
                            <a:srgbClr val="000000"/>
                          </a:solidFill>
                          <a:effectLst/>
                          <a:latin typeface="Verdana" panose="020B0604030504040204" pitchFamily="34" charset="0"/>
                        </a:rPr>
                        <a:t>Karnaphuli</a:t>
                      </a:r>
                      <a:r>
                        <a:rPr lang="en-IN" sz="1100" b="0" i="0" u="none" strike="noStrike" dirty="0">
                          <a:solidFill>
                            <a:srgbClr val="000000"/>
                          </a:solidFill>
                          <a:effectLst/>
                          <a:latin typeface="Verdana" panose="020B0604030504040204" pitchFamily="34" charset="0"/>
                        </a:rPr>
                        <a:t> Power Company Limited</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253335">
                <a:tc>
                  <a:txBody>
                    <a:bodyPr/>
                    <a:lstStyle/>
                    <a:p>
                      <a:pPr algn="l" fontAlgn="b"/>
                      <a:r>
                        <a:rPr lang="en-IN" sz="1100" b="0" i="0" u="none" strike="noStrike" dirty="0">
                          <a:solidFill>
                            <a:srgbClr val="000000"/>
                          </a:solidFill>
                          <a:effectLst/>
                          <a:latin typeface="Verdana" panose="020B0604030504040204" pitchFamily="34" charset="0"/>
                        </a:rPr>
                        <a:t>KW</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Kilo Watt</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253335">
                <a:tc>
                  <a:txBody>
                    <a:bodyPr/>
                    <a:lstStyle/>
                    <a:p>
                      <a:pPr algn="l" fontAlgn="b"/>
                      <a:r>
                        <a:rPr lang="en-IN" sz="1100" b="0" i="0" u="none" strike="noStrike" dirty="0">
                          <a:solidFill>
                            <a:srgbClr val="000000"/>
                          </a:solidFill>
                          <a:effectLst/>
                          <a:latin typeface="Verdana" panose="020B0604030504040204" pitchFamily="34" charset="0"/>
                        </a:rPr>
                        <a:t>LD</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Liquidated Damages</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66580609"/>
                  </a:ext>
                </a:extLst>
              </a:tr>
              <a:tr h="253335">
                <a:tc>
                  <a:txBody>
                    <a:bodyPr/>
                    <a:lstStyle/>
                    <a:p>
                      <a:pPr algn="l" fontAlgn="b"/>
                      <a:r>
                        <a:rPr lang="en-IN" sz="1100" b="0" i="0" u="none" strike="noStrike" dirty="0">
                          <a:solidFill>
                            <a:srgbClr val="000000"/>
                          </a:solidFill>
                          <a:effectLst/>
                          <a:latin typeface="Verdana" panose="020B0604030504040204" pitchFamily="34" charset="0"/>
                        </a:rPr>
                        <a:t>LNG</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Liquified Natural Gas</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5"/>
                  </a:ext>
                </a:extLst>
              </a:tr>
              <a:tr h="253335">
                <a:tc>
                  <a:txBody>
                    <a:bodyPr/>
                    <a:lstStyle/>
                    <a:p>
                      <a:pPr algn="l" fontAlgn="b"/>
                      <a:r>
                        <a:rPr lang="en-IN" sz="1100" b="0" i="0" u="none" strike="noStrike">
                          <a:solidFill>
                            <a:srgbClr val="000000"/>
                          </a:solidFill>
                          <a:effectLst/>
                          <a:latin typeface="Verdana" panose="020B0604030504040204" pitchFamily="34" charset="0"/>
                        </a:rPr>
                        <a:t>LOI</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Letter of Intent</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83751536"/>
                  </a:ext>
                </a:extLst>
              </a:tr>
              <a:tr h="253335">
                <a:tc>
                  <a:txBody>
                    <a:bodyPr/>
                    <a:lstStyle/>
                    <a:p>
                      <a:pPr algn="l" fontAlgn="b"/>
                      <a:r>
                        <a:rPr lang="en-IN" sz="1100" b="0" i="0" u="none" strike="noStrike">
                          <a:solidFill>
                            <a:srgbClr val="000000"/>
                          </a:solidFill>
                          <a:effectLst/>
                          <a:latin typeface="Verdana" panose="020B0604030504040204" pitchFamily="34" charset="0"/>
                        </a:rPr>
                        <a:t>LPG</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Liquified Petroleum Gas</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11252168"/>
                  </a:ext>
                </a:extLst>
              </a:tr>
              <a:tr h="253335">
                <a:tc>
                  <a:txBody>
                    <a:bodyPr/>
                    <a:lstStyle/>
                    <a:p>
                      <a:pPr algn="l" fontAlgn="b"/>
                      <a:r>
                        <a:rPr lang="en-IN" sz="1100" b="0" i="0" u="none" strike="noStrike" dirty="0">
                          <a:solidFill>
                            <a:srgbClr val="000000"/>
                          </a:solidFill>
                          <a:effectLst/>
                          <a:latin typeface="Verdana" panose="020B0604030504040204" pitchFamily="34" charset="0"/>
                        </a:rPr>
                        <a:t>MMBTU</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Million British Thermal Units</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84401982"/>
                  </a:ext>
                </a:extLst>
              </a:tr>
              <a:tr h="253335">
                <a:tc>
                  <a:txBody>
                    <a:bodyPr/>
                    <a:lstStyle/>
                    <a:p>
                      <a:pPr algn="l" fontAlgn="b"/>
                      <a:r>
                        <a:rPr lang="en-IN" sz="1100" b="0" i="0" u="none" strike="noStrike">
                          <a:solidFill>
                            <a:srgbClr val="000000"/>
                          </a:solidFill>
                          <a:effectLst/>
                          <a:latin typeface="Verdana" panose="020B0604030504040204" pitchFamily="34" charset="0"/>
                        </a:rPr>
                        <a:t>MMSCFD</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Million Standard Cubic Feet</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674987"/>
                  </a:ext>
                </a:extLst>
              </a:tr>
              <a:tr h="253335">
                <a:tc>
                  <a:txBody>
                    <a:bodyPr/>
                    <a:lstStyle/>
                    <a:p>
                      <a:pPr algn="l" fontAlgn="b"/>
                      <a:r>
                        <a:rPr lang="en-IN" sz="1100" b="0" i="0" u="none" strike="noStrike">
                          <a:solidFill>
                            <a:srgbClr val="000000"/>
                          </a:solidFill>
                          <a:effectLst/>
                          <a:latin typeface="Verdana" panose="020B0604030504040204" pitchFamily="34" charset="0"/>
                        </a:rPr>
                        <a:t>MMSCMD</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Million Standard Cubic Meter</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46931988"/>
                  </a:ext>
                </a:extLst>
              </a:tr>
              <a:tr h="253335">
                <a:tc>
                  <a:txBody>
                    <a:bodyPr/>
                    <a:lstStyle/>
                    <a:p>
                      <a:pPr algn="l" fontAlgn="b"/>
                      <a:r>
                        <a:rPr lang="en-IN" sz="1100" b="0" i="0" u="none" strike="noStrike">
                          <a:solidFill>
                            <a:srgbClr val="000000"/>
                          </a:solidFill>
                          <a:effectLst/>
                          <a:latin typeface="Verdana" panose="020B0604030504040204" pitchFamily="34" charset="0"/>
                        </a:rPr>
                        <a:t>MPEMR</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US" sz="1100" b="0" i="0" u="none" strike="noStrike" dirty="0">
                          <a:solidFill>
                            <a:srgbClr val="000000"/>
                          </a:solidFill>
                          <a:effectLst/>
                          <a:latin typeface="Verdana" panose="020B0604030504040204" pitchFamily="34" charset="0"/>
                        </a:rPr>
                        <a:t>Ministry of Power, Energy and Mineral Resources, Bangladesh</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08483971"/>
                  </a:ext>
                </a:extLst>
              </a:tr>
              <a:tr h="253335">
                <a:tc>
                  <a:txBody>
                    <a:bodyPr/>
                    <a:lstStyle/>
                    <a:p>
                      <a:pPr algn="l" fontAlgn="b"/>
                      <a:r>
                        <a:rPr lang="en-IN" sz="1100" b="0" i="0" u="none" strike="noStrike">
                          <a:solidFill>
                            <a:srgbClr val="000000"/>
                          </a:solidFill>
                          <a:effectLst/>
                          <a:latin typeface="Verdana" panose="020B0604030504040204" pitchFamily="34" charset="0"/>
                        </a:rPr>
                        <a:t>MSCF</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Million Standard Cubic Feet</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8992077"/>
                  </a:ext>
                </a:extLst>
              </a:tr>
              <a:tr h="253335">
                <a:tc>
                  <a:txBody>
                    <a:bodyPr/>
                    <a:lstStyle/>
                    <a:p>
                      <a:pPr algn="l" fontAlgn="b"/>
                      <a:r>
                        <a:rPr lang="en-IN" sz="1100" b="0" i="0" u="none" strike="noStrike">
                          <a:solidFill>
                            <a:srgbClr val="000000"/>
                          </a:solidFill>
                          <a:effectLst/>
                          <a:latin typeface="Verdana" panose="020B0604030504040204" pitchFamily="34" charset="0"/>
                        </a:rPr>
                        <a:t>MTPA</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Million Tonnes Per Annum</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83864474"/>
                  </a:ext>
                </a:extLst>
              </a:tr>
              <a:tr h="253335">
                <a:tc>
                  <a:txBody>
                    <a:bodyPr/>
                    <a:lstStyle/>
                    <a:p>
                      <a:pPr algn="l" fontAlgn="b"/>
                      <a:r>
                        <a:rPr lang="en-IN" sz="1100" b="0" i="0" u="none" strike="noStrike">
                          <a:solidFill>
                            <a:srgbClr val="000000"/>
                          </a:solidFill>
                          <a:effectLst/>
                          <a:latin typeface="Verdana" panose="020B0604030504040204" pitchFamily="34" charset="0"/>
                        </a:rPr>
                        <a:t>MU</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Million Units (Million kilo-watt-hour)</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80132508"/>
                  </a:ext>
                </a:extLst>
              </a:tr>
              <a:tr h="253335">
                <a:tc>
                  <a:txBody>
                    <a:bodyPr/>
                    <a:lstStyle/>
                    <a:p>
                      <a:pPr algn="l" fontAlgn="b"/>
                      <a:r>
                        <a:rPr lang="en-IN" sz="1100" b="0" i="0" u="none" strike="noStrike">
                          <a:solidFill>
                            <a:srgbClr val="000000"/>
                          </a:solidFill>
                          <a:effectLst/>
                          <a:latin typeface="Verdana" panose="020B0604030504040204" pitchFamily="34" charset="0"/>
                        </a:rPr>
                        <a:t>MVA</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Million Volt Ampere</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53999197"/>
                  </a:ext>
                </a:extLst>
              </a:tr>
              <a:tr h="253335">
                <a:tc>
                  <a:txBody>
                    <a:bodyPr/>
                    <a:lstStyle/>
                    <a:p>
                      <a:pPr algn="l" fontAlgn="b"/>
                      <a:r>
                        <a:rPr lang="en-IN" sz="1100" b="0" i="0" u="none" strike="noStrike">
                          <a:solidFill>
                            <a:srgbClr val="000000"/>
                          </a:solidFill>
                          <a:effectLst/>
                          <a:latin typeface="Verdana" panose="020B0604030504040204" pitchFamily="34" charset="0"/>
                        </a:rPr>
                        <a:t>MW</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Mega Watt</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98603031"/>
                  </a:ext>
                </a:extLst>
              </a:tr>
              <a:tr h="253335">
                <a:tc>
                  <a:txBody>
                    <a:bodyPr/>
                    <a:lstStyle/>
                    <a:p>
                      <a:pPr algn="l" fontAlgn="b"/>
                      <a:r>
                        <a:rPr lang="en-IN" sz="1100" b="0" i="0" u="none" strike="noStrike">
                          <a:solidFill>
                            <a:srgbClr val="000000"/>
                          </a:solidFill>
                          <a:effectLst/>
                          <a:latin typeface="Verdana" panose="020B0604030504040204" pitchFamily="34" charset="0"/>
                        </a:rPr>
                        <a:t>NBBL</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err="1">
                          <a:solidFill>
                            <a:srgbClr val="000000"/>
                          </a:solidFill>
                          <a:effectLst/>
                          <a:latin typeface="Verdana" panose="020B0604030504040204" pitchFamily="34" charset="0"/>
                        </a:rPr>
                        <a:t>Nutan</a:t>
                      </a:r>
                      <a:r>
                        <a:rPr lang="en-IN" sz="1100" b="0" i="0" u="none" strike="noStrike" dirty="0">
                          <a:solidFill>
                            <a:srgbClr val="000000"/>
                          </a:solidFill>
                          <a:effectLst/>
                          <a:latin typeface="Verdana" panose="020B0604030504040204" pitchFamily="34" charset="0"/>
                        </a:rPr>
                        <a:t> </a:t>
                      </a:r>
                      <a:r>
                        <a:rPr lang="en-IN" sz="1100" b="0" i="0" u="none" strike="noStrike" dirty="0" err="1">
                          <a:solidFill>
                            <a:srgbClr val="000000"/>
                          </a:solidFill>
                          <a:effectLst/>
                          <a:latin typeface="Verdana" panose="020B0604030504040204" pitchFamily="34" charset="0"/>
                        </a:rPr>
                        <a:t>Bidyut</a:t>
                      </a:r>
                      <a:r>
                        <a:rPr lang="en-IN" sz="1100" b="0" i="0" u="none" strike="noStrike" dirty="0">
                          <a:solidFill>
                            <a:srgbClr val="000000"/>
                          </a:solidFill>
                          <a:effectLst/>
                          <a:latin typeface="Verdana" panose="020B0604030504040204" pitchFamily="34" charset="0"/>
                        </a:rPr>
                        <a:t> Bangladesh Limited</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92261672"/>
                  </a:ext>
                </a:extLst>
              </a:tr>
              <a:tr h="253335">
                <a:tc>
                  <a:txBody>
                    <a:bodyPr/>
                    <a:lstStyle/>
                    <a:p>
                      <a:pPr algn="l" fontAlgn="b"/>
                      <a:r>
                        <a:rPr lang="en-IN" sz="1100" b="0" i="0" u="none" strike="noStrike">
                          <a:solidFill>
                            <a:srgbClr val="000000"/>
                          </a:solidFill>
                          <a:effectLst/>
                          <a:latin typeface="Verdana" panose="020B0604030504040204" pitchFamily="34" charset="0"/>
                        </a:rPr>
                        <a:t>NDBIB</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NDB Investment Bank</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21744788"/>
                  </a:ext>
                </a:extLst>
              </a:tr>
              <a:tr h="253335">
                <a:tc>
                  <a:txBody>
                    <a:bodyPr/>
                    <a:lstStyle/>
                    <a:p>
                      <a:pPr algn="l" fontAlgn="b"/>
                      <a:r>
                        <a:rPr lang="en-IN" sz="1100" b="0" i="0" u="none" strike="noStrike">
                          <a:solidFill>
                            <a:srgbClr val="000000"/>
                          </a:solidFill>
                          <a:effectLst/>
                          <a:latin typeface="Verdana" panose="020B0604030504040204" pitchFamily="34" charset="0"/>
                        </a:rPr>
                        <a:t>NG</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Natural Gas</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46279198"/>
                  </a:ext>
                </a:extLst>
              </a:tr>
              <a:tr h="253335">
                <a:tc>
                  <a:txBody>
                    <a:bodyPr/>
                    <a:lstStyle/>
                    <a:p>
                      <a:pPr algn="l" fontAlgn="b"/>
                      <a:r>
                        <a:rPr lang="en-IN" sz="1100" b="0" i="0" u="none" strike="noStrike">
                          <a:solidFill>
                            <a:srgbClr val="000000"/>
                          </a:solidFill>
                          <a:effectLst/>
                          <a:latin typeface="Verdana" panose="020B0604030504040204" pitchFamily="34" charset="0"/>
                        </a:rPr>
                        <a:t>NTPC</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US" sz="1100" b="0" i="0" u="none" strike="noStrike" dirty="0">
                          <a:solidFill>
                            <a:srgbClr val="000000"/>
                          </a:solidFill>
                          <a:effectLst/>
                          <a:latin typeface="Verdana" panose="020B0604030504040204" pitchFamily="34" charset="0"/>
                        </a:rPr>
                        <a:t>National Thermal Power Corporation India</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9057717"/>
                  </a:ext>
                </a:extLst>
              </a:tr>
              <a:tr h="253335">
                <a:tc>
                  <a:txBody>
                    <a:bodyPr/>
                    <a:lstStyle/>
                    <a:p>
                      <a:pPr algn="l" fontAlgn="b"/>
                      <a:r>
                        <a:rPr lang="en-IN" sz="1100" b="0" i="0" u="none" strike="noStrike">
                          <a:solidFill>
                            <a:srgbClr val="000000"/>
                          </a:solidFill>
                          <a:effectLst/>
                          <a:latin typeface="Verdana" panose="020B0604030504040204" pitchFamily="34" charset="0"/>
                        </a:rPr>
                        <a:t>NWPGCL</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US" sz="1100" b="0" i="0" u="none" strike="noStrike" dirty="0">
                          <a:solidFill>
                            <a:srgbClr val="000000"/>
                          </a:solidFill>
                          <a:effectLst/>
                          <a:latin typeface="Verdana" panose="020B0604030504040204" pitchFamily="34" charset="0"/>
                        </a:rPr>
                        <a:t>North West Power Generation Company Limited</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62032655"/>
                  </a:ext>
                </a:extLst>
              </a:tr>
            </a:tbl>
          </a:graphicData>
        </a:graphic>
      </p:graphicFrame>
    </p:spTree>
    <p:extLst>
      <p:ext uri="{BB962C8B-B14F-4D97-AF65-F5344CB8AC3E}">
        <p14:creationId xmlns:p14="http://schemas.microsoft.com/office/powerpoint/2010/main" val="1990982806"/>
      </p:ext>
    </p:extLst>
  </p:cSld>
  <p:clrMapOvr>
    <a:masterClrMapping/>
  </p:clrMapOvr>
  <p:transition>
    <p:fade/>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Object 6"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7" name="Object 6"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6" name="Rectangle 5"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Abbreviation List</a:t>
            </a:r>
            <a:endParaRPr lang="en-IN" dirty="0"/>
          </a:p>
        </p:txBody>
      </p:sp>
      <p:graphicFrame>
        <p:nvGraphicFramePr>
          <p:cNvPr id="3" name="Table 2"/>
          <p:cNvGraphicFramePr>
            <a:graphicFrameLocks noGrp="1"/>
          </p:cNvGraphicFramePr>
          <p:nvPr>
            <p:extLst>
              <p:ext uri="{D42A27DB-BD31-4B8C-83A1-F6EECF244321}">
                <p14:modId xmlns:p14="http://schemas.microsoft.com/office/powerpoint/2010/main" val="2376346941"/>
              </p:ext>
            </p:extLst>
          </p:nvPr>
        </p:nvGraphicFramePr>
        <p:xfrm>
          <a:off x="449264" y="1338593"/>
          <a:ext cx="4540425" cy="5801076"/>
        </p:xfrm>
        <a:graphic>
          <a:graphicData uri="http://schemas.openxmlformats.org/drawingml/2006/table">
            <a:tbl>
              <a:tblPr firstRow="1" firstCol="1">
                <a:tableStyleId>{FABFCF23-3B69-468F-B69F-88F6DE6A72F2}</a:tableStyleId>
              </a:tblPr>
              <a:tblGrid>
                <a:gridCol w="1334380">
                  <a:extLst>
                    <a:ext uri="{9D8B030D-6E8A-4147-A177-3AD203B41FA5}">
                      <a16:colId xmlns:a16="http://schemas.microsoft.com/office/drawing/2014/main" val="20000"/>
                    </a:ext>
                  </a:extLst>
                </a:gridCol>
                <a:gridCol w="3206045">
                  <a:extLst>
                    <a:ext uri="{9D8B030D-6E8A-4147-A177-3AD203B41FA5}">
                      <a16:colId xmlns:a16="http://schemas.microsoft.com/office/drawing/2014/main" val="20001"/>
                    </a:ext>
                  </a:extLst>
                </a:gridCol>
              </a:tblGrid>
              <a:tr h="391476">
                <a:tc>
                  <a:txBody>
                    <a:bodyPr/>
                    <a:lstStyle/>
                    <a:p>
                      <a:pPr marL="0" marR="0">
                        <a:lnSpc>
                          <a:spcPct val="107000"/>
                        </a:lnSpc>
                        <a:spcBef>
                          <a:spcPts val="0"/>
                        </a:spcBef>
                        <a:spcAft>
                          <a:spcPts val="0"/>
                        </a:spcAft>
                      </a:pPr>
                      <a:r>
                        <a:rPr lang="en-US" sz="1100" dirty="0">
                          <a:solidFill>
                            <a:schemeClr val="tx1"/>
                          </a:solidFill>
                          <a:effectLst/>
                        </a:rPr>
                        <a:t>Abbreviations</a:t>
                      </a:r>
                      <a:endParaRPr lang="en-US" sz="1100" dirty="0">
                        <a:solidFill>
                          <a:schemeClr val="tx1"/>
                        </a:solidFill>
                        <a:effectLst/>
                        <a:latin typeface="+mn-lt"/>
                        <a:ea typeface="Calibri" panose="020F0502020204030204" pitchFamily="34" charset="0"/>
                        <a:cs typeface="Times New Roman" panose="02020603050405020304" pitchFamily="18" charset="0"/>
                      </a:endParaRPr>
                    </a:p>
                  </a:txBody>
                  <a:tcPr marL="0" marR="0" marT="0" marB="0" anchor="ctr">
                    <a:lnL w="12700" cmpd="sng">
                      <a:noFill/>
                    </a:lnL>
                    <a:lnR>
                      <a:noFill/>
                    </a:lnR>
                    <a:lnT w="38100" cap="flat" cmpd="sng" algn="ctr">
                      <a:solidFill>
                        <a:schemeClr val="accent1"/>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nSpc>
                          <a:spcPct val="107000"/>
                        </a:lnSpc>
                        <a:spcBef>
                          <a:spcPts val="0"/>
                        </a:spcBef>
                        <a:spcAft>
                          <a:spcPts val="0"/>
                        </a:spcAft>
                      </a:pPr>
                      <a:r>
                        <a:rPr lang="en-US" sz="1100" dirty="0">
                          <a:solidFill>
                            <a:schemeClr val="tx1"/>
                          </a:solidFill>
                          <a:effectLst/>
                          <a:latin typeface="+mn-lt"/>
                          <a:ea typeface="Calibri" panose="020F0502020204030204" pitchFamily="34" charset="0"/>
                          <a:cs typeface="Times New Roman" panose="02020603050405020304" pitchFamily="18" charset="0"/>
                        </a:rPr>
                        <a:t>Description</a:t>
                      </a:r>
                    </a:p>
                  </a:txBody>
                  <a:tcPr marL="0" marR="0" marT="0" marB="0" anchor="ctr">
                    <a:lnL>
                      <a:noFill/>
                    </a:lnL>
                    <a:lnR w="12700" cmpd="sng">
                      <a:noFill/>
                    </a:lnR>
                    <a:lnT w="38100" cap="flat" cmpd="sng" algn="ctr">
                      <a:solidFill>
                        <a:schemeClr val="accent1"/>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253335">
                <a:tc>
                  <a:txBody>
                    <a:bodyPr/>
                    <a:lstStyle/>
                    <a:p>
                      <a:pPr algn="l" fontAlgn="b"/>
                      <a:r>
                        <a:rPr lang="en-IN" sz="1100" b="0" i="0" u="none" strike="noStrike" dirty="0">
                          <a:solidFill>
                            <a:srgbClr val="000000"/>
                          </a:solidFill>
                          <a:effectLst/>
                          <a:latin typeface="Verdana" panose="020B0604030504040204" pitchFamily="34" charset="0"/>
                        </a:rPr>
                        <a:t>OFID</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US" sz="1100" b="0" i="0" u="none" strike="noStrike" dirty="0">
                          <a:solidFill>
                            <a:srgbClr val="000000"/>
                          </a:solidFill>
                          <a:effectLst/>
                          <a:latin typeface="Verdana" panose="020B0604030504040204" pitchFamily="34" charset="0"/>
                        </a:rPr>
                        <a:t>OPEC Fund for International Development</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27872339"/>
                  </a:ext>
                </a:extLst>
              </a:tr>
              <a:tr h="253335">
                <a:tc>
                  <a:txBody>
                    <a:bodyPr/>
                    <a:lstStyle/>
                    <a:p>
                      <a:pPr algn="l" fontAlgn="b"/>
                      <a:r>
                        <a:rPr lang="en-IN" sz="1100" b="0" i="0" u="none" strike="noStrike" dirty="0">
                          <a:solidFill>
                            <a:srgbClr val="000000"/>
                          </a:solidFill>
                          <a:effectLst/>
                          <a:latin typeface="Verdana" panose="020B0604030504040204" pitchFamily="34" charset="0"/>
                        </a:rPr>
                        <a:t>PGCB</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US" sz="1100" b="0" i="0" u="none" strike="noStrike">
                          <a:solidFill>
                            <a:srgbClr val="000000"/>
                          </a:solidFill>
                          <a:effectLst/>
                          <a:latin typeface="Verdana" panose="020B0604030504040204" pitchFamily="34" charset="0"/>
                        </a:rPr>
                        <a:t>Power Grid Company of Bangladesh</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253335">
                <a:tc>
                  <a:txBody>
                    <a:bodyPr/>
                    <a:lstStyle/>
                    <a:p>
                      <a:pPr algn="l" fontAlgn="b"/>
                      <a:r>
                        <a:rPr lang="en-IN" sz="1100" b="0" i="0" u="none" strike="noStrike" dirty="0">
                          <a:solidFill>
                            <a:srgbClr val="000000"/>
                          </a:solidFill>
                          <a:effectLst/>
                          <a:latin typeface="Verdana" panose="020B0604030504040204" pitchFamily="34" charset="0"/>
                        </a:rPr>
                        <a:t>PLF</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Plant Load Factor</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253335">
                <a:tc>
                  <a:txBody>
                    <a:bodyPr/>
                    <a:lstStyle/>
                    <a:p>
                      <a:pPr algn="l" fontAlgn="b"/>
                      <a:r>
                        <a:rPr lang="en-IN" sz="1100" b="0" i="0" u="none" strike="noStrike">
                          <a:solidFill>
                            <a:srgbClr val="000000"/>
                          </a:solidFill>
                          <a:effectLst/>
                          <a:latin typeface="Verdana" panose="020B0604030504040204" pitchFamily="34" charset="0"/>
                        </a:rPr>
                        <a:t>PNG</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Piped Natural Gas</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66580609"/>
                  </a:ext>
                </a:extLst>
              </a:tr>
              <a:tr h="253335">
                <a:tc>
                  <a:txBody>
                    <a:bodyPr/>
                    <a:lstStyle/>
                    <a:p>
                      <a:pPr algn="l" fontAlgn="b"/>
                      <a:r>
                        <a:rPr lang="en-IN" sz="1100" b="0" i="0" u="none" strike="noStrike" dirty="0">
                          <a:solidFill>
                            <a:srgbClr val="000000"/>
                          </a:solidFill>
                          <a:effectLst/>
                          <a:latin typeface="Verdana" panose="020B0604030504040204" pitchFamily="34" charset="0"/>
                        </a:rPr>
                        <a:t>POL</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Petroleum, Oil and Lubricants</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5"/>
                  </a:ext>
                </a:extLst>
              </a:tr>
              <a:tr h="253335">
                <a:tc>
                  <a:txBody>
                    <a:bodyPr/>
                    <a:lstStyle/>
                    <a:p>
                      <a:pPr algn="l" fontAlgn="b"/>
                      <a:r>
                        <a:rPr lang="en-IN" sz="1100" b="0" i="0" u="none" strike="noStrike">
                          <a:solidFill>
                            <a:srgbClr val="000000"/>
                          </a:solidFill>
                          <a:effectLst/>
                          <a:latin typeface="Verdana" panose="020B0604030504040204" pitchFamily="34" charset="0"/>
                        </a:rPr>
                        <a:t>PP</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Peaking Power</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83751536"/>
                  </a:ext>
                </a:extLst>
              </a:tr>
              <a:tr h="253335">
                <a:tc>
                  <a:txBody>
                    <a:bodyPr/>
                    <a:lstStyle/>
                    <a:p>
                      <a:pPr algn="l" fontAlgn="b"/>
                      <a:r>
                        <a:rPr lang="en-IN" sz="1100" b="0" i="0" u="none" strike="noStrike" dirty="0">
                          <a:solidFill>
                            <a:srgbClr val="000000"/>
                          </a:solidFill>
                          <a:effectLst/>
                          <a:latin typeface="Verdana" panose="020B0604030504040204" pitchFamily="34" charset="0"/>
                        </a:rPr>
                        <a:t>PPA</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Power Purchase Agreement</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11252168"/>
                  </a:ext>
                </a:extLst>
              </a:tr>
              <a:tr h="253335">
                <a:tc>
                  <a:txBody>
                    <a:bodyPr/>
                    <a:lstStyle/>
                    <a:p>
                      <a:pPr algn="l" fontAlgn="b"/>
                      <a:r>
                        <a:rPr lang="en-IN" sz="1100" b="0" i="0" u="none" strike="noStrike">
                          <a:solidFill>
                            <a:srgbClr val="000000"/>
                          </a:solidFill>
                          <a:effectLst/>
                          <a:latin typeface="Verdana" panose="020B0604030504040204" pitchFamily="34" charset="0"/>
                        </a:rPr>
                        <a:t>PSMP</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Power Sector Master Plan</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84401982"/>
                  </a:ext>
                </a:extLst>
              </a:tr>
              <a:tr h="253335">
                <a:tc>
                  <a:txBody>
                    <a:bodyPr/>
                    <a:lstStyle/>
                    <a:p>
                      <a:pPr algn="l" fontAlgn="b"/>
                      <a:r>
                        <a:rPr lang="en-IN" sz="1100" b="0" i="0" u="none" strike="noStrike">
                          <a:solidFill>
                            <a:srgbClr val="000000"/>
                          </a:solidFill>
                          <a:effectLst/>
                          <a:latin typeface="Verdana" panose="020B0604030504040204" pitchFamily="34" charset="0"/>
                        </a:rPr>
                        <a:t>QRPP</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Quick Rental Power Plant</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674987"/>
                  </a:ext>
                </a:extLst>
              </a:tr>
              <a:tr h="253335">
                <a:tc>
                  <a:txBody>
                    <a:bodyPr/>
                    <a:lstStyle/>
                    <a:p>
                      <a:pPr algn="l" fontAlgn="b"/>
                      <a:r>
                        <a:rPr lang="en-IN" sz="1100" b="0" i="0" u="none" strike="noStrike">
                          <a:solidFill>
                            <a:srgbClr val="000000"/>
                          </a:solidFill>
                          <a:effectLst/>
                          <a:latin typeface="Verdana" panose="020B0604030504040204" pitchFamily="34" charset="0"/>
                        </a:rPr>
                        <a:t>REB</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Rural Electricity Board, Bangladesh</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46931988"/>
                  </a:ext>
                </a:extLst>
              </a:tr>
              <a:tr h="253335">
                <a:tc>
                  <a:txBody>
                    <a:bodyPr/>
                    <a:lstStyle/>
                    <a:p>
                      <a:pPr algn="l" fontAlgn="b"/>
                      <a:r>
                        <a:rPr lang="en-IN" sz="1100" b="0" i="0" u="none" strike="noStrike">
                          <a:solidFill>
                            <a:srgbClr val="000000"/>
                          </a:solidFill>
                          <a:effectLst/>
                          <a:latin typeface="Verdana" panose="020B0604030504040204" pitchFamily="34" charset="0"/>
                        </a:rPr>
                        <a:t>RLNG</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err="1">
                          <a:solidFill>
                            <a:srgbClr val="000000"/>
                          </a:solidFill>
                          <a:effectLst/>
                          <a:latin typeface="Verdana" panose="020B0604030504040204" pitchFamily="34" charset="0"/>
                        </a:rPr>
                        <a:t>Regasified</a:t>
                      </a:r>
                      <a:r>
                        <a:rPr lang="en-IN" sz="1100" b="0" i="0" u="none" strike="noStrike" dirty="0">
                          <a:solidFill>
                            <a:srgbClr val="000000"/>
                          </a:solidFill>
                          <a:effectLst/>
                          <a:latin typeface="Verdana" panose="020B0604030504040204" pitchFamily="34" charset="0"/>
                        </a:rPr>
                        <a:t> </a:t>
                      </a:r>
                      <a:r>
                        <a:rPr lang="en-IN" sz="1100" b="0" i="0" u="none" strike="noStrike" dirty="0" err="1">
                          <a:solidFill>
                            <a:srgbClr val="000000"/>
                          </a:solidFill>
                          <a:effectLst/>
                          <a:latin typeface="Verdana" panose="020B0604030504040204" pitchFamily="34" charset="0"/>
                        </a:rPr>
                        <a:t>Liquified</a:t>
                      </a:r>
                      <a:r>
                        <a:rPr lang="en-IN" sz="1100" b="0" i="0" u="none" strike="noStrike" dirty="0">
                          <a:solidFill>
                            <a:srgbClr val="000000"/>
                          </a:solidFill>
                          <a:effectLst/>
                          <a:latin typeface="Verdana" panose="020B0604030504040204" pitchFamily="34" charset="0"/>
                        </a:rPr>
                        <a:t> Natural Gas</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08483971"/>
                  </a:ext>
                </a:extLst>
              </a:tr>
              <a:tr h="253335">
                <a:tc>
                  <a:txBody>
                    <a:bodyPr/>
                    <a:lstStyle/>
                    <a:p>
                      <a:pPr algn="l" fontAlgn="b"/>
                      <a:r>
                        <a:rPr lang="en-IN" sz="1100" b="0" i="0" u="none" strike="noStrike">
                          <a:solidFill>
                            <a:srgbClr val="000000"/>
                          </a:solidFill>
                          <a:effectLst/>
                          <a:latin typeface="Verdana" panose="020B0604030504040204" pitchFamily="34" charset="0"/>
                        </a:rPr>
                        <a:t>RMS</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Root Mean Square</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8992077"/>
                  </a:ext>
                </a:extLst>
              </a:tr>
              <a:tr h="253335">
                <a:tc>
                  <a:txBody>
                    <a:bodyPr/>
                    <a:lstStyle/>
                    <a:p>
                      <a:pPr algn="l" fontAlgn="b"/>
                      <a:r>
                        <a:rPr lang="en-IN" sz="1100" b="0" i="0" u="none" strike="noStrike">
                          <a:solidFill>
                            <a:srgbClr val="000000"/>
                          </a:solidFill>
                          <a:effectLst/>
                          <a:latin typeface="Verdana" panose="020B0604030504040204" pitchFamily="34" charset="0"/>
                        </a:rPr>
                        <a:t>RPCL</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Rural Power Company Limited</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83864474"/>
                  </a:ext>
                </a:extLst>
              </a:tr>
              <a:tr h="253335">
                <a:tc>
                  <a:txBody>
                    <a:bodyPr/>
                    <a:lstStyle/>
                    <a:p>
                      <a:pPr algn="l" fontAlgn="b"/>
                      <a:r>
                        <a:rPr lang="en-IN" sz="1100" b="0" i="0" u="none" strike="noStrike">
                          <a:solidFill>
                            <a:srgbClr val="000000"/>
                          </a:solidFill>
                          <a:effectLst/>
                          <a:latin typeface="Verdana" panose="020B0604030504040204" pitchFamily="34" charset="0"/>
                        </a:rPr>
                        <a:t>RPP</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Rental Power Plant</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80132508"/>
                  </a:ext>
                </a:extLst>
              </a:tr>
              <a:tr h="253335">
                <a:tc>
                  <a:txBody>
                    <a:bodyPr/>
                    <a:lstStyle/>
                    <a:p>
                      <a:pPr algn="l" fontAlgn="b"/>
                      <a:r>
                        <a:rPr lang="en-IN" sz="1100" b="0" i="0" u="none" strike="noStrike">
                          <a:solidFill>
                            <a:srgbClr val="000000"/>
                          </a:solidFill>
                          <a:effectLst/>
                          <a:latin typeface="Verdana" panose="020B0604030504040204" pitchFamily="34" charset="0"/>
                        </a:rPr>
                        <a:t>SCM</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Standard Cubic Meter</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53999197"/>
                  </a:ext>
                </a:extLst>
              </a:tr>
              <a:tr h="253335">
                <a:tc>
                  <a:txBody>
                    <a:bodyPr/>
                    <a:lstStyle/>
                    <a:p>
                      <a:pPr algn="l" fontAlgn="b"/>
                      <a:r>
                        <a:rPr lang="en-IN" sz="1100" b="0" i="0" u="none" strike="noStrike">
                          <a:solidFill>
                            <a:srgbClr val="000000"/>
                          </a:solidFill>
                          <a:effectLst/>
                          <a:latin typeface="Verdana" panose="020B0604030504040204" pitchFamily="34" charset="0"/>
                        </a:rPr>
                        <a:t>SEPCO</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US" sz="1100" b="0" i="0" u="none" strike="noStrike" dirty="0">
                          <a:solidFill>
                            <a:srgbClr val="000000"/>
                          </a:solidFill>
                          <a:effectLst/>
                          <a:latin typeface="Verdana" panose="020B0604030504040204" pitchFamily="34" charset="0"/>
                        </a:rPr>
                        <a:t>SEPCO Electric Power Construction Corporation</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98603031"/>
                  </a:ext>
                </a:extLst>
              </a:tr>
              <a:tr h="253335">
                <a:tc>
                  <a:txBody>
                    <a:bodyPr/>
                    <a:lstStyle/>
                    <a:p>
                      <a:pPr algn="l" fontAlgn="b"/>
                      <a:r>
                        <a:rPr lang="en-IN" sz="1100" b="0" i="0" u="none" strike="noStrike">
                          <a:solidFill>
                            <a:srgbClr val="000000"/>
                          </a:solidFill>
                          <a:effectLst/>
                          <a:latin typeface="Verdana" panose="020B0604030504040204" pitchFamily="34" charset="0"/>
                        </a:rPr>
                        <a:t>SGCL</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err="1">
                          <a:solidFill>
                            <a:srgbClr val="000000"/>
                          </a:solidFill>
                          <a:effectLst/>
                          <a:latin typeface="Verdana" panose="020B0604030504040204" pitchFamily="34" charset="0"/>
                        </a:rPr>
                        <a:t>Sunderban</a:t>
                      </a:r>
                      <a:r>
                        <a:rPr lang="en-IN" sz="1100" b="0" i="0" u="none" strike="noStrike" dirty="0">
                          <a:solidFill>
                            <a:srgbClr val="000000"/>
                          </a:solidFill>
                          <a:effectLst/>
                          <a:latin typeface="Verdana" panose="020B0604030504040204" pitchFamily="34" charset="0"/>
                        </a:rPr>
                        <a:t> Gas </a:t>
                      </a:r>
                      <a:r>
                        <a:rPr lang="en-IN" sz="1100" b="0" i="0" u="none" strike="noStrike" dirty="0" err="1">
                          <a:solidFill>
                            <a:srgbClr val="000000"/>
                          </a:solidFill>
                          <a:effectLst/>
                          <a:latin typeface="Verdana" panose="020B0604030504040204" pitchFamily="34" charset="0"/>
                        </a:rPr>
                        <a:t>Companu</a:t>
                      </a:r>
                      <a:r>
                        <a:rPr lang="en-IN" sz="1100" b="0" i="0" u="none" strike="noStrike" dirty="0">
                          <a:solidFill>
                            <a:srgbClr val="000000"/>
                          </a:solidFill>
                          <a:effectLst/>
                          <a:latin typeface="Verdana" panose="020B0604030504040204" pitchFamily="34" charset="0"/>
                        </a:rPr>
                        <a:t> Limited</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92261672"/>
                  </a:ext>
                </a:extLst>
              </a:tr>
              <a:tr h="253335">
                <a:tc>
                  <a:txBody>
                    <a:bodyPr/>
                    <a:lstStyle/>
                    <a:p>
                      <a:pPr algn="l" fontAlgn="b"/>
                      <a:r>
                        <a:rPr lang="en-IN" sz="1100" b="0" i="0" u="none" strike="noStrike">
                          <a:solidFill>
                            <a:srgbClr val="000000"/>
                          </a:solidFill>
                          <a:effectLst/>
                          <a:latin typeface="Verdana" panose="020B0604030504040204" pitchFamily="34" charset="0"/>
                        </a:rPr>
                        <a:t>SHR</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Station Heat Rate</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21744788"/>
                  </a:ext>
                </a:extLst>
              </a:tr>
              <a:tr h="253335">
                <a:tc>
                  <a:txBody>
                    <a:bodyPr/>
                    <a:lstStyle/>
                    <a:p>
                      <a:pPr algn="l" fontAlgn="b"/>
                      <a:r>
                        <a:rPr lang="en-IN" sz="1100" b="0" i="0" u="none" strike="noStrike">
                          <a:solidFill>
                            <a:srgbClr val="000000"/>
                          </a:solidFill>
                          <a:effectLst/>
                          <a:latin typeface="Verdana" panose="020B0604030504040204" pitchFamily="34" charset="0"/>
                        </a:rPr>
                        <a:t>SIPP</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Small Independent Power Producer</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46279198"/>
                  </a:ext>
                </a:extLst>
              </a:tr>
              <a:tr h="253335">
                <a:tc>
                  <a:txBody>
                    <a:bodyPr/>
                    <a:lstStyle/>
                    <a:p>
                      <a:pPr algn="l" fontAlgn="b"/>
                      <a:r>
                        <a:rPr lang="en-IN" sz="1100" b="0" i="0" u="none" strike="noStrike">
                          <a:solidFill>
                            <a:srgbClr val="000000"/>
                          </a:solidFill>
                          <a:effectLst/>
                          <a:latin typeface="Verdana" panose="020B0604030504040204" pitchFamily="34" charset="0"/>
                        </a:rPr>
                        <a:t>ST</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Steam Turbine</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9057717"/>
                  </a:ext>
                </a:extLst>
              </a:tr>
              <a:tr h="253335">
                <a:tc>
                  <a:txBody>
                    <a:bodyPr/>
                    <a:lstStyle/>
                    <a:p>
                      <a:pPr algn="l" fontAlgn="b"/>
                      <a:r>
                        <a:rPr lang="en-IN" sz="1100" b="0" i="0" u="none" strike="noStrike" dirty="0">
                          <a:solidFill>
                            <a:srgbClr val="000000"/>
                          </a:solidFill>
                          <a:effectLst/>
                          <a:latin typeface="Verdana" panose="020B0604030504040204" pitchFamily="34" charset="0"/>
                        </a:rPr>
                        <a:t>TK </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Bangladeshi Taka</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62032655"/>
                  </a:ext>
                </a:extLst>
              </a:tr>
            </a:tbl>
          </a:graphicData>
        </a:graphic>
      </p:graphicFrame>
      <p:graphicFrame>
        <p:nvGraphicFramePr>
          <p:cNvPr id="5" name="Table 4"/>
          <p:cNvGraphicFramePr>
            <a:graphicFrameLocks noGrp="1"/>
          </p:cNvGraphicFramePr>
          <p:nvPr>
            <p:extLst>
              <p:ext uri="{D42A27DB-BD31-4B8C-83A1-F6EECF244321}">
                <p14:modId xmlns:p14="http://schemas.microsoft.com/office/powerpoint/2010/main" val="3358812197"/>
              </p:ext>
            </p:extLst>
          </p:nvPr>
        </p:nvGraphicFramePr>
        <p:xfrm>
          <a:off x="5700539" y="1338593"/>
          <a:ext cx="4540425" cy="3267726"/>
        </p:xfrm>
        <a:graphic>
          <a:graphicData uri="http://schemas.openxmlformats.org/drawingml/2006/table">
            <a:tbl>
              <a:tblPr firstRow="1" firstCol="1">
                <a:tableStyleId>{FABFCF23-3B69-468F-B69F-88F6DE6A72F2}</a:tableStyleId>
              </a:tblPr>
              <a:tblGrid>
                <a:gridCol w="1334380">
                  <a:extLst>
                    <a:ext uri="{9D8B030D-6E8A-4147-A177-3AD203B41FA5}">
                      <a16:colId xmlns:a16="http://schemas.microsoft.com/office/drawing/2014/main" val="20000"/>
                    </a:ext>
                  </a:extLst>
                </a:gridCol>
                <a:gridCol w="3206045">
                  <a:extLst>
                    <a:ext uri="{9D8B030D-6E8A-4147-A177-3AD203B41FA5}">
                      <a16:colId xmlns:a16="http://schemas.microsoft.com/office/drawing/2014/main" val="20001"/>
                    </a:ext>
                  </a:extLst>
                </a:gridCol>
              </a:tblGrid>
              <a:tr h="391476">
                <a:tc>
                  <a:txBody>
                    <a:bodyPr/>
                    <a:lstStyle/>
                    <a:p>
                      <a:pPr marL="0" marR="0">
                        <a:lnSpc>
                          <a:spcPct val="107000"/>
                        </a:lnSpc>
                        <a:spcBef>
                          <a:spcPts val="0"/>
                        </a:spcBef>
                        <a:spcAft>
                          <a:spcPts val="0"/>
                        </a:spcAft>
                      </a:pPr>
                      <a:r>
                        <a:rPr lang="en-US" sz="1100" dirty="0">
                          <a:solidFill>
                            <a:schemeClr val="tx1"/>
                          </a:solidFill>
                          <a:effectLst/>
                        </a:rPr>
                        <a:t>Abbreviations</a:t>
                      </a:r>
                      <a:endParaRPr lang="en-US" sz="1100" dirty="0">
                        <a:solidFill>
                          <a:schemeClr val="tx1"/>
                        </a:solidFill>
                        <a:effectLst/>
                        <a:latin typeface="+mn-lt"/>
                        <a:ea typeface="Calibri" panose="020F0502020204030204" pitchFamily="34" charset="0"/>
                        <a:cs typeface="Times New Roman" panose="02020603050405020304" pitchFamily="18" charset="0"/>
                      </a:endParaRPr>
                    </a:p>
                  </a:txBody>
                  <a:tcPr marL="0" marR="0" marT="0" marB="0" anchor="ctr">
                    <a:lnL w="12700" cmpd="sng">
                      <a:noFill/>
                    </a:lnL>
                    <a:lnR>
                      <a:noFill/>
                    </a:lnR>
                    <a:lnT w="38100" cap="flat" cmpd="sng" algn="ctr">
                      <a:solidFill>
                        <a:schemeClr val="accent1"/>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nSpc>
                          <a:spcPct val="107000"/>
                        </a:lnSpc>
                        <a:spcBef>
                          <a:spcPts val="0"/>
                        </a:spcBef>
                        <a:spcAft>
                          <a:spcPts val="0"/>
                        </a:spcAft>
                      </a:pPr>
                      <a:r>
                        <a:rPr lang="en-US" sz="1100" dirty="0">
                          <a:solidFill>
                            <a:schemeClr val="tx1"/>
                          </a:solidFill>
                          <a:effectLst/>
                          <a:latin typeface="+mn-lt"/>
                          <a:ea typeface="Calibri" panose="020F0502020204030204" pitchFamily="34" charset="0"/>
                          <a:cs typeface="Times New Roman" panose="02020603050405020304" pitchFamily="18" charset="0"/>
                        </a:rPr>
                        <a:t>Description</a:t>
                      </a:r>
                    </a:p>
                  </a:txBody>
                  <a:tcPr marL="0" marR="0" marT="0" marB="0" anchor="ctr">
                    <a:lnL>
                      <a:noFill/>
                    </a:lnL>
                    <a:lnR w="12700" cmpd="sng">
                      <a:noFill/>
                    </a:lnR>
                    <a:lnT w="38100" cap="flat" cmpd="sng" algn="ctr">
                      <a:solidFill>
                        <a:schemeClr val="accent1"/>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253335">
                <a:tc>
                  <a:txBody>
                    <a:bodyPr/>
                    <a:lstStyle/>
                    <a:p>
                      <a:pPr algn="l" fontAlgn="b"/>
                      <a:r>
                        <a:rPr lang="en-IN" sz="1100" b="0" i="0" u="none" strike="noStrike" dirty="0">
                          <a:solidFill>
                            <a:srgbClr val="000000"/>
                          </a:solidFill>
                          <a:effectLst/>
                          <a:latin typeface="Verdana" panose="020B0604030504040204" pitchFamily="34" charset="0"/>
                        </a:rPr>
                        <a:t>TL</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Transmission Line</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330065503"/>
                  </a:ext>
                </a:extLst>
              </a:tr>
              <a:tr h="253335">
                <a:tc>
                  <a:txBody>
                    <a:bodyPr/>
                    <a:lstStyle/>
                    <a:p>
                      <a:pPr algn="l" fontAlgn="b"/>
                      <a:r>
                        <a:rPr lang="en-IN" sz="1100" b="0" i="0" u="none" strike="noStrike" dirty="0">
                          <a:solidFill>
                            <a:srgbClr val="000000"/>
                          </a:solidFill>
                          <a:effectLst/>
                          <a:latin typeface="Verdana" panose="020B0604030504040204" pitchFamily="34" charset="0"/>
                        </a:rPr>
                        <a:t>TV</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Taxable Value</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253335">
                <a:tc>
                  <a:txBody>
                    <a:bodyPr/>
                    <a:lstStyle/>
                    <a:p>
                      <a:pPr algn="l" fontAlgn="b"/>
                      <a:r>
                        <a:rPr lang="en-IN" sz="1100" b="0" i="0" u="none" strike="noStrike" dirty="0">
                          <a:solidFill>
                            <a:srgbClr val="000000"/>
                          </a:solidFill>
                          <a:effectLst/>
                          <a:latin typeface="Verdana" panose="020B0604030504040204" pitchFamily="34" charset="0"/>
                        </a:rPr>
                        <a:t>UAEL</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United Ashuganj Energy Ltd</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253335">
                <a:tc>
                  <a:txBody>
                    <a:bodyPr/>
                    <a:lstStyle/>
                    <a:p>
                      <a:pPr algn="l" fontAlgn="b"/>
                      <a:r>
                        <a:rPr lang="en-IN" sz="1100" b="0" i="0" u="none" strike="noStrike" dirty="0">
                          <a:solidFill>
                            <a:srgbClr val="000000"/>
                          </a:solidFill>
                          <a:effectLst/>
                          <a:latin typeface="Verdana" panose="020B0604030504040204" pitchFamily="34" charset="0"/>
                        </a:rPr>
                        <a:t>UAEL</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United Ashuganj Energy Ltd</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66580609"/>
                  </a:ext>
                </a:extLst>
              </a:tr>
              <a:tr h="253335">
                <a:tc>
                  <a:txBody>
                    <a:bodyPr/>
                    <a:lstStyle/>
                    <a:p>
                      <a:pPr algn="l" fontAlgn="b"/>
                      <a:r>
                        <a:rPr lang="en-IN" sz="1100" b="0" i="0" u="none" strike="noStrike" dirty="0">
                          <a:solidFill>
                            <a:srgbClr val="000000"/>
                          </a:solidFill>
                          <a:effectLst/>
                          <a:latin typeface="Verdana" panose="020B0604030504040204" pitchFamily="34" charset="0"/>
                        </a:rPr>
                        <a:t>UECL</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a:solidFill>
                            <a:srgbClr val="000000"/>
                          </a:solidFill>
                          <a:effectLst/>
                          <a:latin typeface="Verdana" panose="020B0604030504040204" pitchFamily="34" charset="0"/>
                        </a:rPr>
                        <a:t>United Enterprises &amp; Co. Ltd</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5"/>
                  </a:ext>
                </a:extLst>
              </a:tr>
              <a:tr h="253335">
                <a:tc>
                  <a:txBody>
                    <a:bodyPr/>
                    <a:lstStyle/>
                    <a:p>
                      <a:pPr algn="l" fontAlgn="b"/>
                      <a:r>
                        <a:rPr lang="en-IN" sz="1100" b="0" i="0" u="none" strike="noStrike">
                          <a:solidFill>
                            <a:srgbClr val="000000"/>
                          </a:solidFill>
                          <a:effectLst/>
                          <a:latin typeface="Verdana" panose="020B0604030504040204" pitchFamily="34" charset="0"/>
                        </a:rPr>
                        <a:t>UK</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United Kingdom</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83751536"/>
                  </a:ext>
                </a:extLst>
              </a:tr>
              <a:tr h="253335">
                <a:tc>
                  <a:txBody>
                    <a:bodyPr/>
                    <a:lstStyle/>
                    <a:p>
                      <a:pPr algn="l" fontAlgn="b"/>
                      <a:r>
                        <a:rPr lang="en-IN" sz="1100" b="0" i="0" u="none" strike="noStrike">
                          <a:solidFill>
                            <a:srgbClr val="000000"/>
                          </a:solidFill>
                          <a:effectLst/>
                          <a:latin typeface="Verdana" panose="020B0604030504040204" pitchFamily="34" charset="0"/>
                        </a:rPr>
                        <a:t>UMPL</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Unique </a:t>
                      </a:r>
                      <a:r>
                        <a:rPr lang="en-IN" sz="1100" b="0" i="0" u="none" strike="noStrike" dirty="0" err="1">
                          <a:solidFill>
                            <a:srgbClr val="000000"/>
                          </a:solidFill>
                          <a:effectLst/>
                          <a:latin typeface="Verdana" panose="020B0604030504040204" pitchFamily="34" charset="0"/>
                        </a:rPr>
                        <a:t>Meghnaghat</a:t>
                      </a:r>
                      <a:r>
                        <a:rPr lang="en-IN" sz="1100" b="0" i="0" u="none" strike="noStrike" dirty="0">
                          <a:solidFill>
                            <a:srgbClr val="000000"/>
                          </a:solidFill>
                          <a:effectLst/>
                          <a:latin typeface="Verdana" panose="020B0604030504040204" pitchFamily="34" charset="0"/>
                        </a:rPr>
                        <a:t> Power Limited</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11252168"/>
                  </a:ext>
                </a:extLst>
              </a:tr>
              <a:tr h="253335">
                <a:tc>
                  <a:txBody>
                    <a:bodyPr/>
                    <a:lstStyle/>
                    <a:p>
                      <a:pPr algn="l" fontAlgn="b"/>
                      <a:r>
                        <a:rPr lang="en-IN" sz="1100" b="0" i="0" u="none" strike="noStrike">
                          <a:solidFill>
                            <a:srgbClr val="000000"/>
                          </a:solidFill>
                          <a:effectLst/>
                          <a:latin typeface="Verdana" panose="020B0604030504040204" pitchFamily="34" charset="0"/>
                        </a:rPr>
                        <a:t>USD</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United States Dollar</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84401982"/>
                  </a:ext>
                </a:extLst>
              </a:tr>
              <a:tr h="253335">
                <a:tc>
                  <a:txBody>
                    <a:bodyPr/>
                    <a:lstStyle/>
                    <a:p>
                      <a:pPr algn="l" fontAlgn="b"/>
                      <a:r>
                        <a:rPr lang="en-IN" sz="1100" b="0" i="0" u="none" strike="noStrike">
                          <a:solidFill>
                            <a:srgbClr val="000000"/>
                          </a:solidFill>
                          <a:effectLst/>
                          <a:latin typeface="Verdana" panose="020B0604030504040204" pitchFamily="34" charset="0"/>
                        </a:rPr>
                        <a:t>VAT</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Value Added Tax</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674987"/>
                  </a:ext>
                </a:extLst>
              </a:tr>
              <a:tr h="253335">
                <a:tc>
                  <a:txBody>
                    <a:bodyPr/>
                    <a:lstStyle/>
                    <a:p>
                      <a:pPr algn="l" fontAlgn="b"/>
                      <a:r>
                        <a:rPr lang="en-IN" sz="1100" b="0" i="0" u="none" strike="noStrike">
                          <a:solidFill>
                            <a:srgbClr val="000000"/>
                          </a:solidFill>
                          <a:effectLst/>
                          <a:latin typeface="Verdana" panose="020B0604030504040204" pitchFamily="34" charset="0"/>
                        </a:rPr>
                        <a:t>WTI</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West Texas Intermediate</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46931988"/>
                  </a:ext>
                </a:extLst>
              </a:tr>
              <a:tr h="253335">
                <a:tc>
                  <a:txBody>
                    <a:bodyPr/>
                    <a:lstStyle/>
                    <a:p>
                      <a:pPr algn="l" fontAlgn="b"/>
                      <a:r>
                        <a:rPr lang="en-IN" sz="1100" b="0" i="0" u="none" strike="noStrike">
                          <a:solidFill>
                            <a:srgbClr val="000000"/>
                          </a:solidFill>
                          <a:effectLst/>
                          <a:latin typeface="Verdana" panose="020B0604030504040204" pitchFamily="34" charset="0"/>
                        </a:rPr>
                        <a:t>WZPDCL</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US" sz="1100" b="0" i="0" u="none" strike="noStrike" dirty="0">
                          <a:solidFill>
                            <a:srgbClr val="000000"/>
                          </a:solidFill>
                          <a:effectLst/>
                          <a:latin typeface="Verdana" panose="020B0604030504040204" pitchFamily="34" charset="0"/>
                        </a:rPr>
                        <a:t>West Zone Power Distribution Company Limited</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08483971"/>
                  </a:ext>
                </a:extLst>
              </a:tr>
            </a:tbl>
          </a:graphicData>
        </a:graphic>
      </p:graphicFrame>
    </p:spTree>
    <p:extLst>
      <p:ext uri="{BB962C8B-B14F-4D97-AF65-F5344CB8AC3E}">
        <p14:creationId xmlns:p14="http://schemas.microsoft.com/office/powerpoint/2010/main" val="2959334566"/>
      </p:ext>
    </p:extLst>
  </p:cSld>
  <p:clrMapOvr>
    <a:masterClrMapping/>
  </p:clrMapOvr>
  <p:transition>
    <p:fade/>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415993413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Conversion Factors</a:t>
            </a:r>
            <a:endParaRPr lang="en-IN" dirty="0"/>
          </a:p>
        </p:txBody>
      </p:sp>
      <p:graphicFrame>
        <p:nvGraphicFramePr>
          <p:cNvPr id="5" name="Table 4"/>
          <p:cNvGraphicFramePr>
            <a:graphicFrameLocks noGrp="1"/>
          </p:cNvGraphicFramePr>
          <p:nvPr>
            <p:extLst>
              <p:ext uri="{D42A27DB-BD31-4B8C-83A1-F6EECF244321}">
                <p14:modId xmlns:p14="http://schemas.microsoft.com/office/powerpoint/2010/main" val="1548973995"/>
              </p:ext>
            </p:extLst>
          </p:nvPr>
        </p:nvGraphicFramePr>
        <p:xfrm>
          <a:off x="449264" y="1338593"/>
          <a:ext cx="9791700" cy="1658151"/>
        </p:xfrm>
        <a:graphic>
          <a:graphicData uri="http://schemas.openxmlformats.org/drawingml/2006/table">
            <a:tbl>
              <a:tblPr firstRow="1" firstCol="1">
                <a:tableStyleId>{FABFCF23-3B69-468F-B69F-88F6DE6A72F2}</a:tableStyleId>
              </a:tblPr>
              <a:tblGrid>
                <a:gridCol w="2877671">
                  <a:extLst>
                    <a:ext uri="{9D8B030D-6E8A-4147-A177-3AD203B41FA5}">
                      <a16:colId xmlns:a16="http://schemas.microsoft.com/office/drawing/2014/main" val="20000"/>
                    </a:ext>
                  </a:extLst>
                </a:gridCol>
                <a:gridCol w="6914029">
                  <a:extLst>
                    <a:ext uri="{9D8B030D-6E8A-4147-A177-3AD203B41FA5}">
                      <a16:colId xmlns:a16="http://schemas.microsoft.com/office/drawing/2014/main" val="20001"/>
                    </a:ext>
                  </a:extLst>
                </a:gridCol>
              </a:tblGrid>
              <a:tr h="391476">
                <a:tc>
                  <a:txBody>
                    <a:bodyPr/>
                    <a:lstStyle/>
                    <a:p>
                      <a:pPr marL="0" marR="0">
                        <a:lnSpc>
                          <a:spcPct val="107000"/>
                        </a:lnSpc>
                        <a:spcBef>
                          <a:spcPts val="0"/>
                        </a:spcBef>
                        <a:spcAft>
                          <a:spcPts val="0"/>
                        </a:spcAft>
                      </a:pPr>
                      <a:r>
                        <a:rPr lang="en-US" sz="1100" dirty="0">
                          <a:solidFill>
                            <a:schemeClr val="tx1"/>
                          </a:solidFill>
                          <a:effectLst/>
                        </a:rPr>
                        <a:t>Particular</a:t>
                      </a:r>
                      <a:endParaRPr lang="en-US" sz="1100" dirty="0">
                        <a:solidFill>
                          <a:schemeClr val="tx1"/>
                        </a:solidFill>
                        <a:effectLst/>
                        <a:latin typeface="+mn-lt"/>
                        <a:ea typeface="Calibri" panose="020F0502020204030204" pitchFamily="34" charset="0"/>
                        <a:cs typeface="Times New Roman" panose="02020603050405020304" pitchFamily="18" charset="0"/>
                      </a:endParaRPr>
                    </a:p>
                  </a:txBody>
                  <a:tcPr marL="0" marR="0" marT="0" marB="0" anchor="ctr">
                    <a:lnL w="12700" cmpd="sng">
                      <a:noFill/>
                    </a:lnL>
                    <a:lnR>
                      <a:noFill/>
                    </a:lnR>
                    <a:lnT w="38100" cap="flat" cmpd="sng" algn="ctr">
                      <a:solidFill>
                        <a:schemeClr val="accent1"/>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nSpc>
                          <a:spcPct val="107000"/>
                        </a:lnSpc>
                        <a:spcBef>
                          <a:spcPts val="0"/>
                        </a:spcBef>
                        <a:spcAft>
                          <a:spcPts val="0"/>
                        </a:spcAft>
                      </a:pPr>
                      <a:r>
                        <a:rPr lang="en-US" sz="1100" dirty="0">
                          <a:solidFill>
                            <a:schemeClr val="tx1"/>
                          </a:solidFill>
                          <a:effectLst/>
                          <a:latin typeface="+mn-lt"/>
                          <a:ea typeface="Calibri" panose="020F0502020204030204" pitchFamily="34" charset="0"/>
                          <a:cs typeface="Times New Roman" panose="02020603050405020304" pitchFamily="18" charset="0"/>
                        </a:rPr>
                        <a:t>Conversion Factor</a:t>
                      </a:r>
                    </a:p>
                  </a:txBody>
                  <a:tcPr marL="0" marR="0" marT="0" marB="0" anchor="ctr">
                    <a:lnL>
                      <a:noFill/>
                    </a:lnL>
                    <a:lnR w="12700" cmpd="sng">
                      <a:noFill/>
                    </a:lnR>
                    <a:lnT w="38100" cap="flat" cmpd="sng" algn="ctr">
                      <a:solidFill>
                        <a:schemeClr val="accent1"/>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253335">
                <a:tc>
                  <a:txBody>
                    <a:bodyPr/>
                    <a:lstStyle/>
                    <a:p>
                      <a:pPr algn="l" fontAlgn="b"/>
                      <a:r>
                        <a:rPr lang="en-IN" sz="1100" b="0" i="0" u="none" strike="noStrike" dirty="0">
                          <a:solidFill>
                            <a:srgbClr val="000000"/>
                          </a:solidFill>
                          <a:effectLst/>
                          <a:latin typeface="Verdana" panose="020B0604030504040204" pitchFamily="34" charset="0"/>
                        </a:rPr>
                        <a:t>1 MTPA</a:t>
                      </a: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1100" b="0" i="0" u="none" strike="noStrike" dirty="0">
                          <a:solidFill>
                            <a:srgbClr val="000000"/>
                          </a:solidFill>
                          <a:effectLst/>
                          <a:latin typeface="Verdana" panose="020B0604030504040204" pitchFamily="34" charset="0"/>
                        </a:rPr>
                        <a:t>3.6 MMSCMD</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253335">
                <a:tc>
                  <a:txBody>
                    <a:bodyPr/>
                    <a:lstStyle/>
                    <a:p>
                      <a:pPr algn="l" fontAlgn="b"/>
                      <a:r>
                        <a:rPr lang="en-US" sz="1100" b="0" i="0" u="none" strike="noStrike" dirty="0">
                          <a:solidFill>
                            <a:srgbClr val="000000"/>
                          </a:solidFill>
                          <a:effectLst/>
                          <a:latin typeface="Verdana" panose="020B0604030504040204" pitchFamily="34" charset="0"/>
                        </a:rPr>
                        <a:t>1</a:t>
                      </a:r>
                      <a:r>
                        <a:rPr lang="en-US" sz="1100" b="0" i="0" u="none" strike="noStrike" baseline="0" dirty="0">
                          <a:solidFill>
                            <a:srgbClr val="000000"/>
                          </a:solidFill>
                          <a:effectLst/>
                          <a:latin typeface="Verdana" panose="020B0604030504040204" pitchFamily="34" charset="0"/>
                        </a:rPr>
                        <a:t> SCM</a:t>
                      </a:r>
                      <a:endParaRPr lang="en-IN" sz="1100" b="0" i="0" u="none" strike="noStrike" dirty="0">
                        <a:solidFill>
                          <a:srgbClr val="000000"/>
                        </a:solidFill>
                        <a:effectLst/>
                        <a:latin typeface="Verdana" panose="020B0604030504040204" pitchFamily="34" charset="0"/>
                      </a:endParaRP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US" sz="1100" b="0" i="0" u="none" strike="noStrike" dirty="0">
                          <a:solidFill>
                            <a:srgbClr val="000000"/>
                          </a:solidFill>
                          <a:effectLst/>
                          <a:latin typeface="Verdana" panose="020B0604030504040204" pitchFamily="34" charset="0"/>
                        </a:rPr>
                        <a:t>35.3 SCF</a:t>
                      </a:r>
                      <a:endParaRPr lang="en-IN" sz="1100" b="0" i="0" u="none" strike="noStrike" dirty="0">
                        <a:solidFill>
                          <a:srgbClr val="000000"/>
                        </a:solidFill>
                        <a:effectLst/>
                        <a:latin typeface="Verdana" panose="020B0604030504040204" pitchFamily="34" charset="0"/>
                      </a:endParaRP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253335">
                <a:tc>
                  <a:txBody>
                    <a:bodyPr/>
                    <a:lstStyle/>
                    <a:p>
                      <a:pPr algn="l" fontAlgn="b"/>
                      <a:r>
                        <a:rPr lang="en-US" sz="1100" b="0" i="0" u="none" strike="noStrike" dirty="0">
                          <a:solidFill>
                            <a:srgbClr val="000000"/>
                          </a:solidFill>
                          <a:effectLst/>
                          <a:latin typeface="Verdana" panose="020B0604030504040204" pitchFamily="34" charset="0"/>
                        </a:rPr>
                        <a:t>1 MVA</a:t>
                      </a:r>
                      <a:endParaRPr lang="en-IN" sz="1100" b="0" i="0" u="none" strike="noStrike" dirty="0">
                        <a:solidFill>
                          <a:srgbClr val="000000"/>
                        </a:solidFill>
                        <a:effectLst/>
                        <a:latin typeface="Verdana" panose="020B0604030504040204" pitchFamily="34" charset="0"/>
                      </a:endParaRP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US" sz="1100" b="0" i="0" u="none" strike="noStrike" dirty="0">
                          <a:solidFill>
                            <a:srgbClr val="000000"/>
                          </a:solidFill>
                          <a:effectLst/>
                          <a:latin typeface="Verdana" panose="020B0604030504040204" pitchFamily="34" charset="0"/>
                        </a:rPr>
                        <a:t>0.85 MW</a:t>
                      </a: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66580609"/>
                  </a:ext>
                </a:extLst>
              </a:tr>
              <a:tr h="253335">
                <a:tc>
                  <a:txBody>
                    <a:bodyPr/>
                    <a:lstStyle/>
                    <a:p>
                      <a:pPr algn="l" fontAlgn="b"/>
                      <a:r>
                        <a:rPr lang="en-US" sz="1100" b="0" i="0" u="none" strike="noStrike" dirty="0">
                          <a:solidFill>
                            <a:srgbClr val="000000"/>
                          </a:solidFill>
                          <a:effectLst/>
                          <a:latin typeface="Verdana" panose="020B0604030504040204" pitchFamily="34" charset="0"/>
                        </a:rPr>
                        <a:t>1 MMBTU</a:t>
                      </a:r>
                      <a:endParaRPr lang="en-IN" sz="1100" b="0" i="0" u="none" strike="noStrike" dirty="0">
                        <a:solidFill>
                          <a:srgbClr val="000000"/>
                        </a:solidFill>
                        <a:effectLst/>
                        <a:latin typeface="Verdana" panose="020B0604030504040204" pitchFamily="34" charset="0"/>
                      </a:endParaRP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US" sz="1100" b="0" i="0" u="none" strike="noStrike" dirty="0">
                          <a:solidFill>
                            <a:srgbClr val="000000"/>
                          </a:solidFill>
                          <a:effectLst/>
                          <a:latin typeface="Verdana" panose="020B0604030504040204" pitchFamily="34" charset="0"/>
                        </a:rPr>
                        <a:t>25.2 SCM</a:t>
                      </a:r>
                      <a:endParaRPr lang="en-IN" sz="1100" b="0" i="0" u="none" strike="noStrike" dirty="0">
                        <a:solidFill>
                          <a:srgbClr val="000000"/>
                        </a:solidFill>
                        <a:effectLst/>
                        <a:latin typeface="Verdana" panose="020B0604030504040204" pitchFamily="34" charset="0"/>
                      </a:endParaRP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5"/>
                  </a:ext>
                </a:extLst>
              </a:tr>
              <a:tr h="253335">
                <a:tc>
                  <a:txBody>
                    <a:bodyPr/>
                    <a:lstStyle/>
                    <a:p>
                      <a:pPr algn="l" fontAlgn="b"/>
                      <a:r>
                        <a:rPr lang="en-US" sz="1100" b="0" i="0" u="none" strike="noStrike" dirty="0">
                          <a:solidFill>
                            <a:srgbClr val="000000"/>
                          </a:solidFill>
                          <a:effectLst/>
                          <a:latin typeface="Verdana" panose="020B0604030504040204" pitchFamily="34" charset="0"/>
                        </a:rPr>
                        <a:t>Efficiency of Power Plant</a:t>
                      </a:r>
                      <a:endParaRPr lang="en-IN" sz="1100" b="0" i="0" u="none" strike="noStrike" dirty="0">
                        <a:solidFill>
                          <a:srgbClr val="000000"/>
                        </a:solidFill>
                        <a:effectLst/>
                        <a:latin typeface="Verdana" panose="020B0604030504040204" pitchFamily="34" charset="0"/>
                      </a:endParaRPr>
                    </a:p>
                  </a:txBody>
                  <a:tcPr marL="7620" marR="7620" marT="7620" marB="0" anchor="ctr">
                    <a:lnL w="12700" cmpd="sng">
                      <a:noFill/>
                    </a:lnL>
                    <a:lnR>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US" sz="1100" b="0" i="0" u="none" strike="noStrike" dirty="0">
                          <a:solidFill>
                            <a:srgbClr val="000000"/>
                          </a:solidFill>
                          <a:effectLst/>
                          <a:latin typeface="Verdana" panose="020B0604030504040204" pitchFamily="34" charset="0"/>
                        </a:rPr>
                        <a:t>860 / Station Heat Rate</a:t>
                      </a:r>
                      <a:endParaRPr lang="en-IN" sz="1100" b="0" i="0" u="none" strike="noStrike" dirty="0">
                        <a:solidFill>
                          <a:srgbClr val="000000"/>
                        </a:solidFill>
                        <a:effectLst/>
                        <a:latin typeface="Verdana" panose="020B0604030504040204" pitchFamily="34" charset="0"/>
                      </a:endParaRPr>
                    </a:p>
                  </a:txBody>
                  <a:tcPr marL="7620" marR="7620" marT="7620" marB="0" anchor="ctr">
                    <a:lnL>
                      <a:noFill/>
                    </a:lnL>
                    <a:lnR w="12700" cmpd="sng">
                      <a:noFill/>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83751536"/>
                  </a:ext>
                </a:extLst>
              </a:tr>
            </a:tbl>
          </a:graphicData>
        </a:graphic>
      </p:graphicFrame>
    </p:spTree>
    <p:extLst>
      <p:ext uri="{BB962C8B-B14F-4D97-AF65-F5344CB8AC3E}">
        <p14:creationId xmlns:p14="http://schemas.microsoft.com/office/powerpoint/2010/main" val="265311125"/>
      </p:ext>
    </p:extLst>
  </p:cSld>
  <p:clrMapOvr>
    <a:masterClrMapping/>
  </p:clrMapOvr>
  <p:transition>
    <p:fade/>
  </p:transition>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371555233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3898" b="1" i="0" u="none" strike="noStrike" kern="1200" cap="none" spc="0" normalizeH="0" baseline="0" noProof="0" dirty="0">
              <a:ln>
                <a:noFill/>
              </a:ln>
              <a:solidFill>
                <a:prstClr val="white"/>
              </a:solidFill>
              <a:effectLst/>
              <a:uLnTx/>
              <a:uFillTx/>
              <a:latin typeface="Verdana" panose="020B0604030504040204" pitchFamily="34" charset="0"/>
              <a:ea typeface="Open Sans" panose="020B0606030504020204" pitchFamily="34" charset="0"/>
              <a:cs typeface="Open Sans" panose="020B0606030504020204" pitchFamily="34" charset="0"/>
              <a:sym typeface="Verdana" panose="020B0604030504040204" pitchFamily="34" charset="0"/>
            </a:endParaRPr>
          </a:p>
        </p:txBody>
      </p:sp>
      <p:sp>
        <p:nvSpPr>
          <p:cNvPr id="2" name="Title 1"/>
          <p:cNvSpPr>
            <a:spLocks noGrp="1"/>
          </p:cNvSpPr>
          <p:nvPr>
            <p:ph type="title"/>
          </p:nvPr>
        </p:nvSpPr>
        <p:spPr/>
        <p:txBody>
          <a:bodyPr/>
          <a:lstStyle/>
          <a:p>
            <a:r>
              <a:rPr lang="en-US" dirty="0"/>
              <a:t>Summary</a:t>
            </a:r>
            <a:endParaRPr lang="en-IN" dirty="0"/>
          </a:p>
        </p:txBody>
      </p:sp>
    </p:spTree>
    <p:extLst>
      <p:ext uri="{BB962C8B-B14F-4D97-AF65-F5344CB8AC3E}">
        <p14:creationId xmlns:p14="http://schemas.microsoft.com/office/powerpoint/2010/main" val="3722634974"/>
      </p:ext>
    </p:extLst>
  </p:cSld>
  <p:clrMapOvr>
    <a:masterClrMapping/>
  </p:clrMapOvr>
  <p:transition>
    <p:fade/>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30" imgH="531" progId="TCLayout.ActiveDocument.1">
                  <p:embed/>
                </p:oleObj>
              </mc:Choice>
              <mc:Fallback>
                <p:oleObj name="think-cell Slide" r:id="rId3" imgW="530" imgH="531" progId="TCLayout.ActiveDocument.1">
                  <p:embed/>
                  <p:pic>
                    <p:nvPicPr>
                      <p:cNvPr id="3" name="Object 2" hidden="1"/>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4" name="Title 1"/>
          <p:cNvSpPr>
            <a:spLocks noGrp="1"/>
          </p:cNvSpPr>
          <p:nvPr>
            <p:ph type="title"/>
          </p:nvPr>
        </p:nvSpPr>
        <p:spPr>
          <a:xfrm>
            <a:off x="442913" y="654050"/>
            <a:ext cx="9791700" cy="431800"/>
          </a:xfrm>
        </p:spPr>
        <p:txBody>
          <a:bodyPr/>
          <a:lstStyle/>
          <a:p>
            <a:r>
              <a:rPr lang="en-US" dirty="0"/>
              <a:t>Power Market | Supply Requirement to Meet Average Demand (Summary)</a:t>
            </a:r>
            <a:endParaRPr lang="en-IN" dirty="0"/>
          </a:p>
        </p:txBody>
      </p:sp>
      <p:sp>
        <p:nvSpPr>
          <p:cNvPr id="5" name="Strapline"/>
          <p:cNvSpPr txBox="1">
            <a:spLocks/>
          </p:cNvSpPr>
          <p:nvPr/>
        </p:nvSpPr>
        <p:spPr>
          <a:xfrm>
            <a:off x="442912" y="1085850"/>
            <a:ext cx="9793288" cy="519113"/>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Bangladesh may require ~11,500 MW of newer capacity addition by FY26 and additional ~7,800 MW between FY27 and FY30 to meet the rising demand</a:t>
            </a:r>
          </a:p>
        </p:txBody>
      </p:sp>
      <p:sp>
        <p:nvSpPr>
          <p:cNvPr id="6" name="Rectangle 5"/>
          <p:cNvSpPr/>
          <p:nvPr/>
        </p:nvSpPr>
        <p:spPr>
          <a:xfrm>
            <a:off x="365897" y="6355219"/>
            <a:ext cx="9704939" cy="757708"/>
          </a:xfrm>
          <a:prstGeom prst="rect">
            <a:avLst/>
          </a:prstGeom>
        </p:spPr>
        <p:txBody>
          <a:bodyPr wrap="square">
            <a:spAutoFit/>
          </a:bodyPr>
          <a:lstStyle/>
          <a:p>
            <a:pPr marL="0" marR="0" lvl="0" indent="0" algn="ctr" defTabSz="914400" rtl="0" eaLnBrk="1" fontAlgn="auto" latinLnBrk="0" hangingPunct="1">
              <a:lnSpc>
                <a:spcPct val="106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0097A9"/>
                </a:solidFill>
                <a:effectLst/>
                <a:uLnTx/>
                <a:uFillTx/>
                <a:latin typeface="Verdana"/>
                <a:ea typeface="+mn-ea"/>
                <a:cs typeface="+mn-cs"/>
              </a:rPr>
              <a:t>With the current planned capacity in pipeline, there is a potential for ~3,000 MW and ~4,100 MW of incremental capacity addition from non-liquid based plants by FY26 and FY30 respectively</a:t>
            </a:r>
          </a:p>
        </p:txBody>
      </p:sp>
      <p:sp>
        <p:nvSpPr>
          <p:cNvPr id="7" name="Rectangle 6"/>
          <p:cNvSpPr/>
          <p:nvPr/>
        </p:nvSpPr>
        <p:spPr bwMode="gray">
          <a:xfrm>
            <a:off x="368001" y="7254331"/>
            <a:ext cx="9941523" cy="298935"/>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levels of each power plant in Bangladesh 2) For plants not covered under PSMP, an average PPA duration for 22 years has been considered for Non-Rental Plants (and an extension of 5 years for some cases beyond 22 years) and (5+5) years for Rental / Quick Rental Plants. 3) Replacement of Liquid / Rental plants has been considered as their current average tariff ranges from Tk 9 / unit – Tk 28+ / unit whereas Gas / LNG / Nuclear / Imported Coal based plants are expected to have per unit tariff at less than TK 9 / unit based on estimates </a:t>
            </a:r>
          </a:p>
        </p:txBody>
      </p:sp>
      <p:sp>
        <p:nvSpPr>
          <p:cNvPr id="8" name="Rectangle 7"/>
          <p:cNvSpPr/>
          <p:nvPr/>
        </p:nvSpPr>
        <p:spPr bwMode="gray">
          <a:xfrm>
            <a:off x="2848876" y="7096165"/>
            <a:ext cx="7221960" cy="198857"/>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PSMP 2016, Deloitte Analysis Note: 1) Plant Retirement Based on PSMP 2016 projections as well as estimations based on COD / dispatch</a:t>
            </a:r>
          </a:p>
        </p:txBody>
      </p:sp>
      <p:graphicFrame>
        <p:nvGraphicFramePr>
          <p:cNvPr id="9" name="Table 8"/>
          <p:cNvGraphicFramePr>
            <a:graphicFrameLocks noGrp="1"/>
          </p:cNvGraphicFramePr>
          <p:nvPr/>
        </p:nvGraphicFramePr>
        <p:xfrm>
          <a:off x="442913" y="1968500"/>
          <a:ext cx="9704938" cy="4328160"/>
        </p:xfrm>
        <a:graphic>
          <a:graphicData uri="http://schemas.openxmlformats.org/drawingml/2006/table">
            <a:tbl>
              <a:tblPr firstRow="1" bandRow="1">
                <a:tableStyleId>{3B4B98B0-60AC-42C2-AFA5-B58CD77FA1E5}</a:tableStyleId>
              </a:tblPr>
              <a:tblGrid>
                <a:gridCol w="605502">
                  <a:extLst>
                    <a:ext uri="{9D8B030D-6E8A-4147-A177-3AD203B41FA5}">
                      <a16:colId xmlns:a16="http://schemas.microsoft.com/office/drawing/2014/main" val="4207744418"/>
                    </a:ext>
                  </a:extLst>
                </a:gridCol>
                <a:gridCol w="1442682">
                  <a:extLst>
                    <a:ext uri="{9D8B030D-6E8A-4147-A177-3AD203B41FA5}">
                      <a16:colId xmlns:a16="http://schemas.microsoft.com/office/drawing/2014/main" val="546554287"/>
                    </a:ext>
                  </a:extLst>
                </a:gridCol>
                <a:gridCol w="4919150">
                  <a:extLst>
                    <a:ext uri="{9D8B030D-6E8A-4147-A177-3AD203B41FA5}">
                      <a16:colId xmlns:a16="http://schemas.microsoft.com/office/drawing/2014/main" val="2546321411"/>
                    </a:ext>
                  </a:extLst>
                </a:gridCol>
                <a:gridCol w="2053819">
                  <a:extLst>
                    <a:ext uri="{9D8B030D-6E8A-4147-A177-3AD203B41FA5}">
                      <a16:colId xmlns:a16="http://schemas.microsoft.com/office/drawing/2014/main" val="187755370"/>
                    </a:ext>
                  </a:extLst>
                </a:gridCol>
                <a:gridCol w="683785">
                  <a:extLst>
                    <a:ext uri="{9D8B030D-6E8A-4147-A177-3AD203B41FA5}">
                      <a16:colId xmlns:a16="http://schemas.microsoft.com/office/drawing/2014/main" val="1794598962"/>
                    </a:ext>
                  </a:extLst>
                </a:gridCol>
              </a:tblGrid>
              <a:tr h="351553">
                <a:tc>
                  <a:txBody>
                    <a:bodyPr/>
                    <a:lstStyle/>
                    <a:p>
                      <a:r>
                        <a:rPr lang="en-US" sz="1000" dirty="0"/>
                        <a:t>Sr. No</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Parameter</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Details</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Output</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Ref Slides</a:t>
                      </a:r>
                      <a:endParaRPr lang="en-IN" sz="1000" b="0" dirty="0"/>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34780871"/>
                  </a:ext>
                </a:extLst>
              </a:tr>
              <a:tr h="1098003">
                <a:tc>
                  <a:txBody>
                    <a:bodyPr/>
                    <a:lstStyle/>
                    <a:p>
                      <a:r>
                        <a:rPr lang="en-US" sz="1000" dirty="0"/>
                        <a:t>1</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ct val="100000"/>
                        </a:lnSpc>
                        <a:spcBef>
                          <a:spcPts val="0"/>
                        </a:spcBef>
                        <a:spcAft>
                          <a:spcPts val="0"/>
                        </a:spcAft>
                      </a:pPr>
                      <a:r>
                        <a:rPr lang="en-US" sz="1000" dirty="0"/>
                        <a:t>Average</a:t>
                      </a:r>
                      <a:r>
                        <a:rPr lang="en-US" sz="1000" baseline="0" dirty="0"/>
                        <a:t> Demand Projection &amp; Supply Requirement</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baseline="0" dirty="0"/>
                        <a:t>The power demand projection has been considered based on PSMP 2016 projections with base correction for GDP Elasticity, demand growth in FY19, estimated EE&amp;C measures in Bangladesh as well as impact of Covid-19</a:t>
                      </a:r>
                    </a:p>
                    <a:p>
                      <a:pPr marL="171450" indent="-171450" algn="just">
                        <a:lnSpc>
                          <a:spcPct val="100000"/>
                        </a:lnSpc>
                        <a:spcBef>
                          <a:spcPts val="0"/>
                        </a:spcBef>
                        <a:spcAft>
                          <a:spcPts val="0"/>
                        </a:spcAft>
                        <a:buFont typeface="Arial" panose="020B0604020202020204" pitchFamily="34" charset="0"/>
                        <a:buChar char="•"/>
                      </a:pPr>
                      <a:r>
                        <a:rPr lang="en-US" sz="1000" baseline="0" dirty="0"/>
                        <a:t>The power supply requirement to meet the demand has been estimated based on average gross dispatch levels of 80%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sz="1000" dirty="0"/>
                        <a:t>Average Demand (Base</a:t>
                      </a:r>
                      <a:r>
                        <a:rPr lang="en-US" sz="1000" baseline="0" dirty="0"/>
                        <a:t> Case)</a:t>
                      </a:r>
                      <a:endParaRPr lang="en-US" sz="1000" dirty="0"/>
                    </a:p>
                    <a:p>
                      <a:pPr marL="171450" indent="-171450">
                        <a:buFont typeface="Arial" panose="020B0604020202020204" pitchFamily="34" charset="0"/>
                        <a:buChar char="•"/>
                      </a:pPr>
                      <a:r>
                        <a:rPr lang="en-US" sz="1000" dirty="0"/>
                        <a:t>FY 20: 15,673 MW </a:t>
                      </a:r>
                      <a:endParaRPr lang="en-US" sz="1000" baseline="0" dirty="0"/>
                    </a:p>
                    <a:p>
                      <a:pPr marL="0" indent="0">
                        <a:buFont typeface="Arial" panose="020B0604020202020204" pitchFamily="34" charset="0"/>
                        <a:buNone/>
                      </a:pPr>
                      <a:r>
                        <a:rPr lang="en-US" sz="1000" baseline="0" dirty="0"/>
                        <a:t>FY 30: 21,561 MW</a:t>
                      </a:r>
                      <a:br>
                        <a:rPr lang="en-US" sz="1000" baseline="0" dirty="0"/>
                      </a:br>
                      <a:r>
                        <a:rPr lang="en-US" sz="1000" baseline="0" dirty="0"/>
                        <a:t>Supply Requirement</a:t>
                      </a:r>
                    </a:p>
                    <a:p>
                      <a:pPr marL="171450" indent="-171450">
                        <a:buFont typeface="Arial" panose="020B0604020202020204" pitchFamily="34" charset="0"/>
                        <a:buChar char="•"/>
                      </a:pPr>
                      <a:r>
                        <a:rPr lang="en-US" sz="1000" baseline="0" dirty="0"/>
                        <a:t>FY 26: 19,951 MW</a:t>
                      </a:r>
                    </a:p>
                    <a:p>
                      <a:pPr marL="171450" indent="-171450">
                        <a:buFont typeface="Arial" panose="020B0604020202020204" pitchFamily="34" charset="0"/>
                        <a:buChar char="•"/>
                      </a:pPr>
                      <a:r>
                        <a:rPr lang="en-US" sz="1000" baseline="0" dirty="0"/>
                        <a:t>FY 30: 26,951 MW</a:t>
                      </a:r>
                      <a:endParaRPr lang="en-US" sz="1000" b="0" baseline="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2">
                  <a:txBody>
                    <a:bodyPr/>
                    <a:lstStyle/>
                    <a:p>
                      <a:r>
                        <a:rPr lang="en-US" sz="1000" b="0" dirty="0"/>
                        <a:t>45-55</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9456584"/>
                  </a:ext>
                </a:extLst>
              </a:tr>
              <a:tr h="1194319">
                <a:tc>
                  <a:txBody>
                    <a:bodyPr/>
                    <a:lstStyle/>
                    <a:p>
                      <a:r>
                        <a:rPr lang="en-US" sz="1000" dirty="0"/>
                        <a:t>2</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ct val="100000"/>
                        </a:lnSpc>
                        <a:spcBef>
                          <a:spcPts val="0"/>
                        </a:spcBef>
                        <a:spcAft>
                          <a:spcPts val="0"/>
                        </a:spcAft>
                      </a:pPr>
                      <a:r>
                        <a:rPr lang="en-US" sz="1000" dirty="0"/>
                        <a:t>Current Supply &amp; Requirement of Additional Capacity</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just">
                        <a:lnSpc>
                          <a:spcPct val="100000"/>
                        </a:lnSpc>
                        <a:spcBef>
                          <a:spcPts val="0"/>
                        </a:spcBef>
                        <a:spcAft>
                          <a:spcPts val="0"/>
                        </a:spcAft>
                        <a:buFont typeface="Arial" panose="020B0604020202020204" pitchFamily="34" charset="0"/>
                        <a:buNone/>
                      </a:pPr>
                      <a:r>
                        <a:rPr lang="en-US" sz="1000" baseline="0" dirty="0"/>
                        <a:t>The current supply portfolio in Bangladesh consists of 18,961 MW with major contribution of natural gas (~57%) and HFO/HSD based plants (~32%)</a:t>
                      </a:r>
                    </a:p>
                    <a:p>
                      <a:pPr marL="0" marR="0" lvl="0" indent="0" algn="just" defTabSz="990571"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000" baseline="0" dirty="0"/>
                        <a:t>To meet the average power demand, we have projected the supply capacity requirement considering the following: </a:t>
                      </a:r>
                    </a:p>
                    <a:p>
                      <a:pPr marL="666736" lvl="1" indent="-171450" algn="just">
                        <a:lnSpc>
                          <a:spcPct val="100000"/>
                        </a:lnSpc>
                        <a:spcBef>
                          <a:spcPts val="0"/>
                        </a:spcBef>
                        <a:spcAft>
                          <a:spcPts val="0"/>
                        </a:spcAft>
                        <a:buFont typeface="Arial" panose="020B0604020202020204" pitchFamily="34" charset="0"/>
                        <a:buChar char="•"/>
                      </a:pPr>
                      <a:r>
                        <a:rPr lang="en-US" sz="1000" baseline="0" dirty="0"/>
                        <a:t>Expected Retirement: ~6,000 MW by FY30</a:t>
                      </a:r>
                    </a:p>
                    <a:p>
                      <a:pPr marL="666736" lvl="1" indent="-171450" algn="just">
                        <a:lnSpc>
                          <a:spcPct val="100000"/>
                        </a:lnSpc>
                        <a:spcBef>
                          <a:spcPts val="0"/>
                        </a:spcBef>
                        <a:spcAft>
                          <a:spcPts val="0"/>
                        </a:spcAft>
                        <a:buFont typeface="Arial" panose="020B0604020202020204" pitchFamily="34" charset="0"/>
                        <a:buChar char="•"/>
                      </a:pPr>
                      <a:r>
                        <a:rPr lang="en-US" sz="1000" baseline="0" dirty="0"/>
                        <a:t>Replacement of Rental &amp; Liquid Based Plants from economic perspective: ~4,800 MW</a:t>
                      </a:r>
                    </a:p>
                    <a:p>
                      <a:pPr marL="666736" lvl="1" indent="-171450" algn="just">
                        <a:lnSpc>
                          <a:spcPct val="100000"/>
                        </a:lnSpc>
                        <a:spcBef>
                          <a:spcPts val="0"/>
                        </a:spcBef>
                        <a:spcAft>
                          <a:spcPts val="0"/>
                        </a:spcAft>
                        <a:buFont typeface="Arial" panose="020B0604020202020204" pitchFamily="34" charset="0"/>
                        <a:buChar char="•"/>
                      </a:pPr>
                      <a:r>
                        <a:rPr lang="en-US" sz="1000" baseline="0" dirty="0"/>
                        <a:t>Replacement of inefficient gas based capacity : ~670 MW</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buFont typeface="Arial" panose="020B0604020202020204" pitchFamily="34" charset="0"/>
                        <a:buNone/>
                      </a:pPr>
                      <a:r>
                        <a:rPr lang="en-US" sz="1000" dirty="0"/>
                        <a:t>Considering retirements</a:t>
                      </a:r>
                      <a:r>
                        <a:rPr lang="en-US" sz="1000" baseline="0" dirty="0"/>
                        <a:t> and r</a:t>
                      </a:r>
                      <a:r>
                        <a:rPr lang="en-US" sz="1000" dirty="0"/>
                        <a:t>eplacements, the additional capacity</a:t>
                      </a:r>
                      <a:r>
                        <a:rPr lang="en-US" sz="1000" baseline="0" dirty="0"/>
                        <a:t> required :</a:t>
                      </a:r>
                    </a:p>
                    <a:p>
                      <a:pPr marL="0" indent="0">
                        <a:buFont typeface="Arial" panose="020B0604020202020204" pitchFamily="34" charset="0"/>
                        <a:buNone/>
                      </a:pPr>
                      <a:endParaRPr lang="en-US" sz="1000" baseline="0" dirty="0"/>
                    </a:p>
                    <a:p>
                      <a:pPr marL="171450" indent="-171450">
                        <a:buFont typeface="Arial" panose="020B0604020202020204" pitchFamily="34" charset="0"/>
                        <a:buChar char="•"/>
                      </a:pPr>
                      <a:r>
                        <a:rPr lang="en-US" sz="1000" baseline="0" dirty="0"/>
                        <a:t>FY 26: ~11,500 MW</a:t>
                      </a:r>
                    </a:p>
                    <a:p>
                      <a:pPr marL="171450" indent="-171450">
                        <a:buFont typeface="Arial" panose="020B0604020202020204" pitchFamily="34" charset="0"/>
                        <a:buChar char="•"/>
                      </a:pPr>
                      <a:endParaRPr lang="en-US" sz="1000" baseline="0" dirty="0"/>
                    </a:p>
                    <a:p>
                      <a:pPr marL="171450" indent="-171450">
                        <a:buFont typeface="Arial" panose="020B0604020202020204" pitchFamily="34" charset="0"/>
                        <a:buChar char="•"/>
                      </a:pPr>
                      <a:r>
                        <a:rPr lang="en-US" sz="1000" baseline="0" dirty="0"/>
                        <a:t>FY 30: ~7,828 MW</a:t>
                      </a:r>
                      <a:endParaRPr lang="en-US" sz="1000" b="0" baseline="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75894750"/>
                  </a:ext>
                </a:extLst>
              </a:tr>
              <a:tr h="929450">
                <a:tc>
                  <a:txBody>
                    <a:bodyPr/>
                    <a:lstStyle/>
                    <a:p>
                      <a:r>
                        <a:rPr lang="en-US" sz="1000" dirty="0"/>
                        <a:t>3</a:t>
                      </a:r>
                      <a:endParaRPr lang="en-IN" sz="1000" b="0" dirty="0"/>
                    </a:p>
                  </a:txBody>
                  <a:tcPr anchor="ctr">
                    <a:lnT w="12700" cap="flat" cmpd="sng" algn="ctr">
                      <a:solidFill>
                        <a:schemeClr val="tx1"/>
                      </a:solidFill>
                      <a:prstDash val="solid"/>
                      <a:round/>
                      <a:headEnd type="none" w="med" len="med"/>
                      <a:tailEnd type="none" w="med" len="med"/>
                    </a:lnT>
                  </a:tcPr>
                </a:tc>
                <a:tc>
                  <a:txBody>
                    <a:bodyPr/>
                    <a:lstStyle/>
                    <a:p>
                      <a:pPr>
                        <a:lnSpc>
                          <a:spcPct val="100000"/>
                        </a:lnSpc>
                        <a:spcBef>
                          <a:spcPts val="0"/>
                        </a:spcBef>
                        <a:spcAft>
                          <a:spcPts val="0"/>
                        </a:spcAft>
                      </a:pPr>
                      <a:r>
                        <a:rPr lang="en-US" sz="1000" dirty="0"/>
                        <a:t>Planned Capacity</a:t>
                      </a:r>
                      <a:r>
                        <a:rPr lang="en-US" sz="1000" baseline="0" dirty="0"/>
                        <a:t> Addition &amp; Requirement of Incremental Addition to Capacity</a:t>
                      </a:r>
                      <a:endParaRPr lang="en-IN" sz="1000" b="0" dirty="0"/>
                    </a:p>
                  </a:txBody>
                  <a:tcPr anchor="ctr">
                    <a:lnT w="12700" cap="flat" cmpd="sng" algn="ctr">
                      <a:solidFill>
                        <a:schemeClr val="tx1"/>
                      </a:solidFill>
                      <a:prstDash val="solid"/>
                      <a:round/>
                      <a:headEnd type="none" w="med" len="med"/>
                      <a:tailEnd type="none" w="med" len="med"/>
                    </a:lnT>
                  </a:tcPr>
                </a:tc>
                <a:tc>
                  <a:txBody>
                    <a:bodyPr/>
                    <a:lstStyle/>
                    <a:p>
                      <a:pPr marL="0" marR="0" lvl="0" indent="0" algn="just" defTabSz="990571"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000" baseline="0" dirty="0"/>
                        <a:t>As per our estimates, Bangladesh may add the following non-liquid based capacity from the planned projects being tracked in the country :</a:t>
                      </a:r>
                    </a:p>
                    <a:p>
                      <a:pPr marL="171450" marR="0" lvl="0" indent="-171450" algn="just" defTabSz="99057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00" baseline="0" dirty="0"/>
                        <a:t>FY 26: ~8,500 MW</a:t>
                      </a:r>
                    </a:p>
                    <a:p>
                      <a:pPr marL="171450" marR="0" lvl="0" indent="-171450" algn="just" defTabSz="99057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00" baseline="0" dirty="0"/>
                        <a:t>Between FY27 and FY30 : ~3,720 MW (includes 2,400 MW of Nuclear based power capacity)</a:t>
                      </a:r>
                    </a:p>
                    <a:p>
                      <a:pPr marL="0" marR="0" lvl="0" indent="0" algn="just" defTabSz="990571"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000" b="0" baseline="0" dirty="0">
                          <a:solidFill>
                            <a:schemeClr val="tx1"/>
                          </a:solidFill>
                        </a:rPr>
                        <a:t>However, Bangladesh may further require additional incremental capacity of  </a:t>
                      </a:r>
                      <a:r>
                        <a:rPr lang="en-US" sz="1000" b="1" baseline="0" dirty="0">
                          <a:solidFill>
                            <a:schemeClr val="tx1"/>
                          </a:solidFill>
                        </a:rPr>
                        <a:t>~3,000 MW by FY26 and ~4,100 MW between FY27 and FY30 </a:t>
                      </a:r>
                      <a:r>
                        <a:rPr lang="en-US" sz="1000" b="0" baseline="0" dirty="0">
                          <a:solidFill>
                            <a:schemeClr val="tx1"/>
                          </a:solidFill>
                        </a:rPr>
                        <a:t>to meet the average power demand</a:t>
                      </a:r>
                    </a:p>
                  </a:txBody>
                  <a:tcPr anchor="ctr">
                    <a:lnT w="12700" cap="flat" cmpd="sng" algn="ctr">
                      <a:solidFill>
                        <a:schemeClr val="tx1"/>
                      </a:solidFill>
                      <a:prstDash val="solid"/>
                      <a:round/>
                      <a:headEnd type="none" w="med" len="med"/>
                      <a:tailEnd type="none" w="med" len="med"/>
                    </a:lnT>
                  </a:tcPr>
                </a:tc>
                <a:tc>
                  <a:txBody>
                    <a:bodyPr/>
                    <a:lstStyle/>
                    <a:p>
                      <a:pPr marL="0" indent="0">
                        <a:lnSpc>
                          <a:spcPct val="100000"/>
                        </a:lnSpc>
                        <a:spcBef>
                          <a:spcPts val="0"/>
                        </a:spcBef>
                        <a:spcAft>
                          <a:spcPts val="0"/>
                        </a:spcAft>
                        <a:buFont typeface="Arial" panose="020B0604020202020204" pitchFamily="34" charset="0"/>
                        <a:buNone/>
                      </a:pPr>
                      <a:r>
                        <a:rPr lang="en-US" sz="1000" baseline="0" dirty="0"/>
                        <a:t>The incremental non liquid based capacity (beyond planned) required:</a:t>
                      </a:r>
                    </a:p>
                    <a:p>
                      <a:pPr marL="0" indent="0">
                        <a:lnSpc>
                          <a:spcPct val="100000"/>
                        </a:lnSpc>
                        <a:spcBef>
                          <a:spcPts val="0"/>
                        </a:spcBef>
                        <a:spcAft>
                          <a:spcPts val="0"/>
                        </a:spcAft>
                        <a:buFont typeface="Arial" panose="020B0604020202020204" pitchFamily="34" charset="0"/>
                        <a:buNone/>
                      </a:pPr>
                      <a:endParaRPr lang="en-US" sz="1000" baseline="0" dirty="0"/>
                    </a:p>
                    <a:p>
                      <a:pPr marL="171450" indent="-171450">
                        <a:lnSpc>
                          <a:spcPct val="100000"/>
                        </a:lnSpc>
                        <a:spcBef>
                          <a:spcPts val="0"/>
                        </a:spcBef>
                        <a:spcAft>
                          <a:spcPts val="0"/>
                        </a:spcAft>
                        <a:buFont typeface="Arial" panose="020B0604020202020204" pitchFamily="34" charset="0"/>
                        <a:buChar char="•"/>
                      </a:pPr>
                      <a:r>
                        <a:rPr lang="en-US" sz="1000" baseline="0" dirty="0"/>
                        <a:t>FY 26: ~3,000 MW</a:t>
                      </a:r>
                    </a:p>
                    <a:p>
                      <a:pPr marL="0" indent="0">
                        <a:lnSpc>
                          <a:spcPct val="100000"/>
                        </a:lnSpc>
                        <a:spcBef>
                          <a:spcPts val="0"/>
                        </a:spcBef>
                        <a:spcAft>
                          <a:spcPts val="0"/>
                        </a:spcAft>
                        <a:buFont typeface="Arial" panose="020B0604020202020204" pitchFamily="34" charset="0"/>
                        <a:buNone/>
                      </a:pPr>
                      <a:endParaRPr lang="en-US" sz="1000" baseline="0" dirty="0"/>
                    </a:p>
                    <a:p>
                      <a:pPr marL="171450" indent="-171450">
                        <a:lnSpc>
                          <a:spcPct val="100000"/>
                        </a:lnSpc>
                        <a:spcBef>
                          <a:spcPts val="0"/>
                        </a:spcBef>
                        <a:spcAft>
                          <a:spcPts val="0"/>
                        </a:spcAft>
                        <a:buFont typeface="Arial" panose="020B0604020202020204" pitchFamily="34" charset="0"/>
                        <a:buChar char="•"/>
                      </a:pPr>
                      <a:r>
                        <a:rPr lang="en-US" sz="1000" baseline="0" dirty="0"/>
                        <a:t>FY 30: ~4,108 MW</a:t>
                      </a:r>
                      <a:endParaRPr lang="en-US" sz="1000" b="0" baseline="0" dirty="0"/>
                    </a:p>
                  </a:txBody>
                  <a:tcPr anchor="ctr">
                    <a:lnT w="12700" cap="flat" cmpd="sng" algn="ctr">
                      <a:solidFill>
                        <a:schemeClr val="tx1"/>
                      </a:solidFill>
                      <a:prstDash val="solid"/>
                      <a:round/>
                      <a:headEnd type="none" w="med" len="med"/>
                      <a:tailEnd type="none" w="med" len="med"/>
                    </a:lnT>
                  </a:tcPr>
                </a:tc>
                <a:tc>
                  <a:txBody>
                    <a:bodyPr/>
                    <a:lstStyle/>
                    <a:p>
                      <a:r>
                        <a:rPr lang="en-US" sz="1000" b="0" dirty="0"/>
                        <a:t>54-67</a:t>
                      </a:r>
                      <a:endParaRPr lang="en-IN" sz="1000" b="0" dirty="0"/>
                    </a:p>
                  </a:txBody>
                  <a:tcPr anchor="ctr">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3259629738"/>
                  </a:ext>
                </a:extLst>
              </a:tr>
            </a:tbl>
          </a:graphicData>
        </a:graphic>
      </p:graphicFrame>
    </p:spTree>
    <p:extLst>
      <p:ext uri="{BB962C8B-B14F-4D97-AF65-F5344CB8AC3E}">
        <p14:creationId xmlns:p14="http://schemas.microsoft.com/office/powerpoint/2010/main" val="956109538"/>
      </p:ext>
    </p:extLst>
  </p:cSld>
  <p:clrMapOvr>
    <a:masterClrMapping/>
  </p:clrMapOvr>
  <p:transition>
    <p:fade/>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3" name="Object 2"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4" name="Title 1"/>
          <p:cNvSpPr>
            <a:spLocks noGrp="1"/>
          </p:cNvSpPr>
          <p:nvPr>
            <p:ph type="title"/>
          </p:nvPr>
        </p:nvSpPr>
        <p:spPr>
          <a:xfrm>
            <a:off x="442913" y="654050"/>
            <a:ext cx="9791700" cy="431800"/>
          </a:xfrm>
        </p:spPr>
        <p:txBody>
          <a:bodyPr/>
          <a:lstStyle/>
          <a:p>
            <a:r>
              <a:rPr lang="en-US" dirty="0"/>
              <a:t>Gas Allocation &amp; Tariff Hikes for Power Sector | Summary</a:t>
            </a:r>
            <a:endParaRPr lang="en-IN" dirty="0"/>
          </a:p>
        </p:txBody>
      </p:sp>
      <p:sp>
        <p:nvSpPr>
          <p:cNvPr id="5" name="Strapline"/>
          <p:cNvSpPr txBox="1">
            <a:spLocks/>
          </p:cNvSpPr>
          <p:nvPr/>
        </p:nvSpPr>
        <p:spPr>
          <a:xfrm>
            <a:off x="442912" y="1085850"/>
            <a:ext cx="9793288" cy="519113"/>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Power Sector has historically received the highest allocation for Natural Gas and is expected to continue receiving similar priority in future; The Natural Gas / LNG tariff for power sector may increase at a rapid pace than historical increase due to LNG imports and planned subsidy reductions by GoB</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 name="Table 8"/>
          <p:cNvGraphicFramePr>
            <a:graphicFrameLocks noGrp="1"/>
          </p:cNvGraphicFramePr>
          <p:nvPr>
            <p:extLst>
              <p:ext uri="{D42A27DB-BD31-4B8C-83A1-F6EECF244321}">
                <p14:modId xmlns:p14="http://schemas.microsoft.com/office/powerpoint/2010/main" val="230215125"/>
              </p:ext>
            </p:extLst>
          </p:nvPr>
        </p:nvGraphicFramePr>
        <p:xfrm>
          <a:off x="442913" y="1968502"/>
          <a:ext cx="9704938" cy="4160520"/>
        </p:xfrm>
        <a:graphic>
          <a:graphicData uri="http://schemas.openxmlformats.org/drawingml/2006/table">
            <a:tbl>
              <a:tblPr firstRow="1" bandRow="1">
                <a:tableStyleId>{3B4B98B0-60AC-42C2-AFA5-B58CD77FA1E5}</a:tableStyleId>
              </a:tblPr>
              <a:tblGrid>
                <a:gridCol w="605502">
                  <a:extLst>
                    <a:ext uri="{9D8B030D-6E8A-4147-A177-3AD203B41FA5}">
                      <a16:colId xmlns:a16="http://schemas.microsoft.com/office/drawing/2014/main" val="4207744418"/>
                    </a:ext>
                  </a:extLst>
                </a:gridCol>
                <a:gridCol w="1442682">
                  <a:extLst>
                    <a:ext uri="{9D8B030D-6E8A-4147-A177-3AD203B41FA5}">
                      <a16:colId xmlns:a16="http://schemas.microsoft.com/office/drawing/2014/main" val="546554287"/>
                    </a:ext>
                  </a:extLst>
                </a:gridCol>
                <a:gridCol w="4919150">
                  <a:extLst>
                    <a:ext uri="{9D8B030D-6E8A-4147-A177-3AD203B41FA5}">
                      <a16:colId xmlns:a16="http://schemas.microsoft.com/office/drawing/2014/main" val="2546321411"/>
                    </a:ext>
                  </a:extLst>
                </a:gridCol>
                <a:gridCol w="2053819">
                  <a:extLst>
                    <a:ext uri="{9D8B030D-6E8A-4147-A177-3AD203B41FA5}">
                      <a16:colId xmlns:a16="http://schemas.microsoft.com/office/drawing/2014/main" val="187755370"/>
                    </a:ext>
                  </a:extLst>
                </a:gridCol>
                <a:gridCol w="683785">
                  <a:extLst>
                    <a:ext uri="{9D8B030D-6E8A-4147-A177-3AD203B41FA5}">
                      <a16:colId xmlns:a16="http://schemas.microsoft.com/office/drawing/2014/main" val="1794598962"/>
                    </a:ext>
                  </a:extLst>
                </a:gridCol>
              </a:tblGrid>
              <a:tr h="364674">
                <a:tc>
                  <a:txBody>
                    <a:bodyPr/>
                    <a:lstStyle/>
                    <a:p>
                      <a:r>
                        <a:rPr lang="en-US" sz="1000" dirty="0"/>
                        <a:t>Sr. No</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Parameter</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Details</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Output</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Ref Slides</a:t>
                      </a:r>
                      <a:endParaRPr lang="en-IN" sz="1000" b="0" dirty="0"/>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34780871"/>
                  </a:ext>
                </a:extLst>
              </a:tr>
              <a:tr h="703635">
                <a:tc>
                  <a:txBody>
                    <a:bodyPr/>
                    <a:lstStyle/>
                    <a:p>
                      <a:r>
                        <a:rPr lang="en-US" sz="1000" dirty="0"/>
                        <a:t>1</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sz="1000" b="0" dirty="0"/>
                        <a:t>Gas Allocation</a:t>
                      </a:r>
                      <a:r>
                        <a:rPr lang="en-US" sz="1000" b="0" baseline="0" dirty="0"/>
                        <a:t>  by BERC &amp; Allocation Guidelines by </a:t>
                      </a:r>
                      <a:r>
                        <a:rPr lang="en-US" sz="1000" b="0" baseline="0" dirty="0" err="1"/>
                        <a:t>Petrobangla</a:t>
                      </a:r>
                      <a:endParaRPr lang="en-US" sz="1000" b="0" baseline="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In FY20 BERC has proposed the natural gas / LNG allocation (in the ratio of ~75%:25%) to be ~95 </a:t>
                      </a:r>
                      <a:r>
                        <a:rPr lang="en-US" sz="1000" b="0" baseline="0" dirty="0" err="1">
                          <a:solidFill>
                            <a:schemeClr val="tx1"/>
                          </a:solidFill>
                        </a:rPr>
                        <a:t>mmscmd</a:t>
                      </a:r>
                      <a:r>
                        <a:rPr lang="en-US" sz="1000" b="0" baseline="0" dirty="0">
                          <a:solidFill>
                            <a:schemeClr val="tx1"/>
                          </a:solidFill>
                        </a:rPr>
                        <a:t> considering the planned LNG imports in the country with power sector being allocated 42% of the total supply in line with historical allocations to the sector</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err="1">
                          <a:solidFill>
                            <a:schemeClr val="tx1"/>
                          </a:solidFill>
                        </a:rPr>
                        <a:t>Petrobangla</a:t>
                      </a:r>
                      <a:r>
                        <a:rPr lang="en-US" sz="1000" b="0" baseline="0" dirty="0">
                          <a:solidFill>
                            <a:schemeClr val="tx1"/>
                          </a:solidFill>
                        </a:rPr>
                        <a:t> had also come up with Gas Priority Guidelines with Fertilizer and Power Sector receiving highest priorities (1,2) for gas allocation with further recommendations to provide higher gas allocation to new plants with ~50% efficiency running on Combined Cycle operations an reducing allocations to low efficient plants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buFont typeface="Arial" panose="020B0604020202020204" pitchFamily="34" charset="0"/>
                        <a:buNone/>
                      </a:pPr>
                      <a:r>
                        <a:rPr lang="en-US" sz="1000" b="0" i="0" baseline="0" dirty="0"/>
                        <a:t>Allocation in </a:t>
                      </a:r>
                      <a:r>
                        <a:rPr lang="en-US" sz="1000" b="0" i="0" baseline="0" dirty="0" err="1"/>
                        <a:t>mmscmd</a:t>
                      </a:r>
                      <a:r>
                        <a:rPr lang="en-US" sz="1000" b="0" i="0" baseline="0" dirty="0"/>
                        <a:t> in FY20: Total 95</a:t>
                      </a:r>
                    </a:p>
                    <a:p>
                      <a:pPr marL="171450" indent="-171450">
                        <a:buFont typeface="Arial" panose="020B0604020202020204" pitchFamily="34" charset="0"/>
                        <a:buChar char="•"/>
                      </a:pPr>
                      <a:r>
                        <a:rPr lang="en-US" sz="1000" b="0" i="0" baseline="0" dirty="0"/>
                        <a:t>Power – 40 </a:t>
                      </a:r>
                    </a:p>
                    <a:p>
                      <a:pPr marL="171450" indent="-171450">
                        <a:buFont typeface="Arial" panose="020B0604020202020204" pitchFamily="34" charset="0"/>
                        <a:buChar char="•"/>
                      </a:pPr>
                      <a:r>
                        <a:rPr lang="en-US" sz="1000" b="0" i="0" baseline="0" dirty="0"/>
                        <a:t>Industry – 16 </a:t>
                      </a:r>
                    </a:p>
                    <a:p>
                      <a:pPr marL="171450" indent="-171450">
                        <a:buFont typeface="Arial" panose="020B0604020202020204" pitchFamily="34" charset="0"/>
                        <a:buChar char="•"/>
                      </a:pPr>
                      <a:r>
                        <a:rPr lang="en-US" sz="1000" b="0" i="0" baseline="0" dirty="0"/>
                        <a:t>Captive Power – 16 </a:t>
                      </a:r>
                    </a:p>
                    <a:p>
                      <a:pPr marL="171450" indent="-171450">
                        <a:buFont typeface="Arial" panose="020B0604020202020204" pitchFamily="34" charset="0"/>
                        <a:buChar char="•"/>
                      </a:pPr>
                      <a:r>
                        <a:rPr lang="en-US" sz="1000" b="0" i="0" baseline="0" dirty="0"/>
                        <a:t>Domestic – 13</a:t>
                      </a:r>
                    </a:p>
                    <a:p>
                      <a:pPr marL="171450" indent="-171450">
                        <a:buFont typeface="Arial" panose="020B0604020202020204" pitchFamily="34" charset="0"/>
                        <a:buChar char="•"/>
                      </a:pPr>
                      <a:r>
                        <a:rPr lang="en-US" sz="1000" b="0" i="0" baseline="0" dirty="0"/>
                        <a:t>Fertilizer – 5</a:t>
                      </a:r>
                    </a:p>
                    <a:p>
                      <a:pPr marL="171450" indent="-171450">
                        <a:buFont typeface="Arial" panose="020B0604020202020204" pitchFamily="34" charset="0"/>
                        <a:buChar char="•"/>
                      </a:pPr>
                      <a:r>
                        <a:rPr lang="en-US" sz="1000" b="0" i="0" baseline="0" dirty="0"/>
                        <a:t>CNG – 4 </a:t>
                      </a:r>
                    </a:p>
                    <a:p>
                      <a:pPr marL="171450" indent="-171450">
                        <a:buFont typeface="Arial" panose="020B0604020202020204" pitchFamily="34" charset="0"/>
                        <a:buChar char="•"/>
                      </a:pPr>
                      <a:r>
                        <a:rPr lang="en-US" sz="1000" b="0" i="0" baseline="0" dirty="0"/>
                        <a:t>Commercial – 1</a:t>
                      </a:r>
                    </a:p>
                    <a:p>
                      <a:pPr marL="171450" indent="-171450">
                        <a:buFont typeface="Arial" panose="020B0604020202020204" pitchFamily="34" charset="0"/>
                        <a:buChar char="•"/>
                      </a:pPr>
                      <a:r>
                        <a:rPr lang="en-US" sz="1000" b="0" i="0" baseline="0" dirty="0"/>
                        <a:t>Tea Garden – 0.1</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sz="1000" b="0" dirty="0"/>
                        <a:t>39</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9456584"/>
                  </a:ext>
                </a:extLst>
              </a:tr>
              <a:tr h="2148840">
                <a:tc>
                  <a:txBody>
                    <a:bodyPr/>
                    <a:lstStyle/>
                    <a:p>
                      <a:r>
                        <a:rPr lang="en-US" sz="1000" dirty="0"/>
                        <a:t>2</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sz="1000" b="0" dirty="0"/>
                        <a:t>Tariff</a:t>
                      </a:r>
                      <a:r>
                        <a:rPr lang="en-US" sz="1000" b="0" baseline="0" dirty="0"/>
                        <a:t> Hikes for Natural Gas</a:t>
                      </a:r>
                      <a:endParaRPr lang="en-US"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6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Between FY10 and FY20, the BERC has increased the natural gas tariff for power sector 4 times only at a CAGR of ~4.7% only</a:t>
                      </a:r>
                    </a:p>
                    <a:p>
                      <a:pPr marL="171450" marR="0" lvl="0" indent="-171450" algn="just" defTabSz="990571" rtl="0" eaLnBrk="1" fontAlgn="auto" latinLnBrk="0" hangingPunct="1">
                        <a:lnSpc>
                          <a:spcPct val="100000"/>
                        </a:lnSpc>
                        <a:spcBef>
                          <a:spcPts val="0"/>
                        </a:spcBef>
                        <a:spcAft>
                          <a:spcPts val="6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tariff in FY10 was BDT ~2.82 / SCM (~$0.8 / MMBTU) which was gradually increased to BDT ~4.45 / SCM (~$1.4 / MMBTU) for FY20</a:t>
                      </a:r>
                    </a:p>
                    <a:p>
                      <a:pPr marL="171450" marR="0" lvl="0" indent="-171450" algn="just" defTabSz="990571" rtl="0" eaLnBrk="1" fontAlgn="auto" latinLnBrk="0" hangingPunct="1">
                        <a:lnSpc>
                          <a:spcPct val="100000"/>
                        </a:lnSpc>
                        <a:spcBef>
                          <a:spcPts val="0"/>
                        </a:spcBef>
                        <a:spcAft>
                          <a:spcPts val="6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tariff hike in FY20 by BERC considered the LNG imports in the country leading to a single blended natural gas tariff for all consumer segments in Bangladesh</a:t>
                      </a:r>
                    </a:p>
                    <a:p>
                      <a:pPr marL="171450" marR="0" lvl="0" indent="-171450" algn="just" defTabSz="990571" rtl="0" eaLnBrk="1" fontAlgn="auto" latinLnBrk="0" hangingPunct="1">
                        <a:lnSpc>
                          <a:spcPct val="100000"/>
                        </a:lnSpc>
                        <a:spcBef>
                          <a:spcPts val="0"/>
                        </a:spcBef>
                        <a:spcAft>
                          <a:spcPts val="6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However the power sector is still receiving subsidy of ~65% on the weighted average cost of supply of natural gas / LNG which is ~ BDT 12.6 / SCM (~$ 3.97 / MMBTU)</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90571"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000" b="0" i="0" baseline="0" dirty="0"/>
                        <a:t>Natural Gas Tariff projections for Power Sector:</a:t>
                      </a:r>
                    </a:p>
                    <a:p>
                      <a:pPr marL="0" marR="0" lvl="0" indent="0" algn="l" defTabSz="990571"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000" b="0" i="0" baseline="0" dirty="0"/>
                    </a:p>
                    <a:p>
                      <a:pPr marL="0" marR="0" lvl="0" indent="0" algn="l" defTabSz="990571"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000" b="0" i="0" baseline="0" dirty="0"/>
                        <a:t>FY20 – BDT 4.45 / SCM ($1.4 / MMBTU)</a:t>
                      </a:r>
                    </a:p>
                    <a:p>
                      <a:pPr marL="0" marR="0" lvl="0" indent="0" algn="l" defTabSz="990571"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000" b="0" i="0" baseline="0" dirty="0"/>
                    </a:p>
                    <a:p>
                      <a:pPr marL="0" indent="0">
                        <a:buFont typeface="Arial" panose="020B0604020202020204" pitchFamily="34" charset="0"/>
                        <a:buNone/>
                      </a:pPr>
                      <a:endParaRPr lang="en-US" sz="1000" b="0" i="0" baseline="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sz="1000" b="0" dirty="0"/>
                        <a:t>41-43, </a:t>
                      </a:r>
                      <a:r>
                        <a:rPr lang="en-US" sz="1000" b="0" baseline="0" dirty="0"/>
                        <a:t>180-182</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75894750"/>
                  </a:ext>
                </a:extLst>
              </a:tr>
            </a:tbl>
          </a:graphicData>
        </a:graphic>
      </p:graphicFrame>
      <p:sp>
        <p:nvSpPr>
          <p:cNvPr id="8" name="Rectangle 7"/>
          <p:cNvSpPr/>
          <p:nvPr/>
        </p:nvSpPr>
        <p:spPr bwMode="gray">
          <a:xfrm>
            <a:off x="367167" y="7226733"/>
            <a:ext cx="9828000" cy="258504"/>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BERC, Gas Sector Master Plan 2017, Deloitte Analysis; </a:t>
            </a:r>
            <a:endParaRPr kumimoji="0" lang="en-IN" sz="700" b="0" i="1" u="none" strike="noStrike" kern="1200" cap="none" spc="0" normalizeH="0" baseline="0" noProof="0" dirty="0">
              <a:ln>
                <a:noFill/>
              </a:ln>
              <a:solidFill>
                <a:prstClr val="black"/>
              </a:solidFill>
              <a:effectLst/>
              <a:uLnTx/>
              <a:uFillTx/>
              <a:latin typeface="Verdana"/>
              <a:ea typeface="+mn-ea"/>
              <a:cs typeface="+mn-cs"/>
            </a:endParaRPr>
          </a:p>
        </p:txBody>
      </p:sp>
      <p:sp>
        <p:nvSpPr>
          <p:cNvPr id="6" name="Rectangle 5"/>
          <p:cNvSpPr/>
          <p:nvPr/>
        </p:nvSpPr>
        <p:spPr>
          <a:xfrm>
            <a:off x="529674" y="6129022"/>
            <a:ext cx="9704939" cy="954107"/>
          </a:xfrm>
          <a:prstGeom prst="rect">
            <a:avLst/>
          </a:prstGeom>
        </p:spPr>
        <p:txBody>
          <a:bodyPr wrap="square">
            <a:spAutoFit/>
          </a:bodyPr>
          <a:lstStyle/>
          <a:p>
            <a:pPr marL="0" marR="0" lvl="0" indent="0" algn="ctr" defTabSz="787481"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0097A9"/>
                </a:solidFill>
                <a:effectLst/>
                <a:uLnTx/>
                <a:uFillTx/>
                <a:latin typeface="Verdana" panose="020B0604030504040204" pitchFamily="34" charset="0"/>
                <a:ea typeface="+mn-ea"/>
                <a:cs typeface="+mn-cs"/>
              </a:rPr>
              <a:t>The power sector has been receiving the highest allocation of natural gas with </a:t>
            </a:r>
            <a:r>
              <a:rPr kumimoji="0" lang="en-US" sz="1400" b="1" i="1" u="none" strike="noStrike" kern="1200" cap="none" spc="0" normalizeH="0" baseline="0" noProof="0" dirty="0" err="1">
                <a:ln>
                  <a:noFill/>
                </a:ln>
                <a:solidFill>
                  <a:srgbClr val="0097A9"/>
                </a:solidFill>
                <a:effectLst/>
                <a:uLnTx/>
                <a:uFillTx/>
                <a:latin typeface="Verdana" panose="020B0604030504040204" pitchFamily="34" charset="0"/>
                <a:ea typeface="+mn-ea"/>
                <a:cs typeface="+mn-cs"/>
              </a:rPr>
              <a:t>Petrobangla</a:t>
            </a:r>
            <a:r>
              <a:rPr kumimoji="0" lang="en-US" sz="1400" b="1" i="1" u="none" strike="noStrike" kern="1200" cap="none" spc="0" normalizeH="0" baseline="0" noProof="0" dirty="0">
                <a:ln>
                  <a:noFill/>
                </a:ln>
                <a:solidFill>
                  <a:srgbClr val="0097A9"/>
                </a:solidFill>
                <a:effectLst/>
                <a:uLnTx/>
                <a:uFillTx/>
                <a:latin typeface="Verdana" panose="020B0604030504040204" pitchFamily="34" charset="0"/>
                <a:ea typeface="+mn-ea"/>
                <a:cs typeface="+mn-cs"/>
              </a:rPr>
              <a:t> also supporting the same; The natural gas prices for power sector is based on blending of Natural Gas (Domestic Sources) and LNG Imports with a single blended tariff for each consumer segment</a:t>
            </a:r>
            <a:endParaRPr kumimoji="0" lang="en-IN" sz="1400" b="1" i="1" u="none" strike="noStrike" kern="1200" cap="none" spc="0" normalizeH="0" baseline="0" noProof="0" dirty="0">
              <a:ln>
                <a:noFill/>
              </a:ln>
              <a:solidFill>
                <a:srgbClr val="0097A9"/>
              </a:solidFill>
              <a:effectLst/>
              <a:uLnTx/>
              <a:uFillTx/>
              <a:latin typeface="Verdana"/>
              <a:ea typeface="+mn-ea"/>
              <a:cs typeface="+mn-cs"/>
            </a:endParaRPr>
          </a:p>
        </p:txBody>
      </p:sp>
    </p:spTree>
    <p:extLst>
      <p:ext uri="{BB962C8B-B14F-4D97-AF65-F5344CB8AC3E}">
        <p14:creationId xmlns:p14="http://schemas.microsoft.com/office/powerpoint/2010/main" val="3385671610"/>
      </p:ext>
    </p:extLst>
  </p:cSld>
  <p:clrMapOvr>
    <a:masterClrMapping/>
  </p:clrMapOvr>
  <p:transition>
    <p:fade/>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3" name="Object 2"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4" name="Title 1"/>
          <p:cNvSpPr>
            <a:spLocks noGrp="1"/>
          </p:cNvSpPr>
          <p:nvPr>
            <p:ph type="title"/>
          </p:nvPr>
        </p:nvSpPr>
        <p:spPr>
          <a:xfrm>
            <a:off x="442913" y="654050"/>
            <a:ext cx="9791700" cy="431800"/>
          </a:xfrm>
        </p:spPr>
        <p:txBody>
          <a:bodyPr/>
          <a:lstStyle/>
          <a:p>
            <a:r>
              <a:rPr lang="en-US" dirty="0"/>
              <a:t>Plant Dispatch | Summary</a:t>
            </a:r>
            <a:endParaRPr lang="en-IN" dirty="0"/>
          </a:p>
        </p:txBody>
      </p:sp>
      <p:sp>
        <p:nvSpPr>
          <p:cNvPr id="5" name="Strapline"/>
          <p:cNvSpPr txBox="1">
            <a:spLocks/>
          </p:cNvSpPr>
          <p:nvPr/>
        </p:nvSpPr>
        <p:spPr>
          <a:xfrm>
            <a:off x="442912" y="1085850"/>
            <a:ext cx="9793288" cy="519113"/>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Based on the estimated </a:t>
            </a:r>
            <a:r>
              <a:rPr kumimoji="0" lang="en-US" sz="1400" b="1" i="0" u="none" strike="noStrike" kern="1200" cap="none" spc="0" normalizeH="0" baseline="0" noProof="0" dirty="0" err="1">
                <a:ln>
                  <a:noFill/>
                </a:ln>
                <a:solidFill>
                  <a:prstClr val="black">
                    <a:lumMod val="50000"/>
                    <a:lumOff val="50000"/>
                  </a:prstClr>
                </a:solidFill>
                <a:effectLst/>
                <a:uLnTx/>
                <a:uFillTx/>
                <a:latin typeface="Verdana" panose="020B0604030504040204" pitchFamily="34" charset="0"/>
                <a:ea typeface="+mn-ea"/>
                <a:cs typeface="+mn-cs"/>
              </a:rPr>
              <a:t>levelized</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tariff for Nimbus and the current merit order profile, the plant should be able to get full dispatch while running on natural gas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 name="Table 8"/>
          <p:cNvGraphicFramePr>
            <a:graphicFrameLocks noGrp="1"/>
          </p:cNvGraphicFramePr>
          <p:nvPr>
            <p:extLst>
              <p:ext uri="{D42A27DB-BD31-4B8C-83A1-F6EECF244321}">
                <p14:modId xmlns:p14="http://schemas.microsoft.com/office/powerpoint/2010/main" val="1512213277"/>
              </p:ext>
            </p:extLst>
          </p:nvPr>
        </p:nvGraphicFramePr>
        <p:xfrm>
          <a:off x="442913" y="1968501"/>
          <a:ext cx="9704938" cy="4360698"/>
        </p:xfrm>
        <a:graphic>
          <a:graphicData uri="http://schemas.openxmlformats.org/drawingml/2006/table">
            <a:tbl>
              <a:tblPr firstRow="1" bandRow="1">
                <a:tableStyleId>{3B4B98B0-60AC-42C2-AFA5-B58CD77FA1E5}</a:tableStyleId>
              </a:tblPr>
              <a:tblGrid>
                <a:gridCol w="605502">
                  <a:extLst>
                    <a:ext uri="{9D8B030D-6E8A-4147-A177-3AD203B41FA5}">
                      <a16:colId xmlns:a16="http://schemas.microsoft.com/office/drawing/2014/main" val="4207744418"/>
                    </a:ext>
                  </a:extLst>
                </a:gridCol>
                <a:gridCol w="1442682">
                  <a:extLst>
                    <a:ext uri="{9D8B030D-6E8A-4147-A177-3AD203B41FA5}">
                      <a16:colId xmlns:a16="http://schemas.microsoft.com/office/drawing/2014/main" val="546554287"/>
                    </a:ext>
                  </a:extLst>
                </a:gridCol>
                <a:gridCol w="4919150">
                  <a:extLst>
                    <a:ext uri="{9D8B030D-6E8A-4147-A177-3AD203B41FA5}">
                      <a16:colId xmlns:a16="http://schemas.microsoft.com/office/drawing/2014/main" val="2546321411"/>
                    </a:ext>
                  </a:extLst>
                </a:gridCol>
                <a:gridCol w="2053819">
                  <a:extLst>
                    <a:ext uri="{9D8B030D-6E8A-4147-A177-3AD203B41FA5}">
                      <a16:colId xmlns:a16="http://schemas.microsoft.com/office/drawing/2014/main" val="187755370"/>
                    </a:ext>
                  </a:extLst>
                </a:gridCol>
                <a:gridCol w="683785">
                  <a:extLst>
                    <a:ext uri="{9D8B030D-6E8A-4147-A177-3AD203B41FA5}">
                      <a16:colId xmlns:a16="http://schemas.microsoft.com/office/drawing/2014/main" val="1794598962"/>
                    </a:ext>
                  </a:extLst>
                </a:gridCol>
              </a:tblGrid>
              <a:tr h="358555">
                <a:tc>
                  <a:txBody>
                    <a:bodyPr/>
                    <a:lstStyle/>
                    <a:p>
                      <a:r>
                        <a:rPr lang="en-US" sz="1000" dirty="0"/>
                        <a:t>Sr. No</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Parameter</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Details</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Output</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Ref Slides</a:t>
                      </a:r>
                      <a:endParaRPr lang="en-IN" sz="1000" b="0" dirty="0"/>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34780871"/>
                  </a:ext>
                </a:extLst>
              </a:tr>
              <a:tr h="2151332">
                <a:tc>
                  <a:txBody>
                    <a:bodyPr/>
                    <a:lstStyle/>
                    <a:p>
                      <a:pPr>
                        <a:lnSpc>
                          <a:spcPct val="114000"/>
                        </a:lnSpc>
                        <a:spcAft>
                          <a:spcPts val="600"/>
                        </a:spcAft>
                      </a:pPr>
                      <a:r>
                        <a:rPr lang="en-US" sz="1000" dirty="0"/>
                        <a:t>1</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ct val="100000"/>
                        </a:lnSpc>
                        <a:spcAft>
                          <a:spcPts val="0"/>
                        </a:spcAft>
                      </a:pPr>
                      <a:r>
                        <a:rPr lang="en-US" sz="1000" b="0" dirty="0"/>
                        <a:t>Tentative Merit</a:t>
                      </a:r>
                      <a:r>
                        <a:rPr lang="en-US" sz="1000" b="0" baseline="0" dirty="0"/>
                        <a:t> Order</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just" defTabSz="990571"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000" b="0" baseline="0" dirty="0">
                          <a:solidFill>
                            <a:schemeClr val="tx1"/>
                          </a:solidFill>
                        </a:rPr>
                        <a:t>We have estimated the tentative Merit Order in Bangladesh based on the following:</a:t>
                      </a:r>
                    </a:p>
                    <a:p>
                      <a:pPr marL="171450" marR="0" lvl="0" indent="-171450" algn="just" defTabSz="990571" rtl="0" eaLnBrk="1" fontAlgn="auto" latinLnBrk="0" hangingPunct="1">
                        <a:lnSpc>
                          <a:spcPct val="100000"/>
                        </a:lnSpc>
                        <a:spcBef>
                          <a:spcPts val="0"/>
                        </a:spcBef>
                        <a:spcAft>
                          <a:spcPts val="600"/>
                        </a:spcAft>
                        <a:buClrTx/>
                        <a:buSzTx/>
                        <a:buFont typeface="Arial" panose="020B0604020202020204" pitchFamily="34" charset="0"/>
                        <a:buChar char="•"/>
                        <a:tabLst/>
                        <a:defRPr/>
                      </a:pPr>
                      <a:r>
                        <a:rPr lang="en-US" sz="1000" b="0" baseline="0" dirty="0">
                          <a:solidFill>
                            <a:schemeClr val="tx1"/>
                          </a:solidFill>
                        </a:rPr>
                        <a:t>Estimated </a:t>
                      </a:r>
                      <a:r>
                        <a:rPr lang="en-US" sz="1000" b="0" baseline="0" dirty="0" err="1">
                          <a:solidFill>
                            <a:schemeClr val="tx1"/>
                          </a:solidFill>
                        </a:rPr>
                        <a:t>levelized</a:t>
                      </a:r>
                      <a:r>
                        <a:rPr lang="en-US" sz="1000" b="0" baseline="0" dirty="0">
                          <a:solidFill>
                            <a:schemeClr val="tx1"/>
                          </a:solidFill>
                        </a:rPr>
                        <a:t> tariff for upcoming imported LNG based plants, imported Coal Based plants, Power Import from India (Adani’s </a:t>
                      </a:r>
                      <a:r>
                        <a:rPr lang="en-US" sz="1000" b="0" baseline="0" dirty="0" err="1">
                          <a:solidFill>
                            <a:schemeClr val="tx1"/>
                          </a:solidFill>
                        </a:rPr>
                        <a:t>Godda</a:t>
                      </a:r>
                      <a:r>
                        <a:rPr lang="en-US" sz="1000" b="0" baseline="0" dirty="0">
                          <a:solidFill>
                            <a:schemeClr val="tx1"/>
                          </a:solidFill>
                        </a:rPr>
                        <a:t> Plant and </a:t>
                      </a:r>
                      <a:r>
                        <a:rPr lang="en-US" sz="1000" b="0" baseline="0" dirty="0" err="1">
                          <a:solidFill>
                            <a:schemeClr val="tx1"/>
                          </a:solidFill>
                        </a:rPr>
                        <a:t>Roopur</a:t>
                      </a:r>
                      <a:r>
                        <a:rPr lang="en-US" sz="1000" b="0" baseline="0" dirty="0">
                          <a:solidFill>
                            <a:schemeClr val="tx1"/>
                          </a:solidFill>
                        </a:rPr>
                        <a:t> Nuclear Plant) based on industry estimates on capex, fuel costs and efficiency levels</a:t>
                      </a:r>
                    </a:p>
                    <a:p>
                      <a:pPr marL="171450" marR="0" lvl="0" indent="-171450" algn="just" defTabSz="990571" rtl="0" eaLnBrk="1" fontAlgn="auto" latinLnBrk="0" hangingPunct="1">
                        <a:lnSpc>
                          <a:spcPct val="100000"/>
                        </a:lnSpc>
                        <a:spcBef>
                          <a:spcPts val="0"/>
                        </a:spcBef>
                        <a:spcAft>
                          <a:spcPts val="600"/>
                        </a:spcAft>
                        <a:buClrTx/>
                        <a:buSzTx/>
                        <a:buFont typeface="Arial" panose="020B0604020202020204" pitchFamily="34" charset="0"/>
                        <a:buChar char="•"/>
                        <a:tabLst/>
                        <a:defRPr/>
                      </a:pPr>
                      <a:r>
                        <a:rPr lang="en-US" sz="1000" b="0" baseline="0" dirty="0">
                          <a:solidFill>
                            <a:schemeClr val="tx1"/>
                          </a:solidFill>
                        </a:rPr>
                        <a:t>Estimated </a:t>
                      </a:r>
                      <a:r>
                        <a:rPr lang="en-US" sz="1000" b="0" baseline="0" dirty="0" err="1">
                          <a:solidFill>
                            <a:schemeClr val="tx1"/>
                          </a:solidFill>
                        </a:rPr>
                        <a:t>Levelized</a:t>
                      </a:r>
                      <a:r>
                        <a:rPr lang="en-US" sz="1000" b="0" baseline="0" dirty="0">
                          <a:solidFill>
                            <a:schemeClr val="tx1"/>
                          </a:solidFill>
                        </a:rPr>
                        <a:t> tariff of Nimbus Plant </a:t>
                      </a:r>
                      <a:r>
                        <a:rPr lang="en-US" sz="1000" b="0" kern="1200" baseline="0" dirty="0">
                          <a:solidFill>
                            <a:schemeClr val="tx1"/>
                          </a:solidFill>
                          <a:latin typeface="+mn-lt"/>
                          <a:ea typeface="+mn-ea"/>
                          <a:cs typeface="+mn-cs"/>
                        </a:rPr>
                        <a:t>based on the prevailing operating parameters as per the PPA, GSA, FSA and O&amp;M agreements and the fuel prices as per current prices set by </a:t>
                      </a:r>
                      <a:r>
                        <a:rPr lang="en-US" sz="1000" b="0" kern="1200" baseline="0" dirty="0" err="1">
                          <a:solidFill>
                            <a:schemeClr val="tx1"/>
                          </a:solidFill>
                          <a:latin typeface="+mn-lt"/>
                          <a:ea typeface="+mn-ea"/>
                          <a:cs typeface="+mn-cs"/>
                        </a:rPr>
                        <a:t>GoB</a:t>
                      </a:r>
                      <a:r>
                        <a:rPr lang="en-US" sz="1000" b="0" kern="1200" baseline="0" dirty="0">
                          <a:solidFill>
                            <a:schemeClr val="tx1"/>
                          </a:solidFill>
                          <a:latin typeface="+mn-lt"/>
                          <a:ea typeface="+mn-ea"/>
                          <a:cs typeface="+mn-cs"/>
                        </a:rPr>
                        <a:t> for power players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nSpc>
                          <a:spcPct val="100000"/>
                        </a:lnSpc>
                        <a:spcAft>
                          <a:spcPts val="0"/>
                        </a:spcAft>
                        <a:buFont typeface="Arial" panose="020B0604020202020204" pitchFamily="34" charset="0"/>
                        <a:buNone/>
                      </a:pPr>
                      <a:r>
                        <a:rPr lang="en-US" sz="1000" b="0" baseline="0" dirty="0"/>
                        <a:t>Expected Total Tariff Range (US Cents / unit) as per Merit Order: </a:t>
                      </a:r>
                    </a:p>
                    <a:p>
                      <a:pPr marL="0" indent="0">
                        <a:lnSpc>
                          <a:spcPct val="100000"/>
                        </a:lnSpc>
                        <a:spcAft>
                          <a:spcPts val="0"/>
                        </a:spcAft>
                        <a:buFont typeface="Arial" panose="020B0604020202020204" pitchFamily="34" charset="0"/>
                        <a:buNone/>
                      </a:pPr>
                      <a:endParaRPr lang="en-US" sz="1000" b="0" baseline="0" dirty="0"/>
                    </a:p>
                    <a:p>
                      <a:pPr marL="171450" indent="-171450">
                        <a:lnSpc>
                          <a:spcPct val="100000"/>
                        </a:lnSpc>
                        <a:spcAft>
                          <a:spcPts val="0"/>
                        </a:spcAft>
                        <a:buFont typeface="Arial" panose="020B0604020202020204" pitchFamily="34" charset="0"/>
                        <a:buChar char="•"/>
                      </a:pPr>
                      <a:r>
                        <a:rPr lang="en-US" sz="1000" b="0" baseline="0" dirty="0"/>
                        <a:t>Domestic Gas: 1.2 – 5.8</a:t>
                      </a:r>
                    </a:p>
                    <a:p>
                      <a:pPr marL="171450" indent="-171450">
                        <a:lnSpc>
                          <a:spcPct val="100000"/>
                        </a:lnSpc>
                        <a:spcAft>
                          <a:spcPts val="0"/>
                        </a:spcAft>
                        <a:buFont typeface="Arial" panose="020B0604020202020204" pitchFamily="34" charset="0"/>
                        <a:buChar char="•"/>
                      </a:pPr>
                      <a:r>
                        <a:rPr lang="en-US" sz="1000" b="0" baseline="0" dirty="0"/>
                        <a:t>Imported Power from India (Existing): 4.3–9.4</a:t>
                      </a:r>
                    </a:p>
                    <a:p>
                      <a:pPr marL="171450" marR="0" lvl="0" indent="-171450" algn="l" defTabSz="99057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00" b="0" baseline="0" dirty="0"/>
                        <a:t>Imported LNG Based plants: 8.1 –9.4</a:t>
                      </a:r>
                    </a:p>
                    <a:p>
                      <a:pPr marL="171450" marR="0" lvl="0" indent="-171450" algn="l" defTabSz="99057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00" b="0" baseline="0" dirty="0"/>
                        <a:t>Imported Coal Based Plants: 8.4 – 8.8</a:t>
                      </a:r>
                    </a:p>
                    <a:p>
                      <a:pPr marL="171450" marR="0" lvl="0" indent="-171450" algn="l" defTabSz="99057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00" b="0" baseline="0" dirty="0"/>
                        <a:t>Nuclear (</a:t>
                      </a:r>
                      <a:r>
                        <a:rPr lang="en-US" sz="1000" b="0" baseline="0" dirty="0" err="1"/>
                        <a:t>Rooppur</a:t>
                      </a:r>
                      <a:r>
                        <a:rPr lang="en-US" sz="1000" b="0" baseline="0" dirty="0"/>
                        <a:t>): 8.8–9.4</a:t>
                      </a:r>
                    </a:p>
                    <a:p>
                      <a:pPr marL="171450" marR="0" lvl="0" indent="-171450" algn="l" defTabSz="99057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00" b="0" baseline="0" dirty="0"/>
                        <a:t>Imported Power from India (</a:t>
                      </a:r>
                      <a:r>
                        <a:rPr lang="en-US" sz="1000" b="0" baseline="0" dirty="0" err="1"/>
                        <a:t>Godda</a:t>
                      </a:r>
                      <a:r>
                        <a:rPr lang="en-US" sz="1000" b="0" baseline="0" dirty="0"/>
                        <a:t>): 10.1–10.6</a:t>
                      </a:r>
                    </a:p>
                    <a:p>
                      <a:pPr marL="171450" indent="-171450">
                        <a:lnSpc>
                          <a:spcPct val="100000"/>
                        </a:lnSpc>
                        <a:spcAft>
                          <a:spcPts val="0"/>
                        </a:spcAft>
                        <a:buFont typeface="Arial" panose="020B0604020202020204" pitchFamily="34" charset="0"/>
                        <a:buChar char="•"/>
                      </a:pPr>
                      <a:r>
                        <a:rPr lang="en-US" sz="1000" b="0" baseline="0" dirty="0"/>
                        <a:t>HFO : 11–17.5</a:t>
                      </a:r>
                    </a:p>
                    <a:p>
                      <a:pPr marL="171450" indent="-171450">
                        <a:lnSpc>
                          <a:spcPct val="100000"/>
                        </a:lnSpc>
                        <a:spcAft>
                          <a:spcPts val="0"/>
                        </a:spcAft>
                        <a:buFont typeface="Arial" panose="020B0604020202020204" pitchFamily="34" charset="0"/>
                        <a:buChar char="•"/>
                      </a:pPr>
                      <a:r>
                        <a:rPr lang="en-US" sz="1000" b="0" baseline="0" dirty="0"/>
                        <a:t>HSD – 18.8 – 31.3</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2">
                  <a:txBody>
                    <a:bodyPr/>
                    <a:lstStyle/>
                    <a:p>
                      <a:pPr>
                        <a:lnSpc>
                          <a:spcPct val="114000"/>
                        </a:lnSpc>
                        <a:spcAft>
                          <a:spcPts val="600"/>
                        </a:spcAft>
                      </a:pPr>
                      <a:r>
                        <a:rPr lang="en-US" sz="1000" b="0" dirty="0"/>
                        <a:t>73-79</a:t>
                      </a:r>
                      <a:endParaRPr lang="en-IN" sz="1000" b="0" dirty="0"/>
                    </a:p>
                  </a:txBody>
                  <a:tcPr anchor="ctr">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859456584"/>
                  </a:ext>
                </a:extLst>
              </a:tr>
              <a:tr h="1282218">
                <a:tc>
                  <a:txBody>
                    <a:bodyPr/>
                    <a:lstStyle/>
                    <a:p>
                      <a:pPr>
                        <a:lnSpc>
                          <a:spcPct val="114000"/>
                        </a:lnSpc>
                        <a:spcAft>
                          <a:spcPts val="600"/>
                        </a:spcAft>
                      </a:pPr>
                      <a:r>
                        <a:rPr lang="en-US" sz="1000" dirty="0"/>
                        <a:t>2</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ct val="100000"/>
                        </a:lnSpc>
                        <a:spcAft>
                          <a:spcPts val="0"/>
                        </a:spcAft>
                      </a:pPr>
                      <a:r>
                        <a:rPr lang="en-US" sz="1000" b="0" dirty="0"/>
                        <a:t>Nimbus</a:t>
                      </a:r>
                      <a:r>
                        <a:rPr lang="en-US" sz="1000" b="0" baseline="0" dirty="0"/>
                        <a:t> Placement in Merit Order</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just">
                        <a:lnSpc>
                          <a:spcPct val="100000"/>
                        </a:lnSpc>
                        <a:spcAft>
                          <a:spcPts val="0"/>
                        </a:spcAft>
                        <a:buFont typeface="Arial" panose="020B0604020202020204" pitchFamily="34" charset="0"/>
                        <a:buChar char="•"/>
                      </a:pPr>
                      <a:r>
                        <a:rPr lang="en-US" sz="1000" b="0" baseline="0" dirty="0">
                          <a:solidFill>
                            <a:schemeClr val="tx1"/>
                          </a:solidFill>
                        </a:rPr>
                        <a:t>The </a:t>
                      </a:r>
                      <a:r>
                        <a:rPr lang="en-US" sz="1000" b="0" baseline="0" dirty="0" err="1">
                          <a:solidFill>
                            <a:schemeClr val="tx1"/>
                          </a:solidFill>
                        </a:rPr>
                        <a:t>levelized</a:t>
                      </a:r>
                      <a:r>
                        <a:rPr lang="en-US" sz="1000" b="0" baseline="0" dirty="0">
                          <a:solidFill>
                            <a:schemeClr val="tx1"/>
                          </a:solidFill>
                        </a:rPr>
                        <a:t> Tariff for Gas operation for Nimbus could range between US Cents 3-4 / kWh whereas the operations on HSD could range between US cents 17 – 20 / kWh</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nSpc>
                          <a:spcPct val="100000"/>
                        </a:lnSpc>
                        <a:spcAft>
                          <a:spcPts val="0"/>
                        </a:spcAft>
                        <a:buFont typeface="Arial" panose="020B0604020202020204" pitchFamily="34" charset="0"/>
                        <a:buNone/>
                      </a:pPr>
                      <a:r>
                        <a:rPr lang="en-US" sz="1000" b="0" baseline="0" dirty="0"/>
                        <a:t>Position in Merit Order: </a:t>
                      </a:r>
                    </a:p>
                    <a:p>
                      <a:pPr marL="171450" indent="-171450">
                        <a:lnSpc>
                          <a:spcPct val="100000"/>
                        </a:lnSpc>
                        <a:spcAft>
                          <a:spcPts val="0"/>
                        </a:spcAft>
                        <a:buFont typeface="Arial" panose="020B0604020202020204" pitchFamily="34" charset="0"/>
                        <a:buChar char="•"/>
                      </a:pPr>
                      <a:r>
                        <a:rPr lang="en-US" sz="1000" b="0" baseline="0" dirty="0"/>
                        <a:t>Natural Gas : 2</a:t>
                      </a:r>
                      <a:r>
                        <a:rPr lang="en-US" sz="1000" b="0" baseline="30000" dirty="0"/>
                        <a:t>nd</a:t>
                      </a:r>
                      <a:r>
                        <a:rPr lang="en-US" sz="1000" b="0" baseline="0" dirty="0"/>
                        <a:t>/3</a:t>
                      </a:r>
                      <a:r>
                        <a:rPr lang="en-US" sz="1000" b="0" baseline="30000" dirty="0"/>
                        <a:t>rd</a:t>
                      </a:r>
                      <a:r>
                        <a:rPr lang="en-US" sz="1000" b="0" baseline="0" dirty="0"/>
                        <a:t> Quartile </a:t>
                      </a:r>
                      <a:r>
                        <a:rPr lang="en-US" sz="1000" b="0" i="1" baseline="0" dirty="0"/>
                        <a:t>(34%-64% of MOD)</a:t>
                      </a:r>
                    </a:p>
                    <a:p>
                      <a:pPr marL="171450" indent="-171450">
                        <a:lnSpc>
                          <a:spcPct val="100000"/>
                        </a:lnSpc>
                        <a:spcAft>
                          <a:spcPts val="0"/>
                        </a:spcAft>
                        <a:buFont typeface="Arial" panose="020B0604020202020204" pitchFamily="34" charset="0"/>
                        <a:buChar char="•"/>
                      </a:pPr>
                      <a:r>
                        <a:rPr lang="en-US" sz="1000" b="0" i="0" baseline="0" dirty="0"/>
                        <a:t>HSD : </a:t>
                      </a:r>
                      <a:r>
                        <a:rPr lang="en-US" sz="1000" b="0" i="1" baseline="0" dirty="0"/>
                        <a:t>Potential Issue in Dispatch due to high cost</a:t>
                      </a:r>
                      <a:endParaRPr lang="en-US" sz="1000" b="0" i="0" baseline="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75894750"/>
                  </a:ext>
                </a:extLst>
              </a:tr>
            </a:tbl>
          </a:graphicData>
        </a:graphic>
      </p:graphicFrame>
      <p:sp>
        <p:nvSpPr>
          <p:cNvPr id="10" name="Rectangle 9"/>
          <p:cNvSpPr/>
          <p:nvPr/>
        </p:nvSpPr>
        <p:spPr bwMode="gray">
          <a:xfrm>
            <a:off x="326268" y="6575114"/>
            <a:ext cx="9919933" cy="381234"/>
          </a:xfrm>
          <a:prstGeom prst="rect">
            <a:avLst/>
          </a:prstGeom>
          <a:no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400" b="1" i="1" u="none" strike="noStrike" kern="1200" cap="none" spc="0" normalizeH="0" baseline="0" noProof="0" dirty="0">
                <a:ln>
                  <a:noFill/>
                </a:ln>
                <a:solidFill>
                  <a:srgbClr val="0097A9"/>
                </a:solidFill>
                <a:effectLst/>
                <a:uLnTx/>
                <a:uFillTx/>
                <a:latin typeface="Verdana"/>
                <a:ea typeface="+mn-ea"/>
                <a:cs typeface="+mn-cs"/>
              </a:rPr>
              <a:t>The proposed Nimbus plant is expected to receive full dispatch on Natural gas based on economic / merit order perspective in Bangladesh; However the plant may face dispatch challenges in case it is run on HSD due to high cost in the current merit order</a:t>
            </a:r>
            <a:endParaRPr kumimoji="0" lang="en-IN" sz="1400" b="1" i="1" u="none" strike="noStrike" kern="1200" cap="none" spc="0" normalizeH="0" baseline="0" noProof="0" dirty="0">
              <a:ln>
                <a:noFill/>
              </a:ln>
              <a:solidFill>
                <a:srgbClr val="0097A9"/>
              </a:solidFill>
              <a:effectLst/>
              <a:uLnTx/>
              <a:uFillTx/>
              <a:latin typeface="Verdana"/>
              <a:ea typeface="+mn-ea"/>
              <a:cs typeface="+mn-cs"/>
            </a:endParaRPr>
          </a:p>
        </p:txBody>
      </p:sp>
      <p:sp>
        <p:nvSpPr>
          <p:cNvPr id="11" name="Rectangle 10"/>
          <p:cNvSpPr/>
          <p:nvPr/>
        </p:nvSpPr>
        <p:spPr bwMode="gray">
          <a:xfrm>
            <a:off x="326268" y="7296419"/>
            <a:ext cx="9936000" cy="224562"/>
          </a:xfrm>
          <a:prstGeom prst="rect">
            <a:avLst/>
          </a:prstGeom>
          <a:noFill/>
          <a:ln w="19050" algn="ctr">
            <a:noFill/>
            <a:miter lim="800000"/>
            <a:headEnd/>
            <a:tailEnd/>
          </a:ln>
        </p:spPr>
        <p:txBody>
          <a:bodyPr wrap="square" lIns="88900" tIns="88900" rIns="88900" bIns="88900" rtlCol="0" anchor="ctr"/>
          <a:lstStyle/>
          <a:p>
            <a:pPr marL="0" marR="0" lvl="0" indent="0" algn="l" defTabSz="914400"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Nimbus PPA / FSA / GSA / O&amp;M Agreements Note 1) The normative parameters such as Gas Calorific Value, Oil Heat Value, PLFs, Dependable Capacity, Escalable &amp; Non-escalable pricing components have been considered as per the agreements executed by Nimbus 2) No escalation in fuel prices have been assumed 3) Fuel wise plant parameters considered for estimation </a:t>
            </a:r>
            <a:r>
              <a:rPr kumimoji="0" lang="en-US" sz="700" b="0" i="1" u="none" strike="noStrike" kern="1200" cap="none" spc="0" normalizeH="0" baseline="0" noProof="0" dirty="0" err="1">
                <a:ln>
                  <a:noFill/>
                </a:ln>
                <a:solidFill>
                  <a:prstClr val="black"/>
                </a:solidFill>
                <a:effectLst/>
                <a:uLnTx/>
                <a:uFillTx/>
                <a:latin typeface="Verdana"/>
                <a:ea typeface="+mn-ea"/>
                <a:cs typeface="+mn-cs"/>
              </a:rPr>
              <a:t>levelized</a:t>
            </a:r>
            <a:r>
              <a:rPr kumimoji="0" lang="en-US" sz="700" b="0" i="1" u="none" strike="noStrike" kern="1200" cap="none" spc="0" normalizeH="0" baseline="0" noProof="0" dirty="0">
                <a:ln>
                  <a:noFill/>
                </a:ln>
                <a:solidFill>
                  <a:prstClr val="black"/>
                </a:solidFill>
                <a:effectLst/>
                <a:uLnTx/>
                <a:uFillTx/>
                <a:latin typeface="Verdana"/>
                <a:ea typeface="+mn-ea"/>
                <a:cs typeface="+mn-cs"/>
              </a:rPr>
              <a:t> tariff. Please refer to Slide 79 for details</a:t>
            </a:r>
          </a:p>
        </p:txBody>
      </p:sp>
    </p:spTree>
    <p:extLst>
      <p:ext uri="{BB962C8B-B14F-4D97-AF65-F5344CB8AC3E}">
        <p14:creationId xmlns:p14="http://schemas.microsoft.com/office/powerpoint/2010/main" val="3662315095"/>
      </p:ext>
    </p:extLst>
  </p:cSld>
  <p:clrMapOvr>
    <a:masterClrMapping/>
  </p:clrMapOvr>
  <p:transition>
    <p:fade/>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3" name="Object 2"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4" name="Title 1"/>
          <p:cNvSpPr>
            <a:spLocks noGrp="1"/>
          </p:cNvSpPr>
          <p:nvPr>
            <p:ph type="title"/>
          </p:nvPr>
        </p:nvSpPr>
        <p:spPr>
          <a:xfrm>
            <a:off x="442913" y="654050"/>
            <a:ext cx="9791700" cy="431800"/>
          </a:xfrm>
        </p:spPr>
        <p:txBody>
          <a:bodyPr/>
          <a:lstStyle/>
          <a:p>
            <a:r>
              <a:rPr lang="en-US" dirty="0"/>
              <a:t>Gas Supply Outlook | Summary</a:t>
            </a:r>
            <a:endParaRPr lang="en-IN" dirty="0"/>
          </a:p>
        </p:txBody>
      </p:sp>
      <p:sp>
        <p:nvSpPr>
          <p:cNvPr id="5" name="Strapline"/>
          <p:cNvSpPr txBox="1">
            <a:spLocks/>
          </p:cNvSpPr>
          <p:nvPr/>
        </p:nvSpPr>
        <p:spPr>
          <a:xfrm>
            <a:off x="442912" y="1085850"/>
            <a:ext cx="9793288" cy="519113"/>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 current reserves at </a:t>
            </a:r>
            <a:r>
              <a:rPr kumimoji="0" lang="en-US" sz="1400" b="1" i="0" u="none" strike="noStrike" kern="1200" cap="none" spc="0" normalizeH="0" baseline="0" noProof="0" dirty="0" err="1">
                <a:ln>
                  <a:noFill/>
                </a:ln>
                <a:solidFill>
                  <a:prstClr val="black">
                    <a:lumMod val="50000"/>
                    <a:lumOff val="50000"/>
                  </a:prstClr>
                </a:solidFill>
                <a:effectLst/>
                <a:uLnTx/>
                <a:uFillTx/>
                <a:latin typeface="Verdana" panose="020B0604030504040204" pitchFamily="34" charset="0"/>
                <a:ea typeface="+mn-ea"/>
                <a:cs typeface="+mn-cs"/>
              </a:rPr>
              <a:t>Shahbazpur</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should be able to supply gas for ~21 years. In case of PPA extension of Aggreko &amp; Venture plant, </a:t>
            </a:r>
            <a:r>
              <a:rPr kumimoji="0" lang="en-US" sz="1400" b="1" i="0" u="none" strike="noStrike" kern="1200" cap="none" spc="0" normalizeH="0" baseline="0" noProof="0" dirty="0" err="1">
                <a:ln>
                  <a:noFill/>
                </a:ln>
                <a:solidFill>
                  <a:prstClr val="black">
                    <a:lumMod val="50000"/>
                    <a:lumOff val="50000"/>
                  </a:prstClr>
                </a:solidFill>
                <a:effectLst/>
                <a:uLnTx/>
                <a:uFillTx/>
                <a:latin typeface="Verdana" panose="020B0604030504040204" pitchFamily="34" charset="0"/>
                <a:ea typeface="+mn-ea"/>
                <a:cs typeface="+mn-cs"/>
              </a:rPr>
              <a:t>Shahbazpur</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reserves would sustain operation for ~16 years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 name="Table 8"/>
          <p:cNvGraphicFramePr>
            <a:graphicFrameLocks noGrp="1"/>
          </p:cNvGraphicFramePr>
          <p:nvPr/>
        </p:nvGraphicFramePr>
        <p:xfrm>
          <a:off x="442913" y="1968501"/>
          <a:ext cx="9704938" cy="4581955"/>
        </p:xfrm>
        <a:graphic>
          <a:graphicData uri="http://schemas.openxmlformats.org/drawingml/2006/table">
            <a:tbl>
              <a:tblPr firstRow="1" bandRow="1">
                <a:tableStyleId>{3B4B98B0-60AC-42C2-AFA5-B58CD77FA1E5}</a:tableStyleId>
              </a:tblPr>
              <a:tblGrid>
                <a:gridCol w="605502">
                  <a:extLst>
                    <a:ext uri="{9D8B030D-6E8A-4147-A177-3AD203B41FA5}">
                      <a16:colId xmlns:a16="http://schemas.microsoft.com/office/drawing/2014/main" val="4207744418"/>
                    </a:ext>
                  </a:extLst>
                </a:gridCol>
                <a:gridCol w="1442682">
                  <a:extLst>
                    <a:ext uri="{9D8B030D-6E8A-4147-A177-3AD203B41FA5}">
                      <a16:colId xmlns:a16="http://schemas.microsoft.com/office/drawing/2014/main" val="546554287"/>
                    </a:ext>
                  </a:extLst>
                </a:gridCol>
                <a:gridCol w="4919150">
                  <a:extLst>
                    <a:ext uri="{9D8B030D-6E8A-4147-A177-3AD203B41FA5}">
                      <a16:colId xmlns:a16="http://schemas.microsoft.com/office/drawing/2014/main" val="2546321411"/>
                    </a:ext>
                  </a:extLst>
                </a:gridCol>
                <a:gridCol w="2053819">
                  <a:extLst>
                    <a:ext uri="{9D8B030D-6E8A-4147-A177-3AD203B41FA5}">
                      <a16:colId xmlns:a16="http://schemas.microsoft.com/office/drawing/2014/main" val="187755370"/>
                    </a:ext>
                  </a:extLst>
                </a:gridCol>
                <a:gridCol w="683785">
                  <a:extLst>
                    <a:ext uri="{9D8B030D-6E8A-4147-A177-3AD203B41FA5}">
                      <a16:colId xmlns:a16="http://schemas.microsoft.com/office/drawing/2014/main" val="1794598962"/>
                    </a:ext>
                  </a:extLst>
                </a:gridCol>
              </a:tblGrid>
              <a:tr h="339268">
                <a:tc>
                  <a:txBody>
                    <a:bodyPr/>
                    <a:lstStyle/>
                    <a:p>
                      <a:pPr>
                        <a:lnSpc>
                          <a:spcPct val="100000"/>
                        </a:lnSpc>
                        <a:spcBef>
                          <a:spcPts val="0"/>
                        </a:spcBef>
                        <a:spcAft>
                          <a:spcPts val="0"/>
                        </a:spcAft>
                      </a:pPr>
                      <a:r>
                        <a:rPr lang="en-US" sz="1000" dirty="0"/>
                        <a:t>Sr. No</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pPr>
                        <a:lnSpc>
                          <a:spcPct val="100000"/>
                        </a:lnSpc>
                        <a:spcBef>
                          <a:spcPts val="0"/>
                        </a:spcBef>
                        <a:spcAft>
                          <a:spcPts val="0"/>
                        </a:spcAft>
                      </a:pPr>
                      <a:r>
                        <a:rPr lang="en-US" sz="1000" dirty="0"/>
                        <a:t>Parameter</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pPr>
                        <a:lnSpc>
                          <a:spcPct val="100000"/>
                        </a:lnSpc>
                        <a:spcBef>
                          <a:spcPts val="0"/>
                        </a:spcBef>
                        <a:spcAft>
                          <a:spcPts val="0"/>
                        </a:spcAft>
                      </a:pPr>
                      <a:r>
                        <a:rPr lang="en-US" sz="1000" dirty="0"/>
                        <a:t>Details</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pPr>
                        <a:lnSpc>
                          <a:spcPct val="100000"/>
                        </a:lnSpc>
                        <a:spcBef>
                          <a:spcPts val="0"/>
                        </a:spcBef>
                        <a:spcAft>
                          <a:spcPts val="0"/>
                        </a:spcAft>
                      </a:pPr>
                      <a:r>
                        <a:rPr lang="en-US" sz="1000" dirty="0"/>
                        <a:t>Output</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pPr>
                        <a:lnSpc>
                          <a:spcPct val="100000"/>
                        </a:lnSpc>
                        <a:spcBef>
                          <a:spcPts val="0"/>
                        </a:spcBef>
                        <a:spcAft>
                          <a:spcPts val="0"/>
                        </a:spcAft>
                      </a:pPr>
                      <a:r>
                        <a:rPr lang="en-US" sz="1000" dirty="0"/>
                        <a:t>Ref Slides</a:t>
                      </a:r>
                      <a:endParaRPr lang="en-IN" sz="1000" b="0" dirty="0"/>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34780871"/>
                  </a:ext>
                </a:extLst>
              </a:tr>
              <a:tr h="1383168">
                <a:tc>
                  <a:txBody>
                    <a:bodyPr/>
                    <a:lstStyle/>
                    <a:p>
                      <a:pPr>
                        <a:lnSpc>
                          <a:spcPct val="100000"/>
                        </a:lnSpc>
                        <a:spcBef>
                          <a:spcPts val="0"/>
                        </a:spcBef>
                        <a:spcAft>
                          <a:spcPts val="0"/>
                        </a:spcAft>
                      </a:pPr>
                      <a:r>
                        <a:rPr lang="en-US" sz="1000" dirty="0"/>
                        <a:t>1</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ct val="100000"/>
                        </a:lnSpc>
                        <a:spcBef>
                          <a:spcPts val="0"/>
                        </a:spcBef>
                        <a:spcAft>
                          <a:spcPts val="0"/>
                        </a:spcAft>
                      </a:pPr>
                      <a:r>
                        <a:rPr lang="en-US" sz="1000" b="0" dirty="0"/>
                        <a:t>Gas Availability</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Remaining reserves (2P) at </a:t>
                      </a:r>
                      <a:r>
                        <a:rPr lang="en-US" sz="1000" b="0" kern="1200" baseline="0" dirty="0" err="1">
                          <a:solidFill>
                            <a:schemeClr val="tx1"/>
                          </a:solidFill>
                          <a:latin typeface="+mn-lt"/>
                          <a:ea typeface="+mn-ea"/>
                          <a:cs typeface="+mn-cs"/>
                        </a:rPr>
                        <a:t>Shahbazpur</a:t>
                      </a:r>
                      <a:r>
                        <a:rPr lang="en-US" sz="1000" b="0" kern="1200" baseline="0" dirty="0">
                          <a:solidFill>
                            <a:schemeClr val="tx1"/>
                          </a:solidFill>
                          <a:latin typeface="+mn-lt"/>
                          <a:ea typeface="+mn-ea"/>
                          <a:cs typeface="+mn-cs"/>
                        </a:rPr>
                        <a:t> field were ~27 MMSCMD (351 BCF) in December 2017 as per </a:t>
                      </a:r>
                      <a:r>
                        <a:rPr lang="en-US" sz="1000" b="0" kern="1200" baseline="0" dirty="0" err="1">
                          <a:solidFill>
                            <a:schemeClr val="tx1"/>
                          </a:solidFill>
                          <a:latin typeface="+mn-lt"/>
                          <a:ea typeface="+mn-ea"/>
                          <a:cs typeface="+mn-cs"/>
                        </a:rPr>
                        <a:t>Petrobangla</a:t>
                      </a:r>
                      <a:endParaRPr lang="en-US" sz="1000" b="0" kern="1200" baseline="0" dirty="0">
                        <a:solidFill>
                          <a:schemeClr val="tx1"/>
                        </a:solidFill>
                        <a:latin typeface="+mn-lt"/>
                        <a:ea typeface="+mn-ea"/>
                        <a:cs typeface="+mn-cs"/>
                      </a:endParaRPr>
                    </a:p>
                    <a:p>
                      <a:pPr marL="171450" marR="0" lvl="0" indent="-171450" algn="just" defTabSz="99057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Due to newer gas finds, the remaining reserves at </a:t>
                      </a:r>
                      <a:r>
                        <a:rPr lang="en-US" sz="1000" b="0" kern="1200" baseline="0" dirty="0" err="1">
                          <a:solidFill>
                            <a:schemeClr val="tx1"/>
                          </a:solidFill>
                          <a:latin typeface="+mn-lt"/>
                          <a:ea typeface="+mn-ea"/>
                          <a:cs typeface="+mn-cs"/>
                        </a:rPr>
                        <a:t>Shahbazpur</a:t>
                      </a:r>
                      <a:r>
                        <a:rPr lang="en-US" sz="1000" b="0" kern="1200" baseline="0" dirty="0">
                          <a:solidFill>
                            <a:schemeClr val="tx1"/>
                          </a:solidFill>
                          <a:latin typeface="+mn-lt"/>
                          <a:ea typeface="+mn-ea"/>
                          <a:cs typeface="+mn-cs"/>
                        </a:rPr>
                        <a:t> were increased in December 2018 to ~45.5 MMSCMD (586 BCF); Also there was an additional find at </a:t>
                      </a:r>
                      <a:r>
                        <a:rPr lang="en-US" sz="1000" b="0" kern="1200" baseline="0" dirty="0" err="1">
                          <a:solidFill>
                            <a:schemeClr val="tx1"/>
                          </a:solidFill>
                          <a:latin typeface="+mn-lt"/>
                          <a:ea typeface="+mn-ea"/>
                          <a:cs typeface="+mn-cs"/>
                        </a:rPr>
                        <a:t>Bhola</a:t>
                      </a:r>
                      <a:r>
                        <a:rPr lang="en-US" sz="1000" b="0" kern="1200" baseline="0" dirty="0">
                          <a:solidFill>
                            <a:schemeClr val="tx1"/>
                          </a:solidFill>
                          <a:latin typeface="+mn-lt"/>
                          <a:ea typeface="+mn-ea"/>
                          <a:cs typeface="+mn-cs"/>
                        </a:rPr>
                        <a:t> North fields for 32.6 MMSCMD (420 BCF)</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nSpc>
                          <a:spcPct val="100000"/>
                        </a:lnSpc>
                        <a:spcBef>
                          <a:spcPts val="0"/>
                        </a:spcBef>
                        <a:spcAft>
                          <a:spcPts val="0"/>
                        </a:spcAft>
                        <a:buFont typeface="Arial" panose="020B0604020202020204" pitchFamily="34" charset="0"/>
                        <a:buNone/>
                      </a:pPr>
                      <a:r>
                        <a:rPr lang="en-US" sz="1000" b="0" i="0" baseline="0" dirty="0"/>
                        <a:t>Gas Reserves according to two estimates</a:t>
                      </a:r>
                    </a:p>
                    <a:p>
                      <a:pPr marL="0" indent="0">
                        <a:lnSpc>
                          <a:spcPct val="100000"/>
                        </a:lnSpc>
                        <a:spcBef>
                          <a:spcPts val="0"/>
                        </a:spcBef>
                        <a:spcAft>
                          <a:spcPts val="0"/>
                        </a:spcAft>
                        <a:buFont typeface="Arial" panose="020B0604020202020204" pitchFamily="34" charset="0"/>
                        <a:buNone/>
                      </a:pPr>
                      <a:endParaRPr lang="en-US" sz="1000" b="0" i="0" baseline="0" dirty="0"/>
                    </a:p>
                    <a:p>
                      <a:pPr marL="171450" indent="-171450">
                        <a:lnSpc>
                          <a:spcPct val="100000"/>
                        </a:lnSpc>
                        <a:spcBef>
                          <a:spcPts val="0"/>
                        </a:spcBef>
                        <a:spcAft>
                          <a:spcPts val="0"/>
                        </a:spcAft>
                        <a:buFont typeface="Arial" panose="020B0604020202020204" pitchFamily="34" charset="0"/>
                        <a:buChar char="•"/>
                      </a:pPr>
                      <a:r>
                        <a:rPr lang="en-US" sz="1000" b="0" i="0" baseline="0" dirty="0"/>
                        <a:t>Dec’19 Estimate:</a:t>
                      </a:r>
                    </a:p>
                    <a:p>
                      <a:pPr marL="358775" lvl="1" indent="-184150">
                        <a:lnSpc>
                          <a:spcPct val="100000"/>
                        </a:lnSpc>
                        <a:spcBef>
                          <a:spcPts val="0"/>
                        </a:spcBef>
                        <a:spcAft>
                          <a:spcPts val="0"/>
                        </a:spcAft>
                        <a:buFont typeface="Arial" panose="020B0604020202020204" pitchFamily="34" charset="0"/>
                        <a:buChar char="•"/>
                      </a:pPr>
                      <a:r>
                        <a:rPr lang="en-US" sz="1000" b="0" i="0" baseline="0" dirty="0" err="1"/>
                        <a:t>Shahbazpur</a:t>
                      </a:r>
                      <a:r>
                        <a:rPr lang="en-US" sz="1000" b="0" i="0" baseline="0" dirty="0"/>
                        <a:t>: 549 BCF (~42.6 MMSCMD) </a:t>
                      </a:r>
                    </a:p>
                    <a:p>
                      <a:pPr marL="358775" lvl="1" indent="-184150">
                        <a:lnSpc>
                          <a:spcPct val="100000"/>
                        </a:lnSpc>
                        <a:spcBef>
                          <a:spcPts val="0"/>
                        </a:spcBef>
                        <a:spcAft>
                          <a:spcPts val="0"/>
                        </a:spcAft>
                        <a:buFont typeface="Arial" panose="020B0604020202020204" pitchFamily="34" charset="0"/>
                        <a:buChar char="•"/>
                      </a:pPr>
                      <a:r>
                        <a:rPr lang="en-US" sz="1000" b="0" i="0" baseline="0" dirty="0" err="1"/>
                        <a:t>Bhola</a:t>
                      </a:r>
                      <a:r>
                        <a:rPr lang="en-US" sz="1000" b="0" i="0" baseline="0" dirty="0"/>
                        <a:t> North: 420 BCF (~32.6 MMSCMD)</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3">
                  <a:txBody>
                    <a:bodyPr/>
                    <a:lstStyle/>
                    <a:p>
                      <a:pPr>
                        <a:lnSpc>
                          <a:spcPct val="100000"/>
                        </a:lnSpc>
                        <a:spcBef>
                          <a:spcPts val="0"/>
                        </a:spcBef>
                        <a:spcAft>
                          <a:spcPts val="0"/>
                        </a:spcAft>
                      </a:pPr>
                      <a:r>
                        <a:rPr lang="en-US" sz="1000" b="0" dirty="0"/>
                        <a:t>37, 86-87</a:t>
                      </a:r>
                      <a:endParaRPr lang="en-IN" sz="1000" b="0" dirty="0"/>
                    </a:p>
                  </a:txBody>
                  <a:tcPr anchor="ctr">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859456584"/>
                  </a:ext>
                </a:extLst>
              </a:tr>
              <a:tr h="1491907">
                <a:tc>
                  <a:txBody>
                    <a:bodyPr/>
                    <a:lstStyle/>
                    <a:p>
                      <a:pPr>
                        <a:lnSpc>
                          <a:spcPct val="100000"/>
                        </a:lnSpc>
                        <a:spcBef>
                          <a:spcPts val="0"/>
                        </a:spcBef>
                        <a:spcAft>
                          <a:spcPts val="0"/>
                        </a:spcAft>
                      </a:pPr>
                      <a:r>
                        <a:rPr lang="en-US" sz="1000" dirty="0"/>
                        <a:t>2</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ct val="100000"/>
                        </a:lnSpc>
                        <a:spcBef>
                          <a:spcPts val="0"/>
                        </a:spcBef>
                        <a:spcAft>
                          <a:spcPts val="0"/>
                        </a:spcAft>
                      </a:pPr>
                      <a:r>
                        <a:rPr lang="en-US" sz="1000" b="0" dirty="0"/>
                        <a:t>Gas Requirement</a:t>
                      </a:r>
                    </a:p>
                    <a:p>
                      <a:pPr>
                        <a:lnSpc>
                          <a:spcPct val="100000"/>
                        </a:lnSpc>
                        <a:spcBef>
                          <a:spcPts val="0"/>
                        </a:spcBef>
                        <a:spcAft>
                          <a:spcPts val="0"/>
                        </a:spcAft>
                      </a:pPr>
                      <a:endParaRPr lang="en-US" sz="1000" b="0" dirty="0"/>
                    </a:p>
                    <a:p>
                      <a:pPr>
                        <a:lnSpc>
                          <a:spcPct val="100000"/>
                        </a:lnSpc>
                        <a:spcBef>
                          <a:spcPts val="0"/>
                        </a:spcBef>
                        <a:spcAft>
                          <a:spcPts val="0"/>
                        </a:spcAft>
                      </a:pPr>
                      <a:r>
                        <a:rPr lang="en-US" sz="1000" b="0" dirty="0"/>
                        <a:t>(No</a:t>
                      </a:r>
                      <a:r>
                        <a:rPr lang="en-US" sz="1000" b="0" baseline="0" dirty="0"/>
                        <a:t> PPA extension for Venture &amp; Aggreko)</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Currently 3 power plants operate in the </a:t>
                      </a:r>
                      <a:r>
                        <a:rPr lang="en-US" sz="1000" b="0" kern="1200" baseline="0" dirty="0" err="1">
                          <a:solidFill>
                            <a:schemeClr val="tx1"/>
                          </a:solidFill>
                          <a:latin typeface="+mn-lt"/>
                          <a:ea typeface="+mn-ea"/>
                          <a:cs typeface="+mn-cs"/>
                        </a:rPr>
                        <a:t>Bhola</a:t>
                      </a:r>
                      <a:r>
                        <a:rPr lang="en-US" sz="1000" b="0" kern="1200" baseline="0" dirty="0">
                          <a:solidFill>
                            <a:schemeClr val="tx1"/>
                          </a:solidFill>
                          <a:latin typeface="+mn-lt"/>
                          <a:ea typeface="+mn-ea"/>
                          <a:cs typeface="+mn-cs"/>
                        </a:rPr>
                        <a:t> Island with a cumulative capacity of 353 MW. The retirements as per PSMP and current PPAs for </a:t>
                      </a:r>
                      <a:r>
                        <a:rPr lang="en-US" sz="1000" b="0" kern="1200" baseline="0" dirty="0" err="1">
                          <a:solidFill>
                            <a:schemeClr val="tx1"/>
                          </a:solidFill>
                          <a:latin typeface="+mn-lt"/>
                          <a:ea typeface="+mn-ea"/>
                          <a:cs typeface="+mn-cs"/>
                        </a:rPr>
                        <a:t>Bhola</a:t>
                      </a:r>
                      <a:r>
                        <a:rPr lang="en-US" sz="1000" b="0" kern="1200" baseline="0" dirty="0">
                          <a:solidFill>
                            <a:schemeClr val="tx1"/>
                          </a:solidFill>
                          <a:latin typeface="+mn-lt"/>
                          <a:ea typeface="+mn-ea"/>
                          <a:cs typeface="+mn-cs"/>
                        </a:rPr>
                        <a:t> I, Venture and Aggreko plants are tentatively at FY37, FY22 and FY22 respectively</a:t>
                      </a:r>
                    </a:p>
                    <a:p>
                      <a:pPr marL="171450" marR="0" lvl="0" indent="-171450" algn="just" defTabSz="99057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Considering their current efficiency levels and a normative PLF of 80% the existing plants at </a:t>
                      </a:r>
                      <a:r>
                        <a:rPr lang="en-US" sz="1000" b="0" kern="1200" baseline="0" dirty="0" err="1">
                          <a:solidFill>
                            <a:schemeClr val="tx1"/>
                          </a:solidFill>
                          <a:latin typeface="+mn-lt"/>
                          <a:ea typeface="+mn-ea"/>
                          <a:cs typeface="+mn-cs"/>
                        </a:rPr>
                        <a:t>Bhola</a:t>
                      </a:r>
                      <a:r>
                        <a:rPr lang="en-US" sz="1000" b="0" kern="1200" baseline="0" dirty="0">
                          <a:solidFill>
                            <a:schemeClr val="tx1"/>
                          </a:solidFill>
                          <a:latin typeface="+mn-lt"/>
                          <a:ea typeface="+mn-ea"/>
                          <a:cs typeface="+mn-cs"/>
                        </a:rPr>
                        <a:t> Island and the proposed Nimbus Plant together may require ~2.5 MMSCMD (88 MMSCFD) of gas annually till FY22 and ~1.76 MMSCMD (62 MMSCFD) from FY23 onwards considering plant retirements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nSpc>
                          <a:spcPct val="100000"/>
                        </a:lnSpc>
                        <a:spcBef>
                          <a:spcPts val="0"/>
                        </a:spcBef>
                        <a:spcAft>
                          <a:spcPts val="0"/>
                        </a:spcAft>
                        <a:buFont typeface="Arial" panose="020B0604020202020204" pitchFamily="34" charset="0"/>
                        <a:buNone/>
                      </a:pPr>
                      <a:r>
                        <a:rPr lang="en-US" sz="1000" b="0" i="0" baseline="0" dirty="0"/>
                        <a:t>The expected gas availability for NBBL in accordance with the Gas Estimate and utilization:</a:t>
                      </a:r>
                    </a:p>
                    <a:p>
                      <a:pPr marL="171450" indent="-171450">
                        <a:lnSpc>
                          <a:spcPct val="100000"/>
                        </a:lnSpc>
                        <a:spcBef>
                          <a:spcPts val="0"/>
                        </a:spcBef>
                        <a:spcAft>
                          <a:spcPts val="0"/>
                        </a:spcAft>
                        <a:buFont typeface="Arial" panose="020B0604020202020204" pitchFamily="34" charset="0"/>
                        <a:buChar char="•"/>
                      </a:pPr>
                      <a:r>
                        <a:rPr lang="en-US" sz="1000" b="0" i="0" baseline="0" dirty="0"/>
                        <a:t>Dec’19 Estimate : 21 years (only </a:t>
                      </a:r>
                      <a:r>
                        <a:rPr lang="en-US" sz="1000" b="0" i="0" baseline="0" dirty="0" err="1"/>
                        <a:t>Shahbazpur</a:t>
                      </a:r>
                      <a:r>
                        <a:rPr lang="en-US" sz="1000" b="0" i="0" baseline="0" dirty="0"/>
                        <a:t>) and 22+ years (considering </a:t>
                      </a:r>
                      <a:r>
                        <a:rPr lang="en-US" sz="1000" b="0" i="0" baseline="0" dirty="0" err="1"/>
                        <a:t>Bhola</a:t>
                      </a:r>
                      <a:r>
                        <a:rPr lang="en-US" sz="1000" b="0" i="0" baseline="0" dirty="0"/>
                        <a:t>)</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75894750"/>
                  </a:ext>
                </a:extLst>
              </a:tr>
              <a:tr h="1252680">
                <a:tc>
                  <a:txBody>
                    <a:bodyPr/>
                    <a:lstStyle/>
                    <a:p>
                      <a:pPr>
                        <a:lnSpc>
                          <a:spcPct val="100000"/>
                        </a:lnSpc>
                        <a:spcBef>
                          <a:spcPts val="0"/>
                        </a:spcBef>
                        <a:spcAft>
                          <a:spcPts val="0"/>
                        </a:spcAft>
                      </a:pPr>
                      <a:r>
                        <a:rPr lang="en-US" sz="1000" dirty="0"/>
                        <a:t>3</a:t>
                      </a:r>
                      <a:endParaRPr lang="en-IN" sz="1000" b="0" dirty="0"/>
                    </a:p>
                  </a:txBody>
                  <a:tcPr anchor="ctr">
                    <a:lnT w="12700" cap="flat" cmpd="sng" algn="ctr">
                      <a:solidFill>
                        <a:schemeClr val="tx1"/>
                      </a:solidFill>
                      <a:prstDash val="solid"/>
                      <a:round/>
                      <a:headEnd type="none" w="med" len="med"/>
                      <a:tailEnd type="none" w="med" len="med"/>
                    </a:lnT>
                  </a:tcP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US" sz="1000" b="0" dirty="0"/>
                        <a:t>Gas Requirement</a:t>
                      </a:r>
                    </a:p>
                    <a:p>
                      <a:pPr>
                        <a:lnSpc>
                          <a:spcPct val="100000"/>
                        </a:lnSpc>
                        <a:spcBef>
                          <a:spcPts val="0"/>
                        </a:spcBef>
                        <a:spcAft>
                          <a:spcPts val="0"/>
                        </a:spcAft>
                      </a:pPr>
                      <a:r>
                        <a:rPr lang="en-US" sz="1000" b="0" dirty="0"/>
                        <a:t>(PPA extension for 5 years for Venture &amp; Aggreko)</a:t>
                      </a:r>
                      <a:endParaRPr lang="en-IN" sz="1000" b="0" dirty="0"/>
                    </a:p>
                  </a:txBody>
                  <a:tcPr anchor="ctr">
                    <a:lnT w="12700" cap="flat" cmpd="sng" algn="ctr">
                      <a:solidFill>
                        <a:schemeClr val="tx1"/>
                      </a:solidFill>
                      <a:prstDash val="solid"/>
                      <a:round/>
                      <a:headEnd type="none" w="med" len="med"/>
                      <a:tailEnd type="none" w="med" len="med"/>
                    </a:lnT>
                  </a:tcPr>
                </a:tc>
                <a:tc>
                  <a:txBody>
                    <a:bodyPr/>
                    <a:lstStyle/>
                    <a:p>
                      <a:pPr marL="171450" marR="0" lvl="0" indent="-171450" algn="just" defTabSz="99057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00" b="0" baseline="0" dirty="0">
                          <a:solidFill>
                            <a:schemeClr val="tx1"/>
                          </a:solidFill>
                        </a:rPr>
                        <a:t>The Venture &amp; Aggreko plants together require ~ 0.7 MMSCMD (26 MMSCFD) of gas annually. Both these plants are over 10 years of age and hence further PPA extension is not expected</a:t>
                      </a:r>
                    </a:p>
                    <a:p>
                      <a:pPr marL="171450" marR="0" lvl="0" indent="-171450" algn="just" defTabSz="99057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00" b="0" i="0" kern="1200" baseline="0" dirty="0">
                          <a:solidFill>
                            <a:schemeClr val="tx1"/>
                          </a:solidFill>
                          <a:latin typeface="+mn-lt"/>
                          <a:ea typeface="+mn-ea"/>
                          <a:cs typeface="+mn-cs"/>
                        </a:rPr>
                        <a:t>However in case these plants do get PPA extensions (5 Years till FY27), then the gas reserves at </a:t>
                      </a:r>
                      <a:r>
                        <a:rPr lang="en-US" sz="1000" b="0" i="0" kern="1200" baseline="0" dirty="0" err="1">
                          <a:solidFill>
                            <a:schemeClr val="tx1"/>
                          </a:solidFill>
                          <a:latin typeface="+mn-lt"/>
                          <a:ea typeface="+mn-ea"/>
                          <a:cs typeface="+mn-cs"/>
                        </a:rPr>
                        <a:t>Bhola</a:t>
                      </a:r>
                      <a:r>
                        <a:rPr lang="en-US" sz="1000" b="0" i="0" kern="1200" baseline="0" dirty="0">
                          <a:solidFill>
                            <a:schemeClr val="tx1"/>
                          </a:solidFill>
                          <a:latin typeface="+mn-lt"/>
                          <a:ea typeface="+mn-ea"/>
                          <a:cs typeface="+mn-cs"/>
                        </a:rPr>
                        <a:t> Island would have to supply to the plants affecting the overall availability of gas for Nimbus</a:t>
                      </a:r>
                      <a:endParaRPr lang="en-US" sz="1000" b="0" i="0" baseline="0" dirty="0">
                        <a:solidFill>
                          <a:schemeClr val="tx1"/>
                        </a:solidFill>
                      </a:endParaRPr>
                    </a:p>
                  </a:txBody>
                  <a:tcPr anchor="ctr">
                    <a:lnT w="12700" cap="flat" cmpd="sng" algn="ctr">
                      <a:solidFill>
                        <a:schemeClr val="tx1"/>
                      </a:solidFill>
                      <a:prstDash val="solid"/>
                      <a:round/>
                      <a:headEnd type="none" w="med" len="med"/>
                      <a:tailEnd type="none" w="med" len="med"/>
                    </a:lnT>
                  </a:tcPr>
                </a:tc>
                <a:tc>
                  <a:txBody>
                    <a:bodyPr/>
                    <a:lstStyle/>
                    <a:p>
                      <a:pPr marL="0" marR="0" lvl="0" indent="0" algn="l" defTabSz="990571"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000" b="0" i="0" baseline="0" dirty="0"/>
                        <a:t>The expected gas availability for NBBL in accordance with the Gas Estimate and utilization:</a:t>
                      </a:r>
                    </a:p>
                    <a:p>
                      <a:pPr marL="171450" marR="0" lvl="0" indent="-171450" algn="l" defTabSz="99057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00" b="0" i="0" baseline="0" dirty="0"/>
                        <a:t>Dec’19 Estimate : 16 years (only </a:t>
                      </a:r>
                      <a:r>
                        <a:rPr lang="en-US" sz="1000" b="0" i="0" baseline="0" dirty="0" err="1"/>
                        <a:t>Shahbazpur</a:t>
                      </a:r>
                      <a:r>
                        <a:rPr lang="en-US" sz="1000" b="0" i="0" baseline="0" dirty="0"/>
                        <a:t>) and 22+ years (considering </a:t>
                      </a:r>
                      <a:r>
                        <a:rPr lang="en-US" sz="1000" b="0" i="0" baseline="0" dirty="0" err="1"/>
                        <a:t>Bhola</a:t>
                      </a:r>
                      <a:r>
                        <a:rPr lang="en-US" sz="1000" b="0" i="0" baseline="0" dirty="0"/>
                        <a:t>)</a:t>
                      </a:r>
                    </a:p>
                  </a:txBody>
                  <a:tcPr anchor="ctr">
                    <a:lnT w="12700" cap="flat" cmpd="sng" algn="ctr">
                      <a:solidFill>
                        <a:schemeClr val="tx1"/>
                      </a:solidFill>
                      <a:prstDash val="solid"/>
                      <a:round/>
                      <a:headEnd type="none" w="med" len="med"/>
                      <a:tailEnd type="none" w="med" len="med"/>
                    </a:lnT>
                  </a:tcPr>
                </a:tc>
                <a:tc vMerge="1">
                  <a:txBody>
                    <a:bodyPr/>
                    <a:lstStyle/>
                    <a:p>
                      <a:endParaRPr lang="en-IN" sz="1000" b="0" dirty="0"/>
                    </a:p>
                  </a:txBody>
                  <a:tcPr anchor="ctr">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3259629738"/>
                  </a:ext>
                </a:extLst>
              </a:tr>
            </a:tbl>
          </a:graphicData>
        </a:graphic>
      </p:graphicFrame>
      <p:sp>
        <p:nvSpPr>
          <p:cNvPr id="12" name="Rectangle 11"/>
          <p:cNvSpPr/>
          <p:nvPr/>
        </p:nvSpPr>
        <p:spPr bwMode="gray">
          <a:xfrm>
            <a:off x="377114" y="7291267"/>
            <a:ext cx="9936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Petrobangla, Deloitte Analysis Note 1) The Efficiency of, Venture 33 MW and Aggreko 95 MW considered as per existing efficiency levels in FY19 2) The Efficiency of Nimbus Plant considered at 46% (in line with PPA condition with 80% PLF 3) All the plants have been considered to be operating at 80% average annual PLF to determine annual gas requirement 4) 2P Reserves estimated for Dec 19 considering plant dispatch levels of ~80% for the Bhola I, Venture and Aggreko plants</a:t>
            </a:r>
          </a:p>
        </p:txBody>
      </p:sp>
      <p:sp>
        <p:nvSpPr>
          <p:cNvPr id="6" name="Rectangle 5"/>
          <p:cNvSpPr/>
          <p:nvPr/>
        </p:nvSpPr>
        <p:spPr>
          <a:xfrm>
            <a:off x="545018" y="6513746"/>
            <a:ext cx="9500728" cy="777521"/>
          </a:xfrm>
          <a:prstGeom prst="rect">
            <a:avLst/>
          </a:prstGeom>
        </p:spPr>
        <p:txBody>
          <a:bodyPr wrap="square">
            <a:spAutoFit/>
          </a:bodyPr>
          <a:lstStyle/>
          <a:p>
            <a:pPr marL="0" marR="0" lvl="0" indent="0" algn="ctr" defTabSz="914400" rtl="0" eaLnBrk="1" fontAlgn="auto" latinLnBrk="0" hangingPunct="1">
              <a:lnSpc>
                <a:spcPct val="106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0097A9"/>
                </a:solidFill>
                <a:effectLst/>
                <a:uLnTx/>
                <a:uFillTx/>
                <a:latin typeface="Verdana"/>
                <a:ea typeface="+mn-ea"/>
                <a:cs typeface="+mn-cs"/>
              </a:rPr>
              <a:t>As per the revised reserve estimates by </a:t>
            </a:r>
            <a:r>
              <a:rPr kumimoji="0" lang="en-US" sz="1400" b="1" i="1" u="none" strike="noStrike" kern="1200" cap="none" spc="0" normalizeH="0" baseline="0" noProof="0" dirty="0" err="1">
                <a:ln>
                  <a:noFill/>
                </a:ln>
                <a:solidFill>
                  <a:srgbClr val="0097A9"/>
                </a:solidFill>
                <a:effectLst/>
                <a:uLnTx/>
                <a:uFillTx/>
                <a:latin typeface="Verdana"/>
                <a:ea typeface="+mn-ea"/>
                <a:cs typeface="+mn-cs"/>
              </a:rPr>
              <a:t>Petrobangla</a:t>
            </a:r>
            <a:r>
              <a:rPr kumimoji="0" lang="en-US" sz="1400" b="1" i="1" u="none" strike="noStrike" kern="1200" cap="none" spc="0" normalizeH="0" baseline="0" noProof="0" dirty="0">
                <a:ln>
                  <a:noFill/>
                </a:ln>
                <a:solidFill>
                  <a:srgbClr val="0097A9"/>
                </a:solidFill>
                <a:effectLst/>
                <a:uLnTx/>
                <a:uFillTx/>
                <a:latin typeface="Verdana"/>
                <a:ea typeface="+mn-ea"/>
                <a:cs typeface="+mn-cs"/>
              </a:rPr>
              <a:t> for </a:t>
            </a:r>
            <a:r>
              <a:rPr kumimoji="0" lang="en-US" sz="1400" b="1" i="1" u="none" strike="noStrike" kern="1200" cap="none" spc="0" normalizeH="0" baseline="0" noProof="0" dirty="0" err="1">
                <a:ln>
                  <a:noFill/>
                </a:ln>
                <a:solidFill>
                  <a:srgbClr val="0097A9"/>
                </a:solidFill>
                <a:effectLst/>
                <a:uLnTx/>
                <a:uFillTx/>
                <a:latin typeface="Verdana"/>
                <a:ea typeface="+mn-ea"/>
                <a:cs typeface="+mn-cs"/>
              </a:rPr>
              <a:t>Shahbazpur</a:t>
            </a:r>
            <a:r>
              <a:rPr kumimoji="0" lang="en-US" sz="1400" b="1" i="1" u="none" strike="noStrike" kern="1200" cap="none" spc="0" normalizeH="0" baseline="0" noProof="0" dirty="0">
                <a:ln>
                  <a:noFill/>
                </a:ln>
                <a:solidFill>
                  <a:srgbClr val="0097A9"/>
                </a:solidFill>
                <a:effectLst/>
                <a:uLnTx/>
                <a:uFillTx/>
                <a:latin typeface="Verdana"/>
                <a:ea typeface="+mn-ea"/>
                <a:cs typeface="+mn-cs"/>
              </a:rPr>
              <a:t> &amp; </a:t>
            </a:r>
            <a:r>
              <a:rPr kumimoji="0" lang="en-US" sz="1400" b="1" i="1" u="none" strike="noStrike" kern="1200" cap="none" spc="0" normalizeH="0" baseline="0" noProof="0" dirty="0" err="1">
                <a:ln>
                  <a:noFill/>
                </a:ln>
                <a:solidFill>
                  <a:srgbClr val="0097A9"/>
                </a:solidFill>
                <a:effectLst/>
                <a:uLnTx/>
                <a:uFillTx/>
                <a:latin typeface="Verdana"/>
                <a:ea typeface="+mn-ea"/>
                <a:cs typeface="+mn-cs"/>
              </a:rPr>
              <a:t>Bhola</a:t>
            </a:r>
            <a:r>
              <a:rPr kumimoji="0" lang="en-US" sz="1400" b="1" i="1" u="none" strike="noStrike" kern="1200" cap="none" spc="0" normalizeH="0" baseline="0" noProof="0" dirty="0">
                <a:ln>
                  <a:noFill/>
                </a:ln>
                <a:solidFill>
                  <a:srgbClr val="0097A9"/>
                </a:solidFill>
                <a:effectLst/>
                <a:uLnTx/>
                <a:uFillTx/>
                <a:latin typeface="Verdana"/>
                <a:ea typeface="+mn-ea"/>
                <a:cs typeface="+mn-cs"/>
              </a:rPr>
              <a:t> North fields, there seems to be sufficient gas reserves for NBBL; However a technical gas reserve study needs to be conducted for validation of the same</a:t>
            </a:r>
          </a:p>
        </p:txBody>
      </p:sp>
    </p:spTree>
    <p:extLst>
      <p:ext uri="{BB962C8B-B14F-4D97-AF65-F5344CB8AC3E}">
        <p14:creationId xmlns:p14="http://schemas.microsoft.com/office/powerpoint/2010/main" val="4180360858"/>
      </p:ext>
    </p:extLst>
  </p:cSld>
  <p:clrMapOvr>
    <a:masterClrMapping/>
  </p:clrMapOvr>
  <p:transition>
    <p:fade/>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3" name="Object 2"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4" name="Title 1"/>
          <p:cNvSpPr>
            <a:spLocks noGrp="1"/>
          </p:cNvSpPr>
          <p:nvPr>
            <p:ph type="title"/>
          </p:nvPr>
        </p:nvSpPr>
        <p:spPr>
          <a:xfrm>
            <a:off x="442913" y="654050"/>
            <a:ext cx="9791700" cy="431800"/>
          </a:xfrm>
        </p:spPr>
        <p:txBody>
          <a:bodyPr/>
          <a:lstStyle/>
          <a:p>
            <a:r>
              <a:rPr lang="en-US" dirty="0"/>
              <a:t>Gas Transmission Outlook | Summary</a:t>
            </a:r>
            <a:endParaRPr lang="en-IN" dirty="0"/>
          </a:p>
        </p:txBody>
      </p:sp>
      <p:sp>
        <p:nvSpPr>
          <p:cNvPr id="5" name="Strapline"/>
          <p:cNvSpPr txBox="1">
            <a:spLocks/>
          </p:cNvSpPr>
          <p:nvPr/>
        </p:nvSpPr>
        <p:spPr>
          <a:xfrm>
            <a:off x="442912" y="1085850"/>
            <a:ext cx="9793288" cy="519113"/>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Due to delay in construction of dedicated pipeline to Nimbus plant, NBBL has arranged temporary supply of natural gas from </a:t>
            </a:r>
            <a:r>
              <a:rPr kumimoji="0" lang="en-US" sz="1400" b="1" i="0" u="none" strike="noStrike" kern="1200" cap="none" spc="0" normalizeH="0" baseline="0" noProof="0" dirty="0" err="1">
                <a:ln>
                  <a:noFill/>
                </a:ln>
                <a:solidFill>
                  <a:prstClr val="black">
                    <a:lumMod val="50000"/>
                    <a:lumOff val="50000"/>
                  </a:prstClr>
                </a:solidFill>
                <a:effectLst/>
                <a:uLnTx/>
                <a:uFillTx/>
                <a:latin typeface="Verdana" panose="020B0604030504040204" pitchFamily="34" charset="0"/>
                <a:ea typeface="+mn-ea"/>
                <a:cs typeface="+mn-cs"/>
              </a:rPr>
              <a:t>Bhola</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I gas supply pipeline; Plans for pipeline connecting </a:t>
            </a:r>
            <a:r>
              <a:rPr kumimoji="0" lang="en-US" sz="1400" b="1" i="0" u="none" strike="noStrike" kern="1200" cap="none" spc="0" normalizeH="0" baseline="0" noProof="0" dirty="0" err="1">
                <a:ln>
                  <a:noFill/>
                </a:ln>
                <a:solidFill>
                  <a:prstClr val="black">
                    <a:lumMod val="50000"/>
                    <a:lumOff val="50000"/>
                  </a:prstClr>
                </a:solidFill>
                <a:effectLst/>
                <a:uLnTx/>
                <a:uFillTx/>
                <a:latin typeface="Verdana" panose="020B0604030504040204" pitchFamily="34" charset="0"/>
                <a:ea typeface="+mn-ea"/>
                <a:cs typeface="+mn-cs"/>
              </a:rPr>
              <a:t>Bhola</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Island to </a:t>
            </a:r>
            <a:r>
              <a:rPr kumimoji="0" lang="en-US" sz="1400" b="1" i="0" u="none" strike="noStrike" kern="1200" cap="none" spc="0" normalizeH="0" baseline="0" noProof="0" dirty="0" err="1">
                <a:ln>
                  <a:noFill/>
                </a:ln>
                <a:solidFill>
                  <a:prstClr val="black">
                    <a:lumMod val="50000"/>
                    <a:lumOff val="50000"/>
                  </a:prstClr>
                </a:solidFill>
                <a:effectLst/>
                <a:uLnTx/>
                <a:uFillTx/>
                <a:latin typeface="Verdana" panose="020B0604030504040204" pitchFamily="34" charset="0"/>
                <a:ea typeface="+mn-ea"/>
                <a:cs typeface="+mn-cs"/>
              </a:rPr>
              <a:t>Barishal</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do not pose a risk in short to medium term for supply to NBBL</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 name="Table 8"/>
          <p:cNvGraphicFramePr>
            <a:graphicFrameLocks noGrp="1"/>
          </p:cNvGraphicFramePr>
          <p:nvPr/>
        </p:nvGraphicFramePr>
        <p:xfrm>
          <a:off x="492758" y="1955196"/>
          <a:ext cx="9704938" cy="4224020"/>
        </p:xfrm>
        <a:graphic>
          <a:graphicData uri="http://schemas.openxmlformats.org/drawingml/2006/table">
            <a:tbl>
              <a:tblPr firstRow="1" bandRow="1">
                <a:tableStyleId>{3B4B98B0-60AC-42C2-AFA5-B58CD77FA1E5}</a:tableStyleId>
              </a:tblPr>
              <a:tblGrid>
                <a:gridCol w="605502">
                  <a:extLst>
                    <a:ext uri="{9D8B030D-6E8A-4147-A177-3AD203B41FA5}">
                      <a16:colId xmlns:a16="http://schemas.microsoft.com/office/drawing/2014/main" val="4207744418"/>
                    </a:ext>
                  </a:extLst>
                </a:gridCol>
                <a:gridCol w="1442682">
                  <a:extLst>
                    <a:ext uri="{9D8B030D-6E8A-4147-A177-3AD203B41FA5}">
                      <a16:colId xmlns:a16="http://schemas.microsoft.com/office/drawing/2014/main" val="546554287"/>
                    </a:ext>
                  </a:extLst>
                </a:gridCol>
                <a:gridCol w="4919150">
                  <a:extLst>
                    <a:ext uri="{9D8B030D-6E8A-4147-A177-3AD203B41FA5}">
                      <a16:colId xmlns:a16="http://schemas.microsoft.com/office/drawing/2014/main" val="2546321411"/>
                    </a:ext>
                  </a:extLst>
                </a:gridCol>
                <a:gridCol w="2053819">
                  <a:extLst>
                    <a:ext uri="{9D8B030D-6E8A-4147-A177-3AD203B41FA5}">
                      <a16:colId xmlns:a16="http://schemas.microsoft.com/office/drawing/2014/main" val="187755370"/>
                    </a:ext>
                  </a:extLst>
                </a:gridCol>
                <a:gridCol w="683785">
                  <a:extLst>
                    <a:ext uri="{9D8B030D-6E8A-4147-A177-3AD203B41FA5}">
                      <a16:colId xmlns:a16="http://schemas.microsoft.com/office/drawing/2014/main" val="1794598962"/>
                    </a:ext>
                  </a:extLst>
                </a:gridCol>
              </a:tblGrid>
              <a:tr h="314907">
                <a:tc>
                  <a:txBody>
                    <a:bodyPr/>
                    <a:lstStyle/>
                    <a:p>
                      <a:r>
                        <a:rPr lang="en-US" sz="1000" dirty="0"/>
                        <a:t>Sr. No</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Parameter</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Details</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Output</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Ref Slides</a:t>
                      </a:r>
                      <a:endParaRPr lang="en-IN" sz="1000" b="0" dirty="0"/>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34780871"/>
                  </a:ext>
                </a:extLst>
              </a:tr>
              <a:tr h="1727950">
                <a:tc>
                  <a:txBody>
                    <a:bodyPr/>
                    <a:lstStyle/>
                    <a:p>
                      <a:r>
                        <a:rPr lang="en-US" sz="1000" dirty="0"/>
                        <a:t>1</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sz="1000" b="0" dirty="0"/>
                        <a:t>Current Arrangement</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just">
                        <a:spcBef>
                          <a:spcPts val="0"/>
                        </a:spcBef>
                        <a:spcAft>
                          <a:spcPts val="500"/>
                        </a:spcAft>
                        <a:buFont typeface="Arial" panose="020B0604020202020204" pitchFamily="34" charset="0"/>
                        <a:buChar char="•"/>
                      </a:pPr>
                      <a:r>
                        <a:rPr lang="en-US" sz="1000" b="0" baseline="0" dirty="0">
                          <a:solidFill>
                            <a:schemeClr val="tx1"/>
                          </a:solidFill>
                        </a:rPr>
                        <a:t>The distribution franchise for </a:t>
                      </a:r>
                      <a:r>
                        <a:rPr lang="en-US" sz="1000" b="0" baseline="0" dirty="0" err="1">
                          <a:solidFill>
                            <a:schemeClr val="tx1"/>
                          </a:solidFill>
                        </a:rPr>
                        <a:t>Bhola</a:t>
                      </a:r>
                      <a:r>
                        <a:rPr lang="en-US" sz="1000" b="0" baseline="0" dirty="0">
                          <a:solidFill>
                            <a:schemeClr val="tx1"/>
                          </a:solidFill>
                        </a:rPr>
                        <a:t> island is with SGCL</a:t>
                      </a:r>
                    </a:p>
                    <a:p>
                      <a:pPr marL="171450" indent="-171450" algn="just">
                        <a:spcBef>
                          <a:spcPts val="0"/>
                        </a:spcBef>
                        <a:spcAft>
                          <a:spcPts val="500"/>
                        </a:spcAft>
                        <a:buFont typeface="Arial" panose="020B0604020202020204" pitchFamily="34" charset="0"/>
                        <a:buChar char="•"/>
                      </a:pPr>
                      <a:r>
                        <a:rPr lang="en-US" sz="1000" b="0" baseline="0" dirty="0">
                          <a:solidFill>
                            <a:schemeClr val="tx1"/>
                          </a:solidFill>
                        </a:rPr>
                        <a:t>Currently, </a:t>
                      </a:r>
                      <a:r>
                        <a:rPr lang="en-US" sz="1000" b="0" baseline="0" dirty="0" err="1">
                          <a:solidFill>
                            <a:schemeClr val="tx1"/>
                          </a:solidFill>
                        </a:rPr>
                        <a:t>Bhola</a:t>
                      </a:r>
                      <a:r>
                        <a:rPr lang="en-US" sz="1000" b="0" baseline="0" dirty="0">
                          <a:solidFill>
                            <a:schemeClr val="tx1"/>
                          </a:solidFill>
                        </a:rPr>
                        <a:t> 1 Power Plant receives gas from </a:t>
                      </a:r>
                      <a:r>
                        <a:rPr lang="en-US" sz="1000" b="0" baseline="0" dirty="0" err="1">
                          <a:solidFill>
                            <a:schemeClr val="tx1"/>
                          </a:solidFill>
                        </a:rPr>
                        <a:t>Shahbazpur</a:t>
                      </a:r>
                      <a:r>
                        <a:rPr lang="en-US" sz="1000" b="0" baseline="0" dirty="0">
                          <a:solidFill>
                            <a:schemeClr val="tx1"/>
                          </a:solidFill>
                        </a:rPr>
                        <a:t> Gas Field via underground pipeline from Gas Field to SGCL Valve Station at </a:t>
                      </a:r>
                      <a:r>
                        <a:rPr lang="en-US" sz="1000" b="0" baseline="0" dirty="0" err="1">
                          <a:solidFill>
                            <a:schemeClr val="tx1"/>
                          </a:solidFill>
                        </a:rPr>
                        <a:t>Borhanuddin</a:t>
                      </a:r>
                      <a:endParaRPr lang="en-US" sz="1000" b="0" baseline="0" dirty="0">
                        <a:solidFill>
                          <a:schemeClr val="tx1"/>
                        </a:solidFill>
                      </a:endParaRPr>
                    </a:p>
                    <a:p>
                      <a:pPr marL="171450" indent="-171450" algn="just">
                        <a:spcBef>
                          <a:spcPts val="0"/>
                        </a:spcBef>
                        <a:spcAft>
                          <a:spcPts val="500"/>
                        </a:spcAft>
                        <a:buFont typeface="Arial" panose="020B0604020202020204" pitchFamily="34" charset="0"/>
                        <a:buChar char="•"/>
                      </a:pPr>
                      <a:r>
                        <a:rPr lang="en-US" sz="1000" b="0" baseline="0" dirty="0">
                          <a:solidFill>
                            <a:schemeClr val="tx1"/>
                          </a:solidFill>
                        </a:rPr>
                        <a:t>For NBBL 200 MW CCPP, a pipeline has been proposed from </a:t>
                      </a:r>
                      <a:r>
                        <a:rPr lang="en-US" sz="1000" b="0" baseline="0" dirty="0" err="1">
                          <a:solidFill>
                            <a:schemeClr val="tx1"/>
                          </a:solidFill>
                        </a:rPr>
                        <a:t>Shahbazpur</a:t>
                      </a:r>
                      <a:r>
                        <a:rPr lang="en-US" sz="1000" b="0" baseline="0" dirty="0">
                          <a:solidFill>
                            <a:schemeClr val="tx1"/>
                          </a:solidFill>
                        </a:rPr>
                        <a:t> Gas Field to Plant site</a:t>
                      </a:r>
                    </a:p>
                    <a:p>
                      <a:pPr marL="171450" indent="-171450" algn="just">
                        <a:spcBef>
                          <a:spcPts val="0"/>
                        </a:spcBef>
                        <a:spcAft>
                          <a:spcPts val="500"/>
                        </a:spcAft>
                        <a:buFont typeface="Arial" panose="020B0604020202020204" pitchFamily="34" charset="0"/>
                        <a:buChar char="•"/>
                      </a:pPr>
                      <a:r>
                        <a:rPr lang="en-US" sz="1000" b="0" baseline="0" dirty="0">
                          <a:solidFill>
                            <a:schemeClr val="tx1"/>
                          </a:solidFill>
                        </a:rPr>
                        <a:t>However, considering delay in construction, NBBL has constructed a temporary pipeline and RMS for gas supply from </a:t>
                      </a:r>
                      <a:r>
                        <a:rPr lang="en-US" sz="1000" b="0" baseline="0" dirty="0" err="1">
                          <a:solidFill>
                            <a:schemeClr val="tx1"/>
                          </a:solidFill>
                        </a:rPr>
                        <a:t>Bhola</a:t>
                      </a:r>
                      <a:r>
                        <a:rPr lang="en-US" sz="1000" b="0" baseline="0" dirty="0">
                          <a:solidFill>
                            <a:schemeClr val="tx1"/>
                          </a:solidFill>
                        </a:rPr>
                        <a:t> 1 RMS. </a:t>
                      </a:r>
                    </a:p>
                    <a:p>
                      <a:pPr marL="171450" indent="-171450" algn="just">
                        <a:spcBef>
                          <a:spcPts val="0"/>
                        </a:spcBef>
                        <a:spcAft>
                          <a:spcPts val="500"/>
                        </a:spcAft>
                        <a:buFont typeface="Arial" panose="020B0604020202020204" pitchFamily="34" charset="0"/>
                        <a:buChar char="•"/>
                      </a:pPr>
                      <a:r>
                        <a:rPr lang="en-US" sz="1000" b="0" baseline="0" dirty="0">
                          <a:solidFill>
                            <a:schemeClr val="tx1"/>
                          </a:solidFill>
                        </a:rPr>
                        <a:t>The current </a:t>
                      </a:r>
                      <a:r>
                        <a:rPr lang="en-US" sz="1000" b="0" baseline="0" dirty="0" err="1">
                          <a:solidFill>
                            <a:schemeClr val="tx1"/>
                          </a:solidFill>
                        </a:rPr>
                        <a:t>Bhola</a:t>
                      </a:r>
                      <a:r>
                        <a:rPr lang="en-US" sz="1000" b="0" baseline="0" dirty="0">
                          <a:solidFill>
                            <a:schemeClr val="tx1"/>
                          </a:solidFill>
                        </a:rPr>
                        <a:t> 1 RMS is capable of supplying ~2.1 MMSCMD (75 </a:t>
                      </a:r>
                      <a:r>
                        <a:rPr lang="en-US" sz="1000" b="0" baseline="0" dirty="0" err="1">
                          <a:solidFill>
                            <a:schemeClr val="tx1"/>
                          </a:solidFill>
                        </a:rPr>
                        <a:t>mmscfd</a:t>
                      </a:r>
                      <a:r>
                        <a:rPr lang="en-US" sz="1000" b="0" baseline="0" dirty="0">
                          <a:solidFill>
                            <a:schemeClr val="tx1"/>
                          </a:solidFill>
                        </a:rPr>
                        <a:t>) gas, which would be sufficient for both plants</a:t>
                      </a:r>
                    </a:p>
                    <a:p>
                      <a:pPr marL="171450" indent="-171450" algn="just">
                        <a:spcBef>
                          <a:spcPts val="0"/>
                        </a:spcBef>
                        <a:spcAft>
                          <a:spcPts val="500"/>
                        </a:spcAft>
                        <a:buFont typeface="Arial" panose="020B0604020202020204" pitchFamily="34" charset="0"/>
                        <a:buChar char="•"/>
                      </a:pPr>
                      <a:r>
                        <a:rPr lang="en-US" sz="1000" b="0" baseline="0" dirty="0">
                          <a:solidFill>
                            <a:schemeClr val="tx1"/>
                          </a:solidFill>
                        </a:rPr>
                        <a:t>Post commissioning of the SGCL – </a:t>
                      </a:r>
                      <a:r>
                        <a:rPr lang="en-US" sz="1000" b="0" baseline="0" dirty="0" err="1">
                          <a:solidFill>
                            <a:schemeClr val="tx1"/>
                          </a:solidFill>
                        </a:rPr>
                        <a:t>Shahbazpur</a:t>
                      </a:r>
                      <a:r>
                        <a:rPr lang="en-US" sz="1000" b="0" baseline="0" dirty="0">
                          <a:solidFill>
                            <a:schemeClr val="tx1"/>
                          </a:solidFill>
                        </a:rPr>
                        <a:t> pipeline (expected by FY21) for NBBL, the gas would be supplied directly from the fields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buFont typeface="Arial" panose="020B0604020202020204" pitchFamily="34" charset="0"/>
                        <a:buNone/>
                      </a:pPr>
                      <a:r>
                        <a:rPr lang="en-US" sz="1000" b="0" i="0" baseline="0" dirty="0"/>
                        <a:t>Current Gas transmission arrangement from </a:t>
                      </a:r>
                      <a:r>
                        <a:rPr lang="en-US" sz="1000" b="0" i="0" baseline="0" dirty="0" err="1"/>
                        <a:t>Bhola</a:t>
                      </a:r>
                      <a:r>
                        <a:rPr lang="en-US" sz="1000" b="0" i="0" baseline="0" dirty="0"/>
                        <a:t> 1 RMS is sufficient to meet requirements for both plants at max utilization</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2">
                  <a:txBody>
                    <a:bodyPr/>
                    <a:lstStyle/>
                    <a:p>
                      <a:r>
                        <a:rPr lang="en-US" sz="1000" b="0" dirty="0"/>
                        <a:t>89-90</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9456584"/>
                  </a:ext>
                </a:extLst>
              </a:tr>
              <a:tr h="935843">
                <a:tc>
                  <a:txBody>
                    <a:bodyPr/>
                    <a:lstStyle/>
                    <a:p>
                      <a:r>
                        <a:rPr lang="en-US" sz="1000" dirty="0"/>
                        <a:t>2</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sz="1000" b="0" dirty="0"/>
                        <a:t>Future Gas</a:t>
                      </a:r>
                      <a:r>
                        <a:rPr lang="en-US" sz="1000" b="0" baseline="0" dirty="0"/>
                        <a:t> outlook for </a:t>
                      </a:r>
                      <a:r>
                        <a:rPr lang="en-US" sz="1000" b="0" baseline="0" dirty="0" err="1"/>
                        <a:t>Bhola</a:t>
                      </a:r>
                      <a:r>
                        <a:rPr lang="en-US" sz="1000" b="0" baseline="0" dirty="0"/>
                        <a:t> island</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Construction of the SGCL – </a:t>
                      </a:r>
                      <a:r>
                        <a:rPr lang="en-US" sz="1000" b="0" kern="1200" baseline="0" dirty="0" err="1">
                          <a:solidFill>
                            <a:schemeClr val="tx1"/>
                          </a:solidFill>
                          <a:latin typeface="+mn-lt"/>
                          <a:ea typeface="+mn-ea"/>
                          <a:cs typeface="+mn-cs"/>
                        </a:rPr>
                        <a:t>Shahbazpur</a:t>
                      </a:r>
                      <a:r>
                        <a:rPr lang="en-US" sz="1000" b="0" kern="1200" baseline="0" dirty="0">
                          <a:solidFill>
                            <a:schemeClr val="tx1"/>
                          </a:solidFill>
                          <a:latin typeface="+mn-lt"/>
                          <a:ea typeface="+mn-ea"/>
                          <a:cs typeface="+mn-cs"/>
                        </a:rPr>
                        <a:t> pipeline (7 </a:t>
                      </a:r>
                      <a:r>
                        <a:rPr lang="en-US" sz="1000" b="0" kern="1200" baseline="0" dirty="0" err="1">
                          <a:solidFill>
                            <a:schemeClr val="tx1"/>
                          </a:solidFill>
                          <a:latin typeface="+mn-lt"/>
                          <a:ea typeface="+mn-ea"/>
                          <a:cs typeface="+mn-cs"/>
                        </a:rPr>
                        <a:t>Kms</a:t>
                      </a:r>
                      <a:r>
                        <a:rPr lang="en-US" sz="1000" b="0" kern="1200" baseline="0" dirty="0">
                          <a:solidFill>
                            <a:schemeClr val="tx1"/>
                          </a:solidFill>
                          <a:latin typeface="+mn-lt"/>
                          <a:ea typeface="+mn-ea"/>
                          <a:cs typeface="+mn-cs"/>
                        </a:rPr>
                        <a:t>, 12 inch diameter) is expected to be completed by FY21 leading to direct gas supply from </a:t>
                      </a:r>
                      <a:r>
                        <a:rPr lang="en-US" sz="1000" b="0" kern="1200" baseline="0" dirty="0" err="1">
                          <a:solidFill>
                            <a:schemeClr val="tx1"/>
                          </a:solidFill>
                          <a:latin typeface="+mn-lt"/>
                          <a:ea typeface="+mn-ea"/>
                          <a:cs typeface="+mn-cs"/>
                        </a:rPr>
                        <a:t>Shahbazpur</a:t>
                      </a:r>
                      <a:r>
                        <a:rPr lang="en-US" sz="1000" b="0" kern="1200" baseline="0" dirty="0">
                          <a:solidFill>
                            <a:schemeClr val="tx1"/>
                          </a:solidFill>
                          <a:latin typeface="+mn-lt"/>
                          <a:ea typeface="+mn-ea"/>
                          <a:cs typeface="+mn-cs"/>
                        </a:rPr>
                        <a:t> for NBBL plant</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With the new discovery of Gas in </a:t>
                      </a:r>
                      <a:r>
                        <a:rPr lang="en-US" sz="1000" b="0" kern="1200" baseline="0" dirty="0" err="1">
                          <a:solidFill>
                            <a:schemeClr val="tx1"/>
                          </a:solidFill>
                          <a:latin typeface="+mn-lt"/>
                          <a:ea typeface="+mn-ea"/>
                          <a:cs typeface="+mn-cs"/>
                        </a:rPr>
                        <a:t>Shahbazpur</a:t>
                      </a:r>
                      <a:r>
                        <a:rPr lang="en-US" sz="1000" b="0" kern="1200" baseline="0" dirty="0">
                          <a:solidFill>
                            <a:schemeClr val="tx1"/>
                          </a:solidFill>
                          <a:latin typeface="+mn-lt"/>
                          <a:ea typeface="+mn-ea"/>
                          <a:cs typeface="+mn-cs"/>
                        </a:rPr>
                        <a:t> East 1 and </a:t>
                      </a:r>
                      <a:r>
                        <a:rPr lang="en-US" sz="1000" b="0" kern="1200" baseline="0" dirty="0" err="1">
                          <a:solidFill>
                            <a:schemeClr val="tx1"/>
                          </a:solidFill>
                          <a:latin typeface="+mn-lt"/>
                          <a:ea typeface="+mn-ea"/>
                          <a:cs typeface="+mn-cs"/>
                        </a:rPr>
                        <a:t>Bhola</a:t>
                      </a:r>
                      <a:r>
                        <a:rPr lang="en-US" sz="1000" b="0" kern="1200" baseline="0" dirty="0">
                          <a:solidFill>
                            <a:schemeClr val="tx1"/>
                          </a:solidFill>
                          <a:latin typeface="+mn-lt"/>
                          <a:ea typeface="+mn-ea"/>
                          <a:cs typeface="+mn-cs"/>
                        </a:rPr>
                        <a:t> North Fields, the Government is considering a </a:t>
                      </a:r>
                      <a:r>
                        <a:rPr lang="en-US" sz="1000" b="0" kern="1200" baseline="0" dirty="0" err="1">
                          <a:solidFill>
                            <a:schemeClr val="tx1"/>
                          </a:solidFill>
                          <a:latin typeface="+mn-lt"/>
                          <a:ea typeface="+mn-ea"/>
                          <a:cs typeface="+mn-cs"/>
                        </a:rPr>
                        <a:t>Bhola-Barishal</a:t>
                      </a:r>
                      <a:r>
                        <a:rPr lang="en-US" sz="1000" b="0" kern="1200" baseline="0" dirty="0">
                          <a:solidFill>
                            <a:schemeClr val="tx1"/>
                          </a:solidFill>
                          <a:latin typeface="+mn-lt"/>
                          <a:ea typeface="+mn-ea"/>
                          <a:cs typeface="+mn-cs"/>
                        </a:rPr>
                        <a:t> gas pipeline to supply gas generated on </a:t>
                      </a:r>
                      <a:r>
                        <a:rPr lang="en-US" sz="1000" b="0" kern="1200" baseline="0" dirty="0" err="1">
                          <a:solidFill>
                            <a:schemeClr val="tx1"/>
                          </a:solidFill>
                          <a:latin typeface="+mn-lt"/>
                          <a:ea typeface="+mn-ea"/>
                          <a:cs typeface="+mn-cs"/>
                        </a:rPr>
                        <a:t>Bhola</a:t>
                      </a:r>
                      <a:r>
                        <a:rPr lang="en-US" sz="1000" b="0" kern="1200" baseline="0" dirty="0">
                          <a:solidFill>
                            <a:schemeClr val="tx1"/>
                          </a:solidFill>
                          <a:latin typeface="+mn-lt"/>
                          <a:ea typeface="+mn-ea"/>
                          <a:cs typeface="+mn-cs"/>
                        </a:rPr>
                        <a:t> island to consumers on mainland Bangladesh.</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proposed pipeline is undergoing initial feasibility assessment with route survey and environmental studies being carried.</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buFont typeface="Arial" panose="020B0604020202020204" pitchFamily="34" charset="0"/>
                        <a:buNone/>
                      </a:pPr>
                      <a:r>
                        <a:rPr lang="en-US" sz="1000" b="0" i="0" baseline="0" dirty="0"/>
                        <a:t>The </a:t>
                      </a:r>
                      <a:r>
                        <a:rPr lang="en-US" sz="1000" b="0" i="0" baseline="0" dirty="0" err="1"/>
                        <a:t>Bhola</a:t>
                      </a:r>
                      <a:r>
                        <a:rPr lang="en-US" sz="1000" b="0" i="0" baseline="0" dirty="0"/>
                        <a:t> </a:t>
                      </a:r>
                      <a:r>
                        <a:rPr lang="en-US" sz="1000" b="0" i="0" baseline="0" dirty="0" err="1"/>
                        <a:t>Barishal</a:t>
                      </a:r>
                      <a:r>
                        <a:rPr lang="en-US" sz="1000" b="0" i="0" baseline="0" dirty="0"/>
                        <a:t> pipeline is undergoing initial feasibility study with expected commissioning in ~5-7 years (post successful feasibility outcome)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75894750"/>
                  </a:ext>
                </a:extLst>
              </a:tr>
            </a:tbl>
          </a:graphicData>
        </a:graphic>
      </p:graphicFrame>
      <p:sp>
        <p:nvSpPr>
          <p:cNvPr id="10" name="Rectangle 9"/>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marL="0" marR="0" lvl="0" indent="0" algn="l" defTabSz="914400"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Petrobangla, GTCL, SGCL, NBBL, Industry Reports, Deloitte Analysis; Note 1) The gas requirement for both plants have been estimated at dispatch levels of 100% with SHR of Bhola I considered at 52% efficiency (as per actual achieved in FY19) and for Nimbus Plant at ~46%  based on design SHR as per EPC contract</a:t>
            </a:r>
          </a:p>
        </p:txBody>
      </p:sp>
      <p:sp>
        <p:nvSpPr>
          <p:cNvPr id="11" name="Rectangle 10"/>
          <p:cNvSpPr/>
          <p:nvPr/>
        </p:nvSpPr>
        <p:spPr>
          <a:xfrm>
            <a:off x="272438" y="6179355"/>
            <a:ext cx="9875413" cy="95410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400" b="1" i="1" u="none" strike="noStrike" kern="1200" cap="none" spc="0" normalizeH="0" baseline="0" noProof="0" dirty="0">
                <a:ln>
                  <a:noFill/>
                </a:ln>
                <a:solidFill>
                  <a:srgbClr val="0097A9"/>
                </a:solidFill>
                <a:effectLst/>
                <a:uLnTx/>
                <a:uFillTx/>
                <a:latin typeface="Verdana"/>
                <a:ea typeface="+mn-ea"/>
                <a:cs typeface="+mn-cs"/>
              </a:rPr>
              <a:t>The SGCL – </a:t>
            </a:r>
            <a:r>
              <a:rPr kumimoji="0" lang="en-US" sz="1400" b="1" i="1" u="none" strike="noStrike" kern="1200" cap="none" spc="0" normalizeH="0" baseline="0" noProof="0" dirty="0" err="1">
                <a:ln>
                  <a:noFill/>
                </a:ln>
                <a:solidFill>
                  <a:srgbClr val="0097A9"/>
                </a:solidFill>
                <a:effectLst/>
                <a:uLnTx/>
                <a:uFillTx/>
                <a:latin typeface="Verdana"/>
                <a:ea typeface="+mn-ea"/>
                <a:cs typeface="+mn-cs"/>
              </a:rPr>
              <a:t>Shahbazpur</a:t>
            </a:r>
            <a:r>
              <a:rPr kumimoji="0" lang="en-US" sz="1400" b="1" i="1" u="none" strike="noStrike" kern="1200" cap="none" spc="0" normalizeH="0" baseline="0" noProof="0" dirty="0">
                <a:ln>
                  <a:noFill/>
                </a:ln>
                <a:solidFill>
                  <a:srgbClr val="0097A9"/>
                </a:solidFill>
                <a:effectLst/>
                <a:uLnTx/>
                <a:uFillTx/>
                <a:latin typeface="Verdana"/>
                <a:ea typeface="+mn-ea"/>
                <a:cs typeface="+mn-cs"/>
              </a:rPr>
              <a:t> pipeline is expected to be commissioned early next year (FY21) leading to direct gas supply to NBBL plant from </a:t>
            </a:r>
            <a:r>
              <a:rPr kumimoji="0" lang="en-US" sz="1400" b="1" i="1" u="none" strike="noStrike" kern="1200" cap="none" spc="0" normalizeH="0" baseline="0" noProof="0" dirty="0" err="1">
                <a:ln>
                  <a:noFill/>
                </a:ln>
                <a:solidFill>
                  <a:srgbClr val="0097A9"/>
                </a:solidFill>
                <a:effectLst/>
                <a:uLnTx/>
                <a:uFillTx/>
                <a:latin typeface="Verdana"/>
                <a:ea typeface="+mn-ea"/>
                <a:cs typeface="+mn-cs"/>
              </a:rPr>
              <a:t>Shahbazpur</a:t>
            </a:r>
            <a:r>
              <a:rPr kumimoji="0" lang="en-US" sz="1400" b="1" i="1" u="none" strike="noStrike" kern="1200" cap="none" spc="0" normalizeH="0" baseline="0" noProof="0" dirty="0">
                <a:ln>
                  <a:noFill/>
                </a:ln>
                <a:solidFill>
                  <a:srgbClr val="0097A9"/>
                </a:solidFill>
                <a:effectLst/>
                <a:uLnTx/>
                <a:uFillTx/>
                <a:latin typeface="Verdana"/>
                <a:ea typeface="+mn-ea"/>
                <a:cs typeface="+mn-cs"/>
              </a:rPr>
              <a:t> fields; The </a:t>
            </a:r>
            <a:r>
              <a:rPr kumimoji="0" lang="en-US" sz="1400" b="1" i="1" u="none" strike="noStrike" kern="1200" cap="none" spc="0" normalizeH="0" baseline="0" noProof="0" dirty="0" err="1">
                <a:ln>
                  <a:noFill/>
                </a:ln>
                <a:solidFill>
                  <a:srgbClr val="0097A9"/>
                </a:solidFill>
                <a:effectLst/>
                <a:uLnTx/>
                <a:uFillTx/>
                <a:latin typeface="Verdana"/>
                <a:ea typeface="+mn-ea"/>
                <a:cs typeface="+mn-cs"/>
              </a:rPr>
              <a:t>Bhola</a:t>
            </a:r>
            <a:r>
              <a:rPr kumimoji="0" lang="en-US" sz="1400" b="1" i="1" u="none" strike="noStrike" kern="1200" cap="none" spc="0" normalizeH="0" baseline="0" noProof="0" dirty="0">
                <a:ln>
                  <a:noFill/>
                </a:ln>
                <a:solidFill>
                  <a:srgbClr val="0097A9"/>
                </a:solidFill>
                <a:effectLst/>
                <a:uLnTx/>
                <a:uFillTx/>
                <a:latin typeface="Verdana"/>
                <a:ea typeface="+mn-ea"/>
                <a:cs typeface="+mn-cs"/>
              </a:rPr>
              <a:t> – </a:t>
            </a:r>
            <a:r>
              <a:rPr kumimoji="0" lang="en-US" sz="1400" b="1" i="1" u="none" strike="noStrike" kern="1200" cap="none" spc="0" normalizeH="0" baseline="0" noProof="0" dirty="0" err="1">
                <a:ln>
                  <a:noFill/>
                </a:ln>
                <a:solidFill>
                  <a:srgbClr val="0097A9"/>
                </a:solidFill>
                <a:effectLst/>
                <a:uLnTx/>
                <a:uFillTx/>
                <a:latin typeface="Verdana"/>
                <a:ea typeface="+mn-ea"/>
                <a:cs typeface="+mn-cs"/>
              </a:rPr>
              <a:t>Barishal</a:t>
            </a:r>
            <a:r>
              <a:rPr kumimoji="0" lang="en-US" sz="1400" b="1" i="1" u="none" strike="noStrike" kern="1200" cap="none" spc="0" normalizeH="0" baseline="0" noProof="0" dirty="0">
                <a:ln>
                  <a:noFill/>
                </a:ln>
                <a:solidFill>
                  <a:srgbClr val="0097A9"/>
                </a:solidFill>
                <a:effectLst/>
                <a:uLnTx/>
                <a:uFillTx/>
                <a:latin typeface="Verdana"/>
                <a:ea typeface="+mn-ea"/>
                <a:cs typeface="+mn-cs"/>
              </a:rPr>
              <a:t> pipeline is undergoing feasibility study which may take ~5-7 years for construction upon successful feasibility outcome</a:t>
            </a:r>
          </a:p>
        </p:txBody>
      </p:sp>
    </p:spTree>
    <p:extLst>
      <p:ext uri="{BB962C8B-B14F-4D97-AF65-F5344CB8AC3E}">
        <p14:creationId xmlns:p14="http://schemas.microsoft.com/office/powerpoint/2010/main" val="3092524829"/>
      </p:ext>
    </p:extLst>
  </p:cSld>
  <p:clrMapOvr>
    <a:masterClrMapping/>
  </p:clrMapOvr>
  <p:transition>
    <p:fade/>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3" name="Object 2"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4" name="Title 1"/>
          <p:cNvSpPr>
            <a:spLocks noGrp="1"/>
          </p:cNvSpPr>
          <p:nvPr>
            <p:ph type="title"/>
          </p:nvPr>
        </p:nvSpPr>
        <p:spPr>
          <a:xfrm>
            <a:off x="442913" y="654050"/>
            <a:ext cx="9791700" cy="431800"/>
          </a:xfrm>
        </p:spPr>
        <p:txBody>
          <a:bodyPr/>
          <a:lstStyle/>
          <a:p>
            <a:r>
              <a:rPr lang="en-US" dirty="0"/>
              <a:t>Electricity Transmission Outlook | Summary</a:t>
            </a:r>
            <a:endParaRPr lang="en-IN" dirty="0"/>
          </a:p>
        </p:txBody>
      </p:sp>
      <p:sp>
        <p:nvSpPr>
          <p:cNvPr id="5" name="Strapline"/>
          <p:cNvSpPr txBox="1">
            <a:spLocks/>
          </p:cNvSpPr>
          <p:nvPr/>
        </p:nvSpPr>
        <p:spPr>
          <a:xfrm>
            <a:off x="442912" y="1085850"/>
            <a:ext cx="9793288" cy="519113"/>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There is no constraint on the current planned evacuation from NBBL Plant towards </a:t>
            </a:r>
            <a:r>
              <a:rPr kumimoji="0" lang="en-US" sz="1400" b="1" i="0" u="none" strike="noStrike" kern="1200" cap="none" spc="0" normalizeH="0" baseline="0" noProof="0" dirty="0" err="1">
                <a:ln>
                  <a:noFill/>
                </a:ln>
                <a:solidFill>
                  <a:prstClr val="black">
                    <a:lumMod val="50000"/>
                    <a:lumOff val="50000"/>
                  </a:prstClr>
                </a:solidFill>
                <a:effectLst/>
                <a:uLnTx/>
                <a:uFillTx/>
                <a:latin typeface="Verdana" panose="020B0604030504040204" pitchFamily="34" charset="0"/>
                <a:ea typeface="+mn-ea"/>
                <a:cs typeface="+mn-cs"/>
              </a:rPr>
              <a:t>Barishal</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Substation via 230 KV TL connecting </a:t>
            </a:r>
            <a:r>
              <a:rPr kumimoji="0" lang="en-US" sz="1400" b="1" i="0" u="none" strike="noStrike" kern="1200" cap="none" spc="0" normalizeH="0" baseline="0" noProof="0" dirty="0" err="1">
                <a:ln>
                  <a:noFill/>
                </a:ln>
                <a:solidFill>
                  <a:prstClr val="black">
                    <a:lumMod val="50000"/>
                    <a:lumOff val="50000"/>
                  </a:prstClr>
                </a:solidFill>
                <a:effectLst/>
                <a:uLnTx/>
                <a:uFillTx/>
                <a:latin typeface="Verdana" panose="020B0604030504040204" pitchFamily="34" charset="0"/>
                <a:ea typeface="+mn-ea"/>
                <a:cs typeface="+mn-cs"/>
              </a:rPr>
              <a:t>Bhola-Barishal</a:t>
            </a:r>
            <a:endPar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 name="Table 8"/>
          <p:cNvGraphicFramePr>
            <a:graphicFrameLocks noGrp="1"/>
          </p:cNvGraphicFramePr>
          <p:nvPr/>
        </p:nvGraphicFramePr>
        <p:xfrm>
          <a:off x="442913" y="1968502"/>
          <a:ext cx="9704938" cy="4232793"/>
        </p:xfrm>
        <a:graphic>
          <a:graphicData uri="http://schemas.openxmlformats.org/drawingml/2006/table">
            <a:tbl>
              <a:tblPr firstRow="1" bandRow="1">
                <a:tableStyleId>{3B4B98B0-60AC-42C2-AFA5-B58CD77FA1E5}</a:tableStyleId>
              </a:tblPr>
              <a:tblGrid>
                <a:gridCol w="605502">
                  <a:extLst>
                    <a:ext uri="{9D8B030D-6E8A-4147-A177-3AD203B41FA5}">
                      <a16:colId xmlns:a16="http://schemas.microsoft.com/office/drawing/2014/main" val="4207744418"/>
                    </a:ext>
                  </a:extLst>
                </a:gridCol>
                <a:gridCol w="1442682">
                  <a:extLst>
                    <a:ext uri="{9D8B030D-6E8A-4147-A177-3AD203B41FA5}">
                      <a16:colId xmlns:a16="http://schemas.microsoft.com/office/drawing/2014/main" val="546554287"/>
                    </a:ext>
                  </a:extLst>
                </a:gridCol>
                <a:gridCol w="4919150">
                  <a:extLst>
                    <a:ext uri="{9D8B030D-6E8A-4147-A177-3AD203B41FA5}">
                      <a16:colId xmlns:a16="http://schemas.microsoft.com/office/drawing/2014/main" val="2546321411"/>
                    </a:ext>
                  </a:extLst>
                </a:gridCol>
                <a:gridCol w="2053819">
                  <a:extLst>
                    <a:ext uri="{9D8B030D-6E8A-4147-A177-3AD203B41FA5}">
                      <a16:colId xmlns:a16="http://schemas.microsoft.com/office/drawing/2014/main" val="187755370"/>
                    </a:ext>
                  </a:extLst>
                </a:gridCol>
                <a:gridCol w="683785">
                  <a:extLst>
                    <a:ext uri="{9D8B030D-6E8A-4147-A177-3AD203B41FA5}">
                      <a16:colId xmlns:a16="http://schemas.microsoft.com/office/drawing/2014/main" val="1794598962"/>
                    </a:ext>
                  </a:extLst>
                </a:gridCol>
              </a:tblGrid>
              <a:tr h="350551">
                <a:tc>
                  <a:txBody>
                    <a:bodyPr/>
                    <a:lstStyle/>
                    <a:p>
                      <a:pPr>
                        <a:lnSpc>
                          <a:spcPct val="100000"/>
                        </a:lnSpc>
                        <a:spcAft>
                          <a:spcPts val="0"/>
                        </a:spcAft>
                      </a:pPr>
                      <a:r>
                        <a:rPr lang="en-US" sz="1000" dirty="0"/>
                        <a:t>Sr. No</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pPr>
                        <a:lnSpc>
                          <a:spcPct val="100000"/>
                        </a:lnSpc>
                        <a:spcAft>
                          <a:spcPts val="0"/>
                        </a:spcAft>
                      </a:pPr>
                      <a:r>
                        <a:rPr lang="en-US" sz="1000" dirty="0"/>
                        <a:t>Parameter</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pPr>
                        <a:lnSpc>
                          <a:spcPct val="100000"/>
                        </a:lnSpc>
                        <a:spcAft>
                          <a:spcPts val="0"/>
                        </a:spcAft>
                      </a:pPr>
                      <a:r>
                        <a:rPr lang="en-US" sz="1000" dirty="0"/>
                        <a:t>Details</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pPr>
                        <a:lnSpc>
                          <a:spcPct val="100000"/>
                        </a:lnSpc>
                        <a:spcAft>
                          <a:spcPts val="0"/>
                        </a:spcAft>
                      </a:pPr>
                      <a:r>
                        <a:rPr lang="en-US" sz="1000" dirty="0"/>
                        <a:t>Output</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pPr>
                        <a:lnSpc>
                          <a:spcPct val="100000"/>
                        </a:lnSpc>
                        <a:spcAft>
                          <a:spcPts val="0"/>
                        </a:spcAft>
                      </a:pPr>
                      <a:r>
                        <a:rPr lang="en-US" sz="1000" dirty="0"/>
                        <a:t>Ref Slides</a:t>
                      </a:r>
                      <a:endParaRPr lang="en-IN" sz="1000" b="0" dirty="0"/>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34780871"/>
                  </a:ext>
                </a:extLst>
              </a:tr>
              <a:tr h="1072101">
                <a:tc>
                  <a:txBody>
                    <a:bodyPr/>
                    <a:lstStyle/>
                    <a:p>
                      <a:pPr>
                        <a:lnSpc>
                          <a:spcPct val="100000"/>
                        </a:lnSpc>
                        <a:spcAft>
                          <a:spcPts val="0"/>
                        </a:spcAft>
                      </a:pPr>
                      <a:r>
                        <a:rPr lang="en-US" sz="1000" dirty="0"/>
                        <a:t>1</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ct val="100000"/>
                        </a:lnSpc>
                        <a:spcAft>
                          <a:spcPts val="0"/>
                        </a:spcAft>
                      </a:pPr>
                      <a:r>
                        <a:rPr lang="en-US" sz="1000" b="0" dirty="0"/>
                        <a:t>Current Arrangement</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just">
                        <a:lnSpc>
                          <a:spcPct val="100000"/>
                        </a:lnSpc>
                        <a:spcBef>
                          <a:spcPts val="0"/>
                        </a:spcBef>
                        <a:spcAft>
                          <a:spcPts val="0"/>
                        </a:spcAft>
                        <a:buFont typeface="Arial" panose="020B0604020202020204" pitchFamily="34" charset="0"/>
                        <a:buChar char="•"/>
                      </a:pPr>
                      <a:r>
                        <a:rPr lang="en-US" sz="1000" b="0" baseline="0" dirty="0">
                          <a:solidFill>
                            <a:schemeClr val="tx1"/>
                          </a:solidFill>
                        </a:rPr>
                        <a:t>Nimbus will evacuate the power generated through </a:t>
                      </a:r>
                      <a:r>
                        <a:rPr lang="en-US" sz="1000" b="0" baseline="0" dirty="0" err="1">
                          <a:solidFill>
                            <a:schemeClr val="tx1"/>
                          </a:solidFill>
                        </a:rPr>
                        <a:t>Bhola</a:t>
                      </a:r>
                      <a:r>
                        <a:rPr lang="en-US" sz="1000" b="0" baseline="0" dirty="0">
                          <a:solidFill>
                            <a:schemeClr val="tx1"/>
                          </a:solidFill>
                        </a:rPr>
                        <a:t> I switchyard, which is connected to the 230 kV TL connecting </a:t>
                      </a:r>
                      <a:r>
                        <a:rPr lang="en-US" sz="1000" b="0" baseline="0" dirty="0" err="1">
                          <a:solidFill>
                            <a:schemeClr val="tx1"/>
                          </a:solidFill>
                        </a:rPr>
                        <a:t>Bhola</a:t>
                      </a:r>
                      <a:r>
                        <a:rPr lang="en-US" sz="1000" b="0" baseline="0" dirty="0">
                          <a:solidFill>
                            <a:schemeClr val="tx1"/>
                          </a:solidFill>
                        </a:rPr>
                        <a:t> Island to Barisal (N) Substation</a:t>
                      </a:r>
                    </a:p>
                    <a:p>
                      <a:pPr marL="171450" indent="-171450" algn="just">
                        <a:lnSpc>
                          <a:spcPct val="100000"/>
                        </a:lnSpc>
                        <a:spcBef>
                          <a:spcPts val="0"/>
                        </a:spcBef>
                        <a:spcAft>
                          <a:spcPts val="0"/>
                        </a:spcAft>
                        <a:buFont typeface="Arial" panose="020B0604020202020204" pitchFamily="34" charset="0"/>
                        <a:buChar char="•"/>
                      </a:pPr>
                      <a:r>
                        <a:rPr lang="en-US" sz="1000" b="0" baseline="0" dirty="0">
                          <a:solidFill>
                            <a:schemeClr val="tx1"/>
                          </a:solidFill>
                        </a:rPr>
                        <a:t>Currently, the 230 kV transmission line is loaded at 320 MW and it has max capacity of 545 MW. This is sufficient for evacuation of 220 MW power from Nimbus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nSpc>
                          <a:spcPct val="100000"/>
                        </a:lnSpc>
                        <a:spcAft>
                          <a:spcPts val="0"/>
                        </a:spcAft>
                        <a:buFont typeface="Arial" panose="020B0604020202020204" pitchFamily="34" charset="0"/>
                        <a:buNone/>
                      </a:pPr>
                      <a:r>
                        <a:rPr lang="en-US" sz="1000" b="0" i="0" baseline="0" dirty="0"/>
                        <a:t>Current Line is sufficient for evacuation of additional power from Nimbus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2">
                  <a:txBody>
                    <a:bodyPr/>
                    <a:lstStyle/>
                    <a:p>
                      <a:pPr>
                        <a:lnSpc>
                          <a:spcPct val="100000"/>
                        </a:lnSpc>
                        <a:spcAft>
                          <a:spcPts val="0"/>
                        </a:spcAft>
                      </a:pPr>
                      <a:r>
                        <a:rPr lang="en-US" sz="1000" b="0" dirty="0"/>
                        <a:t>97-100</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9456584"/>
                  </a:ext>
                </a:extLst>
              </a:tr>
              <a:tr h="2764452">
                <a:tc>
                  <a:txBody>
                    <a:bodyPr/>
                    <a:lstStyle/>
                    <a:p>
                      <a:pPr>
                        <a:lnSpc>
                          <a:spcPct val="100000"/>
                        </a:lnSpc>
                        <a:spcAft>
                          <a:spcPts val="0"/>
                        </a:spcAft>
                      </a:pPr>
                      <a:r>
                        <a:rPr lang="en-US" sz="1000" dirty="0"/>
                        <a:t>2</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ct val="100000"/>
                        </a:lnSpc>
                        <a:spcAft>
                          <a:spcPts val="0"/>
                        </a:spcAft>
                      </a:pPr>
                      <a:r>
                        <a:rPr lang="en-US" sz="1000" b="0" dirty="0"/>
                        <a:t>Potential considerations for evacuation of power</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228600" marR="0" lvl="0" indent="-228600" algn="just" defTabSz="990571" rtl="0" eaLnBrk="1" fontAlgn="auto" latinLnBrk="0" hangingPunct="1">
                        <a:lnSpc>
                          <a:spcPct val="100000"/>
                        </a:lnSpc>
                        <a:spcBef>
                          <a:spcPts val="0"/>
                        </a:spcBef>
                        <a:spcAft>
                          <a:spcPts val="0"/>
                        </a:spcAft>
                        <a:buClrTx/>
                        <a:buSzTx/>
                        <a:buFont typeface="+mj-lt"/>
                        <a:buAutoNum type="arabicPeriod"/>
                        <a:tabLst/>
                        <a:defRPr/>
                      </a:pPr>
                      <a:r>
                        <a:rPr lang="en-US" sz="1000" b="1" baseline="0" dirty="0">
                          <a:solidFill>
                            <a:schemeClr val="tx1"/>
                          </a:solidFill>
                        </a:rPr>
                        <a:t>Loading constraint at Barisal N S/S due to insufficient existing capacity. </a:t>
                      </a:r>
                    </a:p>
                    <a:p>
                      <a:pPr marL="0" marR="0" lvl="0" indent="0" algn="just" defTabSz="990571" rtl="0" eaLnBrk="1" fontAlgn="auto" latinLnBrk="0" hangingPunct="1">
                        <a:lnSpc>
                          <a:spcPct val="100000"/>
                        </a:lnSpc>
                        <a:spcBef>
                          <a:spcPts val="0"/>
                        </a:spcBef>
                        <a:spcAft>
                          <a:spcPts val="0"/>
                        </a:spcAft>
                        <a:buClrTx/>
                        <a:buSzTx/>
                        <a:buFont typeface="+mj-lt"/>
                        <a:buNone/>
                        <a:tabLst/>
                        <a:defRPr/>
                      </a:pPr>
                      <a:r>
                        <a:rPr lang="en-US" sz="1000" b="0" baseline="0" dirty="0">
                          <a:solidFill>
                            <a:schemeClr val="tx1"/>
                          </a:solidFill>
                        </a:rPr>
                        <a:t>The maximum evacuation possible from </a:t>
                      </a:r>
                      <a:r>
                        <a:rPr lang="en-US" sz="1000" b="0" baseline="0" dirty="0" err="1">
                          <a:solidFill>
                            <a:schemeClr val="tx1"/>
                          </a:solidFill>
                        </a:rPr>
                        <a:t>Barishal</a:t>
                      </a:r>
                      <a:r>
                        <a:rPr lang="en-US" sz="1000" b="0" baseline="0" dirty="0">
                          <a:solidFill>
                            <a:schemeClr val="tx1"/>
                          </a:solidFill>
                        </a:rPr>
                        <a:t> N S/S is 510 MW, but the evacuation capacity required with </a:t>
                      </a:r>
                      <a:r>
                        <a:rPr lang="en-US" sz="1000" b="0" baseline="0" dirty="0" err="1">
                          <a:solidFill>
                            <a:schemeClr val="tx1"/>
                          </a:solidFill>
                        </a:rPr>
                        <a:t>Bhola</a:t>
                      </a:r>
                      <a:r>
                        <a:rPr lang="en-US" sz="1000" b="0" baseline="0" dirty="0">
                          <a:solidFill>
                            <a:schemeClr val="tx1"/>
                          </a:solidFill>
                        </a:rPr>
                        <a:t> 1 (225 MW), Aggreko (95 MW) and Nimbus (220 MW) is 540 MW</a:t>
                      </a:r>
                      <a:endParaRPr lang="en-US" sz="1000" b="1" baseline="0" dirty="0">
                        <a:solidFill>
                          <a:schemeClr val="tx1"/>
                        </a:solidFill>
                      </a:endParaRPr>
                    </a:p>
                    <a:p>
                      <a:pPr marL="228600" marR="0" lvl="0" indent="-228600" algn="just" defTabSz="990571" rtl="0" eaLnBrk="1" fontAlgn="auto" latinLnBrk="0" hangingPunct="1">
                        <a:lnSpc>
                          <a:spcPct val="100000"/>
                        </a:lnSpc>
                        <a:spcBef>
                          <a:spcPts val="0"/>
                        </a:spcBef>
                        <a:spcAft>
                          <a:spcPts val="0"/>
                        </a:spcAft>
                        <a:buClrTx/>
                        <a:buSzTx/>
                        <a:buFont typeface="+mj-lt"/>
                        <a:buAutoNum type="arabicPeriod" startAt="2"/>
                        <a:tabLst/>
                        <a:defRPr/>
                      </a:pPr>
                      <a:r>
                        <a:rPr lang="en-US" sz="1000" b="1" baseline="0" dirty="0">
                          <a:solidFill>
                            <a:schemeClr val="tx1"/>
                          </a:solidFill>
                        </a:rPr>
                        <a:t>Potential </a:t>
                      </a:r>
                      <a:r>
                        <a:rPr lang="en-US" sz="1000" b="1" baseline="0" dirty="0" err="1">
                          <a:solidFill>
                            <a:schemeClr val="tx1"/>
                          </a:solidFill>
                        </a:rPr>
                        <a:t>backdown</a:t>
                      </a:r>
                      <a:r>
                        <a:rPr lang="en-US" sz="1000" b="1" baseline="0" dirty="0">
                          <a:solidFill>
                            <a:schemeClr val="tx1"/>
                          </a:solidFill>
                        </a:rPr>
                        <a:t> due to delayed commissioning of </a:t>
                      </a:r>
                      <a:r>
                        <a:rPr lang="en-US" sz="1000" b="1" baseline="0" dirty="0" err="1">
                          <a:solidFill>
                            <a:schemeClr val="tx1"/>
                          </a:solidFill>
                        </a:rPr>
                        <a:t>Gopalganj</a:t>
                      </a:r>
                      <a:r>
                        <a:rPr lang="en-US" sz="1000" b="1" baseline="0" dirty="0">
                          <a:solidFill>
                            <a:schemeClr val="tx1"/>
                          </a:solidFill>
                        </a:rPr>
                        <a:t> – </a:t>
                      </a:r>
                      <a:r>
                        <a:rPr lang="en-US" sz="1000" b="1" baseline="0" dirty="0" err="1">
                          <a:solidFill>
                            <a:schemeClr val="tx1"/>
                          </a:solidFill>
                        </a:rPr>
                        <a:t>Aminbazar</a:t>
                      </a:r>
                      <a:r>
                        <a:rPr lang="en-US" sz="1000" b="1" baseline="0" dirty="0">
                          <a:solidFill>
                            <a:schemeClr val="tx1"/>
                          </a:solidFill>
                        </a:rPr>
                        <a:t> 400 kV line.</a:t>
                      </a:r>
                      <a:r>
                        <a:rPr lang="en-US" sz="1000" b="0" baseline="0" dirty="0">
                          <a:solidFill>
                            <a:schemeClr val="tx1"/>
                          </a:solidFill>
                        </a:rPr>
                        <a:t> </a:t>
                      </a:r>
                    </a:p>
                    <a:p>
                      <a:pPr marL="0" marR="0" lvl="0" indent="0" algn="just" defTabSz="990571" rtl="0" eaLnBrk="1" fontAlgn="auto" latinLnBrk="0" hangingPunct="1">
                        <a:lnSpc>
                          <a:spcPct val="100000"/>
                        </a:lnSpc>
                        <a:spcBef>
                          <a:spcPts val="0"/>
                        </a:spcBef>
                        <a:spcAft>
                          <a:spcPts val="0"/>
                        </a:spcAft>
                        <a:buClrTx/>
                        <a:buSzTx/>
                        <a:buFont typeface="+mj-lt"/>
                        <a:buNone/>
                        <a:tabLst/>
                        <a:defRPr/>
                      </a:pPr>
                      <a:r>
                        <a:rPr lang="en-US" sz="1000" b="0" baseline="0" dirty="0">
                          <a:solidFill>
                            <a:schemeClr val="tx1"/>
                          </a:solidFill>
                        </a:rPr>
                        <a:t>The Power from </a:t>
                      </a:r>
                      <a:r>
                        <a:rPr lang="en-US" sz="1000" b="0" baseline="0" dirty="0" err="1">
                          <a:solidFill>
                            <a:schemeClr val="tx1"/>
                          </a:solidFill>
                        </a:rPr>
                        <a:t>Payra</a:t>
                      </a:r>
                      <a:r>
                        <a:rPr lang="en-US" sz="1000" b="0" baseline="0" dirty="0">
                          <a:solidFill>
                            <a:schemeClr val="tx1"/>
                          </a:solidFill>
                        </a:rPr>
                        <a:t> (1320 MW) Imported Coal Based Power plant is planned to be evacuated by commissioning the </a:t>
                      </a:r>
                      <a:r>
                        <a:rPr lang="en-US" sz="1000" b="0" baseline="0" dirty="0" err="1">
                          <a:solidFill>
                            <a:schemeClr val="tx1"/>
                          </a:solidFill>
                        </a:rPr>
                        <a:t>Payra-Gopalgonj-Aminbazar</a:t>
                      </a:r>
                      <a:r>
                        <a:rPr lang="en-US" sz="1000" b="0" baseline="0" dirty="0">
                          <a:solidFill>
                            <a:schemeClr val="tx1"/>
                          </a:solidFill>
                        </a:rPr>
                        <a:t> 400 kV lines. Due to delay in the commissioning of the </a:t>
                      </a:r>
                      <a:r>
                        <a:rPr lang="en-US" sz="1000" b="0" baseline="0" dirty="0" err="1">
                          <a:solidFill>
                            <a:schemeClr val="tx1"/>
                          </a:solidFill>
                        </a:rPr>
                        <a:t>Gopalganj-Aminbazar</a:t>
                      </a:r>
                      <a:r>
                        <a:rPr lang="en-US" sz="1000" b="0" baseline="0" dirty="0">
                          <a:solidFill>
                            <a:schemeClr val="tx1"/>
                          </a:solidFill>
                        </a:rPr>
                        <a:t> TL, an evacuation constraint at </a:t>
                      </a:r>
                      <a:r>
                        <a:rPr lang="en-US" sz="1000" b="0" baseline="0" dirty="0" err="1">
                          <a:solidFill>
                            <a:schemeClr val="tx1"/>
                          </a:solidFill>
                        </a:rPr>
                        <a:t>Gopalgonj</a:t>
                      </a:r>
                      <a:r>
                        <a:rPr lang="en-US" sz="1000" b="0" baseline="0" dirty="0">
                          <a:solidFill>
                            <a:schemeClr val="tx1"/>
                          </a:solidFill>
                        </a:rPr>
                        <a:t>  could have cascading effect on the power plants in the </a:t>
                      </a:r>
                      <a:r>
                        <a:rPr lang="en-US" sz="1000" b="0" baseline="0" dirty="0" err="1">
                          <a:solidFill>
                            <a:schemeClr val="tx1"/>
                          </a:solidFill>
                        </a:rPr>
                        <a:t>Bhola</a:t>
                      </a:r>
                      <a:r>
                        <a:rPr lang="en-US" sz="1000" b="0" baseline="0" dirty="0">
                          <a:solidFill>
                            <a:schemeClr val="tx1"/>
                          </a:solidFill>
                        </a:rPr>
                        <a:t> region </a:t>
                      </a:r>
                    </a:p>
                    <a:p>
                      <a:pPr marL="228600" marR="0" lvl="0" indent="-228600" algn="just" defTabSz="990571" rtl="0" eaLnBrk="1" fontAlgn="auto" latinLnBrk="0" hangingPunct="1">
                        <a:lnSpc>
                          <a:spcPct val="100000"/>
                        </a:lnSpc>
                        <a:spcBef>
                          <a:spcPts val="0"/>
                        </a:spcBef>
                        <a:spcAft>
                          <a:spcPts val="0"/>
                        </a:spcAft>
                        <a:buClrTx/>
                        <a:buSzTx/>
                        <a:buFont typeface="+mj-lt"/>
                        <a:buAutoNum type="arabicPeriod" startAt="3"/>
                        <a:tabLst/>
                        <a:defRPr/>
                      </a:pPr>
                      <a:r>
                        <a:rPr lang="en-US" sz="1000" b="1" baseline="0" dirty="0">
                          <a:solidFill>
                            <a:schemeClr val="tx1"/>
                          </a:solidFill>
                        </a:rPr>
                        <a:t>Loading Constraint at Barisal (N) substation and Barisal – </a:t>
                      </a:r>
                      <a:r>
                        <a:rPr lang="en-US" sz="1000" b="1" baseline="0" dirty="0" err="1">
                          <a:solidFill>
                            <a:schemeClr val="tx1"/>
                          </a:solidFill>
                        </a:rPr>
                        <a:t>Gopalgonj</a:t>
                      </a:r>
                      <a:r>
                        <a:rPr lang="en-US" sz="1000" b="1" baseline="0" dirty="0">
                          <a:solidFill>
                            <a:schemeClr val="tx1"/>
                          </a:solidFill>
                        </a:rPr>
                        <a:t> 132 kV line in case of </a:t>
                      </a:r>
                      <a:r>
                        <a:rPr lang="en-US" sz="1000" b="1" baseline="0" dirty="0" err="1">
                          <a:solidFill>
                            <a:schemeClr val="tx1"/>
                          </a:solidFill>
                        </a:rPr>
                        <a:t>Payra</a:t>
                      </a:r>
                      <a:r>
                        <a:rPr lang="en-US" sz="1000" b="1" baseline="0" dirty="0">
                          <a:solidFill>
                            <a:schemeClr val="tx1"/>
                          </a:solidFill>
                        </a:rPr>
                        <a:t> power evacuation </a:t>
                      </a:r>
                    </a:p>
                    <a:p>
                      <a:pPr marL="0" marR="0" lvl="0" indent="0" algn="just" defTabSz="990571" rtl="0" eaLnBrk="1" fontAlgn="auto" latinLnBrk="0" hangingPunct="1">
                        <a:lnSpc>
                          <a:spcPct val="100000"/>
                        </a:lnSpc>
                        <a:spcBef>
                          <a:spcPts val="0"/>
                        </a:spcBef>
                        <a:spcAft>
                          <a:spcPts val="0"/>
                        </a:spcAft>
                        <a:buClrTx/>
                        <a:buSzTx/>
                        <a:buFont typeface="+mj-lt"/>
                        <a:buNone/>
                        <a:tabLst/>
                        <a:defRPr/>
                      </a:pPr>
                      <a:r>
                        <a:rPr lang="en-US" sz="1000" b="0" baseline="0" dirty="0">
                          <a:solidFill>
                            <a:schemeClr val="tx1"/>
                          </a:solidFill>
                        </a:rPr>
                        <a:t>Due to delay of </a:t>
                      </a:r>
                      <a:r>
                        <a:rPr lang="en-US" sz="1000" b="0" baseline="0" dirty="0" err="1">
                          <a:solidFill>
                            <a:schemeClr val="tx1"/>
                          </a:solidFill>
                        </a:rPr>
                        <a:t>Payra-Gopalganj</a:t>
                      </a:r>
                      <a:r>
                        <a:rPr lang="en-US" sz="1000" b="0" baseline="0" dirty="0">
                          <a:solidFill>
                            <a:schemeClr val="tx1"/>
                          </a:solidFill>
                        </a:rPr>
                        <a:t> TL, there may be an evacuation constraint if power from </a:t>
                      </a:r>
                      <a:r>
                        <a:rPr lang="en-US" sz="1000" b="0" baseline="0" dirty="0" err="1">
                          <a:solidFill>
                            <a:schemeClr val="tx1"/>
                          </a:solidFill>
                        </a:rPr>
                        <a:t>Payra</a:t>
                      </a:r>
                      <a:r>
                        <a:rPr lang="en-US" sz="1000" b="0" baseline="0" dirty="0">
                          <a:solidFill>
                            <a:schemeClr val="tx1"/>
                          </a:solidFill>
                        </a:rPr>
                        <a:t> Coal Plant is evacuated using </a:t>
                      </a:r>
                      <a:r>
                        <a:rPr lang="en-US" sz="1000" b="0" baseline="0" dirty="0" err="1">
                          <a:solidFill>
                            <a:schemeClr val="tx1"/>
                          </a:solidFill>
                        </a:rPr>
                        <a:t>Payra</a:t>
                      </a:r>
                      <a:r>
                        <a:rPr lang="en-US" sz="1000" b="0" baseline="0" dirty="0">
                          <a:solidFill>
                            <a:schemeClr val="tx1"/>
                          </a:solidFill>
                        </a:rPr>
                        <a:t>-</a:t>
                      </a:r>
                      <a:r>
                        <a:rPr lang="en-US" sz="1000" b="0" baseline="0" dirty="0" err="1">
                          <a:solidFill>
                            <a:schemeClr val="tx1"/>
                          </a:solidFill>
                        </a:rPr>
                        <a:t>Patuakhali</a:t>
                      </a:r>
                      <a:r>
                        <a:rPr lang="en-US" sz="1000" b="0" baseline="0" dirty="0">
                          <a:solidFill>
                            <a:schemeClr val="tx1"/>
                          </a:solidFill>
                        </a:rPr>
                        <a:t>-Barisal (N) line at substation level. </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nSpc>
                          <a:spcPct val="100000"/>
                        </a:lnSpc>
                        <a:spcAft>
                          <a:spcPts val="0"/>
                        </a:spcAft>
                        <a:buFont typeface="Arial" panose="020B0604020202020204" pitchFamily="34" charset="0"/>
                        <a:buNone/>
                      </a:pPr>
                      <a:r>
                        <a:rPr lang="en-US" sz="1000" b="0" baseline="0" dirty="0">
                          <a:solidFill>
                            <a:schemeClr val="tx1"/>
                          </a:solidFill>
                        </a:rPr>
                        <a:t>While there is no constraint on transmission till </a:t>
                      </a:r>
                      <a:r>
                        <a:rPr lang="en-US" sz="1000" b="0" baseline="0" dirty="0" err="1">
                          <a:solidFill>
                            <a:schemeClr val="tx1"/>
                          </a:solidFill>
                        </a:rPr>
                        <a:t>Barishal</a:t>
                      </a:r>
                      <a:r>
                        <a:rPr lang="en-US" sz="1000" b="0" baseline="0" dirty="0">
                          <a:solidFill>
                            <a:schemeClr val="tx1"/>
                          </a:solidFill>
                        </a:rPr>
                        <a:t> N S/S, few considerations might pose some challenges for the evacuation of power from </a:t>
                      </a:r>
                      <a:r>
                        <a:rPr lang="en-US" sz="1000" b="0" baseline="0" dirty="0" err="1">
                          <a:solidFill>
                            <a:schemeClr val="tx1"/>
                          </a:solidFill>
                        </a:rPr>
                        <a:t>Barishal</a:t>
                      </a:r>
                      <a:r>
                        <a:rPr lang="en-US" sz="1000" b="0" baseline="0" dirty="0">
                          <a:solidFill>
                            <a:schemeClr val="tx1"/>
                          </a:solidFill>
                        </a:rPr>
                        <a:t> (N) Substation. This loading constraint at </a:t>
                      </a:r>
                      <a:r>
                        <a:rPr lang="en-US" sz="1000" b="0" baseline="0" dirty="0" err="1">
                          <a:solidFill>
                            <a:schemeClr val="tx1"/>
                          </a:solidFill>
                        </a:rPr>
                        <a:t>Barishal</a:t>
                      </a:r>
                      <a:r>
                        <a:rPr lang="en-US" sz="1000" b="0" baseline="0" dirty="0">
                          <a:solidFill>
                            <a:schemeClr val="tx1"/>
                          </a:solidFill>
                        </a:rPr>
                        <a:t> N could have a cascading impact on </a:t>
                      </a:r>
                      <a:r>
                        <a:rPr lang="en-US" sz="1000" b="0" baseline="0" dirty="0" err="1">
                          <a:solidFill>
                            <a:schemeClr val="tx1"/>
                          </a:solidFill>
                        </a:rPr>
                        <a:t>Bhola</a:t>
                      </a:r>
                      <a:r>
                        <a:rPr lang="en-US" sz="1000" b="0" baseline="0" dirty="0">
                          <a:solidFill>
                            <a:schemeClr val="tx1"/>
                          </a:solidFill>
                        </a:rPr>
                        <a:t> power plant. </a:t>
                      </a:r>
                    </a:p>
                    <a:p>
                      <a:pPr marL="0" indent="0">
                        <a:lnSpc>
                          <a:spcPct val="100000"/>
                        </a:lnSpc>
                        <a:spcAft>
                          <a:spcPts val="0"/>
                        </a:spcAft>
                        <a:buFont typeface="Arial" panose="020B0604020202020204" pitchFamily="34" charset="0"/>
                        <a:buNone/>
                      </a:pPr>
                      <a:r>
                        <a:rPr lang="en-US" sz="1000" b="0" i="0" baseline="0" dirty="0">
                          <a:solidFill>
                            <a:schemeClr val="tx1"/>
                          </a:solidFill>
                        </a:rPr>
                        <a:t>However, a detailed load flow study needs to be done to ascertain the same</a:t>
                      </a:r>
                      <a:endParaRPr lang="en-US" sz="1000" b="0" i="0" baseline="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75894750"/>
                  </a:ext>
                </a:extLst>
              </a:tr>
            </a:tbl>
          </a:graphicData>
        </a:graphic>
      </p:graphicFrame>
      <p:sp>
        <p:nvSpPr>
          <p:cNvPr id="12" name="Rectangle 11"/>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marL="0" marR="0" lvl="0" indent="0" algn="l" defTabSz="914400"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PGCB, NBBL, Deloitte Analysis Note 1) The power factor has been assumed at 0.85 considering industry standards</a:t>
            </a:r>
          </a:p>
        </p:txBody>
      </p:sp>
      <p:sp>
        <p:nvSpPr>
          <p:cNvPr id="13" name="Rectangle 12"/>
          <p:cNvSpPr/>
          <p:nvPr/>
        </p:nvSpPr>
        <p:spPr>
          <a:xfrm>
            <a:off x="442912" y="6201295"/>
            <a:ext cx="9875413" cy="95410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0097A9"/>
                </a:solidFill>
                <a:effectLst/>
                <a:uLnTx/>
                <a:uFillTx/>
                <a:latin typeface="Verdana"/>
                <a:ea typeface="+mn-ea"/>
                <a:cs typeface="+mn-cs"/>
              </a:rPr>
              <a:t>The current evacuation plan via 230 KV TL connecting </a:t>
            </a:r>
            <a:r>
              <a:rPr kumimoji="0" lang="en-US" sz="1400" b="1" i="1" u="none" strike="noStrike" kern="1200" cap="none" spc="0" normalizeH="0" baseline="0" noProof="0" dirty="0" err="1">
                <a:ln>
                  <a:noFill/>
                </a:ln>
                <a:solidFill>
                  <a:srgbClr val="0097A9"/>
                </a:solidFill>
                <a:effectLst/>
                <a:uLnTx/>
                <a:uFillTx/>
                <a:latin typeface="Verdana"/>
                <a:ea typeface="+mn-ea"/>
                <a:cs typeface="+mn-cs"/>
              </a:rPr>
              <a:t>Bhola</a:t>
            </a:r>
            <a:r>
              <a:rPr kumimoji="0" lang="en-US" sz="1400" b="1" i="1" u="none" strike="noStrike" kern="1200" cap="none" spc="0" normalizeH="0" baseline="0" noProof="0" dirty="0">
                <a:ln>
                  <a:noFill/>
                </a:ln>
                <a:solidFill>
                  <a:srgbClr val="0097A9"/>
                </a:solidFill>
                <a:effectLst/>
                <a:uLnTx/>
                <a:uFillTx/>
                <a:latin typeface="Verdana"/>
                <a:ea typeface="+mn-ea"/>
                <a:cs typeface="+mn-cs"/>
              </a:rPr>
              <a:t> – </a:t>
            </a:r>
            <a:r>
              <a:rPr kumimoji="0" lang="en-US" sz="1400" b="1" i="1" u="none" strike="noStrike" kern="1200" cap="none" spc="0" normalizeH="0" baseline="0" noProof="0" dirty="0" err="1">
                <a:ln>
                  <a:noFill/>
                </a:ln>
                <a:solidFill>
                  <a:srgbClr val="0097A9"/>
                </a:solidFill>
                <a:effectLst/>
                <a:uLnTx/>
                <a:uFillTx/>
                <a:latin typeface="Verdana"/>
                <a:ea typeface="+mn-ea"/>
                <a:cs typeface="+mn-cs"/>
              </a:rPr>
              <a:t>Barishal</a:t>
            </a:r>
            <a:r>
              <a:rPr kumimoji="0" lang="en-US" sz="1400" b="1" i="1" u="none" strike="noStrike" kern="1200" cap="none" spc="0" normalizeH="0" baseline="0" noProof="0" dirty="0">
                <a:ln>
                  <a:noFill/>
                </a:ln>
                <a:solidFill>
                  <a:srgbClr val="0097A9"/>
                </a:solidFill>
                <a:effectLst/>
                <a:uLnTx/>
                <a:uFillTx/>
                <a:latin typeface="Verdana"/>
                <a:ea typeface="+mn-ea"/>
                <a:cs typeface="+mn-cs"/>
              </a:rPr>
              <a:t> has sufficient capacity for NBBL; However the </a:t>
            </a:r>
            <a:r>
              <a:rPr kumimoji="0" lang="en-US" sz="1400" b="1" i="1" u="none" strike="noStrike" kern="1200" cap="none" spc="0" normalizeH="0" baseline="0" noProof="0" dirty="0" err="1">
                <a:ln>
                  <a:noFill/>
                </a:ln>
                <a:solidFill>
                  <a:srgbClr val="0097A9"/>
                </a:solidFill>
                <a:effectLst/>
                <a:uLnTx/>
                <a:uFillTx/>
                <a:latin typeface="Verdana"/>
                <a:ea typeface="+mn-ea"/>
                <a:cs typeface="+mn-cs"/>
              </a:rPr>
              <a:t>Barishal</a:t>
            </a:r>
            <a:r>
              <a:rPr kumimoji="0" lang="en-US" sz="1400" b="1" i="1" u="none" strike="noStrike" kern="1200" cap="none" spc="0" normalizeH="0" baseline="0" noProof="0" dirty="0">
                <a:ln>
                  <a:noFill/>
                </a:ln>
                <a:solidFill>
                  <a:srgbClr val="0097A9"/>
                </a:solidFill>
                <a:effectLst/>
                <a:uLnTx/>
                <a:uFillTx/>
                <a:latin typeface="Verdana"/>
                <a:ea typeface="+mn-ea"/>
                <a:cs typeface="+mn-cs"/>
              </a:rPr>
              <a:t> N substation may face loading constraints in case of full dispatch from </a:t>
            </a:r>
            <a:r>
              <a:rPr kumimoji="0" lang="en-US" sz="1400" b="1" i="1" u="none" strike="noStrike" kern="1200" cap="none" spc="0" normalizeH="0" baseline="0" noProof="0" dirty="0" err="1">
                <a:ln>
                  <a:noFill/>
                </a:ln>
                <a:solidFill>
                  <a:srgbClr val="0097A9"/>
                </a:solidFill>
                <a:effectLst/>
                <a:uLnTx/>
                <a:uFillTx/>
                <a:latin typeface="Verdana"/>
                <a:ea typeface="+mn-ea"/>
                <a:cs typeface="+mn-cs"/>
              </a:rPr>
              <a:t>Bhola</a:t>
            </a:r>
            <a:r>
              <a:rPr kumimoji="0" lang="en-US" sz="1400" b="1" i="1" u="none" strike="noStrike" kern="1200" cap="none" spc="0" normalizeH="0" baseline="0" noProof="0" dirty="0">
                <a:ln>
                  <a:noFill/>
                </a:ln>
                <a:solidFill>
                  <a:srgbClr val="0097A9"/>
                </a:solidFill>
                <a:effectLst/>
                <a:uLnTx/>
                <a:uFillTx/>
                <a:latin typeface="Verdana"/>
                <a:ea typeface="+mn-ea"/>
                <a:cs typeface="+mn-cs"/>
              </a:rPr>
              <a:t> Island Plants or dispatch from </a:t>
            </a:r>
            <a:r>
              <a:rPr kumimoji="0" lang="en-US" sz="1400" b="1" i="1" u="none" strike="noStrike" kern="1200" cap="none" spc="0" normalizeH="0" baseline="0" noProof="0" dirty="0" err="1">
                <a:ln>
                  <a:noFill/>
                </a:ln>
                <a:solidFill>
                  <a:srgbClr val="0097A9"/>
                </a:solidFill>
                <a:effectLst/>
                <a:uLnTx/>
                <a:uFillTx/>
                <a:latin typeface="Verdana"/>
                <a:ea typeface="+mn-ea"/>
                <a:cs typeface="+mn-cs"/>
              </a:rPr>
              <a:t>Payra</a:t>
            </a:r>
            <a:r>
              <a:rPr kumimoji="0" lang="en-US" sz="1400" b="1" i="1" u="none" strike="noStrike" kern="1200" cap="none" spc="0" normalizeH="0" baseline="0" noProof="0" dirty="0">
                <a:ln>
                  <a:noFill/>
                </a:ln>
                <a:solidFill>
                  <a:srgbClr val="0097A9"/>
                </a:solidFill>
                <a:effectLst/>
                <a:uLnTx/>
                <a:uFillTx/>
                <a:latin typeface="Verdana"/>
                <a:ea typeface="+mn-ea"/>
                <a:cs typeface="+mn-cs"/>
              </a:rPr>
              <a:t> Power Plant via </a:t>
            </a:r>
            <a:r>
              <a:rPr kumimoji="0" lang="en-US" sz="1400" b="1" i="1" u="none" strike="noStrike" kern="1200" cap="none" spc="0" normalizeH="0" baseline="0" noProof="0" dirty="0" err="1">
                <a:ln>
                  <a:noFill/>
                </a:ln>
                <a:solidFill>
                  <a:srgbClr val="0097A9"/>
                </a:solidFill>
                <a:effectLst/>
                <a:uLnTx/>
                <a:uFillTx/>
                <a:latin typeface="Verdana"/>
                <a:ea typeface="+mn-ea"/>
                <a:cs typeface="+mn-cs"/>
              </a:rPr>
              <a:t>Barishal</a:t>
            </a:r>
            <a:endParaRPr kumimoji="0" lang="en-US" sz="1400" b="1" i="1" u="none" strike="noStrike" kern="1200" cap="none" spc="0" normalizeH="0" baseline="0" noProof="0" dirty="0">
              <a:ln>
                <a:noFill/>
              </a:ln>
              <a:solidFill>
                <a:srgbClr val="0097A9"/>
              </a:solidFill>
              <a:effectLst/>
              <a:uLnTx/>
              <a:uFillTx/>
              <a:latin typeface="Verdan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0097A9"/>
                </a:solidFill>
                <a:effectLst/>
                <a:uLnTx/>
                <a:uFillTx/>
                <a:latin typeface="Verdana"/>
                <a:ea typeface="+mn-ea"/>
                <a:cs typeface="+mn-cs"/>
              </a:rPr>
              <a:t>Detailed Load Flow Study required to ascertain actual risk for NBBL Plant</a:t>
            </a:r>
          </a:p>
        </p:txBody>
      </p:sp>
    </p:spTree>
    <p:extLst>
      <p:ext uri="{BB962C8B-B14F-4D97-AF65-F5344CB8AC3E}">
        <p14:creationId xmlns:p14="http://schemas.microsoft.com/office/powerpoint/2010/main" val="642826700"/>
      </p:ext>
    </p:extLst>
  </p:cSld>
  <p:clrMapOvr>
    <a:masterClrMapping/>
  </p:clrMapOvr>
  <p:transition>
    <p:fade/>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3" name="Object 2"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4" name="Title 1"/>
          <p:cNvSpPr>
            <a:spLocks noGrp="1"/>
          </p:cNvSpPr>
          <p:nvPr>
            <p:ph type="title"/>
          </p:nvPr>
        </p:nvSpPr>
        <p:spPr>
          <a:xfrm>
            <a:off x="442913" y="654050"/>
            <a:ext cx="9791700" cy="431800"/>
          </a:xfrm>
        </p:spPr>
        <p:txBody>
          <a:bodyPr/>
          <a:lstStyle/>
          <a:p>
            <a:r>
              <a:rPr lang="en-US" dirty="0"/>
              <a:t>DISCOM Credit Risk Assessment | Summary</a:t>
            </a:r>
            <a:endParaRPr lang="en-IN" dirty="0"/>
          </a:p>
        </p:txBody>
      </p:sp>
      <p:sp>
        <p:nvSpPr>
          <p:cNvPr id="5" name="Strapline"/>
          <p:cNvSpPr txBox="1">
            <a:spLocks/>
          </p:cNvSpPr>
          <p:nvPr/>
        </p:nvSpPr>
        <p:spPr>
          <a:xfrm>
            <a:off x="442912" y="1085850"/>
            <a:ext cx="9793288" cy="519113"/>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Historically, BPDB had reliance on Government Subsidy to reduce losses; The same is expected to continue considering the gap in its power purchase and sales; However it has made regular payments to IPPs for power purchase with no payment defaults till date</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 name="Table 8"/>
          <p:cNvGraphicFramePr>
            <a:graphicFrameLocks noGrp="1"/>
          </p:cNvGraphicFramePr>
          <p:nvPr>
            <p:extLst>
              <p:ext uri="{D42A27DB-BD31-4B8C-83A1-F6EECF244321}">
                <p14:modId xmlns:p14="http://schemas.microsoft.com/office/powerpoint/2010/main" val="3944074049"/>
              </p:ext>
            </p:extLst>
          </p:nvPr>
        </p:nvGraphicFramePr>
        <p:xfrm>
          <a:off x="442913" y="1968502"/>
          <a:ext cx="9704938" cy="4328160"/>
        </p:xfrm>
        <a:graphic>
          <a:graphicData uri="http://schemas.openxmlformats.org/drawingml/2006/table">
            <a:tbl>
              <a:tblPr firstRow="1" bandRow="1">
                <a:tableStyleId>{3B4B98B0-60AC-42C2-AFA5-B58CD77FA1E5}</a:tableStyleId>
              </a:tblPr>
              <a:tblGrid>
                <a:gridCol w="605502">
                  <a:extLst>
                    <a:ext uri="{9D8B030D-6E8A-4147-A177-3AD203B41FA5}">
                      <a16:colId xmlns:a16="http://schemas.microsoft.com/office/drawing/2014/main" val="4207744418"/>
                    </a:ext>
                  </a:extLst>
                </a:gridCol>
                <a:gridCol w="1442682">
                  <a:extLst>
                    <a:ext uri="{9D8B030D-6E8A-4147-A177-3AD203B41FA5}">
                      <a16:colId xmlns:a16="http://schemas.microsoft.com/office/drawing/2014/main" val="546554287"/>
                    </a:ext>
                  </a:extLst>
                </a:gridCol>
                <a:gridCol w="4919150">
                  <a:extLst>
                    <a:ext uri="{9D8B030D-6E8A-4147-A177-3AD203B41FA5}">
                      <a16:colId xmlns:a16="http://schemas.microsoft.com/office/drawing/2014/main" val="2546321411"/>
                    </a:ext>
                  </a:extLst>
                </a:gridCol>
                <a:gridCol w="2053819">
                  <a:extLst>
                    <a:ext uri="{9D8B030D-6E8A-4147-A177-3AD203B41FA5}">
                      <a16:colId xmlns:a16="http://schemas.microsoft.com/office/drawing/2014/main" val="187755370"/>
                    </a:ext>
                  </a:extLst>
                </a:gridCol>
                <a:gridCol w="683785">
                  <a:extLst>
                    <a:ext uri="{9D8B030D-6E8A-4147-A177-3AD203B41FA5}">
                      <a16:colId xmlns:a16="http://schemas.microsoft.com/office/drawing/2014/main" val="1794598962"/>
                    </a:ext>
                  </a:extLst>
                </a:gridCol>
              </a:tblGrid>
              <a:tr h="164255">
                <a:tc>
                  <a:txBody>
                    <a:bodyPr/>
                    <a:lstStyle/>
                    <a:p>
                      <a:r>
                        <a:rPr lang="en-US" sz="1000" dirty="0"/>
                        <a:t>Sr. No</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Parameter</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Details</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Output</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Ref Slides</a:t>
                      </a:r>
                      <a:endParaRPr lang="en-IN" sz="1000" b="0" dirty="0"/>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34780871"/>
                  </a:ext>
                </a:extLst>
              </a:tr>
              <a:tr h="973544">
                <a:tc>
                  <a:txBody>
                    <a:bodyPr/>
                    <a:lstStyle/>
                    <a:p>
                      <a:pPr>
                        <a:lnSpc>
                          <a:spcPct val="100000"/>
                        </a:lnSpc>
                        <a:spcBef>
                          <a:spcPts val="0"/>
                        </a:spcBef>
                        <a:spcAft>
                          <a:spcPts val="300"/>
                        </a:spcAft>
                      </a:pPr>
                      <a:r>
                        <a:rPr lang="en-US" sz="1000" dirty="0"/>
                        <a:t>1</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ct val="100000"/>
                        </a:lnSpc>
                        <a:spcBef>
                          <a:spcPts val="0"/>
                        </a:spcBef>
                        <a:spcAft>
                          <a:spcPts val="300"/>
                        </a:spcAft>
                      </a:pPr>
                      <a:r>
                        <a:rPr lang="en-US" sz="1000" b="0" dirty="0"/>
                        <a:t>BDPB</a:t>
                      </a:r>
                      <a:r>
                        <a:rPr lang="en-US" sz="1000" b="0" baseline="0" dirty="0"/>
                        <a:t> Historic Profitability</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300"/>
                        </a:spcAft>
                        <a:buClrTx/>
                        <a:buSzTx/>
                        <a:buFont typeface="Arial" panose="020B0604020202020204" pitchFamily="34" charset="0"/>
                        <a:buChar char="•"/>
                        <a:tabLst/>
                        <a:defRPr/>
                      </a:pPr>
                      <a:r>
                        <a:rPr lang="en-US" sz="1000" b="0" baseline="0" dirty="0">
                          <a:solidFill>
                            <a:schemeClr val="tx1"/>
                          </a:solidFill>
                        </a:rPr>
                        <a:t>BPDB (Generation &amp; Bulk Supply) has historically been incurring losses, primarily due to the differential in the overall power purchase cost and the allowed bulk supply tariff for BPDB. </a:t>
                      </a:r>
                    </a:p>
                    <a:p>
                      <a:pPr marL="171450" marR="0" lvl="0" indent="-171450" algn="just" defTabSz="990571" rtl="0" eaLnBrk="1" fontAlgn="auto" latinLnBrk="0" hangingPunct="1">
                        <a:lnSpc>
                          <a:spcPct val="100000"/>
                        </a:lnSpc>
                        <a:spcBef>
                          <a:spcPts val="0"/>
                        </a:spcBef>
                        <a:spcAft>
                          <a:spcPts val="300"/>
                        </a:spcAft>
                        <a:buClrTx/>
                        <a:buSzTx/>
                        <a:buFont typeface="Arial" panose="020B0604020202020204" pitchFamily="34" charset="0"/>
                        <a:buChar char="•"/>
                        <a:tabLst/>
                        <a:defRPr/>
                      </a:pPr>
                      <a:r>
                        <a:rPr lang="en-US" sz="1000" b="0" baseline="0" dirty="0">
                          <a:solidFill>
                            <a:schemeClr val="tx1"/>
                          </a:solidFill>
                        </a:rPr>
                        <a:t>However the infusion of Government subsidy in the form of cash subsidy (since FY 18), </a:t>
                      </a:r>
                      <a:r>
                        <a:rPr lang="en-US" sz="1000" b="0" kern="1200" baseline="0" dirty="0">
                          <a:solidFill>
                            <a:schemeClr val="tx1"/>
                          </a:solidFill>
                          <a:latin typeface="+mn-lt"/>
                          <a:ea typeface="+mn-ea"/>
                          <a:cs typeface="+mn-cs"/>
                        </a:rPr>
                        <a:t>has led to reduction in overall losses in FY19 making it match its overall revenue requirement from operations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90571" rtl="0" eaLnBrk="1" fontAlgn="auto" latinLnBrk="0" hangingPunct="1">
                        <a:lnSpc>
                          <a:spcPct val="100000"/>
                        </a:lnSpc>
                        <a:spcBef>
                          <a:spcPts val="0"/>
                        </a:spcBef>
                        <a:spcAft>
                          <a:spcPts val="300"/>
                        </a:spcAft>
                        <a:buClrTx/>
                        <a:buSzTx/>
                        <a:buFont typeface="Arial" panose="020B0604020202020204" pitchFamily="34" charset="0"/>
                        <a:buNone/>
                        <a:tabLst/>
                        <a:defRPr/>
                      </a:pPr>
                      <a:r>
                        <a:rPr lang="en-US" sz="1000" b="0" kern="1200" baseline="0" dirty="0">
                          <a:solidFill>
                            <a:schemeClr val="tx1"/>
                          </a:solidFill>
                          <a:latin typeface="+mn-lt"/>
                          <a:ea typeface="+mn-ea"/>
                          <a:cs typeface="+mn-cs"/>
                        </a:rPr>
                        <a:t>Salient FY 19 parameters:</a:t>
                      </a:r>
                    </a:p>
                    <a:p>
                      <a:pPr marL="0" marR="0" lvl="0" indent="0" algn="l" defTabSz="990571" rtl="0" eaLnBrk="1" fontAlgn="auto" latinLnBrk="0" hangingPunct="1">
                        <a:lnSpc>
                          <a:spcPct val="100000"/>
                        </a:lnSpc>
                        <a:spcBef>
                          <a:spcPts val="0"/>
                        </a:spcBef>
                        <a:spcAft>
                          <a:spcPts val="300"/>
                        </a:spcAft>
                        <a:buClrTx/>
                        <a:buSzTx/>
                        <a:buFont typeface="Arial" panose="020B0604020202020204" pitchFamily="34" charset="0"/>
                        <a:buNone/>
                        <a:tabLst/>
                        <a:defRPr/>
                      </a:pPr>
                      <a:endParaRPr lang="en-US" sz="1000" b="0" kern="1200" baseline="0" dirty="0">
                        <a:solidFill>
                          <a:schemeClr val="tx1"/>
                        </a:solidFill>
                        <a:latin typeface="+mn-lt"/>
                        <a:ea typeface="+mn-ea"/>
                        <a:cs typeface="+mn-cs"/>
                      </a:endParaRPr>
                    </a:p>
                    <a:p>
                      <a:pPr marL="171450" marR="0" lvl="0" indent="-171450" algn="l" defTabSz="990571" rtl="0" eaLnBrk="1" fontAlgn="auto" latinLnBrk="0" hangingPunct="1">
                        <a:lnSpc>
                          <a:spcPct val="100000"/>
                        </a:lnSpc>
                        <a:spcBef>
                          <a:spcPts val="0"/>
                        </a:spcBef>
                        <a:spcAft>
                          <a:spcPts val="3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BPDB has ~85% Billing to Cost Ratio </a:t>
                      </a:r>
                    </a:p>
                    <a:p>
                      <a:pPr marL="171450" marR="0" lvl="0" indent="-171450" algn="l" defTabSz="990571" rtl="0" eaLnBrk="1" fontAlgn="auto" latinLnBrk="0" hangingPunct="1">
                        <a:lnSpc>
                          <a:spcPct val="100000"/>
                        </a:lnSpc>
                        <a:spcBef>
                          <a:spcPts val="0"/>
                        </a:spcBef>
                        <a:spcAft>
                          <a:spcPts val="3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Revenue : 332 BDT </a:t>
                      </a:r>
                      <a:r>
                        <a:rPr lang="en-US" sz="1000" b="0" kern="1200" baseline="0" dirty="0" err="1">
                          <a:solidFill>
                            <a:schemeClr val="tx1"/>
                          </a:solidFill>
                          <a:latin typeface="+mn-lt"/>
                          <a:ea typeface="+mn-ea"/>
                          <a:cs typeface="+mn-cs"/>
                        </a:rPr>
                        <a:t>Bn</a:t>
                      </a:r>
                      <a:endParaRPr lang="en-US" sz="1000" b="0" kern="1200" baseline="0" dirty="0">
                        <a:solidFill>
                          <a:schemeClr val="tx1"/>
                        </a:solidFill>
                        <a:latin typeface="+mn-lt"/>
                        <a:ea typeface="+mn-ea"/>
                        <a:cs typeface="+mn-cs"/>
                      </a:endParaRPr>
                    </a:p>
                    <a:p>
                      <a:pPr marL="171450" marR="0" lvl="0" indent="-171450" algn="l" defTabSz="990571" rtl="0" eaLnBrk="1" fontAlgn="auto" latinLnBrk="0" hangingPunct="1">
                        <a:lnSpc>
                          <a:spcPct val="100000"/>
                        </a:lnSpc>
                        <a:spcBef>
                          <a:spcPts val="0"/>
                        </a:spcBef>
                        <a:spcAft>
                          <a:spcPts val="3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Profit : -1 BDT </a:t>
                      </a:r>
                      <a:r>
                        <a:rPr lang="en-US" sz="1000" b="0" kern="1200" baseline="0" dirty="0" err="1">
                          <a:solidFill>
                            <a:schemeClr val="tx1"/>
                          </a:solidFill>
                          <a:latin typeface="+mn-lt"/>
                          <a:ea typeface="+mn-ea"/>
                          <a:cs typeface="+mn-cs"/>
                        </a:rPr>
                        <a:t>Bn</a:t>
                      </a:r>
                      <a:endParaRPr lang="en-US" sz="1000" b="0" baseline="0" dirty="0">
                        <a:solidFill>
                          <a:schemeClr val="tx1"/>
                        </a:solidFill>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3">
                  <a:txBody>
                    <a:bodyPr/>
                    <a:lstStyle/>
                    <a:p>
                      <a:pPr>
                        <a:lnSpc>
                          <a:spcPct val="100000"/>
                        </a:lnSpc>
                        <a:spcBef>
                          <a:spcPts val="0"/>
                        </a:spcBef>
                        <a:spcAft>
                          <a:spcPts val="300"/>
                        </a:spcAft>
                      </a:pPr>
                      <a:r>
                        <a:rPr lang="en-US" sz="1000" b="0" dirty="0"/>
                        <a:t>108-122</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9456584"/>
                  </a:ext>
                </a:extLst>
              </a:tr>
              <a:tr h="727626">
                <a:tc>
                  <a:txBody>
                    <a:bodyPr/>
                    <a:lstStyle/>
                    <a:p>
                      <a:pPr>
                        <a:lnSpc>
                          <a:spcPct val="100000"/>
                        </a:lnSpc>
                        <a:spcBef>
                          <a:spcPts val="0"/>
                        </a:spcBef>
                        <a:spcAft>
                          <a:spcPts val="300"/>
                        </a:spcAft>
                      </a:pPr>
                      <a:r>
                        <a:rPr lang="en-US" sz="1000" dirty="0"/>
                        <a:t>2</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ct val="100000"/>
                        </a:lnSpc>
                        <a:spcBef>
                          <a:spcPts val="0"/>
                        </a:spcBef>
                        <a:spcAft>
                          <a:spcPts val="300"/>
                        </a:spcAft>
                      </a:pPr>
                      <a:r>
                        <a:rPr lang="en-US" sz="1000" b="0" dirty="0"/>
                        <a:t>BPDB Liquidity Position</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Average creditor days range of ~50-70 days since FY15 whereas the average debtor days range of ~170-190 days </a:t>
                      </a:r>
                    </a:p>
                    <a:p>
                      <a:pPr marL="171450" marR="0" lvl="0" indent="-171450" algn="just" defTabSz="990571"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sz="1000" b="0" kern="1200" baseline="0" dirty="0">
                        <a:solidFill>
                          <a:schemeClr val="tx1"/>
                        </a:solidFill>
                        <a:latin typeface="+mn-lt"/>
                        <a:ea typeface="+mn-ea"/>
                        <a:cs typeface="+mn-cs"/>
                      </a:endParaRPr>
                    </a:p>
                    <a:p>
                      <a:pPr marL="171450" marR="0" lvl="0" indent="-171450" algn="just" defTabSz="99057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However BPDB has made regular payments to IPPs historically</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nSpc>
                          <a:spcPct val="100000"/>
                        </a:lnSpc>
                        <a:spcBef>
                          <a:spcPts val="0"/>
                        </a:spcBef>
                        <a:spcAft>
                          <a:spcPts val="300"/>
                        </a:spcAft>
                        <a:buFont typeface="Arial" panose="020B0604020202020204" pitchFamily="34" charset="0"/>
                        <a:buNone/>
                      </a:pPr>
                      <a:r>
                        <a:rPr lang="en-US" sz="1000" b="0" i="0" baseline="0" dirty="0"/>
                        <a:t>Salient FY 19 Parameters: </a:t>
                      </a:r>
                    </a:p>
                    <a:p>
                      <a:pPr marL="0" indent="0">
                        <a:lnSpc>
                          <a:spcPct val="100000"/>
                        </a:lnSpc>
                        <a:spcBef>
                          <a:spcPts val="0"/>
                        </a:spcBef>
                        <a:spcAft>
                          <a:spcPts val="300"/>
                        </a:spcAft>
                        <a:buFont typeface="Arial" panose="020B0604020202020204" pitchFamily="34" charset="0"/>
                        <a:buNone/>
                      </a:pPr>
                      <a:endParaRPr lang="en-US" sz="1000" b="0" i="0" baseline="0" dirty="0"/>
                    </a:p>
                    <a:p>
                      <a:pPr marL="171450" indent="-171450">
                        <a:lnSpc>
                          <a:spcPct val="100000"/>
                        </a:lnSpc>
                        <a:spcBef>
                          <a:spcPts val="0"/>
                        </a:spcBef>
                        <a:spcAft>
                          <a:spcPts val="300"/>
                        </a:spcAft>
                        <a:buFont typeface="Arial" panose="020B0604020202020204" pitchFamily="34" charset="0"/>
                        <a:buChar char="•"/>
                      </a:pPr>
                      <a:r>
                        <a:rPr lang="en-US" sz="1000" b="0" i="0" baseline="0" dirty="0"/>
                        <a:t>Creditor Days: 66</a:t>
                      </a:r>
                    </a:p>
                    <a:p>
                      <a:pPr marL="171450" indent="-171450">
                        <a:lnSpc>
                          <a:spcPct val="100000"/>
                        </a:lnSpc>
                        <a:spcBef>
                          <a:spcPts val="0"/>
                        </a:spcBef>
                        <a:spcAft>
                          <a:spcPts val="300"/>
                        </a:spcAft>
                        <a:buFont typeface="Arial" panose="020B0604020202020204" pitchFamily="34" charset="0"/>
                        <a:buChar char="•"/>
                      </a:pPr>
                      <a:r>
                        <a:rPr lang="en-US" sz="1000" b="0" i="0" baseline="0" dirty="0"/>
                        <a:t>Debtor Days: 182</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75894750"/>
                  </a:ext>
                </a:extLst>
              </a:tr>
              <a:tr h="1958340">
                <a:tc>
                  <a:txBody>
                    <a:bodyPr/>
                    <a:lstStyle/>
                    <a:p>
                      <a:pPr>
                        <a:lnSpc>
                          <a:spcPct val="100000"/>
                        </a:lnSpc>
                        <a:spcBef>
                          <a:spcPts val="0"/>
                        </a:spcBef>
                        <a:spcAft>
                          <a:spcPts val="300"/>
                        </a:spcAft>
                      </a:pPr>
                      <a:r>
                        <a:rPr lang="en-US" sz="1000" b="0" dirty="0"/>
                        <a:t>3</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ct val="100000"/>
                        </a:lnSpc>
                        <a:spcBef>
                          <a:spcPts val="0"/>
                        </a:spcBef>
                        <a:spcAft>
                          <a:spcPts val="0"/>
                        </a:spcAft>
                      </a:pPr>
                      <a:r>
                        <a:rPr lang="en-US" sz="1000" b="0" dirty="0"/>
                        <a:t>BPDB Fixed</a:t>
                      </a:r>
                      <a:r>
                        <a:rPr lang="en-US" sz="1000" b="0" baseline="0" dirty="0"/>
                        <a:t> Charge Payment to private players</a:t>
                      </a:r>
                      <a:endParaRPr lang="en-US"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marR="0" lvl="0" indent="-171450" algn="l" defTabSz="990571" rtl="0" eaLnBrk="1" fontAlgn="auto" latinLnBrk="0" hangingPunct="1">
                        <a:lnSpc>
                          <a:spcPct val="114000"/>
                        </a:lnSpc>
                        <a:spcBef>
                          <a:spcPts val="0"/>
                        </a:spcBef>
                        <a:spcAft>
                          <a:spcPts val="6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As per our estimation, Bangladesh’s total power purchase cost of BDT 390 </a:t>
                      </a:r>
                      <a:r>
                        <a:rPr lang="en-US" sz="1000" b="0" kern="1200" baseline="0" dirty="0" err="1">
                          <a:solidFill>
                            <a:schemeClr val="tx1"/>
                          </a:solidFill>
                          <a:latin typeface="+mn-lt"/>
                          <a:ea typeface="+mn-ea"/>
                          <a:cs typeface="+mn-cs"/>
                        </a:rPr>
                        <a:t>Bn</a:t>
                      </a:r>
                      <a:r>
                        <a:rPr lang="en-US" sz="1000" b="0" kern="1200" baseline="0" dirty="0">
                          <a:solidFill>
                            <a:schemeClr val="tx1"/>
                          </a:solidFill>
                          <a:latin typeface="+mn-lt"/>
                          <a:ea typeface="+mn-ea"/>
                          <a:cs typeface="+mn-cs"/>
                        </a:rPr>
                        <a:t> in FY19, comprised ~BDT 173 </a:t>
                      </a:r>
                      <a:r>
                        <a:rPr lang="en-US" sz="1000" b="0" kern="1200" baseline="0" dirty="0" err="1">
                          <a:solidFill>
                            <a:schemeClr val="tx1"/>
                          </a:solidFill>
                          <a:latin typeface="+mn-lt"/>
                          <a:ea typeface="+mn-ea"/>
                          <a:cs typeface="+mn-cs"/>
                        </a:rPr>
                        <a:t>Bn</a:t>
                      </a:r>
                      <a:r>
                        <a:rPr lang="en-US" sz="1000" b="0" kern="1200" baseline="0" dirty="0">
                          <a:solidFill>
                            <a:schemeClr val="tx1"/>
                          </a:solidFill>
                          <a:latin typeface="+mn-lt"/>
                          <a:ea typeface="+mn-ea"/>
                          <a:cs typeface="+mn-cs"/>
                        </a:rPr>
                        <a:t> of fixed charges only</a:t>
                      </a:r>
                    </a:p>
                    <a:p>
                      <a:pPr marL="171450" marR="0" lvl="0" indent="-171450" algn="l" defTabSz="990571" rtl="0" eaLnBrk="1" fontAlgn="auto" latinLnBrk="0" hangingPunct="1">
                        <a:lnSpc>
                          <a:spcPct val="114000"/>
                        </a:lnSpc>
                        <a:spcBef>
                          <a:spcPts val="0"/>
                        </a:spcBef>
                        <a:spcAft>
                          <a:spcPts val="6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Based on our demand supply outlook, Bangladesh’s average power demand is expected to grow at a CAGR of ~10.4% from ~7,800 MW to ~15,700 MW by FY26 </a:t>
                      </a:r>
                    </a:p>
                    <a:p>
                      <a:pPr marL="171450" marR="0" lvl="0" indent="-171450" algn="l" defTabSz="990571" rtl="0" eaLnBrk="1" fontAlgn="auto" latinLnBrk="0" hangingPunct="1">
                        <a:lnSpc>
                          <a:spcPct val="114000"/>
                        </a:lnSpc>
                        <a:spcBef>
                          <a:spcPts val="0"/>
                        </a:spcBef>
                        <a:spcAft>
                          <a:spcPts val="6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We have projected the fixed charge payment obligations for BPDB considering the planned capacity additions as well as retirement of rental / quick rental plants (which have higher fixed charges due to their PPA tenures)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90571"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000" b="0" kern="1200" baseline="0" dirty="0">
                          <a:solidFill>
                            <a:schemeClr val="tx1"/>
                          </a:solidFill>
                          <a:latin typeface="+mn-lt"/>
                          <a:ea typeface="+mn-ea"/>
                          <a:cs typeface="+mn-cs"/>
                        </a:rPr>
                        <a:t>BPDB’s estimated Fixed Charge Payout:</a:t>
                      </a:r>
                    </a:p>
                    <a:p>
                      <a:pPr marL="171450" marR="0" lvl="0" indent="-171450" algn="l" defTabSz="99057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FY19 – BDT 173 </a:t>
                      </a:r>
                      <a:r>
                        <a:rPr lang="en-US" sz="1000" b="0" kern="1200" baseline="0" dirty="0" err="1">
                          <a:solidFill>
                            <a:schemeClr val="tx1"/>
                          </a:solidFill>
                          <a:latin typeface="+mn-lt"/>
                          <a:ea typeface="+mn-ea"/>
                          <a:cs typeface="+mn-cs"/>
                        </a:rPr>
                        <a:t>Bn</a:t>
                      </a:r>
                      <a:endParaRPr lang="en-US" sz="1000" b="0" kern="1200" baseline="0" dirty="0">
                        <a:solidFill>
                          <a:schemeClr val="tx1"/>
                        </a:solidFill>
                        <a:latin typeface="+mn-lt"/>
                        <a:ea typeface="+mn-ea"/>
                        <a:cs typeface="+mn-cs"/>
                      </a:endParaRPr>
                    </a:p>
                    <a:p>
                      <a:pPr marL="171450" marR="0" lvl="0" indent="-171450" algn="l" defTabSz="99057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FY26 – BDT 281 </a:t>
                      </a:r>
                      <a:r>
                        <a:rPr lang="en-US" sz="1000" b="0" kern="1200" baseline="0" dirty="0" err="1">
                          <a:solidFill>
                            <a:schemeClr val="tx1"/>
                          </a:solidFill>
                          <a:latin typeface="+mn-lt"/>
                          <a:ea typeface="+mn-ea"/>
                          <a:cs typeface="+mn-cs"/>
                        </a:rPr>
                        <a:t>Bn</a:t>
                      </a:r>
                      <a:endParaRPr lang="en-US" sz="1000" b="0" kern="1200" baseline="0" dirty="0">
                        <a:solidFill>
                          <a:schemeClr val="tx1"/>
                        </a:solidFill>
                        <a:latin typeface="+mn-lt"/>
                        <a:ea typeface="+mn-ea"/>
                        <a:cs typeface="+mn-cs"/>
                      </a:endParaRPr>
                    </a:p>
                    <a:p>
                      <a:pPr marL="0" marR="0" lvl="0" indent="0" algn="l" defTabSz="990571"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000" b="0" kern="1200" baseline="0" dirty="0">
                        <a:solidFill>
                          <a:schemeClr val="tx1"/>
                        </a:solidFill>
                        <a:latin typeface="+mn-lt"/>
                        <a:ea typeface="+mn-ea"/>
                        <a:cs typeface="+mn-cs"/>
                      </a:endParaRPr>
                    </a:p>
                    <a:p>
                      <a:pPr marL="0" marR="0" lvl="0" indent="0" algn="l" defTabSz="990571"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000" b="0" kern="1200" baseline="0" dirty="0">
                          <a:solidFill>
                            <a:schemeClr val="tx1"/>
                          </a:solidFill>
                          <a:latin typeface="+mn-lt"/>
                          <a:ea typeface="+mn-ea"/>
                          <a:cs typeface="+mn-cs"/>
                        </a:rPr>
                        <a:t>While the expected FC Payout CAGR growth is ~7.1%, it is lower than average power demand growth of ~10.4% </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6247871"/>
                  </a:ext>
                </a:extLst>
              </a:tr>
            </a:tbl>
          </a:graphicData>
        </a:graphic>
      </p:graphicFrame>
      <p:sp>
        <p:nvSpPr>
          <p:cNvPr id="11" name="TextBox 10"/>
          <p:cNvSpPr txBox="1"/>
          <p:nvPr/>
        </p:nvSpPr>
        <p:spPr>
          <a:xfrm>
            <a:off x="377114" y="7364165"/>
            <a:ext cx="9936000" cy="104259"/>
          </a:xfrm>
          <a:prstGeom prst="rect">
            <a:avLst/>
          </a:prstGeom>
          <a:noFill/>
          <a:ln w="19050" algn="ctr">
            <a:noFill/>
            <a:miter lim="800000"/>
            <a:headEnd/>
            <a:tailEnd/>
          </a:ln>
        </p:spPr>
        <p:txBody>
          <a:bodyPr wrap="square" lIns="88900" tIns="88900" rIns="88900" bIns="88900" rtlCol="0" anchor="ctr"/>
          <a:lstStyle>
            <a:defPPr>
              <a:defRPr lang="en-US"/>
            </a:defPPr>
            <a:lvl1pPr marR="0" lvl="0" indent="0" fontAlgn="auto">
              <a:lnSpc>
                <a:spcPct val="106000"/>
              </a:lnSpc>
              <a:spcBef>
                <a:spcPts val="0"/>
              </a:spcBef>
              <a:spcAft>
                <a:spcPts val="0"/>
              </a:spcAft>
              <a:buClrTx/>
              <a:buSzTx/>
              <a:buFontTx/>
              <a:buNone/>
              <a:tabLst/>
              <a:defRPr kumimoji="0" sz="700" b="0" i="1" u="none" strike="noStrike" cap="none" spc="0" normalizeH="0" baseline="0">
                <a:ln>
                  <a:noFill/>
                </a:ln>
                <a:solidFill>
                  <a:prstClr val="black"/>
                </a:solidFill>
                <a:effectLst/>
                <a:uLnTx/>
                <a:uFillTx/>
                <a:latin typeface="Verdana"/>
              </a:defRPr>
            </a:lvl1pPr>
          </a:lstStyle>
          <a:p>
            <a:pPr marL="0" marR="0" lvl="0" indent="0" algn="l" defTabSz="914400" rtl="0" eaLnBrk="1" fontAlgn="auto" latinLnBrk="0" hangingPunct="1">
              <a:lnSpc>
                <a:spcPct val="106000"/>
              </a:lnSpc>
              <a:spcBef>
                <a:spcPts val="0"/>
              </a:spcBef>
              <a:spcAft>
                <a:spcPts val="0"/>
              </a:spcAft>
              <a:buClrTx/>
              <a:buSzTx/>
              <a:buFontTx/>
              <a:buNone/>
              <a:tabLst/>
              <a:defRPr/>
            </a:pPr>
            <a:r>
              <a:rPr kumimoji="0" lang="en-GB" sz="700" b="0" i="1" u="none" strike="noStrike" kern="1200" cap="none" spc="0" normalizeH="0" baseline="0" noProof="0" dirty="0">
                <a:ln>
                  <a:noFill/>
                </a:ln>
                <a:solidFill>
                  <a:prstClr val="black"/>
                </a:solidFill>
                <a:effectLst/>
                <a:uLnTx/>
                <a:uFillTx/>
                <a:latin typeface="Verdana"/>
                <a:ea typeface="+mn-ea"/>
                <a:cs typeface="+mn-cs"/>
              </a:rPr>
              <a:t>Source: BPDB, Industry Reports, Deloitte Analysis; Note [1]: BPDB’s fixed charge obligations estimated considering variable &amp; fixed cost assumptions for HSD, HFO, Gas, Planned imported fuel based capacity additions among others. Please refer to Slide 113 for details</a:t>
            </a:r>
          </a:p>
        </p:txBody>
      </p:sp>
      <p:sp>
        <p:nvSpPr>
          <p:cNvPr id="8" name="Rectangle 7"/>
          <p:cNvSpPr/>
          <p:nvPr/>
        </p:nvSpPr>
        <p:spPr>
          <a:xfrm>
            <a:off x="486293" y="6296662"/>
            <a:ext cx="9704939" cy="738664"/>
          </a:xfrm>
          <a:prstGeom prst="rect">
            <a:avLst/>
          </a:prstGeom>
        </p:spPr>
        <p:txBody>
          <a:bodyPr wrap="square">
            <a:spAutoFit/>
          </a:bodyPr>
          <a:lstStyle/>
          <a:p>
            <a:pPr marL="0" marR="0" lvl="0" indent="0" algn="ctr" defTabSz="787481"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0097A9"/>
                </a:solidFill>
                <a:effectLst/>
                <a:uLnTx/>
                <a:uFillTx/>
                <a:latin typeface="Verdana" panose="020B0604030504040204" pitchFamily="34" charset="0"/>
                <a:ea typeface="+mn-ea"/>
                <a:cs typeface="+mn-cs"/>
              </a:rPr>
              <a:t>With subsidy infusion in the form of cash, BPDB’s financial position is expected to improve; Overall power demand growth is expected to grow at CAGR of ~10.4% which is much higher than fixed payment obligations growth of ~</a:t>
            </a:r>
            <a:r>
              <a:rPr lang="en-US" sz="1400" b="1" i="1" noProof="0" dirty="0">
                <a:solidFill>
                  <a:srgbClr val="0097A9"/>
                </a:solidFill>
                <a:latin typeface="Verdana" panose="020B0604030504040204" pitchFamily="34" charset="0"/>
              </a:rPr>
              <a:t>7.1</a:t>
            </a:r>
            <a:r>
              <a:rPr kumimoji="0" lang="en-US" sz="1400" b="1" i="1" u="none" strike="noStrike" kern="1200" cap="none" spc="0" normalizeH="0" baseline="0" noProof="0" dirty="0">
                <a:ln>
                  <a:noFill/>
                </a:ln>
                <a:solidFill>
                  <a:srgbClr val="0097A9"/>
                </a:solidFill>
                <a:effectLst/>
                <a:uLnTx/>
                <a:uFillTx/>
                <a:latin typeface="Verdana" panose="020B0604030504040204" pitchFamily="34" charset="0"/>
                <a:ea typeface="+mn-ea"/>
                <a:cs typeface="+mn-cs"/>
              </a:rPr>
              <a:t>% </a:t>
            </a:r>
            <a:endParaRPr kumimoji="0" lang="en-IN" sz="1400" b="1" i="1" u="none" strike="noStrike" kern="1200" cap="none" spc="0" normalizeH="0" baseline="0" noProof="0" dirty="0">
              <a:ln>
                <a:noFill/>
              </a:ln>
              <a:solidFill>
                <a:srgbClr val="0097A9"/>
              </a:solidFill>
              <a:effectLst/>
              <a:uLnTx/>
              <a:uFillTx/>
              <a:latin typeface="Verdana"/>
              <a:ea typeface="+mn-ea"/>
              <a:cs typeface="+mn-cs"/>
            </a:endParaRPr>
          </a:p>
        </p:txBody>
      </p:sp>
    </p:spTree>
    <p:extLst>
      <p:ext uri="{BB962C8B-B14F-4D97-AF65-F5344CB8AC3E}">
        <p14:creationId xmlns:p14="http://schemas.microsoft.com/office/powerpoint/2010/main" val="1783277202"/>
      </p:ext>
    </p:extLst>
  </p:cSld>
  <p:clrMapOvr>
    <a:masterClrMapping/>
  </p:clrMapOvr>
  <p:transition>
    <p:fade/>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3" name="Object 2"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4" name="Title 1"/>
          <p:cNvSpPr>
            <a:spLocks noGrp="1"/>
          </p:cNvSpPr>
          <p:nvPr>
            <p:ph type="title"/>
          </p:nvPr>
        </p:nvSpPr>
        <p:spPr>
          <a:xfrm>
            <a:off x="442913" y="654050"/>
            <a:ext cx="9791700" cy="431800"/>
          </a:xfrm>
        </p:spPr>
        <p:txBody>
          <a:bodyPr/>
          <a:lstStyle/>
          <a:p>
            <a:r>
              <a:rPr lang="en-US" dirty="0"/>
              <a:t>Fuel Supplier Credit Risk Assessment (BPC &amp; SGCL)| Summary</a:t>
            </a:r>
            <a:endParaRPr lang="en-IN" dirty="0"/>
          </a:p>
        </p:txBody>
      </p:sp>
      <p:sp>
        <p:nvSpPr>
          <p:cNvPr id="5" name="Strapline"/>
          <p:cNvSpPr txBox="1">
            <a:spLocks/>
          </p:cNvSpPr>
          <p:nvPr/>
        </p:nvSpPr>
        <p:spPr>
          <a:xfrm>
            <a:off x="442912" y="1085850"/>
            <a:ext cx="9793288" cy="519113"/>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BPC and SGCL are both profitable companies and hence are expected to make timely payments to their creditors; No risk is envisaged from a fuel supply perspective for Nimbus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 name="Table 8"/>
          <p:cNvGraphicFramePr>
            <a:graphicFrameLocks noGrp="1"/>
          </p:cNvGraphicFramePr>
          <p:nvPr>
            <p:extLst>
              <p:ext uri="{D42A27DB-BD31-4B8C-83A1-F6EECF244321}">
                <p14:modId xmlns:p14="http://schemas.microsoft.com/office/powerpoint/2010/main" val="1614649824"/>
              </p:ext>
            </p:extLst>
          </p:nvPr>
        </p:nvGraphicFramePr>
        <p:xfrm>
          <a:off x="442913" y="1968502"/>
          <a:ext cx="9704938" cy="4485640"/>
        </p:xfrm>
        <a:graphic>
          <a:graphicData uri="http://schemas.openxmlformats.org/drawingml/2006/table">
            <a:tbl>
              <a:tblPr firstRow="1" bandRow="1">
                <a:tableStyleId>{3B4B98B0-60AC-42C2-AFA5-B58CD77FA1E5}</a:tableStyleId>
              </a:tblPr>
              <a:tblGrid>
                <a:gridCol w="605502">
                  <a:extLst>
                    <a:ext uri="{9D8B030D-6E8A-4147-A177-3AD203B41FA5}">
                      <a16:colId xmlns:a16="http://schemas.microsoft.com/office/drawing/2014/main" val="4207744418"/>
                    </a:ext>
                  </a:extLst>
                </a:gridCol>
                <a:gridCol w="1442682">
                  <a:extLst>
                    <a:ext uri="{9D8B030D-6E8A-4147-A177-3AD203B41FA5}">
                      <a16:colId xmlns:a16="http://schemas.microsoft.com/office/drawing/2014/main" val="546554287"/>
                    </a:ext>
                  </a:extLst>
                </a:gridCol>
                <a:gridCol w="4919150">
                  <a:extLst>
                    <a:ext uri="{9D8B030D-6E8A-4147-A177-3AD203B41FA5}">
                      <a16:colId xmlns:a16="http://schemas.microsoft.com/office/drawing/2014/main" val="2546321411"/>
                    </a:ext>
                  </a:extLst>
                </a:gridCol>
                <a:gridCol w="2053819">
                  <a:extLst>
                    <a:ext uri="{9D8B030D-6E8A-4147-A177-3AD203B41FA5}">
                      <a16:colId xmlns:a16="http://schemas.microsoft.com/office/drawing/2014/main" val="187755370"/>
                    </a:ext>
                  </a:extLst>
                </a:gridCol>
                <a:gridCol w="683785">
                  <a:extLst>
                    <a:ext uri="{9D8B030D-6E8A-4147-A177-3AD203B41FA5}">
                      <a16:colId xmlns:a16="http://schemas.microsoft.com/office/drawing/2014/main" val="1794598962"/>
                    </a:ext>
                  </a:extLst>
                </a:gridCol>
              </a:tblGrid>
              <a:tr h="364674">
                <a:tc>
                  <a:txBody>
                    <a:bodyPr/>
                    <a:lstStyle/>
                    <a:p>
                      <a:r>
                        <a:rPr lang="en-US" sz="1000" dirty="0"/>
                        <a:t>Sr. No</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Parameter</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Details</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Output</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Ref Slides</a:t>
                      </a:r>
                      <a:endParaRPr lang="en-IN" sz="1000" b="0" dirty="0"/>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34780871"/>
                  </a:ext>
                </a:extLst>
              </a:tr>
              <a:tr h="703635">
                <a:tc>
                  <a:txBody>
                    <a:bodyPr/>
                    <a:lstStyle/>
                    <a:p>
                      <a:r>
                        <a:rPr lang="en-US" sz="1000" dirty="0"/>
                        <a:t>1</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sz="1000" b="0" dirty="0"/>
                        <a:t>BPC Historical</a:t>
                      </a:r>
                      <a:r>
                        <a:rPr lang="en-US" sz="1000" b="0" baseline="0" dirty="0"/>
                        <a:t> Profitability</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BPC </a:t>
                      </a:r>
                      <a:r>
                        <a:rPr lang="en-US" sz="1000" b="1" baseline="0" dirty="0">
                          <a:solidFill>
                            <a:schemeClr val="tx1"/>
                          </a:solidFill>
                        </a:rPr>
                        <a:t> </a:t>
                      </a:r>
                      <a:r>
                        <a:rPr lang="en-US" sz="1000" b="0" baseline="0" dirty="0">
                          <a:solidFill>
                            <a:schemeClr val="tx1"/>
                          </a:solidFill>
                        </a:rPr>
                        <a:t>has been earning profits for the past 4 years (was loss making till FY14). Average profit of ~ BDT 54 </a:t>
                      </a:r>
                      <a:r>
                        <a:rPr lang="en-US" sz="1000" b="0" baseline="0" dirty="0" err="1">
                          <a:solidFill>
                            <a:schemeClr val="tx1"/>
                          </a:solidFill>
                        </a:rPr>
                        <a:t>Bn</a:t>
                      </a:r>
                      <a:r>
                        <a:rPr lang="en-US" sz="1000" b="0" baseline="0" dirty="0">
                          <a:solidFill>
                            <a:schemeClr val="tx1"/>
                          </a:solidFill>
                        </a:rPr>
                        <a:t> from FY15 – FY 19</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The profitability was due to decline in Global Crude prices from ~$100 / barrel (Pre FY15) to ~$40-60 / Barrels (FY15 onwards)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buFont typeface="Arial" panose="020B0604020202020204" pitchFamily="34" charset="0"/>
                        <a:buChar char="•"/>
                      </a:pPr>
                      <a:r>
                        <a:rPr lang="en-US" sz="1000" b="0" i="0" baseline="0" dirty="0"/>
                        <a:t>Revenue FY19: BDT 453 </a:t>
                      </a:r>
                      <a:r>
                        <a:rPr lang="en-US" sz="1000" b="0" i="0" baseline="0" dirty="0" err="1"/>
                        <a:t>Bn</a:t>
                      </a:r>
                      <a:r>
                        <a:rPr lang="en-US" sz="1000" b="0" i="0" baseline="0" dirty="0"/>
                        <a:t> (CAGR ~5% FY15-19)</a:t>
                      </a:r>
                    </a:p>
                    <a:p>
                      <a:pPr marL="171450" indent="-171450">
                        <a:buFont typeface="Arial" panose="020B0604020202020204" pitchFamily="34" charset="0"/>
                        <a:buChar char="•"/>
                      </a:pPr>
                      <a:r>
                        <a:rPr lang="en-US" sz="1000" b="0" i="0" baseline="0" dirty="0"/>
                        <a:t>Profit FY19: BDT 38 </a:t>
                      </a:r>
                      <a:r>
                        <a:rPr lang="en-US" sz="1000" b="0" i="0" baseline="0" dirty="0" err="1"/>
                        <a:t>Bn</a:t>
                      </a:r>
                      <a:endParaRPr lang="en-US" sz="1000" b="0" i="0" baseline="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5">
                  <a:txBody>
                    <a:bodyPr/>
                    <a:lstStyle/>
                    <a:p>
                      <a:r>
                        <a:rPr lang="en-US" sz="1000" b="0" dirty="0"/>
                        <a:t>123-130</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9456584"/>
                  </a:ext>
                </a:extLst>
              </a:tr>
              <a:tr h="1065971">
                <a:tc>
                  <a:txBody>
                    <a:bodyPr/>
                    <a:lstStyle/>
                    <a:p>
                      <a:r>
                        <a:rPr lang="en-US" sz="1000" dirty="0"/>
                        <a:t>2</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sz="1000" b="0" dirty="0"/>
                        <a:t>BPC Payable Assessment</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6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BPC’s payables mainly comprises of payments to international crude suppliers and other natural gas companies in Bangladesh</a:t>
                      </a:r>
                    </a:p>
                    <a:p>
                      <a:pPr marL="171450" marR="0" lvl="0" indent="-171450" algn="just" defTabSz="990571" rtl="0" eaLnBrk="1" fontAlgn="auto" latinLnBrk="0" hangingPunct="1">
                        <a:lnSpc>
                          <a:spcPct val="100000"/>
                        </a:lnSpc>
                        <a:spcBef>
                          <a:spcPts val="0"/>
                        </a:spcBef>
                        <a:spcAft>
                          <a:spcPts val="6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Last 4 years, accounts payable for trading activities has been consistent (these would majorly be accountable for imports)</a:t>
                      </a:r>
                    </a:p>
                    <a:p>
                      <a:pPr marL="171450" marR="0" lvl="0" indent="-171450" algn="just" defTabSz="990571" rtl="0" eaLnBrk="1" fontAlgn="auto" latinLnBrk="0" hangingPunct="1">
                        <a:lnSpc>
                          <a:spcPct val="100000"/>
                        </a:lnSpc>
                        <a:spcBef>
                          <a:spcPts val="0"/>
                        </a:spcBef>
                        <a:spcAft>
                          <a:spcPts val="6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However, overall accounts payable has reached BDT ~230 </a:t>
                      </a:r>
                      <a:r>
                        <a:rPr lang="en-US" sz="1000" b="0" kern="1200" baseline="0" dirty="0" err="1">
                          <a:solidFill>
                            <a:schemeClr val="tx1"/>
                          </a:solidFill>
                          <a:latin typeface="+mn-lt"/>
                          <a:ea typeface="+mn-ea"/>
                          <a:cs typeface="+mn-cs"/>
                        </a:rPr>
                        <a:t>Bn</a:t>
                      </a:r>
                      <a:r>
                        <a:rPr lang="en-US" sz="1000" b="0" kern="1200" baseline="0" dirty="0">
                          <a:solidFill>
                            <a:schemeClr val="tx1"/>
                          </a:solidFill>
                          <a:latin typeface="+mn-lt"/>
                          <a:ea typeface="+mn-ea"/>
                          <a:cs typeface="+mn-cs"/>
                        </a:rPr>
                        <a:t> which indicates that BPC may be delaying payments for domestic operations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buFont typeface="Arial" panose="020B0604020202020204" pitchFamily="34" charset="0"/>
                        <a:buNone/>
                      </a:pPr>
                      <a:r>
                        <a:rPr lang="en-US" sz="1000" b="0" i="1" baseline="0" dirty="0"/>
                        <a:t>Average from FY16-FY19</a:t>
                      </a:r>
                    </a:p>
                    <a:p>
                      <a:pPr marL="0" indent="0">
                        <a:buFont typeface="Arial" panose="020B0604020202020204" pitchFamily="34" charset="0"/>
                        <a:buNone/>
                      </a:pPr>
                      <a:endParaRPr lang="en-US" sz="1000" b="0" i="1" baseline="0" dirty="0"/>
                    </a:p>
                    <a:p>
                      <a:pPr marL="171450" indent="-171450">
                        <a:buFont typeface="Arial" panose="020B0604020202020204" pitchFamily="34" charset="0"/>
                        <a:buChar char="•"/>
                      </a:pPr>
                      <a:r>
                        <a:rPr lang="en-US" sz="1000" b="0" i="0" baseline="0" dirty="0"/>
                        <a:t>Creditor Days: ~319 days</a:t>
                      </a:r>
                    </a:p>
                    <a:p>
                      <a:pPr marL="171450" indent="-171450">
                        <a:buFont typeface="Arial" panose="020B0604020202020204" pitchFamily="34" charset="0"/>
                        <a:buChar char="•"/>
                      </a:pPr>
                      <a:r>
                        <a:rPr lang="en-US" sz="1000" b="0" i="0" baseline="0" dirty="0"/>
                        <a:t>Accounts Payable:</a:t>
                      </a:r>
                    </a:p>
                    <a:p>
                      <a:pPr marL="357188" lvl="1" indent="-177800">
                        <a:buFont typeface="Arial" panose="020B0604020202020204" pitchFamily="34" charset="0"/>
                        <a:buChar char="•"/>
                        <a:tabLst>
                          <a:tab pos="357188" algn="l"/>
                        </a:tabLst>
                      </a:pPr>
                      <a:r>
                        <a:rPr lang="en-US" sz="1000" b="0" i="0" baseline="0" dirty="0"/>
                        <a:t>Overall: ~ BDT 243 </a:t>
                      </a:r>
                      <a:r>
                        <a:rPr lang="en-US" sz="1000" b="0" i="0" baseline="0" dirty="0" err="1"/>
                        <a:t>Bn</a:t>
                      </a:r>
                      <a:endParaRPr lang="en-US" sz="1000" b="0" i="0" baseline="0" dirty="0"/>
                    </a:p>
                    <a:p>
                      <a:pPr marL="357188" lvl="1" indent="-177800">
                        <a:buFont typeface="Arial" panose="020B0604020202020204" pitchFamily="34" charset="0"/>
                        <a:buChar char="•"/>
                        <a:tabLst>
                          <a:tab pos="357188" algn="l"/>
                        </a:tabLst>
                      </a:pPr>
                      <a:r>
                        <a:rPr lang="en-US" sz="1000" b="0" i="0" baseline="0" dirty="0"/>
                        <a:t>Trading: ~ BDT 40 </a:t>
                      </a:r>
                      <a:r>
                        <a:rPr lang="en-US" sz="1000" b="0" i="0" baseline="0" dirty="0" err="1"/>
                        <a:t>Bn</a:t>
                      </a:r>
                      <a:endParaRPr lang="en-US" sz="1000" b="0" i="0" baseline="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75894750"/>
                  </a:ext>
                </a:extLst>
              </a:tr>
              <a:tr h="785453">
                <a:tc>
                  <a:txBody>
                    <a:bodyPr/>
                    <a:lstStyle/>
                    <a:p>
                      <a:r>
                        <a:rPr lang="en-US" sz="1000" b="0" dirty="0"/>
                        <a:t>3</a:t>
                      </a:r>
                      <a:endParaRPr lang="en-IN" sz="1000" b="0" dirty="0"/>
                    </a:p>
                  </a:txBody>
                  <a:tcPr anchor="ct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r>
                        <a:rPr lang="en-US" sz="1000" b="0" dirty="0"/>
                        <a:t>BPC Receivables</a:t>
                      </a:r>
                      <a:r>
                        <a:rPr lang="en-US" sz="1000" b="0" baseline="0" dirty="0"/>
                        <a:t> Assessment</a:t>
                      </a:r>
                      <a:endParaRPr lang="en-US" sz="1000" b="0" dirty="0"/>
                    </a:p>
                  </a:txBody>
                  <a:tcPr anchor="ct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BPC receives its trading receivable roughly within ~200-230 days signifying cash risk for the company</a:t>
                      </a:r>
                    </a:p>
                  </a:txBody>
                  <a:tcPr anchor="ct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marL="0" indent="0">
                        <a:buFont typeface="Arial" panose="020B0604020202020204" pitchFamily="34" charset="0"/>
                        <a:buNone/>
                      </a:pPr>
                      <a:r>
                        <a:rPr lang="en-US" sz="1000" b="0" i="1" baseline="0" dirty="0"/>
                        <a:t>Average from FY16-FY19</a:t>
                      </a:r>
                    </a:p>
                    <a:p>
                      <a:pPr marL="171450" indent="-171450">
                        <a:buFont typeface="Arial" panose="020B0604020202020204" pitchFamily="34" charset="0"/>
                        <a:buChar char="•"/>
                      </a:pPr>
                      <a:r>
                        <a:rPr lang="en-US" sz="1000" b="0" i="0" baseline="0" dirty="0"/>
                        <a:t>Debtor Days: ~229 days</a:t>
                      </a:r>
                    </a:p>
                    <a:p>
                      <a:pPr marL="171450" indent="-171450">
                        <a:buFont typeface="Arial" panose="020B0604020202020204" pitchFamily="34" charset="0"/>
                        <a:buChar char="•"/>
                      </a:pPr>
                      <a:r>
                        <a:rPr lang="en-US" sz="1000" b="0" i="0" baseline="0" dirty="0"/>
                        <a:t>Accounts Receivable:</a:t>
                      </a:r>
                    </a:p>
                    <a:p>
                      <a:pPr marL="357188" lvl="1" indent="-177800">
                        <a:buFont typeface="Arial" panose="020B0604020202020204" pitchFamily="34" charset="0"/>
                        <a:buChar char="•"/>
                      </a:pPr>
                      <a:r>
                        <a:rPr lang="en-US" sz="1000" b="0" i="0" baseline="0" dirty="0"/>
                        <a:t>Trading: ~ BDT 254 </a:t>
                      </a:r>
                      <a:r>
                        <a:rPr lang="en-US" sz="1000" b="0" i="0" baseline="0" dirty="0" err="1"/>
                        <a:t>Bn</a:t>
                      </a:r>
                      <a:endParaRPr lang="en-US" sz="1000" b="0" i="0" baseline="0" dirty="0"/>
                    </a:p>
                    <a:p>
                      <a:pPr marL="357188" lvl="1" indent="-177800">
                        <a:buFont typeface="Arial" panose="020B0604020202020204" pitchFamily="34" charset="0"/>
                        <a:buChar char="•"/>
                      </a:pPr>
                      <a:r>
                        <a:rPr lang="en-US" sz="1000" b="0" i="0" baseline="0" dirty="0"/>
                        <a:t>Others: ~ BDT 1 </a:t>
                      </a:r>
                      <a:r>
                        <a:rPr lang="en-US" sz="1000" b="0" i="0" baseline="0" dirty="0" err="1"/>
                        <a:t>Bn</a:t>
                      </a:r>
                      <a:endParaRPr lang="en-US" sz="1000" b="0" i="0" baseline="0" dirty="0"/>
                    </a:p>
                  </a:txBody>
                  <a:tcPr anchor="ct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vMerge="1">
                  <a:txBody>
                    <a:bodyPr/>
                    <a:lstStyle/>
                    <a:p>
                      <a:endParaRPr lang="en-IN" sz="1000" b="0" dirty="0"/>
                    </a:p>
                  </a:txBody>
                  <a:tcPr anchor="ct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6247871"/>
                  </a:ext>
                </a:extLst>
              </a:tr>
              <a:tr h="540573">
                <a:tc>
                  <a:txBody>
                    <a:bodyPr/>
                    <a:lstStyle/>
                    <a:p>
                      <a:r>
                        <a:rPr lang="en-US" sz="1000" b="0" dirty="0"/>
                        <a:t>1</a:t>
                      </a:r>
                      <a:endParaRPr lang="en-IN" sz="1000" b="0" dirty="0"/>
                    </a:p>
                  </a:txBody>
                  <a:tcPr anchor="ct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sz="1000" b="0" dirty="0"/>
                        <a:t>SGCL Historical</a:t>
                      </a:r>
                      <a:r>
                        <a:rPr lang="en-US" sz="1000" b="0" baseline="0" dirty="0"/>
                        <a:t> Profitability</a:t>
                      </a:r>
                      <a:endParaRPr lang="en-IN" sz="1000" b="0" dirty="0"/>
                    </a:p>
                  </a:txBody>
                  <a:tcPr anchor="ct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mn-lt"/>
                          <a:ea typeface="+mn-ea"/>
                          <a:cs typeface="+mn-cs"/>
                        </a:rPr>
                        <a:t>SGCL has been profitable company with its revenue &amp; net profitability rising at ~83% CAGR in the last 5 years. The revenue has increased primarily due to increased gas sales in its geographic area</a:t>
                      </a:r>
                    </a:p>
                  </a:txBody>
                  <a:tcPr anchor="ct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buFont typeface="Arial" panose="020B0604020202020204" pitchFamily="34" charset="0"/>
                        <a:buChar char="•"/>
                      </a:pPr>
                      <a:r>
                        <a:rPr lang="en-US" sz="1000" b="0" i="0" baseline="0" dirty="0"/>
                        <a:t>Revenue FY 19: BDT 3,522 </a:t>
                      </a:r>
                      <a:r>
                        <a:rPr lang="en-US" sz="1000" b="0" i="0" baseline="0" dirty="0" err="1"/>
                        <a:t>Mn</a:t>
                      </a:r>
                      <a:endParaRPr lang="en-US" sz="1000" b="0" i="0" baseline="0" dirty="0"/>
                    </a:p>
                    <a:p>
                      <a:pPr marL="171450" indent="-171450">
                        <a:buFont typeface="Arial" panose="020B0604020202020204" pitchFamily="34" charset="0"/>
                        <a:buChar char="•"/>
                      </a:pPr>
                      <a:r>
                        <a:rPr lang="en-US" sz="1000" b="0" i="0" baseline="0" dirty="0"/>
                        <a:t>Profit FY 19: BDT 399 </a:t>
                      </a:r>
                      <a:r>
                        <a:rPr lang="en-US" sz="1000" b="0" i="0" baseline="0" dirty="0" err="1"/>
                        <a:t>Mn</a:t>
                      </a:r>
                      <a:endParaRPr lang="en-US" sz="1000" b="0" i="0" baseline="0" dirty="0"/>
                    </a:p>
                  </a:txBody>
                  <a:tcPr anchor="ct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endParaRPr lang="en-IN" sz="1000" b="0" dirty="0"/>
                    </a:p>
                  </a:txBody>
                  <a:tcPr anchor="ct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47146439"/>
                  </a:ext>
                </a:extLst>
              </a:tr>
              <a:tr h="703635">
                <a:tc>
                  <a:txBody>
                    <a:bodyPr/>
                    <a:lstStyle/>
                    <a:p>
                      <a:r>
                        <a:rPr lang="en-US" sz="1000" b="0" dirty="0"/>
                        <a:t>2</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sz="1000" b="0" dirty="0"/>
                        <a:t>SGCL Liquidity</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mn-lt"/>
                          <a:ea typeface="+mn-ea"/>
                          <a:cs typeface="+mn-cs"/>
                        </a:rPr>
                        <a:t>Overall receivables decreased from an ~2-4 months between FY15 -FY18 to ~1.2 month in FY19 indicating improved liquidity position</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mn-lt"/>
                          <a:ea typeface="+mn-ea"/>
                          <a:cs typeface="+mn-cs"/>
                        </a:rPr>
                        <a:t>SGCL’s creditor payable days has increased from ~5 months in FY18 to ~6.5 months in FY19</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mn-lt"/>
                          <a:ea typeface="+mn-ea"/>
                          <a:cs typeface="+mn-cs"/>
                        </a:rPr>
                        <a:t>D/E reduced from~6 in FY16 to ~4 in FY19</a:t>
                      </a:r>
                    </a:p>
                    <a:p>
                      <a:pPr marL="171450" marR="0" lvl="0" indent="-171450" algn="just" defTabSz="990571"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mn-lt"/>
                          <a:ea typeface="+mn-ea"/>
                          <a:cs typeface="+mn-cs"/>
                        </a:rPr>
                        <a:t>CR improved from ~1.5 in FY16 to ~1.9 in FY 19</a:t>
                      </a:r>
                      <a:endParaRPr lang="en-US" sz="1000" b="1" baseline="0" dirty="0">
                        <a:solidFill>
                          <a:schemeClr val="tx1"/>
                        </a:solidFill>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1985578"/>
                  </a:ext>
                </a:extLst>
              </a:tr>
            </a:tbl>
          </a:graphicData>
        </a:graphic>
      </p:graphicFrame>
      <p:sp>
        <p:nvSpPr>
          <p:cNvPr id="8" name="Rectangle 7"/>
          <p:cNvSpPr/>
          <p:nvPr/>
        </p:nvSpPr>
        <p:spPr bwMode="gray">
          <a:xfrm>
            <a:off x="367167" y="7226733"/>
            <a:ext cx="4179454" cy="258504"/>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SGCL, Deloitte Analysis</a:t>
            </a:r>
            <a:endParaRPr kumimoji="0" lang="en-IN" sz="700" b="0" i="1" u="none" strike="noStrike" kern="1200" cap="none" spc="0" normalizeH="0" baseline="0" noProof="0" dirty="0">
              <a:ln>
                <a:noFill/>
              </a:ln>
              <a:solidFill>
                <a:prstClr val="black"/>
              </a:solidFill>
              <a:effectLst/>
              <a:uLnTx/>
              <a:uFillTx/>
              <a:latin typeface="Verdana"/>
              <a:ea typeface="+mn-ea"/>
              <a:cs typeface="+mn-cs"/>
            </a:endParaRPr>
          </a:p>
        </p:txBody>
      </p:sp>
      <p:sp>
        <p:nvSpPr>
          <p:cNvPr id="6" name="Rectangle 5"/>
          <p:cNvSpPr/>
          <p:nvPr/>
        </p:nvSpPr>
        <p:spPr>
          <a:xfrm>
            <a:off x="442912" y="6454142"/>
            <a:ext cx="9704939" cy="523220"/>
          </a:xfrm>
          <a:prstGeom prst="rect">
            <a:avLst/>
          </a:prstGeom>
        </p:spPr>
        <p:txBody>
          <a:bodyPr wrap="square">
            <a:spAutoFit/>
          </a:bodyPr>
          <a:lstStyle/>
          <a:p>
            <a:pPr marL="0" marR="0" lvl="0" indent="0" algn="ctr" defTabSz="787481"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0097A9"/>
                </a:solidFill>
                <a:effectLst/>
                <a:uLnTx/>
                <a:uFillTx/>
                <a:latin typeface="Verdana" panose="020B0604030504040204" pitchFamily="34" charset="0"/>
                <a:ea typeface="+mn-ea"/>
                <a:cs typeface="+mn-cs"/>
              </a:rPr>
              <a:t>In case of any future financial constraint faced by BPC and SGCL, the GoB is expected to provide financial support given the strategic importance of the power sector</a:t>
            </a:r>
            <a:endParaRPr kumimoji="0" lang="en-IN" sz="1400" b="1" i="1" u="none" strike="noStrike" kern="1200" cap="none" spc="0" normalizeH="0" baseline="0" noProof="0" dirty="0">
              <a:ln>
                <a:noFill/>
              </a:ln>
              <a:solidFill>
                <a:srgbClr val="0097A9"/>
              </a:solidFill>
              <a:effectLst/>
              <a:uLnTx/>
              <a:uFillTx/>
              <a:latin typeface="Verdana"/>
              <a:ea typeface="+mn-ea"/>
              <a:cs typeface="+mn-cs"/>
            </a:endParaRPr>
          </a:p>
        </p:txBody>
      </p:sp>
    </p:spTree>
    <p:extLst>
      <p:ext uri="{BB962C8B-B14F-4D97-AF65-F5344CB8AC3E}">
        <p14:creationId xmlns:p14="http://schemas.microsoft.com/office/powerpoint/2010/main" val="2748767346"/>
      </p:ext>
    </p:extLst>
  </p:cSld>
  <p:clrMapOvr>
    <a:masterClrMapping/>
  </p:clrMapOvr>
  <p:transition>
    <p:fade/>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3" name="Object 2"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4" name="Title 1"/>
          <p:cNvSpPr>
            <a:spLocks noGrp="1"/>
          </p:cNvSpPr>
          <p:nvPr>
            <p:ph type="title"/>
          </p:nvPr>
        </p:nvSpPr>
        <p:spPr>
          <a:xfrm>
            <a:off x="442913" y="654050"/>
            <a:ext cx="9791700" cy="431800"/>
          </a:xfrm>
        </p:spPr>
        <p:txBody>
          <a:bodyPr/>
          <a:lstStyle/>
          <a:p>
            <a:r>
              <a:rPr lang="en-US" dirty="0"/>
              <a:t>Foreign Participation Assessment | Summary</a:t>
            </a:r>
            <a:endParaRPr lang="en-IN" dirty="0"/>
          </a:p>
        </p:txBody>
      </p:sp>
      <p:sp>
        <p:nvSpPr>
          <p:cNvPr id="5" name="Strapline"/>
          <p:cNvSpPr txBox="1">
            <a:spLocks/>
          </p:cNvSpPr>
          <p:nvPr/>
        </p:nvSpPr>
        <p:spPr>
          <a:xfrm>
            <a:off x="442912" y="1085850"/>
            <a:ext cx="9793288" cy="519113"/>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Gas based plants have witnessed major foreign investment from players such as </a:t>
            </a:r>
            <a:r>
              <a:rPr kumimoji="0" lang="en-US" sz="1400" b="1" i="0" u="none" strike="noStrike" kern="1200" cap="none" spc="0" normalizeH="0" baseline="0" noProof="0" dirty="0" err="1">
                <a:ln>
                  <a:noFill/>
                </a:ln>
                <a:solidFill>
                  <a:prstClr val="black">
                    <a:lumMod val="50000"/>
                    <a:lumOff val="50000"/>
                  </a:prstClr>
                </a:solidFill>
                <a:effectLst/>
                <a:uLnTx/>
                <a:uFillTx/>
                <a:latin typeface="Verdana" panose="020B0604030504040204" pitchFamily="34" charset="0"/>
                <a:ea typeface="+mn-ea"/>
                <a:cs typeface="+mn-cs"/>
              </a:rPr>
              <a:t>Pendekar</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Group, GE, Standard Chartered, IDOs like IFC/ADB among others; Upcoming plants have foreign equity investment ~ 4000 MW with major recipients being plants on imported coal &amp; LNG based plants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 name="Table 8"/>
          <p:cNvGraphicFramePr>
            <a:graphicFrameLocks noGrp="1"/>
          </p:cNvGraphicFramePr>
          <p:nvPr>
            <p:extLst>
              <p:ext uri="{D42A27DB-BD31-4B8C-83A1-F6EECF244321}">
                <p14:modId xmlns:p14="http://schemas.microsoft.com/office/powerpoint/2010/main" val="2346772448"/>
              </p:ext>
            </p:extLst>
          </p:nvPr>
        </p:nvGraphicFramePr>
        <p:xfrm>
          <a:off x="442913" y="1968502"/>
          <a:ext cx="9704938" cy="2687320"/>
        </p:xfrm>
        <a:graphic>
          <a:graphicData uri="http://schemas.openxmlformats.org/drawingml/2006/table">
            <a:tbl>
              <a:tblPr firstRow="1" bandRow="1">
                <a:tableStyleId>{3B4B98B0-60AC-42C2-AFA5-B58CD77FA1E5}</a:tableStyleId>
              </a:tblPr>
              <a:tblGrid>
                <a:gridCol w="605502">
                  <a:extLst>
                    <a:ext uri="{9D8B030D-6E8A-4147-A177-3AD203B41FA5}">
                      <a16:colId xmlns:a16="http://schemas.microsoft.com/office/drawing/2014/main" val="4207744418"/>
                    </a:ext>
                  </a:extLst>
                </a:gridCol>
                <a:gridCol w="1442682">
                  <a:extLst>
                    <a:ext uri="{9D8B030D-6E8A-4147-A177-3AD203B41FA5}">
                      <a16:colId xmlns:a16="http://schemas.microsoft.com/office/drawing/2014/main" val="546554287"/>
                    </a:ext>
                  </a:extLst>
                </a:gridCol>
                <a:gridCol w="4919150">
                  <a:extLst>
                    <a:ext uri="{9D8B030D-6E8A-4147-A177-3AD203B41FA5}">
                      <a16:colId xmlns:a16="http://schemas.microsoft.com/office/drawing/2014/main" val="2546321411"/>
                    </a:ext>
                  </a:extLst>
                </a:gridCol>
                <a:gridCol w="2053819">
                  <a:extLst>
                    <a:ext uri="{9D8B030D-6E8A-4147-A177-3AD203B41FA5}">
                      <a16:colId xmlns:a16="http://schemas.microsoft.com/office/drawing/2014/main" val="187755370"/>
                    </a:ext>
                  </a:extLst>
                </a:gridCol>
                <a:gridCol w="683785">
                  <a:extLst>
                    <a:ext uri="{9D8B030D-6E8A-4147-A177-3AD203B41FA5}">
                      <a16:colId xmlns:a16="http://schemas.microsoft.com/office/drawing/2014/main" val="1794598962"/>
                    </a:ext>
                  </a:extLst>
                </a:gridCol>
              </a:tblGrid>
              <a:tr h="262244">
                <a:tc>
                  <a:txBody>
                    <a:bodyPr/>
                    <a:lstStyle/>
                    <a:p>
                      <a:r>
                        <a:rPr lang="en-US" sz="1000" dirty="0"/>
                        <a:t>Sr. No</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Parameter</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Details</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Output</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Ref Slides</a:t>
                      </a:r>
                      <a:endParaRPr lang="en-IN" sz="1000" b="0" dirty="0"/>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34780871"/>
                  </a:ext>
                </a:extLst>
              </a:tr>
              <a:tr h="707722">
                <a:tc>
                  <a:txBody>
                    <a:bodyPr/>
                    <a:lstStyle/>
                    <a:p>
                      <a:r>
                        <a:rPr lang="en-US" sz="1000" dirty="0"/>
                        <a:t>1</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sz="1000" b="0" dirty="0"/>
                        <a:t>Foreign Investment in Privately Owned Commissioned Plants</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Investment has been mainly attracted by Gas based plants, with ~ 1,400 MW for Equity investment, 890 MW for Foreign Loan and 2,000 MW for Multilateral Agencies (MLA) based funding</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Overall, ~1,997 MW attracted foreign equity investment, ~ 2,057 attracted foreign loan and ~2,525 MW attracted MLA based funding, with Gas being the majority, followed by HSD</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buFont typeface="Arial" panose="020B0604020202020204" pitchFamily="34" charset="0"/>
                        <a:buNone/>
                      </a:pPr>
                      <a:r>
                        <a:rPr lang="en-US" sz="1000" b="0" i="0" baseline="0" dirty="0"/>
                        <a:t>Key players given in table below</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2">
                  <a:txBody>
                    <a:bodyPr/>
                    <a:lstStyle/>
                    <a:p>
                      <a:r>
                        <a:rPr lang="en-US" sz="1000" b="0" dirty="0"/>
                        <a:t>131-139</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9456584"/>
                  </a:ext>
                </a:extLst>
              </a:tr>
              <a:tr h="808585">
                <a:tc>
                  <a:txBody>
                    <a:bodyPr/>
                    <a:lstStyle/>
                    <a:p>
                      <a:r>
                        <a:rPr lang="en-US" sz="1000" dirty="0"/>
                        <a:t>2</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sz="1000" b="0" dirty="0"/>
                        <a:t>Foreign Investment in Privately</a:t>
                      </a:r>
                      <a:r>
                        <a:rPr lang="en-US" sz="1000" b="0" baseline="0" dirty="0"/>
                        <a:t> Owned Upcoming Plants</a:t>
                      </a:r>
                      <a:endParaRPr lang="en-US"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Investment has been mainly attracted by LNG and imported Coal  based plants. LNG attracted ~ 1,885 MW for Equity investment, 718 MW for Foreign Loan and 1,301 MW for MLA based funding. Whereas Imported Coal based attracted investment for ~1,531 MW for equity investment and ~1,224 MW for Foreign loan based funding.</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Overall, ~4,027 MW attracted foreign equity investment, ~ 2,391 attracted foreign loan and ~1,416 MW attracted MLA based funding.</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90571"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000" b="0" i="0" baseline="0" dirty="0"/>
                        <a:t>Key players given in table below</a:t>
                      </a:r>
                    </a:p>
                    <a:p>
                      <a:pPr marL="0" indent="0">
                        <a:buFont typeface="Arial" panose="020B0604020202020204" pitchFamily="34" charset="0"/>
                        <a:buNone/>
                      </a:pPr>
                      <a:endParaRPr lang="en-US" sz="1000" b="0" i="0" baseline="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75894750"/>
                  </a:ext>
                </a:extLst>
              </a:tr>
            </a:tbl>
          </a:graphicData>
        </a:graphic>
      </p:graphicFrame>
      <p:graphicFrame>
        <p:nvGraphicFramePr>
          <p:cNvPr id="13" name="Table 12"/>
          <p:cNvGraphicFramePr>
            <a:graphicFrameLocks noGrp="1"/>
          </p:cNvGraphicFramePr>
          <p:nvPr/>
        </p:nvGraphicFramePr>
        <p:xfrm>
          <a:off x="269585" y="5035552"/>
          <a:ext cx="4915304" cy="2110573"/>
        </p:xfrm>
        <a:graphic>
          <a:graphicData uri="http://schemas.openxmlformats.org/drawingml/2006/table">
            <a:tbl>
              <a:tblPr firstRow="1">
                <a:tableStyleId>{5C22544A-7EE6-4342-B048-85BDC9FD1C3A}</a:tableStyleId>
              </a:tblPr>
              <a:tblGrid>
                <a:gridCol w="558401">
                  <a:extLst>
                    <a:ext uri="{9D8B030D-6E8A-4147-A177-3AD203B41FA5}">
                      <a16:colId xmlns:a16="http://schemas.microsoft.com/office/drawing/2014/main" val="1950246367"/>
                    </a:ext>
                  </a:extLst>
                </a:gridCol>
                <a:gridCol w="1452301">
                  <a:extLst>
                    <a:ext uri="{9D8B030D-6E8A-4147-A177-3AD203B41FA5}">
                      <a16:colId xmlns:a16="http://schemas.microsoft.com/office/drawing/2014/main" val="3949766043"/>
                    </a:ext>
                  </a:extLst>
                </a:gridCol>
                <a:gridCol w="1452301">
                  <a:extLst>
                    <a:ext uri="{9D8B030D-6E8A-4147-A177-3AD203B41FA5}">
                      <a16:colId xmlns:a16="http://schemas.microsoft.com/office/drawing/2014/main" val="279501602"/>
                    </a:ext>
                  </a:extLst>
                </a:gridCol>
                <a:gridCol w="1452301">
                  <a:extLst>
                    <a:ext uri="{9D8B030D-6E8A-4147-A177-3AD203B41FA5}">
                      <a16:colId xmlns:a16="http://schemas.microsoft.com/office/drawing/2014/main" val="2441610059"/>
                    </a:ext>
                  </a:extLst>
                </a:gridCol>
              </a:tblGrid>
              <a:tr h="281773">
                <a:tc>
                  <a:txBody>
                    <a:bodyPr/>
                    <a:lstStyle/>
                    <a:p>
                      <a:endParaRPr lang="en-IN" sz="1050" dirty="0"/>
                    </a:p>
                  </a:txBody>
                  <a:tcPr>
                    <a:solidFill>
                      <a:schemeClr val="bg1"/>
                    </a:solidFill>
                  </a:tcPr>
                </a:tc>
                <a:tc>
                  <a:txBody>
                    <a:bodyPr/>
                    <a:lstStyle/>
                    <a:p>
                      <a:r>
                        <a:rPr lang="en-US" sz="900" dirty="0"/>
                        <a:t>Foreign Equity</a:t>
                      </a:r>
                      <a:endParaRPr lang="en-IN" sz="900" dirty="0"/>
                    </a:p>
                  </a:txBody>
                  <a:tcPr>
                    <a:solidFill>
                      <a:schemeClr val="accent3">
                        <a:lumMod val="50000"/>
                      </a:schemeClr>
                    </a:solidFill>
                  </a:tcPr>
                </a:tc>
                <a:tc>
                  <a:txBody>
                    <a:bodyPr/>
                    <a:lstStyle/>
                    <a:p>
                      <a:r>
                        <a:rPr lang="en-US" sz="900" dirty="0"/>
                        <a:t>Foreign Loan</a:t>
                      </a:r>
                      <a:endParaRPr lang="en-IN" sz="900" dirty="0"/>
                    </a:p>
                  </a:txBody>
                  <a:tcPr>
                    <a:solidFill>
                      <a:schemeClr val="accent3">
                        <a:lumMod val="75000"/>
                      </a:schemeClr>
                    </a:solidFill>
                  </a:tcPr>
                </a:tc>
                <a:tc>
                  <a:txBody>
                    <a:bodyPr/>
                    <a:lstStyle/>
                    <a:p>
                      <a:r>
                        <a:rPr lang="en-US" sz="900" dirty="0"/>
                        <a:t>Multilateral</a:t>
                      </a:r>
                      <a:endParaRPr lang="en-IN" sz="900" dirty="0"/>
                    </a:p>
                  </a:txBody>
                  <a:tcPr>
                    <a:solidFill>
                      <a:schemeClr val="accent3"/>
                    </a:solidFill>
                  </a:tcPr>
                </a:tc>
                <a:extLst>
                  <a:ext uri="{0D108BD9-81ED-4DB2-BD59-A6C34878D82A}">
                    <a16:rowId xmlns:a16="http://schemas.microsoft.com/office/drawing/2014/main" val="3034127228"/>
                  </a:ext>
                </a:extLst>
              </a:tr>
              <a:tr h="348131">
                <a:tc>
                  <a:txBody>
                    <a:bodyPr/>
                    <a:lstStyle/>
                    <a:p>
                      <a:endParaRPr lang="en-IN" sz="1050" dirty="0"/>
                    </a:p>
                  </a:txBody>
                  <a:tcPr>
                    <a:solidFill>
                      <a:schemeClr val="bg1"/>
                    </a:solidFill>
                  </a:tcPr>
                </a:tc>
                <a:tc>
                  <a:txBody>
                    <a:bodyPr/>
                    <a:lstStyle/>
                    <a:p>
                      <a:r>
                        <a:rPr lang="en-US" sz="900" dirty="0"/>
                        <a:t>Pendekar Energy </a:t>
                      </a:r>
                    </a:p>
                    <a:p>
                      <a:r>
                        <a:rPr lang="en-US" sz="900" dirty="0"/>
                        <a:t>(920 MW)</a:t>
                      </a:r>
                      <a:endParaRPr lang="en-IN" sz="900" dirty="0"/>
                    </a:p>
                  </a:txBody>
                  <a:tcPr>
                    <a:solidFill>
                      <a:schemeClr val="accent3">
                        <a:lumMod val="60000"/>
                        <a:lumOff val="40000"/>
                      </a:schemeClr>
                    </a:solidFill>
                  </a:tcPr>
                </a:tc>
                <a:tc>
                  <a:txBody>
                    <a:bodyPr/>
                    <a:lstStyle/>
                    <a:p>
                      <a:r>
                        <a:rPr lang="en-US" sz="900" dirty="0"/>
                        <a:t>DEG</a:t>
                      </a:r>
                    </a:p>
                    <a:p>
                      <a:r>
                        <a:rPr lang="en-US" sz="900" dirty="0"/>
                        <a:t>(310</a:t>
                      </a:r>
                      <a:r>
                        <a:rPr lang="en-US" sz="900" baseline="0" dirty="0"/>
                        <a:t> MW)</a:t>
                      </a:r>
                      <a:endParaRPr lang="en-IN" sz="900" dirty="0"/>
                    </a:p>
                  </a:txBody>
                  <a:tcPr>
                    <a:solidFill>
                      <a:schemeClr val="accent3">
                        <a:lumMod val="40000"/>
                        <a:lumOff val="60000"/>
                      </a:schemeClr>
                    </a:solidFill>
                  </a:tcPr>
                </a:tc>
                <a:tc>
                  <a:txBody>
                    <a:bodyPr/>
                    <a:lstStyle/>
                    <a:p>
                      <a:r>
                        <a:rPr lang="en-US" sz="900" dirty="0"/>
                        <a:t>ADB</a:t>
                      </a:r>
                    </a:p>
                    <a:p>
                      <a:r>
                        <a:rPr lang="en-US" sz="900" dirty="0"/>
                        <a:t>(1,096</a:t>
                      </a:r>
                      <a:r>
                        <a:rPr lang="en-US" sz="900" baseline="0" dirty="0"/>
                        <a:t> MW)</a:t>
                      </a:r>
                    </a:p>
                  </a:txBody>
                  <a:tcPr>
                    <a:solidFill>
                      <a:schemeClr val="accent3">
                        <a:lumMod val="20000"/>
                        <a:lumOff val="80000"/>
                      </a:schemeClr>
                    </a:solidFill>
                  </a:tcPr>
                </a:tc>
                <a:extLst>
                  <a:ext uri="{0D108BD9-81ED-4DB2-BD59-A6C34878D82A}">
                    <a16:rowId xmlns:a16="http://schemas.microsoft.com/office/drawing/2014/main" val="937555447"/>
                  </a:ext>
                </a:extLst>
              </a:tr>
              <a:tr h="348131">
                <a:tc>
                  <a:txBody>
                    <a:bodyPr/>
                    <a:lstStyle/>
                    <a:p>
                      <a:endParaRPr lang="en-IN" sz="1050" dirty="0"/>
                    </a:p>
                  </a:txBody>
                  <a:tcPr>
                    <a:solidFill>
                      <a:schemeClr val="bg1"/>
                    </a:solidFill>
                  </a:tcPr>
                </a:tc>
                <a:tc>
                  <a:txBody>
                    <a:bodyPr/>
                    <a:lstStyle/>
                    <a:p>
                      <a:r>
                        <a:rPr lang="en-US" sz="900" dirty="0"/>
                        <a:t>GE </a:t>
                      </a:r>
                    </a:p>
                    <a:p>
                      <a:r>
                        <a:rPr lang="en-US" sz="900" dirty="0"/>
                        <a:t>(341</a:t>
                      </a:r>
                      <a:r>
                        <a:rPr lang="en-US" sz="900" baseline="0" dirty="0"/>
                        <a:t> MW)</a:t>
                      </a:r>
                      <a:endParaRPr lang="en-IN" sz="900" dirty="0"/>
                    </a:p>
                  </a:txBody>
                  <a:tcPr>
                    <a:solidFill>
                      <a:schemeClr val="accent3">
                        <a:lumMod val="60000"/>
                        <a:lumOff val="40000"/>
                      </a:schemeClr>
                    </a:solidFill>
                  </a:tcPr>
                </a:tc>
                <a:tc>
                  <a:txBody>
                    <a:bodyPr/>
                    <a:lstStyle/>
                    <a:p>
                      <a:r>
                        <a:rPr lang="en-US" sz="900" dirty="0"/>
                        <a:t>Sumitomo Mitsui</a:t>
                      </a:r>
                    </a:p>
                    <a:p>
                      <a:r>
                        <a:rPr lang="en-US" sz="900" dirty="0"/>
                        <a:t>(300 MW)</a:t>
                      </a:r>
                      <a:endParaRPr lang="en-IN" sz="900" dirty="0"/>
                    </a:p>
                  </a:txBody>
                  <a:tcPr>
                    <a:solidFill>
                      <a:schemeClr val="accent3">
                        <a:lumMod val="40000"/>
                        <a:lumOff val="60000"/>
                      </a:schemeClr>
                    </a:solidFill>
                  </a:tcPr>
                </a:tc>
                <a:tc>
                  <a:txBody>
                    <a:bodyPr/>
                    <a:lstStyle/>
                    <a:p>
                      <a:r>
                        <a:rPr lang="en-US" sz="900" dirty="0"/>
                        <a:t>IFC </a:t>
                      </a:r>
                    </a:p>
                    <a:p>
                      <a:r>
                        <a:rPr lang="en-US" sz="900" dirty="0"/>
                        <a:t>(1,036</a:t>
                      </a:r>
                      <a:r>
                        <a:rPr lang="en-US" sz="900" baseline="0" dirty="0"/>
                        <a:t> MW)</a:t>
                      </a:r>
                      <a:endParaRPr lang="en-IN" sz="900" dirty="0"/>
                    </a:p>
                  </a:txBody>
                  <a:tcPr>
                    <a:solidFill>
                      <a:schemeClr val="accent3">
                        <a:lumMod val="20000"/>
                        <a:lumOff val="80000"/>
                      </a:schemeClr>
                    </a:solidFill>
                  </a:tcPr>
                </a:tc>
                <a:extLst>
                  <a:ext uri="{0D108BD9-81ED-4DB2-BD59-A6C34878D82A}">
                    <a16:rowId xmlns:a16="http://schemas.microsoft.com/office/drawing/2014/main" val="2058171041"/>
                  </a:ext>
                </a:extLst>
              </a:tr>
              <a:tr h="348131">
                <a:tc>
                  <a:txBody>
                    <a:bodyPr/>
                    <a:lstStyle/>
                    <a:p>
                      <a:endParaRPr lang="en-IN" sz="1050" dirty="0"/>
                    </a:p>
                  </a:txBody>
                  <a:tcPr>
                    <a:solidFill>
                      <a:schemeClr val="bg1"/>
                    </a:solidFill>
                  </a:tcP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US" sz="900" dirty="0"/>
                        <a:t>APR Energy </a:t>
                      </a:r>
                    </a:p>
                    <a:p>
                      <a:pPr marL="0" marR="0" lvl="0" indent="0" algn="l" defTabSz="990571" rtl="0" eaLnBrk="1" fontAlgn="auto" latinLnBrk="0" hangingPunct="1">
                        <a:lnSpc>
                          <a:spcPct val="100000"/>
                        </a:lnSpc>
                        <a:spcBef>
                          <a:spcPts val="0"/>
                        </a:spcBef>
                        <a:spcAft>
                          <a:spcPts val="0"/>
                        </a:spcAft>
                        <a:buClrTx/>
                        <a:buSzTx/>
                        <a:buFontTx/>
                        <a:buNone/>
                        <a:tabLst/>
                        <a:defRPr/>
                      </a:pPr>
                      <a:r>
                        <a:rPr lang="en-US" sz="900" dirty="0"/>
                        <a:t>(300 MW)</a:t>
                      </a:r>
                      <a:endParaRPr lang="en-IN" sz="900" dirty="0"/>
                    </a:p>
                  </a:txBody>
                  <a:tcPr>
                    <a:solidFill>
                      <a:schemeClr val="accent3">
                        <a:lumMod val="60000"/>
                        <a:lumOff val="40000"/>
                      </a:schemeClr>
                    </a:solidFill>
                  </a:tcPr>
                </a:tc>
                <a:tc>
                  <a:txBody>
                    <a:bodyPr/>
                    <a:lstStyle/>
                    <a:p>
                      <a:r>
                        <a:rPr lang="en-US" sz="900" dirty="0"/>
                        <a:t>Standard Chartered</a:t>
                      </a:r>
                    </a:p>
                    <a:p>
                      <a:r>
                        <a:rPr lang="en-US" sz="900" baseline="0" dirty="0"/>
                        <a:t> (288 MW)</a:t>
                      </a:r>
                      <a:endParaRPr lang="en-IN" sz="900" dirty="0"/>
                    </a:p>
                  </a:txBody>
                  <a:tcPr>
                    <a:solidFill>
                      <a:schemeClr val="accent3">
                        <a:lumMod val="40000"/>
                        <a:lumOff val="60000"/>
                      </a:schemeClr>
                    </a:solidFill>
                  </a:tcPr>
                </a:tc>
                <a:tc>
                  <a:txBody>
                    <a:bodyPr/>
                    <a:lstStyle/>
                    <a:p>
                      <a:r>
                        <a:rPr lang="en-US" sz="900" dirty="0"/>
                        <a:t>IsDB</a:t>
                      </a:r>
                    </a:p>
                    <a:p>
                      <a:r>
                        <a:rPr lang="en-US" sz="900" dirty="0"/>
                        <a:t>(341 MW)</a:t>
                      </a:r>
                      <a:endParaRPr lang="en-IN" sz="900" dirty="0"/>
                    </a:p>
                  </a:txBody>
                  <a:tcPr>
                    <a:solidFill>
                      <a:srgbClr val="E0F0FA"/>
                    </a:solidFill>
                  </a:tcPr>
                </a:tc>
                <a:extLst>
                  <a:ext uri="{0D108BD9-81ED-4DB2-BD59-A6C34878D82A}">
                    <a16:rowId xmlns:a16="http://schemas.microsoft.com/office/drawing/2014/main" val="3354968468"/>
                  </a:ext>
                </a:extLst>
              </a:tr>
              <a:tr h="348131">
                <a:tc>
                  <a:txBody>
                    <a:bodyPr/>
                    <a:lstStyle/>
                    <a:p>
                      <a:endParaRPr lang="en-IN" sz="1050" dirty="0"/>
                    </a:p>
                  </a:txBody>
                  <a:tcPr>
                    <a:solidFill>
                      <a:schemeClr val="bg1"/>
                    </a:solidFill>
                  </a:tcPr>
                </a:tc>
                <a:tc>
                  <a:txBody>
                    <a:bodyPr/>
                    <a:lstStyle/>
                    <a:p>
                      <a:r>
                        <a:rPr lang="en-US" sz="900" dirty="0"/>
                        <a:t>Sembcorp Utilities </a:t>
                      </a:r>
                    </a:p>
                    <a:p>
                      <a:r>
                        <a:rPr lang="en-US" sz="900" dirty="0"/>
                        <a:t>(282 MW)</a:t>
                      </a:r>
                      <a:endParaRPr lang="en-IN" sz="900" dirty="0"/>
                    </a:p>
                  </a:txBody>
                  <a:tcPr>
                    <a:solidFill>
                      <a:schemeClr val="accent3">
                        <a:lumMod val="60000"/>
                        <a:lumOff val="40000"/>
                      </a:schemeClr>
                    </a:solidFill>
                  </a:tcPr>
                </a:tc>
                <a:tc>
                  <a:txBody>
                    <a:bodyPr/>
                    <a:lstStyle/>
                    <a:p>
                      <a:r>
                        <a:rPr lang="en-US" sz="900" dirty="0"/>
                        <a:t>Clifford Capital</a:t>
                      </a:r>
                    </a:p>
                    <a:p>
                      <a:r>
                        <a:rPr lang="en-US" sz="900" dirty="0"/>
                        <a:t>(282 MW)</a:t>
                      </a:r>
                    </a:p>
                  </a:txBody>
                  <a:tcPr>
                    <a:solidFill>
                      <a:srgbClr val="C0E1F5"/>
                    </a:solidFill>
                  </a:tcPr>
                </a:tc>
                <a:tc>
                  <a:txBody>
                    <a:bodyPr/>
                    <a:lstStyle/>
                    <a:p>
                      <a:r>
                        <a:rPr lang="en-US" sz="900" dirty="0"/>
                        <a:t>IDA</a:t>
                      </a:r>
                    </a:p>
                    <a:p>
                      <a:r>
                        <a:rPr lang="en-US" sz="900" dirty="0"/>
                        <a:t>(360 MW)</a:t>
                      </a:r>
                      <a:endParaRPr lang="en-IN" sz="900" dirty="0"/>
                    </a:p>
                  </a:txBody>
                  <a:tcPr>
                    <a:solidFill>
                      <a:srgbClr val="E0F0FA"/>
                    </a:solidFill>
                  </a:tcPr>
                </a:tc>
                <a:extLst>
                  <a:ext uri="{0D108BD9-81ED-4DB2-BD59-A6C34878D82A}">
                    <a16:rowId xmlns:a16="http://schemas.microsoft.com/office/drawing/2014/main" val="1113466722"/>
                  </a:ext>
                </a:extLst>
              </a:tr>
              <a:tr h="348131">
                <a:tc>
                  <a:txBody>
                    <a:bodyPr/>
                    <a:lstStyle/>
                    <a:p>
                      <a:endParaRPr lang="en-IN" sz="1050" dirty="0"/>
                    </a:p>
                  </a:txBody>
                  <a:tcPr>
                    <a:solidFill>
                      <a:schemeClr val="bg1"/>
                    </a:solidFill>
                  </a:tcPr>
                </a:tc>
                <a:tc>
                  <a:txBody>
                    <a:bodyPr/>
                    <a:lstStyle/>
                    <a:p>
                      <a:r>
                        <a:rPr lang="en-US" sz="900" dirty="0"/>
                        <a:t>Lakdhanvi Group</a:t>
                      </a:r>
                    </a:p>
                    <a:p>
                      <a:r>
                        <a:rPr lang="en-US" sz="900" dirty="0"/>
                        <a:t>(104 MW)</a:t>
                      </a:r>
                      <a:endParaRPr lang="en-IN" sz="900" dirty="0"/>
                    </a:p>
                  </a:txBody>
                  <a:tcPr>
                    <a:solidFill>
                      <a:schemeClr val="accent3">
                        <a:lumMod val="60000"/>
                        <a:lumOff val="40000"/>
                      </a:schemeClr>
                    </a:solidFill>
                  </a:tcPr>
                </a:tc>
                <a:tc>
                  <a:txBody>
                    <a:bodyPr/>
                    <a:lstStyle/>
                    <a:p>
                      <a:r>
                        <a:rPr lang="en-US" sz="900" dirty="0"/>
                        <a:t>SMO</a:t>
                      </a:r>
                      <a:r>
                        <a:rPr lang="en-US" sz="900" baseline="0" dirty="0"/>
                        <a:t> (Netherland)</a:t>
                      </a:r>
                    </a:p>
                    <a:p>
                      <a:r>
                        <a:rPr lang="en-US" sz="900" baseline="0" dirty="0"/>
                        <a:t>(115 MW)</a:t>
                      </a:r>
                      <a:endParaRPr lang="en-IN" sz="900" dirty="0"/>
                    </a:p>
                  </a:txBody>
                  <a:tcPr>
                    <a:solidFill>
                      <a:srgbClr val="C0E1F5"/>
                    </a:solidFill>
                  </a:tcPr>
                </a:tc>
                <a:tc>
                  <a:txBody>
                    <a:bodyPr/>
                    <a:lstStyle/>
                    <a:p>
                      <a:r>
                        <a:rPr lang="en-US" sz="900" dirty="0"/>
                        <a:t>ICD, OFID</a:t>
                      </a:r>
                    </a:p>
                    <a:p>
                      <a:r>
                        <a:rPr lang="en-US" sz="900" dirty="0"/>
                        <a:t>(149 MW)</a:t>
                      </a:r>
                      <a:endParaRPr lang="en-IN" sz="900" dirty="0"/>
                    </a:p>
                  </a:txBody>
                  <a:tcPr>
                    <a:solidFill>
                      <a:srgbClr val="E0F0FA"/>
                    </a:solidFill>
                  </a:tcPr>
                </a:tc>
                <a:extLst>
                  <a:ext uri="{0D108BD9-81ED-4DB2-BD59-A6C34878D82A}">
                    <a16:rowId xmlns:a16="http://schemas.microsoft.com/office/drawing/2014/main" val="2974806546"/>
                  </a:ext>
                </a:extLst>
              </a:tr>
            </a:tbl>
          </a:graphicData>
        </a:graphic>
      </p:graphicFrame>
      <p:sp>
        <p:nvSpPr>
          <p:cNvPr id="14" name="Oval 13"/>
          <p:cNvSpPr/>
          <p:nvPr/>
        </p:nvSpPr>
        <p:spPr bwMode="gray">
          <a:xfrm>
            <a:off x="397059" y="5366960"/>
            <a:ext cx="284657" cy="284657"/>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1</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15" name="Oval 14"/>
          <p:cNvSpPr/>
          <p:nvPr/>
        </p:nvSpPr>
        <p:spPr bwMode="gray">
          <a:xfrm>
            <a:off x="397060" y="5724526"/>
            <a:ext cx="284657" cy="284657"/>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2</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16" name="Oval 15"/>
          <p:cNvSpPr/>
          <p:nvPr/>
        </p:nvSpPr>
        <p:spPr bwMode="gray">
          <a:xfrm>
            <a:off x="397060" y="6082092"/>
            <a:ext cx="284657" cy="284657"/>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3</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17" name="Oval 16"/>
          <p:cNvSpPr/>
          <p:nvPr/>
        </p:nvSpPr>
        <p:spPr bwMode="gray">
          <a:xfrm>
            <a:off x="397060" y="6439658"/>
            <a:ext cx="284657" cy="284657"/>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4</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18" name="Oval 17"/>
          <p:cNvSpPr/>
          <p:nvPr/>
        </p:nvSpPr>
        <p:spPr bwMode="gray">
          <a:xfrm>
            <a:off x="397059" y="6797223"/>
            <a:ext cx="284657" cy="284657"/>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5</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19" name="TextBox 18"/>
          <p:cNvSpPr txBox="1"/>
          <p:nvPr/>
        </p:nvSpPr>
        <p:spPr>
          <a:xfrm>
            <a:off x="539387" y="4715418"/>
            <a:ext cx="4734761" cy="153888"/>
          </a:xfrm>
          <a:prstGeom prst="rect">
            <a:avLst/>
          </a:prstGeom>
          <a:noFill/>
        </p:spPr>
        <p:txBody>
          <a:bodyPr wrap="square" lIns="0" tIns="0" rIns="0" bIns="0" rtlCol="0">
            <a:spAutoFit/>
          </a:bodyPr>
          <a:lstStyle/>
          <a:p>
            <a:pPr marL="0" marR="0" lvl="0" indent="0" algn="just" defTabSz="914400" rtl="0" eaLnBrk="1" fontAlgn="auto" latinLnBrk="0" hangingPunct="1">
              <a:lnSpc>
                <a:spcPct val="100000"/>
              </a:lnSpc>
              <a:spcBef>
                <a:spcPts val="600"/>
              </a:spcBef>
              <a:spcAft>
                <a:spcPts val="60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Following table constitutes major foreign players for operational plants</a:t>
            </a:r>
          </a:p>
        </p:txBody>
      </p:sp>
      <p:graphicFrame>
        <p:nvGraphicFramePr>
          <p:cNvPr id="20" name="Table 19"/>
          <p:cNvGraphicFramePr>
            <a:graphicFrameLocks noGrp="1"/>
          </p:cNvGraphicFramePr>
          <p:nvPr/>
        </p:nvGraphicFramePr>
        <p:xfrm>
          <a:off x="5422900" y="4972931"/>
          <a:ext cx="4915304" cy="2263987"/>
        </p:xfrm>
        <a:graphic>
          <a:graphicData uri="http://schemas.openxmlformats.org/drawingml/2006/table">
            <a:tbl>
              <a:tblPr firstRow="1">
                <a:tableStyleId>{5C22544A-7EE6-4342-B048-85BDC9FD1C3A}</a:tableStyleId>
              </a:tblPr>
              <a:tblGrid>
                <a:gridCol w="558401">
                  <a:extLst>
                    <a:ext uri="{9D8B030D-6E8A-4147-A177-3AD203B41FA5}">
                      <a16:colId xmlns:a16="http://schemas.microsoft.com/office/drawing/2014/main" val="1950246367"/>
                    </a:ext>
                  </a:extLst>
                </a:gridCol>
                <a:gridCol w="1774838">
                  <a:extLst>
                    <a:ext uri="{9D8B030D-6E8A-4147-A177-3AD203B41FA5}">
                      <a16:colId xmlns:a16="http://schemas.microsoft.com/office/drawing/2014/main" val="3949766043"/>
                    </a:ext>
                  </a:extLst>
                </a:gridCol>
                <a:gridCol w="1639230">
                  <a:extLst>
                    <a:ext uri="{9D8B030D-6E8A-4147-A177-3AD203B41FA5}">
                      <a16:colId xmlns:a16="http://schemas.microsoft.com/office/drawing/2014/main" val="279501602"/>
                    </a:ext>
                  </a:extLst>
                </a:gridCol>
                <a:gridCol w="942835">
                  <a:extLst>
                    <a:ext uri="{9D8B030D-6E8A-4147-A177-3AD203B41FA5}">
                      <a16:colId xmlns:a16="http://schemas.microsoft.com/office/drawing/2014/main" val="2441610059"/>
                    </a:ext>
                  </a:extLst>
                </a:gridCol>
              </a:tblGrid>
              <a:tr h="220748">
                <a:tc>
                  <a:txBody>
                    <a:bodyPr/>
                    <a:lstStyle/>
                    <a:p>
                      <a:endParaRPr lang="en-IN" sz="900" dirty="0"/>
                    </a:p>
                  </a:txBody>
                  <a:tcPr>
                    <a:solidFill>
                      <a:schemeClr val="bg1"/>
                    </a:solidFill>
                  </a:tcPr>
                </a:tc>
                <a:tc>
                  <a:txBody>
                    <a:bodyPr/>
                    <a:lstStyle/>
                    <a:p>
                      <a:r>
                        <a:rPr lang="en-US" sz="900" dirty="0"/>
                        <a:t>Foreign Equity</a:t>
                      </a:r>
                      <a:endParaRPr lang="en-IN" sz="900" dirty="0"/>
                    </a:p>
                  </a:txBody>
                  <a:tcPr>
                    <a:solidFill>
                      <a:schemeClr val="accent3">
                        <a:lumMod val="50000"/>
                      </a:schemeClr>
                    </a:solidFill>
                  </a:tcPr>
                </a:tc>
                <a:tc>
                  <a:txBody>
                    <a:bodyPr/>
                    <a:lstStyle/>
                    <a:p>
                      <a:r>
                        <a:rPr lang="en-US" sz="900" dirty="0"/>
                        <a:t>Foreign Loan</a:t>
                      </a:r>
                      <a:endParaRPr lang="en-IN" sz="900" dirty="0"/>
                    </a:p>
                  </a:txBody>
                  <a:tcPr>
                    <a:solidFill>
                      <a:schemeClr val="accent3">
                        <a:lumMod val="75000"/>
                      </a:schemeClr>
                    </a:solidFill>
                  </a:tcPr>
                </a:tc>
                <a:tc>
                  <a:txBody>
                    <a:bodyPr/>
                    <a:lstStyle/>
                    <a:p>
                      <a:r>
                        <a:rPr lang="en-US" sz="900" dirty="0"/>
                        <a:t>MLA</a:t>
                      </a:r>
                      <a:endParaRPr lang="en-IN" sz="900" dirty="0"/>
                    </a:p>
                  </a:txBody>
                  <a:tcPr>
                    <a:solidFill>
                      <a:schemeClr val="accent3"/>
                    </a:solidFill>
                  </a:tcPr>
                </a:tc>
                <a:extLst>
                  <a:ext uri="{0D108BD9-81ED-4DB2-BD59-A6C34878D82A}">
                    <a16:rowId xmlns:a16="http://schemas.microsoft.com/office/drawing/2014/main" val="3034127228"/>
                  </a:ext>
                </a:extLst>
              </a:tr>
              <a:tr h="340439">
                <a:tc>
                  <a:txBody>
                    <a:bodyPr/>
                    <a:lstStyle/>
                    <a:p>
                      <a:endParaRPr lang="en-IN" sz="900" dirty="0"/>
                    </a:p>
                  </a:txBody>
                  <a:tcPr>
                    <a:solidFill>
                      <a:schemeClr val="bg1"/>
                    </a:solidFill>
                  </a:tcPr>
                </a:tc>
                <a:tc>
                  <a:txBody>
                    <a:bodyPr/>
                    <a:lstStyle/>
                    <a:p>
                      <a:r>
                        <a:rPr lang="en-US" sz="900" dirty="0"/>
                        <a:t>HTG</a:t>
                      </a:r>
                      <a:r>
                        <a:rPr lang="en-US" sz="900" baseline="0" dirty="0"/>
                        <a:t> Group &amp; SEPCO -3</a:t>
                      </a:r>
                      <a:endParaRPr lang="en-US" sz="900" dirty="0"/>
                    </a:p>
                    <a:p>
                      <a:r>
                        <a:rPr lang="en-US" sz="900" dirty="0"/>
                        <a:t>(1,224</a:t>
                      </a:r>
                      <a:r>
                        <a:rPr lang="en-US" sz="900" baseline="0" dirty="0"/>
                        <a:t> MW)</a:t>
                      </a:r>
                      <a:endParaRPr lang="en-IN" sz="900" dirty="0"/>
                    </a:p>
                  </a:txBody>
                  <a:tcPr>
                    <a:solidFill>
                      <a:schemeClr val="accent3">
                        <a:lumMod val="60000"/>
                        <a:lumOff val="40000"/>
                      </a:schemeClr>
                    </a:solidFill>
                  </a:tcPr>
                </a:tc>
                <a:tc>
                  <a:txBody>
                    <a:bodyPr/>
                    <a:lstStyle/>
                    <a:p>
                      <a:r>
                        <a:rPr lang="en-US" sz="900" dirty="0"/>
                        <a:t>CEXIM Bank</a:t>
                      </a:r>
                    </a:p>
                    <a:p>
                      <a:r>
                        <a:rPr lang="en-US" sz="900" dirty="0"/>
                        <a:t>(1,244</a:t>
                      </a:r>
                      <a:r>
                        <a:rPr lang="en-US" sz="900" baseline="0" dirty="0"/>
                        <a:t> MW)</a:t>
                      </a:r>
                      <a:endParaRPr lang="en-IN" sz="900" dirty="0"/>
                    </a:p>
                  </a:txBody>
                  <a:tcPr>
                    <a:solidFill>
                      <a:schemeClr val="accent3">
                        <a:lumMod val="40000"/>
                        <a:lumOff val="60000"/>
                      </a:schemeClr>
                    </a:solidFill>
                  </a:tcPr>
                </a:tc>
                <a:tc>
                  <a:txBody>
                    <a:bodyPr/>
                    <a:lstStyle/>
                    <a:p>
                      <a:r>
                        <a:rPr lang="en-US" sz="900" dirty="0"/>
                        <a:t>ADB &amp; IDB</a:t>
                      </a:r>
                    </a:p>
                    <a:p>
                      <a:r>
                        <a:rPr lang="en-US" sz="900" dirty="0"/>
                        <a:t>(718 MW</a:t>
                      </a:r>
                      <a:r>
                        <a:rPr lang="en-US" sz="900" baseline="0" dirty="0"/>
                        <a:t>)</a:t>
                      </a:r>
                    </a:p>
                  </a:txBody>
                  <a:tcPr>
                    <a:solidFill>
                      <a:schemeClr val="accent3">
                        <a:lumMod val="20000"/>
                        <a:lumOff val="80000"/>
                      </a:schemeClr>
                    </a:solidFill>
                  </a:tcPr>
                </a:tc>
                <a:extLst>
                  <a:ext uri="{0D108BD9-81ED-4DB2-BD59-A6C34878D82A}">
                    <a16:rowId xmlns:a16="http://schemas.microsoft.com/office/drawing/2014/main" val="937555447"/>
                  </a:ext>
                </a:extLst>
              </a:tr>
              <a:tr h="340439">
                <a:tc>
                  <a:txBody>
                    <a:bodyPr/>
                    <a:lstStyle/>
                    <a:p>
                      <a:endParaRPr lang="en-IN" sz="900" dirty="0"/>
                    </a:p>
                  </a:txBody>
                  <a:tcPr>
                    <a:solidFill>
                      <a:schemeClr val="bg1"/>
                    </a:solidFill>
                  </a:tcPr>
                </a:tc>
                <a:tc>
                  <a:txBody>
                    <a:bodyPr/>
                    <a:lstStyle/>
                    <a:p>
                      <a:r>
                        <a:rPr lang="en-US" sz="900" dirty="0"/>
                        <a:t>GE </a:t>
                      </a:r>
                    </a:p>
                    <a:p>
                      <a:r>
                        <a:rPr lang="en-US" sz="900" dirty="0"/>
                        <a:t>(1,167</a:t>
                      </a:r>
                      <a:r>
                        <a:rPr lang="en-US" sz="900" baseline="0" dirty="0"/>
                        <a:t> </a:t>
                      </a:r>
                      <a:r>
                        <a:rPr lang="en-US" sz="900" dirty="0"/>
                        <a:t>MW)</a:t>
                      </a:r>
                      <a:endParaRPr lang="en-IN" sz="900" dirty="0"/>
                    </a:p>
                  </a:txBody>
                  <a:tcPr>
                    <a:solidFill>
                      <a:schemeClr val="accent3">
                        <a:lumMod val="60000"/>
                        <a:lumOff val="40000"/>
                      </a:schemeClr>
                    </a:solidFill>
                  </a:tcPr>
                </a:tc>
                <a:tc>
                  <a:txBody>
                    <a:bodyPr/>
                    <a:lstStyle/>
                    <a:p>
                      <a:r>
                        <a:rPr lang="en-US" sz="900" dirty="0"/>
                        <a:t>DFCC &amp; HNB</a:t>
                      </a:r>
                    </a:p>
                    <a:p>
                      <a:r>
                        <a:rPr lang="en-US" sz="900" baseline="0" dirty="0"/>
                        <a:t> (114 MW)</a:t>
                      </a:r>
                      <a:endParaRPr lang="en-IN" sz="900" dirty="0"/>
                    </a:p>
                  </a:txBody>
                  <a:tcPr>
                    <a:solidFill>
                      <a:schemeClr val="accent3">
                        <a:lumMod val="40000"/>
                        <a:lumOff val="60000"/>
                      </a:schemeClr>
                    </a:solidFill>
                  </a:tcPr>
                </a:tc>
                <a:tc>
                  <a:txBody>
                    <a:bodyPr/>
                    <a:lstStyle/>
                    <a:p>
                      <a:r>
                        <a:rPr lang="en-US" sz="900" dirty="0"/>
                        <a:t>IFC </a:t>
                      </a:r>
                    </a:p>
                    <a:p>
                      <a:r>
                        <a:rPr lang="en-US" sz="900" dirty="0"/>
                        <a:t>(583 MW</a:t>
                      </a:r>
                      <a:r>
                        <a:rPr lang="en-US" sz="900" baseline="0" dirty="0"/>
                        <a:t>)</a:t>
                      </a:r>
                      <a:endParaRPr lang="en-IN" sz="900" dirty="0"/>
                    </a:p>
                  </a:txBody>
                  <a:tcPr>
                    <a:solidFill>
                      <a:schemeClr val="accent3">
                        <a:lumMod val="20000"/>
                        <a:lumOff val="80000"/>
                      </a:schemeClr>
                    </a:solidFill>
                  </a:tcPr>
                </a:tc>
                <a:extLst>
                  <a:ext uri="{0D108BD9-81ED-4DB2-BD59-A6C34878D82A}">
                    <a16:rowId xmlns:a16="http://schemas.microsoft.com/office/drawing/2014/main" val="2058171041"/>
                  </a:ext>
                </a:extLst>
              </a:tr>
              <a:tr h="340439">
                <a:tc>
                  <a:txBody>
                    <a:bodyPr/>
                    <a:lstStyle/>
                    <a:p>
                      <a:endParaRPr lang="en-IN" sz="900" dirty="0"/>
                    </a:p>
                  </a:txBody>
                  <a:tcPr>
                    <a:solidFill>
                      <a:schemeClr val="bg1"/>
                    </a:solidFill>
                  </a:tcPr>
                </a:tc>
                <a:tc>
                  <a:txBody>
                    <a:bodyPr/>
                    <a:lstStyle/>
                    <a:p>
                      <a:r>
                        <a:rPr lang="en-US" sz="900" dirty="0"/>
                        <a:t>Reliance</a:t>
                      </a:r>
                      <a:r>
                        <a:rPr lang="en-US" sz="900" baseline="0" dirty="0"/>
                        <a:t> Power &amp; JERA</a:t>
                      </a:r>
                      <a:endParaRPr lang="en-US" sz="900" dirty="0"/>
                    </a:p>
                    <a:p>
                      <a:r>
                        <a:rPr lang="en-US" sz="900" dirty="0"/>
                        <a:t>(718</a:t>
                      </a:r>
                      <a:r>
                        <a:rPr lang="en-US" sz="900" baseline="0" dirty="0"/>
                        <a:t> MW)</a:t>
                      </a:r>
                      <a:endParaRPr lang="en-IN" sz="900" dirty="0"/>
                    </a:p>
                  </a:txBody>
                  <a:tcPr>
                    <a:solidFill>
                      <a:schemeClr val="accent3">
                        <a:lumMod val="60000"/>
                        <a:lumOff val="40000"/>
                      </a:schemeClr>
                    </a:solidFill>
                  </a:tcPr>
                </a:tc>
                <a:tc>
                  <a:txBody>
                    <a:bodyPr/>
                    <a:lstStyle/>
                    <a:p>
                      <a:endParaRPr lang="en-IN" sz="900" dirty="0"/>
                    </a:p>
                  </a:txBody>
                  <a:tcPr>
                    <a:noFill/>
                  </a:tcPr>
                </a:tc>
                <a:tc>
                  <a:txBody>
                    <a:bodyPr/>
                    <a:lstStyle/>
                    <a:p>
                      <a:endParaRPr lang="en-IN" sz="900" dirty="0"/>
                    </a:p>
                  </a:txBody>
                  <a:tcPr>
                    <a:solidFill>
                      <a:schemeClr val="bg1"/>
                    </a:solidFill>
                  </a:tcPr>
                </a:tc>
                <a:extLst>
                  <a:ext uri="{0D108BD9-81ED-4DB2-BD59-A6C34878D82A}">
                    <a16:rowId xmlns:a16="http://schemas.microsoft.com/office/drawing/2014/main" val="3354968468"/>
                  </a:ext>
                </a:extLst>
              </a:tr>
              <a:tr h="435187">
                <a:tc>
                  <a:txBody>
                    <a:bodyPr/>
                    <a:lstStyle/>
                    <a:p>
                      <a:endParaRPr lang="en-IN" sz="900" dirty="0"/>
                    </a:p>
                  </a:txBody>
                  <a:tcPr>
                    <a:solidFill>
                      <a:schemeClr val="bg1"/>
                    </a:solidFill>
                  </a:tcPr>
                </a:tc>
                <a:tc>
                  <a:txBody>
                    <a:bodyPr/>
                    <a:lstStyle/>
                    <a:p>
                      <a:r>
                        <a:rPr lang="en-US" sz="900" dirty="0"/>
                        <a:t>PowerChina</a:t>
                      </a:r>
                    </a:p>
                    <a:p>
                      <a:r>
                        <a:rPr lang="en-US" sz="900" dirty="0"/>
                        <a:t>(307</a:t>
                      </a:r>
                      <a:r>
                        <a:rPr lang="en-US" sz="900" baseline="0" dirty="0"/>
                        <a:t> MW)</a:t>
                      </a:r>
                      <a:endParaRPr lang="en-IN" sz="900" dirty="0"/>
                    </a:p>
                  </a:txBody>
                  <a:tcPr>
                    <a:solidFill>
                      <a:schemeClr val="accent3">
                        <a:lumMod val="60000"/>
                        <a:lumOff val="40000"/>
                      </a:schemeClr>
                    </a:solidFill>
                  </a:tcPr>
                </a:tc>
                <a:tc>
                  <a:txBody>
                    <a:bodyPr/>
                    <a:lstStyle/>
                    <a:p>
                      <a:endParaRPr lang="en-IN" sz="900" dirty="0"/>
                    </a:p>
                  </a:txBody>
                  <a:tcPr>
                    <a:solidFill>
                      <a:schemeClr val="bg1"/>
                    </a:solidFill>
                  </a:tcPr>
                </a:tc>
                <a:tc>
                  <a:txBody>
                    <a:bodyPr/>
                    <a:lstStyle/>
                    <a:p>
                      <a:endParaRPr lang="en-IN" sz="900" dirty="0"/>
                    </a:p>
                  </a:txBody>
                  <a:tcPr>
                    <a:solidFill>
                      <a:schemeClr val="bg1"/>
                    </a:solidFill>
                  </a:tcPr>
                </a:tc>
                <a:extLst>
                  <a:ext uri="{0D108BD9-81ED-4DB2-BD59-A6C34878D82A}">
                    <a16:rowId xmlns:a16="http://schemas.microsoft.com/office/drawing/2014/main" val="1113466722"/>
                  </a:ext>
                </a:extLst>
              </a:tr>
              <a:tr h="310425">
                <a:tc>
                  <a:txBody>
                    <a:bodyPr/>
                    <a:lstStyle/>
                    <a:p>
                      <a:endParaRPr lang="en-IN" sz="900" dirty="0"/>
                    </a:p>
                  </a:txBody>
                  <a:tcPr>
                    <a:solidFill>
                      <a:schemeClr val="bg1"/>
                    </a:solidFill>
                  </a:tcPr>
                </a:tc>
                <a:tc>
                  <a:txBody>
                    <a:bodyPr/>
                    <a:lstStyle/>
                    <a:p>
                      <a:r>
                        <a:rPr lang="en-US" sz="900" dirty="0"/>
                        <a:t>Changzhou Hutang Coal Power Co. Ltd.(China) </a:t>
                      </a:r>
                    </a:p>
                    <a:p>
                      <a:r>
                        <a:rPr lang="en-US" sz="900" dirty="0"/>
                        <a:t>(162 MW)</a:t>
                      </a:r>
                      <a:endParaRPr lang="en-IN" sz="900" dirty="0"/>
                    </a:p>
                  </a:txBody>
                  <a:tcPr>
                    <a:solidFill>
                      <a:schemeClr val="accent3">
                        <a:lumMod val="60000"/>
                        <a:lumOff val="40000"/>
                      </a:schemeClr>
                    </a:solidFill>
                  </a:tcPr>
                </a:tc>
                <a:tc>
                  <a:txBody>
                    <a:bodyPr/>
                    <a:lstStyle/>
                    <a:p>
                      <a:endParaRPr lang="en-IN" sz="900" dirty="0"/>
                    </a:p>
                  </a:txBody>
                  <a:tcPr>
                    <a:solidFill>
                      <a:schemeClr val="bg1"/>
                    </a:solidFill>
                  </a:tcPr>
                </a:tc>
                <a:tc>
                  <a:txBody>
                    <a:bodyPr/>
                    <a:lstStyle/>
                    <a:p>
                      <a:endParaRPr lang="en-IN" sz="900" dirty="0"/>
                    </a:p>
                  </a:txBody>
                  <a:tcPr>
                    <a:solidFill>
                      <a:schemeClr val="bg1"/>
                    </a:solidFill>
                  </a:tcPr>
                </a:tc>
                <a:extLst>
                  <a:ext uri="{0D108BD9-81ED-4DB2-BD59-A6C34878D82A}">
                    <a16:rowId xmlns:a16="http://schemas.microsoft.com/office/drawing/2014/main" val="2974806546"/>
                  </a:ext>
                </a:extLst>
              </a:tr>
            </a:tbl>
          </a:graphicData>
        </a:graphic>
      </p:graphicFrame>
      <p:sp>
        <p:nvSpPr>
          <p:cNvPr id="21" name="Oval 20"/>
          <p:cNvSpPr/>
          <p:nvPr/>
        </p:nvSpPr>
        <p:spPr bwMode="gray">
          <a:xfrm>
            <a:off x="5540082" y="5241277"/>
            <a:ext cx="324000" cy="324000"/>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dirty="0">
                <a:ln>
                  <a:noFill/>
                </a:ln>
                <a:solidFill>
                  <a:prstClr val="white"/>
                </a:solidFill>
                <a:effectLst/>
                <a:uLnTx/>
                <a:uFillTx/>
                <a:latin typeface="Verdana"/>
                <a:ea typeface="+mn-ea"/>
                <a:cs typeface="+mn-cs"/>
              </a:rPr>
              <a:t>1</a:t>
            </a:r>
            <a:endParaRPr kumimoji="0" lang="en-IN" sz="1050" b="1" i="0" u="none" strike="noStrike" kern="1200" cap="none" spc="0" normalizeH="0" baseline="0" noProof="0" dirty="0">
              <a:ln>
                <a:noFill/>
              </a:ln>
              <a:solidFill>
                <a:prstClr val="white"/>
              </a:solidFill>
              <a:effectLst/>
              <a:uLnTx/>
              <a:uFillTx/>
              <a:latin typeface="Verdana"/>
              <a:ea typeface="+mn-ea"/>
              <a:cs typeface="+mn-cs"/>
            </a:endParaRPr>
          </a:p>
        </p:txBody>
      </p:sp>
      <p:sp>
        <p:nvSpPr>
          <p:cNvPr id="22" name="Oval 21"/>
          <p:cNvSpPr/>
          <p:nvPr/>
        </p:nvSpPr>
        <p:spPr bwMode="gray">
          <a:xfrm>
            <a:off x="5540082" y="5628668"/>
            <a:ext cx="324000" cy="324000"/>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dirty="0">
                <a:ln>
                  <a:noFill/>
                </a:ln>
                <a:solidFill>
                  <a:prstClr val="white"/>
                </a:solidFill>
                <a:effectLst/>
                <a:uLnTx/>
                <a:uFillTx/>
                <a:latin typeface="Verdana"/>
                <a:ea typeface="+mn-ea"/>
                <a:cs typeface="+mn-cs"/>
              </a:rPr>
              <a:t>2</a:t>
            </a:r>
            <a:endParaRPr kumimoji="0" lang="en-IN" sz="1050" b="1" i="0" u="none" strike="noStrike" kern="1200" cap="none" spc="0" normalizeH="0" baseline="0" noProof="0" dirty="0">
              <a:ln>
                <a:noFill/>
              </a:ln>
              <a:solidFill>
                <a:prstClr val="white"/>
              </a:solidFill>
              <a:effectLst/>
              <a:uLnTx/>
              <a:uFillTx/>
              <a:latin typeface="Verdana"/>
              <a:ea typeface="+mn-ea"/>
              <a:cs typeface="+mn-cs"/>
            </a:endParaRPr>
          </a:p>
        </p:txBody>
      </p:sp>
      <p:sp>
        <p:nvSpPr>
          <p:cNvPr id="23" name="Oval 22"/>
          <p:cNvSpPr/>
          <p:nvPr/>
        </p:nvSpPr>
        <p:spPr bwMode="gray">
          <a:xfrm>
            <a:off x="5540082" y="6016059"/>
            <a:ext cx="324000" cy="324000"/>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dirty="0">
                <a:ln>
                  <a:noFill/>
                </a:ln>
                <a:solidFill>
                  <a:prstClr val="white"/>
                </a:solidFill>
                <a:effectLst/>
                <a:uLnTx/>
                <a:uFillTx/>
                <a:latin typeface="Verdana"/>
                <a:ea typeface="+mn-ea"/>
                <a:cs typeface="+mn-cs"/>
              </a:rPr>
              <a:t>3</a:t>
            </a:r>
            <a:endParaRPr kumimoji="0" lang="en-IN" sz="1050" b="1" i="0" u="none" strike="noStrike" kern="1200" cap="none" spc="0" normalizeH="0" baseline="0" noProof="0" dirty="0">
              <a:ln>
                <a:noFill/>
              </a:ln>
              <a:solidFill>
                <a:prstClr val="white"/>
              </a:solidFill>
              <a:effectLst/>
              <a:uLnTx/>
              <a:uFillTx/>
              <a:latin typeface="Verdana"/>
              <a:ea typeface="+mn-ea"/>
              <a:cs typeface="+mn-cs"/>
            </a:endParaRPr>
          </a:p>
        </p:txBody>
      </p:sp>
      <p:sp>
        <p:nvSpPr>
          <p:cNvPr id="24" name="Oval 23"/>
          <p:cNvSpPr/>
          <p:nvPr/>
        </p:nvSpPr>
        <p:spPr bwMode="gray">
          <a:xfrm>
            <a:off x="5540082" y="6406282"/>
            <a:ext cx="324000" cy="324000"/>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dirty="0">
                <a:ln>
                  <a:noFill/>
                </a:ln>
                <a:solidFill>
                  <a:prstClr val="white"/>
                </a:solidFill>
                <a:effectLst/>
                <a:uLnTx/>
                <a:uFillTx/>
                <a:latin typeface="Verdana"/>
                <a:ea typeface="+mn-ea"/>
                <a:cs typeface="+mn-cs"/>
              </a:rPr>
              <a:t>4</a:t>
            </a:r>
            <a:endParaRPr kumimoji="0" lang="en-IN" sz="1050" b="1" i="0" u="none" strike="noStrike" kern="1200" cap="none" spc="0" normalizeH="0" baseline="0" noProof="0" dirty="0">
              <a:ln>
                <a:noFill/>
              </a:ln>
              <a:solidFill>
                <a:prstClr val="white"/>
              </a:solidFill>
              <a:effectLst/>
              <a:uLnTx/>
              <a:uFillTx/>
              <a:latin typeface="Verdana"/>
              <a:ea typeface="+mn-ea"/>
              <a:cs typeface="+mn-cs"/>
            </a:endParaRPr>
          </a:p>
        </p:txBody>
      </p:sp>
      <p:sp>
        <p:nvSpPr>
          <p:cNvPr id="25" name="Oval 24"/>
          <p:cNvSpPr/>
          <p:nvPr/>
        </p:nvSpPr>
        <p:spPr bwMode="gray">
          <a:xfrm>
            <a:off x="5540082" y="6790826"/>
            <a:ext cx="324000" cy="324000"/>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dirty="0">
                <a:ln>
                  <a:noFill/>
                </a:ln>
                <a:solidFill>
                  <a:prstClr val="white"/>
                </a:solidFill>
                <a:effectLst/>
                <a:uLnTx/>
                <a:uFillTx/>
                <a:latin typeface="Verdana"/>
                <a:ea typeface="+mn-ea"/>
                <a:cs typeface="+mn-cs"/>
              </a:rPr>
              <a:t>5</a:t>
            </a:r>
            <a:endParaRPr kumimoji="0" lang="en-IN" sz="1050" b="1" i="0" u="none" strike="noStrike" kern="1200" cap="none" spc="0" normalizeH="0" baseline="0" noProof="0" dirty="0">
              <a:ln>
                <a:noFill/>
              </a:ln>
              <a:solidFill>
                <a:prstClr val="white"/>
              </a:solidFill>
              <a:effectLst/>
              <a:uLnTx/>
              <a:uFillTx/>
              <a:latin typeface="Verdana"/>
              <a:ea typeface="+mn-ea"/>
              <a:cs typeface="+mn-cs"/>
            </a:endParaRPr>
          </a:p>
        </p:txBody>
      </p:sp>
      <p:sp>
        <p:nvSpPr>
          <p:cNvPr id="26" name="TextBox 25"/>
          <p:cNvSpPr txBox="1"/>
          <p:nvPr/>
        </p:nvSpPr>
        <p:spPr>
          <a:xfrm>
            <a:off x="5744818" y="4715418"/>
            <a:ext cx="4831398" cy="153888"/>
          </a:xfrm>
          <a:prstGeom prst="rect">
            <a:avLst/>
          </a:prstGeom>
          <a:noFill/>
        </p:spPr>
        <p:txBody>
          <a:bodyPr wrap="square" lIns="0" tIns="0" rIns="0" bIns="0" rtlCol="0">
            <a:spAutoFit/>
          </a:bodyPr>
          <a:lstStyle/>
          <a:p>
            <a:pPr marL="0" marR="0" lvl="0" indent="0" algn="l" defTabSz="990571" rtl="0" eaLnBrk="1" fontAlgn="auto" latinLnBrk="0" hangingPunct="1">
              <a:lnSpc>
                <a:spcPct val="100000"/>
              </a:lnSpc>
              <a:spcBef>
                <a:spcPts val="0"/>
              </a:spcBef>
              <a:spcAft>
                <a:spcPts val="50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Following constitutes the list of major foreign players for upcoming plants</a:t>
            </a:r>
          </a:p>
        </p:txBody>
      </p:sp>
      <p:sp>
        <p:nvSpPr>
          <p:cNvPr id="27" name="Rectangle 26"/>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marL="0" marR="0" lvl="0" indent="0" algn="l" defTabSz="914400"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Industry Reports Deloitte Analysis; Note: 1) The data for foreign equity, loan and multilateral investments do not indicate mutually exclusive investments 2) Some of the upcoming power projects may be delayed beyond FY26</a:t>
            </a:r>
          </a:p>
        </p:txBody>
      </p:sp>
    </p:spTree>
    <p:extLst>
      <p:ext uri="{BB962C8B-B14F-4D97-AF65-F5344CB8AC3E}">
        <p14:creationId xmlns:p14="http://schemas.microsoft.com/office/powerpoint/2010/main" val="4053495960"/>
      </p:ext>
    </p:extLst>
  </p:cSld>
  <p:clrMapOvr>
    <a:masterClrMapping/>
  </p:clrMapOvr>
  <p:transition>
    <p:fade/>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3" name="Object 2"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4" name="Title 1"/>
          <p:cNvSpPr>
            <a:spLocks noGrp="1"/>
          </p:cNvSpPr>
          <p:nvPr>
            <p:ph type="title"/>
          </p:nvPr>
        </p:nvSpPr>
        <p:spPr>
          <a:xfrm>
            <a:off x="442913" y="654050"/>
            <a:ext cx="9791700" cy="431800"/>
          </a:xfrm>
        </p:spPr>
        <p:txBody>
          <a:bodyPr/>
          <a:lstStyle/>
          <a:p>
            <a:r>
              <a:rPr lang="en-US" dirty="0"/>
              <a:t>Foreign Participation Assessment | Summary</a:t>
            </a:r>
            <a:endParaRPr lang="en-IN" dirty="0"/>
          </a:p>
        </p:txBody>
      </p:sp>
      <p:sp>
        <p:nvSpPr>
          <p:cNvPr id="5" name="Strapline"/>
          <p:cNvSpPr txBox="1">
            <a:spLocks/>
          </p:cNvSpPr>
          <p:nvPr/>
        </p:nvSpPr>
        <p:spPr>
          <a:xfrm>
            <a:off x="442912" y="1085850"/>
            <a:ext cx="9793288" cy="519113"/>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~1400 MW of commissioned capacity and ~1200 MW of upcoming (LNG) capacity could be looked at as an investment opportunity in the near future</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 name="Table 8"/>
          <p:cNvGraphicFramePr>
            <a:graphicFrameLocks noGrp="1"/>
          </p:cNvGraphicFramePr>
          <p:nvPr/>
        </p:nvGraphicFramePr>
        <p:xfrm>
          <a:off x="442913" y="1968502"/>
          <a:ext cx="9704938" cy="2382520"/>
        </p:xfrm>
        <a:graphic>
          <a:graphicData uri="http://schemas.openxmlformats.org/drawingml/2006/table">
            <a:tbl>
              <a:tblPr firstRow="1" bandRow="1">
                <a:tableStyleId>{3B4B98B0-60AC-42C2-AFA5-B58CD77FA1E5}</a:tableStyleId>
              </a:tblPr>
              <a:tblGrid>
                <a:gridCol w="605502">
                  <a:extLst>
                    <a:ext uri="{9D8B030D-6E8A-4147-A177-3AD203B41FA5}">
                      <a16:colId xmlns:a16="http://schemas.microsoft.com/office/drawing/2014/main" val="4207744418"/>
                    </a:ext>
                  </a:extLst>
                </a:gridCol>
                <a:gridCol w="1442682">
                  <a:extLst>
                    <a:ext uri="{9D8B030D-6E8A-4147-A177-3AD203B41FA5}">
                      <a16:colId xmlns:a16="http://schemas.microsoft.com/office/drawing/2014/main" val="546554287"/>
                    </a:ext>
                  </a:extLst>
                </a:gridCol>
                <a:gridCol w="4919150">
                  <a:extLst>
                    <a:ext uri="{9D8B030D-6E8A-4147-A177-3AD203B41FA5}">
                      <a16:colId xmlns:a16="http://schemas.microsoft.com/office/drawing/2014/main" val="2546321411"/>
                    </a:ext>
                  </a:extLst>
                </a:gridCol>
                <a:gridCol w="2053819">
                  <a:extLst>
                    <a:ext uri="{9D8B030D-6E8A-4147-A177-3AD203B41FA5}">
                      <a16:colId xmlns:a16="http://schemas.microsoft.com/office/drawing/2014/main" val="187755370"/>
                    </a:ext>
                  </a:extLst>
                </a:gridCol>
                <a:gridCol w="683785">
                  <a:extLst>
                    <a:ext uri="{9D8B030D-6E8A-4147-A177-3AD203B41FA5}">
                      <a16:colId xmlns:a16="http://schemas.microsoft.com/office/drawing/2014/main" val="1794598962"/>
                    </a:ext>
                  </a:extLst>
                </a:gridCol>
              </a:tblGrid>
              <a:tr h="327156">
                <a:tc>
                  <a:txBody>
                    <a:bodyPr/>
                    <a:lstStyle/>
                    <a:p>
                      <a:r>
                        <a:rPr lang="en-US" sz="1000" dirty="0"/>
                        <a:t>Sr. No</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Parameter</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Details</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Output</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Ref Slides</a:t>
                      </a:r>
                      <a:endParaRPr lang="en-IN" sz="1000" b="0" dirty="0"/>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34780871"/>
                  </a:ext>
                </a:extLst>
              </a:tr>
              <a:tr h="882902">
                <a:tc>
                  <a:txBody>
                    <a:bodyPr/>
                    <a:lstStyle/>
                    <a:p>
                      <a:r>
                        <a:rPr lang="en-US" sz="1000" dirty="0"/>
                        <a:t>1</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sz="1000" b="0" dirty="0"/>
                        <a:t>Investment opportunity in existing plants</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There are presently ~3,400 MW operational, privately owned gas based plants, out of which ~ 2,000 MW has been commissioned over 7 years (and hence not considered for opportunity identification from investment point of view)</a:t>
                      </a:r>
                    </a:p>
                    <a:p>
                      <a:pPr marL="171450" indent="-171450" algn="just">
                        <a:spcBef>
                          <a:spcPts val="0"/>
                        </a:spcBef>
                        <a:spcAft>
                          <a:spcPts val="500"/>
                        </a:spcAft>
                        <a:buFont typeface="Arial" panose="020B0604020202020204" pitchFamily="34" charset="0"/>
                        <a:buChar char="•"/>
                      </a:pPr>
                      <a:r>
                        <a:rPr lang="en-US" sz="1000" b="0" baseline="0" dirty="0">
                          <a:solidFill>
                            <a:schemeClr val="tx1"/>
                          </a:solidFill>
                        </a:rPr>
                        <a:t>The remnant ~1,400 MW of capacity, commissioned in last 7 years may provide suitable investment opportunity. </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buFont typeface="Arial" panose="020B0604020202020204" pitchFamily="34" charset="0"/>
                        <a:buNone/>
                      </a:pPr>
                      <a:r>
                        <a:rPr lang="en-US" sz="1000" b="0" i="0" baseline="0" dirty="0"/>
                        <a:t>Identified plants given in table below</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2">
                  <a:txBody>
                    <a:bodyPr/>
                    <a:lstStyle/>
                    <a:p>
                      <a:r>
                        <a:rPr lang="en-US" sz="1000" b="0" dirty="0"/>
                        <a:t>135-137</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9456584"/>
                  </a:ext>
                </a:extLst>
              </a:tr>
              <a:tr h="882902">
                <a:tc>
                  <a:txBody>
                    <a:bodyPr/>
                    <a:lstStyle/>
                    <a:p>
                      <a:r>
                        <a:rPr lang="en-US" sz="1000" dirty="0"/>
                        <a:t>2</a:t>
                      </a:r>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sz="1000" b="0" dirty="0"/>
                        <a:t>Investment opportunity in upcoming plants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just">
                        <a:spcBef>
                          <a:spcPts val="0"/>
                        </a:spcBef>
                        <a:spcAft>
                          <a:spcPts val="500"/>
                        </a:spcAft>
                        <a:buFont typeface="Arial" panose="020B0604020202020204" pitchFamily="34" charset="0"/>
                        <a:buChar char="•"/>
                      </a:pPr>
                      <a:r>
                        <a:rPr lang="en-US" sz="1000" b="0" baseline="0" dirty="0">
                          <a:solidFill>
                            <a:schemeClr val="tx1"/>
                          </a:solidFill>
                        </a:rPr>
                        <a:t>220 MW Gas based capacity is expected by private players (NBBL)</a:t>
                      </a:r>
                    </a:p>
                    <a:p>
                      <a:pPr marL="171450" indent="-171450" algn="just">
                        <a:spcBef>
                          <a:spcPts val="0"/>
                        </a:spcBef>
                        <a:spcAft>
                          <a:spcPts val="500"/>
                        </a:spcAft>
                        <a:buFont typeface="Arial" panose="020B0604020202020204" pitchFamily="34" charset="0"/>
                        <a:buChar char="•"/>
                      </a:pPr>
                      <a:r>
                        <a:rPr lang="en-US" sz="1000" b="0" baseline="0" dirty="0">
                          <a:solidFill>
                            <a:schemeClr val="tx1"/>
                          </a:solidFill>
                        </a:rPr>
                        <a:t>For LNG based capacity addition, we expect ~ 1,200 MW of privately owned plants to be commissioned by FY26. These plants are owned by Summit, United Group, with 2 more LNG plants being planned by </a:t>
                      </a:r>
                      <a:r>
                        <a:rPr lang="en-US" sz="1000" b="0" baseline="0" dirty="0" err="1">
                          <a:solidFill>
                            <a:schemeClr val="tx1"/>
                          </a:solidFill>
                        </a:rPr>
                        <a:t>Anlima</a:t>
                      </a:r>
                      <a:r>
                        <a:rPr lang="en-US" sz="1000" b="0" baseline="0" dirty="0">
                          <a:solidFill>
                            <a:schemeClr val="tx1"/>
                          </a:solidFill>
                        </a:rPr>
                        <a:t> Textile / GE and the Unique Groups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buFont typeface="Arial" panose="020B0604020202020204" pitchFamily="34" charset="0"/>
                        <a:buNone/>
                      </a:pPr>
                      <a:r>
                        <a:rPr lang="en-US" sz="1000" b="0" i="0" baseline="0" dirty="0"/>
                        <a:t>Identified plants given in table below</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75894750"/>
                  </a:ext>
                </a:extLst>
              </a:tr>
            </a:tbl>
          </a:graphicData>
        </a:graphic>
      </p:graphicFrame>
      <p:graphicFrame>
        <p:nvGraphicFramePr>
          <p:cNvPr id="29" name="Table 28"/>
          <p:cNvGraphicFramePr>
            <a:graphicFrameLocks noGrp="1"/>
          </p:cNvGraphicFramePr>
          <p:nvPr/>
        </p:nvGraphicFramePr>
        <p:xfrm>
          <a:off x="442912" y="4746701"/>
          <a:ext cx="4728653" cy="2423160"/>
        </p:xfrm>
        <a:graphic>
          <a:graphicData uri="http://schemas.openxmlformats.org/drawingml/2006/table">
            <a:tbl>
              <a:tblPr firstRow="1">
                <a:tableStyleId>{3B4B98B0-60AC-42C2-AFA5-B58CD77FA1E5}</a:tableStyleId>
              </a:tblPr>
              <a:tblGrid>
                <a:gridCol w="1055771">
                  <a:extLst>
                    <a:ext uri="{9D8B030D-6E8A-4147-A177-3AD203B41FA5}">
                      <a16:colId xmlns:a16="http://schemas.microsoft.com/office/drawing/2014/main" val="1659914186"/>
                    </a:ext>
                  </a:extLst>
                </a:gridCol>
                <a:gridCol w="750300">
                  <a:extLst>
                    <a:ext uri="{9D8B030D-6E8A-4147-A177-3AD203B41FA5}">
                      <a16:colId xmlns:a16="http://schemas.microsoft.com/office/drawing/2014/main" val="3349145812"/>
                    </a:ext>
                  </a:extLst>
                </a:gridCol>
                <a:gridCol w="784240">
                  <a:extLst>
                    <a:ext uri="{9D8B030D-6E8A-4147-A177-3AD203B41FA5}">
                      <a16:colId xmlns:a16="http://schemas.microsoft.com/office/drawing/2014/main" val="1580213636"/>
                    </a:ext>
                  </a:extLst>
                </a:gridCol>
                <a:gridCol w="583281">
                  <a:extLst>
                    <a:ext uri="{9D8B030D-6E8A-4147-A177-3AD203B41FA5}">
                      <a16:colId xmlns:a16="http://schemas.microsoft.com/office/drawing/2014/main" val="2955342936"/>
                    </a:ext>
                  </a:extLst>
                </a:gridCol>
                <a:gridCol w="853376">
                  <a:extLst>
                    <a:ext uri="{9D8B030D-6E8A-4147-A177-3AD203B41FA5}">
                      <a16:colId xmlns:a16="http://schemas.microsoft.com/office/drawing/2014/main" val="3345325919"/>
                    </a:ext>
                  </a:extLst>
                </a:gridCol>
                <a:gridCol w="701685">
                  <a:extLst>
                    <a:ext uri="{9D8B030D-6E8A-4147-A177-3AD203B41FA5}">
                      <a16:colId xmlns:a16="http://schemas.microsoft.com/office/drawing/2014/main" val="3083998670"/>
                    </a:ext>
                  </a:extLst>
                </a:gridCol>
              </a:tblGrid>
              <a:tr h="294900">
                <a:tc>
                  <a:txBody>
                    <a:bodyPr/>
                    <a:lstStyle/>
                    <a:p>
                      <a:pPr algn="l"/>
                      <a:r>
                        <a:rPr lang="en-US" sz="900" b="1" dirty="0">
                          <a:latin typeface="+mj-lt"/>
                        </a:rPr>
                        <a:t>Plant Name</a:t>
                      </a:r>
                      <a:endParaRPr lang="en-IN" sz="900" b="1" dirty="0">
                        <a:latin typeface="+mj-lt"/>
                      </a:endParaRPr>
                    </a:p>
                  </a:txBody>
                  <a:tcPr anchor="ctr"/>
                </a:tc>
                <a:tc>
                  <a:txBody>
                    <a:bodyPr/>
                    <a:lstStyle/>
                    <a:p>
                      <a:pPr algn="l"/>
                      <a:r>
                        <a:rPr lang="en-US" sz="900" b="1" dirty="0">
                          <a:latin typeface="+mj-lt"/>
                        </a:rPr>
                        <a:t>Capacity</a:t>
                      </a:r>
                    </a:p>
                    <a:p>
                      <a:pPr algn="l"/>
                      <a:r>
                        <a:rPr lang="en-US" sz="900" b="1" dirty="0">
                          <a:latin typeface="+mj-lt"/>
                        </a:rPr>
                        <a:t>(MW)</a:t>
                      </a:r>
                      <a:endParaRPr lang="en-IN" sz="900" b="1" dirty="0">
                        <a:latin typeface="+mj-lt"/>
                      </a:endParaRPr>
                    </a:p>
                  </a:txBody>
                  <a:tcPr anchor="ctr"/>
                </a:tc>
                <a:tc>
                  <a:txBody>
                    <a:bodyPr/>
                    <a:lstStyle/>
                    <a:p>
                      <a:pPr algn="ctr"/>
                      <a:r>
                        <a:rPr lang="en-US" sz="900" b="1" dirty="0">
                          <a:latin typeface="+mj-lt"/>
                        </a:rPr>
                        <a:t>COD</a:t>
                      </a:r>
                      <a:endParaRPr lang="en-IN" sz="900" b="1" dirty="0">
                        <a:latin typeface="+mj-lt"/>
                      </a:endParaRPr>
                    </a:p>
                  </a:txBody>
                  <a:tcPr anchor="ctr"/>
                </a:tc>
                <a:tc>
                  <a:txBody>
                    <a:bodyPr/>
                    <a:lstStyle/>
                    <a:p>
                      <a:pPr algn="l"/>
                      <a:r>
                        <a:rPr lang="en-US" sz="900" b="1" dirty="0">
                          <a:latin typeface="+mj-lt"/>
                        </a:rPr>
                        <a:t>PLF FY19</a:t>
                      </a:r>
                      <a:endParaRPr lang="en-IN" sz="900" b="1" dirty="0">
                        <a:latin typeface="+mj-lt"/>
                      </a:endParaRPr>
                    </a:p>
                  </a:txBody>
                  <a:tcPr anchor="ctr"/>
                </a:tc>
                <a:tc>
                  <a:txBody>
                    <a:bodyPr/>
                    <a:lstStyle/>
                    <a:p>
                      <a:pPr algn="ctr"/>
                      <a:r>
                        <a:rPr lang="en-US" sz="900" b="1" dirty="0">
                          <a:latin typeface="+mj-lt"/>
                        </a:rPr>
                        <a:t>Efficiency</a:t>
                      </a:r>
                      <a:endParaRPr lang="en-IN" sz="900" b="1" dirty="0">
                        <a:latin typeface="+mj-lt"/>
                      </a:endParaRPr>
                    </a:p>
                  </a:txBody>
                  <a:tcPr anchor="ctr"/>
                </a:tc>
                <a:tc>
                  <a:txBody>
                    <a:bodyPr/>
                    <a:lstStyle/>
                    <a:p>
                      <a:pPr algn="ctr"/>
                      <a:r>
                        <a:rPr lang="en-US" sz="900" b="1" dirty="0">
                          <a:latin typeface="+mj-lt"/>
                        </a:rPr>
                        <a:t>Owner</a:t>
                      </a:r>
                      <a:endParaRPr lang="en-IN" sz="900" b="1" dirty="0">
                        <a:latin typeface="+mj-lt"/>
                      </a:endParaRPr>
                    </a:p>
                  </a:txBody>
                  <a:tcPr anchor="ctr"/>
                </a:tc>
                <a:extLst>
                  <a:ext uri="{0D108BD9-81ED-4DB2-BD59-A6C34878D82A}">
                    <a16:rowId xmlns:a16="http://schemas.microsoft.com/office/drawing/2014/main" val="202154620"/>
                  </a:ext>
                </a:extLst>
              </a:tr>
              <a:tr h="294718">
                <a:tc>
                  <a:txBody>
                    <a:bodyPr/>
                    <a:lstStyle/>
                    <a:p>
                      <a:pPr algn="l" fontAlgn="ctr"/>
                      <a:r>
                        <a:rPr lang="en-US" sz="900" b="0" i="0" u="none" strike="noStrike" dirty="0">
                          <a:solidFill>
                            <a:srgbClr val="000000"/>
                          </a:solidFill>
                          <a:effectLst/>
                          <a:latin typeface="+mj-lt"/>
                        </a:rPr>
                        <a:t>Summit Bibiyana II</a:t>
                      </a:r>
                    </a:p>
                  </a:txBody>
                  <a:tcPr anchor="ctr"/>
                </a:tc>
                <a:tc>
                  <a:txBody>
                    <a:bodyPr/>
                    <a:lstStyle/>
                    <a:p>
                      <a:pPr algn="ctr" fontAlgn="ctr"/>
                      <a:r>
                        <a:rPr lang="en-IN" sz="900" b="0" i="0" u="none" strike="noStrike" dirty="0">
                          <a:solidFill>
                            <a:srgbClr val="000000"/>
                          </a:solidFill>
                          <a:effectLst/>
                          <a:latin typeface="+mj-lt"/>
                        </a:rPr>
                        <a:t>341</a:t>
                      </a:r>
                    </a:p>
                  </a:txBody>
                  <a:tcPr anchor="ctr"/>
                </a:tc>
                <a:tc>
                  <a:txBody>
                    <a:bodyPr/>
                    <a:lstStyle/>
                    <a:p>
                      <a:pPr algn="ctr" fontAlgn="b"/>
                      <a:r>
                        <a:rPr lang="en-IN" sz="900" b="0" i="0" u="none" strike="noStrike" dirty="0">
                          <a:solidFill>
                            <a:srgbClr val="000000"/>
                          </a:solidFill>
                          <a:effectLst/>
                          <a:latin typeface="+mj-lt"/>
                        </a:rPr>
                        <a:t>2015</a:t>
                      </a:r>
                    </a:p>
                  </a:txBody>
                  <a:tcPr anchor="ctr"/>
                </a:tc>
                <a:tc>
                  <a:txBody>
                    <a:bodyPr/>
                    <a:lstStyle/>
                    <a:p>
                      <a:pPr algn="ctr" fontAlgn="b"/>
                      <a:r>
                        <a:rPr lang="en-IN" sz="900" b="0" i="0" u="none" strike="noStrike" dirty="0">
                          <a:solidFill>
                            <a:srgbClr val="000000"/>
                          </a:solidFill>
                          <a:effectLst/>
                          <a:latin typeface="+mj-lt"/>
                        </a:rPr>
                        <a:t>76%</a:t>
                      </a:r>
                    </a:p>
                  </a:txBody>
                  <a:tcPr anchor="ctr"/>
                </a:tc>
                <a:tc>
                  <a:txBody>
                    <a:bodyPr/>
                    <a:lstStyle/>
                    <a:p>
                      <a:pPr algn="ctr" fontAlgn="b"/>
                      <a:r>
                        <a:rPr lang="en-IN" sz="900" b="0" i="0" u="none" strike="noStrike" dirty="0">
                          <a:solidFill>
                            <a:srgbClr val="000000"/>
                          </a:solidFill>
                          <a:effectLst/>
                          <a:latin typeface="+mj-lt"/>
                        </a:rPr>
                        <a:t>28.88%</a:t>
                      </a:r>
                    </a:p>
                  </a:txBody>
                  <a:tcPr anchor="ctr"/>
                </a:tc>
                <a:tc>
                  <a:txBody>
                    <a:bodyPr/>
                    <a:lstStyle/>
                    <a:p>
                      <a:pPr algn="ctr" fontAlgn="b"/>
                      <a:r>
                        <a:rPr lang="en-IN" sz="900" b="0" i="0" u="none" strike="noStrike" dirty="0">
                          <a:solidFill>
                            <a:srgbClr val="000000"/>
                          </a:solidFill>
                          <a:effectLst/>
                          <a:latin typeface="+mj-lt"/>
                        </a:rPr>
                        <a:t>Summit</a:t>
                      </a:r>
                    </a:p>
                  </a:txBody>
                  <a:tcPr anchor="ctr"/>
                </a:tc>
                <a:extLst>
                  <a:ext uri="{0D108BD9-81ED-4DB2-BD59-A6C34878D82A}">
                    <a16:rowId xmlns:a16="http://schemas.microsoft.com/office/drawing/2014/main" val="2120283131"/>
                  </a:ext>
                </a:extLst>
              </a:tr>
              <a:tr h="187548">
                <a:tc>
                  <a:txBody>
                    <a:bodyPr/>
                    <a:lstStyle/>
                    <a:p>
                      <a:pPr algn="l" fontAlgn="ctr"/>
                      <a:r>
                        <a:rPr lang="en-IN" sz="900" b="0" i="0" u="none" strike="noStrike" dirty="0">
                          <a:solidFill>
                            <a:srgbClr val="000000"/>
                          </a:solidFill>
                          <a:effectLst/>
                          <a:latin typeface="+mj-lt"/>
                        </a:rPr>
                        <a:t>Kushiara Power</a:t>
                      </a:r>
                    </a:p>
                  </a:txBody>
                  <a:tcPr anchor="ctr"/>
                </a:tc>
                <a:tc>
                  <a:txBody>
                    <a:bodyPr/>
                    <a:lstStyle/>
                    <a:p>
                      <a:pPr algn="ctr" fontAlgn="ctr"/>
                      <a:r>
                        <a:rPr lang="en-IN" sz="900" b="0" i="0" u="none" strike="noStrike" dirty="0">
                          <a:solidFill>
                            <a:srgbClr val="000000"/>
                          </a:solidFill>
                          <a:effectLst/>
                          <a:latin typeface="+mj-lt"/>
                        </a:rPr>
                        <a:t>163</a:t>
                      </a:r>
                    </a:p>
                  </a:txBody>
                  <a:tcPr anchor="ctr"/>
                </a:tc>
                <a:tc>
                  <a:txBody>
                    <a:bodyPr/>
                    <a:lstStyle/>
                    <a:p>
                      <a:pPr algn="ctr" fontAlgn="b"/>
                      <a:r>
                        <a:rPr lang="en-IN" sz="900" b="0" i="0" u="none" strike="noStrike" dirty="0">
                          <a:solidFill>
                            <a:srgbClr val="000000"/>
                          </a:solidFill>
                          <a:effectLst/>
                          <a:latin typeface="+mj-lt"/>
                        </a:rPr>
                        <a:t>2017</a:t>
                      </a:r>
                    </a:p>
                  </a:txBody>
                  <a:tcPr anchor="ctr"/>
                </a:tc>
                <a:tc>
                  <a:txBody>
                    <a:bodyPr/>
                    <a:lstStyle/>
                    <a:p>
                      <a:pPr algn="ctr" fontAlgn="b"/>
                      <a:r>
                        <a:rPr lang="en-IN" sz="900" b="0" i="0" u="none" strike="noStrike" dirty="0">
                          <a:solidFill>
                            <a:srgbClr val="000000"/>
                          </a:solidFill>
                          <a:effectLst/>
                          <a:latin typeface="+mj-lt"/>
                        </a:rPr>
                        <a:t>76%</a:t>
                      </a:r>
                    </a:p>
                  </a:txBody>
                  <a:tcPr anchor="ctr"/>
                </a:tc>
                <a:tc>
                  <a:txBody>
                    <a:bodyPr/>
                    <a:lstStyle/>
                    <a:p>
                      <a:pPr algn="ctr" fontAlgn="b"/>
                      <a:r>
                        <a:rPr lang="en-IN" sz="900" b="0" i="0" u="none" strike="noStrike" dirty="0">
                          <a:solidFill>
                            <a:srgbClr val="000000"/>
                          </a:solidFill>
                          <a:effectLst/>
                          <a:latin typeface="+mj-lt"/>
                        </a:rPr>
                        <a:t>35.70%</a:t>
                      </a:r>
                    </a:p>
                  </a:txBody>
                  <a:tcPr anchor="ctr"/>
                </a:tc>
                <a:tc>
                  <a:txBody>
                    <a:bodyPr/>
                    <a:lstStyle/>
                    <a:p>
                      <a:pPr algn="ctr" fontAlgn="b"/>
                      <a:r>
                        <a:rPr lang="en-IN" sz="900" b="0" i="0" u="none" strike="noStrike" dirty="0">
                          <a:solidFill>
                            <a:srgbClr val="000000"/>
                          </a:solidFill>
                          <a:effectLst/>
                          <a:latin typeface="+mj-lt"/>
                        </a:rPr>
                        <a:t>Max</a:t>
                      </a:r>
                    </a:p>
                  </a:txBody>
                  <a:tcPr anchor="ctr"/>
                </a:tc>
                <a:extLst>
                  <a:ext uri="{0D108BD9-81ED-4DB2-BD59-A6C34878D82A}">
                    <a16:rowId xmlns:a16="http://schemas.microsoft.com/office/drawing/2014/main" val="413943885"/>
                  </a:ext>
                </a:extLst>
              </a:tr>
              <a:tr h="187548">
                <a:tc>
                  <a:txBody>
                    <a:bodyPr/>
                    <a:lstStyle/>
                    <a:p>
                      <a:pPr algn="l" fontAlgn="ctr"/>
                      <a:r>
                        <a:rPr lang="en-IN" sz="900" b="0" i="0" u="none" strike="noStrike" dirty="0">
                          <a:solidFill>
                            <a:srgbClr val="000000"/>
                          </a:solidFill>
                          <a:effectLst/>
                          <a:latin typeface="+mj-lt"/>
                        </a:rPr>
                        <a:t>Sembcorp NWPC</a:t>
                      </a:r>
                    </a:p>
                  </a:txBody>
                  <a:tcPr anchor="ctr"/>
                </a:tc>
                <a:tc>
                  <a:txBody>
                    <a:bodyPr/>
                    <a:lstStyle/>
                    <a:p>
                      <a:pPr algn="ctr" fontAlgn="ctr"/>
                      <a:r>
                        <a:rPr lang="en-IN" sz="900" b="0" i="0" u="none" strike="noStrike" dirty="0">
                          <a:solidFill>
                            <a:srgbClr val="000000"/>
                          </a:solidFill>
                          <a:effectLst/>
                          <a:latin typeface="+mj-lt"/>
                        </a:rPr>
                        <a:t>282</a:t>
                      </a:r>
                    </a:p>
                  </a:txBody>
                  <a:tcPr anchor="ctr"/>
                </a:tc>
                <a:tc>
                  <a:txBody>
                    <a:bodyPr/>
                    <a:lstStyle/>
                    <a:p>
                      <a:pPr algn="ctr" fontAlgn="b"/>
                      <a:r>
                        <a:rPr lang="en-IN" sz="900" b="0" i="0" u="none" strike="noStrike" dirty="0">
                          <a:solidFill>
                            <a:srgbClr val="000000"/>
                          </a:solidFill>
                          <a:effectLst/>
                          <a:latin typeface="+mj-lt"/>
                        </a:rPr>
                        <a:t>2018</a:t>
                      </a:r>
                    </a:p>
                  </a:txBody>
                  <a:tcPr anchor="ctr"/>
                </a:tc>
                <a:tc>
                  <a:txBody>
                    <a:bodyPr/>
                    <a:lstStyle/>
                    <a:p>
                      <a:pPr algn="ctr" fontAlgn="b"/>
                      <a:r>
                        <a:rPr lang="en-IN" sz="900" b="0" i="0" u="none" strike="noStrike" dirty="0">
                          <a:solidFill>
                            <a:srgbClr val="000000"/>
                          </a:solidFill>
                          <a:effectLst/>
                          <a:latin typeface="+mj-lt"/>
                        </a:rPr>
                        <a:t>31%</a:t>
                      </a:r>
                    </a:p>
                  </a:txBody>
                  <a:tcPr anchor="ctr"/>
                </a:tc>
                <a:tc>
                  <a:txBody>
                    <a:bodyPr/>
                    <a:lstStyle/>
                    <a:p>
                      <a:pPr algn="ctr" fontAlgn="b"/>
                      <a:r>
                        <a:rPr lang="en-IN" sz="900" b="0" i="0" u="none" strike="noStrike" dirty="0">
                          <a:solidFill>
                            <a:srgbClr val="000000"/>
                          </a:solidFill>
                          <a:effectLst/>
                          <a:latin typeface="+mj-lt"/>
                        </a:rPr>
                        <a:t>42.71%</a:t>
                      </a:r>
                    </a:p>
                  </a:txBody>
                  <a:tcPr anchor="ctr"/>
                </a:tc>
                <a:tc>
                  <a:txBody>
                    <a:bodyPr/>
                    <a:lstStyle/>
                    <a:p>
                      <a:pPr algn="ctr" fontAlgn="b"/>
                      <a:r>
                        <a:rPr lang="en-IN" sz="900" b="0" i="0" u="none" strike="noStrike" dirty="0">
                          <a:solidFill>
                            <a:srgbClr val="000000"/>
                          </a:solidFill>
                          <a:effectLst/>
                          <a:latin typeface="+mj-lt"/>
                        </a:rPr>
                        <a:t>Sembcorp</a:t>
                      </a:r>
                    </a:p>
                  </a:txBody>
                  <a:tcPr anchor="ctr"/>
                </a:tc>
                <a:extLst>
                  <a:ext uri="{0D108BD9-81ED-4DB2-BD59-A6C34878D82A}">
                    <a16:rowId xmlns:a16="http://schemas.microsoft.com/office/drawing/2014/main" val="3110394366"/>
                  </a:ext>
                </a:extLst>
              </a:tr>
              <a:tr h="187548">
                <a:tc>
                  <a:txBody>
                    <a:bodyPr/>
                    <a:lstStyle/>
                    <a:p>
                      <a:pPr algn="l" fontAlgn="ctr"/>
                      <a:r>
                        <a:rPr lang="en-IN" sz="900" b="0" i="0" u="none" strike="noStrike" dirty="0">
                          <a:solidFill>
                            <a:srgbClr val="000000"/>
                          </a:solidFill>
                          <a:effectLst/>
                          <a:latin typeface="+mj-lt"/>
                        </a:rPr>
                        <a:t>United </a:t>
                      </a:r>
                      <a:r>
                        <a:rPr lang="en-IN" sz="900" b="0" i="0" u="none" strike="noStrike" dirty="0" err="1">
                          <a:solidFill>
                            <a:srgbClr val="000000"/>
                          </a:solidFill>
                          <a:effectLst/>
                          <a:latin typeface="+mj-lt"/>
                        </a:rPr>
                        <a:t>Ashuganj</a:t>
                      </a:r>
                      <a:endParaRPr lang="en-IN" sz="900" b="0" i="0" u="none" strike="noStrike" dirty="0">
                        <a:solidFill>
                          <a:srgbClr val="000000"/>
                        </a:solidFill>
                        <a:effectLst/>
                        <a:latin typeface="+mj-lt"/>
                      </a:endParaRPr>
                    </a:p>
                  </a:txBody>
                  <a:tcPr anchor="ctr"/>
                </a:tc>
                <a:tc>
                  <a:txBody>
                    <a:bodyPr/>
                    <a:lstStyle/>
                    <a:p>
                      <a:pPr algn="ctr" fontAlgn="ctr"/>
                      <a:r>
                        <a:rPr lang="en-IN" sz="900" b="0" i="0" u="none" strike="noStrike" dirty="0">
                          <a:solidFill>
                            <a:srgbClr val="000000"/>
                          </a:solidFill>
                          <a:effectLst/>
                          <a:latin typeface="+mj-lt"/>
                        </a:rPr>
                        <a:t>195</a:t>
                      </a:r>
                    </a:p>
                  </a:txBody>
                  <a:tcPr anchor="ctr"/>
                </a:tc>
                <a:tc>
                  <a:txBody>
                    <a:bodyPr/>
                    <a:lstStyle/>
                    <a:p>
                      <a:pPr algn="ctr" fontAlgn="b"/>
                      <a:r>
                        <a:rPr lang="en-IN" sz="900" b="0" i="0" u="none" strike="noStrike" dirty="0">
                          <a:solidFill>
                            <a:srgbClr val="000000"/>
                          </a:solidFill>
                          <a:effectLst/>
                          <a:latin typeface="+mj-lt"/>
                        </a:rPr>
                        <a:t>2015</a:t>
                      </a:r>
                    </a:p>
                  </a:txBody>
                  <a:tcPr anchor="ctr"/>
                </a:tc>
                <a:tc>
                  <a:txBody>
                    <a:bodyPr/>
                    <a:lstStyle/>
                    <a:p>
                      <a:pPr algn="ctr" fontAlgn="b"/>
                      <a:r>
                        <a:rPr lang="en-IN" sz="900" b="0" i="0" u="none" strike="noStrike" dirty="0">
                          <a:solidFill>
                            <a:srgbClr val="000000"/>
                          </a:solidFill>
                          <a:effectLst/>
                          <a:latin typeface="+mj-lt"/>
                        </a:rPr>
                        <a:t>24%</a:t>
                      </a:r>
                    </a:p>
                  </a:txBody>
                  <a:tcPr anchor="ctr"/>
                </a:tc>
                <a:tc>
                  <a:txBody>
                    <a:bodyPr/>
                    <a:lstStyle/>
                    <a:p>
                      <a:pPr algn="ctr" fontAlgn="b"/>
                      <a:r>
                        <a:rPr lang="en-IN" sz="900" b="0" i="0" u="none" strike="noStrike" dirty="0">
                          <a:solidFill>
                            <a:srgbClr val="000000"/>
                          </a:solidFill>
                          <a:effectLst/>
                          <a:latin typeface="+mj-lt"/>
                        </a:rPr>
                        <a:t>42.51%</a:t>
                      </a:r>
                    </a:p>
                  </a:txBody>
                  <a:tcPr anchor="ctr"/>
                </a:tc>
                <a:tc>
                  <a:txBody>
                    <a:bodyPr/>
                    <a:lstStyle/>
                    <a:p>
                      <a:pPr algn="ctr" fontAlgn="b"/>
                      <a:r>
                        <a:rPr lang="en-IN" sz="900" b="0" i="0" u="none" strike="noStrike" dirty="0">
                          <a:solidFill>
                            <a:srgbClr val="000000"/>
                          </a:solidFill>
                          <a:effectLst/>
                          <a:latin typeface="+mj-lt"/>
                        </a:rPr>
                        <a:t>United</a:t>
                      </a:r>
                    </a:p>
                  </a:txBody>
                  <a:tcPr anchor="ctr"/>
                </a:tc>
                <a:extLst>
                  <a:ext uri="{0D108BD9-81ED-4DB2-BD59-A6C34878D82A}">
                    <a16:rowId xmlns:a16="http://schemas.microsoft.com/office/drawing/2014/main" val="76836288"/>
                  </a:ext>
                </a:extLst>
              </a:tr>
              <a:tr h="294718">
                <a:tc>
                  <a:txBody>
                    <a:bodyPr/>
                    <a:lstStyle/>
                    <a:p>
                      <a:pPr algn="l" fontAlgn="ctr"/>
                      <a:r>
                        <a:rPr lang="en-IN" sz="900" b="0" i="0" u="none" strike="noStrike" dirty="0">
                          <a:solidFill>
                            <a:srgbClr val="000000"/>
                          </a:solidFill>
                          <a:effectLst/>
                          <a:latin typeface="+mj-lt"/>
                        </a:rPr>
                        <a:t>Summit Meghnaghat</a:t>
                      </a:r>
                    </a:p>
                  </a:txBody>
                  <a:tcPr anchor="ctr"/>
                </a:tc>
                <a:tc>
                  <a:txBody>
                    <a:bodyPr/>
                    <a:lstStyle/>
                    <a:p>
                      <a:pPr algn="ctr" fontAlgn="ctr"/>
                      <a:r>
                        <a:rPr lang="en-IN" sz="900" b="0" i="0" u="none" strike="noStrike" dirty="0">
                          <a:solidFill>
                            <a:srgbClr val="000000"/>
                          </a:solidFill>
                          <a:effectLst/>
                          <a:latin typeface="+mj-lt"/>
                        </a:rPr>
                        <a:t>305</a:t>
                      </a:r>
                    </a:p>
                  </a:txBody>
                  <a:tcPr anchor="ctr"/>
                </a:tc>
                <a:tc>
                  <a:txBody>
                    <a:bodyPr/>
                    <a:lstStyle/>
                    <a:p>
                      <a:pPr algn="ctr" fontAlgn="b"/>
                      <a:r>
                        <a:rPr lang="en-IN" sz="900" b="0" i="0" u="none" strike="noStrike" dirty="0">
                          <a:solidFill>
                            <a:srgbClr val="000000"/>
                          </a:solidFill>
                          <a:effectLst/>
                          <a:latin typeface="+mj-lt"/>
                        </a:rPr>
                        <a:t>2015</a:t>
                      </a:r>
                    </a:p>
                  </a:txBody>
                  <a:tcPr anchor="ctr"/>
                </a:tc>
                <a:tc>
                  <a:txBody>
                    <a:bodyPr/>
                    <a:lstStyle/>
                    <a:p>
                      <a:pPr algn="ctr" fontAlgn="b"/>
                      <a:r>
                        <a:rPr lang="en-IN" sz="900" b="0" i="0" u="none" strike="noStrike" dirty="0">
                          <a:solidFill>
                            <a:srgbClr val="000000"/>
                          </a:solidFill>
                          <a:effectLst/>
                          <a:latin typeface="+mj-lt"/>
                        </a:rPr>
                        <a:t>24%</a:t>
                      </a:r>
                    </a:p>
                  </a:txBody>
                  <a:tcPr anchor="ctr"/>
                </a:tc>
                <a:tc>
                  <a:txBody>
                    <a:bodyPr/>
                    <a:lstStyle/>
                    <a:p>
                      <a:pPr algn="ctr" fontAlgn="b"/>
                      <a:r>
                        <a:rPr lang="en-IN" sz="900" b="0" i="0" u="none" strike="noStrike" dirty="0">
                          <a:solidFill>
                            <a:srgbClr val="000000"/>
                          </a:solidFill>
                          <a:effectLst/>
                          <a:latin typeface="+mj-lt"/>
                        </a:rPr>
                        <a:t>43.09%</a:t>
                      </a:r>
                    </a:p>
                  </a:txBody>
                  <a:tcPr anchor="ctr"/>
                </a:tc>
                <a:tc>
                  <a:txBody>
                    <a:bodyPr/>
                    <a:lstStyle/>
                    <a:p>
                      <a:pPr algn="ctr" fontAlgn="b"/>
                      <a:r>
                        <a:rPr lang="en-IN" sz="900" b="0" i="0" u="none" strike="noStrike" dirty="0">
                          <a:solidFill>
                            <a:srgbClr val="000000"/>
                          </a:solidFill>
                          <a:effectLst/>
                          <a:latin typeface="+mj-lt"/>
                        </a:rPr>
                        <a:t>Summit</a:t>
                      </a:r>
                    </a:p>
                  </a:txBody>
                  <a:tcPr anchor="ctr"/>
                </a:tc>
                <a:extLst>
                  <a:ext uri="{0D108BD9-81ED-4DB2-BD59-A6C34878D82A}">
                    <a16:rowId xmlns:a16="http://schemas.microsoft.com/office/drawing/2014/main" val="828964890"/>
                  </a:ext>
                </a:extLst>
              </a:tr>
              <a:tr h="206917">
                <a:tc>
                  <a:txBody>
                    <a:bodyPr/>
                    <a:lstStyle/>
                    <a:p>
                      <a:pPr algn="l" fontAlgn="ctr"/>
                      <a:r>
                        <a:rPr lang="en-US" sz="900" b="0" i="0" u="none" strike="noStrike" dirty="0">
                          <a:solidFill>
                            <a:srgbClr val="000000"/>
                          </a:solidFill>
                          <a:effectLst/>
                          <a:latin typeface="+mj-lt"/>
                        </a:rPr>
                        <a:t>Regent Power</a:t>
                      </a:r>
                      <a:endParaRPr lang="en-IN" sz="900" b="0" i="0" u="none" strike="noStrike" dirty="0">
                        <a:solidFill>
                          <a:srgbClr val="000000"/>
                        </a:solidFill>
                        <a:effectLst/>
                        <a:latin typeface="+mj-lt"/>
                      </a:endParaRPr>
                    </a:p>
                  </a:txBody>
                  <a:tcPr anchor="ctr"/>
                </a:tc>
                <a:tc>
                  <a:txBody>
                    <a:bodyPr/>
                    <a:lstStyle/>
                    <a:p>
                      <a:pPr algn="ctr" fontAlgn="ctr"/>
                      <a:r>
                        <a:rPr lang="en-US" sz="900" b="0" i="0" u="none" strike="noStrike" dirty="0">
                          <a:solidFill>
                            <a:srgbClr val="000000"/>
                          </a:solidFill>
                          <a:effectLst/>
                          <a:latin typeface="+mj-lt"/>
                        </a:rPr>
                        <a:t>108</a:t>
                      </a:r>
                      <a:endParaRPr lang="en-IN" sz="900" b="0" i="0" u="none" strike="noStrike" dirty="0">
                        <a:solidFill>
                          <a:srgbClr val="000000"/>
                        </a:solidFill>
                        <a:effectLst/>
                        <a:latin typeface="+mj-lt"/>
                      </a:endParaRPr>
                    </a:p>
                  </a:txBody>
                  <a:tcPr anchor="ctr"/>
                </a:tc>
                <a:tc>
                  <a:txBody>
                    <a:bodyPr/>
                    <a:lstStyle/>
                    <a:p>
                      <a:pPr algn="ctr" fontAlgn="b"/>
                      <a:r>
                        <a:rPr lang="en-US" sz="900" b="0" i="0" u="none" strike="noStrike" dirty="0">
                          <a:solidFill>
                            <a:srgbClr val="000000"/>
                          </a:solidFill>
                          <a:effectLst/>
                          <a:latin typeface="+mj-lt"/>
                        </a:rPr>
                        <a:t>2014</a:t>
                      </a:r>
                      <a:endParaRPr lang="en-IN" sz="900" b="0" i="0" u="none" strike="noStrike" dirty="0">
                        <a:solidFill>
                          <a:srgbClr val="000000"/>
                        </a:solidFill>
                        <a:effectLst/>
                        <a:latin typeface="+mj-lt"/>
                      </a:endParaRPr>
                    </a:p>
                  </a:txBody>
                  <a:tcPr anchor="ctr"/>
                </a:tc>
                <a:tc>
                  <a:txBody>
                    <a:bodyPr/>
                    <a:lstStyle/>
                    <a:p>
                      <a:pPr algn="ctr" fontAlgn="b"/>
                      <a:r>
                        <a:rPr lang="en-US" sz="900" b="0" i="0" u="none" strike="noStrike" dirty="0">
                          <a:solidFill>
                            <a:srgbClr val="000000"/>
                          </a:solidFill>
                          <a:effectLst/>
                          <a:latin typeface="+mj-lt"/>
                        </a:rPr>
                        <a:t>37%</a:t>
                      </a:r>
                      <a:endParaRPr lang="en-IN" sz="900" b="0" i="0" u="none" strike="noStrike" dirty="0">
                        <a:solidFill>
                          <a:srgbClr val="000000"/>
                        </a:solidFill>
                        <a:effectLst/>
                        <a:latin typeface="+mj-lt"/>
                      </a:endParaRPr>
                    </a:p>
                  </a:txBody>
                  <a:tcPr anchor="ctr"/>
                </a:tc>
                <a:tc>
                  <a:txBody>
                    <a:bodyPr/>
                    <a:lstStyle/>
                    <a:p>
                      <a:pPr algn="ctr" fontAlgn="b"/>
                      <a:r>
                        <a:rPr lang="en-US" sz="900" b="0" i="0" u="none" strike="noStrike" dirty="0">
                          <a:solidFill>
                            <a:srgbClr val="000000"/>
                          </a:solidFill>
                          <a:effectLst/>
                          <a:latin typeface="+mj-lt"/>
                        </a:rPr>
                        <a:t>37.26%</a:t>
                      </a:r>
                      <a:endParaRPr lang="en-IN" sz="900" b="0" i="0" u="none" strike="noStrike" dirty="0">
                        <a:solidFill>
                          <a:srgbClr val="000000"/>
                        </a:solidFill>
                        <a:effectLst/>
                        <a:latin typeface="+mj-lt"/>
                      </a:endParaRPr>
                    </a:p>
                  </a:txBody>
                  <a:tcPr anchor="ctr"/>
                </a:tc>
                <a:tc>
                  <a:txBody>
                    <a:bodyPr/>
                    <a:lstStyle/>
                    <a:p>
                      <a:pPr algn="ctr" fontAlgn="b"/>
                      <a:r>
                        <a:rPr lang="en-US" sz="900" b="0" i="0" u="none" strike="noStrike" dirty="0">
                          <a:solidFill>
                            <a:srgbClr val="000000"/>
                          </a:solidFill>
                          <a:effectLst/>
                          <a:latin typeface="+mj-lt"/>
                        </a:rPr>
                        <a:t>Regent</a:t>
                      </a:r>
                      <a:endParaRPr lang="en-IN" sz="900" b="0" i="0" u="none" strike="noStrike" dirty="0">
                        <a:solidFill>
                          <a:srgbClr val="000000"/>
                        </a:solidFill>
                        <a:effectLst/>
                        <a:latin typeface="+mj-lt"/>
                      </a:endParaRPr>
                    </a:p>
                  </a:txBody>
                  <a:tcPr anchor="ctr"/>
                </a:tc>
                <a:extLst>
                  <a:ext uri="{0D108BD9-81ED-4DB2-BD59-A6C34878D82A}">
                    <a16:rowId xmlns:a16="http://schemas.microsoft.com/office/drawing/2014/main" val="1834673359"/>
                  </a:ext>
                </a:extLst>
              </a:tr>
            </a:tbl>
          </a:graphicData>
        </a:graphic>
      </p:graphicFrame>
      <p:graphicFrame>
        <p:nvGraphicFramePr>
          <p:cNvPr id="30" name="Table 29"/>
          <p:cNvGraphicFramePr>
            <a:graphicFrameLocks noGrp="1"/>
          </p:cNvGraphicFramePr>
          <p:nvPr/>
        </p:nvGraphicFramePr>
        <p:xfrm>
          <a:off x="5498987" y="4746701"/>
          <a:ext cx="4735626" cy="1828800"/>
        </p:xfrm>
        <a:graphic>
          <a:graphicData uri="http://schemas.openxmlformats.org/drawingml/2006/table">
            <a:tbl>
              <a:tblPr firstRow="1">
                <a:tableStyleId>{3B4B98B0-60AC-42C2-AFA5-B58CD77FA1E5}</a:tableStyleId>
              </a:tblPr>
              <a:tblGrid>
                <a:gridCol w="1619379">
                  <a:extLst>
                    <a:ext uri="{9D8B030D-6E8A-4147-A177-3AD203B41FA5}">
                      <a16:colId xmlns:a16="http://schemas.microsoft.com/office/drawing/2014/main" val="1659914186"/>
                    </a:ext>
                  </a:extLst>
                </a:gridCol>
                <a:gridCol w="846944">
                  <a:extLst>
                    <a:ext uri="{9D8B030D-6E8A-4147-A177-3AD203B41FA5}">
                      <a16:colId xmlns:a16="http://schemas.microsoft.com/office/drawing/2014/main" val="3349145812"/>
                    </a:ext>
                  </a:extLst>
                </a:gridCol>
                <a:gridCol w="1121457">
                  <a:extLst>
                    <a:ext uri="{9D8B030D-6E8A-4147-A177-3AD203B41FA5}">
                      <a16:colId xmlns:a16="http://schemas.microsoft.com/office/drawing/2014/main" val="1580213636"/>
                    </a:ext>
                  </a:extLst>
                </a:gridCol>
                <a:gridCol w="1147846">
                  <a:extLst>
                    <a:ext uri="{9D8B030D-6E8A-4147-A177-3AD203B41FA5}">
                      <a16:colId xmlns:a16="http://schemas.microsoft.com/office/drawing/2014/main" val="3083998670"/>
                    </a:ext>
                  </a:extLst>
                </a:gridCol>
              </a:tblGrid>
              <a:tr h="300439">
                <a:tc>
                  <a:txBody>
                    <a:bodyPr/>
                    <a:lstStyle/>
                    <a:p>
                      <a:pPr algn="l"/>
                      <a:r>
                        <a:rPr lang="en-US" sz="900" b="1" dirty="0">
                          <a:latin typeface="+mj-lt"/>
                        </a:rPr>
                        <a:t>Plant Name</a:t>
                      </a:r>
                      <a:endParaRPr lang="en-IN" sz="900" b="1" dirty="0">
                        <a:latin typeface="+mj-lt"/>
                      </a:endParaRPr>
                    </a:p>
                  </a:txBody>
                  <a:tcPr anchor="ctr"/>
                </a:tc>
                <a:tc>
                  <a:txBody>
                    <a:bodyPr/>
                    <a:lstStyle/>
                    <a:p>
                      <a:pPr algn="ctr"/>
                      <a:r>
                        <a:rPr lang="en-US" sz="900" b="1" dirty="0">
                          <a:latin typeface="+mj-lt"/>
                        </a:rPr>
                        <a:t>Capacity</a:t>
                      </a:r>
                    </a:p>
                    <a:p>
                      <a:pPr algn="ctr"/>
                      <a:r>
                        <a:rPr lang="en-US" sz="900" b="1" dirty="0">
                          <a:latin typeface="+mj-lt"/>
                        </a:rPr>
                        <a:t>(MW)</a:t>
                      </a:r>
                      <a:endParaRPr lang="en-IN" sz="900" b="1" dirty="0">
                        <a:latin typeface="+mj-lt"/>
                      </a:endParaRPr>
                    </a:p>
                  </a:txBody>
                  <a:tcPr anchor="ctr"/>
                </a:tc>
                <a:tc>
                  <a:txBody>
                    <a:bodyPr/>
                    <a:lstStyle/>
                    <a:p>
                      <a:pPr algn="ctr"/>
                      <a:r>
                        <a:rPr lang="en-US" sz="900" b="1" dirty="0">
                          <a:latin typeface="+mj-lt"/>
                        </a:rPr>
                        <a:t>COD (Estimated)</a:t>
                      </a:r>
                      <a:endParaRPr lang="en-IN" sz="900" b="1" dirty="0">
                        <a:latin typeface="+mj-lt"/>
                      </a:endParaRPr>
                    </a:p>
                  </a:txBody>
                  <a:tcPr anchor="ctr"/>
                </a:tc>
                <a:tc>
                  <a:txBody>
                    <a:bodyPr/>
                    <a:lstStyle/>
                    <a:p>
                      <a:pPr algn="ctr"/>
                      <a:r>
                        <a:rPr lang="en-US" sz="900" b="1" dirty="0">
                          <a:latin typeface="+mj-lt"/>
                        </a:rPr>
                        <a:t>Owner Group</a:t>
                      </a:r>
                      <a:endParaRPr lang="en-IN" sz="900" b="1" dirty="0">
                        <a:latin typeface="+mj-lt"/>
                      </a:endParaRPr>
                    </a:p>
                  </a:txBody>
                  <a:tcPr anchor="ctr"/>
                </a:tc>
                <a:extLst>
                  <a:ext uri="{0D108BD9-81ED-4DB2-BD59-A6C34878D82A}">
                    <a16:rowId xmlns:a16="http://schemas.microsoft.com/office/drawing/2014/main" val="202154620"/>
                  </a:ext>
                </a:extLst>
              </a:tr>
              <a:tr h="364570">
                <a:tc>
                  <a:txBody>
                    <a:bodyPr/>
                    <a:lstStyle/>
                    <a:p>
                      <a:pPr marL="0" marR="0" lvl="0" indent="0" algn="l" defTabSz="990571" rtl="0" eaLnBrk="1" fontAlgn="ctr" latinLnBrk="0" hangingPunct="1">
                        <a:lnSpc>
                          <a:spcPct val="100000"/>
                        </a:lnSpc>
                        <a:spcBef>
                          <a:spcPts val="0"/>
                        </a:spcBef>
                        <a:spcAft>
                          <a:spcPts val="0"/>
                        </a:spcAft>
                        <a:buClrTx/>
                        <a:buSzTx/>
                        <a:buFontTx/>
                        <a:buNone/>
                        <a:tabLst/>
                        <a:defRPr/>
                      </a:pPr>
                      <a:r>
                        <a:rPr lang="en-IN" sz="900" b="0" dirty="0">
                          <a:effectLst/>
                          <a:latin typeface="+mj-lt"/>
                        </a:rPr>
                        <a:t>Meghnaghat</a:t>
                      </a:r>
                      <a:r>
                        <a:rPr lang="en-IN" sz="900" b="0" baseline="0" dirty="0">
                          <a:effectLst/>
                          <a:latin typeface="+mj-lt"/>
                        </a:rPr>
                        <a:t> 600 MW CCPP – Summit</a:t>
                      </a:r>
                      <a:endParaRPr lang="en-IN" sz="900" b="0" dirty="0">
                        <a:effectLst/>
                        <a:latin typeface="+mj-lt"/>
                        <a:ea typeface="Verdana" panose="020B0604030504040204" pitchFamily="34" charset="0"/>
                        <a:cs typeface="Times New Roman" panose="02020603050405020304" pitchFamily="18" charset="0"/>
                      </a:endParaRPr>
                    </a:p>
                  </a:txBody>
                  <a:tcPr anchor="ctr">
                    <a:noFill/>
                  </a:tcPr>
                </a:tc>
                <a:tc>
                  <a:txBody>
                    <a:bodyPr/>
                    <a:lstStyle/>
                    <a:p>
                      <a:pPr algn="ctr" fontAlgn="ctr"/>
                      <a:r>
                        <a:rPr lang="en-US" sz="900" b="0" i="0" u="none" strike="noStrike" dirty="0">
                          <a:solidFill>
                            <a:srgbClr val="000000"/>
                          </a:solidFill>
                          <a:effectLst/>
                          <a:latin typeface="+mj-lt"/>
                        </a:rPr>
                        <a:t>584</a:t>
                      </a:r>
                      <a:endParaRPr lang="en-IN" sz="900" b="0" i="0" u="none" strike="noStrike" dirty="0">
                        <a:solidFill>
                          <a:srgbClr val="000000"/>
                        </a:solidFill>
                        <a:effectLst/>
                        <a:latin typeface="+mj-lt"/>
                      </a:endParaRPr>
                    </a:p>
                  </a:txBody>
                  <a:tcPr anchor="ctr">
                    <a:noFill/>
                  </a:tcPr>
                </a:tc>
                <a:tc>
                  <a:txBody>
                    <a:bodyPr/>
                    <a:lstStyle/>
                    <a:p>
                      <a:pPr algn="ctr" fontAlgn="b"/>
                      <a:r>
                        <a:rPr lang="en-US" sz="900" b="0" i="0" u="none" strike="noStrike" dirty="0">
                          <a:solidFill>
                            <a:srgbClr val="000000"/>
                          </a:solidFill>
                          <a:effectLst/>
                          <a:latin typeface="+mj-lt"/>
                        </a:rPr>
                        <a:t>2024</a:t>
                      </a:r>
                      <a:endParaRPr lang="en-IN" sz="900" b="0" i="0" u="none" strike="noStrike" dirty="0">
                        <a:solidFill>
                          <a:srgbClr val="000000"/>
                        </a:solidFill>
                        <a:effectLst/>
                        <a:latin typeface="+mj-lt"/>
                      </a:endParaRPr>
                    </a:p>
                  </a:txBody>
                  <a:tcPr anchor="ctr">
                    <a:noFill/>
                  </a:tcPr>
                </a:tc>
                <a:tc>
                  <a:txBody>
                    <a:bodyPr/>
                    <a:lstStyle/>
                    <a:p>
                      <a:pPr algn="ctr" fontAlgn="b"/>
                      <a:r>
                        <a:rPr lang="en-US" sz="900" b="0" i="0" u="none" strike="noStrike" dirty="0">
                          <a:solidFill>
                            <a:srgbClr val="000000"/>
                          </a:solidFill>
                          <a:effectLst/>
                          <a:latin typeface="+mj-lt"/>
                        </a:rPr>
                        <a:t>Summit Group</a:t>
                      </a:r>
                      <a:endParaRPr lang="en-IN" sz="900" b="0" i="0" u="none" strike="noStrike" dirty="0">
                        <a:solidFill>
                          <a:srgbClr val="000000"/>
                        </a:solidFill>
                        <a:effectLst/>
                        <a:latin typeface="+mj-lt"/>
                      </a:endParaRPr>
                    </a:p>
                  </a:txBody>
                  <a:tcPr anchor="ctr">
                    <a:noFill/>
                  </a:tcPr>
                </a:tc>
                <a:extLst>
                  <a:ext uri="{0D108BD9-81ED-4DB2-BD59-A6C34878D82A}">
                    <a16:rowId xmlns:a16="http://schemas.microsoft.com/office/drawing/2014/main" val="3612843403"/>
                  </a:ext>
                </a:extLst>
              </a:tr>
              <a:tr h="364570">
                <a:tc>
                  <a:txBody>
                    <a:bodyPr/>
                    <a:lstStyle/>
                    <a:p>
                      <a:pPr marL="0" marR="0" lvl="0" indent="0" algn="l" defTabSz="990571" rtl="0" eaLnBrk="1" fontAlgn="ctr" latinLnBrk="0" hangingPunct="1">
                        <a:lnSpc>
                          <a:spcPct val="100000"/>
                        </a:lnSpc>
                        <a:spcBef>
                          <a:spcPts val="0"/>
                        </a:spcBef>
                        <a:spcAft>
                          <a:spcPts val="0"/>
                        </a:spcAft>
                        <a:buClrTx/>
                        <a:buSzTx/>
                        <a:buFontTx/>
                        <a:buNone/>
                        <a:tabLst/>
                        <a:defRPr/>
                      </a:pPr>
                      <a:r>
                        <a:rPr lang="en-IN" sz="900" b="0" dirty="0">
                          <a:effectLst/>
                          <a:latin typeface="+mj-lt"/>
                        </a:rPr>
                        <a:t>Meghnaghat</a:t>
                      </a:r>
                      <a:r>
                        <a:rPr lang="en-IN" sz="900" b="0" baseline="0" dirty="0">
                          <a:effectLst/>
                          <a:latin typeface="+mj-lt"/>
                        </a:rPr>
                        <a:t> 600 MW CCPP – UMPL</a:t>
                      </a:r>
                      <a:endParaRPr lang="en-IN" sz="900" b="0" dirty="0">
                        <a:effectLst/>
                        <a:latin typeface="+mj-lt"/>
                        <a:ea typeface="Verdana" panose="020B0604030504040204" pitchFamily="34" charset="0"/>
                        <a:cs typeface="Times New Roman" panose="02020603050405020304" pitchFamily="18" charset="0"/>
                      </a:endParaRPr>
                    </a:p>
                  </a:txBody>
                  <a:tcPr anchor="ctr">
                    <a:noFill/>
                  </a:tcPr>
                </a:tc>
                <a:tc>
                  <a:txBody>
                    <a:bodyPr/>
                    <a:lstStyle/>
                    <a:p>
                      <a:pPr algn="ctr" fontAlgn="ctr"/>
                      <a:r>
                        <a:rPr lang="en-US" sz="900" b="0" i="0" u="none" strike="noStrike" dirty="0">
                          <a:solidFill>
                            <a:srgbClr val="000000"/>
                          </a:solidFill>
                          <a:effectLst/>
                          <a:latin typeface="+mj-lt"/>
                        </a:rPr>
                        <a:t>583</a:t>
                      </a:r>
                      <a:endParaRPr lang="en-IN" sz="900" b="0" i="0" u="none" strike="noStrike" dirty="0">
                        <a:solidFill>
                          <a:srgbClr val="000000"/>
                        </a:solidFill>
                        <a:effectLst/>
                        <a:latin typeface="+mj-lt"/>
                      </a:endParaRPr>
                    </a:p>
                  </a:txBody>
                  <a:tcPr anchor="ctr">
                    <a:noFill/>
                  </a:tcPr>
                </a:tc>
                <a:tc>
                  <a:txBody>
                    <a:bodyPr/>
                    <a:lstStyle/>
                    <a:p>
                      <a:pPr algn="ctr" fontAlgn="b"/>
                      <a:r>
                        <a:rPr lang="en-US" sz="900" b="0" i="0" u="none" strike="noStrike" dirty="0">
                          <a:solidFill>
                            <a:srgbClr val="000000"/>
                          </a:solidFill>
                          <a:effectLst/>
                          <a:latin typeface="+mj-lt"/>
                        </a:rPr>
                        <a:t>2024</a:t>
                      </a:r>
                      <a:endParaRPr lang="en-IN" sz="900" b="0" i="0" u="none" strike="noStrike" dirty="0">
                        <a:solidFill>
                          <a:srgbClr val="000000"/>
                        </a:solidFill>
                        <a:effectLst/>
                        <a:latin typeface="+mj-lt"/>
                      </a:endParaRPr>
                    </a:p>
                  </a:txBody>
                  <a:tcPr anchor="ctr">
                    <a:noFill/>
                  </a:tcPr>
                </a:tc>
                <a:tc>
                  <a:txBody>
                    <a:bodyPr/>
                    <a:lstStyle/>
                    <a:p>
                      <a:pPr algn="ctr" fontAlgn="b"/>
                      <a:r>
                        <a:rPr lang="en-US" sz="900" b="0" i="0" u="none" strike="noStrike" dirty="0">
                          <a:solidFill>
                            <a:srgbClr val="000000"/>
                          </a:solidFill>
                          <a:effectLst/>
                          <a:latin typeface="+mj-lt"/>
                        </a:rPr>
                        <a:t>United Group</a:t>
                      </a:r>
                      <a:endParaRPr lang="en-IN" sz="900" b="0" i="0" u="none" strike="noStrike" dirty="0">
                        <a:solidFill>
                          <a:srgbClr val="000000"/>
                        </a:solidFill>
                        <a:effectLst/>
                        <a:latin typeface="+mj-lt"/>
                      </a:endParaRPr>
                    </a:p>
                  </a:txBody>
                  <a:tcPr anchor="ctr">
                    <a:noFill/>
                  </a:tcPr>
                </a:tc>
                <a:extLst>
                  <a:ext uri="{0D108BD9-81ED-4DB2-BD59-A6C34878D82A}">
                    <a16:rowId xmlns:a16="http://schemas.microsoft.com/office/drawing/2014/main" val="3212144327"/>
                  </a:ext>
                </a:extLst>
              </a:tr>
              <a:tr h="364570">
                <a:tc>
                  <a:txBody>
                    <a:bodyPr/>
                    <a:lstStyle/>
                    <a:p>
                      <a:pPr marL="0" marR="0" lvl="0" indent="0" algn="l" defTabSz="990571" rtl="0" eaLnBrk="1" fontAlgn="ctr" latinLnBrk="0" hangingPunct="1">
                        <a:lnSpc>
                          <a:spcPct val="100000"/>
                        </a:lnSpc>
                        <a:spcBef>
                          <a:spcPts val="0"/>
                        </a:spcBef>
                        <a:spcAft>
                          <a:spcPts val="0"/>
                        </a:spcAft>
                        <a:buClrTx/>
                        <a:buSzTx/>
                        <a:buFontTx/>
                        <a:buNone/>
                        <a:tabLst/>
                        <a:defRPr/>
                      </a:pPr>
                      <a:r>
                        <a:rPr lang="en-US" sz="900" b="0" dirty="0">
                          <a:effectLst/>
                          <a:latin typeface="+mj-lt"/>
                          <a:ea typeface="Verdana" panose="020B0604030504040204" pitchFamily="34" charset="0"/>
                          <a:cs typeface="Times New Roman" panose="02020603050405020304" pitchFamily="18" charset="0"/>
                        </a:rPr>
                        <a:t>Meghnaghat 500</a:t>
                      </a:r>
                      <a:r>
                        <a:rPr lang="en-US" sz="900" b="0" baseline="0" dirty="0">
                          <a:effectLst/>
                          <a:latin typeface="+mj-lt"/>
                          <a:ea typeface="Verdana" panose="020B0604030504040204" pitchFamily="34" charset="0"/>
                          <a:cs typeface="Times New Roman" panose="02020603050405020304" pitchFamily="18" charset="0"/>
                        </a:rPr>
                        <a:t> MW -  Anlima Textile &amp; GE</a:t>
                      </a:r>
                      <a:endParaRPr lang="en-IN" sz="900" b="0" dirty="0">
                        <a:effectLst/>
                        <a:latin typeface="+mj-lt"/>
                        <a:ea typeface="Verdana" panose="020B0604030504040204" pitchFamily="34" charset="0"/>
                        <a:cs typeface="Times New Roman" panose="02020603050405020304" pitchFamily="18" charset="0"/>
                      </a:endParaRPr>
                    </a:p>
                  </a:txBody>
                  <a:tcPr anchor="ctr">
                    <a:noFill/>
                  </a:tcPr>
                </a:tc>
                <a:tc>
                  <a:txBody>
                    <a:bodyPr/>
                    <a:lstStyle/>
                    <a:p>
                      <a:pPr algn="ctr" fontAlgn="ctr"/>
                      <a:r>
                        <a:rPr lang="en-US" sz="900" b="0" i="0" u="none" strike="noStrike" dirty="0">
                          <a:solidFill>
                            <a:srgbClr val="000000"/>
                          </a:solidFill>
                          <a:effectLst/>
                          <a:latin typeface="+mj-lt"/>
                        </a:rPr>
                        <a:t>450</a:t>
                      </a:r>
                      <a:endParaRPr lang="en-IN" sz="900" b="0" i="0" u="none" strike="noStrike" dirty="0">
                        <a:solidFill>
                          <a:srgbClr val="000000"/>
                        </a:solidFill>
                        <a:effectLst/>
                        <a:latin typeface="+mj-lt"/>
                      </a:endParaRPr>
                    </a:p>
                  </a:txBody>
                  <a:tcPr anchor="ctr">
                    <a:noFill/>
                  </a:tcPr>
                </a:tc>
                <a:tc>
                  <a:txBody>
                    <a:bodyPr/>
                    <a:lstStyle/>
                    <a:p>
                      <a:pPr algn="ctr" fontAlgn="b"/>
                      <a:r>
                        <a:rPr lang="en-US" sz="900" b="0" i="0" u="none" strike="noStrike" dirty="0">
                          <a:solidFill>
                            <a:srgbClr val="000000"/>
                          </a:solidFill>
                          <a:effectLst/>
                          <a:latin typeface="+mj-lt"/>
                        </a:rPr>
                        <a:t>2027-2030</a:t>
                      </a:r>
                      <a:endParaRPr lang="en-IN" sz="900" b="0" i="0" u="none" strike="noStrike" dirty="0">
                        <a:solidFill>
                          <a:srgbClr val="000000"/>
                        </a:solidFill>
                        <a:effectLst/>
                        <a:latin typeface="+mj-lt"/>
                      </a:endParaRPr>
                    </a:p>
                  </a:txBody>
                  <a:tcPr anchor="ctr">
                    <a:noFill/>
                  </a:tcPr>
                </a:tc>
                <a:tc>
                  <a:txBody>
                    <a:bodyPr/>
                    <a:lstStyle/>
                    <a:p>
                      <a:pPr algn="ctr" fontAlgn="b"/>
                      <a:r>
                        <a:rPr lang="en-US" sz="900" b="0" i="0" u="none" strike="noStrike" dirty="0">
                          <a:solidFill>
                            <a:srgbClr val="000000"/>
                          </a:solidFill>
                          <a:effectLst/>
                          <a:latin typeface="+mj-lt"/>
                        </a:rPr>
                        <a:t>Anlima &amp; GE</a:t>
                      </a:r>
                      <a:endParaRPr lang="en-IN" sz="900" b="0" i="0" u="none" strike="noStrike" dirty="0">
                        <a:solidFill>
                          <a:srgbClr val="000000"/>
                        </a:solidFill>
                        <a:effectLst/>
                        <a:latin typeface="+mj-lt"/>
                      </a:endParaRPr>
                    </a:p>
                  </a:txBody>
                  <a:tcPr anchor="ctr">
                    <a:noFill/>
                  </a:tcPr>
                </a:tc>
                <a:extLst>
                  <a:ext uri="{0D108BD9-81ED-4DB2-BD59-A6C34878D82A}">
                    <a16:rowId xmlns:a16="http://schemas.microsoft.com/office/drawing/2014/main" val="1811424072"/>
                  </a:ext>
                </a:extLst>
              </a:tr>
              <a:tr h="364570">
                <a:tc>
                  <a:txBody>
                    <a:bodyPr/>
                    <a:lstStyle/>
                    <a:p>
                      <a:pPr marL="0" marR="0" lvl="0" indent="0" algn="l" defTabSz="990571" rtl="0" eaLnBrk="1" fontAlgn="ctr" latinLnBrk="0" hangingPunct="1">
                        <a:lnSpc>
                          <a:spcPct val="100000"/>
                        </a:lnSpc>
                        <a:spcBef>
                          <a:spcPts val="0"/>
                        </a:spcBef>
                        <a:spcAft>
                          <a:spcPts val="0"/>
                        </a:spcAft>
                        <a:buClrTx/>
                        <a:buSzTx/>
                        <a:buFontTx/>
                        <a:buNone/>
                        <a:tabLst/>
                        <a:defRPr/>
                      </a:pPr>
                      <a:r>
                        <a:rPr lang="en-US" sz="900" b="0" dirty="0">
                          <a:effectLst/>
                          <a:latin typeface="+mj-lt"/>
                          <a:ea typeface="Verdana" panose="020B0604030504040204" pitchFamily="34" charset="0"/>
                          <a:cs typeface="Times New Roman" panose="02020603050405020304" pitchFamily="18" charset="0"/>
                        </a:rPr>
                        <a:t>Meghnaghat UECL</a:t>
                      </a:r>
                      <a:endParaRPr lang="en-IN" sz="900" b="0" dirty="0">
                        <a:effectLst/>
                        <a:latin typeface="+mj-lt"/>
                        <a:ea typeface="Verdana" panose="020B0604030504040204" pitchFamily="34" charset="0"/>
                        <a:cs typeface="Times New Roman" panose="02020603050405020304" pitchFamily="18" charset="0"/>
                      </a:endParaRPr>
                    </a:p>
                    <a:p>
                      <a:pPr marL="0" marR="0" lvl="0" indent="0" algn="l" defTabSz="990571" rtl="0" eaLnBrk="1" fontAlgn="ctr" latinLnBrk="0" hangingPunct="1">
                        <a:lnSpc>
                          <a:spcPct val="100000"/>
                        </a:lnSpc>
                        <a:spcBef>
                          <a:spcPts val="0"/>
                        </a:spcBef>
                        <a:spcAft>
                          <a:spcPts val="0"/>
                        </a:spcAft>
                        <a:buClrTx/>
                        <a:buSzTx/>
                        <a:buFontTx/>
                        <a:buNone/>
                        <a:tabLst/>
                        <a:defRPr/>
                      </a:pPr>
                      <a:endParaRPr lang="en-IN" sz="900" b="0" dirty="0">
                        <a:effectLst/>
                        <a:latin typeface="+mj-lt"/>
                        <a:ea typeface="Verdana" panose="020B0604030504040204" pitchFamily="34" charset="0"/>
                        <a:cs typeface="Times New Roman" panose="02020603050405020304" pitchFamily="18" charset="0"/>
                      </a:endParaRPr>
                    </a:p>
                  </a:txBody>
                  <a:tcPr anchor="ctr">
                    <a:noFill/>
                  </a:tcPr>
                </a:tc>
                <a:tc>
                  <a:txBody>
                    <a:bodyPr/>
                    <a:lstStyle/>
                    <a:p>
                      <a:pPr algn="ctr" fontAlgn="ctr"/>
                      <a:r>
                        <a:rPr lang="en-US" sz="900" b="0" i="0" u="none" strike="noStrike" dirty="0">
                          <a:solidFill>
                            <a:srgbClr val="000000"/>
                          </a:solidFill>
                          <a:effectLst/>
                          <a:latin typeface="+mj-lt"/>
                        </a:rPr>
                        <a:t>450</a:t>
                      </a:r>
                      <a:endParaRPr lang="en-IN" sz="900" b="0" i="0" u="none" strike="noStrike" dirty="0">
                        <a:solidFill>
                          <a:srgbClr val="000000"/>
                        </a:solidFill>
                        <a:effectLst/>
                        <a:latin typeface="+mj-lt"/>
                      </a:endParaRPr>
                    </a:p>
                  </a:txBody>
                  <a:tcPr anchor="ctr">
                    <a:noFill/>
                  </a:tcPr>
                </a:tc>
                <a:tc>
                  <a:txBody>
                    <a:bodyPr/>
                    <a:lstStyle/>
                    <a:p>
                      <a:pPr algn="ctr" fontAlgn="b"/>
                      <a:r>
                        <a:rPr lang="en-US" sz="900" b="0" i="0" u="none" strike="noStrike" kern="1200" dirty="0">
                          <a:solidFill>
                            <a:srgbClr val="000000"/>
                          </a:solidFill>
                          <a:effectLst/>
                          <a:latin typeface="+mj-lt"/>
                          <a:ea typeface="+mn-ea"/>
                          <a:cs typeface="+mn-cs"/>
                        </a:rPr>
                        <a:t>2027-2030</a:t>
                      </a:r>
                      <a:endParaRPr lang="en-IN" sz="900" b="0" i="0" u="none" strike="noStrike" dirty="0">
                        <a:solidFill>
                          <a:srgbClr val="000000"/>
                        </a:solidFill>
                        <a:effectLst/>
                        <a:latin typeface="+mj-lt"/>
                      </a:endParaRPr>
                    </a:p>
                  </a:txBody>
                  <a:tcPr anchor="ctr">
                    <a:noFill/>
                  </a:tcPr>
                </a:tc>
                <a:tc>
                  <a:txBody>
                    <a:bodyPr/>
                    <a:lstStyle/>
                    <a:p>
                      <a:pPr algn="ctr" fontAlgn="b"/>
                      <a:r>
                        <a:rPr lang="en-US" sz="900" b="0" i="0" u="none" strike="noStrike" dirty="0">
                          <a:solidFill>
                            <a:srgbClr val="000000"/>
                          </a:solidFill>
                          <a:effectLst/>
                          <a:latin typeface="+mj-lt"/>
                        </a:rPr>
                        <a:t>Unique Energy</a:t>
                      </a:r>
                      <a:endParaRPr lang="en-IN" sz="900" b="0" i="0" u="none" strike="noStrike" dirty="0">
                        <a:solidFill>
                          <a:srgbClr val="000000"/>
                        </a:solidFill>
                        <a:effectLst/>
                        <a:latin typeface="+mj-lt"/>
                      </a:endParaRPr>
                    </a:p>
                  </a:txBody>
                  <a:tcPr anchor="ctr">
                    <a:noFill/>
                  </a:tcPr>
                </a:tc>
                <a:extLst>
                  <a:ext uri="{0D108BD9-81ED-4DB2-BD59-A6C34878D82A}">
                    <a16:rowId xmlns:a16="http://schemas.microsoft.com/office/drawing/2014/main" val="2367579802"/>
                  </a:ext>
                </a:extLst>
              </a:tr>
            </a:tbl>
          </a:graphicData>
        </a:graphic>
      </p:graphicFrame>
      <p:sp>
        <p:nvSpPr>
          <p:cNvPr id="31" name="Rectangle 30"/>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marL="0" marR="0" lvl="0" indent="0" algn="l" defTabSz="914400"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Industry Reports Deloitte Analysis; Note: 1) Summit 305 MW has been running at duel fuel with HFO due to gas shortage in FY16 and FY17. With increasing gas availability, it is expected to ramp up dispatch  Note 2) Sembcorp 282 MW was commissioned in October 2018 and is expected to ramp up dispatch from FY20 onwards </a:t>
            </a:r>
          </a:p>
        </p:txBody>
      </p:sp>
      <p:sp>
        <p:nvSpPr>
          <p:cNvPr id="32" name="TextBox 31"/>
          <p:cNvSpPr txBox="1"/>
          <p:nvPr/>
        </p:nvSpPr>
        <p:spPr>
          <a:xfrm>
            <a:off x="442912" y="4406784"/>
            <a:ext cx="4734761" cy="307777"/>
          </a:xfrm>
          <a:prstGeom prst="rect">
            <a:avLst/>
          </a:prstGeom>
          <a:noFill/>
        </p:spPr>
        <p:txBody>
          <a:bodyPr wrap="square" lIns="0" tIns="0" rIns="0" bIns="0" rtlCol="0">
            <a:spAutoFit/>
          </a:bodyPr>
          <a:lstStyle/>
          <a:p>
            <a:pPr marL="0" marR="0" lvl="0" indent="0" algn="l" defTabSz="990571" rtl="0" eaLnBrk="1" fontAlgn="auto" latinLnBrk="0" hangingPunct="1">
              <a:lnSpc>
                <a:spcPct val="100000"/>
              </a:lnSpc>
              <a:spcBef>
                <a:spcPts val="0"/>
              </a:spcBef>
              <a:spcAft>
                <a:spcPts val="50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Following table indicates the list of projects for potential investment (</a:t>
            </a:r>
            <a:r>
              <a:rPr kumimoji="0" lang="en-US" sz="1000" b="1" i="0" u="none" strike="noStrike" kern="1200" cap="none" spc="0" normalizeH="0" baseline="0" noProof="0" dirty="0">
                <a:ln>
                  <a:noFill/>
                </a:ln>
                <a:solidFill>
                  <a:prstClr val="black"/>
                </a:solidFill>
                <a:effectLst/>
                <a:uLnTx/>
                <a:uFillTx/>
                <a:latin typeface="Verdana"/>
                <a:ea typeface="+mn-ea"/>
                <a:cs typeface="+mn-cs"/>
              </a:rPr>
              <a:t>commissioned</a:t>
            </a:r>
            <a:r>
              <a:rPr kumimoji="0" lang="en-US" sz="1000" b="0" i="0" u="none" strike="noStrike" kern="1200" cap="none" spc="0" normalizeH="0" baseline="0" noProof="0" dirty="0">
                <a:ln>
                  <a:noFill/>
                </a:ln>
                <a:solidFill>
                  <a:prstClr val="black"/>
                </a:solidFill>
                <a:effectLst/>
                <a:uLnTx/>
                <a:uFillTx/>
                <a:latin typeface="Verdana"/>
                <a:ea typeface="+mn-ea"/>
                <a:cs typeface="+mn-cs"/>
              </a:rPr>
              <a:t> in the last 7 years)</a:t>
            </a:r>
          </a:p>
        </p:txBody>
      </p:sp>
      <p:sp>
        <p:nvSpPr>
          <p:cNvPr id="33" name="TextBox 32"/>
          <p:cNvSpPr txBox="1"/>
          <p:nvPr/>
        </p:nvSpPr>
        <p:spPr>
          <a:xfrm>
            <a:off x="5505442" y="4406784"/>
            <a:ext cx="4734761" cy="307777"/>
          </a:xfrm>
          <a:prstGeom prst="rect">
            <a:avLst/>
          </a:prstGeom>
          <a:noFill/>
        </p:spPr>
        <p:txBody>
          <a:bodyPr wrap="square" lIns="0" tIns="0" rIns="0" bIns="0" rtlCol="0">
            <a:spAutoFit/>
          </a:bodyPr>
          <a:lstStyle/>
          <a:p>
            <a:pPr marL="0" marR="0" lvl="0" indent="0" algn="l" defTabSz="990571" rtl="0" eaLnBrk="1" fontAlgn="auto" latinLnBrk="0" hangingPunct="1">
              <a:lnSpc>
                <a:spcPct val="100000"/>
              </a:lnSpc>
              <a:spcBef>
                <a:spcPts val="0"/>
              </a:spcBef>
              <a:spcAft>
                <a:spcPts val="50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Following table indicates the list of </a:t>
            </a:r>
            <a:r>
              <a:rPr kumimoji="0" lang="en-US" sz="1000" b="1" i="0" u="none" strike="noStrike" kern="1200" cap="none" spc="0" normalizeH="0" baseline="0" noProof="0" dirty="0">
                <a:ln>
                  <a:noFill/>
                </a:ln>
                <a:solidFill>
                  <a:prstClr val="black"/>
                </a:solidFill>
                <a:effectLst/>
                <a:uLnTx/>
                <a:uFillTx/>
                <a:latin typeface="Verdana"/>
                <a:ea typeface="+mn-ea"/>
                <a:cs typeface="+mn-cs"/>
              </a:rPr>
              <a:t>upcoming projects </a:t>
            </a:r>
            <a:r>
              <a:rPr kumimoji="0" lang="en-US" sz="1000" b="0" i="0" u="none" strike="noStrike" kern="1200" cap="none" spc="0" normalizeH="0" baseline="0" noProof="0" dirty="0">
                <a:ln>
                  <a:noFill/>
                </a:ln>
                <a:solidFill>
                  <a:prstClr val="black"/>
                </a:solidFill>
                <a:effectLst/>
                <a:uLnTx/>
                <a:uFillTx/>
                <a:latin typeface="Verdana"/>
                <a:ea typeface="+mn-ea"/>
                <a:cs typeface="+mn-cs"/>
              </a:rPr>
              <a:t>for potential investment opportunity in Bangladesh</a:t>
            </a:r>
          </a:p>
        </p:txBody>
      </p:sp>
    </p:spTree>
    <p:extLst>
      <p:ext uri="{BB962C8B-B14F-4D97-AF65-F5344CB8AC3E}">
        <p14:creationId xmlns:p14="http://schemas.microsoft.com/office/powerpoint/2010/main" val="640446229"/>
      </p:ext>
    </p:extLst>
  </p:cSld>
  <p:clrMapOvr>
    <a:masterClrMapping/>
  </p:clrMapOvr>
  <p:transition>
    <p:fade/>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132708853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3" name="Object 2"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4" name="Title 1"/>
          <p:cNvSpPr>
            <a:spLocks noGrp="1"/>
          </p:cNvSpPr>
          <p:nvPr>
            <p:ph type="title"/>
          </p:nvPr>
        </p:nvSpPr>
        <p:spPr>
          <a:xfrm>
            <a:off x="442913" y="654050"/>
            <a:ext cx="9791700" cy="431800"/>
          </a:xfrm>
        </p:spPr>
        <p:txBody>
          <a:bodyPr/>
          <a:lstStyle/>
          <a:p>
            <a:r>
              <a:rPr lang="en-US" dirty="0"/>
              <a:t>Contract Risk Assessment | Summary</a:t>
            </a:r>
            <a:endParaRPr lang="en-IN" dirty="0"/>
          </a:p>
        </p:txBody>
      </p:sp>
      <p:graphicFrame>
        <p:nvGraphicFramePr>
          <p:cNvPr id="9" name="Table 8"/>
          <p:cNvGraphicFramePr>
            <a:graphicFrameLocks noGrp="1"/>
          </p:cNvGraphicFramePr>
          <p:nvPr>
            <p:extLst>
              <p:ext uri="{D42A27DB-BD31-4B8C-83A1-F6EECF244321}">
                <p14:modId xmlns:p14="http://schemas.microsoft.com/office/powerpoint/2010/main" val="300282189"/>
              </p:ext>
            </p:extLst>
          </p:nvPr>
        </p:nvGraphicFramePr>
        <p:xfrm>
          <a:off x="442910" y="1085850"/>
          <a:ext cx="9791703" cy="5799259"/>
        </p:xfrm>
        <a:graphic>
          <a:graphicData uri="http://schemas.openxmlformats.org/drawingml/2006/table">
            <a:tbl>
              <a:tblPr firstRow="1" bandRow="1">
                <a:tableStyleId>{3B4B98B0-60AC-42C2-AFA5-B58CD77FA1E5}</a:tableStyleId>
              </a:tblPr>
              <a:tblGrid>
                <a:gridCol w="556047">
                  <a:extLst>
                    <a:ext uri="{9D8B030D-6E8A-4147-A177-3AD203B41FA5}">
                      <a16:colId xmlns:a16="http://schemas.microsoft.com/office/drawing/2014/main" val="2534841493"/>
                    </a:ext>
                  </a:extLst>
                </a:gridCol>
                <a:gridCol w="446636">
                  <a:extLst>
                    <a:ext uri="{9D8B030D-6E8A-4147-A177-3AD203B41FA5}">
                      <a16:colId xmlns:a16="http://schemas.microsoft.com/office/drawing/2014/main" val="4207744418"/>
                    </a:ext>
                  </a:extLst>
                </a:gridCol>
                <a:gridCol w="1541547">
                  <a:extLst>
                    <a:ext uri="{9D8B030D-6E8A-4147-A177-3AD203B41FA5}">
                      <a16:colId xmlns:a16="http://schemas.microsoft.com/office/drawing/2014/main" val="546554287"/>
                    </a:ext>
                  </a:extLst>
                </a:gridCol>
                <a:gridCol w="6460885">
                  <a:extLst>
                    <a:ext uri="{9D8B030D-6E8A-4147-A177-3AD203B41FA5}">
                      <a16:colId xmlns:a16="http://schemas.microsoft.com/office/drawing/2014/main" val="2546321411"/>
                    </a:ext>
                  </a:extLst>
                </a:gridCol>
                <a:gridCol w="786588">
                  <a:extLst>
                    <a:ext uri="{9D8B030D-6E8A-4147-A177-3AD203B41FA5}">
                      <a16:colId xmlns:a16="http://schemas.microsoft.com/office/drawing/2014/main" val="1794598962"/>
                    </a:ext>
                  </a:extLst>
                </a:gridCol>
              </a:tblGrid>
              <a:tr h="415291">
                <a:tc>
                  <a:txBody>
                    <a:bodyPr/>
                    <a:lstStyle/>
                    <a:p>
                      <a:r>
                        <a:rPr lang="en-US" sz="1000" b="1" dirty="0"/>
                        <a:t>Doc</a:t>
                      </a:r>
                      <a:endParaRPr lang="en-IN" sz="1000" b="1" dirty="0"/>
                    </a:p>
                  </a:txBody>
                  <a:tcPr anchor="ctr">
                    <a:lnB w="12700" cap="flat" cmpd="sng" algn="ctr">
                      <a:solidFill>
                        <a:schemeClr val="tx1"/>
                      </a:solidFill>
                      <a:prstDash val="solid"/>
                      <a:round/>
                      <a:headEnd type="none" w="med" len="med"/>
                      <a:tailEnd type="none" w="med" len="med"/>
                    </a:lnB>
                  </a:tcPr>
                </a:tc>
                <a:tc>
                  <a:txBody>
                    <a:bodyPr/>
                    <a:lstStyle/>
                    <a:p>
                      <a:r>
                        <a:rPr lang="en-US" sz="1000" dirty="0"/>
                        <a:t>Sr. No</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Parameter</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Key Risk</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Ref Slides</a:t>
                      </a:r>
                      <a:endParaRPr lang="en-IN" sz="1000" b="0" dirty="0"/>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34780871"/>
                  </a:ext>
                </a:extLst>
              </a:tr>
              <a:tr h="706401">
                <a:tc rowSpan="8">
                  <a:txBody>
                    <a:bodyPr/>
                    <a:lstStyle/>
                    <a:p>
                      <a:pPr algn="just">
                        <a:spcAft>
                          <a:spcPts val="500"/>
                        </a:spcAft>
                      </a:pPr>
                      <a:r>
                        <a:rPr lang="en-US" sz="1000" b="1" dirty="0"/>
                        <a:t>PPA</a:t>
                      </a:r>
                      <a:endParaRPr lang="en-IN" sz="1000" b="1" dirty="0"/>
                    </a:p>
                  </a:txBody>
                  <a:tcPr anchor="ct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60000"/>
                        <a:lumOff val="40000"/>
                      </a:schemeClr>
                    </a:solidFill>
                  </a:tcPr>
                </a:tc>
                <a:tc>
                  <a:txBody>
                    <a:bodyPr/>
                    <a:lstStyle/>
                    <a:p>
                      <a:pPr algn="just">
                        <a:spcAft>
                          <a:spcPts val="500"/>
                        </a:spcAft>
                      </a:pPr>
                      <a:r>
                        <a:rPr lang="en-US" sz="1000" dirty="0"/>
                        <a:t>1</a:t>
                      </a:r>
                      <a:endParaRPr lang="en-IN" sz="1000" dirty="0"/>
                    </a:p>
                  </a:txBody>
                  <a:tcPr anchor="ct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Tariff</a:t>
                      </a:r>
                      <a:endParaRPr lang="en-IN" sz="1000" dirty="0"/>
                    </a:p>
                  </a:txBody>
                  <a:tcPr anchor="ct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dirty="0"/>
                        <a:t>Recovery of capacity charge is based on dependable capacity which provides an incentive to achieve a higher dependable capacity. However, there is no such incentive in the O&amp;M contract</a:t>
                      </a:r>
                    </a:p>
                    <a:p>
                      <a:pPr marL="171450" indent="-171450" algn="just">
                        <a:spcAft>
                          <a:spcPts val="500"/>
                        </a:spcAft>
                        <a:buFont typeface="Arial" panose="020B0604020202020204" pitchFamily="34" charset="0"/>
                        <a:buChar char="•"/>
                      </a:pPr>
                      <a:r>
                        <a:rPr lang="en-US" sz="1000" dirty="0"/>
                        <a:t>The Reference Heat Rate is not adjusted for the life of plant (yearly degradation)</a:t>
                      </a:r>
                    </a:p>
                  </a:txBody>
                  <a:tcPr anchor="ct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8">
                  <a:txBody>
                    <a:bodyPr/>
                    <a:lstStyle/>
                    <a:p>
                      <a:r>
                        <a:rPr lang="en-US" sz="1000" b="0" dirty="0"/>
                        <a:t>139-149</a:t>
                      </a:r>
                      <a:endParaRPr lang="en-IN" sz="1000" b="0" dirty="0"/>
                    </a:p>
                  </a:txBody>
                  <a:tcPr anchor="ct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6247871"/>
                  </a:ext>
                </a:extLst>
              </a:tr>
              <a:tr h="506919">
                <a:tc vMerge="1">
                  <a:txBody>
                    <a:bodyPr/>
                    <a:lstStyle/>
                    <a:p>
                      <a:pPr algn="just">
                        <a:spcAft>
                          <a:spcPts val="500"/>
                        </a:spcAft>
                      </a:pPr>
                      <a:endParaRPr lang="en-IN" sz="1000" b="1"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2</a:t>
                      </a:r>
                      <a:endParaRPr lang="en-IN" sz="100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Start-up Payment</a:t>
                      </a:r>
                      <a:endParaRPr lang="en-IN" sz="100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IN" sz="1000" dirty="0">
                          <a:solidFill>
                            <a:schemeClr val="tx1"/>
                          </a:solidFill>
                        </a:rPr>
                        <a:t>Since energy payment</a:t>
                      </a:r>
                      <a:r>
                        <a:rPr lang="en-IN" sz="1000" baseline="0" dirty="0">
                          <a:solidFill>
                            <a:schemeClr val="tx1"/>
                          </a:solidFill>
                        </a:rPr>
                        <a:t> is based on Reference Heat Rate it would most likely be that the fuel consumed during the start-up would be partially recoverable through tariff. Thus for 40 free start-ups Company may have some revenue loss</a:t>
                      </a:r>
                      <a:endParaRPr lang="en-IN" sz="1000" dirty="0">
                        <a:solidFill>
                          <a:schemeClr val="tx1"/>
                        </a:solidFill>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endParaRPr lang="en-IN" sz="1000" b="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282869"/>
                  </a:ext>
                </a:extLst>
              </a:tr>
              <a:tr h="565590">
                <a:tc vMerge="1">
                  <a:txBody>
                    <a:bodyPr/>
                    <a:lstStyle/>
                    <a:p>
                      <a:pPr algn="just">
                        <a:spcAft>
                          <a:spcPts val="500"/>
                        </a:spcAft>
                      </a:pPr>
                      <a:endParaRPr lang="en-IN" sz="1000" b="1" dirty="0"/>
                    </a:p>
                  </a:txBody>
                  <a:tcPr anchor="ct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accent1">
                        <a:lumMod val="60000"/>
                        <a:lumOff val="40000"/>
                      </a:schemeClr>
                    </a:solidFill>
                  </a:tcPr>
                </a:tc>
                <a:tc>
                  <a:txBody>
                    <a:bodyPr/>
                    <a:lstStyle/>
                    <a:p>
                      <a:pPr algn="just">
                        <a:spcAft>
                          <a:spcPts val="500"/>
                        </a:spcAft>
                      </a:pPr>
                      <a:r>
                        <a:rPr lang="en-US" sz="1000" dirty="0"/>
                        <a:t>3</a:t>
                      </a:r>
                      <a:endParaRPr lang="en-IN" sz="100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Supplemental</a:t>
                      </a:r>
                      <a:r>
                        <a:rPr lang="en-US" sz="1000" baseline="0" dirty="0"/>
                        <a:t> Tariff Payment</a:t>
                      </a:r>
                      <a:endParaRPr lang="en-IN" sz="100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dirty="0">
                          <a:solidFill>
                            <a:schemeClr val="tx1"/>
                          </a:solidFill>
                        </a:rPr>
                        <a:t>The</a:t>
                      </a:r>
                      <a:r>
                        <a:rPr lang="en-US" sz="1000" baseline="0" dirty="0">
                          <a:solidFill>
                            <a:schemeClr val="tx1"/>
                          </a:solidFill>
                        </a:rPr>
                        <a:t> applicability of Supplemental Tariff is only if the cost incurred by Company is more than USD 450K</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aseline="0" dirty="0">
                          <a:solidFill>
                            <a:schemeClr val="tx1"/>
                          </a:solidFill>
                        </a:rPr>
                        <a:t>There is no provision for Supplemental Tariff recovery in case of Force Majeure Event</a:t>
                      </a:r>
                      <a:endParaRPr lang="en-IN" sz="1000" dirty="0">
                        <a:solidFill>
                          <a:schemeClr val="tx1"/>
                        </a:solidFill>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endParaRPr lang="en-IN" sz="1000" b="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8501501"/>
                  </a:ext>
                </a:extLst>
              </a:tr>
              <a:tr h="506919">
                <a:tc vMerge="1">
                  <a:txBody>
                    <a:bodyPr/>
                    <a:lstStyle/>
                    <a:p>
                      <a:pPr algn="just">
                        <a:spcAft>
                          <a:spcPts val="500"/>
                        </a:spcAft>
                      </a:pPr>
                      <a:endParaRPr lang="en-IN" sz="1000" b="1"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4</a:t>
                      </a:r>
                      <a:endParaRPr lang="en-IN" sz="100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O&amp;M</a:t>
                      </a:r>
                      <a:endParaRPr lang="en-IN" sz="100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dirty="0"/>
                        <a:t>O&amp;M costs are not pass through and are paid based on a reference rate quoted in the PPA. On the other hand, O&amp;M contracts specifies a flat rate of O&amp;M cost plus escalation. Thus in case the plant</a:t>
                      </a:r>
                      <a:r>
                        <a:rPr lang="en-US" sz="1000" baseline="0" dirty="0"/>
                        <a:t> is not dispatched it could lead to under recovery of the O&amp;M costs</a:t>
                      </a:r>
                      <a:endParaRPr lang="en-IN" sz="100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endParaRPr lang="en-IN" sz="1000" b="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19377891"/>
                  </a:ext>
                </a:extLst>
              </a:tr>
              <a:tr h="259145">
                <a:tc vMerge="1">
                  <a:txBody>
                    <a:bodyPr/>
                    <a:lstStyle/>
                    <a:p>
                      <a:pPr algn="just">
                        <a:spcAft>
                          <a:spcPts val="500"/>
                        </a:spcAft>
                      </a:pPr>
                      <a:endParaRPr lang="en-IN" sz="1000" b="1"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5</a:t>
                      </a:r>
                      <a:endParaRPr lang="en-IN" sz="100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Taxes</a:t>
                      </a:r>
                      <a:endParaRPr lang="en-IN" sz="100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dirty="0"/>
                        <a:t>Taxes are not a pass through except for taxes on fuel/gas</a:t>
                      </a: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endParaRPr lang="en-IN" sz="1000" b="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2543741"/>
                  </a:ext>
                </a:extLst>
              </a:tr>
              <a:tr h="905883">
                <a:tc vMerge="1">
                  <a:txBody>
                    <a:bodyPr/>
                    <a:lstStyle/>
                    <a:p>
                      <a:pPr algn="just">
                        <a:spcAft>
                          <a:spcPts val="500"/>
                        </a:spcAft>
                      </a:pPr>
                      <a:endParaRPr lang="en-IN" sz="1000" b="1" dirty="0"/>
                    </a:p>
                  </a:txBody>
                  <a:tcPr anchor="ct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accent1">
                        <a:lumMod val="60000"/>
                        <a:lumOff val="40000"/>
                      </a:schemeClr>
                    </a:solidFill>
                  </a:tcPr>
                </a:tc>
                <a:tc>
                  <a:txBody>
                    <a:bodyPr/>
                    <a:lstStyle/>
                    <a:p>
                      <a:pPr algn="just">
                        <a:spcAft>
                          <a:spcPts val="500"/>
                        </a:spcAft>
                      </a:pPr>
                      <a:r>
                        <a:rPr lang="en-US" sz="1000" dirty="0"/>
                        <a:t>6</a:t>
                      </a:r>
                      <a:endParaRPr lang="en-IN" sz="100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Usage of Alternate Fuels</a:t>
                      </a:r>
                      <a:endParaRPr lang="en-IN" sz="100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spcAft>
                          <a:spcPts val="500"/>
                        </a:spcAft>
                        <a:buFont typeface="Arial" panose="020B0604020202020204" pitchFamily="34" charset="0"/>
                        <a:buChar char="•"/>
                      </a:pPr>
                      <a:r>
                        <a:rPr lang="en-US" sz="1000" dirty="0"/>
                        <a:t>Right to switch to alternate fuel is provided only to BPDB,</a:t>
                      </a:r>
                      <a:r>
                        <a:rPr lang="en-US" sz="1000" baseline="0" dirty="0"/>
                        <a:t> NBBL </a:t>
                      </a:r>
                      <a:r>
                        <a:rPr lang="en-US" sz="1000" dirty="0"/>
                        <a:t>cannot do it </a:t>
                      </a:r>
                      <a:r>
                        <a:rPr lang="en-US" sz="1000" dirty="0" err="1"/>
                        <a:t>suo</a:t>
                      </a:r>
                      <a:r>
                        <a:rPr lang="en-US" sz="1000" dirty="0"/>
                        <a:t>-moto</a:t>
                      </a:r>
                    </a:p>
                    <a:p>
                      <a:pPr marL="0" indent="0">
                        <a:spcAft>
                          <a:spcPts val="500"/>
                        </a:spcAft>
                        <a:buFont typeface="Arial" panose="020B0604020202020204" pitchFamily="34" charset="0"/>
                        <a:buNone/>
                      </a:pPr>
                      <a:r>
                        <a:rPr lang="en-US" sz="1000" i="1" dirty="0"/>
                        <a:t>In</a:t>
                      </a:r>
                      <a:r>
                        <a:rPr lang="en-US" sz="1000" i="1" baseline="0" dirty="0"/>
                        <a:t> case Gas is not supplied and NVVN raises it as an PE event and BPDB does not give permission to switch even then Capacity Payments would continue to happen, which reduces any financial risk on the project </a:t>
                      </a:r>
                      <a:endParaRPr lang="en-US" sz="1000" i="1"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endParaRPr lang="en-IN" sz="1000" b="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4863018"/>
                  </a:ext>
                </a:extLst>
              </a:tr>
              <a:tr h="565590">
                <a:tc vMerge="1">
                  <a:txBody>
                    <a:bodyPr/>
                    <a:lstStyle/>
                    <a:p>
                      <a:pPr algn="just">
                        <a:spcAft>
                          <a:spcPts val="500"/>
                        </a:spcAft>
                      </a:pPr>
                      <a:endParaRPr lang="en-IN" sz="1000" b="1"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7</a:t>
                      </a:r>
                      <a:endParaRPr lang="en-IN" sz="100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Late Payment</a:t>
                      </a:r>
                      <a:r>
                        <a:rPr lang="en-US" sz="1000" baseline="0" dirty="0"/>
                        <a:t> Fee</a:t>
                      </a:r>
                      <a:endParaRPr lang="en-IN" sz="100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spcAft>
                          <a:spcPts val="500"/>
                        </a:spcAft>
                        <a:buFont typeface="Arial" panose="020B0604020202020204" pitchFamily="34" charset="0"/>
                        <a:buChar char="•"/>
                      </a:pPr>
                      <a:r>
                        <a:rPr lang="en-US" sz="1000" i="0" dirty="0"/>
                        <a:t>The PPA does not have any provision for late payment fee whereas the GSA/FSA/O&amp;M agreements have the same. This could lead to working capital issues</a:t>
                      </a:r>
                      <a:r>
                        <a:rPr lang="en-US" sz="1000" i="1" dirty="0"/>
                        <a:t>. </a:t>
                      </a:r>
                    </a:p>
                    <a:p>
                      <a:pPr marL="0" indent="0">
                        <a:spcAft>
                          <a:spcPts val="500"/>
                        </a:spcAft>
                        <a:buFont typeface="Arial" panose="020B0604020202020204" pitchFamily="34" charset="0"/>
                        <a:buNone/>
                      </a:pPr>
                      <a:r>
                        <a:rPr lang="en-US" sz="1000" i="1" dirty="0"/>
                        <a:t>However, the PPA allows </a:t>
                      </a:r>
                      <a:r>
                        <a:rPr lang="en-US" sz="1000" i="1" dirty="0" err="1"/>
                        <a:t>encashing</a:t>
                      </a:r>
                      <a:r>
                        <a:rPr lang="en-US" sz="1000" i="1" dirty="0"/>
                        <a:t> of LC or  right to suspend in case of payment delays</a:t>
                      </a: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endParaRPr lang="en-IN" sz="1000" b="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5084479"/>
                  </a:ext>
                </a:extLst>
              </a:tr>
              <a:tr h="1046694">
                <a:tc vMerge="1">
                  <a:txBody>
                    <a:bodyPr/>
                    <a:lstStyle/>
                    <a:p>
                      <a:pPr algn="just">
                        <a:spcAft>
                          <a:spcPts val="500"/>
                        </a:spcAft>
                      </a:pPr>
                      <a:endParaRPr lang="en-IN" sz="1000" b="1" dirty="0"/>
                    </a:p>
                  </a:txBody>
                  <a:tcPr anchor="ct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accent1">
                        <a:lumMod val="60000"/>
                        <a:lumOff val="40000"/>
                      </a:schemeClr>
                    </a:solidFill>
                  </a:tcPr>
                </a:tc>
                <a:tc>
                  <a:txBody>
                    <a:bodyPr/>
                    <a:lstStyle/>
                    <a:p>
                      <a:pPr algn="just">
                        <a:spcAft>
                          <a:spcPts val="500"/>
                        </a:spcAft>
                      </a:pPr>
                      <a:r>
                        <a:rPr lang="en-US" sz="1000" dirty="0"/>
                        <a:t>8</a:t>
                      </a:r>
                      <a:endParaRPr lang="en-IN" sz="100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FM/PE situation</a:t>
                      </a:r>
                      <a:endParaRPr lang="en-IN" sz="100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dirty="0"/>
                        <a:t>No restoration cost can be recovered in the case</a:t>
                      </a:r>
                      <a:r>
                        <a:rPr lang="en-US" sz="1000" baseline="0" dirty="0"/>
                        <a:t> of an FM event</a:t>
                      </a:r>
                    </a:p>
                    <a:p>
                      <a:pPr marL="171450" indent="-171450" algn="just">
                        <a:spcAft>
                          <a:spcPts val="500"/>
                        </a:spcAft>
                        <a:buFont typeface="Arial" panose="020B0604020202020204" pitchFamily="34" charset="0"/>
                        <a:buChar char="•"/>
                      </a:pPr>
                      <a:r>
                        <a:rPr lang="en-US" sz="1000" baseline="0" dirty="0"/>
                        <a:t>Also in case FM/PE Event is declared by the Company then the FM/PE Ratio would be dependent on the dependable capacity or 0 in case of non working condition. This would have an impact on the payment of </a:t>
                      </a:r>
                      <a:r>
                        <a:rPr lang="en-US" sz="1000" baseline="0" dirty="0" err="1"/>
                        <a:t>Capaity</a:t>
                      </a:r>
                      <a:r>
                        <a:rPr lang="en-US" sz="1000" baseline="0" dirty="0"/>
                        <a:t> charges. </a:t>
                      </a:r>
                    </a:p>
                    <a:p>
                      <a:pPr marL="171450" indent="-171450" algn="just">
                        <a:spcAft>
                          <a:spcPts val="500"/>
                        </a:spcAft>
                        <a:buFont typeface="Arial" panose="020B0604020202020204" pitchFamily="34" charset="0"/>
                        <a:buChar char="•"/>
                      </a:pPr>
                      <a:r>
                        <a:rPr lang="en-US" sz="1000" baseline="0" dirty="0"/>
                        <a:t>Also since Grid system failure is part of FM event any such failures could lead to under recovery depending on the applicable FM Ratio</a:t>
                      </a: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endParaRPr lang="en-IN" sz="1000" b="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95811926"/>
                  </a:ext>
                </a:extLst>
              </a:tr>
            </a:tbl>
          </a:graphicData>
        </a:graphic>
      </p:graphicFrame>
      <p:sp>
        <p:nvSpPr>
          <p:cNvPr id="10" name="Rectangle 9"/>
          <p:cNvSpPr/>
          <p:nvPr/>
        </p:nvSpPr>
        <p:spPr bwMode="gray">
          <a:xfrm>
            <a:off x="367167" y="7226733"/>
            <a:ext cx="4179454" cy="258504"/>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PPA, GSA,</a:t>
            </a:r>
            <a:r>
              <a:rPr kumimoji="0" lang="en-US" sz="700" b="0" i="1" u="none" strike="noStrike" kern="1200" cap="none" spc="0" normalizeH="0" noProof="0" dirty="0">
                <a:ln>
                  <a:noFill/>
                </a:ln>
                <a:solidFill>
                  <a:prstClr val="black"/>
                </a:solidFill>
                <a:effectLst/>
                <a:uLnTx/>
                <a:uFillTx/>
                <a:latin typeface="Verdana"/>
                <a:ea typeface="+mn-ea"/>
                <a:cs typeface="+mn-cs"/>
              </a:rPr>
              <a:t> FSA</a:t>
            </a:r>
            <a:endParaRPr kumimoji="0" lang="en-IN" sz="700" b="0" i="1"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4197485983"/>
      </p:ext>
    </p:extLst>
  </p:cSld>
  <p:clrMapOvr>
    <a:masterClrMapping/>
  </p:clrMapOvr>
  <p:transition>
    <p:fade/>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132708853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3" name="Object 2"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4" name="Title 1"/>
          <p:cNvSpPr>
            <a:spLocks noGrp="1"/>
          </p:cNvSpPr>
          <p:nvPr>
            <p:ph type="title"/>
          </p:nvPr>
        </p:nvSpPr>
        <p:spPr>
          <a:xfrm>
            <a:off x="442913" y="654050"/>
            <a:ext cx="9791700" cy="431800"/>
          </a:xfrm>
        </p:spPr>
        <p:txBody>
          <a:bodyPr/>
          <a:lstStyle/>
          <a:p>
            <a:r>
              <a:rPr lang="en-US" dirty="0"/>
              <a:t>Contract Risk Assessment | Summary</a:t>
            </a:r>
            <a:endParaRPr lang="en-IN" dirty="0"/>
          </a:p>
        </p:txBody>
      </p:sp>
      <p:graphicFrame>
        <p:nvGraphicFramePr>
          <p:cNvPr id="9" name="Table 8"/>
          <p:cNvGraphicFramePr>
            <a:graphicFrameLocks noGrp="1"/>
          </p:cNvGraphicFramePr>
          <p:nvPr>
            <p:extLst>
              <p:ext uri="{D42A27DB-BD31-4B8C-83A1-F6EECF244321}">
                <p14:modId xmlns:p14="http://schemas.microsoft.com/office/powerpoint/2010/main" val="3732302568"/>
              </p:ext>
            </p:extLst>
          </p:nvPr>
        </p:nvGraphicFramePr>
        <p:xfrm>
          <a:off x="442910" y="1085850"/>
          <a:ext cx="9791703" cy="3634381"/>
        </p:xfrm>
        <a:graphic>
          <a:graphicData uri="http://schemas.openxmlformats.org/drawingml/2006/table">
            <a:tbl>
              <a:tblPr firstRow="1" bandRow="1">
                <a:tableStyleId>{3B4B98B0-60AC-42C2-AFA5-B58CD77FA1E5}</a:tableStyleId>
              </a:tblPr>
              <a:tblGrid>
                <a:gridCol w="556047">
                  <a:extLst>
                    <a:ext uri="{9D8B030D-6E8A-4147-A177-3AD203B41FA5}">
                      <a16:colId xmlns:a16="http://schemas.microsoft.com/office/drawing/2014/main" val="2534841493"/>
                    </a:ext>
                  </a:extLst>
                </a:gridCol>
                <a:gridCol w="446636">
                  <a:extLst>
                    <a:ext uri="{9D8B030D-6E8A-4147-A177-3AD203B41FA5}">
                      <a16:colId xmlns:a16="http://schemas.microsoft.com/office/drawing/2014/main" val="4207744418"/>
                    </a:ext>
                  </a:extLst>
                </a:gridCol>
                <a:gridCol w="1541547">
                  <a:extLst>
                    <a:ext uri="{9D8B030D-6E8A-4147-A177-3AD203B41FA5}">
                      <a16:colId xmlns:a16="http://schemas.microsoft.com/office/drawing/2014/main" val="546554287"/>
                    </a:ext>
                  </a:extLst>
                </a:gridCol>
                <a:gridCol w="6460885">
                  <a:extLst>
                    <a:ext uri="{9D8B030D-6E8A-4147-A177-3AD203B41FA5}">
                      <a16:colId xmlns:a16="http://schemas.microsoft.com/office/drawing/2014/main" val="2546321411"/>
                    </a:ext>
                  </a:extLst>
                </a:gridCol>
                <a:gridCol w="786588">
                  <a:extLst>
                    <a:ext uri="{9D8B030D-6E8A-4147-A177-3AD203B41FA5}">
                      <a16:colId xmlns:a16="http://schemas.microsoft.com/office/drawing/2014/main" val="1794598962"/>
                    </a:ext>
                  </a:extLst>
                </a:gridCol>
              </a:tblGrid>
              <a:tr h="415291">
                <a:tc>
                  <a:txBody>
                    <a:bodyPr/>
                    <a:lstStyle/>
                    <a:p>
                      <a:r>
                        <a:rPr lang="en-US" sz="1000" b="1" dirty="0"/>
                        <a:t>Doc</a:t>
                      </a:r>
                      <a:endParaRPr lang="en-IN" sz="1000" b="1" dirty="0"/>
                    </a:p>
                  </a:txBody>
                  <a:tcPr anchor="ctr">
                    <a:lnB w="12700" cap="flat" cmpd="sng" algn="ctr">
                      <a:solidFill>
                        <a:schemeClr val="tx1"/>
                      </a:solidFill>
                      <a:prstDash val="solid"/>
                      <a:round/>
                      <a:headEnd type="none" w="med" len="med"/>
                      <a:tailEnd type="none" w="med" len="med"/>
                    </a:lnB>
                  </a:tcPr>
                </a:tc>
                <a:tc>
                  <a:txBody>
                    <a:bodyPr/>
                    <a:lstStyle/>
                    <a:p>
                      <a:r>
                        <a:rPr lang="en-US" sz="1000" dirty="0"/>
                        <a:t>Sr. No</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Parameter</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Key Risk</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Ref Slides</a:t>
                      </a:r>
                      <a:endParaRPr lang="en-IN" sz="1000" b="0" dirty="0"/>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34780871"/>
                  </a:ext>
                </a:extLst>
              </a:tr>
              <a:tr h="706401">
                <a:tc rowSpan="5">
                  <a:txBody>
                    <a:bodyPr/>
                    <a:lstStyle/>
                    <a:p>
                      <a:pPr algn="just">
                        <a:spcAft>
                          <a:spcPts val="500"/>
                        </a:spcAft>
                      </a:pPr>
                      <a:r>
                        <a:rPr lang="en-US" sz="1000" b="1" dirty="0"/>
                        <a:t>PPA</a:t>
                      </a:r>
                      <a:endParaRPr lang="en-IN" sz="1000" b="1" dirty="0"/>
                    </a:p>
                  </a:txBody>
                  <a:tcPr anchor="ct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60000"/>
                        <a:lumOff val="40000"/>
                      </a:schemeClr>
                    </a:solidFill>
                  </a:tcPr>
                </a:tc>
                <a:tc>
                  <a:txBody>
                    <a:bodyPr/>
                    <a:lstStyle/>
                    <a:p>
                      <a:pPr algn="just">
                        <a:spcAft>
                          <a:spcPts val="500"/>
                        </a:spcAft>
                      </a:pPr>
                      <a:r>
                        <a:rPr lang="en-US" sz="1000" dirty="0"/>
                        <a:t>9</a:t>
                      </a:r>
                      <a:endParaRPr lang="en-IN" sz="1000" dirty="0"/>
                    </a:p>
                  </a:txBody>
                  <a:tcPr anchor="ct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Termination</a:t>
                      </a:r>
                      <a:endParaRPr lang="en-IN" sz="1000" dirty="0"/>
                    </a:p>
                  </a:txBody>
                  <a:tcPr anchor="ct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dirty="0"/>
                        <a:t>There is not provision of mutual termination or any exit clause in the PPA</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aseline="0" dirty="0"/>
                        <a:t>Payment in case of Company Event of Default is only for any outstanding loans, debts and winding up costs. No compensation for equity investments would be provided</a:t>
                      </a:r>
                    </a:p>
                  </a:txBody>
                  <a:tcPr anchor="ct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5">
                  <a:txBody>
                    <a:bodyPr/>
                    <a:lstStyle/>
                    <a:p>
                      <a:r>
                        <a:rPr lang="en-US" sz="1000" b="0" dirty="0"/>
                        <a:t>150-156</a:t>
                      </a:r>
                      <a:endParaRPr lang="en-IN" sz="1000" b="0" dirty="0"/>
                    </a:p>
                  </a:txBody>
                  <a:tcPr anchor="ct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6247871"/>
                  </a:ext>
                </a:extLst>
              </a:tr>
              <a:tr h="506919">
                <a:tc vMerge="1">
                  <a:txBody>
                    <a:bodyPr/>
                    <a:lstStyle/>
                    <a:p>
                      <a:pPr algn="just">
                        <a:spcAft>
                          <a:spcPts val="500"/>
                        </a:spcAft>
                      </a:pPr>
                      <a:endParaRPr lang="en-IN" sz="1000" b="1"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10</a:t>
                      </a:r>
                      <a:endParaRPr lang="en-IN" sz="100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Offtake Guarantee</a:t>
                      </a:r>
                      <a:endParaRPr lang="en-IN" sz="100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dirty="0"/>
                        <a:t>No offtake guarantee is</a:t>
                      </a:r>
                      <a:r>
                        <a:rPr lang="en-US" sz="1000" baseline="0" dirty="0"/>
                        <a:t> a risk </a:t>
                      </a:r>
                      <a:endParaRPr lang="en-US" sz="1000" i="1" baseline="0" dirty="0"/>
                    </a:p>
                    <a:p>
                      <a:pPr marL="0" indent="0" algn="just">
                        <a:spcAft>
                          <a:spcPts val="500"/>
                        </a:spcAft>
                        <a:buFont typeface="Arial" panose="020B0604020202020204" pitchFamily="34" charset="0"/>
                        <a:buNone/>
                      </a:pPr>
                      <a:r>
                        <a:rPr lang="en-US" sz="1000" i="1" baseline="0" dirty="0"/>
                        <a:t>However since capacity payments are guaranteed this could be acceptable</a:t>
                      </a:r>
                      <a:endParaRPr lang="en-US" sz="1000" i="1"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endParaRPr lang="en-IN" sz="1000" b="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282869"/>
                  </a:ext>
                </a:extLst>
              </a:tr>
              <a:tr h="565590">
                <a:tc vMerge="1">
                  <a:txBody>
                    <a:bodyPr/>
                    <a:lstStyle/>
                    <a:p>
                      <a:pPr algn="just">
                        <a:spcAft>
                          <a:spcPts val="500"/>
                        </a:spcAft>
                      </a:pPr>
                      <a:endParaRPr lang="en-IN" sz="1000" b="1" dirty="0"/>
                    </a:p>
                  </a:txBody>
                  <a:tcPr anchor="ct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accent1">
                        <a:lumMod val="60000"/>
                        <a:lumOff val="40000"/>
                      </a:schemeClr>
                    </a:solidFill>
                  </a:tcPr>
                </a:tc>
                <a:tc>
                  <a:txBody>
                    <a:bodyPr/>
                    <a:lstStyle/>
                    <a:p>
                      <a:pPr algn="just">
                        <a:spcAft>
                          <a:spcPts val="500"/>
                        </a:spcAft>
                      </a:pPr>
                      <a:r>
                        <a:rPr lang="en-US" sz="1000" dirty="0"/>
                        <a:t>11</a:t>
                      </a:r>
                      <a:endParaRPr lang="en-IN" sz="100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LD</a:t>
                      </a:r>
                      <a:r>
                        <a:rPr lang="en-US" sz="1000" baseline="0" dirty="0"/>
                        <a:t> due to Forced Outage</a:t>
                      </a:r>
                      <a:endParaRPr lang="en-IN" sz="100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dirty="0"/>
                        <a:t>O&amp;M has a back to back LD clause with a Cap of 10% of Base Fee. There is no</a:t>
                      </a:r>
                      <a:r>
                        <a:rPr lang="en-US" sz="1000" baseline="0" dirty="0"/>
                        <a:t> such cap mentioned in the PPA</a:t>
                      </a: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endParaRPr lang="en-IN" sz="1000" b="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8501501"/>
                  </a:ext>
                </a:extLst>
              </a:tr>
              <a:tr h="506919">
                <a:tc vMerge="1">
                  <a:txBody>
                    <a:bodyPr/>
                    <a:lstStyle/>
                    <a:p>
                      <a:pPr algn="just">
                        <a:spcAft>
                          <a:spcPts val="500"/>
                        </a:spcAft>
                      </a:pPr>
                      <a:endParaRPr lang="en-IN" sz="1000" b="1"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12</a:t>
                      </a:r>
                      <a:endParaRPr lang="en-IN" sz="100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LD due to Declaration &amp; Delivery of Available</a:t>
                      </a:r>
                      <a:r>
                        <a:rPr lang="en-US" sz="1000" baseline="0" dirty="0"/>
                        <a:t> Capacity</a:t>
                      </a:r>
                      <a:endParaRPr lang="en-IN" sz="100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dirty="0"/>
                        <a:t>O&amp;M has a back to back LD clause with a Cap of 10% of Base Fee. There is no</a:t>
                      </a:r>
                      <a:r>
                        <a:rPr lang="en-US" sz="1000" baseline="0" dirty="0"/>
                        <a:t> such cap mentioned in the PPA</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dirty="0"/>
                        <a:t>After beginning of day:</a:t>
                      </a:r>
                      <a:r>
                        <a:rPr lang="en-US" sz="1000" b="0" baseline="0" dirty="0"/>
                        <a:t> No back to back clause in the O&amp;M agreement </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t>Failure for dispatch: No back to back clause</a:t>
                      </a:r>
                      <a:endParaRPr lang="en-US" sz="1000" b="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endParaRPr lang="en-IN" sz="1000" b="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19377891"/>
                  </a:ext>
                </a:extLst>
              </a:tr>
              <a:tr h="259145">
                <a:tc vMerge="1">
                  <a:txBody>
                    <a:bodyPr/>
                    <a:lstStyle/>
                    <a:p>
                      <a:pPr algn="just">
                        <a:spcAft>
                          <a:spcPts val="500"/>
                        </a:spcAft>
                      </a:pPr>
                      <a:endParaRPr lang="en-IN" sz="1000" b="1"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13</a:t>
                      </a:r>
                      <a:endParaRPr lang="en-IN" sz="100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Operating Norms</a:t>
                      </a:r>
                      <a:endParaRPr lang="en-IN" sz="100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spcAft>
                          <a:spcPts val="500"/>
                        </a:spcAft>
                        <a:buFont typeface="Arial" panose="020B0604020202020204" pitchFamily="34" charset="0"/>
                        <a:buChar char="•"/>
                      </a:pPr>
                      <a:r>
                        <a:rPr lang="en-US" sz="1000" baseline="0" dirty="0"/>
                        <a:t>For Gas Operation, the reference heat rate is higher in the PPA only for 100% plant factor</a:t>
                      </a:r>
                    </a:p>
                    <a:p>
                      <a:pPr marL="171450" indent="-171450">
                        <a:spcAft>
                          <a:spcPts val="500"/>
                        </a:spcAft>
                        <a:buFont typeface="Arial" panose="020B0604020202020204" pitchFamily="34" charset="0"/>
                        <a:buChar char="•"/>
                      </a:pPr>
                      <a:r>
                        <a:rPr lang="en-US" sz="1000" baseline="0" dirty="0"/>
                        <a:t>For Fuel Operation, the reference heat rate is the same for 100% Plant factor, but is lower for PPA reference rate at all other plant factors</a:t>
                      </a: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endParaRPr lang="en-IN" sz="1000" b="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2543741"/>
                  </a:ext>
                </a:extLst>
              </a:tr>
            </a:tbl>
          </a:graphicData>
        </a:graphic>
      </p:graphicFrame>
      <p:sp>
        <p:nvSpPr>
          <p:cNvPr id="10" name="Rectangle 9"/>
          <p:cNvSpPr/>
          <p:nvPr/>
        </p:nvSpPr>
        <p:spPr bwMode="gray">
          <a:xfrm>
            <a:off x="367167" y="7226733"/>
            <a:ext cx="4179454" cy="258504"/>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PPA, GSA,</a:t>
            </a:r>
            <a:r>
              <a:rPr kumimoji="0" lang="en-US" sz="700" b="0" i="1" u="none" strike="noStrike" kern="1200" cap="none" spc="0" normalizeH="0" noProof="0" dirty="0">
                <a:ln>
                  <a:noFill/>
                </a:ln>
                <a:solidFill>
                  <a:prstClr val="black"/>
                </a:solidFill>
                <a:effectLst/>
                <a:uLnTx/>
                <a:uFillTx/>
                <a:latin typeface="Verdana"/>
                <a:ea typeface="+mn-ea"/>
                <a:cs typeface="+mn-cs"/>
              </a:rPr>
              <a:t> FSA</a:t>
            </a:r>
            <a:endParaRPr kumimoji="0" lang="en-IN" sz="700" b="0" i="1"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795528878"/>
      </p:ext>
    </p:extLst>
  </p:cSld>
  <p:clrMapOvr>
    <a:masterClrMapping/>
  </p:clrMapOvr>
  <p:transition>
    <p:fade/>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132708853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3" name="Object 2"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4" name="Title 1"/>
          <p:cNvSpPr>
            <a:spLocks noGrp="1"/>
          </p:cNvSpPr>
          <p:nvPr>
            <p:ph type="title"/>
          </p:nvPr>
        </p:nvSpPr>
        <p:spPr>
          <a:xfrm>
            <a:off x="442913" y="654050"/>
            <a:ext cx="9791700" cy="431800"/>
          </a:xfrm>
        </p:spPr>
        <p:txBody>
          <a:bodyPr/>
          <a:lstStyle/>
          <a:p>
            <a:r>
              <a:rPr lang="en-US" dirty="0"/>
              <a:t>Contract Risk Assessment | Summary</a:t>
            </a:r>
            <a:endParaRPr lang="en-IN" dirty="0"/>
          </a:p>
        </p:txBody>
      </p:sp>
      <p:graphicFrame>
        <p:nvGraphicFramePr>
          <p:cNvPr id="9" name="Table 8"/>
          <p:cNvGraphicFramePr>
            <a:graphicFrameLocks noGrp="1"/>
          </p:cNvGraphicFramePr>
          <p:nvPr>
            <p:extLst>
              <p:ext uri="{D42A27DB-BD31-4B8C-83A1-F6EECF244321}">
                <p14:modId xmlns:p14="http://schemas.microsoft.com/office/powerpoint/2010/main" val="3274465796"/>
              </p:ext>
            </p:extLst>
          </p:nvPr>
        </p:nvGraphicFramePr>
        <p:xfrm>
          <a:off x="442910" y="1085850"/>
          <a:ext cx="9791703" cy="4612930"/>
        </p:xfrm>
        <a:graphic>
          <a:graphicData uri="http://schemas.openxmlformats.org/drawingml/2006/table">
            <a:tbl>
              <a:tblPr firstRow="1" bandRow="1">
                <a:tableStyleId>{3B4B98B0-60AC-42C2-AFA5-B58CD77FA1E5}</a:tableStyleId>
              </a:tblPr>
              <a:tblGrid>
                <a:gridCol w="556047">
                  <a:extLst>
                    <a:ext uri="{9D8B030D-6E8A-4147-A177-3AD203B41FA5}">
                      <a16:colId xmlns:a16="http://schemas.microsoft.com/office/drawing/2014/main" val="2534841493"/>
                    </a:ext>
                  </a:extLst>
                </a:gridCol>
                <a:gridCol w="446636">
                  <a:extLst>
                    <a:ext uri="{9D8B030D-6E8A-4147-A177-3AD203B41FA5}">
                      <a16:colId xmlns:a16="http://schemas.microsoft.com/office/drawing/2014/main" val="4207744418"/>
                    </a:ext>
                  </a:extLst>
                </a:gridCol>
                <a:gridCol w="1541547">
                  <a:extLst>
                    <a:ext uri="{9D8B030D-6E8A-4147-A177-3AD203B41FA5}">
                      <a16:colId xmlns:a16="http://schemas.microsoft.com/office/drawing/2014/main" val="546554287"/>
                    </a:ext>
                  </a:extLst>
                </a:gridCol>
                <a:gridCol w="6460885">
                  <a:extLst>
                    <a:ext uri="{9D8B030D-6E8A-4147-A177-3AD203B41FA5}">
                      <a16:colId xmlns:a16="http://schemas.microsoft.com/office/drawing/2014/main" val="2546321411"/>
                    </a:ext>
                  </a:extLst>
                </a:gridCol>
                <a:gridCol w="786588">
                  <a:extLst>
                    <a:ext uri="{9D8B030D-6E8A-4147-A177-3AD203B41FA5}">
                      <a16:colId xmlns:a16="http://schemas.microsoft.com/office/drawing/2014/main" val="1794598962"/>
                    </a:ext>
                  </a:extLst>
                </a:gridCol>
              </a:tblGrid>
              <a:tr h="310170">
                <a:tc>
                  <a:txBody>
                    <a:bodyPr/>
                    <a:lstStyle/>
                    <a:p>
                      <a:r>
                        <a:rPr lang="en-US" sz="1000" b="1" dirty="0"/>
                        <a:t>Doc</a:t>
                      </a:r>
                      <a:endParaRPr lang="en-IN" sz="1000" b="1" dirty="0"/>
                    </a:p>
                  </a:txBody>
                  <a:tcPr anchor="ctr">
                    <a:lnB w="12700" cap="flat" cmpd="sng" algn="ctr">
                      <a:solidFill>
                        <a:schemeClr val="tx1"/>
                      </a:solidFill>
                      <a:prstDash val="solid"/>
                      <a:round/>
                      <a:headEnd type="none" w="med" len="med"/>
                      <a:tailEnd type="none" w="med" len="med"/>
                    </a:lnB>
                  </a:tcPr>
                </a:tc>
                <a:tc>
                  <a:txBody>
                    <a:bodyPr/>
                    <a:lstStyle/>
                    <a:p>
                      <a:r>
                        <a:rPr lang="en-US" sz="1000" dirty="0"/>
                        <a:t>Sr. No</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Parameter</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Key Risk</a:t>
                      </a:r>
                      <a:endParaRPr lang="en-IN" sz="1000" b="0" dirty="0"/>
                    </a:p>
                  </a:txBody>
                  <a:tcPr anchor="ctr">
                    <a:lnB w="12700" cap="flat" cmpd="sng" algn="ctr">
                      <a:solidFill>
                        <a:schemeClr val="tx1"/>
                      </a:solidFill>
                      <a:prstDash val="solid"/>
                      <a:round/>
                      <a:headEnd type="none" w="med" len="med"/>
                      <a:tailEnd type="none" w="med" len="med"/>
                    </a:lnB>
                  </a:tcPr>
                </a:tc>
                <a:tc>
                  <a:txBody>
                    <a:bodyPr/>
                    <a:lstStyle/>
                    <a:p>
                      <a:r>
                        <a:rPr lang="en-US" sz="1000" dirty="0"/>
                        <a:t>Ref Slides</a:t>
                      </a:r>
                      <a:endParaRPr lang="en-IN" sz="1000" b="0" dirty="0"/>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34780871"/>
                  </a:ext>
                </a:extLst>
              </a:tr>
              <a:tr h="359877">
                <a:tc rowSpan="2">
                  <a:txBody>
                    <a:bodyPr/>
                    <a:lstStyle/>
                    <a:p>
                      <a:pPr algn="just">
                        <a:spcAft>
                          <a:spcPts val="500"/>
                        </a:spcAft>
                      </a:pPr>
                      <a:r>
                        <a:rPr lang="en-US" sz="1000" b="1" dirty="0"/>
                        <a:t>GSA</a:t>
                      </a:r>
                      <a:endParaRPr lang="en-IN" sz="1000" b="1" dirty="0"/>
                    </a:p>
                  </a:txBody>
                  <a:tcPr anchor="ct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accent1">
                        <a:lumMod val="60000"/>
                        <a:lumOff val="40000"/>
                      </a:schemeClr>
                    </a:solidFill>
                  </a:tcPr>
                </a:tc>
                <a:tc>
                  <a:txBody>
                    <a:bodyPr/>
                    <a:lstStyle/>
                    <a:p>
                      <a:pPr algn="just">
                        <a:spcAft>
                          <a:spcPts val="500"/>
                        </a:spcAft>
                      </a:pPr>
                      <a:r>
                        <a:rPr lang="en-US" sz="1000" dirty="0"/>
                        <a:t>1</a:t>
                      </a:r>
                      <a:endParaRPr lang="en-IN" sz="100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Billing &amp; Payment</a:t>
                      </a:r>
                      <a:endParaRPr lang="en-IN" sz="100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dirty="0"/>
                        <a:t>There is no performance guarantee from the supplier</a:t>
                      </a:r>
                    </a:p>
                    <a:p>
                      <a:pPr marL="171450" indent="-171450" algn="just">
                        <a:spcAft>
                          <a:spcPts val="500"/>
                        </a:spcAft>
                        <a:buFont typeface="Arial" panose="020B0604020202020204" pitchFamily="34" charset="0"/>
                        <a:buChar char="•"/>
                      </a:pPr>
                      <a:r>
                        <a:rPr lang="en-US" sz="1000" dirty="0"/>
                        <a:t>Late payment fee applicable which is not there in case of the PPA</a:t>
                      </a:r>
                      <a:endParaRPr lang="en-IN" sz="100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2">
                  <a:txBody>
                    <a:bodyPr/>
                    <a:lstStyle/>
                    <a:p>
                      <a:r>
                        <a:rPr lang="en-US" sz="1000" b="0" dirty="0"/>
                        <a:t>157-160</a:t>
                      </a:r>
                      <a:endParaRPr lang="en-IN" sz="1000" b="0" dirty="0"/>
                    </a:p>
                  </a:txBody>
                  <a:tcPr anchor="ct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6247871"/>
                  </a:ext>
                </a:extLst>
              </a:tr>
              <a:tr h="310170">
                <a:tc vMerge="1">
                  <a:txBody>
                    <a:bodyPr/>
                    <a:lstStyle/>
                    <a:p>
                      <a:pPr algn="just">
                        <a:spcAft>
                          <a:spcPts val="500"/>
                        </a:spcAft>
                      </a:pPr>
                      <a:endParaRPr lang="en-IN" sz="1000" b="1"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2</a:t>
                      </a:r>
                      <a:endParaRPr lang="en-IN" sz="1000" dirty="0"/>
                    </a:p>
                  </a:txBody>
                  <a:tcPr anchor="ct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Gas Supplier Event of Default</a:t>
                      </a:r>
                      <a:endParaRPr lang="en-IN" sz="1000" dirty="0"/>
                    </a:p>
                  </a:txBody>
                  <a:tcPr anchor="ct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dirty="0"/>
                        <a:t>Only supply below 50% is Gas Supplier Event of Default </a:t>
                      </a:r>
                      <a:endParaRPr lang="en-IN" sz="1000" dirty="0"/>
                    </a:p>
                  </a:txBody>
                  <a:tcPr anchor="ct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vMerge="1">
                  <a:txBody>
                    <a:bodyPr/>
                    <a:lstStyle/>
                    <a:p>
                      <a:endParaRPr lang="en-IN" sz="1000" b="0" dirty="0"/>
                    </a:p>
                  </a:txBody>
                  <a:tcPr anchor="ct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282869"/>
                  </a:ext>
                </a:extLst>
              </a:tr>
              <a:tr h="310170">
                <a:tc rowSpan="2">
                  <a:txBody>
                    <a:bodyPr/>
                    <a:lstStyle/>
                    <a:p>
                      <a:pPr algn="just">
                        <a:spcAft>
                          <a:spcPts val="500"/>
                        </a:spcAft>
                      </a:pPr>
                      <a:r>
                        <a:rPr lang="en-US" sz="1000" b="1" dirty="0"/>
                        <a:t>FSA</a:t>
                      </a:r>
                      <a:endParaRPr lang="en-IN" sz="1000" b="1" dirty="0"/>
                    </a:p>
                  </a:txBody>
                  <a:tcPr anchor="ct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accent1">
                        <a:lumMod val="60000"/>
                        <a:lumOff val="40000"/>
                      </a:schemeClr>
                    </a:solidFill>
                  </a:tcPr>
                </a:tc>
                <a:tc>
                  <a:txBody>
                    <a:bodyPr/>
                    <a:lstStyle/>
                    <a:p>
                      <a:pPr algn="just">
                        <a:spcAft>
                          <a:spcPts val="500"/>
                        </a:spcAft>
                      </a:pPr>
                      <a:r>
                        <a:rPr lang="en-US" sz="1000" dirty="0"/>
                        <a:t>2</a:t>
                      </a:r>
                      <a:endParaRPr lang="en-IN" sz="1000" dirty="0"/>
                    </a:p>
                  </a:txBody>
                  <a:tcPr anchor="ct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Billing &amp; Payment</a:t>
                      </a:r>
                      <a:endParaRPr lang="en-IN" sz="1000" dirty="0"/>
                    </a:p>
                  </a:txBody>
                  <a:tcPr anchor="ct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dirty="0"/>
                        <a:t>Payment for Fuel is to be made before delivery while corresponding recovery through sale of power is made 30 days after invoicing power sold</a:t>
                      </a:r>
                      <a:endParaRPr lang="en-US" sz="1000" baseline="0" dirty="0"/>
                    </a:p>
                  </a:txBody>
                  <a:tcPr anchor="ct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2">
                  <a:txBody>
                    <a:bodyPr/>
                    <a:lstStyle/>
                    <a:p>
                      <a:r>
                        <a:rPr lang="en-US" sz="1000" b="0" dirty="0"/>
                        <a:t>161-164</a:t>
                      </a:r>
                      <a:endParaRPr lang="en-IN" sz="1000" b="0" dirty="0"/>
                    </a:p>
                  </a:txBody>
                  <a:tcPr anchor="ct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2919377891"/>
                  </a:ext>
                </a:extLst>
              </a:tr>
              <a:tr h="310170">
                <a:tc vMerge="1">
                  <a:txBody>
                    <a:bodyPr/>
                    <a:lstStyle/>
                    <a:p>
                      <a:pPr algn="just">
                        <a:spcAft>
                          <a:spcPts val="500"/>
                        </a:spcAft>
                      </a:pPr>
                      <a:endParaRPr lang="en-IN" sz="1000" b="1"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3</a:t>
                      </a:r>
                      <a:endParaRPr lang="en-IN" sz="1000" dirty="0"/>
                    </a:p>
                  </a:txBody>
                  <a:tcPr anchor="ct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Fuel Supplier Event of Default</a:t>
                      </a:r>
                      <a:endParaRPr lang="en-IN" sz="1000" dirty="0"/>
                    </a:p>
                  </a:txBody>
                  <a:tcPr anchor="ct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aseline="0" dirty="0"/>
                        <a:t>There is no penalty if the aggregate supply in a year is greater than 50%</a:t>
                      </a:r>
                    </a:p>
                  </a:txBody>
                  <a:tcPr anchor="ct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vMerge="1">
                  <a:txBody>
                    <a:bodyPr/>
                    <a:lstStyle/>
                    <a:p>
                      <a:endParaRPr lang="en-IN" sz="1000" b="0" dirty="0"/>
                    </a:p>
                  </a:txBody>
                  <a:tcPr anchor="ct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2543741"/>
                  </a:ext>
                </a:extLst>
              </a:tr>
              <a:tr h="310170">
                <a:tc rowSpan="3">
                  <a:txBody>
                    <a:bodyPr/>
                    <a:lstStyle/>
                    <a:p>
                      <a:pPr algn="just">
                        <a:spcAft>
                          <a:spcPts val="500"/>
                        </a:spcAft>
                      </a:pPr>
                      <a:r>
                        <a:rPr lang="en-US" sz="1000" b="1" dirty="0"/>
                        <a:t>O&amp;M</a:t>
                      </a:r>
                      <a:endParaRPr lang="en-IN" sz="1000" b="1" dirty="0"/>
                    </a:p>
                  </a:txBody>
                  <a:tcPr anchor="ct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accent1">
                        <a:lumMod val="60000"/>
                        <a:lumOff val="40000"/>
                      </a:schemeClr>
                    </a:solidFill>
                  </a:tcPr>
                </a:tc>
                <a:tc>
                  <a:txBody>
                    <a:bodyPr/>
                    <a:lstStyle/>
                    <a:p>
                      <a:pPr algn="just">
                        <a:spcAft>
                          <a:spcPts val="500"/>
                        </a:spcAft>
                      </a:pPr>
                      <a:r>
                        <a:rPr lang="en-US" sz="1000" dirty="0"/>
                        <a:t>1</a:t>
                      </a:r>
                      <a:endParaRPr lang="en-IN" sz="1000" dirty="0"/>
                    </a:p>
                  </a:txBody>
                  <a:tcPr anchor="ct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Penalty</a:t>
                      </a:r>
                      <a:r>
                        <a:rPr lang="en-US" sz="1000" baseline="0" dirty="0"/>
                        <a:t> Mechanism</a:t>
                      </a:r>
                      <a:endParaRPr lang="en-IN" sz="1000" dirty="0"/>
                    </a:p>
                  </a:txBody>
                  <a:tcPr anchor="ct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i="0" dirty="0"/>
                        <a:t>Liquidated</a:t>
                      </a:r>
                      <a:r>
                        <a:rPr lang="en-US" sz="1000" i="0" baseline="0" dirty="0"/>
                        <a:t> Damages are capped for O&amp;M Agreement</a:t>
                      </a:r>
                      <a:endParaRPr lang="en-US" sz="1000" i="0" dirty="0"/>
                    </a:p>
                  </a:txBody>
                  <a:tcPr anchor="ct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3">
                  <a:txBody>
                    <a:bodyPr/>
                    <a:lstStyle/>
                    <a:p>
                      <a:r>
                        <a:rPr lang="en-US" sz="1000" b="0" dirty="0"/>
                        <a:t>165-168</a:t>
                      </a:r>
                      <a:endParaRPr lang="en-IN" sz="1000" b="0" dirty="0"/>
                    </a:p>
                  </a:txBody>
                  <a:tcPr anchor="ct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4863018"/>
                  </a:ext>
                </a:extLst>
              </a:tr>
              <a:tr h="228554">
                <a:tc vMerge="1">
                  <a:txBody>
                    <a:bodyPr/>
                    <a:lstStyle/>
                    <a:p>
                      <a:pPr algn="just">
                        <a:spcAft>
                          <a:spcPts val="500"/>
                        </a:spcAft>
                      </a:pPr>
                      <a:endParaRPr lang="en-IN" sz="1000" b="1"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2</a:t>
                      </a:r>
                      <a:endParaRPr lang="en-IN" sz="100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Base Fees</a:t>
                      </a:r>
                      <a:endParaRPr lang="en-IN" sz="100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aseline="0" dirty="0"/>
                        <a:t>No provision for incentive payments for higher dependable capacity</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endParaRPr lang="en-IN" sz="1000" b="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5084479"/>
                  </a:ext>
                </a:extLst>
              </a:tr>
              <a:tr h="310170">
                <a:tc vMerge="1">
                  <a:txBody>
                    <a:bodyPr/>
                    <a:lstStyle/>
                    <a:p>
                      <a:pPr algn="just">
                        <a:spcAft>
                          <a:spcPts val="500"/>
                        </a:spcAft>
                      </a:pPr>
                      <a:endParaRPr lang="en-IN" sz="1000" b="1"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3</a:t>
                      </a:r>
                      <a:endParaRPr lang="en-IN" sz="1000" dirty="0"/>
                    </a:p>
                  </a:txBody>
                  <a:tcPr anchor="ct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Billing &amp; Payment</a:t>
                      </a:r>
                      <a:endParaRPr lang="en-IN" sz="1000" dirty="0"/>
                    </a:p>
                  </a:txBody>
                  <a:tcPr anchor="ct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dirty="0"/>
                        <a:t>NBBL is liable to pay late payment charges in case of delay in payment. However there is no back to back clause for the same in the PPA</a:t>
                      </a:r>
                      <a:endParaRPr lang="en-IN" sz="1000" dirty="0"/>
                    </a:p>
                  </a:txBody>
                  <a:tcPr anchor="ct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vMerge="1">
                  <a:txBody>
                    <a:bodyPr/>
                    <a:lstStyle/>
                    <a:p>
                      <a:endParaRPr lang="en-IN" sz="1000" b="0" dirty="0"/>
                    </a:p>
                  </a:txBody>
                  <a:tcPr anchor="ct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3493903"/>
                  </a:ext>
                </a:extLst>
              </a:tr>
              <a:tr h="310170">
                <a:tc rowSpan="2">
                  <a:txBody>
                    <a:bodyPr/>
                    <a:lstStyle/>
                    <a:p>
                      <a:pPr algn="just">
                        <a:spcAft>
                          <a:spcPts val="500"/>
                        </a:spcAft>
                      </a:pPr>
                      <a:r>
                        <a:rPr lang="en-US" sz="1000" b="1" dirty="0"/>
                        <a:t>IA</a:t>
                      </a:r>
                      <a:endParaRPr lang="en-IN" sz="1000" b="1" dirty="0"/>
                    </a:p>
                  </a:txBody>
                  <a:tcPr anchor="ct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accent1">
                        <a:lumMod val="60000"/>
                        <a:lumOff val="40000"/>
                      </a:schemeClr>
                    </a:solidFill>
                  </a:tcPr>
                </a:tc>
                <a:tc>
                  <a:txBody>
                    <a:bodyPr/>
                    <a:lstStyle/>
                    <a:p>
                      <a:pPr algn="just">
                        <a:spcAft>
                          <a:spcPts val="500"/>
                        </a:spcAft>
                      </a:pPr>
                      <a:r>
                        <a:rPr lang="en-US" sz="1000" b="0" i="0" dirty="0"/>
                        <a:t>1</a:t>
                      </a:r>
                      <a:endParaRPr lang="en-IN" sz="1000" b="0" i="0" dirty="0"/>
                    </a:p>
                  </a:txBody>
                  <a:tcPr anchor="ct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Equity Lock in</a:t>
                      </a:r>
                      <a:endParaRPr lang="en-IN" sz="1000" dirty="0"/>
                    </a:p>
                  </a:txBody>
                  <a:tcPr anchor="ct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mn-lt"/>
                          <a:ea typeface="+mn-ea"/>
                          <a:cs typeface="+mn-cs"/>
                        </a:rPr>
                        <a:t>The condition of Equity lock-in restricts the transfer of NBBL’s ownership for a period of 6 years. For a transaction to take place, approval from Government of Bangladesh would be required. </a:t>
                      </a:r>
                      <a:endParaRPr lang="en-US" sz="1000" dirty="0"/>
                    </a:p>
                  </a:txBody>
                  <a:tcPr anchor="ct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2">
                  <a:txBody>
                    <a:bodyPr/>
                    <a:lstStyle/>
                    <a:p>
                      <a:r>
                        <a:rPr lang="en-US" sz="1000" b="0" dirty="0"/>
                        <a:t>169-170</a:t>
                      </a:r>
                      <a:endParaRPr lang="en-IN" sz="1000" b="0" dirty="0"/>
                    </a:p>
                  </a:txBody>
                  <a:tcPr anchor="ct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3499586"/>
                  </a:ext>
                </a:extLst>
              </a:tr>
              <a:tr h="1006065">
                <a:tc vMerge="1">
                  <a:txBody>
                    <a:bodyPr/>
                    <a:lstStyle/>
                    <a:p>
                      <a:pPr algn="just">
                        <a:spcAft>
                          <a:spcPts val="500"/>
                        </a:spcAft>
                      </a:pPr>
                      <a:endParaRPr lang="en-IN" sz="1000" b="1" dirty="0"/>
                    </a:p>
                  </a:txBody>
                  <a:tcPr anchor="ct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2</a:t>
                      </a:r>
                      <a:endParaRPr lang="en-IN" sz="1000" dirty="0"/>
                    </a:p>
                  </a:txBody>
                  <a:tcPr anchor="ct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Termination</a:t>
                      </a:r>
                      <a:endParaRPr lang="en-IN" sz="1000" dirty="0"/>
                    </a:p>
                  </a:txBody>
                  <a:tcPr anchor="ct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mn-lt"/>
                          <a:ea typeface="+mn-ea"/>
                          <a:cs typeface="+mn-cs"/>
                        </a:rPr>
                        <a:t>In case of termination due to Company event of default, GOB has only an option but not an obligation to take possession of the facility and pay a compensation amount to NBBL equivalent to the principal outstanding and the interest thereon with  no provision to recover equity investments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GB" sz="1000" dirty="0"/>
                        <a:t>In case facility </a:t>
                      </a:r>
                      <a:r>
                        <a:rPr lang="en-GB" sz="1000" baseline="0" dirty="0"/>
                        <a:t>cannot be restored after an FM event no compensation would be paid by GOB with only termination rights provided to the Company </a:t>
                      </a:r>
                      <a:endParaRPr lang="en-GB" sz="1000" dirty="0"/>
                    </a:p>
                  </a:txBody>
                  <a:tcPr anchor="ct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vMerge="1">
                  <a:txBody>
                    <a:bodyPr/>
                    <a:lstStyle/>
                    <a:p>
                      <a:endParaRPr lang="en-IN" sz="1000" b="0" dirty="0"/>
                    </a:p>
                  </a:txBody>
                  <a:tcPr anchor="ct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29233309"/>
                  </a:ext>
                </a:extLst>
              </a:tr>
            </a:tbl>
          </a:graphicData>
        </a:graphic>
      </p:graphicFrame>
      <p:sp>
        <p:nvSpPr>
          <p:cNvPr id="10" name="Rectangle 9"/>
          <p:cNvSpPr/>
          <p:nvPr/>
        </p:nvSpPr>
        <p:spPr bwMode="gray">
          <a:xfrm>
            <a:off x="367167" y="7226733"/>
            <a:ext cx="4179454" cy="258504"/>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PPA, GSA,</a:t>
            </a:r>
            <a:r>
              <a:rPr kumimoji="0" lang="en-US" sz="700" b="0" i="1" u="none" strike="noStrike" kern="1200" cap="none" spc="0" normalizeH="0" noProof="0" dirty="0">
                <a:ln>
                  <a:noFill/>
                </a:ln>
                <a:solidFill>
                  <a:prstClr val="black"/>
                </a:solidFill>
                <a:effectLst/>
                <a:uLnTx/>
                <a:uFillTx/>
                <a:latin typeface="Verdana"/>
                <a:ea typeface="+mn-ea"/>
                <a:cs typeface="+mn-cs"/>
              </a:rPr>
              <a:t> FSA</a:t>
            </a:r>
            <a:endParaRPr kumimoji="0" lang="en-IN" sz="700" b="0" i="1"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3512623982"/>
      </p:ext>
    </p:extLst>
  </p:cSld>
  <p:clrMapOvr>
    <a:masterClrMapping/>
  </p:clrMapOvr>
  <p:transition>
    <p:fade/>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2" name="Title 1"/>
          <p:cNvSpPr>
            <a:spLocks noGrp="1"/>
          </p:cNvSpPr>
          <p:nvPr>
            <p:ph type="title"/>
          </p:nvPr>
        </p:nvSpPr>
        <p:spPr/>
        <p:txBody>
          <a:bodyPr/>
          <a:lstStyle/>
          <a:p>
            <a:r>
              <a:rPr lang="en-US" dirty="0"/>
              <a:t>Policy &amp; Regulatory Overview | Summary</a:t>
            </a:r>
            <a:endParaRPr lang="en-IN" dirty="0"/>
          </a:p>
        </p:txBody>
      </p:sp>
      <p:sp>
        <p:nvSpPr>
          <p:cNvPr id="37" name="Rectangle 36"/>
          <p:cNvSpPr/>
          <p:nvPr/>
        </p:nvSpPr>
        <p:spPr bwMode="gray">
          <a:xfrm>
            <a:off x="367167" y="7226733"/>
            <a:ext cx="4179454" cy="258504"/>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MPEMR,</a:t>
            </a:r>
            <a:r>
              <a:rPr kumimoji="0" lang="en-US" sz="700" b="0" i="1" u="none" strike="noStrike" kern="1200" cap="none" spc="0" normalizeH="0" noProof="0" dirty="0">
                <a:ln>
                  <a:noFill/>
                </a:ln>
                <a:solidFill>
                  <a:prstClr val="black"/>
                </a:solidFill>
                <a:effectLst/>
                <a:uLnTx/>
                <a:uFillTx/>
                <a:latin typeface="Verdana"/>
                <a:ea typeface="+mn-ea"/>
                <a:cs typeface="+mn-cs"/>
              </a:rPr>
              <a:t> BERC, </a:t>
            </a:r>
            <a:r>
              <a:rPr kumimoji="0" lang="en-US" sz="700" b="0" i="1" u="none" strike="noStrike" kern="1200" cap="none" spc="0" normalizeH="0" noProof="0" dirty="0" err="1">
                <a:ln>
                  <a:noFill/>
                </a:ln>
                <a:solidFill>
                  <a:prstClr val="black"/>
                </a:solidFill>
                <a:effectLst/>
                <a:uLnTx/>
                <a:uFillTx/>
                <a:latin typeface="Verdana"/>
                <a:ea typeface="+mn-ea"/>
                <a:cs typeface="+mn-cs"/>
              </a:rPr>
              <a:t>Petrobangla</a:t>
            </a:r>
            <a:r>
              <a:rPr kumimoji="0" lang="en-US" sz="700" b="0" i="1" u="none" strike="noStrike" kern="1200" cap="none" spc="0" normalizeH="0" noProof="0" dirty="0">
                <a:ln>
                  <a:noFill/>
                </a:ln>
                <a:solidFill>
                  <a:prstClr val="black"/>
                </a:solidFill>
                <a:effectLst/>
                <a:uLnTx/>
                <a:uFillTx/>
                <a:latin typeface="Verdana"/>
                <a:ea typeface="+mn-ea"/>
                <a:cs typeface="+mn-cs"/>
              </a:rPr>
              <a:t>, ERD, Government Act, Rules and Notifications</a:t>
            </a:r>
            <a:endParaRPr kumimoji="0" lang="en-IN" sz="700" b="0" i="1" u="none" strike="noStrike" kern="1200" cap="none" spc="0" normalizeH="0" baseline="0" noProof="0" dirty="0">
              <a:ln>
                <a:noFill/>
              </a:ln>
              <a:solidFill>
                <a:prstClr val="black"/>
              </a:solidFill>
              <a:effectLst/>
              <a:uLnTx/>
              <a:uFillTx/>
              <a:latin typeface="Verdana"/>
              <a:ea typeface="+mn-ea"/>
              <a:cs typeface="+mn-cs"/>
            </a:endParaRPr>
          </a:p>
        </p:txBody>
      </p:sp>
      <p:graphicFrame>
        <p:nvGraphicFramePr>
          <p:cNvPr id="9" name="Table 8"/>
          <p:cNvGraphicFramePr>
            <a:graphicFrameLocks noGrp="1"/>
          </p:cNvGraphicFramePr>
          <p:nvPr>
            <p:extLst>
              <p:ext uri="{D42A27DB-BD31-4B8C-83A1-F6EECF244321}">
                <p14:modId xmlns:p14="http://schemas.microsoft.com/office/powerpoint/2010/main" val="1130665114"/>
              </p:ext>
            </p:extLst>
          </p:nvPr>
        </p:nvGraphicFramePr>
        <p:xfrm>
          <a:off x="449264" y="1079500"/>
          <a:ext cx="9791701" cy="6096000"/>
        </p:xfrm>
        <a:graphic>
          <a:graphicData uri="http://schemas.openxmlformats.org/drawingml/2006/table">
            <a:tbl>
              <a:tblPr firstRow="1" bandRow="1">
                <a:tableStyleId>{3B4B98B0-60AC-42C2-AFA5-B58CD77FA1E5}</a:tableStyleId>
              </a:tblPr>
              <a:tblGrid>
                <a:gridCol w="438038">
                  <a:extLst>
                    <a:ext uri="{9D8B030D-6E8A-4147-A177-3AD203B41FA5}">
                      <a16:colId xmlns:a16="http://schemas.microsoft.com/office/drawing/2014/main" val="3671827557"/>
                    </a:ext>
                  </a:extLst>
                </a:gridCol>
                <a:gridCol w="2496849">
                  <a:extLst>
                    <a:ext uri="{9D8B030D-6E8A-4147-A177-3AD203B41FA5}">
                      <a16:colId xmlns:a16="http://schemas.microsoft.com/office/drawing/2014/main" val="2911403996"/>
                    </a:ext>
                  </a:extLst>
                </a:gridCol>
                <a:gridCol w="6039249">
                  <a:extLst>
                    <a:ext uri="{9D8B030D-6E8A-4147-A177-3AD203B41FA5}">
                      <a16:colId xmlns:a16="http://schemas.microsoft.com/office/drawing/2014/main" val="813829404"/>
                    </a:ext>
                  </a:extLst>
                </a:gridCol>
                <a:gridCol w="817565">
                  <a:extLst>
                    <a:ext uri="{9D8B030D-6E8A-4147-A177-3AD203B41FA5}">
                      <a16:colId xmlns:a16="http://schemas.microsoft.com/office/drawing/2014/main" val="2480313407"/>
                    </a:ext>
                  </a:extLst>
                </a:gridCol>
              </a:tblGrid>
              <a:tr h="370840">
                <a:tc>
                  <a:txBody>
                    <a:bodyPr/>
                    <a:lstStyle/>
                    <a:p>
                      <a:pPr algn="just">
                        <a:spcAft>
                          <a:spcPts val="500"/>
                        </a:spcAft>
                      </a:pPr>
                      <a:r>
                        <a:rPr lang="en-US" sz="1000" b="1" i="0" dirty="0">
                          <a:latin typeface="+mj-lt"/>
                        </a:rPr>
                        <a:t>Sr. No</a:t>
                      </a:r>
                      <a:endParaRPr lang="en-IN" sz="1000" b="1" i="0" dirty="0">
                        <a:latin typeface="+mj-lt"/>
                      </a:endParaRPr>
                    </a:p>
                  </a:txBody>
                  <a:tcPr anchor="ctr">
                    <a:lnB w="3175" cap="flat" cmpd="sng" algn="ctr">
                      <a:solidFill>
                        <a:schemeClr val="tx1"/>
                      </a:solidFill>
                      <a:prstDash val="solid"/>
                      <a:round/>
                      <a:headEnd type="none" w="med" len="med"/>
                      <a:tailEnd type="none" w="med" len="med"/>
                    </a:lnB>
                  </a:tcPr>
                </a:tc>
                <a:tc>
                  <a:txBody>
                    <a:bodyPr/>
                    <a:lstStyle/>
                    <a:p>
                      <a:pPr algn="just">
                        <a:spcAft>
                          <a:spcPts val="500"/>
                        </a:spcAft>
                      </a:pPr>
                      <a:r>
                        <a:rPr lang="en-US" sz="1000" b="1" i="0" dirty="0">
                          <a:latin typeface="+mj-lt"/>
                        </a:rPr>
                        <a:t>Regulation</a:t>
                      </a:r>
                      <a:endParaRPr lang="en-IN" sz="1000" b="1" i="0" dirty="0">
                        <a:latin typeface="+mj-lt"/>
                      </a:endParaRPr>
                    </a:p>
                  </a:txBody>
                  <a:tcPr anchor="ctr">
                    <a:lnB w="3175" cap="flat" cmpd="sng" algn="ctr">
                      <a:solidFill>
                        <a:schemeClr val="tx1"/>
                      </a:solidFill>
                      <a:prstDash val="solid"/>
                      <a:round/>
                      <a:headEnd type="none" w="med" len="med"/>
                      <a:tailEnd type="none" w="med" len="med"/>
                    </a:lnB>
                  </a:tcPr>
                </a:tc>
                <a:tc>
                  <a:txBody>
                    <a:bodyPr/>
                    <a:lstStyle/>
                    <a:p>
                      <a:pPr algn="just">
                        <a:spcAft>
                          <a:spcPts val="500"/>
                        </a:spcAft>
                      </a:pPr>
                      <a:r>
                        <a:rPr lang="en-US" sz="1000" b="1" i="0" dirty="0">
                          <a:latin typeface="+mj-lt"/>
                        </a:rPr>
                        <a:t>Description</a:t>
                      </a:r>
                      <a:endParaRPr lang="en-IN" sz="1000" b="1" i="0" dirty="0">
                        <a:latin typeface="+mj-lt"/>
                      </a:endParaRPr>
                    </a:p>
                  </a:txBody>
                  <a:tcPr anchor="ctr">
                    <a:lnB w="3175" cap="flat" cmpd="sng" algn="ctr">
                      <a:solidFill>
                        <a:schemeClr val="tx1"/>
                      </a:solidFill>
                      <a:prstDash val="solid"/>
                      <a:round/>
                      <a:headEnd type="none" w="med" len="med"/>
                      <a:tailEnd type="none" w="med" len="med"/>
                    </a:lnB>
                  </a:tcPr>
                </a:tc>
                <a:tc>
                  <a:txBody>
                    <a:bodyPr/>
                    <a:lstStyle/>
                    <a:p>
                      <a:pPr algn="just">
                        <a:spcAft>
                          <a:spcPts val="500"/>
                        </a:spcAft>
                      </a:pPr>
                      <a:r>
                        <a:rPr lang="en-US" sz="1000" b="1" i="0" dirty="0">
                          <a:latin typeface="+mj-lt"/>
                        </a:rPr>
                        <a:t>Ref Slides</a:t>
                      </a:r>
                      <a:endParaRPr lang="en-IN" sz="1000" b="1" i="0" dirty="0">
                        <a:latin typeface="+mj-lt"/>
                      </a:endParaRPr>
                    </a:p>
                  </a:txBody>
                  <a:tcPr anchor="ctr">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5669302"/>
                  </a:ext>
                </a:extLst>
              </a:tr>
              <a:tr h="370840">
                <a:tc>
                  <a:txBody>
                    <a:bodyPr/>
                    <a:lstStyle/>
                    <a:p>
                      <a:pPr algn="just">
                        <a:spcAft>
                          <a:spcPts val="500"/>
                        </a:spcAft>
                      </a:pPr>
                      <a:r>
                        <a:rPr lang="en-US" sz="1000" b="0" i="0" dirty="0">
                          <a:latin typeface="+mj-lt"/>
                        </a:rPr>
                        <a:t>1</a:t>
                      </a:r>
                      <a:endParaRPr lang="en-IN" sz="1000" b="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just" defTabSz="990571" rtl="0" eaLnBrk="1" fontAlgn="auto" latinLnBrk="0" hangingPunct="1">
                        <a:lnSpc>
                          <a:spcPct val="100000"/>
                        </a:lnSpc>
                        <a:spcBef>
                          <a:spcPts val="0"/>
                        </a:spcBef>
                        <a:spcAft>
                          <a:spcPts val="50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mj-lt"/>
                          <a:ea typeface="+mn-ea"/>
                          <a:cs typeface="+mn-cs"/>
                        </a:rPr>
                        <a:t>Bangladesh Electricity Act, 2018</a:t>
                      </a: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sz="1000" i="0" dirty="0">
                          <a:latin typeface="+mj-lt"/>
                        </a:rPr>
                        <a:t>The law provides for establishment of an Independent System Operator in Bangladesh, thus making power dispatch according to merit order</a:t>
                      </a:r>
                      <a:endParaRPr lang="en-IN" sz="100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3">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US" sz="1000" b="0" dirty="0"/>
                        <a:t>172</a:t>
                      </a:r>
                      <a:endParaRPr lang="en-IN" sz="1000" b="0" dirty="0"/>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6387994"/>
                  </a:ext>
                </a:extLst>
              </a:tr>
              <a:tr h="370840">
                <a:tc>
                  <a:txBody>
                    <a:bodyPr/>
                    <a:lstStyle/>
                    <a:p>
                      <a:pPr algn="just">
                        <a:spcAft>
                          <a:spcPts val="500"/>
                        </a:spcAft>
                      </a:pPr>
                      <a:r>
                        <a:rPr lang="en-US" sz="1000" b="0" i="0" dirty="0">
                          <a:latin typeface="+mj-lt"/>
                        </a:rPr>
                        <a:t>2</a:t>
                      </a:r>
                      <a:endParaRPr lang="en-IN" sz="1000" b="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just" defTabSz="990571" rtl="0" eaLnBrk="1" fontAlgn="auto" latinLnBrk="0" hangingPunct="1">
                        <a:lnSpc>
                          <a:spcPct val="100000"/>
                        </a:lnSpc>
                        <a:spcBef>
                          <a:spcPts val="0"/>
                        </a:spcBef>
                        <a:spcAft>
                          <a:spcPts val="50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mn-lt"/>
                          <a:ea typeface="+mn-ea"/>
                          <a:cs typeface="+mn-cs"/>
                        </a:rPr>
                        <a:t>Bangladesh Energy Regulatory Commission License Regulations, 2006 and its amendment in 2016</a:t>
                      </a: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kumimoji="0" lang="en-US" sz="1000" b="0" i="0" u="none" strike="noStrike" kern="1200" cap="none" spc="0" normalizeH="0" baseline="0" noProof="0" dirty="0">
                          <a:ln>
                            <a:noFill/>
                          </a:ln>
                          <a:solidFill>
                            <a:prstClr val="black"/>
                          </a:solidFill>
                          <a:effectLst/>
                          <a:uLnTx/>
                          <a:uFillTx/>
                          <a:latin typeface="+mn-lt"/>
                          <a:ea typeface="+mn-ea"/>
                          <a:cs typeface="+mn-cs"/>
                        </a:rPr>
                        <a:t>The existing gas based generation company has to comply with the license terms and conditions and exercise its responsibilities as per the regulations, failing which the Commission may suspend or revoke the license</a:t>
                      </a:r>
                      <a:endParaRPr lang="en-IN" sz="100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endParaRPr lang="en-IN" sz="100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94560777"/>
                  </a:ext>
                </a:extLst>
              </a:tr>
              <a:tr h="370840">
                <a:tc>
                  <a:txBody>
                    <a:bodyPr/>
                    <a:lstStyle/>
                    <a:p>
                      <a:pPr algn="just">
                        <a:spcAft>
                          <a:spcPts val="500"/>
                        </a:spcAft>
                      </a:pPr>
                      <a:r>
                        <a:rPr lang="en-US" sz="1000" b="0" i="0" dirty="0">
                          <a:latin typeface="+mj-lt"/>
                        </a:rPr>
                        <a:t>3</a:t>
                      </a:r>
                      <a:endParaRPr lang="en-IN" sz="1000" b="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just" defTabSz="990571" rtl="0" eaLnBrk="1" fontAlgn="auto" latinLnBrk="0" hangingPunct="1">
                        <a:lnSpc>
                          <a:spcPct val="100000"/>
                        </a:lnSpc>
                        <a:spcBef>
                          <a:spcPts val="0"/>
                        </a:spcBef>
                        <a:spcAft>
                          <a:spcPts val="50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mn-lt"/>
                          <a:ea typeface="+mn-ea"/>
                          <a:cs typeface="+mn-cs"/>
                        </a:rPr>
                        <a:t>Bangladesh Energy Regulatory Commission (Natural Gas Distribution Tariff) Regulations, 2010</a:t>
                      </a: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mn-lt"/>
                          <a:ea typeface="+mn-ea"/>
                          <a:cs typeface="+mn-cs"/>
                        </a:rPr>
                        <a:t>Regulated gas distribution tariff means higher certainty for gas price compared to a market-based gas pricing arrangement</a:t>
                      </a:r>
                      <a:endParaRPr lang="en-IN" sz="100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endParaRPr lang="en-IN" sz="100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77948253"/>
                  </a:ext>
                </a:extLst>
              </a:tr>
              <a:tr h="370840">
                <a:tc>
                  <a:txBody>
                    <a:bodyPr/>
                    <a:lstStyle/>
                    <a:p>
                      <a:pPr algn="just">
                        <a:spcAft>
                          <a:spcPts val="500"/>
                        </a:spcAft>
                      </a:pPr>
                      <a:r>
                        <a:rPr lang="en-US" sz="1000" b="0" i="0" dirty="0">
                          <a:latin typeface="+mj-lt"/>
                        </a:rPr>
                        <a:t>4</a:t>
                      </a:r>
                      <a:endParaRPr lang="en-IN" sz="1000" b="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just" defTabSz="990571" rtl="0" eaLnBrk="1" fontAlgn="auto" latinLnBrk="0" hangingPunct="1">
                        <a:lnSpc>
                          <a:spcPct val="100000"/>
                        </a:lnSpc>
                        <a:spcBef>
                          <a:spcPts val="0"/>
                        </a:spcBef>
                        <a:spcAft>
                          <a:spcPts val="500"/>
                        </a:spcAft>
                        <a:buClrTx/>
                        <a:buSzTx/>
                        <a:buFontTx/>
                        <a:buNone/>
                        <a:tabLst/>
                        <a:defRPr/>
                      </a:pPr>
                      <a:r>
                        <a:rPr lang="en-US" sz="1000" b="0" dirty="0">
                          <a:solidFill>
                            <a:prstClr val="black"/>
                          </a:solidFill>
                        </a:rPr>
                        <a:t>Bangladesh Electricity Regulatory Commission Electricity Grid Code Regulations 2018</a:t>
                      </a: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r>
                        <a:rPr lang="en-US" sz="1000" i="0" dirty="0">
                          <a:solidFill>
                            <a:prstClr val="black"/>
                          </a:solidFill>
                        </a:rPr>
                        <a:t>The gas based plant has to abide by the standards, procedures and compliance requirements as stipulated in the grid code</a:t>
                      </a:r>
                      <a:endParaRPr lang="en-IN" sz="100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rowSpan="2">
                  <a:txBody>
                    <a:bodyPr/>
                    <a:lstStyle/>
                    <a:p>
                      <a:r>
                        <a:rPr lang="en-US" sz="1000" i="0" dirty="0">
                          <a:latin typeface="+mj-lt"/>
                        </a:rPr>
                        <a:t>173</a:t>
                      </a:r>
                      <a:endParaRPr lang="en-IN" sz="100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70565886"/>
                  </a:ext>
                </a:extLst>
              </a:tr>
              <a:tr h="370840">
                <a:tc>
                  <a:txBody>
                    <a:bodyPr/>
                    <a:lstStyle/>
                    <a:p>
                      <a:pPr algn="just">
                        <a:spcAft>
                          <a:spcPts val="500"/>
                        </a:spcAft>
                      </a:pPr>
                      <a:r>
                        <a:rPr lang="en-US" sz="1000" b="0" i="0" dirty="0">
                          <a:latin typeface="+mj-lt"/>
                        </a:rPr>
                        <a:t>5</a:t>
                      </a:r>
                      <a:endParaRPr lang="en-IN" sz="1000" b="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0" marR="0" lvl="0" indent="0" algn="just" defTabSz="990571" rtl="0" eaLnBrk="1" fontAlgn="auto" latinLnBrk="0" hangingPunct="1">
                        <a:lnSpc>
                          <a:spcPct val="100000"/>
                        </a:lnSpc>
                        <a:spcBef>
                          <a:spcPts val="0"/>
                        </a:spcBef>
                        <a:spcAft>
                          <a:spcPts val="50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mn-lt"/>
                          <a:ea typeface="+mn-ea"/>
                          <a:cs typeface="+mn-cs"/>
                        </a:rPr>
                        <a:t>Bangladesh Electricity Regulatory Commission Electricity Distribution (Retail) Tariff Regulations 2016</a:t>
                      </a: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mn-lt"/>
                          <a:ea typeface="+mn-ea"/>
                          <a:cs typeface="+mn-cs"/>
                        </a:rPr>
                        <a:t>Provides for determination of retail tariff on cost-plus basis for electricity distribution companies of Bangladesh; Regulated revenue for distribution companies has impact on Single Buyer receivables, which in turn may impact generation company receivables</a:t>
                      </a: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20000"/>
                        <a:lumOff val="80000"/>
                      </a:schemeClr>
                    </a:solidFill>
                  </a:tcPr>
                </a:tc>
                <a:tc vMerge="1">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black"/>
                        </a:solidFill>
                        <a:effectLst/>
                        <a:uLnTx/>
                        <a:uFillTx/>
                        <a:latin typeface="+mn-lt"/>
                        <a:ea typeface="+mn-ea"/>
                        <a:cs typeface="+mn-cs"/>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2784572986"/>
                  </a:ext>
                </a:extLst>
              </a:tr>
              <a:tr h="370840">
                <a:tc>
                  <a:txBody>
                    <a:bodyPr/>
                    <a:lstStyle/>
                    <a:p>
                      <a:pPr algn="just">
                        <a:spcAft>
                          <a:spcPts val="500"/>
                        </a:spcAft>
                      </a:pPr>
                      <a:r>
                        <a:rPr lang="en-US" sz="1000" b="0" i="0" dirty="0">
                          <a:latin typeface="+mj-lt"/>
                        </a:rPr>
                        <a:t>6</a:t>
                      </a:r>
                      <a:endParaRPr lang="en-IN" sz="1000" b="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a:spcAft>
                          <a:spcPts val="500"/>
                        </a:spcAft>
                      </a:pPr>
                      <a:r>
                        <a:rPr lang="en-US" sz="1000" b="0" dirty="0">
                          <a:solidFill>
                            <a:prstClr val="black"/>
                          </a:solidFill>
                        </a:rPr>
                        <a:t>Quick Enhancement of Electricity and Energy Supply (Special Provisions) Act, 2010 and its amendments in 2015 and 2018</a:t>
                      </a:r>
                      <a:endParaRPr lang="en-IN" sz="1000" b="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sz="1000" i="0" dirty="0">
                          <a:solidFill>
                            <a:prstClr val="black"/>
                          </a:solidFill>
                        </a:rPr>
                        <a:t>This Act encourages and facilitates implementation of new generation projects and hence creates competition for the existing generation project</a:t>
                      </a:r>
                      <a:endParaRPr lang="en-IN" sz="100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3">
                  <a:txBody>
                    <a:bodyPr/>
                    <a:lstStyle/>
                    <a:p>
                      <a:r>
                        <a:rPr lang="en-US" sz="1000" i="0" dirty="0">
                          <a:latin typeface="+mj-lt"/>
                        </a:rPr>
                        <a:t>174</a:t>
                      </a:r>
                      <a:endParaRPr lang="en-IN" sz="100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20017637"/>
                  </a:ext>
                </a:extLst>
              </a:tr>
              <a:tr h="370840">
                <a:tc>
                  <a:txBody>
                    <a:bodyPr/>
                    <a:lstStyle/>
                    <a:p>
                      <a:pPr algn="just">
                        <a:spcAft>
                          <a:spcPts val="500"/>
                        </a:spcAft>
                      </a:pPr>
                      <a:r>
                        <a:rPr lang="en-US" sz="1000" b="0" i="0" dirty="0">
                          <a:latin typeface="+mj-lt"/>
                        </a:rPr>
                        <a:t>7</a:t>
                      </a:r>
                      <a:endParaRPr lang="en-IN" sz="1000" b="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a:spcAft>
                          <a:spcPts val="500"/>
                        </a:spcAft>
                      </a:pPr>
                      <a:r>
                        <a:rPr lang="en-US" sz="1000" b="0" dirty="0">
                          <a:solidFill>
                            <a:prstClr val="black"/>
                          </a:solidFill>
                        </a:rPr>
                        <a:t>Bangladesh Gas Act 2010</a:t>
                      </a:r>
                      <a:endParaRPr lang="en-IN" sz="1000" b="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sz="1000" i="0" dirty="0">
                          <a:solidFill>
                            <a:prstClr val="black"/>
                          </a:solidFill>
                        </a:rPr>
                        <a:t>The regulation provides for restrictions or suspension in supply of gas to customers or disconnection in the gas line in cases of</a:t>
                      </a:r>
                      <a:r>
                        <a:rPr lang="en-US" sz="1000" i="0" baseline="0" dirty="0">
                          <a:solidFill>
                            <a:prstClr val="black"/>
                          </a:solidFill>
                        </a:rPr>
                        <a:t>  Gas crisis at national level, Need to prioritize gas distribution among users, Gas is used at less than the efficiency prescribed by the Government/Commission/Company</a:t>
                      </a:r>
                      <a:endParaRPr lang="en-IN" sz="100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endParaRPr lang="en-IN" sz="100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30202138"/>
                  </a:ext>
                </a:extLst>
              </a:tr>
              <a:tr h="370840">
                <a:tc>
                  <a:txBody>
                    <a:bodyPr/>
                    <a:lstStyle/>
                    <a:p>
                      <a:pPr algn="just">
                        <a:spcAft>
                          <a:spcPts val="500"/>
                        </a:spcAft>
                      </a:pPr>
                      <a:r>
                        <a:rPr lang="en-US" sz="1000" b="0" i="0" dirty="0">
                          <a:latin typeface="+mj-lt"/>
                        </a:rPr>
                        <a:t>8</a:t>
                      </a:r>
                      <a:endParaRPr lang="en-IN" sz="1000" b="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a:spcAft>
                          <a:spcPts val="500"/>
                        </a:spcAft>
                      </a:pPr>
                      <a:r>
                        <a:rPr kumimoji="0" lang="en-US" sz="1000" b="0" i="0" u="none" strike="noStrike" kern="1200" cap="none" spc="0" normalizeH="0" baseline="0" noProof="0" dirty="0">
                          <a:ln>
                            <a:noFill/>
                          </a:ln>
                          <a:solidFill>
                            <a:prstClr val="black"/>
                          </a:solidFill>
                          <a:effectLst/>
                          <a:uLnTx/>
                          <a:uFillTx/>
                          <a:latin typeface="+mn-lt"/>
                          <a:ea typeface="+mn-ea"/>
                          <a:cs typeface="+mn-cs"/>
                        </a:rPr>
                        <a:t>Bangladesh Energy Regulatory Commission Dispute Settlement Regulations, 2014</a:t>
                      </a:r>
                      <a:endParaRPr lang="en-IN" sz="1000" b="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kumimoji="0" lang="en-US" sz="1000" b="0" i="0" u="none" strike="noStrike" kern="1200" cap="none" spc="0" normalizeH="0" baseline="0" noProof="0" dirty="0">
                          <a:ln>
                            <a:noFill/>
                          </a:ln>
                          <a:solidFill>
                            <a:prstClr val="black"/>
                          </a:solidFill>
                          <a:effectLst/>
                          <a:uLnTx/>
                          <a:uFillTx/>
                          <a:latin typeface="+mn-lt"/>
                          <a:ea typeface="+mn-ea"/>
                          <a:cs typeface="+mn-cs"/>
                        </a:rPr>
                        <a:t>Provides for the procedures and institutional responsibilities for the purpose of resolution of disputes</a:t>
                      </a:r>
                      <a:endParaRPr lang="en-IN" sz="100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endParaRPr lang="en-IN" sz="100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0376028"/>
                  </a:ext>
                </a:extLst>
              </a:tr>
              <a:tr h="370840">
                <a:tc>
                  <a:txBody>
                    <a:bodyPr/>
                    <a:lstStyle/>
                    <a:p>
                      <a:pPr algn="just">
                        <a:spcAft>
                          <a:spcPts val="500"/>
                        </a:spcAft>
                      </a:pPr>
                      <a:r>
                        <a:rPr lang="en-US" sz="1000" b="0" i="0" dirty="0">
                          <a:latin typeface="+mj-lt"/>
                        </a:rPr>
                        <a:t>9</a:t>
                      </a:r>
                      <a:endParaRPr lang="en-IN" sz="1000" b="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a:spcAft>
                          <a:spcPts val="500"/>
                        </a:spcAft>
                      </a:pPr>
                      <a:r>
                        <a:rPr lang="en-US" sz="1000" b="0" dirty="0">
                          <a:solidFill>
                            <a:prstClr val="black"/>
                          </a:solidFill>
                        </a:rPr>
                        <a:t>Vision and Policy Statement on Power Sector Reform, 2000 and National Energy Policy (NEP), 2004</a:t>
                      </a:r>
                      <a:endParaRPr lang="en-IN" sz="1000" b="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marR="0" lvl="0" indent="-171450" algn="l" defTabSz="99057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00" i="0" dirty="0">
                          <a:solidFill>
                            <a:prstClr val="black"/>
                          </a:solidFill>
                        </a:rPr>
                        <a:t>The pricing policy (NEP) further states that the present subsidy on gas price for power and fertilizer is to be removed gradually. Subsidy, if required, is to be given at the end-user level and the related liabilities cannot be passed on to the utilities</a:t>
                      </a:r>
                    </a:p>
                    <a:p>
                      <a:pPr marL="171450" marR="0" lvl="0" indent="-171450" algn="l" defTabSz="99057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00" i="0" dirty="0">
                          <a:solidFill>
                            <a:prstClr val="black"/>
                          </a:solidFill>
                        </a:rPr>
                        <a:t>The Policy (NEP) also calls for maintenance of adequate reserve margin by installing capacities in excess of peak demand (say 25%) so that the system can reliably accommodate planned maintenance and forced outage</a:t>
                      </a: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90571"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000" i="0" dirty="0">
                          <a:solidFill>
                            <a:prstClr val="black"/>
                          </a:solidFill>
                        </a:rPr>
                        <a:t>175</a:t>
                      </a: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24849819"/>
                  </a:ext>
                </a:extLst>
              </a:tr>
            </a:tbl>
          </a:graphicData>
        </a:graphic>
      </p:graphicFrame>
    </p:spTree>
    <p:extLst>
      <p:ext uri="{BB962C8B-B14F-4D97-AF65-F5344CB8AC3E}">
        <p14:creationId xmlns:p14="http://schemas.microsoft.com/office/powerpoint/2010/main" val="1485072111"/>
      </p:ext>
    </p:extLst>
  </p:cSld>
  <p:clrMapOvr>
    <a:masterClrMapping/>
  </p:clrMapOvr>
  <p:transition>
    <p:fade/>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2" name="Title 1"/>
          <p:cNvSpPr>
            <a:spLocks noGrp="1"/>
          </p:cNvSpPr>
          <p:nvPr>
            <p:ph type="title"/>
          </p:nvPr>
        </p:nvSpPr>
        <p:spPr/>
        <p:txBody>
          <a:bodyPr/>
          <a:lstStyle/>
          <a:p>
            <a:r>
              <a:rPr lang="en-US" dirty="0"/>
              <a:t>Policy &amp; Regulatory Overview | Summary</a:t>
            </a:r>
            <a:endParaRPr lang="en-IN" dirty="0"/>
          </a:p>
        </p:txBody>
      </p:sp>
      <p:graphicFrame>
        <p:nvGraphicFramePr>
          <p:cNvPr id="9" name="Table 8"/>
          <p:cNvGraphicFramePr>
            <a:graphicFrameLocks noGrp="1"/>
          </p:cNvGraphicFramePr>
          <p:nvPr>
            <p:extLst>
              <p:ext uri="{D42A27DB-BD31-4B8C-83A1-F6EECF244321}">
                <p14:modId xmlns:p14="http://schemas.microsoft.com/office/powerpoint/2010/main" val="3837352551"/>
              </p:ext>
            </p:extLst>
          </p:nvPr>
        </p:nvGraphicFramePr>
        <p:xfrm>
          <a:off x="449264" y="1079500"/>
          <a:ext cx="9791701" cy="2042160"/>
        </p:xfrm>
        <a:graphic>
          <a:graphicData uri="http://schemas.openxmlformats.org/drawingml/2006/table">
            <a:tbl>
              <a:tblPr firstRow="1" bandRow="1">
                <a:tableStyleId>{3B4B98B0-60AC-42C2-AFA5-B58CD77FA1E5}</a:tableStyleId>
              </a:tblPr>
              <a:tblGrid>
                <a:gridCol w="438038">
                  <a:extLst>
                    <a:ext uri="{9D8B030D-6E8A-4147-A177-3AD203B41FA5}">
                      <a16:colId xmlns:a16="http://schemas.microsoft.com/office/drawing/2014/main" val="3671827557"/>
                    </a:ext>
                  </a:extLst>
                </a:gridCol>
                <a:gridCol w="2496849">
                  <a:extLst>
                    <a:ext uri="{9D8B030D-6E8A-4147-A177-3AD203B41FA5}">
                      <a16:colId xmlns:a16="http://schemas.microsoft.com/office/drawing/2014/main" val="2911403996"/>
                    </a:ext>
                  </a:extLst>
                </a:gridCol>
                <a:gridCol w="6051949">
                  <a:extLst>
                    <a:ext uri="{9D8B030D-6E8A-4147-A177-3AD203B41FA5}">
                      <a16:colId xmlns:a16="http://schemas.microsoft.com/office/drawing/2014/main" val="813829404"/>
                    </a:ext>
                  </a:extLst>
                </a:gridCol>
                <a:gridCol w="804865">
                  <a:extLst>
                    <a:ext uri="{9D8B030D-6E8A-4147-A177-3AD203B41FA5}">
                      <a16:colId xmlns:a16="http://schemas.microsoft.com/office/drawing/2014/main" val="993293932"/>
                    </a:ext>
                  </a:extLst>
                </a:gridCol>
              </a:tblGrid>
              <a:tr h="370840">
                <a:tc>
                  <a:txBody>
                    <a:bodyPr/>
                    <a:lstStyle/>
                    <a:p>
                      <a:pPr algn="just">
                        <a:spcAft>
                          <a:spcPts val="500"/>
                        </a:spcAft>
                      </a:pPr>
                      <a:r>
                        <a:rPr lang="en-US" sz="1000" b="1" i="0" dirty="0">
                          <a:latin typeface="+mj-lt"/>
                        </a:rPr>
                        <a:t>Sr. No</a:t>
                      </a:r>
                      <a:endParaRPr lang="en-IN" sz="1000" b="1" i="0" dirty="0">
                        <a:latin typeface="+mj-lt"/>
                      </a:endParaRPr>
                    </a:p>
                  </a:txBody>
                  <a:tcPr anchor="ctr">
                    <a:lnB w="3175" cap="flat" cmpd="sng" algn="ctr">
                      <a:solidFill>
                        <a:schemeClr val="tx1"/>
                      </a:solidFill>
                      <a:prstDash val="solid"/>
                      <a:round/>
                      <a:headEnd type="none" w="med" len="med"/>
                      <a:tailEnd type="none" w="med" len="med"/>
                    </a:lnB>
                  </a:tcPr>
                </a:tc>
                <a:tc>
                  <a:txBody>
                    <a:bodyPr/>
                    <a:lstStyle/>
                    <a:p>
                      <a:pPr algn="just">
                        <a:spcAft>
                          <a:spcPts val="500"/>
                        </a:spcAft>
                      </a:pPr>
                      <a:r>
                        <a:rPr lang="en-US" sz="1000" b="1" i="0" dirty="0">
                          <a:latin typeface="+mj-lt"/>
                        </a:rPr>
                        <a:t>Regulation</a:t>
                      </a:r>
                      <a:endParaRPr lang="en-IN" sz="1000" b="1" i="0" dirty="0">
                        <a:latin typeface="+mj-lt"/>
                      </a:endParaRPr>
                    </a:p>
                  </a:txBody>
                  <a:tcPr anchor="ctr">
                    <a:lnB w="3175" cap="flat" cmpd="sng" algn="ctr">
                      <a:solidFill>
                        <a:schemeClr val="tx1"/>
                      </a:solidFill>
                      <a:prstDash val="solid"/>
                      <a:round/>
                      <a:headEnd type="none" w="med" len="med"/>
                      <a:tailEnd type="none" w="med" len="med"/>
                    </a:lnB>
                  </a:tcPr>
                </a:tc>
                <a:tc>
                  <a:txBody>
                    <a:bodyPr/>
                    <a:lstStyle/>
                    <a:p>
                      <a:pPr algn="just">
                        <a:spcAft>
                          <a:spcPts val="500"/>
                        </a:spcAft>
                      </a:pPr>
                      <a:r>
                        <a:rPr lang="en-US" sz="1000" b="1" i="0" dirty="0">
                          <a:latin typeface="+mj-lt"/>
                        </a:rPr>
                        <a:t>Description</a:t>
                      </a:r>
                      <a:endParaRPr lang="en-IN" sz="1000" b="1" i="0" dirty="0">
                        <a:latin typeface="+mj-lt"/>
                      </a:endParaRPr>
                    </a:p>
                  </a:txBody>
                  <a:tcPr anchor="ctr">
                    <a:lnB w="3175" cap="flat" cmpd="sng" algn="ctr">
                      <a:solidFill>
                        <a:schemeClr val="tx1"/>
                      </a:solidFill>
                      <a:prstDash val="solid"/>
                      <a:round/>
                      <a:headEnd type="none" w="med" len="med"/>
                      <a:tailEnd type="none" w="med" len="med"/>
                    </a:lnB>
                  </a:tcPr>
                </a:tc>
                <a:tc>
                  <a:txBody>
                    <a:bodyPr/>
                    <a:lstStyle/>
                    <a:p>
                      <a:pPr algn="just">
                        <a:spcAft>
                          <a:spcPts val="500"/>
                        </a:spcAft>
                      </a:pPr>
                      <a:r>
                        <a:rPr lang="en-US" sz="1000" b="1" i="0" dirty="0">
                          <a:latin typeface="+mj-lt"/>
                        </a:rPr>
                        <a:t>Ref Slides</a:t>
                      </a:r>
                      <a:endParaRPr lang="en-IN" sz="1000" b="1" i="0" dirty="0">
                        <a:latin typeface="+mj-lt"/>
                      </a:endParaRPr>
                    </a:p>
                  </a:txBody>
                  <a:tcPr anchor="ctr">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5669302"/>
                  </a:ext>
                </a:extLst>
              </a:tr>
              <a:tr h="370840">
                <a:tc>
                  <a:txBody>
                    <a:bodyPr/>
                    <a:lstStyle/>
                    <a:p>
                      <a:pPr algn="just">
                        <a:spcAft>
                          <a:spcPts val="500"/>
                        </a:spcAft>
                      </a:pPr>
                      <a:r>
                        <a:rPr lang="en-US" sz="1000" b="0" i="0" dirty="0">
                          <a:latin typeface="+mj-lt"/>
                        </a:rPr>
                        <a:t>10</a:t>
                      </a:r>
                      <a:endParaRPr lang="en-IN" sz="1000" b="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just" defTabSz="990571" rtl="0" eaLnBrk="1" fontAlgn="auto" latinLnBrk="0" hangingPunct="1">
                        <a:lnSpc>
                          <a:spcPct val="100000"/>
                        </a:lnSpc>
                        <a:spcBef>
                          <a:spcPts val="0"/>
                        </a:spcBef>
                        <a:spcAft>
                          <a:spcPts val="50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mn-lt"/>
                          <a:ea typeface="+mn-ea"/>
                          <a:cs typeface="+mn-cs"/>
                        </a:rPr>
                        <a:t>Private Sector Power Generation Policy of Bangladesh, 2004 and Policy Guideline for Small Power Plant (SPP) in Private Sector</a:t>
                      </a: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kumimoji="0" lang="en-US" sz="1000" b="0" i="0" u="none" strike="noStrike" kern="1200" cap="none" spc="0" normalizeH="0" baseline="0" noProof="0" dirty="0">
                          <a:ln>
                            <a:noFill/>
                          </a:ln>
                          <a:solidFill>
                            <a:prstClr val="black"/>
                          </a:solidFill>
                          <a:effectLst/>
                          <a:uLnTx/>
                          <a:uFillTx/>
                          <a:latin typeface="+mn-lt"/>
                          <a:ea typeface="+mn-ea"/>
                          <a:cs typeface="+mn-cs"/>
                        </a:rPr>
                        <a:t>The policies offer clarity on power offtake and tariff-related matters for existing IPP projects such as minimum equity requirement of 20%, </a:t>
                      </a:r>
                      <a:r>
                        <a:rPr kumimoji="0" lang="en-US" sz="1000" b="0" i="0" u="none" strike="noStrike" kern="1200" cap="none" spc="0" normalizeH="0" baseline="0" noProof="0" dirty="0" err="1">
                          <a:ln>
                            <a:noFill/>
                          </a:ln>
                          <a:solidFill>
                            <a:prstClr val="black"/>
                          </a:solidFill>
                          <a:effectLst/>
                          <a:uLnTx/>
                          <a:uFillTx/>
                          <a:latin typeface="+mn-lt"/>
                          <a:ea typeface="+mn-ea"/>
                          <a:cs typeface="+mn-cs"/>
                        </a:rPr>
                        <a:t>GoB</a:t>
                      </a:r>
                      <a:r>
                        <a:rPr kumimoji="0" lang="en-US" sz="1000" b="0" i="0" u="none" strike="noStrike" kern="1200" cap="none" spc="0" normalizeH="0" baseline="0" noProof="0" dirty="0">
                          <a:ln>
                            <a:noFill/>
                          </a:ln>
                          <a:solidFill>
                            <a:prstClr val="black"/>
                          </a:solidFill>
                          <a:effectLst/>
                          <a:uLnTx/>
                          <a:uFillTx/>
                          <a:latin typeface="+mn-lt"/>
                          <a:ea typeface="+mn-ea"/>
                          <a:cs typeface="+mn-cs"/>
                        </a:rPr>
                        <a:t> guarantee on PPA for utility performance, Tax exemptions </a:t>
                      </a:r>
                      <a:r>
                        <a:rPr kumimoji="0" lang="en-US" sz="1000" b="0" i="0" u="none" strike="noStrike" kern="1200" cap="none" spc="0" normalizeH="0" baseline="0" noProof="0" dirty="0" err="1">
                          <a:ln>
                            <a:noFill/>
                          </a:ln>
                          <a:solidFill>
                            <a:prstClr val="black"/>
                          </a:solidFill>
                          <a:effectLst/>
                          <a:uLnTx/>
                          <a:uFillTx/>
                          <a:latin typeface="+mn-lt"/>
                          <a:ea typeface="+mn-ea"/>
                          <a:cs typeface="+mn-cs"/>
                        </a:rPr>
                        <a:t>etc</a:t>
                      </a:r>
                      <a:endParaRPr lang="en-IN" sz="100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sz="1000" i="0" dirty="0">
                          <a:latin typeface="+mj-lt"/>
                        </a:rPr>
                        <a:t>176</a:t>
                      </a:r>
                      <a:endParaRPr lang="en-IN" sz="100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6387994"/>
                  </a:ext>
                </a:extLst>
              </a:tr>
              <a:tr h="370840">
                <a:tc>
                  <a:txBody>
                    <a:bodyPr/>
                    <a:lstStyle/>
                    <a:p>
                      <a:pPr algn="just">
                        <a:spcAft>
                          <a:spcPts val="500"/>
                        </a:spcAft>
                      </a:pPr>
                      <a:r>
                        <a:rPr lang="en-US" sz="1000" b="0" i="0" dirty="0">
                          <a:latin typeface="+mj-lt"/>
                        </a:rPr>
                        <a:t>11</a:t>
                      </a:r>
                      <a:endParaRPr lang="en-IN" sz="1000" b="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just" defTabSz="990571" rtl="0" eaLnBrk="1" fontAlgn="auto" latinLnBrk="0" hangingPunct="1">
                        <a:lnSpc>
                          <a:spcPct val="100000"/>
                        </a:lnSpc>
                        <a:spcBef>
                          <a:spcPts val="0"/>
                        </a:spcBef>
                        <a:spcAft>
                          <a:spcPts val="500"/>
                        </a:spcAft>
                        <a:buClrTx/>
                        <a:buSzTx/>
                        <a:buFontTx/>
                        <a:buNone/>
                        <a:tabLst/>
                        <a:defRPr/>
                      </a:pPr>
                      <a:r>
                        <a:rPr lang="en-US" sz="1000" b="0" dirty="0">
                          <a:solidFill>
                            <a:prstClr val="black"/>
                          </a:solidFill>
                        </a:rPr>
                        <a:t>Policy Guidelines for Enhancement of Private Participation in the Power Sector, 2008</a:t>
                      </a:r>
                      <a:endParaRPr kumimoji="0" lang="en-US" sz="1000" b="0" i="0" u="none" strike="noStrike" kern="1200" cap="none" spc="0" normalizeH="0" baseline="0" noProof="0" dirty="0">
                        <a:ln>
                          <a:noFill/>
                        </a:ln>
                        <a:solidFill>
                          <a:prstClr val="black"/>
                        </a:solidFill>
                        <a:effectLst/>
                        <a:uLnTx/>
                        <a:uFillTx/>
                        <a:latin typeface="+mn-lt"/>
                        <a:ea typeface="+mn-ea"/>
                        <a:cs typeface="+mn-cs"/>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sz="1000" i="0" dirty="0">
                          <a:solidFill>
                            <a:prstClr val="black"/>
                          </a:solidFill>
                        </a:rPr>
                        <a:t>This policy aims at facilitating selling of power from private power plants</a:t>
                      </a:r>
                      <a:r>
                        <a:rPr lang="en-US" sz="1000" i="0" baseline="0" dirty="0">
                          <a:solidFill>
                            <a:prstClr val="black"/>
                          </a:solidFill>
                        </a:rPr>
                        <a:t> shedding light on matters such as choice of fuel, fuel supply responsibility and requisite experience of developers</a:t>
                      </a:r>
                      <a:endParaRPr lang="en-IN" sz="100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sz="1000" i="0" dirty="0">
                          <a:latin typeface="+mj-lt"/>
                        </a:rPr>
                        <a:t>177</a:t>
                      </a:r>
                      <a:endParaRPr lang="en-IN" sz="100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94560777"/>
                  </a:ext>
                </a:extLst>
              </a:tr>
              <a:tr h="370840">
                <a:tc>
                  <a:txBody>
                    <a:bodyPr/>
                    <a:lstStyle/>
                    <a:p>
                      <a:pPr algn="just">
                        <a:spcAft>
                          <a:spcPts val="500"/>
                        </a:spcAft>
                      </a:pPr>
                      <a:r>
                        <a:rPr lang="en-US" sz="1000" b="0" i="0" dirty="0">
                          <a:latin typeface="+mj-lt"/>
                        </a:rPr>
                        <a:t>12</a:t>
                      </a:r>
                      <a:endParaRPr lang="en-IN" sz="1000" b="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just" defTabSz="990571" rtl="0" eaLnBrk="1" fontAlgn="auto" latinLnBrk="0" hangingPunct="1">
                        <a:lnSpc>
                          <a:spcPct val="100000"/>
                        </a:lnSpc>
                        <a:spcBef>
                          <a:spcPts val="0"/>
                        </a:spcBef>
                        <a:spcAft>
                          <a:spcPts val="50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mn-lt"/>
                          <a:ea typeface="+mn-ea"/>
                          <a:cs typeface="+mn-cs"/>
                        </a:rPr>
                        <a:t>Renewable Energy Policy of Bangladesh, 2008</a:t>
                      </a: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mn-lt"/>
                          <a:ea typeface="+mn-ea"/>
                          <a:cs typeface="+mn-cs"/>
                        </a:rPr>
                        <a:t>Aims at development of renewable energy resources in Bangladesh and targets to meet 10% of the country’s power demand from RE sources by 2020</a:t>
                      </a:r>
                      <a:endParaRPr lang="en-IN" sz="100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US" sz="1000" i="0" dirty="0">
                          <a:latin typeface="+mj-lt"/>
                        </a:rPr>
                        <a:t>178</a:t>
                      </a:r>
                      <a:endParaRPr lang="en-IN" sz="1000" i="0" dirty="0">
                        <a:latin typeface="+mj-lt"/>
                      </a:endParaRPr>
                    </a:p>
                  </a:txBody>
                  <a:tcPr anchor="ct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77948253"/>
                  </a:ext>
                </a:extLst>
              </a:tr>
            </a:tbl>
          </a:graphicData>
        </a:graphic>
      </p:graphicFrame>
      <p:sp>
        <p:nvSpPr>
          <p:cNvPr id="7" name="Rectangle 6"/>
          <p:cNvSpPr/>
          <p:nvPr/>
        </p:nvSpPr>
        <p:spPr bwMode="gray">
          <a:xfrm>
            <a:off x="367167" y="7226733"/>
            <a:ext cx="4179454" cy="258504"/>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MPEMR,</a:t>
            </a:r>
            <a:r>
              <a:rPr kumimoji="0" lang="en-US" sz="700" b="0" i="1" u="none" strike="noStrike" kern="1200" cap="none" spc="0" normalizeH="0" noProof="0" dirty="0">
                <a:ln>
                  <a:noFill/>
                </a:ln>
                <a:solidFill>
                  <a:prstClr val="black"/>
                </a:solidFill>
                <a:effectLst/>
                <a:uLnTx/>
                <a:uFillTx/>
                <a:latin typeface="Verdana"/>
                <a:ea typeface="+mn-ea"/>
                <a:cs typeface="+mn-cs"/>
              </a:rPr>
              <a:t> BERC, </a:t>
            </a:r>
            <a:r>
              <a:rPr kumimoji="0" lang="en-US" sz="700" b="0" i="1" u="none" strike="noStrike" kern="1200" cap="none" spc="0" normalizeH="0" noProof="0" dirty="0" err="1">
                <a:ln>
                  <a:noFill/>
                </a:ln>
                <a:solidFill>
                  <a:prstClr val="black"/>
                </a:solidFill>
                <a:effectLst/>
                <a:uLnTx/>
                <a:uFillTx/>
                <a:latin typeface="Verdana"/>
                <a:ea typeface="+mn-ea"/>
                <a:cs typeface="+mn-cs"/>
              </a:rPr>
              <a:t>Petrobangla</a:t>
            </a:r>
            <a:r>
              <a:rPr kumimoji="0" lang="en-US" sz="700" b="0" i="1" u="none" strike="noStrike" kern="1200" cap="none" spc="0" normalizeH="0" noProof="0" dirty="0">
                <a:ln>
                  <a:noFill/>
                </a:ln>
                <a:solidFill>
                  <a:prstClr val="black"/>
                </a:solidFill>
                <a:effectLst/>
                <a:uLnTx/>
                <a:uFillTx/>
                <a:latin typeface="Verdana"/>
                <a:ea typeface="+mn-ea"/>
                <a:cs typeface="+mn-cs"/>
              </a:rPr>
              <a:t>, ERD, Government Act, Rules and Notifications</a:t>
            </a:r>
            <a:endParaRPr kumimoji="0" lang="en-IN" sz="700" b="0" i="1"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4171108817"/>
      </p:ext>
    </p:extLst>
  </p:cSld>
  <p:clrMapOvr>
    <a:masterClrMapping/>
  </p:clrMapOvr>
  <p:transition>
    <p:fade/>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340019347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graphicFrame>
        <p:nvGraphicFramePr>
          <p:cNvPr id="5" name="Table 4"/>
          <p:cNvGraphicFramePr>
            <a:graphicFrameLocks noGrp="1"/>
          </p:cNvGraphicFramePr>
          <p:nvPr>
            <p:extLst>
              <p:ext uri="{D42A27DB-BD31-4B8C-83A1-F6EECF244321}">
                <p14:modId xmlns:p14="http://schemas.microsoft.com/office/powerpoint/2010/main" val="1640213218"/>
              </p:ext>
            </p:extLst>
          </p:nvPr>
        </p:nvGraphicFramePr>
        <p:xfrm>
          <a:off x="447964" y="1224118"/>
          <a:ext cx="5735666" cy="5222400"/>
        </p:xfrm>
        <a:graphic>
          <a:graphicData uri="http://schemas.openxmlformats.org/drawingml/2006/table">
            <a:tbl>
              <a:tblPr firstRow="1" bandRow="1">
                <a:tableStyleId>{2D5ABB26-0587-4C30-8999-92F81FD0307C}</a:tableStyleId>
              </a:tblPr>
              <a:tblGrid>
                <a:gridCol w="4204046">
                  <a:extLst>
                    <a:ext uri="{9D8B030D-6E8A-4147-A177-3AD203B41FA5}">
                      <a16:colId xmlns:a16="http://schemas.microsoft.com/office/drawing/2014/main" val="1554220861"/>
                    </a:ext>
                  </a:extLst>
                </a:gridCol>
                <a:gridCol w="1531620">
                  <a:extLst>
                    <a:ext uri="{9D8B030D-6E8A-4147-A177-3AD203B41FA5}">
                      <a16:colId xmlns:a16="http://schemas.microsoft.com/office/drawing/2014/main" val="941145961"/>
                    </a:ext>
                  </a:extLst>
                </a:gridCol>
              </a:tblGrid>
              <a:tr h="522240">
                <a:tc>
                  <a:txBody>
                    <a:bodyPr/>
                    <a:lstStyle/>
                    <a:p>
                      <a:r>
                        <a:rPr lang="en-US" sz="1400" b="1" dirty="0"/>
                        <a:t>Bangladesh – Country Overview</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IN" sz="1400"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11222674"/>
                  </a:ext>
                </a:extLst>
              </a:tr>
              <a:tr h="522240">
                <a:tc>
                  <a:txBody>
                    <a:bodyPr/>
                    <a:lstStyle/>
                    <a:p>
                      <a:r>
                        <a:rPr lang="en-US" sz="1400" b="1" dirty="0"/>
                        <a:t>Power Market Demand Supply Outlook</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IN" sz="1400"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50947276"/>
                  </a:ext>
                </a:extLst>
              </a:tr>
              <a:tr h="522240">
                <a:tc>
                  <a:txBody>
                    <a:bodyPr/>
                    <a:lstStyle/>
                    <a:p>
                      <a:r>
                        <a:rPr lang="en-IN" sz="1400" b="1" dirty="0"/>
                        <a:t>Gas Transmission &amp; Supply Outlook</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IN" sz="1400"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79557527"/>
                  </a:ext>
                </a:extLst>
              </a:tr>
              <a:tr h="522240">
                <a:tc>
                  <a:txBody>
                    <a:bodyPr/>
                    <a:lstStyle/>
                    <a:p>
                      <a:r>
                        <a:rPr lang="en-IN" sz="1400" b="1" dirty="0"/>
                        <a:t>Electricity Transmission Outlook</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IN" sz="1400"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303408586"/>
                  </a:ext>
                </a:extLst>
              </a:tr>
              <a:tr h="522240">
                <a:tc>
                  <a:txBody>
                    <a:bodyPr/>
                    <a:lstStyle/>
                    <a:p>
                      <a:r>
                        <a:rPr lang="en-IN" sz="1400" b="1" dirty="0"/>
                        <a:t>Gas &amp; Fuel Pricing Assessment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IN" sz="1400"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9262990"/>
                  </a:ext>
                </a:extLst>
              </a:tr>
              <a:tr h="522240">
                <a:tc>
                  <a:txBody>
                    <a:bodyPr/>
                    <a:lstStyle/>
                    <a:p>
                      <a:r>
                        <a:rPr lang="en-US" sz="1400" b="1" dirty="0"/>
                        <a:t>Discom</a:t>
                      </a:r>
                      <a:r>
                        <a:rPr lang="en-US" sz="1400" b="1" baseline="0" dirty="0"/>
                        <a:t> Credit Risk Assessment</a:t>
                      </a:r>
                      <a:endParaRPr lang="en-US" sz="1400"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IN" sz="1400"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94276924"/>
                  </a:ext>
                </a:extLst>
              </a:tr>
              <a:tr h="522240">
                <a:tc>
                  <a:txBody>
                    <a:bodyPr/>
                    <a:lstStyle/>
                    <a:p>
                      <a:r>
                        <a:rPr lang="en-US" sz="1400" b="1" dirty="0"/>
                        <a:t>Fuel supplier Credit Risk Assessment</a:t>
                      </a:r>
                    </a:p>
                    <a:p>
                      <a:endParaRPr lang="en-IN" sz="1400"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IN" sz="1400"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43976456"/>
                  </a:ext>
                </a:extLst>
              </a:tr>
              <a:tr h="522240">
                <a:tc>
                  <a:txBody>
                    <a:bodyPr/>
                    <a:lstStyle/>
                    <a:p>
                      <a:r>
                        <a:rPr lang="en-US" sz="1400" b="1" dirty="0"/>
                        <a:t>Assessment of Foreign Participation in Power Sector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IN" sz="1400"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993146017"/>
                  </a:ext>
                </a:extLst>
              </a:tr>
              <a:tr h="522240">
                <a:tc>
                  <a:txBody>
                    <a:bodyPr/>
                    <a:lstStyle/>
                    <a:p>
                      <a:r>
                        <a:rPr lang="en-IN" sz="1400" b="1" dirty="0"/>
                        <a:t>Contracts Risk Assessment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IN" sz="1400"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64033699"/>
                  </a:ext>
                </a:extLst>
              </a:tr>
              <a:tr h="522240">
                <a:tc>
                  <a:txBody>
                    <a:bodyPr/>
                    <a:lstStyle/>
                    <a:p>
                      <a:r>
                        <a:rPr lang="en-IN" sz="1400" b="1" dirty="0"/>
                        <a:t>Policy &amp; Regulatory Assessment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IN" sz="1400"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17017974"/>
                  </a:ext>
                </a:extLst>
              </a:tr>
            </a:tbl>
          </a:graphicData>
        </a:graphic>
      </p:graphicFrame>
      <p:sp>
        <p:nvSpPr>
          <p:cNvPr id="2" name="Title 1"/>
          <p:cNvSpPr>
            <a:spLocks noGrp="1"/>
          </p:cNvSpPr>
          <p:nvPr>
            <p:ph type="title"/>
          </p:nvPr>
        </p:nvSpPr>
        <p:spPr/>
        <p:txBody>
          <a:bodyPr/>
          <a:lstStyle/>
          <a:p>
            <a:r>
              <a:rPr lang="en-US" dirty="0"/>
              <a:t>Table of Contents</a:t>
            </a:r>
            <a:endParaRPr lang="en-IN" dirty="0"/>
          </a:p>
        </p:txBody>
      </p:sp>
      <p:pic>
        <p:nvPicPr>
          <p:cNvPr id="59" name="Picture 58"/>
          <p:cNvPicPr>
            <a:picLocks noChangeAspect="1"/>
          </p:cNvPicPr>
          <p:nvPr/>
        </p:nvPicPr>
        <p:blipFill rotWithShape="1">
          <a:blip r:embed="rId6" cstate="email">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a:ext>
            </a:extLst>
          </a:blip>
          <a:srcRect/>
          <a:stretch/>
        </p:blipFill>
        <p:spPr>
          <a:xfrm>
            <a:off x="6388099" y="1079499"/>
            <a:ext cx="4303713" cy="5570411"/>
          </a:xfrm>
          <a:prstGeom prst="rect">
            <a:avLst/>
          </a:prstGeom>
        </p:spPr>
      </p:pic>
      <p:sp>
        <p:nvSpPr>
          <p:cNvPr id="61" name="Rectangle 60"/>
          <p:cNvSpPr/>
          <p:nvPr/>
        </p:nvSpPr>
        <p:spPr bwMode="gray">
          <a:xfrm>
            <a:off x="447964" y="1030161"/>
            <a:ext cx="10229273" cy="36000"/>
          </a:xfrm>
          <a:prstGeom prst="rect">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2" name="Rectangle 61"/>
          <p:cNvSpPr/>
          <p:nvPr/>
        </p:nvSpPr>
        <p:spPr bwMode="gray">
          <a:xfrm>
            <a:off x="447964" y="6663250"/>
            <a:ext cx="10229273" cy="36000"/>
          </a:xfrm>
          <a:prstGeom prst="rect">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4" name="Oval 63"/>
          <p:cNvSpPr/>
          <p:nvPr/>
        </p:nvSpPr>
        <p:spPr bwMode="gray">
          <a:xfrm>
            <a:off x="5179691" y="1296232"/>
            <a:ext cx="382909" cy="382909"/>
          </a:xfrm>
          <a:prstGeom prst="ellipse">
            <a:avLst/>
          </a:prstGeom>
          <a:solidFill>
            <a:srgbClr val="00ABAB"/>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solidFill>
                  <a:schemeClr val="bg1"/>
                </a:solidFill>
              </a:rPr>
              <a:t>01</a:t>
            </a:r>
            <a:endParaRPr lang="en-IN" sz="1400" b="1" dirty="0">
              <a:solidFill>
                <a:schemeClr val="bg1"/>
              </a:solidFill>
            </a:endParaRPr>
          </a:p>
        </p:txBody>
      </p:sp>
      <p:sp>
        <p:nvSpPr>
          <p:cNvPr id="27" name="Oval 26"/>
          <p:cNvSpPr/>
          <p:nvPr/>
        </p:nvSpPr>
        <p:spPr bwMode="gray">
          <a:xfrm>
            <a:off x="5184133" y="1819733"/>
            <a:ext cx="382909" cy="382909"/>
          </a:xfrm>
          <a:prstGeom prst="ellipse">
            <a:avLst/>
          </a:prstGeom>
          <a:solidFill>
            <a:srgbClr val="00ABAB"/>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solidFill>
                  <a:schemeClr val="bg1"/>
                </a:solidFill>
              </a:rPr>
              <a:t>02</a:t>
            </a:r>
            <a:endParaRPr lang="en-IN" sz="1400" b="1" dirty="0">
              <a:solidFill>
                <a:schemeClr val="bg1"/>
              </a:solidFill>
            </a:endParaRPr>
          </a:p>
        </p:txBody>
      </p:sp>
      <p:sp>
        <p:nvSpPr>
          <p:cNvPr id="28" name="Oval 27"/>
          <p:cNvSpPr/>
          <p:nvPr/>
        </p:nvSpPr>
        <p:spPr bwMode="gray">
          <a:xfrm>
            <a:off x="5184133" y="2343234"/>
            <a:ext cx="382909" cy="382909"/>
          </a:xfrm>
          <a:prstGeom prst="ellipse">
            <a:avLst/>
          </a:prstGeom>
          <a:solidFill>
            <a:srgbClr val="00ABAB"/>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solidFill>
                  <a:schemeClr val="bg1"/>
                </a:solidFill>
              </a:rPr>
              <a:t>03</a:t>
            </a:r>
            <a:endParaRPr lang="en-IN" sz="1400" b="1" dirty="0">
              <a:solidFill>
                <a:schemeClr val="bg1"/>
              </a:solidFill>
            </a:endParaRPr>
          </a:p>
        </p:txBody>
      </p:sp>
      <p:sp>
        <p:nvSpPr>
          <p:cNvPr id="29" name="Oval 28"/>
          <p:cNvSpPr/>
          <p:nvPr/>
        </p:nvSpPr>
        <p:spPr bwMode="gray">
          <a:xfrm>
            <a:off x="5179696" y="2866735"/>
            <a:ext cx="382909" cy="382909"/>
          </a:xfrm>
          <a:prstGeom prst="ellipse">
            <a:avLst/>
          </a:prstGeom>
          <a:solidFill>
            <a:srgbClr val="00ABAB"/>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solidFill>
                  <a:schemeClr val="bg1"/>
                </a:solidFill>
              </a:rPr>
              <a:t>04</a:t>
            </a:r>
            <a:endParaRPr lang="en-IN" sz="1400" b="1" dirty="0">
              <a:solidFill>
                <a:schemeClr val="bg1"/>
              </a:solidFill>
            </a:endParaRPr>
          </a:p>
        </p:txBody>
      </p:sp>
      <p:sp>
        <p:nvSpPr>
          <p:cNvPr id="30" name="Oval 29"/>
          <p:cNvSpPr/>
          <p:nvPr/>
        </p:nvSpPr>
        <p:spPr bwMode="gray">
          <a:xfrm>
            <a:off x="5179696" y="3390236"/>
            <a:ext cx="382909" cy="382909"/>
          </a:xfrm>
          <a:prstGeom prst="ellipse">
            <a:avLst/>
          </a:prstGeom>
          <a:solidFill>
            <a:srgbClr val="00ABAB"/>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solidFill>
                  <a:schemeClr val="bg1"/>
                </a:solidFill>
              </a:rPr>
              <a:t>05</a:t>
            </a:r>
            <a:endParaRPr lang="en-IN" sz="1400" b="1" dirty="0">
              <a:solidFill>
                <a:schemeClr val="bg1"/>
              </a:solidFill>
            </a:endParaRPr>
          </a:p>
        </p:txBody>
      </p:sp>
      <p:sp>
        <p:nvSpPr>
          <p:cNvPr id="31" name="Oval 30"/>
          <p:cNvSpPr/>
          <p:nvPr/>
        </p:nvSpPr>
        <p:spPr bwMode="gray">
          <a:xfrm>
            <a:off x="5179696" y="3913737"/>
            <a:ext cx="382909" cy="382909"/>
          </a:xfrm>
          <a:prstGeom prst="ellipse">
            <a:avLst/>
          </a:prstGeom>
          <a:solidFill>
            <a:srgbClr val="00ABAB"/>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solidFill>
                  <a:schemeClr val="bg1"/>
                </a:solidFill>
              </a:rPr>
              <a:t>06</a:t>
            </a:r>
            <a:endParaRPr lang="en-IN" sz="1400" b="1" dirty="0">
              <a:solidFill>
                <a:schemeClr val="bg1"/>
              </a:solidFill>
            </a:endParaRPr>
          </a:p>
        </p:txBody>
      </p:sp>
      <p:sp>
        <p:nvSpPr>
          <p:cNvPr id="33" name="Oval 32"/>
          <p:cNvSpPr/>
          <p:nvPr/>
        </p:nvSpPr>
        <p:spPr bwMode="gray">
          <a:xfrm>
            <a:off x="5179695" y="4437238"/>
            <a:ext cx="382909" cy="382909"/>
          </a:xfrm>
          <a:prstGeom prst="ellipse">
            <a:avLst/>
          </a:prstGeom>
          <a:solidFill>
            <a:srgbClr val="00ABAB"/>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solidFill>
                  <a:schemeClr val="bg1"/>
                </a:solidFill>
              </a:rPr>
              <a:t>07</a:t>
            </a:r>
            <a:endParaRPr lang="en-IN" sz="1400" b="1" dirty="0">
              <a:solidFill>
                <a:schemeClr val="bg1"/>
              </a:solidFill>
            </a:endParaRPr>
          </a:p>
        </p:txBody>
      </p:sp>
      <p:sp>
        <p:nvSpPr>
          <p:cNvPr id="34" name="Oval 33"/>
          <p:cNvSpPr/>
          <p:nvPr/>
        </p:nvSpPr>
        <p:spPr bwMode="gray">
          <a:xfrm>
            <a:off x="5179692" y="4960739"/>
            <a:ext cx="382909" cy="382909"/>
          </a:xfrm>
          <a:prstGeom prst="ellipse">
            <a:avLst/>
          </a:prstGeom>
          <a:solidFill>
            <a:srgbClr val="00ABAB"/>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solidFill>
                  <a:schemeClr val="bg1"/>
                </a:solidFill>
              </a:rPr>
              <a:t>08</a:t>
            </a:r>
            <a:endParaRPr lang="en-IN" sz="1400" b="1" dirty="0">
              <a:solidFill>
                <a:schemeClr val="bg1"/>
              </a:solidFill>
            </a:endParaRPr>
          </a:p>
        </p:txBody>
      </p:sp>
      <p:sp>
        <p:nvSpPr>
          <p:cNvPr id="35" name="Oval 34"/>
          <p:cNvSpPr/>
          <p:nvPr/>
        </p:nvSpPr>
        <p:spPr bwMode="gray">
          <a:xfrm>
            <a:off x="5179694" y="5484240"/>
            <a:ext cx="382909" cy="382909"/>
          </a:xfrm>
          <a:prstGeom prst="ellipse">
            <a:avLst/>
          </a:prstGeom>
          <a:solidFill>
            <a:srgbClr val="00ABAB"/>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solidFill>
                  <a:schemeClr val="bg1"/>
                </a:solidFill>
              </a:rPr>
              <a:t>09</a:t>
            </a:r>
            <a:endParaRPr lang="en-IN" sz="1400" b="1" dirty="0">
              <a:solidFill>
                <a:schemeClr val="bg1"/>
              </a:solidFill>
            </a:endParaRPr>
          </a:p>
        </p:txBody>
      </p:sp>
      <p:sp>
        <p:nvSpPr>
          <p:cNvPr id="32" name="Oval 31"/>
          <p:cNvSpPr/>
          <p:nvPr/>
        </p:nvSpPr>
        <p:spPr bwMode="gray">
          <a:xfrm>
            <a:off x="5179691" y="6007743"/>
            <a:ext cx="382909" cy="382909"/>
          </a:xfrm>
          <a:prstGeom prst="ellipse">
            <a:avLst/>
          </a:prstGeom>
          <a:solidFill>
            <a:srgbClr val="00ABAB"/>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solidFill>
                  <a:schemeClr val="bg1"/>
                </a:solidFill>
              </a:rPr>
              <a:t>10</a:t>
            </a:r>
            <a:endParaRPr lang="en-IN" sz="1400" b="1" dirty="0">
              <a:solidFill>
                <a:schemeClr val="bg1"/>
              </a:solidFill>
            </a:endParaRPr>
          </a:p>
        </p:txBody>
      </p:sp>
    </p:spTree>
    <p:extLst>
      <p:ext uri="{BB962C8B-B14F-4D97-AF65-F5344CB8AC3E}">
        <p14:creationId xmlns:p14="http://schemas.microsoft.com/office/powerpoint/2010/main" val="457725902"/>
      </p:ext>
    </p:extLst>
  </p:cSld>
  <p:clrMapOvr>
    <a:masterClrMapping/>
  </p:clrMapOvr>
  <p:transition>
    <p:fade/>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pic>
        <p:nvPicPr>
          <p:cNvPr id="59" name="Picture 58"/>
          <p:cNvPicPr>
            <a:picLocks noChangeAspect="1"/>
          </p:cNvPicPr>
          <p:nvPr/>
        </p:nvPicPr>
        <p:blipFill rotWithShape="1">
          <a:blip r:embed="rId6" cstate="email">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a:ext>
            </a:extLst>
          </a:blip>
          <a:srcRect/>
          <a:stretch/>
        </p:blipFill>
        <p:spPr>
          <a:xfrm>
            <a:off x="6388099" y="1079499"/>
            <a:ext cx="4303713" cy="5570411"/>
          </a:xfrm>
          <a:prstGeom prst="rect">
            <a:avLst/>
          </a:prstGeom>
        </p:spPr>
      </p:pic>
      <p:sp>
        <p:nvSpPr>
          <p:cNvPr id="61" name="Rectangle 60"/>
          <p:cNvSpPr/>
          <p:nvPr/>
        </p:nvSpPr>
        <p:spPr bwMode="gray">
          <a:xfrm>
            <a:off x="447964" y="1030161"/>
            <a:ext cx="10229273" cy="36000"/>
          </a:xfrm>
          <a:prstGeom prst="rect">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2" name="Rectangle 61"/>
          <p:cNvSpPr/>
          <p:nvPr/>
        </p:nvSpPr>
        <p:spPr bwMode="gray">
          <a:xfrm>
            <a:off x="447964" y="6663250"/>
            <a:ext cx="10229273" cy="36000"/>
          </a:xfrm>
          <a:prstGeom prst="rect">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6" name="Rectangle 15"/>
          <p:cNvSpPr/>
          <p:nvPr/>
        </p:nvSpPr>
        <p:spPr>
          <a:xfrm>
            <a:off x="469900" y="2352070"/>
            <a:ext cx="4552045" cy="2308324"/>
          </a:xfrm>
          <a:prstGeom prst="rect">
            <a:avLst/>
          </a:prstGeom>
        </p:spPr>
        <p:txBody>
          <a:bodyPr wrap="square">
            <a:spAutoFit/>
          </a:bodyPr>
          <a:lstStyle/>
          <a:p>
            <a:r>
              <a:rPr lang="en-US" sz="2400" b="1" dirty="0"/>
              <a:t>Bangladesh – Country Overview </a:t>
            </a:r>
          </a:p>
          <a:p>
            <a:r>
              <a:rPr lang="en-US" sz="2400" i="1" dirty="0">
                <a:solidFill>
                  <a:schemeClr val="accent5"/>
                </a:solidFill>
              </a:rPr>
              <a:t>Overview of the Bangladesh economy, growth drivers, trade balance and foreign reserves</a:t>
            </a:r>
          </a:p>
        </p:txBody>
      </p:sp>
      <p:sp>
        <p:nvSpPr>
          <p:cNvPr id="13" name="Oval 12"/>
          <p:cNvSpPr/>
          <p:nvPr/>
        </p:nvSpPr>
        <p:spPr bwMode="gray">
          <a:xfrm>
            <a:off x="5179691" y="1296232"/>
            <a:ext cx="382909" cy="382909"/>
          </a:xfrm>
          <a:prstGeom prst="ellipse">
            <a:avLst/>
          </a:prstGeom>
          <a:solidFill>
            <a:schemeClr val="accent5"/>
          </a:solidFill>
        </p:spPr>
        <p:txBody>
          <a:bodyPr wrap="square" lIns="0" tIns="88900" rIns="0" bIns="88900" rtlCol="0" anchor="ctr"/>
          <a:lstStyle/>
          <a:p>
            <a:pPr algn="ctr">
              <a:lnSpc>
                <a:spcPct val="106000"/>
              </a:lnSpc>
              <a:buFont typeface="Wingdings 2" pitchFamily="18" charset="2"/>
              <a:buNone/>
            </a:pPr>
            <a:r>
              <a:rPr lang="en-US" sz="1400" b="1" dirty="0">
                <a:solidFill>
                  <a:schemeClr val="bg1"/>
                </a:solidFill>
              </a:rPr>
              <a:t>01</a:t>
            </a:r>
            <a:endParaRPr lang="en-IN" sz="1400" b="1" dirty="0">
              <a:solidFill>
                <a:schemeClr val="bg1"/>
              </a:solidFill>
            </a:endParaRPr>
          </a:p>
        </p:txBody>
      </p:sp>
      <p:sp>
        <p:nvSpPr>
          <p:cNvPr id="14" name="Oval 13"/>
          <p:cNvSpPr/>
          <p:nvPr/>
        </p:nvSpPr>
        <p:spPr bwMode="gray">
          <a:xfrm>
            <a:off x="5184133" y="1819733"/>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02</a:t>
            </a:r>
            <a:endParaRPr lang="en-IN" sz="1400" b="1" dirty="0"/>
          </a:p>
        </p:txBody>
      </p:sp>
      <p:sp>
        <p:nvSpPr>
          <p:cNvPr id="15" name="Oval 14"/>
          <p:cNvSpPr/>
          <p:nvPr/>
        </p:nvSpPr>
        <p:spPr bwMode="gray">
          <a:xfrm>
            <a:off x="5184133" y="2343234"/>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03</a:t>
            </a:r>
            <a:endParaRPr lang="en-IN" sz="1400" b="1" dirty="0"/>
          </a:p>
        </p:txBody>
      </p:sp>
      <p:sp>
        <p:nvSpPr>
          <p:cNvPr id="17" name="Oval 16"/>
          <p:cNvSpPr/>
          <p:nvPr/>
        </p:nvSpPr>
        <p:spPr bwMode="gray">
          <a:xfrm>
            <a:off x="5179696" y="2866735"/>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04</a:t>
            </a:r>
            <a:endParaRPr lang="en-IN" sz="1400" b="1" dirty="0"/>
          </a:p>
        </p:txBody>
      </p:sp>
      <p:sp>
        <p:nvSpPr>
          <p:cNvPr id="18" name="Oval 17"/>
          <p:cNvSpPr/>
          <p:nvPr/>
        </p:nvSpPr>
        <p:spPr bwMode="gray">
          <a:xfrm>
            <a:off x="5179696" y="3390236"/>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05</a:t>
            </a:r>
            <a:endParaRPr lang="en-IN" sz="1400" b="1" dirty="0"/>
          </a:p>
        </p:txBody>
      </p:sp>
      <p:sp>
        <p:nvSpPr>
          <p:cNvPr id="19" name="Oval 18"/>
          <p:cNvSpPr/>
          <p:nvPr/>
        </p:nvSpPr>
        <p:spPr bwMode="gray">
          <a:xfrm>
            <a:off x="5179696" y="3913737"/>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06</a:t>
            </a:r>
            <a:endParaRPr lang="en-IN" sz="1400" b="1" dirty="0"/>
          </a:p>
        </p:txBody>
      </p:sp>
      <p:sp>
        <p:nvSpPr>
          <p:cNvPr id="20" name="Oval 19"/>
          <p:cNvSpPr/>
          <p:nvPr/>
        </p:nvSpPr>
        <p:spPr bwMode="gray">
          <a:xfrm>
            <a:off x="5179695" y="4437238"/>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07</a:t>
            </a:r>
            <a:endParaRPr lang="en-IN" sz="1400" b="1" dirty="0"/>
          </a:p>
        </p:txBody>
      </p:sp>
      <p:sp>
        <p:nvSpPr>
          <p:cNvPr id="21" name="Oval 20"/>
          <p:cNvSpPr/>
          <p:nvPr/>
        </p:nvSpPr>
        <p:spPr bwMode="gray">
          <a:xfrm>
            <a:off x="5179692" y="4960739"/>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08</a:t>
            </a:r>
            <a:endParaRPr lang="en-IN" sz="1400" b="1" dirty="0"/>
          </a:p>
        </p:txBody>
      </p:sp>
      <p:sp>
        <p:nvSpPr>
          <p:cNvPr id="22" name="Oval 21"/>
          <p:cNvSpPr/>
          <p:nvPr/>
        </p:nvSpPr>
        <p:spPr bwMode="gray">
          <a:xfrm>
            <a:off x="5179694" y="5484240"/>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09</a:t>
            </a:r>
            <a:endParaRPr lang="en-IN" sz="1400" b="1" dirty="0"/>
          </a:p>
        </p:txBody>
      </p:sp>
      <p:sp>
        <p:nvSpPr>
          <p:cNvPr id="23" name="Oval 22"/>
          <p:cNvSpPr/>
          <p:nvPr/>
        </p:nvSpPr>
        <p:spPr bwMode="gray">
          <a:xfrm>
            <a:off x="5179691" y="6007743"/>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10</a:t>
            </a:r>
            <a:endParaRPr lang="en-IN" sz="1400" b="1" dirty="0"/>
          </a:p>
        </p:txBody>
      </p:sp>
    </p:spTree>
    <p:extLst>
      <p:ext uri="{BB962C8B-B14F-4D97-AF65-F5344CB8AC3E}">
        <p14:creationId xmlns:p14="http://schemas.microsoft.com/office/powerpoint/2010/main" val="1187395775"/>
      </p:ext>
    </p:extLst>
  </p:cSld>
  <p:clrMapOvr>
    <a:masterClrMapping/>
  </p:clrMapOvr>
  <p:transition>
    <p:fade/>
  </p:transition>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71444504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US" sz="3898" b="1" u="none" strike="noStrike" kern="1200" cap="none" spc="0" normalizeH="0" noProof="0" dirty="0">
              <a:ln>
                <a:noFill/>
              </a:ln>
              <a:solidFill>
                <a:prstClr val="white"/>
              </a:solidFill>
              <a:effectLst/>
              <a:uLnTx/>
              <a:uFillTx/>
              <a:latin typeface="Verdana" panose="020B0604030504040204" pitchFamily="34" charset="0"/>
              <a:ea typeface="Open Sans" panose="020B0606030504020204" pitchFamily="34" charset="0"/>
              <a:cs typeface="Open Sans" panose="020B0606030504020204" pitchFamily="34" charset="0"/>
              <a:sym typeface="Verdana" panose="020B0604030504040204" pitchFamily="34" charset="0"/>
            </a:endParaRPr>
          </a:p>
        </p:txBody>
      </p:sp>
      <p:sp>
        <p:nvSpPr>
          <p:cNvPr id="2" name="Title 1"/>
          <p:cNvSpPr>
            <a:spLocks noGrp="1"/>
          </p:cNvSpPr>
          <p:nvPr>
            <p:ph type="title"/>
          </p:nvPr>
        </p:nvSpPr>
        <p:spPr/>
        <p:txBody>
          <a:bodyPr/>
          <a:lstStyle/>
          <a:p>
            <a:r>
              <a:rPr lang="en-US" dirty="0"/>
              <a:t>Bangladesh – Country Overview &amp; Power Sector Value Chain</a:t>
            </a:r>
            <a:endParaRPr lang="en-IN" dirty="0"/>
          </a:p>
        </p:txBody>
      </p:sp>
    </p:spTree>
    <p:extLst>
      <p:ext uri="{BB962C8B-B14F-4D97-AF65-F5344CB8AC3E}">
        <p14:creationId xmlns:p14="http://schemas.microsoft.com/office/powerpoint/2010/main" val="3816575536"/>
      </p:ext>
    </p:extLst>
  </p:cSld>
  <p:clrMapOvr>
    <a:masterClrMapping/>
  </p:clrMapOvr>
  <p:transition>
    <p:fade/>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3" imgW="530" imgH="531" progId="TCLayout.ActiveDocument.1">
                  <p:embed/>
                </p:oleObj>
              </mc:Choice>
              <mc:Fallback>
                <p:oleObj name="think-cell Slide" r:id="rId53" imgW="530" imgH="531" progId="TCLayout.ActiveDocument.1">
                  <p:embed/>
                  <p:pic>
                    <p:nvPicPr>
                      <p:cNvPr id="4" name="Object 3" hidden="1"/>
                      <p:cNvPicPr/>
                      <p:nvPr/>
                    </p:nvPicPr>
                    <p:blipFill>
                      <a:blip r:embed="rId54"/>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800" b="0" i="0" u="none" strike="noStrike" kern="1200" cap="none" spc="0" normalizeH="0" baseline="0" noProof="0" dirty="0">
              <a:ln>
                <a:noFill/>
              </a:ln>
              <a:solidFill>
                <a:prstClr val="white"/>
              </a:solidFill>
              <a:effectLst/>
              <a:uLnTx/>
              <a:uFillTx/>
              <a:latin typeface="Verdana"/>
              <a:ea typeface="+mn-ea"/>
              <a:cs typeface="+mn-cs"/>
              <a:sym typeface="+mn-lt"/>
            </a:endParaRPr>
          </a:p>
        </p:txBody>
      </p:sp>
      <p:graphicFrame>
        <p:nvGraphicFramePr>
          <p:cNvPr id="100" name="Table 99"/>
          <p:cNvGraphicFramePr>
            <a:graphicFrameLocks noGrp="1"/>
          </p:cNvGraphicFramePr>
          <p:nvPr>
            <p:custDataLst>
              <p:tags r:id="rId3"/>
            </p:custData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figure shows the sectoral and overall GDP growth (%) of Bangladesh for past 5 years: </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figure shows Share of Each Segment in the Overall GDP (%) of Bangladesh in FY15 and FY19.</a:t>
                      </a:r>
                    </a:p>
                    <a:p>
                      <a:pPr marL="171450" lvl="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Country Overview | Bangladesh</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Bangladesh has grown at an average of 7%-7.5% over the last 5 years backed by strong industrial growth and is expected to continue growth at a higher rate as the Government targets to become an Upper Middle-Income country by 2031</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539836807"/>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lgn="just">
                        <a:spcBef>
                          <a:spcPts val="600"/>
                        </a:spcBef>
                        <a:spcAft>
                          <a:spcPts val="600"/>
                        </a:spcAft>
                        <a:buFont typeface="Arial" panose="020B0604020202020204" pitchFamily="34" charset="0"/>
                        <a:buNone/>
                      </a:pPr>
                      <a:r>
                        <a:rPr lang="en-US" sz="1000" b="1" baseline="0" dirty="0">
                          <a:solidFill>
                            <a:schemeClr val="tx1"/>
                          </a:solidFill>
                        </a:rPr>
                        <a:t>Bangladesh Country Overview: </a:t>
                      </a:r>
                    </a:p>
                    <a:p>
                      <a:pPr marL="171450" indent="-171450" algn="just">
                        <a:spcBef>
                          <a:spcPts val="600"/>
                        </a:spcBef>
                        <a:spcAft>
                          <a:spcPts val="600"/>
                        </a:spcAft>
                        <a:buFont typeface="Arial" panose="020B0604020202020204" pitchFamily="34" charset="0"/>
                        <a:buChar char="•"/>
                      </a:pPr>
                      <a:r>
                        <a:rPr lang="en-US" sz="1000" b="1" i="1" u="none" baseline="0" dirty="0">
                          <a:solidFill>
                            <a:schemeClr val="tx1"/>
                          </a:solidFill>
                        </a:rPr>
                        <a:t>The overall Bangladesh GDP grew at an average of ~7-7.5% </a:t>
                      </a:r>
                      <a:r>
                        <a:rPr lang="en-US" sz="1000" b="0" baseline="0" dirty="0">
                          <a:solidFill>
                            <a:schemeClr val="tx1"/>
                          </a:solidFill>
                        </a:rPr>
                        <a:t>in the last 5 years from BDT 15,158 Bn in FY15 to BDT 25,425 in FY19.</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Bangladesh </a:t>
                      </a:r>
                      <a:r>
                        <a:rPr lang="en-US" sz="1000" b="1" i="1" baseline="0" dirty="0">
                          <a:solidFill>
                            <a:schemeClr val="tx1"/>
                          </a:solidFill>
                        </a:rPr>
                        <a:t>has targeted to become an “Upper Middle-Income Country” by FY2031 </a:t>
                      </a:r>
                      <a:r>
                        <a:rPr lang="en-US" sz="1000" b="0" baseline="0" dirty="0">
                          <a:solidFill>
                            <a:schemeClr val="tx1"/>
                          </a:solidFill>
                        </a:rPr>
                        <a:t>i.e. having GNI per capita between $3,996 - $12,375</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According to World Bank, Bangladesh has achieved GNI per capita of ~$1,258 in FY18. The Bangladesh economy needs to grow at a CAGR of ~9%-10% during FY2020 to FY2031 to achieve its per capita income target.</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Historically, </a:t>
                      </a:r>
                      <a:r>
                        <a:rPr lang="en-US" sz="1000" b="0" i="0" baseline="0" dirty="0">
                          <a:solidFill>
                            <a:schemeClr val="tx1"/>
                          </a:solidFill>
                        </a:rPr>
                        <a:t>Industrial and services segment has been major growth drivers for the Bangladesh economy with the </a:t>
                      </a:r>
                      <a:r>
                        <a:rPr lang="en-US" sz="1000" b="1" i="1" baseline="0" dirty="0">
                          <a:solidFill>
                            <a:schemeClr val="tx1"/>
                          </a:solidFill>
                        </a:rPr>
                        <a:t>manufacturing of leather, food products, wearing apparels, transport equipment and construction sectors </a:t>
                      </a:r>
                      <a:r>
                        <a:rPr lang="en-US" sz="1000" b="0" baseline="0" dirty="0">
                          <a:solidFill>
                            <a:schemeClr val="tx1"/>
                          </a:solidFill>
                        </a:rPr>
                        <a:t>witnessing stronger growth over the years.</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The graph to the right (below) shows the Share of Each Segment of GDP in Bangladesh in FY15 and FY19.</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As can be seen from the graph, Industrial Segment has grown from 30.4% to 35% between FY15 and FY19 and is expected to expand further as the Government pushes for higher growth in the coming years.</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95" name="Chart 94"/>
          <p:cNvGraphicFramePr/>
          <p:nvPr>
            <p:custDataLst>
              <p:tags r:id="rId5"/>
            </p:custDataLst>
          </p:nvPr>
        </p:nvGraphicFramePr>
        <p:xfrm>
          <a:off x="5738813" y="2409825"/>
          <a:ext cx="3024187" cy="1374775"/>
        </p:xfrm>
        <a:graphic>
          <a:graphicData uri="http://schemas.openxmlformats.org/drawingml/2006/chart">
            <c:chart xmlns:c="http://schemas.openxmlformats.org/drawingml/2006/chart" xmlns:r="http://schemas.openxmlformats.org/officeDocument/2006/relationships" r:id="rId55"/>
          </a:graphicData>
        </a:graphic>
      </p:graphicFrame>
      <p:sp>
        <p:nvSpPr>
          <p:cNvPr id="128" name="StandardTextbox"/>
          <p:cNvSpPr>
            <a:spLocks noGrp="1"/>
          </p:cNvSpPr>
          <p:nvPr>
            <p:custDataLst>
              <p:tags r:id="rId6"/>
            </p:custDataLst>
          </p:nvPr>
        </p:nvSpPr>
        <p:spPr bwMode="gray">
          <a:xfrm>
            <a:off x="7096125" y="3195638"/>
            <a:ext cx="31115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221AE5D-B3DD-46BC-9201-D837BBA0C97A}" type="datetime'6''''.7''''''''''%'''''''''''''''''">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6.7%</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23" name="StandardTextbox"/>
          <p:cNvSpPr>
            <a:spLocks noGrp="1"/>
          </p:cNvSpPr>
          <p:nvPr>
            <p:custDataLst>
              <p:tags r:id="rId7"/>
            </p:custDataLst>
          </p:nvPr>
        </p:nvSpPr>
        <p:spPr bwMode="gray">
          <a:xfrm>
            <a:off x="5846764" y="2971800"/>
            <a:ext cx="34607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F86442E-6E54-4479-BECA-C1827F9C6043}" type="datetime'''6''''''''''''''''.''''''2''''''''''''''''''''''''%'">
              <a:rPr kumimoji="0" lang="en-IN" altLang="en-US" sz="800" b="1"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6.2%</a:t>
            </a:fld>
            <a:endParaRPr kumimoji="0" lang="en-IN" sz="800" b="1" i="0" u="none" strike="noStrike" kern="1200" cap="none" spc="0" normalizeH="0" baseline="0" noProof="0" dirty="0">
              <a:ln>
                <a:noFill/>
              </a:ln>
              <a:solidFill>
                <a:prstClr val="black"/>
              </a:solidFill>
              <a:effectLst/>
              <a:uLnTx/>
              <a:uFillTx/>
              <a:latin typeface="Verdana"/>
              <a:ea typeface="+mn-ea"/>
              <a:cs typeface="+mn-cs"/>
              <a:sym typeface="+mn-lt"/>
            </a:endParaRPr>
          </a:p>
        </p:txBody>
      </p:sp>
      <p:sp useBgFill="1">
        <p:nvSpPr>
          <p:cNvPr id="121" name="StandardTextbox"/>
          <p:cNvSpPr>
            <a:spLocks noGrp="1"/>
          </p:cNvSpPr>
          <p:nvPr>
            <p:custDataLst>
              <p:tags r:id="rId8"/>
            </p:custDataLst>
          </p:nvPr>
        </p:nvSpPr>
        <p:spPr bwMode="gray">
          <a:xfrm>
            <a:off x="5894388" y="3355975"/>
            <a:ext cx="311150" cy="122238"/>
          </a:xfrm>
          <a:prstGeom prst="rect">
            <a:avLst/>
          </a:prstGeom>
          <a:ln>
            <a:noFill/>
          </a:ln>
        </p:spPr>
        <p:txBody>
          <a:bodyPr vert="horz" wrap="none" lIns="17463" tIns="0" rIns="17463"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6DA0C2DE-50B0-4FDF-965E-C2AA43A61C8F}" type="datetime'''''''''''''''''''''''3''''''.3''''''''''''''%'''''''''''">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3.3%</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14" name="StandardTextbox"/>
          <p:cNvSpPr>
            <a:spLocks noGrp="1"/>
          </p:cNvSpPr>
          <p:nvPr>
            <p:custDataLst>
              <p:tags r:id="rId9"/>
            </p:custDataLst>
          </p:nvPr>
        </p:nvSpPr>
        <p:spPr bwMode="gray">
          <a:xfrm>
            <a:off x="5846763" y="2668588"/>
            <a:ext cx="31115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EB587B48-5B8C-44AC-9C56-C5F5531598BB}" type="datetime'''''''9''''''''''.''''''''''''''''7''''%'''''''''''">
              <a:rPr kumimoji="0" lang="en-IN" altLang="en-US" sz="8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9.7%</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2" name="StandardTextbox"/>
          <p:cNvSpPr>
            <a:spLocks noGrp="1"/>
          </p:cNvSpPr>
          <p:nvPr>
            <p:custDataLst>
              <p:tags r:id="rId10"/>
            </p:custDataLst>
          </p:nvPr>
        </p:nvSpPr>
        <p:spPr bwMode="auto">
          <a:xfrm>
            <a:off x="5689601" y="3768725"/>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9D5E597-E0A9-4CD3-8481-9C53296E24B3}" type="datetime'F''''''''''Y1''''''''''''5'''''">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FY15</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25" name="StandardTextbox"/>
          <p:cNvSpPr>
            <a:spLocks noGrp="1"/>
          </p:cNvSpPr>
          <p:nvPr>
            <p:custDataLst>
              <p:tags r:id="rId11"/>
            </p:custDataLst>
          </p:nvPr>
        </p:nvSpPr>
        <p:spPr bwMode="gray">
          <a:xfrm>
            <a:off x="6362700" y="2894013"/>
            <a:ext cx="34607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F2E87B81-3A98-4AF3-B268-BA4323DB6CA5}" type="datetime'''''''''''7''''''''''.1''''''''%'''''''''''''''">
              <a:rPr kumimoji="0" lang="en-IN" altLang="en-US" sz="800" b="1"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7.1%</a:t>
            </a:fld>
            <a:endParaRPr kumimoji="0" lang="en-IN" sz="800" b="1"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24" name="StandardTextbox"/>
          <p:cNvSpPr>
            <a:spLocks noGrp="1"/>
          </p:cNvSpPr>
          <p:nvPr>
            <p:custDataLst>
              <p:tags r:id="rId12"/>
            </p:custDataLst>
          </p:nvPr>
        </p:nvSpPr>
        <p:spPr bwMode="gray">
          <a:xfrm>
            <a:off x="6380163" y="3533775"/>
            <a:ext cx="31115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FCF8DD10-4E2A-4694-BEE8-AF7C996D55C6}" type="datetime'2''''.8''''''''''''''''''''''''''''''''''''''%'''''''''''''''">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2.8%</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27" name="StandardTextbox"/>
          <p:cNvSpPr>
            <a:spLocks noGrp="1"/>
          </p:cNvSpPr>
          <p:nvPr>
            <p:custDataLst>
              <p:tags r:id="rId13"/>
            </p:custDataLst>
          </p:nvPr>
        </p:nvSpPr>
        <p:spPr bwMode="gray">
          <a:xfrm>
            <a:off x="7064375" y="2460625"/>
            <a:ext cx="37623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CD17A1B2-1DF0-48FE-890A-82CCCFD3040A}" type="datetime'''''''''1''''''''''''''''''2''''''.''''''''''''''1''%'">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12.1%</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65" name="StandardTextbox"/>
          <p:cNvSpPr>
            <a:spLocks noGrp="1"/>
          </p:cNvSpPr>
          <p:nvPr>
            <p:custDataLst>
              <p:tags r:id="rId14"/>
            </p:custDataLst>
          </p:nvPr>
        </p:nvSpPr>
        <p:spPr bwMode="gray">
          <a:xfrm>
            <a:off x="6348413" y="2547938"/>
            <a:ext cx="37623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83F75F3-855F-477F-B6A4-4E34B730ADC7}" type="datetime'''''''''''''''1''''''1''''''''''''''.1''''''''%'">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11.1%</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12" name="StandardTextbox"/>
          <p:cNvSpPr>
            <a:spLocks noGrp="1"/>
          </p:cNvSpPr>
          <p:nvPr>
            <p:custDataLst>
              <p:tags r:id="rId15"/>
            </p:custDataLst>
          </p:nvPr>
        </p:nvSpPr>
        <p:spPr bwMode="gray">
          <a:xfrm>
            <a:off x="6380163" y="3230563"/>
            <a:ext cx="311150" cy="122238"/>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7E93491-4856-4255-84CC-09415BDD9B61}" type="datetime'''6''''''''.''''3''''''''''''''''''''''''''''%'''''''''">
              <a:rPr kumimoji="0" lang="en-IN" altLang="en-US" sz="8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6.3%</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3" name="StandardTextbox"/>
          <p:cNvSpPr>
            <a:spLocks noGrp="1"/>
          </p:cNvSpPr>
          <p:nvPr>
            <p:custDataLst>
              <p:tags r:id="rId16"/>
            </p:custDataLst>
          </p:nvPr>
        </p:nvSpPr>
        <p:spPr bwMode="auto">
          <a:xfrm>
            <a:off x="6403975" y="3768725"/>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A1D94A2-9308-4C1C-A3C8-0CB98520E243}" type="datetime'''''''''''F''''''''''''''''''''''''''''''''Y1''''''6'''">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FY16</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26" name="StandardTextbox"/>
          <p:cNvSpPr>
            <a:spLocks noGrp="1"/>
          </p:cNvSpPr>
          <p:nvPr>
            <p:custDataLst>
              <p:tags r:id="rId17"/>
            </p:custDataLst>
          </p:nvPr>
        </p:nvSpPr>
        <p:spPr bwMode="gray">
          <a:xfrm>
            <a:off x="7096125" y="3516313"/>
            <a:ext cx="31115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E81543B-499F-4396-8495-48B63A6AFEED}" type="datetime'''3''.''0''''''%'''''''''''''''''''''''''''''''''''''''''">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3.0%</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34" name="StandardTextbox"/>
          <p:cNvSpPr>
            <a:spLocks noGrp="1"/>
          </p:cNvSpPr>
          <p:nvPr>
            <p:custDataLst>
              <p:tags r:id="rId18"/>
            </p:custDataLst>
          </p:nvPr>
        </p:nvSpPr>
        <p:spPr bwMode="gray">
          <a:xfrm>
            <a:off x="8507413" y="2801938"/>
            <a:ext cx="34607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202BBD3-BAF1-4977-938E-F2A475BFD049}" type="datetime'''''''''''8''''''''.''''''''''2''''%'''''''''''''''''''''''''">
              <a:rPr kumimoji="0" lang="en-IN" altLang="en-US" sz="800" b="1"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8.2%</a:t>
            </a:fld>
            <a:endParaRPr kumimoji="0" lang="en-IN" sz="800" b="1"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29" name="StandardTextbox"/>
          <p:cNvSpPr>
            <a:spLocks noGrp="1"/>
          </p:cNvSpPr>
          <p:nvPr>
            <p:custDataLst>
              <p:tags r:id="rId19"/>
            </p:custDataLst>
          </p:nvPr>
        </p:nvSpPr>
        <p:spPr bwMode="gray">
          <a:xfrm>
            <a:off x="7078663" y="2876550"/>
            <a:ext cx="34607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5AB6FFE-9965-4C3A-8363-C6272941C5C2}" type="datetime'''''''''''''''''''7''.3''''''''''''''''''''%'''''''''''''''''">
              <a:rPr kumimoji="0" lang="en-IN" altLang="en-US" sz="800" b="1"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7.3%</a:t>
            </a:fld>
            <a:endParaRPr kumimoji="0" lang="en-IN" sz="800" b="1"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4" name="StandardTextbox"/>
          <p:cNvSpPr>
            <a:spLocks noGrp="1"/>
          </p:cNvSpPr>
          <p:nvPr>
            <p:custDataLst>
              <p:tags r:id="rId20"/>
            </p:custDataLst>
          </p:nvPr>
        </p:nvSpPr>
        <p:spPr bwMode="auto">
          <a:xfrm>
            <a:off x="7119938" y="3768725"/>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865724A6-35D2-4FD8-B800-3E2FBD457AD3}" type="datetime'''''''''F''''''''''''''''''''''Y''''''''1''''''''''7'''">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FY17</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30" name="StandardTextbox"/>
          <p:cNvSpPr>
            <a:spLocks noGrp="1"/>
          </p:cNvSpPr>
          <p:nvPr>
            <p:custDataLst>
              <p:tags r:id="rId21"/>
            </p:custDataLst>
          </p:nvPr>
        </p:nvSpPr>
        <p:spPr bwMode="gray">
          <a:xfrm>
            <a:off x="7778750" y="2465388"/>
            <a:ext cx="37623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FD1D5E0F-442E-4B9B-9F94-4C5B3C502540}" type="datetime'''''''''''1''''''''''''''2''''''''.1''''%'''''">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12.1%</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useBgFill="1">
        <p:nvSpPr>
          <p:cNvPr id="60" name="StandardTextbox"/>
          <p:cNvSpPr>
            <a:spLocks noGrp="1"/>
          </p:cNvSpPr>
          <p:nvPr>
            <p:custDataLst>
              <p:tags r:id="rId22"/>
            </p:custDataLst>
          </p:nvPr>
        </p:nvSpPr>
        <p:spPr bwMode="gray">
          <a:xfrm>
            <a:off x="7812088" y="3144838"/>
            <a:ext cx="311150" cy="122238"/>
          </a:xfrm>
          <a:prstGeom prst="rect">
            <a:avLst/>
          </a:prstGeom>
          <a:ln>
            <a:noFill/>
          </a:ln>
        </p:spPr>
        <p:txBody>
          <a:bodyPr vert="horz" wrap="none" lIns="17463" tIns="0" rIns="17463"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13CEB177-8545-4FCF-AD1A-364B2B6B4AFB}" type="datetime'''''''''''''''''6''''''''''.''''4''''''%'''''''">
              <a:rPr kumimoji="0" lang="en-IN" altLang="en-US" sz="8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6.4%</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31" name="StandardTextbox"/>
          <p:cNvSpPr>
            <a:spLocks noGrp="1"/>
          </p:cNvSpPr>
          <p:nvPr>
            <p:custDataLst>
              <p:tags r:id="rId23"/>
            </p:custDataLst>
          </p:nvPr>
        </p:nvSpPr>
        <p:spPr bwMode="gray">
          <a:xfrm>
            <a:off x="7793038" y="2827338"/>
            <a:ext cx="34607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E52257EF-C553-49AC-9518-2E1F3ED9A4A7}" type="datetime'''7''''''''''''''''.''''''''''''''''''''''''''9''''''%'''''">
              <a:rPr kumimoji="0" lang="en-IN" altLang="en-US" sz="800" b="1"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7.9%</a:t>
            </a:fld>
            <a:endParaRPr kumimoji="0" lang="en-IN" sz="800" b="1"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5" name="StandardTextbox"/>
          <p:cNvSpPr>
            <a:spLocks noGrp="1"/>
          </p:cNvSpPr>
          <p:nvPr>
            <p:custDataLst>
              <p:tags r:id="rId24"/>
            </p:custDataLst>
          </p:nvPr>
        </p:nvSpPr>
        <p:spPr bwMode="auto">
          <a:xfrm>
            <a:off x="7834313" y="3768725"/>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FE2F855-91D5-4E0C-8441-373E0B58E3A7}" type="datetime'''''''''''''''''''''F''''Y1''8'''''''''''''''''''''">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FY18</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32" name="StandardTextbox"/>
          <p:cNvSpPr>
            <a:spLocks noGrp="1"/>
          </p:cNvSpPr>
          <p:nvPr>
            <p:custDataLst>
              <p:tags r:id="rId25"/>
            </p:custDataLst>
          </p:nvPr>
        </p:nvSpPr>
        <p:spPr bwMode="gray">
          <a:xfrm>
            <a:off x="8524875" y="3436938"/>
            <a:ext cx="31115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626C81D-8D15-4F9C-9DD0-16776BD249F8}" type="datetime'3.''''''''''''''''''9''''''%'">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3.9%</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33" name="StandardTextbox"/>
          <p:cNvSpPr>
            <a:spLocks noGrp="1"/>
          </p:cNvSpPr>
          <p:nvPr>
            <p:custDataLst>
              <p:tags r:id="rId26"/>
            </p:custDataLst>
          </p:nvPr>
        </p:nvSpPr>
        <p:spPr bwMode="gray">
          <a:xfrm>
            <a:off x="8493125" y="2411413"/>
            <a:ext cx="37623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8DEE3460-733D-403F-9657-446567E765BA}" type="datetime'''1''''''''''2''''''.''''''7''''''%'''''''''">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12.7%</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92" name="StandardTextbox"/>
          <p:cNvSpPr>
            <a:spLocks noGrp="1"/>
          </p:cNvSpPr>
          <p:nvPr>
            <p:custDataLst>
              <p:tags r:id="rId27"/>
            </p:custDataLst>
          </p:nvPr>
        </p:nvSpPr>
        <p:spPr bwMode="gray">
          <a:xfrm>
            <a:off x="8524875" y="3189288"/>
            <a:ext cx="311150" cy="122238"/>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ED88F03-4697-4588-8C74-14EF96E69EA4}" type="datetime'''''''6''''''''''''''''''''.''8''%'''''''''">
              <a:rPr kumimoji="0" lang="en-IN" altLang="en-US" sz="8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6.8%</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6" name="StandardTextbox"/>
          <p:cNvSpPr>
            <a:spLocks noGrp="1"/>
          </p:cNvSpPr>
          <p:nvPr>
            <p:custDataLst>
              <p:tags r:id="rId28"/>
            </p:custDataLst>
          </p:nvPr>
        </p:nvSpPr>
        <p:spPr bwMode="auto">
          <a:xfrm>
            <a:off x="8548688" y="3768725"/>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0578935-F52B-4E08-8C5B-56A6960B482A}" type="datetime'''''''F''''Y''''''''''1''''''''''''''''''9'''''''''''''">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FY19</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cxnSp>
        <p:nvCxnSpPr>
          <p:cNvPr id="11" name="Straight Connector 10"/>
          <p:cNvCxnSpPr/>
          <p:nvPr>
            <p:custDataLst>
              <p:tags r:id="rId29"/>
            </p:custDataLst>
          </p:nvPr>
        </p:nvCxnSpPr>
        <p:spPr bwMode="gray">
          <a:xfrm>
            <a:off x="5891213" y="4084638"/>
            <a:ext cx="828675" cy="0"/>
          </a:xfrm>
          <a:prstGeom prst="line">
            <a:avLst/>
          </a:prstGeom>
          <a:ln w="28575" cap="rnd" cmpd="sng" algn="ctr">
            <a:solidFill>
              <a:srgbClr val="86BC25"/>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custDataLst>
              <p:tags r:id="rId30"/>
            </p:custDataLst>
          </p:nvPr>
        </p:nvCxnSpPr>
        <p:spPr bwMode="gray">
          <a:xfrm flipH="1">
            <a:off x="7478713" y="4257675"/>
            <a:ext cx="266700" cy="0"/>
          </a:xfrm>
          <a:prstGeom prst="line">
            <a:avLst/>
          </a:prstGeom>
          <a:ln w="38100" cap="rnd" cmpd="sng" algn="ctr">
            <a:solidFill>
              <a:srgbClr val="63666A"/>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custDataLst>
              <p:tags r:id="rId31"/>
            </p:custDataLst>
          </p:nvPr>
        </p:nvCxnSpPr>
        <p:spPr bwMode="gray">
          <a:xfrm>
            <a:off x="5891213" y="4257675"/>
            <a:ext cx="828675" cy="0"/>
          </a:xfrm>
          <a:prstGeom prst="line">
            <a:avLst/>
          </a:prstGeom>
          <a:ln w="28575" cap="rnd" cmpd="sng" algn="ctr">
            <a:solidFill>
              <a:schemeClr val="accent3"/>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custDataLst>
              <p:tags r:id="rId32"/>
            </p:custDataLst>
          </p:nvPr>
        </p:nvCxnSpPr>
        <p:spPr bwMode="gray">
          <a:xfrm>
            <a:off x="7488238" y="4084638"/>
            <a:ext cx="828675" cy="0"/>
          </a:xfrm>
          <a:prstGeom prst="line">
            <a:avLst/>
          </a:prstGeom>
          <a:ln w="28575" cap="rnd" cmpd="sng" algn="ctr">
            <a:solidFill>
              <a:schemeClr val="accent4"/>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custDataLst>
              <p:tags r:id="rId33"/>
            </p:custDataLst>
          </p:nvPr>
        </p:nvCxnSpPr>
        <p:spPr bwMode="gray">
          <a:xfrm>
            <a:off x="8059738" y="4257675"/>
            <a:ext cx="266700" cy="0"/>
          </a:xfrm>
          <a:prstGeom prst="line">
            <a:avLst/>
          </a:prstGeom>
          <a:ln w="38100" cap="rnd" cmpd="sng" algn="ctr">
            <a:solidFill>
              <a:srgbClr val="63666A"/>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Diamond 16"/>
          <p:cNvSpPr/>
          <p:nvPr>
            <p:custDataLst>
              <p:tags r:id="rId34"/>
            </p:custDataLst>
          </p:nvPr>
        </p:nvSpPr>
        <p:spPr bwMode="auto">
          <a:xfrm>
            <a:off x="7883525" y="4065588"/>
            <a:ext cx="38100" cy="38100"/>
          </a:xfrm>
          <a:prstGeom prst="diamond">
            <a:avLst/>
          </a:prstGeom>
          <a:solidFill>
            <a:schemeClr val="accent4"/>
          </a:solidFill>
          <a:ln w="9525" algn="ctr">
            <a:solidFill>
              <a:schemeClr val="accent4"/>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5" name="Oval 14"/>
          <p:cNvSpPr/>
          <p:nvPr>
            <p:custDataLst>
              <p:tags r:id="rId35"/>
            </p:custDataLst>
          </p:nvPr>
        </p:nvSpPr>
        <p:spPr bwMode="auto">
          <a:xfrm>
            <a:off x="6286500" y="4065588"/>
            <a:ext cx="38100" cy="38100"/>
          </a:xfrm>
          <a:prstGeom prst="ellipse">
            <a:avLst/>
          </a:prstGeom>
          <a:solidFill>
            <a:srgbClr val="86BC25"/>
          </a:solidFill>
          <a:ln w="9525" algn="ctr">
            <a:solidFill>
              <a:srgbClr val="86BC2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6" name="Isosceles Triangle 15"/>
          <p:cNvSpPr/>
          <p:nvPr>
            <p:custDataLst>
              <p:tags r:id="rId36"/>
            </p:custDataLst>
          </p:nvPr>
        </p:nvSpPr>
        <p:spPr bwMode="auto">
          <a:xfrm>
            <a:off x="6286500" y="4238625"/>
            <a:ext cx="38100" cy="38100"/>
          </a:xfrm>
          <a:prstGeom prst="triangle">
            <a:avLst/>
          </a:prstGeom>
          <a:solidFill>
            <a:schemeClr val="accent3"/>
          </a:solidFill>
          <a:ln w="9525" algn="ctr">
            <a:solidFill>
              <a:schemeClr val="accent3"/>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8" name="Rectangle 17"/>
          <p:cNvSpPr/>
          <p:nvPr>
            <p:custDataLst>
              <p:tags r:id="rId37"/>
            </p:custDataLst>
          </p:nvPr>
        </p:nvSpPr>
        <p:spPr bwMode="auto">
          <a:xfrm>
            <a:off x="7883525" y="4238625"/>
            <a:ext cx="38100" cy="38100"/>
          </a:xfrm>
          <a:prstGeom prst="rect">
            <a:avLst/>
          </a:prstGeom>
          <a:solidFill>
            <a:srgbClr val="63666A"/>
          </a:solidFill>
          <a:ln w="9525" algn="ctr">
            <a:solidFill>
              <a:srgbClr val="63666A"/>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75" name="StandardTextbox"/>
          <p:cNvSpPr>
            <a:spLocks noGrp="1"/>
          </p:cNvSpPr>
          <p:nvPr>
            <p:custDataLst>
              <p:tags r:id="rId38"/>
            </p:custDataLst>
          </p:nvPr>
        </p:nvSpPr>
        <p:spPr bwMode="auto">
          <a:xfrm>
            <a:off x="6799263" y="4027488"/>
            <a:ext cx="55880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5452265A-906C-4CCD-B56E-082C7ABAB3CF}" type="datetime'''A''''''''''''gri''''c''u''''''''''''lt''''''''''ur''e'''''">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Agriculture</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77" name="StandardTextbox"/>
          <p:cNvSpPr>
            <a:spLocks noGrp="1"/>
          </p:cNvSpPr>
          <p:nvPr>
            <p:custDataLst>
              <p:tags r:id="rId39"/>
            </p:custDataLst>
          </p:nvPr>
        </p:nvSpPr>
        <p:spPr bwMode="auto">
          <a:xfrm>
            <a:off x="8396288" y="4200525"/>
            <a:ext cx="156210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85FFD906-F32E-47CC-8AB7-109ADA134DB2}" type="datetime'GD''P (a''t ''F''''''Y0''6'' Con''''stan''t'' ''Pr''''ic''es)'">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GDP (at FY06 Constant Prices)</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74" name="StandardTextbox"/>
          <p:cNvSpPr>
            <a:spLocks noGrp="1"/>
          </p:cNvSpPr>
          <p:nvPr>
            <p:custDataLst>
              <p:tags r:id="rId40"/>
            </p:custDataLst>
          </p:nvPr>
        </p:nvSpPr>
        <p:spPr bwMode="auto">
          <a:xfrm>
            <a:off x="6799263" y="4200525"/>
            <a:ext cx="43180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9BBDF199-79ED-408F-913C-6A1173B7604E}" type="datetime'''''I''''''''''''''''''n''''''du''''s''''''''t''''''''''r''y'">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Industry</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76" name="StandardTextbox"/>
          <p:cNvSpPr>
            <a:spLocks noGrp="1"/>
          </p:cNvSpPr>
          <p:nvPr>
            <p:custDataLst>
              <p:tags r:id="rId41"/>
            </p:custDataLst>
          </p:nvPr>
        </p:nvSpPr>
        <p:spPr bwMode="auto">
          <a:xfrm>
            <a:off x="8396288" y="4027488"/>
            <a:ext cx="42703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A1DC4B14-A7CB-4721-AA51-839C27D0B48D}" type="datetime'''''''S''''''er''''''''''''''''vice''''''''''s'''''''''">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Services</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graphicFrame>
        <p:nvGraphicFramePr>
          <p:cNvPr id="96" name="Chart 95"/>
          <p:cNvGraphicFramePr/>
          <p:nvPr>
            <p:custDataLst>
              <p:tags r:id="rId42"/>
            </p:custDataLst>
          </p:nvPr>
        </p:nvGraphicFramePr>
        <p:xfrm>
          <a:off x="5464175" y="4999038"/>
          <a:ext cx="2609850" cy="1941512"/>
        </p:xfrm>
        <a:graphic>
          <a:graphicData uri="http://schemas.openxmlformats.org/drawingml/2006/chart">
            <c:chart xmlns:c="http://schemas.openxmlformats.org/drawingml/2006/chart" xmlns:r="http://schemas.openxmlformats.org/officeDocument/2006/relationships" r:id="rId56"/>
          </a:graphicData>
        </a:graphic>
      </p:graphicFrame>
      <p:graphicFrame>
        <p:nvGraphicFramePr>
          <p:cNvPr id="97" name="Chart 96"/>
          <p:cNvGraphicFramePr/>
          <p:nvPr>
            <p:custDataLst>
              <p:tags r:id="rId43"/>
            </p:custDataLst>
          </p:nvPr>
        </p:nvGraphicFramePr>
        <p:xfrm>
          <a:off x="7883525" y="4999038"/>
          <a:ext cx="2816225" cy="1941512"/>
        </p:xfrm>
        <a:graphic>
          <a:graphicData uri="http://schemas.openxmlformats.org/drawingml/2006/chart">
            <c:chart xmlns:c="http://schemas.openxmlformats.org/drawingml/2006/chart" xmlns:r="http://schemas.openxmlformats.org/officeDocument/2006/relationships" r:id="rId57"/>
          </a:graphicData>
        </a:graphic>
      </p:graphicFrame>
      <p:sp>
        <p:nvSpPr>
          <p:cNvPr id="22" name="Rectangle 21"/>
          <p:cNvSpPr/>
          <p:nvPr>
            <p:custDataLst>
              <p:tags r:id="rId44"/>
            </p:custDataLst>
          </p:nvPr>
        </p:nvSpPr>
        <p:spPr bwMode="auto">
          <a:xfrm>
            <a:off x="8462963" y="7059613"/>
            <a:ext cx="142875" cy="106363"/>
          </a:xfrm>
          <a:prstGeom prst="rect">
            <a:avLst/>
          </a:prstGeom>
          <a:solidFill>
            <a:schemeClr val="accent4"/>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 name="Rectangle 19"/>
          <p:cNvSpPr/>
          <p:nvPr>
            <p:custDataLst>
              <p:tags r:id="rId45"/>
            </p:custDataLst>
          </p:nvPr>
        </p:nvSpPr>
        <p:spPr bwMode="auto">
          <a:xfrm>
            <a:off x="6881813" y="7059613"/>
            <a:ext cx="142875" cy="106363"/>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 name="Rectangle 20"/>
          <p:cNvSpPr/>
          <p:nvPr>
            <p:custDataLst>
              <p:tags r:id="rId46"/>
            </p:custDataLst>
          </p:nvPr>
        </p:nvSpPr>
        <p:spPr bwMode="auto">
          <a:xfrm>
            <a:off x="7735888" y="7059613"/>
            <a:ext cx="142875" cy="106363"/>
          </a:xfrm>
          <a:prstGeom prst="rect">
            <a:avLst/>
          </a:prstGeom>
          <a:solidFill>
            <a:schemeClr val="accent3"/>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78" name="StandardTextbox"/>
          <p:cNvSpPr>
            <a:spLocks noGrp="1"/>
          </p:cNvSpPr>
          <p:nvPr>
            <p:custDataLst>
              <p:tags r:id="rId47"/>
            </p:custDataLst>
          </p:nvPr>
        </p:nvSpPr>
        <p:spPr bwMode="auto">
          <a:xfrm>
            <a:off x="7929563" y="7054850"/>
            <a:ext cx="43180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A9CA1E31-F309-44A2-9939-11DB3B6E625B}" type="datetime'I''''''''''''n''''''''d''''us''''''t''''''r''''''''''''''y'''">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Industry</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77" name="StandardTextbox"/>
          <p:cNvSpPr>
            <a:spLocks noGrp="1"/>
          </p:cNvSpPr>
          <p:nvPr>
            <p:custDataLst>
              <p:tags r:id="rId48"/>
            </p:custDataLst>
          </p:nvPr>
        </p:nvSpPr>
        <p:spPr bwMode="auto">
          <a:xfrm>
            <a:off x="7075488" y="7054850"/>
            <a:ext cx="55880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498B65D8-5479-4A96-8D7F-6046F08445AA}" type="datetime'''A''''''g''''r''i''''''''''''cult''''u''''''''r''''''''e'">
              <a:rPr kumimoji="0" lang="en-IN" altLang="en-US" sz="8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Agriculture</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79" name="StandardTextbox"/>
          <p:cNvSpPr>
            <a:spLocks noGrp="1"/>
          </p:cNvSpPr>
          <p:nvPr>
            <p:custDataLst>
              <p:tags r:id="rId49"/>
            </p:custDataLst>
          </p:nvPr>
        </p:nvSpPr>
        <p:spPr bwMode="auto">
          <a:xfrm>
            <a:off x="8656638" y="7054850"/>
            <a:ext cx="42703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1C4DB623-FB87-4950-96E4-F8FCE24FC856}" type="datetime'S''''''''''''''''''''''''er''''vi''''''''''c''''''''e''s'''''">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Services</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2" name="StandardTextbox"/>
          <p:cNvSpPr>
            <a:spLocks noGrp="1"/>
          </p:cNvSpPr>
          <p:nvPr>
            <p:custDataLst>
              <p:tags r:id="rId50"/>
            </p:custDataLst>
          </p:nvPr>
        </p:nvSpPr>
        <p:spPr bwMode="auto">
          <a:xfrm>
            <a:off x="6557964" y="5856289"/>
            <a:ext cx="423863" cy="22701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44450" rIns="0" bIns="4445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r>
              <a:rPr kumimoji="0" lang="en-US" altLang="en-US" sz="900" b="1" i="0" u="none" strike="noStrike" kern="1200" cap="none" spc="0" normalizeH="0" baseline="0" noProof="0" dirty="0">
                <a:ln>
                  <a:noFill/>
                </a:ln>
                <a:solidFill>
                  <a:prstClr val="black"/>
                </a:solidFill>
                <a:effectLst/>
                <a:uLnTx/>
                <a:uFillTx/>
                <a:latin typeface="Verdana"/>
                <a:ea typeface="+mn-ea"/>
                <a:cs typeface="+mn-cs"/>
                <a:sym typeface="+mn-lt"/>
              </a:rPr>
              <a:t>FY15</a:t>
            </a:r>
            <a:endParaRPr kumimoji="0" lang="en-IN" sz="900" b="1"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67" name="StandardTextbox"/>
          <p:cNvSpPr>
            <a:spLocks noGrp="1"/>
          </p:cNvSpPr>
          <p:nvPr>
            <p:custDataLst>
              <p:tags r:id="rId51"/>
            </p:custDataLst>
          </p:nvPr>
        </p:nvSpPr>
        <p:spPr bwMode="auto">
          <a:xfrm>
            <a:off x="9124950" y="5900739"/>
            <a:ext cx="334963" cy="13811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r>
              <a:rPr kumimoji="0" lang="en-IN" altLang="en-US" sz="900" b="1" i="0" u="none" strike="noStrike" kern="1200" cap="none" spc="0" normalizeH="0" baseline="0" noProof="0" dirty="0">
                <a:ln>
                  <a:noFill/>
                </a:ln>
                <a:solidFill>
                  <a:prstClr val="black"/>
                </a:solidFill>
                <a:effectLst/>
                <a:uLnTx/>
                <a:uFillTx/>
                <a:latin typeface="Verdana"/>
                <a:ea typeface="+mn-ea"/>
                <a:cs typeface="+mn-cs"/>
                <a:sym typeface="+mn-lt"/>
              </a:rPr>
              <a:t>FY19</a:t>
            </a:r>
            <a:endParaRPr kumimoji="0" lang="en-IN" sz="900" b="1"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3" name="Isosceles Triangle 22"/>
          <p:cNvSpPr/>
          <p:nvPr/>
        </p:nvSpPr>
        <p:spPr bwMode="gray">
          <a:xfrm rot="5400000">
            <a:off x="7183050" y="5778709"/>
            <a:ext cx="1716056" cy="315106"/>
          </a:xfrm>
          <a:prstGeom prst="triangle">
            <a:avLst/>
          </a:prstGeom>
          <a:solidFill>
            <a:schemeClr val="accent6"/>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5" name="Rectangular Callout 4"/>
          <p:cNvSpPr/>
          <p:nvPr/>
        </p:nvSpPr>
        <p:spPr bwMode="gray">
          <a:xfrm>
            <a:off x="9083676" y="2484841"/>
            <a:ext cx="1291951" cy="1490486"/>
          </a:xfrm>
          <a:prstGeom prst="wedgeRectCallout">
            <a:avLst>
              <a:gd name="adj1" fmla="val -65737"/>
              <a:gd name="adj2" fmla="val -16576"/>
            </a:avLst>
          </a:prstGeom>
          <a:solidFill>
            <a:schemeClr val="bg1">
              <a:lumMod val="95000"/>
            </a:schemeClr>
          </a:solidFill>
          <a:ln w="19050" algn="ctr">
            <a:noFill/>
            <a:miter lim="800000"/>
            <a:headEnd/>
            <a:tailEnd/>
          </a:ln>
        </p:spPr>
        <p:txBody>
          <a:bodyPr wrap="square" lIns="36000" tIns="36000" rIns="36000" bIns="360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prstClr val="black"/>
                </a:solidFill>
                <a:effectLst/>
                <a:uLnTx/>
                <a:uFillTx/>
                <a:latin typeface="Verdana"/>
                <a:ea typeface="+mn-ea"/>
                <a:cs typeface="+mn-cs"/>
              </a:rPr>
              <a:t>IMF has projected Bangladesh to grow at ~7.3-7.4% p.a. between FY20 and FY24</a:t>
            </a:r>
          </a:p>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prstClr val="black"/>
                </a:solidFill>
                <a:effectLst/>
                <a:uLnTx/>
                <a:uFillTx/>
                <a:latin typeface="Verdana"/>
                <a:ea typeface="+mn-ea"/>
                <a:cs typeface="+mn-cs"/>
              </a:rPr>
              <a:t>However the Covid-19 pandemic may restrict higher growth levels in FY20</a:t>
            </a:r>
            <a:endParaRPr kumimoji="0" lang="en-IN" sz="900" b="0" i="0" u="none" strike="noStrike" kern="1200" cap="none" spc="0" normalizeH="0" baseline="0" noProof="0" dirty="0">
              <a:ln>
                <a:noFill/>
              </a:ln>
              <a:solidFill>
                <a:prstClr val="black"/>
              </a:solidFill>
              <a:effectLst/>
              <a:uLnTx/>
              <a:uFillTx/>
              <a:latin typeface="Verdana"/>
              <a:ea typeface="+mn-ea"/>
              <a:cs typeface="+mn-cs"/>
            </a:endParaRPr>
          </a:p>
        </p:txBody>
      </p:sp>
      <p:sp>
        <p:nvSpPr>
          <p:cNvPr id="58" name="Rectangle 57"/>
          <p:cNvSpPr/>
          <p:nvPr/>
        </p:nvSpPr>
        <p:spPr bwMode="gray">
          <a:xfrm>
            <a:off x="377227" y="7260740"/>
            <a:ext cx="5780685"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Bangladesh Bank, Bangladesh Vision 2020, IMG World Economic Outlook 2019, Industry Report; </a:t>
            </a:r>
            <a:endParaRPr kumimoji="0" lang="en-IN" sz="700" b="0" i="1"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1611900278"/>
      </p:ext>
    </p:extLst>
  </p:cSld>
  <p:clrMapOvr>
    <a:masterClrMapping/>
  </p:clrMapOvr>
  <p:transition>
    <p:fade/>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404942221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2" imgW="530" imgH="531" progId="TCLayout.ActiveDocument.1">
                  <p:embed/>
                </p:oleObj>
              </mc:Choice>
              <mc:Fallback>
                <p:oleObj name="think-cell Slide" r:id="rId42" imgW="530" imgH="531" progId="TCLayout.ActiveDocument.1">
                  <p:embed/>
                  <p:pic>
                    <p:nvPicPr>
                      <p:cNvPr id="3" name="Object 2" hidden="1"/>
                      <p:cNvPicPr/>
                      <p:nvPr/>
                    </p:nvPicPr>
                    <p:blipFill>
                      <a:blip r:embed="rId43"/>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IN" sz="1000" dirty="0">
              <a:solidFill>
                <a:schemeClr val="bg1"/>
              </a:solidFill>
              <a:latin typeface="Verdana" panose="020B0604030504040204" pitchFamily="34" charset="0"/>
              <a:sym typeface="Verdana" panose="020B0604030504040204" pitchFamily="34" charset="0"/>
            </a:endParaRPr>
          </a:p>
        </p:txBody>
      </p:sp>
      <p:sp>
        <p:nvSpPr>
          <p:cNvPr id="35" name="Strapline"/>
          <p:cNvSpPr>
            <a:spLocks noGrp="1"/>
          </p:cNvSpPr>
          <p:nvPr>
            <p:ph type="body" sz="quarter" idx="13"/>
          </p:nvPr>
        </p:nvSpPr>
        <p:spPr>
          <a:xfrm>
            <a:off x="449993" y="1079983"/>
            <a:ext cx="9791843" cy="518392"/>
          </a:xfrm>
        </p:spPr>
        <p:txBody>
          <a:bodyPr lIns="0" tIns="0" rIns="0" bIns="0" anchor="t">
            <a:noAutofit/>
          </a:bodyPr>
          <a:lstStyle/>
          <a:p>
            <a:r>
              <a:rPr lang="en-GB" b="1" dirty="0">
                <a:solidFill>
                  <a:schemeClr val="tx1">
                    <a:lumMod val="50000"/>
                    <a:lumOff val="50000"/>
                  </a:schemeClr>
                </a:solidFill>
                <a:latin typeface="Verdana" panose="020B0604030504040204" pitchFamily="34" charset="0"/>
              </a:rPr>
              <a:t>The country’s high trade deficit has been mitigated by the support from overseas Worker’s Remittance and other project aids and global grants</a:t>
            </a: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US" dirty="0"/>
              <a:t>Country Overview | Bangladesh Trade Balance &amp; Foreign Reserves</a:t>
            </a:r>
            <a:endParaRPr lang="en-GB" noProof="0" dirty="0">
              <a:solidFill>
                <a:srgbClr val="000000"/>
              </a:solidFill>
              <a:latin typeface="Verdana" panose="020B0604030504040204" pitchFamily="34" charset="0"/>
            </a:endParaRPr>
          </a:p>
        </p:txBody>
      </p:sp>
      <p:graphicFrame>
        <p:nvGraphicFramePr>
          <p:cNvPr id="20" name="Table 19"/>
          <p:cNvGraphicFramePr>
            <a:graphicFrameLocks noGrp="1"/>
          </p:cNvGraphicFramePr>
          <p:nvPr>
            <p:custDataLst>
              <p:tags r:id="rId3"/>
            </p:custDataLst>
            <p:extLst>
              <p:ext uri="{D42A27DB-BD31-4B8C-83A1-F6EECF244321}">
                <p14:modId xmlns:p14="http://schemas.microsoft.com/office/powerpoint/2010/main" val="3867254963"/>
              </p:ext>
            </p:extLst>
          </p:nvPr>
        </p:nvGraphicFramePr>
        <p:xfrm>
          <a:off x="449993" y="1961921"/>
          <a:ext cx="4734896" cy="5090145"/>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757914">
                <a:tc>
                  <a:txBody>
                    <a:bodyPr/>
                    <a:lstStyle/>
                    <a:p>
                      <a:pPr marL="0" indent="0" algn="just">
                        <a:spcAft>
                          <a:spcPts val="500"/>
                        </a:spcAft>
                        <a:buFont typeface="Arial" panose="020B0604020202020204" pitchFamily="34" charset="0"/>
                        <a:buNone/>
                      </a:pPr>
                      <a:r>
                        <a:rPr lang="en-US" sz="1000" b="1" baseline="0" dirty="0">
                          <a:solidFill>
                            <a:schemeClr val="tx1"/>
                          </a:solidFill>
                        </a:rPr>
                        <a:t>Major import and export items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Bangladesh is a net importer of goods and services in the global market</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The country is dependent on international trade for major petroleum products and capital machinery which constitute ~20% of the total imports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The country’s major export revenue comes from its readymade garments and Jute &amp; leather products for which it also imports the raw materials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In FY19, the country had a net trade deficit of ~USD 20 Bn</a:t>
                      </a: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baseline="0" dirty="0">
                          <a:solidFill>
                            <a:schemeClr val="tx1"/>
                          </a:solidFill>
                        </a:rPr>
                        <a:t>Trade Balance</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Although facing a deficit in its global trade account, Bangladesh has been able to manage its foreign reserves position</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Its overall foreign reserve position has been supported by Remittances &amp; Multilateral / Bilateral Aids &amp; Grants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The overall Worker’s Remittance is expected to USD ~16 Bn in the FY19 assisting the country to bridge the trade gap</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As can be seen on the graph on the right, the overall Foreign Reserve position of Bangladesh has remained at ~USD 30-33 Bn in the last 4 years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A natural hedge exists in the country as majority readymade garment factories are export oriented and get paid in dollars. </a:t>
                      </a:r>
                    </a:p>
                    <a:p>
                      <a:pPr marL="0" marR="0" lvl="0" indent="0" algn="ctr" defTabSz="787481" rtl="0" eaLnBrk="1" fontAlgn="auto" latinLnBrk="0" hangingPunct="1">
                        <a:lnSpc>
                          <a:spcPct val="106000"/>
                        </a:lnSpc>
                        <a:spcBef>
                          <a:spcPts val="0"/>
                        </a:spcBef>
                        <a:spcAft>
                          <a:spcPts val="500"/>
                        </a:spcAft>
                        <a:buClrTx/>
                        <a:buSzTx/>
                        <a:buFont typeface="Arial" panose="020B0604020202020204" pitchFamily="34" charset="0"/>
                        <a:buNone/>
                        <a:tabLst/>
                        <a:defRPr/>
                      </a:pPr>
                      <a:r>
                        <a:rPr lang="en-US" sz="1400" b="1" i="1" kern="1200" dirty="0">
                          <a:solidFill>
                            <a:srgbClr val="0097A9"/>
                          </a:solidFill>
                          <a:latin typeface="+mn-lt"/>
                          <a:ea typeface="+mn-ea"/>
                          <a:cs typeface="+mn-cs"/>
                        </a:rPr>
                        <a:t>Consistent foreign reserve account and a natural hedge due to readymade garments showcase positive health for the country from a FOREX perspective </a:t>
                      </a:r>
                    </a:p>
                  </a:txBody>
                  <a:tcPr marL="107998" marT="107998">
                    <a:lnL w="12700" cmpd="sng">
                      <a:noFill/>
                    </a:lnL>
                    <a:lnR w="12700" cmpd="sng">
                      <a:noFill/>
                    </a:lnR>
                    <a:lnT w="38100" cap="flat" cmpd="sng" algn="ctr">
                      <a:solidFill>
                        <a:schemeClr val="accent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graphicFrame>
        <p:nvGraphicFramePr>
          <p:cNvPr id="48" name="Table 47"/>
          <p:cNvGraphicFramePr>
            <a:graphicFrameLocks noGrp="1"/>
          </p:cNvGraphicFramePr>
          <p:nvPr>
            <p:custDataLst>
              <p:tags r:id="rId4"/>
            </p:custDataLst>
            <p:extLst>
              <p:ext uri="{D42A27DB-BD31-4B8C-83A1-F6EECF244321}">
                <p14:modId xmlns:p14="http://schemas.microsoft.com/office/powerpoint/2010/main" val="2721012592"/>
              </p:ext>
            </p:extLst>
          </p:nvPr>
        </p:nvGraphicFramePr>
        <p:xfrm>
          <a:off x="5506940" y="1961921"/>
          <a:ext cx="4734896" cy="32017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415888">
                <a:tc>
                  <a:txBody>
                    <a:bodyPr/>
                    <a:lstStyle/>
                    <a:p>
                      <a:pPr marL="171450" indent="-171450">
                        <a:spcAft>
                          <a:spcPts val="500"/>
                        </a:spcAft>
                        <a:buFont typeface="Arial" panose="020B0604020202020204" pitchFamily="34" charset="0"/>
                        <a:buChar char="•"/>
                      </a:pPr>
                      <a:r>
                        <a:rPr lang="en-US" sz="1000" b="0" baseline="0" dirty="0">
                          <a:solidFill>
                            <a:schemeClr val="tx1"/>
                          </a:solidFill>
                        </a:rPr>
                        <a:t>Following chart shows the share of major import and export items for FY 2018-19 in USD Billion</a:t>
                      </a:r>
                    </a:p>
                    <a:p>
                      <a:pPr marL="171450" indent="-171450">
                        <a:spcAft>
                          <a:spcPts val="500"/>
                        </a:spcAft>
                        <a:buFont typeface="Arial" panose="020B0604020202020204" pitchFamily="34" charset="0"/>
                        <a:buChar char="•"/>
                      </a:pPr>
                      <a:endParaRPr lang="en-US" sz="1000" b="0" baseline="0" dirty="0">
                        <a:solidFill>
                          <a:schemeClr val="tx1"/>
                        </a:solidFill>
                      </a:endParaRPr>
                    </a:p>
                    <a:p>
                      <a:pPr marL="171450" indent="-171450">
                        <a:spcAft>
                          <a:spcPts val="500"/>
                        </a:spcAft>
                        <a:buFont typeface="Arial" panose="020B0604020202020204" pitchFamily="34" charset="0"/>
                        <a:buChar char="•"/>
                      </a:pPr>
                      <a:endParaRPr lang="en-US" sz="1000" b="0" baseline="0" dirty="0">
                        <a:solidFill>
                          <a:schemeClr val="tx1"/>
                        </a:solidFill>
                      </a:endParaRPr>
                    </a:p>
                    <a:p>
                      <a:pPr marL="171450" indent="-171450">
                        <a:spcAft>
                          <a:spcPts val="500"/>
                        </a:spcAft>
                        <a:buFont typeface="Arial" panose="020B0604020202020204" pitchFamily="34" charset="0"/>
                        <a:buChar char="•"/>
                      </a:pPr>
                      <a:endParaRPr lang="en-US" sz="1000" b="0" baseline="0" dirty="0">
                        <a:solidFill>
                          <a:schemeClr val="tx1"/>
                        </a:solidFill>
                      </a:endParaRPr>
                    </a:p>
                    <a:p>
                      <a:pPr marL="171450" indent="-171450">
                        <a:spcAft>
                          <a:spcPts val="500"/>
                        </a:spcAft>
                        <a:buFont typeface="Arial" panose="020B0604020202020204" pitchFamily="34" charset="0"/>
                        <a:buChar char="•"/>
                      </a:pPr>
                      <a:endParaRPr lang="en-US" sz="1000" b="0" baseline="0" dirty="0">
                        <a:solidFill>
                          <a:schemeClr val="tx1"/>
                        </a:solidFill>
                      </a:endParaRPr>
                    </a:p>
                    <a:p>
                      <a:pPr marL="171450" indent="-171450">
                        <a:spcAft>
                          <a:spcPts val="500"/>
                        </a:spcAft>
                        <a:buFont typeface="Arial" panose="020B0604020202020204" pitchFamily="34" charset="0"/>
                        <a:buChar char="•"/>
                      </a:pPr>
                      <a:endParaRPr lang="en-US" sz="1000" b="0" baseline="0" dirty="0">
                        <a:solidFill>
                          <a:schemeClr val="tx1"/>
                        </a:solidFill>
                      </a:endParaRPr>
                    </a:p>
                    <a:p>
                      <a:pPr marL="171450" indent="-171450">
                        <a:spcAft>
                          <a:spcPts val="500"/>
                        </a:spcAft>
                        <a:buFont typeface="Arial" panose="020B0604020202020204" pitchFamily="34" charset="0"/>
                        <a:buChar char="•"/>
                      </a:pPr>
                      <a:endParaRPr lang="en-US" sz="1000" b="0" baseline="0" dirty="0">
                        <a:solidFill>
                          <a:schemeClr val="tx1"/>
                        </a:solidFill>
                      </a:endParaRPr>
                    </a:p>
                    <a:p>
                      <a:pPr marL="171450" indent="-171450">
                        <a:spcAft>
                          <a:spcPts val="500"/>
                        </a:spcAft>
                        <a:buFont typeface="Arial" panose="020B0604020202020204" pitchFamily="34" charset="0"/>
                        <a:buChar char="•"/>
                      </a:pPr>
                      <a:endParaRPr lang="en-US" sz="1000" b="0" baseline="0" dirty="0">
                        <a:solidFill>
                          <a:schemeClr val="tx1"/>
                        </a:solidFill>
                      </a:endParaRPr>
                    </a:p>
                    <a:p>
                      <a:pPr marL="171450" indent="-171450">
                        <a:spcAft>
                          <a:spcPts val="500"/>
                        </a:spcAft>
                        <a:buFont typeface="Arial" panose="020B0604020202020204" pitchFamily="34" charset="0"/>
                        <a:buChar char="•"/>
                      </a:pPr>
                      <a:endParaRPr lang="en-US" sz="1000" b="0" baseline="0" dirty="0">
                        <a:solidFill>
                          <a:schemeClr val="tx1"/>
                        </a:solidFill>
                      </a:endParaRPr>
                    </a:p>
                    <a:p>
                      <a:pPr marL="171450" indent="-171450">
                        <a:spcAft>
                          <a:spcPts val="500"/>
                        </a:spcAft>
                        <a:buFont typeface="Arial" panose="020B0604020202020204" pitchFamily="34" charset="0"/>
                        <a:buChar char="•"/>
                      </a:pPr>
                      <a:endParaRPr lang="en-US" sz="1000" b="0" baseline="0" dirty="0">
                        <a:solidFill>
                          <a:schemeClr val="tx1"/>
                        </a:solidFill>
                      </a:endParaRPr>
                    </a:p>
                    <a:p>
                      <a:pPr marL="171450" indent="-171450">
                        <a:spcAft>
                          <a:spcPts val="500"/>
                        </a:spcAft>
                        <a:buFont typeface="Arial" panose="020B0604020202020204" pitchFamily="34" charset="0"/>
                        <a:buChar cha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Following chart shows the Current &amp; Capital Account Balance of Bangladesh (USD Bn) and the Foreign Reserves (USD Bn):</a:t>
                      </a:r>
                    </a:p>
                    <a:p>
                      <a:pPr marL="17145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noFill/>
                    </a:lnL>
                    <a:lnR w="12700" cmpd="sng">
                      <a:noFill/>
                    </a:lnR>
                    <a:lnT w="38100" cap="flat" cmpd="sng" algn="ctr">
                      <a:solidFill>
                        <a:schemeClr val="accent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graphicFrame>
        <p:nvGraphicFramePr>
          <p:cNvPr id="68" name="Chart 67"/>
          <p:cNvGraphicFramePr/>
          <p:nvPr>
            <p:custDataLst>
              <p:tags r:id="rId5"/>
            </p:custDataLst>
            <p:extLst>
              <p:ext uri="{D42A27DB-BD31-4B8C-83A1-F6EECF244321}">
                <p14:modId xmlns:p14="http://schemas.microsoft.com/office/powerpoint/2010/main" val="674296575"/>
              </p:ext>
            </p:extLst>
          </p:nvPr>
        </p:nvGraphicFramePr>
        <p:xfrm>
          <a:off x="5424488" y="2803525"/>
          <a:ext cx="4818062" cy="1422400"/>
        </p:xfrm>
        <a:graphic>
          <a:graphicData uri="http://schemas.openxmlformats.org/drawingml/2006/chart">
            <c:chart xmlns:c="http://schemas.openxmlformats.org/drawingml/2006/chart" xmlns:r="http://schemas.openxmlformats.org/officeDocument/2006/relationships" r:id="rId44"/>
          </a:graphicData>
        </a:graphic>
      </p:graphicFrame>
      <p:sp>
        <p:nvSpPr>
          <p:cNvPr id="499" name="StandardTextbox"/>
          <p:cNvSpPr>
            <a:spLocks noGrp="1"/>
          </p:cNvSpPr>
          <p:nvPr>
            <p:custDataLst>
              <p:tags r:id="rId6"/>
            </p:custDataLst>
          </p:nvPr>
        </p:nvSpPr>
        <p:spPr bwMode="gray">
          <a:xfrm>
            <a:off x="6823075" y="2873375"/>
            <a:ext cx="339725" cy="152400"/>
          </a:xfrm>
          <a:prstGeom prst="rect">
            <a:avLst/>
          </a:prstGeom>
          <a:noFill/>
          <a:ln>
            <a:noFill/>
          </a:ln>
          <a:extLst>
            <a:ext uri="{909E8E84-426E-40DD-AFC4-6F175D3DCCD1}">
              <a14:hiddenFill xmlns:a14="http://schemas.microsoft.com/office/drawing/2010/main">
                <a:solidFill>
                  <a:srgbClr val="012169"/>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6C5E073-EFAA-4853-A027-4CF7E5058D69}" type="datetime'''''''''1''''''''''''''''''''''''0''''''''''''''''''''%'">
              <a:rPr lang="en-IN" altLang="en-US" b="0" smtClean="0">
                <a:solidFill>
                  <a:schemeClr val="bg1"/>
                </a:solidFill>
              </a:rPr>
              <a:pPr lvl="1" algn="ctr">
                <a:spcBef>
                  <a:spcPct val="0"/>
                </a:spcBef>
                <a:spcAft>
                  <a:spcPct val="0"/>
                </a:spcAft>
              </a:pPr>
              <a:t>10%</a:t>
            </a:fld>
            <a:endParaRPr lang="en-IN" b="0" noProof="0" dirty="0">
              <a:solidFill>
                <a:schemeClr val="bg1"/>
              </a:solidFill>
              <a:sym typeface="+mn-lt"/>
            </a:endParaRPr>
          </a:p>
        </p:txBody>
      </p:sp>
      <p:sp>
        <p:nvSpPr>
          <p:cNvPr id="498" name="StandardTextbox"/>
          <p:cNvSpPr>
            <a:spLocks noGrp="1"/>
          </p:cNvSpPr>
          <p:nvPr>
            <p:custDataLst>
              <p:tags r:id="rId7"/>
            </p:custDataLst>
          </p:nvPr>
        </p:nvSpPr>
        <p:spPr bwMode="gray">
          <a:xfrm>
            <a:off x="6218238" y="2995613"/>
            <a:ext cx="258763" cy="152400"/>
          </a:xfrm>
          <a:prstGeom prst="rect">
            <a:avLst/>
          </a:prstGeom>
          <a:solidFill>
            <a:srgbClr val="62B5E5"/>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811B9839-846D-4A14-B90A-F6720D42F461}" type="datetime'''''''''''''9''''''%'''''''''">
              <a:rPr lang="en-IN" altLang="en-US" b="0" smtClean="0">
                <a:solidFill>
                  <a:schemeClr val="bg1"/>
                </a:solidFill>
              </a:rPr>
              <a:pPr lvl="1" algn="ctr">
                <a:spcBef>
                  <a:spcPct val="0"/>
                </a:spcBef>
                <a:spcAft>
                  <a:spcPct val="0"/>
                </a:spcAft>
              </a:pPr>
              <a:t>9%</a:t>
            </a:fld>
            <a:endParaRPr lang="en-IN" b="0" noProof="0" dirty="0">
              <a:solidFill>
                <a:schemeClr val="bg1"/>
              </a:solidFill>
              <a:sym typeface="+mn-lt"/>
            </a:endParaRPr>
          </a:p>
        </p:txBody>
      </p:sp>
      <p:sp>
        <p:nvSpPr>
          <p:cNvPr id="388" name="StandardTextbox"/>
          <p:cNvSpPr>
            <a:spLocks noGrp="1"/>
          </p:cNvSpPr>
          <p:nvPr>
            <p:custDataLst>
              <p:tags r:id="rId8"/>
            </p:custDataLst>
          </p:nvPr>
        </p:nvSpPr>
        <p:spPr bwMode="auto">
          <a:xfrm>
            <a:off x="6229350" y="4229100"/>
            <a:ext cx="87947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ED6A690-E501-4119-A8E7-E4C7D4936E85}" type="datetime'I''mp''''''''''''o''''''r''''t''(F''''''''Y''''''19)'''''">
              <a:rPr lang="en-IN" altLang="en-US" b="0" smtClean="0"/>
              <a:pPr lvl="1" algn="ctr">
                <a:spcBef>
                  <a:spcPct val="0"/>
                </a:spcBef>
                <a:spcAft>
                  <a:spcPct val="0"/>
                </a:spcAft>
              </a:pPr>
              <a:t>Import(FY19)</a:t>
            </a:fld>
            <a:endParaRPr lang="en-IN" b="0" noProof="0" dirty="0">
              <a:sym typeface="+mn-lt"/>
            </a:endParaRPr>
          </a:p>
        </p:txBody>
      </p:sp>
      <p:sp>
        <p:nvSpPr>
          <p:cNvPr id="494" name="StandardTextbox"/>
          <p:cNvSpPr>
            <a:spLocks noGrp="1"/>
          </p:cNvSpPr>
          <p:nvPr>
            <p:custDataLst>
              <p:tags r:id="rId9"/>
            </p:custDataLst>
          </p:nvPr>
        </p:nvSpPr>
        <p:spPr bwMode="gray">
          <a:xfrm>
            <a:off x="6218238" y="3354388"/>
            <a:ext cx="258763" cy="152400"/>
          </a:xfrm>
          <a:prstGeom prst="rect">
            <a:avLst/>
          </a:prstGeom>
          <a:solidFill>
            <a:srgbClr val="0097A9"/>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7E2E61B3-3692-437C-ABC4-3D08EADE4BF3}" type="datetime'''4%'''''''''''''''''''''''''''''''''''''''''''">
              <a:rPr lang="en-IN" altLang="en-US" b="0" smtClean="0">
                <a:solidFill>
                  <a:schemeClr val="bg1"/>
                </a:solidFill>
              </a:rPr>
              <a:pPr lvl="1" algn="ctr">
                <a:spcBef>
                  <a:spcPct val="0"/>
                </a:spcBef>
                <a:spcAft>
                  <a:spcPct val="0"/>
                </a:spcAft>
              </a:pPr>
              <a:t>4%</a:t>
            </a:fld>
            <a:endParaRPr lang="en-IN" b="0" noProof="0" dirty="0">
              <a:solidFill>
                <a:schemeClr val="bg1"/>
              </a:solidFill>
              <a:sym typeface="+mn-lt"/>
            </a:endParaRPr>
          </a:p>
        </p:txBody>
      </p:sp>
      <p:sp>
        <p:nvSpPr>
          <p:cNvPr id="495" name="StandardTextbox"/>
          <p:cNvSpPr>
            <a:spLocks noGrp="1"/>
          </p:cNvSpPr>
          <p:nvPr>
            <p:custDataLst>
              <p:tags r:id="rId10"/>
            </p:custDataLst>
          </p:nvPr>
        </p:nvSpPr>
        <p:spPr bwMode="gray">
          <a:xfrm>
            <a:off x="6864350" y="3295650"/>
            <a:ext cx="258763" cy="152400"/>
          </a:xfrm>
          <a:prstGeom prst="rect">
            <a:avLst/>
          </a:prstGeom>
          <a:solidFill>
            <a:srgbClr val="75787B"/>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9A76985-4E73-4AA7-90FA-EDB9928CCB3D}" type="datetime'''5''''''''''''''''''''''''''''''''''''%'''''''''''''">
              <a:rPr lang="en-IN" altLang="en-US" b="0" smtClean="0">
                <a:solidFill>
                  <a:schemeClr val="bg1"/>
                </a:solidFill>
              </a:rPr>
              <a:pPr lvl="1" algn="ctr">
                <a:spcBef>
                  <a:spcPct val="0"/>
                </a:spcBef>
                <a:spcAft>
                  <a:spcPct val="0"/>
                </a:spcAft>
              </a:pPr>
              <a:t>5%</a:t>
            </a:fld>
            <a:endParaRPr lang="en-IN" b="0" noProof="0" dirty="0">
              <a:solidFill>
                <a:schemeClr val="bg1"/>
              </a:solidFill>
              <a:sym typeface="+mn-lt"/>
            </a:endParaRPr>
          </a:p>
        </p:txBody>
      </p:sp>
      <p:sp>
        <p:nvSpPr>
          <p:cNvPr id="497" name="StandardTextbox"/>
          <p:cNvSpPr>
            <a:spLocks noGrp="1"/>
          </p:cNvSpPr>
          <p:nvPr>
            <p:custDataLst>
              <p:tags r:id="rId11"/>
            </p:custDataLst>
          </p:nvPr>
        </p:nvSpPr>
        <p:spPr bwMode="gray">
          <a:xfrm>
            <a:off x="6864350" y="3109913"/>
            <a:ext cx="258763" cy="152400"/>
          </a:xfrm>
          <a:prstGeom prst="rect">
            <a:avLst/>
          </a:prstGeom>
          <a:solidFill>
            <a:srgbClr val="046A38"/>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C973AC1-BD27-4454-8583-AAA46CF16449}" type="datetime'''''''''''''''''''''''''''''''''''9''''''%'''''''''''">
              <a:rPr lang="en-IN" altLang="en-US" b="0" smtClean="0">
                <a:solidFill>
                  <a:schemeClr val="bg1"/>
                </a:solidFill>
              </a:rPr>
              <a:pPr lvl="1" algn="ctr">
                <a:spcBef>
                  <a:spcPct val="0"/>
                </a:spcBef>
                <a:spcAft>
                  <a:spcPct val="0"/>
                </a:spcAft>
              </a:pPr>
              <a:t>9%</a:t>
            </a:fld>
            <a:endParaRPr lang="en-IN" b="0" noProof="0" dirty="0">
              <a:solidFill>
                <a:schemeClr val="bg1"/>
              </a:solidFill>
              <a:sym typeface="+mn-lt"/>
            </a:endParaRPr>
          </a:p>
        </p:txBody>
      </p:sp>
      <p:sp>
        <p:nvSpPr>
          <p:cNvPr id="496" name="StandardTextbox"/>
          <p:cNvSpPr>
            <a:spLocks noGrp="1"/>
          </p:cNvSpPr>
          <p:nvPr>
            <p:custDataLst>
              <p:tags r:id="rId12"/>
            </p:custDataLst>
          </p:nvPr>
        </p:nvSpPr>
        <p:spPr bwMode="gray">
          <a:xfrm>
            <a:off x="6218238" y="3213100"/>
            <a:ext cx="258763" cy="152400"/>
          </a:xfrm>
          <a:prstGeom prst="rect">
            <a:avLst/>
          </a:prstGeom>
          <a:solidFill>
            <a:srgbClr val="86BC25"/>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C272935-51B5-43CD-B86A-5A9F5C4F72E2}" type="datetime'''''8''''''''''''''''''''''''''''%'''''''''''''''''">
              <a:rPr lang="en-IN" altLang="en-US" b="0" smtClean="0">
                <a:solidFill>
                  <a:schemeClr val="bg1"/>
                </a:solidFill>
              </a:rPr>
              <a:pPr lvl="1" algn="ctr">
                <a:spcBef>
                  <a:spcPct val="0"/>
                </a:spcBef>
                <a:spcAft>
                  <a:spcPct val="0"/>
                </a:spcAft>
              </a:pPr>
              <a:t>8%</a:t>
            </a:fld>
            <a:endParaRPr lang="en-IN" b="0" noProof="0" dirty="0">
              <a:solidFill>
                <a:schemeClr val="bg1"/>
              </a:solidFill>
              <a:sym typeface="+mn-lt"/>
            </a:endParaRPr>
          </a:p>
        </p:txBody>
      </p:sp>
      <p:sp>
        <p:nvSpPr>
          <p:cNvPr id="490" name="StandardTextbox"/>
          <p:cNvSpPr>
            <a:spLocks noGrp="1"/>
          </p:cNvSpPr>
          <p:nvPr>
            <p:custDataLst>
              <p:tags r:id="rId13"/>
            </p:custDataLst>
          </p:nvPr>
        </p:nvSpPr>
        <p:spPr bwMode="gray">
          <a:xfrm>
            <a:off x="6499225" y="3724275"/>
            <a:ext cx="339725" cy="152400"/>
          </a:xfrm>
          <a:prstGeom prst="rect">
            <a:avLst/>
          </a:prstGeom>
          <a:noFill/>
          <a:ln>
            <a:noFill/>
          </a:ln>
          <a:extLst>
            <a:ext uri="{909E8E84-426E-40DD-AFC4-6F175D3DCCD1}">
              <a14:hiddenFill xmlns:a14="http://schemas.microsoft.com/office/drawing/2010/main">
                <a:solidFill>
                  <a:srgbClr val="012169"/>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4420ADA-B67F-4C0A-9F3D-0C1D96E89EAA}" type="datetime'5''''''''''''''''''''5''''''''''''''''''''''''''''''%'''''''">
              <a:rPr lang="en-IN" altLang="en-US" b="0" smtClean="0">
                <a:solidFill>
                  <a:schemeClr val="bg1"/>
                </a:solidFill>
              </a:rPr>
              <a:pPr lvl="1" algn="ctr">
                <a:spcBef>
                  <a:spcPct val="0"/>
                </a:spcBef>
                <a:spcAft>
                  <a:spcPct val="0"/>
                </a:spcAft>
              </a:pPr>
              <a:t>55%</a:t>
            </a:fld>
            <a:endParaRPr lang="en-IN" b="0" noProof="0" dirty="0">
              <a:solidFill>
                <a:schemeClr val="bg1"/>
              </a:solidFill>
              <a:sym typeface="+mn-lt"/>
            </a:endParaRPr>
          </a:p>
        </p:txBody>
      </p:sp>
      <p:sp>
        <p:nvSpPr>
          <p:cNvPr id="582" name="StandardTextbox"/>
          <p:cNvSpPr>
            <a:spLocks noGrp="1"/>
          </p:cNvSpPr>
          <p:nvPr>
            <p:custDataLst>
              <p:tags r:id="rId14"/>
            </p:custDataLst>
          </p:nvPr>
        </p:nvSpPr>
        <p:spPr bwMode="gray">
          <a:xfrm>
            <a:off x="8826500" y="3557588"/>
            <a:ext cx="339725" cy="152400"/>
          </a:xfrm>
          <a:prstGeom prst="rect">
            <a:avLst/>
          </a:prstGeom>
          <a:noFill/>
          <a:ln>
            <a:noFill/>
          </a:ln>
          <a:extLst>
            <a:ext uri="{909E8E84-426E-40DD-AFC4-6F175D3DCCD1}">
              <a14:hiddenFill xmlns:a14="http://schemas.microsoft.com/office/drawing/2010/main">
                <a:solidFill>
                  <a:srgbClr val="E3E48D"/>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CE34629-8510-4245-A990-6D942676AC28}" type="datetime'''''''7''''''2''''''''''''''''''%'''''''''''''''">
              <a:rPr lang="en-IN" altLang="en-US" b="0" smtClean="0"/>
              <a:pPr lvl="1" algn="ctr">
                <a:spcBef>
                  <a:spcPct val="0"/>
                </a:spcBef>
                <a:spcAft>
                  <a:spcPct val="0"/>
                </a:spcAft>
              </a:pPr>
              <a:t>72%</a:t>
            </a:fld>
            <a:endParaRPr lang="en-IN" b="0" noProof="0" dirty="0">
              <a:sym typeface="+mn-lt"/>
            </a:endParaRPr>
          </a:p>
        </p:txBody>
      </p:sp>
      <p:sp>
        <p:nvSpPr>
          <p:cNvPr id="581" name="StandardTextbox"/>
          <p:cNvSpPr>
            <a:spLocks noGrp="1"/>
          </p:cNvSpPr>
          <p:nvPr>
            <p:custDataLst>
              <p:tags r:id="rId15"/>
            </p:custDataLst>
          </p:nvPr>
        </p:nvSpPr>
        <p:spPr bwMode="gray">
          <a:xfrm>
            <a:off x="9191625" y="3856038"/>
            <a:ext cx="258763" cy="152400"/>
          </a:xfrm>
          <a:prstGeom prst="rect">
            <a:avLst/>
          </a:prstGeom>
          <a:solidFill>
            <a:srgbClr val="DDEFE8"/>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1CBFA073-6E81-4BC1-97FB-F9C74EC56C45}" type="datetime'''''''''''''''''''''4''''''''''''''''%'''">
              <a:rPr lang="en-IN" altLang="en-US" b="0" smtClean="0"/>
              <a:pPr lvl="1" algn="ctr">
                <a:spcBef>
                  <a:spcPct val="0"/>
                </a:spcBef>
                <a:spcAft>
                  <a:spcPct val="0"/>
                </a:spcAft>
              </a:pPr>
              <a:t>4%</a:t>
            </a:fld>
            <a:endParaRPr lang="en-IN" b="0" noProof="0" dirty="0">
              <a:sym typeface="+mn-lt"/>
            </a:endParaRPr>
          </a:p>
        </p:txBody>
      </p:sp>
      <p:sp>
        <p:nvSpPr>
          <p:cNvPr id="587" name="StandardTextbox"/>
          <p:cNvSpPr>
            <a:spLocks noGrp="1"/>
          </p:cNvSpPr>
          <p:nvPr>
            <p:custDataLst>
              <p:tags r:id="rId16"/>
            </p:custDataLst>
          </p:nvPr>
        </p:nvSpPr>
        <p:spPr bwMode="gray">
          <a:xfrm>
            <a:off x="8504238" y="3968750"/>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B0A31BA-3E6B-4E00-A24D-60233B0A8F71}" type="datetime'''''''''''''25%'''''''''''''''''''''''''">
              <a:rPr lang="en-IN" altLang="en-US" b="0" smtClean="0">
                <a:solidFill>
                  <a:schemeClr val="bg1"/>
                </a:solidFill>
              </a:rPr>
              <a:pPr lvl="1" algn="ctr">
                <a:spcBef>
                  <a:spcPct val="0"/>
                </a:spcBef>
                <a:spcAft>
                  <a:spcPct val="0"/>
                </a:spcAft>
              </a:pPr>
              <a:t>25%</a:t>
            </a:fld>
            <a:endParaRPr lang="en-IN" b="0" noProof="0" dirty="0">
              <a:solidFill>
                <a:schemeClr val="bg1"/>
              </a:solidFill>
              <a:sym typeface="+mn-lt"/>
            </a:endParaRPr>
          </a:p>
        </p:txBody>
      </p:sp>
      <p:sp>
        <p:nvSpPr>
          <p:cNvPr id="399" name="StandardTextbox"/>
          <p:cNvSpPr>
            <a:spLocks noGrp="1"/>
          </p:cNvSpPr>
          <p:nvPr>
            <p:custDataLst>
              <p:tags r:id="rId17"/>
            </p:custDataLst>
          </p:nvPr>
        </p:nvSpPr>
        <p:spPr bwMode="auto">
          <a:xfrm>
            <a:off x="8567738" y="4229100"/>
            <a:ext cx="8572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7A072F9-CE99-42F4-9BB4-74D17F8D1069}" type="datetime'Exp''ort''(''''''''''''''''''''''''''''F''Y1''9'''''')'">
              <a:rPr lang="en-IN" altLang="en-US" b="0" smtClean="0"/>
              <a:pPr lvl="1" algn="ctr">
                <a:spcBef>
                  <a:spcPct val="0"/>
                </a:spcBef>
                <a:spcAft>
                  <a:spcPct val="0"/>
                </a:spcAft>
              </a:pPr>
              <a:t>Export(FY19)</a:t>
            </a:fld>
            <a:endParaRPr lang="en-IN" b="0" noProof="0" dirty="0">
              <a:sym typeface="+mn-lt"/>
            </a:endParaRPr>
          </a:p>
        </p:txBody>
      </p:sp>
      <p:sp>
        <p:nvSpPr>
          <p:cNvPr id="394" name="StandardTextbox"/>
          <p:cNvSpPr>
            <a:spLocks noGrp="1"/>
          </p:cNvSpPr>
          <p:nvPr>
            <p:custDataLst>
              <p:tags r:id="rId18"/>
            </p:custDataLst>
          </p:nvPr>
        </p:nvSpPr>
        <p:spPr bwMode="gray">
          <a:xfrm>
            <a:off x="6557963" y="2708275"/>
            <a:ext cx="2222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10297BA-B271-471A-9AD5-71231598CAAE}" type="datetime'''''''''''''''''''5''''''''''''''''''''''''''6'''''''''''''''">
              <a:rPr lang="en-IN" altLang="en-US" smtClean="0"/>
              <a:pPr lvl="1" algn="ctr">
                <a:spcBef>
                  <a:spcPct val="0"/>
                </a:spcBef>
                <a:spcAft>
                  <a:spcPct val="0"/>
                </a:spcAft>
              </a:pPr>
              <a:t>56</a:t>
            </a:fld>
            <a:endParaRPr lang="en-IN" noProof="0" dirty="0">
              <a:sym typeface="+mn-lt"/>
            </a:endParaRPr>
          </a:p>
        </p:txBody>
      </p:sp>
      <p:sp>
        <p:nvSpPr>
          <p:cNvPr id="576" name="StandardTextbox"/>
          <p:cNvSpPr>
            <a:spLocks noGrp="1"/>
          </p:cNvSpPr>
          <p:nvPr>
            <p:custDataLst>
              <p:tags r:id="rId19"/>
            </p:custDataLst>
          </p:nvPr>
        </p:nvSpPr>
        <p:spPr bwMode="gray">
          <a:xfrm>
            <a:off x="8885238" y="3173413"/>
            <a:ext cx="2222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3608379-0503-4EDD-A7F3-A73380330D75}" type="datetime'''''''''''''3''''''''''''''''''''''''5'''''''''''">
              <a:rPr lang="en-IN" altLang="en-US" smtClean="0"/>
              <a:pPr lvl="1" algn="ctr">
                <a:spcBef>
                  <a:spcPct val="0"/>
                </a:spcBef>
                <a:spcAft>
                  <a:spcPct val="0"/>
                </a:spcAft>
              </a:pPr>
              <a:t>35</a:t>
            </a:fld>
            <a:endParaRPr lang="en-IN" noProof="0" dirty="0">
              <a:sym typeface="+mn-lt"/>
            </a:endParaRPr>
          </a:p>
        </p:txBody>
      </p:sp>
      <p:sp>
        <p:nvSpPr>
          <p:cNvPr id="509" name="StandardTextbox"/>
          <p:cNvSpPr>
            <a:spLocks noGrp="1"/>
          </p:cNvSpPr>
          <p:nvPr>
            <p:custDataLst>
              <p:tags r:id="rId20"/>
            </p:custDataLst>
          </p:nvPr>
        </p:nvSpPr>
        <p:spPr bwMode="auto">
          <a:xfrm>
            <a:off x="7345528" y="2851607"/>
            <a:ext cx="5826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r>
              <a:rPr lang="en-IN" altLang="en-US" sz="800" b="0" dirty="0"/>
              <a:t>POL</a:t>
            </a:r>
            <a:endParaRPr lang="en-IN" sz="800" b="0" noProof="0" dirty="0">
              <a:sym typeface="+mn-lt"/>
            </a:endParaRPr>
          </a:p>
        </p:txBody>
      </p:sp>
      <p:sp>
        <p:nvSpPr>
          <p:cNvPr id="510" name="StandardTextbox"/>
          <p:cNvSpPr>
            <a:spLocks noGrp="1"/>
          </p:cNvSpPr>
          <p:nvPr>
            <p:custDataLst>
              <p:tags r:id="rId21"/>
            </p:custDataLst>
          </p:nvPr>
        </p:nvSpPr>
        <p:spPr bwMode="auto">
          <a:xfrm>
            <a:off x="7346242" y="2965563"/>
            <a:ext cx="5826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r>
              <a:rPr lang="en-IN" altLang="en-US" sz="800" b="0" dirty="0"/>
              <a:t>Capital Machinery</a:t>
            </a:r>
            <a:endParaRPr lang="en-IN" sz="800" b="0" noProof="0" dirty="0">
              <a:sym typeface="+mn-lt"/>
            </a:endParaRPr>
          </a:p>
        </p:txBody>
      </p:sp>
      <p:sp>
        <p:nvSpPr>
          <p:cNvPr id="511" name="StandardTextbox"/>
          <p:cNvSpPr>
            <a:spLocks noGrp="1"/>
          </p:cNvSpPr>
          <p:nvPr>
            <p:custDataLst>
              <p:tags r:id="rId22"/>
            </p:custDataLst>
          </p:nvPr>
        </p:nvSpPr>
        <p:spPr bwMode="auto">
          <a:xfrm>
            <a:off x="7338128" y="3073719"/>
            <a:ext cx="5826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r>
              <a:rPr lang="en-IN" altLang="en-US" sz="800" b="0" dirty="0"/>
              <a:t>Textile &amp; Articles</a:t>
            </a:r>
            <a:endParaRPr lang="en-IN" sz="800" b="0" noProof="0" dirty="0">
              <a:sym typeface="+mn-lt"/>
            </a:endParaRPr>
          </a:p>
        </p:txBody>
      </p:sp>
      <p:sp>
        <p:nvSpPr>
          <p:cNvPr id="512" name="StandardTextbox"/>
          <p:cNvSpPr>
            <a:spLocks noGrp="1"/>
          </p:cNvSpPr>
          <p:nvPr>
            <p:custDataLst>
              <p:tags r:id="rId23"/>
            </p:custDataLst>
          </p:nvPr>
        </p:nvSpPr>
        <p:spPr bwMode="auto">
          <a:xfrm>
            <a:off x="7347466" y="3168483"/>
            <a:ext cx="5826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r>
              <a:rPr lang="en-IN" altLang="en-US" sz="800" b="0" dirty="0"/>
              <a:t>Iron, Steel, etc.</a:t>
            </a:r>
            <a:endParaRPr lang="en-IN" sz="800" b="0" noProof="0" dirty="0">
              <a:sym typeface="+mn-lt"/>
            </a:endParaRPr>
          </a:p>
        </p:txBody>
      </p:sp>
      <p:sp>
        <p:nvSpPr>
          <p:cNvPr id="513" name="StandardTextbox"/>
          <p:cNvSpPr>
            <a:spLocks noGrp="1"/>
          </p:cNvSpPr>
          <p:nvPr>
            <p:custDataLst>
              <p:tags r:id="rId24"/>
            </p:custDataLst>
          </p:nvPr>
        </p:nvSpPr>
        <p:spPr bwMode="auto">
          <a:xfrm>
            <a:off x="7352052" y="3267027"/>
            <a:ext cx="5826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r>
              <a:rPr lang="en-IN" altLang="en-US" sz="800" b="0" dirty="0"/>
              <a:t>Raw Cotton</a:t>
            </a:r>
            <a:endParaRPr lang="en-IN" sz="800" b="0" noProof="0" dirty="0">
              <a:sym typeface="+mn-lt"/>
            </a:endParaRPr>
          </a:p>
        </p:txBody>
      </p:sp>
      <p:sp>
        <p:nvSpPr>
          <p:cNvPr id="514" name="StandardTextbox"/>
          <p:cNvSpPr>
            <a:spLocks noGrp="1"/>
          </p:cNvSpPr>
          <p:nvPr>
            <p:custDataLst>
              <p:tags r:id="rId25"/>
            </p:custDataLst>
          </p:nvPr>
        </p:nvSpPr>
        <p:spPr bwMode="auto">
          <a:xfrm>
            <a:off x="7346549" y="3394682"/>
            <a:ext cx="5826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r>
              <a:rPr lang="en-IN" altLang="en-US" sz="800" b="0" dirty="0"/>
              <a:t>Plastics / Rubber</a:t>
            </a:r>
            <a:endParaRPr lang="en-IN" sz="800" b="0" noProof="0" dirty="0">
              <a:sym typeface="+mn-lt"/>
            </a:endParaRPr>
          </a:p>
        </p:txBody>
      </p:sp>
      <p:sp>
        <p:nvSpPr>
          <p:cNvPr id="556" name="StandardTextbox"/>
          <p:cNvSpPr>
            <a:spLocks noGrp="1"/>
          </p:cNvSpPr>
          <p:nvPr>
            <p:custDataLst>
              <p:tags r:id="rId26"/>
            </p:custDataLst>
          </p:nvPr>
        </p:nvSpPr>
        <p:spPr bwMode="auto">
          <a:xfrm>
            <a:off x="7362215" y="3913188"/>
            <a:ext cx="5826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r>
              <a:rPr lang="en-IN" altLang="en-US" sz="800" b="0" dirty="0"/>
              <a:t>Others</a:t>
            </a:r>
            <a:endParaRPr lang="en-IN" sz="800" b="0" noProof="0" dirty="0">
              <a:sym typeface="+mn-lt"/>
            </a:endParaRPr>
          </a:p>
        </p:txBody>
      </p:sp>
      <p:sp>
        <p:nvSpPr>
          <p:cNvPr id="594" name="StandardTextbox"/>
          <p:cNvSpPr>
            <a:spLocks noGrp="1"/>
          </p:cNvSpPr>
          <p:nvPr>
            <p:custDataLst>
              <p:tags r:id="rId27"/>
            </p:custDataLst>
          </p:nvPr>
        </p:nvSpPr>
        <p:spPr bwMode="auto">
          <a:xfrm>
            <a:off x="9695470" y="3235065"/>
            <a:ext cx="691572" cy="24606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ctr" anchorCtr="0">
            <a:sp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r>
              <a:rPr lang="en-IN" altLang="en-US" sz="800" b="0" dirty="0"/>
              <a:t>Readymade Garment</a:t>
            </a:r>
            <a:endParaRPr lang="en-IN" sz="800" b="0" noProof="0" dirty="0">
              <a:sym typeface="+mn-lt"/>
            </a:endParaRPr>
          </a:p>
        </p:txBody>
      </p:sp>
      <p:sp>
        <p:nvSpPr>
          <p:cNvPr id="596" name="StandardTextbox"/>
          <p:cNvSpPr>
            <a:spLocks noGrp="1"/>
          </p:cNvSpPr>
          <p:nvPr>
            <p:custDataLst>
              <p:tags r:id="rId28"/>
            </p:custDataLst>
          </p:nvPr>
        </p:nvSpPr>
        <p:spPr bwMode="auto">
          <a:xfrm>
            <a:off x="9694069" y="3697287"/>
            <a:ext cx="780304" cy="24606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ctr" anchorCtr="0">
            <a:sp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r>
              <a:rPr lang="en-IN" altLang="en-US" sz="800" b="0" dirty="0"/>
              <a:t>Jute / Leather Products</a:t>
            </a:r>
            <a:endParaRPr lang="en-IN" sz="800" b="0" noProof="0" dirty="0">
              <a:sym typeface="+mn-lt"/>
            </a:endParaRPr>
          </a:p>
        </p:txBody>
      </p:sp>
      <p:sp>
        <p:nvSpPr>
          <p:cNvPr id="600" name="StandardTextbox"/>
          <p:cNvSpPr>
            <a:spLocks noGrp="1"/>
          </p:cNvSpPr>
          <p:nvPr>
            <p:custDataLst>
              <p:tags r:id="rId29"/>
            </p:custDataLst>
          </p:nvPr>
        </p:nvSpPr>
        <p:spPr bwMode="auto">
          <a:xfrm>
            <a:off x="9701845" y="3974937"/>
            <a:ext cx="780304" cy="1238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ctr" anchorCtr="0">
            <a:sp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r>
              <a:rPr lang="en-IN" altLang="en-US" sz="800" b="0" dirty="0"/>
              <a:t>Others</a:t>
            </a:r>
            <a:endParaRPr lang="en-IN" sz="800" b="0" noProof="0" dirty="0">
              <a:sym typeface="+mn-lt"/>
            </a:endParaRPr>
          </a:p>
        </p:txBody>
      </p:sp>
      <p:graphicFrame>
        <p:nvGraphicFramePr>
          <p:cNvPr id="741" name="Chart 740"/>
          <p:cNvGraphicFramePr/>
          <p:nvPr>
            <p:custDataLst>
              <p:tags r:id="rId30"/>
            </p:custDataLst>
            <p:extLst>
              <p:ext uri="{D42A27DB-BD31-4B8C-83A1-F6EECF244321}">
                <p14:modId xmlns:p14="http://schemas.microsoft.com/office/powerpoint/2010/main" val="1909920633"/>
              </p:ext>
            </p:extLst>
          </p:nvPr>
        </p:nvGraphicFramePr>
        <p:xfrm>
          <a:off x="5424488" y="5334000"/>
          <a:ext cx="4818062" cy="1314450"/>
        </p:xfrm>
        <a:graphic>
          <a:graphicData uri="http://schemas.openxmlformats.org/drawingml/2006/chart">
            <c:chart xmlns:c="http://schemas.openxmlformats.org/drawingml/2006/chart" xmlns:r="http://schemas.openxmlformats.org/officeDocument/2006/relationships" r:id="rId45"/>
          </a:graphicData>
        </a:graphic>
      </p:graphicFrame>
      <p:sp>
        <p:nvSpPr>
          <p:cNvPr id="618" name="StandardTextbox"/>
          <p:cNvSpPr>
            <a:spLocks noGrp="1"/>
          </p:cNvSpPr>
          <p:nvPr>
            <p:custDataLst>
              <p:tags r:id="rId31"/>
            </p:custDataLst>
          </p:nvPr>
        </p:nvSpPr>
        <p:spPr bwMode="auto">
          <a:xfrm>
            <a:off x="6716713" y="6669088"/>
            <a:ext cx="3698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58C0F0A-8CC1-452C-9550-1215C255C0E1}" type="datetime'''''''''''''F''''Y1''''''''''''''''''''''''''''''''6'''''">
              <a:rPr lang="en-IN" altLang="en-US" smtClean="0"/>
              <a:pPr lvl="1" algn="ctr">
                <a:spcBef>
                  <a:spcPct val="0"/>
                </a:spcBef>
                <a:spcAft>
                  <a:spcPct val="0"/>
                </a:spcAft>
              </a:pPr>
              <a:t>FY16</a:t>
            </a:fld>
            <a:endParaRPr lang="en-IN" noProof="0" dirty="0">
              <a:sym typeface="+mn-lt"/>
            </a:endParaRPr>
          </a:p>
        </p:txBody>
      </p:sp>
      <p:sp>
        <p:nvSpPr>
          <p:cNvPr id="607" name="StandardTextbox"/>
          <p:cNvSpPr>
            <a:spLocks noGrp="1"/>
          </p:cNvSpPr>
          <p:nvPr>
            <p:custDataLst>
              <p:tags r:id="rId32"/>
            </p:custDataLst>
          </p:nvPr>
        </p:nvSpPr>
        <p:spPr bwMode="auto">
          <a:xfrm>
            <a:off x="5786438" y="6669088"/>
            <a:ext cx="3698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2E680F1-8E51-4FDA-8DCC-280BABB75CF4}" type="datetime'''F''''''''''''''''''''''''''Y''1''''''''''''''''''5'''''">
              <a:rPr lang="en-IN" altLang="en-US" smtClean="0"/>
              <a:pPr lvl="1" algn="ctr">
                <a:spcBef>
                  <a:spcPct val="0"/>
                </a:spcBef>
                <a:spcAft>
                  <a:spcPct val="0"/>
                </a:spcAft>
              </a:pPr>
              <a:t>FY15</a:t>
            </a:fld>
            <a:endParaRPr lang="en-IN" noProof="0" dirty="0">
              <a:sym typeface="+mn-lt"/>
            </a:endParaRPr>
          </a:p>
        </p:txBody>
      </p:sp>
      <p:sp>
        <p:nvSpPr>
          <p:cNvPr id="619" name="StandardTextbox"/>
          <p:cNvSpPr>
            <a:spLocks noGrp="1"/>
          </p:cNvSpPr>
          <p:nvPr>
            <p:custDataLst>
              <p:tags r:id="rId33"/>
            </p:custDataLst>
          </p:nvPr>
        </p:nvSpPr>
        <p:spPr bwMode="auto">
          <a:xfrm>
            <a:off x="7648575" y="6669088"/>
            <a:ext cx="3698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856655E-7A32-4BC3-BF69-5727AF7909DE}" type="datetime'''''''''F''''Y''''''''''''''''''''17'''''''''''">
              <a:rPr lang="en-IN" altLang="en-US" smtClean="0"/>
              <a:pPr lvl="1" algn="ctr">
                <a:spcBef>
                  <a:spcPct val="0"/>
                </a:spcBef>
                <a:spcAft>
                  <a:spcPct val="0"/>
                </a:spcAft>
              </a:pPr>
              <a:t>FY17</a:t>
            </a:fld>
            <a:endParaRPr lang="en-IN" noProof="0" dirty="0">
              <a:sym typeface="+mn-lt"/>
            </a:endParaRPr>
          </a:p>
        </p:txBody>
      </p:sp>
      <p:sp>
        <p:nvSpPr>
          <p:cNvPr id="620" name="StandardTextbox"/>
          <p:cNvSpPr>
            <a:spLocks noGrp="1"/>
          </p:cNvSpPr>
          <p:nvPr>
            <p:custDataLst>
              <p:tags r:id="rId34"/>
            </p:custDataLst>
          </p:nvPr>
        </p:nvSpPr>
        <p:spPr bwMode="auto">
          <a:xfrm>
            <a:off x="8578850" y="6669088"/>
            <a:ext cx="3698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FB2FF3C-2290-4F48-9E34-4F2B140AE78D}" type="datetime'''''''''''F''Y''''''''''''''''''''''''''''''1''8'''''''''''''">
              <a:rPr lang="en-IN" altLang="en-US" smtClean="0"/>
              <a:pPr lvl="1" algn="ctr">
                <a:spcBef>
                  <a:spcPct val="0"/>
                </a:spcBef>
                <a:spcAft>
                  <a:spcPct val="0"/>
                </a:spcAft>
              </a:pPr>
              <a:t>FY18</a:t>
            </a:fld>
            <a:endParaRPr lang="en-IN" noProof="0" dirty="0">
              <a:sym typeface="+mn-lt"/>
            </a:endParaRPr>
          </a:p>
        </p:txBody>
      </p:sp>
      <p:sp>
        <p:nvSpPr>
          <p:cNvPr id="621" name="StandardTextbox"/>
          <p:cNvSpPr>
            <a:spLocks noGrp="1"/>
          </p:cNvSpPr>
          <p:nvPr>
            <p:custDataLst>
              <p:tags r:id="rId35"/>
            </p:custDataLst>
          </p:nvPr>
        </p:nvSpPr>
        <p:spPr bwMode="auto">
          <a:xfrm>
            <a:off x="9509125" y="6669088"/>
            <a:ext cx="3698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763CAEA5-3B29-44C3-BA30-5104C1595783}" type="datetime'''''''F''''''''''''''''''''''''''''Y''''''''19'''''''''''''''">
              <a:rPr lang="en-IN" altLang="en-US" smtClean="0"/>
              <a:pPr lvl="1" algn="ctr">
                <a:spcBef>
                  <a:spcPct val="0"/>
                </a:spcBef>
                <a:spcAft>
                  <a:spcPct val="0"/>
                </a:spcAft>
              </a:pPr>
              <a:t>FY19</a:t>
            </a:fld>
            <a:endParaRPr lang="en-IN" noProof="0" dirty="0">
              <a:sym typeface="+mn-lt"/>
            </a:endParaRPr>
          </a:p>
        </p:txBody>
      </p:sp>
      <p:sp>
        <p:nvSpPr>
          <p:cNvPr id="626" name="Rectangle 625"/>
          <p:cNvSpPr/>
          <p:nvPr>
            <p:custDataLst>
              <p:tags r:id="rId36"/>
            </p:custDataLst>
          </p:nvPr>
        </p:nvSpPr>
        <p:spPr bwMode="auto">
          <a:xfrm>
            <a:off x="5767388" y="6945313"/>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33" name="Rectangle 632"/>
          <p:cNvSpPr/>
          <p:nvPr>
            <p:custDataLst>
              <p:tags r:id="rId37"/>
            </p:custDataLst>
          </p:nvPr>
        </p:nvSpPr>
        <p:spPr bwMode="auto">
          <a:xfrm>
            <a:off x="7683500" y="6945313"/>
            <a:ext cx="179388" cy="133350"/>
          </a:xfrm>
          <a:prstGeom prst="rect">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24" name="StandardTextbox"/>
          <p:cNvSpPr>
            <a:spLocks noGrp="1"/>
          </p:cNvSpPr>
          <p:nvPr>
            <p:custDataLst>
              <p:tags r:id="rId38"/>
            </p:custDataLst>
          </p:nvPr>
        </p:nvSpPr>
        <p:spPr bwMode="auto">
          <a:xfrm>
            <a:off x="5997575" y="6940550"/>
            <a:ext cx="15843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C184989E-4491-410A-8841-A5BA5949B5B8}" type="datetime'C''''u''rren''''''t'' ''''A''''''''''cco''unt B''al''''anc''e'">
              <a:rPr lang="en-IN" altLang="en-US" b="0" smtClean="0"/>
              <a:pPr lvl="1">
                <a:spcBef>
                  <a:spcPct val="0"/>
                </a:spcBef>
                <a:spcAft>
                  <a:spcPct val="0"/>
                </a:spcAft>
              </a:pPr>
              <a:t>Current Account Balance</a:t>
            </a:fld>
            <a:endParaRPr lang="en-IN" b="0" noProof="0" dirty="0">
              <a:sym typeface="+mn-lt"/>
            </a:endParaRPr>
          </a:p>
        </p:txBody>
      </p:sp>
      <p:sp>
        <p:nvSpPr>
          <p:cNvPr id="631" name="StandardTextbox"/>
          <p:cNvSpPr>
            <a:spLocks noGrp="1"/>
          </p:cNvSpPr>
          <p:nvPr>
            <p:custDataLst>
              <p:tags r:id="rId39"/>
            </p:custDataLst>
          </p:nvPr>
        </p:nvSpPr>
        <p:spPr bwMode="auto">
          <a:xfrm>
            <a:off x="7913688" y="6940550"/>
            <a:ext cx="1736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1F500635-37E0-47B9-A745-56A1AC8328E8}" type="datetime'Cap''''ital &amp;'' Fina''nci''''a''''''''''l Acc''''oun''''''''t'">
              <a:rPr lang="en-IN" altLang="en-US" b="0" smtClean="0"/>
              <a:pPr lvl="1">
                <a:spcBef>
                  <a:spcPct val="0"/>
                </a:spcBef>
                <a:spcAft>
                  <a:spcPct val="0"/>
                </a:spcAft>
              </a:pPr>
              <a:t>Capital &amp; Financial Account</a:t>
            </a:fld>
            <a:endParaRPr lang="en-IN" b="0" noProof="0" dirty="0">
              <a:sym typeface="+mn-lt"/>
            </a:endParaRPr>
          </a:p>
        </p:txBody>
      </p:sp>
      <p:sp>
        <p:nvSpPr>
          <p:cNvPr id="692" name="Rectangle 691"/>
          <p:cNvSpPr/>
          <p:nvPr/>
        </p:nvSpPr>
        <p:spPr bwMode="gray">
          <a:xfrm>
            <a:off x="5504318" y="5038191"/>
            <a:ext cx="654050" cy="268563"/>
          </a:xfrm>
          <a:prstGeom prst="rect">
            <a:avLst/>
          </a:prstGeom>
          <a:noFill/>
          <a:ln w="19050" algn="ctr">
            <a:solidFill>
              <a:schemeClr val="accent5"/>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t>25.0</a:t>
            </a:r>
            <a:endParaRPr lang="en-IN" sz="1000" b="1" dirty="0"/>
          </a:p>
        </p:txBody>
      </p:sp>
      <p:sp>
        <p:nvSpPr>
          <p:cNvPr id="693" name="Rectangle 692"/>
          <p:cNvSpPr/>
          <p:nvPr/>
        </p:nvSpPr>
        <p:spPr bwMode="gray">
          <a:xfrm>
            <a:off x="6402049" y="5038191"/>
            <a:ext cx="654050" cy="267234"/>
          </a:xfrm>
          <a:prstGeom prst="rect">
            <a:avLst/>
          </a:prstGeom>
          <a:noFill/>
          <a:ln w="19050" algn="ctr">
            <a:solidFill>
              <a:schemeClr val="accent5"/>
            </a:solidFill>
            <a:miter lim="800000"/>
            <a:headEnd/>
            <a:tailEnd/>
          </a:ln>
        </p:spPr>
        <p:txBody>
          <a:bodyPr wrap="square" lIns="36000" tIns="88900" rIns="36000" bIns="88900" rtlCol="0" anchor="ctr"/>
          <a:lstStyle/>
          <a:p>
            <a:pPr algn="ctr">
              <a:lnSpc>
                <a:spcPct val="106000"/>
              </a:lnSpc>
              <a:buFont typeface="Wingdings 2" pitchFamily="18" charset="2"/>
              <a:buNone/>
            </a:pPr>
            <a:r>
              <a:rPr lang="en-US" sz="1000" b="1" dirty="0"/>
              <a:t>30.1</a:t>
            </a:r>
            <a:endParaRPr lang="en-IN" sz="1000" b="1" dirty="0"/>
          </a:p>
        </p:txBody>
      </p:sp>
      <p:grpSp>
        <p:nvGrpSpPr>
          <p:cNvPr id="694" name="Group 693"/>
          <p:cNvGrpSpPr/>
          <p:nvPr/>
        </p:nvGrpSpPr>
        <p:grpSpPr>
          <a:xfrm>
            <a:off x="6516853" y="7119143"/>
            <a:ext cx="2512681" cy="230188"/>
            <a:chOff x="6310313" y="4983995"/>
            <a:chExt cx="2515104" cy="232030"/>
          </a:xfrm>
        </p:grpSpPr>
        <p:sp>
          <p:nvSpPr>
            <p:cNvPr id="695" name="Rectangle 694"/>
            <p:cNvSpPr/>
            <p:nvPr/>
          </p:nvSpPr>
          <p:spPr bwMode="gray">
            <a:xfrm>
              <a:off x="6310313" y="5020000"/>
              <a:ext cx="212407" cy="160020"/>
            </a:xfrm>
            <a:prstGeom prst="rect">
              <a:avLst/>
            </a:prstGeom>
            <a:noFill/>
            <a:ln w="19050" algn="ctr">
              <a:solidFill>
                <a:schemeClr val="accent5"/>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100" b="1" dirty="0"/>
            </a:p>
          </p:txBody>
        </p:sp>
        <p:sp>
          <p:nvSpPr>
            <p:cNvPr id="696" name="Rectangle 695"/>
            <p:cNvSpPr/>
            <p:nvPr/>
          </p:nvSpPr>
          <p:spPr bwMode="gray">
            <a:xfrm>
              <a:off x="6531982" y="4983995"/>
              <a:ext cx="2293435" cy="232030"/>
            </a:xfrm>
            <a:prstGeom prst="rect">
              <a:avLst/>
            </a:prstGeom>
            <a:noFill/>
            <a:ln w="19050" algn="ctr">
              <a:noFill/>
              <a:miter lim="800000"/>
              <a:headEnd/>
              <a:tailEnd/>
            </a:ln>
          </p:spPr>
          <p:txBody>
            <a:bodyPr wrap="square" lIns="88900" tIns="88900" rIns="88900" bIns="88900" rtlCol="0" anchor="ctr"/>
            <a:lstStyle/>
            <a:p>
              <a:pPr>
                <a:lnSpc>
                  <a:spcPct val="106000"/>
                </a:lnSpc>
                <a:buFont typeface="Wingdings 2" pitchFamily="18" charset="2"/>
                <a:buNone/>
              </a:pPr>
              <a:r>
                <a:rPr lang="en-US" sz="1000" dirty="0"/>
                <a:t>Foreign Reserves (USD Billion</a:t>
              </a:r>
              <a:endParaRPr lang="en-IN" sz="1000" dirty="0"/>
            </a:p>
          </p:txBody>
        </p:sp>
      </p:grpSp>
      <p:sp>
        <p:nvSpPr>
          <p:cNvPr id="747" name="Rectangle 746"/>
          <p:cNvSpPr/>
          <p:nvPr/>
        </p:nvSpPr>
        <p:spPr bwMode="gray">
          <a:xfrm>
            <a:off x="7458530" y="5038191"/>
            <a:ext cx="654050" cy="267234"/>
          </a:xfrm>
          <a:prstGeom prst="rect">
            <a:avLst/>
          </a:prstGeom>
          <a:noFill/>
          <a:ln w="19050" algn="ctr">
            <a:solidFill>
              <a:schemeClr val="accent5"/>
            </a:solidFill>
            <a:miter lim="800000"/>
            <a:headEnd/>
            <a:tailEnd/>
          </a:ln>
        </p:spPr>
        <p:txBody>
          <a:bodyPr wrap="square" lIns="36000" tIns="88900" rIns="36000" bIns="88900" rtlCol="0" anchor="ctr"/>
          <a:lstStyle/>
          <a:p>
            <a:pPr algn="ctr">
              <a:lnSpc>
                <a:spcPct val="106000"/>
              </a:lnSpc>
              <a:buFont typeface="Wingdings 2" pitchFamily="18" charset="2"/>
              <a:buNone/>
            </a:pPr>
            <a:r>
              <a:rPr lang="en-US" sz="1000" b="1" dirty="0"/>
              <a:t>33.5</a:t>
            </a:r>
            <a:endParaRPr lang="en-IN" sz="1000" b="1" dirty="0"/>
          </a:p>
        </p:txBody>
      </p:sp>
      <p:sp>
        <p:nvSpPr>
          <p:cNvPr id="748" name="Rectangle 747"/>
          <p:cNvSpPr/>
          <p:nvPr/>
        </p:nvSpPr>
        <p:spPr bwMode="gray">
          <a:xfrm>
            <a:off x="8570574" y="5038191"/>
            <a:ext cx="654050" cy="267234"/>
          </a:xfrm>
          <a:prstGeom prst="rect">
            <a:avLst/>
          </a:prstGeom>
          <a:noFill/>
          <a:ln w="19050" algn="ctr">
            <a:solidFill>
              <a:schemeClr val="accent5"/>
            </a:solidFill>
            <a:miter lim="800000"/>
            <a:headEnd/>
            <a:tailEnd/>
          </a:ln>
        </p:spPr>
        <p:txBody>
          <a:bodyPr wrap="square" lIns="36000" tIns="88900" rIns="36000" bIns="88900" rtlCol="0" anchor="ctr"/>
          <a:lstStyle/>
          <a:p>
            <a:pPr algn="ctr">
              <a:lnSpc>
                <a:spcPct val="106000"/>
              </a:lnSpc>
              <a:buFont typeface="Wingdings 2" pitchFamily="18" charset="2"/>
              <a:buNone/>
            </a:pPr>
            <a:r>
              <a:rPr lang="en-US" sz="1000" b="1" dirty="0"/>
              <a:t>32.9</a:t>
            </a:r>
            <a:endParaRPr lang="en-IN" sz="1000" b="1" dirty="0"/>
          </a:p>
        </p:txBody>
      </p:sp>
      <p:sp>
        <p:nvSpPr>
          <p:cNvPr id="749" name="Rectangle 748"/>
          <p:cNvSpPr/>
          <p:nvPr/>
        </p:nvSpPr>
        <p:spPr bwMode="gray">
          <a:xfrm>
            <a:off x="9464223" y="5038191"/>
            <a:ext cx="654050" cy="267234"/>
          </a:xfrm>
          <a:prstGeom prst="rect">
            <a:avLst/>
          </a:prstGeom>
          <a:noFill/>
          <a:ln w="19050" algn="ctr">
            <a:solidFill>
              <a:schemeClr val="accent5"/>
            </a:solidFill>
            <a:miter lim="800000"/>
            <a:headEnd/>
            <a:tailEnd/>
          </a:ln>
        </p:spPr>
        <p:txBody>
          <a:bodyPr wrap="square" lIns="36000" tIns="88900" rIns="36000" bIns="88900" rtlCol="0" anchor="ctr"/>
          <a:lstStyle/>
          <a:p>
            <a:pPr algn="ctr">
              <a:lnSpc>
                <a:spcPct val="106000"/>
              </a:lnSpc>
              <a:buFont typeface="Wingdings 2" pitchFamily="18" charset="2"/>
              <a:buNone/>
            </a:pPr>
            <a:r>
              <a:rPr lang="en-US" sz="1000" b="1" dirty="0"/>
              <a:t>32.6</a:t>
            </a:r>
            <a:endParaRPr lang="en-IN" sz="1000" b="1" dirty="0"/>
          </a:p>
        </p:txBody>
      </p:sp>
      <p:sp>
        <p:nvSpPr>
          <p:cNvPr id="751" name="Rectangle 750"/>
          <p:cNvSpPr/>
          <p:nvPr/>
        </p:nvSpPr>
        <p:spPr bwMode="gray">
          <a:xfrm>
            <a:off x="377226" y="7306460"/>
            <a:ext cx="9432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Bangladesh Bank,</a:t>
            </a:r>
            <a:r>
              <a:rPr kumimoji="0" lang="en-US" sz="700" b="0" i="1" u="none" strike="noStrike" kern="1200" cap="none" spc="0" normalizeH="0" noProof="0" dirty="0">
                <a:ln>
                  <a:noFill/>
                </a:ln>
                <a:solidFill>
                  <a:prstClr val="black"/>
                </a:solidFill>
                <a:effectLst/>
                <a:uLnTx/>
                <a:uFillTx/>
                <a:latin typeface="Verdana"/>
                <a:ea typeface="+mn-ea"/>
                <a:cs typeface="+mn-cs"/>
              </a:rPr>
              <a:t> ERD – </a:t>
            </a:r>
            <a:r>
              <a:rPr lang="en-US" sz="700" i="1" dirty="0">
                <a:solidFill>
                  <a:prstClr val="black"/>
                </a:solidFill>
                <a:latin typeface="Verdana"/>
              </a:rPr>
              <a:t>Govt. of Bangladesh, </a:t>
            </a:r>
            <a:r>
              <a:rPr kumimoji="0" lang="en-US" sz="700" b="0" i="1" u="none" strike="noStrike" kern="1200" cap="none" spc="0" normalizeH="0" noProof="0" dirty="0">
                <a:ln>
                  <a:noFill/>
                </a:ln>
                <a:solidFill>
                  <a:prstClr val="black"/>
                </a:solidFill>
                <a:effectLst/>
                <a:uLnTx/>
                <a:uFillTx/>
                <a:latin typeface="Verdana"/>
                <a:ea typeface="+mn-ea"/>
                <a:cs typeface="+mn-cs"/>
              </a:rPr>
              <a:t>Deloitte Analysis; Note 1) For Power Import, the exchange rate computation considered at </a:t>
            </a:r>
            <a:r>
              <a:rPr lang="en-US" sz="700" i="1" dirty="0">
                <a:solidFill>
                  <a:prstClr val="black"/>
                </a:solidFill>
                <a:latin typeface="Verdana"/>
              </a:rPr>
              <a:t>1 USD = 80 BDT in FY19 </a:t>
            </a:r>
            <a:endParaRPr kumimoji="0" lang="en-IN" sz="700" b="0" i="1"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47037504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pic>
        <p:nvPicPr>
          <p:cNvPr id="59" name="Picture 58"/>
          <p:cNvPicPr>
            <a:picLocks noChangeAspect="1"/>
          </p:cNvPicPr>
          <p:nvPr/>
        </p:nvPicPr>
        <p:blipFill rotWithShape="1">
          <a:blip r:embed="rId6" cstate="email">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a:ext>
            </a:extLst>
          </a:blip>
          <a:srcRect/>
          <a:stretch/>
        </p:blipFill>
        <p:spPr>
          <a:xfrm>
            <a:off x="6388099" y="1079499"/>
            <a:ext cx="4303713" cy="5570411"/>
          </a:xfrm>
          <a:prstGeom prst="rect">
            <a:avLst/>
          </a:prstGeom>
        </p:spPr>
      </p:pic>
      <p:sp>
        <p:nvSpPr>
          <p:cNvPr id="61" name="Rectangle 60"/>
          <p:cNvSpPr/>
          <p:nvPr/>
        </p:nvSpPr>
        <p:spPr bwMode="gray">
          <a:xfrm>
            <a:off x="447964" y="1030161"/>
            <a:ext cx="10229273" cy="36000"/>
          </a:xfrm>
          <a:prstGeom prst="rect">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2" name="Rectangle 61"/>
          <p:cNvSpPr/>
          <p:nvPr/>
        </p:nvSpPr>
        <p:spPr bwMode="gray">
          <a:xfrm>
            <a:off x="447964" y="6663250"/>
            <a:ext cx="10229273" cy="36000"/>
          </a:xfrm>
          <a:prstGeom prst="rect">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6" name="Rectangle 15"/>
          <p:cNvSpPr/>
          <p:nvPr/>
        </p:nvSpPr>
        <p:spPr>
          <a:xfrm>
            <a:off x="469900" y="2352070"/>
            <a:ext cx="4552045" cy="2677656"/>
          </a:xfrm>
          <a:prstGeom prst="rect">
            <a:avLst/>
          </a:prstGeom>
        </p:spPr>
        <p:txBody>
          <a:bodyPr wrap="square">
            <a:spAutoFit/>
          </a:bodyPr>
          <a:lstStyle/>
          <a:p>
            <a:r>
              <a:rPr lang="en-US" sz="2400" b="1" dirty="0"/>
              <a:t>Power Market Demand Supply Outlook</a:t>
            </a:r>
          </a:p>
          <a:p>
            <a:r>
              <a:rPr lang="en-US" sz="2400" i="1" dirty="0">
                <a:solidFill>
                  <a:schemeClr val="accent5"/>
                </a:solidFill>
              </a:rPr>
              <a:t>Historical demand &amp; supply, future demand &amp; supply and possible dispatchibility of plant considering merit order</a:t>
            </a:r>
          </a:p>
        </p:txBody>
      </p:sp>
      <p:sp>
        <p:nvSpPr>
          <p:cNvPr id="13" name="Oval 12"/>
          <p:cNvSpPr/>
          <p:nvPr/>
        </p:nvSpPr>
        <p:spPr bwMode="gray">
          <a:xfrm>
            <a:off x="5179691" y="1296232"/>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01</a:t>
            </a:r>
            <a:endParaRPr lang="en-IN" sz="1400" b="1" dirty="0"/>
          </a:p>
        </p:txBody>
      </p:sp>
      <p:sp>
        <p:nvSpPr>
          <p:cNvPr id="14" name="Oval 13"/>
          <p:cNvSpPr/>
          <p:nvPr/>
        </p:nvSpPr>
        <p:spPr bwMode="gray">
          <a:xfrm>
            <a:off x="5184133" y="1819733"/>
            <a:ext cx="382909" cy="382909"/>
          </a:xfrm>
          <a:prstGeom prst="ellipse">
            <a:avLst/>
          </a:prstGeom>
          <a:solidFill>
            <a:schemeClr val="accent5"/>
          </a:solidFill>
        </p:spPr>
        <p:txBody>
          <a:bodyPr wrap="square" lIns="0" tIns="88900" rIns="0" bIns="88900" rtlCol="0" anchor="ctr"/>
          <a:lstStyle/>
          <a:p>
            <a:pPr algn="ctr">
              <a:lnSpc>
                <a:spcPct val="106000"/>
              </a:lnSpc>
              <a:buFont typeface="Wingdings 2" pitchFamily="18" charset="2"/>
              <a:buNone/>
            </a:pPr>
            <a:r>
              <a:rPr lang="en-US" sz="1400" b="1" dirty="0">
                <a:solidFill>
                  <a:schemeClr val="bg1"/>
                </a:solidFill>
              </a:rPr>
              <a:t>02</a:t>
            </a:r>
            <a:endParaRPr lang="en-IN" sz="1400" b="1" dirty="0">
              <a:solidFill>
                <a:schemeClr val="bg1"/>
              </a:solidFill>
            </a:endParaRPr>
          </a:p>
        </p:txBody>
      </p:sp>
      <p:sp>
        <p:nvSpPr>
          <p:cNvPr id="15" name="Oval 14"/>
          <p:cNvSpPr/>
          <p:nvPr/>
        </p:nvSpPr>
        <p:spPr bwMode="gray">
          <a:xfrm>
            <a:off x="5184133" y="2343234"/>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03</a:t>
            </a:r>
            <a:endParaRPr lang="en-IN" sz="1400" b="1" dirty="0"/>
          </a:p>
        </p:txBody>
      </p:sp>
      <p:sp>
        <p:nvSpPr>
          <p:cNvPr id="17" name="Oval 16"/>
          <p:cNvSpPr/>
          <p:nvPr/>
        </p:nvSpPr>
        <p:spPr bwMode="gray">
          <a:xfrm>
            <a:off x="5179696" y="2866735"/>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04</a:t>
            </a:r>
            <a:endParaRPr lang="en-IN" sz="1400" b="1" dirty="0"/>
          </a:p>
        </p:txBody>
      </p:sp>
      <p:sp>
        <p:nvSpPr>
          <p:cNvPr id="18" name="Oval 17"/>
          <p:cNvSpPr/>
          <p:nvPr/>
        </p:nvSpPr>
        <p:spPr bwMode="gray">
          <a:xfrm>
            <a:off x="5179696" y="3390236"/>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05</a:t>
            </a:r>
            <a:endParaRPr lang="en-IN" sz="1400" b="1" dirty="0"/>
          </a:p>
        </p:txBody>
      </p:sp>
      <p:sp>
        <p:nvSpPr>
          <p:cNvPr id="19" name="Oval 18"/>
          <p:cNvSpPr/>
          <p:nvPr/>
        </p:nvSpPr>
        <p:spPr bwMode="gray">
          <a:xfrm>
            <a:off x="5179696" y="3913737"/>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06</a:t>
            </a:r>
            <a:endParaRPr lang="en-IN" sz="1400" b="1" dirty="0"/>
          </a:p>
        </p:txBody>
      </p:sp>
      <p:sp>
        <p:nvSpPr>
          <p:cNvPr id="20" name="Oval 19"/>
          <p:cNvSpPr/>
          <p:nvPr/>
        </p:nvSpPr>
        <p:spPr bwMode="gray">
          <a:xfrm>
            <a:off x="5179695" y="4437238"/>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07</a:t>
            </a:r>
            <a:endParaRPr lang="en-IN" sz="1400" b="1" dirty="0"/>
          </a:p>
        </p:txBody>
      </p:sp>
      <p:sp>
        <p:nvSpPr>
          <p:cNvPr id="21" name="Oval 20"/>
          <p:cNvSpPr/>
          <p:nvPr/>
        </p:nvSpPr>
        <p:spPr bwMode="gray">
          <a:xfrm>
            <a:off x="5179692" y="4960739"/>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08</a:t>
            </a:r>
            <a:endParaRPr lang="en-IN" sz="1400" b="1" dirty="0"/>
          </a:p>
        </p:txBody>
      </p:sp>
      <p:sp>
        <p:nvSpPr>
          <p:cNvPr id="22" name="Oval 21"/>
          <p:cNvSpPr/>
          <p:nvPr/>
        </p:nvSpPr>
        <p:spPr bwMode="gray">
          <a:xfrm>
            <a:off x="5179694" y="5484240"/>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09</a:t>
            </a:r>
            <a:endParaRPr lang="en-IN" sz="1400" b="1" dirty="0"/>
          </a:p>
        </p:txBody>
      </p:sp>
      <p:sp>
        <p:nvSpPr>
          <p:cNvPr id="23" name="Oval 22"/>
          <p:cNvSpPr/>
          <p:nvPr/>
        </p:nvSpPr>
        <p:spPr bwMode="gray">
          <a:xfrm>
            <a:off x="5179691" y="6007743"/>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10</a:t>
            </a:r>
            <a:endParaRPr lang="en-IN" sz="1400" b="1" dirty="0"/>
          </a:p>
        </p:txBody>
      </p:sp>
    </p:spTree>
    <p:extLst>
      <p:ext uri="{BB962C8B-B14F-4D97-AF65-F5344CB8AC3E}">
        <p14:creationId xmlns:p14="http://schemas.microsoft.com/office/powerpoint/2010/main" val="4170960819"/>
      </p:ext>
    </p:extLst>
  </p:cSld>
  <p:clrMapOvr>
    <a:masterClrMapping/>
  </p:clrMapOvr>
  <p:transition>
    <p:fade/>
  </p:transition>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390195218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US" sz="3898" b="1" u="none" strike="noStrike" kern="1200" cap="none" spc="0" normalizeH="0" noProof="0" dirty="0">
              <a:ln>
                <a:noFill/>
              </a:ln>
              <a:solidFill>
                <a:prstClr val="white"/>
              </a:solidFill>
              <a:effectLst/>
              <a:uLnTx/>
              <a:uFillTx/>
              <a:latin typeface="Verdana" panose="020B0604030504040204" pitchFamily="34" charset="0"/>
              <a:ea typeface="Open Sans" panose="020B0606030504020204" pitchFamily="34" charset="0"/>
              <a:cs typeface="Open Sans" panose="020B0606030504020204" pitchFamily="34" charset="0"/>
              <a:sym typeface="Verdana" panose="020B0604030504040204" pitchFamily="34" charset="0"/>
            </a:endParaRPr>
          </a:p>
        </p:txBody>
      </p:sp>
      <p:sp>
        <p:nvSpPr>
          <p:cNvPr id="2" name="Title 1"/>
          <p:cNvSpPr>
            <a:spLocks noGrp="1"/>
          </p:cNvSpPr>
          <p:nvPr>
            <p:ph type="title"/>
          </p:nvPr>
        </p:nvSpPr>
        <p:spPr/>
        <p:txBody>
          <a:bodyPr/>
          <a:lstStyle/>
          <a:p>
            <a:r>
              <a:rPr lang="en-US" dirty="0"/>
              <a:t>Historical Power Demand, Supply &amp; Merit Order Assessment</a:t>
            </a:r>
            <a:endParaRPr lang="en-IN" dirty="0"/>
          </a:p>
        </p:txBody>
      </p:sp>
    </p:spTree>
    <p:extLst>
      <p:ext uri="{BB962C8B-B14F-4D97-AF65-F5344CB8AC3E}">
        <p14:creationId xmlns:p14="http://schemas.microsoft.com/office/powerpoint/2010/main" val="2734719228"/>
      </p:ext>
    </p:extLst>
  </p:cSld>
  <p:clrMapOvr>
    <a:masterClrMapping/>
  </p:clrMapOvr>
  <p:transition>
    <p:fade/>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83" name="Rectangle 82"/>
          <p:cNvSpPr/>
          <p:nvPr/>
        </p:nvSpPr>
        <p:spPr bwMode="gray">
          <a:xfrm>
            <a:off x="1936393" y="2048174"/>
            <a:ext cx="8287704" cy="541499"/>
          </a:xfrm>
          <a:prstGeom prst="rect">
            <a:avLst/>
          </a:prstGeom>
          <a:solidFill>
            <a:schemeClr val="accent2">
              <a:alpha val="17000"/>
            </a:schemeClr>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2" name="Title 1"/>
          <p:cNvSpPr>
            <a:spLocks noGrp="1"/>
          </p:cNvSpPr>
          <p:nvPr>
            <p:ph type="title"/>
          </p:nvPr>
        </p:nvSpPr>
        <p:spPr/>
        <p:txBody>
          <a:bodyPr/>
          <a:lstStyle/>
          <a:p>
            <a:r>
              <a:rPr lang="en-US" dirty="0"/>
              <a:t>Power Market | Bangladesh Industry Value Chain</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Bangladesh follows a Single Buyer Model wherein all generators need to sell power directly to BPDB which in turn sells to </a:t>
            </a:r>
            <a:r>
              <a:rPr kumimoji="0" lang="en-US" sz="1400" b="1" i="0" u="none" strike="noStrike" kern="1200" cap="none" spc="0" normalizeH="0" baseline="0" noProof="0" dirty="0" err="1">
                <a:ln>
                  <a:noFill/>
                </a:ln>
                <a:solidFill>
                  <a:prstClr val="black">
                    <a:lumMod val="50000"/>
                    <a:lumOff val="50000"/>
                  </a:prstClr>
                </a:solidFill>
                <a:effectLst/>
                <a:uLnTx/>
                <a:uFillTx/>
                <a:latin typeface="Verdana" panose="020B0604030504040204" pitchFamily="34" charset="0"/>
                <a:ea typeface="+mn-ea"/>
                <a:cs typeface="+mn-cs"/>
              </a:rPr>
              <a:t>discoms</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This makes BPDB the largest entity in the power sector.</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pSp>
        <p:nvGrpSpPr>
          <p:cNvPr id="23" name="Group 22"/>
          <p:cNvGrpSpPr/>
          <p:nvPr/>
        </p:nvGrpSpPr>
        <p:grpSpPr>
          <a:xfrm>
            <a:off x="449264" y="2712508"/>
            <a:ext cx="9791699" cy="1617347"/>
            <a:chOff x="449264" y="2864200"/>
            <a:chExt cx="9791699" cy="1617347"/>
          </a:xfrm>
        </p:grpSpPr>
        <p:grpSp>
          <p:nvGrpSpPr>
            <p:cNvPr id="8" name="Group 7"/>
            <p:cNvGrpSpPr/>
            <p:nvPr/>
          </p:nvGrpSpPr>
          <p:grpSpPr>
            <a:xfrm>
              <a:off x="449264" y="2864200"/>
              <a:ext cx="9791699" cy="1617347"/>
              <a:chOff x="449264" y="2994660"/>
              <a:chExt cx="9791699" cy="422910"/>
            </a:xfrm>
          </p:grpSpPr>
          <p:sp>
            <p:nvSpPr>
              <p:cNvPr id="5" name="Rectangle 4"/>
              <p:cNvSpPr/>
              <p:nvPr/>
            </p:nvSpPr>
            <p:spPr bwMode="gray">
              <a:xfrm>
                <a:off x="449264" y="2994660"/>
                <a:ext cx="1482406" cy="422910"/>
              </a:xfrm>
              <a:prstGeom prst="rect">
                <a:avLst/>
              </a:prstGeom>
              <a:solidFill>
                <a:schemeClr val="accent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1" i="0" u="none" strike="noStrike" kern="1200" cap="none" spc="0" normalizeH="0" baseline="0" noProof="0" dirty="0">
                    <a:ln>
                      <a:noFill/>
                    </a:ln>
                    <a:solidFill>
                      <a:prstClr val="white"/>
                    </a:solidFill>
                    <a:effectLst/>
                    <a:uLnTx/>
                    <a:uFillTx/>
                    <a:latin typeface="Verdana"/>
                    <a:ea typeface="+mn-ea"/>
                    <a:cs typeface="+mn-cs"/>
                  </a:rPr>
                  <a:t>Generation</a:t>
                </a:r>
              </a:p>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1000" b="1" i="0" u="none" strike="noStrike" kern="1200" cap="none" spc="0" normalizeH="0" baseline="0" noProof="0" dirty="0">
                  <a:ln>
                    <a:noFill/>
                  </a:ln>
                  <a:solidFill>
                    <a:prstClr val="white"/>
                  </a:solidFill>
                  <a:effectLst/>
                  <a:uLnTx/>
                  <a:uFillTx/>
                  <a:latin typeface="Verdana"/>
                  <a:ea typeface="+mn-ea"/>
                  <a:cs typeface="+mn-cs"/>
                </a:endParaRPr>
              </a:p>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1" i="0" u="none" strike="noStrike" kern="1200" cap="none" spc="0" normalizeH="0" baseline="0" noProof="0" dirty="0">
                    <a:ln>
                      <a:noFill/>
                    </a:ln>
                    <a:solidFill>
                      <a:prstClr val="white"/>
                    </a:solidFill>
                    <a:effectLst/>
                    <a:uLnTx/>
                    <a:uFillTx/>
                    <a:latin typeface="Verdana"/>
                    <a:ea typeface="+mn-ea"/>
                    <a:cs typeface="+mn-cs"/>
                  </a:rPr>
                  <a:t>Installed Capacity – 18,961 MW</a:t>
                </a: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9" name="Rectangle 8"/>
              <p:cNvSpPr/>
              <p:nvPr/>
            </p:nvSpPr>
            <p:spPr bwMode="gray">
              <a:xfrm>
                <a:off x="1931670" y="2994660"/>
                <a:ext cx="8309293" cy="422910"/>
              </a:xfrm>
              <a:prstGeom prst="rect">
                <a:avLst/>
              </a:prstGeom>
              <a:solidFill>
                <a:schemeClr val="accent5">
                  <a:alpha val="17000"/>
                </a:schemeClr>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grpSp>
        <p:sp>
          <p:nvSpPr>
            <p:cNvPr id="26" name="Rectangle 25"/>
            <p:cNvSpPr/>
            <p:nvPr/>
          </p:nvSpPr>
          <p:spPr bwMode="gray">
            <a:xfrm>
              <a:off x="5802924" y="2929854"/>
              <a:ext cx="1944000" cy="396000"/>
            </a:xfrm>
            <a:prstGeom prst="rect">
              <a:avLst/>
            </a:prstGeom>
            <a:ln>
              <a:solidFill>
                <a:schemeClr val="accent5"/>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t"/>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Ashuganj Power Station Company Limited (7.6%)</a:t>
              </a:r>
              <a:endParaRPr kumimoji="0" lang="en-IN" sz="900" b="0" i="0" u="none" strike="noStrike" kern="1200" cap="none" spc="0" normalizeH="0" baseline="0" noProof="0" dirty="0">
                <a:ln>
                  <a:noFill/>
                </a:ln>
                <a:solidFill>
                  <a:sysClr val="windowText" lastClr="000000"/>
                </a:solidFill>
                <a:effectLst/>
                <a:uLnTx/>
                <a:uFillTx/>
                <a:latin typeface="Verdana"/>
                <a:ea typeface="+mn-ea"/>
                <a:cs typeface="+mn-cs"/>
              </a:endParaRPr>
            </a:p>
          </p:txBody>
        </p:sp>
        <p:sp>
          <p:nvSpPr>
            <p:cNvPr id="33" name="Rectangle 32"/>
            <p:cNvSpPr/>
            <p:nvPr/>
          </p:nvSpPr>
          <p:spPr bwMode="gray">
            <a:xfrm>
              <a:off x="8088495" y="3392914"/>
              <a:ext cx="1944000" cy="396000"/>
            </a:xfrm>
            <a:prstGeom prst="rect">
              <a:avLst/>
            </a:prstGeom>
            <a:ln>
              <a:solidFill>
                <a:schemeClr val="accent5"/>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t"/>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RPCL / BPDB-RPCL</a:t>
              </a:r>
            </a:p>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(1.7%)</a:t>
              </a:r>
              <a:endParaRPr kumimoji="0" lang="en-IN" sz="900" b="0" i="0" u="none" strike="noStrike" kern="1200" cap="none" spc="0" normalizeH="0" baseline="0" noProof="0" dirty="0">
                <a:ln>
                  <a:noFill/>
                </a:ln>
                <a:solidFill>
                  <a:sysClr val="windowText" lastClr="000000"/>
                </a:solidFill>
                <a:effectLst/>
                <a:uLnTx/>
                <a:uFillTx/>
                <a:latin typeface="Verdana"/>
                <a:ea typeface="+mn-ea"/>
                <a:cs typeface="+mn-cs"/>
              </a:endParaRPr>
            </a:p>
          </p:txBody>
        </p:sp>
        <p:sp>
          <p:nvSpPr>
            <p:cNvPr id="34" name="Rectangle 33"/>
            <p:cNvSpPr/>
            <p:nvPr/>
          </p:nvSpPr>
          <p:spPr bwMode="gray">
            <a:xfrm>
              <a:off x="3517352" y="2922955"/>
              <a:ext cx="1944000" cy="396000"/>
            </a:xfrm>
            <a:prstGeom prst="rect">
              <a:avLst/>
            </a:prstGeom>
            <a:ln>
              <a:solidFill>
                <a:schemeClr val="accent5"/>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t"/>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Bangladesh Power Development Board (29%)</a:t>
              </a:r>
              <a:endParaRPr kumimoji="0" lang="en-IN" sz="900" b="0" i="0" u="none" strike="noStrike" kern="1200" cap="none" spc="0" normalizeH="0" baseline="0" noProof="0" dirty="0">
                <a:ln>
                  <a:noFill/>
                </a:ln>
                <a:solidFill>
                  <a:sysClr val="windowText" lastClr="000000"/>
                </a:solidFill>
                <a:effectLst/>
                <a:uLnTx/>
                <a:uFillTx/>
                <a:latin typeface="Verdana"/>
                <a:ea typeface="+mn-ea"/>
                <a:cs typeface="+mn-cs"/>
              </a:endParaRPr>
            </a:p>
          </p:txBody>
        </p:sp>
        <p:sp>
          <p:nvSpPr>
            <p:cNvPr id="35" name="Rectangle 34"/>
            <p:cNvSpPr/>
            <p:nvPr/>
          </p:nvSpPr>
          <p:spPr bwMode="gray">
            <a:xfrm>
              <a:off x="5802924" y="3392914"/>
              <a:ext cx="1944000" cy="396000"/>
            </a:xfrm>
            <a:prstGeom prst="rect">
              <a:avLst/>
            </a:prstGeom>
            <a:ln>
              <a:solidFill>
                <a:schemeClr val="accent5"/>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t"/>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Rural Electrification Board</a:t>
              </a:r>
            </a:p>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(1.3%)</a:t>
              </a:r>
              <a:endParaRPr kumimoji="0" lang="en-IN" sz="900" b="0" i="0" u="none" strike="noStrike" kern="1200" cap="none" spc="0" normalizeH="0" baseline="0" noProof="0" dirty="0">
                <a:ln>
                  <a:noFill/>
                </a:ln>
                <a:solidFill>
                  <a:sysClr val="windowText" lastClr="000000"/>
                </a:solidFill>
                <a:effectLst/>
                <a:uLnTx/>
                <a:uFillTx/>
                <a:latin typeface="Verdana"/>
                <a:ea typeface="+mn-ea"/>
                <a:cs typeface="+mn-cs"/>
              </a:endParaRPr>
            </a:p>
          </p:txBody>
        </p:sp>
        <p:sp>
          <p:nvSpPr>
            <p:cNvPr id="36" name="Rectangle 35"/>
            <p:cNvSpPr/>
            <p:nvPr/>
          </p:nvSpPr>
          <p:spPr bwMode="gray">
            <a:xfrm>
              <a:off x="8088495" y="2922955"/>
              <a:ext cx="1944000" cy="396000"/>
            </a:xfrm>
            <a:prstGeom prst="rect">
              <a:avLst/>
            </a:prstGeom>
            <a:ln>
              <a:solidFill>
                <a:schemeClr val="accent5"/>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t"/>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North West Power Generation Company Limited (7.4%)</a:t>
              </a:r>
            </a:p>
          </p:txBody>
        </p:sp>
        <p:sp>
          <p:nvSpPr>
            <p:cNvPr id="37" name="Rectangle 36"/>
            <p:cNvSpPr/>
            <p:nvPr/>
          </p:nvSpPr>
          <p:spPr bwMode="gray">
            <a:xfrm>
              <a:off x="3517352" y="3392914"/>
              <a:ext cx="1944000" cy="396000"/>
            </a:xfrm>
            <a:prstGeom prst="rect">
              <a:avLst/>
            </a:prstGeom>
            <a:ln>
              <a:solidFill>
                <a:schemeClr val="accent5"/>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t"/>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Electricity Generation Company of Bangladesh (4.4%)</a:t>
              </a:r>
            </a:p>
          </p:txBody>
        </p:sp>
        <p:sp>
          <p:nvSpPr>
            <p:cNvPr id="22" name="Rectangle 21"/>
            <p:cNvSpPr/>
            <p:nvPr/>
          </p:nvSpPr>
          <p:spPr bwMode="gray">
            <a:xfrm>
              <a:off x="2017207" y="2922955"/>
              <a:ext cx="1158573" cy="865959"/>
            </a:xfrm>
            <a:prstGeom prst="rect">
              <a:avLst/>
            </a:prstGeom>
            <a:solidFill>
              <a:srgbClr val="FFFFFF"/>
            </a:solidFill>
            <a:ln>
              <a:solidFill>
                <a:schemeClr val="accent5"/>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sysClr val="windowText" lastClr="000000"/>
                  </a:solidFill>
                  <a:effectLst/>
                  <a:uLnTx/>
                  <a:uFillTx/>
                  <a:latin typeface="Verdana"/>
                  <a:ea typeface="+mn-ea"/>
                  <a:cs typeface="+mn-cs"/>
                </a:rPr>
                <a:t>Government Companies</a:t>
              </a:r>
            </a:p>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(51.4% Share in IC)</a:t>
              </a:r>
              <a:endParaRPr kumimoji="0" lang="en-IN" sz="900" b="0" i="0" u="none" strike="noStrike" kern="1200" cap="none" spc="0" normalizeH="0" baseline="0" noProof="0" dirty="0">
                <a:ln>
                  <a:noFill/>
                </a:ln>
                <a:solidFill>
                  <a:sysClr val="windowText" lastClr="000000"/>
                </a:solidFill>
                <a:effectLst/>
                <a:uLnTx/>
                <a:uFillTx/>
                <a:latin typeface="Verdana"/>
                <a:ea typeface="+mn-ea"/>
                <a:cs typeface="+mn-cs"/>
              </a:endParaRPr>
            </a:p>
          </p:txBody>
        </p:sp>
        <p:sp>
          <p:nvSpPr>
            <p:cNvPr id="44" name="Rectangle 43"/>
            <p:cNvSpPr/>
            <p:nvPr/>
          </p:nvSpPr>
          <p:spPr bwMode="gray">
            <a:xfrm>
              <a:off x="2017207" y="3866733"/>
              <a:ext cx="1158573" cy="509649"/>
            </a:xfrm>
            <a:prstGeom prst="rect">
              <a:avLst/>
            </a:prstGeom>
            <a:solidFill>
              <a:srgbClr val="FFFFFF"/>
            </a:solidFill>
            <a:ln>
              <a:solidFill>
                <a:srgbClr val="0070C0"/>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sysClr val="windowText" lastClr="000000"/>
                  </a:solidFill>
                  <a:effectLst/>
                  <a:uLnTx/>
                  <a:uFillTx/>
                  <a:latin typeface="Verdana"/>
                  <a:ea typeface="+mn-ea"/>
                  <a:cs typeface="+mn-cs"/>
                </a:rPr>
                <a:t>Private, Imports</a:t>
              </a:r>
            </a:p>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(48.6% Share in IC)</a:t>
              </a:r>
              <a:endParaRPr kumimoji="0" lang="en-IN" sz="900" b="0" i="0" u="none" strike="noStrike" kern="1200" cap="none" spc="0" normalizeH="0" baseline="0" noProof="0" dirty="0">
                <a:ln>
                  <a:noFill/>
                </a:ln>
                <a:solidFill>
                  <a:sysClr val="windowText" lastClr="000000"/>
                </a:solidFill>
                <a:effectLst/>
                <a:uLnTx/>
                <a:uFillTx/>
                <a:latin typeface="Verdana"/>
                <a:ea typeface="+mn-ea"/>
                <a:cs typeface="+mn-cs"/>
              </a:endParaRPr>
            </a:p>
          </p:txBody>
        </p:sp>
        <p:sp>
          <p:nvSpPr>
            <p:cNvPr id="45" name="Rectangle 44"/>
            <p:cNvSpPr/>
            <p:nvPr/>
          </p:nvSpPr>
          <p:spPr bwMode="gray">
            <a:xfrm>
              <a:off x="3517352" y="3862873"/>
              <a:ext cx="1944000" cy="513509"/>
            </a:xfrm>
            <a:prstGeom prst="rect">
              <a:avLst/>
            </a:prstGeom>
            <a:ln>
              <a:solidFill>
                <a:srgbClr val="0070C0"/>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t"/>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Independent Power Producers &amp; Small Independent Power Producers (34.3%)</a:t>
              </a:r>
            </a:p>
          </p:txBody>
        </p:sp>
        <p:sp>
          <p:nvSpPr>
            <p:cNvPr id="46" name="Rectangle 45"/>
            <p:cNvSpPr/>
            <p:nvPr/>
          </p:nvSpPr>
          <p:spPr bwMode="gray">
            <a:xfrm>
              <a:off x="5802924" y="3862873"/>
              <a:ext cx="1944000" cy="510714"/>
            </a:xfrm>
            <a:prstGeom prst="rect">
              <a:avLst/>
            </a:prstGeom>
            <a:ln>
              <a:solidFill>
                <a:srgbClr val="0070C0"/>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t"/>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Rental Plants / Quick Rental Plants</a:t>
              </a:r>
            </a:p>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(8.1%)</a:t>
              </a:r>
            </a:p>
          </p:txBody>
        </p:sp>
        <p:sp>
          <p:nvSpPr>
            <p:cNvPr id="47" name="Rectangle 46"/>
            <p:cNvSpPr/>
            <p:nvPr/>
          </p:nvSpPr>
          <p:spPr bwMode="gray">
            <a:xfrm>
              <a:off x="8088495" y="3862873"/>
              <a:ext cx="1944000" cy="510714"/>
            </a:xfrm>
            <a:prstGeom prst="rect">
              <a:avLst/>
            </a:prstGeom>
            <a:ln>
              <a:solidFill>
                <a:srgbClr val="0070C0"/>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t"/>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Imports from India</a:t>
              </a:r>
            </a:p>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(6.1%)</a:t>
              </a:r>
            </a:p>
          </p:txBody>
        </p:sp>
      </p:grpSp>
      <p:grpSp>
        <p:nvGrpSpPr>
          <p:cNvPr id="65" name="Group 64"/>
          <p:cNvGrpSpPr/>
          <p:nvPr/>
        </p:nvGrpSpPr>
        <p:grpSpPr>
          <a:xfrm>
            <a:off x="432398" y="4566596"/>
            <a:ext cx="9791699" cy="526806"/>
            <a:chOff x="432398" y="4312887"/>
            <a:chExt cx="9791699" cy="526806"/>
          </a:xfrm>
        </p:grpSpPr>
        <p:grpSp>
          <p:nvGrpSpPr>
            <p:cNvPr id="19" name="Group 18"/>
            <p:cNvGrpSpPr/>
            <p:nvPr/>
          </p:nvGrpSpPr>
          <p:grpSpPr>
            <a:xfrm>
              <a:off x="432398" y="4312887"/>
              <a:ext cx="9791699" cy="526806"/>
              <a:chOff x="449264" y="3763860"/>
              <a:chExt cx="9791699" cy="427817"/>
            </a:xfrm>
          </p:grpSpPr>
          <p:sp>
            <p:nvSpPr>
              <p:cNvPr id="10" name="Rectangle 9"/>
              <p:cNvSpPr/>
              <p:nvPr/>
            </p:nvSpPr>
            <p:spPr bwMode="gray">
              <a:xfrm>
                <a:off x="449264" y="3768767"/>
                <a:ext cx="1482406" cy="422910"/>
              </a:xfrm>
              <a:prstGeom prst="rect">
                <a:avLst/>
              </a:prstGeom>
              <a:solidFill>
                <a:schemeClr val="accent4"/>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1" i="0" u="none" strike="noStrike" kern="1200" cap="none" spc="0" normalizeH="0" baseline="0" noProof="0" dirty="0">
                    <a:ln>
                      <a:noFill/>
                    </a:ln>
                    <a:solidFill>
                      <a:prstClr val="white"/>
                    </a:solidFill>
                    <a:effectLst/>
                    <a:uLnTx/>
                    <a:uFillTx/>
                    <a:latin typeface="Verdana"/>
                    <a:ea typeface="+mn-ea"/>
                    <a:cs typeface="+mn-cs"/>
                  </a:rPr>
                  <a:t>Single Buyer</a:t>
                </a:r>
              </a:p>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1" i="0" u="none" strike="noStrike" kern="1200" cap="none" spc="0" normalizeH="0" baseline="0" noProof="0" dirty="0">
                    <a:ln>
                      <a:noFill/>
                    </a:ln>
                    <a:solidFill>
                      <a:prstClr val="white"/>
                    </a:solidFill>
                    <a:effectLst/>
                    <a:uLnTx/>
                    <a:uFillTx/>
                    <a:latin typeface="Verdana"/>
                    <a:ea typeface="+mn-ea"/>
                    <a:cs typeface="+mn-cs"/>
                  </a:rPr>
                  <a:t>Purchase – 68,600 MUs</a:t>
                </a: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 name="Rectangle 10"/>
              <p:cNvSpPr/>
              <p:nvPr/>
            </p:nvSpPr>
            <p:spPr bwMode="gray">
              <a:xfrm>
                <a:off x="1931670" y="3763860"/>
                <a:ext cx="8309293" cy="422910"/>
              </a:xfrm>
              <a:prstGeom prst="rect">
                <a:avLst/>
              </a:prstGeom>
              <a:solidFill>
                <a:schemeClr val="accent4">
                  <a:alpha val="7000"/>
                </a:schemeClr>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grpSp>
        <p:sp>
          <p:nvSpPr>
            <p:cNvPr id="48" name="Rectangle 47"/>
            <p:cNvSpPr/>
            <p:nvPr/>
          </p:nvSpPr>
          <p:spPr bwMode="gray">
            <a:xfrm>
              <a:off x="4578117" y="4411703"/>
              <a:ext cx="3443914" cy="323127"/>
            </a:xfrm>
            <a:prstGeom prst="rect">
              <a:avLst/>
            </a:prstGeom>
            <a:ln>
              <a:solidFill>
                <a:schemeClr val="accent4"/>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Bangladesh Power Development Board</a:t>
              </a:r>
              <a:endParaRPr kumimoji="0" lang="en-IN" sz="900" b="0" i="0" u="none" strike="noStrike" kern="1200" cap="none" spc="0" normalizeH="0" baseline="0" noProof="0" dirty="0">
                <a:ln>
                  <a:noFill/>
                </a:ln>
                <a:solidFill>
                  <a:sysClr val="windowText" lastClr="000000"/>
                </a:solidFill>
                <a:effectLst/>
                <a:uLnTx/>
                <a:uFillTx/>
                <a:latin typeface="Verdana"/>
                <a:ea typeface="+mn-ea"/>
                <a:cs typeface="+mn-cs"/>
              </a:endParaRPr>
            </a:p>
          </p:txBody>
        </p:sp>
        <p:sp>
          <p:nvSpPr>
            <p:cNvPr id="58" name="Rectangle 57"/>
            <p:cNvSpPr/>
            <p:nvPr/>
          </p:nvSpPr>
          <p:spPr bwMode="gray">
            <a:xfrm>
              <a:off x="2017207" y="4414208"/>
              <a:ext cx="1158573" cy="337950"/>
            </a:xfrm>
            <a:prstGeom prst="rect">
              <a:avLst/>
            </a:prstGeom>
            <a:solidFill>
              <a:srgbClr val="FFFFFF"/>
            </a:solidFill>
            <a:ln>
              <a:solidFill>
                <a:schemeClr val="accent4"/>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sysClr val="windowText" lastClr="000000"/>
                  </a:solidFill>
                  <a:effectLst/>
                  <a:uLnTx/>
                  <a:uFillTx/>
                  <a:latin typeface="Verdana"/>
                  <a:ea typeface="+mn-ea"/>
                  <a:cs typeface="+mn-cs"/>
                </a:rPr>
                <a:t>Government Company</a:t>
              </a:r>
            </a:p>
          </p:txBody>
        </p:sp>
      </p:grpSp>
      <p:grpSp>
        <p:nvGrpSpPr>
          <p:cNvPr id="66" name="Group 65"/>
          <p:cNvGrpSpPr/>
          <p:nvPr/>
        </p:nvGrpSpPr>
        <p:grpSpPr>
          <a:xfrm>
            <a:off x="432398" y="5330143"/>
            <a:ext cx="9791699" cy="510522"/>
            <a:chOff x="432398" y="5148756"/>
            <a:chExt cx="9791699" cy="510522"/>
          </a:xfrm>
        </p:grpSpPr>
        <p:grpSp>
          <p:nvGrpSpPr>
            <p:cNvPr id="18" name="Group 17"/>
            <p:cNvGrpSpPr/>
            <p:nvPr/>
          </p:nvGrpSpPr>
          <p:grpSpPr>
            <a:xfrm>
              <a:off x="432398" y="5148756"/>
              <a:ext cx="9791699" cy="510522"/>
              <a:chOff x="449264" y="4533060"/>
              <a:chExt cx="9791699" cy="422910"/>
            </a:xfrm>
          </p:grpSpPr>
          <p:sp>
            <p:nvSpPr>
              <p:cNvPr id="13" name="Rectangle 12"/>
              <p:cNvSpPr/>
              <p:nvPr/>
            </p:nvSpPr>
            <p:spPr bwMode="gray">
              <a:xfrm>
                <a:off x="449264" y="4533060"/>
                <a:ext cx="1482406" cy="422910"/>
              </a:xfrm>
              <a:prstGeom prst="rect">
                <a:avLst/>
              </a:prstGeom>
              <a:solidFill>
                <a:schemeClr val="accent1"/>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1" i="0" u="none" strike="noStrike" kern="1200" cap="none" spc="0" normalizeH="0" baseline="0" noProof="0" dirty="0">
                    <a:ln>
                      <a:noFill/>
                    </a:ln>
                    <a:solidFill>
                      <a:prstClr val="white"/>
                    </a:solidFill>
                    <a:effectLst/>
                    <a:uLnTx/>
                    <a:uFillTx/>
                    <a:latin typeface="Verdana"/>
                    <a:ea typeface="+mn-ea"/>
                    <a:cs typeface="+mn-cs"/>
                  </a:rPr>
                  <a:t>Transmission</a:t>
                </a:r>
              </a:p>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1" i="0" u="none" strike="noStrike" kern="1200" cap="none" spc="0" normalizeH="0" baseline="0" noProof="0" dirty="0">
                    <a:ln>
                      <a:noFill/>
                    </a:ln>
                    <a:solidFill>
                      <a:prstClr val="white"/>
                    </a:solidFill>
                    <a:effectLst/>
                    <a:uLnTx/>
                    <a:uFillTx/>
                    <a:latin typeface="Verdana"/>
                    <a:ea typeface="+mn-ea"/>
                    <a:cs typeface="+mn-cs"/>
                  </a:rPr>
                  <a:t>Ct. Km – 11,650 Km</a:t>
                </a: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14" name="Rectangle 13"/>
              <p:cNvSpPr/>
              <p:nvPr/>
            </p:nvSpPr>
            <p:spPr bwMode="gray">
              <a:xfrm>
                <a:off x="1931670" y="4533060"/>
                <a:ext cx="8309293" cy="422910"/>
              </a:xfrm>
              <a:prstGeom prst="rect">
                <a:avLst/>
              </a:prstGeom>
              <a:solidFill>
                <a:schemeClr val="accent1">
                  <a:alpha val="17000"/>
                </a:schemeClr>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grpSp>
        <p:sp>
          <p:nvSpPr>
            <p:cNvPr id="49" name="Rectangle 48"/>
            <p:cNvSpPr/>
            <p:nvPr/>
          </p:nvSpPr>
          <p:spPr bwMode="gray">
            <a:xfrm>
              <a:off x="4578117" y="5240077"/>
              <a:ext cx="3443914" cy="324000"/>
            </a:xfrm>
            <a:prstGeom prst="rect">
              <a:avLst/>
            </a:prstGeom>
            <a:ln>
              <a:solidFill>
                <a:schemeClr val="accent1"/>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Power Grid Company of Bangladesh Limited</a:t>
              </a:r>
              <a:endParaRPr kumimoji="0" lang="en-IN" sz="900" b="0" i="0" u="none" strike="noStrike" kern="1200" cap="none" spc="0" normalizeH="0" baseline="0" noProof="0" dirty="0">
                <a:ln>
                  <a:noFill/>
                </a:ln>
                <a:solidFill>
                  <a:sysClr val="windowText" lastClr="000000"/>
                </a:solidFill>
                <a:effectLst/>
                <a:uLnTx/>
                <a:uFillTx/>
                <a:latin typeface="Verdana"/>
                <a:ea typeface="+mn-ea"/>
                <a:cs typeface="+mn-cs"/>
              </a:endParaRPr>
            </a:p>
          </p:txBody>
        </p:sp>
        <p:sp>
          <p:nvSpPr>
            <p:cNvPr id="59" name="Rectangle 58"/>
            <p:cNvSpPr/>
            <p:nvPr/>
          </p:nvSpPr>
          <p:spPr bwMode="gray">
            <a:xfrm>
              <a:off x="2017207" y="5240077"/>
              <a:ext cx="1158573" cy="337950"/>
            </a:xfrm>
            <a:prstGeom prst="rect">
              <a:avLst/>
            </a:prstGeom>
            <a:solidFill>
              <a:srgbClr val="FFFFFF"/>
            </a:solidFill>
            <a:ln>
              <a:solidFill>
                <a:schemeClr val="accent1"/>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sysClr val="windowText" lastClr="000000"/>
                  </a:solidFill>
                  <a:effectLst/>
                  <a:uLnTx/>
                  <a:uFillTx/>
                  <a:latin typeface="Verdana"/>
                  <a:ea typeface="+mn-ea"/>
                  <a:cs typeface="+mn-cs"/>
                </a:rPr>
                <a:t>Government Company</a:t>
              </a:r>
            </a:p>
          </p:txBody>
        </p:sp>
      </p:grpSp>
      <p:grpSp>
        <p:nvGrpSpPr>
          <p:cNvPr id="67" name="Group 66"/>
          <p:cNvGrpSpPr/>
          <p:nvPr/>
        </p:nvGrpSpPr>
        <p:grpSpPr>
          <a:xfrm>
            <a:off x="432398" y="6077408"/>
            <a:ext cx="9791699" cy="1021738"/>
            <a:chOff x="432398" y="5956110"/>
            <a:chExt cx="9791699" cy="1021738"/>
          </a:xfrm>
        </p:grpSpPr>
        <p:grpSp>
          <p:nvGrpSpPr>
            <p:cNvPr id="7" name="Group 6"/>
            <p:cNvGrpSpPr/>
            <p:nvPr/>
          </p:nvGrpSpPr>
          <p:grpSpPr>
            <a:xfrm>
              <a:off x="432398" y="5956110"/>
              <a:ext cx="9791699" cy="1021738"/>
              <a:chOff x="449264" y="5283083"/>
              <a:chExt cx="9791699" cy="422910"/>
            </a:xfrm>
          </p:grpSpPr>
          <p:sp>
            <p:nvSpPr>
              <p:cNvPr id="15" name="Rectangle 14"/>
              <p:cNvSpPr/>
              <p:nvPr/>
            </p:nvSpPr>
            <p:spPr bwMode="gray">
              <a:xfrm>
                <a:off x="449264" y="5283083"/>
                <a:ext cx="1482406" cy="422910"/>
              </a:xfrm>
              <a:prstGeom prst="rect">
                <a:avLst/>
              </a:prstGeom>
              <a:solidFill>
                <a:schemeClr val="accent6"/>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1" i="0" u="none" strike="noStrike" kern="1200" cap="none" spc="0" normalizeH="0" baseline="0" noProof="0" dirty="0">
                    <a:ln>
                      <a:noFill/>
                    </a:ln>
                    <a:solidFill>
                      <a:prstClr val="white"/>
                    </a:solidFill>
                    <a:effectLst/>
                    <a:uLnTx/>
                    <a:uFillTx/>
                    <a:latin typeface="Verdana"/>
                    <a:ea typeface="+mn-ea"/>
                    <a:cs typeface="+mn-cs"/>
                  </a:rPr>
                  <a:t>Distribution</a:t>
                </a:r>
              </a:p>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1000" b="1" i="0" u="none" strike="noStrike" kern="1200" cap="none" spc="0" normalizeH="0" baseline="0" noProof="0" dirty="0">
                  <a:ln>
                    <a:noFill/>
                  </a:ln>
                  <a:solidFill>
                    <a:prstClr val="white"/>
                  </a:solidFill>
                  <a:effectLst/>
                  <a:uLnTx/>
                  <a:uFillTx/>
                  <a:latin typeface="Verdana"/>
                  <a:ea typeface="+mn-ea"/>
                  <a:cs typeface="+mn-cs"/>
                </a:endParaRPr>
              </a:p>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1" i="0" u="none" strike="noStrike" kern="1200" cap="none" spc="0" normalizeH="0" baseline="0" noProof="0" dirty="0">
                    <a:ln>
                      <a:noFill/>
                    </a:ln>
                    <a:solidFill>
                      <a:prstClr val="white"/>
                    </a:solidFill>
                    <a:effectLst/>
                    <a:uLnTx/>
                    <a:uFillTx/>
                    <a:latin typeface="Verdana"/>
                    <a:ea typeface="+mn-ea"/>
                    <a:cs typeface="+mn-cs"/>
                  </a:rPr>
                  <a:t>Purchase from Single Buyer – 66,547 MUs</a:t>
                </a: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16" name="Rectangle 15"/>
              <p:cNvSpPr/>
              <p:nvPr/>
            </p:nvSpPr>
            <p:spPr bwMode="gray">
              <a:xfrm>
                <a:off x="1931670" y="5283083"/>
                <a:ext cx="8309293" cy="422910"/>
              </a:xfrm>
              <a:prstGeom prst="rect">
                <a:avLst/>
              </a:prstGeom>
              <a:solidFill>
                <a:schemeClr val="accent6">
                  <a:alpha val="15000"/>
                </a:schemeClr>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grpSp>
        <p:sp>
          <p:nvSpPr>
            <p:cNvPr id="52" name="Rectangle 51"/>
            <p:cNvSpPr/>
            <p:nvPr/>
          </p:nvSpPr>
          <p:spPr bwMode="gray">
            <a:xfrm>
              <a:off x="5802924" y="6040741"/>
              <a:ext cx="1944000" cy="396000"/>
            </a:xfrm>
            <a:prstGeom prst="rect">
              <a:avLst/>
            </a:prstGeom>
            <a:ln>
              <a:solidFill>
                <a:schemeClr val="accent6"/>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t"/>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Rural Electrification Board (49.2%)</a:t>
              </a:r>
              <a:endParaRPr kumimoji="0" lang="en-IN" sz="900" b="0" i="0" u="none" strike="noStrike" kern="1200" cap="none" spc="0" normalizeH="0" baseline="0" noProof="0" dirty="0">
                <a:ln>
                  <a:noFill/>
                </a:ln>
                <a:solidFill>
                  <a:sysClr val="windowText" lastClr="000000"/>
                </a:solidFill>
                <a:effectLst/>
                <a:uLnTx/>
                <a:uFillTx/>
                <a:latin typeface="Verdana"/>
                <a:ea typeface="+mn-ea"/>
                <a:cs typeface="+mn-cs"/>
              </a:endParaRPr>
            </a:p>
          </p:txBody>
        </p:sp>
        <p:sp>
          <p:nvSpPr>
            <p:cNvPr id="53" name="Rectangle 52"/>
            <p:cNvSpPr/>
            <p:nvPr/>
          </p:nvSpPr>
          <p:spPr bwMode="gray">
            <a:xfrm>
              <a:off x="8088495" y="6503801"/>
              <a:ext cx="1944000" cy="396000"/>
            </a:xfrm>
            <a:prstGeom prst="rect">
              <a:avLst/>
            </a:prstGeom>
            <a:ln>
              <a:solidFill>
                <a:schemeClr val="accent6"/>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t"/>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West Zone Power Distribution Company (5.84%)</a:t>
              </a:r>
              <a:endParaRPr kumimoji="0" lang="en-IN" sz="900" b="0" i="0" u="none" strike="noStrike" kern="1200" cap="none" spc="0" normalizeH="0" baseline="0" noProof="0" dirty="0">
                <a:ln>
                  <a:noFill/>
                </a:ln>
                <a:solidFill>
                  <a:sysClr val="windowText" lastClr="000000"/>
                </a:solidFill>
                <a:effectLst/>
                <a:uLnTx/>
                <a:uFillTx/>
                <a:latin typeface="Verdana"/>
                <a:ea typeface="+mn-ea"/>
                <a:cs typeface="+mn-cs"/>
              </a:endParaRPr>
            </a:p>
          </p:txBody>
        </p:sp>
        <p:sp>
          <p:nvSpPr>
            <p:cNvPr id="54" name="Rectangle 53"/>
            <p:cNvSpPr/>
            <p:nvPr/>
          </p:nvSpPr>
          <p:spPr bwMode="gray">
            <a:xfrm>
              <a:off x="3517352" y="6033842"/>
              <a:ext cx="1944000" cy="396000"/>
            </a:xfrm>
            <a:prstGeom prst="rect">
              <a:avLst/>
            </a:prstGeom>
            <a:ln>
              <a:solidFill>
                <a:schemeClr val="accent6"/>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t"/>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Bangladesh Power Development Board (17.1%)</a:t>
              </a:r>
              <a:endParaRPr kumimoji="0" lang="en-IN" sz="900" b="0" i="0" u="none" strike="noStrike" kern="1200" cap="none" spc="0" normalizeH="0" baseline="0" noProof="0" dirty="0">
                <a:ln>
                  <a:noFill/>
                </a:ln>
                <a:solidFill>
                  <a:sysClr val="windowText" lastClr="000000"/>
                </a:solidFill>
                <a:effectLst/>
                <a:uLnTx/>
                <a:uFillTx/>
                <a:latin typeface="Verdana"/>
                <a:ea typeface="+mn-ea"/>
                <a:cs typeface="+mn-cs"/>
              </a:endParaRPr>
            </a:p>
          </p:txBody>
        </p:sp>
        <p:sp>
          <p:nvSpPr>
            <p:cNvPr id="55" name="Rectangle 54"/>
            <p:cNvSpPr/>
            <p:nvPr/>
          </p:nvSpPr>
          <p:spPr bwMode="gray">
            <a:xfrm>
              <a:off x="5802924" y="6503801"/>
              <a:ext cx="1944000" cy="396000"/>
            </a:xfrm>
            <a:prstGeom prst="rect">
              <a:avLst/>
            </a:prstGeom>
            <a:ln>
              <a:solidFill>
                <a:schemeClr val="accent6"/>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t"/>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Northern Electric Supply Company (5.89%)</a:t>
              </a:r>
              <a:endParaRPr kumimoji="0" lang="en-IN" sz="900" b="0" i="0" u="none" strike="noStrike" kern="1200" cap="none" spc="0" normalizeH="0" baseline="0" noProof="0" dirty="0">
                <a:ln>
                  <a:noFill/>
                </a:ln>
                <a:solidFill>
                  <a:sysClr val="windowText" lastClr="000000"/>
                </a:solidFill>
                <a:effectLst/>
                <a:uLnTx/>
                <a:uFillTx/>
                <a:latin typeface="Verdana"/>
                <a:ea typeface="+mn-ea"/>
                <a:cs typeface="+mn-cs"/>
              </a:endParaRPr>
            </a:p>
          </p:txBody>
        </p:sp>
        <p:sp>
          <p:nvSpPr>
            <p:cNvPr id="56" name="Rectangle 55"/>
            <p:cNvSpPr/>
            <p:nvPr/>
          </p:nvSpPr>
          <p:spPr bwMode="gray">
            <a:xfrm>
              <a:off x="8088495" y="6033842"/>
              <a:ext cx="1944000" cy="396000"/>
            </a:xfrm>
            <a:prstGeom prst="rect">
              <a:avLst/>
            </a:prstGeom>
            <a:ln>
              <a:solidFill>
                <a:schemeClr val="accent6"/>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t"/>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Dhaka Power Distribution Company (14.1%)</a:t>
              </a:r>
            </a:p>
          </p:txBody>
        </p:sp>
        <p:sp>
          <p:nvSpPr>
            <p:cNvPr id="57" name="Rectangle 56"/>
            <p:cNvSpPr/>
            <p:nvPr/>
          </p:nvSpPr>
          <p:spPr bwMode="gray">
            <a:xfrm>
              <a:off x="3517352" y="6503801"/>
              <a:ext cx="1944000" cy="396000"/>
            </a:xfrm>
            <a:prstGeom prst="rect">
              <a:avLst/>
            </a:prstGeom>
            <a:ln>
              <a:solidFill>
                <a:schemeClr val="accent6"/>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t"/>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Dhaka Electric Supply Company (8.4%)</a:t>
              </a:r>
            </a:p>
          </p:txBody>
        </p:sp>
        <p:sp>
          <p:nvSpPr>
            <p:cNvPr id="60" name="Rectangle 59"/>
            <p:cNvSpPr/>
            <p:nvPr/>
          </p:nvSpPr>
          <p:spPr bwMode="gray">
            <a:xfrm>
              <a:off x="2017206" y="6033841"/>
              <a:ext cx="1158573" cy="865960"/>
            </a:xfrm>
            <a:prstGeom prst="rect">
              <a:avLst/>
            </a:prstGeom>
            <a:solidFill>
              <a:srgbClr val="FFFFFF"/>
            </a:solidFill>
            <a:ln>
              <a:solidFill>
                <a:schemeClr val="accent6"/>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sysClr val="windowText" lastClr="000000"/>
                  </a:solidFill>
                  <a:effectLst/>
                  <a:uLnTx/>
                  <a:uFillTx/>
                  <a:latin typeface="Verdana"/>
                  <a:ea typeface="+mn-ea"/>
                  <a:cs typeface="+mn-cs"/>
                </a:rPr>
                <a:t>Government Companies</a:t>
              </a:r>
            </a:p>
          </p:txBody>
        </p:sp>
      </p:grpSp>
      <p:sp>
        <p:nvSpPr>
          <p:cNvPr id="63" name="Down Arrow 62"/>
          <p:cNvSpPr/>
          <p:nvPr/>
        </p:nvSpPr>
        <p:spPr bwMode="gray">
          <a:xfrm>
            <a:off x="5851851" y="4301508"/>
            <a:ext cx="468931" cy="293435"/>
          </a:xfrm>
          <a:prstGeom prst="downArrow">
            <a:avLst/>
          </a:prstGeom>
          <a:solidFill>
            <a:schemeClr val="accent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9" name="Down Arrow 68"/>
          <p:cNvSpPr/>
          <p:nvPr/>
        </p:nvSpPr>
        <p:spPr bwMode="gray">
          <a:xfrm>
            <a:off x="5854704" y="5065055"/>
            <a:ext cx="468931" cy="293435"/>
          </a:xfrm>
          <a:prstGeom prst="downArrow">
            <a:avLst/>
          </a:prstGeom>
          <a:solidFill>
            <a:schemeClr val="accent4"/>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70" name="Down Arrow 69"/>
          <p:cNvSpPr/>
          <p:nvPr/>
        </p:nvSpPr>
        <p:spPr bwMode="gray">
          <a:xfrm>
            <a:off x="5851851" y="5812318"/>
            <a:ext cx="468931" cy="293435"/>
          </a:xfrm>
          <a:prstGeom prst="downArrow">
            <a:avLst/>
          </a:prstGeom>
          <a:solidFill>
            <a:schemeClr val="accent1"/>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79" name="Rectangle 78"/>
          <p:cNvSpPr/>
          <p:nvPr/>
        </p:nvSpPr>
        <p:spPr bwMode="gray">
          <a:xfrm>
            <a:off x="2677596" y="2107159"/>
            <a:ext cx="2563423" cy="387854"/>
          </a:xfrm>
          <a:prstGeom prst="rect">
            <a:avLst/>
          </a:prstGeom>
          <a:ln>
            <a:solidFill>
              <a:schemeClr val="accent2"/>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t"/>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 Ministry of Power, Energy and Mineral Resources, Government of Bangladesh</a:t>
            </a:r>
            <a:endParaRPr kumimoji="0" lang="en-IN" sz="900" b="0" i="0" u="none" strike="noStrike" kern="1200" cap="none" spc="0" normalizeH="0" baseline="0" noProof="0" dirty="0">
              <a:ln>
                <a:noFill/>
              </a:ln>
              <a:solidFill>
                <a:sysClr val="windowText" lastClr="000000"/>
              </a:solidFill>
              <a:effectLst/>
              <a:uLnTx/>
              <a:uFillTx/>
              <a:latin typeface="Verdana"/>
              <a:ea typeface="+mn-ea"/>
              <a:cs typeface="+mn-cs"/>
            </a:endParaRPr>
          </a:p>
        </p:txBody>
      </p:sp>
      <p:sp>
        <p:nvSpPr>
          <p:cNvPr id="80" name="Rectangle 79"/>
          <p:cNvSpPr/>
          <p:nvPr/>
        </p:nvSpPr>
        <p:spPr bwMode="gray">
          <a:xfrm>
            <a:off x="6879156" y="2107159"/>
            <a:ext cx="2563423" cy="396000"/>
          </a:xfrm>
          <a:prstGeom prst="rect">
            <a:avLst/>
          </a:prstGeom>
          <a:solidFill>
            <a:schemeClr val="bg1"/>
          </a:solidFill>
          <a:ln>
            <a:solidFill>
              <a:schemeClr val="accent2"/>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t"/>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ysClr val="windowText" lastClr="000000"/>
                </a:solidFill>
                <a:effectLst/>
                <a:uLnTx/>
                <a:uFillTx/>
                <a:latin typeface="Verdana"/>
                <a:ea typeface="+mn-ea"/>
                <a:cs typeface="+mn-cs"/>
              </a:rPr>
              <a:t>Bangladesh Electricity Regulatory Commission (BERC)</a:t>
            </a:r>
            <a:endParaRPr kumimoji="0" lang="en-IN" sz="900" b="0" i="0" u="none" strike="noStrike" kern="1200" cap="none" spc="0" normalizeH="0" baseline="0" noProof="0" dirty="0">
              <a:ln>
                <a:noFill/>
              </a:ln>
              <a:solidFill>
                <a:sysClr val="windowText" lastClr="000000"/>
              </a:solidFill>
              <a:effectLst/>
              <a:uLnTx/>
              <a:uFillTx/>
              <a:latin typeface="Verdana"/>
              <a:ea typeface="+mn-ea"/>
              <a:cs typeface="+mn-cs"/>
            </a:endParaRPr>
          </a:p>
        </p:txBody>
      </p:sp>
      <p:sp>
        <p:nvSpPr>
          <p:cNvPr id="81" name="Rectangle 80"/>
          <p:cNvSpPr/>
          <p:nvPr/>
        </p:nvSpPr>
        <p:spPr bwMode="gray">
          <a:xfrm>
            <a:off x="449264" y="2047206"/>
            <a:ext cx="1482406" cy="541499"/>
          </a:xfrm>
          <a:prstGeom prst="rect">
            <a:avLst/>
          </a:prstGeom>
          <a:solidFill>
            <a:schemeClr val="accent2"/>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1" i="0" u="none" strike="noStrike" kern="1200" cap="none" spc="0" normalizeH="0" baseline="0" noProof="0" dirty="0">
                <a:ln>
                  <a:noFill/>
                </a:ln>
                <a:solidFill>
                  <a:prstClr val="white"/>
                </a:solidFill>
                <a:effectLst/>
                <a:uLnTx/>
                <a:uFillTx/>
                <a:latin typeface="Verdana"/>
                <a:ea typeface="+mn-ea"/>
                <a:cs typeface="+mn-cs"/>
              </a:rPr>
              <a:t>Government / Regulator</a:t>
            </a: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cxnSp>
        <p:nvCxnSpPr>
          <p:cNvPr id="84" name="Straight Connector 83"/>
          <p:cNvCxnSpPr/>
          <p:nvPr/>
        </p:nvCxnSpPr>
        <p:spPr>
          <a:xfrm>
            <a:off x="451488" y="1924226"/>
            <a:ext cx="9774833"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85" name="Rectangle 84"/>
          <p:cNvSpPr/>
          <p:nvPr/>
        </p:nvSpPr>
        <p:spPr bwMode="gray">
          <a:xfrm>
            <a:off x="363938" y="7243296"/>
            <a:ext cx="4179454" cy="258504"/>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DESCO, DPDC,PGCB, Industry Reports; All figures are for FY2018-19</a:t>
            </a:r>
            <a:endParaRPr kumimoji="0" lang="en-IN" sz="700" b="0" i="1"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4007297272"/>
      </p:ext>
    </p:extLst>
  </p:cSld>
  <p:clrMapOvr>
    <a:masterClrMapping/>
  </p:clrMapOvr>
  <p:transition>
    <p:fade/>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209123278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0" imgW="530" imgH="531" progId="TCLayout.ActiveDocument.1">
                  <p:embed/>
                </p:oleObj>
              </mc:Choice>
              <mc:Fallback>
                <p:oleObj name="think-cell Slide" r:id="rId30" imgW="530" imgH="531" progId="TCLayout.ActiveDocument.1">
                  <p:embed/>
                  <p:pic>
                    <p:nvPicPr>
                      <p:cNvPr id="4" name="Object 3" hidden="1"/>
                      <p:cNvPicPr/>
                      <p:nvPr/>
                    </p:nvPicPr>
                    <p:blipFill>
                      <a:blip r:embed="rId31"/>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122831315"/>
              </p:ext>
            </p:ext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figure shows the peak demand met (MW) or peak generation (MW) in Bangladesh for past 5 years: </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figure shows net electricity generated (MU), retail electricity consumed (MU) and Average Power Demand (MW)</a:t>
                      </a:r>
                    </a:p>
                    <a:p>
                      <a:pPr marL="171450" lvl="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Power Market | Historical Power Demand Met</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 Peak Power Demand Met and retail electricity consumption in Bangladesh grew at a CAGR of ~13% and ~12% respectively over the last 5 years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33" name="Chart 32"/>
          <p:cNvGraphicFramePr/>
          <p:nvPr>
            <p:custDataLst>
              <p:tags r:id="rId4"/>
            </p:custDataLst>
            <p:extLst>
              <p:ext uri="{D42A27DB-BD31-4B8C-83A1-F6EECF244321}">
                <p14:modId xmlns:p14="http://schemas.microsoft.com/office/powerpoint/2010/main" val="769422456"/>
              </p:ext>
            </p:extLst>
          </p:nvPr>
        </p:nvGraphicFramePr>
        <p:xfrm>
          <a:off x="5441950" y="2879725"/>
          <a:ext cx="4897438" cy="949325"/>
        </p:xfrm>
        <a:graphic>
          <a:graphicData uri="http://schemas.openxmlformats.org/drawingml/2006/chart">
            <c:chart xmlns:c="http://schemas.openxmlformats.org/drawingml/2006/chart" xmlns:r="http://schemas.openxmlformats.org/officeDocument/2006/relationships" r:id="rId32"/>
          </a:graphicData>
        </a:graphic>
      </p:graphicFrame>
      <p:cxnSp>
        <p:nvCxnSpPr>
          <p:cNvPr id="80" name="Straight Connector 79"/>
          <p:cNvCxnSpPr/>
          <p:nvPr>
            <p:custDataLst>
              <p:tags r:id="rId5"/>
            </p:custDataLst>
          </p:nvPr>
        </p:nvCxnSpPr>
        <p:spPr bwMode="auto">
          <a:xfrm flipV="1">
            <a:off x="5995988" y="2751138"/>
            <a:ext cx="3786188" cy="268288"/>
          </a:xfrm>
          <a:prstGeom prst="line">
            <a:avLst/>
          </a:prstGeom>
          <a:ln w="6350" cap="flat" cmpd="sng" algn="ctr">
            <a:solidFill>
              <a:schemeClr val="tx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7" name="Text Placeholder 18"/>
          <p:cNvSpPr>
            <a:spLocks noGrp="1"/>
          </p:cNvSpPr>
          <p:nvPr>
            <p:custDataLst>
              <p:tags r:id="rId6"/>
            </p:custDataLst>
          </p:nvPr>
        </p:nvSpPr>
        <p:spPr bwMode="auto">
          <a:xfrm>
            <a:off x="5849938" y="3822700"/>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1268366" rtl="0" eaLnBrk="1" latinLnBrk="0" hangingPunct="1">
              <a:spcBef>
                <a:spcPts val="0"/>
              </a:spcBef>
              <a:spcAft>
                <a:spcPts val="1387"/>
              </a:spcAft>
              <a:buSzPct val="100000"/>
              <a:buFont typeface="Arial" panose="020B0604020202020204" pitchFamily="34" charset="0"/>
              <a:buNone/>
              <a:defRPr sz="1258" b="0" kern="1200">
                <a:solidFill>
                  <a:schemeClr val="tx1"/>
                </a:solidFill>
                <a:latin typeface="+mn-lt"/>
                <a:ea typeface="+mn-ea"/>
                <a:cs typeface="+mn-cs"/>
              </a:defRPr>
            </a:lvl1pPr>
            <a:lvl2pPr marL="0" indent="0" algn="l" defTabSz="1268366" rtl="0" eaLnBrk="1" latinLnBrk="0" hangingPunct="1">
              <a:spcBef>
                <a:spcPts val="0"/>
              </a:spcBef>
              <a:spcAft>
                <a:spcPts val="1387"/>
              </a:spcAft>
              <a:buClrTx/>
              <a:buSzPct val="100000"/>
              <a:buFont typeface="Arial"/>
              <a:buNone/>
              <a:defRPr lang="en-US" sz="1258" b="1" kern="1200" dirty="0" smtClean="0">
                <a:solidFill>
                  <a:schemeClr val="tx1"/>
                </a:solidFill>
                <a:latin typeface="+mn-lt"/>
                <a:ea typeface="+mn-ea"/>
                <a:cs typeface="+mn-cs"/>
              </a:defRPr>
            </a:lvl2pPr>
            <a:lvl3pPr marL="244685" indent="-244685" algn="l" defTabSz="1268366" rtl="0" eaLnBrk="1" latinLnBrk="0" hangingPunct="1">
              <a:spcBef>
                <a:spcPts val="0"/>
              </a:spcBef>
              <a:spcAft>
                <a:spcPts val="1387"/>
              </a:spcAft>
              <a:buClrTx/>
              <a:buSzPct val="100000"/>
              <a:buFont typeface="Arial" panose="020B0604020202020204" pitchFamily="34" charset="0"/>
              <a:buChar char="•"/>
              <a:defRPr lang="en-US" sz="1258" kern="1200" dirty="0" smtClean="0">
                <a:solidFill>
                  <a:schemeClr val="tx1"/>
                </a:solidFill>
                <a:latin typeface="+mn-lt"/>
                <a:ea typeface="+mn-ea"/>
                <a:cs typeface="+mn-cs"/>
              </a:defRPr>
            </a:lvl3pPr>
            <a:lvl4pPr marL="494363" indent="-244685" algn="l" defTabSz="1268366" rtl="0" eaLnBrk="1" latinLnBrk="0" hangingPunct="1">
              <a:spcBef>
                <a:spcPts val="0"/>
              </a:spcBef>
              <a:spcAft>
                <a:spcPts val="1387"/>
              </a:spcAft>
              <a:buClrTx/>
              <a:buSzPct val="100000"/>
              <a:buFont typeface="Verdana" panose="020B0604030504040204" pitchFamily="34" charset="0"/>
              <a:buChar char="−"/>
              <a:defRPr lang="en-US" sz="1258" kern="1200" baseline="0" dirty="0" smtClean="0">
                <a:solidFill>
                  <a:schemeClr val="tx1"/>
                </a:solidFill>
                <a:latin typeface="+mn-lt"/>
                <a:ea typeface="+mn-ea"/>
                <a:cs typeface="+mn-cs"/>
              </a:defRPr>
            </a:lvl4pPr>
            <a:lvl5pPr marL="739048" indent="-244685" algn="l" defTabSz="1107619" rtl="0" eaLnBrk="1" latinLnBrk="0" hangingPunct="1">
              <a:spcBef>
                <a:spcPts val="0"/>
              </a:spcBef>
              <a:spcAft>
                <a:spcPts val="1387"/>
              </a:spcAft>
              <a:buClrTx/>
              <a:buSzPct val="100000"/>
              <a:buFont typeface="Verdana" panose="020B0604030504040204" pitchFamily="34" charset="0"/>
              <a:buChar char="−"/>
              <a:tabLst/>
              <a:defRPr lang="en-US" sz="1258" kern="1200" baseline="0" dirty="0" smtClean="0">
                <a:solidFill>
                  <a:schemeClr val="tx1"/>
                </a:solidFill>
                <a:latin typeface="+mn-lt"/>
                <a:ea typeface="+mn-ea"/>
                <a:cs typeface="+mn-cs"/>
              </a:defRPr>
            </a:lvl5pPr>
            <a:lvl6pPr marL="739048" indent="-244685" algn="l" defTabSz="1268366" rtl="0" eaLnBrk="1" latinLnBrk="0" hangingPunct="1">
              <a:spcBef>
                <a:spcPts val="0"/>
              </a:spcBef>
              <a:spcAft>
                <a:spcPts val="1387"/>
              </a:spcAft>
              <a:buFont typeface="Verdana" panose="020B0604030504040204" pitchFamily="34" charset="0"/>
              <a:buChar char="−"/>
              <a:defRPr sz="1664" kern="1200" baseline="0">
                <a:solidFill>
                  <a:schemeClr val="tx1"/>
                </a:solidFill>
                <a:latin typeface="+mn-lt"/>
                <a:ea typeface="+mn-ea"/>
                <a:cs typeface="+mn-cs"/>
              </a:defRPr>
            </a:lvl6pPr>
            <a:lvl7pPr marL="739048" indent="-244685" algn="l" defTabSz="1268366" rtl="0" eaLnBrk="1" latinLnBrk="0" hangingPunct="1">
              <a:spcBef>
                <a:spcPts val="0"/>
              </a:spcBef>
              <a:spcAft>
                <a:spcPts val="1387"/>
              </a:spcAft>
              <a:buFont typeface="Verdana" panose="020B0604030504040204" pitchFamily="34" charset="0"/>
              <a:buChar char="−"/>
              <a:defRPr sz="1664" kern="1200">
                <a:solidFill>
                  <a:schemeClr val="tx1"/>
                </a:solidFill>
                <a:latin typeface="+mn-lt"/>
                <a:ea typeface="+mn-ea"/>
                <a:cs typeface="+mn-cs"/>
              </a:defRPr>
            </a:lvl7pPr>
            <a:lvl8pPr marL="739048" indent="-244685" algn="l" defTabSz="1268366" rtl="0" eaLnBrk="1" latinLnBrk="0" hangingPunct="1">
              <a:spcBef>
                <a:spcPts val="0"/>
              </a:spcBef>
              <a:spcAft>
                <a:spcPts val="1387"/>
              </a:spcAft>
              <a:buFont typeface="Verdana" panose="020B0604030504040204" pitchFamily="34" charset="0"/>
              <a:buChar char="−"/>
              <a:defRPr sz="1664" kern="1200" baseline="0">
                <a:solidFill>
                  <a:schemeClr val="tx1"/>
                </a:solidFill>
                <a:latin typeface="+mn-lt"/>
                <a:ea typeface="+mn-ea"/>
                <a:cs typeface="+mn-cs"/>
              </a:defRPr>
            </a:lvl8pPr>
            <a:lvl9pPr marL="739048" indent="-244685" algn="l" defTabSz="1268366" rtl="0" eaLnBrk="1" latinLnBrk="0" hangingPunct="1">
              <a:spcBef>
                <a:spcPts val="0"/>
              </a:spcBef>
              <a:spcAft>
                <a:spcPts val="1387"/>
              </a:spcAft>
              <a:buFont typeface="Verdana" panose="020B0604030504040204" pitchFamily="34" charset="0"/>
              <a:buChar char="−"/>
              <a:defRPr sz="1664" kern="1200" baseline="0">
                <a:solidFill>
                  <a:schemeClr val="tx1"/>
                </a:solidFill>
                <a:latin typeface="+mn-lt"/>
                <a:ea typeface="+mn-ea"/>
                <a:cs typeface="+mn-cs"/>
              </a:defRPr>
            </a:lvl9pPr>
          </a:lstStyle>
          <a:p>
            <a:pPr marL="0" marR="0" lvl="0" indent="0" algn="ctr" defTabSz="1268366" rtl="0" eaLnBrk="1" fontAlgn="auto" latinLnBrk="0" hangingPunct="1">
              <a:lnSpc>
                <a:spcPct val="100000"/>
              </a:lnSpc>
              <a:spcBef>
                <a:spcPct val="0"/>
              </a:spcBef>
              <a:spcAft>
                <a:spcPct val="0"/>
              </a:spcAft>
              <a:buClrTx/>
              <a:buSzPct val="100000"/>
              <a:buFont typeface="Arial" panose="020B0604020202020204" pitchFamily="34" charset="0"/>
              <a:buNone/>
              <a:tabLst/>
              <a:defRPr/>
            </a:pPr>
            <a:fld id="{F0050B3E-CE6D-4B85-B8EE-6C641866DC16}" type="datetime'''''''''''F''''''''''''''''''''''''Y''''''15'''''''''''''">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0" indent="0" algn="ctr" defTabSz="1268366" rtl="0" eaLnBrk="1" fontAlgn="auto" latinLnBrk="0" hangingPunct="1">
                <a:lnSpc>
                  <a:spcPct val="100000"/>
                </a:lnSpc>
                <a:spcBef>
                  <a:spcPct val="0"/>
                </a:spcBef>
                <a:spcAft>
                  <a:spcPct val="0"/>
                </a:spcAft>
                <a:buClrTx/>
                <a:buSzPct val="100000"/>
                <a:buFont typeface="Arial" panose="020B0604020202020204" pitchFamily="34" charset="0"/>
                <a:buNone/>
                <a:tabLst/>
                <a:defRPr/>
              </a:pPr>
              <a:t>FY15</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61" name="Text Placeholder 18"/>
          <p:cNvSpPr>
            <a:spLocks noGrp="1"/>
          </p:cNvSpPr>
          <p:nvPr>
            <p:custDataLst>
              <p:tags r:id="rId7"/>
            </p:custDataLst>
          </p:nvPr>
        </p:nvSpPr>
        <p:spPr bwMode="auto">
          <a:xfrm>
            <a:off x="8689975" y="3822700"/>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1268366" rtl="0" eaLnBrk="1" latinLnBrk="0" hangingPunct="1">
              <a:spcBef>
                <a:spcPts val="0"/>
              </a:spcBef>
              <a:spcAft>
                <a:spcPts val="1387"/>
              </a:spcAft>
              <a:buSzPct val="100000"/>
              <a:buFont typeface="Arial" panose="020B0604020202020204" pitchFamily="34" charset="0"/>
              <a:buNone/>
              <a:defRPr sz="1258" b="0" kern="1200">
                <a:solidFill>
                  <a:schemeClr val="tx1"/>
                </a:solidFill>
                <a:latin typeface="+mn-lt"/>
                <a:ea typeface="+mn-ea"/>
                <a:cs typeface="+mn-cs"/>
              </a:defRPr>
            </a:lvl1pPr>
            <a:lvl2pPr marL="0" indent="0" algn="l" defTabSz="1268366" rtl="0" eaLnBrk="1" latinLnBrk="0" hangingPunct="1">
              <a:spcBef>
                <a:spcPts val="0"/>
              </a:spcBef>
              <a:spcAft>
                <a:spcPts val="1387"/>
              </a:spcAft>
              <a:buClrTx/>
              <a:buSzPct val="100000"/>
              <a:buFont typeface="Arial"/>
              <a:buNone/>
              <a:defRPr lang="en-US" sz="1258" b="1" kern="1200" dirty="0" smtClean="0">
                <a:solidFill>
                  <a:schemeClr val="tx1"/>
                </a:solidFill>
                <a:latin typeface="+mn-lt"/>
                <a:ea typeface="+mn-ea"/>
                <a:cs typeface="+mn-cs"/>
              </a:defRPr>
            </a:lvl2pPr>
            <a:lvl3pPr marL="244685" indent="-244685" algn="l" defTabSz="1268366" rtl="0" eaLnBrk="1" latinLnBrk="0" hangingPunct="1">
              <a:spcBef>
                <a:spcPts val="0"/>
              </a:spcBef>
              <a:spcAft>
                <a:spcPts val="1387"/>
              </a:spcAft>
              <a:buClrTx/>
              <a:buSzPct val="100000"/>
              <a:buFont typeface="Arial" panose="020B0604020202020204" pitchFamily="34" charset="0"/>
              <a:buChar char="•"/>
              <a:defRPr lang="en-US" sz="1258" kern="1200" dirty="0" smtClean="0">
                <a:solidFill>
                  <a:schemeClr val="tx1"/>
                </a:solidFill>
                <a:latin typeface="+mn-lt"/>
                <a:ea typeface="+mn-ea"/>
                <a:cs typeface="+mn-cs"/>
              </a:defRPr>
            </a:lvl3pPr>
            <a:lvl4pPr marL="494363" indent="-244685" algn="l" defTabSz="1268366" rtl="0" eaLnBrk="1" latinLnBrk="0" hangingPunct="1">
              <a:spcBef>
                <a:spcPts val="0"/>
              </a:spcBef>
              <a:spcAft>
                <a:spcPts val="1387"/>
              </a:spcAft>
              <a:buClrTx/>
              <a:buSzPct val="100000"/>
              <a:buFont typeface="Verdana" panose="020B0604030504040204" pitchFamily="34" charset="0"/>
              <a:buChar char="−"/>
              <a:defRPr lang="en-US" sz="1258" kern="1200" baseline="0" dirty="0" smtClean="0">
                <a:solidFill>
                  <a:schemeClr val="tx1"/>
                </a:solidFill>
                <a:latin typeface="+mn-lt"/>
                <a:ea typeface="+mn-ea"/>
                <a:cs typeface="+mn-cs"/>
              </a:defRPr>
            </a:lvl4pPr>
            <a:lvl5pPr marL="739048" indent="-244685" algn="l" defTabSz="1107619" rtl="0" eaLnBrk="1" latinLnBrk="0" hangingPunct="1">
              <a:spcBef>
                <a:spcPts val="0"/>
              </a:spcBef>
              <a:spcAft>
                <a:spcPts val="1387"/>
              </a:spcAft>
              <a:buClrTx/>
              <a:buSzPct val="100000"/>
              <a:buFont typeface="Verdana" panose="020B0604030504040204" pitchFamily="34" charset="0"/>
              <a:buChar char="−"/>
              <a:tabLst/>
              <a:defRPr lang="en-US" sz="1258" kern="1200" baseline="0" dirty="0" smtClean="0">
                <a:solidFill>
                  <a:schemeClr val="tx1"/>
                </a:solidFill>
                <a:latin typeface="+mn-lt"/>
                <a:ea typeface="+mn-ea"/>
                <a:cs typeface="+mn-cs"/>
              </a:defRPr>
            </a:lvl5pPr>
            <a:lvl6pPr marL="739048" indent="-244685" algn="l" defTabSz="1268366" rtl="0" eaLnBrk="1" latinLnBrk="0" hangingPunct="1">
              <a:spcBef>
                <a:spcPts val="0"/>
              </a:spcBef>
              <a:spcAft>
                <a:spcPts val="1387"/>
              </a:spcAft>
              <a:buFont typeface="Verdana" panose="020B0604030504040204" pitchFamily="34" charset="0"/>
              <a:buChar char="−"/>
              <a:defRPr sz="1664" kern="1200" baseline="0">
                <a:solidFill>
                  <a:schemeClr val="tx1"/>
                </a:solidFill>
                <a:latin typeface="+mn-lt"/>
                <a:ea typeface="+mn-ea"/>
                <a:cs typeface="+mn-cs"/>
              </a:defRPr>
            </a:lvl6pPr>
            <a:lvl7pPr marL="739048" indent="-244685" algn="l" defTabSz="1268366" rtl="0" eaLnBrk="1" latinLnBrk="0" hangingPunct="1">
              <a:spcBef>
                <a:spcPts val="0"/>
              </a:spcBef>
              <a:spcAft>
                <a:spcPts val="1387"/>
              </a:spcAft>
              <a:buFont typeface="Verdana" panose="020B0604030504040204" pitchFamily="34" charset="0"/>
              <a:buChar char="−"/>
              <a:defRPr sz="1664" kern="1200">
                <a:solidFill>
                  <a:schemeClr val="tx1"/>
                </a:solidFill>
                <a:latin typeface="+mn-lt"/>
                <a:ea typeface="+mn-ea"/>
                <a:cs typeface="+mn-cs"/>
              </a:defRPr>
            </a:lvl7pPr>
            <a:lvl8pPr marL="739048" indent="-244685" algn="l" defTabSz="1268366" rtl="0" eaLnBrk="1" latinLnBrk="0" hangingPunct="1">
              <a:spcBef>
                <a:spcPts val="0"/>
              </a:spcBef>
              <a:spcAft>
                <a:spcPts val="1387"/>
              </a:spcAft>
              <a:buFont typeface="Verdana" panose="020B0604030504040204" pitchFamily="34" charset="0"/>
              <a:buChar char="−"/>
              <a:defRPr sz="1664" kern="1200" baseline="0">
                <a:solidFill>
                  <a:schemeClr val="tx1"/>
                </a:solidFill>
                <a:latin typeface="+mn-lt"/>
                <a:ea typeface="+mn-ea"/>
                <a:cs typeface="+mn-cs"/>
              </a:defRPr>
            </a:lvl8pPr>
            <a:lvl9pPr marL="739048" indent="-244685" algn="l" defTabSz="1268366" rtl="0" eaLnBrk="1" latinLnBrk="0" hangingPunct="1">
              <a:spcBef>
                <a:spcPts val="0"/>
              </a:spcBef>
              <a:spcAft>
                <a:spcPts val="1387"/>
              </a:spcAft>
              <a:buFont typeface="Verdana" panose="020B0604030504040204" pitchFamily="34" charset="0"/>
              <a:buChar char="−"/>
              <a:defRPr sz="1664" kern="1200" baseline="0">
                <a:solidFill>
                  <a:schemeClr val="tx1"/>
                </a:solidFill>
                <a:latin typeface="+mn-lt"/>
                <a:ea typeface="+mn-ea"/>
                <a:cs typeface="+mn-cs"/>
              </a:defRPr>
            </a:lvl9pPr>
          </a:lstStyle>
          <a:p>
            <a:pPr marL="0" marR="0" lvl="0" indent="0" algn="ctr" defTabSz="1268366" rtl="0" eaLnBrk="1" fontAlgn="auto" latinLnBrk="0" hangingPunct="1">
              <a:lnSpc>
                <a:spcPct val="100000"/>
              </a:lnSpc>
              <a:spcBef>
                <a:spcPct val="0"/>
              </a:spcBef>
              <a:spcAft>
                <a:spcPct val="0"/>
              </a:spcAft>
              <a:buClrTx/>
              <a:buSzPct val="100000"/>
              <a:buFont typeface="Arial" panose="020B0604020202020204" pitchFamily="34" charset="0"/>
              <a:buNone/>
              <a:tabLst/>
              <a:defRPr/>
            </a:pPr>
            <a:fld id="{1206DD63-2C4B-41F9-8441-C0114C528638}" type="datetime'''''''F''''Y''''''''''1''''''8'''''''''''''''''''">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0" indent="0" algn="ctr" defTabSz="1268366" rtl="0" eaLnBrk="1" fontAlgn="auto" latinLnBrk="0" hangingPunct="1">
                <a:lnSpc>
                  <a:spcPct val="100000"/>
                </a:lnSpc>
                <a:spcBef>
                  <a:spcPct val="0"/>
                </a:spcBef>
                <a:spcAft>
                  <a:spcPct val="0"/>
                </a:spcAft>
                <a:buClrTx/>
                <a:buSzPct val="100000"/>
                <a:buFont typeface="Arial" panose="020B0604020202020204" pitchFamily="34" charset="0"/>
                <a:buNone/>
                <a:tabLst/>
                <a:defRPr/>
              </a:pPr>
              <a:t>FY18</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59" name="Text Placeholder 18"/>
          <p:cNvSpPr>
            <a:spLocks noGrp="1"/>
          </p:cNvSpPr>
          <p:nvPr>
            <p:custDataLst>
              <p:tags r:id="rId8"/>
            </p:custDataLst>
          </p:nvPr>
        </p:nvSpPr>
        <p:spPr bwMode="auto">
          <a:xfrm>
            <a:off x="6796088" y="3822700"/>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1268366" rtl="0" eaLnBrk="1" latinLnBrk="0" hangingPunct="1">
              <a:spcBef>
                <a:spcPts val="0"/>
              </a:spcBef>
              <a:spcAft>
                <a:spcPts val="1387"/>
              </a:spcAft>
              <a:buSzPct val="100000"/>
              <a:buFont typeface="Arial" panose="020B0604020202020204" pitchFamily="34" charset="0"/>
              <a:buNone/>
              <a:defRPr sz="1258" b="0" kern="1200">
                <a:solidFill>
                  <a:schemeClr val="tx1"/>
                </a:solidFill>
                <a:latin typeface="+mn-lt"/>
                <a:ea typeface="+mn-ea"/>
                <a:cs typeface="+mn-cs"/>
              </a:defRPr>
            </a:lvl1pPr>
            <a:lvl2pPr marL="0" indent="0" algn="l" defTabSz="1268366" rtl="0" eaLnBrk="1" latinLnBrk="0" hangingPunct="1">
              <a:spcBef>
                <a:spcPts val="0"/>
              </a:spcBef>
              <a:spcAft>
                <a:spcPts val="1387"/>
              </a:spcAft>
              <a:buClrTx/>
              <a:buSzPct val="100000"/>
              <a:buFont typeface="Arial"/>
              <a:buNone/>
              <a:defRPr lang="en-US" sz="1258" b="1" kern="1200" dirty="0" smtClean="0">
                <a:solidFill>
                  <a:schemeClr val="tx1"/>
                </a:solidFill>
                <a:latin typeface="+mn-lt"/>
                <a:ea typeface="+mn-ea"/>
                <a:cs typeface="+mn-cs"/>
              </a:defRPr>
            </a:lvl2pPr>
            <a:lvl3pPr marL="244685" indent="-244685" algn="l" defTabSz="1268366" rtl="0" eaLnBrk="1" latinLnBrk="0" hangingPunct="1">
              <a:spcBef>
                <a:spcPts val="0"/>
              </a:spcBef>
              <a:spcAft>
                <a:spcPts val="1387"/>
              </a:spcAft>
              <a:buClrTx/>
              <a:buSzPct val="100000"/>
              <a:buFont typeface="Arial" panose="020B0604020202020204" pitchFamily="34" charset="0"/>
              <a:buChar char="•"/>
              <a:defRPr lang="en-US" sz="1258" kern="1200" dirty="0" smtClean="0">
                <a:solidFill>
                  <a:schemeClr val="tx1"/>
                </a:solidFill>
                <a:latin typeface="+mn-lt"/>
                <a:ea typeface="+mn-ea"/>
                <a:cs typeface="+mn-cs"/>
              </a:defRPr>
            </a:lvl3pPr>
            <a:lvl4pPr marL="494363" indent="-244685" algn="l" defTabSz="1268366" rtl="0" eaLnBrk="1" latinLnBrk="0" hangingPunct="1">
              <a:spcBef>
                <a:spcPts val="0"/>
              </a:spcBef>
              <a:spcAft>
                <a:spcPts val="1387"/>
              </a:spcAft>
              <a:buClrTx/>
              <a:buSzPct val="100000"/>
              <a:buFont typeface="Verdana" panose="020B0604030504040204" pitchFamily="34" charset="0"/>
              <a:buChar char="−"/>
              <a:defRPr lang="en-US" sz="1258" kern="1200" baseline="0" dirty="0" smtClean="0">
                <a:solidFill>
                  <a:schemeClr val="tx1"/>
                </a:solidFill>
                <a:latin typeface="+mn-lt"/>
                <a:ea typeface="+mn-ea"/>
                <a:cs typeface="+mn-cs"/>
              </a:defRPr>
            </a:lvl4pPr>
            <a:lvl5pPr marL="739048" indent="-244685" algn="l" defTabSz="1107619" rtl="0" eaLnBrk="1" latinLnBrk="0" hangingPunct="1">
              <a:spcBef>
                <a:spcPts val="0"/>
              </a:spcBef>
              <a:spcAft>
                <a:spcPts val="1387"/>
              </a:spcAft>
              <a:buClrTx/>
              <a:buSzPct val="100000"/>
              <a:buFont typeface="Verdana" panose="020B0604030504040204" pitchFamily="34" charset="0"/>
              <a:buChar char="−"/>
              <a:tabLst/>
              <a:defRPr lang="en-US" sz="1258" kern="1200" baseline="0" dirty="0" smtClean="0">
                <a:solidFill>
                  <a:schemeClr val="tx1"/>
                </a:solidFill>
                <a:latin typeface="+mn-lt"/>
                <a:ea typeface="+mn-ea"/>
                <a:cs typeface="+mn-cs"/>
              </a:defRPr>
            </a:lvl5pPr>
            <a:lvl6pPr marL="739048" indent="-244685" algn="l" defTabSz="1268366" rtl="0" eaLnBrk="1" latinLnBrk="0" hangingPunct="1">
              <a:spcBef>
                <a:spcPts val="0"/>
              </a:spcBef>
              <a:spcAft>
                <a:spcPts val="1387"/>
              </a:spcAft>
              <a:buFont typeface="Verdana" panose="020B0604030504040204" pitchFamily="34" charset="0"/>
              <a:buChar char="−"/>
              <a:defRPr sz="1664" kern="1200" baseline="0">
                <a:solidFill>
                  <a:schemeClr val="tx1"/>
                </a:solidFill>
                <a:latin typeface="+mn-lt"/>
                <a:ea typeface="+mn-ea"/>
                <a:cs typeface="+mn-cs"/>
              </a:defRPr>
            </a:lvl6pPr>
            <a:lvl7pPr marL="739048" indent="-244685" algn="l" defTabSz="1268366" rtl="0" eaLnBrk="1" latinLnBrk="0" hangingPunct="1">
              <a:spcBef>
                <a:spcPts val="0"/>
              </a:spcBef>
              <a:spcAft>
                <a:spcPts val="1387"/>
              </a:spcAft>
              <a:buFont typeface="Verdana" panose="020B0604030504040204" pitchFamily="34" charset="0"/>
              <a:buChar char="−"/>
              <a:defRPr sz="1664" kern="1200">
                <a:solidFill>
                  <a:schemeClr val="tx1"/>
                </a:solidFill>
                <a:latin typeface="+mn-lt"/>
                <a:ea typeface="+mn-ea"/>
                <a:cs typeface="+mn-cs"/>
              </a:defRPr>
            </a:lvl7pPr>
            <a:lvl8pPr marL="739048" indent="-244685" algn="l" defTabSz="1268366" rtl="0" eaLnBrk="1" latinLnBrk="0" hangingPunct="1">
              <a:spcBef>
                <a:spcPts val="0"/>
              </a:spcBef>
              <a:spcAft>
                <a:spcPts val="1387"/>
              </a:spcAft>
              <a:buFont typeface="Verdana" panose="020B0604030504040204" pitchFamily="34" charset="0"/>
              <a:buChar char="−"/>
              <a:defRPr sz="1664" kern="1200" baseline="0">
                <a:solidFill>
                  <a:schemeClr val="tx1"/>
                </a:solidFill>
                <a:latin typeface="+mn-lt"/>
                <a:ea typeface="+mn-ea"/>
                <a:cs typeface="+mn-cs"/>
              </a:defRPr>
            </a:lvl8pPr>
            <a:lvl9pPr marL="739048" indent="-244685" algn="l" defTabSz="1268366" rtl="0" eaLnBrk="1" latinLnBrk="0" hangingPunct="1">
              <a:spcBef>
                <a:spcPts val="0"/>
              </a:spcBef>
              <a:spcAft>
                <a:spcPts val="1387"/>
              </a:spcAft>
              <a:buFont typeface="Verdana" panose="020B0604030504040204" pitchFamily="34" charset="0"/>
              <a:buChar char="−"/>
              <a:defRPr sz="1664" kern="1200" baseline="0">
                <a:solidFill>
                  <a:schemeClr val="tx1"/>
                </a:solidFill>
                <a:latin typeface="+mn-lt"/>
                <a:ea typeface="+mn-ea"/>
                <a:cs typeface="+mn-cs"/>
              </a:defRPr>
            </a:lvl9pPr>
          </a:lstStyle>
          <a:p>
            <a:pPr marL="0" marR="0" lvl="0" indent="0" algn="ctr" defTabSz="1268366" rtl="0" eaLnBrk="1" fontAlgn="auto" latinLnBrk="0" hangingPunct="1">
              <a:lnSpc>
                <a:spcPct val="100000"/>
              </a:lnSpc>
              <a:spcBef>
                <a:spcPct val="0"/>
              </a:spcBef>
              <a:spcAft>
                <a:spcPct val="0"/>
              </a:spcAft>
              <a:buClrTx/>
              <a:buSzPct val="100000"/>
              <a:buFont typeface="Arial" panose="020B0604020202020204" pitchFamily="34" charset="0"/>
              <a:buNone/>
              <a:tabLst/>
              <a:defRPr/>
            </a:pPr>
            <a:fld id="{35D4F2AA-A55F-4697-9A56-C3440327DB7F}" type="datetime'''''''''''''''F''''''''''Y''''''''''''''''''''''1''6'''''''">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0" indent="0" algn="ctr" defTabSz="1268366" rtl="0" eaLnBrk="1" fontAlgn="auto" latinLnBrk="0" hangingPunct="1">
                <a:lnSpc>
                  <a:spcPct val="100000"/>
                </a:lnSpc>
                <a:spcBef>
                  <a:spcPct val="0"/>
                </a:spcBef>
                <a:spcAft>
                  <a:spcPct val="0"/>
                </a:spcAft>
                <a:buClrTx/>
                <a:buSzPct val="100000"/>
                <a:buFont typeface="Arial" panose="020B0604020202020204" pitchFamily="34" charset="0"/>
                <a:buNone/>
                <a:tabLst/>
                <a:defRPr/>
              </a:pPr>
              <a:t>FY16</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58" name="Text Placeholder 18"/>
          <p:cNvSpPr>
            <a:spLocks noGrp="1"/>
          </p:cNvSpPr>
          <p:nvPr>
            <p:custDataLst>
              <p:tags r:id="rId9"/>
            </p:custDataLst>
          </p:nvPr>
        </p:nvSpPr>
        <p:spPr bwMode="auto">
          <a:xfrm>
            <a:off x="7743825" y="3822700"/>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1268366" rtl="0" eaLnBrk="1" latinLnBrk="0" hangingPunct="1">
              <a:spcBef>
                <a:spcPts val="0"/>
              </a:spcBef>
              <a:spcAft>
                <a:spcPts val="1387"/>
              </a:spcAft>
              <a:buSzPct val="100000"/>
              <a:buFont typeface="Arial" panose="020B0604020202020204" pitchFamily="34" charset="0"/>
              <a:buNone/>
              <a:defRPr sz="1258" b="0" kern="1200">
                <a:solidFill>
                  <a:schemeClr val="tx1"/>
                </a:solidFill>
                <a:latin typeface="+mn-lt"/>
                <a:ea typeface="+mn-ea"/>
                <a:cs typeface="+mn-cs"/>
              </a:defRPr>
            </a:lvl1pPr>
            <a:lvl2pPr marL="0" indent="0" algn="l" defTabSz="1268366" rtl="0" eaLnBrk="1" latinLnBrk="0" hangingPunct="1">
              <a:spcBef>
                <a:spcPts val="0"/>
              </a:spcBef>
              <a:spcAft>
                <a:spcPts val="1387"/>
              </a:spcAft>
              <a:buClrTx/>
              <a:buSzPct val="100000"/>
              <a:buFont typeface="Arial"/>
              <a:buNone/>
              <a:defRPr lang="en-US" sz="1258" b="1" kern="1200" dirty="0" smtClean="0">
                <a:solidFill>
                  <a:schemeClr val="tx1"/>
                </a:solidFill>
                <a:latin typeface="+mn-lt"/>
                <a:ea typeface="+mn-ea"/>
                <a:cs typeface="+mn-cs"/>
              </a:defRPr>
            </a:lvl2pPr>
            <a:lvl3pPr marL="244685" indent="-244685" algn="l" defTabSz="1268366" rtl="0" eaLnBrk="1" latinLnBrk="0" hangingPunct="1">
              <a:spcBef>
                <a:spcPts val="0"/>
              </a:spcBef>
              <a:spcAft>
                <a:spcPts val="1387"/>
              </a:spcAft>
              <a:buClrTx/>
              <a:buSzPct val="100000"/>
              <a:buFont typeface="Arial" panose="020B0604020202020204" pitchFamily="34" charset="0"/>
              <a:buChar char="•"/>
              <a:defRPr lang="en-US" sz="1258" kern="1200" dirty="0" smtClean="0">
                <a:solidFill>
                  <a:schemeClr val="tx1"/>
                </a:solidFill>
                <a:latin typeface="+mn-lt"/>
                <a:ea typeface="+mn-ea"/>
                <a:cs typeface="+mn-cs"/>
              </a:defRPr>
            </a:lvl3pPr>
            <a:lvl4pPr marL="494363" indent="-244685" algn="l" defTabSz="1268366" rtl="0" eaLnBrk="1" latinLnBrk="0" hangingPunct="1">
              <a:spcBef>
                <a:spcPts val="0"/>
              </a:spcBef>
              <a:spcAft>
                <a:spcPts val="1387"/>
              </a:spcAft>
              <a:buClrTx/>
              <a:buSzPct val="100000"/>
              <a:buFont typeface="Verdana" panose="020B0604030504040204" pitchFamily="34" charset="0"/>
              <a:buChar char="−"/>
              <a:defRPr lang="en-US" sz="1258" kern="1200" baseline="0" dirty="0" smtClean="0">
                <a:solidFill>
                  <a:schemeClr val="tx1"/>
                </a:solidFill>
                <a:latin typeface="+mn-lt"/>
                <a:ea typeface="+mn-ea"/>
                <a:cs typeface="+mn-cs"/>
              </a:defRPr>
            </a:lvl4pPr>
            <a:lvl5pPr marL="739048" indent="-244685" algn="l" defTabSz="1107619" rtl="0" eaLnBrk="1" latinLnBrk="0" hangingPunct="1">
              <a:spcBef>
                <a:spcPts val="0"/>
              </a:spcBef>
              <a:spcAft>
                <a:spcPts val="1387"/>
              </a:spcAft>
              <a:buClrTx/>
              <a:buSzPct val="100000"/>
              <a:buFont typeface="Verdana" panose="020B0604030504040204" pitchFamily="34" charset="0"/>
              <a:buChar char="−"/>
              <a:tabLst/>
              <a:defRPr lang="en-US" sz="1258" kern="1200" baseline="0" dirty="0" smtClean="0">
                <a:solidFill>
                  <a:schemeClr val="tx1"/>
                </a:solidFill>
                <a:latin typeface="+mn-lt"/>
                <a:ea typeface="+mn-ea"/>
                <a:cs typeface="+mn-cs"/>
              </a:defRPr>
            </a:lvl5pPr>
            <a:lvl6pPr marL="739048" indent="-244685" algn="l" defTabSz="1268366" rtl="0" eaLnBrk="1" latinLnBrk="0" hangingPunct="1">
              <a:spcBef>
                <a:spcPts val="0"/>
              </a:spcBef>
              <a:spcAft>
                <a:spcPts val="1387"/>
              </a:spcAft>
              <a:buFont typeface="Verdana" panose="020B0604030504040204" pitchFamily="34" charset="0"/>
              <a:buChar char="−"/>
              <a:defRPr sz="1664" kern="1200" baseline="0">
                <a:solidFill>
                  <a:schemeClr val="tx1"/>
                </a:solidFill>
                <a:latin typeface="+mn-lt"/>
                <a:ea typeface="+mn-ea"/>
                <a:cs typeface="+mn-cs"/>
              </a:defRPr>
            </a:lvl6pPr>
            <a:lvl7pPr marL="739048" indent="-244685" algn="l" defTabSz="1268366" rtl="0" eaLnBrk="1" latinLnBrk="0" hangingPunct="1">
              <a:spcBef>
                <a:spcPts val="0"/>
              </a:spcBef>
              <a:spcAft>
                <a:spcPts val="1387"/>
              </a:spcAft>
              <a:buFont typeface="Verdana" panose="020B0604030504040204" pitchFamily="34" charset="0"/>
              <a:buChar char="−"/>
              <a:defRPr sz="1664" kern="1200">
                <a:solidFill>
                  <a:schemeClr val="tx1"/>
                </a:solidFill>
                <a:latin typeface="+mn-lt"/>
                <a:ea typeface="+mn-ea"/>
                <a:cs typeface="+mn-cs"/>
              </a:defRPr>
            </a:lvl7pPr>
            <a:lvl8pPr marL="739048" indent="-244685" algn="l" defTabSz="1268366" rtl="0" eaLnBrk="1" latinLnBrk="0" hangingPunct="1">
              <a:spcBef>
                <a:spcPts val="0"/>
              </a:spcBef>
              <a:spcAft>
                <a:spcPts val="1387"/>
              </a:spcAft>
              <a:buFont typeface="Verdana" panose="020B0604030504040204" pitchFamily="34" charset="0"/>
              <a:buChar char="−"/>
              <a:defRPr sz="1664" kern="1200" baseline="0">
                <a:solidFill>
                  <a:schemeClr val="tx1"/>
                </a:solidFill>
                <a:latin typeface="+mn-lt"/>
                <a:ea typeface="+mn-ea"/>
                <a:cs typeface="+mn-cs"/>
              </a:defRPr>
            </a:lvl8pPr>
            <a:lvl9pPr marL="739048" indent="-244685" algn="l" defTabSz="1268366" rtl="0" eaLnBrk="1" latinLnBrk="0" hangingPunct="1">
              <a:spcBef>
                <a:spcPts val="0"/>
              </a:spcBef>
              <a:spcAft>
                <a:spcPts val="1387"/>
              </a:spcAft>
              <a:buFont typeface="Verdana" panose="020B0604030504040204" pitchFamily="34" charset="0"/>
              <a:buChar char="−"/>
              <a:defRPr sz="1664" kern="1200" baseline="0">
                <a:solidFill>
                  <a:schemeClr val="tx1"/>
                </a:solidFill>
                <a:latin typeface="+mn-lt"/>
                <a:ea typeface="+mn-ea"/>
                <a:cs typeface="+mn-cs"/>
              </a:defRPr>
            </a:lvl9pPr>
          </a:lstStyle>
          <a:p>
            <a:pPr marL="0" marR="0" lvl="0" indent="0" algn="ctr" defTabSz="1268366" rtl="0" eaLnBrk="1" fontAlgn="auto" latinLnBrk="0" hangingPunct="1">
              <a:lnSpc>
                <a:spcPct val="100000"/>
              </a:lnSpc>
              <a:spcBef>
                <a:spcPct val="0"/>
              </a:spcBef>
              <a:spcAft>
                <a:spcPct val="0"/>
              </a:spcAft>
              <a:buClrTx/>
              <a:buSzPct val="100000"/>
              <a:buFont typeface="Arial" panose="020B0604020202020204" pitchFamily="34" charset="0"/>
              <a:buNone/>
              <a:tabLst/>
              <a:defRPr/>
            </a:pPr>
            <a:fld id="{0C78C2D4-C9C1-478D-A936-62F52F16AC7B}" type="datetime'''''F''''''Y''''''''''''''''''17'''''''''''''''''''">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0" indent="0" algn="ctr" defTabSz="1268366" rtl="0" eaLnBrk="1" fontAlgn="auto" latinLnBrk="0" hangingPunct="1">
                <a:lnSpc>
                  <a:spcPct val="100000"/>
                </a:lnSpc>
                <a:spcBef>
                  <a:spcPct val="0"/>
                </a:spcBef>
                <a:spcAft>
                  <a:spcPct val="0"/>
                </a:spcAft>
                <a:buClrTx/>
                <a:buSzPct val="100000"/>
                <a:buFont typeface="Arial" panose="020B0604020202020204" pitchFamily="34" charset="0"/>
                <a:buNone/>
                <a:tabLst/>
                <a:defRPr/>
              </a:pPr>
              <a:t>FY17</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62" name="Text Placeholder 18"/>
          <p:cNvSpPr>
            <a:spLocks noGrp="1"/>
          </p:cNvSpPr>
          <p:nvPr>
            <p:custDataLst>
              <p:tags r:id="rId10"/>
            </p:custDataLst>
          </p:nvPr>
        </p:nvSpPr>
        <p:spPr bwMode="auto">
          <a:xfrm>
            <a:off x="9636125" y="3822700"/>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1268366" rtl="0" eaLnBrk="1" latinLnBrk="0" hangingPunct="1">
              <a:spcBef>
                <a:spcPts val="0"/>
              </a:spcBef>
              <a:spcAft>
                <a:spcPts val="1387"/>
              </a:spcAft>
              <a:buSzPct val="100000"/>
              <a:buFont typeface="Arial" panose="020B0604020202020204" pitchFamily="34" charset="0"/>
              <a:buNone/>
              <a:defRPr sz="1258" b="0" kern="1200">
                <a:solidFill>
                  <a:schemeClr val="tx1"/>
                </a:solidFill>
                <a:latin typeface="+mn-lt"/>
                <a:ea typeface="+mn-ea"/>
                <a:cs typeface="+mn-cs"/>
              </a:defRPr>
            </a:lvl1pPr>
            <a:lvl2pPr marL="0" indent="0" algn="l" defTabSz="1268366" rtl="0" eaLnBrk="1" latinLnBrk="0" hangingPunct="1">
              <a:spcBef>
                <a:spcPts val="0"/>
              </a:spcBef>
              <a:spcAft>
                <a:spcPts val="1387"/>
              </a:spcAft>
              <a:buClrTx/>
              <a:buSzPct val="100000"/>
              <a:buFont typeface="Arial"/>
              <a:buNone/>
              <a:defRPr lang="en-US" sz="1258" b="1" kern="1200" dirty="0" smtClean="0">
                <a:solidFill>
                  <a:schemeClr val="tx1"/>
                </a:solidFill>
                <a:latin typeface="+mn-lt"/>
                <a:ea typeface="+mn-ea"/>
                <a:cs typeface="+mn-cs"/>
              </a:defRPr>
            </a:lvl2pPr>
            <a:lvl3pPr marL="244685" indent="-244685" algn="l" defTabSz="1268366" rtl="0" eaLnBrk="1" latinLnBrk="0" hangingPunct="1">
              <a:spcBef>
                <a:spcPts val="0"/>
              </a:spcBef>
              <a:spcAft>
                <a:spcPts val="1387"/>
              </a:spcAft>
              <a:buClrTx/>
              <a:buSzPct val="100000"/>
              <a:buFont typeface="Arial" panose="020B0604020202020204" pitchFamily="34" charset="0"/>
              <a:buChar char="•"/>
              <a:defRPr lang="en-US" sz="1258" kern="1200" dirty="0" smtClean="0">
                <a:solidFill>
                  <a:schemeClr val="tx1"/>
                </a:solidFill>
                <a:latin typeface="+mn-lt"/>
                <a:ea typeface="+mn-ea"/>
                <a:cs typeface="+mn-cs"/>
              </a:defRPr>
            </a:lvl3pPr>
            <a:lvl4pPr marL="494363" indent="-244685" algn="l" defTabSz="1268366" rtl="0" eaLnBrk="1" latinLnBrk="0" hangingPunct="1">
              <a:spcBef>
                <a:spcPts val="0"/>
              </a:spcBef>
              <a:spcAft>
                <a:spcPts val="1387"/>
              </a:spcAft>
              <a:buClrTx/>
              <a:buSzPct val="100000"/>
              <a:buFont typeface="Verdana" panose="020B0604030504040204" pitchFamily="34" charset="0"/>
              <a:buChar char="−"/>
              <a:defRPr lang="en-US" sz="1258" kern="1200" baseline="0" dirty="0" smtClean="0">
                <a:solidFill>
                  <a:schemeClr val="tx1"/>
                </a:solidFill>
                <a:latin typeface="+mn-lt"/>
                <a:ea typeface="+mn-ea"/>
                <a:cs typeface="+mn-cs"/>
              </a:defRPr>
            </a:lvl4pPr>
            <a:lvl5pPr marL="739048" indent="-244685" algn="l" defTabSz="1107619" rtl="0" eaLnBrk="1" latinLnBrk="0" hangingPunct="1">
              <a:spcBef>
                <a:spcPts val="0"/>
              </a:spcBef>
              <a:spcAft>
                <a:spcPts val="1387"/>
              </a:spcAft>
              <a:buClrTx/>
              <a:buSzPct val="100000"/>
              <a:buFont typeface="Verdana" panose="020B0604030504040204" pitchFamily="34" charset="0"/>
              <a:buChar char="−"/>
              <a:tabLst/>
              <a:defRPr lang="en-US" sz="1258" kern="1200" baseline="0" dirty="0" smtClean="0">
                <a:solidFill>
                  <a:schemeClr val="tx1"/>
                </a:solidFill>
                <a:latin typeface="+mn-lt"/>
                <a:ea typeface="+mn-ea"/>
                <a:cs typeface="+mn-cs"/>
              </a:defRPr>
            </a:lvl5pPr>
            <a:lvl6pPr marL="739048" indent="-244685" algn="l" defTabSz="1268366" rtl="0" eaLnBrk="1" latinLnBrk="0" hangingPunct="1">
              <a:spcBef>
                <a:spcPts val="0"/>
              </a:spcBef>
              <a:spcAft>
                <a:spcPts val="1387"/>
              </a:spcAft>
              <a:buFont typeface="Verdana" panose="020B0604030504040204" pitchFamily="34" charset="0"/>
              <a:buChar char="−"/>
              <a:defRPr sz="1664" kern="1200" baseline="0">
                <a:solidFill>
                  <a:schemeClr val="tx1"/>
                </a:solidFill>
                <a:latin typeface="+mn-lt"/>
                <a:ea typeface="+mn-ea"/>
                <a:cs typeface="+mn-cs"/>
              </a:defRPr>
            </a:lvl6pPr>
            <a:lvl7pPr marL="739048" indent="-244685" algn="l" defTabSz="1268366" rtl="0" eaLnBrk="1" latinLnBrk="0" hangingPunct="1">
              <a:spcBef>
                <a:spcPts val="0"/>
              </a:spcBef>
              <a:spcAft>
                <a:spcPts val="1387"/>
              </a:spcAft>
              <a:buFont typeface="Verdana" panose="020B0604030504040204" pitchFamily="34" charset="0"/>
              <a:buChar char="−"/>
              <a:defRPr sz="1664" kern="1200">
                <a:solidFill>
                  <a:schemeClr val="tx1"/>
                </a:solidFill>
                <a:latin typeface="+mn-lt"/>
                <a:ea typeface="+mn-ea"/>
                <a:cs typeface="+mn-cs"/>
              </a:defRPr>
            </a:lvl7pPr>
            <a:lvl8pPr marL="739048" indent="-244685" algn="l" defTabSz="1268366" rtl="0" eaLnBrk="1" latinLnBrk="0" hangingPunct="1">
              <a:spcBef>
                <a:spcPts val="0"/>
              </a:spcBef>
              <a:spcAft>
                <a:spcPts val="1387"/>
              </a:spcAft>
              <a:buFont typeface="Verdana" panose="020B0604030504040204" pitchFamily="34" charset="0"/>
              <a:buChar char="−"/>
              <a:defRPr sz="1664" kern="1200" baseline="0">
                <a:solidFill>
                  <a:schemeClr val="tx1"/>
                </a:solidFill>
                <a:latin typeface="+mn-lt"/>
                <a:ea typeface="+mn-ea"/>
                <a:cs typeface="+mn-cs"/>
              </a:defRPr>
            </a:lvl8pPr>
            <a:lvl9pPr marL="739048" indent="-244685" algn="l" defTabSz="1268366" rtl="0" eaLnBrk="1" latinLnBrk="0" hangingPunct="1">
              <a:spcBef>
                <a:spcPts val="0"/>
              </a:spcBef>
              <a:spcAft>
                <a:spcPts val="1387"/>
              </a:spcAft>
              <a:buFont typeface="Verdana" panose="020B0604030504040204" pitchFamily="34" charset="0"/>
              <a:buChar char="−"/>
              <a:defRPr sz="1664" kern="1200" baseline="0">
                <a:solidFill>
                  <a:schemeClr val="tx1"/>
                </a:solidFill>
                <a:latin typeface="+mn-lt"/>
                <a:ea typeface="+mn-ea"/>
                <a:cs typeface="+mn-cs"/>
              </a:defRPr>
            </a:lvl9pPr>
          </a:lstStyle>
          <a:p>
            <a:pPr marL="0" marR="0" lvl="0" indent="0" algn="ctr" defTabSz="1268366" rtl="0" eaLnBrk="1" fontAlgn="auto" latinLnBrk="0" hangingPunct="1">
              <a:lnSpc>
                <a:spcPct val="100000"/>
              </a:lnSpc>
              <a:spcBef>
                <a:spcPct val="0"/>
              </a:spcBef>
              <a:spcAft>
                <a:spcPct val="0"/>
              </a:spcAft>
              <a:buClrTx/>
              <a:buSzPct val="100000"/>
              <a:buFont typeface="Arial" panose="020B0604020202020204" pitchFamily="34" charset="0"/>
              <a:buNone/>
              <a:tabLst/>
              <a:defRPr/>
            </a:pPr>
            <a:fld id="{A6C0D131-1F68-4334-9CB0-B0D41C51738A}" type="datetime'''FY''''''''''''''''''''''''''''''''''''''''''''''1''''9'''">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0" indent="0" algn="ctr" defTabSz="1268366" rtl="0" eaLnBrk="1" fontAlgn="auto" latinLnBrk="0" hangingPunct="1">
                <a:lnSpc>
                  <a:spcPct val="100000"/>
                </a:lnSpc>
                <a:spcBef>
                  <a:spcPct val="0"/>
                </a:spcBef>
                <a:spcAft>
                  <a:spcPct val="0"/>
                </a:spcAft>
                <a:buClrTx/>
                <a:buSzPct val="100000"/>
                <a:buFont typeface="Arial" panose="020B0604020202020204" pitchFamily="34" charset="0"/>
                <a:buNone/>
                <a:tabLst/>
                <a:defRPr/>
              </a:pPr>
              <a:t>FY19</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79" name="StandardTextbox"/>
          <p:cNvSpPr>
            <a:spLocks noGrp="1"/>
          </p:cNvSpPr>
          <p:nvPr>
            <p:custDataLst>
              <p:tags r:id="rId11"/>
            </p:custDataLst>
          </p:nvPr>
        </p:nvSpPr>
        <p:spPr bwMode="auto">
          <a:xfrm>
            <a:off x="7237413" y="2787650"/>
            <a:ext cx="1303338" cy="193675"/>
          </a:xfrm>
          <a:prstGeom prst="ellipse">
            <a:avLst/>
          </a:prstGeom>
          <a:solidFill>
            <a:srgbClr val="FFFFFF"/>
          </a:solidFill>
          <a:ln w="9525" algn="ctr">
            <a:solidFill>
              <a:schemeClr val="tx1"/>
            </a:solidFill>
          </a:ln>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F646327-AB02-4FA0-ACA8-8EEB5A315408}" type="datetime'''''''+''''1''''''''''3''''.''3%'''''''''''''''''">
              <a:rPr kumimoji="0" lang="en-IN" altLang="en-US" sz="900" b="1"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+13.3%</a:t>
            </a:fld>
            <a:r>
              <a:rPr kumimoji="0" lang="en-IN" altLang="en-US" sz="900" b="1" i="0" u="none" strike="noStrike" kern="1200" cap="none" spc="0" normalizeH="0" baseline="0" noProof="0" dirty="0">
                <a:ln>
                  <a:noFill/>
                </a:ln>
                <a:solidFill>
                  <a:prstClr val="black"/>
                </a:solidFill>
                <a:effectLst/>
                <a:uLnTx/>
                <a:uFillTx/>
                <a:latin typeface="Verdana"/>
                <a:ea typeface="+mn-ea"/>
                <a:cs typeface="+mn-cs"/>
                <a:sym typeface="+mn-lt"/>
              </a:rPr>
              <a:t> CAGR</a:t>
            </a:r>
            <a:endParaRPr kumimoji="0" lang="en-IN" sz="900" b="1"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89" name="Rectangle 88"/>
          <p:cNvSpPr/>
          <p:nvPr>
            <p:custDataLst>
              <p:tags r:id="rId12"/>
            </p:custDataLst>
          </p:nvPr>
        </p:nvSpPr>
        <p:spPr bwMode="auto">
          <a:xfrm>
            <a:off x="6959600" y="4129088"/>
            <a:ext cx="160338" cy="1206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87" name="StandardTextbox"/>
          <p:cNvSpPr>
            <a:spLocks noGrp="1"/>
          </p:cNvSpPr>
          <p:nvPr>
            <p:custDataLst>
              <p:tags r:id="rId13"/>
            </p:custDataLst>
          </p:nvPr>
        </p:nvSpPr>
        <p:spPr bwMode="auto">
          <a:xfrm>
            <a:off x="7170738" y="4125913"/>
            <a:ext cx="139541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F2EE168E-B753-4630-A8DE-6CDE6FBEB91D}" type="datetime'''''''''Pe''ak'''' ''Demand M''''e''''t'' (M''''W'''''''''')'">
              <a:rPr kumimoji="0" lang="en-IN" altLang="en-US" sz="9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Peak Demand Met (MW)</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graphicFrame>
        <p:nvGraphicFramePr>
          <p:cNvPr id="99" name="Table 98"/>
          <p:cNvGraphicFramePr>
            <a:graphicFrameLocks noGrp="1"/>
          </p:cNvGraphicFramePr>
          <p:nvPr>
            <p:custDataLst>
              <p:tags r:id="rId14"/>
            </p:custDataLst>
            <p:extLst>
              <p:ext uri="{D42A27DB-BD31-4B8C-83A1-F6EECF244321}">
                <p14:modId xmlns:p14="http://schemas.microsoft.com/office/powerpoint/2010/main" val="918464153"/>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lgn="just">
                        <a:spcBef>
                          <a:spcPts val="600"/>
                        </a:spcBef>
                        <a:spcAft>
                          <a:spcPts val="600"/>
                        </a:spcAft>
                        <a:buFont typeface="Arial" panose="020B0604020202020204" pitchFamily="34" charset="0"/>
                        <a:buNone/>
                      </a:pPr>
                      <a:r>
                        <a:rPr lang="en-US" sz="1000" b="1" baseline="0" dirty="0">
                          <a:solidFill>
                            <a:schemeClr val="tx1"/>
                          </a:solidFill>
                        </a:rPr>
                        <a:t>Historical Power Demand: </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The country’s high GDP growth has also been complemented by the growth of the power sector which is critical to support the industrial and commercial activity</a:t>
                      </a:r>
                    </a:p>
                    <a:p>
                      <a:pPr marL="171450" indent="-171450" algn="just">
                        <a:spcBef>
                          <a:spcPts val="600"/>
                        </a:spcBef>
                        <a:spcAft>
                          <a:spcPts val="600"/>
                        </a:spcAft>
                        <a:buFont typeface="Arial" panose="020B0604020202020204" pitchFamily="34" charset="0"/>
                        <a:buChar char="•"/>
                      </a:pPr>
                      <a:r>
                        <a:rPr lang="en-US" sz="1000" b="1" i="1" baseline="0" dirty="0">
                          <a:solidFill>
                            <a:schemeClr val="tx1"/>
                          </a:solidFill>
                        </a:rPr>
                        <a:t>The Government of Bangladesh has also set a target for Power for All with 100% electrification by FY2021</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The graph to the right (above) presents the trend for peak power demand met in Bangladesh over the past 5 years, i.e. from FY 2015 to FY 2019. </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It can be seen that the peak power demand met or peak generation has grown at a CAGR of 13.3%.</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The key reasons include higher GDP growth fueling power demand, Government of Bangladesh’s ambitious Power for All Program</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The graph to the right (below) for net electricity generated (MU) retail electricity consumed (MU) and Average Power Demand (MW) in the country also exhibits a similar trend with the latter growing at a CAGR of 11.9% over the past 5 years. </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The </a:t>
                      </a:r>
                      <a:r>
                        <a:rPr lang="en-US" sz="1000" b="1" i="1" baseline="0" dirty="0">
                          <a:solidFill>
                            <a:schemeClr val="tx1"/>
                          </a:solidFill>
                        </a:rPr>
                        <a:t>average T&amp;D Loss has been in the range of ~12-13%</a:t>
                      </a:r>
                      <a:r>
                        <a:rPr lang="en-US" sz="1000" b="0" baseline="0" dirty="0">
                          <a:solidFill>
                            <a:schemeClr val="tx1"/>
                          </a:solidFill>
                        </a:rPr>
                        <a:t> in Bangladesh in the last 5 years.</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70" name="Chart 69"/>
          <p:cNvGraphicFramePr/>
          <p:nvPr>
            <p:custDataLst>
              <p:tags r:id="rId15"/>
            </p:custDataLst>
            <p:extLst>
              <p:ext uri="{D42A27DB-BD31-4B8C-83A1-F6EECF244321}">
                <p14:modId xmlns:p14="http://schemas.microsoft.com/office/powerpoint/2010/main" val="1103242132"/>
              </p:ext>
            </p:extLst>
          </p:nvPr>
        </p:nvGraphicFramePr>
        <p:xfrm>
          <a:off x="5467350" y="4973638"/>
          <a:ext cx="4846638" cy="1563687"/>
        </p:xfrm>
        <a:graphic>
          <a:graphicData uri="http://schemas.openxmlformats.org/drawingml/2006/chart">
            <c:chart xmlns:c="http://schemas.openxmlformats.org/drawingml/2006/chart" xmlns:r="http://schemas.openxmlformats.org/officeDocument/2006/relationships" r:id="rId33"/>
          </a:graphicData>
        </a:graphic>
      </p:graphicFrame>
      <p:cxnSp>
        <p:nvCxnSpPr>
          <p:cNvPr id="256" name="Straight Connector 255"/>
          <p:cNvCxnSpPr/>
          <p:nvPr>
            <p:custDataLst>
              <p:tags r:id="rId16"/>
            </p:custDataLst>
          </p:nvPr>
        </p:nvCxnSpPr>
        <p:spPr bwMode="auto">
          <a:xfrm flipV="1">
            <a:off x="6442075" y="4800601"/>
            <a:ext cx="2897188" cy="441325"/>
          </a:xfrm>
          <a:prstGeom prst="line">
            <a:avLst/>
          </a:prstGeom>
          <a:ln w="6350" cap="flat" cmpd="sng" algn="ctr">
            <a:solidFill>
              <a:schemeClr val="tx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3" name="StandardTextbox"/>
          <p:cNvSpPr>
            <a:spLocks noGrp="1"/>
          </p:cNvSpPr>
          <p:nvPr>
            <p:custDataLst>
              <p:tags r:id="rId17"/>
            </p:custDataLst>
          </p:nvPr>
        </p:nvSpPr>
        <p:spPr bwMode="auto">
          <a:xfrm>
            <a:off x="6296025" y="6523039"/>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0AF0EA1-1DC6-4A5C-BF50-C12D187074AB}" type="datetime'''''''''''''F''Y''''''''''''''''''''''1''''''5'''''''''''''''">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FY15</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90" name="StandardTextbox"/>
          <p:cNvSpPr>
            <a:spLocks noGrp="1"/>
          </p:cNvSpPr>
          <p:nvPr>
            <p:custDataLst>
              <p:tags r:id="rId18"/>
            </p:custDataLst>
          </p:nvPr>
        </p:nvSpPr>
        <p:spPr bwMode="auto">
          <a:xfrm>
            <a:off x="8469313" y="6523039"/>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4FC0FB43-6C66-4F71-B094-348F9A7DD724}" type="datetime'''''F''''''Y''''''''''1''''8'''''''''''">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FY18</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88" name="StandardTextbox"/>
          <p:cNvSpPr>
            <a:spLocks noGrp="1"/>
          </p:cNvSpPr>
          <p:nvPr>
            <p:custDataLst>
              <p:tags r:id="rId19"/>
            </p:custDataLst>
          </p:nvPr>
        </p:nvSpPr>
        <p:spPr bwMode="auto">
          <a:xfrm>
            <a:off x="7743825" y="6523039"/>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0C15782-25E8-417E-8E03-91303DDF27F3}" type="datetime'''''''''''FY''''''''''''17'''''''''''''''''''''''''">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FY17</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86" name="StandardTextbox"/>
          <p:cNvSpPr>
            <a:spLocks noGrp="1"/>
          </p:cNvSpPr>
          <p:nvPr>
            <p:custDataLst>
              <p:tags r:id="rId20"/>
            </p:custDataLst>
          </p:nvPr>
        </p:nvSpPr>
        <p:spPr bwMode="auto">
          <a:xfrm>
            <a:off x="7019925" y="6523039"/>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DC3D08F-132E-4FA6-A0EF-0CB99711E0A8}" type="datetime'''''''''''F''''''''''''Y''1''''''''''''''''''''''''''''''6'''">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FY16</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92" name="StandardTextbox"/>
          <p:cNvSpPr>
            <a:spLocks noGrp="1"/>
          </p:cNvSpPr>
          <p:nvPr>
            <p:custDataLst>
              <p:tags r:id="rId21"/>
            </p:custDataLst>
          </p:nvPr>
        </p:nvSpPr>
        <p:spPr bwMode="auto">
          <a:xfrm>
            <a:off x="9193213" y="6523039"/>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F2731D6-56EA-4C8B-AA80-22CAECFC1D3A}" type="datetime'''''F''''''''''''''''''Y''''''''''''19'''">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FY19</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55" name="StandardTextbox"/>
          <p:cNvSpPr>
            <a:spLocks noGrp="1"/>
          </p:cNvSpPr>
          <p:nvPr>
            <p:custDataLst>
              <p:tags r:id="rId22"/>
            </p:custDataLst>
          </p:nvPr>
        </p:nvSpPr>
        <p:spPr bwMode="auto">
          <a:xfrm>
            <a:off x="7238999" y="4924425"/>
            <a:ext cx="1303338" cy="193675"/>
          </a:xfrm>
          <a:prstGeom prst="ellipse">
            <a:avLst/>
          </a:prstGeom>
          <a:solidFill>
            <a:srgbClr val="FFFFFF"/>
          </a:solidFill>
          <a:ln w="9525" algn="ctr">
            <a:solidFill>
              <a:schemeClr val="tx1"/>
            </a:solidFill>
          </a:ln>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491BDAB-C0AE-409C-8BF8-71C4C058310F}" type="datetime'''''''''''''''''+1''''''''''''1.''''''''''''''''9%'''''''">
              <a:rPr kumimoji="0" lang="en-IN" altLang="en-US" sz="900" b="1"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+11.9%</a:t>
            </a:fld>
            <a:r>
              <a:rPr kumimoji="0" lang="en-IN" altLang="en-US" sz="900" b="1" i="0" u="none" strike="noStrike" kern="1200" cap="none" spc="0" normalizeH="0" baseline="0" noProof="0" dirty="0">
                <a:ln>
                  <a:noFill/>
                </a:ln>
                <a:solidFill>
                  <a:prstClr val="black"/>
                </a:solidFill>
                <a:effectLst/>
                <a:uLnTx/>
                <a:uFillTx/>
                <a:latin typeface="Verdana"/>
                <a:ea typeface="+mn-ea"/>
                <a:cs typeface="+mn-cs"/>
                <a:sym typeface="+mn-lt"/>
              </a:rPr>
              <a:t> CAGR</a:t>
            </a:r>
            <a:endParaRPr kumimoji="0" lang="en-IN" sz="900" b="1" i="0" u="none" strike="noStrike" kern="1200" cap="none" spc="0" normalizeH="0" baseline="0" noProof="0" dirty="0">
              <a:ln>
                <a:noFill/>
              </a:ln>
              <a:solidFill>
                <a:prstClr val="black"/>
              </a:solidFill>
              <a:effectLst/>
              <a:uLnTx/>
              <a:uFillTx/>
              <a:latin typeface="Verdana"/>
              <a:ea typeface="+mn-ea"/>
              <a:cs typeface="+mn-cs"/>
              <a:sym typeface="+mn-lt"/>
            </a:endParaRPr>
          </a:p>
        </p:txBody>
      </p:sp>
      <p:cxnSp>
        <p:nvCxnSpPr>
          <p:cNvPr id="6" name="Straight Connector 5"/>
          <p:cNvCxnSpPr/>
          <p:nvPr>
            <p:custDataLst>
              <p:tags r:id="rId23"/>
            </p:custDataLst>
          </p:nvPr>
        </p:nvCxnSpPr>
        <p:spPr bwMode="gray">
          <a:xfrm>
            <a:off x="6138863" y="7110413"/>
            <a:ext cx="133350" cy="0"/>
          </a:xfrm>
          <a:prstGeom prst="line">
            <a:avLst/>
          </a:prstGeom>
          <a:ln w="19050" cap="rnd" cmpd="sng" algn="ctr">
            <a:solidFill>
              <a:schemeClr val="accent4"/>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custDataLst>
              <p:tags r:id="rId24"/>
            </p:custDataLst>
          </p:nvPr>
        </p:nvCxnSpPr>
        <p:spPr bwMode="gray">
          <a:xfrm>
            <a:off x="6138863" y="6923088"/>
            <a:ext cx="133350" cy="0"/>
          </a:xfrm>
          <a:prstGeom prst="line">
            <a:avLst/>
          </a:prstGeom>
          <a:ln w="19050" cap="rnd" cmpd="sng" algn="ctr">
            <a:solidFill>
              <a:schemeClr val="accent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1" name="Rectangle 170"/>
          <p:cNvSpPr/>
          <p:nvPr>
            <p:custDataLst>
              <p:tags r:id="rId25"/>
            </p:custDataLst>
          </p:nvPr>
        </p:nvSpPr>
        <p:spPr bwMode="auto">
          <a:xfrm>
            <a:off x="8212138" y="6862763"/>
            <a:ext cx="160338" cy="1206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36" name="StandardTextbox"/>
          <p:cNvSpPr>
            <a:spLocks noGrp="1"/>
          </p:cNvSpPr>
          <p:nvPr>
            <p:custDataLst>
              <p:tags r:id="rId26"/>
            </p:custDataLst>
          </p:nvPr>
        </p:nvSpPr>
        <p:spPr bwMode="auto">
          <a:xfrm>
            <a:off x="6337300" y="6859588"/>
            <a:ext cx="17668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882E50DC-D6A5-46D8-9824-5384128246E3}" type="datetime'''N''et'' El''''e''''c''tr''icity'''' Generated'' (''''M''U)'">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Net Electricity Generated (MU)</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8" name="StandardTextbox"/>
          <p:cNvSpPr>
            <a:spLocks noGrp="1"/>
          </p:cNvSpPr>
          <p:nvPr>
            <p:custDataLst>
              <p:tags r:id="rId27"/>
            </p:custDataLst>
          </p:nvPr>
        </p:nvSpPr>
        <p:spPr bwMode="auto">
          <a:xfrm>
            <a:off x="6337300" y="7046913"/>
            <a:ext cx="177323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443BCFEB-4B37-4D7E-809C-A3B21B9B87BA}" type="datetime'N''''''et'' El''''ect''rici''ty'''''' ''Co''''n''''sumed (MU)'">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Net Electricity Consumed (MU)</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61" name="StandardTextbox"/>
          <p:cNvSpPr>
            <a:spLocks noGrp="1"/>
          </p:cNvSpPr>
          <p:nvPr>
            <p:custDataLst>
              <p:tags r:id="rId28"/>
            </p:custDataLst>
          </p:nvPr>
        </p:nvSpPr>
        <p:spPr bwMode="auto">
          <a:xfrm>
            <a:off x="8423275" y="6859588"/>
            <a:ext cx="173355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107FE8C7-B5B4-4950-84DF-1B731E26989E}" type="datetime'''Ave''''r''a''g''e Po''we''''''r ''Dem''a''nd'''''' (MW)'">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Average Power Demand (MW)</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7" name="Rectangle 36"/>
          <p:cNvSpPr/>
          <p:nvPr/>
        </p:nvSpPr>
        <p:spPr bwMode="gray">
          <a:xfrm>
            <a:off x="367167" y="7226733"/>
            <a:ext cx="4179454" cy="258504"/>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a:t>
            </a:r>
            <a:endParaRPr kumimoji="0" lang="en-IN" sz="700" b="0" i="1"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3804798357"/>
      </p:ext>
    </p:extLst>
  </p:cSld>
  <p:clrMapOvr>
    <a:masterClrMapping/>
  </p:clrMapOvr>
  <p:transition>
    <p:fade/>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14475770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0" imgW="530" imgH="531" progId="TCLayout.ActiveDocument.1">
                  <p:embed/>
                </p:oleObj>
              </mc:Choice>
              <mc:Fallback>
                <p:oleObj name="think-cell Slide" r:id="rId10" imgW="530" imgH="531" progId="TCLayout.ActiveDocument.1">
                  <p:embed/>
                  <p:pic>
                    <p:nvPicPr>
                      <p:cNvPr id="3" name="Object 2" hidden="1"/>
                      <p:cNvPicPr/>
                      <p:nvPr/>
                    </p:nvPicPr>
                    <p:blipFill>
                      <a:blip r:embed="rId11"/>
                      <a:stretch>
                        <a:fillRect/>
                      </a:stretch>
                    </p:blipFill>
                    <p:spPr>
                      <a:xfrm>
                        <a:off x="1588" y="1588"/>
                        <a:ext cx="1588" cy="1588"/>
                      </a:xfrm>
                      <a:prstGeom prst="rect">
                        <a:avLst/>
                      </a:prstGeom>
                    </p:spPr>
                  </p:pic>
                </p:oleObj>
              </mc:Fallback>
            </mc:AlternateContent>
          </a:graphicData>
        </a:graphic>
      </p:graphicFrame>
      <p:sp>
        <p:nvSpPr>
          <p:cNvPr id="13" name="Rectangle 1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IN" sz="1000" dirty="0">
              <a:solidFill>
                <a:schemeClr val="bg1"/>
              </a:solidFill>
              <a:sym typeface="+mn-lt"/>
            </a:endParaRPr>
          </a:p>
        </p:txBody>
      </p:sp>
      <p:graphicFrame>
        <p:nvGraphicFramePr>
          <p:cNvPr id="4" name="Table 3"/>
          <p:cNvGraphicFramePr>
            <a:graphicFrameLocks noGrp="1"/>
          </p:cNvGraphicFramePr>
          <p:nvPr>
            <p:custDataLst>
              <p:tags r:id="rId3"/>
            </p:custDataLst>
            <p:extLst>
              <p:ext uri="{D42A27DB-BD31-4B8C-83A1-F6EECF244321}">
                <p14:modId xmlns:p14="http://schemas.microsoft.com/office/powerpoint/2010/main" val="975511669"/>
              </p:ext>
            </p:ext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lvl="0" indent="-171450" algn="just" defTabSz="990571" rtl="0" eaLnBrk="1" latinLnBrk="0" hangingPunct="1">
                        <a:spcBef>
                          <a:spcPts val="60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Following graph shows the Peak Demand Met &amp; Peak Demand in Bangladesh in FY19</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6" name="Table 5"/>
          <p:cNvGraphicFramePr>
            <a:graphicFrameLocks noGrp="1"/>
          </p:cNvGraphicFramePr>
          <p:nvPr>
            <p:custDataLst>
              <p:tags r:id="rId4"/>
            </p:custDataLst>
            <p:extLst>
              <p:ext uri="{D42A27DB-BD31-4B8C-83A1-F6EECF244321}">
                <p14:modId xmlns:p14="http://schemas.microsoft.com/office/powerpoint/2010/main" val="853054258"/>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spcAft>
                          <a:spcPts val="500"/>
                        </a:spcAft>
                        <a:buFont typeface="Arial" panose="020B0604020202020204" pitchFamily="34" charset="0"/>
                        <a:buNone/>
                      </a:pPr>
                      <a:r>
                        <a:rPr lang="en-US" sz="1000" b="1" baseline="0" dirty="0">
                          <a:solidFill>
                            <a:schemeClr val="tx1"/>
                          </a:solidFill>
                        </a:rPr>
                        <a:t>Unmet Power Demand</a:t>
                      </a:r>
                    </a:p>
                    <a:p>
                      <a:pPr marL="171450" indent="-171450" algn="just" defTabSz="990571" rtl="0" eaLnBrk="1" latinLnBrk="0" hangingPunct="1">
                        <a:spcBef>
                          <a:spcPts val="60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Although Bangladesh’s peak generation was 12,893 MW in FY19, PSMP 2016 (revisited study) projected a peak demand of 13,975 MW (base case) in FY19</a:t>
                      </a:r>
                    </a:p>
                    <a:p>
                      <a:pPr marL="171450" indent="-171450" algn="just" defTabSz="990571" rtl="0" eaLnBrk="1" latinLnBrk="0" hangingPunct="1">
                        <a:spcBef>
                          <a:spcPts val="60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The demand projection by PSMP 2016 (RS) was based on demand data collected from </a:t>
                      </a:r>
                      <a:r>
                        <a:rPr lang="en-US" sz="1000" b="0" kern="1200" baseline="0" dirty="0" err="1">
                          <a:solidFill>
                            <a:schemeClr val="tx1"/>
                          </a:solidFill>
                          <a:latin typeface="+mn-lt"/>
                          <a:ea typeface="+mn-ea"/>
                          <a:cs typeface="+mn-cs"/>
                        </a:rPr>
                        <a:t>discoms</a:t>
                      </a:r>
                      <a:r>
                        <a:rPr lang="en-US" sz="1000" b="0" kern="1200" baseline="0" dirty="0">
                          <a:solidFill>
                            <a:schemeClr val="tx1"/>
                          </a:solidFill>
                          <a:latin typeface="+mn-lt"/>
                          <a:ea typeface="+mn-ea"/>
                          <a:cs typeface="+mn-cs"/>
                        </a:rPr>
                        <a:t> in Bangladesh which signifies there is unmet demand in Bangladesh</a:t>
                      </a:r>
                    </a:p>
                    <a:p>
                      <a:pPr marL="171450" indent="-171450" algn="just" defTabSz="990571" rtl="0" eaLnBrk="1" latinLnBrk="0" hangingPunct="1">
                        <a:spcBef>
                          <a:spcPts val="60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The study further projects that in case of higher GDP growth rate the peak demand in FY19 could be ~15,051 MW</a:t>
                      </a:r>
                    </a:p>
                    <a:p>
                      <a:pPr marL="171450" indent="-171450" algn="just" defTabSz="990571" rtl="0" eaLnBrk="1" latinLnBrk="0" hangingPunct="1">
                        <a:spcBef>
                          <a:spcPts val="60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Thus, in terms of overall unmet demand Bangladesh could have ~1,000 MW to ~2,148 MW in FY19</a:t>
                      </a:r>
                    </a:p>
                    <a:p>
                      <a:pPr marL="171450" indent="-171450" algn="just" defTabSz="990571" rtl="0" eaLnBrk="1" latinLnBrk="0" hangingPunct="1">
                        <a:spcBef>
                          <a:spcPts val="60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Many studies and news reports also state that there may be unmet demand in Bangladesh due to frequent load shedding, ageing &amp; inadequate transmission networks leading to demand-supply gap</a:t>
                      </a: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11" name="Title 1"/>
          <p:cNvSpPr>
            <a:spLocks noGrp="1"/>
          </p:cNvSpPr>
          <p:nvPr>
            <p:ph type="title"/>
          </p:nvPr>
        </p:nvSpPr>
        <p:spPr>
          <a:xfrm>
            <a:off x="449264" y="647700"/>
            <a:ext cx="9791700" cy="431800"/>
          </a:xfrm>
        </p:spPr>
        <p:txBody>
          <a:bodyPr/>
          <a:lstStyle/>
          <a:p>
            <a:r>
              <a:rPr lang="en-US" dirty="0"/>
              <a:t>Power Market | Unmet Power Demand</a:t>
            </a:r>
            <a:endParaRPr lang="en-IN" dirty="0"/>
          </a:p>
        </p:txBody>
      </p:sp>
      <p:sp>
        <p:nvSpPr>
          <p:cNvPr id="12"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noProof="0" dirty="0">
                <a:solidFill>
                  <a:prstClr val="black">
                    <a:lumMod val="50000"/>
                    <a:lumOff val="50000"/>
                  </a:prstClr>
                </a:solidFill>
                <a:latin typeface="Verdana" panose="020B0604030504040204" pitchFamily="34" charset="0"/>
              </a:rPr>
              <a:t>As per PSMP 2016 (RS) there may be ~1,000-2,100 MW (between 8%-16%) of unmet power demand in Bangladesh</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22" name="Chart 21"/>
          <p:cNvGraphicFramePr/>
          <p:nvPr>
            <p:custDataLst>
              <p:tags r:id="rId5"/>
            </p:custDataLst>
            <p:extLst>
              <p:ext uri="{D42A27DB-BD31-4B8C-83A1-F6EECF244321}">
                <p14:modId xmlns:p14="http://schemas.microsoft.com/office/powerpoint/2010/main" val="1487531635"/>
              </p:ext>
            </p:extLst>
          </p:nvPr>
        </p:nvGraphicFramePr>
        <p:xfrm>
          <a:off x="5430838" y="2844800"/>
          <a:ext cx="4881562" cy="863600"/>
        </p:xfrm>
        <a:graphic>
          <a:graphicData uri="http://schemas.openxmlformats.org/drawingml/2006/chart">
            <c:chart xmlns:c="http://schemas.openxmlformats.org/drawingml/2006/chart" xmlns:r="http://schemas.openxmlformats.org/officeDocument/2006/relationships" r:id="rId12"/>
          </a:graphicData>
        </a:graphic>
      </p:graphicFrame>
      <p:sp>
        <p:nvSpPr>
          <p:cNvPr id="16" name="StandardTextbox"/>
          <p:cNvSpPr>
            <a:spLocks noGrp="1"/>
          </p:cNvSpPr>
          <p:nvPr>
            <p:custDataLst>
              <p:tags r:id="rId6"/>
            </p:custDataLst>
          </p:nvPr>
        </p:nvSpPr>
        <p:spPr bwMode="auto">
          <a:xfrm>
            <a:off x="5851525" y="3711575"/>
            <a:ext cx="895350"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86DDF60-4C06-4DEF-9D21-ECC879E755E9}" type="datetime'''''Pea''k ''''D''''''ema''nd ''''''''''''''''Met in FY19'''">
              <a:rPr lang="en-IN" altLang="en-US" b="0" smtClean="0"/>
              <a:pPr lvl="1" algn="ctr">
                <a:spcBef>
                  <a:spcPct val="0"/>
                </a:spcBef>
                <a:spcAft>
                  <a:spcPct val="0"/>
                </a:spcAft>
              </a:pPr>
              <a:t>Peak Demand Met in FY19</a:t>
            </a:fld>
            <a:endParaRPr lang="en-IN" b="0" noProof="0" dirty="0">
              <a:sym typeface="+mn-lt"/>
            </a:endParaRPr>
          </a:p>
        </p:txBody>
      </p:sp>
      <p:sp>
        <p:nvSpPr>
          <p:cNvPr id="23" name="StandardTextbox"/>
          <p:cNvSpPr>
            <a:spLocks noGrp="1"/>
          </p:cNvSpPr>
          <p:nvPr>
            <p:custDataLst>
              <p:tags r:id="rId7"/>
            </p:custDataLst>
          </p:nvPr>
        </p:nvSpPr>
        <p:spPr bwMode="auto">
          <a:xfrm>
            <a:off x="7423150" y="3711575"/>
            <a:ext cx="895350"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310E1AB-2C80-40AE-9F47-EB019B1F4C15}" type="datetime'Pe''a''k D''e''m''''a''n''''''d ''(''''B''''a''''''se ''Case)'">
              <a:rPr lang="en-IN" altLang="en-US" b="0" smtClean="0"/>
              <a:pPr lvl="1" algn="ctr">
                <a:spcBef>
                  <a:spcPct val="0"/>
                </a:spcBef>
                <a:spcAft>
                  <a:spcPct val="0"/>
                </a:spcAft>
              </a:pPr>
              <a:t>Peak Demand (Base Case)</a:t>
            </a:fld>
            <a:endParaRPr lang="en-IN" b="0" noProof="0" dirty="0">
              <a:sym typeface="+mn-lt"/>
            </a:endParaRPr>
          </a:p>
        </p:txBody>
      </p:sp>
      <p:sp>
        <p:nvSpPr>
          <p:cNvPr id="25" name="StandardTextbox"/>
          <p:cNvSpPr>
            <a:spLocks noGrp="1"/>
          </p:cNvSpPr>
          <p:nvPr>
            <p:custDataLst>
              <p:tags r:id="rId8"/>
            </p:custDataLst>
          </p:nvPr>
        </p:nvSpPr>
        <p:spPr bwMode="auto">
          <a:xfrm>
            <a:off x="8996363" y="3711575"/>
            <a:ext cx="895350"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04DFC946-1134-4AEF-BE50-7B46AB587BDB}" type="datetime'''P''''eak ''De''ma''n''''''d (H''''''''ig''h'' Case'''''''')'">
              <a:rPr lang="en-IN" altLang="en-US" b="0" smtClean="0"/>
              <a:pPr lvl="1" algn="ctr">
                <a:spcBef>
                  <a:spcPct val="0"/>
                </a:spcBef>
                <a:spcAft>
                  <a:spcPct val="0"/>
                </a:spcAft>
              </a:pPr>
              <a:t>Peak Demand (High Case)</a:t>
            </a:fld>
            <a:endParaRPr lang="en-IN" b="0" noProof="0" dirty="0">
              <a:sym typeface="+mn-lt"/>
            </a:endParaRPr>
          </a:p>
        </p:txBody>
      </p:sp>
      <p:sp>
        <p:nvSpPr>
          <p:cNvPr id="38" name="Rectangle 37"/>
          <p:cNvSpPr/>
          <p:nvPr/>
        </p:nvSpPr>
        <p:spPr bwMode="gray">
          <a:xfrm>
            <a:off x="7543800" y="2470152"/>
            <a:ext cx="654050" cy="320675"/>
          </a:xfrm>
          <a:prstGeom prst="rect">
            <a:avLst/>
          </a:prstGeom>
          <a:noFill/>
          <a:ln w="19050" algn="ctr">
            <a:solidFill>
              <a:schemeClr val="accent5"/>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100" b="1" dirty="0"/>
              <a:t>(8%)</a:t>
            </a:r>
            <a:endParaRPr lang="en-IN" sz="1100" b="1" dirty="0"/>
          </a:p>
        </p:txBody>
      </p:sp>
      <p:sp>
        <p:nvSpPr>
          <p:cNvPr id="39" name="Rectangle 38"/>
          <p:cNvSpPr/>
          <p:nvPr/>
        </p:nvSpPr>
        <p:spPr bwMode="gray">
          <a:xfrm>
            <a:off x="9117013" y="2476502"/>
            <a:ext cx="654050" cy="319088"/>
          </a:xfrm>
          <a:prstGeom prst="rect">
            <a:avLst/>
          </a:prstGeom>
          <a:noFill/>
          <a:ln w="19050" algn="ctr">
            <a:solidFill>
              <a:schemeClr val="accent5"/>
            </a:solidFill>
            <a:miter lim="800000"/>
            <a:headEnd/>
            <a:tailEnd/>
          </a:ln>
        </p:spPr>
        <p:txBody>
          <a:bodyPr wrap="square" lIns="36000" tIns="88900" rIns="36000" bIns="88900" rtlCol="0" anchor="ctr"/>
          <a:lstStyle/>
          <a:p>
            <a:pPr algn="ctr">
              <a:lnSpc>
                <a:spcPct val="106000"/>
              </a:lnSpc>
              <a:buFont typeface="Wingdings 2" pitchFamily="18" charset="2"/>
              <a:buNone/>
            </a:pPr>
            <a:r>
              <a:rPr lang="en-US" sz="1100" b="1" dirty="0"/>
              <a:t>(16%)</a:t>
            </a:r>
            <a:endParaRPr lang="en-IN" sz="1100" b="1" dirty="0"/>
          </a:p>
        </p:txBody>
      </p:sp>
      <p:grpSp>
        <p:nvGrpSpPr>
          <p:cNvPr id="46" name="Group 45"/>
          <p:cNvGrpSpPr/>
          <p:nvPr/>
        </p:nvGrpSpPr>
        <p:grpSpPr>
          <a:xfrm>
            <a:off x="7212806" y="4077236"/>
            <a:ext cx="1316038" cy="158750"/>
            <a:chOff x="6310313" y="5020000"/>
            <a:chExt cx="1317307" cy="160020"/>
          </a:xfrm>
        </p:grpSpPr>
        <p:sp>
          <p:nvSpPr>
            <p:cNvPr id="44" name="Rectangle 43"/>
            <p:cNvSpPr/>
            <p:nvPr/>
          </p:nvSpPr>
          <p:spPr bwMode="gray">
            <a:xfrm>
              <a:off x="6310313" y="5020000"/>
              <a:ext cx="212407" cy="160020"/>
            </a:xfrm>
            <a:prstGeom prst="rect">
              <a:avLst/>
            </a:prstGeom>
            <a:noFill/>
            <a:ln w="19050" algn="ctr">
              <a:solidFill>
                <a:schemeClr val="accent5"/>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100" b="1" dirty="0"/>
            </a:p>
          </p:txBody>
        </p:sp>
        <p:sp>
          <p:nvSpPr>
            <p:cNvPr id="45" name="Rectangle 44"/>
            <p:cNvSpPr/>
            <p:nvPr/>
          </p:nvSpPr>
          <p:spPr bwMode="gray">
            <a:xfrm>
              <a:off x="6626860" y="5020000"/>
              <a:ext cx="1000760" cy="160020"/>
            </a:xfrm>
            <a:prstGeom prst="rect">
              <a:avLst/>
            </a:prstGeom>
            <a:noFill/>
            <a:ln w="19050" algn="ctr">
              <a:noFill/>
              <a:miter lim="800000"/>
              <a:headEnd/>
              <a:tailEnd/>
            </a:ln>
          </p:spPr>
          <p:txBody>
            <a:bodyPr wrap="square" lIns="88900" tIns="88900" rIns="88900" bIns="88900" rtlCol="0" anchor="ctr"/>
            <a:lstStyle/>
            <a:p>
              <a:pPr>
                <a:lnSpc>
                  <a:spcPct val="106000"/>
                </a:lnSpc>
                <a:buFont typeface="Wingdings 2" pitchFamily="18" charset="2"/>
                <a:buNone/>
              </a:pPr>
              <a:r>
                <a:rPr lang="en-US" sz="800" dirty="0"/>
                <a:t>Unmet Demand</a:t>
              </a:r>
              <a:endParaRPr lang="en-IN" sz="800" dirty="0"/>
            </a:p>
          </p:txBody>
        </p:sp>
      </p:grpSp>
      <p:sp>
        <p:nvSpPr>
          <p:cNvPr id="52" name="Freeform 3"/>
          <p:cNvSpPr>
            <a:spLocks/>
          </p:cNvSpPr>
          <p:nvPr/>
        </p:nvSpPr>
        <p:spPr bwMode="gray">
          <a:xfrm>
            <a:off x="380137" y="5113020"/>
            <a:ext cx="4735625" cy="2026920"/>
          </a:xfrm>
          <a:custGeom>
            <a:avLst/>
            <a:gdLst/>
            <a:ahLst/>
            <a:cxnLst>
              <a:cxn ang="0">
                <a:pos x="222" y="20"/>
              </a:cxn>
              <a:cxn ang="0">
                <a:pos x="476" y="6"/>
              </a:cxn>
              <a:cxn ang="0">
                <a:pos x="671" y="35"/>
              </a:cxn>
              <a:cxn ang="0">
                <a:pos x="901" y="27"/>
              </a:cxn>
              <a:cxn ang="0">
                <a:pos x="1105" y="7"/>
              </a:cxn>
              <a:cxn ang="0">
                <a:pos x="1351" y="13"/>
              </a:cxn>
              <a:cxn ang="0">
                <a:pos x="1750" y="16"/>
              </a:cxn>
              <a:cxn ang="0">
                <a:pos x="1962" y="33"/>
              </a:cxn>
              <a:cxn ang="0">
                <a:pos x="2433" y="23"/>
              </a:cxn>
              <a:cxn ang="0">
                <a:pos x="2648" y="30"/>
              </a:cxn>
              <a:cxn ang="0">
                <a:pos x="3022" y="30"/>
              </a:cxn>
              <a:cxn ang="0">
                <a:pos x="3305" y="38"/>
              </a:cxn>
              <a:cxn ang="0">
                <a:pos x="3683" y="43"/>
              </a:cxn>
              <a:cxn ang="0">
                <a:pos x="3921" y="44"/>
              </a:cxn>
              <a:cxn ang="0">
                <a:pos x="4152" y="45"/>
              </a:cxn>
              <a:cxn ang="0">
                <a:pos x="4193" y="98"/>
              </a:cxn>
              <a:cxn ang="0">
                <a:pos x="4229" y="146"/>
              </a:cxn>
              <a:cxn ang="0">
                <a:pos x="4183" y="224"/>
              </a:cxn>
              <a:cxn ang="0">
                <a:pos x="4218" y="282"/>
              </a:cxn>
              <a:cxn ang="0">
                <a:pos x="4286" y="348"/>
              </a:cxn>
              <a:cxn ang="0">
                <a:pos x="4353" y="404"/>
              </a:cxn>
              <a:cxn ang="0">
                <a:pos x="4419" y="474"/>
              </a:cxn>
              <a:cxn ang="0">
                <a:pos x="4413" y="546"/>
              </a:cxn>
              <a:cxn ang="0">
                <a:pos x="4443" y="645"/>
              </a:cxn>
              <a:cxn ang="0">
                <a:pos x="4461" y="711"/>
              </a:cxn>
              <a:cxn ang="0">
                <a:pos x="4462" y="811"/>
              </a:cxn>
              <a:cxn ang="0">
                <a:pos x="4483" y="869"/>
              </a:cxn>
              <a:cxn ang="0">
                <a:pos x="4526" y="953"/>
              </a:cxn>
              <a:cxn ang="0">
                <a:pos x="4448" y="999"/>
              </a:cxn>
              <a:cxn ang="0">
                <a:pos x="4203" y="989"/>
              </a:cxn>
              <a:cxn ang="0">
                <a:pos x="3829" y="970"/>
              </a:cxn>
              <a:cxn ang="0">
                <a:pos x="3619" y="991"/>
              </a:cxn>
              <a:cxn ang="0">
                <a:pos x="3434" y="1006"/>
              </a:cxn>
              <a:cxn ang="0">
                <a:pos x="3180" y="1017"/>
              </a:cxn>
              <a:cxn ang="0">
                <a:pos x="2821" y="994"/>
              </a:cxn>
              <a:cxn ang="0">
                <a:pos x="2467" y="999"/>
              </a:cxn>
              <a:cxn ang="0">
                <a:pos x="2091" y="994"/>
              </a:cxn>
              <a:cxn ang="0">
                <a:pos x="1782" y="991"/>
              </a:cxn>
              <a:cxn ang="0">
                <a:pos x="1496" y="977"/>
              </a:cxn>
              <a:cxn ang="0">
                <a:pos x="1284" y="965"/>
              </a:cxn>
              <a:cxn ang="0">
                <a:pos x="907" y="976"/>
              </a:cxn>
              <a:cxn ang="0">
                <a:pos x="483" y="966"/>
              </a:cxn>
              <a:cxn ang="0">
                <a:pos x="297" y="969"/>
              </a:cxn>
              <a:cxn ang="0">
                <a:pos x="285" y="922"/>
              </a:cxn>
              <a:cxn ang="0">
                <a:pos x="364" y="872"/>
              </a:cxn>
              <a:cxn ang="0">
                <a:pos x="324" y="814"/>
              </a:cxn>
              <a:cxn ang="0">
                <a:pos x="286" y="763"/>
              </a:cxn>
              <a:cxn ang="0">
                <a:pos x="289" y="701"/>
              </a:cxn>
              <a:cxn ang="0">
                <a:pos x="103" y="623"/>
              </a:cxn>
              <a:cxn ang="0">
                <a:pos x="158" y="566"/>
              </a:cxn>
              <a:cxn ang="0">
                <a:pos x="116" y="496"/>
              </a:cxn>
              <a:cxn ang="0">
                <a:pos x="74" y="435"/>
              </a:cxn>
              <a:cxn ang="0">
                <a:pos x="100" y="365"/>
              </a:cxn>
              <a:cxn ang="0">
                <a:pos x="87" y="306"/>
              </a:cxn>
              <a:cxn ang="0">
                <a:pos x="13" y="221"/>
              </a:cxn>
              <a:cxn ang="0">
                <a:pos x="21" y="159"/>
              </a:cxn>
              <a:cxn ang="0">
                <a:pos x="0" y="98"/>
              </a:cxn>
              <a:cxn ang="0">
                <a:pos x="28" y="35"/>
              </a:cxn>
            </a:cxnLst>
            <a:rect l="0" t="0" r="r" b="b"/>
            <a:pathLst>
              <a:path w="4537" h="1018">
                <a:moveTo>
                  <a:pt x="71" y="0"/>
                </a:moveTo>
                <a:lnTo>
                  <a:pt x="147" y="13"/>
                </a:lnTo>
                <a:lnTo>
                  <a:pt x="222" y="20"/>
                </a:lnTo>
                <a:lnTo>
                  <a:pt x="315" y="17"/>
                </a:lnTo>
                <a:lnTo>
                  <a:pt x="380" y="6"/>
                </a:lnTo>
                <a:lnTo>
                  <a:pt x="476" y="6"/>
                </a:lnTo>
                <a:lnTo>
                  <a:pt x="547" y="11"/>
                </a:lnTo>
                <a:lnTo>
                  <a:pt x="597" y="30"/>
                </a:lnTo>
                <a:lnTo>
                  <a:pt x="671" y="35"/>
                </a:lnTo>
                <a:lnTo>
                  <a:pt x="760" y="31"/>
                </a:lnTo>
                <a:lnTo>
                  <a:pt x="830" y="26"/>
                </a:lnTo>
                <a:lnTo>
                  <a:pt x="901" y="27"/>
                </a:lnTo>
                <a:lnTo>
                  <a:pt x="996" y="21"/>
                </a:lnTo>
                <a:lnTo>
                  <a:pt x="1034" y="4"/>
                </a:lnTo>
                <a:lnTo>
                  <a:pt x="1105" y="7"/>
                </a:lnTo>
                <a:lnTo>
                  <a:pt x="1203" y="7"/>
                </a:lnTo>
                <a:lnTo>
                  <a:pt x="1274" y="6"/>
                </a:lnTo>
                <a:lnTo>
                  <a:pt x="1351" y="13"/>
                </a:lnTo>
                <a:lnTo>
                  <a:pt x="1511" y="14"/>
                </a:lnTo>
                <a:lnTo>
                  <a:pt x="1651" y="16"/>
                </a:lnTo>
                <a:lnTo>
                  <a:pt x="1750" y="16"/>
                </a:lnTo>
                <a:lnTo>
                  <a:pt x="1818" y="16"/>
                </a:lnTo>
                <a:lnTo>
                  <a:pt x="1891" y="31"/>
                </a:lnTo>
                <a:lnTo>
                  <a:pt x="1962" y="33"/>
                </a:lnTo>
                <a:lnTo>
                  <a:pt x="2103" y="31"/>
                </a:lnTo>
                <a:lnTo>
                  <a:pt x="2242" y="27"/>
                </a:lnTo>
                <a:lnTo>
                  <a:pt x="2433" y="23"/>
                </a:lnTo>
                <a:lnTo>
                  <a:pt x="2503" y="18"/>
                </a:lnTo>
                <a:lnTo>
                  <a:pt x="2574" y="20"/>
                </a:lnTo>
                <a:lnTo>
                  <a:pt x="2648" y="30"/>
                </a:lnTo>
                <a:lnTo>
                  <a:pt x="2740" y="37"/>
                </a:lnTo>
                <a:lnTo>
                  <a:pt x="2878" y="33"/>
                </a:lnTo>
                <a:lnTo>
                  <a:pt x="3022" y="30"/>
                </a:lnTo>
                <a:lnTo>
                  <a:pt x="3160" y="26"/>
                </a:lnTo>
                <a:lnTo>
                  <a:pt x="3231" y="26"/>
                </a:lnTo>
                <a:lnTo>
                  <a:pt x="3305" y="38"/>
                </a:lnTo>
                <a:lnTo>
                  <a:pt x="3403" y="47"/>
                </a:lnTo>
                <a:lnTo>
                  <a:pt x="3594" y="45"/>
                </a:lnTo>
                <a:lnTo>
                  <a:pt x="3683" y="43"/>
                </a:lnTo>
                <a:lnTo>
                  <a:pt x="3752" y="41"/>
                </a:lnTo>
                <a:lnTo>
                  <a:pt x="3847" y="44"/>
                </a:lnTo>
                <a:lnTo>
                  <a:pt x="3921" y="44"/>
                </a:lnTo>
                <a:lnTo>
                  <a:pt x="3989" y="40"/>
                </a:lnTo>
                <a:lnTo>
                  <a:pt x="4084" y="40"/>
                </a:lnTo>
                <a:lnTo>
                  <a:pt x="4152" y="45"/>
                </a:lnTo>
                <a:lnTo>
                  <a:pt x="4204" y="64"/>
                </a:lnTo>
                <a:lnTo>
                  <a:pt x="4215" y="79"/>
                </a:lnTo>
                <a:lnTo>
                  <a:pt x="4193" y="98"/>
                </a:lnTo>
                <a:lnTo>
                  <a:pt x="4173" y="115"/>
                </a:lnTo>
                <a:lnTo>
                  <a:pt x="4198" y="130"/>
                </a:lnTo>
                <a:lnTo>
                  <a:pt x="4229" y="146"/>
                </a:lnTo>
                <a:lnTo>
                  <a:pt x="4211" y="163"/>
                </a:lnTo>
                <a:lnTo>
                  <a:pt x="4173" y="209"/>
                </a:lnTo>
                <a:lnTo>
                  <a:pt x="4183" y="224"/>
                </a:lnTo>
                <a:lnTo>
                  <a:pt x="4210" y="241"/>
                </a:lnTo>
                <a:lnTo>
                  <a:pt x="4214" y="258"/>
                </a:lnTo>
                <a:lnTo>
                  <a:pt x="4218" y="282"/>
                </a:lnTo>
                <a:lnTo>
                  <a:pt x="4232" y="315"/>
                </a:lnTo>
                <a:lnTo>
                  <a:pt x="4235" y="333"/>
                </a:lnTo>
                <a:lnTo>
                  <a:pt x="4286" y="348"/>
                </a:lnTo>
                <a:lnTo>
                  <a:pt x="4342" y="365"/>
                </a:lnTo>
                <a:lnTo>
                  <a:pt x="4348" y="389"/>
                </a:lnTo>
                <a:lnTo>
                  <a:pt x="4353" y="404"/>
                </a:lnTo>
                <a:lnTo>
                  <a:pt x="4335" y="428"/>
                </a:lnTo>
                <a:lnTo>
                  <a:pt x="4339" y="451"/>
                </a:lnTo>
                <a:lnTo>
                  <a:pt x="4419" y="474"/>
                </a:lnTo>
                <a:lnTo>
                  <a:pt x="4452" y="509"/>
                </a:lnTo>
                <a:lnTo>
                  <a:pt x="4433" y="532"/>
                </a:lnTo>
                <a:lnTo>
                  <a:pt x="4413" y="546"/>
                </a:lnTo>
                <a:lnTo>
                  <a:pt x="4395" y="565"/>
                </a:lnTo>
                <a:lnTo>
                  <a:pt x="4431" y="608"/>
                </a:lnTo>
                <a:lnTo>
                  <a:pt x="4443" y="645"/>
                </a:lnTo>
                <a:lnTo>
                  <a:pt x="4447" y="660"/>
                </a:lnTo>
                <a:lnTo>
                  <a:pt x="4456" y="694"/>
                </a:lnTo>
                <a:lnTo>
                  <a:pt x="4461" y="711"/>
                </a:lnTo>
                <a:lnTo>
                  <a:pt x="4473" y="756"/>
                </a:lnTo>
                <a:lnTo>
                  <a:pt x="4452" y="772"/>
                </a:lnTo>
                <a:lnTo>
                  <a:pt x="4462" y="811"/>
                </a:lnTo>
                <a:lnTo>
                  <a:pt x="4472" y="828"/>
                </a:lnTo>
                <a:lnTo>
                  <a:pt x="4498" y="851"/>
                </a:lnTo>
                <a:lnTo>
                  <a:pt x="4483" y="869"/>
                </a:lnTo>
                <a:lnTo>
                  <a:pt x="4487" y="885"/>
                </a:lnTo>
                <a:lnTo>
                  <a:pt x="4494" y="908"/>
                </a:lnTo>
                <a:lnTo>
                  <a:pt x="4526" y="953"/>
                </a:lnTo>
                <a:lnTo>
                  <a:pt x="4536" y="976"/>
                </a:lnTo>
                <a:lnTo>
                  <a:pt x="4519" y="991"/>
                </a:lnTo>
                <a:lnTo>
                  <a:pt x="4448" y="999"/>
                </a:lnTo>
                <a:lnTo>
                  <a:pt x="4380" y="1013"/>
                </a:lnTo>
                <a:lnTo>
                  <a:pt x="4279" y="1001"/>
                </a:lnTo>
                <a:lnTo>
                  <a:pt x="4203" y="989"/>
                </a:lnTo>
                <a:lnTo>
                  <a:pt x="4062" y="979"/>
                </a:lnTo>
                <a:lnTo>
                  <a:pt x="3990" y="972"/>
                </a:lnTo>
                <a:lnTo>
                  <a:pt x="3829" y="970"/>
                </a:lnTo>
                <a:lnTo>
                  <a:pt x="3762" y="974"/>
                </a:lnTo>
                <a:lnTo>
                  <a:pt x="3690" y="984"/>
                </a:lnTo>
                <a:lnTo>
                  <a:pt x="3619" y="991"/>
                </a:lnTo>
                <a:lnTo>
                  <a:pt x="3577" y="1006"/>
                </a:lnTo>
                <a:lnTo>
                  <a:pt x="3508" y="1013"/>
                </a:lnTo>
                <a:lnTo>
                  <a:pt x="3434" y="1006"/>
                </a:lnTo>
                <a:lnTo>
                  <a:pt x="3365" y="999"/>
                </a:lnTo>
                <a:lnTo>
                  <a:pt x="3266" y="1004"/>
                </a:lnTo>
                <a:lnTo>
                  <a:pt x="3180" y="1017"/>
                </a:lnTo>
                <a:lnTo>
                  <a:pt x="3109" y="1014"/>
                </a:lnTo>
                <a:lnTo>
                  <a:pt x="3010" y="1008"/>
                </a:lnTo>
                <a:lnTo>
                  <a:pt x="2821" y="994"/>
                </a:lnTo>
                <a:lnTo>
                  <a:pt x="2630" y="991"/>
                </a:lnTo>
                <a:lnTo>
                  <a:pt x="2562" y="991"/>
                </a:lnTo>
                <a:lnTo>
                  <a:pt x="2467" y="999"/>
                </a:lnTo>
                <a:lnTo>
                  <a:pt x="2299" y="996"/>
                </a:lnTo>
                <a:lnTo>
                  <a:pt x="2160" y="994"/>
                </a:lnTo>
                <a:lnTo>
                  <a:pt x="2091" y="994"/>
                </a:lnTo>
                <a:lnTo>
                  <a:pt x="1949" y="991"/>
                </a:lnTo>
                <a:lnTo>
                  <a:pt x="1853" y="993"/>
                </a:lnTo>
                <a:lnTo>
                  <a:pt x="1782" y="991"/>
                </a:lnTo>
                <a:lnTo>
                  <a:pt x="1642" y="990"/>
                </a:lnTo>
                <a:lnTo>
                  <a:pt x="1570" y="979"/>
                </a:lnTo>
                <a:lnTo>
                  <a:pt x="1496" y="977"/>
                </a:lnTo>
                <a:lnTo>
                  <a:pt x="1432" y="987"/>
                </a:lnTo>
                <a:lnTo>
                  <a:pt x="1334" y="984"/>
                </a:lnTo>
                <a:lnTo>
                  <a:pt x="1284" y="965"/>
                </a:lnTo>
                <a:lnTo>
                  <a:pt x="1214" y="974"/>
                </a:lnTo>
                <a:lnTo>
                  <a:pt x="1051" y="976"/>
                </a:lnTo>
                <a:lnTo>
                  <a:pt x="907" y="976"/>
                </a:lnTo>
                <a:lnTo>
                  <a:pt x="770" y="982"/>
                </a:lnTo>
                <a:lnTo>
                  <a:pt x="679" y="973"/>
                </a:lnTo>
                <a:lnTo>
                  <a:pt x="483" y="966"/>
                </a:lnTo>
                <a:lnTo>
                  <a:pt x="414" y="970"/>
                </a:lnTo>
                <a:lnTo>
                  <a:pt x="350" y="987"/>
                </a:lnTo>
                <a:lnTo>
                  <a:pt x="297" y="969"/>
                </a:lnTo>
                <a:lnTo>
                  <a:pt x="268" y="953"/>
                </a:lnTo>
                <a:lnTo>
                  <a:pt x="262" y="938"/>
                </a:lnTo>
                <a:lnTo>
                  <a:pt x="285" y="922"/>
                </a:lnTo>
                <a:lnTo>
                  <a:pt x="349" y="904"/>
                </a:lnTo>
                <a:lnTo>
                  <a:pt x="368" y="888"/>
                </a:lnTo>
                <a:lnTo>
                  <a:pt x="364" y="872"/>
                </a:lnTo>
                <a:lnTo>
                  <a:pt x="335" y="854"/>
                </a:lnTo>
                <a:lnTo>
                  <a:pt x="332" y="831"/>
                </a:lnTo>
                <a:lnTo>
                  <a:pt x="324" y="814"/>
                </a:lnTo>
                <a:lnTo>
                  <a:pt x="320" y="799"/>
                </a:lnTo>
                <a:lnTo>
                  <a:pt x="314" y="780"/>
                </a:lnTo>
                <a:lnTo>
                  <a:pt x="286" y="763"/>
                </a:lnTo>
                <a:lnTo>
                  <a:pt x="280" y="739"/>
                </a:lnTo>
                <a:lnTo>
                  <a:pt x="299" y="725"/>
                </a:lnTo>
                <a:lnTo>
                  <a:pt x="289" y="701"/>
                </a:lnTo>
                <a:lnTo>
                  <a:pt x="135" y="657"/>
                </a:lnTo>
                <a:lnTo>
                  <a:pt x="112" y="641"/>
                </a:lnTo>
                <a:lnTo>
                  <a:pt x="103" y="623"/>
                </a:lnTo>
                <a:lnTo>
                  <a:pt x="123" y="606"/>
                </a:lnTo>
                <a:lnTo>
                  <a:pt x="165" y="587"/>
                </a:lnTo>
                <a:lnTo>
                  <a:pt x="158" y="566"/>
                </a:lnTo>
                <a:lnTo>
                  <a:pt x="149" y="543"/>
                </a:lnTo>
                <a:lnTo>
                  <a:pt x="144" y="522"/>
                </a:lnTo>
                <a:lnTo>
                  <a:pt x="116" y="496"/>
                </a:lnTo>
                <a:lnTo>
                  <a:pt x="109" y="477"/>
                </a:lnTo>
                <a:lnTo>
                  <a:pt x="78" y="452"/>
                </a:lnTo>
                <a:lnTo>
                  <a:pt x="74" y="435"/>
                </a:lnTo>
                <a:lnTo>
                  <a:pt x="85" y="396"/>
                </a:lnTo>
                <a:lnTo>
                  <a:pt x="106" y="380"/>
                </a:lnTo>
                <a:lnTo>
                  <a:pt x="100" y="365"/>
                </a:lnTo>
                <a:lnTo>
                  <a:pt x="98" y="345"/>
                </a:lnTo>
                <a:lnTo>
                  <a:pt x="93" y="328"/>
                </a:lnTo>
                <a:lnTo>
                  <a:pt x="87" y="306"/>
                </a:lnTo>
                <a:lnTo>
                  <a:pt x="47" y="261"/>
                </a:lnTo>
                <a:lnTo>
                  <a:pt x="20" y="238"/>
                </a:lnTo>
                <a:lnTo>
                  <a:pt x="13" y="221"/>
                </a:lnTo>
                <a:lnTo>
                  <a:pt x="8" y="199"/>
                </a:lnTo>
                <a:lnTo>
                  <a:pt x="32" y="182"/>
                </a:lnTo>
                <a:lnTo>
                  <a:pt x="21" y="159"/>
                </a:lnTo>
                <a:lnTo>
                  <a:pt x="10" y="136"/>
                </a:lnTo>
                <a:lnTo>
                  <a:pt x="10" y="122"/>
                </a:lnTo>
                <a:lnTo>
                  <a:pt x="0" y="98"/>
                </a:lnTo>
                <a:lnTo>
                  <a:pt x="22" y="77"/>
                </a:lnTo>
                <a:lnTo>
                  <a:pt x="15" y="58"/>
                </a:lnTo>
                <a:lnTo>
                  <a:pt x="28" y="35"/>
                </a:lnTo>
                <a:lnTo>
                  <a:pt x="7" y="17"/>
                </a:lnTo>
                <a:lnTo>
                  <a:pt x="71" y="0"/>
                </a:lnTo>
              </a:path>
            </a:pathLst>
          </a:custGeom>
          <a:gradFill flip="none" rotWithShape="1">
            <a:gsLst>
              <a:gs pos="75000">
                <a:srgbClr val="FFDB69">
                  <a:tint val="66000"/>
                  <a:satMod val="160000"/>
                  <a:alpha val="58000"/>
                </a:srgbClr>
              </a:gs>
              <a:gs pos="61000">
                <a:srgbClr val="FFDB69">
                  <a:tint val="44500"/>
                  <a:satMod val="160000"/>
                  <a:alpha val="73000"/>
                </a:srgbClr>
              </a:gs>
              <a:gs pos="100000">
                <a:srgbClr val="FFDB69">
                  <a:tint val="23500"/>
                  <a:satMod val="160000"/>
                  <a:alpha val="80000"/>
                </a:srgbClr>
              </a:gs>
            </a:gsLst>
            <a:lin ang="0" scaled="1"/>
            <a:tileRect/>
          </a:gradFill>
          <a:ln w="9525" cap="rnd" cmpd="sng">
            <a:noFill/>
            <a:prstDash val="solid"/>
            <a:round/>
            <a:headEnd type="none" w="med" len="med"/>
            <a:tailEnd type="none" w="med" len="med"/>
          </a:ln>
          <a:effectLst>
            <a:outerShdw blurRad="50800" dist="38100" dir="2700000" algn="tl" rotWithShape="0">
              <a:prstClr val="black">
                <a:alpha val="40000"/>
              </a:prstClr>
            </a:outerShdw>
          </a:effectLst>
        </p:spPr>
        <p:txBody>
          <a:bodyPr lIns="360000" tIns="72000" rIns="324000" bIns="72000" anchor="ctr"/>
          <a:lstStyle/>
          <a:p>
            <a:pPr marL="171450" lvl="0" indent="-171450">
              <a:lnSpc>
                <a:spcPct val="114000"/>
              </a:lnSpc>
              <a:spcAft>
                <a:spcPts val="600"/>
              </a:spcAft>
              <a:buFont typeface="Arial" panose="020B0604020202020204" pitchFamily="34" charset="0"/>
              <a:buChar char="•"/>
              <a:defRPr/>
            </a:pPr>
            <a:r>
              <a:rPr lang="en-US" sz="900" dirty="0">
                <a:solidFill>
                  <a:prstClr val="black"/>
                </a:solidFill>
              </a:rPr>
              <a:t>Bangladesh’s robust economic growth has underpinned a surge in demand for electricity, which is still currently underserved by Bangladesh’s existing power infrastructure.</a:t>
            </a:r>
          </a:p>
          <a:p>
            <a:pPr marL="171450" lvl="0" indent="-171450">
              <a:lnSpc>
                <a:spcPct val="114000"/>
              </a:lnSpc>
              <a:spcAft>
                <a:spcPts val="600"/>
              </a:spcAft>
              <a:buFont typeface="Arial" panose="020B0604020202020204" pitchFamily="34" charset="0"/>
              <a:buChar char="•"/>
              <a:defRPr/>
            </a:pPr>
            <a:r>
              <a:rPr lang="en-US" sz="900" dirty="0">
                <a:solidFill>
                  <a:prstClr val="black"/>
                </a:solidFill>
              </a:rPr>
              <a:t>In addition, Gas shortages and the unreliability of some power plants due to plant age or inefficiencies have resulted in actual dependable generation capacity being 2 to 4 GW lower than the estimated 13.7 GW that is registered.</a:t>
            </a:r>
          </a:p>
          <a:p>
            <a:pPr lvl="0" algn="r">
              <a:lnSpc>
                <a:spcPct val="114000"/>
              </a:lnSpc>
              <a:spcAft>
                <a:spcPts val="600"/>
              </a:spcAft>
              <a:defRPr/>
            </a:pPr>
            <a:r>
              <a:rPr lang="en-US" sz="900" b="1" dirty="0">
                <a:solidFill>
                  <a:prstClr val="black"/>
                </a:solidFill>
                <a:latin typeface="Verdana"/>
              </a:rPr>
              <a:t>-  WoodMac, 2018</a:t>
            </a:r>
          </a:p>
        </p:txBody>
      </p:sp>
      <p:sp>
        <p:nvSpPr>
          <p:cNvPr id="53" name="Freeform 3"/>
          <p:cNvSpPr>
            <a:spLocks/>
          </p:cNvSpPr>
          <p:nvPr/>
        </p:nvSpPr>
        <p:spPr bwMode="gray">
          <a:xfrm>
            <a:off x="5430838" y="4317781"/>
            <a:ext cx="4735625" cy="1590477"/>
          </a:xfrm>
          <a:custGeom>
            <a:avLst/>
            <a:gdLst/>
            <a:ahLst/>
            <a:cxnLst>
              <a:cxn ang="0">
                <a:pos x="222" y="20"/>
              </a:cxn>
              <a:cxn ang="0">
                <a:pos x="476" y="6"/>
              </a:cxn>
              <a:cxn ang="0">
                <a:pos x="671" y="35"/>
              </a:cxn>
              <a:cxn ang="0">
                <a:pos x="901" y="27"/>
              </a:cxn>
              <a:cxn ang="0">
                <a:pos x="1105" y="7"/>
              </a:cxn>
              <a:cxn ang="0">
                <a:pos x="1351" y="13"/>
              </a:cxn>
              <a:cxn ang="0">
                <a:pos x="1750" y="16"/>
              </a:cxn>
              <a:cxn ang="0">
                <a:pos x="1962" y="33"/>
              </a:cxn>
              <a:cxn ang="0">
                <a:pos x="2433" y="23"/>
              </a:cxn>
              <a:cxn ang="0">
                <a:pos x="2648" y="30"/>
              </a:cxn>
              <a:cxn ang="0">
                <a:pos x="3022" y="30"/>
              </a:cxn>
              <a:cxn ang="0">
                <a:pos x="3305" y="38"/>
              </a:cxn>
              <a:cxn ang="0">
                <a:pos x="3683" y="43"/>
              </a:cxn>
              <a:cxn ang="0">
                <a:pos x="3921" y="44"/>
              </a:cxn>
              <a:cxn ang="0">
                <a:pos x="4152" y="45"/>
              </a:cxn>
              <a:cxn ang="0">
                <a:pos x="4193" y="98"/>
              </a:cxn>
              <a:cxn ang="0">
                <a:pos x="4229" y="146"/>
              </a:cxn>
              <a:cxn ang="0">
                <a:pos x="4183" y="224"/>
              </a:cxn>
              <a:cxn ang="0">
                <a:pos x="4218" y="282"/>
              </a:cxn>
              <a:cxn ang="0">
                <a:pos x="4286" y="348"/>
              </a:cxn>
              <a:cxn ang="0">
                <a:pos x="4353" y="404"/>
              </a:cxn>
              <a:cxn ang="0">
                <a:pos x="4419" y="474"/>
              </a:cxn>
              <a:cxn ang="0">
                <a:pos x="4413" y="546"/>
              </a:cxn>
              <a:cxn ang="0">
                <a:pos x="4443" y="645"/>
              </a:cxn>
              <a:cxn ang="0">
                <a:pos x="4461" y="711"/>
              </a:cxn>
              <a:cxn ang="0">
                <a:pos x="4462" y="811"/>
              </a:cxn>
              <a:cxn ang="0">
                <a:pos x="4483" y="869"/>
              </a:cxn>
              <a:cxn ang="0">
                <a:pos x="4526" y="953"/>
              </a:cxn>
              <a:cxn ang="0">
                <a:pos x="4448" y="999"/>
              </a:cxn>
              <a:cxn ang="0">
                <a:pos x="4203" y="989"/>
              </a:cxn>
              <a:cxn ang="0">
                <a:pos x="3829" y="970"/>
              </a:cxn>
              <a:cxn ang="0">
                <a:pos x="3619" y="991"/>
              </a:cxn>
              <a:cxn ang="0">
                <a:pos x="3434" y="1006"/>
              </a:cxn>
              <a:cxn ang="0">
                <a:pos x="3180" y="1017"/>
              </a:cxn>
              <a:cxn ang="0">
                <a:pos x="2821" y="994"/>
              </a:cxn>
              <a:cxn ang="0">
                <a:pos x="2467" y="999"/>
              </a:cxn>
              <a:cxn ang="0">
                <a:pos x="2091" y="994"/>
              </a:cxn>
              <a:cxn ang="0">
                <a:pos x="1782" y="991"/>
              </a:cxn>
              <a:cxn ang="0">
                <a:pos x="1496" y="977"/>
              </a:cxn>
              <a:cxn ang="0">
                <a:pos x="1284" y="965"/>
              </a:cxn>
              <a:cxn ang="0">
                <a:pos x="907" y="976"/>
              </a:cxn>
              <a:cxn ang="0">
                <a:pos x="483" y="966"/>
              </a:cxn>
              <a:cxn ang="0">
                <a:pos x="297" y="969"/>
              </a:cxn>
              <a:cxn ang="0">
                <a:pos x="285" y="922"/>
              </a:cxn>
              <a:cxn ang="0">
                <a:pos x="364" y="872"/>
              </a:cxn>
              <a:cxn ang="0">
                <a:pos x="324" y="814"/>
              </a:cxn>
              <a:cxn ang="0">
                <a:pos x="286" y="763"/>
              </a:cxn>
              <a:cxn ang="0">
                <a:pos x="289" y="701"/>
              </a:cxn>
              <a:cxn ang="0">
                <a:pos x="103" y="623"/>
              </a:cxn>
              <a:cxn ang="0">
                <a:pos x="158" y="566"/>
              </a:cxn>
              <a:cxn ang="0">
                <a:pos x="116" y="496"/>
              </a:cxn>
              <a:cxn ang="0">
                <a:pos x="74" y="435"/>
              </a:cxn>
              <a:cxn ang="0">
                <a:pos x="100" y="365"/>
              </a:cxn>
              <a:cxn ang="0">
                <a:pos x="87" y="306"/>
              </a:cxn>
              <a:cxn ang="0">
                <a:pos x="13" y="221"/>
              </a:cxn>
              <a:cxn ang="0">
                <a:pos x="21" y="159"/>
              </a:cxn>
              <a:cxn ang="0">
                <a:pos x="0" y="98"/>
              </a:cxn>
              <a:cxn ang="0">
                <a:pos x="28" y="35"/>
              </a:cxn>
            </a:cxnLst>
            <a:rect l="0" t="0" r="r" b="b"/>
            <a:pathLst>
              <a:path w="4537" h="1018">
                <a:moveTo>
                  <a:pt x="71" y="0"/>
                </a:moveTo>
                <a:lnTo>
                  <a:pt x="147" y="13"/>
                </a:lnTo>
                <a:lnTo>
                  <a:pt x="222" y="20"/>
                </a:lnTo>
                <a:lnTo>
                  <a:pt x="315" y="17"/>
                </a:lnTo>
                <a:lnTo>
                  <a:pt x="380" y="6"/>
                </a:lnTo>
                <a:lnTo>
                  <a:pt x="476" y="6"/>
                </a:lnTo>
                <a:lnTo>
                  <a:pt x="547" y="11"/>
                </a:lnTo>
                <a:lnTo>
                  <a:pt x="597" y="30"/>
                </a:lnTo>
                <a:lnTo>
                  <a:pt x="671" y="35"/>
                </a:lnTo>
                <a:lnTo>
                  <a:pt x="760" y="31"/>
                </a:lnTo>
                <a:lnTo>
                  <a:pt x="830" y="26"/>
                </a:lnTo>
                <a:lnTo>
                  <a:pt x="901" y="27"/>
                </a:lnTo>
                <a:lnTo>
                  <a:pt x="996" y="21"/>
                </a:lnTo>
                <a:lnTo>
                  <a:pt x="1034" y="4"/>
                </a:lnTo>
                <a:lnTo>
                  <a:pt x="1105" y="7"/>
                </a:lnTo>
                <a:lnTo>
                  <a:pt x="1203" y="7"/>
                </a:lnTo>
                <a:lnTo>
                  <a:pt x="1274" y="6"/>
                </a:lnTo>
                <a:lnTo>
                  <a:pt x="1351" y="13"/>
                </a:lnTo>
                <a:lnTo>
                  <a:pt x="1511" y="14"/>
                </a:lnTo>
                <a:lnTo>
                  <a:pt x="1651" y="16"/>
                </a:lnTo>
                <a:lnTo>
                  <a:pt x="1750" y="16"/>
                </a:lnTo>
                <a:lnTo>
                  <a:pt x="1818" y="16"/>
                </a:lnTo>
                <a:lnTo>
                  <a:pt x="1891" y="31"/>
                </a:lnTo>
                <a:lnTo>
                  <a:pt x="1962" y="33"/>
                </a:lnTo>
                <a:lnTo>
                  <a:pt x="2103" y="31"/>
                </a:lnTo>
                <a:lnTo>
                  <a:pt x="2242" y="27"/>
                </a:lnTo>
                <a:lnTo>
                  <a:pt x="2433" y="23"/>
                </a:lnTo>
                <a:lnTo>
                  <a:pt x="2503" y="18"/>
                </a:lnTo>
                <a:lnTo>
                  <a:pt x="2574" y="20"/>
                </a:lnTo>
                <a:lnTo>
                  <a:pt x="2648" y="30"/>
                </a:lnTo>
                <a:lnTo>
                  <a:pt x="2740" y="37"/>
                </a:lnTo>
                <a:lnTo>
                  <a:pt x="2878" y="33"/>
                </a:lnTo>
                <a:lnTo>
                  <a:pt x="3022" y="30"/>
                </a:lnTo>
                <a:lnTo>
                  <a:pt x="3160" y="26"/>
                </a:lnTo>
                <a:lnTo>
                  <a:pt x="3231" y="26"/>
                </a:lnTo>
                <a:lnTo>
                  <a:pt x="3305" y="38"/>
                </a:lnTo>
                <a:lnTo>
                  <a:pt x="3403" y="47"/>
                </a:lnTo>
                <a:lnTo>
                  <a:pt x="3594" y="45"/>
                </a:lnTo>
                <a:lnTo>
                  <a:pt x="3683" y="43"/>
                </a:lnTo>
                <a:lnTo>
                  <a:pt x="3752" y="41"/>
                </a:lnTo>
                <a:lnTo>
                  <a:pt x="3847" y="44"/>
                </a:lnTo>
                <a:lnTo>
                  <a:pt x="3921" y="44"/>
                </a:lnTo>
                <a:lnTo>
                  <a:pt x="3989" y="40"/>
                </a:lnTo>
                <a:lnTo>
                  <a:pt x="4084" y="40"/>
                </a:lnTo>
                <a:lnTo>
                  <a:pt x="4152" y="45"/>
                </a:lnTo>
                <a:lnTo>
                  <a:pt x="4204" y="64"/>
                </a:lnTo>
                <a:lnTo>
                  <a:pt x="4215" y="79"/>
                </a:lnTo>
                <a:lnTo>
                  <a:pt x="4193" y="98"/>
                </a:lnTo>
                <a:lnTo>
                  <a:pt x="4173" y="115"/>
                </a:lnTo>
                <a:lnTo>
                  <a:pt x="4198" y="130"/>
                </a:lnTo>
                <a:lnTo>
                  <a:pt x="4229" y="146"/>
                </a:lnTo>
                <a:lnTo>
                  <a:pt x="4211" y="163"/>
                </a:lnTo>
                <a:lnTo>
                  <a:pt x="4173" y="209"/>
                </a:lnTo>
                <a:lnTo>
                  <a:pt x="4183" y="224"/>
                </a:lnTo>
                <a:lnTo>
                  <a:pt x="4210" y="241"/>
                </a:lnTo>
                <a:lnTo>
                  <a:pt x="4214" y="258"/>
                </a:lnTo>
                <a:lnTo>
                  <a:pt x="4218" y="282"/>
                </a:lnTo>
                <a:lnTo>
                  <a:pt x="4232" y="315"/>
                </a:lnTo>
                <a:lnTo>
                  <a:pt x="4235" y="333"/>
                </a:lnTo>
                <a:lnTo>
                  <a:pt x="4286" y="348"/>
                </a:lnTo>
                <a:lnTo>
                  <a:pt x="4342" y="365"/>
                </a:lnTo>
                <a:lnTo>
                  <a:pt x="4348" y="389"/>
                </a:lnTo>
                <a:lnTo>
                  <a:pt x="4353" y="404"/>
                </a:lnTo>
                <a:lnTo>
                  <a:pt x="4335" y="428"/>
                </a:lnTo>
                <a:lnTo>
                  <a:pt x="4339" y="451"/>
                </a:lnTo>
                <a:lnTo>
                  <a:pt x="4419" y="474"/>
                </a:lnTo>
                <a:lnTo>
                  <a:pt x="4452" y="509"/>
                </a:lnTo>
                <a:lnTo>
                  <a:pt x="4433" y="532"/>
                </a:lnTo>
                <a:lnTo>
                  <a:pt x="4413" y="546"/>
                </a:lnTo>
                <a:lnTo>
                  <a:pt x="4395" y="565"/>
                </a:lnTo>
                <a:lnTo>
                  <a:pt x="4431" y="608"/>
                </a:lnTo>
                <a:lnTo>
                  <a:pt x="4443" y="645"/>
                </a:lnTo>
                <a:lnTo>
                  <a:pt x="4447" y="660"/>
                </a:lnTo>
                <a:lnTo>
                  <a:pt x="4456" y="694"/>
                </a:lnTo>
                <a:lnTo>
                  <a:pt x="4461" y="711"/>
                </a:lnTo>
                <a:lnTo>
                  <a:pt x="4473" y="756"/>
                </a:lnTo>
                <a:lnTo>
                  <a:pt x="4452" y="772"/>
                </a:lnTo>
                <a:lnTo>
                  <a:pt x="4462" y="811"/>
                </a:lnTo>
                <a:lnTo>
                  <a:pt x="4472" y="828"/>
                </a:lnTo>
                <a:lnTo>
                  <a:pt x="4498" y="851"/>
                </a:lnTo>
                <a:lnTo>
                  <a:pt x="4483" y="869"/>
                </a:lnTo>
                <a:lnTo>
                  <a:pt x="4487" y="885"/>
                </a:lnTo>
                <a:lnTo>
                  <a:pt x="4494" y="908"/>
                </a:lnTo>
                <a:lnTo>
                  <a:pt x="4526" y="953"/>
                </a:lnTo>
                <a:lnTo>
                  <a:pt x="4536" y="976"/>
                </a:lnTo>
                <a:lnTo>
                  <a:pt x="4519" y="991"/>
                </a:lnTo>
                <a:lnTo>
                  <a:pt x="4448" y="999"/>
                </a:lnTo>
                <a:lnTo>
                  <a:pt x="4380" y="1013"/>
                </a:lnTo>
                <a:lnTo>
                  <a:pt x="4279" y="1001"/>
                </a:lnTo>
                <a:lnTo>
                  <a:pt x="4203" y="989"/>
                </a:lnTo>
                <a:lnTo>
                  <a:pt x="4062" y="979"/>
                </a:lnTo>
                <a:lnTo>
                  <a:pt x="3990" y="972"/>
                </a:lnTo>
                <a:lnTo>
                  <a:pt x="3829" y="970"/>
                </a:lnTo>
                <a:lnTo>
                  <a:pt x="3762" y="974"/>
                </a:lnTo>
                <a:lnTo>
                  <a:pt x="3690" y="984"/>
                </a:lnTo>
                <a:lnTo>
                  <a:pt x="3619" y="991"/>
                </a:lnTo>
                <a:lnTo>
                  <a:pt x="3577" y="1006"/>
                </a:lnTo>
                <a:lnTo>
                  <a:pt x="3508" y="1013"/>
                </a:lnTo>
                <a:lnTo>
                  <a:pt x="3434" y="1006"/>
                </a:lnTo>
                <a:lnTo>
                  <a:pt x="3365" y="999"/>
                </a:lnTo>
                <a:lnTo>
                  <a:pt x="3266" y="1004"/>
                </a:lnTo>
                <a:lnTo>
                  <a:pt x="3180" y="1017"/>
                </a:lnTo>
                <a:lnTo>
                  <a:pt x="3109" y="1014"/>
                </a:lnTo>
                <a:lnTo>
                  <a:pt x="3010" y="1008"/>
                </a:lnTo>
                <a:lnTo>
                  <a:pt x="2821" y="994"/>
                </a:lnTo>
                <a:lnTo>
                  <a:pt x="2630" y="991"/>
                </a:lnTo>
                <a:lnTo>
                  <a:pt x="2562" y="991"/>
                </a:lnTo>
                <a:lnTo>
                  <a:pt x="2467" y="999"/>
                </a:lnTo>
                <a:lnTo>
                  <a:pt x="2299" y="996"/>
                </a:lnTo>
                <a:lnTo>
                  <a:pt x="2160" y="994"/>
                </a:lnTo>
                <a:lnTo>
                  <a:pt x="2091" y="994"/>
                </a:lnTo>
                <a:lnTo>
                  <a:pt x="1949" y="991"/>
                </a:lnTo>
                <a:lnTo>
                  <a:pt x="1853" y="993"/>
                </a:lnTo>
                <a:lnTo>
                  <a:pt x="1782" y="991"/>
                </a:lnTo>
                <a:lnTo>
                  <a:pt x="1642" y="990"/>
                </a:lnTo>
                <a:lnTo>
                  <a:pt x="1570" y="979"/>
                </a:lnTo>
                <a:lnTo>
                  <a:pt x="1496" y="977"/>
                </a:lnTo>
                <a:lnTo>
                  <a:pt x="1432" y="987"/>
                </a:lnTo>
                <a:lnTo>
                  <a:pt x="1334" y="984"/>
                </a:lnTo>
                <a:lnTo>
                  <a:pt x="1284" y="965"/>
                </a:lnTo>
                <a:lnTo>
                  <a:pt x="1214" y="974"/>
                </a:lnTo>
                <a:lnTo>
                  <a:pt x="1051" y="976"/>
                </a:lnTo>
                <a:lnTo>
                  <a:pt x="907" y="976"/>
                </a:lnTo>
                <a:lnTo>
                  <a:pt x="770" y="982"/>
                </a:lnTo>
                <a:lnTo>
                  <a:pt x="679" y="973"/>
                </a:lnTo>
                <a:lnTo>
                  <a:pt x="483" y="966"/>
                </a:lnTo>
                <a:lnTo>
                  <a:pt x="414" y="970"/>
                </a:lnTo>
                <a:lnTo>
                  <a:pt x="350" y="987"/>
                </a:lnTo>
                <a:lnTo>
                  <a:pt x="297" y="969"/>
                </a:lnTo>
                <a:lnTo>
                  <a:pt x="268" y="953"/>
                </a:lnTo>
                <a:lnTo>
                  <a:pt x="262" y="938"/>
                </a:lnTo>
                <a:lnTo>
                  <a:pt x="285" y="922"/>
                </a:lnTo>
                <a:lnTo>
                  <a:pt x="349" y="904"/>
                </a:lnTo>
                <a:lnTo>
                  <a:pt x="368" y="888"/>
                </a:lnTo>
                <a:lnTo>
                  <a:pt x="364" y="872"/>
                </a:lnTo>
                <a:lnTo>
                  <a:pt x="335" y="854"/>
                </a:lnTo>
                <a:lnTo>
                  <a:pt x="332" y="831"/>
                </a:lnTo>
                <a:lnTo>
                  <a:pt x="324" y="814"/>
                </a:lnTo>
                <a:lnTo>
                  <a:pt x="320" y="799"/>
                </a:lnTo>
                <a:lnTo>
                  <a:pt x="314" y="780"/>
                </a:lnTo>
                <a:lnTo>
                  <a:pt x="286" y="763"/>
                </a:lnTo>
                <a:lnTo>
                  <a:pt x="280" y="739"/>
                </a:lnTo>
                <a:lnTo>
                  <a:pt x="299" y="725"/>
                </a:lnTo>
                <a:lnTo>
                  <a:pt x="289" y="701"/>
                </a:lnTo>
                <a:lnTo>
                  <a:pt x="135" y="657"/>
                </a:lnTo>
                <a:lnTo>
                  <a:pt x="112" y="641"/>
                </a:lnTo>
                <a:lnTo>
                  <a:pt x="103" y="623"/>
                </a:lnTo>
                <a:lnTo>
                  <a:pt x="123" y="606"/>
                </a:lnTo>
                <a:lnTo>
                  <a:pt x="165" y="587"/>
                </a:lnTo>
                <a:lnTo>
                  <a:pt x="158" y="566"/>
                </a:lnTo>
                <a:lnTo>
                  <a:pt x="149" y="543"/>
                </a:lnTo>
                <a:lnTo>
                  <a:pt x="144" y="522"/>
                </a:lnTo>
                <a:lnTo>
                  <a:pt x="116" y="496"/>
                </a:lnTo>
                <a:lnTo>
                  <a:pt x="109" y="477"/>
                </a:lnTo>
                <a:lnTo>
                  <a:pt x="78" y="452"/>
                </a:lnTo>
                <a:lnTo>
                  <a:pt x="74" y="435"/>
                </a:lnTo>
                <a:lnTo>
                  <a:pt x="85" y="396"/>
                </a:lnTo>
                <a:lnTo>
                  <a:pt x="106" y="380"/>
                </a:lnTo>
                <a:lnTo>
                  <a:pt x="100" y="365"/>
                </a:lnTo>
                <a:lnTo>
                  <a:pt x="98" y="345"/>
                </a:lnTo>
                <a:lnTo>
                  <a:pt x="93" y="328"/>
                </a:lnTo>
                <a:lnTo>
                  <a:pt x="87" y="306"/>
                </a:lnTo>
                <a:lnTo>
                  <a:pt x="47" y="261"/>
                </a:lnTo>
                <a:lnTo>
                  <a:pt x="20" y="238"/>
                </a:lnTo>
                <a:lnTo>
                  <a:pt x="13" y="221"/>
                </a:lnTo>
                <a:lnTo>
                  <a:pt x="8" y="199"/>
                </a:lnTo>
                <a:lnTo>
                  <a:pt x="32" y="182"/>
                </a:lnTo>
                <a:lnTo>
                  <a:pt x="21" y="159"/>
                </a:lnTo>
                <a:lnTo>
                  <a:pt x="10" y="136"/>
                </a:lnTo>
                <a:lnTo>
                  <a:pt x="10" y="122"/>
                </a:lnTo>
                <a:lnTo>
                  <a:pt x="0" y="98"/>
                </a:lnTo>
                <a:lnTo>
                  <a:pt x="22" y="77"/>
                </a:lnTo>
                <a:lnTo>
                  <a:pt x="15" y="58"/>
                </a:lnTo>
                <a:lnTo>
                  <a:pt x="28" y="35"/>
                </a:lnTo>
                <a:lnTo>
                  <a:pt x="7" y="17"/>
                </a:lnTo>
                <a:lnTo>
                  <a:pt x="71" y="0"/>
                </a:lnTo>
              </a:path>
            </a:pathLst>
          </a:custGeom>
          <a:gradFill flip="none" rotWithShape="1">
            <a:gsLst>
              <a:gs pos="75000">
                <a:srgbClr val="FFDB69">
                  <a:tint val="66000"/>
                  <a:satMod val="160000"/>
                  <a:alpha val="58000"/>
                </a:srgbClr>
              </a:gs>
              <a:gs pos="61000">
                <a:srgbClr val="FFDB69">
                  <a:tint val="44500"/>
                  <a:satMod val="160000"/>
                  <a:alpha val="73000"/>
                </a:srgbClr>
              </a:gs>
              <a:gs pos="100000">
                <a:srgbClr val="FFDB69">
                  <a:tint val="23500"/>
                  <a:satMod val="160000"/>
                  <a:alpha val="80000"/>
                </a:srgbClr>
              </a:gs>
            </a:gsLst>
            <a:lin ang="0" scaled="1"/>
            <a:tileRect/>
          </a:gradFill>
          <a:ln w="9525" cap="rnd" cmpd="sng">
            <a:noFill/>
            <a:prstDash val="solid"/>
            <a:round/>
            <a:headEnd type="none" w="med" len="med"/>
            <a:tailEnd type="none" w="med" len="med"/>
          </a:ln>
          <a:effectLst>
            <a:outerShdw blurRad="50800" dist="38100" dir="2700000" algn="tl" rotWithShape="0">
              <a:prstClr val="black">
                <a:alpha val="40000"/>
              </a:prstClr>
            </a:outerShdw>
          </a:effectLst>
        </p:spPr>
        <p:txBody>
          <a:bodyPr lIns="360000" tIns="72000" rIns="324000" bIns="72000" anchor="ctr"/>
          <a:lstStyle/>
          <a:p>
            <a:pPr marL="171450" lvl="0" indent="-171450">
              <a:spcAft>
                <a:spcPts val="600"/>
              </a:spcAft>
              <a:buFont typeface="Arial" panose="020B0604020202020204" pitchFamily="34" charset="0"/>
              <a:buChar char="•"/>
              <a:defRPr/>
            </a:pPr>
            <a:r>
              <a:rPr lang="en-US" sz="900" dirty="0">
                <a:solidFill>
                  <a:prstClr val="black"/>
                </a:solidFill>
              </a:rPr>
              <a:t>Despite increased power generation capacity, Bangladesh faces significant outages during the peak demand hours, especially during the irrigation and summer seasons. </a:t>
            </a:r>
          </a:p>
          <a:p>
            <a:pPr marL="171450" lvl="0" indent="-171450">
              <a:spcAft>
                <a:spcPts val="600"/>
              </a:spcAft>
              <a:buFont typeface="Arial" panose="020B0604020202020204" pitchFamily="34" charset="0"/>
              <a:buChar char="•"/>
              <a:defRPr/>
            </a:pPr>
            <a:r>
              <a:rPr lang="en-US" sz="900" dirty="0">
                <a:solidFill>
                  <a:prstClr val="black"/>
                </a:solidFill>
              </a:rPr>
              <a:t>Load shedding and power outage accounts for an output loss of nearly 3 percent of the GDP. </a:t>
            </a:r>
          </a:p>
          <a:p>
            <a:pPr marL="171450" lvl="0" indent="-171450">
              <a:spcAft>
                <a:spcPts val="600"/>
              </a:spcAft>
              <a:buFont typeface="Arial" panose="020B0604020202020204" pitchFamily="34" charset="0"/>
              <a:buChar char="•"/>
              <a:defRPr/>
            </a:pPr>
            <a:r>
              <a:rPr lang="en-US" sz="900" dirty="0">
                <a:solidFill>
                  <a:prstClr val="black"/>
                </a:solidFill>
              </a:rPr>
              <a:t>About 65 percent of Bangladeshi firms invest in back-up generation, adding to substantial costs in doing business. </a:t>
            </a:r>
          </a:p>
          <a:p>
            <a:pPr lvl="0" algn="r">
              <a:lnSpc>
                <a:spcPct val="114000"/>
              </a:lnSpc>
              <a:spcAft>
                <a:spcPts val="600"/>
              </a:spcAft>
              <a:defRPr/>
            </a:pPr>
            <a:r>
              <a:rPr lang="en-US" sz="900" b="1" dirty="0">
                <a:solidFill>
                  <a:prstClr val="black"/>
                </a:solidFill>
                <a:latin typeface="Verdana"/>
              </a:rPr>
              <a:t>-  World Bank, Nov 2019</a:t>
            </a:r>
          </a:p>
        </p:txBody>
      </p:sp>
      <p:sp>
        <p:nvSpPr>
          <p:cNvPr id="57" name="Freeform 3"/>
          <p:cNvSpPr>
            <a:spLocks/>
          </p:cNvSpPr>
          <p:nvPr/>
        </p:nvSpPr>
        <p:spPr bwMode="gray">
          <a:xfrm>
            <a:off x="5576775" y="5953091"/>
            <a:ext cx="4735625" cy="1129095"/>
          </a:xfrm>
          <a:custGeom>
            <a:avLst/>
            <a:gdLst/>
            <a:ahLst/>
            <a:cxnLst>
              <a:cxn ang="0">
                <a:pos x="222" y="20"/>
              </a:cxn>
              <a:cxn ang="0">
                <a:pos x="476" y="6"/>
              </a:cxn>
              <a:cxn ang="0">
                <a:pos x="671" y="35"/>
              </a:cxn>
              <a:cxn ang="0">
                <a:pos x="901" y="27"/>
              </a:cxn>
              <a:cxn ang="0">
                <a:pos x="1105" y="7"/>
              </a:cxn>
              <a:cxn ang="0">
                <a:pos x="1351" y="13"/>
              </a:cxn>
              <a:cxn ang="0">
                <a:pos x="1750" y="16"/>
              </a:cxn>
              <a:cxn ang="0">
                <a:pos x="1962" y="33"/>
              </a:cxn>
              <a:cxn ang="0">
                <a:pos x="2433" y="23"/>
              </a:cxn>
              <a:cxn ang="0">
                <a:pos x="2648" y="30"/>
              </a:cxn>
              <a:cxn ang="0">
                <a:pos x="3022" y="30"/>
              </a:cxn>
              <a:cxn ang="0">
                <a:pos x="3305" y="38"/>
              </a:cxn>
              <a:cxn ang="0">
                <a:pos x="3683" y="43"/>
              </a:cxn>
              <a:cxn ang="0">
                <a:pos x="3921" y="44"/>
              </a:cxn>
              <a:cxn ang="0">
                <a:pos x="4152" y="45"/>
              </a:cxn>
              <a:cxn ang="0">
                <a:pos x="4193" y="98"/>
              </a:cxn>
              <a:cxn ang="0">
                <a:pos x="4229" y="146"/>
              </a:cxn>
              <a:cxn ang="0">
                <a:pos x="4183" y="224"/>
              </a:cxn>
              <a:cxn ang="0">
                <a:pos x="4218" y="282"/>
              </a:cxn>
              <a:cxn ang="0">
                <a:pos x="4286" y="348"/>
              </a:cxn>
              <a:cxn ang="0">
                <a:pos x="4353" y="404"/>
              </a:cxn>
              <a:cxn ang="0">
                <a:pos x="4419" y="474"/>
              </a:cxn>
              <a:cxn ang="0">
                <a:pos x="4413" y="546"/>
              </a:cxn>
              <a:cxn ang="0">
                <a:pos x="4443" y="645"/>
              </a:cxn>
              <a:cxn ang="0">
                <a:pos x="4461" y="711"/>
              </a:cxn>
              <a:cxn ang="0">
                <a:pos x="4462" y="811"/>
              </a:cxn>
              <a:cxn ang="0">
                <a:pos x="4483" y="869"/>
              </a:cxn>
              <a:cxn ang="0">
                <a:pos x="4526" y="953"/>
              </a:cxn>
              <a:cxn ang="0">
                <a:pos x="4448" y="999"/>
              </a:cxn>
              <a:cxn ang="0">
                <a:pos x="4203" y="989"/>
              </a:cxn>
              <a:cxn ang="0">
                <a:pos x="3829" y="970"/>
              </a:cxn>
              <a:cxn ang="0">
                <a:pos x="3619" y="991"/>
              </a:cxn>
              <a:cxn ang="0">
                <a:pos x="3434" y="1006"/>
              </a:cxn>
              <a:cxn ang="0">
                <a:pos x="3180" y="1017"/>
              </a:cxn>
              <a:cxn ang="0">
                <a:pos x="2821" y="994"/>
              </a:cxn>
              <a:cxn ang="0">
                <a:pos x="2467" y="999"/>
              </a:cxn>
              <a:cxn ang="0">
                <a:pos x="2091" y="994"/>
              </a:cxn>
              <a:cxn ang="0">
                <a:pos x="1782" y="991"/>
              </a:cxn>
              <a:cxn ang="0">
                <a:pos x="1496" y="977"/>
              </a:cxn>
              <a:cxn ang="0">
                <a:pos x="1284" y="965"/>
              </a:cxn>
              <a:cxn ang="0">
                <a:pos x="907" y="976"/>
              </a:cxn>
              <a:cxn ang="0">
                <a:pos x="483" y="966"/>
              </a:cxn>
              <a:cxn ang="0">
                <a:pos x="297" y="969"/>
              </a:cxn>
              <a:cxn ang="0">
                <a:pos x="285" y="922"/>
              </a:cxn>
              <a:cxn ang="0">
                <a:pos x="364" y="872"/>
              </a:cxn>
              <a:cxn ang="0">
                <a:pos x="324" y="814"/>
              </a:cxn>
              <a:cxn ang="0">
                <a:pos x="286" y="763"/>
              </a:cxn>
              <a:cxn ang="0">
                <a:pos x="289" y="701"/>
              </a:cxn>
              <a:cxn ang="0">
                <a:pos x="103" y="623"/>
              </a:cxn>
              <a:cxn ang="0">
                <a:pos x="158" y="566"/>
              </a:cxn>
              <a:cxn ang="0">
                <a:pos x="116" y="496"/>
              </a:cxn>
              <a:cxn ang="0">
                <a:pos x="74" y="435"/>
              </a:cxn>
              <a:cxn ang="0">
                <a:pos x="100" y="365"/>
              </a:cxn>
              <a:cxn ang="0">
                <a:pos x="87" y="306"/>
              </a:cxn>
              <a:cxn ang="0">
                <a:pos x="13" y="221"/>
              </a:cxn>
              <a:cxn ang="0">
                <a:pos x="21" y="159"/>
              </a:cxn>
              <a:cxn ang="0">
                <a:pos x="0" y="98"/>
              </a:cxn>
              <a:cxn ang="0">
                <a:pos x="28" y="35"/>
              </a:cxn>
            </a:cxnLst>
            <a:rect l="0" t="0" r="r" b="b"/>
            <a:pathLst>
              <a:path w="4537" h="1018">
                <a:moveTo>
                  <a:pt x="71" y="0"/>
                </a:moveTo>
                <a:lnTo>
                  <a:pt x="147" y="13"/>
                </a:lnTo>
                <a:lnTo>
                  <a:pt x="222" y="20"/>
                </a:lnTo>
                <a:lnTo>
                  <a:pt x="315" y="17"/>
                </a:lnTo>
                <a:lnTo>
                  <a:pt x="380" y="6"/>
                </a:lnTo>
                <a:lnTo>
                  <a:pt x="476" y="6"/>
                </a:lnTo>
                <a:lnTo>
                  <a:pt x="547" y="11"/>
                </a:lnTo>
                <a:lnTo>
                  <a:pt x="597" y="30"/>
                </a:lnTo>
                <a:lnTo>
                  <a:pt x="671" y="35"/>
                </a:lnTo>
                <a:lnTo>
                  <a:pt x="760" y="31"/>
                </a:lnTo>
                <a:lnTo>
                  <a:pt x="830" y="26"/>
                </a:lnTo>
                <a:lnTo>
                  <a:pt x="901" y="27"/>
                </a:lnTo>
                <a:lnTo>
                  <a:pt x="996" y="21"/>
                </a:lnTo>
                <a:lnTo>
                  <a:pt x="1034" y="4"/>
                </a:lnTo>
                <a:lnTo>
                  <a:pt x="1105" y="7"/>
                </a:lnTo>
                <a:lnTo>
                  <a:pt x="1203" y="7"/>
                </a:lnTo>
                <a:lnTo>
                  <a:pt x="1274" y="6"/>
                </a:lnTo>
                <a:lnTo>
                  <a:pt x="1351" y="13"/>
                </a:lnTo>
                <a:lnTo>
                  <a:pt x="1511" y="14"/>
                </a:lnTo>
                <a:lnTo>
                  <a:pt x="1651" y="16"/>
                </a:lnTo>
                <a:lnTo>
                  <a:pt x="1750" y="16"/>
                </a:lnTo>
                <a:lnTo>
                  <a:pt x="1818" y="16"/>
                </a:lnTo>
                <a:lnTo>
                  <a:pt x="1891" y="31"/>
                </a:lnTo>
                <a:lnTo>
                  <a:pt x="1962" y="33"/>
                </a:lnTo>
                <a:lnTo>
                  <a:pt x="2103" y="31"/>
                </a:lnTo>
                <a:lnTo>
                  <a:pt x="2242" y="27"/>
                </a:lnTo>
                <a:lnTo>
                  <a:pt x="2433" y="23"/>
                </a:lnTo>
                <a:lnTo>
                  <a:pt x="2503" y="18"/>
                </a:lnTo>
                <a:lnTo>
                  <a:pt x="2574" y="20"/>
                </a:lnTo>
                <a:lnTo>
                  <a:pt x="2648" y="30"/>
                </a:lnTo>
                <a:lnTo>
                  <a:pt x="2740" y="37"/>
                </a:lnTo>
                <a:lnTo>
                  <a:pt x="2878" y="33"/>
                </a:lnTo>
                <a:lnTo>
                  <a:pt x="3022" y="30"/>
                </a:lnTo>
                <a:lnTo>
                  <a:pt x="3160" y="26"/>
                </a:lnTo>
                <a:lnTo>
                  <a:pt x="3231" y="26"/>
                </a:lnTo>
                <a:lnTo>
                  <a:pt x="3305" y="38"/>
                </a:lnTo>
                <a:lnTo>
                  <a:pt x="3403" y="47"/>
                </a:lnTo>
                <a:lnTo>
                  <a:pt x="3594" y="45"/>
                </a:lnTo>
                <a:lnTo>
                  <a:pt x="3683" y="43"/>
                </a:lnTo>
                <a:lnTo>
                  <a:pt x="3752" y="41"/>
                </a:lnTo>
                <a:lnTo>
                  <a:pt x="3847" y="44"/>
                </a:lnTo>
                <a:lnTo>
                  <a:pt x="3921" y="44"/>
                </a:lnTo>
                <a:lnTo>
                  <a:pt x="3989" y="40"/>
                </a:lnTo>
                <a:lnTo>
                  <a:pt x="4084" y="40"/>
                </a:lnTo>
                <a:lnTo>
                  <a:pt x="4152" y="45"/>
                </a:lnTo>
                <a:lnTo>
                  <a:pt x="4204" y="64"/>
                </a:lnTo>
                <a:lnTo>
                  <a:pt x="4215" y="79"/>
                </a:lnTo>
                <a:lnTo>
                  <a:pt x="4193" y="98"/>
                </a:lnTo>
                <a:lnTo>
                  <a:pt x="4173" y="115"/>
                </a:lnTo>
                <a:lnTo>
                  <a:pt x="4198" y="130"/>
                </a:lnTo>
                <a:lnTo>
                  <a:pt x="4229" y="146"/>
                </a:lnTo>
                <a:lnTo>
                  <a:pt x="4211" y="163"/>
                </a:lnTo>
                <a:lnTo>
                  <a:pt x="4173" y="209"/>
                </a:lnTo>
                <a:lnTo>
                  <a:pt x="4183" y="224"/>
                </a:lnTo>
                <a:lnTo>
                  <a:pt x="4210" y="241"/>
                </a:lnTo>
                <a:lnTo>
                  <a:pt x="4214" y="258"/>
                </a:lnTo>
                <a:lnTo>
                  <a:pt x="4218" y="282"/>
                </a:lnTo>
                <a:lnTo>
                  <a:pt x="4232" y="315"/>
                </a:lnTo>
                <a:lnTo>
                  <a:pt x="4235" y="333"/>
                </a:lnTo>
                <a:lnTo>
                  <a:pt x="4286" y="348"/>
                </a:lnTo>
                <a:lnTo>
                  <a:pt x="4342" y="365"/>
                </a:lnTo>
                <a:lnTo>
                  <a:pt x="4348" y="389"/>
                </a:lnTo>
                <a:lnTo>
                  <a:pt x="4353" y="404"/>
                </a:lnTo>
                <a:lnTo>
                  <a:pt x="4335" y="428"/>
                </a:lnTo>
                <a:lnTo>
                  <a:pt x="4339" y="451"/>
                </a:lnTo>
                <a:lnTo>
                  <a:pt x="4419" y="474"/>
                </a:lnTo>
                <a:lnTo>
                  <a:pt x="4452" y="509"/>
                </a:lnTo>
                <a:lnTo>
                  <a:pt x="4433" y="532"/>
                </a:lnTo>
                <a:lnTo>
                  <a:pt x="4413" y="546"/>
                </a:lnTo>
                <a:lnTo>
                  <a:pt x="4395" y="565"/>
                </a:lnTo>
                <a:lnTo>
                  <a:pt x="4431" y="608"/>
                </a:lnTo>
                <a:lnTo>
                  <a:pt x="4443" y="645"/>
                </a:lnTo>
                <a:lnTo>
                  <a:pt x="4447" y="660"/>
                </a:lnTo>
                <a:lnTo>
                  <a:pt x="4456" y="694"/>
                </a:lnTo>
                <a:lnTo>
                  <a:pt x="4461" y="711"/>
                </a:lnTo>
                <a:lnTo>
                  <a:pt x="4473" y="756"/>
                </a:lnTo>
                <a:lnTo>
                  <a:pt x="4452" y="772"/>
                </a:lnTo>
                <a:lnTo>
                  <a:pt x="4462" y="811"/>
                </a:lnTo>
                <a:lnTo>
                  <a:pt x="4472" y="828"/>
                </a:lnTo>
                <a:lnTo>
                  <a:pt x="4498" y="851"/>
                </a:lnTo>
                <a:lnTo>
                  <a:pt x="4483" y="869"/>
                </a:lnTo>
                <a:lnTo>
                  <a:pt x="4487" y="885"/>
                </a:lnTo>
                <a:lnTo>
                  <a:pt x="4494" y="908"/>
                </a:lnTo>
                <a:lnTo>
                  <a:pt x="4526" y="953"/>
                </a:lnTo>
                <a:lnTo>
                  <a:pt x="4536" y="976"/>
                </a:lnTo>
                <a:lnTo>
                  <a:pt x="4519" y="991"/>
                </a:lnTo>
                <a:lnTo>
                  <a:pt x="4448" y="999"/>
                </a:lnTo>
                <a:lnTo>
                  <a:pt x="4380" y="1013"/>
                </a:lnTo>
                <a:lnTo>
                  <a:pt x="4279" y="1001"/>
                </a:lnTo>
                <a:lnTo>
                  <a:pt x="4203" y="989"/>
                </a:lnTo>
                <a:lnTo>
                  <a:pt x="4062" y="979"/>
                </a:lnTo>
                <a:lnTo>
                  <a:pt x="3990" y="972"/>
                </a:lnTo>
                <a:lnTo>
                  <a:pt x="3829" y="970"/>
                </a:lnTo>
                <a:lnTo>
                  <a:pt x="3762" y="974"/>
                </a:lnTo>
                <a:lnTo>
                  <a:pt x="3690" y="984"/>
                </a:lnTo>
                <a:lnTo>
                  <a:pt x="3619" y="991"/>
                </a:lnTo>
                <a:lnTo>
                  <a:pt x="3577" y="1006"/>
                </a:lnTo>
                <a:lnTo>
                  <a:pt x="3508" y="1013"/>
                </a:lnTo>
                <a:lnTo>
                  <a:pt x="3434" y="1006"/>
                </a:lnTo>
                <a:lnTo>
                  <a:pt x="3365" y="999"/>
                </a:lnTo>
                <a:lnTo>
                  <a:pt x="3266" y="1004"/>
                </a:lnTo>
                <a:lnTo>
                  <a:pt x="3180" y="1017"/>
                </a:lnTo>
                <a:lnTo>
                  <a:pt x="3109" y="1014"/>
                </a:lnTo>
                <a:lnTo>
                  <a:pt x="3010" y="1008"/>
                </a:lnTo>
                <a:lnTo>
                  <a:pt x="2821" y="994"/>
                </a:lnTo>
                <a:lnTo>
                  <a:pt x="2630" y="991"/>
                </a:lnTo>
                <a:lnTo>
                  <a:pt x="2562" y="991"/>
                </a:lnTo>
                <a:lnTo>
                  <a:pt x="2467" y="999"/>
                </a:lnTo>
                <a:lnTo>
                  <a:pt x="2299" y="996"/>
                </a:lnTo>
                <a:lnTo>
                  <a:pt x="2160" y="994"/>
                </a:lnTo>
                <a:lnTo>
                  <a:pt x="2091" y="994"/>
                </a:lnTo>
                <a:lnTo>
                  <a:pt x="1949" y="991"/>
                </a:lnTo>
                <a:lnTo>
                  <a:pt x="1853" y="993"/>
                </a:lnTo>
                <a:lnTo>
                  <a:pt x="1782" y="991"/>
                </a:lnTo>
                <a:lnTo>
                  <a:pt x="1642" y="990"/>
                </a:lnTo>
                <a:lnTo>
                  <a:pt x="1570" y="979"/>
                </a:lnTo>
                <a:lnTo>
                  <a:pt x="1496" y="977"/>
                </a:lnTo>
                <a:lnTo>
                  <a:pt x="1432" y="987"/>
                </a:lnTo>
                <a:lnTo>
                  <a:pt x="1334" y="984"/>
                </a:lnTo>
                <a:lnTo>
                  <a:pt x="1284" y="965"/>
                </a:lnTo>
                <a:lnTo>
                  <a:pt x="1214" y="974"/>
                </a:lnTo>
                <a:lnTo>
                  <a:pt x="1051" y="976"/>
                </a:lnTo>
                <a:lnTo>
                  <a:pt x="907" y="976"/>
                </a:lnTo>
                <a:lnTo>
                  <a:pt x="770" y="982"/>
                </a:lnTo>
                <a:lnTo>
                  <a:pt x="679" y="973"/>
                </a:lnTo>
                <a:lnTo>
                  <a:pt x="483" y="966"/>
                </a:lnTo>
                <a:lnTo>
                  <a:pt x="414" y="970"/>
                </a:lnTo>
                <a:lnTo>
                  <a:pt x="350" y="987"/>
                </a:lnTo>
                <a:lnTo>
                  <a:pt x="297" y="969"/>
                </a:lnTo>
                <a:lnTo>
                  <a:pt x="268" y="953"/>
                </a:lnTo>
                <a:lnTo>
                  <a:pt x="262" y="938"/>
                </a:lnTo>
                <a:lnTo>
                  <a:pt x="285" y="922"/>
                </a:lnTo>
                <a:lnTo>
                  <a:pt x="349" y="904"/>
                </a:lnTo>
                <a:lnTo>
                  <a:pt x="368" y="888"/>
                </a:lnTo>
                <a:lnTo>
                  <a:pt x="364" y="872"/>
                </a:lnTo>
                <a:lnTo>
                  <a:pt x="335" y="854"/>
                </a:lnTo>
                <a:lnTo>
                  <a:pt x="332" y="831"/>
                </a:lnTo>
                <a:lnTo>
                  <a:pt x="324" y="814"/>
                </a:lnTo>
                <a:lnTo>
                  <a:pt x="320" y="799"/>
                </a:lnTo>
                <a:lnTo>
                  <a:pt x="314" y="780"/>
                </a:lnTo>
                <a:lnTo>
                  <a:pt x="286" y="763"/>
                </a:lnTo>
                <a:lnTo>
                  <a:pt x="280" y="739"/>
                </a:lnTo>
                <a:lnTo>
                  <a:pt x="299" y="725"/>
                </a:lnTo>
                <a:lnTo>
                  <a:pt x="289" y="701"/>
                </a:lnTo>
                <a:lnTo>
                  <a:pt x="135" y="657"/>
                </a:lnTo>
                <a:lnTo>
                  <a:pt x="112" y="641"/>
                </a:lnTo>
                <a:lnTo>
                  <a:pt x="103" y="623"/>
                </a:lnTo>
                <a:lnTo>
                  <a:pt x="123" y="606"/>
                </a:lnTo>
                <a:lnTo>
                  <a:pt x="165" y="587"/>
                </a:lnTo>
                <a:lnTo>
                  <a:pt x="158" y="566"/>
                </a:lnTo>
                <a:lnTo>
                  <a:pt x="149" y="543"/>
                </a:lnTo>
                <a:lnTo>
                  <a:pt x="144" y="522"/>
                </a:lnTo>
                <a:lnTo>
                  <a:pt x="116" y="496"/>
                </a:lnTo>
                <a:lnTo>
                  <a:pt x="109" y="477"/>
                </a:lnTo>
                <a:lnTo>
                  <a:pt x="78" y="452"/>
                </a:lnTo>
                <a:lnTo>
                  <a:pt x="74" y="435"/>
                </a:lnTo>
                <a:lnTo>
                  <a:pt x="85" y="396"/>
                </a:lnTo>
                <a:lnTo>
                  <a:pt x="106" y="380"/>
                </a:lnTo>
                <a:lnTo>
                  <a:pt x="100" y="365"/>
                </a:lnTo>
                <a:lnTo>
                  <a:pt x="98" y="345"/>
                </a:lnTo>
                <a:lnTo>
                  <a:pt x="93" y="328"/>
                </a:lnTo>
                <a:lnTo>
                  <a:pt x="87" y="306"/>
                </a:lnTo>
                <a:lnTo>
                  <a:pt x="47" y="261"/>
                </a:lnTo>
                <a:lnTo>
                  <a:pt x="20" y="238"/>
                </a:lnTo>
                <a:lnTo>
                  <a:pt x="13" y="221"/>
                </a:lnTo>
                <a:lnTo>
                  <a:pt x="8" y="199"/>
                </a:lnTo>
                <a:lnTo>
                  <a:pt x="32" y="182"/>
                </a:lnTo>
                <a:lnTo>
                  <a:pt x="21" y="159"/>
                </a:lnTo>
                <a:lnTo>
                  <a:pt x="10" y="136"/>
                </a:lnTo>
                <a:lnTo>
                  <a:pt x="10" y="122"/>
                </a:lnTo>
                <a:lnTo>
                  <a:pt x="0" y="98"/>
                </a:lnTo>
                <a:lnTo>
                  <a:pt x="22" y="77"/>
                </a:lnTo>
                <a:lnTo>
                  <a:pt x="15" y="58"/>
                </a:lnTo>
                <a:lnTo>
                  <a:pt x="28" y="35"/>
                </a:lnTo>
                <a:lnTo>
                  <a:pt x="7" y="17"/>
                </a:lnTo>
                <a:lnTo>
                  <a:pt x="71" y="0"/>
                </a:lnTo>
              </a:path>
            </a:pathLst>
          </a:custGeom>
          <a:gradFill flip="none" rotWithShape="1">
            <a:gsLst>
              <a:gs pos="75000">
                <a:srgbClr val="FFDB69">
                  <a:tint val="66000"/>
                  <a:satMod val="160000"/>
                  <a:alpha val="58000"/>
                </a:srgbClr>
              </a:gs>
              <a:gs pos="61000">
                <a:srgbClr val="FFDB69">
                  <a:tint val="44500"/>
                  <a:satMod val="160000"/>
                  <a:alpha val="73000"/>
                </a:srgbClr>
              </a:gs>
              <a:gs pos="100000">
                <a:srgbClr val="FFDB69">
                  <a:tint val="23500"/>
                  <a:satMod val="160000"/>
                  <a:alpha val="80000"/>
                </a:srgbClr>
              </a:gs>
            </a:gsLst>
            <a:lin ang="0" scaled="1"/>
            <a:tileRect/>
          </a:gradFill>
          <a:ln w="9525" cap="rnd" cmpd="sng">
            <a:noFill/>
            <a:prstDash val="solid"/>
            <a:round/>
            <a:headEnd type="none" w="med" len="med"/>
            <a:tailEnd type="none" w="med" len="med"/>
          </a:ln>
          <a:effectLst>
            <a:outerShdw blurRad="50800" dist="38100" dir="2700000" algn="tl" rotWithShape="0">
              <a:prstClr val="black">
                <a:alpha val="40000"/>
              </a:prstClr>
            </a:outerShdw>
          </a:effectLst>
        </p:spPr>
        <p:txBody>
          <a:bodyPr lIns="360000" tIns="72000" rIns="324000" bIns="72000" anchor="ctr"/>
          <a:lstStyle/>
          <a:p>
            <a:pPr marL="171450" lvl="0" indent="-171450">
              <a:spcAft>
                <a:spcPts val="600"/>
              </a:spcAft>
              <a:buFont typeface="Arial" panose="020B0604020202020204" pitchFamily="34" charset="0"/>
              <a:buChar char="•"/>
              <a:defRPr/>
            </a:pPr>
            <a:r>
              <a:rPr lang="en-US" sz="900" dirty="0">
                <a:solidFill>
                  <a:prstClr val="black"/>
                </a:solidFill>
              </a:rPr>
              <a:t>The country may have increased its capacity to produce electricity but the electricity it is producing is of very low quality.</a:t>
            </a:r>
          </a:p>
          <a:p>
            <a:pPr marL="171450" lvl="0" indent="-171450">
              <a:spcAft>
                <a:spcPts val="600"/>
              </a:spcAft>
              <a:buFont typeface="Arial" panose="020B0604020202020204" pitchFamily="34" charset="0"/>
              <a:buChar char="•"/>
              <a:defRPr/>
            </a:pPr>
            <a:r>
              <a:rPr lang="en-US" sz="900" dirty="0">
                <a:solidFill>
                  <a:prstClr val="black"/>
                </a:solidFill>
              </a:rPr>
              <a:t>‘Quality power is uninterrupted supply of power with accurate voltage,’</a:t>
            </a:r>
          </a:p>
          <a:p>
            <a:pPr lvl="0" algn="r">
              <a:spcAft>
                <a:spcPts val="600"/>
              </a:spcAft>
              <a:defRPr/>
            </a:pPr>
            <a:r>
              <a:rPr lang="en-US" sz="900" b="1" dirty="0">
                <a:solidFill>
                  <a:prstClr val="black"/>
                </a:solidFill>
              </a:rPr>
              <a:t>-  Shamsul Alam, Energy Advisor, Consumers Association of Bangladesh </a:t>
            </a:r>
            <a:endParaRPr lang="en-US" sz="900" b="1" dirty="0">
              <a:solidFill>
                <a:prstClr val="black"/>
              </a:solidFill>
              <a:latin typeface="Verdana"/>
            </a:endParaRPr>
          </a:p>
        </p:txBody>
      </p:sp>
      <p:sp>
        <p:nvSpPr>
          <p:cNvPr id="21" name="Rectangle 20"/>
          <p:cNvSpPr/>
          <p:nvPr/>
        </p:nvSpPr>
        <p:spPr bwMode="gray">
          <a:xfrm>
            <a:off x="367167" y="7226733"/>
            <a:ext cx="4179454" cy="258504"/>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PSMP 2016 Revised Study, Industry Reports, Deloitte Analysis</a:t>
            </a:r>
            <a:endParaRPr kumimoji="0" lang="en-IN" sz="700" b="0" i="1"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2906229216"/>
      </p:ext>
    </p:extLst>
  </p:cSld>
  <p:clrMapOvr>
    <a:masterClrMapping/>
  </p:clrMapOvr>
  <p:transition>
    <p:fade/>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126998194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4" imgW="530" imgH="531" progId="TCLayout.ActiveDocument.1">
                  <p:embed/>
                </p:oleObj>
              </mc:Choice>
              <mc:Fallback>
                <p:oleObj name="think-cell Slide" r:id="rId64" imgW="530" imgH="531" progId="TCLayout.ActiveDocument.1">
                  <p:embed/>
                  <p:pic>
                    <p:nvPicPr>
                      <p:cNvPr id="4" name="Object 3" hidden="1"/>
                      <p:cNvPicPr/>
                      <p:nvPr/>
                    </p:nvPicPr>
                    <p:blipFill>
                      <a:blip r:embed="rId65"/>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IN" sz="900" u="none" strike="noStrike" kern="1200" cap="none" spc="0" normalizeH="0" noProof="0" dirty="0">
              <a:ln>
                <a:noFill/>
              </a:ln>
              <a:solidFill>
                <a:prstClr val="white"/>
              </a:solidFill>
              <a:effectLst/>
              <a:uLnTx/>
              <a:uFillTx/>
              <a:latin typeface="Verdana" panose="020B0604030504040204" pitchFamily="34" charset="0"/>
              <a:sym typeface="Verdana" panose="020B0604030504040204" pitchFamily="34" charset="0"/>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3949964874"/>
              </p:ext>
            </p:ext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figure shows the electrification ratio (%) in Bangladesh for past 5 years: </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figure shows the category wise retail electricity consumption (MU) for past 5 years:</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Power Market | Historical Power Demand</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Bangladesh has achieved 96% electrification ratio and is on track to achieve 100% ratio by FY2021; Domestic, Commercial and Industrial segments have shown over 8% YoY Growth</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3392330824"/>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lgn="just">
                        <a:spcBef>
                          <a:spcPts val="600"/>
                        </a:spcBef>
                        <a:spcAft>
                          <a:spcPts val="600"/>
                        </a:spcAft>
                        <a:buFont typeface="Arial" panose="020B0604020202020204" pitchFamily="34" charset="0"/>
                        <a:buNone/>
                      </a:pPr>
                      <a:r>
                        <a:rPr lang="en-US" sz="1000" b="1" baseline="0" dirty="0">
                          <a:solidFill>
                            <a:schemeClr val="tx1"/>
                          </a:solidFill>
                        </a:rPr>
                        <a:t>Historical Power Demand: </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The graph to the right (above) presents the electrification ratio in Bangladesh over the past 5 years, i.e. from FY 2015 to FY 2019. </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As can be seen from the graph, Bangladesh has achieved 93% electrification ratio in FY19 and is </a:t>
                      </a:r>
                      <a:r>
                        <a:rPr lang="en-US" sz="1000" b="1" i="1" baseline="0" dirty="0">
                          <a:solidFill>
                            <a:schemeClr val="tx1"/>
                          </a:solidFill>
                        </a:rPr>
                        <a:t>on track to achieve 100% electrification by FY2021</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The graph to the right (below) showcases the category wise contribution in the retail electricity consumption in Bangladesh</a:t>
                      </a:r>
                    </a:p>
                    <a:p>
                      <a:pPr marL="171450" indent="-171450" algn="just">
                        <a:spcBef>
                          <a:spcPts val="600"/>
                        </a:spcBef>
                        <a:spcAft>
                          <a:spcPts val="600"/>
                        </a:spcAft>
                        <a:buFont typeface="Arial" panose="020B0604020202020204" pitchFamily="34" charset="0"/>
                        <a:buChar char="•"/>
                      </a:pPr>
                      <a:r>
                        <a:rPr lang="en-US" sz="1000" b="1" i="1" baseline="0" dirty="0">
                          <a:solidFill>
                            <a:schemeClr val="tx1"/>
                          </a:solidFill>
                        </a:rPr>
                        <a:t>Domestic power consumption has been the driving factor for power consumption in Bangladesh </a:t>
                      </a:r>
                      <a:r>
                        <a:rPr lang="en-US" sz="1000" b="0" baseline="0" dirty="0">
                          <a:solidFill>
                            <a:schemeClr val="tx1"/>
                          </a:solidFill>
                        </a:rPr>
                        <a:t>along with Commercial and Industrial segment (excluding captive).</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The CAGR of the various consumer segments between FY15 and FY19 are as follows:</a:t>
                      </a:r>
                    </a:p>
                    <a:p>
                      <a:pPr marL="666736" lvl="1" indent="-171450" algn="just">
                        <a:spcBef>
                          <a:spcPts val="0"/>
                        </a:spcBef>
                        <a:spcAft>
                          <a:spcPts val="600"/>
                        </a:spcAft>
                        <a:buFont typeface="Courier New" panose="02070309020205020404" pitchFamily="49" charset="0"/>
                        <a:buChar char="o"/>
                      </a:pPr>
                      <a:r>
                        <a:rPr lang="en-US" sz="1000" b="0" baseline="0" dirty="0">
                          <a:solidFill>
                            <a:schemeClr val="tx1"/>
                          </a:solidFill>
                        </a:rPr>
                        <a:t>Domestic – 12.7%</a:t>
                      </a:r>
                    </a:p>
                    <a:p>
                      <a:pPr marL="666736" lvl="1" indent="-171450" algn="just">
                        <a:spcBef>
                          <a:spcPts val="0"/>
                        </a:spcBef>
                        <a:spcAft>
                          <a:spcPts val="600"/>
                        </a:spcAft>
                        <a:buFont typeface="Courier New" panose="02070309020205020404" pitchFamily="49" charset="0"/>
                        <a:buChar char="o"/>
                      </a:pPr>
                      <a:r>
                        <a:rPr lang="en-US" sz="1000" b="0" baseline="0" dirty="0">
                          <a:solidFill>
                            <a:schemeClr val="tx1"/>
                          </a:solidFill>
                        </a:rPr>
                        <a:t>Agriculture – 1.6%</a:t>
                      </a:r>
                    </a:p>
                    <a:p>
                      <a:pPr marL="666736" lvl="1" indent="-171450" algn="just">
                        <a:spcBef>
                          <a:spcPts val="0"/>
                        </a:spcBef>
                        <a:spcAft>
                          <a:spcPts val="600"/>
                        </a:spcAft>
                        <a:buFont typeface="Courier New" panose="02070309020205020404" pitchFamily="49" charset="0"/>
                        <a:buChar char="o"/>
                      </a:pPr>
                      <a:r>
                        <a:rPr lang="en-US" sz="1000" b="0" baseline="0" dirty="0">
                          <a:solidFill>
                            <a:schemeClr val="tx1"/>
                          </a:solidFill>
                        </a:rPr>
                        <a:t>Industrial – 8.3%</a:t>
                      </a:r>
                    </a:p>
                    <a:p>
                      <a:pPr marL="666736" lvl="1" indent="-171450" algn="just">
                        <a:spcBef>
                          <a:spcPts val="0"/>
                        </a:spcBef>
                        <a:spcAft>
                          <a:spcPts val="600"/>
                        </a:spcAft>
                        <a:buFont typeface="Courier New" panose="02070309020205020404" pitchFamily="49" charset="0"/>
                        <a:buChar char="o"/>
                      </a:pPr>
                      <a:r>
                        <a:rPr lang="en-US" sz="1000" b="0" baseline="0" dirty="0">
                          <a:solidFill>
                            <a:schemeClr val="tx1"/>
                          </a:solidFill>
                        </a:rPr>
                        <a:t>Commercial – 19.5%</a:t>
                      </a:r>
                    </a:p>
                    <a:p>
                      <a:pPr marL="666736" lvl="1" indent="-171450" algn="just">
                        <a:spcBef>
                          <a:spcPts val="0"/>
                        </a:spcBef>
                        <a:spcAft>
                          <a:spcPts val="600"/>
                        </a:spcAft>
                        <a:buFont typeface="Courier New" panose="02070309020205020404" pitchFamily="49" charset="0"/>
                        <a:buChar char="o"/>
                      </a:pPr>
                      <a:r>
                        <a:rPr lang="en-US" sz="1000" b="0" baseline="0" dirty="0">
                          <a:solidFill>
                            <a:schemeClr val="tx1"/>
                          </a:solidFill>
                        </a:rPr>
                        <a:t>Others – 27.4%</a:t>
                      </a:r>
                    </a:p>
                    <a:p>
                      <a:pPr marL="171450" lvl="1" indent="-171450" algn="just" defTabSz="990571" rtl="0" eaLnBrk="1" latinLnBrk="0" hangingPunct="1">
                        <a:spcBef>
                          <a:spcPts val="60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There is also a captive power base of ~3,000 MW in Bangladesh which is serving the industrial power demand and is not included in the above consumption growth.</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68" name="Chart 67"/>
          <p:cNvGraphicFramePr/>
          <p:nvPr>
            <p:custDataLst>
              <p:tags r:id="rId5"/>
            </p:custDataLst>
            <p:extLst>
              <p:ext uri="{D42A27DB-BD31-4B8C-83A1-F6EECF244321}">
                <p14:modId xmlns:p14="http://schemas.microsoft.com/office/powerpoint/2010/main" val="365585386"/>
              </p:ext>
            </p:extLst>
          </p:nvPr>
        </p:nvGraphicFramePr>
        <p:xfrm>
          <a:off x="5441950" y="4765675"/>
          <a:ext cx="4794250" cy="1846263"/>
        </p:xfrm>
        <a:graphic>
          <a:graphicData uri="http://schemas.openxmlformats.org/drawingml/2006/chart">
            <c:chart xmlns:c="http://schemas.openxmlformats.org/drawingml/2006/chart" xmlns:r="http://schemas.openxmlformats.org/officeDocument/2006/relationships" r:id="rId66"/>
          </a:graphicData>
        </a:graphic>
      </p:graphicFrame>
      <p:cxnSp>
        <p:nvCxnSpPr>
          <p:cNvPr id="43" name="Straight Connector 42"/>
          <p:cNvCxnSpPr/>
          <p:nvPr>
            <p:custDataLst>
              <p:tags r:id="rId6"/>
            </p:custDataLst>
          </p:nvPr>
        </p:nvCxnSpPr>
        <p:spPr bwMode="auto">
          <a:xfrm flipH="1">
            <a:off x="9882188" y="6435725"/>
            <a:ext cx="79375" cy="74613"/>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6" name="StandardTextbox"/>
          <p:cNvSpPr>
            <a:spLocks noGrp="1"/>
          </p:cNvSpPr>
          <p:nvPr>
            <p:custDataLst>
              <p:tags r:id="rId7"/>
            </p:custDataLst>
          </p:nvPr>
        </p:nvSpPr>
        <p:spPr bwMode="gray">
          <a:xfrm>
            <a:off x="9961563" y="6367463"/>
            <a:ext cx="233363" cy="136525"/>
          </a:xfrm>
          <a:prstGeom prst="rect">
            <a:avLst/>
          </a:prstGeom>
          <a:noFill/>
          <a:ln>
            <a:noFill/>
          </a:ln>
          <a:extLst>
            <a:ext uri="{909E8E84-426E-40DD-AFC4-6F175D3DCCD1}">
              <a14:hiddenFill xmlns:a14="http://schemas.microsoft.com/office/drawing/2010/main">
                <a:solidFill>
                  <a:srgbClr val="86BC25"/>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6C169A10-7DB4-491E-B132-3D63224865A5}" type="datetime'''''2''''''''''''''''''''''''''''''%'''''''">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2%</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95" name="StandardTextbox"/>
          <p:cNvSpPr>
            <a:spLocks noGrp="1"/>
          </p:cNvSpPr>
          <p:nvPr>
            <p:custDataLst>
              <p:tags r:id="rId8"/>
            </p:custDataLst>
          </p:nvPr>
        </p:nvSpPr>
        <p:spPr bwMode="gray">
          <a:xfrm>
            <a:off x="5834063" y="5664200"/>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37D582C-F598-4E83-9A05-81C2CB3C98EC}" type="datetime'''''''52''''''''''''''''''%'''''''''''''''''''''''''">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52%</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67" name="StandardTextbox"/>
          <p:cNvSpPr>
            <a:spLocks noGrp="1"/>
          </p:cNvSpPr>
          <p:nvPr>
            <p:custDataLst>
              <p:tags r:id="rId9"/>
            </p:custDataLst>
          </p:nvPr>
        </p:nvSpPr>
        <p:spPr bwMode="gray">
          <a:xfrm>
            <a:off x="6924675" y="6380163"/>
            <a:ext cx="233363" cy="136525"/>
          </a:xfrm>
          <a:prstGeom prst="rect">
            <a:avLst/>
          </a:prstGeom>
          <a:noFill/>
          <a:ln>
            <a:noFill/>
          </a:ln>
          <a:extLst>
            <a:ext uri="{909E8E84-426E-40DD-AFC4-6F175D3DCCD1}">
              <a14:hiddenFill xmlns:a14="http://schemas.microsoft.com/office/drawing/2010/main">
                <a:solidFill>
                  <a:srgbClr val="046A38"/>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035A4D8-13CA-4CBF-9B81-571FF0770F76}" type="datetime'9''''''''%'''''">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9%</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14" name="StandardTextbox"/>
          <p:cNvSpPr>
            <a:spLocks noGrp="1"/>
          </p:cNvSpPr>
          <p:nvPr>
            <p:custDataLst>
              <p:tags r:id="rId10"/>
            </p:custDataLst>
          </p:nvPr>
        </p:nvSpPr>
        <p:spPr bwMode="gray">
          <a:xfrm>
            <a:off x="8648700" y="5773738"/>
            <a:ext cx="233363" cy="136525"/>
          </a:xfrm>
          <a:prstGeom prst="rect">
            <a:avLst/>
          </a:prstGeom>
          <a:solidFill>
            <a:srgbClr val="012169"/>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53115EF3-870E-4AA9-BBB4-65A1059C5A71}" type="datetime'''''''3''%'''''''''''''''''''''''''''''">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3%</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52" name="StandardTextbox"/>
          <p:cNvSpPr>
            <a:spLocks noGrp="1"/>
          </p:cNvSpPr>
          <p:nvPr>
            <p:custDataLst>
              <p:tags r:id="rId11"/>
            </p:custDataLst>
          </p:nvPr>
        </p:nvSpPr>
        <p:spPr bwMode="gray">
          <a:xfrm>
            <a:off x="5870575" y="5964238"/>
            <a:ext cx="233363" cy="136525"/>
          </a:xfrm>
          <a:prstGeom prst="rect">
            <a:avLst/>
          </a:prstGeom>
          <a:solidFill>
            <a:srgbClr val="012169"/>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9770469-F01B-4E3C-92DC-3F6913C12269}" type="datetime'4''''''''''''''''''''''''%'''''''''''''''''''''''''''''''''''">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4%</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02" name="StandardTextbox"/>
          <p:cNvSpPr>
            <a:spLocks noGrp="1"/>
          </p:cNvSpPr>
          <p:nvPr>
            <p:custDataLst>
              <p:tags r:id="rId12"/>
            </p:custDataLst>
          </p:nvPr>
        </p:nvSpPr>
        <p:spPr bwMode="gray">
          <a:xfrm>
            <a:off x="5834063" y="6165850"/>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8B58AEEF-171D-4605-9F63-E13C3FFE6D51}" type="datetime'''''34%'''''">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34%</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12" name="StandardTextbox"/>
          <p:cNvSpPr>
            <a:spLocks noGrp="1"/>
          </p:cNvSpPr>
          <p:nvPr>
            <p:custDataLst>
              <p:tags r:id="rId13"/>
            </p:custDataLst>
          </p:nvPr>
        </p:nvSpPr>
        <p:spPr bwMode="gray">
          <a:xfrm>
            <a:off x="8777288" y="6359525"/>
            <a:ext cx="23336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50EAADF9-9647-4318-B7E1-0DFDA626632C}" type="datetime'''9%'''''''''''''''''''''''''''''''''''">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9%</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01" name="StandardTextbox"/>
          <p:cNvSpPr>
            <a:spLocks noGrp="1"/>
          </p:cNvSpPr>
          <p:nvPr>
            <p:custDataLst>
              <p:tags r:id="rId14"/>
            </p:custDataLst>
          </p:nvPr>
        </p:nvSpPr>
        <p:spPr bwMode="gray">
          <a:xfrm>
            <a:off x="5741988" y="6453188"/>
            <a:ext cx="233363" cy="136525"/>
          </a:xfrm>
          <a:prstGeom prst="rect">
            <a:avLst/>
          </a:prstGeom>
          <a:solidFill>
            <a:srgbClr val="86BC25"/>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BBE7EF4-A047-4DC5-A6E5-08779824C162}" type="datetime'''1''''''''''''''%'''''''''''''''''''''''''''''''''''''''">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30" name="StandardTextbox"/>
          <p:cNvSpPr>
            <a:spLocks noGrp="1"/>
          </p:cNvSpPr>
          <p:nvPr>
            <p:custDataLst>
              <p:tags r:id="rId15"/>
            </p:custDataLst>
          </p:nvPr>
        </p:nvSpPr>
        <p:spPr bwMode="auto">
          <a:xfrm>
            <a:off x="5840413" y="6627813"/>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A602D45-AF2E-47A8-A18B-7CEC9ECFF8A1}" type="datetime'''''''''''''''''''''''''''''''F''Y''1''''5'''''''''''">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FY15</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3" name="StandardTextbox"/>
          <p:cNvSpPr>
            <a:spLocks noGrp="1"/>
          </p:cNvSpPr>
          <p:nvPr>
            <p:custDataLst>
              <p:tags r:id="rId16"/>
            </p:custDataLst>
          </p:nvPr>
        </p:nvSpPr>
        <p:spPr bwMode="gray">
          <a:xfrm>
            <a:off x="6796088" y="5880100"/>
            <a:ext cx="233363" cy="136525"/>
          </a:xfrm>
          <a:prstGeom prst="rect">
            <a:avLst/>
          </a:prstGeom>
          <a:solidFill>
            <a:srgbClr val="012169"/>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E383A08D-F755-4048-B17E-73A74136ACBD}" type="datetime'''''4''''''''''''''''''''''''''''''''''''''''''%'''''''''''">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4%</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63" name="StandardTextbox"/>
          <p:cNvSpPr>
            <a:spLocks noGrp="1"/>
          </p:cNvSpPr>
          <p:nvPr>
            <p:custDataLst>
              <p:tags r:id="rId17"/>
            </p:custDataLst>
          </p:nvPr>
        </p:nvSpPr>
        <p:spPr bwMode="gray">
          <a:xfrm>
            <a:off x="9574213" y="5699125"/>
            <a:ext cx="233363" cy="136525"/>
          </a:xfrm>
          <a:prstGeom prst="rect">
            <a:avLst/>
          </a:prstGeom>
          <a:solidFill>
            <a:srgbClr val="012169"/>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2E9E11B-E9C8-4883-A285-9C5A33922F50}" type="datetime'''3''''''''''''''%'''''''''''''''''''''''''">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3%</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05" name="StandardTextbox"/>
          <p:cNvSpPr>
            <a:spLocks noGrp="1"/>
          </p:cNvSpPr>
          <p:nvPr>
            <p:custDataLst>
              <p:tags r:id="rId18"/>
            </p:custDataLst>
          </p:nvPr>
        </p:nvSpPr>
        <p:spPr bwMode="gray">
          <a:xfrm>
            <a:off x="6759575" y="5545138"/>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A3E43CE-D4D4-4E71-A66F-2DA85D531072}" type="datetime'''''5''''''''''1''''''''''''''''''''''%'''''''''''">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51%</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04" name="StandardTextbox"/>
          <p:cNvSpPr>
            <a:spLocks noGrp="1"/>
          </p:cNvSpPr>
          <p:nvPr>
            <p:custDataLst>
              <p:tags r:id="rId19"/>
            </p:custDataLst>
          </p:nvPr>
        </p:nvSpPr>
        <p:spPr bwMode="gray">
          <a:xfrm>
            <a:off x="6759575" y="6111875"/>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8B84641-BF5E-46DB-9902-3DD8766D4A1A}" type="datetime'''''''''''3''''''''''''4''''''''''''%'''''''''''">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34%</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03" name="StandardTextbox"/>
          <p:cNvSpPr>
            <a:spLocks noGrp="1"/>
          </p:cNvSpPr>
          <p:nvPr>
            <p:custDataLst>
              <p:tags r:id="rId20"/>
            </p:custDataLst>
          </p:nvPr>
        </p:nvSpPr>
        <p:spPr bwMode="gray">
          <a:xfrm>
            <a:off x="6667500" y="6448425"/>
            <a:ext cx="233363" cy="136525"/>
          </a:xfrm>
          <a:prstGeom prst="rect">
            <a:avLst/>
          </a:prstGeom>
          <a:solidFill>
            <a:srgbClr val="86BC25"/>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F48A702-8859-4281-B8C1-36D7A1FC973B}" type="datetime'''''2''''''%'''''''''''''''''''''''''''''''''''''''''''''">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2%</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31" name="StandardTextbox"/>
          <p:cNvSpPr>
            <a:spLocks noGrp="1"/>
          </p:cNvSpPr>
          <p:nvPr>
            <p:custDataLst>
              <p:tags r:id="rId21"/>
            </p:custDataLst>
          </p:nvPr>
        </p:nvSpPr>
        <p:spPr bwMode="auto">
          <a:xfrm>
            <a:off x="6765925" y="6627813"/>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403F763-7B90-48A4-9E81-A0EB15C72484}" type="datetime'''''''''''''''F''''Y1''''6'''''''''''''''''''''''''''''">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FY16</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7" name="StandardTextbox"/>
          <p:cNvSpPr>
            <a:spLocks noGrp="1"/>
          </p:cNvSpPr>
          <p:nvPr>
            <p:custDataLst>
              <p:tags r:id="rId22"/>
            </p:custDataLst>
          </p:nvPr>
        </p:nvSpPr>
        <p:spPr bwMode="gray">
          <a:xfrm>
            <a:off x="6689725" y="5140325"/>
            <a:ext cx="4445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3A64B1A-7B2C-4C34-BFDE-C1B1A46D5EFD}" type="datetime'''''''''''45'',''''''''29''''''''''''''''''''''''''9'''''''">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45,299</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1" name="StandardTextbox"/>
          <p:cNvSpPr>
            <a:spLocks noGrp="1"/>
          </p:cNvSpPr>
          <p:nvPr>
            <p:custDataLst>
              <p:tags r:id="rId23"/>
            </p:custDataLst>
          </p:nvPr>
        </p:nvSpPr>
        <p:spPr bwMode="auto">
          <a:xfrm>
            <a:off x="9544050" y="6627813"/>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E5A328AB-7A31-484D-9360-52B05C1B5CCA}" type="datetime'''F''''''''''''''''''Y''''''''1''9'''''''''''''''''''">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FY19</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10" name="StandardTextbox"/>
          <p:cNvSpPr>
            <a:spLocks noGrp="1"/>
          </p:cNvSpPr>
          <p:nvPr>
            <p:custDataLst>
              <p:tags r:id="rId24"/>
            </p:custDataLst>
          </p:nvPr>
        </p:nvSpPr>
        <p:spPr bwMode="gray">
          <a:xfrm>
            <a:off x="7685088" y="5440363"/>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B58C782-06E1-40A5-961A-EB49AB3F048B}" type="datetime'5''''0''''%'''''''''''">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50%</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66" name="StandardTextbox"/>
          <p:cNvSpPr>
            <a:spLocks noGrp="1"/>
          </p:cNvSpPr>
          <p:nvPr>
            <p:custDataLst>
              <p:tags r:id="rId25"/>
            </p:custDataLst>
          </p:nvPr>
        </p:nvSpPr>
        <p:spPr bwMode="gray">
          <a:xfrm>
            <a:off x="5999163" y="6396038"/>
            <a:ext cx="233363" cy="136525"/>
          </a:xfrm>
          <a:prstGeom prst="rect">
            <a:avLst/>
          </a:prstGeom>
          <a:solidFill>
            <a:srgbClr val="046A38"/>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277EAB8-930C-4F0D-9B0A-9D6BF5557FA8}" type="datetime'''''''''''''''''''''''''''''''''''''''9''''''%'''">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9%</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09" name="StandardTextbox"/>
          <p:cNvSpPr>
            <a:spLocks noGrp="1"/>
          </p:cNvSpPr>
          <p:nvPr>
            <p:custDataLst>
              <p:tags r:id="rId26"/>
            </p:custDataLst>
          </p:nvPr>
        </p:nvSpPr>
        <p:spPr bwMode="gray">
          <a:xfrm>
            <a:off x="7721600" y="5803900"/>
            <a:ext cx="233363" cy="136525"/>
          </a:xfrm>
          <a:prstGeom prst="rect">
            <a:avLst/>
          </a:prstGeom>
          <a:solidFill>
            <a:srgbClr val="012169"/>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4DEE7C56-F260-4F8F-9FC0-F5CD10DF2F73}" type="datetime'''''''''''3''''%'''''''''''''''''''''''''''">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3%</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08" name="StandardTextbox"/>
          <p:cNvSpPr>
            <a:spLocks noGrp="1"/>
          </p:cNvSpPr>
          <p:nvPr>
            <p:custDataLst>
              <p:tags r:id="rId27"/>
            </p:custDataLst>
          </p:nvPr>
        </p:nvSpPr>
        <p:spPr bwMode="gray">
          <a:xfrm>
            <a:off x="7685088" y="6065838"/>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856C14D8-7252-4529-8E6C-1B85EB4D8ACD}" type="datetime'''''''''''''''''''''''35''''%'''''''''''''''''''">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35%</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07" name="StandardTextbox"/>
          <p:cNvSpPr>
            <a:spLocks noGrp="1"/>
          </p:cNvSpPr>
          <p:nvPr>
            <p:custDataLst>
              <p:tags r:id="rId28"/>
            </p:custDataLst>
          </p:nvPr>
        </p:nvSpPr>
        <p:spPr bwMode="gray">
          <a:xfrm>
            <a:off x="7851775" y="6370638"/>
            <a:ext cx="23336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E603B09-2FA5-415A-B768-B02D03F079C8}" type="datetime'''''''9''''''''''''''%'''''''">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9%</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51" name="StandardTextbox"/>
          <p:cNvSpPr>
            <a:spLocks noGrp="1"/>
          </p:cNvSpPr>
          <p:nvPr>
            <p:custDataLst>
              <p:tags r:id="rId29"/>
            </p:custDataLst>
          </p:nvPr>
        </p:nvSpPr>
        <p:spPr bwMode="gray">
          <a:xfrm>
            <a:off x="9467850" y="4686300"/>
            <a:ext cx="4445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2792B54-6FDF-4D78-85FC-3F02218AD6D6}" type="datetime'''''6''''2'',''''''''0''3''''''''''''''''7'''''">
              <a:rPr kumimoji="0" lang="en-IN" altLang="en-US" sz="9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62,037</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06" name="StandardTextbox"/>
          <p:cNvSpPr>
            <a:spLocks noGrp="1"/>
          </p:cNvSpPr>
          <p:nvPr>
            <p:custDataLst>
              <p:tags r:id="rId30"/>
            </p:custDataLst>
          </p:nvPr>
        </p:nvSpPr>
        <p:spPr bwMode="gray">
          <a:xfrm>
            <a:off x="7593013" y="6446838"/>
            <a:ext cx="233363" cy="136525"/>
          </a:xfrm>
          <a:prstGeom prst="rect">
            <a:avLst/>
          </a:prstGeom>
          <a:solidFill>
            <a:srgbClr val="86BC25"/>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871C91DF-BF26-49A3-984F-E0FCED664EEA}" type="datetime'''''2''''''''%'''">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2%</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32" name="StandardTextbox"/>
          <p:cNvSpPr>
            <a:spLocks noGrp="1"/>
          </p:cNvSpPr>
          <p:nvPr>
            <p:custDataLst>
              <p:tags r:id="rId31"/>
            </p:custDataLst>
          </p:nvPr>
        </p:nvSpPr>
        <p:spPr bwMode="auto">
          <a:xfrm>
            <a:off x="7691438" y="6627813"/>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EAED8A5-C9E7-48D3-89D9-E4DF5B2612D8}" type="datetime'''''''''''''''F''''''''''''''''Y1''''7'''''''">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FY17</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15" name="StandardTextbox"/>
          <p:cNvSpPr>
            <a:spLocks noGrp="1"/>
          </p:cNvSpPr>
          <p:nvPr>
            <p:custDataLst>
              <p:tags r:id="rId32"/>
            </p:custDataLst>
          </p:nvPr>
        </p:nvSpPr>
        <p:spPr bwMode="gray">
          <a:xfrm>
            <a:off x="8612188" y="5360988"/>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104A756E-5AC5-42CB-A90B-077C09E503BD}" type="datetime'''''5''''''3''''''''%'''''''''''''''''''''''''''''''''''''''''">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53%</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13" name="StandardTextbox"/>
          <p:cNvSpPr>
            <a:spLocks noGrp="1"/>
          </p:cNvSpPr>
          <p:nvPr>
            <p:custDataLst>
              <p:tags r:id="rId33"/>
            </p:custDataLst>
          </p:nvPr>
        </p:nvSpPr>
        <p:spPr bwMode="gray">
          <a:xfrm>
            <a:off x="8612188" y="6042025"/>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90D80D9-0EEB-40E9-BD57-97186F4CC1F7}" type="datetime'''''''''''3''''''''''''''3''''%'">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33%</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11" name="StandardTextbox"/>
          <p:cNvSpPr>
            <a:spLocks noGrp="1"/>
          </p:cNvSpPr>
          <p:nvPr>
            <p:custDataLst>
              <p:tags r:id="rId34"/>
            </p:custDataLst>
          </p:nvPr>
        </p:nvSpPr>
        <p:spPr bwMode="gray">
          <a:xfrm>
            <a:off x="8520113" y="6445250"/>
            <a:ext cx="233363" cy="136525"/>
          </a:xfrm>
          <a:prstGeom prst="rect">
            <a:avLst/>
          </a:prstGeom>
          <a:solidFill>
            <a:srgbClr val="86BC25"/>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82BEC52-7EC0-43A8-A9B3-8640D345EBB3}" type="datetime'''''''''''''''''''''''''2%'''''''''''''''''''">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2%</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40" name="StandardTextbox"/>
          <p:cNvSpPr>
            <a:spLocks noGrp="1"/>
          </p:cNvSpPr>
          <p:nvPr>
            <p:custDataLst>
              <p:tags r:id="rId35"/>
            </p:custDataLst>
          </p:nvPr>
        </p:nvSpPr>
        <p:spPr bwMode="auto">
          <a:xfrm>
            <a:off x="8618538" y="6627813"/>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45D747C4-F0BA-43C2-B6B4-5713D3341E6C}" type="datetime'''''''''''''''''''''F''''''''''''Y''''''''''''1''''8'''''''">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FY18</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19" name="StandardTextbox"/>
          <p:cNvSpPr>
            <a:spLocks noGrp="1"/>
          </p:cNvSpPr>
          <p:nvPr>
            <p:custDataLst>
              <p:tags r:id="rId36"/>
            </p:custDataLst>
          </p:nvPr>
        </p:nvSpPr>
        <p:spPr bwMode="gray">
          <a:xfrm>
            <a:off x="9537700" y="5227638"/>
            <a:ext cx="306388" cy="136525"/>
          </a:xfrm>
          <a:prstGeom prst="rect">
            <a:avLst/>
          </a:prstGeom>
          <a:noFill/>
          <a:ln>
            <a:noFill/>
          </a:ln>
          <a:extLst>
            <a:ext uri="{909E8E84-426E-40DD-AFC4-6F175D3DCCD1}">
              <a14:hiddenFill xmlns:a14="http://schemas.microsoft.com/office/drawing/2010/main">
                <a:solidFill>
                  <a:srgbClr val="0097A9"/>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B31BFFE-FDE4-48B2-A46D-32E53FC22A12}" type="datetime'''''''''''''53''''''''''''''''%'''''''''''">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53%</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18" name="StandardTextbox"/>
          <p:cNvSpPr>
            <a:spLocks noGrp="1"/>
          </p:cNvSpPr>
          <p:nvPr>
            <p:custDataLst>
              <p:tags r:id="rId37"/>
            </p:custDataLst>
          </p:nvPr>
        </p:nvSpPr>
        <p:spPr bwMode="gray">
          <a:xfrm>
            <a:off x="9537700" y="5970588"/>
            <a:ext cx="306388" cy="136525"/>
          </a:xfrm>
          <a:prstGeom prst="rect">
            <a:avLst/>
          </a:prstGeom>
          <a:noFill/>
          <a:ln>
            <a:noFill/>
          </a:ln>
          <a:extLst>
            <a:ext uri="{909E8E84-426E-40DD-AFC4-6F175D3DCCD1}">
              <a14:hiddenFill xmlns:a14="http://schemas.microsoft.com/office/drawing/2010/main">
                <a:solidFill>
                  <a:srgbClr val="62B5E5"/>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EEE4CE3-1B9A-4295-9134-ED7A708BD4E5}" type="datetime'''''''''''''3''''''''''''''''''''''''''''''''''''0%'">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30%</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17" name="StandardTextbox"/>
          <p:cNvSpPr>
            <a:spLocks noGrp="1"/>
          </p:cNvSpPr>
          <p:nvPr>
            <p:custDataLst>
              <p:tags r:id="rId38"/>
            </p:custDataLst>
          </p:nvPr>
        </p:nvSpPr>
        <p:spPr bwMode="gray">
          <a:xfrm>
            <a:off x="9537700" y="6321425"/>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C674FE12-1808-4C93-A2FC-354EE35A21E6}" type="datetime'''''''''1''''''2''''''''''%'''''''''''''''''''''''''">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12%</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36" name="StandardTextbox"/>
          <p:cNvSpPr>
            <a:spLocks noGrp="1"/>
          </p:cNvSpPr>
          <p:nvPr>
            <p:custDataLst>
              <p:tags r:id="rId39"/>
            </p:custDataLst>
          </p:nvPr>
        </p:nvSpPr>
        <p:spPr bwMode="gray">
          <a:xfrm>
            <a:off x="5764213" y="5294313"/>
            <a:ext cx="4445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C2D5CCB-EFC4-4553-901E-A0955BFA9BD6}" type="datetime'''''''''''''''''3''''9'''''',''620'">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39,620</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8" name="StandardTextbox"/>
          <p:cNvSpPr>
            <a:spLocks noGrp="1"/>
          </p:cNvSpPr>
          <p:nvPr>
            <p:custDataLst>
              <p:tags r:id="rId40"/>
            </p:custDataLst>
          </p:nvPr>
        </p:nvSpPr>
        <p:spPr bwMode="gray">
          <a:xfrm>
            <a:off x="7615238" y="5005388"/>
            <a:ext cx="4445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CC1F6AA-2312-4B30-80BC-BAA3962FFA66}" type="datetime'''''''''5''0'''''',''''''''''''''''2''''6''''''''''''''''0'">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50,260</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9" name="StandardTextbox"/>
          <p:cNvSpPr>
            <a:spLocks noGrp="1"/>
          </p:cNvSpPr>
          <p:nvPr>
            <p:custDataLst>
              <p:tags r:id="rId41"/>
            </p:custDataLst>
          </p:nvPr>
        </p:nvSpPr>
        <p:spPr bwMode="gray">
          <a:xfrm>
            <a:off x="8542338" y="4873625"/>
            <a:ext cx="4445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A85CC39-1D9B-42A7-9A72-EF4897FB10BC}" type="datetime'''''''''''''''''''55'''''''',''1''''''''''0''''''3'">
              <a:rPr kumimoji="0" lang="en-IN" altLang="en-US" sz="9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55,103</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5" name="Rectangle 24"/>
          <p:cNvSpPr/>
          <p:nvPr>
            <p:custDataLst>
              <p:tags r:id="rId42"/>
            </p:custDataLst>
          </p:nvPr>
        </p:nvSpPr>
        <p:spPr bwMode="auto">
          <a:xfrm>
            <a:off x="7572375" y="6889750"/>
            <a:ext cx="160338" cy="120650"/>
          </a:xfrm>
          <a:prstGeom prst="rect">
            <a:avLst/>
          </a:prstGeom>
          <a:solidFill>
            <a:srgbClr val="62B5E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4" name="Rectangle 23"/>
          <p:cNvSpPr/>
          <p:nvPr>
            <p:custDataLst>
              <p:tags r:id="rId43"/>
            </p:custDataLst>
          </p:nvPr>
        </p:nvSpPr>
        <p:spPr bwMode="auto">
          <a:xfrm>
            <a:off x="6629400" y="6889750"/>
            <a:ext cx="160338" cy="120650"/>
          </a:xfrm>
          <a:prstGeom prst="rect">
            <a:avLst/>
          </a:prstGeom>
          <a:solidFill>
            <a:srgbClr val="012169"/>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3" name="Rectangle 22"/>
          <p:cNvSpPr/>
          <p:nvPr>
            <p:custDataLst>
              <p:tags r:id="rId44"/>
            </p:custDataLst>
          </p:nvPr>
        </p:nvSpPr>
        <p:spPr bwMode="auto">
          <a:xfrm>
            <a:off x="5783263" y="6889750"/>
            <a:ext cx="160338" cy="120650"/>
          </a:xfrm>
          <a:prstGeom prst="rect">
            <a:avLst/>
          </a:prstGeom>
          <a:solidFill>
            <a:srgbClr val="0097A9"/>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6" name="Rectangle 25"/>
          <p:cNvSpPr/>
          <p:nvPr>
            <p:custDataLst>
              <p:tags r:id="rId45"/>
            </p:custDataLst>
          </p:nvPr>
        </p:nvSpPr>
        <p:spPr bwMode="auto">
          <a:xfrm>
            <a:off x="8435975" y="6889750"/>
            <a:ext cx="160338" cy="120650"/>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7" name="Rectangle 26"/>
          <p:cNvSpPr/>
          <p:nvPr>
            <p:custDataLst>
              <p:tags r:id="rId46"/>
            </p:custDataLst>
          </p:nvPr>
        </p:nvSpPr>
        <p:spPr bwMode="auto">
          <a:xfrm>
            <a:off x="9429750" y="6889750"/>
            <a:ext cx="160338" cy="1206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33" name="StandardTextbox"/>
          <p:cNvSpPr>
            <a:spLocks noGrp="1"/>
          </p:cNvSpPr>
          <p:nvPr>
            <p:custDataLst>
              <p:tags r:id="rId47"/>
            </p:custDataLst>
          </p:nvPr>
        </p:nvSpPr>
        <p:spPr bwMode="auto">
          <a:xfrm>
            <a:off x="5994400" y="6886576"/>
            <a:ext cx="5334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2A1114C4-3A77-4985-B788-D7F732937268}" type="datetime'''''''''''''''''''''''''''D''''ome''''s''''''t''''''''i''c'''">
              <a:rPr kumimoji="0" lang="en-IN" altLang="en-US" sz="9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Domestic</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5" name="StandardTextbox"/>
          <p:cNvSpPr>
            <a:spLocks noGrp="1"/>
          </p:cNvSpPr>
          <p:nvPr>
            <p:custDataLst>
              <p:tags r:id="rId48"/>
            </p:custDataLst>
          </p:nvPr>
        </p:nvSpPr>
        <p:spPr bwMode="auto">
          <a:xfrm>
            <a:off x="7783513" y="6886576"/>
            <a:ext cx="55086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E4D5FFD3-BAC2-4E2F-88E3-809380C4B3DE}" type="datetime'In''''''dust''''''''''r''''''i''a''''''l'''''''''''''''''">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Industrial</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4" name="StandardTextbox"/>
          <p:cNvSpPr>
            <a:spLocks noGrp="1"/>
          </p:cNvSpPr>
          <p:nvPr>
            <p:custDataLst>
              <p:tags r:id="rId49"/>
            </p:custDataLst>
          </p:nvPr>
        </p:nvSpPr>
        <p:spPr bwMode="auto">
          <a:xfrm>
            <a:off x="6840538" y="6886575"/>
            <a:ext cx="63023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FF5B3218-B892-4430-8796-6ADCE9338EB5}" type="datetime'''''A''''''''''''''''gricu''lt''ur''e'''''''''''''''''">
              <a:rPr kumimoji="0" lang="en-IN" altLang="en-US" sz="9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Agriculture</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7" name="StandardTextbox"/>
          <p:cNvSpPr>
            <a:spLocks noGrp="1"/>
          </p:cNvSpPr>
          <p:nvPr>
            <p:custDataLst>
              <p:tags r:id="rId50"/>
            </p:custDataLst>
          </p:nvPr>
        </p:nvSpPr>
        <p:spPr bwMode="auto">
          <a:xfrm>
            <a:off x="8647113" y="6886575"/>
            <a:ext cx="68103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36FC65E1-2DCB-44C6-8495-65DD435A6C7D}" type="datetime'''''''''''''C''''o''mm''''''''''''''er''ci''''''a''''l'''">
              <a:rPr kumimoji="0" lang="en-IN" altLang="en-US" sz="9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Commercial</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8" name="StandardTextbox"/>
          <p:cNvSpPr>
            <a:spLocks noGrp="1"/>
          </p:cNvSpPr>
          <p:nvPr>
            <p:custDataLst>
              <p:tags r:id="rId51"/>
            </p:custDataLst>
          </p:nvPr>
        </p:nvSpPr>
        <p:spPr bwMode="auto">
          <a:xfrm>
            <a:off x="9640888" y="6886576"/>
            <a:ext cx="38576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7FFDCA20-2D66-483D-BEEC-07036BDF91B8}" type="datetime'''''Oth''''''''''''''e''''''''''r''''''''''''''''s'''''''''''">
              <a:rPr kumimoji="0" lang="en-IN" altLang="en-US" sz="9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Others</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graphicFrame>
        <p:nvGraphicFramePr>
          <p:cNvPr id="75" name="Chart 74"/>
          <p:cNvGraphicFramePr/>
          <p:nvPr>
            <p:custDataLst>
              <p:tags r:id="rId52"/>
            </p:custDataLst>
            <p:extLst>
              <p:ext uri="{D42A27DB-BD31-4B8C-83A1-F6EECF244321}">
                <p14:modId xmlns:p14="http://schemas.microsoft.com/office/powerpoint/2010/main" val="3052612637"/>
              </p:ext>
            </p:extLst>
          </p:nvPr>
        </p:nvGraphicFramePr>
        <p:xfrm>
          <a:off x="5654675" y="2471738"/>
          <a:ext cx="4684713" cy="1573212"/>
        </p:xfrm>
        <a:graphic>
          <a:graphicData uri="http://schemas.openxmlformats.org/drawingml/2006/chart">
            <c:chart xmlns:c="http://schemas.openxmlformats.org/drawingml/2006/chart" xmlns:r="http://schemas.openxmlformats.org/officeDocument/2006/relationships" r:id="rId67"/>
          </a:graphicData>
        </a:graphic>
      </p:graphicFrame>
      <p:sp>
        <p:nvSpPr>
          <p:cNvPr id="155" name="StandardTextbox"/>
          <p:cNvSpPr>
            <a:spLocks noGrp="1"/>
          </p:cNvSpPr>
          <p:nvPr>
            <p:custDataLst>
              <p:tags r:id="rId53"/>
            </p:custDataLst>
          </p:nvPr>
        </p:nvSpPr>
        <p:spPr bwMode="auto">
          <a:xfrm>
            <a:off x="6042025" y="4038601"/>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E179DA90-5EFA-44AE-99DD-164809E8B145}" type="datetime'''''''''''''''FY''''''''''''''1''''5'''''''''''''''''''">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FY15</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56" name="StandardTextbox"/>
          <p:cNvSpPr>
            <a:spLocks noGrp="1"/>
          </p:cNvSpPr>
          <p:nvPr>
            <p:custDataLst>
              <p:tags r:id="rId54"/>
            </p:custDataLst>
          </p:nvPr>
        </p:nvSpPr>
        <p:spPr bwMode="auto">
          <a:xfrm>
            <a:off x="6946900" y="4038601"/>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EF641ED-C89B-494A-959A-4AE603C6BB5A}" type="datetime'''''''''''''''''F''''Y''1''''6'''''''''''''''''">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FY16</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57" name="StandardTextbox"/>
          <p:cNvSpPr>
            <a:spLocks noGrp="1"/>
          </p:cNvSpPr>
          <p:nvPr>
            <p:custDataLst>
              <p:tags r:id="rId55"/>
            </p:custDataLst>
          </p:nvPr>
        </p:nvSpPr>
        <p:spPr bwMode="auto">
          <a:xfrm>
            <a:off x="7850188" y="4038601"/>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4A457EAD-52C7-477A-A6B5-88C96874CC68}" type="datetime'F''''''''''''''Y''''''''1''''''''''''7'''''''''''''">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FY17</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82" name="StandardTextbox"/>
          <p:cNvSpPr>
            <a:spLocks noGrp="1"/>
          </p:cNvSpPr>
          <p:nvPr>
            <p:custDataLst>
              <p:tags r:id="rId56"/>
            </p:custDataLst>
          </p:nvPr>
        </p:nvSpPr>
        <p:spPr bwMode="gray">
          <a:xfrm>
            <a:off x="7843838" y="2509839"/>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62FD930-C801-4DB7-8B54-710412D79F83}" type="datetime'8''''''''''''''''''''''''''''''''''''''''8''''''''''''%'''''">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88%</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62" name="StandardTextbox"/>
          <p:cNvSpPr>
            <a:spLocks noGrp="1"/>
          </p:cNvSpPr>
          <p:nvPr>
            <p:custDataLst>
              <p:tags r:id="rId57"/>
            </p:custDataLst>
          </p:nvPr>
        </p:nvSpPr>
        <p:spPr bwMode="auto">
          <a:xfrm>
            <a:off x="8755063" y="4038601"/>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C527B10-F9E4-4A87-BCBD-E9A27D1DCCD4}" type="datetime'''''''''''''''''''F''''''''''Y''''''''''''1''''''''''8'''''''">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FY18</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76" name="StandardTextbox"/>
          <p:cNvSpPr>
            <a:spLocks noGrp="1"/>
          </p:cNvSpPr>
          <p:nvPr>
            <p:custDataLst>
              <p:tags r:id="rId58"/>
            </p:custDataLst>
          </p:nvPr>
        </p:nvSpPr>
        <p:spPr bwMode="gray">
          <a:xfrm>
            <a:off x="6035675" y="2727326"/>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F2AE2275-0AF6-427B-9058-A0B4ADE16F5A}" type="datetime'7''3''''''''''''''''''''''''''''''''''%'''''''">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73%</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64" name="StandardTextbox"/>
          <p:cNvSpPr>
            <a:spLocks noGrp="1"/>
          </p:cNvSpPr>
          <p:nvPr>
            <p:custDataLst>
              <p:tags r:id="rId59"/>
            </p:custDataLst>
          </p:nvPr>
        </p:nvSpPr>
        <p:spPr bwMode="auto">
          <a:xfrm>
            <a:off x="9658350" y="4038601"/>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D0E67E3-AEDF-42B5-A282-0ECAA8CF2484}" type="datetime'F''''''''''Y''''''1''''''''9'''''''">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FY19</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81" name="StandardTextbox"/>
          <p:cNvSpPr>
            <a:spLocks noGrp="1"/>
          </p:cNvSpPr>
          <p:nvPr>
            <p:custDataLst>
              <p:tags r:id="rId60"/>
            </p:custDataLst>
          </p:nvPr>
        </p:nvSpPr>
        <p:spPr bwMode="gray">
          <a:xfrm>
            <a:off x="6940550" y="2687639"/>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DC446D0-1015-4488-B583-9890277734A9}" type="datetime'''''''''''7''''''''''''''''''''''''''6''%'''">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76%</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83" name="StandardTextbox"/>
          <p:cNvSpPr>
            <a:spLocks noGrp="1"/>
          </p:cNvSpPr>
          <p:nvPr>
            <p:custDataLst>
              <p:tags r:id="rId61"/>
            </p:custDataLst>
          </p:nvPr>
        </p:nvSpPr>
        <p:spPr bwMode="gray">
          <a:xfrm>
            <a:off x="8748713" y="2479676"/>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84784BFB-E59E-4ED2-860F-F79326D62B81}" type="datetime'''''9''0''''''''''''''''''''''%'''''''''''''''''''">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90%</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84" name="StandardTextbox"/>
          <p:cNvSpPr>
            <a:spLocks noGrp="1"/>
          </p:cNvSpPr>
          <p:nvPr>
            <p:custDataLst>
              <p:tags r:id="rId62"/>
            </p:custDataLst>
          </p:nvPr>
        </p:nvSpPr>
        <p:spPr bwMode="gray">
          <a:xfrm>
            <a:off x="9652000" y="2392364"/>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C9513E0-33FD-414E-AFAE-DB5AF22134B2}" type="datetime'''''''''96''''''''''''''%'''''">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96%</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69" name="Rectangle 68"/>
          <p:cNvSpPr/>
          <p:nvPr/>
        </p:nvSpPr>
        <p:spPr bwMode="gray">
          <a:xfrm>
            <a:off x="367167" y="7215158"/>
            <a:ext cx="4179454" cy="258504"/>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Power Cell, World Bank, Industry Reports</a:t>
            </a:r>
          </a:p>
        </p:txBody>
      </p:sp>
    </p:spTree>
    <p:extLst>
      <p:ext uri="{BB962C8B-B14F-4D97-AF65-F5344CB8AC3E}">
        <p14:creationId xmlns:p14="http://schemas.microsoft.com/office/powerpoint/2010/main" val="121370347"/>
      </p:ext>
    </p:extLst>
  </p:cSld>
  <p:clrMapOvr>
    <a:masterClrMapping/>
  </p:clrMapOvr>
  <p:transition>
    <p:fade/>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294053296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0" imgW="530" imgH="531" progId="TCLayout.ActiveDocument.1">
                  <p:embed/>
                </p:oleObj>
              </mc:Choice>
              <mc:Fallback>
                <p:oleObj name="think-cell Slide" r:id="rId80" imgW="530" imgH="531" progId="TCLayout.ActiveDocument.1">
                  <p:embed/>
                  <p:pic>
                    <p:nvPicPr>
                      <p:cNvPr id="4" name="Object 3" hidden="1"/>
                      <p:cNvPicPr/>
                      <p:nvPr/>
                    </p:nvPicPr>
                    <p:blipFill>
                      <a:blip r:embed="rId81"/>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IN" sz="900" u="none" strike="noStrike" kern="1200" cap="none" spc="0" normalizeH="0" noProof="0" dirty="0">
              <a:ln>
                <a:noFill/>
              </a:ln>
              <a:solidFill>
                <a:prstClr val="white"/>
              </a:solidFill>
              <a:effectLst/>
              <a:uLnTx/>
              <a:uFillTx/>
              <a:latin typeface="Verdana" panose="020B0604030504040204" pitchFamily="34" charset="0"/>
              <a:sym typeface="Verdana" panose="020B0604030504040204" pitchFamily="34" charset="0"/>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3675625046"/>
              </p:ext>
            </p:ext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figure shows the Installed Capacity (MW) and fuel-wise percentage contribution in the installed capacity for past 5 years: </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figure shows average Gross PLF of Gas, HFO and HSD based plants in Bangladesh for the past 5 years:</a:t>
                      </a:r>
                    </a:p>
                    <a:p>
                      <a:pPr marL="171450" lvl="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Power Market | Historical Power Supply</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 Installed Capacity in Bangladesh has grown at a CAGR of ~15% in the last 5 years with Gas and HFO based plants contributing ~80% of the installed capacity</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3937418159"/>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lgn="just">
                        <a:spcBef>
                          <a:spcPts val="400"/>
                        </a:spcBef>
                        <a:spcAft>
                          <a:spcPts val="500"/>
                        </a:spcAft>
                        <a:buFont typeface="Arial" panose="020B0604020202020204" pitchFamily="34" charset="0"/>
                        <a:buNone/>
                      </a:pPr>
                      <a:r>
                        <a:rPr lang="en-US" sz="1000" b="1" baseline="0" dirty="0">
                          <a:solidFill>
                            <a:schemeClr val="tx1"/>
                          </a:solidFill>
                        </a:rPr>
                        <a:t>Historical Power Supply: </a:t>
                      </a:r>
                    </a:p>
                    <a:p>
                      <a:pPr marL="171450" indent="-171450" algn="just">
                        <a:spcBef>
                          <a:spcPts val="400"/>
                        </a:spcBef>
                        <a:spcAft>
                          <a:spcPts val="500"/>
                        </a:spcAft>
                        <a:buFont typeface="Arial" panose="020B0604020202020204" pitchFamily="34" charset="0"/>
                        <a:buChar char="•"/>
                      </a:pPr>
                      <a:r>
                        <a:rPr lang="en-US" sz="1000" b="0" baseline="0" dirty="0">
                          <a:solidFill>
                            <a:schemeClr val="tx1"/>
                          </a:solidFill>
                        </a:rPr>
                        <a:t>The graph to the right (above) presents the Installed Capacity (MW) and fuel-wise percentage contribution in the installed capacity for past 5 years i.e. from FY 2015 to FY 2019. </a:t>
                      </a:r>
                    </a:p>
                    <a:p>
                      <a:pPr marL="171450" indent="-171450" algn="just">
                        <a:spcBef>
                          <a:spcPts val="400"/>
                        </a:spcBef>
                        <a:spcAft>
                          <a:spcPts val="500"/>
                        </a:spcAft>
                        <a:buFont typeface="Arial" panose="020B0604020202020204" pitchFamily="34" charset="0"/>
                        <a:buChar char="•"/>
                      </a:pPr>
                      <a:r>
                        <a:rPr lang="en-US" sz="1000" b="0" baseline="0" dirty="0">
                          <a:solidFill>
                            <a:schemeClr val="tx1"/>
                          </a:solidFill>
                        </a:rPr>
                        <a:t>It can be seen that the </a:t>
                      </a:r>
                      <a:r>
                        <a:rPr lang="en-US" sz="1000" b="1" i="1" baseline="0" dirty="0">
                          <a:solidFill>
                            <a:schemeClr val="tx1"/>
                          </a:solidFill>
                        </a:rPr>
                        <a:t>installed capacity has grown at a CAGR of 14.7% which is almost inline with the Peak Power Demand Met </a:t>
                      </a:r>
                      <a:r>
                        <a:rPr lang="en-US" sz="1000" b="0" baseline="0" dirty="0">
                          <a:solidFill>
                            <a:schemeClr val="tx1"/>
                          </a:solidFill>
                        </a:rPr>
                        <a:t>in Bangladesh.</a:t>
                      </a:r>
                    </a:p>
                    <a:p>
                      <a:pPr marL="171450" indent="-171450" algn="just">
                        <a:spcBef>
                          <a:spcPts val="400"/>
                        </a:spcBef>
                        <a:spcAft>
                          <a:spcPts val="500"/>
                        </a:spcAft>
                        <a:buFont typeface="Arial" panose="020B0604020202020204" pitchFamily="34" charset="0"/>
                        <a:buChar char="•"/>
                      </a:pPr>
                      <a:r>
                        <a:rPr lang="en-US" sz="1000" b="0" baseline="0" dirty="0">
                          <a:solidFill>
                            <a:schemeClr val="tx1"/>
                          </a:solidFill>
                        </a:rPr>
                        <a:t>Bangladesh has higher contribution of Gas and HFO based power plants along with HSD based plants</a:t>
                      </a:r>
                    </a:p>
                    <a:p>
                      <a:pPr marL="171450" indent="-171450" algn="just">
                        <a:spcBef>
                          <a:spcPts val="400"/>
                        </a:spcBef>
                        <a:spcAft>
                          <a:spcPts val="500"/>
                        </a:spcAft>
                        <a:buFont typeface="Arial" panose="020B0604020202020204" pitchFamily="34" charset="0"/>
                        <a:buChar char="•"/>
                      </a:pPr>
                      <a:r>
                        <a:rPr lang="en-US" sz="1000" b="1" i="1" baseline="0" dirty="0">
                          <a:solidFill>
                            <a:schemeClr val="tx1"/>
                          </a:solidFill>
                        </a:rPr>
                        <a:t>About ~2,000 MW of installed capacity has been commissioned as Rental / Quick Rental power plants </a:t>
                      </a:r>
                      <a:r>
                        <a:rPr lang="en-US" sz="1000" b="0" baseline="0" dirty="0">
                          <a:solidFill>
                            <a:schemeClr val="tx1"/>
                          </a:solidFill>
                        </a:rPr>
                        <a:t>with average PPA tenure of 3-5 years </a:t>
                      </a:r>
                    </a:p>
                    <a:p>
                      <a:pPr marL="171450" indent="-171450" algn="just">
                        <a:spcBef>
                          <a:spcPts val="400"/>
                        </a:spcBef>
                        <a:spcAft>
                          <a:spcPts val="500"/>
                        </a:spcAft>
                        <a:buFont typeface="Arial" panose="020B0604020202020204" pitchFamily="34" charset="0"/>
                        <a:buChar char="•"/>
                      </a:pPr>
                      <a:r>
                        <a:rPr lang="en-US" sz="1000" b="0" baseline="0" dirty="0">
                          <a:solidFill>
                            <a:schemeClr val="tx1"/>
                          </a:solidFill>
                        </a:rPr>
                        <a:t>These plants were commissioned to quickly meet the power deficit in the country. </a:t>
                      </a:r>
                      <a:r>
                        <a:rPr lang="en-US" sz="1000" b="1" i="1" baseline="0" dirty="0">
                          <a:solidFill>
                            <a:schemeClr val="tx1"/>
                          </a:solidFill>
                        </a:rPr>
                        <a:t>However these plants generally have smaller capacity (&lt;~100 MW) and consume higher fuel </a:t>
                      </a:r>
                      <a:r>
                        <a:rPr lang="en-US" sz="1000" b="0" baseline="0" dirty="0">
                          <a:solidFill>
                            <a:schemeClr val="tx1"/>
                          </a:solidFill>
                        </a:rPr>
                        <a:t>due to their operation mode at lower efficiencies (simple cycle for Gas engines)</a:t>
                      </a:r>
                    </a:p>
                    <a:p>
                      <a:pPr marL="0" indent="0" algn="just">
                        <a:spcBef>
                          <a:spcPts val="400"/>
                        </a:spcBef>
                        <a:spcAft>
                          <a:spcPts val="500"/>
                        </a:spcAft>
                        <a:buFont typeface="Arial" panose="020B0604020202020204" pitchFamily="34" charset="0"/>
                        <a:buNone/>
                      </a:pPr>
                      <a:endParaRPr lang="en-US" sz="1000" b="0" baseline="0" dirty="0">
                        <a:solidFill>
                          <a:schemeClr val="tx1"/>
                        </a:solidFill>
                      </a:endParaRPr>
                    </a:p>
                    <a:p>
                      <a:pPr marL="171450" indent="-171450" algn="just">
                        <a:spcBef>
                          <a:spcPts val="400"/>
                        </a:spcBef>
                        <a:spcAft>
                          <a:spcPts val="500"/>
                        </a:spcAft>
                        <a:buFont typeface="Arial" panose="020B0604020202020204" pitchFamily="34" charset="0"/>
                        <a:buChar char="•"/>
                      </a:pPr>
                      <a:r>
                        <a:rPr lang="en-US" sz="1000" b="0" baseline="0" dirty="0">
                          <a:solidFill>
                            <a:schemeClr val="tx1"/>
                          </a:solidFill>
                        </a:rPr>
                        <a:t>The graph to the right (below) presents the average PLF of Gas, HFO and HSD based power plants in the country for the last 5 years. Gas based plants ran at ~55% PLF in the country, followed by HFO and HSD at ~27% and ~17% respectively in FY19</a:t>
                      </a:r>
                    </a:p>
                    <a:p>
                      <a:pPr marL="171450" indent="-171450" algn="just">
                        <a:spcBef>
                          <a:spcPts val="400"/>
                        </a:spcBef>
                        <a:spcAft>
                          <a:spcPts val="500"/>
                        </a:spcAft>
                        <a:buFont typeface="Arial" panose="020B0604020202020204" pitchFamily="34" charset="0"/>
                        <a:buChar char="•"/>
                      </a:pPr>
                      <a:r>
                        <a:rPr lang="en-US" sz="1000" b="0" baseline="0" dirty="0">
                          <a:solidFill>
                            <a:schemeClr val="tx1"/>
                          </a:solidFill>
                        </a:rPr>
                        <a:t>In it important to note that ~ 55% PLF on average is due to the fact that there is ~ 2,000 MW of aged plants which typically run at low PLF (&lt;30%) due to efficiency issues. Newer gas power plants typically run at </a:t>
                      </a:r>
                      <a:r>
                        <a:rPr lang="en-US" sz="1000" b="1" i="1" baseline="0" dirty="0">
                          <a:solidFill>
                            <a:schemeClr val="tx1"/>
                          </a:solidFill>
                        </a:rPr>
                        <a:t>PLF of ~ 70-85%</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93" name="Chart 92"/>
          <p:cNvGraphicFramePr/>
          <p:nvPr>
            <p:custDataLst>
              <p:tags r:id="rId5"/>
            </p:custDataLst>
            <p:extLst>
              <p:ext uri="{D42A27DB-BD31-4B8C-83A1-F6EECF244321}">
                <p14:modId xmlns:p14="http://schemas.microsoft.com/office/powerpoint/2010/main" val="1666103326"/>
              </p:ext>
            </p:extLst>
          </p:nvPr>
        </p:nvGraphicFramePr>
        <p:xfrm>
          <a:off x="5441950" y="2670175"/>
          <a:ext cx="4897438" cy="1622425"/>
        </p:xfrm>
        <a:graphic>
          <a:graphicData uri="http://schemas.openxmlformats.org/drawingml/2006/chart">
            <c:chart xmlns:c="http://schemas.openxmlformats.org/drawingml/2006/chart" xmlns:r="http://schemas.openxmlformats.org/officeDocument/2006/relationships" r:id="rId82"/>
          </a:graphicData>
        </a:graphic>
      </p:graphicFrame>
      <p:cxnSp>
        <p:nvCxnSpPr>
          <p:cNvPr id="69" name="Straight Connector 68"/>
          <p:cNvCxnSpPr/>
          <p:nvPr>
            <p:custDataLst>
              <p:tags r:id="rId6"/>
            </p:custDataLst>
          </p:nvPr>
        </p:nvCxnSpPr>
        <p:spPr bwMode="auto">
          <a:xfrm flipV="1">
            <a:off x="5997575" y="2452687"/>
            <a:ext cx="3786188" cy="615950"/>
          </a:xfrm>
          <a:prstGeom prst="line">
            <a:avLst/>
          </a:prstGeom>
          <a:ln w="6350" cap="flat" cmpd="sng" algn="ctr">
            <a:solidFill>
              <a:schemeClr val="tx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69" name="StandardTextbox"/>
          <p:cNvSpPr>
            <a:spLocks noGrp="1"/>
          </p:cNvSpPr>
          <p:nvPr>
            <p:custDataLst>
              <p:tags r:id="rId7"/>
            </p:custDataLst>
          </p:nvPr>
        </p:nvSpPr>
        <p:spPr bwMode="gray">
          <a:xfrm>
            <a:off x="9631363" y="3808413"/>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56FCA86-3099-4D93-B9FB-455FFA02018D}" type="datetime'''''''''''''''''''''2''5''''%'''''''''''''">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25%</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223" name="StandardTextbox"/>
          <p:cNvSpPr>
            <a:spLocks noGrp="1"/>
          </p:cNvSpPr>
          <p:nvPr>
            <p:custDataLst>
              <p:tags r:id="rId8"/>
            </p:custDataLst>
          </p:nvPr>
        </p:nvSpPr>
        <p:spPr bwMode="gray">
          <a:xfrm>
            <a:off x="6791325" y="3957638"/>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A934EC9-388A-45A8-9AC6-EC729794085E}" type="datetime'''2''''''''''''''''''''''''''''''''''1''%'''''''''''''">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21%</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99" name="StandardTextbox"/>
          <p:cNvSpPr>
            <a:spLocks noGrp="1"/>
          </p:cNvSpPr>
          <p:nvPr>
            <p:custDataLst>
              <p:tags r:id="rId9"/>
            </p:custDataLst>
          </p:nvPr>
        </p:nvSpPr>
        <p:spPr bwMode="gray">
          <a:xfrm>
            <a:off x="5845175" y="3560763"/>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CB6DE50-EB18-4B98-A5DE-46C71F6E099A}" type="datetime'''''''6''''''''2''%'''''''''''''''''''''''''''''''''''''''''''">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62%</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78" name="StandardTextbox"/>
          <p:cNvSpPr>
            <a:spLocks noGrp="1"/>
          </p:cNvSpPr>
          <p:nvPr>
            <p:custDataLst>
              <p:tags r:id="rId10"/>
            </p:custDataLst>
          </p:nvPr>
        </p:nvSpPr>
        <p:spPr bwMode="gray">
          <a:xfrm>
            <a:off x="6827838" y="3816350"/>
            <a:ext cx="233363" cy="136525"/>
          </a:xfrm>
          <a:prstGeom prst="rect">
            <a:avLst/>
          </a:prstGeom>
          <a:solidFill>
            <a:srgbClr val="75787B"/>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CCF8AF83-87EC-4789-939A-09D5F87F899F}" type="datetime'''8''''''''''''''''''''''''''''''''''''%'''''''''">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8%</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91" name="StandardTextbox"/>
          <p:cNvSpPr>
            <a:spLocks noGrp="1"/>
          </p:cNvSpPr>
          <p:nvPr>
            <p:custDataLst>
              <p:tags r:id="rId11"/>
            </p:custDataLst>
          </p:nvPr>
        </p:nvSpPr>
        <p:spPr bwMode="gray">
          <a:xfrm>
            <a:off x="5881688" y="3857625"/>
            <a:ext cx="233363" cy="136525"/>
          </a:xfrm>
          <a:prstGeom prst="rect">
            <a:avLst/>
          </a:prstGeom>
          <a:solidFill>
            <a:srgbClr val="75787B"/>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F692F77-47D7-4603-9F6C-4A9A74CC437C}" type="datetime'''''''''''''''''''''''8''''''''''''''''''''''''%'''">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8%</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208" name="StandardTextbox"/>
          <p:cNvSpPr>
            <a:spLocks noGrp="1"/>
          </p:cNvSpPr>
          <p:nvPr>
            <p:custDataLst>
              <p:tags r:id="rId12"/>
            </p:custDataLst>
          </p:nvPr>
        </p:nvSpPr>
        <p:spPr bwMode="gray">
          <a:xfrm>
            <a:off x="5845175" y="3981450"/>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F9AF6F7F-EC50-4C0F-A2FA-11B27612F7F3}" type="datetime'''''''''''''''''''''''''2''''''''''''''1''''''''%'''''''''''">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21%</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27" name="StandardTextbox"/>
          <p:cNvSpPr>
            <a:spLocks noGrp="1"/>
          </p:cNvSpPr>
          <p:nvPr>
            <p:custDataLst>
              <p:tags r:id="rId13"/>
            </p:custDataLst>
          </p:nvPr>
        </p:nvSpPr>
        <p:spPr bwMode="gray">
          <a:xfrm>
            <a:off x="9561513" y="2590800"/>
            <a:ext cx="4445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54FF1B5-F594-476B-BB5D-17F910490DEC}" type="datetime'''''''''''''''1''''''''''''8'''''''',96''''1'''''''''''''''''">
              <a:rPr kumimoji="0" lang="en-IN" altLang="en-US" sz="9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18,961</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25" name="StandardTextbox"/>
          <p:cNvSpPr>
            <a:spLocks noGrp="1"/>
          </p:cNvSpPr>
          <p:nvPr>
            <p:custDataLst>
              <p:tags r:id="rId14"/>
            </p:custDataLst>
          </p:nvPr>
        </p:nvSpPr>
        <p:spPr bwMode="gray">
          <a:xfrm>
            <a:off x="8615363" y="2822575"/>
            <a:ext cx="4445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724A1D8-4C26-4729-AE07-66F95F428A27}" type="datetime'''''''''''1''5'''',''9''''''''''''''''''''''''5''''4'''''">
              <a:rPr kumimoji="0" lang="en-IN" altLang="en-US" sz="9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15,954</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76" name="StandardTextbox"/>
          <p:cNvSpPr>
            <a:spLocks noGrp="1"/>
          </p:cNvSpPr>
          <p:nvPr>
            <p:custDataLst>
              <p:tags r:id="rId15"/>
            </p:custDataLst>
          </p:nvPr>
        </p:nvSpPr>
        <p:spPr bwMode="gray">
          <a:xfrm>
            <a:off x="5881688" y="4122738"/>
            <a:ext cx="233363" cy="136525"/>
          </a:xfrm>
          <a:prstGeom prst="rect">
            <a:avLst/>
          </a:prstGeom>
          <a:solidFill>
            <a:srgbClr val="046A38"/>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B3C667F-5B32-4607-8BF5-FEEA07DCCC8B}" type="datetime'''''''''''''''''''''''''''''''''''''5''''''''''%'''''">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257" name="StandardTextbox"/>
          <p:cNvSpPr>
            <a:spLocks noGrp="1"/>
          </p:cNvSpPr>
          <p:nvPr>
            <p:custDataLst>
              <p:tags r:id="rId16"/>
            </p:custDataLst>
          </p:nvPr>
        </p:nvSpPr>
        <p:spPr bwMode="gray">
          <a:xfrm>
            <a:off x="6791325" y="3484563"/>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F9097D1D-EF25-48E6-89BA-B234DBDC4859}" type="datetime'''''''''''''''''''''''''6''''''''''2''%'''''''''''''">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62%</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05" name="StandardTextbox"/>
          <p:cNvSpPr>
            <a:spLocks noGrp="1"/>
          </p:cNvSpPr>
          <p:nvPr>
            <p:custDataLst>
              <p:tags r:id="rId17"/>
            </p:custDataLst>
          </p:nvPr>
        </p:nvSpPr>
        <p:spPr bwMode="auto">
          <a:xfrm>
            <a:off x="5851525" y="4335463"/>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28DCA4A-9A9A-4B1F-9B45-0E5D771D2C67}" type="datetime'''''''F''''''''Y15'''''''''''''''''''''''''''''''''''">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FY15</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13" name="StandardTextbox"/>
          <p:cNvSpPr>
            <a:spLocks noGrp="1"/>
          </p:cNvSpPr>
          <p:nvPr>
            <p:custDataLst>
              <p:tags r:id="rId18"/>
            </p:custDataLst>
          </p:nvPr>
        </p:nvSpPr>
        <p:spPr bwMode="gray">
          <a:xfrm>
            <a:off x="7667625" y="3006725"/>
            <a:ext cx="4445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617D1BD-B8EF-461B-AD16-5EB3B76EE0A7}" type="datetime'''''''''''''''''13'',''5''5''''5'''''''''''''''''''''">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13,555</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77" name="StandardTextbox"/>
          <p:cNvSpPr>
            <a:spLocks noGrp="1"/>
          </p:cNvSpPr>
          <p:nvPr>
            <p:custDataLst>
              <p:tags r:id="rId19"/>
            </p:custDataLst>
          </p:nvPr>
        </p:nvSpPr>
        <p:spPr bwMode="gray">
          <a:xfrm>
            <a:off x="6827838" y="4117975"/>
            <a:ext cx="233363" cy="136525"/>
          </a:xfrm>
          <a:prstGeom prst="rect">
            <a:avLst/>
          </a:prstGeom>
          <a:solidFill>
            <a:srgbClr val="046A38"/>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F595B85-710A-4192-863A-D85F3FEAB9C5}" type="datetime'''''''''''''''''''''''''5''%'''''''''''''''">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11" name="StandardTextbox"/>
          <p:cNvSpPr>
            <a:spLocks noGrp="1"/>
          </p:cNvSpPr>
          <p:nvPr>
            <p:custDataLst>
              <p:tags r:id="rId20"/>
            </p:custDataLst>
          </p:nvPr>
        </p:nvSpPr>
        <p:spPr bwMode="gray">
          <a:xfrm>
            <a:off x="5775325" y="3206750"/>
            <a:ext cx="4445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81918F23-471A-4909-817D-6BD36BFA7A4F}" type="datetime'''''10'''''''''''''''',''''''''''9''''''''''''3''''''9'''">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10,939</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65" name="StandardTextbox"/>
          <p:cNvSpPr>
            <a:spLocks noGrp="1"/>
          </p:cNvSpPr>
          <p:nvPr>
            <p:custDataLst>
              <p:tags r:id="rId21"/>
            </p:custDataLst>
          </p:nvPr>
        </p:nvSpPr>
        <p:spPr bwMode="auto">
          <a:xfrm>
            <a:off x="6797675" y="4335463"/>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963F5AA-9EEB-4219-B7E3-58F3EC07C86B}" type="datetime'FY''''''1''''''''''''''6'''''''''''''''''''''''''''''''''">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FY16</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81" name="StandardTextbox"/>
          <p:cNvSpPr>
            <a:spLocks noGrp="1"/>
          </p:cNvSpPr>
          <p:nvPr>
            <p:custDataLst>
              <p:tags r:id="rId22"/>
            </p:custDataLst>
          </p:nvPr>
        </p:nvSpPr>
        <p:spPr bwMode="gray">
          <a:xfrm>
            <a:off x="7773988" y="3810000"/>
            <a:ext cx="233363" cy="136525"/>
          </a:xfrm>
          <a:prstGeom prst="rect">
            <a:avLst/>
          </a:prstGeom>
          <a:solidFill>
            <a:srgbClr val="75787B"/>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42B2044E-39EF-45EA-B01A-7047F5DAB4D4}" type="datetime'''''''''''''''''''''''''''''''''''''6''%'''">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260" name="StandardTextbox"/>
          <p:cNvSpPr>
            <a:spLocks noGrp="1"/>
          </p:cNvSpPr>
          <p:nvPr>
            <p:custDataLst>
              <p:tags r:id="rId23"/>
            </p:custDataLst>
          </p:nvPr>
        </p:nvSpPr>
        <p:spPr bwMode="gray">
          <a:xfrm>
            <a:off x="7737475" y="3951288"/>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EEADD8F6-3188-4082-A098-3ACC73D0C7AC}" type="datetime'''''''''''''''2''1''''''''''%'''''''''''''">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21%</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79" name="StandardTextbox"/>
          <p:cNvSpPr>
            <a:spLocks noGrp="1"/>
          </p:cNvSpPr>
          <p:nvPr>
            <p:custDataLst>
              <p:tags r:id="rId24"/>
            </p:custDataLst>
          </p:nvPr>
        </p:nvSpPr>
        <p:spPr bwMode="gray">
          <a:xfrm>
            <a:off x="7773988" y="4117975"/>
            <a:ext cx="233363" cy="136525"/>
          </a:xfrm>
          <a:prstGeom prst="rect">
            <a:avLst/>
          </a:prstGeom>
          <a:solidFill>
            <a:srgbClr val="046A38"/>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4092BDB9-F4B1-46D1-899D-12707E475796}" type="datetime'''''''''''''''4''''''%'''''''''''''''''''''''''''''''''''">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4%</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12" name="StandardTextbox"/>
          <p:cNvSpPr>
            <a:spLocks noGrp="1"/>
          </p:cNvSpPr>
          <p:nvPr>
            <p:custDataLst>
              <p:tags r:id="rId25"/>
            </p:custDataLst>
          </p:nvPr>
        </p:nvSpPr>
        <p:spPr bwMode="gray">
          <a:xfrm>
            <a:off x="6721475" y="3097213"/>
            <a:ext cx="4445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899C126-B1B6-40CF-94BC-7E9EA5034277}" type="datetime'1''''''''''''''''''2,''''''3''''''''6''''5'''">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12,365</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33" name="StandardTextbox"/>
          <p:cNvSpPr>
            <a:spLocks noGrp="1"/>
          </p:cNvSpPr>
          <p:nvPr>
            <p:custDataLst>
              <p:tags r:id="rId26"/>
            </p:custDataLst>
          </p:nvPr>
        </p:nvSpPr>
        <p:spPr bwMode="gray">
          <a:xfrm>
            <a:off x="9667875" y="4094163"/>
            <a:ext cx="233363" cy="136525"/>
          </a:xfrm>
          <a:prstGeom prst="rect">
            <a:avLst/>
          </a:prstGeom>
          <a:solidFill>
            <a:srgbClr val="046A38"/>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366ADEC-1594-4A30-9135-C8420F3887CD}" type="datetime'''''''''''''''''''''''''''''''''''6''''%'''''''''''">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67" name="StandardTextbox"/>
          <p:cNvSpPr>
            <a:spLocks noGrp="1"/>
          </p:cNvSpPr>
          <p:nvPr>
            <p:custDataLst>
              <p:tags r:id="rId27"/>
            </p:custDataLst>
          </p:nvPr>
        </p:nvSpPr>
        <p:spPr bwMode="auto">
          <a:xfrm>
            <a:off x="7743825" y="4335463"/>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1AA0390-54F6-4638-A836-EBB1FFAD1AFF}" type="datetime'''''''''FY''''''''''''''''''''''''1''''''7'''''''''''">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FY17</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65" name="StandardTextbox"/>
          <p:cNvSpPr>
            <a:spLocks noGrp="1"/>
          </p:cNvSpPr>
          <p:nvPr>
            <p:custDataLst>
              <p:tags r:id="rId28"/>
            </p:custDataLst>
          </p:nvPr>
        </p:nvSpPr>
        <p:spPr bwMode="gray">
          <a:xfrm>
            <a:off x="8685213" y="3289300"/>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BF7193C-AD65-4293-828E-B09E55BC113B}" type="datetime'''''''''''''''''''''''''''''''6''''''''1''''''''''%'''''''''">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61%</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264" name="StandardTextbox"/>
          <p:cNvSpPr>
            <a:spLocks noGrp="1"/>
          </p:cNvSpPr>
          <p:nvPr>
            <p:custDataLst>
              <p:tags r:id="rId29"/>
            </p:custDataLst>
          </p:nvPr>
        </p:nvSpPr>
        <p:spPr bwMode="gray">
          <a:xfrm>
            <a:off x="8721725" y="3714750"/>
            <a:ext cx="233363" cy="136525"/>
          </a:xfrm>
          <a:prstGeom prst="rect">
            <a:avLst/>
          </a:prstGeom>
          <a:solidFill>
            <a:srgbClr val="75787B"/>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E7F3DF3-28CB-456F-B5D5-4B771F64EAC8}" type="datetime'''''''''''''9''''''''''''''''''''''''''''''%'''''''''">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9%</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263" name="StandardTextbox"/>
          <p:cNvSpPr>
            <a:spLocks noGrp="1"/>
          </p:cNvSpPr>
          <p:nvPr>
            <p:custDataLst>
              <p:tags r:id="rId30"/>
            </p:custDataLst>
          </p:nvPr>
        </p:nvSpPr>
        <p:spPr bwMode="gray">
          <a:xfrm>
            <a:off x="8685213" y="3900488"/>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FCE555B1-5F5D-4B52-965C-164E2F08BCB5}" type="datetime'''2''2''''''''''''''''''''''''''''''''''''''''''''''%'''''">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22%</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30" name="StandardTextbox"/>
          <p:cNvSpPr>
            <a:spLocks noGrp="1"/>
          </p:cNvSpPr>
          <p:nvPr>
            <p:custDataLst>
              <p:tags r:id="rId31"/>
            </p:custDataLst>
          </p:nvPr>
        </p:nvSpPr>
        <p:spPr bwMode="gray">
          <a:xfrm>
            <a:off x="8721725" y="4116388"/>
            <a:ext cx="233363" cy="136525"/>
          </a:xfrm>
          <a:prstGeom prst="rect">
            <a:avLst/>
          </a:prstGeom>
          <a:solidFill>
            <a:srgbClr val="046A38"/>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BB61601-5295-4003-A774-A04A3D30C9E4}" type="datetime'''''''''''''''''''''''''''4''%'''''''''''''''">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4%</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271" name="StandardTextbox"/>
          <p:cNvSpPr>
            <a:spLocks noGrp="1"/>
          </p:cNvSpPr>
          <p:nvPr>
            <p:custDataLst>
              <p:tags r:id="rId32"/>
            </p:custDataLst>
          </p:nvPr>
        </p:nvSpPr>
        <p:spPr bwMode="gray">
          <a:xfrm>
            <a:off x="9631363" y="3101975"/>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517D9DB6-EF01-409C-99FF-FA422CFF51DD}" type="datetime'''''5''''''''7''''''''''''''''''''''''''''''''%'''''''''''''''">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57%</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69" name="StandardTextbox"/>
          <p:cNvSpPr>
            <a:spLocks noGrp="1"/>
          </p:cNvSpPr>
          <p:nvPr>
            <p:custDataLst>
              <p:tags r:id="rId33"/>
            </p:custDataLst>
          </p:nvPr>
        </p:nvSpPr>
        <p:spPr bwMode="auto">
          <a:xfrm>
            <a:off x="8691563" y="4335463"/>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1170BBA8-EC26-4668-8D33-B6FF74684FB2}" type="datetime'''F''''Y1''''''''''''''''''''''''''''8'">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FY18</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70" name="StandardTextbox"/>
          <p:cNvSpPr>
            <a:spLocks noGrp="1"/>
          </p:cNvSpPr>
          <p:nvPr>
            <p:custDataLst>
              <p:tags r:id="rId34"/>
            </p:custDataLst>
          </p:nvPr>
        </p:nvSpPr>
        <p:spPr bwMode="gray">
          <a:xfrm>
            <a:off x="9667875" y="3573463"/>
            <a:ext cx="233363" cy="136525"/>
          </a:xfrm>
          <a:prstGeom prst="rect">
            <a:avLst/>
          </a:prstGeom>
          <a:solidFill>
            <a:srgbClr val="75787B"/>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C7211430-725B-49F2-B86D-9E2299B8FD66}" type="datetime'''7''''''%'''''''''''''''''''''''''''''">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7%</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73" name="StandardTextbox"/>
          <p:cNvSpPr>
            <a:spLocks noGrp="1"/>
          </p:cNvSpPr>
          <p:nvPr>
            <p:custDataLst>
              <p:tags r:id="rId35"/>
            </p:custDataLst>
          </p:nvPr>
        </p:nvSpPr>
        <p:spPr bwMode="auto">
          <a:xfrm>
            <a:off x="9637713" y="4335463"/>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DC2AFFE-95C2-4CE2-B61C-F898299505D1}" type="datetime'''''''''''''''F''Y''''''''''''''''''''19'''''''''''''''''''">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FY19</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61" name="StandardTextbox"/>
          <p:cNvSpPr>
            <a:spLocks noGrp="1"/>
          </p:cNvSpPr>
          <p:nvPr>
            <p:custDataLst>
              <p:tags r:id="rId36"/>
            </p:custDataLst>
          </p:nvPr>
        </p:nvSpPr>
        <p:spPr bwMode="gray">
          <a:xfrm>
            <a:off x="7737475" y="3438525"/>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C7B74BDC-C1F7-43E4-A91D-0AEE46FC5167}" type="datetime'6''''''''''''''''''''''''''''''''5''''''''%'''''">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65%</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299" name="StandardTextbox"/>
          <p:cNvSpPr>
            <a:spLocks noGrp="1"/>
          </p:cNvSpPr>
          <p:nvPr>
            <p:custDataLst>
              <p:tags r:id="rId37"/>
            </p:custDataLst>
          </p:nvPr>
        </p:nvSpPr>
        <p:spPr bwMode="auto">
          <a:xfrm>
            <a:off x="7516814" y="2663825"/>
            <a:ext cx="747713" cy="193675"/>
          </a:xfrm>
          <a:prstGeom prst="ellipse">
            <a:avLst/>
          </a:prstGeom>
          <a:solidFill>
            <a:srgbClr val="FFFFFF"/>
          </a:solidFill>
          <a:ln w="9525" algn="ctr">
            <a:solidFill>
              <a:schemeClr val="tx1"/>
            </a:solidFill>
          </a:ln>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53283E29-F7AF-424D-BE8B-DA393958AD1A}" type="datetime'''''''''+''''''''1''4''''''''.7''''''''''''''''''%'''''''''''">
              <a:rPr kumimoji="0" lang="en-IN" altLang="en-US" sz="900" b="1"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+14.7%</a:t>
            </a:fld>
            <a:endParaRPr kumimoji="0" lang="en-IN" sz="900" b="1"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53" name="Rectangle 252"/>
          <p:cNvSpPr/>
          <p:nvPr>
            <p:custDataLst>
              <p:tags r:id="rId38"/>
            </p:custDataLst>
          </p:nvPr>
        </p:nvSpPr>
        <p:spPr bwMode="auto">
          <a:xfrm>
            <a:off x="6416675" y="4470400"/>
            <a:ext cx="160338" cy="120650"/>
          </a:xfrm>
          <a:prstGeom prst="rect">
            <a:avLst/>
          </a:prstGeom>
          <a:solidFill>
            <a:srgbClr val="75787B"/>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0" name="Rectangle 59"/>
          <p:cNvSpPr/>
          <p:nvPr>
            <p:custDataLst>
              <p:tags r:id="rId39"/>
            </p:custDataLst>
          </p:nvPr>
        </p:nvSpPr>
        <p:spPr bwMode="auto">
          <a:xfrm>
            <a:off x="9459913" y="4470400"/>
            <a:ext cx="160338" cy="120650"/>
          </a:xfrm>
          <a:prstGeom prst="rect">
            <a:avLst/>
          </a:prstGeom>
          <a:solidFill>
            <a:srgbClr val="6FC2B4"/>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52" name="Rectangle 251"/>
          <p:cNvSpPr/>
          <p:nvPr>
            <p:custDataLst>
              <p:tags r:id="rId40"/>
            </p:custDataLst>
          </p:nvPr>
        </p:nvSpPr>
        <p:spPr bwMode="auto">
          <a:xfrm>
            <a:off x="5886450" y="4470400"/>
            <a:ext cx="160338" cy="1206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54" name="Rectangle 253"/>
          <p:cNvSpPr/>
          <p:nvPr>
            <p:custDataLst>
              <p:tags r:id="rId41"/>
            </p:custDataLst>
          </p:nvPr>
        </p:nvSpPr>
        <p:spPr bwMode="auto">
          <a:xfrm>
            <a:off x="6980238" y="4470400"/>
            <a:ext cx="160338" cy="120650"/>
          </a:xfrm>
          <a:prstGeom prst="rect">
            <a:avLst/>
          </a:prstGeom>
          <a:solidFill>
            <a:srgbClr val="0097A9"/>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55" name="Rectangle 54"/>
          <p:cNvSpPr/>
          <p:nvPr>
            <p:custDataLst>
              <p:tags r:id="rId42"/>
            </p:custDataLst>
          </p:nvPr>
        </p:nvSpPr>
        <p:spPr bwMode="auto">
          <a:xfrm>
            <a:off x="8191500" y="4470400"/>
            <a:ext cx="160338" cy="120650"/>
          </a:xfrm>
          <a:prstGeom prst="rect">
            <a:avLst/>
          </a:prstGeom>
          <a:solidFill>
            <a:srgbClr val="62B5E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54" name="Rectangle 53"/>
          <p:cNvSpPr/>
          <p:nvPr>
            <p:custDataLst>
              <p:tags r:id="rId43"/>
            </p:custDataLst>
          </p:nvPr>
        </p:nvSpPr>
        <p:spPr bwMode="auto">
          <a:xfrm>
            <a:off x="7534275" y="4470400"/>
            <a:ext cx="160338" cy="120650"/>
          </a:xfrm>
          <a:prstGeom prst="rect">
            <a:avLst/>
          </a:prstGeom>
          <a:solidFill>
            <a:srgbClr val="012169"/>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56" name="Rectangle 55"/>
          <p:cNvSpPr/>
          <p:nvPr>
            <p:custDataLst>
              <p:tags r:id="rId44"/>
            </p:custDataLst>
          </p:nvPr>
        </p:nvSpPr>
        <p:spPr bwMode="auto">
          <a:xfrm>
            <a:off x="8753475" y="4470400"/>
            <a:ext cx="160338" cy="120650"/>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8" name="StandardTextbox"/>
          <p:cNvSpPr>
            <a:spLocks noGrp="1"/>
          </p:cNvSpPr>
          <p:nvPr>
            <p:custDataLst>
              <p:tags r:id="rId45"/>
            </p:custDataLst>
          </p:nvPr>
        </p:nvSpPr>
        <p:spPr bwMode="auto">
          <a:xfrm>
            <a:off x="6097588" y="4467225"/>
            <a:ext cx="2174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D57F378A-8A7C-4AAC-93F5-D08506D09FB7}" type="datetime'G''''''''''''''''''''''''a''''''''''''''''''''''''''''''''s'''">
              <a:rPr kumimoji="0" lang="en-IN" altLang="en-US" sz="9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Gas</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22" name="StandardTextbox"/>
          <p:cNvSpPr>
            <a:spLocks noGrp="1"/>
          </p:cNvSpPr>
          <p:nvPr>
            <p:custDataLst>
              <p:tags r:id="rId46"/>
            </p:custDataLst>
          </p:nvPr>
        </p:nvSpPr>
        <p:spPr bwMode="auto">
          <a:xfrm>
            <a:off x="8402638" y="4467225"/>
            <a:ext cx="24923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6DACA039-9370-4816-87FF-03EA03E046A8}" type="datetime'''''''''''''''''''C''''''''''''''''''''''''''''oal'''''">
              <a:rPr kumimoji="0" lang="en-IN" altLang="en-US" sz="9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Coal</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21" name="StandardTextbox"/>
          <p:cNvSpPr>
            <a:spLocks noGrp="1"/>
          </p:cNvSpPr>
          <p:nvPr>
            <p:custDataLst>
              <p:tags r:id="rId47"/>
            </p:custDataLst>
          </p:nvPr>
        </p:nvSpPr>
        <p:spPr bwMode="auto">
          <a:xfrm>
            <a:off x="7745413" y="4467225"/>
            <a:ext cx="3444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F8FACD0C-23A8-4E8B-B67C-9AA7E41F50E1}" type="datetime'''''''''''''''''''''''''''''''''''Hydr''''''o'">
              <a:rPr kumimoji="0" lang="en-IN" altLang="en-US" sz="9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Hydro</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10" name="StandardTextbox"/>
          <p:cNvSpPr>
            <a:spLocks noGrp="1"/>
          </p:cNvSpPr>
          <p:nvPr>
            <p:custDataLst>
              <p:tags r:id="rId48"/>
            </p:custDataLst>
          </p:nvPr>
        </p:nvSpPr>
        <p:spPr bwMode="auto">
          <a:xfrm>
            <a:off x="7191375" y="4467225"/>
            <a:ext cx="2413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9633F792-AC14-414D-80DC-AF81E06CA2B1}" type="datetime'''''H''''''F''''''''''O'''''''''''''''''''''''''''''''">
              <a:rPr kumimoji="0" lang="en-IN" altLang="en-US" sz="9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HFO</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09" name="StandardTextbox"/>
          <p:cNvSpPr>
            <a:spLocks noGrp="1"/>
          </p:cNvSpPr>
          <p:nvPr>
            <p:custDataLst>
              <p:tags r:id="rId49"/>
            </p:custDataLst>
          </p:nvPr>
        </p:nvSpPr>
        <p:spPr bwMode="auto">
          <a:xfrm>
            <a:off x="6627813" y="4467225"/>
            <a:ext cx="25082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D6BE40D7-4E4B-474D-ACB5-07EFBE1EE5BC}" type="datetime'''''''H''''''''''''S''''''''''''D'''''''''''''''''''''">
              <a:rPr kumimoji="0" lang="en-IN" altLang="en-US" sz="9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HSD</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23" name="StandardTextbox"/>
          <p:cNvSpPr>
            <a:spLocks noGrp="1"/>
          </p:cNvSpPr>
          <p:nvPr>
            <p:custDataLst>
              <p:tags r:id="rId50"/>
            </p:custDataLst>
          </p:nvPr>
        </p:nvSpPr>
        <p:spPr bwMode="auto">
          <a:xfrm>
            <a:off x="8964613" y="4467225"/>
            <a:ext cx="3937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EF8986F1-F5C7-4807-AC26-01A615F5FD26}" type="datetime'''''''''''''''''I''m''po''''''''''''''''''''rt'''''''''''''''">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Import</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24" name="StandardTextbox"/>
          <p:cNvSpPr>
            <a:spLocks noGrp="1"/>
          </p:cNvSpPr>
          <p:nvPr>
            <p:custDataLst>
              <p:tags r:id="rId51"/>
            </p:custDataLst>
          </p:nvPr>
        </p:nvSpPr>
        <p:spPr bwMode="auto">
          <a:xfrm>
            <a:off x="9671050" y="4467225"/>
            <a:ext cx="29686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944F9699-1F0F-41F2-A8CA-A145BABC51A5}" type="datetime'S''o''''''''''''l''''a''''''''r'''''''''''''''''''''">
              <a:rPr kumimoji="0" lang="en-IN" altLang="en-US" sz="9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Solar</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graphicFrame>
        <p:nvGraphicFramePr>
          <p:cNvPr id="114" name="Chart 113"/>
          <p:cNvGraphicFramePr/>
          <p:nvPr>
            <p:custDataLst>
              <p:tags r:id="rId52"/>
            </p:custDataLst>
            <p:extLst>
              <p:ext uri="{D42A27DB-BD31-4B8C-83A1-F6EECF244321}">
                <p14:modId xmlns:p14="http://schemas.microsoft.com/office/powerpoint/2010/main" val="1924434509"/>
              </p:ext>
            </p:extLst>
          </p:nvPr>
        </p:nvGraphicFramePr>
        <p:xfrm>
          <a:off x="5426075" y="5380038"/>
          <a:ext cx="4897438" cy="1592262"/>
        </p:xfrm>
        <a:graphic>
          <a:graphicData uri="http://schemas.openxmlformats.org/drawingml/2006/chart">
            <c:chart xmlns:c="http://schemas.openxmlformats.org/drawingml/2006/chart" xmlns:r="http://schemas.openxmlformats.org/officeDocument/2006/relationships" r:id="rId83"/>
          </a:graphicData>
        </a:graphic>
      </p:graphicFrame>
      <p:sp>
        <p:nvSpPr>
          <p:cNvPr id="362" name="StandardTextbox"/>
          <p:cNvSpPr>
            <a:spLocks noGrp="1"/>
          </p:cNvSpPr>
          <p:nvPr>
            <p:custDataLst>
              <p:tags r:id="rId53"/>
            </p:custDataLst>
          </p:nvPr>
        </p:nvSpPr>
        <p:spPr bwMode="auto">
          <a:xfrm>
            <a:off x="5835650" y="6965950"/>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167A751A-D932-416F-9CED-4157985106D8}" type="datetime'''''''''''''''''''F''''''''''''''''Y''''''''15'">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FY15</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92" name="StandardTextbox"/>
          <p:cNvSpPr>
            <a:spLocks noGrp="1"/>
          </p:cNvSpPr>
          <p:nvPr>
            <p:custDataLst>
              <p:tags r:id="rId54"/>
            </p:custDataLst>
          </p:nvPr>
        </p:nvSpPr>
        <p:spPr bwMode="gray">
          <a:xfrm>
            <a:off x="5883275" y="5799138"/>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96B10334-3983-41E1-A9E2-F6C6FC45DEBF}" type="datetime'''''''''37%'''''''''''''''''''''''''''''''''''''''''''''''''">
              <a:rPr lang="en-IN" altLang="en-US" sz="900" b="0" smtClean="0">
                <a:solidFill>
                  <a:srgbClr val="000000"/>
                </a:solidFill>
              </a:rPr>
              <a:pPr lvl="1" algn="ctr">
                <a:spcBef>
                  <a:spcPct val="0"/>
                </a:spcBef>
                <a:spcAft>
                  <a:spcPct val="0"/>
                </a:spcAft>
                <a:defRPr/>
              </a:pPr>
              <a:t>37%</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372" name="StandardTextbox"/>
          <p:cNvSpPr>
            <a:spLocks noGrp="1"/>
          </p:cNvSpPr>
          <p:nvPr>
            <p:custDataLst>
              <p:tags r:id="rId55"/>
            </p:custDataLst>
          </p:nvPr>
        </p:nvSpPr>
        <p:spPr bwMode="auto">
          <a:xfrm>
            <a:off x="6781800" y="6965950"/>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FBDA35D7-B46B-4E62-A0B0-DD006F048D5E}" type="datetime'F''Y''''''''''''''''1''''''''''6'''''''''''''''">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FY16</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00" name="StandardTextbox"/>
          <p:cNvSpPr>
            <a:spLocks noGrp="1"/>
          </p:cNvSpPr>
          <p:nvPr>
            <p:custDataLst>
              <p:tags r:id="rId56"/>
            </p:custDataLst>
          </p:nvPr>
        </p:nvSpPr>
        <p:spPr bwMode="gray">
          <a:xfrm>
            <a:off x="8458200" y="5472113"/>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6A42674D-B53B-43AA-A336-921DF531EE85}" type="datetime'5''''''''''''''0''''''%'''''''''''''''''''''''''''''''''''">
              <a:rPr lang="en-IN" altLang="en-US" sz="900" b="0" smtClean="0">
                <a:solidFill>
                  <a:srgbClr val="000000"/>
                </a:solidFill>
              </a:rPr>
              <a:pPr lvl="1" algn="ctr">
                <a:spcBef>
                  <a:spcPct val="0"/>
                </a:spcBef>
                <a:spcAft>
                  <a:spcPct val="0"/>
                </a:spcAft>
                <a:defRPr/>
              </a:pPr>
              <a:t>50%</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374" name="StandardTextbox"/>
          <p:cNvSpPr>
            <a:spLocks noGrp="1"/>
          </p:cNvSpPr>
          <p:nvPr>
            <p:custDataLst>
              <p:tags r:id="rId57"/>
            </p:custDataLst>
          </p:nvPr>
        </p:nvSpPr>
        <p:spPr bwMode="auto">
          <a:xfrm>
            <a:off x="7727950" y="6965950"/>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F478430-818A-4580-90B8-B6CAF10B861F}" type="datetime'F''''''''''Y''''1''''7'''''''''''''''''''''''''''">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FY17</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85" name="StandardTextbox"/>
          <p:cNvSpPr>
            <a:spLocks noGrp="1"/>
          </p:cNvSpPr>
          <p:nvPr>
            <p:custDataLst>
              <p:tags r:id="rId58"/>
            </p:custDataLst>
          </p:nvPr>
        </p:nvSpPr>
        <p:spPr bwMode="gray">
          <a:xfrm>
            <a:off x="5618163" y="5389563"/>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9EA0B131-49D1-4668-BEF2-15E36E4446FF}" type="datetime'''''''''5''''''''''''''''''3''''''''''''''''%'''''''''">
              <a:rPr lang="en-IN" altLang="en-US" sz="900" b="0" smtClean="0">
                <a:solidFill>
                  <a:srgbClr val="000000"/>
                </a:solidFill>
              </a:rPr>
              <a:pPr lvl="1" algn="ctr">
                <a:spcBef>
                  <a:spcPct val="0"/>
                </a:spcBef>
                <a:spcAft>
                  <a:spcPct val="0"/>
                </a:spcAft>
                <a:defRPr/>
              </a:pPr>
              <a:t>53%</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376" name="StandardTextbox"/>
          <p:cNvSpPr>
            <a:spLocks noGrp="1"/>
          </p:cNvSpPr>
          <p:nvPr>
            <p:custDataLst>
              <p:tags r:id="rId59"/>
            </p:custDataLst>
          </p:nvPr>
        </p:nvSpPr>
        <p:spPr bwMode="auto">
          <a:xfrm>
            <a:off x="8675688" y="6965950"/>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EA45CD1-01C8-4849-87DF-74A90AD5C1A3}" type="datetime'''''F''Y''''1''''''''''''''''''''8'">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FY18</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93" name="StandardTextbox"/>
          <p:cNvSpPr>
            <a:spLocks noGrp="1"/>
          </p:cNvSpPr>
          <p:nvPr>
            <p:custDataLst>
              <p:tags r:id="rId60"/>
            </p:custDataLst>
          </p:nvPr>
        </p:nvSpPr>
        <p:spPr bwMode="gray">
          <a:xfrm>
            <a:off x="6092825" y="6197600"/>
            <a:ext cx="306388" cy="136525"/>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E9C71701-B7A4-4CC7-9A15-C599741C75D6}" type="datetime'''''''2''''1''''''''''''''''''''''''''''''''''''%'''''''''''">
              <a:rPr lang="en-IN" altLang="en-US" sz="900" b="0" smtClean="0">
                <a:solidFill>
                  <a:srgbClr val="000000"/>
                </a:solidFill>
              </a:rPr>
              <a:pPr lvl="1" algn="ctr">
                <a:spcBef>
                  <a:spcPct val="0"/>
                </a:spcBef>
                <a:spcAft>
                  <a:spcPct val="0"/>
                </a:spcAft>
                <a:defRPr/>
              </a:pPr>
              <a:t>21%</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378" name="StandardTextbox"/>
          <p:cNvSpPr>
            <a:spLocks noGrp="1"/>
          </p:cNvSpPr>
          <p:nvPr>
            <p:custDataLst>
              <p:tags r:id="rId61"/>
            </p:custDataLst>
          </p:nvPr>
        </p:nvSpPr>
        <p:spPr bwMode="auto">
          <a:xfrm>
            <a:off x="9621838" y="6965950"/>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EED85FCD-16E8-4079-99EC-1676C30BF559}" type="datetime'''''''''''''F''''Y''''''''''''''''''1''''''''''9'''''''''''''">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FY19</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94" name="StandardTextbox"/>
          <p:cNvSpPr>
            <a:spLocks noGrp="1"/>
          </p:cNvSpPr>
          <p:nvPr>
            <p:custDataLst>
              <p:tags r:id="rId62"/>
            </p:custDataLst>
          </p:nvPr>
        </p:nvSpPr>
        <p:spPr bwMode="gray">
          <a:xfrm>
            <a:off x="6564313" y="5300663"/>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5968FC8C-42B1-47E7-BA8B-7E09A2900E1B}" type="datetime'''''''''5''''''''''''''''''''''''''''''''''''7%'''''''''''">
              <a:rPr lang="en-IN" altLang="en-US" sz="900" b="0" smtClean="0">
                <a:solidFill>
                  <a:srgbClr val="000000"/>
                </a:solidFill>
              </a:rPr>
              <a:pPr lvl="1" algn="ctr">
                <a:spcBef>
                  <a:spcPct val="0"/>
                </a:spcBef>
                <a:spcAft>
                  <a:spcPct val="0"/>
                </a:spcAft>
                <a:defRPr/>
              </a:pPr>
              <a:t>57%</a:t>
            </a:fld>
            <a:endParaRPr kumimoji="0" lang="en-IN" sz="900" b="0" i="0" strike="noStrike" kern="1200" spc="0" normalizeH="0" noProof="0" dirty="0">
              <a:ln>
                <a:noFill/>
              </a:ln>
              <a:solidFill>
                <a:srgbClr val="000000"/>
              </a:solidFill>
              <a:effectLst/>
              <a:uLnTx/>
              <a:uFillTx/>
              <a:latin typeface="Verdana"/>
              <a:sym typeface="+mn-lt"/>
            </a:endParaRPr>
          </a:p>
        </p:txBody>
      </p:sp>
      <p:sp useBgFill="1">
        <p:nvSpPr>
          <p:cNvPr id="401" name="StandardTextbox"/>
          <p:cNvSpPr>
            <a:spLocks noGrp="1"/>
          </p:cNvSpPr>
          <p:nvPr>
            <p:custDataLst>
              <p:tags r:id="rId63"/>
            </p:custDataLst>
          </p:nvPr>
        </p:nvSpPr>
        <p:spPr bwMode="gray">
          <a:xfrm>
            <a:off x="8594725" y="5819775"/>
            <a:ext cx="306388" cy="136525"/>
          </a:xfrm>
          <a:prstGeom prst="rect">
            <a:avLst/>
          </a:prstGeom>
          <a:ln>
            <a:noFill/>
          </a:ln>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00417C6F-1CD9-4976-BD03-7B7A848358BB}" type="datetime'3''''''''6''''''''''%'''''''''''''''">
              <a:rPr lang="en-IN" altLang="en-US" sz="900" b="0" smtClean="0">
                <a:solidFill>
                  <a:srgbClr val="000000"/>
                </a:solidFill>
              </a:rPr>
              <a:pPr lvl="1" algn="ctr">
                <a:spcBef>
                  <a:spcPct val="0"/>
                </a:spcBef>
                <a:spcAft>
                  <a:spcPct val="0"/>
                </a:spcAft>
                <a:defRPr/>
              </a:pPr>
              <a:t>36%</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395" name="StandardTextbox"/>
          <p:cNvSpPr>
            <a:spLocks noGrp="1"/>
          </p:cNvSpPr>
          <p:nvPr>
            <p:custDataLst>
              <p:tags r:id="rId64"/>
            </p:custDataLst>
          </p:nvPr>
        </p:nvSpPr>
        <p:spPr bwMode="gray">
          <a:xfrm>
            <a:off x="6829425" y="5776913"/>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44113363-6D50-4737-9FAF-9049181317D1}" type="datetime'''''''''''''''''''''''''''''''''''''3''''''''8''''''''%'''''''">
              <a:rPr lang="en-IN" altLang="en-US" sz="900" b="0" smtClean="0">
                <a:solidFill>
                  <a:srgbClr val="000000"/>
                </a:solidFill>
              </a:rPr>
              <a:pPr lvl="1" algn="ctr">
                <a:spcBef>
                  <a:spcPct val="0"/>
                </a:spcBef>
                <a:spcAft>
                  <a:spcPct val="0"/>
                </a:spcAft>
                <a:defRPr/>
              </a:pPr>
              <a:t>38%</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396" name="StandardTextbox"/>
          <p:cNvSpPr>
            <a:spLocks noGrp="1"/>
          </p:cNvSpPr>
          <p:nvPr>
            <p:custDataLst>
              <p:tags r:id="rId65"/>
            </p:custDataLst>
          </p:nvPr>
        </p:nvSpPr>
        <p:spPr bwMode="gray">
          <a:xfrm>
            <a:off x="7038975" y="6148388"/>
            <a:ext cx="306388" cy="136525"/>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B5ED76DD-BCE7-438E-BEBF-49FC5B924DD3}" type="datetime'''2''''''''''3''''''''''''''''''''''''''''''''''%'">
              <a:rPr lang="en-IN" altLang="en-US" sz="900" b="0" smtClean="0">
                <a:solidFill>
                  <a:srgbClr val="000000"/>
                </a:solidFill>
              </a:rPr>
              <a:pPr lvl="1" algn="ctr">
                <a:spcBef>
                  <a:spcPct val="0"/>
                </a:spcBef>
                <a:spcAft>
                  <a:spcPct val="0"/>
                </a:spcAft>
                <a:defRPr/>
              </a:pPr>
              <a:t>23%</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397" name="StandardTextbox"/>
          <p:cNvSpPr>
            <a:spLocks noGrp="1"/>
          </p:cNvSpPr>
          <p:nvPr>
            <p:custDataLst>
              <p:tags r:id="rId66"/>
            </p:custDataLst>
          </p:nvPr>
        </p:nvSpPr>
        <p:spPr bwMode="gray">
          <a:xfrm>
            <a:off x="7510463" y="5408613"/>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2858E2C9-60FA-4541-892F-AEEF39E9ED83}" type="datetime'''''''5''''2''''''''''''''''''''''''''%'''''''''''''''''''">
              <a:rPr lang="en-IN" altLang="en-US" sz="900" b="0" smtClean="0">
                <a:solidFill>
                  <a:srgbClr val="000000"/>
                </a:solidFill>
              </a:rPr>
              <a:pPr lvl="1" algn="ctr">
                <a:spcBef>
                  <a:spcPct val="0"/>
                </a:spcBef>
                <a:spcAft>
                  <a:spcPct val="0"/>
                </a:spcAft>
                <a:defRPr/>
              </a:pPr>
              <a:t>52%</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399" name="StandardTextbox"/>
          <p:cNvSpPr>
            <a:spLocks noGrp="1"/>
          </p:cNvSpPr>
          <p:nvPr>
            <p:custDataLst>
              <p:tags r:id="rId67"/>
            </p:custDataLst>
          </p:nvPr>
        </p:nvSpPr>
        <p:spPr bwMode="gray">
          <a:xfrm>
            <a:off x="7985125" y="5867400"/>
            <a:ext cx="306388" cy="136525"/>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5FC5B557-B430-4A06-B2A8-13F8BF98E057}" type="datetime'''''3''''''''4''''''%'''''''''''''''''">
              <a:rPr lang="en-IN" altLang="en-US" sz="900" b="0" smtClean="0">
                <a:solidFill>
                  <a:srgbClr val="000000"/>
                </a:solidFill>
              </a:rPr>
              <a:pPr lvl="1" algn="ctr">
                <a:spcBef>
                  <a:spcPct val="0"/>
                </a:spcBef>
                <a:spcAft>
                  <a:spcPct val="0"/>
                </a:spcAft>
                <a:defRPr/>
              </a:pPr>
              <a:t>34%</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398" name="StandardTextbox"/>
          <p:cNvSpPr>
            <a:spLocks noGrp="1"/>
          </p:cNvSpPr>
          <p:nvPr>
            <p:custDataLst>
              <p:tags r:id="rId68"/>
            </p:custDataLst>
          </p:nvPr>
        </p:nvSpPr>
        <p:spPr bwMode="gray">
          <a:xfrm>
            <a:off x="7775575" y="5699125"/>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E95D98B5-AB79-44A7-9F57-58D824B85A5F}" type="datetime'''''''''4''''''1''''''%'''''''''''''''''''''''''''''''''''''''">
              <a:rPr lang="en-IN" altLang="en-US" sz="900" b="0" smtClean="0">
                <a:solidFill>
                  <a:srgbClr val="000000"/>
                </a:solidFill>
              </a:rPr>
              <a:pPr lvl="1" algn="ctr">
                <a:spcBef>
                  <a:spcPct val="0"/>
                </a:spcBef>
                <a:spcAft>
                  <a:spcPct val="0"/>
                </a:spcAft>
                <a:defRPr/>
              </a:pPr>
              <a:t>41%</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402" name="StandardTextbox"/>
          <p:cNvSpPr>
            <a:spLocks noGrp="1"/>
          </p:cNvSpPr>
          <p:nvPr>
            <p:custDataLst>
              <p:tags r:id="rId69"/>
            </p:custDataLst>
          </p:nvPr>
        </p:nvSpPr>
        <p:spPr bwMode="gray">
          <a:xfrm>
            <a:off x="8926513" y="5784850"/>
            <a:ext cx="306388" cy="136525"/>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00A699D5-3CC9-4189-82C3-2D4C2DF706F2}" type="datetime'''''37''''''''''''''''''''%'''''''''''''''''''''''''''''''''">
              <a:rPr lang="en-IN" altLang="en-US" sz="900" b="0" smtClean="0">
                <a:solidFill>
                  <a:srgbClr val="000000"/>
                </a:solidFill>
              </a:rPr>
              <a:pPr lvl="1" algn="ctr">
                <a:spcBef>
                  <a:spcPct val="0"/>
                </a:spcBef>
                <a:spcAft>
                  <a:spcPct val="0"/>
                </a:spcAft>
                <a:defRPr/>
              </a:pPr>
              <a:t>37%</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403" name="StandardTextbox"/>
          <p:cNvSpPr>
            <a:spLocks noGrp="1"/>
          </p:cNvSpPr>
          <p:nvPr>
            <p:custDataLst>
              <p:tags r:id="rId70"/>
            </p:custDataLst>
          </p:nvPr>
        </p:nvSpPr>
        <p:spPr bwMode="gray">
          <a:xfrm>
            <a:off x="9404350" y="5373688"/>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DDB8119F-37E4-471F-8042-255F363239FE}" type="datetime'''''''''5''''''4%'''''''''''''''''''''''''''''''''''''''">
              <a:rPr lang="en-IN" altLang="en-US" sz="900" b="0" smtClean="0">
                <a:solidFill>
                  <a:srgbClr val="000000"/>
                </a:solidFill>
              </a:rPr>
              <a:pPr lvl="1" algn="ctr">
                <a:spcBef>
                  <a:spcPct val="0"/>
                </a:spcBef>
                <a:spcAft>
                  <a:spcPct val="0"/>
                </a:spcAft>
                <a:defRPr/>
              </a:pPr>
              <a:t>54%</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404" name="StandardTextbox"/>
          <p:cNvSpPr>
            <a:spLocks noGrp="1"/>
          </p:cNvSpPr>
          <p:nvPr>
            <p:custDataLst>
              <p:tags r:id="rId71"/>
            </p:custDataLst>
          </p:nvPr>
        </p:nvSpPr>
        <p:spPr bwMode="gray">
          <a:xfrm>
            <a:off x="9669463" y="6038850"/>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211ECACB-5977-4E41-BD99-457425547EB3}" type="datetime'''''''''''2''7''%'''''''">
              <a:rPr lang="en-IN" altLang="en-US" sz="900" b="0" smtClean="0">
                <a:solidFill>
                  <a:srgbClr val="000000"/>
                </a:solidFill>
              </a:rPr>
              <a:pPr lvl="1" algn="ctr">
                <a:spcBef>
                  <a:spcPct val="0"/>
                </a:spcBef>
                <a:spcAft>
                  <a:spcPct val="0"/>
                </a:spcAft>
                <a:defRPr/>
              </a:pPr>
              <a:t>27%</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405" name="StandardTextbox"/>
          <p:cNvSpPr>
            <a:spLocks noGrp="1"/>
          </p:cNvSpPr>
          <p:nvPr>
            <p:custDataLst>
              <p:tags r:id="rId72"/>
            </p:custDataLst>
          </p:nvPr>
        </p:nvSpPr>
        <p:spPr bwMode="gray">
          <a:xfrm>
            <a:off x="9879013" y="6303963"/>
            <a:ext cx="306388" cy="136525"/>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E5F9ADDC-6B0E-422C-896F-2663D3DDC50B}" type="datetime'''''''1''''''''''''''''''''''''7''''%'''''''''''''''''''''''">
              <a:rPr lang="en-IN" altLang="en-US" sz="900" b="0" smtClean="0">
                <a:solidFill>
                  <a:srgbClr val="000000"/>
                </a:solidFill>
              </a:rPr>
              <a:pPr lvl="1" algn="ctr">
                <a:spcBef>
                  <a:spcPct val="0"/>
                </a:spcBef>
                <a:spcAft>
                  <a:spcPct val="0"/>
                </a:spcAft>
                <a:defRPr/>
              </a:pPr>
              <a:t>17%</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103" name="Rectangle 102"/>
          <p:cNvSpPr/>
          <p:nvPr>
            <p:custDataLst>
              <p:tags r:id="rId73"/>
            </p:custDataLst>
          </p:nvPr>
        </p:nvSpPr>
        <p:spPr bwMode="auto">
          <a:xfrm>
            <a:off x="7091363" y="7285038"/>
            <a:ext cx="160338" cy="1206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4" name="Rectangle 103"/>
          <p:cNvSpPr/>
          <p:nvPr>
            <p:custDataLst>
              <p:tags r:id="rId74"/>
            </p:custDataLst>
          </p:nvPr>
        </p:nvSpPr>
        <p:spPr bwMode="auto">
          <a:xfrm>
            <a:off x="7621588" y="7285038"/>
            <a:ext cx="160338" cy="120650"/>
          </a:xfrm>
          <a:prstGeom prst="rect">
            <a:avLst/>
          </a:prstGeom>
          <a:solidFill>
            <a:srgbClr val="0097A9"/>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35" name="Rectangle 134"/>
          <p:cNvSpPr/>
          <p:nvPr>
            <p:custDataLst>
              <p:tags r:id="rId75"/>
            </p:custDataLst>
          </p:nvPr>
        </p:nvSpPr>
        <p:spPr bwMode="auto">
          <a:xfrm>
            <a:off x="8175625" y="7285038"/>
            <a:ext cx="160338" cy="120650"/>
          </a:xfrm>
          <a:prstGeom prst="rect">
            <a:avLst/>
          </a:prstGeom>
          <a:solidFill>
            <a:srgbClr val="97999B"/>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360" name="StandardTextbox"/>
          <p:cNvSpPr>
            <a:spLocks noGrp="1"/>
          </p:cNvSpPr>
          <p:nvPr>
            <p:custDataLst>
              <p:tags r:id="rId76"/>
            </p:custDataLst>
          </p:nvPr>
        </p:nvSpPr>
        <p:spPr bwMode="auto">
          <a:xfrm>
            <a:off x="7302500" y="7281864"/>
            <a:ext cx="2174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D7969A46-A08D-4EA2-B232-B690E3B13D6C}" type="datetime'''''''''G''''''''''''''''''''''''''''''''''''''a''''s'">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Gas</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61" name="StandardTextbox"/>
          <p:cNvSpPr>
            <a:spLocks noGrp="1"/>
          </p:cNvSpPr>
          <p:nvPr>
            <p:custDataLst>
              <p:tags r:id="rId77"/>
            </p:custDataLst>
          </p:nvPr>
        </p:nvSpPr>
        <p:spPr bwMode="auto">
          <a:xfrm>
            <a:off x="7832725" y="7281863"/>
            <a:ext cx="2413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DA3B9B79-0527-46B4-8AD1-44E4384CE40B}" type="datetime'''''HF''''''''''''''''''''''''O'''''">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HFO</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82" name="StandardTextbox"/>
          <p:cNvSpPr>
            <a:spLocks noGrp="1"/>
          </p:cNvSpPr>
          <p:nvPr>
            <p:custDataLst>
              <p:tags r:id="rId78"/>
            </p:custDataLst>
          </p:nvPr>
        </p:nvSpPr>
        <p:spPr bwMode="auto">
          <a:xfrm>
            <a:off x="8386763" y="7281863"/>
            <a:ext cx="25082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11B11BBC-B9DF-47D5-AAEB-E3ADD7883F19}" type="datetime'''''''''''''''''''''''''''''''HS''''''''''''''''D'''''''''''">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HSD</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82" name="Rectangle 81"/>
          <p:cNvSpPr/>
          <p:nvPr/>
        </p:nvSpPr>
        <p:spPr bwMode="gray">
          <a:xfrm>
            <a:off x="377225" y="7260740"/>
            <a:ext cx="6714137" cy="218211"/>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Deloitte Analysis; Note 1) For</a:t>
            </a:r>
            <a:r>
              <a:rPr kumimoji="0" lang="en-US" sz="700" b="0" i="1" u="none" strike="noStrike" kern="1200" cap="none" spc="0" normalizeH="0" noProof="0" dirty="0">
                <a:ln>
                  <a:noFill/>
                </a:ln>
                <a:solidFill>
                  <a:prstClr val="black"/>
                </a:solidFill>
                <a:effectLst/>
                <a:uLnTx/>
                <a:uFillTx/>
                <a:latin typeface="Verdana"/>
                <a:ea typeface="+mn-ea"/>
                <a:cs typeface="+mn-cs"/>
              </a:rPr>
              <a:t> PLF computation, the auxiliary consumption has been considered at 3% for gas based power plants</a:t>
            </a:r>
            <a:endParaRPr kumimoji="0" lang="en-IN" sz="700" b="0" i="1"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1271870356"/>
      </p:ext>
    </p:extLst>
  </p:cSld>
  <p:clrMapOvr>
    <a:masterClrMapping/>
  </p:clrMapOvr>
  <p:transition>
    <p:fade/>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249995828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17" imgW="530" imgH="531" progId="TCLayout.ActiveDocument.1">
                  <p:embed/>
                </p:oleObj>
              </mc:Choice>
              <mc:Fallback>
                <p:oleObj name="think-cell Slide" r:id="rId217" imgW="530" imgH="531" progId="TCLayout.ActiveDocument.1">
                  <p:embed/>
                  <p:pic>
                    <p:nvPicPr>
                      <p:cNvPr id="4" name="Object 3" hidden="1"/>
                      <p:cNvPicPr/>
                      <p:nvPr/>
                    </p:nvPicPr>
                    <p:blipFill>
                      <a:blip r:embed="rId218"/>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IN" sz="1000" u="none" strike="noStrike" kern="1200" cap="none" spc="0" normalizeH="0" noProof="0" dirty="0">
              <a:ln>
                <a:noFill/>
              </a:ln>
              <a:solidFill>
                <a:prstClr val="white"/>
              </a:solidFill>
              <a:effectLst/>
              <a:uLnTx/>
              <a:uFillTx/>
              <a:latin typeface="Verdana" panose="020B0604030504040204" pitchFamily="34" charset="0"/>
              <a:sym typeface="Verdana" panose="020B0604030504040204" pitchFamily="34" charset="0"/>
            </a:endParaRPr>
          </a:p>
        </p:txBody>
      </p:sp>
      <p:sp>
        <p:nvSpPr>
          <p:cNvPr id="2" name="Title 1"/>
          <p:cNvSpPr>
            <a:spLocks noGrp="1"/>
          </p:cNvSpPr>
          <p:nvPr>
            <p:ph type="title"/>
          </p:nvPr>
        </p:nvSpPr>
        <p:spPr/>
        <p:txBody>
          <a:bodyPr/>
          <a:lstStyle/>
          <a:p>
            <a:r>
              <a:rPr lang="en-US" dirty="0"/>
              <a:t>Power Market | Merit Order</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 Merit Order showcases that Domestic Gas based power plants have the lowest cost of power in Bangladesh, followed by HFO and HSD</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3"/>
            </p:custDataLst>
            <p:extLst>
              <p:ext uri="{D42A27DB-BD31-4B8C-83A1-F6EECF244321}">
                <p14:modId xmlns:p14="http://schemas.microsoft.com/office/powerpoint/2010/main" val="1951899660"/>
              </p:ext>
            </p:extLst>
          </p:nvPr>
        </p:nvGraphicFramePr>
        <p:xfrm>
          <a:off x="449992" y="1961919"/>
          <a:ext cx="9790971" cy="4995929"/>
        </p:xfrm>
        <a:graphic>
          <a:graphicData uri="http://schemas.openxmlformats.org/drawingml/2006/table">
            <a:tbl>
              <a:tblPr firstRow="1" bandRow="1">
                <a:tableStyleId>{5C22544A-7EE6-4342-B048-85BDC9FD1C3A}</a:tableStyleId>
              </a:tblPr>
              <a:tblGrid>
                <a:gridCol w="9790971">
                  <a:extLst>
                    <a:ext uri="{9D8B030D-6E8A-4147-A177-3AD203B41FA5}">
                      <a16:colId xmlns:a16="http://schemas.microsoft.com/office/drawing/2014/main" val="20000"/>
                    </a:ext>
                  </a:extLst>
                </a:gridCol>
              </a:tblGrid>
              <a:tr h="4995929">
                <a:tc>
                  <a:txBody>
                    <a:bodyPr/>
                    <a:lstStyle/>
                    <a:p>
                      <a:pPr marL="0" indent="0">
                        <a:spcAft>
                          <a:spcPts val="500"/>
                        </a:spcAft>
                        <a:buFont typeface="Arial" panose="020B0604020202020204" pitchFamily="34" charset="0"/>
                        <a:buNone/>
                      </a:pPr>
                      <a:r>
                        <a:rPr lang="en-US" sz="1000" b="1" baseline="0" dirty="0">
                          <a:solidFill>
                            <a:schemeClr val="tx1"/>
                          </a:solidFill>
                        </a:rPr>
                        <a:t>Following Figure shows the Tentative Merit Order in Bangladesh based on the Average Power Purchase Cost / Power Generation Cost by BPDB as a Single Buyer in FY2019:</a:t>
                      </a:r>
                    </a:p>
                    <a:p>
                      <a:pPr marL="0" indent="0">
                        <a:spcAft>
                          <a:spcPts val="500"/>
                        </a:spcAft>
                        <a:buFont typeface="Arial" panose="020B0604020202020204" pitchFamily="34" charset="0"/>
                        <a:buNone/>
                      </a:pPr>
                      <a:endParaRPr lang="en-US" sz="1000" b="0" baseline="0" dirty="0">
                        <a:solidFill>
                          <a:schemeClr val="tx1"/>
                        </a:solidFill>
                      </a:endParaRPr>
                    </a:p>
                    <a:p>
                      <a:pPr marL="0" indent="0">
                        <a:spcAft>
                          <a:spcPts val="500"/>
                        </a:spcAft>
                        <a:buFont typeface="Arial" panose="020B0604020202020204" pitchFamily="34" charset="0"/>
                        <a:buNone/>
                      </a:pPr>
                      <a:endParaRPr lang="en-US" sz="1000" b="0" baseline="0" dirty="0">
                        <a:solidFill>
                          <a:schemeClr val="tx1"/>
                        </a:solidFill>
                      </a:endParaRPr>
                    </a:p>
                    <a:p>
                      <a:pPr marL="0" indent="0">
                        <a:spcAft>
                          <a:spcPts val="500"/>
                        </a:spcAft>
                        <a:buFont typeface="Arial" panose="020B0604020202020204" pitchFamily="34" charset="0"/>
                        <a:buNone/>
                      </a:pPr>
                      <a:endParaRPr lang="en-US" sz="1000" b="0" baseline="0" dirty="0">
                        <a:solidFill>
                          <a:schemeClr val="tx1"/>
                        </a:solidFill>
                      </a:endParaRPr>
                    </a:p>
                    <a:p>
                      <a:pPr marL="0" indent="0">
                        <a:spcAft>
                          <a:spcPts val="500"/>
                        </a:spcAft>
                        <a:buFont typeface="Arial" panose="020B0604020202020204" pitchFamily="34" charset="0"/>
                        <a:buNone/>
                      </a:pPr>
                      <a:endParaRPr lang="en-US" sz="1000" b="0" baseline="0" dirty="0">
                        <a:solidFill>
                          <a:schemeClr val="tx1"/>
                        </a:solidFill>
                      </a:endParaRPr>
                    </a:p>
                    <a:p>
                      <a:pPr marL="0" indent="0">
                        <a:spcAft>
                          <a:spcPts val="500"/>
                        </a:spcAft>
                        <a:buFont typeface="Arial" panose="020B0604020202020204" pitchFamily="34" charset="0"/>
                        <a:buNone/>
                      </a:pPr>
                      <a:endParaRPr lang="en-US" sz="1000" b="0" baseline="0" dirty="0">
                        <a:solidFill>
                          <a:schemeClr val="tx1"/>
                        </a:solidFill>
                      </a:endParaRPr>
                    </a:p>
                    <a:p>
                      <a:pPr marL="0" indent="0">
                        <a:spcAft>
                          <a:spcPts val="500"/>
                        </a:spcAft>
                        <a:buFont typeface="Arial" panose="020B0604020202020204" pitchFamily="34" charset="0"/>
                        <a:buNone/>
                      </a:pPr>
                      <a:endParaRPr lang="en-US" sz="1000" b="0" baseline="0" dirty="0">
                        <a:solidFill>
                          <a:schemeClr val="tx1"/>
                        </a:solidFill>
                      </a:endParaRPr>
                    </a:p>
                    <a:p>
                      <a:pPr marL="0" indent="0">
                        <a:spcAft>
                          <a:spcPts val="500"/>
                        </a:spcAft>
                        <a:buFont typeface="Arial" panose="020B0604020202020204" pitchFamily="34" charset="0"/>
                        <a:buNone/>
                      </a:pPr>
                      <a:endParaRPr lang="en-US" sz="1000" b="0" baseline="0" dirty="0">
                        <a:solidFill>
                          <a:schemeClr val="tx1"/>
                        </a:solidFill>
                      </a:endParaRPr>
                    </a:p>
                    <a:p>
                      <a:pPr marL="0" indent="0">
                        <a:spcAft>
                          <a:spcPts val="500"/>
                        </a:spcAft>
                        <a:buFont typeface="Arial" panose="020B0604020202020204" pitchFamily="34" charset="0"/>
                        <a:buNone/>
                      </a:pPr>
                      <a:endParaRPr lang="en-US" sz="1000" b="0" baseline="0" dirty="0">
                        <a:solidFill>
                          <a:schemeClr val="tx1"/>
                        </a:solidFill>
                      </a:endParaRPr>
                    </a:p>
                    <a:p>
                      <a:pPr marL="0" indent="0">
                        <a:spcAft>
                          <a:spcPts val="500"/>
                        </a:spcAft>
                        <a:buFont typeface="Arial" panose="020B0604020202020204" pitchFamily="34" charset="0"/>
                        <a:buNone/>
                      </a:pPr>
                      <a:endParaRPr lang="en-US" sz="1000" b="0" baseline="0" dirty="0">
                        <a:solidFill>
                          <a:schemeClr val="tx1"/>
                        </a:solidFill>
                      </a:endParaRPr>
                    </a:p>
                    <a:p>
                      <a:pPr marL="0" indent="0">
                        <a:spcAft>
                          <a:spcPts val="500"/>
                        </a:spcAft>
                        <a:buFont typeface="Arial" panose="020B0604020202020204" pitchFamily="34" charset="0"/>
                        <a:buNone/>
                      </a:pPr>
                      <a:endParaRPr lang="en-US" sz="1000" b="0" baseline="0" dirty="0">
                        <a:solidFill>
                          <a:schemeClr val="tx1"/>
                        </a:solidFill>
                      </a:endParaRPr>
                    </a:p>
                    <a:p>
                      <a:pPr marL="0" indent="0">
                        <a:spcAft>
                          <a:spcPts val="500"/>
                        </a:spcAft>
                        <a:buFont typeface="Arial" panose="020B0604020202020204" pitchFamily="34" charset="0"/>
                        <a:buNone/>
                      </a:pPr>
                      <a:endParaRPr lang="en-US" sz="1000" b="0" baseline="0" dirty="0">
                        <a:solidFill>
                          <a:schemeClr val="tx1"/>
                        </a:solidFill>
                      </a:endParaRPr>
                    </a:p>
                    <a:p>
                      <a:pPr marL="0" indent="0">
                        <a:spcAft>
                          <a:spcPts val="500"/>
                        </a:spcAft>
                        <a:buFont typeface="Arial" panose="020B0604020202020204" pitchFamily="34" charset="0"/>
                        <a:buNone/>
                      </a:pPr>
                      <a:endParaRPr lang="en-US" sz="1000" b="0" baseline="0" dirty="0">
                        <a:solidFill>
                          <a:schemeClr val="tx1"/>
                        </a:solidFill>
                      </a:endParaRPr>
                    </a:p>
                    <a:p>
                      <a:pPr marL="0" indent="0">
                        <a:spcAft>
                          <a:spcPts val="500"/>
                        </a:spcAft>
                        <a:buFont typeface="Arial" panose="020B0604020202020204" pitchFamily="34" charset="0"/>
                        <a:buNone/>
                      </a:pPr>
                      <a:endParaRPr lang="en-US" sz="1000" b="0" baseline="0" dirty="0">
                        <a:solidFill>
                          <a:schemeClr val="tx1"/>
                        </a:solidFill>
                      </a:endParaRPr>
                    </a:p>
                    <a:p>
                      <a:pPr marL="0" indent="0">
                        <a:spcAft>
                          <a:spcPts val="500"/>
                        </a:spcAft>
                        <a:buFont typeface="Arial" panose="020B0604020202020204" pitchFamily="34" charset="0"/>
                        <a:buNone/>
                      </a:pPr>
                      <a:endParaRPr lang="en-US" sz="1000" b="0" baseline="0" dirty="0">
                        <a:solidFill>
                          <a:schemeClr val="tx1"/>
                        </a:solidFill>
                      </a:endParaRPr>
                    </a:p>
                    <a:p>
                      <a:pPr marL="171450" indent="-171450" algn="l" defTabSz="990571" rtl="0" eaLnBrk="1" latinLnBrk="0" hangingPunct="1">
                        <a:spcAft>
                          <a:spcPts val="5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l" defTabSz="990571" rtl="0" eaLnBrk="1" latinLnBrk="0" hangingPunct="1">
                        <a:spcBef>
                          <a:spcPts val="600"/>
                        </a:spcBef>
                        <a:spcAft>
                          <a:spcPts val="500"/>
                        </a:spcAft>
                        <a:buFont typeface="Arial" panose="020B0604020202020204" pitchFamily="34" charset="0"/>
                        <a:buChar char="•"/>
                      </a:pPr>
                      <a:r>
                        <a:rPr lang="en-US" sz="1000" b="0" kern="1200" baseline="0" dirty="0">
                          <a:solidFill>
                            <a:schemeClr val="tx1"/>
                          </a:solidFill>
                          <a:latin typeface="+mn-lt"/>
                          <a:ea typeface="+mn-ea"/>
                          <a:cs typeface="+mn-cs"/>
                        </a:rPr>
                        <a:t>As can be seen above, the total cost of generation in Bangladesh typically ranges from Tk 0.9 – 40 / kWh with a few plants having overall cost of generation beyond Tk 80 / kWh (excluded from the above graph)</a:t>
                      </a:r>
                    </a:p>
                    <a:p>
                      <a:pPr marL="171450" indent="-171450" algn="l" defTabSz="990571" rtl="0" eaLnBrk="1" latinLnBrk="0" hangingPunct="1">
                        <a:spcBef>
                          <a:spcPts val="600"/>
                        </a:spcBef>
                        <a:spcAft>
                          <a:spcPts val="500"/>
                        </a:spcAft>
                        <a:buFont typeface="Arial" panose="020B0604020202020204" pitchFamily="34" charset="0"/>
                        <a:buChar char="•"/>
                      </a:pPr>
                      <a:r>
                        <a:rPr lang="en-US" sz="1000" b="0" kern="1200" baseline="0" dirty="0">
                          <a:solidFill>
                            <a:schemeClr val="tx1"/>
                          </a:solidFill>
                          <a:latin typeface="+mn-lt"/>
                          <a:ea typeface="+mn-ea"/>
                          <a:cs typeface="+mn-cs"/>
                        </a:rPr>
                        <a:t>These high cost plants are run at part load and only for meeting peak generation in a short duration of time</a:t>
                      </a:r>
                    </a:p>
                    <a:p>
                      <a:pPr marL="171450" indent="-171450" algn="l" defTabSz="990571" rtl="0" eaLnBrk="1" latinLnBrk="0" hangingPunct="1">
                        <a:spcBef>
                          <a:spcPts val="600"/>
                        </a:spcBef>
                        <a:spcAft>
                          <a:spcPts val="500"/>
                        </a:spcAft>
                        <a:buFont typeface="Arial" panose="020B0604020202020204" pitchFamily="34" charset="0"/>
                        <a:buChar char="•"/>
                      </a:pPr>
                      <a:r>
                        <a:rPr lang="en-US" sz="1000" b="0" kern="1200" baseline="0" dirty="0">
                          <a:solidFill>
                            <a:schemeClr val="tx1"/>
                          </a:solidFill>
                          <a:latin typeface="+mn-lt"/>
                          <a:ea typeface="+mn-ea"/>
                          <a:cs typeface="+mn-cs"/>
                        </a:rPr>
                        <a:t>As mentioned earlier, Bangladesh also has ~2,000 MW of Rental / Quick Rental plants with PPA tenure of 3-5 years i.e. their fixed cost recovery is done within an extremely short duration which leads to high cost of generation compared to plants with PPA of 20-25 years</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203" name="Rectangle 2202"/>
          <p:cNvSpPr/>
          <p:nvPr>
            <p:custDataLst>
              <p:tags r:id="rId4"/>
            </p:custDataLst>
          </p:nvPr>
        </p:nvSpPr>
        <p:spPr bwMode="auto">
          <a:xfrm>
            <a:off x="10236200" y="3168650"/>
            <a:ext cx="4763" cy="143510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202" name="Rectangle 2201"/>
          <p:cNvSpPr/>
          <p:nvPr>
            <p:custDataLst>
              <p:tags r:id="rId5"/>
            </p:custDataLst>
          </p:nvPr>
        </p:nvSpPr>
        <p:spPr bwMode="auto">
          <a:xfrm>
            <a:off x="10220325" y="3205163"/>
            <a:ext cx="15875" cy="1398588"/>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201" name="Rectangle 2200"/>
          <p:cNvSpPr/>
          <p:nvPr>
            <p:custDataLst>
              <p:tags r:id="rId6"/>
            </p:custDataLst>
          </p:nvPr>
        </p:nvSpPr>
        <p:spPr bwMode="auto">
          <a:xfrm>
            <a:off x="10215563" y="3211513"/>
            <a:ext cx="4763" cy="1392238"/>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200" name="Rectangle 2199"/>
          <p:cNvSpPr/>
          <p:nvPr>
            <p:custDataLst>
              <p:tags r:id="rId7"/>
            </p:custDataLst>
          </p:nvPr>
        </p:nvSpPr>
        <p:spPr bwMode="auto">
          <a:xfrm>
            <a:off x="10193338" y="3443288"/>
            <a:ext cx="22225" cy="1160463"/>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99" name="Rectangle 2198"/>
          <p:cNvSpPr/>
          <p:nvPr>
            <p:custDataLst>
              <p:tags r:id="rId8"/>
            </p:custDataLst>
          </p:nvPr>
        </p:nvSpPr>
        <p:spPr bwMode="auto">
          <a:xfrm>
            <a:off x="10145713" y="3467100"/>
            <a:ext cx="47625" cy="1136650"/>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224" name="Rectangle 2223"/>
          <p:cNvSpPr/>
          <p:nvPr>
            <p:custDataLst>
              <p:tags r:id="rId9"/>
            </p:custDataLst>
          </p:nvPr>
        </p:nvSpPr>
        <p:spPr bwMode="auto">
          <a:xfrm>
            <a:off x="10144124" y="3554413"/>
            <a:ext cx="1588" cy="1049338"/>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98" name="Rectangle 2197"/>
          <p:cNvSpPr/>
          <p:nvPr>
            <p:custDataLst>
              <p:tags r:id="rId10"/>
            </p:custDataLst>
          </p:nvPr>
        </p:nvSpPr>
        <p:spPr bwMode="auto">
          <a:xfrm>
            <a:off x="10137775" y="3557589"/>
            <a:ext cx="6350" cy="1046163"/>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97" name="Rectangle 2196"/>
          <p:cNvSpPr/>
          <p:nvPr>
            <p:custDataLst>
              <p:tags r:id="rId11"/>
            </p:custDataLst>
          </p:nvPr>
        </p:nvSpPr>
        <p:spPr bwMode="auto">
          <a:xfrm>
            <a:off x="10136188" y="3570288"/>
            <a:ext cx="1588" cy="1033463"/>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96" name="Rectangle 2195"/>
          <p:cNvSpPr/>
          <p:nvPr>
            <p:custDataLst>
              <p:tags r:id="rId12"/>
            </p:custDataLst>
          </p:nvPr>
        </p:nvSpPr>
        <p:spPr bwMode="auto">
          <a:xfrm>
            <a:off x="10098088" y="3630613"/>
            <a:ext cx="38100" cy="973138"/>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89" name="Rectangle 2188"/>
          <p:cNvSpPr/>
          <p:nvPr>
            <p:custDataLst>
              <p:tags r:id="rId13"/>
            </p:custDataLst>
          </p:nvPr>
        </p:nvSpPr>
        <p:spPr bwMode="auto">
          <a:xfrm>
            <a:off x="10090150" y="3695700"/>
            <a:ext cx="7938" cy="9080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88" name="Rectangle 2187"/>
          <p:cNvSpPr/>
          <p:nvPr>
            <p:custDataLst>
              <p:tags r:id="rId14"/>
            </p:custDataLst>
          </p:nvPr>
        </p:nvSpPr>
        <p:spPr bwMode="auto">
          <a:xfrm>
            <a:off x="10082213" y="3711575"/>
            <a:ext cx="7938" cy="892175"/>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71" name="Rectangle 2170"/>
          <p:cNvSpPr/>
          <p:nvPr>
            <p:custDataLst>
              <p:tags r:id="rId15"/>
            </p:custDataLst>
          </p:nvPr>
        </p:nvSpPr>
        <p:spPr bwMode="auto">
          <a:xfrm>
            <a:off x="10067925" y="3732213"/>
            <a:ext cx="14288" cy="87153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70" name="Rectangle 2169"/>
          <p:cNvSpPr/>
          <p:nvPr>
            <p:custDataLst>
              <p:tags r:id="rId16"/>
            </p:custDataLst>
          </p:nvPr>
        </p:nvSpPr>
        <p:spPr bwMode="auto">
          <a:xfrm>
            <a:off x="10045700" y="3752850"/>
            <a:ext cx="22225" cy="85090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69" name="Rectangle 2168"/>
          <p:cNvSpPr/>
          <p:nvPr>
            <p:custDataLst>
              <p:tags r:id="rId17"/>
            </p:custDataLst>
          </p:nvPr>
        </p:nvSpPr>
        <p:spPr bwMode="auto">
          <a:xfrm>
            <a:off x="10028238" y="3805238"/>
            <a:ext cx="17463" cy="798513"/>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68" name="Rectangle 2167"/>
          <p:cNvSpPr/>
          <p:nvPr>
            <p:custDataLst>
              <p:tags r:id="rId18"/>
            </p:custDataLst>
          </p:nvPr>
        </p:nvSpPr>
        <p:spPr bwMode="auto">
          <a:xfrm>
            <a:off x="10002838" y="3814763"/>
            <a:ext cx="25400" cy="78898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63" name="Rectangle 2162"/>
          <p:cNvSpPr/>
          <p:nvPr>
            <p:custDataLst>
              <p:tags r:id="rId19"/>
            </p:custDataLst>
          </p:nvPr>
        </p:nvSpPr>
        <p:spPr bwMode="auto">
          <a:xfrm>
            <a:off x="9994900" y="3838576"/>
            <a:ext cx="7938" cy="76517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62" name="Rectangle 2161"/>
          <p:cNvSpPr/>
          <p:nvPr>
            <p:custDataLst>
              <p:tags r:id="rId20"/>
            </p:custDataLst>
          </p:nvPr>
        </p:nvSpPr>
        <p:spPr bwMode="auto">
          <a:xfrm>
            <a:off x="9971088" y="3848100"/>
            <a:ext cx="23813" cy="7556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61" name="Rectangle 2160"/>
          <p:cNvSpPr/>
          <p:nvPr>
            <p:custDataLst>
              <p:tags r:id="rId21"/>
            </p:custDataLst>
          </p:nvPr>
        </p:nvSpPr>
        <p:spPr bwMode="auto">
          <a:xfrm>
            <a:off x="9958388" y="3849688"/>
            <a:ext cx="12700" cy="754063"/>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60" name="Rectangle 2159"/>
          <p:cNvSpPr/>
          <p:nvPr>
            <p:custDataLst>
              <p:tags r:id="rId22"/>
            </p:custDataLst>
          </p:nvPr>
        </p:nvSpPr>
        <p:spPr bwMode="auto">
          <a:xfrm>
            <a:off x="9948863" y="3852863"/>
            <a:ext cx="9525" cy="75088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59" name="Rectangle 2158"/>
          <p:cNvSpPr/>
          <p:nvPr>
            <p:custDataLst>
              <p:tags r:id="rId23"/>
            </p:custDataLst>
          </p:nvPr>
        </p:nvSpPr>
        <p:spPr bwMode="auto">
          <a:xfrm>
            <a:off x="9920288" y="3859213"/>
            <a:ext cx="28575" cy="74453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58" name="Rectangle 2157"/>
          <p:cNvSpPr/>
          <p:nvPr>
            <p:custDataLst>
              <p:tags r:id="rId24"/>
            </p:custDataLst>
          </p:nvPr>
        </p:nvSpPr>
        <p:spPr bwMode="auto">
          <a:xfrm>
            <a:off x="9891713" y="3863975"/>
            <a:ext cx="28575" cy="73977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57" name="Rectangle 2156"/>
          <p:cNvSpPr/>
          <p:nvPr>
            <p:custDataLst>
              <p:tags r:id="rId25"/>
            </p:custDataLst>
          </p:nvPr>
        </p:nvSpPr>
        <p:spPr bwMode="auto">
          <a:xfrm>
            <a:off x="9885363" y="3865563"/>
            <a:ext cx="6350" cy="738188"/>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56" name="Rectangle 2155"/>
          <p:cNvSpPr/>
          <p:nvPr>
            <p:custDataLst>
              <p:tags r:id="rId26"/>
            </p:custDataLst>
          </p:nvPr>
        </p:nvSpPr>
        <p:spPr bwMode="auto">
          <a:xfrm>
            <a:off x="9866313" y="3867150"/>
            <a:ext cx="19050" cy="73660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55" name="Rectangle 2154"/>
          <p:cNvSpPr/>
          <p:nvPr>
            <p:custDataLst>
              <p:tags r:id="rId27"/>
            </p:custDataLst>
          </p:nvPr>
        </p:nvSpPr>
        <p:spPr bwMode="auto">
          <a:xfrm>
            <a:off x="9818688" y="3879850"/>
            <a:ext cx="47625" cy="72390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54" name="Rectangle 2153"/>
          <p:cNvSpPr/>
          <p:nvPr>
            <p:custDataLst>
              <p:tags r:id="rId28"/>
            </p:custDataLst>
          </p:nvPr>
        </p:nvSpPr>
        <p:spPr bwMode="auto">
          <a:xfrm>
            <a:off x="9807575" y="3887788"/>
            <a:ext cx="11113" cy="715963"/>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53" name="Rectangle 2152"/>
          <p:cNvSpPr/>
          <p:nvPr>
            <p:custDataLst>
              <p:tags r:id="rId29"/>
            </p:custDataLst>
          </p:nvPr>
        </p:nvSpPr>
        <p:spPr bwMode="auto">
          <a:xfrm>
            <a:off x="9804400" y="3894138"/>
            <a:ext cx="3175" cy="70961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51" name="Rectangle 2150"/>
          <p:cNvSpPr/>
          <p:nvPr>
            <p:custDataLst>
              <p:tags r:id="rId30"/>
            </p:custDataLst>
          </p:nvPr>
        </p:nvSpPr>
        <p:spPr bwMode="auto">
          <a:xfrm>
            <a:off x="9793288" y="3902076"/>
            <a:ext cx="11113" cy="70167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50" name="Rectangle 2149"/>
          <p:cNvSpPr/>
          <p:nvPr>
            <p:custDataLst>
              <p:tags r:id="rId31"/>
            </p:custDataLst>
          </p:nvPr>
        </p:nvSpPr>
        <p:spPr bwMode="auto">
          <a:xfrm>
            <a:off x="9756775" y="3902076"/>
            <a:ext cx="36513" cy="701675"/>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49" name="Rectangle 2148"/>
          <p:cNvSpPr/>
          <p:nvPr>
            <p:custDataLst>
              <p:tags r:id="rId32"/>
            </p:custDataLst>
          </p:nvPr>
        </p:nvSpPr>
        <p:spPr bwMode="auto">
          <a:xfrm>
            <a:off x="9742488" y="3905250"/>
            <a:ext cx="14288" cy="69850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47" name="Rectangle 2146"/>
          <p:cNvSpPr/>
          <p:nvPr>
            <p:custDataLst>
              <p:tags r:id="rId33"/>
            </p:custDataLst>
          </p:nvPr>
        </p:nvSpPr>
        <p:spPr bwMode="auto">
          <a:xfrm>
            <a:off x="9731375" y="3917950"/>
            <a:ext cx="11113" cy="68580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39" name="Rectangle 2138"/>
          <p:cNvSpPr/>
          <p:nvPr>
            <p:custDataLst>
              <p:tags r:id="rId34"/>
            </p:custDataLst>
          </p:nvPr>
        </p:nvSpPr>
        <p:spPr bwMode="auto">
          <a:xfrm>
            <a:off x="9685338" y="3959226"/>
            <a:ext cx="46038" cy="64452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38" name="Rectangle 2137"/>
          <p:cNvSpPr/>
          <p:nvPr>
            <p:custDataLst>
              <p:tags r:id="rId35"/>
            </p:custDataLst>
          </p:nvPr>
        </p:nvSpPr>
        <p:spPr bwMode="auto">
          <a:xfrm>
            <a:off x="9644063" y="3960813"/>
            <a:ext cx="41275" cy="642938"/>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37" name="Rectangle 2136"/>
          <p:cNvSpPr/>
          <p:nvPr>
            <p:custDataLst>
              <p:tags r:id="rId36"/>
            </p:custDataLst>
          </p:nvPr>
        </p:nvSpPr>
        <p:spPr bwMode="auto">
          <a:xfrm>
            <a:off x="9621838" y="3965576"/>
            <a:ext cx="22225" cy="63817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36" name="Rectangle 2135"/>
          <p:cNvSpPr/>
          <p:nvPr>
            <p:custDataLst>
              <p:tags r:id="rId37"/>
            </p:custDataLst>
          </p:nvPr>
        </p:nvSpPr>
        <p:spPr bwMode="auto">
          <a:xfrm>
            <a:off x="9528175" y="3975100"/>
            <a:ext cx="93663" cy="6286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34" name="Rectangle 2133"/>
          <p:cNvSpPr/>
          <p:nvPr>
            <p:custDataLst>
              <p:tags r:id="rId38"/>
            </p:custDataLst>
          </p:nvPr>
        </p:nvSpPr>
        <p:spPr bwMode="auto">
          <a:xfrm>
            <a:off x="9505950" y="3975100"/>
            <a:ext cx="22225" cy="6286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33" name="Rectangle 2132"/>
          <p:cNvSpPr/>
          <p:nvPr>
            <p:custDataLst>
              <p:tags r:id="rId39"/>
            </p:custDataLst>
          </p:nvPr>
        </p:nvSpPr>
        <p:spPr bwMode="auto">
          <a:xfrm>
            <a:off x="9474200" y="3979863"/>
            <a:ext cx="31750" cy="62388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32" name="Rectangle 2131"/>
          <p:cNvSpPr/>
          <p:nvPr>
            <p:custDataLst>
              <p:tags r:id="rId40"/>
            </p:custDataLst>
          </p:nvPr>
        </p:nvSpPr>
        <p:spPr bwMode="auto">
          <a:xfrm>
            <a:off x="9459913" y="3984625"/>
            <a:ext cx="14288" cy="619125"/>
          </a:xfrm>
          <a:prstGeom prst="rect">
            <a:avLst/>
          </a:prstGeom>
          <a:solidFill>
            <a:srgbClr val="012169"/>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30" name="Rectangle 2129"/>
          <p:cNvSpPr/>
          <p:nvPr>
            <p:custDataLst>
              <p:tags r:id="rId41"/>
            </p:custDataLst>
          </p:nvPr>
        </p:nvSpPr>
        <p:spPr bwMode="auto">
          <a:xfrm>
            <a:off x="9405938" y="4008438"/>
            <a:ext cx="53975" cy="595313"/>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29" name="Rectangle 2128"/>
          <p:cNvSpPr/>
          <p:nvPr>
            <p:custDataLst>
              <p:tags r:id="rId42"/>
            </p:custDataLst>
          </p:nvPr>
        </p:nvSpPr>
        <p:spPr bwMode="auto">
          <a:xfrm>
            <a:off x="9313863" y="4013200"/>
            <a:ext cx="92075" cy="5905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28" name="Rectangle 2127"/>
          <p:cNvSpPr/>
          <p:nvPr>
            <p:custDataLst>
              <p:tags r:id="rId43"/>
            </p:custDataLst>
          </p:nvPr>
        </p:nvSpPr>
        <p:spPr bwMode="auto">
          <a:xfrm>
            <a:off x="9278938" y="4022725"/>
            <a:ext cx="34925" cy="58102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27" name="Rectangle 2126"/>
          <p:cNvSpPr/>
          <p:nvPr>
            <p:custDataLst>
              <p:tags r:id="rId44"/>
            </p:custDataLst>
          </p:nvPr>
        </p:nvSpPr>
        <p:spPr bwMode="auto">
          <a:xfrm>
            <a:off x="9228138" y="4024313"/>
            <a:ext cx="50800" cy="57943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26" name="Rectangle 2125"/>
          <p:cNvSpPr/>
          <p:nvPr>
            <p:custDataLst>
              <p:tags r:id="rId45"/>
            </p:custDataLst>
          </p:nvPr>
        </p:nvSpPr>
        <p:spPr bwMode="auto">
          <a:xfrm>
            <a:off x="9202738" y="4024313"/>
            <a:ext cx="25400" cy="57943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22" name="Rectangle 2121"/>
          <p:cNvSpPr/>
          <p:nvPr>
            <p:custDataLst>
              <p:tags r:id="rId46"/>
            </p:custDataLst>
          </p:nvPr>
        </p:nvSpPr>
        <p:spPr bwMode="auto">
          <a:xfrm>
            <a:off x="9151938" y="4027488"/>
            <a:ext cx="50800" cy="576263"/>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21" name="Rectangle 2120"/>
          <p:cNvSpPr/>
          <p:nvPr>
            <p:custDataLst>
              <p:tags r:id="rId47"/>
            </p:custDataLst>
          </p:nvPr>
        </p:nvSpPr>
        <p:spPr bwMode="auto">
          <a:xfrm>
            <a:off x="9102725" y="4035426"/>
            <a:ext cx="49213" cy="56832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20" name="Rectangle 2119"/>
          <p:cNvSpPr/>
          <p:nvPr>
            <p:custDataLst>
              <p:tags r:id="rId48"/>
            </p:custDataLst>
          </p:nvPr>
        </p:nvSpPr>
        <p:spPr bwMode="auto">
          <a:xfrm>
            <a:off x="9083675" y="4035426"/>
            <a:ext cx="19050" cy="56832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19" name="Rectangle 2118"/>
          <p:cNvSpPr/>
          <p:nvPr>
            <p:custDataLst>
              <p:tags r:id="rId49"/>
            </p:custDataLst>
          </p:nvPr>
        </p:nvSpPr>
        <p:spPr bwMode="auto">
          <a:xfrm>
            <a:off x="9067800" y="4035426"/>
            <a:ext cx="15875" cy="56832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18" name="Rectangle 2117"/>
          <p:cNvSpPr/>
          <p:nvPr>
            <p:custDataLst>
              <p:tags r:id="rId50"/>
            </p:custDataLst>
          </p:nvPr>
        </p:nvSpPr>
        <p:spPr bwMode="auto">
          <a:xfrm>
            <a:off x="9043988" y="4037013"/>
            <a:ext cx="23813" cy="56673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17" name="Rectangle 2116"/>
          <p:cNvSpPr/>
          <p:nvPr>
            <p:custDataLst>
              <p:tags r:id="rId51"/>
            </p:custDataLst>
          </p:nvPr>
        </p:nvSpPr>
        <p:spPr bwMode="auto">
          <a:xfrm>
            <a:off x="9012238" y="4038600"/>
            <a:ext cx="31750" cy="5651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11" name="Rectangle 2110"/>
          <p:cNvSpPr/>
          <p:nvPr>
            <p:custDataLst>
              <p:tags r:id="rId52"/>
            </p:custDataLst>
          </p:nvPr>
        </p:nvSpPr>
        <p:spPr bwMode="auto">
          <a:xfrm>
            <a:off x="8974138" y="4041776"/>
            <a:ext cx="38100" cy="56197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10" name="Rectangle 2109"/>
          <p:cNvSpPr/>
          <p:nvPr>
            <p:custDataLst>
              <p:tags r:id="rId53"/>
            </p:custDataLst>
          </p:nvPr>
        </p:nvSpPr>
        <p:spPr bwMode="auto">
          <a:xfrm>
            <a:off x="8947150" y="4043363"/>
            <a:ext cx="26988" cy="56038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09" name="Rectangle 2108"/>
          <p:cNvSpPr/>
          <p:nvPr>
            <p:custDataLst>
              <p:tags r:id="rId54"/>
            </p:custDataLst>
          </p:nvPr>
        </p:nvSpPr>
        <p:spPr bwMode="auto">
          <a:xfrm>
            <a:off x="8915400" y="4046539"/>
            <a:ext cx="31750" cy="557213"/>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08" name="Rectangle 2107"/>
          <p:cNvSpPr/>
          <p:nvPr>
            <p:custDataLst>
              <p:tags r:id="rId55"/>
            </p:custDataLst>
          </p:nvPr>
        </p:nvSpPr>
        <p:spPr bwMode="auto">
          <a:xfrm>
            <a:off x="8874125" y="4051300"/>
            <a:ext cx="41275" cy="5524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06" name="Rectangle 2105"/>
          <p:cNvSpPr/>
          <p:nvPr>
            <p:custDataLst>
              <p:tags r:id="rId56"/>
            </p:custDataLst>
          </p:nvPr>
        </p:nvSpPr>
        <p:spPr bwMode="auto">
          <a:xfrm>
            <a:off x="8863013" y="4059239"/>
            <a:ext cx="11113" cy="54451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01" name="Rectangle 2100"/>
          <p:cNvSpPr/>
          <p:nvPr>
            <p:custDataLst>
              <p:tags r:id="rId57"/>
            </p:custDataLst>
          </p:nvPr>
        </p:nvSpPr>
        <p:spPr bwMode="auto">
          <a:xfrm>
            <a:off x="8828088" y="4060826"/>
            <a:ext cx="34925" cy="54292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00" name="Rectangle 2099"/>
          <p:cNvSpPr/>
          <p:nvPr>
            <p:custDataLst>
              <p:tags r:id="rId58"/>
            </p:custDataLst>
          </p:nvPr>
        </p:nvSpPr>
        <p:spPr bwMode="auto">
          <a:xfrm>
            <a:off x="8770938" y="4064000"/>
            <a:ext cx="57150" cy="5397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99" name="Rectangle 2098"/>
          <p:cNvSpPr/>
          <p:nvPr>
            <p:custDataLst>
              <p:tags r:id="rId59"/>
            </p:custDataLst>
          </p:nvPr>
        </p:nvSpPr>
        <p:spPr bwMode="auto">
          <a:xfrm>
            <a:off x="8736013" y="4067175"/>
            <a:ext cx="34925" cy="53657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98" name="Rectangle 2097"/>
          <p:cNvSpPr/>
          <p:nvPr>
            <p:custDataLst>
              <p:tags r:id="rId60"/>
            </p:custDataLst>
          </p:nvPr>
        </p:nvSpPr>
        <p:spPr bwMode="auto">
          <a:xfrm>
            <a:off x="8704263" y="4068763"/>
            <a:ext cx="31750" cy="53498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97" name="Rectangle 2096"/>
          <p:cNvSpPr/>
          <p:nvPr>
            <p:custDataLst>
              <p:tags r:id="rId61"/>
            </p:custDataLst>
          </p:nvPr>
        </p:nvSpPr>
        <p:spPr bwMode="auto">
          <a:xfrm>
            <a:off x="8669338" y="4070350"/>
            <a:ext cx="34925" cy="53340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96" name="Rectangle 2095"/>
          <p:cNvSpPr/>
          <p:nvPr>
            <p:custDataLst>
              <p:tags r:id="rId62"/>
            </p:custDataLst>
          </p:nvPr>
        </p:nvSpPr>
        <p:spPr bwMode="auto">
          <a:xfrm>
            <a:off x="8636000" y="4070350"/>
            <a:ext cx="33338" cy="53340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93" name="Rectangle 2092"/>
          <p:cNvSpPr/>
          <p:nvPr>
            <p:custDataLst>
              <p:tags r:id="rId63"/>
            </p:custDataLst>
          </p:nvPr>
        </p:nvSpPr>
        <p:spPr bwMode="auto">
          <a:xfrm>
            <a:off x="8594725" y="4073525"/>
            <a:ext cx="41275" cy="53022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92" name="Rectangle 2091"/>
          <p:cNvSpPr/>
          <p:nvPr>
            <p:custDataLst>
              <p:tags r:id="rId64"/>
            </p:custDataLst>
          </p:nvPr>
        </p:nvSpPr>
        <p:spPr bwMode="auto">
          <a:xfrm>
            <a:off x="8578850" y="4076700"/>
            <a:ext cx="15875" cy="5270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91" name="Rectangle 2090"/>
          <p:cNvSpPr/>
          <p:nvPr>
            <p:custDataLst>
              <p:tags r:id="rId65"/>
            </p:custDataLst>
          </p:nvPr>
        </p:nvSpPr>
        <p:spPr bwMode="auto">
          <a:xfrm>
            <a:off x="8572500" y="4079875"/>
            <a:ext cx="6350" cy="52387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88" name="Rectangle 2087"/>
          <p:cNvSpPr/>
          <p:nvPr>
            <p:custDataLst>
              <p:tags r:id="rId66"/>
            </p:custDataLst>
          </p:nvPr>
        </p:nvSpPr>
        <p:spPr bwMode="auto">
          <a:xfrm>
            <a:off x="8510588" y="4083050"/>
            <a:ext cx="61913" cy="52070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86" name="Rectangle 2085"/>
          <p:cNvSpPr/>
          <p:nvPr>
            <p:custDataLst>
              <p:tags r:id="rId67"/>
            </p:custDataLst>
          </p:nvPr>
        </p:nvSpPr>
        <p:spPr bwMode="auto">
          <a:xfrm>
            <a:off x="8505825" y="4089400"/>
            <a:ext cx="4763" cy="514350"/>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85" name="Rectangle 2084"/>
          <p:cNvSpPr/>
          <p:nvPr>
            <p:custDataLst>
              <p:tags r:id="rId68"/>
            </p:custDataLst>
          </p:nvPr>
        </p:nvSpPr>
        <p:spPr bwMode="auto">
          <a:xfrm>
            <a:off x="8483600" y="4102100"/>
            <a:ext cx="22225" cy="5016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83" name="Rectangle 2082"/>
          <p:cNvSpPr/>
          <p:nvPr>
            <p:custDataLst>
              <p:tags r:id="rId69"/>
            </p:custDataLst>
          </p:nvPr>
        </p:nvSpPr>
        <p:spPr bwMode="auto">
          <a:xfrm>
            <a:off x="8448675" y="4106863"/>
            <a:ext cx="34925" cy="49688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82" name="Rectangle 2081"/>
          <p:cNvSpPr/>
          <p:nvPr>
            <p:custDataLst>
              <p:tags r:id="rId70"/>
            </p:custDataLst>
          </p:nvPr>
        </p:nvSpPr>
        <p:spPr bwMode="auto">
          <a:xfrm>
            <a:off x="8397875" y="4137025"/>
            <a:ext cx="50800" cy="46672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81" name="Rectangle 2080"/>
          <p:cNvSpPr/>
          <p:nvPr>
            <p:custDataLst>
              <p:tags r:id="rId71"/>
            </p:custDataLst>
          </p:nvPr>
        </p:nvSpPr>
        <p:spPr bwMode="auto">
          <a:xfrm>
            <a:off x="8378825" y="4195763"/>
            <a:ext cx="19050" cy="40798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80" name="Rectangle 2079"/>
          <p:cNvSpPr/>
          <p:nvPr>
            <p:custDataLst>
              <p:tags r:id="rId72"/>
            </p:custDataLst>
          </p:nvPr>
        </p:nvSpPr>
        <p:spPr bwMode="auto">
          <a:xfrm>
            <a:off x="8366125" y="4206875"/>
            <a:ext cx="12700" cy="39687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76" name="Rectangle 2075"/>
          <p:cNvSpPr/>
          <p:nvPr>
            <p:custDataLst>
              <p:tags r:id="rId73"/>
            </p:custDataLst>
          </p:nvPr>
        </p:nvSpPr>
        <p:spPr bwMode="auto">
          <a:xfrm>
            <a:off x="8308975" y="4243388"/>
            <a:ext cx="57150" cy="36036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70" name="Rectangle 2069"/>
          <p:cNvSpPr/>
          <p:nvPr>
            <p:custDataLst>
              <p:tags r:id="rId74"/>
            </p:custDataLst>
          </p:nvPr>
        </p:nvSpPr>
        <p:spPr bwMode="auto">
          <a:xfrm>
            <a:off x="8293100" y="4257676"/>
            <a:ext cx="15875" cy="34607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61" name="Rectangle 2060"/>
          <p:cNvSpPr/>
          <p:nvPr>
            <p:custDataLst>
              <p:tags r:id="rId75"/>
            </p:custDataLst>
          </p:nvPr>
        </p:nvSpPr>
        <p:spPr bwMode="auto">
          <a:xfrm>
            <a:off x="8135938" y="4264026"/>
            <a:ext cx="157163" cy="339725"/>
          </a:xfrm>
          <a:prstGeom prst="rect">
            <a:avLst/>
          </a:prstGeom>
          <a:solidFill>
            <a:srgbClr val="012169"/>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60" name="Rectangle 2059"/>
          <p:cNvSpPr/>
          <p:nvPr>
            <p:custDataLst>
              <p:tags r:id="rId76"/>
            </p:custDataLst>
          </p:nvPr>
        </p:nvSpPr>
        <p:spPr bwMode="auto">
          <a:xfrm>
            <a:off x="8058150" y="4268789"/>
            <a:ext cx="77788" cy="334963"/>
          </a:xfrm>
          <a:prstGeom prst="rect">
            <a:avLst/>
          </a:prstGeom>
          <a:solidFill>
            <a:srgbClr val="0097A9"/>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59" name="Rectangle 2058"/>
          <p:cNvSpPr/>
          <p:nvPr>
            <p:custDataLst>
              <p:tags r:id="rId77"/>
            </p:custDataLst>
          </p:nvPr>
        </p:nvSpPr>
        <p:spPr bwMode="auto">
          <a:xfrm>
            <a:off x="7915275" y="4273550"/>
            <a:ext cx="142875" cy="330200"/>
          </a:xfrm>
          <a:prstGeom prst="rect">
            <a:avLst/>
          </a:prstGeom>
          <a:solidFill>
            <a:srgbClr val="0097A9"/>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58" name="Rectangle 2057"/>
          <p:cNvSpPr/>
          <p:nvPr>
            <p:custDataLst>
              <p:tags r:id="rId78"/>
            </p:custDataLst>
          </p:nvPr>
        </p:nvSpPr>
        <p:spPr bwMode="auto">
          <a:xfrm>
            <a:off x="7815263" y="4306888"/>
            <a:ext cx="100013" cy="296863"/>
          </a:xfrm>
          <a:prstGeom prst="rect">
            <a:avLst/>
          </a:prstGeom>
          <a:solidFill>
            <a:srgbClr val="0097A9"/>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55" name="Rectangle 2054"/>
          <p:cNvSpPr/>
          <p:nvPr>
            <p:custDataLst>
              <p:tags r:id="rId79"/>
            </p:custDataLst>
          </p:nvPr>
        </p:nvSpPr>
        <p:spPr bwMode="auto">
          <a:xfrm>
            <a:off x="7780338" y="4321176"/>
            <a:ext cx="34925" cy="28257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52" name="Rectangle 2051"/>
          <p:cNvSpPr/>
          <p:nvPr>
            <p:custDataLst>
              <p:tags r:id="rId80"/>
            </p:custDataLst>
          </p:nvPr>
        </p:nvSpPr>
        <p:spPr bwMode="auto">
          <a:xfrm>
            <a:off x="7535863" y="4368800"/>
            <a:ext cx="244475" cy="234950"/>
          </a:xfrm>
          <a:prstGeom prst="rect">
            <a:avLst/>
          </a:prstGeom>
          <a:solidFill>
            <a:srgbClr val="0097A9"/>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51" name="Rectangle 2050"/>
          <p:cNvSpPr/>
          <p:nvPr>
            <p:custDataLst>
              <p:tags r:id="rId81"/>
            </p:custDataLst>
          </p:nvPr>
        </p:nvSpPr>
        <p:spPr bwMode="auto">
          <a:xfrm>
            <a:off x="7419975" y="4383088"/>
            <a:ext cx="115888" cy="220663"/>
          </a:xfrm>
          <a:prstGeom prst="rect">
            <a:avLst/>
          </a:prstGeom>
          <a:solidFill>
            <a:srgbClr val="0097A9"/>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50" name="Rectangle 2049"/>
          <p:cNvSpPr/>
          <p:nvPr>
            <p:custDataLst>
              <p:tags r:id="rId82"/>
            </p:custDataLst>
          </p:nvPr>
        </p:nvSpPr>
        <p:spPr bwMode="auto">
          <a:xfrm>
            <a:off x="7407275" y="4386263"/>
            <a:ext cx="12700" cy="217488"/>
          </a:xfrm>
          <a:prstGeom prst="rect">
            <a:avLst/>
          </a:prstGeom>
          <a:solidFill>
            <a:srgbClr val="0097A9"/>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48" name="Rectangle 2047"/>
          <p:cNvSpPr/>
          <p:nvPr>
            <p:custDataLst>
              <p:tags r:id="rId83"/>
            </p:custDataLst>
          </p:nvPr>
        </p:nvSpPr>
        <p:spPr bwMode="auto">
          <a:xfrm>
            <a:off x="7400925" y="4398963"/>
            <a:ext cx="6350" cy="20478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47" name="Rectangle 2046"/>
          <p:cNvSpPr/>
          <p:nvPr>
            <p:custDataLst>
              <p:tags r:id="rId84"/>
            </p:custDataLst>
          </p:nvPr>
        </p:nvSpPr>
        <p:spPr bwMode="auto">
          <a:xfrm>
            <a:off x="7319963" y="4419600"/>
            <a:ext cx="80963" cy="18415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46" name="Rectangle 2045"/>
          <p:cNvSpPr/>
          <p:nvPr>
            <p:custDataLst>
              <p:tags r:id="rId85"/>
            </p:custDataLst>
          </p:nvPr>
        </p:nvSpPr>
        <p:spPr bwMode="auto">
          <a:xfrm>
            <a:off x="7277100" y="4424363"/>
            <a:ext cx="42863" cy="17938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45" name="Rectangle 2044"/>
          <p:cNvSpPr/>
          <p:nvPr>
            <p:custDataLst>
              <p:tags r:id="rId86"/>
            </p:custDataLst>
          </p:nvPr>
        </p:nvSpPr>
        <p:spPr bwMode="auto">
          <a:xfrm>
            <a:off x="7188200" y="4427539"/>
            <a:ext cx="88900" cy="17621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44" name="Rectangle 2043"/>
          <p:cNvSpPr/>
          <p:nvPr>
            <p:custDataLst>
              <p:tags r:id="rId87"/>
            </p:custDataLst>
          </p:nvPr>
        </p:nvSpPr>
        <p:spPr bwMode="auto">
          <a:xfrm>
            <a:off x="7053263" y="4430713"/>
            <a:ext cx="134938" cy="17303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43" name="Rectangle 2042"/>
          <p:cNvSpPr/>
          <p:nvPr>
            <p:custDataLst>
              <p:tags r:id="rId88"/>
            </p:custDataLst>
          </p:nvPr>
        </p:nvSpPr>
        <p:spPr bwMode="auto">
          <a:xfrm>
            <a:off x="7040563" y="4433889"/>
            <a:ext cx="12700" cy="16986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42" name="Rectangle 2041"/>
          <p:cNvSpPr/>
          <p:nvPr>
            <p:custDataLst>
              <p:tags r:id="rId89"/>
            </p:custDataLst>
          </p:nvPr>
        </p:nvSpPr>
        <p:spPr bwMode="auto">
          <a:xfrm>
            <a:off x="7008813" y="4433889"/>
            <a:ext cx="31750" cy="16986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41" name="Rectangle 2040"/>
          <p:cNvSpPr/>
          <p:nvPr>
            <p:custDataLst>
              <p:tags r:id="rId90"/>
            </p:custDataLst>
          </p:nvPr>
        </p:nvSpPr>
        <p:spPr bwMode="auto">
          <a:xfrm>
            <a:off x="6902450" y="4437063"/>
            <a:ext cx="106363" cy="16668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40" name="Rectangle 2039"/>
          <p:cNvSpPr/>
          <p:nvPr>
            <p:custDataLst>
              <p:tags r:id="rId91"/>
            </p:custDataLst>
          </p:nvPr>
        </p:nvSpPr>
        <p:spPr bwMode="auto">
          <a:xfrm>
            <a:off x="6875463" y="4441825"/>
            <a:ext cx="26988" cy="16192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39" name="Rectangle 2038"/>
          <p:cNvSpPr/>
          <p:nvPr>
            <p:custDataLst>
              <p:tags r:id="rId92"/>
            </p:custDataLst>
          </p:nvPr>
        </p:nvSpPr>
        <p:spPr bwMode="auto">
          <a:xfrm>
            <a:off x="6850063" y="4443413"/>
            <a:ext cx="25400" cy="16033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38" name="Rectangle 2037"/>
          <p:cNvSpPr/>
          <p:nvPr>
            <p:custDataLst>
              <p:tags r:id="rId93"/>
            </p:custDataLst>
          </p:nvPr>
        </p:nvSpPr>
        <p:spPr bwMode="auto">
          <a:xfrm>
            <a:off x="6800850" y="4445000"/>
            <a:ext cx="49213" cy="15875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37" name="Rectangle 2036"/>
          <p:cNvSpPr/>
          <p:nvPr>
            <p:custDataLst>
              <p:tags r:id="rId94"/>
            </p:custDataLst>
          </p:nvPr>
        </p:nvSpPr>
        <p:spPr bwMode="auto">
          <a:xfrm>
            <a:off x="6711950" y="4446588"/>
            <a:ext cx="88900" cy="15716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36" name="Rectangle 2035"/>
          <p:cNvSpPr/>
          <p:nvPr>
            <p:custDataLst>
              <p:tags r:id="rId95"/>
            </p:custDataLst>
          </p:nvPr>
        </p:nvSpPr>
        <p:spPr bwMode="auto">
          <a:xfrm>
            <a:off x="6572250" y="4448175"/>
            <a:ext cx="139700" cy="15557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32" name="Rectangle 2031"/>
          <p:cNvSpPr/>
          <p:nvPr>
            <p:custDataLst>
              <p:tags r:id="rId96"/>
            </p:custDataLst>
          </p:nvPr>
        </p:nvSpPr>
        <p:spPr bwMode="auto">
          <a:xfrm>
            <a:off x="6319838" y="4449763"/>
            <a:ext cx="252413" cy="153988"/>
          </a:xfrm>
          <a:prstGeom prst="rect">
            <a:avLst/>
          </a:prstGeom>
          <a:solidFill>
            <a:srgbClr val="0097A9"/>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31" name="Rectangle 2030"/>
          <p:cNvSpPr/>
          <p:nvPr>
            <p:custDataLst>
              <p:tags r:id="rId97"/>
            </p:custDataLst>
          </p:nvPr>
        </p:nvSpPr>
        <p:spPr bwMode="auto">
          <a:xfrm>
            <a:off x="6275388" y="4457700"/>
            <a:ext cx="44450" cy="14605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30" name="Rectangle 2029"/>
          <p:cNvSpPr/>
          <p:nvPr>
            <p:custDataLst>
              <p:tags r:id="rId98"/>
            </p:custDataLst>
          </p:nvPr>
        </p:nvSpPr>
        <p:spPr bwMode="auto">
          <a:xfrm>
            <a:off x="5937250" y="4459288"/>
            <a:ext cx="338138" cy="14446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29" name="Rectangle 2028"/>
          <p:cNvSpPr/>
          <p:nvPr>
            <p:custDataLst>
              <p:tags r:id="rId99"/>
            </p:custDataLst>
          </p:nvPr>
        </p:nvSpPr>
        <p:spPr bwMode="auto">
          <a:xfrm>
            <a:off x="5764213" y="4460876"/>
            <a:ext cx="173038" cy="14287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28" name="Rectangle 2027"/>
          <p:cNvSpPr/>
          <p:nvPr>
            <p:custDataLst>
              <p:tags r:id="rId100"/>
            </p:custDataLst>
          </p:nvPr>
        </p:nvSpPr>
        <p:spPr bwMode="auto">
          <a:xfrm>
            <a:off x="5741988" y="4462463"/>
            <a:ext cx="22225" cy="14128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27" name="Rectangle 2026"/>
          <p:cNvSpPr/>
          <p:nvPr>
            <p:custDataLst>
              <p:tags r:id="rId101"/>
            </p:custDataLst>
          </p:nvPr>
        </p:nvSpPr>
        <p:spPr bwMode="auto">
          <a:xfrm>
            <a:off x="5699125" y="4465638"/>
            <a:ext cx="42863" cy="13811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26" name="Rectangle 2025"/>
          <p:cNvSpPr/>
          <p:nvPr>
            <p:custDataLst>
              <p:tags r:id="rId102"/>
            </p:custDataLst>
          </p:nvPr>
        </p:nvSpPr>
        <p:spPr bwMode="auto">
          <a:xfrm>
            <a:off x="5681663" y="4468813"/>
            <a:ext cx="17463" cy="13493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25" name="Rectangle 2024"/>
          <p:cNvSpPr/>
          <p:nvPr>
            <p:custDataLst>
              <p:tags r:id="rId103"/>
            </p:custDataLst>
          </p:nvPr>
        </p:nvSpPr>
        <p:spPr bwMode="auto">
          <a:xfrm>
            <a:off x="5614988" y="4468813"/>
            <a:ext cx="66675" cy="13493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24" name="Rectangle 2023"/>
          <p:cNvSpPr/>
          <p:nvPr>
            <p:custDataLst>
              <p:tags r:id="rId104"/>
            </p:custDataLst>
          </p:nvPr>
        </p:nvSpPr>
        <p:spPr bwMode="auto">
          <a:xfrm>
            <a:off x="5607050" y="4470400"/>
            <a:ext cx="7938" cy="13335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23" name="Rectangle 2022"/>
          <p:cNvSpPr/>
          <p:nvPr>
            <p:custDataLst>
              <p:tags r:id="rId105"/>
            </p:custDataLst>
          </p:nvPr>
        </p:nvSpPr>
        <p:spPr bwMode="auto">
          <a:xfrm>
            <a:off x="5502275" y="4473576"/>
            <a:ext cx="104775" cy="13017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22" name="Rectangle 2021"/>
          <p:cNvSpPr/>
          <p:nvPr>
            <p:custDataLst>
              <p:tags r:id="rId106"/>
            </p:custDataLst>
          </p:nvPr>
        </p:nvSpPr>
        <p:spPr bwMode="auto">
          <a:xfrm>
            <a:off x="5475288" y="4473576"/>
            <a:ext cx="26988" cy="13017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21" name="Rectangle 2020"/>
          <p:cNvSpPr/>
          <p:nvPr>
            <p:custDataLst>
              <p:tags r:id="rId107"/>
            </p:custDataLst>
          </p:nvPr>
        </p:nvSpPr>
        <p:spPr bwMode="auto">
          <a:xfrm>
            <a:off x="5353050" y="4473576"/>
            <a:ext cx="122238" cy="13017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14" name="Rectangle 2013"/>
          <p:cNvSpPr/>
          <p:nvPr>
            <p:custDataLst>
              <p:tags r:id="rId108"/>
            </p:custDataLst>
          </p:nvPr>
        </p:nvSpPr>
        <p:spPr bwMode="auto">
          <a:xfrm>
            <a:off x="5095875" y="4475163"/>
            <a:ext cx="257175" cy="12858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13" name="Rectangle 2012"/>
          <p:cNvSpPr/>
          <p:nvPr>
            <p:custDataLst>
              <p:tags r:id="rId109"/>
            </p:custDataLst>
          </p:nvPr>
        </p:nvSpPr>
        <p:spPr bwMode="auto">
          <a:xfrm>
            <a:off x="5065713" y="4476750"/>
            <a:ext cx="30163" cy="12700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11" name="Rectangle 2010"/>
          <p:cNvSpPr/>
          <p:nvPr>
            <p:custDataLst>
              <p:tags r:id="rId110"/>
            </p:custDataLst>
          </p:nvPr>
        </p:nvSpPr>
        <p:spPr bwMode="auto">
          <a:xfrm>
            <a:off x="4900613" y="4476750"/>
            <a:ext cx="165100" cy="12700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10" name="Rectangle 2009"/>
          <p:cNvSpPr/>
          <p:nvPr>
            <p:custDataLst>
              <p:tags r:id="rId111"/>
            </p:custDataLst>
          </p:nvPr>
        </p:nvSpPr>
        <p:spPr bwMode="auto">
          <a:xfrm>
            <a:off x="4859338" y="4476750"/>
            <a:ext cx="41275" cy="12700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09" name="Rectangle 2008"/>
          <p:cNvSpPr/>
          <p:nvPr>
            <p:custDataLst>
              <p:tags r:id="rId112"/>
            </p:custDataLst>
          </p:nvPr>
        </p:nvSpPr>
        <p:spPr bwMode="auto">
          <a:xfrm>
            <a:off x="4633913" y="4476750"/>
            <a:ext cx="225425" cy="12700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08" name="Rectangle 2007"/>
          <p:cNvSpPr/>
          <p:nvPr>
            <p:custDataLst>
              <p:tags r:id="rId113"/>
            </p:custDataLst>
          </p:nvPr>
        </p:nvSpPr>
        <p:spPr bwMode="auto">
          <a:xfrm>
            <a:off x="4594225" y="4478338"/>
            <a:ext cx="39688" cy="12541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07" name="Rectangle 2006"/>
          <p:cNvSpPr/>
          <p:nvPr>
            <p:custDataLst>
              <p:tags r:id="rId114"/>
            </p:custDataLst>
          </p:nvPr>
        </p:nvSpPr>
        <p:spPr bwMode="auto">
          <a:xfrm>
            <a:off x="4498975" y="4481513"/>
            <a:ext cx="95250" cy="12223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06" name="Rectangle 2005"/>
          <p:cNvSpPr/>
          <p:nvPr>
            <p:custDataLst>
              <p:tags r:id="rId115"/>
            </p:custDataLst>
          </p:nvPr>
        </p:nvSpPr>
        <p:spPr bwMode="auto">
          <a:xfrm>
            <a:off x="4437063" y="4483100"/>
            <a:ext cx="61913" cy="12065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05" name="Rectangle 2004"/>
          <p:cNvSpPr/>
          <p:nvPr>
            <p:custDataLst>
              <p:tags r:id="rId116"/>
            </p:custDataLst>
          </p:nvPr>
        </p:nvSpPr>
        <p:spPr bwMode="auto">
          <a:xfrm>
            <a:off x="4295775" y="4484689"/>
            <a:ext cx="141288" cy="11906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04" name="Rectangle 2003"/>
          <p:cNvSpPr/>
          <p:nvPr>
            <p:custDataLst>
              <p:tags r:id="rId117"/>
            </p:custDataLst>
          </p:nvPr>
        </p:nvSpPr>
        <p:spPr bwMode="auto">
          <a:xfrm>
            <a:off x="4275138" y="4486276"/>
            <a:ext cx="20638" cy="11747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995" name="Rectangle 1994"/>
          <p:cNvSpPr/>
          <p:nvPr>
            <p:custDataLst>
              <p:tags r:id="rId118"/>
            </p:custDataLst>
          </p:nvPr>
        </p:nvSpPr>
        <p:spPr bwMode="auto">
          <a:xfrm>
            <a:off x="3963988" y="4489450"/>
            <a:ext cx="311150" cy="11430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994" name="Rectangle 1993"/>
          <p:cNvSpPr/>
          <p:nvPr>
            <p:custDataLst>
              <p:tags r:id="rId119"/>
            </p:custDataLst>
          </p:nvPr>
        </p:nvSpPr>
        <p:spPr bwMode="auto">
          <a:xfrm>
            <a:off x="3941763" y="4492626"/>
            <a:ext cx="22225" cy="11112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993" name="Rectangle 1992"/>
          <p:cNvSpPr/>
          <p:nvPr>
            <p:custDataLst>
              <p:tags r:id="rId120"/>
            </p:custDataLst>
          </p:nvPr>
        </p:nvSpPr>
        <p:spPr bwMode="auto">
          <a:xfrm>
            <a:off x="3792538" y="4492626"/>
            <a:ext cx="149225" cy="11112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992" name="Rectangle 1991"/>
          <p:cNvSpPr/>
          <p:nvPr>
            <p:custDataLst>
              <p:tags r:id="rId121"/>
            </p:custDataLst>
          </p:nvPr>
        </p:nvSpPr>
        <p:spPr bwMode="auto">
          <a:xfrm>
            <a:off x="3768725" y="4494213"/>
            <a:ext cx="23813" cy="10953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991" name="Rectangle 1990"/>
          <p:cNvSpPr/>
          <p:nvPr>
            <p:custDataLst>
              <p:tags r:id="rId122"/>
            </p:custDataLst>
          </p:nvPr>
        </p:nvSpPr>
        <p:spPr bwMode="auto">
          <a:xfrm>
            <a:off x="3760788" y="4495800"/>
            <a:ext cx="7938" cy="10795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990" name="Rectangle 1989"/>
          <p:cNvSpPr/>
          <p:nvPr>
            <p:custDataLst>
              <p:tags r:id="rId123"/>
            </p:custDataLst>
          </p:nvPr>
        </p:nvSpPr>
        <p:spPr bwMode="auto">
          <a:xfrm>
            <a:off x="3662363" y="4497389"/>
            <a:ext cx="98425" cy="10636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983" name="Rectangle 1982"/>
          <p:cNvSpPr/>
          <p:nvPr>
            <p:custDataLst>
              <p:tags r:id="rId124"/>
            </p:custDataLst>
          </p:nvPr>
        </p:nvSpPr>
        <p:spPr bwMode="auto">
          <a:xfrm>
            <a:off x="3360738" y="4500563"/>
            <a:ext cx="301625" cy="10318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982" name="Rectangle 1981"/>
          <p:cNvSpPr/>
          <p:nvPr>
            <p:custDataLst>
              <p:tags r:id="rId125"/>
            </p:custDataLst>
          </p:nvPr>
        </p:nvSpPr>
        <p:spPr bwMode="auto">
          <a:xfrm>
            <a:off x="3181350" y="4503739"/>
            <a:ext cx="179388" cy="10001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981" name="Rectangle 1980"/>
          <p:cNvSpPr/>
          <p:nvPr>
            <p:custDataLst>
              <p:tags r:id="rId126"/>
            </p:custDataLst>
          </p:nvPr>
        </p:nvSpPr>
        <p:spPr bwMode="auto">
          <a:xfrm>
            <a:off x="3114675" y="4505325"/>
            <a:ext cx="66675" cy="9842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980" name="Rectangle 1979"/>
          <p:cNvSpPr/>
          <p:nvPr>
            <p:custDataLst>
              <p:tags r:id="rId127"/>
            </p:custDataLst>
          </p:nvPr>
        </p:nvSpPr>
        <p:spPr bwMode="auto">
          <a:xfrm>
            <a:off x="3011488" y="4506913"/>
            <a:ext cx="103188" cy="9683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979" name="Rectangle 1978"/>
          <p:cNvSpPr/>
          <p:nvPr>
            <p:custDataLst>
              <p:tags r:id="rId128"/>
            </p:custDataLst>
          </p:nvPr>
        </p:nvSpPr>
        <p:spPr bwMode="auto">
          <a:xfrm>
            <a:off x="2695575" y="4508500"/>
            <a:ext cx="315913" cy="9525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978" name="Rectangle 1977"/>
          <p:cNvSpPr/>
          <p:nvPr>
            <p:custDataLst>
              <p:tags r:id="rId129"/>
            </p:custDataLst>
          </p:nvPr>
        </p:nvSpPr>
        <p:spPr bwMode="auto">
          <a:xfrm>
            <a:off x="2286000" y="4513263"/>
            <a:ext cx="409575" cy="9048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977" name="Rectangle 1976"/>
          <p:cNvSpPr/>
          <p:nvPr>
            <p:custDataLst>
              <p:tags r:id="rId130"/>
            </p:custDataLst>
          </p:nvPr>
        </p:nvSpPr>
        <p:spPr bwMode="auto">
          <a:xfrm>
            <a:off x="2252663" y="4513263"/>
            <a:ext cx="33338" cy="9048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976" name="Rectangle 1975"/>
          <p:cNvSpPr/>
          <p:nvPr>
            <p:custDataLst>
              <p:tags r:id="rId131"/>
            </p:custDataLst>
          </p:nvPr>
        </p:nvSpPr>
        <p:spPr bwMode="auto">
          <a:xfrm>
            <a:off x="2008188" y="4514850"/>
            <a:ext cx="244475" cy="8890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975" name="Rectangle 1974"/>
          <p:cNvSpPr/>
          <p:nvPr>
            <p:custDataLst>
              <p:tags r:id="rId132"/>
            </p:custDataLst>
          </p:nvPr>
        </p:nvSpPr>
        <p:spPr bwMode="auto">
          <a:xfrm>
            <a:off x="1631950" y="4518025"/>
            <a:ext cx="376238" cy="8572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974" name="Rectangle 1973"/>
          <p:cNvSpPr/>
          <p:nvPr>
            <p:custDataLst>
              <p:tags r:id="rId133"/>
            </p:custDataLst>
          </p:nvPr>
        </p:nvSpPr>
        <p:spPr bwMode="auto">
          <a:xfrm>
            <a:off x="1352550" y="4521200"/>
            <a:ext cx="279400" cy="8255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952" name="Rectangle 1951"/>
          <p:cNvSpPr/>
          <p:nvPr>
            <p:custDataLst>
              <p:tags r:id="rId134"/>
            </p:custDataLst>
          </p:nvPr>
        </p:nvSpPr>
        <p:spPr bwMode="auto">
          <a:xfrm>
            <a:off x="1250950" y="4532313"/>
            <a:ext cx="101600" cy="71438"/>
          </a:xfrm>
          <a:prstGeom prst="rect">
            <a:avLst/>
          </a:prstGeom>
          <a:solidFill>
            <a:srgbClr val="75787B"/>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840" name="Rectangle 1839"/>
          <p:cNvSpPr/>
          <p:nvPr>
            <p:custDataLst>
              <p:tags r:id="rId135"/>
            </p:custDataLst>
          </p:nvPr>
        </p:nvSpPr>
        <p:spPr bwMode="auto">
          <a:xfrm>
            <a:off x="1112838" y="4535488"/>
            <a:ext cx="138113" cy="6826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837" name="Rectangle 1836"/>
          <p:cNvSpPr/>
          <p:nvPr>
            <p:custDataLst>
              <p:tags r:id="rId136"/>
            </p:custDataLst>
          </p:nvPr>
        </p:nvSpPr>
        <p:spPr bwMode="auto">
          <a:xfrm>
            <a:off x="777875" y="4545013"/>
            <a:ext cx="334963" cy="5873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834" name="Rectangle 1833"/>
          <p:cNvSpPr/>
          <p:nvPr>
            <p:custDataLst>
              <p:tags r:id="rId137"/>
            </p:custDataLst>
          </p:nvPr>
        </p:nvSpPr>
        <p:spPr bwMode="auto">
          <a:xfrm>
            <a:off x="723900" y="4564063"/>
            <a:ext cx="53975" cy="3968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cxnSp>
        <p:nvCxnSpPr>
          <p:cNvPr id="2167" name="Straight Connector 2166"/>
          <p:cNvCxnSpPr/>
          <p:nvPr>
            <p:custDataLst>
              <p:tags r:id="rId138"/>
            </p:custDataLst>
          </p:nvPr>
        </p:nvCxnSpPr>
        <p:spPr bwMode="auto">
          <a:xfrm>
            <a:off x="681038" y="3722688"/>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87" name="Straight Connector 2286"/>
          <p:cNvCxnSpPr/>
          <p:nvPr>
            <p:custDataLst>
              <p:tags r:id="rId139"/>
            </p:custDataLst>
          </p:nvPr>
        </p:nvCxnSpPr>
        <p:spPr bwMode="auto">
          <a:xfrm flipV="1">
            <a:off x="6910388" y="46037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86" name="Straight Connector 2285"/>
          <p:cNvCxnSpPr/>
          <p:nvPr>
            <p:custDataLst>
              <p:tags r:id="rId140"/>
            </p:custDataLst>
          </p:nvPr>
        </p:nvCxnSpPr>
        <p:spPr bwMode="auto">
          <a:xfrm flipV="1">
            <a:off x="6434138" y="46037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83" name="Straight Connector 2282"/>
          <p:cNvCxnSpPr/>
          <p:nvPr>
            <p:custDataLst>
              <p:tags r:id="rId141"/>
            </p:custDataLst>
          </p:nvPr>
        </p:nvCxnSpPr>
        <p:spPr bwMode="auto">
          <a:xfrm flipV="1">
            <a:off x="5006975" y="46037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82" name="Straight Connector 2281"/>
          <p:cNvCxnSpPr/>
          <p:nvPr>
            <p:custDataLst>
              <p:tags r:id="rId142"/>
            </p:custDataLst>
          </p:nvPr>
        </p:nvCxnSpPr>
        <p:spPr bwMode="auto">
          <a:xfrm flipV="1">
            <a:off x="4530725" y="46037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94" name="Straight Connector 2193"/>
          <p:cNvCxnSpPr/>
          <p:nvPr>
            <p:custDataLst>
              <p:tags r:id="rId143"/>
            </p:custDataLst>
          </p:nvPr>
        </p:nvCxnSpPr>
        <p:spPr bwMode="auto">
          <a:xfrm>
            <a:off x="681038" y="3282950"/>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77" name="Straight Connector 2276"/>
          <p:cNvCxnSpPr/>
          <p:nvPr>
            <p:custDataLst>
              <p:tags r:id="rId144"/>
            </p:custDataLst>
          </p:nvPr>
        </p:nvCxnSpPr>
        <p:spPr bwMode="auto">
          <a:xfrm flipV="1">
            <a:off x="2151063" y="46037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92" name="Straight Connector 2291"/>
          <p:cNvCxnSpPr/>
          <p:nvPr>
            <p:custDataLst>
              <p:tags r:id="rId145"/>
            </p:custDataLst>
          </p:nvPr>
        </p:nvCxnSpPr>
        <p:spPr bwMode="auto">
          <a:xfrm flipV="1">
            <a:off x="9290050" y="46037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90" name="Straight Connector 2289"/>
          <p:cNvCxnSpPr/>
          <p:nvPr>
            <p:custDataLst>
              <p:tags r:id="rId146"/>
            </p:custDataLst>
          </p:nvPr>
        </p:nvCxnSpPr>
        <p:spPr bwMode="auto">
          <a:xfrm flipV="1">
            <a:off x="8337550" y="46037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76" name="Straight Connector 2275"/>
          <p:cNvCxnSpPr/>
          <p:nvPr>
            <p:custDataLst>
              <p:tags r:id="rId147"/>
            </p:custDataLst>
          </p:nvPr>
        </p:nvCxnSpPr>
        <p:spPr bwMode="auto">
          <a:xfrm flipV="1">
            <a:off x="1676400" y="46037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07" name="Straight Connector 1806"/>
          <p:cNvCxnSpPr/>
          <p:nvPr>
            <p:custDataLst>
              <p:tags r:id="rId148"/>
            </p:custDataLst>
          </p:nvPr>
        </p:nvCxnSpPr>
        <p:spPr bwMode="auto">
          <a:xfrm>
            <a:off x="681038" y="4603750"/>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99" name="Straight Connector 1798"/>
          <p:cNvCxnSpPr/>
          <p:nvPr>
            <p:custDataLst>
              <p:tags r:id="rId149"/>
            </p:custDataLst>
          </p:nvPr>
        </p:nvCxnSpPr>
        <p:spPr bwMode="auto">
          <a:xfrm flipV="1">
            <a:off x="723900" y="46037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90" name="Straight Connector 2189"/>
          <p:cNvCxnSpPr/>
          <p:nvPr>
            <p:custDataLst>
              <p:tags r:id="rId150"/>
            </p:custDataLst>
          </p:nvPr>
        </p:nvCxnSpPr>
        <p:spPr bwMode="auto">
          <a:xfrm>
            <a:off x="681038" y="4383088"/>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04" name="Straight Connector 2203"/>
          <p:cNvCxnSpPr/>
          <p:nvPr>
            <p:custDataLst>
              <p:tags r:id="rId151"/>
            </p:custDataLst>
          </p:nvPr>
        </p:nvCxnSpPr>
        <p:spPr bwMode="auto">
          <a:xfrm>
            <a:off x="681038" y="2841625"/>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06" name="Straight Connector 1805"/>
          <p:cNvCxnSpPr/>
          <p:nvPr>
            <p:custDataLst>
              <p:tags r:id="rId152"/>
            </p:custDataLst>
          </p:nvPr>
        </p:nvCxnSpPr>
        <p:spPr bwMode="auto">
          <a:xfrm flipV="1">
            <a:off x="723900" y="2836863"/>
            <a:ext cx="0" cy="177165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79" name="Straight Connector 2278"/>
          <p:cNvCxnSpPr/>
          <p:nvPr>
            <p:custDataLst>
              <p:tags r:id="rId153"/>
            </p:custDataLst>
          </p:nvPr>
        </p:nvCxnSpPr>
        <p:spPr bwMode="auto">
          <a:xfrm flipV="1">
            <a:off x="3103563" y="46037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80" name="Straight Connector 2279"/>
          <p:cNvCxnSpPr/>
          <p:nvPr>
            <p:custDataLst>
              <p:tags r:id="rId154"/>
            </p:custDataLst>
          </p:nvPr>
        </p:nvCxnSpPr>
        <p:spPr bwMode="auto">
          <a:xfrm flipV="1">
            <a:off x="3579813" y="46037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78" name="Straight Connector 2277"/>
          <p:cNvCxnSpPr/>
          <p:nvPr>
            <p:custDataLst>
              <p:tags r:id="rId155"/>
            </p:custDataLst>
          </p:nvPr>
        </p:nvCxnSpPr>
        <p:spPr bwMode="auto">
          <a:xfrm flipV="1">
            <a:off x="2627313" y="46037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98" name="Straight Connector 1797"/>
          <p:cNvCxnSpPr/>
          <p:nvPr>
            <p:custDataLst>
              <p:tags r:id="rId156"/>
            </p:custDataLst>
          </p:nvPr>
        </p:nvCxnSpPr>
        <p:spPr bwMode="auto">
          <a:xfrm>
            <a:off x="719138" y="4603750"/>
            <a:ext cx="9526588"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94" name="Straight Connector 2293"/>
          <p:cNvCxnSpPr/>
          <p:nvPr>
            <p:custDataLst>
              <p:tags r:id="rId157"/>
            </p:custDataLst>
          </p:nvPr>
        </p:nvCxnSpPr>
        <p:spPr bwMode="auto">
          <a:xfrm flipV="1">
            <a:off x="10240963" y="46037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93" name="Straight Connector 2292"/>
          <p:cNvCxnSpPr/>
          <p:nvPr>
            <p:custDataLst>
              <p:tags r:id="rId158"/>
            </p:custDataLst>
          </p:nvPr>
        </p:nvCxnSpPr>
        <p:spPr bwMode="auto">
          <a:xfrm flipV="1">
            <a:off x="9764713" y="46037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85" name="Straight Connector 2284"/>
          <p:cNvCxnSpPr/>
          <p:nvPr>
            <p:custDataLst>
              <p:tags r:id="rId159"/>
            </p:custDataLst>
          </p:nvPr>
        </p:nvCxnSpPr>
        <p:spPr bwMode="auto">
          <a:xfrm flipV="1">
            <a:off x="5957888" y="46037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91" name="Straight Connector 2190"/>
          <p:cNvCxnSpPr/>
          <p:nvPr>
            <p:custDataLst>
              <p:tags r:id="rId160"/>
            </p:custDataLst>
          </p:nvPr>
        </p:nvCxnSpPr>
        <p:spPr bwMode="auto">
          <a:xfrm>
            <a:off x="681038" y="3943350"/>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77" name="Straight Connector 2076"/>
          <p:cNvCxnSpPr/>
          <p:nvPr>
            <p:custDataLst>
              <p:tags r:id="rId161"/>
            </p:custDataLst>
          </p:nvPr>
        </p:nvCxnSpPr>
        <p:spPr bwMode="auto">
          <a:xfrm>
            <a:off x="681038" y="4164013"/>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93" name="Straight Connector 2192"/>
          <p:cNvCxnSpPr/>
          <p:nvPr>
            <p:custDataLst>
              <p:tags r:id="rId162"/>
            </p:custDataLst>
          </p:nvPr>
        </p:nvCxnSpPr>
        <p:spPr bwMode="auto">
          <a:xfrm>
            <a:off x="681038" y="3502025"/>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75" name="Straight Connector 2274"/>
          <p:cNvCxnSpPr/>
          <p:nvPr>
            <p:custDataLst>
              <p:tags r:id="rId163"/>
            </p:custDataLst>
          </p:nvPr>
        </p:nvCxnSpPr>
        <p:spPr bwMode="auto">
          <a:xfrm flipV="1">
            <a:off x="1200150" y="46037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89" name="Straight Connector 2288"/>
          <p:cNvCxnSpPr/>
          <p:nvPr>
            <p:custDataLst>
              <p:tags r:id="rId164"/>
            </p:custDataLst>
          </p:nvPr>
        </p:nvCxnSpPr>
        <p:spPr bwMode="auto">
          <a:xfrm flipV="1">
            <a:off x="7861300" y="46037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81" name="Straight Connector 2280"/>
          <p:cNvCxnSpPr/>
          <p:nvPr>
            <p:custDataLst>
              <p:tags r:id="rId165"/>
            </p:custDataLst>
          </p:nvPr>
        </p:nvCxnSpPr>
        <p:spPr bwMode="auto">
          <a:xfrm flipV="1">
            <a:off x="4054475" y="46037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91" name="Straight Connector 2290"/>
          <p:cNvCxnSpPr/>
          <p:nvPr>
            <p:custDataLst>
              <p:tags r:id="rId166"/>
            </p:custDataLst>
          </p:nvPr>
        </p:nvCxnSpPr>
        <p:spPr bwMode="auto">
          <a:xfrm flipV="1">
            <a:off x="8813800" y="46037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88" name="Straight Connector 2287"/>
          <p:cNvCxnSpPr/>
          <p:nvPr>
            <p:custDataLst>
              <p:tags r:id="rId167"/>
            </p:custDataLst>
          </p:nvPr>
        </p:nvCxnSpPr>
        <p:spPr bwMode="auto">
          <a:xfrm flipV="1">
            <a:off x="7386638" y="46037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95" name="Straight Connector 2194"/>
          <p:cNvCxnSpPr/>
          <p:nvPr>
            <p:custDataLst>
              <p:tags r:id="rId168"/>
            </p:custDataLst>
          </p:nvPr>
        </p:nvCxnSpPr>
        <p:spPr bwMode="auto">
          <a:xfrm>
            <a:off x="681038" y="3062288"/>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84" name="Straight Connector 2283"/>
          <p:cNvCxnSpPr/>
          <p:nvPr>
            <p:custDataLst>
              <p:tags r:id="rId169"/>
            </p:custDataLst>
          </p:nvPr>
        </p:nvCxnSpPr>
        <p:spPr bwMode="auto">
          <a:xfrm flipV="1">
            <a:off x="5483225" y="46037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69" name="StandardTextbox"/>
          <p:cNvSpPr>
            <a:spLocks noGrp="1"/>
          </p:cNvSpPr>
          <p:nvPr>
            <p:custDataLst>
              <p:tags r:id="rId170"/>
            </p:custDataLst>
          </p:nvPr>
        </p:nvSpPr>
        <p:spPr bwMode="gray">
          <a:xfrm>
            <a:off x="7712075" y="4689475"/>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CD8D11D6-709A-49F2-BD16-C76539FC202F}" type="datetime'7''''''''''''''''''''''5''''''''''''''''''''%'''''''''''''''">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75%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68" name="StandardTextbox"/>
          <p:cNvSpPr>
            <a:spLocks noGrp="1"/>
          </p:cNvSpPr>
          <p:nvPr>
            <p:custDataLst>
              <p:tags r:id="rId171"/>
            </p:custDataLst>
          </p:nvPr>
        </p:nvSpPr>
        <p:spPr bwMode="gray">
          <a:xfrm>
            <a:off x="7237413" y="4689475"/>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500DCD2C-0806-4CB1-92D4-499EBCEAF660}" type="datetime'''''''''''7''''''''''''0''''''''''''''''''''''''''''''''%'">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70%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56" name="StandardTextbox"/>
          <p:cNvSpPr>
            <a:spLocks noGrp="1"/>
          </p:cNvSpPr>
          <p:nvPr>
            <p:custDataLst>
              <p:tags r:id="rId172"/>
            </p:custDataLst>
          </p:nvPr>
        </p:nvSpPr>
        <p:spPr bwMode="gray">
          <a:xfrm>
            <a:off x="1527175" y="4689475"/>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0555E87-B550-4214-9EBD-3C71EE2B0980}" type="datetime'''''''''1''''''''''''''''''''''''''''''0''''''%'''''''">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67" name="StandardTextbox"/>
          <p:cNvSpPr>
            <a:spLocks noGrp="1"/>
          </p:cNvSpPr>
          <p:nvPr>
            <p:custDataLst>
              <p:tags r:id="rId173"/>
            </p:custDataLst>
          </p:nvPr>
        </p:nvSpPr>
        <p:spPr bwMode="gray">
          <a:xfrm>
            <a:off x="6761163" y="4689475"/>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F4AA012E-AA8B-4693-8593-5C20066D51E1}" type="datetime'''''6''5''%'''''''''''">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66" name="StandardTextbox"/>
          <p:cNvSpPr>
            <a:spLocks noGrp="1"/>
          </p:cNvSpPr>
          <p:nvPr>
            <p:custDataLst>
              <p:tags r:id="rId174"/>
            </p:custDataLst>
          </p:nvPr>
        </p:nvSpPr>
        <p:spPr bwMode="gray">
          <a:xfrm>
            <a:off x="6284913" y="4689475"/>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A3F9D19-0DF0-416A-B240-383845BACDCD}" type="datetime'''''6''''''''''0%'''''''''''''''">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37" name="StandardTextbox"/>
          <p:cNvSpPr>
            <a:spLocks noGrp="1"/>
          </p:cNvSpPr>
          <p:nvPr>
            <p:custDataLst>
              <p:tags r:id="rId175"/>
            </p:custDataLst>
          </p:nvPr>
        </p:nvSpPr>
        <p:spPr bwMode="gray">
          <a:xfrm>
            <a:off x="433388" y="3425825"/>
            <a:ext cx="1619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r" defTabSz="990571" rtl="0" eaLnBrk="1" fontAlgn="auto" latinLnBrk="0" hangingPunct="1">
              <a:lnSpc>
                <a:spcPct val="100000"/>
              </a:lnSpc>
              <a:spcBef>
                <a:spcPct val="0"/>
              </a:spcBef>
              <a:spcAft>
                <a:spcPct val="0"/>
              </a:spcAft>
              <a:buClrTx/>
              <a:buSzPct val="100000"/>
              <a:buFont typeface="Arial"/>
              <a:buNone/>
              <a:tabLst/>
              <a:defRPr/>
            </a:pPr>
            <a:fld id="{C26E1744-8540-4898-AE74-9012F358E415}" type="datetime'''''''''''''''''''''''2''''''''5'''''''''''">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r" defTabSz="990571" rtl="0" eaLnBrk="1" fontAlgn="auto" latinLnBrk="0" hangingPunct="1">
                <a:lnSpc>
                  <a:spcPct val="100000"/>
                </a:lnSpc>
                <a:spcBef>
                  <a:spcPct val="0"/>
                </a:spcBef>
                <a:spcAft>
                  <a:spcPct val="0"/>
                </a:spcAft>
                <a:buClrTx/>
                <a:buSzPct val="100000"/>
                <a:buFont typeface="Arial"/>
                <a:buNone/>
                <a:tabLst/>
                <a:defRPr/>
              </a:pPr>
              <a:t>25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72" name="StandardTextbox"/>
          <p:cNvSpPr>
            <a:spLocks noGrp="1"/>
          </p:cNvSpPr>
          <p:nvPr>
            <p:custDataLst>
              <p:tags r:id="rId176"/>
            </p:custDataLst>
          </p:nvPr>
        </p:nvSpPr>
        <p:spPr bwMode="gray">
          <a:xfrm>
            <a:off x="9140825" y="4689475"/>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3C45EBE-9EB9-4420-B139-F1DD8E29A9F0}" type="datetime'''9''0''%'''''''''''''''''''''''''''''''''''''''''''">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90%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65" name="StandardTextbox"/>
          <p:cNvSpPr>
            <a:spLocks noGrp="1"/>
          </p:cNvSpPr>
          <p:nvPr>
            <p:custDataLst>
              <p:tags r:id="rId177"/>
            </p:custDataLst>
          </p:nvPr>
        </p:nvSpPr>
        <p:spPr bwMode="gray">
          <a:xfrm>
            <a:off x="5808663" y="4689475"/>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17309C0C-3894-45E4-9881-F9E9FCF9D31C}" type="datetime'''''''''''''55''''%'''''''''''''''''''''''">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71" name="StandardTextbox"/>
          <p:cNvSpPr>
            <a:spLocks noGrp="1"/>
          </p:cNvSpPr>
          <p:nvPr>
            <p:custDataLst>
              <p:tags r:id="rId178"/>
            </p:custDataLst>
          </p:nvPr>
        </p:nvSpPr>
        <p:spPr bwMode="gray">
          <a:xfrm>
            <a:off x="8664575" y="4689475"/>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279B88D-F001-4311-BC44-5C9B82953D49}" type="datetime'8''''''''''''''''''''''''''''''''''''''''''''''''''''5''''%'">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85%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64" name="StandardTextbox"/>
          <p:cNvSpPr>
            <a:spLocks noGrp="1"/>
          </p:cNvSpPr>
          <p:nvPr>
            <p:custDataLst>
              <p:tags r:id="rId179"/>
            </p:custDataLst>
          </p:nvPr>
        </p:nvSpPr>
        <p:spPr bwMode="gray">
          <a:xfrm>
            <a:off x="5334000" y="4689475"/>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4002670D-EC15-40D6-8520-0F4F258FFC23}" type="datetime'''''''''''''''''''''''''''''''''''''''5''''''''''''''0%'''">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845" name="StandardTextbox"/>
          <p:cNvSpPr>
            <a:spLocks noGrp="1"/>
          </p:cNvSpPr>
          <p:nvPr>
            <p:custDataLst>
              <p:tags r:id="rId180"/>
            </p:custDataLst>
          </p:nvPr>
        </p:nvSpPr>
        <p:spPr bwMode="gray">
          <a:xfrm>
            <a:off x="615950" y="4689475"/>
            <a:ext cx="2174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1445FBF7-19EC-4354-8E45-EE8F597AF143}" type="datetime'''''''''''''''''''''''''''''''''''0%'''''''''''''''">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07" name="StandardTextbox"/>
          <p:cNvSpPr>
            <a:spLocks noGrp="1"/>
          </p:cNvSpPr>
          <p:nvPr>
            <p:custDataLst>
              <p:tags r:id="rId181"/>
            </p:custDataLst>
          </p:nvPr>
        </p:nvSpPr>
        <p:spPr bwMode="gray">
          <a:xfrm>
            <a:off x="433388" y="3646488"/>
            <a:ext cx="1619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r" defTabSz="990571" rtl="0" eaLnBrk="1" fontAlgn="auto" latinLnBrk="0" hangingPunct="1">
              <a:lnSpc>
                <a:spcPct val="100000"/>
              </a:lnSpc>
              <a:spcBef>
                <a:spcPct val="0"/>
              </a:spcBef>
              <a:spcAft>
                <a:spcPct val="0"/>
              </a:spcAft>
              <a:buClrTx/>
              <a:buSzPct val="100000"/>
              <a:buFont typeface="Arial"/>
              <a:buNone/>
              <a:tabLst/>
              <a:defRPr/>
            </a:pPr>
            <a:fld id="{31119E39-790C-4D4A-87C3-4D49B3948E7C}" type="datetime'''''''''''''''''''''''''''''''''2''''''0'''''''''">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r" defTabSz="990571" rtl="0" eaLnBrk="1" fontAlgn="auto" latinLnBrk="0" hangingPunct="1">
                <a:lnSpc>
                  <a:spcPct val="100000"/>
                </a:lnSpc>
                <a:spcBef>
                  <a:spcPct val="0"/>
                </a:spcBef>
                <a:spcAft>
                  <a:spcPct val="0"/>
                </a:spcAft>
                <a:buClrTx/>
                <a:buSzPct val="100000"/>
                <a:buFont typeface="Arial"/>
                <a:buNone/>
                <a:tabLst/>
                <a:defRPr/>
              </a:pPr>
              <a:t>20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63" name="StandardTextbox"/>
          <p:cNvSpPr>
            <a:spLocks noGrp="1"/>
          </p:cNvSpPr>
          <p:nvPr>
            <p:custDataLst>
              <p:tags r:id="rId182"/>
            </p:custDataLst>
          </p:nvPr>
        </p:nvSpPr>
        <p:spPr bwMode="gray">
          <a:xfrm>
            <a:off x="4857750" y="4689475"/>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F9B03DB-9EC1-4648-B680-00A4F5C7B2A2}" type="datetime'''''''''''''4''''''''5''''''''''''''%'''''''''''''''''''''">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45%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852" name="StandardTextbox"/>
          <p:cNvSpPr>
            <a:spLocks noGrp="1"/>
          </p:cNvSpPr>
          <p:nvPr>
            <p:custDataLst>
              <p:tags r:id="rId183"/>
            </p:custDataLst>
          </p:nvPr>
        </p:nvSpPr>
        <p:spPr bwMode="gray">
          <a:xfrm>
            <a:off x="514350" y="4527550"/>
            <a:ext cx="80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r" defTabSz="990571" rtl="0" eaLnBrk="1" fontAlgn="auto" latinLnBrk="0" hangingPunct="1">
              <a:lnSpc>
                <a:spcPct val="100000"/>
              </a:lnSpc>
              <a:spcBef>
                <a:spcPct val="0"/>
              </a:spcBef>
              <a:spcAft>
                <a:spcPct val="0"/>
              </a:spcAft>
              <a:buClrTx/>
              <a:buSzPct val="100000"/>
              <a:buFont typeface="Arial"/>
              <a:buNone/>
              <a:tabLst/>
              <a:defRPr/>
            </a:pPr>
            <a:fld id="{93336DBC-4FD9-43A1-9A69-2445B383E08E}" type="datetime'''''''''''''''''''''''''0'''''''''">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r" defTabSz="990571" rtl="0" eaLnBrk="1" fontAlgn="auto" latinLnBrk="0" hangingPunct="1">
                <a:lnSpc>
                  <a:spcPct val="100000"/>
                </a:lnSpc>
                <a:spcBef>
                  <a:spcPct val="0"/>
                </a:spcBef>
                <a:spcAft>
                  <a:spcPct val="0"/>
                </a:spcAft>
                <a:buClrTx/>
                <a:buSzPct val="100000"/>
                <a:buFont typeface="Arial"/>
                <a:buNone/>
                <a:tabLst/>
                <a:defRPr/>
              </a:pPr>
              <a:t>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62" name="StandardTextbox"/>
          <p:cNvSpPr>
            <a:spLocks noGrp="1"/>
          </p:cNvSpPr>
          <p:nvPr>
            <p:custDataLst>
              <p:tags r:id="rId184"/>
            </p:custDataLst>
          </p:nvPr>
        </p:nvSpPr>
        <p:spPr bwMode="gray">
          <a:xfrm>
            <a:off x="4381500" y="4689475"/>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2DBD763-735B-49F5-823D-CA20017E5995}" type="datetime'''''4''''''''''''''''''''''''''''0''''''''''''''%'''''''''">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40%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61" name="StandardTextbox"/>
          <p:cNvSpPr>
            <a:spLocks noGrp="1"/>
          </p:cNvSpPr>
          <p:nvPr>
            <p:custDataLst>
              <p:tags r:id="rId185"/>
            </p:custDataLst>
          </p:nvPr>
        </p:nvSpPr>
        <p:spPr bwMode="gray">
          <a:xfrm>
            <a:off x="3905250" y="4689475"/>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8D3ABE1C-005F-4567-92C8-B3CF11485AFA}" type="datetime'''''''''3''''5''''''''''''''''''%'">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35%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60" name="StandardTextbox"/>
          <p:cNvSpPr>
            <a:spLocks noGrp="1"/>
          </p:cNvSpPr>
          <p:nvPr>
            <p:custDataLst>
              <p:tags r:id="rId186"/>
            </p:custDataLst>
          </p:nvPr>
        </p:nvSpPr>
        <p:spPr bwMode="gray">
          <a:xfrm>
            <a:off x="3430588" y="4689475"/>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4BCFF342-1ED9-4F1F-A260-E28C26BECB64}" type="datetime'''''''''''''''''''3''''''''''''''0''''''''''''''''%'">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30%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35" name="StandardTextbox"/>
          <p:cNvSpPr>
            <a:spLocks noGrp="1"/>
          </p:cNvSpPr>
          <p:nvPr>
            <p:custDataLst>
              <p:tags r:id="rId187"/>
            </p:custDataLst>
          </p:nvPr>
        </p:nvSpPr>
        <p:spPr bwMode="gray">
          <a:xfrm>
            <a:off x="514350" y="4306888"/>
            <a:ext cx="80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r" defTabSz="990571" rtl="0" eaLnBrk="1" fontAlgn="auto" latinLnBrk="0" hangingPunct="1">
              <a:lnSpc>
                <a:spcPct val="100000"/>
              </a:lnSpc>
              <a:spcBef>
                <a:spcPct val="0"/>
              </a:spcBef>
              <a:spcAft>
                <a:spcPct val="0"/>
              </a:spcAft>
              <a:buClrTx/>
              <a:buSzPct val="100000"/>
              <a:buFont typeface="Arial"/>
              <a:buNone/>
              <a:tabLst/>
              <a:defRPr/>
            </a:pPr>
            <a:fld id="{DFFA45E9-8297-416B-9FFD-05EF80271AAF}" type="datetime'''''''5'''''''''''''''''">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r" defTabSz="990571" rtl="0" eaLnBrk="1" fontAlgn="auto" latinLnBrk="0" hangingPunct="1">
                <a:lnSpc>
                  <a:spcPct val="100000"/>
                </a:lnSpc>
                <a:spcBef>
                  <a:spcPct val="0"/>
                </a:spcBef>
                <a:spcAft>
                  <a:spcPct val="0"/>
                </a:spcAft>
                <a:buClrTx/>
                <a:buSzPct val="100000"/>
                <a:buFont typeface="Arial"/>
                <a:buNone/>
                <a:tabLst/>
                <a:defRPr/>
              </a:pPr>
              <a:t>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58" name="StandardTextbox"/>
          <p:cNvSpPr>
            <a:spLocks noGrp="1"/>
          </p:cNvSpPr>
          <p:nvPr>
            <p:custDataLst>
              <p:tags r:id="rId188"/>
            </p:custDataLst>
          </p:nvPr>
        </p:nvSpPr>
        <p:spPr bwMode="gray">
          <a:xfrm>
            <a:off x="2478088" y="4689475"/>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4C9FD4B-1724-430B-9A6C-4833291FB664}" type="datetime'''''''''20''''''''''''''''''%'''''''''''''''''''''''''''''''">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20%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55" name="StandardTextbox"/>
          <p:cNvSpPr>
            <a:spLocks noGrp="1"/>
          </p:cNvSpPr>
          <p:nvPr>
            <p:custDataLst>
              <p:tags r:id="rId189"/>
            </p:custDataLst>
          </p:nvPr>
        </p:nvSpPr>
        <p:spPr bwMode="gray">
          <a:xfrm>
            <a:off x="1092200" y="4689475"/>
            <a:ext cx="2174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9CCC0ED-E8E7-482A-B628-3DA457E74EE8}" type="datetime'''''''''''''''''''''''''''''''''''''''''5''''%'''''''''">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74" name="StandardTextbox"/>
          <p:cNvSpPr>
            <a:spLocks noGrp="1"/>
          </p:cNvSpPr>
          <p:nvPr>
            <p:custDataLst>
              <p:tags r:id="rId190"/>
            </p:custDataLst>
          </p:nvPr>
        </p:nvSpPr>
        <p:spPr bwMode="gray">
          <a:xfrm>
            <a:off x="10052050" y="4689475"/>
            <a:ext cx="3794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AB67617-8FDB-4E09-8AD3-5717DA305CD6}" type="datetime'''''''''1''''''''''''''0''''''0''''''''''''''''''%'''''''''''">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100%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59" name="StandardTextbox"/>
          <p:cNvSpPr>
            <a:spLocks noGrp="1"/>
          </p:cNvSpPr>
          <p:nvPr>
            <p:custDataLst>
              <p:tags r:id="rId191"/>
            </p:custDataLst>
          </p:nvPr>
        </p:nvSpPr>
        <p:spPr bwMode="gray">
          <a:xfrm>
            <a:off x="2954338" y="4689475"/>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3AE5C84-C70D-496D-9129-C2D6D13DF1B0}" type="datetime'''''''''''''''''2''''''''''''''''''''''''''''''5''''''%'''''''">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25%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57" name="StandardTextbox"/>
          <p:cNvSpPr>
            <a:spLocks noGrp="1"/>
          </p:cNvSpPr>
          <p:nvPr>
            <p:custDataLst>
              <p:tags r:id="rId192"/>
            </p:custDataLst>
          </p:nvPr>
        </p:nvSpPr>
        <p:spPr bwMode="gray">
          <a:xfrm>
            <a:off x="2001838" y="4689475"/>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F75DE76-D5E6-462C-9341-5599E4A86192}" type="datetime'''''''''''''1''''5''''''''''''''%'''''''''''''''''''''''''">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123" name="StandardTextbox"/>
          <p:cNvSpPr>
            <a:spLocks noGrp="1"/>
          </p:cNvSpPr>
          <p:nvPr>
            <p:custDataLst>
              <p:tags r:id="rId193"/>
            </p:custDataLst>
          </p:nvPr>
        </p:nvSpPr>
        <p:spPr bwMode="gray">
          <a:xfrm>
            <a:off x="433388" y="4087813"/>
            <a:ext cx="1619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r" defTabSz="990571" rtl="0" eaLnBrk="1" fontAlgn="auto" latinLnBrk="0" hangingPunct="1">
              <a:lnSpc>
                <a:spcPct val="100000"/>
              </a:lnSpc>
              <a:spcBef>
                <a:spcPct val="0"/>
              </a:spcBef>
              <a:spcAft>
                <a:spcPct val="0"/>
              </a:spcAft>
              <a:buClrTx/>
              <a:buSzPct val="100000"/>
              <a:buFont typeface="Arial"/>
              <a:buNone/>
              <a:tabLst/>
              <a:defRPr/>
            </a:pPr>
            <a:fld id="{EC80BC58-D18A-482D-B16A-C35FF1841F1A}" type="datetime'''1''''''''''''''''''''0'''''">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r" defTabSz="990571" rtl="0" eaLnBrk="1" fontAlgn="auto" latinLnBrk="0" hangingPunct="1">
                <a:lnSpc>
                  <a:spcPct val="100000"/>
                </a:lnSpc>
                <a:spcBef>
                  <a:spcPct val="0"/>
                </a:spcBef>
                <a:spcAft>
                  <a:spcPct val="0"/>
                </a:spcAft>
                <a:buClrTx/>
                <a:buSzPct val="100000"/>
                <a:buFont typeface="Arial"/>
                <a:buNone/>
                <a:tabLst/>
                <a:defRPr/>
              </a:pPr>
              <a:t>10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53" name="StandardTextbox"/>
          <p:cNvSpPr>
            <a:spLocks noGrp="1"/>
          </p:cNvSpPr>
          <p:nvPr>
            <p:custDataLst>
              <p:tags r:id="rId194"/>
            </p:custDataLst>
          </p:nvPr>
        </p:nvSpPr>
        <p:spPr bwMode="gray">
          <a:xfrm>
            <a:off x="433388" y="2765425"/>
            <a:ext cx="1619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r" defTabSz="990571" rtl="0" eaLnBrk="1" fontAlgn="auto" latinLnBrk="0" hangingPunct="1">
              <a:lnSpc>
                <a:spcPct val="100000"/>
              </a:lnSpc>
              <a:spcBef>
                <a:spcPct val="0"/>
              </a:spcBef>
              <a:spcAft>
                <a:spcPct val="0"/>
              </a:spcAft>
              <a:buClrTx/>
              <a:buSzPct val="100000"/>
              <a:buFont typeface="Arial"/>
              <a:buNone/>
              <a:tabLst/>
              <a:defRPr/>
            </a:pPr>
            <a:fld id="{AD9131E0-8473-4113-9FC8-D50010839F9A}" type="datetime'4''''''''''''''0'''''''''''''''''''''''''''''">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r" defTabSz="990571" rtl="0" eaLnBrk="1" fontAlgn="auto" latinLnBrk="0" hangingPunct="1">
                <a:lnSpc>
                  <a:spcPct val="100000"/>
                </a:lnSpc>
                <a:spcBef>
                  <a:spcPct val="0"/>
                </a:spcBef>
                <a:spcAft>
                  <a:spcPct val="0"/>
                </a:spcAft>
                <a:buClrTx/>
                <a:buSzPct val="100000"/>
                <a:buFont typeface="Arial"/>
                <a:buNone/>
                <a:tabLst/>
                <a:defRPr/>
              </a:pPr>
              <a:t>40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73" name="StandardTextbox"/>
          <p:cNvSpPr>
            <a:spLocks noGrp="1"/>
          </p:cNvSpPr>
          <p:nvPr>
            <p:custDataLst>
              <p:tags r:id="rId195"/>
            </p:custDataLst>
          </p:nvPr>
        </p:nvSpPr>
        <p:spPr bwMode="gray">
          <a:xfrm>
            <a:off x="9615488" y="4689475"/>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3651542-DE25-453E-B514-0A2F14D31572}" type="datetime'''''95''''''''''''''''''''''''''%'''''''''''''''''''''''">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95%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39" name="StandardTextbox"/>
          <p:cNvSpPr>
            <a:spLocks noGrp="1"/>
          </p:cNvSpPr>
          <p:nvPr>
            <p:custDataLst>
              <p:tags r:id="rId196"/>
            </p:custDataLst>
          </p:nvPr>
        </p:nvSpPr>
        <p:spPr bwMode="gray">
          <a:xfrm>
            <a:off x="433388" y="2986088"/>
            <a:ext cx="1619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r" defTabSz="990571" rtl="0" eaLnBrk="1" fontAlgn="auto" latinLnBrk="0" hangingPunct="1">
              <a:lnSpc>
                <a:spcPct val="100000"/>
              </a:lnSpc>
              <a:spcBef>
                <a:spcPct val="0"/>
              </a:spcBef>
              <a:spcAft>
                <a:spcPct val="0"/>
              </a:spcAft>
              <a:buClrTx/>
              <a:buSzPct val="100000"/>
              <a:buFont typeface="Arial"/>
              <a:buNone/>
              <a:tabLst/>
              <a:defRPr/>
            </a:pPr>
            <a:fld id="{A1003B81-87DF-46FF-95E3-3C1C72F7D58B}" type="datetime'''''''''''''''''''''''''3''''''''''''''''''''''''''5'''''">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r" defTabSz="990571" rtl="0" eaLnBrk="1" fontAlgn="auto" latinLnBrk="0" hangingPunct="1">
                <a:lnSpc>
                  <a:spcPct val="100000"/>
                </a:lnSpc>
                <a:spcBef>
                  <a:spcPct val="0"/>
                </a:spcBef>
                <a:spcAft>
                  <a:spcPct val="0"/>
                </a:spcAft>
                <a:buClrTx/>
                <a:buSzPct val="100000"/>
                <a:buFont typeface="Arial"/>
                <a:buNone/>
                <a:tabLst/>
                <a:defRPr/>
              </a:pPr>
              <a:t>35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70" name="StandardTextbox"/>
          <p:cNvSpPr>
            <a:spLocks noGrp="1"/>
          </p:cNvSpPr>
          <p:nvPr>
            <p:custDataLst>
              <p:tags r:id="rId197"/>
            </p:custDataLst>
          </p:nvPr>
        </p:nvSpPr>
        <p:spPr bwMode="gray">
          <a:xfrm>
            <a:off x="8188325" y="4689475"/>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38C6102-11A5-4706-9922-75952B282938}" type="datetime'''''''''''''8''''''''''''''''''''''''''0%'''''''''''''''''''''">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80%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38" name="StandardTextbox"/>
          <p:cNvSpPr>
            <a:spLocks noGrp="1"/>
          </p:cNvSpPr>
          <p:nvPr>
            <p:custDataLst>
              <p:tags r:id="rId198"/>
            </p:custDataLst>
          </p:nvPr>
        </p:nvSpPr>
        <p:spPr bwMode="gray">
          <a:xfrm>
            <a:off x="433388" y="3206750"/>
            <a:ext cx="1619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r" defTabSz="990571" rtl="0" eaLnBrk="1" fontAlgn="auto" latinLnBrk="0" hangingPunct="1">
              <a:lnSpc>
                <a:spcPct val="100000"/>
              </a:lnSpc>
              <a:spcBef>
                <a:spcPct val="0"/>
              </a:spcBef>
              <a:spcAft>
                <a:spcPct val="0"/>
              </a:spcAft>
              <a:buClrTx/>
              <a:buSzPct val="100000"/>
              <a:buFont typeface="Arial"/>
              <a:buNone/>
              <a:tabLst/>
              <a:defRPr/>
            </a:pPr>
            <a:fld id="{5ED591D9-7E01-4F27-8ADD-1F7421385952}" type="datetime'''''''''''''''''''3''''''''0'''''''''''''''''''''''''''''''''">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r" defTabSz="990571" rtl="0" eaLnBrk="1" fontAlgn="auto" latinLnBrk="0" hangingPunct="1">
                <a:lnSpc>
                  <a:spcPct val="100000"/>
                </a:lnSpc>
                <a:spcBef>
                  <a:spcPct val="0"/>
                </a:spcBef>
                <a:spcAft>
                  <a:spcPct val="0"/>
                </a:spcAft>
                <a:buClrTx/>
                <a:buSzPct val="100000"/>
                <a:buFont typeface="Arial"/>
                <a:buNone/>
                <a:tabLst/>
                <a:defRPr/>
              </a:pPr>
              <a:t>30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36" name="StandardTextbox"/>
          <p:cNvSpPr>
            <a:spLocks noGrp="1"/>
          </p:cNvSpPr>
          <p:nvPr>
            <p:custDataLst>
              <p:tags r:id="rId199"/>
            </p:custDataLst>
          </p:nvPr>
        </p:nvSpPr>
        <p:spPr bwMode="gray">
          <a:xfrm>
            <a:off x="433388" y="3867150"/>
            <a:ext cx="1619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r" defTabSz="990571" rtl="0" eaLnBrk="1" fontAlgn="auto" latinLnBrk="0" hangingPunct="1">
              <a:lnSpc>
                <a:spcPct val="100000"/>
              </a:lnSpc>
              <a:spcBef>
                <a:spcPct val="0"/>
              </a:spcBef>
              <a:spcAft>
                <a:spcPct val="0"/>
              </a:spcAft>
              <a:buClrTx/>
              <a:buSzPct val="100000"/>
              <a:buFont typeface="Arial"/>
              <a:buNone/>
              <a:tabLst/>
              <a:defRPr/>
            </a:pPr>
            <a:fld id="{2C2269FE-E521-4E3E-B6FF-46532C2D95EE}" type="datetime'''''''''''''''''''''''''''''''''''''''1''''''''''''''5'''">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r" defTabSz="990571" rtl="0" eaLnBrk="1" fontAlgn="auto" latinLnBrk="0" hangingPunct="1">
                <a:lnSpc>
                  <a:spcPct val="100000"/>
                </a:lnSpc>
                <a:spcBef>
                  <a:spcPct val="0"/>
                </a:spcBef>
                <a:spcAft>
                  <a:spcPct val="0"/>
                </a:spcAft>
                <a:buClrTx/>
                <a:buSzPct val="100000"/>
                <a:buFont typeface="Arial"/>
                <a:buNone/>
                <a:tabLst/>
                <a:defRPr/>
              </a:pPr>
              <a:t>15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330" name="StandardTextbox"/>
          <p:cNvSpPr>
            <a:spLocks noGrp="1"/>
          </p:cNvSpPr>
          <p:nvPr>
            <p:custDataLst>
              <p:tags r:id="rId200"/>
            </p:custDataLst>
          </p:nvPr>
        </p:nvSpPr>
        <p:spPr bwMode="auto">
          <a:xfrm>
            <a:off x="3819525" y="4943475"/>
            <a:ext cx="33242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r>
              <a:rPr kumimoji="0" lang="en-IN" altLang="en-US" sz="1000" b="0" i="0" u="none" strike="noStrike" kern="1200" cap="none" spc="0" normalizeH="0" baseline="0" noProof="0" dirty="0">
                <a:ln>
                  <a:noFill/>
                </a:ln>
                <a:solidFill>
                  <a:prstClr val="black"/>
                </a:solidFill>
                <a:effectLst/>
                <a:uLnTx/>
                <a:uFillTx/>
                <a:latin typeface="Verdana"/>
                <a:ea typeface="+mn-ea"/>
                <a:cs typeface="+mn-cs"/>
                <a:sym typeface="+mn-lt"/>
              </a:rPr>
              <a:t>Total MUs sold in Bangladesh in FY19 – 70,533 MUs</a:t>
            </a:r>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329" name="StandardTextbox"/>
          <p:cNvSpPr>
            <a:spLocks noGrp="1"/>
          </p:cNvSpPr>
          <p:nvPr>
            <p:custDataLst>
              <p:tags r:id="rId201"/>
            </p:custDataLst>
          </p:nvPr>
        </p:nvSpPr>
        <p:spPr bwMode="auto">
          <a:xfrm>
            <a:off x="428625" y="2511425"/>
            <a:ext cx="5921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r>
              <a:rPr kumimoji="0" lang="en-IN" altLang="en-US" sz="1000" b="0" i="0" u="none" strike="noStrike" kern="1200" cap="none" spc="0" normalizeH="0" baseline="0" noProof="0" dirty="0">
                <a:ln>
                  <a:noFill/>
                </a:ln>
                <a:solidFill>
                  <a:prstClr val="black"/>
                </a:solidFill>
                <a:effectLst/>
                <a:uLnTx/>
                <a:uFillTx/>
                <a:latin typeface="Verdana"/>
                <a:ea typeface="+mn-ea"/>
                <a:cs typeface="+mn-cs"/>
                <a:sym typeface="+mn-lt"/>
              </a:rPr>
              <a:t>Tk / KWh</a:t>
            </a:r>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09" name="Rectangle 2208"/>
          <p:cNvSpPr/>
          <p:nvPr>
            <p:custDataLst>
              <p:tags r:id="rId202"/>
            </p:custDataLst>
          </p:nvPr>
        </p:nvSpPr>
        <p:spPr bwMode="auto">
          <a:xfrm>
            <a:off x="3468688" y="5211763"/>
            <a:ext cx="179388" cy="133350"/>
          </a:xfrm>
          <a:prstGeom prst="rect">
            <a:avLst/>
          </a:prstGeom>
          <a:solidFill>
            <a:srgbClr val="75787B"/>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208" name="Rectangle 2207"/>
          <p:cNvSpPr/>
          <p:nvPr>
            <p:custDataLst>
              <p:tags r:id="rId203"/>
            </p:custDataLst>
          </p:nvPr>
        </p:nvSpPr>
        <p:spPr bwMode="auto">
          <a:xfrm>
            <a:off x="2895600" y="5211763"/>
            <a:ext cx="179388" cy="13335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210" name="Rectangle 2209"/>
          <p:cNvSpPr/>
          <p:nvPr>
            <p:custDataLst>
              <p:tags r:id="rId204"/>
            </p:custDataLst>
          </p:nvPr>
        </p:nvSpPr>
        <p:spPr bwMode="auto">
          <a:xfrm>
            <a:off x="4181475" y="5211763"/>
            <a:ext cx="179388" cy="133350"/>
          </a:xfrm>
          <a:prstGeom prst="rect">
            <a:avLst/>
          </a:prstGeom>
          <a:solidFill>
            <a:srgbClr val="0097A9"/>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211" name="Rectangle 2210"/>
          <p:cNvSpPr/>
          <p:nvPr>
            <p:custDataLst>
              <p:tags r:id="rId205"/>
            </p:custDataLst>
          </p:nvPr>
        </p:nvSpPr>
        <p:spPr bwMode="auto">
          <a:xfrm>
            <a:off x="4953000" y="5211763"/>
            <a:ext cx="179388" cy="133350"/>
          </a:xfrm>
          <a:prstGeom prst="rect">
            <a:avLst/>
          </a:prstGeom>
          <a:solidFill>
            <a:srgbClr val="012169"/>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212" name="Rectangle 2211"/>
          <p:cNvSpPr/>
          <p:nvPr>
            <p:custDataLst>
              <p:tags r:id="rId206"/>
            </p:custDataLst>
          </p:nvPr>
        </p:nvSpPr>
        <p:spPr bwMode="auto">
          <a:xfrm>
            <a:off x="5562600" y="5211763"/>
            <a:ext cx="179388" cy="1333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213" name="Rectangle 2212"/>
          <p:cNvSpPr/>
          <p:nvPr>
            <p:custDataLst>
              <p:tags r:id="rId207"/>
            </p:custDataLst>
          </p:nvPr>
        </p:nvSpPr>
        <p:spPr bwMode="auto">
          <a:xfrm>
            <a:off x="6162675" y="5211763"/>
            <a:ext cx="179388" cy="133350"/>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214" name="Rectangle 2213"/>
          <p:cNvSpPr/>
          <p:nvPr>
            <p:custDataLst>
              <p:tags r:id="rId208"/>
            </p:custDataLst>
          </p:nvPr>
        </p:nvSpPr>
        <p:spPr bwMode="auto">
          <a:xfrm>
            <a:off x="6929438" y="5211763"/>
            <a:ext cx="179388" cy="133350"/>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298" name="StandardTextbox"/>
          <p:cNvSpPr>
            <a:spLocks noGrp="1"/>
          </p:cNvSpPr>
          <p:nvPr>
            <p:custDataLst>
              <p:tags r:id="rId209"/>
            </p:custDataLst>
          </p:nvPr>
        </p:nvSpPr>
        <p:spPr bwMode="auto">
          <a:xfrm>
            <a:off x="3125788" y="5207000"/>
            <a:ext cx="2413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FBCFA9B8-BF35-47DE-8DB9-B19D8B7C0CD6}" type="datetime'''''G''''''''''''''a''''''''''''''''''s'''''''''''''''''">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Gas</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303" name="StandardTextbox"/>
          <p:cNvSpPr>
            <a:spLocks noGrp="1"/>
          </p:cNvSpPr>
          <p:nvPr>
            <p:custDataLst>
              <p:tags r:id="rId210"/>
            </p:custDataLst>
          </p:nvPr>
        </p:nvSpPr>
        <p:spPr bwMode="auto">
          <a:xfrm>
            <a:off x="7159625" y="5207000"/>
            <a:ext cx="2809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68B172D6-5124-4996-BA08-5FF8E38D5EB3}" type="datetime'''''''''''''''''''''''''''''''''''H''''''''''''''''''''SD'''">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HSD</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97" name="StandardTextbox"/>
          <p:cNvSpPr>
            <a:spLocks noGrp="1"/>
          </p:cNvSpPr>
          <p:nvPr>
            <p:custDataLst>
              <p:tags r:id="rId211"/>
            </p:custDataLst>
          </p:nvPr>
        </p:nvSpPr>
        <p:spPr bwMode="auto">
          <a:xfrm>
            <a:off x="3698875" y="5207000"/>
            <a:ext cx="3810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1841CF54-C101-4EC7-B60D-C1A66F660662}" type="datetime'''''''H''''''y''''dr''''''''''''''''''''''''o'">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Hydro</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99" name="StandardTextbox"/>
          <p:cNvSpPr>
            <a:spLocks noGrp="1"/>
          </p:cNvSpPr>
          <p:nvPr>
            <p:custDataLst>
              <p:tags r:id="rId212"/>
            </p:custDataLst>
          </p:nvPr>
        </p:nvSpPr>
        <p:spPr bwMode="auto">
          <a:xfrm>
            <a:off x="5183188" y="5207000"/>
            <a:ext cx="2778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669D1548-CC4E-4682-8FB6-E0BE4CA63297}" type="datetime'''''''''''''''C''''''''''''''''o''''''''''a''''''''''''''l'''">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Coal</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300" name="StandardTextbox"/>
          <p:cNvSpPr>
            <a:spLocks noGrp="1"/>
          </p:cNvSpPr>
          <p:nvPr>
            <p:custDataLst>
              <p:tags r:id="rId213"/>
            </p:custDataLst>
          </p:nvPr>
        </p:nvSpPr>
        <p:spPr bwMode="auto">
          <a:xfrm>
            <a:off x="4411663" y="5207000"/>
            <a:ext cx="4397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A463D795-78E4-45DF-AF79-A47710EF71AC}" type="datetime'''Im''p''''o''''''''''''''r''''''''''''t'''''''''">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Import</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301" name="StandardTextbox"/>
          <p:cNvSpPr>
            <a:spLocks noGrp="1"/>
          </p:cNvSpPr>
          <p:nvPr>
            <p:custDataLst>
              <p:tags r:id="rId214"/>
            </p:custDataLst>
          </p:nvPr>
        </p:nvSpPr>
        <p:spPr bwMode="auto">
          <a:xfrm>
            <a:off x="5792788" y="5207000"/>
            <a:ext cx="2682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2B3A3F41-8F8A-4080-9D0D-0B841FB8D6AC}" type="datetime'''''''''''''''H''''''''''''''F''''''''''O'''''''''''''">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HFO</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302" name="StandardTextbox"/>
          <p:cNvSpPr>
            <a:spLocks noGrp="1"/>
          </p:cNvSpPr>
          <p:nvPr>
            <p:custDataLst>
              <p:tags r:id="rId215"/>
            </p:custDataLst>
          </p:nvPr>
        </p:nvSpPr>
        <p:spPr bwMode="auto">
          <a:xfrm>
            <a:off x="6392863" y="5207000"/>
            <a:ext cx="43497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A9F3ABE8-E3F7-4302-A59C-E87219C076E2}" type="datetime'''''''S''O''''''''L''''A''''''R'''''''''''''''''''''''''''''''">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SOLAR</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cxnSp>
        <p:nvCxnSpPr>
          <p:cNvPr id="2226" name="Straight Arrow Connector 2225"/>
          <p:cNvCxnSpPr/>
          <p:nvPr/>
        </p:nvCxnSpPr>
        <p:spPr>
          <a:xfrm>
            <a:off x="750887" y="4314032"/>
            <a:ext cx="6547644"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sp>
        <p:nvSpPr>
          <p:cNvPr id="2227" name="Rectangle 2226"/>
          <p:cNvSpPr/>
          <p:nvPr/>
        </p:nvSpPr>
        <p:spPr bwMode="gray">
          <a:xfrm>
            <a:off x="1206764" y="4088279"/>
            <a:ext cx="5717968" cy="178922"/>
          </a:xfrm>
          <a:prstGeom prst="rect">
            <a:avLst/>
          </a:prstGeom>
          <a:no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srgbClr val="92D050"/>
                </a:solidFill>
                <a:effectLst/>
                <a:uLnTx/>
                <a:uFillTx/>
                <a:latin typeface="Verdana"/>
                <a:ea typeface="+mn-ea"/>
                <a:cs typeface="+mn-cs"/>
              </a:rPr>
              <a:t>Tk 0.9 – 4.6 / kWh – Gas</a:t>
            </a:r>
            <a:endParaRPr kumimoji="0" lang="en-IN" sz="900" b="1" i="0" u="none" strike="noStrike" kern="1200" cap="none" spc="0" normalizeH="0" baseline="0" noProof="0" dirty="0">
              <a:ln>
                <a:noFill/>
              </a:ln>
              <a:solidFill>
                <a:srgbClr val="92D050"/>
              </a:solidFill>
              <a:effectLst/>
              <a:uLnTx/>
              <a:uFillTx/>
              <a:latin typeface="Verdana"/>
              <a:ea typeface="+mn-ea"/>
              <a:cs typeface="+mn-cs"/>
            </a:endParaRPr>
          </a:p>
        </p:txBody>
      </p:sp>
      <p:sp>
        <p:nvSpPr>
          <p:cNvPr id="2315" name="Rectangle 2314"/>
          <p:cNvSpPr/>
          <p:nvPr/>
        </p:nvSpPr>
        <p:spPr bwMode="gray">
          <a:xfrm>
            <a:off x="5470680" y="3714424"/>
            <a:ext cx="2676422" cy="206702"/>
          </a:xfrm>
          <a:prstGeom prst="rect">
            <a:avLst/>
          </a:prstGeom>
          <a:no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srgbClr val="0097A9"/>
                </a:solidFill>
                <a:effectLst/>
                <a:uLnTx/>
                <a:uFillTx/>
                <a:latin typeface="Verdana"/>
                <a:ea typeface="+mn-ea"/>
                <a:cs typeface="+mn-cs"/>
              </a:rPr>
              <a:t>Tk 3.5 – 7.5 / kWh – Imported Power</a:t>
            </a:r>
            <a:endParaRPr kumimoji="0" lang="en-IN" sz="900" b="1" i="0" u="none" strike="noStrike" kern="1200" cap="none" spc="0" normalizeH="0" baseline="0" noProof="0" dirty="0">
              <a:ln>
                <a:noFill/>
              </a:ln>
              <a:solidFill>
                <a:srgbClr val="0097A9"/>
              </a:solidFill>
              <a:effectLst/>
              <a:uLnTx/>
              <a:uFillTx/>
              <a:latin typeface="Verdana"/>
              <a:ea typeface="+mn-ea"/>
              <a:cs typeface="+mn-cs"/>
            </a:endParaRPr>
          </a:p>
        </p:txBody>
      </p:sp>
      <p:cxnSp>
        <p:nvCxnSpPr>
          <p:cNvPr id="2316" name="Straight Arrow Connector 2315"/>
          <p:cNvCxnSpPr/>
          <p:nvPr/>
        </p:nvCxnSpPr>
        <p:spPr>
          <a:xfrm>
            <a:off x="6319838" y="4039223"/>
            <a:ext cx="1777098" cy="0"/>
          </a:xfrm>
          <a:prstGeom prst="straightConnector1">
            <a:avLst/>
          </a:prstGeom>
          <a:ln>
            <a:solidFill>
              <a:schemeClr val="accent5"/>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319" name="Straight Arrow Connector 2318"/>
          <p:cNvCxnSpPr/>
          <p:nvPr/>
        </p:nvCxnSpPr>
        <p:spPr>
          <a:xfrm>
            <a:off x="8320990" y="3644888"/>
            <a:ext cx="1300848" cy="0"/>
          </a:xfrm>
          <a:prstGeom prst="straightConnector1">
            <a:avLst/>
          </a:prstGeom>
          <a:ln>
            <a:solidFill>
              <a:srgbClr val="62B5E5"/>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322" name="Rectangle 2321"/>
          <p:cNvSpPr/>
          <p:nvPr/>
        </p:nvSpPr>
        <p:spPr bwMode="gray">
          <a:xfrm>
            <a:off x="8112150" y="3352109"/>
            <a:ext cx="1669999" cy="190961"/>
          </a:xfrm>
          <a:prstGeom prst="rect">
            <a:avLst/>
          </a:prstGeom>
          <a:no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srgbClr val="62B5E5"/>
                </a:solidFill>
                <a:effectLst/>
                <a:uLnTx/>
                <a:uFillTx/>
                <a:latin typeface="Verdana"/>
                <a:ea typeface="+mn-ea"/>
                <a:cs typeface="+mn-cs"/>
              </a:rPr>
              <a:t>Tk 9 – 14 / kWh – HFO</a:t>
            </a:r>
            <a:endParaRPr kumimoji="0" lang="en-IN" sz="900" b="1" i="0" u="none" strike="noStrike" kern="1200" cap="none" spc="0" normalizeH="0" baseline="0" noProof="0" dirty="0">
              <a:ln>
                <a:noFill/>
              </a:ln>
              <a:solidFill>
                <a:srgbClr val="62B5E5"/>
              </a:solidFill>
              <a:effectLst/>
              <a:uLnTx/>
              <a:uFillTx/>
              <a:latin typeface="Verdana"/>
              <a:ea typeface="+mn-ea"/>
              <a:cs typeface="+mn-cs"/>
            </a:endParaRPr>
          </a:p>
        </p:txBody>
      </p:sp>
      <p:sp>
        <p:nvSpPr>
          <p:cNvPr id="2323" name="Rectangle 2322"/>
          <p:cNvSpPr/>
          <p:nvPr/>
        </p:nvSpPr>
        <p:spPr bwMode="gray">
          <a:xfrm>
            <a:off x="8397875" y="2841728"/>
            <a:ext cx="1738313" cy="244361"/>
          </a:xfrm>
          <a:prstGeom prst="rect">
            <a:avLst/>
          </a:prstGeom>
          <a:no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srgbClr val="C4D600"/>
                </a:solidFill>
                <a:effectLst/>
                <a:uLnTx/>
                <a:uFillTx/>
                <a:latin typeface="Verdana"/>
                <a:ea typeface="+mn-ea"/>
                <a:cs typeface="+mn-cs"/>
              </a:rPr>
              <a:t>Tk 15 – 25 / kWh – HSD</a:t>
            </a:r>
            <a:endParaRPr kumimoji="0" lang="en-IN" sz="900" b="1" i="0" u="none" strike="noStrike" kern="1200" cap="none" spc="0" normalizeH="0" baseline="0" noProof="0" dirty="0">
              <a:ln>
                <a:noFill/>
              </a:ln>
              <a:solidFill>
                <a:srgbClr val="C4D600"/>
              </a:solidFill>
              <a:effectLst/>
              <a:uLnTx/>
              <a:uFillTx/>
              <a:latin typeface="Verdana"/>
              <a:ea typeface="+mn-ea"/>
              <a:cs typeface="+mn-cs"/>
            </a:endParaRPr>
          </a:p>
        </p:txBody>
      </p:sp>
      <p:cxnSp>
        <p:nvCxnSpPr>
          <p:cNvPr id="2324" name="Straight Arrow Connector 2323"/>
          <p:cNvCxnSpPr/>
          <p:nvPr/>
        </p:nvCxnSpPr>
        <p:spPr>
          <a:xfrm>
            <a:off x="9580513" y="3092450"/>
            <a:ext cx="517575" cy="0"/>
          </a:xfrm>
          <a:prstGeom prst="straightConnector1">
            <a:avLst/>
          </a:prstGeom>
          <a:ln>
            <a:solidFill>
              <a:srgbClr val="C2D500"/>
            </a:solidFill>
            <a:headEnd type="triangle"/>
            <a:tailEnd type="triangle"/>
          </a:ln>
        </p:spPr>
        <p:style>
          <a:lnRef idx="1">
            <a:schemeClr val="accent1"/>
          </a:lnRef>
          <a:fillRef idx="0">
            <a:schemeClr val="accent1"/>
          </a:fillRef>
          <a:effectRef idx="0">
            <a:schemeClr val="accent1"/>
          </a:effectRef>
          <a:fontRef idx="minor">
            <a:schemeClr val="tx1"/>
          </a:fontRef>
        </p:style>
      </p:cxnSp>
      <p:graphicFrame>
        <p:nvGraphicFramePr>
          <p:cNvPr id="2327" name="Table 2326"/>
          <p:cNvGraphicFramePr>
            <a:graphicFrameLocks noGrp="1"/>
          </p:cNvGraphicFramePr>
          <p:nvPr/>
        </p:nvGraphicFramePr>
        <p:xfrm>
          <a:off x="1125481" y="2762330"/>
          <a:ext cx="1828857" cy="914400"/>
        </p:xfrm>
        <a:graphic>
          <a:graphicData uri="http://schemas.openxmlformats.org/drawingml/2006/table">
            <a:tbl>
              <a:tblPr firstRow="1" bandRow="1">
                <a:tableStyleId>{17292A2E-F333-43FB-9621-5CBBE7FDCDCB}</a:tableStyleId>
              </a:tblPr>
              <a:tblGrid>
                <a:gridCol w="488951">
                  <a:extLst>
                    <a:ext uri="{9D8B030D-6E8A-4147-A177-3AD203B41FA5}">
                      <a16:colId xmlns:a16="http://schemas.microsoft.com/office/drawing/2014/main" val="885066072"/>
                    </a:ext>
                  </a:extLst>
                </a:gridCol>
                <a:gridCol w="506186">
                  <a:extLst>
                    <a:ext uri="{9D8B030D-6E8A-4147-A177-3AD203B41FA5}">
                      <a16:colId xmlns:a16="http://schemas.microsoft.com/office/drawing/2014/main" val="3006001708"/>
                    </a:ext>
                  </a:extLst>
                </a:gridCol>
                <a:gridCol w="833720">
                  <a:extLst>
                    <a:ext uri="{9D8B030D-6E8A-4147-A177-3AD203B41FA5}">
                      <a16:colId xmlns:a16="http://schemas.microsoft.com/office/drawing/2014/main" val="2283900157"/>
                    </a:ext>
                  </a:extLst>
                </a:gridCol>
              </a:tblGrid>
              <a:tr h="170142">
                <a:tc>
                  <a:txBody>
                    <a:bodyPr/>
                    <a:lstStyle/>
                    <a:p>
                      <a:endParaRPr lang="en-IN" sz="900" dirty="0"/>
                    </a:p>
                  </a:txBody>
                  <a:tcPr/>
                </a:tc>
                <a:tc>
                  <a:txBody>
                    <a:bodyPr/>
                    <a:lstStyle/>
                    <a:p>
                      <a:r>
                        <a:rPr lang="en-US" sz="900" dirty="0"/>
                        <a:t>Fuel</a:t>
                      </a:r>
                      <a:endParaRPr lang="en-IN" sz="900" dirty="0"/>
                    </a:p>
                  </a:txBody>
                  <a:tcPr/>
                </a:tc>
                <a:tc>
                  <a:txBody>
                    <a:bodyPr/>
                    <a:lstStyle/>
                    <a:p>
                      <a:r>
                        <a:rPr lang="en-US" sz="900" dirty="0"/>
                        <a:t>Total MU</a:t>
                      </a:r>
                      <a:endParaRPr lang="en-IN" sz="900" dirty="0"/>
                    </a:p>
                  </a:txBody>
                  <a:tcPr/>
                </a:tc>
                <a:extLst>
                  <a:ext uri="{0D108BD9-81ED-4DB2-BD59-A6C34878D82A}">
                    <a16:rowId xmlns:a16="http://schemas.microsoft.com/office/drawing/2014/main" val="4142770162"/>
                  </a:ext>
                </a:extLst>
              </a:tr>
              <a:tr h="170142">
                <a:tc>
                  <a:txBody>
                    <a:bodyPr/>
                    <a:lstStyle/>
                    <a:p>
                      <a:endParaRPr lang="en-IN" sz="900" dirty="0"/>
                    </a:p>
                  </a:txBody>
                  <a:tcPr>
                    <a:solidFill>
                      <a:schemeClr val="accent1"/>
                    </a:solidFill>
                  </a:tcPr>
                </a:tc>
                <a:tc>
                  <a:txBody>
                    <a:bodyPr/>
                    <a:lstStyle/>
                    <a:p>
                      <a:r>
                        <a:rPr lang="en-US" sz="900" dirty="0"/>
                        <a:t>Gas</a:t>
                      </a:r>
                      <a:endParaRPr lang="en-IN" sz="900" dirty="0"/>
                    </a:p>
                  </a:txBody>
                  <a:tcPr/>
                </a:tc>
                <a:tc>
                  <a:txBody>
                    <a:bodyPr/>
                    <a:lstStyle/>
                    <a:p>
                      <a:pPr algn="r"/>
                      <a:r>
                        <a:rPr lang="en-IN" sz="900" dirty="0"/>
                        <a:t>48,306</a:t>
                      </a:r>
                    </a:p>
                  </a:txBody>
                  <a:tcPr/>
                </a:tc>
                <a:extLst>
                  <a:ext uri="{0D108BD9-81ED-4DB2-BD59-A6C34878D82A}">
                    <a16:rowId xmlns:a16="http://schemas.microsoft.com/office/drawing/2014/main" val="2731412193"/>
                  </a:ext>
                </a:extLst>
              </a:tr>
              <a:tr h="170142">
                <a:tc>
                  <a:txBody>
                    <a:bodyPr/>
                    <a:lstStyle/>
                    <a:p>
                      <a:endParaRPr lang="en-IN" sz="900" dirty="0"/>
                    </a:p>
                  </a:txBody>
                  <a:tcPr>
                    <a:solidFill>
                      <a:srgbClr val="62B5E5"/>
                    </a:solidFill>
                  </a:tcPr>
                </a:tc>
                <a:tc>
                  <a:txBody>
                    <a:bodyPr/>
                    <a:lstStyle/>
                    <a:p>
                      <a:r>
                        <a:rPr lang="en-US" sz="900" dirty="0"/>
                        <a:t>HFO</a:t>
                      </a:r>
                      <a:endParaRPr lang="en-IN" sz="900" dirty="0"/>
                    </a:p>
                  </a:txBody>
                  <a:tcPr/>
                </a:tc>
                <a:tc>
                  <a:txBody>
                    <a:bodyPr/>
                    <a:lstStyle/>
                    <a:p>
                      <a:pPr algn="r"/>
                      <a:r>
                        <a:rPr lang="en-US" sz="900" dirty="0"/>
                        <a:t>11,426</a:t>
                      </a:r>
                      <a:endParaRPr lang="en-IN" sz="900" dirty="0"/>
                    </a:p>
                  </a:txBody>
                  <a:tcPr/>
                </a:tc>
                <a:extLst>
                  <a:ext uri="{0D108BD9-81ED-4DB2-BD59-A6C34878D82A}">
                    <a16:rowId xmlns:a16="http://schemas.microsoft.com/office/drawing/2014/main" val="3010704345"/>
                  </a:ext>
                </a:extLst>
              </a:tr>
              <a:tr h="170142">
                <a:tc>
                  <a:txBody>
                    <a:bodyPr/>
                    <a:lstStyle/>
                    <a:p>
                      <a:endParaRPr lang="en-IN" sz="900" dirty="0"/>
                    </a:p>
                  </a:txBody>
                  <a:tcPr>
                    <a:solidFill>
                      <a:srgbClr val="C4D600"/>
                    </a:solidFill>
                  </a:tcPr>
                </a:tc>
                <a:tc>
                  <a:txBody>
                    <a:bodyPr/>
                    <a:lstStyle/>
                    <a:p>
                      <a:r>
                        <a:rPr lang="en-US" sz="900" dirty="0"/>
                        <a:t>HSD</a:t>
                      </a:r>
                      <a:endParaRPr lang="en-IN" sz="900" dirty="0"/>
                    </a:p>
                  </a:txBody>
                  <a:tcPr/>
                </a:tc>
                <a:tc>
                  <a:txBody>
                    <a:bodyPr/>
                    <a:lstStyle/>
                    <a:p>
                      <a:pPr algn="r"/>
                      <a:r>
                        <a:rPr lang="en-US" sz="900" dirty="0"/>
                        <a:t>2,022</a:t>
                      </a:r>
                      <a:endParaRPr lang="en-IN" sz="900" dirty="0"/>
                    </a:p>
                  </a:txBody>
                  <a:tcPr/>
                </a:tc>
                <a:extLst>
                  <a:ext uri="{0D108BD9-81ED-4DB2-BD59-A6C34878D82A}">
                    <a16:rowId xmlns:a16="http://schemas.microsoft.com/office/drawing/2014/main" val="4247132284"/>
                  </a:ext>
                </a:extLst>
              </a:tr>
            </a:tbl>
          </a:graphicData>
        </a:graphic>
      </p:graphicFrame>
      <p:sp>
        <p:nvSpPr>
          <p:cNvPr id="228" name="Rectangle 227"/>
          <p:cNvSpPr/>
          <p:nvPr/>
        </p:nvSpPr>
        <p:spPr bwMode="gray">
          <a:xfrm>
            <a:off x="377227" y="7260740"/>
            <a:ext cx="5780685"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Deloitte Analysis</a:t>
            </a:r>
            <a:endParaRPr kumimoji="0" lang="en-IN" sz="700" b="0" i="1"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1793754727"/>
      </p:ext>
    </p:extLst>
  </p:cSld>
  <p:clrMapOvr>
    <a:masterClrMapping/>
  </p:clrMapOvr>
  <p:transition>
    <p:fade/>
  </p:transition>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322766446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US" sz="3898" b="1" u="none" strike="noStrike" kern="1200" cap="none" spc="0" normalizeH="0" noProof="0" dirty="0">
              <a:ln>
                <a:noFill/>
              </a:ln>
              <a:solidFill>
                <a:prstClr val="white"/>
              </a:solidFill>
              <a:effectLst/>
              <a:uLnTx/>
              <a:uFillTx/>
              <a:latin typeface="Verdana" panose="020B0604030504040204" pitchFamily="34" charset="0"/>
              <a:ea typeface="Open Sans" panose="020B0606030504020204" pitchFamily="34" charset="0"/>
              <a:cs typeface="Open Sans" panose="020B0606030504020204" pitchFamily="34" charset="0"/>
              <a:sym typeface="Verdana" panose="020B0604030504040204" pitchFamily="34" charset="0"/>
            </a:endParaRPr>
          </a:p>
        </p:txBody>
      </p:sp>
      <p:sp>
        <p:nvSpPr>
          <p:cNvPr id="2" name="Title 1"/>
          <p:cNvSpPr>
            <a:spLocks noGrp="1"/>
          </p:cNvSpPr>
          <p:nvPr>
            <p:ph type="title"/>
          </p:nvPr>
        </p:nvSpPr>
        <p:spPr/>
        <p:txBody>
          <a:bodyPr/>
          <a:lstStyle/>
          <a:p>
            <a:r>
              <a:rPr lang="en-US" dirty="0"/>
              <a:t>Natural Gas Supply Assessment</a:t>
            </a:r>
            <a:endParaRPr lang="en-IN" dirty="0"/>
          </a:p>
        </p:txBody>
      </p:sp>
    </p:spTree>
    <p:extLst>
      <p:ext uri="{BB962C8B-B14F-4D97-AF65-F5344CB8AC3E}">
        <p14:creationId xmlns:p14="http://schemas.microsoft.com/office/powerpoint/2010/main" val="2973165605"/>
      </p:ext>
    </p:extLst>
  </p:cSld>
  <p:clrMapOvr>
    <a:masterClrMapping/>
  </p:clrMapOvr>
  <p:transition>
    <p:fade/>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2" imgW="530" imgH="531" progId="TCLayout.ActiveDocument.1">
                  <p:embed/>
                </p:oleObj>
              </mc:Choice>
              <mc:Fallback>
                <p:oleObj name="think-cell Slide" r:id="rId62" imgW="530" imgH="531" progId="TCLayout.ActiveDocument.1">
                  <p:embed/>
                  <p:pic>
                    <p:nvPicPr>
                      <p:cNvPr id="4" name="Object 3" hidden="1"/>
                      <p:cNvPicPr/>
                      <p:nvPr/>
                    </p:nvPicPr>
                    <p:blipFill>
                      <a:blip r:embed="rId63"/>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900" b="1"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2" name="Title 1"/>
          <p:cNvSpPr>
            <a:spLocks noGrp="1"/>
          </p:cNvSpPr>
          <p:nvPr>
            <p:ph type="title"/>
          </p:nvPr>
        </p:nvSpPr>
        <p:spPr/>
        <p:txBody>
          <a:bodyPr/>
          <a:lstStyle/>
          <a:p>
            <a:r>
              <a:rPr lang="en-US" dirty="0"/>
              <a:t>Power Market | Natural Gas Supply</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Natural Gas consumption has been almost stagnated since FY16 due to lack of additional discoveries in the country</a:t>
            </a:r>
          </a:p>
        </p:txBody>
      </p:sp>
      <p:graphicFrame>
        <p:nvGraphicFramePr>
          <p:cNvPr id="79" name="Table 78"/>
          <p:cNvGraphicFramePr>
            <a:graphicFrameLocks noGrp="1"/>
          </p:cNvGraphicFramePr>
          <p:nvPr>
            <p:custDataLst>
              <p:tags r:id="rId3"/>
            </p:custDataLst>
          </p:nvPr>
        </p:nvGraphicFramePr>
        <p:xfrm>
          <a:off x="5523845" y="1961919"/>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figure shows the sectoral consumption of Natural Gas in Bangladesh (mmscmd) in the last 6 years: </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Following figure shows the remaining reserves of (2P, BCM) of natural gas in the last 5 years: </a:t>
                      </a:r>
                    </a:p>
                    <a:p>
                      <a:pPr marL="171450" lvl="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80" name="Table 79"/>
          <p:cNvGraphicFramePr>
            <a:graphicFrameLocks noGrp="1"/>
          </p:cNvGraphicFramePr>
          <p:nvPr>
            <p:custDataLst>
              <p:tags r:id="rId4"/>
            </p:custDataLst>
            <p:extLst>
              <p:ext uri="{D42A27DB-BD31-4B8C-83A1-F6EECF244321}">
                <p14:modId xmlns:p14="http://schemas.microsoft.com/office/powerpoint/2010/main" val="1964391029"/>
              </p:ext>
            </p:extLst>
          </p:nvPr>
        </p:nvGraphicFramePr>
        <p:xfrm>
          <a:off x="449993" y="1961919"/>
          <a:ext cx="4734896" cy="52718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4512454">
                <a:tc>
                  <a:txBody>
                    <a:bodyPr/>
                    <a:lstStyle/>
                    <a:p>
                      <a:pPr marL="0" indent="0" algn="just">
                        <a:spcAft>
                          <a:spcPts val="500"/>
                        </a:spcAft>
                        <a:buFont typeface="Arial" panose="020B0604020202020204" pitchFamily="34" charset="0"/>
                        <a:buNone/>
                      </a:pPr>
                      <a:r>
                        <a:rPr lang="en-US" sz="1000" b="1" baseline="0" dirty="0">
                          <a:solidFill>
                            <a:schemeClr val="tx1"/>
                          </a:solidFill>
                        </a:rPr>
                        <a:t>Historical Gas Demand &amp; Supply: </a:t>
                      </a:r>
                    </a:p>
                    <a:p>
                      <a:pPr marL="171450" indent="-171450" algn="just">
                        <a:spcAft>
                          <a:spcPts val="500"/>
                        </a:spcAft>
                        <a:buFont typeface="Arial" panose="020B0604020202020204" pitchFamily="34" charset="0"/>
                        <a:buChar char="•"/>
                      </a:pPr>
                      <a:r>
                        <a:rPr lang="en-US" sz="1000" b="0" baseline="0" dirty="0">
                          <a:solidFill>
                            <a:schemeClr val="tx1"/>
                          </a:solidFill>
                        </a:rPr>
                        <a:t>The graph to the right (above) presents the sectoral and overall consumption of natural gas in Bangladesh over the past 6 years, i.e. from FY 2014 to FY 2019. </a:t>
                      </a:r>
                    </a:p>
                    <a:p>
                      <a:pPr marL="171450" indent="-171450" algn="just">
                        <a:spcAft>
                          <a:spcPts val="500"/>
                        </a:spcAft>
                        <a:buFont typeface="Arial" panose="020B0604020202020204" pitchFamily="34" charset="0"/>
                        <a:buChar char="•"/>
                      </a:pPr>
                      <a:r>
                        <a:rPr lang="en-US" sz="1000" b="0" baseline="0" dirty="0">
                          <a:solidFill>
                            <a:schemeClr val="tx1"/>
                          </a:solidFill>
                        </a:rPr>
                        <a:t>Power Sector is the largest consumer of natural gas with 35 mmscmd consumed by grid connected power plants and 12.2 mmscmd by captive power plants.</a:t>
                      </a:r>
                    </a:p>
                    <a:p>
                      <a:pPr marL="171450" indent="-171450" algn="just">
                        <a:spcAft>
                          <a:spcPts val="500"/>
                        </a:spcAft>
                        <a:buFont typeface="Arial" panose="020B0604020202020204" pitchFamily="34" charset="0"/>
                        <a:buChar char="•"/>
                      </a:pPr>
                      <a:r>
                        <a:rPr lang="en-US" sz="1000" b="0" baseline="0" dirty="0">
                          <a:solidFill>
                            <a:schemeClr val="tx1"/>
                          </a:solidFill>
                        </a:rPr>
                        <a:t>The Government of Bangladesh had stopped providing new captive power connections in 2015 and had also stopped new household PNG connections</a:t>
                      </a:r>
                    </a:p>
                    <a:p>
                      <a:pPr marL="171450" indent="-171450" algn="just">
                        <a:spcAft>
                          <a:spcPts val="500"/>
                        </a:spcAft>
                        <a:buFont typeface="Arial" panose="020B0604020202020204" pitchFamily="34" charset="0"/>
                        <a:buChar char="•"/>
                      </a:pPr>
                      <a:r>
                        <a:rPr lang="en-US" sz="1000" b="0" baseline="0" dirty="0">
                          <a:solidFill>
                            <a:schemeClr val="tx1"/>
                          </a:solidFill>
                        </a:rPr>
                        <a:t>However with planned LNG terminals the Govt. has tentatively resumed newer connections to these consumer categories.</a:t>
                      </a:r>
                    </a:p>
                    <a:p>
                      <a:pPr marL="171450" indent="-171450" algn="just">
                        <a:spcAft>
                          <a:spcPts val="500"/>
                        </a:spcAft>
                        <a:buFont typeface="Arial" panose="020B0604020202020204" pitchFamily="34" charset="0"/>
                        <a:buChar char="•"/>
                      </a:pPr>
                      <a:r>
                        <a:rPr lang="en-US" sz="1000" b="0" baseline="0" dirty="0">
                          <a:solidFill>
                            <a:schemeClr val="tx1"/>
                          </a:solidFill>
                        </a:rPr>
                        <a:t>As per Petrobangla, about 23 mmscmd of natural gas demand is latent  due to natural gas production availability issues</a:t>
                      </a:r>
                    </a:p>
                    <a:p>
                      <a:pPr marL="171450" indent="-171450" algn="just">
                        <a:spcAft>
                          <a:spcPts val="500"/>
                        </a:spcAft>
                        <a:buFont typeface="Arial" panose="020B0604020202020204" pitchFamily="34" charset="0"/>
                        <a:buChar char="•"/>
                      </a:pPr>
                      <a:endParaRPr lang="en-US" sz="1000" b="0" baseline="0" dirty="0">
                        <a:solidFill>
                          <a:schemeClr val="tx1"/>
                        </a:solidFill>
                      </a:endParaRPr>
                    </a:p>
                    <a:p>
                      <a:pPr marL="171450" indent="-171450" algn="just">
                        <a:spcAft>
                          <a:spcPts val="500"/>
                        </a:spcAft>
                        <a:buFont typeface="Arial" panose="020B0604020202020204" pitchFamily="34" charset="0"/>
                        <a:buChar char="•"/>
                      </a:pPr>
                      <a:endParaRPr lang="en-US" sz="1000" b="0" baseline="0" dirty="0">
                        <a:solidFill>
                          <a:schemeClr val="tx1"/>
                        </a:solidFill>
                      </a:endParaRPr>
                    </a:p>
                    <a:p>
                      <a:pPr marL="171450" indent="-171450" algn="just">
                        <a:spcAft>
                          <a:spcPts val="500"/>
                        </a:spcAft>
                        <a:buFont typeface="Arial" panose="020B0604020202020204" pitchFamily="34" charset="0"/>
                        <a:buChar char="•"/>
                      </a:pPr>
                      <a:r>
                        <a:rPr lang="en-US" sz="1000" b="0" baseline="0" dirty="0">
                          <a:solidFill>
                            <a:schemeClr val="tx1"/>
                          </a:solidFill>
                        </a:rPr>
                        <a:t>The graph to the right (below) presents the remaining reserves of domestic natural gas in Bangladesh</a:t>
                      </a:r>
                    </a:p>
                    <a:p>
                      <a:pPr marL="171450" indent="-171450" algn="just">
                        <a:spcAft>
                          <a:spcPts val="500"/>
                        </a:spcAft>
                        <a:buFont typeface="Arial" panose="020B0604020202020204" pitchFamily="34" charset="0"/>
                        <a:buChar char="•"/>
                      </a:pPr>
                      <a:r>
                        <a:rPr lang="en-US" sz="1000" b="0" baseline="0" dirty="0">
                          <a:solidFill>
                            <a:schemeClr val="tx1"/>
                          </a:solidFill>
                        </a:rPr>
                        <a:t>At the current production level of ~75-76 mmscmd, the remaining reserves of ~325 BCM (~890 </a:t>
                      </a:r>
                      <a:r>
                        <a:rPr lang="en-US" sz="1000" b="0" baseline="0" dirty="0" err="1">
                          <a:solidFill>
                            <a:schemeClr val="tx1"/>
                          </a:solidFill>
                        </a:rPr>
                        <a:t>mmscmd</a:t>
                      </a:r>
                      <a:r>
                        <a:rPr lang="en-US" sz="1000" b="0" baseline="0" dirty="0">
                          <a:solidFill>
                            <a:schemeClr val="tx1"/>
                          </a:solidFill>
                        </a:rPr>
                        <a:t>) in FY2018 is expected to last for the next 11-12 years considering no new reserves are operationalized.</a:t>
                      </a:r>
                    </a:p>
                    <a:p>
                      <a:pPr marL="171450" indent="-171450" algn="just">
                        <a:spcAft>
                          <a:spcPts val="500"/>
                        </a:spcAft>
                        <a:buFont typeface="Arial" panose="020B0604020202020204" pitchFamily="34" charset="0"/>
                        <a:buChar char="•"/>
                      </a:pPr>
                      <a:r>
                        <a:rPr lang="en-US" sz="1000" b="0" baseline="0" dirty="0">
                          <a:solidFill>
                            <a:schemeClr val="tx1"/>
                          </a:solidFill>
                        </a:rPr>
                        <a:t>As per various news sources, Bangladesh discovered ~1 TCF (~77 </a:t>
                      </a:r>
                      <a:r>
                        <a:rPr lang="en-US" sz="1000" b="0" baseline="0" dirty="0" err="1">
                          <a:solidFill>
                            <a:schemeClr val="tx1"/>
                          </a:solidFill>
                        </a:rPr>
                        <a:t>mmscmd</a:t>
                      </a:r>
                      <a:r>
                        <a:rPr lang="en-US" sz="1000" b="0" baseline="0" dirty="0">
                          <a:solidFill>
                            <a:schemeClr val="tx1"/>
                          </a:solidFill>
                        </a:rPr>
                        <a:t> / 28 BCM) of natural gas in the </a:t>
                      </a:r>
                      <a:r>
                        <a:rPr lang="en-US" sz="1000" b="0" baseline="0" dirty="0" err="1">
                          <a:solidFill>
                            <a:schemeClr val="tx1"/>
                          </a:solidFill>
                        </a:rPr>
                        <a:t>Shahbazpur</a:t>
                      </a:r>
                      <a:r>
                        <a:rPr lang="en-US" sz="1000" b="0" baseline="0" dirty="0">
                          <a:solidFill>
                            <a:schemeClr val="tx1"/>
                          </a:solidFill>
                        </a:rPr>
                        <a:t> area and 420 BCF (~33 </a:t>
                      </a:r>
                      <a:r>
                        <a:rPr lang="en-US" sz="1000" b="0" baseline="0" dirty="0" err="1">
                          <a:solidFill>
                            <a:schemeClr val="tx1"/>
                          </a:solidFill>
                        </a:rPr>
                        <a:t>mmscmd</a:t>
                      </a:r>
                      <a:r>
                        <a:rPr lang="en-US" sz="1000" b="0" baseline="0" dirty="0">
                          <a:solidFill>
                            <a:schemeClr val="tx1"/>
                          </a:solidFill>
                        </a:rPr>
                        <a:t> / 12 BCM) in </a:t>
                      </a:r>
                      <a:r>
                        <a:rPr lang="en-US" sz="1000" b="0" baseline="0" dirty="0" err="1">
                          <a:solidFill>
                            <a:schemeClr val="tx1"/>
                          </a:solidFill>
                        </a:rPr>
                        <a:t>Bhola</a:t>
                      </a:r>
                      <a:r>
                        <a:rPr lang="en-US" sz="1000" b="0" baseline="0" dirty="0">
                          <a:solidFill>
                            <a:schemeClr val="tx1"/>
                          </a:solidFill>
                        </a:rPr>
                        <a:t> North </a:t>
                      </a:r>
                    </a:p>
                    <a:p>
                      <a:pPr marL="171450" indent="-171450" algn="just">
                        <a:spcAft>
                          <a:spcPts val="500"/>
                        </a:spcAft>
                        <a:buFont typeface="Arial" panose="020B0604020202020204" pitchFamily="34" charset="0"/>
                        <a:buChar char="•"/>
                      </a:pPr>
                      <a:r>
                        <a:rPr lang="en-US" sz="1000" b="0" baseline="0" dirty="0">
                          <a:solidFill>
                            <a:schemeClr val="tx1"/>
                          </a:solidFill>
                        </a:rPr>
                        <a:t>However for </a:t>
                      </a:r>
                      <a:r>
                        <a:rPr lang="en-US" sz="1000" b="0" baseline="0" dirty="0" err="1">
                          <a:solidFill>
                            <a:schemeClr val="tx1"/>
                          </a:solidFill>
                        </a:rPr>
                        <a:t>Shahbazpur</a:t>
                      </a:r>
                      <a:r>
                        <a:rPr lang="en-US" sz="1000" b="0" baseline="0" dirty="0">
                          <a:solidFill>
                            <a:schemeClr val="tx1"/>
                          </a:solidFill>
                        </a:rPr>
                        <a:t> field </a:t>
                      </a:r>
                      <a:r>
                        <a:rPr lang="en-US" sz="1000" b="0" baseline="0" dirty="0" err="1">
                          <a:solidFill>
                            <a:schemeClr val="tx1"/>
                          </a:solidFill>
                        </a:rPr>
                        <a:t>Petrobangla</a:t>
                      </a:r>
                      <a:r>
                        <a:rPr lang="en-US" sz="1000" b="0" baseline="0" dirty="0">
                          <a:solidFill>
                            <a:schemeClr val="tx1"/>
                          </a:solidFill>
                        </a:rPr>
                        <a:t> had upgraded the total 2P reserves of the field by ~6.9 BCM (19 </a:t>
                      </a:r>
                      <a:r>
                        <a:rPr lang="en-US" sz="1000" b="0" baseline="0" dirty="0" err="1">
                          <a:solidFill>
                            <a:schemeClr val="tx1"/>
                          </a:solidFill>
                        </a:rPr>
                        <a:t>mmscmd</a:t>
                      </a:r>
                      <a:r>
                        <a:rPr lang="en-US" sz="1000" b="0" baseline="0" dirty="0">
                          <a:solidFill>
                            <a:schemeClr val="tx1"/>
                          </a:solidFill>
                        </a:rPr>
                        <a:t>) only in FY2018 whereas for </a:t>
                      </a:r>
                      <a:r>
                        <a:rPr lang="en-US" sz="1000" b="0" baseline="0" dirty="0" err="1">
                          <a:solidFill>
                            <a:schemeClr val="tx1"/>
                          </a:solidFill>
                        </a:rPr>
                        <a:t>Bhola</a:t>
                      </a:r>
                      <a:r>
                        <a:rPr lang="en-US" sz="1000" b="0" baseline="0" dirty="0">
                          <a:solidFill>
                            <a:schemeClr val="tx1"/>
                          </a:solidFill>
                        </a:rPr>
                        <a:t> North it had considered ~12 BCM (33 </a:t>
                      </a:r>
                      <a:r>
                        <a:rPr lang="en-US" sz="1000" b="0" baseline="0" dirty="0" err="1">
                          <a:solidFill>
                            <a:schemeClr val="tx1"/>
                          </a:solidFill>
                        </a:rPr>
                        <a:t>mmscmd</a:t>
                      </a:r>
                      <a:r>
                        <a:rPr lang="en-US" sz="1000" b="0" baseline="0" dirty="0">
                          <a:solidFill>
                            <a:schemeClr val="tx1"/>
                          </a:solidFill>
                        </a:rPr>
                        <a:t>) as 2P reserves</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67" name="Chart 66"/>
          <p:cNvGraphicFramePr/>
          <p:nvPr>
            <p:custDataLst>
              <p:tags r:id="rId5"/>
            </p:custDataLst>
          </p:nvPr>
        </p:nvGraphicFramePr>
        <p:xfrm>
          <a:off x="5441950" y="2797175"/>
          <a:ext cx="4010025" cy="1149350"/>
        </p:xfrm>
        <a:graphic>
          <a:graphicData uri="http://schemas.openxmlformats.org/drawingml/2006/chart">
            <c:chart xmlns:c="http://schemas.openxmlformats.org/drawingml/2006/chart" xmlns:r="http://schemas.openxmlformats.org/officeDocument/2006/relationships" r:id="rId64"/>
          </a:graphicData>
        </a:graphic>
      </p:graphicFrame>
      <p:cxnSp>
        <p:nvCxnSpPr>
          <p:cNvPr id="82" name="Straight Connector 81"/>
          <p:cNvCxnSpPr/>
          <p:nvPr>
            <p:custDataLst>
              <p:tags r:id="rId6"/>
            </p:custDataLst>
          </p:nvPr>
        </p:nvCxnSpPr>
        <p:spPr bwMode="auto">
          <a:xfrm flipV="1">
            <a:off x="5840413" y="2470150"/>
            <a:ext cx="3168650" cy="201613"/>
          </a:xfrm>
          <a:prstGeom prst="line">
            <a:avLst/>
          </a:prstGeom>
          <a:ln w="6350" cap="flat" cmpd="sng" algn="ctr">
            <a:solidFill>
              <a:schemeClr val="tx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custDataLst>
              <p:tags r:id="rId7"/>
            </p:custDataLst>
          </p:nvPr>
        </p:nvCxnSpPr>
        <p:spPr bwMode="auto">
          <a:xfrm flipH="1">
            <a:off x="6605588" y="3695700"/>
            <a:ext cx="58738" cy="0"/>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custDataLst>
              <p:tags r:id="rId8"/>
            </p:custDataLst>
          </p:nvPr>
        </p:nvCxnSpPr>
        <p:spPr bwMode="auto">
          <a:xfrm flipH="1">
            <a:off x="7240588" y="3686175"/>
            <a:ext cx="58738" cy="0"/>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custDataLst>
              <p:tags r:id="rId9"/>
            </p:custDataLst>
          </p:nvPr>
        </p:nvCxnSpPr>
        <p:spPr bwMode="auto">
          <a:xfrm flipH="1">
            <a:off x="5972175" y="3702050"/>
            <a:ext cx="58738" cy="0"/>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custDataLst>
              <p:tags r:id="rId10"/>
            </p:custDataLst>
          </p:nvPr>
        </p:nvCxnSpPr>
        <p:spPr bwMode="auto">
          <a:xfrm flipH="1">
            <a:off x="7240588" y="3482975"/>
            <a:ext cx="58738" cy="0"/>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custDataLst>
              <p:tags r:id="rId11"/>
            </p:custDataLst>
          </p:nvPr>
        </p:nvCxnSpPr>
        <p:spPr bwMode="auto">
          <a:xfrm flipH="1">
            <a:off x="7874000" y="3479800"/>
            <a:ext cx="58738" cy="0"/>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custDataLst>
              <p:tags r:id="rId12"/>
            </p:custDataLst>
          </p:nvPr>
        </p:nvCxnSpPr>
        <p:spPr bwMode="auto">
          <a:xfrm flipH="1">
            <a:off x="7874000" y="3687763"/>
            <a:ext cx="58738" cy="0"/>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9" name="Straight Connector 228"/>
          <p:cNvCxnSpPr/>
          <p:nvPr>
            <p:custDataLst>
              <p:tags r:id="rId13"/>
            </p:custDataLst>
          </p:nvPr>
        </p:nvCxnSpPr>
        <p:spPr bwMode="auto">
          <a:xfrm flipH="1">
            <a:off x="8507413" y="3482975"/>
            <a:ext cx="58738" cy="0"/>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custDataLst>
              <p:tags r:id="rId14"/>
            </p:custDataLst>
          </p:nvPr>
        </p:nvCxnSpPr>
        <p:spPr bwMode="auto">
          <a:xfrm flipH="1">
            <a:off x="8507413" y="3690938"/>
            <a:ext cx="58738" cy="0"/>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0" name="Straight Connector 229"/>
          <p:cNvCxnSpPr/>
          <p:nvPr>
            <p:custDataLst>
              <p:tags r:id="rId15"/>
            </p:custDataLst>
          </p:nvPr>
        </p:nvCxnSpPr>
        <p:spPr bwMode="auto">
          <a:xfrm flipH="1">
            <a:off x="9140825" y="3476625"/>
            <a:ext cx="58738" cy="0"/>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1" name="Straight Connector 230"/>
          <p:cNvCxnSpPr/>
          <p:nvPr>
            <p:custDataLst>
              <p:tags r:id="rId16"/>
            </p:custDataLst>
          </p:nvPr>
        </p:nvCxnSpPr>
        <p:spPr bwMode="auto">
          <a:xfrm flipH="1">
            <a:off x="9140825" y="3686175"/>
            <a:ext cx="58738" cy="0"/>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3" name="StandardTextbox"/>
          <p:cNvSpPr>
            <a:spLocks noGrp="1"/>
          </p:cNvSpPr>
          <p:nvPr>
            <p:custDataLst>
              <p:tags r:id="rId17"/>
            </p:custDataLst>
          </p:nvPr>
        </p:nvSpPr>
        <p:spPr bwMode="gray">
          <a:xfrm>
            <a:off x="5727700" y="3379788"/>
            <a:ext cx="225425" cy="136525"/>
          </a:xfrm>
          <a:prstGeom prst="rect">
            <a:avLst/>
          </a:prstGeom>
          <a:solidFill>
            <a:srgbClr val="86BC25"/>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48A99821-3F24-40F3-8D5F-E1B801D180BB}" type="datetime'''''''7''''''''''''''''''''''''''.''''''''''''''''9'">
              <a:rPr kumimoji="0" lang="en-IN" altLang="en-US" sz="900" b="0" i="0" u="none" strike="noStrike" kern="1200" cap="none" spc="0" normalizeH="0" baseline="0" noProof="0" smtClean="0">
                <a:ln>
                  <a:noFill/>
                </a:ln>
                <a:solidFill>
                  <a:prstClr val="white"/>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7.9</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89" name="StandardTextbox"/>
          <p:cNvSpPr>
            <a:spLocks noGrp="1"/>
          </p:cNvSpPr>
          <p:nvPr>
            <p:custDataLst>
              <p:tags r:id="rId18"/>
            </p:custDataLst>
          </p:nvPr>
        </p:nvSpPr>
        <p:spPr bwMode="auto">
          <a:xfrm>
            <a:off x="5694363" y="3940175"/>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F511C2F-D574-4350-82E5-88798B47E1EE}" type="datetime'''''''F''''''Y1''''''''''''''''''''''''''''4'''''''''''">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FY14</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88" name="StandardTextbox"/>
          <p:cNvSpPr>
            <a:spLocks noGrp="1"/>
          </p:cNvSpPr>
          <p:nvPr>
            <p:custDataLst>
              <p:tags r:id="rId19"/>
            </p:custDataLst>
          </p:nvPr>
        </p:nvSpPr>
        <p:spPr bwMode="auto">
          <a:xfrm>
            <a:off x="6327775" y="3940175"/>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17FF74A4-79FE-451E-82F1-FE5B8DD3A493}" type="datetime'''''''''''F''''''''''''Y''''1''''''''''''''''''''''''''5'''''">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FY15</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83" name="StandardTextbox"/>
          <p:cNvSpPr>
            <a:spLocks noGrp="1"/>
          </p:cNvSpPr>
          <p:nvPr>
            <p:custDataLst>
              <p:tags r:id="rId20"/>
            </p:custDataLst>
          </p:nvPr>
        </p:nvSpPr>
        <p:spPr bwMode="auto">
          <a:xfrm>
            <a:off x="6961188" y="3940175"/>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9BE9402-F841-40E8-A14C-62A5C215E184}" type="datetime'''''''''''''''''''''''''''''F''''''''Y''''''1''''''''6'">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FY16</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96" name="StandardTextbox"/>
          <p:cNvSpPr>
            <a:spLocks noGrp="1"/>
          </p:cNvSpPr>
          <p:nvPr>
            <p:custDataLst>
              <p:tags r:id="rId21"/>
            </p:custDataLst>
          </p:nvPr>
        </p:nvSpPr>
        <p:spPr bwMode="auto">
          <a:xfrm>
            <a:off x="7596188" y="3940175"/>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314EADF-F7AC-46B1-B9AA-9D2B6D69B9C2}" type="datetime'''''''''''''FY17'''''''''''''''''''''''''''''''''">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FY17</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98" name="StandardTextbox"/>
          <p:cNvSpPr>
            <a:spLocks noGrp="1"/>
          </p:cNvSpPr>
          <p:nvPr>
            <p:custDataLst>
              <p:tags r:id="rId22"/>
            </p:custDataLst>
          </p:nvPr>
        </p:nvSpPr>
        <p:spPr bwMode="auto">
          <a:xfrm>
            <a:off x="8229600" y="3940175"/>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C39556F-3E5B-4F4D-B7B5-70183F9DC00D}" type="datetime'''''''''''F''''''''''''''''''''''''''''''''''''Y''''''18'">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FY18</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103" name="StandardTextbox"/>
          <p:cNvSpPr>
            <a:spLocks noGrp="1"/>
          </p:cNvSpPr>
          <p:nvPr>
            <p:custDataLst>
              <p:tags r:id="rId23"/>
            </p:custDataLst>
          </p:nvPr>
        </p:nvSpPr>
        <p:spPr bwMode="auto">
          <a:xfrm>
            <a:off x="8863013" y="3940175"/>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59D9C74-0DF6-49FD-84CE-07626229C9B8}" type="datetime'''''''F''Y''''''''1''''''''''9'''">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FY19</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104" name="StandardTextbox"/>
          <p:cNvSpPr>
            <a:spLocks noGrp="1"/>
          </p:cNvSpPr>
          <p:nvPr>
            <p:custDataLst>
              <p:tags r:id="rId24"/>
            </p:custDataLst>
          </p:nvPr>
        </p:nvSpPr>
        <p:spPr bwMode="gray">
          <a:xfrm>
            <a:off x="5691188" y="2919413"/>
            <a:ext cx="29845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15EA9E54-C1D8-4A68-9743-D3A50A74E1FB}" type="datetime'''''6''''4''''''''''.''''''''''''2'''''''''">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64.2</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105" name="StandardTextbox"/>
          <p:cNvSpPr>
            <a:spLocks noGrp="1"/>
          </p:cNvSpPr>
          <p:nvPr>
            <p:custDataLst>
              <p:tags r:id="rId25"/>
            </p:custDataLst>
          </p:nvPr>
        </p:nvSpPr>
        <p:spPr bwMode="gray">
          <a:xfrm>
            <a:off x="8859838" y="2717800"/>
            <a:ext cx="29845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4AF8E8A0-4133-469B-98B6-777BB6955F20}" type="datetime'''80''''''.''8'''''''''''">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80.8</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102" name="StandardTextbox"/>
          <p:cNvSpPr>
            <a:spLocks noGrp="1"/>
          </p:cNvSpPr>
          <p:nvPr>
            <p:custDataLst>
              <p:tags r:id="rId26"/>
            </p:custDataLst>
          </p:nvPr>
        </p:nvSpPr>
        <p:spPr bwMode="gray">
          <a:xfrm>
            <a:off x="6324600" y="2873375"/>
            <a:ext cx="29845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8C929763-AFFD-4926-9DE4-68D3C0714D7D}" type="datetime'''''''6''''''''''''''''''''''''''8''.''''''''''''1'''''">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68.1</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101" name="StandardTextbox"/>
          <p:cNvSpPr>
            <a:spLocks noGrp="1"/>
          </p:cNvSpPr>
          <p:nvPr>
            <p:custDataLst>
              <p:tags r:id="rId27"/>
            </p:custDataLst>
          </p:nvPr>
        </p:nvSpPr>
        <p:spPr bwMode="gray">
          <a:xfrm>
            <a:off x="6958013" y="2789238"/>
            <a:ext cx="29845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9D20084-82CA-42B1-A259-7F0DAF91B7F8}" type="datetime'''7''5''''''''''''''''''''''''''.''''''''''''0'''''''">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75.0</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85" name="StandardTextbox"/>
          <p:cNvSpPr>
            <a:spLocks noGrp="1"/>
          </p:cNvSpPr>
          <p:nvPr>
            <p:custDataLst>
              <p:tags r:id="rId28"/>
            </p:custDataLst>
          </p:nvPr>
        </p:nvSpPr>
        <p:spPr bwMode="gray">
          <a:xfrm>
            <a:off x="7593013" y="2768600"/>
            <a:ext cx="29845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E81303E5-F483-486D-8AFA-E43FCD197521}" type="datetime'''''''''''''''''7''''''''''6.''''''''''''''''''6'">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76.6</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90" name="StandardTextbox"/>
          <p:cNvSpPr>
            <a:spLocks noGrp="1"/>
          </p:cNvSpPr>
          <p:nvPr>
            <p:custDataLst>
              <p:tags r:id="rId29"/>
            </p:custDataLst>
          </p:nvPr>
        </p:nvSpPr>
        <p:spPr bwMode="gray">
          <a:xfrm>
            <a:off x="8226425" y="2774950"/>
            <a:ext cx="29845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4D1B5D03-ACCE-4340-A469-E97EE37FEDBA}" type="datetime'''''7''6.''''''''''''''''''''''''''''''''''''''''''2'''''''''">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76.2</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106" name="StandardTextbox"/>
          <p:cNvSpPr>
            <a:spLocks noGrp="1"/>
          </p:cNvSpPr>
          <p:nvPr>
            <p:custDataLst>
              <p:tags r:id="rId30"/>
            </p:custDataLst>
          </p:nvPr>
        </p:nvSpPr>
        <p:spPr bwMode="auto">
          <a:xfrm>
            <a:off x="7108825" y="2473325"/>
            <a:ext cx="633413" cy="193675"/>
          </a:xfrm>
          <a:prstGeom prst="ellipse">
            <a:avLst/>
          </a:prstGeom>
          <a:solidFill>
            <a:srgbClr val="FFFFFF"/>
          </a:solidFill>
          <a:ln w="9525" algn="ctr">
            <a:solidFill>
              <a:schemeClr val="tx1"/>
            </a:solidFill>
          </a:ln>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247D50E-7F59-461E-96F0-FF9617BD39F9}" type="datetime'''''''''''''''''''''''''''''+''''''4''''''''.7''''''''''%'''">
              <a:rPr kumimoji="0" lang="en-IN" altLang="en-US" sz="900" b="1"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+4.7%</a:t>
            </a:fld>
            <a:endParaRPr kumimoji="0" lang="en-IN" sz="900" b="1"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107" name="Rectangle 106"/>
          <p:cNvSpPr/>
          <p:nvPr>
            <p:custDataLst>
              <p:tags r:id="rId31"/>
            </p:custDataLst>
          </p:nvPr>
        </p:nvSpPr>
        <p:spPr bwMode="auto">
          <a:xfrm>
            <a:off x="5765800" y="4151313"/>
            <a:ext cx="160338" cy="120650"/>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2" name="Rectangle 111"/>
          <p:cNvSpPr/>
          <p:nvPr>
            <p:custDataLst>
              <p:tags r:id="rId32"/>
            </p:custDataLst>
          </p:nvPr>
        </p:nvSpPr>
        <p:spPr bwMode="auto">
          <a:xfrm>
            <a:off x="5765800" y="4338638"/>
            <a:ext cx="160338" cy="1206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9" name="Rectangle 108"/>
          <p:cNvSpPr/>
          <p:nvPr>
            <p:custDataLst>
              <p:tags r:id="rId33"/>
            </p:custDataLst>
          </p:nvPr>
        </p:nvSpPr>
        <p:spPr bwMode="auto">
          <a:xfrm>
            <a:off x="7078663" y="4338638"/>
            <a:ext cx="160338" cy="120650"/>
          </a:xfrm>
          <a:prstGeom prst="rect">
            <a:avLst/>
          </a:prstGeom>
          <a:solidFill>
            <a:srgbClr val="0097A9"/>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3" name="Rectangle 112"/>
          <p:cNvSpPr/>
          <p:nvPr>
            <p:custDataLst>
              <p:tags r:id="rId34"/>
            </p:custDataLst>
          </p:nvPr>
        </p:nvSpPr>
        <p:spPr bwMode="auto">
          <a:xfrm>
            <a:off x="7078663" y="4151313"/>
            <a:ext cx="160338" cy="120650"/>
          </a:xfrm>
          <a:prstGeom prst="rect">
            <a:avLst/>
          </a:prstGeom>
          <a:solidFill>
            <a:srgbClr val="75787B"/>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6" name="Rectangle 115"/>
          <p:cNvSpPr/>
          <p:nvPr>
            <p:custDataLst>
              <p:tags r:id="rId35"/>
            </p:custDataLst>
          </p:nvPr>
        </p:nvSpPr>
        <p:spPr bwMode="auto">
          <a:xfrm>
            <a:off x="7958138" y="4151313"/>
            <a:ext cx="160338" cy="120650"/>
          </a:xfrm>
          <a:prstGeom prst="rect">
            <a:avLst/>
          </a:prstGeom>
          <a:solidFill>
            <a:srgbClr val="012169"/>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5" name="Rectangle 114"/>
          <p:cNvSpPr/>
          <p:nvPr>
            <p:custDataLst>
              <p:tags r:id="rId36"/>
            </p:custDataLst>
          </p:nvPr>
        </p:nvSpPr>
        <p:spPr bwMode="auto">
          <a:xfrm>
            <a:off x="7958138" y="4338638"/>
            <a:ext cx="160338" cy="120650"/>
          </a:xfrm>
          <a:prstGeom prst="rect">
            <a:avLst/>
          </a:prstGeom>
          <a:solidFill>
            <a:srgbClr val="62B5E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7" name="Rectangle 116"/>
          <p:cNvSpPr/>
          <p:nvPr>
            <p:custDataLst>
              <p:tags r:id="rId37"/>
            </p:custDataLst>
          </p:nvPr>
        </p:nvSpPr>
        <p:spPr bwMode="auto">
          <a:xfrm>
            <a:off x="9031288" y="4151313"/>
            <a:ext cx="160338" cy="120650"/>
          </a:xfrm>
          <a:prstGeom prst="rect">
            <a:avLst/>
          </a:prstGeom>
          <a:solidFill>
            <a:srgbClr val="DDEFE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8" name="Rectangle 107"/>
          <p:cNvSpPr/>
          <p:nvPr>
            <p:custDataLst>
              <p:tags r:id="rId38"/>
            </p:custDataLst>
          </p:nvPr>
        </p:nvSpPr>
        <p:spPr bwMode="auto">
          <a:xfrm>
            <a:off x="9031288" y="4338638"/>
            <a:ext cx="160338" cy="120650"/>
          </a:xfrm>
          <a:prstGeom prst="rect">
            <a:avLst/>
          </a:prstGeom>
          <a:solidFill>
            <a:srgbClr val="C4D600"/>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8" name="StandardTextbox"/>
          <p:cNvSpPr>
            <a:spLocks noGrp="1"/>
          </p:cNvSpPr>
          <p:nvPr>
            <p:custDataLst>
              <p:tags r:id="rId39"/>
            </p:custDataLst>
          </p:nvPr>
        </p:nvSpPr>
        <p:spPr bwMode="auto">
          <a:xfrm>
            <a:off x="5976938" y="4148138"/>
            <a:ext cx="42862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2A940011-C22C-4FC0-AC41-ED399927DAB0}" type="datetime''''''''''''''' P''''''o''''''''w''e''''''''r'''''' '''''''''''">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 Power </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120" name="StandardTextbox"/>
          <p:cNvSpPr>
            <a:spLocks noGrp="1"/>
          </p:cNvSpPr>
          <p:nvPr>
            <p:custDataLst>
              <p:tags r:id="rId40"/>
            </p:custDataLst>
          </p:nvPr>
        </p:nvSpPr>
        <p:spPr bwMode="auto">
          <a:xfrm>
            <a:off x="5976938" y="4335463"/>
            <a:ext cx="100012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02283AB7-7889-470E-989D-5F0A79568B5A}" type="datetime' Dome''''''st''ic (''''P''''''''N''''G'''''''')'' '">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 Domestic (PNG) </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125" name="StandardTextbox"/>
          <p:cNvSpPr>
            <a:spLocks noGrp="1"/>
          </p:cNvSpPr>
          <p:nvPr>
            <p:custDataLst>
              <p:tags r:id="rId41"/>
            </p:custDataLst>
          </p:nvPr>
        </p:nvSpPr>
        <p:spPr bwMode="auto">
          <a:xfrm>
            <a:off x="9242425" y="4335463"/>
            <a:ext cx="68421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D02C562F-F760-4537-8F7A-E8AABDD8DFB1}" type="datetime''' ''''''''''''T''e''''a ''''''''Est''''a''''t''''''e'''''' '">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 Tea Estate </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119" name="StandardTextbox"/>
          <p:cNvSpPr>
            <a:spLocks noGrp="1"/>
          </p:cNvSpPr>
          <p:nvPr>
            <p:custDataLst>
              <p:tags r:id="rId42"/>
            </p:custDataLst>
          </p:nvPr>
        </p:nvSpPr>
        <p:spPr bwMode="auto">
          <a:xfrm>
            <a:off x="7289800" y="4335463"/>
            <a:ext cx="56673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B0014E64-F026-4F43-A33D-C286157D103F}" type="datetime' ''''''I''''''''ndu''''''''s''''t''''''r''''''y '">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 Industry </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122" name="StandardTextbox"/>
          <p:cNvSpPr>
            <a:spLocks noGrp="1"/>
          </p:cNvSpPr>
          <p:nvPr>
            <p:custDataLst>
              <p:tags r:id="rId43"/>
            </p:custDataLst>
          </p:nvPr>
        </p:nvSpPr>
        <p:spPr bwMode="auto">
          <a:xfrm>
            <a:off x="8169275" y="4148138"/>
            <a:ext cx="76041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09CCF9BB-75EE-49DE-A830-211B7527BC34}" type="datetime''''' ''''Co''''''''m''m''e''rc''''''i''''''''''''al'''''''' '">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 Commercial </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121" name="StandardTextbox"/>
          <p:cNvSpPr>
            <a:spLocks noGrp="1"/>
          </p:cNvSpPr>
          <p:nvPr>
            <p:custDataLst>
              <p:tags r:id="rId44"/>
            </p:custDataLst>
          </p:nvPr>
        </p:nvSpPr>
        <p:spPr bwMode="auto">
          <a:xfrm>
            <a:off x="7289800" y="4148138"/>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8430B1B0-9D0F-416C-A772-37ADB2500913}" type="datetime''''' ''''''''''''CN''''''''''''''''''''''''''''''G'''''''''''">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 CNG</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123" name="StandardTextbox"/>
          <p:cNvSpPr>
            <a:spLocks noGrp="1"/>
          </p:cNvSpPr>
          <p:nvPr>
            <p:custDataLst>
              <p:tags r:id="rId45"/>
            </p:custDataLst>
          </p:nvPr>
        </p:nvSpPr>
        <p:spPr bwMode="auto">
          <a:xfrm>
            <a:off x="8169275" y="4335463"/>
            <a:ext cx="57943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889D8C1D-94A3-41E7-9851-1DD9D421306B}" type="datetime' ''F''''''''''''''''''''''er''''til''''''ize''r '''''">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 Fertilizer </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124" name="StandardTextbox"/>
          <p:cNvSpPr>
            <a:spLocks noGrp="1"/>
          </p:cNvSpPr>
          <p:nvPr>
            <p:custDataLst>
              <p:tags r:id="rId46"/>
            </p:custDataLst>
          </p:nvPr>
        </p:nvSpPr>
        <p:spPr bwMode="auto">
          <a:xfrm>
            <a:off x="9242425" y="4148138"/>
            <a:ext cx="51117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F14581EB-EECE-45A2-8A63-BB5F1E1658B8}" type="datetime''''''''''''' ''''''''''C''''''ap''t''i''''''''''''''''v''''e '">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 Captive </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graphicFrame>
        <p:nvGraphicFramePr>
          <p:cNvPr id="69" name="Chart 68"/>
          <p:cNvGraphicFramePr/>
          <p:nvPr>
            <p:custDataLst>
              <p:tags r:id="rId47"/>
            </p:custDataLst>
          </p:nvPr>
        </p:nvGraphicFramePr>
        <p:xfrm>
          <a:off x="9210675" y="2489200"/>
          <a:ext cx="615950" cy="1457325"/>
        </p:xfrm>
        <a:graphic>
          <a:graphicData uri="http://schemas.openxmlformats.org/drawingml/2006/chart">
            <c:chart xmlns:c="http://schemas.openxmlformats.org/drawingml/2006/chart" xmlns:r="http://schemas.openxmlformats.org/officeDocument/2006/relationships" r:id="rId65"/>
          </a:graphicData>
        </a:graphic>
      </p:graphicFrame>
      <p:sp>
        <p:nvSpPr>
          <p:cNvPr id="194" name="StandardTextbox"/>
          <p:cNvSpPr>
            <a:spLocks noGrp="1"/>
          </p:cNvSpPr>
          <p:nvPr>
            <p:custDataLst>
              <p:tags r:id="rId48"/>
            </p:custDataLst>
          </p:nvPr>
        </p:nvSpPr>
        <p:spPr bwMode="gray">
          <a:xfrm>
            <a:off x="9390063" y="2409825"/>
            <a:ext cx="25717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AFE7DCA-EC5E-440F-8741-2DADB09D889B}" type="datetime'''''''''''''''''''''1''0''''''''''''4'">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104</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192" name="StandardTextbox"/>
          <p:cNvSpPr>
            <a:spLocks noGrp="1"/>
          </p:cNvSpPr>
          <p:nvPr>
            <p:custDataLst>
              <p:tags r:id="rId49"/>
            </p:custDataLst>
          </p:nvPr>
        </p:nvSpPr>
        <p:spPr bwMode="auto">
          <a:xfrm>
            <a:off x="9736138" y="2644775"/>
            <a:ext cx="90011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13D8BF05-6BED-40F0-9360-CB72F1A16EAA}" type="datetime'''U''''''n''m''''e''''t D''''e''''''''''''m''''a''''''nd'''''">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Unmet Demand</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193" name="StandardTextbox"/>
          <p:cNvSpPr>
            <a:spLocks noGrp="1"/>
          </p:cNvSpPr>
          <p:nvPr>
            <p:custDataLst>
              <p:tags r:id="rId50"/>
            </p:custDataLst>
          </p:nvPr>
        </p:nvSpPr>
        <p:spPr bwMode="gray">
          <a:xfrm>
            <a:off x="9426575" y="2644775"/>
            <a:ext cx="184150" cy="136525"/>
          </a:xfrm>
          <a:prstGeom prst="rect">
            <a:avLst/>
          </a:prstGeom>
          <a:solidFill>
            <a:schemeClr val="bg1"/>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3636F57-3542-4B17-BB74-49451AED6C9C}" type="datetime'''''''''''''''''''''''''''''''''''''2''3'''''''''''''">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23</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195" name="Rounded Rectangular Callout 194"/>
          <p:cNvSpPr/>
          <p:nvPr/>
        </p:nvSpPr>
        <p:spPr bwMode="gray">
          <a:xfrm>
            <a:off x="9267203" y="2925764"/>
            <a:ext cx="1324321" cy="888690"/>
          </a:xfrm>
          <a:prstGeom prst="wedgeRoundRectCallout">
            <a:avLst>
              <a:gd name="adj1" fmla="val -29647"/>
              <a:gd name="adj2" fmla="val -60089"/>
              <a:gd name="adj3" fmla="val 16667"/>
            </a:avLst>
          </a:prstGeom>
          <a:solidFill>
            <a:schemeClr val="bg1">
              <a:lumMod val="95000"/>
            </a:schemeClr>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800" b="0" i="0" u="none" strike="noStrike" kern="1200" cap="none" spc="0" normalizeH="0" baseline="0" noProof="0" dirty="0">
                <a:ln>
                  <a:noFill/>
                </a:ln>
                <a:solidFill>
                  <a:prstClr val="black"/>
                </a:solidFill>
                <a:effectLst/>
                <a:uLnTx/>
                <a:uFillTx/>
                <a:latin typeface="Verdana"/>
                <a:ea typeface="+mn-ea"/>
                <a:cs typeface="+mn-cs"/>
              </a:rPr>
              <a:t>As per Petrobangla, Bangladesh had an unmet demand of 23 mmscmd in FY19 due to low gas production in the country</a:t>
            </a:r>
            <a:endParaRPr kumimoji="0" lang="en-IN" sz="800" b="0" i="0" u="none" strike="noStrike" kern="1200" cap="none" spc="0" normalizeH="0" baseline="0" noProof="0" dirty="0">
              <a:ln>
                <a:noFill/>
              </a:ln>
              <a:solidFill>
                <a:prstClr val="black"/>
              </a:solidFill>
              <a:effectLst/>
              <a:uLnTx/>
              <a:uFillTx/>
              <a:latin typeface="Verdana"/>
              <a:ea typeface="+mn-ea"/>
              <a:cs typeface="+mn-cs"/>
            </a:endParaRPr>
          </a:p>
        </p:txBody>
      </p:sp>
      <p:graphicFrame>
        <p:nvGraphicFramePr>
          <p:cNvPr id="93" name="Chart 92"/>
          <p:cNvGraphicFramePr/>
          <p:nvPr>
            <p:custDataLst>
              <p:tags r:id="rId51"/>
            </p:custDataLst>
          </p:nvPr>
        </p:nvGraphicFramePr>
        <p:xfrm>
          <a:off x="5441950" y="5378450"/>
          <a:ext cx="3327400" cy="1331913"/>
        </p:xfrm>
        <a:graphic>
          <a:graphicData uri="http://schemas.openxmlformats.org/drawingml/2006/chart">
            <c:chart xmlns:c="http://schemas.openxmlformats.org/drawingml/2006/chart" xmlns:r="http://schemas.openxmlformats.org/officeDocument/2006/relationships" r:id="rId66"/>
          </a:graphicData>
        </a:graphic>
      </p:graphicFrame>
      <p:cxnSp>
        <p:nvCxnSpPr>
          <p:cNvPr id="65" name="Straight Connector 64"/>
          <p:cNvCxnSpPr/>
          <p:nvPr>
            <p:custDataLst>
              <p:tags r:id="rId52"/>
            </p:custDataLst>
          </p:nvPr>
        </p:nvCxnSpPr>
        <p:spPr bwMode="auto">
          <a:xfrm>
            <a:off x="5840413" y="5211764"/>
            <a:ext cx="2530475" cy="225425"/>
          </a:xfrm>
          <a:prstGeom prst="line">
            <a:avLst/>
          </a:prstGeom>
          <a:ln w="6350" cap="flat" cmpd="sng" algn="ctr">
            <a:solidFill>
              <a:schemeClr val="tx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2" name="StandardTextbox"/>
          <p:cNvSpPr>
            <a:spLocks noGrp="1"/>
          </p:cNvSpPr>
          <p:nvPr>
            <p:custDataLst>
              <p:tags r:id="rId53"/>
            </p:custDataLst>
          </p:nvPr>
        </p:nvSpPr>
        <p:spPr bwMode="auto">
          <a:xfrm>
            <a:off x="8224838" y="6704013"/>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A02355E-3777-4FDF-9A86-617A4C845625}" type="datetime'''F''''''''''''''''''''Y''''''''''''18'''''''''''''''''''">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FY18</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73" name="StandardTextbox"/>
          <p:cNvSpPr>
            <a:spLocks noGrp="1"/>
          </p:cNvSpPr>
          <p:nvPr>
            <p:custDataLst>
              <p:tags r:id="rId54"/>
            </p:custDataLst>
          </p:nvPr>
        </p:nvSpPr>
        <p:spPr bwMode="auto">
          <a:xfrm>
            <a:off x="7591425" y="6704013"/>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F07DD835-2F4B-4321-8E5A-00435B20B81C}" type="datetime'''''''''''''''''''''F''''''''Y''''''''''''''''1''''''''''''7'">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FY17</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71" name="StandardTextbox"/>
          <p:cNvSpPr>
            <a:spLocks noGrp="1"/>
          </p:cNvSpPr>
          <p:nvPr>
            <p:custDataLst>
              <p:tags r:id="rId55"/>
            </p:custDataLst>
          </p:nvPr>
        </p:nvSpPr>
        <p:spPr bwMode="auto">
          <a:xfrm>
            <a:off x="6959600" y="6704013"/>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3702DD4-638A-4001-9932-DB8937DCB1C5}" type="datetime'''''F''''''''''''Y''''''1''''''''''''''''''''6'''''''''">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FY16</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66" name="StandardTextbox"/>
          <p:cNvSpPr>
            <a:spLocks noGrp="1"/>
          </p:cNvSpPr>
          <p:nvPr>
            <p:custDataLst>
              <p:tags r:id="rId56"/>
            </p:custDataLst>
          </p:nvPr>
        </p:nvSpPr>
        <p:spPr bwMode="auto">
          <a:xfrm>
            <a:off x="5694363" y="6704013"/>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FEEFAAED-C9E3-4BBF-AD2C-2BFF8E37B2A3}" type="datetime'''''''''F''''''''''Y''''''''1''''''''''''''''''''4'''''''''">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FY14</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70" name="StandardTextbox"/>
          <p:cNvSpPr>
            <a:spLocks noGrp="1"/>
          </p:cNvSpPr>
          <p:nvPr>
            <p:custDataLst>
              <p:tags r:id="rId57"/>
            </p:custDataLst>
          </p:nvPr>
        </p:nvSpPr>
        <p:spPr bwMode="auto">
          <a:xfrm>
            <a:off x="6326188" y="6704013"/>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F9C3489-A5E5-4B4E-9559-F75AEBB096FF}" type="datetime'''''F''Y''''''''''''''''''''''1''''''''''''''5'''''''''''">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FY15</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74" name="StandardTextbox"/>
          <p:cNvSpPr>
            <a:spLocks noGrp="1"/>
          </p:cNvSpPr>
          <p:nvPr>
            <p:custDataLst>
              <p:tags r:id="rId58"/>
            </p:custDataLst>
          </p:nvPr>
        </p:nvSpPr>
        <p:spPr bwMode="auto">
          <a:xfrm>
            <a:off x="6819900" y="5227638"/>
            <a:ext cx="573088" cy="193675"/>
          </a:xfrm>
          <a:prstGeom prst="ellipse">
            <a:avLst/>
          </a:prstGeom>
          <a:solidFill>
            <a:srgbClr val="FFFFFF"/>
          </a:solidFill>
          <a:ln w="9525" algn="ctr">
            <a:solidFill>
              <a:schemeClr val="tx1"/>
            </a:solidFill>
          </a:ln>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FBD6AE96-3814-403A-8B89-5417ABE66D99}" type="datetime'''''-''''''''''''''''''''''5''''.''''8''''''''''''''%'''''''">
              <a:rPr kumimoji="0" lang="en-IN" altLang="en-US" sz="900" b="1"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-5.8%</a:t>
            </a:fld>
            <a:endParaRPr kumimoji="0" lang="en-IN" sz="900" b="1"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75" name="Rectangle 74"/>
          <p:cNvSpPr/>
          <p:nvPr>
            <p:custDataLst>
              <p:tags r:id="rId59"/>
            </p:custDataLst>
          </p:nvPr>
        </p:nvSpPr>
        <p:spPr bwMode="auto">
          <a:xfrm>
            <a:off x="5715000" y="6897688"/>
            <a:ext cx="160338" cy="120650"/>
          </a:xfrm>
          <a:prstGeom prst="rect">
            <a:avLst/>
          </a:prstGeom>
          <a:solidFill>
            <a:schemeClr val="accent4"/>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76" name="StandardTextbox"/>
          <p:cNvSpPr>
            <a:spLocks noGrp="1"/>
          </p:cNvSpPr>
          <p:nvPr>
            <p:custDataLst>
              <p:tags r:id="rId60"/>
            </p:custDataLst>
          </p:nvPr>
        </p:nvSpPr>
        <p:spPr bwMode="auto">
          <a:xfrm>
            <a:off x="5926138" y="6894513"/>
            <a:ext cx="26289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574F7DFB-2332-4786-ADD2-226653A37D6D}" type="datetime'R''emai''ning'' ''Re''serve f''or Na''tural g''as (2P, ''BCM)'">
              <a:rPr kumimoji="0" lang="en-US"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Remaining Reserve for Natural gas (2P, BCM)</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graphicFrame>
        <p:nvGraphicFramePr>
          <p:cNvPr id="77" name="Table 76"/>
          <p:cNvGraphicFramePr>
            <a:graphicFrameLocks noGrp="1"/>
          </p:cNvGraphicFramePr>
          <p:nvPr/>
        </p:nvGraphicFramePr>
        <p:xfrm>
          <a:off x="9061450" y="5562600"/>
          <a:ext cx="1169988" cy="1189038"/>
        </p:xfrm>
        <a:graphic>
          <a:graphicData uri="http://schemas.openxmlformats.org/drawingml/2006/table">
            <a:tbl>
              <a:tblPr firstRow="1" bandRow="1">
                <a:tableStyleId>{5FD0F851-EC5A-4D38-B0AD-8093EC10F338}</a:tableStyleId>
              </a:tblPr>
              <a:tblGrid>
                <a:gridCol w="1169988">
                  <a:extLst>
                    <a:ext uri="{9D8B030D-6E8A-4147-A177-3AD203B41FA5}">
                      <a16:colId xmlns:a16="http://schemas.microsoft.com/office/drawing/2014/main" val="1927202444"/>
                    </a:ext>
                  </a:extLst>
                </a:gridCol>
              </a:tblGrid>
              <a:tr h="1189038">
                <a:tc>
                  <a:txBody>
                    <a:bodyPr/>
                    <a:lstStyle/>
                    <a:p>
                      <a:pPr algn="ctr"/>
                      <a:r>
                        <a:rPr lang="en-GB" sz="900" b="1" i="0" dirty="0"/>
                        <a:t>Availability of Domestic Natural Gas</a:t>
                      </a:r>
                      <a:r>
                        <a:rPr lang="en-GB" sz="900" b="1" i="0" baseline="0" dirty="0"/>
                        <a:t> at current production level:</a:t>
                      </a:r>
                    </a:p>
                    <a:p>
                      <a:pPr algn="ctr"/>
                      <a:endParaRPr lang="en-GB" sz="900" b="1" i="0" baseline="0" dirty="0"/>
                    </a:p>
                    <a:p>
                      <a:pPr algn="ctr"/>
                      <a:r>
                        <a:rPr lang="en-GB" sz="900" b="1" i="0" baseline="0" dirty="0"/>
                        <a:t>11-12 Years</a:t>
                      </a:r>
                      <a:endParaRPr lang="en-GB" sz="900" b="1" i="1" dirty="0"/>
                    </a:p>
                  </a:txBody>
                  <a:tcPr anchor="ctr"/>
                </a:tc>
                <a:extLst>
                  <a:ext uri="{0D108BD9-81ED-4DB2-BD59-A6C34878D82A}">
                    <a16:rowId xmlns:a16="http://schemas.microsoft.com/office/drawing/2014/main" val="1743190939"/>
                  </a:ext>
                </a:extLst>
              </a:tr>
            </a:tbl>
          </a:graphicData>
        </a:graphic>
      </p:graphicFrame>
      <p:sp>
        <p:nvSpPr>
          <p:cNvPr id="78" name="Isosceles Triangle 77"/>
          <p:cNvSpPr/>
          <p:nvPr/>
        </p:nvSpPr>
        <p:spPr bwMode="gray">
          <a:xfrm rot="5400000">
            <a:off x="8131175" y="6130925"/>
            <a:ext cx="1406525" cy="169863"/>
          </a:xfrm>
          <a:prstGeom prst="triangle">
            <a:avLst/>
          </a:prstGeom>
          <a:solidFill>
            <a:schemeClr val="accent3"/>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8" name="Rectangle 67"/>
          <p:cNvSpPr/>
          <p:nvPr/>
        </p:nvSpPr>
        <p:spPr bwMode="gray">
          <a:xfrm>
            <a:off x="377227" y="7260740"/>
            <a:ext cx="5780685"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Petrobangla, Deloitte Analysis</a:t>
            </a:r>
          </a:p>
        </p:txBody>
      </p:sp>
    </p:spTree>
    <p:extLst>
      <p:ext uri="{BB962C8B-B14F-4D97-AF65-F5344CB8AC3E}">
        <p14:creationId xmlns:p14="http://schemas.microsoft.com/office/powerpoint/2010/main" val="3372717399"/>
      </p:ext>
    </p:extLst>
  </p:cSld>
  <p:clrMapOvr>
    <a:masterClrMapping/>
  </p:clrMapOvr>
  <p:transition>
    <p:fade/>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245309985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8" imgW="530" imgH="531" progId="TCLayout.ActiveDocument.1">
                  <p:embed/>
                </p:oleObj>
              </mc:Choice>
              <mc:Fallback>
                <p:oleObj name="think-cell Slide" r:id="rId58" imgW="530" imgH="531" progId="TCLayout.ActiveDocument.1">
                  <p:embed/>
                  <p:pic>
                    <p:nvPicPr>
                      <p:cNvPr id="4" name="Object 3" hidden="1"/>
                      <p:cNvPicPr/>
                      <p:nvPr/>
                    </p:nvPicPr>
                    <p:blipFill>
                      <a:blip r:embed="rId59"/>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IN" sz="900" u="none" strike="noStrike" kern="1200" cap="none" spc="0" normalizeH="0" noProof="0" dirty="0">
              <a:ln>
                <a:noFill/>
              </a:ln>
              <a:solidFill>
                <a:prstClr val="white"/>
              </a:solidFill>
              <a:effectLst/>
              <a:uLnTx/>
              <a:uFillTx/>
              <a:sym typeface="+mn-lt"/>
            </a:endParaRPr>
          </a:p>
        </p:txBody>
      </p:sp>
      <p:sp>
        <p:nvSpPr>
          <p:cNvPr id="15" name="Rectangle 14"/>
          <p:cNvSpPr/>
          <p:nvPr/>
        </p:nvSpPr>
        <p:spPr bwMode="gray">
          <a:xfrm>
            <a:off x="5568111" y="5167826"/>
            <a:ext cx="2794182" cy="1080781"/>
          </a:xfrm>
          <a:prstGeom prst="rect">
            <a:avLst/>
          </a:prstGeom>
          <a:solidFill>
            <a:schemeClr val="accent3">
              <a:alpha val="1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 name="Title 1"/>
          <p:cNvSpPr>
            <a:spLocks noGrp="1"/>
          </p:cNvSpPr>
          <p:nvPr>
            <p:ph type="title"/>
          </p:nvPr>
        </p:nvSpPr>
        <p:spPr/>
        <p:txBody>
          <a:bodyPr/>
          <a:lstStyle/>
          <a:p>
            <a:r>
              <a:rPr lang="en-US" dirty="0"/>
              <a:t>Power Market | Natural Gas Supply</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With limited Natural Gas reserves, the Government of Bangladesh has promoted imported LNG as one of the substitutes to meet the energy need of the country</a:t>
            </a:r>
          </a:p>
        </p:txBody>
      </p:sp>
      <p:graphicFrame>
        <p:nvGraphicFramePr>
          <p:cNvPr id="79" name="Table 78"/>
          <p:cNvGraphicFramePr>
            <a:graphicFrameLocks noGrp="1"/>
          </p:cNvGraphicFramePr>
          <p:nvPr>
            <p:custDataLst>
              <p:tags r:id="rId3"/>
            </p:custDataLst>
            <p:extLst>
              <p:ext uri="{D42A27DB-BD31-4B8C-83A1-F6EECF244321}">
                <p14:modId xmlns:p14="http://schemas.microsoft.com/office/powerpoint/2010/main" val="4279213770"/>
              </p:ext>
            </p:extLst>
          </p:nvPr>
        </p:nvGraphicFramePr>
        <p:xfrm>
          <a:off x="5523845" y="1961919"/>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figure shows the sector wise natural gas demand in Bangladesh in the next 5 years (Mmscmd): </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figure shows import capacity of LNG and volume of LNG imported in 2018 and 2019 in MMSCMD:</a:t>
                      </a:r>
                    </a:p>
                    <a:p>
                      <a:pPr marL="171450" lvl="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80" name="Table 79"/>
          <p:cNvGraphicFramePr>
            <a:graphicFrameLocks noGrp="1"/>
          </p:cNvGraphicFramePr>
          <p:nvPr>
            <p:custDataLst>
              <p:tags r:id="rId4"/>
            </p:custDataLst>
            <p:extLst>
              <p:ext uri="{D42A27DB-BD31-4B8C-83A1-F6EECF244321}">
                <p14:modId xmlns:p14="http://schemas.microsoft.com/office/powerpoint/2010/main" val="913614343"/>
              </p:ext>
            </p:extLst>
          </p:nvPr>
        </p:nvGraphicFramePr>
        <p:xfrm>
          <a:off x="449993" y="1961919"/>
          <a:ext cx="4734896" cy="50305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4512454">
                <a:tc>
                  <a:txBody>
                    <a:bodyPr/>
                    <a:lstStyle/>
                    <a:p>
                      <a:pPr marL="0" indent="0">
                        <a:spcAft>
                          <a:spcPts val="500"/>
                        </a:spcAft>
                        <a:buFont typeface="Arial" panose="020B0604020202020204" pitchFamily="34" charset="0"/>
                        <a:buNone/>
                      </a:pPr>
                      <a:r>
                        <a:rPr lang="en-US" sz="1000" b="1" baseline="0" dirty="0">
                          <a:solidFill>
                            <a:schemeClr val="tx1"/>
                          </a:solidFill>
                        </a:rPr>
                        <a:t>Gas Demand projection: </a:t>
                      </a:r>
                    </a:p>
                    <a:p>
                      <a:pPr marL="171450" indent="-171450" algn="just">
                        <a:spcAft>
                          <a:spcPts val="500"/>
                        </a:spcAft>
                        <a:buFont typeface="Arial" panose="020B0604020202020204" pitchFamily="34" charset="0"/>
                        <a:buChar char="•"/>
                      </a:pPr>
                      <a:r>
                        <a:rPr lang="en-US" sz="1000" b="0" baseline="0" dirty="0">
                          <a:solidFill>
                            <a:schemeClr val="tx1"/>
                          </a:solidFill>
                        </a:rPr>
                        <a:t>The graph to the right (above) presents the gas demand projection by Petrobangla from FY2019 – FY2023</a:t>
                      </a:r>
                    </a:p>
                    <a:p>
                      <a:pPr marL="171450" indent="-171450" algn="just">
                        <a:spcAft>
                          <a:spcPts val="500"/>
                        </a:spcAft>
                        <a:buFont typeface="Arial" panose="020B0604020202020204" pitchFamily="34" charset="0"/>
                        <a:buChar char="•"/>
                      </a:pPr>
                      <a:r>
                        <a:rPr lang="en-US" sz="1000" b="1" i="1" baseline="0" dirty="0">
                          <a:solidFill>
                            <a:schemeClr val="tx1"/>
                          </a:solidFill>
                        </a:rPr>
                        <a:t>As per Petrobangla, the gas demand in FY2019 was ~104 mmscmd against the actual consumption / supply of ~81 mmscmd signifying demand shortfall of ~23 mmscmd</a:t>
                      </a:r>
                    </a:p>
                    <a:p>
                      <a:pPr marL="171450" indent="-171450" algn="just">
                        <a:spcAft>
                          <a:spcPts val="500"/>
                        </a:spcAft>
                        <a:buFont typeface="Arial" panose="020B0604020202020204" pitchFamily="34" charset="0"/>
                        <a:buChar char="•"/>
                      </a:pPr>
                      <a:r>
                        <a:rPr lang="en-US" sz="1000" b="1" i="1" baseline="0" dirty="0">
                          <a:solidFill>
                            <a:schemeClr val="tx1"/>
                          </a:solidFill>
                        </a:rPr>
                        <a:t>This shortfall is expected to be met by LNG imports</a:t>
                      </a:r>
                    </a:p>
                    <a:p>
                      <a:pPr marL="171450" indent="-171450" algn="just">
                        <a:spcAft>
                          <a:spcPts val="500"/>
                        </a:spcAft>
                        <a:buFont typeface="Arial" panose="020B0604020202020204" pitchFamily="34" charset="0"/>
                        <a:buChar char="•"/>
                      </a:pPr>
                      <a:r>
                        <a:rPr lang="en-US" sz="1000" b="0" baseline="0" dirty="0">
                          <a:solidFill>
                            <a:schemeClr val="tx1"/>
                          </a:solidFill>
                        </a:rPr>
                        <a:t>Overall, the gas demand is expected to increase to ~140 mmscmd by FY2023 increasing at a CAGR of 7.9% from FY2019</a:t>
                      </a:r>
                    </a:p>
                    <a:p>
                      <a:pPr marL="171450" indent="-171450" algn="just">
                        <a:spcAft>
                          <a:spcPts val="500"/>
                        </a:spcAft>
                        <a:buFont typeface="Arial" panose="020B0604020202020204" pitchFamily="34" charset="0"/>
                        <a:buChar char="•"/>
                      </a:pPr>
                      <a:endParaRPr lang="en-US" sz="1000" b="0" baseline="0" dirty="0">
                        <a:solidFill>
                          <a:schemeClr val="tx1"/>
                        </a:solidFill>
                      </a:endParaRPr>
                    </a:p>
                    <a:p>
                      <a:pPr marL="0" indent="0" algn="just">
                        <a:spcAft>
                          <a:spcPts val="500"/>
                        </a:spcAft>
                        <a:buFont typeface="Arial" panose="020B0604020202020204" pitchFamily="34" charset="0"/>
                        <a:buNone/>
                      </a:pPr>
                      <a:r>
                        <a:rPr lang="en-US" sz="1000" b="1" baseline="0" dirty="0">
                          <a:solidFill>
                            <a:schemeClr val="tx1"/>
                          </a:solidFill>
                        </a:rPr>
                        <a:t>LNG Imports:</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Considering the depletion of the existing natural gas fields, Bangladesh has commissioned ~1,000 mmscfd (~7.86 MTPA / 28.3 mmscmd) of FSRU’s for import of LNG</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These FSRUs are operational as on February 2020</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Further ~4,000 mmscfd (~31.44 MTPA / 113 mmscmd) of planned FSRUs / Land based terminal have been announced by various players in Bangladesh which have either been delayed or shelved.</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The  Government of Bangladesh has also announced development of a 7.5 MTPA (~27 mmscmd) of onshore land based terminal in Bangladesh which is the only planned expansion under development at any stage</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In terms of production of domestic natural gas, BERC expects the gas production to be ~73 mmscmd in FY20</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Thus, overall Bangladesh is expected to continue with the existing supply capacity of ~101 mmscmd till FY24 which may increase to ~128 mmscmd by FY30</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10" name="Rectangle 9"/>
          <p:cNvSpPr/>
          <p:nvPr/>
        </p:nvSpPr>
        <p:spPr bwMode="gray">
          <a:xfrm>
            <a:off x="5992159" y="7109427"/>
            <a:ext cx="4157435" cy="156754"/>
          </a:xfrm>
          <a:prstGeom prst="rect">
            <a:avLst/>
          </a:prstGeom>
          <a:no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Figures in mmscmd</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graphicFrame>
        <p:nvGraphicFramePr>
          <p:cNvPr id="106" name="Chart 105"/>
          <p:cNvGraphicFramePr/>
          <p:nvPr>
            <p:custDataLst>
              <p:tags r:id="rId5"/>
            </p:custDataLst>
            <p:extLst>
              <p:ext uri="{D42A27DB-BD31-4B8C-83A1-F6EECF244321}">
                <p14:modId xmlns:p14="http://schemas.microsoft.com/office/powerpoint/2010/main" val="483278314"/>
              </p:ext>
            </p:extLst>
          </p:nvPr>
        </p:nvGraphicFramePr>
        <p:xfrm>
          <a:off x="5441950" y="2690813"/>
          <a:ext cx="4895850" cy="1255712"/>
        </p:xfrm>
        <a:graphic>
          <a:graphicData uri="http://schemas.openxmlformats.org/drawingml/2006/chart">
            <c:chart xmlns:c="http://schemas.openxmlformats.org/drawingml/2006/chart" xmlns:r="http://schemas.openxmlformats.org/officeDocument/2006/relationships" r:id="rId60"/>
          </a:graphicData>
        </a:graphic>
      </p:graphicFrame>
      <p:cxnSp>
        <p:nvCxnSpPr>
          <p:cNvPr id="27" name="Straight Connector 26"/>
          <p:cNvCxnSpPr/>
          <p:nvPr>
            <p:custDataLst>
              <p:tags r:id="rId6"/>
            </p:custDataLst>
          </p:nvPr>
        </p:nvCxnSpPr>
        <p:spPr bwMode="auto">
          <a:xfrm flipV="1">
            <a:off x="5997575" y="2441575"/>
            <a:ext cx="3784600" cy="285750"/>
          </a:xfrm>
          <a:prstGeom prst="line">
            <a:avLst/>
          </a:prstGeom>
          <a:ln w="6350" cap="flat" cmpd="sng" algn="ctr">
            <a:solidFill>
              <a:schemeClr val="tx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6" name="StandardTextbox"/>
          <p:cNvSpPr>
            <a:spLocks noGrp="1"/>
          </p:cNvSpPr>
          <p:nvPr>
            <p:custDataLst>
              <p:tags r:id="rId7"/>
            </p:custDataLst>
          </p:nvPr>
        </p:nvSpPr>
        <p:spPr bwMode="gray">
          <a:xfrm>
            <a:off x="7666038" y="3306764"/>
            <a:ext cx="184150" cy="136525"/>
          </a:xfrm>
          <a:prstGeom prst="rect">
            <a:avLst/>
          </a:prstGeom>
          <a:solidFill>
            <a:srgbClr val="86BC25"/>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80E2D28-D6C6-4282-A8BF-DA34C2D5812C}" type="datetime'''1''''''''''''''''''''3'''">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13</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88" name="StandardTextbox"/>
          <p:cNvSpPr>
            <a:spLocks noGrp="1"/>
          </p:cNvSpPr>
          <p:nvPr>
            <p:custDataLst>
              <p:tags r:id="rId8"/>
            </p:custDataLst>
          </p:nvPr>
        </p:nvSpPr>
        <p:spPr bwMode="gray">
          <a:xfrm>
            <a:off x="8612188" y="3255964"/>
            <a:ext cx="184150" cy="136525"/>
          </a:xfrm>
          <a:prstGeom prst="rect">
            <a:avLst/>
          </a:prstGeom>
          <a:solidFill>
            <a:srgbClr val="86BC25"/>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4ADABD8-D0B4-4040-89FE-0A4A10FC359E}" type="datetime'''''''''''''''''''''''''''''''1''''3'''''''''''''">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13</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40" name="StandardTextbox"/>
          <p:cNvSpPr>
            <a:spLocks noGrp="1"/>
          </p:cNvSpPr>
          <p:nvPr>
            <p:custDataLst>
              <p:tags r:id="rId9"/>
            </p:custDataLst>
          </p:nvPr>
        </p:nvSpPr>
        <p:spPr bwMode="gray">
          <a:xfrm>
            <a:off x="5905500" y="3392488"/>
            <a:ext cx="184150" cy="136525"/>
          </a:xfrm>
          <a:prstGeom prst="rect">
            <a:avLst/>
          </a:prstGeom>
          <a:solidFill>
            <a:srgbClr val="86BC25"/>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C4BB4063-5AB3-4C73-A793-6DEAE95BDBE0}" type="datetime'''''''1''''3'''''''''''''''''''''''''''">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13</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97" name="StandardTextbox"/>
          <p:cNvSpPr>
            <a:spLocks noGrp="1"/>
          </p:cNvSpPr>
          <p:nvPr>
            <p:custDataLst>
              <p:tags r:id="rId10"/>
            </p:custDataLst>
          </p:nvPr>
        </p:nvSpPr>
        <p:spPr bwMode="gray">
          <a:xfrm>
            <a:off x="6073775" y="3633789"/>
            <a:ext cx="111125" cy="136525"/>
          </a:xfrm>
          <a:prstGeom prst="rect">
            <a:avLst/>
          </a:prstGeom>
          <a:solidFill>
            <a:srgbClr val="62B5E5"/>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85DA87F-E5F6-4C07-A982-DE20FE0233B1}" type="datetime'''''''''''''''''''''''''''''''''''''''''''''''''''''9'''''''">
              <a:rPr kumimoji="0" lang="en-IN" altLang="en-US" sz="900" b="0" i="0" u="none" strike="noStrike" kern="1200" cap="none" spc="0" normalizeH="0" baseline="0" noProof="0" smtClean="0">
                <a:ln>
                  <a:noFill/>
                </a:ln>
                <a:solidFill>
                  <a:srgbClr val="FFFFFF"/>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9</a:t>
            </a:fld>
            <a:endParaRPr kumimoji="0" lang="en-IN" sz="900" b="0" i="0" u="none" strike="noStrike" kern="1200" cap="none" spc="0" normalizeH="0" baseline="0" noProof="0" dirty="0">
              <a:ln>
                <a:noFill/>
              </a:ln>
              <a:solidFill>
                <a:srgbClr val="FFFFFF"/>
              </a:solidFill>
              <a:effectLst/>
              <a:uLnTx/>
              <a:uFillTx/>
              <a:latin typeface="Verdana"/>
              <a:ea typeface="+mn-ea"/>
              <a:cs typeface="+mn-cs"/>
              <a:sym typeface="+mn-lt"/>
            </a:endParaRPr>
          </a:p>
        </p:txBody>
      </p:sp>
      <p:sp>
        <p:nvSpPr>
          <p:cNvPr id="42" name="StandardTextbox"/>
          <p:cNvSpPr>
            <a:spLocks noGrp="1"/>
          </p:cNvSpPr>
          <p:nvPr>
            <p:custDataLst>
              <p:tags r:id="rId11"/>
            </p:custDataLst>
          </p:nvPr>
        </p:nvSpPr>
        <p:spPr bwMode="auto">
          <a:xfrm>
            <a:off x="6797675" y="3940175"/>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CB8EB72-B3D5-499D-994B-A3CA22FBAEA1}" type="datetime'''''''''''''''''''FY''''2''''''''''''''''''''''''0'''''">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FY20</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98" name="StandardTextbox"/>
          <p:cNvSpPr>
            <a:spLocks noGrp="1"/>
          </p:cNvSpPr>
          <p:nvPr>
            <p:custDataLst>
              <p:tags r:id="rId12"/>
            </p:custDataLst>
          </p:nvPr>
        </p:nvSpPr>
        <p:spPr bwMode="gray">
          <a:xfrm>
            <a:off x="7019925" y="3606801"/>
            <a:ext cx="111125" cy="136525"/>
          </a:xfrm>
          <a:prstGeom prst="rect">
            <a:avLst/>
          </a:prstGeom>
          <a:solidFill>
            <a:srgbClr val="62B5E5"/>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4559065A-7377-456C-A941-2E626DAFC0DC}" type="datetime'''''''''''''''''''''''9'''''''''">
              <a:rPr kumimoji="0" lang="en-IN" altLang="en-US" sz="900" b="0" i="0" u="none" strike="noStrike" kern="1200" cap="none" spc="0" normalizeH="0" baseline="0" noProof="0" smtClean="0">
                <a:ln>
                  <a:noFill/>
                </a:ln>
                <a:solidFill>
                  <a:srgbClr val="FFFFFF"/>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9</a:t>
            </a:fld>
            <a:endParaRPr kumimoji="0" lang="en-IN" sz="900" b="0" i="0" u="none" strike="noStrike" kern="1200" cap="none" spc="0" normalizeH="0" baseline="0" noProof="0" dirty="0">
              <a:ln>
                <a:noFill/>
              </a:ln>
              <a:solidFill>
                <a:srgbClr val="FFFFFF"/>
              </a:solidFill>
              <a:effectLst/>
              <a:uLnTx/>
              <a:uFillTx/>
              <a:latin typeface="Verdana"/>
              <a:ea typeface="+mn-ea"/>
              <a:cs typeface="+mn-cs"/>
              <a:sym typeface="+mn-lt"/>
            </a:endParaRPr>
          </a:p>
        </p:txBody>
      </p:sp>
      <p:sp>
        <p:nvSpPr>
          <p:cNvPr id="89" name="StandardTextbox"/>
          <p:cNvSpPr>
            <a:spLocks noGrp="1"/>
          </p:cNvSpPr>
          <p:nvPr>
            <p:custDataLst>
              <p:tags r:id="rId13"/>
            </p:custDataLst>
          </p:nvPr>
        </p:nvSpPr>
        <p:spPr bwMode="gray">
          <a:xfrm>
            <a:off x="9726613" y="3538539"/>
            <a:ext cx="111125" cy="136525"/>
          </a:xfrm>
          <a:prstGeom prst="rect">
            <a:avLst/>
          </a:prstGeom>
          <a:solidFill>
            <a:srgbClr val="62B5E5"/>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CF1365DF-0F94-483F-805B-44BC7D10B9B5}" type="datetime'''''''''''''''''9'''''">
              <a:rPr kumimoji="0" lang="en-IN" altLang="en-US" sz="900" b="0" i="0" u="none" strike="noStrike" kern="1200" cap="none" spc="0" normalizeH="0" baseline="0" noProof="0" smtClean="0">
                <a:ln>
                  <a:noFill/>
                </a:ln>
                <a:solidFill>
                  <a:srgbClr val="FFFFFF"/>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9</a:t>
            </a:fld>
            <a:endParaRPr kumimoji="0" lang="en-IN" sz="900" b="0" i="0" u="none" strike="noStrike" kern="1200" cap="none" spc="0" normalizeH="0" baseline="0" noProof="0" dirty="0">
              <a:ln>
                <a:noFill/>
              </a:ln>
              <a:solidFill>
                <a:srgbClr val="FFFFFF"/>
              </a:solidFill>
              <a:effectLst/>
              <a:uLnTx/>
              <a:uFillTx/>
              <a:latin typeface="Verdana"/>
              <a:ea typeface="+mn-ea"/>
              <a:cs typeface="+mn-cs"/>
              <a:sym typeface="+mn-lt"/>
            </a:endParaRPr>
          </a:p>
        </p:txBody>
      </p:sp>
      <p:sp>
        <p:nvSpPr>
          <p:cNvPr id="41" name="StandardTextbox"/>
          <p:cNvSpPr>
            <a:spLocks noGrp="1"/>
          </p:cNvSpPr>
          <p:nvPr>
            <p:custDataLst>
              <p:tags r:id="rId14"/>
            </p:custDataLst>
          </p:nvPr>
        </p:nvSpPr>
        <p:spPr bwMode="auto">
          <a:xfrm>
            <a:off x="5851525" y="3940175"/>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EAE3006-90BB-4EFC-A7FF-81A3F527D71B}" type="datetime'''''''''''''F''''''''''Y''''''''''''1''''9'''''''''''''">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FY19</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102" name="StandardTextbox"/>
          <p:cNvSpPr>
            <a:spLocks noGrp="1"/>
          </p:cNvSpPr>
          <p:nvPr>
            <p:custDataLst>
              <p:tags r:id="rId15"/>
            </p:custDataLst>
          </p:nvPr>
        </p:nvSpPr>
        <p:spPr bwMode="gray">
          <a:xfrm>
            <a:off x="7966076" y="3373439"/>
            <a:ext cx="111125" cy="136525"/>
          </a:xfrm>
          <a:prstGeom prst="rect">
            <a:avLst/>
          </a:prstGeom>
          <a:solidFill>
            <a:srgbClr val="75787B"/>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8ECBD4CE-CCD1-424F-AF7F-1C1CE2CA35E2}" type="datetime'''''''''''''''''''''5'''''''''''''">
              <a:rPr kumimoji="0" lang="en-IN" altLang="en-US" sz="900" b="0" i="0" u="none" strike="noStrike" kern="1200" cap="none" spc="0" normalizeH="0" baseline="0" noProof="0" smtClean="0">
                <a:ln>
                  <a:noFill/>
                </a:ln>
                <a:solidFill>
                  <a:srgbClr val="FFFFFF"/>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a:t>
            </a:fld>
            <a:endParaRPr kumimoji="0" lang="en-IN" sz="900" b="0" i="0" u="none" strike="noStrike" kern="1200" cap="none" spc="0" normalizeH="0" baseline="0" noProof="0" dirty="0">
              <a:ln>
                <a:noFill/>
              </a:ln>
              <a:solidFill>
                <a:srgbClr val="FFFFFF"/>
              </a:solidFill>
              <a:effectLst/>
              <a:uLnTx/>
              <a:uFillTx/>
              <a:latin typeface="Verdana"/>
              <a:ea typeface="+mn-ea"/>
              <a:cs typeface="+mn-cs"/>
              <a:sym typeface="+mn-lt"/>
            </a:endParaRPr>
          </a:p>
        </p:txBody>
      </p:sp>
      <p:sp>
        <p:nvSpPr>
          <p:cNvPr id="103" name="StandardTextbox"/>
          <p:cNvSpPr>
            <a:spLocks noGrp="1"/>
          </p:cNvSpPr>
          <p:nvPr>
            <p:custDataLst>
              <p:tags r:id="rId16"/>
            </p:custDataLst>
          </p:nvPr>
        </p:nvSpPr>
        <p:spPr bwMode="gray">
          <a:xfrm>
            <a:off x="8912226" y="3324226"/>
            <a:ext cx="111125" cy="136525"/>
          </a:xfrm>
          <a:prstGeom prst="rect">
            <a:avLst/>
          </a:prstGeom>
          <a:solidFill>
            <a:srgbClr val="75787B"/>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33D8D90-AEA5-4C63-8F38-30A0E3A8C3D7}" type="datetime'''''''''''''5'''''''''">
              <a:rPr kumimoji="0" lang="en-IN" altLang="en-US" sz="900" b="0" i="0" u="none" strike="noStrike" kern="1200" cap="none" spc="0" normalizeH="0" baseline="0" noProof="0" smtClean="0">
                <a:ln>
                  <a:noFill/>
                </a:ln>
                <a:solidFill>
                  <a:srgbClr val="FFFFFF"/>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a:t>
            </a:fld>
            <a:endParaRPr kumimoji="0" lang="en-IN" sz="900" b="0" i="0" u="none" strike="noStrike" kern="1200" cap="none" spc="0" normalizeH="0" baseline="0" noProof="0" dirty="0">
              <a:ln>
                <a:noFill/>
              </a:ln>
              <a:solidFill>
                <a:srgbClr val="FFFFFF"/>
              </a:solidFill>
              <a:effectLst/>
              <a:uLnTx/>
              <a:uFillTx/>
              <a:latin typeface="Verdana"/>
              <a:ea typeface="+mn-ea"/>
              <a:cs typeface="+mn-cs"/>
              <a:sym typeface="+mn-lt"/>
            </a:endParaRPr>
          </a:p>
        </p:txBody>
      </p:sp>
      <p:sp>
        <p:nvSpPr>
          <p:cNvPr id="85" name="StandardTextbox"/>
          <p:cNvSpPr>
            <a:spLocks noGrp="1"/>
          </p:cNvSpPr>
          <p:nvPr>
            <p:custDataLst>
              <p:tags r:id="rId17"/>
            </p:custDataLst>
          </p:nvPr>
        </p:nvSpPr>
        <p:spPr bwMode="gray">
          <a:xfrm>
            <a:off x="6851650" y="3341689"/>
            <a:ext cx="184150" cy="136525"/>
          </a:xfrm>
          <a:prstGeom prst="rect">
            <a:avLst/>
          </a:prstGeom>
          <a:solidFill>
            <a:srgbClr val="86BC25"/>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A2977F0-1CA7-4386-8C40-2FE5FB6AB61D}" type="datetime'''''''''''''''1''''''''''''''''3'''''''">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13</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99" name="StandardTextbox"/>
          <p:cNvSpPr>
            <a:spLocks noGrp="1"/>
          </p:cNvSpPr>
          <p:nvPr>
            <p:custDataLst>
              <p:tags r:id="rId18"/>
            </p:custDataLst>
          </p:nvPr>
        </p:nvSpPr>
        <p:spPr bwMode="gray">
          <a:xfrm>
            <a:off x="7966075" y="3589339"/>
            <a:ext cx="111125" cy="136525"/>
          </a:xfrm>
          <a:prstGeom prst="rect">
            <a:avLst/>
          </a:prstGeom>
          <a:solidFill>
            <a:srgbClr val="62B5E5"/>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3153719-DC5A-4061-A858-3FD19E9C7411}" type="datetime'''''''''''9'''''''''''''''''''''''''">
              <a:rPr kumimoji="0" lang="en-IN" altLang="en-US" sz="900" b="0" i="0" u="none" strike="noStrike" kern="1200" cap="none" spc="0" normalizeH="0" baseline="0" noProof="0" smtClean="0">
                <a:ln>
                  <a:noFill/>
                </a:ln>
                <a:solidFill>
                  <a:srgbClr val="FFFFFF"/>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9</a:t>
            </a:fld>
            <a:endParaRPr kumimoji="0" lang="en-IN" sz="900" b="0" i="0" u="none" strike="noStrike" kern="1200" cap="none" spc="0" normalizeH="0" baseline="0" noProof="0" dirty="0">
              <a:ln>
                <a:noFill/>
              </a:ln>
              <a:solidFill>
                <a:srgbClr val="FFFFFF"/>
              </a:solidFill>
              <a:effectLst/>
              <a:uLnTx/>
              <a:uFillTx/>
              <a:latin typeface="Verdana"/>
              <a:ea typeface="+mn-ea"/>
              <a:cs typeface="+mn-cs"/>
              <a:sym typeface="+mn-lt"/>
            </a:endParaRPr>
          </a:p>
        </p:txBody>
      </p:sp>
      <p:sp>
        <p:nvSpPr>
          <p:cNvPr id="43" name="StandardTextbox"/>
          <p:cNvSpPr>
            <a:spLocks noGrp="1"/>
          </p:cNvSpPr>
          <p:nvPr>
            <p:custDataLst>
              <p:tags r:id="rId19"/>
            </p:custDataLst>
          </p:nvPr>
        </p:nvSpPr>
        <p:spPr bwMode="auto">
          <a:xfrm>
            <a:off x="7743825" y="3940175"/>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4610127A-6142-411F-A84F-0E5CF3D3510A}" type="datetime'''''F''''''''''''''Y21'''''">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FY21</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87" name="StandardTextbox"/>
          <p:cNvSpPr>
            <a:spLocks noGrp="1"/>
          </p:cNvSpPr>
          <p:nvPr>
            <p:custDataLst>
              <p:tags r:id="rId20"/>
            </p:custDataLst>
          </p:nvPr>
        </p:nvSpPr>
        <p:spPr bwMode="gray">
          <a:xfrm>
            <a:off x="8780463" y="3562351"/>
            <a:ext cx="111125" cy="136525"/>
          </a:xfrm>
          <a:prstGeom prst="rect">
            <a:avLst/>
          </a:prstGeom>
          <a:solidFill>
            <a:srgbClr val="62B5E5"/>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B511B77-CBC3-4841-801A-F0D1919BABDC}" type="datetime'9'''''''''''''''''''''''''''''''''''''''''''''''''''''">
              <a:rPr kumimoji="0" lang="en-IN" altLang="en-US" sz="900" b="0" i="0" u="none" strike="noStrike" kern="1200" cap="none" spc="0" normalizeH="0" baseline="0" noProof="0" smtClean="0">
                <a:ln>
                  <a:noFill/>
                </a:ln>
                <a:solidFill>
                  <a:srgbClr val="FFFFFF"/>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9</a:t>
            </a:fld>
            <a:endParaRPr kumimoji="0" lang="en-IN" sz="900" b="0" i="0" u="none" strike="noStrike" kern="1200" cap="none" spc="0" normalizeH="0" baseline="0" noProof="0" dirty="0">
              <a:ln>
                <a:noFill/>
              </a:ln>
              <a:solidFill>
                <a:srgbClr val="FFFFFF"/>
              </a:solidFill>
              <a:effectLst/>
              <a:uLnTx/>
              <a:uFillTx/>
              <a:latin typeface="Verdana"/>
              <a:ea typeface="+mn-ea"/>
              <a:cs typeface="+mn-cs"/>
              <a:sym typeface="+mn-lt"/>
            </a:endParaRPr>
          </a:p>
        </p:txBody>
      </p:sp>
      <p:sp>
        <p:nvSpPr>
          <p:cNvPr id="44" name="StandardTextbox"/>
          <p:cNvSpPr>
            <a:spLocks noGrp="1"/>
          </p:cNvSpPr>
          <p:nvPr>
            <p:custDataLst>
              <p:tags r:id="rId21"/>
            </p:custDataLst>
          </p:nvPr>
        </p:nvSpPr>
        <p:spPr bwMode="auto">
          <a:xfrm>
            <a:off x="8689975" y="3940175"/>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CE478F6E-0625-47E1-A186-B997DDDD36AC}" type="datetime'''''''''''''''''''F''''''''''''Y''''''''''''22'''''''">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FY22</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90" name="StandardTextbox"/>
          <p:cNvSpPr>
            <a:spLocks noGrp="1"/>
          </p:cNvSpPr>
          <p:nvPr>
            <p:custDataLst>
              <p:tags r:id="rId22"/>
            </p:custDataLst>
          </p:nvPr>
        </p:nvSpPr>
        <p:spPr bwMode="gray">
          <a:xfrm>
            <a:off x="9558338" y="3211514"/>
            <a:ext cx="184150" cy="136525"/>
          </a:xfrm>
          <a:prstGeom prst="rect">
            <a:avLst/>
          </a:prstGeom>
          <a:solidFill>
            <a:srgbClr val="86BC25"/>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4F96887-7500-4278-B9B7-A3DEA008AD9D}" type="datetime'''''''1''''''''''''''''''''''''''3'''''''''''''''''''">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13</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04" name="StandardTextbox"/>
          <p:cNvSpPr>
            <a:spLocks noGrp="1"/>
          </p:cNvSpPr>
          <p:nvPr>
            <p:custDataLst>
              <p:tags r:id="rId23"/>
            </p:custDataLst>
          </p:nvPr>
        </p:nvSpPr>
        <p:spPr bwMode="gray">
          <a:xfrm>
            <a:off x="9858376" y="3279776"/>
            <a:ext cx="111125" cy="136525"/>
          </a:xfrm>
          <a:prstGeom prst="rect">
            <a:avLst/>
          </a:prstGeom>
          <a:solidFill>
            <a:srgbClr val="75787B"/>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52E7A81-ED42-4BD7-9A6B-152565E5AB63}" type="datetime'''''''''''''''''''''''''''''''''''''''''''''5'''''''''">
              <a:rPr kumimoji="0" lang="en-IN" altLang="en-US" sz="900" b="0" i="0" u="none" strike="noStrike" kern="1200" cap="none" spc="0" normalizeH="0" baseline="0" noProof="0" smtClean="0">
                <a:ln>
                  <a:noFill/>
                </a:ln>
                <a:solidFill>
                  <a:srgbClr val="FFFFFF"/>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a:t>
            </a:fld>
            <a:endParaRPr kumimoji="0" lang="en-IN" sz="900" b="0" i="0" u="none" strike="noStrike" kern="1200" cap="none" spc="0" normalizeH="0" baseline="0" noProof="0" dirty="0">
              <a:ln>
                <a:noFill/>
              </a:ln>
              <a:solidFill>
                <a:srgbClr val="FFFFFF"/>
              </a:solidFill>
              <a:effectLst/>
              <a:uLnTx/>
              <a:uFillTx/>
              <a:latin typeface="Verdana"/>
              <a:ea typeface="+mn-ea"/>
              <a:cs typeface="+mn-cs"/>
              <a:sym typeface="+mn-lt"/>
            </a:endParaRPr>
          </a:p>
        </p:txBody>
      </p:sp>
      <p:sp>
        <p:nvSpPr>
          <p:cNvPr id="45" name="StandardTextbox"/>
          <p:cNvSpPr>
            <a:spLocks noGrp="1"/>
          </p:cNvSpPr>
          <p:nvPr>
            <p:custDataLst>
              <p:tags r:id="rId24"/>
            </p:custDataLst>
          </p:nvPr>
        </p:nvSpPr>
        <p:spPr bwMode="auto">
          <a:xfrm>
            <a:off x="9636125" y="3940175"/>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568360BC-77CF-4898-8362-F6B228F358EE}" type="datetime'''''''F''''''''''''''''''Y2''''''''3'">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FY23</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47" name="StandardTextbox"/>
          <p:cNvSpPr>
            <a:spLocks noGrp="1"/>
          </p:cNvSpPr>
          <p:nvPr>
            <p:custDataLst>
              <p:tags r:id="rId25"/>
            </p:custDataLst>
          </p:nvPr>
        </p:nvSpPr>
        <p:spPr bwMode="gray">
          <a:xfrm>
            <a:off x="5868988" y="2897188"/>
            <a:ext cx="25717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4DFD1F0-EE39-4A55-B6A7-3B0F217F3E08}" type="datetime'''''''''''''1''''''''''''0''''''''''''''''''''4'">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104</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49" name="StandardTextbox"/>
          <p:cNvSpPr>
            <a:spLocks noGrp="1"/>
          </p:cNvSpPr>
          <p:nvPr>
            <p:custDataLst>
              <p:tags r:id="rId26"/>
            </p:custDataLst>
          </p:nvPr>
        </p:nvSpPr>
        <p:spPr bwMode="gray">
          <a:xfrm>
            <a:off x="6815138" y="2832100"/>
            <a:ext cx="25717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183503CD-48B0-4D95-80F7-C71279FD62F3}" type="datetime'''''''''''''''1''''''1''''''''''''''''2'''''''''''''''''''''''">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112</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51" name="StandardTextbox"/>
          <p:cNvSpPr>
            <a:spLocks noGrp="1"/>
          </p:cNvSpPr>
          <p:nvPr>
            <p:custDataLst>
              <p:tags r:id="rId27"/>
            </p:custDataLst>
          </p:nvPr>
        </p:nvSpPr>
        <p:spPr bwMode="gray">
          <a:xfrm>
            <a:off x="7761288" y="2782888"/>
            <a:ext cx="25717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EC5E61D-3F26-4912-AAF2-D79630C6B20C}" type="datetime'1''1''''''''''''''''8'''''''''''''''''">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118</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52" name="StandardTextbox"/>
          <p:cNvSpPr>
            <a:spLocks noGrp="1"/>
          </p:cNvSpPr>
          <p:nvPr>
            <p:custDataLst>
              <p:tags r:id="rId28"/>
            </p:custDataLst>
          </p:nvPr>
        </p:nvSpPr>
        <p:spPr bwMode="gray">
          <a:xfrm>
            <a:off x="8707438" y="2657475"/>
            <a:ext cx="25717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10C71EC6-EBC5-400F-B30E-3ADDF2ECB604}" type="datetime'''1''''''''''''''''''3''''''5'''''''">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135</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53" name="StandardTextbox"/>
          <p:cNvSpPr>
            <a:spLocks noGrp="1"/>
          </p:cNvSpPr>
          <p:nvPr>
            <p:custDataLst>
              <p:tags r:id="rId29"/>
            </p:custDataLst>
          </p:nvPr>
        </p:nvSpPr>
        <p:spPr bwMode="gray">
          <a:xfrm>
            <a:off x="9653588" y="2611438"/>
            <a:ext cx="25717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FFA694C0-F9C6-416D-A520-169125A945B2}" type="datetime'''''''''''''''''''''''''''1''''''''4''0'''''''">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140</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54" name="StandardTextbox"/>
          <p:cNvSpPr>
            <a:spLocks noGrp="1"/>
          </p:cNvSpPr>
          <p:nvPr>
            <p:custDataLst>
              <p:tags r:id="rId30"/>
            </p:custDataLst>
          </p:nvPr>
        </p:nvSpPr>
        <p:spPr bwMode="auto">
          <a:xfrm>
            <a:off x="7573963" y="2487613"/>
            <a:ext cx="633413" cy="193675"/>
          </a:xfrm>
          <a:prstGeom prst="ellipse">
            <a:avLst/>
          </a:prstGeom>
          <a:solidFill>
            <a:srgbClr val="FFFFFF"/>
          </a:solidFill>
          <a:ln w="9525" algn="ctr">
            <a:solidFill>
              <a:schemeClr val="tx1"/>
            </a:solidFill>
          </a:ln>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502EAD2-A966-418B-97F2-2394BD36C9AB}" type="datetime'''+''7''''''''''''''''.''''9''''''%'''''''''''">
              <a:rPr kumimoji="0" lang="en-IN" altLang="en-US" sz="900" b="1"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+7.9%</a:t>
            </a:fld>
            <a:endParaRPr kumimoji="0" lang="en-IN" sz="900" b="1"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59" name="Rectangle 58"/>
          <p:cNvSpPr/>
          <p:nvPr>
            <p:custDataLst>
              <p:tags r:id="rId31"/>
            </p:custDataLst>
          </p:nvPr>
        </p:nvSpPr>
        <p:spPr bwMode="auto">
          <a:xfrm>
            <a:off x="7762875" y="4175125"/>
            <a:ext cx="160338" cy="120650"/>
          </a:xfrm>
          <a:prstGeom prst="rect">
            <a:avLst/>
          </a:prstGeom>
          <a:solidFill>
            <a:srgbClr val="012169"/>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57" name="Rectangle 56"/>
          <p:cNvSpPr/>
          <p:nvPr>
            <p:custDataLst>
              <p:tags r:id="rId32"/>
            </p:custDataLst>
          </p:nvPr>
        </p:nvSpPr>
        <p:spPr bwMode="auto">
          <a:xfrm>
            <a:off x="6883400" y="4362450"/>
            <a:ext cx="160338" cy="120650"/>
          </a:xfrm>
          <a:prstGeom prst="rect">
            <a:avLst/>
          </a:prstGeom>
          <a:solidFill>
            <a:srgbClr val="0097A9"/>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55" name="Rectangle 54"/>
          <p:cNvSpPr/>
          <p:nvPr>
            <p:custDataLst>
              <p:tags r:id="rId33"/>
            </p:custDataLst>
          </p:nvPr>
        </p:nvSpPr>
        <p:spPr bwMode="auto">
          <a:xfrm>
            <a:off x="5570538" y="4175125"/>
            <a:ext cx="160338" cy="120650"/>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56" name="Rectangle 55"/>
          <p:cNvSpPr/>
          <p:nvPr>
            <p:custDataLst>
              <p:tags r:id="rId34"/>
            </p:custDataLst>
          </p:nvPr>
        </p:nvSpPr>
        <p:spPr bwMode="auto">
          <a:xfrm>
            <a:off x="5570538" y="4362450"/>
            <a:ext cx="160338" cy="1206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58" name="Rectangle 57"/>
          <p:cNvSpPr/>
          <p:nvPr>
            <p:custDataLst>
              <p:tags r:id="rId35"/>
            </p:custDataLst>
          </p:nvPr>
        </p:nvSpPr>
        <p:spPr bwMode="auto">
          <a:xfrm>
            <a:off x="6883400" y="4175125"/>
            <a:ext cx="160338" cy="120650"/>
          </a:xfrm>
          <a:prstGeom prst="rect">
            <a:avLst/>
          </a:prstGeom>
          <a:solidFill>
            <a:srgbClr val="75787B"/>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0" name="Rectangle 59"/>
          <p:cNvSpPr/>
          <p:nvPr>
            <p:custDataLst>
              <p:tags r:id="rId36"/>
            </p:custDataLst>
          </p:nvPr>
        </p:nvSpPr>
        <p:spPr bwMode="auto">
          <a:xfrm>
            <a:off x="7762875" y="4362450"/>
            <a:ext cx="160338" cy="120650"/>
          </a:xfrm>
          <a:prstGeom prst="rect">
            <a:avLst/>
          </a:prstGeom>
          <a:solidFill>
            <a:srgbClr val="62B5E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1" name="Rectangle 60"/>
          <p:cNvSpPr/>
          <p:nvPr>
            <p:custDataLst>
              <p:tags r:id="rId37"/>
            </p:custDataLst>
          </p:nvPr>
        </p:nvSpPr>
        <p:spPr bwMode="auto">
          <a:xfrm>
            <a:off x="8836025" y="4175125"/>
            <a:ext cx="160338" cy="120650"/>
          </a:xfrm>
          <a:prstGeom prst="rect">
            <a:avLst/>
          </a:prstGeom>
          <a:solidFill>
            <a:srgbClr val="DDEFE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2" name="Rectangle 61"/>
          <p:cNvSpPr/>
          <p:nvPr>
            <p:custDataLst>
              <p:tags r:id="rId38"/>
            </p:custDataLst>
          </p:nvPr>
        </p:nvSpPr>
        <p:spPr bwMode="auto">
          <a:xfrm>
            <a:off x="8836025" y="4362450"/>
            <a:ext cx="160338" cy="120650"/>
          </a:xfrm>
          <a:prstGeom prst="rect">
            <a:avLst/>
          </a:prstGeom>
          <a:solidFill>
            <a:srgbClr val="C4D600"/>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3" name="StandardTextbox"/>
          <p:cNvSpPr>
            <a:spLocks noGrp="1"/>
          </p:cNvSpPr>
          <p:nvPr>
            <p:custDataLst>
              <p:tags r:id="rId39"/>
            </p:custDataLst>
          </p:nvPr>
        </p:nvSpPr>
        <p:spPr bwMode="auto">
          <a:xfrm>
            <a:off x="5781675" y="4171950"/>
            <a:ext cx="42862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4CA27985-2CC4-424F-BDAE-2B21D8324123}" type="datetime''''''''' ''''''''''''''''''''''Po''w''e''''''''''r'' '''''''''">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 Power </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66" name="StandardTextbox"/>
          <p:cNvSpPr>
            <a:spLocks noGrp="1"/>
          </p:cNvSpPr>
          <p:nvPr>
            <p:custDataLst>
              <p:tags r:id="rId40"/>
            </p:custDataLst>
          </p:nvPr>
        </p:nvSpPr>
        <p:spPr bwMode="auto">
          <a:xfrm>
            <a:off x="7094538" y="4359275"/>
            <a:ext cx="56673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5DC37EDB-FEAC-429C-BEF0-77B882E287C0}" type="datetime''''''''''' ''''In''''d''''''''''u''s''''''t''''ry'''''' '''">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 Industry </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64" name="StandardTextbox"/>
          <p:cNvSpPr>
            <a:spLocks noGrp="1"/>
          </p:cNvSpPr>
          <p:nvPr>
            <p:custDataLst>
              <p:tags r:id="rId41"/>
            </p:custDataLst>
          </p:nvPr>
        </p:nvSpPr>
        <p:spPr bwMode="auto">
          <a:xfrm>
            <a:off x="5781675" y="4359275"/>
            <a:ext cx="100012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C9B51C67-2D6B-4E15-ADCF-26ED9F986AB9}" type="datetime' D''o''''''m''''''''e''st''ic'''''' (PN''G)'' '''''''''''''''">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 Domestic (PNG) </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67" name="StandardTextbox"/>
          <p:cNvSpPr>
            <a:spLocks noGrp="1"/>
          </p:cNvSpPr>
          <p:nvPr>
            <p:custDataLst>
              <p:tags r:id="rId42"/>
            </p:custDataLst>
          </p:nvPr>
        </p:nvSpPr>
        <p:spPr bwMode="auto">
          <a:xfrm>
            <a:off x="7974013" y="4171950"/>
            <a:ext cx="76041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CAB4388F-A944-479B-BF43-D48E8C72E417}" type="datetime' ''''C''''''''''''''''''''o''m''''mer''''ci''a''l '''''''">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 Commercial </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77" name="StandardTextbox"/>
          <p:cNvSpPr>
            <a:spLocks noGrp="1"/>
          </p:cNvSpPr>
          <p:nvPr>
            <p:custDataLst>
              <p:tags r:id="rId43"/>
            </p:custDataLst>
          </p:nvPr>
        </p:nvSpPr>
        <p:spPr bwMode="auto">
          <a:xfrm>
            <a:off x="7094538" y="4171950"/>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BDE5A2D9-B185-4EE9-9216-9A6E10707319}" type="datetime''''''''''''''' C''''''''''''''N''''''''''''''''''''''''''G'''">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 CNG</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78" name="StandardTextbox"/>
          <p:cNvSpPr>
            <a:spLocks noGrp="1"/>
          </p:cNvSpPr>
          <p:nvPr>
            <p:custDataLst>
              <p:tags r:id="rId44"/>
            </p:custDataLst>
          </p:nvPr>
        </p:nvSpPr>
        <p:spPr bwMode="auto">
          <a:xfrm>
            <a:off x="7974013" y="4359275"/>
            <a:ext cx="57943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FE2C9702-10CB-43E8-92C6-0AA0B0B5A984}" type="datetime''''''''''''''''' F''''''e''rt''i''''''''''l''i''''zer '''''''">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 Fertilizer </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81" name="StandardTextbox"/>
          <p:cNvSpPr>
            <a:spLocks noGrp="1"/>
          </p:cNvSpPr>
          <p:nvPr>
            <p:custDataLst>
              <p:tags r:id="rId45"/>
            </p:custDataLst>
          </p:nvPr>
        </p:nvSpPr>
        <p:spPr bwMode="auto">
          <a:xfrm>
            <a:off x="9047163" y="4171950"/>
            <a:ext cx="51117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180E6CB8-FEC9-48B5-A016-72A0A0DC08E5}" type="datetime''' ''''''''''C''''a''''''''pti''''''''v''''''e'''' '''''''''">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 Captive </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65" name="StandardTextbox"/>
          <p:cNvSpPr>
            <a:spLocks noGrp="1"/>
          </p:cNvSpPr>
          <p:nvPr>
            <p:custDataLst>
              <p:tags r:id="rId46"/>
            </p:custDataLst>
          </p:nvPr>
        </p:nvSpPr>
        <p:spPr bwMode="auto">
          <a:xfrm>
            <a:off x="9047163" y="4359275"/>
            <a:ext cx="68421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B138C456-DD79-4282-A0E6-9672893612C6}" type="datetime''''' Tea Es''''''t''''''a''''''''t''''''''e'''''''' '''">
              <a:rPr kumimoji="0" lang="en-IN" altLang="en-US" sz="900" b="0" i="0" u="none" strike="noStrike" kern="1200" cap="none" spc="0" normalizeH="0" baseline="0" noProof="0" smtClean="0">
                <a:ln>
                  <a:noFill/>
                </a:ln>
                <a:solidFill>
                  <a:srgbClr val="000000"/>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 Tea Estate </a:t>
            </a:fld>
            <a:endParaRPr kumimoji="0" lang="en-IN" sz="900" b="0" i="0" u="none" strike="noStrike" kern="1200" cap="none" spc="0" normalizeH="0" baseline="0" noProof="0" dirty="0">
              <a:ln>
                <a:noFill/>
              </a:ln>
              <a:solidFill>
                <a:srgbClr val="000000"/>
              </a:solidFill>
              <a:effectLst/>
              <a:uLnTx/>
              <a:uFillTx/>
              <a:latin typeface="Verdana"/>
              <a:ea typeface="+mn-ea"/>
              <a:cs typeface="+mn-cs"/>
              <a:sym typeface="+mn-lt"/>
            </a:endParaRPr>
          </a:p>
        </p:txBody>
      </p:sp>
      <p:cxnSp>
        <p:nvCxnSpPr>
          <p:cNvPr id="9" name="Straight Connector 8"/>
          <p:cNvCxnSpPr/>
          <p:nvPr>
            <p:custDataLst>
              <p:tags r:id="rId47"/>
            </p:custDataLst>
          </p:nvPr>
        </p:nvCxnSpPr>
        <p:spPr bwMode="auto">
          <a:xfrm>
            <a:off x="8170863" y="5786438"/>
            <a:ext cx="4127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custDataLst>
              <p:tags r:id="rId48"/>
            </p:custDataLst>
          </p:nvPr>
        </p:nvCxnSpPr>
        <p:spPr bwMode="auto">
          <a:xfrm>
            <a:off x="6307138" y="5913438"/>
            <a:ext cx="4127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custDataLst>
              <p:tags r:id="rId49"/>
            </p:custDataLst>
          </p:nvPr>
        </p:nvCxnSpPr>
        <p:spPr bwMode="auto">
          <a:xfrm>
            <a:off x="7239000" y="5786438"/>
            <a:ext cx="4127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custDataLst>
              <p:tags r:id="rId50"/>
            </p:custDataLst>
          </p:nvPr>
        </p:nvCxnSpPr>
        <p:spPr bwMode="auto">
          <a:xfrm>
            <a:off x="9102725" y="5665788"/>
            <a:ext cx="4127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68" name="Chart 67"/>
          <p:cNvGraphicFramePr/>
          <p:nvPr>
            <p:custDataLst>
              <p:tags r:id="rId51"/>
            </p:custDataLst>
            <p:extLst>
              <p:ext uri="{D42A27DB-BD31-4B8C-83A1-F6EECF244321}">
                <p14:modId xmlns:p14="http://schemas.microsoft.com/office/powerpoint/2010/main" val="2342086759"/>
              </p:ext>
            </p:extLst>
          </p:nvPr>
        </p:nvGraphicFramePr>
        <p:xfrm>
          <a:off x="5499100" y="5481638"/>
          <a:ext cx="4824413" cy="841375"/>
        </p:xfrm>
        <a:graphic>
          <a:graphicData uri="http://schemas.openxmlformats.org/drawingml/2006/chart">
            <c:chart xmlns:c="http://schemas.openxmlformats.org/drawingml/2006/chart" xmlns:r="http://schemas.openxmlformats.org/officeDocument/2006/relationships" r:id="rId61"/>
          </a:graphicData>
        </a:graphic>
      </p:graphicFrame>
      <p:sp>
        <p:nvSpPr>
          <p:cNvPr id="115" name="StandardTextbox"/>
          <p:cNvSpPr>
            <a:spLocks noGrp="1"/>
          </p:cNvSpPr>
          <p:nvPr>
            <p:custDataLst>
              <p:tags r:id="rId52"/>
            </p:custDataLst>
          </p:nvPr>
        </p:nvSpPr>
        <p:spPr bwMode="auto">
          <a:xfrm>
            <a:off x="5645150" y="6316662"/>
            <a:ext cx="803275" cy="5461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FAA0017-59AD-4DAD-8F63-853379F54906}" type="datetime'Exis''ting Ave''rag''e ''Domestic Ga''s'' Pro''du''cti''on'">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Existing Average Domestic Gas Production</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16" name="StandardTextbox"/>
          <p:cNvSpPr>
            <a:spLocks noGrp="1"/>
          </p:cNvSpPr>
          <p:nvPr>
            <p:custDataLst>
              <p:tags r:id="rId53"/>
            </p:custDataLst>
          </p:nvPr>
        </p:nvSpPr>
        <p:spPr bwMode="auto">
          <a:xfrm>
            <a:off x="6553200" y="6316663"/>
            <a:ext cx="850900" cy="4095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629E5C9-6589-4F81-A745-E38787A66DCB}" type="datetime'I''mporte''d LNG Capa''''c''''ity C''o''''m''mi''ssion''ed'">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Imported LNG Capacity Commissioned</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27" name="StandardTextbox"/>
          <p:cNvSpPr>
            <a:spLocks noGrp="1"/>
          </p:cNvSpPr>
          <p:nvPr>
            <p:custDataLst>
              <p:tags r:id="rId54"/>
            </p:custDataLst>
          </p:nvPr>
        </p:nvSpPr>
        <p:spPr bwMode="auto">
          <a:xfrm>
            <a:off x="7515225" y="6316663"/>
            <a:ext cx="790575" cy="6826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6105B997-204E-4766-81B9-19ED1D681ADE}" type="datetime'Total Planned Natur''al'' Gas Supply Ca''pacity (FY19-''FY24)'">
              <a:rPr lang="en-US" altLang="en-US" sz="900" b="0" smtClean="0">
                <a:solidFill>
                  <a:srgbClr val="000000"/>
                </a:solidFill>
              </a:rPr>
              <a:pPr lvl="1" algn="ctr">
                <a:spcBef>
                  <a:spcPct val="0"/>
                </a:spcBef>
                <a:spcAft>
                  <a:spcPct val="0"/>
                </a:spcAft>
                <a:defRPr/>
              </a:pPr>
              <a:t>Total Planned Natural Gas Supply Capacity (FY19-FY24)</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111" name="StandardTextbox"/>
          <p:cNvSpPr>
            <a:spLocks noGrp="1"/>
          </p:cNvSpPr>
          <p:nvPr>
            <p:custDataLst>
              <p:tags r:id="rId55"/>
            </p:custDataLst>
          </p:nvPr>
        </p:nvSpPr>
        <p:spPr bwMode="auto">
          <a:xfrm>
            <a:off x="8432799" y="6316663"/>
            <a:ext cx="819150" cy="5461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172BC528-8785-4FA2-85CE-280980077CEA}" type="datetime'''Additio''nal'''' Onshore 7''.5 MTPA Plan''ned Te''rmin''al'">
              <a:rPr lang="en-US" altLang="en-US" sz="900" b="0" smtClean="0">
                <a:solidFill>
                  <a:srgbClr val="000000"/>
                </a:solidFill>
              </a:rPr>
              <a:pPr lvl="1" algn="ctr">
                <a:spcBef>
                  <a:spcPct val="0"/>
                </a:spcBef>
                <a:spcAft>
                  <a:spcPct val="0"/>
                </a:spcAft>
                <a:defRPr/>
              </a:pPr>
              <a:t>Additional Onshore 7.5 MTPA Planned Terminal</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114" name="StandardTextbox"/>
          <p:cNvSpPr>
            <a:spLocks noGrp="1"/>
          </p:cNvSpPr>
          <p:nvPr>
            <p:custDataLst>
              <p:tags r:id="rId56"/>
            </p:custDataLst>
          </p:nvPr>
        </p:nvSpPr>
        <p:spPr bwMode="auto">
          <a:xfrm>
            <a:off x="9309100" y="6316663"/>
            <a:ext cx="930275" cy="4095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F4141924-1526-49AB-B1DD-42A3741FAB25}" type="datetime'To''tal'' ''E''x''pected'' I''mpo''''rt ''Capacity (F''Y30'')'">
              <a:rPr lang="en-US" altLang="en-US" sz="900" b="0" smtClean="0">
                <a:solidFill>
                  <a:srgbClr val="000000"/>
                </a:solidFill>
              </a:rPr>
              <a:pPr lvl="1" algn="ctr">
                <a:spcBef>
                  <a:spcPct val="0"/>
                </a:spcBef>
                <a:spcAft>
                  <a:spcPct val="0"/>
                </a:spcAft>
                <a:defRPr/>
              </a:pPr>
              <a:t>Total Expected Import Capacity (FY30)</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70" name="Rectangle 69"/>
          <p:cNvSpPr/>
          <p:nvPr/>
        </p:nvSpPr>
        <p:spPr bwMode="gray">
          <a:xfrm>
            <a:off x="377227" y="7260740"/>
            <a:ext cx="5780685"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Petrobangla, BERC, Industry Reports, Deloitte Analysis</a:t>
            </a:r>
          </a:p>
        </p:txBody>
      </p:sp>
      <p:sp>
        <p:nvSpPr>
          <p:cNvPr id="14" name="Rectangle 13"/>
          <p:cNvSpPr/>
          <p:nvPr/>
        </p:nvSpPr>
        <p:spPr bwMode="gray">
          <a:xfrm>
            <a:off x="5941219" y="5165302"/>
            <a:ext cx="1820862" cy="269128"/>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b="1" i="1" dirty="0"/>
              <a:t>Current Capacity</a:t>
            </a:r>
            <a:endParaRPr lang="en-IN" sz="900" b="1" i="1" dirty="0"/>
          </a:p>
        </p:txBody>
      </p:sp>
      <p:sp>
        <p:nvSpPr>
          <p:cNvPr id="136" name="Rectangle 135"/>
          <p:cNvSpPr/>
          <p:nvPr/>
        </p:nvSpPr>
        <p:spPr bwMode="gray">
          <a:xfrm>
            <a:off x="8469940" y="5233311"/>
            <a:ext cx="1634330" cy="217114"/>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b="1" i="1" dirty="0"/>
              <a:t>Expected between FY25-FY30</a:t>
            </a:r>
            <a:endParaRPr lang="en-IN" sz="900" b="1" i="1" dirty="0"/>
          </a:p>
        </p:txBody>
      </p:sp>
      <p:sp>
        <p:nvSpPr>
          <p:cNvPr id="138" name="Rectangle 137"/>
          <p:cNvSpPr/>
          <p:nvPr/>
        </p:nvSpPr>
        <p:spPr bwMode="gray">
          <a:xfrm>
            <a:off x="8362292" y="5165302"/>
            <a:ext cx="1870823" cy="1097268"/>
          </a:xfrm>
          <a:prstGeom prst="rect">
            <a:avLst/>
          </a:prstGeom>
          <a:solidFill>
            <a:schemeClr val="accent1">
              <a:alpha val="1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Tree>
    <p:extLst>
      <p:ext uri="{BB962C8B-B14F-4D97-AF65-F5344CB8AC3E}">
        <p14:creationId xmlns:p14="http://schemas.microsoft.com/office/powerpoint/2010/main" val="2066996328"/>
      </p:ext>
    </p:extLst>
  </p:cSld>
  <p:clrMapOvr>
    <a:masterClrMapping/>
  </p:clrMapOvr>
  <p:transition>
    <p:fade/>
  </p:transition>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12732418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7" imgW="530" imgH="531" progId="TCLayout.ActiveDocument.1">
                  <p:embed/>
                </p:oleObj>
              </mc:Choice>
              <mc:Fallback>
                <p:oleObj name="think-cell Slide" r:id="rId37" imgW="530" imgH="531" progId="TCLayout.ActiveDocument.1">
                  <p:embed/>
                  <p:pic>
                    <p:nvPicPr>
                      <p:cNvPr id="4" name="Object 3" hidden="1"/>
                      <p:cNvPicPr/>
                      <p:nvPr/>
                    </p:nvPicPr>
                    <p:blipFill>
                      <a:blip r:embed="rId38"/>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IN" sz="1000" u="none" strike="noStrike" kern="1200" cap="none" spc="0" normalizeH="0" noProof="0" dirty="0">
              <a:ln>
                <a:noFill/>
              </a:ln>
              <a:solidFill>
                <a:prstClr val="white"/>
              </a:solidFill>
              <a:effectLst/>
              <a:uLnTx/>
              <a:uFillTx/>
              <a:latin typeface="Verdana" panose="020B0604030504040204" pitchFamily="34" charset="0"/>
              <a:sym typeface="Verdana" panose="020B0604030504040204" pitchFamily="34" charset="0"/>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1537538136"/>
              </p:ext>
            </p:extLst>
          </p:nvPr>
        </p:nvGraphicFramePr>
        <p:xfrm>
          <a:off x="5523845" y="1961919"/>
          <a:ext cx="4732062" cy="6965998"/>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graph shows the historical consumption for Natural Gas &amp; Proposed allocation (mmscmd) for Natural Gas as per BERC:</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The following table illustrates the priority level of each sector for Natural Gas as defined by </a:t>
                      </a:r>
                      <a:r>
                        <a:rPr lang="en-US" sz="1000" b="0" baseline="0" dirty="0" err="1">
                          <a:solidFill>
                            <a:schemeClr val="tx1"/>
                          </a:solidFill>
                        </a:rPr>
                        <a:t>Petrobangla</a:t>
                      </a:r>
                      <a:r>
                        <a:rPr lang="en-US" sz="1000" b="0" baseline="0" dirty="0">
                          <a:solidFill>
                            <a:schemeClr val="tx1"/>
                          </a:solidFill>
                        </a:rPr>
                        <a:t>:</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2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Power Market | Natural Gas Supply</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With </a:t>
            </a:r>
            <a:r>
              <a:rPr lang="en-US" sz="1400" dirty="0">
                <a:solidFill>
                  <a:prstClr val="black">
                    <a:lumMod val="50000"/>
                    <a:lumOff val="50000"/>
                  </a:prstClr>
                </a:solidFill>
                <a:latin typeface="Verdana" panose="020B0604030504040204" pitchFamily="34" charset="0"/>
              </a:rPr>
              <a:t>introduction of </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LNG in power sector, the gas allocation to the sector </a:t>
            </a:r>
            <a:r>
              <a:rPr lang="en-US" sz="1400" dirty="0">
                <a:solidFill>
                  <a:prstClr val="black">
                    <a:lumMod val="50000"/>
                    <a:lumOff val="50000"/>
                  </a:prstClr>
                </a:solidFill>
                <a:latin typeface="Verdana" panose="020B0604030504040204" pitchFamily="34" charset="0"/>
              </a:rPr>
              <a:t>is expected to</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increase from ~31 mmscmd in FY18 to ~40 mmscmd in FY20;</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further allocation may take place in the future by curtailing gas to low efficient power plants and other non important sectors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2285694282"/>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lgn="just">
                        <a:lnSpc>
                          <a:spcPct val="100000"/>
                        </a:lnSpc>
                        <a:spcBef>
                          <a:spcPts val="0"/>
                        </a:spcBef>
                        <a:spcAft>
                          <a:spcPts val="600"/>
                        </a:spcAft>
                        <a:buFont typeface="Arial" panose="020B0604020202020204" pitchFamily="34" charset="0"/>
                        <a:buNone/>
                      </a:pPr>
                      <a:r>
                        <a:rPr lang="en-US" sz="1000" b="1" baseline="0" dirty="0">
                          <a:solidFill>
                            <a:schemeClr val="tx1"/>
                          </a:solidFill>
                        </a:rPr>
                        <a:t>Natural Gas / LNG Consumption &amp; Future Projection</a:t>
                      </a:r>
                      <a:endParaRPr lang="en-US" sz="1000" b="0" baseline="0" dirty="0">
                        <a:solidFill>
                          <a:schemeClr val="tx1"/>
                        </a:solidFill>
                      </a:endParaRPr>
                    </a:p>
                    <a:p>
                      <a:pPr marL="171450" marR="0" lvl="0" indent="-171450" algn="just" defTabSz="990571" rtl="0" eaLnBrk="1" fontAlgn="auto" latinLnBrk="0" hangingPunct="1">
                        <a:lnSpc>
                          <a:spcPct val="100000"/>
                        </a:lnSpc>
                        <a:spcBef>
                          <a:spcPts val="0"/>
                        </a:spcBef>
                        <a:spcAft>
                          <a:spcPts val="600"/>
                        </a:spcAft>
                        <a:buClrTx/>
                        <a:buSzTx/>
                        <a:buFont typeface="Arial" panose="020B0604020202020204" pitchFamily="34" charset="0"/>
                        <a:buChar char="•"/>
                        <a:tabLst/>
                        <a:defRPr/>
                      </a:pPr>
                      <a:r>
                        <a:rPr lang="en-US" sz="1000" b="0" baseline="0" dirty="0">
                          <a:solidFill>
                            <a:schemeClr val="tx1"/>
                          </a:solidFill>
                        </a:rPr>
                        <a:t>Power has been provided the highest allocation for natural gas in Bangladesh by BERC for FY20 in line with historical dominance of the sector in gas consumption</a:t>
                      </a:r>
                    </a:p>
                    <a:p>
                      <a:pPr marL="171450" marR="0" lvl="0" indent="-171450" algn="just" defTabSz="990571" rtl="0" eaLnBrk="1" fontAlgn="auto" latinLnBrk="0" hangingPunct="1">
                        <a:lnSpc>
                          <a:spcPct val="100000"/>
                        </a:lnSpc>
                        <a:spcBef>
                          <a:spcPts val="0"/>
                        </a:spcBef>
                        <a:spcAft>
                          <a:spcPts val="600"/>
                        </a:spcAft>
                        <a:buClrTx/>
                        <a:buSzTx/>
                        <a:buFont typeface="Arial" panose="020B0604020202020204" pitchFamily="34" charset="0"/>
                        <a:buChar char="•"/>
                        <a:tabLst/>
                        <a:defRPr/>
                      </a:pPr>
                      <a:r>
                        <a:rPr lang="en-US" sz="1000" b="0" baseline="0" dirty="0">
                          <a:solidFill>
                            <a:schemeClr val="tx1"/>
                          </a:solidFill>
                        </a:rPr>
                        <a:t>BERC estimated the blended Natural Gas and LNG consumption in the country to increase from ~76 mmscmd in FY18 to ~95 </a:t>
                      </a:r>
                      <a:r>
                        <a:rPr lang="en-US" sz="1000" b="0" baseline="0" dirty="0" err="1">
                          <a:solidFill>
                            <a:schemeClr val="tx1"/>
                          </a:solidFill>
                        </a:rPr>
                        <a:t>mmscmd</a:t>
                      </a:r>
                      <a:r>
                        <a:rPr lang="en-US" sz="1000" b="0" baseline="0" dirty="0">
                          <a:solidFill>
                            <a:schemeClr val="tx1"/>
                          </a:solidFill>
                        </a:rPr>
                        <a:t> in FY20</a:t>
                      </a:r>
                    </a:p>
                    <a:p>
                      <a:pPr marL="171450" marR="0" lvl="0" indent="-171450" algn="just" defTabSz="990571" rtl="0" eaLnBrk="1" fontAlgn="auto" latinLnBrk="0" hangingPunct="1">
                        <a:lnSpc>
                          <a:spcPct val="100000"/>
                        </a:lnSpc>
                        <a:spcBef>
                          <a:spcPts val="0"/>
                        </a:spcBef>
                        <a:spcAft>
                          <a:spcPts val="600"/>
                        </a:spcAft>
                        <a:buClrTx/>
                        <a:buSzTx/>
                        <a:buFont typeface="Arial" panose="020B0604020202020204" pitchFamily="34" charset="0"/>
                        <a:buChar char="•"/>
                        <a:tabLst/>
                        <a:defRPr/>
                      </a:pPr>
                      <a:r>
                        <a:rPr lang="en-US" sz="1000" b="0" baseline="0" dirty="0">
                          <a:solidFill>
                            <a:schemeClr val="tx1"/>
                          </a:solidFill>
                        </a:rPr>
                        <a:t>The increase considers addition of 24 </a:t>
                      </a:r>
                      <a:r>
                        <a:rPr lang="en-US" sz="1000" b="0" baseline="0" dirty="0" err="1">
                          <a:solidFill>
                            <a:schemeClr val="tx1"/>
                          </a:solidFill>
                        </a:rPr>
                        <a:t>mmscmd</a:t>
                      </a:r>
                      <a:r>
                        <a:rPr lang="en-US" sz="1000" b="0" baseline="0" dirty="0">
                          <a:solidFill>
                            <a:schemeClr val="tx1"/>
                          </a:solidFill>
                        </a:rPr>
                        <a:t> to come from the FSRUs while it also estimates about ~3 mmscmd fall in the domestic natural gas production</a:t>
                      </a:r>
                    </a:p>
                    <a:p>
                      <a:pPr marL="0" marR="0" lvl="0" indent="0" algn="just" defTabSz="990571" rtl="0" eaLnBrk="1" fontAlgn="auto" latinLnBrk="0" hangingPunct="1">
                        <a:lnSpc>
                          <a:spcPct val="100000"/>
                        </a:lnSpc>
                        <a:spcBef>
                          <a:spcPts val="0"/>
                        </a:spcBef>
                        <a:spcAft>
                          <a:spcPts val="600"/>
                        </a:spcAft>
                        <a:buClrTx/>
                        <a:buSzTx/>
                        <a:buFont typeface="Arial" panose="020B0604020202020204" pitchFamily="34" charset="0"/>
                        <a:buNone/>
                        <a:tabLst/>
                        <a:defRPr/>
                      </a:pPr>
                      <a:r>
                        <a:rPr lang="en-US" sz="1000" b="1" kern="1200" baseline="0" dirty="0">
                          <a:solidFill>
                            <a:schemeClr val="tx1"/>
                          </a:solidFill>
                          <a:latin typeface="+mn-lt"/>
                          <a:ea typeface="+mn-ea"/>
                          <a:cs typeface="+mn-cs"/>
                        </a:rPr>
                        <a:t>Gas Priority Guidelines by </a:t>
                      </a:r>
                      <a:r>
                        <a:rPr lang="en-US" sz="1000" b="1" kern="1200" baseline="0" dirty="0" err="1">
                          <a:solidFill>
                            <a:schemeClr val="tx1"/>
                          </a:solidFill>
                          <a:latin typeface="+mn-lt"/>
                          <a:ea typeface="+mn-ea"/>
                          <a:cs typeface="+mn-cs"/>
                        </a:rPr>
                        <a:t>Petrobangla</a:t>
                      </a:r>
                      <a:r>
                        <a:rPr lang="en-US" sz="1000" b="1" kern="1200" baseline="0" dirty="0">
                          <a:solidFill>
                            <a:schemeClr val="tx1"/>
                          </a:solidFill>
                          <a:latin typeface="+mn-lt"/>
                          <a:ea typeface="+mn-ea"/>
                          <a:cs typeface="+mn-cs"/>
                        </a:rPr>
                        <a:t> (2013)</a:t>
                      </a:r>
                    </a:p>
                    <a:p>
                      <a:pPr marL="171450" marR="0" lvl="0" indent="-171450" algn="just" defTabSz="990571" rtl="0" eaLnBrk="1" fontAlgn="auto" latinLnBrk="0" hangingPunct="1">
                        <a:lnSpc>
                          <a:spcPct val="100000"/>
                        </a:lnSpc>
                        <a:spcBef>
                          <a:spcPts val="0"/>
                        </a:spcBef>
                        <a:spcAft>
                          <a:spcPts val="6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In 2013, </a:t>
                      </a:r>
                      <a:r>
                        <a:rPr lang="en-US" sz="1000" b="0" kern="1200" baseline="0" dirty="0" err="1">
                          <a:solidFill>
                            <a:schemeClr val="tx1"/>
                          </a:solidFill>
                          <a:latin typeface="+mn-lt"/>
                          <a:ea typeface="+mn-ea"/>
                          <a:cs typeface="+mn-cs"/>
                        </a:rPr>
                        <a:t>Petrobangla</a:t>
                      </a:r>
                      <a:r>
                        <a:rPr lang="en-US" sz="1000" b="0" kern="1200" baseline="0" dirty="0">
                          <a:solidFill>
                            <a:schemeClr val="tx1"/>
                          </a:solidFill>
                          <a:latin typeface="+mn-lt"/>
                          <a:ea typeface="+mn-ea"/>
                          <a:cs typeface="+mn-cs"/>
                        </a:rPr>
                        <a:t> came up with Gas priority guidelines considering the natural gas shortage in the country</a:t>
                      </a:r>
                    </a:p>
                    <a:p>
                      <a:pPr marL="171450" marR="0" lvl="0" indent="-171450" algn="just" defTabSz="990571" rtl="0" eaLnBrk="1" fontAlgn="auto" latinLnBrk="0" hangingPunct="1">
                        <a:lnSpc>
                          <a:spcPct val="100000"/>
                        </a:lnSpc>
                        <a:spcBef>
                          <a:spcPts val="0"/>
                        </a:spcBef>
                        <a:spcAft>
                          <a:spcPts val="6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defined priority list for sectors has been illustrated on the graph on the right (bottom)</a:t>
                      </a:r>
                    </a:p>
                    <a:p>
                      <a:pPr marL="171450" marR="0" lvl="0" indent="-171450" algn="just" defTabSz="990571" rtl="0" eaLnBrk="1" fontAlgn="auto" latinLnBrk="0" hangingPunct="1">
                        <a:lnSpc>
                          <a:spcPct val="100000"/>
                        </a:lnSpc>
                        <a:spcBef>
                          <a:spcPts val="0"/>
                        </a:spcBef>
                        <a:spcAft>
                          <a:spcPts val="6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guidelines also recommend a number of efficiency measures:</a:t>
                      </a:r>
                    </a:p>
                    <a:p>
                      <a:pPr marL="354013" marR="0" lvl="1" indent="-171450" algn="just" defTabSz="990571" rtl="0" eaLnBrk="1" fontAlgn="auto" latinLnBrk="0" hangingPunct="1">
                        <a:lnSpc>
                          <a:spcPct val="100000"/>
                        </a:lnSpc>
                        <a:spcBef>
                          <a:spcPts val="0"/>
                        </a:spcBef>
                        <a:spcAft>
                          <a:spcPts val="600"/>
                        </a:spcAft>
                        <a:buClrTx/>
                        <a:buSzTx/>
                        <a:buFont typeface="Courier New" panose="02070309020205020404" pitchFamily="49" charset="0"/>
                        <a:buChar char="o"/>
                        <a:tabLst/>
                        <a:defRPr/>
                      </a:pPr>
                      <a:r>
                        <a:rPr lang="en-US" sz="1000" b="0" kern="1200" baseline="0" dirty="0">
                          <a:solidFill>
                            <a:schemeClr val="tx1"/>
                          </a:solidFill>
                          <a:latin typeface="+mn-lt"/>
                          <a:ea typeface="+mn-ea"/>
                          <a:cs typeface="+mn-cs"/>
                        </a:rPr>
                        <a:t>To </a:t>
                      </a:r>
                      <a:r>
                        <a:rPr lang="en-US" sz="1000" b="1" kern="1200" baseline="0" dirty="0">
                          <a:solidFill>
                            <a:schemeClr val="tx1"/>
                          </a:solidFill>
                          <a:latin typeface="+mn-lt"/>
                          <a:ea typeface="+mn-ea"/>
                          <a:cs typeface="+mn-cs"/>
                        </a:rPr>
                        <a:t>reduce gas to the </a:t>
                      </a:r>
                      <a:r>
                        <a:rPr lang="en-US" sz="1000" b="1" kern="1200" baseline="0" dirty="0" err="1">
                          <a:solidFill>
                            <a:schemeClr val="tx1"/>
                          </a:solidFill>
                          <a:latin typeface="+mn-lt"/>
                          <a:ea typeface="+mn-ea"/>
                          <a:cs typeface="+mn-cs"/>
                        </a:rPr>
                        <a:t>fertiliser</a:t>
                      </a:r>
                      <a:r>
                        <a:rPr lang="en-US" sz="1000" b="1" kern="1200" baseline="0" dirty="0">
                          <a:solidFill>
                            <a:schemeClr val="tx1"/>
                          </a:solidFill>
                          <a:latin typeface="+mn-lt"/>
                          <a:ea typeface="+mn-ea"/>
                          <a:cs typeface="+mn-cs"/>
                        </a:rPr>
                        <a:t> sector by 10%, </a:t>
                      </a:r>
                      <a:r>
                        <a:rPr lang="en-US" sz="1000" b="0" kern="1200" baseline="0" dirty="0">
                          <a:solidFill>
                            <a:schemeClr val="tx1"/>
                          </a:solidFill>
                          <a:latin typeface="+mn-lt"/>
                          <a:ea typeface="+mn-ea"/>
                          <a:cs typeface="+mn-cs"/>
                        </a:rPr>
                        <a:t>and to increase the efficiency of fertilizer factories </a:t>
                      </a:r>
                    </a:p>
                    <a:p>
                      <a:pPr marL="354013" marR="0" lvl="1" indent="-171450" algn="just" defTabSz="990571" rtl="0" eaLnBrk="1" fontAlgn="auto" latinLnBrk="0" hangingPunct="1">
                        <a:lnSpc>
                          <a:spcPct val="100000"/>
                        </a:lnSpc>
                        <a:spcBef>
                          <a:spcPts val="0"/>
                        </a:spcBef>
                        <a:spcAft>
                          <a:spcPts val="600"/>
                        </a:spcAft>
                        <a:buClrTx/>
                        <a:buSzTx/>
                        <a:buFont typeface="Courier New" panose="02070309020205020404" pitchFamily="49" charset="0"/>
                        <a:buChar char="o"/>
                        <a:tabLst/>
                        <a:defRPr/>
                      </a:pPr>
                      <a:r>
                        <a:rPr lang="en-US" sz="1000" b="0" kern="1200" baseline="0" dirty="0">
                          <a:solidFill>
                            <a:schemeClr val="tx1"/>
                          </a:solidFill>
                          <a:latin typeface="+mn-lt"/>
                          <a:ea typeface="+mn-ea"/>
                          <a:cs typeface="+mn-cs"/>
                        </a:rPr>
                        <a:t>To </a:t>
                      </a:r>
                      <a:r>
                        <a:rPr lang="en-US" sz="1000" b="1" kern="1200" baseline="0" dirty="0">
                          <a:solidFill>
                            <a:schemeClr val="tx1"/>
                          </a:solidFill>
                          <a:latin typeface="+mn-lt"/>
                          <a:ea typeface="+mn-ea"/>
                          <a:cs typeface="+mn-cs"/>
                        </a:rPr>
                        <a:t>limit the total allocation of gas to the power sector to 40% </a:t>
                      </a:r>
                      <a:r>
                        <a:rPr lang="en-US" sz="1000" b="0" kern="1200" baseline="0" dirty="0">
                          <a:solidFill>
                            <a:schemeClr val="tx1"/>
                          </a:solidFill>
                          <a:latin typeface="+mn-lt"/>
                          <a:ea typeface="+mn-ea"/>
                          <a:cs typeface="+mn-cs"/>
                        </a:rPr>
                        <a:t>of the daily gas supply, </a:t>
                      </a:r>
                      <a:r>
                        <a:rPr lang="en-US" sz="1000" b="1" kern="1200" baseline="0" dirty="0">
                          <a:solidFill>
                            <a:schemeClr val="tx1"/>
                          </a:solidFill>
                          <a:latin typeface="+mn-lt"/>
                          <a:ea typeface="+mn-ea"/>
                          <a:cs typeface="+mn-cs"/>
                        </a:rPr>
                        <a:t>only provide gas supply to new power plants</a:t>
                      </a:r>
                      <a:r>
                        <a:rPr lang="en-US" sz="1000" b="0" kern="1200" baseline="0" dirty="0">
                          <a:solidFill>
                            <a:schemeClr val="tx1"/>
                          </a:solidFill>
                          <a:latin typeface="+mn-lt"/>
                          <a:ea typeface="+mn-ea"/>
                          <a:cs typeface="+mn-cs"/>
                        </a:rPr>
                        <a:t> that have </a:t>
                      </a:r>
                      <a:r>
                        <a:rPr lang="en-US" sz="1000" b="1" kern="1200" baseline="0" dirty="0">
                          <a:solidFill>
                            <a:schemeClr val="tx1"/>
                          </a:solidFill>
                          <a:latin typeface="+mn-lt"/>
                          <a:ea typeface="+mn-ea"/>
                          <a:cs typeface="+mn-cs"/>
                        </a:rPr>
                        <a:t>more than 50% fuel efficiency</a:t>
                      </a:r>
                      <a:r>
                        <a:rPr lang="en-US" sz="1000" b="0" kern="1200" baseline="0" dirty="0">
                          <a:solidFill>
                            <a:schemeClr val="tx1"/>
                          </a:solidFill>
                          <a:latin typeface="+mn-lt"/>
                          <a:ea typeface="+mn-ea"/>
                          <a:cs typeface="+mn-cs"/>
                        </a:rPr>
                        <a:t>, and are based on </a:t>
                      </a:r>
                      <a:r>
                        <a:rPr lang="en-US" sz="1000" b="1" kern="1200" baseline="0" dirty="0">
                          <a:solidFill>
                            <a:schemeClr val="tx1"/>
                          </a:solidFill>
                          <a:latin typeface="+mn-lt"/>
                          <a:ea typeface="+mn-ea"/>
                          <a:cs typeface="+mn-cs"/>
                        </a:rPr>
                        <a:t>combined cycle technology </a:t>
                      </a:r>
                      <a:r>
                        <a:rPr lang="en-US" sz="1000" b="0" kern="1200" baseline="0" dirty="0">
                          <a:solidFill>
                            <a:schemeClr val="tx1"/>
                          </a:solidFill>
                          <a:latin typeface="+mn-lt"/>
                          <a:ea typeface="+mn-ea"/>
                          <a:cs typeface="+mn-cs"/>
                        </a:rPr>
                        <a:t>and duel-</a:t>
                      </a:r>
                      <a:r>
                        <a:rPr lang="en-US" sz="1000" b="0" kern="1200" baseline="0" dirty="0" err="1">
                          <a:solidFill>
                            <a:schemeClr val="tx1"/>
                          </a:solidFill>
                          <a:latin typeface="+mn-lt"/>
                          <a:ea typeface="+mn-ea"/>
                          <a:cs typeface="+mn-cs"/>
                        </a:rPr>
                        <a:t>fuelled</a:t>
                      </a:r>
                      <a:r>
                        <a:rPr lang="en-US" sz="1000" b="0" kern="1200" baseline="0" dirty="0">
                          <a:solidFill>
                            <a:schemeClr val="tx1"/>
                          </a:solidFill>
                          <a:latin typeface="+mn-lt"/>
                          <a:ea typeface="+mn-ea"/>
                          <a:cs typeface="+mn-cs"/>
                        </a:rPr>
                        <a:t>. </a:t>
                      </a:r>
                      <a:r>
                        <a:rPr lang="en-US" sz="1000" b="1" kern="1200" baseline="0" dirty="0">
                          <a:solidFill>
                            <a:schemeClr val="tx1"/>
                          </a:solidFill>
                          <a:latin typeface="+mn-lt"/>
                          <a:ea typeface="+mn-ea"/>
                          <a:cs typeface="+mn-cs"/>
                        </a:rPr>
                        <a:t>Suspend gas supply to low efficiency power plants</a:t>
                      </a:r>
                      <a:r>
                        <a:rPr lang="en-US" sz="1000" b="0" kern="1200" baseline="0" dirty="0">
                          <a:solidFill>
                            <a:schemeClr val="tx1"/>
                          </a:solidFill>
                          <a:latin typeface="+mn-lt"/>
                          <a:ea typeface="+mn-ea"/>
                          <a:cs typeface="+mn-cs"/>
                        </a:rPr>
                        <a:t>;</a:t>
                      </a:r>
                    </a:p>
                    <a:p>
                      <a:pPr marL="354013" marR="0" lvl="1" indent="-171450" algn="just" defTabSz="990571" rtl="0" eaLnBrk="1" fontAlgn="auto" latinLnBrk="0" hangingPunct="1">
                        <a:lnSpc>
                          <a:spcPct val="100000"/>
                        </a:lnSpc>
                        <a:spcBef>
                          <a:spcPts val="0"/>
                        </a:spcBef>
                        <a:spcAft>
                          <a:spcPts val="600"/>
                        </a:spcAft>
                        <a:buClrTx/>
                        <a:buSzTx/>
                        <a:buFont typeface="Courier New" panose="02070309020205020404" pitchFamily="49" charset="0"/>
                        <a:buChar char="o"/>
                        <a:tabLst/>
                        <a:defRPr/>
                      </a:pPr>
                      <a:r>
                        <a:rPr lang="en-US" sz="1000" b="0" kern="1200" baseline="0" dirty="0">
                          <a:solidFill>
                            <a:schemeClr val="tx1"/>
                          </a:solidFill>
                          <a:latin typeface="+mn-lt"/>
                          <a:ea typeface="+mn-ea"/>
                          <a:cs typeface="+mn-cs"/>
                        </a:rPr>
                        <a:t>To </a:t>
                      </a:r>
                      <a:r>
                        <a:rPr lang="en-US" sz="1000" b="1" kern="1200" baseline="0" dirty="0">
                          <a:solidFill>
                            <a:schemeClr val="tx1"/>
                          </a:solidFill>
                          <a:latin typeface="+mn-lt"/>
                          <a:ea typeface="+mn-ea"/>
                          <a:cs typeface="+mn-cs"/>
                        </a:rPr>
                        <a:t>reduce gas supply to filling stations</a:t>
                      </a:r>
                      <a:r>
                        <a:rPr lang="en-US" sz="1000" b="0" kern="1200" baseline="0" dirty="0">
                          <a:solidFill>
                            <a:schemeClr val="tx1"/>
                          </a:solidFill>
                          <a:latin typeface="+mn-lt"/>
                          <a:ea typeface="+mn-ea"/>
                          <a:cs typeface="+mn-cs"/>
                        </a:rPr>
                        <a:t>, price increases for CNG, and</a:t>
                      </a:r>
                    </a:p>
                    <a:p>
                      <a:pPr marL="354013" marR="0" lvl="1" indent="-171450" algn="just" defTabSz="990571" rtl="0" eaLnBrk="1" fontAlgn="auto" latinLnBrk="0" hangingPunct="1">
                        <a:lnSpc>
                          <a:spcPct val="100000"/>
                        </a:lnSpc>
                        <a:spcBef>
                          <a:spcPts val="0"/>
                        </a:spcBef>
                        <a:spcAft>
                          <a:spcPts val="600"/>
                        </a:spcAft>
                        <a:buClrTx/>
                        <a:buSzTx/>
                        <a:buFont typeface="Courier New" panose="02070309020205020404" pitchFamily="49" charset="0"/>
                        <a:buChar char="o"/>
                        <a:tabLst/>
                        <a:defRPr/>
                      </a:pPr>
                      <a:r>
                        <a:rPr lang="en-US" sz="1000" b="0" kern="1200" baseline="0" dirty="0">
                          <a:solidFill>
                            <a:schemeClr val="tx1"/>
                          </a:solidFill>
                          <a:latin typeface="+mn-lt"/>
                          <a:ea typeface="+mn-ea"/>
                          <a:cs typeface="+mn-cs"/>
                        </a:rPr>
                        <a:t>To </a:t>
                      </a:r>
                      <a:r>
                        <a:rPr lang="en-US" sz="1000" b="1" kern="1200" baseline="0" dirty="0">
                          <a:solidFill>
                            <a:schemeClr val="tx1"/>
                          </a:solidFill>
                          <a:latin typeface="+mn-lt"/>
                          <a:ea typeface="+mn-ea"/>
                          <a:cs typeface="+mn-cs"/>
                        </a:rPr>
                        <a:t>reduce gas supply to low-efficiency captive power plants</a:t>
                      </a:r>
                      <a:r>
                        <a:rPr lang="en-US" sz="1000" b="0" kern="1200" baseline="0" dirty="0">
                          <a:solidFill>
                            <a:schemeClr val="tx1"/>
                          </a:solidFill>
                          <a:latin typeface="+mn-lt"/>
                          <a:ea typeface="+mn-ea"/>
                          <a:cs typeface="+mn-cs"/>
                        </a:rPr>
                        <a:t>.</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59" name="Chart 158"/>
          <p:cNvGraphicFramePr/>
          <p:nvPr>
            <p:custDataLst>
              <p:tags r:id="rId5"/>
            </p:custDataLst>
            <p:extLst>
              <p:ext uri="{D42A27DB-BD31-4B8C-83A1-F6EECF244321}">
                <p14:modId xmlns:p14="http://schemas.microsoft.com/office/powerpoint/2010/main" val="3651343342"/>
              </p:ext>
            </p:extLst>
          </p:nvPr>
        </p:nvGraphicFramePr>
        <p:xfrm>
          <a:off x="5441950" y="2724150"/>
          <a:ext cx="3875088" cy="2117725"/>
        </p:xfrm>
        <a:graphic>
          <a:graphicData uri="http://schemas.openxmlformats.org/drawingml/2006/chart">
            <c:chart xmlns:c="http://schemas.openxmlformats.org/drawingml/2006/chart" xmlns:r="http://schemas.openxmlformats.org/officeDocument/2006/relationships" r:id="rId39"/>
          </a:graphicData>
        </a:graphic>
      </p:graphicFrame>
      <p:cxnSp>
        <p:nvCxnSpPr>
          <p:cNvPr id="10" name="Straight Connector 9"/>
          <p:cNvCxnSpPr/>
          <p:nvPr>
            <p:custDataLst>
              <p:tags r:id="rId6"/>
            </p:custDataLst>
          </p:nvPr>
        </p:nvCxnSpPr>
        <p:spPr bwMode="auto">
          <a:xfrm flipH="1">
            <a:off x="6891338" y="4657725"/>
            <a:ext cx="92075" cy="100013"/>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custDataLst>
              <p:tags r:id="rId7"/>
            </p:custDataLst>
          </p:nvPr>
        </p:nvCxnSpPr>
        <p:spPr bwMode="auto">
          <a:xfrm flipH="1">
            <a:off x="8745538" y="4657725"/>
            <a:ext cx="92075" cy="100013"/>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custDataLst>
              <p:tags r:id="rId8"/>
            </p:custDataLst>
          </p:nvPr>
        </p:nvCxnSpPr>
        <p:spPr bwMode="auto">
          <a:xfrm flipH="1">
            <a:off x="6891338" y="4581525"/>
            <a:ext cx="92075" cy="169863"/>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custDataLst>
              <p:tags r:id="rId9"/>
            </p:custDataLst>
          </p:nvPr>
        </p:nvCxnSpPr>
        <p:spPr bwMode="auto">
          <a:xfrm flipH="1">
            <a:off x="8745538" y="4581525"/>
            <a:ext cx="92075" cy="168275"/>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4" name="StandardTextbox"/>
          <p:cNvSpPr>
            <a:spLocks noGrp="1"/>
          </p:cNvSpPr>
          <p:nvPr>
            <p:custDataLst>
              <p:tags r:id="rId10"/>
            </p:custDataLst>
          </p:nvPr>
        </p:nvSpPr>
        <p:spPr bwMode="gray">
          <a:xfrm>
            <a:off x="6983413" y="4581525"/>
            <a:ext cx="1222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D6ED844E-A95C-49E3-A65F-40F2C9DDBDE6}" type="datetime'''''''''''''''''''''''''0'''''''''''''''''''">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1" name="StandardTextbox"/>
          <p:cNvSpPr>
            <a:spLocks noGrp="1"/>
          </p:cNvSpPr>
          <p:nvPr>
            <p:custDataLst>
              <p:tags r:id="rId11"/>
            </p:custDataLst>
          </p:nvPr>
        </p:nvSpPr>
        <p:spPr bwMode="auto">
          <a:xfrm>
            <a:off x="5945188" y="4845050"/>
            <a:ext cx="10128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B888C5F-7065-4EB1-BC61-B9D31585CE33}" type="datetime'''''''FY''''''''''''''''''18 ''''''(P''''re''''-LNG'''''''')'">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FY18 (Pre-LNG)</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68" name="StandardTextbox"/>
          <p:cNvSpPr>
            <a:spLocks noGrp="1"/>
          </p:cNvSpPr>
          <p:nvPr>
            <p:custDataLst>
              <p:tags r:id="rId12"/>
            </p:custDataLst>
          </p:nvPr>
        </p:nvSpPr>
        <p:spPr bwMode="gray">
          <a:xfrm>
            <a:off x="8837613" y="4581525"/>
            <a:ext cx="1222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51ED3DD2-9FAB-4679-BB63-A7E0344206A9}" type="datetime'''''''''''''''''0'''''''''''''''''''''''''''''''">
              <a:rPr lang="en-IN" altLang="en-US" b="0" smtClean="0">
                <a:solidFill>
                  <a:srgbClr val="000000"/>
                </a:solidFill>
                <a:sym typeface="+mn-lt"/>
              </a:rPr>
              <a:pPr lvl="1">
                <a:spcBef>
                  <a:spcPct val="0"/>
                </a:spcBef>
                <a:spcAft>
                  <a:spcPct val="0"/>
                </a:spcAft>
              </a:pPr>
              <a:t>0</a:t>
            </a:fld>
            <a:endParaRPr lang="en-IN" b="0" noProof="0" dirty="0">
              <a:solidFill>
                <a:srgbClr val="000000"/>
              </a:solidFill>
              <a:sym typeface="+mn-lt"/>
            </a:endParaRPr>
          </a:p>
        </p:txBody>
      </p:sp>
      <p:sp>
        <p:nvSpPr>
          <p:cNvPr id="138" name="StandardTextbox"/>
          <p:cNvSpPr>
            <a:spLocks noGrp="1"/>
          </p:cNvSpPr>
          <p:nvPr>
            <p:custDataLst>
              <p:tags r:id="rId13"/>
            </p:custDataLst>
          </p:nvPr>
        </p:nvSpPr>
        <p:spPr bwMode="gray">
          <a:xfrm>
            <a:off x="6134100" y="4632325"/>
            <a:ext cx="122238" cy="152400"/>
          </a:xfrm>
          <a:prstGeom prst="rect">
            <a:avLst/>
          </a:prstGeom>
          <a:solidFill>
            <a:srgbClr val="62B5E5"/>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7A5564B-B5A9-4D49-A6A1-52C09AA97B8F}" type="datetime'''''''''''''''''''''''''''''4'''''''''''''''''''''''''''''''">
              <a:rPr lang="en-IN" altLang="en-US" b="0" smtClean="0">
                <a:solidFill>
                  <a:schemeClr val="bg1"/>
                </a:solidFill>
                <a:sym typeface="+mn-lt"/>
              </a:rPr>
              <a:pPr lvl="1" algn="ctr">
                <a:spcBef>
                  <a:spcPct val="0"/>
                </a:spcBef>
                <a:spcAft>
                  <a:spcPct val="0"/>
                </a:spcAft>
              </a:pPr>
              <a:t>4</a:t>
            </a:fld>
            <a:endParaRPr lang="en-IN" b="0" noProof="0" dirty="0">
              <a:solidFill>
                <a:schemeClr val="bg1"/>
              </a:solidFill>
              <a:sym typeface="+mn-lt"/>
            </a:endParaRPr>
          </a:p>
        </p:txBody>
      </p:sp>
      <p:sp>
        <p:nvSpPr>
          <p:cNvPr id="18" name="StandardTextbox"/>
          <p:cNvSpPr>
            <a:spLocks noGrp="1"/>
          </p:cNvSpPr>
          <p:nvPr>
            <p:custDataLst>
              <p:tags r:id="rId14"/>
            </p:custDataLst>
          </p:nvPr>
        </p:nvSpPr>
        <p:spPr bwMode="gray">
          <a:xfrm>
            <a:off x="8204200" y="2628900"/>
            <a:ext cx="203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F225C712-AB23-499A-B919-A09B43469220}" type="datetime'''''''''9''''5'''''''''''">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95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 name="StandardTextbox"/>
          <p:cNvSpPr>
            <a:spLocks noGrp="1"/>
          </p:cNvSpPr>
          <p:nvPr>
            <p:custDataLst>
              <p:tags r:id="rId15"/>
            </p:custDataLst>
          </p:nvPr>
        </p:nvSpPr>
        <p:spPr bwMode="auto">
          <a:xfrm>
            <a:off x="7475538" y="4845050"/>
            <a:ext cx="16605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E6C51038-71E4-4E96-B45B-6D4A27B5F40D}" type="datetime'''''FY''''20'' ''(P''''''ro''pose''''d'' by ''''''''B''ERC)'''">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FY20 (Proposed by BERC)</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35" name="StandardTextbox"/>
          <p:cNvSpPr>
            <a:spLocks noGrp="1"/>
          </p:cNvSpPr>
          <p:nvPr>
            <p:custDataLst>
              <p:tags r:id="rId16"/>
            </p:custDataLst>
          </p:nvPr>
        </p:nvSpPr>
        <p:spPr bwMode="gray">
          <a:xfrm>
            <a:off x="8504238" y="4522788"/>
            <a:ext cx="122238" cy="152400"/>
          </a:xfrm>
          <a:prstGeom prst="rect">
            <a:avLst/>
          </a:prstGeom>
          <a:solidFill>
            <a:srgbClr val="012169"/>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2FEC723-FCF6-4B5D-9FAA-08609756EC4E}" type="datetime'''5'''''''''''''''''''''''''''''''''''''''''''''''''">
              <a:rPr lang="en-IN" altLang="en-US" b="0" smtClean="0">
                <a:solidFill>
                  <a:schemeClr val="bg1"/>
                </a:solidFill>
                <a:sym typeface="+mn-lt"/>
              </a:rPr>
              <a:pPr lvl="1" algn="ctr">
                <a:spcBef>
                  <a:spcPct val="0"/>
                </a:spcBef>
                <a:spcAft>
                  <a:spcPct val="0"/>
                </a:spcAft>
              </a:pPr>
              <a:t>5</a:t>
            </a:fld>
            <a:endParaRPr lang="en-IN" b="0" noProof="0" dirty="0">
              <a:solidFill>
                <a:schemeClr val="bg1"/>
              </a:solidFill>
              <a:sym typeface="+mn-lt"/>
            </a:endParaRPr>
          </a:p>
        </p:txBody>
      </p:sp>
      <p:sp>
        <p:nvSpPr>
          <p:cNvPr id="17" name="StandardTextbox"/>
          <p:cNvSpPr>
            <a:spLocks noGrp="1"/>
          </p:cNvSpPr>
          <p:nvPr>
            <p:custDataLst>
              <p:tags r:id="rId17"/>
            </p:custDataLst>
          </p:nvPr>
        </p:nvSpPr>
        <p:spPr bwMode="gray">
          <a:xfrm>
            <a:off x="6350000" y="3021013"/>
            <a:ext cx="203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509E1C39-3BF0-41DA-BA1E-F7A41B4428DB}" type="datetime'''''''''''7''''''''''''''''''''6'''''''''''''''">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76</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39" name="StandardTextbox"/>
          <p:cNvSpPr>
            <a:spLocks noGrp="1"/>
          </p:cNvSpPr>
          <p:nvPr>
            <p:custDataLst>
              <p:tags r:id="rId18"/>
            </p:custDataLst>
          </p:nvPr>
        </p:nvSpPr>
        <p:spPr bwMode="gray">
          <a:xfrm>
            <a:off x="6650038" y="4560888"/>
            <a:ext cx="122238" cy="152400"/>
          </a:xfrm>
          <a:prstGeom prst="rect">
            <a:avLst/>
          </a:prstGeom>
          <a:solidFill>
            <a:srgbClr val="012169"/>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7D7FD9D9-8F06-4022-9596-79BECDF605B6}" type="datetime'''''''''''''''''''''''''''''3'''">
              <a:rPr lang="en-IN" altLang="en-US" b="0" smtClean="0">
                <a:solidFill>
                  <a:schemeClr val="bg1"/>
                </a:solidFill>
                <a:sym typeface="+mn-lt"/>
              </a:rPr>
              <a:pPr lvl="1" algn="ctr">
                <a:spcBef>
                  <a:spcPct val="0"/>
                </a:spcBef>
                <a:spcAft>
                  <a:spcPct val="0"/>
                </a:spcAft>
              </a:pPr>
              <a:t>3</a:t>
            </a:fld>
            <a:endParaRPr lang="en-IN" b="0" noProof="0" dirty="0">
              <a:solidFill>
                <a:schemeClr val="bg1"/>
              </a:solidFill>
              <a:sym typeface="+mn-lt"/>
            </a:endParaRPr>
          </a:p>
        </p:txBody>
      </p:sp>
      <p:sp>
        <p:nvSpPr>
          <p:cNvPr id="140" name="StandardTextbox"/>
          <p:cNvSpPr>
            <a:spLocks noGrp="1"/>
          </p:cNvSpPr>
          <p:nvPr>
            <p:custDataLst>
              <p:tags r:id="rId19"/>
            </p:custDataLst>
          </p:nvPr>
        </p:nvSpPr>
        <p:spPr bwMode="gray">
          <a:xfrm>
            <a:off x="7988300" y="4622800"/>
            <a:ext cx="122238" cy="152400"/>
          </a:xfrm>
          <a:prstGeom prst="rect">
            <a:avLst/>
          </a:prstGeom>
          <a:solidFill>
            <a:srgbClr val="62B5E5"/>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001CCA3-E06A-41B6-9714-F31A7CC667BE}" type="datetime'''''''''''''''''''''''''''''''''''''''''''''''''''''4'''">
              <a:rPr lang="en-IN" altLang="en-US" b="0" smtClean="0">
                <a:solidFill>
                  <a:schemeClr val="bg1"/>
                </a:solidFill>
                <a:sym typeface="+mn-lt"/>
              </a:rPr>
              <a:pPr lvl="1" algn="ctr">
                <a:spcBef>
                  <a:spcPct val="0"/>
                </a:spcBef>
                <a:spcAft>
                  <a:spcPct val="0"/>
                </a:spcAft>
              </a:pPr>
              <a:t>4</a:t>
            </a:fld>
            <a:endParaRPr lang="en-IN" b="0" noProof="0" dirty="0">
              <a:solidFill>
                <a:schemeClr val="bg1"/>
              </a:solidFill>
              <a:sym typeface="+mn-lt"/>
            </a:endParaRPr>
          </a:p>
        </p:txBody>
      </p:sp>
      <p:sp>
        <p:nvSpPr>
          <p:cNvPr id="79" name="Rectangle 78"/>
          <p:cNvSpPr/>
          <p:nvPr>
            <p:custDataLst>
              <p:tags r:id="rId20"/>
            </p:custDataLst>
          </p:nvPr>
        </p:nvSpPr>
        <p:spPr bwMode="auto">
          <a:xfrm>
            <a:off x="5641975" y="5122863"/>
            <a:ext cx="179388" cy="133350"/>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87" name="Rectangle 86"/>
          <p:cNvSpPr/>
          <p:nvPr>
            <p:custDataLst>
              <p:tags r:id="rId21"/>
            </p:custDataLst>
          </p:nvPr>
        </p:nvSpPr>
        <p:spPr bwMode="auto">
          <a:xfrm>
            <a:off x="8650288" y="5326063"/>
            <a:ext cx="179388" cy="133350"/>
          </a:xfrm>
          <a:prstGeom prst="rect">
            <a:avLst/>
          </a:prstGeom>
          <a:solidFill>
            <a:srgbClr val="0070C0"/>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 name="Rectangle 20"/>
          <p:cNvSpPr/>
          <p:nvPr>
            <p:custDataLst>
              <p:tags r:id="rId22"/>
            </p:custDataLst>
          </p:nvPr>
        </p:nvSpPr>
        <p:spPr bwMode="auto">
          <a:xfrm>
            <a:off x="7762875" y="5326063"/>
            <a:ext cx="179388" cy="133350"/>
          </a:xfrm>
          <a:prstGeom prst="rect">
            <a:avLst/>
          </a:prstGeom>
          <a:solidFill>
            <a:srgbClr val="62B5E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2" name="Rectangle 11"/>
          <p:cNvSpPr/>
          <p:nvPr>
            <p:custDataLst>
              <p:tags r:id="rId23"/>
            </p:custDataLst>
          </p:nvPr>
        </p:nvSpPr>
        <p:spPr bwMode="auto">
          <a:xfrm>
            <a:off x="6515100" y="5122863"/>
            <a:ext cx="179388" cy="133350"/>
          </a:xfrm>
          <a:prstGeom prst="rect">
            <a:avLst/>
          </a:prstGeom>
          <a:solidFill>
            <a:srgbClr val="75787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 name="Rectangle 5"/>
          <p:cNvSpPr/>
          <p:nvPr>
            <p:custDataLst>
              <p:tags r:id="rId24"/>
            </p:custDataLst>
          </p:nvPr>
        </p:nvSpPr>
        <p:spPr bwMode="auto">
          <a:xfrm>
            <a:off x="6515100" y="5326063"/>
            <a:ext cx="179388" cy="133350"/>
          </a:xfrm>
          <a:prstGeom prst="rect">
            <a:avLst/>
          </a:prstGeom>
          <a:solidFill>
            <a:srgbClr val="0097A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9" name="Rectangle 8"/>
          <p:cNvSpPr/>
          <p:nvPr>
            <p:custDataLst>
              <p:tags r:id="rId25"/>
            </p:custDataLst>
          </p:nvPr>
        </p:nvSpPr>
        <p:spPr bwMode="auto">
          <a:xfrm>
            <a:off x="5641975" y="5326063"/>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9" name="Rectangle 18"/>
          <p:cNvSpPr/>
          <p:nvPr>
            <p:custDataLst>
              <p:tags r:id="rId26"/>
            </p:custDataLst>
          </p:nvPr>
        </p:nvSpPr>
        <p:spPr bwMode="auto">
          <a:xfrm>
            <a:off x="7762875" y="5122863"/>
            <a:ext cx="179388" cy="133350"/>
          </a:xfrm>
          <a:prstGeom prst="rect">
            <a:avLst/>
          </a:prstGeom>
          <a:solidFill>
            <a:srgbClr val="01216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5" name="Rectangle 24"/>
          <p:cNvSpPr/>
          <p:nvPr>
            <p:custDataLst>
              <p:tags r:id="rId27"/>
            </p:custDataLst>
          </p:nvPr>
        </p:nvSpPr>
        <p:spPr bwMode="auto">
          <a:xfrm>
            <a:off x="8650288" y="5122863"/>
            <a:ext cx="179387" cy="133350"/>
          </a:xfrm>
          <a:prstGeom prst="rect">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0" name="StandardTextbox"/>
          <p:cNvSpPr>
            <a:spLocks noGrp="1"/>
          </p:cNvSpPr>
          <p:nvPr>
            <p:custDataLst>
              <p:tags r:id="rId28"/>
            </p:custDataLst>
          </p:nvPr>
        </p:nvSpPr>
        <p:spPr bwMode="auto">
          <a:xfrm>
            <a:off x="8880475" y="5321300"/>
            <a:ext cx="720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AA0DCB3F-226E-4225-B7E2-392177237A42}" type="datetime'''T''''ea ''g''''''ar''d''''''''''''''en'''''''''''''''''">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Tea garden</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4" name="StandardTextbox"/>
          <p:cNvSpPr>
            <a:spLocks noGrp="1"/>
          </p:cNvSpPr>
          <p:nvPr>
            <p:custDataLst>
              <p:tags r:id="rId29"/>
            </p:custDataLst>
          </p:nvPr>
        </p:nvSpPr>
        <p:spPr bwMode="auto">
          <a:xfrm>
            <a:off x="5872163" y="5118100"/>
            <a:ext cx="3873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9F536A72-3ACA-4BE8-9EF3-3AFC4704F355}" type="datetime'''''''''''''''''''''''P''''''''ow''''''''''''er'">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Power</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42" name="StandardTextbox"/>
          <p:cNvSpPr>
            <a:spLocks noGrp="1"/>
          </p:cNvSpPr>
          <p:nvPr>
            <p:custDataLst>
              <p:tags r:id="rId30"/>
            </p:custDataLst>
          </p:nvPr>
        </p:nvSpPr>
        <p:spPr bwMode="auto">
          <a:xfrm>
            <a:off x="8880474" y="5118100"/>
            <a:ext cx="7572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46B9DA9C-5ACF-4348-B201-C804AF5B38D7}" type="datetime'''''''Co''''''mm''e''''r''''''c''''''''''ia''''l'''''''">
              <a:rPr lang="en-IN" altLang="en-US" b="0" smtClean="0">
                <a:solidFill>
                  <a:srgbClr val="000000"/>
                </a:solidFill>
              </a:rPr>
              <a:pPr lvl="1">
                <a:spcBef>
                  <a:spcPct val="0"/>
                </a:spcBef>
                <a:spcAft>
                  <a:spcPct val="0"/>
                </a:spcAft>
                <a:defRPr/>
              </a:pPr>
              <a:t>Commercial</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28" name="StandardTextbox"/>
          <p:cNvSpPr>
            <a:spLocks noGrp="1"/>
          </p:cNvSpPr>
          <p:nvPr>
            <p:custDataLst>
              <p:tags r:id="rId31"/>
            </p:custDataLst>
          </p:nvPr>
        </p:nvSpPr>
        <p:spPr bwMode="auto">
          <a:xfrm>
            <a:off x="6745288" y="5321300"/>
            <a:ext cx="5953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49F16344-68F9-40B6-B00E-6CC83280ADD7}" type="datetime'D''''''''''''''''om''e''''''''''''''s''''''''t''i''c'''''">
              <a:rPr lang="en-IN" altLang="en-US" b="0" smtClean="0">
                <a:solidFill>
                  <a:srgbClr val="000000"/>
                </a:solidFill>
              </a:rPr>
              <a:pPr lvl="1">
                <a:spcBef>
                  <a:spcPct val="0"/>
                </a:spcBef>
                <a:spcAft>
                  <a:spcPct val="0"/>
                </a:spcAft>
                <a:defRPr/>
              </a:pPr>
              <a:t>Domestic</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30" name="StandardTextbox"/>
          <p:cNvSpPr>
            <a:spLocks noGrp="1"/>
          </p:cNvSpPr>
          <p:nvPr>
            <p:custDataLst>
              <p:tags r:id="rId32"/>
            </p:custDataLst>
          </p:nvPr>
        </p:nvSpPr>
        <p:spPr bwMode="auto">
          <a:xfrm>
            <a:off x="5872163" y="5321300"/>
            <a:ext cx="5413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FD948646-849F-49CC-BA9D-8F38F0DE058B}" type="datetime'''''I''''''''''''''''''n''''d''''''''u''''''''''''s''t''''ry'">
              <a:rPr lang="en-IN" altLang="en-US" b="0" smtClean="0">
                <a:solidFill>
                  <a:srgbClr val="000000"/>
                </a:solidFill>
              </a:rPr>
              <a:pPr lvl="1">
                <a:spcBef>
                  <a:spcPct val="0"/>
                </a:spcBef>
                <a:spcAft>
                  <a:spcPct val="0"/>
                </a:spcAft>
                <a:defRPr/>
              </a:pPr>
              <a:t>Industry</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32" name="StandardTextbox"/>
          <p:cNvSpPr>
            <a:spLocks noGrp="1"/>
          </p:cNvSpPr>
          <p:nvPr>
            <p:custDataLst>
              <p:tags r:id="rId33"/>
            </p:custDataLst>
          </p:nvPr>
        </p:nvSpPr>
        <p:spPr bwMode="auto">
          <a:xfrm>
            <a:off x="6745288" y="5118100"/>
            <a:ext cx="9159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9D053047-1B32-4F2F-AB31-38A13D078A47}" type="datetime'''''''''Ca''pt''i''''v''''''''''''''''''''e'' ''''p''o''wer'">
              <a:rPr lang="en-IN" altLang="en-US" b="0" smtClean="0">
                <a:solidFill>
                  <a:srgbClr val="000000"/>
                </a:solidFill>
              </a:rPr>
              <a:pPr lvl="1">
                <a:spcBef>
                  <a:spcPct val="0"/>
                </a:spcBef>
                <a:spcAft>
                  <a:spcPct val="0"/>
                </a:spcAft>
                <a:defRPr/>
              </a:pPr>
              <a:t>Captive power</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34" name="StandardTextbox"/>
          <p:cNvSpPr>
            <a:spLocks noGrp="1"/>
          </p:cNvSpPr>
          <p:nvPr>
            <p:custDataLst>
              <p:tags r:id="rId34"/>
            </p:custDataLst>
          </p:nvPr>
        </p:nvSpPr>
        <p:spPr bwMode="auto">
          <a:xfrm>
            <a:off x="7993063" y="5118100"/>
            <a:ext cx="5556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23D42296-2998-40FD-961A-E963B56885D9}" type="datetime'F''e''''''r''''t''''''il''i''z''''''''''''''''''er'''''">
              <a:rPr lang="en-IN" altLang="en-US" b="0" smtClean="0">
                <a:solidFill>
                  <a:srgbClr val="000000"/>
                </a:solidFill>
              </a:rPr>
              <a:pPr lvl="1">
                <a:spcBef>
                  <a:spcPct val="0"/>
                </a:spcBef>
                <a:spcAft>
                  <a:spcPct val="0"/>
                </a:spcAft>
                <a:defRPr/>
              </a:pPr>
              <a:t>Fertilizer</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37" name="StandardTextbox"/>
          <p:cNvSpPr>
            <a:spLocks noGrp="1"/>
          </p:cNvSpPr>
          <p:nvPr>
            <p:custDataLst>
              <p:tags r:id="rId35"/>
            </p:custDataLst>
          </p:nvPr>
        </p:nvSpPr>
        <p:spPr bwMode="auto">
          <a:xfrm>
            <a:off x="7993063" y="5321300"/>
            <a:ext cx="28257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58F1EA64-E531-4A63-95D5-649D58907D97}" type="datetime'''''''''''CN''''''''''''''''''''''''''''''''''G'''''''''">
              <a:rPr lang="en-IN" altLang="en-US" b="0" smtClean="0">
                <a:solidFill>
                  <a:srgbClr val="000000"/>
                </a:solidFill>
              </a:rPr>
              <a:pPr lvl="1">
                <a:spcBef>
                  <a:spcPct val="0"/>
                </a:spcBef>
                <a:spcAft>
                  <a:spcPct val="0"/>
                </a:spcAft>
                <a:defRPr/>
              </a:pPr>
              <a:t>CNG</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93" name="Rectangle 92"/>
          <p:cNvSpPr/>
          <p:nvPr/>
        </p:nvSpPr>
        <p:spPr bwMode="gray">
          <a:xfrm>
            <a:off x="9401364" y="2677103"/>
            <a:ext cx="684000" cy="198000"/>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+8.6</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94" name="Rectangle 93"/>
          <p:cNvSpPr/>
          <p:nvPr/>
        </p:nvSpPr>
        <p:spPr bwMode="gray">
          <a:xfrm>
            <a:off x="9399006" y="2906956"/>
            <a:ext cx="684000" cy="19800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+3.1</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95" name="Rectangle 94"/>
          <p:cNvSpPr/>
          <p:nvPr/>
        </p:nvSpPr>
        <p:spPr bwMode="gray">
          <a:xfrm>
            <a:off x="9393310" y="3155118"/>
            <a:ext cx="684000" cy="198000"/>
          </a:xfrm>
          <a:prstGeom prst="rect">
            <a:avLst/>
          </a:prstGeom>
          <a:solidFill>
            <a:srgbClr val="75787B"/>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+3.4</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96" name="Rectangle 95"/>
          <p:cNvSpPr/>
          <p:nvPr/>
        </p:nvSpPr>
        <p:spPr bwMode="gray">
          <a:xfrm>
            <a:off x="9391627" y="3393821"/>
            <a:ext cx="684000" cy="198000"/>
          </a:xfrm>
          <a:prstGeom prst="rect">
            <a:avLst/>
          </a:prstGeom>
          <a:solidFill>
            <a:srgbClr val="0097A9"/>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lang="en-US" sz="900" b="1" dirty="0">
                <a:solidFill>
                  <a:prstClr val="white"/>
                </a:solidFill>
                <a:latin typeface="Verdana"/>
              </a:rPr>
              <a:t>+</a:t>
            </a:r>
            <a:r>
              <a:rPr kumimoji="0" lang="en-US" sz="900" b="1" i="0" u="none" strike="noStrike" kern="1200" cap="none" spc="0" normalizeH="0" baseline="0" noProof="0" dirty="0">
                <a:ln>
                  <a:noFill/>
                </a:ln>
                <a:solidFill>
                  <a:prstClr val="white"/>
                </a:solidFill>
                <a:effectLst/>
                <a:uLnTx/>
                <a:uFillTx/>
                <a:latin typeface="Verdana"/>
                <a:ea typeface="+mn-ea"/>
                <a:cs typeface="+mn-cs"/>
              </a:rPr>
              <a:t>1.1</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97" name="Rectangle 96"/>
          <p:cNvSpPr/>
          <p:nvPr/>
        </p:nvSpPr>
        <p:spPr bwMode="gray">
          <a:xfrm>
            <a:off x="9391627" y="3659934"/>
            <a:ext cx="684000" cy="198000"/>
          </a:xfrm>
          <a:prstGeom prst="rect">
            <a:avLst/>
          </a:prstGeom>
          <a:solidFill>
            <a:srgbClr val="012169"/>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+2.1</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1" name="Rectangle 100"/>
          <p:cNvSpPr/>
          <p:nvPr/>
        </p:nvSpPr>
        <p:spPr bwMode="gray">
          <a:xfrm>
            <a:off x="9234326" y="2355048"/>
            <a:ext cx="992188" cy="323850"/>
          </a:xfrm>
          <a:prstGeom prst="rect">
            <a:avLst/>
          </a:prstGeom>
          <a:no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1" i="1" u="none" strike="noStrike" kern="1200" cap="none" spc="0" normalizeH="0" baseline="0" noProof="0" dirty="0">
                <a:ln>
                  <a:noFill/>
                </a:ln>
                <a:solidFill>
                  <a:prstClr val="black"/>
                </a:solidFill>
                <a:effectLst/>
                <a:uLnTx/>
                <a:uFillTx/>
                <a:latin typeface="Verdana"/>
                <a:ea typeface="+mn-ea"/>
                <a:cs typeface="+mn-cs"/>
              </a:rPr>
              <a:t>Change in Allocation</a:t>
            </a:r>
            <a:endParaRPr kumimoji="0" lang="en-IN" sz="1000" b="1" i="1" u="none" strike="noStrike" kern="1200" cap="none" spc="0" normalizeH="0" baseline="0" noProof="0" dirty="0">
              <a:ln>
                <a:noFill/>
              </a:ln>
              <a:solidFill>
                <a:prstClr val="black"/>
              </a:solidFill>
              <a:effectLst/>
              <a:uLnTx/>
              <a:uFillTx/>
              <a:latin typeface="Verdana"/>
              <a:ea typeface="+mn-ea"/>
              <a:cs typeface="+mn-cs"/>
            </a:endParaRPr>
          </a:p>
        </p:txBody>
      </p:sp>
      <p:sp>
        <p:nvSpPr>
          <p:cNvPr id="102" name="Rectangle 101"/>
          <p:cNvSpPr/>
          <p:nvPr/>
        </p:nvSpPr>
        <p:spPr bwMode="gray">
          <a:xfrm>
            <a:off x="9391627" y="3917290"/>
            <a:ext cx="684000" cy="198000"/>
          </a:xfrm>
          <a:prstGeom prst="rect">
            <a:avLst/>
          </a:prstGeom>
          <a:solidFill>
            <a:srgbClr val="62B5E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+0.7</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3" name="Rectangle 102"/>
          <p:cNvSpPr/>
          <p:nvPr/>
        </p:nvSpPr>
        <p:spPr bwMode="gray">
          <a:xfrm>
            <a:off x="9391574" y="4170201"/>
            <a:ext cx="684000" cy="198000"/>
          </a:xfrm>
          <a:prstGeom prst="rect">
            <a:avLst/>
          </a:prstGeom>
          <a:solidFill>
            <a:srgbClr val="00B050"/>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+0.1</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7" name="Rectangle 106"/>
          <p:cNvSpPr/>
          <p:nvPr/>
        </p:nvSpPr>
        <p:spPr bwMode="gray">
          <a:xfrm>
            <a:off x="9391574" y="4408904"/>
            <a:ext cx="684000" cy="198000"/>
          </a:xfrm>
          <a:prstGeom prst="rect">
            <a:avLst/>
          </a:prstGeom>
          <a:solidFill>
            <a:srgbClr val="0070C0"/>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a:t>
            </a:r>
            <a:r>
              <a:rPr lang="en-US" sz="900" b="1" dirty="0">
                <a:solidFill>
                  <a:prstClr val="white"/>
                </a:solidFill>
                <a:latin typeface="Verdana"/>
              </a:rPr>
              <a:t>0.01</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8" name="Rectangle 107"/>
          <p:cNvSpPr/>
          <p:nvPr/>
        </p:nvSpPr>
        <p:spPr bwMode="gray">
          <a:xfrm>
            <a:off x="9388420" y="4637901"/>
            <a:ext cx="684000" cy="198000"/>
          </a:xfrm>
          <a:prstGeom prst="rect">
            <a:avLst/>
          </a:prstGeom>
          <a:solidFill>
            <a:schemeClr val="tx1"/>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=+19.1</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9" name="Rectangle 108"/>
          <p:cNvSpPr/>
          <p:nvPr/>
        </p:nvSpPr>
        <p:spPr bwMode="gray">
          <a:xfrm>
            <a:off x="8955882" y="4888722"/>
            <a:ext cx="1701800" cy="323850"/>
          </a:xfrm>
          <a:prstGeom prst="rect">
            <a:avLst/>
          </a:prstGeom>
          <a:no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1" i="1" u="none" strike="noStrike" kern="1200" cap="none" spc="0" normalizeH="0" baseline="0" noProof="0" dirty="0">
                <a:ln>
                  <a:noFill/>
                </a:ln>
                <a:solidFill>
                  <a:prstClr val="black"/>
                </a:solidFill>
                <a:effectLst/>
                <a:uLnTx/>
                <a:uFillTx/>
                <a:latin typeface="Verdana"/>
                <a:ea typeface="+mn-ea"/>
                <a:cs typeface="+mn-cs"/>
              </a:rPr>
              <a:t>Total Increase in Supply</a:t>
            </a:r>
            <a:endParaRPr kumimoji="0" lang="en-IN" sz="1000" b="1" i="1" u="none" strike="noStrike" kern="1200" cap="none" spc="0" normalizeH="0" baseline="0" noProof="0" dirty="0">
              <a:ln>
                <a:noFill/>
              </a:ln>
              <a:solidFill>
                <a:prstClr val="black"/>
              </a:solidFill>
              <a:effectLst/>
              <a:uLnTx/>
              <a:uFillTx/>
              <a:latin typeface="Verdana"/>
              <a:ea typeface="+mn-ea"/>
              <a:cs typeface="+mn-cs"/>
            </a:endParaRPr>
          </a:p>
        </p:txBody>
      </p:sp>
      <p:sp>
        <p:nvSpPr>
          <p:cNvPr id="55" name="Rectangle 54"/>
          <p:cNvSpPr/>
          <p:nvPr/>
        </p:nvSpPr>
        <p:spPr bwMode="gray">
          <a:xfrm>
            <a:off x="377226" y="7260739"/>
            <a:ext cx="3211794" cy="24287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BERC, GSMP, 2017, Industry Reports, Deloitte Analysis</a:t>
            </a:r>
          </a:p>
        </p:txBody>
      </p:sp>
      <p:graphicFrame>
        <p:nvGraphicFramePr>
          <p:cNvPr id="5" name="Table 4"/>
          <p:cNvGraphicFramePr>
            <a:graphicFrameLocks noGrp="1"/>
          </p:cNvGraphicFramePr>
          <p:nvPr>
            <p:extLst>
              <p:ext uri="{D42A27DB-BD31-4B8C-83A1-F6EECF244321}">
                <p14:modId xmlns:p14="http://schemas.microsoft.com/office/powerpoint/2010/main" val="2631158501"/>
              </p:ext>
            </p:extLst>
          </p:nvPr>
        </p:nvGraphicFramePr>
        <p:xfrm>
          <a:off x="5641975" y="6092826"/>
          <a:ext cx="4765676" cy="1006353"/>
        </p:xfrm>
        <a:graphic>
          <a:graphicData uri="http://schemas.openxmlformats.org/drawingml/2006/table">
            <a:tbl>
              <a:tblPr firstRow="1" bandRow="1">
                <a:tableStyleId>{5C22544A-7EE6-4342-B048-85BDC9FD1C3A}</a:tableStyleId>
              </a:tblPr>
              <a:tblGrid>
                <a:gridCol w="1191419">
                  <a:extLst>
                    <a:ext uri="{9D8B030D-6E8A-4147-A177-3AD203B41FA5}">
                      <a16:colId xmlns:a16="http://schemas.microsoft.com/office/drawing/2014/main" val="3251373885"/>
                    </a:ext>
                  </a:extLst>
                </a:gridCol>
                <a:gridCol w="1191419">
                  <a:extLst>
                    <a:ext uri="{9D8B030D-6E8A-4147-A177-3AD203B41FA5}">
                      <a16:colId xmlns:a16="http://schemas.microsoft.com/office/drawing/2014/main" val="4284561107"/>
                    </a:ext>
                  </a:extLst>
                </a:gridCol>
                <a:gridCol w="1191419">
                  <a:extLst>
                    <a:ext uri="{9D8B030D-6E8A-4147-A177-3AD203B41FA5}">
                      <a16:colId xmlns:a16="http://schemas.microsoft.com/office/drawing/2014/main" val="128065296"/>
                    </a:ext>
                  </a:extLst>
                </a:gridCol>
                <a:gridCol w="1191419">
                  <a:extLst>
                    <a:ext uri="{9D8B030D-6E8A-4147-A177-3AD203B41FA5}">
                      <a16:colId xmlns:a16="http://schemas.microsoft.com/office/drawing/2014/main" val="2169314792"/>
                    </a:ext>
                  </a:extLst>
                </a:gridCol>
              </a:tblGrid>
              <a:tr h="194621">
                <a:tc>
                  <a:txBody>
                    <a:bodyPr/>
                    <a:lstStyle/>
                    <a:p>
                      <a:pPr algn="ctr"/>
                      <a:r>
                        <a:rPr lang="en-US" sz="900" dirty="0">
                          <a:solidFill>
                            <a:schemeClr val="tx1"/>
                          </a:solidFill>
                        </a:rPr>
                        <a:t>1</a:t>
                      </a:r>
                      <a:endParaRPr lang="en-IN" sz="90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900" dirty="0">
                          <a:solidFill>
                            <a:schemeClr val="tx1"/>
                          </a:solidFill>
                        </a:rPr>
                        <a:t>2</a:t>
                      </a:r>
                      <a:endParaRPr lang="en-IN" sz="90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algn="ctr"/>
                      <a:r>
                        <a:rPr lang="en-US" sz="900" dirty="0">
                          <a:solidFill>
                            <a:schemeClr val="tx1"/>
                          </a:solidFill>
                        </a:rPr>
                        <a:t>3 (Joint)</a:t>
                      </a:r>
                      <a:endParaRPr lang="en-IN" sz="90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en-IN" sz="1100" dirty="0">
                        <a:solidFill>
                          <a:schemeClr val="tx1"/>
                        </a:solidFill>
                      </a:endParaRPr>
                    </a:p>
                  </a:txBody>
                  <a:tcPr>
                    <a:noFill/>
                  </a:tcPr>
                </a:tc>
                <a:extLst>
                  <a:ext uri="{0D108BD9-81ED-4DB2-BD59-A6C34878D82A}">
                    <a16:rowId xmlns:a16="http://schemas.microsoft.com/office/drawing/2014/main" val="2590828092"/>
                  </a:ext>
                </a:extLst>
              </a:tr>
              <a:tr h="194621">
                <a:tc>
                  <a:txBody>
                    <a:bodyPr/>
                    <a:lstStyle/>
                    <a:p>
                      <a:r>
                        <a:rPr lang="en-US" sz="900" b="1" dirty="0">
                          <a:solidFill>
                            <a:schemeClr val="bg1"/>
                          </a:solidFill>
                        </a:rPr>
                        <a:t>Fertilizer</a:t>
                      </a:r>
                      <a:endParaRPr lang="en-IN" sz="900" b="1" dirty="0">
                        <a:solidFill>
                          <a:schemeClr val="bg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12169"/>
                    </a:solidFill>
                  </a:tcPr>
                </a:tc>
                <a:tc>
                  <a:txBody>
                    <a:bodyPr/>
                    <a:lstStyle/>
                    <a:p>
                      <a:r>
                        <a:rPr lang="en-US" sz="900" b="1" dirty="0">
                          <a:solidFill>
                            <a:schemeClr val="bg1"/>
                          </a:solidFill>
                        </a:rPr>
                        <a:t>Power</a:t>
                      </a:r>
                      <a:endParaRPr lang="en-IN" sz="900" b="1" dirty="0">
                        <a:solidFill>
                          <a:schemeClr val="bg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46A38"/>
                    </a:solidFill>
                  </a:tcPr>
                </a:tc>
                <a:tc>
                  <a:txBody>
                    <a:bodyPr/>
                    <a:lstStyle/>
                    <a:p>
                      <a:r>
                        <a:rPr lang="en-US" sz="900" b="1" dirty="0">
                          <a:solidFill>
                            <a:schemeClr val="bg1"/>
                          </a:solidFill>
                        </a:rPr>
                        <a:t>Industry</a:t>
                      </a:r>
                      <a:endParaRPr lang="en-IN" sz="900" b="1" dirty="0">
                        <a:solidFill>
                          <a:schemeClr val="bg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86BC25"/>
                    </a:solidFill>
                  </a:tcPr>
                </a:tc>
                <a:tc>
                  <a:txBody>
                    <a:bodyPr/>
                    <a:lstStyle/>
                    <a:p>
                      <a:r>
                        <a:rPr lang="en-US" sz="900" b="1" dirty="0">
                          <a:solidFill>
                            <a:schemeClr val="bg1"/>
                          </a:solidFill>
                        </a:rPr>
                        <a:t>Tea Garden</a:t>
                      </a:r>
                      <a:endParaRPr lang="en-IN" sz="900" b="1" dirty="0">
                        <a:solidFill>
                          <a:schemeClr val="bg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extLst>
                  <a:ext uri="{0D108BD9-81ED-4DB2-BD59-A6C34878D82A}">
                    <a16:rowId xmlns:a16="http://schemas.microsoft.com/office/drawing/2014/main" val="3134965734"/>
                  </a:ext>
                </a:extLst>
              </a:tr>
              <a:tr h="320553">
                <a:tc>
                  <a:txBody>
                    <a:bodyPr/>
                    <a:lstStyle/>
                    <a:p>
                      <a:r>
                        <a:rPr lang="en-US" sz="900" b="1" dirty="0">
                          <a:solidFill>
                            <a:schemeClr val="bg1"/>
                          </a:solidFill>
                        </a:rPr>
                        <a:t>Captive Power</a:t>
                      </a:r>
                      <a:endParaRPr lang="en-IN" sz="900" b="1" dirty="0">
                        <a:solidFill>
                          <a:schemeClr val="bg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75787B"/>
                    </a:solidFill>
                  </a:tcPr>
                </a:tc>
                <a:tc>
                  <a:txBody>
                    <a:bodyPr/>
                    <a:lstStyle/>
                    <a:p>
                      <a:r>
                        <a:rPr lang="en-US" sz="900" b="1" dirty="0">
                          <a:solidFill>
                            <a:schemeClr val="bg1"/>
                          </a:solidFill>
                        </a:rPr>
                        <a:t>Residential</a:t>
                      </a:r>
                      <a:endParaRPr lang="en-IN" sz="900" b="1" dirty="0">
                        <a:solidFill>
                          <a:schemeClr val="bg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97A9"/>
                    </a:solidFill>
                  </a:tcPr>
                </a:tc>
                <a:tc>
                  <a:txBody>
                    <a:bodyPr/>
                    <a:lstStyle/>
                    <a:p>
                      <a:r>
                        <a:rPr lang="en-US" sz="900" b="1" dirty="0">
                          <a:solidFill>
                            <a:schemeClr val="bg1"/>
                          </a:solidFill>
                        </a:rPr>
                        <a:t>Commercial</a:t>
                      </a:r>
                      <a:endParaRPr lang="en-IN" sz="900" b="1" dirty="0">
                        <a:solidFill>
                          <a:schemeClr val="bg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46A38"/>
                    </a:solidFill>
                  </a:tcPr>
                </a:tc>
                <a:tc>
                  <a:txBody>
                    <a:bodyPr/>
                    <a:lstStyle/>
                    <a:p>
                      <a:r>
                        <a:rPr lang="en-US" sz="900" b="1" dirty="0">
                          <a:solidFill>
                            <a:schemeClr val="bg1"/>
                          </a:solidFill>
                        </a:rPr>
                        <a:t>CNG</a:t>
                      </a:r>
                      <a:endParaRPr lang="en-IN" sz="900" b="1" dirty="0">
                        <a:solidFill>
                          <a:schemeClr val="bg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62B5E5"/>
                    </a:solidFill>
                  </a:tcPr>
                </a:tc>
                <a:extLst>
                  <a:ext uri="{0D108BD9-81ED-4DB2-BD59-A6C34878D82A}">
                    <a16:rowId xmlns:a16="http://schemas.microsoft.com/office/drawing/2014/main" val="1091441262"/>
                  </a:ext>
                </a:extLst>
              </a:tr>
              <a:tr h="194621">
                <a:tc>
                  <a:txBody>
                    <a:bodyPr/>
                    <a:lstStyle/>
                    <a:p>
                      <a:pPr algn="ctr"/>
                      <a:r>
                        <a:rPr lang="en-US" sz="900" b="1" dirty="0"/>
                        <a:t>4</a:t>
                      </a:r>
                      <a:endParaRPr lang="en-IN" sz="900" b="1"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algn="ctr"/>
                      <a:r>
                        <a:rPr lang="en-US" sz="900" b="1" dirty="0"/>
                        <a:t>5 (Joint)</a:t>
                      </a:r>
                      <a:endParaRPr lang="en-IN" sz="900" b="1"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en-IN" sz="1100" dirty="0"/>
                    </a:p>
                  </a:txBody>
                  <a:tcPr>
                    <a:noFill/>
                  </a:tcPr>
                </a:tc>
                <a:tc>
                  <a:txBody>
                    <a:bodyPr/>
                    <a:lstStyle/>
                    <a:p>
                      <a:pPr algn="ctr"/>
                      <a:r>
                        <a:rPr lang="en-US" sz="900" b="1" dirty="0"/>
                        <a:t>6</a:t>
                      </a:r>
                      <a:endParaRPr lang="en-IN" sz="900" b="1"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80381756"/>
                  </a:ext>
                </a:extLst>
              </a:tr>
            </a:tbl>
          </a:graphicData>
        </a:graphic>
      </p:graphicFrame>
    </p:spTree>
    <p:extLst>
      <p:ext uri="{BB962C8B-B14F-4D97-AF65-F5344CB8AC3E}">
        <p14:creationId xmlns:p14="http://schemas.microsoft.com/office/powerpoint/2010/main" val="1487960850"/>
      </p:ext>
    </p:extLst>
  </p:cSld>
  <p:clrMapOvr>
    <a:masterClrMapping/>
  </p:clrMapOvr>
  <p:transition>
    <p:fade/>
  </p:transition>
</p:sld>
</file>

<file path=ppt/slides/slide40.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341383504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95000"/>
              </a:lnSpc>
              <a:spcBef>
                <a:spcPct val="0"/>
              </a:spcBef>
              <a:spcAft>
                <a:spcPct val="0"/>
              </a:spcAft>
              <a:buFont typeface="Wingdings 2" pitchFamily="18" charset="2"/>
              <a:buNone/>
              <a:defRPr/>
            </a:pPr>
            <a:endParaRPr kumimoji="0" lang="en-US" sz="3898" b="1" u="none" strike="noStrike" kern="1200" cap="none" spc="0" normalizeH="0" noProof="0" dirty="0">
              <a:ln>
                <a:noFill/>
              </a:ln>
              <a:solidFill>
                <a:prstClr val="white"/>
              </a:solidFill>
              <a:effectLst/>
              <a:uLnTx/>
              <a:uFillTx/>
              <a:latin typeface="Verdana" panose="020B0604030504040204" pitchFamily="34" charset="0"/>
              <a:ea typeface="Open Sans" panose="020B0606030504020204" pitchFamily="34" charset="0"/>
              <a:cs typeface="Open Sans" panose="020B0606030504020204" pitchFamily="34" charset="0"/>
              <a:sym typeface="Verdana" panose="020B0604030504040204" pitchFamily="34" charset="0"/>
            </a:endParaRPr>
          </a:p>
        </p:txBody>
      </p:sp>
      <p:sp>
        <p:nvSpPr>
          <p:cNvPr id="2" name="Title 1"/>
          <p:cNvSpPr>
            <a:spLocks noGrp="1"/>
          </p:cNvSpPr>
          <p:nvPr>
            <p:ph type="title"/>
          </p:nvPr>
        </p:nvSpPr>
        <p:spPr/>
        <p:txBody>
          <a:bodyPr/>
          <a:lstStyle/>
          <a:p>
            <a:r>
              <a:rPr lang="en-US" dirty="0"/>
              <a:t>Natural Gas Pricing Assessment</a:t>
            </a:r>
            <a:endParaRPr lang="en-IN" dirty="0"/>
          </a:p>
        </p:txBody>
      </p:sp>
    </p:spTree>
    <p:extLst>
      <p:ext uri="{BB962C8B-B14F-4D97-AF65-F5344CB8AC3E}">
        <p14:creationId xmlns:p14="http://schemas.microsoft.com/office/powerpoint/2010/main" val="175079721"/>
      </p:ext>
    </p:extLst>
  </p:cSld>
  <p:clrMapOvr>
    <a:masterClrMapping/>
  </p:clrMapOvr>
  <p:transition>
    <p:fade/>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318331841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7" imgW="530" imgH="531" progId="TCLayout.ActiveDocument.1">
                  <p:embed/>
                </p:oleObj>
              </mc:Choice>
              <mc:Fallback>
                <p:oleObj name="think-cell Slide" r:id="rId17" imgW="530" imgH="531" progId="TCLayout.ActiveDocument.1">
                  <p:embed/>
                  <p:pic>
                    <p:nvPicPr>
                      <p:cNvPr id="4" name="Object 3" hidden="1"/>
                      <p:cNvPicPr/>
                      <p:nvPr/>
                    </p:nvPicPr>
                    <p:blipFill>
                      <a:blip r:embed="rId18"/>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IN" sz="1000" u="none" strike="noStrike" kern="1200" cap="none" spc="0" normalizeH="0" noProof="0" dirty="0">
              <a:ln>
                <a:noFill/>
              </a:ln>
              <a:solidFill>
                <a:prstClr val="white"/>
              </a:solidFill>
              <a:effectLst/>
              <a:uLnTx/>
              <a:uFillTx/>
              <a:sym typeface="+mn-lt"/>
            </a:endParaRPr>
          </a:p>
        </p:txBody>
      </p:sp>
      <p:sp>
        <p:nvSpPr>
          <p:cNvPr id="2" name="Title 1"/>
          <p:cNvSpPr>
            <a:spLocks noGrp="1"/>
          </p:cNvSpPr>
          <p:nvPr>
            <p:ph type="title"/>
          </p:nvPr>
        </p:nvSpPr>
        <p:spPr/>
        <p:txBody>
          <a:bodyPr/>
          <a:lstStyle/>
          <a:p>
            <a:r>
              <a:rPr lang="en-US" dirty="0"/>
              <a:t>Power Market | Natural Gas Supply</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a:defRPr/>
            </a:pPr>
            <a:r>
              <a:rPr lang="en-US" sz="1400" dirty="0">
                <a:solidFill>
                  <a:prstClr val="black">
                    <a:lumMod val="50000"/>
                    <a:lumOff val="50000"/>
                  </a:prstClr>
                </a:solidFill>
                <a:latin typeface="Verdana" panose="020B0604030504040204" pitchFamily="34" charset="0"/>
              </a:rPr>
              <a:t>GoB has opted for a pooled pricing of Domestic Gas and LNG as per BERC tariff order July 2019; currently GoB is subsidizing LNG cost for majority sectors with power having the highest subsidy</a:t>
            </a:r>
          </a:p>
        </p:txBody>
      </p:sp>
      <p:graphicFrame>
        <p:nvGraphicFramePr>
          <p:cNvPr id="79" name="Table 78"/>
          <p:cNvGraphicFramePr>
            <a:graphicFrameLocks noGrp="1"/>
          </p:cNvGraphicFramePr>
          <p:nvPr>
            <p:custDataLst>
              <p:tags r:id="rId3"/>
            </p:custDataLst>
            <p:extLst>
              <p:ext uri="{D42A27DB-BD31-4B8C-83A1-F6EECF244321}">
                <p14:modId xmlns:p14="http://schemas.microsoft.com/office/powerpoint/2010/main" val="343056791"/>
              </p:ext>
            </p:extLst>
          </p:nvPr>
        </p:nvGraphicFramePr>
        <p:xfrm>
          <a:off x="5523845" y="1961919"/>
          <a:ext cx="4732062" cy="4684944"/>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4684944">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table provides the details of the LNG Contracts signed by Bangladesh:</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figure shows the gas prices for power producers in Bangladesh in the last 3 years:</a:t>
                      </a:r>
                    </a:p>
                    <a:p>
                      <a:pPr marL="171450" lvl="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80" name="Table 79"/>
          <p:cNvGraphicFramePr>
            <a:graphicFrameLocks noGrp="1"/>
          </p:cNvGraphicFramePr>
          <p:nvPr>
            <p:custDataLst>
              <p:tags r:id="rId4"/>
            </p:custDataLst>
            <p:extLst>
              <p:ext uri="{D42A27DB-BD31-4B8C-83A1-F6EECF244321}">
                <p14:modId xmlns:p14="http://schemas.microsoft.com/office/powerpoint/2010/main" val="1298785090"/>
              </p:ext>
            </p:extLst>
          </p:nvPr>
        </p:nvGraphicFramePr>
        <p:xfrm>
          <a:off x="449993" y="1961918"/>
          <a:ext cx="4734896" cy="5345673"/>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345673">
                <a:tc>
                  <a:txBody>
                    <a:bodyPr/>
                    <a:lstStyle/>
                    <a:p>
                      <a:pPr marL="0" indent="0" algn="just">
                        <a:spcAft>
                          <a:spcPts val="400"/>
                        </a:spcAft>
                        <a:buFont typeface="Arial" panose="020B0604020202020204" pitchFamily="34" charset="0"/>
                        <a:buNone/>
                      </a:pPr>
                      <a:r>
                        <a:rPr lang="en-US" sz="1000" b="1" baseline="0" dirty="0">
                          <a:solidFill>
                            <a:schemeClr val="tx1"/>
                          </a:solidFill>
                        </a:rPr>
                        <a:t>LNG Prices: </a:t>
                      </a:r>
                    </a:p>
                    <a:p>
                      <a:pPr marL="171450" indent="-171450" algn="just">
                        <a:spcAft>
                          <a:spcPts val="400"/>
                        </a:spcAft>
                        <a:buFont typeface="Arial" panose="020B0604020202020204" pitchFamily="34" charset="0"/>
                        <a:buChar char="•"/>
                      </a:pPr>
                      <a:r>
                        <a:rPr lang="en-US" sz="1000" b="0" baseline="0" dirty="0">
                          <a:solidFill>
                            <a:schemeClr val="tx1"/>
                          </a:solidFill>
                        </a:rPr>
                        <a:t>Bangladesh has so far signed LNG contracts with Qatar, Oman and Petramina (LOI signed) with the total LNG volume under these contracts at 4.5 MTPA</a:t>
                      </a:r>
                    </a:p>
                    <a:p>
                      <a:pPr marL="171450" indent="-171450" algn="just">
                        <a:spcAft>
                          <a:spcPts val="400"/>
                        </a:spcAft>
                        <a:buFont typeface="Arial" panose="020B0604020202020204" pitchFamily="34" charset="0"/>
                        <a:buChar char="•"/>
                      </a:pPr>
                      <a:r>
                        <a:rPr lang="en-US" sz="1000" b="0" baseline="0" dirty="0">
                          <a:solidFill>
                            <a:schemeClr val="tx1"/>
                          </a:solidFill>
                        </a:rPr>
                        <a:t>The long term LNG contracts with Qatar and Oman are crude linked and hence are subject to international movement of crude prices.</a:t>
                      </a:r>
                    </a:p>
                    <a:p>
                      <a:pPr marL="171450" indent="-171450" algn="just">
                        <a:spcAft>
                          <a:spcPts val="400"/>
                        </a:spcAft>
                        <a:buFont typeface="Arial" panose="020B0604020202020204" pitchFamily="34" charset="0"/>
                        <a:buChar char="•"/>
                      </a:pPr>
                      <a:r>
                        <a:rPr lang="en-US" sz="1000" b="0" baseline="0" dirty="0">
                          <a:solidFill>
                            <a:schemeClr val="tx1"/>
                          </a:solidFill>
                        </a:rPr>
                        <a:t>The long term contracts for 4.5 MTPA (7.86 </a:t>
                      </a:r>
                      <a:r>
                        <a:rPr lang="en-US" sz="1000" b="0" baseline="0" dirty="0" err="1">
                          <a:solidFill>
                            <a:schemeClr val="tx1"/>
                          </a:solidFill>
                        </a:rPr>
                        <a:t>mmscmd</a:t>
                      </a:r>
                      <a:r>
                        <a:rPr lang="en-US" sz="1000" b="0" baseline="0" dirty="0">
                          <a:solidFill>
                            <a:schemeClr val="tx1"/>
                          </a:solidFill>
                        </a:rPr>
                        <a:t>) would only be able to supply ~60% of the FSRU capacities with ~3.4 MTPA (~12 mmscmd) of LNG which may need to be procured from Short Term / Spot market.</a:t>
                      </a:r>
                    </a:p>
                    <a:p>
                      <a:pPr marL="171450" indent="-171450" algn="just">
                        <a:spcAft>
                          <a:spcPts val="400"/>
                        </a:spcAft>
                        <a:buFont typeface="Arial" panose="020B0604020202020204" pitchFamily="34" charset="0"/>
                        <a:buChar char="•"/>
                      </a:pPr>
                      <a:r>
                        <a:rPr lang="en-US" sz="1000" b="0" baseline="0" dirty="0">
                          <a:solidFill>
                            <a:schemeClr val="tx1"/>
                          </a:solidFill>
                        </a:rPr>
                        <a:t>The Government had shortlisted 17 players for purchasing ~1 MTPA (~3.6 mmscmd) of Spot LNG in September 2019</a:t>
                      </a:r>
                    </a:p>
                    <a:p>
                      <a:pPr marL="171450" indent="-171450" algn="just">
                        <a:spcAft>
                          <a:spcPts val="400"/>
                        </a:spcAft>
                        <a:buFont typeface="Arial" panose="020B0604020202020204" pitchFamily="34" charset="0"/>
                        <a:buChar char="•"/>
                      </a:pPr>
                      <a:r>
                        <a:rPr lang="en-US" sz="1000" b="0" baseline="0" dirty="0">
                          <a:solidFill>
                            <a:schemeClr val="tx1"/>
                          </a:solidFill>
                        </a:rPr>
                        <a:t>In March 2020, the GoB planned to import the spot cargoes by July end to take price advantage of the lower LNG prices in the spot market</a:t>
                      </a:r>
                    </a:p>
                    <a:p>
                      <a:pPr marL="0" indent="0" algn="just">
                        <a:spcAft>
                          <a:spcPts val="400"/>
                        </a:spcAft>
                        <a:buFont typeface="Arial" panose="020B0604020202020204" pitchFamily="34" charset="0"/>
                        <a:buNone/>
                      </a:pPr>
                      <a:r>
                        <a:rPr lang="en-US" sz="1000" b="1" baseline="0" dirty="0">
                          <a:solidFill>
                            <a:schemeClr val="tx1"/>
                          </a:solidFill>
                        </a:rPr>
                        <a:t>Impact on Gas Prices for Power Sector:</a:t>
                      </a:r>
                    </a:p>
                    <a:p>
                      <a:pPr marL="171450" indent="-171450" algn="just" defTabSz="990571" rtl="0" eaLnBrk="1" latinLnBrk="0" hangingPunct="1">
                        <a:spcAft>
                          <a:spcPts val="400"/>
                        </a:spcAft>
                        <a:buFont typeface="Arial" panose="020B0604020202020204" pitchFamily="34" charset="0"/>
                        <a:buChar char="•"/>
                      </a:pPr>
                      <a:r>
                        <a:rPr lang="en-US" sz="1000" b="0" kern="1200" baseline="0" dirty="0">
                          <a:solidFill>
                            <a:schemeClr val="tx1"/>
                          </a:solidFill>
                          <a:latin typeface="+mn-lt"/>
                          <a:ea typeface="+mn-ea"/>
                          <a:cs typeface="+mn-cs"/>
                        </a:rPr>
                        <a:t>Till June 2019, the natural gas prices for consumer segments were based on the production cost of domestic natural gas</a:t>
                      </a:r>
                    </a:p>
                    <a:p>
                      <a:pPr marL="171450" indent="-171450" algn="just" defTabSz="990571" rtl="0" eaLnBrk="1" latinLnBrk="0" hangingPunct="1">
                        <a:spcAft>
                          <a:spcPts val="400"/>
                        </a:spcAft>
                        <a:buFont typeface="Arial" panose="020B0604020202020204" pitchFamily="34" charset="0"/>
                        <a:buChar char="•"/>
                      </a:pPr>
                      <a:r>
                        <a:rPr lang="en-US" sz="1000" b="0" kern="1200" baseline="0" dirty="0">
                          <a:solidFill>
                            <a:schemeClr val="tx1"/>
                          </a:solidFill>
                          <a:latin typeface="+mn-lt"/>
                          <a:ea typeface="+mn-ea"/>
                          <a:cs typeface="+mn-cs"/>
                        </a:rPr>
                        <a:t>However with the import of LNG, BERC in July 2019 has revised the gas prices for various consumer segments </a:t>
                      </a:r>
                      <a:r>
                        <a:rPr lang="en-US" sz="1000" b="0" kern="1200" baseline="0" dirty="0">
                          <a:solidFill>
                            <a:srgbClr val="FF0000"/>
                          </a:solidFill>
                          <a:latin typeface="+mn-lt"/>
                          <a:ea typeface="+mn-ea"/>
                          <a:cs typeface="+mn-cs"/>
                          <a:hlinkClick r:id="rId19" action="ppaction://hlinksldjump"/>
                        </a:rPr>
                        <a:t>(Refer Appendix)</a:t>
                      </a:r>
                      <a:endParaRPr lang="en-US" sz="1000" b="0" kern="1200" baseline="0" dirty="0">
                        <a:solidFill>
                          <a:srgbClr val="FF0000"/>
                        </a:solidFill>
                        <a:latin typeface="+mn-lt"/>
                        <a:ea typeface="+mn-ea"/>
                        <a:cs typeface="+mn-cs"/>
                      </a:endParaRPr>
                    </a:p>
                    <a:p>
                      <a:pPr marL="171450" indent="-171450" algn="just" defTabSz="990571" rtl="0" eaLnBrk="1" latinLnBrk="0" hangingPunct="1">
                        <a:spcAft>
                          <a:spcPts val="400"/>
                        </a:spcAft>
                        <a:buFont typeface="Arial" panose="020B0604020202020204" pitchFamily="34" charset="0"/>
                        <a:buChar char="•"/>
                      </a:pPr>
                      <a:r>
                        <a:rPr lang="en-US" sz="1000" b="0" kern="1200" baseline="0" dirty="0">
                          <a:solidFill>
                            <a:schemeClr val="tx1"/>
                          </a:solidFill>
                          <a:latin typeface="+mn-lt"/>
                          <a:ea typeface="+mn-ea"/>
                          <a:cs typeface="+mn-cs"/>
                        </a:rPr>
                        <a:t>The graph on the right (below) showcases the movement of gas prices for power producers in Bangladesh</a:t>
                      </a:r>
                    </a:p>
                    <a:p>
                      <a:pPr marL="0" indent="0" algn="ctr" defTabSz="990571" rtl="0" eaLnBrk="1" latinLnBrk="0" hangingPunct="1">
                        <a:spcAft>
                          <a:spcPts val="0"/>
                        </a:spcAft>
                        <a:buFont typeface="Arial" panose="020B0604020202020204" pitchFamily="34" charset="0"/>
                        <a:buNone/>
                      </a:pPr>
                      <a:r>
                        <a:rPr lang="en-US" sz="1400" b="1" i="1" kern="1200" dirty="0">
                          <a:solidFill>
                            <a:srgbClr val="0097A9"/>
                          </a:solidFill>
                          <a:latin typeface="+mn-lt"/>
                          <a:ea typeface="+mn-ea"/>
                          <a:cs typeface="+mn-cs"/>
                        </a:rPr>
                        <a:t>The current gas prices are now pooled with the cost of production of domestic natural gas and imported LNG;</a:t>
                      </a:r>
                      <a:r>
                        <a:rPr lang="en-US" sz="1400" b="1" i="1" kern="1200" baseline="0" dirty="0">
                          <a:solidFill>
                            <a:srgbClr val="0097A9"/>
                          </a:solidFill>
                          <a:latin typeface="+mn-lt"/>
                          <a:ea typeface="+mn-ea"/>
                          <a:cs typeface="+mn-cs"/>
                        </a:rPr>
                        <a:t> H</a:t>
                      </a:r>
                      <a:r>
                        <a:rPr lang="en-US" sz="1400" b="1" i="1" kern="1200" dirty="0">
                          <a:solidFill>
                            <a:srgbClr val="0097A9"/>
                          </a:solidFill>
                          <a:latin typeface="+mn-lt"/>
                          <a:ea typeface="+mn-ea"/>
                          <a:cs typeface="+mn-cs"/>
                        </a:rPr>
                        <a:t>owever it also includes a subsidy component by the Government of Bangladesh</a:t>
                      </a:r>
                    </a:p>
                    <a:p>
                      <a:pPr marL="0" indent="0" algn="ctr" defTabSz="990571" rtl="0" eaLnBrk="1" latinLnBrk="0" hangingPunct="1">
                        <a:spcAft>
                          <a:spcPts val="0"/>
                        </a:spcAft>
                        <a:buFont typeface="Arial" panose="020B0604020202020204" pitchFamily="34" charset="0"/>
                        <a:buNone/>
                      </a:pPr>
                      <a:r>
                        <a:rPr lang="en-US" sz="1000" b="0" kern="1200" baseline="0" dirty="0">
                          <a:solidFill>
                            <a:schemeClr val="tx1"/>
                          </a:solidFill>
                          <a:latin typeface="+mn-lt"/>
                          <a:ea typeface="+mn-ea"/>
                          <a:cs typeface="+mn-cs"/>
                        </a:rPr>
                        <a:t>(Refer </a:t>
                      </a:r>
                      <a:r>
                        <a:rPr lang="en-US" sz="1000" b="0" kern="1200" baseline="0" dirty="0">
                          <a:solidFill>
                            <a:schemeClr val="tx1"/>
                          </a:solidFill>
                          <a:latin typeface="+mn-lt"/>
                          <a:ea typeface="+mn-ea"/>
                          <a:cs typeface="+mn-cs"/>
                          <a:hlinkClick r:id="rId20" action="ppaction://hlinksldjump"/>
                        </a:rPr>
                        <a:t>Appendix</a:t>
                      </a:r>
                      <a:r>
                        <a:rPr lang="en-US" sz="1000" b="0" kern="1200" baseline="0" dirty="0">
                          <a:solidFill>
                            <a:schemeClr val="tx1"/>
                          </a:solidFill>
                          <a:latin typeface="+mn-lt"/>
                          <a:ea typeface="+mn-ea"/>
                          <a:cs typeface="+mn-cs"/>
                        </a:rPr>
                        <a:t> for detailed calculation on the same)</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5" name="Table 4"/>
          <p:cNvGraphicFramePr>
            <a:graphicFrameLocks noGrp="1"/>
          </p:cNvGraphicFramePr>
          <p:nvPr>
            <p:extLst>
              <p:ext uri="{D42A27DB-BD31-4B8C-83A1-F6EECF244321}">
                <p14:modId xmlns:p14="http://schemas.microsoft.com/office/powerpoint/2010/main" val="505636467"/>
              </p:ext>
            </p:extLst>
          </p:nvPr>
        </p:nvGraphicFramePr>
        <p:xfrm>
          <a:off x="5523846" y="2480795"/>
          <a:ext cx="4717120" cy="2137858"/>
        </p:xfrm>
        <a:graphic>
          <a:graphicData uri="http://schemas.openxmlformats.org/drawingml/2006/table">
            <a:tbl>
              <a:tblPr firstRow="1" firstCol="1" bandRow="1">
                <a:tableStyleId>{5A111915-BE36-4E01-A7E5-04B1672EAD32}</a:tableStyleId>
              </a:tblPr>
              <a:tblGrid>
                <a:gridCol w="888384">
                  <a:extLst>
                    <a:ext uri="{9D8B030D-6E8A-4147-A177-3AD203B41FA5}">
                      <a16:colId xmlns:a16="http://schemas.microsoft.com/office/drawing/2014/main" val="3290383493"/>
                    </a:ext>
                  </a:extLst>
                </a:gridCol>
                <a:gridCol w="623052">
                  <a:extLst>
                    <a:ext uri="{9D8B030D-6E8A-4147-A177-3AD203B41FA5}">
                      <a16:colId xmlns:a16="http://schemas.microsoft.com/office/drawing/2014/main" val="3666672495"/>
                    </a:ext>
                  </a:extLst>
                </a:gridCol>
                <a:gridCol w="606489">
                  <a:extLst>
                    <a:ext uri="{9D8B030D-6E8A-4147-A177-3AD203B41FA5}">
                      <a16:colId xmlns:a16="http://schemas.microsoft.com/office/drawing/2014/main" val="1605660941"/>
                    </a:ext>
                  </a:extLst>
                </a:gridCol>
                <a:gridCol w="643813">
                  <a:extLst>
                    <a:ext uri="{9D8B030D-6E8A-4147-A177-3AD203B41FA5}">
                      <a16:colId xmlns:a16="http://schemas.microsoft.com/office/drawing/2014/main" val="2602016893"/>
                    </a:ext>
                  </a:extLst>
                </a:gridCol>
                <a:gridCol w="1955382">
                  <a:extLst>
                    <a:ext uri="{9D8B030D-6E8A-4147-A177-3AD203B41FA5}">
                      <a16:colId xmlns:a16="http://schemas.microsoft.com/office/drawing/2014/main" val="447690441"/>
                    </a:ext>
                  </a:extLst>
                </a:gridCol>
              </a:tblGrid>
              <a:tr h="609835">
                <a:tc>
                  <a:txBody>
                    <a:bodyPr/>
                    <a:lstStyle/>
                    <a:p>
                      <a:pPr algn="ctr">
                        <a:lnSpc>
                          <a:spcPct val="150000"/>
                        </a:lnSpc>
                        <a:spcBef>
                          <a:spcPts val="800"/>
                        </a:spcBef>
                        <a:spcAft>
                          <a:spcPts val="0"/>
                        </a:spcAft>
                      </a:pPr>
                      <a:r>
                        <a:rPr lang="en-IN" sz="900" dirty="0">
                          <a:effectLst/>
                        </a:rPr>
                        <a:t>Supplier</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tc>
                  <a:txBody>
                    <a:bodyPr/>
                    <a:lstStyle/>
                    <a:p>
                      <a:pPr algn="ctr">
                        <a:lnSpc>
                          <a:spcPct val="150000"/>
                        </a:lnSpc>
                        <a:spcBef>
                          <a:spcPts val="800"/>
                        </a:spcBef>
                        <a:spcAft>
                          <a:spcPts val="0"/>
                        </a:spcAft>
                      </a:pPr>
                      <a:r>
                        <a:rPr lang="en-IN" sz="900" dirty="0">
                          <a:effectLst/>
                        </a:rPr>
                        <a:t>Country</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tc>
                  <a:txBody>
                    <a:bodyPr/>
                    <a:lstStyle/>
                    <a:p>
                      <a:pPr algn="ctr">
                        <a:lnSpc>
                          <a:spcPct val="150000"/>
                        </a:lnSpc>
                        <a:spcBef>
                          <a:spcPts val="800"/>
                        </a:spcBef>
                        <a:spcAft>
                          <a:spcPts val="0"/>
                        </a:spcAft>
                      </a:pPr>
                      <a:r>
                        <a:rPr lang="en-IN" sz="900" dirty="0">
                          <a:effectLst/>
                        </a:rPr>
                        <a:t>Capacity (MTPA)</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tc>
                  <a:txBody>
                    <a:bodyPr/>
                    <a:lstStyle/>
                    <a:p>
                      <a:pPr algn="ctr">
                        <a:lnSpc>
                          <a:spcPct val="150000"/>
                        </a:lnSpc>
                        <a:spcBef>
                          <a:spcPts val="800"/>
                        </a:spcBef>
                        <a:spcAft>
                          <a:spcPts val="0"/>
                        </a:spcAft>
                      </a:pPr>
                      <a:r>
                        <a:rPr lang="en-IN" sz="900" dirty="0">
                          <a:effectLst/>
                        </a:rPr>
                        <a:t>Duration (Years)</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tc>
                  <a:txBody>
                    <a:bodyPr/>
                    <a:lstStyle/>
                    <a:p>
                      <a:pPr algn="ctr">
                        <a:lnSpc>
                          <a:spcPct val="150000"/>
                        </a:lnSpc>
                        <a:spcBef>
                          <a:spcPts val="800"/>
                        </a:spcBef>
                        <a:spcAft>
                          <a:spcPts val="0"/>
                        </a:spcAft>
                      </a:pPr>
                      <a:r>
                        <a:rPr lang="en-US" sz="900" dirty="0">
                          <a:effectLst/>
                          <a:latin typeface="Verdana" panose="020B0604030504040204" pitchFamily="34" charset="0"/>
                          <a:ea typeface="Verdana" panose="020B0604030504040204" pitchFamily="34" charset="0"/>
                          <a:cs typeface="Times New Roman" panose="02020603050405020304" pitchFamily="18" charset="0"/>
                        </a:rPr>
                        <a:t>LNG Pricing</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extLst>
                  <a:ext uri="{0D108BD9-81ED-4DB2-BD59-A6C34878D82A}">
                    <a16:rowId xmlns:a16="http://schemas.microsoft.com/office/drawing/2014/main" val="4036299370"/>
                  </a:ext>
                </a:extLst>
              </a:tr>
              <a:tr h="481170">
                <a:tc>
                  <a:txBody>
                    <a:bodyPr/>
                    <a:lstStyle/>
                    <a:p>
                      <a:pPr algn="ctr">
                        <a:lnSpc>
                          <a:spcPct val="150000"/>
                        </a:lnSpc>
                        <a:spcBef>
                          <a:spcPts val="800"/>
                        </a:spcBef>
                        <a:spcAft>
                          <a:spcPts val="0"/>
                        </a:spcAft>
                      </a:pPr>
                      <a:r>
                        <a:rPr lang="en-IN" sz="900" b="0" dirty="0">
                          <a:effectLst/>
                        </a:rPr>
                        <a:t>Oman Trading International</a:t>
                      </a:r>
                      <a:endParaRPr lang="en-IN" sz="900" b="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tc>
                  <a:txBody>
                    <a:bodyPr/>
                    <a:lstStyle/>
                    <a:p>
                      <a:pPr algn="ctr">
                        <a:lnSpc>
                          <a:spcPct val="150000"/>
                        </a:lnSpc>
                        <a:spcBef>
                          <a:spcPts val="800"/>
                        </a:spcBef>
                        <a:spcAft>
                          <a:spcPts val="0"/>
                        </a:spcAft>
                      </a:pPr>
                      <a:r>
                        <a:rPr lang="en-IN" sz="900" dirty="0">
                          <a:effectLst/>
                        </a:rPr>
                        <a:t>Oman</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tc>
                  <a:txBody>
                    <a:bodyPr/>
                    <a:lstStyle/>
                    <a:p>
                      <a:pPr algn="ctr">
                        <a:lnSpc>
                          <a:spcPct val="150000"/>
                        </a:lnSpc>
                        <a:spcBef>
                          <a:spcPts val="800"/>
                        </a:spcBef>
                        <a:spcAft>
                          <a:spcPts val="0"/>
                        </a:spcAft>
                      </a:pPr>
                      <a:r>
                        <a:rPr lang="en-IN" sz="900" dirty="0">
                          <a:effectLst/>
                        </a:rPr>
                        <a:t>1.0</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tc>
                  <a:txBody>
                    <a:bodyPr/>
                    <a:lstStyle/>
                    <a:p>
                      <a:pPr algn="ctr">
                        <a:lnSpc>
                          <a:spcPct val="150000"/>
                        </a:lnSpc>
                        <a:spcBef>
                          <a:spcPts val="800"/>
                        </a:spcBef>
                        <a:spcAft>
                          <a:spcPts val="0"/>
                        </a:spcAft>
                      </a:pPr>
                      <a:r>
                        <a:rPr lang="en-IN" sz="900" dirty="0">
                          <a:effectLst/>
                        </a:rPr>
                        <a:t>10</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tc>
                  <a:txBody>
                    <a:bodyPr/>
                    <a:lstStyle/>
                    <a:p>
                      <a:pPr algn="ctr">
                        <a:lnSpc>
                          <a:spcPct val="150000"/>
                        </a:lnSpc>
                        <a:spcBef>
                          <a:spcPts val="800"/>
                        </a:spcBef>
                        <a:spcAft>
                          <a:spcPts val="0"/>
                        </a:spcAft>
                      </a:pPr>
                      <a:r>
                        <a:rPr lang="en-US" sz="900" dirty="0">
                          <a:effectLst/>
                          <a:latin typeface="Verdana" panose="020B0604030504040204" pitchFamily="34" charset="0"/>
                          <a:ea typeface="Verdana" panose="020B0604030504040204" pitchFamily="34" charset="0"/>
                          <a:cs typeface="Times New Roman" panose="02020603050405020304" pitchFamily="18" charset="0"/>
                        </a:rPr>
                        <a:t>11.9%</a:t>
                      </a:r>
                      <a:r>
                        <a:rPr lang="en-US" sz="900" baseline="0" dirty="0">
                          <a:effectLst/>
                          <a:latin typeface="Verdana" panose="020B0604030504040204" pitchFamily="34" charset="0"/>
                          <a:ea typeface="Verdana" panose="020B0604030504040204" pitchFamily="34" charset="0"/>
                          <a:cs typeface="Times New Roman" panose="02020603050405020304" pitchFamily="18" charset="0"/>
                        </a:rPr>
                        <a:t> of 3-month average Brent pricing + $0.40 / MMBtu</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extLst>
                  <a:ext uri="{0D108BD9-81ED-4DB2-BD59-A6C34878D82A}">
                    <a16:rowId xmlns:a16="http://schemas.microsoft.com/office/drawing/2014/main" val="3162774779"/>
                  </a:ext>
                </a:extLst>
              </a:tr>
              <a:tr h="481170">
                <a:tc>
                  <a:txBody>
                    <a:bodyPr/>
                    <a:lstStyle/>
                    <a:p>
                      <a:pPr algn="ctr">
                        <a:lnSpc>
                          <a:spcPct val="150000"/>
                        </a:lnSpc>
                        <a:spcBef>
                          <a:spcPts val="800"/>
                        </a:spcBef>
                        <a:spcAft>
                          <a:spcPts val="0"/>
                        </a:spcAft>
                      </a:pPr>
                      <a:r>
                        <a:rPr lang="en-IN" sz="900" b="0" dirty="0">
                          <a:effectLst/>
                        </a:rPr>
                        <a:t>RasGas</a:t>
                      </a:r>
                      <a:endParaRPr lang="en-IN" sz="900" b="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tc>
                  <a:txBody>
                    <a:bodyPr/>
                    <a:lstStyle/>
                    <a:p>
                      <a:pPr algn="ctr">
                        <a:lnSpc>
                          <a:spcPct val="150000"/>
                        </a:lnSpc>
                        <a:spcBef>
                          <a:spcPts val="800"/>
                        </a:spcBef>
                        <a:spcAft>
                          <a:spcPts val="0"/>
                        </a:spcAft>
                      </a:pPr>
                      <a:r>
                        <a:rPr lang="en-IN" sz="900" dirty="0">
                          <a:effectLst/>
                        </a:rPr>
                        <a:t>Qatar</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tc>
                  <a:txBody>
                    <a:bodyPr/>
                    <a:lstStyle/>
                    <a:p>
                      <a:pPr algn="ctr">
                        <a:lnSpc>
                          <a:spcPct val="150000"/>
                        </a:lnSpc>
                        <a:spcBef>
                          <a:spcPts val="800"/>
                        </a:spcBef>
                        <a:spcAft>
                          <a:spcPts val="0"/>
                        </a:spcAft>
                      </a:pPr>
                      <a:r>
                        <a:rPr lang="en-IN" sz="900" dirty="0">
                          <a:effectLst/>
                        </a:rPr>
                        <a:t>2.5</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tc>
                  <a:txBody>
                    <a:bodyPr/>
                    <a:lstStyle/>
                    <a:p>
                      <a:pPr algn="ctr">
                        <a:lnSpc>
                          <a:spcPct val="150000"/>
                        </a:lnSpc>
                        <a:spcBef>
                          <a:spcPts val="800"/>
                        </a:spcBef>
                        <a:spcAft>
                          <a:spcPts val="0"/>
                        </a:spcAft>
                      </a:pPr>
                      <a:r>
                        <a:rPr lang="en-US" sz="900" dirty="0">
                          <a:effectLst/>
                          <a:latin typeface="+mn-lt"/>
                          <a:ea typeface="+mn-ea"/>
                          <a:cs typeface="+mn-cs"/>
                        </a:rPr>
                        <a:t>15</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tc>
                  <a:txBody>
                    <a:bodyPr/>
                    <a:lstStyle/>
                    <a:p>
                      <a:pPr algn="ctr">
                        <a:lnSpc>
                          <a:spcPct val="150000"/>
                        </a:lnSpc>
                        <a:spcBef>
                          <a:spcPts val="800"/>
                        </a:spcBef>
                        <a:spcAft>
                          <a:spcPts val="0"/>
                        </a:spcAft>
                      </a:pPr>
                      <a:r>
                        <a:rPr lang="en-US" sz="900" dirty="0">
                          <a:effectLst/>
                          <a:latin typeface="Verdana" panose="020B0604030504040204" pitchFamily="34" charset="0"/>
                          <a:ea typeface="Verdana" panose="020B0604030504040204" pitchFamily="34" charset="0"/>
                          <a:cs typeface="Times New Roman" panose="02020603050405020304" pitchFamily="18" charset="0"/>
                        </a:rPr>
                        <a:t>12.65%</a:t>
                      </a:r>
                      <a:r>
                        <a:rPr lang="en-US" sz="900" baseline="0" dirty="0">
                          <a:effectLst/>
                          <a:latin typeface="Verdana" panose="020B0604030504040204" pitchFamily="34" charset="0"/>
                          <a:ea typeface="Verdana" panose="020B0604030504040204" pitchFamily="34" charset="0"/>
                          <a:cs typeface="Times New Roman" panose="02020603050405020304" pitchFamily="18" charset="0"/>
                        </a:rPr>
                        <a:t> of 3-month average Brent pricing + $0.50 / MMBtu</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extLst>
                  <a:ext uri="{0D108BD9-81ED-4DB2-BD59-A6C34878D82A}">
                    <a16:rowId xmlns:a16="http://schemas.microsoft.com/office/drawing/2014/main" val="843618862"/>
                  </a:ext>
                </a:extLst>
              </a:tr>
              <a:tr h="330431">
                <a:tc>
                  <a:txBody>
                    <a:bodyPr/>
                    <a:lstStyle/>
                    <a:p>
                      <a:pPr algn="ctr">
                        <a:lnSpc>
                          <a:spcPct val="150000"/>
                        </a:lnSpc>
                        <a:spcBef>
                          <a:spcPts val="800"/>
                        </a:spcBef>
                        <a:spcAft>
                          <a:spcPts val="0"/>
                        </a:spcAft>
                      </a:pPr>
                      <a:r>
                        <a:rPr lang="en-IN" sz="900" b="0" dirty="0">
                          <a:effectLst/>
                        </a:rPr>
                        <a:t>Petramina</a:t>
                      </a:r>
                      <a:endParaRPr lang="en-IN" sz="900" b="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tc>
                  <a:txBody>
                    <a:bodyPr/>
                    <a:lstStyle/>
                    <a:p>
                      <a:pPr algn="ctr">
                        <a:lnSpc>
                          <a:spcPct val="150000"/>
                        </a:lnSpc>
                        <a:spcBef>
                          <a:spcPts val="800"/>
                        </a:spcBef>
                        <a:spcAft>
                          <a:spcPts val="0"/>
                        </a:spcAft>
                      </a:pPr>
                      <a:r>
                        <a:rPr lang="en-IN" sz="900" dirty="0">
                          <a:effectLst/>
                        </a:rPr>
                        <a:t>Indonesia</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tc>
                  <a:txBody>
                    <a:bodyPr/>
                    <a:lstStyle/>
                    <a:p>
                      <a:pPr algn="ctr">
                        <a:lnSpc>
                          <a:spcPct val="150000"/>
                        </a:lnSpc>
                        <a:spcBef>
                          <a:spcPts val="800"/>
                        </a:spcBef>
                        <a:spcAft>
                          <a:spcPts val="0"/>
                        </a:spcAft>
                      </a:pPr>
                      <a:r>
                        <a:rPr lang="en-IN" sz="900" dirty="0">
                          <a:effectLst/>
                        </a:rPr>
                        <a:t>1.0</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tc>
                  <a:txBody>
                    <a:bodyPr/>
                    <a:lstStyle/>
                    <a:p>
                      <a:pPr algn="ctr">
                        <a:lnSpc>
                          <a:spcPct val="150000"/>
                        </a:lnSpc>
                        <a:spcBef>
                          <a:spcPts val="800"/>
                        </a:spcBef>
                        <a:spcAft>
                          <a:spcPts val="0"/>
                        </a:spcAft>
                      </a:pPr>
                      <a:r>
                        <a:rPr lang="en-IN" sz="900" dirty="0">
                          <a:effectLst/>
                        </a:rPr>
                        <a:t>10</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tc>
                  <a:txBody>
                    <a:bodyPr/>
                    <a:lstStyle/>
                    <a:p>
                      <a:pPr algn="ctr">
                        <a:lnSpc>
                          <a:spcPct val="150000"/>
                        </a:lnSpc>
                        <a:spcBef>
                          <a:spcPts val="800"/>
                        </a:spcBef>
                        <a:spcAft>
                          <a:spcPts val="0"/>
                        </a:spcAft>
                      </a:pP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extLst>
                  <a:ext uri="{0D108BD9-81ED-4DB2-BD59-A6C34878D82A}">
                    <a16:rowId xmlns:a16="http://schemas.microsoft.com/office/drawing/2014/main" val="2637698655"/>
                  </a:ext>
                </a:extLst>
              </a:tr>
              <a:tr h="235252">
                <a:tc>
                  <a:txBody>
                    <a:bodyPr/>
                    <a:lstStyle/>
                    <a:p>
                      <a:pPr algn="ctr">
                        <a:lnSpc>
                          <a:spcPct val="150000"/>
                        </a:lnSpc>
                        <a:spcBef>
                          <a:spcPts val="800"/>
                        </a:spcBef>
                        <a:spcAft>
                          <a:spcPts val="0"/>
                        </a:spcAft>
                      </a:pPr>
                      <a:r>
                        <a:rPr lang="en-IN" sz="900" dirty="0">
                          <a:effectLst/>
                        </a:rPr>
                        <a:t>Total</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tc>
                  <a:txBody>
                    <a:bodyPr/>
                    <a:lstStyle/>
                    <a:p>
                      <a:pPr algn="ctr">
                        <a:lnSpc>
                          <a:spcPct val="150000"/>
                        </a:lnSpc>
                        <a:spcBef>
                          <a:spcPts val="800"/>
                        </a:spcBef>
                        <a:spcAft>
                          <a:spcPts val="0"/>
                        </a:spcAft>
                      </a:pPr>
                      <a:r>
                        <a:rPr lang="en-IN" sz="900" dirty="0">
                          <a:effectLst/>
                        </a:rPr>
                        <a:t> </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tc>
                  <a:txBody>
                    <a:bodyPr/>
                    <a:lstStyle/>
                    <a:p>
                      <a:pPr algn="ctr">
                        <a:lnSpc>
                          <a:spcPct val="150000"/>
                        </a:lnSpc>
                        <a:spcBef>
                          <a:spcPts val="800"/>
                        </a:spcBef>
                        <a:spcAft>
                          <a:spcPts val="0"/>
                        </a:spcAft>
                      </a:pPr>
                      <a:r>
                        <a:rPr lang="en-IN" sz="900" dirty="0">
                          <a:effectLst/>
                        </a:rPr>
                        <a:t>4.5</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tc>
                  <a:txBody>
                    <a:bodyPr/>
                    <a:lstStyle/>
                    <a:p>
                      <a:pPr algn="ctr">
                        <a:lnSpc>
                          <a:spcPct val="150000"/>
                        </a:lnSpc>
                        <a:spcBef>
                          <a:spcPts val="800"/>
                        </a:spcBef>
                        <a:spcAft>
                          <a:spcPts val="0"/>
                        </a:spcAft>
                      </a:pPr>
                      <a:r>
                        <a:rPr lang="en-IN" sz="900" dirty="0">
                          <a:effectLst/>
                        </a:rPr>
                        <a:t> </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tc>
                  <a:txBody>
                    <a:bodyPr/>
                    <a:lstStyle/>
                    <a:p>
                      <a:pPr algn="ctr">
                        <a:lnSpc>
                          <a:spcPct val="150000"/>
                        </a:lnSpc>
                        <a:spcBef>
                          <a:spcPts val="800"/>
                        </a:spcBef>
                        <a:spcAft>
                          <a:spcPts val="0"/>
                        </a:spcAft>
                      </a:pP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25496" marR="25496" marT="0" marB="0"/>
                </a:tc>
                <a:extLst>
                  <a:ext uri="{0D108BD9-81ED-4DB2-BD59-A6C34878D82A}">
                    <a16:rowId xmlns:a16="http://schemas.microsoft.com/office/drawing/2014/main" val="459382313"/>
                  </a:ext>
                </a:extLst>
              </a:tr>
            </a:tbl>
          </a:graphicData>
        </a:graphic>
      </p:graphicFrame>
      <p:graphicFrame>
        <p:nvGraphicFramePr>
          <p:cNvPr id="23" name="Chart 22"/>
          <p:cNvGraphicFramePr/>
          <p:nvPr>
            <p:custDataLst>
              <p:tags r:id="rId5"/>
            </p:custDataLst>
            <p:extLst>
              <p:ext uri="{D42A27DB-BD31-4B8C-83A1-F6EECF244321}">
                <p14:modId xmlns:p14="http://schemas.microsoft.com/office/powerpoint/2010/main" val="300133256"/>
              </p:ext>
            </p:extLst>
          </p:nvPr>
        </p:nvGraphicFramePr>
        <p:xfrm>
          <a:off x="5838825" y="5127625"/>
          <a:ext cx="4179888" cy="1350963"/>
        </p:xfrm>
        <a:graphic>
          <a:graphicData uri="http://schemas.openxmlformats.org/drawingml/2006/chart">
            <c:chart xmlns:c="http://schemas.openxmlformats.org/drawingml/2006/chart" xmlns:r="http://schemas.openxmlformats.org/officeDocument/2006/relationships" r:id="rId21"/>
          </a:graphicData>
        </a:graphic>
      </p:graphicFrame>
      <p:sp>
        <p:nvSpPr>
          <p:cNvPr id="39" name="StandardTextbox"/>
          <p:cNvSpPr>
            <a:spLocks noGrp="1"/>
          </p:cNvSpPr>
          <p:nvPr>
            <p:custDataLst>
              <p:tags r:id="rId6"/>
            </p:custDataLst>
          </p:nvPr>
        </p:nvSpPr>
        <p:spPr bwMode="auto">
          <a:xfrm>
            <a:off x="6872288" y="6481763"/>
            <a:ext cx="849313"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16F2D48D-99EB-4FBA-B5E1-52B546694E10}" type="datetime'''Mar''''c''h'''''''''''''' 201''7 to ''Ju''''n''e'''' 2''017'">
              <a:rPr kumimoji="0" lang="en-US"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March 2017 to June 2017</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9" name="StandardTextbox"/>
          <p:cNvSpPr>
            <a:spLocks noGrp="1"/>
          </p:cNvSpPr>
          <p:nvPr>
            <p:custDataLst>
              <p:tags r:id="rId7"/>
            </p:custDataLst>
          </p:nvPr>
        </p:nvSpPr>
        <p:spPr bwMode="auto">
          <a:xfrm>
            <a:off x="5514975" y="6481763"/>
            <a:ext cx="10287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F0EB631-2B23-41F7-A232-9E850E03F311}" type="datetime'''P''r''''''e-Ma''''rc''''''''h'''''''' ''''''''20''17'">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Pre-March 2017</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1" name="StandardTextbox"/>
          <p:cNvSpPr>
            <a:spLocks noGrp="1"/>
          </p:cNvSpPr>
          <p:nvPr>
            <p:custDataLst>
              <p:tags r:id="rId8"/>
            </p:custDataLst>
          </p:nvPr>
        </p:nvSpPr>
        <p:spPr bwMode="auto">
          <a:xfrm>
            <a:off x="8147050" y="6481763"/>
            <a:ext cx="828675"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142B7C3-227D-4E69-AFB6-6096666F3C96}" type="datetime'Jul''''y ''2''0''17 ti''''l''l June ''''''''''''''''2019'''''">
              <a:rPr kumimoji="0" lang="en-US"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July 2017 till June 2019</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4" name="StandardTextbox"/>
          <p:cNvSpPr>
            <a:spLocks noGrp="1"/>
          </p:cNvSpPr>
          <p:nvPr>
            <p:custDataLst>
              <p:tags r:id="rId9"/>
            </p:custDataLst>
          </p:nvPr>
        </p:nvSpPr>
        <p:spPr bwMode="auto">
          <a:xfrm>
            <a:off x="9223375" y="6481763"/>
            <a:ext cx="12112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CCA8E9D5-24DD-41A1-8C43-D6B72CA8FEFA}" type="datetime'July'' ''2''0''''1''9'' o''n''''''''''''''w''a''''''''''rds'">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July 2019 onwards</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cxnSp>
        <p:nvCxnSpPr>
          <p:cNvPr id="11" name="Straight Connector 10"/>
          <p:cNvCxnSpPr/>
          <p:nvPr>
            <p:custDataLst>
              <p:tags r:id="rId10"/>
            </p:custDataLst>
          </p:nvPr>
        </p:nvCxnSpPr>
        <p:spPr bwMode="gray">
          <a:xfrm>
            <a:off x="6818313" y="6965950"/>
            <a:ext cx="200025" cy="0"/>
          </a:xfrm>
          <a:prstGeom prst="line">
            <a:avLst/>
          </a:prstGeom>
          <a:ln w="28575" cap="rnd" cmpd="sng" algn="ctr">
            <a:solidFill>
              <a:srgbClr val="86BC25"/>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custDataLst>
              <p:tags r:id="rId11"/>
            </p:custDataLst>
          </p:nvPr>
        </p:nvCxnSpPr>
        <p:spPr bwMode="gray">
          <a:xfrm>
            <a:off x="7793038" y="6965950"/>
            <a:ext cx="200025" cy="0"/>
          </a:xfrm>
          <a:prstGeom prst="line">
            <a:avLst/>
          </a:prstGeom>
          <a:ln w="28575" cap="rnd" cmpd="sng" algn="ctr">
            <a:solidFill>
              <a:schemeClr val="accent4"/>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 name="Oval 13"/>
          <p:cNvSpPr/>
          <p:nvPr>
            <p:custDataLst>
              <p:tags r:id="rId12"/>
            </p:custDataLst>
          </p:nvPr>
        </p:nvSpPr>
        <p:spPr bwMode="auto">
          <a:xfrm>
            <a:off x="6886575" y="6934200"/>
            <a:ext cx="63500" cy="63500"/>
          </a:xfrm>
          <a:prstGeom prst="ellipse">
            <a:avLst/>
          </a:prstGeom>
          <a:solidFill>
            <a:srgbClr val="86BC25"/>
          </a:solidFill>
          <a:ln w="9525" algn="ctr">
            <a:solidFill>
              <a:srgbClr val="86BC2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5" name="Rectangle 14"/>
          <p:cNvSpPr/>
          <p:nvPr>
            <p:custDataLst>
              <p:tags r:id="rId13"/>
            </p:custDataLst>
          </p:nvPr>
        </p:nvSpPr>
        <p:spPr bwMode="auto">
          <a:xfrm>
            <a:off x="7861300" y="6934200"/>
            <a:ext cx="63500" cy="63500"/>
          </a:xfrm>
          <a:prstGeom prst="rect">
            <a:avLst/>
          </a:prstGeom>
          <a:solidFill>
            <a:schemeClr val="accent4"/>
          </a:solidFill>
          <a:ln w="9525" algn="ctr">
            <a:solidFill>
              <a:schemeClr val="accent4"/>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7" name="StandardTextbox"/>
          <p:cNvSpPr>
            <a:spLocks noGrp="1"/>
          </p:cNvSpPr>
          <p:nvPr>
            <p:custDataLst>
              <p:tags r:id="rId14"/>
            </p:custDataLst>
          </p:nvPr>
        </p:nvSpPr>
        <p:spPr bwMode="auto">
          <a:xfrm>
            <a:off x="7096125" y="6894513"/>
            <a:ext cx="5699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26440324-71EB-4C42-AA8D-E5069EA3CEE1}" type="datetime'''''''''''T''''''''''''k'''' ''''''/'''''' ''c''''um'''''">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Tk / cum</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3" name="StandardTextbox"/>
          <p:cNvSpPr>
            <a:spLocks noGrp="1"/>
          </p:cNvSpPr>
          <p:nvPr>
            <p:custDataLst>
              <p:tags r:id="rId15"/>
            </p:custDataLst>
          </p:nvPr>
        </p:nvSpPr>
        <p:spPr bwMode="auto">
          <a:xfrm>
            <a:off x="8070850" y="6894513"/>
            <a:ext cx="6858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1F839585-F0F7-4DFF-A2A2-02BEAAE0A452}" type="datetime'$'' / ''''m''''m''b''''''''''''''t''''''u'''''''''''''''''''''">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 / mmbtu</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 name="Rectangle 21"/>
          <p:cNvSpPr/>
          <p:nvPr/>
        </p:nvSpPr>
        <p:spPr bwMode="gray">
          <a:xfrm>
            <a:off x="352288" y="7307592"/>
            <a:ext cx="10152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Petrobangla, GIIGLN, Deloitte Analysis; Note : 1) Tk / cum converted to $ / MMBtu using conversion factor of 1 USD = BDT 80 and 25.2 SCM = 1 MMBTU 2) The subsidy computed based on difference of weighted average cost of supply of NG/LNG in Bangladesh and the tariff announced by BERC for FY20 onwards</a:t>
            </a:r>
          </a:p>
        </p:txBody>
      </p:sp>
    </p:spTree>
    <p:extLst>
      <p:ext uri="{BB962C8B-B14F-4D97-AF65-F5344CB8AC3E}">
        <p14:creationId xmlns:p14="http://schemas.microsoft.com/office/powerpoint/2010/main" val="3982447654"/>
      </p:ext>
    </p:extLst>
  </p:cSld>
  <p:clrMapOvr>
    <a:masterClrMapping/>
  </p:clrMapOvr>
  <p:transition>
    <p:fade/>
  </p:transition>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107314982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5" name="Object 4"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6" name="Rectangle 5"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9" name="Table 8"/>
          <p:cNvGraphicFramePr>
            <a:graphicFrameLocks noGrp="1"/>
          </p:cNvGraphicFramePr>
          <p:nvPr>
            <p:custDataLst>
              <p:tags r:id="rId3"/>
            </p:custDataLst>
            <p:extLst>
              <p:ext uri="{D42A27DB-BD31-4B8C-83A1-F6EECF244321}">
                <p14:modId xmlns:p14="http://schemas.microsoft.com/office/powerpoint/2010/main" val="3101307502"/>
              </p:ext>
            </p:extLst>
          </p:nvPr>
        </p:nvGraphicFramePr>
        <p:xfrm>
          <a:off x="5524500" y="1961920"/>
          <a:ext cx="4732062" cy="3722418"/>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3170150">
                <a:tc>
                  <a:txBody>
                    <a:bodyPr/>
                    <a:lstStyle/>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Following graph depicts the average monthly Brent crude oil price (USD / BBL) and Domestic Natural Gas Prices for Power Sector in Bangladesh (BDT / kWh) from June 2007 to January 2020</a:t>
                      </a: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Following graph shows the percentage increase in Natural Gas Tariff for power sector compared to proposed hike by Gas distribution companies from 2009 to 2019</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3" name="Table 2"/>
          <p:cNvGraphicFramePr>
            <a:graphicFrameLocks noGrp="1"/>
          </p:cNvGraphicFramePr>
          <p:nvPr>
            <p:custDataLst>
              <p:tags r:id="rId4"/>
            </p:custDataLst>
            <p:extLst>
              <p:ext uri="{D42A27DB-BD31-4B8C-83A1-F6EECF244321}">
                <p14:modId xmlns:p14="http://schemas.microsoft.com/office/powerpoint/2010/main" val="3407352445"/>
              </p:ext>
            </p:extLst>
          </p:nvPr>
        </p:nvGraphicFramePr>
        <p:xfrm>
          <a:off x="383700" y="1961921"/>
          <a:ext cx="4732062" cy="2973118"/>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2384164">
                <a:tc>
                  <a:txBody>
                    <a:bodyPr/>
                    <a:lstStyle/>
                    <a:p>
                      <a:pPr marL="0" indent="0">
                        <a:spcAft>
                          <a:spcPts val="500"/>
                        </a:spcAft>
                        <a:buFont typeface="Arial" panose="020B0604020202020204" pitchFamily="34" charset="0"/>
                        <a:buNone/>
                      </a:pPr>
                      <a:r>
                        <a:rPr lang="en-US" sz="1000" b="1" baseline="0" dirty="0">
                          <a:solidFill>
                            <a:schemeClr val="tx1"/>
                          </a:solidFill>
                        </a:rPr>
                        <a:t>Natural Gas Pricing Frequency &amp; Intensity</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In the last 13 years, the GoB has increased the natural gas price for power sector 5 times only</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During  FY07 to FY19, BERC on an average increase in gas price by ~2%-8% </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Although the Brent Crude Oil prices witnessed a high variation from ~$130 / bbl to ~$30 / bbl the prices of natural gas for the power sector witnessed marginally</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Thus, the GoB did not follow the international gas pricing trend for setting the natural gas prices in Bangladesh</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As mentioned earlier, the commencement of LNG from FY19 led to a sharp increase in domestic natural gas price from BDT 3.16 / cum to BDT ~4.45 / cum</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Considering the increased subsidy due to LNG the tariff hikes can be expected to be a more frequent process as the GoB has plans to reduce the subsidy in a phased manner</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4"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In the last 10 years, the GoB</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had marginally increased</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natural</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gas prices </a:t>
            </a:r>
            <a:r>
              <a:rPr lang="en-US" sz="1400" dirty="0">
                <a:solidFill>
                  <a:prstClr val="black">
                    <a:lumMod val="50000"/>
                    <a:lumOff val="50000"/>
                  </a:prstClr>
                </a:solidFill>
                <a:latin typeface="Verdana" panose="020B0604030504040204" pitchFamily="34" charset="0"/>
              </a:rPr>
              <a:t>for power sector </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as </a:t>
            </a:r>
            <a:r>
              <a:rPr lang="en-US" sz="1400" dirty="0">
                <a:solidFill>
                  <a:prstClr val="black">
                    <a:lumMod val="50000"/>
                    <a:lumOff val="50000"/>
                  </a:prstClr>
                </a:solidFill>
                <a:latin typeface="Verdana" panose="020B0604030504040204" pitchFamily="34" charset="0"/>
              </a:rPr>
              <a:t>entire gas supply was based on domestic production; However with LNG supply, it may increase the prices frequently</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7" name="Chart 6"/>
          <p:cNvGraphicFramePr/>
          <p:nvPr>
            <p:extLst>
              <p:ext uri="{D42A27DB-BD31-4B8C-83A1-F6EECF244321}">
                <p14:modId xmlns:p14="http://schemas.microsoft.com/office/powerpoint/2010/main" val="185611132"/>
              </p:ext>
            </p:extLst>
          </p:nvPr>
        </p:nvGraphicFramePr>
        <p:xfrm>
          <a:off x="5524500" y="5547178"/>
          <a:ext cx="4569110" cy="157371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1" name="Chart 10"/>
          <p:cNvGraphicFramePr/>
          <p:nvPr>
            <p:extLst>
              <p:ext uri="{D42A27DB-BD31-4B8C-83A1-F6EECF244321}">
                <p14:modId xmlns:p14="http://schemas.microsoft.com/office/powerpoint/2010/main" val="548723038"/>
              </p:ext>
            </p:extLst>
          </p:nvPr>
        </p:nvGraphicFramePr>
        <p:xfrm>
          <a:off x="5524500" y="2666545"/>
          <a:ext cx="4716464" cy="2321252"/>
        </p:xfrm>
        <a:graphic>
          <a:graphicData uri="http://schemas.openxmlformats.org/drawingml/2006/chart">
            <c:chart xmlns:c="http://schemas.openxmlformats.org/drawingml/2006/chart" xmlns:r="http://schemas.openxmlformats.org/officeDocument/2006/relationships" r:id="rId9"/>
          </a:graphicData>
        </a:graphic>
      </p:graphicFrame>
      <p:sp>
        <p:nvSpPr>
          <p:cNvPr id="10" name="Title 1"/>
          <p:cNvSpPr>
            <a:spLocks noGrp="1"/>
          </p:cNvSpPr>
          <p:nvPr>
            <p:ph type="title"/>
          </p:nvPr>
        </p:nvSpPr>
        <p:spPr>
          <a:xfrm>
            <a:off x="449264" y="647700"/>
            <a:ext cx="9791700" cy="431800"/>
          </a:xfrm>
        </p:spPr>
        <p:txBody>
          <a:bodyPr/>
          <a:lstStyle/>
          <a:p>
            <a:r>
              <a:rPr lang="en-US" dirty="0"/>
              <a:t>Power Market | Natural Gas Supply</a:t>
            </a:r>
            <a:endParaRPr lang="en-IN" dirty="0"/>
          </a:p>
        </p:txBody>
      </p:sp>
      <p:sp>
        <p:nvSpPr>
          <p:cNvPr id="12" name="Freeform 3"/>
          <p:cNvSpPr>
            <a:spLocks/>
          </p:cNvSpPr>
          <p:nvPr/>
        </p:nvSpPr>
        <p:spPr bwMode="gray">
          <a:xfrm>
            <a:off x="380137" y="5203882"/>
            <a:ext cx="4735625" cy="1788015"/>
          </a:xfrm>
          <a:custGeom>
            <a:avLst/>
            <a:gdLst/>
            <a:ahLst/>
            <a:cxnLst>
              <a:cxn ang="0">
                <a:pos x="222" y="20"/>
              </a:cxn>
              <a:cxn ang="0">
                <a:pos x="476" y="6"/>
              </a:cxn>
              <a:cxn ang="0">
                <a:pos x="671" y="35"/>
              </a:cxn>
              <a:cxn ang="0">
                <a:pos x="901" y="27"/>
              </a:cxn>
              <a:cxn ang="0">
                <a:pos x="1105" y="7"/>
              </a:cxn>
              <a:cxn ang="0">
                <a:pos x="1351" y="13"/>
              </a:cxn>
              <a:cxn ang="0">
                <a:pos x="1750" y="16"/>
              </a:cxn>
              <a:cxn ang="0">
                <a:pos x="1962" y="33"/>
              </a:cxn>
              <a:cxn ang="0">
                <a:pos x="2433" y="23"/>
              </a:cxn>
              <a:cxn ang="0">
                <a:pos x="2648" y="30"/>
              </a:cxn>
              <a:cxn ang="0">
                <a:pos x="3022" y="30"/>
              </a:cxn>
              <a:cxn ang="0">
                <a:pos x="3305" y="38"/>
              </a:cxn>
              <a:cxn ang="0">
                <a:pos x="3683" y="43"/>
              </a:cxn>
              <a:cxn ang="0">
                <a:pos x="3921" y="44"/>
              </a:cxn>
              <a:cxn ang="0">
                <a:pos x="4152" y="45"/>
              </a:cxn>
              <a:cxn ang="0">
                <a:pos x="4193" y="98"/>
              </a:cxn>
              <a:cxn ang="0">
                <a:pos x="4229" y="146"/>
              </a:cxn>
              <a:cxn ang="0">
                <a:pos x="4183" y="224"/>
              </a:cxn>
              <a:cxn ang="0">
                <a:pos x="4218" y="282"/>
              </a:cxn>
              <a:cxn ang="0">
                <a:pos x="4286" y="348"/>
              </a:cxn>
              <a:cxn ang="0">
                <a:pos x="4353" y="404"/>
              </a:cxn>
              <a:cxn ang="0">
                <a:pos x="4419" y="474"/>
              </a:cxn>
              <a:cxn ang="0">
                <a:pos x="4413" y="546"/>
              </a:cxn>
              <a:cxn ang="0">
                <a:pos x="4443" y="645"/>
              </a:cxn>
              <a:cxn ang="0">
                <a:pos x="4461" y="711"/>
              </a:cxn>
              <a:cxn ang="0">
                <a:pos x="4462" y="811"/>
              </a:cxn>
              <a:cxn ang="0">
                <a:pos x="4483" y="869"/>
              </a:cxn>
              <a:cxn ang="0">
                <a:pos x="4526" y="953"/>
              </a:cxn>
              <a:cxn ang="0">
                <a:pos x="4448" y="999"/>
              </a:cxn>
              <a:cxn ang="0">
                <a:pos x="4203" y="989"/>
              </a:cxn>
              <a:cxn ang="0">
                <a:pos x="3829" y="970"/>
              </a:cxn>
              <a:cxn ang="0">
                <a:pos x="3619" y="991"/>
              </a:cxn>
              <a:cxn ang="0">
                <a:pos x="3434" y="1006"/>
              </a:cxn>
              <a:cxn ang="0">
                <a:pos x="3180" y="1017"/>
              </a:cxn>
              <a:cxn ang="0">
                <a:pos x="2821" y="994"/>
              </a:cxn>
              <a:cxn ang="0">
                <a:pos x="2467" y="999"/>
              </a:cxn>
              <a:cxn ang="0">
                <a:pos x="2091" y="994"/>
              </a:cxn>
              <a:cxn ang="0">
                <a:pos x="1782" y="991"/>
              </a:cxn>
              <a:cxn ang="0">
                <a:pos x="1496" y="977"/>
              </a:cxn>
              <a:cxn ang="0">
                <a:pos x="1284" y="965"/>
              </a:cxn>
              <a:cxn ang="0">
                <a:pos x="907" y="976"/>
              </a:cxn>
              <a:cxn ang="0">
                <a:pos x="483" y="966"/>
              </a:cxn>
              <a:cxn ang="0">
                <a:pos x="297" y="969"/>
              </a:cxn>
              <a:cxn ang="0">
                <a:pos x="285" y="922"/>
              </a:cxn>
              <a:cxn ang="0">
                <a:pos x="364" y="872"/>
              </a:cxn>
              <a:cxn ang="0">
                <a:pos x="324" y="814"/>
              </a:cxn>
              <a:cxn ang="0">
                <a:pos x="286" y="763"/>
              </a:cxn>
              <a:cxn ang="0">
                <a:pos x="289" y="701"/>
              </a:cxn>
              <a:cxn ang="0">
                <a:pos x="103" y="623"/>
              </a:cxn>
              <a:cxn ang="0">
                <a:pos x="158" y="566"/>
              </a:cxn>
              <a:cxn ang="0">
                <a:pos x="116" y="496"/>
              </a:cxn>
              <a:cxn ang="0">
                <a:pos x="74" y="435"/>
              </a:cxn>
              <a:cxn ang="0">
                <a:pos x="100" y="365"/>
              </a:cxn>
              <a:cxn ang="0">
                <a:pos x="87" y="306"/>
              </a:cxn>
              <a:cxn ang="0">
                <a:pos x="13" y="221"/>
              </a:cxn>
              <a:cxn ang="0">
                <a:pos x="21" y="159"/>
              </a:cxn>
              <a:cxn ang="0">
                <a:pos x="0" y="98"/>
              </a:cxn>
              <a:cxn ang="0">
                <a:pos x="28" y="35"/>
              </a:cxn>
            </a:cxnLst>
            <a:rect l="0" t="0" r="r" b="b"/>
            <a:pathLst>
              <a:path w="4537" h="1018">
                <a:moveTo>
                  <a:pt x="71" y="0"/>
                </a:moveTo>
                <a:lnTo>
                  <a:pt x="147" y="13"/>
                </a:lnTo>
                <a:lnTo>
                  <a:pt x="222" y="20"/>
                </a:lnTo>
                <a:lnTo>
                  <a:pt x="315" y="17"/>
                </a:lnTo>
                <a:lnTo>
                  <a:pt x="380" y="6"/>
                </a:lnTo>
                <a:lnTo>
                  <a:pt x="476" y="6"/>
                </a:lnTo>
                <a:lnTo>
                  <a:pt x="547" y="11"/>
                </a:lnTo>
                <a:lnTo>
                  <a:pt x="597" y="30"/>
                </a:lnTo>
                <a:lnTo>
                  <a:pt x="671" y="35"/>
                </a:lnTo>
                <a:lnTo>
                  <a:pt x="760" y="31"/>
                </a:lnTo>
                <a:lnTo>
                  <a:pt x="830" y="26"/>
                </a:lnTo>
                <a:lnTo>
                  <a:pt x="901" y="27"/>
                </a:lnTo>
                <a:lnTo>
                  <a:pt x="996" y="21"/>
                </a:lnTo>
                <a:lnTo>
                  <a:pt x="1034" y="4"/>
                </a:lnTo>
                <a:lnTo>
                  <a:pt x="1105" y="7"/>
                </a:lnTo>
                <a:lnTo>
                  <a:pt x="1203" y="7"/>
                </a:lnTo>
                <a:lnTo>
                  <a:pt x="1274" y="6"/>
                </a:lnTo>
                <a:lnTo>
                  <a:pt x="1351" y="13"/>
                </a:lnTo>
                <a:lnTo>
                  <a:pt x="1511" y="14"/>
                </a:lnTo>
                <a:lnTo>
                  <a:pt x="1651" y="16"/>
                </a:lnTo>
                <a:lnTo>
                  <a:pt x="1750" y="16"/>
                </a:lnTo>
                <a:lnTo>
                  <a:pt x="1818" y="16"/>
                </a:lnTo>
                <a:lnTo>
                  <a:pt x="1891" y="31"/>
                </a:lnTo>
                <a:lnTo>
                  <a:pt x="1962" y="33"/>
                </a:lnTo>
                <a:lnTo>
                  <a:pt x="2103" y="31"/>
                </a:lnTo>
                <a:lnTo>
                  <a:pt x="2242" y="27"/>
                </a:lnTo>
                <a:lnTo>
                  <a:pt x="2433" y="23"/>
                </a:lnTo>
                <a:lnTo>
                  <a:pt x="2503" y="18"/>
                </a:lnTo>
                <a:lnTo>
                  <a:pt x="2574" y="20"/>
                </a:lnTo>
                <a:lnTo>
                  <a:pt x="2648" y="30"/>
                </a:lnTo>
                <a:lnTo>
                  <a:pt x="2740" y="37"/>
                </a:lnTo>
                <a:lnTo>
                  <a:pt x="2878" y="33"/>
                </a:lnTo>
                <a:lnTo>
                  <a:pt x="3022" y="30"/>
                </a:lnTo>
                <a:lnTo>
                  <a:pt x="3160" y="26"/>
                </a:lnTo>
                <a:lnTo>
                  <a:pt x="3231" y="26"/>
                </a:lnTo>
                <a:lnTo>
                  <a:pt x="3305" y="38"/>
                </a:lnTo>
                <a:lnTo>
                  <a:pt x="3403" y="47"/>
                </a:lnTo>
                <a:lnTo>
                  <a:pt x="3594" y="45"/>
                </a:lnTo>
                <a:lnTo>
                  <a:pt x="3683" y="43"/>
                </a:lnTo>
                <a:lnTo>
                  <a:pt x="3752" y="41"/>
                </a:lnTo>
                <a:lnTo>
                  <a:pt x="3847" y="44"/>
                </a:lnTo>
                <a:lnTo>
                  <a:pt x="3921" y="44"/>
                </a:lnTo>
                <a:lnTo>
                  <a:pt x="3989" y="40"/>
                </a:lnTo>
                <a:lnTo>
                  <a:pt x="4084" y="40"/>
                </a:lnTo>
                <a:lnTo>
                  <a:pt x="4152" y="45"/>
                </a:lnTo>
                <a:lnTo>
                  <a:pt x="4204" y="64"/>
                </a:lnTo>
                <a:lnTo>
                  <a:pt x="4215" y="79"/>
                </a:lnTo>
                <a:lnTo>
                  <a:pt x="4193" y="98"/>
                </a:lnTo>
                <a:lnTo>
                  <a:pt x="4173" y="115"/>
                </a:lnTo>
                <a:lnTo>
                  <a:pt x="4198" y="130"/>
                </a:lnTo>
                <a:lnTo>
                  <a:pt x="4229" y="146"/>
                </a:lnTo>
                <a:lnTo>
                  <a:pt x="4211" y="163"/>
                </a:lnTo>
                <a:lnTo>
                  <a:pt x="4173" y="209"/>
                </a:lnTo>
                <a:lnTo>
                  <a:pt x="4183" y="224"/>
                </a:lnTo>
                <a:lnTo>
                  <a:pt x="4210" y="241"/>
                </a:lnTo>
                <a:lnTo>
                  <a:pt x="4214" y="258"/>
                </a:lnTo>
                <a:lnTo>
                  <a:pt x="4218" y="282"/>
                </a:lnTo>
                <a:lnTo>
                  <a:pt x="4232" y="315"/>
                </a:lnTo>
                <a:lnTo>
                  <a:pt x="4235" y="333"/>
                </a:lnTo>
                <a:lnTo>
                  <a:pt x="4286" y="348"/>
                </a:lnTo>
                <a:lnTo>
                  <a:pt x="4342" y="365"/>
                </a:lnTo>
                <a:lnTo>
                  <a:pt x="4348" y="389"/>
                </a:lnTo>
                <a:lnTo>
                  <a:pt x="4353" y="404"/>
                </a:lnTo>
                <a:lnTo>
                  <a:pt x="4335" y="428"/>
                </a:lnTo>
                <a:lnTo>
                  <a:pt x="4339" y="451"/>
                </a:lnTo>
                <a:lnTo>
                  <a:pt x="4419" y="474"/>
                </a:lnTo>
                <a:lnTo>
                  <a:pt x="4452" y="509"/>
                </a:lnTo>
                <a:lnTo>
                  <a:pt x="4433" y="532"/>
                </a:lnTo>
                <a:lnTo>
                  <a:pt x="4413" y="546"/>
                </a:lnTo>
                <a:lnTo>
                  <a:pt x="4395" y="565"/>
                </a:lnTo>
                <a:lnTo>
                  <a:pt x="4431" y="608"/>
                </a:lnTo>
                <a:lnTo>
                  <a:pt x="4443" y="645"/>
                </a:lnTo>
                <a:lnTo>
                  <a:pt x="4447" y="660"/>
                </a:lnTo>
                <a:lnTo>
                  <a:pt x="4456" y="694"/>
                </a:lnTo>
                <a:lnTo>
                  <a:pt x="4461" y="711"/>
                </a:lnTo>
                <a:lnTo>
                  <a:pt x="4473" y="756"/>
                </a:lnTo>
                <a:lnTo>
                  <a:pt x="4452" y="772"/>
                </a:lnTo>
                <a:lnTo>
                  <a:pt x="4462" y="811"/>
                </a:lnTo>
                <a:lnTo>
                  <a:pt x="4472" y="828"/>
                </a:lnTo>
                <a:lnTo>
                  <a:pt x="4498" y="851"/>
                </a:lnTo>
                <a:lnTo>
                  <a:pt x="4483" y="869"/>
                </a:lnTo>
                <a:lnTo>
                  <a:pt x="4487" y="885"/>
                </a:lnTo>
                <a:lnTo>
                  <a:pt x="4494" y="908"/>
                </a:lnTo>
                <a:lnTo>
                  <a:pt x="4526" y="953"/>
                </a:lnTo>
                <a:lnTo>
                  <a:pt x="4536" y="976"/>
                </a:lnTo>
                <a:lnTo>
                  <a:pt x="4519" y="991"/>
                </a:lnTo>
                <a:lnTo>
                  <a:pt x="4448" y="999"/>
                </a:lnTo>
                <a:lnTo>
                  <a:pt x="4380" y="1013"/>
                </a:lnTo>
                <a:lnTo>
                  <a:pt x="4279" y="1001"/>
                </a:lnTo>
                <a:lnTo>
                  <a:pt x="4203" y="989"/>
                </a:lnTo>
                <a:lnTo>
                  <a:pt x="4062" y="979"/>
                </a:lnTo>
                <a:lnTo>
                  <a:pt x="3990" y="972"/>
                </a:lnTo>
                <a:lnTo>
                  <a:pt x="3829" y="970"/>
                </a:lnTo>
                <a:lnTo>
                  <a:pt x="3762" y="974"/>
                </a:lnTo>
                <a:lnTo>
                  <a:pt x="3690" y="984"/>
                </a:lnTo>
                <a:lnTo>
                  <a:pt x="3619" y="991"/>
                </a:lnTo>
                <a:lnTo>
                  <a:pt x="3577" y="1006"/>
                </a:lnTo>
                <a:lnTo>
                  <a:pt x="3508" y="1013"/>
                </a:lnTo>
                <a:lnTo>
                  <a:pt x="3434" y="1006"/>
                </a:lnTo>
                <a:lnTo>
                  <a:pt x="3365" y="999"/>
                </a:lnTo>
                <a:lnTo>
                  <a:pt x="3266" y="1004"/>
                </a:lnTo>
                <a:lnTo>
                  <a:pt x="3180" y="1017"/>
                </a:lnTo>
                <a:lnTo>
                  <a:pt x="3109" y="1014"/>
                </a:lnTo>
                <a:lnTo>
                  <a:pt x="3010" y="1008"/>
                </a:lnTo>
                <a:lnTo>
                  <a:pt x="2821" y="994"/>
                </a:lnTo>
                <a:lnTo>
                  <a:pt x="2630" y="991"/>
                </a:lnTo>
                <a:lnTo>
                  <a:pt x="2562" y="991"/>
                </a:lnTo>
                <a:lnTo>
                  <a:pt x="2467" y="999"/>
                </a:lnTo>
                <a:lnTo>
                  <a:pt x="2299" y="996"/>
                </a:lnTo>
                <a:lnTo>
                  <a:pt x="2160" y="994"/>
                </a:lnTo>
                <a:lnTo>
                  <a:pt x="2091" y="994"/>
                </a:lnTo>
                <a:lnTo>
                  <a:pt x="1949" y="991"/>
                </a:lnTo>
                <a:lnTo>
                  <a:pt x="1853" y="993"/>
                </a:lnTo>
                <a:lnTo>
                  <a:pt x="1782" y="991"/>
                </a:lnTo>
                <a:lnTo>
                  <a:pt x="1642" y="990"/>
                </a:lnTo>
                <a:lnTo>
                  <a:pt x="1570" y="979"/>
                </a:lnTo>
                <a:lnTo>
                  <a:pt x="1496" y="977"/>
                </a:lnTo>
                <a:lnTo>
                  <a:pt x="1432" y="987"/>
                </a:lnTo>
                <a:lnTo>
                  <a:pt x="1334" y="984"/>
                </a:lnTo>
                <a:lnTo>
                  <a:pt x="1284" y="965"/>
                </a:lnTo>
                <a:lnTo>
                  <a:pt x="1214" y="974"/>
                </a:lnTo>
                <a:lnTo>
                  <a:pt x="1051" y="976"/>
                </a:lnTo>
                <a:lnTo>
                  <a:pt x="907" y="976"/>
                </a:lnTo>
                <a:lnTo>
                  <a:pt x="770" y="982"/>
                </a:lnTo>
                <a:lnTo>
                  <a:pt x="679" y="973"/>
                </a:lnTo>
                <a:lnTo>
                  <a:pt x="483" y="966"/>
                </a:lnTo>
                <a:lnTo>
                  <a:pt x="414" y="970"/>
                </a:lnTo>
                <a:lnTo>
                  <a:pt x="350" y="987"/>
                </a:lnTo>
                <a:lnTo>
                  <a:pt x="297" y="969"/>
                </a:lnTo>
                <a:lnTo>
                  <a:pt x="268" y="953"/>
                </a:lnTo>
                <a:lnTo>
                  <a:pt x="262" y="938"/>
                </a:lnTo>
                <a:lnTo>
                  <a:pt x="285" y="922"/>
                </a:lnTo>
                <a:lnTo>
                  <a:pt x="349" y="904"/>
                </a:lnTo>
                <a:lnTo>
                  <a:pt x="368" y="888"/>
                </a:lnTo>
                <a:lnTo>
                  <a:pt x="364" y="872"/>
                </a:lnTo>
                <a:lnTo>
                  <a:pt x="335" y="854"/>
                </a:lnTo>
                <a:lnTo>
                  <a:pt x="332" y="831"/>
                </a:lnTo>
                <a:lnTo>
                  <a:pt x="324" y="814"/>
                </a:lnTo>
                <a:lnTo>
                  <a:pt x="320" y="799"/>
                </a:lnTo>
                <a:lnTo>
                  <a:pt x="314" y="780"/>
                </a:lnTo>
                <a:lnTo>
                  <a:pt x="286" y="763"/>
                </a:lnTo>
                <a:lnTo>
                  <a:pt x="280" y="739"/>
                </a:lnTo>
                <a:lnTo>
                  <a:pt x="299" y="725"/>
                </a:lnTo>
                <a:lnTo>
                  <a:pt x="289" y="701"/>
                </a:lnTo>
                <a:lnTo>
                  <a:pt x="135" y="657"/>
                </a:lnTo>
                <a:lnTo>
                  <a:pt x="112" y="641"/>
                </a:lnTo>
                <a:lnTo>
                  <a:pt x="103" y="623"/>
                </a:lnTo>
                <a:lnTo>
                  <a:pt x="123" y="606"/>
                </a:lnTo>
                <a:lnTo>
                  <a:pt x="165" y="587"/>
                </a:lnTo>
                <a:lnTo>
                  <a:pt x="158" y="566"/>
                </a:lnTo>
                <a:lnTo>
                  <a:pt x="149" y="543"/>
                </a:lnTo>
                <a:lnTo>
                  <a:pt x="144" y="522"/>
                </a:lnTo>
                <a:lnTo>
                  <a:pt x="116" y="496"/>
                </a:lnTo>
                <a:lnTo>
                  <a:pt x="109" y="477"/>
                </a:lnTo>
                <a:lnTo>
                  <a:pt x="78" y="452"/>
                </a:lnTo>
                <a:lnTo>
                  <a:pt x="74" y="435"/>
                </a:lnTo>
                <a:lnTo>
                  <a:pt x="85" y="396"/>
                </a:lnTo>
                <a:lnTo>
                  <a:pt x="106" y="380"/>
                </a:lnTo>
                <a:lnTo>
                  <a:pt x="100" y="365"/>
                </a:lnTo>
                <a:lnTo>
                  <a:pt x="98" y="345"/>
                </a:lnTo>
                <a:lnTo>
                  <a:pt x="93" y="328"/>
                </a:lnTo>
                <a:lnTo>
                  <a:pt x="87" y="306"/>
                </a:lnTo>
                <a:lnTo>
                  <a:pt x="47" y="261"/>
                </a:lnTo>
                <a:lnTo>
                  <a:pt x="20" y="238"/>
                </a:lnTo>
                <a:lnTo>
                  <a:pt x="13" y="221"/>
                </a:lnTo>
                <a:lnTo>
                  <a:pt x="8" y="199"/>
                </a:lnTo>
                <a:lnTo>
                  <a:pt x="32" y="182"/>
                </a:lnTo>
                <a:lnTo>
                  <a:pt x="21" y="159"/>
                </a:lnTo>
                <a:lnTo>
                  <a:pt x="10" y="136"/>
                </a:lnTo>
                <a:lnTo>
                  <a:pt x="10" y="122"/>
                </a:lnTo>
                <a:lnTo>
                  <a:pt x="0" y="98"/>
                </a:lnTo>
                <a:lnTo>
                  <a:pt x="22" y="77"/>
                </a:lnTo>
                <a:lnTo>
                  <a:pt x="15" y="58"/>
                </a:lnTo>
                <a:lnTo>
                  <a:pt x="28" y="35"/>
                </a:lnTo>
                <a:lnTo>
                  <a:pt x="7" y="17"/>
                </a:lnTo>
                <a:lnTo>
                  <a:pt x="71" y="0"/>
                </a:lnTo>
              </a:path>
            </a:pathLst>
          </a:custGeom>
          <a:gradFill flip="none" rotWithShape="1">
            <a:gsLst>
              <a:gs pos="75000">
                <a:srgbClr val="FFDB69">
                  <a:tint val="66000"/>
                  <a:satMod val="160000"/>
                  <a:alpha val="58000"/>
                </a:srgbClr>
              </a:gs>
              <a:gs pos="61000">
                <a:srgbClr val="FFDB69">
                  <a:tint val="44500"/>
                  <a:satMod val="160000"/>
                  <a:alpha val="73000"/>
                </a:srgbClr>
              </a:gs>
              <a:gs pos="100000">
                <a:srgbClr val="FFDB69">
                  <a:tint val="23500"/>
                  <a:satMod val="160000"/>
                  <a:alpha val="80000"/>
                </a:srgbClr>
              </a:gs>
            </a:gsLst>
            <a:lin ang="0" scaled="1"/>
            <a:tileRect/>
          </a:gradFill>
          <a:ln w="9525" cap="rnd" cmpd="sng">
            <a:noFill/>
            <a:prstDash val="solid"/>
            <a:round/>
            <a:headEnd type="none" w="med" len="med"/>
            <a:tailEnd type="none" w="med" len="med"/>
          </a:ln>
          <a:effectLst>
            <a:outerShdw blurRad="50800" dist="38100" dir="2700000" algn="tl" rotWithShape="0">
              <a:prstClr val="black">
                <a:alpha val="40000"/>
              </a:prstClr>
            </a:outerShdw>
          </a:effectLst>
        </p:spPr>
        <p:txBody>
          <a:bodyPr lIns="360000" tIns="72000" rIns="324000" bIns="72000" anchor="ctr"/>
          <a:lstStyle/>
          <a:p>
            <a:pPr marL="171450" lvl="0" indent="-171450">
              <a:lnSpc>
                <a:spcPct val="114000"/>
              </a:lnSpc>
              <a:spcAft>
                <a:spcPts val="600"/>
              </a:spcAft>
              <a:buFont typeface="Arial" panose="020B0604020202020204" pitchFamily="34" charset="0"/>
              <a:buChar char="•"/>
              <a:defRPr/>
            </a:pPr>
            <a:r>
              <a:rPr lang="en-US" sz="1000" dirty="0">
                <a:solidFill>
                  <a:prstClr val="black"/>
                </a:solidFill>
              </a:rPr>
              <a:t>“We have to adjust gas prices, and we are saying that again and again”</a:t>
            </a:r>
          </a:p>
          <a:p>
            <a:pPr marL="171450" lvl="0" indent="-171450">
              <a:lnSpc>
                <a:spcPct val="114000"/>
              </a:lnSpc>
              <a:spcAft>
                <a:spcPts val="600"/>
              </a:spcAft>
              <a:buFont typeface="Arial" panose="020B0604020202020204" pitchFamily="34" charset="0"/>
              <a:buChar char="•"/>
              <a:defRPr/>
            </a:pPr>
            <a:r>
              <a:rPr lang="en-US" sz="1000" dirty="0">
                <a:solidFill>
                  <a:prstClr val="black"/>
                </a:solidFill>
              </a:rPr>
              <a:t>“If we do not adjust the price, we have to provide subsidy for the additional cost. Even after the adjustment, we will have to subsidize it,”	</a:t>
            </a:r>
          </a:p>
          <a:p>
            <a:pPr lvl="0" algn="r">
              <a:lnSpc>
                <a:spcPct val="114000"/>
              </a:lnSpc>
              <a:spcAft>
                <a:spcPts val="600"/>
              </a:spcAft>
              <a:defRPr/>
            </a:pPr>
            <a:r>
              <a:rPr lang="en-US" sz="1000" b="1" dirty="0">
                <a:solidFill>
                  <a:prstClr val="black"/>
                </a:solidFill>
                <a:latin typeface="Verdana"/>
              </a:rPr>
              <a:t>- Power Minister, Nasrul Hamid, Bangladesh, June 2019</a:t>
            </a:r>
          </a:p>
        </p:txBody>
      </p:sp>
      <p:sp>
        <p:nvSpPr>
          <p:cNvPr id="13" name="Rectangle 12"/>
          <p:cNvSpPr/>
          <p:nvPr/>
        </p:nvSpPr>
        <p:spPr bwMode="gray">
          <a:xfrm>
            <a:off x="377227" y="7260740"/>
            <a:ext cx="5652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Petrobangla, BPDB, EIA, Industry Reports, Deloitte Analysis</a:t>
            </a:r>
          </a:p>
        </p:txBody>
      </p:sp>
    </p:spTree>
    <p:extLst>
      <p:ext uri="{BB962C8B-B14F-4D97-AF65-F5344CB8AC3E}">
        <p14:creationId xmlns:p14="http://schemas.microsoft.com/office/powerpoint/2010/main" val="529574652"/>
      </p:ext>
    </p:extLst>
  </p:cSld>
  <p:clrMapOvr>
    <a:masterClrMapping/>
  </p:clrMapOvr>
  <p:transition>
    <p:fade/>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272491319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9" imgW="530" imgH="531" progId="TCLayout.ActiveDocument.1">
                  <p:embed/>
                </p:oleObj>
              </mc:Choice>
              <mc:Fallback>
                <p:oleObj name="think-cell Slide" r:id="rId19" imgW="530" imgH="531" progId="TCLayout.ActiveDocument.1">
                  <p:embed/>
                  <p:pic>
                    <p:nvPicPr>
                      <p:cNvPr id="4" name="Object 3" hidden="1"/>
                      <p:cNvPicPr/>
                      <p:nvPr/>
                    </p:nvPicPr>
                    <p:blipFill>
                      <a:blip r:embed="rId20"/>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IN" sz="1000" u="none" strike="noStrike" kern="1200" cap="none" spc="0" normalizeH="0" noProof="0" dirty="0">
              <a:ln>
                <a:noFill/>
              </a:ln>
              <a:solidFill>
                <a:prstClr val="white"/>
              </a:solidFill>
              <a:effectLst/>
              <a:uLnTx/>
              <a:uFillTx/>
              <a:sym typeface="+mn-lt"/>
            </a:endParaRPr>
          </a:p>
        </p:txBody>
      </p:sp>
      <p:sp>
        <p:nvSpPr>
          <p:cNvPr id="2" name="Title 1"/>
          <p:cNvSpPr>
            <a:spLocks noGrp="1"/>
          </p:cNvSpPr>
          <p:nvPr>
            <p:ph type="title"/>
          </p:nvPr>
        </p:nvSpPr>
        <p:spPr/>
        <p:txBody>
          <a:bodyPr/>
          <a:lstStyle/>
          <a:p>
            <a:r>
              <a:rPr lang="en-US" dirty="0"/>
              <a:t>Power Market | Natural Gas Supply</a:t>
            </a:r>
            <a:endParaRPr lang="en-IN" dirty="0"/>
          </a:p>
        </p:txBody>
      </p:sp>
      <p:graphicFrame>
        <p:nvGraphicFramePr>
          <p:cNvPr id="5" name="Table 4"/>
          <p:cNvGraphicFramePr>
            <a:graphicFrameLocks noGrp="1"/>
          </p:cNvGraphicFramePr>
          <p:nvPr>
            <p:custDataLst>
              <p:tags r:id="rId3"/>
            </p:custDataLst>
            <p:extLst>
              <p:ext uri="{D42A27DB-BD31-4B8C-83A1-F6EECF244321}">
                <p14:modId xmlns:p14="http://schemas.microsoft.com/office/powerpoint/2010/main" val="1551966235"/>
              </p:ext>
            </p:ext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figure shows the expected Domestic Gas Production and LNG Import (mmscmd) in FY20 for Bangladesh (as per BERC):</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figure shows Cost of Supply of Domestic NG, Imported LNG, Weighted Average Cost and Tariff for Power Sector ($ / MMBTU):</a:t>
                      </a:r>
                    </a:p>
                    <a:p>
                      <a:pPr marL="171450" lvl="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6" name="Table 5"/>
          <p:cNvGraphicFramePr>
            <a:graphicFrameLocks noGrp="1"/>
          </p:cNvGraphicFramePr>
          <p:nvPr>
            <p:custDataLst>
              <p:tags r:id="rId4"/>
            </p:custDataLst>
            <p:extLst>
              <p:ext uri="{D42A27DB-BD31-4B8C-83A1-F6EECF244321}">
                <p14:modId xmlns:p14="http://schemas.microsoft.com/office/powerpoint/2010/main" val="960365610"/>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spcAft>
                          <a:spcPts val="500"/>
                        </a:spcAft>
                        <a:buFont typeface="Arial" panose="020B0604020202020204" pitchFamily="34" charset="0"/>
                        <a:buNone/>
                      </a:pPr>
                      <a:r>
                        <a:rPr lang="en-US" sz="1000" b="1" baseline="0" dirty="0">
                          <a:solidFill>
                            <a:schemeClr val="tx1"/>
                          </a:solidFill>
                        </a:rPr>
                        <a:t>LNG Blending in Natural Gas Consumption:</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As per Bangladesh Electricity Regulatory Commission, </a:t>
                      </a:r>
                      <a:r>
                        <a:rPr lang="en-US" sz="1000" b="1" kern="1200" baseline="0" dirty="0">
                          <a:solidFill>
                            <a:schemeClr val="tx1"/>
                          </a:solidFill>
                          <a:latin typeface="+mn-lt"/>
                          <a:ea typeface="+mn-ea"/>
                          <a:cs typeface="+mn-cs"/>
                        </a:rPr>
                        <a:t>the country is expected to import ~24 mmscmd of LNG</a:t>
                      </a:r>
                      <a:r>
                        <a:rPr lang="en-US" sz="1000" b="0" kern="1200" baseline="0" dirty="0">
                          <a:solidFill>
                            <a:schemeClr val="tx1"/>
                          </a:solidFill>
                          <a:latin typeface="+mn-lt"/>
                          <a:ea typeface="+mn-ea"/>
                          <a:cs typeface="+mn-cs"/>
                        </a:rPr>
                        <a:t> (out of import capacity of ~28 mmscmd) in FY2020</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The domestic natural gas production is expected to reduce marginally at ~73 mmscmd compared to FY2019</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Thus, the Natural Gas to Blending Ratio is ~25% for FY2020</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Considering the import capacity and challenges in evacuation from FSRUs, the blending ratio is expected to remain at 25% - 30%</a:t>
                      </a:r>
                      <a:endParaRPr lang="en-US" sz="1000" b="0" baseline="0" dirty="0">
                        <a:solidFill>
                          <a:schemeClr val="tx1"/>
                        </a:solidFill>
                      </a:endParaRPr>
                    </a:p>
                    <a:p>
                      <a:pPr marL="171450" indent="-171450" algn="just" defTabSz="990571" rtl="0" eaLnBrk="1" latinLnBrk="0" hangingPunct="1">
                        <a:spcAft>
                          <a:spcPts val="500"/>
                        </a:spcAft>
                        <a:buFont typeface="Arial" panose="020B0604020202020204" pitchFamily="34" charset="0"/>
                        <a:buChar char="•"/>
                      </a:pPr>
                      <a:endParaRPr lang="en-US" sz="1000" b="0" baseline="0" dirty="0">
                        <a:solidFill>
                          <a:schemeClr val="tx1"/>
                        </a:solidFill>
                      </a:endParaRPr>
                    </a:p>
                    <a:p>
                      <a:pPr marL="171450" indent="-171450" algn="just" defTabSz="990571" rtl="0" eaLnBrk="1" latinLnBrk="0" hangingPunct="1">
                        <a:spcAft>
                          <a:spcPts val="500"/>
                        </a:spcAft>
                        <a:buFont typeface="Arial" panose="020B0604020202020204" pitchFamily="34" charset="0"/>
                        <a:buChar char="•"/>
                      </a:pPr>
                      <a:endParaRPr lang="en-US" sz="1000" b="0" baseline="0" dirty="0">
                        <a:solidFill>
                          <a:schemeClr val="tx1"/>
                        </a:solidFill>
                      </a:endParaRPr>
                    </a:p>
                    <a:p>
                      <a:pPr marL="171450" indent="-171450" algn="just" defTabSz="990571" rtl="0" eaLnBrk="1" latinLnBrk="0" hangingPunct="1">
                        <a:spcAft>
                          <a:spcPts val="500"/>
                        </a:spcAft>
                        <a:buFont typeface="Arial" panose="020B0604020202020204" pitchFamily="34" charset="0"/>
                        <a:buChar char="•"/>
                      </a:pPr>
                      <a:endParaRPr lang="en-US" sz="1000" b="0" baseline="0" dirty="0">
                        <a:solidFill>
                          <a:schemeClr val="tx1"/>
                        </a:solidFill>
                      </a:endParaRPr>
                    </a:p>
                    <a:p>
                      <a:pPr marL="0" marR="0" lvl="0" indent="0" algn="l"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baseline="0" dirty="0">
                          <a:solidFill>
                            <a:schemeClr val="tx1"/>
                          </a:solidFill>
                        </a:rPr>
                        <a:t>Gas Price Tariff with LNG Imports: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As per BERC, the weighted average domestic gas production cost was  ~$ 1.43 / MMBtu in Bangladesh </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average weighted cost of supply for LNG import was ~ $ 11.63 / MMBtu</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Thus, the weighted average supply cost of natural gas (incl. LNG) was ~$ 3.97 / MMBtu.</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However the GoB has set the blended natural gas supply cost for the Power Sector at ~$1.40 / MMBtu </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Currently the Government is subsidizing the gas price for power sector by ~65% from the weighted average cost of natural gas supply as whole in Bangladesh</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77" name="Chart 76"/>
          <p:cNvGraphicFramePr/>
          <p:nvPr>
            <p:custDataLst>
              <p:tags r:id="rId5"/>
            </p:custDataLst>
            <p:extLst>
              <p:ext uri="{D42A27DB-BD31-4B8C-83A1-F6EECF244321}">
                <p14:modId xmlns:p14="http://schemas.microsoft.com/office/powerpoint/2010/main" val="54904984"/>
              </p:ext>
            </p:extLst>
          </p:nvPr>
        </p:nvGraphicFramePr>
        <p:xfrm>
          <a:off x="5749925" y="2508250"/>
          <a:ext cx="3441700" cy="1425575"/>
        </p:xfrm>
        <a:graphic>
          <a:graphicData uri="http://schemas.openxmlformats.org/drawingml/2006/chart">
            <c:chart xmlns:c="http://schemas.openxmlformats.org/drawingml/2006/chart" xmlns:r="http://schemas.openxmlformats.org/officeDocument/2006/relationships" r:id="rId21"/>
          </a:graphicData>
        </a:graphic>
      </p:graphicFrame>
      <p:sp>
        <p:nvSpPr>
          <p:cNvPr id="7" name="StandardTextbox"/>
          <p:cNvSpPr>
            <a:spLocks noGrp="1"/>
          </p:cNvSpPr>
          <p:nvPr>
            <p:custDataLst>
              <p:tags r:id="rId6"/>
            </p:custDataLst>
          </p:nvPr>
        </p:nvSpPr>
        <p:spPr bwMode="auto">
          <a:xfrm>
            <a:off x="5932488" y="3937000"/>
            <a:ext cx="8905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83BFC3A1-A166-4807-A54B-A1C4EEC734F0}" type="datetime'D''''ome''''''''''''''''''''''''''sti''c ''N''G'''' '''">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Domestic NG </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8" name="StandardTextbox"/>
          <p:cNvSpPr>
            <a:spLocks noGrp="1"/>
          </p:cNvSpPr>
          <p:nvPr>
            <p:custDataLst>
              <p:tags r:id="rId7"/>
            </p:custDataLst>
          </p:nvPr>
        </p:nvSpPr>
        <p:spPr bwMode="auto">
          <a:xfrm>
            <a:off x="7331075" y="3937000"/>
            <a:ext cx="2778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D9477F8-908E-4947-986A-F8BE8C89FA3F}" type="datetime'''''L''''''''''''''''''N''''''''''''''G'''''''''">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LNG</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0" name="StandardTextbox"/>
          <p:cNvSpPr>
            <a:spLocks noGrp="1"/>
          </p:cNvSpPr>
          <p:nvPr>
            <p:custDataLst>
              <p:tags r:id="rId8"/>
            </p:custDataLst>
          </p:nvPr>
        </p:nvSpPr>
        <p:spPr bwMode="auto">
          <a:xfrm>
            <a:off x="8396288" y="3937000"/>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C04C37C1-E47D-4A61-9F08-E70EDEC11ECD}" type="datetime'''''''''''T''''''''''o''''t''''''al'''''''''''''''">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Total</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4" name="Rectangle 43"/>
          <p:cNvSpPr/>
          <p:nvPr>
            <p:custDataLst>
              <p:tags r:id="rId9"/>
            </p:custDataLst>
          </p:nvPr>
        </p:nvSpPr>
        <p:spPr bwMode="auto">
          <a:xfrm>
            <a:off x="7150100" y="4222750"/>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 name="StandardTextbox"/>
          <p:cNvSpPr>
            <a:spLocks noGrp="1"/>
          </p:cNvSpPr>
          <p:nvPr>
            <p:custDataLst>
              <p:tags r:id="rId10"/>
            </p:custDataLst>
          </p:nvPr>
        </p:nvSpPr>
        <p:spPr bwMode="auto">
          <a:xfrm>
            <a:off x="7380288" y="4217988"/>
            <a:ext cx="593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52FC2F50-8EC3-432B-8969-FA1C20D086A5}" type="datetime'''''''''''''M''M''S''''''''''''''C''''''''''M''D'''''">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MMSCMD</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8" name="Rectangular Callout 47"/>
          <p:cNvSpPr/>
          <p:nvPr/>
        </p:nvSpPr>
        <p:spPr bwMode="gray">
          <a:xfrm>
            <a:off x="9075420" y="2766059"/>
            <a:ext cx="1291590" cy="720091"/>
          </a:xfrm>
          <a:prstGeom prst="wedgeRectCallout">
            <a:avLst>
              <a:gd name="adj1" fmla="val -64195"/>
              <a:gd name="adj2" fmla="val 52914"/>
            </a:avLst>
          </a:prstGeom>
          <a:solidFill>
            <a:schemeClr val="accent6">
              <a:lumMod val="20000"/>
              <a:lumOff val="80000"/>
            </a:schemeClr>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Imported LNG to Domestic Gas Blending Ratio - ~25%</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graphicFrame>
        <p:nvGraphicFramePr>
          <p:cNvPr id="25" name="Chart 24"/>
          <p:cNvGraphicFramePr/>
          <p:nvPr>
            <p:custDataLst>
              <p:tags r:id="rId11"/>
            </p:custDataLst>
            <p:extLst>
              <p:ext uri="{D42A27DB-BD31-4B8C-83A1-F6EECF244321}">
                <p14:modId xmlns:p14="http://schemas.microsoft.com/office/powerpoint/2010/main" val="929450936"/>
              </p:ext>
            </p:extLst>
          </p:nvPr>
        </p:nvGraphicFramePr>
        <p:xfrm>
          <a:off x="5749925" y="5103813"/>
          <a:ext cx="4533900" cy="1185862"/>
        </p:xfrm>
        <a:graphic>
          <a:graphicData uri="http://schemas.openxmlformats.org/drawingml/2006/chart">
            <c:chart xmlns:c="http://schemas.openxmlformats.org/drawingml/2006/chart" xmlns:r="http://schemas.openxmlformats.org/officeDocument/2006/relationships" r:id="rId22"/>
          </a:graphicData>
        </a:graphic>
      </p:graphicFrame>
      <p:sp>
        <p:nvSpPr>
          <p:cNvPr id="61" name="StandardTextbox"/>
          <p:cNvSpPr>
            <a:spLocks noGrp="1"/>
          </p:cNvSpPr>
          <p:nvPr>
            <p:custDataLst>
              <p:tags r:id="rId12"/>
            </p:custDataLst>
          </p:nvPr>
        </p:nvSpPr>
        <p:spPr bwMode="auto">
          <a:xfrm>
            <a:off x="9224963" y="6292850"/>
            <a:ext cx="857250"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10D385B-4465-4951-B4BB-09EAD59394F2}" type="datetime'G''as ''''T''''a''r''iff'''' for ''Po''''''''w''er ''S''ector'">
              <a:rPr kumimoji="0" lang="en-US"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Gas Tariff for Power Sector</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4" name="StandardTextbox"/>
          <p:cNvSpPr>
            <a:spLocks noGrp="1"/>
          </p:cNvSpPr>
          <p:nvPr>
            <p:custDataLst>
              <p:tags r:id="rId13"/>
            </p:custDataLst>
          </p:nvPr>
        </p:nvSpPr>
        <p:spPr bwMode="auto">
          <a:xfrm>
            <a:off x="5932488" y="6292850"/>
            <a:ext cx="8905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E568ED5F-EE9F-4488-A5A3-B960BFC7F12B}" type="datetime'D''''om''es''''''''''t''''ic ''N''''''G'' '''''''''''''">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Domestic NG </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5" name="StandardTextbox"/>
          <p:cNvSpPr>
            <a:spLocks noGrp="1"/>
          </p:cNvSpPr>
          <p:nvPr>
            <p:custDataLst>
              <p:tags r:id="rId14"/>
            </p:custDataLst>
          </p:nvPr>
        </p:nvSpPr>
        <p:spPr bwMode="auto">
          <a:xfrm>
            <a:off x="7331075" y="6292850"/>
            <a:ext cx="2778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BE2ADDF-2882-4F30-B5D5-0D1991861624}" type="datetime'''''''''''''''''''L''''''''''''''''''''''''NG'''''''''">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LNG</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6" name="StandardTextbox"/>
          <p:cNvSpPr>
            <a:spLocks noGrp="1"/>
          </p:cNvSpPr>
          <p:nvPr>
            <p:custDataLst>
              <p:tags r:id="rId15"/>
            </p:custDataLst>
          </p:nvPr>
        </p:nvSpPr>
        <p:spPr bwMode="auto">
          <a:xfrm>
            <a:off x="8129588" y="6292850"/>
            <a:ext cx="865188" cy="4572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F8478592-90E6-40BA-8CB8-AA6BDEE0866E}" type="datetime'Wei''ghted Av''erag''''e Co''st ''''of'''' ''Supp''l''y'''''''">
              <a:rPr kumimoji="0" lang="en-US"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Weighted Average Cost of Supply</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7" name="Rectangle 56"/>
          <p:cNvSpPr/>
          <p:nvPr>
            <p:custDataLst>
              <p:tags r:id="rId16"/>
            </p:custDataLst>
          </p:nvPr>
        </p:nvSpPr>
        <p:spPr bwMode="auto">
          <a:xfrm>
            <a:off x="6297613" y="6900863"/>
            <a:ext cx="179388" cy="133350"/>
          </a:xfrm>
          <a:prstGeom prst="rect">
            <a:avLst/>
          </a:prstGeom>
          <a:solidFill>
            <a:schemeClr val="accent4"/>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58" name="StandardTextbox"/>
          <p:cNvSpPr>
            <a:spLocks noGrp="1"/>
          </p:cNvSpPr>
          <p:nvPr>
            <p:custDataLst>
              <p:tags r:id="rId17"/>
            </p:custDataLst>
          </p:nvPr>
        </p:nvSpPr>
        <p:spPr bwMode="auto">
          <a:xfrm>
            <a:off x="6527800" y="6896100"/>
            <a:ext cx="29321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2CB0BA7F-8FA3-49FC-A1D9-C8EDD2DA818E}" type="datetime'Produ''ct''ion'' / Imp''ort Su''pply'' Cost ($ / M''M''B''TU)'">
              <a:rPr kumimoji="0" lang="en-US"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Production / Import Supply Cost ($ / MMBTU)</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81" name="Rectangular Callout 80"/>
          <p:cNvSpPr/>
          <p:nvPr/>
        </p:nvSpPr>
        <p:spPr bwMode="gray">
          <a:xfrm>
            <a:off x="8129588" y="4948238"/>
            <a:ext cx="1952625" cy="720091"/>
          </a:xfrm>
          <a:prstGeom prst="wedgeRectCallout">
            <a:avLst>
              <a:gd name="adj1" fmla="val 34390"/>
              <a:gd name="adj2" fmla="val 87834"/>
            </a:avLst>
          </a:prstGeom>
          <a:solidFill>
            <a:schemeClr val="accent6">
              <a:lumMod val="20000"/>
              <a:lumOff val="80000"/>
            </a:schemeClr>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Tariff for Power Sector is still lower than cost of supply of Domestic NG with ~65% subsidy</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82"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Even after the recent natural gas tariff hike, the power sector is receiving natural gas (incl. blended LNG) at level below the cost of production of domestic natural gas with overall ~65% subsidy</a:t>
            </a:r>
          </a:p>
        </p:txBody>
      </p:sp>
      <p:sp>
        <p:nvSpPr>
          <p:cNvPr id="24" name="Rectangle 23"/>
          <p:cNvSpPr/>
          <p:nvPr/>
        </p:nvSpPr>
        <p:spPr bwMode="gray">
          <a:xfrm>
            <a:off x="377227" y="7260740"/>
            <a:ext cx="5652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BERC, Deloitte Analysis</a:t>
            </a:r>
          </a:p>
        </p:txBody>
      </p:sp>
    </p:spTree>
    <p:extLst>
      <p:ext uri="{BB962C8B-B14F-4D97-AF65-F5344CB8AC3E}">
        <p14:creationId xmlns:p14="http://schemas.microsoft.com/office/powerpoint/2010/main" val="809620862"/>
      </p:ext>
    </p:extLst>
  </p:cSld>
  <p:clrMapOvr>
    <a:masterClrMapping/>
  </p:clrMapOvr>
  <p:transition>
    <p:fade/>
  </p:transition>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1714277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7" imgW="530" imgH="531" progId="TCLayout.ActiveDocument.1">
                  <p:embed/>
                </p:oleObj>
              </mc:Choice>
              <mc:Fallback>
                <p:oleObj name="think-cell Slide" r:id="rId27" imgW="530" imgH="531" progId="TCLayout.ActiveDocument.1">
                  <p:embed/>
                  <p:pic>
                    <p:nvPicPr>
                      <p:cNvPr id="4" name="Object 3" hidden="1"/>
                      <p:cNvPicPr/>
                      <p:nvPr/>
                    </p:nvPicPr>
                    <p:blipFill>
                      <a:blip r:embed="rId28"/>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graphicFrame>
        <p:nvGraphicFramePr>
          <p:cNvPr id="5" name="Table 4"/>
          <p:cNvGraphicFramePr>
            <a:graphicFrameLocks noGrp="1"/>
          </p:cNvGraphicFramePr>
          <p:nvPr>
            <p:custDataLst>
              <p:tags r:id="rId3"/>
            </p:custDataLst>
            <p:extLst>
              <p:ext uri="{D42A27DB-BD31-4B8C-83A1-F6EECF244321}">
                <p14:modId xmlns:p14="http://schemas.microsoft.com/office/powerpoint/2010/main" val="3596749215"/>
              </p:ext>
            </p:ext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figure shows the sensitivity analysis of Blending Ratio (LNG to NG) on the weighted average gas price in Bangladesh:</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8" name="Rectangle 7"/>
          <p:cNvSpPr/>
          <p:nvPr/>
        </p:nvSpPr>
        <p:spPr bwMode="gray">
          <a:xfrm>
            <a:off x="5882738" y="3074988"/>
            <a:ext cx="3446613" cy="2365535"/>
          </a:xfrm>
          <a:prstGeom prst="rect">
            <a:avLst/>
          </a:prstGeom>
          <a:solidFill>
            <a:srgbClr val="00B0F0">
              <a:alpha val="15000"/>
            </a:srgbClr>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9" name="Rectangle 68"/>
          <p:cNvSpPr/>
          <p:nvPr/>
        </p:nvSpPr>
        <p:spPr bwMode="gray">
          <a:xfrm>
            <a:off x="9329351" y="3078164"/>
            <a:ext cx="688228" cy="2364610"/>
          </a:xfrm>
          <a:prstGeom prst="rect">
            <a:avLst/>
          </a:prstGeom>
          <a:solidFill>
            <a:schemeClr val="accent1">
              <a:alpha val="15000"/>
            </a:schemeClr>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 name="Title 1"/>
          <p:cNvSpPr>
            <a:spLocks noGrp="1"/>
          </p:cNvSpPr>
          <p:nvPr>
            <p:ph type="title"/>
          </p:nvPr>
        </p:nvSpPr>
        <p:spPr/>
        <p:txBody>
          <a:bodyPr/>
          <a:lstStyle/>
          <a:p>
            <a:r>
              <a:rPr lang="en-US" dirty="0"/>
              <a:t>Power Market | Natural Gas Supply</a:t>
            </a:r>
            <a:endParaRPr lang="en-IN" dirty="0"/>
          </a:p>
        </p:txBody>
      </p:sp>
      <p:graphicFrame>
        <p:nvGraphicFramePr>
          <p:cNvPr id="6" name="Table 5"/>
          <p:cNvGraphicFramePr>
            <a:graphicFrameLocks noGrp="1"/>
          </p:cNvGraphicFramePr>
          <p:nvPr>
            <p:custDataLst>
              <p:tags r:id="rId4"/>
            </p:custDataLst>
            <p:extLst>
              <p:ext uri="{D42A27DB-BD31-4B8C-83A1-F6EECF244321}">
                <p14:modId xmlns:p14="http://schemas.microsoft.com/office/powerpoint/2010/main" val="3046948651"/>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spcAft>
                          <a:spcPts val="500"/>
                        </a:spcAft>
                        <a:buFont typeface="Arial" panose="020B0604020202020204" pitchFamily="34" charset="0"/>
                        <a:buNone/>
                      </a:pPr>
                      <a:r>
                        <a:rPr lang="en-US" sz="1000" b="1" baseline="0" dirty="0">
                          <a:solidFill>
                            <a:schemeClr val="tx1"/>
                          </a:solidFill>
                        </a:rPr>
                        <a:t>Sensitivity Analysis – Blending Ratio of LNG and NG:</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Currently Bangladesh is expected to produce ~2,560 </a:t>
                      </a:r>
                      <a:r>
                        <a:rPr lang="en-US" sz="1000" b="0" kern="1200" baseline="0" dirty="0" err="1">
                          <a:solidFill>
                            <a:schemeClr val="tx1"/>
                          </a:solidFill>
                          <a:latin typeface="+mn-lt"/>
                          <a:ea typeface="+mn-ea"/>
                          <a:cs typeface="+mn-cs"/>
                        </a:rPr>
                        <a:t>mmscfd</a:t>
                      </a:r>
                      <a:r>
                        <a:rPr lang="en-US" sz="1000" b="0" kern="1200" baseline="0" dirty="0">
                          <a:solidFill>
                            <a:schemeClr val="tx1"/>
                          </a:solidFill>
                          <a:latin typeface="+mn-lt"/>
                          <a:ea typeface="+mn-ea"/>
                          <a:cs typeface="+mn-cs"/>
                        </a:rPr>
                        <a:t> (~73 </a:t>
                      </a:r>
                      <a:r>
                        <a:rPr lang="en-US" sz="1000" b="0" kern="1200" baseline="0" dirty="0" err="1">
                          <a:solidFill>
                            <a:schemeClr val="tx1"/>
                          </a:solidFill>
                          <a:latin typeface="+mn-lt"/>
                          <a:ea typeface="+mn-ea"/>
                          <a:cs typeface="+mn-cs"/>
                        </a:rPr>
                        <a:t>mmscmd</a:t>
                      </a:r>
                      <a:r>
                        <a:rPr lang="en-US" sz="1000" b="0" kern="1200" baseline="0" dirty="0">
                          <a:solidFill>
                            <a:schemeClr val="tx1"/>
                          </a:solidFill>
                          <a:latin typeface="+mn-lt"/>
                          <a:ea typeface="+mn-ea"/>
                          <a:cs typeface="+mn-cs"/>
                        </a:rPr>
                        <a:t>) of Natural Gas and import ~850 </a:t>
                      </a:r>
                      <a:r>
                        <a:rPr lang="en-US" sz="1000" b="0" kern="1200" baseline="0" dirty="0" err="1">
                          <a:solidFill>
                            <a:schemeClr val="tx1"/>
                          </a:solidFill>
                          <a:latin typeface="+mn-lt"/>
                          <a:ea typeface="+mn-ea"/>
                          <a:cs typeface="+mn-cs"/>
                        </a:rPr>
                        <a:t>mmscfd</a:t>
                      </a:r>
                      <a:r>
                        <a:rPr lang="en-US" sz="1000" b="0" kern="1200" baseline="0" dirty="0">
                          <a:solidFill>
                            <a:schemeClr val="tx1"/>
                          </a:solidFill>
                          <a:latin typeface="+mn-lt"/>
                          <a:ea typeface="+mn-ea"/>
                          <a:cs typeface="+mn-cs"/>
                        </a:rPr>
                        <a:t> (~24 </a:t>
                      </a:r>
                      <a:r>
                        <a:rPr lang="en-US" sz="1000" b="0" kern="1200" baseline="0" dirty="0" err="1">
                          <a:solidFill>
                            <a:schemeClr val="tx1"/>
                          </a:solidFill>
                          <a:latin typeface="+mn-lt"/>
                          <a:ea typeface="+mn-ea"/>
                          <a:cs typeface="+mn-cs"/>
                        </a:rPr>
                        <a:t>mmscmd</a:t>
                      </a:r>
                      <a:r>
                        <a:rPr lang="en-US" sz="1000" b="0" kern="1200" baseline="0" dirty="0">
                          <a:solidFill>
                            <a:schemeClr val="tx1"/>
                          </a:solidFill>
                          <a:latin typeface="+mn-lt"/>
                          <a:ea typeface="+mn-ea"/>
                          <a:cs typeface="+mn-cs"/>
                        </a:rPr>
                        <a:t>) of LNG</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We conducted a sensitivity analysis to assess the impact of blended average cost of natural gas with LNG in case the blending ratio changes from current 25% (LNG : Natural Gas)</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We also considered the impact on cost of gas in case LNG price moves upward or downwards to $13 / MMBtu and $8 / MMBtu</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As can be seen on the graph on the right, the pooled prices can vary between $4 / MMBtu (current) to $~7-11 / MMBtu based on the level of LNG price and blending ratio</a:t>
                      </a:r>
                    </a:p>
                    <a:p>
                      <a:pPr marL="171450" indent="-171450" algn="just" defTabSz="990571" rtl="0" eaLnBrk="1" latinLnBrk="0" hangingPunct="1">
                        <a:spcAft>
                          <a:spcPts val="500"/>
                        </a:spcAft>
                        <a:buFont typeface="Arial" panose="020B0604020202020204" pitchFamily="34" charset="0"/>
                        <a:buChar char="•"/>
                      </a:pPr>
                      <a:endParaRPr lang="en-US" sz="1000" b="0" kern="1200" baseline="0" dirty="0">
                        <a:solidFill>
                          <a:schemeClr val="tx1"/>
                        </a:solidFill>
                        <a:latin typeface="+mn-lt"/>
                        <a:ea typeface="+mn-ea"/>
                        <a:cs typeface="+mn-cs"/>
                      </a:endParaRPr>
                    </a:p>
                    <a:p>
                      <a:pPr marL="0" indent="0">
                        <a:spcAft>
                          <a:spcPts val="500"/>
                        </a:spcAft>
                        <a:buFont typeface="Arial" panose="020B0604020202020204" pitchFamily="34" charset="0"/>
                        <a:buNone/>
                      </a:pPr>
                      <a:r>
                        <a:rPr lang="en-US" sz="1000" b="1" baseline="0" dirty="0">
                          <a:solidFill>
                            <a:schemeClr val="tx1"/>
                          </a:solidFill>
                        </a:rPr>
                        <a:t>Competitiveness of Natural Gas / LNG with HFO and HSD</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In FY19, the natural gas price for power sector players in Bangladesh was BDT 3.16 / cum or $1 / MMBtu </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At the above levels, the average energy charge for BPDB’s gas based power plant was BDT 1.05 / kWh (US Cents 1.3 / kWh) in FY19</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During FY19, the average energy charge for BPDB’s HFO and HSD based power plants were BDT ~11.44 / kWh (US cents 14.3 / kWh) and BDT ~19.37 / kWh (US Cents 24 / kWh)</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Considering the same efficiency for gas power plants in Bangladesh as that of BPDB, the average energy charge for gas based power plants would be under BDT 10 / kWh (US Cents 12.5 / kWh) till about 70% blending ratio of Natural Gas and LNG</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82" name="Strapline"/>
          <p:cNvSpPr txBox="1">
            <a:spLocks/>
          </p:cNvSpPr>
          <p:nvPr/>
        </p:nvSpPr>
        <p:spPr>
          <a:xfrm>
            <a:off x="449993" y="1079983"/>
            <a:ext cx="9791843" cy="740648"/>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Considering a scenario of zero subsidy, the gas / LNG based power plants may be competitive with HFO and HSD plants till 70% blending of Natural Gas and LNG in Bangladesh</a:t>
            </a:r>
          </a:p>
        </p:txBody>
      </p:sp>
      <p:graphicFrame>
        <p:nvGraphicFramePr>
          <p:cNvPr id="35" name="Chart 34"/>
          <p:cNvGraphicFramePr/>
          <p:nvPr>
            <p:custDataLst>
              <p:tags r:id="rId5"/>
            </p:custDataLst>
            <p:extLst>
              <p:ext uri="{D42A27DB-BD31-4B8C-83A1-F6EECF244321}">
                <p14:modId xmlns:p14="http://schemas.microsoft.com/office/powerpoint/2010/main" val="3354856155"/>
              </p:ext>
            </p:extLst>
          </p:nvPr>
        </p:nvGraphicFramePr>
        <p:xfrm>
          <a:off x="5799138" y="3128963"/>
          <a:ext cx="4375150" cy="2382837"/>
        </p:xfrm>
        <a:graphic>
          <a:graphicData uri="http://schemas.openxmlformats.org/drawingml/2006/chart">
            <c:chart xmlns:c="http://schemas.openxmlformats.org/drawingml/2006/chart" xmlns:r="http://schemas.openxmlformats.org/officeDocument/2006/relationships" r:id="rId29"/>
          </a:graphicData>
        </a:graphic>
      </p:graphicFrame>
      <p:sp useBgFill="1">
        <p:nvSpPr>
          <p:cNvPr id="101" name="StandardTextbox"/>
          <p:cNvSpPr>
            <a:spLocks noGrp="1"/>
          </p:cNvSpPr>
          <p:nvPr>
            <p:custDataLst>
              <p:tags r:id="rId6"/>
            </p:custDataLst>
          </p:nvPr>
        </p:nvSpPr>
        <p:spPr bwMode="gray">
          <a:xfrm>
            <a:off x="8994775" y="3376613"/>
            <a:ext cx="249238" cy="152400"/>
          </a:xfrm>
          <a:prstGeom prst="rect">
            <a:avLst/>
          </a:prstGeom>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r" defTabSz="990571" rtl="0" eaLnBrk="1" fontAlgn="auto" latinLnBrk="0" hangingPunct="1">
              <a:lnSpc>
                <a:spcPct val="100000"/>
              </a:lnSpc>
              <a:spcBef>
                <a:spcPct val="0"/>
              </a:spcBef>
              <a:spcAft>
                <a:spcPct val="0"/>
              </a:spcAft>
              <a:buClrTx/>
              <a:buSzPct val="100000"/>
              <a:buFont typeface="Arial"/>
              <a:buNone/>
              <a:tabLst/>
              <a:defRPr/>
            </a:pPr>
            <a:fld id="{5533CD3D-CE55-4B78-97B4-9368ED1DD308}" type="datetime'''''''9''.''''''''''5'''''''''''''">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r" defTabSz="990571" rtl="0" eaLnBrk="1" fontAlgn="auto" latinLnBrk="0" hangingPunct="1">
                <a:lnSpc>
                  <a:spcPct val="100000"/>
                </a:lnSpc>
                <a:spcBef>
                  <a:spcPct val="0"/>
                </a:spcBef>
                <a:spcAft>
                  <a:spcPct val="0"/>
                </a:spcAft>
                <a:buClrTx/>
                <a:buSzPct val="100000"/>
                <a:buFont typeface="Arial"/>
                <a:buNone/>
                <a:tabLst/>
                <a:defRPr/>
              </a:pPr>
              <a:t>9.5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24" name="StandardTextbox"/>
          <p:cNvSpPr>
            <a:spLocks noGrp="1"/>
          </p:cNvSpPr>
          <p:nvPr>
            <p:custDataLst>
              <p:tags r:id="rId7"/>
            </p:custDataLst>
          </p:nvPr>
        </p:nvSpPr>
        <p:spPr bwMode="auto">
          <a:xfrm>
            <a:off x="6416675" y="5514975"/>
            <a:ext cx="3111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E76D9FDF-505B-40AB-AF65-00DB76647337}" type="datetime'''''''''''3''''''''''''''''''''''''''0''''''''''%'">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30%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8" name="StandardTextbox"/>
          <p:cNvSpPr>
            <a:spLocks noGrp="1"/>
          </p:cNvSpPr>
          <p:nvPr>
            <p:custDataLst>
              <p:tags r:id="rId8"/>
            </p:custDataLst>
          </p:nvPr>
        </p:nvSpPr>
        <p:spPr bwMode="auto">
          <a:xfrm>
            <a:off x="7432675" y="6073775"/>
            <a:ext cx="10398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r>
              <a:rPr kumimoji="0" lang="en-IN" altLang="en-US" sz="1000" b="1" i="0" u="none" strike="noStrike" kern="1200" cap="none" spc="0" normalizeH="0" baseline="0" noProof="0" dirty="0">
                <a:ln>
                  <a:noFill/>
                </a:ln>
                <a:solidFill>
                  <a:prstClr val="black"/>
                </a:solidFill>
                <a:effectLst/>
                <a:uLnTx/>
                <a:uFillTx/>
                <a:latin typeface="Verdana"/>
                <a:ea typeface="+mn-ea"/>
                <a:cs typeface="+mn-cs"/>
                <a:sym typeface="+mn-lt"/>
              </a:rPr>
              <a:t>Blending Ratio</a:t>
            </a:r>
            <a:endParaRPr kumimoji="0" lang="en-IN" sz="1000" b="1" i="0" u="none" strike="noStrike" kern="1200" cap="none" spc="0" normalizeH="0" baseline="0" noProof="0" dirty="0">
              <a:ln>
                <a:noFill/>
              </a:ln>
              <a:solidFill>
                <a:prstClr val="black"/>
              </a:solidFill>
              <a:effectLst/>
              <a:uLnTx/>
              <a:uFillTx/>
              <a:latin typeface="Verdana"/>
              <a:ea typeface="+mn-ea"/>
              <a:cs typeface="+mn-cs"/>
              <a:sym typeface="+mn-lt"/>
            </a:endParaRPr>
          </a:p>
        </p:txBody>
      </p:sp>
      <p:sp useBgFill="1">
        <p:nvSpPr>
          <p:cNvPr id="56" name="StandardTextbox"/>
          <p:cNvSpPr>
            <a:spLocks noGrp="1"/>
          </p:cNvSpPr>
          <p:nvPr>
            <p:custDataLst>
              <p:tags r:id="rId9"/>
            </p:custDataLst>
          </p:nvPr>
        </p:nvSpPr>
        <p:spPr bwMode="gray">
          <a:xfrm>
            <a:off x="6345238" y="4576763"/>
            <a:ext cx="249238" cy="152400"/>
          </a:xfrm>
          <a:prstGeom prst="rect">
            <a:avLst/>
          </a:prstGeom>
          <a:ln>
            <a:noFill/>
          </a:ln>
        </p:spPr>
        <p:txBody>
          <a:bodyPr vert="horz" wrap="none" lIns="20638" tIns="0" rIns="20638"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28AF4961-3DF9-4C14-B71D-1A1C38AF2C84}" type="datetime'''''''''''''''''''''''''''''''''''''''''''''''''4''''.''5'">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4.5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23" name="StandardTextbox"/>
          <p:cNvSpPr>
            <a:spLocks noGrp="1"/>
          </p:cNvSpPr>
          <p:nvPr>
            <p:custDataLst>
              <p:tags r:id="rId10"/>
            </p:custDataLst>
          </p:nvPr>
        </p:nvSpPr>
        <p:spPr bwMode="auto">
          <a:xfrm>
            <a:off x="5603875" y="5514975"/>
            <a:ext cx="555625" cy="4572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928819C-28E4-4617-9460-07FF8E74B643}" type="datetime'25''% ''''(C''''''ur''''''''''''re''n''t Le''v''''el)'''">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25% (Current Level)</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25" name="StandardTextbox"/>
          <p:cNvSpPr>
            <a:spLocks noGrp="1"/>
          </p:cNvSpPr>
          <p:nvPr>
            <p:custDataLst>
              <p:tags r:id="rId11"/>
            </p:custDataLst>
          </p:nvPr>
        </p:nvSpPr>
        <p:spPr bwMode="auto">
          <a:xfrm>
            <a:off x="7107238" y="5514975"/>
            <a:ext cx="3111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F51E03FB-3889-4C24-8A89-0289BBFDE8AD}" type="datetime'''''''''''''''''''''''''''4''''''''''''''''''0''''''''%'">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40%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26" name="StandardTextbox"/>
          <p:cNvSpPr>
            <a:spLocks noGrp="1"/>
          </p:cNvSpPr>
          <p:nvPr>
            <p:custDataLst>
              <p:tags r:id="rId12"/>
            </p:custDataLst>
          </p:nvPr>
        </p:nvSpPr>
        <p:spPr bwMode="auto">
          <a:xfrm>
            <a:off x="7797800" y="5514975"/>
            <a:ext cx="3111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1E756728-6320-46CA-BE14-A8F3C3A64B91}" type="datetime'''''5''''''''''''''''''''''''''''''''0%'''''''''''">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29" name="StandardTextbox"/>
          <p:cNvSpPr>
            <a:spLocks noGrp="1"/>
          </p:cNvSpPr>
          <p:nvPr>
            <p:custDataLst>
              <p:tags r:id="rId13"/>
            </p:custDataLst>
          </p:nvPr>
        </p:nvSpPr>
        <p:spPr bwMode="auto">
          <a:xfrm>
            <a:off x="9867900" y="5514975"/>
            <a:ext cx="3111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B659907-561C-4826-9365-5E4BADCC29FD}" type="datetime'''''''''''''''''8''0%'''''''''''''''''''''''''">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80%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27" name="StandardTextbox"/>
          <p:cNvSpPr>
            <a:spLocks noGrp="1"/>
          </p:cNvSpPr>
          <p:nvPr>
            <p:custDataLst>
              <p:tags r:id="rId14"/>
            </p:custDataLst>
          </p:nvPr>
        </p:nvSpPr>
        <p:spPr bwMode="auto">
          <a:xfrm>
            <a:off x="8486775" y="5514975"/>
            <a:ext cx="3111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1940AD73-1C1E-4B6B-AEFB-3DDAC03DAB23}" type="datetime'6''''''''''''''''''''''0''''''''%'''''''''''''''''''">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28" name="StandardTextbox"/>
          <p:cNvSpPr>
            <a:spLocks noGrp="1"/>
          </p:cNvSpPr>
          <p:nvPr>
            <p:custDataLst>
              <p:tags r:id="rId15"/>
            </p:custDataLst>
          </p:nvPr>
        </p:nvSpPr>
        <p:spPr bwMode="auto">
          <a:xfrm>
            <a:off x="9177338" y="5514975"/>
            <a:ext cx="3111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82D039D-1D59-434E-BD90-7D1D01763499}" type="datetime'70''''''''''%'''''''''''''''''''">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70%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useBgFill="1">
        <p:nvSpPr>
          <p:cNvPr id="104" name="StandardTextbox"/>
          <p:cNvSpPr>
            <a:spLocks noGrp="1"/>
          </p:cNvSpPr>
          <p:nvPr>
            <p:custDataLst>
              <p:tags r:id="rId16"/>
            </p:custDataLst>
          </p:nvPr>
        </p:nvSpPr>
        <p:spPr bwMode="gray">
          <a:xfrm>
            <a:off x="9604375" y="3135313"/>
            <a:ext cx="330200" cy="152400"/>
          </a:xfrm>
          <a:prstGeom prst="rect">
            <a:avLst/>
          </a:prstGeom>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r" defTabSz="990571" rtl="0" eaLnBrk="1" fontAlgn="auto" latinLnBrk="0" hangingPunct="1">
              <a:lnSpc>
                <a:spcPct val="100000"/>
              </a:lnSpc>
              <a:spcBef>
                <a:spcPct val="0"/>
              </a:spcBef>
              <a:spcAft>
                <a:spcPct val="0"/>
              </a:spcAft>
              <a:buClrTx/>
              <a:buSzPct val="100000"/>
              <a:buFont typeface="Arial"/>
              <a:buNone/>
              <a:tabLst/>
              <a:defRPr/>
            </a:pPr>
            <a:fld id="{F02F71B9-5556-450E-81FB-BB10D61293F3}" type="datetime'''''''''1''''''''0''''.''7'''''''''''''''''''''''''''''''''''">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r" defTabSz="990571" rtl="0" eaLnBrk="1" fontAlgn="auto" latinLnBrk="0" hangingPunct="1">
                <a:lnSpc>
                  <a:spcPct val="100000"/>
                </a:lnSpc>
                <a:spcBef>
                  <a:spcPct val="0"/>
                </a:spcBef>
                <a:spcAft>
                  <a:spcPct val="0"/>
                </a:spcAft>
                <a:buClrTx/>
                <a:buSzPct val="100000"/>
                <a:buFont typeface="Arial"/>
                <a:buNone/>
                <a:tabLst/>
                <a:defRPr/>
              </a:pPr>
              <a:t>10.7</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cxnSp>
        <p:nvCxnSpPr>
          <p:cNvPr id="15" name="Straight Connector 14"/>
          <p:cNvCxnSpPr/>
          <p:nvPr>
            <p:custDataLst>
              <p:tags r:id="rId17"/>
            </p:custDataLst>
          </p:nvPr>
        </p:nvCxnSpPr>
        <p:spPr bwMode="gray">
          <a:xfrm>
            <a:off x="5832475" y="6545263"/>
            <a:ext cx="142875" cy="0"/>
          </a:xfrm>
          <a:prstGeom prst="line">
            <a:avLst/>
          </a:prstGeom>
          <a:ln w="28575" cap="rnd" cmpd="sng" algn="ctr">
            <a:solidFill>
              <a:srgbClr val="86BC25"/>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custDataLst>
              <p:tags r:id="rId18"/>
            </p:custDataLst>
          </p:nvPr>
        </p:nvCxnSpPr>
        <p:spPr bwMode="gray">
          <a:xfrm>
            <a:off x="5832475" y="6718300"/>
            <a:ext cx="142875" cy="0"/>
          </a:xfrm>
          <a:prstGeom prst="line">
            <a:avLst/>
          </a:prstGeom>
          <a:ln w="28575" cap="rnd" cmpd="sng" algn="ctr">
            <a:solidFill>
              <a:schemeClr val="accent4"/>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custDataLst>
              <p:tags r:id="rId19"/>
            </p:custDataLst>
          </p:nvPr>
        </p:nvCxnSpPr>
        <p:spPr bwMode="gray">
          <a:xfrm>
            <a:off x="5832475" y="6891338"/>
            <a:ext cx="142875" cy="0"/>
          </a:xfrm>
          <a:prstGeom prst="line">
            <a:avLst/>
          </a:prstGeom>
          <a:ln w="28575" cap="rnd" cmpd="sng" algn="ctr">
            <a:solidFill>
              <a:schemeClr val="accent5"/>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 name="Oval 17"/>
          <p:cNvSpPr/>
          <p:nvPr>
            <p:custDataLst>
              <p:tags r:id="rId20"/>
            </p:custDataLst>
          </p:nvPr>
        </p:nvSpPr>
        <p:spPr bwMode="auto">
          <a:xfrm>
            <a:off x="5872163" y="6513513"/>
            <a:ext cx="63500" cy="63500"/>
          </a:xfrm>
          <a:prstGeom prst="ellipse">
            <a:avLst/>
          </a:prstGeom>
          <a:solidFill>
            <a:srgbClr val="86BC25"/>
          </a:solidFill>
          <a:ln w="9525" algn="ctr">
            <a:solidFill>
              <a:srgbClr val="86BC2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 name="Diamond 19"/>
          <p:cNvSpPr/>
          <p:nvPr>
            <p:custDataLst>
              <p:tags r:id="rId21"/>
            </p:custDataLst>
          </p:nvPr>
        </p:nvSpPr>
        <p:spPr bwMode="auto">
          <a:xfrm>
            <a:off x="5872163" y="6859588"/>
            <a:ext cx="63500" cy="63500"/>
          </a:xfrm>
          <a:prstGeom prst="diamond">
            <a:avLst/>
          </a:prstGeom>
          <a:solidFill>
            <a:schemeClr val="accent5"/>
          </a:solidFill>
          <a:ln w="9525" algn="ctr">
            <a:solidFill>
              <a:schemeClr val="accent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9" name="Isosceles Triangle 18"/>
          <p:cNvSpPr/>
          <p:nvPr>
            <p:custDataLst>
              <p:tags r:id="rId22"/>
            </p:custDataLst>
          </p:nvPr>
        </p:nvSpPr>
        <p:spPr bwMode="auto">
          <a:xfrm>
            <a:off x="5872163" y="6686550"/>
            <a:ext cx="63500" cy="63500"/>
          </a:xfrm>
          <a:prstGeom prst="triangle">
            <a:avLst/>
          </a:prstGeom>
          <a:solidFill>
            <a:schemeClr val="accent4"/>
          </a:solidFill>
          <a:ln w="9525" algn="ctr">
            <a:solidFill>
              <a:schemeClr val="accent4"/>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8" name="StandardTextbox"/>
          <p:cNvSpPr>
            <a:spLocks noGrp="1"/>
          </p:cNvSpPr>
          <p:nvPr>
            <p:custDataLst>
              <p:tags r:id="rId23"/>
            </p:custDataLst>
          </p:nvPr>
        </p:nvSpPr>
        <p:spPr bwMode="auto">
          <a:xfrm>
            <a:off x="6062662" y="6488113"/>
            <a:ext cx="416560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E1168264-05E7-4575-9D07-AB40A28E16A2}" type="thinkcell&lt;?xml version=&quot;1.0&quot; encoding=&quot;UTF-16&quot; standalone=&quot;yes&quot;?&gt;&lt;root reqver=&quot;25060&quot;&gt;&lt;version val=&quot;28278&quot;/&gt;&lt;PersistentType&gt;&lt;m_guid val=&quot;c4a2f3f3-f012-42fb-a11b-254922958821&quot;/&gt;&lt;m_prec&gt;&lt;m_bNumberIsYear val=&quot;0&quot;/&gt;&lt;m_chDecimalSymbol17909&gt;.&lt;/m_chDecimalSymbol17909&gt;&lt;m_yearfmt&gt;&lt;begin val=&quot;0&quot;/&gt;&lt;end val=&quot;4&quot;/&gt;&lt;/m_yearfmt&gt;&lt;/m_prec&gt;&lt;/PersistentType&gt;&lt;/root&gt;">
              <a:rPr kumimoji="0" lang="en-US" altLang="en-US" sz="8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Weighted Average Cost of Natural Gas with $11.63 / MMBTU LNG (Current Price)</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9" name="StandardTextbox"/>
          <p:cNvSpPr>
            <a:spLocks noGrp="1"/>
          </p:cNvSpPr>
          <p:nvPr>
            <p:custDataLst>
              <p:tags r:id="rId24"/>
            </p:custDataLst>
          </p:nvPr>
        </p:nvSpPr>
        <p:spPr bwMode="auto">
          <a:xfrm>
            <a:off x="6062663" y="6661150"/>
            <a:ext cx="3135313"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80213301-FC37-44D6-A09E-9F37AAF6C8DC}" type="datetime'W''eighted Average Cost of Natural Gas with $8'' / MMBTU LNG'">
              <a:rPr kumimoji="0" lang="en-US" altLang="en-US" sz="8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Weighted Average Cost of Natural Gas with $8 / MMBTU LNG</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0" name="StandardTextbox"/>
          <p:cNvSpPr>
            <a:spLocks noGrp="1"/>
          </p:cNvSpPr>
          <p:nvPr>
            <p:custDataLst>
              <p:tags r:id="rId25"/>
            </p:custDataLst>
          </p:nvPr>
        </p:nvSpPr>
        <p:spPr bwMode="auto">
          <a:xfrm>
            <a:off x="6062662" y="6834188"/>
            <a:ext cx="320040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6BFC64AF-6D0A-495E-B075-7DC10A87B65F}" type="datetime'Weighted Average Cost ''of Natural Gas with $13 / MMBT''U LNG'">
              <a:rPr kumimoji="0" lang="en-US" altLang="en-US" sz="8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Weighted Average Cost of Natural Gas with $13 / MMBTU LNG</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1" name="Rectangle 20"/>
          <p:cNvSpPr/>
          <p:nvPr/>
        </p:nvSpPr>
        <p:spPr bwMode="gray">
          <a:xfrm>
            <a:off x="5524500" y="2649084"/>
            <a:ext cx="4778895" cy="221116"/>
          </a:xfrm>
          <a:prstGeom prst="rect">
            <a:avLst/>
          </a:prstGeom>
          <a:no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1" i="0" u="none" strike="noStrike" kern="1200" cap="none" spc="0" normalizeH="0" baseline="0" noProof="0" dirty="0">
                <a:ln>
                  <a:noFill/>
                </a:ln>
                <a:solidFill>
                  <a:prstClr val="black"/>
                </a:solidFill>
                <a:effectLst/>
                <a:uLnTx/>
                <a:uFillTx/>
                <a:latin typeface="Verdana"/>
                <a:ea typeface="+mn-ea"/>
                <a:cs typeface="+mn-cs"/>
              </a:rPr>
              <a:t>Impact of Blending Ratio on Weighted Average Cost of Natural Gas in Bangladesh ($ / MMBTU)</a:t>
            </a:r>
            <a:endParaRPr kumimoji="0" lang="en-IN"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10" name="Rectangle 9"/>
          <p:cNvSpPr/>
          <p:nvPr/>
        </p:nvSpPr>
        <p:spPr bwMode="gray">
          <a:xfrm>
            <a:off x="6857134" y="4872039"/>
            <a:ext cx="2334898" cy="354012"/>
          </a:xfrm>
          <a:prstGeom prst="rect">
            <a:avLst/>
          </a:prstGeom>
          <a:noFill/>
          <a:ln w="19050" algn="ctr">
            <a:solidFill>
              <a:schemeClr val="tx1"/>
            </a:solidFill>
            <a:prstDash val="sysDash"/>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800" b="0" i="0" u="none" strike="noStrike" kern="1200" cap="none" spc="0" normalizeH="0" baseline="0" noProof="0" dirty="0">
                <a:ln>
                  <a:noFill/>
                </a:ln>
                <a:solidFill>
                  <a:sysClr val="windowText" lastClr="000000"/>
                </a:solidFill>
                <a:effectLst/>
                <a:uLnTx/>
                <a:uFillTx/>
                <a:latin typeface="Verdana"/>
                <a:ea typeface="+mn-ea"/>
                <a:cs typeface="+mn-cs"/>
              </a:rPr>
              <a:t>Till 70% Blending Ratio, Natural Gas should be competitive with HFO and HSD</a:t>
            </a:r>
            <a:endParaRPr kumimoji="0" lang="en-IN" sz="800" b="0" i="0" u="none" strike="noStrike" kern="1200" cap="none" spc="0" normalizeH="0" baseline="0" noProof="0" dirty="0">
              <a:ln>
                <a:noFill/>
              </a:ln>
              <a:solidFill>
                <a:sysClr val="windowText" lastClr="000000"/>
              </a:solidFill>
              <a:effectLst/>
              <a:uLnTx/>
              <a:uFillTx/>
              <a:latin typeface="Verdana"/>
              <a:ea typeface="+mn-ea"/>
              <a:cs typeface="+mn-cs"/>
            </a:endParaRPr>
          </a:p>
        </p:txBody>
      </p:sp>
      <p:sp>
        <p:nvSpPr>
          <p:cNvPr id="33" name="Rectangle 32"/>
          <p:cNvSpPr/>
          <p:nvPr/>
        </p:nvSpPr>
        <p:spPr bwMode="gray">
          <a:xfrm>
            <a:off x="367395" y="729113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BERC, Deloitte Analysis; Note 1) Sensitivity Analysis based on landed cost of LNG (as per BERC tariff order) of $11.63 / MMBtu and cost of domestic gas production at $1.43 / MMBtu (as per BERC tariff order) which with the current blending ratio of 25% leads to weighted average price of ~$ 3.98 / MMBtu 2) The sensitivity analysis has been done on estimates of LNG price while considering the domestic cost of production of Natural gas constant at FY20 levels</a:t>
            </a:r>
          </a:p>
        </p:txBody>
      </p:sp>
    </p:spTree>
    <p:extLst>
      <p:ext uri="{BB962C8B-B14F-4D97-AF65-F5344CB8AC3E}">
        <p14:creationId xmlns:p14="http://schemas.microsoft.com/office/powerpoint/2010/main" val="3639005353"/>
      </p:ext>
    </p:extLst>
  </p:cSld>
  <p:clrMapOvr>
    <a:masterClrMapping/>
  </p:clrMapOvr>
  <p:transition>
    <p:fade/>
  </p:transition>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54745004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US" sz="3898" b="1" u="none" strike="noStrike" kern="1200" cap="none" spc="0" normalizeH="0" noProof="0" dirty="0">
              <a:ln>
                <a:noFill/>
              </a:ln>
              <a:solidFill>
                <a:prstClr val="white"/>
              </a:solidFill>
              <a:effectLst/>
              <a:uLnTx/>
              <a:uFillTx/>
              <a:latin typeface="Verdana" panose="020B0604030504040204" pitchFamily="34" charset="0"/>
              <a:ea typeface="Open Sans" panose="020B0606030504020204" pitchFamily="34" charset="0"/>
              <a:cs typeface="Open Sans" panose="020B0606030504020204" pitchFamily="34" charset="0"/>
              <a:sym typeface="Verdana" panose="020B0604030504040204" pitchFamily="34" charset="0"/>
            </a:endParaRPr>
          </a:p>
        </p:txBody>
      </p:sp>
      <p:sp>
        <p:nvSpPr>
          <p:cNvPr id="2" name="Title 1"/>
          <p:cNvSpPr>
            <a:spLocks noGrp="1"/>
          </p:cNvSpPr>
          <p:nvPr>
            <p:ph type="title"/>
          </p:nvPr>
        </p:nvSpPr>
        <p:spPr>
          <a:xfrm>
            <a:off x="439925" y="1880184"/>
            <a:ext cx="9243963" cy="2147709"/>
          </a:xfrm>
        </p:spPr>
        <p:txBody>
          <a:bodyPr/>
          <a:lstStyle/>
          <a:p>
            <a:r>
              <a:rPr lang="en-US" dirty="0"/>
              <a:t>Demand Projection - Scenario – Business As Usual (PSMP Revised)</a:t>
            </a:r>
            <a:endParaRPr lang="en-IN" dirty="0"/>
          </a:p>
        </p:txBody>
      </p:sp>
    </p:spTree>
    <p:extLst>
      <p:ext uri="{BB962C8B-B14F-4D97-AF65-F5344CB8AC3E}">
        <p14:creationId xmlns:p14="http://schemas.microsoft.com/office/powerpoint/2010/main" val="1997103042"/>
      </p:ext>
    </p:extLst>
  </p:cSld>
  <p:clrMapOvr>
    <a:masterClrMapping/>
  </p:clrMapOvr>
  <p:transition>
    <p:fade/>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116860326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1" imgW="530" imgH="531" progId="TCLayout.ActiveDocument.1">
                  <p:embed/>
                </p:oleObj>
              </mc:Choice>
              <mc:Fallback>
                <p:oleObj name="think-cell Slide" r:id="rId41" imgW="530" imgH="531" progId="TCLayout.ActiveDocument.1">
                  <p:embed/>
                  <p:pic>
                    <p:nvPicPr>
                      <p:cNvPr id="4" name="Object 3" hidden="1"/>
                      <p:cNvPicPr/>
                      <p:nvPr/>
                    </p:nvPicPr>
                    <p:blipFill>
                      <a:blip r:embed="rId42"/>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IN" sz="900" b="1" u="none" strike="noStrike" kern="1200" cap="none" spc="0" normalizeH="0" noProof="0" dirty="0">
              <a:ln>
                <a:noFill/>
              </a:ln>
              <a:solidFill>
                <a:prstClr val="white"/>
              </a:solidFill>
              <a:effectLst/>
              <a:uLnTx/>
              <a:uFillTx/>
              <a:latin typeface="Verdana" panose="020B0604030504040204" pitchFamily="34" charset="0"/>
              <a:sym typeface="Verdana" panose="020B0604030504040204" pitchFamily="34" charset="0"/>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2935457728"/>
              </p:ext>
            </p:ext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figure shows the Peak Demand (MW) Projection in MW till FY26 and FY30:</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figure shows Net Energy Consumption Ex-Bus (MU) and Average Demand (MW) till FY26 and FY30:</a:t>
                      </a:r>
                    </a:p>
                    <a:p>
                      <a:pPr marL="171450" lvl="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Power Market | Demand Projection (as per PSMP – Revised)</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Based on revision in the GDP elasticity and consideration of the slow uptake of EE&amp;C measures, the peak demand in Bangladesh may increase to </a:t>
            </a:r>
            <a:r>
              <a:rPr lang="en-US" sz="1400" dirty="0">
                <a:solidFill>
                  <a:prstClr val="black">
                    <a:lumMod val="50000"/>
                    <a:lumOff val="50000"/>
                  </a:prstClr>
                </a:solidFill>
                <a:latin typeface="Verdana" panose="020B0604030504040204" pitchFamily="34" charset="0"/>
              </a:rPr>
              <a:t>27</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,728 MW by FY26 and</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~36,350 MY by FY30</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1933690207"/>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lgn="just">
                        <a:spcAft>
                          <a:spcPts val="500"/>
                        </a:spcAft>
                        <a:buFont typeface="Arial" panose="020B0604020202020204" pitchFamily="34" charset="0"/>
                        <a:buNone/>
                      </a:pPr>
                      <a:r>
                        <a:rPr lang="en-US" sz="1000" b="1" baseline="0" dirty="0">
                          <a:solidFill>
                            <a:schemeClr val="tx1"/>
                          </a:solidFill>
                        </a:rPr>
                        <a:t>Peak Demand Forecasting – PSMP (revised with GDP Elasticity &amp; EE&amp;C impact)</a:t>
                      </a:r>
                      <a:endParaRPr lang="en-US" sz="1000" b="0" baseline="0" dirty="0">
                        <a:solidFill>
                          <a:schemeClr val="tx1"/>
                        </a:solidFill>
                      </a:endParaRPr>
                    </a:p>
                    <a:p>
                      <a:pPr marL="171450" indent="-171450" algn="just">
                        <a:spcAft>
                          <a:spcPts val="500"/>
                        </a:spcAft>
                        <a:buFont typeface="Arial" panose="020B0604020202020204" pitchFamily="34" charset="0"/>
                        <a:buChar char="•"/>
                      </a:pPr>
                      <a:r>
                        <a:rPr lang="en-US" sz="1000" b="0" baseline="0" dirty="0">
                          <a:solidFill>
                            <a:schemeClr val="tx1"/>
                          </a:solidFill>
                        </a:rPr>
                        <a:t>PSMP 2016 &amp; its Revision have considered GDP elasticity of Bangladesh at 1.27 with electricity generation</a:t>
                      </a:r>
                    </a:p>
                    <a:p>
                      <a:pPr marL="171450" indent="-171450" algn="just">
                        <a:spcAft>
                          <a:spcPts val="500"/>
                        </a:spcAft>
                        <a:buFont typeface="Arial" panose="020B0604020202020204" pitchFamily="34" charset="0"/>
                        <a:buChar char="•"/>
                      </a:pPr>
                      <a:r>
                        <a:rPr lang="en-US" sz="1000" b="0" baseline="0" dirty="0">
                          <a:solidFill>
                            <a:schemeClr val="tx1"/>
                          </a:solidFill>
                        </a:rPr>
                        <a:t>The elasticity was computed from the period 2005 to 2014 (10 years)</a:t>
                      </a:r>
                    </a:p>
                    <a:p>
                      <a:pPr marL="171450" indent="-171450" algn="just">
                        <a:spcAft>
                          <a:spcPts val="500"/>
                        </a:spcAft>
                        <a:buFont typeface="Arial" panose="020B0604020202020204" pitchFamily="34" charset="0"/>
                        <a:buChar char="•"/>
                      </a:pPr>
                      <a:r>
                        <a:rPr lang="en-US" sz="1000" b="0" baseline="0" dirty="0">
                          <a:solidFill>
                            <a:schemeClr val="tx1"/>
                          </a:solidFill>
                        </a:rPr>
                        <a:t>We re-computed the GDP elasticity from 2010 to 2019 (10 years) at 1.62 based on the latest data till FY24 after which we have considered the GDP elasticity at 1.5 considering that Bangladesh would have achieved 100% electrification by then</a:t>
                      </a:r>
                    </a:p>
                    <a:p>
                      <a:pPr marL="171450" indent="-171450" algn="just">
                        <a:spcAft>
                          <a:spcPts val="500"/>
                        </a:spcAft>
                        <a:buFont typeface="Arial" panose="020B0604020202020204" pitchFamily="34" charset="0"/>
                        <a:buChar char="•"/>
                      </a:pPr>
                      <a:r>
                        <a:rPr lang="en-US" sz="1000" b="0" baseline="0" dirty="0">
                          <a:solidFill>
                            <a:schemeClr val="tx1"/>
                          </a:solidFill>
                        </a:rPr>
                        <a:t>PSMP had also considered the impact of EE&amp;C measures on the overall power demand in Bangladesh.</a:t>
                      </a:r>
                    </a:p>
                    <a:p>
                      <a:pPr marL="171450" indent="-171450" algn="just">
                        <a:spcAft>
                          <a:spcPts val="500"/>
                        </a:spcAft>
                        <a:buFont typeface="Arial" panose="020B0604020202020204" pitchFamily="34" charset="0"/>
                        <a:buChar char="•"/>
                      </a:pPr>
                      <a:r>
                        <a:rPr lang="en-US" sz="1000" b="0" baseline="0" dirty="0">
                          <a:solidFill>
                            <a:schemeClr val="tx1"/>
                          </a:solidFill>
                        </a:rPr>
                        <a:t>However considering the slow pace of uptake of EE&amp;C measures we have considered the EE&amp;C growth rate considered by PSMP to halve till FY24 and then increase incrementally to reach a similar value by FY30 as considered in the PSMP.</a:t>
                      </a: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r>
                        <a:rPr lang="en-US" sz="1000" b="1" baseline="0" dirty="0">
                          <a:solidFill>
                            <a:schemeClr val="tx1"/>
                          </a:solidFill>
                        </a:rPr>
                        <a:t>Net Energy Consumption (ex-bus) and Average Demand – PSMP:</a:t>
                      </a:r>
                    </a:p>
                    <a:p>
                      <a:pPr marL="171450" indent="-171450" algn="just">
                        <a:spcAft>
                          <a:spcPts val="500"/>
                        </a:spcAft>
                        <a:buFont typeface="Arial" panose="020B0604020202020204" pitchFamily="34" charset="0"/>
                        <a:buChar char="•"/>
                      </a:pPr>
                      <a:r>
                        <a:rPr lang="en-US" sz="1000" b="0" baseline="0" dirty="0">
                          <a:solidFill>
                            <a:schemeClr val="tx1"/>
                          </a:solidFill>
                        </a:rPr>
                        <a:t>Based on the Peak Demand projected above, we considered the system load factor (ranging between ~60.6% to 64.6%) YoY  considered by PSMP 2016 – Revised projections to determine the average power demand during the year</a:t>
                      </a:r>
                    </a:p>
                    <a:p>
                      <a:pPr marL="171450" indent="-171450" algn="just">
                        <a:spcAft>
                          <a:spcPts val="500"/>
                        </a:spcAft>
                        <a:buFont typeface="Arial" panose="020B0604020202020204" pitchFamily="34" charset="0"/>
                        <a:buChar char="•"/>
                      </a:pPr>
                      <a:r>
                        <a:rPr lang="en-US" sz="1000" b="0" baseline="0" dirty="0">
                          <a:solidFill>
                            <a:schemeClr val="tx1"/>
                          </a:solidFill>
                        </a:rPr>
                        <a:t>The average power demand was used to derive the expected net electricity consumption (ex-bus) for Bangladesh during the period between FY20 to FY26 and FY30 using system load factor considered as above</a:t>
                      </a:r>
                    </a:p>
                    <a:p>
                      <a:pPr marL="0" indent="0" algn="just">
                        <a:spcAft>
                          <a:spcPts val="500"/>
                        </a:spcAft>
                        <a:buFont typeface="Arial" panose="020B0604020202020204" pitchFamily="34" charset="0"/>
                        <a:buNone/>
                      </a:pPr>
                      <a:endParaRPr lang="en-US" sz="1000" b="1"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04" name="Chart 103"/>
          <p:cNvGraphicFramePr/>
          <p:nvPr>
            <p:custDataLst>
              <p:tags r:id="rId5"/>
            </p:custDataLst>
            <p:extLst>
              <p:ext uri="{D42A27DB-BD31-4B8C-83A1-F6EECF244321}">
                <p14:modId xmlns:p14="http://schemas.microsoft.com/office/powerpoint/2010/main" val="3011465648"/>
              </p:ext>
            </p:extLst>
          </p:nvPr>
        </p:nvGraphicFramePr>
        <p:xfrm>
          <a:off x="5441950" y="2728913"/>
          <a:ext cx="4881563" cy="1349375"/>
        </p:xfrm>
        <a:graphic>
          <a:graphicData uri="http://schemas.openxmlformats.org/drawingml/2006/chart">
            <c:chart xmlns:c="http://schemas.openxmlformats.org/drawingml/2006/chart" xmlns:r="http://schemas.openxmlformats.org/officeDocument/2006/relationships" r:id="rId43"/>
          </a:graphicData>
        </a:graphic>
      </p:graphicFrame>
      <p:sp useBgFill="1">
        <p:nvSpPr>
          <p:cNvPr id="228" name="Freeform 227"/>
          <p:cNvSpPr/>
          <p:nvPr>
            <p:custDataLst>
              <p:tags r:id="rId6"/>
            </p:custDataLst>
          </p:nvPr>
        </p:nvSpPr>
        <p:spPr bwMode="auto">
          <a:xfrm>
            <a:off x="7048500" y="3922713"/>
            <a:ext cx="96839" cy="146051"/>
          </a:xfrm>
          <a:custGeom>
            <a:avLst/>
            <a:gdLst/>
            <a:ahLst/>
            <a:cxnLst/>
            <a:rect l="0" t="0" r="0" b="0"/>
            <a:pathLst>
              <a:path w="96839" h="146051">
                <a:moveTo>
                  <a:pt x="96838" y="0"/>
                </a:moveTo>
                <a:lnTo>
                  <a:pt x="57150" y="146050"/>
                </a:lnTo>
                <a:lnTo>
                  <a:pt x="0" y="146050"/>
                </a:lnTo>
                <a:lnTo>
                  <a:pt x="39688" y="0"/>
                </a:lnTo>
                <a:close/>
              </a:path>
            </a:pathLst>
          </a:custGeom>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useBgFill="1">
        <p:nvSpPr>
          <p:cNvPr id="231" name="Freeform 230"/>
          <p:cNvSpPr/>
          <p:nvPr>
            <p:custDataLst>
              <p:tags r:id="rId7"/>
            </p:custDataLst>
          </p:nvPr>
        </p:nvSpPr>
        <p:spPr bwMode="auto">
          <a:xfrm>
            <a:off x="8621713" y="3922713"/>
            <a:ext cx="96838" cy="146051"/>
          </a:xfrm>
          <a:custGeom>
            <a:avLst/>
            <a:gdLst/>
            <a:ahLst/>
            <a:cxnLst/>
            <a:rect l="0" t="0" r="0" b="0"/>
            <a:pathLst>
              <a:path w="96838" h="146051">
                <a:moveTo>
                  <a:pt x="96837" y="0"/>
                </a:moveTo>
                <a:lnTo>
                  <a:pt x="57150" y="146050"/>
                </a:lnTo>
                <a:lnTo>
                  <a:pt x="0" y="146050"/>
                </a:lnTo>
                <a:lnTo>
                  <a:pt x="39687" y="0"/>
                </a:lnTo>
                <a:close/>
              </a:path>
            </a:pathLst>
          </a:custGeom>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26" name="Freeform 225"/>
          <p:cNvSpPr/>
          <p:nvPr>
            <p:custDataLst>
              <p:tags r:id="rId8"/>
            </p:custDataLst>
          </p:nvPr>
        </p:nvSpPr>
        <p:spPr bwMode="auto">
          <a:xfrm>
            <a:off x="7048500" y="3922713"/>
            <a:ext cx="39689" cy="146051"/>
          </a:xfrm>
          <a:custGeom>
            <a:avLst/>
            <a:gdLst/>
            <a:ahLst/>
            <a:cxnLst/>
            <a:rect l="0" t="0" r="0" b="0"/>
            <a:pathLst>
              <a:path w="39689" h="146051">
                <a:moveTo>
                  <a:pt x="39688"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227" name="Freeform 226"/>
          <p:cNvSpPr/>
          <p:nvPr>
            <p:custDataLst>
              <p:tags r:id="rId9"/>
            </p:custDataLst>
          </p:nvPr>
        </p:nvSpPr>
        <p:spPr bwMode="auto">
          <a:xfrm>
            <a:off x="7105650" y="3922713"/>
            <a:ext cx="39689" cy="146051"/>
          </a:xfrm>
          <a:custGeom>
            <a:avLst/>
            <a:gdLst/>
            <a:ahLst/>
            <a:cxnLst/>
            <a:rect l="0" t="0" r="0" b="0"/>
            <a:pathLst>
              <a:path w="39689" h="146051">
                <a:moveTo>
                  <a:pt x="39688"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229" name="Freeform 228"/>
          <p:cNvSpPr/>
          <p:nvPr>
            <p:custDataLst>
              <p:tags r:id="rId10"/>
            </p:custDataLst>
          </p:nvPr>
        </p:nvSpPr>
        <p:spPr bwMode="auto">
          <a:xfrm>
            <a:off x="8621713" y="3922713"/>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230" name="Freeform 229"/>
          <p:cNvSpPr/>
          <p:nvPr>
            <p:custDataLst>
              <p:tags r:id="rId11"/>
            </p:custDataLst>
          </p:nvPr>
        </p:nvSpPr>
        <p:spPr bwMode="auto">
          <a:xfrm>
            <a:off x="8678863" y="3922713"/>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cxnSp>
        <p:nvCxnSpPr>
          <p:cNvPr id="12" name="Straight Connector 11"/>
          <p:cNvCxnSpPr/>
          <p:nvPr>
            <p:custDataLst>
              <p:tags r:id="rId12"/>
            </p:custDataLst>
          </p:nvPr>
        </p:nvCxnSpPr>
        <p:spPr bwMode="auto">
          <a:xfrm flipV="1">
            <a:off x="6310312" y="2389188"/>
            <a:ext cx="3144838" cy="687388"/>
          </a:xfrm>
          <a:prstGeom prst="line">
            <a:avLst/>
          </a:prstGeom>
          <a:ln w="6350" cap="flat" cmpd="sng" algn="ctr">
            <a:solidFill>
              <a:schemeClr val="tx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2" name="StandardTextbox"/>
          <p:cNvSpPr>
            <a:spLocks noGrp="1"/>
          </p:cNvSpPr>
          <p:nvPr>
            <p:custDataLst>
              <p:tags r:id="rId13"/>
            </p:custDataLst>
          </p:nvPr>
        </p:nvSpPr>
        <p:spPr bwMode="auto">
          <a:xfrm>
            <a:off x="6164263" y="4071938"/>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4E19CD3E-6420-40AE-8195-D8CC6E025309}" type="datetime'''''''FY''''''''2''''''''''''''''0'''''''">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FY20</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16" name="StandardTextbox"/>
          <p:cNvSpPr>
            <a:spLocks noGrp="1"/>
          </p:cNvSpPr>
          <p:nvPr>
            <p:custDataLst>
              <p:tags r:id="rId14"/>
            </p:custDataLst>
          </p:nvPr>
        </p:nvSpPr>
        <p:spPr bwMode="auto">
          <a:xfrm>
            <a:off x="7735888" y="4071938"/>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41AA8446-7E88-45EA-B1AD-A4DA8C005C04}" type="datetime'''''''''''''''''''''''''F''''''''''Y''''''2''''''''''''''6'''">
              <a:rPr lang="en-IN" altLang="en-US" sz="900" b="0" smtClean="0">
                <a:solidFill>
                  <a:srgbClr val="000000"/>
                </a:solidFill>
              </a:rPr>
              <a:pPr lvl="1" algn="ctr">
                <a:spcBef>
                  <a:spcPct val="0"/>
                </a:spcBef>
                <a:spcAft>
                  <a:spcPct val="0"/>
                </a:spcAft>
                <a:defRPr/>
              </a:pPr>
              <a:t>FY26</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37" name="StandardTextbox"/>
          <p:cNvSpPr>
            <a:spLocks noGrp="1"/>
          </p:cNvSpPr>
          <p:nvPr>
            <p:custDataLst>
              <p:tags r:id="rId15"/>
            </p:custDataLst>
          </p:nvPr>
        </p:nvSpPr>
        <p:spPr bwMode="auto">
          <a:xfrm>
            <a:off x="9309100" y="4071938"/>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9E700C44-35EC-4A8F-B025-18EB3F9249E6}" type="datetime'''''''''''''''''''F''''''''Y''''''3''''''''''''0'''''">
              <a:rPr lang="en-IN" altLang="en-US" sz="900" b="0" smtClean="0">
                <a:solidFill>
                  <a:srgbClr val="000000"/>
                </a:solidFill>
              </a:rPr>
              <a:pPr lvl="1" algn="ctr">
                <a:spcBef>
                  <a:spcPct val="0"/>
                </a:spcBef>
                <a:spcAft>
                  <a:spcPct val="0"/>
                </a:spcAft>
                <a:defRPr/>
              </a:pPr>
              <a:t>FY30</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137" name="StandardTextbox"/>
          <p:cNvSpPr>
            <a:spLocks noGrp="1"/>
          </p:cNvSpPr>
          <p:nvPr>
            <p:custDataLst>
              <p:tags r:id="rId16"/>
            </p:custDataLst>
          </p:nvPr>
        </p:nvSpPr>
        <p:spPr bwMode="gray">
          <a:xfrm>
            <a:off x="7659688" y="2930525"/>
            <a:ext cx="4445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DF9D8CFF-96DF-4D26-A085-2CFCAA638CA4}" type="datetime'2''''''7'''''''''''''',''''''''''7''''''2''''8'">
              <a:rPr lang="en-IN" altLang="en-US" sz="900" b="0" smtClean="0">
                <a:solidFill>
                  <a:srgbClr val="000000"/>
                </a:solidFill>
              </a:rPr>
              <a:pPr lvl="1" algn="ctr">
                <a:spcBef>
                  <a:spcPct val="0"/>
                </a:spcBef>
                <a:spcAft>
                  <a:spcPct val="0"/>
                </a:spcAft>
                <a:defRPr/>
              </a:pPr>
              <a:t>27,728</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159" name="StandardTextbox"/>
          <p:cNvSpPr>
            <a:spLocks noGrp="1"/>
          </p:cNvSpPr>
          <p:nvPr>
            <p:custDataLst>
              <p:tags r:id="rId17"/>
            </p:custDataLst>
          </p:nvPr>
        </p:nvSpPr>
        <p:spPr bwMode="gray">
          <a:xfrm>
            <a:off x="6088063" y="3336925"/>
            <a:ext cx="4445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8FFF64B0-E61C-4090-85C1-D9987C100B6D}" type="datetime'''''''''''''''''1''''''''''5,2''''3''0'''''''">
              <a:rPr lang="en-IN" altLang="en-US" sz="900" b="0" smtClean="0">
                <a:solidFill>
                  <a:srgbClr val="000000"/>
                </a:solidFill>
              </a:rPr>
              <a:pPr lvl="1" algn="ctr">
                <a:spcBef>
                  <a:spcPct val="0"/>
                </a:spcBef>
                <a:spcAft>
                  <a:spcPct val="0"/>
                </a:spcAft>
                <a:defRPr/>
              </a:pPr>
              <a:t>15,230</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40" name="StandardTextbox"/>
          <p:cNvSpPr>
            <a:spLocks noGrp="1"/>
          </p:cNvSpPr>
          <p:nvPr>
            <p:custDataLst>
              <p:tags r:id="rId18"/>
            </p:custDataLst>
          </p:nvPr>
        </p:nvSpPr>
        <p:spPr bwMode="gray">
          <a:xfrm>
            <a:off x="9232900" y="2649538"/>
            <a:ext cx="4445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75143F3C-04E4-47F0-AE3A-128B120BE309}" type="datetime'''36'''''''''''''''''''''',''''3''''''54'''">
              <a:rPr lang="en-IN" altLang="en-US" sz="900" b="0" smtClean="0">
                <a:solidFill>
                  <a:srgbClr val="000000"/>
                </a:solidFill>
                <a:sym typeface="+mn-lt"/>
              </a:rPr>
              <a:pPr lvl="1" algn="ctr">
                <a:spcBef>
                  <a:spcPct val="0"/>
                </a:spcBef>
                <a:spcAft>
                  <a:spcPct val="0"/>
                </a:spcAft>
                <a:defRPr/>
              </a:pPr>
              <a:t>36,354</a:t>
            </a:fld>
            <a:endParaRPr kumimoji="0" lang="en-IN" sz="900" b="0" strike="noStrike" kern="1200" spc="0" normalizeH="0" noProof="0" dirty="0">
              <a:ln>
                <a:noFill/>
              </a:ln>
              <a:solidFill>
                <a:srgbClr val="000000"/>
              </a:solidFill>
              <a:effectLst/>
              <a:uLnTx/>
              <a:uFillTx/>
              <a:sym typeface="+mn-lt"/>
            </a:endParaRPr>
          </a:p>
        </p:txBody>
      </p:sp>
      <p:sp>
        <p:nvSpPr>
          <p:cNvPr id="185" name="StandardTextbox"/>
          <p:cNvSpPr>
            <a:spLocks noGrp="1"/>
          </p:cNvSpPr>
          <p:nvPr>
            <p:custDataLst>
              <p:tags r:id="rId19"/>
            </p:custDataLst>
          </p:nvPr>
        </p:nvSpPr>
        <p:spPr bwMode="auto">
          <a:xfrm>
            <a:off x="7566025" y="2635250"/>
            <a:ext cx="633413" cy="193675"/>
          </a:xfrm>
          <a:prstGeom prst="ellipse">
            <a:avLst/>
          </a:prstGeom>
          <a:solidFill>
            <a:srgbClr val="FFFFFF"/>
          </a:solidFill>
          <a:ln w="9525" algn="ctr">
            <a:solidFill>
              <a:schemeClr val="tx1"/>
            </a:solidFill>
          </a:ln>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0F6A82F4-7A4F-4176-9EBA-D6AC70B4ABA3}" type="datetime'''''''''+''''9''''''''''''.''''''''''''''1''''''%'''">
              <a:rPr lang="en-IN" altLang="en-US" sz="900" smtClean="0">
                <a:solidFill>
                  <a:srgbClr val="000000"/>
                </a:solidFill>
              </a:rPr>
              <a:pPr lvl="1" algn="ctr">
                <a:spcBef>
                  <a:spcPct val="0"/>
                </a:spcBef>
                <a:spcAft>
                  <a:spcPct val="0"/>
                </a:spcAft>
                <a:defRPr/>
              </a:pPr>
              <a:t>+9.1%</a:t>
            </a:fld>
            <a:endParaRPr kumimoji="0" lang="en-IN" sz="900" b="1" i="0" strike="noStrike" kern="1200" spc="0" normalizeH="0" noProof="0" dirty="0">
              <a:ln>
                <a:noFill/>
              </a:ln>
              <a:solidFill>
                <a:srgbClr val="000000"/>
              </a:solidFill>
              <a:effectLst/>
              <a:uLnTx/>
              <a:uFillTx/>
              <a:latin typeface="Verdana"/>
              <a:sym typeface="+mn-lt"/>
            </a:endParaRPr>
          </a:p>
        </p:txBody>
      </p:sp>
      <p:graphicFrame>
        <p:nvGraphicFramePr>
          <p:cNvPr id="86" name="Chart 85"/>
          <p:cNvGraphicFramePr/>
          <p:nvPr>
            <p:custDataLst>
              <p:tags r:id="rId20"/>
            </p:custDataLst>
            <p:extLst>
              <p:ext uri="{D42A27DB-BD31-4B8C-83A1-F6EECF244321}">
                <p14:modId xmlns:p14="http://schemas.microsoft.com/office/powerpoint/2010/main" val="1519185337"/>
              </p:ext>
            </p:extLst>
          </p:nvPr>
        </p:nvGraphicFramePr>
        <p:xfrm>
          <a:off x="5467350" y="5427663"/>
          <a:ext cx="5053013" cy="1346200"/>
        </p:xfrm>
        <a:graphic>
          <a:graphicData uri="http://schemas.openxmlformats.org/drawingml/2006/chart">
            <c:chart xmlns:c="http://schemas.openxmlformats.org/drawingml/2006/chart" xmlns:r="http://schemas.openxmlformats.org/officeDocument/2006/relationships" r:id="rId44"/>
          </a:graphicData>
        </a:graphic>
      </p:graphicFrame>
      <p:sp useBgFill="1">
        <p:nvSpPr>
          <p:cNvPr id="30" name="Freeform 29"/>
          <p:cNvSpPr/>
          <p:nvPr>
            <p:custDataLst>
              <p:tags r:id="rId21"/>
            </p:custDataLst>
          </p:nvPr>
        </p:nvSpPr>
        <p:spPr bwMode="auto">
          <a:xfrm>
            <a:off x="7291388" y="6021388"/>
            <a:ext cx="79375" cy="247650"/>
          </a:xfrm>
          <a:custGeom>
            <a:avLst/>
            <a:gdLst/>
            <a:ahLst/>
            <a:cxnLst/>
            <a:rect l="0" t="0" r="0" b="0"/>
            <a:pathLst>
              <a:path w="79376" h="247651">
                <a:moveTo>
                  <a:pt x="79375" y="0"/>
                </a:moveTo>
                <a:lnTo>
                  <a:pt x="57150" y="82550"/>
                </a:lnTo>
                <a:lnTo>
                  <a:pt x="79375" y="165100"/>
                </a:lnTo>
                <a:lnTo>
                  <a:pt x="57150" y="247650"/>
                </a:lnTo>
                <a:lnTo>
                  <a:pt x="0" y="247650"/>
                </a:lnTo>
                <a:lnTo>
                  <a:pt x="22225" y="165100"/>
                </a:lnTo>
                <a:lnTo>
                  <a:pt x="0" y="82550"/>
                </a:lnTo>
                <a:lnTo>
                  <a:pt x="22225" y="0"/>
                </a:lnTo>
                <a:close/>
              </a:path>
            </a:pathLst>
          </a:custGeom>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useBgFill="1">
        <p:nvSpPr>
          <p:cNvPr id="225" name="Freeform 224"/>
          <p:cNvSpPr/>
          <p:nvPr>
            <p:custDataLst>
              <p:tags r:id="rId22"/>
            </p:custDataLst>
          </p:nvPr>
        </p:nvSpPr>
        <p:spPr bwMode="auto">
          <a:xfrm>
            <a:off x="7283450" y="6610350"/>
            <a:ext cx="96838" cy="146050"/>
          </a:xfrm>
          <a:custGeom>
            <a:avLst/>
            <a:gdLst/>
            <a:ahLst/>
            <a:cxnLst/>
            <a:rect l="0" t="0" r="0" b="0"/>
            <a:pathLst>
              <a:path w="96839" h="146051">
                <a:moveTo>
                  <a:pt x="96838" y="0"/>
                </a:moveTo>
                <a:lnTo>
                  <a:pt x="57150" y="146050"/>
                </a:lnTo>
                <a:lnTo>
                  <a:pt x="0" y="146050"/>
                </a:lnTo>
                <a:lnTo>
                  <a:pt x="39688" y="0"/>
                </a:lnTo>
                <a:close/>
              </a:path>
            </a:pathLst>
          </a:custGeom>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useBgFill="1">
        <p:nvSpPr>
          <p:cNvPr id="24" name="Freeform 23"/>
          <p:cNvSpPr/>
          <p:nvPr>
            <p:custDataLst>
              <p:tags r:id="rId23"/>
            </p:custDataLst>
          </p:nvPr>
        </p:nvSpPr>
        <p:spPr bwMode="auto">
          <a:xfrm>
            <a:off x="8543925" y="5730875"/>
            <a:ext cx="79375" cy="247650"/>
          </a:xfrm>
          <a:custGeom>
            <a:avLst/>
            <a:gdLst/>
            <a:ahLst/>
            <a:cxnLst/>
            <a:rect l="0" t="0" r="0" b="0"/>
            <a:pathLst>
              <a:path w="79376" h="247651">
                <a:moveTo>
                  <a:pt x="79375" y="0"/>
                </a:moveTo>
                <a:lnTo>
                  <a:pt x="57150" y="82550"/>
                </a:lnTo>
                <a:lnTo>
                  <a:pt x="79375" y="165100"/>
                </a:lnTo>
                <a:lnTo>
                  <a:pt x="57150" y="247650"/>
                </a:lnTo>
                <a:lnTo>
                  <a:pt x="0" y="247650"/>
                </a:lnTo>
                <a:lnTo>
                  <a:pt x="22225" y="165100"/>
                </a:lnTo>
                <a:lnTo>
                  <a:pt x="0" y="82550"/>
                </a:lnTo>
                <a:lnTo>
                  <a:pt x="22225" y="0"/>
                </a:lnTo>
                <a:close/>
              </a:path>
            </a:pathLst>
          </a:custGeom>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useBgFill="1">
        <p:nvSpPr>
          <p:cNvPr id="27" name="Freeform 26"/>
          <p:cNvSpPr/>
          <p:nvPr>
            <p:custDataLst>
              <p:tags r:id="rId24"/>
            </p:custDataLst>
          </p:nvPr>
        </p:nvSpPr>
        <p:spPr bwMode="auto">
          <a:xfrm>
            <a:off x="8535988" y="6610350"/>
            <a:ext cx="96838" cy="146050"/>
          </a:xfrm>
          <a:custGeom>
            <a:avLst/>
            <a:gdLst/>
            <a:ahLst/>
            <a:cxnLst/>
            <a:rect l="0" t="0" r="0" b="0"/>
            <a:pathLst>
              <a:path w="96839" h="146051">
                <a:moveTo>
                  <a:pt x="96838" y="0"/>
                </a:moveTo>
                <a:lnTo>
                  <a:pt x="57150" y="146050"/>
                </a:lnTo>
                <a:lnTo>
                  <a:pt x="0" y="146050"/>
                </a:lnTo>
                <a:lnTo>
                  <a:pt x="39688" y="0"/>
                </a:lnTo>
                <a:close/>
              </a:path>
            </a:pathLst>
          </a:custGeom>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5" name="Freeform 24"/>
          <p:cNvSpPr/>
          <p:nvPr>
            <p:custDataLst>
              <p:tags r:id="rId25"/>
            </p:custDataLst>
          </p:nvPr>
        </p:nvSpPr>
        <p:spPr bwMode="auto">
          <a:xfrm>
            <a:off x="8535988" y="6610350"/>
            <a:ext cx="39688" cy="146050"/>
          </a:xfrm>
          <a:custGeom>
            <a:avLst/>
            <a:gdLst/>
            <a:ahLst/>
            <a:cxnLst/>
            <a:rect l="0" t="0" r="0" b="0"/>
            <a:pathLst>
              <a:path w="39689" h="146051">
                <a:moveTo>
                  <a:pt x="39688"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28" name="Freeform 27"/>
          <p:cNvSpPr/>
          <p:nvPr>
            <p:custDataLst>
              <p:tags r:id="rId26"/>
            </p:custDataLst>
          </p:nvPr>
        </p:nvSpPr>
        <p:spPr bwMode="auto">
          <a:xfrm>
            <a:off x="7291388" y="6021388"/>
            <a:ext cx="22225" cy="247650"/>
          </a:xfrm>
          <a:custGeom>
            <a:avLst/>
            <a:gdLst/>
            <a:ahLst/>
            <a:cxnLst/>
            <a:rect l="0" t="0" r="0" b="0"/>
            <a:pathLst>
              <a:path w="22226" h="247651">
                <a:moveTo>
                  <a:pt x="22225" y="0"/>
                </a:moveTo>
                <a:lnTo>
                  <a:pt x="0" y="82550"/>
                </a:lnTo>
                <a:lnTo>
                  <a:pt x="22225" y="165100"/>
                </a:lnTo>
                <a:lnTo>
                  <a:pt x="0" y="247650"/>
                </a:lnTo>
              </a:path>
            </a:pathLst>
          </a:custGeom>
          <a:noFill/>
          <a:ln w="9525" cap="flat" cmpd="sng" algn="ctr">
            <a:solidFill>
              <a:schemeClr val="accent4"/>
            </a:solidFill>
            <a:prstDash val="solid"/>
            <a:round/>
            <a:headEnd type="none" w="med" len="med"/>
            <a:tailEnd type="none" w="med" len="med"/>
          </a:ln>
          <a:extLst>
            <a:ext uri="{909E8E84-426E-40DD-AFC4-6F175D3DCCD1}">
              <a14:hiddenFill xmlns:a14="http://schemas.microsoft.com/office/drawing/2010/main">
                <a:solidFill>
                  <a:scrgbClr r="0" g="0" b="0"/>
                </a:solidFill>
              </a14:hiddenFill>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224" name="Freeform 223"/>
          <p:cNvSpPr/>
          <p:nvPr>
            <p:custDataLst>
              <p:tags r:id="rId27"/>
            </p:custDataLst>
          </p:nvPr>
        </p:nvSpPr>
        <p:spPr bwMode="auto">
          <a:xfrm>
            <a:off x="7340600" y="6610350"/>
            <a:ext cx="39688" cy="146050"/>
          </a:xfrm>
          <a:custGeom>
            <a:avLst/>
            <a:gdLst/>
            <a:ahLst/>
            <a:cxnLst/>
            <a:rect l="0" t="0" r="0" b="0"/>
            <a:pathLst>
              <a:path w="39689" h="146051">
                <a:moveTo>
                  <a:pt x="39688"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23" name="Freeform 22"/>
          <p:cNvSpPr/>
          <p:nvPr>
            <p:custDataLst>
              <p:tags r:id="rId28"/>
            </p:custDataLst>
          </p:nvPr>
        </p:nvSpPr>
        <p:spPr bwMode="auto">
          <a:xfrm>
            <a:off x="8601075" y="5730875"/>
            <a:ext cx="22225" cy="247650"/>
          </a:xfrm>
          <a:custGeom>
            <a:avLst/>
            <a:gdLst/>
            <a:ahLst/>
            <a:cxnLst/>
            <a:rect l="0" t="0" r="0" b="0"/>
            <a:pathLst>
              <a:path w="22226" h="247651">
                <a:moveTo>
                  <a:pt x="22225" y="0"/>
                </a:moveTo>
                <a:lnTo>
                  <a:pt x="0" y="82550"/>
                </a:lnTo>
                <a:lnTo>
                  <a:pt x="22225" y="165100"/>
                </a:lnTo>
                <a:lnTo>
                  <a:pt x="0" y="247650"/>
                </a:lnTo>
              </a:path>
            </a:pathLst>
          </a:custGeom>
          <a:noFill/>
          <a:ln w="9525" cap="flat" cmpd="sng" algn="ctr">
            <a:solidFill>
              <a:schemeClr val="accent4"/>
            </a:solidFill>
            <a:prstDash val="solid"/>
            <a:round/>
            <a:headEnd type="none" w="med" len="med"/>
            <a:tailEnd type="none" w="med" len="med"/>
          </a:ln>
          <a:extLst>
            <a:ext uri="{909E8E84-426E-40DD-AFC4-6F175D3DCCD1}">
              <a14:hiddenFill xmlns:a14="http://schemas.microsoft.com/office/drawing/2010/main">
                <a:solidFill>
                  <a:scrgbClr r="0" g="0" b="0"/>
                </a:solidFill>
              </a14:hiddenFill>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29" name="Freeform 28"/>
          <p:cNvSpPr/>
          <p:nvPr>
            <p:custDataLst>
              <p:tags r:id="rId29"/>
            </p:custDataLst>
          </p:nvPr>
        </p:nvSpPr>
        <p:spPr bwMode="auto">
          <a:xfrm>
            <a:off x="7348538" y="6021388"/>
            <a:ext cx="22225" cy="247650"/>
          </a:xfrm>
          <a:custGeom>
            <a:avLst/>
            <a:gdLst/>
            <a:ahLst/>
            <a:cxnLst/>
            <a:rect l="0" t="0" r="0" b="0"/>
            <a:pathLst>
              <a:path w="22226" h="247651">
                <a:moveTo>
                  <a:pt x="22225" y="0"/>
                </a:moveTo>
                <a:lnTo>
                  <a:pt x="0" y="82550"/>
                </a:lnTo>
                <a:lnTo>
                  <a:pt x="22225" y="165100"/>
                </a:lnTo>
                <a:lnTo>
                  <a:pt x="0" y="247650"/>
                </a:lnTo>
              </a:path>
            </a:pathLst>
          </a:custGeom>
          <a:noFill/>
          <a:ln w="9525" cap="flat" cmpd="sng" algn="ctr">
            <a:solidFill>
              <a:schemeClr val="accent4"/>
            </a:solidFill>
            <a:prstDash val="solid"/>
            <a:round/>
            <a:headEnd type="none" w="med" len="med"/>
            <a:tailEnd type="none" w="med" len="med"/>
          </a:ln>
          <a:extLst>
            <a:ext uri="{909E8E84-426E-40DD-AFC4-6F175D3DCCD1}">
              <a14:hiddenFill xmlns:a14="http://schemas.microsoft.com/office/drawing/2010/main">
                <a:solidFill>
                  <a:scrgbClr r="0" g="0" b="0"/>
                </a:solidFill>
              </a14:hiddenFill>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31" name="Freeform 30"/>
          <p:cNvSpPr/>
          <p:nvPr>
            <p:custDataLst>
              <p:tags r:id="rId30"/>
            </p:custDataLst>
          </p:nvPr>
        </p:nvSpPr>
        <p:spPr bwMode="auto">
          <a:xfrm>
            <a:off x="7283450" y="6610350"/>
            <a:ext cx="39688" cy="146050"/>
          </a:xfrm>
          <a:custGeom>
            <a:avLst/>
            <a:gdLst/>
            <a:ahLst/>
            <a:cxnLst/>
            <a:rect l="0" t="0" r="0" b="0"/>
            <a:pathLst>
              <a:path w="39689" h="146051">
                <a:moveTo>
                  <a:pt x="39688"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22" name="Freeform 21"/>
          <p:cNvSpPr/>
          <p:nvPr>
            <p:custDataLst>
              <p:tags r:id="rId31"/>
            </p:custDataLst>
          </p:nvPr>
        </p:nvSpPr>
        <p:spPr bwMode="auto">
          <a:xfrm>
            <a:off x="8543925" y="5730875"/>
            <a:ext cx="22225" cy="247650"/>
          </a:xfrm>
          <a:custGeom>
            <a:avLst/>
            <a:gdLst/>
            <a:ahLst/>
            <a:cxnLst/>
            <a:rect l="0" t="0" r="0" b="0"/>
            <a:pathLst>
              <a:path w="22226" h="247651">
                <a:moveTo>
                  <a:pt x="22225" y="0"/>
                </a:moveTo>
                <a:lnTo>
                  <a:pt x="0" y="82550"/>
                </a:lnTo>
                <a:lnTo>
                  <a:pt x="22225" y="165100"/>
                </a:lnTo>
                <a:lnTo>
                  <a:pt x="0" y="247650"/>
                </a:lnTo>
              </a:path>
            </a:pathLst>
          </a:custGeom>
          <a:noFill/>
          <a:ln w="9525" cap="flat" cmpd="sng" algn="ctr">
            <a:solidFill>
              <a:schemeClr val="accent4"/>
            </a:solidFill>
            <a:prstDash val="solid"/>
            <a:round/>
            <a:headEnd type="none" w="med" len="med"/>
            <a:tailEnd type="none" w="med" len="med"/>
          </a:ln>
          <a:extLst>
            <a:ext uri="{909E8E84-426E-40DD-AFC4-6F175D3DCCD1}">
              <a14:hiddenFill xmlns:a14="http://schemas.microsoft.com/office/drawing/2010/main">
                <a:solidFill>
                  <a:scrgbClr r="0" g="0" b="0"/>
                </a:solidFill>
              </a14:hiddenFill>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26" name="Freeform 25"/>
          <p:cNvSpPr/>
          <p:nvPr>
            <p:custDataLst>
              <p:tags r:id="rId32"/>
            </p:custDataLst>
          </p:nvPr>
        </p:nvSpPr>
        <p:spPr bwMode="auto">
          <a:xfrm>
            <a:off x="8593138" y="6610350"/>
            <a:ext cx="39688" cy="146050"/>
          </a:xfrm>
          <a:custGeom>
            <a:avLst/>
            <a:gdLst/>
            <a:ahLst/>
            <a:cxnLst/>
            <a:rect l="0" t="0" r="0" b="0"/>
            <a:pathLst>
              <a:path w="39689" h="146051">
                <a:moveTo>
                  <a:pt x="39688"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238" name="StandardTextbox"/>
          <p:cNvSpPr>
            <a:spLocks noGrp="1"/>
          </p:cNvSpPr>
          <p:nvPr>
            <p:custDataLst>
              <p:tags r:id="rId33"/>
            </p:custDataLst>
          </p:nvPr>
        </p:nvSpPr>
        <p:spPr bwMode="auto">
          <a:xfrm>
            <a:off x="6559550" y="6759575"/>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C19DF5AA-4600-44A3-8614-6F347083B405}" type="datetime'''F''''''''Y''2''''''''''''''''0'''''''">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FY20</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2" name="StandardTextbox"/>
          <p:cNvSpPr>
            <a:spLocks noGrp="1"/>
          </p:cNvSpPr>
          <p:nvPr>
            <p:custDataLst>
              <p:tags r:id="rId34"/>
            </p:custDataLst>
          </p:nvPr>
        </p:nvSpPr>
        <p:spPr bwMode="auto">
          <a:xfrm>
            <a:off x="9063038" y="6759575"/>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42DF0473-03DB-47BD-9E39-129055363C6F}" type="datetime'''''''''''''''''''F''''''Y''''''''''''3''''0'''''''''''''''">
              <a:rPr lang="en-IN" altLang="en-US" sz="900" b="0" smtClean="0">
                <a:solidFill>
                  <a:srgbClr val="000000"/>
                </a:solidFill>
              </a:rPr>
              <a:pPr lvl="1" algn="ctr">
                <a:spcBef>
                  <a:spcPct val="0"/>
                </a:spcBef>
                <a:spcAft>
                  <a:spcPct val="0"/>
                </a:spcAft>
                <a:defRPr/>
              </a:pPr>
              <a:t>FY30</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242" name="StandardTextbox"/>
          <p:cNvSpPr>
            <a:spLocks noGrp="1"/>
          </p:cNvSpPr>
          <p:nvPr>
            <p:custDataLst>
              <p:tags r:id="rId35"/>
            </p:custDataLst>
          </p:nvPr>
        </p:nvSpPr>
        <p:spPr bwMode="auto">
          <a:xfrm>
            <a:off x="7810500" y="6759575"/>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B882CC41-F965-4368-9460-B11059423FF9}" type="datetime'F''''''''''''''''Y2''6'">
              <a:rPr lang="en-IN" altLang="en-US" sz="900" b="0" smtClean="0">
                <a:solidFill>
                  <a:srgbClr val="000000"/>
                </a:solidFill>
              </a:rPr>
              <a:pPr lvl="1" algn="ctr">
                <a:spcBef>
                  <a:spcPct val="0"/>
                </a:spcBef>
                <a:spcAft>
                  <a:spcPct val="0"/>
                </a:spcAft>
                <a:defRPr/>
              </a:pPr>
              <a:t>FY26</a:t>
            </a:fld>
            <a:endParaRPr kumimoji="0" lang="en-IN" sz="900" b="0" i="0" strike="noStrike" kern="1200" spc="0" normalizeH="0" noProof="0" dirty="0">
              <a:ln>
                <a:noFill/>
              </a:ln>
              <a:solidFill>
                <a:srgbClr val="000000"/>
              </a:solidFill>
              <a:effectLst/>
              <a:uLnTx/>
              <a:uFillTx/>
              <a:latin typeface="Verdana"/>
              <a:sym typeface="+mn-lt"/>
            </a:endParaRPr>
          </a:p>
        </p:txBody>
      </p:sp>
      <p:cxnSp>
        <p:nvCxnSpPr>
          <p:cNvPr id="244" name="Straight Connector 243"/>
          <p:cNvCxnSpPr/>
          <p:nvPr>
            <p:custDataLst>
              <p:tags r:id="rId36"/>
            </p:custDataLst>
          </p:nvPr>
        </p:nvCxnSpPr>
        <p:spPr bwMode="gray">
          <a:xfrm>
            <a:off x="6554788" y="6965950"/>
            <a:ext cx="133350" cy="0"/>
          </a:xfrm>
          <a:prstGeom prst="line">
            <a:avLst/>
          </a:prstGeom>
          <a:ln w="19050" cap="rnd" cmpd="sng" algn="ctr">
            <a:solidFill>
              <a:schemeClr val="accent4"/>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5" name="Rectangle 244"/>
          <p:cNvSpPr/>
          <p:nvPr>
            <p:custDataLst>
              <p:tags r:id="rId37"/>
            </p:custDataLst>
          </p:nvPr>
        </p:nvSpPr>
        <p:spPr bwMode="auto">
          <a:xfrm>
            <a:off x="6542088" y="7092950"/>
            <a:ext cx="160338" cy="1206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46" name="StandardTextbox"/>
          <p:cNvSpPr>
            <a:spLocks noGrp="1"/>
          </p:cNvSpPr>
          <p:nvPr>
            <p:custDataLst>
              <p:tags r:id="rId38"/>
            </p:custDataLst>
          </p:nvPr>
        </p:nvSpPr>
        <p:spPr bwMode="auto">
          <a:xfrm>
            <a:off x="6753224" y="6902450"/>
            <a:ext cx="236855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89ABCD63-C9E4-448B-B46F-D9EC55ADD0FE}" type="datetime'Net ''Elect''''ricity Consumpti''''on'' E''x-Bu''s'' (''MU'')'">
              <a:rPr kumimoji="0" lang="en-US"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Net Electricity Consumption Ex-Bus (MU)</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47" name="StandardTextbox"/>
          <p:cNvSpPr>
            <a:spLocks noGrp="1"/>
          </p:cNvSpPr>
          <p:nvPr>
            <p:custDataLst>
              <p:tags r:id="rId39"/>
            </p:custDataLst>
          </p:nvPr>
        </p:nvSpPr>
        <p:spPr bwMode="auto">
          <a:xfrm>
            <a:off x="6753225" y="7089775"/>
            <a:ext cx="173355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830786AF-3312-4F9F-AFA3-B429AAEB796E}" type="datetime'''''Av''erage Po''''w''e''r'' De''''m''''''a''nd (''''MW'''')'">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Average Power Demand (MW)</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 name="Rectangle 4"/>
          <p:cNvSpPr/>
          <p:nvPr/>
        </p:nvSpPr>
        <p:spPr bwMode="gray">
          <a:xfrm>
            <a:off x="5524500" y="4302125"/>
            <a:ext cx="4732062" cy="500697"/>
          </a:xfrm>
          <a:prstGeom prst="rect">
            <a:avLst/>
          </a:prstGeom>
          <a:solidFill>
            <a:schemeClr val="accent6">
              <a:lumMod val="20000"/>
              <a:lumOff val="80000"/>
            </a:schemeClr>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prstClr val="black"/>
                </a:solidFill>
                <a:effectLst/>
                <a:uLnTx/>
                <a:uFillTx/>
                <a:latin typeface="Verdana"/>
                <a:ea typeface="+mn-ea"/>
                <a:cs typeface="+mn-cs"/>
              </a:rPr>
              <a:t>Due to the impact of Covid-19, Bangladesh may witness a muted growth and hence the energy demand may reduce accordingly for FY20 and beyond</a:t>
            </a:r>
            <a:endParaRPr kumimoji="0" lang="en-IN" sz="900" b="0" i="0" u="none" strike="noStrike" kern="1200" cap="none" spc="0" normalizeH="0" baseline="0" noProof="0" dirty="0">
              <a:ln>
                <a:noFill/>
              </a:ln>
              <a:solidFill>
                <a:prstClr val="black"/>
              </a:solidFill>
              <a:effectLst/>
              <a:uLnTx/>
              <a:uFillTx/>
              <a:latin typeface="Verdana"/>
              <a:ea typeface="+mn-ea"/>
              <a:cs typeface="+mn-cs"/>
            </a:endParaRPr>
          </a:p>
        </p:txBody>
      </p:sp>
      <p:sp>
        <p:nvSpPr>
          <p:cNvPr id="35" name="Rectangle 34"/>
          <p:cNvSpPr/>
          <p:nvPr/>
        </p:nvSpPr>
        <p:spPr bwMode="gray">
          <a:xfrm>
            <a:off x="377227" y="7260740"/>
            <a:ext cx="5652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PSMP 2016; PSMP 2016 (Revised Study), BPDB, Bangladesh Bank, Deloitte Analysis; Note 1) Data for EE&amp;C, GDP Growth as per PSMP 2016</a:t>
            </a:r>
          </a:p>
        </p:txBody>
      </p:sp>
    </p:spTree>
    <p:extLst>
      <p:ext uri="{BB962C8B-B14F-4D97-AF65-F5344CB8AC3E}">
        <p14:creationId xmlns:p14="http://schemas.microsoft.com/office/powerpoint/2010/main" val="934207936"/>
      </p:ext>
    </p:extLst>
  </p:cSld>
  <p:clrMapOvr>
    <a:masterClrMapping/>
  </p:clrMapOvr>
  <p:transition>
    <p:fade/>
  </p:transition>
</p:sld>
</file>

<file path=ppt/slides/slide47.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68643275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US" sz="3898" b="1" u="none" strike="noStrike" kern="1200" cap="none" spc="0" normalizeH="0" noProof="0" dirty="0">
              <a:ln>
                <a:noFill/>
              </a:ln>
              <a:solidFill>
                <a:prstClr val="white"/>
              </a:solidFill>
              <a:effectLst/>
              <a:uLnTx/>
              <a:uFillTx/>
              <a:latin typeface="Verdana" panose="020B0604030504040204" pitchFamily="34" charset="0"/>
              <a:ea typeface="Open Sans" panose="020B0606030504020204" pitchFamily="34" charset="0"/>
              <a:cs typeface="Open Sans" panose="020B0606030504020204" pitchFamily="34" charset="0"/>
              <a:sym typeface="Verdana" panose="020B0604030504040204" pitchFamily="34" charset="0"/>
            </a:endParaRPr>
          </a:p>
        </p:txBody>
      </p:sp>
      <p:sp>
        <p:nvSpPr>
          <p:cNvPr id="2" name="Title 1"/>
          <p:cNvSpPr>
            <a:spLocks noGrp="1"/>
          </p:cNvSpPr>
          <p:nvPr>
            <p:ph type="title"/>
          </p:nvPr>
        </p:nvSpPr>
        <p:spPr>
          <a:xfrm>
            <a:off x="439925" y="1880184"/>
            <a:ext cx="9243963" cy="2440355"/>
          </a:xfrm>
        </p:spPr>
        <p:txBody>
          <a:bodyPr/>
          <a:lstStyle/>
          <a:p>
            <a:r>
              <a:rPr lang="en-US" dirty="0"/>
              <a:t>Demand Projection &amp; Scenario – Covid – 19 Impact &amp; Scenarios</a:t>
            </a:r>
            <a:endParaRPr lang="en-IN" dirty="0"/>
          </a:p>
        </p:txBody>
      </p:sp>
    </p:spTree>
    <p:extLst>
      <p:ext uri="{BB962C8B-B14F-4D97-AF65-F5344CB8AC3E}">
        <p14:creationId xmlns:p14="http://schemas.microsoft.com/office/powerpoint/2010/main" val="3595637753"/>
      </p:ext>
    </p:extLst>
  </p:cSld>
  <p:clrMapOvr>
    <a:masterClrMapping/>
  </p:clrMapOvr>
  <p:transition>
    <p:fade/>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47807737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4" imgW="530" imgH="531" progId="TCLayout.ActiveDocument.1">
                  <p:embed/>
                </p:oleObj>
              </mc:Choice>
              <mc:Fallback>
                <p:oleObj name="think-cell Slide" r:id="rId24" imgW="530" imgH="531" progId="TCLayout.ActiveDocument.1">
                  <p:embed/>
                  <p:pic>
                    <p:nvPicPr>
                      <p:cNvPr id="4" name="Object 3" hidden="1"/>
                      <p:cNvPicPr/>
                      <p:nvPr/>
                    </p:nvPicPr>
                    <p:blipFill>
                      <a:blip r:embed="rId25"/>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1928871168"/>
              </p:ext>
            </p:extLst>
          </p:nvPr>
        </p:nvGraphicFramePr>
        <p:xfrm>
          <a:off x="5518150" y="1968501"/>
          <a:ext cx="4732338" cy="5440363"/>
        </p:xfrm>
        <a:graphic>
          <a:graphicData uri="http://schemas.openxmlformats.org/drawingml/2006/table">
            <a:tbl>
              <a:tblPr firstRow="1" bandRow="1">
                <a:tableStyleId>{5C22544A-7EE6-4342-B048-85BDC9FD1C3A}</a:tableStyleId>
              </a:tblPr>
              <a:tblGrid>
                <a:gridCol w="4732338">
                  <a:extLst>
                    <a:ext uri="{9D8B030D-6E8A-4147-A177-3AD203B41FA5}">
                      <a16:colId xmlns:a16="http://schemas.microsoft.com/office/drawing/2014/main" val="20000"/>
                    </a:ext>
                  </a:extLst>
                </a:gridCol>
              </a:tblGrid>
              <a:tr h="5440363">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figure shows the GDP Growth Rate Projections considered under COVID 19 Impact Scenarios till FY26 and FY30:</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table shows Peak Demand (MW) Projections till FY26 and FY30:</a:t>
                      </a:r>
                    </a:p>
                    <a:p>
                      <a:pPr marL="171450" lvl="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a:xfrm>
            <a:off x="442913" y="654050"/>
            <a:ext cx="9791700" cy="431800"/>
          </a:xfrm>
        </p:spPr>
        <p:txBody>
          <a:bodyPr/>
          <a:lstStyle/>
          <a:p>
            <a:r>
              <a:rPr lang="en-US" dirty="0"/>
              <a:t>Power Market | Demand Projection (COVID 19)</a:t>
            </a:r>
            <a:endParaRPr lang="en-IN" dirty="0"/>
          </a:p>
        </p:txBody>
      </p:sp>
      <p:sp>
        <p:nvSpPr>
          <p:cNvPr id="50" name="Strapline"/>
          <p:cNvSpPr txBox="1">
            <a:spLocks/>
          </p:cNvSpPr>
          <p:nvPr/>
        </p:nvSpPr>
        <p:spPr>
          <a:xfrm>
            <a:off x="442912" y="1085850"/>
            <a:ext cx="9793288" cy="519113"/>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Considering the impact of COVID 19 on the GDP</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growth of Bangladesh, the Peak Power Demand may reach ~25,400 MW by FY26 and  ~33,400 MW by FY30</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1938969454"/>
              </p:ext>
            </p:extLst>
          </p:nvPr>
        </p:nvGraphicFramePr>
        <p:xfrm>
          <a:off x="442913" y="1968500"/>
          <a:ext cx="4735513" cy="5440363"/>
        </p:xfrm>
        <a:graphic>
          <a:graphicData uri="http://schemas.openxmlformats.org/drawingml/2006/table">
            <a:tbl>
              <a:tblPr firstRow="1" bandRow="1">
                <a:tableStyleId>{5C22544A-7EE6-4342-B048-85BDC9FD1C3A}</a:tableStyleId>
              </a:tblPr>
              <a:tblGrid>
                <a:gridCol w="4735513">
                  <a:extLst>
                    <a:ext uri="{9D8B030D-6E8A-4147-A177-3AD203B41FA5}">
                      <a16:colId xmlns:a16="http://schemas.microsoft.com/office/drawing/2014/main" val="20000"/>
                    </a:ext>
                  </a:extLst>
                </a:gridCol>
              </a:tblGrid>
              <a:tr h="5440363">
                <a:tc>
                  <a:txBody>
                    <a:bodyPr/>
                    <a:lstStyle/>
                    <a:p>
                      <a:pPr marL="0" indent="0" algn="just">
                        <a:spcAft>
                          <a:spcPts val="500"/>
                        </a:spcAft>
                        <a:buFont typeface="Arial" panose="020B0604020202020204" pitchFamily="34" charset="0"/>
                        <a:buNone/>
                      </a:pPr>
                      <a:r>
                        <a:rPr lang="en-US" sz="1000" b="1" baseline="0" dirty="0">
                          <a:solidFill>
                            <a:schemeClr val="tx1"/>
                          </a:solidFill>
                        </a:rPr>
                        <a:t>Peak Demand Forecasting – (COVID 19 Impact)</a:t>
                      </a:r>
                      <a:endParaRPr lang="en-US" sz="1000" b="0" baseline="0" dirty="0">
                        <a:solidFill>
                          <a:schemeClr val="tx1"/>
                        </a:solidFill>
                      </a:endParaRPr>
                    </a:p>
                    <a:p>
                      <a:pPr marL="171450" indent="-171450" algn="just">
                        <a:spcAft>
                          <a:spcPts val="500"/>
                        </a:spcAft>
                        <a:buFont typeface="Arial" panose="020B0604020202020204" pitchFamily="34" charset="0"/>
                        <a:buChar char="•"/>
                      </a:pPr>
                      <a:r>
                        <a:rPr lang="en-US" sz="1000" b="0" baseline="0" dirty="0">
                          <a:solidFill>
                            <a:schemeClr val="tx1"/>
                          </a:solidFill>
                        </a:rPr>
                        <a:t>We have considered the scenario of lower growth due to Covid-19 in Bangladesh for projecting the peak demand</a:t>
                      </a:r>
                    </a:p>
                    <a:p>
                      <a:pPr marL="171450" indent="-171450" algn="just">
                        <a:spcAft>
                          <a:spcPts val="500"/>
                        </a:spcAft>
                        <a:buFont typeface="Arial" panose="020B0604020202020204" pitchFamily="34" charset="0"/>
                        <a:buChar char="•"/>
                      </a:pPr>
                      <a:r>
                        <a:rPr lang="en-US" sz="1000" b="0" baseline="0" dirty="0">
                          <a:solidFill>
                            <a:schemeClr val="tx1"/>
                          </a:solidFill>
                        </a:rPr>
                        <a:t>We have projected demand under 3 scenarios namely:</a:t>
                      </a:r>
                    </a:p>
                    <a:p>
                      <a:pPr marL="446088" lvl="1" indent="-176213" algn="just">
                        <a:spcAft>
                          <a:spcPts val="500"/>
                        </a:spcAft>
                        <a:buFont typeface="Courier New" panose="02070309020205020404" pitchFamily="49" charset="0"/>
                        <a:buChar char="o"/>
                      </a:pPr>
                      <a:r>
                        <a:rPr lang="en-US" sz="1000" b="1" i="1" baseline="0" dirty="0">
                          <a:solidFill>
                            <a:schemeClr val="tx1"/>
                          </a:solidFill>
                        </a:rPr>
                        <a:t>COVID 19 Base Case </a:t>
                      </a:r>
                      <a:r>
                        <a:rPr lang="en-US" sz="1000" b="0" baseline="0" dirty="0">
                          <a:solidFill>
                            <a:schemeClr val="tx1"/>
                          </a:solidFill>
                        </a:rPr>
                        <a:t>– We assumed GDP growth rate in FY20 and FY21 to be 2% (as per IMF Outlook for Bangladesh –April 2020) and 7.8% respectively</a:t>
                      </a:r>
                    </a:p>
                    <a:p>
                      <a:pPr marL="446088" lvl="1" indent="-176213" algn="just">
                        <a:spcAft>
                          <a:spcPts val="500"/>
                        </a:spcAft>
                        <a:buFont typeface="Courier New" panose="02070309020205020404" pitchFamily="49" charset="0"/>
                        <a:buChar char="o"/>
                      </a:pPr>
                      <a:r>
                        <a:rPr lang="en-US" sz="1000" b="1" i="1" baseline="0" dirty="0">
                          <a:solidFill>
                            <a:schemeClr val="tx1"/>
                          </a:solidFill>
                        </a:rPr>
                        <a:t>COVID 19 Pessimistic Scenario </a:t>
                      </a:r>
                      <a:r>
                        <a:rPr lang="en-US" sz="1000" b="0" baseline="0" dirty="0">
                          <a:solidFill>
                            <a:schemeClr val="tx1"/>
                          </a:solidFill>
                        </a:rPr>
                        <a:t>– We assumed a Zero Growth outlook for FY20 and 5% growth outlook in FY21 for Bangladesh</a:t>
                      </a:r>
                    </a:p>
                    <a:p>
                      <a:pPr marL="446088" lvl="1" indent="-176213" algn="just">
                        <a:spcAft>
                          <a:spcPts val="500"/>
                        </a:spcAft>
                        <a:buFont typeface="Courier New" panose="02070309020205020404" pitchFamily="49" charset="0"/>
                        <a:buChar char="o"/>
                      </a:pPr>
                      <a:r>
                        <a:rPr lang="en-US" sz="1000" b="1" i="1" baseline="0" dirty="0">
                          <a:solidFill>
                            <a:schemeClr val="tx1"/>
                          </a:solidFill>
                        </a:rPr>
                        <a:t>COVID 19 Optimistic Scenario</a:t>
                      </a:r>
                      <a:r>
                        <a:rPr lang="en-US" sz="1000" b="0" baseline="0" dirty="0">
                          <a:solidFill>
                            <a:schemeClr val="tx1"/>
                          </a:solidFill>
                        </a:rPr>
                        <a:t> – We considered a 5% growth outlook in FY20 and an accelerated growth outlook of 9.5% in FY21 for Bangladesh</a:t>
                      </a:r>
                    </a:p>
                    <a:p>
                      <a:pPr marL="269875" lvl="1" indent="0" algn="just">
                        <a:spcAft>
                          <a:spcPts val="500"/>
                        </a:spcAft>
                        <a:buFont typeface="Courier New" panose="02070309020205020404" pitchFamily="49" charset="0"/>
                        <a:buNone/>
                      </a:pPr>
                      <a:r>
                        <a:rPr lang="en-US" sz="1000" b="0" baseline="0" dirty="0">
                          <a:solidFill>
                            <a:schemeClr val="tx1"/>
                          </a:solidFill>
                        </a:rPr>
                        <a:t>The GDP growth rates post FY21 have been considered in line with PSMP 2016 projections</a:t>
                      </a:r>
                    </a:p>
                    <a:p>
                      <a:pPr marL="171450" indent="-171450" algn="just">
                        <a:spcAft>
                          <a:spcPts val="500"/>
                        </a:spcAft>
                        <a:buFont typeface="Arial" panose="020B0604020202020204" pitchFamily="34" charset="0"/>
                        <a:buChar char="•"/>
                      </a:pPr>
                      <a:r>
                        <a:rPr lang="en-US" sz="1000" b="0" baseline="0" dirty="0">
                          <a:solidFill>
                            <a:schemeClr val="tx1"/>
                          </a:solidFill>
                        </a:rPr>
                        <a:t>The graph on the right (above) showcases the various GDP growth rates considered under each scenario</a:t>
                      </a: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r>
                        <a:rPr lang="en-US" sz="1000" b="1" baseline="0" dirty="0">
                          <a:solidFill>
                            <a:schemeClr val="tx1"/>
                          </a:solidFill>
                        </a:rPr>
                        <a:t>Peak Demand – PSMP:</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In line with the above GDP projections we have projected the Peak Power Demand in Bangladesh till FY26 and by FY30</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As can be seen from the table on the right, Peak Power Demand is expected to be in the range of ~23,700 – 27,200 MW by FY26 and ~31,100 – 35,700 MW by FY30</a:t>
                      </a:r>
                    </a:p>
                    <a:p>
                      <a:pPr marL="0" indent="0" algn="just">
                        <a:spcAft>
                          <a:spcPts val="500"/>
                        </a:spcAft>
                        <a:buFont typeface="Arial" panose="020B0604020202020204" pitchFamily="34" charset="0"/>
                        <a:buNone/>
                      </a:pPr>
                      <a:endParaRPr lang="en-US" sz="1000" b="1"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22" name="Chart 21"/>
          <p:cNvGraphicFramePr/>
          <p:nvPr>
            <p:extLst>
              <p:ext uri="{D42A27DB-BD31-4B8C-83A1-F6EECF244321}">
                <p14:modId xmlns:p14="http://schemas.microsoft.com/office/powerpoint/2010/main" val="3374867242"/>
              </p:ext>
            </p:extLst>
          </p:nvPr>
        </p:nvGraphicFramePr>
        <p:xfrm>
          <a:off x="5435600" y="2378075"/>
          <a:ext cx="4732338" cy="2214563"/>
        </p:xfrm>
        <a:graphic>
          <a:graphicData uri="http://schemas.openxmlformats.org/drawingml/2006/chart">
            <c:chart xmlns:c="http://schemas.openxmlformats.org/drawingml/2006/chart" xmlns:r="http://schemas.openxmlformats.org/officeDocument/2006/relationships" r:id="rId26"/>
          </a:graphicData>
        </a:graphic>
      </p:graphicFrame>
      <p:grpSp>
        <p:nvGrpSpPr>
          <p:cNvPr id="5" name="Group 4"/>
          <p:cNvGrpSpPr/>
          <p:nvPr/>
        </p:nvGrpSpPr>
        <p:grpSpPr>
          <a:xfrm>
            <a:off x="9083714" y="3788252"/>
            <a:ext cx="120332" cy="158001"/>
            <a:chOff x="9225381" y="3796838"/>
            <a:chExt cx="120332" cy="158001"/>
          </a:xfrm>
        </p:grpSpPr>
        <p:cxnSp>
          <p:nvCxnSpPr>
            <p:cNvPr id="169" name="Straight Connector 168"/>
            <p:cNvCxnSpPr/>
            <p:nvPr/>
          </p:nvCxnSpPr>
          <p:spPr>
            <a:xfrm flipH="1">
              <a:off x="9263163" y="3820882"/>
              <a:ext cx="82550" cy="133957"/>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flipH="1">
              <a:off x="9225381" y="3796838"/>
              <a:ext cx="82550" cy="133957"/>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grpSp>
      <p:sp>
        <p:nvSpPr>
          <p:cNvPr id="13" name="Rectangle 12"/>
          <p:cNvSpPr/>
          <p:nvPr/>
        </p:nvSpPr>
        <p:spPr bwMode="gray">
          <a:xfrm>
            <a:off x="377227" y="7260740"/>
            <a:ext cx="5652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PSMP 2016; PSMP 2016 (Revised Study), BPDB, IFC, Bangladesh Bank, Deloitte Analysis</a:t>
            </a:r>
          </a:p>
        </p:txBody>
      </p:sp>
      <p:grpSp>
        <p:nvGrpSpPr>
          <p:cNvPr id="15" name="Group 14"/>
          <p:cNvGrpSpPr/>
          <p:nvPr/>
        </p:nvGrpSpPr>
        <p:grpSpPr>
          <a:xfrm>
            <a:off x="8201512" y="3800273"/>
            <a:ext cx="120332" cy="158001"/>
            <a:chOff x="9225381" y="3796838"/>
            <a:chExt cx="120332" cy="158001"/>
          </a:xfrm>
        </p:grpSpPr>
        <p:cxnSp>
          <p:nvCxnSpPr>
            <p:cNvPr id="16" name="Straight Connector 15"/>
            <p:cNvCxnSpPr/>
            <p:nvPr/>
          </p:nvCxnSpPr>
          <p:spPr>
            <a:xfrm flipH="1">
              <a:off x="9263163" y="3820882"/>
              <a:ext cx="82550" cy="133957"/>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flipH="1">
              <a:off x="9225381" y="3796838"/>
              <a:ext cx="82550" cy="133957"/>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grpSp>
      <p:graphicFrame>
        <p:nvGraphicFramePr>
          <p:cNvPr id="70" name="Chart 69"/>
          <p:cNvGraphicFramePr/>
          <p:nvPr>
            <p:custDataLst>
              <p:tags r:id="rId5"/>
            </p:custDataLst>
            <p:extLst>
              <p:ext uri="{D42A27DB-BD31-4B8C-83A1-F6EECF244321}">
                <p14:modId xmlns:p14="http://schemas.microsoft.com/office/powerpoint/2010/main" val="95567710"/>
              </p:ext>
            </p:extLst>
          </p:nvPr>
        </p:nvGraphicFramePr>
        <p:xfrm>
          <a:off x="5435600" y="4894263"/>
          <a:ext cx="4814888" cy="1800225"/>
        </p:xfrm>
        <a:graphic>
          <a:graphicData uri="http://schemas.openxmlformats.org/drawingml/2006/chart">
            <c:chart xmlns:c="http://schemas.openxmlformats.org/drawingml/2006/chart" xmlns:r="http://schemas.openxmlformats.org/officeDocument/2006/relationships" r:id="rId27"/>
          </a:graphicData>
        </a:graphic>
      </p:graphicFrame>
      <p:sp useBgFill="1">
        <p:nvSpPr>
          <p:cNvPr id="43" name="Freeform 42"/>
          <p:cNvSpPr/>
          <p:nvPr>
            <p:custDataLst>
              <p:tags r:id="rId6"/>
            </p:custDataLst>
          </p:nvPr>
        </p:nvSpPr>
        <p:spPr bwMode="auto">
          <a:xfrm>
            <a:off x="7018338" y="6538913"/>
            <a:ext cx="96838" cy="146051"/>
          </a:xfrm>
          <a:custGeom>
            <a:avLst/>
            <a:gdLst/>
            <a:ahLst/>
            <a:cxnLst/>
            <a:rect l="0" t="0" r="0" b="0"/>
            <a:pathLst>
              <a:path w="96838" h="146051">
                <a:moveTo>
                  <a:pt x="96837" y="0"/>
                </a:moveTo>
                <a:lnTo>
                  <a:pt x="57150" y="146050"/>
                </a:lnTo>
                <a:lnTo>
                  <a:pt x="0" y="146050"/>
                </a:lnTo>
                <a:lnTo>
                  <a:pt x="39687" y="0"/>
                </a:lnTo>
                <a:close/>
              </a:path>
            </a:pathLst>
          </a:custGeom>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useBgFill="1">
        <p:nvSpPr>
          <p:cNvPr id="63" name="Freeform 62"/>
          <p:cNvSpPr/>
          <p:nvPr>
            <p:custDataLst>
              <p:tags r:id="rId7"/>
            </p:custDataLst>
          </p:nvPr>
        </p:nvSpPr>
        <p:spPr bwMode="auto">
          <a:xfrm>
            <a:off x="8569325" y="6538913"/>
            <a:ext cx="96839" cy="146051"/>
          </a:xfrm>
          <a:custGeom>
            <a:avLst/>
            <a:gdLst/>
            <a:ahLst/>
            <a:cxnLst/>
            <a:rect l="0" t="0" r="0" b="0"/>
            <a:pathLst>
              <a:path w="96839" h="146051">
                <a:moveTo>
                  <a:pt x="96838" y="0"/>
                </a:moveTo>
                <a:lnTo>
                  <a:pt x="57150" y="146050"/>
                </a:lnTo>
                <a:lnTo>
                  <a:pt x="0" y="146050"/>
                </a:lnTo>
                <a:lnTo>
                  <a:pt x="39688" y="0"/>
                </a:lnTo>
                <a:close/>
              </a:path>
            </a:pathLst>
          </a:custGeom>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52" name="Freeform 51"/>
          <p:cNvSpPr/>
          <p:nvPr>
            <p:custDataLst>
              <p:tags r:id="rId8"/>
            </p:custDataLst>
          </p:nvPr>
        </p:nvSpPr>
        <p:spPr bwMode="auto">
          <a:xfrm>
            <a:off x="8569325" y="6538913"/>
            <a:ext cx="39689" cy="146051"/>
          </a:xfrm>
          <a:custGeom>
            <a:avLst/>
            <a:gdLst/>
            <a:ahLst/>
            <a:cxnLst/>
            <a:rect l="0" t="0" r="0" b="0"/>
            <a:pathLst>
              <a:path w="39689" h="146051">
                <a:moveTo>
                  <a:pt x="39688"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12" name="Freeform 11"/>
          <p:cNvSpPr/>
          <p:nvPr>
            <p:custDataLst>
              <p:tags r:id="rId9"/>
            </p:custDataLst>
          </p:nvPr>
        </p:nvSpPr>
        <p:spPr bwMode="auto">
          <a:xfrm>
            <a:off x="7018338" y="6538913"/>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14" name="Freeform 13"/>
          <p:cNvSpPr/>
          <p:nvPr>
            <p:custDataLst>
              <p:tags r:id="rId10"/>
            </p:custDataLst>
          </p:nvPr>
        </p:nvSpPr>
        <p:spPr bwMode="auto">
          <a:xfrm>
            <a:off x="7075488" y="6538913"/>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54" name="Freeform 53"/>
          <p:cNvSpPr/>
          <p:nvPr>
            <p:custDataLst>
              <p:tags r:id="rId11"/>
            </p:custDataLst>
          </p:nvPr>
        </p:nvSpPr>
        <p:spPr bwMode="auto">
          <a:xfrm>
            <a:off x="8626475" y="6538913"/>
            <a:ext cx="39689" cy="146051"/>
          </a:xfrm>
          <a:custGeom>
            <a:avLst/>
            <a:gdLst/>
            <a:ahLst/>
            <a:cxnLst/>
            <a:rect l="0" t="0" r="0" b="0"/>
            <a:pathLst>
              <a:path w="39689" h="146051">
                <a:moveTo>
                  <a:pt x="39688"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20" name="StandardTextbox"/>
          <p:cNvSpPr>
            <a:spLocks noGrp="1"/>
          </p:cNvSpPr>
          <p:nvPr>
            <p:custDataLst>
              <p:tags r:id="rId12"/>
            </p:custDataLst>
          </p:nvPr>
        </p:nvSpPr>
        <p:spPr bwMode="auto">
          <a:xfrm>
            <a:off x="6159500" y="6678613"/>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D96F0BD8-8B83-41B9-BDDF-85BD063C39E8}" type="datetime'''''''''''''''F''Y''2''''''''''''''''''0'''''''''''">
              <a:rPr lang="en-IN" altLang="en-US" sz="800" b="0" smtClean="0">
                <a:sym typeface="+mn-lt"/>
              </a:rPr>
              <a:pPr lvl="1" algn="ctr">
                <a:spcBef>
                  <a:spcPct val="0"/>
                </a:spcBef>
                <a:spcAft>
                  <a:spcPct val="0"/>
                </a:spcAft>
              </a:pPr>
              <a:t>FY20</a:t>
            </a:fld>
            <a:endParaRPr lang="en-IN" sz="800" b="0" noProof="0" dirty="0">
              <a:sym typeface="+mn-lt"/>
            </a:endParaRPr>
          </a:p>
        </p:txBody>
      </p:sp>
      <p:sp>
        <p:nvSpPr>
          <p:cNvPr id="28" name="StandardTextbox"/>
          <p:cNvSpPr>
            <a:spLocks noGrp="1"/>
          </p:cNvSpPr>
          <p:nvPr>
            <p:custDataLst>
              <p:tags r:id="rId13"/>
            </p:custDataLst>
          </p:nvPr>
        </p:nvSpPr>
        <p:spPr bwMode="auto">
          <a:xfrm>
            <a:off x="7710488" y="6678613"/>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835AC01-3035-457F-A64E-4C48EF1E6F4E}" type="datetime'''''''''''F''''''''''''Y''''''''''''''''''2''''''''''''''6'">
              <a:rPr lang="en-IN" altLang="en-US" sz="800" b="0" smtClean="0">
                <a:sym typeface="+mn-lt"/>
              </a:rPr>
              <a:pPr lvl="1" algn="ctr">
                <a:spcBef>
                  <a:spcPct val="0"/>
                </a:spcBef>
                <a:spcAft>
                  <a:spcPct val="0"/>
                </a:spcAft>
              </a:pPr>
              <a:t>FY26</a:t>
            </a:fld>
            <a:endParaRPr lang="en-IN" sz="800" b="0" noProof="0" dirty="0">
              <a:sym typeface="+mn-lt"/>
            </a:endParaRPr>
          </a:p>
        </p:txBody>
      </p:sp>
      <p:sp>
        <p:nvSpPr>
          <p:cNvPr id="30" name="StandardTextbox"/>
          <p:cNvSpPr>
            <a:spLocks noGrp="1"/>
          </p:cNvSpPr>
          <p:nvPr>
            <p:custDataLst>
              <p:tags r:id="rId14"/>
            </p:custDataLst>
          </p:nvPr>
        </p:nvSpPr>
        <p:spPr bwMode="auto">
          <a:xfrm>
            <a:off x="9259888" y="6678613"/>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13660F1E-74EF-4481-B8E4-BF76296A4BE3}" type="datetime'''''''''''''''''''''F''''Y''''''''''''''''3''''''0'''''''''">
              <a:rPr lang="en-IN" altLang="en-US" sz="800" b="0" smtClean="0">
                <a:sym typeface="+mn-lt"/>
              </a:rPr>
              <a:pPr lvl="1" algn="ctr">
                <a:spcBef>
                  <a:spcPct val="0"/>
                </a:spcBef>
                <a:spcAft>
                  <a:spcPct val="0"/>
                </a:spcAft>
              </a:pPr>
              <a:t>FY30</a:t>
            </a:fld>
            <a:endParaRPr lang="en-IN" sz="800" b="0" noProof="0" dirty="0">
              <a:sym typeface="+mn-lt"/>
            </a:endParaRPr>
          </a:p>
        </p:txBody>
      </p:sp>
      <p:sp useBgFill="1">
        <p:nvSpPr>
          <p:cNvPr id="60" name="StandardTextbox"/>
          <p:cNvSpPr>
            <a:spLocks noGrp="1"/>
          </p:cNvSpPr>
          <p:nvPr>
            <p:custDataLst>
              <p:tags r:id="rId15"/>
            </p:custDataLst>
          </p:nvPr>
        </p:nvSpPr>
        <p:spPr bwMode="gray">
          <a:xfrm>
            <a:off x="7694614" y="5435600"/>
            <a:ext cx="396875" cy="122238"/>
          </a:xfrm>
          <a:prstGeom prst="rect">
            <a:avLst/>
          </a:prstGeom>
          <a:ln>
            <a:noFill/>
          </a:ln>
        </p:spPr>
        <p:txBody>
          <a:bodyPr vert="horz" wrap="none" lIns="17463" tIns="0" rIns="17463"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5D97C6B-A2AB-46BF-BC5A-8B6CE2739B34}" type="datetime'''''''''''''''2''''3'''''',''''7''''''''''''''''''''''1''4'">
              <a:rPr lang="en-IN" altLang="en-US" sz="800" b="0" smtClean="0">
                <a:sym typeface="+mn-lt"/>
              </a:rPr>
              <a:pPr lvl="1" algn="ctr">
                <a:spcBef>
                  <a:spcPct val="0"/>
                </a:spcBef>
                <a:spcAft>
                  <a:spcPct val="0"/>
                </a:spcAft>
              </a:pPr>
              <a:t>23,714</a:t>
            </a:fld>
            <a:endParaRPr lang="en-IN" sz="800" b="0" noProof="0" dirty="0">
              <a:sym typeface="+mn-lt"/>
            </a:endParaRPr>
          </a:p>
        </p:txBody>
      </p:sp>
      <p:sp useBgFill="1">
        <p:nvSpPr>
          <p:cNvPr id="61" name="StandardTextbox"/>
          <p:cNvSpPr>
            <a:spLocks noGrp="1"/>
          </p:cNvSpPr>
          <p:nvPr>
            <p:custDataLst>
              <p:tags r:id="rId16"/>
            </p:custDataLst>
          </p:nvPr>
        </p:nvSpPr>
        <p:spPr bwMode="gray">
          <a:xfrm>
            <a:off x="9245601" y="5113338"/>
            <a:ext cx="396875" cy="122238"/>
          </a:xfrm>
          <a:prstGeom prst="rect">
            <a:avLst/>
          </a:prstGeom>
          <a:ln>
            <a:noFill/>
          </a:ln>
        </p:spPr>
        <p:txBody>
          <a:bodyPr vert="horz" wrap="none" lIns="17463" tIns="0" rIns="17463"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887F2884-9872-4C8C-BB4D-ADAE6D0806B7}" type="datetime'''3''1'''''''''''''',''''''''''1''''''''''3''''''''''2'''''">
              <a:rPr lang="en-IN" altLang="en-US" sz="800" b="0" smtClean="0">
                <a:sym typeface="+mn-lt"/>
              </a:rPr>
              <a:pPr lvl="1" algn="ctr">
                <a:spcBef>
                  <a:spcPct val="0"/>
                </a:spcBef>
                <a:spcAft>
                  <a:spcPct val="0"/>
                </a:spcAft>
              </a:pPr>
              <a:t>31,132</a:t>
            </a:fld>
            <a:endParaRPr lang="en-IN" sz="800" b="0" noProof="0" dirty="0">
              <a:sym typeface="+mn-lt"/>
            </a:endParaRPr>
          </a:p>
        </p:txBody>
      </p:sp>
      <p:sp>
        <p:nvSpPr>
          <p:cNvPr id="9" name="Rectangle 8"/>
          <p:cNvSpPr/>
          <p:nvPr>
            <p:custDataLst>
              <p:tags r:id="rId17"/>
            </p:custDataLst>
          </p:nvPr>
        </p:nvSpPr>
        <p:spPr bwMode="auto">
          <a:xfrm>
            <a:off x="7824788" y="6927850"/>
            <a:ext cx="142875" cy="106363"/>
          </a:xfrm>
          <a:prstGeom prst="rect">
            <a:avLst/>
          </a:prstGeom>
          <a:solidFill>
            <a:srgbClr val="62B5E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 name="Rectangle 5"/>
          <p:cNvSpPr/>
          <p:nvPr>
            <p:custDataLst>
              <p:tags r:id="rId18"/>
            </p:custDataLst>
          </p:nvPr>
        </p:nvSpPr>
        <p:spPr bwMode="auto">
          <a:xfrm>
            <a:off x="5683250" y="6927850"/>
            <a:ext cx="142875" cy="106363"/>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8" name="Rectangle 7"/>
          <p:cNvSpPr/>
          <p:nvPr>
            <p:custDataLst>
              <p:tags r:id="rId19"/>
            </p:custDataLst>
          </p:nvPr>
        </p:nvSpPr>
        <p:spPr bwMode="auto">
          <a:xfrm>
            <a:off x="5683250" y="7100888"/>
            <a:ext cx="142875" cy="106363"/>
          </a:xfrm>
          <a:prstGeom prst="rect">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8" name="StandardTextbox"/>
          <p:cNvSpPr>
            <a:spLocks noGrp="1"/>
          </p:cNvSpPr>
          <p:nvPr>
            <p:custDataLst>
              <p:tags r:id="rId20"/>
            </p:custDataLst>
          </p:nvPr>
        </p:nvSpPr>
        <p:spPr bwMode="auto">
          <a:xfrm>
            <a:off x="5876925" y="6923088"/>
            <a:ext cx="1846263"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F7EC2CFA-E61A-4BE9-A0D0-A63E48F554F1}" type="datetime'''Peak ''D''''emand'' (C''ov''i''d'' 19 ''B''as''e ''Case'')'">
              <a:rPr lang="en-US" altLang="en-US" sz="800" b="0" smtClean="0">
                <a:sym typeface="+mn-lt"/>
              </a:rPr>
              <a:pPr lvl="1">
                <a:spcBef>
                  <a:spcPct val="0"/>
                </a:spcBef>
                <a:spcAft>
                  <a:spcPct val="0"/>
                </a:spcAft>
              </a:pPr>
              <a:t>Peak Demand (Covid 19 Base Case)</a:t>
            </a:fld>
            <a:endParaRPr lang="en-IN" sz="800" b="0" noProof="0" dirty="0">
              <a:sym typeface="+mn-lt"/>
            </a:endParaRPr>
          </a:p>
        </p:txBody>
      </p:sp>
      <p:sp>
        <p:nvSpPr>
          <p:cNvPr id="49" name="StandardTextbox"/>
          <p:cNvSpPr>
            <a:spLocks noGrp="1"/>
          </p:cNvSpPr>
          <p:nvPr>
            <p:custDataLst>
              <p:tags r:id="rId21"/>
            </p:custDataLst>
          </p:nvPr>
        </p:nvSpPr>
        <p:spPr bwMode="auto">
          <a:xfrm>
            <a:off x="8018463" y="6923088"/>
            <a:ext cx="162560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1EFA9DF2-313B-466A-A2A8-5904A162327B}" type="datetime'''Pea''k Dema''''nd (Op''t''''''im''''i''sti''c'''' ''Case'')'">
              <a:rPr lang="en-IN" altLang="en-US" sz="800" b="0" smtClean="0">
                <a:sym typeface="+mn-lt"/>
              </a:rPr>
              <a:pPr lvl="1">
                <a:spcBef>
                  <a:spcPct val="0"/>
                </a:spcBef>
                <a:spcAft>
                  <a:spcPct val="0"/>
                </a:spcAft>
              </a:pPr>
              <a:t>Peak Demand (Optimistic Case)</a:t>
            </a:fld>
            <a:endParaRPr lang="en-IN" sz="800" b="0" noProof="0" dirty="0">
              <a:sym typeface="+mn-lt"/>
            </a:endParaRPr>
          </a:p>
        </p:txBody>
      </p:sp>
      <p:sp>
        <p:nvSpPr>
          <p:cNvPr id="41" name="StandardTextbox"/>
          <p:cNvSpPr>
            <a:spLocks noGrp="1"/>
          </p:cNvSpPr>
          <p:nvPr>
            <p:custDataLst>
              <p:tags r:id="rId22"/>
            </p:custDataLst>
          </p:nvPr>
        </p:nvSpPr>
        <p:spPr bwMode="auto">
          <a:xfrm>
            <a:off x="5876925" y="7096125"/>
            <a:ext cx="167005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3866C170-28E2-43CA-912B-8135B06FCCD2}" type="datetime'P''eak'' ''Demand'' (Pe''ss''''imist''ic'''' ''C''a''se)'''">
              <a:rPr lang="en-IN" altLang="en-US" sz="800" b="0" smtClean="0">
                <a:sym typeface="+mn-lt"/>
              </a:rPr>
              <a:pPr lvl="1">
                <a:spcBef>
                  <a:spcPct val="0"/>
                </a:spcBef>
                <a:spcAft>
                  <a:spcPct val="0"/>
                </a:spcAft>
              </a:pPr>
              <a:t>Peak Demand (Pessimistic Case)</a:t>
            </a:fld>
            <a:endParaRPr lang="en-IN" sz="800" b="0" noProof="0" dirty="0">
              <a:sym typeface="+mn-lt"/>
            </a:endParaRPr>
          </a:p>
        </p:txBody>
      </p:sp>
    </p:spTree>
    <p:extLst>
      <p:ext uri="{BB962C8B-B14F-4D97-AF65-F5344CB8AC3E}">
        <p14:creationId xmlns:p14="http://schemas.microsoft.com/office/powerpoint/2010/main" val="3297185913"/>
      </p:ext>
    </p:extLst>
  </p:cSld>
  <p:clrMapOvr>
    <a:masterClrMapping/>
  </p:clrMapOvr>
  <p:transition>
    <p:fade/>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47827955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3" imgW="530" imgH="531" progId="TCLayout.ActiveDocument.1">
                  <p:embed/>
                </p:oleObj>
              </mc:Choice>
              <mc:Fallback>
                <p:oleObj name="think-cell Slide" r:id="rId33" imgW="530" imgH="531" progId="TCLayout.ActiveDocument.1">
                  <p:embed/>
                  <p:pic>
                    <p:nvPicPr>
                      <p:cNvPr id="3" name="Object 2" hidden="1"/>
                      <p:cNvPicPr/>
                      <p:nvPr/>
                    </p:nvPicPr>
                    <p:blipFill>
                      <a:blip r:embed="rId34"/>
                      <a:stretch>
                        <a:fillRect/>
                      </a:stretch>
                    </p:blipFill>
                    <p:spPr>
                      <a:xfrm>
                        <a:off x="1588" y="1588"/>
                        <a:ext cx="1588" cy="1588"/>
                      </a:xfrm>
                      <a:prstGeom prst="rect">
                        <a:avLst/>
                      </a:prstGeom>
                    </p:spPr>
                  </p:pic>
                </p:oleObj>
              </mc:Fallback>
            </mc:AlternateContent>
          </a:graphicData>
        </a:graphic>
      </p:graphicFrame>
      <p:sp>
        <p:nvSpPr>
          <p:cNvPr id="28" name="Rectangle 27"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7" name="StandardTextbox"/>
          <p:cNvSpPr>
            <a:spLocks noGrp="1"/>
          </p:cNvSpPr>
          <p:nvPr>
            <p:custDataLst>
              <p:tags r:id="rId3"/>
            </p:custDataLst>
          </p:nvPr>
        </p:nvSpPr>
        <p:spPr bwMode="auto">
          <a:xfrm>
            <a:off x="5918200" y="4281488"/>
            <a:ext cx="184467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23E17719-F44A-42AF-8BF6-C56321CEBB38}" type="datetime'Averag''''''''e'''' ''D''em''''and (Pessi''mist''''ic Case)'">
              <a:rPr lang="en-IN" altLang="en-US" sz="800" b="0" smtClean="0">
                <a:solidFill>
                  <a:srgbClr val="000000"/>
                </a:solidFill>
              </a:rPr>
              <a:pPr lvl="1">
                <a:spcBef>
                  <a:spcPct val="0"/>
                </a:spcBef>
                <a:spcAft>
                  <a:spcPct val="0"/>
                </a:spcAft>
                <a:defRPr/>
              </a:pPr>
              <a:t>Average Demand (Pessimistic Case)</a:t>
            </a:fld>
            <a:endParaRPr kumimoji="0" lang="en-IN" sz="800" b="0" i="0" strike="noStrike" kern="1200" spc="0" normalizeH="0" noProof="0" dirty="0">
              <a:ln>
                <a:noFill/>
              </a:ln>
              <a:solidFill>
                <a:srgbClr val="000000"/>
              </a:solidFill>
              <a:effectLst/>
              <a:uLnTx/>
              <a:uFillTx/>
              <a:latin typeface="Verdana"/>
              <a:sym typeface="+mn-lt"/>
            </a:endParaRPr>
          </a:p>
        </p:txBody>
      </p:sp>
      <p:sp>
        <p:nvSpPr>
          <p:cNvPr id="88" name="StandardTextbox"/>
          <p:cNvSpPr>
            <a:spLocks noGrp="1"/>
          </p:cNvSpPr>
          <p:nvPr>
            <p:custDataLst>
              <p:tags r:id="rId4"/>
            </p:custDataLst>
          </p:nvPr>
        </p:nvSpPr>
        <p:spPr bwMode="auto">
          <a:xfrm>
            <a:off x="8234363" y="4108450"/>
            <a:ext cx="18002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0E9A91DD-E159-49D1-B196-47C772BF0437}" type="datetime'''Ave''r''''age'' ''''''''Deman''''d'' (Optimistic Ca''se'')'">
              <a:rPr lang="en-IN" altLang="en-US" sz="800" b="0" smtClean="0">
                <a:solidFill>
                  <a:srgbClr val="000000"/>
                </a:solidFill>
              </a:rPr>
              <a:pPr lvl="1">
                <a:spcBef>
                  <a:spcPct val="0"/>
                </a:spcBef>
                <a:spcAft>
                  <a:spcPct val="0"/>
                </a:spcAft>
                <a:defRPr/>
              </a:pPr>
              <a:t>Average Demand (Optimistic Case)</a:t>
            </a:fld>
            <a:endParaRPr kumimoji="0" lang="en-IN" sz="800" b="0" i="0" strike="noStrike" kern="1200" spc="0" normalizeH="0" noProof="0" dirty="0">
              <a:ln>
                <a:noFill/>
              </a:ln>
              <a:solidFill>
                <a:srgbClr val="000000"/>
              </a:solidFill>
              <a:effectLst/>
              <a:uLnTx/>
              <a:uFillTx/>
              <a:latin typeface="Verdana"/>
              <a:sym typeface="+mn-lt"/>
            </a:endParaRPr>
          </a:p>
        </p:txBody>
      </p:sp>
      <p:sp>
        <p:nvSpPr>
          <p:cNvPr id="26" name="StandardTextbox"/>
          <p:cNvSpPr>
            <a:spLocks noGrp="1"/>
          </p:cNvSpPr>
          <p:nvPr>
            <p:custDataLst>
              <p:tags r:id="rId5"/>
            </p:custDataLst>
          </p:nvPr>
        </p:nvSpPr>
        <p:spPr bwMode="auto">
          <a:xfrm>
            <a:off x="5918200" y="4108450"/>
            <a:ext cx="202088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FF250F9E-8BD3-4931-9F7F-16FB78CB4897}" type="datetime'A''ve''r''age'' Dema''nd'' (Co''vid'' 19'' Base'' Case)'''''''">
              <a:rPr lang="en-US" altLang="en-US" sz="800" b="0" smtClean="0">
                <a:solidFill>
                  <a:srgbClr val="000000"/>
                </a:solidFill>
              </a:rPr>
              <a:pPr lvl="1">
                <a:spcBef>
                  <a:spcPct val="0"/>
                </a:spcBef>
                <a:spcAft>
                  <a:spcPct val="0"/>
                </a:spcAft>
                <a:defRPr/>
              </a:pPr>
              <a:t>Average Demand (Covid 19 Base Case)</a:t>
            </a:fld>
            <a:endParaRPr kumimoji="0" lang="en-IN" sz="800" b="0" i="0" strike="noStrike" kern="1200" spc="0" normalizeH="0" noProof="0" dirty="0">
              <a:ln>
                <a:noFill/>
              </a:ln>
              <a:solidFill>
                <a:srgbClr val="000000"/>
              </a:solidFill>
              <a:effectLst/>
              <a:uLnTx/>
              <a:uFillTx/>
              <a:latin typeface="Verdana"/>
              <a:sym typeface="+mn-lt"/>
            </a:endParaRPr>
          </a:p>
        </p:txBody>
      </p:sp>
      <p:sp>
        <p:nvSpPr>
          <p:cNvPr id="102" name="Rectangle 101"/>
          <p:cNvSpPr/>
          <p:nvPr>
            <p:custDataLst>
              <p:tags r:id="rId6"/>
            </p:custDataLst>
          </p:nvPr>
        </p:nvSpPr>
        <p:spPr bwMode="auto">
          <a:xfrm>
            <a:off x="8040688" y="4113213"/>
            <a:ext cx="142875" cy="106363"/>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42" name="Rectangle 41"/>
          <p:cNvSpPr/>
          <p:nvPr>
            <p:custDataLst>
              <p:tags r:id="rId7"/>
            </p:custDataLst>
          </p:nvPr>
        </p:nvSpPr>
        <p:spPr bwMode="auto">
          <a:xfrm>
            <a:off x="5724525" y="4113213"/>
            <a:ext cx="142875" cy="106363"/>
          </a:xfrm>
          <a:prstGeom prst="rect">
            <a:avLst/>
          </a:prstGeom>
          <a:solidFill>
            <a:srgbClr val="62B5E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5" name="Rectangle 24"/>
          <p:cNvSpPr/>
          <p:nvPr>
            <p:custDataLst>
              <p:tags r:id="rId8"/>
            </p:custDataLst>
          </p:nvPr>
        </p:nvSpPr>
        <p:spPr bwMode="auto">
          <a:xfrm>
            <a:off x="5724525" y="4286250"/>
            <a:ext cx="142875" cy="106363"/>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graphicFrame>
        <p:nvGraphicFramePr>
          <p:cNvPr id="32" name="Table 31"/>
          <p:cNvGraphicFramePr>
            <a:graphicFrameLocks noGrp="1"/>
          </p:cNvGraphicFramePr>
          <p:nvPr>
            <p:custDataLst>
              <p:tags r:id="rId9"/>
            </p:custDataLst>
            <p:extLst>
              <p:ext uri="{D42A27DB-BD31-4B8C-83A1-F6EECF244321}">
                <p14:modId xmlns:p14="http://schemas.microsoft.com/office/powerpoint/2010/main" val="1865962797"/>
              </p:ext>
            </p:extLst>
          </p:nvPr>
        </p:nvGraphicFramePr>
        <p:xfrm>
          <a:off x="5518150" y="1968501"/>
          <a:ext cx="4732338" cy="5440363"/>
        </p:xfrm>
        <a:graphic>
          <a:graphicData uri="http://schemas.openxmlformats.org/drawingml/2006/table">
            <a:tbl>
              <a:tblPr firstRow="1" bandRow="1">
                <a:tableStyleId>{5C22544A-7EE6-4342-B048-85BDC9FD1C3A}</a:tableStyleId>
              </a:tblPr>
              <a:tblGrid>
                <a:gridCol w="4732338">
                  <a:extLst>
                    <a:ext uri="{9D8B030D-6E8A-4147-A177-3AD203B41FA5}">
                      <a16:colId xmlns:a16="http://schemas.microsoft.com/office/drawing/2014/main" val="20000"/>
                    </a:ext>
                  </a:extLst>
                </a:gridCol>
              </a:tblGrid>
              <a:tr h="5440363">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figure shows the Average Demand (MW) projections under each case till FY24 and by FY30:</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table shows Net Energy Consumption Ex-Bus (MU) for till FY24 and by FY30:</a:t>
                      </a:r>
                    </a:p>
                    <a:p>
                      <a:pPr marL="171450" lvl="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4" name="Title 1"/>
          <p:cNvSpPr>
            <a:spLocks noGrp="1"/>
          </p:cNvSpPr>
          <p:nvPr>
            <p:ph type="title"/>
          </p:nvPr>
        </p:nvSpPr>
        <p:spPr>
          <a:xfrm>
            <a:off x="442913" y="654050"/>
            <a:ext cx="9791700" cy="431800"/>
          </a:xfrm>
        </p:spPr>
        <p:txBody>
          <a:bodyPr/>
          <a:lstStyle/>
          <a:p>
            <a:r>
              <a:rPr lang="en-US" dirty="0"/>
              <a:t>Power Market | Demand Projection (COVID 19)</a:t>
            </a:r>
            <a:endParaRPr lang="en-IN" dirty="0"/>
          </a:p>
        </p:txBody>
      </p:sp>
      <p:sp>
        <p:nvSpPr>
          <p:cNvPr id="5" name="Strapline"/>
          <p:cNvSpPr txBox="1">
            <a:spLocks/>
          </p:cNvSpPr>
          <p:nvPr/>
        </p:nvSpPr>
        <p:spPr>
          <a:xfrm>
            <a:off x="442912" y="1085850"/>
            <a:ext cx="9793288" cy="519113"/>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 average demand </a:t>
            </a:r>
            <a:r>
              <a:rPr lang="en-US" sz="1400" dirty="0">
                <a:solidFill>
                  <a:prstClr val="black">
                    <a:lumMod val="50000"/>
                    <a:lumOff val="50000"/>
                  </a:prstClr>
                </a:solidFill>
                <a:latin typeface="Verdana" panose="020B0604030504040204" pitchFamily="34" charset="0"/>
              </a:rPr>
              <a:t>for power in Bangladesh may reach 15,700 MW by FY26 and ~21,560 MW by FY30 in the COVID 19 Base Case</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121" name="Chart 120"/>
          <p:cNvGraphicFramePr/>
          <p:nvPr>
            <p:custDataLst>
              <p:tags r:id="rId10"/>
            </p:custDataLst>
            <p:extLst>
              <p:ext uri="{D42A27DB-BD31-4B8C-83A1-F6EECF244321}">
                <p14:modId xmlns:p14="http://schemas.microsoft.com/office/powerpoint/2010/main" val="2852691889"/>
              </p:ext>
            </p:extLst>
          </p:nvPr>
        </p:nvGraphicFramePr>
        <p:xfrm>
          <a:off x="5435600" y="2333625"/>
          <a:ext cx="4881563" cy="1563688"/>
        </p:xfrm>
        <a:graphic>
          <a:graphicData uri="http://schemas.openxmlformats.org/drawingml/2006/chart">
            <c:chart xmlns:c="http://schemas.openxmlformats.org/drawingml/2006/chart" xmlns:r="http://schemas.openxmlformats.org/officeDocument/2006/relationships" r:id="rId35"/>
          </a:graphicData>
        </a:graphic>
      </p:graphicFrame>
      <p:sp useBgFill="1">
        <p:nvSpPr>
          <p:cNvPr id="10" name="Freeform 9"/>
          <p:cNvSpPr/>
          <p:nvPr>
            <p:custDataLst>
              <p:tags r:id="rId11"/>
            </p:custDataLst>
          </p:nvPr>
        </p:nvSpPr>
        <p:spPr bwMode="auto">
          <a:xfrm>
            <a:off x="8615363" y="3741738"/>
            <a:ext cx="96838" cy="146051"/>
          </a:xfrm>
          <a:custGeom>
            <a:avLst/>
            <a:gdLst/>
            <a:ahLst/>
            <a:cxnLst/>
            <a:rect l="0" t="0" r="0" b="0"/>
            <a:pathLst>
              <a:path w="96839" h="146051">
                <a:moveTo>
                  <a:pt x="96838" y="0"/>
                </a:moveTo>
                <a:lnTo>
                  <a:pt x="57150" y="146050"/>
                </a:lnTo>
                <a:lnTo>
                  <a:pt x="0" y="146050"/>
                </a:lnTo>
                <a:lnTo>
                  <a:pt x="39688" y="0"/>
                </a:lnTo>
                <a:close/>
              </a:path>
            </a:pathLst>
          </a:custGeom>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8" name="Freeform 7"/>
          <p:cNvSpPr/>
          <p:nvPr>
            <p:custDataLst>
              <p:tags r:id="rId12"/>
            </p:custDataLst>
          </p:nvPr>
        </p:nvSpPr>
        <p:spPr bwMode="auto">
          <a:xfrm>
            <a:off x="8615363" y="3741738"/>
            <a:ext cx="39688" cy="146051"/>
          </a:xfrm>
          <a:custGeom>
            <a:avLst/>
            <a:gdLst/>
            <a:ahLst/>
            <a:cxnLst/>
            <a:rect l="0" t="0" r="0" b="0"/>
            <a:pathLst>
              <a:path w="39689" h="146051">
                <a:moveTo>
                  <a:pt x="39688"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9" name="Freeform 8"/>
          <p:cNvSpPr/>
          <p:nvPr>
            <p:custDataLst>
              <p:tags r:id="rId13"/>
            </p:custDataLst>
          </p:nvPr>
        </p:nvSpPr>
        <p:spPr bwMode="auto">
          <a:xfrm>
            <a:off x="8672513" y="3741738"/>
            <a:ext cx="39688" cy="146051"/>
          </a:xfrm>
          <a:custGeom>
            <a:avLst/>
            <a:gdLst/>
            <a:ahLst/>
            <a:cxnLst/>
            <a:rect l="0" t="0" r="0" b="0"/>
            <a:pathLst>
              <a:path w="39689" h="146051">
                <a:moveTo>
                  <a:pt x="39688"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119" name="StandardTextbox"/>
          <p:cNvSpPr>
            <a:spLocks noGrp="1"/>
          </p:cNvSpPr>
          <p:nvPr>
            <p:custDataLst>
              <p:tags r:id="rId14"/>
            </p:custDataLst>
          </p:nvPr>
        </p:nvSpPr>
        <p:spPr bwMode="auto">
          <a:xfrm>
            <a:off x="7743826" y="3881438"/>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3A02E61-11C3-49B5-B41D-C7622E33D5D8}" type="datetime'''''''''''''''''F''''''''''''''''''''Y2''''''''''''''''6'''">
              <a:rPr lang="en-IN" altLang="en-US" sz="800" b="0" smtClean="0">
                <a:sym typeface="+mn-lt"/>
              </a:rPr>
              <a:pPr lvl="1" algn="ctr">
                <a:spcBef>
                  <a:spcPct val="0"/>
                </a:spcBef>
                <a:spcAft>
                  <a:spcPct val="0"/>
                </a:spcAft>
              </a:pPr>
              <a:t>FY26</a:t>
            </a:fld>
            <a:endParaRPr lang="en-IN" sz="800" b="0" noProof="0" dirty="0">
              <a:sym typeface="+mn-lt"/>
            </a:endParaRPr>
          </a:p>
        </p:txBody>
      </p:sp>
      <p:sp>
        <p:nvSpPr>
          <p:cNvPr id="118" name="StandardTextbox"/>
          <p:cNvSpPr>
            <a:spLocks noGrp="1"/>
          </p:cNvSpPr>
          <p:nvPr>
            <p:custDataLst>
              <p:tags r:id="rId15"/>
            </p:custDataLst>
          </p:nvPr>
        </p:nvSpPr>
        <p:spPr bwMode="auto">
          <a:xfrm>
            <a:off x="6172201" y="3881438"/>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C81BF77-118D-42EF-944A-B76214CA58B3}" type="datetime'''''''''F''''''''''''''''''''''''''''''''Y''''2''''0'''''">
              <a:rPr lang="en-IN" altLang="en-US" sz="800" b="0" smtClean="0">
                <a:sym typeface="+mn-lt"/>
              </a:rPr>
              <a:pPr lvl="1" algn="ctr">
                <a:spcBef>
                  <a:spcPct val="0"/>
                </a:spcBef>
                <a:spcAft>
                  <a:spcPct val="0"/>
                </a:spcAft>
              </a:pPr>
              <a:t>FY20</a:t>
            </a:fld>
            <a:endParaRPr lang="en-IN" sz="800" b="0" noProof="0" dirty="0">
              <a:sym typeface="+mn-lt"/>
            </a:endParaRPr>
          </a:p>
        </p:txBody>
      </p:sp>
      <p:sp>
        <p:nvSpPr>
          <p:cNvPr id="120" name="StandardTextbox"/>
          <p:cNvSpPr>
            <a:spLocks noGrp="1"/>
          </p:cNvSpPr>
          <p:nvPr>
            <p:custDataLst>
              <p:tags r:id="rId16"/>
            </p:custDataLst>
          </p:nvPr>
        </p:nvSpPr>
        <p:spPr bwMode="auto">
          <a:xfrm>
            <a:off x="9317039" y="3881438"/>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CAACD24-6BE5-4510-9774-FF099884713F}" type="datetime'''''F''Y3''''0'''''''''''''''''''''''''''''''">
              <a:rPr lang="en-IN" altLang="en-US" sz="800" b="0" smtClean="0">
                <a:sym typeface="+mn-lt"/>
              </a:rPr>
              <a:pPr lvl="1" algn="ctr">
                <a:spcBef>
                  <a:spcPct val="0"/>
                </a:spcBef>
                <a:spcAft>
                  <a:spcPct val="0"/>
                </a:spcAft>
              </a:pPr>
              <a:t>FY30</a:t>
            </a:fld>
            <a:endParaRPr lang="en-IN" sz="800" b="0" noProof="0" dirty="0">
              <a:sym typeface="+mn-lt"/>
            </a:endParaRPr>
          </a:p>
        </p:txBody>
      </p:sp>
      <p:graphicFrame>
        <p:nvGraphicFramePr>
          <p:cNvPr id="33" name="Table 32"/>
          <p:cNvGraphicFramePr>
            <a:graphicFrameLocks noGrp="1"/>
          </p:cNvGraphicFramePr>
          <p:nvPr>
            <p:custDataLst>
              <p:tags r:id="rId17"/>
            </p:custDataLst>
            <p:extLst>
              <p:ext uri="{D42A27DB-BD31-4B8C-83A1-F6EECF244321}">
                <p14:modId xmlns:p14="http://schemas.microsoft.com/office/powerpoint/2010/main" val="2491015865"/>
              </p:ext>
            </p:extLst>
          </p:nvPr>
        </p:nvGraphicFramePr>
        <p:xfrm>
          <a:off x="442913" y="1968500"/>
          <a:ext cx="4735513" cy="5440363"/>
        </p:xfrm>
        <a:graphic>
          <a:graphicData uri="http://schemas.openxmlformats.org/drawingml/2006/table">
            <a:tbl>
              <a:tblPr firstRow="1" bandRow="1">
                <a:tableStyleId>{5C22544A-7EE6-4342-B048-85BDC9FD1C3A}</a:tableStyleId>
              </a:tblPr>
              <a:tblGrid>
                <a:gridCol w="4735513">
                  <a:extLst>
                    <a:ext uri="{9D8B030D-6E8A-4147-A177-3AD203B41FA5}">
                      <a16:colId xmlns:a16="http://schemas.microsoft.com/office/drawing/2014/main" val="20000"/>
                    </a:ext>
                  </a:extLst>
                </a:gridCol>
              </a:tblGrid>
              <a:tr h="5440363">
                <a:tc>
                  <a:txBody>
                    <a:bodyPr/>
                    <a:lstStyle/>
                    <a:p>
                      <a:pPr marL="0" indent="0" algn="just">
                        <a:spcAft>
                          <a:spcPts val="500"/>
                        </a:spcAft>
                        <a:buFont typeface="Arial" panose="020B0604020202020204" pitchFamily="34" charset="0"/>
                        <a:buNone/>
                      </a:pPr>
                      <a:r>
                        <a:rPr lang="en-US" sz="1000" b="1" baseline="0" dirty="0">
                          <a:solidFill>
                            <a:schemeClr val="tx1"/>
                          </a:solidFill>
                        </a:rPr>
                        <a:t>Average Demand</a:t>
                      </a:r>
                      <a:endParaRPr lang="en-US" sz="1000" b="0" baseline="0" dirty="0">
                        <a:solidFill>
                          <a:schemeClr val="tx1"/>
                        </a:solidFill>
                      </a:endParaRPr>
                    </a:p>
                    <a:p>
                      <a:pPr marL="171450" indent="-171450" algn="just">
                        <a:spcAft>
                          <a:spcPts val="500"/>
                        </a:spcAft>
                        <a:buFont typeface="Arial" panose="020B0604020202020204" pitchFamily="34" charset="0"/>
                        <a:buChar char="•"/>
                      </a:pPr>
                      <a:r>
                        <a:rPr lang="en-US" sz="1000" b="0" baseline="0" dirty="0">
                          <a:solidFill>
                            <a:schemeClr val="tx1"/>
                          </a:solidFill>
                        </a:rPr>
                        <a:t>Based on the Peak Demand projected earlier, we considered the system load factor (ranging between ~60.6% to 64.6%) YoY  considered by PSMP 2016 – Revised projections to determine the average power demand during the year</a:t>
                      </a:r>
                    </a:p>
                    <a:p>
                      <a:pPr marL="171450" indent="-171450" algn="just">
                        <a:spcAft>
                          <a:spcPts val="500"/>
                        </a:spcAft>
                        <a:buFont typeface="Arial" panose="020B0604020202020204" pitchFamily="34" charset="0"/>
                        <a:buChar char="•"/>
                      </a:pPr>
                      <a:r>
                        <a:rPr lang="en-US" sz="1000" b="0" baseline="0" dirty="0">
                          <a:solidFill>
                            <a:schemeClr val="tx1"/>
                          </a:solidFill>
                        </a:rPr>
                        <a:t>The average power demand is expected to be ~15,700 MW by FY26 and 21,600 MW by FY30 in the COVID 19 Base Case</a:t>
                      </a:r>
                    </a:p>
                    <a:p>
                      <a:pPr marL="171450" indent="-171450" algn="just">
                        <a:spcAft>
                          <a:spcPts val="500"/>
                        </a:spcAft>
                        <a:buFont typeface="Arial" panose="020B0604020202020204" pitchFamily="34" charset="0"/>
                        <a:buChar char="•"/>
                      </a:pPr>
                      <a:r>
                        <a:rPr lang="en-US" sz="1000" b="0" baseline="0" dirty="0">
                          <a:solidFill>
                            <a:schemeClr val="tx1"/>
                          </a:solidFill>
                        </a:rPr>
                        <a:t>It may reach 20,000 MW and 23,050 MW in the pessimistic and optimistic scenario by FY30 respectively</a:t>
                      </a: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1" baseline="0" dirty="0">
                        <a:solidFill>
                          <a:schemeClr val="tx1"/>
                        </a:solidFill>
                      </a:endParaRPr>
                    </a:p>
                    <a:p>
                      <a:pPr marL="0" indent="0" algn="just">
                        <a:spcAft>
                          <a:spcPts val="500"/>
                        </a:spcAft>
                        <a:buFont typeface="Arial" panose="020B0604020202020204" pitchFamily="34" charset="0"/>
                        <a:buNone/>
                      </a:pPr>
                      <a:endParaRPr lang="en-US" sz="1000" b="1" baseline="0" dirty="0">
                        <a:solidFill>
                          <a:schemeClr val="tx1"/>
                        </a:solidFill>
                      </a:endParaRPr>
                    </a:p>
                    <a:p>
                      <a:pPr marL="0" indent="0" algn="just">
                        <a:spcAft>
                          <a:spcPts val="500"/>
                        </a:spcAft>
                        <a:buFont typeface="Arial" panose="020B0604020202020204" pitchFamily="34" charset="0"/>
                        <a:buNone/>
                      </a:pPr>
                      <a:endParaRPr lang="en-US" sz="1000" b="1" baseline="0" dirty="0">
                        <a:solidFill>
                          <a:schemeClr val="tx1"/>
                        </a:solidFill>
                      </a:endParaRPr>
                    </a:p>
                    <a:p>
                      <a:pPr marL="0" indent="0" algn="just">
                        <a:spcAft>
                          <a:spcPts val="500"/>
                        </a:spcAft>
                        <a:buFont typeface="Arial" panose="020B0604020202020204" pitchFamily="34" charset="0"/>
                        <a:buNone/>
                      </a:pPr>
                      <a:r>
                        <a:rPr lang="en-US" sz="1000" b="1" baseline="0" dirty="0">
                          <a:solidFill>
                            <a:schemeClr val="tx1"/>
                          </a:solidFill>
                        </a:rPr>
                        <a:t>Net Electricity Consumption (Ex-Bus):</a:t>
                      </a:r>
                    </a:p>
                    <a:p>
                      <a:pPr marL="171450" indent="-171450" algn="just">
                        <a:spcAft>
                          <a:spcPts val="500"/>
                        </a:spcAft>
                        <a:buFont typeface="Arial" panose="020B0604020202020204" pitchFamily="34" charset="0"/>
                        <a:buChar char="•"/>
                      </a:pPr>
                      <a:r>
                        <a:rPr lang="en-US" sz="1000" b="0" baseline="0" dirty="0">
                          <a:solidFill>
                            <a:schemeClr val="tx1"/>
                          </a:solidFill>
                        </a:rPr>
                        <a:t>The net electricity consumption (ex-bus) was computed based on average demand for each year</a:t>
                      </a:r>
                    </a:p>
                    <a:p>
                      <a:pPr marL="171450" indent="-171450" algn="just">
                        <a:spcAft>
                          <a:spcPts val="500"/>
                        </a:spcAft>
                        <a:buFont typeface="Arial" panose="020B0604020202020204" pitchFamily="34" charset="0"/>
                        <a:buChar char="•"/>
                      </a:pPr>
                      <a:r>
                        <a:rPr lang="en-US" sz="1000" b="0" baseline="0" dirty="0">
                          <a:solidFill>
                            <a:schemeClr val="tx1"/>
                          </a:solidFill>
                        </a:rPr>
                        <a:t>As can be seen from the graph on the right (below), the net energy consumption (Ex-bus) may reach 1,38,000 MUs by FY26 and 1,88,900 MUs by FY30 in the base case</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It may reach 1,76,200 MU and 2,02,000 MUs in the pessimistic and optimistic scenario by FY30 respectively</a:t>
                      </a:r>
                    </a:p>
                    <a:p>
                      <a:pPr marL="171450" indent="-171450" algn="just">
                        <a:spcAft>
                          <a:spcPts val="500"/>
                        </a:spcAft>
                        <a:buFont typeface="Arial" panose="020B0604020202020204" pitchFamily="34" charset="0"/>
                        <a:buChar char="•"/>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1"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17" name="Chart 116"/>
          <p:cNvGraphicFramePr/>
          <p:nvPr>
            <p:custDataLst>
              <p:tags r:id="rId18"/>
            </p:custDataLst>
            <p:extLst>
              <p:ext uri="{D42A27DB-BD31-4B8C-83A1-F6EECF244321}">
                <p14:modId xmlns:p14="http://schemas.microsoft.com/office/powerpoint/2010/main" val="3385892264"/>
              </p:ext>
            </p:extLst>
          </p:nvPr>
        </p:nvGraphicFramePr>
        <p:xfrm>
          <a:off x="5435600" y="4918075"/>
          <a:ext cx="4897438" cy="1563688"/>
        </p:xfrm>
        <a:graphic>
          <a:graphicData uri="http://schemas.openxmlformats.org/drawingml/2006/chart">
            <c:chart xmlns:c="http://schemas.openxmlformats.org/drawingml/2006/chart" xmlns:r="http://schemas.openxmlformats.org/officeDocument/2006/relationships" r:id="rId36"/>
          </a:graphicData>
        </a:graphic>
      </p:graphicFrame>
      <p:sp useBgFill="1">
        <p:nvSpPr>
          <p:cNvPr id="18" name="Freeform 17"/>
          <p:cNvSpPr/>
          <p:nvPr>
            <p:custDataLst>
              <p:tags r:id="rId19"/>
            </p:custDataLst>
          </p:nvPr>
        </p:nvSpPr>
        <p:spPr bwMode="auto">
          <a:xfrm>
            <a:off x="8623300" y="6326188"/>
            <a:ext cx="96838" cy="146051"/>
          </a:xfrm>
          <a:custGeom>
            <a:avLst/>
            <a:gdLst/>
            <a:ahLst/>
            <a:cxnLst/>
            <a:rect l="0" t="0" r="0" b="0"/>
            <a:pathLst>
              <a:path w="96838" h="146051">
                <a:moveTo>
                  <a:pt x="96837" y="0"/>
                </a:moveTo>
                <a:lnTo>
                  <a:pt x="57150" y="146050"/>
                </a:lnTo>
                <a:lnTo>
                  <a:pt x="0" y="146050"/>
                </a:lnTo>
                <a:lnTo>
                  <a:pt x="39687" y="0"/>
                </a:lnTo>
                <a:close/>
              </a:path>
            </a:pathLst>
          </a:custGeom>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2" name="Freeform 11"/>
          <p:cNvSpPr/>
          <p:nvPr>
            <p:custDataLst>
              <p:tags r:id="rId20"/>
            </p:custDataLst>
          </p:nvPr>
        </p:nvSpPr>
        <p:spPr bwMode="auto">
          <a:xfrm>
            <a:off x="8680450" y="6326188"/>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11" name="Freeform 10"/>
          <p:cNvSpPr/>
          <p:nvPr>
            <p:custDataLst>
              <p:tags r:id="rId21"/>
            </p:custDataLst>
          </p:nvPr>
        </p:nvSpPr>
        <p:spPr bwMode="auto">
          <a:xfrm>
            <a:off x="8623300" y="6326188"/>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167" name="StandardTextbox"/>
          <p:cNvSpPr>
            <a:spLocks noGrp="1"/>
          </p:cNvSpPr>
          <p:nvPr>
            <p:custDataLst>
              <p:tags r:id="rId22"/>
            </p:custDataLst>
          </p:nvPr>
        </p:nvSpPr>
        <p:spPr bwMode="auto">
          <a:xfrm>
            <a:off x="9328151" y="6465888"/>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1F6BD2BD-583B-4A02-B371-5A52FD885A34}" type="datetime'''F''''Y''''3''''''''''''''0'''''''''''''''''''''''">
              <a:rPr lang="en-IN" altLang="en-US" sz="800" b="0" smtClean="0">
                <a:solidFill>
                  <a:srgbClr val="000000"/>
                </a:solidFill>
                <a:sym typeface="+mn-lt"/>
              </a:rPr>
              <a:pPr lvl="1" algn="ctr">
                <a:spcBef>
                  <a:spcPct val="0"/>
                </a:spcBef>
                <a:spcAft>
                  <a:spcPct val="0"/>
                </a:spcAft>
                <a:defRPr/>
              </a:pPr>
              <a:t>FY30</a:t>
            </a:fld>
            <a:endParaRPr kumimoji="0" lang="en-IN" sz="800" b="0" strike="noStrike" kern="1200" spc="0" normalizeH="0" noProof="0" dirty="0">
              <a:ln>
                <a:noFill/>
              </a:ln>
              <a:solidFill>
                <a:srgbClr val="000000"/>
              </a:solidFill>
              <a:effectLst/>
              <a:uLnTx/>
              <a:uFillTx/>
              <a:sym typeface="+mn-lt"/>
            </a:endParaRPr>
          </a:p>
        </p:txBody>
      </p:sp>
      <p:sp>
        <p:nvSpPr>
          <p:cNvPr id="162" name="StandardTextbox"/>
          <p:cNvSpPr>
            <a:spLocks noGrp="1"/>
          </p:cNvSpPr>
          <p:nvPr>
            <p:custDataLst>
              <p:tags r:id="rId23"/>
            </p:custDataLst>
          </p:nvPr>
        </p:nvSpPr>
        <p:spPr bwMode="auto">
          <a:xfrm>
            <a:off x="6173789" y="6465888"/>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A44F1B2D-1C7A-4DE6-B285-A5F1606ED78F}" type="datetime'''F''''''''''''''''''''''''Y20'''">
              <a:rPr lang="en-IN" altLang="en-US" sz="800" b="0" smtClean="0">
                <a:solidFill>
                  <a:srgbClr val="000000"/>
                </a:solidFill>
                <a:sym typeface="+mn-lt"/>
              </a:rPr>
              <a:pPr lvl="1" algn="ctr">
                <a:spcBef>
                  <a:spcPct val="0"/>
                </a:spcBef>
                <a:spcAft>
                  <a:spcPct val="0"/>
                </a:spcAft>
                <a:defRPr/>
              </a:pPr>
              <a:t>FY20</a:t>
            </a:fld>
            <a:endParaRPr kumimoji="0" lang="en-IN" sz="800" b="0" strike="noStrike" kern="1200" spc="0" normalizeH="0" noProof="0" dirty="0">
              <a:ln>
                <a:noFill/>
              </a:ln>
              <a:solidFill>
                <a:srgbClr val="000000"/>
              </a:solidFill>
              <a:effectLst/>
              <a:uLnTx/>
              <a:uFillTx/>
              <a:sym typeface="+mn-lt"/>
            </a:endParaRPr>
          </a:p>
        </p:txBody>
      </p:sp>
      <p:sp>
        <p:nvSpPr>
          <p:cNvPr id="166" name="StandardTextbox"/>
          <p:cNvSpPr>
            <a:spLocks noGrp="1"/>
          </p:cNvSpPr>
          <p:nvPr>
            <p:custDataLst>
              <p:tags r:id="rId24"/>
            </p:custDataLst>
          </p:nvPr>
        </p:nvSpPr>
        <p:spPr bwMode="auto">
          <a:xfrm>
            <a:off x="7751764" y="6465888"/>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0C476DE0-1F63-440E-ACB4-525EC517EB9D}" type="datetime'F''''''''''''''''Y''''''''2''''''''6'''''''''''''''''''">
              <a:rPr lang="en-IN" altLang="en-US" sz="800" b="0" smtClean="0">
                <a:solidFill>
                  <a:srgbClr val="000000"/>
                </a:solidFill>
                <a:sym typeface="+mn-lt"/>
              </a:rPr>
              <a:pPr lvl="1" algn="ctr">
                <a:spcBef>
                  <a:spcPct val="0"/>
                </a:spcBef>
                <a:spcAft>
                  <a:spcPct val="0"/>
                </a:spcAft>
                <a:defRPr/>
              </a:pPr>
              <a:t>FY26</a:t>
            </a:fld>
            <a:endParaRPr kumimoji="0" lang="en-IN" sz="800" b="0" strike="noStrike" kern="1200" spc="0" normalizeH="0" noProof="0" dirty="0">
              <a:ln>
                <a:noFill/>
              </a:ln>
              <a:solidFill>
                <a:srgbClr val="000000"/>
              </a:solidFill>
              <a:effectLst/>
              <a:uLnTx/>
              <a:uFillTx/>
              <a:sym typeface="+mn-lt"/>
            </a:endParaRPr>
          </a:p>
        </p:txBody>
      </p:sp>
      <p:sp useBgFill="1">
        <p:nvSpPr>
          <p:cNvPr id="115" name="StandardTextbox"/>
          <p:cNvSpPr>
            <a:spLocks noGrp="1"/>
          </p:cNvSpPr>
          <p:nvPr>
            <p:custDataLst>
              <p:tags r:id="rId25"/>
            </p:custDataLst>
          </p:nvPr>
        </p:nvSpPr>
        <p:spPr bwMode="gray">
          <a:xfrm>
            <a:off x="9278938" y="5106988"/>
            <a:ext cx="461963" cy="122238"/>
          </a:xfrm>
          <a:prstGeom prst="rect">
            <a:avLst/>
          </a:prstGeom>
          <a:ln>
            <a:noFill/>
          </a:ln>
        </p:spPr>
        <p:txBody>
          <a:bodyPr vert="horz" wrap="none" lIns="17463" tIns="0" rIns="17463"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2BAB62A-788B-42D3-864D-618F8D0A22AA}" type="datetime'''''''''''''''''''1''''''7''6'''''''''''',''''''23''''''''''2'">
              <a:rPr lang="en-IN" altLang="en-US" sz="800" b="0" smtClean="0">
                <a:sym typeface="+mn-lt"/>
              </a:rPr>
              <a:pPr lvl="1" algn="ctr">
                <a:spcBef>
                  <a:spcPct val="0"/>
                </a:spcBef>
                <a:spcAft>
                  <a:spcPct val="0"/>
                </a:spcAft>
              </a:pPr>
              <a:t>176,232</a:t>
            </a:fld>
            <a:endParaRPr lang="en-IN" sz="800" b="0" noProof="0" dirty="0">
              <a:sym typeface="+mn-lt"/>
            </a:endParaRPr>
          </a:p>
        </p:txBody>
      </p:sp>
      <p:sp>
        <p:nvSpPr>
          <p:cNvPr id="229" name="Rectangle 228"/>
          <p:cNvSpPr/>
          <p:nvPr>
            <p:custDataLst>
              <p:tags r:id="rId26"/>
            </p:custDataLst>
          </p:nvPr>
        </p:nvSpPr>
        <p:spPr bwMode="auto">
          <a:xfrm>
            <a:off x="5356225" y="6653213"/>
            <a:ext cx="142875" cy="106363"/>
          </a:xfrm>
          <a:prstGeom prst="rect">
            <a:avLst/>
          </a:prstGeom>
          <a:solidFill>
            <a:srgbClr val="62B5E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31" name="Rectangle 230"/>
          <p:cNvSpPr/>
          <p:nvPr>
            <p:custDataLst>
              <p:tags r:id="rId27"/>
            </p:custDataLst>
          </p:nvPr>
        </p:nvSpPr>
        <p:spPr bwMode="auto">
          <a:xfrm>
            <a:off x="8070850" y="6653213"/>
            <a:ext cx="142875" cy="106363"/>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30" name="Rectangle 229"/>
          <p:cNvSpPr/>
          <p:nvPr>
            <p:custDataLst>
              <p:tags r:id="rId28"/>
            </p:custDataLst>
          </p:nvPr>
        </p:nvSpPr>
        <p:spPr bwMode="auto">
          <a:xfrm>
            <a:off x="5356225" y="6826250"/>
            <a:ext cx="142875" cy="106363"/>
          </a:xfrm>
          <a:prstGeom prst="rect">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71" name="StandardTextbox"/>
          <p:cNvSpPr>
            <a:spLocks noGrp="1"/>
          </p:cNvSpPr>
          <p:nvPr>
            <p:custDataLst>
              <p:tags r:id="rId29"/>
            </p:custDataLst>
          </p:nvPr>
        </p:nvSpPr>
        <p:spPr bwMode="auto">
          <a:xfrm>
            <a:off x="5549900" y="6648450"/>
            <a:ext cx="241935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8C692D8C-0DC8-4B38-A2FC-71ED84AAD3FD}" type="datetime'''Net Ener''g''y Consum''ption ''(Covid'' 19 ''Base Cas''e)'">
              <a:rPr lang="en-US" altLang="en-US" sz="800" b="0" smtClean="0">
                <a:solidFill>
                  <a:srgbClr val="000000"/>
                </a:solidFill>
                <a:sym typeface="+mn-lt"/>
              </a:rPr>
              <a:pPr lvl="1">
                <a:spcBef>
                  <a:spcPct val="0"/>
                </a:spcBef>
                <a:spcAft>
                  <a:spcPct val="0"/>
                </a:spcAft>
                <a:defRPr/>
              </a:pPr>
              <a:t>Net Energy Consumption (Covid 19 Base Case)</a:t>
            </a:fld>
            <a:endParaRPr kumimoji="0" lang="en-IN" sz="800" b="0" strike="noStrike" kern="1200" spc="0" normalizeH="0" noProof="0" dirty="0">
              <a:ln>
                <a:noFill/>
              </a:ln>
              <a:solidFill>
                <a:srgbClr val="000000"/>
              </a:solidFill>
              <a:effectLst/>
              <a:uLnTx/>
              <a:uFillTx/>
              <a:sym typeface="+mn-lt"/>
            </a:endParaRPr>
          </a:p>
        </p:txBody>
      </p:sp>
      <p:sp>
        <p:nvSpPr>
          <p:cNvPr id="172" name="StandardTextbox"/>
          <p:cNvSpPr>
            <a:spLocks noGrp="1"/>
          </p:cNvSpPr>
          <p:nvPr>
            <p:custDataLst>
              <p:tags r:id="rId30"/>
            </p:custDataLst>
          </p:nvPr>
        </p:nvSpPr>
        <p:spPr bwMode="auto">
          <a:xfrm>
            <a:off x="5549900" y="6821488"/>
            <a:ext cx="224313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66E3B0C2-553C-4B45-9893-E4716EAE4A71}" type="datetime'Net En''ergy ''Cons''''''umption (Pessi''m''''ist''''ic Case)'">
              <a:rPr lang="en-US" altLang="en-US" sz="800" b="0" smtClean="0">
                <a:solidFill>
                  <a:srgbClr val="000000"/>
                </a:solidFill>
                <a:sym typeface="+mn-lt"/>
              </a:rPr>
              <a:pPr lvl="1">
                <a:spcBef>
                  <a:spcPct val="0"/>
                </a:spcBef>
                <a:spcAft>
                  <a:spcPct val="0"/>
                </a:spcAft>
                <a:defRPr/>
              </a:pPr>
              <a:t>Net Energy Consumption (Pessimistic Case)</a:t>
            </a:fld>
            <a:endParaRPr kumimoji="0" lang="en-IN" sz="800" b="0" strike="noStrike" kern="1200" spc="0" normalizeH="0" noProof="0" dirty="0">
              <a:ln>
                <a:noFill/>
              </a:ln>
              <a:solidFill>
                <a:srgbClr val="000000"/>
              </a:solidFill>
              <a:effectLst/>
              <a:uLnTx/>
              <a:uFillTx/>
              <a:sym typeface="+mn-lt"/>
            </a:endParaRPr>
          </a:p>
        </p:txBody>
      </p:sp>
      <p:sp>
        <p:nvSpPr>
          <p:cNvPr id="173" name="StandardTextbox"/>
          <p:cNvSpPr>
            <a:spLocks noGrp="1"/>
          </p:cNvSpPr>
          <p:nvPr>
            <p:custDataLst>
              <p:tags r:id="rId31"/>
            </p:custDataLst>
          </p:nvPr>
        </p:nvSpPr>
        <p:spPr bwMode="auto">
          <a:xfrm>
            <a:off x="8264525" y="6648450"/>
            <a:ext cx="219868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13B13514-9686-4BF4-A8FE-AC5DF05621A5}" type="datetime'Net Energy C''onsump''ti''''on ''(O''pti''mistic'' C''a''se)'">
              <a:rPr lang="en-US" altLang="en-US" sz="800" b="0" smtClean="0">
                <a:solidFill>
                  <a:srgbClr val="000000"/>
                </a:solidFill>
                <a:sym typeface="+mn-lt"/>
              </a:rPr>
              <a:pPr lvl="1">
                <a:spcBef>
                  <a:spcPct val="0"/>
                </a:spcBef>
                <a:spcAft>
                  <a:spcPct val="0"/>
                </a:spcAft>
                <a:defRPr/>
              </a:pPr>
              <a:t>Net Energy Consumption (Optimistic Case)</a:t>
            </a:fld>
            <a:endParaRPr kumimoji="0" lang="en-IN" sz="800" b="0" strike="noStrike" kern="1200" spc="0" normalizeH="0" noProof="0" dirty="0">
              <a:ln>
                <a:noFill/>
              </a:ln>
              <a:solidFill>
                <a:srgbClr val="000000"/>
              </a:solidFill>
              <a:effectLst/>
              <a:uLnTx/>
              <a:uFillTx/>
              <a:sym typeface="+mn-lt"/>
            </a:endParaRPr>
          </a:p>
        </p:txBody>
      </p:sp>
      <p:sp>
        <p:nvSpPr>
          <p:cNvPr id="41" name="Rectangle 40"/>
          <p:cNvSpPr/>
          <p:nvPr/>
        </p:nvSpPr>
        <p:spPr bwMode="gray">
          <a:xfrm>
            <a:off x="377227" y="7260740"/>
            <a:ext cx="5652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PSMP 2016; PSMP 2016 (Revised Study), BPDB, IFC, Bangladesh Bank, Deloitte Analysis</a:t>
            </a:r>
          </a:p>
        </p:txBody>
      </p:sp>
    </p:spTree>
    <p:extLst>
      <p:ext uri="{BB962C8B-B14F-4D97-AF65-F5344CB8AC3E}">
        <p14:creationId xmlns:p14="http://schemas.microsoft.com/office/powerpoint/2010/main" val="3551107300"/>
      </p:ext>
    </p:extLst>
  </p:cSld>
  <p:clrMapOvr>
    <a:masterClrMapping/>
  </p:clrMapOvr>
  <p:transition>
    <p:fade/>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154478292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1" imgW="530" imgH="531" progId="TCLayout.ActiveDocument.1">
                  <p:embed/>
                </p:oleObj>
              </mc:Choice>
              <mc:Fallback>
                <p:oleObj name="think-cell Slide" r:id="rId41" imgW="530" imgH="531" progId="TCLayout.ActiveDocument.1">
                  <p:embed/>
                  <p:pic>
                    <p:nvPicPr>
                      <p:cNvPr id="3" name="Object 2" hidden="1"/>
                      <p:cNvPicPr/>
                      <p:nvPr/>
                    </p:nvPicPr>
                    <p:blipFill>
                      <a:blip r:embed="rId42"/>
                      <a:stretch>
                        <a:fillRect/>
                      </a:stretch>
                    </p:blipFill>
                    <p:spPr>
                      <a:xfrm>
                        <a:off x="1588" y="1588"/>
                        <a:ext cx="1588" cy="1588"/>
                      </a:xfrm>
                      <a:prstGeom prst="rect">
                        <a:avLst/>
                      </a:prstGeom>
                    </p:spPr>
                  </p:pic>
                </p:oleObj>
              </mc:Fallback>
            </mc:AlternateContent>
          </a:graphicData>
        </a:graphic>
      </p:graphicFrame>
      <p:sp>
        <p:nvSpPr>
          <p:cNvPr id="28" name="Rectangle 27"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IN" sz="900" dirty="0">
              <a:solidFill>
                <a:schemeClr val="bg1"/>
              </a:solidFill>
              <a:latin typeface="Verdana" panose="020B0604030504040204" pitchFamily="34" charset="0"/>
              <a:sym typeface="Verdana" panose="020B0604030504040204" pitchFamily="34" charset="0"/>
            </a:endParaRPr>
          </a:p>
        </p:txBody>
      </p:sp>
      <p:sp>
        <p:nvSpPr>
          <p:cNvPr id="4" name="Title 1"/>
          <p:cNvSpPr>
            <a:spLocks noGrp="1"/>
          </p:cNvSpPr>
          <p:nvPr>
            <p:ph type="title"/>
          </p:nvPr>
        </p:nvSpPr>
        <p:spPr>
          <a:xfrm>
            <a:off x="442913" y="654050"/>
            <a:ext cx="9791700" cy="431800"/>
          </a:xfrm>
        </p:spPr>
        <p:txBody>
          <a:bodyPr/>
          <a:lstStyle/>
          <a:p>
            <a:r>
              <a:rPr lang="en-US" dirty="0"/>
              <a:t>Power Market | Demand Projection (Summary)</a:t>
            </a:r>
            <a:endParaRPr lang="en-IN" dirty="0"/>
          </a:p>
        </p:txBody>
      </p:sp>
      <p:sp>
        <p:nvSpPr>
          <p:cNvPr id="5" name="Strapline"/>
          <p:cNvSpPr txBox="1">
            <a:spLocks/>
          </p:cNvSpPr>
          <p:nvPr/>
        </p:nvSpPr>
        <p:spPr>
          <a:xfrm>
            <a:off x="442912" y="1085850"/>
            <a:ext cx="9793288" cy="519113"/>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We have considered</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the COVID 19 Base Case as our primary demand scenario where the peak demand is expected to reach ~25,400 MW by FY26 and 33,400 MW by FY30</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33" name="Table 32"/>
          <p:cNvGraphicFramePr>
            <a:graphicFrameLocks noGrp="1"/>
          </p:cNvGraphicFramePr>
          <p:nvPr>
            <p:custDataLst>
              <p:tags r:id="rId3"/>
            </p:custDataLst>
            <p:extLst>
              <p:ext uri="{D42A27DB-BD31-4B8C-83A1-F6EECF244321}">
                <p14:modId xmlns:p14="http://schemas.microsoft.com/office/powerpoint/2010/main" val="2985709562"/>
              </p:ext>
            </p:extLst>
          </p:nvPr>
        </p:nvGraphicFramePr>
        <p:xfrm>
          <a:off x="442913" y="1968500"/>
          <a:ext cx="9791700" cy="5440363"/>
        </p:xfrm>
        <a:graphic>
          <a:graphicData uri="http://schemas.openxmlformats.org/drawingml/2006/table">
            <a:tbl>
              <a:tblPr firstRow="1" bandRow="1">
                <a:tableStyleId>{5C22544A-7EE6-4342-B048-85BDC9FD1C3A}</a:tableStyleId>
              </a:tblPr>
              <a:tblGrid>
                <a:gridCol w="9791700">
                  <a:extLst>
                    <a:ext uri="{9D8B030D-6E8A-4147-A177-3AD203B41FA5}">
                      <a16:colId xmlns:a16="http://schemas.microsoft.com/office/drawing/2014/main" val="20000"/>
                    </a:ext>
                  </a:extLst>
                </a:gridCol>
              </a:tblGrid>
              <a:tr h="5440363">
                <a:tc>
                  <a:txBody>
                    <a:bodyPr/>
                    <a:lstStyle/>
                    <a:p>
                      <a:pPr marL="0" indent="0" algn="just">
                        <a:spcAft>
                          <a:spcPts val="500"/>
                        </a:spcAft>
                        <a:buFont typeface="Arial" panose="020B0604020202020204" pitchFamily="34" charset="0"/>
                        <a:buNone/>
                      </a:pPr>
                      <a:r>
                        <a:rPr lang="en-US" sz="1000" b="1" baseline="0" dirty="0">
                          <a:solidFill>
                            <a:schemeClr val="tx1"/>
                          </a:solidFill>
                        </a:rPr>
                        <a:t>Peak Demand: </a:t>
                      </a:r>
                      <a:r>
                        <a:rPr lang="en-US" sz="1000" b="0" baseline="0" dirty="0">
                          <a:solidFill>
                            <a:schemeClr val="tx1"/>
                          </a:solidFill>
                        </a:rPr>
                        <a:t>The following graph shows the Peak Demand (MW) projections in each scenario (PSMP Revised – BAU), COVID 19 (Base, pessimistic and Optimistic Scenario):</a:t>
                      </a: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1" baseline="0" dirty="0">
                        <a:solidFill>
                          <a:schemeClr val="tx1"/>
                        </a:solidFill>
                      </a:endParaRPr>
                    </a:p>
                    <a:p>
                      <a:pPr marL="0" indent="0" algn="just">
                        <a:spcAft>
                          <a:spcPts val="500"/>
                        </a:spcAft>
                        <a:buFont typeface="Arial" panose="020B0604020202020204" pitchFamily="34" charset="0"/>
                        <a:buNone/>
                      </a:pPr>
                      <a:endParaRPr lang="en-US" sz="1000" b="1" baseline="0" dirty="0">
                        <a:solidFill>
                          <a:schemeClr val="tx1"/>
                        </a:solidFill>
                      </a:endParaRPr>
                    </a:p>
                    <a:p>
                      <a:pPr marL="0" indent="0" algn="just">
                        <a:spcAft>
                          <a:spcPts val="500"/>
                        </a:spcAft>
                        <a:buFont typeface="Arial" panose="020B0604020202020204" pitchFamily="34" charset="0"/>
                        <a:buNone/>
                      </a:pPr>
                      <a:endParaRPr lang="en-US" sz="1000" b="1" baseline="0" dirty="0">
                        <a:solidFill>
                          <a:schemeClr val="tx1"/>
                        </a:solidFill>
                      </a:endParaRPr>
                    </a:p>
                    <a:p>
                      <a:pPr marL="0" indent="0" algn="just">
                        <a:spcAft>
                          <a:spcPts val="500"/>
                        </a:spcAft>
                        <a:buFont typeface="Arial" panose="020B0604020202020204" pitchFamily="34" charset="0"/>
                        <a:buNone/>
                      </a:pPr>
                      <a:endParaRPr lang="en-US" sz="1000" b="1" baseline="0" dirty="0">
                        <a:solidFill>
                          <a:schemeClr val="tx1"/>
                        </a:solidFill>
                      </a:endParaRPr>
                    </a:p>
                    <a:p>
                      <a:pPr marL="0" indent="0" algn="just">
                        <a:spcAft>
                          <a:spcPts val="500"/>
                        </a:spcAft>
                        <a:buFont typeface="Arial" panose="020B0604020202020204" pitchFamily="34" charset="0"/>
                        <a:buNone/>
                      </a:pPr>
                      <a:endParaRPr lang="en-US" sz="1000" b="1" baseline="0" dirty="0">
                        <a:solidFill>
                          <a:schemeClr val="tx1"/>
                        </a:solidFill>
                      </a:endParaRPr>
                    </a:p>
                    <a:p>
                      <a:pPr marL="0" indent="0" algn="just">
                        <a:spcAft>
                          <a:spcPts val="500"/>
                        </a:spcAft>
                        <a:buFont typeface="Arial" panose="020B0604020202020204" pitchFamily="34" charset="0"/>
                        <a:buNone/>
                      </a:pPr>
                      <a:endParaRPr lang="en-US" sz="1000" b="1" baseline="0" dirty="0">
                        <a:solidFill>
                          <a:schemeClr val="tx1"/>
                        </a:solidFill>
                      </a:endParaRPr>
                    </a:p>
                    <a:p>
                      <a:pPr marL="0" indent="0" algn="just">
                        <a:spcAft>
                          <a:spcPts val="500"/>
                        </a:spcAft>
                        <a:buFont typeface="Arial" panose="020B0604020202020204" pitchFamily="34" charset="0"/>
                        <a:buNone/>
                      </a:pPr>
                      <a:endParaRPr lang="en-US" sz="1000" b="1" baseline="0" dirty="0">
                        <a:solidFill>
                          <a:schemeClr val="tx1"/>
                        </a:solidFill>
                      </a:endParaRPr>
                    </a:p>
                    <a:p>
                      <a:pPr marL="0" indent="0" algn="just">
                        <a:spcAft>
                          <a:spcPts val="500"/>
                        </a:spcAft>
                        <a:buFont typeface="Arial" panose="020B0604020202020204" pitchFamily="34" charset="0"/>
                        <a:buNone/>
                      </a:pPr>
                      <a:endParaRPr lang="en-US" sz="1000" b="1" baseline="0" dirty="0">
                        <a:solidFill>
                          <a:schemeClr val="tx1"/>
                        </a:solidFill>
                      </a:endParaRPr>
                    </a:p>
                    <a:p>
                      <a:pPr marL="0" indent="0" algn="just">
                        <a:spcAft>
                          <a:spcPts val="500"/>
                        </a:spcAft>
                        <a:buFont typeface="Arial" panose="020B0604020202020204" pitchFamily="34" charset="0"/>
                        <a:buNone/>
                      </a:pPr>
                      <a:endParaRPr lang="en-US" sz="1000" b="1" baseline="0" dirty="0">
                        <a:solidFill>
                          <a:schemeClr val="tx1"/>
                        </a:solidFill>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baseline="0" dirty="0">
                          <a:solidFill>
                            <a:schemeClr val="tx1"/>
                          </a:solidFill>
                        </a:rPr>
                        <a:t>Average Demand: </a:t>
                      </a:r>
                      <a:r>
                        <a:rPr lang="en-US" sz="1000" b="0" baseline="0" dirty="0">
                          <a:solidFill>
                            <a:schemeClr val="tx1"/>
                          </a:solidFill>
                        </a:rPr>
                        <a:t>The following graph shows the Average Demand (MW) projections in each scenario (PSMP Revised – BAU), COVID 19 (Base, pessimistic and Optimistic Scenario):</a:t>
                      </a:r>
                    </a:p>
                    <a:p>
                      <a:pPr marL="0" indent="0" algn="just">
                        <a:spcAft>
                          <a:spcPts val="500"/>
                        </a:spcAft>
                        <a:buFont typeface="Arial" panose="020B0604020202020204" pitchFamily="34" charset="0"/>
                        <a:buNone/>
                      </a:pPr>
                      <a:endParaRPr lang="en-US" sz="1000" b="1" baseline="0" dirty="0">
                        <a:solidFill>
                          <a:schemeClr val="tx1"/>
                        </a:solidFill>
                      </a:endParaRPr>
                    </a:p>
                    <a:p>
                      <a:pPr marL="171450" indent="-171450">
                        <a:spcAft>
                          <a:spcPts val="500"/>
                        </a:spcAft>
                        <a:buFont typeface="Arial" panose="020B0604020202020204" pitchFamily="34" charset="0"/>
                        <a:buChar char="•"/>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1"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68" name="Chart 167"/>
          <p:cNvGraphicFramePr/>
          <p:nvPr>
            <p:custDataLst>
              <p:tags r:id="rId4"/>
            </p:custDataLst>
            <p:extLst>
              <p:ext uri="{D42A27DB-BD31-4B8C-83A1-F6EECF244321}">
                <p14:modId xmlns:p14="http://schemas.microsoft.com/office/powerpoint/2010/main" val="22758475"/>
              </p:ext>
            </p:extLst>
          </p:nvPr>
        </p:nvGraphicFramePr>
        <p:xfrm>
          <a:off x="360363" y="2403475"/>
          <a:ext cx="9956800" cy="1804988"/>
        </p:xfrm>
        <a:graphic>
          <a:graphicData uri="http://schemas.openxmlformats.org/drawingml/2006/chart">
            <c:chart xmlns:c="http://schemas.openxmlformats.org/drawingml/2006/chart" xmlns:r="http://schemas.openxmlformats.org/officeDocument/2006/relationships" r:id="rId43"/>
          </a:graphicData>
        </a:graphic>
      </p:graphicFrame>
      <p:sp useBgFill="1">
        <p:nvSpPr>
          <p:cNvPr id="159" name="Freeform 158"/>
          <p:cNvSpPr/>
          <p:nvPr>
            <p:custDataLst>
              <p:tags r:id="rId5"/>
            </p:custDataLst>
          </p:nvPr>
        </p:nvSpPr>
        <p:spPr bwMode="auto">
          <a:xfrm>
            <a:off x="3659188" y="4052888"/>
            <a:ext cx="96838" cy="146051"/>
          </a:xfrm>
          <a:custGeom>
            <a:avLst/>
            <a:gdLst/>
            <a:ahLst/>
            <a:cxnLst/>
            <a:rect l="0" t="0" r="0" b="0"/>
            <a:pathLst>
              <a:path w="96838" h="146051">
                <a:moveTo>
                  <a:pt x="96837" y="0"/>
                </a:moveTo>
                <a:lnTo>
                  <a:pt x="57150" y="146050"/>
                </a:lnTo>
                <a:lnTo>
                  <a:pt x="0" y="146050"/>
                </a:lnTo>
                <a:lnTo>
                  <a:pt x="39687" y="0"/>
                </a:lnTo>
                <a:close/>
              </a:path>
            </a:pathLst>
          </a:custGeom>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useBgFill="1">
        <p:nvSpPr>
          <p:cNvPr id="162" name="Freeform 161"/>
          <p:cNvSpPr/>
          <p:nvPr>
            <p:custDataLst>
              <p:tags r:id="rId6"/>
            </p:custDataLst>
          </p:nvPr>
        </p:nvSpPr>
        <p:spPr bwMode="auto">
          <a:xfrm>
            <a:off x="6923088" y="4052888"/>
            <a:ext cx="96838" cy="146051"/>
          </a:xfrm>
          <a:custGeom>
            <a:avLst/>
            <a:gdLst/>
            <a:ahLst/>
            <a:cxnLst/>
            <a:rect l="0" t="0" r="0" b="0"/>
            <a:pathLst>
              <a:path w="96838" h="146051">
                <a:moveTo>
                  <a:pt x="96837" y="0"/>
                </a:moveTo>
                <a:lnTo>
                  <a:pt x="57150" y="146050"/>
                </a:lnTo>
                <a:lnTo>
                  <a:pt x="0" y="146050"/>
                </a:lnTo>
                <a:lnTo>
                  <a:pt x="39687" y="0"/>
                </a:lnTo>
                <a:close/>
              </a:path>
            </a:pathLst>
          </a:custGeom>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57" name="Freeform 156"/>
          <p:cNvSpPr/>
          <p:nvPr>
            <p:custDataLst>
              <p:tags r:id="rId7"/>
            </p:custDataLst>
          </p:nvPr>
        </p:nvSpPr>
        <p:spPr bwMode="auto">
          <a:xfrm>
            <a:off x="3659188" y="4052888"/>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158" name="Freeform 157"/>
          <p:cNvSpPr/>
          <p:nvPr>
            <p:custDataLst>
              <p:tags r:id="rId8"/>
            </p:custDataLst>
          </p:nvPr>
        </p:nvSpPr>
        <p:spPr bwMode="auto">
          <a:xfrm>
            <a:off x="3716338" y="4052888"/>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160" name="Freeform 159"/>
          <p:cNvSpPr/>
          <p:nvPr>
            <p:custDataLst>
              <p:tags r:id="rId9"/>
            </p:custDataLst>
          </p:nvPr>
        </p:nvSpPr>
        <p:spPr bwMode="auto">
          <a:xfrm>
            <a:off x="6923088" y="4052888"/>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161" name="Freeform 160"/>
          <p:cNvSpPr/>
          <p:nvPr>
            <p:custDataLst>
              <p:tags r:id="rId10"/>
            </p:custDataLst>
          </p:nvPr>
        </p:nvSpPr>
        <p:spPr bwMode="auto">
          <a:xfrm>
            <a:off x="6980238" y="4052888"/>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78" name="StandardTextbox"/>
          <p:cNvSpPr>
            <a:spLocks noGrp="1"/>
          </p:cNvSpPr>
          <p:nvPr>
            <p:custDataLst>
              <p:tags r:id="rId11"/>
            </p:custDataLst>
          </p:nvPr>
        </p:nvSpPr>
        <p:spPr bwMode="auto">
          <a:xfrm>
            <a:off x="8456613" y="4202113"/>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50F96B36-F2F7-47BB-AB0C-9AE28D1B737C}" type="datetime'''''F''''''''Y''''''3''0'''''''''''''''''''''''''''''">
              <a:rPr lang="en-IN" altLang="en-US" sz="900" b="0" smtClean="0">
                <a:solidFill>
                  <a:srgbClr val="000000"/>
                </a:solidFill>
              </a:rPr>
              <a:pPr lvl="1" algn="ctr">
                <a:spcBef>
                  <a:spcPct val="0"/>
                </a:spcBef>
                <a:spcAft>
                  <a:spcPct val="0"/>
                </a:spcAft>
                <a:defRPr/>
              </a:pPr>
              <a:t>FY30</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73" name="StandardTextbox"/>
          <p:cNvSpPr>
            <a:spLocks noGrp="1"/>
          </p:cNvSpPr>
          <p:nvPr>
            <p:custDataLst>
              <p:tags r:id="rId12"/>
            </p:custDataLst>
          </p:nvPr>
        </p:nvSpPr>
        <p:spPr bwMode="auto">
          <a:xfrm>
            <a:off x="1928813" y="4202113"/>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435E7611-3A42-4443-BFF6-5BD4E59BDBF9}" type="datetime'''''F''''''''''''''''Y2''0'''''''''''''''''''''''''''''''''">
              <a:rPr lang="en-IN" altLang="en-US" sz="900" b="0" smtClean="0">
                <a:solidFill>
                  <a:srgbClr val="000000"/>
                </a:solidFill>
              </a:rPr>
              <a:pPr lvl="1" algn="ctr">
                <a:spcBef>
                  <a:spcPct val="0"/>
                </a:spcBef>
                <a:spcAft>
                  <a:spcPct val="0"/>
                </a:spcAft>
                <a:defRPr/>
              </a:pPr>
              <a:t>FY20</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77" name="StandardTextbox"/>
          <p:cNvSpPr>
            <a:spLocks noGrp="1"/>
          </p:cNvSpPr>
          <p:nvPr>
            <p:custDataLst>
              <p:tags r:id="rId13"/>
            </p:custDataLst>
          </p:nvPr>
        </p:nvSpPr>
        <p:spPr bwMode="auto">
          <a:xfrm>
            <a:off x="5192713" y="4202113"/>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3AAF776D-0780-4172-87E6-E245EB12A7BE}" type="datetime'''F''''''''''''''''''''''''''''''Y''''''''''26'''''''''">
              <a:rPr lang="en-IN" altLang="en-US" sz="900" b="0" smtClean="0">
                <a:solidFill>
                  <a:srgbClr val="000000"/>
                </a:solidFill>
              </a:rPr>
              <a:pPr lvl="1" algn="ctr">
                <a:spcBef>
                  <a:spcPct val="0"/>
                </a:spcBef>
                <a:spcAft>
                  <a:spcPct val="0"/>
                </a:spcAft>
                <a:defRPr/>
              </a:pPr>
              <a:t>FY26</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22" name="Rectangle 21"/>
          <p:cNvSpPr/>
          <p:nvPr>
            <p:custDataLst>
              <p:tags r:id="rId14"/>
            </p:custDataLst>
          </p:nvPr>
        </p:nvSpPr>
        <p:spPr bwMode="auto">
          <a:xfrm>
            <a:off x="2725738" y="4505325"/>
            <a:ext cx="160338" cy="120650"/>
          </a:xfrm>
          <a:prstGeom prst="rect">
            <a:avLst/>
          </a:prstGeom>
          <a:solidFill>
            <a:srgbClr val="01216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79" name="Rectangle 78"/>
          <p:cNvSpPr/>
          <p:nvPr>
            <p:custDataLst>
              <p:tags r:id="rId15"/>
            </p:custDataLst>
          </p:nvPr>
        </p:nvSpPr>
        <p:spPr bwMode="auto">
          <a:xfrm>
            <a:off x="3816350" y="4505325"/>
            <a:ext cx="160338" cy="120650"/>
          </a:xfrm>
          <a:prstGeom prst="rect">
            <a:avLst/>
          </a:prstGeom>
          <a:solidFill>
            <a:srgbClr val="62B5E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81" name="Rectangle 80"/>
          <p:cNvSpPr/>
          <p:nvPr>
            <p:custDataLst>
              <p:tags r:id="rId16"/>
            </p:custDataLst>
          </p:nvPr>
        </p:nvSpPr>
        <p:spPr bwMode="auto">
          <a:xfrm>
            <a:off x="7253288" y="4505325"/>
            <a:ext cx="160338" cy="120650"/>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80" name="Rectangle 79"/>
          <p:cNvSpPr/>
          <p:nvPr>
            <p:custDataLst>
              <p:tags r:id="rId17"/>
            </p:custDataLst>
          </p:nvPr>
        </p:nvSpPr>
        <p:spPr bwMode="auto">
          <a:xfrm>
            <a:off x="5357813" y="4505325"/>
            <a:ext cx="160338" cy="120650"/>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84" name="StandardTextbox"/>
          <p:cNvSpPr>
            <a:spLocks noGrp="1"/>
          </p:cNvSpPr>
          <p:nvPr>
            <p:custDataLst>
              <p:tags r:id="rId18"/>
            </p:custDataLst>
          </p:nvPr>
        </p:nvSpPr>
        <p:spPr bwMode="auto">
          <a:xfrm>
            <a:off x="7464425" y="4502150"/>
            <a:ext cx="153193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287A8FD0-F716-44DC-8091-D7479B6EB262}" type="datetime'Cov''id 19'' ''''''- Opti''m''i''s''''''t''ic ''''C''ase'''''">
              <a:rPr lang="en-IN" altLang="en-US" sz="900" b="0" smtClean="0">
                <a:solidFill>
                  <a:srgbClr val="000000"/>
                </a:solidFill>
              </a:rPr>
              <a:pPr lvl="1">
                <a:spcBef>
                  <a:spcPct val="0"/>
                </a:spcBef>
                <a:spcAft>
                  <a:spcPct val="0"/>
                </a:spcAft>
                <a:defRPr/>
              </a:pPr>
              <a:t>Covid 19 - Optimistic Case</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107" name="StandardTextbox"/>
          <p:cNvSpPr>
            <a:spLocks noGrp="1"/>
          </p:cNvSpPr>
          <p:nvPr>
            <p:custDataLst>
              <p:tags r:id="rId19"/>
            </p:custDataLst>
          </p:nvPr>
        </p:nvSpPr>
        <p:spPr bwMode="auto">
          <a:xfrm>
            <a:off x="2936875" y="4502150"/>
            <a:ext cx="77787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64EA5AC3-A4F2-4466-BD4E-76A01E92E20D}" type="datetime'''''''''B''''''''AU ''''Sc''''''e''n''''ari''''''''''''o'">
              <a:rPr lang="en-IN" altLang="en-US" sz="900" b="0" smtClean="0">
                <a:solidFill>
                  <a:srgbClr val="000000"/>
                </a:solidFill>
              </a:rPr>
              <a:pPr lvl="1">
                <a:spcBef>
                  <a:spcPct val="0"/>
                </a:spcBef>
                <a:spcAft>
                  <a:spcPct val="0"/>
                </a:spcAft>
                <a:defRPr/>
              </a:pPr>
              <a:t>BAU Scenario</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82" name="StandardTextbox"/>
          <p:cNvSpPr>
            <a:spLocks noGrp="1"/>
          </p:cNvSpPr>
          <p:nvPr>
            <p:custDataLst>
              <p:tags r:id="rId20"/>
            </p:custDataLst>
          </p:nvPr>
        </p:nvSpPr>
        <p:spPr bwMode="auto">
          <a:xfrm>
            <a:off x="4027488" y="4502150"/>
            <a:ext cx="122872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26E77D62-D999-4392-8C0C-CC09E0ED7BE5}" type="datetime'C''ov''''''''''''id'' ''''''1''9'''' ''-'' Ba''''se'' Cas''e'">
              <a:rPr lang="en-US" altLang="en-US" sz="900" b="0" smtClean="0">
                <a:solidFill>
                  <a:srgbClr val="000000"/>
                </a:solidFill>
              </a:rPr>
              <a:pPr lvl="1">
                <a:spcBef>
                  <a:spcPct val="0"/>
                </a:spcBef>
                <a:spcAft>
                  <a:spcPct val="0"/>
                </a:spcAft>
                <a:defRPr/>
              </a:pPr>
              <a:t>Covid 19 - Base Case</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83" name="StandardTextbox"/>
          <p:cNvSpPr>
            <a:spLocks noGrp="1"/>
          </p:cNvSpPr>
          <p:nvPr>
            <p:custDataLst>
              <p:tags r:id="rId21"/>
            </p:custDataLst>
          </p:nvPr>
        </p:nvSpPr>
        <p:spPr bwMode="auto">
          <a:xfrm>
            <a:off x="5568950" y="4502150"/>
            <a:ext cx="158273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C9605F33-B6C2-484D-AB59-E92B40AC4E64}" type="datetime'Cov''id'' ''19'' ''- ''P''''es''sim''''i''s''ti''''c Ca''se'''">
              <a:rPr lang="en-IN" altLang="en-US" sz="900" b="0" smtClean="0">
                <a:solidFill>
                  <a:srgbClr val="000000"/>
                </a:solidFill>
              </a:rPr>
              <a:pPr lvl="1">
                <a:spcBef>
                  <a:spcPct val="0"/>
                </a:spcBef>
                <a:spcAft>
                  <a:spcPct val="0"/>
                </a:spcAft>
                <a:defRPr/>
              </a:pPr>
              <a:t>Covid 19 - Pessimistic Case</a:t>
            </a:fld>
            <a:endParaRPr kumimoji="0" lang="en-IN" sz="900" b="0" i="0" strike="noStrike" kern="1200" spc="0" normalizeH="0" noProof="0" dirty="0">
              <a:ln>
                <a:noFill/>
              </a:ln>
              <a:solidFill>
                <a:srgbClr val="000000"/>
              </a:solidFill>
              <a:effectLst/>
              <a:uLnTx/>
              <a:uFillTx/>
              <a:latin typeface="Verdana"/>
              <a:sym typeface="+mn-lt"/>
            </a:endParaRPr>
          </a:p>
        </p:txBody>
      </p:sp>
      <p:graphicFrame>
        <p:nvGraphicFramePr>
          <p:cNvPr id="171" name="Chart 170"/>
          <p:cNvGraphicFramePr/>
          <p:nvPr>
            <p:custDataLst>
              <p:tags r:id="rId22"/>
            </p:custDataLst>
            <p:extLst>
              <p:ext uri="{D42A27DB-BD31-4B8C-83A1-F6EECF244321}">
                <p14:modId xmlns:p14="http://schemas.microsoft.com/office/powerpoint/2010/main" val="2231346772"/>
              </p:ext>
            </p:extLst>
          </p:nvPr>
        </p:nvGraphicFramePr>
        <p:xfrm>
          <a:off x="361950" y="5073650"/>
          <a:ext cx="9955213" cy="1709738"/>
        </p:xfrm>
        <a:graphic>
          <a:graphicData uri="http://schemas.openxmlformats.org/drawingml/2006/chart">
            <c:chart xmlns:c="http://schemas.openxmlformats.org/drawingml/2006/chart" xmlns:r="http://schemas.openxmlformats.org/officeDocument/2006/relationships" r:id="rId44"/>
          </a:graphicData>
        </a:graphic>
      </p:graphicFrame>
      <p:sp useBgFill="1">
        <p:nvSpPr>
          <p:cNvPr id="131" name="Freeform 130"/>
          <p:cNvSpPr/>
          <p:nvPr>
            <p:custDataLst>
              <p:tags r:id="rId23"/>
            </p:custDataLst>
          </p:nvPr>
        </p:nvSpPr>
        <p:spPr bwMode="auto">
          <a:xfrm>
            <a:off x="3660775" y="6627813"/>
            <a:ext cx="96839" cy="146051"/>
          </a:xfrm>
          <a:custGeom>
            <a:avLst/>
            <a:gdLst/>
            <a:ahLst/>
            <a:cxnLst/>
            <a:rect l="0" t="0" r="0" b="0"/>
            <a:pathLst>
              <a:path w="96839" h="146051">
                <a:moveTo>
                  <a:pt x="96838" y="0"/>
                </a:moveTo>
                <a:lnTo>
                  <a:pt x="57150" y="146050"/>
                </a:lnTo>
                <a:lnTo>
                  <a:pt x="0" y="146050"/>
                </a:lnTo>
                <a:lnTo>
                  <a:pt x="39688" y="0"/>
                </a:lnTo>
                <a:close/>
              </a:path>
            </a:pathLst>
          </a:custGeom>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useBgFill="1">
        <p:nvSpPr>
          <p:cNvPr id="134" name="Freeform 133"/>
          <p:cNvSpPr/>
          <p:nvPr>
            <p:custDataLst>
              <p:tags r:id="rId24"/>
            </p:custDataLst>
          </p:nvPr>
        </p:nvSpPr>
        <p:spPr bwMode="auto">
          <a:xfrm>
            <a:off x="6923088" y="6627813"/>
            <a:ext cx="96838" cy="146051"/>
          </a:xfrm>
          <a:custGeom>
            <a:avLst/>
            <a:gdLst/>
            <a:ahLst/>
            <a:cxnLst/>
            <a:rect l="0" t="0" r="0" b="0"/>
            <a:pathLst>
              <a:path w="96838" h="146051">
                <a:moveTo>
                  <a:pt x="96837" y="0"/>
                </a:moveTo>
                <a:lnTo>
                  <a:pt x="57150" y="146050"/>
                </a:lnTo>
                <a:lnTo>
                  <a:pt x="0" y="146050"/>
                </a:lnTo>
                <a:lnTo>
                  <a:pt x="39687" y="0"/>
                </a:lnTo>
                <a:close/>
              </a:path>
            </a:pathLst>
          </a:custGeom>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29" name="Freeform 128"/>
          <p:cNvSpPr/>
          <p:nvPr>
            <p:custDataLst>
              <p:tags r:id="rId25"/>
            </p:custDataLst>
          </p:nvPr>
        </p:nvSpPr>
        <p:spPr bwMode="auto">
          <a:xfrm>
            <a:off x="3660775" y="6627813"/>
            <a:ext cx="39689" cy="146051"/>
          </a:xfrm>
          <a:custGeom>
            <a:avLst/>
            <a:gdLst/>
            <a:ahLst/>
            <a:cxnLst/>
            <a:rect l="0" t="0" r="0" b="0"/>
            <a:pathLst>
              <a:path w="39689" h="146051">
                <a:moveTo>
                  <a:pt x="39688"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130" name="Freeform 129"/>
          <p:cNvSpPr/>
          <p:nvPr>
            <p:custDataLst>
              <p:tags r:id="rId26"/>
            </p:custDataLst>
          </p:nvPr>
        </p:nvSpPr>
        <p:spPr bwMode="auto">
          <a:xfrm>
            <a:off x="3717925" y="6627813"/>
            <a:ext cx="39689" cy="146051"/>
          </a:xfrm>
          <a:custGeom>
            <a:avLst/>
            <a:gdLst/>
            <a:ahLst/>
            <a:cxnLst/>
            <a:rect l="0" t="0" r="0" b="0"/>
            <a:pathLst>
              <a:path w="39689" h="146051">
                <a:moveTo>
                  <a:pt x="39688"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132" name="Freeform 131"/>
          <p:cNvSpPr/>
          <p:nvPr>
            <p:custDataLst>
              <p:tags r:id="rId27"/>
            </p:custDataLst>
          </p:nvPr>
        </p:nvSpPr>
        <p:spPr bwMode="auto">
          <a:xfrm>
            <a:off x="6923088" y="6627813"/>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133" name="Freeform 132"/>
          <p:cNvSpPr/>
          <p:nvPr>
            <p:custDataLst>
              <p:tags r:id="rId28"/>
            </p:custDataLst>
          </p:nvPr>
        </p:nvSpPr>
        <p:spPr bwMode="auto">
          <a:xfrm>
            <a:off x="6980238" y="6627813"/>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44" name="StandardTextbox"/>
          <p:cNvSpPr>
            <a:spLocks noGrp="1"/>
          </p:cNvSpPr>
          <p:nvPr>
            <p:custDataLst>
              <p:tags r:id="rId29"/>
            </p:custDataLst>
          </p:nvPr>
        </p:nvSpPr>
        <p:spPr bwMode="auto">
          <a:xfrm>
            <a:off x="5192713" y="6777038"/>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08CB88B4-63BD-48D9-89BE-89825A61DD1C}" type="datetime'''''''''''''''''''''''''''''''''''''''''''''F''''Y''2''6'''">
              <a:rPr lang="en-IN" altLang="en-US" sz="900" b="0" smtClean="0">
                <a:solidFill>
                  <a:srgbClr val="000000"/>
                </a:solidFill>
              </a:rPr>
              <a:pPr lvl="1" algn="ctr">
                <a:spcBef>
                  <a:spcPct val="0"/>
                </a:spcBef>
                <a:spcAft>
                  <a:spcPct val="0"/>
                </a:spcAft>
                <a:defRPr/>
              </a:pPr>
              <a:t>FY26</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40" name="StandardTextbox"/>
          <p:cNvSpPr>
            <a:spLocks noGrp="1"/>
          </p:cNvSpPr>
          <p:nvPr>
            <p:custDataLst>
              <p:tags r:id="rId30"/>
            </p:custDataLst>
          </p:nvPr>
        </p:nvSpPr>
        <p:spPr bwMode="auto">
          <a:xfrm>
            <a:off x="1930400" y="6777038"/>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0909E1C3-7711-49DA-A583-8F349B1D5E61}" type="datetime'''''''''''''''''''''''''''''''F''''''Y2''''''''''''''''''0'">
              <a:rPr lang="en-IN" altLang="en-US" sz="900" b="0" smtClean="0">
                <a:solidFill>
                  <a:srgbClr val="000000"/>
                </a:solidFill>
              </a:rPr>
              <a:pPr lvl="1" algn="ctr">
                <a:spcBef>
                  <a:spcPct val="0"/>
                </a:spcBef>
                <a:spcAft>
                  <a:spcPct val="0"/>
                </a:spcAft>
                <a:defRPr/>
              </a:pPr>
              <a:t>FY20</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45" name="StandardTextbox"/>
          <p:cNvSpPr>
            <a:spLocks noGrp="1"/>
          </p:cNvSpPr>
          <p:nvPr>
            <p:custDataLst>
              <p:tags r:id="rId31"/>
            </p:custDataLst>
          </p:nvPr>
        </p:nvSpPr>
        <p:spPr bwMode="auto">
          <a:xfrm>
            <a:off x="8456613" y="6777038"/>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28F46F49-3136-4B0F-9870-F1D0A1D96DB0}" type="datetime'''''''''''''F''''''''Y''''''''30'''''''''''''''''''">
              <a:rPr lang="en-IN" altLang="en-US" sz="900" b="0" smtClean="0">
                <a:solidFill>
                  <a:srgbClr val="000000"/>
                </a:solidFill>
              </a:rPr>
              <a:pPr lvl="1" algn="ctr">
                <a:spcBef>
                  <a:spcPct val="0"/>
                </a:spcBef>
                <a:spcAft>
                  <a:spcPct val="0"/>
                </a:spcAft>
                <a:defRPr/>
              </a:pPr>
              <a:t>FY30</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12" name="Rectangle 11"/>
          <p:cNvSpPr/>
          <p:nvPr>
            <p:custDataLst>
              <p:tags r:id="rId32"/>
            </p:custDataLst>
          </p:nvPr>
        </p:nvSpPr>
        <p:spPr bwMode="auto">
          <a:xfrm>
            <a:off x="2725738" y="6932613"/>
            <a:ext cx="160338" cy="120650"/>
          </a:xfrm>
          <a:prstGeom prst="rect">
            <a:avLst/>
          </a:prstGeom>
          <a:solidFill>
            <a:srgbClr val="01216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46" name="Rectangle 45"/>
          <p:cNvSpPr/>
          <p:nvPr>
            <p:custDataLst>
              <p:tags r:id="rId33"/>
            </p:custDataLst>
          </p:nvPr>
        </p:nvSpPr>
        <p:spPr bwMode="auto">
          <a:xfrm>
            <a:off x="3816350" y="6932613"/>
            <a:ext cx="160338" cy="120650"/>
          </a:xfrm>
          <a:prstGeom prst="rect">
            <a:avLst/>
          </a:prstGeom>
          <a:solidFill>
            <a:srgbClr val="62B5E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47" name="Rectangle 46"/>
          <p:cNvSpPr/>
          <p:nvPr>
            <p:custDataLst>
              <p:tags r:id="rId34"/>
            </p:custDataLst>
          </p:nvPr>
        </p:nvSpPr>
        <p:spPr bwMode="auto">
          <a:xfrm>
            <a:off x="5357813" y="6932613"/>
            <a:ext cx="160338" cy="120650"/>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48" name="Rectangle 47"/>
          <p:cNvSpPr/>
          <p:nvPr>
            <p:custDataLst>
              <p:tags r:id="rId35"/>
            </p:custDataLst>
          </p:nvPr>
        </p:nvSpPr>
        <p:spPr bwMode="auto">
          <a:xfrm>
            <a:off x="7253288" y="6932613"/>
            <a:ext cx="160338" cy="120650"/>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2" name="StandardTextbox"/>
          <p:cNvSpPr>
            <a:spLocks noGrp="1"/>
          </p:cNvSpPr>
          <p:nvPr>
            <p:custDataLst>
              <p:tags r:id="rId36"/>
            </p:custDataLst>
          </p:nvPr>
        </p:nvSpPr>
        <p:spPr bwMode="auto">
          <a:xfrm>
            <a:off x="2936875" y="6929438"/>
            <a:ext cx="77787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549C73DD-697E-4235-BD96-E6A07E4163B0}" type="datetime'''''B''''''AU ''''''''''''Sc''''e''''n''''''''''''a''r''''io'">
              <a:rPr lang="en-IN" altLang="en-US" sz="900" b="0" smtClean="0">
                <a:solidFill>
                  <a:srgbClr val="000000"/>
                </a:solidFill>
              </a:rPr>
              <a:pPr lvl="1">
                <a:spcBef>
                  <a:spcPct val="0"/>
                </a:spcBef>
                <a:spcAft>
                  <a:spcPct val="0"/>
                </a:spcAft>
                <a:defRPr/>
              </a:pPr>
              <a:t>BAU Scenario</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50" name="StandardTextbox"/>
          <p:cNvSpPr>
            <a:spLocks noGrp="1"/>
          </p:cNvSpPr>
          <p:nvPr>
            <p:custDataLst>
              <p:tags r:id="rId37"/>
            </p:custDataLst>
          </p:nvPr>
        </p:nvSpPr>
        <p:spPr bwMode="auto">
          <a:xfrm>
            <a:off x="5568950" y="6929438"/>
            <a:ext cx="158273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55BEF5B2-3E88-46EE-8D81-8FC2B1B8E56A}" type="datetime'Co''vid'''' 19'' - ''''''''Pes''si''''mis''t''ic C''a''s''''e'">
              <a:rPr lang="en-IN" altLang="en-US" sz="900" b="0" smtClean="0">
                <a:solidFill>
                  <a:srgbClr val="000000"/>
                </a:solidFill>
              </a:rPr>
              <a:pPr lvl="1">
                <a:spcBef>
                  <a:spcPct val="0"/>
                </a:spcBef>
                <a:spcAft>
                  <a:spcPct val="0"/>
                </a:spcAft>
                <a:defRPr/>
              </a:pPr>
              <a:t>Covid 19 - Pessimistic Case</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51" name="StandardTextbox"/>
          <p:cNvSpPr>
            <a:spLocks noGrp="1"/>
          </p:cNvSpPr>
          <p:nvPr>
            <p:custDataLst>
              <p:tags r:id="rId38"/>
            </p:custDataLst>
          </p:nvPr>
        </p:nvSpPr>
        <p:spPr bwMode="auto">
          <a:xfrm>
            <a:off x="7464425" y="6929438"/>
            <a:ext cx="153193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1EB15468-83F2-4048-989B-D22414C138A3}" type="datetime'C''o''''''''''''vi''d ''19 - Optim''''''isti''c'''''' Cas''e'">
              <a:rPr lang="en-IN" altLang="en-US" sz="900" b="0" smtClean="0">
                <a:solidFill>
                  <a:srgbClr val="000000"/>
                </a:solidFill>
              </a:rPr>
              <a:pPr lvl="1">
                <a:spcBef>
                  <a:spcPct val="0"/>
                </a:spcBef>
                <a:spcAft>
                  <a:spcPct val="0"/>
                </a:spcAft>
                <a:defRPr/>
              </a:pPr>
              <a:t>Covid 19 - Optimistic Case</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49" name="StandardTextbox"/>
          <p:cNvSpPr>
            <a:spLocks noGrp="1"/>
          </p:cNvSpPr>
          <p:nvPr>
            <p:custDataLst>
              <p:tags r:id="rId39"/>
            </p:custDataLst>
          </p:nvPr>
        </p:nvSpPr>
        <p:spPr bwMode="auto">
          <a:xfrm>
            <a:off x="4027488" y="6929438"/>
            <a:ext cx="122872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1994F01E-1823-4105-B138-03E8CAF7B7A6}" type="datetime'''Covi''d'' ''''19'''' ''''-'''''' B''as''''e ''C''a''s''e'''">
              <a:rPr lang="en-US" altLang="en-US" sz="900" b="0" smtClean="0">
                <a:solidFill>
                  <a:srgbClr val="000000"/>
                </a:solidFill>
              </a:rPr>
              <a:pPr lvl="1">
                <a:spcBef>
                  <a:spcPct val="0"/>
                </a:spcBef>
                <a:spcAft>
                  <a:spcPct val="0"/>
                </a:spcAft>
                <a:defRPr/>
              </a:pPr>
              <a:t>Covid 19 - Base Case</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119" name="Rectangle 118"/>
          <p:cNvSpPr/>
          <p:nvPr/>
        </p:nvSpPr>
        <p:spPr bwMode="gray">
          <a:xfrm>
            <a:off x="377227" y="7260740"/>
            <a:ext cx="5652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Deloitte Analysis</a:t>
            </a:r>
          </a:p>
        </p:txBody>
      </p:sp>
      <p:sp>
        <p:nvSpPr>
          <p:cNvPr id="172" name="Rectangle 171"/>
          <p:cNvSpPr/>
          <p:nvPr/>
        </p:nvSpPr>
        <p:spPr bwMode="gray">
          <a:xfrm>
            <a:off x="1303020" y="3051810"/>
            <a:ext cx="919481" cy="1132205"/>
          </a:xfrm>
          <a:prstGeom prst="rect">
            <a:avLst/>
          </a:prstGeom>
          <a:noFill/>
          <a:ln w="19050" algn="ctr">
            <a:solidFill>
              <a:schemeClr val="tx1"/>
            </a:solidFill>
            <a:prstDash val="dash"/>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73" name="Rectangle 172"/>
          <p:cNvSpPr/>
          <p:nvPr/>
        </p:nvSpPr>
        <p:spPr bwMode="gray">
          <a:xfrm>
            <a:off x="4518660" y="2667000"/>
            <a:ext cx="919481" cy="1517015"/>
          </a:xfrm>
          <a:prstGeom prst="rect">
            <a:avLst/>
          </a:prstGeom>
          <a:noFill/>
          <a:ln w="19050" algn="ctr">
            <a:solidFill>
              <a:schemeClr val="tx1"/>
            </a:solidFill>
            <a:prstDash val="dash"/>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74" name="Rectangle 173"/>
          <p:cNvSpPr/>
          <p:nvPr/>
        </p:nvSpPr>
        <p:spPr bwMode="gray">
          <a:xfrm>
            <a:off x="7804943" y="2379028"/>
            <a:ext cx="919481" cy="1804987"/>
          </a:xfrm>
          <a:prstGeom prst="rect">
            <a:avLst/>
          </a:prstGeom>
          <a:noFill/>
          <a:ln w="19050" algn="ctr">
            <a:solidFill>
              <a:schemeClr val="tx1"/>
            </a:solidFill>
            <a:prstDash val="dash"/>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75" name="Rectangle 174"/>
          <p:cNvSpPr/>
          <p:nvPr/>
        </p:nvSpPr>
        <p:spPr bwMode="gray">
          <a:xfrm>
            <a:off x="1289923" y="5645150"/>
            <a:ext cx="919481" cy="1132205"/>
          </a:xfrm>
          <a:prstGeom prst="rect">
            <a:avLst/>
          </a:prstGeom>
          <a:noFill/>
          <a:ln w="19050" algn="ctr">
            <a:solidFill>
              <a:schemeClr val="tx1"/>
            </a:solidFill>
            <a:prstDash val="dash"/>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76" name="Rectangle 175"/>
          <p:cNvSpPr/>
          <p:nvPr/>
        </p:nvSpPr>
        <p:spPr bwMode="gray">
          <a:xfrm>
            <a:off x="4505563" y="5260340"/>
            <a:ext cx="919481" cy="1517015"/>
          </a:xfrm>
          <a:prstGeom prst="rect">
            <a:avLst/>
          </a:prstGeom>
          <a:noFill/>
          <a:ln w="19050" algn="ctr">
            <a:solidFill>
              <a:schemeClr val="tx1"/>
            </a:solidFill>
            <a:prstDash val="dash"/>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77" name="Rectangle 176"/>
          <p:cNvSpPr/>
          <p:nvPr/>
        </p:nvSpPr>
        <p:spPr bwMode="gray">
          <a:xfrm>
            <a:off x="7791846" y="4972368"/>
            <a:ext cx="919481" cy="1804987"/>
          </a:xfrm>
          <a:prstGeom prst="rect">
            <a:avLst/>
          </a:prstGeom>
          <a:noFill/>
          <a:ln w="19050" algn="ctr">
            <a:solidFill>
              <a:schemeClr val="tx1"/>
            </a:solidFill>
            <a:prstDash val="dash"/>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79" name="Rectangle 178"/>
          <p:cNvSpPr/>
          <p:nvPr/>
        </p:nvSpPr>
        <p:spPr bwMode="gray">
          <a:xfrm>
            <a:off x="3934634" y="7136155"/>
            <a:ext cx="479939" cy="127978"/>
          </a:xfrm>
          <a:prstGeom prst="rect">
            <a:avLst/>
          </a:prstGeom>
          <a:noFill/>
          <a:ln w="19050" algn="ctr">
            <a:solidFill>
              <a:schemeClr val="tx1"/>
            </a:solidFill>
            <a:prstDash val="dash"/>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80" name="Rectangle 179"/>
          <p:cNvSpPr/>
          <p:nvPr/>
        </p:nvSpPr>
        <p:spPr bwMode="gray">
          <a:xfrm>
            <a:off x="4546913" y="7137401"/>
            <a:ext cx="3096000" cy="127978"/>
          </a:xfrm>
          <a:prstGeom prst="rect">
            <a:avLst/>
          </a:prstGeom>
          <a:noFill/>
          <a:ln w="19050" algn="ctr">
            <a:noFill/>
            <a:prstDash val="dash"/>
            <a:miter lim="800000"/>
            <a:headEnd/>
            <a:tailEnd/>
          </a:ln>
        </p:spPr>
        <p:txBody>
          <a:bodyPr wrap="square" lIns="88900" tIns="88900" rIns="88900" bIns="88900" rtlCol="0" anchor="ctr"/>
          <a:lstStyle/>
          <a:p>
            <a:pPr algn="ctr">
              <a:lnSpc>
                <a:spcPct val="106000"/>
              </a:lnSpc>
              <a:buFont typeface="Wingdings 2" pitchFamily="18" charset="2"/>
              <a:buNone/>
            </a:pPr>
            <a:r>
              <a:rPr lang="en-US" sz="800" b="1" dirty="0"/>
              <a:t>Selected Base Case for Demand – Supply Analysis</a:t>
            </a:r>
            <a:endParaRPr lang="en-IN" sz="800" b="1" dirty="0"/>
          </a:p>
        </p:txBody>
      </p:sp>
    </p:spTree>
    <p:extLst>
      <p:ext uri="{BB962C8B-B14F-4D97-AF65-F5344CB8AC3E}">
        <p14:creationId xmlns:p14="http://schemas.microsoft.com/office/powerpoint/2010/main" val="3053959082"/>
      </p:ext>
    </p:extLst>
  </p:cSld>
  <p:clrMapOvr>
    <a:masterClrMapping/>
  </p:clrMapOvr>
  <p:transition>
    <p:fade/>
  </p:transition>
</p:sld>
</file>

<file path=ppt/slides/slide51.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192911173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US" sz="3898" b="1" u="none" strike="noStrike" kern="1200" cap="none" spc="0" normalizeH="0" noProof="0" dirty="0">
              <a:ln>
                <a:noFill/>
              </a:ln>
              <a:solidFill>
                <a:prstClr val="white"/>
              </a:solidFill>
              <a:effectLst/>
              <a:uLnTx/>
              <a:uFillTx/>
              <a:latin typeface="Verdana" panose="020B0604030504040204" pitchFamily="34" charset="0"/>
              <a:ea typeface="Open Sans" panose="020B0606030504020204" pitchFamily="34" charset="0"/>
              <a:cs typeface="Open Sans" panose="020B0606030504020204" pitchFamily="34" charset="0"/>
              <a:sym typeface="Verdana" panose="020B0604030504040204" pitchFamily="34" charset="0"/>
            </a:endParaRPr>
          </a:p>
        </p:txBody>
      </p:sp>
      <p:sp>
        <p:nvSpPr>
          <p:cNvPr id="2" name="Title 1"/>
          <p:cNvSpPr>
            <a:spLocks noGrp="1"/>
          </p:cNvSpPr>
          <p:nvPr>
            <p:ph type="title"/>
          </p:nvPr>
        </p:nvSpPr>
        <p:spPr>
          <a:xfrm>
            <a:off x="439925" y="1880184"/>
            <a:ext cx="9243963" cy="2440355"/>
          </a:xfrm>
        </p:spPr>
        <p:txBody>
          <a:bodyPr/>
          <a:lstStyle/>
          <a:p>
            <a:r>
              <a:rPr lang="en-US" dirty="0"/>
              <a:t>Assessment of Supply Capacity Requirement to meet Power Demand in COVID 19 Base Case</a:t>
            </a:r>
            <a:endParaRPr lang="en-IN" dirty="0"/>
          </a:p>
        </p:txBody>
      </p:sp>
    </p:spTree>
    <p:extLst>
      <p:ext uri="{BB962C8B-B14F-4D97-AF65-F5344CB8AC3E}">
        <p14:creationId xmlns:p14="http://schemas.microsoft.com/office/powerpoint/2010/main" val="686627917"/>
      </p:ext>
    </p:extLst>
  </p:cSld>
  <p:clrMapOvr>
    <a:masterClrMapping/>
  </p:clrMapOvr>
  <p:transition>
    <p:fade/>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170154978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3" imgW="530" imgH="531" progId="TCLayout.ActiveDocument.1">
                  <p:embed/>
                </p:oleObj>
              </mc:Choice>
              <mc:Fallback>
                <p:oleObj name="think-cell Slide" r:id="rId53" imgW="530" imgH="531" progId="TCLayout.ActiveDocument.1">
                  <p:embed/>
                  <p:pic>
                    <p:nvPicPr>
                      <p:cNvPr id="3" name="Object 2" hidden="1"/>
                      <p:cNvPicPr/>
                      <p:nvPr/>
                    </p:nvPicPr>
                    <p:blipFill>
                      <a:blip r:embed="rId54"/>
                      <a:stretch>
                        <a:fillRect/>
                      </a:stretch>
                    </p:blipFill>
                    <p:spPr>
                      <a:xfrm>
                        <a:off x="1588" y="1588"/>
                        <a:ext cx="1588" cy="1588"/>
                      </a:xfrm>
                      <a:prstGeom prst="rect">
                        <a:avLst/>
                      </a:prstGeom>
                    </p:spPr>
                  </p:pic>
                </p:oleObj>
              </mc:Fallback>
            </mc:AlternateContent>
          </a:graphicData>
        </a:graphic>
      </p:graphicFrame>
      <p:sp>
        <p:nvSpPr>
          <p:cNvPr id="6" name="Rectangle 5"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pPr>
            <a:endParaRPr lang="en-IN" sz="800" dirty="0">
              <a:solidFill>
                <a:schemeClr val="bg1"/>
              </a:solidFill>
              <a:sym typeface="+mn-lt"/>
            </a:endParaRPr>
          </a:p>
        </p:txBody>
      </p:sp>
      <p:graphicFrame>
        <p:nvGraphicFramePr>
          <p:cNvPr id="326" name="Table 325"/>
          <p:cNvGraphicFramePr>
            <a:graphicFrameLocks noGrp="1"/>
          </p:cNvGraphicFramePr>
          <p:nvPr>
            <p:custDataLst>
              <p:tags r:id="rId3"/>
            </p:custDataLst>
            <p:extLst>
              <p:ext uri="{D42A27DB-BD31-4B8C-83A1-F6EECF244321}">
                <p14:modId xmlns:p14="http://schemas.microsoft.com/office/powerpoint/2010/main" val="4173103703"/>
              </p:ext>
            </p:extLst>
          </p:nvPr>
        </p:nvGraphicFramePr>
        <p:xfrm>
          <a:off x="442913" y="1968500"/>
          <a:ext cx="9791700" cy="5440363"/>
        </p:xfrm>
        <a:graphic>
          <a:graphicData uri="http://schemas.openxmlformats.org/drawingml/2006/table">
            <a:tbl>
              <a:tblPr firstRow="1" bandRow="1">
                <a:tableStyleId>{5C22544A-7EE6-4342-B048-85BDC9FD1C3A}</a:tableStyleId>
              </a:tblPr>
              <a:tblGrid>
                <a:gridCol w="9791700">
                  <a:extLst>
                    <a:ext uri="{9D8B030D-6E8A-4147-A177-3AD203B41FA5}">
                      <a16:colId xmlns:a16="http://schemas.microsoft.com/office/drawing/2014/main" val="20000"/>
                    </a:ext>
                  </a:extLst>
                </a:gridCol>
              </a:tblGrid>
              <a:tr h="5440363">
                <a:tc>
                  <a:txBody>
                    <a:bodyPr/>
                    <a:lstStyle/>
                    <a:p>
                      <a:pPr marL="0" indent="0" algn="ctr">
                        <a:spcAft>
                          <a:spcPts val="500"/>
                        </a:spcAft>
                        <a:buFont typeface="Arial" panose="020B0604020202020204" pitchFamily="34" charset="0"/>
                        <a:buNone/>
                      </a:pPr>
                      <a:r>
                        <a:rPr lang="en-US" sz="1000" b="1" baseline="0" dirty="0">
                          <a:solidFill>
                            <a:schemeClr val="tx1"/>
                          </a:solidFill>
                        </a:rPr>
                        <a:t>Total Additional Supply Capacity Requirement to meet Average Demand (FY20-FY26)</a:t>
                      </a: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171450" indent="-171450" algn="just">
                        <a:spcAft>
                          <a:spcPts val="500"/>
                        </a:spcAft>
                        <a:buFont typeface="Arial" panose="020B0604020202020204" pitchFamily="34" charset="0"/>
                        <a:buChar char="•"/>
                      </a:pPr>
                      <a:endParaRPr lang="en-US" sz="1000" b="0" baseline="0" dirty="0">
                        <a:solidFill>
                          <a:schemeClr val="tx1"/>
                        </a:solidFill>
                      </a:endParaRPr>
                    </a:p>
                    <a:p>
                      <a:pPr marL="171450" indent="-171450" algn="just">
                        <a:spcAft>
                          <a:spcPts val="500"/>
                        </a:spcAft>
                        <a:buFont typeface="Arial" panose="020B0604020202020204" pitchFamily="34" charset="0"/>
                        <a:buChar char="•"/>
                      </a:pPr>
                      <a:r>
                        <a:rPr lang="en-US" sz="1000" b="0" baseline="0" dirty="0">
                          <a:solidFill>
                            <a:schemeClr val="tx1"/>
                          </a:solidFill>
                        </a:rPr>
                        <a:t>We have considered an average PLF of 80% of plants to meet 15,673 MW average demand requirement which may require an overall supply capacity of ~19,600 MW by FY26</a:t>
                      </a:r>
                    </a:p>
                    <a:p>
                      <a:pPr marL="171450" indent="-171450" algn="just">
                        <a:spcAft>
                          <a:spcPts val="500"/>
                        </a:spcAft>
                        <a:buFont typeface="Arial" panose="020B0604020202020204" pitchFamily="34" charset="0"/>
                        <a:buChar char="•"/>
                      </a:pPr>
                      <a:r>
                        <a:rPr lang="en-US" sz="1000" b="0" baseline="0" dirty="0">
                          <a:solidFill>
                            <a:schemeClr val="tx1"/>
                          </a:solidFill>
                        </a:rPr>
                        <a:t>Currently, the Bangladesh installed capacity base is ~18,960 MW of which ~5,500 MW is planned / estimated to be retired by FY26.</a:t>
                      </a:r>
                    </a:p>
                    <a:p>
                      <a:pPr marL="171450" indent="-171450" algn="just">
                        <a:spcAft>
                          <a:spcPts val="500"/>
                        </a:spcAft>
                        <a:buFont typeface="Arial" panose="020B0604020202020204" pitchFamily="34" charset="0"/>
                        <a:buChar char="•"/>
                      </a:pPr>
                      <a:r>
                        <a:rPr lang="en-US" sz="1000" b="0" baseline="0" dirty="0">
                          <a:solidFill>
                            <a:schemeClr val="tx1"/>
                          </a:solidFill>
                        </a:rPr>
                        <a:t>Further, given the high economic cost of running liquid fuel /  Rental / Quick Rental plants the Govt. has planned alternate cheaper fuel based generation from LNG, imported coal and nuclear and thus the expensive liquid / rental based plants may witness lower dispatch rates as these alternate fuel based plants are commissioned in Bangladesh </a:t>
                      </a:r>
                    </a:p>
                    <a:p>
                      <a:pPr marL="171450" indent="-171450" algn="just">
                        <a:spcAft>
                          <a:spcPts val="500"/>
                        </a:spcAft>
                        <a:buFont typeface="Arial" panose="020B0604020202020204" pitchFamily="34" charset="0"/>
                        <a:buChar char="•"/>
                      </a:pPr>
                      <a:r>
                        <a:rPr lang="en-US" sz="1000" b="0" baseline="0" dirty="0">
                          <a:solidFill>
                            <a:schemeClr val="tx1"/>
                          </a:solidFill>
                        </a:rPr>
                        <a:t>Thus ~8,700 MW of dispatch able capacity may be present in Bangladesh by FY26 requiring an additional ~11,000 MW of newer capacity to meet the average demand</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4" name="Title 1"/>
          <p:cNvSpPr>
            <a:spLocks noGrp="1"/>
          </p:cNvSpPr>
          <p:nvPr>
            <p:ph type="title"/>
          </p:nvPr>
        </p:nvSpPr>
        <p:spPr>
          <a:xfrm>
            <a:off x="442913" y="654050"/>
            <a:ext cx="9791700" cy="431800"/>
          </a:xfrm>
        </p:spPr>
        <p:txBody>
          <a:bodyPr/>
          <a:lstStyle/>
          <a:p>
            <a:r>
              <a:rPr lang="en-US" dirty="0"/>
              <a:t>Power Market | Supply Requirement to Meet Average Demand (FY26)</a:t>
            </a:r>
            <a:endParaRPr lang="en-IN" dirty="0"/>
          </a:p>
        </p:txBody>
      </p:sp>
      <p:sp>
        <p:nvSpPr>
          <p:cNvPr id="5" name="Strapline"/>
          <p:cNvSpPr txBox="1">
            <a:spLocks/>
          </p:cNvSpPr>
          <p:nvPr/>
        </p:nvSpPr>
        <p:spPr>
          <a:xfrm>
            <a:off x="442912" y="1085850"/>
            <a:ext cx="9793288" cy="519113"/>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0">
              <a:defRPr/>
            </a:pPr>
            <a:r>
              <a:rPr lang="en-US" sz="1400" dirty="0">
                <a:solidFill>
                  <a:prstClr val="black">
                    <a:lumMod val="50000"/>
                    <a:lumOff val="50000"/>
                  </a:prstClr>
                </a:solidFill>
                <a:latin typeface="Verdana" panose="020B0604030504040204" pitchFamily="34" charset="0"/>
              </a:rPr>
              <a:t>With planned retirements and projected replacement of liquid fuel &amp; low efficiency plants from economic perspective, Bangladesh may need an additional capacity of ~10,870 MW by FY26</a:t>
            </a:r>
            <a:endParaRPr lang="en-GB" sz="1400" dirty="0">
              <a:solidFill>
                <a:prstClr val="black">
                  <a:lumMod val="50000"/>
                  <a:lumOff val="50000"/>
                </a:prstClr>
              </a:solidFill>
              <a:latin typeface="Verdana" panose="020B0604030504040204" pitchFamily="34" charset="0"/>
            </a:endParaRPr>
          </a:p>
        </p:txBody>
      </p:sp>
      <p:graphicFrame>
        <p:nvGraphicFramePr>
          <p:cNvPr id="63" name="Chart 62"/>
          <p:cNvGraphicFramePr/>
          <p:nvPr>
            <p:custDataLst>
              <p:tags r:id="rId4"/>
            </p:custDataLst>
            <p:extLst>
              <p:ext uri="{D42A27DB-BD31-4B8C-83A1-F6EECF244321}">
                <p14:modId xmlns:p14="http://schemas.microsoft.com/office/powerpoint/2010/main" val="3560703220"/>
              </p:ext>
            </p:extLst>
          </p:nvPr>
        </p:nvGraphicFramePr>
        <p:xfrm>
          <a:off x="339725" y="2670175"/>
          <a:ext cx="2547938" cy="1824038"/>
        </p:xfrm>
        <a:graphic>
          <a:graphicData uri="http://schemas.openxmlformats.org/drawingml/2006/chart">
            <c:chart xmlns:c="http://schemas.openxmlformats.org/drawingml/2006/chart" xmlns:r="http://schemas.openxmlformats.org/officeDocument/2006/relationships" r:id="rId55"/>
          </a:graphicData>
        </a:graphic>
      </p:graphicFrame>
      <p:sp useBgFill="1">
        <p:nvSpPr>
          <p:cNvPr id="8" name="Freeform 7"/>
          <p:cNvSpPr/>
          <p:nvPr>
            <p:custDataLst>
              <p:tags r:id="rId5"/>
            </p:custDataLst>
          </p:nvPr>
        </p:nvSpPr>
        <p:spPr bwMode="auto">
          <a:xfrm>
            <a:off x="1174750" y="4338638"/>
            <a:ext cx="96839" cy="146051"/>
          </a:xfrm>
          <a:custGeom>
            <a:avLst/>
            <a:gdLst/>
            <a:ahLst/>
            <a:cxnLst/>
            <a:rect l="0" t="0" r="0" b="0"/>
            <a:pathLst>
              <a:path w="96839" h="146051">
                <a:moveTo>
                  <a:pt x="96838" y="0"/>
                </a:moveTo>
                <a:lnTo>
                  <a:pt x="57150" y="146050"/>
                </a:lnTo>
                <a:lnTo>
                  <a:pt x="0" y="146050"/>
                </a:lnTo>
                <a:lnTo>
                  <a:pt x="39688" y="0"/>
                </a:lnTo>
                <a:close/>
              </a:path>
            </a:pathLst>
          </a:custGeom>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 name="Freeform 1"/>
          <p:cNvSpPr/>
          <p:nvPr>
            <p:custDataLst>
              <p:tags r:id="rId6"/>
            </p:custDataLst>
          </p:nvPr>
        </p:nvSpPr>
        <p:spPr bwMode="auto">
          <a:xfrm>
            <a:off x="1174750" y="4338638"/>
            <a:ext cx="39689" cy="146051"/>
          </a:xfrm>
          <a:custGeom>
            <a:avLst/>
            <a:gdLst/>
            <a:ahLst/>
            <a:cxnLst/>
            <a:rect l="0" t="0" r="0" b="0"/>
            <a:pathLst>
              <a:path w="39689" h="146051">
                <a:moveTo>
                  <a:pt x="39688"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a:p>
        </p:txBody>
      </p:sp>
      <p:sp>
        <p:nvSpPr>
          <p:cNvPr id="7" name="Freeform 6"/>
          <p:cNvSpPr/>
          <p:nvPr>
            <p:custDataLst>
              <p:tags r:id="rId7"/>
            </p:custDataLst>
          </p:nvPr>
        </p:nvSpPr>
        <p:spPr bwMode="auto">
          <a:xfrm>
            <a:off x="1231900" y="4338638"/>
            <a:ext cx="39689" cy="146051"/>
          </a:xfrm>
          <a:custGeom>
            <a:avLst/>
            <a:gdLst/>
            <a:ahLst/>
            <a:cxnLst/>
            <a:rect l="0" t="0" r="0" b="0"/>
            <a:pathLst>
              <a:path w="39689" h="146051">
                <a:moveTo>
                  <a:pt x="39688"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a:p>
        </p:txBody>
      </p:sp>
      <p:sp>
        <p:nvSpPr>
          <p:cNvPr id="40" name="StandardTextbox"/>
          <p:cNvSpPr>
            <a:spLocks noGrp="1"/>
          </p:cNvSpPr>
          <p:nvPr>
            <p:custDataLst>
              <p:tags r:id="rId8"/>
            </p:custDataLst>
          </p:nvPr>
        </p:nvSpPr>
        <p:spPr bwMode="auto">
          <a:xfrm>
            <a:off x="612775" y="4478338"/>
            <a:ext cx="438150" cy="36671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CBA0338-6081-434A-B74C-E9B885264BB9}" type="datetime'Avera''g''''e'''' De''''''m''''an''''''''''d ''(F''Y2''''0)'">
              <a:rPr lang="en-IN" altLang="en-US" sz="800" b="0" smtClean="0">
                <a:sym typeface="+mn-lt"/>
              </a:rPr>
              <a:pPr lvl="1" algn="ctr">
                <a:spcBef>
                  <a:spcPct val="0"/>
                </a:spcBef>
                <a:spcAft>
                  <a:spcPct val="0"/>
                </a:spcAft>
              </a:pPr>
              <a:t>Average Demand (FY20)</a:t>
            </a:fld>
            <a:endParaRPr lang="en-IN" sz="800" b="0" noProof="0" dirty="0">
              <a:sym typeface="+mn-lt"/>
            </a:endParaRPr>
          </a:p>
        </p:txBody>
      </p:sp>
      <p:sp>
        <p:nvSpPr>
          <p:cNvPr id="47" name="StandardTextbox"/>
          <p:cNvSpPr>
            <a:spLocks noGrp="1"/>
          </p:cNvSpPr>
          <p:nvPr>
            <p:custDataLst>
              <p:tags r:id="rId9"/>
            </p:custDataLst>
          </p:nvPr>
        </p:nvSpPr>
        <p:spPr bwMode="auto">
          <a:xfrm>
            <a:off x="1392238" y="4478338"/>
            <a:ext cx="438150" cy="36671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FA0161A-2AA1-4005-A67E-D4338CD73CE1}" type="datetime'Av''erage ''''De''ma''''n''''d'''' ''(FY''''''26'''''''')'''">
              <a:rPr lang="en-IN" altLang="en-US" sz="800" b="0" smtClean="0">
                <a:sym typeface="+mn-lt"/>
              </a:rPr>
              <a:pPr lvl="1" algn="ctr">
                <a:spcBef>
                  <a:spcPct val="0"/>
                </a:spcBef>
                <a:spcAft>
                  <a:spcPct val="0"/>
                </a:spcAft>
              </a:pPr>
              <a:t>Average Demand (FY26)</a:t>
            </a:fld>
            <a:endParaRPr lang="en-IN" sz="800" b="0" noProof="0" dirty="0">
              <a:sym typeface="+mn-lt"/>
            </a:endParaRPr>
          </a:p>
        </p:txBody>
      </p:sp>
      <p:sp>
        <p:nvSpPr>
          <p:cNvPr id="317" name="StandardTextbox"/>
          <p:cNvSpPr>
            <a:spLocks noGrp="1"/>
          </p:cNvSpPr>
          <p:nvPr>
            <p:custDataLst>
              <p:tags r:id="rId10"/>
            </p:custDataLst>
          </p:nvPr>
        </p:nvSpPr>
        <p:spPr bwMode="auto">
          <a:xfrm>
            <a:off x="2036763" y="4478338"/>
            <a:ext cx="712788" cy="61118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148F959-320C-4BC5-AD26-44440A6F4898}" type="datetime'T''''otal Supply Required to M''eet Aver''a''ge Demand (FY26)'">
              <a:rPr lang="en-US" altLang="en-US" sz="800" b="0" smtClean="0">
                <a:sym typeface="+mn-lt"/>
              </a:rPr>
              <a:pPr lvl="1" algn="ctr">
                <a:spcBef>
                  <a:spcPct val="0"/>
                </a:spcBef>
                <a:spcAft>
                  <a:spcPct val="0"/>
                </a:spcAft>
              </a:pPr>
              <a:t>Total Supply Required to Meet Average Demand (FY26)</a:t>
            </a:fld>
            <a:endParaRPr lang="en-IN" sz="800" b="0" noProof="0" dirty="0">
              <a:sym typeface="+mn-lt"/>
            </a:endParaRPr>
          </a:p>
        </p:txBody>
      </p:sp>
      <p:sp>
        <p:nvSpPr>
          <p:cNvPr id="44" name="Rectangle 43"/>
          <p:cNvSpPr/>
          <p:nvPr>
            <p:custDataLst>
              <p:tags r:id="rId11"/>
            </p:custDataLst>
          </p:nvPr>
        </p:nvSpPr>
        <p:spPr bwMode="auto">
          <a:xfrm>
            <a:off x="1277938" y="5181600"/>
            <a:ext cx="142875" cy="106363"/>
          </a:xfrm>
          <a:prstGeom prst="rect">
            <a:avLst/>
          </a:prstGeom>
          <a:solidFill>
            <a:srgbClr val="6FC2B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8" name="StandardTextbox"/>
          <p:cNvSpPr>
            <a:spLocks noGrp="1"/>
          </p:cNvSpPr>
          <p:nvPr>
            <p:custDataLst>
              <p:tags r:id="rId12"/>
            </p:custDataLst>
          </p:nvPr>
        </p:nvSpPr>
        <p:spPr bwMode="auto">
          <a:xfrm>
            <a:off x="1471613" y="5176838"/>
            <a:ext cx="87947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F118C981-E866-42A7-B664-47410D417701}" type="datetime'''''''''''''''Av''''''''''e''ra''''g''''''e'''' ''Dem''and'">
              <a:rPr lang="en-IN" altLang="en-US" sz="800" b="0" smtClean="0">
                <a:sym typeface="+mn-lt"/>
              </a:rPr>
              <a:pPr lvl="1">
                <a:spcBef>
                  <a:spcPct val="0"/>
                </a:spcBef>
                <a:spcAft>
                  <a:spcPct val="0"/>
                </a:spcAft>
              </a:pPr>
              <a:t>Average Demand</a:t>
            </a:fld>
            <a:endParaRPr lang="en-IN" sz="800" b="0" noProof="0" dirty="0">
              <a:sym typeface="+mn-lt"/>
            </a:endParaRPr>
          </a:p>
        </p:txBody>
      </p:sp>
      <p:cxnSp>
        <p:nvCxnSpPr>
          <p:cNvPr id="402" name="Straight Connector 401"/>
          <p:cNvCxnSpPr/>
          <p:nvPr>
            <p:custDataLst>
              <p:tags r:id="rId13"/>
            </p:custDataLst>
          </p:nvPr>
        </p:nvCxnSpPr>
        <p:spPr bwMode="auto">
          <a:xfrm>
            <a:off x="4173538" y="3244850"/>
            <a:ext cx="503238"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3" name="Straight Connector 402"/>
          <p:cNvCxnSpPr/>
          <p:nvPr>
            <p:custDataLst>
              <p:tags r:id="rId14"/>
            </p:custDataLst>
          </p:nvPr>
        </p:nvCxnSpPr>
        <p:spPr bwMode="auto">
          <a:xfrm>
            <a:off x="5308600" y="3581400"/>
            <a:ext cx="504825"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68" name="Chart 67"/>
          <p:cNvGraphicFramePr/>
          <p:nvPr>
            <p:custDataLst>
              <p:tags r:id="rId15"/>
            </p:custDataLst>
            <p:extLst>
              <p:ext uri="{D42A27DB-BD31-4B8C-83A1-F6EECF244321}">
                <p14:modId xmlns:p14="http://schemas.microsoft.com/office/powerpoint/2010/main" val="2698584680"/>
              </p:ext>
            </p:extLst>
          </p:nvPr>
        </p:nvGraphicFramePr>
        <p:xfrm>
          <a:off x="3206750" y="2670175"/>
          <a:ext cx="3573463" cy="1824038"/>
        </p:xfrm>
        <a:graphic>
          <a:graphicData uri="http://schemas.openxmlformats.org/drawingml/2006/chart">
            <c:chart xmlns:c="http://schemas.openxmlformats.org/drawingml/2006/chart" xmlns:r="http://schemas.openxmlformats.org/officeDocument/2006/relationships" r:id="rId56"/>
          </a:graphicData>
        </a:graphic>
      </p:graphicFrame>
      <p:sp useBgFill="1">
        <p:nvSpPr>
          <p:cNvPr id="11" name="Freeform 10"/>
          <p:cNvSpPr/>
          <p:nvPr>
            <p:custDataLst>
              <p:tags r:id="rId16"/>
            </p:custDataLst>
          </p:nvPr>
        </p:nvSpPr>
        <p:spPr bwMode="auto">
          <a:xfrm>
            <a:off x="4376738" y="4338638"/>
            <a:ext cx="96838" cy="146051"/>
          </a:xfrm>
          <a:custGeom>
            <a:avLst/>
            <a:gdLst/>
            <a:ahLst/>
            <a:cxnLst/>
            <a:rect l="0" t="0" r="0" b="0"/>
            <a:pathLst>
              <a:path w="96838" h="146051">
                <a:moveTo>
                  <a:pt x="96837" y="0"/>
                </a:moveTo>
                <a:lnTo>
                  <a:pt x="57150" y="146050"/>
                </a:lnTo>
                <a:lnTo>
                  <a:pt x="0" y="146050"/>
                </a:lnTo>
                <a:lnTo>
                  <a:pt x="39687" y="0"/>
                </a:lnTo>
                <a:close/>
              </a:path>
            </a:pathLst>
          </a:custGeom>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9" name="Freeform 8"/>
          <p:cNvSpPr/>
          <p:nvPr>
            <p:custDataLst>
              <p:tags r:id="rId17"/>
            </p:custDataLst>
          </p:nvPr>
        </p:nvSpPr>
        <p:spPr bwMode="auto">
          <a:xfrm>
            <a:off x="4376738" y="4338638"/>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a:p>
        </p:txBody>
      </p:sp>
      <p:sp>
        <p:nvSpPr>
          <p:cNvPr id="10" name="Freeform 9"/>
          <p:cNvSpPr/>
          <p:nvPr>
            <p:custDataLst>
              <p:tags r:id="rId18"/>
            </p:custDataLst>
          </p:nvPr>
        </p:nvSpPr>
        <p:spPr bwMode="auto">
          <a:xfrm>
            <a:off x="4433888" y="4338638"/>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a:p>
        </p:txBody>
      </p:sp>
      <p:cxnSp>
        <p:nvCxnSpPr>
          <p:cNvPr id="13" name="Straight Connector 12"/>
          <p:cNvCxnSpPr/>
          <p:nvPr>
            <p:custDataLst>
              <p:tags r:id="rId19"/>
            </p:custDataLst>
          </p:nvPr>
        </p:nvCxnSpPr>
        <p:spPr bwMode="auto">
          <a:xfrm flipH="1">
            <a:off x="5232400" y="3494088"/>
            <a:ext cx="88900" cy="12700"/>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7" name="StandardTextbox"/>
          <p:cNvSpPr>
            <a:spLocks noGrp="1"/>
          </p:cNvSpPr>
          <p:nvPr>
            <p:custDataLst>
              <p:tags r:id="rId20"/>
            </p:custDataLst>
          </p:nvPr>
        </p:nvSpPr>
        <p:spPr bwMode="gray">
          <a:xfrm>
            <a:off x="3692525" y="3895725"/>
            <a:ext cx="331788" cy="122238"/>
          </a:xfrm>
          <a:prstGeom prst="rect">
            <a:avLst/>
          </a:prstGeom>
          <a:solidFill>
            <a:srgbClr val="75787B"/>
          </a:solidFill>
          <a:ln>
            <a:noFill/>
          </a:ln>
        </p:spPr>
        <p:txBody>
          <a:bodyPr vert="horz" wrap="none" lIns="17463" tIns="0" rIns="17463"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589BCD8-9EB7-4D12-980D-EF6C5C23ABC1}" type="datetime'''''''''''''1'''',''3''''''7''''''''''0'''''''''''">
              <a:rPr lang="en-IN" altLang="en-US" sz="800" b="0" smtClean="0">
                <a:solidFill>
                  <a:schemeClr val="bg1"/>
                </a:solidFill>
                <a:sym typeface="+mn-lt"/>
              </a:rPr>
              <a:pPr lvl="1" algn="ctr">
                <a:spcBef>
                  <a:spcPct val="0"/>
                </a:spcBef>
                <a:spcAft>
                  <a:spcPct val="0"/>
                </a:spcAft>
              </a:pPr>
              <a:t>1,370</a:t>
            </a:fld>
            <a:endParaRPr lang="en-IN" sz="800" b="0" noProof="0" dirty="0">
              <a:solidFill>
                <a:schemeClr val="bg1"/>
              </a:solidFill>
              <a:sym typeface="+mn-lt"/>
            </a:endParaRPr>
          </a:p>
        </p:txBody>
      </p:sp>
      <p:sp>
        <p:nvSpPr>
          <p:cNvPr id="129" name="StandardTextbox"/>
          <p:cNvSpPr>
            <a:spLocks noGrp="1"/>
          </p:cNvSpPr>
          <p:nvPr>
            <p:custDataLst>
              <p:tags r:id="rId21"/>
            </p:custDataLst>
          </p:nvPr>
        </p:nvSpPr>
        <p:spPr bwMode="gray">
          <a:xfrm>
            <a:off x="5964238" y="3552825"/>
            <a:ext cx="331788" cy="122238"/>
          </a:xfrm>
          <a:prstGeom prst="rect">
            <a:avLst/>
          </a:prstGeom>
          <a:solidFill>
            <a:srgbClr val="75787B"/>
          </a:solidFill>
          <a:ln>
            <a:noFill/>
          </a:ln>
        </p:spPr>
        <p:txBody>
          <a:bodyPr vert="horz" wrap="none" lIns="17463" tIns="0" rIns="17463"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E3DC57C-E978-424C-827B-5982CFDF8486}" type="datetime'''''1'''',0''''''''''''''''''''''25'''''''''">
              <a:rPr lang="en-IN" altLang="en-US" sz="800" b="0" smtClean="0">
                <a:solidFill>
                  <a:schemeClr val="bg1"/>
                </a:solidFill>
                <a:sym typeface="+mn-lt"/>
              </a:rPr>
              <a:pPr lvl="1" algn="ctr">
                <a:spcBef>
                  <a:spcPct val="0"/>
                </a:spcBef>
                <a:spcAft>
                  <a:spcPct val="0"/>
                </a:spcAft>
              </a:pPr>
              <a:t>1,025</a:t>
            </a:fld>
            <a:endParaRPr lang="en-IN" sz="800" b="0" noProof="0" dirty="0">
              <a:solidFill>
                <a:schemeClr val="bg1"/>
              </a:solidFill>
              <a:sym typeface="+mn-lt"/>
            </a:endParaRPr>
          </a:p>
        </p:txBody>
      </p:sp>
      <p:sp>
        <p:nvSpPr>
          <p:cNvPr id="604" name="StandardTextbox"/>
          <p:cNvSpPr>
            <a:spLocks noGrp="1"/>
          </p:cNvSpPr>
          <p:nvPr>
            <p:custDataLst>
              <p:tags r:id="rId22"/>
            </p:custDataLst>
          </p:nvPr>
        </p:nvSpPr>
        <p:spPr bwMode="gray">
          <a:xfrm>
            <a:off x="3692525" y="4313238"/>
            <a:ext cx="331788" cy="122238"/>
          </a:xfrm>
          <a:prstGeom prst="rect">
            <a:avLst/>
          </a:prstGeom>
          <a:solidFill>
            <a:srgbClr val="046A38"/>
          </a:solidFill>
          <a:ln>
            <a:noFill/>
          </a:ln>
        </p:spPr>
        <p:txBody>
          <a:bodyPr vert="horz" wrap="none" lIns="17463" tIns="0" rIns="17463"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19DFE5A-4F35-4BE6-826D-BEDB379F8A76}" type="datetime'''''''''''''''''1'''',''''''16''''''''''''''0'''''">
              <a:rPr lang="en-IN" altLang="en-US" sz="800" b="0" smtClean="0">
                <a:solidFill>
                  <a:schemeClr val="bg1"/>
                </a:solidFill>
                <a:sym typeface="+mn-lt"/>
              </a:rPr>
              <a:pPr lvl="1" algn="ctr">
                <a:spcBef>
                  <a:spcPct val="0"/>
                </a:spcBef>
                <a:spcAft>
                  <a:spcPct val="0"/>
                </a:spcAft>
              </a:pPr>
              <a:t>1,160</a:t>
            </a:fld>
            <a:endParaRPr lang="en-IN" sz="800" b="0" noProof="0" dirty="0">
              <a:solidFill>
                <a:schemeClr val="bg1"/>
              </a:solidFill>
              <a:sym typeface="+mn-lt"/>
            </a:endParaRPr>
          </a:p>
        </p:txBody>
      </p:sp>
      <p:sp>
        <p:nvSpPr>
          <p:cNvPr id="401" name="StandardTextbox"/>
          <p:cNvSpPr>
            <a:spLocks noGrp="1"/>
          </p:cNvSpPr>
          <p:nvPr>
            <p:custDataLst>
              <p:tags r:id="rId23"/>
            </p:custDataLst>
          </p:nvPr>
        </p:nvSpPr>
        <p:spPr bwMode="auto">
          <a:xfrm>
            <a:off x="5675313" y="4478338"/>
            <a:ext cx="908050" cy="61118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02EBFB2-A344-4B89-B5BC-C884BB2CF381}" type="thinkcell&lt;?xml version=&quot;1.0&quot; encoding=&quot;UTF-16&quot; standalone=&quot;yes&quot;?&gt;&lt;root reqver=&quot;25060&quot;&gt;&lt;version val=&quot;28278&quot;/&gt;&lt;PersistentType&gt;&lt;m_guid val=&quot;3eb6b93d-2926-4df6-b708-bdc8b85bca7c&quot;/&gt;&lt;m_prec&gt;&lt;m_yearfmt&gt;&lt;begin val=&quot;0&quot;/&gt;&lt;end val=&quot;4&quot;/&gt;&lt;/m_yearfmt&gt;&lt;/m_prec&gt;&lt;/PersistentType&gt;&lt;/root&gt;">
              <a:rPr lang="en-US" altLang="en-US" sz="800" b="0" smtClean="0"/>
              <a:pPr lvl="1" algn="ctr">
                <a:spcBef>
                  <a:spcPct val="0"/>
                </a:spcBef>
                <a:spcAft>
                  <a:spcPct val="0"/>
                </a:spcAft>
              </a:pPr>
              <a:t>Replacement of Remaining Liquid and Rental Plants (from Economic Perspective)</a:t>
            </a:fld>
            <a:endParaRPr lang="en-IN" sz="800" b="0" noProof="0" dirty="0">
              <a:sym typeface="+mn-lt"/>
            </a:endParaRPr>
          </a:p>
        </p:txBody>
      </p:sp>
      <p:sp>
        <p:nvSpPr>
          <p:cNvPr id="399" name="StandardTextbox"/>
          <p:cNvSpPr>
            <a:spLocks noGrp="1"/>
          </p:cNvSpPr>
          <p:nvPr>
            <p:custDataLst>
              <p:tags r:id="rId24"/>
            </p:custDataLst>
          </p:nvPr>
        </p:nvSpPr>
        <p:spPr bwMode="auto">
          <a:xfrm>
            <a:off x="3443288" y="4478338"/>
            <a:ext cx="828675" cy="2444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5728E67-6FC3-4D24-BECC-F63BBA76F15C}" type="datetime'''I''''nst''a''lled Capa''c''it''y (F''Y''1''''9'''')'''''">
              <a:rPr lang="en-IN" altLang="en-US" sz="800" b="0" smtClean="0">
                <a:sym typeface="+mn-lt"/>
              </a:rPr>
              <a:pPr lvl="1" algn="ctr">
                <a:spcBef>
                  <a:spcPct val="0"/>
                </a:spcBef>
                <a:spcAft>
                  <a:spcPct val="0"/>
                </a:spcAft>
              </a:pPr>
              <a:t>Installed Capacity (FY19)</a:t>
            </a:fld>
            <a:endParaRPr lang="en-IN" sz="800" b="0" noProof="0" dirty="0">
              <a:sym typeface="+mn-lt"/>
            </a:endParaRPr>
          </a:p>
        </p:txBody>
      </p:sp>
      <p:sp>
        <p:nvSpPr>
          <p:cNvPr id="400" name="StandardTextbox"/>
          <p:cNvSpPr>
            <a:spLocks noGrp="1"/>
          </p:cNvSpPr>
          <p:nvPr>
            <p:custDataLst>
              <p:tags r:id="rId25"/>
            </p:custDataLst>
          </p:nvPr>
        </p:nvSpPr>
        <p:spPr bwMode="auto">
          <a:xfrm>
            <a:off x="4483100" y="4478338"/>
            <a:ext cx="1020763" cy="2444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9F2CB4D-8E61-44A2-8329-4923601C41D4}" type="datetime'''P''''l''anned'' ''Retir''e''ment'' ''(till'' FY''26'''''')'">
              <a:rPr lang="en-IN" altLang="en-US" sz="800" b="0" smtClean="0">
                <a:sym typeface="+mn-lt"/>
              </a:rPr>
              <a:pPr lvl="1" algn="ctr">
                <a:spcBef>
                  <a:spcPct val="0"/>
                </a:spcBef>
                <a:spcAft>
                  <a:spcPct val="0"/>
                </a:spcAft>
              </a:pPr>
              <a:t>Planned Retirement (till FY26)</a:t>
            </a:fld>
            <a:endParaRPr lang="en-IN" sz="800" b="0" noProof="0" dirty="0">
              <a:sym typeface="+mn-lt"/>
            </a:endParaRPr>
          </a:p>
        </p:txBody>
      </p:sp>
      <p:sp>
        <p:nvSpPr>
          <p:cNvPr id="128" name="StandardTextbox"/>
          <p:cNvSpPr>
            <a:spLocks noGrp="1"/>
          </p:cNvSpPr>
          <p:nvPr>
            <p:custDataLst>
              <p:tags r:id="rId26"/>
            </p:custDataLst>
          </p:nvPr>
        </p:nvSpPr>
        <p:spPr bwMode="gray">
          <a:xfrm>
            <a:off x="4827588" y="3489325"/>
            <a:ext cx="331788" cy="122238"/>
          </a:xfrm>
          <a:prstGeom prst="rect">
            <a:avLst/>
          </a:prstGeom>
          <a:solidFill>
            <a:srgbClr val="0097A9"/>
          </a:solidFill>
          <a:ln>
            <a:noFill/>
          </a:ln>
        </p:spPr>
        <p:txBody>
          <a:bodyPr vert="horz" wrap="none" lIns="17463" tIns="0" rIns="17463"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9D96859-DF14-44FF-8BEE-6EAA18C980A2}" type="datetime'''''''1'''''',''0''''''''''''2''''''''''''''9'">
              <a:rPr lang="en-IN" altLang="en-US" sz="800" b="0" smtClean="0">
                <a:solidFill>
                  <a:schemeClr val="bg1"/>
                </a:solidFill>
                <a:sym typeface="+mn-lt"/>
              </a:rPr>
              <a:pPr lvl="1" algn="ctr">
                <a:spcBef>
                  <a:spcPct val="0"/>
                </a:spcBef>
                <a:spcAft>
                  <a:spcPct val="0"/>
                </a:spcAft>
              </a:pPr>
              <a:t>1,029</a:t>
            </a:fld>
            <a:endParaRPr lang="en-IN" sz="800" b="0" noProof="0" dirty="0">
              <a:solidFill>
                <a:schemeClr val="bg1"/>
              </a:solidFill>
              <a:sym typeface="+mn-lt"/>
            </a:endParaRPr>
          </a:p>
        </p:txBody>
      </p:sp>
      <p:sp>
        <p:nvSpPr>
          <p:cNvPr id="413" name="StandardTextbox"/>
          <p:cNvSpPr>
            <a:spLocks noGrp="1"/>
          </p:cNvSpPr>
          <p:nvPr>
            <p:custDataLst>
              <p:tags r:id="rId27"/>
            </p:custDataLst>
          </p:nvPr>
        </p:nvSpPr>
        <p:spPr bwMode="gray">
          <a:xfrm>
            <a:off x="3659188" y="3097213"/>
            <a:ext cx="39687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D9B8379-D972-490F-899F-B1DC1FCA3B37}" type="datetime'''''''''''''''''''1''''''''8'',''9''''''6''''''''''''''''''1'">
              <a:rPr lang="en-IN" altLang="en-US" sz="800" b="0" smtClean="0">
                <a:sym typeface="+mn-lt"/>
              </a:rPr>
              <a:pPr lvl="1" algn="ctr">
                <a:spcBef>
                  <a:spcPct val="0"/>
                </a:spcBef>
                <a:spcAft>
                  <a:spcPct val="0"/>
                </a:spcAft>
              </a:pPr>
              <a:t>18,961</a:t>
            </a:fld>
            <a:endParaRPr lang="en-IN" sz="800" b="0" noProof="0" dirty="0">
              <a:sym typeface="+mn-lt"/>
            </a:endParaRPr>
          </a:p>
        </p:txBody>
      </p:sp>
      <p:sp>
        <p:nvSpPr>
          <p:cNvPr id="416" name="StandardTextbox"/>
          <p:cNvSpPr>
            <a:spLocks noGrp="1"/>
          </p:cNvSpPr>
          <p:nvPr>
            <p:custDataLst>
              <p:tags r:id="rId28"/>
            </p:custDataLst>
          </p:nvPr>
        </p:nvSpPr>
        <p:spPr bwMode="gray">
          <a:xfrm>
            <a:off x="4803775" y="3611563"/>
            <a:ext cx="3778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CA473D0-1915-4C38-9F3F-0A072D39A119}" type="datetime'''''-''''''''''''''5,4''''7''''''''''''''''''''''''4'">
              <a:rPr lang="en-IN" altLang="en-US" sz="800" b="0" smtClean="0"/>
              <a:pPr lvl="1" algn="ctr">
                <a:spcBef>
                  <a:spcPct val="0"/>
                </a:spcBef>
                <a:spcAft>
                  <a:spcPct val="0"/>
                </a:spcAft>
              </a:pPr>
              <a:t>-5,474</a:t>
            </a:fld>
            <a:endParaRPr lang="en-IN" sz="800" b="0" noProof="0" dirty="0">
              <a:sym typeface="+mn-lt"/>
            </a:endParaRPr>
          </a:p>
        </p:txBody>
      </p:sp>
      <p:sp>
        <p:nvSpPr>
          <p:cNvPr id="418" name="StandardTextbox"/>
          <p:cNvSpPr>
            <a:spLocks noGrp="1"/>
          </p:cNvSpPr>
          <p:nvPr>
            <p:custDataLst>
              <p:tags r:id="rId29"/>
            </p:custDataLst>
          </p:nvPr>
        </p:nvSpPr>
        <p:spPr bwMode="gray">
          <a:xfrm>
            <a:off x="5940425" y="3900488"/>
            <a:ext cx="3778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3E450DE-1D9C-4114-A5EF-CBCD6948AE76}" type="datetime'''-4'''''''''''''''''''''''''''''''',''''''''''76''''6'''''''">
              <a:rPr lang="en-IN" altLang="en-US" sz="800" b="0" smtClean="0"/>
              <a:pPr lvl="1" algn="ctr">
                <a:spcBef>
                  <a:spcPct val="0"/>
                </a:spcBef>
                <a:spcAft>
                  <a:spcPct val="0"/>
                </a:spcAft>
              </a:pPr>
              <a:t>-4,766</a:t>
            </a:fld>
            <a:endParaRPr lang="en-IN" sz="800" b="0" noProof="0" dirty="0">
              <a:sym typeface="+mn-lt"/>
            </a:endParaRPr>
          </a:p>
        </p:txBody>
      </p:sp>
      <p:sp>
        <p:nvSpPr>
          <p:cNvPr id="454" name="Rectangle 453"/>
          <p:cNvSpPr/>
          <p:nvPr>
            <p:custDataLst>
              <p:tags r:id="rId30"/>
            </p:custDataLst>
          </p:nvPr>
        </p:nvSpPr>
        <p:spPr bwMode="auto">
          <a:xfrm>
            <a:off x="3794125" y="5181600"/>
            <a:ext cx="142875" cy="106363"/>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457" name="Rectangle 456"/>
          <p:cNvSpPr/>
          <p:nvPr>
            <p:custDataLst>
              <p:tags r:id="rId31"/>
            </p:custDataLst>
          </p:nvPr>
        </p:nvSpPr>
        <p:spPr bwMode="auto">
          <a:xfrm>
            <a:off x="5310188" y="5181600"/>
            <a:ext cx="142875" cy="106363"/>
          </a:xfrm>
          <a:prstGeom prst="rect">
            <a:avLst/>
          </a:prstGeom>
          <a:solidFill>
            <a:srgbClr val="01216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455" name="Rectangle 454"/>
          <p:cNvSpPr/>
          <p:nvPr>
            <p:custDataLst>
              <p:tags r:id="rId32"/>
            </p:custDataLst>
          </p:nvPr>
        </p:nvSpPr>
        <p:spPr bwMode="auto">
          <a:xfrm>
            <a:off x="4281488" y="5181600"/>
            <a:ext cx="142875" cy="106363"/>
          </a:xfrm>
          <a:prstGeom prst="rect">
            <a:avLst/>
          </a:prstGeom>
          <a:solidFill>
            <a:srgbClr val="75787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456" name="Rectangle 455"/>
          <p:cNvSpPr/>
          <p:nvPr>
            <p:custDataLst>
              <p:tags r:id="rId33"/>
            </p:custDataLst>
          </p:nvPr>
        </p:nvSpPr>
        <p:spPr bwMode="auto">
          <a:xfrm>
            <a:off x="4800600" y="5181600"/>
            <a:ext cx="142875" cy="106363"/>
          </a:xfrm>
          <a:prstGeom prst="rect">
            <a:avLst/>
          </a:prstGeom>
          <a:solidFill>
            <a:srgbClr val="0097A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458" name="Rectangle 457"/>
          <p:cNvSpPr/>
          <p:nvPr>
            <p:custDataLst>
              <p:tags r:id="rId34"/>
            </p:custDataLst>
          </p:nvPr>
        </p:nvSpPr>
        <p:spPr bwMode="auto">
          <a:xfrm>
            <a:off x="5910263" y="5181600"/>
            <a:ext cx="142875" cy="106363"/>
          </a:xfrm>
          <a:prstGeom prst="rect">
            <a:avLst/>
          </a:prstGeom>
          <a:solidFill>
            <a:srgbClr val="62B5E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459" name="Rectangle 458"/>
          <p:cNvSpPr/>
          <p:nvPr>
            <p:custDataLst>
              <p:tags r:id="rId35"/>
            </p:custDataLst>
          </p:nvPr>
        </p:nvSpPr>
        <p:spPr bwMode="auto">
          <a:xfrm>
            <a:off x="6427788" y="5181600"/>
            <a:ext cx="142875" cy="106363"/>
          </a:xfrm>
          <a:prstGeom prst="rect">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460" name="Rectangle 459"/>
          <p:cNvSpPr/>
          <p:nvPr>
            <p:custDataLst>
              <p:tags r:id="rId36"/>
            </p:custDataLst>
          </p:nvPr>
        </p:nvSpPr>
        <p:spPr bwMode="auto">
          <a:xfrm>
            <a:off x="7072313" y="5181600"/>
            <a:ext cx="142875" cy="106363"/>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406" name="StandardTextbox"/>
          <p:cNvSpPr>
            <a:spLocks noGrp="1"/>
          </p:cNvSpPr>
          <p:nvPr>
            <p:custDataLst>
              <p:tags r:id="rId37"/>
            </p:custDataLst>
          </p:nvPr>
        </p:nvSpPr>
        <p:spPr bwMode="auto">
          <a:xfrm>
            <a:off x="3987800" y="5176838"/>
            <a:ext cx="19208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D6281EDA-09BD-4477-929E-0AAC870F94AA}" type="datetime'''''''G''''''''''''''''''''''a''''s'''''''''''''''''''">
              <a:rPr lang="en-IN" altLang="en-US" sz="800" b="0" smtClean="0">
                <a:sym typeface="+mn-lt"/>
              </a:rPr>
              <a:pPr lvl="1">
                <a:spcBef>
                  <a:spcPct val="0"/>
                </a:spcBef>
                <a:spcAft>
                  <a:spcPct val="0"/>
                </a:spcAft>
              </a:pPr>
              <a:t>Gas</a:t>
            </a:fld>
            <a:endParaRPr lang="en-IN" sz="800" b="0" noProof="0" dirty="0">
              <a:sym typeface="+mn-lt"/>
            </a:endParaRPr>
          </a:p>
        </p:txBody>
      </p:sp>
      <p:sp>
        <p:nvSpPr>
          <p:cNvPr id="410" name="StandardTextbox"/>
          <p:cNvSpPr>
            <a:spLocks noGrp="1"/>
          </p:cNvSpPr>
          <p:nvPr>
            <p:custDataLst>
              <p:tags r:id="rId38"/>
            </p:custDataLst>
          </p:nvPr>
        </p:nvSpPr>
        <p:spPr bwMode="auto">
          <a:xfrm>
            <a:off x="6103938" y="5176838"/>
            <a:ext cx="22225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5409EE9B-3D07-499D-BA05-B020A8F95861}" type="datetime'''''''C''o''''''''''''''''''''a''''''''l'''''''">
              <a:rPr lang="en-IN" altLang="en-US" sz="800" b="0" smtClean="0">
                <a:sym typeface="+mn-lt"/>
              </a:rPr>
              <a:pPr lvl="1">
                <a:spcBef>
                  <a:spcPct val="0"/>
                </a:spcBef>
                <a:spcAft>
                  <a:spcPct val="0"/>
                </a:spcAft>
              </a:pPr>
              <a:t>Coal</a:t>
            </a:fld>
            <a:endParaRPr lang="en-IN" sz="800" b="0" noProof="0" dirty="0">
              <a:sym typeface="+mn-lt"/>
            </a:endParaRPr>
          </a:p>
        </p:txBody>
      </p:sp>
      <p:sp>
        <p:nvSpPr>
          <p:cNvPr id="407" name="StandardTextbox"/>
          <p:cNvSpPr>
            <a:spLocks noGrp="1"/>
          </p:cNvSpPr>
          <p:nvPr>
            <p:custDataLst>
              <p:tags r:id="rId39"/>
            </p:custDataLst>
          </p:nvPr>
        </p:nvSpPr>
        <p:spPr bwMode="auto">
          <a:xfrm>
            <a:off x="4475163" y="5176838"/>
            <a:ext cx="22383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249AF463-F29B-40EA-AECA-3D6885362464}" type="datetime'''''''''''''''''H''''''S''''''D'''''''">
              <a:rPr lang="en-IN" altLang="en-US" sz="800" b="0" smtClean="0">
                <a:sym typeface="+mn-lt"/>
              </a:rPr>
              <a:pPr lvl="1">
                <a:spcBef>
                  <a:spcPct val="0"/>
                </a:spcBef>
                <a:spcAft>
                  <a:spcPct val="0"/>
                </a:spcAft>
              </a:pPr>
              <a:t>HSD</a:t>
            </a:fld>
            <a:endParaRPr lang="en-IN" sz="800" b="0" noProof="0" dirty="0">
              <a:sym typeface="+mn-lt"/>
            </a:endParaRPr>
          </a:p>
        </p:txBody>
      </p:sp>
      <p:sp>
        <p:nvSpPr>
          <p:cNvPr id="409" name="StandardTextbox"/>
          <p:cNvSpPr>
            <a:spLocks noGrp="1"/>
          </p:cNvSpPr>
          <p:nvPr>
            <p:custDataLst>
              <p:tags r:id="rId40"/>
            </p:custDataLst>
          </p:nvPr>
        </p:nvSpPr>
        <p:spPr bwMode="auto">
          <a:xfrm>
            <a:off x="5503863" y="5176838"/>
            <a:ext cx="30480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9E1F64D6-D7DB-4201-9898-46458644F771}" type="datetime'''''H''''''''''''''y''''d''''''''r''''''''''''''''''''''''o'">
              <a:rPr lang="en-IN" altLang="en-US" sz="800" b="0" smtClean="0">
                <a:sym typeface="+mn-lt"/>
              </a:rPr>
              <a:pPr lvl="1">
                <a:spcBef>
                  <a:spcPct val="0"/>
                </a:spcBef>
                <a:spcAft>
                  <a:spcPct val="0"/>
                </a:spcAft>
              </a:pPr>
              <a:t>Hydro</a:t>
            </a:fld>
            <a:endParaRPr lang="en-IN" sz="800" b="0" noProof="0" dirty="0">
              <a:sym typeface="+mn-lt"/>
            </a:endParaRPr>
          </a:p>
        </p:txBody>
      </p:sp>
      <p:sp>
        <p:nvSpPr>
          <p:cNvPr id="408" name="StandardTextbox"/>
          <p:cNvSpPr>
            <a:spLocks noGrp="1"/>
          </p:cNvSpPr>
          <p:nvPr>
            <p:custDataLst>
              <p:tags r:id="rId41"/>
            </p:custDataLst>
          </p:nvPr>
        </p:nvSpPr>
        <p:spPr bwMode="auto">
          <a:xfrm>
            <a:off x="4994275" y="5176838"/>
            <a:ext cx="214313"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6978D9A0-6BE7-4BFE-A6A2-A17AFF8155A4}" type="datetime'''H''''''''''''''''''''''''''''''''F''''''''''''''''O'''''">
              <a:rPr lang="en-IN" altLang="en-US" sz="800" b="0" smtClean="0">
                <a:sym typeface="+mn-lt"/>
              </a:rPr>
              <a:pPr lvl="1">
                <a:spcBef>
                  <a:spcPct val="0"/>
                </a:spcBef>
                <a:spcAft>
                  <a:spcPct val="0"/>
                </a:spcAft>
              </a:pPr>
              <a:t>HFO</a:t>
            </a:fld>
            <a:endParaRPr lang="en-IN" sz="800" b="0" noProof="0" dirty="0">
              <a:sym typeface="+mn-lt"/>
            </a:endParaRPr>
          </a:p>
        </p:txBody>
      </p:sp>
      <p:sp>
        <p:nvSpPr>
          <p:cNvPr id="411" name="StandardTextbox"/>
          <p:cNvSpPr>
            <a:spLocks noGrp="1"/>
          </p:cNvSpPr>
          <p:nvPr>
            <p:custDataLst>
              <p:tags r:id="rId42"/>
            </p:custDataLst>
          </p:nvPr>
        </p:nvSpPr>
        <p:spPr bwMode="auto">
          <a:xfrm>
            <a:off x="6621463" y="5176838"/>
            <a:ext cx="34925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D79F68D3-8E49-4E18-8EC5-672CDD6505DB}" type="datetime'''''''''''''Im''''''''''''''''p''''''''''''''''o''''''rt'">
              <a:rPr lang="en-IN" altLang="en-US" sz="800" b="0" smtClean="0">
                <a:sym typeface="+mn-lt"/>
              </a:rPr>
              <a:pPr lvl="1">
                <a:spcBef>
                  <a:spcPct val="0"/>
                </a:spcBef>
                <a:spcAft>
                  <a:spcPct val="0"/>
                </a:spcAft>
              </a:pPr>
              <a:t>Import</a:t>
            </a:fld>
            <a:endParaRPr lang="en-IN" sz="800" b="0" noProof="0" dirty="0">
              <a:sym typeface="+mn-lt"/>
            </a:endParaRPr>
          </a:p>
        </p:txBody>
      </p:sp>
      <p:sp>
        <p:nvSpPr>
          <p:cNvPr id="412" name="StandardTextbox"/>
          <p:cNvSpPr>
            <a:spLocks noGrp="1"/>
          </p:cNvSpPr>
          <p:nvPr>
            <p:custDataLst>
              <p:tags r:id="rId43"/>
            </p:custDataLst>
          </p:nvPr>
        </p:nvSpPr>
        <p:spPr bwMode="auto">
          <a:xfrm>
            <a:off x="7265988" y="5176838"/>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9622A20A-137E-4BBB-8B20-B14BDC4718E4}" type="datetime'''''''''''''''S''''''''''''o''''''''''''lar'''''''''''''''">
              <a:rPr lang="en-IN" altLang="en-US" sz="800" b="0" smtClean="0">
                <a:sym typeface="+mn-lt"/>
              </a:rPr>
              <a:pPr lvl="1">
                <a:spcBef>
                  <a:spcPct val="0"/>
                </a:spcBef>
                <a:spcAft>
                  <a:spcPct val="0"/>
                </a:spcAft>
              </a:pPr>
              <a:t>Solar</a:t>
            </a:fld>
            <a:endParaRPr lang="en-IN" sz="800" b="0" noProof="0" dirty="0">
              <a:sym typeface="+mn-lt"/>
            </a:endParaRPr>
          </a:p>
        </p:txBody>
      </p:sp>
      <p:cxnSp>
        <p:nvCxnSpPr>
          <p:cNvPr id="561" name="Straight Connector 560"/>
          <p:cNvCxnSpPr/>
          <p:nvPr>
            <p:custDataLst>
              <p:tags r:id="rId44"/>
            </p:custDataLst>
          </p:nvPr>
        </p:nvCxnSpPr>
        <p:spPr bwMode="auto">
          <a:xfrm>
            <a:off x="7853363" y="3875088"/>
            <a:ext cx="4762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2" name="Straight Connector 561"/>
          <p:cNvCxnSpPr/>
          <p:nvPr>
            <p:custDataLst>
              <p:tags r:id="rId45"/>
            </p:custDataLst>
          </p:nvPr>
        </p:nvCxnSpPr>
        <p:spPr bwMode="auto">
          <a:xfrm>
            <a:off x="8924925" y="3205163"/>
            <a:ext cx="4762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69" name="Chart 68"/>
          <p:cNvGraphicFramePr/>
          <p:nvPr>
            <p:custDataLst>
              <p:tags r:id="rId46"/>
            </p:custDataLst>
            <p:extLst>
              <p:ext uri="{D42A27DB-BD31-4B8C-83A1-F6EECF244321}">
                <p14:modId xmlns:p14="http://schemas.microsoft.com/office/powerpoint/2010/main" val="2020760485"/>
              </p:ext>
            </p:extLst>
          </p:nvPr>
        </p:nvGraphicFramePr>
        <p:xfrm>
          <a:off x="6935788" y="2670175"/>
          <a:ext cx="3382962" cy="1824038"/>
        </p:xfrm>
        <a:graphic>
          <a:graphicData uri="http://schemas.openxmlformats.org/drawingml/2006/chart">
            <c:chart xmlns:c="http://schemas.openxmlformats.org/drawingml/2006/chart" xmlns:r="http://schemas.openxmlformats.org/officeDocument/2006/relationships" r:id="rId57"/>
          </a:graphicData>
        </a:graphic>
      </p:graphicFrame>
      <p:sp>
        <p:nvSpPr>
          <p:cNvPr id="565" name="StandardTextbox"/>
          <p:cNvSpPr>
            <a:spLocks noGrp="1"/>
          </p:cNvSpPr>
          <p:nvPr>
            <p:custDataLst>
              <p:tags r:id="rId47"/>
            </p:custDataLst>
          </p:nvPr>
        </p:nvSpPr>
        <p:spPr bwMode="auto">
          <a:xfrm>
            <a:off x="8156575" y="4478338"/>
            <a:ext cx="941388" cy="48895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38C9AC5-988A-458F-AAD7-8AA824DA9B23}" type="thinkcell&lt;?xml version=&quot;1.0&quot; encoding=&quot;UTF-16&quot; standalone=&quot;yes&quot;?&gt;&lt;root reqver=&quot;25060&quot;&gt;&lt;version val=&quot;28278&quot;/&gt;&lt;PersistentType&gt;&lt;m_guid val=&quot;0464d031-e23c-474e-9e23-32f3df1ddecd&quot;/&gt;&lt;m_prec&gt;&lt;m_yearfmt&gt;&lt;begin val=&quot;0&quot;/&gt;&lt;end val=&quot;4&quot;/&gt;&lt;/m_yearfmt&gt;&lt;/m_prec&gt;&lt;/PersistentType&gt;&lt;/root&gt;">
              <a:rPr lang="en-US" altLang="en-US" sz="800" b="0" smtClean="0">
                <a:sym typeface="+mn-lt"/>
              </a:rPr>
              <a:pPr lvl="1" algn="ctr">
                <a:spcBef>
                  <a:spcPct val="0"/>
                </a:spcBef>
                <a:spcAft>
                  <a:spcPct val="0"/>
                </a:spcAft>
              </a:pPr>
              <a:t>Additional Capacity Required to meet Average Demand in FY26</a:t>
            </a:fld>
            <a:endParaRPr lang="en-IN" sz="800" b="0" noProof="0" dirty="0">
              <a:sym typeface="+mn-lt"/>
            </a:endParaRPr>
          </a:p>
        </p:txBody>
      </p:sp>
      <p:sp>
        <p:nvSpPr>
          <p:cNvPr id="567" name="StandardTextbox"/>
          <p:cNvSpPr>
            <a:spLocks noGrp="1"/>
          </p:cNvSpPr>
          <p:nvPr>
            <p:custDataLst>
              <p:tags r:id="rId48"/>
            </p:custDataLst>
          </p:nvPr>
        </p:nvSpPr>
        <p:spPr bwMode="gray">
          <a:xfrm>
            <a:off x="7389813" y="3727450"/>
            <a:ext cx="33178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154294D-294C-49B7-AE7A-17C31E3D6FEE}" type="datetime'''''''''''8,''''''''''''''72''''''2'''''''''''''">
              <a:rPr lang="en-IN" altLang="en-US" sz="800" b="0" smtClean="0"/>
              <a:pPr lvl="1" algn="ctr">
                <a:spcBef>
                  <a:spcPct val="0"/>
                </a:spcBef>
                <a:spcAft>
                  <a:spcPct val="0"/>
                </a:spcAft>
              </a:pPr>
              <a:t>8,722</a:t>
            </a:fld>
            <a:endParaRPr lang="en-IN" sz="800" b="0" noProof="0" dirty="0">
              <a:sym typeface="+mn-lt"/>
            </a:endParaRPr>
          </a:p>
        </p:txBody>
      </p:sp>
      <p:sp>
        <p:nvSpPr>
          <p:cNvPr id="566" name="StandardTextbox"/>
          <p:cNvSpPr>
            <a:spLocks noGrp="1"/>
          </p:cNvSpPr>
          <p:nvPr>
            <p:custDataLst>
              <p:tags r:id="rId49"/>
            </p:custDataLst>
          </p:nvPr>
        </p:nvSpPr>
        <p:spPr bwMode="auto">
          <a:xfrm>
            <a:off x="9175749" y="4478338"/>
            <a:ext cx="1047750" cy="2444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4E31245-F94C-4D6A-A6C2-F6B1A5DF7C5C}" type="datetime'Total Sup''ply ''Re''qui''''rem''''''''''e''nt (F''''''Y26)'''">
              <a:rPr lang="en-US" altLang="en-US" sz="800" b="0" smtClean="0"/>
              <a:pPr lvl="1" algn="ctr">
                <a:spcBef>
                  <a:spcPct val="0"/>
                </a:spcBef>
                <a:spcAft>
                  <a:spcPct val="0"/>
                </a:spcAft>
              </a:pPr>
              <a:t>Total Supply Requirement (FY26)</a:t>
            </a:fld>
            <a:endParaRPr lang="en-IN" sz="800" b="0" noProof="0" dirty="0">
              <a:sym typeface="+mn-lt"/>
            </a:endParaRPr>
          </a:p>
        </p:txBody>
      </p:sp>
      <p:sp>
        <p:nvSpPr>
          <p:cNvPr id="607" name="StandardTextbox"/>
          <p:cNvSpPr>
            <a:spLocks noGrp="1"/>
          </p:cNvSpPr>
          <p:nvPr>
            <p:custDataLst>
              <p:tags r:id="rId50"/>
            </p:custDataLst>
          </p:nvPr>
        </p:nvSpPr>
        <p:spPr bwMode="gray">
          <a:xfrm>
            <a:off x="7389813" y="4313238"/>
            <a:ext cx="331788" cy="122238"/>
          </a:xfrm>
          <a:prstGeom prst="rect">
            <a:avLst/>
          </a:prstGeom>
          <a:solidFill>
            <a:schemeClr val="accent2"/>
          </a:solidFill>
          <a:ln>
            <a:noFill/>
          </a:ln>
        </p:spPr>
        <p:txBody>
          <a:bodyPr vert="horz" wrap="none" lIns="17463" tIns="0" rIns="17463"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E81BFD6-E4DA-4A2E-A7D6-6E7D0C27CB87}" type="datetime'''''''''''''''1,''''''''''''1''''''6''''''''''0'''''''''''">
              <a:rPr lang="en-IN" altLang="en-US" sz="800" b="0" smtClean="0">
                <a:solidFill>
                  <a:schemeClr val="bg1"/>
                </a:solidFill>
                <a:sym typeface="+mn-lt"/>
              </a:rPr>
              <a:pPr lvl="1" algn="ctr">
                <a:spcBef>
                  <a:spcPct val="0"/>
                </a:spcBef>
                <a:spcAft>
                  <a:spcPct val="0"/>
                </a:spcAft>
              </a:pPr>
              <a:t>1,160</a:t>
            </a:fld>
            <a:endParaRPr lang="en-IN" sz="800" b="0" noProof="0" dirty="0">
              <a:solidFill>
                <a:schemeClr val="bg1"/>
              </a:solidFill>
              <a:sym typeface="+mn-lt"/>
            </a:endParaRPr>
          </a:p>
        </p:txBody>
      </p:sp>
      <p:sp>
        <p:nvSpPr>
          <p:cNvPr id="564" name="StandardTextbox"/>
          <p:cNvSpPr>
            <a:spLocks noGrp="1"/>
          </p:cNvSpPr>
          <p:nvPr>
            <p:custDataLst>
              <p:tags r:id="rId51"/>
            </p:custDataLst>
          </p:nvPr>
        </p:nvSpPr>
        <p:spPr bwMode="auto">
          <a:xfrm>
            <a:off x="7078663" y="4478338"/>
            <a:ext cx="954088" cy="2444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A8D5DAE-5326-4774-97A0-DCD5772DA187}" type="datetime'To''''''''''tal Disp''atch''ab''l''e C''''a''pacit''y (FY26)'">
              <a:rPr lang="en-IN" altLang="en-US" sz="800" b="0" smtClean="0">
                <a:sym typeface="+mn-lt"/>
              </a:rPr>
              <a:pPr lvl="1" algn="ctr">
                <a:spcBef>
                  <a:spcPct val="0"/>
                </a:spcBef>
                <a:spcAft>
                  <a:spcPct val="0"/>
                </a:spcAft>
              </a:pPr>
              <a:t>Total Dispatchable Capacity (FY26)</a:t>
            </a:fld>
            <a:endParaRPr lang="en-IN" sz="800" b="0" noProof="0" dirty="0">
              <a:sym typeface="+mn-lt"/>
            </a:endParaRPr>
          </a:p>
        </p:txBody>
      </p:sp>
      <p:sp>
        <p:nvSpPr>
          <p:cNvPr id="623" name="Isosceles Triangle 622"/>
          <p:cNvSpPr/>
          <p:nvPr/>
        </p:nvSpPr>
        <p:spPr bwMode="gray">
          <a:xfrm rot="5400000">
            <a:off x="1954474" y="3546736"/>
            <a:ext cx="2209278" cy="142876"/>
          </a:xfrm>
          <a:prstGeom prst="triangle">
            <a:avLst/>
          </a:prstGeom>
          <a:solidFill>
            <a:schemeClr val="bg1">
              <a:lumMod val="9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cxnSp>
        <p:nvCxnSpPr>
          <p:cNvPr id="28" name="Straight Connector 27"/>
          <p:cNvCxnSpPr/>
          <p:nvPr/>
        </p:nvCxnSpPr>
        <p:spPr>
          <a:xfrm>
            <a:off x="6459856" y="3870325"/>
            <a:ext cx="838200" cy="0"/>
          </a:xfrm>
          <a:prstGeom prst="line">
            <a:avLst/>
          </a:prstGeom>
          <a:ln>
            <a:solidFill>
              <a:schemeClr val="tx2"/>
            </a:solidFill>
            <a:prstDash val="lgDash"/>
          </a:ln>
        </p:spPr>
        <p:style>
          <a:lnRef idx="1">
            <a:schemeClr val="accent1"/>
          </a:lnRef>
          <a:fillRef idx="0">
            <a:schemeClr val="accent1"/>
          </a:fillRef>
          <a:effectRef idx="0">
            <a:schemeClr val="accent1"/>
          </a:effectRef>
          <a:fontRef idx="minor">
            <a:schemeClr val="tx1"/>
          </a:fontRef>
        </p:style>
      </p:cxnSp>
      <p:sp>
        <p:nvSpPr>
          <p:cNvPr id="134" name="Rectangle 133"/>
          <p:cNvSpPr/>
          <p:nvPr/>
        </p:nvSpPr>
        <p:spPr bwMode="gray">
          <a:xfrm>
            <a:off x="2848876" y="7096165"/>
            <a:ext cx="7221960" cy="198857"/>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BPDB; PSMP 2016, Deloitte Analysis Note: 1) Plant Retirement Based on PSMP 2016 projections as well as estimations based on COD / dispatch</a:t>
            </a:r>
          </a:p>
        </p:txBody>
      </p:sp>
      <p:sp>
        <p:nvSpPr>
          <p:cNvPr id="58" name="Rectangle 57"/>
          <p:cNvSpPr/>
          <p:nvPr/>
        </p:nvSpPr>
        <p:spPr bwMode="gray">
          <a:xfrm>
            <a:off x="368001" y="7254331"/>
            <a:ext cx="9941523" cy="298935"/>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levels of each power plant in Bangladesh 2) For plants not covered under PSMP, an average PPA duration for 22 years has been considered for Non-Rental Plants (and an extension of 5 years for some cases beyond 22 years) and (5+5) years for Rental / Quick Rental Plants. 3) Replacement of Liquid / Rental plants has been considered as their current average tariff ranges from Tk 9 / unit – Tk 28+ / unit whereas Gas / LNG / Nuclear / Imported Coal based plants are expected to have per unit tariff at less than TK 9 / unit based on estimates </a:t>
            </a:r>
          </a:p>
        </p:txBody>
      </p:sp>
    </p:spTree>
    <p:extLst>
      <p:ext uri="{BB962C8B-B14F-4D97-AF65-F5344CB8AC3E}">
        <p14:creationId xmlns:p14="http://schemas.microsoft.com/office/powerpoint/2010/main" val="419392326"/>
      </p:ext>
    </p:extLst>
  </p:cSld>
  <p:clrMapOvr>
    <a:masterClrMapping/>
  </p:clrMapOvr>
  <p:transition>
    <p:fade/>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345679481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3" imgW="530" imgH="531" progId="TCLayout.ActiveDocument.1">
                  <p:embed/>
                </p:oleObj>
              </mc:Choice>
              <mc:Fallback>
                <p:oleObj name="think-cell Slide" r:id="rId23" imgW="530" imgH="531" progId="TCLayout.ActiveDocument.1">
                  <p:embed/>
                  <p:pic>
                    <p:nvPicPr>
                      <p:cNvPr id="3" name="Object 2" hidden="1"/>
                      <p:cNvPicPr/>
                      <p:nvPr/>
                    </p:nvPicPr>
                    <p:blipFill>
                      <a:blip r:embed="rId24"/>
                      <a:stretch>
                        <a:fillRect/>
                      </a:stretch>
                    </p:blipFill>
                    <p:spPr>
                      <a:xfrm>
                        <a:off x="1588" y="1588"/>
                        <a:ext cx="1588" cy="1588"/>
                      </a:xfrm>
                      <a:prstGeom prst="rect">
                        <a:avLst/>
                      </a:prstGeom>
                    </p:spPr>
                  </p:pic>
                </p:oleObj>
              </mc:Fallback>
            </mc:AlternateContent>
          </a:graphicData>
        </a:graphic>
      </p:graphicFrame>
      <p:sp>
        <p:nvSpPr>
          <p:cNvPr id="6" name="Rectangle 5"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4" name="Title 1"/>
          <p:cNvSpPr>
            <a:spLocks noGrp="1"/>
          </p:cNvSpPr>
          <p:nvPr>
            <p:ph type="title"/>
          </p:nvPr>
        </p:nvSpPr>
        <p:spPr>
          <a:xfrm>
            <a:off x="442913" y="654050"/>
            <a:ext cx="9791700" cy="431800"/>
          </a:xfrm>
        </p:spPr>
        <p:txBody>
          <a:bodyPr/>
          <a:lstStyle/>
          <a:p>
            <a:r>
              <a:rPr lang="en-US" dirty="0"/>
              <a:t>Power Market | Supply Requirement to Meet Average Demand (FY26)</a:t>
            </a:r>
            <a:endParaRPr lang="en-IN" dirty="0"/>
          </a:p>
        </p:txBody>
      </p:sp>
      <p:sp>
        <p:nvSpPr>
          <p:cNvPr id="5" name="Strapline"/>
          <p:cNvSpPr txBox="1">
            <a:spLocks/>
          </p:cNvSpPr>
          <p:nvPr/>
        </p:nvSpPr>
        <p:spPr>
          <a:xfrm>
            <a:off x="442912" y="1085850"/>
            <a:ext cx="9793288" cy="519113"/>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0">
              <a:defRPr/>
            </a:pPr>
            <a:r>
              <a:rPr lang="en-US" sz="1400" dirty="0">
                <a:solidFill>
                  <a:prstClr val="black">
                    <a:lumMod val="50000"/>
                    <a:lumOff val="50000"/>
                  </a:prstClr>
                </a:solidFill>
                <a:latin typeface="Verdana" panose="020B0604030504040204" pitchFamily="34" charset="0"/>
              </a:rPr>
              <a:t>Considering the presence of inefficient gas based power plants till FY26 in the overall supply portfolio, there may be an additional requirement of ~700 MW to meet average demand taking total additional capacity required to ~11,500 MW by FY26</a:t>
            </a:r>
            <a:endParaRPr lang="en-GB" sz="1400" dirty="0">
              <a:solidFill>
                <a:prstClr val="black">
                  <a:lumMod val="50000"/>
                  <a:lumOff val="50000"/>
                </a:prstClr>
              </a:solidFill>
              <a:latin typeface="Verdana" panose="020B0604030504040204" pitchFamily="34" charset="0"/>
            </a:endParaRPr>
          </a:p>
        </p:txBody>
      </p:sp>
      <p:sp>
        <p:nvSpPr>
          <p:cNvPr id="134" name="Rectangle 133"/>
          <p:cNvSpPr/>
          <p:nvPr/>
        </p:nvSpPr>
        <p:spPr bwMode="gray">
          <a:xfrm>
            <a:off x="352512" y="7252501"/>
            <a:ext cx="9941523" cy="298935"/>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BPDB; PSMP 2016, Deloitte Analysis Note: 1) For plants with low efficiency &amp; dispatch, we have considered those plants which are expected to be operational beyond FY26; The installed capacity, efficiencies and dispatch levels have been considered as per FY19 levels 2) For the purpose of the analysis, the dispatch levels of these inefficient plants have been considered to run at maximum 40% PLF annually 3) Total </a:t>
            </a:r>
            <a:r>
              <a:rPr lang="en-US" sz="700" i="1" dirty="0" err="1">
                <a:solidFill>
                  <a:prstClr val="black"/>
                </a:solidFill>
              </a:rPr>
              <a:t>Disapatchable</a:t>
            </a:r>
            <a:r>
              <a:rPr lang="en-US" sz="700" i="1" dirty="0">
                <a:solidFill>
                  <a:prstClr val="black"/>
                </a:solidFill>
              </a:rPr>
              <a:t> Capacity is as per expected retirement / replacement of liquid &amp; rental plants as mentioned in preceding slides </a:t>
            </a:r>
          </a:p>
        </p:txBody>
      </p:sp>
      <p:graphicFrame>
        <p:nvGraphicFramePr>
          <p:cNvPr id="57" name="Table 56"/>
          <p:cNvGraphicFramePr>
            <a:graphicFrameLocks noGrp="1"/>
          </p:cNvGraphicFramePr>
          <p:nvPr>
            <p:custDataLst>
              <p:tags r:id="rId3"/>
            </p:custDataLst>
            <p:extLst>
              <p:ext uri="{D42A27DB-BD31-4B8C-83A1-F6EECF244321}">
                <p14:modId xmlns:p14="http://schemas.microsoft.com/office/powerpoint/2010/main" val="3613973154"/>
              </p:ext>
            </p:extLst>
          </p:nvPr>
        </p:nvGraphicFramePr>
        <p:xfrm>
          <a:off x="5518150" y="1968502"/>
          <a:ext cx="4732338" cy="3354118"/>
        </p:xfrm>
        <a:graphic>
          <a:graphicData uri="http://schemas.openxmlformats.org/drawingml/2006/table">
            <a:tbl>
              <a:tblPr firstRow="1" bandRow="1">
                <a:tableStyleId>{5C22544A-7EE6-4342-B048-85BDC9FD1C3A}</a:tableStyleId>
              </a:tblPr>
              <a:tblGrid>
                <a:gridCol w="4732338">
                  <a:extLst>
                    <a:ext uri="{9D8B030D-6E8A-4147-A177-3AD203B41FA5}">
                      <a16:colId xmlns:a16="http://schemas.microsoft.com/office/drawing/2014/main" val="20000"/>
                    </a:ext>
                  </a:extLst>
                </a:gridCol>
              </a:tblGrid>
              <a:tr h="3110397">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figure shows the additional requirement of supply capacity (MW) by FY26 considering presence of inefficient power plants in the system:</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figure shows the Total Additional Capacity required to meet average demand (MW) till FY26:</a:t>
                      </a:r>
                    </a:p>
                    <a:p>
                      <a:pPr marL="171450" lvl="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58" name="Table 57"/>
          <p:cNvGraphicFramePr>
            <a:graphicFrameLocks noGrp="1"/>
          </p:cNvGraphicFramePr>
          <p:nvPr>
            <p:custDataLst>
              <p:tags r:id="rId4"/>
            </p:custDataLst>
            <p:extLst>
              <p:ext uri="{D42A27DB-BD31-4B8C-83A1-F6EECF244321}">
                <p14:modId xmlns:p14="http://schemas.microsoft.com/office/powerpoint/2010/main" val="3448374061"/>
              </p:ext>
            </p:extLst>
          </p:nvPr>
        </p:nvGraphicFramePr>
        <p:xfrm>
          <a:off x="442913" y="1968501"/>
          <a:ext cx="4735513" cy="4814618"/>
        </p:xfrm>
        <a:graphic>
          <a:graphicData uri="http://schemas.openxmlformats.org/drawingml/2006/table">
            <a:tbl>
              <a:tblPr firstRow="1" bandRow="1">
                <a:tableStyleId>{5C22544A-7EE6-4342-B048-85BDC9FD1C3A}</a:tableStyleId>
              </a:tblPr>
              <a:tblGrid>
                <a:gridCol w="4735513">
                  <a:extLst>
                    <a:ext uri="{9D8B030D-6E8A-4147-A177-3AD203B41FA5}">
                      <a16:colId xmlns:a16="http://schemas.microsoft.com/office/drawing/2014/main" val="20000"/>
                    </a:ext>
                  </a:extLst>
                </a:gridCol>
              </a:tblGrid>
              <a:tr h="4773126">
                <a:tc>
                  <a:txBody>
                    <a:bodyPr/>
                    <a:lstStyle/>
                    <a:p>
                      <a:pPr marL="0" indent="0" algn="just">
                        <a:spcAft>
                          <a:spcPts val="500"/>
                        </a:spcAft>
                        <a:buFont typeface="Arial" panose="020B0604020202020204" pitchFamily="34" charset="0"/>
                        <a:buNone/>
                      </a:pPr>
                      <a:r>
                        <a:rPr lang="en-US" sz="1000" b="1" baseline="0" dirty="0">
                          <a:solidFill>
                            <a:schemeClr val="tx1"/>
                          </a:solidFill>
                        </a:rPr>
                        <a:t>Low Dispatchability of Inefficient Gas Plants requiring additional capacity to meet Average Demand</a:t>
                      </a:r>
                      <a:endParaRPr lang="en-US" sz="1000" b="0" baseline="0" dirty="0">
                        <a:solidFill>
                          <a:schemeClr val="tx1"/>
                        </a:solidFill>
                      </a:endParaRPr>
                    </a:p>
                    <a:p>
                      <a:pPr marL="171450" indent="-171450" algn="just">
                        <a:spcAft>
                          <a:spcPts val="500"/>
                        </a:spcAft>
                        <a:buFont typeface="Arial" panose="020B0604020202020204" pitchFamily="34" charset="0"/>
                        <a:buChar char="•"/>
                      </a:pPr>
                      <a:r>
                        <a:rPr lang="en-US" sz="1000" b="0" baseline="0" dirty="0">
                          <a:solidFill>
                            <a:schemeClr val="tx1"/>
                          </a:solidFill>
                        </a:rPr>
                        <a:t>As projected earlier, ~6,778 MW of dispatchable gas based capacity is expected to be present in the Bangladesh Supply Portfolio</a:t>
                      </a:r>
                    </a:p>
                    <a:p>
                      <a:pPr marL="171450" indent="-171450" algn="just">
                        <a:spcAft>
                          <a:spcPts val="500"/>
                        </a:spcAft>
                        <a:buFont typeface="Arial" panose="020B0604020202020204" pitchFamily="34" charset="0"/>
                        <a:buChar char="•"/>
                      </a:pPr>
                      <a:r>
                        <a:rPr lang="en-US" sz="1000" b="0" baseline="0" dirty="0">
                          <a:solidFill>
                            <a:schemeClr val="tx1"/>
                          </a:solidFill>
                        </a:rPr>
                        <a:t>However out of them, ~1,120 MW of Power Plants would continue to be part of the system with lower efficiency (&lt;=35%) and also low dispatch (&lt;-40%)</a:t>
                      </a:r>
                    </a:p>
                    <a:p>
                      <a:pPr marL="171450" indent="-171450" algn="just">
                        <a:spcAft>
                          <a:spcPts val="500"/>
                        </a:spcAft>
                        <a:buFont typeface="Arial" panose="020B0604020202020204" pitchFamily="34" charset="0"/>
                        <a:buChar char="•"/>
                      </a:pPr>
                      <a:r>
                        <a:rPr lang="en-US" sz="1000" b="0" baseline="0" dirty="0">
                          <a:solidFill>
                            <a:schemeClr val="tx1"/>
                          </a:solidFill>
                        </a:rPr>
                        <a:t>These plants may need additional support to meet the average demand required by FY26</a:t>
                      </a:r>
                    </a:p>
                    <a:p>
                      <a:pPr marL="171450" indent="-171450" algn="just">
                        <a:spcAft>
                          <a:spcPts val="500"/>
                        </a:spcAft>
                        <a:buFont typeface="Arial" panose="020B0604020202020204" pitchFamily="34" charset="0"/>
                        <a:buChar char="•"/>
                      </a:pPr>
                      <a:r>
                        <a:rPr lang="en-US" sz="1000" b="0" baseline="0" dirty="0">
                          <a:solidFill>
                            <a:schemeClr val="tx1"/>
                          </a:solidFill>
                        </a:rPr>
                        <a:t>Thus, we have considered an additional requirement of ~672 MW of plants to be able to meet the demand shortfall due to these lower &amp; inefficient plants</a:t>
                      </a: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1" baseline="0" dirty="0">
                        <a:solidFill>
                          <a:schemeClr val="tx1"/>
                        </a:solidFill>
                      </a:endParaRPr>
                    </a:p>
                    <a:p>
                      <a:pPr marL="0" indent="0" algn="just">
                        <a:spcAft>
                          <a:spcPts val="500"/>
                        </a:spcAft>
                        <a:buFont typeface="Arial" panose="020B0604020202020204" pitchFamily="34" charset="0"/>
                        <a:buNone/>
                      </a:pPr>
                      <a:r>
                        <a:rPr lang="en-US" sz="1000" b="1" baseline="0" dirty="0">
                          <a:solidFill>
                            <a:schemeClr val="tx1"/>
                          </a:solidFill>
                        </a:rPr>
                        <a:t>Total Additional Capacity Required by FY26 to meet Average demand </a:t>
                      </a:r>
                    </a:p>
                    <a:p>
                      <a:pPr marL="171450" indent="-171450" algn="just">
                        <a:spcAft>
                          <a:spcPts val="500"/>
                        </a:spcAft>
                        <a:buFont typeface="Arial" panose="020B0604020202020204" pitchFamily="34" charset="0"/>
                        <a:buChar char="•"/>
                      </a:pPr>
                      <a:r>
                        <a:rPr lang="en-US" sz="1000" b="0" baseline="0" dirty="0">
                          <a:solidFill>
                            <a:schemeClr val="tx1"/>
                          </a:solidFill>
                        </a:rPr>
                        <a:t>As projected earlier, Bangladesh requires ~10,870 MW of additional low cost fuel based supply (Gas / LNG / Imported Coal / Nuclear among others)</a:t>
                      </a:r>
                    </a:p>
                    <a:p>
                      <a:pPr marL="171450" indent="-171450" algn="just">
                        <a:spcAft>
                          <a:spcPts val="500"/>
                        </a:spcAft>
                        <a:buFont typeface="Arial" panose="020B0604020202020204" pitchFamily="34" charset="0"/>
                        <a:buChar char="•"/>
                      </a:pPr>
                      <a:r>
                        <a:rPr lang="en-US" sz="1000" b="0" baseline="0" dirty="0">
                          <a:solidFill>
                            <a:schemeClr val="tx1"/>
                          </a:solidFill>
                        </a:rPr>
                        <a:t>However considering the presence of inefficient plants an additional ~700 MW may be required</a:t>
                      </a:r>
                    </a:p>
                    <a:p>
                      <a:pPr marL="171450" indent="-171450" algn="just">
                        <a:spcAft>
                          <a:spcPts val="500"/>
                        </a:spcAft>
                        <a:buFont typeface="Arial" panose="020B0604020202020204" pitchFamily="34" charset="0"/>
                        <a:buChar char="•"/>
                      </a:pPr>
                      <a:r>
                        <a:rPr lang="en-US" sz="1000" b="0" baseline="0" dirty="0">
                          <a:solidFill>
                            <a:schemeClr val="tx1"/>
                          </a:solidFill>
                        </a:rPr>
                        <a:t>Thus the total additional capacity required to meet support the average demand by FY26 may increase to ~11,500 MW from 10,870 MW projected earlier</a:t>
                      </a:r>
                    </a:p>
                    <a:p>
                      <a:pPr marL="171450" indent="-171450" algn="just">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cxnSp>
        <p:nvCxnSpPr>
          <p:cNvPr id="35" name="Straight Connector 34"/>
          <p:cNvCxnSpPr/>
          <p:nvPr>
            <p:custDataLst>
              <p:tags r:id="rId5"/>
            </p:custDataLst>
          </p:nvPr>
        </p:nvCxnSpPr>
        <p:spPr bwMode="auto">
          <a:xfrm>
            <a:off x="8793163" y="5267325"/>
            <a:ext cx="523875"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custDataLst>
              <p:tags r:id="rId6"/>
            </p:custDataLst>
          </p:nvPr>
        </p:nvCxnSpPr>
        <p:spPr bwMode="auto">
          <a:xfrm>
            <a:off x="7615238" y="6003925"/>
            <a:ext cx="522288"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custDataLst>
              <p:tags r:id="rId7"/>
            </p:custDataLst>
          </p:nvPr>
        </p:nvCxnSpPr>
        <p:spPr bwMode="auto">
          <a:xfrm>
            <a:off x="6435725" y="5961063"/>
            <a:ext cx="523875"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383" name="Chart 382"/>
          <p:cNvGraphicFramePr/>
          <p:nvPr>
            <p:custDataLst>
              <p:tags r:id="rId8"/>
            </p:custDataLst>
            <p:extLst>
              <p:ext uri="{D42A27DB-BD31-4B8C-83A1-F6EECF244321}">
                <p14:modId xmlns:p14="http://schemas.microsoft.com/office/powerpoint/2010/main" val="2136310671"/>
              </p:ext>
            </p:extLst>
          </p:nvPr>
        </p:nvGraphicFramePr>
        <p:xfrm>
          <a:off x="5435600" y="5097463"/>
          <a:ext cx="4881563" cy="1501775"/>
        </p:xfrm>
        <a:graphic>
          <a:graphicData uri="http://schemas.openxmlformats.org/drawingml/2006/chart">
            <c:chart xmlns:c="http://schemas.openxmlformats.org/drawingml/2006/chart" xmlns:r="http://schemas.openxmlformats.org/officeDocument/2006/relationships" r:id="rId25"/>
          </a:graphicData>
        </a:graphic>
      </p:graphicFrame>
      <p:sp>
        <p:nvSpPr>
          <p:cNvPr id="62" name="StandardTextbox"/>
          <p:cNvSpPr>
            <a:spLocks noGrp="1"/>
          </p:cNvSpPr>
          <p:nvPr>
            <p:custDataLst>
              <p:tags r:id="rId9"/>
            </p:custDataLst>
          </p:nvPr>
        </p:nvSpPr>
        <p:spPr bwMode="auto">
          <a:xfrm>
            <a:off x="5630863" y="6583363"/>
            <a:ext cx="954088" cy="2444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0793A6C8-B052-4613-9BB6-E86058F5E297}" type="datetime'Tot''a''''l'''''' Disp''atchabl''e Cap''acity'' ''''(FY''26)'">
              <a:rPr lang="en-US" altLang="en-US" sz="800" b="0" smtClean="0"/>
              <a:pPr lvl="1" algn="ctr">
                <a:spcBef>
                  <a:spcPct val="0"/>
                </a:spcBef>
                <a:spcAft>
                  <a:spcPct val="0"/>
                </a:spcAft>
              </a:pPr>
              <a:t>Total Dispatchable Capacity (FY26)</a:t>
            </a:fld>
            <a:endParaRPr lang="en-IN" sz="800" b="0" noProof="0" dirty="0">
              <a:sym typeface="+mn-lt"/>
            </a:endParaRPr>
          </a:p>
        </p:txBody>
      </p:sp>
      <p:sp>
        <p:nvSpPr>
          <p:cNvPr id="242" name="StandardTextbox"/>
          <p:cNvSpPr>
            <a:spLocks noGrp="1"/>
          </p:cNvSpPr>
          <p:nvPr>
            <p:custDataLst>
              <p:tags r:id="rId10"/>
            </p:custDataLst>
          </p:nvPr>
        </p:nvSpPr>
        <p:spPr bwMode="auto">
          <a:xfrm>
            <a:off x="7937500" y="6583363"/>
            <a:ext cx="1054100" cy="48895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07556BC-AF26-464A-8F71-6038CA072162}" type="thinkcell&lt;?xml version=&quot;1.0&quot; encoding=&quot;UTF-16&quot; standalone=&quot;yes&quot;?&gt;&lt;root reqver=&quot;25060&quot;&gt;&lt;version val=&quot;28278&quot;/&gt;&lt;PersistentType&gt;&lt;m_guid val=&quot;f221393f-49ec-467e-9aaf-10e085d23d59&quot;/&gt;&lt;m_prec&gt;&lt;m_yearfmt&gt;&lt;begin val=&quot;0&quot;/&gt;&lt;end val=&quot;4&quot;/&gt;&lt;/m_yearfmt&gt;&lt;/m_prec&gt;&lt;/PersistentType&gt;&lt;/root&gt;">
              <a:rPr lang="en-US" altLang="en-US" sz="800" smtClean="0"/>
              <a:pPr lvl="1" algn="ctr">
                <a:spcBef>
                  <a:spcPct val="0"/>
                </a:spcBef>
                <a:spcAft>
                  <a:spcPct val="0"/>
                </a:spcAft>
              </a:pPr>
              <a:t>Additional Capacity Required to meet Average Demand in FY26</a:t>
            </a:fld>
            <a:endParaRPr lang="en-IN" sz="800" noProof="0" dirty="0">
              <a:sym typeface="+mn-lt"/>
            </a:endParaRPr>
          </a:p>
        </p:txBody>
      </p:sp>
      <p:sp>
        <p:nvSpPr>
          <p:cNvPr id="202" name="StandardTextbox"/>
          <p:cNvSpPr>
            <a:spLocks noGrp="1"/>
          </p:cNvSpPr>
          <p:nvPr>
            <p:custDataLst>
              <p:tags r:id="rId11"/>
            </p:custDataLst>
          </p:nvPr>
        </p:nvSpPr>
        <p:spPr bwMode="auto">
          <a:xfrm>
            <a:off x="9174163" y="6583363"/>
            <a:ext cx="941388" cy="48895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03578B9-38E2-4615-BE74-5887A5FF5975}" type="thinkcell&lt;?xml version=&quot;1.0&quot; encoding=&quot;UTF-16&quot; standalone=&quot;yes&quot;?&gt;&lt;root reqver=&quot;25060&quot;&gt;&lt;version val=&quot;28278&quot;/&gt;&lt;PersistentType&gt;&lt;m_guid val=&quot;f0b3d0fe-2a8e-4304-9a5e-eaacab15f3f7&quot;/&gt;&lt;m_prec&gt;&lt;m_yearfmt&gt;&lt;begin val=&quot;0&quot;/&gt;&lt;end val=&quot;4&quot;/&gt;&lt;/m_yearfmt&gt;&lt;/m_prec&gt;&lt;/PersistentType&gt;&lt;/root&gt;">
              <a:rPr lang="en-US" altLang="en-US" sz="800" b="0" smtClean="0"/>
              <a:pPr lvl="1" algn="ctr">
                <a:spcBef>
                  <a:spcPct val="0"/>
                </a:spcBef>
                <a:spcAft>
                  <a:spcPct val="0"/>
                </a:spcAft>
              </a:pPr>
              <a:t>Total Supply Capacity Required to Meet Average Demand in FY26</a:t>
            </a:fld>
            <a:endParaRPr lang="en-IN" sz="800" b="0" noProof="0" dirty="0">
              <a:sym typeface="+mn-lt"/>
            </a:endParaRPr>
          </a:p>
        </p:txBody>
      </p:sp>
      <p:sp>
        <p:nvSpPr>
          <p:cNvPr id="304" name="StandardTextbox"/>
          <p:cNvSpPr>
            <a:spLocks noGrp="1"/>
          </p:cNvSpPr>
          <p:nvPr>
            <p:custDataLst>
              <p:tags r:id="rId12"/>
            </p:custDataLst>
          </p:nvPr>
        </p:nvSpPr>
        <p:spPr bwMode="auto">
          <a:xfrm>
            <a:off x="6783388" y="6583364"/>
            <a:ext cx="1008063" cy="36671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E06061A-7E54-4D58-A12F-44DF97B7486A}" type="datetime'Fall in Dis''patchable Capacity due to inef''''ficient plants'">
              <a:rPr lang="en-US" altLang="en-US" sz="800" b="0" smtClean="0"/>
              <a:pPr lvl="1" algn="ctr">
                <a:spcBef>
                  <a:spcPct val="0"/>
                </a:spcBef>
                <a:spcAft>
                  <a:spcPct val="0"/>
                </a:spcAft>
              </a:pPr>
              <a:t>Fall in Dispatchable Capacity due to inefficient plants</a:t>
            </a:fld>
            <a:endParaRPr lang="en-IN" sz="800" b="0" noProof="0" dirty="0">
              <a:sym typeface="+mn-lt"/>
            </a:endParaRPr>
          </a:p>
        </p:txBody>
      </p:sp>
      <p:sp>
        <p:nvSpPr>
          <p:cNvPr id="307" name="StandardTextbox"/>
          <p:cNvSpPr>
            <a:spLocks noGrp="1"/>
          </p:cNvSpPr>
          <p:nvPr>
            <p:custDataLst>
              <p:tags r:id="rId13"/>
            </p:custDataLst>
          </p:nvPr>
        </p:nvSpPr>
        <p:spPr bwMode="gray">
          <a:xfrm>
            <a:off x="7172325" y="5921375"/>
            <a:ext cx="230188" cy="122238"/>
          </a:xfrm>
          <a:prstGeom prst="rect">
            <a:avLst/>
          </a:prstGeom>
          <a:solidFill>
            <a:schemeClr val="accent4"/>
          </a:solidFill>
          <a:ln>
            <a:noFill/>
          </a:ln>
        </p:spPr>
        <p:txBody>
          <a:bodyPr vert="horz" wrap="none" lIns="17463" tIns="0" rIns="17463"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05A0A1FB-FD0F-4ED3-8F5C-BAD0FA336FBA}" type="datetime'''''''''6''''''''''''7''''''2'">
              <a:rPr lang="en-IN" altLang="en-US" sz="800" b="0" smtClean="0">
                <a:solidFill>
                  <a:schemeClr val="bg1"/>
                </a:solidFill>
              </a:rPr>
              <a:pPr lvl="1" algn="ctr">
                <a:spcBef>
                  <a:spcPct val="0"/>
                </a:spcBef>
                <a:spcAft>
                  <a:spcPct val="0"/>
                </a:spcAft>
              </a:pPr>
              <a:t>672</a:t>
            </a:fld>
            <a:endParaRPr lang="en-IN" sz="800" b="0" noProof="0" dirty="0">
              <a:solidFill>
                <a:schemeClr val="bg1"/>
              </a:solidFill>
              <a:sym typeface="+mn-lt"/>
            </a:endParaRPr>
          </a:p>
        </p:txBody>
      </p:sp>
      <p:graphicFrame>
        <p:nvGraphicFramePr>
          <p:cNvPr id="376" name="Chart 375"/>
          <p:cNvGraphicFramePr/>
          <p:nvPr>
            <p:custDataLst>
              <p:tags r:id="rId14"/>
            </p:custDataLst>
            <p:extLst>
              <p:ext uri="{D42A27DB-BD31-4B8C-83A1-F6EECF244321}">
                <p14:modId xmlns:p14="http://schemas.microsoft.com/office/powerpoint/2010/main" val="3910592705"/>
              </p:ext>
            </p:extLst>
          </p:nvPr>
        </p:nvGraphicFramePr>
        <p:xfrm>
          <a:off x="4933950" y="2859088"/>
          <a:ext cx="2222500" cy="1181100"/>
        </p:xfrm>
        <a:graphic>
          <a:graphicData uri="http://schemas.openxmlformats.org/drawingml/2006/chart">
            <c:chart xmlns:c="http://schemas.openxmlformats.org/drawingml/2006/chart" xmlns:r="http://schemas.openxmlformats.org/officeDocument/2006/relationships" r:id="rId26"/>
          </a:graphicData>
        </a:graphic>
      </p:graphicFrame>
      <p:sp>
        <p:nvSpPr>
          <p:cNvPr id="129" name="StandardTextbox"/>
          <p:cNvSpPr>
            <a:spLocks noGrp="1"/>
          </p:cNvSpPr>
          <p:nvPr>
            <p:custDataLst>
              <p:tags r:id="rId15"/>
            </p:custDataLst>
          </p:nvPr>
        </p:nvSpPr>
        <p:spPr bwMode="auto">
          <a:xfrm>
            <a:off x="5578475" y="4024313"/>
            <a:ext cx="935038" cy="36671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71825124-6331-418B-A440-B90A59AE0088}" type="datetime'Ga''s Plant''s ''with effici''ency &lt;=''35% and PLF'' &lt;=40''%'">
              <a:rPr lang="en-US" altLang="en-US" sz="800" b="0" smtClean="0">
                <a:sym typeface="+mn-lt"/>
              </a:rPr>
              <a:pPr lvl="1" algn="ctr">
                <a:spcBef>
                  <a:spcPct val="0"/>
                </a:spcBef>
                <a:spcAft>
                  <a:spcPct val="0"/>
                </a:spcAft>
              </a:pPr>
              <a:t>Gas Plants with efficiency &lt;=35% and PLF &lt;=40%</a:t>
            </a:fld>
            <a:endParaRPr lang="en-IN" sz="800" b="0" noProof="0" dirty="0">
              <a:sym typeface="+mn-lt"/>
            </a:endParaRPr>
          </a:p>
        </p:txBody>
      </p:sp>
      <p:sp>
        <p:nvSpPr>
          <p:cNvPr id="184" name="Isosceles Triangle 183"/>
          <p:cNvSpPr/>
          <p:nvPr/>
        </p:nvSpPr>
        <p:spPr bwMode="gray">
          <a:xfrm rot="5400000">
            <a:off x="6069806" y="3446290"/>
            <a:ext cx="1427163" cy="162268"/>
          </a:xfrm>
          <a:prstGeom prst="triangle">
            <a:avLst/>
          </a:prstGeom>
          <a:solidFill>
            <a:schemeClr val="bg1">
              <a:lumMod val="8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85" name="Rectangle 184"/>
          <p:cNvSpPr/>
          <p:nvPr/>
        </p:nvSpPr>
        <p:spPr bwMode="gray">
          <a:xfrm>
            <a:off x="6369050" y="2497138"/>
            <a:ext cx="3014663" cy="323850"/>
          </a:xfrm>
          <a:prstGeom prst="rect">
            <a:avLst/>
          </a:prstGeom>
          <a:no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800" b="1" i="1" u="none" strike="noStrike" kern="1200" cap="none" spc="0" normalizeH="0" baseline="0" noProof="0" dirty="0">
                <a:ln>
                  <a:noFill/>
                </a:ln>
                <a:solidFill>
                  <a:prstClr val="black"/>
                </a:solidFill>
                <a:effectLst/>
                <a:uLnTx/>
                <a:uFillTx/>
                <a:latin typeface="Verdana"/>
                <a:ea typeface="+mn-ea"/>
                <a:cs typeface="+mn-cs"/>
              </a:rPr>
              <a:t>Gas Plants Operational till FY26 = 6,778</a:t>
            </a:r>
            <a:r>
              <a:rPr kumimoji="0" lang="en-US" sz="800" b="1" i="1" u="none" strike="noStrike" kern="1200" cap="none" spc="0" normalizeH="0" noProof="0" dirty="0">
                <a:ln>
                  <a:noFill/>
                </a:ln>
                <a:solidFill>
                  <a:prstClr val="black"/>
                </a:solidFill>
                <a:effectLst/>
                <a:uLnTx/>
                <a:uFillTx/>
                <a:latin typeface="Verdana"/>
                <a:ea typeface="+mn-ea"/>
                <a:cs typeface="+mn-cs"/>
              </a:rPr>
              <a:t> MW</a:t>
            </a:r>
            <a:endParaRPr kumimoji="0" lang="en-IN" sz="800" b="1" i="1" u="none" strike="noStrike" kern="1200" cap="none" spc="0" normalizeH="0" baseline="0" noProof="0" dirty="0">
              <a:ln>
                <a:noFill/>
              </a:ln>
              <a:solidFill>
                <a:prstClr val="black"/>
              </a:solidFill>
              <a:effectLst/>
              <a:uLnTx/>
              <a:uFillTx/>
              <a:latin typeface="Verdana"/>
              <a:ea typeface="+mn-ea"/>
              <a:cs typeface="+mn-cs"/>
            </a:endParaRPr>
          </a:p>
        </p:txBody>
      </p:sp>
      <p:sp>
        <p:nvSpPr>
          <p:cNvPr id="23" name="Rectangle 22"/>
          <p:cNvSpPr/>
          <p:nvPr/>
        </p:nvSpPr>
        <p:spPr bwMode="gray">
          <a:xfrm>
            <a:off x="7835900" y="5132567"/>
            <a:ext cx="1257300" cy="1996937"/>
          </a:xfrm>
          <a:prstGeom prst="rect">
            <a:avLst/>
          </a:prstGeom>
          <a:noFill/>
          <a:ln>
            <a:solidFill>
              <a:srgbClr val="C00000"/>
            </a:solidFill>
            <a:prstDash val="dashDot"/>
            <a:headEnd/>
            <a:tailEnd/>
          </a:ln>
        </p:spPr>
        <p:style>
          <a:lnRef idx="2">
            <a:schemeClr val="accent6"/>
          </a:lnRef>
          <a:fillRef idx="1">
            <a:schemeClr val="lt1"/>
          </a:fillRef>
          <a:effectRef idx="0">
            <a:schemeClr val="accent6"/>
          </a:effectRef>
          <a:fontRef idx="minor">
            <a:schemeClr val="dk1"/>
          </a:fontRef>
        </p:style>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cxnSp>
        <p:nvCxnSpPr>
          <p:cNvPr id="51" name="Straight Connector 50"/>
          <p:cNvCxnSpPr/>
          <p:nvPr>
            <p:custDataLst>
              <p:tags r:id="rId16"/>
            </p:custDataLst>
          </p:nvPr>
        </p:nvCxnSpPr>
        <p:spPr bwMode="auto">
          <a:xfrm>
            <a:off x="7785100" y="3586163"/>
            <a:ext cx="4889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custDataLst>
              <p:tags r:id="rId17"/>
            </p:custDataLst>
          </p:nvPr>
        </p:nvCxnSpPr>
        <p:spPr bwMode="auto">
          <a:xfrm>
            <a:off x="8888412" y="3028950"/>
            <a:ext cx="4889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385" name="Chart 384"/>
          <p:cNvGraphicFramePr/>
          <p:nvPr>
            <p:custDataLst>
              <p:tags r:id="rId18"/>
            </p:custDataLst>
            <p:extLst>
              <p:ext uri="{D42A27DB-BD31-4B8C-83A1-F6EECF244321}">
                <p14:modId xmlns:p14="http://schemas.microsoft.com/office/powerpoint/2010/main" val="1774765334"/>
              </p:ext>
            </p:extLst>
          </p:nvPr>
        </p:nvGraphicFramePr>
        <p:xfrm>
          <a:off x="6845300" y="2859088"/>
          <a:ext cx="3471863" cy="1181100"/>
        </p:xfrm>
        <a:graphic>
          <a:graphicData uri="http://schemas.openxmlformats.org/drawingml/2006/chart">
            <c:chart xmlns:c="http://schemas.openxmlformats.org/drawingml/2006/chart" xmlns:r="http://schemas.openxmlformats.org/officeDocument/2006/relationships" r:id="rId27"/>
          </a:graphicData>
        </a:graphic>
      </p:graphicFrame>
      <p:sp>
        <p:nvSpPr>
          <p:cNvPr id="323" name="StandardTextbox"/>
          <p:cNvSpPr>
            <a:spLocks noGrp="1"/>
          </p:cNvSpPr>
          <p:nvPr>
            <p:custDataLst>
              <p:tags r:id="rId19"/>
            </p:custDataLst>
          </p:nvPr>
        </p:nvSpPr>
        <p:spPr bwMode="auto">
          <a:xfrm>
            <a:off x="7032625" y="4024313"/>
            <a:ext cx="892175" cy="36671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8C557E21-C6D9-4D9C-B326-054DE5D84481}" type="datetime'E''s''timate''d dispatch'''' capacity ''''(a''t ''40''% PLF)'">
              <a:rPr lang="en-US" altLang="en-US" sz="800" b="0" smtClean="0"/>
              <a:pPr lvl="1" algn="ctr">
                <a:spcBef>
                  <a:spcPct val="0"/>
                </a:spcBef>
                <a:spcAft>
                  <a:spcPct val="0"/>
                </a:spcAft>
              </a:pPr>
              <a:t>Estimated dispatch capacity (at 40% PLF)</a:t>
            </a:fld>
            <a:endParaRPr lang="en-IN" sz="800" b="0" noProof="0" dirty="0">
              <a:sym typeface="+mn-lt"/>
            </a:endParaRPr>
          </a:p>
        </p:txBody>
      </p:sp>
      <p:sp>
        <p:nvSpPr>
          <p:cNvPr id="324" name="StandardTextbox"/>
          <p:cNvSpPr>
            <a:spLocks noGrp="1"/>
          </p:cNvSpPr>
          <p:nvPr>
            <p:custDataLst>
              <p:tags r:id="rId20"/>
            </p:custDataLst>
          </p:nvPr>
        </p:nvSpPr>
        <p:spPr bwMode="auto">
          <a:xfrm>
            <a:off x="8097838" y="4024313"/>
            <a:ext cx="966788" cy="48895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2F4C7F7-6140-4D6A-BE9D-878C8EACD1ED}" type="thinkcell&lt;?xml version=&quot;1.0&quot; encoding=&quot;UTF-16&quot; standalone=&quot;yes&quot;?&gt;&lt;root reqver=&quot;25060&quot;&gt;&lt;version val=&quot;28278&quot;/&gt;&lt;PersistentType&gt;&lt;m_guid val=&quot;95ad4a08-9a3a-493e-9495-d0c00b70b8df&quot;/&gt;&lt;m_prec&gt;&lt;m_yearfmt&gt;&lt;begin val=&quot;0&quot;/&gt;&lt;end val=&quot;4&quot;/&gt;&lt;/m_yearfmt&gt;&lt;/m_prec&gt;&lt;/PersistentType&gt;&lt;/root&gt;">
              <a:rPr lang="en-US" altLang="en-US" sz="800" b="0" smtClean="0"/>
              <a:pPr lvl="1" algn="ctr">
                <a:spcBef>
                  <a:spcPct val="0"/>
                </a:spcBef>
                <a:spcAft>
                  <a:spcPct val="0"/>
                </a:spcAft>
              </a:pPr>
              <a:t>Requirement of additional capacity to compensate low dispatch</a:t>
            </a:fld>
            <a:endParaRPr lang="en-IN" sz="800" b="0" noProof="0" dirty="0">
              <a:sym typeface="+mn-lt"/>
            </a:endParaRPr>
          </a:p>
        </p:txBody>
      </p:sp>
      <p:sp>
        <p:nvSpPr>
          <p:cNvPr id="353" name="StandardTextbox"/>
          <p:cNvSpPr>
            <a:spLocks noGrp="1"/>
          </p:cNvSpPr>
          <p:nvPr>
            <p:custDataLst>
              <p:tags r:id="rId21"/>
            </p:custDataLst>
          </p:nvPr>
        </p:nvSpPr>
        <p:spPr bwMode="auto">
          <a:xfrm>
            <a:off x="9150350" y="4024314"/>
            <a:ext cx="1066800" cy="36671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7DB1CFC-452B-4AE4-BF5E-72CE6A74D2B8}" type="datetime'Total Capacity'' of Plants with Low effici''ency &amp; dispatch'''">
              <a:rPr lang="en-US" altLang="en-US" sz="800" b="0" smtClean="0">
                <a:sym typeface="+mn-lt"/>
              </a:rPr>
              <a:pPr lvl="1" algn="ctr">
                <a:spcBef>
                  <a:spcPct val="0"/>
                </a:spcBef>
                <a:spcAft>
                  <a:spcPct val="0"/>
                </a:spcAft>
              </a:pPr>
              <a:t>Total Capacity of Plants with Low efficiency &amp; dispatch</a:t>
            </a:fld>
            <a:endParaRPr lang="en-IN" sz="800" b="0" noProof="0" dirty="0">
              <a:sym typeface="+mn-lt"/>
            </a:endParaRPr>
          </a:p>
        </p:txBody>
      </p:sp>
    </p:spTree>
    <p:extLst>
      <p:ext uri="{BB962C8B-B14F-4D97-AF65-F5344CB8AC3E}">
        <p14:creationId xmlns:p14="http://schemas.microsoft.com/office/powerpoint/2010/main" val="2230758035"/>
      </p:ext>
    </p:extLst>
  </p:cSld>
  <p:clrMapOvr>
    <a:masterClrMapping/>
  </p:clrMapOvr>
  <p:transition>
    <p:fade/>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285736560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4" imgW="530" imgH="531" progId="TCLayout.ActiveDocument.1">
                  <p:embed/>
                </p:oleObj>
              </mc:Choice>
              <mc:Fallback>
                <p:oleObj name="think-cell Slide" r:id="rId24" imgW="530" imgH="531" progId="TCLayout.ActiveDocument.1">
                  <p:embed/>
                  <p:pic>
                    <p:nvPicPr>
                      <p:cNvPr id="3" name="Object 2" hidden="1"/>
                      <p:cNvPicPr/>
                      <p:nvPr/>
                    </p:nvPicPr>
                    <p:blipFill>
                      <a:blip r:embed="rId25"/>
                      <a:stretch>
                        <a:fillRect/>
                      </a:stretch>
                    </p:blipFill>
                    <p:spPr>
                      <a:xfrm>
                        <a:off x="1588" y="1588"/>
                        <a:ext cx="1588" cy="1588"/>
                      </a:xfrm>
                      <a:prstGeom prst="rect">
                        <a:avLst/>
                      </a:prstGeom>
                    </p:spPr>
                  </p:pic>
                </p:oleObj>
              </mc:Fallback>
            </mc:AlternateContent>
          </a:graphicData>
        </a:graphic>
      </p:graphicFrame>
      <p:sp>
        <p:nvSpPr>
          <p:cNvPr id="6" name="Rectangle 5"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326" name="Table 325"/>
          <p:cNvGraphicFramePr>
            <a:graphicFrameLocks noGrp="1"/>
          </p:cNvGraphicFramePr>
          <p:nvPr>
            <p:custDataLst>
              <p:tags r:id="rId3"/>
            </p:custDataLst>
            <p:extLst>
              <p:ext uri="{D42A27DB-BD31-4B8C-83A1-F6EECF244321}">
                <p14:modId xmlns:p14="http://schemas.microsoft.com/office/powerpoint/2010/main" val="1877322972"/>
              </p:ext>
            </p:extLst>
          </p:nvPr>
        </p:nvGraphicFramePr>
        <p:xfrm>
          <a:off x="442913" y="1968500"/>
          <a:ext cx="9791700" cy="5440363"/>
        </p:xfrm>
        <a:graphic>
          <a:graphicData uri="http://schemas.openxmlformats.org/drawingml/2006/table">
            <a:tbl>
              <a:tblPr firstRow="1" bandRow="1">
                <a:tableStyleId>{5C22544A-7EE6-4342-B048-85BDC9FD1C3A}</a:tableStyleId>
              </a:tblPr>
              <a:tblGrid>
                <a:gridCol w="9791700">
                  <a:extLst>
                    <a:ext uri="{9D8B030D-6E8A-4147-A177-3AD203B41FA5}">
                      <a16:colId xmlns:a16="http://schemas.microsoft.com/office/drawing/2014/main" val="20000"/>
                    </a:ext>
                  </a:extLst>
                </a:gridCol>
              </a:tblGrid>
              <a:tr h="5440363">
                <a:tc>
                  <a:txBody>
                    <a:bodyPr/>
                    <a:lstStyle/>
                    <a:p>
                      <a:pPr marL="0" indent="0" algn="ctr">
                        <a:spcAft>
                          <a:spcPts val="500"/>
                        </a:spcAft>
                        <a:buFont typeface="Arial" panose="020B0604020202020204" pitchFamily="34" charset="0"/>
                        <a:buNone/>
                      </a:pPr>
                      <a:r>
                        <a:rPr lang="en-US" sz="1000" b="1" baseline="0" dirty="0">
                          <a:solidFill>
                            <a:schemeClr val="tx1"/>
                          </a:solidFill>
                        </a:rPr>
                        <a:t>Total Additional Supply Capacity Requirement to meet Average Demand (FY27-30)</a:t>
                      </a: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171450" indent="-171450" algn="just">
                        <a:spcAft>
                          <a:spcPts val="500"/>
                        </a:spcAft>
                        <a:buFont typeface="Arial" panose="020B0604020202020204" pitchFamily="34" charset="0"/>
                        <a:buChar char="•"/>
                      </a:pPr>
                      <a:r>
                        <a:rPr lang="en-US" sz="1000" b="0" baseline="0" dirty="0">
                          <a:solidFill>
                            <a:schemeClr val="tx1"/>
                          </a:solidFill>
                        </a:rPr>
                        <a:t>We have considered an average PLF of 80% of plants to meet 21,500 MW average demand requirement by FY30 which may require an overall supply capacity of ~27,000 MW by FY26</a:t>
                      </a:r>
                    </a:p>
                    <a:p>
                      <a:pPr marL="171450" indent="-171450" algn="just">
                        <a:spcAft>
                          <a:spcPts val="500"/>
                        </a:spcAft>
                        <a:buFont typeface="Arial" panose="020B0604020202020204" pitchFamily="34" charset="0"/>
                        <a:buChar char="•"/>
                      </a:pPr>
                      <a:r>
                        <a:rPr lang="en-US" sz="1000" b="0" baseline="0" dirty="0">
                          <a:solidFill>
                            <a:schemeClr val="tx1"/>
                          </a:solidFill>
                        </a:rPr>
                        <a:t>We have considered the total dispatchable capacity in the Bangladesh system to be ~19,600 MW based on the average demand of ~15,700 MW by FY26</a:t>
                      </a:r>
                    </a:p>
                    <a:p>
                      <a:pPr marL="171450" indent="-171450" algn="just">
                        <a:spcAft>
                          <a:spcPts val="500"/>
                        </a:spcAft>
                        <a:buFont typeface="Arial" panose="020B0604020202020204" pitchFamily="34" charset="0"/>
                        <a:buChar char="•"/>
                      </a:pPr>
                      <a:r>
                        <a:rPr lang="en-US" sz="1000" b="0" baseline="0" dirty="0">
                          <a:solidFill>
                            <a:schemeClr val="tx1"/>
                          </a:solidFill>
                        </a:rPr>
                        <a:t>The overall supply capacity of Bangladesh is expected to retire ~470 MW of additional gas based power capacity during FY27-FY30</a:t>
                      </a:r>
                    </a:p>
                    <a:p>
                      <a:pPr marL="171450" indent="-171450" algn="just">
                        <a:spcAft>
                          <a:spcPts val="500"/>
                        </a:spcAft>
                        <a:buFont typeface="Arial" panose="020B0604020202020204" pitchFamily="34" charset="0"/>
                        <a:buChar char="•"/>
                      </a:pPr>
                      <a:r>
                        <a:rPr lang="en-US" sz="1000" b="0" baseline="0" dirty="0">
                          <a:solidFill>
                            <a:schemeClr val="tx1"/>
                          </a:solidFill>
                        </a:rPr>
                        <a:t>Thus ~19,100 MW of dispatchable capacity may be present in Bangladesh by FY30 requiring an additional ~7,800 MW of newer capacity to meet the average demand between FY27 and FY30</a:t>
                      </a:r>
                    </a:p>
                    <a:p>
                      <a:pPr marL="0" indent="0" algn="just">
                        <a:spcAft>
                          <a:spcPts val="500"/>
                        </a:spcAft>
                        <a:buFont typeface="Arial" panose="020B0604020202020204" pitchFamily="34" charset="0"/>
                        <a:buNone/>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4" name="Title 1"/>
          <p:cNvSpPr>
            <a:spLocks noGrp="1"/>
          </p:cNvSpPr>
          <p:nvPr>
            <p:ph type="title"/>
          </p:nvPr>
        </p:nvSpPr>
        <p:spPr>
          <a:xfrm>
            <a:off x="442913" y="654050"/>
            <a:ext cx="9791700" cy="431800"/>
          </a:xfrm>
        </p:spPr>
        <p:txBody>
          <a:bodyPr/>
          <a:lstStyle/>
          <a:p>
            <a:r>
              <a:rPr lang="en-US" dirty="0"/>
              <a:t>Power Market | Supply Requirement to Meet Average Demand (FY30)</a:t>
            </a:r>
            <a:endParaRPr lang="en-IN" dirty="0"/>
          </a:p>
        </p:txBody>
      </p:sp>
      <p:sp>
        <p:nvSpPr>
          <p:cNvPr id="5" name="Strapline"/>
          <p:cNvSpPr txBox="1">
            <a:spLocks/>
          </p:cNvSpPr>
          <p:nvPr/>
        </p:nvSpPr>
        <p:spPr>
          <a:xfrm>
            <a:off x="442912" y="1085850"/>
            <a:ext cx="9793288" cy="519113"/>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0">
              <a:defRPr/>
            </a:pPr>
            <a:r>
              <a:rPr lang="en-US" sz="1400" dirty="0">
                <a:solidFill>
                  <a:prstClr val="black">
                    <a:lumMod val="50000"/>
                    <a:lumOff val="50000"/>
                  </a:prstClr>
                </a:solidFill>
                <a:latin typeface="Verdana" panose="020B0604030504040204" pitchFamily="34" charset="0"/>
              </a:rPr>
              <a:t>As average demand rises to ~21,500 MW by FY30, Bangladesh may need an additional supply capacity of ~7,800 MW between FY27-FY30 taking total supply capacity of the system to ~27,000 MW</a:t>
            </a:r>
            <a:endParaRPr lang="en-GB" sz="1400" dirty="0">
              <a:solidFill>
                <a:prstClr val="black">
                  <a:lumMod val="50000"/>
                  <a:lumOff val="50000"/>
                </a:prstClr>
              </a:solidFill>
              <a:latin typeface="Verdana" panose="020B0604030504040204" pitchFamily="34" charset="0"/>
            </a:endParaRPr>
          </a:p>
        </p:txBody>
      </p:sp>
      <p:graphicFrame>
        <p:nvGraphicFramePr>
          <p:cNvPr id="142" name="Chart 141"/>
          <p:cNvGraphicFramePr/>
          <p:nvPr>
            <p:custDataLst>
              <p:tags r:id="rId4"/>
            </p:custDataLst>
            <p:extLst>
              <p:ext uri="{D42A27DB-BD31-4B8C-83A1-F6EECF244321}">
                <p14:modId xmlns:p14="http://schemas.microsoft.com/office/powerpoint/2010/main" val="3074789854"/>
              </p:ext>
            </p:extLst>
          </p:nvPr>
        </p:nvGraphicFramePr>
        <p:xfrm>
          <a:off x="333375" y="2425700"/>
          <a:ext cx="2547938" cy="1806575"/>
        </p:xfrm>
        <a:graphic>
          <a:graphicData uri="http://schemas.openxmlformats.org/drawingml/2006/chart">
            <c:chart xmlns:c="http://schemas.openxmlformats.org/drawingml/2006/chart" xmlns:r="http://schemas.openxmlformats.org/officeDocument/2006/relationships" r:id="rId26"/>
          </a:graphicData>
        </a:graphic>
      </p:graphicFrame>
      <p:sp useBgFill="1">
        <p:nvSpPr>
          <p:cNvPr id="23" name="Freeform 22"/>
          <p:cNvSpPr/>
          <p:nvPr>
            <p:custDataLst>
              <p:tags r:id="rId5"/>
            </p:custDataLst>
          </p:nvPr>
        </p:nvSpPr>
        <p:spPr bwMode="auto">
          <a:xfrm>
            <a:off x="1557338" y="4076700"/>
            <a:ext cx="96838" cy="146051"/>
          </a:xfrm>
          <a:custGeom>
            <a:avLst/>
            <a:gdLst/>
            <a:ahLst/>
            <a:cxnLst/>
            <a:rect l="0" t="0" r="0" b="0"/>
            <a:pathLst>
              <a:path w="96838" h="146051">
                <a:moveTo>
                  <a:pt x="96837" y="0"/>
                </a:moveTo>
                <a:lnTo>
                  <a:pt x="57150" y="146050"/>
                </a:lnTo>
                <a:lnTo>
                  <a:pt x="0" y="146050"/>
                </a:lnTo>
                <a:lnTo>
                  <a:pt x="39687" y="0"/>
                </a:lnTo>
                <a:close/>
              </a:path>
            </a:pathLst>
          </a:custGeom>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1" name="Freeform 20"/>
          <p:cNvSpPr/>
          <p:nvPr>
            <p:custDataLst>
              <p:tags r:id="rId6"/>
            </p:custDataLst>
          </p:nvPr>
        </p:nvSpPr>
        <p:spPr bwMode="auto">
          <a:xfrm>
            <a:off x="1557338" y="4076700"/>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22" name="Freeform 21"/>
          <p:cNvSpPr/>
          <p:nvPr>
            <p:custDataLst>
              <p:tags r:id="rId7"/>
            </p:custDataLst>
          </p:nvPr>
        </p:nvSpPr>
        <p:spPr bwMode="auto">
          <a:xfrm>
            <a:off x="1614488" y="4076700"/>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40" name="StandardTextbox"/>
          <p:cNvSpPr>
            <a:spLocks noGrp="1"/>
          </p:cNvSpPr>
          <p:nvPr>
            <p:custDataLst>
              <p:tags r:id="rId8"/>
            </p:custDataLst>
          </p:nvPr>
        </p:nvSpPr>
        <p:spPr bwMode="auto">
          <a:xfrm>
            <a:off x="615950" y="4216400"/>
            <a:ext cx="817563" cy="2444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00FE7227-6822-4CCF-91EC-C757DB03FEEF}" type="datetime'''A''v''e''rage De''''m''''''''''a''n''d (F''''''Y30'''')'''">
              <a:rPr lang="en-IN" altLang="en-US" sz="800" b="0" smtClean="0"/>
              <a:pPr lvl="1" algn="ctr">
                <a:spcBef>
                  <a:spcPct val="0"/>
                </a:spcBef>
                <a:spcAft>
                  <a:spcPct val="0"/>
                </a:spcAft>
              </a:pPr>
              <a:t>Average Demand (FY30)</a:t>
            </a:fld>
            <a:endParaRPr lang="en-IN" sz="800" b="0" noProof="0" dirty="0">
              <a:sym typeface="+mn-lt"/>
            </a:endParaRPr>
          </a:p>
        </p:txBody>
      </p:sp>
      <p:sp>
        <p:nvSpPr>
          <p:cNvPr id="317" name="StandardTextbox"/>
          <p:cNvSpPr>
            <a:spLocks noGrp="1"/>
          </p:cNvSpPr>
          <p:nvPr>
            <p:custDataLst>
              <p:tags r:id="rId9"/>
            </p:custDataLst>
          </p:nvPr>
        </p:nvSpPr>
        <p:spPr bwMode="auto">
          <a:xfrm>
            <a:off x="1616075" y="4216401"/>
            <a:ext cx="1144588" cy="36671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59A2566-DCD5-475E-8843-2BC173544E29}" type="datetime'Total Supply Re''quired to ''Meet Average Dem''and ''(F''Y30)'">
              <a:rPr lang="en-US" altLang="en-US" sz="800" b="0" smtClean="0"/>
              <a:pPr lvl="1" algn="ctr">
                <a:spcBef>
                  <a:spcPct val="0"/>
                </a:spcBef>
                <a:spcAft>
                  <a:spcPct val="0"/>
                </a:spcAft>
              </a:pPr>
              <a:t>Total Supply Required to Meet Average Demand (FY30)</a:t>
            </a:fld>
            <a:endParaRPr lang="en-IN" sz="800" b="0" noProof="0" dirty="0">
              <a:sym typeface="+mn-lt"/>
            </a:endParaRPr>
          </a:p>
        </p:txBody>
      </p:sp>
      <p:sp>
        <p:nvSpPr>
          <p:cNvPr id="44" name="Rectangle 43"/>
          <p:cNvSpPr/>
          <p:nvPr>
            <p:custDataLst>
              <p:tags r:id="rId10"/>
            </p:custDataLst>
          </p:nvPr>
        </p:nvSpPr>
        <p:spPr bwMode="auto">
          <a:xfrm>
            <a:off x="1277938" y="5026025"/>
            <a:ext cx="142875" cy="106363"/>
          </a:xfrm>
          <a:prstGeom prst="rect">
            <a:avLst/>
          </a:prstGeom>
          <a:solidFill>
            <a:srgbClr val="E3E48D"/>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8" name="StandardTextbox"/>
          <p:cNvSpPr>
            <a:spLocks noGrp="1"/>
          </p:cNvSpPr>
          <p:nvPr>
            <p:custDataLst>
              <p:tags r:id="rId11"/>
            </p:custDataLst>
          </p:nvPr>
        </p:nvSpPr>
        <p:spPr bwMode="auto">
          <a:xfrm>
            <a:off x="1471613" y="5021263"/>
            <a:ext cx="87947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F118C981-E866-42A7-B664-47410D417701}" type="datetime'''''''''''''''Av''''''''''e''ra''''g''''''e'''' ''Dem''and'">
              <a:rPr lang="en-IN" altLang="en-US" sz="800" b="0" smtClean="0">
                <a:sym typeface="+mn-lt"/>
              </a:rPr>
              <a:pPr lvl="1">
                <a:spcBef>
                  <a:spcPct val="0"/>
                </a:spcBef>
                <a:spcAft>
                  <a:spcPct val="0"/>
                </a:spcAft>
              </a:pPr>
              <a:t>Average Demand</a:t>
            </a:fld>
            <a:endParaRPr lang="en-IN" sz="800" b="0" noProof="0" dirty="0">
              <a:sym typeface="+mn-lt"/>
            </a:endParaRPr>
          </a:p>
        </p:txBody>
      </p:sp>
      <p:cxnSp>
        <p:nvCxnSpPr>
          <p:cNvPr id="14" name="Straight Connector 13"/>
          <p:cNvCxnSpPr/>
          <p:nvPr>
            <p:custDataLst>
              <p:tags r:id="rId12"/>
            </p:custDataLst>
          </p:nvPr>
        </p:nvCxnSpPr>
        <p:spPr bwMode="auto">
          <a:xfrm>
            <a:off x="4370388" y="3019425"/>
            <a:ext cx="6159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custDataLst>
              <p:tags r:id="rId13"/>
            </p:custDataLst>
          </p:nvPr>
        </p:nvCxnSpPr>
        <p:spPr bwMode="auto">
          <a:xfrm>
            <a:off x="5759449" y="3046413"/>
            <a:ext cx="6159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custDataLst>
              <p:tags r:id="rId14"/>
            </p:custDataLst>
          </p:nvPr>
        </p:nvCxnSpPr>
        <p:spPr bwMode="auto">
          <a:xfrm>
            <a:off x="7148513" y="3046413"/>
            <a:ext cx="6159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custDataLst>
              <p:tags r:id="rId15"/>
            </p:custDataLst>
          </p:nvPr>
        </p:nvCxnSpPr>
        <p:spPr bwMode="auto">
          <a:xfrm>
            <a:off x="8537574" y="2595563"/>
            <a:ext cx="6159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145" name="Chart 144"/>
          <p:cNvGraphicFramePr/>
          <p:nvPr>
            <p:custDataLst>
              <p:tags r:id="rId16"/>
            </p:custDataLst>
            <p:extLst>
              <p:ext uri="{D42A27DB-BD31-4B8C-83A1-F6EECF244321}">
                <p14:modId xmlns:p14="http://schemas.microsoft.com/office/powerpoint/2010/main" val="466055015"/>
              </p:ext>
            </p:extLst>
          </p:nvPr>
        </p:nvGraphicFramePr>
        <p:xfrm>
          <a:off x="3206750" y="2425700"/>
          <a:ext cx="7110413" cy="1806575"/>
        </p:xfrm>
        <a:graphic>
          <a:graphicData uri="http://schemas.openxmlformats.org/drawingml/2006/chart">
            <c:chart xmlns:c="http://schemas.openxmlformats.org/drawingml/2006/chart" xmlns:r="http://schemas.openxmlformats.org/officeDocument/2006/relationships" r:id="rId27"/>
          </a:graphicData>
        </a:graphic>
      </p:graphicFrame>
      <p:sp>
        <p:nvSpPr>
          <p:cNvPr id="401" name="StandardTextbox"/>
          <p:cNvSpPr>
            <a:spLocks noGrp="1"/>
          </p:cNvSpPr>
          <p:nvPr>
            <p:custDataLst>
              <p:tags r:id="rId17"/>
            </p:custDataLst>
          </p:nvPr>
        </p:nvSpPr>
        <p:spPr bwMode="auto">
          <a:xfrm>
            <a:off x="6284913" y="4216401"/>
            <a:ext cx="954088" cy="2444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856E99AD-2A68-4A55-8DC4-3F14F8890323}" type="datetime'Tota''l Dispatch''''a''''''''ble ''C''apa''ci''ty by FY3''0'">
              <a:rPr lang="en-US" altLang="en-US" sz="800" b="0" smtClean="0"/>
              <a:pPr lvl="1" algn="ctr">
                <a:spcBef>
                  <a:spcPct val="0"/>
                </a:spcBef>
                <a:spcAft>
                  <a:spcPct val="0"/>
                </a:spcAft>
              </a:pPr>
              <a:t>Total Dispatchable Capacity by FY30</a:t>
            </a:fld>
            <a:endParaRPr lang="en-IN" sz="800" b="0" noProof="0" dirty="0">
              <a:sym typeface="+mn-lt"/>
            </a:endParaRPr>
          </a:p>
        </p:txBody>
      </p:sp>
      <p:sp>
        <p:nvSpPr>
          <p:cNvPr id="400" name="StandardTextbox"/>
          <p:cNvSpPr>
            <a:spLocks noGrp="1"/>
          </p:cNvSpPr>
          <p:nvPr>
            <p:custDataLst>
              <p:tags r:id="rId18"/>
            </p:custDataLst>
          </p:nvPr>
        </p:nvSpPr>
        <p:spPr bwMode="auto">
          <a:xfrm>
            <a:off x="4862513" y="4216401"/>
            <a:ext cx="1020763" cy="36671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5A0D4F5-FB8B-4D6B-A7F7-CA4FD9259745}" type="datetime'Plan''ned Retirem''en''t between FY27-FY''30 (Gas Plant''s)'''">
              <a:rPr lang="en-US" altLang="en-US" sz="800" b="0" smtClean="0"/>
              <a:pPr lvl="1" algn="ctr">
                <a:spcBef>
                  <a:spcPct val="0"/>
                </a:spcBef>
                <a:spcAft>
                  <a:spcPct val="0"/>
                </a:spcAft>
              </a:pPr>
              <a:t>Planned Retirement between FY27-FY30 (Gas Plants)</a:t>
            </a:fld>
            <a:endParaRPr lang="en-IN" sz="800" b="0" noProof="0" dirty="0">
              <a:sym typeface="+mn-lt"/>
            </a:endParaRPr>
          </a:p>
        </p:txBody>
      </p:sp>
      <p:sp>
        <p:nvSpPr>
          <p:cNvPr id="399" name="StandardTextbox"/>
          <p:cNvSpPr>
            <a:spLocks noGrp="1"/>
          </p:cNvSpPr>
          <p:nvPr>
            <p:custDataLst>
              <p:tags r:id="rId19"/>
            </p:custDataLst>
          </p:nvPr>
        </p:nvSpPr>
        <p:spPr bwMode="auto">
          <a:xfrm>
            <a:off x="3494088" y="4216400"/>
            <a:ext cx="977900" cy="48895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AB23D13-8D17-4D48-B875-00E64B53FEC2}" type="thinkcell&lt;?xml version=&quot;1.0&quot; encoding=&quot;UTF-16&quot; standalone=&quot;yes&quot;?&gt;&lt;root reqver=&quot;25060&quot;&gt;&lt;version val=&quot;28278&quot;/&gt;&lt;PersistentType&gt;&lt;m_guid val=&quot;e80cfebd-d8b3-4502-939f-40e08bf379a2&quot;/&gt;&lt;m_prec&gt;&lt;m_yearfmt&gt;&lt;begin val=&quot;0&quot;/&gt;&lt;end val=&quot;4&quot;/&gt;&lt;/m_yearfmt&gt;&lt;/m_prec&gt;&lt;/PersistentType&gt;&lt;/root&gt;">
              <a:rPr lang="en-US" altLang="en-US" sz="800" b="0" smtClean="0"/>
              <a:pPr lvl="1" algn="ctr">
                <a:spcBef>
                  <a:spcPct val="0"/>
                </a:spcBef>
                <a:spcAft>
                  <a:spcPct val="0"/>
                </a:spcAft>
              </a:pPr>
              <a:t>Total Dispatchable Capacity Required to Meet Average Demand (by FY26)</a:t>
            </a:fld>
            <a:endParaRPr lang="en-IN" sz="800" b="0" noProof="0" dirty="0">
              <a:sym typeface="+mn-lt"/>
            </a:endParaRPr>
          </a:p>
        </p:txBody>
      </p:sp>
      <p:sp>
        <p:nvSpPr>
          <p:cNvPr id="89" name="StandardTextbox"/>
          <p:cNvSpPr>
            <a:spLocks noGrp="1"/>
          </p:cNvSpPr>
          <p:nvPr>
            <p:custDataLst>
              <p:tags r:id="rId20"/>
            </p:custDataLst>
          </p:nvPr>
        </p:nvSpPr>
        <p:spPr bwMode="gray">
          <a:xfrm>
            <a:off x="5257800" y="2971800"/>
            <a:ext cx="230188" cy="122238"/>
          </a:xfrm>
          <a:prstGeom prst="rect">
            <a:avLst/>
          </a:prstGeom>
          <a:solidFill>
            <a:srgbClr val="046A38"/>
          </a:solidFill>
          <a:ln>
            <a:noFill/>
          </a:ln>
        </p:spPr>
        <p:txBody>
          <a:bodyPr vert="horz" wrap="none" lIns="17463" tIns="0" rIns="17463"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23F60C3-DAA8-4C73-B8F3-8403C2DC6EDE}" type="datetime'4''''''''''6''''''''''''''''''''''''''''''''8'''''''''''''''''">
              <a:rPr lang="en-IN" altLang="en-US" sz="800" b="0" smtClean="0">
                <a:solidFill>
                  <a:schemeClr val="bg1"/>
                </a:solidFill>
                <a:sym typeface="+mn-lt"/>
              </a:rPr>
              <a:pPr lvl="1" algn="ctr">
                <a:spcBef>
                  <a:spcPct val="0"/>
                </a:spcBef>
                <a:spcAft>
                  <a:spcPct val="0"/>
                </a:spcAft>
              </a:pPr>
              <a:t>468</a:t>
            </a:fld>
            <a:endParaRPr lang="en-IN" sz="800" b="0" noProof="0" dirty="0">
              <a:solidFill>
                <a:schemeClr val="bg1"/>
              </a:solidFill>
              <a:sym typeface="+mn-lt"/>
            </a:endParaRPr>
          </a:p>
        </p:txBody>
      </p:sp>
      <p:sp>
        <p:nvSpPr>
          <p:cNvPr id="93" name="StandardTextbox"/>
          <p:cNvSpPr>
            <a:spLocks noGrp="1"/>
          </p:cNvSpPr>
          <p:nvPr>
            <p:custDataLst>
              <p:tags r:id="rId21"/>
            </p:custDataLst>
          </p:nvPr>
        </p:nvSpPr>
        <p:spPr bwMode="auto">
          <a:xfrm>
            <a:off x="7480300" y="4216401"/>
            <a:ext cx="1339850" cy="36671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69CC999-9EC8-4FC6-8596-608C7D16873F}" type="thinkcell&lt;?xml version=&quot;1.0&quot; encoding=&quot;UTF-16&quot; standalone=&quot;yes&quot;?&gt;&lt;root reqver=&quot;25060&quot;&gt;&lt;version val=&quot;28278&quot;/&gt;&lt;PersistentType&gt;&lt;m_guid val=&quot;2c47fffa-6ad0-4a98-a33c-accc03a54b06&quot;/&gt;&lt;m_prec&gt;&lt;m_yearfmt&gt;&lt;begin val=&quot;0&quot;/&gt;&lt;end val=&quot;4&quot;/&gt;&lt;/m_yearfmt&gt;&lt;/m_prec&gt;&lt;/PersistentType&gt;&lt;/root&gt;">
              <a:rPr lang="en-US" altLang="en-US" sz="800" b="0" smtClean="0"/>
              <a:pPr lvl="1" algn="ctr">
                <a:spcBef>
                  <a:spcPct val="0"/>
                </a:spcBef>
                <a:spcAft>
                  <a:spcPct val="0"/>
                </a:spcAft>
              </a:pPr>
              <a:t>Additional Capacity Required to Meet Average Demand by FY30</a:t>
            </a:fld>
            <a:endParaRPr lang="en-IN" sz="800" b="0" noProof="0" dirty="0">
              <a:sym typeface="+mn-lt"/>
            </a:endParaRPr>
          </a:p>
        </p:txBody>
      </p:sp>
      <p:sp>
        <p:nvSpPr>
          <p:cNvPr id="97" name="StandardTextbox"/>
          <p:cNvSpPr>
            <a:spLocks noGrp="1"/>
          </p:cNvSpPr>
          <p:nvPr>
            <p:custDataLst>
              <p:tags r:id="rId22"/>
            </p:custDataLst>
          </p:nvPr>
        </p:nvSpPr>
        <p:spPr bwMode="auto">
          <a:xfrm>
            <a:off x="8982075" y="4216400"/>
            <a:ext cx="1116013" cy="2444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A7C5B36-0DD4-4B43-8B08-A3B932C2CB47}" type="datetime'To''t''al'''' ''''''Su''p''''ply Requir''em''e''nt by FY30'''">
              <a:rPr lang="en-US" altLang="en-US" sz="800" b="0" smtClean="0"/>
              <a:pPr lvl="1" algn="ctr">
                <a:spcBef>
                  <a:spcPct val="0"/>
                </a:spcBef>
                <a:spcAft>
                  <a:spcPct val="0"/>
                </a:spcAft>
              </a:pPr>
              <a:t>Total Supply Requirement by FY30</a:t>
            </a:fld>
            <a:endParaRPr lang="en-IN" sz="800" b="0" noProof="0" dirty="0">
              <a:sym typeface="+mn-lt"/>
            </a:endParaRPr>
          </a:p>
        </p:txBody>
      </p:sp>
      <p:sp>
        <p:nvSpPr>
          <p:cNvPr id="623" name="Isosceles Triangle 622"/>
          <p:cNvSpPr/>
          <p:nvPr/>
        </p:nvSpPr>
        <p:spPr bwMode="gray">
          <a:xfrm rot="5400000">
            <a:off x="2241017" y="3297470"/>
            <a:ext cx="1702868" cy="134992"/>
          </a:xfrm>
          <a:prstGeom prst="triangle">
            <a:avLst/>
          </a:prstGeom>
          <a:solidFill>
            <a:schemeClr val="bg1">
              <a:lumMod val="9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34" name="Rectangle 133"/>
          <p:cNvSpPr/>
          <p:nvPr/>
        </p:nvSpPr>
        <p:spPr bwMode="gray">
          <a:xfrm>
            <a:off x="377226" y="7260739"/>
            <a:ext cx="9941523" cy="298935"/>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BPDB; PSMP 2016, Deloitte Analysis Note: 1) Total Supply needed to meet average demand based on normative Plant Load Factor of 80% 2) Plant Retirement Based on PSMP 2016 projections as well as estimations based on COD of each power plant in Bangladesh 3) 2) For plants not covered under PSMP, an average PPA duration for 22 years has been considered for Non-Rental Plants (and an extension of 5 years for some cases beyond 22 years) and (5+5) years for Rental / Quick Rental Plants</a:t>
            </a:r>
          </a:p>
        </p:txBody>
      </p:sp>
      <p:sp>
        <p:nvSpPr>
          <p:cNvPr id="137" name="Rectangle 136"/>
          <p:cNvSpPr/>
          <p:nvPr/>
        </p:nvSpPr>
        <p:spPr bwMode="gray">
          <a:xfrm>
            <a:off x="7397749" y="2425334"/>
            <a:ext cx="1500189" cy="2189285"/>
          </a:xfrm>
          <a:prstGeom prst="rect">
            <a:avLst/>
          </a:prstGeom>
          <a:noFill/>
          <a:ln>
            <a:solidFill>
              <a:srgbClr val="C00000"/>
            </a:solidFill>
            <a:prstDash val="dashDot"/>
            <a:headEnd/>
            <a:tailEnd/>
          </a:ln>
        </p:spPr>
        <p:style>
          <a:lnRef idx="2">
            <a:schemeClr val="accent6"/>
          </a:lnRef>
          <a:fillRef idx="1">
            <a:schemeClr val="lt1"/>
          </a:fillRef>
          <a:effectRef idx="0">
            <a:schemeClr val="accent6"/>
          </a:effectRef>
          <a:fontRef idx="minor">
            <a:schemeClr val="dk1"/>
          </a:fontRef>
        </p:style>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Tree>
    <p:extLst>
      <p:ext uri="{BB962C8B-B14F-4D97-AF65-F5344CB8AC3E}">
        <p14:creationId xmlns:p14="http://schemas.microsoft.com/office/powerpoint/2010/main" val="542659860"/>
      </p:ext>
    </p:extLst>
  </p:cSld>
  <p:clrMapOvr>
    <a:masterClrMapping/>
  </p:clrMapOvr>
  <p:transition>
    <p:fade/>
  </p:transitio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358263122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0" imgW="530" imgH="531" progId="TCLayout.ActiveDocument.1">
                  <p:embed/>
                </p:oleObj>
              </mc:Choice>
              <mc:Fallback>
                <p:oleObj name="think-cell Slide" r:id="rId40" imgW="530" imgH="531" progId="TCLayout.ActiveDocument.1">
                  <p:embed/>
                  <p:pic>
                    <p:nvPicPr>
                      <p:cNvPr id="3" name="Object 2" hidden="1"/>
                      <p:cNvPicPr/>
                      <p:nvPr/>
                    </p:nvPicPr>
                    <p:blipFill>
                      <a:blip r:embed="rId41"/>
                      <a:stretch>
                        <a:fillRect/>
                      </a:stretch>
                    </p:blipFill>
                    <p:spPr>
                      <a:xfrm>
                        <a:off x="1588" y="1588"/>
                        <a:ext cx="1588" cy="1588"/>
                      </a:xfrm>
                      <a:prstGeom prst="rect">
                        <a:avLst/>
                      </a:prstGeom>
                    </p:spPr>
                  </p:pic>
                </p:oleObj>
              </mc:Fallback>
            </mc:AlternateContent>
          </a:graphicData>
        </a:graphic>
      </p:graphicFrame>
      <p:sp>
        <p:nvSpPr>
          <p:cNvPr id="6" name="Rectangle 5"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pPr>
            <a:endParaRPr lang="en-IN" sz="800" dirty="0">
              <a:solidFill>
                <a:schemeClr val="bg1"/>
              </a:solidFill>
              <a:latin typeface="Verdana" panose="020B0604030504040204" pitchFamily="34" charset="0"/>
              <a:sym typeface="Verdana" panose="020B0604030504040204" pitchFamily="34" charset="0"/>
            </a:endParaRPr>
          </a:p>
        </p:txBody>
      </p:sp>
      <p:graphicFrame>
        <p:nvGraphicFramePr>
          <p:cNvPr id="326" name="Table 325"/>
          <p:cNvGraphicFramePr>
            <a:graphicFrameLocks noGrp="1"/>
          </p:cNvGraphicFramePr>
          <p:nvPr>
            <p:custDataLst>
              <p:tags r:id="rId3"/>
            </p:custDataLst>
            <p:extLst>
              <p:ext uri="{D42A27DB-BD31-4B8C-83A1-F6EECF244321}">
                <p14:modId xmlns:p14="http://schemas.microsoft.com/office/powerpoint/2010/main" val="274308145"/>
              </p:ext>
            </p:extLst>
          </p:nvPr>
        </p:nvGraphicFramePr>
        <p:xfrm>
          <a:off x="442913" y="1968500"/>
          <a:ext cx="9791700" cy="5440363"/>
        </p:xfrm>
        <a:graphic>
          <a:graphicData uri="http://schemas.openxmlformats.org/drawingml/2006/table">
            <a:tbl>
              <a:tblPr firstRow="1" bandRow="1">
                <a:tableStyleId>{5C22544A-7EE6-4342-B048-85BDC9FD1C3A}</a:tableStyleId>
              </a:tblPr>
              <a:tblGrid>
                <a:gridCol w="9791700">
                  <a:extLst>
                    <a:ext uri="{9D8B030D-6E8A-4147-A177-3AD203B41FA5}">
                      <a16:colId xmlns:a16="http://schemas.microsoft.com/office/drawing/2014/main" val="20000"/>
                    </a:ext>
                  </a:extLst>
                </a:gridCol>
              </a:tblGrid>
              <a:tr h="5440363">
                <a:tc>
                  <a:txBody>
                    <a:bodyPr/>
                    <a:lstStyle/>
                    <a:p>
                      <a:pPr marL="0" indent="0" algn="ctr">
                        <a:spcAft>
                          <a:spcPts val="500"/>
                        </a:spcAft>
                        <a:buFont typeface="Arial" panose="020B0604020202020204" pitchFamily="34" charset="0"/>
                        <a:buNone/>
                      </a:pPr>
                      <a:r>
                        <a:rPr lang="en-US" sz="1000" b="1" baseline="0" dirty="0">
                          <a:solidFill>
                            <a:schemeClr val="tx1"/>
                          </a:solidFill>
                        </a:rPr>
                        <a:t>Total Additional Supply Capacity Requirement to meet Average Demand (till FY30)</a:t>
                      </a: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0" baseline="0" dirty="0">
                        <a:solidFill>
                          <a:schemeClr val="tx1"/>
                        </a:solidFill>
                      </a:endParaRPr>
                    </a:p>
                    <a:p>
                      <a:pPr marL="171450" indent="-171450" algn="just">
                        <a:spcAft>
                          <a:spcPts val="500"/>
                        </a:spcAft>
                        <a:buFont typeface="Arial" panose="020B0604020202020204" pitchFamily="34" charset="0"/>
                        <a:buChar char="•"/>
                      </a:pPr>
                      <a:r>
                        <a:rPr lang="en-US" sz="1000" b="0" baseline="0" dirty="0">
                          <a:solidFill>
                            <a:schemeClr val="tx1"/>
                          </a:solidFill>
                        </a:rPr>
                        <a:t>As the average power demand increases to ~15,700 MW and ~21,500 MW by FY26 and FY30 respectively, the supply capacity will also require to increase to ~19,600 MW and ~27,000 MW respectively</a:t>
                      </a:r>
                    </a:p>
                    <a:p>
                      <a:pPr marL="171450" indent="-171450" algn="just">
                        <a:spcAft>
                          <a:spcPts val="500"/>
                        </a:spcAft>
                        <a:buFont typeface="Arial" panose="020B0604020202020204" pitchFamily="34" charset="0"/>
                        <a:buChar char="•"/>
                      </a:pPr>
                      <a:r>
                        <a:rPr lang="en-US" sz="1000" b="0" baseline="0" dirty="0">
                          <a:solidFill>
                            <a:schemeClr val="tx1"/>
                          </a:solidFill>
                        </a:rPr>
                        <a:t>Based on the current installed capacity in FY19, Bangladesh is expected to witness retirement of ~5,500 MW by FY26 and ~470 MW between FY27-FY30</a:t>
                      </a:r>
                    </a:p>
                    <a:p>
                      <a:pPr marL="171450" indent="-171450" algn="just">
                        <a:spcAft>
                          <a:spcPts val="500"/>
                        </a:spcAft>
                        <a:buFont typeface="Arial" panose="020B0604020202020204" pitchFamily="34" charset="0"/>
                        <a:buChar char="•"/>
                      </a:pPr>
                      <a:r>
                        <a:rPr lang="en-US" sz="1000" b="0" baseline="0" dirty="0">
                          <a:solidFill>
                            <a:schemeClr val="tx1"/>
                          </a:solidFill>
                        </a:rPr>
                        <a:t>Further, we expect that the Government may replace the liquid fuel / rental based power plants as newer &amp; efficient power plants are set up in the country replacing ~4,800 MW by FY26</a:t>
                      </a:r>
                    </a:p>
                    <a:p>
                      <a:pPr marL="171450" indent="-171450" algn="just">
                        <a:spcAft>
                          <a:spcPts val="500"/>
                        </a:spcAft>
                        <a:buFont typeface="Arial" panose="020B0604020202020204" pitchFamily="34" charset="0"/>
                        <a:buChar char="•"/>
                      </a:pPr>
                      <a:r>
                        <a:rPr lang="en-US" sz="1000" b="0" baseline="0" dirty="0">
                          <a:solidFill>
                            <a:schemeClr val="tx1"/>
                          </a:solidFill>
                        </a:rPr>
                        <a:t>There may be an additional requirement of ~670 MW in the system as some gas based inefficient plants may still continue operations in the system with a lower dispatchability of ~40%</a:t>
                      </a:r>
                    </a:p>
                    <a:p>
                      <a:pPr marL="171450" indent="-171450" algn="just">
                        <a:spcAft>
                          <a:spcPts val="500"/>
                        </a:spcAft>
                        <a:buFont typeface="Arial" panose="020B0604020202020204" pitchFamily="34" charset="0"/>
                        <a:buChar char="•"/>
                      </a:pPr>
                      <a:r>
                        <a:rPr lang="en-US" sz="1000" b="0" baseline="0" dirty="0">
                          <a:solidFill>
                            <a:schemeClr val="tx1"/>
                          </a:solidFill>
                        </a:rPr>
                        <a:t>Thus, Bangladesh may require ~11,500 MW of newer capacity addition by FY26 and ~7,800 MW between FY27 and FY30 to meet the rising demand</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4" name="Title 1"/>
          <p:cNvSpPr>
            <a:spLocks noGrp="1"/>
          </p:cNvSpPr>
          <p:nvPr>
            <p:ph type="title"/>
          </p:nvPr>
        </p:nvSpPr>
        <p:spPr>
          <a:xfrm>
            <a:off x="442913" y="654050"/>
            <a:ext cx="9791700" cy="431800"/>
          </a:xfrm>
        </p:spPr>
        <p:txBody>
          <a:bodyPr/>
          <a:lstStyle/>
          <a:p>
            <a:r>
              <a:rPr lang="en-US" dirty="0"/>
              <a:t>Power Market | Supply Requirement to Meet Average Demand (Summary)</a:t>
            </a:r>
            <a:endParaRPr lang="en-IN" dirty="0"/>
          </a:p>
        </p:txBody>
      </p:sp>
      <p:sp>
        <p:nvSpPr>
          <p:cNvPr id="5" name="Strapline"/>
          <p:cNvSpPr txBox="1">
            <a:spLocks/>
          </p:cNvSpPr>
          <p:nvPr/>
        </p:nvSpPr>
        <p:spPr>
          <a:xfrm>
            <a:off x="442912" y="1085850"/>
            <a:ext cx="9793288" cy="519113"/>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0">
              <a:defRPr/>
            </a:pPr>
            <a:r>
              <a:rPr lang="en-US" sz="1400" dirty="0">
                <a:solidFill>
                  <a:prstClr val="black">
                    <a:lumMod val="50000"/>
                    <a:lumOff val="50000"/>
                  </a:prstClr>
                </a:solidFill>
                <a:latin typeface="Verdana" panose="020B0604030504040204" pitchFamily="34" charset="0"/>
              </a:rPr>
              <a:t>Bangladesh may require ~11,500 MW of newer capacity addition by FY26 and incremental ~7,800 MW between FY27 and FY30 to meet the rising demand</a:t>
            </a:r>
          </a:p>
        </p:txBody>
      </p:sp>
      <p:graphicFrame>
        <p:nvGraphicFramePr>
          <p:cNvPr id="214" name="Chart 213"/>
          <p:cNvGraphicFramePr/>
          <p:nvPr>
            <p:custDataLst>
              <p:tags r:id="rId4"/>
            </p:custDataLst>
            <p:extLst>
              <p:ext uri="{D42A27DB-BD31-4B8C-83A1-F6EECF244321}">
                <p14:modId xmlns:p14="http://schemas.microsoft.com/office/powerpoint/2010/main" val="387523507"/>
              </p:ext>
            </p:extLst>
          </p:nvPr>
        </p:nvGraphicFramePr>
        <p:xfrm>
          <a:off x="360363" y="2425700"/>
          <a:ext cx="2913062" cy="1687513"/>
        </p:xfrm>
        <a:graphic>
          <a:graphicData uri="http://schemas.openxmlformats.org/drawingml/2006/chart">
            <c:chart xmlns:c="http://schemas.openxmlformats.org/drawingml/2006/chart" xmlns:r="http://schemas.openxmlformats.org/officeDocument/2006/relationships" r:id="rId42"/>
          </a:graphicData>
        </a:graphic>
      </p:graphicFrame>
      <p:sp useBgFill="1">
        <p:nvSpPr>
          <p:cNvPr id="304" name="Freeform 303"/>
          <p:cNvSpPr/>
          <p:nvPr>
            <p:custDataLst>
              <p:tags r:id="rId5"/>
            </p:custDataLst>
          </p:nvPr>
        </p:nvSpPr>
        <p:spPr bwMode="auto">
          <a:xfrm>
            <a:off x="1768475" y="3957638"/>
            <a:ext cx="96839" cy="146051"/>
          </a:xfrm>
          <a:custGeom>
            <a:avLst/>
            <a:gdLst/>
            <a:ahLst/>
            <a:cxnLst/>
            <a:rect l="0" t="0" r="0" b="0"/>
            <a:pathLst>
              <a:path w="96839" h="146051">
                <a:moveTo>
                  <a:pt x="96838" y="0"/>
                </a:moveTo>
                <a:lnTo>
                  <a:pt x="57150" y="146050"/>
                </a:lnTo>
                <a:lnTo>
                  <a:pt x="0" y="146050"/>
                </a:lnTo>
                <a:lnTo>
                  <a:pt x="39688" y="0"/>
                </a:lnTo>
                <a:close/>
              </a:path>
            </a:pathLst>
          </a:custGeom>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03" name="Freeform 302"/>
          <p:cNvSpPr/>
          <p:nvPr>
            <p:custDataLst>
              <p:tags r:id="rId6"/>
            </p:custDataLst>
          </p:nvPr>
        </p:nvSpPr>
        <p:spPr bwMode="auto">
          <a:xfrm>
            <a:off x="1825625" y="3957638"/>
            <a:ext cx="39689" cy="146051"/>
          </a:xfrm>
          <a:custGeom>
            <a:avLst/>
            <a:gdLst/>
            <a:ahLst/>
            <a:cxnLst/>
            <a:rect l="0" t="0" r="0" b="0"/>
            <a:pathLst>
              <a:path w="39689" h="146051">
                <a:moveTo>
                  <a:pt x="39688"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302" name="Freeform 301"/>
          <p:cNvSpPr/>
          <p:nvPr>
            <p:custDataLst>
              <p:tags r:id="rId7"/>
            </p:custDataLst>
          </p:nvPr>
        </p:nvSpPr>
        <p:spPr bwMode="auto">
          <a:xfrm>
            <a:off x="1768475" y="3957638"/>
            <a:ext cx="39689" cy="146051"/>
          </a:xfrm>
          <a:custGeom>
            <a:avLst/>
            <a:gdLst/>
            <a:ahLst/>
            <a:cxnLst/>
            <a:rect l="0" t="0" r="0" b="0"/>
            <a:pathLst>
              <a:path w="39689" h="146051">
                <a:moveTo>
                  <a:pt x="39688"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208" name="StandardTextbox"/>
          <p:cNvSpPr>
            <a:spLocks noGrp="1"/>
          </p:cNvSpPr>
          <p:nvPr>
            <p:custDataLst>
              <p:tags r:id="rId8"/>
            </p:custDataLst>
          </p:nvPr>
        </p:nvSpPr>
        <p:spPr bwMode="auto">
          <a:xfrm>
            <a:off x="1147764" y="4097339"/>
            <a:ext cx="652463" cy="7334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87051FD-ECA4-4F31-8A9E-10D608A8C941}" type="datetime'Total Supply Required ''to ''Meet ''Average Demand'' (''FY26)'">
              <a:rPr lang="en-US" altLang="en-US" sz="800" b="0" smtClean="0">
                <a:sym typeface="+mn-lt"/>
              </a:rPr>
              <a:pPr lvl="1" algn="ctr">
                <a:spcBef>
                  <a:spcPct val="0"/>
                </a:spcBef>
                <a:spcAft>
                  <a:spcPct val="0"/>
                </a:spcAft>
              </a:pPr>
              <a:t>Total Supply Required to Meet Average Demand (FY26)</a:t>
            </a:fld>
            <a:endParaRPr lang="en-IN" sz="800" b="0" noProof="0" dirty="0">
              <a:sym typeface="+mn-lt"/>
            </a:endParaRPr>
          </a:p>
        </p:txBody>
      </p:sp>
      <p:sp>
        <p:nvSpPr>
          <p:cNvPr id="209" name="StandardTextbox"/>
          <p:cNvSpPr>
            <a:spLocks noGrp="1"/>
          </p:cNvSpPr>
          <p:nvPr>
            <p:custDataLst>
              <p:tags r:id="rId9"/>
            </p:custDataLst>
          </p:nvPr>
        </p:nvSpPr>
        <p:spPr bwMode="auto">
          <a:xfrm>
            <a:off x="1939925" y="4097339"/>
            <a:ext cx="438150" cy="36671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23A9126-A697-45BC-9CB7-71DECB865E83}" type="datetime'''A''v''e''rage De''''m''''''''''a''n''d (F''''''Y30'''')'''">
              <a:rPr lang="en-IN" altLang="en-US" sz="800" b="0" smtClean="0">
                <a:sym typeface="+mn-lt"/>
              </a:rPr>
              <a:pPr lvl="1" algn="ctr">
                <a:spcBef>
                  <a:spcPct val="0"/>
                </a:spcBef>
                <a:spcAft>
                  <a:spcPct val="0"/>
                </a:spcAft>
              </a:pPr>
              <a:t>Average Demand (FY30)</a:t>
            </a:fld>
            <a:endParaRPr lang="en-IN" sz="800" b="0" noProof="0" dirty="0">
              <a:sym typeface="+mn-lt"/>
            </a:endParaRPr>
          </a:p>
        </p:txBody>
      </p:sp>
      <p:sp>
        <p:nvSpPr>
          <p:cNvPr id="207" name="StandardTextbox"/>
          <p:cNvSpPr>
            <a:spLocks noGrp="1"/>
          </p:cNvSpPr>
          <p:nvPr>
            <p:custDataLst>
              <p:tags r:id="rId10"/>
            </p:custDataLst>
          </p:nvPr>
        </p:nvSpPr>
        <p:spPr bwMode="auto">
          <a:xfrm>
            <a:off x="566738" y="4097339"/>
            <a:ext cx="438150" cy="36671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D9F1319-95DD-49CC-B974-5477ED0A0331}" type="datetime'Av''e''r''ag''e'' ''''D''e''''''mand'''' (''''FY20)'''''">
              <a:rPr lang="en-IN" altLang="en-US" sz="800" b="0" smtClean="0">
                <a:sym typeface="+mn-lt"/>
              </a:rPr>
              <a:pPr lvl="1" algn="ctr">
                <a:spcBef>
                  <a:spcPct val="0"/>
                </a:spcBef>
                <a:spcAft>
                  <a:spcPct val="0"/>
                </a:spcAft>
              </a:pPr>
              <a:t>Average Demand (FY20)</a:t>
            </a:fld>
            <a:endParaRPr lang="en-IN" sz="800" b="0" noProof="0" dirty="0">
              <a:sym typeface="+mn-lt"/>
            </a:endParaRPr>
          </a:p>
        </p:txBody>
      </p:sp>
      <p:sp>
        <p:nvSpPr>
          <p:cNvPr id="211" name="StandardTextbox"/>
          <p:cNvSpPr>
            <a:spLocks noGrp="1"/>
          </p:cNvSpPr>
          <p:nvPr>
            <p:custDataLst>
              <p:tags r:id="rId11"/>
            </p:custDataLst>
          </p:nvPr>
        </p:nvSpPr>
        <p:spPr bwMode="auto">
          <a:xfrm>
            <a:off x="2520950" y="4097338"/>
            <a:ext cx="652463" cy="7334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5603551-1EA4-44AB-8F3C-CFED0A1E2719}" type="datetime'Total Supply Requi''red ''to Meet Average Demand (F''Y30'''')'">
              <a:rPr lang="en-US" altLang="en-US" sz="800" b="0" smtClean="0"/>
              <a:pPr lvl="1" algn="ctr">
                <a:spcBef>
                  <a:spcPct val="0"/>
                </a:spcBef>
                <a:spcAft>
                  <a:spcPct val="0"/>
                </a:spcAft>
              </a:pPr>
              <a:t>Total Supply Required to Meet Average Demand (FY30)</a:t>
            </a:fld>
            <a:endParaRPr lang="en-IN" sz="800" b="0" noProof="0" dirty="0">
              <a:sym typeface="+mn-lt"/>
            </a:endParaRPr>
          </a:p>
        </p:txBody>
      </p:sp>
      <p:sp>
        <p:nvSpPr>
          <p:cNvPr id="623" name="Isosceles Triangle 622"/>
          <p:cNvSpPr/>
          <p:nvPr/>
        </p:nvSpPr>
        <p:spPr bwMode="gray">
          <a:xfrm rot="5400000">
            <a:off x="2327943" y="3602705"/>
            <a:ext cx="2419885" cy="169579"/>
          </a:xfrm>
          <a:prstGeom prst="triangle">
            <a:avLst/>
          </a:prstGeom>
          <a:solidFill>
            <a:schemeClr val="bg1">
              <a:lumMod val="9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cxnSp>
        <p:nvCxnSpPr>
          <p:cNvPr id="293" name="Straight Connector 292"/>
          <p:cNvCxnSpPr/>
          <p:nvPr>
            <p:custDataLst>
              <p:tags r:id="rId12"/>
            </p:custDataLst>
          </p:nvPr>
        </p:nvCxnSpPr>
        <p:spPr bwMode="auto">
          <a:xfrm>
            <a:off x="6038850" y="3567113"/>
            <a:ext cx="35560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custDataLst>
              <p:tags r:id="rId13"/>
            </p:custDataLst>
          </p:nvPr>
        </p:nvCxnSpPr>
        <p:spPr bwMode="auto">
          <a:xfrm>
            <a:off x="4432300" y="2936875"/>
            <a:ext cx="35560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9" name="Straight Connector 288"/>
          <p:cNvCxnSpPr/>
          <p:nvPr>
            <p:custDataLst>
              <p:tags r:id="rId14"/>
            </p:custDataLst>
          </p:nvPr>
        </p:nvCxnSpPr>
        <p:spPr bwMode="auto">
          <a:xfrm>
            <a:off x="5235575" y="3567113"/>
            <a:ext cx="35560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custDataLst>
              <p:tags r:id="rId15"/>
            </p:custDataLst>
          </p:nvPr>
        </p:nvCxnSpPr>
        <p:spPr bwMode="auto">
          <a:xfrm>
            <a:off x="6842125" y="2900363"/>
            <a:ext cx="357188"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7" name="Straight Connector 296"/>
          <p:cNvCxnSpPr/>
          <p:nvPr>
            <p:custDataLst>
              <p:tags r:id="rId16"/>
            </p:custDataLst>
          </p:nvPr>
        </p:nvCxnSpPr>
        <p:spPr bwMode="auto">
          <a:xfrm>
            <a:off x="7646988" y="2900363"/>
            <a:ext cx="35560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custDataLst>
              <p:tags r:id="rId17"/>
            </p:custDataLst>
          </p:nvPr>
        </p:nvCxnSpPr>
        <p:spPr bwMode="auto">
          <a:xfrm>
            <a:off x="8450263" y="2927350"/>
            <a:ext cx="35560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1" name="Straight Connector 300"/>
          <p:cNvCxnSpPr/>
          <p:nvPr>
            <p:custDataLst>
              <p:tags r:id="rId18"/>
            </p:custDataLst>
          </p:nvPr>
        </p:nvCxnSpPr>
        <p:spPr bwMode="auto">
          <a:xfrm>
            <a:off x="9253538" y="2476500"/>
            <a:ext cx="35560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49" name="Chart 48"/>
          <p:cNvGraphicFramePr/>
          <p:nvPr>
            <p:custDataLst>
              <p:tags r:id="rId19"/>
            </p:custDataLst>
            <p:extLst>
              <p:ext uri="{D42A27DB-BD31-4B8C-83A1-F6EECF244321}">
                <p14:modId xmlns:p14="http://schemas.microsoft.com/office/powerpoint/2010/main" val="3934616058"/>
              </p:ext>
            </p:extLst>
          </p:nvPr>
        </p:nvGraphicFramePr>
        <p:xfrm>
          <a:off x="3724275" y="2393950"/>
          <a:ext cx="6592888" cy="1719263"/>
        </p:xfrm>
        <a:graphic>
          <a:graphicData uri="http://schemas.openxmlformats.org/drawingml/2006/chart">
            <c:chart xmlns:c="http://schemas.openxmlformats.org/drawingml/2006/chart" xmlns:r="http://schemas.openxmlformats.org/officeDocument/2006/relationships" r:id="rId43"/>
          </a:graphicData>
        </a:graphic>
      </p:graphicFrame>
      <p:sp>
        <p:nvSpPr>
          <p:cNvPr id="147" name="StandardTextbox"/>
          <p:cNvSpPr>
            <a:spLocks noGrp="1"/>
          </p:cNvSpPr>
          <p:nvPr>
            <p:custDataLst>
              <p:tags r:id="rId20"/>
            </p:custDataLst>
          </p:nvPr>
        </p:nvSpPr>
        <p:spPr bwMode="auto">
          <a:xfrm>
            <a:off x="6262688" y="4097338"/>
            <a:ext cx="712788" cy="85566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19D4E1D1-5E99-4BC9-9797-A3AE74B567EB}" type="thinkcell&lt;?xml version=&quot;1.0&quot; encoding=&quot;UTF-16&quot; standalone=&quot;yes&quot;?&gt;&lt;root reqver=&quot;25060&quot;&gt;&lt;version val=&quot;28278&quot;/&gt;&lt;PersistentType&gt;&lt;m_guid val=&quot;8549a223-6fab-4025-8b7b-38880d60ec2d&quot;/&gt;&lt;m_prec&gt;&lt;m_yearfmt&gt;&lt;begin val=&quot;0&quot;/&gt;&lt;end val=&quot;4&quot;/&gt;&lt;/m_yearfmt&gt;&lt;/m_prec&gt;&lt;/PersistentType&gt;&lt;/root&gt;">
              <a:rPr lang="en-US" altLang="en-US" sz="800" b="0" smtClean="0"/>
              <a:pPr lvl="1" algn="ctr">
                <a:spcBef>
                  <a:spcPct val="0"/>
                </a:spcBef>
                <a:spcAft>
                  <a:spcPct val="0"/>
                </a:spcAft>
              </a:pPr>
              <a:t>Additional Supply Capacity required to Meet Average Demand till FY26</a:t>
            </a:fld>
            <a:endParaRPr lang="en-IN" sz="800" b="0" noProof="0" dirty="0">
              <a:sym typeface="+mn-lt"/>
            </a:endParaRPr>
          </a:p>
        </p:txBody>
      </p:sp>
      <p:sp>
        <p:nvSpPr>
          <p:cNvPr id="57" name="StandardTextbox"/>
          <p:cNvSpPr>
            <a:spLocks noGrp="1"/>
          </p:cNvSpPr>
          <p:nvPr>
            <p:custDataLst>
              <p:tags r:id="rId21"/>
            </p:custDataLst>
          </p:nvPr>
        </p:nvSpPr>
        <p:spPr bwMode="auto">
          <a:xfrm>
            <a:off x="4675188" y="4097337"/>
            <a:ext cx="673100" cy="48895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A260DA1-8EC5-4A10-BC3E-D4AE6B89C3A0}" type="datetime'P''la''nn''ed'' Retire''ment / R''eplac''ement'' Capacity'">
              <a:rPr lang="en-IN" altLang="en-US" sz="800" b="0" smtClean="0"/>
              <a:pPr lvl="1" algn="ctr">
                <a:spcBef>
                  <a:spcPct val="0"/>
                </a:spcBef>
                <a:spcAft>
                  <a:spcPct val="0"/>
                </a:spcAft>
              </a:pPr>
              <a:t>Planned Retirement / Replacement Capacity</a:t>
            </a:fld>
            <a:endParaRPr lang="en-IN" sz="800" b="0" noProof="0" dirty="0">
              <a:sym typeface="+mn-lt"/>
            </a:endParaRPr>
          </a:p>
        </p:txBody>
      </p:sp>
      <p:sp>
        <p:nvSpPr>
          <p:cNvPr id="58" name="StandardTextbox"/>
          <p:cNvSpPr>
            <a:spLocks noGrp="1"/>
          </p:cNvSpPr>
          <p:nvPr>
            <p:custDataLst>
              <p:tags r:id="rId22"/>
            </p:custDataLst>
          </p:nvPr>
        </p:nvSpPr>
        <p:spPr bwMode="auto">
          <a:xfrm>
            <a:off x="3981450" y="4097338"/>
            <a:ext cx="454025" cy="36671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11E691C7-5DB7-49EA-A471-E9B3985EFAD2}" type="datetime'''Ins''''ta''''''ll''ed'' C''''ap''a''ci''ty (FY''1''''''9)'''">
              <a:rPr lang="en-IN" altLang="en-US" sz="800" b="0" smtClean="0"/>
              <a:pPr lvl="1" algn="ctr">
                <a:spcBef>
                  <a:spcPct val="0"/>
                </a:spcBef>
                <a:spcAft>
                  <a:spcPct val="0"/>
                </a:spcAft>
              </a:pPr>
              <a:t>Installed Capacity (FY19)</a:t>
            </a:fld>
            <a:endParaRPr lang="en-IN" sz="800" b="0" noProof="0" dirty="0">
              <a:sym typeface="+mn-lt"/>
            </a:endParaRPr>
          </a:p>
        </p:txBody>
      </p:sp>
      <p:sp>
        <p:nvSpPr>
          <p:cNvPr id="70" name="StandardTextbox"/>
          <p:cNvSpPr>
            <a:spLocks noGrp="1"/>
          </p:cNvSpPr>
          <p:nvPr>
            <p:custDataLst>
              <p:tags r:id="rId23"/>
            </p:custDataLst>
          </p:nvPr>
        </p:nvSpPr>
        <p:spPr bwMode="gray">
          <a:xfrm>
            <a:off x="4897438" y="3486150"/>
            <a:ext cx="230188" cy="122238"/>
          </a:xfrm>
          <a:prstGeom prst="rect">
            <a:avLst/>
          </a:prstGeom>
          <a:solidFill>
            <a:srgbClr val="046A38"/>
          </a:solidFill>
          <a:ln>
            <a:noFill/>
          </a:ln>
        </p:spPr>
        <p:txBody>
          <a:bodyPr vert="horz" wrap="none" lIns="17463" tIns="0" rIns="17463"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BC9C7654-3667-40D4-88FA-FBAAABBB92DD}" type="datetime'''''''''''''''''''''''6''''''7''''2'''''''''''''''''''">
              <a:rPr lang="en-IN" altLang="en-US" sz="800" b="0" smtClean="0">
                <a:solidFill>
                  <a:schemeClr val="bg1"/>
                </a:solidFill>
                <a:sym typeface="+mn-lt"/>
              </a:rPr>
              <a:pPr lvl="1" algn="ctr">
                <a:spcBef>
                  <a:spcPct val="0"/>
                </a:spcBef>
                <a:spcAft>
                  <a:spcPct val="0"/>
                </a:spcAft>
              </a:pPr>
              <a:t>672</a:t>
            </a:fld>
            <a:endParaRPr lang="en-IN" sz="800" b="0" noProof="0" dirty="0">
              <a:solidFill>
                <a:schemeClr val="bg1"/>
              </a:solidFill>
              <a:sym typeface="+mn-lt"/>
            </a:endParaRPr>
          </a:p>
        </p:txBody>
      </p:sp>
      <p:sp>
        <p:nvSpPr>
          <p:cNvPr id="170" name="StandardTextbox"/>
          <p:cNvSpPr>
            <a:spLocks noGrp="1"/>
          </p:cNvSpPr>
          <p:nvPr>
            <p:custDataLst>
              <p:tags r:id="rId24"/>
            </p:custDataLst>
          </p:nvPr>
        </p:nvSpPr>
        <p:spPr bwMode="auto">
          <a:xfrm>
            <a:off x="7937500" y="4097338"/>
            <a:ext cx="579438" cy="36671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875B504C-97CE-49E1-BF40-7E51B139BDD6}" type="datetime'''P''la''nn''ed R''''e''tire''m''''''en''t by F''Y''30'''''''">
              <a:rPr lang="en-IN" altLang="en-US" sz="800" b="0" smtClean="0"/>
              <a:pPr lvl="1" algn="ctr">
                <a:spcBef>
                  <a:spcPct val="0"/>
                </a:spcBef>
                <a:spcAft>
                  <a:spcPct val="0"/>
                </a:spcAft>
              </a:pPr>
              <a:t>Planned Retirement by FY30</a:t>
            </a:fld>
            <a:endParaRPr lang="en-IN" sz="800" b="0" noProof="0" dirty="0">
              <a:sym typeface="+mn-lt"/>
            </a:endParaRPr>
          </a:p>
        </p:txBody>
      </p:sp>
      <p:sp>
        <p:nvSpPr>
          <p:cNvPr id="133" name="StandardTextbox"/>
          <p:cNvSpPr>
            <a:spLocks noGrp="1"/>
          </p:cNvSpPr>
          <p:nvPr>
            <p:custDataLst>
              <p:tags r:id="rId25"/>
            </p:custDataLst>
          </p:nvPr>
        </p:nvSpPr>
        <p:spPr bwMode="auto">
          <a:xfrm>
            <a:off x="5483225" y="4097337"/>
            <a:ext cx="665163" cy="48895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910D517-B6C1-43B4-9FD7-07BBAFB440E9}" type="datetime'To''tal ''''''Dis''''''p''''atch''able C''apacity by FY2''6'''">
              <a:rPr lang="en-US" altLang="en-US" sz="800" b="0" smtClean="0"/>
              <a:pPr lvl="1" algn="ctr">
                <a:spcBef>
                  <a:spcPct val="0"/>
                </a:spcBef>
                <a:spcAft>
                  <a:spcPct val="0"/>
                </a:spcAft>
              </a:pPr>
              <a:t>Total Dispatchable Capacity by FY26</a:t>
            </a:fld>
            <a:endParaRPr lang="en-IN" sz="800" b="0" noProof="0" dirty="0">
              <a:sym typeface="+mn-lt"/>
            </a:endParaRPr>
          </a:p>
        </p:txBody>
      </p:sp>
      <p:sp>
        <p:nvSpPr>
          <p:cNvPr id="138" name="StandardTextbox"/>
          <p:cNvSpPr>
            <a:spLocks noGrp="1"/>
          </p:cNvSpPr>
          <p:nvPr>
            <p:custDataLst>
              <p:tags r:id="rId26"/>
            </p:custDataLst>
          </p:nvPr>
        </p:nvSpPr>
        <p:spPr bwMode="auto">
          <a:xfrm>
            <a:off x="7097713" y="4097339"/>
            <a:ext cx="652463" cy="36671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DC7EF47-D4D4-49FF-AADE-FA1B4F4EB313}" type="datetime'T''''otal'' ''Su''p''p''''''ly ''Capaci''ty by'' FY''''26'''''">
              <a:rPr lang="en-US" altLang="en-US" sz="800" b="0" smtClean="0"/>
              <a:pPr lvl="1" algn="ctr">
                <a:spcBef>
                  <a:spcPct val="0"/>
                </a:spcBef>
                <a:spcAft>
                  <a:spcPct val="0"/>
                </a:spcAft>
              </a:pPr>
              <a:t>Total Supply Capacity by FY26</a:t>
            </a:fld>
            <a:endParaRPr lang="en-IN" sz="800" b="0" noProof="0" dirty="0">
              <a:sym typeface="+mn-lt"/>
            </a:endParaRPr>
          </a:p>
        </p:txBody>
      </p:sp>
      <p:sp>
        <p:nvSpPr>
          <p:cNvPr id="174" name="StandardTextbox"/>
          <p:cNvSpPr>
            <a:spLocks noGrp="1"/>
          </p:cNvSpPr>
          <p:nvPr>
            <p:custDataLst>
              <p:tags r:id="rId27"/>
            </p:custDataLst>
          </p:nvPr>
        </p:nvSpPr>
        <p:spPr bwMode="gray">
          <a:xfrm>
            <a:off x="8112125" y="2852738"/>
            <a:ext cx="230188" cy="122238"/>
          </a:xfrm>
          <a:prstGeom prst="rect">
            <a:avLst/>
          </a:prstGeom>
          <a:solidFill>
            <a:srgbClr val="012169"/>
          </a:solidFill>
          <a:ln>
            <a:noFill/>
          </a:ln>
        </p:spPr>
        <p:txBody>
          <a:bodyPr vert="horz" wrap="none" lIns="17463" tIns="0" rIns="17463"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4590A4C-B851-41FA-9EE1-4A044DB966A5}" type="datetime'4''''''68'''''''''''''''''''''''''''''''''''''''''''''''''''''">
              <a:rPr lang="en-IN" altLang="en-US" sz="800" b="0" smtClean="0">
                <a:solidFill>
                  <a:schemeClr val="bg1"/>
                </a:solidFill>
                <a:sym typeface="+mn-lt"/>
              </a:rPr>
              <a:pPr lvl="1" algn="ctr">
                <a:spcBef>
                  <a:spcPct val="0"/>
                </a:spcBef>
                <a:spcAft>
                  <a:spcPct val="0"/>
                </a:spcAft>
              </a:pPr>
              <a:t>468</a:t>
            </a:fld>
            <a:endParaRPr lang="en-IN" sz="800" b="0" noProof="0" dirty="0">
              <a:solidFill>
                <a:schemeClr val="bg1"/>
              </a:solidFill>
              <a:sym typeface="+mn-lt"/>
            </a:endParaRPr>
          </a:p>
        </p:txBody>
      </p:sp>
      <p:sp>
        <p:nvSpPr>
          <p:cNvPr id="176" name="StandardTextbox"/>
          <p:cNvSpPr>
            <a:spLocks noGrp="1"/>
          </p:cNvSpPr>
          <p:nvPr>
            <p:custDataLst>
              <p:tags r:id="rId28"/>
            </p:custDataLst>
          </p:nvPr>
        </p:nvSpPr>
        <p:spPr bwMode="auto">
          <a:xfrm>
            <a:off x="8674100" y="4097338"/>
            <a:ext cx="712788" cy="85566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124191F1-02F0-4566-934C-EC6252E0B163}" type="thinkcell&lt;?xml version=&quot;1.0&quot; encoding=&quot;UTF-16&quot; standalone=&quot;yes&quot;?&gt;&lt;root reqver=&quot;25060&quot;&gt;&lt;version val=&quot;28278&quot;/&gt;&lt;PersistentType&gt;&lt;m_guid val=&quot;bd7698fe-75e3-4aea-a58e-c4798ad7ff3b&quot;/&gt;&lt;m_prec&gt;&lt;m_yearfmt&gt;&lt;begin val=&quot;0&quot;/&gt;&lt;end val=&quot;4&quot;/&gt;&lt;/m_yearfmt&gt;&lt;/m_prec&gt;&lt;/PersistentType&gt;&lt;/root&gt;">
              <a:rPr lang="en-US" altLang="en-US" sz="800" b="0" smtClean="0"/>
              <a:pPr lvl="1" algn="ctr">
                <a:spcBef>
                  <a:spcPct val="0"/>
                </a:spcBef>
                <a:spcAft>
                  <a:spcPct val="0"/>
                </a:spcAft>
              </a:pPr>
              <a:t>Additional Supply Capacity required to Meet Average Demand till FY30</a:t>
            </a:fld>
            <a:endParaRPr lang="en-IN" sz="800" b="0" noProof="0" dirty="0">
              <a:sym typeface="+mn-lt"/>
            </a:endParaRPr>
          </a:p>
        </p:txBody>
      </p:sp>
      <p:sp>
        <p:nvSpPr>
          <p:cNvPr id="182" name="StandardTextbox"/>
          <p:cNvSpPr>
            <a:spLocks noGrp="1"/>
          </p:cNvSpPr>
          <p:nvPr>
            <p:custDataLst>
              <p:tags r:id="rId29"/>
            </p:custDataLst>
          </p:nvPr>
        </p:nvSpPr>
        <p:spPr bwMode="auto">
          <a:xfrm>
            <a:off x="9507538" y="4097339"/>
            <a:ext cx="652463" cy="36671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336CD3C-C985-42A9-B2E4-83A610753A50}" type="datetime'T''''''''''o''tal Supp''''''ly ''Capaci''ty ''''''by'' FY30'">
              <a:rPr lang="en-US" altLang="en-US" sz="800" b="0" smtClean="0"/>
              <a:pPr lvl="1" algn="ctr">
                <a:spcBef>
                  <a:spcPct val="0"/>
                </a:spcBef>
                <a:spcAft>
                  <a:spcPct val="0"/>
                </a:spcAft>
              </a:pPr>
              <a:t>Total Supply Capacity by FY30</a:t>
            </a:fld>
            <a:endParaRPr lang="en-IN" sz="800" b="0" noProof="0" dirty="0">
              <a:sym typeface="+mn-lt"/>
            </a:endParaRPr>
          </a:p>
        </p:txBody>
      </p:sp>
      <p:sp>
        <p:nvSpPr>
          <p:cNvPr id="107" name="StandardTextbox"/>
          <p:cNvSpPr>
            <a:spLocks noGrp="1"/>
          </p:cNvSpPr>
          <p:nvPr>
            <p:custDataLst>
              <p:tags r:id="rId30"/>
            </p:custDataLst>
          </p:nvPr>
        </p:nvSpPr>
        <p:spPr bwMode="gray">
          <a:xfrm>
            <a:off x="4791075" y="3608388"/>
            <a:ext cx="442913"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D0BBEE4-66F2-450D-B331-4EC777AB434B}" type="datetime'''''''''-''''''''1''''''0,''''''9''''''''''1''''''''2'''''''''">
              <a:rPr lang="en-IN" altLang="en-US" sz="800" b="0" smtClean="0"/>
              <a:pPr lvl="1" algn="ctr">
                <a:spcBef>
                  <a:spcPct val="0"/>
                </a:spcBef>
                <a:spcAft>
                  <a:spcPct val="0"/>
                </a:spcAft>
              </a:pPr>
              <a:t>-10,912</a:t>
            </a:fld>
            <a:endParaRPr lang="en-IN" sz="800" b="0" noProof="0" dirty="0">
              <a:sym typeface="+mn-lt"/>
            </a:endParaRPr>
          </a:p>
        </p:txBody>
      </p:sp>
      <p:sp>
        <p:nvSpPr>
          <p:cNvPr id="46" name="StandardTextbox"/>
          <p:cNvSpPr>
            <a:spLocks noGrp="1"/>
          </p:cNvSpPr>
          <p:nvPr>
            <p:custDataLst>
              <p:tags r:id="rId31"/>
            </p:custDataLst>
          </p:nvPr>
        </p:nvSpPr>
        <p:spPr bwMode="gray">
          <a:xfrm>
            <a:off x="7224714" y="3405188"/>
            <a:ext cx="39687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BC349CF-D328-4C4A-9FE9-603BC03BADF0}" type="datetime'''''''1''9,''''''''''''''5''''9''''''1'''''''''''''''''">
              <a:rPr lang="en-IN" altLang="en-US" sz="800" b="0" smtClean="0">
                <a:sym typeface="+mn-lt"/>
              </a:rPr>
              <a:pPr lvl="1" algn="ctr">
                <a:spcBef>
                  <a:spcPct val="0"/>
                </a:spcBef>
                <a:spcAft>
                  <a:spcPct val="0"/>
                </a:spcAft>
              </a:pPr>
              <a:t>19,591</a:t>
            </a:fld>
            <a:endParaRPr lang="en-IN" sz="800" b="0" noProof="0" dirty="0">
              <a:sym typeface="+mn-lt"/>
            </a:endParaRPr>
          </a:p>
        </p:txBody>
      </p:sp>
      <p:sp>
        <p:nvSpPr>
          <p:cNvPr id="47" name="StandardTextbox"/>
          <p:cNvSpPr>
            <a:spLocks noGrp="1"/>
          </p:cNvSpPr>
          <p:nvPr>
            <p:custDataLst>
              <p:tags r:id="rId32"/>
            </p:custDataLst>
          </p:nvPr>
        </p:nvSpPr>
        <p:spPr bwMode="gray">
          <a:xfrm>
            <a:off x="9634539" y="3192463"/>
            <a:ext cx="39687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523FFF4-BD18-4790-9523-D48F4779B5B6}" type="datetime'''''''2''''''''''''''''''''''''''''''6'''',''9''5''1'''">
              <a:rPr lang="en-IN" altLang="en-US" sz="800" b="0" smtClean="0">
                <a:sym typeface="+mn-lt"/>
              </a:rPr>
              <a:pPr lvl="1" algn="ctr">
                <a:spcBef>
                  <a:spcPct val="0"/>
                </a:spcBef>
                <a:spcAft>
                  <a:spcPct val="0"/>
                </a:spcAft>
              </a:pPr>
              <a:t>26,951</a:t>
            </a:fld>
            <a:endParaRPr lang="en-IN" sz="800" b="0" noProof="0" dirty="0">
              <a:sym typeface="+mn-lt"/>
            </a:endParaRPr>
          </a:p>
        </p:txBody>
      </p:sp>
      <p:sp>
        <p:nvSpPr>
          <p:cNvPr id="41" name="Rectangle 40"/>
          <p:cNvSpPr/>
          <p:nvPr>
            <p:custDataLst>
              <p:tags r:id="rId33"/>
            </p:custDataLst>
          </p:nvPr>
        </p:nvSpPr>
        <p:spPr bwMode="auto">
          <a:xfrm>
            <a:off x="7373938" y="4994275"/>
            <a:ext cx="142875" cy="106363"/>
          </a:xfrm>
          <a:prstGeom prst="rect">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42" name="Rectangle 41"/>
          <p:cNvSpPr/>
          <p:nvPr>
            <p:custDataLst>
              <p:tags r:id="rId34"/>
            </p:custDataLst>
          </p:nvPr>
        </p:nvSpPr>
        <p:spPr bwMode="auto">
          <a:xfrm>
            <a:off x="3848100" y="4994275"/>
            <a:ext cx="142875" cy="106363"/>
          </a:xfrm>
          <a:prstGeom prst="rect">
            <a:avLst/>
          </a:prstGeom>
          <a:solidFill>
            <a:srgbClr val="01216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0" name="Rectangle 29"/>
          <p:cNvSpPr/>
          <p:nvPr>
            <p:custDataLst>
              <p:tags r:id="rId35"/>
            </p:custDataLst>
          </p:nvPr>
        </p:nvSpPr>
        <p:spPr bwMode="auto">
          <a:xfrm>
            <a:off x="5151438" y="4994275"/>
            <a:ext cx="142875" cy="106363"/>
          </a:xfrm>
          <a:prstGeom prst="rect">
            <a:avLst/>
          </a:prstGeom>
          <a:solidFill>
            <a:srgbClr val="62B5E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17" name="StandardTextbox"/>
          <p:cNvSpPr>
            <a:spLocks noGrp="1"/>
          </p:cNvSpPr>
          <p:nvPr>
            <p:custDataLst>
              <p:tags r:id="rId36"/>
            </p:custDataLst>
          </p:nvPr>
        </p:nvSpPr>
        <p:spPr bwMode="auto">
          <a:xfrm>
            <a:off x="4041775" y="4989513"/>
            <a:ext cx="1008063"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B11DCCD0-0DD3-484C-A34C-B0FD665CEAE5}" type="datetime'''''P''l''an''''ne''''d Ret''ir''''''e''''''men''t'''">
              <a:rPr lang="en-IN" altLang="en-US" sz="800" b="0" smtClean="0"/>
              <a:pPr lvl="1">
                <a:spcBef>
                  <a:spcPct val="0"/>
                </a:spcBef>
                <a:spcAft>
                  <a:spcPct val="0"/>
                </a:spcAft>
              </a:pPr>
              <a:t>Planned Retirement</a:t>
            </a:fld>
            <a:endParaRPr lang="en-IN" sz="800" b="0" noProof="0" dirty="0">
              <a:sym typeface="+mn-lt"/>
            </a:endParaRPr>
          </a:p>
        </p:txBody>
      </p:sp>
      <p:sp>
        <p:nvSpPr>
          <p:cNvPr id="106" name="StandardTextbox"/>
          <p:cNvSpPr>
            <a:spLocks noGrp="1"/>
          </p:cNvSpPr>
          <p:nvPr>
            <p:custDataLst>
              <p:tags r:id="rId37"/>
            </p:custDataLst>
          </p:nvPr>
        </p:nvSpPr>
        <p:spPr bwMode="auto">
          <a:xfrm>
            <a:off x="5345113" y="4989513"/>
            <a:ext cx="19272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FB102FF2-BDA8-4B81-899F-7FACB0E208BA}" type="datetime'Rep''''lacement of'' ''Liqui''''d / R''e''ntal P''lants'''">
              <a:rPr lang="en-US" altLang="en-US" sz="800" b="0" smtClean="0"/>
              <a:pPr lvl="1">
                <a:spcBef>
                  <a:spcPct val="0"/>
                </a:spcBef>
                <a:spcAft>
                  <a:spcPct val="0"/>
                </a:spcAft>
              </a:pPr>
              <a:t>Replacement of Liquid / Rental Plants</a:t>
            </a:fld>
            <a:endParaRPr lang="en-IN" sz="800" b="0" noProof="0" dirty="0">
              <a:sym typeface="+mn-lt"/>
            </a:endParaRPr>
          </a:p>
        </p:txBody>
      </p:sp>
      <p:sp>
        <p:nvSpPr>
          <p:cNvPr id="111" name="StandardTextbox"/>
          <p:cNvSpPr>
            <a:spLocks noGrp="1"/>
          </p:cNvSpPr>
          <p:nvPr>
            <p:custDataLst>
              <p:tags r:id="rId38"/>
            </p:custDataLst>
          </p:nvPr>
        </p:nvSpPr>
        <p:spPr bwMode="auto">
          <a:xfrm>
            <a:off x="7567613" y="4989513"/>
            <a:ext cx="224155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9CCE03CF-7213-44BA-91AB-6B526D308031}" type="datetime'''Lower Dispatch du''e to i''neffi''''cient gas'' plants'">
              <a:rPr lang="en-US" altLang="en-US" sz="800" b="0" smtClean="0"/>
              <a:pPr lvl="1">
                <a:spcBef>
                  <a:spcPct val="0"/>
                </a:spcBef>
                <a:spcAft>
                  <a:spcPct val="0"/>
                </a:spcAft>
              </a:pPr>
              <a:t>Lower Dispatch due to inefficient gas plants</a:t>
            </a:fld>
            <a:endParaRPr lang="en-IN" sz="800" b="0" noProof="0" dirty="0">
              <a:sym typeface="+mn-lt"/>
            </a:endParaRPr>
          </a:p>
        </p:txBody>
      </p:sp>
      <p:sp>
        <p:nvSpPr>
          <p:cNvPr id="44" name="Rectangle 43"/>
          <p:cNvSpPr/>
          <p:nvPr/>
        </p:nvSpPr>
        <p:spPr bwMode="gray">
          <a:xfrm>
            <a:off x="368001" y="7254331"/>
            <a:ext cx="9941523" cy="298935"/>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levels of each power plant in Bangladesh 2) For plants not covered under PSMP, an average PPA duration for 22 years has been considered for Non-Rental Plants (and an extension of 5 years for some cases beyond 22 years) and (5+5) years for Rental / Quick Rental Plants. 3) Replacement of Liquid / Rental plants has been considered as their current average tariff ranges from Tk 9 / unit – Tk 28+ / unit whereas Gas / LNG / Nuclear / Imported Coal based plants are expected to have per unit tariff at less than TK 9 / unit based on estimates </a:t>
            </a:r>
          </a:p>
        </p:txBody>
      </p:sp>
      <p:sp>
        <p:nvSpPr>
          <p:cNvPr id="45" name="Rectangle 44"/>
          <p:cNvSpPr/>
          <p:nvPr/>
        </p:nvSpPr>
        <p:spPr bwMode="gray">
          <a:xfrm>
            <a:off x="2848876" y="7096165"/>
            <a:ext cx="7221960" cy="198857"/>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BPDB; PSMP 2016, Deloitte Analysis Note: 1) Plant Retirement Based on PSMP 2016 projections as well as estimations based on COD / dispatch</a:t>
            </a:r>
          </a:p>
        </p:txBody>
      </p:sp>
    </p:spTree>
    <p:extLst>
      <p:ext uri="{BB962C8B-B14F-4D97-AF65-F5344CB8AC3E}">
        <p14:creationId xmlns:p14="http://schemas.microsoft.com/office/powerpoint/2010/main" val="3178756083"/>
      </p:ext>
    </p:extLst>
  </p:cSld>
  <p:clrMapOvr>
    <a:masterClrMapping/>
  </p:clrMapOvr>
  <p:transition>
    <p:fade/>
  </p:transition>
</p:sld>
</file>

<file path=ppt/slides/slide56.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266810805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US" sz="3898" b="1" u="none" strike="noStrike" kern="1200" cap="none" spc="0" normalizeH="0" noProof="0" dirty="0">
              <a:ln>
                <a:noFill/>
              </a:ln>
              <a:solidFill>
                <a:prstClr val="white"/>
              </a:solidFill>
              <a:effectLst/>
              <a:uLnTx/>
              <a:uFillTx/>
              <a:latin typeface="Verdana" panose="020B0604030504040204" pitchFamily="34" charset="0"/>
              <a:ea typeface="Open Sans" panose="020B0606030504020204" pitchFamily="34" charset="0"/>
              <a:cs typeface="Open Sans" panose="020B0606030504020204" pitchFamily="34" charset="0"/>
              <a:sym typeface="Verdana" panose="020B0604030504040204" pitchFamily="34" charset="0"/>
            </a:endParaRPr>
          </a:p>
        </p:txBody>
      </p:sp>
      <p:sp>
        <p:nvSpPr>
          <p:cNvPr id="2" name="Title 1"/>
          <p:cNvSpPr>
            <a:spLocks noGrp="1"/>
          </p:cNvSpPr>
          <p:nvPr>
            <p:ph type="title"/>
          </p:nvPr>
        </p:nvSpPr>
        <p:spPr/>
        <p:txBody>
          <a:bodyPr/>
          <a:lstStyle/>
          <a:p>
            <a:r>
              <a:rPr lang="en-US" dirty="0"/>
              <a:t>Power Market Supply Projection</a:t>
            </a:r>
            <a:endParaRPr lang="en-IN" dirty="0"/>
          </a:p>
        </p:txBody>
      </p:sp>
    </p:spTree>
    <p:extLst>
      <p:ext uri="{BB962C8B-B14F-4D97-AF65-F5344CB8AC3E}">
        <p14:creationId xmlns:p14="http://schemas.microsoft.com/office/powerpoint/2010/main" val="230999213"/>
      </p:ext>
    </p:extLst>
  </p:cSld>
  <p:clrMapOvr>
    <a:masterClrMapping/>
  </p:clrMapOvr>
  <p:transition>
    <p:fade/>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217605262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5" imgW="530" imgH="531" progId="TCLayout.ActiveDocument.1">
                  <p:embed/>
                </p:oleObj>
              </mc:Choice>
              <mc:Fallback>
                <p:oleObj name="think-cell Slide" r:id="rId55" imgW="530" imgH="531" progId="TCLayout.ActiveDocument.1">
                  <p:embed/>
                  <p:pic>
                    <p:nvPicPr>
                      <p:cNvPr id="4" name="Object 3" hidden="1"/>
                      <p:cNvPicPr/>
                      <p:nvPr/>
                    </p:nvPicPr>
                    <p:blipFill>
                      <a:blip r:embed="rId5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IN" sz="1000" u="none" strike="noStrike" kern="1200" cap="none" spc="0" normalizeH="0" noProof="0" dirty="0">
              <a:ln>
                <a:noFill/>
              </a:ln>
              <a:solidFill>
                <a:prstClr val="white"/>
              </a:solidFill>
              <a:effectLst/>
              <a:uLnTx/>
              <a:uFillTx/>
              <a:latin typeface="Verdana" panose="020B0604030504040204" pitchFamily="34" charset="0"/>
              <a:sym typeface="Verdana" panose="020B0604030504040204" pitchFamily="34" charset="0"/>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2335550816"/>
              </p:ext>
            </p:ext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figure shows the Additional Fuel Wise Capacity (MW) being added in the Bangladesh Power System by FY26:</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figure shows Total Expected Retirement for Power Plants in Bangladesh by FY26:</a:t>
                      </a:r>
                    </a:p>
                    <a:p>
                      <a:pPr marL="171450" lvl="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Power Market | Supply Projection</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 GoB is</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tracking projects with</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~17,640 MW of incremental capacity by FY26 with ~11,000 MW based on imported fuels such as coal,</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LNG &amp; Nuclear by FY26; However </a:t>
            </a:r>
            <a:r>
              <a:rPr lang="en-US" sz="1400" dirty="0">
                <a:solidFill>
                  <a:prstClr val="black">
                    <a:lumMod val="50000"/>
                    <a:lumOff val="50000"/>
                  </a:prstClr>
                </a:solidFill>
                <a:latin typeface="Verdana" panose="020B0604030504040204" pitchFamily="34" charset="0"/>
              </a:rPr>
              <a:t>not all of these plants are expected to be commissioned by FY26</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2277794590"/>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lgn="just">
                        <a:spcAft>
                          <a:spcPts val="500"/>
                        </a:spcAft>
                        <a:buFont typeface="Arial" panose="020B0604020202020204" pitchFamily="34" charset="0"/>
                        <a:buNone/>
                      </a:pPr>
                      <a:r>
                        <a:rPr lang="en-US" sz="1000" b="1" baseline="0" dirty="0">
                          <a:solidFill>
                            <a:schemeClr val="tx1"/>
                          </a:solidFill>
                        </a:rPr>
                        <a:t>Installed Capacity Projection</a:t>
                      </a:r>
                      <a:endParaRPr lang="en-US" sz="1000" b="0" baseline="0" dirty="0">
                        <a:solidFill>
                          <a:schemeClr val="tx1"/>
                        </a:solidFill>
                      </a:endParaRPr>
                    </a:p>
                    <a:p>
                      <a:pPr marL="171450" indent="-171450" algn="just">
                        <a:spcAft>
                          <a:spcPts val="500"/>
                        </a:spcAft>
                        <a:buFont typeface="Arial" panose="020B0604020202020204" pitchFamily="34" charset="0"/>
                        <a:buChar char="•"/>
                      </a:pPr>
                      <a:r>
                        <a:rPr lang="en-US" sz="1000" b="0" baseline="0" dirty="0">
                          <a:solidFill>
                            <a:schemeClr val="tx1"/>
                          </a:solidFill>
                        </a:rPr>
                        <a:t>Considering the challenges of reducing domestic natural gas reserves, the Government of Bangladesh along with various private players has planned ~17,640 MW of additional power capacity in Bangladesh</a:t>
                      </a:r>
                    </a:p>
                    <a:p>
                      <a:pPr marL="171450" indent="-171450" algn="just">
                        <a:spcAft>
                          <a:spcPts val="500"/>
                        </a:spcAft>
                        <a:buFont typeface="Arial" panose="020B0604020202020204" pitchFamily="34" charset="0"/>
                        <a:buChar char="•"/>
                      </a:pPr>
                      <a:r>
                        <a:rPr lang="en-US" sz="1000" b="0" baseline="0" dirty="0">
                          <a:solidFill>
                            <a:schemeClr val="tx1"/>
                          </a:solidFill>
                        </a:rPr>
                        <a:t>As energy security measures GoB is promoting imported LNG, imported Coal &amp; nuclear based power as a substitute to the cheaper domestic natural gas based power in Bangladesh and has planned ~12,900 MW from these imported fuels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The imported power includes ~1,800 MW of power procurement from India</a:t>
                      </a:r>
                    </a:p>
                    <a:p>
                      <a:pPr marL="171450" indent="-171450" algn="just">
                        <a:spcAft>
                          <a:spcPts val="500"/>
                        </a:spcAft>
                        <a:buFont typeface="Arial" panose="020B0604020202020204" pitchFamily="34" charset="0"/>
                        <a:buChar char="•"/>
                      </a:pPr>
                      <a:r>
                        <a:rPr lang="en-US" sz="1000" b="1" i="1" baseline="0" dirty="0">
                          <a:solidFill>
                            <a:schemeClr val="tx1"/>
                          </a:solidFill>
                        </a:rPr>
                        <a:t>HFO &amp; HSD based power is also being planned in the period to support the peak power requirement till newer &amp; efficient plants aren’t commissioned</a:t>
                      </a:r>
                    </a:p>
                    <a:p>
                      <a:pPr marL="0" indent="0" algn="just">
                        <a:spcAft>
                          <a:spcPts val="500"/>
                        </a:spcAft>
                        <a:buFont typeface="Arial" panose="020B0604020202020204" pitchFamily="34" charset="0"/>
                        <a:buNone/>
                      </a:pPr>
                      <a:endParaRPr lang="en-US" sz="1000" b="1" baseline="0" dirty="0">
                        <a:solidFill>
                          <a:schemeClr val="tx1"/>
                        </a:solidFill>
                      </a:endParaRPr>
                    </a:p>
                    <a:p>
                      <a:pPr marL="0" indent="0" algn="just">
                        <a:spcAft>
                          <a:spcPts val="500"/>
                        </a:spcAft>
                        <a:buFont typeface="Arial" panose="020B0604020202020204" pitchFamily="34" charset="0"/>
                        <a:buNone/>
                      </a:pPr>
                      <a:r>
                        <a:rPr lang="en-US" sz="1000" b="1" baseline="0" dirty="0">
                          <a:solidFill>
                            <a:schemeClr val="tx1"/>
                          </a:solidFill>
                        </a:rPr>
                        <a:t>Retirement Projections</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For retirement of power plants, we have considered the PSMP 2016 projections for retirement</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We have also considered a maximum tenure for 22 years for most power plants (non-rental  / public and BPDB) and 10 years for rental and quick rental power plants not covered under PSMP 2016</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Further, we have also considered the existing dispatch of power plant and their historical dispatch rates to assess and estimate tentative retirements </a:t>
                      </a:r>
                    </a:p>
                    <a:p>
                      <a:pPr marL="171450" indent="-171450" algn="just" defTabSz="990571" rtl="0" eaLnBrk="1" latinLnBrk="0" hangingPunct="1">
                        <a:spcAft>
                          <a:spcPts val="500"/>
                        </a:spcAft>
                        <a:buFont typeface="Arial" panose="020B0604020202020204" pitchFamily="34" charset="0"/>
                        <a:buChar char="•"/>
                      </a:pPr>
                      <a:r>
                        <a:rPr lang="en-US" sz="1000" b="1" i="1" kern="1200" baseline="0" dirty="0">
                          <a:solidFill>
                            <a:schemeClr val="tx1"/>
                          </a:solidFill>
                          <a:latin typeface="+mn-lt"/>
                          <a:ea typeface="+mn-ea"/>
                          <a:cs typeface="+mn-cs"/>
                        </a:rPr>
                        <a:t>Thus, about ~5,474 MW of installed capacity is expected to be retired by FY26</a:t>
                      </a: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1"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cxnSp>
        <p:nvCxnSpPr>
          <p:cNvPr id="6" name="Straight Connector 5"/>
          <p:cNvCxnSpPr/>
          <p:nvPr>
            <p:custDataLst>
              <p:tags r:id="rId5"/>
            </p:custDataLst>
          </p:nvPr>
        </p:nvCxnSpPr>
        <p:spPr bwMode="auto">
          <a:xfrm>
            <a:off x="5932489" y="3859213"/>
            <a:ext cx="233363"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custDataLst>
              <p:tags r:id="rId6"/>
            </p:custDataLst>
          </p:nvPr>
        </p:nvCxnSpPr>
        <p:spPr bwMode="auto">
          <a:xfrm>
            <a:off x="6457951" y="3613150"/>
            <a:ext cx="233363"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custDataLst>
              <p:tags r:id="rId7"/>
            </p:custDataLst>
          </p:nvPr>
        </p:nvCxnSpPr>
        <p:spPr bwMode="auto">
          <a:xfrm>
            <a:off x="6985001" y="3062288"/>
            <a:ext cx="233363"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custDataLst>
              <p:tags r:id="rId8"/>
            </p:custDataLst>
          </p:nvPr>
        </p:nvCxnSpPr>
        <p:spPr bwMode="auto">
          <a:xfrm>
            <a:off x="7510464" y="2913063"/>
            <a:ext cx="233363"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custDataLst>
              <p:tags r:id="rId9"/>
            </p:custDataLst>
          </p:nvPr>
        </p:nvCxnSpPr>
        <p:spPr bwMode="auto">
          <a:xfrm>
            <a:off x="8035926" y="2786063"/>
            <a:ext cx="233363"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custDataLst>
              <p:tags r:id="rId10"/>
            </p:custDataLst>
          </p:nvPr>
        </p:nvCxnSpPr>
        <p:spPr bwMode="auto">
          <a:xfrm>
            <a:off x="8561389" y="2773363"/>
            <a:ext cx="233363"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custDataLst>
              <p:tags r:id="rId11"/>
            </p:custDataLst>
          </p:nvPr>
        </p:nvCxnSpPr>
        <p:spPr bwMode="auto">
          <a:xfrm>
            <a:off x="9088439" y="2771775"/>
            <a:ext cx="233363"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custDataLst>
              <p:tags r:id="rId12"/>
            </p:custDataLst>
          </p:nvPr>
        </p:nvCxnSpPr>
        <p:spPr bwMode="auto">
          <a:xfrm>
            <a:off x="9613901" y="2674938"/>
            <a:ext cx="233363"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 name="Rectangle 13"/>
          <p:cNvSpPr/>
          <p:nvPr>
            <p:custDataLst>
              <p:tags r:id="rId13"/>
            </p:custDataLst>
          </p:nvPr>
        </p:nvSpPr>
        <p:spPr bwMode="auto">
          <a:xfrm>
            <a:off x="8794750" y="2771775"/>
            <a:ext cx="293688" cy="1588"/>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graphicFrame>
        <p:nvGraphicFramePr>
          <p:cNvPr id="62" name="Chart 61"/>
          <p:cNvGraphicFramePr/>
          <p:nvPr>
            <p:custDataLst>
              <p:tags r:id="rId14"/>
            </p:custDataLst>
            <p:extLst>
              <p:ext uri="{D42A27DB-BD31-4B8C-83A1-F6EECF244321}">
                <p14:modId xmlns:p14="http://schemas.microsoft.com/office/powerpoint/2010/main" val="4200560404"/>
              </p:ext>
            </p:extLst>
          </p:nvPr>
        </p:nvGraphicFramePr>
        <p:xfrm>
          <a:off x="5441950" y="2474913"/>
          <a:ext cx="4897438" cy="1711325"/>
        </p:xfrm>
        <a:graphic>
          <a:graphicData uri="http://schemas.openxmlformats.org/drawingml/2006/chart">
            <c:chart xmlns:c="http://schemas.openxmlformats.org/drawingml/2006/chart" xmlns:r="http://schemas.openxmlformats.org/officeDocument/2006/relationships" r:id="rId57"/>
          </a:graphicData>
        </a:graphic>
      </p:graphicFrame>
      <p:cxnSp>
        <p:nvCxnSpPr>
          <p:cNvPr id="26" name="Straight Connector 25"/>
          <p:cNvCxnSpPr/>
          <p:nvPr>
            <p:custDataLst>
              <p:tags r:id="rId15"/>
            </p:custDataLst>
          </p:nvPr>
        </p:nvCxnSpPr>
        <p:spPr bwMode="auto">
          <a:xfrm flipV="1">
            <a:off x="8940800" y="2773363"/>
            <a:ext cx="0" cy="25400"/>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custDataLst>
              <p:tags r:id="rId16"/>
            </p:custDataLst>
          </p:nvPr>
        </p:nvCxnSpPr>
        <p:spPr bwMode="auto">
          <a:xfrm flipV="1">
            <a:off x="9467850" y="2724150"/>
            <a:ext cx="0" cy="73025"/>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2" name="StandardTextbox"/>
          <p:cNvSpPr>
            <a:spLocks noGrp="1"/>
          </p:cNvSpPr>
          <p:nvPr>
            <p:custDataLst>
              <p:tags r:id="rId17"/>
            </p:custDataLst>
          </p:nvPr>
        </p:nvSpPr>
        <p:spPr bwMode="gray">
          <a:xfrm>
            <a:off x="7159625" y="2911475"/>
            <a:ext cx="411163" cy="152400"/>
          </a:xfrm>
          <a:prstGeom prst="rect">
            <a:avLst/>
          </a:prstGeom>
          <a:solidFill>
            <a:schemeClr val="accent4"/>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E8AA3E6C-4684-4AFC-A476-71FE82586CD0}" type="datetime'''''''''''''''''''''''''1'''''''''''''''',''83''''''6'''''''''">
              <a:rPr kumimoji="0" lang="en-IN" altLang="en-US" sz="1000" b="0" i="0" u="none" strike="noStrike" kern="1200" cap="none" spc="0" normalizeH="0" baseline="0" noProof="0" smtClean="0">
                <a:ln>
                  <a:noFill/>
                </a:ln>
                <a:solidFill>
                  <a:prstClr val="white"/>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1,836</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57" name="StandardTextbox"/>
          <p:cNvSpPr>
            <a:spLocks noGrp="1"/>
          </p:cNvSpPr>
          <p:nvPr>
            <p:custDataLst>
              <p:tags r:id="rId18"/>
            </p:custDataLst>
          </p:nvPr>
        </p:nvSpPr>
        <p:spPr bwMode="auto">
          <a:xfrm>
            <a:off x="6534150" y="4189413"/>
            <a:ext cx="608013"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5B51FFE-8F64-4E71-935A-B9775A43B923}" type="datetime'I''''''m''''''p''''''''o''rt''e''''''''d ''''''''''Co''a''''l'">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Imported Coal</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3" name="StandardTextbox"/>
          <p:cNvSpPr>
            <a:spLocks noGrp="1"/>
          </p:cNvSpPr>
          <p:nvPr>
            <p:custDataLst>
              <p:tags r:id="rId19"/>
            </p:custDataLst>
          </p:nvPr>
        </p:nvSpPr>
        <p:spPr bwMode="auto">
          <a:xfrm>
            <a:off x="6173788" y="4189413"/>
            <a:ext cx="2778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BF05FEE-2B52-43F3-8C76-4B37153FBC95}" type="datetime'''''''''''''''L''''''N''''''''''G'''">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LNG</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89" name="StandardTextbox"/>
          <p:cNvSpPr>
            <a:spLocks noGrp="1"/>
          </p:cNvSpPr>
          <p:nvPr>
            <p:custDataLst>
              <p:tags r:id="rId20"/>
            </p:custDataLst>
          </p:nvPr>
        </p:nvSpPr>
        <p:spPr bwMode="gray">
          <a:xfrm>
            <a:off x="8880475" y="2798763"/>
            <a:ext cx="122238" cy="152400"/>
          </a:xfrm>
          <a:prstGeom prst="rect">
            <a:avLst/>
          </a:prstGeom>
          <a:noFill/>
          <a:ln>
            <a:noFill/>
          </a:ln>
          <a:extLst>
            <a:ext uri="{909E8E84-426E-40DD-AFC4-6F175D3DCCD1}">
              <a14:hiddenFill xmlns:a14="http://schemas.microsoft.com/office/drawing/2010/main">
                <a:solidFill>
                  <a:srgbClr val="86BC25"/>
                </a:solidFill>
              </a14:hiddenFill>
            </a:ext>
          </a:extLst>
        </p:spPr>
        <p:txBody>
          <a:bodyPr vert="horz" wrap="none" lIns="20638" tIns="0" rIns="20638"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C5FFF9C4-0765-4A4C-9E8B-DB5CC13B72E8}" type="datetime'''''''''''''''''''''''''''''''''''''''''''''''''''8'">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8</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2" name="StandardTextbox"/>
          <p:cNvSpPr>
            <a:spLocks noGrp="1"/>
          </p:cNvSpPr>
          <p:nvPr>
            <p:custDataLst>
              <p:tags r:id="rId21"/>
            </p:custDataLst>
          </p:nvPr>
        </p:nvSpPr>
        <p:spPr bwMode="auto">
          <a:xfrm>
            <a:off x="5659438" y="4189413"/>
            <a:ext cx="2540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85A4023A-DA6C-4378-8395-C1E84C7B8A0B}" type="datetime'''''''''''''G''''''''a''''''''''s'''''''''''''''''">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Gas</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94" name="StandardTextbox"/>
          <p:cNvSpPr>
            <a:spLocks noGrp="1"/>
          </p:cNvSpPr>
          <p:nvPr>
            <p:custDataLst>
              <p:tags r:id="rId22"/>
            </p:custDataLst>
          </p:nvPr>
        </p:nvSpPr>
        <p:spPr bwMode="gray">
          <a:xfrm>
            <a:off x="6107113" y="3659188"/>
            <a:ext cx="411163" cy="152400"/>
          </a:xfrm>
          <a:prstGeom prst="rect">
            <a:avLst/>
          </a:prstGeom>
          <a:solidFill>
            <a:srgbClr val="43B02A"/>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4D94EEE-89D9-47B5-B775-4796923D253A}" type="datetime'''3'''''',0''''''''''3''''''''''''''''''''5'''''''">
              <a:rPr kumimoji="0" lang="en-IN" altLang="en-US" sz="1000" b="0" i="0" u="none" strike="noStrike" kern="1200" cap="none" spc="0" normalizeH="0" baseline="0" noProof="0" smtClean="0">
                <a:ln>
                  <a:noFill/>
                </a:ln>
                <a:solidFill>
                  <a:prstClr val="white"/>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3,035</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63" name="StandardTextbox"/>
          <p:cNvSpPr>
            <a:spLocks noGrp="1"/>
          </p:cNvSpPr>
          <p:nvPr>
            <p:custDataLst>
              <p:tags r:id="rId23"/>
            </p:custDataLst>
          </p:nvPr>
        </p:nvSpPr>
        <p:spPr bwMode="auto">
          <a:xfrm>
            <a:off x="7138988" y="4189413"/>
            <a:ext cx="452438"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E899D94-6E39-40D5-A616-1F462C64E8E6}" type="datetime'''''Pow''e''r'' ''I''''''m''''''''''''por''''t'''''''''''">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Power Import</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95" name="StandardTextbox"/>
          <p:cNvSpPr>
            <a:spLocks noGrp="1"/>
          </p:cNvSpPr>
          <p:nvPr>
            <p:custDataLst>
              <p:tags r:id="rId24"/>
            </p:custDataLst>
          </p:nvPr>
        </p:nvSpPr>
        <p:spPr bwMode="gray">
          <a:xfrm>
            <a:off x="6632575" y="3260725"/>
            <a:ext cx="411163" cy="152400"/>
          </a:xfrm>
          <a:prstGeom prst="rect">
            <a:avLst/>
          </a:prstGeom>
          <a:solidFill>
            <a:schemeClr val="bg2"/>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C9805840-A646-4723-9496-06002BD07331}" type="datetime'''6'',81''''''''''''''''''1'''''''''">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6,811</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97" name="StandardTextbox"/>
          <p:cNvSpPr>
            <a:spLocks noGrp="1"/>
          </p:cNvSpPr>
          <p:nvPr>
            <p:custDataLst>
              <p:tags r:id="rId25"/>
            </p:custDataLst>
          </p:nvPr>
        </p:nvSpPr>
        <p:spPr bwMode="gray">
          <a:xfrm>
            <a:off x="7685088" y="2773363"/>
            <a:ext cx="411163" cy="152400"/>
          </a:xfrm>
          <a:prstGeom prst="rect">
            <a:avLst/>
          </a:prstGeom>
          <a:solidFill>
            <a:srgbClr val="86BC25"/>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2BB8FE6-022C-4661-9E3B-026289858ED1}" type="datetime'''1'''''''''''''''''',''''''''''''''5''6''''''''''''9'''''''''">
              <a:rPr kumimoji="0" lang="en-IN" altLang="en-US" sz="1000" b="0" i="0" u="none" strike="noStrike" kern="1200" cap="none" spc="0" normalizeH="0" baseline="0" noProof="0" smtClean="0">
                <a:ln>
                  <a:noFill/>
                </a:ln>
                <a:solidFill>
                  <a:prstClr val="white"/>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1,569</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66" name="StandardTextbox"/>
          <p:cNvSpPr>
            <a:spLocks noGrp="1"/>
          </p:cNvSpPr>
          <p:nvPr>
            <p:custDataLst>
              <p:tags r:id="rId26"/>
            </p:custDataLst>
          </p:nvPr>
        </p:nvSpPr>
        <p:spPr bwMode="auto">
          <a:xfrm>
            <a:off x="7750175" y="4189413"/>
            <a:ext cx="2809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84B7EBD-3839-4CC3-AEF0-3E3CC5167B31}" type="datetime'''''''''H''F''''''''''''''''O'''''''''''''''''">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HFO</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68" name="StandardTextbox"/>
          <p:cNvSpPr>
            <a:spLocks noGrp="1"/>
          </p:cNvSpPr>
          <p:nvPr>
            <p:custDataLst>
              <p:tags r:id="rId27"/>
            </p:custDataLst>
          </p:nvPr>
        </p:nvSpPr>
        <p:spPr bwMode="gray">
          <a:xfrm>
            <a:off x="8274050" y="2703513"/>
            <a:ext cx="284163" cy="152400"/>
          </a:xfrm>
          <a:prstGeom prst="rect">
            <a:avLst/>
          </a:prstGeom>
          <a:solidFill>
            <a:schemeClr val="accent2"/>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1EA2538-36AB-4F59-B3B6-83ABCC5F1AEC}" type="datetime'''''''''''''''1''''''''''''''''6''1'''''''''''''''''''''''''''">
              <a:rPr kumimoji="0" lang="en-IN" altLang="en-US" sz="1000" b="0" i="0" u="none" strike="noStrike" kern="1200" cap="none" spc="0" normalizeH="0" baseline="0" noProof="0" smtClean="0">
                <a:ln>
                  <a:noFill/>
                </a:ln>
                <a:solidFill>
                  <a:prstClr val="white"/>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161</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70" name="StandardTextbox"/>
          <p:cNvSpPr>
            <a:spLocks noGrp="1"/>
          </p:cNvSpPr>
          <p:nvPr>
            <p:custDataLst>
              <p:tags r:id="rId28"/>
            </p:custDataLst>
          </p:nvPr>
        </p:nvSpPr>
        <p:spPr bwMode="auto">
          <a:xfrm>
            <a:off x="8269288" y="4189413"/>
            <a:ext cx="2936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5EB673EE-02B7-4EF2-BA41-0FFD0191ABCA}" type="datetime'''''''''''''''''''''''H''''''S''D'''''''">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HSD</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75" name="StandardTextbox"/>
          <p:cNvSpPr>
            <a:spLocks noGrp="1"/>
          </p:cNvSpPr>
          <p:nvPr>
            <p:custDataLst>
              <p:tags r:id="rId29"/>
            </p:custDataLst>
          </p:nvPr>
        </p:nvSpPr>
        <p:spPr bwMode="auto">
          <a:xfrm>
            <a:off x="8769350" y="4189413"/>
            <a:ext cx="3429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307EAD3-B710-4576-BB3C-613502D5F0BE}" type="datetime'S''''''o''''''l''''''''''''''''a''''''''''''''''r'''''''''''''">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Solar</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8" name="StandardTextbox"/>
          <p:cNvSpPr>
            <a:spLocks noGrp="1"/>
          </p:cNvSpPr>
          <p:nvPr>
            <p:custDataLst>
              <p:tags r:id="rId30"/>
            </p:custDataLst>
          </p:nvPr>
        </p:nvSpPr>
        <p:spPr bwMode="auto">
          <a:xfrm>
            <a:off x="9220200" y="4189413"/>
            <a:ext cx="4968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E012C5AE-3B68-47EE-B0CB-5A95A37D99C5}" type="datetime'''''''''''''''''N''''''uc''''''''l''e''''a''''''''''''r'''">
              <a:rPr lang="en-IN" altLang="en-US" b="0" smtClean="0">
                <a:solidFill>
                  <a:srgbClr val="000000"/>
                </a:solidFill>
              </a:rPr>
              <a:pPr lvl="1" algn="ctr">
                <a:spcBef>
                  <a:spcPct val="0"/>
                </a:spcBef>
                <a:spcAft>
                  <a:spcPct val="0"/>
                </a:spcAft>
                <a:defRPr/>
              </a:pPr>
              <a:t>Nuclear</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92" name="StandardTextbox"/>
          <p:cNvSpPr>
            <a:spLocks noGrp="1"/>
          </p:cNvSpPr>
          <p:nvPr>
            <p:custDataLst>
              <p:tags r:id="rId31"/>
            </p:custDataLst>
          </p:nvPr>
        </p:nvSpPr>
        <p:spPr bwMode="auto">
          <a:xfrm>
            <a:off x="9828213" y="4189413"/>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41C2ABE3-1818-4100-9055-A825B2E3E30C}" type="datetime'T''''''''''''''''o''''''''t''''''''a''''''''''''''''''l'''''">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Total</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71" name="Rectangle 70"/>
          <p:cNvSpPr/>
          <p:nvPr/>
        </p:nvSpPr>
        <p:spPr bwMode="gray">
          <a:xfrm>
            <a:off x="353003" y="729102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BPDB; PSMP 2016, Deloitte Analysis Note: 1) Capacity Addition data is as per tracking by BPDB 2) Planned Commissioning of Roopur Nuclear Plant as per secondary research 3) Plant Retirement Based on PSMP 2016 projections as well as estimations based on COD / dispatch levels of each power plant in Bangladesh 4) For plants not covered under PSMP, an average PPA duration for 22 years has been considered for Non-Rental Plants (and an extension of 5 years for some cases beyond 22 years) and (5+5) years for Rental / Quick Rental Plants</a:t>
            </a:r>
          </a:p>
        </p:txBody>
      </p:sp>
      <p:cxnSp>
        <p:nvCxnSpPr>
          <p:cNvPr id="24" name="Straight Connector 23"/>
          <p:cNvCxnSpPr/>
          <p:nvPr>
            <p:custDataLst>
              <p:tags r:id="rId32"/>
            </p:custDataLst>
          </p:nvPr>
        </p:nvCxnSpPr>
        <p:spPr bwMode="auto">
          <a:xfrm>
            <a:off x="8942388" y="5372100"/>
            <a:ext cx="261937"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custDataLst>
              <p:tags r:id="rId33"/>
            </p:custDataLst>
          </p:nvPr>
        </p:nvCxnSpPr>
        <p:spPr bwMode="auto">
          <a:xfrm>
            <a:off x="5984875" y="5730875"/>
            <a:ext cx="261938"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custDataLst>
              <p:tags r:id="rId34"/>
            </p:custDataLst>
          </p:nvPr>
        </p:nvCxnSpPr>
        <p:spPr bwMode="auto">
          <a:xfrm>
            <a:off x="6575425" y="5730875"/>
            <a:ext cx="261938"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custDataLst>
              <p:tags r:id="rId35"/>
            </p:custDataLst>
          </p:nvPr>
        </p:nvCxnSpPr>
        <p:spPr bwMode="auto">
          <a:xfrm>
            <a:off x="7167563" y="5730875"/>
            <a:ext cx="261937"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custDataLst>
              <p:tags r:id="rId36"/>
            </p:custDataLst>
          </p:nvPr>
        </p:nvCxnSpPr>
        <p:spPr bwMode="auto">
          <a:xfrm>
            <a:off x="7759700" y="5730875"/>
            <a:ext cx="261938"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custDataLst>
              <p:tags r:id="rId37"/>
            </p:custDataLst>
          </p:nvPr>
        </p:nvCxnSpPr>
        <p:spPr bwMode="auto">
          <a:xfrm>
            <a:off x="8350250" y="5462588"/>
            <a:ext cx="261938"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custDataLst>
              <p:tags r:id="rId38"/>
            </p:custDataLst>
          </p:nvPr>
        </p:nvCxnSpPr>
        <p:spPr bwMode="auto">
          <a:xfrm>
            <a:off x="9532938" y="5372100"/>
            <a:ext cx="261937"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Rectangle 4"/>
          <p:cNvSpPr/>
          <p:nvPr>
            <p:custDataLst>
              <p:tags r:id="rId39"/>
            </p:custDataLst>
          </p:nvPr>
        </p:nvSpPr>
        <p:spPr bwMode="auto">
          <a:xfrm>
            <a:off x="6246813" y="5727700"/>
            <a:ext cx="328612" cy="6350"/>
          </a:xfrm>
          <a:prstGeom prst="rect">
            <a:avLst/>
          </a:prstGeom>
          <a:solidFill>
            <a:srgbClr val="43B02A"/>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8" name="Rectangle 7"/>
          <p:cNvSpPr/>
          <p:nvPr>
            <p:custDataLst>
              <p:tags r:id="rId40"/>
            </p:custDataLst>
          </p:nvPr>
        </p:nvSpPr>
        <p:spPr bwMode="auto">
          <a:xfrm>
            <a:off x="6837363" y="5727700"/>
            <a:ext cx="330200" cy="6350"/>
          </a:xfrm>
          <a:prstGeom prst="rect">
            <a:avLst/>
          </a:prstGeom>
          <a:solidFill>
            <a:schemeClr val="bg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0" name="Rectangle 9"/>
          <p:cNvSpPr/>
          <p:nvPr>
            <p:custDataLst>
              <p:tags r:id="rId41"/>
            </p:custDataLst>
          </p:nvPr>
        </p:nvSpPr>
        <p:spPr bwMode="auto">
          <a:xfrm>
            <a:off x="7429500" y="5727700"/>
            <a:ext cx="330200" cy="6350"/>
          </a:xfrm>
          <a:prstGeom prst="rect">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7" name="Rectangle 16"/>
          <p:cNvSpPr/>
          <p:nvPr>
            <p:custDataLst>
              <p:tags r:id="rId42"/>
            </p:custDataLst>
          </p:nvPr>
        </p:nvSpPr>
        <p:spPr bwMode="auto">
          <a:xfrm>
            <a:off x="9204325" y="5368925"/>
            <a:ext cx="328613" cy="6350"/>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graphicFrame>
        <p:nvGraphicFramePr>
          <p:cNvPr id="60" name="Chart 59"/>
          <p:cNvGraphicFramePr/>
          <p:nvPr>
            <p:custDataLst>
              <p:tags r:id="rId43"/>
            </p:custDataLst>
            <p:extLst>
              <p:ext uri="{D42A27DB-BD31-4B8C-83A1-F6EECF244321}">
                <p14:modId xmlns:p14="http://schemas.microsoft.com/office/powerpoint/2010/main" val="1712561200"/>
              </p:ext>
            </p:extLst>
          </p:nvPr>
        </p:nvGraphicFramePr>
        <p:xfrm>
          <a:off x="5441950" y="5172075"/>
          <a:ext cx="4897438" cy="1711325"/>
        </p:xfrm>
        <a:graphic>
          <a:graphicData uri="http://schemas.openxmlformats.org/drawingml/2006/chart">
            <c:chart xmlns:c="http://schemas.openxmlformats.org/drawingml/2006/chart" xmlns:r="http://schemas.openxmlformats.org/officeDocument/2006/relationships" r:id="rId58"/>
          </a:graphicData>
        </a:graphic>
      </p:graphicFrame>
      <p:sp>
        <p:nvSpPr>
          <p:cNvPr id="91" name="StandardTextbox"/>
          <p:cNvSpPr>
            <a:spLocks noGrp="1"/>
          </p:cNvSpPr>
          <p:nvPr>
            <p:custDataLst>
              <p:tags r:id="rId44"/>
            </p:custDataLst>
          </p:nvPr>
        </p:nvSpPr>
        <p:spPr bwMode="auto">
          <a:xfrm>
            <a:off x="6699250" y="6886575"/>
            <a:ext cx="608013"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231479CB-2FC2-44B5-8EA4-BDA49560CC7F}" type="datetime'''I''''''m''''p''''''''or''''t''ed'' ''''''C''''''''''o''al'''">
              <a:rPr lang="en-IN" altLang="en-US" b="0" smtClean="0">
                <a:solidFill>
                  <a:srgbClr val="000000"/>
                </a:solidFill>
              </a:rPr>
              <a:pPr lvl="1" algn="ctr">
                <a:spcBef>
                  <a:spcPct val="0"/>
                </a:spcBef>
                <a:spcAft>
                  <a:spcPct val="0"/>
                </a:spcAft>
                <a:defRPr/>
              </a:pPr>
              <a:t>Imported Coal</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85" name="StandardTextbox"/>
          <p:cNvSpPr>
            <a:spLocks noGrp="1"/>
          </p:cNvSpPr>
          <p:nvPr>
            <p:custDataLst>
              <p:tags r:id="rId45"/>
            </p:custDataLst>
          </p:nvPr>
        </p:nvSpPr>
        <p:spPr bwMode="auto">
          <a:xfrm>
            <a:off x="5692775" y="6886575"/>
            <a:ext cx="2540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0178C58A-7732-45B2-90E9-E35C998468B4}" type="datetime'''G''''''''''''''''''''a''''''''''''''''''''''s'''''">
              <a:rPr lang="en-IN" altLang="en-US" b="0" smtClean="0">
                <a:solidFill>
                  <a:srgbClr val="000000"/>
                </a:solidFill>
              </a:rPr>
              <a:pPr lvl="1" algn="ctr">
                <a:spcBef>
                  <a:spcPct val="0"/>
                </a:spcBef>
                <a:spcAft>
                  <a:spcPct val="0"/>
                </a:spcAft>
                <a:defRPr/>
              </a:pPr>
              <a:t>Gas</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93" name="StandardTextbox"/>
          <p:cNvSpPr>
            <a:spLocks noGrp="1"/>
          </p:cNvSpPr>
          <p:nvPr>
            <p:custDataLst>
              <p:tags r:id="rId46"/>
            </p:custDataLst>
          </p:nvPr>
        </p:nvSpPr>
        <p:spPr bwMode="auto">
          <a:xfrm>
            <a:off x="8045450" y="6886575"/>
            <a:ext cx="2809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CB5823B7-322A-4E6A-B599-604B44CB063E}" type="datetime'H''''''''F''''''''O'''''''''''''''''''''''''''''''">
              <a:rPr lang="en-IN" altLang="en-US" b="0" smtClean="0">
                <a:solidFill>
                  <a:srgbClr val="000000"/>
                </a:solidFill>
              </a:rPr>
              <a:pPr lvl="1" algn="ctr">
                <a:spcBef>
                  <a:spcPct val="0"/>
                </a:spcBef>
                <a:spcAft>
                  <a:spcPct val="0"/>
                </a:spcAft>
                <a:defRPr/>
              </a:pPr>
              <a:t>HFO</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87" name="StandardTextbox"/>
          <p:cNvSpPr>
            <a:spLocks noGrp="1"/>
          </p:cNvSpPr>
          <p:nvPr>
            <p:custDataLst>
              <p:tags r:id="rId47"/>
            </p:custDataLst>
          </p:nvPr>
        </p:nvSpPr>
        <p:spPr bwMode="auto">
          <a:xfrm>
            <a:off x="6272213" y="6886575"/>
            <a:ext cx="2778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9E3F587E-3721-48C2-816A-71B9BE405CE0}" type="datetime'''''''''''''''''''''LN''''G'''''''''''''''''">
              <a:rPr lang="en-IN" altLang="en-US" b="0" smtClean="0">
                <a:solidFill>
                  <a:srgbClr val="000000"/>
                </a:solidFill>
              </a:rPr>
              <a:pPr lvl="1" algn="ctr">
                <a:spcBef>
                  <a:spcPct val="0"/>
                </a:spcBef>
                <a:spcAft>
                  <a:spcPct val="0"/>
                </a:spcAft>
                <a:defRPr/>
              </a:pPr>
              <a:t>LNG</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90" name="StandardTextbox"/>
          <p:cNvSpPr>
            <a:spLocks noGrp="1"/>
          </p:cNvSpPr>
          <p:nvPr>
            <p:custDataLst>
              <p:tags r:id="rId48"/>
            </p:custDataLst>
          </p:nvPr>
        </p:nvSpPr>
        <p:spPr bwMode="auto">
          <a:xfrm>
            <a:off x="7369175" y="6886575"/>
            <a:ext cx="452438"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8CD2E03D-B742-4E79-A770-C62F78A76661}" type="datetime'''''''''''P''''''ow''''''''e''r'''' I''''''''''mp''''o''rt'">
              <a:rPr lang="en-IN" altLang="en-US" b="0" smtClean="0">
                <a:solidFill>
                  <a:srgbClr val="000000"/>
                </a:solidFill>
              </a:rPr>
              <a:pPr lvl="1" algn="ctr">
                <a:spcBef>
                  <a:spcPct val="0"/>
                </a:spcBef>
                <a:spcAft>
                  <a:spcPct val="0"/>
                </a:spcAft>
                <a:defRPr/>
              </a:pPr>
              <a:t>Power Import</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64" name="StandardTextbox"/>
          <p:cNvSpPr>
            <a:spLocks noGrp="1"/>
          </p:cNvSpPr>
          <p:nvPr>
            <p:custDataLst>
              <p:tags r:id="rId49"/>
            </p:custDataLst>
          </p:nvPr>
        </p:nvSpPr>
        <p:spPr bwMode="gray">
          <a:xfrm>
            <a:off x="8636001" y="5340350"/>
            <a:ext cx="284163" cy="152400"/>
          </a:xfrm>
          <a:prstGeom prst="rect">
            <a:avLst/>
          </a:prstGeom>
          <a:solidFill>
            <a:schemeClr val="accent2"/>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48E4142-8A44-4532-87DD-DF20873F8DB6}" type="datetime'''''''3''''''4''''5'''''''''">
              <a:rPr lang="en-IN" altLang="en-US" b="0" smtClean="0">
                <a:solidFill>
                  <a:schemeClr val="bg1"/>
                </a:solidFill>
                <a:sym typeface="+mn-lt"/>
              </a:rPr>
              <a:pPr lvl="1" algn="ctr">
                <a:spcBef>
                  <a:spcPct val="0"/>
                </a:spcBef>
                <a:spcAft>
                  <a:spcPct val="0"/>
                </a:spcAft>
              </a:pPr>
              <a:t>345</a:t>
            </a:fld>
            <a:endParaRPr lang="en-IN" b="0" noProof="0" dirty="0">
              <a:solidFill>
                <a:schemeClr val="bg1"/>
              </a:solidFill>
              <a:sym typeface="+mn-lt"/>
            </a:endParaRPr>
          </a:p>
        </p:txBody>
      </p:sp>
      <p:sp>
        <p:nvSpPr>
          <p:cNvPr id="84" name="StandardTextbox"/>
          <p:cNvSpPr>
            <a:spLocks noGrp="1"/>
          </p:cNvSpPr>
          <p:nvPr>
            <p:custDataLst>
              <p:tags r:id="rId50"/>
            </p:custDataLst>
          </p:nvPr>
        </p:nvSpPr>
        <p:spPr bwMode="auto">
          <a:xfrm>
            <a:off x="8631238" y="6886575"/>
            <a:ext cx="2936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451A289B-DCEB-49B6-AA12-BF7189F4EE28}" type="datetime'''''''''''''''H''''''''S''''''''''''''''''''''D'''''''">
              <a:rPr lang="en-IN" altLang="en-US" b="0" smtClean="0">
                <a:solidFill>
                  <a:srgbClr val="000000"/>
                </a:solidFill>
              </a:rPr>
              <a:pPr lvl="1" algn="ctr">
                <a:spcBef>
                  <a:spcPct val="0"/>
                </a:spcBef>
                <a:spcAft>
                  <a:spcPct val="0"/>
                </a:spcAft>
                <a:defRPr/>
              </a:pPr>
              <a:t>HSD</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01" name="StandardTextbox"/>
          <p:cNvSpPr>
            <a:spLocks noGrp="1"/>
          </p:cNvSpPr>
          <p:nvPr>
            <p:custDataLst>
              <p:tags r:id="rId51"/>
            </p:custDataLst>
          </p:nvPr>
        </p:nvSpPr>
        <p:spPr bwMode="auto">
          <a:xfrm>
            <a:off x="9196388" y="6886575"/>
            <a:ext cx="3429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144CF93A-9445-40EB-AD24-17DC13EE4E02}" type="datetime'''''''''''So''''''''''''''''''''''''''''''la''''''''''''r'''''">
              <a:rPr lang="en-IN" altLang="en-US" b="0" smtClean="0">
                <a:solidFill>
                  <a:srgbClr val="000000"/>
                </a:solidFill>
              </a:rPr>
              <a:pPr lvl="1" algn="ctr">
                <a:spcBef>
                  <a:spcPct val="0"/>
                </a:spcBef>
                <a:spcAft>
                  <a:spcPct val="0"/>
                </a:spcAft>
                <a:defRPr/>
              </a:pPr>
              <a:t>Solar</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96" name="StandardTextbox"/>
          <p:cNvSpPr>
            <a:spLocks noGrp="1"/>
          </p:cNvSpPr>
          <p:nvPr>
            <p:custDataLst>
              <p:tags r:id="rId52"/>
            </p:custDataLst>
          </p:nvPr>
        </p:nvSpPr>
        <p:spPr bwMode="auto">
          <a:xfrm>
            <a:off x="9794875" y="6886575"/>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A892D7FE-DCF3-4D58-B7E0-C60C2B3AA789}" type="datetime'''''''''T''''''''''''''o''''''''''''''''''ta''''''''l'''''''''">
              <a:rPr lang="en-IN" altLang="en-US" b="0" smtClean="0">
                <a:solidFill>
                  <a:srgbClr val="000000"/>
                </a:solidFill>
              </a:rPr>
              <a:pPr lvl="1" algn="ctr">
                <a:spcBef>
                  <a:spcPct val="0"/>
                </a:spcBef>
                <a:spcAft>
                  <a:spcPct val="0"/>
                </a:spcAft>
                <a:defRPr/>
              </a:pPr>
              <a:t>Total</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59" name="StandardTextbox"/>
          <p:cNvSpPr>
            <a:spLocks noGrp="1"/>
          </p:cNvSpPr>
          <p:nvPr>
            <p:custDataLst>
              <p:tags r:id="rId53"/>
            </p:custDataLst>
          </p:nvPr>
        </p:nvSpPr>
        <p:spPr bwMode="gray">
          <a:xfrm>
            <a:off x="7980364" y="5519738"/>
            <a:ext cx="411163" cy="152400"/>
          </a:xfrm>
          <a:prstGeom prst="rect">
            <a:avLst/>
          </a:prstGeom>
          <a:solidFill>
            <a:srgbClr val="86BC25"/>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642DEDB-17F3-498C-8988-5F6931401B1C}" type="datetime'''1'''''',''''''''0''2''''''''''''9'''''''''''''''''''">
              <a:rPr lang="en-IN" altLang="en-US" b="0" smtClean="0">
                <a:solidFill>
                  <a:schemeClr val="bg1"/>
                </a:solidFill>
                <a:sym typeface="+mn-lt"/>
              </a:rPr>
              <a:pPr lvl="1" algn="ctr">
                <a:spcBef>
                  <a:spcPct val="0"/>
                </a:spcBef>
                <a:spcAft>
                  <a:spcPct val="0"/>
                </a:spcAft>
              </a:pPr>
              <a:t>1,029</a:t>
            </a:fld>
            <a:endParaRPr lang="en-IN" b="0" noProof="0" dirty="0">
              <a:solidFill>
                <a:schemeClr val="bg1"/>
              </a:solidFill>
              <a:sym typeface="+mn-lt"/>
            </a:endParaRPr>
          </a:p>
        </p:txBody>
      </p:sp>
    </p:spTree>
    <p:extLst>
      <p:ext uri="{BB962C8B-B14F-4D97-AF65-F5344CB8AC3E}">
        <p14:creationId xmlns:p14="http://schemas.microsoft.com/office/powerpoint/2010/main" val="34423656"/>
      </p:ext>
    </p:extLst>
  </p:cSld>
  <p:clrMapOvr>
    <a:masterClrMapping/>
  </p:clrMapOvr>
  <p:transition>
    <p:fade/>
  </p:transition>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121798405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530" imgH="531" progId="TCLayout.ActiveDocument.1">
                  <p:embed/>
                </p:oleObj>
              </mc:Choice>
              <mc:Fallback>
                <p:oleObj name="think-cell Slide" r:id="rId9" imgW="530" imgH="531" progId="TCLayout.ActiveDocument.1">
                  <p:embed/>
                  <p:pic>
                    <p:nvPicPr>
                      <p:cNvPr id="4" name="Object 3" hidden="1"/>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US" sz="1000" u="none" strike="noStrike" kern="1200" cap="none" spc="0" normalizeH="0" noProof="0" dirty="0">
              <a:ln>
                <a:noFill/>
              </a:ln>
              <a:solidFill>
                <a:prstClr val="white"/>
              </a:solidFill>
              <a:effectLst/>
              <a:uLnTx/>
              <a:uFillTx/>
              <a:latin typeface="Verdana" panose="020B0604030504040204" pitchFamily="34" charset="0"/>
              <a:sym typeface="Verdana" panose="020B0604030504040204" pitchFamily="34" charset="0"/>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1854134673"/>
              </p:ext>
            </p:extLst>
          </p:nvPr>
        </p:nvGraphicFramePr>
        <p:xfrm>
          <a:off x="5524500" y="1961920"/>
          <a:ext cx="4732062" cy="3635605"/>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3635605">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table shows the status of the gas based power plants &amp; their current status till FY26:</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Power Market | Supply Projection (Gas Based Plants)</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Out of planned ~3,000 MW of domestic gas based capacity, ~2,870 MW may be commissioned by FY2026</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2546701124"/>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lgn="just" defTabSz="990571" rtl="0" eaLnBrk="1" latinLnBrk="0" hangingPunct="1">
                        <a:spcAft>
                          <a:spcPts val="500"/>
                        </a:spcAft>
                        <a:buFont typeface="Arial" panose="020B0604020202020204" pitchFamily="34" charset="0"/>
                        <a:buNone/>
                      </a:pPr>
                      <a:r>
                        <a:rPr lang="en-US" sz="1000" b="1" kern="1200" baseline="0" dirty="0">
                          <a:solidFill>
                            <a:schemeClr val="tx1"/>
                          </a:solidFill>
                          <a:latin typeface="+mn-lt"/>
                          <a:ea typeface="+mn-ea"/>
                          <a:cs typeface="+mn-cs"/>
                        </a:rPr>
                        <a:t>Domestic Gas Based Plants</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As per BPDB, about ~3,020 MW of Gas based power plants are currently under various stages of development in the country</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These plants are expected to be commissioned between FY20 and FY26</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We studied the current project progress of each of the proposed power plants under consideration by BPDB to assess their commissioning scenario till FY26</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About ~605 MW of the planned projects have achieved COD status during the current financial year i.e. FY20</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Of the rest ~2,265 MW of gas based plants are expected to be commissioned during FY20-FY26</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Thus ~2,870 MW of gas based plants may get commissioned post FY19</a:t>
                      </a:r>
                    </a:p>
                    <a:p>
                      <a:pPr marL="171450" indent="-171450" algn="just" defTabSz="990571" rtl="0" eaLnBrk="1" latinLnBrk="0" hangingPunct="1">
                        <a:spcAft>
                          <a:spcPts val="5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Following graph shows the planned &amp; expected domestic Gas based capacity addition in Bangladesh by FY26</a:t>
                      </a:r>
                    </a:p>
                    <a:p>
                      <a:pPr marL="171450" indent="-171450" algn="just" defTabSz="990571" rtl="0" eaLnBrk="1" latinLnBrk="0" hangingPunct="1">
                        <a:spcAft>
                          <a:spcPts val="500"/>
                        </a:spcAft>
                        <a:buFont typeface="Arial" panose="020B0604020202020204" pitchFamily="34" charset="0"/>
                        <a:buChar char="•"/>
                      </a:pPr>
                      <a:endParaRPr lang="en-US" sz="1000" b="0" kern="1200" baseline="0" dirty="0">
                        <a:solidFill>
                          <a:schemeClr val="tx1"/>
                        </a:solidFill>
                        <a:latin typeface="+mn-lt"/>
                        <a:ea typeface="+mn-ea"/>
                        <a:cs typeface="+mn-cs"/>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12" name="Rectangle 11"/>
          <p:cNvSpPr/>
          <p:nvPr/>
        </p:nvSpPr>
        <p:spPr bwMode="gray">
          <a:xfrm>
            <a:off x="377227" y="7260740"/>
            <a:ext cx="5652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Industry Reports, Deloitte Analysis</a:t>
            </a:r>
          </a:p>
        </p:txBody>
      </p:sp>
      <p:graphicFrame>
        <p:nvGraphicFramePr>
          <p:cNvPr id="29" name="Chart 28"/>
          <p:cNvGraphicFramePr/>
          <p:nvPr>
            <p:custDataLst>
              <p:tags r:id="rId5"/>
            </p:custDataLst>
            <p:extLst>
              <p:ext uri="{D42A27DB-BD31-4B8C-83A1-F6EECF244321}">
                <p14:modId xmlns:p14="http://schemas.microsoft.com/office/powerpoint/2010/main" val="1396145002"/>
              </p:ext>
            </p:extLst>
          </p:nvPr>
        </p:nvGraphicFramePr>
        <p:xfrm>
          <a:off x="385763" y="5227638"/>
          <a:ext cx="4881562" cy="1271587"/>
        </p:xfrm>
        <a:graphic>
          <a:graphicData uri="http://schemas.openxmlformats.org/drawingml/2006/chart">
            <c:chart xmlns:c="http://schemas.openxmlformats.org/drawingml/2006/chart" xmlns:r="http://schemas.openxmlformats.org/officeDocument/2006/relationships" r:id="rId11"/>
          </a:graphicData>
        </a:graphic>
      </p:graphicFrame>
      <p:sp>
        <p:nvSpPr>
          <p:cNvPr id="15" name="StandardTextbox"/>
          <p:cNvSpPr>
            <a:spLocks noGrp="1"/>
          </p:cNvSpPr>
          <p:nvPr>
            <p:custDataLst>
              <p:tags r:id="rId6"/>
            </p:custDataLst>
          </p:nvPr>
        </p:nvSpPr>
        <p:spPr bwMode="auto">
          <a:xfrm>
            <a:off x="925513" y="6502400"/>
            <a:ext cx="1443038"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EA0124C6-B82A-42BC-9BB4-4908337AA2CA}" type="datetime'''''Pl''anne''d Dome''stic Gas ''Based Capa''city ''(MW'')'">
              <a:rPr lang="en-US" altLang="en-US" b="0" smtClean="0">
                <a:solidFill>
                  <a:srgbClr val="000000"/>
                </a:solidFill>
              </a:rPr>
              <a:pPr lvl="1" algn="ctr">
                <a:spcBef>
                  <a:spcPct val="0"/>
                </a:spcBef>
                <a:spcAft>
                  <a:spcPct val="0"/>
                </a:spcAft>
                <a:defRPr/>
              </a:pPr>
              <a:t>Planned Domestic Gas Based Capacity (MW)</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6" name="StandardTextbox"/>
          <p:cNvSpPr>
            <a:spLocks noGrp="1"/>
          </p:cNvSpPr>
          <p:nvPr>
            <p:custDataLst>
              <p:tags r:id="rId7"/>
            </p:custDataLst>
          </p:nvPr>
        </p:nvSpPr>
        <p:spPr bwMode="auto">
          <a:xfrm>
            <a:off x="3170238" y="6502400"/>
            <a:ext cx="1670050"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12356DD8-421A-4070-A796-6C6F490B5F15}" type="datetime'Probable Servicea''ble C''apa''ci''t''y til''l FY2026 (MW'')'">
              <a:rPr lang="en-US" altLang="en-US" b="0" smtClean="0">
                <a:solidFill>
                  <a:srgbClr val="000000"/>
                </a:solidFill>
              </a:rPr>
              <a:pPr lvl="1" algn="ctr">
                <a:spcBef>
                  <a:spcPct val="0"/>
                </a:spcBef>
                <a:spcAft>
                  <a:spcPct val="0"/>
                </a:spcAft>
                <a:defRPr/>
              </a:pPr>
              <a:t>Probable Serviceable Capacity till FY2026 (MW)</a:t>
            </a:fld>
            <a:endParaRPr kumimoji="0" lang="en-IN" sz="1000" b="0" i="0" strike="noStrike" kern="1200" spc="0" normalizeH="0" noProof="0" dirty="0">
              <a:ln>
                <a:noFill/>
              </a:ln>
              <a:solidFill>
                <a:srgbClr val="000000"/>
              </a:solidFill>
              <a:effectLst/>
              <a:uLnTx/>
              <a:uFillTx/>
              <a:latin typeface="Verdana"/>
              <a:sym typeface="+mn-lt"/>
            </a:endParaRPr>
          </a:p>
        </p:txBody>
      </p:sp>
      <p:graphicFrame>
        <p:nvGraphicFramePr>
          <p:cNvPr id="25" name="Table 24"/>
          <p:cNvGraphicFramePr>
            <a:graphicFrameLocks noGrp="1"/>
          </p:cNvGraphicFramePr>
          <p:nvPr>
            <p:extLst>
              <p:ext uri="{D42A27DB-BD31-4B8C-83A1-F6EECF244321}">
                <p14:modId xmlns:p14="http://schemas.microsoft.com/office/powerpoint/2010/main" val="3488418257"/>
              </p:ext>
            </p:extLst>
          </p:nvPr>
        </p:nvGraphicFramePr>
        <p:xfrm>
          <a:off x="5686705" y="2415826"/>
          <a:ext cx="4554259" cy="4668144"/>
        </p:xfrm>
        <a:graphic>
          <a:graphicData uri="http://schemas.openxmlformats.org/drawingml/2006/table">
            <a:tbl>
              <a:tblPr firstRow="1" firstCol="1" bandRow="1">
                <a:tableStyleId>{5A111915-BE36-4E01-A7E5-04B1672EAD32}</a:tableStyleId>
              </a:tblPr>
              <a:tblGrid>
                <a:gridCol w="1833614">
                  <a:extLst>
                    <a:ext uri="{9D8B030D-6E8A-4147-A177-3AD203B41FA5}">
                      <a16:colId xmlns:a16="http://schemas.microsoft.com/office/drawing/2014/main" val="3290383493"/>
                    </a:ext>
                  </a:extLst>
                </a:gridCol>
                <a:gridCol w="641131">
                  <a:extLst>
                    <a:ext uri="{9D8B030D-6E8A-4147-A177-3AD203B41FA5}">
                      <a16:colId xmlns:a16="http://schemas.microsoft.com/office/drawing/2014/main" val="1605660941"/>
                    </a:ext>
                  </a:extLst>
                </a:gridCol>
                <a:gridCol w="2079514">
                  <a:extLst>
                    <a:ext uri="{9D8B030D-6E8A-4147-A177-3AD203B41FA5}">
                      <a16:colId xmlns:a16="http://schemas.microsoft.com/office/drawing/2014/main" val="447690441"/>
                    </a:ext>
                  </a:extLst>
                </a:gridCol>
              </a:tblGrid>
              <a:tr h="396987">
                <a:tc>
                  <a:txBody>
                    <a:bodyPr/>
                    <a:lstStyle/>
                    <a:p>
                      <a:pPr algn="ctr">
                        <a:lnSpc>
                          <a:spcPct val="100000"/>
                        </a:lnSpc>
                        <a:spcBef>
                          <a:spcPts val="0"/>
                        </a:spcBef>
                        <a:spcAft>
                          <a:spcPts val="0"/>
                        </a:spcAft>
                      </a:pPr>
                      <a:r>
                        <a:rPr lang="en-IN" sz="900" dirty="0">
                          <a:effectLst/>
                        </a:rPr>
                        <a:t>Plant</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tc>
                  <a:txBody>
                    <a:bodyPr/>
                    <a:lstStyle/>
                    <a:p>
                      <a:pPr algn="ctr">
                        <a:lnSpc>
                          <a:spcPct val="100000"/>
                        </a:lnSpc>
                        <a:spcBef>
                          <a:spcPts val="0"/>
                        </a:spcBef>
                        <a:spcAft>
                          <a:spcPts val="0"/>
                        </a:spcAft>
                      </a:pPr>
                      <a:r>
                        <a:rPr lang="en-IN" sz="900" dirty="0">
                          <a:effectLst/>
                        </a:rPr>
                        <a:t>Capacity (MW)</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tc>
                  <a:txBody>
                    <a:bodyPr/>
                    <a:lstStyle/>
                    <a:p>
                      <a:pPr algn="ctr">
                        <a:lnSpc>
                          <a:spcPct val="100000"/>
                        </a:lnSpc>
                        <a:spcBef>
                          <a:spcPts val="0"/>
                        </a:spcBef>
                        <a:spcAft>
                          <a:spcPts val="0"/>
                        </a:spcAft>
                      </a:pPr>
                      <a:r>
                        <a:rPr lang="en-US" sz="900" dirty="0">
                          <a:effectLst/>
                          <a:latin typeface="Verdana" panose="020B0604030504040204" pitchFamily="34" charset="0"/>
                          <a:ea typeface="Verdana" panose="020B0604030504040204" pitchFamily="34" charset="0"/>
                          <a:cs typeface="Times New Roman" panose="02020603050405020304" pitchFamily="18" charset="0"/>
                        </a:rPr>
                        <a:t>Current</a:t>
                      </a:r>
                      <a:r>
                        <a:rPr lang="en-US" sz="900" baseline="0" dirty="0">
                          <a:effectLst/>
                          <a:latin typeface="Verdana" panose="020B0604030504040204" pitchFamily="34" charset="0"/>
                          <a:ea typeface="Verdana" panose="020B0604030504040204" pitchFamily="34" charset="0"/>
                          <a:cs typeface="Times New Roman" panose="02020603050405020304" pitchFamily="18" charset="0"/>
                        </a:rPr>
                        <a:t> Status</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extLst>
                  <a:ext uri="{0D108BD9-81ED-4DB2-BD59-A6C34878D82A}">
                    <a16:rowId xmlns:a16="http://schemas.microsoft.com/office/drawing/2014/main" val="4036299370"/>
                  </a:ext>
                </a:extLst>
              </a:tr>
              <a:tr h="228640">
                <a:tc>
                  <a:txBody>
                    <a:bodyPr/>
                    <a:lstStyle/>
                    <a:p>
                      <a:pPr algn="l" fontAlgn="b">
                        <a:lnSpc>
                          <a:spcPct val="100000"/>
                        </a:lnSpc>
                        <a:spcBef>
                          <a:spcPts val="0"/>
                        </a:spcBef>
                      </a:pPr>
                      <a:r>
                        <a:rPr lang="en-IN" sz="900" b="0" i="0" u="none" strike="noStrike" dirty="0">
                          <a:solidFill>
                            <a:srgbClr val="000000"/>
                          </a:solidFill>
                          <a:effectLst/>
                          <a:latin typeface="Verdana" panose="020B0604030504040204" pitchFamily="34" charset="0"/>
                        </a:rPr>
                        <a:t>Bibiyana #3 CCPP</a:t>
                      </a: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ctr" fontAlgn="b">
                        <a:lnSpc>
                          <a:spcPct val="100000"/>
                        </a:lnSpc>
                        <a:spcBef>
                          <a:spcPts val="0"/>
                        </a:spcBef>
                      </a:pPr>
                      <a:r>
                        <a:rPr lang="en-IN" sz="900" b="0" i="0" u="none" strike="noStrike" dirty="0">
                          <a:solidFill>
                            <a:srgbClr val="000000"/>
                          </a:solidFill>
                          <a:effectLst/>
                          <a:latin typeface="Verdana" panose="020B0604030504040204" pitchFamily="34" charset="0"/>
                        </a:rPr>
                        <a:t>400</a:t>
                      </a: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l">
                        <a:lnSpc>
                          <a:spcPct val="100000"/>
                        </a:lnSpc>
                        <a:spcBef>
                          <a:spcPts val="0"/>
                        </a:spcBef>
                        <a:spcAft>
                          <a:spcPts val="0"/>
                        </a:spcAft>
                      </a:pPr>
                      <a:r>
                        <a:rPr lang="en-US" sz="900" dirty="0">
                          <a:effectLst/>
                          <a:latin typeface="Verdana" panose="020B0604030504040204" pitchFamily="34" charset="0"/>
                          <a:ea typeface="Verdana" panose="020B0604030504040204" pitchFamily="34" charset="0"/>
                          <a:cs typeface="Times New Roman" panose="02020603050405020304" pitchFamily="18" charset="0"/>
                        </a:rPr>
                        <a:t>COD Achieved in FY20</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3162774779"/>
                  </a:ext>
                </a:extLst>
              </a:tr>
              <a:tr h="316353">
                <a:tc>
                  <a:txBody>
                    <a:bodyPr/>
                    <a:lstStyle/>
                    <a:p>
                      <a:pPr algn="l" fontAlgn="b">
                        <a:lnSpc>
                          <a:spcPct val="100000"/>
                        </a:lnSpc>
                        <a:spcBef>
                          <a:spcPts val="0"/>
                        </a:spcBef>
                      </a:pPr>
                      <a:r>
                        <a:rPr lang="en-IN" sz="900" b="0" i="0" u="none" strike="noStrike" dirty="0">
                          <a:solidFill>
                            <a:srgbClr val="000000"/>
                          </a:solidFill>
                          <a:effectLst/>
                          <a:latin typeface="Verdana" panose="020B0604030504040204" pitchFamily="34" charset="0"/>
                        </a:rPr>
                        <a:t>Shahjibazar  100 MW PP</a:t>
                      </a: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ctr" fontAlgn="b">
                        <a:lnSpc>
                          <a:spcPct val="100000"/>
                        </a:lnSpc>
                        <a:spcBef>
                          <a:spcPts val="0"/>
                        </a:spcBef>
                      </a:pPr>
                      <a:r>
                        <a:rPr lang="en-IN" sz="900" b="0" i="0" u="none" strike="noStrike" dirty="0">
                          <a:solidFill>
                            <a:srgbClr val="000000"/>
                          </a:solidFill>
                          <a:effectLst/>
                          <a:latin typeface="Verdana" panose="020B0604030504040204" pitchFamily="34" charset="0"/>
                        </a:rPr>
                        <a:t>100</a:t>
                      </a: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l" fontAlgn="b">
                        <a:lnSpc>
                          <a:spcPct val="100000"/>
                        </a:lnSpc>
                        <a:spcBef>
                          <a:spcPts val="0"/>
                        </a:spcBef>
                      </a:pPr>
                      <a:r>
                        <a:rPr lang="en-IN" sz="900" b="0" i="0" u="none" strike="noStrike" dirty="0">
                          <a:solidFill>
                            <a:srgbClr val="000000"/>
                          </a:solidFill>
                          <a:effectLst/>
                          <a:latin typeface="Verdana" panose="020B0604030504040204" pitchFamily="34" charset="0"/>
                        </a:rPr>
                        <a:t>-EPC Contract awarded</a:t>
                      </a:r>
                      <a:r>
                        <a:rPr lang="en-IN" sz="900" b="0" i="0" u="none" strike="noStrike" baseline="0" dirty="0">
                          <a:solidFill>
                            <a:srgbClr val="000000"/>
                          </a:solidFill>
                          <a:effectLst/>
                          <a:latin typeface="Verdana" panose="020B0604030504040204" pitchFamily="34" charset="0"/>
                        </a:rPr>
                        <a:t> to GE in Nov 2017</a:t>
                      </a:r>
                      <a:endParaRPr lang="en-IN" sz="900" b="0" i="0" u="none" strike="noStrike" dirty="0">
                        <a:solidFill>
                          <a:srgbClr val="000000"/>
                        </a:solidFill>
                        <a:effectLst/>
                        <a:latin typeface="Verdana" panose="020B0604030504040204" pitchFamily="34" charset="0"/>
                      </a:endParaRP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949870253"/>
                  </a:ext>
                </a:extLst>
              </a:tr>
              <a:tr h="316353">
                <a:tc>
                  <a:txBody>
                    <a:bodyPr/>
                    <a:lstStyle/>
                    <a:p>
                      <a:pPr algn="l" fontAlgn="b">
                        <a:lnSpc>
                          <a:spcPct val="100000"/>
                        </a:lnSpc>
                        <a:spcBef>
                          <a:spcPts val="0"/>
                        </a:spcBef>
                      </a:pPr>
                      <a:r>
                        <a:rPr lang="en-US" sz="900" b="0" i="0" u="none" strike="noStrike" dirty="0">
                          <a:solidFill>
                            <a:srgbClr val="000000"/>
                          </a:solidFill>
                          <a:effectLst/>
                          <a:latin typeface="Verdana" panose="020B0604030504040204" pitchFamily="34" charset="0"/>
                        </a:rPr>
                        <a:t>Siddhirganj  335 MW CCPP ST Unit</a:t>
                      </a: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marL="0" algn="ctr" defTabSz="990571" rtl="0" eaLnBrk="1" fontAlgn="b" latinLnBrk="0" hangingPunct="1">
                        <a:lnSpc>
                          <a:spcPct val="100000"/>
                        </a:lnSpc>
                        <a:spcBef>
                          <a:spcPts val="0"/>
                        </a:spcBef>
                        <a:spcAft>
                          <a:spcPts val="0"/>
                        </a:spcAft>
                      </a:pPr>
                      <a:r>
                        <a:rPr lang="en-IN" sz="900" b="0" i="0" u="none" strike="noStrike" kern="1200" dirty="0">
                          <a:solidFill>
                            <a:srgbClr val="000000"/>
                          </a:solidFill>
                          <a:effectLst/>
                          <a:latin typeface="Verdana" panose="020B0604030504040204" pitchFamily="34" charset="0"/>
                          <a:ea typeface="+mn-ea"/>
                          <a:cs typeface="+mn-cs"/>
                        </a:rPr>
                        <a:t>118</a:t>
                      </a: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l" fontAlgn="b">
                        <a:lnSpc>
                          <a:spcPct val="100000"/>
                        </a:lnSpc>
                        <a:spcBef>
                          <a:spcPts val="0"/>
                        </a:spcBef>
                      </a:pPr>
                      <a:r>
                        <a:rPr lang="en-US" sz="900" b="0" i="0" u="none" strike="noStrike" dirty="0">
                          <a:solidFill>
                            <a:srgbClr val="000000"/>
                          </a:solidFill>
                          <a:effectLst/>
                          <a:latin typeface="Verdana" panose="020B0604030504040204" pitchFamily="34" charset="0"/>
                        </a:rPr>
                        <a:t>COD Achieved in FY20</a:t>
                      </a:r>
                      <a:endParaRPr lang="en-IN" sz="900" b="0" i="0" u="none" strike="noStrike" dirty="0">
                        <a:solidFill>
                          <a:srgbClr val="000000"/>
                        </a:solidFill>
                        <a:effectLst/>
                        <a:latin typeface="Verdana" panose="020B0604030504040204" pitchFamily="34" charset="0"/>
                      </a:endParaRP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502844934"/>
                  </a:ext>
                </a:extLst>
              </a:tr>
              <a:tr h="316353">
                <a:tc>
                  <a:txBody>
                    <a:bodyPr/>
                    <a:lstStyle/>
                    <a:p>
                      <a:pPr algn="l" fontAlgn="b">
                        <a:lnSpc>
                          <a:spcPct val="100000"/>
                        </a:lnSpc>
                        <a:spcBef>
                          <a:spcPts val="0"/>
                        </a:spcBef>
                      </a:pPr>
                      <a:r>
                        <a:rPr lang="en-IN" sz="900" b="0" i="0" u="none" strike="noStrike" dirty="0">
                          <a:solidFill>
                            <a:srgbClr val="000000"/>
                          </a:solidFill>
                          <a:effectLst/>
                          <a:latin typeface="Verdana" panose="020B0604030504040204" pitchFamily="34" charset="0"/>
                        </a:rPr>
                        <a:t>Ghorashal 4th Unit Repowering</a:t>
                      </a: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marL="0" algn="ctr" defTabSz="990571" rtl="0" eaLnBrk="1" fontAlgn="b" latinLnBrk="0" hangingPunct="1">
                        <a:lnSpc>
                          <a:spcPct val="100000"/>
                        </a:lnSpc>
                        <a:spcBef>
                          <a:spcPts val="0"/>
                        </a:spcBef>
                        <a:spcAft>
                          <a:spcPts val="0"/>
                        </a:spcAft>
                      </a:pPr>
                      <a:r>
                        <a:rPr lang="en-IN" sz="900" b="0" i="0" u="none" strike="noStrike" kern="1200" dirty="0">
                          <a:solidFill>
                            <a:srgbClr val="000000"/>
                          </a:solidFill>
                          <a:effectLst/>
                          <a:latin typeface="Verdana" panose="020B0604030504040204" pitchFamily="34" charset="0"/>
                          <a:ea typeface="+mn-ea"/>
                          <a:cs typeface="+mn-cs"/>
                        </a:rPr>
                        <a:t>200</a:t>
                      </a: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rowSpan="2">
                  <a:txBody>
                    <a:bodyPr/>
                    <a:lstStyle/>
                    <a:p>
                      <a:pPr marL="0" algn="l" defTabSz="990571" rtl="0" eaLnBrk="1" fontAlgn="t" latinLnBrk="0" hangingPunct="1">
                        <a:lnSpc>
                          <a:spcPct val="100000"/>
                        </a:lnSpc>
                        <a:spcBef>
                          <a:spcPts val="0"/>
                        </a:spcBef>
                        <a:spcAft>
                          <a:spcPts val="0"/>
                        </a:spcAft>
                      </a:pPr>
                      <a:r>
                        <a:rPr lang="en-US" sz="90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Under EPC by GE; World Bank Funded</a:t>
                      </a: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659309928"/>
                  </a:ext>
                </a:extLst>
              </a:tr>
              <a:tr h="316353">
                <a:tc>
                  <a:txBody>
                    <a:bodyPr/>
                    <a:lstStyle/>
                    <a:p>
                      <a:pPr algn="l" fontAlgn="b">
                        <a:lnSpc>
                          <a:spcPct val="100000"/>
                        </a:lnSpc>
                        <a:spcBef>
                          <a:spcPts val="0"/>
                        </a:spcBef>
                      </a:pPr>
                      <a:r>
                        <a:rPr lang="en-IN" sz="900" b="0" i="0" u="none" strike="noStrike" dirty="0">
                          <a:solidFill>
                            <a:srgbClr val="000000"/>
                          </a:solidFill>
                          <a:effectLst/>
                          <a:latin typeface="Verdana" panose="020B0604030504040204" pitchFamily="34" charset="0"/>
                        </a:rPr>
                        <a:t>Ghorashal 3rd Unit Repowering</a:t>
                      </a: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marL="0" algn="ctr" defTabSz="990571" rtl="0" eaLnBrk="1" fontAlgn="b" latinLnBrk="0" hangingPunct="1">
                        <a:lnSpc>
                          <a:spcPct val="100000"/>
                        </a:lnSpc>
                        <a:spcBef>
                          <a:spcPts val="0"/>
                        </a:spcBef>
                        <a:spcAft>
                          <a:spcPts val="0"/>
                        </a:spcAft>
                      </a:pPr>
                      <a:r>
                        <a:rPr lang="en-IN" sz="900" b="0" i="0" u="none" strike="noStrike" kern="1200" dirty="0">
                          <a:solidFill>
                            <a:srgbClr val="000000"/>
                          </a:solidFill>
                          <a:effectLst/>
                          <a:latin typeface="Verdana" panose="020B0604030504040204" pitchFamily="34" charset="0"/>
                          <a:ea typeface="+mn-ea"/>
                          <a:cs typeface="+mn-cs"/>
                        </a:rPr>
                        <a:t>206</a:t>
                      </a: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vMerge="1">
                  <a:txBody>
                    <a:bodyPr/>
                    <a:lstStyle/>
                    <a:p>
                      <a:pPr algn="l">
                        <a:lnSpc>
                          <a:spcPct val="150000"/>
                        </a:lnSpc>
                        <a:spcBef>
                          <a:spcPts val="800"/>
                        </a:spcBef>
                        <a:spcAft>
                          <a:spcPts val="0"/>
                        </a:spcAft>
                      </a:pPr>
                      <a:endParaRPr lang="en-IN" sz="85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solidFill>
                      <a:schemeClr val="accent1">
                        <a:lumMod val="20000"/>
                        <a:lumOff val="80000"/>
                      </a:schemeClr>
                    </a:solidFill>
                  </a:tcPr>
                </a:tc>
                <a:extLst>
                  <a:ext uri="{0D108BD9-81ED-4DB2-BD59-A6C34878D82A}">
                    <a16:rowId xmlns:a16="http://schemas.microsoft.com/office/drawing/2014/main" val="415769485"/>
                  </a:ext>
                </a:extLst>
              </a:tr>
              <a:tr h="229910">
                <a:tc>
                  <a:txBody>
                    <a:bodyPr/>
                    <a:lstStyle/>
                    <a:p>
                      <a:pPr algn="l" fontAlgn="b">
                        <a:lnSpc>
                          <a:spcPct val="100000"/>
                        </a:lnSpc>
                        <a:spcBef>
                          <a:spcPts val="0"/>
                        </a:spcBef>
                      </a:pPr>
                      <a:r>
                        <a:rPr lang="fr-FR" sz="900" b="0" i="0" u="none" strike="noStrike" dirty="0">
                          <a:solidFill>
                            <a:srgbClr val="000000"/>
                          </a:solidFill>
                          <a:effectLst/>
                          <a:latin typeface="Verdana" panose="020B0604030504040204" pitchFamily="34" charset="0"/>
                        </a:rPr>
                        <a:t>Sylhet 150 MW PP Conversion</a:t>
                      </a: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marL="0" algn="ctr" defTabSz="990571" rtl="0" eaLnBrk="1" fontAlgn="b" latinLnBrk="0" hangingPunct="1">
                        <a:lnSpc>
                          <a:spcPct val="100000"/>
                        </a:lnSpc>
                        <a:spcBef>
                          <a:spcPts val="0"/>
                        </a:spcBef>
                        <a:spcAft>
                          <a:spcPts val="0"/>
                        </a:spcAft>
                      </a:pPr>
                      <a:r>
                        <a:rPr lang="en-IN" sz="900" b="0" i="0" u="none" strike="noStrike" kern="1200" dirty="0">
                          <a:solidFill>
                            <a:srgbClr val="000000"/>
                          </a:solidFill>
                          <a:effectLst/>
                          <a:latin typeface="Verdana" panose="020B0604030504040204" pitchFamily="34" charset="0"/>
                          <a:ea typeface="+mn-ea"/>
                          <a:cs typeface="+mn-cs"/>
                        </a:rPr>
                        <a:t>87</a:t>
                      </a: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l">
                        <a:lnSpc>
                          <a:spcPct val="100000"/>
                        </a:lnSpc>
                        <a:spcBef>
                          <a:spcPts val="0"/>
                        </a:spcBef>
                        <a:spcAft>
                          <a:spcPts val="0"/>
                        </a:spcAft>
                      </a:pPr>
                      <a:r>
                        <a:rPr lang="en-US" sz="900" dirty="0">
                          <a:effectLst/>
                          <a:latin typeface="Verdana" panose="020B0604030504040204" pitchFamily="34" charset="0"/>
                          <a:ea typeface="Verdana" panose="020B0604030504040204" pitchFamily="34" charset="0"/>
                          <a:cs typeface="Times New Roman" panose="02020603050405020304" pitchFamily="18" charset="0"/>
                        </a:rPr>
                        <a:t>COD Achieved in FY20</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251225146"/>
                  </a:ext>
                </a:extLst>
              </a:tr>
              <a:tr h="423232">
                <a:tc>
                  <a:txBody>
                    <a:bodyPr/>
                    <a:lstStyle/>
                    <a:p>
                      <a:pPr algn="l" fontAlgn="b">
                        <a:lnSpc>
                          <a:spcPct val="100000"/>
                        </a:lnSpc>
                        <a:spcBef>
                          <a:spcPts val="0"/>
                        </a:spcBef>
                      </a:pPr>
                      <a:r>
                        <a:rPr lang="en-IN" sz="900" b="0" i="0" u="none" strike="noStrike" dirty="0">
                          <a:solidFill>
                            <a:srgbClr val="000000"/>
                          </a:solidFill>
                          <a:effectLst/>
                          <a:latin typeface="Verdana" panose="020B0604030504040204" pitchFamily="34" charset="0"/>
                        </a:rPr>
                        <a:t>Bhola 220 MW CCPP (D/F)</a:t>
                      </a: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marL="0" algn="ctr" defTabSz="990571" rtl="0" eaLnBrk="1" fontAlgn="b" latinLnBrk="0" hangingPunct="1">
                        <a:lnSpc>
                          <a:spcPct val="100000"/>
                        </a:lnSpc>
                        <a:spcBef>
                          <a:spcPts val="0"/>
                        </a:spcBef>
                        <a:spcAft>
                          <a:spcPts val="0"/>
                        </a:spcAft>
                      </a:pPr>
                      <a:r>
                        <a:rPr lang="en-IN" sz="900" b="0" i="0" u="none" strike="noStrike" kern="1200" dirty="0">
                          <a:solidFill>
                            <a:srgbClr val="000000"/>
                          </a:solidFill>
                          <a:effectLst/>
                          <a:latin typeface="Verdana" panose="020B0604030504040204" pitchFamily="34" charset="0"/>
                          <a:ea typeface="+mn-ea"/>
                          <a:cs typeface="+mn-cs"/>
                        </a:rPr>
                        <a:t>220</a:t>
                      </a: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l">
                        <a:lnSpc>
                          <a:spcPct val="100000"/>
                        </a:lnSpc>
                        <a:spcBef>
                          <a:spcPts val="0"/>
                        </a:spcBef>
                        <a:spcAft>
                          <a:spcPts val="0"/>
                        </a:spcAft>
                      </a:pPr>
                      <a:r>
                        <a:rPr lang="en-US" sz="900" dirty="0">
                          <a:effectLst/>
                          <a:latin typeface="Verdana" panose="020B0604030504040204" pitchFamily="34" charset="0"/>
                          <a:ea typeface="Verdana" panose="020B0604030504040204" pitchFamily="34" charset="0"/>
                          <a:cs typeface="Times New Roman" panose="02020603050405020304" pitchFamily="18" charset="0"/>
                        </a:rPr>
                        <a:t>Proposed Nimbus Plant –</a:t>
                      </a:r>
                      <a:r>
                        <a:rPr lang="en-US" sz="900" baseline="0" dirty="0">
                          <a:effectLst/>
                          <a:latin typeface="Verdana" panose="020B0604030504040204" pitchFamily="34" charset="0"/>
                          <a:ea typeface="Verdana" panose="020B0604030504040204" pitchFamily="34" charset="0"/>
                          <a:cs typeface="Times New Roman" panose="02020603050405020304" pitchFamily="18" charset="0"/>
                        </a:rPr>
                        <a:t> Expected COD in FY21</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2514555971"/>
                  </a:ext>
                </a:extLst>
              </a:tr>
              <a:tr h="228640">
                <a:tc>
                  <a:txBody>
                    <a:bodyPr/>
                    <a:lstStyle/>
                    <a:p>
                      <a:pPr algn="l" fontAlgn="b">
                        <a:lnSpc>
                          <a:spcPct val="100000"/>
                        </a:lnSpc>
                        <a:spcBef>
                          <a:spcPts val="0"/>
                        </a:spcBef>
                      </a:pPr>
                      <a:r>
                        <a:rPr lang="en-US" sz="900" b="0" i="0" u="none" strike="noStrike" dirty="0">
                          <a:solidFill>
                            <a:srgbClr val="000000"/>
                          </a:solidFill>
                          <a:effectLst/>
                          <a:latin typeface="Verdana" panose="020B0604030504040204" pitchFamily="34" charset="0"/>
                        </a:rPr>
                        <a:t>Bibiyana South 383 MW CCPP</a:t>
                      </a: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marL="0" algn="ctr" defTabSz="990571" rtl="0" eaLnBrk="1" fontAlgn="b" latinLnBrk="0" hangingPunct="1">
                        <a:lnSpc>
                          <a:spcPct val="100000"/>
                        </a:lnSpc>
                        <a:spcBef>
                          <a:spcPts val="0"/>
                        </a:spcBef>
                        <a:spcAft>
                          <a:spcPts val="0"/>
                        </a:spcAft>
                      </a:pPr>
                      <a:r>
                        <a:rPr lang="en-IN" sz="900" b="0" i="0" u="none" strike="noStrike" kern="1200" dirty="0">
                          <a:solidFill>
                            <a:srgbClr val="000000"/>
                          </a:solidFill>
                          <a:effectLst/>
                          <a:latin typeface="Verdana" panose="020B0604030504040204" pitchFamily="34" charset="0"/>
                          <a:ea typeface="+mn-ea"/>
                          <a:cs typeface="+mn-cs"/>
                        </a:rPr>
                        <a:t>383</a:t>
                      </a: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l">
                        <a:lnSpc>
                          <a:spcPct val="100000"/>
                        </a:lnSpc>
                        <a:spcBef>
                          <a:spcPts val="0"/>
                        </a:spcBef>
                        <a:spcAft>
                          <a:spcPts val="0"/>
                        </a:spcAft>
                      </a:pPr>
                      <a:r>
                        <a:rPr lang="en-US" sz="900" dirty="0">
                          <a:effectLst/>
                          <a:latin typeface="Verdana" panose="020B0604030504040204" pitchFamily="34" charset="0"/>
                          <a:ea typeface="Verdana" panose="020B0604030504040204" pitchFamily="34" charset="0"/>
                          <a:cs typeface="Times New Roman" panose="02020603050405020304" pitchFamily="18" charset="0"/>
                        </a:rPr>
                        <a:t>EPC Awarded</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843618862"/>
                  </a:ext>
                </a:extLst>
              </a:tr>
              <a:tr h="423232">
                <a:tc>
                  <a:txBody>
                    <a:bodyPr/>
                    <a:lstStyle/>
                    <a:p>
                      <a:pPr algn="l" fontAlgn="b">
                        <a:lnSpc>
                          <a:spcPct val="100000"/>
                        </a:lnSpc>
                        <a:spcBef>
                          <a:spcPts val="0"/>
                        </a:spcBef>
                      </a:pPr>
                      <a:r>
                        <a:rPr lang="en-IN" sz="900" b="0" i="0" u="none" strike="noStrike" dirty="0">
                          <a:solidFill>
                            <a:srgbClr val="000000"/>
                          </a:solidFill>
                          <a:effectLst/>
                          <a:latin typeface="Verdana" panose="020B0604030504040204" pitchFamily="34" charset="0"/>
                        </a:rPr>
                        <a:t>Ashuganj 400 MW CCPP (East)</a:t>
                      </a: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marL="0" algn="ctr" defTabSz="990571" rtl="0" eaLnBrk="1" fontAlgn="b" latinLnBrk="0" hangingPunct="1">
                        <a:lnSpc>
                          <a:spcPct val="100000"/>
                        </a:lnSpc>
                        <a:spcBef>
                          <a:spcPts val="0"/>
                        </a:spcBef>
                        <a:spcAft>
                          <a:spcPts val="0"/>
                        </a:spcAft>
                      </a:pPr>
                      <a:r>
                        <a:rPr lang="en-IN" sz="900" b="0" i="0" u="none" strike="noStrike" kern="1200" dirty="0">
                          <a:solidFill>
                            <a:srgbClr val="000000"/>
                          </a:solidFill>
                          <a:effectLst/>
                          <a:latin typeface="Verdana" panose="020B0604030504040204" pitchFamily="34" charset="0"/>
                          <a:ea typeface="+mn-ea"/>
                          <a:cs typeface="+mn-cs"/>
                        </a:rPr>
                        <a:t>400</a:t>
                      </a: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l">
                        <a:lnSpc>
                          <a:spcPct val="100000"/>
                        </a:lnSpc>
                        <a:spcBef>
                          <a:spcPts val="0"/>
                        </a:spcBef>
                        <a:spcAft>
                          <a:spcPts val="0"/>
                        </a:spcAft>
                      </a:pPr>
                      <a:r>
                        <a:rPr lang="en-US" sz="900" dirty="0">
                          <a:effectLst/>
                          <a:latin typeface="Verdana" panose="020B0604030504040204" pitchFamily="34" charset="0"/>
                          <a:ea typeface="Verdana" panose="020B0604030504040204" pitchFamily="34" charset="0"/>
                          <a:cs typeface="Times New Roman" panose="02020603050405020304" pitchFamily="18" charset="0"/>
                        </a:rPr>
                        <a:t>EPC</a:t>
                      </a:r>
                      <a:r>
                        <a:rPr lang="en-US" sz="900" baseline="0" dirty="0">
                          <a:effectLst/>
                          <a:latin typeface="Verdana" panose="020B0604030504040204" pitchFamily="34" charset="0"/>
                          <a:ea typeface="Verdana" panose="020B0604030504040204" pitchFamily="34" charset="0"/>
                          <a:cs typeface="Times New Roman" panose="02020603050405020304" pitchFamily="18" charset="0"/>
                        </a:rPr>
                        <a:t> Awarded to Chinese Consortium; </a:t>
                      </a:r>
                      <a:r>
                        <a:rPr lang="en-US" sz="900" dirty="0">
                          <a:effectLst/>
                          <a:latin typeface="Verdana" panose="020B0604030504040204" pitchFamily="34" charset="0"/>
                          <a:ea typeface="Verdana" panose="020B0604030504040204" pitchFamily="34" charset="0"/>
                          <a:cs typeface="Times New Roman" panose="02020603050405020304" pitchFamily="18" charset="0"/>
                        </a:rPr>
                        <a:t>ADB Funded</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2637698655"/>
                  </a:ext>
                </a:extLst>
              </a:tr>
              <a:tr h="423232">
                <a:tc>
                  <a:txBody>
                    <a:bodyPr/>
                    <a:lstStyle/>
                    <a:p>
                      <a:pPr algn="l" fontAlgn="b">
                        <a:lnSpc>
                          <a:spcPct val="100000"/>
                        </a:lnSpc>
                        <a:spcBef>
                          <a:spcPts val="0"/>
                        </a:spcBef>
                      </a:pPr>
                      <a:r>
                        <a:rPr lang="en-IN" sz="900" b="0" i="0" u="none" strike="noStrike" dirty="0">
                          <a:solidFill>
                            <a:srgbClr val="000000"/>
                          </a:solidFill>
                          <a:effectLst/>
                          <a:latin typeface="Verdana" panose="020B0604030504040204" pitchFamily="34" charset="0"/>
                        </a:rPr>
                        <a:t>Khulna 330 MW CCPP (D/F)</a:t>
                      </a: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marL="0" algn="ctr" defTabSz="990571" rtl="0" eaLnBrk="1" fontAlgn="b" latinLnBrk="0" hangingPunct="1">
                        <a:lnSpc>
                          <a:spcPct val="100000"/>
                        </a:lnSpc>
                        <a:spcBef>
                          <a:spcPts val="0"/>
                        </a:spcBef>
                        <a:spcAft>
                          <a:spcPts val="0"/>
                        </a:spcAft>
                      </a:pPr>
                      <a:r>
                        <a:rPr lang="en-IN" sz="900" b="0" i="0" u="none" strike="noStrike" kern="1200" dirty="0">
                          <a:solidFill>
                            <a:srgbClr val="000000"/>
                          </a:solidFill>
                          <a:effectLst/>
                          <a:latin typeface="Verdana" panose="020B0604030504040204" pitchFamily="34" charset="0"/>
                          <a:ea typeface="+mn-ea"/>
                          <a:cs typeface="+mn-cs"/>
                        </a:rPr>
                        <a:t>336</a:t>
                      </a: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l">
                        <a:lnSpc>
                          <a:spcPct val="100000"/>
                        </a:lnSpc>
                        <a:spcBef>
                          <a:spcPts val="0"/>
                        </a:spcBef>
                        <a:spcAft>
                          <a:spcPts val="0"/>
                        </a:spcAft>
                      </a:pPr>
                      <a:r>
                        <a:rPr lang="en-US" sz="900" dirty="0">
                          <a:effectLst/>
                          <a:latin typeface="Verdana" panose="020B0604030504040204" pitchFamily="34" charset="0"/>
                          <a:ea typeface="Verdana" panose="020B0604030504040204" pitchFamily="34" charset="0"/>
                          <a:cs typeface="Times New Roman" panose="02020603050405020304" pitchFamily="18" charset="0"/>
                        </a:rPr>
                        <a:t>EPC</a:t>
                      </a:r>
                      <a:r>
                        <a:rPr lang="en-US" sz="900" baseline="0" dirty="0">
                          <a:effectLst/>
                          <a:latin typeface="Verdana" panose="020B0604030504040204" pitchFamily="34" charset="0"/>
                          <a:ea typeface="Verdana" panose="020B0604030504040204" pitchFamily="34" charset="0"/>
                          <a:cs typeface="Times New Roman" panose="02020603050405020304" pitchFamily="18" charset="0"/>
                        </a:rPr>
                        <a:t> Awarded to Chinese Consortium</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459382313"/>
                  </a:ext>
                </a:extLst>
              </a:tr>
              <a:tr h="423232">
                <a:tc>
                  <a:txBody>
                    <a:bodyPr/>
                    <a:lstStyle/>
                    <a:p>
                      <a:pPr algn="l" fontAlgn="b">
                        <a:lnSpc>
                          <a:spcPct val="100000"/>
                        </a:lnSpc>
                        <a:spcBef>
                          <a:spcPts val="0"/>
                        </a:spcBef>
                      </a:pPr>
                      <a:r>
                        <a:rPr lang="en-IN" sz="900" b="0" i="0" u="none" strike="noStrike" dirty="0">
                          <a:solidFill>
                            <a:srgbClr val="000000"/>
                          </a:solidFill>
                          <a:effectLst/>
                          <a:latin typeface="Verdana" panose="020B0604030504040204" pitchFamily="34" charset="0"/>
                        </a:rPr>
                        <a:t>Mymenshingh 360 MW CCPP</a:t>
                      </a: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marL="0" algn="ctr" defTabSz="990571" rtl="0" eaLnBrk="1" fontAlgn="b" latinLnBrk="0" hangingPunct="1">
                        <a:lnSpc>
                          <a:spcPct val="100000"/>
                        </a:lnSpc>
                        <a:spcBef>
                          <a:spcPts val="0"/>
                        </a:spcBef>
                        <a:spcAft>
                          <a:spcPts val="0"/>
                        </a:spcAft>
                      </a:pPr>
                      <a:r>
                        <a:rPr lang="en-IN" sz="900" b="0" i="0" u="none" strike="noStrike" kern="1200" dirty="0">
                          <a:solidFill>
                            <a:srgbClr val="000000"/>
                          </a:solidFill>
                          <a:effectLst/>
                          <a:latin typeface="Verdana" panose="020B0604030504040204" pitchFamily="34" charset="0"/>
                          <a:ea typeface="+mn-ea"/>
                          <a:cs typeface="+mn-cs"/>
                        </a:rPr>
                        <a:t>420</a:t>
                      </a: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l">
                        <a:lnSpc>
                          <a:spcPct val="100000"/>
                        </a:lnSpc>
                        <a:spcBef>
                          <a:spcPts val="0"/>
                        </a:spcBef>
                        <a:spcAft>
                          <a:spcPts val="0"/>
                        </a:spcAft>
                      </a:pPr>
                      <a:r>
                        <a:rPr lang="en-US" sz="900" dirty="0">
                          <a:effectLst/>
                          <a:latin typeface="Verdana" panose="020B0604030504040204" pitchFamily="34" charset="0"/>
                          <a:ea typeface="Verdana" panose="020B0604030504040204" pitchFamily="34" charset="0"/>
                          <a:cs typeface="Times New Roman" panose="02020603050405020304" pitchFamily="18" charset="0"/>
                        </a:rPr>
                        <a:t>State Guarantee Provided by GoB; Expected COD by FY26</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492890216"/>
                  </a:ext>
                </a:extLst>
              </a:tr>
              <a:tr h="396987">
                <a:tc>
                  <a:txBody>
                    <a:bodyPr/>
                    <a:lstStyle/>
                    <a:p>
                      <a:pPr marL="0" algn="l" defTabSz="990571" rtl="0" eaLnBrk="1" fontAlgn="b" latinLnBrk="0" hangingPunct="1">
                        <a:lnSpc>
                          <a:spcPct val="100000"/>
                        </a:lnSpc>
                        <a:spcBef>
                          <a:spcPts val="0"/>
                        </a:spcBef>
                        <a:spcAft>
                          <a:spcPts val="0"/>
                        </a:spcAft>
                      </a:pPr>
                      <a:r>
                        <a:rPr lang="en-IN"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Mirsorai, Chattogram</a:t>
                      </a: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tc>
                  <a:txBody>
                    <a:bodyPr/>
                    <a:lstStyle/>
                    <a:p>
                      <a:pPr marL="0" algn="ctr" defTabSz="990571" rtl="0" eaLnBrk="1" fontAlgn="b" latinLnBrk="0" hangingPunct="1">
                        <a:lnSpc>
                          <a:spcPct val="100000"/>
                        </a:lnSpc>
                        <a:spcBef>
                          <a:spcPts val="0"/>
                        </a:spcBef>
                        <a:spcAft>
                          <a:spcPts val="0"/>
                        </a:spcAft>
                      </a:pPr>
                      <a:r>
                        <a:rPr lang="en-US" sz="900" b="0" i="0" u="none" strike="noStrike" kern="1200" dirty="0">
                          <a:solidFill>
                            <a:srgbClr val="000000"/>
                          </a:solidFill>
                          <a:effectLst/>
                          <a:latin typeface="Verdana" panose="020B0604030504040204" pitchFamily="34" charset="0"/>
                          <a:ea typeface="+mn-ea"/>
                          <a:cs typeface="+mn-cs"/>
                        </a:rPr>
                        <a:t>150</a:t>
                      </a:r>
                      <a:endParaRPr lang="en-IN" sz="900" b="0" i="0" u="none" strike="noStrike" kern="1200" dirty="0">
                        <a:solidFill>
                          <a:srgbClr val="000000"/>
                        </a:solidFill>
                        <a:effectLst/>
                        <a:latin typeface="Verdana" panose="020B0604030504040204" pitchFamily="34" charset="0"/>
                        <a:ea typeface="+mn-ea"/>
                        <a:cs typeface="+mn-cs"/>
                      </a:endParaRP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tc>
                  <a:txBody>
                    <a:bodyPr/>
                    <a:lstStyle/>
                    <a:p>
                      <a:pPr marL="0" algn="l" defTabSz="990571" rtl="0" eaLnBrk="1" latinLnBrk="0" hangingPunct="1">
                        <a:lnSpc>
                          <a:spcPct val="100000"/>
                        </a:lnSpc>
                        <a:spcBef>
                          <a:spcPts val="0"/>
                        </a:spcBef>
                        <a:spcAft>
                          <a:spcPts val="0"/>
                        </a:spcAft>
                      </a:pPr>
                      <a:r>
                        <a:rPr lang="en-US" sz="90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Not likely to go through</a:t>
                      </a:r>
                      <a:r>
                        <a:rPr lang="en-US" sz="900" kern="1200" baseline="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 by FY26 due to low on-ground progress</a:t>
                      </a:r>
                      <a:endParaRPr lang="en-IN" sz="90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endParaRP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extLst>
                  <a:ext uri="{0D108BD9-81ED-4DB2-BD59-A6C34878D82A}">
                    <a16:rowId xmlns:a16="http://schemas.microsoft.com/office/drawing/2014/main" val="2889564758"/>
                  </a:ext>
                </a:extLst>
              </a:tr>
              <a:tr h="228640">
                <a:tc>
                  <a:txBody>
                    <a:bodyPr/>
                    <a:lstStyle/>
                    <a:p>
                      <a:pPr marL="0" algn="l" defTabSz="990571" rtl="0" eaLnBrk="1" fontAlgn="b" latinLnBrk="0" hangingPunct="1">
                        <a:lnSpc>
                          <a:spcPct val="100000"/>
                        </a:lnSpc>
                        <a:spcBef>
                          <a:spcPts val="0"/>
                        </a:spcBef>
                        <a:spcAft>
                          <a:spcPts val="0"/>
                        </a:spcAft>
                      </a:pPr>
                      <a:r>
                        <a:rPr lang="en-US" sz="90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Total</a:t>
                      </a:r>
                      <a:endParaRPr lang="en-IN" sz="90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endParaRP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tc>
                  <a:txBody>
                    <a:bodyPr/>
                    <a:lstStyle/>
                    <a:p>
                      <a:pPr marL="0" algn="ctr" defTabSz="990571" rtl="0" eaLnBrk="1" fontAlgn="b" latinLnBrk="0" hangingPunct="1">
                        <a:lnSpc>
                          <a:spcPct val="100000"/>
                        </a:lnSpc>
                        <a:spcBef>
                          <a:spcPts val="0"/>
                        </a:spcBef>
                        <a:spcAft>
                          <a:spcPts val="0"/>
                        </a:spcAft>
                      </a:pPr>
                      <a:r>
                        <a:rPr lang="en-US" sz="900" b="1" i="0" u="none" strike="noStrike" kern="1200" dirty="0">
                          <a:solidFill>
                            <a:srgbClr val="000000"/>
                          </a:solidFill>
                          <a:effectLst/>
                          <a:latin typeface="Verdana" panose="020B0604030504040204" pitchFamily="34" charset="0"/>
                          <a:ea typeface="+mn-ea"/>
                          <a:cs typeface="+mn-cs"/>
                        </a:rPr>
                        <a:t>3,020</a:t>
                      </a:r>
                      <a:endParaRPr lang="en-IN" sz="900" b="1" i="0" u="none" strike="noStrike" kern="1200" dirty="0">
                        <a:solidFill>
                          <a:srgbClr val="000000"/>
                        </a:solidFill>
                        <a:effectLst/>
                        <a:latin typeface="Verdana" panose="020B0604030504040204" pitchFamily="34" charset="0"/>
                        <a:ea typeface="+mn-ea"/>
                        <a:cs typeface="+mn-cs"/>
                      </a:endParaRP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tc>
                  <a:txBody>
                    <a:bodyPr/>
                    <a:lstStyle/>
                    <a:p>
                      <a:pPr marL="0" algn="l" defTabSz="990571" rtl="0" eaLnBrk="1" latinLnBrk="0" hangingPunct="1">
                        <a:lnSpc>
                          <a:spcPct val="100000"/>
                        </a:lnSpc>
                        <a:spcBef>
                          <a:spcPts val="0"/>
                        </a:spcBef>
                        <a:spcAft>
                          <a:spcPts val="0"/>
                        </a:spcAft>
                      </a:pPr>
                      <a:endParaRPr lang="en-IN" sz="90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endParaRP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extLst>
                  <a:ext uri="{0D108BD9-81ED-4DB2-BD59-A6C34878D82A}">
                    <a16:rowId xmlns:a16="http://schemas.microsoft.com/office/drawing/2014/main" val="2131588718"/>
                  </a:ext>
                </a:extLst>
              </a:tr>
            </a:tbl>
          </a:graphicData>
        </a:graphic>
      </p:graphicFrame>
    </p:spTree>
    <p:extLst>
      <p:ext uri="{BB962C8B-B14F-4D97-AF65-F5344CB8AC3E}">
        <p14:creationId xmlns:p14="http://schemas.microsoft.com/office/powerpoint/2010/main" val="1026314702"/>
      </p:ext>
    </p:extLst>
  </p:cSld>
  <p:clrMapOvr>
    <a:masterClrMapping/>
  </p:clrMapOvr>
  <p:transition>
    <p:fade/>
  </p:transition>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164101928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530" imgH="531" progId="TCLayout.ActiveDocument.1">
                  <p:embed/>
                </p:oleObj>
              </mc:Choice>
              <mc:Fallback>
                <p:oleObj name="think-cell Slide" r:id="rId9" imgW="530" imgH="531" progId="TCLayout.ActiveDocument.1">
                  <p:embed/>
                  <p:pic>
                    <p:nvPicPr>
                      <p:cNvPr id="4" name="Object 3" hidden="1"/>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defRPr/>
            </a:pPr>
            <a:endParaRPr kumimoji="0" lang="en-GB" sz="1000" u="none" strike="noStrike" kern="1200" cap="none" spc="0" normalizeH="0" noProof="0" dirty="0">
              <a:ln>
                <a:noFill/>
              </a:ln>
              <a:solidFill>
                <a:prstClr val="white"/>
              </a:solidFill>
              <a:effectLst/>
              <a:uLnTx/>
              <a:uFillTx/>
              <a:sym typeface="+mn-lt"/>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1856025627"/>
              </p:ext>
            </p:extLst>
          </p:nvPr>
        </p:nvGraphicFramePr>
        <p:xfrm>
          <a:off x="5524500" y="1961920"/>
          <a:ext cx="4732062" cy="3635605"/>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3635605">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table shows the status of the HFO based power plants &amp; their current status till FY26:</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Power Market | Supply Projection (HFO)</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Out of planned ~1,569 MW of HFO based capacity, </a:t>
            </a:r>
            <a:r>
              <a:rPr lang="en-US" sz="1400" dirty="0">
                <a:solidFill>
                  <a:prstClr val="black">
                    <a:lumMod val="50000"/>
                    <a:lumOff val="50000"/>
                  </a:prstClr>
                </a:solidFill>
                <a:latin typeface="Verdana" panose="020B0604030504040204" pitchFamily="34" charset="0"/>
              </a:rPr>
              <a:t>1,169</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MW may be commissioned by FY2026; However</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due to their high cost of generation, they may be utilized mostly for peaking power support once cheaper alternate sources of power get commissioned</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3519908800"/>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lgn="just" defTabSz="990571" rtl="0" eaLnBrk="1" latinLnBrk="0" hangingPunct="1">
                        <a:spcAft>
                          <a:spcPts val="500"/>
                        </a:spcAft>
                        <a:buFont typeface="Arial" panose="020B0604020202020204" pitchFamily="34" charset="0"/>
                        <a:buNone/>
                      </a:pPr>
                      <a:r>
                        <a:rPr lang="en-US" sz="1000" b="1" kern="1200" baseline="0" dirty="0">
                          <a:solidFill>
                            <a:schemeClr val="tx1"/>
                          </a:solidFill>
                          <a:latin typeface="+mn-lt"/>
                          <a:ea typeface="+mn-ea"/>
                          <a:cs typeface="+mn-cs"/>
                        </a:rPr>
                        <a:t>HFO Based Plants</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As Bangladesh is currently facing supply constraints due to limited domestic gas and LNG availability the private players along with GoB continue to invest in liquid fuel based power plants to meet the increasing power demand</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These power plants would be providing base load till the time alternate sources of energy are not commissioned. Post commissioning of cheaper alternate sources these plants are from an economic perspective are expected to provide mostly peaking support as their energy costs will be more than Tk 9 / kWh</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We envisage that these plants may get lower dispatch as cheaper fuel based power plants are commissioned in Bangladesh</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Out of the planned ~1,569 MW of HFO based plants, ~1,169 MW capacity are under various stages of development and are expected to be commissioned by FY26</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Following graph shows the planned &amp; expected HFO based capacity addition in Bangladesh by FY26</a:t>
                      </a:r>
                    </a:p>
                    <a:p>
                      <a:pPr marL="171450" indent="-171450" algn="just" defTabSz="990571" rtl="0" eaLnBrk="1" latinLnBrk="0" hangingPunct="1">
                        <a:spcAft>
                          <a:spcPts val="5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Aft>
                          <a:spcPts val="500"/>
                        </a:spcAft>
                        <a:buFont typeface="Arial" panose="020B0604020202020204" pitchFamily="34" charset="0"/>
                        <a:buChar char="•"/>
                      </a:pPr>
                      <a:endParaRPr lang="en-US" sz="1000" b="0" kern="1200" baseline="0" dirty="0">
                        <a:solidFill>
                          <a:schemeClr val="tx1"/>
                        </a:solidFill>
                        <a:latin typeface="+mn-lt"/>
                        <a:ea typeface="+mn-ea"/>
                        <a:cs typeface="+mn-cs"/>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20" name="Table 19"/>
          <p:cNvGraphicFramePr>
            <a:graphicFrameLocks noGrp="1"/>
          </p:cNvGraphicFramePr>
          <p:nvPr>
            <p:extLst>
              <p:ext uri="{D42A27DB-BD31-4B8C-83A1-F6EECF244321}">
                <p14:modId xmlns:p14="http://schemas.microsoft.com/office/powerpoint/2010/main" val="2722132101"/>
              </p:ext>
            </p:extLst>
          </p:nvPr>
        </p:nvGraphicFramePr>
        <p:xfrm>
          <a:off x="5702303" y="2480794"/>
          <a:ext cx="4554259" cy="4593105"/>
        </p:xfrm>
        <a:graphic>
          <a:graphicData uri="http://schemas.openxmlformats.org/drawingml/2006/table">
            <a:tbl>
              <a:tblPr firstRow="1" firstCol="1" bandRow="1">
                <a:tableStyleId>{5A111915-BE36-4E01-A7E5-04B1672EAD32}</a:tableStyleId>
              </a:tblPr>
              <a:tblGrid>
                <a:gridCol w="2128463">
                  <a:extLst>
                    <a:ext uri="{9D8B030D-6E8A-4147-A177-3AD203B41FA5}">
                      <a16:colId xmlns:a16="http://schemas.microsoft.com/office/drawing/2014/main" val="3290383493"/>
                    </a:ext>
                  </a:extLst>
                </a:gridCol>
                <a:gridCol w="632298">
                  <a:extLst>
                    <a:ext uri="{9D8B030D-6E8A-4147-A177-3AD203B41FA5}">
                      <a16:colId xmlns:a16="http://schemas.microsoft.com/office/drawing/2014/main" val="1605660941"/>
                    </a:ext>
                  </a:extLst>
                </a:gridCol>
                <a:gridCol w="1793498">
                  <a:extLst>
                    <a:ext uri="{9D8B030D-6E8A-4147-A177-3AD203B41FA5}">
                      <a16:colId xmlns:a16="http://schemas.microsoft.com/office/drawing/2014/main" val="447690441"/>
                    </a:ext>
                  </a:extLst>
                </a:gridCol>
              </a:tblGrid>
              <a:tr h="402824">
                <a:tc>
                  <a:txBody>
                    <a:bodyPr/>
                    <a:lstStyle/>
                    <a:p>
                      <a:pPr algn="ctr">
                        <a:lnSpc>
                          <a:spcPct val="100000"/>
                        </a:lnSpc>
                        <a:spcBef>
                          <a:spcPts val="0"/>
                        </a:spcBef>
                        <a:spcAft>
                          <a:spcPts val="0"/>
                        </a:spcAft>
                      </a:pPr>
                      <a:r>
                        <a:rPr lang="en-IN" sz="900" dirty="0">
                          <a:effectLst/>
                        </a:rPr>
                        <a:t>Plant</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18000" marR="18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tc>
                  <a:txBody>
                    <a:bodyPr/>
                    <a:lstStyle/>
                    <a:p>
                      <a:pPr algn="ctr">
                        <a:lnSpc>
                          <a:spcPct val="100000"/>
                        </a:lnSpc>
                        <a:spcBef>
                          <a:spcPts val="0"/>
                        </a:spcBef>
                        <a:spcAft>
                          <a:spcPts val="0"/>
                        </a:spcAft>
                      </a:pPr>
                      <a:r>
                        <a:rPr lang="en-IN" sz="900" dirty="0">
                          <a:effectLst/>
                        </a:rPr>
                        <a:t>Capacity (MW)</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18000" marR="18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tc>
                  <a:txBody>
                    <a:bodyPr/>
                    <a:lstStyle/>
                    <a:p>
                      <a:pPr algn="ctr">
                        <a:lnSpc>
                          <a:spcPct val="100000"/>
                        </a:lnSpc>
                        <a:spcBef>
                          <a:spcPts val="0"/>
                        </a:spcBef>
                        <a:spcAft>
                          <a:spcPts val="0"/>
                        </a:spcAft>
                      </a:pPr>
                      <a:r>
                        <a:rPr lang="en-US" sz="900" dirty="0">
                          <a:effectLst/>
                          <a:latin typeface="Verdana" panose="020B0604030504040204" pitchFamily="34" charset="0"/>
                          <a:ea typeface="Verdana" panose="020B0604030504040204" pitchFamily="34" charset="0"/>
                          <a:cs typeface="Times New Roman" panose="02020603050405020304" pitchFamily="18" charset="0"/>
                        </a:rPr>
                        <a:t>Current</a:t>
                      </a:r>
                      <a:r>
                        <a:rPr lang="en-US" sz="900" baseline="0" dirty="0">
                          <a:effectLst/>
                          <a:latin typeface="Verdana" panose="020B0604030504040204" pitchFamily="34" charset="0"/>
                          <a:ea typeface="Verdana" panose="020B0604030504040204" pitchFamily="34" charset="0"/>
                          <a:cs typeface="Times New Roman" panose="02020603050405020304" pitchFamily="18" charset="0"/>
                        </a:rPr>
                        <a:t> Status</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18000" marR="18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extLst>
                  <a:ext uri="{0D108BD9-81ED-4DB2-BD59-A6C34878D82A}">
                    <a16:rowId xmlns:a16="http://schemas.microsoft.com/office/drawing/2014/main" val="4036299370"/>
                  </a:ext>
                </a:extLst>
              </a:tr>
              <a:tr h="217616">
                <a:tc>
                  <a:txBody>
                    <a:bodyPr/>
                    <a:lstStyle/>
                    <a:p>
                      <a:pPr marL="0" algn="l" defTabSz="990571" rtl="0" eaLnBrk="1" fontAlgn="b" latinLnBrk="0" hangingPunct="1">
                        <a:lnSpc>
                          <a:spcPct val="100000"/>
                        </a:lnSpc>
                        <a:spcBef>
                          <a:spcPts val="0"/>
                        </a:spcBef>
                        <a:spcAft>
                          <a:spcPts val="0"/>
                        </a:spcAft>
                      </a:pPr>
                      <a:r>
                        <a:rPr lang="en-US"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Bogura 100 MW Power Plant </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marL="0" algn="ctr" defTabSz="990571" rtl="0" eaLnBrk="1" fontAlgn="b" latinLnBrk="0" hangingPunct="1">
                        <a:lnSpc>
                          <a:spcPct val="100000"/>
                        </a:lnSpc>
                        <a:spcBef>
                          <a:spcPts val="0"/>
                        </a:spcBef>
                        <a:spcAft>
                          <a:spcPts val="0"/>
                        </a:spcAft>
                      </a:pPr>
                      <a:r>
                        <a:rPr lang="en-IN"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113</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rowSpan="4">
                  <a:txBody>
                    <a:bodyPr/>
                    <a:lstStyle/>
                    <a:p>
                      <a:pPr algn="l">
                        <a:lnSpc>
                          <a:spcPct val="100000"/>
                        </a:lnSpc>
                        <a:spcBef>
                          <a:spcPts val="0"/>
                        </a:spcBef>
                        <a:spcAft>
                          <a:spcPts val="0"/>
                        </a:spcAft>
                      </a:pPr>
                      <a:r>
                        <a:rPr lang="en-US" sz="900" dirty="0">
                          <a:effectLst/>
                          <a:latin typeface="Verdana" panose="020B0604030504040204" pitchFamily="34" charset="0"/>
                          <a:ea typeface="Verdana" panose="020B0604030504040204" pitchFamily="34" charset="0"/>
                          <a:cs typeface="Times New Roman" panose="02020603050405020304" pitchFamily="18" charset="0"/>
                        </a:rPr>
                        <a:t>COD Achieved in FY20</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18000" marR="18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3162774779"/>
                  </a:ext>
                </a:extLst>
              </a:tr>
              <a:tr h="217616">
                <a:tc>
                  <a:txBody>
                    <a:bodyPr/>
                    <a:lstStyle/>
                    <a:p>
                      <a:pPr marL="0" algn="l" defTabSz="990571" rtl="0" eaLnBrk="1" fontAlgn="b" latinLnBrk="0" hangingPunct="1">
                        <a:lnSpc>
                          <a:spcPct val="100000"/>
                        </a:lnSpc>
                        <a:spcBef>
                          <a:spcPts val="0"/>
                        </a:spcBef>
                        <a:spcAft>
                          <a:spcPts val="0"/>
                        </a:spcAft>
                      </a:pPr>
                      <a:r>
                        <a:rPr lang="en-US"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Rangpur 113 MW Power Plant</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marL="0" algn="ctr" defTabSz="990571" rtl="0" eaLnBrk="1" fontAlgn="b" latinLnBrk="0" hangingPunct="1">
                        <a:lnSpc>
                          <a:spcPct val="100000"/>
                        </a:lnSpc>
                        <a:spcBef>
                          <a:spcPts val="0"/>
                        </a:spcBef>
                        <a:spcAft>
                          <a:spcPts val="0"/>
                        </a:spcAft>
                      </a:pPr>
                      <a:r>
                        <a:rPr lang="en-IN"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113</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vMerge="1">
                  <a:txBody>
                    <a:bodyPr/>
                    <a:lstStyle/>
                    <a:p>
                      <a:pPr algn="l" fontAlgn="b"/>
                      <a:endParaRPr lang="en-IN" sz="900" b="0" i="0" u="none" strike="noStrike" dirty="0">
                        <a:solidFill>
                          <a:srgbClr val="000000"/>
                        </a:solidFill>
                        <a:effectLst/>
                        <a:latin typeface="Verdana" panose="020B0604030504040204" pitchFamily="34" charset="0"/>
                      </a:endParaRPr>
                    </a:p>
                  </a:txBody>
                  <a:tcPr marL="36000" marR="36000" marT="18000" marB="18000" anchor="ctr">
                    <a:solidFill>
                      <a:schemeClr val="accent1">
                        <a:lumMod val="20000"/>
                        <a:lumOff val="80000"/>
                      </a:schemeClr>
                    </a:solidFill>
                  </a:tcPr>
                </a:tc>
                <a:extLst>
                  <a:ext uri="{0D108BD9-81ED-4DB2-BD59-A6C34878D82A}">
                    <a16:rowId xmlns:a16="http://schemas.microsoft.com/office/drawing/2014/main" val="1949870253"/>
                  </a:ext>
                </a:extLst>
              </a:tr>
              <a:tr h="217616">
                <a:tc>
                  <a:txBody>
                    <a:bodyPr/>
                    <a:lstStyle/>
                    <a:p>
                      <a:pPr marL="0" algn="l" defTabSz="990571" rtl="0" eaLnBrk="1" fontAlgn="b" latinLnBrk="0" hangingPunct="1">
                        <a:lnSpc>
                          <a:spcPct val="100000"/>
                        </a:lnSpc>
                        <a:spcBef>
                          <a:spcPts val="0"/>
                        </a:spcBef>
                        <a:spcAft>
                          <a:spcPts val="0"/>
                        </a:spcAft>
                      </a:pPr>
                      <a:r>
                        <a:rPr lang="en-IN"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Shikalbaha 110 MW PP</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marL="0" algn="ctr" defTabSz="990571" rtl="0" eaLnBrk="1" fontAlgn="b" latinLnBrk="0" hangingPunct="1">
                        <a:lnSpc>
                          <a:spcPct val="100000"/>
                        </a:lnSpc>
                        <a:spcBef>
                          <a:spcPts val="0"/>
                        </a:spcBef>
                        <a:spcAft>
                          <a:spcPts val="0"/>
                        </a:spcAft>
                      </a:pPr>
                      <a:r>
                        <a:rPr lang="en-IN"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110</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vMerge="1">
                  <a:txBody>
                    <a:bodyPr/>
                    <a:lstStyle/>
                    <a:p>
                      <a:pPr algn="l" fontAlgn="b"/>
                      <a:endParaRPr lang="en-IN" sz="900" b="0" i="0" u="none" strike="noStrike" dirty="0">
                        <a:solidFill>
                          <a:srgbClr val="000000"/>
                        </a:solidFill>
                        <a:effectLst/>
                        <a:latin typeface="Verdana" panose="020B0604030504040204" pitchFamily="34" charset="0"/>
                      </a:endParaRPr>
                    </a:p>
                  </a:txBody>
                  <a:tcPr marL="36000" marR="36000" marT="18000" marB="18000" anchor="ctr">
                    <a:solidFill>
                      <a:schemeClr val="accent1">
                        <a:lumMod val="20000"/>
                        <a:lumOff val="80000"/>
                      </a:schemeClr>
                    </a:solidFill>
                  </a:tcPr>
                </a:tc>
                <a:extLst>
                  <a:ext uri="{0D108BD9-81ED-4DB2-BD59-A6C34878D82A}">
                    <a16:rowId xmlns:a16="http://schemas.microsoft.com/office/drawing/2014/main" val="1502844934"/>
                  </a:ext>
                </a:extLst>
              </a:tr>
              <a:tr h="217616">
                <a:tc>
                  <a:txBody>
                    <a:bodyPr/>
                    <a:lstStyle/>
                    <a:p>
                      <a:pPr marL="0" algn="l" defTabSz="990571" rtl="0" eaLnBrk="1" fontAlgn="b" latinLnBrk="0" hangingPunct="1">
                        <a:lnSpc>
                          <a:spcPct val="100000"/>
                        </a:lnSpc>
                        <a:spcBef>
                          <a:spcPts val="0"/>
                        </a:spcBef>
                        <a:spcAft>
                          <a:spcPts val="0"/>
                        </a:spcAft>
                      </a:pPr>
                      <a:r>
                        <a:rPr lang="de-DE"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Shikalbaha, Chattogram 54 MW PP</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marL="0" algn="ctr" defTabSz="990571" rtl="0" eaLnBrk="1" fontAlgn="b" latinLnBrk="0" hangingPunct="1">
                        <a:lnSpc>
                          <a:spcPct val="100000"/>
                        </a:lnSpc>
                        <a:spcBef>
                          <a:spcPts val="0"/>
                        </a:spcBef>
                        <a:spcAft>
                          <a:spcPts val="0"/>
                        </a:spcAft>
                      </a:pPr>
                      <a:r>
                        <a:rPr lang="en-IN"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54</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vMerge="1">
                  <a:txBody>
                    <a:bodyPr/>
                    <a:lstStyle/>
                    <a:p>
                      <a:pPr marL="0" algn="l" defTabSz="990571" rtl="0" eaLnBrk="1" fontAlgn="t" latinLnBrk="0" hangingPunct="1">
                        <a:lnSpc>
                          <a:spcPct val="150000"/>
                        </a:lnSpc>
                        <a:spcBef>
                          <a:spcPts val="800"/>
                        </a:spcBef>
                        <a:spcAft>
                          <a:spcPts val="0"/>
                        </a:spcAft>
                      </a:pPr>
                      <a:endParaRPr lang="en-US" sz="90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endParaRPr>
                    </a:p>
                  </a:txBody>
                  <a:tcPr marL="36000" marR="36000" marT="18000" marB="18000" anchor="ctr">
                    <a:solidFill>
                      <a:schemeClr val="accent1">
                        <a:lumMod val="20000"/>
                        <a:lumOff val="80000"/>
                      </a:schemeClr>
                    </a:solidFill>
                  </a:tcPr>
                </a:tc>
                <a:extLst>
                  <a:ext uri="{0D108BD9-81ED-4DB2-BD59-A6C34878D82A}">
                    <a16:rowId xmlns:a16="http://schemas.microsoft.com/office/drawing/2014/main" val="659309928"/>
                  </a:ext>
                </a:extLst>
              </a:tr>
              <a:tr h="402824">
                <a:tc>
                  <a:txBody>
                    <a:bodyPr/>
                    <a:lstStyle/>
                    <a:p>
                      <a:pPr marL="0" algn="l" defTabSz="990571" rtl="0" eaLnBrk="1" fontAlgn="b" latinLnBrk="0" hangingPunct="1">
                        <a:lnSpc>
                          <a:spcPct val="100000"/>
                        </a:lnSpc>
                        <a:spcBef>
                          <a:spcPts val="0"/>
                        </a:spcBef>
                        <a:spcAft>
                          <a:spcPts val="0"/>
                        </a:spcAft>
                      </a:pPr>
                      <a:r>
                        <a:rPr lang="en-IN"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Manikganj 162 MW PP</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marL="0" algn="ctr" defTabSz="990571" rtl="0" eaLnBrk="1" fontAlgn="b" latinLnBrk="0" hangingPunct="1">
                        <a:lnSpc>
                          <a:spcPct val="100000"/>
                        </a:lnSpc>
                        <a:spcBef>
                          <a:spcPts val="0"/>
                        </a:spcBef>
                        <a:spcAft>
                          <a:spcPts val="0"/>
                        </a:spcAft>
                      </a:pPr>
                      <a:r>
                        <a:rPr lang="en-IN"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162</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marL="0" algn="l" defTabSz="990571" rtl="0" eaLnBrk="1" fontAlgn="t" latinLnBrk="0" hangingPunct="1">
                        <a:lnSpc>
                          <a:spcPct val="100000"/>
                        </a:lnSpc>
                        <a:spcBef>
                          <a:spcPts val="0"/>
                        </a:spcBef>
                        <a:spcAft>
                          <a:spcPts val="0"/>
                        </a:spcAft>
                      </a:pPr>
                      <a:r>
                        <a:rPr lang="en-US" sz="90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EPC underway;</a:t>
                      </a:r>
                      <a:r>
                        <a:rPr lang="en-US" sz="900" kern="1200" baseline="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 Expected COD FY21</a:t>
                      </a:r>
                      <a:endParaRPr lang="en-US" sz="90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endParaRPr>
                    </a:p>
                  </a:txBody>
                  <a:tcPr marL="18000" marR="18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415769485"/>
                  </a:ext>
                </a:extLst>
              </a:tr>
              <a:tr h="217616">
                <a:tc>
                  <a:txBody>
                    <a:bodyPr/>
                    <a:lstStyle/>
                    <a:p>
                      <a:pPr marL="0" algn="l" defTabSz="990571" rtl="0" eaLnBrk="1" fontAlgn="b" latinLnBrk="0" hangingPunct="1">
                        <a:lnSpc>
                          <a:spcPct val="100000"/>
                        </a:lnSpc>
                        <a:spcBef>
                          <a:spcPts val="0"/>
                        </a:spcBef>
                        <a:spcAft>
                          <a:spcPts val="0"/>
                        </a:spcAft>
                      </a:pPr>
                      <a:r>
                        <a:rPr lang="en-US"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Chandpur 115 MW Power Plant</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marL="0" algn="ctr" defTabSz="990571" rtl="0" eaLnBrk="1" fontAlgn="b" latinLnBrk="0" hangingPunct="1">
                        <a:lnSpc>
                          <a:spcPct val="100000"/>
                        </a:lnSpc>
                        <a:spcBef>
                          <a:spcPts val="0"/>
                        </a:spcBef>
                        <a:spcAft>
                          <a:spcPts val="0"/>
                        </a:spcAft>
                      </a:pPr>
                      <a:r>
                        <a:rPr lang="en-IN"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115</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l">
                        <a:lnSpc>
                          <a:spcPct val="100000"/>
                        </a:lnSpc>
                        <a:spcBef>
                          <a:spcPts val="0"/>
                        </a:spcBef>
                        <a:spcAft>
                          <a:spcPts val="0"/>
                        </a:spcAft>
                      </a:pPr>
                      <a:r>
                        <a:rPr lang="en-US" sz="900" dirty="0">
                          <a:effectLst/>
                          <a:latin typeface="Verdana" panose="020B0604030504040204" pitchFamily="34" charset="0"/>
                          <a:ea typeface="Verdana" panose="020B0604030504040204" pitchFamily="34" charset="0"/>
                          <a:cs typeface="Times New Roman" panose="02020603050405020304" pitchFamily="18" charset="0"/>
                        </a:rPr>
                        <a:t>PPA Signed</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18000" marR="18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251225146"/>
                  </a:ext>
                </a:extLst>
              </a:tr>
              <a:tr h="217616">
                <a:tc>
                  <a:txBody>
                    <a:bodyPr/>
                    <a:lstStyle/>
                    <a:p>
                      <a:pPr marL="0" algn="l" defTabSz="990571" rtl="0" eaLnBrk="1" fontAlgn="b" latinLnBrk="0" hangingPunct="1">
                        <a:lnSpc>
                          <a:spcPct val="100000"/>
                        </a:lnSpc>
                        <a:spcBef>
                          <a:spcPts val="0"/>
                        </a:spcBef>
                        <a:spcAft>
                          <a:spcPts val="0"/>
                        </a:spcAft>
                      </a:pPr>
                      <a:r>
                        <a:rPr lang="en-IN"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Choumohoni, Noakhali 113 MW</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marL="0" algn="ctr" defTabSz="990571" rtl="0" eaLnBrk="1" fontAlgn="b" latinLnBrk="0" hangingPunct="1">
                        <a:lnSpc>
                          <a:spcPct val="100000"/>
                        </a:lnSpc>
                        <a:spcBef>
                          <a:spcPts val="0"/>
                        </a:spcBef>
                        <a:spcAft>
                          <a:spcPts val="0"/>
                        </a:spcAft>
                      </a:pPr>
                      <a:r>
                        <a:rPr lang="en-IN"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113</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l">
                        <a:lnSpc>
                          <a:spcPct val="100000"/>
                        </a:lnSpc>
                        <a:spcBef>
                          <a:spcPts val="0"/>
                        </a:spcBef>
                        <a:spcAft>
                          <a:spcPts val="0"/>
                        </a:spcAft>
                      </a:pPr>
                      <a:r>
                        <a:rPr lang="en-US" sz="900" dirty="0">
                          <a:effectLst/>
                          <a:latin typeface="Verdana" panose="020B0604030504040204" pitchFamily="34" charset="0"/>
                          <a:ea typeface="Verdana" panose="020B0604030504040204" pitchFamily="34" charset="0"/>
                          <a:cs typeface="Times New Roman" panose="02020603050405020304" pitchFamily="18" charset="0"/>
                        </a:rPr>
                        <a:t>EPC Underway</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18000" marR="18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2514555971"/>
                  </a:ext>
                </a:extLst>
              </a:tr>
              <a:tr h="402824">
                <a:tc>
                  <a:txBody>
                    <a:bodyPr/>
                    <a:lstStyle/>
                    <a:p>
                      <a:pPr marL="0" algn="l" defTabSz="990571" rtl="0" eaLnBrk="1" fontAlgn="b" latinLnBrk="0" hangingPunct="1">
                        <a:lnSpc>
                          <a:spcPct val="100000"/>
                        </a:lnSpc>
                        <a:spcBef>
                          <a:spcPts val="0"/>
                        </a:spcBef>
                        <a:spcAft>
                          <a:spcPts val="0"/>
                        </a:spcAft>
                      </a:pPr>
                      <a:r>
                        <a:rPr lang="en-US"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Julda, Chattogram 100 MW PP</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marL="0" algn="ctr" defTabSz="990571" rtl="0" eaLnBrk="1" fontAlgn="b" latinLnBrk="0" hangingPunct="1">
                        <a:lnSpc>
                          <a:spcPct val="100000"/>
                        </a:lnSpc>
                        <a:spcBef>
                          <a:spcPts val="0"/>
                        </a:spcBef>
                        <a:spcAft>
                          <a:spcPts val="0"/>
                        </a:spcAft>
                      </a:pPr>
                      <a:r>
                        <a:rPr lang="en-IN"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100</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l">
                        <a:lnSpc>
                          <a:spcPct val="100000"/>
                        </a:lnSpc>
                        <a:spcBef>
                          <a:spcPts val="0"/>
                        </a:spcBef>
                        <a:spcAft>
                          <a:spcPts val="0"/>
                        </a:spcAft>
                      </a:pPr>
                      <a:r>
                        <a:rPr lang="en-US" sz="900" dirty="0">
                          <a:effectLst/>
                          <a:latin typeface="Verdana" panose="020B0604030504040204" pitchFamily="34" charset="0"/>
                          <a:ea typeface="Verdana" panose="020B0604030504040204" pitchFamily="34" charset="0"/>
                          <a:cs typeface="Times New Roman" panose="02020603050405020304" pitchFamily="18" charset="0"/>
                        </a:rPr>
                        <a:t>COD extension provided by BPDB in May 2019</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18000" marR="18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843618862"/>
                  </a:ext>
                </a:extLst>
              </a:tr>
              <a:tr h="217616">
                <a:tc>
                  <a:txBody>
                    <a:bodyPr/>
                    <a:lstStyle/>
                    <a:p>
                      <a:pPr marL="0" algn="l" defTabSz="990571" rtl="0" eaLnBrk="1" fontAlgn="b" latinLnBrk="0" hangingPunct="1">
                        <a:lnSpc>
                          <a:spcPct val="100000"/>
                        </a:lnSpc>
                        <a:spcBef>
                          <a:spcPts val="0"/>
                        </a:spcBef>
                        <a:spcAft>
                          <a:spcPts val="0"/>
                        </a:spcAft>
                      </a:pPr>
                      <a:r>
                        <a:rPr lang="en-US"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Tangail 22 MW PP (Polli Power)</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marL="0" algn="ctr" defTabSz="990571" rtl="0" eaLnBrk="1" fontAlgn="b" latinLnBrk="0" hangingPunct="1">
                        <a:lnSpc>
                          <a:spcPct val="100000"/>
                        </a:lnSpc>
                        <a:spcBef>
                          <a:spcPts val="0"/>
                        </a:spcBef>
                        <a:spcAft>
                          <a:spcPts val="0"/>
                        </a:spcAft>
                      </a:pPr>
                      <a:r>
                        <a:rPr lang="en-IN"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22</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l">
                        <a:lnSpc>
                          <a:spcPct val="100000"/>
                        </a:lnSpc>
                        <a:spcBef>
                          <a:spcPts val="0"/>
                        </a:spcBef>
                        <a:spcAft>
                          <a:spcPts val="0"/>
                        </a:spcAft>
                      </a:pPr>
                      <a:r>
                        <a:rPr lang="en-US" sz="900" dirty="0">
                          <a:effectLst/>
                          <a:latin typeface="Verdana" panose="020B0604030504040204" pitchFamily="34" charset="0"/>
                          <a:ea typeface="Verdana" panose="020B0604030504040204" pitchFamily="34" charset="0"/>
                          <a:cs typeface="Times New Roman" panose="02020603050405020304" pitchFamily="18" charset="0"/>
                        </a:rPr>
                        <a:t>EPC</a:t>
                      </a:r>
                      <a:r>
                        <a:rPr lang="en-US" sz="900" baseline="0" dirty="0">
                          <a:effectLst/>
                          <a:latin typeface="Verdana" panose="020B0604030504040204" pitchFamily="34" charset="0"/>
                          <a:ea typeface="Verdana" panose="020B0604030504040204" pitchFamily="34" charset="0"/>
                          <a:cs typeface="Times New Roman" panose="02020603050405020304" pitchFamily="18" charset="0"/>
                        </a:rPr>
                        <a:t> Underway</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18000" marR="18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2637698655"/>
                  </a:ext>
                </a:extLst>
              </a:tr>
              <a:tr h="217616">
                <a:tc>
                  <a:txBody>
                    <a:bodyPr/>
                    <a:lstStyle/>
                    <a:p>
                      <a:pPr marL="0" algn="l" defTabSz="990571" rtl="0" eaLnBrk="1" fontAlgn="b" latinLnBrk="0" hangingPunct="1">
                        <a:lnSpc>
                          <a:spcPct val="100000"/>
                        </a:lnSpc>
                        <a:spcBef>
                          <a:spcPts val="0"/>
                        </a:spcBef>
                        <a:spcAft>
                          <a:spcPts val="0"/>
                        </a:spcAft>
                      </a:pPr>
                      <a:r>
                        <a:rPr lang="en-IN"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Kanchan, Narayangonj 55 MW PP</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marL="0" algn="ctr" defTabSz="990571" rtl="0" eaLnBrk="1" fontAlgn="b" latinLnBrk="0" hangingPunct="1">
                        <a:lnSpc>
                          <a:spcPct val="100000"/>
                        </a:lnSpc>
                        <a:spcBef>
                          <a:spcPts val="0"/>
                        </a:spcBef>
                        <a:spcAft>
                          <a:spcPts val="0"/>
                        </a:spcAft>
                      </a:pPr>
                      <a:r>
                        <a:rPr lang="en-IN"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55</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l">
                        <a:lnSpc>
                          <a:spcPct val="100000"/>
                        </a:lnSpc>
                        <a:spcBef>
                          <a:spcPts val="0"/>
                        </a:spcBef>
                        <a:spcAft>
                          <a:spcPts val="0"/>
                        </a:spcAft>
                      </a:pPr>
                      <a:r>
                        <a:rPr lang="en-US" sz="900" dirty="0">
                          <a:effectLst/>
                          <a:latin typeface="Verdana" panose="020B0604030504040204" pitchFamily="34" charset="0"/>
                          <a:ea typeface="Verdana" panose="020B0604030504040204" pitchFamily="34" charset="0"/>
                          <a:cs typeface="Times New Roman" panose="02020603050405020304" pitchFamily="18" charset="0"/>
                        </a:rPr>
                        <a:t>EPC Awarded</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18000" marR="18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459382313"/>
                  </a:ext>
                </a:extLst>
              </a:tr>
              <a:tr h="217616">
                <a:tc>
                  <a:txBody>
                    <a:bodyPr/>
                    <a:lstStyle/>
                    <a:p>
                      <a:pPr marL="0" algn="l" defTabSz="990571" rtl="0" eaLnBrk="1" fontAlgn="b" latinLnBrk="0" hangingPunct="1">
                        <a:lnSpc>
                          <a:spcPct val="100000"/>
                        </a:lnSpc>
                        <a:spcBef>
                          <a:spcPts val="0"/>
                        </a:spcBef>
                        <a:spcAft>
                          <a:spcPts val="0"/>
                        </a:spcAft>
                      </a:pPr>
                      <a:r>
                        <a:rPr lang="en-US"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Thakurgaon 100 MW Power Plant</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marL="0" algn="ctr" defTabSz="990571" rtl="0" eaLnBrk="1" fontAlgn="b" latinLnBrk="0" hangingPunct="1">
                        <a:lnSpc>
                          <a:spcPct val="100000"/>
                        </a:lnSpc>
                        <a:spcBef>
                          <a:spcPts val="0"/>
                        </a:spcBef>
                        <a:spcAft>
                          <a:spcPts val="0"/>
                        </a:spcAft>
                      </a:pPr>
                      <a:r>
                        <a:rPr lang="en-IN"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115</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l">
                        <a:lnSpc>
                          <a:spcPct val="100000"/>
                        </a:lnSpc>
                        <a:spcBef>
                          <a:spcPts val="0"/>
                        </a:spcBef>
                        <a:spcAft>
                          <a:spcPts val="0"/>
                        </a:spcAft>
                      </a:pPr>
                      <a:r>
                        <a:rPr lang="en-US" sz="900" dirty="0">
                          <a:effectLst/>
                          <a:latin typeface="Verdana" panose="020B0604030504040204" pitchFamily="34" charset="0"/>
                          <a:ea typeface="Verdana" panose="020B0604030504040204" pitchFamily="34" charset="0"/>
                          <a:cs typeface="Times New Roman" panose="02020603050405020304" pitchFamily="18" charset="0"/>
                        </a:rPr>
                        <a:t>EPC Awarded</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18000" marR="18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492890216"/>
                  </a:ext>
                </a:extLst>
              </a:tr>
              <a:tr h="217616">
                <a:tc>
                  <a:txBody>
                    <a:bodyPr/>
                    <a:lstStyle/>
                    <a:p>
                      <a:pPr marL="0" algn="l" defTabSz="990571" rtl="0" eaLnBrk="1" fontAlgn="b" latinLnBrk="0" hangingPunct="1">
                        <a:lnSpc>
                          <a:spcPct val="100000"/>
                        </a:lnSpc>
                        <a:spcBef>
                          <a:spcPts val="0"/>
                        </a:spcBef>
                        <a:spcAft>
                          <a:spcPts val="0"/>
                        </a:spcAft>
                      </a:pPr>
                      <a:r>
                        <a:rPr lang="en-US"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Feni 114 MW Power Plant</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marL="0" algn="ctr" defTabSz="990571" rtl="0" eaLnBrk="1" fontAlgn="b" latinLnBrk="0" hangingPunct="1">
                        <a:lnSpc>
                          <a:spcPct val="100000"/>
                        </a:lnSpc>
                        <a:spcBef>
                          <a:spcPts val="0"/>
                        </a:spcBef>
                        <a:spcAft>
                          <a:spcPts val="0"/>
                        </a:spcAft>
                      </a:pPr>
                      <a:r>
                        <a:rPr lang="en-IN"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114</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marL="0" algn="l" defTabSz="990571" rtl="0" eaLnBrk="1" latinLnBrk="0" hangingPunct="1">
                        <a:lnSpc>
                          <a:spcPct val="100000"/>
                        </a:lnSpc>
                        <a:spcBef>
                          <a:spcPts val="0"/>
                        </a:spcBef>
                        <a:spcAft>
                          <a:spcPts val="0"/>
                        </a:spcAft>
                      </a:pPr>
                      <a:r>
                        <a:rPr lang="en-US" sz="90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COD Achieved</a:t>
                      </a:r>
                      <a:r>
                        <a:rPr lang="en-US" sz="900" kern="1200" baseline="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 in FY20</a:t>
                      </a:r>
                      <a:endParaRPr lang="en-IN" sz="90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endParaRPr>
                    </a:p>
                  </a:txBody>
                  <a:tcPr marL="18000" marR="18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2889564758"/>
                  </a:ext>
                </a:extLst>
              </a:tr>
              <a:tr h="402824">
                <a:tc>
                  <a:txBody>
                    <a:bodyPr/>
                    <a:lstStyle/>
                    <a:p>
                      <a:pPr marL="0" algn="l" defTabSz="990571" rtl="0" eaLnBrk="1" fontAlgn="b" latinLnBrk="0" hangingPunct="1">
                        <a:lnSpc>
                          <a:spcPct val="100000"/>
                        </a:lnSpc>
                        <a:spcBef>
                          <a:spcPts val="0"/>
                        </a:spcBef>
                        <a:spcAft>
                          <a:spcPts val="0"/>
                        </a:spcAft>
                      </a:pPr>
                      <a:r>
                        <a:rPr lang="en-IN"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Potiya, Chattogram 100 MW PP</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tc>
                  <a:txBody>
                    <a:bodyPr/>
                    <a:lstStyle/>
                    <a:p>
                      <a:pPr marL="0" algn="ctr" defTabSz="990571" rtl="0" eaLnBrk="1" fontAlgn="b" latinLnBrk="0" hangingPunct="1">
                        <a:lnSpc>
                          <a:spcPct val="100000"/>
                        </a:lnSpc>
                        <a:spcBef>
                          <a:spcPts val="0"/>
                        </a:spcBef>
                        <a:spcAft>
                          <a:spcPts val="0"/>
                        </a:spcAft>
                      </a:pPr>
                      <a:r>
                        <a:rPr lang="en-IN"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116</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tc>
                  <a:txBody>
                    <a:bodyPr/>
                    <a:lstStyle/>
                    <a:p>
                      <a:pPr marL="0" algn="l" defTabSz="990571" rtl="0" eaLnBrk="1" latinLnBrk="0" hangingPunct="1">
                        <a:lnSpc>
                          <a:spcPct val="100000"/>
                        </a:lnSpc>
                        <a:spcBef>
                          <a:spcPts val="0"/>
                        </a:spcBef>
                        <a:spcAft>
                          <a:spcPts val="0"/>
                        </a:spcAft>
                      </a:pPr>
                      <a:r>
                        <a:rPr lang="en-US" sz="90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Not likely to go through by FY26 due to planned delay</a:t>
                      </a:r>
                    </a:p>
                  </a:txBody>
                  <a:tcPr marL="18000" marR="18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extLst>
                  <a:ext uri="{0D108BD9-81ED-4DB2-BD59-A6C34878D82A}">
                    <a16:rowId xmlns:a16="http://schemas.microsoft.com/office/drawing/2014/main" val="1399198115"/>
                  </a:ext>
                </a:extLst>
              </a:tr>
              <a:tr h="217616">
                <a:tc>
                  <a:txBody>
                    <a:bodyPr/>
                    <a:lstStyle/>
                    <a:p>
                      <a:pPr marL="0" algn="l" defTabSz="990571" rtl="0" eaLnBrk="1" fontAlgn="b" latinLnBrk="0" hangingPunct="1">
                        <a:lnSpc>
                          <a:spcPct val="100000"/>
                        </a:lnSpc>
                        <a:spcBef>
                          <a:spcPts val="0"/>
                        </a:spcBef>
                        <a:spcAft>
                          <a:spcPts val="0"/>
                        </a:spcAft>
                      </a:pPr>
                      <a:r>
                        <a:rPr lang="en-US"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Meghnaghat 104 MW Power Plant</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tc>
                  <a:txBody>
                    <a:bodyPr/>
                    <a:lstStyle/>
                    <a:p>
                      <a:pPr marL="0" algn="ctr" defTabSz="990571" rtl="0" eaLnBrk="1" fontAlgn="b" latinLnBrk="0" hangingPunct="1">
                        <a:lnSpc>
                          <a:spcPct val="100000"/>
                        </a:lnSpc>
                        <a:spcBef>
                          <a:spcPts val="0"/>
                        </a:spcBef>
                        <a:spcAft>
                          <a:spcPts val="0"/>
                        </a:spcAft>
                      </a:pPr>
                      <a:r>
                        <a:rPr lang="en-IN"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104</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tc rowSpan="2">
                  <a:txBody>
                    <a:bodyPr/>
                    <a:lstStyle/>
                    <a:p>
                      <a:pPr marL="0" algn="l" defTabSz="990571" rtl="0" eaLnBrk="1" latinLnBrk="0" hangingPunct="1">
                        <a:lnSpc>
                          <a:spcPct val="100000"/>
                        </a:lnSpc>
                        <a:spcBef>
                          <a:spcPts val="0"/>
                        </a:spcBef>
                        <a:spcAft>
                          <a:spcPts val="0"/>
                        </a:spcAft>
                      </a:pPr>
                      <a:r>
                        <a:rPr lang="en-US" sz="90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Not likely to go through by FY26 due to low</a:t>
                      </a:r>
                      <a:r>
                        <a:rPr lang="en-US" sz="900" kern="1200" baseline="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 on-ground progress</a:t>
                      </a:r>
                      <a:endParaRPr lang="en-US" sz="90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endParaRPr>
                    </a:p>
                  </a:txBody>
                  <a:tcPr marL="18000" marR="18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extLst>
                  <a:ext uri="{0D108BD9-81ED-4DB2-BD59-A6C34878D82A}">
                    <a16:rowId xmlns:a16="http://schemas.microsoft.com/office/drawing/2014/main" val="2299720993"/>
                  </a:ext>
                </a:extLst>
              </a:tr>
              <a:tr h="370417">
                <a:tc>
                  <a:txBody>
                    <a:bodyPr/>
                    <a:lstStyle/>
                    <a:p>
                      <a:pPr marL="0" algn="l" defTabSz="990571" rtl="0" eaLnBrk="1" fontAlgn="b" latinLnBrk="0" hangingPunct="1">
                        <a:lnSpc>
                          <a:spcPct val="100000"/>
                        </a:lnSpc>
                        <a:spcBef>
                          <a:spcPts val="0"/>
                        </a:spcBef>
                        <a:spcAft>
                          <a:spcPts val="0"/>
                        </a:spcAft>
                      </a:pPr>
                      <a:r>
                        <a:rPr lang="en-US"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Shreepur 150 MW Power Plant</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tc>
                  <a:txBody>
                    <a:bodyPr/>
                    <a:lstStyle/>
                    <a:p>
                      <a:pPr marL="0" algn="ctr" defTabSz="990571" rtl="0" eaLnBrk="1" fontAlgn="b" latinLnBrk="0" hangingPunct="1">
                        <a:lnSpc>
                          <a:spcPct val="100000"/>
                        </a:lnSpc>
                        <a:spcBef>
                          <a:spcPts val="0"/>
                        </a:spcBef>
                        <a:spcAft>
                          <a:spcPts val="0"/>
                        </a:spcAft>
                      </a:pPr>
                      <a:r>
                        <a:rPr lang="en-IN" sz="900" b="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163</a:t>
                      </a:r>
                    </a:p>
                  </a:txBody>
                  <a:tcPr marL="18000" marR="18000" marT="18000" marB="18000" anchor="b">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tc vMerge="1">
                  <a:txBody>
                    <a:bodyPr/>
                    <a:lstStyle/>
                    <a:p>
                      <a:pPr marL="0" algn="l" defTabSz="990571" rtl="0" eaLnBrk="1" latinLnBrk="0" hangingPunct="1">
                        <a:lnSpc>
                          <a:spcPct val="150000"/>
                        </a:lnSpc>
                        <a:spcBef>
                          <a:spcPts val="800"/>
                        </a:spcBef>
                        <a:spcAft>
                          <a:spcPts val="0"/>
                        </a:spcAft>
                      </a:pPr>
                      <a:endParaRPr lang="en-IN" sz="900"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endParaRPr>
                    </a:p>
                  </a:txBody>
                  <a:tcPr marL="36000" marR="36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extLst>
                  <a:ext uri="{0D108BD9-81ED-4DB2-BD59-A6C34878D82A}">
                    <a16:rowId xmlns:a16="http://schemas.microsoft.com/office/drawing/2014/main" val="2501100528"/>
                  </a:ext>
                </a:extLst>
              </a:tr>
              <a:tr h="217616">
                <a:tc>
                  <a:txBody>
                    <a:bodyPr/>
                    <a:lstStyle/>
                    <a:p>
                      <a:pPr marL="0" algn="l" defTabSz="990571" rtl="0" eaLnBrk="1" fontAlgn="b" latinLnBrk="0" hangingPunct="1">
                        <a:lnSpc>
                          <a:spcPct val="100000"/>
                        </a:lnSpc>
                        <a:spcBef>
                          <a:spcPts val="0"/>
                        </a:spcBef>
                        <a:spcAft>
                          <a:spcPts val="0"/>
                        </a:spcAft>
                      </a:pPr>
                      <a:r>
                        <a:rPr lang="en-US" sz="900" b="1"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Total</a:t>
                      </a:r>
                      <a:endParaRPr lang="en-IN" sz="900" b="1"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endParaRPr>
                    </a:p>
                  </a:txBody>
                  <a:tcPr marL="18000" marR="18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tc>
                  <a:txBody>
                    <a:bodyPr/>
                    <a:lstStyle/>
                    <a:p>
                      <a:pPr marL="0" algn="ctr" defTabSz="990571" rtl="0" eaLnBrk="1" fontAlgn="b" latinLnBrk="0" hangingPunct="1">
                        <a:lnSpc>
                          <a:spcPct val="100000"/>
                        </a:lnSpc>
                        <a:spcBef>
                          <a:spcPts val="0"/>
                        </a:spcBef>
                        <a:spcAft>
                          <a:spcPts val="0"/>
                        </a:spcAft>
                      </a:pPr>
                      <a:r>
                        <a:rPr lang="en-US" sz="900" b="1"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rPr>
                        <a:t>1,569</a:t>
                      </a:r>
                      <a:endParaRPr lang="en-IN" sz="900" b="1"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endParaRPr>
                    </a:p>
                  </a:txBody>
                  <a:tcPr marL="18000" marR="18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tc>
                  <a:txBody>
                    <a:bodyPr/>
                    <a:lstStyle/>
                    <a:p>
                      <a:pPr marL="0" algn="l" defTabSz="990571" rtl="0" eaLnBrk="1" latinLnBrk="0" hangingPunct="1">
                        <a:lnSpc>
                          <a:spcPct val="100000"/>
                        </a:lnSpc>
                        <a:spcBef>
                          <a:spcPts val="0"/>
                        </a:spcBef>
                        <a:spcAft>
                          <a:spcPts val="0"/>
                        </a:spcAft>
                      </a:pPr>
                      <a:endParaRPr lang="en-IN" sz="900" b="1" kern="1200" dirty="0">
                        <a:solidFill>
                          <a:schemeClr val="tx1"/>
                        </a:solidFill>
                        <a:effectLst/>
                        <a:latin typeface="Verdana" panose="020B0604030504040204" pitchFamily="34" charset="0"/>
                        <a:ea typeface="Verdana" panose="020B0604030504040204" pitchFamily="34" charset="0"/>
                        <a:cs typeface="Times New Roman" panose="02020603050405020304" pitchFamily="18" charset="0"/>
                      </a:endParaRPr>
                    </a:p>
                  </a:txBody>
                  <a:tcPr marL="18000" marR="18000" marT="18000" marB="18000" anchor="ctr">
                    <a:lnL w="12700" cap="flat" cmpd="sng" algn="ctr">
                      <a:solidFill>
                        <a:schemeClr val="accent5"/>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extLst>
                  <a:ext uri="{0D108BD9-81ED-4DB2-BD59-A6C34878D82A}">
                    <a16:rowId xmlns:a16="http://schemas.microsoft.com/office/drawing/2014/main" val="2131588718"/>
                  </a:ext>
                </a:extLst>
              </a:tr>
            </a:tbl>
          </a:graphicData>
        </a:graphic>
      </p:graphicFrame>
      <p:sp>
        <p:nvSpPr>
          <p:cNvPr id="12" name="Rectangle 11"/>
          <p:cNvSpPr/>
          <p:nvPr/>
        </p:nvSpPr>
        <p:spPr bwMode="gray">
          <a:xfrm>
            <a:off x="377227" y="7260740"/>
            <a:ext cx="10008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Industry Reports, Deloitte Analysis; Note 1) Summit Group has also planned a 300 MW of HFO based power plant in Bangladesh which is currently not being tracked by BPDB; However the status of the project is currently unknown and hence not considered for the purpose of this analysis</a:t>
            </a:r>
          </a:p>
        </p:txBody>
      </p:sp>
      <p:graphicFrame>
        <p:nvGraphicFramePr>
          <p:cNvPr id="13" name="Chart 12"/>
          <p:cNvGraphicFramePr/>
          <p:nvPr>
            <p:custDataLst>
              <p:tags r:id="rId5"/>
            </p:custDataLst>
            <p:extLst>
              <p:ext uri="{D42A27DB-BD31-4B8C-83A1-F6EECF244321}">
                <p14:modId xmlns:p14="http://schemas.microsoft.com/office/powerpoint/2010/main" val="228153313"/>
              </p:ext>
            </p:extLst>
          </p:nvPr>
        </p:nvGraphicFramePr>
        <p:xfrm>
          <a:off x="385763" y="5167313"/>
          <a:ext cx="4881562" cy="1598612"/>
        </p:xfrm>
        <a:graphic>
          <a:graphicData uri="http://schemas.openxmlformats.org/drawingml/2006/chart">
            <c:chart xmlns:c="http://schemas.openxmlformats.org/drawingml/2006/chart" xmlns:r="http://schemas.openxmlformats.org/officeDocument/2006/relationships" r:id="rId11"/>
          </a:graphicData>
        </a:graphic>
      </p:graphicFrame>
      <p:sp>
        <p:nvSpPr>
          <p:cNvPr id="15" name="StandardTextbox"/>
          <p:cNvSpPr>
            <a:spLocks noGrp="1"/>
          </p:cNvSpPr>
          <p:nvPr>
            <p:custDataLst>
              <p:tags r:id="rId6"/>
            </p:custDataLst>
          </p:nvPr>
        </p:nvSpPr>
        <p:spPr bwMode="auto">
          <a:xfrm>
            <a:off x="525463" y="6769100"/>
            <a:ext cx="22431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36D58B85-3D52-4AB6-AA4E-70976BC6D7FA}" type="datetime'Pl''anned HFO'''' ''''''''''Bas''ed ''C''apacity (M''W'')'">
              <a:rPr lang="en-US" altLang="en-US" b="0" smtClean="0">
                <a:solidFill>
                  <a:srgbClr val="000000"/>
                </a:solidFill>
              </a:rPr>
              <a:pPr lvl="1" algn="ctr">
                <a:spcBef>
                  <a:spcPct val="0"/>
                </a:spcBef>
                <a:spcAft>
                  <a:spcPct val="0"/>
                </a:spcAft>
                <a:defRPr/>
              </a:pPr>
              <a:t>Planned HFO Based Capacity (MW)</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6" name="StandardTextbox"/>
          <p:cNvSpPr>
            <a:spLocks noGrp="1"/>
          </p:cNvSpPr>
          <p:nvPr>
            <p:custDataLst>
              <p:tags r:id="rId7"/>
            </p:custDataLst>
          </p:nvPr>
        </p:nvSpPr>
        <p:spPr bwMode="auto">
          <a:xfrm>
            <a:off x="3170238" y="6769100"/>
            <a:ext cx="1670050"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12356DD8-421A-4070-A796-6C6F490B5F15}" type="datetime'Probable Servicea''ble C''apa''ci''t''y til''l FY2026 (MW'')'">
              <a:rPr lang="en-US" altLang="en-US" b="0" smtClean="0">
                <a:solidFill>
                  <a:srgbClr val="000000"/>
                </a:solidFill>
              </a:rPr>
              <a:pPr lvl="1" algn="ctr">
                <a:spcBef>
                  <a:spcPct val="0"/>
                </a:spcBef>
                <a:spcAft>
                  <a:spcPct val="0"/>
                </a:spcAft>
                <a:defRPr/>
              </a:pPr>
              <a:t>Probable Serviceable Capacity till FY2026 (MW)</a:t>
            </a:fld>
            <a:endParaRPr kumimoji="0" lang="en-IN" sz="1000" b="0" i="0" strike="noStrike" kern="1200" spc="0" normalizeH="0" noProof="0" dirty="0">
              <a:ln>
                <a:noFill/>
              </a:ln>
              <a:solidFill>
                <a:srgbClr val="000000"/>
              </a:solidFill>
              <a:effectLst/>
              <a:uLnTx/>
              <a:uFillTx/>
              <a:latin typeface="Verdana"/>
              <a:sym typeface="+mn-lt"/>
            </a:endParaRPr>
          </a:p>
        </p:txBody>
      </p:sp>
    </p:spTree>
    <p:extLst>
      <p:ext uri="{BB962C8B-B14F-4D97-AF65-F5344CB8AC3E}">
        <p14:creationId xmlns:p14="http://schemas.microsoft.com/office/powerpoint/2010/main" val="3678061802"/>
      </p:ext>
    </p:extLst>
  </p:cSld>
  <p:clrMapOvr>
    <a:masterClrMapping/>
  </p:clrMapOvr>
  <p:transition>
    <p:fade/>
  </p:transition>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288342087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530" imgH="531" progId="TCLayout.ActiveDocument.1">
                  <p:embed/>
                </p:oleObj>
              </mc:Choice>
              <mc:Fallback>
                <p:oleObj name="think-cell Slide" r:id="rId9" imgW="530" imgH="531" progId="TCLayout.ActiveDocument.1">
                  <p:embed/>
                  <p:pic>
                    <p:nvPicPr>
                      <p:cNvPr id="4" name="Object 3" hidden="1"/>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IN" sz="1000" u="none" strike="noStrike" kern="1200" cap="none" spc="0" normalizeH="0" noProof="0" dirty="0">
              <a:ln>
                <a:noFill/>
              </a:ln>
              <a:solidFill>
                <a:prstClr val="white"/>
              </a:solidFill>
              <a:effectLst/>
              <a:uLnTx/>
              <a:uFillTx/>
              <a:sym typeface="+mn-lt"/>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2540361659"/>
              </p:ext>
            </p:extLst>
          </p:nvPr>
        </p:nvGraphicFramePr>
        <p:xfrm>
          <a:off x="5524500" y="1961920"/>
          <a:ext cx="4732062" cy="3785918"/>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3635605">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table shows the status of the planned imported coal based power projects in Bangladesh for the next 5 Years:</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graph shows the planned imported coal based Capacity and the probable Serviceable Capacity (MW) in Bangladesh by FY2026 given the fuel supply scenario:</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Power Market | Supply Projection (Imported Coal based Plants)</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Out of planned 6,811 MW of imported coal based capacity, only ~2,640 MW may be commissioned by FY2026</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2802451502"/>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lgn="just" defTabSz="990571" rtl="0" eaLnBrk="1" latinLnBrk="0" hangingPunct="1">
                        <a:spcAft>
                          <a:spcPts val="500"/>
                        </a:spcAft>
                        <a:buFont typeface="Arial" panose="020B0604020202020204" pitchFamily="34" charset="0"/>
                        <a:buNone/>
                      </a:pPr>
                      <a:r>
                        <a:rPr lang="en-US" sz="1000" b="1" kern="1200" baseline="0" dirty="0">
                          <a:solidFill>
                            <a:schemeClr val="tx1"/>
                          </a:solidFill>
                          <a:latin typeface="+mn-lt"/>
                          <a:ea typeface="+mn-ea"/>
                          <a:cs typeface="+mn-cs"/>
                        </a:rPr>
                        <a:t>Imported Coal</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Bangladesh is progressing towards commissioning 2 imported coal power plants in Payra and Rampal area respectively</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However both these projects are facing challenges in terms of transmission evacuation and environmental challenges respectively</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Considering the delay in the Payra (1</a:t>
                      </a:r>
                      <a:r>
                        <a:rPr lang="en-US" sz="1000" b="0" kern="1200" baseline="30000" dirty="0">
                          <a:solidFill>
                            <a:schemeClr val="tx1"/>
                          </a:solidFill>
                          <a:latin typeface="+mn-lt"/>
                          <a:ea typeface="+mn-ea"/>
                          <a:cs typeface="+mn-cs"/>
                        </a:rPr>
                        <a:t>st</a:t>
                      </a:r>
                      <a:r>
                        <a:rPr lang="en-US" sz="1000" b="0" kern="1200" baseline="0" dirty="0">
                          <a:solidFill>
                            <a:schemeClr val="tx1"/>
                          </a:solidFill>
                          <a:latin typeface="+mn-lt"/>
                          <a:ea typeface="+mn-ea"/>
                          <a:cs typeface="+mn-cs"/>
                        </a:rPr>
                        <a:t> Phase) project, we envisage that the 2</a:t>
                      </a:r>
                      <a:r>
                        <a:rPr lang="en-US" sz="1000" b="0" kern="1200" baseline="30000" dirty="0">
                          <a:solidFill>
                            <a:schemeClr val="tx1"/>
                          </a:solidFill>
                          <a:latin typeface="+mn-lt"/>
                          <a:ea typeface="+mn-ea"/>
                          <a:cs typeface="+mn-cs"/>
                        </a:rPr>
                        <a:t>nd</a:t>
                      </a:r>
                      <a:r>
                        <a:rPr lang="en-US" sz="1000" b="0" kern="1200" baseline="0" dirty="0">
                          <a:solidFill>
                            <a:schemeClr val="tx1"/>
                          </a:solidFill>
                          <a:latin typeface="+mn-lt"/>
                          <a:ea typeface="+mn-ea"/>
                          <a:cs typeface="+mn-cs"/>
                        </a:rPr>
                        <a:t> phase may get delayed beyond FY2026</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Further, most of the other planned projects for imported coal are expected to be delayed beyond FY26 due to issues of financial closure and logistical challenges (refer table on the right)</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The status of the Barisal 307 MW power plant in terms of physical progress is unknown and hence expected to get delayed beyond FY26</a:t>
                      </a:r>
                    </a:p>
                    <a:p>
                      <a:pPr marL="0" indent="0" algn="just" defTabSz="990571" rtl="0" eaLnBrk="1" latinLnBrk="0" hangingPunct="1">
                        <a:spcAft>
                          <a:spcPts val="500"/>
                        </a:spcAft>
                        <a:buFont typeface="Arial" panose="020B0604020202020204" pitchFamily="34" charset="0"/>
                        <a:buNone/>
                      </a:pPr>
                      <a:endParaRPr lang="en-US" sz="1000" b="0" kern="1200" baseline="0" dirty="0">
                        <a:solidFill>
                          <a:schemeClr val="tx1"/>
                        </a:solidFill>
                        <a:latin typeface="+mn-lt"/>
                        <a:ea typeface="+mn-ea"/>
                        <a:cs typeface="+mn-cs"/>
                      </a:endParaRPr>
                    </a:p>
                    <a:p>
                      <a:pPr marL="0" indent="0" algn="just" defTabSz="990571" rtl="0" eaLnBrk="1" latinLnBrk="0" hangingPunct="1">
                        <a:spcAft>
                          <a:spcPts val="500"/>
                        </a:spcAft>
                        <a:buFont typeface="Arial" panose="020B0604020202020204" pitchFamily="34" charset="0"/>
                        <a:buNone/>
                      </a:pPr>
                      <a:r>
                        <a:rPr lang="en-US" sz="1000" b="1" kern="1200" baseline="0" dirty="0">
                          <a:solidFill>
                            <a:schemeClr val="tx1"/>
                          </a:solidFill>
                          <a:latin typeface="+mn-lt"/>
                          <a:ea typeface="+mn-ea"/>
                          <a:cs typeface="+mn-cs"/>
                        </a:rPr>
                        <a:t>Supply Infrastructure</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The coal for the </a:t>
                      </a:r>
                      <a:r>
                        <a:rPr lang="en-US" sz="1000" b="0" kern="1200" baseline="0" dirty="0" err="1">
                          <a:solidFill>
                            <a:schemeClr val="tx1"/>
                          </a:solidFill>
                          <a:latin typeface="+mn-lt"/>
                          <a:ea typeface="+mn-ea"/>
                          <a:cs typeface="+mn-cs"/>
                        </a:rPr>
                        <a:t>Payra</a:t>
                      </a:r>
                      <a:r>
                        <a:rPr lang="en-US" sz="1000" b="0" kern="1200" baseline="0" dirty="0">
                          <a:solidFill>
                            <a:schemeClr val="tx1"/>
                          </a:solidFill>
                          <a:latin typeface="+mn-lt"/>
                          <a:ea typeface="+mn-ea"/>
                          <a:cs typeface="+mn-cs"/>
                        </a:rPr>
                        <a:t> 1st phase has been planned to be imported from Indonesia, China, and Australia (Currently </a:t>
                      </a:r>
                      <a:r>
                        <a:rPr lang="en-US" sz="1000" b="0" kern="1200" baseline="0" dirty="0" err="1">
                          <a:solidFill>
                            <a:schemeClr val="tx1"/>
                          </a:solidFill>
                          <a:latin typeface="+mn-lt"/>
                          <a:ea typeface="+mn-ea"/>
                          <a:cs typeface="+mn-cs"/>
                        </a:rPr>
                        <a:t>Payra</a:t>
                      </a:r>
                      <a:r>
                        <a:rPr lang="en-US" sz="1000" b="0" kern="1200" baseline="0" dirty="0">
                          <a:solidFill>
                            <a:schemeClr val="tx1"/>
                          </a:solidFill>
                          <a:latin typeface="+mn-lt"/>
                          <a:ea typeface="+mn-ea"/>
                          <a:cs typeface="+mn-cs"/>
                        </a:rPr>
                        <a:t> has signed contract with Indonesia for coal supply)</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The coal supply infrastructure also presents a challenge for Bangladesh with the current draft levels at Payra port able to support only ~30,000 tonnes of coal capacity per ship</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At the current coal supply level of 30,000 </a:t>
                      </a:r>
                      <a:r>
                        <a:rPr lang="en-US" sz="1000" b="0" kern="1200" baseline="0" dirty="0" err="1">
                          <a:solidFill>
                            <a:schemeClr val="tx1"/>
                          </a:solidFill>
                          <a:latin typeface="+mn-lt"/>
                          <a:ea typeface="+mn-ea"/>
                          <a:cs typeface="+mn-cs"/>
                        </a:rPr>
                        <a:t>Tonnes</a:t>
                      </a:r>
                      <a:r>
                        <a:rPr lang="en-US" sz="1000" b="0" kern="1200" baseline="0" dirty="0">
                          <a:solidFill>
                            <a:schemeClr val="tx1"/>
                          </a:solidFill>
                          <a:latin typeface="+mn-lt"/>
                          <a:ea typeface="+mn-ea"/>
                          <a:cs typeface="+mn-cs"/>
                        </a:rPr>
                        <a:t>, ~2,500-3,000 MW of imported coal capacity may be serviceable</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Since long haul ships have a capacity of ~70,000 tonnes, the overall transportation cost per tonne is expected to increase for Payra</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The GoB has initiated process  for dredging the Payra Port’s main channel in January 2019 with work commencement by June 2019</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6" name="Chart 15"/>
          <p:cNvGraphicFramePr/>
          <p:nvPr>
            <p:custDataLst>
              <p:tags r:id="rId5"/>
            </p:custDataLst>
            <p:extLst>
              <p:ext uri="{D42A27DB-BD31-4B8C-83A1-F6EECF244321}">
                <p14:modId xmlns:p14="http://schemas.microsoft.com/office/powerpoint/2010/main" val="3715040394"/>
              </p:ext>
            </p:extLst>
          </p:nvPr>
        </p:nvGraphicFramePr>
        <p:xfrm>
          <a:off x="5457825" y="5668963"/>
          <a:ext cx="4881563" cy="1111250"/>
        </p:xfrm>
        <a:graphic>
          <a:graphicData uri="http://schemas.openxmlformats.org/drawingml/2006/chart">
            <c:chart xmlns:c="http://schemas.openxmlformats.org/drawingml/2006/chart" xmlns:r="http://schemas.openxmlformats.org/officeDocument/2006/relationships" r:id="rId11"/>
          </a:graphicData>
        </a:graphic>
      </p:graphicFrame>
      <p:sp>
        <p:nvSpPr>
          <p:cNvPr id="133" name="StandardTextbox"/>
          <p:cNvSpPr>
            <a:spLocks noGrp="1"/>
          </p:cNvSpPr>
          <p:nvPr>
            <p:custDataLst>
              <p:tags r:id="rId6"/>
            </p:custDataLst>
          </p:nvPr>
        </p:nvSpPr>
        <p:spPr bwMode="auto">
          <a:xfrm>
            <a:off x="5978525" y="6783388"/>
            <a:ext cx="1479550"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F204C2B-0770-4819-A90C-CD221493F163}" type="datetime'Planned Impo''''rted ''Coal Bas''ed C''''a''pacity'' (MW'''')'">
              <a:rPr kumimoji="0" lang="en-US"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Planned Imported Coal Based Capacity (MW)</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41" name="StandardTextbox"/>
          <p:cNvSpPr>
            <a:spLocks noGrp="1"/>
          </p:cNvSpPr>
          <p:nvPr>
            <p:custDataLst>
              <p:tags r:id="rId7"/>
            </p:custDataLst>
          </p:nvPr>
        </p:nvSpPr>
        <p:spPr bwMode="auto">
          <a:xfrm>
            <a:off x="8242300" y="6783388"/>
            <a:ext cx="1670050"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8840F5F0-62D6-4963-BB23-656D1D08DFE5}" type="datetime'''Probable Serv''iceabl''''e Ca''pacity till FY2026 (M''W)'">
              <a:rPr lang="en-US" altLang="en-US" b="0" smtClean="0">
                <a:solidFill>
                  <a:srgbClr val="000000"/>
                </a:solidFill>
              </a:rPr>
              <a:pPr lvl="1" algn="ctr">
                <a:spcBef>
                  <a:spcPct val="0"/>
                </a:spcBef>
                <a:spcAft>
                  <a:spcPct val="0"/>
                </a:spcAft>
                <a:defRPr/>
              </a:pPr>
              <a:t>Probable Serviceable Capacity till FY2026 (MW)</a:t>
            </a:fld>
            <a:endParaRPr kumimoji="0" lang="en-IN" sz="1000" b="0" i="0" strike="noStrike" kern="1200" spc="0" normalizeH="0" noProof="0" dirty="0">
              <a:ln>
                <a:noFill/>
              </a:ln>
              <a:solidFill>
                <a:srgbClr val="000000"/>
              </a:solidFill>
              <a:effectLst/>
              <a:uLnTx/>
              <a:uFillTx/>
              <a:latin typeface="Verdana"/>
              <a:sym typeface="+mn-lt"/>
            </a:endParaRPr>
          </a:p>
        </p:txBody>
      </p:sp>
      <p:graphicFrame>
        <p:nvGraphicFramePr>
          <p:cNvPr id="20" name="Table 19"/>
          <p:cNvGraphicFramePr>
            <a:graphicFrameLocks noGrp="1"/>
          </p:cNvGraphicFramePr>
          <p:nvPr>
            <p:extLst>
              <p:ext uri="{D42A27DB-BD31-4B8C-83A1-F6EECF244321}">
                <p14:modId xmlns:p14="http://schemas.microsoft.com/office/powerpoint/2010/main" val="54625418"/>
              </p:ext>
            </p:extLst>
          </p:nvPr>
        </p:nvGraphicFramePr>
        <p:xfrm>
          <a:off x="5702303" y="2480795"/>
          <a:ext cx="4554259" cy="2688551"/>
        </p:xfrm>
        <a:graphic>
          <a:graphicData uri="http://schemas.openxmlformats.org/drawingml/2006/table">
            <a:tbl>
              <a:tblPr firstRow="1" firstCol="1" bandRow="1">
                <a:tableStyleId>{5A111915-BE36-4E01-A7E5-04B1672EAD32}</a:tableStyleId>
              </a:tblPr>
              <a:tblGrid>
                <a:gridCol w="1389956">
                  <a:extLst>
                    <a:ext uri="{9D8B030D-6E8A-4147-A177-3AD203B41FA5}">
                      <a16:colId xmlns:a16="http://schemas.microsoft.com/office/drawing/2014/main" val="3290383493"/>
                    </a:ext>
                  </a:extLst>
                </a:gridCol>
                <a:gridCol w="874643">
                  <a:extLst>
                    <a:ext uri="{9D8B030D-6E8A-4147-A177-3AD203B41FA5}">
                      <a16:colId xmlns:a16="http://schemas.microsoft.com/office/drawing/2014/main" val="1605660941"/>
                    </a:ext>
                  </a:extLst>
                </a:gridCol>
                <a:gridCol w="2289660">
                  <a:extLst>
                    <a:ext uri="{9D8B030D-6E8A-4147-A177-3AD203B41FA5}">
                      <a16:colId xmlns:a16="http://schemas.microsoft.com/office/drawing/2014/main" val="447690441"/>
                    </a:ext>
                  </a:extLst>
                </a:gridCol>
              </a:tblGrid>
              <a:tr h="381774">
                <a:tc>
                  <a:txBody>
                    <a:bodyPr/>
                    <a:lstStyle/>
                    <a:p>
                      <a:pPr algn="ctr">
                        <a:lnSpc>
                          <a:spcPct val="100000"/>
                        </a:lnSpc>
                        <a:spcBef>
                          <a:spcPts val="0"/>
                        </a:spcBef>
                        <a:spcAft>
                          <a:spcPts val="0"/>
                        </a:spcAft>
                      </a:pPr>
                      <a:r>
                        <a:rPr lang="en-IN" sz="850" dirty="0">
                          <a:effectLst/>
                        </a:rPr>
                        <a:t>Plant</a:t>
                      </a:r>
                      <a:endParaRPr lang="en-IN" sz="85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tc>
                  <a:txBody>
                    <a:bodyPr/>
                    <a:lstStyle/>
                    <a:p>
                      <a:pPr algn="ctr">
                        <a:lnSpc>
                          <a:spcPct val="100000"/>
                        </a:lnSpc>
                        <a:spcBef>
                          <a:spcPts val="0"/>
                        </a:spcBef>
                        <a:spcAft>
                          <a:spcPts val="0"/>
                        </a:spcAft>
                      </a:pPr>
                      <a:r>
                        <a:rPr lang="en-IN" sz="850" dirty="0">
                          <a:effectLst/>
                        </a:rPr>
                        <a:t>Capacity (MW)</a:t>
                      </a:r>
                      <a:endParaRPr lang="en-IN" sz="85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tc>
                  <a:txBody>
                    <a:bodyPr/>
                    <a:lstStyle/>
                    <a:p>
                      <a:pPr algn="ctr">
                        <a:lnSpc>
                          <a:spcPct val="100000"/>
                        </a:lnSpc>
                        <a:spcBef>
                          <a:spcPts val="0"/>
                        </a:spcBef>
                        <a:spcAft>
                          <a:spcPts val="0"/>
                        </a:spcAft>
                      </a:pPr>
                      <a:r>
                        <a:rPr lang="en-US" sz="850" dirty="0">
                          <a:effectLst/>
                          <a:latin typeface="Verdana" panose="020B0604030504040204" pitchFamily="34" charset="0"/>
                          <a:ea typeface="Verdana" panose="020B0604030504040204" pitchFamily="34" charset="0"/>
                          <a:cs typeface="Times New Roman" panose="02020603050405020304" pitchFamily="18" charset="0"/>
                        </a:rPr>
                        <a:t>Current</a:t>
                      </a:r>
                      <a:r>
                        <a:rPr lang="en-US" sz="850" baseline="0" dirty="0">
                          <a:effectLst/>
                          <a:latin typeface="Verdana" panose="020B0604030504040204" pitchFamily="34" charset="0"/>
                          <a:ea typeface="Verdana" panose="020B0604030504040204" pitchFamily="34" charset="0"/>
                          <a:cs typeface="Times New Roman" panose="02020603050405020304" pitchFamily="18" charset="0"/>
                        </a:rPr>
                        <a:t> Status</a:t>
                      </a:r>
                      <a:endParaRPr lang="en-IN" sz="85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extLst>
                  <a:ext uri="{0D108BD9-81ED-4DB2-BD59-A6C34878D82A}">
                    <a16:rowId xmlns:a16="http://schemas.microsoft.com/office/drawing/2014/main" val="4036299370"/>
                  </a:ext>
                </a:extLst>
              </a:tr>
              <a:tr h="586447">
                <a:tc>
                  <a:txBody>
                    <a:bodyPr/>
                    <a:lstStyle/>
                    <a:p>
                      <a:pPr algn="l">
                        <a:lnSpc>
                          <a:spcPct val="100000"/>
                        </a:lnSpc>
                        <a:spcBef>
                          <a:spcPts val="0"/>
                        </a:spcBef>
                        <a:spcAft>
                          <a:spcPts val="0"/>
                        </a:spcAft>
                      </a:pPr>
                      <a:r>
                        <a:rPr lang="en-IN" sz="850" b="0" dirty="0">
                          <a:effectLst/>
                        </a:rPr>
                        <a:t>NWPGCL’s (GoB owned) Payra</a:t>
                      </a:r>
                      <a:r>
                        <a:rPr lang="en-IN" sz="850" b="0" baseline="0" dirty="0">
                          <a:effectLst/>
                        </a:rPr>
                        <a:t> (1</a:t>
                      </a:r>
                      <a:r>
                        <a:rPr lang="en-IN" sz="850" b="0" baseline="30000" dirty="0">
                          <a:effectLst/>
                        </a:rPr>
                        <a:t>st</a:t>
                      </a:r>
                      <a:r>
                        <a:rPr lang="en-IN" sz="850" b="0" baseline="0" dirty="0">
                          <a:effectLst/>
                        </a:rPr>
                        <a:t> Phase)</a:t>
                      </a:r>
                    </a:p>
                  </a:txBody>
                  <a:tcPr marL="72000" marR="36000" marT="0" marB="0">
                    <a:solidFill>
                      <a:schemeClr val="accent1">
                        <a:lumMod val="20000"/>
                        <a:lumOff val="80000"/>
                      </a:schemeClr>
                    </a:solidFill>
                  </a:tcPr>
                </a:tc>
                <a:tc>
                  <a:txBody>
                    <a:bodyPr/>
                    <a:lstStyle/>
                    <a:p>
                      <a:pPr algn="ctr">
                        <a:lnSpc>
                          <a:spcPct val="100000"/>
                        </a:lnSpc>
                        <a:spcBef>
                          <a:spcPts val="0"/>
                        </a:spcBef>
                        <a:spcAft>
                          <a:spcPts val="0"/>
                        </a:spcAft>
                      </a:pPr>
                      <a:r>
                        <a:rPr lang="en-IN" sz="850" dirty="0">
                          <a:effectLst/>
                        </a:rPr>
                        <a:t>1320 MW</a:t>
                      </a:r>
                      <a:endParaRPr lang="en-IN" sz="85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solidFill>
                      <a:schemeClr val="accent1">
                        <a:lumMod val="20000"/>
                        <a:lumOff val="80000"/>
                      </a:schemeClr>
                    </a:solidFill>
                  </a:tcPr>
                </a:tc>
                <a:tc>
                  <a:txBody>
                    <a:bodyPr/>
                    <a:lstStyle/>
                    <a:p>
                      <a:pPr algn="l">
                        <a:lnSpc>
                          <a:spcPct val="100000"/>
                        </a:lnSpc>
                        <a:spcBef>
                          <a:spcPts val="0"/>
                        </a:spcBef>
                        <a:spcAft>
                          <a:spcPts val="0"/>
                        </a:spcAft>
                      </a:pPr>
                      <a:r>
                        <a:rPr lang="en-US" sz="850" dirty="0">
                          <a:effectLst/>
                          <a:latin typeface="Verdana" panose="020B0604030504040204" pitchFamily="34" charset="0"/>
                          <a:ea typeface="Verdana" panose="020B0604030504040204" pitchFamily="34" charset="0"/>
                          <a:cs typeface="Times New Roman" panose="02020603050405020304" pitchFamily="18" charset="0"/>
                        </a:rPr>
                        <a:t>Currently Test Run of 1 Unit</a:t>
                      </a:r>
                      <a:r>
                        <a:rPr lang="en-US" sz="850" baseline="0" dirty="0">
                          <a:effectLst/>
                          <a:latin typeface="Verdana" panose="020B0604030504040204" pitchFamily="34" charset="0"/>
                          <a:ea typeface="Verdana" panose="020B0604030504040204" pitchFamily="34" charset="0"/>
                          <a:cs typeface="Times New Roman" panose="02020603050405020304" pitchFamily="18" charset="0"/>
                        </a:rPr>
                        <a:t> underway; Transmission Evacuation Constraint till FY21</a:t>
                      </a:r>
                      <a:endParaRPr lang="en-IN" sz="85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solidFill>
                      <a:schemeClr val="accent1">
                        <a:lumMod val="20000"/>
                        <a:lumOff val="80000"/>
                      </a:schemeClr>
                    </a:solidFill>
                  </a:tcPr>
                </a:tc>
                <a:extLst>
                  <a:ext uri="{0D108BD9-81ED-4DB2-BD59-A6C34878D82A}">
                    <a16:rowId xmlns:a16="http://schemas.microsoft.com/office/drawing/2014/main" val="3162774779"/>
                  </a:ext>
                </a:extLst>
              </a:tr>
              <a:tr h="401567">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IN" sz="850" b="0" dirty="0">
                          <a:effectLst/>
                        </a:rPr>
                        <a:t>NWPGCL’s (GoB owned) Payra</a:t>
                      </a:r>
                      <a:r>
                        <a:rPr lang="en-IN" sz="850" b="0" baseline="0" dirty="0">
                          <a:effectLst/>
                        </a:rPr>
                        <a:t> (2</a:t>
                      </a:r>
                      <a:r>
                        <a:rPr lang="en-IN" sz="850" b="0" baseline="30000" dirty="0">
                          <a:effectLst/>
                        </a:rPr>
                        <a:t>nd</a:t>
                      </a:r>
                      <a:r>
                        <a:rPr lang="en-IN" sz="850" b="0" baseline="0" dirty="0">
                          <a:effectLst/>
                        </a:rPr>
                        <a:t> Phase)</a:t>
                      </a:r>
                      <a:endParaRPr lang="en-IN" sz="850" b="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noFill/>
                  </a:tcPr>
                </a:tc>
                <a:tc>
                  <a:txBody>
                    <a:bodyPr/>
                    <a:lstStyle/>
                    <a:p>
                      <a:pPr algn="ctr">
                        <a:lnSpc>
                          <a:spcPct val="100000"/>
                        </a:lnSpc>
                        <a:spcBef>
                          <a:spcPts val="0"/>
                        </a:spcBef>
                        <a:spcAft>
                          <a:spcPts val="0"/>
                        </a:spcAft>
                      </a:pPr>
                      <a:r>
                        <a:rPr lang="en-US" sz="850" dirty="0">
                          <a:effectLst/>
                          <a:latin typeface="Verdana" panose="020B0604030504040204" pitchFamily="34" charset="0"/>
                          <a:ea typeface="Verdana" panose="020B0604030504040204" pitchFamily="34" charset="0"/>
                          <a:cs typeface="Times New Roman" panose="02020603050405020304" pitchFamily="18" charset="0"/>
                        </a:rPr>
                        <a:t>1320 MW</a:t>
                      </a:r>
                      <a:endParaRPr lang="en-IN" sz="85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noFill/>
                  </a:tcPr>
                </a:tc>
                <a:tc>
                  <a:txBody>
                    <a:bodyPr/>
                    <a:lstStyle/>
                    <a:p>
                      <a:pPr algn="l">
                        <a:lnSpc>
                          <a:spcPct val="100000"/>
                        </a:lnSpc>
                        <a:spcBef>
                          <a:spcPts val="0"/>
                        </a:spcBef>
                        <a:spcAft>
                          <a:spcPts val="0"/>
                        </a:spcAft>
                      </a:pPr>
                      <a:r>
                        <a:rPr lang="en-US" sz="850" dirty="0">
                          <a:effectLst/>
                          <a:latin typeface="Verdana" panose="020B0604030504040204" pitchFamily="34" charset="0"/>
                          <a:ea typeface="Verdana" panose="020B0604030504040204" pitchFamily="34" charset="0"/>
                          <a:cs typeface="Times New Roman" panose="02020603050405020304" pitchFamily="18" charset="0"/>
                        </a:rPr>
                        <a:t>Not likely to go through by FY26 due to</a:t>
                      </a:r>
                      <a:r>
                        <a:rPr lang="en-US" sz="850" baseline="0" dirty="0">
                          <a:effectLst/>
                          <a:latin typeface="Verdana" panose="020B0604030504040204" pitchFamily="34" charset="0"/>
                          <a:ea typeface="Verdana" panose="020B0604030504040204" pitchFamily="34" charset="0"/>
                          <a:cs typeface="Times New Roman" panose="02020603050405020304" pitchFamily="18" charset="0"/>
                        </a:rPr>
                        <a:t> </a:t>
                      </a:r>
                      <a:r>
                        <a:rPr lang="en-US" sz="850" dirty="0">
                          <a:effectLst/>
                          <a:latin typeface="Verdana" panose="020B0604030504040204" pitchFamily="34" charset="0"/>
                          <a:ea typeface="Verdana" panose="020B0604030504040204" pitchFamily="34" charset="0"/>
                          <a:cs typeface="Times New Roman" panose="02020603050405020304" pitchFamily="18" charset="0"/>
                        </a:rPr>
                        <a:t>delay of operationalization of 1</a:t>
                      </a:r>
                      <a:r>
                        <a:rPr lang="en-US" sz="850" baseline="30000" dirty="0">
                          <a:effectLst/>
                          <a:latin typeface="Verdana" panose="020B0604030504040204" pitchFamily="34" charset="0"/>
                          <a:ea typeface="Verdana" panose="020B0604030504040204" pitchFamily="34" charset="0"/>
                          <a:cs typeface="Times New Roman" panose="02020603050405020304" pitchFamily="18" charset="0"/>
                        </a:rPr>
                        <a:t>st</a:t>
                      </a:r>
                      <a:r>
                        <a:rPr lang="en-US" sz="850" dirty="0">
                          <a:effectLst/>
                          <a:latin typeface="Verdana" panose="020B0604030504040204" pitchFamily="34" charset="0"/>
                          <a:ea typeface="Verdana" panose="020B0604030504040204" pitchFamily="34" charset="0"/>
                          <a:cs typeface="Times New Roman" panose="02020603050405020304" pitchFamily="18" charset="0"/>
                        </a:rPr>
                        <a:t> phase</a:t>
                      </a:r>
                      <a:endParaRPr lang="en-IN" sz="85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noFill/>
                  </a:tcPr>
                </a:tc>
                <a:extLst>
                  <a:ext uri="{0D108BD9-81ED-4DB2-BD59-A6C34878D82A}">
                    <a16:rowId xmlns:a16="http://schemas.microsoft.com/office/drawing/2014/main" val="2514555971"/>
                  </a:ext>
                </a:extLst>
              </a:tr>
              <a:tr h="401567">
                <a:tc>
                  <a:txBody>
                    <a:bodyPr/>
                    <a:lstStyle/>
                    <a:p>
                      <a:pPr algn="l">
                        <a:lnSpc>
                          <a:spcPct val="100000"/>
                        </a:lnSpc>
                        <a:spcBef>
                          <a:spcPts val="0"/>
                        </a:spcBef>
                        <a:spcAft>
                          <a:spcPts val="0"/>
                        </a:spcAft>
                      </a:pPr>
                      <a:r>
                        <a:rPr lang="en-IN" sz="850" b="0" dirty="0">
                          <a:effectLst/>
                        </a:rPr>
                        <a:t>BIFPCL (JV between BPDB and NTPC, India),</a:t>
                      </a:r>
                      <a:r>
                        <a:rPr lang="en-IN" sz="850" b="0" baseline="0" dirty="0">
                          <a:effectLst/>
                        </a:rPr>
                        <a:t> Rampal</a:t>
                      </a:r>
                      <a:endParaRPr lang="en-IN" sz="850" b="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solidFill>
                      <a:schemeClr val="accent1">
                        <a:lumMod val="20000"/>
                        <a:lumOff val="80000"/>
                      </a:schemeClr>
                    </a:solidFill>
                  </a:tcPr>
                </a:tc>
                <a:tc>
                  <a:txBody>
                    <a:bodyPr/>
                    <a:lstStyle/>
                    <a:p>
                      <a:pPr algn="ctr">
                        <a:lnSpc>
                          <a:spcPct val="100000"/>
                        </a:lnSpc>
                        <a:spcBef>
                          <a:spcPts val="0"/>
                        </a:spcBef>
                        <a:spcAft>
                          <a:spcPts val="0"/>
                        </a:spcAft>
                      </a:pPr>
                      <a:r>
                        <a:rPr lang="en-IN" sz="850" dirty="0">
                          <a:effectLst/>
                        </a:rPr>
                        <a:t>1320 MW</a:t>
                      </a:r>
                      <a:endParaRPr lang="en-IN" sz="85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solidFill>
                      <a:schemeClr val="accent1">
                        <a:lumMod val="20000"/>
                        <a:lumOff val="80000"/>
                      </a:schemeClr>
                    </a:solidFill>
                  </a:tcPr>
                </a:tc>
                <a:tc>
                  <a:txBody>
                    <a:bodyPr/>
                    <a:lstStyle/>
                    <a:p>
                      <a:pPr algn="l">
                        <a:lnSpc>
                          <a:spcPct val="100000"/>
                        </a:lnSpc>
                        <a:spcBef>
                          <a:spcPts val="0"/>
                        </a:spcBef>
                        <a:spcAft>
                          <a:spcPts val="0"/>
                        </a:spcAft>
                      </a:pPr>
                      <a:r>
                        <a:rPr lang="en-US" sz="850" dirty="0">
                          <a:effectLst/>
                          <a:latin typeface="Verdana" panose="020B0604030504040204" pitchFamily="34" charset="0"/>
                          <a:ea typeface="Verdana" panose="020B0604030504040204" pitchFamily="34" charset="0"/>
                          <a:cs typeface="Times New Roman" panose="02020603050405020304" pitchFamily="18" charset="0"/>
                        </a:rPr>
                        <a:t>EPC Ongoing; Environmental</a:t>
                      </a:r>
                      <a:r>
                        <a:rPr lang="en-US" sz="850" baseline="0" dirty="0">
                          <a:effectLst/>
                          <a:latin typeface="Verdana" panose="020B0604030504040204" pitchFamily="34" charset="0"/>
                          <a:ea typeface="Verdana" panose="020B0604030504040204" pitchFamily="34" charset="0"/>
                          <a:cs typeface="Times New Roman" panose="02020603050405020304" pitchFamily="18" charset="0"/>
                        </a:rPr>
                        <a:t> Challenges</a:t>
                      </a:r>
                      <a:endParaRPr lang="en-IN" sz="85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solidFill>
                      <a:schemeClr val="accent1">
                        <a:lumMod val="20000"/>
                        <a:lumOff val="80000"/>
                      </a:schemeClr>
                    </a:solidFill>
                  </a:tcPr>
                </a:tc>
                <a:extLst>
                  <a:ext uri="{0D108BD9-81ED-4DB2-BD59-A6C34878D82A}">
                    <a16:rowId xmlns:a16="http://schemas.microsoft.com/office/drawing/2014/main" val="843618862"/>
                  </a:ext>
                </a:extLst>
              </a:tr>
              <a:tr h="381774">
                <a:tc>
                  <a:txBody>
                    <a:bodyPr/>
                    <a:lstStyle/>
                    <a:p>
                      <a:pPr algn="l">
                        <a:lnSpc>
                          <a:spcPct val="100000"/>
                        </a:lnSpc>
                        <a:spcBef>
                          <a:spcPts val="0"/>
                        </a:spcBef>
                        <a:spcAft>
                          <a:spcPts val="0"/>
                        </a:spcAft>
                      </a:pPr>
                      <a:r>
                        <a:rPr lang="en-IN" sz="850" b="0" dirty="0">
                          <a:effectLst/>
                        </a:rPr>
                        <a:t>S </a:t>
                      </a:r>
                      <a:r>
                        <a:rPr lang="en-IN" sz="850" b="0" dirty="0" err="1">
                          <a:effectLst/>
                        </a:rPr>
                        <a:t>Alam</a:t>
                      </a:r>
                      <a:r>
                        <a:rPr lang="en-IN" sz="850" b="0" baseline="0" dirty="0">
                          <a:effectLst/>
                        </a:rPr>
                        <a:t> Group’s</a:t>
                      </a:r>
                      <a:r>
                        <a:rPr lang="en-IN" sz="850" b="0" dirty="0">
                          <a:effectLst/>
                        </a:rPr>
                        <a:t> - 2x612 MW Chattogram</a:t>
                      </a:r>
                      <a:endParaRPr lang="en-IN" sz="850" b="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tc>
                  <a:txBody>
                    <a:bodyPr/>
                    <a:lstStyle/>
                    <a:p>
                      <a:pPr algn="ctr">
                        <a:lnSpc>
                          <a:spcPct val="100000"/>
                        </a:lnSpc>
                        <a:spcBef>
                          <a:spcPts val="0"/>
                        </a:spcBef>
                        <a:spcAft>
                          <a:spcPts val="0"/>
                        </a:spcAft>
                      </a:pPr>
                      <a:r>
                        <a:rPr lang="en-IN" sz="850" dirty="0">
                          <a:effectLst/>
                        </a:rPr>
                        <a:t>1224 MW</a:t>
                      </a:r>
                      <a:endParaRPr lang="en-IN" sz="85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tc>
                  <a:txBody>
                    <a:bodyPr/>
                    <a:lstStyle/>
                    <a:p>
                      <a:pPr algn="l">
                        <a:lnSpc>
                          <a:spcPct val="100000"/>
                        </a:lnSpc>
                        <a:spcBef>
                          <a:spcPts val="0"/>
                        </a:spcBef>
                        <a:spcAft>
                          <a:spcPts val="0"/>
                        </a:spcAft>
                      </a:pPr>
                      <a:r>
                        <a:rPr lang="en-US" sz="850" dirty="0">
                          <a:effectLst/>
                          <a:latin typeface="Verdana" panose="020B0604030504040204" pitchFamily="34" charset="0"/>
                          <a:ea typeface="Verdana" panose="020B0604030504040204" pitchFamily="34" charset="0"/>
                          <a:cs typeface="Times New Roman" panose="02020603050405020304" pitchFamily="18" charset="0"/>
                        </a:rPr>
                        <a:t>Not likely to go through by FY26 due to Issues</a:t>
                      </a:r>
                      <a:r>
                        <a:rPr lang="en-US" sz="850" baseline="0" dirty="0">
                          <a:effectLst/>
                          <a:latin typeface="Verdana" panose="020B0604030504040204" pitchFamily="34" charset="0"/>
                          <a:ea typeface="Verdana" panose="020B0604030504040204" pitchFamily="34" charset="0"/>
                          <a:cs typeface="Times New Roman" panose="02020603050405020304" pitchFamily="18" charset="0"/>
                        </a:rPr>
                        <a:t> in Financial Closure</a:t>
                      </a:r>
                      <a:endParaRPr lang="en-IN" sz="85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extLst>
                  <a:ext uri="{0D108BD9-81ED-4DB2-BD59-A6C34878D82A}">
                    <a16:rowId xmlns:a16="http://schemas.microsoft.com/office/drawing/2014/main" val="2637698655"/>
                  </a:ext>
                </a:extLst>
              </a:tr>
              <a:tr h="267711">
                <a:tc>
                  <a:txBody>
                    <a:bodyPr/>
                    <a:lstStyle/>
                    <a:p>
                      <a:pPr algn="l">
                        <a:lnSpc>
                          <a:spcPct val="100000"/>
                        </a:lnSpc>
                        <a:spcBef>
                          <a:spcPts val="0"/>
                        </a:spcBef>
                        <a:spcAft>
                          <a:spcPts val="0"/>
                        </a:spcAft>
                      </a:pPr>
                      <a:r>
                        <a:rPr lang="en-IN" sz="850" b="0" dirty="0">
                          <a:effectLst/>
                        </a:rPr>
                        <a:t>RPCL’s (GoB Owned) Patuakhali</a:t>
                      </a:r>
                      <a:endParaRPr lang="en-IN" sz="850" b="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tc>
                  <a:txBody>
                    <a:bodyPr/>
                    <a:lstStyle/>
                    <a:p>
                      <a:pPr algn="ctr">
                        <a:lnSpc>
                          <a:spcPct val="100000"/>
                        </a:lnSpc>
                        <a:spcBef>
                          <a:spcPts val="0"/>
                        </a:spcBef>
                        <a:spcAft>
                          <a:spcPts val="0"/>
                        </a:spcAft>
                      </a:pPr>
                      <a:r>
                        <a:rPr lang="en-IN" sz="850" dirty="0">
                          <a:effectLst/>
                        </a:rPr>
                        <a:t>1320 MW</a:t>
                      </a:r>
                      <a:endParaRPr lang="en-IN" sz="85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tc>
                  <a:txBody>
                    <a:bodyPr/>
                    <a:lstStyle/>
                    <a:p>
                      <a:pPr algn="l">
                        <a:lnSpc>
                          <a:spcPct val="100000"/>
                        </a:lnSpc>
                        <a:spcBef>
                          <a:spcPts val="0"/>
                        </a:spcBef>
                        <a:spcAft>
                          <a:spcPts val="0"/>
                        </a:spcAft>
                      </a:pPr>
                      <a:r>
                        <a:rPr lang="en-US" sz="850" dirty="0">
                          <a:effectLst/>
                          <a:latin typeface="Verdana" panose="020B0604030504040204" pitchFamily="34" charset="0"/>
                          <a:ea typeface="Verdana" panose="020B0604030504040204" pitchFamily="34" charset="0"/>
                          <a:cs typeface="Times New Roman" panose="02020603050405020304" pitchFamily="18" charset="0"/>
                        </a:rPr>
                        <a:t>Project</a:t>
                      </a:r>
                      <a:r>
                        <a:rPr lang="en-US" sz="850" baseline="0" dirty="0">
                          <a:effectLst/>
                          <a:latin typeface="Verdana" panose="020B0604030504040204" pitchFamily="34" charset="0"/>
                          <a:ea typeface="Verdana" panose="020B0604030504040204" pitchFamily="34" charset="0"/>
                          <a:cs typeface="Times New Roman" panose="02020603050405020304" pitchFamily="18" charset="0"/>
                        </a:rPr>
                        <a:t> Scrapped in FY2020</a:t>
                      </a:r>
                      <a:endParaRPr lang="en-IN" sz="85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extLst>
                  <a:ext uri="{0D108BD9-81ED-4DB2-BD59-A6C34878D82A}">
                    <a16:rowId xmlns:a16="http://schemas.microsoft.com/office/drawing/2014/main" val="459382313"/>
                  </a:ext>
                </a:extLst>
              </a:tr>
              <a:tr h="267711">
                <a:tc>
                  <a:txBody>
                    <a:bodyPr/>
                    <a:lstStyle/>
                    <a:p>
                      <a:pPr algn="l">
                        <a:lnSpc>
                          <a:spcPct val="100000"/>
                        </a:lnSpc>
                        <a:spcBef>
                          <a:spcPts val="0"/>
                        </a:spcBef>
                        <a:spcAft>
                          <a:spcPts val="0"/>
                        </a:spcAft>
                      </a:pPr>
                      <a:r>
                        <a:rPr lang="en-US" sz="850" b="0" dirty="0">
                          <a:effectLst/>
                          <a:latin typeface="Verdana" panose="020B0604030504040204" pitchFamily="34" charset="0"/>
                          <a:ea typeface="Verdana" panose="020B0604030504040204" pitchFamily="34" charset="0"/>
                          <a:cs typeface="Times New Roman" panose="02020603050405020304" pitchFamily="18" charset="0"/>
                        </a:rPr>
                        <a:t>BPDB’s </a:t>
                      </a:r>
                      <a:r>
                        <a:rPr lang="en-US" sz="850" b="0" dirty="0" err="1">
                          <a:effectLst/>
                          <a:latin typeface="Verdana" panose="020B0604030504040204" pitchFamily="34" charset="0"/>
                          <a:ea typeface="Verdana" panose="020B0604030504040204" pitchFamily="34" charset="0"/>
                          <a:cs typeface="Times New Roman" panose="02020603050405020304" pitchFamily="18" charset="0"/>
                        </a:rPr>
                        <a:t>Barishal</a:t>
                      </a:r>
                      <a:r>
                        <a:rPr lang="en-US" sz="850" b="0" baseline="0" dirty="0">
                          <a:effectLst/>
                          <a:latin typeface="Verdana" panose="020B0604030504040204" pitchFamily="34" charset="0"/>
                          <a:ea typeface="Verdana" panose="020B0604030504040204" pitchFamily="34" charset="0"/>
                          <a:cs typeface="Times New Roman" panose="02020603050405020304" pitchFamily="18" charset="0"/>
                        </a:rPr>
                        <a:t> CFPP</a:t>
                      </a:r>
                      <a:endParaRPr lang="en-IN" sz="850" b="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tc>
                  <a:txBody>
                    <a:bodyPr/>
                    <a:lstStyle/>
                    <a:p>
                      <a:pPr algn="ctr">
                        <a:lnSpc>
                          <a:spcPct val="100000"/>
                        </a:lnSpc>
                        <a:spcBef>
                          <a:spcPts val="0"/>
                        </a:spcBef>
                        <a:spcAft>
                          <a:spcPts val="0"/>
                        </a:spcAft>
                      </a:pPr>
                      <a:r>
                        <a:rPr lang="en-US" sz="850" dirty="0">
                          <a:effectLst/>
                          <a:latin typeface="Verdana" panose="020B0604030504040204" pitchFamily="34" charset="0"/>
                          <a:ea typeface="Verdana" panose="020B0604030504040204" pitchFamily="34" charset="0"/>
                          <a:cs typeface="Times New Roman" panose="02020603050405020304" pitchFamily="18" charset="0"/>
                        </a:rPr>
                        <a:t>307 MW</a:t>
                      </a:r>
                      <a:endParaRPr lang="en-IN" sz="85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tc>
                  <a:txBody>
                    <a:bodyPr/>
                    <a:lstStyle/>
                    <a:p>
                      <a:pPr algn="l">
                        <a:lnSpc>
                          <a:spcPct val="100000"/>
                        </a:lnSpc>
                        <a:spcBef>
                          <a:spcPts val="0"/>
                        </a:spcBef>
                        <a:spcAft>
                          <a:spcPts val="0"/>
                        </a:spcAft>
                      </a:pPr>
                      <a:r>
                        <a:rPr lang="en-US" sz="850" dirty="0">
                          <a:effectLst/>
                          <a:latin typeface="Verdana" panose="020B0604030504040204" pitchFamily="34" charset="0"/>
                          <a:ea typeface="Verdana" panose="020B0604030504040204" pitchFamily="34" charset="0"/>
                          <a:cs typeface="Times New Roman" panose="02020603050405020304" pitchFamily="18" charset="0"/>
                        </a:rPr>
                        <a:t>Not likely to go through by FY26 due to low on-ground progress</a:t>
                      </a:r>
                    </a:p>
                  </a:txBody>
                  <a:tcPr marL="72000" marR="36000" marT="0" marB="0"/>
                </a:tc>
                <a:extLst>
                  <a:ext uri="{0D108BD9-81ED-4DB2-BD59-A6C34878D82A}">
                    <a16:rowId xmlns:a16="http://schemas.microsoft.com/office/drawing/2014/main" val="1492890216"/>
                  </a:ext>
                </a:extLst>
              </a:tr>
            </a:tbl>
          </a:graphicData>
        </a:graphic>
      </p:graphicFrame>
      <p:sp>
        <p:nvSpPr>
          <p:cNvPr id="12" name="Rectangle 11"/>
          <p:cNvSpPr/>
          <p:nvPr/>
        </p:nvSpPr>
        <p:spPr bwMode="gray">
          <a:xfrm>
            <a:off x="377227" y="7283600"/>
            <a:ext cx="9972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Industry Reports, Deloitte Analysis; Note 1) There are other multiple imported coal based fuel projects under planning stages in areas such as Mongla, Moheshkali among others with fund support from Chinese firms. According to secondary sources, there has been no major active development initiative in these projects due to delay in financial support from the firms 2) Power Plant support estimation by current coal supply levels estimated at 80% Gross PLF  with efficiency of ~35%, coal GCV of 5000 kcal / kg and coal unloading times between 1-1.3 days</a:t>
            </a:r>
          </a:p>
        </p:txBody>
      </p:sp>
    </p:spTree>
    <p:extLst>
      <p:ext uri="{BB962C8B-B14F-4D97-AF65-F5344CB8AC3E}">
        <p14:creationId xmlns:p14="http://schemas.microsoft.com/office/powerpoint/2010/main" val="338608095"/>
      </p:ext>
    </p:extLst>
  </p:cSld>
  <p:clrMapOvr>
    <a:masterClrMapping/>
  </p:clrMapOvr>
  <p:transition>
    <p:fade/>
  </p:transition>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86241810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6" imgW="530" imgH="531" progId="TCLayout.ActiveDocument.1">
                  <p:embed/>
                </p:oleObj>
              </mc:Choice>
              <mc:Fallback>
                <p:oleObj name="think-cell Slide" r:id="rId16" imgW="530" imgH="531" progId="TCLayout.ActiveDocument.1">
                  <p:embed/>
                  <p:pic>
                    <p:nvPicPr>
                      <p:cNvPr id="4" name="Object 3" hidden="1"/>
                      <p:cNvPicPr/>
                      <p:nvPr/>
                    </p:nvPicPr>
                    <p:blipFill>
                      <a:blip r:embed="rId1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US" sz="900" u="none" strike="noStrike" kern="1200" cap="none" spc="0" normalizeH="0" noProof="0" dirty="0">
              <a:ln>
                <a:noFill/>
              </a:ln>
              <a:solidFill>
                <a:prstClr val="white"/>
              </a:solidFill>
              <a:effectLst/>
              <a:uLnTx/>
              <a:uFillTx/>
              <a:latin typeface="Verdana" panose="020B0604030504040204" pitchFamily="34" charset="0"/>
              <a:sym typeface="Verdana" panose="020B0604030504040204" pitchFamily="34" charset="0"/>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326002938"/>
              </p:ext>
            </p:extLst>
          </p:nvPr>
        </p:nvGraphicFramePr>
        <p:xfrm>
          <a:off x="5524500" y="1961920"/>
          <a:ext cx="4732062" cy="5399000"/>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399000">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table shows the planned LNG Capacity additions in Bangladesh and their current status</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Following figure shows import capacity of LNG and volume of LNG imported in 2018 and 2019 in MMSCMD:</a:t>
                      </a:r>
                    </a:p>
                    <a:p>
                      <a:pPr marL="0" lvl="0" indent="0">
                        <a:spcAft>
                          <a:spcPts val="500"/>
                        </a:spcAft>
                        <a:buFont typeface="Arial" panose="020B0604020202020204" pitchFamily="34" charset="0"/>
                        <a:buNone/>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17" name="Rectangle 16"/>
          <p:cNvSpPr/>
          <p:nvPr/>
        </p:nvSpPr>
        <p:spPr bwMode="gray">
          <a:xfrm>
            <a:off x="5583238" y="5162550"/>
            <a:ext cx="2795588" cy="1081088"/>
          </a:xfrm>
          <a:prstGeom prst="rect">
            <a:avLst/>
          </a:prstGeom>
          <a:solidFill>
            <a:schemeClr val="accent3">
              <a:alpha val="1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2" name="Rectangle 31"/>
          <p:cNvSpPr/>
          <p:nvPr/>
        </p:nvSpPr>
        <p:spPr bwMode="gray">
          <a:xfrm>
            <a:off x="8378825" y="5160963"/>
            <a:ext cx="1870075" cy="1096963"/>
          </a:xfrm>
          <a:prstGeom prst="rect">
            <a:avLst/>
          </a:prstGeom>
          <a:solidFill>
            <a:schemeClr val="accent1">
              <a:alpha val="1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 name="Title 1"/>
          <p:cNvSpPr>
            <a:spLocks noGrp="1"/>
          </p:cNvSpPr>
          <p:nvPr>
            <p:ph type="title"/>
          </p:nvPr>
        </p:nvSpPr>
        <p:spPr/>
        <p:txBody>
          <a:bodyPr/>
          <a:lstStyle/>
          <a:p>
            <a:r>
              <a:rPr lang="en-US" dirty="0"/>
              <a:t>Power Market | Supply Projection (LNG Infrastructure)</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Although ~3,000 MW of LNG based installed capacity has been planned, the current availability of imported LNG may restrict these plants operations; A</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~27 MMSCMD onshore LNG Terminal at Moheshkali is under planning stage and may get commissioned </a:t>
            </a:r>
            <a:r>
              <a:rPr lang="en-US" sz="1400" dirty="0">
                <a:solidFill>
                  <a:prstClr val="black">
                    <a:lumMod val="50000"/>
                    <a:lumOff val="50000"/>
                  </a:prstClr>
                </a:solidFill>
                <a:latin typeface="Verdana" panose="020B0604030504040204" pitchFamily="34" charset="0"/>
              </a:rPr>
              <a:t>post FY26</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2297767272"/>
              </p:ext>
            </p:extLst>
          </p:nvPr>
        </p:nvGraphicFramePr>
        <p:xfrm>
          <a:off x="449993" y="1961918"/>
          <a:ext cx="4734896" cy="499450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4994507">
                <a:tc>
                  <a:txBody>
                    <a:bodyPr/>
                    <a:lstStyle/>
                    <a:p>
                      <a:pPr marL="0" indent="0" algn="just" defTabSz="990571" rtl="0" eaLnBrk="1" latinLnBrk="0" hangingPunct="1">
                        <a:spcBef>
                          <a:spcPts val="600"/>
                        </a:spcBef>
                        <a:spcAft>
                          <a:spcPts val="500"/>
                        </a:spcAft>
                        <a:buFont typeface="Arial" panose="020B0604020202020204" pitchFamily="34" charset="0"/>
                        <a:buNone/>
                      </a:pPr>
                      <a:r>
                        <a:rPr lang="en-US" sz="1000" b="1" kern="1200" baseline="0" dirty="0">
                          <a:solidFill>
                            <a:schemeClr val="tx1"/>
                          </a:solidFill>
                          <a:latin typeface="+mn-lt"/>
                          <a:ea typeface="+mn-ea"/>
                          <a:cs typeface="+mn-cs"/>
                        </a:rPr>
                        <a:t>LNG Infrastructure</a:t>
                      </a:r>
                    </a:p>
                    <a:p>
                      <a:pPr marL="171450" indent="-171450" algn="just" defTabSz="990571" rtl="0" eaLnBrk="1" latinLnBrk="0" hangingPunct="1">
                        <a:spcBef>
                          <a:spcPts val="600"/>
                        </a:spcBef>
                        <a:spcAft>
                          <a:spcPts val="500"/>
                        </a:spcAft>
                        <a:buFont typeface="Arial" panose="020B0604020202020204" pitchFamily="34" charset="0"/>
                        <a:buChar char="•"/>
                      </a:pPr>
                      <a:r>
                        <a:rPr lang="en-US" sz="1000" b="0" kern="1200" baseline="0" dirty="0">
                          <a:solidFill>
                            <a:schemeClr val="tx1"/>
                          </a:solidFill>
                          <a:latin typeface="+mn-lt"/>
                          <a:ea typeface="+mn-ea"/>
                          <a:cs typeface="+mn-cs"/>
                        </a:rPr>
                        <a:t>Currently only 2 FSRUs with a combined capacity of ~7.86 MTPA (28.3 MMSCMD / 1,000 MMSCFD) has been commissioned in Bangladesh</a:t>
                      </a:r>
                    </a:p>
                    <a:p>
                      <a:pPr marL="171450" indent="-171450" algn="just" defTabSz="990571" rtl="0" eaLnBrk="1" latinLnBrk="0" hangingPunct="1">
                        <a:spcBef>
                          <a:spcPts val="600"/>
                        </a:spcBef>
                        <a:spcAft>
                          <a:spcPts val="500"/>
                        </a:spcAft>
                        <a:buFont typeface="Arial" panose="020B0604020202020204" pitchFamily="34" charset="0"/>
                        <a:buChar char="•"/>
                      </a:pPr>
                      <a:r>
                        <a:rPr lang="en-US" sz="1000" b="0" kern="1200" baseline="0" dirty="0">
                          <a:solidFill>
                            <a:schemeClr val="tx1"/>
                          </a:solidFill>
                          <a:latin typeface="+mn-lt"/>
                          <a:ea typeface="+mn-ea"/>
                          <a:cs typeface="+mn-cs"/>
                        </a:rPr>
                        <a:t>The current FSRU Capacity of ~7.86 MTPA (28.3 MMSCMD) can support ~6,000 MW-6,500 MW of gas based plants </a:t>
                      </a:r>
                    </a:p>
                    <a:p>
                      <a:pPr marL="171450" indent="-171450" algn="just" defTabSz="990571" rtl="0" eaLnBrk="1" latinLnBrk="0" hangingPunct="1">
                        <a:spcBef>
                          <a:spcPts val="600"/>
                        </a:spcBef>
                        <a:spcAft>
                          <a:spcPts val="500"/>
                        </a:spcAft>
                        <a:buFont typeface="Arial" panose="020B0604020202020204" pitchFamily="34" charset="0"/>
                        <a:buChar char="•"/>
                      </a:pPr>
                      <a:r>
                        <a:rPr lang="en-US" sz="1000" b="0" kern="1200" baseline="0" dirty="0">
                          <a:solidFill>
                            <a:schemeClr val="tx1"/>
                          </a:solidFill>
                          <a:latin typeface="+mn-lt"/>
                          <a:ea typeface="+mn-ea"/>
                          <a:cs typeface="+mn-cs"/>
                        </a:rPr>
                        <a:t>However, the entire capacity is still not being utilized due to challenges of weather, ocean currents and pipeline connectivity</a:t>
                      </a:r>
                    </a:p>
                    <a:p>
                      <a:pPr marL="171450" indent="-171450" algn="just" defTabSz="990571" rtl="0" eaLnBrk="1" latinLnBrk="0" hangingPunct="1">
                        <a:spcBef>
                          <a:spcPts val="600"/>
                        </a:spcBef>
                        <a:spcAft>
                          <a:spcPts val="500"/>
                        </a:spcAft>
                        <a:buFont typeface="Arial" panose="020B0604020202020204" pitchFamily="34" charset="0"/>
                        <a:buChar char="•"/>
                      </a:pPr>
                      <a:r>
                        <a:rPr lang="en-US" sz="1000" b="0" kern="1200" baseline="0" dirty="0">
                          <a:solidFill>
                            <a:schemeClr val="tx1"/>
                          </a:solidFill>
                          <a:latin typeface="+mn-lt"/>
                          <a:ea typeface="+mn-ea"/>
                          <a:cs typeface="+mn-cs"/>
                        </a:rPr>
                        <a:t>The Government has put on hold plans to develop more FSRU based LNG import facilities and is instead planning to setup onshore LNG Terminals which would atleast take 4-5 years for construction post award of EPC contract</a:t>
                      </a:r>
                    </a:p>
                    <a:p>
                      <a:pPr marL="171450" indent="-171450" algn="just" defTabSz="990571" rtl="0" eaLnBrk="1" latinLnBrk="0" hangingPunct="1">
                        <a:spcBef>
                          <a:spcPts val="600"/>
                        </a:spcBef>
                        <a:spcAft>
                          <a:spcPts val="500"/>
                        </a:spcAft>
                        <a:buFont typeface="Arial" panose="020B0604020202020204" pitchFamily="34" charset="0"/>
                        <a:buChar char="•"/>
                      </a:pPr>
                      <a:r>
                        <a:rPr lang="en-US" sz="1000" b="0" kern="1200" baseline="0" dirty="0">
                          <a:solidFill>
                            <a:schemeClr val="tx1"/>
                          </a:solidFill>
                          <a:latin typeface="+mn-lt"/>
                          <a:ea typeface="+mn-ea"/>
                          <a:cs typeface="+mn-cs"/>
                        </a:rPr>
                        <a:t>The GoB is current under planning stage of an onshore 7.5 MTPA (27 MMSCMD) LNG Terminal at Moheshkali</a:t>
                      </a:r>
                    </a:p>
                    <a:p>
                      <a:pPr marL="171450" indent="-171450" algn="just" defTabSz="990571" rtl="0" eaLnBrk="1" latinLnBrk="0" hangingPunct="1">
                        <a:lnSpc>
                          <a:spcPct val="106000"/>
                        </a:lnSpc>
                        <a:spcBef>
                          <a:spcPts val="600"/>
                        </a:spcBef>
                        <a:spcAft>
                          <a:spcPts val="500"/>
                        </a:spcAft>
                        <a:buFont typeface="Arial" panose="020B0604020202020204" pitchFamily="34" charset="0"/>
                        <a:buChar char="•"/>
                        <a:defRPr/>
                      </a:pPr>
                      <a:r>
                        <a:rPr lang="en-US" sz="1000" b="0" kern="1200" baseline="0" dirty="0">
                          <a:solidFill>
                            <a:schemeClr val="tx1"/>
                          </a:solidFill>
                          <a:latin typeface="+mn-lt"/>
                          <a:ea typeface="+mn-ea"/>
                          <a:cs typeface="+mn-cs"/>
                        </a:rPr>
                        <a:t>Considering the COVID 19 pandemic and the time taken for construction of the terminal, the onshore terminal is expected to be commissioned between FY26-FY30</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6" name="Table 5"/>
          <p:cNvGraphicFramePr>
            <a:graphicFrameLocks noGrp="1"/>
          </p:cNvGraphicFramePr>
          <p:nvPr>
            <p:extLst>
              <p:ext uri="{D42A27DB-BD31-4B8C-83A1-F6EECF244321}">
                <p14:modId xmlns:p14="http://schemas.microsoft.com/office/powerpoint/2010/main" val="166454662"/>
              </p:ext>
            </p:extLst>
          </p:nvPr>
        </p:nvGraphicFramePr>
        <p:xfrm>
          <a:off x="5524500" y="2517682"/>
          <a:ext cx="4559486" cy="2039885"/>
        </p:xfrm>
        <a:graphic>
          <a:graphicData uri="http://schemas.openxmlformats.org/drawingml/2006/table">
            <a:tbl>
              <a:tblPr firstRow="1" firstCol="1" bandRow="1">
                <a:tableStyleId>{69012ECD-51FC-41F1-AA8D-1B2483CD663E}</a:tableStyleId>
              </a:tblPr>
              <a:tblGrid>
                <a:gridCol w="430046">
                  <a:extLst>
                    <a:ext uri="{9D8B030D-6E8A-4147-A177-3AD203B41FA5}">
                      <a16:colId xmlns:a16="http://schemas.microsoft.com/office/drawing/2014/main" val="1115837362"/>
                    </a:ext>
                  </a:extLst>
                </a:gridCol>
                <a:gridCol w="661303">
                  <a:extLst>
                    <a:ext uri="{9D8B030D-6E8A-4147-A177-3AD203B41FA5}">
                      <a16:colId xmlns:a16="http://schemas.microsoft.com/office/drawing/2014/main" val="989045958"/>
                    </a:ext>
                  </a:extLst>
                </a:gridCol>
                <a:gridCol w="778864">
                  <a:extLst>
                    <a:ext uri="{9D8B030D-6E8A-4147-A177-3AD203B41FA5}">
                      <a16:colId xmlns:a16="http://schemas.microsoft.com/office/drawing/2014/main" val="1009551575"/>
                    </a:ext>
                  </a:extLst>
                </a:gridCol>
                <a:gridCol w="1113183">
                  <a:extLst>
                    <a:ext uri="{9D8B030D-6E8A-4147-A177-3AD203B41FA5}">
                      <a16:colId xmlns:a16="http://schemas.microsoft.com/office/drawing/2014/main" val="2510454516"/>
                    </a:ext>
                  </a:extLst>
                </a:gridCol>
                <a:gridCol w="1576090">
                  <a:extLst>
                    <a:ext uri="{9D8B030D-6E8A-4147-A177-3AD203B41FA5}">
                      <a16:colId xmlns:a16="http://schemas.microsoft.com/office/drawing/2014/main" val="2570853125"/>
                    </a:ext>
                  </a:extLst>
                </a:gridCol>
              </a:tblGrid>
              <a:tr h="437596">
                <a:tc>
                  <a:txBody>
                    <a:bodyPr/>
                    <a:lstStyle/>
                    <a:p>
                      <a:pPr algn="just">
                        <a:spcAft>
                          <a:spcPts val="1000"/>
                        </a:spcAft>
                      </a:pPr>
                      <a:r>
                        <a:rPr lang="en-IN" sz="900" dirty="0">
                          <a:effectLst/>
                        </a:rPr>
                        <a:t>Type</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tc>
                  <a:txBody>
                    <a:bodyPr/>
                    <a:lstStyle/>
                    <a:p>
                      <a:pPr algn="just">
                        <a:spcAft>
                          <a:spcPts val="1000"/>
                        </a:spcAft>
                      </a:pPr>
                      <a:r>
                        <a:rPr lang="en-IN" sz="900" dirty="0">
                          <a:effectLst/>
                        </a:rPr>
                        <a:t>Operator</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tc>
                  <a:txBody>
                    <a:bodyPr/>
                    <a:lstStyle/>
                    <a:p>
                      <a:pPr algn="just">
                        <a:spcAft>
                          <a:spcPts val="1000"/>
                        </a:spcAft>
                      </a:pPr>
                      <a:r>
                        <a:rPr lang="en-IN" sz="900" dirty="0">
                          <a:effectLst/>
                        </a:rPr>
                        <a:t>Location</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tc>
                  <a:txBody>
                    <a:bodyPr/>
                    <a:lstStyle/>
                    <a:p>
                      <a:pPr algn="just">
                        <a:spcAft>
                          <a:spcPts val="1000"/>
                        </a:spcAft>
                      </a:pPr>
                      <a:r>
                        <a:rPr lang="en-IN" sz="900" dirty="0">
                          <a:effectLst/>
                        </a:rPr>
                        <a:t>Capacity</a:t>
                      </a:r>
                      <a:r>
                        <a:rPr lang="en-IN" sz="900" baseline="0" dirty="0">
                          <a:effectLst/>
                        </a:rPr>
                        <a:t> in MTPA (</a:t>
                      </a:r>
                      <a:r>
                        <a:rPr lang="en-IN" sz="900" baseline="0" dirty="0" err="1">
                          <a:effectLst/>
                        </a:rPr>
                        <a:t>mmscmd</a:t>
                      </a:r>
                      <a:r>
                        <a:rPr lang="en-IN" sz="900" baseline="0" dirty="0">
                          <a:effectLst/>
                        </a:rPr>
                        <a:t>)</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tc>
                  <a:txBody>
                    <a:bodyPr/>
                    <a:lstStyle/>
                    <a:p>
                      <a:pPr algn="just">
                        <a:spcAft>
                          <a:spcPts val="1000"/>
                        </a:spcAft>
                      </a:pPr>
                      <a:r>
                        <a:rPr lang="en-IN" sz="900" dirty="0">
                          <a:effectLst/>
                        </a:rPr>
                        <a:t>Status</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extLst>
                  <a:ext uri="{0D108BD9-81ED-4DB2-BD59-A6C34878D82A}">
                    <a16:rowId xmlns:a16="http://schemas.microsoft.com/office/drawing/2014/main" val="3354651810"/>
                  </a:ext>
                </a:extLst>
              </a:tr>
              <a:tr h="505009">
                <a:tc>
                  <a:txBody>
                    <a:bodyPr/>
                    <a:lstStyle/>
                    <a:p>
                      <a:pPr algn="just">
                        <a:spcAft>
                          <a:spcPts val="1000"/>
                        </a:spcAft>
                      </a:pPr>
                      <a:r>
                        <a:rPr lang="en-IN" sz="900" dirty="0">
                          <a:effectLst/>
                        </a:rPr>
                        <a:t>FSRU</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tc>
                  <a:txBody>
                    <a:bodyPr/>
                    <a:lstStyle/>
                    <a:p>
                      <a:pPr algn="just">
                        <a:spcAft>
                          <a:spcPts val="1000"/>
                        </a:spcAft>
                      </a:pPr>
                      <a:r>
                        <a:rPr lang="en-IN" sz="900" dirty="0">
                          <a:effectLst/>
                        </a:rPr>
                        <a:t>Reliance</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tc>
                  <a:txBody>
                    <a:bodyPr/>
                    <a:lstStyle/>
                    <a:p>
                      <a:pPr algn="just">
                        <a:spcAft>
                          <a:spcPts val="1000"/>
                        </a:spcAft>
                      </a:pPr>
                      <a:r>
                        <a:rPr lang="en-IN" sz="900" dirty="0">
                          <a:effectLst/>
                        </a:rPr>
                        <a:t>Kutubdia</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tc>
                  <a:txBody>
                    <a:bodyPr/>
                    <a:lstStyle/>
                    <a:p>
                      <a:pPr algn="ctr">
                        <a:spcAft>
                          <a:spcPts val="1000"/>
                        </a:spcAft>
                      </a:pPr>
                      <a:r>
                        <a:rPr lang="en-IN" sz="900" dirty="0">
                          <a:effectLst/>
                        </a:rPr>
                        <a:t>3.95</a:t>
                      </a:r>
                      <a:br>
                        <a:rPr lang="en-IN" sz="900" dirty="0">
                          <a:effectLst/>
                        </a:rPr>
                      </a:br>
                      <a:r>
                        <a:rPr lang="en-IN" sz="900" dirty="0">
                          <a:effectLst/>
                        </a:rPr>
                        <a:t>(14.2 MMSCMD)</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tc>
                  <a:txBody>
                    <a:bodyPr/>
                    <a:lstStyle/>
                    <a:p>
                      <a:pPr algn="just">
                        <a:spcAft>
                          <a:spcPts val="1000"/>
                        </a:spcAft>
                      </a:pPr>
                      <a:r>
                        <a:rPr lang="en-IN" sz="900" dirty="0">
                          <a:effectLst/>
                        </a:rPr>
                        <a:t>May get delayed</a:t>
                      </a:r>
                      <a:r>
                        <a:rPr lang="en-IN" sz="900" baseline="0" dirty="0">
                          <a:effectLst/>
                        </a:rPr>
                        <a:t> due to financial challenges at Reliance</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extLst>
                  <a:ext uri="{0D108BD9-81ED-4DB2-BD59-A6C34878D82A}">
                    <a16:rowId xmlns:a16="http://schemas.microsoft.com/office/drawing/2014/main" val="727977547"/>
                  </a:ext>
                </a:extLst>
              </a:tr>
              <a:tr h="211409">
                <a:tc>
                  <a:txBody>
                    <a:bodyPr/>
                    <a:lstStyle/>
                    <a:p>
                      <a:pPr algn="just">
                        <a:spcAft>
                          <a:spcPts val="1000"/>
                        </a:spcAft>
                      </a:pPr>
                      <a:r>
                        <a:rPr lang="en-IN" sz="900" dirty="0">
                          <a:effectLst/>
                        </a:rPr>
                        <a:t>Land</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tc>
                  <a:txBody>
                    <a:bodyPr/>
                    <a:lstStyle/>
                    <a:p>
                      <a:pPr algn="just">
                        <a:spcAft>
                          <a:spcPts val="1000"/>
                        </a:spcAft>
                      </a:pPr>
                      <a:r>
                        <a:rPr lang="en-IN" sz="900" dirty="0">
                          <a:effectLst/>
                        </a:rPr>
                        <a:t>Petronet</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tc>
                  <a:txBody>
                    <a:bodyPr/>
                    <a:lstStyle/>
                    <a:p>
                      <a:pPr algn="just">
                        <a:spcAft>
                          <a:spcPts val="1000"/>
                        </a:spcAft>
                      </a:pPr>
                      <a:r>
                        <a:rPr lang="en-IN" sz="900" dirty="0">
                          <a:effectLst/>
                        </a:rPr>
                        <a:t>Kutubdia</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tc>
                  <a:txBody>
                    <a:bodyPr/>
                    <a:lstStyle/>
                    <a:p>
                      <a:pPr algn="ctr">
                        <a:spcAft>
                          <a:spcPts val="1000"/>
                        </a:spcAft>
                      </a:pPr>
                      <a:r>
                        <a:rPr lang="en-IN" sz="900" dirty="0">
                          <a:effectLst/>
                        </a:rPr>
                        <a:t>7.86</a:t>
                      </a:r>
                      <a:br>
                        <a:rPr lang="en-IN" sz="900" dirty="0">
                          <a:effectLst/>
                        </a:rPr>
                      </a:br>
                      <a:r>
                        <a:rPr lang="en-IN" sz="900" dirty="0">
                          <a:effectLst/>
                        </a:rPr>
                        <a:t>(28.3 MMSCMD)</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tc>
                  <a:txBody>
                    <a:bodyPr/>
                    <a:lstStyle/>
                    <a:p>
                      <a:pPr algn="just">
                        <a:spcAft>
                          <a:spcPts val="1000"/>
                        </a:spcAft>
                      </a:pPr>
                      <a:r>
                        <a:rPr lang="en-IN" sz="900" dirty="0">
                          <a:effectLst/>
                        </a:rPr>
                        <a:t>MoU Signed; Delayed</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extLst>
                  <a:ext uri="{0D108BD9-81ED-4DB2-BD59-A6C34878D82A}">
                    <a16:rowId xmlns:a16="http://schemas.microsoft.com/office/drawing/2014/main" val="700168276"/>
                  </a:ext>
                </a:extLst>
              </a:tr>
              <a:tr h="211409">
                <a:tc>
                  <a:txBody>
                    <a:bodyPr/>
                    <a:lstStyle/>
                    <a:p>
                      <a:pPr algn="just">
                        <a:spcAft>
                          <a:spcPts val="1000"/>
                        </a:spcAft>
                      </a:pPr>
                      <a:r>
                        <a:rPr lang="en-IN" sz="900" dirty="0">
                          <a:effectLst/>
                        </a:rPr>
                        <a:t>FSRU</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tc>
                  <a:txBody>
                    <a:bodyPr/>
                    <a:lstStyle/>
                    <a:p>
                      <a:pPr algn="just">
                        <a:spcAft>
                          <a:spcPts val="1000"/>
                        </a:spcAft>
                      </a:pPr>
                      <a:r>
                        <a:rPr lang="en-IN" sz="900" dirty="0">
                          <a:effectLst/>
                        </a:rPr>
                        <a:t>HSMPL</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tc>
                  <a:txBody>
                    <a:bodyPr/>
                    <a:lstStyle/>
                    <a:p>
                      <a:pPr algn="just">
                        <a:spcAft>
                          <a:spcPts val="1000"/>
                        </a:spcAft>
                      </a:pPr>
                      <a:r>
                        <a:rPr lang="en-IN" sz="900" dirty="0">
                          <a:effectLst/>
                        </a:rPr>
                        <a:t>Kutubdia</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tc>
                  <a:txBody>
                    <a:bodyPr/>
                    <a:lstStyle/>
                    <a:p>
                      <a:pPr algn="ctr">
                        <a:spcAft>
                          <a:spcPts val="1000"/>
                        </a:spcAft>
                      </a:pPr>
                      <a:r>
                        <a:rPr lang="en-IN" sz="900" dirty="0">
                          <a:effectLst/>
                        </a:rPr>
                        <a:t>3.95</a:t>
                      </a:r>
                      <a:br>
                        <a:rPr lang="en-IN" sz="900" dirty="0">
                          <a:effectLst/>
                        </a:rPr>
                      </a:br>
                      <a:r>
                        <a:rPr lang="en-IN" sz="900" dirty="0">
                          <a:effectLst/>
                        </a:rPr>
                        <a:t>(14.2 MMSCMD)</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tc>
                  <a:txBody>
                    <a:bodyPr/>
                    <a:lstStyle/>
                    <a:p>
                      <a:pPr algn="just">
                        <a:spcAft>
                          <a:spcPts val="1000"/>
                        </a:spcAft>
                      </a:pPr>
                      <a:r>
                        <a:rPr lang="en-IN" sz="900" dirty="0">
                          <a:effectLst/>
                        </a:rPr>
                        <a:t>Cancelled in Nov 2018</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extLst>
                  <a:ext uri="{0D108BD9-81ED-4DB2-BD59-A6C34878D82A}">
                    <a16:rowId xmlns:a16="http://schemas.microsoft.com/office/drawing/2014/main" val="579048369"/>
                  </a:ext>
                </a:extLst>
              </a:tr>
              <a:tr h="211409">
                <a:tc>
                  <a:txBody>
                    <a:bodyPr/>
                    <a:lstStyle/>
                    <a:p>
                      <a:pPr algn="just">
                        <a:spcAft>
                          <a:spcPts val="1000"/>
                        </a:spcAft>
                      </a:pPr>
                      <a:r>
                        <a:rPr lang="en-IN" sz="900" dirty="0">
                          <a:effectLst/>
                        </a:rPr>
                        <a:t>Land</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tc>
                  <a:txBody>
                    <a:bodyPr/>
                    <a:lstStyle/>
                    <a:p>
                      <a:pPr algn="just">
                        <a:spcAft>
                          <a:spcPts val="1000"/>
                        </a:spcAft>
                      </a:pPr>
                      <a:r>
                        <a:rPr lang="en-IN" sz="900" dirty="0">
                          <a:effectLst/>
                        </a:rPr>
                        <a:t>HQC</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tc>
                  <a:txBody>
                    <a:bodyPr/>
                    <a:lstStyle/>
                    <a:p>
                      <a:pPr algn="just">
                        <a:spcAft>
                          <a:spcPts val="1000"/>
                        </a:spcAft>
                      </a:pPr>
                      <a:r>
                        <a:rPr lang="en-IN" sz="900" dirty="0">
                          <a:effectLst/>
                        </a:rPr>
                        <a:t>Moheshkhali</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tc>
                  <a:txBody>
                    <a:bodyPr/>
                    <a:lstStyle/>
                    <a:p>
                      <a:pPr algn="ctr">
                        <a:spcAft>
                          <a:spcPts val="1000"/>
                        </a:spcAft>
                      </a:pPr>
                      <a:r>
                        <a:rPr lang="en-IN" sz="900" dirty="0">
                          <a:effectLst/>
                        </a:rPr>
                        <a:t>7.86</a:t>
                      </a:r>
                      <a:br>
                        <a:rPr lang="en-IN" sz="900" dirty="0">
                          <a:effectLst/>
                        </a:rPr>
                      </a:br>
                      <a:r>
                        <a:rPr lang="en-IN" sz="900" dirty="0">
                          <a:effectLst/>
                        </a:rPr>
                        <a:t>(28.3 MMSCMD)</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tc>
                  <a:txBody>
                    <a:bodyPr/>
                    <a:lstStyle/>
                    <a:p>
                      <a:pPr algn="just">
                        <a:spcAft>
                          <a:spcPts val="1000"/>
                        </a:spcAft>
                      </a:pPr>
                      <a:r>
                        <a:rPr lang="en-IN" sz="900" dirty="0">
                          <a:effectLst/>
                        </a:rPr>
                        <a:t>Shortlisted for RfP</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extLst>
                  <a:ext uri="{0D108BD9-81ED-4DB2-BD59-A6C34878D82A}">
                    <a16:rowId xmlns:a16="http://schemas.microsoft.com/office/drawing/2014/main" val="1150771168"/>
                  </a:ext>
                </a:extLst>
              </a:tr>
              <a:tr h="211409">
                <a:tc>
                  <a:txBody>
                    <a:bodyPr/>
                    <a:lstStyle/>
                    <a:p>
                      <a:pPr algn="just">
                        <a:spcAft>
                          <a:spcPts val="1000"/>
                        </a:spcAft>
                      </a:pPr>
                      <a:r>
                        <a:rPr lang="en-IN" sz="900" dirty="0">
                          <a:effectLst/>
                        </a:rPr>
                        <a:t>Land</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tc>
                  <a:txBody>
                    <a:bodyPr/>
                    <a:lstStyle/>
                    <a:p>
                      <a:pPr algn="just">
                        <a:spcAft>
                          <a:spcPts val="1000"/>
                        </a:spcAft>
                      </a:pPr>
                      <a:r>
                        <a:rPr lang="en-IN" sz="900" dirty="0">
                          <a:effectLst/>
                        </a:rPr>
                        <a:t>Semcorp</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tc>
                  <a:txBody>
                    <a:bodyPr/>
                    <a:lstStyle/>
                    <a:p>
                      <a:pPr algn="just">
                        <a:spcAft>
                          <a:spcPts val="1000"/>
                        </a:spcAft>
                      </a:pPr>
                      <a:r>
                        <a:rPr lang="en-IN" sz="900" dirty="0">
                          <a:effectLst/>
                        </a:rPr>
                        <a:t>Moheshkhali</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tc>
                  <a:txBody>
                    <a:bodyPr/>
                    <a:lstStyle/>
                    <a:p>
                      <a:pPr algn="ctr">
                        <a:spcAft>
                          <a:spcPts val="1000"/>
                        </a:spcAft>
                      </a:pPr>
                      <a:r>
                        <a:rPr lang="en-IN" sz="900" dirty="0">
                          <a:effectLst/>
                        </a:rPr>
                        <a:t>3.95</a:t>
                      </a:r>
                      <a:br>
                        <a:rPr lang="en-IN" sz="900" dirty="0">
                          <a:effectLst/>
                        </a:rPr>
                      </a:br>
                      <a:r>
                        <a:rPr lang="en-IN" sz="900" dirty="0">
                          <a:effectLst/>
                        </a:rPr>
                        <a:t>(14.2 MMSCMD)</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tc>
                  <a:txBody>
                    <a:bodyPr/>
                    <a:lstStyle/>
                    <a:p>
                      <a:pPr algn="just">
                        <a:spcAft>
                          <a:spcPts val="1000"/>
                        </a:spcAft>
                      </a:pPr>
                      <a:r>
                        <a:rPr lang="en-IN" sz="900" dirty="0">
                          <a:effectLst/>
                        </a:rPr>
                        <a:t>Proposal Submitted, Status Unknown</a:t>
                      </a:r>
                      <a:endParaRPr lang="en-IN" sz="900" i="1" dirty="0">
                        <a:solidFill>
                          <a:srgbClr val="44546A"/>
                        </a:solidFill>
                        <a:effectLst/>
                        <a:latin typeface="Verdana" panose="020B0604030504040204" pitchFamily="34" charset="0"/>
                        <a:ea typeface="Verdana" panose="020B0604030504040204" pitchFamily="34" charset="0"/>
                        <a:cs typeface="Times New Roman" panose="02020603050405020304" pitchFamily="18" charset="0"/>
                      </a:endParaRPr>
                    </a:p>
                  </a:txBody>
                  <a:tcPr marL="26904" marR="26904" marT="0" marB="0"/>
                </a:tc>
                <a:extLst>
                  <a:ext uri="{0D108BD9-81ED-4DB2-BD59-A6C34878D82A}">
                    <a16:rowId xmlns:a16="http://schemas.microsoft.com/office/drawing/2014/main" val="3317131722"/>
                  </a:ext>
                </a:extLst>
              </a:tr>
            </a:tbl>
          </a:graphicData>
        </a:graphic>
      </p:graphicFrame>
      <p:sp>
        <p:nvSpPr>
          <p:cNvPr id="16" name="Rectangle 15"/>
          <p:cNvSpPr/>
          <p:nvPr/>
        </p:nvSpPr>
        <p:spPr bwMode="gray">
          <a:xfrm>
            <a:off x="377226" y="7260739"/>
            <a:ext cx="9706760" cy="383074"/>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Petrobangla, RGPPL, Industry Reports, Deloitte Analysis; </a:t>
            </a:r>
            <a:r>
              <a:rPr lang="en-US" sz="700" dirty="0">
                <a:solidFill>
                  <a:prstClr val="black"/>
                </a:solidFill>
              </a:rPr>
              <a:t>Note 1) Power Plant Support from current FSRU capacity considered at ~45% efficiency, GCV of 8500 kcal / </a:t>
            </a:r>
            <a:r>
              <a:rPr lang="en-US" sz="700" dirty="0" err="1">
                <a:solidFill>
                  <a:prstClr val="black"/>
                </a:solidFill>
              </a:rPr>
              <a:t>scm</a:t>
            </a:r>
            <a:r>
              <a:rPr lang="en-US" sz="700" dirty="0">
                <a:solidFill>
                  <a:prstClr val="black"/>
                </a:solidFill>
              </a:rPr>
              <a:t> and 80% Gross PLF levels</a:t>
            </a:r>
            <a:endParaRPr lang="en-US" sz="700" i="1" dirty="0">
              <a:solidFill>
                <a:prstClr val="black"/>
              </a:solidFill>
            </a:endParaRPr>
          </a:p>
        </p:txBody>
      </p:sp>
      <p:sp>
        <p:nvSpPr>
          <p:cNvPr id="18" name="Rectangle 17"/>
          <p:cNvSpPr/>
          <p:nvPr/>
        </p:nvSpPr>
        <p:spPr bwMode="gray">
          <a:xfrm>
            <a:off x="6008688" y="7104063"/>
            <a:ext cx="4156075" cy="157163"/>
          </a:xfrm>
          <a:prstGeom prst="rect">
            <a:avLst/>
          </a:prstGeom>
          <a:no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Figures in mmscmd</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cxnSp>
        <p:nvCxnSpPr>
          <p:cNvPr id="22" name="Straight Connector 21"/>
          <p:cNvCxnSpPr/>
          <p:nvPr>
            <p:custDataLst>
              <p:tags r:id="rId5"/>
            </p:custDataLst>
          </p:nvPr>
        </p:nvCxnSpPr>
        <p:spPr bwMode="auto">
          <a:xfrm>
            <a:off x="8186738" y="5781675"/>
            <a:ext cx="4127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custDataLst>
              <p:tags r:id="rId6"/>
            </p:custDataLst>
          </p:nvPr>
        </p:nvCxnSpPr>
        <p:spPr bwMode="auto">
          <a:xfrm>
            <a:off x="7254875" y="5781675"/>
            <a:ext cx="4127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custDataLst>
              <p:tags r:id="rId7"/>
            </p:custDataLst>
          </p:nvPr>
        </p:nvCxnSpPr>
        <p:spPr bwMode="auto">
          <a:xfrm>
            <a:off x="6323013" y="5908675"/>
            <a:ext cx="4127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custDataLst>
              <p:tags r:id="rId8"/>
            </p:custDataLst>
          </p:nvPr>
        </p:nvCxnSpPr>
        <p:spPr bwMode="auto">
          <a:xfrm>
            <a:off x="9118600" y="5661025"/>
            <a:ext cx="4127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36" name="Chart 35"/>
          <p:cNvGraphicFramePr/>
          <p:nvPr>
            <p:custDataLst>
              <p:tags r:id="rId9"/>
            </p:custDataLst>
            <p:extLst>
              <p:ext uri="{D42A27DB-BD31-4B8C-83A1-F6EECF244321}">
                <p14:modId xmlns:p14="http://schemas.microsoft.com/office/powerpoint/2010/main" val="3313086412"/>
              </p:ext>
            </p:extLst>
          </p:nvPr>
        </p:nvGraphicFramePr>
        <p:xfrm>
          <a:off x="5514975" y="5476875"/>
          <a:ext cx="4824413" cy="841375"/>
        </p:xfrm>
        <a:graphic>
          <a:graphicData uri="http://schemas.openxmlformats.org/drawingml/2006/chart">
            <c:chart xmlns:c="http://schemas.openxmlformats.org/drawingml/2006/chart" xmlns:r="http://schemas.openxmlformats.org/officeDocument/2006/relationships" r:id="rId18"/>
          </a:graphicData>
        </a:graphic>
      </p:graphicFrame>
      <p:sp>
        <p:nvSpPr>
          <p:cNvPr id="27" name="StandardTextbox"/>
          <p:cNvSpPr>
            <a:spLocks noGrp="1"/>
          </p:cNvSpPr>
          <p:nvPr>
            <p:custDataLst>
              <p:tags r:id="rId10"/>
            </p:custDataLst>
          </p:nvPr>
        </p:nvSpPr>
        <p:spPr bwMode="auto">
          <a:xfrm>
            <a:off x="7531100" y="6311900"/>
            <a:ext cx="790575" cy="6826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1E6DFB1B-67BB-4EE6-9369-5FEDCCCE3693}" type="datetime'''Tot''al Pl''anned Natural Gas Supply Capacity (FY19-F''Y24)'">
              <a:rPr lang="en-US" altLang="en-US" sz="900" b="0" smtClean="0">
                <a:solidFill>
                  <a:srgbClr val="000000"/>
                </a:solidFill>
              </a:rPr>
              <a:pPr lvl="1" algn="ctr">
                <a:spcBef>
                  <a:spcPct val="0"/>
                </a:spcBef>
                <a:spcAft>
                  <a:spcPct val="0"/>
                </a:spcAft>
                <a:defRPr/>
              </a:pPr>
              <a:t>Total Planned Natural Gas Supply Capacity (FY19-FY24)</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25" name="StandardTextbox"/>
          <p:cNvSpPr>
            <a:spLocks noGrp="1"/>
          </p:cNvSpPr>
          <p:nvPr>
            <p:custDataLst>
              <p:tags r:id="rId11"/>
            </p:custDataLst>
          </p:nvPr>
        </p:nvSpPr>
        <p:spPr bwMode="auto">
          <a:xfrm>
            <a:off x="5661025" y="6311900"/>
            <a:ext cx="803275" cy="5461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BEED04C2-314C-403C-8FAF-4825E805DB93}" type="datetime'Ex''isti''''ng ''Average Domestic Ga''s'''' P''roduc''tion'">
              <a:rPr lang="en-IN" altLang="en-US" sz="900" b="0" smtClean="0">
                <a:solidFill>
                  <a:srgbClr val="000000"/>
                </a:solidFill>
              </a:rPr>
              <a:pPr lvl="1" algn="ctr">
                <a:spcBef>
                  <a:spcPct val="0"/>
                </a:spcBef>
                <a:spcAft>
                  <a:spcPct val="0"/>
                </a:spcAft>
                <a:defRPr/>
              </a:pPr>
              <a:t>Existing Average Domestic Gas Production</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26" name="StandardTextbox"/>
          <p:cNvSpPr>
            <a:spLocks noGrp="1"/>
          </p:cNvSpPr>
          <p:nvPr>
            <p:custDataLst>
              <p:tags r:id="rId12"/>
            </p:custDataLst>
          </p:nvPr>
        </p:nvSpPr>
        <p:spPr bwMode="auto">
          <a:xfrm>
            <a:off x="6569075" y="6311900"/>
            <a:ext cx="850900" cy="4095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60719EAC-1159-4557-AD58-225172DE74D8}" type="datetime'I''m''ported L''NG ''Ca''p''''a''''c''ity'' Commi''ssioned'">
              <a:rPr lang="en-IN" altLang="en-US" sz="900" b="0" smtClean="0">
                <a:solidFill>
                  <a:srgbClr val="000000"/>
                </a:solidFill>
              </a:rPr>
              <a:pPr lvl="1" algn="ctr">
                <a:spcBef>
                  <a:spcPct val="0"/>
                </a:spcBef>
                <a:spcAft>
                  <a:spcPct val="0"/>
                </a:spcAft>
                <a:defRPr/>
              </a:pPr>
              <a:t>Imported LNG Capacity Commissioned</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28" name="StandardTextbox"/>
          <p:cNvSpPr>
            <a:spLocks noGrp="1"/>
          </p:cNvSpPr>
          <p:nvPr>
            <p:custDataLst>
              <p:tags r:id="rId13"/>
            </p:custDataLst>
          </p:nvPr>
        </p:nvSpPr>
        <p:spPr bwMode="auto">
          <a:xfrm>
            <a:off x="8448675" y="6311900"/>
            <a:ext cx="819150" cy="5461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41530B41-6A73-40D9-B60A-990120FDF520}" type="datetime'''Additio''n''al Onshore 7''.5 ''MTPA Plan''ned'' T''erminal'">
              <a:rPr lang="en-US" altLang="en-US" sz="900" b="0" smtClean="0">
                <a:solidFill>
                  <a:srgbClr val="000000"/>
                </a:solidFill>
              </a:rPr>
              <a:pPr lvl="1" algn="ctr">
                <a:spcBef>
                  <a:spcPct val="0"/>
                </a:spcBef>
                <a:spcAft>
                  <a:spcPct val="0"/>
                </a:spcAft>
                <a:defRPr/>
              </a:pPr>
              <a:t>Additional Onshore 7.5 MTPA Planned Terminal</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29" name="StandardTextbox"/>
          <p:cNvSpPr>
            <a:spLocks noGrp="1"/>
          </p:cNvSpPr>
          <p:nvPr>
            <p:custDataLst>
              <p:tags r:id="rId14"/>
            </p:custDataLst>
          </p:nvPr>
        </p:nvSpPr>
        <p:spPr bwMode="auto">
          <a:xfrm>
            <a:off x="9324975" y="6311900"/>
            <a:ext cx="930275" cy="4095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7DBFD2D1-D7B4-4A99-8B58-66FD8E153C3B}" type="datetime'T''o''tal'''' Expected ''Import ''''Capacit''y ''''(''FY30)'">
              <a:rPr lang="en-US" altLang="en-US" sz="900" b="0" smtClean="0">
                <a:solidFill>
                  <a:srgbClr val="000000"/>
                </a:solidFill>
              </a:rPr>
              <a:pPr lvl="1" algn="ctr">
                <a:spcBef>
                  <a:spcPct val="0"/>
                </a:spcBef>
                <a:spcAft>
                  <a:spcPct val="0"/>
                </a:spcAft>
                <a:defRPr/>
              </a:pPr>
              <a:t>Total Expected Import Capacity (FY30)</a:t>
            </a:fld>
            <a:endParaRPr kumimoji="0" lang="en-IN" sz="900" b="0" i="0" strike="noStrike" kern="1200" spc="0" normalizeH="0" noProof="0" dirty="0">
              <a:ln>
                <a:noFill/>
              </a:ln>
              <a:solidFill>
                <a:srgbClr val="000000"/>
              </a:solidFill>
              <a:effectLst/>
              <a:uLnTx/>
              <a:uFillTx/>
              <a:latin typeface="Verdana"/>
              <a:sym typeface="+mn-lt"/>
            </a:endParaRPr>
          </a:p>
        </p:txBody>
      </p:sp>
      <p:sp>
        <p:nvSpPr>
          <p:cNvPr id="30" name="Rectangle 29"/>
          <p:cNvSpPr/>
          <p:nvPr/>
        </p:nvSpPr>
        <p:spPr bwMode="gray">
          <a:xfrm>
            <a:off x="5957888" y="5160963"/>
            <a:ext cx="1820863" cy="268288"/>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b="1" i="1" dirty="0"/>
              <a:t>Current Capacity</a:t>
            </a:r>
            <a:endParaRPr lang="en-IN" sz="900" b="1" i="1" dirty="0"/>
          </a:p>
        </p:txBody>
      </p:sp>
      <p:sp>
        <p:nvSpPr>
          <p:cNvPr id="31" name="Rectangle 30"/>
          <p:cNvSpPr/>
          <p:nvPr/>
        </p:nvSpPr>
        <p:spPr bwMode="gray">
          <a:xfrm>
            <a:off x="8485188" y="5229225"/>
            <a:ext cx="1635125" cy="215900"/>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b="1" i="1" dirty="0"/>
              <a:t>Expected between FY26-FY30</a:t>
            </a:r>
            <a:endParaRPr lang="en-IN" sz="900" b="1" i="1" dirty="0"/>
          </a:p>
        </p:txBody>
      </p:sp>
    </p:spTree>
    <p:extLst>
      <p:ext uri="{BB962C8B-B14F-4D97-AF65-F5344CB8AC3E}">
        <p14:creationId xmlns:p14="http://schemas.microsoft.com/office/powerpoint/2010/main" val="727728465"/>
      </p:ext>
    </p:extLst>
  </p:cSld>
  <p:clrMapOvr>
    <a:masterClrMapping/>
  </p:clrMapOvr>
  <p:transition>
    <p:fade/>
  </p:transition>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27796091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530" imgH="531" progId="TCLayout.ActiveDocument.1">
                  <p:embed/>
                </p:oleObj>
              </mc:Choice>
              <mc:Fallback>
                <p:oleObj name="think-cell Slide" r:id="rId9" imgW="530" imgH="531" progId="TCLayout.ActiveDocument.1">
                  <p:embed/>
                  <p:pic>
                    <p:nvPicPr>
                      <p:cNvPr id="5" name="Object 4" hidden="1"/>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11" name="Rectangle 10"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defRPr/>
            </a:pPr>
            <a:endParaRPr kumimoji="0" lang="en-IN" sz="1000" u="none" strike="noStrike" kern="1200" cap="none" spc="0" normalizeH="0" noProof="0" dirty="0">
              <a:ln>
                <a:noFill/>
              </a:ln>
              <a:solidFill>
                <a:prstClr val="white"/>
              </a:solidFill>
              <a:effectLst/>
              <a:uLnTx/>
              <a:uFillTx/>
              <a:sym typeface="+mn-lt"/>
            </a:endParaRPr>
          </a:p>
        </p:txBody>
      </p:sp>
      <p:sp>
        <p:nvSpPr>
          <p:cNvPr id="6" name="Title 1"/>
          <p:cNvSpPr>
            <a:spLocks noGrp="1"/>
          </p:cNvSpPr>
          <p:nvPr>
            <p:ph type="title"/>
          </p:nvPr>
        </p:nvSpPr>
        <p:spPr>
          <a:xfrm>
            <a:off x="449264" y="647700"/>
            <a:ext cx="9791700" cy="431800"/>
          </a:xfrm>
        </p:spPr>
        <p:txBody>
          <a:bodyPr/>
          <a:lstStyle/>
          <a:p>
            <a:r>
              <a:rPr lang="en-US" dirty="0"/>
              <a:t>Power Market | Supply Projection (LNG based Power Plants)</a:t>
            </a:r>
            <a:endParaRPr lang="en-IN" dirty="0"/>
          </a:p>
        </p:txBody>
      </p:sp>
      <p:sp>
        <p:nvSpPr>
          <p:cNvPr id="7"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Considering current status &amp; Govt.</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push for LNG based plants we expect</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~1,200 MW of the proposed LNG power plants may get commissioned by FY2026</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8" name="Table 7"/>
          <p:cNvGraphicFramePr>
            <a:graphicFrameLocks noGrp="1"/>
          </p:cNvGraphicFramePr>
          <p:nvPr>
            <p:custDataLst>
              <p:tags r:id="rId3"/>
            </p:custDataLst>
            <p:extLst>
              <p:ext uri="{D42A27DB-BD31-4B8C-83A1-F6EECF244321}">
                <p14:modId xmlns:p14="http://schemas.microsoft.com/office/powerpoint/2010/main" val="137752362"/>
              </p:ext>
            </p:extLst>
          </p:nvPr>
        </p:nvGraphicFramePr>
        <p:xfrm>
          <a:off x="5524500" y="1961920"/>
          <a:ext cx="4732062" cy="3635605"/>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3635605">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table shows the status of the planned imported LNG based power projects in Bangladesh for the next 5 Years and their status:</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9" name="Table 8"/>
          <p:cNvGraphicFramePr>
            <a:graphicFrameLocks noGrp="1"/>
          </p:cNvGraphicFramePr>
          <p:nvPr>
            <p:extLst>
              <p:ext uri="{D42A27DB-BD31-4B8C-83A1-F6EECF244321}">
                <p14:modId xmlns:p14="http://schemas.microsoft.com/office/powerpoint/2010/main" val="331227791"/>
              </p:ext>
            </p:extLst>
          </p:nvPr>
        </p:nvGraphicFramePr>
        <p:xfrm>
          <a:off x="5702303" y="2552700"/>
          <a:ext cx="4554259" cy="4623993"/>
        </p:xfrm>
        <a:graphic>
          <a:graphicData uri="http://schemas.openxmlformats.org/drawingml/2006/table">
            <a:tbl>
              <a:tblPr firstRow="1" firstCol="1" bandRow="1">
                <a:tableStyleId>{5A111915-BE36-4E01-A7E5-04B1672EAD32}</a:tableStyleId>
              </a:tblPr>
              <a:tblGrid>
                <a:gridCol w="1304614">
                  <a:extLst>
                    <a:ext uri="{9D8B030D-6E8A-4147-A177-3AD203B41FA5}">
                      <a16:colId xmlns:a16="http://schemas.microsoft.com/office/drawing/2014/main" val="3290383493"/>
                    </a:ext>
                  </a:extLst>
                </a:gridCol>
                <a:gridCol w="628323">
                  <a:extLst>
                    <a:ext uri="{9D8B030D-6E8A-4147-A177-3AD203B41FA5}">
                      <a16:colId xmlns:a16="http://schemas.microsoft.com/office/drawing/2014/main" val="1605660941"/>
                    </a:ext>
                  </a:extLst>
                </a:gridCol>
                <a:gridCol w="2621322">
                  <a:extLst>
                    <a:ext uri="{9D8B030D-6E8A-4147-A177-3AD203B41FA5}">
                      <a16:colId xmlns:a16="http://schemas.microsoft.com/office/drawing/2014/main" val="447690441"/>
                    </a:ext>
                  </a:extLst>
                </a:gridCol>
              </a:tblGrid>
              <a:tr h="247963">
                <a:tc>
                  <a:txBody>
                    <a:bodyPr/>
                    <a:lstStyle/>
                    <a:p>
                      <a:pPr algn="ctr">
                        <a:lnSpc>
                          <a:spcPct val="100000"/>
                        </a:lnSpc>
                        <a:spcBef>
                          <a:spcPts val="0"/>
                        </a:spcBef>
                        <a:spcAft>
                          <a:spcPts val="0"/>
                        </a:spcAft>
                      </a:pPr>
                      <a:r>
                        <a:rPr lang="en-IN" sz="900" dirty="0">
                          <a:effectLst/>
                        </a:rPr>
                        <a:t>Plant</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tc>
                  <a:txBody>
                    <a:bodyPr/>
                    <a:lstStyle/>
                    <a:p>
                      <a:pPr algn="ctr">
                        <a:lnSpc>
                          <a:spcPct val="100000"/>
                        </a:lnSpc>
                        <a:spcBef>
                          <a:spcPts val="0"/>
                        </a:spcBef>
                        <a:spcAft>
                          <a:spcPts val="0"/>
                        </a:spcAft>
                      </a:pPr>
                      <a:r>
                        <a:rPr lang="en-IN" sz="900" dirty="0">
                          <a:effectLst/>
                        </a:rPr>
                        <a:t>Capacity (MW)</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tc>
                  <a:txBody>
                    <a:bodyPr/>
                    <a:lstStyle/>
                    <a:p>
                      <a:pPr algn="ctr">
                        <a:lnSpc>
                          <a:spcPct val="100000"/>
                        </a:lnSpc>
                        <a:spcBef>
                          <a:spcPts val="0"/>
                        </a:spcBef>
                        <a:spcAft>
                          <a:spcPts val="0"/>
                        </a:spcAft>
                      </a:pPr>
                      <a:r>
                        <a:rPr lang="en-US" sz="900" dirty="0">
                          <a:effectLst/>
                          <a:latin typeface="Verdana" panose="020B0604030504040204" pitchFamily="34" charset="0"/>
                          <a:ea typeface="Verdana" panose="020B0604030504040204" pitchFamily="34" charset="0"/>
                          <a:cs typeface="Times New Roman" panose="02020603050405020304" pitchFamily="18" charset="0"/>
                        </a:rPr>
                        <a:t>Current</a:t>
                      </a:r>
                      <a:r>
                        <a:rPr lang="en-US" sz="900" baseline="0" dirty="0">
                          <a:effectLst/>
                          <a:latin typeface="Verdana" panose="020B0604030504040204" pitchFamily="34" charset="0"/>
                          <a:ea typeface="Verdana" panose="020B0604030504040204" pitchFamily="34" charset="0"/>
                          <a:cs typeface="Times New Roman" panose="02020603050405020304" pitchFamily="18" charset="0"/>
                        </a:rPr>
                        <a:t> Status</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extLst>
                  <a:ext uri="{0D108BD9-81ED-4DB2-BD59-A6C34878D82A}">
                    <a16:rowId xmlns:a16="http://schemas.microsoft.com/office/drawing/2014/main" val="4036299370"/>
                  </a:ext>
                </a:extLst>
              </a:tr>
              <a:tr h="936750">
                <a:tc>
                  <a:txBody>
                    <a:bodyPr/>
                    <a:lstStyle/>
                    <a:p>
                      <a:pPr algn="l">
                        <a:lnSpc>
                          <a:spcPct val="100000"/>
                        </a:lnSpc>
                        <a:spcBef>
                          <a:spcPts val="0"/>
                        </a:spcBef>
                        <a:spcAft>
                          <a:spcPts val="0"/>
                        </a:spcAft>
                      </a:pPr>
                      <a:r>
                        <a:rPr lang="en-US" sz="900" b="0" dirty="0">
                          <a:effectLst/>
                          <a:latin typeface="+mn-lt"/>
                          <a:ea typeface="+mn-ea"/>
                          <a:cs typeface="+mn-cs"/>
                        </a:rPr>
                        <a:t>750</a:t>
                      </a:r>
                      <a:r>
                        <a:rPr lang="en-US" sz="900" b="0" baseline="0" dirty="0">
                          <a:effectLst/>
                          <a:latin typeface="+mn-lt"/>
                          <a:ea typeface="+mn-ea"/>
                          <a:cs typeface="+mn-cs"/>
                        </a:rPr>
                        <a:t> MW CCPP – Reliance Power</a:t>
                      </a:r>
                      <a:endParaRPr lang="en-IN" sz="900" b="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tc>
                  <a:txBody>
                    <a:bodyPr/>
                    <a:lstStyle/>
                    <a:p>
                      <a:pPr algn="ctr">
                        <a:lnSpc>
                          <a:spcPct val="100000"/>
                        </a:lnSpc>
                        <a:spcBef>
                          <a:spcPts val="0"/>
                        </a:spcBef>
                        <a:spcAft>
                          <a:spcPts val="0"/>
                        </a:spcAft>
                      </a:pPr>
                      <a:r>
                        <a:rPr lang="en-IN" sz="900" b="1" dirty="0">
                          <a:effectLst/>
                        </a:rPr>
                        <a:t>718 MW</a:t>
                      </a:r>
                      <a:endParaRPr lang="en-IN" sz="900" b="1"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tc>
                  <a:txBody>
                    <a:bodyPr/>
                    <a:lstStyle/>
                    <a:p>
                      <a:pPr marL="171450" indent="-171450" algn="l">
                        <a:lnSpc>
                          <a:spcPct val="100000"/>
                        </a:lnSpc>
                        <a:spcBef>
                          <a:spcPts val="0"/>
                        </a:spcBef>
                        <a:spcAft>
                          <a:spcPts val="0"/>
                        </a:spcAft>
                        <a:buFont typeface="Arial" panose="020B0604020202020204" pitchFamily="34" charset="0"/>
                        <a:buChar char="•"/>
                      </a:pPr>
                      <a:r>
                        <a:rPr lang="en-US" sz="900" dirty="0">
                          <a:effectLst/>
                          <a:latin typeface="Verdana" panose="020B0604030504040204" pitchFamily="34" charset="0"/>
                          <a:ea typeface="Verdana" panose="020B0604030504040204" pitchFamily="34" charset="0"/>
                          <a:cs typeface="Times New Roman" panose="02020603050405020304" pitchFamily="18" charset="0"/>
                        </a:rPr>
                        <a:t>The estimated investment for the project is ~USD</a:t>
                      </a:r>
                      <a:r>
                        <a:rPr lang="en-US" sz="900" baseline="0" dirty="0">
                          <a:effectLst/>
                          <a:latin typeface="Verdana" panose="020B0604030504040204" pitchFamily="34" charset="0"/>
                          <a:ea typeface="Verdana" panose="020B0604030504040204" pitchFamily="34" charset="0"/>
                          <a:cs typeface="Times New Roman" panose="02020603050405020304" pitchFamily="18" charset="0"/>
                        </a:rPr>
                        <a:t> </a:t>
                      </a:r>
                      <a:r>
                        <a:rPr lang="en-US" sz="900" dirty="0">
                          <a:effectLst/>
                          <a:latin typeface="Verdana" panose="020B0604030504040204" pitchFamily="34" charset="0"/>
                          <a:ea typeface="Verdana" panose="020B0604030504040204" pitchFamily="34" charset="0"/>
                          <a:cs typeface="Times New Roman" panose="02020603050405020304" pitchFamily="18" charset="0"/>
                        </a:rPr>
                        <a:t>1 Billion</a:t>
                      </a:r>
                      <a:r>
                        <a:rPr lang="en-US" sz="900" baseline="0" dirty="0">
                          <a:effectLst/>
                          <a:latin typeface="Verdana" panose="020B0604030504040204" pitchFamily="34" charset="0"/>
                          <a:ea typeface="Verdana" panose="020B0604030504040204" pitchFamily="34" charset="0"/>
                          <a:cs typeface="Times New Roman" panose="02020603050405020304" pitchFamily="18" charset="0"/>
                        </a:rPr>
                        <a:t> including ~500 MMSCFD of FSRU based LNG Terminal by FY23.</a:t>
                      </a:r>
                    </a:p>
                    <a:p>
                      <a:pPr marL="171450" indent="-171450" algn="l">
                        <a:lnSpc>
                          <a:spcPct val="100000"/>
                        </a:lnSpc>
                        <a:spcBef>
                          <a:spcPts val="0"/>
                        </a:spcBef>
                        <a:spcAft>
                          <a:spcPts val="0"/>
                        </a:spcAft>
                        <a:buFont typeface="Arial" panose="020B0604020202020204" pitchFamily="34" charset="0"/>
                        <a:buChar char="•"/>
                      </a:pPr>
                      <a:r>
                        <a:rPr lang="en-US" sz="900" baseline="0" dirty="0">
                          <a:effectLst/>
                          <a:latin typeface="Verdana" panose="020B0604030504040204" pitchFamily="34" charset="0"/>
                          <a:ea typeface="Verdana" panose="020B0604030504040204" pitchFamily="34" charset="0"/>
                          <a:cs typeface="Times New Roman" panose="02020603050405020304" pitchFamily="18" charset="0"/>
                        </a:rPr>
                        <a:t>Currently as per Industry Sources, the Plant is being taken over by JERA with the FSRU not being part of the deal </a:t>
                      </a:r>
                    </a:p>
                    <a:p>
                      <a:pPr marL="171450" indent="-171450" algn="l">
                        <a:lnSpc>
                          <a:spcPct val="100000"/>
                        </a:lnSpc>
                        <a:spcBef>
                          <a:spcPts val="0"/>
                        </a:spcBef>
                        <a:spcAft>
                          <a:spcPts val="0"/>
                        </a:spcAft>
                        <a:buFont typeface="Arial" panose="020B0604020202020204" pitchFamily="34" charset="0"/>
                        <a:buChar char="•"/>
                      </a:pPr>
                      <a:r>
                        <a:rPr lang="en-US" sz="900" baseline="0" dirty="0">
                          <a:effectLst/>
                          <a:latin typeface="Verdana" panose="020B0604030504040204" pitchFamily="34" charset="0"/>
                          <a:ea typeface="Verdana" panose="020B0604030504040204" pitchFamily="34" charset="0"/>
                          <a:cs typeface="Times New Roman" panose="02020603050405020304" pitchFamily="18" charset="0"/>
                        </a:rPr>
                        <a:t>Considering financial challenges being faced by RPower, the project may get delayed beyond FY26</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extLst>
                  <a:ext uri="{0D108BD9-81ED-4DB2-BD59-A6C34878D82A}">
                    <a16:rowId xmlns:a16="http://schemas.microsoft.com/office/drawing/2014/main" val="3162774779"/>
                  </a:ext>
                </a:extLst>
              </a:tr>
              <a:tr h="84582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IN" sz="900" b="0" dirty="0">
                          <a:effectLst/>
                        </a:rPr>
                        <a:t>Roazan 400 MW+-10% CCPP - BPDB</a:t>
                      </a:r>
                      <a:endParaRPr lang="en-IN" sz="900" b="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tc>
                  <a:txBody>
                    <a:bodyPr/>
                    <a:lstStyle/>
                    <a:p>
                      <a:pPr algn="ctr">
                        <a:lnSpc>
                          <a:spcPct val="100000"/>
                        </a:lnSpc>
                        <a:spcBef>
                          <a:spcPts val="0"/>
                        </a:spcBef>
                        <a:spcAft>
                          <a:spcPts val="0"/>
                        </a:spcAft>
                      </a:pPr>
                      <a:r>
                        <a:rPr lang="en-US" sz="900" b="1" dirty="0">
                          <a:effectLst/>
                          <a:latin typeface="Verdana" panose="020B0604030504040204" pitchFamily="34" charset="0"/>
                          <a:ea typeface="Verdana" panose="020B0604030504040204" pitchFamily="34" charset="0"/>
                          <a:cs typeface="Times New Roman" panose="02020603050405020304" pitchFamily="18" charset="0"/>
                        </a:rPr>
                        <a:t>450 MW</a:t>
                      </a:r>
                      <a:endParaRPr lang="en-IN" sz="900" b="1"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tc>
                  <a:txBody>
                    <a:bodyPr/>
                    <a:lstStyle/>
                    <a:p>
                      <a:pPr marL="171450" indent="-171450" algn="l">
                        <a:lnSpc>
                          <a:spcPct val="100000"/>
                        </a:lnSpc>
                        <a:spcBef>
                          <a:spcPts val="0"/>
                        </a:spcBef>
                        <a:spcAft>
                          <a:spcPts val="0"/>
                        </a:spcAft>
                        <a:buFont typeface="Arial" panose="020B0604020202020204" pitchFamily="34" charset="0"/>
                        <a:buChar char="•"/>
                      </a:pPr>
                      <a:r>
                        <a:rPr lang="en-US" sz="900" dirty="0">
                          <a:effectLst/>
                          <a:latin typeface="Verdana" panose="020B0604030504040204" pitchFamily="34" charset="0"/>
                          <a:ea typeface="Verdana" panose="020B0604030504040204" pitchFamily="34" charset="0"/>
                          <a:cs typeface="Times New Roman" panose="02020603050405020304" pitchFamily="18" charset="0"/>
                        </a:rPr>
                        <a:t>Tender Document issued in December</a:t>
                      </a:r>
                      <a:r>
                        <a:rPr lang="en-US" sz="900" baseline="0" dirty="0">
                          <a:effectLst/>
                          <a:latin typeface="Verdana" panose="020B0604030504040204" pitchFamily="34" charset="0"/>
                          <a:ea typeface="Verdana" panose="020B0604030504040204" pitchFamily="34" charset="0"/>
                          <a:cs typeface="Times New Roman" panose="02020603050405020304" pitchFamily="18" charset="0"/>
                        </a:rPr>
                        <a:t> 2019</a:t>
                      </a:r>
                    </a:p>
                    <a:p>
                      <a:pPr marL="171450" indent="-171450" algn="l">
                        <a:lnSpc>
                          <a:spcPct val="100000"/>
                        </a:lnSpc>
                        <a:spcBef>
                          <a:spcPts val="0"/>
                        </a:spcBef>
                        <a:spcAft>
                          <a:spcPts val="0"/>
                        </a:spcAft>
                        <a:buFont typeface="Arial" panose="020B0604020202020204" pitchFamily="34" charset="0"/>
                        <a:buChar char="•"/>
                      </a:pPr>
                      <a:r>
                        <a:rPr lang="en-US" sz="900" baseline="0" dirty="0">
                          <a:effectLst/>
                          <a:latin typeface="Verdana" panose="020B0604030504040204" pitchFamily="34" charset="0"/>
                          <a:ea typeface="Verdana" panose="020B0604030504040204" pitchFamily="34" charset="0"/>
                          <a:cs typeface="Times New Roman" panose="02020603050405020304" pitchFamily="18" charset="0"/>
                        </a:rPr>
                        <a:t>Considering Covid-19 related delay of 6 months and construction period of 3-4 years after EPC Contractor Selection the project may get delayed beyond FY26</a:t>
                      </a:r>
                      <a:endParaRPr lang="en-IN" sz="900" baseline="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extLst>
                  <a:ext uri="{0D108BD9-81ED-4DB2-BD59-A6C34878D82A}">
                    <a16:rowId xmlns:a16="http://schemas.microsoft.com/office/drawing/2014/main" val="2514555971"/>
                  </a:ext>
                </a:extLst>
              </a:tr>
              <a:tr h="440824">
                <a:tc>
                  <a:txBody>
                    <a:bodyPr/>
                    <a:lstStyle/>
                    <a:p>
                      <a:pPr algn="l">
                        <a:lnSpc>
                          <a:spcPct val="100000"/>
                        </a:lnSpc>
                        <a:spcBef>
                          <a:spcPts val="0"/>
                        </a:spcBef>
                        <a:spcAft>
                          <a:spcPts val="0"/>
                        </a:spcAft>
                      </a:pPr>
                      <a:r>
                        <a:rPr lang="en-IN" sz="900" b="0" dirty="0">
                          <a:effectLst/>
                        </a:rPr>
                        <a:t>Meghnaghat</a:t>
                      </a:r>
                      <a:r>
                        <a:rPr lang="en-IN" sz="900" b="0" baseline="0" dirty="0">
                          <a:effectLst/>
                        </a:rPr>
                        <a:t> 600 MW CCPP - Summit</a:t>
                      </a:r>
                      <a:endParaRPr lang="en-IN" sz="900" b="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tc>
                  <a:txBody>
                    <a:bodyPr/>
                    <a:lstStyle/>
                    <a:p>
                      <a:pPr algn="ctr">
                        <a:lnSpc>
                          <a:spcPct val="100000"/>
                        </a:lnSpc>
                        <a:spcBef>
                          <a:spcPts val="0"/>
                        </a:spcBef>
                        <a:spcAft>
                          <a:spcPts val="0"/>
                        </a:spcAft>
                      </a:pPr>
                      <a:r>
                        <a:rPr lang="en-IN" sz="900" b="1" dirty="0">
                          <a:effectLst/>
                        </a:rPr>
                        <a:t>583 MW</a:t>
                      </a:r>
                      <a:endParaRPr lang="en-IN" sz="900" b="1"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tc>
                  <a:txBody>
                    <a:bodyPr/>
                    <a:lstStyle/>
                    <a:p>
                      <a:pPr marL="171450" indent="-171450" algn="l">
                        <a:lnSpc>
                          <a:spcPct val="100000"/>
                        </a:lnSpc>
                        <a:spcBef>
                          <a:spcPts val="0"/>
                        </a:spcBef>
                        <a:spcAft>
                          <a:spcPts val="0"/>
                        </a:spcAft>
                        <a:buFont typeface="Arial" panose="020B0604020202020204" pitchFamily="34" charset="0"/>
                        <a:buChar char="•"/>
                      </a:pPr>
                      <a:r>
                        <a:rPr lang="en-US" sz="900" dirty="0">
                          <a:effectLst/>
                          <a:latin typeface="Verdana" panose="020B0604030504040204" pitchFamily="34" charset="0"/>
                          <a:ea typeface="Verdana" panose="020B0604030504040204" pitchFamily="34" charset="0"/>
                          <a:cs typeface="Times New Roman" panose="02020603050405020304" pitchFamily="18" charset="0"/>
                        </a:rPr>
                        <a:t>PPA Agreement signed with BPDB in March 2019</a:t>
                      </a:r>
                    </a:p>
                    <a:p>
                      <a:pPr marL="171450" indent="-171450" algn="l">
                        <a:lnSpc>
                          <a:spcPct val="100000"/>
                        </a:lnSpc>
                        <a:spcBef>
                          <a:spcPts val="0"/>
                        </a:spcBef>
                        <a:spcAft>
                          <a:spcPts val="0"/>
                        </a:spcAft>
                        <a:buFont typeface="Arial" panose="020B0604020202020204" pitchFamily="34" charset="0"/>
                        <a:buChar char="•"/>
                      </a:pPr>
                      <a:r>
                        <a:rPr lang="en-US" sz="900" dirty="0">
                          <a:effectLst/>
                          <a:latin typeface="Verdana" panose="020B0604030504040204" pitchFamily="34" charset="0"/>
                          <a:ea typeface="Verdana" panose="020B0604030504040204" pitchFamily="34" charset="0"/>
                          <a:cs typeface="Times New Roman" panose="02020603050405020304" pitchFamily="18" charset="0"/>
                        </a:rPr>
                        <a:t>Expected</a:t>
                      </a:r>
                      <a:r>
                        <a:rPr lang="en-US" sz="900" baseline="0" dirty="0">
                          <a:effectLst/>
                          <a:latin typeface="Verdana" panose="020B0604030504040204" pitchFamily="34" charset="0"/>
                          <a:ea typeface="Verdana" panose="020B0604030504040204" pitchFamily="34" charset="0"/>
                          <a:cs typeface="Times New Roman" panose="02020603050405020304" pitchFamily="18" charset="0"/>
                        </a:rPr>
                        <a:t> completion in FY24</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extLst>
                  <a:ext uri="{0D108BD9-81ED-4DB2-BD59-A6C34878D82A}">
                    <a16:rowId xmlns:a16="http://schemas.microsoft.com/office/drawing/2014/main" val="843618862"/>
                  </a:ext>
                </a:extLst>
              </a:tr>
              <a:tr h="247963">
                <a:tc>
                  <a:txBody>
                    <a:bodyPr/>
                    <a:lstStyle/>
                    <a:p>
                      <a:pPr algn="l">
                        <a:lnSpc>
                          <a:spcPct val="100000"/>
                        </a:lnSpc>
                        <a:spcBef>
                          <a:spcPts val="0"/>
                        </a:spcBef>
                        <a:spcAft>
                          <a:spcPts val="0"/>
                        </a:spcAft>
                      </a:pPr>
                      <a:r>
                        <a:rPr lang="en-IN" sz="900" b="0" dirty="0">
                          <a:effectLst/>
                        </a:rPr>
                        <a:t>Haripur 250 MW CCPP - BPDB</a:t>
                      </a:r>
                      <a:endParaRPr lang="en-IN" sz="900" b="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tc>
                  <a:txBody>
                    <a:bodyPr/>
                    <a:lstStyle/>
                    <a:p>
                      <a:pPr algn="ctr">
                        <a:lnSpc>
                          <a:spcPct val="100000"/>
                        </a:lnSpc>
                        <a:spcBef>
                          <a:spcPts val="0"/>
                        </a:spcBef>
                        <a:spcAft>
                          <a:spcPts val="0"/>
                        </a:spcAft>
                      </a:pPr>
                      <a:r>
                        <a:rPr lang="en-IN" sz="900" b="1" dirty="0">
                          <a:effectLst/>
                        </a:rPr>
                        <a:t>250 MW</a:t>
                      </a:r>
                      <a:endParaRPr lang="en-IN" sz="900" b="1"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tc>
                  <a:txBody>
                    <a:bodyPr/>
                    <a:lstStyle/>
                    <a:p>
                      <a:pPr marL="171450" indent="-171450" algn="l">
                        <a:lnSpc>
                          <a:spcPct val="100000"/>
                        </a:lnSpc>
                        <a:spcBef>
                          <a:spcPts val="0"/>
                        </a:spcBef>
                        <a:spcAft>
                          <a:spcPts val="0"/>
                        </a:spcAft>
                        <a:buFont typeface="Arial" panose="020B0604020202020204" pitchFamily="34" charset="0"/>
                        <a:buChar char="•"/>
                      </a:pPr>
                      <a:r>
                        <a:rPr lang="en-US" sz="900" dirty="0">
                          <a:effectLst/>
                          <a:latin typeface="Verdana" panose="020B0604030504040204" pitchFamily="34" charset="0"/>
                          <a:ea typeface="Verdana" panose="020B0604030504040204" pitchFamily="34" charset="0"/>
                          <a:cs typeface="Times New Roman" panose="02020603050405020304" pitchFamily="18" charset="0"/>
                        </a:rPr>
                        <a:t>Not likely to go through by FY26 due to low on-ground progress</a:t>
                      </a:r>
                    </a:p>
                  </a:txBody>
                  <a:tcPr marL="72000" marR="36000" marT="0" marB="0"/>
                </a:tc>
                <a:extLst>
                  <a:ext uri="{0D108BD9-81ED-4DB2-BD59-A6C34878D82A}">
                    <a16:rowId xmlns:a16="http://schemas.microsoft.com/office/drawing/2014/main" val="2637698655"/>
                  </a:ext>
                </a:extLst>
              </a:tr>
              <a:tr h="440824">
                <a:tc>
                  <a:txBody>
                    <a:bodyPr/>
                    <a:lstStyle/>
                    <a:p>
                      <a:pPr algn="l">
                        <a:lnSpc>
                          <a:spcPct val="100000"/>
                        </a:lnSpc>
                        <a:spcBef>
                          <a:spcPts val="0"/>
                        </a:spcBef>
                        <a:spcAft>
                          <a:spcPts val="0"/>
                        </a:spcAft>
                      </a:pPr>
                      <a:r>
                        <a:rPr lang="en-IN" sz="900" b="0" dirty="0">
                          <a:effectLst/>
                        </a:rPr>
                        <a:t>Meghnaghat</a:t>
                      </a:r>
                      <a:r>
                        <a:rPr lang="en-IN" sz="900" b="0" baseline="0" dirty="0">
                          <a:effectLst/>
                        </a:rPr>
                        <a:t> 600 MW CCPP – UMPL</a:t>
                      </a:r>
                      <a:endParaRPr lang="en-IN" sz="900" b="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tc>
                  <a:txBody>
                    <a:bodyPr/>
                    <a:lstStyle/>
                    <a:p>
                      <a:pPr algn="ctr">
                        <a:lnSpc>
                          <a:spcPct val="100000"/>
                        </a:lnSpc>
                        <a:spcBef>
                          <a:spcPts val="0"/>
                        </a:spcBef>
                        <a:spcAft>
                          <a:spcPts val="0"/>
                        </a:spcAft>
                      </a:pPr>
                      <a:r>
                        <a:rPr lang="en-IN" sz="900" b="1" dirty="0">
                          <a:effectLst/>
                        </a:rPr>
                        <a:t>584 MW</a:t>
                      </a:r>
                      <a:endParaRPr lang="en-IN" sz="900" b="1"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tc>
                  <a:txBody>
                    <a:bodyPr/>
                    <a:lstStyle/>
                    <a:p>
                      <a:pPr marL="171450" indent="-171450" algn="l">
                        <a:lnSpc>
                          <a:spcPct val="100000"/>
                        </a:lnSpc>
                        <a:spcBef>
                          <a:spcPts val="0"/>
                        </a:spcBef>
                        <a:spcAft>
                          <a:spcPts val="0"/>
                        </a:spcAft>
                        <a:buFont typeface="Arial" panose="020B0604020202020204" pitchFamily="34" charset="0"/>
                        <a:buChar char="•"/>
                      </a:pPr>
                      <a:r>
                        <a:rPr lang="en-US" sz="900" dirty="0">
                          <a:effectLst/>
                          <a:latin typeface="Verdana" panose="020B0604030504040204" pitchFamily="34" charset="0"/>
                          <a:ea typeface="Verdana" panose="020B0604030504040204" pitchFamily="34" charset="0"/>
                          <a:cs typeface="Times New Roman" panose="02020603050405020304" pitchFamily="18" charset="0"/>
                        </a:rPr>
                        <a:t>PPA Agreement signed with BPDB in July 2019</a:t>
                      </a:r>
                    </a:p>
                    <a:p>
                      <a:pPr marL="171450" indent="-171450" algn="l">
                        <a:lnSpc>
                          <a:spcPct val="100000"/>
                        </a:lnSpc>
                        <a:spcBef>
                          <a:spcPts val="0"/>
                        </a:spcBef>
                        <a:spcAft>
                          <a:spcPts val="0"/>
                        </a:spcAft>
                        <a:buFont typeface="Arial" panose="020B0604020202020204" pitchFamily="34" charset="0"/>
                        <a:buChar char="•"/>
                      </a:pPr>
                      <a:r>
                        <a:rPr lang="en-US" sz="900" dirty="0">
                          <a:effectLst/>
                          <a:latin typeface="Verdana" panose="020B0604030504040204" pitchFamily="34" charset="0"/>
                          <a:ea typeface="Verdana" panose="020B0604030504040204" pitchFamily="34" charset="0"/>
                          <a:cs typeface="Times New Roman" panose="02020603050405020304" pitchFamily="18" charset="0"/>
                        </a:rPr>
                        <a:t>Expected Completion in FY24</a:t>
                      </a:r>
                      <a:endParaRPr lang="en-IN" sz="90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extLst>
                  <a:ext uri="{0D108BD9-81ED-4DB2-BD59-A6C34878D82A}">
                    <a16:rowId xmlns:a16="http://schemas.microsoft.com/office/drawing/2014/main" val="459382313"/>
                  </a:ext>
                </a:extLst>
              </a:tr>
              <a:tr h="371945">
                <a:tc>
                  <a:txBody>
                    <a:bodyPr/>
                    <a:lstStyle/>
                    <a:p>
                      <a:pPr algn="l">
                        <a:lnSpc>
                          <a:spcPct val="100000"/>
                        </a:lnSpc>
                        <a:spcBef>
                          <a:spcPts val="0"/>
                        </a:spcBef>
                        <a:spcAft>
                          <a:spcPts val="0"/>
                        </a:spcAft>
                      </a:pPr>
                      <a:r>
                        <a:rPr lang="en-US" sz="900" b="0" dirty="0">
                          <a:effectLst/>
                          <a:latin typeface="Verdana" panose="020B0604030504040204" pitchFamily="34" charset="0"/>
                          <a:ea typeface="Verdana" panose="020B0604030504040204" pitchFamily="34" charset="0"/>
                          <a:cs typeface="Times New Roman" panose="02020603050405020304" pitchFamily="18" charset="0"/>
                        </a:rPr>
                        <a:t>Meghnaghat 500</a:t>
                      </a:r>
                      <a:r>
                        <a:rPr lang="en-US" sz="900" b="0" baseline="0" dirty="0">
                          <a:effectLst/>
                          <a:latin typeface="Verdana" panose="020B0604030504040204" pitchFamily="34" charset="0"/>
                          <a:ea typeface="Verdana" panose="020B0604030504040204" pitchFamily="34" charset="0"/>
                          <a:cs typeface="Times New Roman" panose="02020603050405020304" pitchFamily="18" charset="0"/>
                        </a:rPr>
                        <a:t> MW -  Anlima Textile &amp; GE</a:t>
                      </a:r>
                      <a:endParaRPr lang="en-IN" sz="900" b="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tc>
                  <a:txBody>
                    <a:bodyPr/>
                    <a:lstStyle/>
                    <a:p>
                      <a:pPr algn="ctr">
                        <a:lnSpc>
                          <a:spcPct val="100000"/>
                        </a:lnSpc>
                        <a:spcBef>
                          <a:spcPts val="0"/>
                        </a:spcBef>
                        <a:spcAft>
                          <a:spcPts val="0"/>
                        </a:spcAft>
                      </a:pPr>
                      <a:r>
                        <a:rPr lang="en-US" sz="900" b="1" dirty="0">
                          <a:effectLst/>
                          <a:latin typeface="Verdana" panose="020B0604030504040204" pitchFamily="34" charset="0"/>
                          <a:ea typeface="Verdana" panose="020B0604030504040204" pitchFamily="34" charset="0"/>
                          <a:cs typeface="Times New Roman" panose="02020603050405020304" pitchFamily="18" charset="0"/>
                        </a:rPr>
                        <a:t>450</a:t>
                      </a:r>
                      <a:r>
                        <a:rPr lang="en-US" sz="900" b="1" baseline="0" dirty="0">
                          <a:effectLst/>
                          <a:latin typeface="Verdana" panose="020B0604030504040204" pitchFamily="34" charset="0"/>
                          <a:ea typeface="Verdana" panose="020B0604030504040204" pitchFamily="34" charset="0"/>
                          <a:cs typeface="Times New Roman" panose="02020603050405020304" pitchFamily="18" charset="0"/>
                        </a:rPr>
                        <a:t> MW</a:t>
                      </a:r>
                      <a:endParaRPr lang="en-IN" sz="900" b="1"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tc>
                  <a:txBody>
                    <a:bodyPr/>
                    <a:lstStyle/>
                    <a:p>
                      <a:pPr marL="171450" indent="-171450" algn="l">
                        <a:lnSpc>
                          <a:spcPct val="100000"/>
                        </a:lnSpc>
                        <a:spcBef>
                          <a:spcPts val="0"/>
                        </a:spcBef>
                        <a:spcAft>
                          <a:spcPts val="0"/>
                        </a:spcAft>
                        <a:buFont typeface="Arial" panose="020B0604020202020204" pitchFamily="34" charset="0"/>
                        <a:buChar char="•"/>
                      </a:pPr>
                      <a:r>
                        <a:rPr lang="en-US" sz="900" dirty="0">
                          <a:effectLst/>
                          <a:latin typeface="Verdana" panose="020B0604030504040204" pitchFamily="34" charset="0"/>
                          <a:ea typeface="Verdana" panose="020B0604030504040204" pitchFamily="34" charset="0"/>
                          <a:cs typeface="Times New Roman" panose="02020603050405020304" pitchFamily="18" charset="0"/>
                        </a:rPr>
                        <a:t>Proposal</a:t>
                      </a:r>
                      <a:r>
                        <a:rPr lang="en-US" sz="900" baseline="0" dirty="0">
                          <a:effectLst/>
                          <a:latin typeface="Verdana" panose="020B0604030504040204" pitchFamily="34" charset="0"/>
                          <a:ea typeface="Verdana" panose="020B0604030504040204" pitchFamily="34" charset="0"/>
                          <a:cs typeface="Times New Roman" panose="02020603050405020304" pitchFamily="18" charset="0"/>
                        </a:rPr>
                        <a:t> under evaluation by MPEMR as on May 2019</a:t>
                      </a:r>
                    </a:p>
                  </a:txBody>
                  <a:tcPr marL="72000" marR="36000" marT="0" marB="0"/>
                </a:tc>
                <a:extLst>
                  <a:ext uri="{0D108BD9-81ED-4DB2-BD59-A6C34878D82A}">
                    <a16:rowId xmlns:a16="http://schemas.microsoft.com/office/drawing/2014/main" val="1492890216"/>
                  </a:ext>
                </a:extLst>
              </a:tr>
              <a:tr h="564805">
                <a:tc>
                  <a:txBody>
                    <a:bodyPr/>
                    <a:lstStyle/>
                    <a:p>
                      <a:pPr algn="l">
                        <a:lnSpc>
                          <a:spcPct val="100000"/>
                        </a:lnSpc>
                        <a:spcBef>
                          <a:spcPts val="0"/>
                        </a:spcBef>
                        <a:spcAft>
                          <a:spcPts val="0"/>
                        </a:spcAft>
                      </a:pPr>
                      <a:r>
                        <a:rPr lang="en-US" sz="900" b="0" dirty="0">
                          <a:effectLst/>
                          <a:latin typeface="Verdana" panose="020B0604030504040204" pitchFamily="34" charset="0"/>
                          <a:ea typeface="Verdana" panose="020B0604030504040204" pitchFamily="34" charset="0"/>
                          <a:cs typeface="Times New Roman" panose="02020603050405020304" pitchFamily="18" charset="0"/>
                        </a:rPr>
                        <a:t>Meghnaghat UECL</a:t>
                      </a:r>
                      <a:endParaRPr lang="en-IN" sz="900" b="0" dirty="0">
                        <a:effectLst/>
                        <a:latin typeface="Verdana" panose="020B0604030504040204" pitchFamily="34" charset="0"/>
                        <a:ea typeface="Verdana" panose="020B0604030504040204" pitchFamily="34" charset="0"/>
                        <a:cs typeface="Times New Roman" panose="02020603050405020304" pitchFamily="18" charset="0"/>
                      </a:endParaRPr>
                    </a:p>
                    <a:p>
                      <a:pPr algn="l">
                        <a:lnSpc>
                          <a:spcPct val="100000"/>
                        </a:lnSpc>
                        <a:spcBef>
                          <a:spcPts val="0"/>
                        </a:spcBef>
                        <a:spcAft>
                          <a:spcPts val="0"/>
                        </a:spcAft>
                      </a:pPr>
                      <a:r>
                        <a:rPr lang="en-US" sz="900" b="0" dirty="0">
                          <a:effectLst/>
                          <a:latin typeface="Verdana" panose="020B0604030504040204" pitchFamily="34" charset="0"/>
                          <a:ea typeface="Verdana" panose="020B0604030504040204" pitchFamily="34" charset="0"/>
                          <a:cs typeface="Times New Roman" panose="02020603050405020304" pitchFamily="18" charset="0"/>
                        </a:rPr>
                        <a:t>(Not present</a:t>
                      </a:r>
                      <a:r>
                        <a:rPr lang="en-US" sz="900" b="0" baseline="0" dirty="0">
                          <a:effectLst/>
                          <a:latin typeface="Verdana" panose="020B0604030504040204" pitchFamily="34" charset="0"/>
                          <a:ea typeface="Verdana" panose="020B0604030504040204" pitchFamily="34" charset="0"/>
                          <a:cs typeface="Times New Roman" panose="02020603050405020304" pitchFamily="18" charset="0"/>
                        </a:rPr>
                        <a:t> in BPDB Projection)</a:t>
                      </a:r>
                      <a:endParaRPr lang="en-IN" sz="900" b="0"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tc>
                  <a:txBody>
                    <a:bodyPr/>
                    <a:lstStyle/>
                    <a:p>
                      <a:pPr algn="ctr">
                        <a:lnSpc>
                          <a:spcPct val="100000"/>
                        </a:lnSpc>
                        <a:spcBef>
                          <a:spcPts val="0"/>
                        </a:spcBef>
                        <a:spcAft>
                          <a:spcPts val="0"/>
                        </a:spcAft>
                      </a:pPr>
                      <a:r>
                        <a:rPr lang="en-US" sz="900" b="1" dirty="0">
                          <a:effectLst/>
                          <a:latin typeface="Verdana" panose="020B0604030504040204" pitchFamily="34" charset="0"/>
                          <a:ea typeface="Verdana" panose="020B0604030504040204" pitchFamily="34" charset="0"/>
                          <a:cs typeface="Times New Roman" panose="02020603050405020304" pitchFamily="18" charset="0"/>
                        </a:rPr>
                        <a:t>450 MW</a:t>
                      </a:r>
                      <a:endParaRPr lang="en-IN" sz="900" b="1"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tc>
                  <a:txBody>
                    <a:bodyPr/>
                    <a:lstStyle/>
                    <a:p>
                      <a:pPr marL="171450" indent="-171450" algn="l">
                        <a:lnSpc>
                          <a:spcPct val="100000"/>
                        </a:lnSpc>
                        <a:spcBef>
                          <a:spcPts val="0"/>
                        </a:spcBef>
                        <a:spcAft>
                          <a:spcPts val="0"/>
                        </a:spcAft>
                        <a:buFont typeface="Arial" panose="020B0604020202020204" pitchFamily="34" charset="0"/>
                        <a:buChar char="•"/>
                      </a:pPr>
                      <a:r>
                        <a:rPr lang="en-US" sz="900" dirty="0">
                          <a:effectLst/>
                          <a:latin typeface="Verdana" panose="020B0604030504040204" pitchFamily="34" charset="0"/>
                          <a:ea typeface="Verdana" panose="020B0604030504040204" pitchFamily="34" charset="0"/>
                          <a:cs typeface="Times New Roman" panose="02020603050405020304" pitchFamily="18" charset="0"/>
                        </a:rPr>
                        <a:t>Under Consideration by Cabinet Committee as on May 2019</a:t>
                      </a:r>
                    </a:p>
                    <a:p>
                      <a:pPr marL="171450" indent="-171450" algn="l">
                        <a:lnSpc>
                          <a:spcPct val="100000"/>
                        </a:lnSpc>
                        <a:spcBef>
                          <a:spcPts val="0"/>
                        </a:spcBef>
                        <a:spcAft>
                          <a:spcPts val="0"/>
                        </a:spcAft>
                        <a:buFont typeface="Arial" panose="020B0604020202020204" pitchFamily="34" charset="0"/>
                        <a:buChar char="•"/>
                      </a:pPr>
                      <a:r>
                        <a:rPr lang="en-US" sz="900" b="1" dirty="0">
                          <a:effectLst/>
                          <a:latin typeface="Verdana" panose="020B0604030504040204" pitchFamily="34" charset="0"/>
                          <a:ea typeface="Verdana" panose="020B0604030504040204" pitchFamily="34" charset="0"/>
                          <a:cs typeface="Times New Roman" panose="02020603050405020304" pitchFamily="18" charset="0"/>
                        </a:rPr>
                        <a:t>Currently not part of the BPDB projections</a:t>
                      </a:r>
                      <a:endParaRPr lang="en-IN" sz="900" b="1" dirty="0">
                        <a:effectLst/>
                        <a:latin typeface="Verdana" panose="020B0604030504040204" pitchFamily="34" charset="0"/>
                        <a:ea typeface="Verdana" panose="020B0604030504040204" pitchFamily="34" charset="0"/>
                        <a:cs typeface="Times New Roman" panose="02020603050405020304" pitchFamily="18" charset="0"/>
                      </a:endParaRPr>
                    </a:p>
                  </a:txBody>
                  <a:tcPr marL="72000" marR="36000" marT="0" marB="0"/>
                </a:tc>
                <a:extLst>
                  <a:ext uri="{0D108BD9-81ED-4DB2-BD59-A6C34878D82A}">
                    <a16:rowId xmlns:a16="http://schemas.microsoft.com/office/drawing/2014/main" val="1074658836"/>
                  </a:ext>
                </a:extLst>
              </a:tr>
            </a:tbl>
          </a:graphicData>
        </a:graphic>
      </p:graphicFrame>
      <p:graphicFrame>
        <p:nvGraphicFramePr>
          <p:cNvPr id="10" name="Table 9"/>
          <p:cNvGraphicFramePr>
            <a:graphicFrameLocks noGrp="1"/>
          </p:cNvGraphicFramePr>
          <p:nvPr>
            <p:custDataLst>
              <p:tags r:id="rId4"/>
            </p:custDataLst>
            <p:extLst>
              <p:ext uri="{D42A27DB-BD31-4B8C-83A1-F6EECF244321}">
                <p14:modId xmlns:p14="http://schemas.microsoft.com/office/powerpoint/2010/main" val="3347234035"/>
              </p:ext>
            </p:extLst>
          </p:nvPr>
        </p:nvGraphicFramePr>
        <p:xfrm>
          <a:off x="449993" y="1961918"/>
          <a:ext cx="4734896" cy="499450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4994507">
                <a:tc>
                  <a:txBody>
                    <a:bodyPr/>
                    <a:lstStyle/>
                    <a:p>
                      <a:pPr marL="0" indent="0" algn="just">
                        <a:spcAft>
                          <a:spcPts val="500"/>
                        </a:spcAft>
                        <a:buFont typeface="Arial" panose="020B0604020202020204" pitchFamily="34" charset="0"/>
                        <a:buNone/>
                      </a:pPr>
                      <a:r>
                        <a:rPr lang="en-US" sz="1000" b="1" baseline="0" dirty="0">
                          <a:solidFill>
                            <a:schemeClr val="tx1"/>
                          </a:solidFill>
                        </a:rPr>
                        <a:t>Installed Capacity Projection (Serviceable)</a:t>
                      </a:r>
                      <a:endParaRPr lang="en-US" sz="1000" b="0" baseline="0" dirty="0">
                        <a:solidFill>
                          <a:schemeClr val="tx1"/>
                        </a:solidFill>
                      </a:endParaRPr>
                    </a:p>
                    <a:p>
                      <a:pPr marL="0" indent="0" algn="just" defTabSz="990571" rtl="0" eaLnBrk="1" latinLnBrk="0" hangingPunct="1">
                        <a:spcAft>
                          <a:spcPts val="500"/>
                        </a:spcAft>
                        <a:buFont typeface="Arial" panose="020B0604020202020204" pitchFamily="34" charset="0"/>
                        <a:buNone/>
                      </a:pPr>
                      <a:r>
                        <a:rPr lang="en-US" sz="1000" b="1" kern="1200" baseline="0" dirty="0">
                          <a:solidFill>
                            <a:schemeClr val="tx1"/>
                          </a:solidFill>
                          <a:latin typeface="+mn-lt"/>
                          <a:ea typeface="+mn-ea"/>
                          <a:cs typeface="+mn-cs"/>
                        </a:rPr>
                        <a:t>LNG </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We also assessed the current status of the projects to evaluate the status of commissioning of each of the proposed LNG based power plant in Bangladesh</a:t>
                      </a:r>
                    </a:p>
                    <a:p>
                      <a:pPr marL="171450" indent="-171450" algn="just" defTabSz="990571" rtl="0" eaLnBrk="1" latinLnBrk="0" hangingPunct="1">
                        <a:spcAft>
                          <a:spcPts val="500"/>
                        </a:spcAft>
                        <a:buFont typeface="Arial" panose="020B0604020202020204" pitchFamily="34" charset="0"/>
                        <a:buChar char="•"/>
                      </a:pPr>
                      <a:r>
                        <a:rPr lang="en-US" sz="1000" b="1" i="1" kern="1200" baseline="0" dirty="0">
                          <a:solidFill>
                            <a:schemeClr val="tx1"/>
                          </a:solidFill>
                          <a:latin typeface="+mn-lt"/>
                          <a:ea typeface="+mn-ea"/>
                          <a:cs typeface="+mn-cs"/>
                        </a:rPr>
                        <a:t>As can be seen from the table on the right, only 2 projects (Meghnaghat 583 MW – Summit and Meghnaghat 584 MW – UMPL) projects have signed PPAs and are under active development</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Further both these projects are expected to be LNG/NG based as their PPAs have tariff structures based on LNG and NG fuels and hence even in case of non-supply of LNG these plants may get Natural Gas fuel allocation (</a:t>
                      </a:r>
                      <a:r>
                        <a:rPr lang="en-US" sz="1000" b="1" i="1" kern="1200" baseline="0" dirty="0">
                          <a:solidFill>
                            <a:schemeClr val="tx1"/>
                          </a:solidFill>
                          <a:latin typeface="+mn-lt"/>
                          <a:ea typeface="+mn-ea"/>
                          <a:cs typeface="+mn-cs"/>
                        </a:rPr>
                        <a:t>Estimated Tariff of Tk 2.95 / kWh or US Cents 3.7 / kWh on Domestic Gas; Tk 5.44 / kWh or US Cents 6.7 / kWh on RLNG and Tk 12.6 / kWh or US Cents 15.8 / kWh on HSD</a:t>
                      </a:r>
                      <a:r>
                        <a:rPr lang="en-US" sz="1000" b="1" i="1" kern="1200" baseline="30000" dirty="0">
                          <a:solidFill>
                            <a:schemeClr val="tx1"/>
                          </a:solidFill>
                          <a:latin typeface="+mn-lt"/>
                          <a:ea typeface="+mn-ea"/>
                          <a:cs typeface="+mn-cs"/>
                        </a:rPr>
                        <a:t>1,2</a:t>
                      </a:r>
                      <a:r>
                        <a:rPr lang="en-US" sz="1000" b="0" kern="1200" baseline="0" dirty="0">
                          <a:solidFill>
                            <a:schemeClr val="tx1"/>
                          </a:solidFill>
                          <a:latin typeface="+mn-lt"/>
                          <a:ea typeface="+mn-ea"/>
                          <a:cs typeface="+mn-cs"/>
                        </a:rPr>
                        <a:t>)</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We expect these plants to be commissioned by FY26</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Following graph shows the planned LNG Installed Capacity as per BPDB and our estimated commissionable capacity (MW) by FY2026</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3" name="Chart 12"/>
          <p:cNvGraphicFramePr/>
          <p:nvPr>
            <p:custDataLst>
              <p:tags r:id="rId5"/>
            </p:custDataLst>
            <p:extLst>
              <p:ext uri="{D42A27DB-BD31-4B8C-83A1-F6EECF244321}">
                <p14:modId xmlns:p14="http://schemas.microsoft.com/office/powerpoint/2010/main" val="2116713909"/>
              </p:ext>
            </p:extLst>
          </p:nvPr>
        </p:nvGraphicFramePr>
        <p:xfrm>
          <a:off x="366713" y="5397500"/>
          <a:ext cx="4900612" cy="1343025"/>
        </p:xfrm>
        <a:graphic>
          <a:graphicData uri="http://schemas.openxmlformats.org/drawingml/2006/chart">
            <c:chart xmlns:c="http://schemas.openxmlformats.org/drawingml/2006/chart" xmlns:r="http://schemas.openxmlformats.org/officeDocument/2006/relationships" r:id="rId11"/>
          </a:graphicData>
        </a:graphic>
      </p:graphicFrame>
      <p:sp>
        <p:nvSpPr>
          <p:cNvPr id="21" name="StandardTextbox"/>
          <p:cNvSpPr>
            <a:spLocks noGrp="1"/>
          </p:cNvSpPr>
          <p:nvPr>
            <p:custDataLst>
              <p:tags r:id="rId6"/>
            </p:custDataLst>
          </p:nvPr>
        </p:nvSpPr>
        <p:spPr bwMode="auto">
          <a:xfrm>
            <a:off x="3246438" y="6743700"/>
            <a:ext cx="1508125"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0E795475-265F-441B-AC17-776488E5A464}" type="datetime'Proba''ble Servi''cea''''ble Ca''pacity t''i''ll FY26 (''MW)'">
              <a:rPr lang="en-US" altLang="en-US" b="0" smtClean="0">
                <a:solidFill>
                  <a:srgbClr val="000000"/>
                </a:solidFill>
              </a:rPr>
              <a:pPr lvl="1" algn="ctr">
                <a:spcBef>
                  <a:spcPct val="0"/>
                </a:spcBef>
                <a:spcAft>
                  <a:spcPct val="0"/>
                </a:spcAft>
                <a:defRPr/>
              </a:pPr>
              <a:t>Probable Serviceable Capacity till FY26 (MW)</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4" name="StandardTextbox"/>
          <p:cNvSpPr>
            <a:spLocks noGrp="1"/>
          </p:cNvSpPr>
          <p:nvPr>
            <p:custDataLst>
              <p:tags r:id="rId7"/>
            </p:custDataLst>
          </p:nvPr>
        </p:nvSpPr>
        <p:spPr bwMode="auto">
          <a:xfrm>
            <a:off x="796925" y="6743700"/>
            <a:ext cx="1670050"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E48F86E3-E340-419E-9454-5E0E90883C63}" type="datetime'Pl''anned'' ''LNG Installed Capacity t''i''ll FY2026 ''(''MW)'">
              <a:rPr lang="en-US" altLang="en-US" b="0" smtClean="0">
                <a:solidFill>
                  <a:srgbClr val="000000"/>
                </a:solidFill>
              </a:rPr>
              <a:pPr lvl="1" algn="ctr">
                <a:spcBef>
                  <a:spcPct val="0"/>
                </a:spcBef>
                <a:spcAft>
                  <a:spcPct val="0"/>
                </a:spcAft>
                <a:defRPr/>
              </a:pPr>
              <a:t>Planned LNG Installed Capacity till FY2026 (MW)</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2" name="Rectangle 11"/>
          <p:cNvSpPr/>
          <p:nvPr/>
        </p:nvSpPr>
        <p:spPr bwMode="gray">
          <a:xfrm>
            <a:off x="377227" y="7260740"/>
            <a:ext cx="9252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Industry Reports, Deloitte Analysis; Note 1) The estimated tariff is based on tariff data available in secondary domain and converted to Taka from USD at exchange rate of 1 USD = BDT 80 2) The levelized tariff for both plants is same as per Industry Sources. However for Summit’s plant, the tariff also considers operation based on HSD fuel and hence a tariff for HSD has also been provided.</a:t>
            </a:r>
          </a:p>
        </p:txBody>
      </p:sp>
    </p:spTree>
    <p:extLst>
      <p:ext uri="{BB962C8B-B14F-4D97-AF65-F5344CB8AC3E}">
        <p14:creationId xmlns:p14="http://schemas.microsoft.com/office/powerpoint/2010/main" val="2416097118"/>
      </p:ext>
    </p:extLst>
  </p:cSld>
  <p:clrMapOvr>
    <a:masterClrMapping/>
  </p:clrMapOvr>
  <p:transition>
    <p:fade/>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256482532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530" imgH="531" progId="TCLayout.ActiveDocument.1">
                  <p:embed/>
                </p:oleObj>
              </mc:Choice>
              <mc:Fallback>
                <p:oleObj name="think-cell Slide" r:id="rId9" imgW="530" imgH="531" progId="TCLayout.ActiveDocument.1">
                  <p:embed/>
                  <p:pic>
                    <p:nvPicPr>
                      <p:cNvPr id="4" name="Object 3" hidden="1"/>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IN" sz="1000" u="none" strike="noStrike" kern="1200" cap="none" spc="0" normalizeH="0" noProof="0" dirty="0">
              <a:ln>
                <a:noFill/>
              </a:ln>
              <a:solidFill>
                <a:prstClr val="white"/>
              </a:solidFill>
              <a:effectLst/>
              <a:uLnTx/>
              <a:uFillTx/>
              <a:sym typeface="+mn-lt"/>
            </a:endParaRPr>
          </a:p>
        </p:txBody>
      </p:sp>
      <p:graphicFrame>
        <p:nvGraphicFramePr>
          <p:cNvPr id="99" name="Table 98"/>
          <p:cNvGraphicFramePr>
            <a:graphicFrameLocks noGrp="1"/>
          </p:cNvGraphicFramePr>
          <p:nvPr>
            <p:custDataLst>
              <p:tags r:id="rId3"/>
            </p:custDataLst>
            <p:extLst>
              <p:ext uri="{D42A27DB-BD31-4B8C-83A1-F6EECF244321}">
                <p14:modId xmlns:p14="http://schemas.microsoft.com/office/powerpoint/2010/main" val="3521055601"/>
              </p:ext>
            </p:extLst>
          </p:nvPr>
        </p:nvGraphicFramePr>
        <p:xfrm>
          <a:off x="449993" y="1961918"/>
          <a:ext cx="4734896" cy="50559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3215872">
                <a:tc>
                  <a:txBody>
                    <a:bodyPr/>
                    <a:lstStyle/>
                    <a:p>
                      <a:pPr marL="0" indent="0" algn="just">
                        <a:spcAft>
                          <a:spcPts val="500"/>
                        </a:spcAft>
                        <a:buFont typeface="Arial" panose="020B0604020202020204" pitchFamily="34" charset="0"/>
                        <a:buNone/>
                      </a:pPr>
                      <a:r>
                        <a:rPr lang="en-US" sz="1000" b="1" baseline="0" dirty="0">
                          <a:solidFill>
                            <a:schemeClr val="tx1"/>
                          </a:solidFill>
                        </a:rPr>
                        <a:t>Power Trade between Nepal &amp; Bangladesh</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Apart from India, Bangladesh has planned to import ~2,000 MW using dedicated transmission line infrastructures.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It has also been exploring the possibility of short term power trading with Nepal wherein Bangladesh would be supplying power to Nepal during winter months and drawing power from Nepal during summers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In June 2019, Government of Nepal and Bangladesh signed a MoU to use India’s existing transmission lines to Nepal and Bangladesh for bilateral power trade and to explore possibilities of setting up dedicated transmission lines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The Government of India has also discussed plan to sign a tri-partite agreement between the nations to enable short term power trade</a:t>
                      </a: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kern="1200" baseline="0" dirty="0">
                          <a:solidFill>
                            <a:schemeClr val="tx1"/>
                          </a:solidFill>
                          <a:latin typeface="+mn-lt"/>
                          <a:ea typeface="+mn-ea"/>
                          <a:cs typeface="+mn-cs"/>
                        </a:rPr>
                        <a:t>Impact on Overall Power Import in Bangladesh</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The current HVDC Corridor of 1,000 MW (Bheramara – Behrampur) and 160 MW Tripura-Commilla line is already running at high capacity utilization factor of ~75-80%</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1" i="1" u="none" strike="noStrike" kern="1200" cap="none" spc="0" normalizeH="0" baseline="0" dirty="0">
                          <a:ln>
                            <a:noFill/>
                          </a:ln>
                          <a:solidFill>
                            <a:prstClr val="black"/>
                          </a:solidFill>
                          <a:effectLst/>
                          <a:uLnTx/>
                          <a:uFillTx/>
                          <a:latin typeface="Verdana"/>
                          <a:ea typeface="+mn-ea"/>
                          <a:cs typeface="+mn-cs"/>
                        </a:rPr>
                        <a:t>A 340 MW transmission line from Tripura is currently under development and is expected to be commissioned by FY26</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1" i="1" u="none" strike="noStrike" kern="1200" cap="none" spc="0" normalizeH="0" baseline="0" dirty="0">
                          <a:ln>
                            <a:noFill/>
                          </a:ln>
                          <a:solidFill>
                            <a:prstClr val="black"/>
                          </a:solidFill>
                          <a:effectLst/>
                          <a:uLnTx/>
                          <a:uFillTx/>
                          <a:latin typeface="Verdana"/>
                          <a:ea typeface="+mn-ea"/>
                          <a:cs typeface="+mn-cs"/>
                        </a:rPr>
                        <a:t>Similarly a planned imported coal based project ~1,496 MW is being setup by Adani Power in Jharkhand, India which would be dedicated for exporting power to Bangladesh</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1" i="1" u="none" strike="noStrike" kern="1200" cap="none" spc="0" normalizeH="0" baseline="0" dirty="0">
                          <a:ln>
                            <a:noFill/>
                          </a:ln>
                          <a:solidFill>
                            <a:prstClr val="black"/>
                          </a:solidFill>
                          <a:effectLst/>
                          <a:uLnTx/>
                          <a:uFillTx/>
                          <a:latin typeface="Verdana"/>
                          <a:ea typeface="+mn-ea"/>
                          <a:cs typeface="+mn-cs"/>
                        </a:rPr>
                        <a:t>The power plant is expected to be commissioned by FY26 and may have a tariff ranging from ~Tk 8-8.5 / kWh</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Thus, the power trade between Nepal and Bangladesh is unlikely to have a major impact on supply for Bangladesh due to lack of transmission capacity between the two countries in the near future</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00" name="Table 99"/>
          <p:cNvGraphicFramePr>
            <a:graphicFrameLocks noGrp="1"/>
          </p:cNvGraphicFramePr>
          <p:nvPr>
            <p:custDataLst>
              <p:tags r:id="rId4"/>
            </p:custDataLst>
            <p:extLst>
              <p:ext uri="{D42A27DB-BD31-4B8C-83A1-F6EECF244321}">
                <p14:modId xmlns:p14="http://schemas.microsoft.com/office/powerpoint/2010/main" val="3356559964"/>
              </p:ext>
            </p:extLst>
          </p:nvPr>
        </p:nvGraphicFramePr>
        <p:xfrm>
          <a:off x="5524500" y="1961920"/>
          <a:ext cx="4732062" cy="4281218"/>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463230">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table shows the proposed power import plans by PSMP Bangladesh by FY2041</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0" marR="0" lvl="0" indent="0" algn="l"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0" baseline="0" dirty="0">
                          <a:solidFill>
                            <a:schemeClr val="tx1"/>
                          </a:solidFill>
                        </a:rPr>
                        <a:t>Following table shows the proposed power import plans by BPDB by FY26 and expected power import (MW)</a:t>
                      </a:r>
                    </a:p>
                    <a:p>
                      <a:pPr marL="0" lvl="0" indent="0">
                        <a:spcAft>
                          <a:spcPts val="500"/>
                        </a:spcAft>
                        <a:buFont typeface="Arial" panose="020B0604020202020204" pitchFamily="34" charset="0"/>
                        <a:buNone/>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Power Market | Supply Projection (Power Trade &amp; Import)</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just"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dirty="0">
                <a:solidFill>
                  <a:prstClr val="black">
                    <a:lumMod val="50000"/>
                    <a:lumOff val="50000"/>
                  </a:prstClr>
                </a:solidFill>
                <a:latin typeface="Verdana" panose="020B0604030504040204" pitchFamily="34" charset="0"/>
              </a:rPr>
              <a:t>The planned power trade between Bangladesh &amp; Nepal may be delayed due to transmission constraints; ~1,800 MW of power trade between Bangladesh and India has been planned using dedicated transmission infrastructure by FY26</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sp>
        <p:nvSpPr>
          <p:cNvPr id="78" name="Rectangle 77"/>
          <p:cNvSpPr/>
          <p:nvPr/>
        </p:nvSpPr>
        <p:spPr bwMode="gray">
          <a:xfrm>
            <a:off x="377227" y="7260740"/>
            <a:ext cx="5652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PSMP, Industry</a:t>
            </a:r>
            <a:r>
              <a:rPr kumimoji="0" lang="en-US" sz="700" b="0" i="1" u="none" strike="noStrike" kern="1200" cap="none" spc="0" normalizeH="0" noProof="0" dirty="0">
                <a:ln>
                  <a:noFill/>
                </a:ln>
                <a:solidFill>
                  <a:prstClr val="black"/>
                </a:solidFill>
                <a:effectLst/>
                <a:uLnTx/>
                <a:uFillTx/>
                <a:latin typeface="Verdana"/>
                <a:ea typeface="+mn-ea"/>
                <a:cs typeface="+mn-cs"/>
              </a:rPr>
              <a:t> Reports, Deloitte Analysis</a:t>
            </a:r>
            <a:endParaRPr kumimoji="0" lang="en-US" sz="700" b="0" i="1" u="none" strike="noStrike" kern="1200" cap="none" spc="0" normalizeH="0" baseline="0" noProof="0" dirty="0">
              <a:ln>
                <a:noFill/>
              </a:ln>
              <a:solidFill>
                <a:prstClr val="black"/>
              </a:solidFill>
              <a:effectLst/>
              <a:uLnTx/>
              <a:uFillTx/>
              <a:latin typeface="Verdana"/>
              <a:ea typeface="+mn-ea"/>
              <a:cs typeface="+mn-cs"/>
            </a:endParaRPr>
          </a:p>
        </p:txBody>
      </p:sp>
      <p:graphicFrame>
        <p:nvGraphicFramePr>
          <p:cNvPr id="32" name="Table 31"/>
          <p:cNvGraphicFramePr>
            <a:graphicFrameLocks noGrp="1"/>
          </p:cNvGraphicFramePr>
          <p:nvPr>
            <p:extLst>
              <p:ext uri="{D42A27DB-BD31-4B8C-83A1-F6EECF244321}">
                <p14:modId xmlns:p14="http://schemas.microsoft.com/office/powerpoint/2010/main" val="553368771"/>
              </p:ext>
            </p:extLst>
          </p:nvPr>
        </p:nvGraphicFramePr>
        <p:xfrm>
          <a:off x="5524446" y="2480795"/>
          <a:ext cx="4716518" cy="3057895"/>
        </p:xfrm>
        <a:graphic>
          <a:graphicData uri="http://schemas.openxmlformats.org/drawingml/2006/table">
            <a:tbl>
              <a:tblPr firstRow="1" bandRow="1">
                <a:tableStyleId>{69012ECD-51FC-41F1-AA8D-1B2483CD663E}</a:tableStyleId>
              </a:tblPr>
              <a:tblGrid>
                <a:gridCol w="2014490">
                  <a:extLst>
                    <a:ext uri="{9D8B030D-6E8A-4147-A177-3AD203B41FA5}">
                      <a16:colId xmlns:a16="http://schemas.microsoft.com/office/drawing/2014/main" val="1618541500"/>
                    </a:ext>
                  </a:extLst>
                </a:gridCol>
                <a:gridCol w="544749">
                  <a:extLst>
                    <a:ext uri="{9D8B030D-6E8A-4147-A177-3AD203B41FA5}">
                      <a16:colId xmlns:a16="http://schemas.microsoft.com/office/drawing/2014/main" val="1133528411"/>
                    </a:ext>
                  </a:extLst>
                </a:gridCol>
                <a:gridCol w="2157279">
                  <a:extLst>
                    <a:ext uri="{9D8B030D-6E8A-4147-A177-3AD203B41FA5}">
                      <a16:colId xmlns:a16="http://schemas.microsoft.com/office/drawing/2014/main" val="1305108627"/>
                    </a:ext>
                  </a:extLst>
                </a:gridCol>
              </a:tblGrid>
              <a:tr h="191878">
                <a:tc>
                  <a:txBody>
                    <a:bodyPr/>
                    <a:lstStyle/>
                    <a:p>
                      <a:r>
                        <a:rPr lang="en-GB" sz="900" dirty="0"/>
                        <a:t>Line</a:t>
                      </a:r>
                    </a:p>
                  </a:txBody>
                  <a:tcPr marL="36000" marR="36000"/>
                </a:tc>
                <a:tc>
                  <a:txBody>
                    <a:bodyPr/>
                    <a:lstStyle/>
                    <a:p>
                      <a:r>
                        <a:rPr lang="en-GB" sz="900" dirty="0"/>
                        <a:t>MW</a:t>
                      </a:r>
                    </a:p>
                  </a:txBody>
                  <a:tcPr marL="36000" marR="36000"/>
                </a:tc>
                <a:tc>
                  <a:txBody>
                    <a:bodyPr/>
                    <a:lstStyle/>
                    <a:p>
                      <a:r>
                        <a:rPr lang="en-GB" sz="900" dirty="0"/>
                        <a:t>Remarks</a:t>
                      </a:r>
                    </a:p>
                  </a:txBody>
                  <a:tcPr marL="36000" marR="36000"/>
                </a:tc>
                <a:extLst>
                  <a:ext uri="{0D108BD9-81ED-4DB2-BD59-A6C34878D82A}">
                    <a16:rowId xmlns:a16="http://schemas.microsoft.com/office/drawing/2014/main" val="503135290"/>
                  </a:ext>
                </a:extLst>
              </a:tr>
              <a:tr h="174521">
                <a:tc>
                  <a:txBody>
                    <a:bodyPr/>
                    <a:lstStyle/>
                    <a:p>
                      <a:pPr algn="l" fontAlgn="t"/>
                      <a:r>
                        <a:rPr lang="en-IN" sz="900" u="none" strike="noStrike" dirty="0">
                          <a:effectLst/>
                        </a:rPr>
                        <a:t>Bheramara - Baharampur</a:t>
                      </a:r>
                      <a:endParaRPr lang="en-IN" sz="900" b="1" i="1" u="none" strike="noStrike" dirty="0">
                        <a:solidFill>
                          <a:srgbClr val="000000"/>
                        </a:solidFill>
                        <a:effectLst/>
                        <a:latin typeface="Times New Roman" panose="02020603050405020304" pitchFamily="18" charset="0"/>
                      </a:endParaRPr>
                    </a:p>
                  </a:txBody>
                  <a:tcPr marL="36000" marR="36000" marT="7620" marB="0" anchor="ctr">
                    <a:solidFill>
                      <a:schemeClr val="accent1">
                        <a:lumMod val="20000"/>
                        <a:lumOff val="80000"/>
                      </a:schemeClr>
                    </a:solidFill>
                  </a:tcPr>
                </a:tc>
                <a:tc>
                  <a:txBody>
                    <a:bodyPr/>
                    <a:lstStyle/>
                    <a:p>
                      <a:pPr algn="l" fontAlgn="t"/>
                      <a:r>
                        <a:rPr lang="en-IN" sz="900" u="none" strike="noStrike" dirty="0">
                          <a:effectLst/>
                        </a:rPr>
                        <a:t>1000</a:t>
                      </a:r>
                      <a:endParaRPr lang="en-IN" sz="900" b="1" i="1" u="none" strike="noStrike" dirty="0">
                        <a:solidFill>
                          <a:srgbClr val="000000"/>
                        </a:solidFill>
                        <a:effectLst/>
                        <a:latin typeface="Times New Roman" panose="02020603050405020304" pitchFamily="18" charset="0"/>
                      </a:endParaRPr>
                    </a:p>
                  </a:txBody>
                  <a:tcPr marL="36000" marR="36000" marT="7620" marB="0" anchor="ctr">
                    <a:solidFill>
                      <a:schemeClr val="accent1">
                        <a:lumMod val="20000"/>
                        <a:lumOff val="80000"/>
                      </a:schemeClr>
                    </a:solidFill>
                  </a:tcPr>
                </a:tc>
                <a:tc>
                  <a:txBody>
                    <a:bodyPr/>
                    <a:lstStyle/>
                    <a:p>
                      <a:pPr algn="l" fontAlgn="t"/>
                      <a:r>
                        <a:rPr lang="en-IN" sz="900" u="none" strike="noStrike" dirty="0">
                          <a:effectLst/>
                        </a:rPr>
                        <a:t>Existing</a:t>
                      </a:r>
                      <a:endParaRPr lang="en-IN" sz="900" b="1" i="1" u="none" strike="noStrike" dirty="0">
                        <a:solidFill>
                          <a:srgbClr val="000000"/>
                        </a:solidFill>
                        <a:effectLst/>
                        <a:latin typeface="Times New Roman" panose="02020603050405020304" pitchFamily="18" charset="0"/>
                      </a:endParaRPr>
                    </a:p>
                  </a:txBody>
                  <a:tcPr marL="36000" marR="36000" marT="7620" marB="0" anchor="ctr">
                    <a:solidFill>
                      <a:schemeClr val="accent1">
                        <a:lumMod val="20000"/>
                        <a:lumOff val="80000"/>
                      </a:schemeClr>
                    </a:solidFill>
                  </a:tcPr>
                </a:tc>
                <a:extLst>
                  <a:ext uri="{0D108BD9-81ED-4DB2-BD59-A6C34878D82A}">
                    <a16:rowId xmlns:a16="http://schemas.microsoft.com/office/drawing/2014/main" val="856501655"/>
                  </a:ext>
                </a:extLst>
              </a:tr>
              <a:tr h="217113">
                <a:tc>
                  <a:txBody>
                    <a:bodyPr/>
                    <a:lstStyle/>
                    <a:p>
                      <a:pPr algn="l" fontAlgn="t"/>
                      <a:r>
                        <a:rPr lang="en-IN" sz="900" u="none" strike="noStrike" dirty="0">
                          <a:effectLst/>
                        </a:rPr>
                        <a:t>Tripura - Comilla</a:t>
                      </a:r>
                      <a:endParaRPr lang="en-IN" sz="900" b="1" i="1" u="none" strike="noStrike" dirty="0">
                        <a:solidFill>
                          <a:srgbClr val="000000"/>
                        </a:solidFill>
                        <a:effectLst/>
                        <a:latin typeface="Times New Roman" panose="02020603050405020304" pitchFamily="18" charset="0"/>
                      </a:endParaRPr>
                    </a:p>
                  </a:txBody>
                  <a:tcPr marL="36000" marR="36000" marT="7620" marB="0" anchor="ctr">
                    <a:solidFill>
                      <a:schemeClr val="accent1">
                        <a:lumMod val="20000"/>
                        <a:lumOff val="80000"/>
                      </a:schemeClr>
                    </a:solidFill>
                  </a:tcPr>
                </a:tc>
                <a:tc>
                  <a:txBody>
                    <a:bodyPr/>
                    <a:lstStyle/>
                    <a:p>
                      <a:pPr algn="l" fontAlgn="t"/>
                      <a:r>
                        <a:rPr lang="en-IN" sz="900" u="none" strike="noStrike" dirty="0">
                          <a:effectLst/>
                        </a:rPr>
                        <a:t>160</a:t>
                      </a:r>
                      <a:endParaRPr lang="en-IN" sz="900" b="1" i="1" u="none" strike="noStrike" dirty="0">
                        <a:solidFill>
                          <a:srgbClr val="000000"/>
                        </a:solidFill>
                        <a:effectLst/>
                        <a:latin typeface="Times New Roman" panose="02020603050405020304" pitchFamily="18" charset="0"/>
                      </a:endParaRPr>
                    </a:p>
                  </a:txBody>
                  <a:tcPr marL="36000" marR="36000" marT="7620" marB="0" anchor="ctr">
                    <a:solidFill>
                      <a:schemeClr val="accent1">
                        <a:lumMod val="20000"/>
                        <a:lumOff val="80000"/>
                      </a:schemeClr>
                    </a:solidFill>
                  </a:tcPr>
                </a:tc>
                <a:tc>
                  <a:txBody>
                    <a:bodyPr/>
                    <a:lstStyle/>
                    <a:p>
                      <a:pPr algn="l" fontAlgn="t"/>
                      <a:r>
                        <a:rPr lang="en-US" sz="900" u="none" strike="noStrike" dirty="0">
                          <a:effectLst/>
                        </a:rPr>
                        <a:t>Existing</a:t>
                      </a:r>
                      <a:endParaRPr lang="en-US" sz="900" b="1" i="1" u="none" strike="noStrike" dirty="0">
                        <a:solidFill>
                          <a:srgbClr val="000000"/>
                        </a:solidFill>
                        <a:effectLst/>
                        <a:latin typeface="Times New Roman" panose="02020603050405020304" pitchFamily="18" charset="0"/>
                      </a:endParaRPr>
                    </a:p>
                  </a:txBody>
                  <a:tcPr marL="36000" marR="36000" marT="7620" marB="0" anchor="ctr">
                    <a:solidFill>
                      <a:schemeClr val="accent1">
                        <a:lumMod val="20000"/>
                        <a:lumOff val="80000"/>
                      </a:schemeClr>
                    </a:solidFill>
                  </a:tcPr>
                </a:tc>
                <a:extLst>
                  <a:ext uri="{0D108BD9-81ED-4DB2-BD59-A6C34878D82A}">
                    <a16:rowId xmlns:a16="http://schemas.microsoft.com/office/drawing/2014/main" val="539694443"/>
                  </a:ext>
                </a:extLst>
              </a:tr>
              <a:tr h="259423">
                <a:tc>
                  <a:txBody>
                    <a:bodyPr/>
                    <a:lstStyle/>
                    <a:p>
                      <a:pPr algn="l" fontAlgn="t"/>
                      <a:r>
                        <a:rPr lang="en-IN" sz="900" u="none" strike="noStrike" dirty="0">
                          <a:effectLst/>
                        </a:rPr>
                        <a:t>Bheramara - Baharampur</a:t>
                      </a:r>
                      <a:endParaRPr lang="en-IN" sz="900" b="0" i="0" u="none" strike="noStrike" dirty="0">
                        <a:solidFill>
                          <a:srgbClr val="000000"/>
                        </a:solidFill>
                        <a:effectLst/>
                        <a:latin typeface="Times New Roman" panose="02020603050405020304" pitchFamily="18" charset="0"/>
                      </a:endParaRPr>
                    </a:p>
                  </a:txBody>
                  <a:tcPr marL="36000" marR="36000" marT="7620" marB="0" anchor="ctr"/>
                </a:tc>
                <a:tc>
                  <a:txBody>
                    <a:bodyPr/>
                    <a:lstStyle/>
                    <a:p>
                      <a:pPr algn="l" fontAlgn="t"/>
                      <a:r>
                        <a:rPr lang="en-IN" sz="900" u="none" strike="noStrike" dirty="0">
                          <a:effectLst/>
                        </a:rPr>
                        <a:t>500</a:t>
                      </a:r>
                      <a:br>
                        <a:rPr lang="en-IN" sz="900" u="none" strike="noStrike" dirty="0">
                          <a:effectLst/>
                        </a:rPr>
                      </a:br>
                      <a:r>
                        <a:rPr lang="en-IN" sz="900" u="none" strike="noStrike" dirty="0">
                          <a:effectLst/>
                        </a:rPr>
                        <a:t>500</a:t>
                      </a:r>
                      <a:endParaRPr lang="en-IN" sz="900" b="0" i="0" u="none" strike="noStrike" dirty="0">
                        <a:solidFill>
                          <a:srgbClr val="000000"/>
                        </a:solidFill>
                        <a:effectLst/>
                        <a:latin typeface="Times New Roman" panose="02020603050405020304" pitchFamily="18" charset="0"/>
                      </a:endParaRPr>
                    </a:p>
                  </a:txBody>
                  <a:tcPr marL="36000" marR="36000" marT="7620" marB="0" anchor="ctr"/>
                </a:tc>
                <a:tc>
                  <a:txBody>
                    <a:bodyPr/>
                    <a:lstStyle/>
                    <a:p>
                      <a:pPr algn="just" fontAlgn="t"/>
                      <a:r>
                        <a:rPr lang="en-US" sz="900" u="none" strike="noStrike" dirty="0">
                          <a:effectLst/>
                        </a:rPr>
                        <a:t>Additional extension of Bheramara HVDC; Power import from Nepal</a:t>
                      </a:r>
                      <a:endParaRPr lang="en-US" sz="900" b="0" i="0" u="none" strike="noStrike" dirty="0">
                        <a:solidFill>
                          <a:srgbClr val="000000"/>
                        </a:solidFill>
                        <a:effectLst/>
                        <a:latin typeface="Times New Roman" panose="02020603050405020304" pitchFamily="18" charset="0"/>
                      </a:endParaRPr>
                    </a:p>
                  </a:txBody>
                  <a:tcPr marL="36000" marR="36000" marT="7620" marB="0" anchor="ctr"/>
                </a:tc>
                <a:extLst>
                  <a:ext uri="{0D108BD9-81ED-4DB2-BD59-A6C34878D82A}">
                    <a16:rowId xmlns:a16="http://schemas.microsoft.com/office/drawing/2014/main" val="2524092080"/>
                  </a:ext>
                </a:extLst>
              </a:tr>
              <a:tr h="236650">
                <a:tc>
                  <a:txBody>
                    <a:bodyPr/>
                    <a:lstStyle/>
                    <a:p>
                      <a:pPr algn="l" fontAlgn="t"/>
                      <a:r>
                        <a:rPr lang="en-IN" sz="900" u="none" strike="noStrike" dirty="0">
                          <a:effectLst/>
                        </a:rPr>
                        <a:t>Tripura - Comilla</a:t>
                      </a:r>
                      <a:endParaRPr lang="en-IN" sz="900" b="0" i="0" u="none" strike="noStrike" dirty="0">
                        <a:solidFill>
                          <a:srgbClr val="000000"/>
                        </a:solidFill>
                        <a:effectLst/>
                        <a:latin typeface="Times New Roman" panose="02020603050405020304" pitchFamily="18" charset="0"/>
                      </a:endParaRPr>
                    </a:p>
                  </a:txBody>
                  <a:tcPr marL="36000" marR="36000" marT="7620" marB="0" anchor="ctr"/>
                </a:tc>
                <a:tc>
                  <a:txBody>
                    <a:bodyPr/>
                    <a:lstStyle/>
                    <a:p>
                      <a:pPr algn="l" fontAlgn="t"/>
                      <a:r>
                        <a:rPr lang="en-IN" sz="900" u="none" strike="noStrike" dirty="0">
                          <a:effectLst/>
                        </a:rPr>
                        <a:t>300</a:t>
                      </a:r>
                      <a:endParaRPr lang="en-IN" sz="900" b="0" i="0" u="none" strike="noStrike" dirty="0">
                        <a:solidFill>
                          <a:srgbClr val="000000"/>
                        </a:solidFill>
                        <a:effectLst/>
                        <a:latin typeface="Times New Roman" panose="02020603050405020304" pitchFamily="18" charset="0"/>
                      </a:endParaRPr>
                    </a:p>
                  </a:txBody>
                  <a:tcPr marL="36000" marR="36000" marT="7620" marB="0" anchor="ctr"/>
                </a:tc>
                <a:tc>
                  <a:txBody>
                    <a:bodyPr/>
                    <a:lstStyle/>
                    <a:p>
                      <a:pPr algn="just" fontAlgn="t"/>
                      <a:r>
                        <a:rPr lang="en-US" sz="900" u="none" strike="noStrike" dirty="0">
                          <a:effectLst/>
                        </a:rPr>
                        <a:t>Construction of HVDC (500MW) in Comilla</a:t>
                      </a:r>
                      <a:endParaRPr lang="en-US" sz="900" b="0" i="0" u="none" strike="noStrike" dirty="0">
                        <a:solidFill>
                          <a:srgbClr val="000000"/>
                        </a:solidFill>
                        <a:effectLst/>
                        <a:latin typeface="Times New Roman" panose="02020603050405020304" pitchFamily="18" charset="0"/>
                      </a:endParaRPr>
                    </a:p>
                  </a:txBody>
                  <a:tcPr marL="36000" marR="36000" marT="7620" marB="0" anchor="ctr"/>
                </a:tc>
                <a:extLst>
                  <a:ext uri="{0D108BD9-81ED-4DB2-BD59-A6C34878D82A}">
                    <a16:rowId xmlns:a16="http://schemas.microsoft.com/office/drawing/2014/main" val="1230752068"/>
                  </a:ext>
                </a:extLst>
              </a:tr>
              <a:tr h="236650">
                <a:tc>
                  <a:txBody>
                    <a:bodyPr/>
                    <a:lstStyle/>
                    <a:p>
                      <a:pPr algn="l" fontAlgn="t"/>
                      <a:r>
                        <a:rPr lang="en-IN" sz="900" u="none" strike="noStrike" dirty="0">
                          <a:effectLst/>
                        </a:rPr>
                        <a:t>Rangia/Rowta - Barapukuria</a:t>
                      </a:r>
                      <a:endParaRPr lang="en-IN" sz="900" b="0" i="0" u="none" strike="noStrike" dirty="0">
                        <a:solidFill>
                          <a:srgbClr val="000000"/>
                        </a:solidFill>
                        <a:effectLst/>
                        <a:latin typeface="Times New Roman" panose="02020603050405020304" pitchFamily="18" charset="0"/>
                      </a:endParaRPr>
                    </a:p>
                  </a:txBody>
                  <a:tcPr marL="36000" marR="36000" marT="7620" marB="0" anchor="ctr"/>
                </a:tc>
                <a:tc>
                  <a:txBody>
                    <a:bodyPr/>
                    <a:lstStyle/>
                    <a:p>
                      <a:pPr algn="l" fontAlgn="t"/>
                      <a:r>
                        <a:rPr lang="en-IN" sz="900" u="none" strike="noStrike" dirty="0">
                          <a:effectLst/>
                        </a:rPr>
                        <a:t>1,000</a:t>
                      </a:r>
                      <a:endParaRPr lang="en-IN" sz="900" b="0" i="0" u="none" strike="noStrike" dirty="0">
                        <a:solidFill>
                          <a:srgbClr val="000000"/>
                        </a:solidFill>
                        <a:effectLst/>
                        <a:latin typeface="Times New Roman" panose="02020603050405020304" pitchFamily="18" charset="0"/>
                      </a:endParaRPr>
                    </a:p>
                  </a:txBody>
                  <a:tcPr marL="36000" marR="36000" marT="7620" marB="0" anchor="ctr"/>
                </a:tc>
                <a:tc>
                  <a:txBody>
                    <a:bodyPr/>
                    <a:lstStyle/>
                    <a:p>
                      <a:pPr algn="just" fontAlgn="t"/>
                      <a:r>
                        <a:rPr lang="en-US" sz="900" u="none" strike="noStrike" dirty="0">
                          <a:effectLst/>
                        </a:rPr>
                        <a:t>Power import by using Case 2 T/L (±800kV DC)</a:t>
                      </a:r>
                      <a:endParaRPr lang="en-US" sz="900" b="0" i="0" u="none" strike="noStrike" dirty="0">
                        <a:solidFill>
                          <a:srgbClr val="000000"/>
                        </a:solidFill>
                        <a:effectLst/>
                        <a:latin typeface="Times New Roman" panose="02020603050405020304" pitchFamily="18" charset="0"/>
                      </a:endParaRPr>
                    </a:p>
                  </a:txBody>
                  <a:tcPr marL="36000" marR="36000" marT="7620" marB="0" anchor="ctr"/>
                </a:tc>
                <a:extLst>
                  <a:ext uri="{0D108BD9-81ED-4DB2-BD59-A6C34878D82A}">
                    <a16:rowId xmlns:a16="http://schemas.microsoft.com/office/drawing/2014/main" val="4055058782"/>
                  </a:ext>
                </a:extLst>
              </a:tr>
              <a:tr h="236650">
                <a:tc>
                  <a:txBody>
                    <a:bodyPr/>
                    <a:lstStyle/>
                    <a:p>
                      <a:pPr algn="l" fontAlgn="t"/>
                      <a:r>
                        <a:rPr lang="en-IN" sz="900" u="none" strike="noStrike" dirty="0">
                          <a:effectLst/>
                        </a:rPr>
                        <a:t>Rangia/Rowta - Barapukuria</a:t>
                      </a:r>
                      <a:endParaRPr lang="en-IN" sz="900" b="0" i="0" u="none" strike="noStrike" dirty="0">
                        <a:solidFill>
                          <a:srgbClr val="000000"/>
                        </a:solidFill>
                        <a:effectLst/>
                        <a:latin typeface="Times New Roman" panose="02020603050405020304" pitchFamily="18" charset="0"/>
                      </a:endParaRPr>
                    </a:p>
                  </a:txBody>
                  <a:tcPr marL="36000" marR="36000" marT="7620" marB="0" anchor="ctr"/>
                </a:tc>
                <a:tc>
                  <a:txBody>
                    <a:bodyPr/>
                    <a:lstStyle/>
                    <a:p>
                      <a:pPr algn="l" fontAlgn="t"/>
                      <a:r>
                        <a:rPr lang="en-IN" sz="900" u="none" strike="noStrike" dirty="0">
                          <a:effectLst/>
                        </a:rPr>
                        <a:t>500</a:t>
                      </a:r>
                      <a:br>
                        <a:rPr lang="en-IN" sz="900" u="none" strike="noStrike" dirty="0">
                          <a:effectLst/>
                        </a:rPr>
                      </a:br>
                      <a:r>
                        <a:rPr lang="en-IN" sz="900" u="none" strike="noStrike" dirty="0">
                          <a:effectLst/>
                        </a:rPr>
                        <a:t>500</a:t>
                      </a:r>
                      <a:endParaRPr lang="en-IN" sz="900" b="0" i="0" u="none" strike="noStrike" dirty="0">
                        <a:solidFill>
                          <a:srgbClr val="000000"/>
                        </a:solidFill>
                        <a:effectLst/>
                        <a:latin typeface="Times New Roman" panose="02020603050405020304" pitchFamily="18" charset="0"/>
                      </a:endParaRPr>
                    </a:p>
                  </a:txBody>
                  <a:tcPr marL="36000" marR="36000" marT="7620" marB="0" anchor="ctr"/>
                </a:tc>
                <a:tc>
                  <a:txBody>
                    <a:bodyPr/>
                    <a:lstStyle/>
                    <a:p>
                      <a:pPr algn="just" fontAlgn="t"/>
                      <a:r>
                        <a:rPr lang="en-US" sz="900" u="none" strike="noStrike" dirty="0">
                          <a:effectLst/>
                        </a:rPr>
                        <a:t>Power import by using Case 2 T/L (±800kV DC)</a:t>
                      </a:r>
                      <a:endParaRPr lang="en-US" sz="900" b="0" i="0" u="none" strike="noStrike" dirty="0">
                        <a:solidFill>
                          <a:srgbClr val="000000"/>
                        </a:solidFill>
                        <a:effectLst/>
                        <a:latin typeface="Times New Roman" panose="02020603050405020304" pitchFamily="18" charset="0"/>
                      </a:endParaRPr>
                    </a:p>
                  </a:txBody>
                  <a:tcPr marL="36000" marR="36000" marT="7620" marB="0" anchor="ctr"/>
                </a:tc>
                <a:extLst>
                  <a:ext uri="{0D108BD9-81ED-4DB2-BD59-A6C34878D82A}">
                    <a16:rowId xmlns:a16="http://schemas.microsoft.com/office/drawing/2014/main" val="531553599"/>
                  </a:ext>
                </a:extLst>
              </a:tr>
              <a:tr h="236650">
                <a:tc>
                  <a:txBody>
                    <a:bodyPr/>
                    <a:lstStyle/>
                    <a:p>
                      <a:pPr algn="l" fontAlgn="t"/>
                      <a:r>
                        <a:rPr lang="en-IN" sz="900" u="none" strike="noStrike" dirty="0">
                          <a:effectLst/>
                        </a:rPr>
                        <a:t>From Nepal (Purnea -</a:t>
                      </a:r>
                      <a:br>
                        <a:rPr lang="en-IN" sz="900" u="none" strike="noStrike" dirty="0">
                          <a:effectLst/>
                        </a:rPr>
                      </a:br>
                      <a:r>
                        <a:rPr lang="en-IN" sz="900" u="none" strike="noStrike" dirty="0">
                          <a:effectLst/>
                        </a:rPr>
                        <a:t>Barapukuria)</a:t>
                      </a:r>
                      <a:endParaRPr lang="en-IN" sz="900" b="0" i="0" u="none" strike="noStrike" dirty="0">
                        <a:solidFill>
                          <a:srgbClr val="000000"/>
                        </a:solidFill>
                        <a:effectLst/>
                        <a:latin typeface="Times New Roman" panose="02020603050405020304" pitchFamily="18" charset="0"/>
                      </a:endParaRPr>
                    </a:p>
                  </a:txBody>
                  <a:tcPr marL="36000" marR="36000" marT="7620" marB="0" anchor="ctr">
                    <a:solidFill>
                      <a:schemeClr val="accent3">
                        <a:lumMod val="20000"/>
                        <a:lumOff val="80000"/>
                      </a:schemeClr>
                    </a:solidFill>
                  </a:tcPr>
                </a:tc>
                <a:tc>
                  <a:txBody>
                    <a:bodyPr/>
                    <a:lstStyle/>
                    <a:p>
                      <a:pPr algn="l" fontAlgn="t"/>
                      <a:r>
                        <a:rPr lang="en-IN" sz="900" u="none" strike="noStrike" dirty="0">
                          <a:effectLst/>
                        </a:rPr>
                        <a:t>500</a:t>
                      </a:r>
                      <a:br>
                        <a:rPr lang="en-IN" sz="900" u="none" strike="noStrike" dirty="0">
                          <a:effectLst/>
                        </a:rPr>
                      </a:br>
                      <a:r>
                        <a:rPr lang="en-IN" sz="900" u="none" strike="noStrike" dirty="0">
                          <a:effectLst/>
                        </a:rPr>
                        <a:t>500</a:t>
                      </a:r>
                      <a:endParaRPr lang="en-IN" sz="900" b="0" i="0" u="none" strike="noStrike" dirty="0">
                        <a:solidFill>
                          <a:srgbClr val="000000"/>
                        </a:solidFill>
                        <a:effectLst/>
                        <a:latin typeface="Times New Roman" panose="02020603050405020304" pitchFamily="18" charset="0"/>
                      </a:endParaRPr>
                    </a:p>
                  </a:txBody>
                  <a:tcPr marL="36000" marR="36000" marT="7620" marB="0" anchor="ctr">
                    <a:solidFill>
                      <a:schemeClr val="accent3">
                        <a:lumMod val="20000"/>
                        <a:lumOff val="80000"/>
                      </a:schemeClr>
                    </a:solidFill>
                  </a:tcPr>
                </a:tc>
                <a:tc>
                  <a:txBody>
                    <a:bodyPr/>
                    <a:lstStyle/>
                    <a:p>
                      <a:pPr algn="just" fontAlgn="t"/>
                      <a:r>
                        <a:rPr lang="en-US" sz="900" u="none" strike="noStrike" dirty="0">
                          <a:effectLst/>
                        </a:rPr>
                        <a:t>Power import by using Case 3 T/L (initially 400kV AC)</a:t>
                      </a:r>
                      <a:endParaRPr lang="en-US" sz="900" b="0" i="0" u="none" strike="noStrike" dirty="0">
                        <a:solidFill>
                          <a:srgbClr val="000000"/>
                        </a:solidFill>
                        <a:effectLst/>
                        <a:latin typeface="Times New Roman" panose="02020603050405020304" pitchFamily="18" charset="0"/>
                      </a:endParaRPr>
                    </a:p>
                  </a:txBody>
                  <a:tcPr marL="36000" marR="36000" marT="7620" marB="0" anchor="ctr">
                    <a:solidFill>
                      <a:schemeClr val="accent3">
                        <a:lumMod val="20000"/>
                        <a:lumOff val="80000"/>
                      </a:schemeClr>
                    </a:solidFill>
                  </a:tcPr>
                </a:tc>
                <a:extLst>
                  <a:ext uri="{0D108BD9-81ED-4DB2-BD59-A6C34878D82A}">
                    <a16:rowId xmlns:a16="http://schemas.microsoft.com/office/drawing/2014/main" val="1009671972"/>
                  </a:ext>
                </a:extLst>
              </a:tr>
              <a:tr h="236650">
                <a:tc>
                  <a:txBody>
                    <a:bodyPr/>
                    <a:lstStyle/>
                    <a:p>
                      <a:pPr algn="l" fontAlgn="t"/>
                      <a:r>
                        <a:rPr lang="en-IN" sz="900" u="none" strike="noStrike" dirty="0">
                          <a:effectLst/>
                        </a:rPr>
                        <a:t>Bongaigaon/Rangia -</a:t>
                      </a:r>
                      <a:br>
                        <a:rPr lang="en-IN" sz="900" u="none" strike="noStrike" dirty="0">
                          <a:effectLst/>
                        </a:rPr>
                      </a:br>
                      <a:r>
                        <a:rPr lang="en-IN" sz="900" u="none" strike="noStrike" dirty="0">
                          <a:effectLst/>
                        </a:rPr>
                        <a:t>Jamarpur</a:t>
                      </a:r>
                      <a:endParaRPr lang="en-IN" sz="900" b="0" i="0" u="none" strike="noStrike" dirty="0">
                        <a:solidFill>
                          <a:srgbClr val="000000"/>
                        </a:solidFill>
                        <a:effectLst/>
                        <a:latin typeface="Times New Roman" panose="02020603050405020304" pitchFamily="18" charset="0"/>
                      </a:endParaRPr>
                    </a:p>
                  </a:txBody>
                  <a:tcPr marL="36000" marR="36000" marT="7620" marB="0" anchor="ctr"/>
                </a:tc>
                <a:tc>
                  <a:txBody>
                    <a:bodyPr/>
                    <a:lstStyle/>
                    <a:p>
                      <a:pPr algn="l" fontAlgn="t"/>
                      <a:r>
                        <a:rPr lang="en-IN" sz="900" u="none" strike="noStrike" dirty="0">
                          <a:effectLst/>
                        </a:rPr>
                        <a:t>500</a:t>
                      </a:r>
                      <a:br>
                        <a:rPr lang="en-IN" sz="900" u="none" strike="noStrike" dirty="0">
                          <a:effectLst/>
                        </a:rPr>
                      </a:br>
                      <a:r>
                        <a:rPr lang="en-IN" sz="900" u="none" strike="noStrike" dirty="0">
                          <a:effectLst/>
                        </a:rPr>
                        <a:t>500</a:t>
                      </a:r>
                      <a:endParaRPr lang="en-IN" sz="900" b="0" i="0" u="none" strike="noStrike" dirty="0">
                        <a:solidFill>
                          <a:srgbClr val="000000"/>
                        </a:solidFill>
                        <a:effectLst/>
                        <a:latin typeface="Times New Roman" panose="02020603050405020304" pitchFamily="18" charset="0"/>
                      </a:endParaRPr>
                    </a:p>
                  </a:txBody>
                  <a:tcPr marL="36000" marR="36000" marT="7620" marB="0" anchor="ctr"/>
                </a:tc>
                <a:tc>
                  <a:txBody>
                    <a:bodyPr/>
                    <a:lstStyle/>
                    <a:p>
                      <a:pPr algn="just" fontAlgn="t"/>
                      <a:r>
                        <a:rPr lang="en-IN" sz="900" u="none" strike="noStrike" dirty="0">
                          <a:effectLst/>
                        </a:rPr>
                        <a:t>Power import from Bhutan</a:t>
                      </a:r>
                      <a:endParaRPr lang="en-IN" sz="900" b="0" i="0" u="none" strike="noStrike" dirty="0">
                        <a:solidFill>
                          <a:srgbClr val="000000"/>
                        </a:solidFill>
                        <a:effectLst/>
                        <a:latin typeface="Times New Roman" panose="02020603050405020304" pitchFamily="18" charset="0"/>
                      </a:endParaRPr>
                    </a:p>
                  </a:txBody>
                  <a:tcPr marL="36000" marR="36000" marT="7620" marB="0" anchor="ctr"/>
                </a:tc>
                <a:extLst>
                  <a:ext uri="{0D108BD9-81ED-4DB2-BD59-A6C34878D82A}">
                    <a16:rowId xmlns:a16="http://schemas.microsoft.com/office/drawing/2014/main" val="2597942826"/>
                  </a:ext>
                </a:extLst>
              </a:tr>
              <a:tr h="174521">
                <a:tc>
                  <a:txBody>
                    <a:bodyPr/>
                    <a:lstStyle/>
                    <a:p>
                      <a:pPr algn="l" fontAlgn="t"/>
                      <a:r>
                        <a:rPr lang="en-IN" sz="900" u="none" strike="noStrike" dirty="0">
                          <a:effectLst/>
                        </a:rPr>
                        <a:t>Bibiyana - Meghalaya (PSPP)</a:t>
                      </a:r>
                      <a:endParaRPr lang="en-IN" sz="900" b="0" i="0" u="none" strike="noStrike" dirty="0">
                        <a:solidFill>
                          <a:srgbClr val="000000"/>
                        </a:solidFill>
                        <a:effectLst/>
                        <a:latin typeface="Times New Roman" panose="02020603050405020304" pitchFamily="18" charset="0"/>
                      </a:endParaRPr>
                    </a:p>
                  </a:txBody>
                  <a:tcPr marL="36000" marR="36000" marT="7620" marB="0" anchor="ctr"/>
                </a:tc>
                <a:tc>
                  <a:txBody>
                    <a:bodyPr/>
                    <a:lstStyle/>
                    <a:p>
                      <a:pPr algn="l" fontAlgn="t"/>
                      <a:r>
                        <a:rPr lang="en-IN" sz="900" u="none" strike="noStrike" dirty="0">
                          <a:effectLst/>
                        </a:rPr>
                        <a:t>1,000</a:t>
                      </a:r>
                      <a:endParaRPr lang="en-IN" sz="900" b="0" i="0" u="none" strike="noStrike" dirty="0">
                        <a:solidFill>
                          <a:srgbClr val="000000"/>
                        </a:solidFill>
                        <a:effectLst/>
                        <a:latin typeface="Times New Roman" panose="02020603050405020304" pitchFamily="18" charset="0"/>
                      </a:endParaRPr>
                    </a:p>
                  </a:txBody>
                  <a:tcPr marL="36000" marR="36000" marT="7620" marB="0" anchor="ctr"/>
                </a:tc>
                <a:tc>
                  <a:txBody>
                    <a:bodyPr/>
                    <a:lstStyle/>
                    <a:p>
                      <a:pPr algn="just" fontAlgn="t"/>
                      <a:r>
                        <a:rPr lang="en-IN" sz="900" u="none" strike="noStrike" dirty="0">
                          <a:effectLst/>
                        </a:rPr>
                        <a:t>PSPP in Meghalaya State</a:t>
                      </a:r>
                      <a:endParaRPr lang="en-IN" sz="900" b="0" i="0" u="none" strike="noStrike" dirty="0">
                        <a:solidFill>
                          <a:srgbClr val="000000"/>
                        </a:solidFill>
                        <a:effectLst/>
                        <a:latin typeface="Times New Roman" panose="02020603050405020304" pitchFamily="18" charset="0"/>
                      </a:endParaRPr>
                    </a:p>
                  </a:txBody>
                  <a:tcPr marL="36000" marR="36000" marT="7620" marB="0" anchor="ctr"/>
                </a:tc>
                <a:extLst>
                  <a:ext uri="{0D108BD9-81ED-4DB2-BD59-A6C34878D82A}">
                    <a16:rowId xmlns:a16="http://schemas.microsoft.com/office/drawing/2014/main" val="1970708447"/>
                  </a:ext>
                </a:extLst>
              </a:tr>
              <a:tr h="236650">
                <a:tc>
                  <a:txBody>
                    <a:bodyPr/>
                    <a:lstStyle/>
                    <a:p>
                      <a:pPr algn="l" fontAlgn="t"/>
                      <a:r>
                        <a:rPr lang="en-IN" sz="900" u="none" strike="noStrike" dirty="0">
                          <a:effectLst/>
                        </a:rPr>
                        <a:t>From Nepal</a:t>
                      </a:r>
                      <a:endParaRPr lang="en-IN" sz="900" b="0" i="0" u="none" strike="noStrike" dirty="0">
                        <a:solidFill>
                          <a:srgbClr val="000000"/>
                        </a:solidFill>
                        <a:effectLst/>
                        <a:latin typeface="Times New Roman" panose="02020603050405020304" pitchFamily="18" charset="0"/>
                      </a:endParaRPr>
                    </a:p>
                  </a:txBody>
                  <a:tcPr marL="36000" marR="36000" marT="7620" marB="0" anchor="ctr">
                    <a:solidFill>
                      <a:schemeClr val="accent3">
                        <a:lumMod val="20000"/>
                        <a:lumOff val="80000"/>
                      </a:schemeClr>
                    </a:solidFill>
                  </a:tcPr>
                </a:tc>
                <a:tc>
                  <a:txBody>
                    <a:bodyPr/>
                    <a:lstStyle/>
                    <a:p>
                      <a:pPr algn="l" fontAlgn="t"/>
                      <a:r>
                        <a:rPr lang="en-IN" sz="900" u="none" strike="noStrike" dirty="0">
                          <a:effectLst/>
                        </a:rPr>
                        <a:t>500</a:t>
                      </a:r>
                      <a:br>
                        <a:rPr lang="en-IN" sz="900" u="none" strike="noStrike" dirty="0">
                          <a:effectLst/>
                        </a:rPr>
                      </a:br>
                      <a:r>
                        <a:rPr lang="en-IN" sz="900" u="none" strike="noStrike" dirty="0">
                          <a:effectLst/>
                        </a:rPr>
                        <a:t>500</a:t>
                      </a:r>
                      <a:endParaRPr lang="en-IN" sz="900" b="0" i="0" u="none" strike="noStrike" dirty="0">
                        <a:solidFill>
                          <a:srgbClr val="000000"/>
                        </a:solidFill>
                        <a:effectLst/>
                        <a:latin typeface="Times New Roman" panose="02020603050405020304" pitchFamily="18" charset="0"/>
                      </a:endParaRPr>
                    </a:p>
                  </a:txBody>
                  <a:tcPr marL="36000" marR="36000" marT="7620" marB="0" anchor="ctr">
                    <a:solidFill>
                      <a:schemeClr val="accent3">
                        <a:lumMod val="20000"/>
                        <a:lumOff val="80000"/>
                      </a:schemeClr>
                    </a:solidFill>
                  </a:tcPr>
                </a:tc>
                <a:tc>
                  <a:txBody>
                    <a:bodyPr/>
                    <a:lstStyle/>
                    <a:p>
                      <a:pPr algn="just" fontAlgn="t"/>
                      <a:r>
                        <a:rPr lang="en-US" sz="900" u="none" strike="noStrike" dirty="0">
                          <a:effectLst/>
                        </a:rPr>
                        <a:t>Power import by using Case 3 T/L (upgrade to 765kV AC)</a:t>
                      </a:r>
                      <a:endParaRPr lang="en-US" sz="900" b="0" i="0" u="none" strike="noStrike" dirty="0">
                        <a:solidFill>
                          <a:srgbClr val="000000"/>
                        </a:solidFill>
                        <a:effectLst/>
                        <a:latin typeface="Times New Roman" panose="02020603050405020304" pitchFamily="18" charset="0"/>
                      </a:endParaRPr>
                    </a:p>
                  </a:txBody>
                  <a:tcPr marL="36000" marR="36000" marT="7620" marB="0" anchor="ctr">
                    <a:solidFill>
                      <a:schemeClr val="accent3">
                        <a:lumMod val="20000"/>
                        <a:lumOff val="80000"/>
                      </a:schemeClr>
                    </a:solidFill>
                  </a:tcPr>
                </a:tc>
                <a:extLst>
                  <a:ext uri="{0D108BD9-81ED-4DB2-BD59-A6C34878D82A}">
                    <a16:rowId xmlns:a16="http://schemas.microsoft.com/office/drawing/2014/main" val="559661891"/>
                  </a:ext>
                </a:extLst>
              </a:tr>
              <a:tr h="121523">
                <a:tc>
                  <a:txBody>
                    <a:bodyPr/>
                    <a:lstStyle/>
                    <a:p>
                      <a:pPr algn="l" fontAlgn="t"/>
                      <a:r>
                        <a:rPr lang="en-IN" sz="900" u="none" strike="noStrike" dirty="0">
                          <a:effectLst/>
                        </a:rPr>
                        <a:t>Cox's Bazar – Myanmar</a:t>
                      </a:r>
                      <a:endParaRPr lang="en-IN" sz="900" b="0" i="0" u="none" strike="noStrike" dirty="0">
                        <a:solidFill>
                          <a:srgbClr val="000000"/>
                        </a:solidFill>
                        <a:effectLst/>
                        <a:latin typeface="Times New Roman" panose="02020603050405020304" pitchFamily="18" charset="0"/>
                      </a:endParaRPr>
                    </a:p>
                  </a:txBody>
                  <a:tcPr marL="36000" marR="36000" marT="7620" marB="0" anchor="ctr"/>
                </a:tc>
                <a:tc>
                  <a:txBody>
                    <a:bodyPr/>
                    <a:lstStyle/>
                    <a:p>
                      <a:pPr algn="l" fontAlgn="t"/>
                      <a:r>
                        <a:rPr lang="en-IN" sz="900" u="none" strike="noStrike" dirty="0">
                          <a:effectLst/>
                        </a:rPr>
                        <a:t>500</a:t>
                      </a:r>
                      <a:endParaRPr lang="en-IN" sz="900" b="0" i="0" u="none" strike="noStrike" dirty="0">
                        <a:solidFill>
                          <a:srgbClr val="000000"/>
                        </a:solidFill>
                        <a:effectLst/>
                        <a:latin typeface="Times New Roman" panose="02020603050405020304" pitchFamily="18" charset="0"/>
                      </a:endParaRPr>
                    </a:p>
                  </a:txBody>
                  <a:tcPr marL="36000" marR="36000" marT="7620" marB="0" anchor="ctr"/>
                </a:tc>
                <a:tc>
                  <a:txBody>
                    <a:bodyPr/>
                    <a:lstStyle/>
                    <a:p>
                      <a:pPr algn="just" fontAlgn="t"/>
                      <a:r>
                        <a:rPr lang="en-IN" sz="900" u="none" strike="noStrike" dirty="0">
                          <a:effectLst/>
                        </a:rPr>
                        <a:t>Power import from Myanmar</a:t>
                      </a:r>
                      <a:endParaRPr lang="en-IN" sz="900" b="0" i="0" u="none" strike="noStrike" dirty="0">
                        <a:solidFill>
                          <a:srgbClr val="000000"/>
                        </a:solidFill>
                        <a:effectLst/>
                        <a:latin typeface="Times New Roman" panose="02020603050405020304" pitchFamily="18" charset="0"/>
                      </a:endParaRPr>
                    </a:p>
                  </a:txBody>
                  <a:tcPr marL="36000" marR="36000" marT="7620" marB="0" anchor="ctr"/>
                </a:tc>
                <a:extLst>
                  <a:ext uri="{0D108BD9-81ED-4DB2-BD59-A6C34878D82A}">
                    <a16:rowId xmlns:a16="http://schemas.microsoft.com/office/drawing/2014/main" val="1007597774"/>
                  </a:ext>
                </a:extLst>
              </a:tr>
              <a:tr h="121523">
                <a:tc>
                  <a:txBody>
                    <a:bodyPr/>
                    <a:lstStyle/>
                    <a:p>
                      <a:pPr algn="l" fontAlgn="t"/>
                      <a:r>
                        <a:rPr lang="en-IN" sz="900" b="1" u="none" strike="noStrike" dirty="0">
                          <a:effectLst/>
                        </a:rPr>
                        <a:t>Total</a:t>
                      </a:r>
                      <a:endParaRPr lang="en-IN" sz="900" b="1" i="0" u="none" strike="noStrike" dirty="0">
                        <a:solidFill>
                          <a:srgbClr val="000000"/>
                        </a:solidFill>
                        <a:effectLst/>
                        <a:latin typeface="Times New Roman" panose="02020603050405020304" pitchFamily="18" charset="0"/>
                      </a:endParaRPr>
                    </a:p>
                  </a:txBody>
                  <a:tcPr marL="36000" marR="36000" marT="7620" marB="0" anchor="ctr"/>
                </a:tc>
                <a:tc>
                  <a:txBody>
                    <a:bodyPr/>
                    <a:lstStyle/>
                    <a:p>
                      <a:pPr algn="l" fontAlgn="t"/>
                      <a:r>
                        <a:rPr lang="en-IN" sz="900" b="1" u="none" strike="noStrike" dirty="0">
                          <a:effectLst/>
                        </a:rPr>
                        <a:t>~9,000</a:t>
                      </a:r>
                      <a:endParaRPr lang="en-IN" sz="900" b="1" i="0" u="none" strike="noStrike" dirty="0">
                        <a:solidFill>
                          <a:srgbClr val="000000"/>
                        </a:solidFill>
                        <a:effectLst/>
                        <a:latin typeface="Times New Roman" panose="02020603050405020304" pitchFamily="18" charset="0"/>
                      </a:endParaRPr>
                    </a:p>
                  </a:txBody>
                  <a:tcPr marL="36000" marR="36000" marT="7620" marB="0" anchor="ctr"/>
                </a:tc>
                <a:tc>
                  <a:txBody>
                    <a:bodyPr/>
                    <a:lstStyle/>
                    <a:p>
                      <a:pPr algn="l" fontAlgn="t"/>
                      <a:r>
                        <a:rPr lang="en-IN" sz="900" u="none" strike="noStrike" dirty="0">
                          <a:effectLst/>
                        </a:rPr>
                        <a:t> </a:t>
                      </a:r>
                      <a:endParaRPr lang="en-IN" sz="900" b="0" i="0" u="none" strike="noStrike" dirty="0">
                        <a:solidFill>
                          <a:srgbClr val="000000"/>
                        </a:solidFill>
                        <a:effectLst/>
                        <a:latin typeface="Calibri" panose="020F0502020204030204" pitchFamily="34" charset="0"/>
                      </a:endParaRPr>
                    </a:p>
                  </a:txBody>
                  <a:tcPr marL="36000" marR="36000" marT="7620" marB="0" anchor="ctr"/>
                </a:tc>
                <a:extLst>
                  <a:ext uri="{0D108BD9-81ED-4DB2-BD59-A6C34878D82A}">
                    <a16:rowId xmlns:a16="http://schemas.microsoft.com/office/drawing/2014/main" val="2325638609"/>
                  </a:ext>
                </a:extLst>
              </a:tr>
            </a:tbl>
          </a:graphicData>
        </a:graphic>
      </p:graphicFrame>
      <p:graphicFrame>
        <p:nvGraphicFramePr>
          <p:cNvPr id="24" name="Chart 23"/>
          <p:cNvGraphicFramePr/>
          <p:nvPr>
            <p:custDataLst>
              <p:tags r:id="rId5"/>
            </p:custDataLst>
            <p:extLst>
              <p:ext uri="{D42A27DB-BD31-4B8C-83A1-F6EECF244321}">
                <p14:modId xmlns:p14="http://schemas.microsoft.com/office/powerpoint/2010/main" val="4047186778"/>
              </p:ext>
            </p:extLst>
          </p:nvPr>
        </p:nvGraphicFramePr>
        <p:xfrm>
          <a:off x="5441950" y="6043613"/>
          <a:ext cx="4881563" cy="1057275"/>
        </p:xfrm>
        <a:graphic>
          <a:graphicData uri="http://schemas.openxmlformats.org/drawingml/2006/chart">
            <c:chart xmlns:c="http://schemas.openxmlformats.org/drawingml/2006/chart" xmlns:r="http://schemas.openxmlformats.org/officeDocument/2006/relationships" r:id="rId11"/>
          </a:graphicData>
        </a:graphic>
      </p:graphicFrame>
      <p:sp>
        <p:nvSpPr>
          <p:cNvPr id="13" name="StandardTextbox"/>
          <p:cNvSpPr>
            <a:spLocks noGrp="1"/>
          </p:cNvSpPr>
          <p:nvPr>
            <p:custDataLst>
              <p:tags r:id="rId6"/>
            </p:custDataLst>
          </p:nvPr>
        </p:nvSpPr>
        <p:spPr bwMode="auto">
          <a:xfrm>
            <a:off x="5908675" y="7104063"/>
            <a:ext cx="1589088"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B1A6977D-CA33-48D4-A951-1C304D58B5D2}" type="datetime'P''lanned ''Imported ''''Powe''r by BPDB (FY26)'' (''''''MW)'">
              <a:rPr lang="en-US" altLang="en-US" b="0" smtClean="0">
                <a:solidFill>
                  <a:srgbClr val="000000"/>
                </a:solidFill>
              </a:rPr>
              <a:pPr lvl="1" algn="ctr">
                <a:spcBef>
                  <a:spcPct val="0"/>
                </a:spcBef>
                <a:spcAft>
                  <a:spcPct val="0"/>
                </a:spcAft>
                <a:defRPr/>
              </a:pPr>
              <a:t>Planned Imported Power by BPDB (FY26) (MW)</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4" name="StandardTextbox"/>
          <p:cNvSpPr>
            <a:spLocks noGrp="1"/>
          </p:cNvSpPr>
          <p:nvPr>
            <p:custDataLst>
              <p:tags r:id="rId7"/>
            </p:custDataLst>
          </p:nvPr>
        </p:nvSpPr>
        <p:spPr bwMode="auto">
          <a:xfrm>
            <a:off x="8226425" y="7104063"/>
            <a:ext cx="1670050"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3F871279-8985-4867-96D6-C2AB530C02E2}" type="datetime'Probabl''e Serviceable C''ap''acity til''l F''''Y2''026 (MW)'">
              <a:rPr lang="en-US" altLang="en-US" b="0" smtClean="0">
                <a:solidFill>
                  <a:srgbClr val="000000"/>
                </a:solidFill>
              </a:rPr>
              <a:pPr lvl="1" algn="ctr">
                <a:spcBef>
                  <a:spcPct val="0"/>
                </a:spcBef>
                <a:spcAft>
                  <a:spcPct val="0"/>
                </a:spcAft>
                <a:defRPr/>
              </a:pPr>
              <a:t>Probable Serviceable Capacity till FY2026 (MW)</a:t>
            </a:fld>
            <a:endParaRPr kumimoji="0" lang="en-IN" sz="1000" b="0" i="0" strike="noStrike" kern="1200" spc="0" normalizeH="0" noProof="0" dirty="0">
              <a:ln>
                <a:noFill/>
              </a:ln>
              <a:solidFill>
                <a:srgbClr val="000000"/>
              </a:solidFill>
              <a:effectLst/>
              <a:uLnTx/>
              <a:uFillTx/>
              <a:latin typeface="Verdana"/>
              <a:sym typeface="+mn-lt"/>
            </a:endParaRPr>
          </a:p>
        </p:txBody>
      </p:sp>
    </p:spTree>
    <p:extLst>
      <p:ext uri="{BB962C8B-B14F-4D97-AF65-F5344CB8AC3E}">
        <p14:creationId xmlns:p14="http://schemas.microsoft.com/office/powerpoint/2010/main" val="2209210142"/>
      </p:ext>
    </p:extLst>
  </p:cSld>
  <p:clrMapOvr>
    <a:masterClrMapping/>
  </p:clrMapOvr>
  <p:transition>
    <p:fade/>
  </p:transition>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370425782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0" imgW="530" imgH="531" progId="TCLayout.ActiveDocument.1">
                  <p:embed/>
                </p:oleObj>
              </mc:Choice>
              <mc:Fallback>
                <p:oleObj name="think-cell Slide" r:id="rId30" imgW="530" imgH="531" progId="TCLayout.ActiveDocument.1">
                  <p:embed/>
                  <p:pic>
                    <p:nvPicPr>
                      <p:cNvPr id="4" name="Object 3" hidden="1"/>
                      <p:cNvPicPr/>
                      <p:nvPr/>
                    </p:nvPicPr>
                    <p:blipFill>
                      <a:blip r:embed="rId31"/>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a:xfrm>
            <a:off x="449263" y="647700"/>
            <a:ext cx="9935963" cy="430695"/>
          </a:xfrm>
        </p:spPr>
        <p:txBody>
          <a:bodyPr/>
          <a:lstStyle/>
          <a:p>
            <a:r>
              <a:rPr lang="en-US" dirty="0"/>
              <a:t>Power Market | Supply Projection for average demand (FY26)</a:t>
            </a:r>
            <a:endParaRPr lang="en-IN" dirty="0"/>
          </a:p>
        </p:txBody>
      </p:sp>
      <p:sp>
        <p:nvSpPr>
          <p:cNvPr id="50" name="Strapline"/>
          <p:cNvSpPr txBox="1">
            <a:spLocks/>
          </p:cNvSpPr>
          <p:nvPr/>
        </p:nvSpPr>
        <p:spPr>
          <a:xfrm>
            <a:off x="449993" y="1079982"/>
            <a:ext cx="9791843" cy="708897"/>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With 11,542 MW of</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incremental capacity required to meet average demand, Bangladesh has planned capacity addition of ~9,900 MW; With ~1,350 MW being planned with liquid based fuels, the supply portfolio still requires ~3,000 MW for economical &amp; cheaper dispatch by FY26</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3"/>
            </p:custDataLst>
            <p:extLst>
              <p:ext uri="{D42A27DB-BD31-4B8C-83A1-F6EECF244321}">
                <p14:modId xmlns:p14="http://schemas.microsoft.com/office/powerpoint/2010/main" val="545679085"/>
              </p:ext>
            </p:extLst>
          </p:nvPr>
        </p:nvGraphicFramePr>
        <p:xfrm>
          <a:off x="449993" y="1961919"/>
          <a:ext cx="4734896" cy="4935282"/>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4935282">
                <a:tc>
                  <a:txBody>
                    <a:bodyPr/>
                    <a:lstStyle/>
                    <a:p>
                      <a:pPr marL="0" indent="0" algn="just">
                        <a:spcBef>
                          <a:spcPts val="600"/>
                        </a:spcBef>
                        <a:spcAft>
                          <a:spcPts val="500"/>
                        </a:spcAft>
                        <a:buFont typeface="Arial" panose="020B0604020202020204" pitchFamily="34" charset="0"/>
                        <a:buNone/>
                      </a:pPr>
                      <a:r>
                        <a:rPr lang="en-US" sz="1000" b="1" baseline="0" dirty="0">
                          <a:solidFill>
                            <a:schemeClr val="tx1"/>
                          </a:solidFill>
                        </a:rPr>
                        <a:t>Installed Capacity Projection (Serviceable)</a:t>
                      </a:r>
                      <a:endParaRPr lang="en-US" sz="1000" b="0" baseline="0" dirty="0">
                        <a:solidFill>
                          <a:schemeClr val="tx1"/>
                        </a:solidFill>
                      </a:endParaRPr>
                    </a:p>
                    <a:p>
                      <a:pPr marL="171450" marR="0" lvl="0" indent="-171450" algn="just" defTabSz="990571" rtl="0" eaLnBrk="1" fontAlgn="auto" latinLnBrk="0" hangingPunct="1">
                        <a:lnSpc>
                          <a:spcPct val="100000"/>
                        </a:lnSpc>
                        <a:spcBef>
                          <a:spcPts val="60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Based on our assessment of planned Gas based power plants, ~about 2,900 MW of planned capacity addition may be commissioned based on existing progress on the projects</a:t>
                      </a:r>
                    </a:p>
                    <a:p>
                      <a:pPr marL="171450" indent="-171450" algn="just" defTabSz="990571" rtl="0" eaLnBrk="1" latinLnBrk="0" hangingPunct="1">
                        <a:spcBef>
                          <a:spcPts val="600"/>
                        </a:spcBef>
                        <a:spcAft>
                          <a:spcPts val="500"/>
                        </a:spcAft>
                        <a:buFont typeface="Arial" panose="020B0604020202020204" pitchFamily="34" charset="0"/>
                        <a:buChar char="•"/>
                      </a:pPr>
                      <a:r>
                        <a:rPr lang="en-US" sz="1000" b="0" kern="1200" baseline="0" dirty="0">
                          <a:solidFill>
                            <a:schemeClr val="tx1"/>
                          </a:solidFill>
                          <a:latin typeface="+mn-lt"/>
                          <a:ea typeface="+mn-ea"/>
                          <a:cs typeface="+mn-cs"/>
                        </a:rPr>
                        <a:t>We expect ~1,200 MW of LNG based power plants with signed PPA &amp; provision to run on Natural Gas may get operationalized by FY26</a:t>
                      </a:r>
                    </a:p>
                    <a:p>
                      <a:pPr marL="171450" indent="-171450" algn="just" defTabSz="990571" rtl="0" eaLnBrk="1" latinLnBrk="0" hangingPunct="1">
                        <a:spcBef>
                          <a:spcPts val="600"/>
                        </a:spcBef>
                        <a:spcAft>
                          <a:spcPts val="500"/>
                        </a:spcAft>
                        <a:buFont typeface="Arial" panose="020B0604020202020204" pitchFamily="34" charset="0"/>
                        <a:buChar char="•"/>
                      </a:pPr>
                      <a:r>
                        <a:rPr lang="en-US" sz="1000" b="0" i="0" kern="1200" baseline="0" dirty="0">
                          <a:solidFill>
                            <a:schemeClr val="tx1"/>
                          </a:solidFill>
                          <a:latin typeface="+mn-lt"/>
                          <a:ea typeface="+mn-ea"/>
                          <a:cs typeface="+mn-cs"/>
                        </a:rPr>
                        <a:t>BPDB has planned the Sayedpur 161 MW HSD based plant which is expected to be commissioned by FY23</a:t>
                      </a:r>
                    </a:p>
                    <a:p>
                      <a:pPr marL="171450" indent="-171450" algn="just" defTabSz="990571" rtl="0" eaLnBrk="1" latinLnBrk="0" hangingPunct="1">
                        <a:spcBef>
                          <a:spcPts val="600"/>
                        </a:spcBef>
                        <a:spcAft>
                          <a:spcPts val="500"/>
                        </a:spcAft>
                        <a:buFont typeface="Arial" panose="020B0604020202020204" pitchFamily="34" charset="0"/>
                        <a:buChar char="•"/>
                      </a:pPr>
                      <a:r>
                        <a:rPr lang="en-US" sz="1000" b="0" kern="1200" baseline="0" dirty="0">
                          <a:solidFill>
                            <a:schemeClr val="tx1"/>
                          </a:solidFill>
                          <a:latin typeface="+mn-lt"/>
                          <a:ea typeface="+mn-ea"/>
                          <a:cs typeface="+mn-cs"/>
                        </a:rPr>
                        <a:t>The power import from India includes planned commissioning of Adani’s ~1,500 MW Godda Power project which requires construction of a dedicated transmission line which is expected to be commissioned along with the plant by FY26</a:t>
                      </a:r>
                    </a:p>
                    <a:p>
                      <a:pPr marL="171450" indent="-171450" algn="just" defTabSz="990571" rtl="0" eaLnBrk="1" latinLnBrk="0" hangingPunct="1">
                        <a:spcBef>
                          <a:spcPts val="600"/>
                        </a:spcBef>
                        <a:spcAft>
                          <a:spcPts val="500"/>
                        </a:spcAft>
                        <a:buFont typeface="Arial" panose="020B0604020202020204" pitchFamily="34" charset="0"/>
                        <a:buChar char="•"/>
                      </a:pPr>
                      <a:r>
                        <a:rPr lang="en-US" sz="1000" b="0" i="0" kern="1200" baseline="0" dirty="0">
                          <a:solidFill>
                            <a:schemeClr val="tx1"/>
                          </a:solidFill>
                          <a:latin typeface="+mn-lt"/>
                          <a:ea typeface="+mn-ea"/>
                          <a:cs typeface="+mn-cs"/>
                        </a:rPr>
                        <a:t>The planned HFO / HSD capacity may be commissioned considering the peaking power requirements and is expected to be phased over time as newer &amp; efficient power plants are commissioned</a:t>
                      </a:r>
                    </a:p>
                    <a:p>
                      <a:pPr marL="171450" indent="-171450" algn="just" defTabSz="990571" rtl="0" eaLnBrk="1" latinLnBrk="0" hangingPunct="1">
                        <a:spcBef>
                          <a:spcPts val="600"/>
                        </a:spcBef>
                        <a:spcAft>
                          <a:spcPts val="500"/>
                        </a:spcAft>
                        <a:buFont typeface="Arial" panose="020B0604020202020204" pitchFamily="34" charset="0"/>
                        <a:buChar char="•"/>
                      </a:pPr>
                      <a:r>
                        <a:rPr lang="en-US" sz="1000" b="1" i="1" kern="1200" baseline="0" dirty="0">
                          <a:solidFill>
                            <a:schemeClr val="tx1"/>
                          </a:solidFill>
                          <a:latin typeface="+mn-lt"/>
                          <a:ea typeface="+mn-ea"/>
                          <a:cs typeface="+mn-cs"/>
                        </a:rPr>
                        <a:t>Thus, with projected capacity requirement of 11,540 MW by FY26 to meet average demand Bangladesh may add ~9,900 MW of capacity</a:t>
                      </a:r>
                    </a:p>
                    <a:p>
                      <a:pPr marL="171450" indent="-171450" algn="just" defTabSz="990571" rtl="0" eaLnBrk="1" latinLnBrk="0" hangingPunct="1">
                        <a:spcBef>
                          <a:spcPts val="600"/>
                        </a:spcBef>
                        <a:spcAft>
                          <a:spcPts val="500"/>
                        </a:spcAft>
                        <a:buFont typeface="Arial" panose="020B0604020202020204" pitchFamily="34" charset="0"/>
                        <a:buChar char="•"/>
                      </a:pPr>
                      <a:r>
                        <a:rPr lang="en-US" sz="1000" b="1" i="1" kern="1200" baseline="0" dirty="0">
                          <a:solidFill>
                            <a:schemeClr val="tx1"/>
                          </a:solidFill>
                          <a:latin typeface="+mn-lt"/>
                          <a:ea typeface="+mn-ea"/>
                          <a:cs typeface="+mn-cs"/>
                        </a:rPr>
                        <a:t>However the above capacity addition also includes ~1,350 MW of liquid fuel plants which may still be replaceable from economic perspective</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56" name="Table 55"/>
          <p:cNvGraphicFramePr>
            <a:graphicFrameLocks noGrp="1"/>
          </p:cNvGraphicFramePr>
          <p:nvPr>
            <p:custDataLst>
              <p:tags r:id="rId4"/>
            </p:custDataLst>
            <p:extLst>
              <p:ext uri="{D42A27DB-BD31-4B8C-83A1-F6EECF244321}">
                <p14:modId xmlns:p14="http://schemas.microsoft.com/office/powerpoint/2010/main" val="2976155212"/>
              </p:ext>
            </p:ext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figure shows the Serviceable Additional Fuel Wise Capacity (MW) Projection being added in the Bangladesh Power System till FY26:</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figure shows the probable and required capacity addition (MW) by FY26 in Bangladesh</a:t>
                      </a:r>
                    </a:p>
                    <a:p>
                      <a:pPr marL="171450" lvl="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cxnSp>
        <p:nvCxnSpPr>
          <p:cNvPr id="58" name="Straight Connector 57"/>
          <p:cNvCxnSpPr/>
          <p:nvPr>
            <p:custDataLst>
              <p:tags r:id="rId5"/>
            </p:custDataLst>
          </p:nvPr>
        </p:nvCxnSpPr>
        <p:spPr bwMode="auto">
          <a:xfrm>
            <a:off x="5983287" y="3532188"/>
            <a:ext cx="2603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custDataLst>
              <p:tags r:id="rId6"/>
            </p:custDataLst>
          </p:nvPr>
        </p:nvCxnSpPr>
        <p:spPr bwMode="auto">
          <a:xfrm>
            <a:off x="6572249" y="3414713"/>
            <a:ext cx="261938"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custDataLst>
              <p:tags r:id="rId7"/>
            </p:custDataLst>
          </p:nvPr>
        </p:nvCxnSpPr>
        <p:spPr bwMode="auto">
          <a:xfrm>
            <a:off x="7162799" y="3146425"/>
            <a:ext cx="2603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custDataLst>
              <p:tags r:id="rId8"/>
            </p:custDataLst>
          </p:nvPr>
        </p:nvCxnSpPr>
        <p:spPr bwMode="auto">
          <a:xfrm>
            <a:off x="7751762" y="2960688"/>
            <a:ext cx="261938"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custDataLst>
              <p:tags r:id="rId9"/>
            </p:custDataLst>
          </p:nvPr>
        </p:nvCxnSpPr>
        <p:spPr bwMode="auto">
          <a:xfrm>
            <a:off x="8342312" y="2840038"/>
            <a:ext cx="2603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custDataLst>
              <p:tags r:id="rId10"/>
            </p:custDataLst>
          </p:nvPr>
        </p:nvCxnSpPr>
        <p:spPr bwMode="auto">
          <a:xfrm>
            <a:off x="8931274" y="2824163"/>
            <a:ext cx="2603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custDataLst>
              <p:tags r:id="rId11"/>
            </p:custDataLst>
          </p:nvPr>
        </p:nvCxnSpPr>
        <p:spPr bwMode="auto">
          <a:xfrm>
            <a:off x="9520237" y="2822575"/>
            <a:ext cx="261938"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Rectangle 106"/>
          <p:cNvSpPr/>
          <p:nvPr>
            <p:custDataLst>
              <p:tags r:id="rId12"/>
            </p:custDataLst>
          </p:nvPr>
        </p:nvSpPr>
        <p:spPr bwMode="auto">
          <a:xfrm>
            <a:off x="9191625" y="2822575"/>
            <a:ext cx="328613" cy="1588"/>
          </a:xfrm>
          <a:prstGeom prst="rect">
            <a:avLst/>
          </a:prstGeom>
          <a:solidFill>
            <a:schemeClr val="accent4"/>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graphicFrame>
        <p:nvGraphicFramePr>
          <p:cNvPr id="46" name="Chart 45"/>
          <p:cNvGraphicFramePr/>
          <p:nvPr>
            <p:custDataLst>
              <p:tags r:id="rId13"/>
            </p:custDataLst>
            <p:extLst>
              <p:ext uri="{D42A27DB-BD31-4B8C-83A1-F6EECF244321}">
                <p14:modId xmlns:p14="http://schemas.microsoft.com/office/powerpoint/2010/main" val="3641748706"/>
              </p:ext>
            </p:extLst>
          </p:nvPr>
        </p:nvGraphicFramePr>
        <p:xfrm>
          <a:off x="5441950" y="2638425"/>
          <a:ext cx="4881563" cy="1268413"/>
        </p:xfrm>
        <a:graphic>
          <a:graphicData uri="http://schemas.openxmlformats.org/drawingml/2006/chart">
            <c:chart xmlns:c="http://schemas.openxmlformats.org/drawingml/2006/chart" xmlns:r="http://schemas.openxmlformats.org/officeDocument/2006/relationships" r:id="rId32"/>
          </a:graphicData>
        </a:graphic>
      </p:graphicFrame>
      <p:sp>
        <p:nvSpPr>
          <p:cNvPr id="357" name="StandardTextbox"/>
          <p:cNvSpPr>
            <a:spLocks noGrp="1"/>
          </p:cNvSpPr>
          <p:nvPr>
            <p:custDataLst>
              <p:tags r:id="rId14"/>
            </p:custDataLst>
          </p:nvPr>
        </p:nvSpPr>
        <p:spPr bwMode="gray">
          <a:xfrm>
            <a:off x="9299575" y="2660650"/>
            <a:ext cx="11112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7DBF4751-4EE4-4267-81DE-34E1957C59B5}" type="datetime'''''''''''''''''''''''''''''''8'''''''''''''''''''''">
              <a:rPr lang="en-IN" altLang="en-US" sz="900" b="0" smtClean="0">
                <a:sym typeface="+mn-lt"/>
              </a:rPr>
              <a:pPr lvl="1" algn="ctr">
                <a:spcBef>
                  <a:spcPct val="0"/>
                </a:spcBef>
                <a:spcAft>
                  <a:spcPct val="0"/>
                </a:spcAft>
              </a:pPr>
              <a:t>8</a:t>
            </a:fld>
            <a:endParaRPr lang="en-IN" sz="900" b="0" noProof="0" dirty="0">
              <a:sym typeface="+mn-lt"/>
            </a:endParaRPr>
          </a:p>
        </p:txBody>
      </p:sp>
      <p:sp>
        <p:nvSpPr>
          <p:cNvPr id="124" name="StandardTextbox"/>
          <p:cNvSpPr>
            <a:spLocks noGrp="1"/>
          </p:cNvSpPr>
          <p:nvPr>
            <p:custDataLst>
              <p:tags r:id="rId15"/>
            </p:custDataLst>
          </p:nvPr>
        </p:nvSpPr>
        <p:spPr bwMode="auto">
          <a:xfrm>
            <a:off x="8634413" y="3900488"/>
            <a:ext cx="26352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E1B682E-6974-4A60-A1DA-8A00598CD17E}" type="datetime'''''''''''''''''''H''''''''S''''''D'''">
              <a:rPr lang="en-IN" altLang="en-US" sz="900" b="0" smtClean="0">
                <a:sym typeface="+mn-lt"/>
              </a:rPr>
              <a:pPr lvl="1" algn="ctr">
                <a:spcBef>
                  <a:spcPct val="0"/>
                </a:spcBef>
                <a:spcAft>
                  <a:spcPct val="0"/>
                </a:spcAft>
              </a:pPr>
              <a:t>HSD</a:t>
            </a:fld>
            <a:endParaRPr lang="en-IN" sz="900" b="0" noProof="0" dirty="0">
              <a:sym typeface="+mn-lt"/>
            </a:endParaRPr>
          </a:p>
        </p:txBody>
      </p:sp>
      <p:sp>
        <p:nvSpPr>
          <p:cNvPr id="98" name="StandardTextbox"/>
          <p:cNvSpPr>
            <a:spLocks noGrp="1"/>
          </p:cNvSpPr>
          <p:nvPr>
            <p:custDataLst>
              <p:tags r:id="rId16"/>
            </p:custDataLst>
          </p:nvPr>
        </p:nvSpPr>
        <p:spPr bwMode="auto">
          <a:xfrm>
            <a:off x="5703888" y="3900488"/>
            <a:ext cx="2301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4F0AE57-3C86-458F-A9EB-5E98C943EEF2}" type="datetime'''''''''''''''G''''''''''''''a''''''''''''''s'''''''''''''">
              <a:rPr lang="en-IN" altLang="en-US" sz="900" b="0" smtClean="0">
                <a:sym typeface="+mn-lt"/>
              </a:rPr>
              <a:pPr lvl="1" algn="ctr">
                <a:spcBef>
                  <a:spcPct val="0"/>
                </a:spcBef>
                <a:spcAft>
                  <a:spcPct val="0"/>
                </a:spcAft>
              </a:pPr>
              <a:t>Gas</a:t>
            </a:fld>
            <a:endParaRPr lang="en-IN" sz="900" b="0" noProof="0" dirty="0">
              <a:sym typeface="+mn-lt"/>
            </a:endParaRPr>
          </a:p>
        </p:txBody>
      </p:sp>
      <p:sp>
        <p:nvSpPr>
          <p:cNvPr id="125" name="StandardTextbox"/>
          <p:cNvSpPr>
            <a:spLocks noGrp="1"/>
          </p:cNvSpPr>
          <p:nvPr>
            <p:custDataLst>
              <p:tags r:id="rId17"/>
            </p:custDataLst>
          </p:nvPr>
        </p:nvSpPr>
        <p:spPr bwMode="auto">
          <a:xfrm>
            <a:off x="9201150" y="3900488"/>
            <a:ext cx="30956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B3969F6-C0E9-4141-8AB4-00F3C903EEF7}" type="datetime'''''''''''''''''''S''''o''''l''''''''''''''''a''''''r'">
              <a:rPr lang="en-IN" altLang="en-US" sz="900" b="0" smtClean="0">
                <a:sym typeface="+mn-lt"/>
              </a:rPr>
              <a:pPr lvl="1" algn="ctr">
                <a:spcBef>
                  <a:spcPct val="0"/>
                </a:spcBef>
                <a:spcAft>
                  <a:spcPct val="0"/>
                </a:spcAft>
              </a:pPr>
              <a:t>Solar</a:t>
            </a:fld>
            <a:endParaRPr lang="en-IN" sz="900" b="0" noProof="0" dirty="0">
              <a:sym typeface="+mn-lt"/>
            </a:endParaRPr>
          </a:p>
        </p:txBody>
      </p:sp>
      <p:sp>
        <p:nvSpPr>
          <p:cNvPr id="101" name="StandardTextbox"/>
          <p:cNvSpPr>
            <a:spLocks noGrp="1"/>
          </p:cNvSpPr>
          <p:nvPr>
            <p:custDataLst>
              <p:tags r:id="rId18"/>
            </p:custDataLst>
          </p:nvPr>
        </p:nvSpPr>
        <p:spPr bwMode="auto">
          <a:xfrm>
            <a:off x="6281738" y="3900488"/>
            <a:ext cx="25082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74145F0C-A888-4858-A981-38DFAC89469B}" type="datetime'''''''''''''''''''''L''''''''''''NG'''''">
              <a:rPr lang="en-IN" altLang="en-US" sz="900" b="0" smtClean="0">
                <a:sym typeface="+mn-lt"/>
              </a:rPr>
              <a:pPr lvl="1" algn="ctr">
                <a:spcBef>
                  <a:spcPct val="0"/>
                </a:spcBef>
                <a:spcAft>
                  <a:spcPct val="0"/>
                </a:spcAft>
              </a:pPr>
              <a:t>LNG</a:t>
            </a:fld>
            <a:endParaRPr lang="en-IN" sz="900" b="0" noProof="0" dirty="0">
              <a:sym typeface="+mn-lt"/>
            </a:endParaRPr>
          </a:p>
        </p:txBody>
      </p:sp>
      <p:sp>
        <p:nvSpPr>
          <p:cNvPr id="102" name="StandardTextbox"/>
          <p:cNvSpPr>
            <a:spLocks noGrp="1"/>
          </p:cNvSpPr>
          <p:nvPr>
            <p:custDataLst>
              <p:tags r:id="rId19"/>
            </p:custDataLst>
          </p:nvPr>
        </p:nvSpPr>
        <p:spPr bwMode="auto">
          <a:xfrm>
            <a:off x="6724650" y="3900488"/>
            <a:ext cx="546100" cy="27305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07791D29-C727-479F-919B-995CFCE7A741}" type="datetime'''I''mp''''''o''rt''''''''''''ed'' ''C''''o''''''''a''l'">
              <a:rPr lang="en-IN" altLang="en-US" sz="900" b="0" smtClean="0">
                <a:sym typeface="+mn-lt"/>
              </a:rPr>
              <a:pPr lvl="1" algn="ctr">
                <a:spcBef>
                  <a:spcPct val="0"/>
                </a:spcBef>
                <a:spcAft>
                  <a:spcPct val="0"/>
                </a:spcAft>
              </a:pPr>
              <a:t>Imported Coal</a:t>
            </a:fld>
            <a:endParaRPr lang="en-IN" sz="900" b="0" noProof="0" dirty="0">
              <a:sym typeface="+mn-lt"/>
            </a:endParaRPr>
          </a:p>
        </p:txBody>
      </p:sp>
      <p:sp>
        <p:nvSpPr>
          <p:cNvPr id="112" name="StandardTextbox"/>
          <p:cNvSpPr>
            <a:spLocks noGrp="1"/>
          </p:cNvSpPr>
          <p:nvPr>
            <p:custDataLst>
              <p:tags r:id="rId20"/>
            </p:custDataLst>
          </p:nvPr>
        </p:nvSpPr>
        <p:spPr bwMode="auto">
          <a:xfrm>
            <a:off x="7383463" y="3900488"/>
            <a:ext cx="406400" cy="27305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A617683-08A4-43DF-BD63-058C4E53F7D6}" type="datetime'''Po''''''''w''er'''''' ''''''''I''m''p''''ort'">
              <a:rPr lang="en-IN" altLang="en-US" sz="900" b="0" smtClean="0">
                <a:sym typeface="+mn-lt"/>
              </a:rPr>
              <a:pPr lvl="1" algn="ctr">
                <a:spcBef>
                  <a:spcPct val="0"/>
                </a:spcBef>
                <a:spcAft>
                  <a:spcPct val="0"/>
                </a:spcAft>
              </a:pPr>
              <a:t>Power Import</a:t>
            </a:fld>
            <a:endParaRPr lang="en-IN" sz="900" b="0" noProof="0" dirty="0">
              <a:sym typeface="+mn-lt"/>
            </a:endParaRPr>
          </a:p>
        </p:txBody>
      </p:sp>
      <p:sp>
        <p:nvSpPr>
          <p:cNvPr id="114" name="StandardTextbox"/>
          <p:cNvSpPr>
            <a:spLocks noGrp="1"/>
          </p:cNvSpPr>
          <p:nvPr>
            <p:custDataLst>
              <p:tags r:id="rId21"/>
            </p:custDataLst>
          </p:nvPr>
        </p:nvSpPr>
        <p:spPr bwMode="auto">
          <a:xfrm>
            <a:off x="8050213" y="3900488"/>
            <a:ext cx="2540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B9A46645-FD16-4652-AADF-2F39312ACD64}" type="datetime'''''''''''''''''''''''H''F''''''''''''''''''''''''''''''''''O'">
              <a:rPr lang="en-IN" altLang="en-US" sz="900" b="0" smtClean="0">
                <a:sym typeface="+mn-lt"/>
              </a:rPr>
              <a:pPr lvl="1" algn="ctr">
                <a:spcBef>
                  <a:spcPct val="0"/>
                </a:spcBef>
                <a:spcAft>
                  <a:spcPct val="0"/>
                </a:spcAft>
              </a:pPr>
              <a:t>HFO</a:t>
            </a:fld>
            <a:endParaRPr lang="en-IN" sz="900" b="0" noProof="0" dirty="0">
              <a:sym typeface="+mn-lt"/>
            </a:endParaRPr>
          </a:p>
        </p:txBody>
      </p:sp>
      <p:sp>
        <p:nvSpPr>
          <p:cNvPr id="126" name="StandardTextbox"/>
          <p:cNvSpPr>
            <a:spLocks noGrp="1"/>
          </p:cNvSpPr>
          <p:nvPr>
            <p:custDataLst>
              <p:tags r:id="rId22"/>
            </p:custDataLst>
          </p:nvPr>
        </p:nvSpPr>
        <p:spPr bwMode="auto">
          <a:xfrm>
            <a:off x="9798050" y="3900488"/>
            <a:ext cx="29686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B1DCC242-81DA-41EF-A77E-B7D1DE3CB5F7}" type="datetime'''''T''''''''''''''''''''''o''t''a''''l'">
              <a:rPr lang="en-IN" altLang="en-US" sz="900" b="0" smtClean="0"/>
              <a:pPr lvl="1" algn="ctr">
                <a:spcBef>
                  <a:spcPct val="0"/>
                </a:spcBef>
                <a:spcAft>
                  <a:spcPct val="0"/>
                </a:spcAft>
              </a:pPr>
              <a:t>Total</a:t>
            </a:fld>
            <a:endParaRPr lang="en-IN" sz="900" b="0" noProof="0" dirty="0">
              <a:sym typeface="+mn-lt"/>
            </a:endParaRPr>
          </a:p>
        </p:txBody>
      </p:sp>
      <p:sp>
        <p:nvSpPr>
          <p:cNvPr id="74" name="Rectangle 73"/>
          <p:cNvSpPr/>
          <p:nvPr/>
        </p:nvSpPr>
        <p:spPr bwMode="gray">
          <a:xfrm>
            <a:off x="377227" y="7260740"/>
            <a:ext cx="10008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Industry Reports, Deloitte Analysis Note 1) Additional Plant Capacity Additions based on BPDB plans and Industry Reports on the current project progress and estimations for COD 2) Apart from the capacity addition, ~5,400 MW of power plants are expected to be retired between FY20-FY26 which has been discussed earlier – The same has been considered while projecting the Total Serviceable Capacity</a:t>
            </a:r>
          </a:p>
        </p:txBody>
      </p:sp>
      <p:cxnSp>
        <p:nvCxnSpPr>
          <p:cNvPr id="47" name="Straight Connector 46"/>
          <p:cNvCxnSpPr/>
          <p:nvPr>
            <p:custDataLst>
              <p:tags r:id="rId23"/>
            </p:custDataLst>
          </p:nvPr>
        </p:nvCxnSpPr>
        <p:spPr bwMode="auto">
          <a:xfrm>
            <a:off x="8320087" y="4903788"/>
            <a:ext cx="69850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custDataLst>
              <p:tags r:id="rId24"/>
            </p:custDataLst>
          </p:nvPr>
        </p:nvCxnSpPr>
        <p:spPr bwMode="auto">
          <a:xfrm>
            <a:off x="6746874" y="5316538"/>
            <a:ext cx="69850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73" name="Chart 72"/>
          <p:cNvGraphicFramePr/>
          <p:nvPr>
            <p:custDataLst>
              <p:tags r:id="rId25"/>
            </p:custDataLst>
            <p:extLst>
              <p:ext uri="{D42A27DB-BD31-4B8C-83A1-F6EECF244321}">
                <p14:modId xmlns:p14="http://schemas.microsoft.com/office/powerpoint/2010/main" val="1572939135"/>
              </p:ext>
            </p:extLst>
          </p:nvPr>
        </p:nvGraphicFramePr>
        <p:xfrm>
          <a:off x="5441950" y="4719638"/>
          <a:ext cx="4881563" cy="1844675"/>
        </p:xfrm>
        <a:graphic>
          <a:graphicData uri="http://schemas.openxmlformats.org/drawingml/2006/chart">
            <c:chart xmlns:c="http://schemas.openxmlformats.org/drawingml/2006/chart" xmlns:r="http://schemas.openxmlformats.org/officeDocument/2006/relationships" r:id="rId33"/>
          </a:graphicData>
        </a:graphic>
      </p:graphicFrame>
      <p:sp>
        <p:nvSpPr>
          <p:cNvPr id="55" name="StandardTextbox"/>
          <p:cNvSpPr>
            <a:spLocks noGrp="1"/>
          </p:cNvSpPr>
          <p:nvPr>
            <p:custDataLst>
              <p:tags r:id="rId26"/>
            </p:custDataLst>
          </p:nvPr>
        </p:nvSpPr>
        <p:spPr bwMode="auto">
          <a:xfrm>
            <a:off x="8764588" y="6557963"/>
            <a:ext cx="1381125" cy="4095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8CFE04D-D4C8-4926-BD09-16CCE5B50D40}" type="datetime'Total ''Capaci''ty Required to ''Meet Average Demand by FY26'">
              <a:rPr lang="en-US" altLang="en-US" sz="900" b="0" smtClean="0"/>
              <a:pPr lvl="1" algn="ctr">
                <a:spcBef>
                  <a:spcPct val="0"/>
                </a:spcBef>
                <a:spcAft>
                  <a:spcPct val="0"/>
                </a:spcAft>
              </a:pPr>
              <a:t>Total Capacity Required to Meet Average Demand by FY26</a:t>
            </a:fld>
            <a:endParaRPr lang="en-IN" sz="900" b="0" noProof="0" dirty="0">
              <a:sym typeface="+mn-lt"/>
            </a:endParaRPr>
          </a:p>
        </p:txBody>
      </p:sp>
      <p:sp>
        <p:nvSpPr>
          <p:cNvPr id="52" name="StandardTextbox"/>
          <p:cNvSpPr>
            <a:spLocks noGrp="1"/>
          </p:cNvSpPr>
          <p:nvPr>
            <p:custDataLst>
              <p:tags r:id="rId27"/>
            </p:custDataLst>
          </p:nvPr>
        </p:nvSpPr>
        <p:spPr bwMode="auto">
          <a:xfrm>
            <a:off x="5535612" y="6557963"/>
            <a:ext cx="1549400" cy="27305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7C2825C-F787-45CC-9999-26EED1A894CF}" type="datetime'Additi''on of N''on''-Liqui''d fuel based capacity by F''Y26'">
              <a:rPr lang="en-US" altLang="en-US" sz="900" b="0" smtClean="0"/>
              <a:pPr lvl="1" algn="ctr">
                <a:spcBef>
                  <a:spcPct val="0"/>
                </a:spcBef>
                <a:spcAft>
                  <a:spcPct val="0"/>
                </a:spcAft>
              </a:pPr>
              <a:t>Addition of Non-Liquid fuel based capacity by FY26</a:t>
            </a:fld>
            <a:endParaRPr lang="en-IN" sz="900" b="0" noProof="0" dirty="0">
              <a:sym typeface="+mn-lt"/>
            </a:endParaRPr>
          </a:p>
        </p:txBody>
      </p:sp>
      <p:sp>
        <p:nvSpPr>
          <p:cNvPr id="51" name="StandardTextbox"/>
          <p:cNvSpPr>
            <a:spLocks noGrp="1"/>
          </p:cNvSpPr>
          <p:nvPr>
            <p:custDataLst>
              <p:tags r:id="rId28"/>
            </p:custDataLst>
          </p:nvPr>
        </p:nvSpPr>
        <p:spPr bwMode="auto">
          <a:xfrm>
            <a:off x="7135813" y="6557963"/>
            <a:ext cx="1492250" cy="4095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5FE47E1-9DAA-4BFE-9C33-A0EE6DF6D277}" type="thinkcell&lt;?xml version=&quot;1.0&quot; encoding=&quot;UTF-16&quot; standalone=&quot;yes&quot;?&gt;&lt;root reqver=&quot;25060&quot;&gt;&lt;version val=&quot;28278&quot;/&gt;&lt;PersistentType&gt;&lt;m_guid val=&quot;6b6c6fb9-1633-45c1-8731-cb93d53136f8&quot;/&gt;&lt;m_prec&gt;&lt;m_yearfmt&gt;&lt;begin val=&quot;0&quot;/&gt;&lt;end val=&quot;4&quot;/&gt;&lt;/m_yearfmt&gt;&lt;/m_prec&gt;&lt;/PersistentType&gt;&lt;/root&gt;">
              <a:rPr lang="en-US" altLang="en-US" sz="900" b="0" smtClean="0"/>
              <a:pPr lvl="1" algn="ctr">
                <a:spcBef>
                  <a:spcPct val="0"/>
                </a:spcBef>
                <a:spcAft>
                  <a:spcPct val="0"/>
                </a:spcAft>
              </a:pPr>
              <a:t>Additional Capacity required to meet Average Demand by FY26</a:t>
            </a:fld>
            <a:endParaRPr lang="en-IN" sz="900" b="0" noProof="0" dirty="0">
              <a:sym typeface="+mn-lt"/>
            </a:endParaRPr>
          </a:p>
        </p:txBody>
      </p:sp>
      <p:sp>
        <p:nvSpPr>
          <p:cNvPr id="33" name="Rectangle 32"/>
          <p:cNvSpPr/>
          <p:nvPr/>
        </p:nvSpPr>
        <p:spPr bwMode="gray">
          <a:xfrm>
            <a:off x="7331176" y="4733439"/>
            <a:ext cx="1257300" cy="827573"/>
          </a:xfrm>
          <a:prstGeom prst="rect">
            <a:avLst/>
          </a:prstGeom>
          <a:noFill/>
          <a:ln>
            <a:solidFill>
              <a:srgbClr val="C00000"/>
            </a:solidFill>
            <a:prstDash val="dashDot"/>
            <a:headEnd/>
            <a:tailEnd/>
          </a:ln>
        </p:spPr>
        <p:style>
          <a:lnRef idx="2">
            <a:schemeClr val="accent6"/>
          </a:lnRef>
          <a:fillRef idx="1">
            <a:schemeClr val="lt1"/>
          </a:fillRef>
          <a:effectRef idx="0">
            <a:schemeClr val="accent6"/>
          </a:effectRef>
          <a:fontRef idx="minor">
            <a:schemeClr val="dk1"/>
          </a:fontRef>
        </p:style>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4" name="Rectangle 33"/>
          <p:cNvSpPr/>
          <p:nvPr/>
        </p:nvSpPr>
        <p:spPr bwMode="gray">
          <a:xfrm>
            <a:off x="571824" y="6136760"/>
            <a:ext cx="4555763" cy="864615"/>
          </a:xfrm>
          <a:prstGeom prst="rect">
            <a:avLst/>
          </a:prstGeom>
          <a:noFill/>
          <a:ln w="19050" algn="ctr">
            <a:noFill/>
            <a:miter lim="800000"/>
            <a:headEnd/>
            <a:tailEnd/>
          </a:ln>
        </p:spPr>
        <p:txBody>
          <a:bodyPr wrap="square" lIns="88900" tIns="88900" rIns="88900" bIns="88900" rtlCol="0" anchor="ctr"/>
          <a:lstStyle/>
          <a:p>
            <a:pPr lvl="0" algn="ctr">
              <a:lnSpc>
                <a:spcPct val="106000"/>
              </a:lnSpc>
              <a:defRPr/>
            </a:pPr>
            <a:r>
              <a:rPr lang="en-US" sz="1400" b="1" i="1" dirty="0">
                <a:solidFill>
                  <a:srgbClr val="0097A9"/>
                </a:solidFill>
              </a:rPr>
              <a:t>Additional Capacity of ~3,000 MW needed to meet the Average Demand by FY26</a:t>
            </a:r>
          </a:p>
        </p:txBody>
      </p:sp>
      <p:sp>
        <p:nvSpPr>
          <p:cNvPr id="5" name="Rectangle 4"/>
          <p:cNvSpPr/>
          <p:nvPr/>
        </p:nvSpPr>
        <p:spPr bwMode="gray">
          <a:xfrm>
            <a:off x="7884593" y="2411928"/>
            <a:ext cx="1144587" cy="697865"/>
          </a:xfrm>
          <a:prstGeom prst="rect">
            <a:avLst/>
          </a:prstGeom>
          <a:noFill/>
          <a:ln w="19050" algn="ctr">
            <a:solidFill>
              <a:schemeClr val="accent5"/>
            </a:solidFill>
            <a:prstDash val="dash"/>
            <a:miter lim="800000"/>
            <a:headEnd/>
            <a:tailEnd/>
          </a:ln>
        </p:spPr>
        <p:txBody>
          <a:bodyPr wrap="square" lIns="88900" tIns="88900" rIns="88900" bIns="88900" rtlCol="0" anchor="t"/>
          <a:lstStyle/>
          <a:p>
            <a:pPr algn="ctr">
              <a:lnSpc>
                <a:spcPct val="106000"/>
              </a:lnSpc>
              <a:buFont typeface="Wingdings 2" pitchFamily="18" charset="2"/>
              <a:buNone/>
            </a:pPr>
            <a:r>
              <a:rPr lang="en-US" sz="700" b="1" i="1" dirty="0">
                <a:solidFill>
                  <a:srgbClr val="ED8B00"/>
                </a:solidFill>
              </a:rPr>
              <a:t>Liquid Based</a:t>
            </a:r>
            <a:endParaRPr lang="en-IN" sz="700" b="1" i="1" dirty="0">
              <a:solidFill>
                <a:srgbClr val="ED8B00"/>
              </a:solidFill>
            </a:endParaRPr>
          </a:p>
        </p:txBody>
      </p:sp>
    </p:spTree>
    <p:extLst>
      <p:ext uri="{BB962C8B-B14F-4D97-AF65-F5344CB8AC3E}">
        <p14:creationId xmlns:p14="http://schemas.microsoft.com/office/powerpoint/2010/main" val="2818454356"/>
      </p:ext>
    </p:extLst>
  </p:cSld>
  <p:clrMapOvr>
    <a:masterClrMapping/>
  </p:clrMapOvr>
  <p:transition>
    <p:fade/>
  </p:transition>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343463753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1" imgW="530" imgH="531" progId="TCLayout.ActiveDocument.1">
                  <p:embed/>
                </p:oleObj>
              </mc:Choice>
              <mc:Fallback>
                <p:oleObj name="think-cell Slide" r:id="rId31" imgW="530" imgH="531" progId="TCLayout.ActiveDocument.1">
                  <p:embed/>
                  <p:pic>
                    <p:nvPicPr>
                      <p:cNvPr id="4" name="Object 3" hidden="1"/>
                      <p:cNvPicPr/>
                      <p:nvPr/>
                    </p:nvPicPr>
                    <p:blipFill>
                      <a:blip r:embed="rId32"/>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851860879"/>
              </p:ext>
            </p:ext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figure shows the Additional Fuel Wise Capacity (MW) being added in the Bangladesh Power System by FY30:</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figure shows the probable and required capacity addition (MW) between FY27 and FY30 in Bangladesh</a:t>
                      </a:r>
                    </a:p>
                    <a:p>
                      <a:pPr marL="171450" lvl="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Power Market | Supply Projection for average demand (FY30)</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Bangladesh is expected to add ~</a:t>
            </a:r>
            <a:r>
              <a:rPr lang="en-US" sz="1400" noProof="0" dirty="0">
                <a:solidFill>
                  <a:prstClr val="black">
                    <a:lumMod val="50000"/>
                    <a:lumOff val="50000"/>
                  </a:prstClr>
                </a:solidFill>
                <a:latin typeface="Verdana" panose="020B0604030504040204" pitchFamily="34" charset="0"/>
              </a:rPr>
              <a:t>3,700</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MW of incremental capacity </a:t>
            </a:r>
            <a:r>
              <a:rPr lang="en-US" sz="1400" dirty="0">
                <a:solidFill>
                  <a:prstClr val="black">
                    <a:lumMod val="50000"/>
                    <a:lumOff val="50000"/>
                  </a:prstClr>
                </a:solidFill>
                <a:latin typeface="Verdana" panose="020B0604030504040204" pitchFamily="34" charset="0"/>
              </a:rPr>
              <a:t>between FY27 and FY30</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with ~diversified fuels such as</a:t>
            </a:r>
            <a:r>
              <a:rPr lang="en-US" sz="1400" dirty="0">
                <a:solidFill>
                  <a:prstClr val="black">
                    <a:lumMod val="50000"/>
                    <a:lumOff val="50000"/>
                  </a:prstClr>
                </a:solidFill>
                <a:latin typeface="Verdana" panose="020B0604030504040204" pitchFamily="34" charset="0"/>
              </a:rPr>
              <a:t>, </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imported</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coal and nuclear</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1786768513"/>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lgn="just">
                        <a:spcAft>
                          <a:spcPts val="500"/>
                        </a:spcAft>
                        <a:buFont typeface="Arial" panose="020B0604020202020204" pitchFamily="34" charset="0"/>
                        <a:buNone/>
                      </a:pPr>
                      <a:r>
                        <a:rPr lang="en-US" sz="1000" b="1" baseline="0" dirty="0">
                          <a:solidFill>
                            <a:schemeClr val="tx1"/>
                          </a:solidFill>
                        </a:rPr>
                        <a:t>Installed Capacity Projection</a:t>
                      </a:r>
                      <a:endParaRPr lang="en-US" sz="1000" b="0" baseline="0" dirty="0">
                        <a:solidFill>
                          <a:schemeClr val="tx1"/>
                        </a:solidFill>
                      </a:endParaRPr>
                    </a:p>
                    <a:p>
                      <a:pPr marL="171450" indent="-171450" algn="just">
                        <a:spcAft>
                          <a:spcPts val="500"/>
                        </a:spcAft>
                        <a:buFont typeface="Arial" panose="020B0604020202020204" pitchFamily="34" charset="0"/>
                        <a:buChar char="•"/>
                      </a:pPr>
                      <a:r>
                        <a:rPr lang="en-US" sz="1000" b="0" baseline="0" dirty="0">
                          <a:solidFill>
                            <a:schemeClr val="tx1"/>
                          </a:solidFill>
                        </a:rPr>
                        <a:t>Based on the installed capacity projections provided by BPDB and PSMP 2016, we envisage that currently the following capacities may get commissioned by FY30</a:t>
                      </a:r>
                    </a:p>
                    <a:p>
                      <a:pPr marL="447675" marR="0" lvl="1" indent="0" algn="just" defTabSz="990571" rtl="0" eaLnBrk="1" fontAlgn="auto" latinLnBrk="0" hangingPunct="1">
                        <a:lnSpc>
                          <a:spcPct val="100000"/>
                        </a:lnSpc>
                        <a:spcBef>
                          <a:spcPts val="0"/>
                        </a:spcBef>
                        <a:spcAft>
                          <a:spcPts val="500"/>
                        </a:spcAft>
                        <a:buClrTx/>
                        <a:buSzTx/>
                        <a:buFont typeface="Courier New" panose="02070309020205020404" pitchFamily="49" charset="0"/>
                        <a:buNone/>
                        <a:tabLst/>
                        <a:defRPr/>
                      </a:pPr>
                      <a:r>
                        <a:rPr lang="en-US" sz="1000" b="1" i="1" kern="1200" baseline="0" dirty="0">
                          <a:solidFill>
                            <a:schemeClr val="tx1"/>
                          </a:solidFill>
                          <a:latin typeface="+mn-lt"/>
                          <a:ea typeface="+mn-ea"/>
                          <a:cs typeface="+mn-cs"/>
                        </a:rPr>
                        <a:t>Bangladesh is expected to add a ~7.5 MTPA onshore Land Based LNG Terminal between FY25 and FY30 which may lead to a revision in the Planning for Gas/LNG based power plants based on the dispatchability status of power plants by FY26</a:t>
                      </a:r>
                      <a:endParaRPr lang="en-US" sz="1000" b="1" i="1" baseline="0" dirty="0">
                        <a:solidFill>
                          <a:schemeClr val="tx1"/>
                        </a:solidFill>
                      </a:endParaRPr>
                    </a:p>
                    <a:p>
                      <a:pPr marL="447675" lvl="1" indent="-171450" algn="just">
                        <a:spcAft>
                          <a:spcPts val="500"/>
                        </a:spcAft>
                        <a:buFont typeface="Courier New" panose="02070309020205020404" pitchFamily="49" charset="0"/>
                        <a:buChar char="o"/>
                      </a:pPr>
                      <a:r>
                        <a:rPr lang="en-US" sz="1000" b="1" baseline="0" dirty="0">
                          <a:solidFill>
                            <a:schemeClr val="tx1"/>
                          </a:solidFill>
                        </a:rPr>
                        <a:t>Imported Coal </a:t>
                      </a:r>
                      <a:r>
                        <a:rPr lang="en-US" sz="1000" b="0" baseline="0" dirty="0">
                          <a:solidFill>
                            <a:schemeClr val="tx1"/>
                          </a:solidFill>
                        </a:rPr>
                        <a:t>– The 2</a:t>
                      </a:r>
                      <a:r>
                        <a:rPr lang="en-US" sz="1000" b="0" baseline="30000" dirty="0">
                          <a:solidFill>
                            <a:schemeClr val="tx1"/>
                          </a:solidFill>
                        </a:rPr>
                        <a:t>nd</a:t>
                      </a:r>
                      <a:r>
                        <a:rPr lang="en-US" sz="1000" b="0" baseline="0" dirty="0">
                          <a:solidFill>
                            <a:schemeClr val="tx1"/>
                          </a:solidFill>
                        </a:rPr>
                        <a:t> Phase of NWPGCL’s Payra project (1,320 MW) may be commissioned by FY30 as the 1</a:t>
                      </a:r>
                      <a:r>
                        <a:rPr lang="en-US" sz="1000" b="0" baseline="30000" dirty="0">
                          <a:solidFill>
                            <a:schemeClr val="tx1"/>
                          </a:solidFill>
                        </a:rPr>
                        <a:t>st</a:t>
                      </a:r>
                      <a:r>
                        <a:rPr lang="en-US" sz="1000" b="0" baseline="0" dirty="0">
                          <a:solidFill>
                            <a:schemeClr val="tx1"/>
                          </a:solidFill>
                        </a:rPr>
                        <a:t> phase is expected to be completely operationalized by FY21</a:t>
                      </a:r>
                    </a:p>
                    <a:p>
                      <a:pPr marL="447675" lvl="1" indent="-171450" algn="just">
                        <a:spcAft>
                          <a:spcPts val="500"/>
                        </a:spcAft>
                        <a:buFont typeface="Courier New" panose="02070309020205020404" pitchFamily="49" charset="0"/>
                        <a:buChar char="o"/>
                      </a:pPr>
                      <a:r>
                        <a:rPr lang="en-US" sz="1000" b="1" baseline="0" dirty="0">
                          <a:solidFill>
                            <a:schemeClr val="tx1"/>
                          </a:solidFill>
                        </a:rPr>
                        <a:t>Nuclear</a:t>
                      </a:r>
                      <a:r>
                        <a:rPr lang="en-US" sz="1000" b="0" baseline="0" dirty="0">
                          <a:solidFill>
                            <a:schemeClr val="tx1"/>
                          </a:solidFill>
                        </a:rPr>
                        <a:t> – Bangladesh is currently constructing the Roopur Nuclear Power Plant. Both units of the power plant (2x1200 MW) may be commissioned by FY30</a:t>
                      </a:r>
                    </a:p>
                    <a:p>
                      <a:pPr marL="0" indent="0" algn="just">
                        <a:spcAft>
                          <a:spcPts val="500"/>
                        </a:spcAft>
                        <a:buFont typeface="Arial" panose="020B0604020202020204" pitchFamily="34" charset="0"/>
                        <a:buNone/>
                      </a:pPr>
                      <a:r>
                        <a:rPr lang="en-US" sz="1000" b="1" baseline="0" dirty="0">
                          <a:solidFill>
                            <a:schemeClr val="tx1"/>
                          </a:solidFill>
                        </a:rPr>
                        <a:t>Retirement Projections</a:t>
                      </a:r>
                    </a:p>
                    <a:p>
                      <a:pPr marL="171450" indent="-171450" algn="just" defTabSz="990571" rtl="0" eaLnBrk="1" latinLnBrk="0" hangingPunct="1">
                        <a:spcAft>
                          <a:spcPts val="500"/>
                        </a:spcAft>
                        <a:buFont typeface="Arial" panose="020B0604020202020204" pitchFamily="34" charset="0"/>
                        <a:buChar char="•"/>
                      </a:pPr>
                      <a:r>
                        <a:rPr lang="en-US" sz="1000" b="0" kern="1200" baseline="0" dirty="0">
                          <a:solidFill>
                            <a:schemeClr val="tx1"/>
                          </a:solidFill>
                          <a:latin typeface="+mn-lt"/>
                          <a:ea typeface="+mn-ea"/>
                          <a:cs typeface="+mn-cs"/>
                        </a:rPr>
                        <a:t>Considering the retirement projections by PSMP and our estimations for retirement based on ageing profile, we expect ~470 MW of capacity to get retired between FY27 and FY30</a:t>
                      </a:r>
                    </a:p>
                    <a:p>
                      <a:pPr marL="0" indent="0" algn="just">
                        <a:spcAft>
                          <a:spcPts val="500"/>
                        </a:spcAft>
                        <a:buFont typeface="Arial" panose="020B0604020202020204" pitchFamily="34" charset="0"/>
                        <a:buNone/>
                      </a:pPr>
                      <a:endParaRPr lang="en-US" sz="1000" b="0" baseline="0" dirty="0">
                        <a:solidFill>
                          <a:schemeClr val="tx1"/>
                        </a:solidFill>
                      </a:endParaRPr>
                    </a:p>
                    <a:p>
                      <a:pPr marL="0" indent="0" algn="just">
                        <a:spcAft>
                          <a:spcPts val="500"/>
                        </a:spcAft>
                        <a:buFont typeface="Arial" panose="020B0604020202020204" pitchFamily="34" charset="0"/>
                        <a:buNone/>
                      </a:pPr>
                      <a:endParaRPr lang="en-US" sz="1000" b="1"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cxnSp>
        <p:nvCxnSpPr>
          <p:cNvPr id="34" name="Straight Connector 33"/>
          <p:cNvCxnSpPr/>
          <p:nvPr>
            <p:custDataLst>
              <p:tags r:id="rId5"/>
            </p:custDataLst>
          </p:nvPr>
        </p:nvCxnSpPr>
        <p:spPr bwMode="auto">
          <a:xfrm>
            <a:off x="7402513" y="3597275"/>
            <a:ext cx="300038"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custDataLst>
              <p:tags r:id="rId6"/>
            </p:custDataLst>
          </p:nvPr>
        </p:nvCxnSpPr>
        <p:spPr bwMode="auto">
          <a:xfrm>
            <a:off x="9429750" y="2674938"/>
            <a:ext cx="300038"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custDataLst>
              <p:tags r:id="rId7"/>
            </p:custDataLst>
          </p:nvPr>
        </p:nvCxnSpPr>
        <p:spPr bwMode="auto">
          <a:xfrm>
            <a:off x="6049963" y="3597275"/>
            <a:ext cx="300038"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custDataLst>
              <p:tags r:id="rId8"/>
            </p:custDataLst>
          </p:nvPr>
        </p:nvCxnSpPr>
        <p:spPr bwMode="auto">
          <a:xfrm>
            <a:off x="6726238" y="3597275"/>
            <a:ext cx="300038"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custDataLst>
              <p:tags r:id="rId9"/>
            </p:custDataLst>
          </p:nvPr>
        </p:nvCxnSpPr>
        <p:spPr bwMode="auto">
          <a:xfrm>
            <a:off x="8078788" y="3597275"/>
            <a:ext cx="2984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custDataLst>
              <p:tags r:id="rId10"/>
            </p:custDataLst>
          </p:nvPr>
        </p:nvCxnSpPr>
        <p:spPr bwMode="auto">
          <a:xfrm>
            <a:off x="8753475" y="3597275"/>
            <a:ext cx="300038"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3" name="Rectangle 32"/>
          <p:cNvSpPr/>
          <p:nvPr>
            <p:custDataLst>
              <p:tags r:id="rId11"/>
            </p:custDataLst>
          </p:nvPr>
        </p:nvSpPr>
        <p:spPr bwMode="auto">
          <a:xfrm>
            <a:off x="7702549" y="3594100"/>
            <a:ext cx="376238" cy="6350"/>
          </a:xfrm>
          <a:prstGeom prst="rect">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5" name="Rectangle 34"/>
          <p:cNvSpPr/>
          <p:nvPr>
            <p:custDataLst>
              <p:tags r:id="rId12"/>
            </p:custDataLst>
          </p:nvPr>
        </p:nvSpPr>
        <p:spPr bwMode="auto">
          <a:xfrm>
            <a:off x="8377237" y="3594100"/>
            <a:ext cx="376238" cy="6350"/>
          </a:xfrm>
          <a:prstGeom prst="rect">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3" name="Rectangle 12"/>
          <p:cNvSpPr/>
          <p:nvPr>
            <p:custDataLst>
              <p:tags r:id="rId13"/>
            </p:custDataLst>
          </p:nvPr>
        </p:nvSpPr>
        <p:spPr bwMode="auto">
          <a:xfrm>
            <a:off x="6349999" y="3594100"/>
            <a:ext cx="376238" cy="6350"/>
          </a:xfrm>
          <a:prstGeom prst="rect">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1" name="Rectangle 30"/>
          <p:cNvSpPr/>
          <p:nvPr>
            <p:custDataLst>
              <p:tags r:id="rId14"/>
            </p:custDataLst>
          </p:nvPr>
        </p:nvSpPr>
        <p:spPr bwMode="auto">
          <a:xfrm>
            <a:off x="7026274" y="3594100"/>
            <a:ext cx="376238" cy="6350"/>
          </a:xfrm>
          <a:prstGeom prst="rect">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graphicFrame>
        <p:nvGraphicFramePr>
          <p:cNvPr id="37" name="Chart 36"/>
          <p:cNvGraphicFramePr/>
          <p:nvPr>
            <p:custDataLst>
              <p:tags r:id="rId15"/>
            </p:custDataLst>
            <p:extLst>
              <p:ext uri="{D42A27DB-BD31-4B8C-83A1-F6EECF244321}">
                <p14:modId xmlns:p14="http://schemas.microsoft.com/office/powerpoint/2010/main" val="2051516133"/>
              </p:ext>
            </p:extLst>
          </p:nvPr>
        </p:nvGraphicFramePr>
        <p:xfrm>
          <a:off x="5441950" y="2474913"/>
          <a:ext cx="4897438" cy="1711325"/>
        </p:xfrm>
        <a:graphic>
          <a:graphicData uri="http://schemas.openxmlformats.org/drawingml/2006/chart">
            <c:chart xmlns:c="http://schemas.openxmlformats.org/drawingml/2006/chart" xmlns:r="http://schemas.openxmlformats.org/officeDocument/2006/relationships" r:id="rId33"/>
          </a:graphicData>
        </a:graphic>
      </p:graphicFrame>
      <p:cxnSp>
        <p:nvCxnSpPr>
          <p:cNvPr id="27" name="Straight Connector 26"/>
          <p:cNvCxnSpPr/>
          <p:nvPr>
            <p:custDataLst>
              <p:tags r:id="rId16"/>
            </p:custDataLst>
          </p:nvPr>
        </p:nvCxnSpPr>
        <p:spPr bwMode="auto">
          <a:xfrm flipV="1">
            <a:off x="9240838" y="3521075"/>
            <a:ext cx="0" cy="101600"/>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7" name="StandardTextbox"/>
          <p:cNvSpPr>
            <a:spLocks noGrp="1"/>
          </p:cNvSpPr>
          <p:nvPr>
            <p:custDataLst>
              <p:tags r:id="rId17"/>
            </p:custDataLst>
          </p:nvPr>
        </p:nvSpPr>
        <p:spPr bwMode="auto">
          <a:xfrm>
            <a:off x="5557838" y="4189413"/>
            <a:ext cx="608013"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5B51FFE-8F64-4E71-935A-B9775A43B923}" type="datetime'I''''''m''''''p''''''''o''rt''e''''''''d ''''''''''Co''a''''l'">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Imported Coal</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88" name="StandardTextbox"/>
          <p:cNvSpPr>
            <a:spLocks noGrp="1"/>
          </p:cNvSpPr>
          <p:nvPr>
            <p:custDataLst>
              <p:tags r:id="rId18"/>
            </p:custDataLst>
          </p:nvPr>
        </p:nvSpPr>
        <p:spPr bwMode="auto">
          <a:xfrm>
            <a:off x="7743825" y="4189413"/>
            <a:ext cx="2936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99B2F927-E070-4691-9FA8-AD28DC4D3C3C}" type="datetime'''''''''H''''S''''''''''''D'''''''''''''''''''">
              <a:rPr lang="en-IN" altLang="en-US" b="0" smtClean="0">
                <a:solidFill>
                  <a:srgbClr val="000000"/>
                </a:solidFill>
              </a:rPr>
              <a:pPr lvl="1" algn="ctr">
                <a:spcBef>
                  <a:spcPct val="0"/>
                </a:spcBef>
                <a:spcAft>
                  <a:spcPct val="0"/>
                </a:spcAft>
                <a:defRPr/>
              </a:pPr>
              <a:t>HSD</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63" name="StandardTextbox"/>
          <p:cNvSpPr>
            <a:spLocks noGrp="1"/>
          </p:cNvSpPr>
          <p:nvPr>
            <p:custDataLst>
              <p:tags r:id="rId19"/>
            </p:custDataLst>
          </p:nvPr>
        </p:nvSpPr>
        <p:spPr bwMode="auto">
          <a:xfrm>
            <a:off x="6311900" y="4189413"/>
            <a:ext cx="452438"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E899D94-6E39-40D5-A616-1F462C64E8E6}" type="datetime'''''Pow''e''r'' ''I''''''m''''''''''''por''''t'''''''''''">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Power Import</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83" name="StandardTextbox"/>
          <p:cNvSpPr>
            <a:spLocks noGrp="1"/>
          </p:cNvSpPr>
          <p:nvPr>
            <p:custDataLst>
              <p:tags r:id="rId20"/>
            </p:custDataLst>
          </p:nvPr>
        </p:nvSpPr>
        <p:spPr bwMode="auto">
          <a:xfrm>
            <a:off x="7073900" y="4189413"/>
            <a:ext cx="2809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2AD8F9E7-630C-4383-9E79-76B55E3FB7FE}" type="datetime'''''''''''''''''''''''''''''''''''''''H''''F''''''''O'''''''''">
              <a:rPr lang="en-IN" altLang="en-US" b="0" smtClean="0">
                <a:solidFill>
                  <a:srgbClr val="000000"/>
                </a:solidFill>
              </a:rPr>
              <a:pPr lvl="1" algn="ctr">
                <a:spcBef>
                  <a:spcPct val="0"/>
                </a:spcBef>
                <a:spcAft>
                  <a:spcPct val="0"/>
                </a:spcAft>
                <a:defRPr/>
              </a:pPr>
              <a:t>HFO</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02" name="StandardTextbox"/>
          <p:cNvSpPr>
            <a:spLocks noGrp="1"/>
          </p:cNvSpPr>
          <p:nvPr>
            <p:custDataLst>
              <p:tags r:id="rId21"/>
            </p:custDataLst>
          </p:nvPr>
        </p:nvSpPr>
        <p:spPr bwMode="auto">
          <a:xfrm>
            <a:off x="8393113" y="4189413"/>
            <a:ext cx="3429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F4CB9864-DE58-4C0F-B19B-F49FFE3374A9}" type="datetime'''''So''''''''''''''''''''''''''l''''''''a''''r'">
              <a:rPr lang="en-IN" altLang="en-US" b="0" smtClean="0">
                <a:solidFill>
                  <a:srgbClr val="000000"/>
                </a:solidFill>
              </a:rPr>
              <a:pPr lvl="1" algn="ctr">
                <a:spcBef>
                  <a:spcPct val="0"/>
                </a:spcBef>
                <a:spcAft>
                  <a:spcPct val="0"/>
                </a:spcAft>
                <a:defRPr/>
              </a:pPr>
              <a:t>Solar</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60" name="StandardTextbox"/>
          <p:cNvSpPr>
            <a:spLocks noGrp="1"/>
          </p:cNvSpPr>
          <p:nvPr>
            <p:custDataLst>
              <p:tags r:id="rId22"/>
            </p:custDataLst>
          </p:nvPr>
        </p:nvSpPr>
        <p:spPr bwMode="auto">
          <a:xfrm>
            <a:off x="8993188" y="4189413"/>
            <a:ext cx="4968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3EC87A32-2220-438F-AB5C-C68ECA66BB96}" type="datetime'N''uc''l''''''''''''''''''e''''''''''''a''r'''''''''''">
              <a:rPr lang="en-IN" altLang="en-US" b="0" smtClean="0">
                <a:solidFill>
                  <a:srgbClr val="000000"/>
                </a:solidFill>
              </a:rPr>
              <a:pPr lvl="1" algn="ctr">
                <a:spcBef>
                  <a:spcPct val="0"/>
                </a:spcBef>
                <a:spcAft>
                  <a:spcPct val="0"/>
                </a:spcAft>
                <a:defRPr/>
              </a:pPr>
              <a:t>Nuclear</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92" name="StandardTextbox"/>
          <p:cNvSpPr>
            <a:spLocks noGrp="1"/>
          </p:cNvSpPr>
          <p:nvPr>
            <p:custDataLst>
              <p:tags r:id="rId23"/>
            </p:custDataLst>
          </p:nvPr>
        </p:nvSpPr>
        <p:spPr bwMode="auto">
          <a:xfrm>
            <a:off x="9752013" y="4189413"/>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41C2ABE3-1818-4100-9055-A825B2E3E30C}" type="datetime'T''''''''''''''''o''''''''t''''''''a''''''''''''''''''l'''''">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Total</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71" name="Rectangle 70"/>
          <p:cNvSpPr/>
          <p:nvPr/>
        </p:nvSpPr>
        <p:spPr bwMode="gray">
          <a:xfrm>
            <a:off x="367499" y="7338564"/>
            <a:ext cx="9936000" cy="224562"/>
          </a:xfrm>
          <a:prstGeom prst="rect">
            <a:avLst/>
          </a:prstGeom>
          <a:noFill/>
          <a:ln w="19050" algn="ctr">
            <a:noFill/>
            <a:miter lim="800000"/>
            <a:headEnd/>
            <a:tailEnd/>
          </a:ln>
        </p:spPr>
        <p:txBody>
          <a:bodyPr wrap="square" lIns="88900" tIns="88900" rIns="88900" bIns="88900" rtlCol="0" anchor="ctr"/>
          <a:lstStyle/>
          <a:p>
            <a:pPr>
              <a:lnSpc>
                <a:spcPct val="106000"/>
              </a:lnSpc>
              <a:defRPr/>
            </a:pPr>
            <a:r>
              <a:rPr lang="en-US" sz="700" i="1" dirty="0">
                <a:solidFill>
                  <a:prstClr val="black"/>
                </a:solidFill>
              </a:rPr>
              <a:t>Source: BPDB, PSMP 2016, Industry Reports, Deloitte Analysis Note: 1) Capacity Addition data is as per tracking by BPDB and secondary sources 2) Plant Retirement Based on PSMP 2016 projections as well as estimations based on COD / dispatch levels of each power plant in Bangladesh 3) Considering that most of the liquid fuels based plants would be replaced with better and efficient plants with cheaper fuels, we have not considered the planned retirement of 455 MW of HFO based plants in the above analysis. These plants may be present in the system but are expected to have marginal dispatch or support peaking requirements.</a:t>
            </a:r>
          </a:p>
          <a:p>
            <a:pPr lvl="0">
              <a:lnSpc>
                <a:spcPct val="106000"/>
              </a:lnSpc>
              <a:defRPr/>
            </a:pPr>
            <a:endParaRPr lang="en-US" sz="700" i="1" dirty="0">
              <a:solidFill>
                <a:prstClr val="black"/>
              </a:solidFill>
            </a:endParaRPr>
          </a:p>
        </p:txBody>
      </p:sp>
      <p:cxnSp>
        <p:nvCxnSpPr>
          <p:cNvPr id="48" name="Straight Connector 47"/>
          <p:cNvCxnSpPr/>
          <p:nvPr>
            <p:custDataLst>
              <p:tags r:id="rId24"/>
            </p:custDataLst>
          </p:nvPr>
        </p:nvCxnSpPr>
        <p:spPr bwMode="auto">
          <a:xfrm>
            <a:off x="8264525" y="5254625"/>
            <a:ext cx="684213"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custDataLst>
              <p:tags r:id="rId25"/>
            </p:custDataLst>
          </p:nvPr>
        </p:nvCxnSpPr>
        <p:spPr bwMode="auto">
          <a:xfrm>
            <a:off x="6723063" y="5910263"/>
            <a:ext cx="684213"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38" name="Chart 37"/>
          <p:cNvGraphicFramePr/>
          <p:nvPr>
            <p:custDataLst>
              <p:tags r:id="rId26"/>
            </p:custDataLst>
            <p:extLst>
              <p:ext uri="{D42A27DB-BD31-4B8C-83A1-F6EECF244321}">
                <p14:modId xmlns:p14="http://schemas.microsoft.com/office/powerpoint/2010/main" val="4091001019"/>
              </p:ext>
            </p:extLst>
          </p:nvPr>
        </p:nvGraphicFramePr>
        <p:xfrm>
          <a:off x="5441950" y="5070475"/>
          <a:ext cx="4789488" cy="1516063"/>
        </p:xfrm>
        <a:graphic>
          <a:graphicData uri="http://schemas.openxmlformats.org/drawingml/2006/chart">
            <c:chart xmlns:c="http://schemas.openxmlformats.org/drawingml/2006/chart" xmlns:r="http://schemas.openxmlformats.org/officeDocument/2006/relationships" r:id="rId34"/>
          </a:graphicData>
        </a:graphic>
      </p:graphicFrame>
      <p:sp>
        <p:nvSpPr>
          <p:cNvPr id="51" name="StandardTextbox"/>
          <p:cNvSpPr>
            <a:spLocks noGrp="1"/>
          </p:cNvSpPr>
          <p:nvPr>
            <p:custDataLst>
              <p:tags r:id="rId27"/>
            </p:custDataLst>
          </p:nvPr>
        </p:nvSpPr>
        <p:spPr bwMode="auto">
          <a:xfrm>
            <a:off x="5646738" y="6580188"/>
            <a:ext cx="1296988" cy="4095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2742265-9E66-491A-87D8-CD0E56D60EEF}" type="thinkcell&lt;?xml version=&quot;1.0&quot; encoding=&quot;UTF-16&quot; standalone=&quot;yes&quot;?&gt;&lt;root reqver=&quot;25060&quot;&gt;&lt;version val=&quot;28278&quot;/&gt;&lt;PersistentType&gt;&lt;m_guid val=&quot;dea64c5c-0fcd-4332-8594-49a274a2793b&quot;/&gt;&lt;m_prec&gt;&lt;m_yearfmt&gt;&lt;begin val=&quot;0&quot;/&gt;&lt;end val=&quot;4&quot;/&gt;&lt;/m_yearfmt&gt;&lt;/m_prec&gt;&lt;/PersistentType&gt;&lt;/root&gt;">
              <a:rPr lang="en-US" altLang="en-US" sz="900" b="0" smtClean="0"/>
              <a:pPr lvl="1" algn="ctr">
                <a:spcBef>
                  <a:spcPct val="0"/>
                </a:spcBef>
                <a:spcAft>
                  <a:spcPct val="0"/>
                </a:spcAft>
              </a:pPr>
              <a:t>Addition of Non-Liquid fuel based capacity between FY27-FY30</a:t>
            </a:fld>
            <a:endParaRPr lang="en-IN" sz="900" b="0" noProof="0" dirty="0">
              <a:sym typeface="+mn-lt"/>
            </a:endParaRPr>
          </a:p>
        </p:txBody>
      </p:sp>
      <p:sp>
        <p:nvSpPr>
          <p:cNvPr id="52" name="StandardTextbox"/>
          <p:cNvSpPr>
            <a:spLocks noGrp="1"/>
          </p:cNvSpPr>
          <p:nvPr>
            <p:custDataLst>
              <p:tags r:id="rId28"/>
            </p:custDataLst>
          </p:nvPr>
        </p:nvSpPr>
        <p:spPr bwMode="auto">
          <a:xfrm>
            <a:off x="7089774" y="6580188"/>
            <a:ext cx="1492250" cy="4095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83DB1E7-570D-4DCC-B7A5-F20DCF8DA95B}" type="thinkcell&lt;?xml version=&quot;1.0&quot; encoding=&quot;UTF-16&quot; standalone=&quot;yes&quot;?&gt;&lt;root reqver=&quot;25060&quot;&gt;&lt;version val=&quot;28278&quot;/&gt;&lt;PersistentType&gt;&lt;m_guid val=&quot;a6475028-8732-4ee3-9709-35cd884444e3&quot;/&gt;&lt;m_prec&gt;&lt;m_yearfmt&gt;&lt;begin val=&quot;0&quot;/&gt;&lt;end val=&quot;4&quot;/&gt;&lt;/m_yearfmt&gt;&lt;/m_prec&gt;&lt;/PersistentType&gt;&lt;/root&gt;">
              <a:rPr lang="en-US" altLang="en-US" sz="900" b="0" smtClean="0"/>
              <a:pPr lvl="1" algn="ctr">
                <a:spcBef>
                  <a:spcPct val="0"/>
                </a:spcBef>
                <a:spcAft>
                  <a:spcPct val="0"/>
                </a:spcAft>
              </a:pPr>
              <a:t>Additional Capacity required to meet Average Demand by FY30</a:t>
            </a:fld>
            <a:endParaRPr lang="en-IN" sz="900" b="0" noProof="0" dirty="0">
              <a:sym typeface="+mn-lt"/>
            </a:endParaRPr>
          </a:p>
        </p:txBody>
      </p:sp>
      <p:sp>
        <p:nvSpPr>
          <p:cNvPr id="53" name="StandardTextbox"/>
          <p:cNvSpPr>
            <a:spLocks noGrp="1"/>
          </p:cNvSpPr>
          <p:nvPr>
            <p:custDataLst>
              <p:tags r:id="rId29"/>
            </p:custDataLst>
          </p:nvPr>
        </p:nvSpPr>
        <p:spPr bwMode="auto">
          <a:xfrm>
            <a:off x="8686800" y="6580189"/>
            <a:ext cx="1381125" cy="4095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DC34E2A-A1B9-416D-9F8A-5100AD37F905}" type="datetime'Total Capacity Requi''red to ''Meet Average Demand by FY30'''">
              <a:rPr lang="en-US" altLang="en-US" sz="900" b="0" smtClean="0"/>
              <a:pPr lvl="1" algn="ctr">
                <a:spcBef>
                  <a:spcPct val="0"/>
                </a:spcBef>
                <a:spcAft>
                  <a:spcPct val="0"/>
                </a:spcAft>
              </a:pPr>
              <a:t>Total Capacity Required to Meet Average Demand by FY30</a:t>
            </a:fld>
            <a:endParaRPr lang="en-IN" sz="900" b="0" noProof="0" dirty="0">
              <a:sym typeface="+mn-lt"/>
            </a:endParaRPr>
          </a:p>
        </p:txBody>
      </p:sp>
      <p:sp>
        <p:nvSpPr>
          <p:cNvPr id="39" name="Rectangle 38"/>
          <p:cNvSpPr/>
          <p:nvPr/>
        </p:nvSpPr>
        <p:spPr bwMode="gray">
          <a:xfrm>
            <a:off x="539559" y="5715573"/>
            <a:ext cx="4555763" cy="864615"/>
          </a:xfrm>
          <a:prstGeom prst="rect">
            <a:avLst/>
          </a:prstGeom>
          <a:noFill/>
          <a:ln w="19050" algn="ctr">
            <a:noFill/>
            <a:miter lim="800000"/>
            <a:headEnd/>
            <a:tailEnd/>
          </a:ln>
        </p:spPr>
        <p:txBody>
          <a:bodyPr wrap="square" lIns="88900" tIns="88900" rIns="88900" bIns="88900" rtlCol="0" anchor="ctr"/>
          <a:lstStyle/>
          <a:p>
            <a:pPr algn="ctr">
              <a:lnSpc>
                <a:spcPct val="106000"/>
              </a:lnSpc>
              <a:spcAft>
                <a:spcPts val="500"/>
              </a:spcAft>
              <a:defRPr/>
            </a:pPr>
            <a:r>
              <a:rPr lang="en-US" sz="1400" b="1" i="1" dirty="0">
                <a:solidFill>
                  <a:srgbClr val="0097A9"/>
                </a:solidFill>
              </a:rPr>
              <a:t>Additional capacity of ~4,100 MW needed  between FY 26 &amp; FY30 to meet Average Demand; In case of delay in commissioning of Roopur Power Plant, the supply requirement could increase by 2,400 MW</a:t>
            </a:r>
          </a:p>
        </p:txBody>
      </p:sp>
      <p:sp>
        <p:nvSpPr>
          <p:cNvPr id="40" name="Rectangle 39"/>
          <p:cNvSpPr/>
          <p:nvPr/>
        </p:nvSpPr>
        <p:spPr bwMode="gray">
          <a:xfrm>
            <a:off x="7204286" y="5176003"/>
            <a:ext cx="1257300" cy="827573"/>
          </a:xfrm>
          <a:prstGeom prst="rect">
            <a:avLst/>
          </a:prstGeom>
          <a:noFill/>
          <a:ln>
            <a:solidFill>
              <a:srgbClr val="C00000"/>
            </a:solidFill>
            <a:prstDash val="dashDot"/>
            <a:headEnd/>
            <a:tailEnd/>
          </a:ln>
        </p:spPr>
        <p:style>
          <a:lnRef idx="2">
            <a:schemeClr val="accent6"/>
          </a:lnRef>
          <a:fillRef idx="1">
            <a:schemeClr val="lt1"/>
          </a:fillRef>
          <a:effectRef idx="0">
            <a:schemeClr val="accent6"/>
          </a:effectRef>
          <a:fontRef idx="minor">
            <a:schemeClr val="dk1"/>
          </a:fontRef>
        </p:style>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Tree>
    <p:extLst>
      <p:ext uri="{BB962C8B-B14F-4D97-AF65-F5344CB8AC3E}">
        <p14:creationId xmlns:p14="http://schemas.microsoft.com/office/powerpoint/2010/main" val="2393974173"/>
      </p:ext>
    </p:extLst>
  </p:cSld>
  <p:clrMapOvr>
    <a:masterClrMapping/>
  </p:clrMapOvr>
  <p:transition>
    <p:fade/>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312665206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7" imgW="530" imgH="531" progId="TCLayout.ActiveDocument.1">
                  <p:embed/>
                </p:oleObj>
              </mc:Choice>
              <mc:Fallback>
                <p:oleObj name="think-cell Slide" r:id="rId17" imgW="530" imgH="531" progId="TCLayout.ActiveDocument.1">
                  <p:embed/>
                  <p:pic>
                    <p:nvPicPr>
                      <p:cNvPr id="4" name="Object 3" hidden="1"/>
                      <p:cNvPicPr/>
                      <p:nvPr/>
                    </p:nvPicPr>
                    <p:blipFill>
                      <a:blip r:embed="rId18"/>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defRPr/>
            </a:pPr>
            <a:endParaRPr kumimoji="0" lang="en-US" sz="1000" u="none" strike="noStrike" kern="1200" cap="none" spc="0" normalizeH="0" noProof="0" dirty="0">
              <a:ln>
                <a:noFill/>
              </a:ln>
              <a:solidFill>
                <a:prstClr val="white"/>
              </a:solidFill>
              <a:effectLst/>
              <a:uLnTx/>
              <a:uFillTx/>
              <a:latin typeface="Verdana" panose="020B0604030504040204" pitchFamily="34" charset="0"/>
              <a:sym typeface="Verdana" panose="020B0604030504040204" pitchFamily="34" charset="0"/>
            </a:endParaRPr>
          </a:p>
        </p:txBody>
      </p:sp>
      <p:sp>
        <p:nvSpPr>
          <p:cNvPr id="2" name="Title 1"/>
          <p:cNvSpPr>
            <a:spLocks noGrp="1"/>
          </p:cNvSpPr>
          <p:nvPr>
            <p:ph type="title"/>
          </p:nvPr>
        </p:nvSpPr>
        <p:spPr>
          <a:xfrm>
            <a:off x="449263" y="647700"/>
            <a:ext cx="10141571" cy="429108"/>
          </a:xfrm>
        </p:spPr>
        <p:txBody>
          <a:bodyPr/>
          <a:lstStyle/>
          <a:p>
            <a:r>
              <a:rPr lang="en-US" dirty="0"/>
              <a:t>Power Market | Demand – Supply Projection for average demand (Summary)</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noProof="0" dirty="0">
                <a:solidFill>
                  <a:prstClr val="black">
                    <a:lumMod val="50000"/>
                    <a:lumOff val="50000"/>
                  </a:prstClr>
                </a:solidFill>
                <a:latin typeface="Verdana" panose="020B0604030504040204" pitchFamily="34" charset="0"/>
              </a:rPr>
              <a:t>With ~12,200 MW of non-liquid based planned capacity addition in Bangladesh by FY30, the country may still require an incremental capacity addition of ~7,100 MW of economical and cleaner fuel based power projects by FY30 to meet the average demand</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3"/>
            </p:custDataLst>
            <p:extLst>
              <p:ext uri="{D42A27DB-BD31-4B8C-83A1-F6EECF244321}">
                <p14:modId xmlns:p14="http://schemas.microsoft.com/office/powerpoint/2010/main" val="457210001"/>
              </p:ext>
            </p:extLst>
          </p:nvPr>
        </p:nvGraphicFramePr>
        <p:xfrm>
          <a:off x="449992" y="1961918"/>
          <a:ext cx="9790971" cy="5440367"/>
        </p:xfrm>
        <a:graphic>
          <a:graphicData uri="http://schemas.openxmlformats.org/drawingml/2006/table">
            <a:tbl>
              <a:tblPr firstRow="1" bandRow="1">
                <a:tableStyleId>{5C22544A-7EE6-4342-B048-85BDC9FD1C3A}</a:tableStyleId>
              </a:tblPr>
              <a:tblGrid>
                <a:gridCol w="9790971">
                  <a:extLst>
                    <a:ext uri="{9D8B030D-6E8A-4147-A177-3AD203B41FA5}">
                      <a16:colId xmlns:a16="http://schemas.microsoft.com/office/drawing/2014/main" val="20000"/>
                    </a:ext>
                  </a:extLst>
                </a:gridCol>
              </a:tblGrid>
              <a:tr h="5440367">
                <a:tc>
                  <a:txBody>
                    <a:bodyPr/>
                    <a:lstStyle/>
                    <a:p>
                      <a:pPr marL="0" marR="0" lvl="0" indent="0" algn="ctr"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baseline="0" dirty="0">
                          <a:solidFill>
                            <a:schemeClr val="tx1"/>
                          </a:solidFill>
                        </a:rPr>
                        <a:t>Following table shows the total planned installed capacity (MW) by FY26 and FY30</a:t>
                      </a: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5" name="Rectangle 4"/>
          <p:cNvSpPr/>
          <p:nvPr/>
        </p:nvSpPr>
        <p:spPr bwMode="gray">
          <a:xfrm>
            <a:off x="444500" y="6032585"/>
            <a:ext cx="9791699" cy="864615"/>
          </a:xfrm>
          <a:prstGeom prst="rect">
            <a:avLst/>
          </a:prstGeom>
          <a:noFill/>
          <a:ln w="19050" algn="ctr">
            <a:noFill/>
            <a:miter lim="800000"/>
            <a:headEnd/>
            <a:tailEnd/>
          </a:ln>
        </p:spPr>
        <p:txBody>
          <a:bodyPr wrap="square" lIns="88900" tIns="88900" rIns="88900" bIns="88900" rtlCol="0" anchor="ctr"/>
          <a:lstStyle/>
          <a:p>
            <a:pPr lvl="0" algn="ctr">
              <a:lnSpc>
                <a:spcPct val="106000"/>
              </a:lnSpc>
              <a:defRPr/>
            </a:pPr>
            <a:r>
              <a:rPr lang="en-US" sz="1400" b="1" i="1" dirty="0">
                <a:solidFill>
                  <a:srgbClr val="0097A9"/>
                </a:solidFill>
              </a:rPr>
              <a:t>Considering the replacement potential of liquid / rental / inefficient plant dispatch in Bangladesh, there may be requirement of incremental capacity addition of ~3,000 MW by FY26 and ~4,100 MW between FY27 and FY30 to meet the projected average demand</a:t>
            </a:r>
          </a:p>
        </p:txBody>
      </p:sp>
      <p:sp>
        <p:nvSpPr>
          <p:cNvPr id="297" name="Isosceles Triangle 296"/>
          <p:cNvSpPr/>
          <p:nvPr/>
        </p:nvSpPr>
        <p:spPr bwMode="gray">
          <a:xfrm rot="5400000">
            <a:off x="4420886" y="3641424"/>
            <a:ext cx="2111910" cy="190569"/>
          </a:xfrm>
          <a:prstGeom prst="triangle">
            <a:avLst/>
          </a:prstGeom>
          <a:solidFill>
            <a:schemeClr val="tx1">
              <a:lumMod val="50000"/>
              <a:lumOff val="5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07" name="Rectangle 306"/>
          <p:cNvSpPr/>
          <p:nvPr/>
        </p:nvSpPr>
        <p:spPr bwMode="gray">
          <a:xfrm>
            <a:off x="352512" y="7252501"/>
            <a:ext cx="9941523" cy="298935"/>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BPDB; PSMP 2016, Deloitte Analysis Note: 1) For plants with low efficiency &amp; dispatch, we have considered those plants which are expected to be operational beyond FY26; The installed capacity, efficiencies and dispatch levels have been considered as per FY19 levels 2) For the purpose of the analysis, the dispatch levels of these inefficient plants have been considered to run at maximum 40% PLF annually 3) Total Disapatchable Capacity is as per expected retirement / replacement of liquid &amp; rental plants as mentioned in preceding slides 4) The total capacity thus derived is to meet the Average Demand only</a:t>
            </a:r>
          </a:p>
        </p:txBody>
      </p:sp>
      <p:cxnSp>
        <p:nvCxnSpPr>
          <p:cNvPr id="362" name="Straight Connector 361"/>
          <p:cNvCxnSpPr/>
          <p:nvPr>
            <p:custDataLst>
              <p:tags r:id="rId4"/>
            </p:custDataLst>
          </p:nvPr>
        </p:nvCxnSpPr>
        <p:spPr bwMode="auto">
          <a:xfrm>
            <a:off x="1644650" y="3581400"/>
            <a:ext cx="681038"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3" name="Straight Connector 362"/>
          <p:cNvCxnSpPr/>
          <p:nvPr>
            <p:custDataLst>
              <p:tags r:id="rId5"/>
            </p:custDataLst>
          </p:nvPr>
        </p:nvCxnSpPr>
        <p:spPr bwMode="auto">
          <a:xfrm>
            <a:off x="3179764" y="3151188"/>
            <a:ext cx="682625"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29" name="Chart 28"/>
          <p:cNvGraphicFramePr/>
          <p:nvPr>
            <p:custDataLst>
              <p:tags r:id="rId6"/>
            </p:custDataLst>
            <p:extLst>
              <p:ext uri="{D42A27DB-BD31-4B8C-83A1-F6EECF244321}">
                <p14:modId xmlns:p14="http://schemas.microsoft.com/office/powerpoint/2010/main" val="1946112956"/>
              </p:ext>
            </p:extLst>
          </p:nvPr>
        </p:nvGraphicFramePr>
        <p:xfrm>
          <a:off x="366713" y="2951163"/>
          <a:ext cx="4773612" cy="1924050"/>
        </p:xfrm>
        <a:graphic>
          <a:graphicData uri="http://schemas.openxmlformats.org/drawingml/2006/chart">
            <c:chart xmlns:c="http://schemas.openxmlformats.org/drawingml/2006/chart" xmlns:r="http://schemas.openxmlformats.org/officeDocument/2006/relationships" r:id="rId19"/>
          </a:graphicData>
        </a:graphic>
      </p:graphicFrame>
      <p:sp>
        <p:nvSpPr>
          <p:cNvPr id="391" name="StandardTextbox"/>
          <p:cNvSpPr>
            <a:spLocks noGrp="1"/>
          </p:cNvSpPr>
          <p:nvPr>
            <p:custDataLst>
              <p:tags r:id="rId7"/>
            </p:custDataLst>
          </p:nvPr>
        </p:nvSpPr>
        <p:spPr bwMode="auto">
          <a:xfrm>
            <a:off x="3702050" y="4878388"/>
            <a:ext cx="1174750" cy="7620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3E2186F-ABE0-4143-85E5-B3A259877E0A}" type="thinkcell&lt;?xml version=&quot;1.0&quot; encoding=&quot;UTF-16&quot; standalone=&quot;yes&quot;?&gt;&lt;root reqver=&quot;25060&quot;&gt;&lt;version val=&quot;28278&quot;/&gt;&lt;PersistentType&gt;&lt;m_guid val=&quot;3c69cb14-7b1d-468f-ade7-50a72ad9d0f4&quot;/&gt;&lt;m_prec&gt;&lt;m_yearfmt&gt;&lt;begin val=&quot;0&quot;/&gt;&lt;end val=&quot;4&quot;/&gt;&lt;/m_yearfmt&gt;&lt;/m_prec&gt;&lt;/PersistentType&gt;&lt;/root&gt;">
              <a:rPr lang="en-US" altLang="en-US" b="0" smtClean="0"/>
              <a:pPr lvl="1" algn="ctr">
                <a:spcBef>
                  <a:spcPct val="0"/>
                </a:spcBef>
                <a:spcAft>
                  <a:spcPct val="0"/>
                </a:spcAft>
              </a:pPr>
              <a:t>Total Additional Dispatchable Capacity Required to Meet Average Demand by FY26</a:t>
            </a:fld>
            <a:endParaRPr lang="en-IN" b="0" noProof="0" dirty="0">
              <a:sym typeface="+mn-lt"/>
            </a:endParaRPr>
          </a:p>
        </p:txBody>
      </p:sp>
      <p:sp>
        <p:nvSpPr>
          <p:cNvPr id="369" name="StandardTextbox"/>
          <p:cNvSpPr>
            <a:spLocks noGrp="1"/>
          </p:cNvSpPr>
          <p:nvPr>
            <p:custDataLst>
              <p:tags r:id="rId8"/>
            </p:custDataLst>
          </p:nvPr>
        </p:nvSpPr>
        <p:spPr bwMode="auto">
          <a:xfrm>
            <a:off x="576263" y="4878388"/>
            <a:ext cx="1282700" cy="7620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E1F8CC1-874C-4118-A49B-E7059780B892}" type="thinkcell&lt;?xml version=&quot;1.0&quot; encoding=&quot;UTF-16&quot; standalone=&quot;yes&quot;?&gt;&lt;root reqver=&quot;25060&quot;&gt;&lt;version val=&quot;28278&quot;/&gt;&lt;PersistentType&gt;&lt;m_guid val=&quot;e8a7adb7-d8c5-4be0-809e-9d0438e0c9df&quot;/&gt;&lt;m_prec&gt;&lt;m_yearfmt&gt;&lt;begin val=&quot;0&quot;/&gt;&lt;end val=&quot;4&quot;/&gt;&lt;/m_yearfmt&gt;&lt;/m_prec&gt;&lt;/PersistentType&gt;&lt;/root&gt;">
              <a:rPr lang="en-US" altLang="en-US" b="0" smtClean="0"/>
              <a:pPr lvl="1" algn="ctr">
                <a:spcBef>
                  <a:spcPct val="0"/>
                </a:spcBef>
                <a:spcAft>
                  <a:spcPct val="0"/>
                </a:spcAft>
              </a:pPr>
              <a:t>Addition based on planned projects of Non-Liquid fuel power plants between FY20-FY26</a:t>
            </a:fld>
            <a:endParaRPr lang="en-IN" b="0" noProof="0" dirty="0">
              <a:sym typeface="+mn-lt"/>
            </a:endParaRPr>
          </a:p>
        </p:txBody>
      </p:sp>
      <p:sp>
        <p:nvSpPr>
          <p:cNvPr id="370" name="StandardTextbox"/>
          <p:cNvSpPr>
            <a:spLocks noGrp="1"/>
          </p:cNvSpPr>
          <p:nvPr>
            <p:custDataLst>
              <p:tags r:id="rId9"/>
            </p:custDataLst>
          </p:nvPr>
        </p:nvSpPr>
        <p:spPr bwMode="auto">
          <a:xfrm>
            <a:off x="2063749" y="4878388"/>
            <a:ext cx="1379538" cy="914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07FD7E1-E315-4BB3-B8CC-9368E4A059F3}" type="thinkcell&lt;?xml version=&quot;1.0&quot; encoding=&quot;UTF-16&quot; standalone=&quot;yes&quot;?&gt;&lt;root reqver=&quot;25060&quot;&gt;&lt;version val=&quot;28278&quot;/&gt;&lt;PersistentType&gt;&lt;m_guid val=&quot;dedf3163-2cc8-43e8-9f3e-8b853f75f77b&quot;/&gt;&lt;m_prec&gt;&lt;m_yearfmt&gt;&lt;begin val=&quot;0&quot;/&gt;&lt;end val=&quot;4&quot;/&gt;&lt;/m_yearfmt&gt;&lt;/m_prec&gt;&lt;/PersistentType&gt;&lt;/root&gt;">
              <a:rPr lang="en-US" altLang="en-US" b="0" smtClean="0"/>
              <a:pPr lvl="1" algn="ctr">
                <a:spcBef>
                  <a:spcPct val="0"/>
                </a:spcBef>
                <a:spcAft>
                  <a:spcPct val="0"/>
                </a:spcAft>
              </a:pPr>
              <a:t>Incremental Capacity (post current projected capacity addition) required to meet Average Demand by FY26</a:t>
            </a:fld>
            <a:endParaRPr lang="en-IN" b="0" noProof="0" dirty="0">
              <a:sym typeface="+mn-lt"/>
            </a:endParaRPr>
          </a:p>
        </p:txBody>
      </p:sp>
      <p:cxnSp>
        <p:nvCxnSpPr>
          <p:cNvPr id="398" name="Straight Connector 397"/>
          <p:cNvCxnSpPr/>
          <p:nvPr>
            <p:custDataLst>
              <p:tags r:id="rId10"/>
            </p:custDataLst>
          </p:nvPr>
        </p:nvCxnSpPr>
        <p:spPr bwMode="auto">
          <a:xfrm>
            <a:off x="6770689" y="4013200"/>
            <a:ext cx="684213"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7" name="Straight Connector 396"/>
          <p:cNvCxnSpPr/>
          <p:nvPr>
            <p:custDataLst>
              <p:tags r:id="rId11"/>
            </p:custDataLst>
          </p:nvPr>
        </p:nvCxnSpPr>
        <p:spPr bwMode="auto">
          <a:xfrm>
            <a:off x="8312151" y="3151188"/>
            <a:ext cx="684213"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31" name="Chart 30"/>
          <p:cNvGraphicFramePr/>
          <p:nvPr>
            <p:custDataLst>
              <p:tags r:id="rId12"/>
            </p:custDataLst>
            <p:extLst>
              <p:ext uri="{D42A27DB-BD31-4B8C-83A1-F6EECF244321}">
                <p14:modId xmlns:p14="http://schemas.microsoft.com/office/powerpoint/2010/main" val="822897097"/>
              </p:ext>
            </p:extLst>
          </p:nvPr>
        </p:nvGraphicFramePr>
        <p:xfrm>
          <a:off x="5489575" y="2951163"/>
          <a:ext cx="4789488" cy="1924050"/>
        </p:xfrm>
        <a:graphic>
          <a:graphicData uri="http://schemas.openxmlformats.org/drawingml/2006/chart">
            <c:chart xmlns:c="http://schemas.openxmlformats.org/drawingml/2006/chart" xmlns:r="http://schemas.openxmlformats.org/officeDocument/2006/relationships" r:id="rId20"/>
          </a:graphicData>
        </a:graphic>
      </p:graphicFrame>
      <p:sp>
        <p:nvSpPr>
          <p:cNvPr id="400" name="StandardTextbox"/>
          <p:cNvSpPr>
            <a:spLocks noGrp="1"/>
          </p:cNvSpPr>
          <p:nvPr>
            <p:custDataLst>
              <p:tags r:id="rId13"/>
            </p:custDataLst>
          </p:nvPr>
        </p:nvSpPr>
        <p:spPr bwMode="auto">
          <a:xfrm>
            <a:off x="5700713" y="4878388"/>
            <a:ext cx="1282700" cy="7620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4DEC28A-02D8-466E-9603-22C844DC2313}" type="thinkcell&lt;?xml version=&quot;1.0&quot; encoding=&quot;UTF-16&quot; standalone=&quot;yes&quot;?&gt;&lt;root reqver=&quot;25060&quot;&gt;&lt;version val=&quot;28278&quot;/&gt;&lt;PersistentType&gt;&lt;m_guid val=&quot;fe48b2cf-c48e-4942-b726-320f63e71c06&quot;/&gt;&lt;m_prec&gt;&lt;m_yearfmt&gt;&lt;begin val=&quot;0&quot;/&gt;&lt;end val=&quot;4&quot;/&gt;&lt;/m_yearfmt&gt;&lt;/m_prec&gt;&lt;/PersistentType&gt;&lt;/root&gt;">
              <a:rPr lang="en-US" altLang="en-US" b="0" smtClean="0"/>
              <a:pPr lvl="1" algn="ctr">
                <a:spcBef>
                  <a:spcPct val="0"/>
                </a:spcBef>
                <a:spcAft>
                  <a:spcPct val="0"/>
                </a:spcAft>
              </a:pPr>
              <a:t>AAddition based on planned projects of Non-Liquid fuel power plants between FY27-FY30</a:t>
            </a:fld>
            <a:endParaRPr lang="en-IN" b="0" noProof="0" dirty="0">
              <a:sym typeface="+mn-lt"/>
            </a:endParaRPr>
          </a:p>
        </p:txBody>
      </p:sp>
      <p:sp>
        <p:nvSpPr>
          <p:cNvPr id="402" name="StandardTextbox"/>
          <p:cNvSpPr>
            <a:spLocks noGrp="1"/>
          </p:cNvSpPr>
          <p:nvPr>
            <p:custDataLst>
              <p:tags r:id="rId14"/>
            </p:custDataLst>
          </p:nvPr>
        </p:nvSpPr>
        <p:spPr bwMode="auto">
          <a:xfrm>
            <a:off x="8837613" y="4878388"/>
            <a:ext cx="1174750" cy="7620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F9D82DD-ED07-45D6-BF04-2768B7AC964A}" type="thinkcell&lt;?xml version=&quot;1.0&quot; encoding=&quot;UTF-16&quot; standalone=&quot;yes&quot;?&gt;&lt;root reqver=&quot;25060&quot;&gt;&lt;version val=&quot;28278&quot;/&gt;&lt;PersistentType&gt;&lt;m_guid val=&quot;060dad1c-167a-48c1-9e82-5ac43dbdff97&quot;/&gt;&lt;m_prec&gt;&lt;m_yearfmt&gt;&lt;begin val=&quot;0&quot;/&gt;&lt;end val=&quot;4&quot;/&gt;&lt;/m_yearfmt&gt;&lt;/m_prec&gt;&lt;/PersistentType&gt;&lt;/root&gt;">
              <a:rPr lang="en-US" altLang="en-US" b="0" smtClean="0"/>
              <a:pPr lvl="1" algn="ctr">
                <a:spcBef>
                  <a:spcPct val="0"/>
                </a:spcBef>
                <a:spcAft>
                  <a:spcPct val="0"/>
                </a:spcAft>
              </a:pPr>
              <a:t>Total Additional Dispatchable Capacity Required to Meet Average Demand by FY30</a:t>
            </a:fld>
            <a:endParaRPr lang="en-IN" b="0" noProof="0" dirty="0">
              <a:sym typeface="+mn-lt"/>
            </a:endParaRPr>
          </a:p>
        </p:txBody>
      </p:sp>
      <p:sp>
        <p:nvSpPr>
          <p:cNvPr id="401" name="StandardTextbox"/>
          <p:cNvSpPr>
            <a:spLocks noGrp="1"/>
          </p:cNvSpPr>
          <p:nvPr>
            <p:custDataLst>
              <p:tags r:id="rId15"/>
            </p:custDataLst>
          </p:nvPr>
        </p:nvSpPr>
        <p:spPr bwMode="auto">
          <a:xfrm>
            <a:off x="7194549" y="4878388"/>
            <a:ext cx="1379538" cy="914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328F9B7-060C-40A3-A9C2-6D872DBB9472}" type="thinkcell&lt;?xml version=&quot;1.0&quot; encoding=&quot;UTF-16&quot; standalone=&quot;yes&quot;?&gt;&lt;root reqver=&quot;25060&quot;&gt;&lt;version val=&quot;28278&quot;/&gt;&lt;PersistentType&gt;&lt;m_guid val=&quot;16788065-a9e3-412d-9705-1a31ec6c7bd9&quot;/&gt;&lt;m_prec&gt;&lt;m_yearfmt&gt;&lt;begin val=&quot;0&quot;/&gt;&lt;end val=&quot;4&quot;/&gt;&lt;/m_yearfmt&gt;&lt;/m_prec&gt;&lt;/PersistentType&gt;&lt;/root&gt;">
              <a:rPr lang="en-US" altLang="en-US" b="0" smtClean="0"/>
              <a:pPr lvl="1" algn="ctr">
                <a:spcBef>
                  <a:spcPct val="0"/>
                </a:spcBef>
                <a:spcAft>
                  <a:spcPct val="0"/>
                </a:spcAft>
              </a:pPr>
              <a:t>Incremental Capacity (post current projected capacity addition) required to meet Average Demand by FY30</a:t>
            </a:fld>
            <a:endParaRPr lang="en-IN" b="0" noProof="0" dirty="0">
              <a:sym typeface="+mn-lt"/>
            </a:endParaRPr>
          </a:p>
        </p:txBody>
      </p:sp>
      <p:sp>
        <p:nvSpPr>
          <p:cNvPr id="22" name="Rectangle 21"/>
          <p:cNvSpPr/>
          <p:nvPr/>
        </p:nvSpPr>
        <p:spPr bwMode="gray">
          <a:xfrm>
            <a:off x="2165692" y="2956178"/>
            <a:ext cx="1257300" cy="827573"/>
          </a:xfrm>
          <a:prstGeom prst="rect">
            <a:avLst/>
          </a:prstGeom>
          <a:noFill/>
          <a:ln>
            <a:solidFill>
              <a:srgbClr val="C00000"/>
            </a:solidFill>
            <a:prstDash val="dashDot"/>
            <a:headEnd/>
            <a:tailEnd/>
          </a:ln>
        </p:spPr>
        <p:style>
          <a:lnRef idx="2">
            <a:schemeClr val="accent6"/>
          </a:lnRef>
          <a:fillRef idx="1">
            <a:schemeClr val="lt1"/>
          </a:fillRef>
          <a:effectRef idx="0">
            <a:schemeClr val="accent6"/>
          </a:effectRef>
          <a:fontRef idx="minor">
            <a:schemeClr val="dk1"/>
          </a:fontRef>
        </p:style>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3" name="Rectangle 22"/>
          <p:cNvSpPr/>
          <p:nvPr/>
        </p:nvSpPr>
        <p:spPr bwMode="gray">
          <a:xfrm>
            <a:off x="7251700" y="2981457"/>
            <a:ext cx="1257300" cy="1208578"/>
          </a:xfrm>
          <a:prstGeom prst="rect">
            <a:avLst/>
          </a:prstGeom>
          <a:noFill/>
          <a:ln>
            <a:solidFill>
              <a:srgbClr val="C00000"/>
            </a:solidFill>
            <a:prstDash val="dashDot"/>
            <a:headEnd/>
            <a:tailEnd/>
          </a:ln>
        </p:spPr>
        <p:style>
          <a:lnRef idx="2">
            <a:schemeClr val="accent6"/>
          </a:lnRef>
          <a:fillRef idx="1">
            <a:schemeClr val="lt1"/>
          </a:fillRef>
          <a:effectRef idx="0">
            <a:schemeClr val="accent6"/>
          </a:effectRef>
          <a:fontRef idx="minor">
            <a:schemeClr val="dk1"/>
          </a:fontRef>
        </p:style>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Tree>
    <p:extLst>
      <p:ext uri="{BB962C8B-B14F-4D97-AF65-F5344CB8AC3E}">
        <p14:creationId xmlns:p14="http://schemas.microsoft.com/office/powerpoint/2010/main" val="3922796453"/>
      </p:ext>
    </p:extLst>
  </p:cSld>
  <p:clrMapOvr>
    <a:masterClrMapping/>
  </p:clrMapOvr>
  <p:transition>
    <p:fade/>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47499138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9" imgW="530" imgH="531" progId="TCLayout.ActiveDocument.1">
                  <p:embed/>
                </p:oleObj>
              </mc:Choice>
              <mc:Fallback>
                <p:oleObj name="think-cell Slide" r:id="rId19" imgW="530" imgH="531" progId="TCLayout.ActiveDocument.1">
                  <p:embed/>
                  <p:pic>
                    <p:nvPicPr>
                      <p:cNvPr id="4" name="Object 3" hidden="1"/>
                      <p:cNvPicPr/>
                      <p:nvPr/>
                    </p:nvPicPr>
                    <p:blipFill>
                      <a:blip r:embed="rId20"/>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IN" sz="800" u="none" strike="noStrike" kern="1200" cap="none" spc="0" normalizeH="0" noProof="0" dirty="0">
              <a:ln>
                <a:noFill/>
              </a:ln>
              <a:solidFill>
                <a:prstClr val="white"/>
              </a:solidFill>
              <a:effectLst/>
              <a:uLnTx/>
              <a:uFillTx/>
              <a:sym typeface="+mn-lt"/>
            </a:endParaRPr>
          </a:p>
        </p:txBody>
      </p:sp>
      <p:sp>
        <p:nvSpPr>
          <p:cNvPr id="2" name="Title 1"/>
          <p:cNvSpPr>
            <a:spLocks noGrp="1"/>
          </p:cNvSpPr>
          <p:nvPr>
            <p:ph type="title"/>
          </p:nvPr>
        </p:nvSpPr>
        <p:spPr/>
        <p:txBody>
          <a:bodyPr/>
          <a:lstStyle/>
          <a:p>
            <a:r>
              <a:rPr lang="en-US" dirty="0"/>
              <a:t>Power Market | Supply Projection for Peak Demand</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0">
              <a:defRPr/>
            </a:pPr>
            <a:r>
              <a:rPr lang="en-US" sz="1400" dirty="0">
                <a:solidFill>
                  <a:prstClr val="black">
                    <a:lumMod val="50000"/>
                    <a:lumOff val="50000"/>
                  </a:prstClr>
                </a:solidFill>
                <a:latin typeface="Verdana" panose="020B0604030504040204" pitchFamily="34" charset="0"/>
              </a:rPr>
              <a:t>Bangladesh is expected to have additional capacity requirement of ~6,400 MW by FY30 to meet its peaking power demand</a:t>
            </a:r>
            <a:endParaRPr lang="en-GB" sz="1400" dirty="0">
              <a:solidFill>
                <a:prstClr val="black">
                  <a:lumMod val="50000"/>
                  <a:lumOff val="50000"/>
                </a:prstClr>
              </a:solidFill>
              <a:latin typeface="Verdana" panose="020B0604030504040204" pitchFamily="34" charset="0"/>
            </a:endParaRPr>
          </a:p>
        </p:txBody>
      </p:sp>
      <p:graphicFrame>
        <p:nvGraphicFramePr>
          <p:cNvPr id="99" name="Table 98"/>
          <p:cNvGraphicFramePr>
            <a:graphicFrameLocks noGrp="1"/>
          </p:cNvGraphicFramePr>
          <p:nvPr>
            <p:custDataLst>
              <p:tags r:id="rId3"/>
            </p:custDataLst>
            <p:extLst>
              <p:ext uri="{D42A27DB-BD31-4B8C-83A1-F6EECF244321}">
                <p14:modId xmlns:p14="http://schemas.microsoft.com/office/powerpoint/2010/main" val="1427664083"/>
              </p:ext>
            </p:extLst>
          </p:nvPr>
        </p:nvGraphicFramePr>
        <p:xfrm>
          <a:off x="449992" y="1961919"/>
          <a:ext cx="9790971" cy="5056102"/>
        </p:xfrm>
        <a:graphic>
          <a:graphicData uri="http://schemas.openxmlformats.org/drawingml/2006/table">
            <a:tbl>
              <a:tblPr firstRow="1" bandRow="1">
                <a:tableStyleId>{5C22544A-7EE6-4342-B048-85BDC9FD1C3A}</a:tableStyleId>
              </a:tblPr>
              <a:tblGrid>
                <a:gridCol w="9790971">
                  <a:extLst>
                    <a:ext uri="{9D8B030D-6E8A-4147-A177-3AD203B41FA5}">
                      <a16:colId xmlns:a16="http://schemas.microsoft.com/office/drawing/2014/main" val="20000"/>
                    </a:ext>
                  </a:extLst>
                </a:gridCol>
              </a:tblGrid>
              <a:tr h="5056102">
                <a:tc>
                  <a:txBody>
                    <a:bodyPr/>
                    <a:lstStyle/>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Following figure shows the total peak power demand (MW) and potential of replacement / addition of liquid based capacity (MW) to meet peak demand in FY26</a:t>
                      </a:r>
                    </a:p>
                    <a:p>
                      <a:pPr marL="0" indent="0" algn="just">
                        <a:spcBef>
                          <a:spcPts val="600"/>
                        </a:spcBef>
                        <a:spcAft>
                          <a:spcPts val="500"/>
                        </a:spcAft>
                        <a:buFont typeface="Arial" panose="020B0604020202020204" pitchFamily="34" charset="0"/>
                        <a:buNone/>
                      </a:pPr>
                      <a:endParaRPr lang="en-US" sz="1000" b="1" baseline="0" dirty="0">
                        <a:solidFill>
                          <a:schemeClr val="tx1"/>
                        </a:solidFill>
                      </a:endParaRPr>
                    </a:p>
                    <a:p>
                      <a:pPr marL="0" indent="0" algn="just">
                        <a:spcBef>
                          <a:spcPts val="600"/>
                        </a:spcBef>
                        <a:spcAft>
                          <a:spcPts val="500"/>
                        </a:spcAft>
                        <a:buFont typeface="Arial" panose="020B0604020202020204" pitchFamily="34" charset="0"/>
                        <a:buNone/>
                      </a:pPr>
                      <a:endParaRPr lang="en-US" sz="1000" b="1" baseline="0" dirty="0">
                        <a:solidFill>
                          <a:schemeClr val="tx1"/>
                        </a:solidFill>
                      </a:endParaRPr>
                    </a:p>
                    <a:p>
                      <a:pPr marL="0" indent="0" algn="just">
                        <a:spcBef>
                          <a:spcPts val="600"/>
                        </a:spcBef>
                        <a:spcAft>
                          <a:spcPts val="500"/>
                        </a:spcAft>
                        <a:buFont typeface="Arial" panose="020B0604020202020204" pitchFamily="34" charset="0"/>
                        <a:buNone/>
                      </a:pPr>
                      <a:endParaRPr lang="en-US" sz="1000" b="1" baseline="0" dirty="0">
                        <a:solidFill>
                          <a:schemeClr val="tx1"/>
                        </a:solidFill>
                      </a:endParaRPr>
                    </a:p>
                    <a:p>
                      <a:pPr marL="0" indent="0" algn="just">
                        <a:spcBef>
                          <a:spcPts val="600"/>
                        </a:spcBef>
                        <a:spcAft>
                          <a:spcPts val="500"/>
                        </a:spcAft>
                        <a:buFont typeface="Arial" panose="020B0604020202020204" pitchFamily="34" charset="0"/>
                        <a:buNone/>
                      </a:pPr>
                      <a:endParaRPr lang="en-US" sz="1000" b="1" baseline="0" dirty="0">
                        <a:solidFill>
                          <a:schemeClr val="tx1"/>
                        </a:solidFill>
                      </a:endParaRPr>
                    </a:p>
                    <a:p>
                      <a:pPr marL="0" indent="0" algn="just">
                        <a:spcBef>
                          <a:spcPts val="600"/>
                        </a:spcBef>
                        <a:spcAft>
                          <a:spcPts val="500"/>
                        </a:spcAft>
                        <a:buFont typeface="Arial" panose="020B0604020202020204" pitchFamily="34" charset="0"/>
                        <a:buNone/>
                      </a:pPr>
                      <a:endParaRPr lang="en-US" sz="1000" b="1" baseline="0" dirty="0">
                        <a:solidFill>
                          <a:schemeClr val="tx1"/>
                        </a:solidFill>
                      </a:endParaRPr>
                    </a:p>
                    <a:p>
                      <a:pPr marL="0" indent="0" algn="just">
                        <a:spcBef>
                          <a:spcPts val="600"/>
                        </a:spcBef>
                        <a:spcAft>
                          <a:spcPts val="500"/>
                        </a:spcAft>
                        <a:buFont typeface="Arial" panose="020B0604020202020204" pitchFamily="34" charset="0"/>
                        <a:buNone/>
                      </a:pPr>
                      <a:endParaRPr lang="en-US" sz="1000" b="1" baseline="0" dirty="0">
                        <a:solidFill>
                          <a:schemeClr val="tx1"/>
                        </a:solidFill>
                      </a:endParaRPr>
                    </a:p>
                    <a:p>
                      <a:pPr marL="0" indent="0" algn="just">
                        <a:spcBef>
                          <a:spcPts val="600"/>
                        </a:spcBef>
                        <a:spcAft>
                          <a:spcPts val="500"/>
                        </a:spcAft>
                        <a:buFont typeface="Arial" panose="020B0604020202020204" pitchFamily="34" charset="0"/>
                        <a:buNone/>
                      </a:pPr>
                      <a:endParaRPr lang="en-US" sz="1000" b="1" baseline="0" dirty="0">
                        <a:solidFill>
                          <a:schemeClr val="tx1"/>
                        </a:solidFill>
                      </a:endParaRPr>
                    </a:p>
                    <a:p>
                      <a:pPr marL="0" indent="0" algn="just">
                        <a:spcBef>
                          <a:spcPts val="600"/>
                        </a:spcBef>
                        <a:spcAft>
                          <a:spcPts val="500"/>
                        </a:spcAft>
                        <a:buFont typeface="Arial" panose="020B0604020202020204" pitchFamily="34" charset="0"/>
                        <a:buNone/>
                      </a:pPr>
                      <a:endParaRPr lang="en-US" sz="1000" b="1" baseline="0" dirty="0">
                        <a:solidFill>
                          <a:schemeClr val="tx1"/>
                        </a:solidFill>
                      </a:endParaRPr>
                    </a:p>
                    <a:p>
                      <a:pPr marL="0" indent="0" algn="just">
                        <a:spcBef>
                          <a:spcPts val="600"/>
                        </a:spcBef>
                        <a:spcAft>
                          <a:spcPts val="500"/>
                        </a:spcAft>
                        <a:buFont typeface="Arial" panose="020B0604020202020204" pitchFamily="34" charset="0"/>
                        <a:buNone/>
                      </a:pPr>
                      <a:endParaRPr lang="en-US" sz="1000" b="1" baseline="0" dirty="0">
                        <a:solidFill>
                          <a:schemeClr val="tx1"/>
                        </a:solidFill>
                      </a:endParaRPr>
                    </a:p>
                    <a:p>
                      <a:pPr marL="171450" indent="-171450" algn="just" defTabSz="990571" rtl="0" eaLnBrk="1" latinLnBrk="0" hangingPunct="1">
                        <a:spcBef>
                          <a:spcPts val="0"/>
                        </a:spcBef>
                        <a:spcAft>
                          <a:spcPts val="5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0"/>
                        </a:spcBef>
                        <a:spcAft>
                          <a:spcPts val="5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0"/>
                        </a:spcBef>
                        <a:spcAft>
                          <a:spcPts val="5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0"/>
                        </a:spcBef>
                        <a:spcAft>
                          <a:spcPts val="500"/>
                        </a:spcAft>
                        <a:buFont typeface="Arial" panose="020B0604020202020204" pitchFamily="34" charset="0"/>
                        <a:buChar char="•"/>
                      </a:pPr>
                      <a:r>
                        <a:rPr lang="en-US" sz="1000" b="0" kern="1200" baseline="0" dirty="0">
                          <a:solidFill>
                            <a:schemeClr val="tx1"/>
                          </a:solidFill>
                          <a:latin typeface="+mn-lt"/>
                          <a:ea typeface="+mn-ea"/>
                          <a:cs typeface="+mn-cs"/>
                        </a:rPr>
                        <a:t>As per our supply projections, Bangladesh requires ~19,600 MW of economical &amp; cleaner fuel based capacity to meet the average demand by FY26 and ~27,000 MW by FY30</a:t>
                      </a:r>
                    </a:p>
                    <a:p>
                      <a:pPr marL="171450" indent="-171450" algn="just" defTabSz="990571" rtl="0" eaLnBrk="1" latinLnBrk="0" hangingPunct="1">
                        <a:spcBef>
                          <a:spcPts val="0"/>
                        </a:spcBef>
                        <a:spcAft>
                          <a:spcPts val="500"/>
                        </a:spcAft>
                        <a:buFont typeface="Arial" panose="020B0604020202020204" pitchFamily="34" charset="0"/>
                        <a:buChar char="•"/>
                      </a:pPr>
                      <a:r>
                        <a:rPr lang="en-US" sz="1000" b="0" kern="1200" baseline="0" dirty="0">
                          <a:solidFill>
                            <a:schemeClr val="tx1"/>
                          </a:solidFill>
                          <a:latin typeface="+mn-lt"/>
                          <a:ea typeface="+mn-ea"/>
                          <a:cs typeface="+mn-cs"/>
                        </a:rPr>
                        <a:t>To meet the peaking power demand in FY30, there may be further incremental capacity addition requirement of ~6,400 MW </a:t>
                      </a:r>
                    </a:p>
                    <a:p>
                      <a:pPr marL="171450" indent="-171450" algn="just" defTabSz="990571" rtl="0" eaLnBrk="1" latinLnBrk="0" hangingPunct="1">
                        <a:spcBef>
                          <a:spcPts val="0"/>
                        </a:spcBef>
                        <a:spcAft>
                          <a:spcPts val="500"/>
                        </a:spcAft>
                        <a:buFont typeface="Arial" panose="020B0604020202020204" pitchFamily="34" charset="0"/>
                        <a:buChar char="•"/>
                      </a:pPr>
                      <a:r>
                        <a:rPr lang="en-US" sz="1000" b="0" kern="1200" baseline="0" dirty="0">
                          <a:solidFill>
                            <a:schemeClr val="tx1"/>
                          </a:solidFill>
                          <a:latin typeface="+mn-lt"/>
                          <a:ea typeface="+mn-ea"/>
                          <a:cs typeface="+mn-cs"/>
                        </a:rPr>
                        <a:t>This incremental supply capacity requirement may be met by addition of new cleaner &amp; economical power plants or may be met by running the liquid fuel power plants which may continue to remain operational by virtue of their PPAs</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74" name="Rectangle 73"/>
          <p:cNvSpPr/>
          <p:nvPr/>
        </p:nvSpPr>
        <p:spPr bwMode="gray">
          <a:xfrm>
            <a:off x="356562" y="7347746"/>
            <a:ext cx="9900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Industry Reports, Deloitte Analysis Note 1) Additional Plant in Capacity Additions based on BPDB and Projects tracked by PSMP and secondary sources. 2) Plant Retirement Based on PSMP 2016 projections as well as estimations based on COD / dispatch levels of each power plant  Bangladesh 3) For plants not covered under PSMP, an average PPA duration for 22 years has been considered for Non-Rental Plants and 10 years for Rental / Quick Rental Plants.</a:t>
            </a:r>
          </a:p>
          <a:p>
            <a:pPr lvl="0">
              <a:lnSpc>
                <a:spcPct val="106000"/>
              </a:lnSpc>
              <a:defRPr/>
            </a:pPr>
            <a:endParaRPr lang="en-US" sz="700" i="1" dirty="0">
              <a:solidFill>
                <a:prstClr val="black"/>
              </a:solidFill>
            </a:endParaRPr>
          </a:p>
        </p:txBody>
      </p:sp>
      <p:cxnSp>
        <p:nvCxnSpPr>
          <p:cNvPr id="14" name="Straight Connector 13"/>
          <p:cNvCxnSpPr/>
          <p:nvPr>
            <p:custDataLst>
              <p:tags r:id="rId4"/>
            </p:custDataLst>
          </p:nvPr>
        </p:nvCxnSpPr>
        <p:spPr bwMode="auto">
          <a:xfrm>
            <a:off x="1317625" y="3281363"/>
            <a:ext cx="161290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custDataLst>
              <p:tags r:id="rId5"/>
            </p:custDataLst>
          </p:nvPr>
        </p:nvCxnSpPr>
        <p:spPr bwMode="auto">
          <a:xfrm>
            <a:off x="3551238" y="3643313"/>
            <a:ext cx="49530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27" name="Chart 26"/>
          <p:cNvGraphicFramePr/>
          <p:nvPr>
            <p:custDataLst>
              <p:tags r:id="rId6"/>
            </p:custDataLst>
            <p:extLst>
              <p:ext uri="{D42A27DB-BD31-4B8C-83A1-F6EECF244321}">
                <p14:modId xmlns:p14="http://schemas.microsoft.com/office/powerpoint/2010/main" val="150447215"/>
              </p:ext>
            </p:extLst>
          </p:nvPr>
        </p:nvGraphicFramePr>
        <p:xfrm>
          <a:off x="366713" y="2706688"/>
          <a:ext cx="4630737" cy="2233612"/>
        </p:xfrm>
        <a:graphic>
          <a:graphicData uri="http://schemas.openxmlformats.org/drawingml/2006/chart">
            <c:chart xmlns:c="http://schemas.openxmlformats.org/drawingml/2006/chart" xmlns:r="http://schemas.openxmlformats.org/officeDocument/2006/relationships" r:id="rId21"/>
          </a:graphicData>
        </a:graphic>
      </p:graphicFrame>
      <p:sp>
        <p:nvSpPr>
          <p:cNvPr id="51" name="StandardTextbox"/>
          <p:cNvSpPr>
            <a:spLocks noGrp="1"/>
          </p:cNvSpPr>
          <p:nvPr>
            <p:custDataLst>
              <p:tags r:id="rId7"/>
            </p:custDataLst>
          </p:nvPr>
        </p:nvSpPr>
        <p:spPr bwMode="auto">
          <a:xfrm>
            <a:off x="3802063" y="4924425"/>
            <a:ext cx="1108075" cy="36671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D42CB4E-E966-4D3E-8D8B-05F3C825927F}" type="datetime'Estima''ted ''L''iquid Based Power Projects in system by FY26'">
              <a:rPr lang="en-US" altLang="en-US" sz="800" b="0" smtClean="0"/>
              <a:pPr lvl="1" algn="ctr">
                <a:spcBef>
                  <a:spcPct val="0"/>
                </a:spcBef>
                <a:spcAft>
                  <a:spcPct val="0"/>
                </a:spcAft>
              </a:pPr>
              <a:t>Estimated Liquid Based Power Projects in system by FY26</a:t>
            </a:fld>
            <a:endParaRPr lang="en-IN" sz="800" b="0" noProof="0" dirty="0">
              <a:sym typeface="+mn-lt"/>
            </a:endParaRPr>
          </a:p>
        </p:txBody>
      </p:sp>
      <p:sp>
        <p:nvSpPr>
          <p:cNvPr id="44" name="StandardTextbox"/>
          <p:cNvSpPr>
            <a:spLocks noGrp="1"/>
          </p:cNvSpPr>
          <p:nvPr>
            <p:custDataLst>
              <p:tags r:id="rId8"/>
            </p:custDataLst>
          </p:nvPr>
        </p:nvSpPr>
        <p:spPr bwMode="auto">
          <a:xfrm>
            <a:off x="1589088" y="4924425"/>
            <a:ext cx="1071563" cy="61118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399D4D7-5EB4-4481-9C0C-BD1621C6DB3D}" type="thinkcell&lt;?xml version=&quot;1.0&quot; encoding=&quot;UTF-16&quot; standalone=&quot;yes&quot;?&gt;&lt;root reqver=&quot;25060&quot;&gt;&lt;version val=&quot;28278&quot;/&gt;&lt;PersistentType&gt;&lt;m_guid val=&quot;b236c8a0-2762-4f32-9307-c882df7997b9&quot;/&gt;&lt;m_prec&gt;&lt;m_yearfmt&gt;&lt;begin val=&quot;0&quot;/&gt;&lt;end val=&quot;4&quot;/&gt;&lt;/m_yearfmt&gt;&lt;/m_prec&gt;&lt;/PersistentType&gt;&lt;/root&gt;">
              <a:rPr lang="en-US" altLang="en-US" sz="800" b="0" smtClean="0"/>
              <a:pPr lvl="1" algn="ctr">
                <a:spcBef>
                  <a:spcPct val="0"/>
                </a:spcBef>
                <a:spcAft>
                  <a:spcPct val="0"/>
                </a:spcAft>
              </a:pPr>
              <a:t>Estimated Non-Liquid based Power Plants in System to meet Average Power Demand (FY26)</a:t>
            </a:fld>
            <a:endParaRPr lang="en-IN" sz="800" b="0" noProof="0" dirty="0">
              <a:sym typeface="+mn-lt"/>
            </a:endParaRPr>
          </a:p>
        </p:txBody>
      </p:sp>
      <p:sp>
        <p:nvSpPr>
          <p:cNvPr id="48" name="StandardTextbox"/>
          <p:cNvSpPr>
            <a:spLocks noGrp="1"/>
          </p:cNvSpPr>
          <p:nvPr>
            <p:custDataLst>
              <p:tags r:id="rId9"/>
            </p:custDataLst>
          </p:nvPr>
        </p:nvSpPr>
        <p:spPr bwMode="auto">
          <a:xfrm>
            <a:off x="579438" y="4924425"/>
            <a:ext cx="855663" cy="2444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98B7B7C-473A-415A-AC5C-3CE0D9E249DE}" type="datetime'Projecte''d Peak'''' De''''''man''''''d'' ''''''''in FY26'''">
              <a:rPr lang="en-US" altLang="en-US" sz="800" b="0" smtClean="0"/>
              <a:pPr lvl="1" algn="ctr">
                <a:spcBef>
                  <a:spcPct val="0"/>
                </a:spcBef>
                <a:spcAft>
                  <a:spcPct val="0"/>
                </a:spcAft>
              </a:pPr>
              <a:t>Projected Peak Demand in FY26</a:t>
            </a:fld>
            <a:endParaRPr lang="en-IN" sz="800" b="0" noProof="0" dirty="0">
              <a:sym typeface="+mn-lt"/>
            </a:endParaRPr>
          </a:p>
        </p:txBody>
      </p:sp>
      <p:sp>
        <p:nvSpPr>
          <p:cNvPr id="55" name="StandardTextbox"/>
          <p:cNvSpPr>
            <a:spLocks noGrp="1"/>
          </p:cNvSpPr>
          <p:nvPr>
            <p:custDataLst>
              <p:tags r:id="rId10"/>
            </p:custDataLst>
          </p:nvPr>
        </p:nvSpPr>
        <p:spPr bwMode="auto">
          <a:xfrm>
            <a:off x="2770188" y="4924425"/>
            <a:ext cx="941388" cy="48895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E849CAF-ADD9-4BDF-9CF8-A219771C981B}" type="datetime'I''ncremental Capacity Required to meet Pea''k Demand by FY26'">
              <a:rPr lang="en-US" altLang="en-US" sz="800" b="0" smtClean="0"/>
              <a:pPr lvl="1" algn="ctr">
                <a:spcBef>
                  <a:spcPct val="0"/>
                </a:spcBef>
                <a:spcAft>
                  <a:spcPct val="0"/>
                </a:spcAft>
              </a:pPr>
              <a:t>Incremental Capacity Required to meet Peak Demand by FY26</a:t>
            </a:fld>
            <a:endParaRPr lang="en-IN" sz="800" b="0" noProof="0" dirty="0">
              <a:sym typeface="+mn-lt"/>
            </a:endParaRPr>
          </a:p>
        </p:txBody>
      </p:sp>
      <p:sp>
        <p:nvSpPr>
          <p:cNvPr id="58" name="Isosceles Triangle 57"/>
          <p:cNvSpPr/>
          <p:nvPr/>
        </p:nvSpPr>
        <p:spPr bwMode="gray">
          <a:xfrm rot="5400000">
            <a:off x="3942406" y="3823345"/>
            <a:ext cx="2544235" cy="146878"/>
          </a:xfrm>
          <a:prstGeom prst="triangle">
            <a:avLst/>
          </a:prstGeom>
          <a:solidFill>
            <a:schemeClr val="tx1">
              <a:lumMod val="50000"/>
              <a:lumOff val="5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cxnSp>
        <p:nvCxnSpPr>
          <p:cNvPr id="122" name="Straight Connector 121"/>
          <p:cNvCxnSpPr/>
          <p:nvPr>
            <p:custDataLst>
              <p:tags r:id="rId11"/>
            </p:custDataLst>
          </p:nvPr>
        </p:nvCxnSpPr>
        <p:spPr bwMode="auto">
          <a:xfrm>
            <a:off x="8775700" y="3178175"/>
            <a:ext cx="531813"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custDataLst>
              <p:tags r:id="rId12"/>
            </p:custDataLst>
          </p:nvPr>
        </p:nvCxnSpPr>
        <p:spPr bwMode="auto">
          <a:xfrm>
            <a:off x="6380163" y="2778125"/>
            <a:ext cx="1730375"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28" name="Chart 27"/>
          <p:cNvGraphicFramePr/>
          <p:nvPr>
            <p:custDataLst>
              <p:tags r:id="rId13"/>
            </p:custDataLst>
            <p:extLst>
              <p:ext uri="{D42A27DB-BD31-4B8C-83A1-F6EECF244321}">
                <p14:modId xmlns:p14="http://schemas.microsoft.com/office/powerpoint/2010/main" val="525403371"/>
              </p:ext>
            </p:extLst>
          </p:nvPr>
        </p:nvGraphicFramePr>
        <p:xfrm>
          <a:off x="5365750" y="2608263"/>
          <a:ext cx="4957763" cy="2332037"/>
        </p:xfrm>
        <a:graphic>
          <a:graphicData uri="http://schemas.openxmlformats.org/drawingml/2006/chart">
            <c:chart xmlns:c="http://schemas.openxmlformats.org/drawingml/2006/chart" xmlns:r="http://schemas.openxmlformats.org/officeDocument/2006/relationships" r:id="rId22"/>
          </a:graphicData>
        </a:graphic>
      </p:graphicFrame>
      <p:sp>
        <p:nvSpPr>
          <p:cNvPr id="68" name="StandardTextbox"/>
          <p:cNvSpPr>
            <a:spLocks noGrp="1"/>
          </p:cNvSpPr>
          <p:nvPr>
            <p:custDataLst>
              <p:tags r:id="rId14"/>
            </p:custDataLst>
          </p:nvPr>
        </p:nvSpPr>
        <p:spPr bwMode="auto">
          <a:xfrm>
            <a:off x="5619750" y="4924425"/>
            <a:ext cx="855663" cy="2444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16C2C3B-D717-4D6C-9985-B159E1B49046}" type="datetime'''Pr''''o''''jec''''t''ed Peak D''e''m''and i''n'' ''FY30'''">
              <a:rPr lang="en-US" altLang="en-US" sz="800" b="0" smtClean="0"/>
              <a:pPr lvl="1" algn="ctr">
                <a:spcBef>
                  <a:spcPct val="0"/>
                </a:spcBef>
                <a:spcAft>
                  <a:spcPct val="0"/>
                </a:spcAft>
              </a:pPr>
              <a:t>Projected Peak Demand in FY30</a:t>
            </a:fld>
            <a:endParaRPr lang="en-IN" sz="800" b="0" noProof="0" dirty="0">
              <a:sym typeface="+mn-lt"/>
            </a:endParaRPr>
          </a:p>
        </p:txBody>
      </p:sp>
      <p:sp>
        <p:nvSpPr>
          <p:cNvPr id="117" name="StandardTextbox"/>
          <p:cNvSpPr>
            <a:spLocks noGrp="1"/>
          </p:cNvSpPr>
          <p:nvPr>
            <p:custDataLst>
              <p:tags r:id="rId15"/>
            </p:custDataLst>
          </p:nvPr>
        </p:nvSpPr>
        <p:spPr bwMode="auto">
          <a:xfrm>
            <a:off x="6710363" y="4924425"/>
            <a:ext cx="1071563" cy="61118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178E57A-BE1F-4A9D-9F1B-4D1708D035F9}" type="thinkcell&lt;?xml version=&quot;1.0&quot; encoding=&quot;UTF-16&quot; standalone=&quot;yes&quot;?&gt;&lt;root reqver=&quot;25060&quot;&gt;&lt;version val=&quot;28278&quot;/&gt;&lt;PersistentType&gt;&lt;m_guid val=&quot;90a5de4e-d5d7-404a-b745-d5725076bcc1&quot;/&gt;&lt;m_prec&gt;&lt;m_yearfmt&gt;&lt;begin val=&quot;0&quot;/&gt;&lt;end val=&quot;4&quot;/&gt;&lt;/m_yearfmt&gt;&lt;/m_prec&gt;&lt;/PersistentType&gt;&lt;/root&gt;">
              <a:rPr lang="en-US" altLang="en-US" sz="800" b="0" smtClean="0"/>
              <a:pPr lvl="1" algn="ctr">
                <a:spcBef>
                  <a:spcPct val="0"/>
                </a:spcBef>
                <a:spcAft>
                  <a:spcPct val="0"/>
                </a:spcAft>
              </a:pPr>
              <a:t>Estimated Non-Liquid based Power Plants in System to meet Average Power Demand (FY30)</a:t>
            </a:fld>
            <a:endParaRPr lang="en-IN" sz="800" b="0" noProof="0" dirty="0">
              <a:sym typeface="+mn-lt"/>
            </a:endParaRPr>
          </a:p>
        </p:txBody>
      </p:sp>
      <p:sp>
        <p:nvSpPr>
          <p:cNvPr id="125" name="StandardTextbox"/>
          <p:cNvSpPr>
            <a:spLocks noGrp="1"/>
          </p:cNvSpPr>
          <p:nvPr>
            <p:custDataLst>
              <p:tags r:id="rId16"/>
            </p:custDataLst>
          </p:nvPr>
        </p:nvSpPr>
        <p:spPr bwMode="auto">
          <a:xfrm>
            <a:off x="7859713" y="4924425"/>
            <a:ext cx="1165225" cy="36671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7C794AF-1E7B-4FB4-9B99-3A7E5A1FE4EF}" type="datetime'I''ncremental Cap''acity Required to meet Peak Demand by FY30'">
              <a:rPr lang="en-US" altLang="en-US" sz="800" b="0" smtClean="0"/>
              <a:pPr lvl="1" algn="ctr">
                <a:spcBef>
                  <a:spcPct val="0"/>
                </a:spcBef>
                <a:spcAft>
                  <a:spcPct val="0"/>
                </a:spcAft>
              </a:pPr>
              <a:t>Incremental Capacity Required to meet Peak Demand by FY30</a:t>
            </a:fld>
            <a:endParaRPr lang="en-IN" sz="800" b="0" noProof="0" dirty="0">
              <a:sym typeface="+mn-lt"/>
            </a:endParaRPr>
          </a:p>
        </p:txBody>
      </p:sp>
      <p:sp>
        <p:nvSpPr>
          <p:cNvPr id="70" name="StandardTextbox"/>
          <p:cNvSpPr>
            <a:spLocks noGrp="1"/>
          </p:cNvSpPr>
          <p:nvPr>
            <p:custDataLst>
              <p:tags r:id="rId17"/>
            </p:custDataLst>
          </p:nvPr>
        </p:nvSpPr>
        <p:spPr bwMode="auto">
          <a:xfrm>
            <a:off x="9199563" y="4924425"/>
            <a:ext cx="882650" cy="48895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85CD5CA3-7DDD-46B0-BB00-D4E61082588C}" type="thinkcell&lt;?xml version=&quot;1.0&quot; encoding=&quot;UTF-16&quot; standalone=&quot;yes&quot;?&gt;&lt;root reqver=&quot;25060&quot;&gt;&lt;version val=&quot;28278&quot;/&gt;&lt;PersistentType&gt;&lt;m_guid val=&quot;464a7108-a403-4016-9b5d-4ecb528d2269&quot;/&gt;&lt;m_prec&gt;&lt;m_yearfmt&gt;&lt;begin val=&quot;0&quot;/&gt;&lt;end val=&quot;4&quot;/&gt;&lt;/m_yearfmt&gt;&lt;/m_prec&gt;&lt;/PersistentType&gt;&lt;/root&gt;">
              <a:rPr lang="en-US" altLang="en-US" sz="800" b="0" smtClean="0"/>
              <a:pPr lvl="1" algn="ctr">
                <a:spcBef>
                  <a:spcPct val="0"/>
                </a:spcBef>
                <a:spcAft>
                  <a:spcPct val="0"/>
                </a:spcAft>
              </a:pPr>
              <a:t>Estimated Non-Liquid fuel based power plants in system by FY30</a:t>
            </a:fld>
            <a:endParaRPr lang="en-IN" sz="800" b="0" noProof="0" dirty="0">
              <a:sym typeface="+mn-lt"/>
            </a:endParaRPr>
          </a:p>
        </p:txBody>
      </p:sp>
      <p:sp>
        <p:nvSpPr>
          <p:cNvPr id="130" name="Rectangle 129"/>
          <p:cNvSpPr/>
          <p:nvPr/>
        </p:nvSpPr>
        <p:spPr bwMode="gray">
          <a:xfrm>
            <a:off x="7846536" y="2706689"/>
            <a:ext cx="1165225" cy="517744"/>
          </a:xfrm>
          <a:prstGeom prst="rect">
            <a:avLst/>
          </a:prstGeom>
          <a:noFill/>
          <a:ln>
            <a:solidFill>
              <a:srgbClr val="DA291C"/>
            </a:solidFill>
            <a:prstDash val="dash"/>
            <a:headEnd/>
            <a:tailEnd/>
          </a:ln>
        </p:spPr>
        <p:style>
          <a:lnRef idx="2">
            <a:schemeClr val="accent5"/>
          </a:lnRef>
          <a:fillRef idx="1">
            <a:schemeClr val="lt1"/>
          </a:fillRef>
          <a:effectRef idx="0">
            <a:schemeClr val="accent5"/>
          </a:effectRef>
          <a:fontRef idx="minor">
            <a:schemeClr val="dk1"/>
          </a:fontRef>
        </p:style>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61" name="Rectangle 160"/>
          <p:cNvSpPr/>
          <p:nvPr/>
        </p:nvSpPr>
        <p:spPr bwMode="gray">
          <a:xfrm>
            <a:off x="2610009" y="3164797"/>
            <a:ext cx="1204658" cy="545557"/>
          </a:xfrm>
          <a:prstGeom prst="rect">
            <a:avLst/>
          </a:prstGeom>
          <a:noFill/>
          <a:ln>
            <a:solidFill>
              <a:srgbClr val="DA291C"/>
            </a:solidFill>
            <a:prstDash val="dash"/>
            <a:headEnd/>
            <a:tailEnd/>
          </a:ln>
        </p:spPr>
        <p:style>
          <a:lnRef idx="2">
            <a:schemeClr val="accent5"/>
          </a:lnRef>
          <a:fillRef idx="1">
            <a:schemeClr val="lt1"/>
          </a:fillRef>
          <a:effectRef idx="0">
            <a:schemeClr val="accent5"/>
          </a:effectRef>
          <a:fontRef idx="minor">
            <a:schemeClr val="dk1"/>
          </a:fontRef>
        </p:style>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Tree>
    <p:extLst>
      <p:ext uri="{BB962C8B-B14F-4D97-AF65-F5344CB8AC3E}">
        <p14:creationId xmlns:p14="http://schemas.microsoft.com/office/powerpoint/2010/main" val="701761"/>
      </p:ext>
    </p:extLst>
  </p:cSld>
  <p:clrMapOvr>
    <a:masterClrMapping/>
  </p:clrMapOvr>
  <p:transition>
    <p:fade/>
  </p:transition>
</p:sld>
</file>

<file path=ppt/slides/slide68.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101356471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US" sz="3898" b="1" u="none" strike="noStrike" kern="1200" cap="none" spc="0" normalizeH="0" noProof="0" dirty="0">
              <a:ln>
                <a:noFill/>
              </a:ln>
              <a:solidFill>
                <a:prstClr val="white"/>
              </a:solidFill>
              <a:effectLst/>
              <a:uLnTx/>
              <a:uFillTx/>
              <a:latin typeface="Verdana" panose="020B0604030504040204" pitchFamily="34" charset="0"/>
              <a:ea typeface="Open Sans" panose="020B0606030504020204" pitchFamily="34" charset="0"/>
              <a:cs typeface="Open Sans" panose="020B0606030504020204" pitchFamily="34" charset="0"/>
              <a:sym typeface="Verdana" panose="020B0604030504040204" pitchFamily="34" charset="0"/>
            </a:endParaRPr>
          </a:p>
        </p:txBody>
      </p:sp>
      <p:sp>
        <p:nvSpPr>
          <p:cNvPr id="2" name="Title 1"/>
          <p:cNvSpPr>
            <a:spLocks noGrp="1"/>
          </p:cNvSpPr>
          <p:nvPr>
            <p:ph type="title"/>
          </p:nvPr>
        </p:nvSpPr>
        <p:spPr>
          <a:xfrm>
            <a:off x="439925" y="1880184"/>
            <a:ext cx="9243963" cy="2147709"/>
          </a:xfrm>
        </p:spPr>
        <p:txBody>
          <a:bodyPr/>
          <a:lstStyle/>
          <a:p>
            <a:r>
              <a:rPr lang="en-US" dirty="0"/>
              <a:t>Plant Dispatchability</a:t>
            </a:r>
            <a:endParaRPr lang="en-IN" dirty="0"/>
          </a:p>
        </p:txBody>
      </p:sp>
    </p:spTree>
    <p:extLst>
      <p:ext uri="{BB962C8B-B14F-4D97-AF65-F5344CB8AC3E}">
        <p14:creationId xmlns:p14="http://schemas.microsoft.com/office/powerpoint/2010/main" val="3067345531"/>
      </p:ext>
    </p:extLst>
  </p:cSld>
  <p:clrMapOvr>
    <a:masterClrMapping/>
  </p:clrMapOvr>
  <p:transition>
    <p:fade/>
  </p:transition>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160308068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1" imgW="530" imgH="531" progId="TCLayout.ActiveDocument.1">
                  <p:embed/>
                </p:oleObj>
              </mc:Choice>
              <mc:Fallback>
                <p:oleObj name="think-cell Slide" r:id="rId51" imgW="530" imgH="531" progId="TCLayout.ActiveDocument.1">
                  <p:embed/>
                  <p:pic>
                    <p:nvPicPr>
                      <p:cNvPr id="4" name="Object 3" hidden="1"/>
                      <p:cNvPicPr/>
                      <p:nvPr/>
                    </p:nvPicPr>
                    <p:blipFill>
                      <a:blip r:embed="rId52"/>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2577171556"/>
              </p:ext>
            </p:extLst>
          </p:nvPr>
        </p:nvGraphicFramePr>
        <p:xfrm>
          <a:off x="5533126" y="1961918"/>
          <a:ext cx="4732062" cy="5759498"/>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graph shows the historical weighted average PLF (%) of gas based plants belonging to Private Producers, BPDB and Public Utilities from FY17 to FY19</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graph shows the weighted average efficiency of gas based plants belonging to Private Producers, BPDB and Public utilities in FY19</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2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Power Market | Plant Dispatchability</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noProof="0" dirty="0">
                <a:solidFill>
                  <a:prstClr val="black">
                    <a:lumMod val="50000"/>
                    <a:lumOff val="50000"/>
                  </a:prstClr>
                </a:solidFill>
                <a:latin typeface="Verdana" panose="020B0604030504040204" pitchFamily="34" charset="0"/>
              </a:rPr>
              <a:t>In terms of the overall gas based plants in Bangladesh, Private Producers have had the highest average dispatch in the last 4 years due to their higher efficient plants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4268149589"/>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lgn="just">
                        <a:spcAft>
                          <a:spcPts val="500"/>
                        </a:spcAft>
                        <a:buFont typeface="Arial" panose="020B0604020202020204" pitchFamily="34" charset="0"/>
                        <a:buNone/>
                      </a:pPr>
                      <a:r>
                        <a:rPr lang="en-US" sz="1000" b="1" baseline="0" dirty="0">
                          <a:solidFill>
                            <a:schemeClr val="tx1"/>
                          </a:solidFill>
                        </a:rPr>
                        <a:t>Net PLF &amp; Efficiency for Gas Based Power Plants (Historical)</a:t>
                      </a:r>
                      <a:endParaRPr lang="en-US" sz="1000" b="0" baseline="0" dirty="0">
                        <a:solidFill>
                          <a:schemeClr val="tx1"/>
                        </a:solidFill>
                      </a:endParaRPr>
                    </a:p>
                    <a:p>
                      <a:pPr marL="171450" marR="0" lvl="0" indent="-171450" algn="just" defTabSz="990571" rtl="0" eaLnBrk="1" fontAlgn="auto" latinLnBrk="0" hangingPunct="1">
                        <a:lnSpc>
                          <a:spcPct val="100000"/>
                        </a:lnSpc>
                        <a:spcBef>
                          <a:spcPts val="600"/>
                        </a:spcBef>
                        <a:spcAft>
                          <a:spcPts val="500"/>
                        </a:spcAft>
                        <a:buClrTx/>
                        <a:buSzTx/>
                        <a:buFont typeface="Arial" panose="020B0604020202020204" pitchFamily="34" charset="0"/>
                        <a:buChar char="•"/>
                        <a:tabLst/>
                        <a:defRPr/>
                      </a:pPr>
                      <a:r>
                        <a:rPr lang="en-US" sz="1000" b="0" baseline="0" dirty="0">
                          <a:solidFill>
                            <a:schemeClr val="tx1"/>
                          </a:solidFill>
                        </a:rPr>
                        <a:t>As can be seen on the graph on the right (above), between FY16 to FY19, the average PLF of gas based power plants in Bangladesh has been ranging between ~50% to 57%</a:t>
                      </a:r>
                    </a:p>
                    <a:p>
                      <a:pPr marL="171450" marR="0" lvl="0" indent="-171450" algn="just" defTabSz="990571" rtl="0" eaLnBrk="1" fontAlgn="auto" latinLnBrk="0" hangingPunct="1">
                        <a:lnSpc>
                          <a:spcPct val="100000"/>
                        </a:lnSpc>
                        <a:spcBef>
                          <a:spcPts val="600"/>
                        </a:spcBef>
                        <a:spcAft>
                          <a:spcPts val="500"/>
                        </a:spcAft>
                        <a:buClrTx/>
                        <a:buSzTx/>
                        <a:buFont typeface="Arial" panose="020B0604020202020204" pitchFamily="34" charset="0"/>
                        <a:buChar char="•"/>
                        <a:tabLst/>
                        <a:defRPr/>
                      </a:pPr>
                      <a:r>
                        <a:rPr lang="en-US" sz="1000" b="0" baseline="0" dirty="0">
                          <a:solidFill>
                            <a:schemeClr val="tx1"/>
                          </a:solidFill>
                        </a:rPr>
                        <a:t>The IPP / SIPPs have had the highest PLF in terms of the overall gas based portfolio with an average of ~65-70%% in the last 4 years</a:t>
                      </a:r>
                    </a:p>
                    <a:p>
                      <a:pPr marL="171450" marR="0" lvl="0" indent="-171450" algn="just" defTabSz="990571" rtl="0" eaLnBrk="1" fontAlgn="auto" latinLnBrk="0" hangingPunct="1">
                        <a:lnSpc>
                          <a:spcPct val="100000"/>
                        </a:lnSpc>
                        <a:spcBef>
                          <a:spcPts val="600"/>
                        </a:spcBef>
                        <a:spcAft>
                          <a:spcPts val="500"/>
                        </a:spcAft>
                        <a:buClrTx/>
                        <a:buSzTx/>
                        <a:buFont typeface="Arial" panose="020B0604020202020204" pitchFamily="34" charset="0"/>
                        <a:buChar char="•"/>
                        <a:tabLst/>
                        <a:defRPr/>
                      </a:pPr>
                      <a:r>
                        <a:rPr lang="en-US" sz="1000" b="0" baseline="0" dirty="0">
                          <a:solidFill>
                            <a:schemeClr val="tx1"/>
                          </a:solidFill>
                        </a:rPr>
                        <a:t>BPDB’s gas based plants have had the lowest average PLF in the last 4 years (~35% to 45%) </a:t>
                      </a:r>
                    </a:p>
                    <a:p>
                      <a:pPr marL="171450" marR="0" lvl="0" indent="-171450" algn="just" defTabSz="990571" rtl="0" eaLnBrk="1" fontAlgn="auto" latinLnBrk="0" hangingPunct="1">
                        <a:lnSpc>
                          <a:spcPct val="100000"/>
                        </a:lnSpc>
                        <a:spcBef>
                          <a:spcPts val="600"/>
                        </a:spcBef>
                        <a:spcAft>
                          <a:spcPts val="500"/>
                        </a:spcAft>
                        <a:buClrTx/>
                        <a:buSzTx/>
                        <a:buFont typeface="Arial" panose="020B0604020202020204" pitchFamily="34" charset="0"/>
                        <a:buChar char="•"/>
                        <a:tabLst/>
                        <a:defRPr/>
                      </a:pPr>
                      <a:r>
                        <a:rPr lang="en-US" sz="1000" b="0" baseline="0" dirty="0">
                          <a:solidFill>
                            <a:schemeClr val="tx1"/>
                          </a:solidFill>
                        </a:rPr>
                        <a:t>Although the Rental/Quick Rental Plants also have one of the lowest efficiencies (~34%) , they have been running at dispatch levels of ~45-70% as in interim solution to meet the power requirements</a:t>
                      </a:r>
                    </a:p>
                    <a:p>
                      <a:pPr marL="171450" marR="0" lvl="0" indent="-171450" algn="just" defTabSz="990571" rtl="0" eaLnBrk="1" fontAlgn="auto" latinLnBrk="0" hangingPunct="1">
                        <a:lnSpc>
                          <a:spcPct val="100000"/>
                        </a:lnSpc>
                        <a:spcBef>
                          <a:spcPts val="600"/>
                        </a:spcBef>
                        <a:spcAft>
                          <a:spcPts val="500"/>
                        </a:spcAft>
                        <a:buClrTx/>
                        <a:buSzTx/>
                        <a:buFont typeface="Arial" panose="020B0604020202020204" pitchFamily="34" charset="0"/>
                        <a:buChar char="•"/>
                        <a:tabLst/>
                        <a:defRPr/>
                      </a:pPr>
                      <a:r>
                        <a:rPr lang="en-US" sz="1000" b="0" baseline="0" dirty="0">
                          <a:solidFill>
                            <a:schemeClr val="tx1"/>
                          </a:solidFill>
                        </a:rPr>
                        <a:t>Though Public Plants belonging to govt. entities such as APSCL, NWPGCL, EGCB among others have higher efficiency at ~42, the plants have been running at lower dispatch due to gas availability and maintenance challenges. However, in FY 19 these plants have seen a much higher dispatchability as compared to previous years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1"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9" name="Rectangle 8"/>
          <p:cNvSpPr/>
          <p:nvPr/>
        </p:nvSpPr>
        <p:spPr bwMode="gray">
          <a:xfrm>
            <a:off x="377227" y="7260740"/>
            <a:ext cx="9792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BPDB, Deloitte Analysis Note: 1) The graphs above contain only plants operational in FY19 as per BPDB Annual Report 2) Auxiliary Consumption of ~3% has been considered while determining PLFs 4) Plants running on dual fuels &amp; plants running on lower dispatch levels due to recent commissioning have not been included for that particular year</a:t>
            </a:r>
          </a:p>
        </p:txBody>
      </p:sp>
      <p:graphicFrame>
        <p:nvGraphicFramePr>
          <p:cNvPr id="110" name="Chart 109"/>
          <p:cNvGraphicFramePr/>
          <p:nvPr>
            <p:custDataLst>
              <p:tags r:id="rId5"/>
            </p:custDataLst>
            <p:extLst>
              <p:ext uri="{D42A27DB-BD31-4B8C-83A1-F6EECF244321}">
                <p14:modId xmlns:p14="http://schemas.microsoft.com/office/powerpoint/2010/main" val="2900195678"/>
              </p:ext>
            </p:extLst>
          </p:nvPr>
        </p:nvGraphicFramePr>
        <p:xfrm>
          <a:off x="5441950" y="2751138"/>
          <a:ext cx="4630738" cy="1863725"/>
        </p:xfrm>
        <a:graphic>
          <a:graphicData uri="http://schemas.openxmlformats.org/drawingml/2006/chart">
            <c:chart xmlns:c="http://schemas.openxmlformats.org/drawingml/2006/chart" xmlns:r="http://schemas.openxmlformats.org/officeDocument/2006/relationships" r:id="rId53"/>
          </a:graphicData>
        </a:graphic>
      </p:graphicFrame>
      <p:sp>
        <p:nvSpPr>
          <p:cNvPr id="142" name="StandardTextbox"/>
          <p:cNvSpPr>
            <a:spLocks noGrp="1"/>
          </p:cNvSpPr>
          <p:nvPr>
            <p:custDataLst>
              <p:tags r:id="rId6"/>
            </p:custDataLst>
          </p:nvPr>
        </p:nvSpPr>
        <p:spPr bwMode="gray">
          <a:xfrm>
            <a:off x="5929313" y="2622550"/>
            <a:ext cx="306388" cy="136525"/>
          </a:xfrm>
          <a:prstGeom prst="rect">
            <a:avLst/>
          </a:prstGeom>
          <a:noFill/>
          <a:ln>
            <a:noFill/>
          </a:ln>
          <a:extLst>
            <a:ext uri="{909E8E84-426E-40DD-AFC4-6F175D3DCCD1}">
              <a14:hiddenFill xmlns:a14="http://schemas.microsoft.com/office/drawing/2010/main">
                <a:solidFill>
                  <a:schemeClr val="accent5"/>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B60ED3D1-04C2-4DED-94DD-8ABDF6ED0CB4}" type="datetime'''''''''''''''''''5''''7''''''''''''''''''''''''''''''%'">
              <a:rPr lang="en-IN" altLang="en-US" sz="900" b="0" smtClean="0"/>
              <a:pPr lvl="1" algn="ctr">
                <a:spcBef>
                  <a:spcPct val="0"/>
                </a:spcBef>
                <a:spcAft>
                  <a:spcPct val="0"/>
                </a:spcAft>
              </a:pPr>
              <a:t>57%</a:t>
            </a:fld>
            <a:endParaRPr lang="en-IN" sz="900" b="0" noProof="0" dirty="0">
              <a:sym typeface="+mn-lt"/>
            </a:endParaRPr>
          </a:p>
        </p:txBody>
      </p:sp>
      <p:sp>
        <p:nvSpPr>
          <p:cNvPr id="23" name="StandardTextbox"/>
          <p:cNvSpPr>
            <a:spLocks noGrp="1"/>
          </p:cNvSpPr>
          <p:nvPr>
            <p:custDataLst>
              <p:tags r:id="rId7"/>
            </p:custDataLst>
          </p:nvPr>
        </p:nvSpPr>
        <p:spPr bwMode="auto">
          <a:xfrm>
            <a:off x="7053263" y="4608514"/>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D472445-6FC4-4624-B96B-932F91E2DAA3}" type="datetime'''''''''F''''''Y''''''''1''''''''''''''''''''7'''''''''''''">
              <a:rPr lang="en-IN" altLang="en-US" sz="900" b="0" smtClean="0"/>
              <a:pPr lvl="1" algn="ctr">
                <a:spcBef>
                  <a:spcPct val="0"/>
                </a:spcBef>
                <a:spcAft>
                  <a:spcPct val="0"/>
                </a:spcAft>
              </a:pPr>
              <a:t>FY17</a:t>
            </a:fld>
            <a:endParaRPr lang="en-IN" sz="900" b="0" noProof="0" dirty="0">
              <a:sym typeface="+mn-lt"/>
            </a:endParaRPr>
          </a:p>
        </p:txBody>
      </p:sp>
      <p:sp>
        <p:nvSpPr>
          <p:cNvPr id="15" name="StandardTextbox"/>
          <p:cNvSpPr>
            <a:spLocks noGrp="1"/>
          </p:cNvSpPr>
          <p:nvPr>
            <p:custDataLst>
              <p:tags r:id="rId8"/>
            </p:custDataLst>
          </p:nvPr>
        </p:nvSpPr>
        <p:spPr bwMode="auto">
          <a:xfrm>
            <a:off x="5935663" y="4608514"/>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F667885-22D1-4BEE-8995-D593D9A71030}" type="datetime'''''''F''''''''''''''''''''Y''''1''6'''">
              <a:rPr lang="en-IN" altLang="en-US" sz="900" b="0" smtClean="0"/>
              <a:pPr lvl="1" algn="ctr">
                <a:spcBef>
                  <a:spcPct val="0"/>
                </a:spcBef>
                <a:spcAft>
                  <a:spcPct val="0"/>
                </a:spcAft>
              </a:pPr>
              <a:t>FY16</a:t>
            </a:fld>
            <a:endParaRPr lang="en-IN" sz="900" b="0" noProof="0" dirty="0">
              <a:sym typeface="+mn-lt"/>
            </a:endParaRPr>
          </a:p>
        </p:txBody>
      </p:sp>
      <p:sp>
        <p:nvSpPr>
          <p:cNvPr id="143" name="StandardTextbox"/>
          <p:cNvSpPr>
            <a:spLocks noGrp="1"/>
          </p:cNvSpPr>
          <p:nvPr>
            <p:custDataLst>
              <p:tags r:id="rId9"/>
            </p:custDataLst>
          </p:nvPr>
        </p:nvSpPr>
        <p:spPr bwMode="gray">
          <a:xfrm>
            <a:off x="7046913" y="2751138"/>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03C2BF05-931E-4EB7-A18F-191FE1267FEB}" type="datetime'''''5''''''''''''''2''''''''''''''''%'''''''''''''">
              <a:rPr lang="en-IN" altLang="en-US" sz="900" b="0" smtClean="0"/>
              <a:pPr lvl="1" algn="ctr">
                <a:spcBef>
                  <a:spcPct val="0"/>
                </a:spcBef>
                <a:spcAft>
                  <a:spcPct val="0"/>
                </a:spcAft>
              </a:pPr>
              <a:t>52%</a:t>
            </a:fld>
            <a:endParaRPr lang="en-IN" sz="900" b="0" noProof="0" dirty="0">
              <a:sym typeface="+mn-lt"/>
            </a:endParaRPr>
          </a:p>
        </p:txBody>
      </p:sp>
      <p:sp>
        <p:nvSpPr>
          <p:cNvPr id="144" name="StandardTextbox"/>
          <p:cNvSpPr>
            <a:spLocks noGrp="1"/>
          </p:cNvSpPr>
          <p:nvPr>
            <p:custDataLst>
              <p:tags r:id="rId10"/>
            </p:custDataLst>
          </p:nvPr>
        </p:nvSpPr>
        <p:spPr bwMode="gray">
          <a:xfrm>
            <a:off x="8162925" y="2827338"/>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851A6DD5-C7D5-4976-9013-DFECE19D2EE6}" type="datetime'5''''''''''''''0''''''''''%'''''''''''''''''''''''''''''''''">
              <a:rPr lang="en-IN" altLang="en-US" sz="900" b="0" smtClean="0"/>
              <a:pPr lvl="1" algn="ctr">
                <a:spcBef>
                  <a:spcPct val="0"/>
                </a:spcBef>
                <a:spcAft>
                  <a:spcPct val="0"/>
                </a:spcAft>
              </a:pPr>
              <a:t>50%</a:t>
            </a:fld>
            <a:endParaRPr lang="en-IN" sz="900" b="0" noProof="0" dirty="0">
              <a:sym typeface="+mn-lt"/>
            </a:endParaRPr>
          </a:p>
        </p:txBody>
      </p:sp>
      <p:sp>
        <p:nvSpPr>
          <p:cNvPr id="25" name="StandardTextbox"/>
          <p:cNvSpPr>
            <a:spLocks noGrp="1"/>
          </p:cNvSpPr>
          <p:nvPr>
            <p:custDataLst>
              <p:tags r:id="rId11"/>
            </p:custDataLst>
          </p:nvPr>
        </p:nvSpPr>
        <p:spPr bwMode="auto">
          <a:xfrm>
            <a:off x="8169275" y="4608514"/>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D40868A4-311E-4DA9-8414-F0CA2BFA961E}" type="datetime'''''F''''''''''''''''''''''''''''Y''''''18'''''''''''''''''">
              <a:rPr lang="en-IN" altLang="en-US" sz="900" b="0" smtClean="0"/>
              <a:pPr lvl="1" algn="ctr">
                <a:spcBef>
                  <a:spcPct val="0"/>
                </a:spcBef>
                <a:spcAft>
                  <a:spcPct val="0"/>
                </a:spcAft>
              </a:pPr>
              <a:t>FY18</a:t>
            </a:fld>
            <a:endParaRPr lang="en-IN" sz="900" b="0" noProof="0" dirty="0">
              <a:sym typeface="+mn-lt"/>
            </a:endParaRPr>
          </a:p>
        </p:txBody>
      </p:sp>
      <p:sp>
        <p:nvSpPr>
          <p:cNvPr id="27" name="StandardTextbox"/>
          <p:cNvSpPr>
            <a:spLocks noGrp="1"/>
          </p:cNvSpPr>
          <p:nvPr>
            <p:custDataLst>
              <p:tags r:id="rId12"/>
            </p:custDataLst>
          </p:nvPr>
        </p:nvSpPr>
        <p:spPr bwMode="auto">
          <a:xfrm>
            <a:off x="9285288" y="4608514"/>
            <a:ext cx="2936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F8D456E-ACC0-4081-8FBA-54CE25E3FF4F}" type="datetime'''''''F''Y''''1''''''''''''''''''''''''''''''''9'''''''''''">
              <a:rPr lang="en-IN" altLang="en-US" sz="900" b="0" smtClean="0"/>
              <a:pPr lvl="1" algn="ctr">
                <a:spcBef>
                  <a:spcPct val="0"/>
                </a:spcBef>
                <a:spcAft>
                  <a:spcPct val="0"/>
                </a:spcAft>
              </a:pPr>
              <a:t>FY19</a:t>
            </a:fld>
            <a:endParaRPr lang="en-IN" sz="900" b="0" noProof="0" dirty="0">
              <a:sym typeface="+mn-lt"/>
            </a:endParaRPr>
          </a:p>
        </p:txBody>
      </p:sp>
      <p:sp>
        <p:nvSpPr>
          <p:cNvPr id="145" name="StandardTextbox"/>
          <p:cNvSpPr>
            <a:spLocks noGrp="1"/>
          </p:cNvSpPr>
          <p:nvPr>
            <p:custDataLst>
              <p:tags r:id="rId13"/>
            </p:custDataLst>
          </p:nvPr>
        </p:nvSpPr>
        <p:spPr bwMode="gray">
          <a:xfrm>
            <a:off x="9278938" y="2709863"/>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0FA0FCD6-6E2B-42E1-9BC6-8AF4D5287F27}" type="datetime'5''''''''''''''4''''''%'''''''''''''''''">
              <a:rPr lang="en-IN" altLang="en-US" sz="900" b="0" smtClean="0"/>
              <a:pPr lvl="1" algn="ctr">
                <a:spcBef>
                  <a:spcPct val="0"/>
                </a:spcBef>
                <a:spcAft>
                  <a:spcPct val="0"/>
                </a:spcAft>
              </a:pPr>
              <a:t>54%</a:t>
            </a:fld>
            <a:endParaRPr lang="en-IN" sz="900" b="0" noProof="0" dirty="0">
              <a:sym typeface="+mn-lt"/>
            </a:endParaRPr>
          </a:p>
        </p:txBody>
      </p:sp>
      <p:sp>
        <p:nvSpPr>
          <p:cNvPr id="67" name="StandardTextbox"/>
          <p:cNvSpPr>
            <a:spLocks noGrp="1"/>
          </p:cNvSpPr>
          <p:nvPr>
            <p:custDataLst>
              <p:tags r:id="rId14"/>
            </p:custDataLst>
          </p:nvPr>
        </p:nvSpPr>
        <p:spPr bwMode="gray">
          <a:xfrm>
            <a:off x="5565775" y="3203576"/>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A2740D9-E25C-4E8D-BC71-B4CFEFA086A0}" type="datetime'''''''''''6''''''''''''''''''''5%'''''''''''''''''''''''">
              <a:rPr lang="en-IN" altLang="en-US" sz="900" b="0" smtClean="0">
                <a:sym typeface="+mn-lt"/>
              </a:rPr>
              <a:pPr lvl="1" algn="ctr">
                <a:spcBef>
                  <a:spcPct val="0"/>
                </a:spcBef>
                <a:spcAft>
                  <a:spcPct val="0"/>
                </a:spcAft>
              </a:pPr>
              <a:t>65%</a:t>
            </a:fld>
            <a:endParaRPr lang="en-IN" sz="900" b="0" noProof="0" dirty="0">
              <a:sym typeface="+mn-lt"/>
            </a:endParaRPr>
          </a:p>
        </p:txBody>
      </p:sp>
      <p:sp>
        <p:nvSpPr>
          <p:cNvPr id="52" name="StandardTextbox"/>
          <p:cNvSpPr>
            <a:spLocks noGrp="1"/>
          </p:cNvSpPr>
          <p:nvPr>
            <p:custDataLst>
              <p:tags r:id="rId15"/>
            </p:custDataLst>
          </p:nvPr>
        </p:nvSpPr>
        <p:spPr bwMode="gray">
          <a:xfrm>
            <a:off x="7408863" y="3636964"/>
            <a:ext cx="306388" cy="136525"/>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23F9445-801C-45A0-9ACC-A10459CAEA5E}" type="datetime'''''''''''4''1''''''''''''''''''''''''''%'''''''">
              <a:rPr lang="en-IN" altLang="en-US" sz="900" b="0" smtClean="0"/>
              <a:pPr lvl="1" algn="ctr">
                <a:spcBef>
                  <a:spcPct val="0"/>
                </a:spcBef>
                <a:spcAft>
                  <a:spcPct val="0"/>
                </a:spcAft>
              </a:pPr>
              <a:t>41%</a:t>
            </a:fld>
            <a:endParaRPr lang="en-IN" sz="900" b="0" noProof="0" dirty="0">
              <a:sym typeface="+mn-lt"/>
            </a:endParaRPr>
          </a:p>
        </p:txBody>
      </p:sp>
      <p:sp>
        <p:nvSpPr>
          <p:cNvPr id="70" name="StandardTextbox"/>
          <p:cNvSpPr>
            <a:spLocks noGrp="1"/>
          </p:cNvSpPr>
          <p:nvPr>
            <p:custDataLst>
              <p:tags r:id="rId16"/>
            </p:custDataLst>
          </p:nvPr>
        </p:nvSpPr>
        <p:spPr bwMode="gray">
          <a:xfrm>
            <a:off x="5878513" y="3135314"/>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DAE060A5-6B1F-4A1B-8D84-12E5E8304BFD}" type="datetime'''''''6''''''''''''''''''''''9''''''%'">
              <a:rPr lang="en-IN" altLang="en-US" sz="900" b="0" smtClean="0">
                <a:sym typeface="+mn-lt"/>
              </a:rPr>
              <a:pPr lvl="1" algn="ctr">
                <a:spcBef>
                  <a:spcPct val="0"/>
                </a:spcBef>
                <a:spcAft>
                  <a:spcPct val="0"/>
                </a:spcAft>
              </a:pPr>
              <a:t>69%</a:t>
            </a:fld>
            <a:endParaRPr lang="en-IN" sz="900" b="0" noProof="0" dirty="0">
              <a:sym typeface="+mn-lt"/>
            </a:endParaRPr>
          </a:p>
        </p:txBody>
      </p:sp>
      <p:sp useBgFill="1">
        <p:nvSpPr>
          <p:cNvPr id="47" name="StandardTextbox"/>
          <p:cNvSpPr>
            <a:spLocks noGrp="1"/>
          </p:cNvSpPr>
          <p:nvPr>
            <p:custDataLst>
              <p:tags r:id="rId17"/>
            </p:custDataLst>
          </p:nvPr>
        </p:nvSpPr>
        <p:spPr bwMode="gray">
          <a:xfrm>
            <a:off x="5959475" y="3452813"/>
            <a:ext cx="306388" cy="136525"/>
          </a:xfrm>
          <a:prstGeom prst="rect">
            <a:avLst/>
          </a:prstGeom>
          <a:ln>
            <a:noFill/>
          </a:ln>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04BF4CB4-983F-4182-A9D9-584FE836816D}" type="datetime'''''''''''''''''''''''''''''5''''''''''1''''''''%'">
              <a:rPr lang="en-IN" altLang="en-US" sz="900" b="0" smtClean="0"/>
              <a:pPr lvl="1" algn="ctr">
                <a:spcBef>
                  <a:spcPct val="0"/>
                </a:spcBef>
                <a:spcAft>
                  <a:spcPct val="0"/>
                </a:spcAft>
              </a:pPr>
              <a:t>51%</a:t>
            </a:fld>
            <a:endParaRPr lang="en-IN" sz="900" b="0" noProof="0" dirty="0">
              <a:sym typeface="+mn-lt"/>
            </a:endParaRPr>
          </a:p>
        </p:txBody>
      </p:sp>
      <p:sp>
        <p:nvSpPr>
          <p:cNvPr id="48" name="StandardTextbox"/>
          <p:cNvSpPr>
            <a:spLocks noGrp="1"/>
          </p:cNvSpPr>
          <p:nvPr>
            <p:custDataLst>
              <p:tags r:id="rId18"/>
            </p:custDataLst>
          </p:nvPr>
        </p:nvSpPr>
        <p:spPr bwMode="gray">
          <a:xfrm>
            <a:off x="6291263" y="3541714"/>
            <a:ext cx="306388" cy="136525"/>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978744A-F6B4-4FB9-B54F-C7D5E4EE3DE0}" type="datetime'''''''''''4''''''''6%'''''''''''''''">
              <a:rPr lang="en-IN" altLang="en-US" sz="900" b="0" smtClean="0"/>
              <a:pPr lvl="1" algn="ctr">
                <a:spcBef>
                  <a:spcPct val="0"/>
                </a:spcBef>
                <a:spcAft>
                  <a:spcPct val="0"/>
                </a:spcAft>
              </a:pPr>
              <a:t>46%</a:t>
            </a:fld>
            <a:endParaRPr lang="en-IN" sz="900" b="0" noProof="0" dirty="0">
              <a:sym typeface="+mn-lt"/>
            </a:endParaRPr>
          </a:p>
        </p:txBody>
      </p:sp>
      <p:sp>
        <p:nvSpPr>
          <p:cNvPr id="49" name="StandardTextbox"/>
          <p:cNvSpPr>
            <a:spLocks noGrp="1"/>
          </p:cNvSpPr>
          <p:nvPr>
            <p:custDataLst>
              <p:tags r:id="rId19"/>
            </p:custDataLst>
          </p:nvPr>
        </p:nvSpPr>
        <p:spPr bwMode="gray">
          <a:xfrm>
            <a:off x="6742113" y="3179764"/>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E421BE7-8264-49FA-8ED0-9DC6E49F623C}" type="datetime'''''''''''''''''6''''''''''''7''%'''''''''''''''''''''''''''">
              <a:rPr lang="en-IN" altLang="en-US" sz="900" b="0" smtClean="0"/>
              <a:pPr lvl="1" algn="ctr">
                <a:spcBef>
                  <a:spcPct val="0"/>
                </a:spcBef>
                <a:spcAft>
                  <a:spcPct val="0"/>
                </a:spcAft>
              </a:pPr>
              <a:t>67%</a:t>
            </a:fld>
            <a:endParaRPr lang="en-IN" sz="900" b="0" noProof="0" dirty="0">
              <a:sym typeface="+mn-lt"/>
            </a:endParaRPr>
          </a:p>
        </p:txBody>
      </p:sp>
      <p:sp useBgFill="1">
        <p:nvSpPr>
          <p:cNvPr id="71" name="StandardTextbox"/>
          <p:cNvSpPr>
            <a:spLocks noGrp="1"/>
          </p:cNvSpPr>
          <p:nvPr>
            <p:custDataLst>
              <p:tags r:id="rId20"/>
            </p:custDataLst>
          </p:nvPr>
        </p:nvSpPr>
        <p:spPr bwMode="gray">
          <a:xfrm>
            <a:off x="6867525" y="3419476"/>
            <a:ext cx="306388" cy="136525"/>
          </a:xfrm>
          <a:prstGeom prst="rect">
            <a:avLst/>
          </a:prstGeom>
          <a:ln>
            <a:noFill/>
          </a:ln>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C2B81B5-5737-462C-BE15-C5006A2C79C6}" type="datetime'''''''''''''''5''''''''''''''''''''''''''''''3''''%'''''''">
              <a:rPr lang="en-IN" altLang="en-US" sz="900" b="0" smtClean="0">
                <a:sym typeface="+mn-lt"/>
              </a:rPr>
              <a:pPr lvl="1" algn="ctr">
                <a:spcBef>
                  <a:spcPct val="0"/>
                </a:spcBef>
                <a:spcAft>
                  <a:spcPct val="0"/>
                </a:spcAft>
              </a:pPr>
              <a:t>53%</a:t>
            </a:fld>
            <a:endParaRPr lang="en-IN" sz="900" b="0" noProof="0" dirty="0">
              <a:sym typeface="+mn-lt"/>
            </a:endParaRPr>
          </a:p>
        </p:txBody>
      </p:sp>
      <p:sp>
        <p:nvSpPr>
          <p:cNvPr id="51" name="StandardTextbox"/>
          <p:cNvSpPr>
            <a:spLocks noGrp="1"/>
          </p:cNvSpPr>
          <p:nvPr>
            <p:custDataLst>
              <p:tags r:id="rId21"/>
            </p:custDataLst>
          </p:nvPr>
        </p:nvSpPr>
        <p:spPr bwMode="gray">
          <a:xfrm>
            <a:off x="7199313" y="3346451"/>
            <a:ext cx="306388" cy="136525"/>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1CA5274-6A3F-4948-925A-67819B2AC606}" type="datetime'''''''''''''''''''''5''''''''''''''''''''''''''''7''''%'''">
              <a:rPr lang="en-IN" altLang="en-US" sz="900" b="0" smtClean="0"/>
              <a:pPr lvl="1" algn="ctr">
                <a:spcBef>
                  <a:spcPct val="0"/>
                </a:spcBef>
                <a:spcAft>
                  <a:spcPct val="0"/>
                </a:spcAft>
              </a:pPr>
              <a:t>57%</a:t>
            </a:fld>
            <a:endParaRPr lang="en-IN" sz="900" b="0" noProof="0" dirty="0">
              <a:sym typeface="+mn-lt"/>
            </a:endParaRPr>
          </a:p>
        </p:txBody>
      </p:sp>
      <p:sp>
        <p:nvSpPr>
          <p:cNvPr id="53" name="StandardTextbox"/>
          <p:cNvSpPr>
            <a:spLocks noGrp="1"/>
          </p:cNvSpPr>
          <p:nvPr>
            <p:custDataLst>
              <p:tags r:id="rId22"/>
            </p:custDataLst>
          </p:nvPr>
        </p:nvSpPr>
        <p:spPr bwMode="gray">
          <a:xfrm>
            <a:off x="7858125" y="3106739"/>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127EFA4-CA85-4D30-BE5F-82237E9A7E18}" type="datetime'''''''7''''1''''''%'''''''''''''''''''''''''''''''''''''">
              <a:rPr lang="en-IN" altLang="en-US" sz="900" b="0" smtClean="0"/>
              <a:pPr lvl="1" algn="ctr">
                <a:spcBef>
                  <a:spcPct val="0"/>
                </a:spcBef>
                <a:spcAft>
                  <a:spcPct val="0"/>
                </a:spcAft>
              </a:pPr>
              <a:t>71%</a:t>
            </a:fld>
            <a:endParaRPr lang="en-IN" sz="900" b="0" noProof="0" dirty="0">
              <a:sym typeface="+mn-lt"/>
            </a:endParaRPr>
          </a:p>
        </p:txBody>
      </p:sp>
      <p:sp useBgFill="1">
        <p:nvSpPr>
          <p:cNvPr id="72" name="StandardTextbox"/>
          <p:cNvSpPr>
            <a:spLocks noGrp="1"/>
          </p:cNvSpPr>
          <p:nvPr>
            <p:custDataLst>
              <p:tags r:id="rId23"/>
            </p:custDataLst>
          </p:nvPr>
        </p:nvSpPr>
        <p:spPr bwMode="gray">
          <a:xfrm>
            <a:off x="7989888" y="3548064"/>
            <a:ext cx="306388" cy="136525"/>
          </a:xfrm>
          <a:prstGeom prst="rect">
            <a:avLst/>
          </a:prstGeom>
          <a:ln>
            <a:noFill/>
          </a:ln>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F2CFB81-C3E5-4B51-AA76-5C679C3363EC}" type="datetime'''''''4''''''''''''''''''6''''''''''%'''''''''''''''''">
              <a:rPr lang="en-IN" altLang="en-US" sz="900" b="0" smtClean="0">
                <a:sym typeface="+mn-lt"/>
              </a:rPr>
              <a:pPr lvl="1" algn="ctr">
                <a:spcBef>
                  <a:spcPct val="0"/>
                </a:spcBef>
                <a:spcAft>
                  <a:spcPct val="0"/>
                </a:spcAft>
              </a:pPr>
              <a:t>46%</a:t>
            </a:fld>
            <a:endParaRPr lang="en-IN" sz="900" b="0" noProof="0" dirty="0">
              <a:sym typeface="+mn-lt"/>
            </a:endParaRPr>
          </a:p>
        </p:txBody>
      </p:sp>
      <p:sp>
        <p:nvSpPr>
          <p:cNvPr id="54" name="StandardTextbox"/>
          <p:cNvSpPr>
            <a:spLocks noGrp="1"/>
          </p:cNvSpPr>
          <p:nvPr>
            <p:custDataLst>
              <p:tags r:id="rId24"/>
            </p:custDataLst>
          </p:nvPr>
        </p:nvSpPr>
        <p:spPr bwMode="gray">
          <a:xfrm>
            <a:off x="8321675" y="3554414"/>
            <a:ext cx="306388" cy="136525"/>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082F0D5-BDB4-4EF4-A386-13E34DCD4B1F}" type="datetime'''''''''''''''''''''''''''''''''''''''''''''''4''6%'''''">
              <a:rPr lang="en-IN" altLang="en-US" sz="900" b="0" smtClean="0"/>
              <a:pPr lvl="1" algn="ctr">
                <a:spcBef>
                  <a:spcPct val="0"/>
                </a:spcBef>
                <a:spcAft>
                  <a:spcPct val="0"/>
                </a:spcAft>
              </a:pPr>
              <a:t>46%</a:t>
            </a:fld>
            <a:endParaRPr lang="en-IN" sz="900" b="0" noProof="0" dirty="0">
              <a:sym typeface="+mn-lt"/>
            </a:endParaRPr>
          </a:p>
        </p:txBody>
      </p:sp>
      <p:sp>
        <p:nvSpPr>
          <p:cNvPr id="55" name="StandardTextbox"/>
          <p:cNvSpPr>
            <a:spLocks noGrp="1"/>
          </p:cNvSpPr>
          <p:nvPr>
            <p:custDataLst>
              <p:tags r:id="rId25"/>
            </p:custDataLst>
          </p:nvPr>
        </p:nvSpPr>
        <p:spPr bwMode="gray">
          <a:xfrm>
            <a:off x="8524875" y="3716339"/>
            <a:ext cx="306388" cy="136525"/>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8DA213A0-754B-4F53-B45C-8FD5925E71BE}" type="datetime'''''3''''''''''''''7''%'''''''">
              <a:rPr lang="en-IN" altLang="en-US" sz="900" b="0" smtClean="0"/>
              <a:pPr lvl="1" algn="ctr">
                <a:spcBef>
                  <a:spcPct val="0"/>
                </a:spcBef>
                <a:spcAft>
                  <a:spcPct val="0"/>
                </a:spcAft>
              </a:pPr>
              <a:t>37%</a:t>
            </a:fld>
            <a:endParaRPr lang="en-IN" sz="900" b="0" noProof="0" dirty="0">
              <a:sym typeface="+mn-lt"/>
            </a:endParaRPr>
          </a:p>
        </p:txBody>
      </p:sp>
      <p:sp>
        <p:nvSpPr>
          <p:cNvPr id="56" name="StandardTextbox"/>
          <p:cNvSpPr>
            <a:spLocks noGrp="1"/>
          </p:cNvSpPr>
          <p:nvPr>
            <p:custDataLst>
              <p:tags r:id="rId26"/>
            </p:custDataLst>
          </p:nvPr>
        </p:nvSpPr>
        <p:spPr bwMode="gray">
          <a:xfrm>
            <a:off x="8974138" y="3167064"/>
            <a:ext cx="306388" cy="136525"/>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B8450712-B7E2-4C46-9BFB-80566294F2FC}" type="datetime'''''6''''''''''''''''''''7''''''''''''''''''''%'">
              <a:rPr lang="en-IN" altLang="en-US" sz="900" b="0" smtClean="0"/>
              <a:pPr lvl="1" algn="ctr">
                <a:spcBef>
                  <a:spcPct val="0"/>
                </a:spcBef>
                <a:spcAft>
                  <a:spcPct val="0"/>
                </a:spcAft>
              </a:pPr>
              <a:t>67%</a:t>
            </a:fld>
            <a:endParaRPr lang="en-IN" sz="900" b="0" noProof="0" dirty="0">
              <a:sym typeface="+mn-lt"/>
            </a:endParaRPr>
          </a:p>
        </p:txBody>
      </p:sp>
      <p:sp>
        <p:nvSpPr>
          <p:cNvPr id="73" name="StandardTextbox"/>
          <p:cNvSpPr>
            <a:spLocks noGrp="1"/>
          </p:cNvSpPr>
          <p:nvPr>
            <p:custDataLst>
              <p:tags r:id="rId27"/>
            </p:custDataLst>
          </p:nvPr>
        </p:nvSpPr>
        <p:spPr bwMode="gray">
          <a:xfrm>
            <a:off x="9234488" y="3303589"/>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16F3999-8B87-42AE-8B46-96ED9603C4A6}" type="datetime'59''''%'''''''''''''''''''''''''''''''''''''''''''''''''''''''">
              <a:rPr lang="en-IN" altLang="en-US" sz="900" b="0" smtClean="0">
                <a:sym typeface="+mn-lt"/>
              </a:rPr>
              <a:pPr lvl="1" algn="ctr">
                <a:spcBef>
                  <a:spcPct val="0"/>
                </a:spcBef>
                <a:spcAft>
                  <a:spcPct val="0"/>
                </a:spcAft>
              </a:pPr>
              <a:t>59%</a:t>
            </a:fld>
            <a:endParaRPr lang="en-IN" sz="900" b="0" noProof="0" dirty="0">
              <a:sym typeface="+mn-lt"/>
            </a:endParaRPr>
          </a:p>
        </p:txBody>
      </p:sp>
      <p:sp>
        <p:nvSpPr>
          <p:cNvPr id="57" name="StandardTextbox"/>
          <p:cNvSpPr>
            <a:spLocks noGrp="1"/>
          </p:cNvSpPr>
          <p:nvPr>
            <p:custDataLst>
              <p:tags r:id="rId28"/>
            </p:custDataLst>
          </p:nvPr>
        </p:nvSpPr>
        <p:spPr bwMode="gray">
          <a:xfrm>
            <a:off x="9437688" y="3440114"/>
            <a:ext cx="306388" cy="136525"/>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09EF083-B14E-4C70-94EF-BE1A7E7C3829}" type="datetime'''''''''5''''''''''''''''''''''2''''''''''''%'">
              <a:rPr lang="en-IN" altLang="en-US" sz="900" b="0" smtClean="0"/>
              <a:pPr lvl="1" algn="ctr">
                <a:spcBef>
                  <a:spcPct val="0"/>
                </a:spcBef>
                <a:spcAft>
                  <a:spcPct val="0"/>
                </a:spcAft>
              </a:pPr>
              <a:t>52%</a:t>
            </a:fld>
            <a:endParaRPr lang="en-IN" sz="900" b="0" noProof="0" dirty="0">
              <a:sym typeface="+mn-lt"/>
            </a:endParaRPr>
          </a:p>
        </p:txBody>
      </p:sp>
      <p:sp>
        <p:nvSpPr>
          <p:cNvPr id="58" name="StandardTextbox"/>
          <p:cNvSpPr>
            <a:spLocks noGrp="1"/>
          </p:cNvSpPr>
          <p:nvPr>
            <p:custDataLst>
              <p:tags r:id="rId29"/>
            </p:custDataLst>
          </p:nvPr>
        </p:nvSpPr>
        <p:spPr bwMode="gray">
          <a:xfrm>
            <a:off x="9640888" y="3582989"/>
            <a:ext cx="306388" cy="136525"/>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202FC19-1B68-4A96-B1A6-205F57E42D47}" type="datetime'''''''''''''4''''''''''''''''''4''''''''''''''%'''''">
              <a:rPr lang="en-IN" altLang="en-US" sz="900" b="0" smtClean="0"/>
              <a:pPr lvl="1" algn="ctr">
                <a:spcBef>
                  <a:spcPct val="0"/>
                </a:spcBef>
                <a:spcAft>
                  <a:spcPct val="0"/>
                </a:spcAft>
              </a:pPr>
              <a:t>44%</a:t>
            </a:fld>
            <a:endParaRPr lang="en-IN" sz="900" b="0" noProof="0" dirty="0">
              <a:sym typeface="+mn-lt"/>
            </a:endParaRPr>
          </a:p>
        </p:txBody>
      </p:sp>
      <p:sp>
        <p:nvSpPr>
          <p:cNvPr id="5" name="Rectangle 4"/>
          <p:cNvSpPr/>
          <p:nvPr>
            <p:custDataLst>
              <p:tags r:id="rId30"/>
            </p:custDataLst>
          </p:nvPr>
        </p:nvSpPr>
        <p:spPr bwMode="auto">
          <a:xfrm>
            <a:off x="6005513" y="4979988"/>
            <a:ext cx="142875" cy="106363"/>
          </a:xfrm>
          <a:prstGeom prst="rect">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0" name="Rectangle 9"/>
          <p:cNvSpPr/>
          <p:nvPr>
            <p:custDataLst>
              <p:tags r:id="rId31"/>
            </p:custDataLst>
          </p:nvPr>
        </p:nvSpPr>
        <p:spPr bwMode="auto">
          <a:xfrm>
            <a:off x="6005513" y="4806950"/>
            <a:ext cx="142875" cy="106363"/>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1" name="Rectangle 10"/>
          <p:cNvSpPr/>
          <p:nvPr>
            <p:custDataLst>
              <p:tags r:id="rId32"/>
            </p:custDataLst>
          </p:nvPr>
        </p:nvSpPr>
        <p:spPr bwMode="auto">
          <a:xfrm>
            <a:off x="7456488" y="4806950"/>
            <a:ext cx="142875" cy="106363"/>
          </a:xfrm>
          <a:prstGeom prst="rect">
            <a:avLst/>
          </a:prstGeom>
          <a:solidFill>
            <a:srgbClr val="62B5E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2" name="Rectangle 11"/>
          <p:cNvSpPr/>
          <p:nvPr>
            <p:custDataLst>
              <p:tags r:id="rId33"/>
            </p:custDataLst>
          </p:nvPr>
        </p:nvSpPr>
        <p:spPr bwMode="auto">
          <a:xfrm>
            <a:off x="7456488" y="4979988"/>
            <a:ext cx="142875" cy="106363"/>
          </a:xfrm>
          <a:prstGeom prst="rect">
            <a:avLst/>
          </a:prstGeom>
          <a:solidFill>
            <a:srgbClr val="01216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cxnSp>
        <p:nvCxnSpPr>
          <p:cNvPr id="130" name="Straight Connector 129"/>
          <p:cNvCxnSpPr/>
          <p:nvPr>
            <p:custDataLst>
              <p:tags r:id="rId34"/>
            </p:custDataLst>
          </p:nvPr>
        </p:nvCxnSpPr>
        <p:spPr bwMode="gray">
          <a:xfrm>
            <a:off x="8420100" y="4859338"/>
            <a:ext cx="142875" cy="0"/>
          </a:xfrm>
          <a:prstGeom prst="line">
            <a:avLst/>
          </a:prstGeom>
          <a:ln w="28575" cap="rnd" cmpd="sng" algn="ctr">
            <a:solidFill>
              <a:schemeClr val="accent5"/>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3" name="Isosceles Triangle 132"/>
          <p:cNvSpPr/>
          <p:nvPr>
            <p:custDataLst>
              <p:tags r:id="rId35"/>
            </p:custDataLst>
          </p:nvPr>
        </p:nvSpPr>
        <p:spPr bwMode="auto">
          <a:xfrm>
            <a:off x="8472488" y="4840288"/>
            <a:ext cx="38100" cy="38100"/>
          </a:xfrm>
          <a:prstGeom prst="triangle">
            <a:avLst/>
          </a:prstGeom>
          <a:solidFill>
            <a:schemeClr val="accent5"/>
          </a:solidFill>
          <a:ln w="9525" algn="ctr">
            <a:solidFill>
              <a:schemeClr val="accent5"/>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3" name="StandardTextbox"/>
          <p:cNvSpPr>
            <a:spLocks noGrp="1"/>
          </p:cNvSpPr>
          <p:nvPr>
            <p:custDataLst>
              <p:tags r:id="rId36"/>
            </p:custDataLst>
          </p:nvPr>
        </p:nvSpPr>
        <p:spPr bwMode="auto">
          <a:xfrm>
            <a:off x="6199188" y="4802188"/>
            <a:ext cx="449263"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4995378E-A99E-4A5A-8265-A683633EF96B}" type="datetime'''IPP''''/''''S''''I''''''''''''''PP'''">
              <a:rPr lang="en-IN" altLang="en-US" sz="800" b="0" smtClean="0"/>
              <a:pPr lvl="1">
                <a:spcBef>
                  <a:spcPct val="0"/>
                </a:spcBef>
                <a:spcAft>
                  <a:spcPct val="0"/>
                </a:spcAft>
              </a:pPr>
              <a:t>IPP/SIPP</a:t>
            </a:fld>
            <a:endParaRPr lang="en-IN" sz="800" b="0" noProof="0" dirty="0">
              <a:sym typeface="+mn-lt"/>
            </a:endParaRPr>
          </a:p>
        </p:txBody>
      </p:sp>
      <p:sp>
        <p:nvSpPr>
          <p:cNvPr id="35" name="StandardTextbox"/>
          <p:cNvSpPr>
            <a:spLocks noGrp="1"/>
          </p:cNvSpPr>
          <p:nvPr>
            <p:custDataLst>
              <p:tags r:id="rId37"/>
            </p:custDataLst>
          </p:nvPr>
        </p:nvSpPr>
        <p:spPr bwMode="auto">
          <a:xfrm>
            <a:off x="7650163" y="4975225"/>
            <a:ext cx="27940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83394943-9EC9-4492-B213-80019FD9F57F}" type="datetime'''''''''BP''''''''''''''''''''''''D''''''''''''B'''''''">
              <a:rPr lang="en-IN" altLang="en-US" sz="800" b="0" smtClean="0"/>
              <a:pPr lvl="1">
                <a:spcBef>
                  <a:spcPct val="0"/>
                </a:spcBef>
                <a:spcAft>
                  <a:spcPct val="0"/>
                </a:spcAft>
              </a:pPr>
              <a:t>BPDB</a:t>
            </a:fld>
            <a:endParaRPr lang="en-IN" sz="800" b="0" noProof="0" dirty="0">
              <a:sym typeface="+mn-lt"/>
            </a:endParaRPr>
          </a:p>
        </p:txBody>
      </p:sp>
      <p:sp>
        <p:nvSpPr>
          <p:cNvPr id="63" name="StandardTextbox"/>
          <p:cNvSpPr>
            <a:spLocks noGrp="1"/>
          </p:cNvSpPr>
          <p:nvPr>
            <p:custDataLst>
              <p:tags r:id="rId38"/>
            </p:custDataLst>
          </p:nvPr>
        </p:nvSpPr>
        <p:spPr bwMode="auto">
          <a:xfrm>
            <a:off x="6199188" y="4975225"/>
            <a:ext cx="110807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207F036B-58E6-4736-98B8-D255ECE7AE31}" type="datetime'Re''n''''ta''l'' /''Qui''ck'''''''' ''''Ren''ta''''''l''s'''''">
              <a:rPr lang="en-IN" altLang="en-US" sz="800" b="0" smtClean="0"/>
              <a:pPr lvl="1">
                <a:spcBef>
                  <a:spcPct val="0"/>
                </a:spcBef>
                <a:spcAft>
                  <a:spcPct val="0"/>
                </a:spcAft>
              </a:pPr>
              <a:t>Rental /Quick Rentals</a:t>
            </a:fld>
            <a:endParaRPr lang="en-IN" sz="800" b="0" noProof="0" dirty="0">
              <a:sym typeface="+mn-lt"/>
            </a:endParaRPr>
          </a:p>
        </p:txBody>
      </p:sp>
      <p:sp>
        <p:nvSpPr>
          <p:cNvPr id="14" name="StandardTextbox"/>
          <p:cNvSpPr>
            <a:spLocks noGrp="1"/>
          </p:cNvSpPr>
          <p:nvPr>
            <p:custDataLst>
              <p:tags r:id="rId39"/>
            </p:custDataLst>
          </p:nvPr>
        </p:nvSpPr>
        <p:spPr bwMode="auto">
          <a:xfrm>
            <a:off x="7650163" y="4802188"/>
            <a:ext cx="644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BEC1ACFF-AB8A-4036-BA1B-4C50D59FA218}" type="datetime'''''''''P''u''''''bl''''''''''ic'' ''''Pl''a''''n''''''''t''s'">
              <a:rPr lang="en-IN" altLang="en-US" sz="800" b="0" smtClean="0"/>
              <a:pPr lvl="1">
                <a:spcBef>
                  <a:spcPct val="0"/>
                </a:spcBef>
                <a:spcAft>
                  <a:spcPct val="0"/>
                </a:spcAft>
              </a:pPr>
              <a:t>Public Plants</a:t>
            </a:fld>
            <a:endParaRPr lang="en-IN" sz="800" b="0" noProof="0" dirty="0">
              <a:sym typeface="+mn-lt"/>
            </a:endParaRPr>
          </a:p>
        </p:txBody>
      </p:sp>
      <p:sp>
        <p:nvSpPr>
          <p:cNvPr id="121" name="StandardTextbox"/>
          <p:cNvSpPr>
            <a:spLocks noGrp="1"/>
          </p:cNvSpPr>
          <p:nvPr>
            <p:custDataLst>
              <p:tags r:id="rId40"/>
            </p:custDataLst>
          </p:nvPr>
        </p:nvSpPr>
        <p:spPr bwMode="auto">
          <a:xfrm>
            <a:off x="8637588" y="4802188"/>
            <a:ext cx="1135063"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E0BA40B7-C34C-4EE2-A04E-AD9D1219D304}" type="datetime'''Aver''''a''''''''ge'' ''''''''''''''(B''a''n''gla''de''sh)'">
              <a:rPr lang="en-IN" altLang="en-US" sz="800" b="0" smtClean="0"/>
              <a:pPr lvl="1">
                <a:spcBef>
                  <a:spcPct val="0"/>
                </a:spcBef>
                <a:spcAft>
                  <a:spcPct val="0"/>
                </a:spcAft>
              </a:pPr>
              <a:t>Average (Bangladesh)</a:t>
            </a:fld>
            <a:endParaRPr lang="en-IN" sz="800" b="0" noProof="0" dirty="0">
              <a:sym typeface="+mn-lt"/>
            </a:endParaRPr>
          </a:p>
        </p:txBody>
      </p:sp>
      <p:graphicFrame>
        <p:nvGraphicFramePr>
          <p:cNvPr id="87" name="Chart 86"/>
          <p:cNvGraphicFramePr/>
          <p:nvPr>
            <p:custDataLst>
              <p:tags r:id="rId41"/>
            </p:custDataLst>
            <p:extLst>
              <p:ext uri="{D42A27DB-BD31-4B8C-83A1-F6EECF244321}">
                <p14:modId xmlns:p14="http://schemas.microsoft.com/office/powerpoint/2010/main" val="2567641701"/>
              </p:ext>
            </p:extLst>
          </p:nvPr>
        </p:nvGraphicFramePr>
        <p:xfrm>
          <a:off x="5567363" y="5934075"/>
          <a:ext cx="4505325" cy="1022350"/>
        </p:xfrm>
        <a:graphic>
          <a:graphicData uri="http://schemas.openxmlformats.org/drawingml/2006/chart">
            <c:chart xmlns:c="http://schemas.openxmlformats.org/drawingml/2006/chart" xmlns:r="http://schemas.openxmlformats.org/officeDocument/2006/relationships" r:id="rId54"/>
          </a:graphicData>
        </a:graphic>
      </p:graphicFrame>
      <p:sp>
        <p:nvSpPr>
          <p:cNvPr id="79" name="StandardTextbox"/>
          <p:cNvSpPr>
            <a:spLocks noGrp="1"/>
          </p:cNvSpPr>
          <p:nvPr>
            <p:custDataLst>
              <p:tags r:id="rId42"/>
            </p:custDataLst>
          </p:nvPr>
        </p:nvSpPr>
        <p:spPr bwMode="auto">
          <a:xfrm>
            <a:off x="6907213" y="6950075"/>
            <a:ext cx="741363" cy="27305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706D3DA4-2F78-4F19-A8E8-E1047DAB78EF}" type="datetime'R''''en''''''tal /'''' ''Qu''i''ck'''' Re''''nta''''''l'">
              <a:rPr lang="en-IN" altLang="en-US" sz="900" b="0" smtClean="0"/>
              <a:pPr lvl="1" algn="ctr">
                <a:spcBef>
                  <a:spcPct val="0"/>
                </a:spcBef>
                <a:spcAft>
                  <a:spcPct val="0"/>
                </a:spcAft>
              </a:pPr>
              <a:t>Rental / Quick Rental</a:t>
            </a:fld>
            <a:endParaRPr lang="en-IN" sz="900" b="0" noProof="0" dirty="0">
              <a:sym typeface="+mn-lt"/>
            </a:endParaRPr>
          </a:p>
        </p:txBody>
      </p:sp>
      <p:sp>
        <p:nvSpPr>
          <p:cNvPr id="69" name="StandardTextbox"/>
          <p:cNvSpPr>
            <a:spLocks noGrp="1"/>
          </p:cNvSpPr>
          <p:nvPr>
            <p:custDataLst>
              <p:tags r:id="rId43"/>
            </p:custDataLst>
          </p:nvPr>
        </p:nvSpPr>
        <p:spPr bwMode="auto">
          <a:xfrm>
            <a:off x="5897563" y="6950076"/>
            <a:ext cx="59055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33CFC1B-8C87-4129-8DB8-1D3A7CE914F8}" type="datetime'''IPP'' ''''''/'''''''''''' ''''''''''''S''''''''I''''''PP'''">
              <a:rPr lang="en-IN" altLang="en-US" sz="900" b="0" smtClean="0"/>
              <a:pPr lvl="1" algn="ctr">
                <a:spcBef>
                  <a:spcPct val="0"/>
                </a:spcBef>
                <a:spcAft>
                  <a:spcPct val="0"/>
                </a:spcAft>
              </a:pPr>
              <a:t>IPP / SIPP</a:t>
            </a:fld>
            <a:endParaRPr lang="en-IN" sz="900" b="0" noProof="0" dirty="0">
              <a:sym typeface="+mn-lt"/>
            </a:endParaRPr>
          </a:p>
        </p:txBody>
      </p:sp>
      <p:sp>
        <p:nvSpPr>
          <p:cNvPr id="94" name="StandardTextbox"/>
          <p:cNvSpPr>
            <a:spLocks noGrp="1"/>
          </p:cNvSpPr>
          <p:nvPr>
            <p:custDataLst>
              <p:tags r:id="rId44"/>
            </p:custDataLst>
          </p:nvPr>
        </p:nvSpPr>
        <p:spPr bwMode="auto">
          <a:xfrm>
            <a:off x="7996238" y="6950076"/>
            <a:ext cx="73501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7C8981C-9AD5-49C3-9F55-6E09CA4D4320}" type="datetime'''''''''P''ublic ''''''''P''''''l''ant''''s'''''''">
              <a:rPr lang="en-IN" altLang="en-US" sz="900" b="0" smtClean="0"/>
              <a:pPr lvl="1" algn="ctr">
                <a:spcBef>
                  <a:spcPct val="0"/>
                </a:spcBef>
                <a:spcAft>
                  <a:spcPct val="0"/>
                </a:spcAft>
              </a:pPr>
              <a:t>Public Plants</a:t>
            </a:fld>
            <a:endParaRPr lang="en-IN" sz="900" b="0" noProof="0" dirty="0">
              <a:sym typeface="+mn-lt"/>
            </a:endParaRPr>
          </a:p>
        </p:txBody>
      </p:sp>
      <p:sp>
        <p:nvSpPr>
          <p:cNvPr id="108" name="StandardTextbox"/>
          <p:cNvSpPr>
            <a:spLocks noGrp="1"/>
          </p:cNvSpPr>
          <p:nvPr>
            <p:custDataLst>
              <p:tags r:id="rId45"/>
            </p:custDataLst>
          </p:nvPr>
        </p:nvSpPr>
        <p:spPr bwMode="gray">
          <a:xfrm>
            <a:off x="9294813" y="6038851"/>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17AEF32-DF82-4BC2-84FF-5C2D37BFEF3D}" type="datetime'''''''''''''''''''''''3''3''''''''''%'''''''''''''''''''''''''">
              <a:rPr lang="en-IN" altLang="en-US" sz="900" b="0" smtClean="0">
                <a:sym typeface="+mn-lt"/>
              </a:rPr>
              <a:pPr lvl="1" algn="ctr">
                <a:spcBef>
                  <a:spcPct val="0"/>
                </a:spcBef>
                <a:spcAft>
                  <a:spcPct val="0"/>
                </a:spcAft>
              </a:pPr>
              <a:t>33%</a:t>
            </a:fld>
            <a:endParaRPr lang="en-IN" sz="900" b="0" noProof="0" dirty="0">
              <a:sym typeface="+mn-lt"/>
            </a:endParaRPr>
          </a:p>
        </p:txBody>
      </p:sp>
      <p:sp>
        <p:nvSpPr>
          <p:cNvPr id="81" name="StandardTextbox"/>
          <p:cNvSpPr>
            <a:spLocks noGrp="1"/>
          </p:cNvSpPr>
          <p:nvPr>
            <p:custDataLst>
              <p:tags r:id="rId46"/>
            </p:custDataLst>
          </p:nvPr>
        </p:nvSpPr>
        <p:spPr bwMode="gray">
          <a:xfrm>
            <a:off x="7124700" y="6024564"/>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DD2C36B-338A-4464-A5B3-CD0B4C95FA9A}" type="datetime'3''''''''''''''''''4''''%'''''">
              <a:rPr lang="en-IN" altLang="en-US" sz="900" b="0" smtClean="0">
                <a:sym typeface="+mn-lt"/>
              </a:rPr>
              <a:pPr lvl="1" algn="ctr">
                <a:spcBef>
                  <a:spcPct val="0"/>
                </a:spcBef>
                <a:spcAft>
                  <a:spcPct val="0"/>
                </a:spcAft>
              </a:pPr>
              <a:t>34%</a:t>
            </a:fld>
            <a:endParaRPr lang="en-IN" sz="900" b="0" noProof="0" dirty="0">
              <a:sym typeface="+mn-lt"/>
            </a:endParaRPr>
          </a:p>
        </p:txBody>
      </p:sp>
      <p:sp>
        <p:nvSpPr>
          <p:cNvPr id="106" name="StandardTextbox"/>
          <p:cNvSpPr>
            <a:spLocks noGrp="1"/>
          </p:cNvSpPr>
          <p:nvPr>
            <p:custDataLst>
              <p:tags r:id="rId47"/>
            </p:custDataLst>
          </p:nvPr>
        </p:nvSpPr>
        <p:spPr bwMode="gray">
          <a:xfrm>
            <a:off x="6040438" y="5891214"/>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904B086-398F-4E94-9349-AAD8DD8E31B8}" type="datetime'''''''''''''4''''''''''''''''0''''''''%'''''''''''''''">
              <a:rPr lang="en-IN" altLang="en-US" sz="900" b="0" smtClean="0"/>
              <a:pPr lvl="1" algn="ctr">
                <a:spcBef>
                  <a:spcPct val="0"/>
                </a:spcBef>
                <a:spcAft>
                  <a:spcPct val="0"/>
                </a:spcAft>
              </a:pPr>
              <a:t>40%</a:t>
            </a:fld>
            <a:endParaRPr lang="en-IN" sz="900" b="0" noProof="0" dirty="0">
              <a:sym typeface="+mn-lt"/>
            </a:endParaRPr>
          </a:p>
        </p:txBody>
      </p:sp>
      <p:sp>
        <p:nvSpPr>
          <p:cNvPr id="96" name="StandardTextbox"/>
          <p:cNvSpPr>
            <a:spLocks noGrp="1"/>
          </p:cNvSpPr>
          <p:nvPr>
            <p:custDataLst>
              <p:tags r:id="rId48"/>
            </p:custDataLst>
          </p:nvPr>
        </p:nvSpPr>
        <p:spPr bwMode="auto">
          <a:xfrm>
            <a:off x="9285288" y="6950076"/>
            <a:ext cx="32385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773663D-5408-4677-AAD4-7E38B60CEADB}" type="datetime'B''''''P''''''''''''''''''''D''''''''''''''''''''''''''''B'">
              <a:rPr lang="en-IN" altLang="en-US" sz="900" b="0" smtClean="0"/>
              <a:pPr lvl="1" algn="ctr">
                <a:spcBef>
                  <a:spcPct val="0"/>
                </a:spcBef>
                <a:spcAft>
                  <a:spcPct val="0"/>
                </a:spcAft>
              </a:pPr>
              <a:t>BPDB</a:t>
            </a:fld>
            <a:endParaRPr lang="en-IN" sz="900" b="0" noProof="0" dirty="0">
              <a:sym typeface="+mn-lt"/>
            </a:endParaRPr>
          </a:p>
        </p:txBody>
      </p:sp>
      <p:sp>
        <p:nvSpPr>
          <p:cNvPr id="107" name="StandardTextbox"/>
          <p:cNvSpPr>
            <a:spLocks noGrp="1"/>
          </p:cNvSpPr>
          <p:nvPr>
            <p:custDataLst>
              <p:tags r:id="rId49"/>
            </p:custDataLst>
          </p:nvPr>
        </p:nvSpPr>
        <p:spPr bwMode="gray">
          <a:xfrm>
            <a:off x="8210550" y="5854701"/>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791F17DB-1096-452F-BD3A-FC85E7AB46BF}" type="datetime'''''''''''''''''''4''''''''2''''%'''''''''''''''''''">
              <a:rPr lang="en-IN" altLang="en-US" sz="900" b="0" smtClean="0">
                <a:sym typeface="+mn-lt"/>
              </a:rPr>
              <a:pPr lvl="1" algn="ctr">
                <a:spcBef>
                  <a:spcPct val="0"/>
                </a:spcBef>
                <a:spcAft>
                  <a:spcPct val="0"/>
                </a:spcAft>
              </a:pPr>
              <a:t>42%</a:t>
            </a:fld>
            <a:endParaRPr lang="en-IN" sz="900" b="0" noProof="0" dirty="0">
              <a:sym typeface="+mn-lt"/>
            </a:endParaRPr>
          </a:p>
        </p:txBody>
      </p:sp>
    </p:spTree>
    <p:extLst>
      <p:ext uri="{BB962C8B-B14F-4D97-AF65-F5344CB8AC3E}">
        <p14:creationId xmlns:p14="http://schemas.microsoft.com/office/powerpoint/2010/main" val="2159703816"/>
      </p:ext>
    </p:extLst>
  </p:cSld>
  <p:clrMapOvr>
    <a:masterClrMapping/>
  </p:clrMapOvr>
  <p:transition>
    <p:fade/>
  </p:transition>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1"/>
            </p:custDataLst>
            <p:extLst>
              <p:ext uri="{D42A27DB-BD31-4B8C-83A1-F6EECF244321}">
                <p14:modId xmlns:p14="http://schemas.microsoft.com/office/powerpoint/2010/main" val="210207317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6" imgW="530" imgH="531" progId="TCLayout.ActiveDocument.1">
                  <p:embed/>
                </p:oleObj>
              </mc:Choice>
              <mc:Fallback>
                <p:oleObj name="think-cell Slide" r:id="rId16" imgW="530" imgH="531" progId="TCLayout.ActiveDocument.1">
                  <p:embed/>
                  <p:pic>
                    <p:nvPicPr>
                      <p:cNvPr id="15" name="Object 14" hidden="1"/>
                      <p:cNvPicPr/>
                      <p:nvPr/>
                    </p:nvPicPr>
                    <p:blipFill>
                      <a:blip r:embed="rId17"/>
                      <a:stretch>
                        <a:fillRect/>
                      </a:stretch>
                    </p:blipFill>
                    <p:spPr>
                      <a:xfrm>
                        <a:off x="1588" y="1588"/>
                        <a:ext cx="1588" cy="1588"/>
                      </a:xfrm>
                      <a:prstGeom prst="rect">
                        <a:avLst/>
                      </a:prstGeom>
                    </p:spPr>
                  </p:pic>
                </p:oleObj>
              </mc:Fallback>
            </mc:AlternateContent>
          </a:graphicData>
        </a:graphic>
      </p:graphicFrame>
      <p:sp>
        <p:nvSpPr>
          <p:cNvPr id="13" name="Rectangle 1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59" name="Rectangle 58"/>
          <p:cNvSpPr/>
          <p:nvPr/>
        </p:nvSpPr>
        <p:spPr bwMode="gray">
          <a:xfrm>
            <a:off x="6014300" y="2671763"/>
            <a:ext cx="4226663" cy="1147763"/>
          </a:xfrm>
          <a:prstGeom prst="rect">
            <a:avLst/>
          </a:prstGeom>
          <a:solidFill>
            <a:srgbClr val="C4D600">
              <a:alpha val="26000"/>
            </a:srgb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graphicFrame>
        <p:nvGraphicFramePr>
          <p:cNvPr id="165" name="Table 164"/>
          <p:cNvGraphicFramePr>
            <a:graphicFrameLocks noGrp="1"/>
          </p:cNvGraphicFramePr>
          <p:nvPr>
            <p:custDataLst>
              <p:tags r:id="rId3"/>
            </p:custDataLst>
            <p:extLst>
              <p:ext uri="{D42A27DB-BD31-4B8C-83A1-F6EECF244321}">
                <p14:modId xmlns:p14="http://schemas.microsoft.com/office/powerpoint/2010/main" val="296611332"/>
              </p:ext>
            </p:extLst>
          </p:nvPr>
        </p:nvGraphicFramePr>
        <p:xfrm>
          <a:off x="449992" y="1961918"/>
          <a:ext cx="9790971" cy="5440367"/>
        </p:xfrm>
        <a:graphic>
          <a:graphicData uri="http://schemas.openxmlformats.org/drawingml/2006/table">
            <a:tbl>
              <a:tblPr firstRow="1" bandRow="1">
                <a:tableStyleId>{5C22544A-7EE6-4342-B048-85BDC9FD1C3A}</a:tableStyleId>
              </a:tblPr>
              <a:tblGrid>
                <a:gridCol w="9790971">
                  <a:extLst>
                    <a:ext uri="{9D8B030D-6E8A-4147-A177-3AD203B41FA5}">
                      <a16:colId xmlns:a16="http://schemas.microsoft.com/office/drawing/2014/main" val="20000"/>
                    </a:ext>
                  </a:extLst>
                </a:gridCol>
              </a:tblGrid>
              <a:tr h="5440367">
                <a:tc>
                  <a:txBody>
                    <a:bodyPr/>
                    <a:lstStyle/>
                    <a:p>
                      <a:pPr marL="0" marR="0" lvl="0" indent="0" algn="ctr"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baseline="0" dirty="0">
                          <a:solidFill>
                            <a:schemeClr val="tx1"/>
                          </a:solidFill>
                        </a:rPr>
                        <a:t>Following graph shows the gas-plant wise Efficiency (%) &amp; their respective PLF (%) in FY19</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342" name="Chart 341"/>
          <p:cNvGraphicFramePr/>
          <p:nvPr>
            <p:custDataLst>
              <p:tags r:id="rId4"/>
            </p:custDataLst>
            <p:extLst>
              <p:ext uri="{D42A27DB-BD31-4B8C-83A1-F6EECF244321}">
                <p14:modId xmlns:p14="http://schemas.microsoft.com/office/powerpoint/2010/main" val="3171310509"/>
              </p:ext>
            </p:extLst>
          </p:nvPr>
        </p:nvGraphicFramePr>
        <p:xfrm>
          <a:off x="427038" y="2598738"/>
          <a:ext cx="9991725" cy="3005137"/>
        </p:xfrm>
        <a:graphic>
          <a:graphicData uri="http://schemas.openxmlformats.org/drawingml/2006/chart">
            <c:chart xmlns:c="http://schemas.openxmlformats.org/drawingml/2006/chart" xmlns:r="http://schemas.openxmlformats.org/officeDocument/2006/relationships" r:id="rId18"/>
          </a:graphicData>
        </a:graphic>
      </p:graphicFrame>
      <p:sp>
        <p:nvSpPr>
          <p:cNvPr id="5" name="StandardTextbox"/>
          <p:cNvSpPr>
            <a:spLocks noGrp="1"/>
          </p:cNvSpPr>
          <p:nvPr>
            <p:custDataLst>
              <p:tags r:id="rId5"/>
            </p:custDataLst>
          </p:nvPr>
        </p:nvSpPr>
        <p:spPr bwMode="auto">
          <a:xfrm>
            <a:off x="5167313" y="5627688"/>
            <a:ext cx="722313"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r>
              <a:rPr lang="en-IN" altLang="en-US" sz="800" b="0" dirty="0">
                <a:sym typeface="+mn-lt"/>
              </a:rPr>
              <a:t>Efficiency (%)</a:t>
            </a:r>
            <a:endParaRPr lang="en-IN" sz="800" b="0" noProof="0" dirty="0">
              <a:sym typeface="+mn-lt"/>
            </a:endParaRPr>
          </a:p>
        </p:txBody>
      </p:sp>
      <p:sp>
        <p:nvSpPr>
          <p:cNvPr id="6" name="StandardTextbox"/>
          <p:cNvSpPr>
            <a:spLocks noGrp="1"/>
          </p:cNvSpPr>
          <p:nvPr>
            <p:custDataLst>
              <p:tags r:id="rId6"/>
            </p:custDataLst>
          </p:nvPr>
        </p:nvSpPr>
        <p:spPr bwMode="auto">
          <a:xfrm>
            <a:off x="606425" y="2417763"/>
            <a:ext cx="4159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r>
              <a:rPr lang="en-IN" altLang="en-US" sz="800" b="0" dirty="0">
                <a:sym typeface="+mn-lt"/>
              </a:rPr>
              <a:t>PLF (%)</a:t>
            </a:r>
            <a:endParaRPr lang="en-IN" sz="800" b="0" noProof="0" dirty="0">
              <a:sym typeface="+mn-lt"/>
            </a:endParaRPr>
          </a:p>
        </p:txBody>
      </p:sp>
      <p:sp>
        <p:nvSpPr>
          <p:cNvPr id="60" name="Rectangle 59"/>
          <p:cNvSpPr/>
          <p:nvPr/>
        </p:nvSpPr>
        <p:spPr bwMode="gray">
          <a:xfrm>
            <a:off x="816718" y="4284662"/>
            <a:ext cx="3471737" cy="1065214"/>
          </a:xfrm>
          <a:prstGeom prst="rect">
            <a:avLst/>
          </a:prstGeom>
          <a:solidFill>
            <a:schemeClr val="bg1">
              <a:lumMod val="65000"/>
              <a:alpha val="26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7" name="Title 1"/>
          <p:cNvSpPr>
            <a:spLocks noGrp="1"/>
          </p:cNvSpPr>
          <p:nvPr>
            <p:ph type="title"/>
          </p:nvPr>
        </p:nvSpPr>
        <p:spPr>
          <a:xfrm>
            <a:off x="449264" y="647700"/>
            <a:ext cx="9791700" cy="431800"/>
          </a:xfrm>
        </p:spPr>
        <p:txBody>
          <a:bodyPr/>
          <a:lstStyle/>
          <a:p>
            <a:r>
              <a:rPr lang="en-US" dirty="0"/>
              <a:t>Power Market | Plant Dispatchability</a:t>
            </a:r>
            <a:endParaRPr lang="en-IN" dirty="0"/>
          </a:p>
        </p:txBody>
      </p:sp>
      <p:sp>
        <p:nvSpPr>
          <p:cNvPr id="18"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noProof="0" dirty="0">
                <a:solidFill>
                  <a:prstClr val="black">
                    <a:lumMod val="50000"/>
                    <a:lumOff val="50000"/>
                  </a:prstClr>
                </a:solidFill>
                <a:latin typeface="Verdana" panose="020B0604030504040204" pitchFamily="34" charset="0"/>
              </a:rPr>
              <a:t>With about ~3,300 MW of capacity having lower than 33% efficiency and lower dispatch at less than 40%, there may be gas –reallocation from these plants to higher efficient plants for optimum utilization of gas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sp>
        <p:nvSpPr>
          <p:cNvPr id="170" name="Rectangle 169"/>
          <p:cNvSpPr/>
          <p:nvPr/>
        </p:nvSpPr>
        <p:spPr bwMode="gray">
          <a:xfrm>
            <a:off x="9419955" y="4983163"/>
            <a:ext cx="535015" cy="258763"/>
          </a:xfrm>
          <a:prstGeom prst="rect">
            <a:avLst/>
          </a:prstGeom>
          <a:solidFill>
            <a:schemeClr val="accent2">
              <a:alpha val="38000"/>
            </a:schemeClr>
          </a:solidFill>
          <a:ln w="19050" algn="ctr">
            <a:noFill/>
            <a:miter lim="800000"/>
            <a:headEnd/>
            <a:tailEnd/>
          </a:ln>
        </p:spPr>
        <p:txBody>
          <a:bodyPr wrap="square" lIns="36000" tIns="36000" rIns="36000" bIns="36000" rtlCol="0" anchor="ctr"/>
          <a:lstStyle/>
          <a:p>
            <a:pPr algn="ctr">
              <a:lnSpc>
                <a:spcPct val="106000"/>
              </a:lnSpc>
              <a:buFont typeface="Wingdings 2" pitchFamily="18" charset="2"/>
              <a:buNone/>
            </a:pPr>
            <a:r>
              <a:rPr lang="en-US" sz="700" dirty="0"/>
              <a:t>EGCB 412 MW</a:t>
            </a:r>
            <a:endParaRPr lang="en-IN" sz="700" dirty="0"/>
          </a:p>
        </p:txBody>
      </p:sp>
      <p:sp>
        <p:nvSpPr>
          <p:cNvPr id="171" name="Rectangle 170"/>
          <p:cNvSpPr/>
          <p:nvPr/>
        </p:nvSpPr>
        <p:spPr bwMode="gray">
          <a:xfrm>
            <a:off x="9419954" y="4305300"/>
            <a:ext cx="548069" cy="384175"/>
          </a:xfrm>
          <a:prstGeom prst="rect">
            <a:avLst/>
          </a:prstGeom>
          <a:solidFill>
            <a:schemeClr val="accent2">
              <a:alpha val="38000"/>
            </a:schemeClr>
          </a:solidFill>
          <a:ln w="19050" algn="ctr">
            <a:noFill/>
            <a:miter lim="800000"/>
            <a:headEnd/>
            <a:tailEnd/>
          </a:ln>
        </p:spPr>
        <p:txBody>
          <a:bodyPr wrap="square" lIns="36000" tIns="36000" rIns="36000" bIns="36000" rtlCol="0" anchor="ctr"/>
          <a:lstStyle/>
          <a:p>
            <a:pPr algn="ctr">
              <a:lnSpc>
                <a:spcPct val="106000"/>
              </a:lnSpc>
              <a:buFont typeface="Wingdings 2" pitchFamily="18" charset="2"/>
              <a:buNone/>
            </a:pPr>
            <a:r>
              <a:rPr lang="en-US" sz="700" dirty="0"/>
              <a:t>APSCL (South) 450 MW</a:t>
            </a:r>
            <a:endParaRPr lang="en-IN" sz="700" dirty="0"/>
          </a:p>
        </p:txBody>
      </p:sp>
      <p:sp>
        <p:nvSpPr>
          <p:cNvPr id="172" name="Rectangle 171"/>
          <p:cNvSpPr/>
          <p:nvPr/>
        </p:nvSpPr>
        <p:spPr bwMode="gray">
          <a:xfrm>
            <a:off x="8755891" y="4087813"/>
            <a:ext cx="547200" cy="361950"/>
          </a:xfrm>
          <a:prstGeom prst="rect">
            <a:avLst/>
          </a:prstGeom>
          <a:solidFill>
            <a:schemeClr val="accent2">
              <a:alpha val="38000"/>
            </a:schemeClr>
          </a:solidFill>
          <a:ln w="19050" algn="ctr">
            <a:noFill/>
            <a:miter lim="800000"/>
            <a:headEnd/>
            <a:tailEnd/>
          </a:ln>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ct val="106000"/>
              </a:lnSpc>
              <a:buFont typeface="Wingdings 2" pitchFamily="18" charset="2"/>
              <a:buNone/>
            </a:pPr>
            <a:r>
              <a:rPr lang="en-US" sz="700" dirty="0"/>
              <a:t>APSCL (North) 450 MW</a:t>
            </a:r>
            <a:endParaRPr lang="en-IN" sz="700" dirty="0"/>
          </a:p>
        </p:txBody>
      </p:sp>
      <p:sp>
        <p:nvSpPr>
          <p:cNvPr id="173" name="Rectangle 172"/>
          <p:cNvSpPr/>
          <p:nvPr/>
        </p:nvSpPr>
        <p:spPr bwMode="gray">
          <a:xfrm>
            <a:off x="9433008" y="3830639"/>
            <a:ext cx="535015" cy="257175"/>
          </a:xfrm>
          <a:prstGeom prst="rect">
            <a:avLst/>
          </a:prstGeom>
          <a:solidFill>
            <a:schemeClr val="accent3">
              <a:lumMod val="20000"/>
              <a:lumOff val="80000"/>
            </a:schemeClr>
          </a:solidFill>
          <a:ln w="19050" algn="ctr">
            <a:noFill/>
            <a:miter lim="800000"/>
            <a:headEnd/>
            <a:tailEnd/>
          </a:ln>
        </p:spPr>
        <p:txBody>
          <a:bodyPr wrap="square" lIns="36000" tIns="36000" rIns="36000" bIns="36000" rtlCol="0" anchor="ctr"/>
          <a:lstStyle/>
          <a:p>
            <a:pPr algn="ctr">
              <a:lnSpc>
                <a:spcPct val="106000"/>
              </a:lnSpc>
              <a:buFont typeface="Wingdings 2" pitchFamily="18" charset="2"/>
              <a:buNone/>
            </a:pPr>
            <a:r>
              <a:rPr lang="en-US" sz="700" dirty="0"/>
              <a:t>Bhola 225 MW</a:t>
            </a:r>
            <a:endParaRPr lang="en-IN" sz="700" dirty="0"/>
          </a:p>
        </p:txBody>
      </p:sp>
      <p:sp>
        <p:nvSpPr>
          <p:cNvPr id="174" name="Rectangle 173"/>
          <p:cNvSpPr/>
          <p:nvPr/>
        </p:nvSpPr>
        <p:spPr bwMode="gray">
          <a:xfrm>
            <a:off x="8750524" y="4578350"/>
            <a:ext cx="547200" cy="258763"/>
          </a:xfrm>
          <a:prstGeom prst="rect">
            <a:avLst/>
          </a:prstGeom>
          <a:solidFill>
            <a:schemeClr val="accent1">
              <a:lumMod val="20000"/>
              <a:lumOff val="8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700" dirty="0"/>
              <a:t>Haripur 360 MW</a:t>
            </a:r>
            <a:endParaRPr lang="en-IN" sz="700" dirty="0"/>
          </a:p>
        </p:txBody>
      </p:sp>
      <p:sp>
        <p:nvSpPr>
          <p:cNvPr id="175" name="Rectangle 174"/>
          <p:cNvSpPr/>
          <p:nvPr/>
        </p:nvSpPr>
        <p:spPr bwMode="gray">
          <a:xfrm>
            <a:off x="7133121" y="4794250"/>
            <a:ext cx="699217" cy="201613"/>
          </a:xfrm>
          <a:prstGeom prst="rect">
            <a:avLst/>
          </a:prstGeom>
          <a:solidFill>
            <a:schemeClr val="accent3">
              <a:lumMod val="20000"/>
              <a:lumOff val="80000"/>
            </a:schemeClr>
          </a:solidFill>
          <a:ln w="19050" algn="ctr">
            <a:noFill/>
            <a:miter lim="800000"/>
            <a:headEnd/>
            <a:tailEnd/>
          </a:ln>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ct val="106000"/>
              </a:lnSpc>
              <a:buFont typeface="Wingdings 2" pitchFamily="18" charset="2"/>
              <a:buNone/>
            </a:pPr>
            <a:r>
              <a:rPr lang="en-US" sz="700" dirty="0"/>
              <a:t>S.Baha 225 MW</a:t>
            </a:r>
            <a:endParaRPr lang="en-IN" sz="700" dirty="0"/>
          </a:p>
        </p:txBody>
      </p:sp>
      <p:sp>
        <p:nvSpPr>
          <p:cNvPr id="176" name="Rectangle 175"/>
          <p:cNvSpPr/>
          <p:nvPr/>
        </p:nvSpPr>
        <p:spPr bwMode="gray">
          <a:xfrm>
            <a:off x="8755122" y="4983164"/>
            <a:ext cx="547200" cy="257175"/>
          </a:xfrm>
          <a:prstGeom prst="rect">
            <a:avLst/>
          </a:prstGeom>
          <a:solidFill>
            <a:schemeClr val="accent2">
              <a:alpha val="38000"/>
            </a:schemeClr>
          </a:solidFill>
          <a:ln w="19050" algn="ctr">
            <a:noFill/>
            <a:miter lim="800000"/>
            <a:headEnd/>
            <a:tailEnd/>
          </a:ln>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ct val="106000"/>
              </a:lnSpc>
              <a:buFont typeface="Wingdings 2" pitchFamily="18" charset="2"/>
              <a:buNone/>
            </a:pPr>
            <a:r>
              <a:rPr lang="en-US" sz="700" dirty="0"/>
              <a:t>APCL 225 MW</a:t>
            </a:r>
            <a:endParaRPr lang="en-IN" sz="700" dirty="0"/>
          </a:p>
        </p:txBody>
      </p:sp>
      <p:sp>
        <p:nvSpPr>
          <p:cNvPr id="188" name="Rectangle 187"/>
          <p:cNvSpPr/>
          <p:nvPr/>
        </p:nvSpPr>
        <p:spPr bwMode="gray">
          <a:xfrm>
            <a:off x="7145319" y="4160837"/>
            <a:ext cx="695538" cy="247650"/>
          </a:xfrm>
          <a:prstGeom prst="rect">
            <a:avLst/>
          </a:prstGeom>
          <a:solidFill>
            <a:schemeClr val="accent1">
              <a:lumMod val="20000"/>
              <a:lumOff val="80000"/>
            </a:schemeClr>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buFont typeface="Wingdings 2" pitchFamily="18" charset="2"/>
              <a:buNone/>
            </a:pPr>
            <a:r>
              <a:rPr lang="en-US" sz="700" dirty="0"/>
              <a:t>RPCL 210 MW</a:t>
            </a:r>
            <a:endParaRPr lang="en-IN" sz="700" dirty="0"/>
          </a:p>
        </p:txBody>
      </p:sp>
      <p:sp>
        <p:nvSpPr>
          <p:cNvPr id="189" name="Rectangle 188"/>
          <p:cNvSpPr/>
          <p:nvPr/>
        </p:nvSpPr>
        <p:spPr bwMode="gray">
          <a:xfrm>
            <a:off x="5605770" y="5027612"/>
            <a:ext cx="699352" cy="203200"/>
          </a:xfrm>
          <a:prstGeom prst="rect">
            <a:avLst/>
          </a:prstGeom>
          <a:solidFill>
            <a:schemeClr val="accent1">
              <a:lumMod val="20000"/>
              <a:lumOff val="80000"/>
            </a:schemeClr>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buFont typeface="Wingdings 2" pitchFamily="18" charset="2"/>
              <a:buNone/>
            </a:pPr>
            <a:r>
              <a:rPr lang="en-US" sz="700" dirty="0"/>
              <a:t>Summit 305 MW</a:t>
            </a:r>
            <a:endParaRPr lang="en-IN" sz="700" dirty="0"/>
          </a:p>
        </p:txBody>
      </p:sp>
      <p:sp>
        <p:nvSpPr>
          <p:cNvPr id="190" name="Rectangle 189"/>
          <p:cNvSpPr/>
          <p:nvPr/>
        </p:nvSpPr>
        <p:spPr bwMode="gray">
          <a:xfrm>
            <a:off x="6956402" y="2705100"/>
            <a:ext cx="699352" cy="201613"/>
          </a:xfrm>
          <a:prstGeom prst="rect">
            <a:avLst/>
          </a:prstGeom>
          <a:solidFill>
            <a:schemeClr val="accent1">
              <a:lumMod val="20000"/>
              <a:lumOff val="80000"/>
            </a:schemeClr>
          </a:solidFill>
          <a:ln w="19050" algn="ctr">
            <a:noFill/>
            <a:miter lim="800000"/>
            <a:headEnd/>
            <a:tailEnd/>
          </a:ln>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ct val="106000"/>
              </a:lnSpc>
              <a:buFont typeface="Wingdings 2" pitchFamily="18" charset="2"/>
              <a:buNone/>
            </a:pPr>
            <a:r>
              <a:rPr lang="en-US" sz="700" dirty="0"/>
              <a:t>Meghnaghat 450 MW</a:t>
            </a:r>
            <a:endParaRPr lang="en-IN" sz="700" dirty="0"/>
          </a:p>
        </p:txBody>
      </p:sp>
      <p:sp>
        <p:nvSpPr>
          <p:cNvPr id="191" name="Rectangle 190"/>
          <p:cNvSpPr/>
          <p:nvPr/>
        </p:nvSpPr>
        <p:spPr bwMode="gray">
          <a:xfrm>
            <a:off x="5607014" y="4430713"/>
            <a:ext cx="699352" cy="201613"/>
          </a:xfrm>
          <a:prstGeom prst="rect">
            <a:avLst/>
          </a:prstGeom>
          <a:solidFill>
            <a:schemeClr val="accent1">
              <a:lumMod val="20000"/>
              <a:lumOff val="80000"/>
            </a:schemeClr>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buFont typeface="Wingdings 2" pitchFamily="18" charset="2"/>
              <a:buNone/>
            </a:pPr>
            <a:r>
              <a:rPr lang="en-US" sz="700" dirty="0"/>
              <a:t>Sembcorp 282 MW</a:t>
            </a:r>
            <a:endParaRPr lang="en-IN" sz="700" dirty="0"/>
          </a:p>
        </p:txBody>
      </p:sp>
      <p:grpSp>
        <p:nvGrpSpPr>
          <p:cNvPr id="216" name="Group 215"/>
          <p:cNvGrpSpPr/>
          <p:nvPr/>
        </p:nvGrpSpPr>
        <p:grpSpPr>
          <a:xfrm>
            <a:off x="9968023" y="3486150"/>
            <a:ext cx="168369" cy="1625600"/>
            <a:chOff x="9968023" y="3530009"/>
            <a:chExt cx="168369" cy="1626937"/>
          </a:xfrm>
        </p:grpSpPr>
        <p:cxnSp>
          <p:nvCxnSpPr>
            <p:cNvPr id="202" name="Straight Connector 201"/>
            <p:cNvCxnSpPr/>
            <p:nvPr/>
          </p:nvCxnSpPr>
          <p:spPr>
            <a:xfrm>
              <a:off x="10136391" y="3530009"/>
              <a:ext cx="0" cy="1626937"/>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04" name="Straight Arrow Connector 203"/>
            <p:cNvCxnSpPr/>
            <p:nvPr/>
          </p:nvCxnSpPr>
          <p:spPr>
            <a:xfrm flipH="1">
              <a:off x="9968023" y="5156946"/>
              <a:ext cx="168369" cy="0"/>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grpSp>
      <p:sp>
        <p:nvSpPr>
          <p:cNvPr id="205" name="Rectangle 204"/>
          <p:cNvSpPr/>
          <p:nvPr/>
        </p:nvSpPr>
        <p:spPr bwMode="gray">
          <a:xfrm>
            <a:off x="5607014" y="4738688"/>
            <a:ext cx="699352" cy="222250"/>
          </a:xfrm>
          <a:prstGeom prst="rect">
            <a:avLst/>
          </a:prstGeom>
          <a:solidFill>
            <a:schemeClr val="accent1">
              <a:lumMod val="20000"/>
              <a:lumOff val="80000"/>
            </a:schemeClr>
          </a:solidFill>
          <a:ln w="19050" algn="ctr">
            <a:noFill/>
            <a:miter lim="800000"/>
            <a:headEnd/>
            <a:tailEnd/>
          </a:ln>
        </p:spPr>
        <p:txBody>
          <a:bodyPr rot="0" spcFirstLastPara="0" vertOverflow="overflow" horzOverflow="overflow" vert="horz" wrap="square" lIns="88900" tIns="88900" rIns="88900" bIns="88900" numCol="1" spcCol="0" rtlCol="0" fromWordArt="0" anchor="ctr" anchorCtr="0" forceAA="0" compatLnSpc="1">
            <a:prstTxWarp prst="textNoShape">
              <a:avLst/>
            </a:prstTxWarp>
            <a:noAutofit/>
          </a:bodyPr>
          <a:lstStyle/>
          <a:p>
            <a:pPr algn="ctr">
              <a:lnSpc>
                <a:spcPct val="106000"/>
              </a:lnSpc>
              <a:buFont typeface="Wingdings 2" pitchFamily="18" charset="2"/>
              <a:buNone/>
            </a:pPr>
            <a:r>
              <a:rPr lang="en-US" sz="700" dirty="0"/>
              <a:t>UAEL 195 MW</a:t>
            </a:r>
            <a:endParaRPr lang="en-IN" sz="700" dirty="0"/>
          </a:p>
        </p:txBody>
      </p:sp>
      <p:grpSp>
        <p:nvGrpSpPr>
          <p:cNvPr id="215" name="Group 214"/>
          <p:cNvGrpSpPr/>
          <p:nvPr/>
        </p:nvGrpSpPr>
        <p:grpSpPr>
          <a:xfrm>
            <a:off x="9335976" y="3611563"/>
            <a:ext cx="742812" cy="1011238"/>
            <a:chOff x="9335976" y="3655662"/>
            <a:chExt cx="742812" cy="1011997"/>
          </a:xfrm>
        </p:grpSpPr>
        <p:cxnSp>
          <p:nvCxnSpPr>
            <p:cNvPr id="206" name="Straight Connector 205"/>
            <p:cNvCxnSpPr/>
            <p:nvPr/>
          </p:nvCxnSpPr>
          <p:spPr>
            <a:xfrm flipH="1">
              <a:off x="9335976" y="3655662"/>
              <a:ext cx="742812"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a:off x="10078788" y="3655662"/>
              <a:ext cx="0" cy="1011997"/>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12" name="Straight Arrow Connector 211"/>
            <p:cNvCxnSpPr/>
            <p:nvPr/>
          </p:nvCxnSpPr>
          <p:spPr>
            <a:xfrm flipH="1">
              <a:off x="9968024" y="4667659"/>
              <a:ext cx="110764" cy="0"/>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29" name="Group 328"/>
          <p:cNvGrpSpPr/>
          <p:nvPr/>
        </p:nvGrpSpPr>
        <p:grpSpPr>
          <a:xfrm>
            <a:off x="9249363" y="3228975"/>
            <a:ext cx="458019" cy="584200"/>
            <a:chOff x="9249363" y="3273778"/>
            <a:chExt cx="458019" cy="584260"/>
          </a:xfrm>
        </p:grpSpPr>
        <p:cxnSp>
          <p:nvCxnSpPr>
            <p:cNvPr id="218" name="Straight Connector 217"/>
            <p:cNvCxnSpPr/>
            <p:nvPr/>
          </p:nvCxnSpPr>
          <p:spPr>
            <a:xfrm flipV="1">
              <a:off x="9249363" y="3273778"/>
              <a:ext cx="458019" cy="3763"/>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20" name="Straight Arrow Connector 219"/>
            <p:cNvCxnSpPr/>
            <p:nvPr/>
          </p:nvCxnSpPr>
          <p:spPr>
            <a:xfrm>
              <a:off x="9707382" y="3274214"/>
              <a:ext cx="0" cy="583824"/>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grpSp>
      <p:sp>
        <p:nvSpPr>
          <p:cNvPr id="226" name="Oval 225"/>
          <p:cNvSpPr/>
          <p:nvPr>
            <p:custDataLst>
              <p:tags r:id="rId7"/>
            </p:custDataLst>
          </p:nvPr>
        </p:nvSpPr>
        <p:spPr bwMode="auto">
          <a:xfrm>
            <a:off x="4562475" y="5822950"/>
            <a:ext cx="107950" cy="107950"/>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20" name="Oval 319"/>
          <p:cNvSpPr/>
          <p:nvPr>
            <p:custDataLst>
              <p:tags r:id="rId8"/>
            </p:custDataLst>
          </p:nvPr>
        </p:nvSpPr>
        <p:spPr bwMode="auto">
          <a:xfrm>
            <a:off x="6194425" y="5822950"/>
            <a:ext cx="107950" cy="107950"/>
          </a:xfrm>
          <a:prstGeom prst="ellipse">
            <a:avLst/>
          </a:prstGeom>
          <a:solidFill>
            <a:srgbClr val="01216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28" name="Oval 227"/>
          <p:cNvSpPr/>
          <p:nvPr>
            <p:custDataLst>
              <p:tags r:id="rId9"/>
            </p:custDataLst>
          </p:nvPr>
        </p:nvSpPr>
        <p:spPr bwMode="auto">
          <a:xfrm>
            <a:off x="5599113" y="5822950"/>
            <a:ext cx="107950" cy="107950"/>
          </a:xfrm>
          <a:prstGeom prst="ellipse">
            <a:avLst/>
          </a:prstGeom>
          <a:solidFill>
            <a:schemeClr val="accent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27" name="Oval 226"/>
          <p:cNvSpPr/>
          <p:nvPr>
            <p:custDataLst>
              <p:tags r:id="rId10"/>
            </p:custDataLst>
          </p:nvPr>
        </p:nvSpPr>
        <p:spPr bwMode="auto">
          <a:xfrm>
            <a:off x="5137150" y="5822950"/>
            <a:ext cx="107950" cy="107950"/>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23" name="StandardTextbox"/>
          <p:cNvSpPr>
            <a:spLocks noGrp="1"/>
          </p:cNvSpPr>
          <p:nvPr>
            <p:custDataLst>
              <p:tags r:id="rId11"/>
            </p:custDataLst>
          </p:nvPr>
        </p:nvSpPr>
        <p:spPr bwMode="auto">
          <a:xfrm>
            <a:off x="4738688" y="5819775"/>
            <a:ext cx="27940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9288D62D-5A64-45BC-95F5-9153F0840EF7}" type="datetime'B''''P''''''''D''''''''B'''''''''''''''''">
              <a:rPr lang="en-IN" altLang="en-US" sz="800" b="0" smtClean="0">
                <a:sym typeface="+mn-lt"/>
              </a:rPr>
              <a:pPr lvl="1">
                <a:spcBef>
                  <a:spcPct val="0"/>
                </a:spcBef>
                <a:spcAft>
                  <a:spcPct val="0"/>
                </a:spcAft>
              </a:pPr>
              <a:t>BPDB</a:t>
            </a:fld>
            <a:endParaRPr lang="en-IN" sz="800" b="0" noProof="0" dirty="0">
              <a:sym typeface="+mn-lt"/>
            </a:endParaRPr>
          </a:p>
        </p:txBody>
      </p:sp>
      <p:sp>
        <p:nvSpPr>
          <p:cNvPr id="318" name="StandardTextbox"/>
          <p:cNvSpPr>
            <a:spLocks noGrp="1"/>
          </p:cNvSpPr>
          <p:nvPr>
            <p:custDataLst>
              <p:tags r:id="rId12"/>
            </p:custDataLst>
          </p:nvPr>
        </p:nvSpPr>
        <p:spPr bwMode="auto">
          <a:xfrm>
            <a:off x="6370638" y="5819775"/>
            <a:ext cx="32543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FEA773E3-EB1F-4739-90E3-381FF8932AF1}" type="datetime'''''''''''''''''''''''Re''nt''''''''''''''''''al'''''''">
              <a:rPr lang="en-IN" altLang="en-US" sz="800" b="0" smtClean="0"/>
              <a:pPr lvl="1">
                <a:spcBef>
                  <a:spcPct val="0"/>
                </a:spcBef>
                <a:spcAft>
                  <a:spcPct val="0"/>
                </a:spcAft>
              </a:pPr>
              <a:t>Rental</a:t>
            </a:fld>
            <a:endParaRPr lang="en-IN" sz="800" b="0" noProof="0" dirty="0">
              <a:sym typeface="+mn-lt"/>
            </a:endParaRPr>
          </a:p>
        </p:txBody>
      </p:sp>
      <p:sp>
        <p:nvSpPr>
          <p:cNvPr id="224" name="StandardTextbox"/>
          <p:cNvSpPr>
            <a:spLocks noGrp="1"/>
          </p:cNvSpPr>
          <p:nvPr>
            <p:custDataLst>
              <p:tags r:id="rId13"/>
            </p:custDataLst>
          </p:nvPr>
        </p:nvSpPr>
        <p:spPr bwMode="auto">
          <a:xfrm>
            <a:off x="5313363" y="5819775"/>
            <a:ext cx="16668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A30C75B2-4C53-49B9-A104-5AF0DC1FCA6E}" type="datetime'''''''''''''''''''''''I''''''''''''''''''P''''P'''''''''">
              <a:rPr lang="en-IN" altLang="en-US" sz="800" b="0" smtClean="0"/>
              <a:pPr lvl="1">
                <a:spcBef>
                  <a:spcPct val="0"/>
                </a:spcBef>
                <a:spcAft>
                  <a:spcPct val="0"/>
                </a:spcAft>
              </a:pPr>
              <a:t>IPP</a:t>
            </a:fld>
            <a:endParaRPr lang="en-IN" sz="800" b="0" noProof="0" dirty="0">
              <a:sym typeface="+mn-lt"/>
            </a:endParaRPr>
          </a:p>
        </p:txBody>
      </p:sp>
      <p:sp>
        <p:nvSpPr>
          <p:cNvPr id="225" name="StandardTextbox"/>
          <p:cNvSpPr>
            <a:spLocks noGrp="1"/>
          </p:cNvSpPr>
          <p:nvPr>
            <p:custDataLst>
              <p:tags r:id="rId14"/>
            </p:custDataLst>
          </p:nvPr>
        </p:nvSpPr>
        <p:spPr bwMode="auto">
          <a:xfrm>
            <a:off x="5775325" y="5819775"/>
            <a:ext cx="30003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243916E8-8CC5-41A7-B8B7-1E2F8A7DAE74}" type="datetime'''''''''''''''P''u''bl''''''''''''''''''''''''''i''''c'''''">
              <a:rPr lang="en-IN" altLang="en-US" sz="800" b="0" smtClean="0">
                <a:sym typeface="+mn-lt"/>
              </a:rPr>
              <a:pPr lvl="1">
                <a:spcBef>
                  <a:spcPct val="0"/>
                </a:spcBef>
                <a:spcAft>
                  <a:spcPct val="0"/>
                </a:spcAft>
              </a:pPr>
              <a:t>Public</a:t>
            </a:fld>
            <a:endParaRPr lang="en-IN" sz="800" b="0" noProof="0" dirty="0">
              <a:sym typeface="+mn-lt"/>
            </a:endParaRPr>
          </a:p>
        </p:txBody>
      </p:sp>
      <p:cxnSp>
        <p:nvCxnSpPr>
          <p:cNvPr id="230" name="Elbow Connector 229"/>
          <p:cNvCxnSpPr>
            <a:endCxn id="172" idx="1"/>
          </p:cNvCxnSpPr>
          <p:nvPr/>
        </p:nvCxnSpPr>
        <p:spPr>
          <a:xfrm rot="16200000" flipH="1">
            <a:off x="8538556" y="4051452"/>
            <a:ext cx="220895" cy="213775"/>
          </a:xfrm>
          <a:prstGeom prst="bentConnector2">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32" name="Elbow Connector 231"/>
          <p:cNvCxnSpPr>
            <a:endCxn id="174" idx="1"/>
          </p:cNvCxnSpPr>
          <p:nvPr/>
        </p:nvCxnSpPr>
        <p:spPr>
          <a:xfrm rot="16200000" flipH="1">
            <a:off x="7847323" y="3804530"/>
            <a:ext cx="1258473" cy="547929"/>
          </a:xfrm>
          <a:prstGeom prst="bentConnector2">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34" name="Elbow Connector 233"/>
          <p:cNvCxnSpPr>
            <a:endCxn id="176" idx="1"/>
          </p:cNvCxnSpPr>
          <p:nvPr/>
        </p:nvCxnSpPr>
        <p:spPr>
          <a:xfrm rot="16200000" flipH="1">
            <a:off x="7449629" y="3806259"/>
            <a:ext cx="1853970" cy="757016"/>
          </a:xfrm>
          <a:prstGeom prst="bentConnector2">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38" name="Rectangle 237"/>
          <p:cNvSpPr/>
          <p:nvPr/>
        </p:nvSpPr>
        <p:spPr bwMode="gray">
          <a:xfrm>
            <a:off x="7129908" y="5068888"/>
            <a:ext cx="702968" cy="201613"/>
          </a:xfrm>
          <a:prstGeom prst="rect">
            <a:avLst/>
          </a:prstGeom>
          <a:solidFill>
            <a:schemeClr val="accent2">
              <a:alpha val="38000"/>
            </a:schemeClr>
          </a:solidFill>
          <a:ln w="19050" algn="ctr">
            <a:noFill/>
            <a:miter lim="800000"/>
            <a:headEnd/>
            <a:tailEnd/>
          </a:ln>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ct val="106000"/>
              </a:lnSpc>
              <a:buFont typeface="Wingdings 2" pitchFamily="18" charset="2"/>
              <a:buNone/>
            </a:pPr>
            <a:r>
              <a:rPr lang="en-US" sz="700" dirty="0"/>
              <a:t>Bheramara 360 MW</a:t>
            </a:r>
            <a:endParaRPr lang="en-IN" sz="700" dirty="0"/>
          </a:p>
        </p:txBody>
      </p:sp>
      <p:sp>
        <p:nvSpPr>
          <p:cNvPr id="246" name="Rectangle 245"/>
          <p:cNvSpPr/>
          <p:nvPr/>
        </p:nvSpPr>
        <p:spPr bwMode="gray">
          <a:xfrm>
            <a:off x="7139113" y="4467225"/>
            <a:ext cx="701744" cy="254000"/>
          </a:xfrm>
          <a:prstGeom prst="rect">
            <a:avLst/>
          </a:prstGeom>
          <a:solidFill>
            <a:schemeClr val="accent2">
              <a:alpha val="38000"/>
            </a:schemeClr>
          </a:solidFill>
          <a:ln w="19050" algn="ctr">
            <a:noFill/>
            <a:miter lim="800000"/>
            <a:headEnd/>
            <a:tailEnd/>
          </a:ln>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ct val="106000"/>
              </a:lnSpc>
              <a:buFont typeface="Wingdings 2" pitchFamily="18" charset="2"/>
              <a:buNone/>
            </a:pPr>
            <a:r>
              <a:rPr lang="en-US" sz="700" dirty="0"/>
              <a:t>S.Ganj U1/U2 210/220 MW</a:t>
            </a:r>
            <a:endParaRPr lang="en-IN" sz="700" dirty="0"/>
          </a:p>
        </p:txBody>
      </p:sp>
      <p:sp>
        <p:nvSpPr>
          <p:cNvPr id="247" name="Rectangle 246"/>
          <p:cNvSpPr/>
          <p:nvPr/>
        </p:nvSpPr>
        <p:spPr bwMode="gray">
          <a:xfrm>
            <a:off x="6224291" y="2705100"/>
            <a:ext cx="699352" cy="201613"/>
          </a:xfrm>
          <a:prstGeom prst="rect">
            <a:avLst/>
          </a:prstGeom>
          <a:solidFill>
            <a:schemeClr val="accent3">
              <a:lumMod val="20000"/>
              <a:lumOff val="80000"/>
            </a:schemeClr>
          </a:solidFill>
          <a:ln w="19050" algn="ctr">
            <a:noFill/>
            <a:miter lim="800000"/>
            <a:headEnd/>
            <a:tailEnd/>
          </a:ln>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ct val="106000"/>
              </a:lnSpc>
              <a:buFont typeface="Wingdings 2" pitchFamily="18" charset="2"/>
              <a:buNone/>
            </a:pPr>
            <a:r>
              <a:rPr lang="en-US" sz="700" dirty="0"/>
              <a:t>Ghorashal 365 MW</a:t>
            </a:r>
            <a:endParaRPr lang="en-IN" sz="700" dirty="0"/>
          </a:p>
        </p:txBody>
      </p:sp>
      <p:cxnSp>
        <p:nvCxnSpPr>
          <p:cNvPr id="250" name="Elbow Connector 249"/>
          <p:cNvCxnSpPr>
            <a:endCxn id="238" idx="3"/>
          </p:cNvCxnSpPr>
          <p:nvPr/>
        </p:nvCxnSpPr>
        <p:spPr>
          <a:xfrm rot="16200000" flipH="1">
            <a:off x="6949753" y="4286571"/>
            <a:ext cx="1589089" cy="177157"/>
          </a:xfrm>
          <a:prstGeom prst="bentConnector4">
            <a:avLst>
              <a:gd name="adj1" fmla="val 3125"/>
              <a:gd name="adj2" fmla="val 168058"/>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56" name="Elbow Connector 255"/>
          <p:cNvCxnSpPr>
            <a:endCxn id="175" idx="3"/>
          </p:cNvCxnSpPr>
          <p:nvPr/>
        </p:nvCxnSpPr>
        <p:spPr>
          <a:xfrm rot="16200000" flipH="1">
            <a:off x="7264672" y="4327390"/>
            <a:ext cx="926855" cy="208477"/>
          </a:xfrm>
          <a:prstGeom prst="bentConnector4">
            <a:avLst>
              <a:gd name="adj1" fmla="val 21"/>
              <a:gd name="adj2" fmla="val 141177"/>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60" name="Elbow Connector 259"/>
          <p:cNvCxnSpPr>
            <a:endCxn id="188" idx="1"/>
          </p:cNvCxnSpPr>
          <p:nvPr/>
        </p:nvCxnSpPr>
        <p:spPr>
          <a:xfrm rot="5400000">
            <a:off x="7007217" y="4097328"/>
            <a:ext cx="325436" cy="49232"/>
          </a:xfrm>
          <a:prstGeom prst="bentConnector4">
            <a:avLst>
              <a:gd name="adj1" fmla="val -2220"/>
              <a:gd name="adj2" fmla="val 313554"/>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grpSp>
        <p:nvGrpSpPr>
          <p:cNvPr id="287" name="Group 286"/>
          <p:cNvGrpSpPr/>
          <p:nvPr/>
        </p:nvGrpSpPr>
        <p:grpSpPr>
          <a:xfrm>
            <a:off x="6674224" y="3724275"/>
            <a:ext cx="464889" cy="869949"/>
            <a:chOff x="6674224" y="3768342"/>
            <a:chExt cx="464889" cy="825881"/>
          </a:xfrm>
        </p:grpSpPr>
        <p:cxnSp>
          <p:nvCxnSpPr>
            <p:cNvPr id="276" name="Straight Connector 275"/>
            <p:cNvCxnSpPr/>
            <p:nvPr/>
          </p:nvCxnSpPr>
          <p:spPr>
            <a:xfrm>
              <a:off x="6674224" y="4003791"/>
              <a:ext cx="335491"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a:off x="6841969" y="3768342"/>
              <a:ext cx="0" cy="231569"/>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81" name="Elbow Connector 280"/>
            <p:cNvCxnSpPr>
              <a:endCxn id="246" idx="1"/>
            </p:cNvCxnSpPr>
            <p:nvPr/>
          </p:nvCxnSpPr>
          <p:spPr>
            <a:xfrm rot="16200000" flipH="1">
              <a:off x="6777159" y="4232270"/>
              <a:ext cx="590433" cy="133474"/>
            </a:xfrm>
            <a:prstGeom prst="bentConnector2">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grpSp>
      <p:cxnSp>
        <p:nvCxnSpPr>
          <p:cNvPr id="289" name="Elbow Connector 288"/>
          <p:cNvCxnSpPr>
            <a:endCxn id="189" idx="3"/>
          </p:cNvCxnSpPr>
          <p:nvPr/>
        </p:nvCxnSpPr>
        <p:spPr>
          <a:xfrm rot="10800000" flipV="1">
            <a:off x="6305123" y="4845426"/>
            <a:ext cx="446777" cy="283786"/>
          </a:xfrm>
          <a:prstGeom prst="bentConnector3">
            <a:avLst>
              <a:gd name="adj1" fmla="val 777"/>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93" name="Elbow Connector 292"/>
          <p:cNvCxnSpPr>
            <a:endCxn id="205" idx="3"/>
          </p:cNvCxnSpPr>
          <p:nvPr/>
        </p:nvCxnSpPr>
        <p:spPr>
          <a:xfrm rot="10800000" flipV="1">
            <a:off x="6306366" y="4802187"/>
            <a:ext cx="294354" cy="47625"/>
          </a:xfrm>
          <a:prstGeom prst="bentConnector3">
            <a:avLst>
              <a:gd name="adj1" fmla="val 192"/>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303" name="Straight Arrow Connector 302"/>
          <p:cNvCxnSpPr/>
          <p:nvPr/>
        </p:nvCxnSpPr>
        <p:spPr>
          <a:xfrm flipH="1">
            <a:off x="6291584" y="4530725"/>
            <a:ext cx="229827" cy="0"/>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312" name="Straight Arrow Connector 311"/>
          <p:cNvCxnSpPr>
            <a:endCxn id="190" idx="2"/>
          </p:cNvCxnSpPr>
          <p:nvPr/>
        </p:nvCxnSpPr>
        <p:spPr>
          <a:xfrm flipV="1">
            <a:off x="7306078" y="2906713"/>
            <a:ext cx="0" cy="123826"/>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317" name="Elbow Connector 316"/>
          <p:cNvCxnSpPr>
            <a:endCxn id="247" idx="2"/>
          </p:cNvCxnSpPr>
          <p:nvPr/>
        </p:nvCxnSpPr>
        <p:spPr>
          <a:xfrm rot="16200000" flipV="1">
            <a:off x="6563256" y="2917424"/>
            <a:ext cx="453094" cy="431672"/>
          </a:xfrm>
          <a:prstGeom prst="bentConnector3">
            <a:avLst>
              <a:gd name="adj1" fmla="val 50000"/>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327" name="Rectangle 326"/>
          <p:cNvSpPr/>
          <p:nvPr/>
        </p:nvSpPr>
        <p:spPr bwMode="gray">
          <a:xfrm>
            <a:off x="6014300" y="2301874"/>
            <a:ext cx="4208923" cy="319088"/>
          </a:xfrm>
          <a:prstGeom prst="rect">
            <a:avLst/>
          </a:prstGeom>
          <a:solidFill>
            <a:srgbClr val="C4D600">
              <a:alpha val="26000"/>
            </a:srgb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800" b="1" dirty="0"/>
              <a:t>High Efficiency (&gt;40%) / High PLF (&gt;60%) : Total 3,360 MW</a:t>
            </a:r>
            <a:endParaRPr lang="en-IN" sz="800" b="1" dirty="0"/>
          </a:p>
        </p:txBody>
      </p:sp>
      <p:sp>
        <p:nvSpPr>
          <p:cNvPr id="328" name="Rectangle 327"/>
          <p:cNvSpPr/>
          <p:nvPr/>
        </p:nvSpPr>
        <p:spPr bwMode="gray">
          <a:xfrm>
            <a:off x="785813" y="5572124"/>
            <a:ext cx="3502642" cy="1463675"/>
          </a:xfrm>
          <a:prstGeom prst="rect">
            <a:avLst/>
          </a:prstGeom>
          <a:solidFill>
            <a:schemeClr val="bg1">
              <a:lumMod val="75000"/>
              <a:alpha val="26000"/>
            </a:schemeClr>
          </a:solidFill>
          <a:ln w="19050" algn="ctr">
            <a:noFill/>
            <a:miter lim="800000"/>
            <a:headEnd/>
            <a:tailEnd/>
          </a:ln>
        </p:spPr>
        <p:txBody>
          <a:bodyPr wrap="square" lIns="88900" tIns="88900" rIns="88900" bIns="88900" rtlCol="0" anchor="t"/>
          <a:lstStyle/>
          <a:p>
            <a:pPr>
              <a:lnSpc>
                <a:spcPct val="101000"/>
              </a:lnSpc>
              <a:spcAft>
                <a:spcPts val="600"/>
              </a:spcAft>
            </a:pPr>
            <a:r>
              <a:rPr lang="en-US" sz="800" b="1" dirty="0"/>
              <a:t>Low Efficiency (&lt;33%) / Low PLF (&lt;40%): Total 3,320 MW</a:t>
            </a:r>
          </a:p>
          <a:p>
            <a:pPr marL="171450" indent="-171450">
              <a:lnSpc>
                <a:spcPct val="101000"/>
              </a:lnSpc>
              <a:spcAft>
                <a:spcPts val="600"/>
              </a:spcAft>
              <a:buFont typeface="Arial" panose="020B0604020202020204" pitchFamily="34" charset="0"/>
              <a:buChar char="•"/>
            </a:pPr>
            <a:r>
              <a:rPr lang="en-US" sz="800" dirty="0"/>
              <a:t>The above quadrant depicts the plants having Efficiency less than 33% and also with PLFs less than 40%</a:t>
            </a:r>
          </a:p>
          <a:p>
            <a:pPr marL="171450" indent="-171450">
              <a:lnSpc>
                <a:spcPct val="101000"/>
              </a:lnSpc>
              <a:spcAft>
                <a:spcPts val="600"/>
              </a:spcAft>
              <a:buFont typeface="Arial" panose="020B0604020202020204" pitchFamily="34" charset="0"/>
              <a:buChar char="•"/>
            </a:pPr>
            <a:r>
              <a:rPr lang="en-US" sz="800" dirty="0"/>
              <a:t>The total cumulative capacity of these plants are 3,320 MW (30% capacity) and generated 6,343 MUs in FY19 (13% of total gas based generation)</a:t>
            </a:r>
          </a:p>
          <a:p>
            <a:pPr marL="171450" indent="-171450">
              <a:lnSpc>
                <a:spcPct val="101000"/>
              </a:lnSpc>
              <a:spcAft>
                <a:spcPts val="600"/>
              </a:spcAft>
              <a:buFont typeface="Arial" panose="020B0604020202020204" pitchFamily="34" charset="0"/>
              <a:buChar char="•"/>
            </a:pPr>
            <a:r>
              <a:rPr lang="en-US" sz="800" dirty="0"/>
              <a:t>These plants consumed an estimated ~6 mmscmd of gas in FY19 (17% of the total gas allocation)</a:t>
            </a:r>
          </a:p>
        </p:txBody>
      </p:sp>
      <p:sp>
        <p:nvSpPr>
          <p:cNvPr id="331" name="Oval 330"/>
          <p:cNvSpPr/>
          <p:nvPr/>
        </p:nvSpPr>
        <p:spPr bwMode="gray">
          <a:xfrm>
            <a:off x="6345050" y="4125913"/>
            <a:ext cx="759270" cy="842963"/>
          </a:xfrm>
          <a:prstGeom prst="ellipse">
            <a:avLst/>
          </a:prstGeom>
          <a:noFill/>
          <a:ln w="19050" algn="ctr">
            <a:solidFill>
              <a:schemeClr val="accent5"/>
            </a:solidFill>
            <a:prstDash val="sysDash"/>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34" name="Rectangle 333"/>
          <p:cNvSpPr/>
          <p:nvPr/>
        </p:nvSpPr>
        <p:spPr bwMode="gray">
          <a:xfrm>
            <a:off x="7362325" y="5686424"/>
            <a:ext cx="2873951" cy="1099729"/>
          </a:xfrm>
          <a:prstGeom prst="rect">
            <a:avLst/>
          </a:prstGeom>
          <a:noFill/>
          <a:ln w="19050" algn="ctr">
            <a:solidFill>
              <a:schemeClr val="accent5"/>
            </a:solidFill>
            <a:prstDash val="dash"/>
            <a:miter lim="800000"/>
            <a:headEnd/>
            <a:tailEnd/>
          </a:ln>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lnSpc>
                <a:spcPct val="101000"/>
              </a:lnSpc>
              <a:spcAft>
                <a:spcPts val="600"/>
              </a:spcAft>
              <a:buFont typeface="Arial" panose="020B0604020202020204" pitchFamily="34" charset="0"/>
              <a:buChar char="•"/>
            </a:pPr>
            <a:r>
              <a:rPr lang="en-US" sz="800" dirty="0"/>
              <a:t>Summit 305 MW has been running at duel fuel with HFO due to gas shortage in FY16 and FY17. With increasing gas availability, it is expected to ramp up dispatch</a:t>
            </a:r>
          </a:p>
          <a:p>
            <a:pPr marL="171450" indent="-171450">
              <a:lnSpc>
                <a:spcPct val="101000"/>
              </a:lnSpc>
              <a:spcAft>
                <a:spcPts val="600"/>
              </a:spcAft>
              <a:buFont typeface="Arial" panose="020B0604020202020204" pitchFamily="34" charset="0"/>
              <a:buChar char="•"/>
            </a:pPr>
            <a:r>
              <a:rPr lang="en-US" sz="800" dirty="0"/>
              <a:t>Sembcorp 282 MW was commissioned in October 2018 and is expected to ramp up dispatch from FY20 onwards</a:t>
            </a:r>
            <a:endParaRPr lang="en-IN" sz="800" dirty="0"/>
          </a:p>
        </p:txBody>
      </p:sp>
      <p:cxnSp>
        <p:nvCxnSpPr>
          <p:cNvPr id="336" name="Elbow Connector 335"/>
          <p:cNvCxnSpPr>
            <a:stCxn id="331" idx="5"/>
            <a:endCxn id="334" idx="1"/>
          </p:cNvCxnSpPr>
          <p:nvPr/>
        </p:nvCxnSpPr>
        <p:spPr>
          <a:xfrm rot="16200000" flipH="1">
            <a:off x="6482295" y="5356259"/>
            <a:ext cx="1390862" cy="369198"/>
          </a:xfrm>
          <a:prstGeom prst="bentConnector2">
            <a:avLst/>
          </a:prstGeom>
          <a:ln>
            <a:solidFill>
              <a:schemeClr val="accent5"/>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375" name="Right Arrow 374"/>
          <p:cNvSpPr/>
          <p:nvPr/>
        </p:nvSpPr>
        <p:spPr bwMode="gray">
          <a:xfrm>
            <a:off x="4378686" y="6395056"/>
            <a:ext cx="2815865" cy="400459"/>
          </a:xfrm>
          <a:prstGeom prst="rightArrow">
            <a:avLst/>
          </a:pr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76" name="Rectangle 375"/>
          <p:cNvSpPr/>
          <p:nvPr/>
        </p:nvSpPr>
        <p:spPr bwMode="gray">
          <a:xfrm>
            <a:off x="4878388" y="6271426"/>
            <a:ext cx="1729548" cy="247260"/>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700" b="1" dirty="0"/>
              <a:t>Potential for Gas Allocation</a:t>
            </a:r>
            <a:endParaRPr lang="en-IN" sz="700" b="1" dirty="0"/>
          </a:p>
        </p:txBody>
      </p:sp>
      <p:sp>
        <p:nvSpPr>
          <p:cNvPr id="68" name="Rectangle 67"/>
          <p:cNvSpPr/>
          <p:nvPr/>
        </p:nvSpPr>
        <p:spPr bwMode="gray">
          <a:xfrm>
            <a:off x="377227" y="7260740"/>
            <a:ext cx="9792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BPDB, Deloitte Analysis Note: 1) The graphs above contain only plants operational in FY19 as per BPDB Annual Report 2) Size of the Bubbles on the graph depict the Installed Capacity of the Plant</a:t>
            </a:r>
          </a:p>
        </p:txBody>
      </p:sp>
    </p:spTree>
    <p:extLst>
      <p:ext uri="{BB962C8B-B14F-4D97-AF65-F5344CB8AC3E}">
        <p14:creationId xmlns:p14="http://schemas.microsoft.com/office/powerpoint/2010/main" val="2106794124"/>
      </p:ext>
    </p:extLst>
  </p:cSld>
  <p:clrMapOvr>
    <a:masterClrMapping/>
  </p:clrMapOvr>
  <p:transition>
    <p:fade/>
  </p:transition>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193313068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3" imgW="530" imgH="531" progId="TCLayout.ActiveDocument.1">
                  <p:embed/>
                </p:oleObj>
              </mc:Choice>
              <mc:Fallback>
                <p:oleObj name="think-cell Slide" r:id="rId13" imgW="530" imgH="531" progId="TCLayout.ActiveDocument.1">
                  <p:embed/>
                  <p:pic>
                    <p:nvPicPr>
                      <p:cNvPr id="4" name="Object 3" hidden="1"/>
                      <p:cNvPicPr/>
                      <p:nvPr/>
                    </p:nvPicPr>
                    <p:blipFill>
                      <a:blip r:embed="rId14"/>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1202540596"/>
              </p:ext>
            </p:extLst>
          </p:nvPr>
        </p:nvGraphicFramePr>
        <p:xfrm>
          <a:off x="5533126" y="1961918"/>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graph shows the gas-plant wise efficiency (%) and PLF (%) in Bangladesh in FY19 for Private Producers</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Following table shows the Installed Capacity (MW) and COD (as per PSMP) for Rental Plants which continue to operate beyond FY19</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dirty="0">
                <a:solidFill>
                  <a:prstClr val="black">
                    <a:lumMod val="50000"/>
                    <a:lumOff val="50000"/>
                  </a:prstClr>
                </a:solidFill>
                <a:latin typeface="Verdana" panose="020B0604030504040204" pitchFamily="34" charset="0"/>
              </a:rPr>
              <a:t>Re-allocation of gas from in-efficient rental plants in Bangladesh could allow IPP/SIPPs to achieve ~75-77% annual dispatch levels ensuring optimum utilization of Gas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1410667343"/>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lgn="just">
                        <a:spcAft>
                          <a:spcPts val="500"/>
                        </a:spcAft>
                        <a:buFont typeface="Arial" panose="020B0604020202020204" pitchFamily="34" charset="0"/>
                        <a:buNone/>
                      </a:pPr>
                      <a:r>
                        <a:rPr lang="en-US" sz="1000" b="1" baseline="0" dirty="0">
                          <a:solidFill>
                            <a:schemeClr val="tx1"/>
                          </a:solidFill>
                        </a:rPr>
                        <a:t>PLF &amp; Efficiency for Gas Based Power Plants of Private Producers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overall gas consumption by IPPs/SIPPs in FY19 was tentatively ~10 mmscmd which led to net generation of ~13,000 MUs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On the other the rental plants consumed ~3 mmscmd and generated ~3,200 MUs in FY19</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Most of the rental plants are smaller in size (~50 MW) and run under single cycle mode and thus lead to lower efficient utilization of gas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These rental plants were commissioned to meet the rising energy deficit in Bangladesh during the early 2010s and were contracted to be operated for an initial period of ~5 years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However most of the rental power plants are yet to be retired as the GoB has allowed these plants to operate to meet the power demand</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i="0" kern="1200" baseline="0" dirty="0">
                          <a:solidFill>
                            <a:schemeClr val="tx1"/>
                          </a:solidFill>
                          <a:latin typeface="+mn-lt"/>
                          <a:ea typeface="+mn-ea"/>
                          <a:cs typeface="+mn-cs"/>
                        </a:rPr>
                        <a:t>We expect these plants to continue to operate for the next 2-3 years with retirements / replacements occurring from FY23 due to their old age and inefficiency</a:t>
                      </a:r>
                    </a:p>
                    <a:p>
                      <a:pPr marL="0" marR="0" lvl="0" indent="0" algn="ctr" defTabSz="990571" rtl="0" eaLnBrk="1" fontAlgn="auto" latinLnBrk="0" hangingPunct="1">
                        <a:lnSpc>
                          <a:spcPct val="100000"/>
                        </a:lnSpc>
                        <a:spcBef>
                          <a:spcPts val="600"/>
                        </a:spcBef>
                        <a:spcAft>
                          <a:spcPts val="500"/>
                        </a:spcAft>
                        <a:buClrTx/>
                        <a:buSzTx/>
                        <a:buFont typeface="Arial" panose="020B0604020202020204" pitchFamily="34" charset="0"/>
                        <a:buNone/>
                        <a:tabLst/>
                        <a:defRPr/>
                      </a:pPr>
                      <a:r>
                        <a:rPr lang="en-US" sz="1400" b="1" i="1" kern="1200" dirty="0">
                          <a:solidFill>
                            <a:srgbClr val="0097A9"/>
                          </a:solidFill>
                          <a:latin typeface="+mn-lt"/>
                          <a:ea typeface="+mn-ea"/>
                          <a:cs typeface="+mn-cs"/>
                        </a:rPr>
                        <a:t>In case of retirement and re-allocation of gas from these rental plants to IPP/SIPPs based efficient units, the average PLF of IPP / SIPPs can move from ~67% in FY19 to ~75%-77% by FY26</a:t>
                      </a: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1"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7" name="Chart 16"/>
          <p:cNvGraphicFramePr/>
          <p:nvPr>
            <p:custDataLst>
              <p:tags r:id="rId5"/>
            </p:custDataLst>
            <p:extLst>
              <p:ext uri="{D42A27DB-BD31-4B8C-83A1-F6EECF244321}">
                <p14:modId xmlns:p14="http://schemas.microsoft.com/office/powerpoint/2010/main" val="2487716686"/>
              </p:ext>
            </p:extLst>
          </p:nvPr>
        </p:nvGraphicFramePr>
        <p:xfrm>
          <a:off x="5381625" y="2617788"/>
          <a:ext cx="5054600" cy="1454150"/>
        </p:xfrm>
        <a:graphic>
          <a:graphicData uri="http://schemas.openxmlformats.org/drawingml/2006/chart">
            <c:chart xmlns:c="http://schemas.openxmlformats.org/drawingml/2006/chart" xmlns:r="http://schemas.openxmlformats.org/officeDocument/2006/relationships" r:id="rId15"/>
          </a:graphicData>
        </a:graphic>
      </p:graphicFrame>
      <p:sp>
        <p:nvSpPr>
          <p:cNvPr id="159" name="StandardTextbox"/>
          <p:cNvSpPr>
            <a:spLocks noGrp="1"/>
          </p:cNvSpPr>
          <p:nvPr>
            <p:custDataLst>
              <p:tags r:id="rId6"/>
            </p:custDataLst>
          </p:nvPr>
        </p:nvSpPr>
        <p:spPr bwMode="auto">
          <a:xfrm>
            <a:off x="9501188" y="4111625"/>
            <a:ext cx="8128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r>
              <a:rPr lang="en-IN" altLang="en-US" sz="900" b="0" dirty="0">
                <a:sym typeface="+mn-lt"/>
              </a:rPr>
              <a:t>Efficiency (%)</a:t>
            </a:r>
            <a:endParaRPr lang="en-IN" sz="900" b="0" noProof="0" dirty="0">
              <a:sym typeface="+mn-lt"/>
            </a:endParaRPr>
          </a:p>
        </p:txBody>
      </p:sp>
      <p:sp>
        <p:nvSpPr>
          <p:cNvPr id="160" name="StandardTextbox"/>
          <p:cNvSpPr>
            <a:spLocks noGrp="1"/>
          </p:cNvSpPr>
          <p:nvPr>
            <p:custDataLst>
              <p:tags r:id="rId7"/>
            </p:custDataLst>
          </p:nvPr>
        </p:nvSpPr>
        <p:spPr bwMode="auto">
          <a:xfrm>
            <a:off x="5575300" y="2411413"/>
            <a:ext cx="46355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r>
              <a:rPr lang="en-IN" altLang="en-US" sz="900" b="0" dirty="0">
                <a:sym typeface="+mn-lt"/>
              </a:rPr>
              <a:t>PLF (%)</a:t>
            </a:r>
            <a:endParaRPr lang="en-IN" sz="900" b="0" noProof="0" dirty="0">
              <a:sym typeface="+mn-lt"/>
            </a:endParaRPr>
          </a:p>
        </p:txBody>
      </p:sp>
      <p:sp>
        <p:nvSpPr>
          <p:cNvPr id="268" name="Oval 267"/>
          <p:cNvSpPr/>
          <p:nvPr>
            <p:custDataLst>
              <p:tags r:id="rId8"/>
            </p:custDataLst>
          </p:nvPr>
        </p:nvSpPr>
        <p:spPr bwMode="auto">
          <a:xfrm>
            <a:off x="7329488" y="4114800"/>
            <a:ext cx="107950" cy="107950"/>
          </a:xfrm>
          <a:prstGeom prst="ellipse">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7" name="Oval 6"/>
          <p:cNvSpPr/>
          <p:nvPr>
            <p:custDataLst>
              <p:tags r:id="rId9"/>
            </p:custDataLst>
          </p:nvPr>
        </p:nvSpPr>
        <p:spPr bwMode="auto">
          <a:xfrm>
            <a:off x="8140700" y="4114800"/>
            <a:ext cx="107950" cy="107950"/>
          </a:xfrm>
          <a:prstGeom prst="ellipse">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64" name="StandardTextbox"/>
          <p:cNvSpPr>
            <a:spLocks noGrp="1"/>
          </p:cNvSpPr>
          <p:nvPr>
            <p:custDataLst>
              <p:tags r:id="rId10"/>
            </p:custDataLst>
          </p:nvPr>
        </p:nvSpPr>
        <p:spPr bwMode="auto">
          <a:xfrm>
            <a:off x="7505700" y="4111625"/>
            <a:ext cx="51593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B0A9A301-ED90-476A-8C76-1CEFDDD5769D}" type="datetime'''''''''''''''''R''P''''P''''''/''''''Q''R''''PP'''''''''''''">
              <a:rPr lang="en-IN" altLang="en-US" sz="800" b="0" smtClean="0"/>
              <a:pPr lvl="1">
                <a:spcBef>
                  <a:spcPct val="0"/>
                </a:spcBef>
                <a:spcAft>
                  <a:spcPct val="0"/>
                </a:spcAft>
              </a:pPr>
              <a:t>RPP/QRPP</a:t>
            </a:fld>
            <a:endParaRPr lang="en-IN" sz="800" b="0" noProof="0" dirty="0">
              <a:sym typeface="+mn-lt"/>
            </a:endParaRPr>
          </a:p>
        </p:txBody>
      </p:sp>
      <p:sp>
        <p:nvSpPr>
          <p:cNvPr id="71" name="StandardTextbox"/>
          <p:cNvSpPr>
            <a:spLocks noGrp="1"/>
          </p:cNvSpPr>
          <p:nvPr>
            <p:custDataLst>
              <p:tags r:id="rId11"/>
            </p:custDataLst>
          </p:nvPr>
        </p:nvSpPr>
        <p:spPr bwMode="auto">
          <a:xfrm>
            <a:off x="8316913" y="4111625"/>
            <a:ext cx="52228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690A40DA-62C7-4832-B76E-C9BA5B793F2D}" type="datetime'''''I''''P''''''''P'''''' ''/'''' S''''''''I''''PP'">
              <a:rPr lang="en-US" altLang="en-US" sz="800" b="0" smtClean="0"/>
              <a:pPr lvl="1">
                <a:spcBef>
                  <a:spcPct val="0"/>
                </a:spcBef>
                <a:spcAft>
                  <a:spcPct val="0"/>
                </a:spcAft>
              </a:pPr>
              <a:t>IPP / SIPP</a:t>
            </a:fld>
            <a:endParaRPr lang="en-IN" sz="800" b="0" noProof="0" dirty="0">
              <a:sym typeface="+mn-lt"/>
            </a:endParaRPr>
          </a:p>
        </p:txBody>
      </p:sp>
      <p:sp>
        <p:nvSpPr>
          <p:cNvPr id="102" name="Title 1"/>
          <p:cNvSpPr>
            <a:spLocks noGrp="1"/>
          </p:cNvSpPr>
          <p:nvPr>
            <p:ph type="title"/>
          </p:nvPr>
        </p:nvSpPr>
        <p:spPr>
          <a:xfrm>
            <a:off x="449264" y="647700"/>
            <a:ext cx="9791700" cy="431800"/>
          </a:xfrm>
        </p:spPr>
        <p:txBody>
          <a:bodyPr/>
          <a:lstStyle/>
          <a:p>
            <a:r>
              <a:rPr lang="en-US" dirty="0"/>
              <a:t>Power Market | Plant Dispatchability</a:t>
            </a:r>
            <a:endParaRPr lang="en-IN" dirty="0"/>
          </a:p>
        </p:txBody>
      </p:sp>
      <p:sp>
        <p:nvSpPr>
          <p:cNvPr id="147" name="Rectangle 146"/>
          <p:cNvSpPr/>
          <p:nvPr/>
        </p:nvSpPr>
        <p:spPr bwMode="gray">
          <a:xfrm>
            <a:off x="330393" y="7293168"/>
            <a:ext cx="10155845"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BPDB, PSMP 2016 Deloitte Analysis Note 1) The PLF estimation based on re-allocation of gas from rental and quick rental plants to IPP / SIPP plants having efficiency higher than ~40% in FY19 2) Size of the Bubbles on the graph depict the Installed Capacity of the Plant</a:t>
            </a:r>
          </a:p>
        </p:txBody>
      </p:sp>
      <p:graphicFrame>
        <p:nvGraphicFramePr>
          <p:cNvPr id="8" name="Table 7"/>
          <p:cNvGraphicFramePr>
            <a:graphicFrameLocks noGrp="1"/>
          </p:cNvGraphicFramePr>
          <p:nvPr>
            <p:extLst>
              <p:ext uri="{D42A27DB-BD31-4B8C-83A1-F6EECF244321}">
                <p14:modId xmlns:p14="http://schemas.microsoft.com/office/powerpoint/2010/main" val="1510276388"/>
              </p:ext>
            </p:extLst>
          </p:nvPr>
        </p:nvGraphicFramePr>
        <p:xfrm>
          <a:off x="5533126" y="4887316"/>
          <a:ext cx="4707838" cy="2133120"/>
        </p:xfrm>
        <a:graphic>
          <a:graphicData uri="http://schemas.openxmlformats.org/drawingml/2006/table">
            <a:tbl>
              <a:tblPr firstRow="1" bandRow="1">
                <a:tableStyleId>{69012ECD-51FC-41F1-AA8D-1B2483CD663E}</a:tableStyleId>
              </a:tblPr>
              <a:tblGrid>
                <a:gridCol w="685974">
                  <a:extLst>
                    <a:ext uri="{9D8B030D-6E8A-4147-A177-3AD203B41FA5}">
                      <a16:colId xmlns:a16="http://schemas.microsoft.com/office/drawing/2014/main" val="2337083287"/>
                    </a:ext>
                  </a:extLst>
                </a:gridCol>
                <a:gridCol w="2116496">
                  <a:extLst>
                    <a:ext uri="{9D8B030D-6E8A-4147-A177-3AD203B41FA5}">
                      <a16:colId xmlns:a16="http://schemas.microsoft.com/office/drawing/2014/main" val="3264997366"/>
                    </a:ext>
                  </a:extLst>
                </a:gridCol>
                <a:gridCol w="1208282">
                  <a:extLst>
                    <a:ext uri="{9D8B030D-6E8A-4147-A177-3AD203B41FA5}">
                      <a16:colId xmlns:a16="http://schemas.microsoft.com/office/drawing/2014/main" val="1826928251"/>
                    </a:ext>
                  </a:extLst>
                </a:gridCol>
                <a:gridCol w="697086">
                  <a:extLst>
                    <a:ext uri="{9D8B030D-6E8A-4147-A177-3AD203B41FA5}">
                      <a16:colId xmlns:a16="http://schemas.microsoft.com/office/drawing/2014/main" val="495299776"/>
                    </a:ext>
                  </a:extLst>
                </a:gridCol>
              </a:tblGrid>
              <a:tr h="184794">
                <a:tc>
                  <a:txBody>
                    <a:bodyPr/>
                    <a:lstStyle/>
                    <a:p>
                      <a:pPr algn="l" fontAlgn="b"/>
                      <a:r>
                        <a:rPr lang="en-IN" sz="800" u="none" strike="noStrike" dirty="0">
                          <a:effectLst/>
                          <a:latin typeface="+mn-lt"/>
                        </a:rPr>
                        <a:t>Sl. No.</a:t>
                      </a:r>
                      <a:endParaRPr lang="en-IN" sz="800" b="0" i="0" u="none" strike="noStrike" dirty="0">
                        <a:solidFill>
                          <a:srgbClr val="000000"/>
                        </a:solidFill>
                        <a:effectLst/>
                        <a:latin typeface="+mn-lt"/>
                      </a:endParaRPr>
                    </a:p>
                  </a:txBody>
                  <a:tcPr marL="36000" marR="36000" marT="36000" marB="36000" anchor="ctr"/>
                </a:tc>
                <a:tc>
                  <a:txBody>
                    <a:bodyPr/>
                    <a:lstStyle/>
                    <a:p>
                      <a:pPr algn="l" fontAlgn="ctr"/>
                      <a:r>
                        <a:rPr lang="en-IN" sz="800" u="none" strike="noStrike" dirty="0">
                          <a:effectLst/>
                          <a:latin typeface="+mn-lt"/>
                        </a:rPr>
                        <a:t>Particulars</a:t>
                      </a:r>
                      <a:endParaRPr lang="en-IN" sz="800" b="1" i="0" u="none" strike="noStrike" dirty="0">
                        <a:solidFill>
                          <a:srgbClr val="000000"/>
                        </a:solidFill>
                        <a:effectLst/>
                        <a:latin typeface="+mn-lt"/>
                      </a:endParaRPr>
                    </a:p>
                  </a:txBody>
                  <a:tcPr marL="36000" marR="36000" marT="36000" marB="36000" anchor="ctr"/>
                </a:tc>
                <a:tc>
                  <a:txBody>
                    <a:bodyPr/>
                    <a:lstStyle/>
                    <a:p>
                      <a:pPr algn="ctr" fontAlgn="ctr"/>
                      <a:r>
                        <a:rPr lang="en-IN" sz="800" u="none" strike="noStrike" dirty="0">
                          <a:effectLst/>
                          <a:latin typeface="+mn-lt"/>
                        </a:rPr>
                        <a:t>Installed Capacity</a:t>
                      </a:r>
                      <a:endParaRPr lang="en-IN" sz="800" b="1" i="0" u="none" strike="noStrike" dirty="0">
                        <a:solidFill>
                          <a:srgbClr val="000000"/>
                        </a:solidFill>
                        <a:effectLst/>
                        <a:latin typeface="+mn-lt"/>
                      </a:endParaRPr>
                    </a:p>
                  </a:txBody>
                  <a:tcPr marL="36000" marR="36000" marT="36000" marB="36000" anchor="ctr"/>
                </a:tc>
                <a:tc>
                  <a:txBody>
                    <a:bodyPr/>
                    <a:lstStyle/>
                    <a:p>
                      <a:pPr algn="ctr" fontAlgn="ctr"/>
                      <a:r>
                        <a:rPr lang="en-IN" sz="800" u="none" strike="noStrike" dirty="0">
                          <a:effectLst/>
                          <a:latin typeface="+mn-lt"/>
                        </a:rPr>
                        <a:t>COD</a:t>
                      </a:r>
                      <a:endParaRPr lang="en-IN" sz="800" b="1" i="0" u="none" strike="noStrike" dirty="0">
                        <a:solidFill>
                          <a:srgbClr val="000000"/>
                        </a:solidFill>
                        <a:effectLst/>
                        <a:latin typeface="+mn-lt"/>
                      </a:endParaRPr>
                    </a:p>
                  </a:txBody>
                  <a:tcPr marL="36000" marR="36000" marT="36000" marB="36000" anchor="ctr"/>
                </a:tc>
                <a:extLst>
                  <a:ext uri="{0D108BD9-81ED-4DB2-BD59-A6C34878D82A}">
                    <a16:rowId xmlns:a16="http://schemas.microsoft.com/office/drawing/2014/main" val="2470724716"/>
                  </a:ext>
                </a:extLst>
              </a:tr>
              <a:tr h="113460">
                <a:tc>
                  <a:txBody>
                    <a:bodyPr/>
                    <a:lstStyle/>
                    <a:p>
                      <a:pPr algn="r" fontAlgn="b"/>
                      <a:r>
                        <a:rPr lang="en-US" sz="800" u="none" strike="noStrike" dirty="0">
                          <a:effectLst/>
                          <a:latin typeface="+mn-lt"/>
                        </a:rPr>
                        <a:t>1</a:t>
                      </a:r>
                      <a:endParaRPr lang="en-IN" sz="800" b="0" i="0" u="none" strike="noStrike" dirty="0">
                        <a:solidFill>
                          <a:srgbClr val="000000"/>
                        </a:solidFill>
                        <a:effectLst/>
                        <a:latin typeface="+mn-lt"/>
                      </a:endParaRPr>
                    </a:p>
                  </a:txBody>
                  <a:tcPr marL="36000" marR="36000" marT="36000" marB="36000" anchor="b"/>
                </a:tc>
                <a:tc>
                  <a:txBody>
                    <a:bodyPr/>
                    <a:lstStyle/>
                    <a:p>
                      <a:pPr algn="l" fontAlgn="ctr"/>
                      <a:r>
                        <a:rPr lang="en-IN" sz="800" u="none" strike="noStrike" dirty="0">
                          <a:effectLst/>
                          <a:latin typeface="+mn-lt"/>
                        </a:rPr>
                        <a:t>Aggreko. (85MW)</a:t>
                      </a:r>
                      <a:endParaRPr lang="en-IN" sz="800" b="0" i="0" u="none" strike="noStrike" dirty="0">
                        <a:solidFill>
                          <a:srgbClr val="000000"/>
                        </a:solidFill>
                        <a:effectLst/>
                        <a:latin typeface="+mn-lt"/>
                      </a:endParaRPr>
                    </a:p>
                  </a:txBody>
                  <a:tcPr marL="36000" marR="36000" marT="36000" marB="36000" anchor="ctr"/>
                </a:tc>
                <a:tc>
                  <a:txBody>
                    <a:bodyPr/>
                    <a:lstStyle/>
                    <a:p>
                      <a:pPr algn="ctr" fontAlgn="ctr"/>
                      <a:r>
                        <a:rPr lang="en-IN" sz="800" u="none" strike="noStrike" dirty="0">
                          <a:effectLst/>
                          <a:latin typeface="+mn-lt"/>
                        </a:rPr>
                        <a:t>85 MW</a:t>
                      </a:r>
                      <a:endParaRPr lang="en-IN" sz="800" b="0" i="0" u="none" strike="noStrike" dirty="0">
                        <a:solidFill>
                          <a:srgbClr val="000000"/>
                        </a:solidFill>
                        <a:effectLst/>
                        <a:latin typeface="+mn-lt"/>
                      </a:endParaRPr>
                    </a:p>
                  </a:txBody>
                  <a:tcPr marL="36000" marR="36000" marT="36000" marB="36000" anchor="ctr"/>
                </a:tc>
                <a:tc>
                  <a:txBody>
                    <a:bodyPr/>
                    <a:lstStyle/>
                    <a:p>
                      <a:pPr algn="ctr" fontAlgn="b"/>
                      <a:r>
                        <a:rPr lang="en-IN" sz="800" u="none" strike="noStrike" dirty="0">
                          <a:effectLst/>
                          <a:latin typeface="+mn-lt"/>
                        </a:rPr>
                        <a:t>2011</a:t>
                      </a:r>
                      <a:endParaRPr lang="en-IN" sz="800" b="0" i="0" u="none" strike="noStrike" dirty="0">
                        <a:solidFill>
                          <a:srgbClr val="000000"/>
                        </a:solidFill>
                        <a:effectLst/>
                        <a:latin typeface="+mn-lt"/>
                      </a:endParaRPr>
                    </a:p>
                  </a:txBody>
                  <a:tcPr marL="36000" marR="36000" marT="36000" marB="36000" anchor="b"/>
                </a:tc>
                <a:extLst>
                  <a:ext uri="{0D108BD9-81ED-4DB2-BD59-A6C34878D82A}">
                    <a16:rowId xmlns:a16="http://schemas.microsoft.com/office/drawing/2014/main" val="2067345640"/>
                  </a:ext>
                </a:extLst>
              </a:tr>
              <a:tr h="113460">
                <a:tc>
                  <a:txBody>
                    <a:bodyPr/>
                    <a:lstStyle/>
                    <a:p>
                      <a:pPr algn="r" fontAlgn="b"/>
                      <a:r>
                        <a:rPr lang="en-US" sz="800" u="none" strike="noStrike" dirty="0">
                          <a:effectLst/>
                          <a:latin typeface="+mn-lt"/>
                        </a:rPr>
                        <a:t>2</a:t>
                      </a:r>
                      <a:endParaRPr lang="en-IN" sz="800" b="0" i="0" u="none" strike="noStrike" dirty="0">
                        <a:solidFill>
                          <a:srgbClr val="000000"/>
                        </a:solidFill>
                        <a:effectLst/>
                        <a:latin typeface="+mn-lt"/>
                      </a:endParaRPr>
                    </a:p>
                  </a:txBody>
                  <a:tcPr marL="36000" marR="36000" marT="36000" marB="36000" anchor="b"/>
                </a:tc>
                <a:tc>
                  <a:txBody>
                    <a:bodyPr/>
                    <a:lstStyle/>
                    <a:p>
                      <a:pPr algn="l" fontAlgn="ctr"/>
                      <a:r>
                        <a:rPr lang="en-IN" sz="800" u="none" strike="noStrike" dirty="0">
                          <a:effectLst/>
                          <a:latin typeface="+mn-lt"/>
                        </a:rPr>
                        <a:t>Aggreko (95MW)</a:t>
                      </a:r>
                      <a:endParaRPr lang="en-IN" sz="800" b="0" i="0" u="none" strike="noStrike" dirty="0">
                        <a:solidFill>
                          <a:srgbClr val="000000"/>
                        </a:solidFill>
                        <a:effectLst/>
                        <a:latin typeface="+mn-lt"/>
                      </a:endParaRPr>
                    </a:p>
                  </a:txBody>
                  <a:tcPr marL="36000" marR="36000" marT="36000" marB="36000" anchor="ctr"/>
                </a:tc>
                <a:tc>
                  <a:txBody>
                    <a:bodyPr/>
                    <a:lstStyle/>
                    <a:p>
                      <a:pPr algn="ctr" fontAlgn="ctr"/>
                      <a:r>
                        <a:rPr lang="en-IN" sz="800" u="none" strike="noStrike" dirty="0">
                          <a:effectLst/>
                          <a:latin typeface="+mn-lt"/>
                        </a:rPr>
                        <a:t>95 MW</a:t>
                      </a:r>
                      <a:endParaRPr lang="en-IN" sz="800" b="0" i="0" u="none" strike="noStrike" dirty="0">
                        <a:solidFill>
                          <a:srgbClr val="000000"/>
                        </a:solidFill>
                        <a:effectLst/>
                        <a:latin typeface="+mn-lt"/>
                      </a:endParaRPr>
                    </a:p>
                  </a:txBody>
                  <a:tcPr marL="36000" marR="36000" marT="36000" marB="36000" anchor="ctr"/>
                </a:tc>
                <a:tc>
                  <a:txBody>
                    <a:bodyPr/>
                    <a:lstStyle/>
                    <a:p>
                      <a:pPr algn="ctr" fontAlgn="b"/>
                      <a:r>
                        <a:rPr lang="en-IN" sz="800" u="none" strike="noStrike" dirty="0">
                          <a:effectLst/>
                          <a:latin typeface="+mn-lt"/>
                        </a:rPr>
                        <a:t>2011</a:t>
                      </a:r>
                      <a:endParaRPr lang="en-IN" sz="800" b="0" i="0" u="none" strike="noStrike" dirty="0">
                        <a:solidFill>
                          <a:srgbClr val="000000"/>
                        </a:solidFill>
                        <a:effectLst/>
                        <a:latin typeface="+mn-lt"/>
                      </a:endParaRPr>
                    </a:p>
                  </a:txBody>
                  <a:tcPr marL="36000" marR="36000" marT="36000" marB="36000" anchor="b"/>
                </a:tc>
                <a:extLst>
                  <a:ext uri="{0D108BD9-81ED-4DB2-BD59-A6C34878D82A}">
                    <a16:rowId xmlns:a16="http://schemas.microsoft.com/office/drawing/2014/main" val="3480534444"/>
                  </a:ext>
                </a:extLst>
              </a:tr>
              <a:tr h="113460">
                <a:tc>
                  <a:txBody>
                    <a:bodyPr/>
                    <a:lstStyle/>
                    <a:p>
                      <a:pPr algn="r" fontAlgn="b"/>
                      <a:r>
                        <a:rPr lang="en-US" sz="800" u="none" strike="noStrike" dirty="0">
                          <a:effectLst/>
                          <a:latin typeface="+mn-lt"/>
                        </a:rPr>
                        <a:t>3</a:t>
                      </a:r>
                      <a:endParaRPr lang="en-IN" sz="800" b="0" i="0" u="none" strike="noStrike" dirty="0">
                        <a:solidFill>
                          <a:srgbClr val="000000"/>
                        </a:solidFill>
                        <a:effectLst/>
                        <a:latin typeface="+mn-lt"/>
                      </a:endParaRPr>
                    </a:p>
                  </a:txBody>
                  <a:tcPr marL="36000" marR="36000" marT="36000" marB="36000" anchor="b"/>
                </a:tc>
                <a:tc>
                  <a:txBody>
                    <a:bodyPr/>
                    <a:lstStyle/>
                    <a:p>
                      <a:pPr algn="l" fontAlgn="ctr"/>
                      <a:r>
                        <a:rPr lang="en-IN" sz="800" u="none" strike="noStrike" dirty="0">
                          <a:effectLst/>
                          <a:latin typeface="+mn-lt"/>
                        </a:rPr>
                        <a:t>Energyprima Kumargaon</a:t>
                      </a:r>
                      <a:endParaRPr lang="en-IN" sz="800" b="0" i="0" u="none" strike="noStrike" dirty="0">
                        <a:solidFill>
                          <a:srgbClr val="000000"/>
                        </a:solidFill>
                        <a:effectLst/>
                        <a:latin typeface="+mn-lt"/>
                      </a:endParaRPr>
                    </a:p>
                  </a:txBody>
                  <a:tcPr marL="36000" marR="36000" marT="36000" marB="36000" anchor="ctr"/>
                </a:tc>
                <a:tc>
                  <a:txBody>
                    <a:bodyPr/>
                    <a:lstStyle/>
                    <a:p>
                      <a:pPr algn="ctr" fontAlgn="ctr"/>
                      <a:r>
                        <a:rPr lang="en-IN" sz="800" u="none" strike="noStrike" dirty="0">
                          <a:effectLst/>
                          <a:latin typeface="+mn-lt"/>
                        </a:rPr>
                        <a:t>50 MW</a:t>
                      </a:r>
                      <a:endParaRPr lang="en-IN" sz="800" b="0" i="0" u="none" strike="noStrike" dirty="0">
                        <a:solidFill>
                          <a:srgbClr val="000000"/>
                        </a:solidFill>
                        <a:effectLst/>
                        <a:latin typeface="+mn-lt"/>
                      </a:endParaRPr>
                    </a:p>
                  </a:txBody>
                  <a:tcPr marL="36000" marR="36000" marT="36000" marB="36000" anchor="ctr"/>
                </a:tc>
                <a:tc>
                  <a:txBody>
                    <a:bodyPr/>
                    <a:lstStyle/>
                    <a:p>
                      <a:pPr algn="ctr" fontAlgn="b"/>
                      <a:r>
                        <a:rPr lang="en-IN" sz="800" u="none" strike="noStrike" dirty="0">
                          <a:effectLst/>
                          <a:latin typeface="+mn-lt"/>
                        </a:rPr>
                        <a:t> </a:t>
                      </a:r>
                      <a:endParaRPr lang="en-IN" sz="800" b="0" i="0" u="none" strike="noStrike" dirty="0">
                        <a:solidFill>
                          <a:srgbClr val="000000"/>
                        </a:solidFill>
                        <a:effectLst/>
                        <a:latin typeface="+mn-lt"/>
                      </a:endParaRPr>
                    </a:p>
                  </a:txBody>
                  <a:tcPr marL="36000" marR="36000" marT="36000" marB="36000" anchor="b"/>
                </a:tc>
                <a:extLst>
                  <a:ext uri="{0D108BD9-81ED-4DB2-BD59-A6C34878D82A}">
                    <a16:rowId xmlns:a16="http://schemas.microsoft.com/office/drawing/2014/main" val="4217702254"/>
                  </a:ext>
                </a:extLst>
              </a:tr>
              <a:tr h="113460">
                <a:tc>
                  <a:txBody>
                    <a:bodyPr/>
                    <a:lstStyle/>
                    <a:p>
                      <a:pPr algn="r" fontAlgn="b"/>
                      <a:r>
                        <a:rPr lang="en-US" sz="800" u="none" strike="noStrike" dirty="0">
                          <a:effectLst/>
                          <a:latin typeface="+mn-lt"/>
                        </a:rPr>
                        <a:t>4</a:t>
                      </a:r>
                      <a:endParaRPr lang="en-IN" sz="800" b="0" i="0" u="none" strike="noStrike" dirty="0">
                        <a:solidFill>
                          <a:srgbClr val="000000"/>
                        </a:solidFill>
                        <a:effectLst/>
                        <a:latin typeface="+mn-lt"/>
                      </a:endParaRPr>
                    </a:p>
                  </a:txBody>
                  <a:tcPr marL="36000" marR="36000" marT="36000" marB="36000" anchor="b"/>
                </a:tc>
                <a:tc>
                  <a:txBody>
                    <a:bodyPr/>
                    <a:lstStyle/>
                    <a:p>
                      <a:pPr algn="l" fontAlgn="ctr"/>
                      <a:r>
                        <a:rPr lang="en-IN" sz="800" u="none" strike="noStrike" dirty="0">
                          <a:effectLst/>
                          <a:latin typeface="+mn-lt"/>
                        </a:rPr>
                        <a:t>Energyprima Shahjibazar</a:t>
                      </a:r>
                      <a:endParaRPr lang="en-IN" sz="800" b="0" i="0" u="none" strike="noStrike" dirty="0">
                        <a:solidFill>
                          <a:srgbClr val="000000"/>
                        </a:solidFill>
                        <a:effectLst/>
                        <a:latin typeface="+mn-lt"/>
                      </a:endParaRPr>
                    </a:p>
                  </a:txBody>
                  <a:tcPr marL="36000" marR="36000" marT="36000" marB="36000" anchor="ctr"/>
                </a:tc>
                <a:tc>
                  <a:txBody>
                    <a:bodyPr/>
                    <a:lstStyle/>
                    <a:p>
                      <a:pPr algn="ctr" fontAlgn="ctr"/>
                      <a:r>
                        <a:rPr lang="en-IN" sz="800" u="none" strike="noStrike" dirty="0">
                          <a:effectLst/>
                          <a:latin typeface="+mn-lt"/>
                        </a:rPr>
                        <a:t>50 MW</a:t>
                      </a:r>
                      <a:endParaRPr lang="en-IN" sz="800" b="0" i="0" u="none" strike="noStrike" dirty="0">
                        <a:solidFill>
                          <a:srgbClr val="000000"/>
                        </a:solidFill>
                        <a:effectLst/>
                        <a:latin typeface="+mn-lt"/>
                      </a:endParaRPr>
                    </a:p>
                  </a:txBody>
                  <a:tcPr marL="36000" marR="36000" marT="36000" marB="36000" anchor="ctr"/>
                </a:tc>
                <a:tc>
                  <a:txBody>
                    <a:bodyPr/>
                    <a:lstStyle/>
                    <a:p>
                      <a:pPr algn="ctr" fontAlgn="b"/>
                      <a:r>
                        <a:rPr lang="en-IN" sz="800" u="none" strike="noStrike" dirty="0">
                          <a:effectLst/>
                          <a:latin typeface="+mn-lt"/>
                        </a:rPr>
                        <a:t>2008</a:t>
                      </a:r>
                      <a:endParaRPr lang="en-IN" sz="800" b="0" i="0" u="none" strike="noStrike" dirty="0">
                        <a:solidFill>
                          <a:srgbClr val="000000"/>
                        </a:solidFill>
                        <a:effectLst/>
                        <a:latin typeface="+mn-lt"/>
                      </a:endParaRPr>
                    </a:p>
                  </a:txBody>
                  <a:tcPr marL="36000" marR="36000" marT="36000" marB="36000" anchor="b"/>
                </a:tc>
                <a:extLst>
                  <a:ext uri="{0D108BD9-81ED-4DB2-BD59-A6C34878D82A}">
                    <a16:rowId xmlns:a16="http://schemas.microsoft.com/office/drawing/2014/main" val="4257377"/>
                  </a:ext>
                </a:extLst>
              </a:tr>
              <a:tr h="113460">
                <a:tc>
                  <a:txBody>
                    <a:bodyPr/>
                    <a:lstStyle/>
                    <a:p>
                      <a:pPr algn="r" fontAlgn="b"/>
                      <a:r>
                        <a:rPr lang="en-US" sz="800" u="none" strike="noStrike" dirty="0">
                          <a:effectLst/>
                          <a:latin typeface="+mn-lt"/>
                        </a:rPr>
                        <a:t>5</a:t>
                      </a:r>
                      <a:endParaRPr lang="en-IN" sz="800" b="0" i="0" u="none" strike="noStrike" dirty="0">
                        <a:solidFill>
                          <a:srgbClr val="000000"/>
                        </a:solidFill>
                        <a:effectLst/>
                        <a:latin typeface="+mn-lt"/>
                      </a:endParaRPr>
                    </a:p>
                  </a:txBody>
                  <a:tcPr marL="36000" marR="36000" marT="36000" marB="36000" anchor="b"/>
                </a:tc>
                <a:tc>
                  <a:txBody>
                    <a:bodyPr/>
                    <a:lstStyle/>
                    <a:p>
                      <a:pPr algn="l" fontAlgn="ctr"/>
                      <a:r>
                        <a:rPr lang="en-IN" sz="800" u="none" strike="noStrike" dirty="0">
                          <a:effectLst/>
                          <a:latin typeface="+mn-lt"/>
                        </a:rPr>
                        <a:t>Venture</a:t>
                      </a:r>
                      <a:endParaRPr lang="en-IN" sz="800" b="0" i="0" u="none" strike="noStrike" dirty="0">
                        <a:solidFill>
                          <a:srgbClr val="000000"/>
                        </a:solidFill>
                        <a:effectLst/>
                        <a:latin typeface="+mn-lt"/>
                      </a:endParaRPr>
                    </a:p>
                  </a:txBody>
                  <a:tcPr marL="36000" marR="36000" marT="36000" marB="36000" anchor="ctr"/>
                </a:tc>
                <a:tc>
                  <a:txBody>
                    <a:bodyPr/>
                    <a:lstStyle/>
                    <a:p>
                      <a:pPr algn="ctr" fontAlgn="ctr"/>
                      <a:r>
                        <a:rPr lang="en-IN" sz="800" u="none" strike="noStrike" dirty="0">
                          <a:effectLst/>
                          <a:latin typeface="+mn-lt"/>
                        </a:rPr>
                        <a:t>33 MW</a:t>
                      </a:r>
                      <a:endParaRPr lang="en-IN" sz="800" b="0" i="0" u="none" strike="noStrike" dirty="0">
                        <a:solidFill>
                          <a:srgbClr val="000000"/>
                        </a:solidFill>
                        <a:effectLst/>
                        <a:latin typeface="+mn-lt"/>
                      </a:endParaRPr>
                    </a:p>
                  </a:txBody>
                  <a:tcPr marL="36000" marR="36000" marT="36000" marB="36000" anchor="ctr"/>
                </a:tc>
                <a:tc>
                  <a:txBody>
                    <a:bodyPr/>
                    <a:lstStyle/>
                    <a:p>
                      <a:pPr algn="ctr" fontAlgn="b"/>
                      <a:r>
                        <a:rPr lang="en-IN" sz="800" u="none" strike="noStrike" dirty="0">
                          <a:effectLst/>
                          <a:latin typeface="+mn-lt"/>
                        </a:rPr>
                        <a:t>2009</a:t>
                      </a:r>
                      <a:endParaRPr lang="en-IN" sz="800" b="0" i="0" u="none" strike="noStrike" dirty="0">
                        <a:solidFill>
                          <a:srgbClr val="000000"/>
                        </a:solidFill>
                        <a:effectLst/>
                        <a:latin typeface="+mn-lt"/>
                      </a:endParaRPr>
                    </a:p>
                  </a:txBody>
                  <a:tcPr marL="36000" marR="36000" marT="36000" marB="36000" anchor="b"/>
                </a:tc>
                <a:extLst>
                  <a:ext uri="{0D108BD9-81ED-4DB2-BD59-A6C34878D82A}">
                    <a16:rowId xmlns:a16="http://schemas.microsoft.com/office/drawing/2014/main" val="983273941"/>
                  </a:ext>
                </a:extLst>
              </a:tr>
              <a:tr h="113460">
                <a:tc>
                  <a:txBody>
                    <a:bodyPr/>
                    <a:lstStyle/>
                    <a:p>
                      <a:pPr algn="r" fontAlgn="b"/>
                      <a:r>
                        <a:rPr lang="en-US" sz="800" u="none" strike="noStrike" dirty="0">
                          <a:effectLst/>
                          <a:latin typeface="+mn-lt"/>
                        </a:rPr>
                        <a:t>6</a:t>
                      </a:r>
                      <a:endParaRPr lang="en-IN" sz="800" b="0" i="0" u="none" strike="noStrike" dirty="0">
                        <a:solidFill>
                          <a:srgbClr val="000000"/>
                        </a:solidFill>
                        <a:effectLst/>
                        <a:latin typeface="+mn-lt"/>
                      </a:endParaRPr>
                    </a:p>
                  </a:txBody>
                  <a:tcPr marL="36000" marR="36000" marT="36000" marB="36000" anchor="b"/>
                </a:tc>
                <a:tc>
                  <a:txBody>
                    <a:bodyPr/>
                    <a:lstStyle/>
                    <a:p>
                      <a:pPr algn="l" fontAlgn="ctr"/>
                      <a:r>
                        <a:rPr lang="en-IN" sz="800" u="none" strike="noStrike" dirty="0">
                          <a:effectLst/>
                          <a:latin typeface="+mn-lt"/>
                        </a:rPr>
                        <a:t>Precision Energy Ltd.</a:t>
                      </a:r>
                      <a:endParaRPr lang="en-IN" sz="800" b="0" i="0" u="none" strike="noStrike" dirty="0">
                        <a:solidFill>
                          <a:srgbClr val="000000"/>
                        </a:solidFill>
                        <a:effectLst/>
                        <a:latin typeface="+mn-lt"/>
                      </a:endParaRPr>
                    </a:p>
                  </a:txBody>
                  <a:tcPr marL="36000" marR="36000" marT="36000" marB="36000" anchor="ctr"/>
                </a:tc>
                <a:tc>
                  <a:txBody>
                    <a:bodyPr/>
                    <a:lstStyle/>
                    <a:p>
                      <a:pPr algn="ctr" fontAlgn="ctr"/>
                      <a:r>
                        <a:rPr lang="en-IN" sz="800" u="none" strike="noStrike" dirty="0">
                          <a:effectLst/>
                          <a:latin typeface="+mn-lt"/>
                        </a:rPr>
                        <a:t>55 MW</a:t>
                      </a:r>
                      <a:endParaRPr lang="en-IN" sz="800" b="0" i="0" u="none" strike="noStrike" dirty="0">
                        <a:solidFill>
                          <a:srgbClr val="000000"/>
                        </a:solidFill>
                        <a:effectLst/>
                        <a:latin typeface="+mn-lt"/>
                      </a:endParaRPr>
                    </a:p>
                  </a:txBody>
                  <a:tcPr marL="36000" marR="36000" marT="36000" marB="36000" anchor="ctr"/>
                </a:tc>
                <a:tc>
                  <a:txBody>
                    <a:bodyPr/>
                    <a:lstStyle/>
                    <a:p>
                      <a:pPr algn="ctr" fontAlgn="b"/>
                      <a:r>
                        <a:rPr lang="en-IN" sz="800" u="none" strike="noStrike" dirty="0">
                          <a:effectLst/>
                          <a:latin typeface="+mn-lt"/>
                        </a:rPr>
                        <a:t>2010</a:t>
                      </a:r>
                      <a:endParaRPr lang="en-IN" sz="800" b="0" i="0" u="none" strike="noStrike" dirty="0">
                        <a:solidFill>
                          <a:srgbClr val="000000"/>
                        </a:solidFill>
                        <a:effectLst/>
                        <a:latin typeface="+mn-lt"/>
                      </a:endParaRPr>
                    </a:p>
                  </a:txBody>
                  <a:tcPr marL="36000" marR="36000" marT="36000" marB="36000" anchor="b"/>
                </a:tc>
                <a:extLst>
                  <a:ext uri="{0D108BD9-81ED-4DB2-BD59-A6C34878D82A}">
                    <a16:rowId xmlns:a16="http://schemas.microsoft.com/office/drawing/2014/main" val="408091916"/>
                  </a:ext>
                </a:extLst>
              </a:tr>
              <a:tr h="113460">
                <a:tc>
                  <a:txBody>
                    <a:bodyPr/>
                    <a:lstStyle/>
                    <a:p>
                      <a:pPr algn="r" fontAlgn="b"/>
                      <a:r>
                        <a:rPr lang="en-US" sz="800" u="none" strike="noStrike" dirty="0">
                          <a:effectLst/>
                          <a:latin typeface="+mn-lt"/>
                        </a:rPr>
                        <a:t>7</a:t>
                      </a:r>
                      <a:endParaRPr lang="en-IN" sz="800" b="0" i="0" u="none" strike="noStrike" dirty="0">
                        <a:solidFill>
                          <a:srgbClr val="000000"/>
                        </a:solidFill>
                        <a:effectLst/>
                        <a:latin typeface="+mn-lt"/>
                      </a:endParaRPr>
                    </a:p>
                  </a:txBody>
                  <a:tcPr marL="36000" marR="36000" marT="36000" marB="36000" anchor="b"/>
                </a:tc>
                <a:tc>
                  <a:txBody>
                    <a:bodyPr/>
                    <a:lstStyle/>
                    <a:p>
                      <a:pPr algn="l" fontAlgn="ctr"/>
                      <a:r>
                        <a:rPr lang="en-IN" sz="800" u="none" strike="noStrike" dirty="0">
                          <a:effectLst/>
                          <a:latin typeface="+mn-lt"/>
                        </a:rPr>
                        <a:t>Max Power Ltd</a:t>
                      </a:r>
                      <a:endParaRPr lang="en-IN" sz="800" b="0" i="0" u="none" strike="noStrike" dirty="0">
                        <a:solidFill>
                          <a:srgbClr val="000000"/>
                        </a:solidFill>
                        <a:effectLst/>
                        <a:latin typeface="+mn-lt"/>
                      </a:endParaRPr>
                    </a:p>
                  </a:txBody>
                  <a:tcPr marL="36000" marR="36000" marT="36000" marB="36000" anchor="ctr"/>
                </a:tc>
                <a:tc>
                  <a:txBody>
                    <a:bodyPr/>
                    <a:lstStyle/>
                    <a:p>
                      <a:pPr algn="ctr" fontAlgn="ctr"/>
                      <a:r>
                        <a:rPr lang="en-IN" sz="800" u="none" strike="noStrike" dirty="0">
                          <a:effectLst/>
                          <a:latin typeface="+mn-lt"/>
                        </a:rPr>
                        <a:t>78.5 MW</a:t>
                      </a:r>
                      <a:endParaRPr lang="en-IN" sz="800" b="0" i="0" u="none" strike="noStrike" dirty="0">
                        <a:solidFill>
                          <a:srgbClr val="000000"/>
                        </a:solidFill>
                        <a:effectLst/>
                        <a:latin typeface="+mn-lt"/>
                      </a:endParaRPr>
                    </a:p>
                  </a:txBody>
                  <a:tcPr marL="36000" marR="36000" marT="36000" marB="36000" anchor="ctr"/>
                </a:tc>
                <a:tc>
                  <a:txBody>
                    <a:bodyPr/>
                    <a:lstStyle/>
                    <a:p>
                      <a:pPr algn="ctr" fontAlgn="b"/>
                      <a:r>
                        <a:rPr lang="en-IN" sz="800" u="none" strike="noStrike" dirty="0">
                          <a:effectLst/>
                          <a:latin typeface="+mn-lt"/>
                        </a:rPr>
                        <a:t>2011</a:t>
                      </a:r>
                      <a:endParaRPr lang="en-IN" sz="800" b="0" i="0" u="none" strike="noStrike" dirty="0">
                        <a:solidFill>
                          <a:srgbClr val="000000"/>
                        </a:solidFill>
                        <a:effectLst/>
                        <a:latin typeface="+mn-lt"/>
                      </a:endParaRPr>
                    </a:p>
                  </a:txBody>
                  <a:tcPr marL="36000" marR="36000" marT="36000" marB="36000" anchor="b"/>
                </a:tc>
                <a:extLst>
                  <a:ext uri="{0D108BD9-81ED-4DB2-BD59-A6C34878D82A}">
                    <a16:rowId xmlns:a16="http://schemas.microsoft.com/office/drawing/2014/main" val="567792072"/>
                  </a:ext>
                </a:extLst>
              </a:tr>
              <a:tr h="113460">
                <a:tc>
                  <a:txBody>
                    <a:bodyPr/>
                    <a:lstStyle/>
                    <a:p>
                      <a:pPr algn="r" fontAlgn="b"/>
                      <a:r>
                        <a:rPr lang="en-US" sz="800" u="none" strike="noStrike" dirty="0">
                          <a:effectLst/>
                          <a:latin typeface="+mn-lt"/>
                        </a:rPr>
                        <a:t>8</a:t>
                      </a:r>
                      <a:endParaRPr lang="en-IN" sz="800" b="0" i="0" u="none" strike="noStrike" dirty="0">
                        <a:solidFill>
                          <a:srgbClr val="000000"/>
                        </a:solidFill>
                        <a:effectLst/>
                        <a:latin typeface="+mn-lt"/>
                      </a:endParaRPr>
                    </a:p>
                  </a:txBody>
                  <a:tcPr marL="36000" marR="36000" marT="36000" marB="36000" anchor="b"/>
                </a:tc>
                <a:tc>
                  <a:txBody>
                    <a:bodyPr/>
                    <a:lstStyle/>
                    <a:p>
                      <a:pPr algn="l" fontAlgn="ctr"/>
                      <a:r>
                        <a:rPr lang="en-IN" sz="800" u="none" strike="noStrike" dirty="0">
                          <a:effectLst/>
                          <a:latin typeface="+mn-lt"/>
                        </a:rPr>
                        <a:t>United Ashugonj Power</a:t>
                      </a:r>
                      <a:endParaRPr lang="en-IN" sz="800" b="0" i="0" u="none" strike="noStrike" dirty="0">
                        <a:solidFill>
                          <a:srgbClr val="000000"/>
                        </a:solidFill>
                        <a:effectLst/>
                        <a:latin typeface="+mn-lt"/>
                      </a:endParaRPr>
                    </a:p>
                  </a:txBody>
                  <a:tcPr marL="36000" marR="36000" marT="36000" marB="36000" anchor="ctr"/>
                </a:tc>
                <a:tc>
                  <a:txBody>
                    <a:bodyPr/>
                    <a:lstStyle/>
                    <a:p>
                      <a:pPr algn="ctr" fontAlgn="ctr"/>
                      <a:r>
                        <a:rPr lang="en-IN" sz="800" u="none" strike="noStrike" dirty="0">
                          <a:effectLst/>
                          <a:latin typeface="+mn-lt"/>
                        </a:rPr>
                        <a:t>53 MW</a:t>
                      </a:r>
                      <a:endParaRPr lang="en-IN" sz="800" b="0" i="0" u="none" strike="noStrike" dirty="0">
                        <a:solidFill>
                          <a:srgbClr val="000000"/>
                        </a:solidFill>
                        <a:effectLst/>
                        <a:latin typeface="+mn-lt"/>
                      </a:endParaRPr>
                    </a:p>
                  </a:txBody>
                  <a:tcPr marL="36000" marR="36000" marT="36000" marB="36000" anchor="ctr"/>
                </a:tc>
                <a:tc>
                  <a:txBody>
                    <a:bodyPr/>
                    <a:lstStyle/>
                    <a:p>
                      <a:pPr algn="ctr" fontAlgn="b"/>
                      <a:r>
                        <a:rPr lang="en-IN" sz="800" u="none" strike="noStrike" dirty="0">
                          <a:effectLst/>
                          <a:latin typeface="+mn-lt"/>
                        </a:rPr>
                        <a:t>2011</a:t>
                      </a:r>
                      <a:endParaRPr lang="en-IN" sz="800" b="0" i="0" u="none" strike="noStrike" dirty="0">
                        <a:solidFill>
                          <a:srgbClr val="000000"/>
                        </a:solidFill>
                        <a:effectLst/>
                        <a:latin typeface="+mn-lt"/>
                      </a:endParaRPr>
                    </a:p>
                  </a:txBody>
                  <a:tcPr marL="36000" marR="36000" marT="36000" marB="36000" anchor="b"/>
                </a:tc>
                <a:extLst>
                  <a:ext uri="{0D108BD9-81ED-4DB2-BD59-A6C34878D82A}">
                    <a16:rowId xmlns:a16="http://schemas.microsoft.com/office/drawing/2014/main" val="4238609632"/>
                  </a:ext>
                </a:extLst>
              </a:tr>
              <a:tr h="113460">
                <a:tc>
                  <a:txBody>
                    <a:bodyPr/>
                    <a:lstStyle/>
                    <a:p>
                      <a:pPr algn="r" fontAlgn="b"/>
                      <a:r>
                        <a:rPr lang="en-US" sz="800" u="none" strike="noStrike" dirty="0">
                          <a:effectLst/>
                          <a:latin typeface="+mn-lt"/>
                        </a:rPr>
                        <a:t>9</a:t>
                      </a:r>
                      <a:endParaRPr lang="en-IN" sz="800" b="0" i="0" u="none" strike="noStrike" dirty="0">
                        <a:solidFill>
                          <a:srgbClr val="000000"/>
                        </a:solidFill>
                        <a:effectLst/>
                        <a:latin typeface="+mn-lt"/>
                      </a:endParaRPr>
                    </a:p>
                  </a:txBody>
                  <a:tcPr marL="36000" marR="36000" marT="36000" marB="36000" anchor="b"/>
                </a:tc>
                <a:tc>
                  <a:txBody>
                    <a:bodyPr/>
                    <a:lstStyle/>
                    <a:p>
                      <a:pPr algn="l" fontAlgn="ctr"/>
                      <a:r>
                        <a:rPr lang="en-IN" sz="800" u="none" strike="noStrike" dirty="0">
                          <a:effectLst/>
                          <a:latin typeface="+mn-lt"/>
                        </a:rPr>
                        <a:t>Energyprima Fenchugonj</a:t>
                      </a:r>
                      <a:endParaRPr lang="en-IN" sz="800" b="0" i="0" u="none" strike="noStrike" dirty="0">
                        <a:solidFill>
                          <a:srgbClr val="000000"/>
                        </a:solidFill>
                        <a:effectLst/>
                        <a:latin typeface="+mn-lt"/>
                      </a:endParaRPr>
                    </a:p>
                  </a:txBody>
                  <a:tcPr marL="36000" marR="36000" marT="36000" marB="36000" anchor="ctr"/>
                </a:tc>
                <a:tc>
                  <a:txBody>
                    <a:bodyPr/>
                    <a:lstStyle/>
                    <a:p>
                      <a:pPr algn="ctr" fontAlgn="ctr"/>
                      <a:r>
                        <a:rPr lang="en-IN" sz="800" u="none" strike="noStrike" dirty="0">
                          <a:effectLst/>
                          <a:latin typeface="+mn-lt"/>
                        </a:rPr>
                        <a:t>44 MW</a:t>
                      </a:r>
                      <a:endParaRPr lang="en-IN" sz="800" b="0" i="0" u="none" strike="noStrike" dirty="0">
                        <a:solidFill>
                          <a:srgbClr val="000000"/>
                        </a:solidFill>
                        <a:effectLst/>
                        <a:latin typeface="+mn-lt"/>
                      </a:endParaRPr>
                    </a:p>
                  </a:txBody>
                  <a:tcPr marL="36000" marR="36000" marT="36000" marB="36000" anchor="ctr"/>
                </a:tc>
                <a:tc>
                  <a:txBody>
                    <a:bodyPr/>
                    <a:lstStyle/>
                    <a:p>
                      <a:pPr algn="ctr" fontAlgn="b"/>
                      <a:r>
                        <a:rPr lang="en-IN" sz="800" u="none" strike="noStrike" dirty="0">
                          <a:effectLst/>
                          <a:latin typeface="+mn-lt"/>
                        </a:rPr>
                        <a:t>2012</a:t>
                      </a:r>
                      <a:endParaRPr lang="en-IN" sz="800" b="0" i="0" u="none" strike="noStrike" dirty="0">
                        <a:solidFill>
                          <a:srgbClr val="000000"/>
                        </a:solidFill>
                        <a:effectLst/>
                        <a:latin typeface="+mn-lt"/>
                      </a:endParaRPr>
                    </a:p>
                  </a:txBody>
                  <a:tcPr marL="36000" marR="36000" marT="36000" marB="36000" anchor="b"/>
                </a:tc>
                <a:extLst>
                  <a:ext uri="{0D108BD9-81ED-4DB2-BD59-A6C34878D82A}">
                    <a16:rowId xmlns:a16="http://schemas.microsoft.com/office/drawing/2014/main" val="3091817402"/>
                  </a:ext>
                </a:extLst>
              </a:tr>
              <a:tr h="113460">
                <a:tc gridSpan="2">
                  <a:txBody>
                    <a:bodyPr/>
                    <a:lstStyle/>
                    <a:p>
                      <a:pPr algn="r" fontAlgn="b"/>
                      <a:r>
                        <a:rPr lang="en-US" sz="800" b="1" u="none" strike="noStrike" dirty="0">
                          <a:effectLst/>
                          <a:latin typeface="+mn-lt"/>
                        </a:rPr>
                        <a:t>Total</a:t>
                      </a:r>
                      <a:endParaRPr lang="en-IN" sz="800" b="1" i="0" u="none" strike="noStrike" dirty="0">
                        <a:solidFill>
                          <a:srgbClr val="000000"/>
                        </a:solidFill>
                        <a:effectLst/>
                        <a:latin typeface="+mn-lt"/>
                      </a:endParaRPr>
                    </a:p>
                  </a:txBody>
                  <a:tcPr marL="36000" marR="36000" marT="36000" marB="36000" anchor="b"/>
                </a:tc>
                <a:tc hMerge="1">
                  <a:txBody>
                    <a:bodyPr/>
                    <a:lstStyle/>
                    <a:p>
                      <a:pPr algn="l" fontAlgn="ctr"/>
                      <a:endParaRPr lang="en-IN" sz="900" b="0" i="0" u="none" strike="noStrike" dirty="0">
                        <a:solidFill>
                          <a:srgbClr val="000000"/>
                        </a:solidFill>
                        <a:effectLst/>
                        <a:latin typeface="Verdana" panose="020B0604030504040204" pitchFamily="34" charset="0"/>
                      </a:endParaRPr>
                    </a:p>
                  </a:txBody>
                  <a:tcPr marL="36000" marR="36000" marT="36000" marB="36000" anchor="ctr"/>
                </a:tc>
                <a:tc>
                  <a:txBody>
                    <a:bodyPr/>
                    <a:lstStyle/>
                    <a:p>
                      <a:pPr algn="ctr" fontAlgn="ctr"/>
                      <a:r>
                        <a:rPr lang="en-US" sz="800" b="1" u="none" strike="noStrike" dirty="0">
                          <a:effectLst/>
                          <a:latin typeface="+mn-lt"/>
                        </a:rPr>
                        <a:t>543 MW</a:t>
                      </a:r>
                      <a:endParaRPr lang="en-IN" sz="800" b="1" i="0" u="none" strike="noStrike" dirty="0">
                        <a:solidFill>
                          <a:srgbClr val="000000"/>
                        </a:solidFill>
                        <a:effectLst/>
                        <a:latin typeface="+mn-lt"/>
                      </a:endParaRPr>
                    </a:p>
                  </a:txBody>
                  <a:tcPr marL="36000" marR="36000" marT="36000" marB="36000" anchor="ctr"/>
                </a:tc>
                <a:tc>
                  <a:txBody>
                    <a:bodyPr/>
                    <a:lstStyle/>
                    <a:p>
                      <a:pPr algn="ctr" fontAlgn="b"/>
                      <a:endParaRPr lang="en-IN" sz="800" b="0" i="0" u="none" strike="noStrike" dirty="0">
                        <a:solidFill>
                          <a:srgbClr val="000000"/>
                        </a:solidFill>
                        <a:effectLst/>
                        <a:latin typeface="+mn-lt"/>
                      </a:endParaRPr>
                    </a:p>
                  </a:txBody>
                  <a:tcPr marL="36000" marR="36000" marT="36000" marB="36000" anchor="b"/>
                </a:tc>
                <a:extLst>
                  <a:ext uri="{0D108BD9-81ED-4DB2-BD59-A6C34878D82A}">
                    <a16:rowId xmlns:a16="http://schemas.microsoft.com/office/drawing/2014/main" val="3001331844"/>
                  </a:ext>
                </a:extLst>
              </a:tr>
            </a:tbl>
          </a:graphicData>
        </a:graphic>
      </p:graphicFrame>
    </p:spTree>
    <p:extLst>
      <p:ext uri="{BB962C8B-B14F-4D97-AF65-F5344CB8AC3E}">
        <p14:creationId xmlns:p14="http://schemas.microsoft.com/office/powerpoint/2010/main" val="4240874362"/>
      </p:ext>
    </p:extLst>
  </p:cSld>
  <p:clrMapOvr>
    <a:masterClrMapping/>
  </p:clrMapOvr>
  <p:transition>
    <p:fade/>
  </p:transition>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329592140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5" imgW="530" imgH="531" progId="TCLayout.ActiveDocument.1">
                  <p:embed/>
                </p:oleObj>
              </mc:Choice>
              <mc:Fallback>
                <p:oleObj name="think-cell Slide" r:id="rId35" imgW="530" imgH="531" progId="TCLayout.ActiveDocument.1">
                  <p:embed/>
                  <p:pic>
                    <p:nvPicPr>
                      <p:cNvPr id="4" name="Object 3" hidden="1"/>
                      <p:cNvPicPr/>
                      <p:nvPr/>
                    </p:nvPicPr>
                    <p:blipFill>
                      <a:blip r:embed="rId3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3665419850"/>
              </p:ext>
            </p:extLst>
          </p:nvPr>
        </p:nvGraphicFramePr>
        <p:xfrm>
          <a:off x="5533126" y="1961918"/>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graph shows the overall expected Gas/LNG availability for Gas / LNG for Private Producers based power plants in Bangladesh by FY26</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graph shows the expected dispatchability for Gas / LNG based plants in Bangladesh by FY26</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2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GB" sz="1400" noProof="0" dirty="0">
                <a:solidFill>
                  <a:prstClr val="black">
                    <a:lumMod val="50000"/>
                    <a:lumOff val="50000"/>
                  </a:prstClr>
                </a:solidFill>
                <a:latin typeface="Verdana" panose="020B0604030504040204" pitchFamily="34" charset="0"/>
              </a:rPr>
              <a:t>The increase in gas allocation to power sector could increase the average PLF of IPP / SIPP portfolio from 67% in FY19 to ~</a:t>
            </a:r>
            <a:r>
              <a:rPr lang="en-GB" sz="1400" dirty="0">
                <a:solidFill>
                  <a:prstClr val="black">
                    <a:lumMod val="50000"/>
                    <a:lumOff val="50000"/>
                  </a:prstClr>
                </a:solidFill>
                <a:latin typeface="Verdana" panose="020B0604030504040204" pitchFamily="34" charset="0"/>
              </a:rPr>
              <a:t>80</a:t>
            </a:r>
            <a:r>
              <a:rPr lang="en-GB" sz="1400" noProof="0" dirty="0">
                <a:solidFill>
                  <a:prstClr val="black">
                    <a:lumMod val="50000"/>
                    <a:lumOff val="50000"/>
                  </a:prstClr>
                </a:solidFill>
                <a:latin typeface="Verdana" panose="020B0604030504040204" pitchFamily="34" charset="0"/>
              </a:rPr>
              <a:t>% by FY26</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2986009261"/>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lgn="just">
                        <a:spcAft>
                          <a:spcPts val="500"/>
                        </a:spcAft>
                        <a:buFont typeface="Arial" panose="020B0604020202020204" pitchFamily="34" charset="0"/>
                        <a:buNone/>
                      </a:pPr>
                      <a:r>
                        <a:rPr lang="en-US" sz="1000" b="1" baseline="0" dirty="0">
                          <a:solidFill>
                            <a:schemeClr val="tx1"/>
                          </a:solidFill>
                        </a:rPr>
                        <a:t>Supply of NG / LNG to Gas based power plants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As per the current BERC proposed gas allocation framework for FY20, ~40 mmscmd of natural gas is expected to be allocated to power sector in FY20</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However, considering the importance of the power sector on the economy of Bangladesh we expect the Government to allocate incremental ~10 mmscmd to the sector by FY26 from the existing domestic &amp; LNG supply considering highest priority of the sector</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This could be achieved by curtailing supply to sectors like households and transportation which can be substituted with LPG</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GoB is also planning to promote the Captive Based Power Plants owners to shift to grid based electricity supply to reduce wastage of gas in the smaller engines used by captive owners.</a:t>
                      </a: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1" kern="1200" baseline="0" dirty="0">
                        <a:solidFill>
                          <a:schemeClr val="tx1"/>
                        </a:solidFill>
                        <a:latin typeface="+mn-lt"/>
                        <a:ea typeface="+mn-ea"/>
                        <a:cs typeface="+mn-cs"/>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1" kern="1200" baseline="0" dirty="0">
                        <a:solidFill>
                          <a:schemeClr val="tx1"/>
                        </a:solidFill>
                        <a:latin typeface="+mn-lt"/>
                        <a:ea typeface="+mn-ea"/>
                        <a:cs typeface="+mn-cs"/>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kern="1200" baseline="0" dirty="0">
                          <a:solidFill>
                            <a:schemeClr val="tx1"/>
                          </a:solidFill>
                          <a:latin typeface="+mn-lt"/>
                          <a:ea typeface="+mn-ea"/>
                          <a:cs typeface="+mn-cs"/>
                        </a:rPr>
                        <a:t>Average PLF of Gas Based Plants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kern="1200" baseline="0" dirty="0">
                        <a:solidFill>
                          <a:schemeClr val="tx1"/>
                        </a:solidFill>
                        <a:latin typeface="+mn-lt"/>
                        <a:ea typeface="+mn-ea"/>
                        <a:cs typeface="+mn-cs"/>
                      </a:endParaRPr>
                    </a:p>
                    <a:p>
                      <a:pPr marL="0" marR="0" lvl="0" indent="0" algn="ctr"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400" b="1" i="1" kern="1200" dirty="0">
                          <a:solidFill>
                            <a:srgbClr val="0097A9"/>
                          </a:solidFill>
                          <a:latin typeface="+mn-lt"/>
                          <a:ea typeface="+mn-ea"/>
                          <a:cs typeface="+mn-cs"/>
                        </a:rPr>
                        <a:t>Thus, with higher gas allocation, the overall dispatch potential of the plants could lead to an overall PLF of 75% for the entire portfolio by FY26 with the plants belonging to IPPs / SIPPs running at even higher dispatch of ~75%-80% due to their better efficiency</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102" name="Title 1"/>
          <p:cNvSpPr>
            <a:spLocks noGrp="1"/>
          </p:cNvSpPr>
          <p:nvPr>
            <p:ph type="title"/>
          </p:nvPr>
        </p:nvSpPr>
        <p:spPr>
          <a:xfrm>
            <a:off x="449264" y="647700"/>
            <a:ext cx="9791700" cy="431800"/>
          </a:xfrm>
        </p:spPr>
        <p:txBody>
          <a:bodyPr/>
          <a:lstStyle/>
          <a:p>
            <a:r>
              <a:rPr lang="en-US" dirty="0"/>
              <a:t>Power Market | Plant Dispatchability</a:t>
            </a:r>
            <a:endParaRPr lang="en-IN" dirty="0"/>
          </a:p>
        </p:txBody>
      </p:sp>
      <p:sp>
        <p:nvSpPr>
          <p:cNvPr id="40" name="Rectangle 39"/>
          <p:cNvSpPr/>
          <p:nvPr/>
        </p:nvSpPr>
        <p:spPr bwMode="gray">
          <a:xfrm>
            <a:off x="302966" y="7274793"/>
            <a:ext cx="10084296" cy="236794"/>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BPDB, BERC, Deloitte Analysis Note: 1) The PLF estimation has been based on the tentative capacity additions &amp; retirements considered as part of Market Demand and Supply module 2) All newer gas based plants have been assumed to have efficiency factor of 45% (in line with market trends) 3) The GoB has been exploring LPG as an alternate fuel for household and transportation sectors 4) The GoB  has also been promoting electricity from grid supply as a viable alternative to captive power plants which consumer natural gas currently and this may lead to additional availability of Natural gas to the grid connected power plants</a:t>
            </a:r>
          </a:p>
        </p:txBody>
      </p:sp>
      <p:graphicFrame>
        <p:nvGraphicFramePr>
          <p:cNvPr id="124" name="Chart 123"/>
          <p:cNvGraphicFramePr/>
          <p:nvPr>
            <p:custDataLst>
              <p:tags r:id="rId5"/>
            </p:custDataLst>
            <p:extLst>
              <p:ext uri="{D42A27DB-BD31-4B8C-83A1-F6EECF244321}">
                <p14:modId xmlns:p14="http://schemas.microsoft.com/office/powerpoint/2010/main" val="2911260911"/>
              </p:ext>
            </p:extLst>
          </p:nvPr>
        </p:nvGraphicFramePr>
        <p:xfrm>
          <a:off x="5538788" y="2543175"/>
          <a:ext cx="4784725" cy="1196975"/>
        </p:xfrm>
        <a:graphic>
          <a:graphicData uri="http://schemas.openxmlformats.org/drawingml/2006/chart">
            <c:chart xmlns:c="http://schemas.openxmlformats.org/drawingml/2006/chart" xmlns:r="http://schemas.openxmlformats.org/officeDocument/2006/relationships" r:id="rId37"/>
          </a:graphicData>
        </a:graphic>
      </p:graphicFrame>
      <p:sp useBgFill="1">
        <p:nvSpPr>
          <p:cNvPr id="225" name="Freeform 224"/>
          <p:cNvSpPr/>
          <p:nvPr>
            <p:custDataLst>
              <p:tags r:id="rId6"/>
            </p:custDataLst>
          </p:nvPr>
        </p:nvSpPr>
        <p:spPr bwMode="auto">
          <a:xfrm>
            <a:off x="8651875" y="3584575"/>
            <a:ext cx="96838" cy="146050"/>
          </a:xfrm>
          <a:custGeom>
            <a:avLst/>
            <a:gdLst/>
            <a:ahLst/>
            <a:cxnLst/>
            <a:rect l="0" t="0" r="0" b="0"/>
            <a:pathLst>
              <a:path w="96838" h="146051">
                <a:moveTo>
                  <a:pt x="96837" y="0"/>
                </a:moveTo>
                <a:lnTo>
                  <a:pt x="57150" y="146050"/>
                </a:lnTo>
                <a:lnTo>
                  <a:pt x="0" y="146050"/>
                </a:lnTo>
                <a:lnTo>
                  <a:pt x="39687" y="0"/>
                </a:lnTo>
                <a:close/>
              </a:path>
            </a:pathLst>
          </a:custGeom>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1" name="Freeform 30"/>
          <p:cNvSpPr/>
          <p:nvPr>
            <p:custDataLst>
              <p:tags r:id="rId7"/>
            </p:custDataLst>
          </p:nvPr>
        </p:nvSpPr>
        <p:spPr bwMode="auto">
          <a:xfrm>
            <a:off x="8651875" y="3584575"/>
            <a:ext cx="39688" cy="146050"/>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224" name="Freeform 223"/>
          <p:cNvSpPr/>
          <p:nvPr>
            <p:custDataLst>
              <p:tags r:id="rId8"/>
            </p:custDataLst>
          </p:nvPr>
        </p:nvSpPr>
        <p:spPr bwMode="auto">
          <a:xfrm>
            <a:off x="8709025" y="3584575"/>
            <a:ext cx="39688" cy="146050"/>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175" name="StandardTextbox"/>
          <p:cNvSpPr>
            <a:spLocks noGrp="1"/>
          </p:cNvSpPr>
          <p:nvPr>
            <p:custDataLst>
              <p:tags r:id="rId9"/>
            </p:custDataLst>
          </p:nvPr>
        </p:nvSpPr>
        <p:spPr bwMode="auto">
          <a:xfrm>
            <a:off x="7423150" y="3743325"/>
            <a:ext cx="1014413"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5BDAECB8-FCC7-4CF8-A785-B458DD4AD1E9}" type="datetime'''F''''''''Y''20'' ''''(P''ropo''s''''''ed ''b''y BE''R''''C)'">
              <a:rPr lang="en-IN" altLang="en-US" b="0" smtClean="0">
                <a:solidFill>
                  <a:srgbClr val="000000"/>
                </a:solidFill>
              </a:rPr>
              <a:pPr lvl="1" algn="ctr">
                <a:spcBef>
                  <a:spcPct val="0"/>
                </a:spcBef>
                <a:spcAft>
                  <a:spcPct val="0"/>
                </a:spcAft>
                <a:defRPr/>
              </a:pPr>
              <a:t>FY20 (Proposed by BERC)</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66" name="StandardTextbox"/>
          <p:cNvSpPr>
            <a:spLocks noGrp="1"/>
          </p:cNvSpPr>
          <p:nvPr>
            <p:custDataLst>
              <p:tags r:id="rId10"/>
            </p:custDataLst>
          </p:nvPr>
        </p:nvSpPr>
        <p:spPr bwMode="auto">
          <a:xfrm>
            <a:off x="6227763" y="3743325"/>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D2AC8967-A4AA-443B-B13C-5DC530CB7D9D}" type="datetime'''''''''''F''Y''''''''''''''1''''''''''9'''''">
              <a:rPr lang="en-IN" altLang="en-US" b="0" smtClean="0">
                <a:solidFill>
                  <a:srgbClr val="000000"/>
                </a:solidFill>
              </a:rPr>
              <a:pPr lvl="1" algn="ctr">
                <a:spcBef>
                  <a:spcPct val="0"/>
                </a:spcBef>
                <a:spcAft>
                  <a:spcPct val="0"/>
                </a:spcAft>
                <a:defRPr/>
              </a:pPr>
              <a:t>FY19</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203" name="StandardTextbox"/>
          <p:cNvSpPr>
            <a:spLocks noGrp="1"/>
          </p:cNvSpPr>
          <p:nvPr>
            <p:custDataLst>
              <p:tags r:id="rId11"/>
            </p:custDataLst>
          </p:nvPr>
        </p:nvSpPr>
        <p:spPr bwMode="auto">
          <a:xfrm>
            <a:off x="8907463" y="3743325"/>
            <a:ext cx="11239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A88B68E3-A099-4012-903B-B09A27BB6E81}" type="datetime'''''F''Y26'''''''' (E''''st''i''''m''''a''''''t''''e''''d)'">
              <a:rPr lang="en-IN" altLang="en-US" b="0" smtClean="0">
                <a:solidFill>
                  <a:srgbClr val="000000"/>
                </a:solidFill>
              </a:rPr>
              <a:pPr lvl="1" algn="ctr">
                <a:spcBef>
                  <a:spcPct val="0"/>
                </a:spcBef>
                <a:spcAft>
                  <a:spcPct val="0"/>
                </a:spcAft>
                <a:defRPr/>
              </a:pPr>
              <a:t>FY26 (Estimated)</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78" name="Rectangle 177"/>
          <p:cNvSpPr/>
          <p:nvPr>
            <p:custDataLst>
              <p:tags r:id="rId12"/>
            </p:custDataLst>
          </p:nvPr>
        </p:nvSpPr>
        <p:spPr bwMode="auto">
          <a:xfrm>
            <a:off x="6670675" y="4219575"/>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88" name="StandardTextbox"/>
          <p:cNvSpPr>
            <a:spLocks noGrp="1"/>
          </p:cNvSpPr>
          <p:nvPr>
            <p:custDataLst>
              <p:tags r:id="rId13"/>
            </p:custDataLst>
          </p:nvPr>
        </p:nvSpPr>
        <p:spPr bwMode="auto">
          <a:xfrm>
            <a:off x="6900863" y="4214813"/>
            <a:ext cx="19700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9D911877-9D36-4EE3-B29C-8AA60496C075}" type="datetime'G''a''s A''l''''lo''''cat''''''''i''on to'' P''ower Sect''or'">
              <a:rPr lang="en-US" altLang="en-US" b="0" smtClean="0">
                <a:solidFill>
                  <a:srgbClr val="000000"/>
                </a:solidFill>
              </a:rPr>
              <a:pPr lvl="1">
                <a:spcBef>
                  <a:spcPct val="0"/>
                </a:spcBef>
                <a:spcAft>
                  <a:spcPct val="0"/>
                </a:spcAft>
                <a:defRPr/>
              </a:pPr>
              <a:t>Gas Allocation to Power Sector</a:t>
            </a:fld>
            <a:endParaRPr kumimoji="0" lang="en-IN" sz="1000" b="0" i="0" strike="noStrike" kern="1200" spc="0" normalizeH="0" noProof="0" dirty="0">
              <a:ln>
                <a:noFill/>
              </a:ln>
              <a:solidFill>
                <a:srgbClr val="000000"/>
              </a:solidFill>
              <a:effectLst/>
              <a:uLnTx/>
              <a:uFillTx/>
              <a:latin typeface="Verdana"/>
              <a:sym typeface="+mn-lt"/>
            </a:endParaRPr>
          </a:p>
        </p:txBody>
      </p:sp>
      <p:graphicFrame>
        <p:nvGraphicFramePr>
          <p:cNvPr id="46" name="Chart 45"/>
          <p:cNvGraphicFramePr/>
          <p:nvPr>
            <p:custDataLst>
              <p:tags r:id="rId14"/>
            </p:custDataLst>
            <p:extLst>
              <p:ext uri="{D42A27DB-BD31-4B8C-83A1-F6EECF244321}">
                <p14:modId xmlns:p14="http://schemas.microsoft.com/office/powerpoint/2010/main" val="3345658114"/>
              </p:ext>
            </p:extLst>
          </p:nvPr>
        </p:nvGraphicFramePr>
        <p:xfrm>
          <a:off x="5449888" y="5745163"/>
          <a:ext cx="4759325" cy="841375"/>
        </p:xfrm>
        <a:graphic>
          <a:graphicData uri="http://schemas.openxmlformats.org/drawingml/2006/chart">
            <c:chart xmlns:c="http://schemas.openxmlformats.org/drawingml/2006/chart" xmlns:r="http://schemas.openxmlformats.org/officeDocument/2006/relationships" r:id="rId38"/>
          </a:graphicData>
        </a:graphic>
      </p:graphicFrame>
      <p:sp useBgFill="1">
        <p:nvSpPr>
          <p:cNvPr id="7" name="Freeform 6"/>
          <p:cNvSpPr/>
          <p:nvPr>
            <p:custDataLst>
              <p:tags r:id="rId15"/>
            </p:custDataLst>
          </p:nvPr>
        </p:nvSpPr>
        <p:spPr bwMode="auto">
          <a:xfrm>
            <a:off x="8545513" y="6430963"/>
            <a:ext cx="96838" cy="146051"/>
          </a:xfrm>
          <a:custGeom>
            <a:avLst/>
            <a:gdLst/>
            <a:ahLst/>
            <a:cxnLst/>
            <a:rect l="0" t="0" r="0" b="0"/>
            <a:pathLst>
              <a:path w="96838" h="146051">
                <a:moveTo>
                  <a:pt x="96837" y="0"/>
                </a:moveTo>
                <a:lnTo>
                  <a:pt x="57150" y="146050"/>
                </a:lnTo>
                <a:lnTo>
                  <a:pt x="0" y="146050"/>
                </a:lnTo>
                <a:lnTo>
                  <a:pt x="39687" y="0"/>
                </a:lnTo>
                <a:close/>
              </a:path>
            </a:pathLst>
          </a:custGeom>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useBgFill="1">
        <p:nvSpPr>
          <p:cNvPr id="10" name="Freeform 9"/>
          <p:cNvSpPr/>
          <p:nvPr>
            <p:custDataLst>
              <p:tags r:id="rId16"/>
            </p:custDataLst>
          </p:nvPr>
        </p:nvSpPr>
        <p:spPr bwMode="auto">
          <a:xfrm>
            <a:off x="9913938" y="6430963"/>
            <a:ext cx="96838" cy="146051"/>
          </a:xfrm>
          <a:custGeom>
            <a:avLst/>
            <a:gdLst/>
            <a:ahLst/>
            <a:cxnLst/>
            <a:rect l="0" t="0" r="0" b="0"/>
            <a:pathLst>
              <a:path w="96838" h="146051">
                <a:moveTo>
                  <a:pt x="96837" y="0"/>
                </a:moveTo>
                <a:lnTo>
                  <a:pt x="57150" y="146050"/>
                </a:lnTo>
                <a:lnTo>
                  <a:pt x="0" y="146050"/>
                </a:lnTo>
                <a:lnTo>
                  <a:pt x="39687" y="0"/>
                </a:lnTo>
                <a:close/>
              </a:path>
            </a:pathLst>
          </a:custGeom>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8" name="Freeform 7"/>
          <p:cNvSpPr/>
          <p:nvPr>
            <p:custDataLst>
              <p:tags r:id="rId17"/>
            </p:custDataLst>
          </p:nvPr>
        </p:nvSpPr>
        <p:spPr bwMode="auto">
          <a:xfrm>
            <a:off x="9913938" y="6430963"/>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9" name="Freeform 8"/>
          <p:cNvSpPr/>
          <p:nvPr>
            <p:custDataLst>
              <p:tags r:id="rId18"/>
            </p:custDataLst>
          </p:nvPr>
        </p:nvSpPr>
        <p:spPr bwMode="auto">
          <a:xfrm>
            <a:off x="9971088" y="6430963"/>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2" name="Freeform 1"/>
          <p:cNvSpPr/>
          <p:nvPr>
            <p:custDataLst>
              <p:tags r:id="rId19"/>
            </p:custDataLst>
          </p:nvPr>
        </p:nvSpPr>
        <p:spPr bwMode="auto">
          <a:xfrm>
            <a:off x="8545513" y="6430963"/>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5" name="Freeform 4"/>
          <p:cNvSpPr/>
          <p:nvPr>
            <p:custDataLst>
              <p:tags r:id="rId20"/>
            </p:custDataLst>
          </p:nvPr>
        </p:nvSpPr>
        <p:spPr bwMode="auto">
          <a:xfrm>
            <a:off x="8602663" y="6430963"/>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218" name="StandardTextbox"/>
          <p:cNvSpPr>
            <a:spLocks noGrp="1"/>
          </p:cNvSpPr>
          <p:nvPr>
            <p:custDataLst>
              <p:tags r:id="rId21"/>
            </p:custDataLst>
          </p:nvPr>
        </p:nvSpPr>
        <p:spPr bwMode="auto">
          <a:xfrm>
            <a:off x="6135688" y="658971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35334BA-8D40-4BD3-8669-140D9339278C}" type="datetime'FY''''''''''''''''''''''''''''''''''''1''''9'">
              <a:rPr lang="en-IN" altLang="en-US" b="0" smtClean="0"/>
              <a:pPr lvl="1" algn="ctr">
                <a:spcBef>
                  <a:spcPct val="0"/>
                </a:spcBef>
                <a:spcAft>
                  <a:spcPct val="0"/>
                </a:spcAft>
              </a:pPr>
              <a:t>FY19</a:t>
            </a:fld>
            <a:endParaRPr lang="en-IN" b="0" noProof="0" dirty="0">
              <a:sym typeface="+mn-lt"/>
            </a:endParaRPr>
          </a:p>
        </p:txBody>
      </p:sp>
      <p:sp>
        <p:nvSpPr>
          <p:cNvPr id="220" name="StandardTextbox"/>
          <p:cNvSpPr>
            <a:spLocks noGrp="1"/>
          </p:cNvSpPr>
          <p:nvPr>
            <p:custDataLst>
              <p:tags r:id="rId22"/>
            </p:custDataLst>
          </p:nvPr>
        </p:nvSpPr>
        <p:spPr bwMode="auto">
          <a:xfrm>
            <a:off x="7666038" y="658971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471A145-736E-41B4-A8FD-D96A252D9202}" type="datetime'''''''''''''''''F''''''''''''''Y''''''2''''''''0'''">
              <a:rPr lang="en-IN" altLang="en-US" b="0" smtClean="0"/>
              <a:pPr lvl="1" algn="ctr">
                <a:spcBef>
                  <a:spcPct val="0"/>
                </a:spcBef>
                <a:spcAft>
                  <a:spcPct val="0"/>
                </a:spcAft>
              </a:pPr>
              <a:t>FY20</a:t>
            </a:fld>
            <a:endParaRPr lang="en-IN" b="0" noProof="0" dirty="0">
              <a:sym typeface="+mn-lt"/>
            </a:endParaRPr>
          </a:p>
        </p:txBody>
      </p:sp>
      <p:sp>
        <p:nvSpPr>
          <p:cNvPr id="229" name="StandardTextbox"/>
          <p:cNvSpPr>
            <a:spLocks noGrp="1"/>
          </p:cNvSpPr>
          <p:nvPr>
            <p:custDataLst>
              <p:tags r:id="rId23"/>
            </p:custDataLst>
          </p:nvPr>
        </p:nvSpPr>
        <p:spPr bwMode="auto">
          <a:xfrm>
            <a:off x="9197975" y="658971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5FA81C6-2A85-481D-9DB2-4E49F8FD8B39}" type="datetime'''''''''''''FY''''''''''''''''''2''''''''''6'''''''">
              <a:rPr lang="en-IN" altLang="en-US" b="0" smtClean="0"/>
              <a:pPr lvl="1" algn="ctr">
                <a:spcBef>
                  <a:spcPct val="0"/>
                </a:spcBef>
                <a:spcAft>
                  <a:spcPct val="0"/>
                </a:spcAft>
              </a:pPr>
              <a:t>FY26</a:t>
            </a:fld>
            <a:endParaRPr lang="en-IN" b="0" noProof="0" dirty="0">
              <a:sym typeface="+mn-lt"/>
            </a:endParaRPr>
          </a:p>
        </p:txBody>
      </p:sp>
      <p:sp>
        <p:nvSpPr>
          <p:cNvPr id="228" name="StandardTextbox"/>
          <p:cNvSpPr>
            <a:spLocks noGrp="1"/>
          </p:cNvSpPr>
          <p:nvPr>
            <p:custDataLst>
              <p:tags r:id="rId24"/>
            </p:custDataLst>
          </p:nvPr>
        </p:nvSpPr>
        <p:spPr bwMode="gray">
          <a:xfrm>
            <a:off x="5908675" y="5878513"/>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2EDB931-C766-474B-BFCE-29FDA3E37338}" type="datetime'''5''''''''''''''''''''''''''''''''''''''''''3''%'''''">
              <a:rPr lang="en-IN" altLang="en-US" b="0" smtClean="0"/>
              <a:pPr lvl="1" algn="ctr">
                <a:spcBef>
                  <a:spcPct val="0"/>
                </a:spcBef>
                <a:spcAft>
                  <a:spcPct val="0"/>
                </a:spcAft>
              </a:pPr>
              <a:t>53%</a:t>
            </a:fld>
            <a:endParaRPr lang="en-IN" b="0" noProof="0" dirty="0">
              <a:sym typeface="+mn-lt"/>
            </a:endParaRPr>
          </a:p>
        </p:txBody>
      </p:sp>
      <p:sp>
        <p:nvSpPr>
          <p:cNvPr id="262" name="StandardTextbox"/>
          <p:cNvSpPr>
            <a:spLocks noGrp="1"/>
          </p:cNvSpPr>
          <p:nvPr>
            <p:custDataLst>
              <p:tags r:id="rId25"/>
            </p:custDataLst>
          </p:nvPr>
        </p:nvSpPr>
        <p:spPr bwMode="gray">
          <a:xfrm>
            <a:off x="6346825" y="5759450"/>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756B6E4D-D187-4E0A-B698-3EBB59F4D646}" type="datetime'''''''''''''6''''''7''''''''''%'''">
              <a:rPr lang="en-IN" altLang="en-US" b="0" smtClean="0"/>
              <a:pPr lvl="1" algn="ctr">
                <a:spcBef>
                  <a:spcPct val="0"/>
                </a:spcBef>
                <a:spcAft>
                  <a:spcPct val="0"/>
                </a:spcAft>
              </a:pPr>
              <a:t>67%</a:t>
            </a:fld>
            <a:endParaRPr lang="en-IN" b="0" noProof="0" dirty="0">
              <a:sym typeface="+mn-lt"/>
            </a:endParaRPr>
          </a:p>
        </p:txBody>
      </p:sp>
      <p:sp>
        <p:nvSpPr>
          <p:cNvPr id="227" name="StandardTextbox"/>
          <p:cNvSpPr>
            <a:spLocks noGrp="1"/>
          </p:cNvSpPr>
          <p:nvPr>
            <p:custDataLst>
              <p:tags r:id="rId26"/>
            </p:custDataLst>
          </p:nvPr>
        </p:nvSpPr>
        <p:spPr bwMode="gray">
          <a:xfrm>
            <a:off x="7440613" y="5830888"/>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1626F8EB-8420-458F-83A5-206C2544E6EB}" type="datetime'''''''''5''''''9''''''''''''''''''''''''''''''''''%'''''''">
              <a:rPr lang="en-IN" altLang="en-US" b="0" smtClean="0"/>
              <a:pPr lvl="1" algn="ctr">
                <a:spcBef>
                  <a:spcPct val="0"/>
                </a:spcBef>
                <a:spcAft>
                  <a:spcPct val="0"/>
                </a:spcAft>
              </a:pPr>
              <a:t>59%</a:t>
            </a:fld>
            <a:endParaRPr lang="en-IN" b="0" noProof="0" dirty="0">
              <a:sym typeface="+mn-lt"/>
            </a:endParaRPr>
          </a:p>
        </p:txBody>
      </p:sp>
      <p:sp>
        <p:nvSpPr>
          <p:cNvPr id="264" name="StandardTextbox"/>
          <p:cNvSpPr>
            <a:spLocks noGrp="1"/>
          </p:cNvSpPr>
          <p:nvPr>
            <p:custDataLst>
              <p:tags r:id="rId27"/>
            </p:custDataLst>
          </p:nvPr>
        </p:nvSpPr>
        <p:spPr bwMode="gray">
          <a:xfrm>
            <a:off x="7877175" y="5718175"/>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7E5FB16-AF07-4E0C-B09B-EAA292425415}" type="datetime'''''''''''''''''''''''''7''''''''2''''''''''''''''''''''%'''''">
              <a:rPr lang="en-IN" altLang="en-US" b="0" smtClean="0"/>
              <a:pPr lvl="1" algn="ctr">
                <a:spcBef>
                  <a:spcPct val="0"/>
                </a:spcBef>
                <a:spcAft>
                  <a:spcPct val="0"/>
                </a:spcAft>
              </a:pPr>
              <a:t>72%</a:t>
            </a:fld>
            <a:endParaRPr lang="en-IN" b="0" noProof="0" dirty="0">
              <a:sym typeface="+mn-lt"/>
            </a:endParaRPr>
          </a:p>
        </p:txBody>
      </p:sp>
      <p:sp>
        <p:nvSpPr>
          <p:cNvPr id="266" name="StandardTextbox"/>
          <p:cNvSpPr>
            <a:spLocks noGrp="1"/>
          </p:cNvSpPr>
          <p:nvPr>
            <p:custDataLst>
              <p:tags r:id="rId28"/>
            </p:custDataLst>
          </p:nvPr>
        </p:nvSpPr>
        <p:spPr bwMode="gray">
          <a:xfrm>
            <a:off x="9336088" y="5649913"/>
            <a:ext cx="4873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r>
              <a:rPr lang="en-IN" altLang="en-US" b="0" dirty="0"/>
              <a:t>~</a:t>
            </a:r>
            <a:fld id="{8799852A-6824-4EFE-9DA2-4E80E8866B6E}" type="datetime'''''''8''''''''''''''''''''''''''''''''0''%'''''''''''''''''">
              <a:rPr lang="en-IN" altLang="en-US" b="0" smtClean="0"/>
              <a:pPr lvl="1" algn="ctr">
                <a:spcBef>
                  <a:spcPct val="0"/>
                </a:spcBef>
                <a:spcAft>
                  <a:spcPct val="0"/>
                </a:spcAft>
              </a:pPr>
              <a:t>80%</a:t>
            </a:fld>
            <a:r>
              <a:rPr lang="en-IN" altLang="en-US" b="0" dirty="0"/>
              <a:t> </a:t>
            </a:r>
            <a:endParaRPr lang="en-IN" b="0" noProof="0" dirty="0">
              <a:sym typeface="+mn-lt"/>
            </a:endParaRPr>
          </a:p>
        </p:txBody>
      </p:sp>
      <p:sp>
        <p:nvSpPr>
          <p:cNvPr id="233" name="StandardTextbox"/>
          <p:cNvSpPr>
            <a:spLocks noGrp="1"/>
          </p:cNvSpPr>
          <p:nvPr>
            <p:custDataLst>
              <p:tags r:id="rId29"/>
            </p:custDataLst>
          </p:nvPr>
        </p:nvSpPr>
        <p:spPr bwMode="gray">
          <a:xfrm>
            <a:off x="8970963" y="5692775"/>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89860A26-56EA-438F-A69B-1FC58CA9006A}" type="datetime'75''''''''''''''''''''''''''''''''''''%'''''''''''''''''''">
              <a:rPr lang="en-IN" altLang="en-US" b="0" smtClean="0"/>
              <a:pPr lvl="1" algn="ctr">
                <a:spcBef>
                  <a:spcPct val="0"/>
                </a:spcBef>
                <a:spcAft>
                  <a:spcPct val="0"/>
                </a:spcAft>
              </a:pPr>
              <a:t>75%</a:t>
            </a:fld>
            <a:endParaRPr lang="en-IN" b="0" noProof="0" dirty="0">
              <a:sym typeface="+mn-lt"/>
            </a:endParaRPr>
          </a:p>
        </p:txBody>
      </p:sp>
      <p:sp>
        <p:nvSpPr>
          <p:cNvPr id="6" name="Rectangle 5"/>
          <p:cNvSpPr/>
          <p:nvPr>
            <p:custDataLst>
              <p:tags r:id="rId30"/>
            </p:custDataLst>
          </p:nvPr>
        </p:nvSpPr>
        <p:spPr bwMode="auto">
          <a:xfrm>
            <a:off x="5786438" y="6956425"/>
            <a:ext cx="179388" cy="133350"/>
          </a:xfrm>
          <a:prstGeom prst="rect">
            <a:avLst/>
          </a:pr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34" name="Rectangle 233"/>
          <p:cNvSpPr/>
          <p:nvPr>
            <p:custDataLst>
              <p:tags r:id="rId31"/>
            </p:custDataLst>
          </p:nvPr>
        </p:nvSpPr>
        <p:spPr bwMode="auto">
          <a:xfrm>
            <a:off x="5786438" y="6753225"/>
            <a:ext cx="179388" cy="133350"/>
          </a:xfrm>
          <a:prstGeom prst="rect">
            <a:avLst/>
          </a:prstGeom>
          <a:solidFill>
            <a:srgbClr val="005587"/>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35" name="StandardTextbox"/>
          <p:cNvSpPr>
            <a:spLocks noGrp="1"/>
          </p:cNvSpPr>
          <p:nvPr>
            <p:custDataLst>
              <p:tags r:id="rId32"/>
            </p:custDataLst>
          </p:nvPr>
        </p:nvSpPr>
        <p:spPr bwMode="auto">
          <a:xfrm>
            <a:off x="6016625" y="6748463"/>
            <a:ext cx="273367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9C993E77-34DD-4914-93EF-8A6264E9D9CE}" type="datetime''''' Averag''e PLF ''''of Gas Bas''''''ed Plants'' (overall)'">
              <a:rPr lang="en-US" altLang="en-US" b="0" smtClean="0"/>
              <a:pPr lvl="1">
                <a:spcBef>
                  <a:spcPct val="0"/>
                </a:spcBef>
                <a:spcAft>
                  <a:spcPct val="0"/>
                </a:spcAft>
              </a:pPr>
              <a:t> Average PLF of Gas Based Plants (overall)</a:t>
            </a:fld>
            <a:endParaRPr lang="en-IN" b="0" noProof="0" dirty="0">
              <a:sym typeface="+mn-lt"/>
            </a:endParaRPr>
          </a:p>
        </p:txBody>
      </p:sp>
      <p:sp>
        <p:nvSpPr>
          <p:cNvPr id="261" name="StandardTextbox"/>
          <p:cNvSpPr>
            <a:spLocks noGrp="1"/>
          </p:cNvSpPr>
          <p:nvPr>
            <p:custDataLst>
              <p:tags r:id="rId33"/>
            </p:custDataLst>
          </p:nvPr>
        </p:nvSpPr>
        <p:spPr bwMode="auto">
          <a:xfrm>
            <a:off x="6016625" y="6951663"/>
            <a:ext cx="30178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466D135C-EF10-4CD7-9AF7-7E059C0FA8A8}" type="datetime''' Average PL''F of G''as B''ased ''Plan''ts (IPP / SI''PPs)'">
              <a:rPr lang="en-US" altLang="en-US" b="0" smtClean="0"/>
              <a:pPr lvl="1">
                <a:spcBef>
                  <a:spcPct val="0"/>
                </a:spcBef>
                <a:spcAft>
                  <a:spcPct val="0"/>
                </a:spcAft>
              </a:pPr>
              <a:t> Average PLF of Gas Based Plants (IPP / SIPPs)</a:t>
            </a:fld>
            <a:endParaRPr lang="en-IN" b="0" noProof="0" dirty="0">
              <a:sym typeface="+mn-lt"/>
            </a:endParaRPr>
          </a:p>
        </p:txBody>
      </p:sp>
      <p:sp>
        <p:nvSpPr>
          <p:cNvPr id="272" name="Rounded Rectangle 271"/>
          <p:cNvSpPr/>
          <p:nvPr/>
        </p:nvSpPr>
        <p:spPr bwMode="gray">
          <a:xfrm>
            <a:off x="5533126" y="5023742"/>
            <a:ext cx="4593854" cy="388046"/>
          </a:xfrm>
          <a:prstGeom prst="roundRect">
            <a:avLst/>
          </a:prstGeom>
          <a:solidFill>
            <a:schemeClr val="accent6">
              <a:lumMod val="20000"/>
              <a:lumOff val="8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800" b="1" dirty="0"/>
              <a:t>Basis Gas Allocation</a:t>
            </a:r>
            <a:endParaRPr lang="en-IN" sz="800" b="1" dirty="0"/>
          </a:p>
        </p:txBody>
      </p:sp>
    </p:spTree>
    <p:extLst>
      <p:ext uri="{BB962C8B-B14F-4D97-AF65-F5344CB8AC3E}">
        <p14:creationId xmlns:p14="http://schemas.microsoft.com/office/powerpoint/2010/main" val="4074953447"/>
      </p:ext>
    </p:extLst>
  </p:cSld>
  <p:clrMapOvr>
    <a:masterClrMapping/>
  </p:clrMapOvr>
  <p:transition>
    <p:fade/>
  </p:transition>
</p:sld>
</file>

<file path=ppt/slides/slide73.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214281058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US" sz="3898" b="1" u="none" strike="noStrike" kern="1200" cap="none" spc="0" normalizeH="0" noProof="0" dirty="0">
              <a:ln>
                <a:noFill/>
              </a:ln>
              <a:solidFill>
                <a:prstClr val="white"/>
              </a:solidFill>
              <a:effectLst/>
              <a:uLnTx/>
              <a:uFillTx/>
              <a:latin typeface="Verdana" panose="020B0604030504040204" pitchFamily="34" charset="0"/>
              <a:ea typeface="Open Sans" panose="020B0606030504020204" pitchFamily="34" charset="0"/>
              <a:cs typeface="Open Sans" panose="020B0606030504020204" pitchFamily="34" charset="0"/>
              <a:sym typeface="Verdana" panose="020B0604030504040204" pitchFamily="34" charset="0"/>
            </a:endParaRPr>
          </a:p>
        </p:txBody>
      </p:sp>
      <p:sp>
        <p:nvSpPr>
          <p:cNvPr id="2" name="Title 1"/>
          <p:cNvSpPr>
            <a:spLocks noGrp="1"/>
          </p:cNvSpPr>
          <p:nvPr>
            <p:ph type="title"/>
          </p:nvPr>
        </p:nvSpPr>
        <p:spPr>
          <a:xfrm>
            <a:off x="439925" y="1880184"/>
            <a:ext cx="9243963" cy="2147709"/>
          </a:xfrm>
        </p:spPr>
        <p:txBody>
          <a:bodyPr/>
          <a:lstStyle/>
          <a:p>
            <a:r>
              <a:rPr lang="en-US" dirty="0"/>
              <a:t>Commercial Dispatchability for Nimbus</a:t>
            </a:r>
            <a:endParaRPr lang="en-IN" dirty="0"/>
          </a:p>
        </p:txBody>
      </p:sp>
    </p:spTree>
    <p:extLst>
      <p:ext uri="{BB962C8B-B14F-4D97-AF65-F5344CB8AC3E}">
        <p14:creationId xmlns:p14="http://schemas.microsoft.com/office/powerpoint/2010/main" val="1478825358"/>
      </p:ext>
    </p:extLst>
  </p:cSld>
  <p:clrMapOvr>
    <a:masterClrMapping/>
  </p:clrMapOvr>
  <p:transition>
    <p:fade/>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188308572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4" name="Object 3"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1013712651"/>
              </p:ext>
            </p:ext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table shows the assumptions for determining tariff for Nimbus Plant:</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table shows the estimated levelized tariff for Nimbus Plant based on fuel &amp; dispatchability:</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Power Market | Plant Dispatchability (Based on merit Order)</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Considering the prevailing</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tariff schedule (as per PPA) &amp; fuel prices in Bangladesh, the levelized tariff for Nimbus on Gas Fuel could range between Tk ~2.5 – </a:t>
            </a:r>
            <a:r>
              <a:rPr lang="en-US" sz="1400" dirty="0">
                <a:solidFill>
                  <a:prstClr val="black">
                    <a:lumMod val="50000"/>
                    <a:lumOff val="50000"/>
                  </a:prstClr>
                </a:solidFill>
                <a:latin typeface="Verdana" panose="020B0604030504040204" pitchFamily="34" charset="0"/>
              </a:rPr>
              <a:t>3.6</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 unit (at dispatch levels of 100% to 60%)</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2783629173"/>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lgn="just">
                        <a:spcAft>
                          <a:spcPts val="500"/>
                        </a:spcAft>
                        <a:buFont typeface="Arial" panose="020B0604020202020204" pitchFamily="34" charset="0"/>
                        <a:buNone/>
                      </a:pPr>
                      <a:r>
                        <a:rPr lang="en-US" sz="1000" b="1" baseline="0" dirty="0">
                          <a:solidFill>
                            <a:schemeClr val="tx1"/>
                          </a:solidFill>
                        </a:rPr>
                        <a:t>Tariff Assumption for Nimbus</a:t>
                      </a:r>
                      <a:endParaRPr lang="en-US" sz="1000" b="0" baseline="0" dirty="0">
                        <a:solidFill>
                          <a:schemeClr val="tx1"/>
                        </a:solidFill>
                      </a:endParaRP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To assess the economic dispatch of the Nimbus plant we have estimated the levelized tariff of the Nimbus power plant</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We have considered the fixed &amp; variable O&amp;M costs as per the Tariff Schedule provided in the PPA</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Further we have projected the energy charge (fuel cost) based on the plant dispatchability levels, heat rates and fuel consumption estimations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The levelized tariffs have been subsequently compared with the present merit order of Bangladesh</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The broad assumptions for the estimation has been shown in the table on the right (above)</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1" baseline="0" dirty="0">
                          <a:solidFill>
                            <a:schemeClr val="tx1"/>
                          </a:solidFill>
                        </a:rPr>
                        <a:t>Estimated Levelized Tariff</a:t>
                      </a:r>
                      <a:endParaRPr lang="en-US" sz="1000" b="0" baseline="0" dirty="0">
                        <a:solidFill>
                          <a:schemeClr val="tx1"/>
                        </a:solidFill>
                      </a:endParaRP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As can be seen from the table on the right (below), in case of the plant running on gas, the levelized tariff could range between Tk 2.5 / kWh to Tk 3.6 / unit</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Similarly in case the plant is run on HSD the levelized tariff could increase to Tk ~14.1 – 16.9 / kWh</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6" name="Rectangle 25"/>
          <p:cNvSpPr/>
          <p:nvPr/>
        </p:nvSpPr>
        <p:spPr bwMode="gray">
          <a:xfrm>
            <a:off x="357824" y="7301543"/>
            <a:ext cx="1011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PPA; Deloitte Analysis Note: 1) The above tariff projections has been based on data solely available in the PPA and the prevailing fuel prices in Bangladesh at 30</a:t>
            </a:r>
            <a:r>
              <a:rPr lang="en-US" sz="700" i="1" baseline="30000" dirty="0">
                <a:solidFill>
                  <a:prstClr val="black"/>
                </a:solidFill>
              </a:rPr>
              <a:t>th</a:t>
            </a:r>
            <a:r>
              <a:rPr lang="en-US" sz="700" i="1" dirty="0">
                <a:solidFill>
                  <a:prstClr val="black"/>
                </a:solidFill>
              </a:rPr>
              <a:t> May 2020. 2) The per unit tariff have been projected considering annual inflation rate – foreign assumed at 2%, annual inflation rate – local assumed at 6% and Discount factor of 10%; No escalation in fuel prices has been assumed 3) 1 USD to BDT considered at 85 BDT</a:t>
            </a:r>
          </a:p>
        </p:txBody>
      </p:sp>
      <p:graphicFrame>
        <p:nvGraphicFramePr>
          <p:cNvPr id="8" name="Table 7"/>
          <p:cNvGraphicFramePr>
            <a:graphicFrameLocks noGrp="1"/>
          </p:cNvGraphicFramePr>
          <p:nvPr>
            <p:extLst>
              <p:ext uri="{D42A27DB-BD31-4B8C-83A1-F6EECF244321}">
                <p14:modId xmlns:p14="http://schemas.microsoft.com/office/powerpoint/2010/main" val="3924927666"/>
              </p:ext>
            </p:extLst>
          </p:nvPr>
        </p:nvGraphicFramePr>
        <p:xfrm>
          <a:off x="5524500" y="2464096"/>
          <a:ext cx="4716465" cy="2534196"/>
        </p:xfrm>
        <a:graphic>
          <a:graphicData uri="http://schemas.openxmlformats.org/drawingml/2006/table">
            <a:tbl>
              <a:tblPr firstRow="1" bandRow="1">
                <a:tableStyleId>{69012ECD-51FC-41F1-AA8D-1B2483CD663E}</a:tableStyleId>
              </a:tblPr>
              <a:tblGrid>
                <a:gridCol w="1491330">
                  <a:extLst>
                    <a:ext uri="{9D8B030D-6E8A-4147-A177-3AD203B41FA5}">
                      <a16:colId xmlns:a16="http://schemas.microsoft.com/office/drawing/2014/main" val="52061718"/>
                    </a:ext>
                  </a:extLst>
                </a:gridCol>
                <a:gridCol w="1053615">
                  <a:extLst>
                    <a:ext uri="{9D8B030D-6E8A-4147-A177-3AD203B41FA5}">
                      <a16:colId xmlns:a16="http://schemas.microsoft.com/office/drawing/2014/main" val="2674717102"/>
                    </a:ext>
                  </a:extLst>
                </a:gridCol>
                <a:gridCol w="1085760">
                  <a:extLst>
                    <a:ext uri="{9D8B030D-6E8A-4147-A177-3AD203B41FA5}">
                      <a16:colId xmlns:a16="http://schemas.microsoft.com/office/drawing/2014/main" val="3093220288"/>
                    </a:ext>
                  </a:extLst>
                </a:gridCol>
                <a:gridCol w="1085760">
                  <a:extLst>
                    <a:ext uri="{9D8B030D-6E8A-4147-A177-3AD203B41FA5}">
                      <a16:colId xmlns:a16="http://schemas.microsoft.com/office/drawing/2014/main" val="3890287122"/>
                    </a:ext>
                  </a:extLst>
                </a:gridCol>
              </a:tblGrid>
              <a:tr h="327338">
                <a:tc>
                  <a:txBody>
                    <a:bodyPr/>
                    <a:lstStyle/>
                    <a:p>
                      <a:pPr algn="l" fontAlgn="ctr"/>
                      <a:r>
                        <a:rPr lang="en-IN" sz="1000" u="none" strike="noStrike" dirty="0">
                          <a:effectLst/>
                        </a:rPr>
                        <a:t>Particulars</a:t>
                      </a:r>
                      <a:endParaRPr lang="en-IN" sz="1000" b="1" i="0" u="none" strike="noStrike" dirty="0">
                        <a:solidFill>
                          <a:srgbClr val="000000"/>
                        </a:solidFill>
                        <a:effectLst/>
                        <a:latin typeface="Calibri" panose="020F0502020204030204" pitchFamily="34" charset="0"/>
                      </a:endParaRPr>
                    </a:p>
                  </a:txBody>
                  <a:tcPr marL="36000" marR="36000" marT="0" marB="0" anchor="ctr"/>
                </a:tc>
                <a:tc>
                  <a:txBody>
                    <a:bodyPr/>
                    <a:lstStyle/>
                    <a:p>
                      <a:pPr algn="ctr" fontAlgn="ctr"/>
                      <a:r>
                        <a:rPr lang="en-IN" sz="1000" u="none" strike="noStrike" dirty="0">
                          <a:effectLst/>
                        </a:rPr>
                        <a:t>Unit</a:t>
                      </a:r>
                      <a:endParaRPr lang="en-IN" sz="1000" b="1" i="0" u="none" strike="noStrike" dirty="0">
                        <a:solidFill>
                          <a:srgbClr val="000000"/>
                        </a:solidFill>
                        <a:effectLst/>
                        <a:latin typeface="Calibri" panose="020F0502020204030204" pitchFamily="34" charset="0"/>
                      </a:endParaRPr>
                    </a:p>
                  </a:txBody>
                  <a:tcPr marL="36000" marR="36000" marT="0" marB="0" anchor="ctr"/>
                </a:tc>
                <a:tc>
                  <a:txBody>
                    <a:bodyPr/>
                    <a:lstStyle/>
                    <a:p>
                      <a:pPr algn="ctr" fontAlgn="ctr"/>
                      <a:r>
                        <a:rPr lang="en-IN" sz="1000" u="none" strike="noStrike" dirty="0">
                          <a:effectLst/>
                        </a:rPr>
                        <a:t>Value (on Gas)</a:t>
                      </a:r>
                      <a:endParaRPr lang="en-IN" sz="1000" b="1" i="0" u="none" strike="noStrike" dirty="0">
                        <a:solidFill>
                          <a:srgbClr val="000000"/>
                        </a:solidFill>
                        <a:effectLst/>
                        <a:latin typeface="Calibri" panose="020F0502020204030204" pitchFamily="34" charset="0"/>
                      </a:endParaRPr>
                    </a:p>
                  </a:txBody>
                  <a:tcPr marL="36000" marR="36000" marT="0" marB="0" anchor="ctr"/>
                </a:tc>
                <a:tc>
                  <a:txBody>
                    <a:bodyPr/>
                    <a:lstStyle/>
                    <a:p>
                      <a:pPr marL="0" algn="ctr" defTabSz="990571" rtl="0" eaLnBrk="1" fontAlgn="ctr" latinLnBrk="0" hangingPunct="1"/>
                      <a:r>
                        <a:rPr lang="en-US" sz="1000" u="none" strike="noStrike" kern="1200" dirty="0">
                          <a:effectLst/>
                        </a:rPr>
                        <a:t>Value (on HSD)</a:t>
                      </a:r>
                      <a:endParaRPr lang="en-IN" sz="1000" b="1" i="0" u="none" strike="noStrike" kern="1200" dirty="0">
                        <a:solidFill>
                          <a:srgbClr val="000000"/>
                        </a:solidFill>
                        <a:effectLst/>
                        <a:latin typeface="Calibri" panose="020F0502020204030204" pitchFamily="34" charset="0"/>
                        <a:ea typeface="+mn-ea"/>
                        <a:cs typeface="+mn-cs"/>
                      </a:endParaRPr>
                    </a:p>
                  </a:txBody>
                  <a:tcPr marL="36000" marR="36000" marT="0" marB="0" anchor="ctr"/>
                </a:tc>
                <a:extLst>
                  <a:ext uri="{0D108BD9-81ED-4DB2-BD59-A6C34878D82A}">
                    <a16:rowId xmlns:a16="http://schemas.microsoft.com/office/drawing/2014/main" val="124275219"/>
                  </a:ext>
                </a:extLst>
              </a:tr>
              <a:tr h="487794">
                <a:tc>
                  <a:txBody>
                    <a:bodyPr/>
                    <a:lstStyle/>
                    <a:p>
                      <a:pPr algn="l" fontAlgn="ctr"/>
                      <a:r>
                        <a:rPr lang="en-IN" sz="1000" u="none" strike="noStrike" dirty="0">
                          <a:effectLst/>
                        </a:rPr>
                        <a:t>Fuel Price</a:t>
                      </a:r>
                      <a:endParaRPr lang="en-IN" sz="1000" b="0" i="0" u="none" strike="noStrike" dirty="0">
                        <a:solidFill>
                          <a:srgbClr val="000000"/>
                        </a:solidFill>
                        <a:effectLst/>
                        <a:latin typeface="Calibri" panose="020F0502020204030204" pitchFamily="34" charset="0"/>
                      </a:endParaRPr>
                    </a:p>
                  </a:txBody>
                  <a:tcPr marL="36000" marR="36000" marT="0" marB="0" anchor="ctr"/>
                </a:tc>
                <a:tc>
                  <a:txBody>
                    <a:bodyPr/>
                    <a:lstStyle/>
                    <a:p>
                      <a:pPr algn="ctr" fontAlgn="ctr"/>
                      <a:r>
                        <a:rPr lang="en-IN" sz="1000" u="none" strike="noStrike" dirty="0">
                          <a:effectLst/>
                        </a:rPr>
                        <a:t>BDT/SCM (Gas)</a:t>
                      </a:r>
                      <a:r>
                        <a:rPr lang="en-IN" sz="1000" u="none" strike="noStrike" baseline="0" dirty="0">
                          <a:effectLst/>
                        </a:rPr>
                        <a:t> </a:t>
                      </a:r>
                    </a:p>
                    <a:p>
                      <a:pPr algn="ctr" fontAlgn="ctr"/>
                      <a:endParaRPr lang="en-IN" sz="1000" u="none" strike="noStrike" baseline="0" dirty="0">
                        <a:effectLst/>
                      </a:endParaRPr>
                    </a:p>
                    <a:p>
                      <a:pPr algn="ctr" fontAlgn="ctr"/>
                      <a:r>
                        <a:rPr lang="en-IN" sz="1000" u="none" strike="noStrike" dirty="0">
                          <a:effectLst/>
                        </a:rPr>
                        <a:t>BDT / Lit</a:t>
                      </a:r>
                      <a:r>
                        <a:rPr lang="en-IN" sz="1000" u="none" strike="noStrike" baseline="0" dirty="0">
                          <a:effectLst/>
                        </a:rPr>
                        <a:t> (Oil)</a:t>
                      </a:r>
                      <a:endParaRPr lang="en-IN" sz="1000" u="none" strike="noStrike" dirty="0">
                        <a:effectLst/>
                      </a:endParaRPr>
                    </a:p>
                    <a:p>
                      <a:pPr algn="ctr" fontAlgn="ctr"/>
                      <a:endParaRPr lang="en-IN" sz="1000" b="0" i="0" u="none" strike="noStrike" dirty="0">
                        <a:solidFill>
                          <a:srgbClr val="000000"/>
                        </a:solidFill>
                        <a:effectLst/>
                        <a:latin typeface="Calibri" panose="020F0502020204030204" pitchFamily="34" charset="0"/>
                      </a:endParaRPr>
                    </a:p>
                  </a:txBody>
                  <a:tcPr marL="36000" marR="36000" marT="0" marB="0" anchor="ctr"/>
                </a:tc>
                <a:tc>
                  <a:txBody>
                    <a:bodyPr/>
                    <a:lstStyle/>
                    <a:p>
                      <a:pPr algn="ctr" fontAlgn="ctr"/>
                      <a:r>
                        <a:rPr lang="en-IN" sz="1000" u="none" strike="noStrike" dirty="0">
                          <a:effectLst/>
                        </a:rPr>
                        <a:t>4.45</a:t>
                      </a:r>
                      <a:endParaRPr lang="en-IN" sz="1000" b="0" i="0" u="none" strike="noStrike" dirty="0">
                        <a:solidFill>
                          <a:srgbClr val="000000"/>
                        </a:solidFill>
                        <a:effectLst/>
                        <a:latin typeface="Calibri" panose="020F0502020204030204" pitchFamily="34" charset="0"/>
                      </a:endParaRPr>
                    </a:p>
                  </a:txBody>
                  <a:tcPr marL="36000" marR="36000" marT="0" marB="0" anchor="ctr"/>
                </a:tc>
                <a:tc>
                  <a:txBody>
                    <a:bodyPr/>
                    <a:lstStyle/>
                    <a:p>
                      <a:pPr marL="0" algn="ctr" defTabSz="990571" rtl="0" eaLnBrk="1" fontAlgn="ctr" latinLnBrk="0" hangingPunct="1"/>
                      <a:r>
                        <a:rPr lang="en-US" sz="1000" u="none" strike="noStrike" kern="1200" dirty="0">
                          <a:effectLst/>
                        </a:rPr>
                        <a:t>65</a:t>
                      </a:r>
                      <a:endParaRPr lang="en-IN" sz="1000" b="0" i="0" u="none" strike="noStrike" kern="1200" dirty="0">
                        <a:solidFill>
                          <a:srgbClr val="000000"/>
                        </a:solidFill>
                        <a:effectLst/>
                        <a:latin typeface="Calibri" panose="020F0502020204030204" pitchFamily="34" charset="0"/>
                        <a:ea typeface="+mn-ea"/>
                        <a:cs typeface="+mn-cs"/>
                      </a:endParaRPr>
                    </a:p>
                  </a:txBody>
                  <a:tcPr marL="36000" marR="36000" marT="0" marB="0" anchor="ctr"/>
                </a:tc>
                <a:extLst>
                  <a:ext uri="{0D108BD9-81ED-4DB2-BD59-A6C34878D82A}">
                    <a16:rowId xmlns:a16="http://schemas.microsoft.com/office/drawing/2014/main" val="4015896710"/>
                  </a:ext>
                </a:extLst>
              </a:tr>
              <a:tr h="167052">
                <a:tc>
                  <a:txBody>
                    <a:bodyPr/>
                    <a:lstStyle/>
                    <a:p>
                      <a:pPr algn="l" fontAlgn="ctr"/>
                      <a:r>
                        <a:rPr lang="en-IN" sz="1000" u="none" strike="noStrike" dirty="0">
                          <a:effectLst/>
                        </a:rPr>
                        <a:t>Heat Value</a:t>
                      </a:r>
                      <a:endParaRPr lang="en-IN" sz="1000" b="0" i="0" u="none" strike="noStrike" dirty="0">
                        <a:solidFill>
                          <a:srgbClr val="000000"/>
                        </a:solidFill>
                        <a:effectLst/>
                        <a:latin typeface="Calibri" panose="020F0502020204030204" pitchFamily="34" charset="0"/>
                      </a:endParaRPr>
                    </a:p>
                  </a:txBody>
                  <a:tcPr marL="36000" marR="36000" marT="0" marB="0" anchor="ctr"/>
                </a:tc>
                <a:tc>
                  <a:txBody>
                    <a:bodyPr/>
                    <a:lstStyle/>
                    <a:p>
                      <a:pPr algn="ctr" fontAlgn="ctr"/>
                      <a:r>
                        <a:rPr lang="en-US" sz="1000" u="none" strike="noStrike" dirty="0">
                          <a:effectLst/>
                        </a:rPr>
                        <a:t>KJ / kWh</a:t>
                      </a:r>
                      <a:endParaRPr lang="en-IN" sz="1000" b="0" i="0" u="none" strike="noStrike" dirty="0">
                        <a:solidFill>
                          <a:srgbClr val="000000"/>
                        </a:solidFill>
                        <a:effectLst/>
                        <a:latin typeface="Calibri" panose="020F0502020204030204" pitchFamily="34" charset="0"/>
                      </a:endParaRPr>
                    </a:p>
                  </a:txBody>
                  <a:tcPr marL="36000" marR="36000" marT="0" marB="0" anchor="ctr"/>
                </a:tc>
                <a:tc gridSpan="2">
                  <a:txBody>
                    <a:bodyPr/>
                    <a:lstStyle/>
                    <a:p>
                      <a:pPr marL="171450" indent="-171450" algn="l" defTabSz="990571" rtl="0" eaLnBrk="1" fontAlgn="ctr" latinLnBrk="0" hangingPunct="1">
                        <a:buFont typeface="Arial" panose="020B0604020202020204" pitchFamily="34" charset="0"/>
                        <a:buChar char="•"/>
                      </a:pPr>
                      <a:r>
                        <a:rPr lang="en-US" sz="1000" u="none" strike="noStrike" kern="1200" dirty="0">
                          <a:solidFill>
                            <a:schemeClr val="tx1"/>
                          </a:solidFill>
                          <a:effectLst/>
                          <a:latin typeface="+mn-lt"/>
                          <a:ea typeface="+mn-ea"/>
                          <a:cs typeface="+mn-cs"/>
                        </a:rPr>
                        <a:t>As per PPA based on PLF</a:t>
                      </a:r>
                      <a:endParaRPr lang="en-IN" sz="1000" u="none" strike="noStrike" kern="1200" dirty="0">
                        <a:solidFill>
                          <a:schemeClr val="tx1"/>
                        </a:solidFill>
                        <a:effectLst/>
                        <a:latin typeface="+mn-lt"/>
                        <a:ea typeface="+mn-ea"/>
                        <a:cs typeface="+mn-cs"/>
                      </a:endParaRPr>
                    </a:p>
                  </a:txBody>
                  <a:tcPr marL="36000" marR="36000" marT="0" marB="0" anchor="ctr"/>
                </a:tc>
                <a:tc hMerge="1">
                  <a:txBody>
                    <a:bodyPr/>
                    <a:lstStyle/>
                    <a:p>
                      <a:pPr marL="0" algn="ctr" defTabSz="990571" rtl="0" eaLnBrk="1" fontAlgn="ctr" latinLnBrk="0" hangingPunct="1"/>
                      <a:endParaRPr lang="en-IN" sz="1050" b="0" i="0" u="none" strike="noStrike" kern="1200" dirty="0">
                        <a:solidFill>
                          <a:srgbClr val="000000"/>
                        </a:solidFill>
                        <a:effectLst/>
                        <a:latin typeface="Calibri" panose="020F0502020204030204" pitchFamily="34" charset="0"/>
                        <a:ea typeface="+mn-ea"/>
                        <a:cs typeface="+mn-cs"/>
                      </a:endParaRPr>
                    </a:p>
                  </a:txBody>
                  <a:tcPr marL="36000" marR="36000" marT="0" marB="0" anchor="ctr"/>
                </a:tc>
                <a:extLst>
                  <a:ext uri="{0D108BD9-81ED-4DB2-BD59-A6C34878D82A}">
                    <a16:rowId xmlns:a16="http://schemas.microsoft.com/office/drawing/2014/main" val="1058675773"/>
                  </a:ext>
                </a:extLst>
              </a:tr>
              <a:tr h="515253">
                <a:tc>
                  <a:txBody>
                    <a:bodyPr/>
                    <a:lstStyle/>
                    <a:p>
                      <a:pPr algn="l" fontAlgn="ctr"/>
                      <a:r>
                        <a:rPr lang="en-US" sz="1000" u="none" strike="noStrike" dirty="0">
                          <a:effectLst/>
                        </a:rPr>
                        <a:t>Energy Charge</a:t>
                      </a:r>
                      <a:endParaRPr lang="en-IN" sz="1000" b="0" i="0" u="none" strike="noStrike" dirty="0">
                        <a:solidFill>
                          <a:srgbClr val="000000"/>
                        </a:solidFill>
                        <a:effectLst/>
                        <a:latin typeface="Calibri" panose="020F0502020204030204" pitchFamily="34" charset="0"/>
                      </a:endParaRPr>
                    </a:p>
                  </a:txBody>
                  <a:tcPr marL="36000" marR="36000" marT="0" marB="0" anchor="ctr"/>
                </a:tc>
                <a:tc>
                  <a:txBody>
                    <a:bodyPr/>
                    <a:lstStyle/>
                    <a:p>
                      <a:pPr algn="ctr" fontAlgn="ctr"/>
                      <a:r>
                        <a:rPr lang="en-US" sz="1000" u="none" strike="noStrike" dirty="0">
                          <a:effectLst/>
                        </a:rPr>
                        <a:t>Taka / kWh</a:t>
                      </a:r>
                      <a:endParaRPr lang="en-IN" sz="1000" b="0" i="0" u="none" strike="noStrike" dirty="0">
                        <a:solidFill>
                          <a:srgbClr val="000000"/>
                        </a:solidFill>
                        <a:effectLst/>
                        <a:latin typeface="Calibri" panose="020F0502020204030204" pitchFamily="34" charset="0"/>
                      </a:endParaRPr>
                    </a:p>
                  </a:txBody>
                  <a:tcPr marL="36000" marR="36000" marT="0" marB="0" anchor="ctr"/>
                </a:tc>
                <a:tc gridSpan="2">
                  <a:txBody>
                    <a:bodyPr/>
                    <a:lstStyle/>
                    <a:p>
                      <a:pPr marL="171450" indent="-171450" algn="l" defTabSz="990571" rtl="0" eaLnBrk="1" fontAlgn="ctr" latinLnBrk="0" hangingPunct="1">
                        <a:buFont typeface="Arial" panose="020B0604020202020204" pitchFamily="34" charset="0"/>
                        <a:buChar char="•"/>
                      </a:pPr>
                      <a:r>
                        <a:rPr lang="en-US" sz="1000" u="none" strike="noStrike" kern="1200" dirty="0">
                          <a:solidFill>
                            <a:schemeClr val="tx1"/>
                          </a:solidFill>
                          <a:effectLst/>
                          <a:latin typeface="+mn-lt"/>
                          <a:ea typeface="+mn-ea"/>
                          <a:cs typeface="+mn-cs"/>
                        </a:rPr>
                        <a:t>Variable O&amp;M  - As per tariff Schedule </a:t>
                      </a:r>
                    </a:p>
                    <a:p>
                      <a:pPr marL="171450" indent="-171450" algn="l" defTabSz="990571" rtl="0" eaLnBrk="1" fontAlgn="ctr" latinLnBrk="0" hangingPunct="1">
                        <a:buFont typeface="Arial" panose="020B0604020202020204" pitchFamily="34" charset="0"/>
                        <a:buChar char="•"/>
                      </a:pPr>
                      <a:r>
                        <a:rPr lang="en-US" sz="1000" u="none" strike="noStrike" kern="1200" dirty="0">
                          <a:solidFill>
                            <a:schemeClr val="tx1"/>
                          </a:solidFill>
                          <a:effectLst/>
                          <a:latin typeface="+mn-lt"/>
                          <a:ea typeface="+mn-ea"/>
                          <a:cs typeface="+mn-cs"/>
                        </a:rPr>
                        <a:t>Fuel Cost as per prevailing fuel prices &amp; heat value</a:t>
                      </a:r>
                      <a:endParaRPr lang="en-IN" sz="1000" u="none" strike="noStrike" kern="1200" dirty="0">
                        <a:solidFill>
                          <a:schemeClr val="tx1"/>
                        </a:solidFill>
                        <a:effectLst/>
                        <a:latin typeface="+mn-lt"/>
                        <a:ea typeface="+mn-ea"/>
                        <a:cs typeface="+mn-cs"/>
                      </a:endParaRPr>
                    </a:p>
                  </a:txBody>
                  <a:tcPr marL="36000" marR="36000" marT="0" marB="0" anchor="ctr"/>
                </a:tc>
                <a:tc hMerge="1">
                  <a:txBody>
                    <a:bodyPr/>
                    <a:lstStyle/>
                    <a:p>
                      <a:endParaRPr lang="en-IN"/>
                    </a:p>
                  </a:txBody>
                  <a:tcPr/>
                </a:tc>
                <a:extLst>
                  <a:ext uri="{0D108BD9-81ED-4DB2-BD59-A6C34878D82A}">
                    <a16:rowId xmlns:a16="http://schemas.microsoft.com/office/drawing/2014/main" val="1530029629"/>
                  </a:ext>
                </a:extLst>
              </a:tr>
              <a:tr h="334103">
                <a:tc>
                  <a:txBody>
                    <a:bodyPr/>
                    <a:lstStyle/>
                    <a:p>
                      <a:pPr algn="l" fontAlgn="ctr"/>
                      <a:r>
                        <a:rPr lang="en-IN" sz="1000" u="none" strike="noStrike" dirty="0">
                          <a:effectLst/>
                        </a:rPr>
                        <a:t> Fixed Charges</a:t>
                      </a:r>
                      <a:endParaRPr lang="en-IN" sz="1000" b="0" i="0" u="none" strike="noStrike" dirty="0">
                        <a:solidFill>
                          <a:srgbClr val="000000"/>
                        </a:solidFill>
                        <a:effectLst/>
                        <a:latin typeface="Calibri" panose="020F0502020204030204" pitchFamily="34" charset="0"/>
                      </a:endParaRPr>
                    </a:p>
                  </a:txBody>
                  <a:tcPr marL="36000" marR="36000" marT="0" marB="0" anchor="ctr"/>
                </a:tc>
                <a:tc>
                  <a:txBody>
                    <a:bodyPr/>
                    <a:lstStyle/>
                    <a:p>
                      <a:pPr algn="ctr" fontAlgn="ctr"/>
                      <a:r>
                        <a:rPr lang="en-IN" sz="1000" u="none" strike="noStrike" dirty="0">
                          <a:effectLst/>
                        </a:rPr>
                        <a:t>USD / Taka /KW-month</a:t>
                      </a:r>
                      <a:endParaRPr lang="en-IN" sz="1000" b="0" i="0" u="none" strike="noStrike" dirty="0">
                        <a:solidFill>
                          <a:srgbClr val="000000"/>
                        </a:solidFill>
                        <a:effectLst/>
                        <a:latin typeface="Calibri" panose="020F0502020204030204" pitchFamily="34" charset="0"/>
                      </a:endParaRPr>
                    </a:p>
                  </a:txBody>
                  <a:tcPr marL="36000" marR="36000" marT="0" marB="0" anchor="ctr"/>
                </a:tc>
                <a:tc gridSpan="2">
                  <a:txBody>
                    <a:bodyPr/>
                    <a:lstStyle/>
                    <a:p>
                      <a:pPr marL="171450" indent="-171450" algn="l" defTabSz="990571" rtl="0" eaLnBrk="1" fontAlgn="ctr" latinLnBrk="0" hangingPunct="1">
                        <a:buFont typeface="Arial" panose="020B0604020202020204" pitchFamily="34" charset="0"/>
                        <a:buChar char="•"/>
                      </a:pPr>
                      <a:r>
                        <a:rPr lang="en-IN" sz="1000" u="none" strike="noStrike" kern="1200" dirty="0">
                          <a:solidFill>
                            <a:schemeClr val="tx1"/>
                          </a:solidFill>
                          <a:effectLst/>
                          <a:latin typeface="+mn-lt"/>
                          <a:ea typeface="+mn-ea"/>
                          <a:cs typeface="+mn-cs"/>
                        </a:rPr>
                        <a:t>As per PPA Tariff Schedule</a:t>
                      </a:r>
                    </a:p>
                  </a:txBody>
                  <a:tcPr marL="36000" marR="36000" marT="0" marB="0" anchor="ctr"/>
                </a:tc>
                <a:tc hMerge="1">
                  <a:txBody>
                    <a:bodyPr/>
                    <a:lstStyle/>
                    <a:p>
                      <a:pPr marL="0" algn="ctr" defTabSz="990571" rtl="0" eaLnBrk="1" fontAlgn="ctr" latinLnBrk="0" hangingPunct="1"/>
                      <a:endParaRPr lang="en-IN" sz="1050" b="0" i="0" u="none" strike="noStrike" kern="1200" dirty="0">
                        <a:solidFill>
                          <a:srgbClr val="000000"/>
                        </a:solidFill>
                        <a:effectLst/>
                        <a:latin typeface="Calibri" panose="020F0502020204030204" pitchFamily="34" charset="0"/>
                        <a:ea typeface="+mn-ea"/>
                        <a:cs typeface="+mn-cs"/>
                      </a:endParaRPr>
                    </a:p>
                  </a:txBody>
                  <a:tcPr marL="7620" marR="7620" marT="7620" marB="0" anchor="ctr"/>
                </a:tc>
                <a:extLst>
                  <a:ext uri="{0D108BD9-81ED-4DB2-BD59-A6C34878D82A}">
                    <a16:rowId xmlns:a16="http://schemas.microsoft.com/office/drawing/2014/main" val="3690146552"/>
                  </a:ext>
                </a:extLst>
              </a:tr>
              <a:tr h="334103">
                <a:tc>
                  <a:txBody>
                    <a:bodyPr/>
                    <a:lstStyle/>
                    <a:p>
                      <a:pPr algn="l" fontAlgn="ctr"/>
                      <a:r>
                        <a:rPr lang="en-IN" sz="1000" u="none" strike="noStrike" dirty="0">
                          <a:effectLst/>
                        </a:rPr>
                        <a:t>USD/BDT exchange rate</a:t>
                      </a:r>
                      <a:endParaRPr lang="en-IN" sz="1000" b="0" i="0" u="none" strike="noStrike" dirty="0">
                        <a:solidFill>
                          <a:srgbClr val="000000"/>
                        </a:solidFill>
                        <a:effectLst/>
                        <a:latin typeface="Calibri" panose="020F0502020204030204" pitchFamily="34" charset="0"/>
                      </a:endParaRPr>
                    </a:p>
                  </a:txBody>
                  <a:tcPr marL="36000" marR="36000" marT="0" marB="0" anchor="ctr"/>
                </a:tc>
                <a:tc>
                  <a:txBody>
                    <a:bodyPr/>
                    <a:lstStyle/>
                    <a:p>
                      <a:pPr algn="ctr" fontAlgn="ctr"/>
                      <a:endParaRPr lang="en-IN" sz="1000" b="0" i="0" u="none" strike="noStrike" dirty="0">
                        <a:solidFill>
                          <a:srgbClr val="000000"/>
                        </a:solidFill>
                        <a:effectLst/>
                        <a:latin typeface="Calibri" panose="020F0502020204030204" pitchFamily="34" charset="0"/>
                      </a:endParaRPr>
                    </a:p>
                  </a:txBody>
                  <a:tcPr marL="36000" marR="36000" marT="0" marB="0" anchor="ctr"/>
                </a:tc>
                <a:tc gridSpan="2">
                  <a:txBody>
                    <a:bodyPr/>
                    <a:lstStyle/>
                    <a:p>
                      <a:pPr algn="ctr" fontAlgn="ctr"/>
                      <a:r>
                        <a:rPr lang="en-US" sz="1000" b="0" i="0" u="none" strike="noStrike" dirty="0">
                          <a:solidFill>
                            <a:srgbClr val="000000"/>
                          </a:solidFill>
                          <a:effectLst/>
                          <a:latin typeface="+mj-lt"/>
                        </a:rPr>
                        <a:t>85</a:t>
                      </a:r>
                      <a:endParaRPr lang="en-IN" sz="1000" b="0" i="0" u="none" strike="noStrike" dirty="0">
                        <a:solidFill>
                          <a:srgbClr val="000000"/>
                        </a:solidFill>
                        <a:effectLst/>
                        <a:latin typeface="+mj-lt"/>
                      </a:endParaRPr>
                    </a:p>
                  </a:txBody>
                  <a:tcPr marL="36000" marR="36000" marT="0" marB="0" anchor="ctr"/>
                </a:tc>
                <a:tc hMerge="1">
                  <a:txBody>
                    <a:bodyPr/>
                    <a:lstStyle/>
                    <a:p>
                      <a:pPr marL="0" algn="ctr" defTabSz="990571" rtl="0" eaLnBrk="1" fontAlgn="ctr" latinLnBrk="0" hangingPunct="1"/>
                      <a:endParaRPr lang="en-IN" sz="1050" b="0" i="0" u="none" strike="noStrike" kern="1200" dirty="0">
                        <a:solidFill>
                          <a:srgbClr val="000000"/>
                        </a:solidFill>
                        <a:effectLst/>
                        <a:latin typeface="Calibri" panose="020F0502020204030204" pitchFamily="34" charset="0"/>
                        <a:ea typeface="+mn-ea"/>
                        <a:cs typeface="+mn-cs"/>
                      </a:endParaRPr>
                    </a:p>
                  </a:txBody>
                  <a:tcPr marL="36000" marR="36000" marT="0" marB="0" anchor="ctr"/>
                </a:tc>
                <a:extLst>
                  <a:ext uri="{0D108BD9-81ED-4DB2-BD59-A6C34878D82A}">
                    <a16:rowId xmlns:a16="http://schemas.microsoft.com/office/drawing/2014/main" val="941655880"/>
                  </a:ext>
                </a:extLst>
              </a:tr>
            </a:tbl>
          </a:graphicData>
        </a:graphic>
      </p:graphicFrame>
      <p:graphicFrame>
        <p:nvGraphicFramePr>
          <p:cNvPr id="19" name="Table 18"/>
          <p:cNvGraphicFramePr>
            <a:graphicFrameLocks noGrp="1"/>
          </p:cNvGraphicFramePr>
          <p:nvPr>
            <p:extLst>
              <p:ext uri="{D42A27DB-BD31-4B8C-83A1-F6EECF244321}">
                <p14:modId xmlns:p14="http://schemas.microsoft.com/office/powerpoint/2010/main" val="594868112"/>
              </p:ext>
            </p:extLst>
          </p:nvPr>
        </p:nvGraphicFramePr>
        <p:xfrm>
          <a:off x="5524500" y="5447634"/>
          <a:ext cx="4716463" cy="1724709"/>
        </p:xfrm>
        <a:graphic>
          <a:graphicData uri="http://schemas.openxmlformats.org/drawingml/2006/table">
            <a:tbl>
              <a:tblPr firstRow="1" bandRow="1">
                <a:tableStyleId>{72833802-FEF1-4C79-8D5D-14CF1EAF98D9}</a:tableStyleId>
              </a:tblPr>
              <a:tblGrid>
                <a:gridCol w="595523">
                  <a:extLst>
                    <a:ext uri="{9D8B030D-6E8A-4147-A177-3AD203B41FA5}">
                      <a16:colId xmlns:a16="http://schemas.microsoft.com/office/drawing/2014/main" val="3006001708"/>
                    </a:ext>
                  </a:extLst>
                </a:gridCol>
                <a:gridCol w="1030235">
                  <a:extLst>
                    <a:ext uri="{9D8B030D-6E8A-4147-A177-3AD203B41FA5}">
                      <a16:colId xmlns:a16="http://schemas.microsoft.com/office/drawing/2014/main" val="2283900157"/>
                    </a:ext>
                  </a:extLst>
                </a:gridCol>
                <a:gridCol w="1030235">
                  <a:extLst>
                    <a:ext uri="{9D8B030D-6E8A-4147-A177-3AD203B41FA5}">
                      <a16:colId xmlns:a16="http://schemas.microsoft.com/office/drawing/2014/main" val="3205596781"/>
                    </a:ext>
                  </a:extLst>
                </a:gridCol>
                <a:gridCol w="1030235">
                  <a:extLst>
                    <a:ext uri="{9D8B030D-6E8A-4147-A177-3AD203B41FA5}">
                      <a16:colId xmlns:a16="http://schemas.microsoft.com/office/drawing/2014/main" val="1485336850"/>
                    </a:ext>
                  </a:extLst>
                </a:gridCol>
                <a:gridCol w="1030235">
                  <a:extLst>
                    <a:ext uri="{9D8B030D-6E8A-4147-A177-3AD203B41FA5}">
                      <a16:colId xmlns:a16="http://schemas.microsoft.com/office/drawing/2014/main" val="1820093155"/>
                    </a:ext>
                  </a:extLst>
                </a:gridCol>
              </a:tblGrid>
              <a:tr h="432466">
                <a:tc rowSpan="2">
                  <a:txBody>
                    <a:bodyPr/>
                    <a:lstStyle/>
                    <a:p>
                      <a:pPr algn="ctr"/>
                      <a:r>
                        <a:rPr lang="en-US" sz="1000" dirty="0">
                          <a:solidFill>
                            <a:schemeClr val="bg1"/>
                          </a:solidFill>
                        </a:rPr>
                        <a:t>PLFs</a:t>
                      </a:r>
                      <a:endParaRPr lang="en-IN" sz="1000" dirty="0">
                        <a:solidFill>
                          <a:schemeClr val="bg1"/>
                        </a:solidFill>
                      </a:endParaRPr>
                    </a:p>
                  </a:txBody>
                  <a:tcPr marL="36000" marR="36000" marT="0" marB="0" anchor="ctr"/>
                </a:tc>
                <a:tc gridSpan="2">
                  <a:txBody>
                    <a:bodyPr/>
                    <a:lstStyle/>
                    <a:p>
                      <a:pPr algn="ctr"/>
                      <a:r>
                        <a:rPr lang="en-US" sz="1000" b="1" dirty="0"/>
                        <a:t>Levelized tariff (Tk / kWh)</a:t>
                      </a:r>
                      <a:endParaRPr lang="en-IN" sz="1000" b="1" dirty="0"/>
                    </a:p>
                  </a:txBody>
                  <a:tcPr marL="36000" marR="36000" marT="0" marB="0">
                    <a:lnR w="12700" cap="flat" cmpd="sng" algn="ctr">
                      <a:solidFill>
                        <a:schemeClr val="accent2"/>
                      </a:solidFill>
                      <a:prstDash val="solid"/>
                      <a:round/>
                      <a:headEnd type="none" w="med" len="med"/>
                      <a:tailEnd type="none" w="med" len="med"/>
                    </a:lnR>
                  </a:tcPr>
                </a:tc>
                <a:tc hMerge="1">
                  <a:txBody>
                    <a:bodyPr/>
                    <a:lstStyle/>
                    <a:p>
                      <a:endParaRPr lang="en-IN" sz="900" dirty="0"/>
                    </a:p>
                  </a:txBody>
                  <a:tcPr/>
                </a:tc>
                <a:tc gridSpan="2">
                  <a:txBody>
                    <a:bodyPr/>
                    <a:lstStyle/>
                    <a:p>
                      <a:pPr marL="0" marR="0" lvl="0" indent="0" algn="ctr" defTabSz="990571" rtl="0" eaLnBrk="1" fontAlgn="auto" latinLnBrk="0" hangingPunct="1">
                        <a:lnSpc>
                          <a:spcPct val="100000"/>
                        </a:lnSpc>
                        <a:spcBef>
                          <a:spcPts val="0"/>
                        </a:spcBef>
                        <a:spcAft>
                          <a:spcPts val="0"/>
                        </a:spcAft>
                        <a:buClrTx/>
                        <a:buSzTx/>
                        <a:buFontTx/>
                        <a:buNone/>
                        <a:tabLst/>
                        <a:defRPr/>
                      </a:pPr>
                      <a:r>
                        <a:rPr lang="en-US" sz="1000" b="1" dirty="0"/>
                        <a:t>Levelized tariff (USD cents/ kWh)</a:t>
                      </a:r>
                      <a:endParaRPr lang="en-IN" sz="1000" b="1" dirty="0"/>
                    </a:p>
                    <a:p>
                      <a:pPr algn="ctr"/>
                      <a:endParaRPr lang="en-IN" sz="1000" b="1" dirty="0"/>
                    </a:p>
                  </a:txBody>
                  <a:tcPr marL="36000" marR="36000" marT="0" marB="0">
                    <a:lnL w="12700" cap="flat" cmpd="sng" algn="ctr">
                      <a:solidFill>
                        <a:schemeClr val="accent2"/>
                      </a:solidFill>
                      <a:prstDash val="solid"/>
                      <a:round/>
                      <a:headEnd type="none" w="med" len="med"/>
                      <a:tailEnd type="none" w="med" len="med"/>
                    </a:lnL>
                  </a:tcPr>
                </a:tc>
                <a:tc hMerge="1">
                  <a:txBody>
                    <a:bodyPr/>
                    <a:lstStyle/>
                    <a:p>
                      <a:pPr algn="ctr"/>
                      <a:endParaRPr lang="en-IN" sz="1000" b="1" dirty="0"/>
                    </a:p>
                  </a:txBody>
                  <a:tcPr marL="36000" marR="36000" marT="0" marB="0"/>
                </a:tc>
                <a:extLst>
                  <a:ext uri="{0D108BD9-81ED-4DB2-BD59-A6C34878D82A}">
                    <a16:rowId xmlns:a16="http://schemas.microsoft.com/office/drawing/2014/main" val="4142770162"/>
                  </a:ext>
                </a:extLst>
              </a:tr>
              <a:tr h="0">
                <a:tc vMerge="1">
                  <a:txBody>
                    <a:bodyPr/>
                    <a:lstStyle/>
                    <a:p>
                      <a:endParaRPr lang="en-IN" sz="900" dirty="0"/>
                    </a:p>
                  </a:txBody>
                  <a:tcPr/>
                </a:tc>
                <a:tc>
                  <a:txBody>
                    <a:bodyPr/>
                    <a:lstStyle/>
                    <a:p>
                      <a:pPr algn="ctr"/>
                      <a:r>
                        <a:rPr lang="en-US" sz="1000" b="1" dirty="0">
                          <a:solidFill>
                            <a:schemeClr val="bg1"/>
                          </a:solidFill>
                        </a:rPr>
                        <a:t>Gas</a:t>
                      </a:r>
                      <a:endParaRPr lang="en-IN" sz="1000" b="1" dirty="0">
                        <a:solidFill>
                          <a:schemeClr val="bg1"/>
                        </a:solidFill>
                      </a:endParaRPr>
                    </a:p>
                  </a:txBody>
                  <a:tcPr marT="0" marB="0" anchor="ctr">
                    <a:solidFill>
                      <a:schemeClr val="accent2"/>
                    </a:solidFill>
                  </a:tcPr>
                </a:tc>
                <a:tc>
                  <a:txBody>
                    <a:bodyPr/>
                    <a:lstStyle/>
                    <a:p>
                      <a:pPr algn="ctr"/>
                      <a:r>
                        <a:rPr lang="en-US" sz="1000" b="1" dirty="0">
                          <a:solidFill>
                            <a:schemeClr val="bg1"/>
                          </a:solidFill>
                        </a:rPr>
                        <a:t>HSD</a:t>
                      </a:r>
                      <a:endParaRPr lang="en-IN" sz="1000" b="1" dirty="0">
                        <a:solidFill>
                          <a:schemeClr val="bg1"/>
                        </a:solidFill>
                      </a:endParaRPr>
                    </a:p>
                  </a:txBody>
                  <a:tcPr marT="0" marB="0" anchor="ctr">
                    <a:lnR w="12700" cap="flat" cmpd="sng" algn="ctr">
                      <a:solidFill>
                        <a:schemeClr val="accent2"/>
                      </a:solidFill>
                      <a:prstDash val="solid"/>
                      <a:round/>
                      <a:headEnd type="none" w="med" len="med"/>
                      <a:tailEnd type="none" w="med" len="med"/>
                    </a:lnR>
                    <a:solidFill>
                      <a:schemeClr val="accent2"/>
                    </a:solidFill>
                  </a:tcPr>
                </a:tc>
                <a:tc>
                  <a:txBody>
                    <a:bodyPr/>
                    <a:lstStyle/>
                    <a:p>
                      <a:pPr algn="ctr"/>
                      <a:r>
                        <a:rPr lang="en-US" sz="1000" b="1" dirty="0">
                          <a:solidFill>
                            <a:schemeClr val="bg1"/>
                          </a:solidFill>
                        </a:rPr>
                        <a:t>Gas</a:t>
                      </a:r>
                      <a:endParaRPr lang="en-IN" sz="1000" b="1" dirty="0">
                        <a:solidFill>
                          <a:schemeClr val="bg1"/>
                        </a:solidFill>
                      </a:endParaRPr>
                    </a:p>
                  </a:txBody>
                  <a:tcPr marT="0" marB="0" anchor="ctr">
                    <a:lnL w="12700" cap="flat" cmpd="sng" algn="ctr">
                      <a:solidFill>
                        <a:schemeClr val="accent2"/>
                      </a:solidFill>
                      <a:prstDash val="solid"/>
                      <a:round/>
                      <a:headEnd type="none" w="med" len="med"/>
                      <a:tailEnd type="none" w="med" len="med"/>
                    </a:lnL>
                    <a:solidFill>
                      <a:schemeClr val="accent2"/>
                    </a:solidFill>
                  </a:tcPr>
                </a:tc>
                <a:tc>
                  <a:txBody>
                    <a:bodyPr/>
                    <a:lstStyle/>
                    <a:p>
                      <a:pPr algn="ctr"/>
                      <a:r>
                        <a:rPr lang="en-US" sz="1000" b="1" dirty="0">
                          <a:solidFill>
                            <a:schemeClr val="bg1"/>
                          </a:solidFill>
                        </a:rPr>
                        <a:t>HSD</a:t>
                      </a:r>
                      <a:endParaRPr lang="en-IN" sz="1000" b="1" dirty="0">
                        <a:solidFill>
                          <a:schemeClr val="bg1"/>
                        </a:solidFill>
                      </a:endParaRPr>
                    </a:p>
                  </a:txBody>
                  <a:tcPr marT="0" marB="0" anchor="ctr">
                    <a:solidFill>
                      <a:schemeClr val="accent2"/>
                    </a:solidFill>
                  </a:tcPr>
                </a:tc>
                <a:extLst>
                  <a:ext uri="{0D108BD9-81ED-4DB2-BD59-A6C34878D82A}">
                    <a16:rowId xmlns:a16="http://schemas.microsoft.com/office/drawing/2014/main" val="1395137700"/>
                  </a:ext>
                </a:extLst>
              </a:tr>
              <a:tr h="371703">
                <a:tc>
                  <a:txBody>
                    <a:bodyPr/>
                    <a:lstStyle/>
                    <a:p>
                      <a:pPr algn="ctr" fontAlgn="ctr"/>
                      <a:r>
                        <a:rPr lang="en-IN" sz="1000" b="1" u="none" strike="noStrike" dirty="0">
                          <a:effectLst/>
                        </a:rPr>
                        <a:t>100%</a:t>
                      </a:r>
                      <a:endParaRPr lang="en-IN" sz="1000" b="1" i="0" u="none" strike="noStrike" dirty="0">
                        <a:solidFill>
                          <a:srgbClr val="000000"/>
                        </a:solidFill>
                        <a:effectLst/>
                        <a:latin typeface="Calibri" panose="020F0502020204030204" pitchFamily="34" charset="0"/>
                      </a:endParaRPr>
                    </a:p>
                  </a:txBody>
                  <a:tcPr marL="5572" marR="5572" marT="5572" marB="0" anchor="ctr"/>
                </a:tc>
                <a:tc>
                  <a:txBody>
                    <a:bodyPr/>
                    <a:lstStyle/>
                    <a:p>
                      <a:pPr marL="0" algn="ctr" defTabSz="990571" rtl="0" eaLnBrk="1" fontAlgn="ctr" latinLnBrk="0" hangingPunct="1"/>
                      <a:r>
                        <a:rPr lang="en-IN" sz="1000" b="1" u="none" strike="noStrike" kern="1200" dirty="0">
                          <a:solidFill>
                            <a:schemeClr val="tx1"/>
                          </a:solidFill>
                          <a:effectLst/>
                          <a:latin typeface="+mn-lt"/>
                          <a:ea typeface="+mn-ea"/>
                          <a:cs typeface="+mn-cs"/>
                        </a:rPr>
                        <a:t>2.53 </a:t>
                      </a:r>
                    </a:p>
                  </a:txBody>
                  <a:tcPr marL="7620" marR="7620" marT="7620" marB="0" anchor="ctr"/>
                </a:tc>
                <a:tc>
                  <a:txBody>
                    <a:bodyPr/>
                    <a:lstStyle/>
                    <a:p>
                      <a:pPr marL="0" algn="ctr" defTabSz="990571" rtl="0" eaLnBrk="1" fontAlgn="ctr" latinLnBrk="0" hangingPunct="1"/>
                      <a:r>
                        <a:rPr lang="en-IN" sz="1000" b="1" u="none" strike="noStrike" kern="1200" dirty="0">
                          <a:solidFill>
                            <a:schemeClr val="tx1"/>
                          </a:solidFill>
                          <a:effectLst/>
                          <a:latin typeface="+mn-lt"/>
                          <a:ea typeface="+mn-ea"/>
                          <a:cs typeface="+mn-cs"/>
                        </a:rPr>
                        <a:t>14.14 </a:t>
                      </a:r>
                    </a:p>
                  </a:txBody>
                  <a:tcPr marL="7620" marR="7620" marT="7620" marB="0" anchor="ctr">
                    <a:lnR w="12700" cap="flat" cmpd="sng" algn="ctr">
                      <a:solidFill>
                        <a:schemeClr val="accent2"/>
                      </a:solidFill>
                      <a:prstDash val="solid"/>
                      <a:round/>
                      <a:headEnd type="none" w="med" len="med"/>
                      <a:tailEnd type="none" w="med" len="med"/>
                    </a:lnR>
                  </a:tcPr>
                </a:tc>
                <a:tc>
                  <a:txBody>
                    <a:bodyPr/>
                    <a:lstStyle/>
                    <a:p>
                      <a:pPr algn="ctr" fontAlgn="ctr"/>
                      <a:r>
                        <a:rPr lang="en-IN" sz="1000" b="1" u="none" strike="noStrike" dirty="0">
                          <a:effectLst/>
                        </a:rPr>
                        <a:t>2.98 </a:t>
                      </a:r>
                      <a:endParaRPr lang="en-IN" sz="1000" b="1" i="0" u="none" strike="noStrike" dirty="0">
                        <a:solidFill>
                          <a:srgbClr val="000000"/>
                        </a:solidFill>
                        <a:effectLst/>
                        <a:latin typeface="Calibri" panose="020F0502020204030204" pitchFamily="34" charset="0"/>
                      </a:endParaRPr>
                    </a:p>
                  </a:txBody>
                  <a:tcPr marL="5572" marR="5572" marT="5572" marB="0" anchor="ctr">
                    <a:lnL w="12700" cap="flat" cmpd="sng" algn="ctr">
                      <a:solidFill>
                        <a:schemeClr val="accent2"/>
                      </a:solidFill>
                      <a:prstDash val="solid"/>
                      <a:round/>
                      <a:headEnd type="none" w="med" len="med"/>
                      <a:tailEnd type="none" w="med" len="med"/>
                    </a:lnL>
                  </a:tcPr>
                </a:tc>
                <a:tc>
                  <a:txBody>
                    <a:bodyPr/>
                    <a:lstStyle/>
                    <a:p>
                      <a:pPr algn="ctr" fontAlgn="ctr"/>
                      <a:r>
                        <a:rPr lang="en-IN" sz="1000" b="1" u="none" strike="noStrike" dirty="0">
                          <a:effectLst/>
                        </a:rPr>
                        <a:t>16.63 </a:t>
                      </a:r>
                      <a:endParaRPr lang="en-IN" sz="1000" b="1" i="0" u="none" strike="noStrike" dirty="0">
                        <a:solidFill>
                          <a:srgbClr val="000000"/>
                        </a:solidFill>
                        <a:effectLst/>
                        <a:latin typeface="Calibri" panose="020F0502020204030204" pitchFamily="34" charset="0"/>
                      </a:endParaRPr>
                    </a:p>
                  </a:txBody>
                  <a:tcPr marL="5572" marR="5572" marT="5572" marB="0" anchor="ctr"/>
                </a:tc>
                <a:extLst>
                  <a:ext uri="{0D108BD9-81ED-4DB2-BD59-A6C34878D82A}">
                    <a16:rowId xmlns:a16="http://schemas.microsoft.com/office/drawing/2014/main" val="2731412193"/>
                  </a:ext>
                </a:extLst>
              </a:tr>
              <a:tr h="371703">
                <a:tc>
                  <a:txBody>
                    <a:bodyPr/>
                    <a:lstStyle/>
                    <a:p>
                      <a:pPr algn="ctr" fontAlgn="ctr"/>
                      <a:r>
                        <a:rPr lang="en-IN" sz="1000" b="1" u="none" strike="noStrike" dirty="0">
                          <a:effectLst/>
                        </a:rPr>
                        <a:t>80%</a:t>
                      </a:r>
                      <a:endParaRPr lang="en-IN" sz="1000" b="1" i="0" u="none" strike="noStrike" dirty="0">
                        <a:solidFill>
                          <a:srgbClr val="000000"/>
                        </a:solidFill>
                        <a:effectLst/>
                        <a:latin typeface="Calibri" panose="020F0502020204030204" pitchFamily="34" charset="0"/>
                      </a:endParaRPr>
                    </a:p>
                  </a:txBody>
                  <a:tcPr marL="5572" marR="5572" marT="5572" marB="0" anchor="ctr"/>
                </a:tc>
                <a:tc>
                  <a:txBody>
                    <a:bodyPr/>
                    <a:lstStyle/>
                    <a:p>
                      <a:pPr marL="0" algn="ctr" defTabSz="990571" rtl="0" eaLnBrk="1" fontAlgn="ctr" latinLnBrk="0" hangingPunct="1"/>
                      <a:r>
                        <a:rPr lang="en-IN" sz="1000" b="1" u="none" strike="noStrike" kern="1200" dirty="0">
                          <a:solidFill>
                            <a:schemeClr val="tx1"/>
                          </a:solidFill>
                          <a:effectLst/>
                          <a:latin typeface="+mn-lt"/>
                          <a:ea typeface="+mn-ea"/>
                          <a:cs typeface="+mn-cs"/>
                        </a:rPr>
                        <a:t>2.91 </a:t>
                      </a:r>
                    </a:p>
                  </a:txBody>
                  <a:tcPr marL="7620" marR="7620" marT="7620" marB="0" anchor="ctr"/>
                </a:tc>
                <a:tc>
                  <a:txBody>
                    <a:bodyPr/>
                    <a:lstStyle/>
                    <a:p>
                      <a:pPr marL="0" algn="ctr" defTabSz="990571" rtl="0" eaLnBrk="1" fontAlgn="ctr" latinLnBrk="0" hangingPunct="1"/>
                      <a:r>
                        <a:rPr lang="en-IN" sz="1000" b="1" u="none" strike="noStrike" kern="1200" dirty="0">
                          <a:solidFill>
                            <a:schemeClr val="tx1"/>
                          </a:solidFill>
                          <a:effectLst/>
                          <a:latin typeface="+mn-lt"/>
                          <a:ea typeface="+mn-ea"/>
                          <a:cs typeface="+mn-cs"/>
                        </a:rPr>
                        <a:t>15.10 </a:t>
                      </a:r>
                    </a:p>
                  </a:txBody>
                  <a:tcPr marL="7620" marR="7620" marT="7620" marB="0" anchor="ctr">
                    <a:lnR w="12700" cap="flat" cmpd="sng" algn="ctr">
                      <a:solidFill>
                        <a:schemeClr val="accent2"/>
                      </a:solidFill>
                      <a:prstDash val="solid"/>
                      <a:round/>
                      <a:headEnd type="none" w="med" len="med"/>
                      <a:tailEnd type="none" w="med" len="med"/>
                    </a:lnR>
                  </a:tcPr>
                </a:tc>
                <a:tc>
                  <a:txBody>
                    <a:bodyPr/>
                    <a:lstStyle/>
                    <a:p>
                      <a:pPr algn="ctr" fontAlgn="ctr"/>
                      <a:r>
                        <a:rPr lang="en-IN" sz="1000" b="1" u="none" strike="noStrike" dirty="0">
                          <a:effectLst/>
                        </a:rPr>
                        <a:t>3.43 </a:t>
                      </a:r>
                      <a:endParaRPr lang="en-IN" sz="1000" b="1" i="0" u="none" strike="noStrike" dirty="0">
                        <a:solidFill>
                          <a:srgbClr val="000000"/>
                        </a:solidFill>
                        <a:effectLst/>
                        <a:latin typeface="Calibri" panose="020F0502020204030204" pitchFamily="34" charset="0"/>
                      </a:endParaRPr>
                    </a:p>
                  </a:txBody>
                  <a:tcPr marL="5572" marR="5572" marT="5572" marB="0" anchor="ctr">
                    <a:lnL w="12700" cap="flat" cmpd="sng" algn="ctr">
                      <a:solidFill>
                        <a:schemeClr val="accent2"/>
                      </a:solidFill>
                      <a:prstDash val="solid"/>
                      <a:round/>
                      <a:headEnd type="none" w="med" len="med"/>
                      <a:tailEnd type="none" w="med" len="med"/>
                    </a:lnL>
                  </a:tcPr>
                </a:tc>
                <a:tc>
                  <a:txBody>
                    <a:bodyPr/>
                    <a:lstStyle/>
                    <a:p>
                      <a:pPr algn="ctr" fontAlgn="ctr"/>
                      <a:r>
                        <a:rPr lang="en-IN" sz="1000" b="1" u="none" strike="noStrike" dirty="0">
                          <a:effectLst/>
                        </a:rPr>
                        <a:t>17.76 </a:t>
                      </a:r>
                      <a:endParaRPr lang="en-IN" sz="1000" b="1" i="0" u="none" strike="noStrike" dirty="0">
                        <a:solidFill>
                          <a:srgbClr val="000000"/>
                        </a:solidFill>
                        <a:effectLst/>
                        <a:latin typeface="Calibri" panose="020F0502020204030204" pitchFamily="34" charset="0"/>
                      </a:endParaRPr>
                    </a:p>
                  </a:txBody>
                  <a:tcPr marL="5572" marR="5572" marT="5572" marB="0" anchor="ctr"/>
                </a:tc>
                <a:extLst>
                  <a:ext uri="{0D108BD9-81ED-4DB2-BD59-A6C34878D82A}">
                    <a16:rowId xmlns:a16="http://schemas.microsoft.com/office/drawing/2014/main" val="3010704345"/>
                  </a:ext>
                </a:extLst>
              </a:tr>
              <a:tr h="371703">
                <a:tc>
                  <a:txBody>
                    <a:bodyPr/>
                    <a:lstStyle/>
                    <a:p>
                      <a:pPr algn="ctr" fontAlgn="ctr"/>
                      <a:r>
                        <a:rPr lang="en-IN" sz="1000" b="1" u="none" strike="noStrike" dirty="0">
                          <a:effectLst/>
                        </a:rPr>
                        <a:t>60%</a:t>
                      </a:r>
                      <a:endParaRPr lang="en-IN" sz="1000" b="1" i="0" u="none" strike="noStrike" dirty="0">
                        <a:solidFill>
                          <a:srgbClr val="000000"/>
                        </a:solidFill>
                        <a:effectLst/>
                        <a:latin typeface="Calibri" panose="020F0502020204030204" pitchFamily="34" charset="0"/>
                      </a:endParaRPr>
                    </a:p>
                  </a:txBody>
                  <a:tcPr marL="5572" marR="5572" marT="5572" marB="0" anchor="ctr"/>
                </a:tc>
                <a:tc>
                  <a:txBody>
                    <a:bodyPr/>
                    <a:lstStyle/>
                    <a:p>
                      <a:pPr marL="0" algn="ctr" defTabSz="990571" rtl="0" eaLnBrk="1" fontAlgn="ctr" latinLnBrk="0" hangingPunct="1"/>
                      <a:r>
                        <a:rPr lang="en-IN" sz="1000" b="1" u="none" strike="noStrike" kern="1200" dirty="0">
                          <a:solidFill>
                            <a:schemeClr val="tx1"/>
                          </a:solidFill>
                          <a:effectLst/>
                          <a:latin typeface="+mn-lt"/>
                          <a:ea typeface="+mn-ea"/>
                          <a:cs typeface="+mn-cs"/>
                        </a:rPr>
                        <a:t>3.61 </a:t>
                      </a:r>
                    </a:p>
                  </a:txBody>
                  <a:tcPr marL="7620" marR="7620" marT="7620" marB="0" anchor="ctr"/>
                </a:tc>
                <a:tc>
                  <a:txBody>
                    <a:bodyPr/>
                    <a:lstStyle/>
                    <a:p>
                      <a:pPr marL="0" algn="ctr" defTabSz="990571" rtl="0" eaLnBrk="1" fontAlgn="ctr" latinLnBrk="0" hangingPunct="1"/>
                      <a:r>
                        <a:rPr lang="en-IN" sz="1000" b="1" u="none" strike="noStrike" kern="1200" dirty="0">
                          <a:solidFill>
                            <a:schemeClr val="tx1"/>
                          </a:solidFill>
                          <a:effectLst/>
                          <a:latin typeface="+mn-lt"/>
                          <a:ea typeface="+mn-ea"/>
                          <a:cs typeface="+mn-cs"/>
                        </a:rPr>
                        <a:t>16.90 </a:t>
                      </a:r>
                    </a:p>
                  </a:txBody>
                  <a:tcPr marL="7620" marR="7620" marT="7620" marB="0" anchor="ctr">
                    <a:lnR w="12700" cap="flat" cmpd="sng" algn="ctr">
                      <a:solidFill>
                        <a:schemeClr val="accent2"/>
                      </a:solidFill>
                      <a:prstDash val="solid"/>
                      <a:round/>
                      <a:headEnd type="none" w="med" len="med"/>
                      <a:tailEnd type="none" w="med" len="med"/>
                    </a:lnR>
                  </a:tcPr>
                </a:tc>
                <a:tc>
                  <a:txBody>
                    <a:bodyPr/>
                    <a:lstStyle/>
                    <a:p>
                      <a:pPr algn="ctr" fontAlgn="ctr"/>
                      <a:r>
                        <a:rPr lang="en-IN" sz="1000" b="1" u="none" strike="noStrike" dirty="0">
                          <a:effectLst/>
                        </a:rPr>
                        <a:t>4.25 </a:t>
                      </a:r>
                      <a:endParaRPr lang="en-IN" sz="1000" b="1" i="0" u="none" strike="noStrike" dirty="0">
                        <a:solidFill>
                          <a:srgbClr val="000000"/>
                        </a:solidFill>
                        <a:effectLst/>
                        <a:latin typeface="Calibri" panose="020F0502020204030204" pitchFamily="34" charset="0"/>
                      </a:endParaRPr>
                    </a:p>
                  </a:txBody>
                  <a:tcPr marL="5572" marR="5572" marT="5572" marB="0" anchor="ctr">
                    <a:lnL w="12700" cap="flat" cmpd="sng" algn="ctr">
                      <a:solidFill>
                        <a:schemeClr val="accent2"/>
                      </a:solidFill>
                      <a:prstDash val="solid"/>
                      <a:round/>
                      <a:headEnd type="none" w="med" len="med"/>
                      <a:tailEnd type="none" w="med" len="med"/>
                    </a:lnL>
                  </a:tcPr>
                </a:tc>
                <a:tc>
                  <a:txBody>
                    <a:bodyPr/>
                    <a:lstStyle/>
                    <a:p>
                      <a:pPr algn="ctr" fontAlgn="ctr"/>
                      <a:r>
                        <a:rPr lang="en-IN" sz="1000" b="1" u="none" strike="noStrike" dirty="0">
                          <a:effectLst/>
                        </a:rPr>
                        <a:t>19.88 </a:t>
                      </a:r>
                      <a:endParaRPr lang="en-IN" sz="1000" b="1" i="0" u="none" strike="noStrike" dirty="0">
                        <a:solidFill>
                          <a:srgbClr val="000000"/>
                        </a:solidFill>
                        <a:effectLst/>
                        <a:latin typeface="Calibri" panose="020F0502020204030204" pitchFamily="34" charset="0"/>
                      </a:endParaRPr>
                    </a:p>
                  </a:txBody>
                  <a:tcPr marL="5572" marR="5572" marT="5572" marB="0" anchor="ctr"/>
                </a:tc>
                <a:extLst>
                  <a:ext uri="{0D108BD9-81ED-4DB2-BD59-A6C34878D82A}">
                    <a16:rowId xmlns:a16="http://schemas.microsoft.com/office/drawing/2014/main" val="4247132284"/>
                  </a:ext>
                </a:extLst>
              </a:tr>
            </a:tbl>
          </a:graphicData>
        </a:graphic>
      </p:graphicFrame>
    </p:spTree>
    <p:extLst>
      <p:ext uri="{BB962C8B-B14F-4D97-AF65-F5344CB8AC3E}">
        <p14:creationId xmlns:p14="http://schemas.microsoft.com/office/powerpoint/2010/main" val="218772767"/>
      </p:ext>
    </p:extLst>
  </p:cSld>
  <p:clrMapOvr>
    <a:masterClrMapping/>
  </p:clrMapOvr>
  <p:transition>
    <p:fade/>
  </p:transition>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Object 12" hidden="1"/>
          <p:cNvGraphicFramePr>
            <a:graphicFrameLocks noChangeAspect="1"/>
          </p:cNvGraphicFramePr>
          <p:nvPr>
            <p:custDataLst>
              <p:tags r:id="rId1"/>
            </p:custDataLst>
            <p:extLst>
              <p:ext uri="{D42A27DB-BD31-4B8C-83A1-F6EECF244321}">
                <p14:modId xmlns:p14="http://schemas.microsoft.com/office/powerpoint/2010/main" val="57979240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13" name="Object 12"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12" name="Rectangle 1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14" name="Table 13"/>
          <p:cNvGraphicFramePr>
            <a:graphicFrameLocks noGrp="1"/>
          </p:cNvGraphicFramePr>
          <p:nvPr>
            <p:custDataLst>
              <p:tags r:id="rId3"/>
            </p:custDataLst>
            <p:extLst>
              <p:ext uri="{D42A27DB-BD31-4B8C-83A1-F6EECF244321}">
                <p14:modId xmlns:p14="http://schemas.microsoft.com/office/powerpoint/2010/main" val="3422310234"/>
              </p:ext>
            </p:extLst>
          </p:nvPr>
        </p:nvGraphicFramePr>
        <p:xfrm>
          <a:off x="449992" y="1961918"/>
          <a:ext cx="9790971" cy="5440367"/>
        </p:xfrm>
        <a:graphic>
          <a:graphicData uri="http://schemas.openxmlformats.org/drawingml/2006/table">
            <a:tbl>
              <a:tblPr firstRow="1" bandRow="1">
                <a:tableStyleId>{5C22544A-7EE6-4342-B048-85BDC9FD1C3A}</a:tableStyleId>
              </a:tblPr>
              <a:tblGrid>
                <a:gridCol w="9790971">
                  <a:extLst>
                    <a:ext uri="{9D8B030D-6E8A-4147-A177-3AD203B41FA5}">
                      <a16:colId xmlns:a16="http://schemas.microsoft.com/office/drawing/2014/main" val="20000"/>
                    </a:ext>
                  </a:extLst>
                </a:gridCol>
              </a:tblGrid>
              <a:tr h="5440367">
                <a:tc>
                  <a:txBody>
                    <a:bodyPr/>
                    <a:lstStyle/>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The following graphs projects the YoY Tariff projections with Gas as Primary Fuel with average dispatch levels of 100%, 80% and 60%</a:t>
                      </a: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6" name="Chart 5"/>
          <p:cNvGraphicFramePr/>
          <p:nvPr>
            <p:extLst>
              <p:ext uri="{D42A27DB-BD31-4B8C-83A1-F6EECF244321}">
                <p14:modId xmlns:p14="http://schemas.microsoft.com/office/powerpoint/2010/main" val="3999054992"/>
              </p:ext>
            </p:extLst>
          </p:nvPr>
        </p:nvGraphicFramePr>
        <p:xfrm>
          <a:off x="449264" y="2489101"/>
          <a:ext cx="9791700" cy="4408095"/>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7" name="Table 6"/>
          <p:cNvGraphicFramePr>
            <a:graphicFrameLocks noGrp="1"/>
          </p:cNvGraphicFramePr>
          <p:nvPr>
            <p:extLst>
              <p:ext uri="{D42A27DB-BD31-4B8C-83A1-F6EECF244321}">
                <p14:modId xmlns:p14="http://schemas.microsoft.com/office/powerpoint/2010/main" val="3033351616"/>
              </p:ext>
            </p:extLst>
          </p:nvPr>
        </p:nvGraphicFramePr>
        <p:xfrm>
          <a:off x="7617734" y="2998142"/>
          <a:ext cx="2623230" cy="1075458"/>
        </p:xfrm>
        <a:graphic>
          <a:graphicData uri="http://schemas.openxmlformats.org/drawingml/2006/table">
            <a:tbl>
              <a:tblPr firstRow="1" bandRow="1">
                <a:tableStyleId>{72833802-FEF1-4C79-8D5D-14CF1EAF98D9}</a:tableStyleId>
              </a:tblPr>
              <a:tblGrid>
                <a:gridCol w="960902">
                  <a:extLst>
                    <a:ext uri="{9D8B030D-6E8A-4147-A177-3AD203B41FA5}">
                      <a16:colId xmlns:a16="http://schemas.microsoft.com/office/drawing/2014/main" val="3006001708"/>
                    </a:ext>
                  </a:extLst>
                </a:gridCol>
                <a:gridCol w="1662328">
                  <a:extLst>
                    <a:ext uri="{9D8B030D-6E8A-4147-A177-3AD203B41FA5}">
                      <a16:colId xmlns:a16="http://schemas.microsoft.com/office/drawing/2014/main" val="2283900157"/>
                    </a:ext>
                  </a:extLst>
                </a:gridCol>
              </a:tblGrid>
              <a:tr h="258789">
                <a:tc>
                  <a:txBody>
                    <a:bodyPr/>
                    <a:lstStyle/>
                    <a:p>
                      <a:pPr algn="ctr"/>
                      <a:r>
                        <a:rPr lang="en-US" sz="900" dirty="0">
                          <a:solidFill>
                            <a:schemeClr val="bg1"/>
                          </a:solidFill>
                        </a:rPr>
                        <a:t>PLFs</a:t>
                      </a:r>
                      <a:endParaRPr lang="en-IN" sz="900" dirty="0">
                        <a:solidFill>
                          <a:schemeClr val="bg1"/>
                        </a:solidFill>
                      </a:endParaRPr>
                    </a:p>
                  </a:txBody>
                  <a:tcPr marL="36000" marR="36000" marT="0" marB="0" anchor="ctr"/>
                </a:tc>
                <a:tc>
                  <a:txBody>
                    <a:bodyPr/>
                    <a:lstStyle/>
                    <a:p>
                      <a:pPr algn="ctr"/>
                      <a:r>
                        <a:rPr lang="en-US" sz="900" b="1" dirty="0"/>
                        <a:t>Levelized tariff (Tk / kWh)</a:t>
                      </a:r>
                      <a:endParaRPr lang="en-IN" sz="900" b="1" dirty="0"/>
                    </a:p>
                  </a:txBody>
                  <a:tcPr marL="36000" marR="36000" marT="0" marB="0" anchor="ctr"/>
                </a:tc>
                <a:extLst>
                  <a:ext uri="{0D108BD9-81ED-4DB2-BD59-A6C34878D82A}">
                    <a16:rowId xmlns:a16="http://schemas.microsoft.com/office/drawing/2014/main" val="4142770162"/>
                  </a:ext>
                </a:extLst>
              </a:tr>
              <a:tr h="267046">
                <a:tc>
                  <a:txBody>
                    <a:bodyPr/>
                    <a:lstStyle/>
                    <a:p>
                      <a:pPr algn="ctr" fontAlgn="ctr"/>
                      <a:r>
                        <a:rPr lang="en-IN" sz="900" b="1" u="none" strike="noStrike" dirty="0">
                          <a:effectLst/>
                        </a:rPr>
                        <a:t>100%</a:t>
                      </a:r>
                      <a:endParaRPr lang="en-IN" sz="900" b="1" i="0" u="none" strike="noStrike" dirty="0">
                        <a:solidFill>
                          <a:srgbClr val="000000"/>
                        </a:solidFill>
                        <a:effectLst/>
                        <a:latin typeface="Calibri" panose="020F0502020204030204" pitchFamily="34" charset="0"/>
                      </a:endParaRPr>
                    </a:p>
                  </a:txBody>
                  <a:tcPr marL="5572" marR="5572" marT="5572" marB="0" anchor="ctr"/>
                </a:tc>
                <a:tc>
                  <a:txBody>
                    <a:bodyPr/>
                    <a:lstStyle/>
                    <a:p>
                      <a:pPr marL="0" algn="ctr" defTabSz="990571" rtl="0" eaLnBrk="1" fontAlgn="ctr" latinLnBrk="0" hangingPunct="1"/>
                      <a:r>
                        <a:rPr lang="en-IN" sz="1000" b="1" u="none" strike="noStrike" kern="1200" dirty="0">
                          <a:solidFill>
                            <a:schemeClr val="tx1"/>
                          </a:solidFill>
                          <a:effectLst/>
                          <a:latin typeface="+mn-lt"/>
                          <a:ea typeface="+mn-ea"/>
                          <a:cs typeface="+mn-cs"/>
                        </a:rPr>
                        <a:t>2.53 </a:t>
                      </a:r>
                    </a:p>
                  </a:txBody>
                  <a:tcPr marL="7620" marR="7620" marT="7620" marB="0" anchor="ctr"/>
                </a:tc>
                <a:extLst>
                  <a:ext uri="{0D108BD9-81ED-4DB2-BD59-A6C34878D82A}">
                    <a16:rowId xmlns:a16="http://schemas.microsoft.com/office/drawing/2014/main" val="2731412193"/>
                  </a:ext>
                </a:extLst>
              </a:tr>
              <a:tr h="267046">
                <a:tc>
                  <a:txBody>
                    <a:bodyPr/>
                    <a:lstStyle/>
                    <a:p>
                      <a:pPr algn="ctr" fontAlgn="ctr"/>
                      <a:r>
                        <a:rPr lang="en-IN" sz="900" b="1" u="none" strike="noStrike" dirty="0">
                          <a:effectLst/>
                        </a:rPr>
                        <a:t>80%</a:t>
                      </a:r>
                      <a:endParaRPr lang="en-IN" sz="900" b="1" i="0" u="none" strike="noStrike" dirty="0">
                        <a:solidFill>
                          <a:srgbClr val="000000"/>
                        </a:solidFill>
                        <a:effectLst/>
                        <a:latin typeface="Calibri" panose="020F0502020204030204" pitchFamily="34" charset="0"/>
                      </a:endParaRPr>
                    </a:p>
                  </a:txBody>
                  <a:tcPr marL="5572" marR="5572" marT="5572" marB="0" anchor="ctr"/>
                </a:tc>
                <a:tc>
                  <a:txBody>
                    <a:bodyPr/>
                    <a:lstStyle/>
                    <a:p>
                      <a:pPr marL="0" algn="ctr" defTabSz="990571" rtl="0" eaLnBrk="1" fontAlgn="ctr" latinLnBrk="0" hangingPunct="1"/>
                      <a:r>
                        <a:rPr lang="en-IN" sz="1000" b="1" u="none" strike="noStrike" kern="1200" dirty="0">
                          <a:solidFill>
                            <a:schemeClr val="tx1"/>
                          </a:solidFill>
                          <a:effectLst/>
                          <a:latin typeface="+mn-lt"/>
                          <a:ea typeface="+mn-ea"/>
                          <a:cs typeface="+mn-cs"/>
                        </a:rPr>
                        <a:t>2.91 </a:t>
                      </a:r>
                    </a:p>
                  </a:txBody>
                  <a:tcPr marL="7620" marR="7620" marT="7620" marB="0" anchor="ctr"/>
                </a:tc>
                <a:extLst>
                  <a:ext uri="{0D108BD9-81ED-4DB2-BD59-A6C34878D82A}">
                    <a16:rowId xmlns:a16="http://schemas.microsoft.com/office/drawing/2014/main" val="3010704345"/>
                  </a:ext>
                </a:extLst>
              </a:tr>
              <a:tr h="267046">
                <a:tc>
                  <a:txBody>
                    <a:bodyPr/>
                    <a:lstStyle/>
                    <a:p>
                      <a:pPr algn="ctr" fontAlgn="ctr"/>
                      <a:r>
                        <a:rPr lang="en-IN" sz="900" b="1" u="none" strike="noStrike" dirty="0">
                          <a:effectLst/>
                        </a:rPr>
                        <a:t>60%</a:t>
                      </a:r>
                      <a:endParaRPr lang="en-IN" sz="900" b="1" i="0" u="none" strike="noStrike" dirty="0">
                        <a:solidFill>
                          <a:srgbClr val="000000"/>
                        </a:solidFill>
                        <a:effectLst/>
                        <a:latin typeface="Calibri" panose="020F0502020204030204" pitchFamily="34" charset="0"/>
                      </a:endParaRPr>
                    </a:p>
                  </a:txBody>
                  <a:tcPr marL="5572" marR="5572" marT="5572" marB="0" anchor="ctr"/>
                </a:tc>
                <a:tc>
                  <a:txBody>
                    <a:bodyPr/>
                    <a:lstStyle/>
                    <a:p>
                      <a:pPr marL="0" algn="ctr" defTabSz="990571" rtl="0" eaLnBrk="1" fontAlgn="ctr" latinLnBrk="0" hangingPunct="1"/>
                      <a:r>
                        <a:rPr lang="en-IN" sz="1000" b="1" u="none" strike="noStrike" kern="1200" dirty="0">
                          <a:solidFill>
                            <a:schemeClr val="tx1"/>
                          </a:solidFill>
                          <a:effectLst/>
                          <a:latin typeface="+mn-lt"/>
                          <a:ea typeface="+mn-ea"/>
                          <a:cs typeface="+mn-cs"/>
                        </a:rPr>
                        <a:t>3.61 </a:t>
                      </a:r>
                    </a:p>
                  </a:txBody>
                  <a:tcPr marL="7620" marR="7620" marT="7620" marB="0" anchor="ctr"/>
                </a:tc>
                <a:extLst>
                  <a:ext uri="{0D108BD9-81ED-4DB2-BD59-A6C34878D82A}">
                    <a16:rowId xmlns:a16="http://schemas.microsoft.com/office/drawing/2014/main" val="4247132284"/>
                  </a:ext>
                </a:extLst>
              </a:tr>
            </a:tbl>
          </a:graphicData>
        </a:graphic>
      </p:graphicFrame>
      <p:sp>
        <p:nvSpPr>
          <p:cNvPr id="10" name="Title 1"/>
          <p:cNvSpPr>
            <a:spLocks noGrp="1"/>
          </p:cNvSpPr>
          <p:nvPr>
            <p:ph type="title"/>
          </p:nvPr>
        </p:nvSpPr>
        <p:spPr>
          <a:xfrm>
            <a:off x="449264" y="647700"/>
            <a:ext cx="9791700" cy="431800"/>
          </a:xfrm>
        </p:spPr>
        <p:txBody>
          <a:bodyPr/>
          <a:lstStyle/>
          <a:p>
            <a:r>
              <a:rPr lang="en-US" dirty="0"/>
              <a:t>Power Market | Plant </a:t>
            </a:r>
            <a:r>
              <a:rPr lang="en-US" dirty="0" err="1"/>
              <a:t>Dispatchability</a:t>
            </a:r>
            <a:r>
              <a:rPr lang="en-US" dirty="0"/>
              <a:t> – Gas Operations (BDT / unit)</a:t>
            </a:r>
            <a:endParaRPr lang="en-IN" dirty="0"/>
          </a:p>
        </p:txBody>
      </p:sp>
      <p:sp>
        <p:nvSpPr>
          <p:cNvPr id="11"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 first year</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tariff for Nimbus on Gas as primary fuel could range at Taka 2.62 – Taka </a:t>
            </a:r>
            <a:r>
              <a:rPr lang="en-US" sz="1400" dirty="0">
                <a:solidFill>
                  <a:prstClr val="black">
                    <a:lumMod val="50000"/>
                    <a:lumOff val="50000"/>
                  </a:prstClr>
                </a:solidFill>
                <a:latin typeface="Verdana" panose="020B0604030504040204" pitchFamily="34" charset="0"/>
              </a:rPr>
              <a:t>3.76</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 unit depending on dispatch levels (60% to 100%)</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sp>
        <p:nvSpPr>
          <p:cNvPr id="16" name="Rectangle 15"/>
          <p:cNvSpPr/>
          <p:nvPr/>
        </p:nvSpPr>
        <p:spPr bwMode="gray">
          <a:xfrm>
            <a:off x="377227" y="7260740"/>
            <a:ext cx="1011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PPA; Deloitte Analysis Note: 1) The above tariff projections has been based on data solely available in the PPA and the prevailing fuel prices in Bangladesh at 30</a:t>
            </a:r>
            <a:r>
              <a:rPr lang="en-US" sz="700" i="1" baseline="30000" dirty="0">
                <a:solidFill>
                  <a:prstClr val="black"/>
                </a:solidFill>
              </a:rPr>
              <a:t>th</a:t>
            </a:r>
            <a:r>
              <a:rPr lang="en-US" sz="700" i="1" dirty="0">
                <a:solidFill>
                  <a:prstClr val="black"/>
                </a:solidFill>
              </a:rPr>
              <a:t> May 2020. 2) The per unit tariff have been projected considering annual inflation rate – foreign assumed at 2%, annual inflation rate – local assumed at 6% and Discount factor of 10%; No escalation in fuel prices has been assumed</a:t>
            </a:r>
          </a:p>
        </p:txBody>
      </p:sp>
    </p:spTree>
    <p:extLst>
      <p:ext uri="{BB962C8B-B14F-4D97-AF65-F5344CB8AC3E}">
        <p14:creationId xmlns:p14="http://schemas.microsoft.com/office/powerpoint/2010/main" val="3753515534"/>
      </p:ext>
    </p:extLst>
  </p:cSld>
  <p:clrMapOvr>
    <a:masterClrMapping/>
  </p:clrMapOvr>
  <p:transition>
    <p:fade/>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Object 12" hidden="1"/>
          <p:cNvGraphicFramePr>
            <a:graphicFrameLocks noChangeAspect="1"/>
          </p:cNvGraphicFramePr>
          <p:nvPr>
            <p:custDataLst>
              <p:tags r:id="rId1"/>
            </p:custDataLst>
            <p:extLst>
              <p:ext uri="{D42A27DB-BD31-4B8C-83A1-F6EECF244321}">
                <p14:modId xmlns:p14="http://schemas.microsoft.com/office/powerpoint/2010/main" val="21401926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13" name="Object 12"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12" name="Rectangle 1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14" name="Table 13"/>
          <p:cNvGraphicFramePr>
            <a:graphicFrameLocks noGrp="1"/>
          </p:cNvGraphicFramePr>
          <p:nvPr>
            <p:custDataLst>
              <p:tags r:id="rId3"/>
            </p:custDataLst>
          </p:nvPr>
        </p:nvGraphicFramePr>
        <p:xfrm>
          <a:off x="449992" y="1961918"/>
          <a:ext cx="9790971" cy="5440367"/>
        </p:xfrm>
        <a:graphic>
          <a:graphicData uri="http://schemas.openxmlformats.org/drawingml/2006/table">
            <a:tbl>
              <a:tblPr firstRow="1" bandRow="1">
                <a:tableStyleId>{5C22544A-7EE6-4342-B048-85BDC9FD1C3A}</a:tableStyleId>
              </a:tblPr>
              <a:tblGrid>
                <a:gridCol w="9790971">
                  <a:extLst>
                    <a:ext uri="{9D8B030D-6E8A-4147-A177-3AD203B41FA5}">
                      <a16:colId xmlns:a16="http://schemas.microsoft.com/office/drawing/2014/main" val="20000"/>
                    </a:ext>
                  </a:extLst>
                </a:gridCol>
              </a:tblGrid>
              <a:tr h="5440367">
                <a:tc>
                  <a:txBody>
                    <a:bodyPr/>
                    <a:lstStyle/>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The following graphs projects the YoY Tariff projections with Gas as Primary Fuel with average dispatch levels of 100%, 80% and 60%</a:t>
                      </a: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6" name="Chart 5"/>
          <p:cNvGraphicFramePr/>
          <p:nvPr>
            <p:extLst>
              <p:ext uri="{D42A27DB-BD31-4B8C-83A1-F6EECF244321}">
                <p14:modId xmlns:p14="http://schemas.microsoft.com/office/powerpoint/2010/main" val="4229025051"/>
              </p:ext>
            </p:extLst>
          </p:nvPr>
        </p:nvGraphicFramePr>
        <p:xfrm>
          <a:off x="449264" y="2489101"/>
          <a:ext cx="9791700" cy="4408095"/>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7" name="Table 6"/>
          <p:cNvGraphicFramePr>
            <a:graphicFrameLocks noGrp="1"/>
          </p:cNvGraphicFramePr>
          <p:nvPr>
            <p:extLst>
              <p:ext uri="{D42A27DB-BD31-4B8C-83A1-F6EECF244321}">
                <p14:modId xmlns:p14="http://schemas.microsoft.com/office/powerpoint/2010/main" val="479147195"/>
              </p:ext>
            </p:extLst>
          </p:nvPr>
        </p:nvGraphicFramePr>
        <p:xfrm>
          <a:off x="7617733" y="2816370"/>
          <a:ext cx="2623230" cy="1075458"/>
        </p:xfrm>
        <a:graphic>
          <a:graphicData uri="http://schemas.openxmlformats.org/drawingml/2006/table">
            <a:tbl>
              <a:tblPr firstRow="1" bandRow="1">
                <a:tableStyleId>{72833802-FEF1-4C79-8D5D-14CF1EAF98D9}</a:tableStyleId>
              </a:tblPr>
              <a:tblGrid>
                <a:gridCol w="960902">
                  <a:extLst>
                    <a:ext uri="{9D8B030D-6E8A-4147-A177-3AD203B41FA5}">
                      <a16:colId xmlns:a16="http://schemas.microsoft.com/office/drawing/2014/main" val="3006001708"/>
                    </a:ext>
                  </a:extLst>
                </a:gridCol>
                <a:gridCol w="1662328">
                  <a:extLst>
                    <a:ext uri="{9D8B030D-6E8A-4147-A177-3AD203B41FA5}">
                      <a16:colId xmlns:a16="http://schemas.microsoft.com/office/drawing/2014/main" val="2283900157"/>
                    </a:ext>
                  </a:extLst>
                </a:gridCol>
              </a:tblGrid>
              <a:tr h="258789">
                <a:tc>
                  <a:txBody>
                    <a:bodyPr/>
                    <a:lstStyle/>
                    <a:p>
                      <a:pPr algn="ctr"/>
                      <a:r>
                        <a:rPr lang="en-US" sz="900" dirty="0">
                          <a:solidFill>
                            <a:schemeClr val="bg1"/>
                          </a:solidFill>
                        </a:rPr>
                        <a:t>PLFs</a:t>
                      </a:r>
                      <a:endParaRPr lang="en-IN" sz="900" dirty="0">
                        <a:solidFill>
                          <a:schemeClr val="bg1"/>
                        </a:solidFill>
                      </a:endParaRPr>
                    </a:p>
                  </a:txBody>
                  <a:tcPr marL="36000" marR="36000" marT="0" marB="0" anchor="ctr"/>
                </a:tc>
                <a:tc>
                  <a:txBody>
                    <a:bodyPr/>
                    <a:lstStyle/>
                    <a:p>
                      <a:pPr algn="ctr"/>
                      <a:r>
                        <a:rPr lang="en-US" sz="900" b="1" dirty="0"/>
                        <a:t>Levelized tariff (US</a:t>
                      </a:r>
                      <a:r>
                        <a:rPr lang="en-US" sz="900" b="1" baseline="0" dirty="0"/>
                        <a:t> cents</a:t>
                      </a:r>
                      <a:r>
                        <a:rPr lang="en-US" sz="900" b="1" dirty="0"/>
                        <a:t> / kWh)</a:t>
                      </a:r>
                      <a:endParaRPr lang="en-IN" sz="900" b="1" dirty="0"/>
                    </a:p>
                  </a:txBody>
                  <a:tcPr marL="36000" marR="36000" marT="0" marB="0" anchor="ctr"/>
                </a:tc>
                <a:extLst>
                  <a:ext uri="{0D108BD9-81ED-4DB2-BD59-A6C34878D82A}">
                    <a16:rowId xmlns:a16="http://schemas.microsoft.com/office/drawing/2014/main" val="4142770162"/>
                  </a:ext>
                </a:extLst>
              </a:tr>
              <a:tr h="267046">
                <a:tc>
                  <a:txBody>
                    <a:bodyPr/>
                    <a:lstStyle/>
                    <a:p>
                      <a:pPr algn="ctr" fontAlgn="ctr"/>
                      <a:r>
                        <a:rPr lang="en-IN" sz="900" b="1" u="none" strike="noStrike" dirty="0">
                          <a:effectLst/>
                        </a:rPr>
                        <a:t>100%</a:t>
                      </a:r>
                      <a:endParaRPr lang="en-IN" sz="900" b="1" i="0" u="none" strike="noStrike" dirty="0">
                        <a:solidFill>
                          <a:srgbClr val="000000"/>
                        </a:solidFill>
                        <a:effectLst/>
                        <a:latin typeface="Calibri" panose="020F0502020204030204" pitchFamily="34" charset="0"/>
                      </a:endParaRPr>
                    </a:p>
                  </a:txBody>
                  <a:tcPr marL="5572" marR="5572" marT="5572" marB="0" anchor="ctr"/>
                </a:tc>
                <a:tc>
                  <a:txBody>
                    <a:bodyPr/>
                    <a:lstStyle/>
                    <a:p>
                      <a:pPr marL="0" algn="ctr" defTabSz="990571" rtl="0" eaLnBrk="1" fontAlgn="ctr" latinLnBrk="0" hangingPunct="1"/>
                      <a:r>
                        <a:rPr lang="en-IN" sz="1000" b="1" u="none" strike="noStrike" kern="1200" dirty="0">
                          <a:solidFill>
                            <a:schemeClr val="tx1"/>
                          </a:solidFill>
                          <a:effectLst/>
                          <a:latin typeface="+mn-lt"/>
                          <a:ea typeface="+mn-ea"/>
                          <a:cs typeface="+mn-cs"/>
                        </a:rPr>
                        <a:t>2.98</a:t>
                      </a:r>
                    </a:p>
                  </a:txBody>
                  <a:tcPr marL="7620" marR="7620" marT="7620" marB="0" anchor="ctr"/>
                </a:tc>
                <a:extLst>
                  <a:ext uri="{0D108BD9-81ED-4DB2-BD59-A6C34878D82A}">
                    <a16:rowId xmlns:a16="http://schemas.microsoft.com/office/drawing/2014/main" val="2731412193"/>
                  </a:ext>
                </a:extLst>
              </a:tr>
              <a:tr h="267046">
                <a:tc>
                  <a:txBody>
                    <a:bodyPr/>
                    <a:lstStyle/>
                    <a:p>
                      <a:pPr algn="ctr" fontAlgn="ctr"/>
                      <a:r>
                        <a:rPr lang="en-IN" sz="900" b="1" u="none" strike="noStrike" dirty="0">
                          <a:effectLst/>
                        </a:rPr>
                        <a:t>80%</a:t>
                      </a:r>
                      <a:endParaRPr lang="en-IN" sz="900" b="1" i="0" u="none" strike="noStrike" dirty="0">
                        <a:solidFill>
                          <a:srgbClr val="000000"/>
                        </a:solidFill>
                        <a:effectLst/>
                        <a:latin typeface="Calibri" panose="020F0502020204030204" pitchFamily="34" charset="0"/>
                      </a:endParaRPr>
                    </a:p>
                  </a:txBody>
                  <a:tcPr marL="5572" marR="5572" marT="5572" marB="0" anchor="ctr"/>
                </a:tc>
                <a:tc>
                  <a:txBody>
                    <a:bodyPr/>
                    <a:lstStyle/>
                    <a:p>
                      <a:pPr algn="ctr" fontAlgn="ctr"/>
                      <a:r>
                        <a:rPr lang="en-IN" sz="1000" b="1" u="none" strike="noStrike" dirty="0">
                          <a:effectLst/>
                        </a:rPr>
                        <a:t>3.43 </a:t>
                      </a:r>
                      <a:endParaRPr lang="en-IN" sz="1000" b="1" i="0" u="none" strike="noStrike" dirty="0">
                        <a:solidFill>
                          <a:srgbClr val="000000"/>
                        </a:solidFill>
                        <a:effectLst/>
                        <a:latin typeface="Calibri" panose="020F0502020204030204" pitchFamily="34" charset="0"/>
                      </a:endParaRPr>
                    </a:p>
                  </a:txBody>
                  <a:tcPr marL="5572" marR="5572" marT="5572" marB="0" anchor="ctr"/>
                </a:tc>
                <a:extLst>
                  <a:ext uri="{0D108BD9-81ED-4DB2-BD59-A6C34878D82A}">
                    <a16:rowId xmlns:a16="http://schemas.microsoft.com/office/drawing/2014/main" val="3010704345"/>
                  </a:ext>
                </a:extLst>
              </a:tr>
              <a:tr h="267046">
                <a:tc>
                  <a:txBody>
                    <a:bodyPr/>
                    <a:lstStyle/>
                    <a:p>
                      <a:pPr algn="ctr" fontAlgn="ctr"/>
                      <a:r>
                        <a:rPr lang="en-IN" sz="900" b="1" u="none" strike="noStrike" dirty="0">
                          <a:effectLst/>
                        </a:rPr>
                        <a:t>60%</a:t>
                      </a:r>
                      <a:endParaRPr lang="en-IN" sz="900" b="1" i="0" u="none" strike="noStrike" dirty="0">
                        <a:solidFill>
                          <a:srgbClr val="000000"/>
                        </a:solidFill>
                        <a:effectLst/>
                        <a:latin typeface="Calibri" panose="020F0502020204030204" pitchFamily="34" charset="0"/>
                      </a:endParaRPr>
                    </a:p>
                  </a:txBody>
                  <a:tcPr marL="5572" marR="5572" marT="5572" marB="0" anchor="ctr"/>
                </a:tc>
                <a:tc>
                  <a:txBody>
                    <a:bodyPr/>
                    <a:lstStyle/>
                    <a:p>
                      <a:pPr algn="ctr" fontAlgn="ctr"/>
                      <a:r>
                        <a:rPr lang="en-IN" sz="1000" b="1" u="none" strike="noStrike" dirty="0">
                          <a:effectLst/>
                        </a:rPr>
                        <a:t>4.25 </a:t>
                      </a:r>
                      <a:endParaRPr lang="en-IN" sz="1000" b="1" i="0" u="none" strike="noStrike" dirty="0">
                        <a:solidFill>
                          <a:srgbClr val="000000"/>
                        </a:solidFill>
                        <a:effectLst/>
                        <a:latin typeface="Calibri" panose="020F0502020204030204" pitchFamily="34" charset="0"/>
                      </a:endParaRPr>
                    </a:p>
                  </a:txBody>
                  <a:tcPr marL="5572" marR="5572" marT="5572" marB="0" anchor="ctr"/>
                </a:tc>
                <a:extLst>
                  <a:ext uri="{0D108BD9-81ED-4DB2-BD59-A6C34878D82A}">
                    <a16:rowId xmlns:a16="http://schemas.microsoft.com/office/drawing/2014/main" val="4247132284"/>
                  </a:ext>
                </a:extLst>
              </a:tr>
            </a:tbl>
          </a:graphicData>
        </a:graphic>
      </p:graphicFrame>
      <p:sp>
        <p:nvSpPr>
          <p:cNvPr id="10" name="Title 1"/>
          <p:cNvSpPr>
            <a:spLocks noGrp="1"/>
          </p:cNvSpPr>
          <p:nvPr>
            <p:ph type="title"/>
          </p:nvPr>
        </p:nvSpPr>
        <p:spPr>
          <a:xfrm>
            <a:off x="449264" y="647700"/>
            <a:ext cx="9791700" cy="431800"/>
          </a:xfrm>
        </p:spPr>
        <p:txBody>
          <a:bodyPr/>
          <a:lstStyle/>
          <a:p>
            <a:r>
              <a:rPr lang="en-US" dirty="0"/>
              <a:t>Power Market | Plant </a:t>
            </a:r>
            <a:r>
              <a:rPr lang="en-US" dirty="0" err="1"/>
              <a:t>Dispatchability</a:t>
            </a:r>
            <a:r>
              <a:rPr lang="en-US" dirty="0"/>
              <a:t> – Gas Operations (US Cents/ unit)</a:t>
            </a:r>
            <a:endParaRPr lang="en-IN" dirty="0"/>
          </a:p>
        </p:txBody>
      </p:sp>
      <p:sp>
        <p:nvSpPr>
          <p:cNvPr id="11"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 first year</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tariff for Nimbus on Gas as primary fuel could range at US cents 2.98 – </a:t>
            </a:r>
            <a:r>
              <a:rPr lang="en-US" sz="1400" noProof="0" dirty="0">
                <a:solidFill>
                  <a:prstClr val="black">
                    <a:lumMod val="50000"/>
                    <a:lumOff val="50000"/>
                  </a:prstClr>
                </a:solidFill>
                <a:latin typeface="Verdana" panose="020B0604030504040204" pitchFamily="34" charset="0"/>
              </a:rPr>
              <a:t>4.25</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 </a:t>
            </a:r>
            <a:r>
              <a:rPr lang="en-US" sz="1400" dirty="0">
                <a:solidFill>
                  <a:prstClr val="black">
                    <a:lumMod val="50000"/>
                    <a:lumOff val="50000"/>
                  </a:prstClr>
                </a:solidFill>
                <a:latin typeface="Verdana" panose="020B0604030504040204" pitchFamily="34" charset="0"/>
              </a:rPr>
              <a:t>kWh</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depending on dispatch levels (60% to 100%)</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sp>
        <p:nvSpPr>
          <p:cNvPr id="16" name="Rectangle 15"/>
          <p:cNvSpPr/>
          <p:nvPr/>
        </p:nvSpPr>
        <p:spPr bwMode="gray">
          <a:xfrm>
            <a:off x="377227" y="7260740"/>
            <a:ext cx="1011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PPA; Deloitte Analysis Note: 1) The above tariff projections has been based on data solely available in the PPA and the prevailing fuel prices in Bangladesh at 30</a:t>
            </a:r>
            <a:r>
              <a:rPr lang="en-US" sz="700" i="1" baseline="30000" dirty="0">
                <a:solidFill>
                  <a:prstClr val="black"/>
                </a:solidFill>
              </a:rPr>
              <a:t>th</a:t>
            </a:r>
            <a:r>
              <a:rPr lang="en-US" sz="700" i="1" dirty="0">
                <a:solidFill>
                  <a:prstClr val="black"/>
                </a:solidFill>
              </a:rPr>
              <a:t> May 2020. 2) The per unit tariff have been projected considering annual inflation rate – foreign assumed at 2%, annual inflation rate – local assumed at 6% and Discount factor of 10%; No escalation in fuel prices has been assumed</a:t>
            </a:r>
          </a:p>
        </p:txBody>
      </p:sp>
    </p:spTree>
    <p:extLst>
      <p:ext uri="{BB962C8B-B14F-4D97-AF65-F5344CB8AC3E}">
        <p14:creationId xmlns:p14="http://schemas.microsoft.com/office/powerpoint/2010/main" val="1465366275"/>
      </p:ext>
    </p:extLst>
  </p:cSld>
  <p:clrMapOvr>
    <a:masterClrMapping/>
  </p:clrMapOvr>
  <p:transition>
    <p:fade/>
  </p:transition>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Object 12" hidden="1"/>
          <p:cNvGraphicFramePr>
            <a:graphicFrameLocks noChangeAspect="1"/>
          </p:cNvGraphicFramePr>
          <p:nvPr>
            <p:custDataLst>
              <p:tags r:id="rId1"/>
            </p:custDataLst>
            <p:extLst>
              <p:ext uri="{D42A27DB-BD31-4B8C-83A1-F6EECF244321}">
                <p14:modId xmlns:p14="http://schemas.microsoft.com/office/powerpoint/2010/main" val="42786831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13" name="Object 12"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12" name="Rectangle 1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14" name="Table 13"/>
          <p:cNvGraphicFramePr>
            <a:graphicFrameLocks noGrp="1"/>
          </p:cNvGraphicFramePr>
          <p:nvPr>
            <p:custDataLst>
              <p:tags r:id="rId3"/>
            </p:custDataLst>
            <p:extLst>
              <p:ext uri="{D42A27DB-BD31-4B8C-83A1-F6EECF244321}">
                <p14:modId xmlns:p14="http://schemas.microsoft.com/office/powerpoint/2010/main" val="3186282897"/>
              </p:ext>
            </p:extLst>
          </p:nvPr>
        </p:nvGraphicFramePr>
        <p:xfrm>
          <a:off x="449992" y="1961918"/>
          <a:ext cx="9790971" cy="5440367"/>
        </p:xfrm>
        <a:graphic>
          <a:graphicData uri="http://schemas.openxmlformats.org/drawingml/2006/table">
            <a:tbl>
              <a:tblPr firstRow="1" bandRow="1">
                <a:tableStyleId>{5C22544A-7EE6-4342-B048-85BDC9FD1C3A}</a:tableStyleId>
              </a:tblPr>
              <a:tblGrid>
                <a:gridCol w="9790971">
                  <a:extLst>
                    <a:ext uri="{9D8B030D-6E8A-4147-A177-3AD203B41FA5}">
                      <a16:colId xmlns:a16="http://schemas.microsoft.com/office/drawing/2014/main" val="20000"/>
                    </a:ext>
                  </a:extLst>
                </a:gridCol>
              </a:tblGrid>
              <a:tr h="5440367">
                <a:tc>
                  <a:txBody>
                    <a:bodyPr/>
                    <a:lstStyle/>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The following graphs projects the YoY Tariff projections with  as Primary Fuel with average dispatch levels of 100%, 80% and 60%</a:t>
                      </a: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6" name="Chart 5"/>
          <p:cNvGraphicFramePr/>
          <p:nvPr>
            <p:extLst>
              <p:ext uri="{D42A27DB-BD31-4B8C-83A1-F6EECF244321}">
                <p14:modId xmlns:p14="http://schemas.microsoft.com/office/powerpoint/2010/main" val="1950836004"/>
              </p:ext>
            </p:extLst>
          </p:nvPr>
        </p:nvGraphicFramePr>
        <p:xfrm>
          <a:off x="449264" y="2489101"/>
          <a:ext cx="9791700" cy="4408095"/>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7" name="Table 6"/>
          <p:cNvGraphicFramePr>
            <a:graphicFrameLocks noGrp="1"/>
          </p:cNvGraphicFramePr>
          <p:nvPr>
            <p:extLst>
              <p:ext uri="{D42A27DB-BD31-4B8C-83A1-F6EECF244321}">
                <p14:modId xmlns:p14="http://schemas.microsoft.com/office/powerpoint/2010/main" val="2645039094"/>
              </p:ext>
            </p:extLst>
          </p:nvPr>
        </p:nvGraphicFramePr>
        <p:xfrm>
          <a:off x="7316283" y="2998142"/>
          <a:ext cx="2623230" cy="1075458"/>
        </p:xfrm>
        <a:graphic>
          <a:graphicData uri="http://schemas.openxmlformats.org/drawingml/2006/table">
            <a:tbl>
              <a:tblPr firstRow="1" bandRow="1">
                <a:tableStyleId>{72833802-FEF1-4C79-8D5D-14CF1EAF98D9}</a:tableStyleId>
              </a:tblPr>
              <a:tblGrid>
                <a:gridCol w="960902">
                  <a:extLst>
                    <a:ext uri="{9D8B030D-6E8A-4147-A177-3AD203B41FA5}">
                      <a16:colId xmlns:a16="http://schemas.microsoft.com/office/drawing/2014/main" val="3006001708"/>
                    </a:ext>
                  </a:extLst>
                </a:gridCol>
                <a:gridCol w="1662328">
                  <a:extLst>
                    <a:ext uri="{9D8B030D-6E8A-4147-A177-3AD203B41FA5}">
                      <a16:colId xmlns:a16="http://schemas.microsoft.com/office/drawing/2014/main" val="2283900157"/>
                    </a:ext>
                  </a:extLst>
                </a:gridCol>
              </a:tblGrid>
              <a:tr h="258789">
                <a:tc>
                  <a:txBody>
                    <a:bodyPr/>
                    <a:lstStyle/>
                    <a:p>
                      <a:pPr algn="ctr"/>
                      <a:r>
                        <a:rPr lang="en-US" sz="900" dirty="0">
                          <a:solidFill>
                            <a:schemeClr val="bg1"/>
                          </a:solidFill>
                        </a:rPr>
                        <a:t>PLFs</a:t>
                      </a:r>
                      <a:endParaRPr lang="en-IN" sz="900" dirty="0">
                        <a:solidFill>
                          <a:schemeClr val="bg1"/>
                        </a:solidFill>
                      </a:endParaRPr>
                    </a:p>
                  </a:txBody>
                  <a:tcPr marL="36000" marR="36000" marT="0" marB="0" anchor="ctr"/>
                </a:tc>
                <a:tc>
                  <a:txBody>
                    <a:bodyPr/>
                    <a:lstStyle/>
                    <a:p>
                      <a:pPr algn="ctr"/>
                      <a:r>
                        <a:rPr lang="en-US" sz="900" b="1" dirty="0"/>
                        <a:t>Levelized tariff (Tk / kWh)</a:t>
                      </a:r>
                      <a:endParaRPr lang="en-IN" sz="900" b="1" dirty="0"/>
                    </a:p>
                  </a:txBody>
                  <a:tcPr marL="36000" marR="36000" marT="0" marB="0" anchor="ctr"/>
                </a:tc>
                <a:extLst>
                  <a:ext uri="{0D108BD9-81ED-4DB2-BD59-A6C34878D82A}">
                    <a16:rowId xmlns:a16="http://schemas.microsoft.com/office/drawing/2014/main" val="4142770162"/>
                  </a:ext>
                </a:extLst>
              </a:tr>
              <a:tr h="267046">
                <a:tc>
                  <a:txBody>
                    <a:bodyPr/>
                    <a:lstStyle/>
                    <a:p>
                      <a:pPr algn="ctr" fontAlgn="ctr"/>
                      <a:r>
                        <a:rPr lang="en-IN" sz="900" b="1" u="none" strike="noStrike" dirty="0">
                          <a:effectLst/>
                        </a:rPr>
                        <a:t>100%</a:t>
                      </a:r>
                      <a:endParaRPr lang="en-IN" sz="900" b="1" i="0" u="none" strike="noStrike" dirty="0">
                        <a:solidFill>
                          <a:srgbClr val="000000"/>
                        </a:solidFill>
                        <a:effectLst/>
                        <a:latin typeface="Calibri" panose="020F0502020204030204" pitchFamily="34" charset="0"/>
                      </a:endParaRPr>
                    </a:p>
                  </a:txBody>
                  <a:tcPr marL="5572" marR="5572" marT="5572" marB="0" anchor="ctr"/>
                </a:tc>
                <a:tc>
                  <a:txBody>
                    <a:bodyPr/>
                    <a:lstStyle/>
                    <a:p>
                      <a:pPr marL="0" algn="ctr" defTabSz="990571" rtl="0" eaLnBrk="1" fontAlgn="ctr" latinLnBrk="0" hangingPunct="1"/>
                      <a:r>
                        <a:rPr lang="en-IN" sz="1000" b="1" u="none" strike="noStrike" kern="1200" dirty="0">
                          <a:solidFill>
                            <a:schemeClr val="tx1"/>
                          </a:solidFill>
                          <a:effectLst/>
                          <a:latin typeface="+mn-lt"/>
                          <a:ea typeface="+mn-ea"/>
                          <a:cs typeface="+mn-cs"/>
                        </a:rPr>
                        <a:t>14.14 </a:t>
                      </a:r>
                    </a:p>
                  </a:txBody>
                  <a:tcPr marL="7620" marR="7620" marT="7620" marB="0" anchor="ctr"/>
                </a:tc>
                <a:extLst>
                  <a:ext uri="{0D108BD9-81ED-4DB2-BD59-A6C34878D82A}">
                    <a16:rowId xmlns:a16="http://schemas.microsoft.com/office/drawing/2014/main" val="2731412193"/>
                  </a:ext>
                </a:extLst>
              </a:tr>
              <a:tr h="267046">
                <a:tc>
                  <a:txBody>
                    <a:bodyPr/>
                    <a:lstStyle/>
                    <a:p>
                      <a:pPr algn="ctr" fontAlgn="ctr"/>
                      <a:r>
                        <a:rPr lang="en-IN" sz="900" b="1" u="none" strike="noStrike" dirty="0">
                          <a:effectLst/>
                        </a:rPr>
                        <a:t>80%</a:t>
                      </a:r>
                      <a:endParaRPr lang="en-IN" sz="900" b="1" i="0" u="none" strike="noStrike" dirty="0">
                        <a:solidFill>
                          <a:srgbClr val="000000"/>
                        </a:solidFill>
                        <a:effectLst/>
                        <a:latin typeface="Calibri" panose="020F0502020204030204" pitchFamily="34" charset="0"/>
                      </a:endParaRPr>
                    </a:p>
                  </a:txBody>
                  <a:tcPr marL="5572" marR="5572" marT="5572" marB="0" anchor="ctr"/>
                </a:tc>
                <a:tc>
                  <a:txBody>
                    <a:bodyPr/>
                    <a:lstStyle/>
                    <a:p>
                      <a:pPr marL="0" algn="ctr" defTabSz="990571" rtl="0" eaLnBrk="1" fontAlgn="ctr" latinLnBrk="0" hangingPunct="1"/>
                      <a:r>
                        <a:rPr lang="en-IN" sz="1000" b="1" u="none" strike="noStrike" kern="1200" dirty="0">
                          <a:solidFill>
                            <a:schemeClr val="tx1"/>
                          </a:solidFill>
                          <a:effectLst/>
                          <a:latin typeface="+mn-lt"/>
                          <a:ea typeface="+mn-ea"/>
                          <a:cs typeface="+mn-cs"/>
                        </a:rPr>
                        <a:t>15.10 </a:t>
                      </a:r>
                    </a:p>
                  </a:txBody>
                  <a:tcPr marL="7620" marR="7620" marT="7620" marB="0" anchor="ctr"/>
                </a:tc>
                <a:extLst>
                  <a:ext uri="{0D108BD9-81ED-4DB2-BD59-A6C34878D82A}">
                    <a16:rowId xmlns:a16="http://schemas.microsoft.com/office/drawing/2014/main" val="3010704345"/>
                  </a:ext>
                </a:extLst>
              </a:tr>
              <a:tr h="267046">
                <a:tc>
                  <a:txBody>
                    <a:bodyPr/>
                    <a:lstStyle/>
                    <a:p>
                      <a:pPr algn="ctr" fontAlgn="ctr"/>
                      <a:r>
                        <a:rPr lang="en-IN" sz="900" b="1" u="none" strike="noStrike" dirty="0">
                          <a:effectLst/>
                        </a:rPr>
                        <a:t>60%</a:t>
                      </a:r>
                      <a:endParaRPr lang="en-IN" sz="900" b="1" i="0" u="none" strike="noStrike" dirty="0">
                        <a:solidFill>
                          <a:srgbClr val="000000"/>
                        </a:solidFill>
                        <a:effectLst/>
                        <a:latin typeface="Calibri" panose="020F0502020204030204" pitchFamily="34" charset="0"/>
                      </a:endParaRPr>
                    </a:p>
                  </a:txBody>
                  <a:tcPr marL="5572" marR="5572" marT="5572" marB="0" anchor="ctr"/>
                </a:tc>
                <a:tc>
                  <a:txBody>
                    <a:bodyPr/>
                    <a:lstStyle/>
                    <a:p>
                      <a:pPr marL="0" algn="ctr" defTabSz="990571" rtl="0" eaLnBrk="1" fontAlgn="ctr" latinLnBrk="0" hangingPunct="1"/>
                      <a:r>
                        <a:rPr lang="en-IN" sz="1000" b="1" u="none" strike="noStrike" kern="1200" dirty="0">
                          <a:solidFill>
                            <a:schemeClr val="tx1"/>
                          </a:solidFill>
                          <a:effectLst/>
                          <a:latin typeface="+mn-lt"/>
                          <a:ea typeface="+mn-ea"/>
                          <a:cs typeface="+mn-cs"/>
                        </a:rPr>
                        <a:t>16.90 </a:t>
                      </a:r>
                    </a:p>
                  </a:txBody>
                  <a:tcPr marL="7620" marR="7620" marT="7620" marB="0" anchor="ctr"/>
                </a:tc>
                <a:extLst>
                  <a:ext uri="{0D108BD9-81ED-4DB2-BD59-A6C34878D82A}">
                    <a16:rowId xmlns:a16="http://schemas.microsoft.com/office/drawing/2014/main" val="4247132284"/>
                  </a:ext>
                </a:extLst>
              </a:tr>
            </a:tbl>
          </a:graphicData>
        </a:graphic>
      </p:graphicFrame>
      <p:sp>
        <p:nvSpPr>
          <p:cNvPr id="10" name="Title 1"/>
          <p:cNvSpPr>
            <a:spLocks noGrp="1"/>
          </p:cNvSpPr>
          <p:nvPr>
            <p:ph type="title"/>
          </p:nvPr>
        </p:nvSpPr>
        <p:spPr>
          <a:xfrm>
            <a:off x="449264" y="647700"/>
            <a:ext cx="9791700" cy="431800"/>
          </a:xfrm>
        </p:spPr>
        <p:txBody>
          <a:bodyPr/>
          <a:lstStyle/>
          <a:p>
            <a:r>
              <a:rPr lang="en-US" dirty="0"/>
              <a:t>Power Market | Plant </a:t>
            </a:r>
            <a:r>
              <a:rPr lang="en-US" dirty="0" err="1"/>
              <a:t>Dispatchability</a:t>
            </a:r>
            <a:r>
              <a:rPr lang="en-US" dirty="0"/>
              <a:t> – HSD Operations (BDT/ unit)</a:t>
            </a:r>
            <a:endParaRPr lang="en-IN" dirty="0"/>
          </a:p>
        </p:txBody>
      </p:sp>
      <p:sp>
        <p:nvSpPr>
          <p:cNvPr id="11"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 first year</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tariff for Nimbus on HSD as primary fuel could range at Taka 14.15 – Taka </a:t>
            </a:r>
            <a:r>
              <a:rPr lang="en-US" sz="1400" dirty="0">
                <a:solidFill>
                  <a:prstClr val="black">
                    <a:lumMod val="50000"/>
                    <a:lumOff val="50000"/>
                  </a:prstClr>
                </a:solidFill>
                <a:latin typeface="Verdana" panose="020B0604030504040204" pitchFamily="34" charset="0"/>
              </a:rPr>
              <a:t>16.92 </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unit depending on dispatch levels (60% to 100%)</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sp>
        <p:nvSpPr>
          <p:cNvPr id="16" name="Rectangle 15"/>
          <p:cNvSpPr/>
          <p:nvPr/>
        </p:nvSpPr>
        <p:spPr bwMode="gray">
          <a:xfrm>
            <a:off x="377227" y="7260740"/>
            <a:ext cx="1011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PPA; Deloitte Analysis Note: 1) The above tariff projections has been based on data solely available in the PPA and the prevailing fuel prices in Bangladesh at 30</a:t>
            </a:r>
            <a:r>
              <a:rPr lang="en-US" sz="700" i="1" baseline="30000" dirty="0">
                <a:solidFill>
                  <a:prstClr val="black"/>
                </a:solidFill>
              </a:rPr>
              <a:t>th</a:t>
            </a:r>
            <a:r>
              <a:rPr lang="en-US" sz="700" i="1" dirty="0">
                <a:solidFill>
                  <a:prstClr val="black"/>
                </a:solidFill>
              </a:rPr>
              <a:t> May 2020. 2) The per unit tariff have been projected considering annual inflation rate – foreign assumed at 2%, annual inflation rate – local assumed at 6% and Discount factor of 10%; No escalation in fuel prices has been assumed</a:t>
            </a:r>
          </a:p>
        </p:txBody>
      </p:sp>
    </p:spTree>
    <p:extLst>
      <p:ext uri="{BB962C8B-B14F-4D97-AF65-F5344CB8AC3E}">
        <p14:creationId xmlns:p14="http://schemas.microsoft.com/office/powerpoint/2010/main" val="453354210"/>
      </p:ext>
    </p:extLst>
  </p:cSld>
  <p:clrMapOvr>
    <a:masterClrMapping/>
  </p:clrMapOvr>
  <p:transition>
    <p:fade/>
  </p:transition>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Object 12" hidden="1"/>
          <p:cNvGraphicFramePr>
            <a:graphicFrameLocks noChangeAspect="1"/>
          </p:cNvGraphicFramePr>
          <p:nvPr>
            <p:custDataLst>
              <p:tags r:id="rId1"/>
            </p:custDataLst>
            <p:extLst>
              <p:ext uri="{D42A27DB-BD31-4B8C-83A1-F6EECF244321}">
                <p14:modId xmlns:p14="http://schemas.microsoft.com/office/powerpoint/2010/main" val="321376489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13" name="Object 12"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12" name="Rectangle 1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14" name="Table 13"/>
          <p:cNvGraphicFramePr>
            <a:graphicFrameLocks noGrp="1"/>
          </p:cNvGraphicFramePr>
          <p:nvPr>
            <p:custDataLst>
              <p:tags r:id="rId3"/>
            </p:custDataLst>
          </p:nvPr>
        </p:nvGraphicFramePr>
        <p:xfrm>
          <a:off x="449992" y="1961918"/>
          <a:ext cx="9790971" cy="5440367"/>
        </p:xfrm>
        <a:graphic>
          <a:graphicData uri="http://schemas.openxmlformats.org/drawingml/2006/table">
            <a:tbl>
              <a:tblPr firstRow="1" bandRow="1">
                <a:tableStyleId>{5C22544A-7EE6-4342-B048-85BDC9FD1C3A}</a:tableStyleId>
              </a:tblPr>
              <a:tblGrid>
                <a:gridCol w="9790971">
                  <a:extLst>
                    <a:ext uri="{9D8B030D-6E8A-4147-A177-3AD203B41FA5}">
                      <a16:colId xmlns:a16="http://schemas.microsoft.com/office/drawing/2014/main" val="20000"/>
                    </a:ext>
                  </a:extLst>
                </a:gridCol>
              </a:tblGrid>
              <a:tr h="5440367">
                <a:tc>
                  <a:txBody>
                    <a:bodyPr/>
                    <a:lstStyle/>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The following graphs projects the YoY Tariff projections with  as Primary Fuel with average dispatch levels of 100%, 80% and 60%</a:t>
                      </a: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6" name="Chart 5"/>
          <p:cNvGraphicFramePr/>
          <p:nvPr>
            <p:extLst>
              <p:ext uri="{D42A27DB-BD31-4B8C-83A1-F6EECF244321}">
                <p14:modId xmlns:p14="http://schemas.microsoft.com/office/powerpoint/2010/main" val="1307451693"/>
              </p:ext>
            </p:extLst>
          </p:nvPr>
        </p:nvGraphicFramePr>
        <p:xfrm>
          <a:off x="449264" y="2489101"/>
          <a:ext cx="9791700" cy="4408095"/>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7" name="Table 6"/>
          <p:cNvGraphicFramePr>
            <a:graphicFrameLocks noGrp="1"/>
          </p:cNvGraphicFramePr>
          <p:nvPr>
            <p:extLst>
              <p:ext uri="{D42A27DB-BD31-4B8C-83A1-F6EECF244321}">
                <p14:modId xmlns:p14="http://schemas.microsoft.com/office/powerpoint/2010/main" val="2163698235"/>
              </p:ext>
            </p:extLst>
          </p:nvPr>
        </p:nvGraphicFramePr>
        <p:xfrm>
          <a:off x="7617733" y="2835224"/>
          <a:ext cx="2623230" cy="1075458"/>
        </p:xfrm>
        <a:graphic>
          <a:graphicData uri="http://schemas.openxmlformats.org/drawingml/2006/table">
            <a:tbl>
              <a:tblPr firstRow="1" bandRow="1">
                <a:tableStyleId>{72833802-FEF1-4C79-8D5D-14CF1EAF98D9}</a:tableStyleId>
              </a:tblPr>
              <a:tblGrid>
                <a:gridCol w="960902">
                  <a:extLst>
                    <a:ext uri="{9D8B030D-6E8A-4147-A177-3AD203B41FA5}">
                      <a16:colId xmlns:a16="http://schemas.microsoft.com/office/drawing/2014/main" val="3006001708"/>
                    </a:ext>
                  </a:extLst>
                </a:gridCol>
                <a:gridCol w="1662328">
                  <a:extLst>
                    <a:ext uri="{9D8B030D-6E8A-4147-A177-3AD203B41FA5}">
                      <a16:colId xmlns:a16="http://schemas.microsoft.com/office/drawing/2014/main" val="2283900157"/>
                    </a:ext>
                  </a:extLst>
                </a:gridCol>
              </a:tblGrid>
              <a:tr h="258789">
                <a:tc>
                  <a:txBody>
                    <a:bodyPr/>
                    <a:lstStyle/>
                    <a:p>
                      <a:pPr algn="ctr"/>
                      <a:r>
                        <a:rPr lang="en-US" sz="900" dirty="0">
                          <a:solidFill>
                            <a:schemeClr val="bg1"/>
                          </a:solidFill>
                        </a:rPr>
                        <a:t>PLFs</a:t>
                      </a:r>
                      <a:endParaRPr lang="en-IN" sz="900" dirty="0">
                        <a:solidFill>
                          <a:schemeClr val="bg1"/>
                        </a:solidFill>
                      </a:endParaRPr>
                    </a:p>
                  </a:txBody>
                  <a:tcPr marL="36000" marR="36000" marT="0" marB="0" anchor="ctr"/>
                </a:tc>
                <a:tc>
                  <a:txBody>
                    <a:bodyPr/>
                    <a:lstStyle/>
                    <a:p>
                      <a:pPr algn="ctr"/>
                      <a:r>
                        <a:rPr lang="en-US" sz="900" b="1" dirty="0"/>
                        <a:t>Levelized tariff (US Cents / kWh)</a:t>
                      </a:r>
                      <a:endParaRPr lang="en-IN" sz="900" b="1" dirty="0"/>
                    </a:p>
                  </a:txBody>
                  <a:tcPr marL="36000" marR="36000" marT="0" marB="0" anchor="ctr"/>
                </a:tc>
                <a:extLst>
                  <a:ext uri="{0D108BD9-81ED-4DB2-BD59-A6C34878D82A}">
                    <a16:rowId xmlns:a16="http://schemas.microsoft.com/office/drawing/2014/main" val="4142770162"/>
                  </a:ext>
                </a:extLst>
              </a:tr>
              <a:tr h="267046">
                <a:tc>
                  <a:txBody>
                    <a:bodyPr/>
                    <a:lstStyle/>
                    <a:p>
                      <a:pPr algn="ctr" fontAlgn="ctr"/>
                      <a:r>
                        <a:rPr lang="en-IN" sz="900" b="1" u="none" strike="noStrike" dirty="0">
                          <a:effectLst/>
                        </a:rPr>
                        <a:t>100%</a:t>
                      </a:r>
                      <a:endParaRPr lang="en-IN" sz="900" b="1" i="0" u="none" strike="noStrike" dirty="0">
                        <a:solidFill>
                          <a:srgbClr val="000000"/>
                        </a:solidFill>
                        <a:effectLst/>
                        <a:latin typeface="Calibri" panose="020F0502020204030204" pitchFamily="34" charset="0"/>
                      </a:endParaRPr>
                    </a:p>
                  </a:txBody>
                  <a:tcPr marL="5572" marR="5572" marT="5572" marB="0" anchor="ctr"/>
                </a:tc>
                <a:tc>
                  <a:txBody>
                    <a:bodyPr/>
                    <a:lstStyle/>
                    <a:p>
                      <a:pPr algn="ctr" fontAlgn="ctr"/>
                      <a:r>
                        <a:rPr lang="en-IN" sz="1000" b="1" u="none" strike="noStrike" dirty="0">
                          <a:effectLst/>
                        </a:rPr>
                        <a:t>16.63 </a:t>
                      </a:r>
                      <a:endParaRPr lang="en-IN" sz="1000" b="1" i="0" u="none" strike="noStrike" dirty="0">
                        <a:solidFill>
                          <a:srgbClr val="000000"/>
                        </a:solidFill>
                        <a:effectLst/>
                        <a:latin typeface="Calibri" panose="020F0502020204030204" pitchFamily="34" charset="0"/>
                      </a:endParaRPr>
                    </a:p>
                  </a:txBody>
                  <a:tcPr marL="5572" marR="5572" marT="5572" marB="0" anchor="ctr"/>
                </a:tc>
                <a:extLst>
                  <a:ext uri="{0D108BD9-81ED-4DB2-BD59-A6C34878D82A}">
                    <a16:rowId xmlns:a16="http://schemas.microsoft.com/office/drawing/2014/main" val="2731412193"/>
                  </a:ext>
                </a:extLst>
              </a:tr>
              <a:tr h="267046">
                <a:tc>
                  <a:txBody>
                    <a:bodyPr/>
                    <a:lstStyle/>
                    <a:p>
                      <a:pPr algn="ctr" fontAlgn="ctr"/>
                      <a:r>
                        <a:rPr lang="en-IN" sz="900" b="1" u="none" strike="noStrike" dirty="0">
                          <a:effectLst/>
                        </a:rPr>
                        <a:t>80%</a:t>
                      </a:r>
                      <a:endParaRPr lang="en-IN" sz="900" b="1" i="0" u="none" strike="noStrike" dirty="0">
                        <a:solidFill>
                          <a:srgbClr val="000000"/>
                        </a:solidFill>
                        <a:effectLst/>
                        <a:latin typeface="Calibri" panose="020F0502020204030204" pitchFamily="34" charset="0"/>
                      </a:endParaRPr>
                    </a:p>
                  </a:txBody>
                  <a:tcPr marL="5572" marR="5572" marT="5572" marB="0" anchor="ctr"/>
                </a:tc>
                <a:tc>
                  <a:txBody>
                    <a:bodyPr/>
                    <a:lstStyle/>
                    <a:p>
                      <a:pPr algn="ctr" fontAlgn="ctr"/>
                      <a:r>
                        <a:rPr lang="en-IN" sz="1000" b="1" u="none" strike="noStrike" dirty="0">
                          <a:effectLst/>
                        </a:rPr>
                        <a:t>17.76 </a:t>
                      </a:r>
                      <a:endParaRPr lang="en-IN" sz="1000" b="1" i="0" u="none" strike="noStrike" dirty="0">
                        <a:solidFill>
                          <a:srgbClr val="000000"/>
                        </a:solidFill>
                        <a:effectLst/>
                        <a:latin typeface="Calibri" panose="020F0502020204030204" pitchFamily="34" charset="0"/>
                      </a:endParaRPr>
                    </a:p>
                  </a:txBody>
                  <a:tcPr marL="5572" marR="5572" marT="5572" marB="0" anchor="ctr"/>
                </a:tc>
                <a:extLst>
                  <a:ext uri="{0D108BD9-81ED-4DB2-BD59-A6C34878D82A}">
                    <a16:rowId xmlns:a16="http://schemas.microsoft.com/office/drawing/2014/main" val="3010704345"/>
                  </a:ext>
                </a:extLst>
              </a:tr>
              <a:tr h="267046">
                <a:tc>
                  <a:txBody>
                    <a:bodyPr/>
                    <a:lstStyle/>
                    <a:p>
                      <a:pPr algn="ctr" fontAlgn="ctr"/>
                      <a:r>
                        <a:rPr lang="en-IN" sz="900" b="1" u="none" strike="noStrike" dirty="0">
                          <a:effectLst/>
                        </a:rPr>
                        <a:t>60%</a:t>
                      </a:r>
                      <a:endParaRPr lang="en-IN" sz="900" b="1" i="0" u="none" strike="noStrike" dirty="0">
                        <a:solidFill>
                          <a:srgbClr val="000000"/>
                        </a:solidFill>
                        <a:effectLst/>
                        <a:latin typeface="Calibri" panose="020F0502020204030204" pitchFamily="34" charset="0"/>
                      </a:endParaRPr>
                    </a:p>
                  </a:txBody>
                  <a:tcPr marL="5572" marR="5572" marT="5572" marB="0" anchor="ctr"/>
                </a:tc>
                <a:tc>
                  <a:txBody>
                    <a:bodyPr/>
                    <a:lstStyle/>
                    <a:p>
                      <a:pPr algn="ctr" fontAlgn="ctr"/>
                      <a:r>
                        <a:rPr lang="en-IN" sz="1000" b="1" u="none" strike="noStrike" dirty="0">
                          <a:effectLst/>
                        </a:rPr>
                        <a:t>19.88 </a:t>
                      </a:r>
                      <a:endParaRPr lang="en-IN" sz="1000" b="1" i="0" u="none" strike="noStrike" dirty="0">
                        <a:solidFill>
                          <a:srgbClr val="000000"/>
                        </a:solidFill>
                        <a:effectLst/>
                        <a:latin typeface="Calibri" panose="020F0502020204030204" pitchFamily="34" charset="0"/>
                      </a:endParaRPr>
                    </a:p>
                  </a:txBody>
                  <a:tcPr marL="5572" marR="5572" marT="5572" marB="0" anchor="ctr"/>
                </a:tc>
                <a:extLst>
                  <a:ext uri="{0D108BD9-81ED-4DB2-BD59-A6C34878D82A}">
                    <a16:rowId xmlns:a16="http://schemas.microsoft.com/office/drawing/2014/main" val="4247132284"/>
                  </a:ext>
                </a:extLst>
              </a:tr>
            </a:tbl>
          </a:graphicData>
        </a:graphic>
      </p:graphicFrame>
      <p:sp>
        <p:nvSpPr>
          <p:cNvPr id="10" name="Title 1"/>
          <p:cNvSpPr>
            <a:spLocks noGrp="1"/>
          </p:cNvSpPr>
          <p:nvPr>
            <p:ph type="title"/>
          </p:nvPr>
        </p:nvSpPr>
        <p:spPr>
          <a:xfrm>
            <a:off x="449264" y="647700"/>
            <a:ext cx="9791700" cy="431800"/>
          </a:xfrm>
        </p:spPr>
        <p:txBody>
          <a:bodyPr/>
          <a:lstStyle/>
          <a:p>
            <a:r>
              <a:rPr lang="en-US" dirty="0"/>
              <a:t>Power Market | Plant </a:t>
            </a:r>
            <a:r>
              <a:rPr lang="en-US" dirty="0" err="1"/>
              <a:t>Dispatchability</a:t>
            </a:r>
            <a:r>
              <a:rPr lang="en-US" dirty="0"/>
              <a:t> – HSD Operations (US Cents/ unit)</a:t>
            </a:r>
            <a:endParaRPr lang="en-IN" dirty="0"/>
          </a:p>
        </p:txBody>
      </p:sp>
      <p:sp>
        <p:nvSpPr>
          <p:cNvPr id="11"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 first year</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tariff for Nimbus on HSD as primary fuel could range at </a:t>
            </a:r>
            <a:r>
              <a:rPr lang="en-US" sz="1400" dirty="0">
                <a:solidFill>
                  <a:prstClr val="black">
                    <a:lumMod val="50000"/>
                    <a:lumOff val="50000"/>
                  </a:prstClr>
                </a:solidFill>
                <a:latin typeface="Verdana" panose="020B0604030504040204" pitchFamily="34" charset="0"/>
              </a:rPr>
              <a:t>US Cents</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16.63 –</a:t>
            </a:r>
            <a:r>
              <a:rPr lang="en-US" sz="1400" noProof="0" dirty="0">
                <a:solidFill>
                  <a:prstClr val="black">
                    <a:lumMod val="50000"/>
                    <a:lumOff val="50000"/>
                  </a:prstClr>
                </a:solidFill>
                <a:latin typeface="Verdana" panose="020B0604030504040204" pitchFamily="34" charset="0"/>
              </a:rPr>
              <a:t>19.88</a:t>
            </a:r>
            <a:r>
              <a:rPr lang="en-US" sz="1400" dirty="0">
                <a:solidFill>
                  <a:prstClr val="black">
                    <a:lumMod val="50000"/>
                    <a:lumOff val="50000"/>
                  </a:prstClr>
                </a:solidFill>
                <a:latin typeface="Verdana" panose="020B0604030504040204" pitchFamily="34" charset="0"/>
              </a:rPr>
              <a:t> </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unit depending on dispatch levels (60% to 100%)</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sp>
        <p:nvSpPr>
          <p:cNvPr id="16" name="Rectangle 15"/>
          <p:cNvSpPr/>
          <p:nvPr/>
        </p:nvSpPr>
        <p:spPr bwMode="gray">
          <a:xfrm>
            <a:off x="377227" y="7260740"/>
            <a:ext cx="1011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PPA; Deloitte Analysis Note: 1) The above tariff projections has been based on data solely available in the PPA and the prevailing fuel prices in Bangladesh at 30</a:t>
            </a:r>
            <a:r>
              <a:rPr lang="en-US" sz="700" i="1" baseline="30000" dirty="0">
                <a:solidFill>
                  <a:prstClr val="black"/>
                </a:solidFill>
              </a:rPr>
              <a:t>th</a:t>
            </a:r>
            <a:r>
              <a:rPr lang="en-US" sz="700" i="1" dirty="0">
                <a:solidFill>
                  <a:prstClr val="black"/>
                </a:solidFill>
              </a:rPr>
              <a:t> May 2020. 2) The per unit tariff have been projected considering annual inflation rate – foreign assumed at 2%, annual inflation rate – local assumed at 6% and Discount factor of 10%; No escalation in fuel prices has been assumed</a:t>
            </a:r>
          </a:p>
        </p:txBody>
      </p:sp>
    </p:spTree>
    <p:extLst>
      <p:ext uri="{BB962C8B-B14F-4D97-AF65-F5344CB8AC3E}">
        <p14:creationId xmlns:p14="http://schemas.microsoft.com/office/powerpoint/2010/main" val="1665833904"/>
      </p:ext>
    </p:extLst>
  </p:cSld>
  <p:clrMapOvr>
    <a:masterClrMapping/>
  </p:clrMapOvr>
  <p:transition>
    <p:fade/>
  </p:transition>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72947117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17" imgW="530" imgH="531" progId="TCLayout.ActiveDocument.1">
                  <p:embed/>
                </p:oleObj>
              </mc:Choice>
              <mc:Fallback>
                <p:oleObj name="think-cell Slide" r:id="rId217" imgW="530" imgH="531" progId="TCLayout.ActiveDocument.1">
                  <p:embed/>
                  <p:pic>
                    <p:nvPicPr>
                      <p:cNvPr id="4" name="Object 3" hidden="1"/>
                      <p:cNvPicPr/>
                      <p:nvPr/>
                    </p:nvPicPr>
                    <p:blipFill>
                      <a:blip r:embed="rId218"/>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IN" sz="1000" u="none" strike="noStrike" kern="1200" cap="none" spc="0" normalizeH="0" noProof="0" dirty="0">
              <a:ln>
                <a:noFill/>
              </a:ln>
              <a:solidFill>
                <a:prstClr val="white"/>
              </a:solidFill>
              <a:effectLst/>
              <a:uLnTx/>
              <a:uFillTx/>
              <a:latin typeface="Verdana" panose="020B0604030504040204" pitchFamily="34" charset="0"/>
              <a:sym typeface="Verdana" panose="020B0604030504040204" pitchFamily="34" charset="0"/>
            </a:endParaRPr>
          </a:p>
        </p:txBody>
      </p:sp>
      <p:sp>
        <p:nvSpPr>
          <p:cNvPr id="2" name="Title 1"/>
          <p:cNvSpPr>
            <a:spLocks noGrp="1"/>
          </p:cNvSpPr>
          <p:nvPr>
            <p:ph type="title"/>
          </p:nvPr>
        </p:nvSpPr>
        <p:spPr/>
        <p:txBody>
          <a:bodyPr/>
          <a:lstStyle/>
          <a:p>
            <a:r>
              <a:rPr lang="en-US" dirty="0"/>
              <a:t>Power Market | Plant Dispatchability (Based on merit Order)</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Based on the estimated</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levelized tariff for Nimbus and the current merit order profile, the plant should be able to get dispatch on gas fuel while even running at 60% PLF</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38" name="Table 37"/>
          <p:cNvGraphicFramePr>
            <a:graphicFrameLocks noGrp="1"/>
          </p:cNvGraphicFramePr>
          <p:nvPr>
            <p:custDataLst>
              <p:tags r:id="rId3"/>
            </p:custDataLst>
            <p:extLst>
              <p:ext uri="{D42A27DB-BD31-4B8C-83A1-F6EECF244321}">
                <p14:modId xmlns:p14="http://schemas.microsoft.com/office/powerpoint/2010/main" val="576963152"/>
              </p:ext>
            </p:extLst>
          </p:nvPr>
        </p:nvGraphicFramePr>
        <p:xfrm>
          <a:off x="449992" y="1961917"/>
          <a:ext cx="9795733" cy="5597757"/>
        </p:xfrm>
        <a:graphic>
          <a:graphicData uri="http://schemas.openxmlformats.org/drawingml/2006/table">
            <a:tbl>
              <a:tblPr firstRow="1" bandRow="1">
                <a:tableStyleId>{5C22544A-7EE6-4342-B048-85BDC9FD1C3A}</a:tableStyleId>
              </a:tblPr>
              <a:tblGrid>
                <a:gridCol w="9795733">
                  <a:extLst>
                    <a:ext uri="{9D8B030D-6E8A-4147-A177-3AD203B41FA5}">
                      <a16:colId xmlns:a16="http://schemas.microsoft.com/office/drawing/2014/main" val="20000"/>
                    </a:ext>
                  </a:extLst>
                </a:gridCol>
              </a:tblGrid>
              <a:tr h="5597757">
                <a:tc>
                  <a:txBody>
                    <a:bodyPr/>
                    <a:lstStyle/>
                    <a:p>
                      <a:pPr marL="0" marR="0" lvl="0" indent="0" algn="just" defTabSz="990571" rtl="0" eaLnBrk="1" fontAlgn="auto" latinLnBrk="0" hangingPunct="1">
                        <a:lnSpc>
                          <a:spcPct val="100000"/>
                        </a:lnSpc>
                        <a:spcBef>
                          <a:spcPts val="600"/>
                        </a:spcBef>
                        <a:spcAft>
                          <a:spcPts val="600"/>
                        </a:spcAft>
                        <a:buClrTx/>
                        <a:buSzTx/>
                        <a:buFont typeface="Arial" panose="020B0604020202020204" pitchFamily="34" charset="0"/>
                        <a:buNone/>
                        <a:tabLst/>
                        <a:defRPr/>
                      </a:pPr>
                      <a:r>
                        <a:rPr lang="en-US" sz="1000" b="1" baseline="0" dirty="0">
                          <a:solidFill>
                            <a:schemeClr val="tx1"/>
                          </a:solidFill>
                        </a:rPr>
                        <a:t>Following Figure shows the Tentative Merit Order in Bangladesh based on the Average Power Purchase Cost / Power Generation Cost by BPDB as a Single Buyer in FY2019 and the estimated levelized tariff of Nimbus Plant:</a:t>
                      </a:r>
                    </a:p>
                    <a:p>
                      <a:pPr marL="0" indent="0" algn="just">
                        <a:spcBef>
                          <a:spcPts val="600"/>
                        </a:spcBef>
                        <a:spcAft>
                          <a:spcPts val="600"/>
                        </a:spcAft>
                        <a:buFont typeface="Arial" panose="020B0604020202020204" pitchFamily="34" charset="0"/>
                        <a:buNone/>
                      </a:pPr>
                      <a:endParaRPr lang="en-US" sz="1000" b="0" baseline="0" dirty="0">
                        <a:solidFill>
                          <a:schemeClr val="tx1"/>
                        </a:solidFill>
                      </a:endParaRPr>
                    </a:p>
                    <a:p>
                      <a:pPr marL="0" indent="0" algn="just">
                        <a:spcBef>
                          <a:spcPts val="600"/>
                        </a:spcBef>
                        <a:spcAft>
                          <a:spcPts val="600"/>
                        </a:spcAft>
                        <a:buFont typeface="Arial" panose="020B0604020202020204" pitchFamily="34" charset="0"/>
                        <a:buNone/>
                      </a:pPr>
                      <a:endParaRPr lang="en-US" sz="1000" b="0" baseline="0" dirty="0">
                        <a:solidFill>
                          <a:schemeClr val="tx1"/>
                        </a:solidFill>
                      </a:endParaRPr>
                    </a:p>
                    <a:p>
                      <a:pPr marL="0" indent="0" algn="just">
                        <a:spcBef>
                          <a:spcPts val="600"/>
                        </a:spcBef>
                        <a:spcAft>
                          <a:spcPts val="600"/>
                        </a:spcAft>
                        <a:buFont typeface="Arial" panose="020B0604020202020204" pitchFamily="34" charset="0"/>
                        <a:buNone/>
                      </a:pPr>
                      <a:endParaRPr lang="en-US" sz="1000" b="0" baseline="0" dirty="0">
                        <a:solidFill>
                          <a:schemeClr val="tx1"/>
                        </a:solidFill>
                      </a:endParaRPr>
                    </a:p>
                    <a:p>
                      <a:pPr marL="0" indent="0" algn="just">
                        <a:spcBef>
                          <a:spcPts val="600"/>
                        </a:spcBef>
                        <a:spcAft>
                          <a:spcPts val="600"/>
                        </a:spcAft>
                        <a:buFont typeface="Arial" panose="020B0604020202020204" pitchFamily="34" charset="0"/>
                        <a:buNone/>
                      </a:pPr>
                      <a:endParaRPr lang="en-US" sz="1000" b="0" baseline="0" dirty="0">
                        <a:solidFill>
                          <a:schemeClr val="tx1"/>
                        </a:solidFill>
                      </a:endParaRPr>
                    </a:p>
                    <a:p>
                      <a:pPr marL="0" indent="0" algn="just">
                        <a:spcBef>
                          <a:spcPts val="600"/>
                        </a:spcBef>
                        <a:spcAft>
                          <a:spcPts val="600"/>
                        </a:spcAft>
                        <a:buFont typeface="Arial" panose="020B0604020202020204" pitchFamily="34" charset="0"/>
                        <a:buNone/>
                      </a:pPr>
                      <a:endParaRPr lang="en-US" sz="1000" b="0" baseline="0" dirty="0">
                        <a:solidFill>
                          <a:schemeClr val="tx1"/>
                        </a:solidFill>
                      </a:endParaRPr>
                    </a:p>
                    <a:p>
                      <a:pPr marL="0" indent="0" algn="just">
                        <a:spcBef>
                          <a:spcPts val="600"/>
                        </a:spcBef>
                        <a:spcAft>
                          <a:spcPts val="600"/>
                        </a:spcAft>
                        <a:buFont typeface="Arial" panose="020B0604020202020204" pitchFamily="34" charset="0"/>
                        <a:buNone/>
                      </a:pPr>
                      <a:endParaRPr lang="en-US" sz="1000" b="0" baseline="0" dirty="0">
                        <a:solidFill>
                          <a:schemeClr val="tx1"/>
                        </a:solidFill>
                      </a:endParaRPr>
                    </a:p>
                    <a:p>
                      <a:pPr marL="0" indent="0" algn="just">
                        <a:spcBef>
                          <a:spcPts val="600"/>
                        </a:spcBef>
                        <a:spcAft>
                          <a:spcPts val="600"/>
                        </a:spcAft>
                        <a:buFont typeface="Arial" panose="020B0604020202020204" pitchFamily="34" charset="0"/>
                        <a:buNone/>
                      </a:pPr>
                      <a:endParaRPr lang="en-US" sz="1000" b="0" baseline="0" dirty="0">
                        <a:solidFill>
                          <a:schemeClr val="tx1"/>
                        </a:solidFill>
                      </a:endParaRPr>
                    </a:p>
                    <a:p>
                      <a:pPr marL="0" indent="0" algn="just">
                        <a:spcBef>
                          <a:spcPts val="600"/>
                        </a:spcBef>
                        <a:spcAft>
                          <a:spcPts val="600"/>
                        </a:spcAft>
                        <a:buFont typeface="Arial" panose="020B0604020202020204" pitchFamily="34" charset="0"/>
                        <a:buNone/>
                      </a:pPr>
                      <a:endParaRPr lang="en-US" sz="1000" b="0" baseline="0" dirty="0">
                        <a:solidFill>
                          <a:schemeClr val="tx1"/>
                        </a:solidFill>
                      </a:endParaRPr>
                    </a:p>
                    <a:p>
                      <a:pPr marL="0" indent="0" algn="just">
                        <a:spcBef>
                          <a:spcPts val="600"/>
                        </a:spcBef>
                        <a:spcAft>
                          <a:spcPts val="600"/>
                        </a:spcAft>
                        <a:buFont typeface="Arial" panose="020B0604020202020204" pitchFamily="34" charset="0"/>
                        <a:buNone/>
                      </a:pPr>
                      <a:endParaRPr lang="en-US" sz="1000" b="0" baseline="0" dirty="0">
                        <a:solidFill>
                          <a:schemeClr val="tx1"/>
                        </a:solidFill>
                      </a:endParaRP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We have estimated the levelized tariff for Nimbus plant based on the prevailing operating parameters as per the PPA, GSA, FSA and O&amp;M agreements and the fuel prices as per current prices set by GoB for power players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As per the current Merit Order profile, the Nimbus plant should be able to get dispatch while running with Gas as it would still displace liquid fuels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However in case the plant is forced to run with HSD, then there may be dispatch challenges as the plant would be displacing only the last 10% of the plants in merit order</a:t>
                      </a: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12" name="Rectangle 11"/>
          <p:cNvSpPr/>
          <p:nvPr>
            <p:custDataLst>
              <p:tags r:id="rId4"/>
            </p:custDataLst>
          </p:nvPr>
        </p:nvSpPr>
        <p:spPr bwMode="auto">
          <a:xfrm>
            <a:off x="10236200" y="3146426"/>
            <a:ext cx="4763" cy="1331913"/>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3" name="Rectangle 12"/>
          <p:cNvSpPr/>
          <p:nvPr>
            <p:custDataLst>
              <p:tags r:id="rId5"/>
            </p:custDataLst>
          </p:nvPr>
        </p:nvSpPr>
        <p:spPr bwMode="auto">
          <a:xfrm>
            <a:off x="10220325" y="3179764"/>
            <a:ext cx="15875" cy="1298575"/>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4" name="Rectangle 13"/>
          <p:cNvSpPr/>
          <p:nvPr>
            <p:custDataLst>
              <p:tags r:id="rId6"/>
            </p:custDataLst>
          </p:nvPr>
        </p:nvSpPr>
        <p:spPr bwMode="auto">
          <a:xfrm>
            <a:off x="10215563" y="3184526"/>
            <a:ext cx="4763" cy="1293813"/>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5" name="Rectangle 14"/>
          <p:cNvSpPr/>
          <p:nvPr>
            <p:custDataLst>
              <p:tags r:id="rId7"/>
            </p:custDataLst>
          </p:nvPr>
        </p:nvSpPr>
        <p:spPr bwMode="auto">
          <a:xfrm>
            <a:off x="10193338" y="3400425"/>
            <a:ext cx="22225" cy="1077913"/>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6" name="Rectangle 15"/>
          <p:cNvSpPr/>
          <p:nvPr>
            <p:custDataLst>
              <p:tags r:id="rId8"/>
            </p:custDataLst>
          </p:nvPr>
        </p:nvSpPr>
        <p:spPr bwMode="auto">
          <a:xfrm>
            <a:off x="10145713" y="3422650"/>
            <a:ext cx="47625" cy="1055688"/>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7" name="Rectangle 16"/>
          <p:cNvSpPr/>
          <p:nvPr>
            <p:custDataLst>
              <p:tags r:id="rId9"/>
            </p:custDataLst>
          </p:nvPr>
        </p:nvSpPr>
        <p:spPr bwMode="auto">
          <a:xfrm>
            <a:off x="10144124" y="3503614"/>
            <a:ext cx="1588" cy="974725"/>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8" name="Rectangle 17"/>
          <p:cNvSpPr/>
          <p:nvPr>
            <p:custDataLst>
              <p:tags r:id="rId10"/>
            </p:custDataLst>
          </p:nvPr>
        </p:nvSpPr>
        <p:spPr bwMode="auto">
          <a:xfrm>
            <a:off x="10137775" y="3506788"/>
            <a:ext cx="6350" cy="971550"/>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9" name="Rectangle 18"/>
          <p:cNvSpPr/>
          <p:nvPr>
            <p:custDataLst>
              <p:tags r:id="rId11"/>
            </p:custDataLst>
          </p:nvPr>
        </p:nvSpPr>
        <p:spPr bwMode="auto">
          <a:xfrm>
            <a:off x="10136188" y="3517900"/>
            <a:ext cx="1588" cy="960438"/>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0" name="Rectangle 19"/>
          <p:cNvSpPr/>
          <p:nvPr>
            <p:custDataLst>
              <p:tags r:id="rId12"/>
            </p:custDataLst>
          </p:nvPr>
        </p:nvSpPr>
        <p:spPr bwMode="auto">
          <a:xfrm>
            <a:off x="10098088" y="3575050"/>
            <a:ext cx="38100" cy="903288"/>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 name="Rectangle 20"/>
          <p:cNvSpPr/>
          <p:nvPr>
            <p:custDataLst>
              <p:tags r:id="rId13"/>
            </p:custDataLst>
          </p:nvPr>
        </p:nvSpPr>
        <p:spPr bwMode="auto">
          <a:xfrm>
            <a:off x="10090150" y="3633788"/>
            <a:ext cx="7938" cy="8445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2" name="Rectangle 21"/>
          <p:cNvSpPr/>
          <p:nvPr>
            <p:custDataLst>
              <p:tags r:id="rId14"/>
            </p:custDataLst>
          </p:nvPr>
        </p:nvSpPr>
        <p:spPr bwMode="auto">
          <a:xfrm>
            <a:off x="10082213" y="3649663"/>
            <a:ext cx="7938" cy="828675"/>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3" name="Rectangle 22"/>
          <p:cNvSpPr/>
          <p:nvPr>
            <p:custDataLst>
              <p:tags r:id="rId15"/>
            </p:custDataLst>
          </p:nvPr>
        </p:nvSpPr>
        <p:spPr bwMode="auto">
          <a:xfrm>
            <a:off x="10067925" y="3668714"/>
            <a:ext cx="14288" cy="80962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4" name="Rectangle 23"/>
          <p:cNvSpPr/>
          <p:nvPr>
            <p:custDataLst>
              <p:tags r:id="rId16"/>
            </p:custDataLst>
          </p:nvPr>
        </p:nvSpPr>
        <p:spPr bwMode="auto">
          <a:xfrm>
            <a:off x="10045700" y="3687764"/>
            <a:ext cx="22225" cy="79057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5" name="Rectangle 24"/>
          <p:cNvSpPr/>
          <p:nvPr>
            <p:custDataLst>
              <p:tags r:id="rId17"/>
            </p:custDataLst>
          </p:nvPr>
        </p:nvSpPr>
        <p:spPr bwMode="auto">
          <a:xfrm>
            <a:off x="10028238" y="3735388"/>
            <a:ext cx="17463" cy="7429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6" name="Rectangle 25"/>
          <p:cNvSpPr/>
          <p:nvPr>
            <p:custDataLst>
              <p:tags r:id="rId18"/>
            </p:custDataLst>
          </p:nvPr>
        </p:nvSpPr>
        <p:spPr bwMode="auto">
          <a:xfrm>
            <a:off x="10002838" y="3746500"/>
            <a:ext cx="25400" cy="73183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7" name="Rectangle 26"/>
          <p:cNvSpPr/>
          <p:nvPr>
            <p:custDataLst>
              <p:tags r:id="rId19"/>
            </p:custDataLst>
          </p:nvPr>
        </p:nvSpPr>
        <p:spPr bwMode="auto">
          <a:xfrm>
            <a:off x="9994900" y="3767138"/>
            <a:ext cx="7938" cy="71120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8" name="Rectangle 27"/>
          <p:cNvSpPr/>
          <p:nvPr>
            <p:custDataLst>
              <p:tags r:id="rId20"/>
            </p:custDataLst>
          </p:nvPr>
        </p:nvSpPr>
        <p:spPr bwMode="auto">
          <a:xfrm>
            <a:off x="9971088" y="3776664"/>
            <a:ext cx="23813" cy="70167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9" name="Rectangle 28"/>
          <p:cNvSpPr/>
          <p:nvPr>
            <p:custDataLst>
              <p:tags r:id="rId21"/>
            </p:custDataLst>
          </p:nvPr>
        </p:nvSpPr>
        <p:spPr bwMode="auto">
          <a:xfrm>
            <a:off x="9958388" y="3778250"/>
            <a:ext cx="12700" cy="70008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30" name="Rectangle 29"/>
          <p:cNvSpPr/>
          <p:nvPr>
            <p:custDataLst>
              <p:tags r:id="rId22"/>
            </p:custDataLst>
          </p:nvPr>
        </p:nvSpPr>
        <p:spPr bwMode="auto">
          <a:xfrm>
            <a:off x="9948863" y="3779838"/>
            <a:ext cx="9525" cy="69850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31" name="Rectangle 30"/>
          <p:cNvSpPr/>
          <p:nvPr>
            <p:custDataLst>
              <p:tags r:id="rId23"/>
            </p:custDataLst>
          </p:nvPr>
        </p:nvSpPr>
        <p:spPr bwMode="auto">
          <a:xfrm>
            <a:off x="9920288" y="3787776"/>
            <a:ext cx="28575" cy="690563"/>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32" name="Rectangle 31"/>
          <p:cNvSpPr/>
          <p:nvPr>
            <p:custDataLst>
              <p:tags r:id="rId24"/>
            </p:custDataLst>
          </p:nvPr>
        </p:nvSpPr>
        <p:spPr bwMode="auto">
          <a:xfrm>
            <a:off x="9891713" y="3790950"/>
            <a:ext cx="28575" cy="68738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33" name="Rectangle 32"/>
          <p:cNvSpPr/>
          <p:nvPr>
            <p:custDataLst>
              <p:tags r:id="rId25"/>
            </p:custDataLst>
          </p:nvPr>
        </p:nvSpPr>
        <p:spPr bwMode="auto">
          <a:xfrm>
            <a:off x="9885363" y="3792538"/>
            <a:ext cx="6350" cy="685800"/>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34" name="Rectangle 33"/>
          <p:cNvSpPr/>
          <p:nvPr>
            <p:custDataLst>
              <p:tags r:id="rId26"/>
            </p:custDataLst>
          </p:nvPr>
        </p:nvSpPr>
        <p:spPr bwMode="auto">
          <a:xfrm>
            <a:off x="9866313" y="3794126"/>
            <a:ext cx="19050" cy="684213"/>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37" name="Rectangle 36"/>
          <p:cNvSpPr/>
          <p:nvPr>
            <p:custDataLst>
              <p:tags r:id="rId27"/>
            </p:custDataLst>
          </p:nvPr>
        </p:nvSpPr>
        <p:spPr bwMode="auto">
          <a:xfrm>
            <a:off x="9818688" y="3805238"/>
            <a:ext cx="47625" cy="67310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39" name="Rectangle 38"/>
          <p:cNvSpPr/>
          <p:nvPr>
            <p:custDataLst>
              <p:tags r:id="rId28"/>
            </p:custDataLst>
          </p:nvPr>
        </p:nvSpPr>
        <p:spPr bwMode="auto">
          <a:xfrm>
            <a:off x="9807575" y="3813175"/>
            <a:ext cx="11113" cy="665163"/>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40" name="Rectangle 39"/>
          <p:cNvSpPr/>
          <p:nvPr>
            <p:custDataLst>
              <p:tags r:id="rId29"/>
            </p:custDataLst>
          </p:nvPr>
        </p:nvSpPr>
        <p:spPr bwMode="auto">
          <a:xfrm>
            <a:off x="9804400" y="3817938"/>
            <a:ext cx="3175" cy="66040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41" name="Rectangle 40"/>
          <p:cNvSpPr/>
          <p:nvPr>
            <p:custDataLst>
              <p:tags r:id="rId30"/>
            </p:custDataLst>
          </p:nvPr>
        </p:nvSpPr>
        <p:spPr bwMode="auto">
          <a:xfrm>
            <a:off x="9793288" y="3825875"/>
            <a:ext cx="11113" cy="652463"/>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42" name="Rectangle 41"/>
          <p:cNvSpPr/>
          <p:nvPr>
            <p:custDataLst>
              <p:tags r:id="rId31"/>
            </p:custDataLst>
          </p:nvPr>
        </p:nvSpPr>
        <p:spPr bwMode="auto">
          <a:xfrm>
            <a:off x="9756775" y="3825875"/>
            <a:ext cx="36513" cy="652463"/>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43" name="Rectangle 42"/>
          <p:cNvSpPr/>
          <p:nvPr>
            <p:custDataLst>
              <p:tags r:id="rId32"/>
            </p:custDataLst>
          </p:nvPr>
        </p:nvSpPr>
        <p:spPr bwMode="auto">
          <a:xfrm>
            <a:off x="9742488" y="3829050"/>
            <a:ext cx="14288" cy="64928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44" name="Rectangle 43"/>
          <p:cNvSpPr/>
          <p:nvPr>
            <p:custDataLst>
              <p:tags r:id="rId33"/>
            </p:custDataLst>
          </p:nvPr>
        </p:nvSpPr>
        <p:spPr bwMode="auto">
          <a:xfrm>
            <a:off x="9731375" y="3841750"/>
            <a:ext cx="11113" cy="63658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45" name="Rectangle 44"/>
          <p:cNvSpPr/>
          <p:nvPr>
            <p:custDataLst>
              <p:tags r:id="rId34"/>
            </p:custDataLst>
          </p:nvPr>
        </p:nvSpPr>
        <p:spPr bwMode="auto">
          <a:xfrm>
            <a:off x="9685338" y="3879850"/>
            <a:ext cx="46038" cy="59848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46" name="Rectangle 45"/>
          <p:cNvSpPr/>
          <p:nvPr>
            <p:custDataLst>
              <p:tags r:id="rId35"/>
            </p:custDataLst>
          </p:nvPr>
        </p:nvSpPr>
        <p:spPr bwMode="auto">
          <a:xfrm>
            <a:off x="9644063" y="3881438"/>
            <a:ext cx="41275" cy="596900"/>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47" name="Rectangle 46"/>
          <p:cNvSpPr/>
          <p:nvPr>
            <p:custDataLst>
              <p:tags r:id="rId36"/>
            </p:custDataLst>
          </p:nvPr>
        </p:nvSpPr>
        <p:spPr bwMode="auto">
          <a:xfrm>
            <a:off x="9621838" y="3884613"/>
            <a:ext cx="22225" cy="59372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48" name="Rectangle 47"/>
          <p:cNvSpPr/>
          <p:nvPr>
            <p:custDataLst>
              <p:tags r:id="rId37"/>
            </p:custDataLst>
          </p:nvPr>
        </p:nvSpPr>
        <p:spPr bwMode="auto">
          <a:xfrm>
            <a:off x="9528175" y="3894138"/>
            <a:ext cx="93663" cy="58420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49" name="Rectangle 48"/>
          <p:cNvSpPr/>
          <p:nvPr>
            <p:custDataLst>
              <p:tags r:id="rId38"/>
            </p:custDataLst>
          </p:nvPr>
        </p:nvSpPr>
        <p:spPr bwMode="auto">
          <a:xfrm>
            <a:off x="9505950" y="3894138"/>
            <a:ext cx="22225" cy="58420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51" name="Rectangle 50"/>
          <p:cNvSpPr/>
          <p:nvPr>
            <p:custDataLst>
              <p:tags r:id="rId39"/>
            </p:custDataLst>
          </p:nvPr>
        </p:nvSpPr>
        <p:spPr bwMode="auto">
          <a:xfrm>
            <a:off x="9474200" y="3898900"/>
            <a:ext cx="31750" cy="57943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52" name="Rectangle 51"/>
          <p:cNvSpPr/>
          <p:nvPr>
            <p:custDataLst>
              <p:tags r:id="rId40"/>
            </p:custDataLst>
          </p:nvPr>
        </p:nvSpPr>
        <p:spPr bwMode="auto">
          <a:xfrm>
            <a:off x="9459913" y="3903663"/>
            <a:ext cx="14288" cy="574675"/>
          </a:xfrm>
          <a:prstGeom prst="rect">
            <a:avLst/>
          </a:prstGeom>
          <a:solidFill>
            <a:srgbClr val="012169"/>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53" name="Rectangle 52"/>
          <p:cNvSpPr/>
          <p:nvPr>
            <p:custDataLst>
              <p:tags r:id="rId41"/>
            </p:custDataLst>
          </p:nvPr>
        </p:nvSpPr>
        <p:spPr bwMode="auto">
          <a:xfrm>
            <a:off x="9405938" y="3925888"/>
            <a:ext cx="53975" cy="5524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54" name="Rectangle 53"/>
          <p:cNvSpPr/>
          <p:nvPr>
            <p:custDataLst>
              <p:tags r:id="rId42"/>
            </p:custDataLst>
          </p:nvPr>
        </p:nvSpPr>
        <p:spPr bwMode="auto">
          <a:xfrm>
            <a:off x="9313863" y="3930650"/>
            <a:ext cx="92075" cy="54768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55" name="Rectangle 54"/>
          <p:cNvSpPr/>
          <p:nvPr>
            <p:custDataLst>
              <p:tags r:id="rId43"/>
            </p:custDataLst>
          </p:nvPr>
        </p:nvSpPr>
        <p:spPr bwMode="auto">
          <a:xfrm>
            <a:off x="9278938" y="3938588"/>
            <a:ext cx="34925" cy="5397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56" name="Rectangle 55"/>
          <p:cNvSpPr/>
          <p:nvPr>
            <p:custDataLst>
              <p:tags r:id="rId44"/>
            </p:custDataLst>
          </p:nvPr>
        </p:nvSpPr>
        <p:spPr bwMode="auto">
          <a:xfrm>
            <a:off x="9228138" y="3940176"/>
            <a:ext cx="50800" cy="538163"/>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57" name="Rectangle 56"/>
          <p:cNvSpPr/>
          <p:nvPr>
            <p:custDataLst>
              <p:tags r:id="rId45"/>
            </p:custDataLst>
          </p:nvPr>
        </p:nvSpPr>
        <p:spPr bwMode="auto">
          <a:xfrm>
            <a:off x="9202738" y="3940176"/>
            <a:ext cx="25400" cy="538163"/>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58" name="Rectangle 57"/>
          <p:cNvSpPr/>
          <p:nvPr>
            <p:custDataLst>
              <p:tags r:id="rId46"/>
            </p:custDataLst>
          </p:nvPr>
        </p:nvSpPr>
        <p:spPr bwMode="auto">
          <a:xfrm>
            <a:off x="9151938" y="3943350"/>
            <a:ext cx="50800" cy="53498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59" name="Rectangle 58"/>
          <p:cNvSpPr/>
          <p:nvPr>
            <p:custDataLst>
              <p:tags r:id="rId47"/>
            </p:custDataLst>
          </p:nvPr>
        </p:nvSpPr>
        <p:spPr bwMode="auto">
          <a:xfrm>
            <a:off x="9102725" y="3949700"/>
            <a:ext cx="49213" cy="52863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0" name="Rectangle 59"/>
          <p:cNvSpPr/>
          <p:nvPr>
            <p:custDataLst>
              <p:tags r:id="rId48"/>
            </p:custDataLst>
          </p:nvPr>
        </p:nvSpPr>
        <p:spPr bwMode="auto">
          <a:xfrm>
            <a:off x="9083675" y="3949700"/>
            <a:ext cx="19050" cy="52863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1" name="Rectangle 60"/>
          <p:cNvSpPr/>
          <p:nvPr>
            <p:custDataLst>
              <p:tags r:id="rId49"/>
            </p:custDataLst>
          </p:nvPr>
        </p:nvSpPr>
        <p:spPr bwMode="auto">
          <a:xfrm>
            <a:off x="9067800" y="3951288"/>
            <a:ext cx="15875" cy="5270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2" name="Rectangle 61"/>
          <p:cNvSpPr/>
          <p:nvPr>
            <p:custDataLst>
              <p:tags r:id="rId50"/>
            </p:custDataLst>
          </p:nvPr>
        </p:nvSpPr>
        <p:spPr bwMode="auto">
          <a:xfrm>
            <a:off x="9043988" y="3951288"/>
            <a:ext cx="23813" cy="5270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3" name="Rectangle 62"/>
          <p:cNvSpPr/>
          <p:nvPr>
            <p:custDataLst>
              <p:tags r:id="rId51"/>
            </p:custDataLst>
          </p:nvPr>
        </p:nvSpPr>
        <p:spPr bwMode="auto">
          <a:xfrm>
            <a:off x="9012238" y="3952876"/>
            <a:ext cx="31750" cy="525463"/>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4" name="Rectangle 63"/>
          <p:cNvSpPr/>
          <p:nvPr>
            <p:custDataLst>
              <p:tags r:id="rId52"/>
            </p:custDataLst>
          </p:nvPr>
        </p:nvSpPr>
        <p:spPr bwMode="auto">
          <a:xfrm>
            <a:off x="8974138" y="3956050"/>
            <a:ext cx="38100" cy="52228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5" name="Rectangle 64"/>
          <p:cNvSpPr/>
          <p:nvPr>
            <p:custDataLst>
              <p:tags r:id="rId53"/>
            </p:custDataLst>
          </p:nvPr>
        </p:nvSpPr>
        <p:spPr bwMode="auto">
          <a:xfrm>
            <a:off x="8947150" y="3957638"/>
            <a:ext cx="26988" cy="52070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6" name="Rectangle 65"/>
          <p:cNvSpPr/>
          <p:nvPr>
            <p:custDataLst>
              <p:tags r:id="rId54"/>
            </p:custDataLst>
          </p:nvPr>
        </p:nvSpPr>
        <p:spPr bwMode="auto">
          <a:xfrm>
            <a:off x="8915400" y="3960813"/>
            <a:ext cx="31750" cy="51752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7" name="Rectangle 66"/>
          <p:cNvSpPr/>
          <p:nvPr>
            <p:custDataLst>
              <p:tags r:id="rId55"/>
            </p:custDataLst>
          </p:nvPr>
        </p:nvSpPr>
        <p:spPr bwMode="auto">
          <a:xfrm>
            <a:off x="8874125" y="3965576"/>
            <a:ext cx="41275" cy="512763"/>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8" name="Rectangle 67"/>
          <p:cNvSpPr/>
          <p:nvPr>
            <p:custDataLst>
              <p:tags r:id="rId56"/>
            </p:custDataLst>
          </p:nvPr>
        </p:nvSpPr>
        <p:spPr bwMode="auto">
          <a:xfrm>
            <a:off x="8863013" y="3971925"/>
            <a:ext cx="11113" cy="50641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70" name="Rectangle 69"/>
          <p:cNvSpPr/>
          <p:nvPr>
            <p:custDataLst>
              <p:tags r:id="rId57"/>
            </p:custDataLst>
          </p:nvPr>
        </p:nvSpPr>
        <p:spPr bwMode="auto">
          <a:xfrm>
            <a:off x="8828088" y="3973513"/>
            <a:ext cx="34925" cy="50482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71" name="Rectangle 70"/>
          <p:cNvSpPr/>
          <p:nvPr>
            <p:custDataLst>
              <p:tags r:id="rId58"/>
            </p:custDataLst>
          </p:nvPr>
        </p:nvSpPr>
        <p:spPr bwMode="auto">
          <a:xfrm>
            <a:off x="8770938" y="3976688"/>
            <a:ext cx="57150" cy="5016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72" name="Rectangle 71"/>
          <p:cNvSpPr/>
          <p:nvPr>
            <p:custDataLst>
              <p:tags r:id="rId59"/>
            </p:custDataLst>
          </p:nvPr>
        </p:nvSpPr>
        <p:spPr bwMode="auto">
          <a:xfrm>
            <a:off x="8736013" y="3979863"/>
            <a:ext cx="34925" cy="49847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73" name="Rectangle 72"/>
          <p:cNvSpPr/>
          <p:nvPr>
            <p:custDataLst>
              <p:tags r:id="rId60"/>
            </p:custDataLst>
          </p:nvPr>
        </p:nvSpPr>
        <p:spPr bwMode="auto">
          <a:xfrm>
            <a:off x="8704263" y="3981450"/>
            <a:ext cx="31750" cy="49688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74" name="Rectangle 73"/>
          <p:cNvSpPr/>
          <p:nvPr>
            <p:custDataLst>
              <p:tags r:id="rId61"/>
            </p:custDataLst>
          </p:nvPr>
        </p:nvSpPr>
        <p:spPr bwMode="auto">
          <a:xfrm>
            <a:off x="8669338" y="3983038"/>
            <a:ext cx="34925" cy="49530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75" name="Rectangle 74"/>
          <p:cNvSpPr/>
          <p:nvPr>
            <p:custDataLst>
              <p:tags r:id="rId62"/>
            </p:custDataLst>
          </p:nvPr>
        </p:nvSpPr>
        <p:spPr bwMode="auto">
          <a:xfrm>
            <a:off x="8636000" y="3983038"/>
            <a:ext cx="33338" cy="49530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76" name="Rectangle 75"/>
          <p:cNvSpPr/>
          <p:nvPr>
            <p:custDataLst>
              <p:tags r:id="rId63"/>
            </p:custDataLst>
          </p:nvPr>
        </p:nvSpPr>
        <p:spPr bwMode="auto">
          <a:xfrm>
            <a:off x="8594725" y="3986213"/>
            <a:ext cx="41275" cy="49212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77" name="Rectangle 76"/>
          <p:cNvSpPr/>
          <p:nvPr>
            <p:custDataLst>
              <p:tags r:id="rId64"/>
            </p:custDataLst>
          </p:nvPr>
        </p:nvSpPr>
        <p:spPr bwMode="auto">
          <a:xfrm>
            <a:off x="8578850" y="3989388"/>
            <a:ext cx="15875" cy="4889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78" name="Rectangle 77"/>
          <p:cNvSpPr/>
          <p:nvPr>
            <p:custDataLst>
              <p:tags r:id="rId65"/>
            </p:custDataLst>
          </p:nvPr>
        </p:nvSpPr>
        <p:spPr bwMode="auto">
          <a:xfrm>
            <a:off x="8572500" y="3990975"/>
            <a:ext cx="6350" cy="487363"/>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79" name="Rectangle 78"/>
          <p:cNvSpPr/>
          <p:nvPr>
            <p:custDataLst>
              <p:tags r:id="rId66"/>
            </p:custDataLst>
          </p:nvPr>
        </p:nvSpPr>
        <p:spPr bwMode="auto">
          <a:xfrm>
            <a:off x="8510588" y="3994150"/>
            <a:ext cx="61913" cy="48418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80" name="Rectangle 79"/>
          <p:cNvSpPr/>
          <p:nvPr>
            <p:custDataLst>
              <p:tags r:id="rId67"/>
            </p:custDataLst>
          </p:nvPr>
        </p:nvSpPr>
        <p:spPr bwMode="auto">
          <a:xfrm>
            <a:off x="8505825" y="4000500"/>
            <a:ext cx="4763" cy="477838"/>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81" name="Rectangle 80"/>
          <p:cNvSpPr/>
          <p:nvPr>
            <p:custDataLst>
              <p:tags r:id="rId68"/>
            </p:custDataLst>
          </p:nvPr>
        </p:nvSpPr>
        <p:spPr bwMode="auto">
          <a:xfrm>
            <a:off x="8483600" y="4013200"/>
            <a:ext cx="22225" cy="46513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82" name="Rectangle 81"/>
          <p:cNvSpPr/>
          <p:nvPr>
            <p:custDataLst>
              <p:tags r:id="rId69"/>
            </p:custDataLst>
          </p:nvPr>
        </p:nvSpPr>
        <p:spPr bwMode="auto">
          <a:xfrm>
            <a:off x="8448675" y="4016376"/>
            <a:ext cx="34925" cy="461963"/>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83" name="Rectangle 82"/>
          <p:cNvSpPr/>
          <p:nvPr>
            <p:custDataLst>
              <p:tags r:id="rId70"/>
            </p:custDataLst>
          </p:nvPr>
        </p:nvSpPr>
        <p:spPr bwMode="auto">
          <a:xfrm>
            <a:off x="8397875" y="4044950"/>
            <a:ext cx="50800" cy="43338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84" name="Rectangle 83"/>
          <p:cNvSpPr/>
          <p:nvPr>
            <p:custDataLst>
              <p:tags r:id="rId71"/>
            </p:custDataLst>
          </p:nvPr>
        </p:nvSpPr>
        <p:spPr bwMode="auto">
          <a:xfrm>
            <a:off x="8378825" y="4100514"/>
            <a:ext cx="19050" cy="37782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85" name="Rectangle 84"/>
          <p:cNvSpPr/>
          <p:nvPr>
            <p:custDataLst>
              <p:tags r:id="rId72"/>
            </p:custDataLst>
          </p:nvPr>
        </p:nvSpPr>
        <p:spPr bwMode="auto">
          <a:xfrm>
            <a:off x="8366125" y="4110038"/>
            <a:ext cx="12700" cy="36830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86" name="Rectangle 85"/>
          <p:cNvSpPr/>
          <p:nvPr>
            <p:custDataLst>
              <p:tags r:id="rId73"/>
            </p:custDataLst>
          </p:nvPr>
        </p:nvSpPr>
        <p:spPr bwMode="auto">
          <a:xfrm>
            <a:off x="8308975" y="4143375"/>
            <a:ext cx="57150" cy="33496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87" name="Rectangle 86"/>
          <p:cNvSpPr/>
          <p:nvPr>
            <p:custDataLst>
              <p:tags r:id="rId74"/>
            </p:custDataLst>
          </p:nvPr>
        </p:nvSpPr>
        <p:spPr bwMode="auto">
          <a:xfrm>
            <a:off x="8293100" y="4157663"/>
            <a:ext cx="15875" cy="32067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88" name="Rectangle 87"/>
          <p:cNvSpPr/>
          <p:nvPr>
            <p:custDataLst>
              <p:tags r:id="rId75"/>
            </p:custDataLst>
          </p:nvPr>
        </p:nvSpPr>
        <p:spPr bwMode="auto">
          <a:xfrm>
            <a:off x="8135938" y="4162425"/>
            <a:ext cx="157163" cy="315913"/>
          </a:xfrm>
          <a:prstGeom prst="rect">
            <a:avLst/>
          </a:prstGeom>
          <a:solidFill>
            <a:srgbClr val="012169"/>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89" name="Rectangle 88"/>
          <p:cNvSpPr/>
          <p:nvPr>
            <p:custDataLst>
              <p:tags r:id="rId76"/>
            </p:custDataLst>
          </p:nvPr>
        </p:nvSpPr>
        <p:spPr bwMode="auto">
          <a:xfrm>
            <a:off x="8058150" y="4167188"/>
            <a:ext cx="77788" cy="311150"/>
          </a:xfrm>
          <a:prstGeom prst="rect">
            <a:avLst/>
          </a:prstGeom>
          <a:solidFill>
            <a:srgbClr val="0097A9"/>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90" name="Rectangle 89"/>
          <p:cNvSpPr/>
          <p:nvPr>
            <p:custDataLst>
              <p:tags r:id="rId77"/>
            </p:custDataLst>
          </p:nvPr>
        </p:nvSpPr>
        <p:spPr bwMode="auto">
          <a:xfrm>
            <a:off x="7915275" y="4171950"/>
            <a:ext cx="142875" cy="306388"/>
          </a:xfrm>
          <a:prstGeom prst="rect">
            <a:avLst/>
          </a:prstGeom>
          <a:solidFill>
            <a:srgbClr val="0097A9"/>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91" name="Rectangle 90"/>
          <p:cNvSpPr/>
          <p:nvPr>
            <p:custDataLst>
              <p:tags r:id="rId78"/>
            </p:custDataLst>
          </p:nvPr>
        </p:nvSpPr>
        <p:spPr bwMode="auto">
          <a:xfrm>
            <a:off x="7815263" y="4202113"/>
            <a:ext cx="100013" cy="276225"/>
          </a:xfrm>
          <a:prstGeom prst="rect">
            <a:avLst/>
          </a:prstGeom>
          <a:solidFill>
            <a:srgbClr val="0097A9"/>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92" name="Rectangle 91"/>
          <p:cNvSpPr/>
          <p:nvPr>
            <p:custDataLst>
              <p:tags r:id="rId79"/>
            </p:custDataLst>
          </p:nvPr>
        </p:nvSpPr>
        <p:spPr bwMode="auto">
          <a:xfrm>
            <a:off x="7780338" y="4216400"/>
            <a:ext cx="34925" cy="26193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93" name="Rectangle 92"/>
          <p:cNvSpPr/>
          <p:nvPr>
            <p:custDataLst>
              <p:tags r:id="rId80"/>
            </p:custDataLst>
          </p:nvPr>
        </p:nvSpPr>
        <p:spPr bwMode="auto">
          <a:xfrm>
            <a:off x="7535863" y="4260850"/>
            <a:ext cx="244475" cy="217488"/>
          </a:xfrm>
          <a:prstGeom prst="rect">
            <a:avLst/>
          </a:prstGeom>
          <a:solidFill>
            <a:srgbClr val="0097A9"/>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94" name="Rectangle 93"/>
          <p:cNvSpPr/>
          <p:nvPr>
            <p:custDataLst>
              <p:tags r:id="rId81"/>
            </p:custDataLst>
          </p:nvPr>
        </p:nvSpPr>
        <p:spPr bwMode="auto">
          <a:xfrm>
            <a:off x="7419975" y="4273550"/>
            <a:ext cx="115888" cy="204788"/>
          </a:xfrm>
          <a:prstGeom prst="rect">
            <a:avLst/>
          </a:prstGeom>
          <a:solidFill>
            <a:srgbClr val="0097A9"/>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95" name="Rectangle 94"/>
          <p:cNvSpPr/>
          <p:nvPr>
            <p:custDataLst>
              <p:tags r:id="rId82"/>
            </p:custDataLst>
          </p:nvPr>
        </p:nvSpPr>
        <p:spPr bwMode="auto">
          <a:xfrm>
            <a:off x="7407275" y="4276726"/>
            <a:ext cx="12700" cy="201613"/>
          </a:xfrm>
          <a:prstGeom prst="rect">
            <a:avLst/>
          </a:prstGeom>
          <a:solidFill>
            <a:srgbClr val="0097A9"/>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96" name="Rectangle 95"/>
          <p:cNvSpPr/>
          <p:nvPr>
            <p:custDataLst>
              <p:tags r:id="rId83"/>
            </p:custDataLst>
          </p:nvPr>
        </p:nvSpPr>
        <p:spPr bwMode="auto">
          <a:xfrm>
            <a:off x="7400925" y="4287838"/>
            <a:ext cx="6350" cy="19050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97" name="Rectangle 96"/>
          <p:cNvSpPr/>
          <p:nvPr>
            <p:custDataLst>
              <p:tags r:id="rId84"/>
            </p:custDataLst>
          </p:nvPr>
        </p:nvSpPr>
        <p:spPr bwMode="auto">
          <a:xfrm>
            <a:off x="7319963" y="4306888"/>
            <a:ext cx="80963" cy="17145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98" name="Rectangle 97"/>
          <p:cNvSpPr/>
          <p:nvPr>
            <p:custDataLst>
              <p:tags r:id="rId85"/>
            </p:custDataLst>
          </p:nvPr>
        </p:nvSpPr>
        <p:spPr bwMode="auto">
          <a:xfrm>
            <a:off x="7277100" y="4311650"/>
            <a:ext cx="42863" cy="16668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99" name="Rectangle 98"/>
          <p:cNvSpPr/>
          <p:nvPr>
            <p:custDataLst>
              <p:tags r:id="rId86"/>
            </p:custDataLst>
          </p:nvPr>
        </p:nvSpPr>
        <p:spPr bwMode="auto">
          <a:xfrm>
            <a:off x="7188200" y="4313238"/>
            <a:ext cx="88900" cy="16510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0" name="Rectangle 99"/>
          <p:cNvSpPr/>
          <p:nvPr>
            <p:custDataLst>
              <p:tags r:id="rId87"/>
            </p:custDataLst>
          </p:nvPr>
        </p:nvSpPr>
        <p:spPr bwMode="auto">
          <a:xfrm>
            <a:off x="7053263" y="4318000"/>
            <a:ext cx="134938" cy="16033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1" name="Rectangle 100"/>
          <p:cNvSpPr/>
          <p:nvPr>
            <p:custDataLst>
              <p:tags r:id="rId88"/>
            </p:custDataLst>
          </p:nvPr>
        </p:nvSpPr>
        <p:spPr bwMode="auto">
          <a:xfrm>
            <a:off x="7040563" y="4321175"/>
            <a:ext cx="12700" cy="15716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2" name="Rectangle 101"/>
          <p:cNvSpPr/>
          <p:nvPr>
            <p:custDataLst>
              <p:tags r:id="rId89"/>
            </p:custDataLst>
          </p:nvPr>
        </p:nvSpPr>
        <p:spPr bwMode="auto">
          <a:xfrm>
            <a:off x="7008813" y="4321175"/>
            <a:ext cx="31750" cy="15716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3" name="Rectangle 102"/>
          <p:cNvSpPr/>
          <p:nvPr>
            <p:custDataLst>
              <p:tags r:id="rId90"/>
            </p:custDataLst>
          </p:nvPr>
        </p:nvSpPr>
        <p:spPr bwMode="auto">
          <a:xfrm>
            <a:off x="6902450" y="4322764"/>
            <a:ext cx="106363" cy="15557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4" name="Rectangle 103"/>
          <p:cNvSpPr/>
          <p:nvPr>
            <p:custDataLst>
              <p:tags r:id="rId91"/>
            </p:custDataLst>
          </p:nvPr>
        </p:nvSpPr>
        <p:spPr bwMode="auto">
          <a:xfrm>
            <a:off x="6875463" y="4327525"/>
            <a:ext cx="26988" cy="15081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5" name="Rectangle 104"/>
          <p:cNvSpPr/>
          <p:nvPr>
            <p:custDataLst>
              <p:tags r:id="rId92"/>
            </p:custDataLst>
          </p:nvPr>
        </p:nvSpPr>
        <p:spPr bwMode="auto">
          <a:xfrm>
            <a:off x="6850063" y="4329114"/>
            <a:ext cx="25400" cy="14922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6" name="Rectangle 105"/>
          <p:cNvSpPr/>
          <p:nvPr>
            <p:custDataLst>
              <p:tags r:id="rId93"/>
            </p:custDataLst>
          </p:nvPr>
        </p:nvSpPr>
        <p:spPr bwMode="auto">
          <a:xfrm>
            <a:off x="6800850" y="4330700"/>
            <a:ext cx="49213" cy="14763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7" name="Rectangle 106"/>
          <p:cNvSpPr/>
          <p:nvPr>
            <p:custDataLst>
              <p:tags r:id="rId94"/>
            </p:custDataLst>
          </p:nvPr>
        </p:nvSpPr>
        <p:spPr bwMode="auto">
          <a:xfrm>
            <a:off x="6711950" y="4332288"/>
            <a:ext cx="88900" cy="14605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8" name="Rectangle 107"/>
          <p:cNvSpPr/>
          <p:nvPr>
            <p:custDataLst>
              <p:tags r:id="rId95"/>
            </p:custDataLst>
          </p:nvPr>
        </p:nvSpPr>
        <p:spPr bwMode="auto">
          <a:xfrm>
            <a:off x="6572250" y="4333875"/>
            <a:ext cx="139700" cy="14446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9" name="Rectangle 108"/>
          <p:cNvSpPr/>
          <p:nvPr>
            <p:custDataLst>
              <p:tags r:id="rId96"/>
            </p:custDataLst>
          </p:nvPr>
        </p:nvSpPr>
        <p:spPr bwMode="auto">
          <a:xfrm>
            <a:off x="6319838" y="4335464"/>
            <a:ext cx="252413" cy="142875"/>
          </a:xfrm>
          <a:prstGeom prst="rect">
            <a:avLst/>
          </a:prstGeom>
          <a:solidFill>
            <a:srgbClr val="0097A9"/>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0" name="Rectangle 109"/>
          <p:cNvSpPr/>
          <p:nvPr>
            <p:custDataLst>
              <p:tags r:id="rId97"/>
            </p:custDataLst>
          </p:nvPr>
        </p:nvSpPr>
        <p:spPr bwMode="auto">
          <a:xfrm>
            <a:off x="6275388" y="4341814"/>
            <a:ext cx="44450" cy="13652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1" name="Rectangle 110"/>
          <p:cNvSpPr/>
          <p:nvPr>
            <p:custDataLst>
              <p:tags r:id="rId98"/>
            </p:custDataLst>
          </p:nvPr>
        </p:nvSpPr>
        <p:spPr bwMode="auto">
          <a:xfrm>
            <a:off x="5937250" y="4343400"/>
            <a:ext cx="338138" cy="13493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2" name="Rectangle 111"/>
          <p:cNvSpPr/>
          <p:nvPr>
            <p:custDataLst>
              <p:tags r:id="rId99"/>
            </p:custDataLst>
          </p:nvPr>
        </p:nvSpPr>
        <p:spPr bwMode="auto">
          <a:xfrm>
            <a:off x="5764213" y="4346575"/>
            <a:ext cx="173038" cy="13176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3" name="Rectangle 112"/>
          <p:cNvSpPr/>
          <p:nvPr>
            <p:custDataLst>
              <p:tags r:id="rId100"/>
            </p:custDataLst>
          </p:nvPr>
        </p:nvSpPr>
        <p:spPr bwMode="auto">
          <a:xfrm>
            <a:off x="5741988" y="4346576"/>
            <a:ext cx="22225" cy="13176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4" name="Rectangle 113"/>
          <p:cNvSpPr/>
          <p:nvPr>
            <p:custDataLst>
              <p:tags r:id="rId101"/>
            </p:custDataLst>
          </p:nvPr>
        </p:nvSpPr>
        <p:spPr bwMode="auto">
          <a:xfrm>
            <a:off x="5699125" y="4349750"/>
            <a:ext cx="42863" cy="12858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5" name="Rectangle 114"/>
          <p:cNvSpPr/>
          <p:nvPr>
            <p:custDataLst>
              <p:tags r:id="rId102"/>
            </p:custDataLst>
          </p:nvPr>
        </p:nvSpPr>
        <p:spPr bwMode="auto">
          <a:xfrm>
            <a:off x="5681663" y="4352926"/>
            <a:ext cx="17463" cy="12541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6" name="Rectangle 115"/>
          <p:cNvSpPr/>
          <p:nvPr>
            <p:custDataLst>
              <p:tags r:id="rId103"/>
            </p:custDataLst>
          </p:nvPr>
        </p:nvSpPr>
        <p:spPr bwMode="auto">
          <a:xfrm>
            <a:off x="5614988" y="4352926"/>
            <a:ext cx="66675" cy="12541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7" name="Rectangle 116"/>
          <p:cNvSpPr/>
          <p:nvPr>
            <p:custDataLst>
              <p:tags r:id="rId104"/>
            </p:custDataLst>
          </p:nvPr>
        </p:nvSpPr>
        <p:spPr bwMode="auto">
          <a:xfrm>
            <a:off x="5607050" y="4354514"/>
            <a:ext cx="7938" cy="12382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8" name="Rectangle 117"/>
          <p:cNvSpPr/>
          <p:nvPr>
            <p:custDataLst>
              <p:tags r:id="rId105"/>
            </p:custDataLst>
          </p:nvPr>
        </p:nvSpPr>
        <p:spPr bwMode="auto">
          <a:xfrm>
            <a:off x="5502275" y="4356100"/>
            <a:ext cx="104775" cy="12223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9" name="Rectangle 118"/>
          <p:cNvSpPr/>
          <p:nvPr>
            <p:custDataLst>
              <p:tags r:id="rId106"/>
            </p:custDataLst>
          </p:nvPr>
        </p:nvSpPr>
        <p:spPr bwMode="auto">
          <a:xfrm>
            <a:off x="5475288" y="4356100"/>
            <a:ext cx="26988" cy="12223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20" name="Rectangle 119"/>
          <p:cNvSpPr/>
          <p:nvPr>
            <p:custDataLst>
              <p:tags r:id="rId107"/>
            </p:custDataLst>
          </p:nvPr>
        </p:nvSpPr>
        <p:spPr bwMode="auto">
          <a:xfrm>
            <a:off x="5353050" y="4357688"/>
            <a:ext cx="122238" cy="12065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21" name="Rectangle 120"/>
          <p:cNvSpPr/>
          <p:nvPr>
            <p:custDataLst>
              <p:tags r:id="rId108"/>
            </p:custDataLst>
          </p:nvPr>
        </p:nvSpPr>
        <p:spPr bwMode="auto">
          <a:xfrm>
            <a:off x="5095875" y="4359276"/>
            <a:ext cx="257175" cy="11906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22" name="Rectangle 121"/>
          <p:cNvSpPr/>
          <p:nvPr>
            <p:custDataLst>
              <p:tags r:id="rId109"/>
            </p:custDataLst>
          </p:nvPr>
        </p:nvSpPr>
        <p:spPr bwMode="auto">
          <a:xfrm>
            <a:off x="5065713" y="4359276"/>
            <a:ext cx="30163" cy="11906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23" name="Rectangle 122"/>
          <p:cNvSpPr/>
          <p:nvPr>
            <p:custDataLst>
              <p:tags r:id="rId110"/>
            </p:custDataLst>
          </p:nvPr>
        </p:nvSpPr>
        <p:spPr bwMode="auto">
          <a:xfrm>
            <a:off x="4900613" y="4360864"/>
            <a:ext cx="165100" cy="11747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24" name="Rectangle 123"/>
          <p:cNvSpPr/>
          <p:nvPr>
            <p:custDataLst>
              <p:tags r:id="rId111"/>
            </p:custDataLst>
          </p:nvPr>
        </p:nvSpPr>
        <p:spPr bwMode="auto">
          <a:xfrm>
            <a:off x="4859338" y="4360864"/>
            <a:ext cx="41275" cy="11747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25" name="Rectangle 124"/>
          <p:cNvSpPr/>
          <p:nvPr>
            <p:custDataLst>
              <p:tags r:id="rId112"/>
            </p:custDataLst>
          </p:nvPr>
        </p:nvSpPr>
        <p:spPr bwMode="auto">
          <a:xfrm>
            <a:off x="4633913" y="4360864"/>
            <a:ext cx="225425" cy="11747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26" name="Rectangle 125"/>
          <p:cNvSpPr/>
          <p:nvPr>
            <p:custDataLst>
              <p:tags r:id="rId113"/>
            </p:custDataLst>
          </p:nvPr>
        </p:nvSpPr>
        <p:spPr bwMode="auto">
          <a:xfrm>
            <a:off x="4594225" y="4360863"/>
            <a:ext cx="39688" cy="11747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27" name="Rectangle 126"/>
          <p:cNvSpPr/>
          <p:nvPr>
            <p:custDataLst>
              <p:tags r:id="rId114"/>
            </p:custDataLst>
          </p:nvPr>
        </p:nvSpPr>
        <p:spPr bwMode="auto">
          <a:xfrm>
            <a:off x="4498975" y="4365626"/>
            <a:ext cx="95250" cy="11271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28" name="Rectangle 127"/>
          <p:cNvSpPr/>
          <p:nvPr>
            <p:custDataLst>
              <p:tags r:id="rId115"/>
            </p:custDataLst>
          </p:nvPr>
        </p:nvSpPr>
        <p:spPr bwMode="auto">
          <a:xfrm>
            <a:off x="4437063" y="4367214"/>
            <a:ext cx="61913" cy="11112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29" name="Rectangle 128"/>
          <p:cNvSpPr/>
          <p:nvPr>
            <p:custDataLst>
              <p:tags r:id="rId116"/>
            </p:custDataLst>
          </p:nvPr>
        </p:nvSpPr>
        <p:spPr bwMode="auto">
          <a:xfrm>
            <a:off x="4295775" y="4367213"/>
            <a:ext cx="141288" cy="11112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30" name="Rectangle 129"/>
          <p:cNvSpPr/>
          <p:nvPr>
            <p:custDataLst>
              <p:tags r:id="rId117"/>
            </p:custDataLst>
          </p:nvPr>
        </p:nvSpPr>
        <p:spPr bwMode="auto">
          <a:xfrm>
            <a:off x="4275138" y="4370388"/>
            <a:ext cx="20638" cy="10795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31" name="Rectangle 130"/>
          <p:cNvSpPr/>
          <p:nvPr>
            <p:custDataLst>
              <p:tags r:id="rId118"/>
            </p:custDataLst>
          </p:nvPr>
        </p:nvSpPr>
        <p:spPr bwMode="auto">
          <a:xfrm>
            <a:off x="3963988" y="4371976"/>
            <a:ext cx="311150" cy="10636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32" name="Rectangle 131"/>
          <p:cNvSpPr/>
          <p:nvPr>
            <p:custDataLst>
              <p:tags r:id="rId119"/>
            </p:custDataLst>
          </p:nvPr>
        </p:nvSpPr>
        <p:spPr bwMode="auto">
          <a:xfrm>
            <a:off x="3941763" y="4375150"/>
            <a:ext cx="22225" cy="10318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33" name="Rectangle 132"/>
          <p:cNvSpPr/>
          <p:nvPr>
            <p:custDataLst>
              <p:tags r:id="rId120"/>
            </p:custDataLst>
          </p:nvPr>
        </p:nvSpPr>
        <p:spPr bwMode="auto">
          <a:xfrm>
            <a:off x="3792538" y="4375150"/>
            <a:ext cx="149225" cy="10318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34" name="Rectangle 133"/>
          <p:cNvSpPr/>
          <p:nvPr>
            <p:custDataLst>
              <p:tags r:id="rId121"/>
            </p:custDataLst>
          </p:nvPr>
        </p:nvSpPr>
        <p:spPr bwMode="auto">
          <a:xfrm>
            <a:off x="3768725" y="4376738"/>
            <a:ext cx="23813" cy="10160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35" name="Rectangle 134"/>
          <p:cNvSpPr/>
          <p:nvPr>
            <p:custDataLst>
              <p:tags r:id="rId122"/>
            </p:custDataLst>
          </p:nvPr>
        </p:nvSpPr>
        <p:spPr bwMode="auto">
          <a:xfrm>
            <a:off x="3760788" y="4378326"/>
            <a:ext cx="7938" cy="10001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36" name="Rectangle 135"/>
          <p:cNvSpPr/>
          <p:nvPr>
            <p:custDataLst>
              <p:tags r:id="rId123"/>
            </p:custDataLst>
          </p:nvPr>
        </p:nvSpPr>
        <p:spPr bwMode="auto">
          <a:xfrm>
            <a:off x="3662363" y="4379913"/>
            <a:ext cx="98425" cy="9842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37" name="Rectangle 136"/>
          <p:cNvSpPr/>
          <p:nvPr>
            <p:custDataLst>
              <p:tags r:id="rId124"/>
            </p:custDataLst>
          </p:nvPr>
        </p:nvSpPr>
        <p:spPr bwMode="auto">
          <a:xfrm>
            <a:off x="3360738" y="4383088"/>
            <a:ext cx="301625" cy="9525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38" name="Rectangle 137"/>
          <p:cNvSpPr/>
          <p:nvPr>
            <p:custDataLst>
              <p:tags r:id="rId125"/>
            </p:custDataLst>
          </p:nvPr>
        </p:nvSpPr>
        <p:spPr bwMode="auto">
          <a:xfrm>
            <a:off x="3181350" y="4386263"/>
            <a:ext cx="179388" cy="9207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39" name="Rectangle 138"/>
          <p:cNvSpPr/>
          <p:nvPr>
            <p:custDataLst>
              <p:tags r:id="rId126"/>
            </p:custDataLst>
          </p:nvPr>
        </p:nvSpPr>
        <p:spPr bwMode="auto">
          <a:xfrm>
            <a:off x="3114675" y="4386263"/>
            <a:ext cx="66675" cy="9207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40" name="Rectangle 139"/>
          <p:cNvSpPr/>
          <p:nvPr>
            <p:custDataLst>
              <p:tags r:id="rId127"/>
            </p:custDataLst>
          </p:nvPr>
        </p:nvSpPr>
        <p:spPr bwMode="auto">
          <a:xfrm>
            <a:off x="3011488" y="4389438"/>
            <a:ext cx="103188" cy="8890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41" name="Rectangle 140"/>
          <p:cNvSpPr/>
          <p:nvPr>
            <p:custDataLst>
              <p:tags r:id="rId128"/>
            </p:custDataLst>
          </p:nvPr>
        </p:nvSpPr>
        <p:spPr bwMode="auto">
          <a:xfrm>
            <a:off x="2695575" y="4389438"/>
            <a:ext cx="315913" cy="8890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42" name="Rectangle 141"/>
          <p:cNvSpPr/>
          <p:nvPr>
            <p:custDataLst>
              <p:tags r:id="rId129"/>
            </p:custDataLst>
          </p:nvPr>
        </p:nvSpPr>
        <p:spPr bwMode="auto">
          <a:xfrm>
            <a:off x="2286000" y="4394200"/>
            <a:ext cx="409575" cy="8413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43" name="Rectangle 142"/>
          <p:cNvSpPr/>
          <p:nvPr>
            <p:custDataLst>
              <p:tags r:id="rId130"/>
            </p:custDataLst>
          </p:nvPr>
        </p:nvSpPr>
        <p:spPr bwMode="auto">
          <a:xfrm>
            <a:off x="2252663" y="4394200"/>
            <a:ext cx="33338" cy="84138"/>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44" name="Rectangle 143"/>
          <p:cNvSpPr/>
          <p:nvPr>
            <p:custDataLst>
              <p:tags r:id="rId131"/>
            </p:custDataLst>
          </p:nvPr>
        </p:nvSpPr>
        <p:spPr bwMode="auto">
          <a:xfrm>
            <a:off x="2008188" y="4395788"/>
            <a:ext cx="244475" cy="8255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45" name="Rectangle 144"/>
          <p:cNvSpPr/>
          <p:nvPr>
            <p:custDataLst>
              <p:tags r:id="rId132"/>
            </p:custDataLst>
          </p:nvPr>
        </p:nvSpPr>
        <p:spPr bwMode="auto">
          <a:xfrm>
            <a:off x="1631950" y="4398963"/>
            <a:ext cx="376238" cy="7937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46" name="Rectangle 145"/>
          <p:cNvSpPr/>
          <p:nvPr>
            <p:custDataLst>
              <p:tags r:id="rId133"/>
            </p:custDataLst>
          </p:nvPr>
        </p:nvSpPr>
        <p:spPr bwMode="auto">
          <a:xfrm>
            <a:off x="1352550" y="4402138"/>
            <a:ext cx="279400" cy="7620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47" name="Rectangle 146"/>
          <p:cNvSpPr/>
          <p:nvPr>
            <p:custDataLst>
              <p:tags r:id="rId134"/>
            </p:custDataLst>
          </p:nvPr>
        </p:nvSpPr>
        <p:spPr bwMode="auto">
          <a:xfrm>
            <a:off x="1250950" y="4411664"/>
            <a:ext cx="101600" cy="66675"/>
          </a:xfrm>
          <a:prstGeom prst="rect">
            <a:avLst/>
          </a:prstGeom>
          <a:solidFill>
            <a:srgbClr val="75787B"/>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48" name="Rectangle 147"/>
          <p:cNvSpPr/>
          <p:nvPr>
            <p:custDataLst>
              <p:tags r:id="rId135"/>
            </p:custDataLst>
          </p:nvPr>
        </p:nvSpPr>
        <p:spPr bwMode="auto">
          <a:xfrm>
            <a:off x="1112838" y="4414838"/>
            <a:ext cx="138113" cy="6350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49" name="Rectangle 148"/>
          <p:cNvSpPr/>
          <p:nvPr>
            <p:custDataLst>
              <p:tags r:id="rId136"/>
            </p:custDataLst>
          </p:nvPr>
        </p:nvSpPr>
        <p:spPr bwMode="auto">
          <a:xfrm>
            <a:off x="777875" y="4422776"/>
            <a:ext cx="334963" cy="5556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50" name="Rectangle 149"/>
          <p:cNvSpPr/>
          <p:nvPr>
            <p:custDataLst>
              <p:tags r:id="rId137"/>
            </p:custDataLst>
          </p:nvPr>
        </p:nvSpPr>
        <p:spPr bwMode="auto">
          <a:xfrm>
            <a:off x="723900" y="4440238"/>
            <a:ext cx="53975" cy="3810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cxnSp>
        <p:nvCxnSpPr>
          <p:cNvPr id="151" name="Straight Connector 150"/>
          <p:cNvCxnSpPr/>
          <p:nvPr>
            <p:custDataLst>
              <p:tags r:id="rId138"/>
            </p:custDataLst>
          </p:nvPr>
        </p:nvCxnSpPr>
        <p:spPr bwMode="auto">
          <a:xfrm>
            <a:off x="681038" y="3660775"/>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2" name="Straight Connector 151"/>
          <p:cNvCxnSpPr/>
          <p:nvPr>
            <p:custDataLst>
              <p:tags r:id="rId139"/>
            </p:custDataLst>
          </p:nvPr>
        </p:nvCxnSpPr>
        <p:spPr bwMode="auto">
          <a:xfrm flipV="1">
            <a:off x="6910388" y="4478338"/>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3" name="Straight Connector 152"/>
          <p:cNvCxnSpPr/>
          <p:nvPr>
            <p:custDataLst>
              <p:tags r:id="rId140"/>
            </p:custDataLst>
          </p:nvPr>
        </p:nvCxnSpPr>
        <p:spPr bwMode="auto">
          <a:xfrm flipV="1">
            <a:off x="6434138" y="4478338"/>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custDataLst>
              <p:tags r:id="rId141"/>
            </p:custDataLst>
          </p:nvPr>
        </p:nvCxnSpPr>
        <p:spPr bwMode="auto">
          <a:xfrm flipV="1">
            <a:off x="5006975" y="4478338"/>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custDataLst>
              <p:tags r:id="rId142"/>
            </p:custDataLst>
          </p:nvPr>
        </p:nvCxnSpPr>
        <p:spPr bwMode="auto">
          <a:xfrm flipV="1">
            <a:off x="4530725" y="4478338"/>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custDataLst>
              <p:tags r:id="rId143"/>
            </p:custDataLst>
          </p:nvPr>
        </p:nvCxnSpPr>
        <p:spPr bwMode="auto">
          <a:xfrm>
            <a:off x="681038" y="3251200"/>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custDataLst>
              <p:tags r:id="rId144"/>
            </p:custDataLst>
          </p:nvPr>
        </p:nvCxnSpPr>
        <p:spPr bwMode="auto">
          <a:xfrm flipV="1">
            <a:off x="2151063" y="4478338"/>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custDataLst>
              <p:tags r:id="rId145"/>
            </p:custDataLst>
          </p:nvPr>
        </p:nvCxnSpPr>
        <p:spPr bwMode="auto">
          <a:xfrm flipV="1">
            <a:off x="9290050" y="4478338"/>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p:nvPr>
            <p:custDataLst>
              <p:tags r:id="rId146"/>
            </p:custDataLst>
          </p:nvPr>
        </p:nvCxnSpPr>
        <p:spPr bwMode="auto">
          <a:xfrm flipV="1">
            <a:off x="8337550" y="4478338"/>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p:nvPr>
            <p:custDataLst>
              <p:tags r:id="rId147"/>
            </p:custDataLst>
          </p:nvPr>
        </p:nvCxnSpPr>
        <p:spPr bwMode="auto">
          <a:xfrm flipV="1">
            <a:off x="1676400" y="4478338"/>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1" name="Straight Connector 160"/>
          <p:cNvCxnSpPr/>
          <p:nvPr>
            <p:custDataLst>
              <p:tags r:id="rId148"/>
            </p:custDataLst>
          </p:nvPr>
        </p:nvCxnSpPr>
        <p:spPr bwMode="auto">
          <a:xfrm>
            <a:off x="681038" y="4478338"/>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custDataLst>
              <p:tags r:id="rId149"/>
            </p:custDataLst>
          </p:nvPr>
        </p:nvCxnSpPr>
        <p:spPr bwMode="auto">
          <a:xfrm flipV="1">
            <a:off x="723900" y="4478338"/>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custDataLst>
              <p:tags r:id="rId150"/>
            </p:custDataLst>
          </p:nvPr>
        </p:nvCxnSpPr>
        <p:spPr bwMode="auto">
          <a:xfrm>
            <a:off x="681038" y="4273550"/>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custDataLst>
              <p:tags r:id="rId151"/>
            </p:custDataLst>
          </p:nvPr>
        </p:nvCxnSpPr>
        <p:spPr bwMode="auto">
          <a:xfrm>
            <a:off x="681038" y="2841625"/>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custDataLst>
              <p:tags r:id="rId152"/>
            </p:custDataLst>
          </p:nvPr>
        </p:nvCxnSpPr>
        <p:spPr bwMode="auto">
          <a:xfrm flipV="1">
            <a:off x="723900" y="2836863"/>
            <a:ext cx="0" cy="1646238"/>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custDataLst>
              <p:tags r:id="rId153"/>
            </p:custDataLst>
          </p:nvPr>
        </p:nvCxnSpPr>
        <p:spPr bwMode="auto">
          <a:xfrm flipV="1">
            <a:off x="3103563" y="4478338"/>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custDataLst>
              <p:tags r:id="rId154"/>
            </p:custDataLst>
          </p:nvPr>
        </p:nvCxnSpPr>
        <p:spPr bwMode="auto">
          <a:xfrm flipV="1">
            <a:off x="3579813" y="4478338"/>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custDataLst>
              <p:tags r:id="rId155"/>
            </p:custDataLst>
          </p:nvPr>
        </p:nvCxnSpPr>
        <p:spPr bwMode="auto">
          <a:xfrm flipV="1">
            <a:off x="2627313" y="4478338"/>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custDataLst>
              <p:tags r:id="rId156"/>
            </p:custDataLst>
          </p:nvPr>
        </p:nvCxnSpPr>
        <p:spPr bwMode="auto">
          <a:xfrm>
            <a:off x="719138" y="4478338"/>
            <a:ext cx="9526588"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custDataLst>
              <p:tags r:id="rId157"/>
            </p:custDataLst>
          </p:nvPr>
        </p:nvCxnSpPr>
        <p:spPr bwMode="auto">
          <a:xfrm flipV="1">
            <a:off x="10240963" y="4478338"/>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custDataLst>
              <p:tags r:id="rId158"/>
            </p:custDataLst>
          </p:nvPr>
        </p:nvCxnSpPr>
        <p:spPr bwMode="auto">
          <a:xfrm flipV="1">
            <a:off x="9764713" y="4478338"/>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custDataLst>
              <p:tags r:id="rId159"/>
            </p:custDataLst>
          </p:nvPr>
        </p:nvCxnSpPr>
        <p:spPr bwMode="auto">
          <a:xfrm flipV="1">
            <a:off x="5957888" y="4478338"/>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custDataLst>
              <p:tags r:id="rId160"/>
            </p:custDataLst>
          </p:nvPr>
        </p:nvCxnSpPr>
        <p:spPr bwMode="auto">
          <a:xfrm>
            <a:off x="681038" y="3863975"/>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custDataLst>
              <p:tags r:id="rId161"/>
            </p:custDataLst>
          </p:nvPr>
        </p:nvCxnSpPr>
        <p:spPr bwMode="auto">
          <a:xfrm>
            <a:off x="681038" y="4068763"/>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custDataLst>
              <p:tags r:id="rId162"/>
            </p:custDataLst>
          </p:nvPr>
        </p:nvCxnSpPr>
        <p:spPr bwMode="auto">
          <a:xfrm>
            <a:off x="681038" y="3455988"/>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custDataLst>
              <p:tags r:id="rId163"/>
            </p:custDataLst>
          </p:nvPr>
        </p:nvCxnSpPr>
        <p:spPr bwMode="auto">
          <a:xfrm flipV="1">
            <a:off x="1200150" y="4478338"/>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custDataLst>
              <p:tags r:id="rId164"/>
            </p:custDataLst>
          </p:nvPr>
        </p:nvCxnSpPr>
        <p:spPr bwMode="auto">
          <a:xfrm flipV="1">
            <a:off x="7861300" y="4478338"/>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custDataLst>
              <p:tags r:id="rId165"/>
            </p:custDataLst>
          </p:nvPr>
        </p:nvCxnSpPr>
        <p:spPr bwMode="auto">
          <a:xfrm flipV="1">
            <a:off x="4054475" y="4478338"/>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custDataLst>
              <p:tags r:id="rId166"/>
            </p:custDataLst>
          </p:nvPr>
        </p:nvCxnSpPr>
        <p:spPr bwMode="auto">
          <a:xfrm flipV="1">
            <a:off x="8813800" y="4478338"/>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custDataLst>
              <p:tags r:id="rId167"/>
            </p:custDataLst>
          </p:nvPr>
        </p:nvCxnSpPr>
        <p:spPr bwMode="auto">
          <a:xfrm flipV="1">
            <a:off x="7386638" y="4478338"/>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custDataLst>
              <p:tags r:id="rId168"/>
            </p:custDataLst>
          </p:nvPr>
        </p:nvCxnSpPr>
        <p:spPr bwMode="auto">
          <a:xfrm>
            <a:off x="681038" y="3046413"/>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custDataLst>
              <p:tags r:id="rId169"/>
            </p:custDataLst>
          </p:nvPr>
        </p:nvCxnSpPr>
        <p:spPr bwMode="auto">
          <a:xfrm flipV="1">
            <a:off x="5483225" y="4478338"/>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3" name="StandardTextbox"/>
          <p:cNvSpPr>
            <a:spLocks noGrp="1"/>
          </p:cNvSpPr>
          <p:nvPr>
            <p:custDataLst>
              <p:tags r:id="rId170"/>
            </p:custDataLst>
          </p:nvPr>
        </p:nvSpPr>
        <p:spPr bwMode="gray">
          <a:xfrm>
            <a:off x="7712075" y="4564063"/>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25A73611-2D6E-4B75-9610-B62E2551CEF2}" type="datetime'''''''7''''''''5%'''''''''''''''''''''''''''">
              <a:rPr lang="en-IN" altLang="en-US" b="0" smtClean="0">
                <a:solidFill>
                  <a:srgbClr val="000000"/>
                </a:solidFill>
              </a:rPr>
              <a:pPr lvl="1" algn="ctr">
                <a:spcBef>
                  <a:spcPct val="0"/>
                </a:spcBef>
                <a:spcAft>
                  <a:spcPct val="0"/>
                </a:spcAft>
                <a:defRPr/>
              </a:pPr>
              <a:t>75%</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84" name="StandardTextbox"/>
          <p:cNvSpPr>
            <a:spLocks noGrp="1"/>
          </p:cNvSpPr>
          <p:nvPr>
            <p:custDataLst>
              <p:tags r:id="rId171"/>
            </p:custDataLst>
          </p:nvPr>
        </p:nvSpPr>
        <p:spPr bwMode="gray">
          <a:xfrm>
            <a:off x="7237413" y="4564063"/>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0C4F09CA-1660-40FF-97D4-9E85520E78AA}" type="datetime'''7''''''''''''''''''''''0''''%'''''''''''">
              <a:rPr lang="en-IN" altLang="en-US" b="0" smtClean="0">
                <a:solidFill>
                  <a:srgbClr val="000000"/>
                </a:solidFill>
              </a:rPr>
              <a:pPr lvl="1" algn="ctr">
                <a:spcBef>
                  <a:spcPct val="0"/>
                </a:spcBef>
                <a:spcAft>
                  <a:spcPct val="0"/>
                </a:spcAft>
                <a:defRPr/>
              </a:pPr>
              <a:t>70%</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85" name="StandardTextbox"/>
          <p:cNvSpPr>
            <a:spLocks noGrp="1"/>
          </p:cNvSpPr>
          <p:nvPr>
            <p:custDataLst>
              <p:tags r:id="rId172"/>
            </p:custDataLst>
          </p:nvPr>
        </p:nvSpPr>
        <p:spPr bwMode="gray">
          <a:xfrm>
            <a:off x="1527175" y="4564063"/>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C8900670-E09F-40DA-8F0A-0C5CE7B64982}" type="datetime'''''''''''''''''1''''''''''''0''''''''''''''''''%'''''''">
              <a:rPr lang="en-IN" altLang="en-US" b="0" smtClean="0">
                <a:solidFill>
                  <a:srgbClr val="000000"/>
                </a:solidFill>
              </a:rPr>
              <a:pPr lvl="1" algn="ctr">
                <a:spcBef>
                  <a:spcPct val="0"/>
                </a:spcBef>
                <a:spcAft>
                  <a:spcPct val="0"/>
                </a:spcAft>
                <a:defRPr/>
              </a:pPr>
              <a:t>10%</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86" name="StandardTextbox"/>
          <p:cNvSpPr>
            <a:spLocks noGrp="1"/>
          </p:cNvSpPr>
          <p:nvPr>
            <p:custDataLst>
              <p:tags r:id="rId173"/>
            </p:custDataLst>
          </p:nvPr>
        </p:nvSpPr>
        <p:spPr bwMode="gray">
          <a:xfrm>
            <a:off x="6761163" y="4564063"/>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2EF46951-F5BC-45EE-A92D-96D82A35F9DA}" type="datetime'''''''''''''''''''''''''''''65''''''''''''%'''''''''''''''''">
              <a:rPr lang="en-IN" altLang="en-US" b="0" smtClean="0">
                <a:solidFill>
                  <a:srgbClr val="000000"/>
                </a:solidFill>
              </a:rPr>
              <a:pPr lvl="1" algn="ctr">
                <a:spcBef>
                  <a:spcPct val="0"/>
                </a:spcBef>
                <a:spcAft>
                  <a:spcPct val="0"/>
                </a:spcAft>
                <a:defRPr/>
              </a:pPr>
              <a:t>65%</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87" name="StandardTextbox"/>
          <p:cNvSpPr>
            <a:spLocks noGrp="1"/>
          </p:cNvSpPr>
          <p:nvPr>
            <p:custDataLst>
              <p:tags r:id="rId174"/>
            </p:custDataLst>
          </p:nvPr>
        </p:nvSpPr>
        <p:spPr bwMode="gray">
          <a:xfrm>
            <a:off x="6284913" y="4564063"/>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35F3B280-27DB-448C-8E28-D840036F5A22}" type="datetime'''''''''''6''0''''''''''''''''''''''''''''''''''''%'''">
              <a:rPr lang="en-IN" altLang="en-US" b="0" smtClean="0">
                <a:solidFill>
                  <a:srgbClr val="000000"/>
                </a:solidFill>
              </a:rPr>
              <a:pPr lvl="1" algn="ctr">
                <a:spcBef>
                  <a:spcPct val="0"/>
                </a:spcBef>
                <a:spcAft>
                  <a:spcPct val="0"/>
                </a:spcAft>
                <a:defRPr/>
              </a:pPr>
              <a:t>60%</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88" name="StandardTextbox"/>
          <p:cNvSpPr>
            <a:spLocks noGrp="1"/>
          </p:cNvSpPr>
          <p:nvPr>
            <p:custDataLst>
              <p:tags r:id="rId175"/>
            </p:custDataLst>
          </p:nvPr>
        </p:nvSpPr>
        <p:spPr bwMode="gray">
          <a:xfrm>
            <a:off x="433388" y="3379788"/>
            <a:ext cx="1619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defRPr/>
            </a:pPr>
            <a:fld id="{CD885E15-E608-4E5F-B9A6-22B479D4841A}" type="datetime'''''2''''''''''''''5'''''''''''''">
              <a:rPr lang="en-IN" altLang="en-US" b="0" smtClean="0">
                <a:solidFill>
                  <a:srgbClr val="000000"/>
                </a:solidFill>
              </a:rPr>
              <a:pPr lvl="1" algn="r">
                <a:spcBef>
                  <a:spcPct val="0"/>
                </a:spcBef>
                <a:spcAft>
                  <a:spcPct val="0"/>
                </a:spcAft>
                <a:defRPr/>
              </a:pPr>
              <a:t>25</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89" name="StandardTextbox"/>
          <p:cNvSpPr>
            <a:spLocks noGrp="1"/>
          </p:cNvSpPr>
          <p:nvPr>
            <p:custDataLst>
              <p:tags r:id="rId176"/>
            </p:custDataLst>
          </p:nvPr>
        </p:nvSpPr>
        <p:spPr bwMode="gray">
          <a:xfrm>
            <a:off x="9140825" y="4564063"/>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ADEE06E7-7365-449C-ACBB-7F00E9080585}" type="datetime'''''''''''9''0''''''''''''''''''''''''%'''">
              <a:rPr lang="en-IN" altLang="en-US" b="0" smtClean="0">
                <a:solidFill>
                  <a:srgbClr val="000000"/>
                </a:solidFill>
              </a:rPr>
              <a:pPr lvl="1" algn="ctr">
                <a:spcBef>
                  <a:spcPct val="0"/>
                </a:spcBef>
                <a:spcAft>
                  <a:spcPct val="0"/>
                </a:spcAft>
                <a:defRPr/>
              </a:pPr>
              <a:t>90%</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90" name="StandardTextbox"/>
          <p:cNvSpPr>
            <a:spLocks noGrp="1"/>
          </p:cNvSpPr>
          <p:nvPr>
            <p:custDataLst>
              <p:tags r:id="rId177"/>
            </p:custDataLst>
          </p:nvPr>
        </p:nvSpPr>
        <p:spPr bwMode="gray">
          <a:xfrm>
            <a:off x="5808663" y="4564063"/>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B8F22CAB-5317-4C4C-A9D5-51D59A6198CD}" type="datetime'''''''''''55''''''''''''%'''''''''''''''''''''''''''">
              <a:rPr lang="en-IN" altLang="en-US" b="0" smtClean="0">
                <a:solidFill>
                  <a:srgbClr val="000000"/>
                </a:solidFill>
              </a:rPr>
              <a:pPr lvl="1" algn="ctr">
                <a:spcBef>
                  <a:spcPct val="0"/>
                </a:spcBef>
                <a:spcAft>
                  <a:spcPct val="0"/>
                </a:spcAft>
                <a:defRPr/>
              </a:pPr>
              <a:t>55%</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91" name="StandardTextbox"/>
          <p:cNvSpPr>
            <a:spLocks noGrp="1"/>
          </p:cNvSpPr>
          <p:nvPr>
            <p:custDataLst>
              <p:tags r:id="rId178"/>
            </p:custDataLst>
          </p:nvPr>
        </p:nvSpPr>
        <p:spPr bwMode="gray">
          <a:xfrm>
            <a:off x="8664575" y="4564063"/>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5F411A33-4BAF-41D3-9CD2-87BBC5FBB589}" type="datetime'''''''''''''8''''''''''''''''''''''''''''''''''''5''''''%'''''">
              <a:rPr lang="en-IN" altLang="en-US" b="0" smtClean="0">
                <a:solidFill>
                  <a:srgbClr val="000000"/>
                </a:solidFill>
              </a:rPr>
              <a:pPr lvl="1" algn="ctr">
                <a:spcBef>
                  <a:spcPct val="0"/>
                </a:spcBef>
                <a:spcAft>
                  <a:spcPct val="0"/>
                </a:spcAft>
                <a:defRPr/>
              </a:pPr>
              <a:t>85%</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92" name="StandardTextbox"/>
          <p:cNvSpPr>
            <a:spLocks noGrp="1"/>
          </p:cNvSpPr>
          <p:nvPr>
            <p:custDataLst>
              <p:tags r:id="rId179"/>
            </p:custDataLst>
          </p:nvPr>
        </p:nvSpPr>
        <p:spPr bwMode="gray">
          <a:xfrm>
            <a:off x="5334000" y="4564063"/>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67975E64-0141-4BC0-81BF-D7F728F7C2D5}" type="datetime'''''''''''''''''5''''''''''0''''''''''''''''''''''''%'">
              <a:rPr lang="en-IN" altLang="en-US" b="0" smtClean="0">
                <a:solidFill>
                  <a:srgbClr val="000000"/>
                </a:solidFill>
              </a:rPr>
              <a:pPr lvl="1" algn="ctr">
                <a:spcBef>
                  <a:spcPct val="0"/>
                </a:spcBef>
                <a:spcAft>
                  <a:spcPct val="0"/>
                </a:spcAft>
                <a:defRPr/>
              </a:pPr>
              <a:t>50%</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93" name="StandardTextbox"/>
          <p:cNvSpPr>
            <a:spLocks noGrp="1"/>
          </p:cNvSpPr>
          <p:nvPr>
            <p:custDataLst>
              <p:tags r:id="rId180"/>
            </p:custDataLst>
          </p:nvPr>
        </p:nvSpPr>
        <p:spPr bwMode="gray">
          <a:xfrm>
            <a:off x="615950" y="4564063"/>
            <a:ext cx="2174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75C82503-B784-480C-ABA6-2F077ADA1545}" type="datetime'''''''''0''''''''''%'''''''''''''''''''''''''''''''">
              <a:rPr lang="en-IN" altLang="en-US" b="0" smtClean="0">
                <a:solidFill>
                  <a:srgbClr val="000000"/>
                </a:solidFill>
              </a:rPr>
              <a:pPr lvl="1" algn="ctr">
                <a:spcBef>
                  <a:spcPct val="0"/>
                </a:spcBef>
                <a:spcAft>
                  <a:spcPct val="0"/>
                </a:spcAft>
                <a:defRPr/>
              </a:pPr>
              <a:t>0%</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94" name="StandardTextbox"/>
          <p:cNvSpPr>
            <a:spLocks noGrp="1"/>
          </p:cNvSpPr>
          <p:nvPr>
            <p:custDataLst>
              <p:tags r:id="rId181"/>
            </p:custDataLst>
          </p:nvPr>
        </p:nvSpPr>
        <p:spPr bwMode="gray">
          <a:xfrm>
            <a:off x="433388" y="3584575"/>
            <a:ext cx="1619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defRPr/>
            </a:pPr>
            <a:fld id="{2DC0D837-5538-46FE-B1B7-5FEA48B704CE}" type="datetime'''''''''''''''''''2''''''''''''''''''''0'''''''''''''''''''">
              <a:rPr lang="en-IN" altLang="en-US" b="0" smtClean="0">
                <a:solidFill>
                  <a:srgbClr val="000000"/>
                </a:solidFill>
              </a:rPr>
              <a:pPr lvl="1" algn="r">
                <a:spcBef>
                  <a:spcPct val="0"/>
                </a:spcBef>
                <a:spcAft>
                  <a:spcPct val="0"/>
                </a:spcAft>
                <a:defRPr/>
              </a:pPr>
              <a:t>20</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95" name="StandardTextbox"/>
          <p:cNvSpPr>
            <a:spLocks noGrp="1"/>
          </p:cNvSpPr>
          <p:nvPr>
            <p:custDataLst>
              <p:tags r:id="rId182"/>
            </p:custDataLst>
          </p:nvPr>
        </p:nvSpPr>
        <p:spPr bwMode="gray">
          <a:xfrm>
            <a:off x="4857750" y="4564063"/>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B3F27369-B4CA-45B6-858E-265D349805CE}" type="datetime'''''''''''''''''4''''''5''''''''%'''''''''''">
              <a:rPr lang="en-IN" altLang="en-US" b="0" smtClean="0">
                <a:solidFill>
                  <a:srgbClr val="000000"/>
                </a:solidFill>
              </a:rPr>
              <a:pPr lvl="1" algn="ctr">
                <a:spcBef>
                  <a:spcPct val="0"/>
                </a:spcBef>
                <a:spcAft>
                  <a:spcPct val="0"/>
                </a:spcAft>
                <a:defRPr/>
              </a:pPr>
              <a:t>45%</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96" name="StandardTextbox"/>
          <p:cNvSpPr>
            <a:spLocks noGrp="1"/>
          </p:cNvSpPr>
          <p:nvPr>
            <p:custDataLst>
              <p:tags r:id="rId183"/>
            </p:custDataLst>
          </p:nvPr>
        </p:nvSpPr>
        <p:spPr bwMode="gray">
          <a:xfrm>
            <a:off x="514350" y="4402138"/>
            <a:ext cx="80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defRPr/>
            </a:pPr>
            <a:fld id="{F5F69594-6DB0-48DB-BB0A-143A8D8021DE}" type="datetime'''''''''''''''''''''''''''0'''''''''''''''''''''''">
              <a:rPr lang="en-IN" altLang="en-US" b="0" smtClean="0">
                <a:solidFill>
                  <a:srgbClr val="000000"/>
                </a:solidFill>
              </a:rPr>
              <a:pPr lvl="1" algn="r">
                <a:spcBef>
                  <a:spcPct val="0"/>
                </a:spcBef>
                <a:spcAft>
                  <a:spcPct val="0"/>
                </a:spcAft>
                <a:defRPr/>
              </a:pPr>
              <a:t>0</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97" name="StandardTextbox"/>
          <p:cNvSpPr>
            <a:spLocks noGrp="1"/>
          </p:cNvSpPr>
          <p:nvPr>
            <p:custDataLst>
              <p:tags r:id="rId184"/>
            </p:custDataLst>
          </p:nvPr>
        </p:nvSpPr>
        <p:spPr bwMode="gray">
          <a:xfrm>
            <a:off x="4381500" y="4564063"/>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79390B08-00F4-46A1-BEAE-99C7E70CE1E1}" type="datetime'''4''''''''''''''''''''''0''%'''''''''''''''''''">
              <a:rPr lang="en-IN" altLang="en-US" b="0" smtClean="0">
                <a:solidFill>
                  <a:srgbClr val="000000"/>
                </a:solidFill>
              </a:rPr>
              <a:pPr lvl="1" algn="ctr">
                <a:spcBef>
                  <a:spcPct val="0"/>
                </a:spcBef>
                <a:spcAft>
                  <a:spcPct val="0"/>
                </a:spcAft>
                <a:defRPr/>
              </a:pPr>
              <a:t>40%</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98" name="StandardTextbox"/>
          <p:cNvSpPr>
            <a:spLocks noGrp="1"/>
          </p:cNvSpPr>
          <p:nvPr>
            <p:custDataLst>
              <p:tags r:id="rId185"/>
            </p:custDataLst>
          </p:nvPr>
        </p:nvSpPr>
        <p:spPr bwMode="gray">
          <a:xfrm>
            <a:off x="3905250" y="4564063"/>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1EB7654F-DCB0-4040-AE5D-76ABA4B26E88}" type="datetime'''3''''''''''''''''''''''''5''%'''''''''''''''''''''''''''">
              <a:rPr lang="en-IN" altLang="en-US" b="0" smtClean="0">
                <a:solidFill>
                  <a:srgbClr val="000000"/>
                </a:solidFill>
              </a:rPr>
              <a:pPr lvl="1" algn="ctr">
                <a:spcBef>
                  <a:spcPct val="0"/>
                </a:spcBef>
                <a:spcAft>
                  <a:spcPct val="0"/>
                </a:spcAft>
                <a:defRPr/>
              </a:pPr>
              <a:t>35%</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99" name="StandardTextbox"/>
          <p:cNvSpPr>
            <a:spLocks noGrp="1"/>
          </p:cNvSpPr>
          <p:nvPr>
            <p:custDataLst>
              <p:tags r:id="rId186"/>
            </p:custDataLst>
          </p:nvPr>
        </p:nvSpPr>
        <p:spPr bwMode="gray">
          <a:xfrm>
            <a:off x="3430588" y="4564063"/>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FD58196B-C323-4601-9B23-B6C9522977AC}" type="datetime'''''''''''''''''''''3''''''''''''''''''0''''%'''''''''''''''''">
              <a:rPr lang="en-IN" altLang="en-US" b="0" smtClean="0">
                <a:solidFill>
                  <a:srgbClr val="000000"/>
                </a:solidFill>
              </a:rPr>
              <a:pPr lvl="1" algn="ctr">
                <a:spcBef>
                  <a:spcPct val="0"/>
                </a:spcBef>
                <a:spcAft>
                  <a:spcPct val="0"/>
                </a:spcAft>
                <a:defRPr/>
              </a:pPr>
              <a:t>30%</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200" name="StandardTextbox"/>
          <p:cNvSpPr>
            <a:spLocks noGrp="1"/>
          </p:cNvSpPr>
          <p:nvPr>
            <p:custDataLst>
              <p:tags r:id="rId187"/>
            </p:custDataLst>
          </p:nvPr>
        </p:nvSpPr>
        <p:spPr bwMode="gray">
          <a:xfrm>
            <a:off x="514350" y="4197350"/>
            <a:ext cx="80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defRPr/>
            </a:pPr>
            <a:fld id="{BAEEAE3D-6268-4EE6-A302-FFE197C08AAB}" type="datetime'''''5'''''''''''''''''''''''''''''''">
              <a:rPr lang="en-IN" altLang="en-US" b="0" smtClean="0">
                <a:solidFill>
                  <a:srgbClr val="000000"/>
                </a:solidFill>
              </a:rPr>
              <a:pPr lvl="1" algn="r">
                <a:spcBef>
                  <a:spcPct val="0"/>
                </a:spcBef>
                <a:spcAft>
                  <a:spcPct val="0"/>
                </a:spcAft>
                <a:defRPr/>
              </a:pPr>
              <a:t>5</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201" name="StandardTextbox"/>
          <p:cNvSpPr>
            <a:spLocks noGrp="1"/>
          </p:cNvSpPr>
          <p:nvPr>
            <p:custDataLst>
              <p:tags r:id="rId188"/>
            </p:custDataLst>
          </p:nvPr>
        </p:nvSpPr>
        <p:spPr bwMode="gray">
          <a:xfrm>
            <a:off x="2478088" y="4564063"/>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04D4A3D8-C497-4251-81BD-2C050E94BAB7}" type="datetime'''''''''''''''''''''''''''''''''''''2''''''''''0%'">
              <a:rPr lang="en-IN" altLang="en-US" b="0" smtClean="0">
                <a:solidFill>
                  <a:srgbClr val="000000"/>
                </a:solidFill>
              </a:rPr>
              <a:pPr lvl="1" algn="ctr">
                <a:spcBef>
                  <a:spcPct val="0"/>
                </a:spcBef>
                <a:spcAft>
                  <a:spcPct val="0"/>
                </a:spcAft>
                <a:defRPr/>
              </a:pPr>
              <a:t>20%</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202" name="StandardTextbox"/>
          <p:cNvSpPr>
            <a:spLocks noGrp="1"/>
          </p:cNvSpPr>
          <p:nvPr>
            <p:custDataLst>
              <p:tags r:id="rId189"/>
            </p:custDataLst>
          </p:nvPr>
        </p:nvSpPr>
        <p:spPr bwMode="gray">
          <a:xfrm>
            <a:off x="1092200" y="4564063"/>
            <a:ext cx="2174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774FE63D-CAA6-4738-A9AA-38EBAEC34D39}" type="datetime'''''''''5''''''''''''''''%'''''''''''''''''''''''''">
              <a:rPr lang="en-IN" altLang="en-US" b="0" smtClean="0">
                <a:solidFill>
                  <a:srgbClr val="000000"/>
                </a:solidFill>
              </a:rPr>
              <a:pPr lvl="1" algn="ctr">
                <a:spcBef>
                  <a:spcPct val="0"/>
                </a:spcBef>
                <a:spcAft>
                  <a:spcPct val="0"/>
                </a:spcAft>
                <a:defRPr/>
              </a:pPr>
              <a:t>5%</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203" name="StandardTextbox"/>
          <p:cNvSpPr>
            <a:spLocks noGrp="1"/>
          </p:cNvSpPr>
          <p:nvPr>
            <p:custDataLst>
              <p:tags r:id="rId190"/>
            </p:custDataLst>
          </p:nvPr>
        </p:nvSpPr>
        <p:spPr bwMode="gray">
          <a:xfrm>
            <a:off x="10052050" y="4564063"/>
            <a:ext cx="3794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9A7FDE2B-3C22-4C30-88FC-F49F6D152708}" type="datetime'''''''''''''1''''''''''0''''''''0%'''''''''''''''''">
              <a:rPr lang="en-IN" altLang="en-US" b="0" smtClean="0">
                <a:solidFill>
                  <a:srgbClr val="000000"/>
                </a:solidFill>
              </a:rPr>
              <a:pPr lvl="1" algn="ctr">
                <a:spcBef>
                  <a:spcPct val="0"/>
                </a:spcBef>
                <a:spcAft>
                  <a:spcPct val="0"/>
                </a:spcAft>
                <a:defRPr/>
              </a:pPr>
              <a:t>100%</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204" name="StandardTextbox"/>
          <p:cNvSpPr>
            <a:spLocks noGrp="1"/>
          </p:cNvSpPr>
          <p:nvPr>
            <p:custDataLst>
              <p:tags r:id="rId191"/>
            </p:custDataLst>
          </p:nvPr>
        </p:nvSpPr>
        <p:spPr bwMode="gray">
          <a:xfrm>
            <a:off x="2954338" y="4564063"/>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D77857C8-9F7C-4A9F-AA09-422B84A3561D}" type="datetime'''''''''''2''''''''''''5''''''''''''''''''%'''''''''''">
              <a:rPr lang="en-IN" altLang="en-US" b="0" smtClean="0">
                <a:solidFill>
                  <a:srgbClr val="000000"/>
                </a:solidFill>
              </a:rPr>
              <a:pPr lvl="1" algn="ctr">
                <a:spcBef>
                  <a:spcPct val="0"/>
                </a:spcBef>
                <a:spcAft>
                  <a:spcPct val="0"/>
                </a:spcAft>
                <a:defRPr/>
              </a:pPr>
              <a:t>25%</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205" name="StandardTextbox"/>
          <p:cNvSpPr>
            <a:spLocks noGrp="1"/>
          </p:cNvSpPr>
          <p:nvPr>
            <p:custDataLst>
              <p:tags r:id="rId192"/>
            </p:custDataLst>
          </p:nvPr>
        </p:nvSpPr>
        <p:spPr bwMode="gray">
          <a:xfrm>
            <a:off x="2001838" y="4564063"/>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7D56BE94-72A1-4CB1-A1E8-67B2AF50740A}" type="datetime'''''''''''''''''''1''''''''''5''''%'''''''''''">
              <a:rPr lang="en-IN" altLang="en-US" b="0" smtClean="0">
                <a:solidFill>
                  <a:srgbClr val="000000"/>
                </a:solidFill>
              </a:rPr>
              <a:pPr lvl="1" algn="ctr">
                <a:spcBef>
                  <a:spcPct val="0"/>
                </a:spcBef>
                <a:spcAft>
                  <a:spcPct val="0"/>
                </a:spcAft>
                <a:defRPr/>
              </a:pPr>
              <a:t>15%</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206" name="StandardTextbox"/>
          <p:cNvSpPr>
            <a:spLocks noGrp="1"/>
          </p:cNvSpPr>
          <p:nvPr>
            <p:custDataLst>
              <p:tags r:id="rId193"/>
            </p:custDataLst>
          </p:nvPr>
        </p:nvSpPr>
        <p:spPr bwMode="gray">
          <a:xfrm>
            <a:off x="433388" y="3992563"/>
            <a:ext cx="1619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defRPr/>
            </a:pPr>
            <a:fld id="{15D8883B-9BD8-4356-895A-AF55C302C442}" type="datetime'''1''''''''''''''''''''0'''''''''''''''''''''''''">
              <a:rPr lang="en-IN" altLang="en-US" b="0" smtClean="0">
                <a:solidFill>
                  <a:srgbClr val="000000"/>
                </a:solidFill>
              </a:rPr>
              <a:pPr lvl="1" algn="r">
                <a:spcBef>
                  <a:spcPct val="0"/>
                </a:spcBef>
                <a:spcAft>
                  <a:spcPct val="0"/>
                </a:spcAft>
                <a:defRPr/>
              </a:pPr>
              <a:t>10</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207" name="StandardTextbox"/>
          <p:cNvSpPr>
            <a:spLocks noGrp="1"/>
          </p:cNvSpPr>
          <p:nvPr>
            <p:custDataLst>
              <p:tags r:id="rId194"/>
            </p:custDataLst>
          </p:nvPr>
        </p:nvSpPr>
        <p:spPr bwMode="gray">
          <a:xfrm>
            <a:off x="433388" y="2765425"/>
            <a:ext cx="1619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defRPr/>
            </a:pPr>
            <a:fld id="{EADEB25E-E378-4609-B5DC-DBCD5642FBB8}" type="datetime'''''''''''''4''''''''''''''''''''0'''''''''''''''''''''">
              <a:rPr lang="en-IN" altLang="en-US" b="0" smtClean="0">
                <a:solidFill>
                  <a:srgbClr val="000000"/>
                </a:solidFill>
              </a:rPr>
              <a:pPr lvl="1" algn="r">
                <a:spcBef>
                  <a:spcPct val="0"/>
                </a:spcBef>
                <a:spcAft>
                  <a:spcPct val="0"/>
                </a:spcAft>
                <a:defRPr/>
              </a:pPr>
              <a:t>40</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208" name="StandardTextbox"/>
          <p:cNvSpPr>
            <a:spLocks noGrp="1"/>
          </p:cNvSpPr>
          <p:nvPr>
            <p:custDataLst>
              <p:tags r:id="rId195"/>
            </p:custDataLst>
          </p:nvPr>
        </p:nvSpPr>
        <p:spPr bwMode="gray">
          <a:xfrm>
            <a:off x="9615488" y="4564063"/>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725D9E84-76FD-4DB5-88BF-623161454908}" type="datetime'''''''''''''''''9''''''''''''''''''5%'''''">
              <a:rPr lang="en-IN" altLang="en-US" b="0" smtClean="0">
                <a:solidFill>
                  <a:srgbClr val="000000"/>
                </a:solidFill>
              </a:rPr>
              <a:pPr lvl="1" algn="ctr">
                <a:spcBef>
                  <a:spcPct val="0"/>
                </a:spcBef>
                <a:spcAft>
                  <a:spcPct val="0"/>
                </a:spcAft>
                <a:defRPr/>
              </a:pPr>
              <a:t>95%</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209" name="StandardTextbox"/>
          <p:cNvSpPr>
            <a:spLocks noGrp="1"/>
          </p:cNvSpPr>
          <p:nvPr>
            <p:custDataLst>
              <p:tags r:id="rId196"/>
            </p:custDataLst>
          </p:nvPr>
        </p:nvSpPr>
        <p:spPr bwMode="gray">
          <a:xfrm>
            <a:off x="433388" y="2970213"/>
            <a:ext cx="1619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defRPr/>
            </a:pPr>
            <a:fld id="{BE25C26D-03A8-46BF-B851-F1FCFA268B99}" type="datetime'3''''''5'''''''''''''''">
              <a:rPr lang="en-IN" altLang="en-US" b="0" smtClean="0">
                <a:solidFill>
                  <a:srgbClr val="000000"/>
                </a:solidFill>
              </a:rPr>
              <a:pPr lvl="1" algn="r">
                <a:spcBef>
                  <a:spcPct val="0"/>
                </a:spcBef>
                <a:spcAft>
                  <a:spcPct val="0"/>
                </a:spcAft>
                <a:defRPr/>
              </a:pPr>
              <a:t>35</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210" name="StandardTextbox"/>
          <p:cNvSpPr>
            <a:spLocks noGrp="1"/>
          </p:cNvSpPr>
          <p:nvPr>
            <p:custDataLst>
              <p:tags r:id="rId197"/>
            </p:custDataLst>
          </p:nvPr>
        </p:nvSpPr>
        <p:spPr bwMode="gray">
          <a:xfrm>
            <a:off x="8188325" y="4564063"/>
            <a:ext cx="298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282958AC-B735-491B-8029-86131AD4664F}" type="datetime'''''''''''''''''''''''''''''''''''''''8''''''0''''''%'''''''">
              <a:rPr lang="en-IN" altLang="en-US" b="0" smtClean="0">
                <a:solidFill>
                  <a:srgbClr val="000000"/>
                </a:solidFill>
              </a:rPr>
              <a:pPr lvl="1" algn="ctr">
                <a:spcBef>
                  <a:spcPct val="0"/>
                </a:spcBef>
                <a:spcAft>
                  <a:spcPct val="0"/>
                </a:spcAft>
                <a:defRPr/>
              </a:pPr>
              <a:t>80%</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211" name="StandardTextbox"/>
          <p:cNvSpPr>
            <a:spLocks noGrp="1"/>
          </p:cNvSpPr>
          <p:nvPr>
            <p:custDataLst>
              <p:tags r:id="rId198"/>
            </p:custDataLst>
          </p:nvPr>
        </p:nvSpPr>
        <p:spPr bwMode="gray">
          <a:xfrm>
            <a:off x="433388" y="3175000"/>
            <a:ext cx="1619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defRPr/>
            </a:pPr>
            <a:fld id="{98681BB4-D803-4709-86CB-32BACD3BCCD0}" type="datetime'''3''''''''''''''''''0'''''''''''''''''''''''''''''''''''''">
              <a:rPr lang="en-IN" altLang="en-US" b="0" smtClean="0">
                <a:solidFill>
                  <a:srgbClr val="000000"/>
                </a:solidFill>
              </a:rPr>
              <a:pPr lvl="1" algn="r">
                <a:spcBef>
                  <a:spcPct val="0"/>
                </a:spcBef>
                <a:spcAft>
                  <a:spcPct val="0"/>
                </a:spcAft>
                <a:defRPr/>
              </a:pPr>
              <a:t>30</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212" name="StandardTextbox"/>
          <p:cNvSpPr>
            <a:spLocks noGrp="1"/>
          </p:cNvSpPr>
          <p:nvPr>
            <p:custDataLst>
              <p:tags r:id="rId199"/>
            </p:custDataLst>
          </p:nvPr>
        </p:nvSpPr>
        <p:spPr bwMode="gray">
          <a:xfrm>
            <a:off x="433388" y="3787775"/>
            <a:ext cx="1619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defRPr/>
            </a:pPr>
            <a:fld id="{DF2AD30E-F363-481E-A565-7FA7FDEF86FC}" type="datetime'''''''''''''''''''''''''''''''''''''''''1''''''5'''''''">
              <a:rPr lang="en-IN" altLang="en-US" b="0" smtClean="0">
                <a:solidFill>
                  <a:srgbClr val="000000"/>
                </a:solidFill>
              </a:rPr>
              <a:pPr lvl="1" algn="r">
                <a:spcBef>
                  <a:spcPct val="0"/>
                </a:spcBef>
                <a:spcAft>
                  <a:spcPct val="0"/>
                </a:spcAft>
                <a:defRPr/>
              </a:pPr>
              <a:t>15</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213" name="StandardTextbox"/>
          <p:cNvSpPr>
            <a:spLocks noGrp="1"/>
          </p:cNvSpPr>
          <p:nvPr>
            <p:custDataLst>
              <p:tags r:id="rId200"/>
            </p:custDataLst>
          </p:nvPr>
        </p:nvSpPr>
        <p:spPr bwMode="auto">
          <a:xfrm>
            <a:off x="3819525" y="4818063"/>
            <a:ext cx="33242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r>
              <a:rPr kumimoji="0" lang="en-IN" altLang="en-US" sz="1000" b="0" i="0" u="none" strike="noStrike" kern="1200" cap="none" spc="0" normalizeH="0" baseline="0" noProof="0" dirty="0">
                <a:ln>
                  <a:noFill/>
                </a:ln>
                <a:solidFill>
                  <a:prstClr val="black"/>
                </a:solidFill>
                <a:effectLst/>
                <a:uLnTx/>
                <a:uFillTx/>
                <a:latin typeface="Verdana"/>
                <a:ea typeface="+mn-ea"/>
                <a:cs typeface="+mn-cs"/>
                <a:sym typeface="+mn-lt"/>
              </a:rPr>
              <a:t>Total MUs sold in Bangladesh in FY19 – 70,533 MUs</a:t>
            </a:r>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14" name="StandardTextbox"/>
          <p:cNvSpPr>
            <a:spLocks noGrp="1"/>
          </p:cNvSpPr>
          <p:nvPr>
            <p:custDataLst>
              <p:tags r:id="rId201"/>
            </p:custDataLst>
          </p:nvPr>
        </p:nvSpPr>
        <p:spPr bwMode="auto">
          <a:xfrm>
            <a:off x="428625" y="2511425"/>
            <a:ext cx="5921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r>
              <a:rPr kumimoji="0" lang="en-IN" altLang="en-US" sz="1000" b="0" i="0" u="none" strike="noStrike" kern="1200" cap="none" spc="0" normalizeH="0" baseline="0" noProof="0" dirty="0">
                <a:ln>
                  <a:noFill/>
                </a:ln>
                <a:solidFill>
                  <a:prstClr val="black"/>
                </a:solidFill>
                <a:effectLst/>
                <a:uLnTx/>
                <a:uFillTx/>
                <a:latin typeface="Verdana"/>
                <a:ea typeface="+mn-ea"/>
                <a:cs typeface="+mn-cs"/>
                <a:sym typeface="+mn-lt"/>
              </a:rPr>
              <a:t>Tk / KWh</a:t>
            </a:r>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15" name="Rectangle 214"/>
          <p:cNvSpPr/>
          <p:nvPr>
            <p:custDataLst>
              <p:tags r:id="rId202"/>
            </p:custDataLst>
          </p:nvPr>
        </p:nvSpPr>
        <p:spPr bwMode="auto">
          <a:xfrm>
            <a:off x="3627438" y="4987925"/>
            <a:ext cx="179388" cy="133350"/>
          </a:xfrm>
          <a:prstGeom prst="rect">
            <a:avLst/>
          </a:prstGeom>
          <a:solidFill>
            <a:srgbClr val="75787B"/>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6" name="Rectangle 215"/>
          <p:cNvSpPr/>
          <p:nvPr>
            <p:custDataLst>
              <p:tags r:id="rId203"/>
            </p:custDataLst>
          </p:nvPr>
        </p:nvSpPr>
        <p:spPr bwMode="auto">
          <a:xfrm>
            <a:off x="3054350" y="4987925"/>
            <a:ext cx="179388" cy="13335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7" name="Rectangle 216"/>
          <p:cNvSpPr/>
          <p:nvPr>
            <p:custDataLst>
              <p:tags r:id="rId204"/>
            </p:custDataLst>
          </p:nvPr>
        </p:nvSpPr>
        <p:spPr bwMode="auto">
          <a:xfrm>
            <a:off x="4340225" y="4987925"/>
            <a:ext cx="179388" cy="133350"/>
          </a:xfrm>
          <a:prstGeom prst="rect">
            <a:avLst/>
          </a:prstGeom>
          <a:solidFill>
            <a:srgbClr val="0097A9"/>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8" name="Rectangle 217"/>
          <p:cNvSpPr/>
          <p:nvPr>
            <p:custDataLst>
              <p:tags r:id="rId205"/>
            </p:custDataLst>
          </p:nvPr>
        </p:nvSpPr>
        <p:spPr bwMode="auto">
          <a:xfrm>
            <a:off x="5111750" y="4987925"/>
            <a:ext cx="179388" cy="133350"/>
          </a:xfrm>
          <a:prstGeom prst="rect">
            <a:avLst/>
          </a:prstGeom>
          <a:solidFill>
            <a:srgbClr val="012169"/>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9" name="Rectangle 218"/>
          <p:cNvSpPr/>
          <p:nvPr>
            <p:custDataLst>
              <p:tags r:id="rId206"/>
            </p:custDataLst>
          </p:nvPr>
        </p:nvSpPr>
        <p:spPr bwMode="auto">
          <a:xfrm>
            <a:off x="5721350" y="4987925"/>
            <a:ext cx="179388" cy="1333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20" name="Rectangle 219"/>
          <p:cNvSpPr/>
          <p:nvPr>
            <p:custDataLst>
              <p:tags r:id="rId207"/>
            </p:custDataLst>
          </p:nvPr>
        </p:nvSpPr>
        <p:spPr bwMode="auto">
          <a:xfrm>
            <a:off x="6321425" y="4987925"/>
            <a:ext cx="179388" cy="133350"/>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21" name="Rectangle 220"/>
          <p:cNvSpPr/>
          <p:nvPr>
            <p:custDataLst>
              <p:tags r:id="rId208"/>
            </p:custDataLst>
          </p:nvPr>
        </p:nvSpPr>
        <p:spPr bwMode="auto">
          <a:xfrm>
            <a:off x="7088188" y="4987925"/>
            <a:ext cx="179388" cy="133350"/>
          </a:xfrm>
          <a:prstGeom prst="rect">
            <a:avLst/>
          </a:prstGeom>
          <a:solidFill>
            <a:srgbClr val="C4D600"/>
          </a:solidFill>
          <a:ln w="9525" algn="ctr">
            <a:solidFill>
              <a:schemeClr val="bg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22" name="StandardTextbox"/>
          <p:cNvSpPr>
            <a:spLocks noGrp="1"/>
          </p:cNvSpPr>
          <p:nvPr>
            <p:custDataLst>
              <p:tags r:id="rId209"/>
            </p:custDataLst>
          </p:nvPr>
        </p:nvSpPr>
        <p:spPr bwMode="auto">
          <a:xfrm>
            <a:off x="3284538" y="4983163"/>
            <a:ext cx="2413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AEDEA2E7-72D5-4D24-B14A-EB6B7D66E697}" type="datetime'''''''''''''''''''''''''''''G''''''''''''''as'''''''''''">
              <a:rPr lang="en-IN" altLang="en-US" b="0" smtClean="0">
                <a:solidFill>
                  <a:srgbClr val="000000"/>
                </a:solidFill>
              </a:rPr>
              <a:pPr lvl="1">
                <a:spcBef>
                  <a:spcPct val="0"/>
                </a:spcBef>
                <a:spcAft>
                  <a:spcPct val="0"/>
                </a:spcAft>
                <a:defRPr/>
              </a:pPr>
              <a:t>Gas</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223" name="StandardTextbox"/>
          <p:cNvSpPr>
            <a:spLocks noGrp="1"/>
          </p:cNvSpPr>
          <p:nvPr>
            <p:custDataLst>
              <p:tags r:id="rId210"/>
            </p:custDataLst>
          </p:nvPr>
        </p:nvSpPr>
        <p:spPr bwMode="auto">
          <a:xfrm>
            <a:off x="7318375" y="4983163"/>
            <a:ext cx="2809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087CAC74-C917-4C5C-BF3F-EB9A565FB1EA}" type="datetime'''''H''''''''''''''''''''''''S''''''''''''''''''D'''''">
              <a:rPr lang="en-IN" altLang="en-US" b="0" smtClean="0">
                <a:solidFill>
                  <a:srgbClr val="000000"/>
                </a:solidFill>
              </a:rPr>
              <a:pPr lvl="1">
                <a:spcBef>
                  <a:spcPct val="0"/>
                </a:spcBef>
                <a:spcAft>
                  <a:spcPct val="0"/>
                </a:spcAft>
                <a:defRPr/>
              </a:pPr>
              <a:t>HSD</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224" name="StandardTextbox"/>
          <p:cNvSpPr>
            <a:spLocks noGrp="1"/>
          </p:cNvSpPr>
          <p:nvPr>
            <p:custDataLst>
              <p:tags r:id="rId211"/>
            </p:custDataLst>
          </p:nvPr>
        </p:nvSpPr>
        <p:spPr bwMode="auto">
          <a:xfrm>
            <a:off x="3857625" y="4983163"/>
            <a:ext cx="3810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61AFD5F9-9FBC-4F6A-BD08-8FA0DDEAF3A9}" type="datetime'''''''''H''''''''''''''''''''y''''''''''''''''''d''r''''o'''''">
              <a:rPr lang="en-IN" altLang="en-US" b="0" smtClean="0">
                <a:solidFill>
                  <a:srgbClr val="000000"/>
                </a:solidFill>
              </a:rPr>
              <a:pPr lvl="1">
                <a:spcBef>
                  <a:spcPct val="0"/>
                </a:spcBef>
                <a:spcAft>
                  <a:spcPct val="0"/>
                </a:spcAft>
                <a:defRPr/>
              </a:pPr>
              <a:t>Hydro</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225" name="StandardTextbox"/>
          <p:cNvSpPr>
            <a:spLocks noGrp="1"/>
          </p:cNvSpPr>
          <p:nvPr>
            <p:custDataLst>
              <p:tags r:id="rId212"/>
            </p:custDataLst>
          </p:nvPr>
        </p:nvSpPr>
        <p:spPr bwMode="auto">
          <a:xfrm>
            <a:off x="5341938" y="4983163"/>
            <a:ext cx="2778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9763AE02-414B-4E87-9A71-1741D54A1415}" type="datetime'''''''''C''''''''''''o''al'''''''''''''''''">
              <a:rPr lang="en-IN" altLang="en-US" b="0" smtClean="0">
                <a:solidFill>
                  <a:srgbClr val="000000"/>
                </a:solidFill>
              </a:rPr>
              <a:pPr lvl="1">
                <a:spcBef>
                  <a:spcPct val="0"/>
                </a:spcBef>
                <a:spcAft>
                  <a:spcPct val="0"/>
                </a:spcAft>
                <a:defRPr/>
              </a:pPr>
              <a:t>Coal</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226" name="StandardTextbox"/>
          <p:cNvSpPr>
            <a:spLocks noGrp="1"/>
          </p:cNvSpPr>
          <p:nvPr>
            <p:custDataLst>
              <p:tags r:id="rId213"/>
            </p:custDataLst>
          </p:nvPr>
        </p:nvSpPr>
        <p:spPr bwMode="auto">
          <a:xfrm>
            <a:off x="4570413" y="4983163"/>
            <a:ext cx="4397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5170F599-7FB1-4884-AC3B-011DBCD5C53E}" type="datetime'''''''''''''''''I''''''''''''m''p''''''''''''''o''''''''r''t'">
              <a:rPr lang="en-IN" altLang="en-US" b="0" smtClean="0">
                <a:solidFill>
                  <a:srgbClr val="000000"/>
                </a:solidFill>
              </a:rPr>
              <a:pPr lvl="1">
                <a:spcBef>
                  <a:spcPct val="0"/>
                </a:spcBef>
                <a:spcAft>
                  <a:spcPct val="0"/>
                </a:spcAft>
                <a:defRPr/>
              </a:pPr>
              <a:t>Import</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227" name="StandardTextbox"/>
          <p:cNvSpPr>
            <a:spLocks noGrp="1"/>
          </p:cNvSpPr>
          <p:nvPr>
            <p:custDataLst>
              <p:tags r:id="rId214"/>
            </p:custDataLst>
          </p:nvPr>
        </p:nvSpPr>
        <p:spPr bwMode="auto">
          <a:xfrm>
            <a:off x="5951538" y="4983163"/>
            <a:ext cx="2682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C011D437-5E8C-407B-902C-B35066BD56AF}" type="datetime'''H''F''''''''''''''''''''''''''''''''O'">
              <a:rPr lang="en-IN" altLang="en-US" b="0" smtClean="0">
                <a:solidFill>
                  <a:srgbClr val="000000"/>
                </a:solidFill>
              </a:rPr>
              <a:pPr lvl="1">
                <a:spcBef>
                  <a:spcPct val="0"/>
                </a:spcBef>
                <a:spcAft>
                  <a:spcPct val="0"/>
                </a:spcAft>
                <a:defRPr/>
              </a:pPr>
              <a:t>HFO</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228" name="StandardTextbox"/>
          <p:cNvSpPr>
            <a:spLocks noGrp="1"/>
          </p:cNvSpPr>
          <p:nvPr>
            <p:custDataLst>
              <p:tags r:id="rId215"/>
            </p:custDataLst>
          </p:nvPr>
        </p:nvSpPr>
        <p:spPr bwMode="auto">
          <a:xfrm>
            <a:off x="6551613" y="4983163"/>
            <a:ext cx="43497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defRPr/>
            </a:pPr>
            <a:fld id="{6A02D840-55BF-420F-853B-F09E13DBE6D0}" type="datetime'''''''''''''''''''''''''''''SO''L''''''''''A''''''''''R'''''''">
              <a:rPr lang="en-IN" altLang="en-US" b="0" smtClean="0">
                <a:solidFill>
                  <a:srgbClr val="000000"/>
                </a:solidFill>
              </a:rPr>
              <a:pPr lvl="1">
                <a:spcBef>
                  <a:spcPct val="0"/>
                </a:spcBef>
                <a:spcAft>
                  <a:spcPct val="0"/>
                </a:spcAft>
                <a:defRPr/>
              </a:pPr>
              <a:t>SOLAR</a:t>
            </a:fld>
            <a:endParaRPr kumimoji="0" lang="en-IN" sz="1000" b="0" i="0" strike="noStrike" kern="1200" spc="0" normalizeH="0" noProof="0" dirty="0">
              <a:ln>
                <a:noFill/>
              </a:ln>
              <a:solidFill>
                <a:srgbClr val="000000"/>
              </a:solidFill>
              <a:effectLst/>
              <a:uLnTx/>
              <a:uFillTx/>
              <a:latin typeface="Verdana"/>
              <a:sym typeface="+mn-lt"/>
            </a:endParaRPr>
          </a:p>
        </p:txBody>
      </p:sp>
      <p:cxnSp>
        <p:nvCxnSpPr>
          <p:cNvPr id="229" name="Straight Arrow Connector 228"/>
          <p:cNvCxnSpPr/>
          <p:nvPr/>
        </p:nvCxnSpPr>
        <p:spPr>
          <a:xfrm>
            <a:off x="4029730" y="4290456"/>
            <a:ext cx="2845733" cy="0"/>
          </a:xfrm>
          <a:prstGeom prst="straightConnector1">
            <a:avLst/>
          </a:prstGeom>
          <a:ln>
            <a:headEnd type="triangle"/>
            <a:tailEnd type="triangle"/>
          </a:ln>
        </p:spPr>
        <p:style>
          <a:lnRef idx="3">
            <a:schemeClr val="accent1"/>
          </a:lnRef>
          <a:fillRef idx="0">
            <a:schemeClr val="accent1"/>
          </a:fillRef>
          <a:effectRef idx="2">
            <a:schemeClr val="accent1"/>
          </a:effectRef>
          <a:fontRef idx="minor">
            <a:schemeClr val="tx1"/>
          </a:fontRef>
        </p:style>
      </p:cxnSp>
      <p:cxnSp>
        <p:nvCxnSpPr>
          <p:cNvPr id="232" name="Straight Arrow Connector 231"/>
          <p:cNvCxnSpPr/>
          <p:nvPr/>
        </p:nvCxnSpPr>
        <p:spPr>
          <a:xfrm>
            <a:off x="9328944" y="3384587"/>
            <a:ext cx="629444" cy="0"/>
          </a:xfrm>
          <a:prstGeom prst="straightConnector1">
            <a:avLst/>
          </a:prstGeom>
          <a:ln>
            <a:solidFill>
              <a:srgbClr val="C4D600"/>
            </a:solidFill>
            <a:headEnd type="triangle"/>
            <a:tailEnd type="triangle"/>
          </a:ln>
        </p:spPr>
        <p:style>
          <a:lnRef idx="3">
            <a:schemeClr val="accent3"/>
          </a:lnRef>
          <a:fillRef idx="0">
            <a:schemeClr val="accent3"/>
          </a:fillRef>
          <a:effectRef idx="2">
            <a:schemeClr val="accent3"/>
          </a:effectRef>
          <a:fontRef idx="minor">
            <a:schemeClr val="tx1"/>
          </a:fontRef>
        </p:style>
      </p:cxnSp>
      <p:sp>
        <p:nvSpPr>
          <p:cNvPr id="240" name="Rectangle 239"/>
          <p:cNvSpPr/>
          <p:nvPr/>
        </p:nvSpPr>
        <p:spPr bwMode="gray">
          <a:xfrm>
            <a:off x="4153302" y="3955780"/>
            <a:ext cx="2470374" cy="288391"/>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700" b="1" dirty="0"/>
              <a:t>Current Position in Merit Order (on Gas Fuel) – 34%-64% - 2</a:t>
            </a:r>
            <a:r>
              <a:rPr lang="en-US" sz="700" b="1" baseline="30000" dirty="0"/>
              <a:t>nd</a:t>
            </a:r>
            <a:r>
              <a:rPr lang="en-US" sz="700" b="1" dirty="0"/>
              <a:t>/3rd Quartile</a:t>
            </a:r>
            <a:endParaRPr lang="en-IN" sz="700" b="1" dirty="0"/>
          </a:p>
        </p:txBody>
      </p:sp>
      <p:sp>
        <p:nvSpPr>
          <p:cNvPr id="243" name="Rectangle 242"/>
          <p:cNvSpPr/>
          <p:nvPr/>
        </p:nvSpPr>
        <p:spPr bwMode="gray">
          <a:xfrm>
            <a:off x="7867538" y="3076984"/>
            <a:ext cx="2470374" cy="288391"/>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700" b="1" dirty="0"/>
              <a:t>Current Position in Merit Order (on HSD) – 91% - 97% 4</a:t>
            </a:r>
            <a:r>
              <a:rPr lang="en-US" sz="700" b="1" baseline="30000" dirty="0"/>
              <a:t>th</a:t>
            </a:r>
            <a:r>
              <a:rPr lang="en-US" sz="700" b="1" dirty="0"/>
              <a:t> Quartile</a:t>
            </a:r>
            <a:endParaRPr lang="en-IN" sz="700" b="1" dirty="0"/>
          </a:p>
        </p:txBody>
      </p:sp>
      <p:sp>
        <p:nvSpPr>
          <p:cNvPr id="244" name="Rectangle 243"/>
          <p:cNvSpPr/>
          <p:nvPr/>
        </p:nvSpPr>
        <p:spPr bwMode="gray">
          <a:xfrm>
            <a:off x="385050" y="691123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Nimbus PPA / FSA / GSA / O&amp;M Agreements Note 1) The normative parameters such as Gas Calorific Value, Oil Heat Value, PLFs, Dependable Capacity, Escalable &amp; Non-escalable pricing components have been considered as per the agreements executed by Nimbus 2) No escalation in fuel prices have been assumed 3) Power Import from India based on estimated cost at </a:t>
            </a:r>
            <a:r>
              <a:rPr lang="en-US" sz="700" i="1" dirty="0" err="1">
                <a:solidFill>
                  <a:prstClr val="black"/>
                </a:solidFill>
              </a:rPr>
              <a:t>Tk</a:t>
            </a:r>
            <a:r>
              <a:rPr lang="en-US" sz="700" i="1" dirty="0">
                <a:solidFill>
                  <a:prstClr val="black"/>
                </a:solidFill>
              </a:rPr>
              <a:t> 8.1 -8.5 / kWh based on secondary sources</a:t>
            </a:r>
          </a:p>
        </p:txBody>
      </p:sp>
      <p:sp>
        <p:nvSpPr>
          <p:cNvPr id="9" name="Rectangle 8"/>
          <p:cNvSpPr/>
          <p:nvPr/>
        </p:nvSpPr>
        <p:spPr bwMode="gray">
          <a:xfrm>
            <a:off x="449264" y="6323854"/>
            <a:ext cx="9814876" cy="381234"/>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400" b="1" i="1" dirty="0">
                <a:solidFill>
                  <a:srgbClr val="0097A9"/>
                </a:solidFill>
              </a:rPr>
              <a:t>The proposed Nimbus plant is expected to receive plant full dispatch on Natural gas fuel based on economic / merit order perspective in Bangladesh; However the plant may face challenge in case it is forced to run with HSD due to high cost in the current merit order</a:t>
            </a:r>
            <a:endParaRPr lang="en-IN" sz="1400" b="1" i="1" dirty="0">
              <a:solidFill>
                <a:srgbClr val="0097A9"/>
              </a:solidFill>
            </a:endParaRPr>
          </a:p>
        </p:txBody>
      </p:sp>
      <p:cxnSp>
        <p:nvCxnSpPr>
          <p:cNvPr id="233" name="Straight Arrow Connector 232"/>
          <p:cNvCxnSpPr/>
          <p:nvPr/>
        </p:nvCxnSpPr>
        <p:spPr>
          <a:xfrm>
            <a:off x="7477919" y="4180269"/>
            <a:ext cx="396875" cy="0"/>
          </a:xfrm>
          <a:prstGeom prst="straightConnector1">
            <a:avLst/>
          </a:prstGeom>
          <a:ln>
            <a:solidFill>
              <a:srgbClr val="43B02A"/>
            </a:solidFill>
            <a:headEnd type="triangle"/>
            <a:tailEnd type="triangle"/>
          </a:ln>
        </p:spPr>
        <p:style>
          <a:lnRef idx="3">
            <a:schemeClr val="dk1"/>
          </a:lnRef>
          <a:fillRef idx="0">
            <a:schemeClr val="dk1"/>
          </a:fillRef>
          <a:effectRef idx="2">
            <a:schemeClr val="dk1"/>
          </a:effectRef>
          <a:fontRef idx="minor">
            <a:schemeClr val="tx1"/>
          </a:fontRef>
        </p:style>
      </p:cxnSp>
      <p:sp>
        <p:nvSpPr>
          <p:cNvPr id="234" name="Rectangle 233"/>
          <p:cNvSpPr/>
          <p:nvPr/>
        </p:nvSpPr>
        <p:spPr bwMode="gray">
          <a:xfrm>
            <a:off x="6739564" y="3858600"/>
            <a:ext cx="1828174" cy="288391"/>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700" b="1" dirty="0"/>
              <a:t>Upcoming RLNG Plants (Summit, UMPL) at TK ~5.44 / kWh</a:t>
            </a:r>
            <a:endParaRPr lang="en-IN" sz="700" b="1" dirty="0"/>
          </a:p>
        </p:txBody>
      </p:sp>
      <p:graphicFrame>
        <p:nvGraphicFramePr>
          <p:cNvPr id="236" name="Table 235"/>
          <p:cNvGraphicFramePr>
            <a:graphicFrameLocks noGrp="1"/>
          </p:cNvGraphicFramePr>
          <p:nvPr>
            <p:extLst>
              <p:ext uri="{D42A27DB-BD31-4B8C-83A1-F6EECF244321}">
                <p14:modId xmlns:p14="http://schemas.microsoft.com/office/powerpoint/2010/main" val="1750912926"/>
              </p:ext>
            </p:extLst>
          </p:nvPr>
        </p:nvGraphicFramePr>
        <p:xfrm>
          <a:off x="4355037" y="2804485"/>
          <a:ext cx="2406126" cy="1043715"/>
        </p:xfrm>
        <a:graphic>
          <a:graphicData uri="http://schemas.openxmlformats.org/drawingml/2006/table">
            <a:tbl>
              <a:tblPr firstRow="1" bandRow="1">
                <a:tableStyleId>{17292A2E-F333-43FB-9621-5CBBE7FDCDCB}</a:tableStyleId>
              </a:tblPr>
              <a:tblGrid>
                <a:gridCol w="796083">
                  <a:extLst>
                    <a:ext uri="{9D8B030D-6E8A-4147-A177-3AD203B41FA5}">
                      <a16:colId xmlns:a16="http://schemas.microsoft.com/office/drawing/2014/main" val="885066072"/>
                    </a:ext>
                  </a:extLst>
                </a:gridCol>
                <a:gridCol w="568960">
                  <a:extLst>
                    <a:ext uri="{9D8B030D-6E8A-4147-A177-3AD203B41FA5}">
                      <a16:colId xmlns:a16="http://schemas.microsoft.com/office/drawing/2014/main" val="3006001708"/>
                    </a:ext>
                  </a:extLst>
                </a:gridCol>
                <a:gridCol w="1041083">
                  <a:extLst>
                    <a:ext uri="{9D8B030D-6E8A-4147-A177-3AD203B41FA5}">
                      <a16:colId xmlns:a16="http://schemas.microsoft.com/office/drawing/2014/main" val="2283900157"/>
                    </a:ext>
                  </a:extLst>
                </a:gridCol>
              </a:tblGrid>
              <a:tr h="416235">
                <a:tc>
                  <a:txBody>
                    <a:bodyPr/>
                    <a:lstStyle/>
                    <a:p>
                      <a:r>
                        <a:rPr lang="en-US" sz="900" dirty="0"/>
                        <a:t>Fuel</a:t>
                      </a:r>
                    </a:p>
                    <a:p>
                      <a:r>
                        <a:rPr lang="en-US" sz="900" dirty="0"/>
                        <a:t>(Nimbus)</a:t>
                      </a:r>
                      <a:endParaRPr lang="en-IN" sz="900" dirty="0"/>
                    </a:p>
                  </a:txBody>
                  <a:tcPr marL="36000" marR="36000" marT="36000" marB="36000">
                    <a:solidFill>
                      <a:schemeClr val="accent1"/>
                    </a:solidFill>
                  </a:tcPr>
                </a:tc>
                <a:tc>
                  <a:txBody>
                    <a:bodyPr/>
                    <a:lstStyle/>
                    <a:p>
                      <a:r>
                        <a:rPr lang="en-US" sz="900" dirty="0"/>
                        <a:t>PLFs</a:t>
                      </a:r>
                      <a:endParaRPr lang="en-IN" sz="900" dirty="0"/>
                    </a:p>
                  </a:txBody>
                  <a:tcPr marL="36000" marR="36000" marT="36000" marB="36000">
                    <a:solidFill>
                      <a:schemeClr val="accent1"/>
                    </a:solidFill>
                  </a:tcPr>
                </a:tc>
                <a:tc>
                  <a:txBody>
                    <a:bodyPr/>
                    <a:lstStyle/>
                    <a:p>
                      <a:r>
                        <a:rPr lang="en-US" sz="900" dirty="0"/>
                        <a:t>Levelized tariff (Tk / kWh)</a:t>
                      </a:r>
                      <a:endParaRPr lang="en-IN" sz="900" dirty="0"/>
                    </a:p>
                  </a:txBody>
                  <a:tcPr marL="36000" marR="36000" marT="36000" marB="36000">
                    <a:solidFill>
                      <a:schemeClr val="accent1"/>
                    </a:solidFill>
                  </a:tcPr>
                </a:tc>
                <a:extLst>
                  <a:ext uri="{0D108BD9-81ED-4DB2-BD59-A6C34878D82A}">
                    <a16:rowId xmlns:a16="http://schemas.microsoft.com/office/drawing/2014/main" val="4142770162"/>
                  </a:ext>
                </a:extLst>
              </a:tr>
              <a:tr h="170142">
                <a:tc rowSpan="3">
                  <a:txBody>
                    <a:bodyPr/>
                    <a:lstStyle/>
                    <a:p>
                      <a:pPr algn="ctr"/>
                      <a:r>
                        <a:rPr lang="en-US" sz="900" b="1" dirty="0">
                          <a:solidFill>
                            <a:schemeClr val="bg1"/>
                          </a:solidFill>
                        </a:rPr>
                        <a:t>Gas</a:t>
                      </a:r>
                      <a:endParaRPr lang="en-IN" sz="900" b="1" dirty="0">
                        <a:solidFill>
                          <a:schemeClr val="bg1"/>
                        </a:solidFill>
                      </a:endParaRPr>
                    </a:p>
                  </a:txBody>
                  <a:tcPr marL="36000" marR="36000" marT="36000" marB="36000" anchor="ctr">
                    <a:solidFill>
                      <a:schemeClr val="accent1"/>
                    </a:solidFill>
                  </a:tcPr>
                </a:tc>
                <a:tc>
                  <a:txBody>
                    <a:bodyPr/>
                    <a:lstStyle/>
                    <a:p>
                      <a:pPr algn="ctr" fontAlgn="ctr"/>
                      <a:r>
                        <a:rPr lang="en-IN" sz="900" u="none" strike="noStrike" dirty="0">
                          <a:effectLst/>
                        </a:rPr>
                        <a:t>100%</a:t>
                      </a:r>
                      <a:endParaRPr lang="en-IN" sz="900" b="0" i="0" u="none" strike="noStrike" dirty="0">
                        <a:solidFill>
                          <a:srgbClr val="000000"/>
                        </a:solidFill>
                        <a:effectLst/>
                        <a:latin typeface="Calibri" panose="020F0502020204030204" pitchFamily="34" charset="0"/>
                      </a:endParaRPr>
                    </a:p>
                  </a:txBody>
                  <a:tcPr marL="36000" marR="36000" marT="36000" marB="36000" anchor="ctr"/>
                </a:tc>
                <a:tc>
                  <a:txBody>
                    <a:bodyPr/>
                    <a:lstStyle/>
                    <a:p>
                      <a:pPr marL="0" algn="ctr" defTabSz="990571" rtl="0" eaLnBrk="1" fontAlgn="ctr" latinLnBrk="0" hangingPunct="1"/>
                      <a:r>
                        <a:rPr lang="en-IN" sz="900" b="0" u="none" strike="noStrike" kern="1200" dirty="0">
                          <a:solidFill>
                            <a:schemeClr val="tx1"/>
                          </a:solidFill>
                          <a:effectLst/>
                          <a:latin typeface="+mn-lt"/>
                          <a:ea typeface="+mn-ea"/>
                          <a:cs typeface="+mn-cs"/>
                        </a:rPr>
                        <a:t>2.53 </a:t>
                      </a:r>
                    </a:p>
                  </a:txBody>
                  <a:tcPr marL="36000" marR="36000" marT="36000" marB="36000" anchor="ctr"/>
                </a:tc>
                <a:extLst>
                  <a:ext uri="{0D108BD9-81ED-4DB2-BD59-A6C34878D82A}">
                    <a16:rowId xmlns:a16="http://schemas.microsoft.com/office/drawing/2014/main" val="2731412193"/>
                  </a:ext>
                </a:extLst>
              </a:tr>
              <a:tr h="170142">
                <a:tc vMerge="1">
                  <a:txBody>
                    <a:bodyPr/>
                    <a:lstStyle/>
                    <a:p>
                      <a:endParaRPr lang="en-IN" sz="900" dirty="0"/>
                    </a:p>
                  </a:txBody>
                  <a:tcPr>
                    <a:solidFill>
                      <a:srgbClr val="62B5E5"/>
                    </a:solidFill>
                  </a:tcPr>
                </a:tc>
                <a:tc>
                  <a:txBody>
                    <a:bodyPr/>
                    <a:lstStyle/>
                    <a:p>
                      <a:pPr algn="ctr" fontAlgn="ctr"/>
                      <a:r>
                        <a:rPr lang="en-IN" sz="900" u="none" strike="noStrike" dirty="0">
                          <a:effectLst/>
                        </a:rPr>
                        <a:t>80%</a:t>
                      </a:r>
                      <a:endParaRPr lang="en-IN" sz="900" b="0" i="0" u="none" strike="noStrike" dirty="0">
                        <a:solidFill>
                          <a:srgbClr val="000000"/>
                        </a:solidFill>
                        <a:effectLst/>
                        <a:latin typeface="Calibri" panose="020F0502020204030204" pitchFamily="34" charset="0"/>
                      </a:endParaRPr>
                    </a:p>
                  </a:txBody>
                  <a:tcPr marL="36000" marR="36000" marT="36000" marB="36000" anchor="ctr"/>
                </a:tc>
                <a:tc>
                  <a:txBody>
                    <a:bodyPr/>
                    <a:lstStyle/>
                    <a:p>
                      <a:pPr marL="0" algn="ctr" defTabSz="990571" rtl="0" eaLnBrk="1" fontAlgn="ctr" latinLnBrk="0" hangingPunct="1"/>
                      <a:r>
                        <a:rPr lang="en-IN" sz="900" b="0" u="none" strike="noStrike" kern="1200" dirty="0">
                          <a:solidFill>
                            <a:schemeClr val="tx1"/>
                          </a:solidFill>
                          <a:effectLst/>
                          <a:latin typeface="+mn-lt"/>
                          <a:ea typeface="+mn-ea"/>
                          <a:cs typeface="+mn-cs"/>
                        </a:rPr>
                        <a:t>2.91 </a:t>
                      </a:r>
                    </a:p>
                  </a:txBody>
                  <a:tcPr marL="36000" marR="36000" marT="36000" marB="36000" anchor="ctr"/>
                </a:tc>
                <a:extLst>
                  <a:ext uri="{0D108BD9-81ED-4DB2-BD59-A6C34878D82A}">
                    <a16:rowId xmlns:a16="http://schemas.microsoft.com/office/drawing/2014/main" val="3010704345"/>
                  </a:ext>
                </a:extLst>
              </a:tr>
              <a:tr h="170142">
                <a:tc vMerge="1">
                  <a:txBody>
                    <a:bodyPr/>
                    <a:lstStyle/>
                    <a:p>
                      <a:endParaRPr lang="en-IN" sz="900" dirty="0"/>
                    </a:p>
                  </a:txBody>
                  <a:tcPr>
                    <a:solidFill>
                      <a:srgbClr val="C4D600"/>
                    </a:solidFill>
                  </a:tcPr>
                </a:tc>
                <a:tc>
                  <a:txBody>
                    <a:bodyPr/>
                    <a:lstStyle/>
                    <a:p>
                      <a:pPr algn="ctr" fontAlgn="ctr"/>
                      <a:r>
                        <a:rPr lang="en-IN" sz="900" u="none" strike="noStrike" dirty="0">
                          <a:effectLst/>
                        </a:rPr>
                        <a:t>60%</a:t>
                      </a:r>
                      <a:endParaRPr lang="en-IN" sz="900" b="0" i="0" u="none" strike="noStrike" dirty="0">
                        <a:solidFill>
                          <a:srgbClr val="000000"/>
                        </a:solidFill>
                        <a:effectLst/>
                        <a:latin typeface="Calibri" panose="020F0502020204030204" pitchFamily="34" charset="0"/>
                      </a:endParaRPr>
                    </a:p>
                  </a:txBody>
                  <a:tcPr marL="36000" marR="36000" marT="36000" marB="36000" anchor="ctr"/>
                </a:tc>
                <a:tc>
                  <a:txBody>
                    <a:bodyPr/>
                    <a:lstStyle/>
                    <a:p>
                      <a:pPr marL="0" algn="ctr" defTabSz="990571" rtl="0" eaLnBrk="1" fontAlgn="ctr" latinLnBrk="0" hangingPunct="1"/>
                      <a:r>
                        <a:rPr lang="en-IN" sz="900" b="0" u="none" strike="noStrike" kern="1200" dirty="0">
                          <a:solidFill>
                            <a:schemeClr val="tx1"/>
                          </a:solidFill>
                          <a:effectLst/>
                          <a:latin typeface="+mn-lt"/>
                          <a:ea typeface="+mn-ea"/>
                          <a:cs typeface="+mn-cs"/>
                        </a:rPr>
                        <a:t>3.61 </a:t>
                      </a:r>
                    </a:p>
                  </a:txBody>
                  <a:tcPr marL="36000" marR="36000" marT="36000" marB="36000" anchor="ctr"/>
                </a:tc>
                <a:extLst>
                  <a:ext uri="{0D108BD9-81ED-4DB2-BD59-A6C34878D82A}">
                    <a16:rowId xmlns:a16="http://schemas.microsoft.com/office/drawing/2014/main" val="4247132284"/>
                  </a:ext>
                </a:extLst>
              </a:tr>
            </a:tbl>
          </a:graphicData>
        </a:graphic>
      </p:graphicFrame>
      <p:graphicFrame>
        <p:nvGraphicFramePr>
          <p:cNvPr id="238" name="Table 237"/>
          <p:cNvGraphicFramePr>
            <a:graphicFrameLocks noGrp="1"/>
          </p:cNvGraphicFramePr>
          <p:nvPr>
            <p:extLst>
              <p:ext uri="{D42A27DB-BD31-4B8C-83A1-F6EECF244321}">
                <p14:modId xmlns:p14="http://schemas.microsoft.com/office/powerpoint/2010/main" val="746486364"/>
              </p:ext>
            </p:extLst>
          </p:nvPr>
        </p:nvGraphicFramePr>
        <p:xfrm>
          <a:off x="7815262" y="2376814"/>
          <a:ext cx="2258220" cy="693087"/>
        </p:xfrm>
        <a:graphic>
          <a:graphicData uri="http://schemas.openxmlformats.org/drawingml/2006/table">
            <a:tbl>
              <a:tblPr firstRow="1" bandRow="1">
                <a:tableStyleId>{17292A2E-F333-43FB-9621-5CBBE7FDCDCB}</a:tableStyleId>
              </a:tblPr>
              <a:tblGrid>
                <a:gridCol w="708978">
                  <a:extLst>
                    <a:ext uri="{9D8B030D-6E8A-4147-A177-3AD203B41FA5}">
                      <a16:colId xmlns:a16="http://schemas.microsoft.com/office/drawing/2014/main" val="885066072"/>
                    </a:ext>
                  </a:extLst>
                </a:gridCol>
                <a:gridCol w="416560">
                  <a:extLst>
                    <a:ext uri="{9D8B030D-6E8A-4147-A177-3AD203B41FA5}">
                      <a16:colId xmlns:a16="http://schemas.microsoft.com/office/drawing/2014/main" val="3006001708"/>
                    </a:ext>
                  </a:extLst>
                </a:gridCol>
                <a:gridCol w="1132682">
                  <a:extLst>
                    <a:ext uri="{9D8B030D-6E8A-4147-A177-3AD203B41FA5}">
                      <a16:colId xmlns:a16="http://schemas.microsoft.com/office/drawing/2014/main" val="2283900157"/>
                    </a:ext>
                  </a:extLst>
                </a:gridCol>
              </a:tblGrid>
              <a:tr h="281607">
                <a:tc>
                  <a:txBody>
                    <a:bodyPr/>
                    <a:lstStyle/>
                    <a:p>
                      <a:r>
                        <a:rPr lang="en-US" sz="900" dirty="0"/>
                        <a:t>Fuel</a:t>
                      </a:r>
                    </a:p>
                    <a:p>
                      <a:r>
                        <a:rPr lang="en-US" sz="900" dirty="0"/>
                        <a:t>(Nimbus)</a:t>
                      </a:r>
                      <a:endParaRPr lang="en-IN" sz="900" dirty="0"/>
                    </a:p>
                  </a:txBody>
                  <a:tcPr marL="36000" marR="36000" marT="0" marB="0">
                    <a:solidFill>
                      <a:srgbClr val="C4D600"/>
                    </a:solidFill>
                  </a:tcPr>
                </a:tc>
                <a:tc>
                  <a:txBody>
                    <a:bodyPr/>
                    <a:lstStyle/>
                    <a:p>
                      <a:r>
                        <a:rPr lang="en-US" sz="900" dirty="0"/>
                        <a:t>PLFs</a:t>
                      </a:r>
                      <a:endParaRPr lang="en-IN" sz="900" dirty="0"/>
                    </a:p>
                  </a:txBody>
                  <a:tcPr marL="36000" marR="36000" marT="0" marB="0">
                    <a:solidFill>
                      <a:srgbClr val="C4D600"/>
                    </a:solidFill>
                  </a:tcPr>
                </a:tc>
                <a:tc>
                  <a:txBody>
                    <a:bodyPr/>
                    <a:lstStyle/>
                    <a:p>
                      <a:r>
                        <a:rPr lang="en-US" sz="900" dirty="0"/>
                        <a:t>Levelized tariff (Tk / kWh)</a:t>
                      </a:r>
                      <a:endParaRPr lang="en-IN" sz="900" dirty="0"/>
                    </a:p>
                  </a:txBody>
                  <a:tcPr marL="36000" marR="36000" marT="0" marB="0">
                    <a:solidFill>
                      <a:srgbClr val="C4D600"/>
                    </a:solidFill>
                  </a:tcPr>
                </a:tc>
                <a:extLst>
                  <a:ext uri="{0D108BD9-81ED-4DB2-BD59-A6C34878D82A}">
                    <a16:rowId xmlns:a16="http://schemas.microsoft.com/office/drawing/2014/main" val="4142770162"/>
                  </a:ext>
                </a:extLst>
              </a:tr>
              <a:tr h="130523">
                <a:tc rowSpan="3">
                  <a:txBody>
                    <a:bodyPr/>
                    <a:lstStyle/>
                    <a:p>
                      <a:pPr algn="ctr"/>
                      <a:r>
                        <a:rPr lang="en-US" sz="900" b="1" dirty="0">
                          <a:solidFill>
                            <a:schemeClr val="bg1"/>
                          </a:solidFill>
                        </a:rPr>
                        <a:t>HSD</a:t>
                      </a:r>
                      <a:endParaRPr lang="en-IN" sz="900" b="1" dirty="0">
                        <a:solidFill>
                          <a:schemeClr val="bg1"/>
                        </a:solidFill>
                      </a:endParaRPr>
                    </a:p>
                  </a:txBody>
                  <a:tcPr marL="36000" marR="36000" marT="0" marB="0" anchor="ctr">
                    <a:solidFill>
                      <a:srgbClr val="C4D600"/>
                    </a:solidFill>
                  </a:tcPr>
                </a:tc>
                <a:tc>
                  <a:txBody>
                    <a:bodyPr/>
                    <a:lstStyle/>
                    <a:p>
                      <a:pPr algn="ctr" fontAlgn="ctr"/>
                      <a:r>
                        <a:rPr lang="en-IN" sz="900" u="none" strike="noStrike" dirty="0">
                          <a:effectLst/>
                        </a:rPr>
                        <a:t>100%</a:t>
                      </a:r>
                      <a:endParaRPr lang="en-IN" sz="900" b="0" i="0" u="none" strike="noStrike" dirty="0">
                        <a:solidFill>
                          <a:srgbClr val="000000"/>
                        </a:solidFill>
                        <a:effectLst/>
                        <a:latin typeface="Calibri" panose="020F0502020204030204" pitchFamily="34" charset="0"/>
                      </a:endParaRPr>
                    </a:p>
                  </a:txBody>
                  <a:tcPr marL="36000" marR="36000" marT="0" marB="0" anchor="ctr"/>
                </a:tc>
                <a:tc>
                  <a:txBody>
                    <a:bodyPr/>
                    <a:lstStyle/>
                    <a:p>
                      <a:pPr marL="0" algn="ctr" defTabSz="990571" rtl="0" eaLnBrk="1" fontAlgn="ctr" latinLnBrk="0" hangingPunct="1"/>
                      <a:r>
                        <a:rPr lang="en-IN" sz="900" b="0" u="none" strike="noStrike" kern="1200" dirty="0">
                          <a:solidFill>
                            <a:schemeClr val="tx1"/>
                          </a:solidFill>
                          <a:effectLst/>
                          <a:latin typeface="+mn-lt"/>
                          <a:ea typeface="+mn-ea"/>
                          <a:cs typeface="+mn-cs"/>
                        </a:rPr>
                        <a:t>14.14 </a:t>
                      </a:r>
                    </a:p>
                  </a:txBody>
                  <a:tcPr marL="36000" marR="36000" marT="0" marB="0" anchor="ctr"/>
                </a:tc>
                <a:extLst>
                  <a:ext uri="{0D108BD9-81ED-4DB2-BD59-A6C34878D82A}">
                    <a16:rowId xmlns:a16="http://schemas.microsoft.com/office/drawing/2014/main" val="2731412193"/>
                  </a:ext>
                </a:extLst>
              </a:tr>
              <a:tr h="130523">
                <a:tc vMerge="1">
                  <a:txBody>
                    <a:bodyPr/>
                    <a:lstStyle/>
                    <a:p>
                      <a:endParaRPr lang="en-IN" sz="900" dirty="0"/>
                    </a:p>
                  </a:txBody>
                  <a:tcPr>
                    <a:solidFill>
                      <a:srgbClr val="62B5E5"/>
                    </a:solidFill>
                  </a:tcPr>
                </a:tc>
                <a:tc>
                  <a:txBody>
                    <a:bodyPr/>
                    <a:lstStyle/>
                    <a:p>
                      <a:pPr algn="ctr" fontAlgn="ctr"/>
                      <a:r>
                        <a:rPr lang="en-IN" sz="900" u="none" strike="noStrike" dirty="0">
                          <a:effectLst/>
                        </a:rPr>
                        <a:t>80%</a:t>
                      </a:r>
                      <a:endParaRPr lang="en-IN" sz="900" b="0" i="0" u="none" strike="noStrike" dirty="0">
                        <a:solidFill>
                          <a:srgbClr val="000000"/>
                        </a:solidFill>
                        <a:effectLst/>
                        <a:latin typeface="Calibri" panose="020F0502020204030204" pitchFamily="34" charset="0"/>
                      </a:endParaRPr>
                    </a:p>
                  </a:txBody>
                  <a:tcPr marL="36000" marR="36000" marT="0" marB="0" anchor="ctr"/>
                </a:tc>
                <a:tc>
                  <a:txBody>
                    <a:bodyPr/>
                    <a:lstStyle/>
                    <a:p>
                      <a:pPr marL="0" algn="ctr" defTabSz="990571" rtl="0" eaLnBrk="1" fontAlgn="ctr" latinLnBrk="0" hangingPunct="1"/>
                      <a:r>
                        <a:rPr lang="en-IN" sz="900" b="0" u="none" strike="noStrike" kern="1200" dirty="0">
                          <a:solidFill>
                            <a:schemeClr val="tx1"/>
                          </a:solidFill>
                          <a:effectLst/>
                          <a:latin typeface="+mn-lt"/>
                          <a:ea typeface="+mn-ea"/>
                          <a:cs typeface="+mn-cs"/>
                        </a:rPr>
                        <a:t>15.10 </a:t>
                      </a:r>
                    </a:p>
                  </a:txBody>
                  <a:tcPr marL="36000" marR="36000" marT="0" marB="0" anchor="ctr"/>
                </a:tc>
                <a:extLst>
                  <a:ext uri="{0D108BD9-81ED-4DB2-BD59-A6C34878D82A}">
                    <a16:rowId xmlns:a16="http://schemas.microsoft.com/office/drawing/2014/main" val="3010704345"/>
                  </a:ext>
                </a:extLst>
              </a:tr>
              <a:tr h="130523">
                <a:tc vMerge="1">
                  <a:txBody>
                    <a:bodyPr/>
                    <a:lstStyle/>
                    <a:p>
                      <a:endParaRPr lang="en-IN" sz="900" dirty="0"/>
                    </a:p>
                  </a:txBody>
                  <a:tcPr>
                    <a:solidFill>
                      <a:srgbClr val="C4D600"/>
                    </a:solidFill>
                  </a:tcPr>
                </a:tc>
                <a:tc>
                  <a:txBody>
                    <a:bodyPr/>
                    <a:lstStyle/>
                    <a:p>
                      <a:pPr algn="ctr" fontAlgn="ctr"/>
                      <a:r>
                        <a:rPr lang="en-IN" sz="900" u="none" strike="noStrike" dirty="0">
                          <a:effectLst/>
                        </a:rPr>
                        <a:t>60%</a:t>
                      </a:r>
                      <a:endParaRPr lang="en-IN" sz="900" b="0" i="0" u="none" strike="noStrike" dirty="0">
                        <a:solidFill>
                          <a:srgbClr val="000000"/>
                        </a:solidFill>
                        <a:effectLst/>
                        <a:latin typeface="Calibri" panose="020F0502020204030204" pitchFamily="34" charset="0"/>
                      </a:endParaRPr>
                    </a:p>
                  </a:txBody>
                  <a:tcPr marL="36000" marR="36000" marT="0" marB="0" anchor="ctr"/>
                </a:tc>
                <a:tc>
                  <a:txBody>
                    <a:bodyPr/>
                    <a:lstStyle/>
                    <a:p>
                      <a:pPr marL="0" algn="ctr" defTabSz="990571" rtl="0" eaLnBrk="1" fontAlgn="ctr" latinLnBrk="0" hangingPunct="1"/>
                      <a:r>
                        <a:rPr lang="en-IN" sz="900" b="0" u="none" strike="noStrike" kern="1200" dirty="0">
                          <a:solidFill>
                            <a:schemeClr val="tx1"/>
                          </a:solidFill>
                          <a:effectLst/>
                          <a:latin typeface="+mn-lt"/>
                          <a:ea typeface="+mn-ea"/>
                          <a:cs typeface="+mn-cs"/>
                        </a:rPr>
                        <a:t>16.90 </a:t>
                      </a:r>
                    </a:p>
                  </a:txBody>
                  <a:tcPr marL="36000" marR="36000" marT="0" marB="0" anchor="ctr"/>
                </a:tc>
                <a:extLst>
                  <a:ext uri="{0D108BD9-81ED-4DB2-BD59-A6C34878D82A}">
                    <a16:rowId xmlns:a16="http://schemas.microsoft.com/office/drawing/2014/main" val="4247132284"/>
                  </a:ext>
                </a:extLst>
              </a:tr>
            </a:tbl>
          </a:graphicData>
        </a:graphic>
      </p:graphicFrame>
      <p:graphicFrame>
        <p:nvGraphicFramePr>
          <p:cNvPr id="239" name="Table 238"/>
          <p:cNvGraphicFramePr>
            <a:graphicFrameLocks noGrp="1"/>
          </p:cNvGraphicFramePr>
          <p:nvPr>
            <p:extLst>
              <p:ext uri="{D42A27DB-BD31-4B8C-83A1-F6EECF244321}">
                <p14:modId xmlns:p14="http://schemas.microsoft.com/office/powerpoint/2010/main" val="774389553"/>
              </p:ext>
            </p:extLst>
          </p:nvPr>
        </p:nvGraphicFramePr>
        <p:xfrm>
          <a:off x="937544" y="2665096"/>
          <a:ext cx="3099871" cy="1584410"/>
        </p:xfrm>
        <a:graphic>
          <a:graphicData uri="http://schemas.openxmlformats.org/drawingml/2006/table">
            <a:tbl>
              <a:tblPr firstRow="1" bandRow="1">
                <a:tableStyleId>{93296810-A885-4BE3-A3E7-6D5BEEA58F35}</a:tableStyleId>
              </a:tblPr>
              <a:tblGrid>
                <a:gridCol w="1609615">
                  <a:extLst>
                    <a:ext uri="{9D8B030D-6E8A-4147-A177-3AD203B41FA5}">
                      <a16:colId xmlns:a16="http://schemas.microsoft.com/office/drawing/2014/main" val="1190277845"/>
                    </a:ext>
                  </a:extLst>
                </a:gridCol>
                <a:gridCol w="745128">
                  <a:extLst>
                    <a:ext uri="{9D8B030D-6E8A-4147-A177-3AD203B41FA5}">
                      <a16:colId xmlns:a16="http://schemas.microsoft.com/office/drawing/2014/main" val="358097108"/>
                    </a:ext>
                  </a:extLst>
                </a:gridCol>
                <a:gridCol w="745128">
                  <a:extLst>
                    <a:ext uri="{9D8B030D-6E8A-4147-A177-3AD203B41FA5}">
                      <a16:colId xmlns:a16="http://schemas.microsoft.com/office/drawing/2014/main" val="3326326867"/>
                    </a:ext>
                  </a:extLst>
                </a:gridCol>
              </a:tblGrid>
              <a:tr h="508698">
                <a:tc>
                  <a:txBody>
                    <a:bodyPr/>
                    <a:lstStyle/>
                    <a:p>
                      <a:r>
                        <a:rPr lang="en-US" sz="800" dirty="0"/>
                        <a:t>Estimated </a:t>
                      </a:r>
                      <a:r>
                        <a:rPr lang="en-US" sz="800" dirty="0" err="1"/>
                        <a:t>Levelized</a:t>
                      </a:r>
                      <a:r>
                        <a:rPr lang="en-US" sz="800" dirty="0"/>
                        <a:t> Tariff (Bangladesh)</a:t>
                      </a:r>
                      <a:endParaRPr lang="en-IN" sz="800" dirty="0"/>
                    </a:p>
                  </a:txBody>
                  <a:tcPr/>
                </a:tc>
                <a:tc>
                  <a:txBody>
                    <a:bodyPr/>
                    <a:lstStyle/>
                    <a:p>
                      <a:r>
                        <a:rPr lang="en-US" sz="800" dirty="0"/>
                        <a:t>BDT / kWh</a:t>
                      </a:r>
                      <a:endParaRPr lang="en-IN" sz="800" dirty="0"/>
                    </a:p>
                  </a:txBody>
                  <a:tcPr/>
                </a:tc>
                <a:tc>
                  <a:txBody>
                    <a:bodyPr/>
                    <a:lstStyle/>
                    <a:p>
                      <a:r>
                        <a:rPr lang="en-US" sz="800" dirty="0"/>
                        <a:t>Cut</a:t>
                      </a:r>
                      <a:r>
                        <a:rPr lang="en-US" sz="800" baseline="0" dirty="0"/>
                        <a:t> </a:t>
                      </a:r>
                      <a:r>
                        <a:rPr lang="en-US" sz="800" dirty="0"/>
                        <a:t>off for Merit</a:t>
                      </a:r>
                      <a:r>
                        <a:rPr lang="en-US" sz="800" baseline="0" dirty="0"/>
                        <a:t> Order Coverage</a:t>
                      </a:r>
                      <a:endParaRPr lang="en-IN" sz="800" dirty="0"/>
                    </a:p>
                  </a:txBody>
                  <a:tcPr/>
                </a:tc>
                <a:extLst>
                  <a:ext uri="{0D108BD9-81ED-4DB2-BD59-A6C34878D82A}">
                    <a16:rowId xmlns:a16="http://schemas.microsoft.com/office/drawing/2014/main" val="3366540713"/>
                  </a:ext>
                </a:extLst>
              </a:tr>
              <a:tr h="24329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US" sz="800" dirty="0"/>
                        <a:t>Imported LNG Based Plants</a:t>
                      </a:r>
                      <a:endParaRPr lang="en-IN" sz="800" dirty="0"/>
                    </a:p>
                  </a:txBody>
                  <a:tcPr/>
                </a:tc>
                <a:tc>
                  <a:txBody>
                    <a:bodyPr/>
                    <a:lstStyle/>
                    <a:p>
                      <a:r>
                        <a:rPr lang="en-US" sz="800" dirty="0"/>
                        <a:t>~6.5-~6.7</a:t>
                      </a:r>
                      <a:endParaRPr lang="en-IN" sz="800" dirty="0"/>
                    </a:p>
                  </a:txBody>
                  <a:tcPr/>
                </a:tc>
                <a:tc>
                  <a:txBody>
                    <a:bodyPr/>
                    <a:lstStyle/>
                    <a:p>
                      <a:r>
                        <a:rPr lang="en-US" sz="800" dirty="0"/>
                        <a:t>~75%</a:t>
                      </a:r>
                      <a:endParaRPr lang="en-IN" sz="800" dirty="0"/>
                    </a:p>
                  </a:txBody>
                  <a:tcPr/>
                </a:tc>
                <a:extLst>
                  <a:ext uri="{0D108BD9-81ED-4DB2-BD59-A6C34878D82A}">
                    <a16:rowId xmlns:a16="http://schemas.microsoft.com/office/drawing/2014/main" val="2604208784"/>
                  </a:ext>
                </a:extLst>
              </a:tr>
              <a:tr h="331759">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US" sz="800" dirty="0"/>
                        <a:t>Imported Coal based plants</a:t>
                      </a:r>
                      <a:endParaRPr lang="en-IN" sz="800" dirty="0"/>
                    </a:p>
                  </a:txBody>
                  <a:tcPr/>
                </a:tc>
                <a:tc>
                  <a:txBody>
                    <a:bodyPr/>
                    <a:lstStyle/>
                    <a:p>
                      <a:r>
                        <a:rPr lang="en-US" sz="800" dirty="0"/>
                        <a:t>~6.7</a:t>
                      </a:r>
                      <a:r>
                        <a:rPr lang="en-US" sz="800" baseline="0" dirty="0"/>
                        <a:t> – 7.0</a:t>
                      </a:r>
                      <a:endParaRPr lang="en-IN" sz="800" dirty="0"/>
                    </a:p>
                  </a:txBody>
                  <a:tcPr/>
                </a:tc>
                <a:tc>
                  <a:txBody>
                    <a:bodyPr/>
                    <a:lstStyle/>
                    <a:p>
                      <a:r>
                        <a:rPr lang="en-US" sz="800" dirty="0"/>
                        <a:t>~75%-77%</a:t>
                      </a:r>
                      <a:endParaRPr lang="en-IN" sz="800" dirty="0"/>
                    </a:p>
                  </a:txBody>
                  <a:tcPr/>
                </a:tc>
                <a:extLst>
                  <a:ext uri="{0D108BD9-81ED-4DB2-BD59-A6C34878D82A}">
                    <a16:rowId xmlns:a16="http://schemas.microsoft.com/office/drawing/2014/main" val="2038238431"/>
                  </a:ext>
                </a:extLst>
              </a:tr>
              <a:tr h="0">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US" sz="800" dirty="0"/>
                        <a:t>Power Import from India</a:t>
                      </a:r>
                      <a:endParaRPr lang="en-IN" sz="800" dirty="0"/>
                    </a:p>
                  </a:txBody>
                  <a:tcPr/>
                </a:tc>
                <a:tc>
                  <a:txBody>
                    <a:bodyPr/>
                    <a:lstStyle/>
                    <a:p>
                      <a:r>
                        <a:rPr lang="en-US" sz="800" dirty="0"/>
                        <a:t>~8.1 – 8.5</a:t>
                      </a:r>
                      <a:endParaRPr lang="en-IN" sz="800" dirty="0"/>
                    </a:p>
                  </a:txBody>
                  <a:tcPr/>
                </a:tc>
                <a:tc>
                  <a:txBody>
                    <a:bodyPr/>
                    <a:lstStyle/>
                    <a:p>
                      <a:r>
                        <a:rPr lang="en-US" sz="800" dirty="0"/>
                        <a:t>~80%</a:t>
                      </a:r>
                      <a:endParaRPr lang="en-IN" sz="800" dirty="0"/>
                    </a:p>
                  </a:txBody>
                  <a:tcPr/>
                </a:tc>
                <a:extLst>
                  <a:ext uri="{0D108BD9-81ED-4DB2-BD59-A6C34878D82A}">
                    <a16:rowId xmlns:a16="http://schemas.microsoft.com/office/drawing/2014/main" val="2063432725"/>
                  </a:ext>
                </a:extLst>
              </a:tr>
              <a:tr h="154821">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US" sz="800" dirty="0"/>
                        <a:t>Nuclear</a:t>
                      </a:r>
                      <a:endParaRPr lang="en-IN" sz="800" dirty="0"/>
                    </a:p>
                  </a:txBody>
                  <a:tcPr/>
                </a:tc>
                <a:tc>
                  <a:txBody>
                    <a:bodyPr/>
                    <a:lstStyle/>
                    <a:p>
                      <a:r>
                        <a:rPr lang="en-US" sz="800" dirty="0"/>
                        <a:t>~7-  7.5</a:t>
                      </a:r>
                      <a:endParaRPr lang="en-IN" sz="800" dirty="0"/>
                    </a:p>
                  </a:txBody>
                  <a:tcPr/>
                </a:tc>
                <a:tc>
                  <a:txBody>
                    <a:bodyPr/>
                    <a:lstStyle/>
                    <a:p>
                      <a:r>
                        <a:rPr lang="en-US" sz="800" dirty="0"/>
                        <a:t>~80%</a:t>
                      </a:r>
                      <a:endParaRPr lang="en-IN" sz="800" dirty="0"/>
                    </a:p>
                  </a:txBody>
                  <a:tcPr/>
                </a:tc>
                <a:extLst>
                  <a:ext uri="{0D108BD9-81ED-4DB2-BD59-A6C34878D82A}">
                    <a16:rowId xmlns:a16="http://schemas.microsoft.com/office/drawing/2014/main" val="1816306507"/>
                  </a:ext>
                </a:extLst>
              </a:tr>
            </a:tbl>
          </a:graphicData>
        </a:graphic>
      </p:graphicFrame>
      <p:sp>
        <p:nvSpPr>
          <p:cNvPr id="230" name="Rectangle 229"/>
          <p:cNvSpPr/>
          <p:nvPr/>
        </p:nvSpPr>
        <p:spPr bwMode="gray">
          <a:xfrm>
            <a:off x="2466262" y="7063306"/>
            <a:ext cx="7703263" cy="2687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for Adani’s </a:t>
            </a:r>
            <a:r>
              <a:rPr lang="en-US" sz="700" i="1" dirty="0" err="1">
                <a:solidFill>
                  <a:prstClr val="black"/>
                </a:solidFill>
              </a:rPr>
              <a:t>Godda</a:t>
            </a:r>
            <a:r>
              <a:rPr lang="en-US" sz="700" i="1" dirty="0">
                <a:solidFill>
                  <a:prstClr val="black"/>
                </a:solidFill>
              </a:rPr>
              <a:t> power plant 3) For Imported LNG based plants, </a:t>
            </a:r>
            <a:r>
              <a:rPr lang="en-US" sz="700" i="1" dirty="0" err="1">
                <a:solidFill>
                  <a:prstClr val="black"/>
                </a:solidFill>
              </a:rPr>
              <a:t>levelized</a:t>
            </a:r>
            <a:r>
              <a:rPr lang="en-US" sz="700" i="1" dirty="0">
                <a:solidFill>
                  <a:prstClr val="black"/>
                </a:solidFill>
              </a:rPr>
              <a:t> tariff range considered at capex  of BDT 6.5 Cr / MW, PLF of 80%, Efficiency at 45% and</a:t>
            </a:r>
          </a:p>
        </p:txBody>
      </p:sp>
      <p:sp>
        <p:nvSpPr>
          <p:cNvPr id="231" name="Rectangle 230"/>
          <p:cNvSpPr/>
          <p:nvPr/>
        </p:nvSpPr>
        <p:spPr bwMode="gray">
          <a:xfrm>
            <a:off x="323138" y="7301892"/>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Fuel Price at $8 / </a:t>
            </a:r>
            <a:r>
              <a:rPr lang="en-US" sz="700" i="1" dirty="0" err="1">
                <a:solidFill>
                  <a:prstClr val="black"/>
                </a:solidFill>
              </a:rPr>
              <a:t>mmbtu</a:t>
            </a:r>
            <a:r>
              <a:rPr lang="en-US" sz="700" i="1" dirty="0">
                <a:solidFill>
                  <a:prstClr val="black"/>
                </a:solidFill>
              </a:rPr>
              <a:t>; For Imported Coal based power plants, </a:t>
            </a:r>
            <a:r>
              <a:rPr lang="en-US" sz="700" i="1" dirty="0" err="1">
                <a:solidFill>
                  <a:prstClr val="black"/>
                </a:solidFill>
              </a:rPr>
              <a:t>levelized</a:t>
            </a:r>
            <a:r>
              <a:rPr lang="en-US" sz="700" i="1" dirty="0">
                <a:solidFill>
                  <a:prstClr val="black"/>
                </a:solidFill>
              </a:rPr>
              <a:t> tariff range considered at capex of BDT 9.8 Cr / MW, PLF of 80%, Efficiency of 34%, Coal GCV of 5000 kcal / kg and landed coal cost of $95 / </a:t>
            </a:r>
            <a:r>
              <a:rPr lang="en-US" sz="700" i="1" dirty="0" err="1">
                <a:solidFill>
                  <a:prstClr val="black"/>
                </a:solidFill>
              </a:rPr>
              <a:t>tonne</a:t>
            </a:r>
            <a:r>
              <a:rPr lang="en-US" sz="700" i="1" dirty="0">
                <a:solidFill>
                  <a:prstClr val="black"/>
                </a:solidFill>
              </a:rPr>
              <a:t>; For Nuclear Power Plant, Capital cost considered at BDT 50 Cr / MW (incl. IDC) based on $12.65 </a:t>
            </a:r>
            <a:r>
              <a:rPr lang="en-US" sz="700" i="1" dirty="0" err="1">
                <a:solidFill>
                  <a:prstClr val="black"/>
                </a:solidFill>
              </a:rPr>
              <a:t>Bn</a:t>
            </a:r>
            <a:r>
              <a:rPr lang="en-US" sz="700" i="1" dirty="0">
                <a:solidFill>
                  <a:prstClr val="black"/>
                </a:solidFill>
              </a:rPr>
              <a:t> project cost (secondary sources) at 90%:10% Debt Equity Funding by Russia at Libor +1.75% Interest Rate (Considered at ~3%) and PLF of 80%.</a:t>
            </a:r>
          </a:p>
        </p:txBody>
      </p:sp>
    </p:spTree>
    <p:extLst>
      <p:ext uri="{BB962C8B-B14F-4D97-AF65-F5344CB8AC3E}">
        <p14:creationId xmlns:p14="http://schemas.microsoft.com/office/powerpoint/2010/main" val="3100224354"/>
      </p:ext>
    </p:extLst>
  </p:cSld>
  <p:clrMapOvr>
    <a:masterClrMapping/>
  </p:clrMapOvr>
  <p:transition>
    <p:fade/>
  </p:transition>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pic>
        <p:nvPicPr>
          <p:cNvPr id="59" name="Picture 58"/>
          <p:cNvPicPr>
            <a:picLocks noChangeAspect="1"/>
          </p:cNvPicPr>
          <p:nvPr/>
        </p:nvPicPr>
        <p:blipFill rotWithShape="1">
          <a:blip r:embed="rId6" cstate="email">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a:ext>
            </a:extLst>
          </a:blip>
          <a:srcRect/>
          <a:stretch/>
        </p:blipFill>
        <p:spPr>
          <a:xfrm>
            <a:off x="6388099" y="1079499"/>
            <a:ext cx="4303713" cy="5570411"/>
          </a:xfrm>
          <a:prstGeom prst="rect">
            <a:avLst/>
          </a:prstGeom>
        </p:spPr>
      </p:pic>
      <p:sp>
        <p:nvSpPr>
          <p:cNvPr id="61" name="Rectangle 60"/>
          <p:cNvSpPr/>
          <p:nvPr/>
        </p:nvSpPr>
        <p:spPr bwMode="gray">
          <a:xfrm>
            <a:off x="447964" y="1030161"/>
            <a:ext cx="10229273" cy="36000"/>
          </a:xfrm>
          <a:prstGeom prst="rect">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2" name="Rectangle 61"/>
          <p:cNvSpPr/>
          <p:nvPr/>
        </p:nvSpPr>
        <p:spPr bwMode="gray">
          <a:xfrm>
            <a:off x="447964" y="6663250"/>
            <a:ext cx="10229273" cy="36000"/>
          </a:xfrm>
          <a:prstGeom prst="rect">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6" name="Rectangle 15"/>
          <p:cNvSpPr/>
          <p:nvPr/>
        </p:nvSpPr>
        <p:spPr>
          <a:xfrm>
            <a:off x="469900" y="2352070"/>
            <a:ext cx="4552045" cy="3416320"/>
          </a:xfrm>
          <a:prstGeom prst="rect">
            <a:avLst/>
          </a:prstGeom>
        </p:spPr>
        <p:txBody>
          <a:bodyPr wrap="square">
            <a:spAutoFit/>
          </a:bodyPr>
          <a:lstStyle/>
          <a:p>
            <a:r>
              <a:rPr lang="en-US" sz="2400" b="1" dirty="0"/>
              <a:t>Gas Supply &amp; Transmission Outlook</a:t>
            </a:r>
          </a:p>
          <a:p>
            <a:r>
              <a:rPr lang="en-US" sz="2400" i="1" dirty="0">
                <a:solidFill>
                  <a:schemeClr val="accent5"/>
                </a:solidFill>
              </a:rPr>
              <a:t>Bangladesh gas transmission network overview, existing &amp; upcoming LNG evacuation infrastructure assessment and gas supply assessment for Nimbus </a:t>
            </a:r>
          </a:p>
        </p:txBody>
      </p:sp>
      <p:sp>
        <p:nvSpPr>
          <p:cNvPr id="13" name="Oval 12"/>
          <p:cNvSpPr/>
          <p:nvPr/>
        </p:nvSpPr>
        <p:spPr bwMode="gray">
          <a:xfrm>
            <a:off x="5179691" y="1296232"/>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01</a:t>
            </a:r>
            <a:endParaRPr lang="en-IN" sz="1400" b="1" dirty="0"/>
          </a:p>
        </p:txBody>
      </p:sp>
      <p:sp>
        <p:nvSpPr>
          <p:cNvPr id="14" name="Oval 13"/>
          <p:cNvSpPr/>
          <p:nvPr/>
        </p:nvSpPr>
        <p:spPr bwMode="gray">
          <a:xfrm>
            <a:off x="5184133" y="1819733"/>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02</a:t>
            </a:r>
            <a:endParaRPr lang="en-IN" sz="1400" b="1" dirty="0"/>
          </a:p>
        </p:txBody>
      </p:sp>
      <p:sp>
        <p:nvSpPr>
          <p:cNvPr id="15" name="Oval 14"/>
          <p:cNvSpPr/>
          <p:nvPr/>
        </p:nvSpPr>
        <p:spPr bwMode="gray">
          <a:xfrm>
            <a:off x="5184133" y="2343234"/>
            <a:ext cx="382909" cy="382909"/>
          </a:xfrm>
          <a:prstGeom prst="ellipse">
            <a:avLst/>
          </a:prstGeom>
          <a:solidFill>
            <a:schemeClr val="accent5"/>
          </a:solidFill>
        </p:spPr>
        <p:txBody>
          <a:bodyPr wrap="square" lIns="0" tIns="88900" rIns="0" bIns="88900" rtlCol="0" anchor="ctr"/>
          <a:lstStyle/>
          <a:p>
            <a:pPr algn="ctr">
              <a:lnSpc>
                <a:spcPct val="106000"/>
              </a:lnSpc>
              <a:buFont typeface="Wingdings 2" pitchFamily="18" charset="2"/>
              <a:buNone/>
            </a:pPr>
            <a:r>
              <a:rPr lang="en-US" sz="1400" b="1" dirty="0">
                <a:solidFill>
                  <a:schemeClr val="bg1"/>
                </a:solidFill>
              </a:rPr>
              <a:t>03</a:t>
            </a:r>
            <a:endParaRPr lang="en-IN" sz="1400" b="1" dirty="0">
              <a:solidFill>
                <a:schemeClr val="bg1"/>
              </a:solidFill>
            </a:endParaRPr>
          </a:p>
        </p:txBody>
      </p:sp>
      <p:sp>
        <p:nvSpPr>
          <p:cNvPr id="17" name="Oval 16"/>
          <p:cNvSpPr/>
          <p:nvPr/>
        </p:nvSpPr>
        <p:spPr bwMode="gray">
          <a:xfrm>
            <a:off x="5179696" y="2866735"/>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04</a:t>
            </a:r>
            <a:endParaRPr lang="en-IN" sz="1400" b="1" dirty="0"/>
          </a:p>
        </p:txBody>
      </p:sp>
      <p:sp>
        <p:nvSpPr>
          <p:cNvPr id="18" name="Oval 17"/>
          <p:cNvSpPr/>
          <p:nvPr/>
        </p:nvSpPr>
        <p:spPr bwMode="gray">
          <a:xfrm>
            <a:off x="5179696" y="3390236"/>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05</a:t>
            </a:r>
            <a:endParaRPr lang="en-IN" sz="1400" b="1" dirty="0"/>
          </a:p>
        </p:txBody>
      </p:sp>
      <p:sp>
        <p:nvSpPr>
          <p:cNvPr id="19" name="Oval 18"/>
          <p:cNvSpPr/>
          <p:nvPr/>
        </p:nvSpPr>
        <p:spPr bwMode="gray">
          <a:xfrm>
            <a:off x="5179696" y="3913737"/>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06</a:t>
            </a:r>
            <a:endParaRPr lang="en-IN" sz="1400" b="1" dirty="0"/>
          </a:p>
        </p:txBody>
      </p:sp>
      <p:sp>
        <p:nvSpPr>
          <p:cNvPr id="20" name="Oval 19"/>
          <p:cNvSpPr/>
          <p:nvPr/>
        </p:nvSpPr>
        <p:spPr bwMode="gray">
          <a:xfrm>
            <a:off x="5179695" y="4437238"/>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07</a:t>
            </a:r>
            <a:endParaRPr lang="en-IN" sz="1400" b="1" dirty="0"/>
          </a:p>
        </p:txBody>
      </p:sp>
      <p:sp>
        <p:nvSpPr>
          <p:cNvPr id="21" name="Oval 20"/>
          <p:cNvSpPr/>
          <p:nvPr/>
        </p:nvSpPr>
        <p:spPr bwMode="gray">
          <a:xfrm>
            <a:off x="5179692" y="4960739"/>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08</a:t>
            </a:r>
            <a:endParaRPr lang="en-IN" sz="1400" b="1" dirty="0"/>
          </a:p>
        </p:txBody>
      </p:sp>
      <p:sp>
        <p:nvSpPr>
          <p:cNvPr id="22" name="Oval 21"/>
          <p:cNvSpPr/>
          <p:nvPr/>
        </p:nvSpPr>
        <p:spPr bwMode="gray">
          <a:xfrm>
            <a:off x="5179694" y="5484240"/>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09</a:t>
            </a:r>
            <a:endParaRPr lang="en-IN" sz="1400" b="1" dirty="0"/>
          </a:p>
        </p:txBody>
      </p:sp>
      <p:sp>
        <p:nvSpPr>
          <p:cNvPr id="23" name="Oval 22"/>
          <p:cNvSpPr/>
          <p:nvPr/>
        </p:nvSpPr>
        <p:spPr bwMode="gray">
          <a:xfrm>
            <a:off x="5179691" y="6007743"/>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t>10</a:t>
            </a:r>
            <a:endParaRPr lang="en-IN" sz="1400" b="1" dirty="0"/>
          </a:p>
        </p:txBody>
      </p:sp>
    </p:spTree>
    <p:extLst>
      <p:ext uri="{BB962C8B-B14F-4D97-AF65-F5344CB8AC3E}">
        <p14:creationId xmlns:p14="http://schemas.microsoft.com/office/powerpoint/2010/main" val="3073326473"/>
      </p:ext>
    </p:extLst>
  </p:cSld>
  <p:clrMapOvr>
    <a:masterClrMapping/>
  </p:clrMapOvr>
  <p:transition>
    <p:fade/>
  </p:transition>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 name="Object 19" hidden="1"/>
          <p:cNvGraphicFramePr>
            <a:graphicFrameLocks noChangeAspect="1"/>
          </p:cNvGraphicFramePr>
          <p:nvPr>
            <p:custDataLst>
              <p:tags r:id="rId1"/>
            </p:custDataLst>
            <p:extLst>
              <p:ext uri="{D42A27DB-BD31-4B8C-83A1-F6EECF244321}">
                <p14:modId xmlns:p14="http://schemas.microsoft.com/office/powerpoint/2010/main" val="120862045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6" imgW="530" imgH="531" progId="TCLayout.ActiveDocument.1">
                  <p:embed/>
                </p:oleObj>
              </mc:Choice>
              <mc:Fallback>
                <p:oleObj name="think-cell Slide" r:id="rId16" imgW="530" imgH="531" progId="TCLayout.ActiveDocument.1">
                  <p:embed/>
                  <p:pic>
                    <p:nvPicPr>
                      <p:cNvPr id="20" name="Object 19" hidden="1"/>
                      <p:cNvPicPr/>
                      <p:nvPr/>
                    </p:nvPicPr>
                    <p:blipFill>
                      <a:blip r:embed="rId17"/>
                      <a:stretch>
                        <a:fillRect/>
                      </a:stretch>
                    </p:blipFill>
                    <p:spPr>
                      <a:xfrm>
                        <a:off x="1588" y="1588"/>
                        <a:ext cx="1588" cy="1588"/>
                      </a:xfrm>
                      <a:prstGeom prst="rect">
                        <a:avLst/>
                      </a:prstGeom>
                    </p:spPr>
                  </p:pic>
                </p:oleObj>
              </mc:Fallback>
            </mc:AlternateContent>
          </a:graphicData>
        </a:graphic>
      </p:graphicFrame>
      <p:sp>
        <p:nvSpPr>
          <p:cNvPr id="6" name="Rectangle 5"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algn="ctr">
              <a:lnSpc>
                <a:spcPct val="106000"/>
              </a:lnSpc>
              <a:buFont typeface="Wingdings 2" pitchFamily="18" charset="2"/>
              <a:buNone/>
            </a:pPr>
            <a:endParaRPr lang="en-IN" sz="1000" dirty="0">
              <a:solidFill>
                <a:schemeClr val="bg1"/>
              </a:solidFill>
              <a:latin typeface="Verdana" panose="020B0604030504040204" pitchFamily="34" charset="0"/>
              <a:sym typeface="Verdana" panose="020B0604030504040204" pitchFamily="34" charset="0"/>
            </a:endParaRPr>
          </a:p>
        </p:txBody>
      </p:sp>
      <p:sp>
        <p:nvSpPr>
          <p:cNvPr id="2" name="Title 1"/>
          <p:cNvSpPr>
            <a:spLocks noGrp="1"/>
          </p:cNvSpPr>
          <p:nvPr>
            <p:ph type="title"/>
          </p:nvPr>
        </p:nvSpPr>
        <p:spPr/>
        <p:txBody>
          <a:bodyPr/>
          <a:lstStyle/>
          <a:p>
            <a:r>
              <a:rPr lang="en-US" dirty="0"/>
              <a:t>Gas Transmission | Overview (Bangladesh)</a:t>
            </a:r>
            <a:endParaRPr lang="en-IN" dirty="0"/>
          </a:p>
        </p:txBody>
      </p:sp>
      <p:sp>
        <p:nvSpPr>
          <p:cNvPr id="3"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dirty="0">
                <a:solidFill>
                  <a:prstClr val="black">
                    <a:lumMod val="50000"/>
                    <a:lumOff val="50000"/>
                  </a:prstClr>
                </a:solidFill>
                <a:latin typeface="Verdana" panose="020B0604030504040204" pitchFamily="34" charset="0"/>
              </a:rPr>
              <a:t>Bangladesh has been expanding its natural gas pipeline infrastructure to provide natural gas / LNG to the household &amp; industrial users in a bid to reduce dependence on expensive alternate fuels such as LPG, HSD and HFO</a:t>
            </a:r>
            <a:endPar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4" name="Table 3"/>
          <p:cNvGraphicFramePr>
            <a:graphicFrameLocks noGrp="1"/>
          </p:cNvGraphicFramePr>
          <p:nvPr>
            <p:custDataLst>
              <p:tags r:id="rId3"/>
            </p:custDataLst>
            <p:extLst>
              <p:ext uri="{D42A27DB-BD31-4B8C-83A1-F6EECF244321}">
                <p14:modId xmlns:p14="http://schemas.microsoft.com/office/powerpoint/2010/main" val="1090273264"/>
              </p:ext>
            </p:extLst>
          </p:nvPr>
        </p:nvGraphicFramePr>
        <p:xfrm>
          <a:off x="449993" y="1961917"/>
          <a:ext cx="4734896" cy="29731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2792645">
                <a:tc>
                  <a:txBody>
                    <a:bodyPr/>
                    <a:lstStyle/>
                    <a:p>
                      <a:pPr marL="0" indent="0" algn="just">
                        <a:spcBef>
                          <a:spcPts val="600"/>
                        </a:spcBef>
                        <a:spcAft>
                          <a:spcPts val="600"/>
                        </a:spcAft>
                        <a:buFont typeface="Arial" panose="020B0604020202020204" pitchFamily="34" charset="0"/>
                        <a:buNone/>
                      </a:pPr>
                      <a:r>
                        <a:rPr lang="en-US" sz="1000" b="1" baseline="0" dirty="0">
                          <a:solidFill>
                            <a:schemeClr val="tx1"/>
                          </a:solidFill>
                        </a:rPr>
                        <a:t>Gas Transmission (Overview)</a:t>
                      </a:r>
                    </a:p>
                    <a:p>
                      <a:pPr marL="171450" indent="-171450" algn="just">
                        <a:spcBef>
                          <a:spcPts val="0"/>
                        </a:spcBef>
                        <a:spcAft>
                          <a:spcPts val="600"/>
                        </a:spcAft>
                        <a:buFont typeface="Arial" panose="020B0604020202020204" pitchFamily="34" charset="0"/>
                        <a:buChar char="•"/>
                      </a:pPr>
                      <a:r>
                        <a:rPr lang="en-US" sz="1000" b="0" baseline="0" dirty="0">
                          <a:solidFill>
                            <a:schemeClr val="tx1"/>
                          </a:solidFill>
                        </a:rPr>
                        <a:t>Currently, Gas Transmission Company Ltd. (GTCL) is solely responsible to own, operate, maintain and construct all high pressure gas transmission pipelines in Bangladesh.</a:t>
                      </a:r>
                    </a:p>
                    <a:p>
                      <a:pPr marL="171450" indent="-171450" algn="just">
                        <a:spcBef>
                          <a:spcPts val="0"/>
                        </a:spcBef>
                        <a:spcAft>
                          <a:spcPts val="600"/>
                        </a:spcAft>
                        <a:buFont typeface="Arial" panose="020B0604020202020204" pitchFamily="34" charset="0"/>
                        <a:buChar char="•"/>
                      </a:pPr>
                      <a:r>
                        <a:rPr lang="en-US" sz="1000" b="0" baseline="0" dirty="0">
                          <a:solidFill>
                            <a:schemeClr val="tx1"/>
                          </a:solidFill>
                        </a:rPr>
                        <a:t>Currently, the total operational pipeline infrastructure spanned around 1,559 km in cumulative length has grown at a CAGR of ~10% between FY12 and FY19</a:t>
                      </a:r>
                    </a:p>
                    <a:p>
                      <a:pPr marL="171450" indent="-171450" algn="just">
                        <a:spcBef>
                          <a:spcPts val="0"/>
                        </a:spcBef>
                        <a:spcAft>
                          <a:spcPts val="600"/>
                        </a:spcAft>
                        <a:buFont typeface="Arial" panose="020B0604020202020204" pitchFamily="34" charset="0"/>
                        <a:buChar char="•"/>
                      </a:pPr>
                      <a:r>
                        <a:rPr lang="en-US" sz="1000" b="0" baseline="0" dirty="0">
                          <a:solidFill>
                            <a:schemeClr val="tx1"/>
                          </a:solidFill>
                        </a:rPr>
                        <a:t>The primary push for expansion of Gas Pipelines has been the Government’s agenda to bring natural gas connectivity to the entire country and provide a cheaper and alternate fuel to households using LPG and to provide gas supply to industrial users who have to use expensive liquid fuels</a:t>
                      </a:r>
                    </a:p>
                    <a:p>
                      <a:pPr marL="171450" marR="0" lvl="0" indent="-171450" algn="just" defTabSz="990571" rtl="0" eaLnBrk="1" fontAlgn="auto" latinLnBrk="0" hangingPunct="1">
                        <a:lnSpc>
                          <a:spcPct val="100000"/>
                        </a:lnSpc>
                        <a:spcBef>
                          <a:spcPts val="0"/>
                        </a:spcBef>
                        <a:spcAft>
                          <a:spcPts val="600"/>
                        </a:spcAft>
                        <a:buClrTx/>
                        <a:buSzTx/>
                        <a:buFont typeface="Arial" panose="020B0604020202020204" pitchFamily="34" charset="0"/>
                        <a:buChar char="•"/>
                        <a:tabLst/>
                        <a:defRPr/>
                      </a:pPr>
                      <a:r>
                        <a:rPr lang="en-US" sz="1000" b="0" baseline="0" dirty="0">
                          <a:solidFill>
                            <a:schemeClr val="tx1"/>
                          </a:solidFill>
                        </a:rPr>
                        <a:t>Following graph shows the growth in transmission lines (Kms) in Bangladesh between FY12 to FY19 </a:t>
                      </a:r>
                      <a:r>
                        <a:rPr lang="en-US" sz="1000" b="1" i="1" baseline="0" dirty="0">
                          <a:solidFill>
                            <a:schemeClr val="tx1"/>
                          </a:solidFill>
                        </a:rPr>
                        <a:t>(Detailed pipeline wise list provided in </a:t>
                      </a:r>
                      <a:r>
                        <a:rPr lang="en-US" sz="1000" b="1" i="1" baseline="0" dirty="0">
                          <a:solidFill>
                            <a:schemeClr val="tx1"/>
                          </a:solidFill>
                          <a:hlinkClick r:id="rId18" action="ppaction://hlinksldjump"/>
                        </a:rPr>
                        <a:t>Appendix</a:t>
                      </a:r>
                      <a:r>
                        <a:rPr lang="en-US" sz="1000" b="1" i="1" baseline="0" dirty="0">
                          <a:solidFill>
                            <a:schemeClr val="tx1"/>
                          </a:solidFill>
                        </a:rPr>
                        <a:t>)</a:t>
                      </a:r>
                    </a:p>
                    <a:p>
                      <a:pPr marL="171450" indent="-171450" algn="just">
                        <a:spcBef>
                          <a:spcPts val="0"/>
                        </a:spcBef>
                        <a:spcAft>
                          <a:spcPts val="6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pSp>
        <p:nvGrpSpPr>
          <p:cNvPr id="43" name="Group 42"/>
          <p:cNvGrpSpPr/>
          <p:nvPr/>
        </p:nvGrpSpPr>
        <p:grpSpPr>
          <a:xfrm>
            <a:off x="5820012" y="1959297"/>
            <a:ext cx="4089797" cy="5131405"/>
            <a:chOff x="657225" y="1129840"/>
            <a:chExt cx="4640661" cy="5822565"/>
          </a:xfrm>
        </p:grpSpPr>
        <p:grpSp>
          <p:nvGrpSpPr>
            <p:cNvPr id="44" name="Group 43"/>
            <p:cNvGrpSpPr/>
            <p:nvPr/>
          </p:nvGrpSpPr>
          <p:grpSpPr>
            <a:xfrm>
              <a:off x="657225" y="1129840"/>
              <a:ext cx="4640661" cy="5822565"/>
              <a:chOff x="5469489" y="1260337"/>
              <a:chExt cx="4028922" cy="5055025"/>
            </a:xfrm>
          </p:grpSpPr>
          <p:grpSp>
            <p:nvGrpSpPr>
              <p:cNvPr id="83" name="Group 82"/>
              <p:cNvGrpSpPr/>
              <p:nvPr/>
            </p:nvGrpSpPr>
            <p:grpSpPr>
              <a:xfrm>
                <a:off x="5469489" y="1331664"/>
                <a:ext cx="4028922" cy="4983698"/>
                <a:chOff x="5160377" y="872158"/>
                <a:chExt cx="4028922" cy="4983698"/>
              </a:xfrm>
            </p:grpSpPr>
            <p:sp>
              <p:nvSpPr>
                <p:cNvPr id="96" name="Freeform 95"/>
                <p:cNvSpPr>
                  <a:spLocks/>
                </p:cNvSpPr>
                <p:nvPr/>
              </p:nvSpPr>
              <p:spPr bwMode="gray">
                <a:xfrm>
                  <a:off x="5160377" y="872158"/>
                  <a:ext cx="3756691" cy="4983698"/>
                </a:xfrm>
                <a:custGeom>
                  <a:avLst/>
                  <a:gdLst/>
                  <a:ahLst/>
                  <a:cxnLst>
                    <a:cxn ang="0">
                      <a:pos x="1022" y="789"/>
                    </a:cxn>
                    <a:cxn ang="0">
                      <a:pos x="1062" y="808"/>
                    </a:cxn>
                    <a:cxn ang="0">
                      <a:pos x="1101" y="825"/>
                    </a:cxn>
                    <a:cxn ang="0">
                      <a:pos x="1606" y="843"/>
                    </a:cxn>
                    <a:cxn ang="0">
                      <a:pos x="1965" y="869"/>
                    </a:cxn>
                    <a:cxn ang="0">
                      <a:pos x="2316" y="939"/>
                    </a:cxn>
                    <a:cxn ang="0">
                      <a:pos x="2235" y="1088"/>
                    </a:cxn>
                    <a:cxn ang="0">
                      <a:pos x="2062" y="1378"/>
                    </a:cxn>
                    <a:cxn ang="0">
                      <a:pos x="1858" y="1486"/>
                    </a:cxn>
                    <a:cxn ang="0">
                      <a:pos x="1654" y="1717"/>
                    </a:cxn>
                    <a:cxn ang="0">
                      <a:pos x="1750" y="2060"/>
                    </a:cxn>
                    <a:cxn ang="0">
                      <a:pos x="1842" y="2088"/>
                    </a:cxn>
                    <a:cxn ang="0">
                      <a:pos x="2015" y="1886"/>
                    </a:cxn>
                    <a:cxn ang="0">
                      <a:pos x="2253" y="1720"/>
                    </a:cxn>
                    <a:cxn ang="0">
                      <a:pos x="2374" y="2280"/>
                    </a:cxn>
                    <a:cxn ang="0">
                      <a:pos x="2430" y="3120"/>
                    </a:cxn>
                    <a:cxn ang="0">
                      <a:pos x="2212" y="3102"/>
                    </a:cxn>
                    <a:cxn ang="0">
                      <a:pos x="2102" y="2978"/>
                    </a:cxn>
                    <a:cxn ang="0">
                      <a:pos x="2090" y="2890"/>
                    </a:cxn>
                    <a:cxn ang="0">
                      <a:pos x="2056" y="2940"/>
                    </a:cxn>
                    <a:cxn ang="0">
                      <a:pos x="2054" y="2849"/>
                    </a:cxn>
                    <a:cxn ang="0">
                      <a:pos x="2042" y="2821"/>
                    </a:cxn>
                    <a:cxn ang="0">
                      <a:pos x="2040" y="2622"/>
                    </a:cxn>
                    <a:cxn ang="0">
                      <a:pos x="1970" y="2480"/>
                    </a:cxn>
                    <a:cxn ang="0">
                      <a:pos x="1643" y="2259"/>
                    </a:cxn>
                    <a:cxn ang="0">
                      <a:pos x="1448" y="2410"/>
                    </a:cxn>
                    <a:cxn ang="0">
                      <a:pos x="1440" y="2718"/>
                    </a:cxn>
                    <a:cxn ang="0">
                      <a:pos x="1358" y="2726"/>
                    </a:cxn>
                    <a:cxn ang="0">
                      <a:pos x="1353" y="2516"/>
                    </a:cxn>
                    <a:cxn ang="0">
                      <a:pos x="1253" y="2662"/>
                    </a:cxn>
                    <a:cxn ang="0">
                      <a:pos x="1180" y="2843"/>
                    </a:cxn>
                    <a:cxn ang="0">
                      <a:pos x="1099" y="2815"/>
                    </a:cxn>
                    <a:cxn ang="0">
                      <a:pos x="1146" y="2695"/>
                    </a:cxn>
                    <a:cxn ang="0">
                      <a:pos x="1016" y="2772"/>
                    </a:cxn>
                    <a:cxn ang="0">
                      <a:pos x="970" y="2752"/>
                    </a:cxn>
                    <a:cxn ang="0">
                      <a:pos x="850" y="2747"/>
                    </a:cxn>
                    <a:cxn ang="0">
                      <a:pos x="771" y="2678"/>
                    </a:cxn>
                    <a:cxn ang="0">
                      <a:pos x="756" y="2812"/>
                    </a:cxn>
                    <a:cxn ang="0">
                      <a:pos x="698" y="2755"/>
                    </a:cxn>
                    <a:cxn ang="0">
                      <a:pos x="588" y="2812"/>
                    </a:cxn>
                    <a:cxn ang="0">
                      <a:pos x="519" y="2525"/>
                    </a:cxn>
                    <a:cxn ang="0">
                      <a:pos x="465" y="2195"/>
                    </a:cxn>
                    <a:cxn ang="0">
                      <a:pos x="354" y="1944"/>
                    </a:cxn>
                    <a:cxn ang="0">
                      <a:pos x="275" y="1745"/>
                    </a:cxn>
                    <a:cxn ang="0">
                      <a:pos x="359" y="1509"/>
                    </a:cxn>
                    <a:cxn ang="0">
                      <a:pos x="0" y="1150"/>
                    </a:cxn>
                    <a:cxn ang="0">
                      <a:pos x="186" y="997"/>
                    </a:cxn>
                    <a:cxn ang="0">
                      <a:pos x="472" y="847"/>
                    </a:cxn>
                    <a:cxn ang="0">
                      <a:pos x="401" y="662"/>
                    </a:cxn>
                    <a:cxn ang="0">
                      <a:pos x="159" y="533"/>
                    </a:cxn>
                    <a:cxn ang="0">
                      <a:pos x="106" y="263"/>
                    </a:cxn>
                    <a:cxn ang="0">
                      <a:pos x="173" y="32"/>
                    </a:cxn>
                    <a:cxn ang="0">
                      <a:pos x="366" y="186"/>
                    </a:cxn>
                    <a:cxn ang="0">
                      <a:pos x="494" y="236"/>
                    </a:cxn>
                    <a:cxn ang="0">
                      <a:pos x="525" y="140"/>
                    </a:cxn>
                    <a:cxn ang="0">
                      <a:pos x="677" y="361"/>
                    </a:cxn>
                    <a:cxn ang="0">
                      <a:pos x="840" y="299"/>
                    </a:cxn>
                    <a:cxn ang="0">
                      <a:pos x="949" y="373"/>
                    </a:cxn>
                  </a:cxnLst>
                  <a:rect l="0" t="0" r="r" b="b"/>
                  <a:pathLst>
                    <a:path w="2455" h="3260">
                      <a:moveTo>
                        <a:pt x="944" y="738"/>
                      </a:moveTo>
                      <a:lnTo>
                        <a:pt x="958" y="789"/>
                      </a:lnTo>
                      <a:lnTo>
                        <a:pt x="971" y="789"/>
                      </a:lnTo>
                      <a:lnTo>
                        <a:pt x="995" y="775"/>
                      </a:lnTo>
                      <a:lnTo>
                        <a:pt x="998" y="777"/>
                      </a:lnTo>
                      <a:lnTo>
                        <a:pt x="1002" y="778"/>
                      </a:lnTo>
                      <a:lnTo>
                        <a:pt x="1004" y="780"/>
                      </a:lnTo>
                      <a:lnTo>
                        <a:pt x="1007" y="782"/>
                      </a:lnTo>
                      <a:lnTo>
                        <a:pt x="1011" y="783"/>
                      </a:lnTo>
                      <a:lnTo>
                        <a:pt x="1016" y="785"/>
                      </a:lnTo>
                      <a:lnTo>
                        <a:pt x="1019" y="788"/>
                      </a:lnTo>
                      <a:lnTo>
                        <a:pt x="1022" y="789"/>
                      </a:lnTo>
                      <a:lnTo>
                        <a:pt x="1025" y="789"/>
                      </a:lnTo>
                      <a:lnTo>
                        <a:pt x="1028" y="791"/>
                      </a:lnTo>
                      <a:lnTo>
                        <a:pt x="1030" y="792"/>
                      </a:lnTo>
                      <a:lnTo>
                        <a:pt x="1035" y="796"/>
                      </a:lnTo>
                      <a:lnTo>
                        <a:pt x="1038" y="796"/>
                      </a:lnTo>
                      <a:lnTo>
                        <a:pt x="1041" y="797"/>
                      </a:lnTo>
                      <a:lnTo>
                        <a:pt x="1044" y="799"/>
                      </a:lnTo>
                      <a:lnTo>
                        <a:pt x="1047" y="801"/>
                      </a:lnTo>
                      <a:lnTo>
                        <a:pt x="1050" y="802"/>
                      </a:lnTo>
                      <a:lnTo>
                        <a:pt x="1053" y="804"/>
                      </a:lnTo>
                      <a:lnTo>
                        <a:pt x="1057" y="804"/>
                      </a:lnTo>
                      <a:lnTo>
                        <a:pt x="1062" y="808"/>
                      </a:lnTo>
                      <a:lnTo>
                        <a:pt x="1062" y="808"/>
                      </a:lnTo>
                      <a:lnTo>
                        <a:pt x="1067" y="810"/>
                      </a:lnTo>
                      <a:lnTo>
                        <a:pt x="1069" y="811"/>
                      </a:lnTo>
                      <a:lnTo>
                        <a:pt x="1074" y="813"/>
                      </a:lnTo>
                      <a:lnTo>
                        <a:pt x="1077" y="815"/>
                      </a:lnTo>
                      <a:lnTo>
                        <a:pt x="1080" y="816"/>
                      </a:lnTo>
                      <a:lnTo>
                        <a:pt x="1083" y="816"/>
                      </a:lnTo>
                      <a:lnTo>
                        <a:pt x="1086" y="819"/>
                      </a:lnTo>
                      <a:lnTo>
                        <a:pt x="1089" y="821"/>
                      </a:lnTo>
                      <a:lnTo>
                        <a:pt x="1094" y="821"/>
                      </a:lnTo>
                      <a:lnTo>
                        <a:pt x="1096" y="823"/>
                      </a:lnTo>
                      <a:lnTo>
                        <a:pt x="1101" y="825"/>
                      </a:lnTo>
                      <a:lnTo>
                        <a:pt x="1193" y="843"/>
                      </a:lnTo>
                      <a:lnTo>
                        <a:pt x="1243" y="868"/>
                      </a:lnTo>
                      <a:lnTo>
                        <a:pt x="1275" y="873"/>
                      </a:lnTo>
                      <a:lnTo>
                        <a:pt x="1317" y="854"/>
                      </a:lnTo>
                      <a:lnTo>
                        <a:pt x="1360" y="859"/>
                      </a:lnTo>
                      <a:lnTo>
                        <a:pt x="1383" y="851"/>
                      </a:lnTo>
                      <a:lnTo>
                        <a:pt x="1397" y="864"/>
                      </a:lnTo>
                      <a:lnTo>
                        <a:pt x="1429" y="866"/>
                      </a:lnTo>
                      <a:lnTo>
                        <a:pt x="1448" y="856"/>
                      </a:lnTo>
                      <a:lnTo>
                        <a:pt x="1487" y="869"/>
                      </a:lnTo>
                      <a:lnTo>
                        <a:pt x="1546" y="864"/>
                      </a:lnTo>
                      <a:lnTo>
                        <a:pt x="1606" y="843"/>
                      </a:lnTo>
                      <a:lnTo>
                        <a:pt x="1685" y="843"/>
                      </a:lnTo>
                      <a:lnTo>
                        <a:pt x="1704" y="837"/>
                      </a:lnTo>
                      <a:lnTo>
                        <a:pt x="1745" y="862"/>
                      </a:lnTo>
                      <a:lnTo>
                        <a:pt x="1773" y="862"/>
                      </a:lnTo>
                      <a:lnTo>
                        <a:pt x="1823" y="876"/>
                      </a:lnTo>
                      <a:lnTo>
                        <a:pt x="1861" y="869"/>
                      </a:lnTo>
                      <a:lnTo>
                        <a:pt x="1881" y="857"/>
                      </a:lnTo>
                      <a:lnTo>
                        <a:pt x="1886" y="874"/>
                      </a:lnTo>
                      <a:lnTo>
                        <a:pt x="1912" y="883"/>
                      </a:lnTo>
                      <a:lnTo>
                        <a:pt x="1936" y="879"/>
                      </a:lnTo>
                      <a:lnTo>
                        <a:pt x="1946" y="864"/>
                      </a:lnTo>
                      <a:lnTo>
                        <a:pt x="1965" y="869"/>
                      </a:lnTo>
                      <a:lnTo>
                        <a:pt x="1968" y="856"/>
                      </a:lnTo>
                      <a:lnTo>
                        <a:pt x="1989" y="862"/>
                      </a:lnTo>
                      <a:lnTo>
                        <a:pt x="2062" y="851"/>
                      </a:lnTo>
                      <a:lnTo>
                        <a:pt x="2088" y="856"/>
                      </a:lnTo>
                      <a:lnTo>
                        <a:pt x="2121" y="849"/>
                      </a:lnTo>
                      <a:lnTo>
                        <a:pt x="2163" y="859"/>
                      </a:lnTo>
                      <a:lnTo>
                        <a:pt x="2177" y="874"/>
                      </a:lnTo>
                      <a:lnTo>
                        <a:pt x="2201" y="876"/>
                      </a:lnTo>
                      <a:lnTo>
                        <a:pt x="2225" y="904"/>
                      </a:lnTo>
                      <a:lnTo>
                        <a:pt x="2276" y="910"/>
                      </a:lnTo>
                      <a:lnTo>
                        <a:pt x="2281" y="928"/>
                      </a:lnTo>
                      <a:lnTo>
                        <a:pt x="2316" y="939"/>
                      </a:lnTo>
                      <a:lnTo>
                        <a:pt x="2319" y="956"/>
                      </a:lnTo>
                      <a:lnTo>
                        <a:pt x="2323" y="975"/>
                      </a:lnTo>
                      <a:lnTo>
                        <a:pt x="2339" y="978"/>
                      </a:lnTo>
                      <a:lnTo>
                        <a:pt x="2338" y="989"/>
                      </a:lnTo>
                      <a:lnTo>
                        <a:pt x="2353" y="992"/>
                      </a:lnTo>
                      <a:lnTo>
                        <a:pt x="2362" y="1020"/>
                      </a:lnTo>
                      <a:lnTo>
                        <a:pt x="2329" y="1037"/>
                      </a:lnTo>
                      <a:lnTo>
                        <a:pt x="2302" y="1037"/>
                      </a:lnTo>
                      <a:lnTo>
                        <a:pt x="2246" y="1011"/>
                      </a:lnTo>
                      <a:lnTo>
                        <a:pt x="2230" y="1018"/>
                      </a:lnTo>
                      <a:lnTo>
                        <a:pt x="2239" y="1063"/>
                      </a:lnTo>
                      <a:lnTo>
                        <a:pt x="2235" y="1088"/>
                      </a:lnTo>
                      <a:lnTo>
                        <a:pt x="2205" y="1170"/>
                      </a:lnTo>
                      <a:lnTo>
                        <a:pt x="2201" y="1210"/>
                      </a:lnTo>
                      <a:lnTo>
                        <a:pt x="2169" y="1239"/>
                      </a:lnTo>
                      <a:lnTo>
                        <a:pt x="2171" y="1296"/>
                      </a:lnTo>
                      <a:lnTo>
                        <a:pt x="2145" y="1319"/>
                      </a:lnTo>
                      <a:lnTo>
                        <a:pt x="2086" y="1318"/>
                      </a:lnTo>
                      <a:lnTo>
                        <a:pt x="2081" y="1324"/>
                      </a:lnTo>
                      <a:lnTo>
                        <a:pt x="2095" y="1345"/>
                      </a:lnTo>
                      <a:lnTo>
                        <a:pt x="2092" y="1352"/>
                      </a:lnTo>
                      <a:lnTo>
                        <a:pt x="2070" y="1333"/>
                      </a:lnTo>
                      <a:lnTo>
                        <a:pt x="2058" y="1343"/>
                      </a:lnTo>
                      <a:lnTo>
                        <a:pt x="2062" y="1378"/>
                      </a:lnTo>
                      <a:lnTo>
                        <a:pt x="2044" y="1448"/>
                      </a:lnTo>
                      <a:lnTo>
                        <a:pt x="2032" y="1448"/>
                      </a:lnTo>
                      <a:lnTo>
                        <a:pt x="2013" y="1426"/>
                      </a:lnTo>
                      <a:lnTo>
                        <a:pt x="2009" y="1405"/>
                      </a:lnTo>
                      <a:lnTo>
                        <a:pt x="1968" y="1398"/>
                      </a:lnTo>
                      <a:lnTo>
                        <a:pt x="1968" y="1442"/>
                      </a:lnTo>
                      <a:lnTo>
                        <a:pt x="1958" y="1451"/>
                      </a:lnTo>
                      <a:lnTo>
                        <a:pt x="1936" y="1446"/>
                      </a:lnTo>
                      <a:lnTo>
                        <a:pt x="1914" y="1405"/>
                      </a:lnTo>
                      <a:lnTo>
                        <a:pt x="1902" y="1467"/>
                      </a:lnTo>
                      <a:lnTo>
                        <a:pt x="1893" y="1478"/>
                      </a:lnTo>
                      <a:lnTo>
                        <a:pt x="1858" y="1486"/>
                      </a:lnTo>
                      <a:lnTo>
                        <a:pt x="1786" y="1472"/>
                      </a:lnTo>
                      <a:lnTo>
                        <a:pt x="1764" y="1478"/>
                      </a:lnTo>
                      <a:lnTo>
                        <a:pt x="1762" y="1533"/>
                      </a:lnTo>
                      <a:lnTo>
                        <a:pt x="1751" y="1542"/>
                      </a:lnTo>
                      <a:lnTo>
                        <a:pt x="1729" y="1536"/>
                      </a:lnTo>
                      <a:lnTo>
                        <a:pt x="1710" y="1552"/>
                      </a:lnTo>
                      <a:lnTo>
                        <a:pt x="1693" y="1596"/>
                      </a:lnTo>
                      <a:lnTo>
                        <a:pt x="1700" y="1636"/>
                      </a:lnTo>
                      <a:lnTo>
                        <a:pt x="1687" y="1682"/>
                      </a:lnTo>
                      <a:lnTo>
                        <a:pt x="1660" y="1689"/>
                      </a:lnTo>
                      <a:lnTo>
                        <a:pt x="1649" y="1698"/>
                      </a:lnTo>
                      <a:lnTo>
                        <a:pt x="1654" y="1717"/>
                      </a:lnTo>
                      <a:lnTo>
                        <a:pt x="1674" y="1730"/>
                      </a:lnTo>
                      <a:lnTo>
                        <a:pt x="1668" y="1742"/>
                      </a:lnTo>
                      <a:lnTo>
                        <a:pt x="1655" y="1741"/>
                      </a:lnTo>
                      <a:lnTo>
                        <a:pt x="1654" y="1752"/>
                      </a:lnTo>
                      <a:lnTo>
                        <a:pt x="1679" y="1804"/>
                      </a:lnTo>
                      <a:lnTo>
                        <a:pt x="1679" y="1827"/>
                      </a:lnTo>
                      <a:lnTo>
                        <a:pt x="1700" y="1843"/>
                      </a:lnTo>
                      <a:lnTo>
                        <a:pt x="1718" y="1906"/>
                      </a:lnTo>
                      <a:lnTo>
                        <a:pt x="1737" y="1912"/>
                      </a:lnTo>
                      <a:lnTo>
                        <a:pt x="1720" y="1932"/>
                      </a:lnTo>
                      <a:lnTo>
                        <a:pt x="1731" y="1942"/>
                      </a:lnTo>
                      <a:lnTo>
                        <a:pt x="1750" y="2060"/>
                      </a:lnTo>
                      <a:lnTo>
                        <a:pt x="1765" y="2083"/>
                      </a:lnTo>
                      <a:lnTo>
                        <a:pt x="1782" y="2083"/>
                      </a:lnTo>
                      <a:lnTo>
                        <a:pt x="1768" y="2004"/>
                      </a:lnTo>
                      <a:lnTo>
                        <a:pt x="1777" y="1968"/>
                      </a:lnTo>
                      <a:lnTo>
                        <a:pt x="1792" y="1968"/>
                      </a:lnTo>
                      <a:lnTo>
                        <a:pt x="1809" y="1984"/>
                      </a:lnTo>
                      <a:lnTo>
                        <a:pt x="1809" y="1995"/>
                      </a:lnTo>
                      <a:lnTo>
                        <a:pt x="1818" y="1994"/>
                      </a:lnTo>
                      <a:lnTo>
                        <a:pt x="1818" y="2009"/>
                      </a:lnTo>
                      <a:lnTo>
                        <a:pt x="1830" y="2014"/>
                      </a:lnTo>
                      <a:lnTo>
                        <a:pt x="1849" y="2077"/>
                      </a:lnTo>
                      <a:lnTo>
                        <a:pt x="1842" y="2088"/>
                      </a:lnTo>
                      <a:lnTo>
                        <a:pt x="1856" y="2098"/>
                      </a:lnTo>
                      <a:lnTo>
                        <a:pt x="1858" y="2122"/>
                      </a:lnTo>
                      <a:lnTo>
                        <a:pt x="1871" y="2136"/>
                      </a:lnTo>
                      <a:lnTo>
                        <a:pt x="1888" y="2139"/>
                      </a:lnTo>
                      <a:lnTo>
                        <a:pt x="1895" y="2156"/>
                      </a:lnTo>
                      <a:lnTo>
                        <a:pt x="1912" y="2129"/>
                      </a:lnTo>
                      <a:lnTo>
                        <a:pt x="1952" y="2124"/>
                      </a:lnTo>
                      <a:lnTo>
                        <a:pt x="1982" y="2098"/>
                      </a:lnTo>
                      <a:lnTo>
                        <a:pt x="1984" y="2083"/>
                      </a:lnTo>
                      <a:lnTo>
                        <a:pt x="2003" y="2072"/>
                      </a:lnTo>
                      <a:lnTo>
                        <a:pt x="1976" y="1964"/>
                      </a:lnTo>
                      <a:lnTo>
                        <a:pt x="2015" y="1886"/>
                      </a:lnTo>
                      <a:lnTo>
                        <a:pt x="2062" y="1865"/>
                      </a:lnTo>
                      <a:lnTo>
                        <a:pt x="2081" y="1836"/>
                      </a:lnTo>
                      <a:lnTo>
                        <a:pt x="2066" y="1733"/>
                      </a:lnTo>
                      <a:lnTo>
                        <a:pt x="2073" y="1698"/>
                      </a:lnTo>
                      <a:lnTo>
                        <a:pt x="2116" y="1749"/>
                      </a:lnTo>
                      <a:lnTo>
                        <a:pt x="2135" y="1747"/>
                      </a:lnTo>
                      <a:lnTo>
                        <a:pt x="2185" y="1696"/>
                      </a:lnTo>
                      <a:lnTo>
                        <a:pt x="2203" y="1704"/>
                      </a:lnTo>
                      <a:lnTo>
                        <a:pt x="2212" y="1747"/>
                      </a:lnTo>
                      <a:lnTo>
                        <a:pt x="2221" y="1741"/>
                      </a:lnTo>
                      <a:lnTo>
                        <a:pt x="2232" y="1704"/>
                      </a:lnTo>
                      <a:lnTo>
                        <a:pt x="2253" y="1720"/>
                      </a:lnTo>
                      <a:lnTo>
                        <a:pt x="2248" y="1772"/>
                      </a:lnTo>
                      <a:lnTo>
                        <a:pt x="2263" y="1799"/>
                      </a:lnTo>
                      <a:lnTo>
                        <a:pt x="2271" y="1871"/>
                      </a:lnTo>
                      <a:lnTo>
                        <a:pt x="2295" y="1913"/>
                      </a:lnTo>
                      <a:lnTo>
                        <a:pt x="2302" y="1961"/>
                      </a:lnTo>
                      <a:lnTo>
                        <a:pt x="2284" y="1994"/>
                      </a:lnTo>
                      <a:lnTo>
                        <a:pt x="2290" y="2060"/>
                      </a:lnTo>
                      <a:lnTo>
                        <a:pt x="2302" y="2091"/>
                      </a:lnTo>
                      <a:lnTo>
                        <a:pt x="2298" y="2156"/>
                      </a:lnTo>
                      <a:lnTo>
                        <a:pt x="2336" y="2186"/>
                      </a:lnTo>
                      <a:lnTo>
                        <a:pt x="2348" y="2261"/>
                      </a:lnTo>
                      <a:lnTo>
                        <a:pt x="2374" y="2280"/>
                      </a:lnTo>
                      <a:lnTo>
                        <a:pt x="2381" y="2352"/>
                      </a:lnTo>
                      <a:lnTo>
                        <a:pt x="2377" y="2382"/>
                      </a:lnTo>
                      <a:lnTo>
                        <a:pt x="2386" y="2399"/>
                      </a:lnTo>
                      <a:lnTo>
                        <a:pt x="2413" y="2582"/>
                      </a:lnTo>
                      <a:lnTo>
                        <a:pt x="2422" y="2603"/>
                      </a:lnTo>
                      <a:lnTo>
                        <a:pt x="2417" y="2618"/>
                      </a:lnTo>
                      <a:lnTo>
                        <a:pt x="2398" y="2621"/>
                      </a:lnTo>
                      <a:lnTo>
                        <a:pt x="2429" y="2764"/>
                      </a:lnTo>
                      <a:lnTo>
                        <a:pt x="2417" y="2813"/>
                      </a:lnTo>
                      <a:lnTo>
                        <a:pt x="2429" y="2998"/>
                      </a:lnTo>
                      <a:lnTo>
                        <a:pt x="2454" y="3096"/>
                      </a:lnTo>
                      <a:lnTo>
                        <a:pt x="2430" y="3120"/>
                      </a:lnTo>
                      <a:lnTo>
                        <a:pt x="2416" y="3121"/>
                      </a:lnTo>
                      <a:lnTo>
                        <a:pt x="2393" y="3053"/>
                      </a:lnTo>
                      <a:lnTo>
                        <a:pt x="2378" y="3050"/>
                      </a:lnTo>
                      <a:lnTo>
                        <a:pt x="2355" y="3063"/>
                      </a:lnTo>
                      <a:lnTo>
                        <a:pt x="2328" y="3053"/>
                      </a:lnTo>
                      <a:lnTo>
                        <a:pt x="2317" y="3011"/>
                      </a:lnTo>
                      <a:lnTo>
                        <a:pt x="2292" y="2997"/>
                      </a:lnTo>
                      <a:lnTo>
                        <a:pt x="2266" y="3025"/>
                      </a:lnTo>
                      <a:lnTo>
                        <a:pt x="2240" y="3025"/>
                      </a:lnTo>
                      <a:lnTo>
                        <a:pt x="2232" y="3053"/>
                      </a:lnTo>
                      <a:lnTo>
                        <a:pt x="2203" y="3074"/>
                      </a:lnTo>
                      <a:lnTo>
                        <a:pt x="2212" y="3102"/>
                      </a:lnTo>
                      <a:lnTo>
                        <a:pt x="2201" y="3157"/>
                      </a:lnTo>
                      <a:lnTo>
                        <a:pt x="2201" y="3259"/>
                      </a:lnTo>
                      <a:lnTo>
                        <a:pt x="2126" y="3166"/>
                      </a:lnTo>
                      <a:lnTo>
                        <a:pt x="2121" y="3093"/>
                      </a:lnTo>
                      <a:lnTo>
                        <a:pt x="2133" y="3099"/>
                      </a:lnTo>
                      <a:lnTo>
                        <a:pt x="2119" y="3082"/>
                      </a:lnTo>
                      <a:lnTo>
                        <a:pt x="2116" y="3086"/>
                      </a:lnTo>
                      <a:lnTo>
                        <a:pt x="2109" y="3063"/>
                      </a:lnTo>
                      <a:lnTo>
                        <a:pt x="2073" y="3011"/>
                      </a:lnTo>
                      <a:lnTo>
                        <a:pt x="2078" y="2998"/>
                      </a:lnTo>
                      <a:lnTo>
                        <a:pt x="2085" y="3011"/>
                      </a:lnTo>
                      <a:lnTo>
                        <a:pt x="2102" y="2978"/>
                      </a:lnTo>
                      <a:lnTo>
                        <a:pt x="2114" y="2986"/>
                      </a:lnTo>
                      <a:lnTo>
                        <a:pt x="2107" y="2978"/>
                      </a:lnTo>
                      <a:lnTo>
                        <a:pt x="2126" y="2971"/>
                      </a:lnTo>
                      <a:lnTo>
                        <a:pt x="2107" y="2975"/>
                      </a:lnTo>
                      <a:lnTo>
                        <a:pt x="2099" y="2940"/>
                      </a:lnTo>
                      <a:lnTo>
                        <a:pt x="2102" y="2930"/>
                      </a:lnTo>
                      <a:lnTo>
                        <a:pt x="2114" y="2928"/>
                      </a:lnTo>
                      <a:lnTo>
                        <a:pt x="2107" y="2925"/>
                      </a:lnTo>
                      <a:lnTo>
                        <a:pt x="2109" y="2904"/>
                      </a:lnTo>
                      <a:lnTo>
                        <a:pt x="2100" y="2903"/>
                      </a:lnTo>
                      <a:lnTo>
                        <a:pt x="2112" y="2882"/>
                      </a:lnTo>
                      <a:lnTo>
                        <a:pt x="2090" y="2890"/>
                      </a:lnTo>
                      <a:lnTo>
                        <a:pt x="2088" y="2879"/>
                      </a:lnTo>
                      <a:lnTo>
                        <a:pt x="2078" y="2880"/>
                      </a:lnTo>
                      <a:lnTo>
                        <a:pt x="2094" y="2909"/>
                      </a:lnTo>
                      <a:lnTo>
                        <a:pt x="2081" y="2975"/>
                      </a:lnTo>
                      <a:lnTo>
                        <a:pt x="2088" y="2978"/>
                      </a:lnTo>
                      <a:lnTo>
                        <a:pt x="2066" y="2981"/>
                      </a:lnTo>
                      <a:lnTo>
                        <a:pt x="2073" y="2975"/>
                      </a:lnTo>
                      <a:lnTo>
                        <a:pt x="2042" y="2966"/>
                      </a:lnTo>
                      <a:lnTo>
                        <a:pt x="2056" y="2947"/>
                      </a:lnTo>
                      <a:lnTo>
                        <a:pt x="2044" y="2954"/>
                      </a:lnTo>
                      <a:lnTo>
                        <a:pt x="2044" y="2939"/>
                      </a:lnTo>
                      <a:lnTo>
                        <a:pt x="2056" y="2940"/>
                      </a:lnTo>
                      <a:lnTo>
                        <a:pt x="2059" y="2932"/>
                      </a:lnTo>
                      <a:lnTo>
                        <a:pt x="2049" y="2916"/>
                      </a:lnTo>
                      <a:lnTo>
                        <a:pt x="2034" y="2923"/>
                      </a:lnTo>
                      <a:lnTo>
                        <a:pt x="2044" y="2913"/>
                      </a:lnTo>
                      <a:lnTo>
                        <a:pt x="2037" y="2907"/>
                      </a:lnTo>
                      <a:lnTo>
                        <a:pt x="2049" y="2903"/>
                      </a:lnTo>
                      <a:lnTo>
                        <a:pt x="2042" y="2890"/>
                      </a:lnTo>
                      <a:lnTo>
                        <a:pt x="2053" y="2887"/>
                      </a:lnTo>
                      <a:lnTo>
                        <a:pt x="2049" y="2866"/>
                      </a:lnTo>
                      <a:lnTo>
                        <a:pt x="2062" y="2853"/>
                      </a:lnTo>
                      <a:lnTo>
                        <a:pt x="2054" y="2857"/>
                      </a:lnTo>
                      <a:lnTo>
                        <a:pt x="2054" y="2849"/>
                      </a:lnTo>
                      <a:lnTo>
                        <a:pt x="2067" y="2841"/>
                      </a:lnTo>
                      <a:lnTo>
                        <a:pt x="2071" y="2853"/>
                      </a:lnTo>
                      <a:lnTo>
                        <a:pt x="2071" y="2835"/>
                      </a:lnTo>
                      <a:lnTo>
                        <a:pt x="2085" y="2841"/>
                      </a:lnTo>
                      <a:lnTo>
                        <a:pt x="2073" y="2834"/>
                      </a:lnTo>
                      <a:lnTo>
                        <a:pt x="2073" y="2826"/>
                      </a:lnTo>
                      <a:lnTo>
                        <a:pt x="2089" y="2816"/>
                      </a:lnTo>
                      <a:lnTo>
                        <a:pt x="2075" y="2813"/>
                      </a:lnTo>
                      <a:lnTo>
                        <a:pt x="2068" y="2834"/>
                      </a:lnTo>
                      <a:lnTo>
                        <a:pt x="2042" y="2829"/>
                      </a:lnTo>
                      <a:lnTo>
                        <a:pt x="2062" y="2819"/>
                      </a:lnTo>
                      <a:lnTo>
                        <a:pt x="2042" y="2821"/>
                      </a:lnTo>
                      <a:lnTo>
                        <a:pt x="2054" y="2788"/>
                      </a:lnTo>
                      <a:lnTo>
                        <a:pt x="2066" y="2794"/>
                      </a:lnTo>
                      <a:lnTo>
                        <a:pt x="2054" y="2783"/>
                      </a:lnTo>
                      <a:lnTo>
                        <a:pt x="2049" y="2745"/>
                      </a:lnTo>
                      <a:lnTo>
                        <a:pt x="2049" y="2733"/>
                      </a:lnTo>
                      <a:lnTo>
                        <a:pt x="2056" y="2733"/>
                      </a:lnTo>
                      <a:lnTo>
                        <a:pt x="2042" y="2726"/>
                      </a:lnTo>
                      <a:lnTo>
                        <a:pt x="2034" y="2714"/>
                      </a:lnTo>
                      <a:lnTo>
                        <a:pt x="2037" y="2682"/>
                      </a:lnTo>
                      <a:lnTo>
                        <a:pt x="2018" y="2613"/>
                      </a:lnTo>
                      <a:lnTo>
                        <a:pt x="2026" y="2624"/>
                      </a:lnTo>
                      <a:lnTo>
                        <a:pt x="2040" y="2622"/>
                      </a:lnTo>
                      <a:lnTo>
                        <a:pt x="2026" y="2621"/>
                      </a:lnTo>
                      <a:lnTo>
                        <a:pt x="2018" y="2610"/>
                      </a:lnTo>
                      <a:lnTo>
                        <a:pt x="2013" y="2630"/>
                      </a:lnTo>
                      <a:lnTo>
                        <a:pt x="2001" y="2599"/>
                      </a:lnTo>
                      <a:lnTo>
                        <a:pt x="1999" y="2566"/>
                      </a:lnTo>
                      <a:lnTo>
                        <a:pt x="2009" y="2560"/>
                      </a:lnTo>
                      <a:lnTo>
                        <a:pt x="2013" y="2545"/>
                      </a:lnTo>
                      <a:lnTo>
                        <a:pt x="2006" y="2541"/>
                      </a:lnTo>
                      <a:lnTo>
                        <a:pt x="2008" y="2552"/>
                      </a:lnTo>
                      <a:lnTo>
                        <a:pt x="1993" y="2567"/>
                      </a:lnTo>
                      <a:lnTo>
                        <a:pt x="1981" y="2555"/>
                      </a:lnTo>
                      <a:lnTo>
                        <a:pt x="1970" y="2480"/>
                      </a:lnTo>
                      <a:lnTo>
                        <a:pt x="1946" y="2418"/>
                      </a:lnTo>
                      <a:lnTo>
                        <a:pt x="1897" y="2351"/>
                      </a:lnTo>
                      <a:lnTo>
                        <a:pt x="1852" y="2312"/>
                      </a:lnTo>
                      <a:lnTo>
                        <a:pt x="1836" y="2280"/>
                      </a:lnTo>
                      <a:lnTo>
                        <a:pt x="1806" y="2256"/>
                      </a:lnTo>
                      <a:lnTo>
                        <a:pt x="1772" y="2254"/>
                      </a:lnTo>
                      <a:lnTo>
                        <a:pt x="1765" y="2275"/>
                      </a:lnTo>
                      <a:lnTo>
                        <a:pt x="1714" y="2261"/>
                      </a:lnTo>
                      <a:lnTo>
                        <a:pt x="1718" y="2276"/>
                      </a:lnTo>
                      <a:lnTo>
                        <a:pt x="1705" y="2286"/>
                      </a:lnTo>
                      <a:lnTo>
                        <a:pt x="1668" y="2285"/>
                      </a:lnTo>
                      <a:lnTo>
                        <a:pt x="1643" y="2259"/>
                      </a:lnTo>
                      <a:lnTo>
                        <a:pt x="1623" y="2261"/>
                      </a:lnTo>
                      <a:lnTo>
                        <a:pt x="1596" y="2286"/>
                      </a:lnTo>
                      <a:lnTo>
                        <a:pt x="1583" y="2310"/>
                      </a:lnTo>
                      <a:lnTo>
                        <a:pt x="1569" y="2302"/>
                      </a:lnTo>
                      <a:lnTo>
                        <a:pt x="1596" y="2351"/>
                      </a:lnTo>
                      <a:lnTo>
                        <a:pt x="1555" y="2370"/>
                      </a:lnTo>
                      <a:lnTo>
                        <a:pt x="1506" y="2335"/>
                      </a:lnTo>
                      <a:lnTo>
                        <a:pt x="1474" y="2305"/>
                      </a:lnTo>
                      <a:lnTo>
                        <a:pt x="1452" y="2256"/>
                      </a:lnTo>
                      <a:lnTo>
                        <a:pt x="1406" y="2261"/>
                      </a:lnTo>
                      <a:lnTo>
                        <a:pt x="1416" y="2399"/>
                      </a:lnTo>
                      <a:lnTo>
                        <a:pt x="1448" y="2410"/>
                      </a:lnTo>
                      <a:lnTo>
                        <a:pt x="1465" y="2458"/>
                      </a:lnTo>
                      <a:lnTo>
                        <a:pt x="1498" y="2483"/>
                      </a:lnTo>
                      <a:lnTo>
                        <a:pt x="1498" y="2528"/>
                      </a:lnTo>
                      <a:lnTo>
                        <a:pt x="1488" y="2567"/>
                      </a:lnTo>
                      <a:lnTo>
                        <a:pt x="1493" y="2617"/>
                      </a:lnTo>
                      <a:lnTo>
                        <a:pt x="1484" y="2649"/>
                      </a:lnTo>
                      <a:lnTo>
                        <a:pt x="1478" y="2641"/>
                      </a:lnTo>
                      <a:lnTo>
                        <a:pt x="1483" y="2670"/>
                      </a:lnTo>
                      <a:lnTo>
                        <a:pt x="1457" y="2695"/>
                      </a:lnTo>
                      <a:lnTo>
                        <a:pt x="1459" y="2703"/>
                      </a:lnTo>
                      <a:lnTo>
                        <a:pt x="1447" y="2720"/>
                      </a:lnTo>
                      <a:lnTo>
                        <a:pt x="1440" y="2718"/>
                      </a:lnTo>
                      <a:lnTo>
                        <a:pt x="1445" y="2706"/>
                      </a:lnTo>
                      <a:lnTo>
                        <a:pt x="1424" y="2725"/>
                      </a:lnTo>
                      <a:lnTo>
                        <a:pt x="1419" y="2718"/>
                      </a:lnTo>
                      <a:lnTo>
                        <a:pt x="1419" y="2739"/>
                      </a:lnTo>
                      <a:lnTo>
                        <a:pt x="1407" y="2750"/>
                      </a:lnTo>
                      <a:lnTo>
                        <a:pt x="1392" y="2750"/>
                      </a:lnTo>
                      <a:lnTo>
                        <a:pt x="1390" y="2731"/>
                      </a:lnTo>
                      <a:lnTo>
                        <a:pt x="1392" y="2757"/>
                      </a:lnTo>
                      <a:lnTo>
                        <a:pt x="1372" y="2757"/>
                      </a:lnTo>
                      <a:lnTo>
                        <a:pt x="1388" y="2720"/>
                      </a:lnTo>
                      <a:lnTo>
                        <a:pt x="1368" y="2747"/>
                      </a:lnTo>
                      <a:lnTo>
                        <a:pt x="1358" y="2726"/>
                      </a:lnTo>
                      <a:lnTo>
                        <a:pt x="1380" y="2682"/>
                      </a:lnTo>
                      <a:lnTo>
                        <a:pt x="1371" y="2689"/>
                      </a:lnTo>
                      <a:lnTo>
                        <a:pt x="1372" y="2651"/>
                      </a:lnTo>
                      <a:lnTo>
                        <a:pt x="1399" y="2605"/>
                      </a:lnTo>
                      <a:lnTo>
                        <a:pt x="1399" y="2487"/>
                      </a:lnTo>
                      <a:lnTo>
                        <a:pt x="1368" y="2423"/>
                      </a:lnTo>
                      <a:lnTo>
                        <a:pt x="1366" y="2442"/>
                      </a:lnTo>
                      <a:lnTo>
                        <a:pt x="1342" y="2417"/>
                      </a:lnTo>
                      <a:lnTo>
                        <a:pt x="1324" y="2415"/>
                      </a:lnTo>
                      <a:lnTo>
                        <a:pt x="1320" y="2431"/>
                      </a:lnTo>
                      <a:lnTo>
                        <a:pt x="1349" y="2461"/>
                      </a:lnTo>
                      <a:lnTo>
                        <a:pt x="1353" y="2516"/>
                      </a:lnTo>
                      <a:lnTo>
                        <a:pt x="1366" y="2553"/>
                      </a:lnTo>
                      <a:lnTo>
                        <a:pt x="1365" y="2591"/>
                      </a:lnTo>
                      <a:lnTo>
                        <a:pt x="1322" y="2654"/>
                      </a:lnTo>
                      <a:lnTo>
                        <a:pt x="1308" y="2662"/>
                      </a:lnTo>
                      <a:lnTo>
                        <a:pt x="1302" y="2649"/>
                      </a:lnTo>
                      <a:lnTo>
                        <a:pt x="1305" y="2673"/>
                      </a:lnTo>
                      <a:lnTo>
                        <a:pt x="1276" y="2712"/>
                      </a:lnTo>
                      <a:lnTo>
                        <a:pt x="1267" y="2699"/>
                      </a:lnTo>
                      <a:lnTo>
                        <a:pt x="1259" y="2711"/>
                      </a:lnTo>
                      <a:lnTo>
                        <a:pt x="1247" y="2694"/>
                      </a:lnTo>
                      <a:lnTo>
                        <a:pt x="1270" y="2644"/>
                      </a:lnTo>
                      <a:lnTo>
                        <a:pt x="1253" y="2662"/>
                      </a:lnTo>
                      <a:lnTo>
                        <a:pt x="1253" y="2675"/>
                      </a:lnTo>
                      <a:lnTo>
                        <a:pt x="1242" y="2676"/>
                      </a:lnTo>
                      <a:lnTo>
                        <a:pt x="1245" y="2709"/>
                      </a:lnTo>
                      <a:lnTo>
                        <a:pt x="1221" y="2726"/>
                      </a:lnTo>
                      <a:lnTo>
                        <a:pt x="1209" y="2766"/>
                      </a:lnTo>
                      <a:lnTo>
                        <a:pt x="1199" y="2762"/>
                      </a:lnTo>
                      <a:lnTo>
                        <a:pt x="1202" y="2788"/>
                      </a:lnTo>
                      <a:lnTo>
                        <a:pt x="1190" y="2836"/>
                      </a:lnTo>
                      <a:lnTo>
                        <a:pt x="1185" y="2821"/>
                      </a:lnTo>
                      <a:lnTo>
                        <a:pt x="1168" y="2836"/>
                      </a:lnTo>
                      <a:lnTo>
                        <a:pt x="1182" y="2829"/>
                      </a:lnTo>
                      <a:lnTo>
                        <a:pt x="1180" y="2843"/>
                      </a:lnTo>
                      <a:lnTo>
                        <a:pt x="1171" y="2848"/>
                      </a:lnTo>
                      <a:lnTo>
                        <a:pt x="1180" y="2848"/>
                      </a:lnTo>
                      <a:lnTo>
                        <a:pt x="1148" y="2870"/>
                      </a:lnTo>
                      <a:lnTo>
                        <a:pt x="1110" y="2865"/>
                      </a:lnTo>
                      <a:lnTo>
                        <a:pt x="1088" y="2846"/>
                      </a:lnTo>
                      <a:lnTo>
                        <a:pt x="1094" y="2836"/>
                      </a:lnTo>
                      <a:lnTo>
                        <a:pt x="1110" y="2839"/>
                      </a:lnTo>
                      <a:lnTo>
                        <a:pt x="1099" y="2829"/>
                      </a:lnTo>
                      <a:lnTo>
                        <a:pt x="1115" y="2815"/>
                      </a:lnTo>
                      <a:lnTo>
                        <a:pt x="1105" y="2802"/>
                      </a:lnTo>
                      <a:lnTo>
                        <a:pt x="1103" y="2798"/>
                      </a:lnTo>
                      <a:lnTo>
                        <a:pt x="1099" y="2815"/>
                      </a:lnTo>
                      <a:lnTo>
                        <a:pt x="1093" y="2807"/>
                      </a:lnTo>
                      <a:lnTo>
                        <a:pt x="1093" y="2815"/>
                      </a:lnTo>
                      <a:lnTo>
                        <a:pt x="1101" y="2816"/>
                      </a:lnTo>
                      <a:lnTo>
                        <a:pt x="1088" y="2836"/>
                      </a:lnTo>
                      <a:lnTo>
                        <a:pt x="1067" y="2839"/>
                      </a:lnTo>
                      <a:lnTo>
                        <a:pt x="1055" y="2819"/>
                      </a:lnTo>
                      <a:lnTo>
                        <a:pt x="1060" y="2785"/>
                      </a:lnTo>
                      <a:lnTo>
                        <a:pt x="1083" y="2771"/>
                      </a:lnTo>
                      <a:lnTo>
                        <a:pt x="1083" y="2752"/>
                      </a:lnTo>
                      <a:lnTo>
                        <a:pt x="1098" y="2726"/>
                      </a:lnTo>
                      <a:lnTo>
                        <a:pt x="1130" y="2692"/>
                      </a:lnTo>
                      <a:lnTo>
                        <a:pt x="1146" y="2695"/>
                      </a:lnTo>
                      <a:lnTo>
                        <a:pt x="1156" y="2689"/>
                      </a:lnTo>
                      <a:lnTo>
                        <a:pt x="1124" y="2689"/>
                      </a:lnTo>
                      <a:lnTo>
                        <a:pt x="1083" y="2731"/>
                      </a:lnTo>
                      <a:lnTo>
                        <a:pt x="1074" y="2767"/>
                      </a:lnTo>
                      <a:lnTo>
                        <a:pt x="1055" y="2764"/>
                      </a:lnTo>
                      <a:lnTo>
                        <a:pt x="1044" y="2747"/>
                      </a:lnTo>
                      <a:lnTo>
                        <a:pt x="1031" y="2731"/>
                      </a:lnTo>
                      <a:lnTo>
                        <a:pt x="1036" y="2764"/>
                      </a:lnTo>
                      <a:lnTo>
                        <a:pt x="1028" y="2776"/>
                      </a:lnTo>
                      <a:lnTo>
                        <a:pt x="1025" y="2800"/>
                      </a:lnTo>
                      <a:lnTo>
                        <a:pt x="1011" y="2798"/>
                      </a:lnTo>
                      <a:lnTo>
                        <a:pt x="1016" y="2772"/>
                      </a:lnTo>
                      <a:lnTo>
                        <a:pt x="994" y="2726"/>
                      </a:lnTo>
                      <a:lnTo>
                        <a:pt x="997" y="2676"/>
                      </a:lnTo>
                      <a:lnTo>
                        <a:pt x="978" y="2613"/>
                      </a:lnTo>
                      <a:lnTo>
                        <a:pt x="998" y="2553"/>
                      </a:lnTo>
                      <a:lnTo>
                        <a:pt x="987" y="2467"/>
                      </a:lnTo>
                      <a:lnTo>
                        <a:pt x="949" y="2555"/>
                      </a:lnTo>
                      <a:lnTo>
                        <a:pt x="970" y="2585"/>
                      </a:lnTo>
                      <a:lnTo>
                        <a:pt x="975" y="2629"/>
                      </a:lnTo>
                      <a:lnTo>
                        <a:pt x="958" y="2654"/>
                      </a:lnTo>
                      <a:lnTo>
                        <a:pt x="940" y="2656"/>
                      </a:lnTo>
                      <a:lnTo>
                        <a:pt x="959" y="2673"/>
                      </a:lnTo>
                      <a:lnTo>
                        <a:pt x="970" y="2752"/>
                      </a:lnTo>
                      <a:lnTo>
                        <a:pt x="956" y="2764"/>
                      </a:lnTo>
                      <a:lnTo>
                        <a:pt x="953" y="2776"/>
                      </a:lnTo>
                      <a:lnTo>
                        <a:pt x="920" y="2793"/>
                      </a:lnTo>
                      <a:lnTo>
                        <a:pt x="910" y="2791"/>
                      </a:lnTo>
                      <a:lnTo>
                        <a:pt x="920" y="2776"/>
                      </a:lnTo>
                      <a:lnTo>
                        <a:pt x="904" y="2778"/>
                      </a:lnTo>
                      <a:lnTo>
                        <a:pt x="901" y="2769"/>
                      </a:lnTo>
                      <a:lnTo>
                        <a:pt x="901" y="2791"/>
                      </a:lnTo>
                      <a:lnTo>
                        <a:pt x="858" y="2778"/>
                      </a:lnTo>
                      <a:lnTo>
                        <a:pt x="852" y="2759"/>
                      </a:lnTo>
                      <a:lnTo>
                        <a:pt x="869" y="2733"/>
                      </a:lnTo>
                      <a:lnTo>
                        <a:pt x="850" y="2747"/>
                      </a:lnTo>
                      <a:lnTo>
                        <a:pt x="838" y="2726"/>
                      </a:lnTo>
                      <a:lnTo>
                        <a:pt x="848" y="2718"/>
                      </a:lnTo>
                      <a:lnTo>
                        <a:pt x="838" y="2723"/>
                      </a:lnTo>
                      <a:lnTo>
                        <a:pt x="808" y="2726"/>
                      </a:lnTo>
                      <a:lnTo>
                        <a:pt x="795" y="2704"/>
                      </a:lnTo>
                      <a:lnTo>
                        <a:pt x="810" y="2651"/>
                      </a:lnTo>
                      <a:lnTo>
                        <a:pt x="802" y="2654"/>
                      </a:lnTo>
                      <a:lnTo>
                        <a:pt x="786" y="2701"/>
                      </a:lnTo>
                      <a:lnTo>
                        <a:pt x="775" y="2685"/>
                      </a:lnTo>
                      <a:lnTo>
                        <a:pt x="790" y="2656"/>
                      </a:lnTo>
                      <a:lnTo>
                        <a:pt x="783" y="2644"/>
                      </a:lnTo>
                      <a:lnTo>
                        <a:pt x="771" y="2678"/>
                      </a:lnTo>
                      <a:lnTo>
                        <a:pt x="756" y="2670"/>
                      </a:lnTo>
                      <a:lnTo>
                        <a:pt x="776" y="2720"/>
                      </a:lnTo>
                      <a:lnTo>
                        <a:pt x="772" y="2747"/>
                      </a:lnTo>
                      <a:lnTo>
                        <a:pt x="747" y="2747"/>
                      </a:lnTo>
                      <a:lnTo>
                        <a:pt x="752" y="2730"/>
                      </a:lnTo>
                      <a:lnTo>
                        <a:pt x="750" y="2733"/>
                      </a:lnTo>
                      <a:lnTo>
                        <a:pt x="744" y="2747"/>
                      </a:lnTo>
                      <a:lnTo>
                        <a:pt x="756" y="2752"/>
                      </a:lnTo>
                      <a:lnTo>
                        <a:pt x="745" y="2780"/>
                      </a:lnTo>
                      <a:lnTo>
                        <a:pt x="730" y="2781"/>
                      </a:lnTo>
                      <a:lnTo>
                        <a:pt x="745" y="2783"/>
                      </a:lnTo>
                      <a:lnTo>
                        <a:pt x="756" y="2812"/>
                      </a:lnTo>
                      <a:lnTo>
                        <a:pt x="750" y="2830"/>
                      </a:lnTo>
                      <a:lnTo>
                        <a:pt x="722" y="2857"/>
                      </a:lnTo>
                      <a:lnTo>
                        <a:pt x="696" y="2838"/>
                      </a:lnTo>
                      <a:lnTo>
                        <a:pt x="709" y="2826"/>
                      </a:lnTo>
                      <a:lnTo>
                        <a:pt x="696" y="2835"/>
                      </a:lnTo>
                      <a:lnTo>
                        <a:pt x="696" y="2807"/>
                      </a:lnTo>
                      <a:lnTo>
                        <a:pt x="690" y="2805"/>
                      </a:lnTo>
                      <a:lnTo>
                        <a:pt x="713" y="2757"/>
                      </a:lnTo>
                      <a:lnTo>
                        <a:pt x="709" y="2736"/>
                      </a:lnTo>
                      <a:lnTo>
                        <a:pt x="698" y="2723"/>
                      </a:lnTo>
                      <a:lnTo>
                        <a:pt x="694" y="2726"/>
                      </a:lnTo>
                      <a:lnTo>
                        <a:pt x="698" y="2755"/>
                      </a:lnTo>
                      <a:lnTo>
                        <a:pt x="673" y="2774"/>
                      </a:lnTo>
                      <a:lnTo>
                        <a:pt x="667" y="2798"/>
                      </a:lnTo>
                      <a:lnTo>
                        <a:pt x="657" y="2788"/>
                      </a:lnTo>
                      <a:lnTo>
                        <a:pt x="651" y="2793"/>
                      </a:lnTo>
                      <a:lnTo>
                        <a:pt x="660" y="2835"/>
                      </a:lnTo>
                      <a:lnTo>
                        <a:pt x="646" y="2830"/>
                      </a:lnTo>
                      <a:lnTo>
                        <a:pt x="623" y="2836"/>
                      </a:lnTo>
                      <a:lnTo>
                        <a:pt x="607" y="2816"/>
                      </a:lnTo>
                      <a:lnTo>
                        <a:pt x="609" y="2783"/>
                      </a:lnTo>
                      <a:lnTo>
                        <a:pt x="600" y="2786"/>
                      </a:lnTo>
                      <a:lnTo>
                        <a:pt x="598" y="2807"/>
                      </a:lnTo>
                      <a:lnTo>
                        <a:pt x="588" y="2812"/>
                      </a:lnTo>
                      <a:lnTo>
                        <a:pt x="559" y="2800"/>
                      </a:lnTo>
                      <a:lnTo>
                        <a:pt x="559" y="2767"/>
                      </a:lnTo>
                      <a:lnTo>
                        <a:pt x="550" y="2752"/>
                      </a:lnTo>
                      <a:lnTo>
                        <a:pt x="557" y="2726"/>
                      </a:lnTo>
                      <a:lnTo>
                        <a:pt x="554" y="2685"/>
                      </a:lnTo>
                      <a:lnTo>
                        <a:pt x="554" y="2662"/>
                      </a:lnTo>
                      <a:lnTo>
                        <a:pt x="547" y="2651"/>
                      </a:lnTo>
                      <a:lnTo>
                        <a:pt x="557" y="2612"/>
                      </a:lnTo>
                      <a:lnTo>
                        <a:pt x="546" y="2607"/>
                      </a:lnTo>
                      <a:lnTo>
                        <a:pt x="546" y="2585"/>
                      </a:lnTo>
                      <a:lnTo>
                        <a:pt x="509" y="2535"/>
                      </a:lnTo>
                      <a:lnTo>
                        <a:pt x="519" y="2525"/>
                      </a:lnTo>
                      <a:lnTo>
                        <a:pt x="502" y="2506"/>
                      </a:lnTo>
                      <a:lnTo>
                        <a:pt x="503" y="2426"/>
                      </a:lnTo>
                      <a:lnTo>
                        <a:pt x="491" y="2394"/>
                      </a:lnTo>
                      <a:lnTo>
                        <a:pt x="469" y="2379"/>
                      </a:lnTo>
                      <a:lnTo>
                        <a:pt x="478" y="2379"/>
                      </a:lnTo>
                      <a:lnTo>
                        <a:pt x="484" y="2355"/>
                      </a:lnTo>
                      <a:lnTo>
                        <a:pt x="477" y="2331"/>
                      </a:lnTo>
                      <a:lnTo>
                        <a:pt x="482" y="2300"/>
                      </a:lnTo>
                      <a:lnTo>
                        <a:pt x="470" y="2264"/>
                      </a:lnTo>
                      <a:lnTo>
                        <a:pt x="484" y="2247"/>
                      </a:lnTo>
                      <a:lnTo>
                        <a:pt x="491" y="2209"/>
                      </a:lnTo>
                      <a:lnTo>
                        <a:pt x="465" y="2195"/>
                      </a:lnTo>
                      <a:lnTo>
                        <a:pt x="456" y="2162"/>
                      </a:lnTo>
                      <a:lnTo>
                        <a:pt x="434" y="2139"/>
                      </a:lnTo>
                      <a:lnTo>
                        <a:pt x="439" y="2071"/>
                      </a:lnTo>
                      <a:lnTo>
                        <a:pt x="463" y="2050"/>
                      </a:lnTo>
                      <a:lnTo>
                        <a:pt x="477" y="2023"/>
                      </a:lnTo>
                      <a:lnTo>
                        <a:pt x="497" y="2011"/>
                      </a:lnTo>
                      <a:lnTo>
                        <a:pt x="500" y="2000"/>
                      </a:lnTo>
                      <a:lnTo>
                        <a:pt x="477" y="2000"/>
                      </a:lnTo>
                      <a:lnTo>
                        <a:pt x="422" y="1980"/>
                      </a:lnTo>
                      <a:lnTo>
                        <a:pt x="401" y="1992"/>
                      </a:lnTo>
                      <a:lnTo>
                        <a:pt x="357" y="1975"/>
                      </a:lnTo>
                      <a:lnTo>
                        <a:pt x="354" y="1944"/>
                      </a:lnTo>
                      <a:lnTo>
                        <a:pt x="376" y="1910"/>
                      </a:lnTo>
                      <a:lnTo>
                        <a:pt x="379" y="1879"/>
                      </a:lnTo>
                      <a:lnTo>
                        <a:pt x="395" y="1860"/>
                      </a:lnTo>
                      <a:lnTo>
                        <a:pt x="396" y="1836"/>
                      </a:lnTo>
                      <a:lnTo>
                        <a:pt x="390" y="1830"/>
                      </a:lnTo>
                      <a:lnTo>
                        <a:pt x="373" y="1852"/>
                      </a:lnTo>
                      <a:lnTo>
                        <a:pt x="362" y="1830"/>
                      </a:lnTo>
                      <a:lnTo>
                        <a:pt x="326" y="1807"/>
                      </a:lnTo>
                      <a:lnTo>
                        <a:pt x="316" y="1782"/>
                      </a:lnTo>
                      <a:lnTo>
                        <a:pt x="288" y="1772"/>
                      </a:lnTo>
                      <a:lnTo>
                        <a:pt x="289" y="1753"/>
                      </a:lnTo>
                      <a:lnTo>
                        <a:pt x="275" y="1745"/>
                      </a:lnTo>
                      <a:lnTo>
                        <a:pt x="285" y="1691"/>
                      </a:lnTo>
                      <a:lnTo>
                        <a:pt x="282" y="1675"/>
                      </a:lnTo>
                      <a:lnTo>
                        <a:pt x="294" y="1653"/>
                      </a:lnTo>
                      <a:lnTo>
                        <a:pt x="296" y="1624"/>
                      </a:lnTo>
                      <a:lnTo>
                        <a:pt x="306" y="1618"/>
                      </a:lnTo>
                      <a:lnTo>
                        <a:pt x="330" y="1619"/>
                      </a:lnTo>
                      <a:lnTo>
                        <a:pt x="365" y="1590"/>
                      </a:lnTo>
                      <a:lnTo>
                        <a:pt x="371" y="1555"/>
                      </a:lnTo>
                      <a:lnTo>
                        <a:pt x="359" y="1544"/>
                      </a:lnTo>
                      <a:lnTo>
                        <a:pt x="376" y="1525"/>
                      </a:lnTo>
                      <a:lnTo>
                        <a:pt x="362" y="1522"/>
                      </a:lnTo>
                      <a:lnTo>
                        <a:pt x="359" y="1509"/>
                      </a:lnTo>
                      <a:lnTo>
                        <a:pt x="347" y="1492"/>
                      </a:lnTo>
                      <a:lnTo>
                        <a:pt x="351" y="1445"/>
                      </a:lnTo>
                      <a:lnTo>
                        <a:pt x="371" y="1434"/>
                      </a:lnTo>
                      <a:lnTo>
                        <a:pt x="368" y="1403"/>
                      </a:lnTo>
                      <a:lnTo>
                        <a:pt x="345" y="1359"/>
                      </a:lnTo>
                      <a:lnTo>
                        <a:pt x="323" y="1373"/>
                      </a:lnTo>
                      <a:lnTo>
                        <a:pt x="282" y="1359"/>
                      </a:lnTo>
                      <a:lnTo>
                        <a:pt x="239" y="1359"/>
                      </a:lnTo>
                      <a:lnTo>
                        <a:pt x="148" y="1292"/>
                      </a:lnTo>
                      <a:lnTo>
                        <a:pt x="43" y="1249"/>
                      </a:lnTo>
                      <a:lnTo>
                        <a:pt x="27" y="1193"/>
                      </a:lnTo>
                      <a:lnTo>
                        <a:pt x="0" y="1150"/>
                      </a:lnTo>
                      <a:lnTo>
                        <a:pt x="18" y="1123"/>
                      </a:lnTo>
                      <a:lnTo>
                        <a:pt x="18" y="1099"/>
                      </a:lnTo>
                      <a:lnTo>
                        <a:pt x="32" y="1097"/>
                      </a:lnTo>
                      <a:lnTo>
                        <a:pt x="37" y="1076"/>
                      </a:lnTo>
                      <a:lnTo>
                        <a:pt x="46" y="1074"/>
                      </a:lnTo>
                      <a:lnTo>
                        <a:pt x="68" y="1047"/>
                      </a:lnTo>
                      <a:lnTo>
                        <a:pt x="49" y="1008"/>
                      </a:lnTo>
                      <a:lnTo>
                        <a:pt x="96" y="992"/>
                      </a:lnTo>
                      <a:lnTo>
                        <a:pt x="112" y="1006"/>
                      </a:lnTo>
                      <a:lnTo>
                        <a:pt x="115" y="1028"/>
                      </a:lnTo>
                      <a:lnTo>
                        <a:pt x="157" y="1039"/>
                      </a:lnTo>
                      <a:lnTo>
                        <a:pt x="186" y="997"/>
                      </a:lnTo>
                      <a:lnTo>
                        <a:pt x="201" y="960"/>
                      </a:lnTo>
                      <a:lnTo>
                        <a:pt x="222" y="914"/>
                      </a:lnTo>
                      <a:lnTo>
                        <a:pt x="215" y="852"/>
                      </a:lnTo>
                      <a:lnTo>
                        <a:pt x="241" y="843"/>
                      </a:lnTo>
                      <a:lnTo>
                        <a:pt x="285" y="862"/>
                      </a:lnTo>
                      <a:lnTo>
                        <a:pt x="306" y="846"/>
                      </a:lnTo>
                      <a:lnTo>
                        <a:pt x="349" y="847"/>
                      </a:lnTo>
                      <a:lnTo>
                        <a:pt x="376" y="860"/>
                      </a:lnTo>
                      <a:lnTo>
                        <a:pt x="403" y="865"/>
                      </a:lnTo>
                      <a:lnTo>
                        <a:pt x="420" y="842"/>
                      </a:lnTo>
                      <a:lnTo>
                        <a:pt x="475" y="865"/>
                      </a:lnTo>
                      <a:lnTo>
                        <a:pt x="472" y="847"/>
                      </a:lnTo>
                      <a:lnTo>
                        <a:pt x="482" y="843"/>
                      </a:lnTo>
                      <a:lnTo>
                        <a:pt x="482" y="824"/>
                      </a:lnTo>
                      <a:lnTo>
                        <a:pt x="511" y="792"/>
                      </a:lnTo>
                      <a:lnTo>
                        <a:pt x="503" y="780"/>
                      </a:lnTo>
                      <a:lnTo>
                        <a:pt x="475" y="782"/>
                      </a:lnTo>
                      <a:lnTo>
                        <a:pt x="458" y="766"/>
                      </a:lnTo>
                      <a:lnTo>
                        <a:pt x="445" y="769"/>
                      </a:lnTo>
                      <a:lnTo>
                        <a:pt x="423" y="750"/>
                      </a:lnTo>
                      <a:lnTo>
                        <a:pt x="412" y="722"/>
                      </a:lnTo>
                      <a:lnTo>
                        <a:pt x="422" y="709"/>
                      </a:lnTo>
                      <a:lnTo>
                        <a:pt x="422" y="688"/>
                      </a:lnTo>
                      <a:lnTo>
                        <a:pt x="401" y="662"/>
                      </a:lnTo>
                      <a:lnTo>
                        <a:pt x="384" y="659"/>
                      </a:lnTo>
                      <a:lnTo>
                        <a:pt x="381" y="669"/>
                      </a:lnTo>
                      <a:lnTo>
                        <a:pt x="360" y="671"/>
                      </a:lnTo>
                      <a:lnTo>
                        <a:pt x="345" y="688"/>
                      </a:lnTo>
                      <a:lnTo>
                        <a:pt x="306" y="669"/>
                      </a:lnTo>
                      <a:lnTo>
                        <a:pt x="266" y="665"/>
                      </a:lnTo>
                      <a:lnTo>
                        <a:pt x="265" y="650"/>
                      </a:lnTo>
                      <a:lnTo>
                        <a:pt x="251" y="650"/>
                      </a:lnTo>
                      <a:lnTo>
                        <a:pt x="241" y="626"/>
                      </a:lnTo>
                      <a:lnTo>
                        <a:pt x="215" y="613"/>
                      </a:lnTo>
                      <a:lnTo>
                        <a:pt x="214" y="570"/>
                      </a:lnTo>
                      <a:lnTo>
                        <a:pt x="159" y="533"/>
                      </a:lnTo>
                      <a:lnTo>
                        <a:pt x="126" y="489"/>
                      </a:lnTo>
                      <a:lnTo>
                        <a:pt x="109" y="483"/>
                      </a:lnTo>
                      <a:lnTo>
                        <a:pt x="57" y="505"/>
                      </a:lnTo>
                      <a:lnTo>
                        <a:pt x="37" y="470"/>
                      </a:lnTo>
                      <a:lnTo>
                        <a:pt x="27" y="423"/>
                      </a:lnTo>
                      <a:lnTo>
                        <a:pt x="43" y="409"/>
                      </a:lnTo>
                      <a:lnTo>
                        <a:pt x="56" y="366"/>
                      </a:lnTo>
                      <a:lnTo>
                        <a:pt x="75" y="352"/>
                      </a:lnTo>
                      <a:lnTo>
                        <a:pt x="75" y="332"/>
                      </a:lnTo>
                      <a:lnTo>
                        <a:pt x="58" y="318"/>
                      </a:lnTo>
                      <a:lnTo>
                        <a:pt x="75" y="282"/>
                      </a:lnTo>
                      <a:lnTo>
                        <a:pt x="106" y="263"/>
                      </a:lnTo>
                      <a:lnTo>
                        <a:pt x="164" y="244"/>
                      </a:lnTo>
                      <a:lnTo>
                        <a:pt x="165" y="207"/>
                      </a:lnTo>
                      <a:lnTo>
                        <a:pt x="186" y="183"/>
                      </a:lnTo>
                      <a:lnTo>
                        <a:pt x="206" y="176"/>
                      </a:lnTo>
                      <a:lnTo>
                        <a:pt x="219" y="154"/>
                      </a:lnTo>
                      <a:lnTo>
                        <a:pt x="227" y="164"/>
                      </a:lnTo>
                      <a:lnTo>
                        <a:pt x="253" y="161"/>
                      </a:lnTo>
                      <a:lnTo>
                        <a:pt x="233" y="101"/>
                      </a:lnTo>
                      <a:lnTo>
                        <a:pt x="173" y="84"/>
                      </a:lnTo>
                      <a:lnTo>
                        <a:pt x="164" y="106"/>
                      </a:lnTo>
                      <a:lnTo>
                        <a:pt x="153" y="91"/>
                      </a:lnTo>
                      <a:lnTo>
                        <a:pt x="173" y="32"/>
                      </a:lnTo>
                      <a:lnTo>
                        <a:pt x="192" y="0"/>
                      </a:lnTo>
                      <a:lnTo>
                        <a:pt x="206" y="49"/>
                      </a:lnTo>
                      <a:lnTo>
                        <a:pt x="233" y="57"/>
                      </a:lnTo>
                      <a:lnTo>
                        <a:pt x="280" y="99"/>
                      </a:lnTo>
                      <a:lnTo>
                        <a:pt x="302" y="99"/>
                      </a:lnTo>
                      <a:lnTo>
                        <a:pt x="323" y="121"/>
                      </a:lnTo>
                      <a:lnTo>
                        <a:pt x="338" y="125"/>
                      </a:lnTo>
                      <a:lnTo>
                        <a:pt x="335" y="138"/>
                      </a:lnTo>
                      <a:lnTo>
                        <a:pt x="345" y="142"/>
                      </a:lnTo>
                      <a:lnTo>
                        <a:pt x="345" y="157"/>
                      </a:lnTo>
                      <a:lnTo>
                        <a:pt x="368" y="170"/>
                      </a:lnTo>
                      <a:lnTo>
                        <a:pt x="366" y="186"/>
                      </a:lnTo>
                      <a:lnTo>
                        <a:pt x="349" y="192"/>
                      </a:lnTo>
                      <a:lnTo>
                        <a:pt x="347" y="202"/>
                      </a:lnTo>
                      <a:lnTo>
                        <a:pt x="333" y="202"/>
                      </a:lnTo>
                      <a:lnTo>
                        <a:pt x="333" y="217"/>
                      </a:lnTo>
                      <a:lnTo>
                        <a:pt x="384" y="197"/>
                      </a:lnTo>
                      <a:lnTo>
                        <a:pt x="403" y="202"/>
                      </a:lnTo>
                      <a:lnTo>
                        <a:pt x="419" y="231"/>
                      </a:lnTo>
                      <a:lnTo>
                        <a:pt x="426" y="238"/>
                      </a:lnTo>
                      <a:lnTo>
                        <a:pt x="437" y="236"/>
                      </a:lnTo>
                      <a:lnTo>
                        <a:pt x="441" y="212"/>
                      </a:lnTo>
                      <a:lnTo>
                        <a:pt x="460" y="207"/>
                      </a:lnTo>
                      <a:lnTo>
                        <a:pt x="494" y="236"/>
                      </a:lnTo>
                      <a:lnTo>
                        <a:pt x="535" y="231"/>
                      </a:lnTo>
                      <a:lnTo>
                        <a:pt x="540" y="214"/>
                      </a:lnTo>
                      <a:lnTo>
                        <a:pt x="525" y="217"/>
                      </a:lnTo>
                      <a:lnTo>
                        <a:pt x="523" y="195"/>
                      </a:lnTo>
                      <a:lnTo>
                        <a:pt x="508" y="198"/>
                      </a:lnTo>
                      <a:lnTo>
                        <a:pt x="503" y="176"/>
                      </a:lnTo>
                      <a:lnTo>
                        <a:pt x="484" y="173"/>
                      </a:lnTo>
                      <a:lnTo>
                        <a:pt x="478" y="164"/>
                      </a:lnTo>
                      <a:lnTo>
                        <a:pt x="464" y="157"/>
                      </a:lnTo>
                      <a:lnTo>
                        <a:pt x="465" y="132"/>
                      </a:lnTo>
                      <a:lnTo>
                        <a:pt x="492" y="109"/>
                      </a:lnTo>
                      <a:lnTo>
                        <a:pt x="525" y="140"/>
                      </a:lnTo>
                      <a:lnTo>
                        <a:pt x="547" y="147"/>
                      </a:lnTo>
                      <a:lnTo>
                        <a:pt x="544" y="166"/>
                      </a:lnTo>
                      <a:lnTo>
                        <a:pt x="574" y="176"/>
                      </a:lnTo>
                      <a:lnTo>
                        <a:pt x="573" y="190"/>
                      </a:lnTo>
                      <a:lnTo>
                        <a:pt x="563" y="179"/>
                      </a:lnTo>
                      <a:lnTo>
                        <a:pt x="554" y="186"/>
                      </a:lnTo>
                      <a:lnTo>
                        <a:pt x="588" y="293"/>
                      </a:lnTo>
                      <a:lnTo>
                        <a:pt x="627" y="306"/>
                      </a:lnTo>
                      <a:lnTo>
                        <a:pt x="640" y="318"/>
                      </a:lnTo>
                      <a:lnTo>
                        <a:pt x="641" y="337"/>
                      </a:lnTo>
                      <a:lnTo>
                        <a:pt x="659" y="338"/>
                      </a:lnTo>
                      <a:lnTo>
                        <a:pt x="677" y="361"/>
                      </a:lnTo>
                      <a:lnTo>
                        <a:pt x="704" y="373"/>
                      </a:lnTo>
                      <a:lnTo>
                        <a:pt x="723" y="357"/>
                      </a:lnTo>
                      <a:lnTo>
                        <a:pt x="734" y="374"/>
                      </a:lnTo>
                      <a:lnTo>
                        <a:pt x="778" y="373"/>
                      </a:lnTo>
                      <a:lnTo>
                        <a:pt x="797" y="395"/>
                      </a:lnTo>
                      <a:lnTo>
                        <a:pt x="810" y="393"/>
                      </a:lnTo>
                      <a:lnTo>
                        <a:pt x="814" y="352"/>
                      </a:lnTo>
                      <a:lnTo>
                        <a:pt x="844" y="332"/>
                      </a:lnTo>
                      <a:lnTo>
                        <a:pt x="840" y="320"/>
                      </a:lnTo>
                      <a:lnTo>
                        <a:pt x="821" y="318"/>
                      </a:lnTo>
                      <a:lnTo>
                        <a:pt x="821" y="310"/>
                      </a:lnTo>
                      <a:lnTo>
                        <a:pt x="840" y="299"/>
                      </a:lnTo>
                      <a:lnTo>
                        <a:pt x="822" y="299"/>
                      </a:lnTo>
                      <a:lnTo>
                        <a:pt x="821" y="280"/>
                      </a:lnTo>
                      <a:lnTo>
                        <a:pt x="831" y="269"/>
                      </a:lnTo>
                      <a:lnTo>
                        <a:pt x="848" y="269"/>
                      </a:lnTo>
                      <a:lnTo>
                        <a:pt x="840" y="241"/>
                      </a:lnTo>
                      <a:lnTo>
                        <a:pt x="867" y="241"/>
                      </a:lnTo>
                      <a:lnTo>
                        <a:pt x="865" y="279"/>
                      </a:lnTo>
                      <a:lnTo>
                        <a:pt x="899" y="280"/>
                      </a:lnTo>
                      <a:lnTo>
                        <a:pt x="921" y="324"/>
                      </a:lnTo>
                      <a:lnTo>
                        <a:pt x="921" y="349"/>
                      </a:lnTo>
                      <a:lnTo>
                        <a:pt x="940" y="380"/>
                      </a:lnTo>
                      <a:lnTo>
                        <a:pt x="949" y="373"/>
                      </a:lnTo>
                      <a:lnTo>
                        <a:pt x="961" y="380"/>
                      </a:lnTo>
                      <a:lnTo>
                        <a:pt x="942" y="406"/>
                      </a:lnTo>
                      <a:lnTo>
                        <a:pt x="966" y="411"/>
                      </a:lnTo>
                      <a:lnTo>
                        <a:pt x="935" y="478"/>
                      </a:lnTo>
                      <a:lnTo>
                        <a:pt x="947" y="513"/>
                      </a:lnTo>
                      <a:lnTo>
                        <a:pt x="942" y="535"/>
                      </a:lnTo>
                      <a:lnTo>
                        <a:pt x="966" y="585"/>
                      </a:lnTo>
                      <a:lnTo>
                        <a:pt x="959" y="662"/>
                      </a:lnTo>
                      <a:lnTo>
                        <a:pt x="940" y="741"/>
                      </a:lnTo>
                    </a:path>
                  </a:pathLst>
                </a:custGeom>
                <a:solidFill>
                  <a:schemeClr val="bg1">
                    <a:lumMod val="95000"/>
                  </a:schemeClr>
                </a:solidFill>
                <a:ln w="3175" cap="rnd"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97" name="Group 96"/>
                <p:cNvGrpSpPr/>
                <p:nvPr/>
              </p:nvGrpSpPr>
              <p:grpSpPr>
                <a:xfrm>
                  <a:off x="5934968" y="2024997"/>
                  <a:ext cx="3254331" cy="2967242"/>
                  <a:chOff x="5934968" y="2024997"/>
                  <a:chExt cx="3254331" cy="2967242"/>
                </a:xfrm>
              </p:grpSpPr>
              <p:sp>
                <p:nvSpPr>
                  <p:cNvPr id="98" name="Rectangle 97"/>
                  <p:cNvSpPr>
                    <a:spLocks noChangeArrowheads="1"/>
                  </p:cNvSpPr>
                  <p:nvPr/>
                </p:nvSpPr>
                <p:spPr bwMode="gray">
                  <a:xfrm>
                    <a:off x="6074006" y="3914954"/>
                    <a:ext cx="115116" cy="115116"/>
                  </a:xfrm>
                  <a:prstGeom prst="rect">
                    <a:avLst/>
                  </a:prstGeom>
                  <a:solidFill>
                    <a:srgbClr val="43B02A"/>
                  </a:solidFill>
                  <a:ln w="12700">
                    <a:noFill/>
                    <a:round/>
                    <a:headEnd/>
                    <a:tailEnd/>
                  </a:ln>
                  <a:effectLst/>
                </p:spPr>
                <p:txBody>
                  <a:bodyPr wrap="none" anchor="ctr"/>
                  <a:lstStyle/>
                  <a:p>
                    <a:pPr algn="ctr"/>
                    <a:endParaRPr lang="en-US" sz="1200" dirty="0"/>
                  </a:p>
                </p:txBody>
              </p:sp>
              <p:sp>
                <p:nvSpPr>
                  <p:cNvPr id="99" name="Rectangle 5"/>
                  <p:cNvSpPr>
                    <a:spLocks noChangeArrowheads="1"/>
                  </p:cNvSpPr>
                  <p:nvPr/>
                </p:nvSpPr>
                <p:spPr bwMode="gray">
                  <a:xfrm>
                    <a:off x="5934968" y="3753529"/>
                    <a:ext cx="331822" cy="107722"/>
                  </a:xfrm>
                  <a:prstGeom prst="rect">
                    <a:avLst/>
                  </a:prstGeom>
                  <a:noFill/>
                  <a:ln w="12700">
                    <a:noFill/>
                    <a:miter lim="800000"/>
                    <a:headEnd/>
                    <a:tailEnd/>
                  </a:ln>
                  <a:effectLst/>
                </p:spPr>
                <p:txBody>
                  <a:bodyPr wrap="none" lIns="0" tIns="0" rIns="0" bIns="0">
                    <a:spAutoFit/>
                  </a:bodyPr>
                  <a:lstStyle/>
                  <a:p>
                    <a:pPr algn="ctr" defTabSz="1339850"/>
                    <a:r>
                      <a:rPr lang="en-US" sz="700" dirty="0"/>
                      <a:t>Jessore</a:t>
                    </a:r>
                  </a:p>
                </p:txBody>
              </p:sp>
              <p:sp>
                <p:nvSpPr>
                  <p:cNvPr id="102" name="Rectangle 5"/>
                  <p:cNvSpPr>
                    <a:spLocks noChangeArrowheads="1"/>
                  </p:cNvSpPr>
                  <p:nvPr/>
                </p:nvSpPr>
                <p:spPr bwMode="gray">
                  <a:xfrm>
                    <a:off x="6135969" y="4343162"/>
                    <a:ext cx="442391" cy="134824"/>
                  </a:xfrm>
                  <a:prstGeom prst="rect">
                    <a:avLst/>
                  </a:prstGeom>
                  <a:noFill/>
                  <a:ln w="12700">
                    <a:noFill/>
                    <a:miter lim="800000"/>
                    <a:headEnd/>
                    <a:tailEnd/>
                  </a:ln>
                  <a:effectLst/>
                </p:spPr>
                <p:txBody>
                  <a:bodyPr wrap="none" lIns="0" tIns="0" rIns="0" bIns="0">
                    <a:spAutoFit/>
                  </a:bodyPr>
                  <a:lstStyle/>
                  <a:p>
                    <a:pPr algn="ctr" defTabSz="1339850"/>
                    <a:r>
                      <a:rPr lang="en-US" sz="800" b="1" dirty="0"/>
                      <a:t>Khulna</a:t>
                    </a:r>
                  </a:p>
                </p:txBody>
              </p:sp>
              <p:sp>
                <p:nvSpPr>
                  <p:cNvPr id="104" name="Rectangle 103"/>
                  <p:cNvSpPr>
                    <a:spLocks noChangeArrowheads="1"/>
                  </p:cNvSpPr>
                  <p:nvPr/>
                </p:nvSpPr>
                <p:spPr bwMode="gray">
                  <a:xfrm>
                    <a:off x="7310039" y="4641834"/>
                    <a:ext cx="115116" cy="115116"/>
                  </a:xfrm>
                  <a:prstGeom prst="rect">
                    <a:avLst/>
                  </a:prstGeom>
                  <a:solidFill>
                    <a:srgbClr val="FF0000"/>
                  </a:solidFill>
                  <a:ln w="12700">
                    <a:noFill/>
                    <a:round/>
                    <a:headEnd/>
                    <a:tailEnd/>
                  </a:ln>
                  <a:effectLst/>
                </p:spPr>
                <p:txBody>
                  <a:bodyPr wrap="none" anchor="ctr"/>
                  <a:lstStyle/>
                  <a:p>
                    <a:pPr algn="ctr"/>
                    <a:endParaRPr lang="en-US" sz="1200" dirty="0"/>
                  </a:p>
                </p:txBody>
              </p:sp>
              <p:sp>
                <p:nvSpPr>
                  <p:cNvPr id="105" name="Rectangle 5"/>
                  <p:cNvSpPr>
                    <a:spLocks noChangeArrowheads="1"/>
                  </p:cNvSpPr>
                  <p:nvPr/>
                </p:nvSpPr>
                <p:spPr bwMode="gray">
                  <a:xfrm>
                    <a:off x="7123450" y="4771919"/>
                    <a:ext cx="532197" cy="107722"/>
                  </a:xfrm>
                  <a:prstGeom prst="rect">
                    <a:avLst/>
                  </a:prstGeom>
                  <a:noFill/>
                  <a:ln w="12700">
                    <a:noFill/>
                    <a:miter lim="800000"/>
                    <a:headEnd/>
                    <a:tailEnd/>
                  </a:ln>
                  <a:effectLst/>
                </p:spPr>
                <p:txBody>
                  <a:bodyPr wrap="none" lIns="0" tIns="0" rIns="0" bIns="0">
                    <a:spAutoFit/>
                  </a:bodyPr>
                  <a:lstStyle/>
                  <a:p>
                    <a:pPr algn="ctr" defTabSz="1339850"/>
                    <a:r>
                      <a:rPr lang="en-US" sz="700" dirty="0"/>
                      <a:t>Shahjibazar</a:t>
                    </a:r>
                  </a:p>
                </p:txBody>
              </p:sp>
              <p:sp>
                <p:nvSpPr>
                  <p:cNvPr id="106" name="Rectangle 5"/>
                  <p:cNvSpPr>
                    <a:spLocks noChangeArrowheads="1"/>
                  </p:cNvSpPr>
                  <p:nvPr/>
                </p:nvSpPr>
                <p:spPr bwMode="gray">
                  <a:xfrm>
                    <a:off x="8088545" y="4884517"/>
                    <a:ext cx="283732" cy="107722"/>
                  </a:xfrm>
                  <a:prstGeom prst="rect">
                    <a:avLst/>
                  </a:prstGeom>
                  <a:noFill/>
                  <a:ln w="12700">
                    <a:noFill/>
                    <a:miter lim="800000"/>
                    <a:headEnd/>
                    <a:tailEnd/>
                  </a:ln>
                  <a:effectLst/>
                </p:spPr>
                <p:txBody>
                  <a:bodyPr wrap="none" lIns="0" tIns="0" rIns="0" bIns="0">
                    <a:spAutoFit/>
                  </a:bodyPr>
                  <a:lstStyle/>
                  <a:p>
                    <a:pPr algn="ctr" defTabSz="1339850"/>
                    <a:r>
                      <a:rPr lang="en-US" sz="700" dirty="0"/>
                      <a:t>Sangu</a:t>
                    </a:r>
                  </a:p>
                </p:txBody>
              </p:sp>
              <p:sp>
                <p:nvSpPr>
                  <p:cNvPr id="107" name="Rectangle 106"/>
                  <p:cNvSpPr>
                    <a:spLocks noChangeArrowheads="1"/>
                  </p:cNvSpPr>
                  <p:nvPr/>
                </p:nvSpPr>
                <p:spPr bwMode="gray">
                  <a:xfrm>
                    <a:off x="7837407" y="4865731"/>
                    <a:ext cx="115116" cy="115116"/>
                  </a:xfrm>
                  <a:prstGeom prst="rect">
                    <a:avLst/>
                  </a:prstGeom>
                  <a:solidFill>
                    <a:srgbClr val="FF0000"/>
                  </a:solidFill>
                  <a:ln w="12700">
                    <a:noFill/>
                    <a:round/>
                    <a:headEnd/>
                    <a:tailEnd/>
                  </a:ln>
                  <a:effectLst/>
                </p:spPr>
                <p:txBody>
                  <a:bodyPr wrap="none" anchor="ctr"/>
                  <a:lstStyle/>
                  <a:p>
                    <a:pPr algn="ctr"/>
                    <a:endParaRPr lang="en-US" sz="1200" dirty="0"/>
                  </a:p>
                </p:txBody>
              </p:sp>
              <p:sp>
                <p:nvSpPr>
                  <p:cNvPr id="108" name="Rectangle 5"/>
                  <p:cNvSpPr>
                    <a:spLocks noChangeArrowheads="1"/>
                  </p:cNvSpPr>
                  <p:nvPr/>
                </p:nvSpPr>
                <p:spPr bwMode="gray">
                  <a:xfrm>
                    <a:off x="8352942" y="4584275"/>
                    <a:ext cx="693428" cy="134824"/>
                  </a:xfrm>
                  <a:prstGeom prst="rect">
                    <a:avLst/>
                  </a:prstGeom>
                  <a:noFill/>
                  <a:ln w="12700">
                    <a:noFill/>
                    <a:miter lim="800000"/>
                    <a:headEnd/>
                    <a:tailEnd/>
                  </a:ln>
                  <a:effectLst/>
                </p:spPr>
                <p:txBody>
                  <a:bodyPr wrap="none" lIns="0" tIns="0" rIns="0" bIns="0">
                    <a:spAutoFit/>
                  </a:bodyPr>
                  <a:lstStyle/>
                  <a:p>
                    <a:pPr algn="ctr" defTabSz="1339850"/>
                    <a:r>
                      <a:rPr lang="en-US" sz="800" b="1" dirty="0"/>
                      <a:t>Chittagong</a:t>
                    </a:r>
                  </a:p>
                </p:txBody>
              </p:sp>
              <p:cxnSp>
                <p:nvCxnSpPr>
                  <p:cNvPr id="109" name="Straight Connector 108"/>
                  <p:cNvCxnSpPr/>
                  <p:nvPr/>
                </p:nvCxnSpPr>
                <p:spPr>
                  <a:xfrm>
                    <a:off x="6150653" y="4020082"/>
                    <a:ext cx="206512" cy="227003"/>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V="1">
                    <a:off x="7952523" y="4771919"/>
                    <a:ext cx="226277" cy="112599"/>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a:endCxn id="225" idx="2"/>
                  </p:cNvCxnSpPr>
                  <p:nvPr/>
                </p:nvCxnSpPr>
                <p:spPr>
                  <a:xfrm flipV="1">
                    <a:off x="8162500" y="4721517"/>
                    <a:ext cx="101790" cy="60556"/>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112" name="Rectangle 5"/>
                  <p:cNvSpPr>
                    <a:spLocks noChangeArrowheads="1"/>
                  </p:cNvSpPr>
                  <p:nvPr/>
                </p:nvSpPr>
                <p:spPr bwMode="gray">
                  <a:xfrm>
                    <a:off x="7207522" y="3959833"/>
                    <a:ext cx="509755" cy="107722"/>
                  </a:xfrm>
                  <a:prstGeom prst="rect">
                    <a:avLst/>
                  </a:prstGeom>
                  <a:noFill/>
                  <a:ln w="12700">
                    <a:noFill/>
                    <a:miter lim="800000"/>
                    <a:headEnd/>
                    <a:tailEnd/>
                  </a:ln>
                  <a:effectLst/>
                </p:spPr>
                <p:txBody>
                  <a:bodyPr wrap="none" lIns="0" tIns="0" rIns="0" bIns="0">
                    <a:spAutoFit/>
                  </a:bodyPr>
                  <a:lstStyle/>
                  <a:p>
                    <a:pPr algn="ctr" defTabSz="1339850"/>
                    <a:r>
                      <a:rPr lang="en-US" sz="700" dirty="0"/>
                      <a:t>Begumganj</a:t>
                    </a:r>
                  </a:p>
                </p:txBody>
              </p:sp>
              <p:sp>
                <p:nvSpPr>
                  <p:cNvPr id="113" name="Rectangle 112"/>
                  <p:cNvSpPr>
                    <a:spLocks noChangeArrowheads="1"/>
                  </p:cNvSpPr>
                  <p:nvPr/>
                </p:nvSpPr>
                <p:spPr bwMode="gray">
                  <a:xfrm>
                    <a:off x="7858871" y="4164571"/>
                    <a:ext cx="115116" cy="115116"/>
                  </a:xfrm>
                  <a:prstGeom prst="rect">
                    <a:avLst/>
                  </a:prstGeom>
                  <a:solidFill>
                    <a:srgbClr val="FF0000"/>
                  </a:solidFill>
                  <a:ln w="12700">
                    <a:noFill/>
                    <a:round/>
                    <a:headEnd/>
                    <a:tailEnd/>
                  </a:ln>
                  <a:effectLst/>
                </p:spPr>
                <p:txBody>
                  <a:bodyPr wrap="none" anchor="ctr"/>
                  <a:lstStyle/>
                  <a:p>
                    <a:pPr algn="ctr"/>
                    <a:endParaRPr lang="en-US" sz="1200" dirty="0"/>
                  </a:p>
                </p:txBody>
              </p:sp>
              <p:sp>
                <p:nvSpPr>
                  <p:cNvPr id="114" name="Rectangle 113"/>
                  <p:cNvSpPr>
                    <a:spLocks noChangeArrowheads="1"/>
                  </p:cNvSpPr>
                  <p:nvPr/>
                </p:nvSpPr>
                <p:spPr bwMode="gray">
                  <a:xfrm>
                    <a:off x="8280243" y="4225779"/>
                    <a:ext cx="115116" cy="115116"/>
                  </a:xfrm>
                  <a:prstGeom prst="rect">
                    <a:avLst/>
                  </a:prstGeom>
                  <a:solidFill>
                    <a:srgbClr val="FF0000"/>
                  </a:solidFill>
                  <a:ln w="12700">
                    <a:noFill/>
                    <a:round/>
                    <a:headEnd/>
                    <a:tailEnd/>
                  </a:ln>
                  <a:effectLst/>
                </p:spPr>
                <p:txBody>
                  <a:bodyPr wrap="none" anchor="ctr"/>
                  <a:lstStyle/>
                  <a:p>
                    <a:pPr algn="ctr"/>
                    <a:endParaRPr lang="en-US" sz="1200" dirty="0"/>
                  </a:p>
                </p:txBody>
              </p:sp>
              <p:sp>
                <p:nvSpPr>
                  <p:cNvPr id="116" name="Rectangle 115"/>
                  <p:cNvSpPr>
                    <a:spLocks noChangeArrowheads="1"/>
                  </p:cNvSpPr>
                  <p:nvPr/>
                </p:nvSpPr>
                <p:spPr bwMode="gray">
                  <a:xfrm>
                    <a:off x="7657882" y="4130748"/>
                    <a:ext cx="115116" cy="115116"/>
                  </a:xfrm>
                  <a:prstGeom prst="rect">
                    <a:avLst/>
                  </a:prstGeom>
                  <a:solidFill>
                    <a:srgbClr val="FF0000"/>
                  </a:solidFill>
                  <a:ln w="12700">
                    <a:noFill/>
                    <a:round/>
                    <a:headEnd/>
                    <a:tailEnd/>
                  </a:ln>
                  <a:effectLst/>
                </p:spPr>
                <p:txBody>
                  <a:bodyPr wrap="none" anchor="ctr"/>
                  <a:lstStyle/>
                  <a:p>
                    <a:pPr algn="ctr"/>
                    <a:endParaRPr lang="en-US" sz="1200" dirty="0"/>
                  </a:p>
                </p:txBody>
              </p:sp>
              <p:sp>
                <p:nvSpPr>
                  <p:cNvPr id="117" name="Rectangle 116"/>
                  <p:cNvSpPr>
                    <a:spLocks noChangeArrowheads="1"/>
                  </p:cNvSpPr>
                  <p:nvPr/>
                </p:nvSpPr>
                <p:spPr bwMode="gray">
                  <a:xfrm>
                    <a:off x="7586746" y="4255953"/>
                    <a:ext cx="115116" cy="115116"/>
                  </a:xfrm>
                  <a:prstGeom prst="rect">
                    <a:avLst/>
                  </a:prstGeom>
                  <a:solidFill>
                    <a:srgbClr val="43B02A"/>
                  </a:solidFill>
                  <a:ln w="12700">
                    <a:noFill/>
                    <a:round/>
                    <a:headEnd/>
                    <a:tailEnd/>
                  </a:ln>
                  <a:effectLst/>
                </p:spPr>
                <p:txBody>
                  <a:bodyPr wrap="none" anchor="ctr"/>
                  <a:lstStyle/>
                  <a:p>
                    <a:pPr algn="ctr"/>
                    <a:endParaRPr lang="en-US" sz="1200" dirty="0"/>
                  </a:p>
                </p:txBody>
              </p:sp>
              <p:sp>
                <p:nvSpPr>
                  <p:cNvPr id="121" name="Rectangle 5"/>
                  <p:cNvSpPr>
                    <a:spLocks noChangeArrowheads="1"/>
                  </p:cNvSpPr>
                  <p:nvPr/>
                </p:nvSpPr>
                <p:spPr bwMode="gray">
                  <a:xfrm>
                    <a:off x="7435800" y="4320761"/>
                    <a:ext cx="387927" cy="107722"/>
                  </a:xfrm>
                  <a:prstGeom prst="rect">
                    <a:avLst/>
                  </a:prstGeom>
                  <a:noFill/>
                  <a:ln w="12700">
                    <a:noFill/>
                    <a:miter lim="800000"/>
                    <a:headEnd/>
                    <a:tailEnd/>
                  </a:ln>
                  <a:effectLst/>
                </p:spPr>
                <p:txBody>
                  <a:bodyPr wrap="none" lIns="0" tIns="0" rIns="0" bIns="0">
                    <a:spAutoFit/>
                  </a:bodyPr>
                  <a:lstStyle/>
                  <a:p>
                    <a:pPr algn="ctr" defTabSz="1339850"/>
                    <a:r>
                      <a:rPr lang="en-US" sz="700" dirty="0"/>
                      <a:t>Noakhali</a:t>
                    </a:r>
                  </a:p>
                </p:txBody>
              </p:sp>
              <p:sp>
                <p:nvSpPr>
                  <p:cNvPr id="122" name="Rectangle 5"/>
                  <p:cNvSpPr>
                    <a:spLocks noChangeArrowheads="1"/>
                  </p:cNvSpPr>
                  <p:nvPr/>
                </p:nvSpPr>
                <p:spPr bwMode="gray">
                  <a:xfrm>
                    <a:off x="8012326" y="4252096"/>
                    <a:ext cx="184346" cy="107722"/>
                  </a:xfrm>
                  <a:prstGeom prst="rect">
                    <a:avLst/>
                  </a:prstGeom>
                  <a:noFill/>
                  <a:ln w="12700">
                    <a:noFill/>
                    <a:miter lim="800000"/>
                    <a:headEnd/>
                    <a:tailEnd/>
                  </a:ln>
                  <a:effectLst/>
                </p:spPr>
                <p:txBody>
                  <a:bodyPr wrap="none" lIns="0" tIns="0" rIns="0" bIns="0">
                    <a:spAutoFit/>
                  </a:bodyPr>
                  <a:lstStyle/>
                  <a:p>
                    <a:pPr algn="ctr" defTabSz="1339850"/>
                    <a:r>
                      <a:rPr lang="en-US" sz="700" dirty="0"/>
                      <a:t>Feni</a:t>
                    </a:r>
                  </a:p>
                </p:txBody>
              </p:sp>
              <p:sp>
                <p:nvSpPr>
                  <p:cNvPr id="123" name="Rectangle 5"/>
                  <p:cNvSpPr>
                    <a:spLocks noChangeArrowheads="1"/>
                  </p:cNvSpPr>
                  <p:nvPr/>
                </p:nvSpPr>
                <p:spPr bwMode="gray">
                  <a:xfrm>
                    <a:off x="8120867" y="4087628"/>
                    <a:ext cx="460062" cy="107722"/>
                  </a:xfrm>
                  <a:prstGeom prst="rect">
                    <a:avLst/>
                  </a:prstGeom>
                  <a:noFill/>
                  <a:ln w="12700">
                    <a:noFill/>
                    <a:miter lim="800000"/>
                    <a:headEnd/>
                    <a:tailEnd/>
                  </a:ln>
                  <a:effectLst/>
                </p:spPr>
                <p:txBody>
                  <a:bodyPr wrap="none" lIns="0" tIns="0" rIns="0" bIns="0">
                    <a:spAutoFit/>
                  </a:bodyPr>
                  <a:lstStyle/>
                  <a:p>
                    <a:pPr algn="ctr" defTabSz="1339850"/>
                    <a:r>
                      <a:rPr lang="en-US" sz="700" dirty="0"/>
                      <a:t>Semutung</a:t>
                    </a:r>
                  </a:p>
                </p:txBody>
              </p:sp>
              <p:cxnSp>
                <p:nvCxnSpPr>
                  <p:cNvPr id="124" name="Elbow Connector 123"/>
                  <p:cNvCxnSpPr>
                    <a:stCxn id="226" idx="1"/>
                    <a:endCxn id="116" idx="3"/>
                  </p:cNvCxnSpPr>
                  <p:nvPr/>
                </p:nvCxnSpPr>
                <p:spPr>
                  <a:xfrm rot="10800000" flipV="1">
                    <a:off x="7772998" y="4087628"/>
                    <a:ext cx="87002" cy="100678"/>
                  </a:xfrm>
                  <a:prstGeom prst="bentConnector3">
                    <a:avLst>
                      <a:gd name="adj1" fmla="val 50000"/>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V="1">
                    <a:off x="7453470" y="4195990"/>
                    <a:ext cx="198106" cy="980"/>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endCxn id="117" idx="0"/>
                  </p:cNvCxnSpPr>
                  <p:nvPr/>
                </p:nvCxnSpPr>
                <p:spPr>
                  <a:xfrm flipH="1">
                    <a:off x="7644304" y="4195990"/>
                    <a:ext cx="593" cy="59963"/>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7547986" y="4129467"/>
                    <a:ext cx="38760" cy="58549"/>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H="1">
                    <a:off x="8138378" y="4511007"/>
                    <a:ext cx="375067" cy="11350"/>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129" name="Rectangle 128"/>
                  <p:cNvSpPr>
                    <a:spLocks noChangeArrowheads="1"/>
                  </p:cNvSpPr>
                  <p:nvPr/>
                </p:nvSpPr>
                <p:spPr bwMode="gray">
                  <a:xfrm>
                    <a:off x="7225191" y="3867617"/>
                    <a:ext cx="115116" cy="115116"/>
                  </a:xfrm>
                  <a:prstGeom prst="rect">
                    <a:avLst/>
                  </a:prstGeom>
                  <a:solidFill>
                    <a:srgbClr val="43B02A"/>
                  </a:solidFill>
                  <a:ln w="12700">
                    <a:noFill/>
                    <a:round/>
                    <a:headEnd/>
                    <a:tailEnd/>
                  </a:ln>
                  <a:effectLst/>
                </p:spPr>
                <p:txBody>
                  <a:bodyPr wrap="none" anchor="ctr"/>
                  <a:lstStyle/>
                  <a:p>
                    <a:pPr algn="ctr"/>
                    <a:endParaRPr lang="en-US" sz="1200" dirty="0"/>
                  </a:p>
                </p:txBody>
              </p:sp>
              <p:sp>
                <p:nvSpPr>
                  <p:cNvPr id="130" name="Rectangle 5"/>
                  <p:cNvSpPr>
                    <a:spLocks noChangeArrowheads="1"/>
                  </p:cNvSpPr>
                  <p:nvPr/>
                </p:nvSpPr>
                <p:spPr bwMode="gray">
                  <a:xfrm>
                    <a:off x="6820713" y="3721517"/>
                    <a:ext cx="436017" cy="107722"/>
                  </a:xfrm>
                  <a:prstGeom prst="rect">
                    <a:avLst/>
                  </a:prstGeom>
                  <a:noFill/>
                  <a:ln w="12700">
                    <a:noFill/>
                    <a:miter lim="800000"/>
                    <a:headEnd/>
                    <a:tailEnd/>
                  </a:ln>
                  <a:effectLst/>
                </p:spPr>
                <p:txBody>
                  <a:bodyPr wrap="none" lIns="0" tIns="0" rIns="0" bIns="0">
                    <a:spAutoFit/>
                  </a:bodyPr>
                  <a:lstStyle/>
                  <a:p>
                    <a:pPr algn="ctr" defTabSz="1339850"/>
                    <a:r>
                      <a:rPr lang="en-US" sz="700" dirty="0"/>
                      <a:t>Chandpur</a:t>
                    </a:r>
                  </a:p>
                </p:txBody>
              </p:sp>
              <p:cxnSp>
                <p:nvCxnSpPr>
                  <p:cNvPr id="131" name="Straight Connector 130"/>
                  <p:cNvCxnSpPr/>
                  <p:nvPr/>
                </p:nvCxnSpPr>
                <p:spPr>
                  <a:xfrm flipH="1" flipV="1">
                    <a:off x="7567366" y="3766029"/>
                    <a:ext cx="298489" cy="305476"/>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a:stCxn id="129" idx="3"/>
                  </p:cNvCxnSpPr>
                  <p:nvPr/>
                </p:nvCxnSpPr>
                <p:spPr>
                  <a:xfrm>
                    <a:off x="7340307" y="3925175"/>
                    <a:ext cx="375133" cy="9213"/>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H="1" flipV="1">
                    <a:off x="7458106" y="3589142"/>
                    <a:ext cx="121062" cy="193801"/>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flipH="1">
                    <a:off x="7575899" y="3737833"/>
                    <a:ext cx="133641" cy="11173"/>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135" name="Rectangle 134"/>
                  <p:cNvSpPr>
                    <a:spLocks noChangeArrowheads="1"/>
                  </p:cNvSpPr>
                  <p:nvPr/>
                </p:nvSpPr>
                <p:spPr bwMode="gray">
                  <a:xfrm>
                    <a:off x="7690251" y="3637677"/>
                    <a:ext cx="115116" cy="115116"/>
                  </a:xfrm>
                  <a:prstGeom prst="rect">
                    <a:avLst/>
                  </a:prstGeom>
                  <a:solidFill>
                    <a:srgbClr val="43B02A"/>
                  </a:solidFill>
                  <a:ln w="12700">
                    <a:noFill/>
                    <a:round/>
                    <a:headEnd/>
                    <a:tailEnd/>
                  </a:ln>
                  <a:effectLst/>
                </p:spPr>
                <p:txBody>
                  <a:bodyPr wrap="none" anchor="ctr"/>
                  <a:lstStyle/>
                  <a:p>
                    <a:pPr algn="ctr"/>
                    <a:endParaRPr lang="en-US" sz="1200" dirty="0"/>
                  </a:p>
                </p:txBody>
              </p:sp>
              <p:sp>
                <p:nvSpPr>
                  <p:cNvPr id="136" name="Rectangle 5"/>
                  <p:cNvSpPr>
                    <a:spLocks noChangeArrowheads="1"/>
                  </p:cNvSpPr>
                  <p:nvPr/>
                </p:nvSpPr>
                <p:spPr bwMode="gray">
                  <a:xfrm>
                    <a:off x="7985684" y="3599459"/>
                    <a:ext cx="330219" cy="107722"/>
                  </a:xfrm>
                  <a:prstGeom prst="rect">
                    <a:avLst/>
                  </a:prstGeom>
                  <a:noFill/>
                  <a:ln w="12700">
                    <a:noFill/>
                    <a:miter lim="800000"/>
                    <a:headEnd/>
                    <a:tailEnd/>
                  </a:ln>
                  <a:effectLst/>
                </p:spPr>
                <p:txBody>
                  <a:bodyPr wrap="none" lIns="0" tIns="0" rIns="0" bIns="0">
                    <a:spAutoFit/>
                  </a:bodyPr>
                  <a:lstStyle/>
                  <a:p>
                    <a:pPr algn="ctr" defTabSz="1339850"/>
                    <a:r>
                      <a:rPr lang="en-US" sz="700" dirty="0"/>
                      <a:t>Comilla</a:t>
                    </a:r>
                  </a:p>
                </p:txBody>
              </p:sp>
              <p:sp>
                <p:nvSpPr>
                  <p:cNvPr id="137" name="Rectangle 136"/>
                  <p:cNvSpPr>
                    <a:spLocks noChangeArrowheads="1"/>
                  </p:cNvSpPr>
                  <p:nvPr/>
                </p:nvSpPr>
                <p:spPr bwMode="gray">
                  <a:xfrm>
                    <a:off x="7643446" y="3479285"/>
                    <a:ext cx="115116" cy="115116"/>
                  </a:xfrm>
                  <a:prstGeom prst="rect">
                    <a:avLst/>
                  </a:prstGeom>
                  <a:solidFill>
                    <a:srgbClr val="FF0000"/>
                  </a:solidFill>
                  <a:ln w="12700">
                    <a:noFill/>
                    <a:round/>
                    <a:headEnd/>
                    <a:tailEnd/>
                  </a:ln>
                  <a:effectLst/>
                </p:spPr>
                <p:txBody>
                  <a:bodyPr wrap="none" anchor="ctr"/>
                  <a:lstStyle/>
                  <a:p>
                    <a:pPr algn="ctr"/>
                    <a:endParaRPr lang="en-US" sz="1200" dirty="0"/>
                  </a:p>
                </p:txBody>
              </p:sp>
              <p:sp>
                <p:nvSpPr>
                  <p:cNvPr id="138" name="Rectangle 5"/>
                  <p:cNvSpPr>
                    <a:spLocks noChangeArrowheads="1"/>
                  </p:cNvSpPr>
                  <p:nvPr/>
                </p:nvSpPr>
                <p:spPr bwMode="gray">
                  <a:xfrm>
                    <a:off x="7851203" y="3436883"/>
                    <a:ext cx="484107" cy="107722"/>
                  </a:xfrm>
                  <a:prstGeom prst="rect">
                    <a:avLst/>
                  </a:prstGeom>
                  <a:noFill/>
                  <a:ln w="12700">
                    <a:noFill/>
                    <a:miter lim="800000"/>
                    <a:headEnd/>
                    <a:tailEnd/>
                  </a:ln>
                  <a:effectLst/>
                </p:spPr>
                <p:txBody>
                  <a:bodyPr wrap="none" lIns="0" tIns="0" rIns="0" bIns="0">
                    <a:spAutoFit/>
                  </a:bodyPr>
                  <a:lstStyle/>
                  <a:p>
                    <a:pPr algn="ctr" defTabSz="1339850"/>
                    <a:r>
                      <a:rPr lang="en-US" sz="700" dirty="0"/>
                      <a:t>Salda Nadi</a:t>
                    </a:r>
                  </a:p>
                </p:txBody>
              </p:sp>
              <p:sp>
                <p:nvSpPr>
                  <p:cNvPr id="139" name="Rectangle 138"/>
                  <p:cNvSpPr>
                    <a:spLocks noChangeArrowheads="1"/>
                  </p:cNvSpPr>
                  <p:nvPr/>
                </p:nvSpPr>
                <p:spPr bwMode="gray">
                  <a:xfrm>
                    <a:off x="7364134" y="3480744"/>
                    <a:ext cx="115116" cy="115116"/>
                  </a:xfrm>
                  <a:prstGeom prst="rect">
                    <a:avLst/>
                  </a:prstGeom>
                  <a:solidFill>
                    <a:srgbClr val="FF0000"/>
                  </a:solidFill>
                  <a:ln w="12700">
                    <a:noFill/>
                    <a:round/>
                    <a:headEnd/>
                    <a:tailEnd/>
                  </a:ln>
                  <a:effectLst/>
                </p:spPr>
                <p:txBody>
                  <a:bodyPr wrap="none" anchor="ctr"/>
                  <a:lstStyle/>
                  <a:p>
                    <a:pPr algn="ctr"/>
                    <a:endParaRPr lang="en-US" sz="1200" dirty="0"/>
                  </a:p>
                </p:txBody>
              </p:sp>
              <p:sp>
                <p:nvSpPr>
                  <p:cNvPr id="140" name="Rectangle 5"/>
                  <p:cNvSpPr>
                    <a:spLocks noChangeArrowheads="1"/>
                  </p:cNvSpPr>
                  <p:nvPr/>
                </p:nvSpPr>
                <p:spPr bwMode="gray">
                  <a:xfrm>
                    <a:off x="7620457" y="3315949"/>
                    <a:ext cx="351057" cy="107722"/>
                  </a:xfrm>
                  <a:prstGeom prst="rect">
                    <a:avLst/>
                  </a:prstGeom>
                  <a:noFill/>
                  <a:ln w="12700">
                    <a:noFill/>
                    <a:miter lim="800000"/>
                    <a:headEnd/>
                    <a:tailEnd/>
                  </a:ln>
                  <a:effectLst/>
                </p:spPr>
                <p:txBody>
                  <a:bodyPr wrap="none" lIns="0" tIns="0" rIns="0" bIns="0">
                    <a:spAutoFit/>
                  </a:bodyPr>
                  <a:lstStyle/>
                  <a:p>
                    <a:pPr algn="ctr" defTabSz="1339850"/>
                    <a:r>
                      <a:rPr lang="en-US" sz="700" dirty="0"/>
                      <a:t>Meghna</a:t>
                    </a:r>
                  </a:p>
                </p:txBody>
              </p:sp>
              <p:sp>
                <p:nvSpPr>
                  <p:cNvPr id="141" name="Rectangle 5"/>
                  <p:cNvSpPr>
                    <a:spLocks noChangeArrowheads="1"/>
                  </p:cNvSpPr>
                  <p:nvPr/>
                </p:nvSpPr>
                <p:spPr bwMode="gray">
                  <a:xfrm>
                    <a:off x="7187257" y="3724457"/>
                    <a:ext cx="428001" cy="107722"/>
                  </a:xfrm>
                  <a:prstGeom prst="rect">
                    <a:avLst/>
                  </a:prstGeom>
                  <a:noFill/>
                  <a:ln w="12700">
                    <a:noFill/>
                    <a:miter lim="800000"/>
                    <a:headEnd/>
                    <a:tailEnd/>
                  </a:ln>
                  <a:effectLst/>
                </p:spPr>
                <p:txBody>
                  <a:bodyPr wrap="none" lIns="0" tIns="0" rIns="0" bIns="0">
                    <a:spAutoFit/>
                  </a:bodyPr>
                  <a:lstStyle/>
                  <a:p>
                    <a:pPr algn="ctr" defTabSz="1339850"/>
                    <a:r>
                      <a:rPr lang="en-US" sz="700" dirty="0"/>
                      <a:t>Bakrabad</a:t>
                    </a:r>
                  </a:p>
                </p:txBody>
              </p:sp>
              <p:sp>
                <p:nvSpPr>
                  <p:cNvPr id="142" name="Rectangle 141"/>
                  <p:cNvSpPr>
                    <a:spLocks noChangeArrowheads="1"/>
                  </p:cNvSpPr>
                  <p:nvPr/>
                </p:nvSpPr>
                <p:spPr bwMode="gray">
                  <a:xfrm>
                    <a:off x="7584039" y="3220364"/>
                    <a:ext cx="115116" cy="115116"/>
                  </a:xfrm>
                  <a:prstGeom prst="rect">
                    <a:avLst/>
                  </a:prstGeom>
                  <a:solidFill>
                    <a:srgbClr val="FF0000"/>
                  </a:solidFill>
                  <a:ln w="12700">
                    <a:noFill/>
                    <a:round/>
                    <a:headEnd/>
                    <a:tailEnd/>
                  </a:ln>
                  <a:effectLst/>
                </p:spPr>
                <p:txBody>
                  <a:bodyPr wrap="none" anchor="ctr"/>
                  <a:lstStyle/>
                  <a:p>
                    <a:pPr algn="ctr"/>
                    <a:endParaRPr lang="en-US" sz="1200" dirty="0"/>
                  </a:p>
                </p:txBody>
              </p:sp>
              <p:sp>
                <p:nvSpPr>
                  <p:cNvPr id="143" name="Rectangle 5"/>
                  <p:cNvSpPr>
                    <a:spLocks noChangeArrowheads="1"/>
                  </p:cNvSpPr>
                  <p:nvPr/>
                </p:nvSpPr>
                <p:spPr bwMode="gray">
                  <a:xfrm>
                    <a:off x="7741193" y="3131520"/>
                    <a:ext cx="216405" cy="107722"/>
                  </a:xfrm>
                  <a:prstGeom prst="rect">
                    <a:avLst/>
                  </a:prstGeom>
                  <a:noFill/>
                  <a:ln w="12700">
                    <a:noFill/>
                    <a:miter lim="800000"/>
                    <a:headEnd/>
                    <a:tailEnd/>
                  </a:ln>
                  <a:effectLst/>
                </p:spPr>
                <p:txBody>
                  <a:bodyPr wrap="none" lIns="0" tIns="0" rIns="0" bIns="0">
                    <a:spAutoFit/>
                  </a:bodyPr>
                  <a:lstStyle/>
                  <a:p>
                    <a:pPr algn="ctr" defTabSz="1339850"/>
                    <a:r>
                      <a:rPr lang="en-US" sz="700" dirty="0"/>
                      <a:t>Titas</a:t>
                    </a:r>
                  </a:p>
                </p:txBody>
              </p:sp>
              <p:cxnSp>
                <p:nvCxnSpPr>
                  <p:cNvPr id="144" name="Straight Connector 143"/>
                  <p:cNvCxnSpPr/>
                  <p:nvPr/>
                </p:nvCxnSpPr>
                <p:spPr>
                  <a:xfrm flipH="1">
                    <a:off x="7459516" y="3152821"/>
                    <a:ext cx="107850" cy="320341"/>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flipH="1">
                    <a:off x="7447590" y="3171290"/>
                    <a:ext cx="111066" cy="105894"/>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flipH="1">
                    <a:off x="7094510" y="3263816"/>
                    <a:ext cx="366603" cy="189951"/>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147" name="Rectangle 146"/>
                  <p:cNvSpPr>
                    <a:spLocks noChangeArrowheads="1"/>
                  </p:cNvSpPr>
                  <p:nvPr/>
                </p:nvSpPr>
                <p:spPr bwMode="gray">
                  <a:xfrm>
                    <a:off x="7366747" y="3217241"/>
                    <a:ext cx="115116" cy="115116"/>
                  </a:xfrm>
                  <a:prstGeom prst="rect">
                    <a:avLst/>
                  </a:prstGeom>
                  <a:solidFill>
                    <a:srgbClr val="FF0000"/>
                  </a:solidFill>
                  <a:ln w="12700">
                    <a:noFill/>
                    <a:round/>
                    <a:headEnd/>
                    <a:tailEnd/>
                  </a:ln>
                  <a:effectLst/>
                </p:spPr>
                <p:txBody>
                  <a:bodyPr wrap="none" anchor="ctr"/>
                  <a:lstStyle/>
                  <a:p>
                    <a:pPr algn="ctr"/>
                    <a:endParaRPr lang="en-US" sz="1200" dirty="0"/>
                  </a:p>
                </p:txBody>
              </p:sp>
              <p:sp>
                <p:nvSpPr>
                  <p:cNvPr id="148" name="Rectangle 5"/>
                  <p:cNvSpPr>
                    <a:spLocks noChangeArrowheads="1"/>
                  </p:cNvSpPr>
                  <p:nvPr/>
                </p:nvSpPr>
                <p:spPr bwMode="gray">
                  <a:xfrm>
                    <a:off x="7161580" y="3075888"/>
                    <a:ext cx="302967" cy="107722"/>
                  </a:xfrm>
                  <a:prstGeom prst="rect">
                    <a:avLst/>
                  </a:prstGeom>
                  <a:noFill/>
                  <a:ln w="12700">
                    <a:noFill/>
                    <a:miter lim="800000"/>
                    <a:headEnd/>
                    <a:tailEnd/>
                  </a:ln>
                  <a:effectLst/>
                </p:spPr>
                <p:txBody>
                  <a:bodyPr wrap="none" lIns="0" tIns="0" rIns="0" bIns="0">
                    <a:spAutoFit/>
                  </a:bodyPr>
                  <a:lstStyle/>
                  <a:p>
                    <a:pPr algn="ctr" defTabSz="1339850"/>
                    <a:r>
                      <a:rPr lang="en-US" sz="700" dirty="0"/>
                      <a:t>Belabo</a:t>
                    </a:r>
                  </a:p>
                </p:txBody>
              </p:sp>
              <p:cxnSp>
                <p:nvCxnSpPr>
                  <p:cNvPr id="149" name="Straight Connector 148"/>
                  <p:cNvCxnSpPr/>
                  <p:nvPr/>
                </p:nvCxnSpPr>
                <p:spPr>
                  <a:xfrm flipH="1" flipV="1">
                    <a:off x="6699902" y="3020176"/>
                    <a:ext cx="228359" cy="172847"/>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flipH="1" flipV="1">
                    <a:off x="6922303" y="3192153"/>
                    <a:ext cx="435734" cy="127512"/>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151" name="Rectangle 150"/>
                  <p:cNvSpPr>
                    <a:spLocks noChangeArrowheads="1"/>
                  </p:cNvSpPr>
                  <p:nvPr/>
                </p:nvSpPr>
                <p:spPr bwMode="gray">
                  <a:xfrm>
                    <a:off x="7114218" y="3255728"/>
                    <a:ext cx="115116" cy="115116"/>
                  </a:xfrm>
                  <a:prstGeom prst="rect">
                    <a:avLst/>
                  </a:prstGeom>
                  <a:solidFill>
                    <a:srgbClr val="FF0000"/>
                  </a:solidFill>
                  <a:ln w="12700">
                    <a:noFill/>
                    <a:round/>
                    <a:headEnd/>
                    <a:tailEnd/>
                  </a:ln>
                  <a:effectLst/>
                </p:spPr>
                <p:txBody>
                  <a:bodyPr wrap="none" anchor="ctr"/>
                  <a:lstStyle/>
                  <a:p>
                    <a:pPr algn="ctr"/>
                    <a:endParaRPr lang="en-US" sz="1200" dirty="0"/>
                  </a:p>
                </p:txBody>
              </p:sp>
              <p:sp>
                <p:nvSpPr>
                  <p:cNvPr id="152" name="Rectangle 5"/>
                  <p:cNvSpPr>
                    <a:spLocks noChangeArrowheads="1"/>
                  </p:cNvSpPr>
                  <p:nvPr/>
                </p:nvSpPr>
                <p:spPr bwMode="gray">
                  <a:xfrm>
                    <a:off x="6724524" y="3189213"/>
                    <a:ext cx="293349" cy="107722"/>
                  </a:xfrm>
                  <a:prstGeom prst="rect">
                    <a:avLst/>
                  </a:prstGeom>
                  <a:noFill/>
                  <a:ln w="12700">
                    <a:noFill/>
                    <a:miter lim="800000"/>
                    <a:headEnd/>
                    <a:tailEnd/>
                  </a:ln>
                  <a:effectLst/>
                </p:spPr>
                <p:txBody>
                  <a:bodyPr wrap="none" lIns="0" tIns="0" rIns="0" bIns="0">
                    <a:spAutoFit/>
                  </a:bodyPr>
                  <a:lstStyle/>
                  <a:p>
                    <a:pPr algn="ctr" defTabSz="1339850"/>
                    <a:r>
                      <a:rPr lang="en-US" sz="700" dirty="0"/>
                      <a:t>Kamta</a:t>
                    </a:r>
                  </a:p>
                </p:txBody>
              </p:sp>
              <p:cxnSp>
                <p:nvCxnSpPr>
                  <p:cNvPr id="153" name="Straight Connector 152"/>
                  <p:cNvCxnSpPr/>
                  <p:nvPr/>
                </p:nvCxnSpPr>
                <p:spPr>
                  <a:xfrm flipH="1" flipV="1">
                    <a:off x="6845510" y="3297898"/>
                    <a:ext cx="196395" cy="132183"/>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flipH="1" flipV="1">
                    <a:off x="6658973" y="3261385"/>
                    <a:ext cx="194623" cy="42342"/>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H="1">
                    <a:off x="6617046" y="3258342"/>
                    <a:ext cx="54526" cy="38137"/>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flipH="1" flipV="1">
                    <a:off x="6716901" y="3471078"/>
                    <a:ext cx="281001" cy="3540"/>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flipH="1">
                    <a:off x="6966936" y="3508666"/>
                    <a:ext cx="103502" cy="136911"/>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flipH="1">
                    <a:off x="6917760" y="3632164"/>
                    <a:ext cx="66202" cy="1666"/>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p:nvPr/>
                </p:nvCxnSpPr>
                <p:spPr>
                  <a:xfrm flipH="1" flipV="1">
                    <a:off x="7093430" y="3479148"/>
                    <a:ext cx="241427" cy="214624"/>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p:nvPr/>
                </p:nvCxnSpPr>
                <p:spPr>
                  <a:xfrm flipH="1" flipV="1">
                    <a:off x="7331445" y="3681466"/>
                    <a:ext cx="66785" cy="48610"/>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p:cNvCxnSpPr/>
                  <p:nvPr/>
                </p:nvCxnSpPr>
                <p:spPr>
                  <a:xfrm flipH="1" flipV="1">
                    <a:off x="7376035" y="3715165"/>
                    <a:ext cx="89531" cy="12345"/>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flipH="1" flipV="1">
                    <a:off x="7437823" y="3601971"/>
                    <a:ext cx="15647" cy="113194"/>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163" name="Rectangle 162"/>
                  <p:cNvSpPr>
                    <a:spLocks noChangeArrowheads="1"/>
                  </p:cNvSpPr>
                  <p:nvPr/>
                </p:nvSpPr>
                <p:spPr bwMode="gray">
                  <a:xfrm>
                    <a:off x="6623397" y="2958269"/>
                    <a:ext cx="115116" cy="115116"/>
                  </a:xfrm>
                  <a:prstGeom prst="rect">
                    <a:avLst/>
                  </a:prstGeom>
                  <a:solidFill>
                    <a:srgbClr val="43B02A"/>
                  </a:solidFill>
                  <a:ln w="12700">
                    <a:noFill/>
                    <a:round/>
                    <a:headEnd/>
                    <a:tailEnd/>
                  </a:ln>
                  <a:effectLst/>
                </p:spPr>
                <p:txBody>
                  <a:bodyPr wrap="none" anchor="ctr"/>
                  <a:lstStyle/>
                  <a:p>
                    <a:pPr algn="ctr"/>
                    <a:endParaRPr lang="en-US" sz="1200" dirty="0"/>
                  </a:p>
                </p:txBody>
              </p:sp>
              <p:sp>
                <p:nvSpPr>
                  <p:cNvPr id="164" name="Rectangle 5"/>
                  <p:cNvSpPr>
                    <a:spLocks noChangeArrowheads="1"/>
                  </p:cNvSpPr>
                  <p:nvPr/>
                </p:nvSpPr>
                <p:spPr bwMode="gray">
                  <a:xfrm>
                    <a:off x="6157299" y="2932995"/>
                    <a:ext cx="487955" cy="106119"/>
                  </a:xfrm>
                  <a:prstGeom prst="rect">
                    <a:avLst/>
                  </a:prstGeom>
                  <a:noFill/>
                  <a:ln w="12700">
                    <a:noFill/>
                    <a:miter lim="800000"/>
                    <a:headEnd/>
                    <a:tailEnd/>
                  </a:ln>
                  <a:effectLst/>
                </p:spPr>
                <p:txBody>
                  <a:bodyPr wrap="none" lIns="0" tIns="0" rIns="0" bIns="0">
                    <a:spAutoFit/>
                  </a:bodyPr>
                  <a:lstStyle/>
                  <a:p>
                    <a:pPr algn="ctr" defTabSz="1339850"/>
                    <a:r>
                      <a:rPr lang="en-US" sz="700" dirty="0"/>
                      <a:t>Hatikumrul</a:t>
                    </a:r>
                  </a:p>
                </p:txBody>
              </p:sp>
              <p:sp>
                <p:nvSpPr>
                  <p:cNvPr id="165" name="Rectangle 164"/>
                  <p:cNvSpPr>
                    <a:spLocks noChangeArrowheads="1"/>
                  </p:cNvSpPr>
                  <p:nvPr/>
                </p:nvSpPr>
                <p:spPr bwMode="gray">
                  <a:xfrm>
                    <a:off x="7858871" y="2823369"/>
                    <a:ext cx="115116" cy="115116"/>
                  </a:xfrm>
                  <a:prstGeom prst="rect">
                    <a:avLst/>
                  </a:prstGeom>
                  <a:solidFill>
                    <a:srgbClr val="43B02A"/>
                  </a:solidFill>
                  <a:ln w="12700">
                    <a:noFill/>
                    <a:round/>
                    <a:headEnd/>
                    <a:tailEnd/>
                  </a:ln>
                  <a:effectLst/>
                </p:spPr>
                <p:txBody>
                  <a:bodyPr wrap="none" anchor="ctr"/>
                  <a:lstStyle/>
                  <a:p>
                    <a:pPr algn="ctr"/>
                    <a:endParaRPr lang="en-US" sz="1200" dirty="0"/>
                  </a:p>
                </p:txBody>
              </p:sp>
              <p:sp>
                <p:nvSpPr>
                  <p:cNvPr id="166" name="Rectangle 165"/>
                  <p:cNvSpPr>
                    <a:spLocks noChangeArrowheads="1"/>
                  </p:cNvSpPr>
                  <p:nvPr/>
                </p:nvSpPr>
                <p:spPr bwMode="gray">
                  <a:xfrm>
                    <a:off x="7783858" y="2877282"/>
                    <a:ext cx="115116" cy="115116"/>
                  </a:xfrm>
                  <a:prstGeom prst="rect">
                    <a:avLst/>
                  </a:prstGeom>
                  <a:solidFill>
                    <a:srgbClr val="FF0000"/>
                  </a:solidFill>
                  <a:ln w="12700">
                    <a:noFill/>
                    <a:round/>
                    <a:headEnd/>
                    <a:tailEnd/>
                  </a:ln>
                  <a:effectLst/>
                </p:spPr>
                <p:txBody>
                  <a:bodyPr wrap="none" anchor="ctr"/>
                  <a:lstStyle/>
                  <a:p>
                    <a:pPr algn="ctr"/>
                    <a:endParaRPr lang="en-US" sz="1200" dirty="0"/>
                  </a:p>
                </p:txBody>
              </p:sp>
              <p:sp>
                <p:nvSpPr>
                  <p:cNvPr id="167" name="Rectangle 5"/>
                  <p:cNvSpPr>
                    <a:spLocks noChangeArrowheads="1"/>
                  </p:cNvSpPr>
                  <p:nvPr/>
                </p:nvSpPr>
                <p:spPr bwMode="gray">
                  <a:xfrm>
                    <a:off x="7306906" y="2727626"/>
                    <a:ext cx="455253" cy="107722"/>
                  </a:xfrm>
                  <a:prstGeom prst="rect">
                    <a:avLst/>
                  </a:prstGeom>
                  <a:noFill/>
                  <a:ln w="12700">
                    <a:noFill/>
                    <a:miter lim="800000"/>
                    <a:headEnd/>
                    <a:tailEnd/>
                  </a:ln>
                  <a:effectLst/>
                </p:spPr>
                <p:txBody>
                  <a:bodyPr wrap="none" lIns="0" tIns="0" rIns="0" bIns="0">
                    <a:spAutoFit/>
                  </a:bodyPr>
                  <a:lstStyle/>
                  <a:p>
                    <a:pPr algn="ctr" defTabSz="1339850"/>
                    <a:r>
                      <a:rPr lang="en-US" sz="700" dirty="0"/>
                      <a:t>Habibganj</a:t>
                    </a:r>
                  </a:p>
                </p:txBody>
              </p:sp>
              <p:cxnSp>
                <p:nvCxnSpPr>
                  <p:cNvPr id="168" name="Straight Connector 167"/>
                  <p:cNvCxnSpPr/>
                  <p:nvPr/>
                </p:nvCxnSpPr>
                <p:spPr>
                  <a:xfrm flipH="1">
                    <a:off x="7567366" y="2985347"/>
                    <a:ext cx="222408" cy="177901"/>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7576951" y="3171222"/>
                    <a:ext cx="21804" cy="51321"/>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a:off x="7654607" y="3140631"/>
                    <a:ext cx="8710" cy="73307"/>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flipV="1">
                    <a:off x="7598755" y="3118431"/>
                    <a:ext cx="241264" cy="27346"/>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flipV="1">
                    <a:off x="7828334" y="3057839"/>
                    <a:ext cx="66631" cy="59953"/>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flipH="1" flipV="1">
                    <a:off x="7880604" y="2988439"/>
                    <a:ext cx="6907" cy="72890"/>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V="1">
                    <a:off x="7901706" y="2936643"/>
                    <a:ext cx="23610" cy="21626"/>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flipV="1">
                    <a:off x="7926977" y="2932995"/>
                    <a:ext cx="134603" cy="7031"/>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176" name="Rectangle 5"/>
                  <p:cNvSpPr>
                    <a:spLocks noChangeArrowheads="1"/>
                  </p:cNvSpPr>
                  <p:nvPr/>
                </p:nvSpPr>
                <p:spPr bwMode="gray">
                  <a:xfrm>
                    <a:off x="8029628" y="2942742"/>
                    <a:ext cx="450444" cy="107722"/>
                  </a:xfrm>
                  <a:prstGeom prst="rect">
                    <a:avLst/>
                  </a:prstGeom>
                  <a:noFill/>
                  <a:ln w="12700">
                    <a:noFill/>
                    <a:miter lim="800000"/>
                    <a:headEnd/>
                    <a:tailEnd/>
                  </a:ln>
                  <a:effectLst/>
                </p:spPr>
                <p:txBody>
                  <a:bodyPr wrap="none" lIns="0" tIns="0" rIns="0" bIns="0">
                    <a:spAutoFit/>
                  </a:bodyPr>
                  <a:lstStyle/>
                  <a:p>
                    <a:pPr algn="ctr" defTabSz="1339850"/>
                    <a:r>
                      <a:rPr lang="en-US" sz="700" dirty="0"/>
                      <a:t>Rashidpur</a:t>
                    </a:r>
                  </a:p>
                </p:txBody>
              </p:sp>
              <p:cxnSp>
                <p:nvCxnSpPr>
                  <p:cNvPr id="177" name="Straight Connector 176"/>
                  <p:cNvCxnSpPr/>
                  <p:nvPr/>
                </p:nvCxnSpPr>
                <p:spPr>
                  <a:xfrm flipV="1">
                    <a:off x="7887511" y="2919787"/>
                    <a:ext cx="434337" cy="139303"/>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V="1">
                    <a:off x="8311000" y="2735070"/>
                    <a:ext cx="209751" cy="186420"/>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179" name="Rectangle 178"/>
                  <p:cNvSpPr>
                    <a:spLocks noChangeArrowheads="1"/>
                  </p:cNvSpPr>
                  <p:nvPr/>
                </p:nvSpPr>
                <p:spPr bwMode="gray">
                  <a:xfrm>
                    <a:off x="8038275" y="2716087"/>
                    <a:ext cx="115116" cy="115116"/>
                  </a:xfrm>
                  <a:prstGeom prst="rect">
                    <a:avLst/>
                  </a:prstGeom>
                  <a:solidFill>
                    <a:srgbClr val="FF0000"/>
                  </a:solidFill>
                  <a:ln w="12700">
                    <a:noFill/>
                    <a:round/>
                    <a:headEnd/>
                    <a:tailEnd/>
                  </a:ln>
                  <a:effectLst/>
                </p:spPr>
                <p:txBody>
                  <a:bodyPr wrap="none" anchor="ctr"/>
                  <a:lstStyle/>
                  <a:p>
                    <a:pPr algn="ctr"/>
                    <a:endParaRPr lang="en-US" sz="1200" dirty="0"/>
                  </a:p>
                </p:txBody>
              </p:sp>
              <p:sp>
                <p:nvSpPr>
                  <p:cNvPr id="180" name="Rectangle 5"/>
                  <p:cNvSpPr>
                    <a:spLocks noChangeArrowheads="1"/>
                  </p:cNvSpPr>
                  <p:nvPr/>
                </p:nvSpPr>
                <p:spPr bwMode="gray">
                  <a:xfrm>
                    <a:off x="7724953" y="2584140"/>
                    <a:ext cx="383117" cy="107722"/>
                  </a:xfrm>
                  <a:prstGeom prst="rect">
                    <a:avLst/>
                  </a:prstGeom>
                  <a:noFill/>
                  <a:ln w="12700">
                    <a:noFill/>
                    <a:miter lim="800000"/>
                    <a:headEnd/>
                    <a:tailEnd/>
                  </a:ln>
                  <a:effectLst/>
                </p:spPr>
                <p:txBody>
                  <a:bodyPr wrap="none" lIns="0" tIns="0" rIns="0" bIns="0">
                    <a:spAutoFit/>
                  </a:bodyPr>
                  <a:lstStyle/>
                  <a:p>
                    <a:pPr algn="ctr" defTabSz="1339850"/>
                    <a:r>
                      <a:rPr lang="en-US" sz="700" dirty="0"/>
                      <a:t>Bibiyana</a:t>
                    </a:r>
                  </a:p>
                </p:txBody>
              </p:sp>
              <p:sp>
                <p:nvSpPr>
                  <p:cNvPr id="181" name="Rectangle 5"/>
                  <p:cNvSpPr>
                    <a:spLocks noChangeArrowheads="1"/>
                  </p:cNvSpPr>
                  <p:nvPr/>
                </p:nvSpPr>
                <p:spPr bwMode="gray">
                  <a:xfrm>
                    <a:off x="8426415" y="2740348"/>
                    <a:ext cx="537006" cy="107722"/>
                  </a:xfrm>
                  <a:prstGeom prst="rect">
                    <a:avLst/>
                  </a:prstGeom>
                  <a:noFill/>
                  <a:ln w="12700">
                    <a:noFill/>
                    <a:miter lim="800000"/>
                    <a:headEnd/>
                    <a:tailEnd/>
                  </a:ln>
                  <a:effectLst/>
                </p:spPr>
                <p:txBody>
                  <a:bodyPr wrap="none" lIns="0" tIns="0" rIns="0" bIns="0">
                    <a:spAutoFit/>
                  </a:bodyPr>
                  <a:lstStyle/>
                  <a:p>
                    <a:pPr algn="ctr" defTabSz="1339850"/>
                    <a:r>
                      <a:rPr lang="en-US" sz="700" dirty="0"/>
                      <a:t>Maulvibazar</a:t>
                    </a:r>
                  </a:p>
                </p:txBody>
              </p:sp>
              <p:cxnSp>
                <p:nvCxnSpPr>
                  <p:cNvPr id="182" name="Straight Connector 181"/>
                  <p:cNvCxnSpPr/>
                  <p:nvPr/>
                </p:nvCxnSpPr>
                <p:spPr>
                  <a:xfrm flipV="1">
                    <a:off x="8147313" y="2855568"/>
                    <a:ext cx="56970" cy="63404"/>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flipV="1">
                    <a:off x="8308504" y="2737902"/>
                    <a:ext cx="115011" cy="80386"/>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flipV="1">
                    <a:off x="8147313" y="2911099"/>
                    <a:ext cx="70009" cy="2819"/>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flipV="1">
                    <a:off x="8220755" y="2814880"/>
                    <a:ext cx="96043" cy="95217"/>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V="1">
                    <a:off x="8414628" y="2599982"/>
                    <a:ext cx="51232" cy="146052"/>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187" name="Rectangle 186"/>
                  <p:cNvSpPr>
                    <a:spLocks noChangeArrowheads="1"/>
                  </p:cNvSpPr>
                  <p:nvPr/>
                </p:nvSpPr>
                <p:spPr bwMode="gray">
                  <a:xfrm>
                    <a:off x="8208071" y="2649110"/>
                    <a:ext cx="115116" cy="115116"/>
                  </a:xfrm>
                  <a:prstGeom prst="rect">
                    <a:avLst/>
                  </a:prstGeom>
                  <a:solidFill>
                    <a:srgbClr val="FF0000"/>
                  </a:solidFill>
                  <a:ln w="12700">
                    <a:noFill/>
                    <a:round/>
                    <a:headEnd/>
                    <a:tailEnd/>
                  </a:ln>
                  <a:effectLst/>
                </p:spPr>
                <p:txBody>
                  <a:bodyPr wrap="none" anchor="ctr"/>
                  <a:lstStyle/>
                  <a:p>
                    <a:pPr algn="ctr"/>
                    <a:endParaRPr lang="en-US" sz="1200" dirty="0"/>
                  </a:p>
                </p:txBody>
              </p:sp>
              <p:sp>
                <p:nvSpPr>
                  <p:cNvPr id="188" name="Rectangle 5"/>
                  <p:cNvSpPr>
                    <a:spLocks noChangeArrowheads="1"/>
                  </p:cNvSpPr>
                  <p:nvPr/>
                </p:nvSpPr>
                <p:spPr bwMode="gray">
                  <a:xfrm>
                    <a:off x="8440948" y="2633556"/>
                    <a:ext cx="516167" cy="107722"/>
                  </a:xfrm>
                  <a:prstGeom prst="rect">
                    <a:avLst/>
                  </a:prstGeom>
                  <a:noFill/>
                  <a:ln w="12700">
                    <a:noFill/>
                    <a:miter lim="800000"/>
                    <a:headEnd/>
                    <a:tailEnd/>
                  </a:ln>
                  <a:effectLst/>
                </p:spPr>
                <p:txBody>
                  <a:bodyPr wrap="none" lIns="0" tIns="0" rIns="0" bIns="0">
                    <a:spAutoFit/>
                  </a:bodyPr>
                  <a:lstStyle/>
                  <a:p>
                    <a:pPr algn="ctr" defTabSz="1339850"/>
                    <a:r>
                      <a:rPr lang="en-US" sz="700" dirty="0"/>
                      <a:t>Febchuganj</a:t>
                    </a:r>
                  </a:p>
                </p:txBody>
              </p:sp>
              <p:sp>
                <p:nvSpPr>
                  <p:cNvPr id="189" name="Rectangle 5"/>
                  <p:cNvSpPr>
                    <a:spLocks noChangeArrowheads="1"/>
                  </p:cNvSpPr>
                  <p:nvPr/>
                </p:nvSpPr>
                <p:spPr bwMode="gray">
                  <a:xfrm>
                    <a:off x="8690765" y="2485263"/>
                    <a:ext cx="498534" cy="107722"/>
                  </a:xfrm>
                  <a:prstGeom prst="rect">
                    <a:avLst/>
                  </a:prstGeom>
                  <a:noFill/>
                  <a:ln w="12700">
                    <a:noFill/>
                    <a:miter lim="800000"/>
                    <a:headEnd/>
                    <a:tailEnd/>
                  </a:ln>
                  <a:effectLst/>
                </p:spPr>
                <p:txBody>
                  <a:bodyPr wrap="none" lIns="0" tIns="0" rIns="0" bIns="0">
                    <a:spAutoFit/>
                  </a:bodyPr>
                  <a:lstStyle/>
                  <a:p>
                    <a:pPr algn="ctr" defTabSz="1339850"/>
                    <a:r>
                      <a:rPr lang="en-US" sz="700" dirty="0"/>
                      <a:t>Beanibazar</a:t>
                    </a:r>
                  </a:p>
                </p:txBody>
              </p:sp>
              <p:sp>
                <p:nvSpPr>
                  <p:cNvPr id="190" name="Rectangle 5"/>
                  <p:cNvSpPr>
                    <a:spLocks noChangeArrowheads="1"/>
                  </p:cNvSpPr>
                  <p:nvPr/>
                </p:nvSpPr>
                <p:spPr bwMode="gray">
                  <a:xfrm>
                    <a:off x="8511901" y="2325369"/>
                    <a:ext cx="460062" cy="107722"/>
                  </a:xfrm>
                  <a:prstGeom prst="rect">
                    <a:avLst/>
                  </a:prstGeom>
                  <a:noFill/>
                  <a:ln w="12700">
                    <a:noFill/>
                    <a:miter lim="800000"/>
                    <a:headEnd/>
                    <a:tailEnd/>
                  </a:ln>
                  <a:effectLst/>
                </p:spPr>
                <p:txBody>
                  <a:bodyPr wrap="none" lIns="0" tIns="0" rIns="0" bIns="0">
                    <a:spAutoFit/>
                  </a:bodyPr>
                  <a:lstStyle/>
                  <a:p>
                    <a:pPr algn="ctr" defTabSz="1339850"/>
                    <a:r>
                      <a:rPr lang="en-US" sz="700" dirty="0"/>
                      <a:t>Kailashtila</a:t>
                    </a:r>
                  </a:p>
                </p:txBody>
              </p:sp>
              <p:cxnSp>
                <p:nvCxnSpPr>
                  <p:cNvPr id="191" name="Straight Connector 190"/>
                  <p:cNvCxnSpPr/>
                  <p:nvPr/>
                </p:nvCxnSpPr>
                <p:spPr>
                  <a:xfrm flipV="1">
                    <a:off x="8286843" y="2545389"/>
                    <a:ext cx="50958" cy="123193"/>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flipH="1" flipV="1">
                    <a:off x="8409609" y="2514751"/>
                    <a:ext cx="26896" cy="40135"/>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flipH="1" flipV="1">
                    <a:off x="8253720" y="2441772"/>
                    <a:ext cx="48764" cy="18628"/>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194" name="Rectangle 193"/>
                  <p:cNvSpPr>
                    <a:spLocks noChangeArrowheads="1"/>
                  </p:cNvSpPr>
                  <p:nvPr/>
                </p:nvSpPr>
                <p:spPr bwMode="gray">
                  <a:xfrm>
                    <a:off x="8300411" y="2239150"/>
                    <a:ext cx="115116" cy="115116"/>
                  </a:xfrm>
                  <a:prstGeom prst="rect">
                    <a:avLst/>
                  </a:prstGeom>
                  <a:solidFill>
                    <a:srgbClr val="FF0000"/>
                  </a:solidFill>
                  <a:ln w="12700">
                    <a:noFill/>
                    <a:round/>
                    <a:headEnd/>
                    <a:tailEnd/>
                  </a:ln>
                  <a:effectLst/>
                </p:spPr>
                <p:txBody>
                  <a:bodyPr wrap="none" anchor="ctr"/>
                  <a:lstStyle/>
                  <a:p>
                    <a:pPr algn="ctr"/>
                    <a:endParaRPr lang="en-US" sz="1200" dirty="0"/>
                  </a:p>
                </p:txBody>
              </p:sp>
              <p:sp>
                <p:nvSpPr>
                  <p:cNvPr id="195" name="Rectangle 5"/>
                  <p:cNvSpPr>
                    <a:spLocks noChangeArrowheads="1"/>
                  </p:cNvSpPr>
                  <p:nvPr/>
                </p:nvSpPr>
                <p:spPr bwMode="gray">
                  <a:xfrm>
                    <a:off x="8181072" y="2024997"/>
                    <a:ext cx="398502" cy="134824"/>
                  </a:xfrm>
                  <a:prstGeom prst="rect">
                    <a:avLst/>
                  </a:prstGeom>
                  <a:noFill/>
                  <a:ln w="12700">
                    <a:noFill/>
                    <a:miter lim="800000"/>
                    <a:headEnd/>
                    <a:tailEnd/>
                  </a:ln>
                  <a:effectLst/>
                </p:spPr>
                <p:txBody>
                  <a:bodyPr wrap="none" lIns="0" tIns="0" rIns="0" bIns="0">
                    <a:spAutoFit/>
                  </a:bodyPr>
                  <a:lstStyle/>
                  <a:p>
                    <a:pPr algn="ctr" defTabSz="1339850"/>
                    <a:r>
                      <a:rPr lang="en-US" sz="800" b="1" dirty="0"/>
                      <a:t>Sylhet</a:t>
                    </a:r>
                  </a:p>
                </p:txBody>
              </p:sp>
              <p:sp>
                <p:nvSpPr>
                  <p:cNvPr id="196" name="Rectangle 195"/>
                  <p:cNvSpPr>
                    <a:spLocks noChangeArrowheads="1"/>
                  </p:cNvSpPr>
                  <p:nvPr/>
                </p:nvSpPr>
                <p:spPr bwMode="gray">
                  <a:xfrm>
                    <a:off x="8265207" y="2360173"/>
                    <a:ext cx="115116" cy="115116"/>
                  </a:xfrm>
                  <a:prstGeom prst="rect">
                    <a:avLst/>
                  </a:prstGeom>
                  <a:solidFill>
                    <a:srgbClr val="FF0000"/>
                  </a:solidFill>
                  <a:ln w="12700">
                    <a:noFill/>
                    <a:round/>
                    <a:headEnd/>
                    <a:tailEnd/>
                  </a:ln>
                  <a:effectLst/>
                </p:spPr>
                <p:txBody>
                  <a:bodyPr wrap="none" anchor="ctr"/>
                  <a:lstStyle/>
                  <a:p>
                    <a:pPr algn="ctr"/>
                    <a:endParaRPr lang="en-US" sz="1200" dirty="0"/>
                  </a:p>
                </p:txBody>
              </p:sp>
              <p:sp>
                <p:nvSpPr>
                  <p:cNvPr id="197" name="Rectangle 5"/>
                  <p:cNvSpPr>
                    <a:spLocks noChangeArrowheads="1"/>
                  </p:cNvSpPr>
                  <p:nvPr/>
                </p:nvSpPr>
                <p:spPr bwMode="gray">
                  <a:xfrm>
                    <a:off x="7766810" y="2405184"/>
                    <a:ext cx="418383" cy="107722"/>
                  </a:xfrm>
                  <a:prstGeom prst="rect">
                    <a:avLst/>
                  </a:prstGeom>
                  <a:noFill/>
                  <a:ln w="12700">
                    <a:noFill/>
                    <a:miter lim="800000"/>
                    <a:headEnd/>
                    <a:tailEnd/>
                  </a:ln>
                  <a:effectLst/>
                </p:spPr>
                <p:txBody>
                  <a:bodyPr wrap="none" lIns="0" tIns="0" rIns="0" bIns="0">
                    <a:spAutoFit/>
                  </a:bodyPr>
                  <a:lstStyle/>
                  <a:p>
                    <a:pPr algn="ctr" defTabSz="1339850"/>
                    <a:r>
                      <a:rPr lang="en-US" sz="700" dirty="0"/>
                      <a:t>Jalalabad</a:t>
                    </a:r>
                  </a:p>
                </p:txBody>
              </p:sp>
              <p:cxnSp>
                <p:nvCxnSpPr>
                  <p:cNvPr id="198" name="Straight Connector 197"/>
                  <p:cNvCxnSpPr/>
                  <p:nvPr/>
                </p:nvCxnSpPr>
                <p:spPr>
                  <a:xfrm flipV="1">
                    <a:off x="8439243" y="2697789"/>
                    <a:ext cx="50958" cy="123193"/>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flipH="1" flipV="1">
                    <a:off x="8124595" y="2434874"/>
                    <a:ext cx="134039" cy="8284"/>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a:xfrm flipH="1" flipV="1">
                    <a:off x="8077599" y="2312752"/>
                    <a:ext cx="54196" cy="116622"/>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flipH="1" flipV="1">
                    <a:off x="7894965" y="2314965"/>
                    <a:ext cx="91952" cy="2251"/>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flipH="1">
                    <a:off x="8159561" y="2453846"/>
                    <a:ext cx="82641" cy="122140"/>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203" name="Rectangle 202"/>
                  <p:cNvSpPr>
                    <a:spLocks noChangeArrowheads="1"/>
                  </p:cNvSpPr>
                  <p:nvPr/>
                </p:nvSpPr>
                <p:spPr bwMode="gray">
                  <a:xfrm>
                    <a:off x="7986431" y="2255947"/>
                    <a:ext cx="115116" cy="115116"/>
                  </a:xfrm>
                  <a:prstGeom prst="rect">
                    <a:avLst/>
                  </a:prstGeom>
                  <a:solidFill>
                    <a:srgbClr val="FF0000"/>
                  </a:solidFill>
                  <a:ln w="12700">
                    <a:noFill/>
                    <a:round/>
                    <a:headEnd/>
                    <a:tailEnd/>
                  </a:ln>
                  <a:effectLst/>
                </p:spPr>
                <p:txBody>
                  <a:bodyPr wrap="none" anchor="ctr"/>
                  <a:lstStyle/>
                  <a:p>
                    <a:pPr algn="ctr"/>
                    <a:endParaRPr lang="en-US" sz="1200" dirty="0"/>
                  </a:p>
                </p:txBody>
              </p:sp>
              <p:sp>
                <p:nvSpPr>
                  <p:cNvPr id="204" name="Rectangle 5"/>
                  <p:cNvSpPr>
                    <a:spLocks noChangeArrowheads="1"/>
                  </p:cNvSpPr>
                  <p:nvPr/>
                </p:nvSpPr>
                <p:spPr bwMode="gray">
                  <a:xfrm>
                    <a:off x="7544321" y="2229981"/>
                    <a:ext cx="371897" cy="107722"/>
                  </a:xfrm>
                  <a:prstGeom prst="rect">
                    <a:avLst/>
                  </a:prstGeom>
                  <a:noFill/>
                  <a:ln w="12700">
                    <a:noFill/>
                    <a:miter lim="800000"/>
                    <a:headEnd/>
                    <a:tailEnd/>
                  </a:ln>
                  <a:effectLst/>
                </p:spPr>
                <p:txBody>
                  <a:bodyPr wrap="none" lIns="0" tIns="0" rIns="0" bIns="0">
                    <a:spAutoFit/>
                  </a:bodyPr>
                  <a:lstStyle/>
                  <a:p>
                    <a:pPr algn="ctr" defTabSz="1339850"/>
                    <a:r>
                      <a:rPr lang="en-US" sz="700" dirty="0"/>
                      <a:t>Chhatak</a:t>
                    </a:r>
                  </a:p>
                </p:txBody>
              </p:sp>
              <p:cxnSp>
                <p:nvCxnSpPr>
                  <p:cNvPr id="205" name="Straight Connector 204"/>
                  <p:cNvCxnSpPr/>
                  <p:nvPr/>
                </p:nvCxnSpPr>
                <p:spPr>
                  <a:xfrm>
                    <a:off x="6754731" y="2862488"/>
                    <a:ext cx="809304" cy="306145"/>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H="1">
                    <a:off x="6731892" y="2849073"/>
                    <a:ext cx="18395" cy="100664"/>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a:off x="6640826" y="2649347"/>
                    <a:ext cx="101551" cy="205497"/>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H="1">
                    <a:off x="6640654" y="2404110"/>
                    <a:ext cx="50947" cy="249421"/>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H="1">
                    <a:off x="6687840" y="2344609"/>
                    <a:ext cx="65279" cy="68383"/>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210" name="Rectangle 209"/>
                  <p:cNvSpPr>
                    <a:spLocks noChangeArrowheads="1"/>
                  </p:cNvSpPr>
                  <p:nvPr/>
                </p:nvSpPr>
                <p:spPr bwMode="gray">
                  <a:xfrm>
                    <a:off x="6643968" y="2396862"/>
                    <a:ext cx="115116" cy="115116"/>
                  </a:xfrm>
                  <a:prstGeom prst="rect">
                    <a:avLst/>
                  </a:prstGeom>
                  <a:solidFill>
                    <a:srgbClr val="43B02A"/>
                  </a:solidFill>
                  <a:ln w="12700">
                    <a:noFill/>
                    <a:round/>
                    <a:headEnd/>
                    <a:tailEnd/>
                  </a:ln>
                  <a:effectLst/>
                </p:spPr>
                <p:txBody>
                  <a:bodyPr wrap="none" anchor="ctr"/>
                  <a:lstStyle/>
                  <a:p>
                    <a:pPr algn="ctr"/>
                    <a:endParaRPr lang="en-US" sz="1200" dirty="0"/>
                  </a:p>
                </p:txBody>
              </p:sp>
              <p:sp>
                <p:nvSpPr>
                  <p:cNvPr id="211" name="Rectangle 210"/>
                  <p:cNvSpPr>
                    <a:spLocks noChangeArrowheads="1"/>
                  </p:cNvSpPr>
                  <p:nvPr/>
                </p:nvSpPr>
                <p:spPr bwMode="gray">
                  <a:xfrm>
                    <a:off x="6735776" y="2267811"/>
                    <a:ext cx="115116" cy="115116"/>
                  </a:xfrm>
                  <a:prstGeom prst="rect">
                    <a:avLst/>
                  </a:prstGeom>
                  <a:solidFill>
                    <a:srgbClr val="43B02A"/>
                  </a:solidFill>
                  <a:ln w="12700">
                    <a:noFill/>
                    <a:round/>
                    <a:headEnd/>
                    <a:tailEnd/>
                  </a:ln>
                  <a:effectLst/>
                </p:spPr>
                <p:txBody>
                  <a:bodyPr wrap="none" anchor="ctr"/>
                  <a:lstStyle/>
                  <a:p>
                    <a:pPr algn="ctr"/>
                    <a:endParaRPr lang="en-US" sz="1200" dirty="0"/>
                  </a:p>
                </p:txBody>
              </p:sp>
              <p:sp>
                <p:nvSpPr>
                  <p:cNvPr id="212" name="Rectangle 5"/>
                  <p:cNvSpPr>
                    <a:spLocks noChangeArrowheads="1"/>
                  </p:cNvSpPr>
                  <p:nvPr/>
                </p:nvSpPr>
                <p:spPr bwMode="gray">
                  <a:xfrm>
                    <a:off x="6468153" y="2483440"/>
                    <a:ext cx="410369" cy="107722"/>
                  </a:xfrm>
                  <a:prstGeom prst="rect">
                    <a:avLst/>
                  </a:prstGeom>
                  <a:noFill/>
                  <a:ln w="12700">
                    <a:noFill/>
                    <a:miter lim="800000"/>
                    <a:headEnd/>
                    <a:tailEnd/>
                  </a:ln>
                  <a:effectLst/>
                </p:spPr>
                <p:txBody>
                  <a:bodyPr wrap="none" lIns="0" tIns="0" rIns="0" bIns="0">
                    <a:spAutoFit/>
                  </a:bodyPr>
                  <a:lstStyle/>
                  <a:p>
                    <a:pPr algn="ctr" defTabSz="1339850"/>
                    <a:r>
                      <a:rPr lang="en-US" sz="700" dirty="0"/>
                      <a:t>Jamalpur</a:t>
                    </a:r>
                  </a:p>
                </p:txBody>
              </p:sp>
              <p:sp>
                <p:nvSpPr>
                  <p:cNvPr id="213" name="Rectangle 5"/>
                  <p:cNvSpPr>
                    <a:spLocks noChangeArrowheads="1"/>
                  </p:cNvSpPr>
                  <p:nvPr/>
                </p:nvSpPr>
                <p:spPr bwMode="gray">
                  <a:xfrm>
                    <a:off x="6640819" y="2125579"/>
                    <a:ext cx="359073" cy="107722"/>
                  </a:xfrm>
                  <a:prstGeom prst="rect">
                    <a:avLst/>
                  </a:prstGeom>
                  <a:noFill/>
                  <a:ln w="12700">
                    <a:noFill/>
                    <a:miter lim="800000"/>
                    <a:headEnd/>
                    <a:tailEnd/>
                  </a:ln>
                  <a:effectLst/>
                </p:spPr>
                <p:txBody>
                  <a:bodyPr wrap="none" lIns="0" tIns="0" rIns="0" bIns="0">
                    <a:spAutoFit/>
                  </a:bodyPr>
                  <a:lstStyle/>
                  <a:p>
                    <a:pPr algn="ctr" defTabSz="1339850"/>
                    <a:r>
                      <a:rPr lang="en-US" sz="700" dirty="0"/>
                      <a:t>Sherpur</a:t>
                    </a:r>
                  </a:p>
                </p:txBody>
              </p:sp>
              <p:cxnSp>
                <p:nvCxnSpPr>
                  <p:cNvPr id="214" name="Straight Connector 213"/>
                  <p:cNvCxnSpPr/>
                  <p:nvPr/>
                </p:nvCxnSpPr>
                <p:spPr>
                  <a:xfrm>
                    <a:off x="7083674" y="2606985"/>
                    <a:ext cx="1" cy="372546"/>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215" name="Rectangle 5"/>
                  <p:cNvSpPr>
                    <a:spLocks noChangeArrowheads="1"/>
                  </p:cNvSpPr>
                  <p:nvPr/>
                </p:nvSpPr>
                <p:spPr bwMode="gray">
                  <a:xfrm>
                    <a:off x="6848828" y="2591774"/>
                    <a:ext cx="562654" cy="107722"/>
                  </a:xfrm>
                  <a:prstGeom prst="rect">
                    <a:avLst/>
                  </a:prstGeom>
                  <a:noFill/>
                  <a:ln w="12700">
                    <a:noFill/>
                    <a:miter lim="800000"/>
                    <a:headEnd/>
                    <a:tailEnd/>
                  </a:ln>
                  <a:effectLst/>
                </p:spPr>
                <p:txBody>
                  <a:bodyPr wrap="none" lIns="0" tIns="0" rIns="0" bIns="0">
                    <a:spAutoFit/>
                  </a:bodyPr>
                  <a:lstStyle/>
                  <a:p>
                    <a:pPr algn="ctr" defTabSz="1339850"/>
                    <a:r>
                      <a:rPr lang="en-US" sz="700" dirty="0"/>
                      <a:t>Mymensingh</a:t>
                    </a:r>
                  </a:p>
                </p:txBody>
              </p:sp>
              <p:cxnSp>
                <p:nvCxnSpPr>
                  <p:cNvPr id="216" name="Straight Connector 215"/>
                  <p:cNvCxnSpPr/>
                  <p:nvPr/>
                </p:nvCxnSpPr>
                <p:spPr>
                  <a:xfrm flipH="1">
                    <a:off x="7132401" y="2446980"/>
                    <a:ext cx="198944" cy="122404"/>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H="1">
                    <a:off x="7316751" y="2450969"/>
                    <a:ext cx="76112" cy="6703"/>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a:xfrm flipH="1">
                    <a:off x="7087863" y="2910097"/>
                    <a:ext cx="100775" cy="35996"/>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a:xfrm flipH="1">
                    <a:off x="7277280" y="2971999"/>
                    <a:ext cx="52269" cy="77383"/>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220" name="Rectangle 219"/>
                  <p:cNvSpPr>
                    <a:spLocks noChangeArrowheads="1"/>
                  </p:cNvSpPr>
                  <p:nvPr/>
                </p:nvSpPr>
                <p:spPr bwMode="gray">
                  <a:xfrm>
                    <a:off x="6180168" y="2435506"/>
                    <a:ext cx="115116" cy="115116"/>
                  </a:xfrm>
                  <a:prstGeom prst="rect">
                    <a:avLst/>
                  </a:prstGeom>
                  <a:solidFill>
                    <a:srgbClr val="43B02A"/>
                  </a:solidFill>
                  <a:ln w="12700">
                    <a:noFill/>
                    <a:round/>
                    <a:headEnd/>
                    <a:tailEnd/>
                  </a:ln>
                  <a:effectLst/>
                </p:spPr>
                <p:txBody>
                  <a:bodyPr wrap="none" anchor="ctr"/>
                  <a:lstStyle/>
                  <a:p>
                    <a:pPr algn="ctr"/>
                    <a:endParaRPr lang="en-US" sz="1200" dirty="0"/>
                  </a:p>
                </p:txBody>
              </p:sp>
              <p:sp>
                <p:nvSpPr>
                  <p:cNvPr id="221" name="Rectangle 5"/>
                  <p:cNvSpPr>
                    <a:spLocks noChangeArrowheads="1"/>
                  </p:cNvSpPr>
                  <p:nvPr/>
                </p:nvSpPr>
                <p:spPr bwMode="gray">
                  <a:xfrm>
                    <a:off x="6091343" y="2289908"/>
                    <a:ext cx="264496" cy="107722"/>
                  </a:xfrm>
                  <a:prstGeom prst="rect">
                    <a:avLst/>
                  </a:prstGeom>
                  <a:noFill/>
                  <a:ln w="12700">
                    <a:noFill/>
                    <a:miter lim="800000"/>
                    <a:headEnd/>
                    <a:tailEnd/>
                  </a:ln>
                  <a:effectLst/>
                </p:spPr>
                <p:txBody>
                  <a:bodyPr wrap="none" lIns="0" tIns="0" rIns="0" bIns="0">
                    <a:spAutoFit/>
                  </a:bodyPr>
                  <a:lstStyle/>
                  <a:p>
                    <a:pPr algn="ctr" defTabSz="1339850"/>
                    <a:r>
                      <a:rPr lang="en-US" sz="700" dirty="0"/>
                      <a:t>Bogra</a:t>
                    </a:r>
                  </a:p>
                </p:txBody>
              </p:sp>
              <p:cxnSp>
                <p:nvCxnSpPr>
                  <p:cNvPr id="222" name="Straight Connector 221"/>
                  <p:cNvCxnSpPr>
                    <a:endCxn id="52" idx="0"/>
                  </p:cNvCxnSpPr>
                  <p:nvPr/>
                </p:nvCxnSpPr>
                <p:spPr>
                  <a:xfrm>
                    <a:off x="6271982" y="2556917"/>
                    <a:ext cx="98567" cy="266631"/>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a:stCxn id="52" idx="3"/>
                  </p:cNvCxnSpPr>
                  <p:nvPr/>
                </p:nvCxnSpPr>
                <p:spPr>
                  <a:xfrm flipV="1">
                    <a:off x="6428106" y="2740349"/>
                    <a:ext cx="239368" cy="140757"/>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a:stCxn id="225" idx="2"/>
                  </p:cNvCxnSpPr>
                  <p:nvPr/>
                </p:nvCxnSpPr>
                <p:spPr>
                  <a:xfrm flipH="1" flipV="1">
                    <a:off x="7926706" y="4130890"/>
                    <a:ext cx="337584" cy="590627"/>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225" name="Rectangle 224"/>
                  <p:cNvSpPr>
                    <a:spLocks noChangeArrowheads="1"/>
                  </p:cNvSpPr>
                  <p:nvPr/>
                </p:nvSpPr>
                <p:spPr bwMode="gray">
                  <a:xfrm>
                    <a:off x="8206732" y="4606401"/>
                    <a:ext cx="115116" cy="115116"/>
                  </a:xfrm>
                  <a:prstGeom prst="rect">
                    <a:avLst/>
                  </a:prstGeom>
                  <a:solidFill>
                    <a:srgbClr val="43B02A"/>
                  </a:solidFill>
                  <a:ln w="12700">
                    <a:noFill/>
                    <a:round/>
                    <a:headEnd/>
                    <a:tailEnd/>
                  </a:ln>
                  <a:effectLst/>
                </p:spPr>
                <p:txBody>
                  <a:bodyPr wrap="none" anchor="ctr"/>
                  <a:lstStyle/>
                  <a:p>
                    <a:pPr algn="ctr"/>
                    <a:endParaRPr lang="en-US" sz="1200" dirty="0"/>
                  </a:p>
                </p:txBody>
              </p:sp>
              <p:sp>
                <p:nvSpPr>
                  <p:cNvPr id="226" name="Rectangle 225"/>
                  <p:cNvSpPr>
                    <a:spLocks noChangeArrowheads="1"/>
                  </p:cNvSpPr>
                  <p:nvPr/>
                </p:nvSpPr>
                <p:spPr bwMode="gray">
                  <a:xfrm>
                    <a:off x="7860000" y="4030070"/>
                    <a:ext cx="115116" cy="115116"/>
                  </a:xfrm>
                  <a:prstGeom prst="rect">
                    <a:avLst/>
                  </a:prstGeom>
                  <a:solidFill>
                    <a:srgbClr val="43B02A"/>
                  </a:solidFill>
                  <a:ln w="12700">
                    <a:noFill/>
                    <a:round/>
                    <a:headEnd/>
                    <a:tailEnd/>
                  </a:ln>
                  <a:effectLst/>
                </p:spPr>
                <p:txBody>
                  <a:bodyPr wrap="none" anchor="ctr"/>
                  <a:lstStyle/>
                  <a:p>
                    <a:pPr algn="ctr"/>
                    <a:endParaRPr lang="en-US" sz="1200" dirty="0"/>
                  </a:p>
                </p:txBody>
              </p:sp>
              <p:sp>
                <p:nvSpPr>
                  <p:cNvPr id="227" name="Rectangle 226"/>
                  <p:cNvSpPr>
                    <a:spLocks noChangeArrowheads="1"/>
                  </p:cNvSpPr>
                  <p:nvPr/>
                </p:nvSpPr>
                <p:spPr bwMode="gray">
                  <a:xfrm>
                    <a:off x="6342459" y="4238791"/>
                    <a:ext cx="115116" cy="115116"/>
                  </a:xfrm>
                  <a:prstGeom prst="rect">
                    <a:avLst/>
                  </a:prstGeom>
                  <a:solidFill>
                    <a:srgbClr val="43B02A"/>
                  </a:solidFill>
                  <a:ln w="12700">
                    <a:noFill/>
                    <a:round/>
                    <a:headEnd/>
                    <a:tailEnd/>
                  </a:ln>
                  <a:effectLst/>
                </p:spPr>
                <p:txBody>
                  <a:bodyPr wrap="none" anchor="ctr"/>
                  <a:lstStyle/>
                  <a:p>
                    <a:pPr algn="ctr"/>
                    <a:endParaRPr lang="en-US" sz="1200" dirty="0"/>
                  </a:p>
                </p:txBody>
              </p:sp>
              <p:sp>
                <p:nvSpPr>
                  <p:cNvPr id="228" name="Rectangle 227"/>
                  <p:cNvSpPr>
                    <a:spLocks noChangeArrowheads="1"/>
                  </p:cNvSpPr>
                  <p:nvPr/>
                </p:nvSpPr>
                <p:spPr bwMode="gray">
                  <a:xfrm>
                    <a:off x="6990465" y="3423015"/>
                    <a:ext cx="115116" cy="115116"/>
                  </a:xfrm>
                  <a:prstGeom prst="rect">
                    <a:avLst/>
                  </a:prstGeom>
                  <a:solidFill>
                    <a:srgbClr val="43B02A"/>
                  </a:solidFill>
                  <a:ln w="12700">
                    <a:noFill/>
                    <a:round/>
                    <a:headEnd/>
                    <a:tailEnd/>
                  </a:ln>
                  <a:effectLst/>
                </p:spPr>
                <p:txBody>
                  <a:bodyPr wrap="none" anchor="ctr"/>
                  <a:lstStyle/>
                  <a:p>
                    <a:pPr algn="ctr"/>
                    <a:endParaRPr lang="en-US" sz="1200" dirty="0"/>
                  </a:p>
                </p:txBody>
              </p:sp>
              <p:sp>
                <p:nvSpPr>
                  <p:cNvPr id="229" name="Rectangle 228"/>
                  <p:cNvSpPr>
                    <a:spLocks noChangeArrowheads="1"/>
                  </p:cNvSpPr>
                  <p:nvPr/>
                </p:nvSpPr>
                <p:spPr bwMode="gray">
                  <a:xfrm>
                    <a:off x="7351643" y="3349384"/>
                    <a:ext cx="115116" cy="115116"/>
                  </a:xfrm>
                  <a:prstGeom prst="rect">
                    <a:avLst/>
                  </a:prstGeom>
                  <a:solidFill>
                    <a:srgbClr val="FF0000"/>
                  </a:solidFill>
                  <a:ln w="12700">
                    <a:noFill/>
                    <a:round/>
                    <a:headEnd/>
                    <a:tailEnd/>
                  </a:ln>
                  <a:effectLst/>
                </p:spPr>
                <p:txBody>
                  <a:bodyPr wrap="none" anchor="ctr"/>
                  <a:lstStyle/>
                  <a:p>
                    <a:pPr algn="ctr"/>
                    <a:endParaRPr lang="en-US" sz="1200" dirty="0"/>
                  </a:p>
                </p:txBody>
              </p:sp>
              <p:sp>
                <p:nvSpPr>
                  <p:cNvPr id="230" name="Rectangle 229"/>
                  <p:cNvSpPr>
                    <a:spLocks noChangeArrowheads="1"/>
                  </p:cNvSpPr>
                  <p:nvPr/>
                </p:nvSpPr>
                <p:spPr bwMode="gray">
                  <a:xfrm>
                    <a:off x="8040319" y="2841113"/>
                    <a:ext cx="115116" cy="115116"/>
                  </a:xfrm>
                  <a:prstGeom prst="rect">
                    <a:avLst/>
                  </a:prstGeom>
                  <a:solidFill>
                    <a:srgbClr val="FF0000"/>
                  </a:solidFill>
                  <a:ln w="12700">
                    <a:noFill/>
                    <a:round/>
                    <a:headEnd/>
                    <a:tailEnd/>
                  </a:ln>
                  <a:effectLst/>
                </p:spPr>
                <p:txBody>
                  <a:bodyPr wrap="none" anchor="ctr"/>
                  <a:lstStyle/>
                  <a:p>
                    <a:pPr algn="ctr"/>
                    <a:endParaRPr lang="en-US" sz="1200" dirty="0"/>
                  </a:p>
                </p:txBody>
              </p:sp>
              <p:sp>
                <p:nvSpPr>
                  <p:cNvPr id="231" name="Rectangle 230"/>
                  <p:cNvSpPr>
                    <a:spLocks noChangeArrowheads="1"/>
                  </p:cNvSpPr>
                  <p:nvPr/>
                </p:nvSpPr>
                <p:spPr bwMode="gray">
                  <a:xfrm>
                    <a:off x="8196161" y="2775992"/>
                    <a:ext cx="115116" cy="115116"/>
                  </a:xfrm>
                  <a:prstGeom prst="rect">
                    <a:avLst/>
                  </a:prstGeom>
                  <a:solidFill>
                    <a:srgbClr val="FF0000"/>
                  </a:solidFill>
                  <a:ln w="12700">
                    <a:noFill/>
                    <a:round/>
                    <a:headEnd/>
                    <a:tailEnd/>
                  </a:ln>
                  <a:effectLst/>
                </p:spPr>
                <p:txBody>
                  <a:bodyPr wrap="none" anchor="ctr"/>
                  <a:lstStyle/>
                  <a:p>
                    <a:pPr algn="ctr"/>
                    <a:endParaRPr lang="en-US" sz="1200" dirty="0"/>
                  </a:p>
                </p:txBody>
              </p:sp>
              <p:sp>
                <p:nvSpPr>
                  <p:cNvPr id="232" name="Rectangle 231"/>
                  <p:cNvSpPr>
                    <a:spLocks noChangeArrowheads="1"/>
                  </p:cNvSpPr>
                  <p:nvPr/>
                </p:nvSpPr>
                <p:spPr bwMode="gray">
                  <a:xfrm>
                    <a:off x="8437591" y="2503255"/>
                    <a:ext cx="115116" cy="115116"/>
                  </a:xfrm>
                  <a:prstGeom prst="rect">
                    <a:avLst/>
                  </a:prstGeom>
                  <a:solidFill>
                    <a:srgbClr val="FF0000"/>
                  </a:solidFill>
                  <a:ln w="12700">
                    <a:noFill/>
                    <a:round/>
                    <a:headEnd/>
                    <a:tailEnd/>
                  </a:ln>
                  <a:effectLst/>
                </p:spPr>
                <p:txBody>
                  <a:bodyPr wrap="none" anchor="ctr"/>
                  <a:lstStyle/>
                  <a:p>
                    <a:pPr algn="ctr"/>
                    <a:endParaRPr lang="en-US" sz="1200" dirty="0"/>
                  </a:p>
                </p:txBody>
              </p:sp>
              <p:sp>
                <p:nvSpPr>
                  <p:cNvPr id="233" name="Rectangle 232"/>
                  <p:cNvSpPr>
                    <a:spLocks noChangeArrowheads="1"/>
                  </p:cNvSpPr>
                  <p:nvPr/>
                </p:nvSpPr>
                <p:spPr bwMode="gray">
                  <a:xfrm>
                    <a:off x="8312083" y="2423949"/>
                    <a:ext cx="115116" cy="115116"/>
                  </a:xfrm>
                  <a:prstGeom prst="rect">
                    <a:avLst/>
                  </a:prstGeom>
                  <a:solidFill>
                    <a:srgbClr val="FF0000"/>
                  </a:solidFill>
                  <a:ln w="12700">
                    <a:noFill/>
                    <a:round/>
                    <a:headEnd/>
                    <a:tailEnd/>
                  </a:ln>
                  <a:effectLst/>
                </p:spPr>
                <p:txBody>
                  <a:bodyPr wrap="none" anchor="ctr"/>
                  <a:lstStyle/>
                  <a:p>
                    <a:pPr algn="ctr"/>
                    <a:endParaRPr lang="en-US" sz="1200" dirty="0"/>
                  </a:p>
                </p:txBody>
              </p:sp>
              <p:sp>
                <p:nvSpPr>
                  <p:cNvPr id="234" name="Rectangle 233"/>
                  <p:cNvSpPr>
                    <a:spLocks noChangeArrowheads="1"/>
                  </p:cNvSpPr>
                  <p:nvPr/>
                </p:nvSpPr>
                <p:spPr bwMode="gray">
                  <a:xfrm>
                    <a:off x="7018473" y="2501685"/>
                    <a:ext cx="115116" cy="115116"/>
                  </a:xfrm>
                  <a:prstGeom prst="rect">
                    <a:avLst/>
                  </a:prstGeom>
                  <a:solidFill>
                    <a:srgbClr val="43B02A"/>
                  </a:solidFill>
                  <a:ln w="12700">
                    <a:noFill/>
                    <a:round/>
                    <a:headEnd/>
                    <a:tailEnd/>
                  </a:ln>
                  <a:effectLst/>
                </p:spPr>
                <p:txBody>
                  <a:bodyPr wrap="none" anchor="ctr"/>
                  <a:lstStyle/>
                  <a:p>
                    <a:pPr algn="ctr"/>
                    <a:endParaRPr lang="en-US" sz="1200" dirty="0"/>
                  </a:p>
                </p:txBody>
              </p:sp>
              <p:sp>
                <p:nvSpPr>
                  <p:cNvPr id="235" name="Rectangle 5"/>
                  <p:cNvSpPr>
                    <a:spLocks noChangeArrowheads="1"/>
                  </p:cNvSpPr>
                  <p:nvPr/>
                </p:nvSpPr>
                <p:spPr bwMode="gray">
                  <a:xfrm>
                    <a:off x="6738944" y="3512138"/>
                    <a:ext cx="400257" cy="134824"/>
                  </a:xfrm>
                  <a:prstGeom prst="rect">
                    <a:avLst/>
                  </a:prstGeom>
                  <a:noFill/>
                  <a:ln w="12700">
                    <a:noFill/>
                    <a:miter lim="800000"/>
                    <a:headEnd/>
                    <a:tailEnd/>
                  </a:ln>
                  <a:effectLst/>
                </p:spPr>
                <p:txBody>
                  <a:bodyPr wrap="none" lIns="0" tIns="0" rIns="0" bIns="0">
                    <a:spAutoFit/>
                  </a:bodyPr>
                  <a:lstStyle/>
                  <a:p>
                    <a:pPr algn="ctr" defTabSz="1339850"/>
                    <a:r>
                      <a:rPr lang="en-US" sz="800" b="1" dirty="0"/>
                      <a:t>Dhaka</a:t>
                    </a:r>
                  </a:p>
                </p:txBody>
              </p:sp>
            </p:grpSp>
          </p:grpSp>
          <p:grpSp>
            <p:nvGrpSpPr>
              <p:cNvPr id="84" name="Group 83"/>
              <p:cNvGrpSpPr/>
              <p:nvPr/>
            </p:nvGrpSpPr>
            <p:grpSpPr>
              <a:xfrm>
                <a:off x="7187632" y="1260337"/>
                <a:ext cx="1989724" cy="522179"/>
                <a:chOff x="6878520" y="800831"/>
                <a:chExt cx="1989724" cy="522179"/>
              </a:xfrm>
            </p:grpSpPr>
            <p:sp>
              <p:nvSpPr>
                <p:cNvPr id="85" name="Rectangle 84"/>
                <p:cNvSpPr>
                  <a:spLocks noChangeArrowheads="1"/>
                </p:cNvSpPr>
                <p:nvPr/>
              </p:nvSpPr>
              <p:spPr bwMode="gray">
                <a:xfrm>
                  <a:off x="8753128" y="1190252"/>
                  <a:ext cx="115116" cy="115116"/>
                </a:xfrm>
                <a:prstGeom prst="rect">
                  <a:avLst/>
                </a:prstGeom>
                <a:solidFill>
                  <a:srgbClr val="FF0000"/>
                </a:solidFill>
                <a:ln w="12700">
                  <a:noFill/>
                  <a:round/>
                  <a:headEnd/>
                  <a:tailEnd/>
                </a:ln>
                <a:effectLst/>
              </p:spPr>
              <p:txBody>
                <a:bodyPr wrap="none" anchor="ctr"/>
                <a:lstStyle/>
                <a:p>
                  <a:pPr algn="ctr"/>
                  <a:endParaRPr lang="en-US" dirty="0"/>
                </a:p>
              </p:txBody>
            </p:sp>
            <p:sp>
              <p:nvSpPr>
                <p:cNvPr id="86" name="Rectangle 5"/>
                <p:cNvSpPr>
                  <a:spLocks noChangeArrowheads="1"/>
                </p:cNvSpPr>
                <p:nvPr/>
              </p:nvSpPr>
              <p:spPr bwMode="gray">
                <a:xfrm>
                  <a:off x="7762384" y="1169122"/>
                  <a:ext cx="657232" cy="153888"/>
                </a:xfrm>
                <a:prstGeom prst="rect">
                  <a:avLst/>
                </a:prstGeom>
                <a:noFill/>
                <a:ln w="12700">
                  <a:noFill/>
                  <a:miter lim="800000"/>
                  <a:headEnd/>
                  <a:tailEnd/>
                </a:ln>
                <a:effectLst/>
              </p:spPr>
              <p:txBody>
                <a:bodyPr wrap="none" lIns="0" tIns="0" rIns="0" bIns="0">
                  <a:spAutoFit/>
                </a:bodyPr>
                <a:lstStyle/>
                <a:p>
                  <a:pPr algn="ctr" defTabSz="1339850"/>
                  <a:r>
                    <a:rPr lang="en-US" sz="1000" dirty="0"/>
                    <a:t>Gas Fields</a:t>
                  </a:r>
                </a:p>
              </p:txBody>
            </p:sp>
            <p:sp>
              <p:nvSpPr>
                <p:cNvPr id="94" name="Rectangle 93"/>
                <p:cNvSpPr>
                  <a:spLocks noChangeArrowheads="1"/>
                </p:cNvSpPr>
                <p:nvPr/>
              </p:nvSpPr>
              <p:spPr bwMode="gray">
                <a:xfrm>
                  <a:off x="8753128" y="907229"/>
                  <a:ext cx="115116" cy="115116"/>
                </a:xfrm>
                <a:prstGeom prst="rect">
                  <a:avLst/>
                </a:prstGeom>
                <a:solidFill>
                  <a:srgbClr val="43B02A"/>
                </a:solidFill>
                <a:ln w="12700">
                  <a:noFill/>
                  <a:round/>
                  <a:headEnd/>
                  <a:tailEnd/>
                </a:ln>
                <a:effectLst/>
              </p:spPr>
              <p:txBody>
                <a:bodyPr wrap="none" anchor="ctr"/>
                <a:lstStyle/>
                <a:p>
                  <a:pPr algn="ctr"/>
                  <a:endParaRPr lang="en-US" dirty="0"/>
                </a:p>
              </p:txBody>
            </p:sp>
            <p:sp>
              <p:nvSpPr>
                <p:cNvPr id="95" name="Rectangle 5"/>
                <p:cNvSpPr>
                  <a:spLocks noChangeArrowheads="1"/>
                </p:cNvSpPr>
                <p:nvPr/>
              </p:nvSpPr>
              <p:spPr bwMode="gray">
                <a:xfrm>
                  <a:off x="6878520" y="800831"/>
                  <a:ext cx="1825783" cy="337059"/>
                </a:xfrm>
                <a:prstGeom prst="rect">
                  <a:avLst/>
                </a:prstGeom>
                <a:noFill/>
                <a:ln w="12700">
                  <a:noFill/>
                  <a:miter lim="800000"/>
                  <a:headEnd/>
                  <a:tailEnd/>
                </a:ln>
                <a:effectLst/>
              </p:spPr>
              <p:txBody>
                <a:bodyPr wrap="square" lIns="0" tIns="0" rIns="0" bIns="0">
                  <a:spAutoFit/>
                </a:bodyPr>
                <a:lstStyle/>
                <a:p>
                  <a:pPr algn="ctr" defTabSz="1339850"/>
                  <a:r>
                    <a:rPr lang="en-US" sz="1000" dirty="0"/>
                    <a:t>Natural Gas Pipeline Connectivity Points</a:t>
                  </a:r>
                </a:p>
              </p:txBody>
            </p:sp>
          </p:grpSp>
        </p:grpSp>
        <p:sp>
          <p:nvSpPr>
            <p:cNvPr id="45" name="Rectangle 44"/>
            <p:cNvSpPr>
              <a:spLocks noChangeArrowheads="1"/>
            </p:cNvSpPr>
            <p:nvPr/>
          </p:nvSpPr>
          <p:spPr bwMode="gray">
            <a:xfrm>
              <a:off x="1637910" y="4312751"/>
              <a:ext cx="132595" cy="132595"/>
            </a:xfrm>
            <a:prstGeom prst="rect">
              <a:avLst/>
            </a:prstGeom>
            <a:solidFill>
              <a:srgbClr val="43B02A"/>
            </a:solidFill>
            <a:ln w="12700">
              <a:noFill/>
              <a:round/>
              <a:headEnd/>
              <a:tailEnd/>
            </a:ln>
            <a:effectLst/>
          </p:spPr>
          <p:txBody>
            <a:bodyPr wrap="none" anchor="ctr"/>
            <a:lstStyle/>
            <a:p>
              <a:pPr algn="ctr"/>
              <a:endParaRPr lang="en-US" sz="1200" dirty="0"/>
            </a:p>
          </p:txBody>
        </p:sp>
        <p:sp>
          <p:nvSpPr>
            <p:cNvPr id="46" name="Rectangle 5"/>
            <p:cNvSpPr>
              <a:spLocks noChangeArrowheads="1"/>
            </p:cNvSpPr>
            <p:nvPr/>
          </p:nvSpPr>
          <p:spPr bwMode="gray">
            <a:xfrm>
              <a:off x="1491349" y="4165889"/>
              <a:ext cx="421990" cy="122231"/>
            </a:xfrm>
            <a:prstGeom prst="rect">
              <a:avLst/>
            </a:prstGeom>
            <a:noFill/>
            <a:ln w="12700">
              <a:noFill/>
              <a:miter lim="800000"/>
              <a:headEnd/>
              <a:tailEnd/>
            </a:ln>
            <a:effectLst/>
          </p:spPr>
          <p:txBody>
            <a:bodyPr wrap="none" lIns="0" tIns="0" rIns="0" bIns="0">
              <a:spAutoFit/>
            </a:bodyPr>
            <a:lstStyle/>
            <a:p>
              <a:pPr algn="ctr" defTabSz="1339850"/>
              <a:r>
                <a:rPr lang="en-US" sz="700" dirty="0"/>
                <a:t>Jhendah</a:t>
              </a:r>
            </a:p>
          </p:txBody>
        </p:sp>
        <p:cxnSp>
          <p:nvCxnSpPr>
            <p:cNvPr id="47" name="Straight Connector 46"/>
            <p:cNvCxnSpPr>
              <a:stCxn id="45" idx="2"/>
              <a:endCxn id="98" idx="0"/>
            </p:cNvCxnSpPr>
            <p:nvPr/>
          </p:nvCxnSpPr>
          <p:spPr>
            <a:xfrm>
              <a:off x="1704208" y="4445346"/>
              <a:ext cx="71666" cy="271456"/>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48" name="Rectangle 47"/>
            <p:cNvSpPr>
              <a:spLocks noChangeArrowheads="1"/>
            </p:cNvSpPr>
            <p:nvPr/>
          </p:nvSpPr>
          <p:spPr bwMode="gray">
            <a:xfrm>
              <a:off x="1749279" y="3953875"/>
              <a:ext cx="132595" cy="132595"/>
            </a:xfrm>
            <a:prstGeom prst="rect">
              <a:avLst/>
            </a:prstGeom>
            <a:solidFill>
              <a:srgbClr val="43B02A"/>
            </a:solidFill>
            <a:ln w="12700">
              <a:noFill/>
              <a:round/>
              <a:headEnd/>
              <a:tailEnd/>
            </a:ln>
            <a:effectLst/>
          </p:spPr>
          <p:txBody>
            <a:bodyPr wrap="none" anchor="ctr"/>
            <a:lstStyle/>
            <a:p>
              <a:pPr algn="ctr"/>
              <a:endParaRPr lang="en-US" sz="1200" dirty="0"/>
            </a:p>
          </p:txBody>
        </p:sp>
        <p:sp>
          <p:nvSpPr>
            <p:cNvPr id="49" name="Rectangle 48"/>
            <p:cNvSpPr>
              <a:spLocks noChangeArrowheads="1"/>
            </p:cNvSpPr>
            <p:nvPr/>
          </p:nvSpPr>
          <p:spPr bwMode="gray">
            <a:xfrm>
              <a:off x="1703528" y="3745141"/>
              <a:ext cx="132595" cy="132595"/>
            </a:xfrm>
            <a:prstGeom prst="rect">
              <a:avLst/>
            </a:prstGeom>
            <a:solidFill>
              <a:srgbClr val="43B02A"/>
            </a:solidFill>
            <a:ln w="12700">
              <a:noFill/>
              <a:round/>
              <a:headEnd/>
              <a:tailEnd/>
            </a:ln>
            <a:effectLst/>
          </p:spPr>
          <p:txBody>
            <a:bodyPr wrap="none" anchor="ctr"/>
            <a:lstStyle/>
            <a:p>
              <a:pPr algn="ctr"/>
              <a:endParaRPr lang="en-US" sz="1200" dirty="0"/>
            </a:p>
          </p:txBody>
        </p:sp>
        <p:sp>
          <p:nvSpPr>
            <p:cNvPr id="50" name="Rectangle 5"/>
            <p:cNvSpPr>
              <a:spLocks noChangeArrowheads="1"/>
            </p:cNvSpPr>
            <p:nvPr/>
          </p:nvSpPr>
          <p:spPr bwMode="gray">
            <a:xfrm>
              <a:off x="1900057" y="3981163"/>
              <a:ext cx="380154" cy="122231"/>
            </a:xfrm>
            <a:prstGeom prst="rect">
              <a:avLst/>
            </a:prstGeom>
            <a:noFill/>
            <a:ln w="12700">
              <a:noFill/>
              <a:miter lim="800000"/>
              <a:headEnd/>
              <a:tailEnd/>
            </a:ln>
            <a:effectLst/>
          </p:spPr>
          <p:txBody>
            <a:bodyPr wrap="none" lIns="0" tIns="0" rIns="0" bIns="0">
              <a:spAutoFit/>
            </a:bodyPr>
            <a:lstStyle/>
            <a:p>
              <a:pPr algn="ctr" defTabSz="1339850"/>
              <a:r>
                <a:rPr lang="en-US" sz="700" dirty="0"/>
                <a:t>Kushtia</a:t>
              </a:r>
            </a:p>
          </p:txBody>
        </p:sp>
        <p:sp>
          <p:nvSpPr>
            <p:cNvPr id="51" name="Rectangle 5"/>
            <p:cNvSpPr>
              <a:spLocks noChangeArrowheads="1"/>
            </p:cNvSpPr>
            <p:nvPr/>
          </p:nvSpPr>
          <p:spPr bwMode="gray">
            <a:xfrm>
              <a:off x="1091097" y="3750129"/>
              <a:ext cx="563865" cy="122231"/>
            </a:xfrm>
            <a:prstGeom prst="rect">
              <a:avLst/>
            </a:prstGeom>
            <a:noFill/>
            <a:ln w="12700">
              <a:noFill/>
              <a:miter lim="800000"/>
              <a:headEnd/>
              <a:tailEnd/>
            </a:ln>
            <a:effectLst/>
          </p:spPr>
          <p:txBody>
            <a:bodyPr wrap="none" lIns="0" tIns="0" rIns="0" bIns="0">
              <a:spAutoFit/>
            </a:bodyPr>
            <a:lstStyle/>
            <a:p>
              <a:pPr algn="ctr" defTabSz="1339850"/>
              <a:r>
                <a:rPr lang="en-US" sz="700" dirty="0"/>
                <a:t>Bheramara</a:t>
              </a:r>
            </a:p>
          </p:txBody>
        </p:sp>
        <p:sp>
          <p:nvSpPr>
            <p:cNvPr id="52" name="Rectangle 51"/>
            <p:cNvSpPr>
              <a:spLocks noChangeArrowheads="1"/>
            </p:cNvSpPr>
            <p:nvPr/>
          </p:nvSpPr>
          <p:spPr bwMode="gray">
            <a:xfrm>
              <a:off x="1984847" y="3459680"/>
              <a:ext cx="132595" cy="132595"/>
            </a:xfrm>
            <a:prstGeom prst="rect">
              <a:avLst/>
            </a:prstGeom>
            <a:solidFill>
              <a:srgbClr val="43B02A"/>
            </a:solidFill>
            <a:ln w="12700">
              <a:noFill/>
              <a:round/>
              <a:headEnd/>
              <a:tailEnd/>
            </a:ln>
            <a:effectLst/>
          </p:spPr>
          <p:txBody>
            <a:bodyPr wrap="none" anchor="ctr"/>
            <a:lstStyle/>
            <a:p>
              <a:pPr algn="ctr"/>
              <a:endParaRPr lang="en-US" sz="1200" dirty="0"/>
            </a:p>
          </p:txBody>
        </p:sp>
        <p:cxnSp>
          <p:nvCxnSpPr>
            <p:cNvPr id="53" name="Straight Connector 52"/>
            <p:cNvCxnSpPr>
              <a:stCxn id="45" idx="0"/>
              <a:endCxn id="48" idx="2"/>
            </p:cNvCxnSpPr>
            <p:nvPr/>
          </p:nvCxnSpPr>
          <p:spPr>
            <a:xfrm flipV="1">
              <a:off x="1704208" y="4086470"/>
              <a:ext cx="111369" cy="226281"/>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a:stCxn id="49" idx="2"/>
              <a:endCxn id="48" idx="0"/>
            </p:cNvCxnSpPr>
            <p:nvPr/>
          </p:nvCxnSpPr>
          <p:spPr>
            <a:xfrm>
              <a:off x="1769826" y="3877736"/>
              <a:ext cx="45751" cy="76139"/>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55" name="Rectangle 54"/>
            <p:cNvSpPr>
              <a:spLocks noChangeArrowheads="1"/>
            </p:cNvSpPr>
            <p:nvPr/>
          </p:nvSpPr>
          <p:spPr bwMode="gray">
            <a:xfrm>
              <a:off x="1651245" y="3500620"/>
              <a:ext cx="132595" cy="132595"/>
            </a:xfrm>
            <a:prstGeom prst="rect">
              <a:avLst/>
            </a:prstGeom>
            <a:solidFill>
              <a:srgbClr val="43B02A"/>
            </a:solidFill>
            <a:ln w="12700">
              <a:noFill/>
              <a:round/>
              <a:headEnd/>
              <a:tailEnd/>
            </a:ln>
            <a:effectLst/>
          </p:spPr>
          <p:txBody>
            <a:bodyPr wrap="none" anchor="ctr"/>
            <a:lstStyle/>
            <a:p>
              <a:pPr algn="ctr"/>
              <a:endParaRPr lang="en-US" sz="1200" dirty="0"/>
            </a:p>
          </p:txBody>
        </p:sp>
        <p:sp>
          <p:nvSpPr>
            <p:cNvPr id="56" name="Rectangle 5"/>
            <p:cNvSpPr>
              <a:spLocks noChangeArrowheads="1"/>
            </p:cNvSpPr>
            <p:nvPr/>
          </p:nvSpPr>
          <p:spPr bwMode="gray">
            <a:xfrm>
              <a:off x="1219304" y="3522950"/>
              <a:ext cx="425628" cy="122231"/>
            </a:xfrm>
            <a:prstGeom prst="rect">
              <a:avLst/>
            </a:prstGeom>
            <a:noFill/>
            <a:ln w="12700">
              <a:noFill/>
              <a:miter lim="800000"/>
              <a:headEnd/>
              <a:tailEnd/>
            </a:ln>
            <a:effectLst/>
          </p:spPr>
          <p:txBody>
            <a:bodyPr wrap="none" lIns="0" tIns="0" rIns="0" bIns="0">
              <a:spAutoFit/>
            </a:bodyPr>
            <a:lstStyle/>
            <a:p>
              <a:pPr algn="ctr" defTabSz="1339850"/>
              <a:r>
                <a:rPr lang="en-US" sz="700" dirty="0"/>
                <a:t>Bonpara</a:t>
              </a:r>
            </a:p>
          </p:txBody>
        </p:sp>
        <p:cxnSp>
          <p:nvCxnSpPr>
            <p:cNvPr id="57" name="Straight Connector 56"/>
            <p:cNvCxnSpPr>
              <a:stCxn id="55" idx="2"/>
              <a:endCxn id="49" idx="0"/>
            </p:cNvCxnSpPr>
            <p:nvPr/>
          </p:nvCxnSpPr>
          <p:spPr>
            <a:xfrm>
              <a:off x="1717543" y="3633215"/>
              <a:ext cx="52283" cy="111926"/>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a:stCxn id="55" idx="3"/>
              <a:endCxn id="52" idx="1"/>
            </p:cNvCxnSpPr>
            <p:nvPr/>
          </p:nvCxnSpPr>
          <p:spPr>
            <a:xfrm flipV="1">
              <a:off x="1783840" y="3525978"/>
              <a:ext cx="201007" cy="40940"/>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a:off x="3114910" y="5429384"/>
              <a:ext cx="99576" cy="199819"/>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60" name="Rectangle 59"/>
            <p:cNvSpPr>
              <a:spLocks noChangeArrowheads="1"/>
            </p:cNvSpPr>
            <p:nvPr/>
          </p:nvSpPr>
          <p:spPr bwMode="gray">
            <a:xfrm>
              <a:off x="3790685" y="6442311"/>
              <a:ext cx="132595" cy="132595"/>
            </a:xfrm>
            <a:prstGeom prst="rect">
              <a:avLst/>
            </a:prstGeom>
            <a:solidFill>
              <a:schemeClr val="accent5"/>
            </a:solidFill>
            <a:ln w="12700">
              <a:noFill/>
              <a:round/>
              <a:headEnd/>
              <a:tailEnd/>
            </a:ln>
            <a:effectLst/>
          </p:spPr>
          <p:txBody>
            <a:bodyPr wrap="none" anchor="ctr"/>
            <a:lstStyle/>
            <a:p>
              <a:pPr algn="ctr"/>
              <a:endParaRPr lang="en-US" sz="1200" dirty="0"/>
            </a:p>
          </p:txBody>
        </p:sp>
        <p:sp>
          <p:nvSpPr>
            <p:cNvPr id="61" name="Rectangle 60"/>
            <p:cNvSpPr>
              <a:spLocks noChangeArrowheads="1"/>
            </p:cNvSpPr>
            <p:nvPr/>
          </p:nvSpPr>
          <p:spPr bwMode="gray">
            <a:xfrm>
              <a:off x="4012203" y="6442311"/>
              <a:ext cx="132595" cy="132595"/>
            </a:xfrm>
            <a:prstGeom prst="rect">
              <a:avLst/>
            </a:prstGeom>
            <a:solidFill>
              <a:schemeClr val="accent5"/>
            </a:solidFill>
            <a:ln w="12700">
              <a:noFill/>
              <a:round/>
              <a:headEnd/>
              <a:tailEnd/>
            </a:ln>
            <a:effectLst/>
          </p:spPr>
          <p:txBody>
            <a:bodyPr wrap="none" anchor="ctr"/>
            <a:lstStyle/>
            <a:p>
              <a:pPr algn="ctr"/>
              <a:endParaRPr lang="en-US" sz="1200" dirty="0"/>
            </a:p>
          </p:txBody>
        </p:sp>
        <p:sp>
          <p:nvSpPr>
            <p:cNvPr id="62" name="Rectangle 5"/>
            <p:cNvSpPr>
              <a:spLocks noChangeArrowheads="1"/>
            </p:cNvSpPr>
            <p:nvPr/>
          </p:nvSpPr>
          <p:spPr bwMode="gray">
            <a:xfrm>
              <a:off x="3101604" y="6444096"/>
              <a:ext cx="621966" cy="107722"/>
            </a:xfrm>
            <a:prstGeom prst="rect">
              <a:avLst/>
            </a:prstGeom>
            <a:noFill/>
            <a:ln w="12700">
              <a:noFill/>
              <a:miter lim="800000"/>
              <a:headEnd/>
              <a:tailEnd/>
            </a:ln>
            <a:effectLst/>
          </p:spPr>
          <p:txBody>
            <a:bodyPr wrap="none" lIns="0" tIns="0" rIns="0" bIns="0">
              <a:spAutoFit/>
            </a:bodyPr>
            <a:lstStyle/>
            <a:p>
              <a:pPr algn="ctr" defTabSz="1339850"/>
              <a:r>
                <a:rPr lang="en-US" sz="700" dirty="0"/>
                <a:t>Summit FSRU</a:t>
              </a:r>
            </a:p>
          </p:txBody>
        </p:sp>
        <p:sp>
          <p:nvSpPr>
            <p:cNvPr id="63" name="Rectangle 5"/>
            <p:cNvSpPr>
              <a:spLocks noChangeArrowheads="1"/>
            </p:cNvSpPr>
            <p:nvPr/>
          </p:nvSpPr>
          <p:spPr bwMode="gray">
            <a:xfrm>
              <a:off x="3829574" y="6626155"/>
              <a:ext cx="490520" cy="107722"/>
            </a:xfrm>
            <a:prstGeom prst="rect">
              <a:avLst/>
            </a:prstGeom>
            <a:noFill/>
            <a:ln w="12700">
              <a:noFill/>
              <a:miter lim="800000"/>
              <a:headEnd/>
              <a:tailEnd/>
            </a:ln>
            <a:effectLst/>
          </p:spPr>
          <p:txBody>
            <a:bodyPr wrap="none" lIns="0" tIns="0" rIns="0" bIns="0">
              <a:spAutoFit/>
            </a:bodyPr>
            <a:lstStyle/>
            <a:p>
              <a:pPr algn="ctr" defTabSz="1339850"/>
              <a:r>
                <a:rPr lang="en-US" sz="700" dirty="0"/>
                <a:t>EEEL FSRU</a:t>
              </a:r>
            </a:p>
          </p:txBody>
        </p:sp>
        <p:cxnSp>
          <p:nvCxnSpPr>
            <p:cNvPr id="72" name="Straight Connector 71"/>
            <p:cNvCxnSpPr/>
            <p:nvPr/>
          </p:nvCxnSpPr>
          <p:spPr>
            <a:xfrm>
              <a:off x="4291876" y="6442311"/>
              <a:ext cx="0" cy="0"/>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flipV="1">
              <a:off x="4291877" y="6202613"/>
              <a:ext cx="61896" cy="239698"/>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4193403" y="5655395"/>
              <a:ext cx="172674" cy="547218"/>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a:endCxn id="61" idx="0"/>
            </p:cNvCxnSpPr>
            <p:nvPr/>
          </p:nvCxnSpPr>
          <p:spPr>
            <a:xfrm flipH="1">
              <a:off x="4078501" y="6442311"/>
              <a:ext cx="204853" cy="0"/>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a:endCxn id="60" idx="0"/>
            </p:cNvCxnSpPr>
            <p:nvPr/>
          </p:nvCxnSpPr>
          <p:spPr>
            <a:xfrm flipH="1">
              <a:off x="3856983" y="6382753"/>
              <a:ext cx="121692" cy="59558"/>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flipH="1">
              <a:off x="3962134" y="6363214"/>
              <a:ext cx="329742" cy="29779"/>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78" name="Rectangle 77"/>
            <p:cNvSpPr>
              <a:spLocks noChangeArrowheads="1"/>
            </p:cNvSpPr>
            <p:nvPr/>
          </p:nvSpPr>
          <p:spPr bwMode="gray">
            <a:xfrm>
              <a:off x="4795487" y="1857265"/>
              <a:ext cx="132594" cy="132594"/>
            </a:xfrm>
            <a:prstGeom prst="rect">
              <a:avLst/>
            </a:prstGeom>
            <a:solidFill>
              <a:schemeClr val="accent5"/>
            </a:solidFill>
            <a:ln w="12700">
              <a:noFill/>
              <a:round/>
              <a:headEnd/>
              <a:tailEnd/>
            </a:ln>
            <a:effectLst/>
          </p:spPr>
          <p:txBody>
            <a:bodyPr wrap="none" anchor="ctr"/>
            <a:lstStyle/>
            <a:p>
              <a:pPr algn="ctr"/>
              <a:endParaRPr lang="en-US" dirty="0"/>
            </a:p>
          </p:txBody>
        </p:sp>
        <p:sp>
          <p:nvSpPr>
            <p:cNvPr id="80" name="Rectangle 5"/>
            <p:cNvSpPr>
              <a:spLocks noChangeArrowheads="1"/>
            </p:cNvSpPr>
            <p:nvPr/>
          </p:nvSpPr>
          <p:spPr bwMode="gray">
            <a:xfrm>
              <a:off x="3864192" y="1835971"/>
              <a:ext cx="346250" cy="153888"/>
            </a:xfrm>
            <a:prstGeom prst="rect">
              <a:avLst/>
            </a:prstGeom>
            <a:noFill/>
            <a:ln w="12700">
              <a:noFill/>
              <a:miter lim="800000"/>
              <a:headEnd/>
              <a:tailEnd/>
            </a:ln>
            <a:effectLst/>
          </p:spPr>
          <p:txBody>
            <a:bodyPr wrap="none" lIns="0" tIns="0" rIns="0" bIns="0">
              <a:spAutoFit/>
            </a:bodyPr>
            <a:lstStyle/>
            <a:p>
              <a:pPr algn="ctr" defTabSz="1339850"/>
              <a:r>
                <a:rPr lang="en-US" sz="1000" dirty="0"/>
                <a:t>FSRU</a:t>
              </a:r>
            </a:p>
          </p:txBody>
        </p:sp>
        <p:cxnSp>
          <p:nvCxnSpPr>
            <p:cNvPr id="81" name="Straight Connector 80"/>
            <p:cNvCxnSpPr/>
            <p:nvPr/>
          </p:nvCxnSpPr>
          <p:spPr>
            <a:xfrm flipH="1" flipV="1">
              <a:off x="4635651" y="2235154"/>
              <a:ext cx="292431" cy="8236"/>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82" name="Rectangle 5"/>
            <p:cNvSpPr>
              <a:spLocks noChangeArrowheads="1"/>
            </p:cNvSpPr>
            <p:nvPr/>
          </p:nvSpPr>
          <p:spPr bwMode="gray">
            <a:xfrm>
              <a:off x="3640324" y="2155640"/>
              <a:ext cx="787075" cy="153888"/>
            </a:xfrm>
            <a:prstGeom prst="rect">
              <a:avLst/>
            </a:prstGeom>
            <a:noFill/>
            <a:ln w="12700">
              <a:noFill/>
              <a:miter lim="800000"/>
              <a:headEnd/>
              <a:tailEnd/>
            </a:ln>
            <a:effectLst/>
          </p:spPr>
          <p:txBody>
            <a:bodyPr wrap="none" lIns="0" tIns="0" rIns="0" bIns="0">
              <a:spAutoFit/>
            </a:bodyPr>
            <a:lstStyle/>
            <a:p>
              <a:pPr algn="ctr" defTabSz="1339850"/>
              <a:r>
                <a:rPr lang="en-US" sz="1000" dirty="0"/>
                <a:t>Gas Pipeline</a:t>
              </a:r>
            </a:p>
          </p:txBody>
        </p:sp>
      </p:grpSp>
      <p:graphicFrame>
        <p:nvGraphicFramePr>
          <p:cNvPr id="256" name="Chart 255"/>
          <p:cNvGraphicFramePr/>
          <p:nvPr>
            <p:custDataLst>
              <p:tags r:id="rId4"/>
            </p:custDataLst>
            <p:extLst>
              <p:ext uri="{D42A27DB-BD31-4B8C-83A1-F6EECF244321}">
                <p14:modId xmlns:p14="http://schemas.microsoft.com/office/powerpoint/2010/main" val="586753512"/>
              </p:ext>
            </p:extLst>
          </p:nvPr>
        </p:nvGraphicFramePr>
        <p:xfrm>
          <a:off x="366713" y="4991100"/>
          <a:ext cx="4900612" cy="1895475"/>
        </p:xfrm>
        <a:graphic>
          <a:graphicData uri="http://schemas.openxmlformats.org/drawingml/2006/chart">
            <c:chart xmlns:c="http://schemas.openxmlformats.org/drawingml/2006/chart" xmlns:r="http://schemas.openxmlformats.org/officeDocument/2006/relationships" r:id="rId19"/>
          </a:graphicData>
        </a:graphic>
      </p:graphicFrame>
      <p:cxnSp>
        <p:nvCxnSpPr>
          <p:cNvPr id="237" name="Straight Connector 236"/>
          <p:cNvCxnSpPr/>
          <p:nvPr>
            <p:custDataLst>
              <p:tags r:id="rId5"/>
            </p:custDataLst>
          </p:nvPr>
        </p:nvCxnSpPr>
        <p:spPr bwMode="auto">
          <a:xfrm flipV="1">
            <a:off x="744538" y="4673600"/>
            <a:ext cx="4143375" cy="769938"/>
          </a:xfrm>
          <a:prstGeom prst="line">
            <a:avLst/>
          </a:prstGeom>
          <a:ln w="6350" cap="flat" cmpd="sng" algn="ctr">
            <a:solidFill>
              <a:schemeClr val="tx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43" name="StandardTextbox"/>
          <p:cNvSpPr>
            <a:spLocks noGrp="1"/>
          </p:cNvSpPr>
          <p:nvPr>
            <p:custDataLst>
              <p:tags r:id="rId6"/>
            </p:custDataLst>
          </p:nvPr>
        </p:nvSpPr>
        <p:spPr bwMode="auto">
          <a:xfrm>
            <a:off x="4133850" y="688975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656EC3B-B9FF-4E2E-ABE1-53CEFDEA1ABE}" type="datetime'''F''''''''''Y''''''''''''''''''''''''''''''''1''''8'''''''">
              <a:rPr lang="en-IN" altLang="en-US" b="0" smtClean="0"/>
              <a:pPr lvl="1" algn="ctr">
                <a:spcBef>
                  <a:spcPct val="0"/>
                </a:spcBef>
                <a:spcAft>
                  <a:spcPct val="0"/>
                </a:spcAft>
              </a:pPr>
              <a:t>FY18</a:t>
            </a:fld>
            <a:endParaRPr lang="en-IN" b="0" noProof="0" dirty="0">
              <a:sym typeface="+mn-lt"/>
            </a:endParaRPr>
          </a:p>
        </p:txBody>
      </p:sp>
      <p:sp>
        <p:nvSpPr>
          <p:cNvPr id="242" name="StandardTextbox"/>
          <p:cNvSpPr>
            <a:spLocks noGrp="1"/>
          </p:cNvSpPr>
          <p:nvPr>
            <p:custDataLst>
              <p:tags r:id="rId7"/>
            </p:custDataLst>
          </p:nvPr>
        </p:nvSpPr>
        <p:spPr bwMode="auto">
          <a:xfrm>
            <a:off x="2359025" y="688975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D315FEBD-A78B-411D-8DE2-40963D5D7E99}" type="datetime'''''''''''''''F''''''Y''''''1''''''''5'''''''''''''''''''''">
              <a:rPr lang="en-IN" altLang="en-US" b="0" smtClean="0"/>
              <a:pPr lvl="1" algn="ctr">
                <a:spcBef>
                  <a:spcPct val="0"/>
                </a:spcBef>
                <a:spcAft>
                  <a:spcPct val="0"/>
                </a:spcAft>
              </a:pPr>
              <a:t>FY15</a:t>
            </a:fld>
            <a:endParaRPr lang="en-IN" b="0" noProof="0" dirty="0">
              <a:sym typeface="+mn-lt"/>
            </a:endParaRPr>
          </a:p>
        </p:txBody>
      </p:sp>
      <p:sp>
        <p:nvSpPr>
          <p:cNvPr id="238" name="StandardTextbox"/>
          <p:cNvSpPr>
            <a:spLocks noGrp="1"/>
          </p:cNvSpPr>
          <p:nvPr>
            <p:custDataLst>
              <p:tags r:id="rId8"/>
            </p:custDataLst>
          </p:nvPr>
        </p:nvSpPr>
        <p:spPr bwMode="auto">
          <a:xfrm>
            <a:off x="582613" y="688975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65B36F5-F9E0-4453-8D05-81C0B6E71A4D}" type="datetime'''''''''''''F''''''Y''''''''''''''1''''''''''2'''''''''''">
              <a:rPr lang="en-IN" altLang="en-US" b="0" smtClean="0"/>
              <a:pPr lvl="1" algn="ctr">
                <a:spcBef>
                  <a:spcPct val="0"/>
                </a:spcBef>
                <a:spcAft>
                  <a:spcPct val="0"/>
                </a:spcAft>
              </a:pPr>
              <a:t>FY12</a:t>
            </a:fld>
            <a:endParaRPr lang="en-IN" b="0" noProof="0" dirty="0">
              <a:sym typeface="+mn-lt"/>
            </a:endParaRPr>
          </a:p>
        </p:txBody>
      </p:sp>
      <p:sp>
        <p:nvSpPr>
          <p:cNvPr id="245" name="StandardTextbox"/>
          <p:cNvSpPr>
            <a:spLocks noGrp="1"/>
          </p:cNvSpPr>
          <p:nvPr>
            <p:custDataLst>
              <p:tags r:id="rId9"/>
            </p:custDataLst>
          </p:nvPr>
        </p:nvSpPr>
        <p:spPr bwMode="auto">
          <a:xfrm>
            <a:off x="3541713" y="688975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0CB8861-1640-4D43-9D01-D4092AC26141}" type="datetime'''F''''''''''''''''''''''''''''''''''''''Y1''7'''''''''">
              <a:rPr lang="en-IN" altLang="en-US" b="0" smtClean="0"/>
              <a:pPr lvl="1" algn="ctr">
                <a:spcBef>
                  <a:spcPct val="0"/>
                </a:spcBef>
                <a:spcAft>
                  <a:spcPct val="0"/>
                </a:spcAft>
              </a:pPr>
              <a:t>FY17</a:t>
            </a:fld>
            <a:endParaRPr lang="en-IN" b="0" noProof="0" dirty="0">
              <a:sym typeface="+mn-lt"/>
            </a:endParaRPr>
          </a:p>
        </p:txBody>
      </p:sp>
      <p:sp>
        <p:nvSpPr>
          <p:cNvPr id="244" name="StandardTextbox"/>
          <p:cNvSpPr>
            <a:spLocks noGrp="1"/>
          </p:cNvSpPr>
          <p:nvPr>
            <p:custDataLst>
              <p:tags r:id="rId10"/>
            </p:custDataLst>
          </p:nvPr>
        </p:nvSpPr>
        <p:spPr bwMode="auto">
          <a:xfrm>
            <a:off x="2949575" y="688975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95A6AE6-9603-4FBF-835E-7FA59F62465C}" type="datetime'''''''''''''FY''''''1''''6'''''''''''''''''''''''''''">
              <a:rPr lang="en-IN" altLang="en-US" b="0" smtClean="0"/>
              <a:pPr lvl="1" algn="ctr">
                <a:spcBef>
                  <a:spcPct val="0"/>
                </a:spcBef>
                <a:spcAft>
                  <a:spcPct val="0"/>
                </a:spcAft>
              </a:pPr>
              <a:t>FY16</a:t>
            </a:fld>
            <a:endParaRPr lang="en-IN" b="0" noProof="0" dirty="0">
              <a:sym typeface="+mn-lt"/>
            </a:endParaRPr>
          </a:p>
        </p:txBody>
      </p:sp>
      <p:sp>
        <p:nvSpPr>
          <p:cNvPr id="240" name="StandardTextbox"/>
          <p:cNvSpPr>
            <a:spLocks noGrp="1"/>
          </p:cNvSpPr>
          <p:nvPr>
            <p:custDataLst>
              <p:tags r:id="rId11"/>
            </p:custDataLst>
          </p:nvPr>
        </p:nvSpPr>
        <p:spPr bwMode="auto">
          <a:xfrm>
            <a:off x="1766888" y="688975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9FA4D1B-5456-4D6F-B534-B160E8396848}" type="datetime'''F''''Y''''''''''''''''1''''''''''''4'''''''''''''''''''''">
              <a:rPr lang="en-IN" altLang="en-US" b="0" smtClean="0"/>
              <a:pPr lvl="1" algn="ctr">
                <a:spcBef>
                  <a:spcPct val="0"/>
                </a:spcBef>
                <a:spcAft>
                  <a:spcPct val="0"/>
                </a:spcAft>
              </a:pPr>
              <a:t>FY14</a:t>
            </a:fld>
            <a:endParaRPr lang="en-IN" b="0" noProof="0" dirty="0">
              <a:sym typeface="+mn-lt"/>
            </a:endParaRPr>
          </a:p>
        </p:txBody>
      </p:sp>
      <p:sp>
        <p:nvSpPr>
          <p:cNvPr id="239" name="StandardTextbox"/>
          <p:cNvSpPr>
            <a:spLocks noGrp="1"/>
          </p:cNvSpPr>
          <p:nvPr>
            <p:custDataLst>
              <p:tags r:id="rId12"/>
            </p:custDataLst>
          </p:nvPr>
        </p:nvSpPr>
        <p:spPr bwMode="auto">
          <a:xfrm>
            <a:off x="1174750" y="688975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757B281-F1BF-4123-98FF-EE1DF98E6999}" type="datetime'''''''''F''''''''''Y''''''''1''''''''''''''''''''''3'''''''''">
              <a:rPr lang="en-IN" altLang="en-US" b="0" smtClean="0"/>
              <a:pPr lvl="1" algn="ctr">
                <a:spcBef>
                  <a:spcPct val="0"/>
                </a:spcBef>
                <a:spcAft>
                  <a:spcPct val="0"/>
                </a:spcAft>
              </a:pPr>
              <a:t>FY13</a:t>
            </a:fld>
            <a:endParaRPr lang="en-IN" b="0" noProof="0" dirty="0">
              <a:sym typeface="+mn-lt"/>
            </a:endParaRPr>
          </a:p>
        </p:txBody>
      </p:sp>
      <p:sp>
        <p:nvSpPr>
          <p:cNvPr id="241" name="StandardTextbox"/>
          <p:cNvSpPr>
            <a:spLocks noGrp="1"/>
          </p:cNvSpPr>
          <p:nvPr>
            <p:custDataLst>
              <p:tags r:id="rId13"/>
            </p:custDataLst>
          </p:nvPr>
        </p:nvSpPr>
        <p:spPr bwMode="auto">
          <a:xfrm>
            <a:off x="4725988" y="688975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816C7320-9BFC-46D8-8AA9-ED52CC2F3EFF}" type="datetime'''''''''''''''''F''''''''''''''Y1''''''''''9'''''''''">
              <a:rPr lang="en-IN" altLang="en-US" b="0" smtClean="0"/>
              <a:pPr lvl="1" algn="ctr">
                <a:spcBef>
                  <a:spcPct val="0"/>
                </a:spcBef>
                <a:spcAft>
                  <a:spcPct val="0"/>
                </a:spcAft>
              </a:pPr>
              <a:t>FY19</a:t>
            </a:fld>
            <a:endParaRPr lang="en-IN" b="0" noProof="0" dirty="0">
              <a:sym typeface="+mn-lt"/>
            </a:endParaRPr>
          </a:p>
        </p:txBody>
      </p:sp>
      <p:sp>
        <p:nvSpPr>
          <p:cNvPr id="246" name="StandardTextbox"/>
          <p:cNvSpPr>
            <a:spLocks noGrp="1"/>
          </p:cNvSpPr>
          <p:nvPr>
            <p:custDataLst>
              <p:tags r:id="rId14"/>
            </p:custDataLst>
          </p:nvPr>
        </p:nvSpPr>
        <p:spPr bwMode="auto">
          <a:xfrm>
            <a:off x="2463800" y="4949825"/>
            <a:ext cx="706438" cy="215900"/>
          </a:xfrm>
          <a:prstGeom prst="ellipse">
            <a:avLst/>
          </a:prstGeom>
          <a:solidFill>
            <a:srgbClr val="FFFFFF"/>
          </a:solidFill>
          <a:ln w="9525" algn="ctr">
            <a:solidFill>
              <a:schemeClr val="tx1"/>
            </a:solidFill>
          </a:ln>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89AB4DE-299B-4E95-A79F-C57E287A0BE7}" type="datetime'''''''''''''''''''''''+9''''''''''.7''''''''''''''''%'''''''''">
              <a:rPr lang="en-IN" altLang="en-US" smtClean="0"/>
              <a:pPr lvl="1" algn="ctr">
                <a:spcBef>
                  <a:spcPct val="0"/>
                </a:spcBef>
                <a:spcAft>
                  <a:spcPct val="0"/>
                </a:spcAft>
              </a:pPr>
              <a:t>+9.7%</a:t>
            </a:fld>
            <a:endParaRPr lang="en-IN" noProof="0" dirty="0">
              <a:sym typeface="+mn-lt"/>
            </a:endParaRPr>
          </a:p>
        </p:txBody>
      </p:sp>
      <p:sp>
        <p:nvSpPr>
          <p:cNvPr id="257" name="Rectangle 256"/>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Petrobangla, GTCL, Industry Reports, Deloitte Analysis</a:t>
            </a:r>
          </a:p>
        </p:txBody>
      </p:sp>
    </p:spTree>
    <p:extLst>
      <p:ext uri="{BB962C8B-B14F-4D97-AF65-F5344CB8AC3E}">
        <p14:creationId xmlns:p14="http://schemas.microsoft.com/office/powerpoint/2010/main" val="2843347928"/>
      </p:ext>
    </p:extLst>
  </p:cSld>
  <p:clrMapOvr>
    <a:masterClrMapping/>
  </p:clrMapOvr>
  <p:transition>
    <p:fade/>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 name="Object 19" hidden="1"/>
          <p:cNvGraphicFramePr>
            <a:graphicFrameLocks noChangeAspect="1"/>
          </p:cNvGraphicFramePr>
          <p:nvPr>
            <p:custDataLst>
              <p:tags r:id="rId1"/>
            </p:custDataLst>
            <p:extLst>
              <p:ext uri="{D42A27DB-BD31-4B8C-83A1-F6EECF244321}">
                <p14:modId xmlns:p14="http://schemas.microsoft.com/office/powerpoint/2010/main" val="313401697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20" name="Object 19"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6" name="Rectangle 5"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Gas Transmission | Pipeline &amp; Power Plant (Overview)</a:t>
            </a:r>
            <a:endParaRPr lang="en-IN" dirty="0"/>
          </a:p>
        </p:txBody>
      </p:sp>
      <p:sp>
        <p:nvSpPr>
          <p:cNvPr id="3"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dirty="0">
                <a:solidFill>
                  <a:prstClr val="black">
                    <a:lumMod val="50000"/>
                    <a:lumOff val="50000"/>
                  </a:prstClr>
                </a:solidFill>
                <a:latin typeface="Verdana" panose="020B0604030504040204" pitchFamily="34" charset="0"/>
              </a:rPr>
              <a:t>The gas based power plants dominate the eastern region due to pipeline connectivity; However the proximity to gas fields play no role in gas transmission charges as Bangladesh has set a fixed tariff for Natural Gas / LNG for all power plants</a:t>
            </a:r>
            <a:endPar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4" name="Table 3"/>
          <p:cNvGraphicFramePr>
            <a:graphicFrameLocks noGrp="1"/>
          </p:cNvGraphicFramePr>
          <p:nvPr>
            <p:custDataLst>
              <p:tags r:id="rId3"/>
            </p:custDataLst>
            <p:extLst>
              <p:ext uri="{D42A27DB-BD31-4B8C-83A1-F6EECF244321}">
                <p14:modId xmlns:p14="http://schemas.microsoft.com/office/powerpoint/2010/main" val="4253896449"/>
              </p:ext>
            </p:extLst>
          </p:nvPr>
        </p:nvGraphicFramePr>
        <p:xfrm>
          <a:off x="449993" y="1961917"/>
          <a:ext cx="4734896" cy="37351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2792645">
                <a:tc>
                  <a:txBody>
                    <a:bodyPr/>
                    <a:lstStyle/>
                    <a:p>
                      <a:pPr marL="0" indent="0" algn="just">
                        <a:spcBef>
                          <a:spcPts val="600"/>
                        </a:spcBef>
                        <a:spcAft>
                          <a:spcPts val="600"/>
                        </a:spcAft>
                        <a:buFont typeface="Arial" panose="020B0604020202020204" pitchFamily="34" charset="0"/>
                        <a:buNone/>
                      </a:pPr>
                      <a:r>
                        <a:rPr lang="en-US" sz="1000" b="1" baseline="0" dirty="0">
                          <a:solidFill>
                            <a:schemeClr val="tx1"/>
                          </a:solidFill>
                        </a:rPr>
                        <a:t>Gas Pipeline &amp; Power Plant (Overview)</a:t>
                      </a:r>
                    </a:p>
                    <a:p>
                      <a:pPr marL="171450" indent="-171450" algn="just">
                        <a:spcBef>
                          <a:spcPts val="0"/>
                        </a:spcBef>
                        <a:spcAft>
                          <a:spcPts val="600"/>
                        </a:spcAft>
                        <a:buFont typeface="Arial" panose="020B0604020202020204" pitchFamily="34" charset="0"/>
                        <a:buChar char="•"/>
                      </a:pPr>
                      <a:r>
                        <a:rPr lang="en-US" sz="1000" b="0" baseline="0" dirty="0">
                          <a:solidFill>
                            <a:schemeClr val="tx1"/>
                          </a:solidFill>
                        </a:rPr>
                        <a:t>The development of gas pipelines on the eastern region has also led to development of the power plants in the eastern region in Bangladesh</a:t>
                      </a:r>
                    </a:p>
                    <a:p>
                      <a:pPr marL="171450" indent="-171450" algn="just">
                        <a:spcBef>
                          <a:spcPts val="0"/>
                        </a:spcBef>
                        <a:spcAft>
                          <a:spcPts val="600"/>
                        </a:spcAft>
                        <a:buFont typeface="Arial" panose="020B0604020202020204" pitchFamily="34" charset="0"/>
                        <a:buChar char="•"/>
                      </a:pPr>
                      <a:r>
                        <a:rPr lang="en-US" sz="1000" b="0" baseline="0" dirty="0">
                          <a:solidFill>
                            <a:schemeClr val="tx1"/>
                          </a:solidFill>
                        </a:rPr>
                        <a:t>The power plants are served by the distribution companies which operate in each region in Bangladesh</a:t>
                      </a:r>
                    </a:p>
                    <a:p>
                      <a:pPr marL="171450" indent="-171450" algn="just">
                        <a:spcBef>
                          <a:spcPts val="0"/>
                        </a:spcBef>
                        <a:spcAft>
                          <a:spcPts val="600"/>
                        </a:spcAft>
                        <a:buFont typeface="Arial" panose="020B0604020202020204" pitchFamily="34" charset="0"/>
                        <a:buChar char="•"/>
                      </a:pPr>
                      <a:r>
                        <a:rPr lang="en-US" sz="1000" b="0" baseline="0" dirty="0">
                          <a:solidFill>
                            <a:schemeClr val="tx1"/>
                          </a:solidFill>
                        </a:rPr>
                        <a:t>As can be seen from the graph, the major gas cluster areas are in the Dhaka, Sylhet and the adjoining areas where majority of the gas fields are present</a:t>
                      </a:r>
                    </a:p>
                    <a:p>
                      <a:pPr marL="171450" indent="-171450" algn="just">
                        <a:spcBef>
                          <a:spcPts val="0"/>
                        </a:spcBef>
                        <a:spcAft>
                          <a:spcPts val="600"/>
                        </a:spcAft>
                        <a:buFont typeface="Arial" panose="020B0604020202020204" pitchFamily="34" charset="0"/>
                        <a:buChar char="•"/>
                      </a:pPr>
                      <a:r>
                        <a:rPr lang="en-US" sz="1000" b="0" baseline="0" dirty="0">
                          <a:solidFill>
                            <a:schemeClr val="tx1"/>
                          </a:solidFill>
                        </a:rPr>
                        <a:t>However, the proximity to gas fields plays no role in gas transmission cost for the power plants</a:t>
                      </a:r>
                    </a:p>
                    <a:p>
                      <a:pPr marL="0" indent="0" algn="ctr">
                        <a:spcBef>
                          <a:spcPts val="0"/>
                        </a:spcBef>
                        <a:spcAft>
                          <a:spcPts val="600"/>
                        </a:spcAft>
                        <a:buFont typeface="Arial" panose="020B0604020202020204" pitchFamily="34" charset="0"/>
                        <a:buNone/>
                      </a:pPr>
                      <a:r>
                        <a:rPr lang="en-US" sz="1400" b="1" i="1" kern="1200" dirty="0">
                          <a:solidFill>
                            <a:srgbClr val="0097A9"/>
                          </a:solidFill>
                          <a:latin typeface="+mn-lt"/>
                          <a:ea typeface="+mn-ea"/>
                          <a:cs typeface="+mn-cs"/>
                        </a:rPr>
                        <a:t>Each power plant pays the fixed tariff defined by BERC for purchasing natural gas / LNG as that rate is inclusive of the overall cost for transmission &amp; distribution of natural gas / LNG in Bangladesh</a:t>
                      </a:r>
                    </a:p>
                    <a:p>
                      <a:pPr marL="171450" indent="-171450" algn="just">
                        <a:spcBef>
                          <a:spcPts val="0"/>
                        </a:spcBef>
                        <a:spcAft>
                          <a:spcPts val="600"/>
                        </a:spcAft>
                        <a:buFont typeface="Arial" panose="020B0604020202020204" pitchFamily="34" charset="0"/>
                        <a:buChar char="•"/>
                      </a:pPr>
                      <a:endParaRPr lang="en-US" sz="1000" b="0" baseline="0" dirty="0">
                        <a:solidFill>
                          <a:schemeClr val="tx1"/>
                        </a:solidFill>
                      </a:endParaRPr>
                    </a:p>
                    <a:p>
                      <a:pPr marL="0" indent="0" algn="just">
                        <a:spcBef>
                          <a:spcPts val="0"/>
                        </a:spcBef>
                        <a:spcAft>
                          <a:spcPts val="600"/>
                        </a:spcAft>
                        <a:buFont typeface="Arial" panose="020B0604020202020204" pitchFamily="34" charset="0"/>
                        <a:buNone/>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pSp>
        <p:nvGrpSpPr>
          <p:cNvPr id="12" name="Group 11"/>
          <p:cNvGrpSpPr/>
          <p:nvPr/>
        </p:nvGrpSpPr>
        <p:grpSpPr>
          <a:xfrm>
            <a:off x="5607790" y="1875030"/>
            <a:ext cx="4529675" cy="5596413"/>
            <a:chOff x="5607790" y="1875030"/>
            <a:chExt cx="4529675" cy="5596413"/>
          </a:xfrm>
        </p:grpSpPr>
        <p:grpSp>
          <p:nvGrpSpPr>
            <p:cNvPr id="8" name="Group 7"/>
            <p:cNvGrpSpPr/>
            <p:nvPr/>
          </p:nvGrpSpPr>
          <p:grpSpPr>
            <a:xfrm>
              <a:off x="7757304" y="2055795"/>
              <a:ext cx="2111275" cy="998470"/>
              <a:chOff x="8118227" y="1954724"/>
              <a:chExt cx="2111275" cy="998470"/>
            </a:xfrm>
          </p:grpSpPr>
          <p:grpSp>
            <p:nvGrpSpPr>
              <p:cNvPr id="248" name="Group 247"/>
              <p:cNvGrpSpPr/>
              <p:nvPr/>
            </p:nvGrpSpPr>
            <p:grpSpPr>
              <a:xfrm>
                <a:off x="8118227" y="1954724"/>
                <a:ext cx="2111275" cy="851082"/>
                <a:chOff x="1183560" y="2088980"/>
                <a:chExt cx="2111275" cy="851082"/>
              </a:xfrm>
            </p:grpSpPr>
            <p:sp>
              <p:nvSpPr>
                <p:cNvPr id="259" name="Oval 258"/>
                <p:cNvSpPr/>
                <p:nvPr/>
              </p:nvSpPr>
              <p:spPr>
                <a:xfrm>
                  <a:off x="1183560" y="2137680"/>
                  <a:ext cx="148820" cy="1488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900" dirty="0">
                    <a:latin typeface="Verdana" panose="020B0604030504040204" pitchFamily="34" charset="0"/>
                    <a:ea typeface="Verdana" panose="020B0604030504040204" pitchFamily="34" charset="0"/>
                  </a:endParaRPr>
                </a:p>
              </p:txBody>
            </p:sp>
            <p:sp>
              <p:nvSpPr>
                <p:cNvPr id="260" name="TextBox 259"/>
                <p:cNvSpPr txBox="1"/>
                <p:nvPr/>
              </p:nvSpPr>
              <p:spPr>
                <a:xfrm>
                  <a:off x="1466177" y="2088980"/>
                  <a:ext cx="903515" cy="230832"/>
                </a:xfrm>
                <a:prstGeom prst="rect">
                  <a:avLst/>
                </a:prstGeom>
                <a:noFill/>
              </p:spPr>
              <p:txBody>
                <a:bodyPr wrap="square" rtlCol="0">
                  <a:spAutoFit/>
                </a:bodyPr>
                <a:lstStyle/>
                <a:p>
                  <a:r>
                    <a:rPr lang="en-US" sz="900" dirty="0">
                      <a:latin typeface="Verdana" panose="020B0604030504040204" pitchFamily="34" charset="0"/>
                      <a:ea typeface="Verdana" panose="020B0604030504040204" pitchFamily="34" charset="0"/>
                    </a:rPr>
                    <a:t>BPDB </a:t>
                  </a:r>
                  <a:endParaRPr lang="en-IN" sz="900" dirty="0">
                    <a:latin typeface="Verdana" panose="020B0604030504040204" pitchFamily="34" charset="0"/>
                    <a:ea typeface="Verdana" panose="020B0604030504040204" pitchFamily="34" charset="0"/>
                  </a:endParaRPr>
                </a:p>
              </p:txBody>
            </p:sp>
            <p:sp>
              <p:nvSpPr>
                <p:cNvPr id="261" name="Oval 260"/>
                <p:cNvSpPr/>
                <p:nvPr/>
              </p:nvSpPr>
              <p:spPr>
                <a:xfrm>
                  <a:off x="1996729" y="2120788"/>
                  <a:ext cx="148820" cy="14882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900" dirty="0">
                    <a:latin typeface="Verdana" panose="020B0604030504040204" pitchFamily="34" charset="0"/>
                    <a:ea typeface="Verdana" panose="020B0604030504040204" pitchFamily="34" charset="0"/>
                  </a:endParaRPr>
                </a:p>
              </p:txBody>
            </p:sp>
            <p:sp>
              <p:nvSpPr>
                <p:cNvPr id="262" name="TextBox 261"/>
                <p:cNvSpPr txBox="1"/>
                <p:nvPr/>
              </p:nvSpPr>
              <p:spPr>
                <a:xfrm>
                  <a:off x="2279346" y="2088980"/>
                  <a:ext cx="903515" cy="230832"/>
                </a:xfrm>
                <a:prstGeom prst="rect">
                  <a:avLst/>
                </a:prstGeom>
                <a:noFill/>
              </p:spPr>
              <p:txBody>
                <a:bodyPr wrap="square" rtlCol="0">
                  <a:spAutoFit/>
                </a:bodyPr>
                <a:lstStyle/>
                <a:p>
                  <a:r>
                    <a:rPr lang="en-US" sz="900" dirty="0">
                      <a:latin typeface="Verdana" panose="020B0604030504040204" pitchFamily="34" charset="0"/>
                      <a:ea typeface="Verdana" panose="020B0604030504040204" pitchFamily="34" charset="0"/>
                    </a:rPr>
                    <a:t>IPP</a:t>
                  </a:r>
                </a:p>
              </p:txBody>
            </p:sp>
            <p:sp>
              <p:nvSpPr>
                <p:cNvPr id="263" name="Oval 262"/>
                <p:cNvSpPr/>
                <p:nvPr/>
              </p:nvSpPr>
              <p:spPr>
                <a:xfrm>
                  <a:off x="1184626" y="2346734"/>
                  <a:ext cx="148820" cy="14882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900" dirty="0">
                    <a:latin typeface="Verdana" panose="020B0604030504040204" pitchFamily="34" charset="0"/>
                    <a:ea typeface="Verdana" panose="020B0604030504040204" pitchFamily="34" charset="0"/>
                  </a:endParaRPr>
                </a:p>
              </p:txBody>
            </p:sp>
            <p:sp>
              <p:nvSpPr>
                <p:cNvPr id="264" name="Oval 263"/>
                <p:cNvSpPr/>
                <p:nvPr/>
              </p:nvSpPr>
              <p:spPr>
                <a:xfrm>
                  <a:off x="1187445" y="2545579"/>
                  <a:ext cx="148820" cy="14882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900" dirty="0">
                    <a:latin typeface="Verdana" panose="020B0604030504040204" pitchFamily="34" charset="0"/>
                    <a:ea typeface="Verdana" panose="020B0604030504040204" pitchFamily="34" charset="0"/>
                  </a:endParaRPr>
                </a:p>
              </p:txBody>
            </p:sp>
            <p:sp>
              <p:nvSpPr>
                <p:cNvPr id="265" name="TextBox 264"/>
                <p:cNvSpPr txBox="1"/>
                <p:nvPr/>
              </p:nvSpPr>
              <p:spPr>
                <a:xfrm>
                  <a:off x="1467243" y="2286263"/>
                  <a:ext cx="903515" cy="230832"/>
                </a:xfrm>
                <a:prstGeom prst="rect">
                  <a:avLst/>
                </a:prstGeom>
                <a:noFill/>
              </p:spPr>
              <p:txBody>
                <a:bodyPr wrap="square" rtlCol="0">
                  <a:spAutoFit/>
                </a:bodyPr>
                <a:lstStyle/>
                <a:p>
                  <a:r>
                    <a:rPr lang="en-US" sz="900" dirty="0">
                      <a:latin typeface="Verdana" panose="020B0604030504040204" pitchFamily="34" charset="0"/>
                      <a:ea typeface="Verdana" panose="020B0604030504040204" pitchFamily="34" charset="0"/>
                    </a:rPr>
                    <a:t>Public</a:t>
                  </a:r>
                </a:p>
              </p:txBody>
            </p:sp>
            <p:sp>
              <p:nvSpPr>
                <p:cNvPr id="266" name="TextBox 265"/>
                <p:cNvSpPr txBox="1"/>
                <p:nvPr/>
              </p:nvSpPr>
              <p:spPr>
                <a:xfrm>
                  <a:off x="1470952" y="2483783"/>
                  <a:ext cx="1823883" cy="230832"/>
                </a:xfrm>
                <a:prstGeom prst="rect">
                  <a:avLst/>
                </a:prstGeom>
                <a:noFill/>
              </p:spPr>
              <p:txBody>
                <a:bodyPr wrap="square" rtlCol="0">
                  <a:spAutoFit/>
                </a:bodyPr>
                <a:lstStyle/>
                <a:p>
                  <a:r>
                    <a:rPr lang="en-US" sz="900" dirty="0">
                      <a:latin typeface="Verdana" panose="020B0604030504040204" pitchFamily="34" charset="0"/>
                      <a:ea typeface="Verdana" panose="020B0604030504040204" pitchFamily="34" charset="0"/>
                    </a:rPr>
                    <a:t>Upcoming BPDB &amp; public</a:t>
                  </a:r>
                </a:p>
              </p:txBody>
            </p:sp>
            <p:sp>
              <p:nvSpPr>
                <p:cNvPr id="267" name="Oval 266"/>
                <p:cNvSpPr/>
                <p:nvPr/>
              </p:nvSpPr>
              <p:spPr>
                <a:xfrm>
                  <a:off x="1196359" y="2753660"/>
                  <a:ext cx="148820" cy="148820"/>
                </a:xfrm>
                <a:prstGeom prst="ellipse">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900" dirty="0">
                    <a:latin typeface="Verdana" panose="020B0604030504040204" pitchFamily="34" charset="0"/>
                    <a:ea typeface="Verdana" panose="020B0604030504040204" pitchFamily="34" charset="0"/>
                  </a:endParaRPr>
                </a:p>
              </p:txBody>
            </p:sp>
            <p:sp>
              <p:nvSpPr>
                <p:cNvPr id="268" name="TextBox 267"/>
                <p:cNvSpPr txBox="1"/>
                <p:nvPr/>
              </p:nvSpPr>
              <p:spPr>
                <a:xfrm>
                  <a:off x="1480484" y="2709230"/>
                  <a:ext cx="1727505" cy="230832"/>
                </a:xfrm>
                <a:prstGeom prst="rect">
                  <a:avLst/>
                </a:prstGeom>
                <a:noFill/>
              </p:spPr>
              <p:txBody>
                <a:bodyPr wrap="square" rtlCol="0">
                  <a:spAutoFit/>
                </a:bodyPr>
                <a:lstStyle/>
                <a:p>
                  <a:r>
                    <a:rPr lang="en-US" sz="900" dirty="0">
                      <a:latin typeface="Verdana" panose="020B0604030504040204" pitchFamily="34" charset="0"/>
                      <a:ea typeface="Verdana" panose="020B0604030504040204" pitchFamily="34" charset="0"/>
                    </a:rPr>
                    <a:t>Upcoming private</a:t>
                  </a:r>
                </a:p>
              </p:txBody>
            </p:sp>
          </p:grpSp>
          <p:cxnSp>
            <p:nvCxnSpPr>
              <p:cNvPr id="415" name="Straight Connector 414"/>
              <p:cNvCxnSpPr/>
              <p:nvPr/>
            </p:nvCxnSpPr>
            <p:spPr>
              <a:xfrm flipH="1">
                <a:off x="8148567" y="2904823"/>
                <a:ext cx="166358" cy="0"/>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416" name="Rectangle 5"/>
              <p:cNvSpPr>
                <a:spLocks noChangeArrowheads="1"/>
              </p:cNvSpPr>
              <p:nvPr/>
            </p:nvSpPr>
            <p:spPr bwMode="gray">
              <a:xfrm>
                <a:off x="8459213" y="2814695"/>
                <a:ext cx="708527" cy="138499"/>
              </a:xfrm>
              <a:prstGeom prst="rect">
                <a:avLst/>
              </a:prstGeom>
              <a:noFill/>
              <a:ln w="12700">
                <a:noFill/>
                <a:miter lim="800000"/>
                <a:headEnd/>
                <a:tailEnd/>
              </a:ln>
              <a:effectLst/>
            </p:spPr>
            <p:txBody>
              <a:bodyPr wrap="none" lIns="0" tIns="0" rIns="0" bIns="0">
                <a:spAutoFit/>
              </a:bodyPr>
              <a:lstStyle/>
              <a:p>
                <a:pPr algn="ctr" defTabSz="1339850"/>
                <a:r>
                  <a:rPr lang="en-US" sz="900" dirty="0"/>
                  <a:t>Gas Pipeline</a:t>
                </a:r>
              </a:p>
            </p:txBody>
          </p:sp>
        </p:grpSp>
        <p:grpSp>
          <p:nvGrpSpPr>
            <p:cNvPr id="615" name="Group 614"/>
            <p:cNvGrpSpPr/>
            <p:nvPr/>
          </p:nvGrpSpPr>
          <p:grpSpPr>
            <a:xfrm>
              <a:off x="5607790" y="1875030"/>
              <a:ext cx="4529675" cy="5596413"/>
              <a:chOff x="709634" y="1088177"/>
              <a:chExt cx="3565068" cy="4404642"/>
            </a:xfrm>
          </p:grpSpPr>
          <p:grpSp>
            <p:nvGrpSpPr>
              <p:cNvPr id="616" name="Group 615"/>
              <p:cNvGrpSpPr/>
              <p:nvPr/>
            </p:nvGrpSpPr>
            <p:grpSpPr>
              <a:xfrm>
                <a:off x="709634" y="1088177"/>
                <a:ext cx="3320201" cy="4404642"/>
                <a:chOff x="709634" y="1088177"/>
                <a:chExt cx="3320201" cy="4404642"/>
              </a:xfrm>
            </p:grpSpPr>
            <p:sp>
              <p:nvSpPr>
                <p:cNvPr id="658" name="Freeform 657"/>
                <p:cNvSpPr>
                  <a:spLocks/>
                </p:cNvSpPr>
                <p:nvPr/>
              </p:nvSpPr>
              <p:spPr bwMode="gray">
                <a:xfrm>
                  <a:off x="709634" y="1088177"/>
                  <a:ext cx="3320201" cy="4404642"/>
                </a:xfrm>
                <a:custGeom>
                  <a:avLst/>
                  <a:gdLst/>
                  <a:ahLst/>
                  <a:cxnLst>
                    <a:cxn ang="0">
                      <a:pos x="1022" y="789"/>
                    </a:cxn>
                    <a:cxn ang="0">
                      <a:pos x="1062" y="808"/>
                    </a:cxn>
                    <a:cxn ang="0">
                      <a:pos x="1101" y="825"/>
                    </a:cxn>
                    <a:cxn ang="0">
                      <a:pos x="1606" y="843"/>
                    </a:cxn>
                    <a:cxn ang="0">
                      <a:pos x="1965" y="869"/>
                    </a:cxn>
                    <a:cxn ang="0">
                      <a:pos x="2316" y="939"/>
                    </a:cxn>
                    <a:cxn ang="0">
                      <a:pos x="2235" y="1088"/>
                    </a:cxn>
                    <a:cxn ang="0">
                      <a:pos x="2062" y="1378"/>
                    </a:cxn>
                    <a:cxn ang="0">
                      <a:pos x="1858" y="1486"/>
                    </a:cxn>
                    <a:cxn ang="0">
                      <a:pos x="1654" y="1717"/>
                    </a:cxn>
                    <a:cxn ang="0">
                      <a:pos x="1750" y="2060"/>
                    </a:cxn>
                    <a:cxn ang="0">
                      <a:pos x="1842" y="2088"/>
                    </a:cxn>
                    <a:cxn ang="0">
                      <a:pos x="2015" y="1886"/>
                    </a:cxn>
                    <a:cxn ang="0">
                      <a:pos x="2253" y="1720"/>
                    </a:cxn>
                    <a:cxn ang="0">
                      <a:pos x="2374" y="2280"/>
                    </a:cxn>
                    <a:cxn ang="0">
                      <a:pos x="2430" y="3120"/>
                    </a:cxn>
                    <a:cxn ang="0">
                      <a:pos x="2212" y="3102"/>
                    </a:cxn>
                    <a:cxn ang="0">
                      <a:pos x="2102" y="2978"/>
                    </a:cxn>
                    <a:cxn ang="0">
                      <a:pos x="2090" y="2890"/>
                    </a:cxn>
                    <a:cxn ang="0">
                      <a:pos x="2056" y="2940"/>
                    </a:cxn>
                    <a:cxn ang="0">
                      <a:pos x="2054" y="2849"/>
                    </a:cxn>
                    <a:cxn ang="0">
                      <a:pos x="2042" y="2821"/>
                    </a:cxn>
                    <a:cxn ang="0">
                      <a:pos x="2040" y="2622"/>
                    </a:cxn>
                    <a:cxn ang="0">
                      <a:pos x="1970" y="2480"/>
                    </a:cxn>
                    <a:cxn ang="0">
                      <a:pos x="1643" y="2259"/>
                    </a:cxn>
                    <a:cxn ang="0">
                      <a:pos x="1448" y="2410"/>
                    </a:cxn>
                    <a:cxn ang="0">
                      <a:pos x="1440" y="2718"/>
                    </a:cxn>
                    <a:cxn ang="0">
                      <a:pos x="1358" y="2726"/>
                    </a:cxn>
                    <a:cxn ang="0">
                      <a:pos x="1353" y="2516"/>
                    </a:cxn>
                    <a:cxn ang="0">
                      <a:pos x="1253" y="2662"/>
                    </a:cxn>
                    <a:cxn ang="0">
                      <a:pos x="1180" y="2843"/>
                    </a:cxn>
                    <a:cxn ang="0">
                      <a:pos x="1099" y="2815"/>
                    </a:cxn>
                    <a:cxn ang="0">
                      <a:pos x="1146" y="2695"/>
                    </a:cxn>
                    <a:cxn ang="0">
                      <a:pos x="1016" y="2772"/>
                    </a:cxn>
                    <a:cxn ang="0">
                      <a:pos x="970" y="2752"/>
                    </a:cxn>
                    <a:cxn ang="0">
                      <a:pos x="850" y="2747"/>
                    </a:cxn>
                    <a:cxn ang="0">
                      <a:pos x="771" y="2678"/>
                    </a:cxn>
                    <a:cxn ang="0">
                      <a:pos x="756" y="2812"/>
                    </a:cxn>
                    <a:cxn ang="0">
                      <a:pos x="698" y="2755"/>
                    </a:cxn>
                    <a:cxn ang="0">
                      <a:pos x="588" y="2812"/>
                    </a:cxn>
                    <a:cxn ang="0">
                      <a:pos x="519" y="2525"/>
                    </a:cxn>
                    <a:cxn ang="0">
                      <a:pos x="465" y="2195"/>
                    </a:cxn>
                    <a:cxn ang="0">
                      <a:pos x="354" y="1944"/>
                    </a:cxn>
                    <a:cxn ang="0">
                      <a:pos x="275" y="1745"/>
                    </a:cxn>
                    <a:cxn ang="0">
                      <a:pos x="359" y="1509"/>
                    </a:cxn>
                    <a:cxn ang="0">
                      <a:pos x="0" y="1150"/>
                    </a:cxn>
                    <a:cxn ang="0">
                      <a:pos x="186" y="997"/>
                    </a:cxn>
                    <a:cxn ang="0">
                      <a:pos x="472" y="847"/>
                    </a:cxn>
                    <a:cxn ang="0">
                      <a:pos x="401" y="662"/>
                    </a:cxn>
                    <a:cxn ang="0">
                      <a:pos x="159" y="533"/>
                    </a:cxn>
                    <a:cxn ang="0">
                      <a:pos x="106" y="263"/>
                    </a:cxn>
                    <a:cxn ang="0">
                      <a:pos x="173" y="32"/>
                    </a:cxn>
                    <a:cxn ang="0">
                      <a:pos x="366" y="186"/>
                    </a:cxn>
                    <a:cxn ang="0">
                      <a:pos x="494" y="236"/>
                    </a:cxn>
                    <a:cxn ang="0">
                      <a:pos x="525" y="140"/>
                    </a:cxn>
                    <a:cxn ang="0">
                      <a:pos x="677" y="361"/>
                    </a:cxn>
                    <a:cxn ang="0">
                      <a:pos x="840" y="299"/>
                    </a:cxn>
                    <a:cxn ang="0">
                      <a:pos x="949" y="373"/>
                    </a:cxn>
                  </a:cxnLst>
                  <a:rect l="0" t="0" r="r" b="b"/>
                  <a:pathLst>
                    <a:path w="2455" h="3260">
                      <a:moveTo>
                        <a:pt x="944" y="738"/>
                      </a:moveTo>
                      <a:lnTo>
                        <a:pt x="958" y="789"/>
                      </a:lnTo>
                      <a:lnTo>
                        <a:pt x="971" y="789"/>
                      </a:lnTo>
                      <a:lnTo>
                        <a:pt x="995" y="775"/>
                      </a:lnTo>
                      <a:lnTo>
                        <a:pt x="998" y="777"/>
                      </a:lnTo>
                      <a:lnTo>
                        <a:pt x="1002" y="778"/>
                      </a:lnTo>
                      <a:lnTo>
                        <a:pt x="1004" y="780"/>
                      </a:lnTo>
                      <a:lnTo>
                        <a:pt x="1007" y="782"/>
                      </a:lnTo>
                      <a:lnTo>
                        <a:pt x="1011" y="783"/>
                      </a:lnTo>
                      <a:lnTo>
                        <a:pt x="1016" y="785"/>
                      </a:lnTo>
                      <a:lnTo>
                        <a:pt x="1019" y="788"/>
                      </a:lnTo>
                      <a:lnTo>
                        <a:pt x="1022" y="789"/>
                      </a:lnTo>
                      <a:lnTo>
                        <a:pt x="1025" y="789"/>
                      </a:lnTo>
                      <a:lnTo>
                        <a:pt x="1028" y="791"/>
                      </a:lnTo>
                      <a:lnTo>
                        <a:pt x="1030" y="792"/>
                      </a:lnTo>
                      <a:lnTo>
                        <a:pt x="1035" y="796"/>
                      </a:lnTo>
                      <a:lnTo>
                        <a:pt x="1038" y="796"/>
                      </a:lnTo>
                      <a:lnTo>
                        <a:pt x="1041" y="797"/>
                      </a:lnTo>
                      <a:lnTo>
                        <a:pt x="1044" y="799"/>
                      </a:lnTo>
                      <a:lnTo>
                        <a:pt x="1047" y="801"/>
                      </a:lnTo>
                      <a:lnTo>
                        <a:pt x="1050" y="802"/>
                      </a:lnTo>
                      <a:lnTo>
                        <a:pt x="1053" y="804"/>
                      </a:lnTo>
                      <a:lnTo>
                        <a:pt x="1057" y="804"/>
                      </a:lnTo>
                      <a:lnTo>
                        <a:pt x="1062" y="808"/>
                      </a:lnTo>
                      <a:lnTo>
                        <a:pt x="1062" y="808"/>
                      </a:lnTo>
                      <a:lnTo>
                        <a:pt x="1067" y="810"/>
                      </a:lnTo>
                      <a:lnTo>
                        <a:pt x="1069" y="811"/>
                      </a:lnTo>
                      <a:lnTo>
                        <a:pt x="1074" y="813"/>
                      </a:lnTo>
                      <a:lnTo>
                        <a:pt x="1077" y="815"/>
                      </a:lnTo>
                      <a:lnTo>
                        <a:pt x="1080" y="816"/>
                      </a:lnTo>
                      <a:lnTo>
                        <a:pt x="1083" y="816"/>
                      </a:lnTo>
                      <a:lnTo>
                        <a:pt x="1086" y="819"/>
                      </a:lnTo>
                      <a:lnTo>
                        <a:pt x="1089" y="821"/>
                      </a:lnTo>
                      <a:lnTo>
                        <a:pt x="1094" y="821"/>
                      </a:lnTo>
                      <a:lnTo>
                        <a:pt x="1096" y="823"/>
                      </a:lnTo>
                      <a:lnTo>
                        <a:pt x="1101" y="825"/>
                      </a:lnTo>
                      <a:lnTo>
                        <a:pt x="1193" y="843"/>
                      </a:lnTo>
                      <a:lnTo>
                        <a:pt x="1243" y="868"/>
                      </a:lnTo>
                      <a:lnTo>
                        <a:pt x="1275" y="873"/>
                      </a:lnTo>
                      <a:lnTo>
                        <a:pt x="1317" y="854"/>
                      </a:lnTo>
                      <a:lnTo>
                        <a:pt x="1360" y="859"/>
                      </a:lnTo>
                      <a:lnTo>
                        <a:pt x="1383" y="851"/>
                      </a:lnTo>
                      <a:lnTo>
                        <a:pt x="1397" y="864"/>
                      </a:lnTo>
                      <a:lnTo>
                        <a:pt x="1429" y="866"/>
                      </a:lnTo>
                      <a:lnTo>
                        <a:pt x="1448" y="856"/>
                      </a:lnTo>
                      <a:lnTo>
                        <a:pt x="1487" y="869"/>
                      </a:lnTo>
                      <a:lnTo>
                        <a:pt x="1546" y="864"/>
                      </a:lnTo>
                      <a:lnTo>
                        <a:pt x="1606" y="843"/>
                      </a:lnTo>
                      <a:lnTo>
                        <a:pt x="1685" y="843"/>
                      </a:lnTo>
                      <a:lnTo>
                        <a:pt x="1704" y="837"/>
                      </a:lnTo>
                      <a:lnTo>
                        <a:pt x="1745" y="862"/>
                      </a:lnTo>
                      <a:lnTo>
                        <a:pt x="1773" y="862"/>
                      </a:lnTo>
                      <a:lnTo>
                        <a:pt x="1823" y="876"/>
                      </a:lnTo>
                      <a:lnTo>
                        <a:pt x="1861" y="869"/>
                      </a:lnTo>
                      <a:lnTo>
                        <a:pt x="1881" y="857"/>
                      </a:lnTo>
                      <a:lnTo>
                        <a:pt x="1886" y="874"/>
                      </a:lnTo>
                      <a:lnTo>
                        <a:pt x="1912" y="883"/>
                      </a:lnTo>
                      <a:lnTo>
                        <a:pt x="1936" y="879"/>
                      </a:lnTo>
                      <a:lnTo>
                        <a:pt x="1946" y="864"/>
                      </a:lnTo>
                      <a:lnTo>
                        <a:pt x="1965" y="869"/>
                      </a:lnTo>
                      <a:lnTo>
                        <a:pt x="1968" y="856"/>
                      </a:lnTo>
                      <a:lnTo>
                        <a:pt x="1989" y="862"/>
                      </a:lnTo>
                      <a:lnTo>
                        <a:pt x="2062" y="851"/>
                      </a:lnTo>
                      <a:lnTo>
                        <a:pt x="2088" y="856"/>
                      </a:lnTo>
                      <a:lnTo>
                        <a:pt x="2121" y="849"/>
                      </a:lnTo>
                      <a:lnTo>
                        <a:pt x="2163" y="859"/>
                      </a:lnTo>
                      <a:lnTo>
                        <a:pt x="2177" y="874"/>
                      </a:lnTo>
                      <a:lnTo>
                        <a:pt x="2201" y="876"/>
                      </a:lnTo>
                      <a:lnTo>
                        <a:pt x="2225" y="904"/>
                      </a:lnTo>
                      <a:lnTo>
                        <a:pt x="2276" y="910"/>
                      </a:lnTo>
                      <a:lnTo>
                        <a:pt x="2281" y="928"/>
                      </a:lnTo>
                      <a:lnTo>
                        <a:pt x="2316" y="939"/>
                      </a:lnTo>
                      <a:lnTo>
                        <a:pt x="2319" y="956"/>
                      </a:lnTo>
                      <a:lnTo>
                        <a:pt x="2323" y="975"/>
                      </a:lnTo>
                      <a:lnTo>
                        <a:pt x="2339" y="978"/>
                      </a:lnTo>
                      <a:lnTo>
                        <a:pt x="2338" y="989"/>
                      </a:lnTo>
                      <a:lnTo>
                        <a:pt x="2353" y="992"/>
                      </a:lnTo>
                      <a:lnTo>
                        <a:pt x="2362" y="1020"/>
                      </a:lnTo>
                      <a:lnTo>
                        <a:pt x="2329" y="1037"/>
                      </a:lnTo>
                      <a:lnTo>
                        <a:pt x="2302" y="1037"/>
                      </a:lnTo>
                      <a:lnTo>
                        <a:pt x="2246" y="1011"/>
                      </a:lnTo>
                      <a:lnTo>
                        <a:pt x="2230" y="1018"/>
                      </a:lnTo>
                      <a:lnTo>
                        <a:pt x="2239" y="1063"/>
                      </a:lnTo>
                      <a:lnTo>
                        <a:pt x="2235" y="1088"/>
                      </a:lnTo>
                      <a:lnTo>
                        <a:pt x="2205" y="1170"/>
                      </a:lnTo>
                      <a:lnTo>
                        <a:pt x="2201" y="1210"/>
                      </a:lnTo>
                      <a:lnTo>
                        <a:pt x="2169" y="1239"/>
                      </a:lnTo>
                      <a:lnTo>
                        <a:pt x="2171" y="1296"/>
                      </a:lnTo>
                      <a:lnTo>
                        <a:pt x="2145" y="1319"/>
                      </a:lnTo>
                      <a:lnTo>
                        <a:pt x="2086" y="1318"/>
                      </a:lnTo>
                      <a:lnTo>
                        <a:pt x="2081" y="1324"/>
                      </a:lnTo>
                      <a:lnTo>
                        <a:pt x="2095" y="1345"/>
                      </a:lnTo>
                      <a:lnTo>
                        <a:pt x="2092" y="1352"/>
                      </a:lnTo>
                      <a:lnTo>
                        <a:pt x="2070" y="1333"/>
                      </a:lnTo>
                      <a:lnTo>
                        <a:pt x="2058" y="1343"/>
                      </a:lnTo>
                      <a:lnTo>
                        <a:pt x="2062" y="1378"/>
                      </a:lnTo>
                      <a:lnTo>
                        <a:pt x="2044" y="1448"/>
                      </a:lnTo>
                      <a:lnTo>
                        <a:pt x="2032" y="1448"/>
                      </a:lnTo>
                      <a:lnTo>
                        <a:pt x="2013" y="1426"/>
                      </a:lnTo>
                      <a:lnTo>
                        <a:pt x="2009" y="1405"/>
                      </a:lnTo>
                      <a:lnTo>
                        <a:pt x="1968" y="1398"/>
                      </a:lnTo>
                      <a:lnTo>
                        <a:pt x="1968" y="1442"/>
                      </a:lnTo>
                      <a:lnTo>
                        <a:pt x="1958" y="1451"/>
                      </a:lnTo>
                      <a:lnTo>
                        <a:pt x="1936" y="1446"/>
                      </a:lnTo>
                      <a:lnTo>
                        <a:pt x="1914" y="1405"/>
                      </a:lnTo>
                      <a:lnTo>
                        <a:pt x="1902" y="1467"/>
                      </a:lnTo>
                      <a:lnTo>
                        <a:pt x="1893" y="1478"/>
                      </a:lnTo>
                      <a:lnTo>
                        <a:pt x="1858" y="1486"/>
                      </a:lnTo>
                      <a:lnTo>
                        <a:pt x="1786" y="1472"/>
                      </a:lnTo>
                      <a:lnTo>
                        <a:pt x="1764" y="1478"/>
                      </a:lnTo>
                      <a:lnTo>
                        <a:pt x="1762" y="1533"/>
                      </a:lnTo>
                      <a:lnTo>
                        <a:pt x="1751" y="1542"/>
                      </a:lnTo>
                      <a:lnTo>
                        <a:pt x="1729" y="1536"/>
                      </a:lnTo>
                      <a:lnTo>
                        <a:pt x="1710" y="1552"/>
                      </a:lnTo>
                      <a:lnTo>
                        <a:pt x="1693" y="1596"/>
                      </a:lnTo>
                      <a:lnTo>
                        <a:pt x="1700" y="1636"/>
                      </a:lnTo>
                      <a:lnTo>
                        <a:pt x="1687" y="1682"/>
                      </a:lnTo>
                      <a:lnTo>
                        <a:pt x="1660" y="1689"/>
                      </a:lnTo>
                      <a:lnTo>
                        <a:pt x="1649" y="1698"/>
                      </a:lnTo>
                      <a:lnTo>
                        <a:pt x="1654" y="1717"/>
                      </a:lnTo>
                      <a:lnTo>
                        <a:pt x="1674" y="1730"/>
                      </a:lnTo>
                      <a:lnTo>
                        <a:pt x="1668" y="1742"/>
                      </a:lnTo>
                      <a:lnTo>
                        <a:pt x="1655" y="1741"/>
                      </a:lnTo>
                      <a:lnTo>
                        <a:pt x="1654" y="1752"/>
                      </a:lnTo>
                      <a:lnTo>
                        <a:pt x="1679" y="1804"/>
                      </a:lnTo>
                      <a:lnTo>
                        <a:pt x="1679" y="1827"/>
                      </a:lnTo>
                      <a:lnTo>
                        <a:pt x="1700" y="1843"/>
                      </a:lnTo>
                      <a:lnTo>
                        <a:pt x="1718" y="1906"/>
                      </a:lnTo>
                      <a:lnTo>
                        <a:pt x="1737" y="1912"/>
                      </a:lnTo>
                      <a:lnTo>
                        <a:pt x="1720" y="1932"/>
                      </a:lnTo>
                      <a:lnTo>
                        <a:pt x="1731" y="1942"/>
                      </a:lnTo>
                      <a:lnTo>
                        <a:pt x="1750" y="2060"/>
                      </a:lnTo>
                      <a:lnTo>
                        <a:pt x="1765" y="2083"/>
                      </a:lnTo>
                      <a:lnTo>
                        <a:pt x="1782" y="2083"/>
                      </a:lnTo>
                      <a:lnTo>
                        <a:pt x="1768" y="2004"/>
                      </a:lnTo>
                      <a:lnTo>
                        <a:pt x="1777" y="1968"/>
                      </a:lnTo>
                      <a:lnTo>
                        <a:pt x="1792" y="1968"/>
                      </a:lnTo>
                      <a:lnTo>
                        <a:pt x="1809" y="1984"/>
                      </a:lnTo>
                      <a:lnTo>
                        <a:pt x="1809" y="1995"/>
                      </a:lnTo>
                      <a:lnTo>
                        <a:pt x="1818" y="1994"/>
                      </a:lnTo>
                      <a:lnTo>
                        <a:pt x="1818" y="2009"/>
                      </a:lnTo>
                      <a:lnTo>
                        <a:pt x="1830" y="2014"/>
                      </a:lnTo>
                      <a:lnTo>
                        <a:pt x="1849" y="2077"/>
                      </a:lnTo>
                      <a:lnTo>
                        <a:pt x="1842" y="2088"/>
                      </a:lnTo>
                      <a:lnTo>
                        <a:pt x="1856" y="2098"/>
                      </a:lnTo>
                      <a:lnTo>
                        <a:pt x="1858" y="2122"/>
                      </a:lnTo>
                      <a:lnTo>
                        <a:pt x="1871" y="2136"/>
                      </a:lnTo>
                      <a:lnTo>
                        <a:pt x="1888" y="2139"/>
                      </a:lnTo>
                      <a:lnTo>
                        <a:pt x="1895" y="2156"/>
                      </a:lnTo>
                      <a:lnTo>
                        <a:pt x="1912" y="2129"/>
                      </a:lnTo>
                      <a:lnTo>
                        <a:pt x="1952" y="2124"/>
                      </a:lnTo>
                      <a:lnTo>
                        <a:pt x="1982" y="2098"/>
                      </a:lnTo>
                      <a:lnTo>
                        <a:pt x="1984" y="2083"/>
                      </a:lnTo>
                      <a:lnTo>
                        <a:pt x="2003" y="2072"/>
                      </a:lnTo>
                      <a:lnTo>
                        <a:pt x="1976" y="1964"/>
                      </a:lnTo>
                      <a:lnTo>
                        <a:pt x="2015" y="1886"/>
                      </a:lnTo>
                      <a:lnTo>
                        <a:pt x="2062" y="1865"/>
                      </a:lnTo>
                      <a:lnTo>
                        <a:pt x="2081" y="1836"/>
                      </a:lnTo>
                      <a:lnTo>
                        <a:pt x="2066" y="1733"/>
                      </a:lnTo>
                      <a:lnTo>
                        <a:pt x="2073" y="1698"/>
                      </a:lnTo>
                      <a:lnTo>
                        <a:pt x="2116" y="1749"/>
                      </a:lnTo>
                      <a:lnTo>
                        <a:pt x="2135" y="1747"/>
                      </a:lnTo>
                      <a:lnTo>
                        <a:pt x="2185" y="1696"/>
                      </a:lnTo>
                      <a:lnTo>
                        <a:pt x="2203" y="1704"/>
                      </a:lnTo>
                      <a:lnTo>
                        <a:pt x="2212" y="1747"/>
                      </a:lnTo>
                      <a:lnTo>
                        <a:pt x="2221" y="1741"/>
                      </a:lnTo>
                      <a:lnTo>
                        <a:pt x="2232" y="1704"/>
                      </a:lnTo>
                      <a:lnTo>
                        <a:pt x="2253" y="1720"/>
                      </a:lnTo>
                      <a:lnTo>
                        <a:pt x="2248" y="1772"/>
                      </a:lnTo>
                      <a:lnTo>
                        <a:pt x="2263" y="1799"/>
                      </a:lnTo>
                      <a:lnTo>
                        <a:pt x="2271" y="1871"/>
                      </a:lnTo>
                      <a:lnTo>
                        <a:pt x="2295" y="1913"/>
                      </a:lnTo>
                      <a:lnTo>
                        <a:pt x="2302" y="1961"/>
                      </a:lnTo>
                      <a:lnTo>
                        <a:pt x="2284" y="1994"/>
                      </a:lnTo>
                      <a:lnTo>
                        <a:pt x="2290" y="2060"/>
                      </a:lnTo>
                      <a:lnTo>
                        <a:pt x="2302" y="2091"/>
                      </a:lnTo>
                      <a:lnTo>
                        <a:pt x="2298" y="2156"/>
                      </a:lnTo>
                      <a:lnTo>
                        <a:pt x="2336" y="2186"/>
                      </a:lnTo>
                      <a:lnTo>
                        <a:pt x="2348" y="2261"/>
                      </a:lnTo>
                      <a:lnTo>
                        <a:pt x="2374" y="2280"/>
                      </a:lnTo>
                      <a:lnTo>
                        <a:pt x="2381" y="2352"/>
                      </a:lnTo>
                      <a:lnTo>
                        <a:pt x="2377" y="2382"/>
                      </a:lnTo>
                      <a:lnTo>
                        <a:pt x="2386" y="2399"/>
                      </a:lnTo>
                      <a:lnTo>
                        <a:pt x="2413" y="2582"/>
                      </a:lnTo>
                      <a:lnTo>
                        <a:pt x="2422" y="2603"/>
                      </a:lnTo>
                      <a:lnTo>
                        <a:pt x="2417" y="2618"/>
                      </a:lnTo>
                      <a:lnTo>
                        <a:pt x="2398" y="2621"/>
                      </a:lnTo>
                      <a:lnTo>
                        <a:pt x="2429" y="2764"/>
                      </a:lnTo>
                      <a:lnTo>
                        <a:pt x="2417" y="2813"/>
                      </a:lnTo>
                      <a:lnTo>
                        <a:pt x="2429" y="2998"/>
                      </a:lnTo>
                      <a:lnTo>
                        <a:pt x="2454" y="3096"/>
                      </a:lnTo>
                      <a:lnTo>
                        <a:pt x="2430" y="3120"/>
                      </a:lnTo>
                      <a:lnTo>
                        <a:pt x="2416" y="3121"/>
                      </a:lnTo>
                      <a:lnTo>
                        <a:pt x="2393" y="3053"/>
                      </a:lnTo>
                      <a:lnTo>
                        <a:pt x="2378" y="3050"/>
                      </a:lnTo>
                      <a:lnTo>
                        <a:pt x="2355" y="3063"/>
                      </a:lnTo>
                      <a:lnTo>
                        <a:pt x="2328" y="3053"/>
                      </a:lnTo>
                      <a:lnTo>
                        <a:pt x="2317" y="3011"/>
                      </a:lnTo>
                      <a:lnTo>
                        <a:pt x="2292" y="2997"/>
                      </a:lnTo>
                      <a:lnTo>
                        <a:pt x="2266" y="3025"/>
                      </a:lnTo>
                      <a:lnTo>
                        <a:pt x="2240" y="3025"/>
                      </a:lnTo>
                      <a:lnTo>
                        <a:pt x="2232" y="3053"/>
                      </a:lnTo>
                      <a:lnTo>
                        <a:pt x="2203" y="3074"/>
                      </a:lnTo>
                      <a:lnTo>
                        <a:pt x="2212" y="3102"/>
                      </a:lnTo>
                      <a:lnTo>
                        <a:pt x="2201" y="3157"/>
                      </a:lnTo>
                      <a:lnTo>
                        <a:pt x="2201" y="3259"/>
                      </a:lnTo>
                      <a:lnTo>
                        <a:pt x="2126" y="3166"/>
                      </a:lnTo>
                      <a:lnTo>
                        <a:pt x="2121" y="3093"/>
                      </a:lnTo>
                      <a:lnTo>
                        <a:pt x="2133" y="3099"/>
                      </a:lnTo>
                      <a:lnTo>
                        <a:pt x="2119" y="3082"/>
                      </a:lnTo>
                      <a:lnTo>
                        <a:pt x="2116" y="3086"/>
                      </a:lnTo>
                      <a:lnTo>
                        <a:pt x="2109" y="3063"/>
                      </a:lnTo>
                      <a:lnTo>
                        <a:pt x="2073" y="3011"/>
                      </a:lnTo>
                      <a:lnTo>
                        <a:pt x="2078" y="2998"/>
                      </a:lnTo>
                      <a:lnTo>
                        <a:pt x="2085" y="3011"/>
                      </a:lnTo>
                      <a:lnTo>
                        <a:pt x="2102" y="2978"/>
                      </a:lnTo>
                      <a:lnTo>
                        <a:pt x="2114" y="2986"/>
                      </a:lnTo>
                      <a:lnTo>
                        <a:pt x="2107" y="2978"/>
                      </a:lnTo>
                      <a:lnTo>
                        <a:pt x="2126" y="2971"/>
                      </a:lnTo>
                      <a:lnTo>
                        <a:pt x="2107" y="2975"/>
                      </a:lnTo>
                      <a:lnTo>
                        <a:pt x="2099" y="2940"/>
                      </a:lnTo>
                      <a:lnTo>
                        <a:pt x="2102" y="2930"/>
                      </a:lnTo>
                      <a:lnTo>
                        <a:pt x="2114" y="2928"/>
                      </a:lnTo>
                      <a:lnTo>
                        <a:pt x="2107" y="2925"/>
                      </a:lnTo>
                      <a:lnTo>
                        <a:pt x="2109" y="2904"/>
                      </a:lnTo>
                      <a:lnTo>
                        <a:pt x="2100" y="2903"/>
                      </a:lnTo>
                      <a:lnTo>
                        <a:pt x="2112" y="2882"/>
                      </a:lnTo>
                      <a:lnTo>
                        <a:pt x="2090" y="2890"/>
                      </a:lnTo>
                      <a:lnTo>
                        <a:pt x="2088" y="2879"/>
                      </a:lnTo>
                      <a:lnTo>
                        <a:pt x="2078" y="2880"/>
                      </a:lnTo>
                      <a:lnTo>
                        <a:pt x="2094" y="2909"/>
                      </a:lnTo>
                      <a:lnTo>
                        <a:pt x="2081" y="2975"/>
                      </a:lnTo>
                      <a:lnTo>
                        <a:pt x="2088" y="2978"/>
                      </a:lnTo>
                      <a:lnTo>
                        <a:pt x="2066" y="2981"/>
                      </a:lnTo>
                      <a:lnTo>
                        <a:pt x="2073" y="2975"/>
                      </a:lnTo>
                      <a:lnTo>
                        <a:pt x="2042" y="2966"/>
                      </a:lnTo>
                      <a:lnTo>
                        <a:pt x="2056" y="2947"/>
                      </a:lnTo>
                      <a:lnTo>
                        <a:pt x="2044" y="2954"/>
                      </a:lnTo>
                      <a:lnTo>
                        <a:pt x="2044" y="2939"/>
                      </a:lnTo>
                      <a:lnTo>
                        <a:pt x="2056" y="2940"/>
                      </a:lnTo>
                      <a:lnTo>
                        <a:pt x="2059" y="2932"/>
                      </a:lnTo>
                      <a:lnTo>
                        <a:pt x="2049" y="2916"/>
                      </a:lnTo>
                      <a:lnTo>
                        <a:pt x="2034" y="2923"/>
                      </a:lnTo>
                      <a:lnTo>
                        <a:pt x="2044" y="2913"/>
                      </a:lnTo>
                      <a:lnTo>
                        <a:pt x="2037" y="2907"/>
                      </a:lnTo>
                      <a:lnTo>
                        <a:pt x="2049" y="2903"/>
                      </a:lnTo>
                      <a:lnTo>
                        <a:pt x="2042" y="2890"/>
                      </a:lnTo>
                      <a:lnTo>
                        <a:pt x="2053" y="2887"/>
                      </a:lnTo>
                      <a:lnTo>
                        <a:pt x="2049" y="2866"/>
                      </a:lnTo>
                      <a:lnTo>
                        <a:pt x="2062" y="2853"/>
                      </a:lnTo>
                      <a:lnTo>
                        <a:pt x="2054" y="2857"/>
                      </a:lnTo>
                      <a:lnTo>
                        <a:pt x="2054" y="2849"/>
                      </a:lnTo>
                      <a:lnTo>
                        <a:pt x="2067" y="2841"/>
                      </a:lnTo>
                      <a:lnTo>
                        <a:pt x="2071" y="2853"/>
                      </a:lnTo>
                      <a:lnTo>
                        <a:pt x="2071" y="2835"/>
                      </a:lnTo>
                      <a:lnTo>
                        <a:pt x="2085" y="2841"/>
                      </a:lnTo>
                      <a:lnTo>
                        <a:pt x="2073" y="2834"/>
                      </a:lnTo>
                      <a:lnTo>
                        <a:pt x="2073" y="2826"/>
                      </a:lnTo>
                      <a:lnTo>
                        <a:pt x="2089" y="2816"/>
                      </a:lnTo>
                      <a:lnTo>
                        <a:pt x="2075" y="2813"/>
                      </a:lnTo>
                      <a:lnTo>
                        <a:pt x="2068" y="2834"/>
                      </a:lnTo>
                      <a:lnTo>
                        <a:pt x="2042" y="2829"/>
                      </a:lnTo>
                      <a:lnTo>
                        <a:pt x="2062" y="2819"/>
                      </a:lnTo>
                      <a:lnTo>
                        <a:pt x="2042" y="2821"/>
                      </a:lnTo>
                      <a:lnTo>
                        <a:pt x="2054" y="2788"/>
                      </a:lnTo>
                      <a:lnTo>
                        <a:pt x="2066" y="2794"/>
                      </a:lnTo>
                      <a:lnTo>
                        <a:pt x="2054" y="2783"/>
                      </a:lnTo>
                      <a:lnTo>
                        <a:pt x="2049" y="2745"/>
                      </a:lnTo>
                      <a:lnTo>
                        <a:pt x="2049" y="2733"/>
                      </a:lnTo>
                      <a:lnTo>
                        <a:pt x="2056" y="2733"/>
                      </a:lnTo>
                      <a:lnTo>
                        <a:pt x="2042" y="2726"/>
                      </a:lnTo>
                      <a:lnTo>
                        <a:pt x="2034" y="2714"/>
                      </a:lnTo>
                      <a:lnTo>
                        <a:pt x="2037" y="2682"/>
                      </a:lnTo>
                      <a:lnTo>
                        <a:pt x="2018" y="2613"/>
                      </a:lnTo>
                      <a:lnTo>
                        <a:pt x="2026" y="2624"/>
                      </a:lnTo>
                      <a:lnTo>
                        <a:pt x="2040" y="2622"/>
                      </a:lnTo>
                      <a:lnTo>
                        <a:pt x="2026" y="2621"/>
                      </a:lnTo>
                      <a:lnTo>
                        <a:pt x="2018" y="2610"/>
                      </a:lnTo>
                      <a:lnTo>
                        <a:pt x="2013" y="2630"/>
                      </a:lnTo>
                      <a:lnTo>
                        <a:pt x="2001" y="2599"/>
                      </a:lnTo>
                      <a:lnTo>
                        <a:pt x="1999" y="2566"/>
                      </a:lnTo>
                      <a:lnTo>
                        <a:pt x="2009" y="2560"/>
                      </a:lnTo>
                      <a:lnTo>
                        <a:pt x="2013" y="2545"/>
                      </a:lnTo>
                      <a:lnTo>
                        <a:pt x="2006" y="2541"/>
                      </a:lnTo>
                      <a:lnTo>
                        <a:pt x="2008" y="2552"/>
                      </a:lnTo>
                      <a:lnTo>
                        <a:pt x="1993" y="2567"/>
                      </a:lnTo>
                      <a:lnTo>
                        <a:pt x="1981" y="2555"/>
                      </a:lnTo>
                      <a:lnTo>
                        <a:pt x="1970" y="2480"/>
                      </a:lnTo>
                      <a:lnTo>
                        <a:pt x="1946" y="2418"/>
                      </a:lnTo>
                      <a:lnTo>
                        <a:pt x="1897" y="2351"/>
                      </a:lnTo>
                      <a:lnTo>
                        <a:pt x="1852" y="2312"/>
                      </a:lnTo>
                      <a:lnTo>
                        <a:pt x="1836" y="2280"/>
                      </a:lnTo>
                      <a:lnTo>
                        <a:pt x="1806" y="2256"/>
                      </a:lnTo>
                      <a:lnTo>
                        <a:pt x="1772" y="2254"/>
                      </a:lnTo>
                      <a:lnTo>
                        <a:pt x="1765" y="2275"/>
                      </a:lnTo>
                      <a:lnTo>
                        <a:pt x="1714" y="2261"/>
                      </a:lnTo>
                      <a:lnTo>
                        <a:pt x="1718" y="2276"/>
                      </a:lnTo>
                      <a:lnTo>
                        <a:pt x="1705" y="2286"/>
                      </a:lnTo>
                      <a:lnTo>
                        <a:pt x="1668" y="2285"/>
                      </a:lnTo>
                      <a:lnTo>
                        <a:pt x="1643" y="2259"/>
                      </a:lnTo>
                      <a:lnTo>
                        <a:pt x="1623" y="2261"/>
                      </a:lnTo>
                      <a:lnTo>
                        <a:pt x="1596" y="2286"/>
                      </a:lnTo>
                      <a:lnTo>
                        <a:pt x="1583" y="2310"/>
                      </a:lnTo>
                      <a:lnTo>
                        <a:pt x="1569" y="2302"/>
                      </a:lnTo>
                      <a:lnTo>
                        <a:pt x="1596" y="2351"/>
                      </a:lnTo>
                      <a:lnTo>
                        <a:pt x="1555" y="2370"/>
                      </a:lnTo>
                      <a:lnTo>
                        <a:pt x="1506" y="2335"/>
                      </a:lnTo>
                      <a:lnTo>
                        <a:pt x="1474" y="2305"/>
                      </a:lnTo>
                      <a:lnTo>
                        <a:pt x="1452" y="2256"/>
                      </a:lnTo>
                      <a:lnTo>
                        <a:pt x="1406" y="2261"/>
                      </a:lnTo>
                      <a:lnTo>
                        <a:pt x="1416" y="2399"/>
                      </a:lnTo>
                      <a:lnTo>
                        <a:pt x="1448" y="2410"/>
                      </a:lnTo>
                      <a:lnTo>
                        <a:pt x="1465" y="2458"/>
                      </a:lnTo>
                      <a:lnTo>
                        <a:pt x="1498" y="2483"/>
                      </a:lnTo>
                      <a:lnTo>
                        <a:pt x="1498" y="2528"/>
                      </a:lnTo>
                      <a:lnTo>
                        <a:pt x="1488" y="2567"/>
                      </a:lnTo>
                      <a:lnTo>
                        <a:pt x="1493" y="2617"/>
                      </a:lnTo>
                      <a:lnTo>
                        <a:pt x="1484" y="2649"/>
                      </a:lnTo>
                      <a:lnTo>
                        <a:pt x="1478" y="2641"/>
                      </a:lnTo>
                      <a:lnTo>
                        <a:pt x="1483" y="2670"/>
                      </a:lnTo>
                      <a:lnTo>
                        <a:pt x="1457" y="2695"/>
                      </a:lnTo>
                      <a:lnTo>
                        <a:pt x="1459" y="2703"/>
                      </a:lnTo>
                      <a:lnTo>
                        <a:pt x="1447" y="2720"/>
                      </a:lnTo>
                      <a:lnTo>
                        <a:pt x="1440" y="2718"/>
                      </a:lnTo>
                      <a:lnTo>
                        <a:pt x="1445" y="2706"/>
                      </a:lnTo>
                      <a:lnTo>
                        <a:pt x="1424" y="2725"/>
                      </a:lnTo>
                      <a:lnTo>
                        <a:pt x="1419" y="2718"/>
                      </a:lnTo>
                      <a:lnTo>
                        <a:pt x="1419" y="2739"/>
                      </a:lnTo>
                      <a:lnTo>
                        <a:pt x="1407" y="2750"/>
                      </a:lnTo>
                      <a:lnTo>
                        <a:pt x="1392" y="2750"/>
                      </a:lnTo>
                      <a:lnTo>
                        <a:pt x="1390" y="2731"/>
                      </a:lnTo>
                      <a:lnTo>
                        <a:pt x="1392" y="2757"/>
                      </a:lnTo>
                      <a:lnTo>
                        <a:pt x="1372" y="2757"/>
                      </a:lnTo>
                      <a:lnTo>
                        <a:pt x="1388" y="2720"/>
                      </a:lnTo>
                      <a:lnTo>
                        <a:pt x="1368" y="2747"/>
                      </a:lnTo>
                      <a:lnTo>
                        <a:pt x="1358" y="2726"/>
                      </a:lnTo>
                      <a:lnTo>
                        <a:pt x="1380" y="2682"/>
                      </a:lnTo>
                      <a:lnTo>
                        <a:pt x="1371" y="2689"/>
                      </a:lnTo>
                      <a:lnTo>
                        <a:pt x="1372" y="2651"/>
                      </a:lnTo>
                      <a:lnTo>
                        <a:pt x="1399" y="2605"/>
                      </a:lnTo>
                      <a:lnTo>
                        <a:pt x="1399" y="2487"/>
                      </a:lnTo>
                      <a:lnTo>
                        <a:pt x="1368" y="2423"/>
                      </a:lnTo>
                      <a:lnTo>
                        <a:pt x="1366" y="2442"/>
                      </a:lnTo>
                      <a:lnTo>
                        <a:pt x="1342" y="2417"/>
                      </a:lnTo>
                      <a:lnTo>
                        <a:pt x="1324" y="2415"/>
                      </a:lnTo>
                      <a:lnTo>
                        <a:pt x="1320" y="2431"/>
                      </a:lnTo>
                      <a:lnTo>
                        <a:pt x="1349" y="2461"/>
                      </a:lnTo>
                      <a:lnTo>
                        <a:pt x="1353" y="2516"/>
                      </a:lnTo>
                      <a:lnTo>
                        <a:pt x="1366" y="2553"/>
                      </a:lnTo>
                      <a:lnTo>
                        <a:pt x="1365" y="2591"/>
                      </a:lnTo>
                      <a:lnTo>
                        <a:pt x="1322" y="2654"/>
                      </a:lnTo>
                      <a:lnTo>
                        <a:pt x="1308" y="2662"/>
                      </a:lnTo>
                      <a:lnTo>
                        <a:pt x="1302" y="2649"/>
                      </a:lnTo>
                      <a:lnTo>
                        <a:pt x="1305" y="2673"/>
                      </a:lnTo>
                      <a:lnTo>
                        <a:pt x="1276" y="2712"/>
                      </a:lnTo>
                      <a:lnTo>
                        <a:pt x="1267" y="2699"/>
                      </a:lnTo>
                      <a:lnTo>
                        <a:pt x="1259" y="2711"/>
                      </a:lnTo>
                      <a:lnTo>
                        <a:pt x="1247" y="2694"/>
                      </a:lnTo>
                      <a:lnTo>
                        <a:pt x="1270" y="2644"/>
                      </a:lnTo>
                      <a:lnTo>
                        <a:pt x="1253" y="2662"/>
                      </a:lnTo>
                      <a:lnTo>
                        <a:pt x="1253" y="2675"/>
                      </a:lnTo>
                      <a:lnTo>
                        <a:pt x="1242" y="2676"/>
                      </a:lnTo>
                      <a:lnTo>
                        <a:pt x="1245" y="2709"/>
                      </a:lnTo>
                      <a:lnTo>
                        <a:pt x="1221" y="2726"/>
                      </a:lnTo>
                      <a:lnTo>
                        <a:pt x="1209" y="2766"/>
                      </a:lnTo>
                      <a:lnTo>
                        <a:pt x="1199" y="2762"/>
                      </a:lnTo>
                      <a:lnTo>
                        <a:pt x="1202" y="2788"/>
                      </a:lnTo>
                      <a:lnTo>
                        <a:pt x="1190" y="2836"/>
                      </a:lnTo>
                      <a:lnTo>
                        <a:pt x="1185" y="2821"/>
                      </a:lnTo>
                      <a:lnTo>
                        <a:pt x="1168" y="2836"/>
                      </a:lnTo>
                      <a:lnTo>
                        <a:pt x="1182" y="2829"/>
                      </a:lnTo>
                      <a:lnTo>
                        <a:pt x="1180" y="2843"/>
                      </a:lnTo>
                      <a:lnTo>
                        <a:pt x="1171" y="2848"/>
                      </a:lnTo>
                      <a:lnTo>
                        <a:pt x="1180" y="2848"/>
                      </a:lnTo>
                      <a:lnTo>
                        <a:pt x="1148" y="2870"/>
                      </a:lnTo>
                      <a:lnTo>
                        <a:pt x="1110" y="2865"/>
                      </a:lnTo>
                      <a:lnTo>
                        <a:pt x="1088" y="2846"/>
                      </a:lnTo>
                      <a:lnTo>
                        <a:pt x="1094" y="2836"/>
                      </a:lnTo>
                      <a:lnTo>
                        <a:pt x="1110" y="2839"/>
                      </a:lnTo>
                      <a:lnTo>
                        <a:pt x="1099" y="2829"/>
                      </a:lnTo>
                      <a:lnTo>
                        <a:pt x="1115" y="2815"/>
                      </a:lnTo>
                      <a:lnTo>
                        <a:pt x="1105" y="2802"/>
                      </a:lnTo>
                      <a:lnTo>
                        <a:pt x="1103" y="2798"/>
                      </a:lnTo>
                      <a:lnTo>
                        <a:pt x="1099" y="2815"/>
                      </a:lnTo>
                      <a:lnTo>
                        <a:pt x="1093" y="2807"/>
                      </a:lnTo>
                      <a:lnTo>
                        <a:pt x="1093" y="2815"/>
                      </a:lnTo>
                      <a:lnTo>
                        <a:pt x="1101" y="2816"/>
                      </a:lnTo>
                      <a:lnTo>
                        <a:pt x="1088" y="2836"/>
                      </a:lnTo>
                      <a:lnTo>
                        <a:pt x="1067" y="2839"/>
                      </a:lnTo>
                      <a:lnTo>
                        <a:pt x="1055" y="2819"/>
                      </a:lnTo>
                      <a:lnTo>
                        <a:pt x="1060" y="2785"/>
                      </a:lnTo>
                      <a:lnTo>
                        <a:pt x="1083" y="2771"/>
                      </a:lnTo>
                      <a:lnTo>
                        <a:pt x="1083" y="2752"/>
                      </a:lnTo>
                      <a:lnTo>
                        <a:pt x="1098" y="2726"/>
                      </a:lnTo>
                      <a:lnTo>
                        <a:pt x="1130" y="2692"/>
                      </a:lnTo>
                      <a:lnTo>
                        <a:pt x="1146" y="2695"/>
                      </a:lnTo>
                      <a:lnTo>
                        <a:pt x="1156" y="2689"/>
                      </a:lnTo>
                      <a:lnTo>
                        <a:pt x="1124" y="2689"/>
                      </a:lnTo>
                      <a:lnTo>
                        <a:pt x="1083" y="2731"/>
                      </a:lnTo>
                      <a:lnTo>
                        <a:pt x="1074" y="2767"/>
                      </a:lnTo>
                      <a:lnTo>
                        <a:pt x="1055" y="2764"/>
                      </a:lnTo>
                      <a:lnTo>
                        <a:pt x="1044" y="2747"/>
                      </a:lnTo>
                      <a:lnTo>
                        <a:pt x="1031" y="2731"/>
                      </a:lnTo>
                      <a:lnTo>
                        <a:pt x="1036" y="2764"/>
                      </a:lnTo>
                      <a:lnTo>
                        <a:pt x="1028" y="2776"/>
                      </a:lnTo>
                      <a:lnTo>
                        <a:pt x="1025" y="2800"/>
                      </a:lnTo>
                      <a:lnTo>
                        <a:pt x="1011" y="2798"/>
                      </a:lnTo>
                      <a:lnTo>
                        <a:pt x="1016" y="2772"/>
                      </a:lnTo>
                      <a:lnTo>
                        <a:pt x="994" y="2726"/>
                      </a:lnTo>
                      <a:lnTo>
                        <a:pt x="997" y="2676"/>
                      </a:lnTo>
                      <a:lnTo>
                        <a:pt x="978" y="2613"/>
                      </a:lnTo>
                      <a:lnTo>
                        <a:pt x="998" y="2553"/>
                      </a:lnTo>
                      <a:lnTo>
                        <a:pt x="987" y="2467"/>
                      </a:lnTo>
                      <a:lnTo>
                        <a:pt x="949" y="2555"/>
                      </a:lnTo>
                      <a:lnTo>
                        <a:pt x="970" y="2585"/>
                      </a:lnTo>
                      <a:lnTo>
                        <a:pt x="975" y="2629"/>
                      </a:lnTo>
                      <a:lnTo>
                        <a:pt x="958" y="2654"/>
                      </a:lnTo>
                      <a:lnTo>
                        <a:pt x="940" y="2656"/>
                      </a:lnTo>
                      <a:lnTo>
                        <a:pt x="959" y="2673"/>
                      </a:lnTo>
                      <a:lnTo>
                        <a:pt x="970" y="2752"/>
                      </a:lnTo>
                      <a:lnTo>
                        <a:pt x="956" y="2764"/>
                      </a:lnTo>
                      <a:lnTo>
                        <a:pt x="953" y="2776"/>
                      </a:lnTo>
                      <a:lnTo>
                        <a:pt x="920" y="2793"/>
                      </a:lnTo>
                      <a:lnTo>
                        <a:pt x="910" y="2791"/>
                      </a:lnTo>
                      <a:lnTo>
                        <a:pt x="920" y="2776"/>
                      </a:lnTo>
                      <a:lnTo>
                        <a:pt x="904" y="2778"/>
                      </a:lnTo>
                      <a:lnTo>
                        <a:pt x="901" y="2769"/>
                      </a:lnTo>
                      <a:lnTo>
                        <a:pt x="901" y="2791"/>
                      </a:lnTo>
                      <a:lnTo>
                        <a:pt x="858" y="2778"/>
                      </a:lnTo>
                      <a:lnTo>
                        <a:pt x="852" y="2759"/>
                      </a:lnTo>
                      <a:lnTo>
                        <a:pt x="869" y="2733"/>
                      </a:lnTo>
                      <a:lnTo>
                        <a:pt x="850" y="2747"/>
                      </a:lnTo>
                      <a:lnTo>
                        <a:pt x="838" y="2726"/>
                      </a:lnTo>
                      <a:lnTo>
                        <a:pt x="848" y="2718"/>
                      </a:lnTo>
                      <a:lnTo>
                        <a:pt x="838" y="2723"/>
                      </a:lnTo>
                      <a:lnTo>
                        <a:pt x="808" y="2726"/>
                      </a:lnTo>
                      <a:lnTo>
                        <a:pt x="795" y="2704"/>
                      </a:lnTo>
                      <a:lnTo>
                        <a:pt x="810" y="2651"/>
                      </a:lnTo>
                      <a:lnTo>
                        <a:pt x="802" y="2654"/>
                      </a:lnTo>
                      <a:lnTo>
                        <a:pt x="786" y="2701"/>
                      </a:lnTo>
                      <a:lnTo>
                        <a:pt x="775" y="2685"/>
                      </a:lnTo>
                      <a:lnTo>
                        <a:pt x="790" y="2656"/>
                      </a:lnTo>
                      <a:lnTo>
                        <a:pt x="783" y="2644"/>
                      </a:lnTo>
                      <a:lnTo>
                        <a:pt x="771" y="2678"/>
                      </a:lnTo>
                      <a:lnTo>
                        <a:pt x="756" y="2670"/>
                      </a:lnTo>
                      <a:lnTo>
                        <a:pt x="776" y="2720"/>
                      </a:lnTo>
                      <a:lnTo>
                        <a:pt x="772" y="2747"/>
                      </a:lnTo>
                      <a:lnTo>
                        <a:pt x="747" y="2747"/>
                      </a:lnTo>
                      <a:lnTo>
                        <a:pt x="752" y="2730"/>
                      </a:lnTo>
                      <a:lnTo>
                        <a:pt x="750" y="2733"/>
                      </a:lnTo>
                      <a:lnTo>
                        <a:pt x="744" y="2747"/>
                      </a:lnTo>
                      <a:lnTo>
                        <a:pt x="756" y="2752"/>
                      </a:lnTo>
                      <a:lnTo>
                        <a:pt x="745" y="2780"/>
                      </a:lnTo>
                      <a:lnTo>
                        <a:pt x="730" y="2781"/>
                      </a:lnTo>
                      <a:lnTo>
                        <a:pt x="745" y="2783"/>
                      </a:lnTo>
                      <a:lnTo>
                        <a:pt x="756" y="2812"/>
                      </a:lnTo>
                      <a:lnTo>
                        <a:pt x="750" y="2830"/>
                      </a:lnTo>
                      <a:lnTo>
                        <a:pt x="722" y="2857"/>
                      </a:lnTo>
                      <a:lnTo>
                        <a:pt x="696" y="2838"/>
                      </a:lnTo>
                      <a:lnTo>
                        <a:pt x="709" y="2826"/>
                      </a:lnTo>
                      <a:lnTo>
                        <a:pt x="696" y="2835"/>
                      </a:lnTo>
                      <a:lnTo>
                        <a:pt x="696" y="2807"/>
                      </a:lnTo>
                      <a:lnTo>
                        <a:pt x="690" y="2805"/>
                      </a:lnTo>
                      <a:lnTo>
                        <a:pt x="713" y="2757"/>
                      </a:lnTo>
                      <a:lnTo>
                        <a:pt x="709" y="2736"/>
                      </a:lnTo>
                      <a:lnTo>
                        <a:pt x="698" y="2723"/>
                      </a:lnTo>
                      <a:lnTo>
                        <a:pt x="694" y="2726"/>
                      </a:lnTo>
                      <a:lnTo>
                        <a:pt x="698" y="2755"/>
                      </a:lnTo>
                      <a:lnTo>
                        <a:pt x="673" y="2774"/>
                      </a:lnTo>
                      <a:lnTo>
                        <a:pt x="667" y="2798"/>
                      </a:lnTo>
                      <a:lnTo>
                        <a:pt x="657" y="2788"/>
                      </a:lnTo>
                      <a:lnTo>
                        <a:pt x="651" y="2793"/>
                      </a:lnTo>
                      <a:lnTo>
                        <a:pt x="660" y="2835"/>
                      </a:lnTo>
                      <a:lnTo>
                        <a:pt x="646" y="2830"/>
                      </a:lnTo>
                      <a:lnTo>
                        <a:pt x="623" y="2836"/>
                      </a:lnTo>
                      <a:lnTo>
                        <a:pt x="607" y="2816"/>
                      </a:lnTo>
                      <a:lnTo>
                        <a:pt x="609" y="2783"/>
                      </a:lnTo>
                      <a:lnTo>
                        <a:pt x="600" y="2786"/>
                      </a:lnTo>
                      <a:lnTo>
                        <a:pt x="598" y="2807"/>
                      </a:lnTo>
                      <a:lnTo>
                        <a:pt x="588" y="2812"/>
                      </a:lnTo>
                      <a:lnTo>
                        <a:pt x="559" y="2800"/>
                      </a:lnTo>
                      <a:lnTo>
                        <a:pt x="559" y="2767"/>
                      </a:lnTo>
                      <a:lnTo>
                        <a:pt x="550" y="2752"/>
                      </a:lnTo>
                      <a:lnTo>
                        <a:pt x="557" y="2726"/>
                      </a:lnTo>
                      <a:lnTo>
                        <a:pt x="554" y="2685"/>
                      </a:lnTo>
                      <a:lnTo>
                        <a:pt x="554" y="2662"/>
                      </a:lnTo>
                      <a:lnTo>
                        <a:pt x="547" y="2651"/>
                      </a:lnTo>
                      <a:lnTo>
                        <a:pt x="557" y="2612"/>
                      </a:lnTo>
                      <a:lnTo>
                        <a:pt x="546" y="2607"/>
                      </a:lnTo>
                      <a:lnTo>
                        <a:pt x="546" y="2585"/>
                      </a:lnTo>
                      <a:lnTo>
                        <a:pt x="509" y="2535"/>
                      </a:lnTo>
                      <a:lnTo>
                        <a:pt x="519" y="2525"/>
                      </a:lnTo>
                      <a:lnTo>
                        <a:pt x="502" y="2506"/>
                      </a:lnTo>
                      <a:lnTo>
                        <a:pt x="503" y="2426"/>
                      </a:lnTo>
                      <a:lnTo>
                        <a:pt x="491" y="2394"/>
                      </a:lnTo>
                      <a:lnTo>
                        <a:pt x="469" y="2379"/>
                      </a:lnTo>
                      <a:lnTo>
                        <a:pt x="478" y="2379"/>
                      </a:lnTo>
                      <a:lnTo>
                        <a:pt x="484" y="2355"/>
                      </a:lnTo>
                      <a:lnTo>
                        <a:pt x="477" y="2331"/>
                      </a:lnTo>
                      <a:lnTo>
                        <a:pt x="482" y="2300"/>
                      </a:lnTo>
                      <a:lnTo>
                        <a:pt x="470" y="2264"/>
                      </a:lnTo>
                      <a:lnTo>
                        <a:pt x="484" y="2247"/>
                      </a:lnTo>
                      <a:lnTo>
                        <a:pt x="491" y="2209"/>
                      </a:lnTo>
                      <a:lnTo>
                        <a:pt x="465" y="2195"/>
                      </a:lnTo>
                      <a:lnTo>
                        <a:pt x="456" y="2162"/>
                      </a:lnTo>
                      <a:lnTo>
                        <a:pt x="434" y="2139"/>
                      </a:lnTo>
                      <a:lnTo>
                        <a:pt x="439" y="2071"/>
                      </a:lnTo>
                      <a:lnTo>
                        <a:pt x="463" y="2050"/>
                      </a:lnTo>
                      <a:lnTo>
                        <a:pt x="477" y="2023"/>
                      </a:lnTo>
                      <a:lnTo>
                        <a:pt x="497" y="2011"/>
                      </a:lnTo>
                      <a:lnTo>
                        <a:pt x="500" y="2000"/>
                      </a:lnTo>
                      <a:lnTo>
                        <a:pt x="477" y="2000"/>
                      </a:lnTo>
                      <a:lnTo>
                        <a:pt x="422" y="1980"/>
                      </a:lnTo>
                      <a:lnTo>
                        <a:pt x="401" y="1992"/>
                      </a:lnTo>
                      <a:lnTo>
                        <a:pt x="357" y="1975"/>
                      </a:lnTo>
                      <a:lnTo>
                        <a:pt x="354" y="1944"/>
                      </a:lnTo>
                      <a:lnTo>
                        <a:pt x="376" y="1910"/>
                      </a:lnTo>
                      <a:lnTo>
                        <a:pt x="379" y="1879"/>
                      </a:lnTo>
                      <a:lnTo>
                        <a:pt x="395" y="1860"/>
                      </a:lnTo>
                      <a:lnTo>
                        <a:pt x="396" y="1836"/>
                      </a:lnTo>
                      <a:lnTo>
                        <a:pt x="390" y="1830"/>
                      </a:lnTo>
                      <a:lnTo>
                        <a:pt x="373" y="1852"/>
                      </a:lnTo>
                      <a:lnTo>
                        <a:pt x="362" y="1830"/>
                      </a:lnTo>
                      <a:lnTo>
                        <a:pt x="326" y="1807"/>
                      </a:lnTo>
                      <a:lnTo>
                        <a:pt x="316" y="1782"/>
                      </a:lnTo>
                      <a:lnTo>
                        <a:pt x="288" y="1772"/>
                      </a:lnTo>
                      <a:lnTo>
                        <a:pt x="289" y="1753"/>
                      </a:lnTo>
                      <a:lnTo>
                        <a:pt x="275" y="1745"/>
                      </a:lnTo>
                      <a:lnTo>
                        <a:pt x="285" y="1691"/>
                      </a:lnTo>
                      <a:lnTo>
                        <a:pt x="282" y="1675"/>
                      </a:lnTo>
                      <a:lnTo>
                        <a:pt x="294" y="1653"/>
                      </a:lnTo>
                      <a:lnTo>
                        <a:pt x="296" y="1624"/>
                      </a:lnTo>
                      <a:lnTo>
                        <a:pt x="306" y="1618"/>
                      </a:lnTo>
                      <a:lnTo>
                        <a:pt x="330" y="1619"/>
                      </a:lnTo>
                      <a:lnTo>
                        <a:pt x="365" y="1590"/>
                      </a:lnTo>
                      <a:lnTo>
                        <a:pt x="371" y="1555"/>
                      </a:lnTo>
                      <a:lnTo>
                        <a:pt x="359" y="1544"/>
                      </a:lnTo>
                      <a:lnTo>
                        <a:pt x="376" y="1525"/>
                      </a:lnTo>
                      <a:lnTo>
                        <a:pt x="362" y="1522"/>
                      </a:lnTo>
                      <a:lnTo>
                        <a:pt x="359" y="1509"/>
                      </a:lnTo>
                      <a:lnTo>
                        <a:pt x="347" y="1492"/>
                      </a:lnTo>
                      <a:lnTo>
                        <a:pt x="351" y="1445"/>
                      </a:lnTo>
                      <a:lnTo>
                        <a:pt x="371" y="1434"/>
                      </a:lnTo>
                      <a:lnTo>
                        <a:pt x="368" y="1403"/>
                      </a:lnTo>
                      <a:lnTo>
                        <a:pt x="345" y="1359"/>
                      </a:lnTo>
                      <a:lnTo>
                        <a:pt x="323" y="1373"/>
                      </a:lnTo>
                      <a:lnTo>
                        <a:pt x="282" y="1359"/>
                      </a:lnTo>
                      <a:lnTo>
                        <a:pt x="239" y="1359"/>
                      </a:lnTo>
                      <a:lnTo>
                        <a:pt x="148" y="1292"/>
                      </a:lnTo>
                      <a:lnTo>
                        <a:pt x="43" y="1249"/>
                      </a:lnTo>
                      <a:lnTo>
                        <a:pt x="27" y="1193"/>
                      </a:lnTo>
                      <a:lnTo>
                        <a:pt x="0" y="1150"/>
                      </a:lnTo>
                      <a:lnTo>
                        <a:pt x="18" y="1123"/>
                      </a:lnTo>
                      <a:lnTo>
                        <a:pt x="18" y="1099"/>
                      </a:lnTo>
                      <a:lnTo>
                        <a:pt x="32" y="1097"/>
                      </a:lnTo>
                      <a:lnTo>
                        <a:pt x="37" y="1076"/>
                      </a:lnTo>
                      <a:lnTo>
                        <a:pt x="46" y="1074"/>
                      </a:lnTo>
                      <a:lnTo>
                        <a:pt x="68" y="1047"/>
                      </a:lnTo>
                      <a:lnTo>
                        <a:pt x="49" y="1008"/>
                      </a:lnTo>
                      <a:lnTo>
                        <a:pt x="96" y="992"/>
                      </a:lnTo>
                      <a:lnTo>
                        <a:pt x="112" y="1006"/>
                      </a:lnTo>
                      <a:lnTo>
                        <a:pt x="115" y="1028"/>
                      </a:lnTo>
                      <a:lnTo>
                        <a:pt x="157" y="1039"/>
                      </a:lnTo>
                      <a:lnTo>
                        <a:pt x="186" y="997"/>
                      </a:lnTo>
                      <a:lnTo>
                        <a:pt x="201" y="960"/>
                      </a:lnTo>
                      <a:lnTo>
                        <a:pt x="222" y="914"/>
                      </a:lnTo>
                      <a:lnTo>
                        <a:pt x="215" y="852"/>
                      </a:lnTo>
                      <a:lnTo>
                        <a:pt x="241" y="843"/>
                      </a:lnTo>
                      <a:lnTo>
                        <a:pt x="285" y="862"/>
                      </a:lnTo>
                      <a:lnTo>
                        <a:pt x="306" y="846"/>
                      </a:lnTo>
                      <a:lnTo>
                        <a:pt x="349" y="847"/>
                      </a:lnTo>
                      <a:lnTo>
                        <a:pt x="376" y="860"/>
                      </a:lnTo>
                      <a:lnTo>
                        <a:pt x="403" y="865"/>
                      </a:lnTo>
                      <a:lnTo>
                        <a:pt x="420" y="842"/>
                      </a:lnTo>
                      <a:lnTo>
                        <a:pt x="475" y="865"/>
                      </a:lnTo>
                      <a:lnTo>
                        <a:pt x="472" y="847"/>
                      </a:lnTo>
                      <a:lnTo>
                        <a:pt x="482" y="843"/>
                      </a:lnTo>
                      <a:lnTo>
                        <a:pt x="482" y="824"/>
                      </a:lnTo>
                      <a:lnTo>
                        <a:pt x="511" y="792"/>
                      </a:lnTo>
                      <a:lnTo>
                        <a:pt x="503" y="780"/>
                      </a:lnTo>
                      <a:lnTo>
                        <a:pt x="475" y="782"/>
                      </a:lnTo>
                      <a:lnTo>
                        <a:pt x="458" y="766"/>
                      </a:lnTo>
                      <a:lnTo>
                        <a:pt x="445" y="769"/>
                      </a:lnTo>
                      <a:lnTo>
                        <a:pt x="423" y="750"/>
                      </a:lnTo>
                      <a:lnTo>
                        <a:pt x="412" y="722"/>
                      </a:lnTo>
                      <a:lnTo>
                        <a:pt x="422" y="709"/>
                      </a:lnTo>
                      <a:lnTo>
                        <a:pt x="422" y="688"/>
                      </a:lnTo>
                      <a:lnTo>
                        <a:pt x="401" y="662"/>
                      </a:lnTo>
                      <a:lnTo>
                        <a:pt x="384" y="659"/>
                      </a:lnTo>
                      <a:lnTo>
                        <a:pt x="381" y="669"/>
                      </a:lnTo>
                      <a:lnTo>
                        <a:pt x="360" y="671"/>
                      </a:lnTo>
                      <a:lnTo>
                        <a:pt x="345" y="688"/>
                      </a:lnTo>
                      <a:lnTo>
                        <a:pt x="306" y="669"/>
                      </a:lnTo>
                      <a:lnTo>
                        <a:pt x="266" y="665"/>
                      </a:lnTo>
                      <a:lnTo>
                        <a:pt x="265" y="650"/>
                      </a:lnTo>
                      <a:lnTo>
                        <a:pt x="251" y="650"/>
                      </a:lnTo>
                      <a:lnTo>
                        <a:pt x="241" y="626"/>
                      </a:lnTo>
                      <a:lnTo>
                        <a:pt x="215" y="613"/>
                      </a:lnTo>
                      <a:lnTo>
                        <a:pt x="214" y="570"/>
                      </a:lnTo>
                      <a:lnTo>
                        <a:pt x="159" y="533"/>
                      </a:lnTo>
                      <a:lnTo>
                        <a:pt x="126" y="489"/>
                      </a:lnTo>
                      <a:lnTo>
                        <a:pt x="109" y="483"/>
                      </a:lnTo>
                      <a:lnTo>
                        <a:pt x="57" y="505"/>
                      </a:lnTo>
                      <a:lnTo>
                        <a:pt x="37" y="470"/>
                      </a:lnTo>
                      <a:lnTo>
                        <a:pt x="27" y="423"/>
                      </a:lnTo>
                      <a:lnTo>
                        <a:pt x="43" y="409"/>
                      </a:lnTo>
                      <a:lnTo>
                        <a:pt x="56" y="366"/>
                      </a:lnTo>
                      <a:lnTo>
                        <a:pt x="75" y="352"/>
                      </a:lnTo>
                      <a:lnTo>
                        <a:pt x="75" y="332"/>
                      </a:lnTo>
                      <a:lnTo>
                        <a:pt x="58" y="318"/>
                      </a:lnTo>
                      <a:lnTo>
                        <a:pt x="75" y="282"/>
                      </a:lnTo>
                      <a:lnTo>
                        <a:pt x="106" y="263"/>
                      </a:lnTo>
                      <a:lnTo>
                        <a:pt x="164" y="244"/>
                      </a:lnTo>
                      <a:lnTo>
                        <a:pt x="165" y="207"/>
                      </a:lnTo>
                      <a:lnTo>
                        <a:pt x="186" y="183"/>
                      </a:lnTo>
                      <a:lnTo>
                        <a:pt x="206" y="176"/>
                      </a:lnTo>
                      <a:lnTo>
                        <a:pt x="219" y="154"/>
                      </a:lnTo>
                      <a:lnTo>
                        <a:pt x="227" y="164"/>
                      </a:lnTo>
                      <a:lnTo>
                        <a:pt x="253" y="161"/>
                      </a:lnTo>
                      <a:lnTo>
                        <a:pt x="233" y="101"/>
                      </a:lnTo>
                      <a:lnTo>
                        <a:pt x="173" y="84"/>
                      </a:lnTo>
                      <a:lnTo>
                        <a:pt x="164" y="106"/>
                      </a:lnTo>
                      <a:lnTo>
                        <a:pt x="153" y="91"/>
                      </a:lnTo>
                      <a:lnTo>
                        <a:pt x="173" y="32"/>
                      </a:lnTo>
                      <a:lnTo>
                        <a:pt x="192" y="0"/>
                      </a:lnTo>
                      <a:lnTo>
                        <a:pt x="206" y="49"/>
                      </a:lnTo>
                      <a:lnTo>
                        <a:pt x="233" y="57"/>
                      </a:lnTo>
                      <a:lnTo>
                        <a:pt x="280" y="99"/>
                      </a:lnTo>
                      <a:lnTo>
                        <a:pt x="302" y="99"/>
                      </a:lnTo>
                      <a:lnTo>
                        <a:pt x="323" y="121"/>
                      </a:lnTo>
                      <a:lnTo>
                        <a:pt x="338" y="125"/>
                      </a:lnTo>
                      <a:lnTo>
                        <a:pt x="335" y="138"/>
                      </a:lnTo>
                      <a:lnTo>
                        <a:pt x="345" y="142"/>
                      </a:lnTo>
                      <a:lnTo>
                        <a:pt x="345" y="157"/>
                      </a:lnTo>
                      <a:lnTo>
                        <a:pt x="368" y="170"/>
                      </a:lnTo>
                      <a:lnTo>
                        <a:pt x="366" y="186"/>
                      </a:lnTo>
                      <a:lnTo>
                        <a:pt x="349" y="192"/>
                      </a:lnTo>
                      <a:lnTo>
                        <a:pt x="347" y="202"/>
                      </a:lnTo>
                      <a:lnTo>
                        <a:pt x="333" y="202"/>
                      </a:lnTo>
                      <a:lnTo>
                        <a:pt x="333" y="217"/>
                      </a:lnTo>
                      <a:lnTo>
                        <a:pt x="384" y="197"/>
                      </a:lnTo>
                      <a:lnTo>
                        <a:pt x="403" y="202"/>
                      </a:lnTo>
                      <a:lnTo>
                        <a:pt x="419" y="231"/>
                      </a:lnTo>
                      <a:lnTo>
                        <a:pt x="426" y="238"/>
                      </a:lnTo>
                      <a:lnTo>
                        <a:pt x="437" y="236"/>
                      </a:lnTo>
                      <a:lnTo>
                        <a:pt x="441" y="212"/>
                      </a:lnTo>
                      <a:lnTo>
                        <a:pt x="460" y="207"/>
                      </a:lnTo>
                      <a:lnTo>
                        <a:pt x="494" y="236"/>
                      </a:lnTo>
                      <a:lnTo>
                        <a:pt x="535" y="231"/>
                      </a:lnTo>
                      <a:lnTo>
                        <a:pt x="540" y="214"/>
                      </a:lnTo>
                      <a:lnTo>
                        <a:pt x="525" y="217"/>
                      </a:lnTo>
                      <a:lnTo>
                        <a:pt x="523" y="195"/>
                      </a:lnTo>
                      <a:lnTo>
                        <a:pt x="508" y="198"/>
                      </a:lnTo>
                      <a:lnTo>
                        <a:pt x="503" y="176"/>
                      </a:lnTo>
                      <a:lnTo>
                        <a:pt x="484" y="173"/>
                      </a:lnTo>
                      <a:lnTo>
                        <a:pt x="478" y="164"/>
                      </a:lnTo>
                      <a:lnTo>
                        <a:pt x="464" y="157"/>
                      </a:lnTo>
                      <a:lnTo>
                        <a:pt x="465" y="132"/>
                      </a:lnTo>
                      <a:lnTo>
                        <a:pt x="492" y="109"/>
                      </a:lnTo>
                      <a:lnTo>
                        <a:pt x="525" y="140"/>
                      </a:lnTo>
                      <a:lnTo>
                        <a:pt x="547" y="147"/>
                      </a:lnTo>
                      <a:lnTo>
                        <a:pt x="544" y="166"/>
                      </a:lnTo>
                      <a:lnTo>
                        <a:pt x="574" y="176"/>
                      </a:lnTo>
                      <a:lnTo>
                        <a:pt x="573" y="190"/>
                      </a:lnTo>
                      <a:lnTo>
                        <a:pt x="563" y="179"/>
                      </a:lnTo>
                      <a:lnTo>
                        <a:pt x="554" y="186"/>
                      </a:lnTo>
                      <a:lnTo>
                        <a:pt x="588" y="293"/>
                      </a:lnTo>
                      <a:lnTo>
                        <a:pt x="627" y="306"/>
                      </a:lnTo>
                      <a:lnTo>
                        <a:pt x="640" y="318"/>
                      </a:lnTo>
                      <a:lnTo>
                        <a:pt x="641" y="337"/>
                      </a:lnTo>
                      <a:lnTo>
                        <a:pt x="659" y="338"/>
                      </a:lnTo>
                      <a:lnTo>
                        <a:pt x="677" y="361"/>
                      </a:lnTo>
                      <a:lnTo>
                        <a:pt x="704" y="373"/>
                      </a:lnTo>
                      <a:lnTo>
                        <a:pt x="723" y="357"/>
                      </a:lnTo>
                      <a:lnTo>
                        <a:pt x="734" y="374"/>
                      </a:lnTo>
                      <a:lnTo>
                        <a:pt x="778" y="373"/>
                      </a:lnTo>
                      <a:lnTo>
                        <a:pt x="797" y="395"/>
                      </a:lnTo>
                      <a:lnTo>
                        <a:pt x="810" y="393"/>
                      </a:lnTo>
                      <a:lnTo>
                        <a:pt x="814" y="352"/>
                      </a:lnTo>
                      <a:lnTo>
                        <a:pt x="844" y="332"/>
                      </a:lnTo>
                      <a:lnTo>
                        <a:pt x="840" y="320"/>
                      </a:lnTo>
                      <a:lnTo>
                        <a:pt x="821" y="318"/>
                      </a:lnTo>
                      <a:lnTo>
                        <a:pt x="821" y="310"/>
                      </a:lnTo>
                      <a:lnTo>
                        <a:pt x="840" y="299"/>
                      </a:lnTo>
                      <a:lnTo>
                        <a:pt x="822" y="299"/>
                      </a:lnTo>
                      <a:lnTo>
                        <a:pt x="821" y="280"/>
                      </a:lnTo>
                      <a:lnTo>
                        <a:pt x="831" y="269"/>
                      </a:lnTo>
                      <a:lnTo>
                        <a:pt x="848" y="269"/>
                      </a:lnTo>
                      <a:lnTo>
                        <a:pt x="840" y="241"/>
                      </a:lnTo>
                      <a:lnTo>
                        <a:pt x="867" y="241"/>
                      </a:lnTo>
                      <a:lnTo>
                        <a:pt x="865" y="279"/>
                      </a:lnTo>
                      <a:lnTo>
                        <a:pt x="899" y="280"/>
                      </a:lnTo>
                      <a:lnTo>
                        <a:pt x="921" y="324"/>
                      </a:lnTo>
                      <a:lnTo>
                        <a:pt x="921" y="349"/>
                      </a:lnTo>
                      <a:lnTo>
                        <a:pt x="940" y="380"/>
                      </a:lnTo>
                      <a:lnTo>
                        <a:pt x="949" y="373"/>
                      </a:lnTo>
                      <a:lnTo>
                        <a:pt x="961" y="380"/>
                      </a:lnTo>
                      <a:lnTo>
                        <a:pt x="942" y="406"/>
                      </a:lnTo>
                      <a:lnTo>
                        <a:pt x="966" y="411"/>
                      </a:lnTo>
                      <a:lnTo>
                        <a:pt x="935" y="478"/>
                      </a:lnTo>
                      <a:lnTo>
                        <a:pt x="947" y="513"/>
                      </a:lnTo>
                      <a:lnTo>
                        <a:pt x="942" y="535"/>
                      </a:lnTo>
                      <a:lnTo>
                        <a:pt x="966" y="585"/>
                      </a:lnTo>
                      <a:lnTo>
                        <a:pt x="959" y="662"/>
                      </a:lnTo>
                      <a:lnTo>
                        <a:pt x="940" y="741"/>
                      </a:lnTo>
                    </a:path>
                  </a:pathLst>
                </a:custGeom>
                <a:solidFill>
                  <a:schemeClr val="bg1">
                    <a:lumMod val="95000"/>
                  </a:schemeClr>
                </a:solidFill>
                <a:ln w="3175" cap="rnd" cmpd="sng">
                  <a:solidFill>
                    <a:schemeClr val="bg1">
                      <a:lumMod val="50000"/>
                    </a:schemeClr>
                  </a:solidFill>
                  <a:prstDash val="solid"/>
                  <a:round/>
                  <a:headEnd type="none" w="med" len="med"/>
                  <a:tailEnd type="none" w="med" len="med"/>
                </a:ln>
                <a:effectLst/>
              </p:spPr>
              <p:txBody>
                <a:bodyPr/>
                <a:lstStyle/>
                <a:p>
                  <a:endParaRPr lang="en-US" sz="800" dirty="0">
                    <a:latin typeface="+mj-lt"/>
                  </a:endParaRPr>
                </a:p>
              </p:txBody>
            </p:sp>
            <p:grpSp>
              <p:nvGrpSpPr>
                <p:cNvPr id="659" name="Group 658"/>
                <p:cNvGrpSpPr/>
                <p:nvPr/>
              </p:nvGrpSpPr>
              <p:grpSpPr>
                <a:xfrm>
                  <a:off x="1499383" y="2361389"/>
                  <a:ext cx="2180183" cy="2740032"/>
                  <a:chOff x="1499383" y="2361389"/>
                  <a:chExt cx="2180183" cy="2740032"/>
                </a:xfrm>
              </p:grpSpPr>
              <p:cxnSp>
                <p:nvCxnSpPr>
                  <p:cNvPr id="710" name="Straight Connector 709"/>
                  <p:cNvCxnSpPr>
                    <a:stCxn id="617" idx="2"/>
                  </p:cNvCxnSpPr>
                  <p:nvPr/>
                </p:nvCxnSpPr>
                <p:spPr>
                  <a:xfrm>
                    <a:off x="1540859" y="3731656"/>
                    <a:ext cx="226508" cy="339316"/>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11" name="Straight Connector 710"/>
                  <p:cNvCxnSpPr/>
                  <p:nvPr/>
                </p:nvCxnSpPr>
                <p:spPr>
                  <a:xfrm flipV="1">
                    <a:off x="3177360" y="4534825"/>
                    <a:ext cx="199986" cy="99516"/>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12" name="Straight Connector 711"/>
                  <p:cNvCxnSpPr/>
                  <p:nvPr/>
                </p:nvCxnSpPr>
                <p:spPr>
                  <a:xfrm flipV="1">
                    <a:off x="3362940" y="4490279"/>
                    <a:ext cx="89963" cy="53520"/>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13" name="Elbow Connector 712"/>
                  <p:cNvCxnSpPr/>
                  <p:nvPr/>
                </p:nvCxnSpPr>
                <p:spPr>
                  <a:xfrm rot="10800000" flipV="1">
                    <a:off x="3018694" y="3930042"/>
                    <a:ext cx="76893" cy="88980"/>
                  </a:xfrm>
                  <a:prstGeom prst="bentConnector3">
                    <a:avLst>
                      <a:gd name="adj1" fmla="val 50000"/>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14" name="Straight Connector 713"/>
                  <p:cNvCxnSpPr/>
                  <p:nvPr/>
                </p:nvCxnSpPr>
                <p:spPr>
                  <a:xfrm flipV="1">
                    <a:off x="2736292" y="4023761"/>
                    <a:ext cx="235020" cy="2918"/>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15" name="Straight Connector 714"/>
                  <p:cNvCxnSpPr/>
                  <p:nvPr/>
                </p:nvCxnSpPr>
                <p:spPr>
                  <a:xfrm flipH="1">
                    <a:off x="2904954" y="4013380"/>
                    <a:ext cx="129394" cy="65429"/>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16" name="Straight Connector 715"/>
                  <p:cNvCxnSpPr/>
                  <p:nvPr/>
                </p:nvCxnSpPr>
                <p:spPr>
                  <a:xfrm>
                    <a:off x="2819826" y="3967020"/>
                    <a:ext cx="34256" cy="51746"/>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17" name="Straight Connector 716"/>
                  <p:cNvCxnSpPr/>
                  <p:nvPr/>
                </p:nvCxnSpPr>
                <p:spPr>
                  <a:xfrm flipH="1">
                    <a:off x="3341621" y="4304228"/>
                    <a:ext cx="331488" cy="10031"/>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18" name="Straight Connector 717"/>
                  <p:cNvCxnSpPr/>
                  <p:nvPr/>
                </p:nvCxnSpPr>
                <p:spPr>
                  <a:xfrm flipH="1" flipV="1">
                    <a:off x="2836955" y="3645809"/>
                    <a:ext cx="263808" cy="269983"/>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19" name="Straight Connector 718"/>
                  <p:cNvCxnSpPr/>
                  <p:nvPr/>
                </p:nvCxnSpPr>
                <p:spPr>
                  <a:xfrm>
                    <a:off x="2636278" y="3786464"/>
                    <a:ext cx="331546" cy="8143"/>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20" name="Straight Connector 719"/>
                  <p:cNvCxnSpPr/>
                  <p:nvPr/>
                </p:nvCxnSpPr>
                <p:spPr>
                  <a:xfrm flipH="1" flipV="1">
                    <a:off x="2740389" y="3489475"/>
                    <a:ext cx="106996" cy="171283"/>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21" name="Straight Connector 720"/>
                  <p:cNvCxnSpPr/>
                  <p:nvPr/>
                </p:nvCxnSpPr>
                <p:spPr>
                  <a:xfrm flipH="1">
                    <a:off x="2844496" y="3620889"/>
                    <a:ext cx="118113" cy="9875"/>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22" name="Straight Connector 721"/>
                  <p:cNvCxnSpPr/>
                  <p:nvPr/>
                </p:nvCxnSpPr>
                <p:spPr>
                  <a:xfrm flipH="1">
                    <a:off x="2741636" y="3103850"/>
                    <a:ext cx="95319" cy="283121"/>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23" name="Straight Connector 722"/>
                  <p:cNvCxnSpPr/>
                  <p:nvPr/>
                </p:nvCxnSpPr>
                <p:spPr>
                  <a:xfrm flipH="1">
                    <a:off x="2731095" y="3120173"/>
                    <a:ext cx="98161" cy="93590"/>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24" name="Straight Connector 723"/>
                  <p:cNvCxnSpPr/>
                  <p:nvPr/>
                </p:nvCxnSpPr>
                <p:spPr>
                  <a:xfrm flipH="1">
                    <a:off x="2419040" y="3201949"/>
                    <a:ext cx="324007" cy="167881"/>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25" name="Straight Connector 724"/>
                  <p:cNvCxnSpPr/>
                  <p:nvPr/>
                </p:nvCxnSpPr>
                <p:spPr>
                  <a:xfrm flipH="1" flipV="1">
                    <a:off x="2070281" y="2986617"/>
                    <a:ext cx="201826" cy="152764"/>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26" name="Straight Connector 725"/>
                  <p:cNvCxnSpPr/>
                  <p:nvPr/>
                </p:nvCxnSpPr>
                <p:spPr>
                  <a:xfrm flipH="1" flipV="1">
                    <a:off x="2266841" y="3138612"/>
                    <a:ext cx="385106" cy="112696"/>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27" name="Straight Connector 726"/>
                  <p:cNvCxnSpPr/>
                  <p:nvPr/>
                </p:nvCxnSpPr>
                <p:spPr>
                  <a:xfrm flipH="1" flipV="1">
                    <a:off x="2198971" y="3232072"/>
                    <a:ext cx="241122" cy="154899"/>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p:cNvCxnSpPr/>
                  <p:nvPr/>
                </p:nvCxnSpPr>
                <p:spPr>
                  <a:xfrm flipH="1" flipV="1">
                    <a:off x="2034108" y="3199800"/>
                    <a:ext cx="172010" cy="37422"/>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p:cNvCxnSpPr/>
                  <p:nvPr/>
                </p:nvCxnSpPr>
                <p:spPr>
                  <a:xfrm flipH="1">
                    <a:off x="1997052" y="3197111"/>
                    <a:ext cx="48191" cy="33706"/>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30" name="Straight Connector 729"/>
                  <p:cNvCxnSpPr/>
                  <p:nvPr/>
                </p:nvCxnSpPr>
                <p:spPr>
                  <a:xfrm flipH="1">
                    <a:off x="2085306" y="3383592"/>
                    <a:ext cx="329189" cy="1538"/>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31" name="Straight Connector 730"/>
                  <p:cNvCxnSpPr/>
                  <p:nvPr/>
                </p:nvCxnSpPr>
                <p:spPr>
                  <a:xfrm flipH="1">
                    <a:off x="2306289" y="3376919"/>
                    <a:ext cx="99255" cy="162433"/>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32" name="Straight Connector 731"/>
                  <p:cNvCxnSpPr/>
                  <p:nvPr/>
                </p:nvCxnSpPr>
                <p:spPr>
                  <a:xfrm flipH="1">
                    <a:off x="2262826" y="3527498"/>
                    <a:ext cx="58510" cy="1472"/>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33" name="Straight Connector 732"/>
                  <p:cNvCxnSpPr/>
                  <p:nvPr/>
                </p:nvCxnSpPr>
                <p:spPr>
                  <a:xfrm flipH="1" flipV="1">
                    <a:off x="2418085" y="3392261"/>
                    <a:ext cx="213376" cy="189687"/>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34" name="Straight Connector 733"/>
                  <p:cNvCxnSpPr/>
                  <p:nvPr/>
                </p:nvCxnSpPr>
                <p:spPr>
                  <a:xfrm flipH="1" flipV="1">
                    <a:off x="2628445" y="3571072"/>
                    <a:ext cx="59025" cy="42962"/>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35" name="Straight Connector 734"/>
                  <p:cNvCxnSpPr/>
                  <p:nvPr/>
                </p:nvCxnSpPr>
                <p:spPr>
                  <a:xfrm flipH="1" flipV="1">
                    <a:off x="2667854" y="3600855"/>
                    <a:ext cx="79128" cy="10911"/>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36" name="Straight Connector 735"/>
                  <p:cNvCxnSpPr/>
                  <p:nvPr/>
                </p:nvCxnSpPr>
                <p:spPr>
                  <a:xfrm flipV="1">
                    <a:off x="2736293" y="3486894"/>
                    <a:ext cx="2368" cy="113961"/>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37" name="Straight Connector 736"/>
                  <p:cNvCxnSpPr/>
                  <p:nvPr/>
                </p:nvCxnSpPr>
                <p:spPr>
                  <a:xfrm flipH="1">
                    <a:off x="2836955" y="2955835"/>
                    <a:ext cx="196566" cy="157231"/>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38" name="Straight Connector 737"/>
                  <p:cNvCxnSpPr/>
                  <p:nvPr/>
                </p:nvCxnSpPr>
                <p:spPr>
                  <a:xfrm>
                    <a:off x="2845426" y="3120113"/>
                    <a:ext cx="19271" cy="45358"/>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39" name="Straight Connector 738"/>
                  <p:cNvCxnSpPr/>
                  <p:nvPr/>
                </p:nvCxnSpPr>
                <p:spPr>
                  <a:xfrm>
                    <a:off x="2914059" y="3093076"/>
                    <a:ext cx="7698" cy="64789"/>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40" name="Straight Connector 739"/>
                  <p:cNvCxnSpPr/>
                  <p:nvPr/>
                </p:nvCxnSpPr>
                <p:spPr>
                  <a:xfrm flipV="1">
                    <a:off x="2864696" y="3073456"/>
                    <a:ext cx="213232" cy="24169"/>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41" name="Straight Connector 740"/>
                  <p:cNvCxnSpPr/>
                  <p:nvPr/>
                </p:nvCxnSpPr>
                <p:spPr>
                  <a:xfrm flipV="1">
                    <a:off x="3067601" y="3019904"/>
                    <a:ext cx="58889" cy="52987"/>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p:cNvCxnSpPr/>
                  <p:nvPr/>
                </p:nvCxnSpPr>
                <p:spPr>
                  <a:xfrm flipH="1" flipV="1">
                    <a:off x="3113797" y="2958568"/>
                    <a:ext cx="6104" cy="64421"/>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43" name="Straight Connector 742"/>
                  <p:cNvCxnSpPr/>
                  <p:nvPr/>
                </p:nvCxnSpPr>
                <p:spPr>
                  <a:xfrm flipV="1">
                    <a:off x="3132448" y="2912790"/>
                    <a:ext cx="20867" cy="19113"/>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44" name="Straight Connector 743"/>
                  <p:cNvCxnSpPr/>
                  <p:nvPr/>
                </p:nvCxnSpPr>
                <p:spPr>
                  <a:xfrm flipV="1">
                    <a:off x="3038941" y="2909566"/>
                    <a:ext cx="234804" cy="48801"/>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45" name="Straight Connector 744"/>
                  <p:cNvCxnSpPr/>
                  <p:nvPr/>
                </p:nvCxnSpPr>
                <p:spPr>
                  <a:xfrm flipV="1">
                    <a:off x="3119902" y="2897892"/>
                    <a:ext cx="383871" cy="123117"/>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46" name="Straight Connector 745"/>
                  <p:cNvCxnSpPr/>
                  <p:nvPr/>
                </p:nvCxnSpPr>
                <p:spPr>
                  <a:xfrm flipV="1">
                    <a:off x="3494186" y="2734638"/>
                    <a:ext cx="185380" cy="164760"/>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47" name="Straight Connector 746"/>
                  <p:cNvCxnSpPr/>
                  <p:nvPr/>
                </p:nvCxnSpPr>
                <p:spPr>
                  <a:xfrm flipV="1">
                    <a:off x="3349517" y="2841135"/>
                    <a:ext cx="50351" cy="56037"/>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48" name="Straight Connector 747"/>
                  <p:cNvCxnSpPr/>
                  <p:nvPr/>
                </p:nvCxnSpPr>
                <p:spPr>
                  <a:xfrm flipV="1">
                    <a:off x="3491980" y="2737141"/>
                    <a:ext cx="101648" cy="71046"/>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49" name="Straight Connector 748"/>
                  <p:cNvCxnSpPr>
                    <a:endCxn id="636" idx="0"/>
                  </p:cNvCxnSpPr>
                  <p:nvPr/>
                </p:nvCxnSpPr>
                <p:spPr>
                  <a:xfrm>
                    <a:off x="3349517" y="2892706"/>
                    <a:ext cx="95042" cy="25474"/>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50" name="Straight Connector 749"/>
                  <p:cNvCxnSpPr/>
                  <p:nvPr/>
                </p:nvCxnSpPr>
                <p:spPr>
                  <a:xfrm flipV="1">
                    <a:off x="3394447" y="2805174"/>
                    <a:ext cx="104863" cy="51267"/>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p:cNvCxnSpPr/>
                  <p:nvPr/>
                </p:nvCxnSpPr>
                <p:spPr>
                  <a:xfrm flipV="1">
                    <a:off x="3585773" y="2565334"/>
                    <a:ext cx="17211" cy="178993"/>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52" name="Straight Connector 751"/>
                  <p:cNvCxnSpPr/>
                  <p:nvPr/>
                </p:nvCxnSpPr>
                <p:spPr>
                  <a:xfrm flipV="1">
                    <a:off x="3472835" y="2534112"/>
                    <a:ext cx="52990" cy="141764"/>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53" name="Straight Connector 752"/>
                  <p:cNvCxnSpPr/>
                  <p:nvPr/>
                </p:nvCxnSpPr>
                <p:spPr>
                  <a:xfrm flipH="1" flipV="1">
                    <a:off x="3581337" y="2539917"/>
                    <a:ext cx="23771" cy="35472"/>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54" name="Straight Connector 753"/>
                  <p:cNvCxnSpPr/>
                  <p:nvPr/>
                </p:nvCxnSpPr>
                <p:spPr>
                  <a:xfrm flipH="1" flipV="1">
                    <a:off x="3443561" y="2475419"/>
                    <a:ext cx="141719" cy="69627"/>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55" name="Straight Connector 754"/>
                  <p:cNvCxnSpPr/>
                  <p:nvPr/>
                </p:nvCxnSpPr>
                <p:spPr>
                  <a:xfrm flipV="1">
                    <a:off x="3607528" y="2701688"/>
                    <a:ext cx="45037" cy="108879"/>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56" name="Straight Connector 755"/>
                  <p:cNvCxnSpPr/>
                  <p:nvPr/>
                </p:nvCxnSpPr>
                <p:spPr>
                  <a:xfrm flipH="1" flipV="1">
                    <a:off x="3329439" y="2469321"/>
                    <a:ext cx="118465" cy="7321"/>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57" name="Straight Connector 756"/>
                  <p:cNvCxnSpPr/>
                  <p:nvPr/>
                </p:nvCxnSpPr>
                <p:spPr>
                  <a:xfrm flipH="1" flipV="1">
                    <a:off x="3287904" y="2361389"/>
                    <a:ext cx="47899" cy="103072"/>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58" name="Straight Connector 757"/>
                  <p:cNvCxnSpPr/>
                  <p:nvPr/>
                </p:nvCxnSpPr>
                <p:spPr>
                  <a:xfrm flipH="1" flipV="1">
                    <a:off x="3126490" y="2363346"/>
                    <a:ext cx="171088" cy="24716"/>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59" name="Straight Connector 758"/>
                  <p:cNvCxnSpPr/>
                  <p:nvPr/>
                </p:nvCxnSpPr>
                <p:spPr>
                  <a:xfrm flipH="1">
                    <a:off x="3360342" y="2486089"/>
                    <a:ext cx="73039" cy="107949"/>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60" name="Straight Connector 759"/>
                  <p:cNvCxnSpPr/>
                  <p:nvPr/>
                </p:nvCxnSpPr>
                <p:spPr>
                  <a:xfrm>
                    <a:off x="2118740" y="2847251"/>
                    <a:ext cx="715271" cy="270574"/>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61" name="Straight Connector 760"/>
                  <p:cNvCxnSpPr/>
                  <p:nvPr/>
                </p:nvCxnSpPr>
                <p:spPr>
                  <a:xfrm flipH="1">
                    <a:off x="2098554" y="2835395"/>
                    <a:ext cx="16258" cy="88968"/>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62" name="Straight Connector 761"/>
                  <p:cNvCxnSpPr/>
                  <p:nvPr/>
                </p:nvCxnSpPr>
                <p:spPr>
                  <a:xfrm>
                    <a:off x="2018069" y="2658875"/>
                    <a:ext cx="89752" cy="181620"/>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63" name="Straight Connector 762"/>
                  <p:cNvCxnSpPr/>
                  <p:nvPr/>
                </p:nvCxnSpPr>
                <p:spPr>
                  <a:xfrm flipH="1">
                    <a:off x="2017917" y="2442132"/>
                    <a:ext cx="45027" cy="220441"/>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64" name="Straight Connector 763"/>
                  <p:cNvCxnSpPr/>
                  <p:nvPr/>
                </p:nvCxnSpPr>
                <p:spPr>
                  <a:xfrm flipH="1">
                    <a:off x="2059621" y="2389544"/>
                    <a:ext cx="57694" cy="60438"/>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65" name="Straight Connector 764"/>
                  <p:cNvCxnSpPr/>
                  <p:nvPr/>
                </p:nvCxnSpPr>
                <p:spPr>
                  <a:xfrm>
                    <a:off x="2409463" y="2621435"/>
                    <a:ext cx="1" cy="329260"/>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66" name="Straight Connector 765"/>
                  <p:cNvCxnSpPr/>
                  <p:nvPr/>
                </p:nvCxnSpPr>
                <p:spPr>
                  <a:xfrm flipH="1">
                    <a:off x="2409463" y="2487303"/>
                    <a:ext cx="224166" cy="148248"/>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67" name="Straight Connector 766"/>
                  <p:cNvCxnSpPr/>
                  <p:nvPr/>
                </p:nvCxnSpPr>
                <p:spPr>
                  <a:xfrm flipH="1">
                    <a:off x="2615459" y="2483546"/>
                    <a:ext cx="67269" cy="5924"/>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68" name="Straight Connector 767"/>
                  <p:cNvCxnSpPr/>
                  <p:nvPr/>
                </p:nvCxnSpPr>
                <p:spPr>
                  <a:xfrm flipH="1">
                    <a:off x="2413165" y="2889328"/>
                    <a:ext cx="89066" cy="31814"/>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69" name="Straight Connector 768"/>
                  <p:cNvCxnSpPr/>
                  <p:nvPr/>
                </p:nvCxnSpPr>
                <p:spPr>
                  <a:xfrm flipH="1">
                    <a:off x="2580574" y="2944038"/>
                    <a:ext cx="46196" cy="68392"/>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70" name="Straight Connector 769"/>
                  <p:cNvCxnSpPr/>
                  <p:nvPr/>
                </p:nvCxnSpPr>
                <p:spPr>
                  <a:xfrm>
                    <a:off x="1692081" y="2577184"/>
                    <a:ext cx="109342" cy="295779"/>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71" name="Straight Connector 770"/>
                  <p:cNvCxnSpPr/>
                  <p:nvPr/>
                </p:nvCxnSpPr>
                <p:spPr>
                  <a:xfrm flipV="1">
                    <a:off x="1814321" y="2739303"/>
                    <a:ext cx="227300" cy="133660"/>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72" name="Straight Connector 771"/>
                  <p:cNvCxnSpPr/>
                  <p:nvPr/>
                </p:nvCxnSpPr>
                <p:spPr>
                  <a:xfrm flipH="1" flipV="1">
                    <a:off x="3095587" y="3912301"/>
                    <a:ext cx="357316" cy="577978"/>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73" name="Straight Connector 772"/>
                  <p:cNvCxnSpPr/>
                  <p:nvPr/>
                </p:nvCxnSpPr>
                <p:spPr>
                  <a:xfrm>
                    <a:off x="1520805" y="3540408"/>
                    <a:ext cx="38885" cy="233556"/>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74" name="Straight Connector 773"/>
                  <p:cNvCxnSpPr/>
                  <p:nvPr/>
                </p:nvCxnSpPr>
                <p:spPr>
                  <a:xfrm flipV="1">
                    <a:off x="1510451" y="3293773"/>
                    <a:ext cx="87992" cy="262417"/>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75" name="Straight Connector 774"/>
                  <p:cNvCxnSpPr/>
                  <p:nvPr/>
                </p:nvCxnSpPr>
                <p:spPr>
                  <a:xfrm>
                    <a:off x="1563338" y="3133611"/>
                    <a:ext cx="38864" cy="165183"/>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76" name="Straight Connector 775"/>
                  <p:cNvCxnSpPr/>
                  <p:nvPr/>
                </p:nvCxnSpPr>
                <p:spPr>
                  <a:xfrm>
                    <a:off x="1499383" y="2894957"/>
                    <a:ext cx="67895" cy="252351"/>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77" name="Straight Connector 776"/>
                  <p:cNvCxnSpPr/>
                  <p:nvPr/>
                </p:nvCxnSpPr>
                <p:spPr>
                  <a:xfrm flipV="1">
                    <a:off x="1504155" y="2856441"/>
                    <a:ext cx="294932" cy="49833"/>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78" name="Straight Connector 777"/>
                  <p:cNvCxnSpPr/>
                  <p:nvPr/>
                </p:nvCxnSpPr>
                <p:spPr>
                  <a:xfrm>
                    <a:off x="2595427" y="4324198"/>
                    <a:ext cx="76405" cy="153322"/>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79" name="Straight Connector 778"/>
                  <p:cNvCxnSpPr/>
                  <p:nvPr/>
                </p:nvCxnSpPr>
                <p:spPr>
                  <a:xfrm>
                    <a:off x="3498519" y="5101421"/>
                    <a:ext cx="0" cy="0"/>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80" name="Straight Connector 779"/>
                  <p:cNvCxnSpPr/>
                  <p:nvPr/>
                </p:nvCxnSpPr>
                <p:spPr>
                  <a:xfrm flipV="1">
                    <a:off x="3498520" y="4917500"/>
                    <a:ext cx="47493" cy="183921"/>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81" name="Straight Connector 780"/>
                  <p:cNvCxnSpPr/>
                  <p:nvPr/>
                </p:nvCxnSpPr>
                <p:spPr>
                  <a:xfrm>
                    <a:off x="3422960" y="4497617"/>
                    <a:ext cx="132494" cy="419883"/>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82" name="Straight Connector 781"/>
                  <p:cNvCxnSpPr>
                    <a:endCxn id="655" idx="0"/>
                  </p:cNvCxnSpPr>
                  <p:nvPr/>
                </p:nvCxnSpPr>
                <p:spPr>
                  <a:xfrm flipH="1">
                    <a:off x="3334795" y="5101421"/>
                    <a:ext cx="157185" cy="0"/>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83" name="Straight Connector 782"/>
                  <p:cNvCxnSpPr>
                    <a:endCxn id="654" idx="0"/>
                  </p:cNvCxnSpPr>
                  <p:nvPr/>
                </p:nvCxnSpPr>
                <p:spPr>
                  <a:xfrm flipH="1">
                    <a:off x="3164823" y="5055722"/>
                    <a:ext cx="93375" cy="45699"/>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84" name="Straight Connector 783"/>
                  <p:cNvCxnSpPr/>
                  <p:nvPr/>
                </p:nvCxnSpPr>
                <p:spPr>
                  <a:xfrm flipH="1">
                    <a:off x="3245506" y="5040730"/>
                    <a:ext cx="253013" cy="22850"/>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660" name="Group 659"/>
                <p:cNvGrpSpPr/>
                <p:nvPr/>
              </p:nvGrpSpPr>
              <p:grpSpPr>
                <a:xfrm>
                  <a:off x="1326003" y="2346328"/>
                  <a:ext cx="2292983" cy="2190533"/>
                  <a:chOff x="1326003" y="2346328"/>
                  <a:chExt cx="2292983" cy="2190533"/>
                </a:xfrm>
              </p:grpSpPr>
              <p:sp>
                <p:nvSpPr>
                  <p:cNvPr id="661" name="Oval 660"/>
                  <p:cNvSpPr/>
                  <p:nvPr/>
                </p:nvSpPr>
                <p:spPr>
                  <a:xfrm>
                    <a:off x="3350754" y="2346328"/>
                    <a:ext cx="105347" cy="10381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62" name="Oval 661"/>
                  <p:cNvSpPr/>
                  <p:nvPr/>
                </p:nvSpPr>
                <p:spPr>
                  <a:xfrm>
                    <a:off x="3424030" y="2411617"/>
                    <a:ext cx="105347" cy="10381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63" name="Oval 662"/>
                  <p:cNvSpPr/>
                  <p:nvPr/>
                </p:nvSpPr>
                <p:spPr>
                  <a:xfrm>
                    <a:off x="3020100" y="2969830"/>
                    <a:ext cx="105347" cy="10381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64" name="Oval 663"/>
                  <p:cNvSpPr/>
                  <p:nvPr/>
                </p:nvSpPr>
                <p:spPr>
                  <a:xfrm>
                    <a:off x="3383840" y="4342112"/>
                    <a:ext cx="105347" cy="10381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65" name="Oval 664"/>
                  <p:cNvSpPr/>
                  <p:nvPr/>
                </p:nvSpPr>
                <p:spPr>
                  <a:xfrm>
                    <a:off x="3378147" y="4426800"/>
                    <a:ext cx="105347" cy="10381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66" name="Oval 665"/>
                  <p:cNvSpPr/>
                  <p:nvPr/>
                </p:nvSpPr>
                <p:spPr>
                  <a:xfrm>
                    <a:off x="2531429" y="4352361"/>
                    <a:ext cx="105347" cy="10381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67" name="Oval 666"/>
                  <p:cNvSpPr/>
                  <p:nvPr/>
                </p:nvSpPr>
                <p:spPr>
                  <a:xfrm>
                    <a:off x="2531429" y="3687065"/>
                    <a:ext cx="105347" cy="10381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68" name="Oval 667"/>
                  <p:cNvSpPr/>
                  <p:nvPr/>
                </p:nvSpPr>
                <p:spPr>
                  <a:xfrm>
                    <a:off x="2429918" y="3351464"/>
                    <a:ext cx="105347" cy="10381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69" name="Oval 668"/>
                  <p:cNvSpPr/>
                  <p:nvPr/>
                </p:nvSpPr>
                <p:spPr>
                  <a:xfrm>
                    <a:off x="2429918" y="3233603"/>
                    <a:ext cx="105347" cy="10381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70" name="Oval 669"/>
                  <p:cNvSpPr/>
                  <p:nvPr/>
                </p:nvSpPr>
                <p:spPr>
                  <a:xfrm>
                    <a:off x="2282006" y="3233603"/>
                    <a:ext cx="105347" cy="10381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71" name="Oval 670"/>
                  <p:cNvSpPr/>
                  <p:nvPr/>
                </p:nvSpPr>
                <p:spPr>
                  <a:xfrm>
                    <a:off x="2349531" y="3161954"/>
                    <a:ext cx="105347" cy="10381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72" name="Oval 671"/>
                  <p:cNvSpPr/>
                  <p:nvPr/>
                </p:nvSpPr>
                <p:spPr>
                  <a:xfrm>
                    <a:off x="1798459" y="3027969"/>
                    <a:ext cx="105347" cy="10381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73" name="Oval 672"/>
                  <p:cNvSpPr/>
                  <p:nvPr/>
                </p:nvSpPr>
                <p:spPr>
                  <a:xfrm>
                    <a:off x="3513639" y="2635653"/>
                    <a:ext cx="105347" cy="10381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74" name="Oval 673"/>
                  <p:cNvSpPr/>
                  <p:nvPr/>
                </p:nvSpPr>
                <p:spPr>
                  <a:xfrm>
                    <a:off x="2463550" y="3144727"/>
                    <a:ext cx="105347" cy="10381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75" name="Oval 674"/>
                  <p:cNvSpPr/>
                  <p:nvPr/>
                </p:nvSpPr>
                <p:spPr>
                  <a:xfrm>
                    <a:off x="2525477" y="3295046"/>
                    <a:ext cx="105347" cy="10381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76" name="Oval 675"/>
                  <p:cNvSpPr/>
                  <p:nvPr/>
                </p:nvSpPr>
                <p:spPr>
                  <a:xfrm>
                    <a:off x="2360817" y="3351001"/>
                    <a:ext cx="105347" cy="10381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77" name="Oval 676"/>
                  <p:cNvSpPr/>
                  <p:nvPr/>
                </p:nvSpPr>
                <p:spPr>
                  <a:xfrm>
                    <a:off x="2491411" y="3395764"/>
                    <a:ext cx="105347" cy="10381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78" name="Oval 677"/>
                  <p:cNvSpPr/>
                  <p:nvPr/>
                </p:nvSpPr>
                <p:spPr>
                  <a:xfrm>
                    <a:off x="3303358" y="2612407"/>
                    <a:ext cx="105347" cy="10381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79" name="Oval 678"/>
                  <p:cNvSpPr/>
                  <p:nvPr/>
                </p:nvSpPr>
                <p:spPr>
                  <a:xfrm>
                    <a:off x="3411240" y="2567645"/>
                    <a:ext cx="105347" cy="10381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80" name="Oval 679"/>
                  <p:cNvSpPr/>
                  <p:nvPr/>
                </p:nvSpPr>
                <p:spPr>
                  <a:xfrm>
                    <a:off x="1599961" y="2601218"/>
                    <a:ext cx="105347" cy="10381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81" name="Oval 680"/>
                  <p:cNvSpPr/>
                  <p:nvPr/>
                </p:nvSpPr>
                <p:spPr>
                  <a:xfrm>
                    <a:off x="2037164" y="2897773"/>
                    <a:ext cx="105347" cy="10381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82" name="Oval 681"/>
                  <p:cNvSpPr/>
                  <p:nvPr/>
                </p:nvSpPr>
                <p:spPr>
                  <a:xfrm>
                    <a:off x="2122540" y="2914562"/>
                    <a:ext cx="105347" cy="10381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83" name="Oval 682"/>
                  <p:cNvSpPr/>
                  <p:nvPr/>
                </p:nvSpPr>
                <p:spPr>
                  <a:xfrm>
                    <a:off x="2849112" y="3088017"/>
                    <a:ext cx="105347" cy="10381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84" name="Oval 683"/>
                  <p:cNvSpPr/>
                  <p:nvPr/>
                </p:nvSpPr>
                <p:spPr>
                  <a:xfrm>
                    <a:off x="2894536" y="3155163"/>
                    <a:ext cx="105347" cy="10381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85" name="Oval 684"/>
                  <p:cNvSpPr/>
                  <p:nvPr/>
                </p:nvSpPr>
                <p:spPr>
                  <a:xfrm>
                    <a:off x="2474377" y="4285433"/>
                    <a:ext cx="105347" cy="10381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86" name="Oval 685"/>
                  <p:cNvSpPr/>
                  <p:nvPr/>
                </p:nvSpPr>
                <p:spPr>
                  <a:xfrm>
                    <a:off x="3479376" y="4391746"/>
                    <a:ext cx="105347" cy="10381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87" name="Oval 686"/>
                  <p:cNvSpPr/>
                  <p:nvPr/>
                </p:nvSpPr>
                <p:spPr>
                  <a:xfrm>
                    <a:off x="3081909" y="2914562"/>
                    <a:ext cx="105347" cy="10381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88" name="Oval 687"/>
                  <p:cNvSpPr/>
                  <p:nvPr/>
                </p:nvSpPr>
                <p:spPr>
                  <a:xfrm>
                    <a:off x="2252926" y="3127186"/>
                    <a:ext cx="105347" cy="10381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89" name="Oval 688"/>
                  <p:cNvSpPr/>
                  <p:nvPr/>
                </p:nvSpPr>
                <p:spPr>
                  <a:xfrm>
                    <a:off x="2355130" y="3216713"/>
                    <a:ext cx="105347" cy="10381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90" name="Oval 689"/>
                  <p:cNvSpPr/>
                  <p:nvPr/>
                </p:nvSpPr>
                <p:spPr>
                  <a:xfrm>
                    <a:off x="2945639" y="2914562"/>
                    <a:ext cx="105347" cy="10381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91" name="Oval 690"/>
                  <p:cNvSpPr/>
                  <p:nvPr/>
                </p:nvSpPr>
                <p:spPr>
                  <a:xfrm>
                    <a:off x="2604970" y="4408532"/>
                    <a:ext cx="105347" cy="10381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92" name="Oval 691"/>
                  <p:cNvSpPr/>
                  <p:nvPr/>
                </p:nvSpPr>
                <p:spPr>
                  <a:xfrm>
                    <a:off x="3138699" y="4044834"/>
                    <a:ext cx="105347" cy="10381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93" name="Oval 692"/>
                  <p:cNvSpPr/>
                  <p:nvPr/>
                </p:nvSpPr>
                <p:spPr>
                  <a:xfrm>
                    <a:off x="2451656" y="3171951"/>
                    <a:ext cx="105347" cy="10381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94" name="Oval 693"/>
                  <p:cNvSpPr/>
                  <p:nvPr/>
                </p:nvSpPr>
                <p:spPr>
                  <a:xfrm>
                    <a:off x="1326003" y="3072950"/>
                    <a:ext cx="105347" cy="10381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95" name="Oval 694"/>
                  <p:cNvSpPr/>
                  <p:nvPr/>
                </p:nvSpPr>
                <p:spPr>
                  <a:xfrm>
                    <a:off x="1853900" y="2983424"/>
                    <a:ext cx="105347" cy="10381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96" name="Oval 695"/>
                  <p:cNvSpPr/>
                  <p:nvPr/>
                </p:nvSpPr>
                <p:spPr>
                  <a:xfrm>
                    <a:off x="2444498" y="3296656"/>
                    <a:ext cx="105347" cy="10381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97" name="Oval 696"/>
                  <p:cNvSpPr/>
                  <p:nvPr/>
                </p:nvSpPr>
                <p:spPr>
                  <a:xfrm>
                    <a:off x="2773348" y="3246887"/>
                    <a:ext cx="105347" cy="10381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98" name="Oval 697"/>
                  <p:cNvSpPr/>
                  <p:nvPr/>
                </p:nvSpPr>
                <p:spPr>
                  <a:xfrm>
                    <a:off x="2746491" y="3183882"/>
                    <a:ext cx="105347" cy="10381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699" name="Oval 698"/>
                  <p:cNvSpPr/>
                  <p:nvPr/>
                </p:nvSpPr>
                <p:spPr>
                  <a:xfrm>
                    <a:off x="2376402" y="3267835"/>
                    <a:ext cx="105347" cy="10381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700" name="Oval 699"/>
                  <p:cNvSpPr/>
                  <p:nvPr/>
                </p:nvSpPr>
                <p:spPr>
                  <a:xfrm>
                    <a:off x="3273314" y="2437577"/>
                    <a:ext cx="105347" cy="10381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701" name="Oval 700"/>
                  <p:cNvSpPr/>
                  <p:nvPr/>
                </p:nvSpPr>
                <p:spPr>
                  <a:xfrm>
                    <a:off x="2931263" y="3009576"/>
                    <a:ext cx="105347" cy="10381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702" name="Oval 701"/>
                  <p:cNvSpPr/>
                  <p:nvPr/>
                </p:nvSpPr>
                <p:spPr>
                  <a:xfrm>
                    <a:off x="2545732" y="3155163"/>
                    <a:ext cx="105347" cy="10381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703" name="Oval 702"/>
                  <p:cNvSpPr/>
                  <p:nvPr/>
                </p:nvSpPr>
                <p:spPr>
                  <a:xfrm>
                    <a:off x="3358460" y="2492197"/>
                    <a:ext cx="105347" cy="10381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704" name="Oval 703"/>
                  <p:cNvSpPr/>
                  <p:nvPr/>
                </p:nvSpPr>
                <p:spPr>
                  <a:xfrm>
                    <a:off x="2683886" y="3155855"/>
                    <a:ext cx="105347" cy="10381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705" name="Oval 704"/>
                  <p:cNvSpPr/>
                  <p:nvPr/>
                </p:nvSpPr>
                <p:spPr>
                  <a:xfrm>
                    <a:off x="1705498" y="4020948"/>
                    <a:ext cx="105347" cy="10381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706" name="Oval 705"/>
                  <p:cNvSpPr/>
                  <p:nvPr/>
                </p:nvSpPr>
                <p:spPr>
                  <a:xfrm>
                    <a:off x="2330340" y="2622542"/>
                    <a:ext cx="105347" cy="10381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707" name="Oval 706"/>
                  <p:cNvSpPr/>
                  <p:nvPr/>
                </p:nvSpPr>
                <p:spPr>
                  <a:xfrm>
                    <a:off x="2545732" y="3407380"/>
                    <a:ext cx="105347" cy="103815"/>
                  </a:xfrm>
                  <a:prstGeom prst="ellipse">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708" name="Oval 707"/>
                  <p:cNvSpPr/>
                  <p:nvPr/>
                </p:nvSpPr>
                <p:spPr>
                  <a:xfrm>
                    <a:off x="2545732" y="3329203"/>
                    <a:ext cx="105347" cy="103815"/>
                  </a:xfrm>
                  <a:prstGeom prst="ellipse">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sp>
                <p:nvSpPr>
                  <p:cNvPr id="709" name="Oval 708"/>
                  <p:cNvSpPr/>
                  <p:nvPr/>
                </p:nvSpPr>
                <p:spPr>
                  <a:xfrm>
                    <a:off x="2545732" y="4433046"/>
                    <a:ext cx="105347" cy="103815"/>
                  </a:xfrm>
                  <a:prstGeom prst="ellipse">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800" dirty="0">
                      <a:latin typeface="+mj-lt"/>
                      <a:ea typeface="Verdana" panose="020B0604030504040204" pitchFamily="34" charset="0"/>
                    </a:endParaRPr>
                  </a:p>
                </p:txBody>
              </p:sp>
            </p:grpSp>
          </p:grpSp>
          <p:sp>
            <p:nvSpPr>
              <p:cNvPr id="617" name="Rectangle 5"/>
              <p:cNvSpPr>
                <a:spLocks noChangeArrowheads="1"/>
              </p:cNvSpPr>
              <p:nvPr/>
            </p:nvSpPr>
            <p:spPr bwMode="gray">
              <a:xfrm>
                <a:off x="1391355" y="3634762"/>
                <a:ext cx="299009"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Jessore</a:t>
                </a:r>
              </a:p>
            </p:txBody>
          </p:sp>
          <p:sp>
            <p:nvSpPr>
              <p:cNvPr id="618" name="Rectangle 5"/>
              <p:cNvSpPr>
                <a:spLocks noChangeArrowheads="1"/>
              </p:cNvSpPr>
              <p:nvPr/>
            </p:nvSpPr>
            <p:spPr bwMode="gray">
              <a:xfrm>
                <a:off x="1608400" y="4155885"/>
                <a:ext cx="317933" cy="96894"/>
              </a:xfrm>
              <a:prstGeom prst="rect">
                <a:avLst/>
              </a:prstGeom>
              <a:noFill/>
              <a:ln w="12700">
                <a:noFill/>
                <a:miter lim="800000"/>
                <a:headEnd/>
                <a:tailEnd/>
              </a:ln>
              <a:effectLst/>
            </p:spPr>
            <p:txBody>
              <a:bodyPr wrap="none" lIns="0" tIns="0" rIns="0" bIns="0">
                <a:spAutoFit/>
              </a:bodyPr>
              <a:lstStyle/>
              <a:p>
                <a:pPr algn="ctr" defTabSz="1339850"/>
                <a:r>
                  <a:rPr lang="en-US" sz="800" b="1" dirty="0">
                    <a:latin typeface="+mj-lt"/>
                  </a:rPr>
                  <a:t>Khulna</a:t>
                </a:r>
              </a:p>
            </p:txBody>
          </p:sp>
          <p:sp>
            <p:nvSpPr>
              <p:cNvPr id="619" name="Rectangle 5"/>
              <p:cNvSpPr>
                <a:spLocks noChangeArrowheads="1"/>
              </p:cNvSpPr>
              <p:nvPr/>
            </p:nvSpPr>
            <p:spPr bwMode="gray">
              <a:xfrm>
                <a:off x="2439455" y="4534825"/>
                <a:ext cx="480685"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Shahjibazar</a:t>
                </a:r>
              </a:p>
            </p:txBody>
          </p:sp>
          <p:sp>
            <p:nvSpPr>
              <p:cNvPr id="620" name="Rectangle 5"/>
              <p:cNvSpPr>
                <a:spLocks noChangeArrowheads="1"/>
              </p:cNvSpPr>
              <p:nvPr/>
            </p:nvSpPr>
            <p:spPr bwMode="gray">
              <a:xfrm>
                <a:off x="3294273" y="4634340"/>
                <a:ext cx="257375"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Sangu</a:t>
                </a:r>
              </a:p>
            </p:txBody>
          </p:sp>
          <p:sp>
            <p:nvSpPr>
              <p:cNvPr id="621" name="Rectangle 5"/>
              <p:cNvSpPr>
                <a:spLocks noChangeArrowheads="1"/>
              </p:cNvSpPr>
              <p:nvPr/>
            </p:nvSpPr>
            <p:spPr bwMode="gray">
              <a:xfrm>
                <a:off x="3588510" y="4368983"/>
                <a:ext cx="498347" cy="96894"/>
              </a:xfrm>
              <a:prstGeom prst="rect">
                <a:avLst/>
              </a:prstGeom>
              <a:noFill/>
              <a:ln w="12700">
                <a:noFill/>
                <a:miter lim="800000"/>
                <a:headEnd/>
                <a:tailEnd/>
              </a:ln>
              <a:effectLst/>
            </p:spPr>
            <p:txBody>
              <a:bodyPr wrap="none" lIns="0" tIns="0" rIns="0" bIns="0">
                <a:spAutoFit/>
              </a:bodyPr>
              <a:lstStyle/>
              <a:p>
                <a:pPr algn="ctr" defTabSz="1339850"/>
                <a:r>
                  <a:rPr lang="en-US" sz="800" b="1" dirty="0">
                    <a:latin typeface="+mj-lt"/>
                  </a:rPr>
                  <a:t>Chittagong</a:t>
                </a:r>
              </a:p>
            </p:txBody>
          </p:sp>
          <p:sp>
            <p:nvSpPr>
              <p:cNvPr id="622" name="Rectangle 5"/>
              <p:cNvSpPr>
                <a:spLocks noChangeArrowheads="1"/>
              </p:cNvSpPr>
              <p:nvPr/>
            </p:nvSpPr>
            <p:spPr bwMode="gray">
              <a:xfrm>
                <a:off x="2513305" y="3817095"/>
                <a:ext cx="461761"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Begumganj</a:t>
                </a:r>
              </a:p>
            </p:txBody>
          </p:sp>
          <p:sp>
            <p:nvSpPr>
              <p:cNvPr id="623" name="Rectangle 5"/>
              <p:cNvSpPr>
                <a:spLocks noChangeArrowheads="1"/>
              </p:cNvSpPr>
              <p:nvPr/>
            </p:nvSpPr>
            <p:spPr bwMode="gray">
              <a:xfrm>
                <a:off x="2716734" y="4136087"/>
                <a:ext cx="350736"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Noakhali</a:t>
                </a:r>
              </a:p>
            </p:txBody>
          </p:sp>
          <p:sp>
            <p:nvSpPr>
              <p:cNvPr id="624" name="Rectangle 5"/>
              <p:cNvSpPr>
                <a:spLocks noChangeArrowheads="1"/>
              </p:cNvSpPr>
              <p:nvPr/>
            </p:nvSpPr>
            <p:spPr bwMode="gray">
              <a:xfrm>
                <a:off x="3227149" y="4075400"/>
                <a:ext cx="169059"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Feni</a:t>
                </a:r>
              </a:p>
            </p:txBody>
          </p:sp>
          <p:sp>
            <p:nvSpPr>
              <p:cNvPr id="625" name="Rectangle 5"/>
              <p:cNvSpPr>
                <a:spLocks noChangeArrowheads="1"/>
              </p:cNvSpPr>
              <p:nvPr/>
            </p:nvSpPr>
            <p:spPr bwMode="gray">
              <a:xfrm>
                <a:off x="3320016" y="3930042"/>
                <a:ext cx="418865"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Semutung</a:t>
                </a:r>
              </a:p>
            </p:txBody>
          </p:sp>
          <p:sp>
            <p:nvSpPr>
              <p:cNvPr id="626" name="Rectangle 5"/>
              <p:cNvSpPr>
                <a:spLocks noChangeArrowheads="1"/>
              </p:cNvSpPr>
              <p:nvPr/>
            </p:nvSpPr>
            <p:spPr bwMode="gray">
              <a:xfrm>
                <a:off x="2172287" y="3606469"/>
                <a:ext cx="394893"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Chandpur</a:t>
                </a:r>
              </a:p>
            </p:txBody>
          </p:sp>
          <p:sp>
            <p:nvSpPr>
              <p:cNvPr id="627" name="Rectangle 5"/>
              <p:cNvSpPr>
                <a:spLocks noChangeArrowheads="1"/>
              </p:cNvSpPr>
              <p:nvPr/>
            </p:nvSpPr>
            <p:spPr bwMode="gray">
              <a:xfrm>
                <a:off x="3202459" y="3498593"/>
                <a:ext cx="300270"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Comilla</a:t>
                </a:r>
              </a:p>
            </p:txBody>
          </p:sp>
          <p:sp>
            <p:nvSpPr>
              <p:cNvPr id="628" name="Rectangle 5"/>
              <p:cNvSpPr>
                <a:spLocks noChangeArrowheads="1"/>
              </p:cNvSpPr>
              <p:nvPr/>
            </p:nvSpPr>
            <p:spPr bwMode="gray">
              <a:xfrm>
                <a:off x="3084109" y="3354907"/>
                <a:ext cx="435266"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Salda Nadi</a:t>
                </a:r>
              </a:p>
            </p:txBody>
          </p:sp>
          <p:sp>
            <p:nvSpPr>
              <p:cNvPr id="629" name="Rectangle 5"/>
              <p:cNvSpPr>
                <a:spLocks noChangeArrowheads="1"/>
              </p:cNvSpPr>
              <p:nvPr/>
            </p:nvSpPr>
            <p:spPr bwMode="gray">
              <a:xfrm>
                <a:off x="2880045" y="3248024"/>
                <a:ext cx="317933"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Meghna</a:t>
                </a:r>
              </a:p>
            </p:txBody>
          </p:sp>
          <p:sp>
            <p:nvSpPr>
              <p:cNvPr id="630" name="Rectangle 5"/>
              <p:cNvSpPr>
                <a:spLocks noChangeArrowheads="1"/>
              </p:cNvSpPr>
              <p:nvPr/>
            </p:nvSpPr>
            <p:spPr bwMode="gray">
              <a:xfrm>
                <a:off x="2499008" y="3609068"/>
                <a:ext cx="382277"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Bakrabad</a:t>
                </a:r>
              </a:p>
            </p:txBody>
          </p:sp>
          <p:sp>
            <p:nvSpPr>
              <p:cNvPr id="631" name="Rectangle 5"/>
              <p:cNvSpPr>
                <a:spLocks noChangeArrowheads="1"/>
              </p:cNvSpPr>
              <p:nvPr/>
            </p:nvSpPr>
            <p:spPr bwMode="gray">
              <a:xfrm>
                <a:off x="2989701" y="3085024"/>
                <a:ext cx="193031"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Titas</a:t>
                </a:r>
              </a:p>
            </p:txBody>
          </p:sp>
          <p:sp>
            <p:nvSpPr>
              <p:cNvPr id="632" name="Rectangle 5"/>
              <p:cNvSpPr>
                <a:spLocks noChangeArrowheads="1"/>
              </p:cNvSpPr>
              <p:nvPr/>
            </p:nvSpPr>
            <p:spPr bwMode="gray">
              <a:xfrm>
                <a:off x="2475312" y="3035856"/>
                <a:ext cx="273776"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Belabo</a:t>
                </a:r>
              </a:p>
            </p:txBody>
          </p:sp>
          <p:sp>
            <p:nvSpPr>
              <p:cNvPr id="633" name="Rectangle 5"/>
              <p:cNvSpPr>
                <a:spLocks noChangeArrowheads="1"/>
              </p:cNvSpPr>
              <p:nvPr/>
            </p:nvSpPr>
            <p:spPr bwMode="gray">
              <a:xfrm>
                <a:off x="2091095" y="3136014"/>
                <a:ext cx="261160"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Kamta</a:t>
                </a:r>
              </a:p>
            </p:txBody>
          </p:sp>
          <p:sp>
            <p:nvSpPr>
              <p:cNvPr id="634" name="Rectangle 5"/>
              <p:cNvSpPr>
                <a:spLocks noChangeArrowheads="1"/>
              </p:cNvSpPr>
              <p:nvPr/>
            </p:nvSpPr>
            <p:spPr bwMode="gray">
              <a:xfrm>
                <a:off x="1581780" y="2909566"/>
                <a:ext cx="449143"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Hatikumrul</a:t>
                </a:r>
              </a:p>
            </p:txBody>
          </p:sp>
          <p:sp>
            <p:nvSpPr>
              <p:cNvPr id="635" name="Rectangle 5"/>
              <p:cNvSpPr>
                <a:spLocks noChangeArrowheads="1"/>
              </p:cNvSpPr>
              <p:nvPr/>
            </p:nvSpPr>
            <p:spPr bwMode="gray">
              <a:xfrm>
                <a:off x="2602920" y="2728059"/>
                <a:ext cx="410033"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Habibganj</a:t>
                </a:r>
              </a:p>
            </p:txBody>
          </p:sp>
          <p:sp>
            <p:nvSpPr>
              <p:cNvPr id="636" name="Rectangle 5"/>
              <p:cNvSpPr>
                <a:spLocks noChangeArrowheads="1"/>
              </p:cNvSpPr>
              <p:nvPr/>
            </p:nvSpPr>
            <p:spPr bwMode="gray">
              <a:xfrm>
                <a:off x="3240805" y="2918180"/>
                <a:ext cx="407509"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Rashidpur</a:t>
                </a:r>
              </a:p>
            </p:txBody>
          </p:sp>
          <p:sp>
            <p:nvSpPr>
              <p:cNvPr id="637" name="Rectangle 5"/>
              <p:cNvSpPr>
                <a:spLocks noChangeArrowheads="1"/>
              </p:cNvSpPr>
              <p:nvPr/>
            </p:nvSpPr>
            <p:spPr bwMode="gray">
              <a:xfrm>
                <a:off x="2972057" y="2601244"/>
                <a:ext cx="346951"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Bibiyana</a:t>
                </a:r>
              </a:p>
            </p:txBody>
          </p:sp>
          <p:sp>
            <p:nvSpPr>
              <p:cNvPr id="638" name="Rectangle 5"/>
              <p:cNvSpPr>
                <a:spLocks noChangeArrowheads="1"/>
              </p:cNvSpPr>
              <p:nvPr/>
            </p:nvSpPr>
            <p:spPr bwMode="gray">
              <a:xfrm>
                <a:off x="3591262" y="2739302"/>
                <a:ext cx="484469"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Maulvibazar</a:t>
                </a:r>
              </a:p>
            </p:txBody>
          </p:sp>
          <p:sp>
            <p:nvSpPr>
              <p:cNvPr id="639" name="Rectangle 5"/>
              <p:cNvSpPr>
                <a:spLocks noChangeArrowheads="1"/>
              </p:cNvSpPr>
              <p:nvPr/>
            </p:nvSpPr>
            <p:spPr bwMode="gray">
              <a:xfrm>
                <a:off x="3603098" y="2644918"/>
                <a:ext cx="468069"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Febchuganj</a:t>
                </a:r>
              </a:p>
            </p:txBody>
          </p:sp>
          <p:sp>
            <p:nvSpPr>
              <p:cNvPr id="640" name="Rectangle 5"/>
              <p:cNvSpPr>
                <a:spLocks noChangeArrowheads="1"/>
              </p:cNvSpPr>
              <p:nvPr/>
            </p:nvSpPr>
            <p:spPr bwMode="gray">
              <a:xfrm>
                <a:off x="3825559" y="2513856"/>
                <a:ext cx="449143"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Beanibazar</a:t>
                </a:r>
              </a:p>
            </p:txBody>
          </p:sp>
          <p:sp>
            <p:nvSpPr>
              <p:cNvPr id="641" name="Rectangle 5"/>
              <p:cNvSpPr>
                <a:spLocks noChangeArrowheads="1"/>
              </p:cNvSpPr>
              <p:nvPr/>
            </p:nvSpPr>
            <p:spPr bwMode="gray">
              <a:xfrm>
                <a:off x="3667508" y="2372540"/>
                <a:ext cx="415079"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Kailashtila</a:t>
                </a:r>
              </a:p>
            </p:txBody>
          </p:sp>
          <p:sp>
            <p:nvSpPr>
              <p:cNvPr id="642" name="Rectangle 5"/>
              <p:cNvSpPr>
                <a:spLocks noChangeArrowheads="1"/>
              </p:cNvSpPr>
              <p:nvPr/>
            </p:nvSpPr>
            <p:spPr bwMode="gray">
              <a:xfrm>
                <a:off x="3412258" y="2107068"/>
                <a:ext cx="286392" cy="96894"/>
              </a:xfrm>
              <a:prstGeom prst="rect">
                <a:avLst/>
              </a:prstGeom>
              <a:noFill/>
              <a:ln w="12700">
                <a:noFill/>
                <a:miter lim="800000"/>
                <a:headEnd/>
                <a:tailEnd/>
              </a:ln>
              <a:effectLst/>
            </p:spPr>
            <p:txBody>
              <a:bodyPr wrap="none" lIns="0" tIns="0" rIns="0" bIns="0">
                <a:spAutoFit/>
              </a:bodyPr>
              <a:lstStyle/>
              <a:p>
                <a:pPr algn="ctr" defTabSz="1339850"/>
                <a:r>
                  <a:rPr lang="en-US" sz="800" b="1" dirty="0">
                    <a:latin typeface="+mj-lt"/>
                  </a:rPr>
                  <a:t>Sylhet</a:t>
                </a:r>
              </a:p>
            </p:txBody>
          </p:sp>
          <p:sp>
            <p:nvSpPr>
              <p:cNvPr id="643" name="Rectangle 5"/>
              <p:cNvSpPr>
                <a:spLocks noChangeArrowheads="1"/>
              </p:cNvSpPr>
              <p:nvPr/>
            </p:nvSpPr>
            <p:spPr bwMode="gray">
              <a:xfrm>
                <a:off x="3010758" y="2443081"/>
                <a:ext cx="374707"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Jalalabad</a:t>
                </a:r>
              </a:p>
            </p:txBody>
          </p:sp>
          <p:sp>
            <p:nvSpPr>
              <p:cNvPr id="644" name="Rectangle 5"/>
              <p:cNvSpPr>
                <a:spLocks noChangeArrowheads="1"/>
              </p:cNvSpPr>
              <p:nvPr/>
            </p:nvSpPr>
            <p:spPr bwMode="gray">
              <a:xfrm>
                <a:off x="2813132" y="2288235"/>
                <a:ext cx="335597"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Chhatak</a:t>
                </a:r>
              </a:p>
            </p:txBody>
          </p:sp>
          <p:sp>
            <p:nvSpPr>
              <p:cNvPr id="645" name="Rectangle 5"/>
              <p:cNvSpPr>
                <a:spLocks noChangeArrowheads="1"/>
              </p:cNvSpPr>
              <p:nvPr/>
            </p:nvSpPr>
            <p:spPr bwMode="gray">
              <a:xfrm>
                <a:off x="1861973" y="2512244"/>
                <a:ext cx="369660"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Jamalpur</a:t>
                </a:r>
              </a:p>
            </p:txBody>
          </p:sp>
          <p:sp>
            <p:nvSpPr>
              <p:cNvPr id="646" name="Rectangle 5"/>
              <p:cNvSpPr>
                <a:spLocks noChangeArrowheads="1"/>
              </p:cNvSpPr>
              <p:nvPr/>
            </p:nvSpPr>
            <p:spPr bwMode="gray">
              <a:xfrm>
                <a:off x="2013988" y="2195963"/>
                <a:ext cx="325503"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Sherpur</a:t>
                </a:r>
              </a:p>
            </p:txBody>
          </p:sp>
          <p:sp>
            <p:nvSpPr>
              <p:cNvPr id="647" name="Rectangle 5"/>
              <p:cNvSpPr>
                <a:spLocks noChangeArrowheads="1"/>
              </p:cNvSpPr>
              <p:nvPr/>
            </p:nvSpPr>
            <p:spPr bwMode="gray">
              <a:xfrm>
                <a:off x="2145291" y="2374482"/>
                <a:ext cx="512225"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Mymensingh</a:t>
                </a:r>
              </a:p>
            </p:txBody>
          </p:sp>
          <p:sp>
            <p:nvSpPr>
              <p:cNvPr id="648" name="Rectangle 5"/>
              <p:cNvSpPr>
                <a:spLocks noChangeArrowheads="1"/>
              </p:cNvSpPr>
              <p:nvPr/>
            </p:nvSpPr>
            <p:spPr bwMode="gray">
              <a:xfrm>
                <a:off x="1530719" y="2341199"/>
                <a:ext cx="237188"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Bogra</a:t>
                </a:r>
              </a:p>
            </p:txBody>
          </p:sp>
          <p:sp>
            <p:nvSpPr>
              <p:cNvPr id="649" name="Rectangle 5"/>
              <p:cNvSpPr>
                <a:spLocks noChangeArrowheads="1"/>
              </p:cNvSpPr>
              <p:nvPr/>
            </p:nvSpPr>
            <p:spPr bwMode="gray">
              <a:xfrm>
                <a:off x="1980054" y="3489911"/>
                <a:ext cx="287654" cy="96894"/>
              </a:xfrm>
              <a:prstGeom prst="rect">
                <a:avLst/>
              </a:prstGeom>
              <a:noFill/>
              <a:ln w="12700">
                <a:noFill/>
                <a:miter lim="800000"/>
                <a:headEnd/>
                <a:tailEnd/>
              </a:ln>
              <a:effectLst/>
            </p:spPr>
            <p:txBody>
              <a:bodyPr wrap="none" lIns="0" tIns="0" rIns="0" bIns="0">
                <a:spAutoFit/>
              </a:bodyPr>
              <a:lstStyle/>
              <a:p>
                <a:pPr algn="ctr" defTabSz="1339850"/>
                <a:r>
                  <a:rPr lang="en-US" sz="800" b="1" dirty="0">
                    <a:latin typeface="+mj-lt"/>
                  </a:rPr>
                  <a:t>Dhaka</a:t>
                </a:r>
              </a:p>
            </p:txBody>
          </p:sp>
          <p:sp>
            <p:nvSpPr>
              <p:cNvPr id="650" name="Rectangle 5"/>
              <p:cNvSpPr>
                <a:spLocks noChangeArrowheads="1"/>
              </p:cNvSpPr>
              <p:nvPr/>
            </p:nvSpPr>
            <p:spPr bwMode="gray">
              <a:xfrm>
                <a:off x="1342499" y="3354712"/>
                <a:ext cx="338119"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Jhendah</a:t>
                </a:r>
              </a:p>
            </p:txBody>
          </p:sp>
          <p:sp>
            <p:nvSpPr>
              <p:cNvPr id="651" name="Rectangle 5"/>
              <p:cNvSpPr>
                <a:spLocks noChangeArrowheads="1"/>
              </p:cNvSpPr>
              <p:nvPr/>
            </p:nvSpPr>
            <p:spPr bwMode="gray">
              <a:xfrm>
                <a:off x="1657715" y="3212971"/>
                <a:ext cx="302794"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Kushtia</a:t>
                </a:r>
              </a:p>
            </p:txBody>
          </p:sp>
          <p:sp>
            <p:nvSpPr>
              <p:cNvPr id="652" name="Rectangle 5"/>
              <p:cNvSpPr>
                <a:spLocks noChangeArrowheads="1"/>
              </p:cNvSpPr>
              <p:nvPr/>
            </p:nvSpPr>
            <p:spPr bwMode="gray">
              <a:xfrm>
                <a:off x="1036194" y="3035697"/>
                <a:ext cx="445359"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Bheramara</a:t>
                </a:r>
              </a:p>
            </p:txBody>
          </p:sp>
          <p:sp>
            <p:nvSpPr>
              <p:cNvPr id="653" name="Rectangle 5"/>
              <p:cNvSpPr>
                <a:spLocks noChangeArrowheads="1"/>
              </p:cNvSpPr>
              <p:nvPr/>
            </p:nvSpPr>
            <p:spPr bwMode="gray">
              <a:xfrm>
                <a:off x="1135783" y="2861382"/>
                <a:ext cx="336858"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Bonpara</a:t>
                </a:r>
              </a:p>
            </p:txBody>
          </p:sp>
          <p:sp>
            <p:nvSpPr>
              <p:cNvPr id="654" name="Rectangle 653"/>
              <p:cNvSpPr>
                <a:spLocks noChangeArrowheads="1"/>
              </p:cNvSpPr>
              <p:nvPr/>
            </p:nvSpPr>
            <p:spPr bwMode="gray">
              <a:xfrm>
                <a:off x="3113953" y="5101421"/>
                <a:ext cx="101741" cy="101741"/>
              </a:xfrm>
              <a:prstGeom prst="rect">
                <a:avLst/>
              </a:prstGeom>
              <a:solidFill>
                <a:schemeClr val="accent5"/>
              </a:solidFill>
              <a:ln w="12700">
                <a:noFill/>
                <a:round/>
                <a:headEnd/>
                <a:tailEnd/>
              </a:ln>
              <a:effectLst/>
            </p:spPr>
            <p:txBody>
              <a:bodyPr wrap="none" anchor="ctr"/>
              <a:lstStyle/>
              <a:p>
                <a:pPr algn="ctr"/>
                <a:endParaRPr lang="en-US" sz="800" dirty="0">
                  <a:latin typeface="+mj-lt"/>
                </a:endParaRPr>
              </a:p>
            </p:txBody>
          </p:sp>
          <p:sp>
            <p:nvSpPr>
              <p:cNvPr id="655" name="Rectangle 654"/>
              <p:cNvSpPr>
                <a:spLocks noChangeArrowheads="1"/>
              </p:cNvSpPr>
              <p:nvPr/>
            </p:nvSpPr>
            <p:spPr bwMode="gray">
              <a:xfrm>
                <a:off x="3283924" y="5101421"/>
                <a:ext cx="101741" cy="101741"/>
              </a:xfrm>
              <a:prstGeom prst="rect">
                <a:avLst/>
              </a:prstGeom>
              <a:solidFill>
                <a:schemeClr val="accent5"/>
              </a:solidFill>
              <a:ln w="12700">
                <a:noFill/>
                <a:round/>
                <a:headEnd/>
                <a:tailEnd/>
              </a:ln>
              <a:effectLst/>
            </p:spPr>
            <p:txBody>
              <a:bodyPr wrap="none" anchor="ctr"/>
              <a:lstStyle/>
              <a:p>
                <a:pPr algn="ctr"/>
                <a:endParaRPr lang="en-US" sz="800" dirty="0">
                  <a:latin typeface="+mj-lt"/>
                </a:endParaRPr>
              </a:p>
            </p:txBody>
          </p:sp>
          <p:sp>
            <p:nvSpPr>
              <p:cNvPr id="656" name="Rectangle 5"/>
              <p:cNvSpPr>
                <a:spLocks noChangeArrowheads="1"/>
              </p:cNvSpPr>
              <p:nvPr/>
            </p:nvSpPr>
            <p:spPr bwMode="gray">
              <a:xfrm>
                <a:off x="2541228" y="5102791"/>
                <a:ext cx="565215"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Summit FSRU</a:t>
                </a:r>
              </a:p>
            </p:txBody>
          </p:sp>
          <p:sp>
            <p:nvSpPr>
              <p:cNvPr id="657" name="Rectangle 5"/>
              <p:cNvSpPr>
                <a:spLocks noChangeArrowheads="1"/>
              </p:cNvSpPr>
              <p:nvPr/>
            </p:nvSpPr>
            <p:spPr bwMode="gray">
              <a:xfrm>
                <a:off x="3109933" y="5242486"/>
                <a:ext cx="444098" cy="96894"/>
              </a:xfrm>
              <a:prstGeom prst="rect">
                <a:avLst/>
              </a:prstGeom>
              <a:noFill/>
              <a:ln w="12700">
                <a:noFill/>
                <a:miter lim="800000"/>
                <a:headEnd/>
                <a:tailEnd/>
              </a:ln>
              <a:effectLst/>
            </p:spPr>
            <p:txBody>
              <a:bodyPr wrap="none" lIns="0" tIns="0" rIns="0" bIns="0">
                <a:spAutoFit/>
              </a:bodyPr>
              <a:lstStyle/>
              <a:p>
                <a:pPr algn="ctr" defTabSz="1339850"/>
                <a:r>
                  <a:rPr lang="en-US" sz="800" dirty="0">
                    <a:latin typeface="+mj-lt"/>
                  </a:rPr>
                  <a:t>EEEL FSRU</a:t>
                </a:r>
              </a:p>
            </p:txBody>
          </p:sp>
        </p:grpSp>
      </p:grpSp>
      <p:sp>
        <p:nvSpPr>
          <p:cNvPr id="785" name="Rectangle 784"/>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Petrobangla, GTCL, Industry Reports, Deloitte Analysis</a:t>
            </a:r>
          </a:p>
        </p:txBody>
      </p:sp>
    </p:spTree>
    <p:extLst>
      <p:ext uri="{BB962C8B-B14F-4D97-AF65-F5344CB8AC3E}">
        <p14:creationId xmlns:p14="http://schemas.microsoft.com/office/powerpoint/2010/main" val="2059136884"/>
      </p:ext>
    </p:extLst>
  </p:cSld>
  <p:clrMapOvr>
    <a:masterClrMapping/>
  </p:clrMapOvr>
  <p:transition>
    <p:fade/>
  </p:transition>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Object 12" hidden="1"/>
          <p:cNvGraphicFramePr>
            <a:graphicFrameLocks noChangeAspect="1"/>
          </p:cNvGraphicFramePr>
          <p:nvPr>
            <p:custDataLst>
              <p:tags r:id="rId1"/>
            </p:custDataLst>
            <p:extLst>
              <p:ext uri="{D42A27DB-BD31-4B8C-83A1-F6EECF244321}">
                <p14:modId xmlns:p14="http://schemas.microsoft.com/office/powerpoint/2010/main" val="423419660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13" name="Object 12"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12" name="Rectangle 1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Gas Transmission | LNG Infrastructure (Till March 2020)</a:t>
            </a:r>
            <a:endParaRPr lang="en-IN" dirty="0"/>
          </a:p>
        </p:txBody>
      </p:sp>
      <p:graphicFrame>
        <p:nvGraphicFramePr>
          <p:cNvPr id="3" name="Table 2"/>
          <p:cNvGraphicFramePr>
            <a:graphicFrameLocks noGrp="1"/>
          </p:cNvGraphicFramePr>
          <p:nvPr>
            <p:custDataLst>
              <p:tags r:id="rId3"/>
            </p:custDataLst>
            <p:extLst>
              <p:ext uri="{D42A27DB-BD31-4B8C-83A1-F6EECF244321}">
                <p14:modId xmlns:p14="http://schemas.microsoft.com/office/powerpoint/2010/main" val="1781390344"/>
              </p:ext>
            </p:extLst>
          </p:nvPr>
        </p:nvGraphicFramePr>
        <p:xfrm>
          <a:off x="449993" y="1961918"/>
          <a:ext cx="4734896" cy="30493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723655">
                <a:tc>
                  <a:txBody>
                    <a:bodyPr/>
                    <a:lstStyle/>
                    <a:p>
                      <a:pPr marL="0" lvl="0" indent="0" algn="just">
                        <a:spcBef>
                          <a:spcPts val="600"/>
                        </a:spcBef>
                        <a:spcAft>
                          <a:spcPts val="600"/>
                        </a:spcAft>
                        <a:buFont typeface="Arial" panose="020B0604020202020204" pitchFamily="34" charset="0"/>
                        <a:buNone/>
                      </a:pPr>
                      <a:r>
                        <a:rPr lang="en-US" sz="1000" b="1" baseline="0" dirty="0">
                          <a:solidFill>
                            <a:schemeClr val="tx1"/>
                          </a:solidFill>
                        </a:rPr>
                        <a:t>LNG import infrastructure</a:t>
                      </a:r>
                    </a:p>
                    <a:p>
                      <a:pPr marL="171450" lvl="0" indent="-171450" algn="just">
                        <a:spcBef>
                          <a:spcPts val="0"/>
                        </a:spcBef>
                        <a:spcAft>
                          <a:spcPts val="600"/>
                        </a:spcAft>
                        <a:buFont typeface="Arial" panose="020B0604020202020204" pitchFamily="34" charset="0"/>
                        <a:buChar char="•"/>
                      </a:pPr>
                      <a:r>
                        <a:rPr lang="en-US" sz="1000" b="0" baseline="0" dirty="0">
                          <a:solidFill>
                            <a:schemeClr val="tx1"/>
                          </a:solidFill>
                        </a:rPr>
                        <a:t>Bangladesh has commissioned two FSRUs near Moheshkali off the coast of Cox Bazar:</a:t>
                      </a:r>
                    </a:p>
                    <a:p>
                      <a:pPr marL="357188" lvl="1" indent="-174625" algn="just">
                        <a:spcBef>
                          <a:spcPts val="0"/>
                        </a:spcBef>
                        <a:spcAft>
                          <a:spcPts val="600"/>
                        </a:spcAft>
                        <a:buFont typeface="Courier New" panose="02070309020205020404" pitchFamily="49" charset="0"/>
                        <a:buChar char="o"/>
                      </a:pPr>
                      <a:r>
                        <a:rPr lang="en-US" sz="1000" b="0" baseline="0" dirty="0">
                          <a:solidFill>
                            <a:schemeClr val="tx1"/>
                          </a:solidFill>
                        </a:rPr>
                        <a:t>Excelerate Energy Bangladesh, 500 mmscfd FSRU </a:t>
                      </a:r>
                    </a:p>
                    <a:p>
                      <a:pPr marL="357188" lvl="1" indent="-174625" algn="just">
                        <a:spcBef>
                          <a:spcPts val="0"/>
                        </a:spcBef>
                        <a:spcAft>
                          <a:spcPts val="600"/>
                        </a:spcAft>
                        <a:buFont typeface="Courier New" panose="02070309020205020404" pitchFamily="49" charset="0"/>
                        <a:buChar char="o"/>
                      </a:pPr>
                      <a:r>
                        <a:rPr lang="en-US" sz="1000" b="0" baseline="0" dirty="0">
                          <a:solidFill>
                            <a:schemeClr val="tx1"/>
                          </a:solidFill>
                        </a:rPr>
                        <a:t>Summit Corporation, 500 mmscfd FSRU </a:t>
                      </a:r>
                    </a:p>
                    <a:p>
                      <a:pPr marL="171450" indent="-171450" algn="just">
                        <a:spcBef>
                          <a:spcPts val="0"/>
                        </a:spcBef>
                        <a:spcAft>
                          <a:spcPts val="600"/>
                        </a:spcAft>
                        <a:buFont typeface="Arial" panose="020B0604020202020204" pitchFamily="34" charset="0"/>
                        <a:buChar char="•"/>
                      </a:pPr>
                      <a:r>
                        <a:rPr lang="en-US" sz="1000" b="0" baseline="0" dirty="0">
                          <a:solidFill>
                            <a:schemeClr val="tx1"/>
                          </a:solidFill>
                        </a:rPr>
                        <a:t>Initially the FSRU’s faced evacuation constraint due to lack of pipeline capacity to evacuate LNG from the FSRUs with the overall transmission from both the FSRUs limited to ~600 mmscfd only</a:t>
                      </a:r>
                    </a:p>
                    <a:p>
                      <a:pPr marL="171450" indent="-171450" algn="just">
                        <a:spcBef>
                          <a:spcPts val="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Till June 2019, the LNG supply was being using the Moheshkali – Anowara Pipeline (30 inch x 91 Kms) with further evacuation restricted due to non completion of Anwara-Fouzdarhat (42 inch x 30 Kms) over Karnaphuli river</a:t>
                      </a:r>
                    </a:p>
                    <a:p>
                      <a:pPr marL="171450" indent="-171450" algn="just">
                        <a:spcBef>
                          <a:spcPts val="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Even post commissioning of the Anwara-Fouzdarhat pipeline the LNG was being consumed mostly in the Chattogram division due to constraint of the transmission pipeline from Barakhunda towards Bakhrabhad (24 inch)</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4"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0">
              <a:defRPr/>
            </a:pPr>
            <a:r>
              <a:rPr lang="en-US" sz="1400" dirty="0">
                <a:solidFill>
                  <a:prstClr val="black">
                    <a:lumMod val="50000"/>
                    <a:lumOff val="50000"/>
                  </a:prstClr>
                </a:solidFill>
                <a:latin typeface="Verdana" panose="020B0604030504040204" pitchFamily="34" charset="0"/>
              </a:rPr>
              <a:t>The LNG import capacity has been facing evacuation constraints due to inadequate transmission capacity</a:t>
            </a:r>
          </a:p>
        </p:txBody>
      </p:sp>
      <p:pic>
        <p:nvPicPr>
          <p:cNvPr id="5" name="Picture 4"/>
          <p:cNvPicPr>
            <a:picLocks noChangeAspect="1"/>
          </p:cNvPicPr>
          <p:nvPr/>
        </p:nvPicPr>
        <p:blipFill>
          <a:blip r:embed="rId7"/>
          <a:stretch>
            <a:fillRect/>
          </a:stretch>
        </p:blipFill>
        <p:spPr>
          <a:xfrm>
            <a:off x="5479900" y="1954107"/>
            <a:ext cx="1247858" cy="1477342"/>
          </a:xfrm>
          <a:prstGeom prst="rect">
            <a:avLst/>
          </a:prstGeom>
        </p:spPr>
      </p:pic>
      <p:sp>
        <p:nvSpPr>
          <p:cNvPr id="16" name="Rectangle 15"/>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Petrobangla, GTCL, Industry Reports, Deloitte Analysis</a:t>
            </a:r>
          </a:p>
        </p:txBody>
      </p:sp>
      <p:pic>
        <p:nvPicPr>
          <p:cNvPr id="15" name="Picture 14"/>
          <p:cNvPicPr>
            <a:picLocks noChangeAspect="1"/>
          </p:cNvPicPr>
          <p:nvPr/>
        </p:nvPicPr>
        <p:blipFill>
          <a:blip r:embed="rId8"/>
          <a:stretch>
            <a:fillRect/>
          </a:stretch>
        </p:blipFill>
        <p:spPr>
          <a:xfrm>
            <a:off x="6727758" y="2440842"/>
            <a:ext cx="3513206" cy="4595016"/>
          </a:xfrm>
          <a:prstGeom prst="rect">
            <a:avLst/>
          </a:prstGeom>
        </p:spPr>
      </p:pic>
      <p:sp>
        <p:nvSpPr>
          <p:cNvPr id="17" name="Oval 16"/>
          <p:cNvSpPr/>
          <p:nvPr/>
        </p:nvSpPr>
        <p:spPr bwMode="gray">
          <a:xfrm>
            <a:off x="6275070" y="2518421"/>
            <a:ext cx="628650" cy="913028"/>
          </a:xfrm>
          <a:prstGeom prst="ellipse">
            <a:avLst/>
          </a:prstGeom>
          <a:solidFill>
            <a:srgbClr val="BA7A57">
              <a:alpha val="41000"/>
            </a:srgb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 name="Oval 5"/>
          <p:cNvSpPr/>
          <p:nvPr/>
        </p:nvSpPr>
        <p:spPr bwMode="gray">
          <a:xfrm rot="20281265">
            <a:off x="7661095" y="3988851"/>
            <a:ext cx="1173479" cy="2880632"/>
          </a:xfrm>
          <a:prstGeom prst="ellipse">
            <a:avLst/>
          </a:prstGeom>
          <a:solidFill>
            <a:schemeClr val="accent4">
              <a:alpha val="10000"/>
            </a:schemeClr>
          </a:solidFill>
          <a:ln w="19050" algn="ctr">
            <a:solidFill>
              <a:schemeClr val="accent4"/>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7" name="TextBox 6"/>
          <p:cNvSpPr txBox="1"/>
          <p:nvPr/>
        </p:nvSpPr>
        <p:spPr>
          <a:xfrm>
            <a:off x="8502428" y="5554798"/>
            <a:ext cx="1283550" cy="489060"/>
          </a:xfrm>
          <a:prstGeom prst="roundRect">
            <a:avLst/>
          </a:prstGeom>
          <a:solidFill>
            <a:schemeClr val="accent4"/>
          </a:solidFill>
        </p:spPr>
        <p:txBody>
          <a:bodyPr wrap="square" lIns="0" tIns="36000" rIns="0" bIns="36000" rtlCol="0">
            <a:spAutoFit/>
          </a:bodyPr>
          <a:lstStyle/>
          <a:p>
            <a:pPr marL="171450" marR="0" lvl="0" indent="-171450" algn="l" defTabSz="787481" rtl="0" eaLnBrk="1" fontAlgn="auto" latinLnBrk="0" hangingPunct="1">
              <a:lnSpc>
                <a:spcPct val="100000"/>
              </a:lnSpc>
              <a:spcBef>
                <a:spcPts val="600"/>
              </a:spcBef>
              <a:spcAft>
                <a:spcPts val="0"/>
              </a:spcAft>
              <a:buClrTx/>
              <a:buSzPct val="100000"/>
              <a:buFont typeface="Arial" panose="020B0604020202020204" pitchFamily="34" charset="0"/>
              <a:buChar char="•"/>
              <a:tabLst/>
              <a:defRPr/>
            </a:pPr>
            <a:r>
              <a:rPr kumimoji="0" lang="en-US" sz="800" b="1" i="0" u="none" strike="noStrike" kern="1200" cap="none" spc="0" normalizeH="0" baseline="0" noProof="0" dirty="0">
                <a:ln>
                  <a:noFill/>
                </a:ln>
                <a:solidFill>
                  <a:schemeClr val="bg1"/>
                </a:solidFill>
                <a:effectLst/>
                <a:uLnTx/>
                <a:uFillTx/>
                <a:latin typeface="Verdana"/>
                <a:ea typeface="+mn-ea"/>
                <a:cs typeface="+mn-cs"/>
              </a:rPr>
              <a:t>Maheshkali- Anwara  (30</a:t>
            </a:r>
            <a:r>
              <a:rPr kumimoji="0" lang="en-US" sz="800" b="1" i="0" u="none" strike="noStrike" kern="1200" cap="none" spc="0" normalizeH="0" noProof="0" dirty="0">
                <a:ln>
                  <a:noFill/>
                </a:ln>
                <a:solidFill>
                  <a:schemeClr val="bg1"/>
                </a:solidFill>
                <a:effectLst/>
                <a:uLnTx/>
                <a:uFillTx/>
                <a:latin typeface="Verdana"/>
                <a:ea typeface="+mn-ea"/>
                <a:cs typeface="+mn-cs"/>
              </a:rPr>
              <a:t> inch x 91 Kms)</a:t>
            </a:r>
            <a:endParaRPr kumimoji="0" lang="en-IN" sz="800" b="1" i="0" u="none" strike="noStrike" kern="1200" cap="none" spc="0" normalizeH="0" baseline="0" noProof="0" dirty="0">
              <a:ln>
                <a:noFill/>
              </a:ln>
              <a:solidFill>
                <a:schemeClr val="bg1"/>
              </a:solidFill>
              <a:effectLst/>
              <a:uLnTx/>
              <a:uFillTx/>
              <a:latin typeface="Verdana"/>
              <a:ea typeface="+mn-ea"/>
              <a:cs typeface="+mn-cs"/>
            </a:endParaRPr>
          </a:p>
        </p:txBody>
      </p:sp>
      <p:sp>
        <p:nvSpPr>
          <p:cNvPr id="8" name="Oval 7"/>
          <p:cNvSpPr/>
          <p:nvPr/>
        </p:nvSpPr>
        <p:spPr bwMode="gray">
          <a:xfrm rot="19956352">
            <a:off x="7644590" y="3321154"/>
            <a:ext cx="457291" cy="1002642"/>
          </a:xfrm>
          <a:prstGeom prst="ellipse">
            <a:avLst/>
          </a:prstGeom>
          <a:solidFill>
            <a:schemeClr val="accent5">
              <a:alpha val="28000"/>
            </a:schemeClr>
          </a:solidFill>
          <a:ln w="19050" algn="ctr">
            <a:solidFill>
              <a:schemeClr val="accent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9" name="TextBox 8"/>
          <p:cNvSpPr txBox="1"/>
          <p:nvPr/>
        </p:nvSpPr>
        <p:spPr>
          <a:xfrm>
            <a:off x="8452058" y="3433639"/>
            <a:ext cx="1384289" cy="433290"/>
          </a:xfrm>
          <a:prstGeom prst="roundRect">
            <a:avLst/>
          </a:prstGeom>
          <a:solidFill>
            <a:schemeClr val="accent5"/>
          </a:solidFill>
          <a:ln>
            <a:solidFill>
              <a:schemeClr val="accent5"/>
            </a:solidFill>
          </a:ln>
        </p:spPr>
        <p:txBody>
          <a:bodyPr wrap="square" lIns="0" tIns="72000" rIns="0" bIns="72000" rtlCol="0">
            <a:spAutoFit/>
          </a:bodyPr>
          <a:lstStyle/>
          <a:p>
            <a:pPr marL="171450" lvl="0" indent="-171450">
              <a:spcBef>
                <a:spcPts val="600"/>
              </a:spcBef>
              <a:buSzPct val="100000"/>
              <a:buFont typeface="Arial" panose="020B0604020202020204" pitchFamily="34" charset="0"/>
              <a:buChar char="•"/>
              <a:defRPr/>
            </a:pPr>
            <a:r>
              <a:rPr lang="en-US" sz="800" b="1" dirty="0">
                <a:solidFill>
                  <a:schemeClr val="bg1"/>
                </a:solidFill>
              </a:rPr>
              <a:t>Anwara-Fouzdarhat (42 inch x 30 Kms)</a:t>
            </a:r>
            <a:endParaRPr kumimoji="0" lang="en-IN" sz="800" b="1" i="0" u="none" strike="noStrike" kern="1200" cap="none" spc="0" normalizeH="0" baseline="0" noProof="0" dirty="0">
              <a:ln>
                <a:noFill/>
              </a:ln>
              <a:solidFill>
                <a:schemeClr val="bg1"/>
              </a:solidFill>
              <a:effectLst/>
              <a:uLnTx/>
              <a:uFillTx/>
              <a:latin typeface="Verdana"/>
              <a:ea typeface="+mn-ea"/>
              <a:cs typeface="+mn-cs"/>
            </a:endParaRPr>
          </a:p>
        </p:txBody>
      </p:sp>
      <p:sp>
        <p:nvSpPr>
          <p:cNvPr id="19" name="Freeform 3"/>
          <p:cNvSpPr>
            <a:spLocks/>
          </p:cNvSpPr>
          <p:nvPr/>
        </p:nvSpPr>
        <p:spPr bwMode="gray">
          <a:xfrm>
            <a:off x="449628" y="5011236"/>
            <a:ext cx="4735625" cy="2019204"/>
          </a:xfrm>
          <a:custGeom>
            <a:avLst/>
            <a:gdLst/>
            <a:ahLst/>
            <a:cxnLst>
              <a:cxn ang="0">
                <a:pos x="222" y="20"/>
              </a:cxn>
              <a:cxn ang="0">
                <a:pos x="476" y="6"/>
              </a:cxn>
              <a:cxn ang="0">
                <a:pos x="671" y="35"/>
              </a:cxn>
              <a:cxn ang="0">
                <a:pos x="901" y="27"/>
              </a:cxn>
              <a:cxn ang="0">
                <a:pos x="1105" y="7"/>
              </a:cxn>
              <a:cxn ang="0">
                <a:pos x="1351" y="13"/>
              </a:cxn>
              <a:cxn ang="0">
                <a:pos x="1750" y="16"/>
              </a:cxn>
              <a:cxn ang="0">
                <a:pos x="1962" y="33"/>
              </a:cxn>
              <a:cxn ang="0">
                <a:pos x="2433" y="23"/>
              </a:cxn>
              <a:cxn ang="0">
                <a:pos x="2648" y="30"/>
              </a:cxn>
              <a:cxn ang="0">
                <a:pos x="3022" y="30"/>
              </a:cxn>
              <a:cxn ang="0">
                <a:pos x="3305" y="38"/>
              </a:cxn>
              <a:cxn ang="0">
                <a:pos x="3683" y="43"/>
              </a:cxn>
              <a:cxn ang="0">
                <a:pos x="3921" y="44"/>
              </a:cxn>
              <a:cxn ang="0">
                <a:pos x="4152" y="45"/>
              </a:cxn>
              <a:cxn ang="0">
                <a:pos x="4193" y="98"/>
              </a:cxn>
              <a:cxn ang="0">
                <a:pos x="4229" y="146"/>
              </a:cxn>
              <a:cxn ang="0">
                <a:pos x="4183" y="224"/>
              </a:cxn>
              <a:cxn ang="0">
                <a:pos x="4218" y="282"/>
              </a:cxn>
              <a:cxn ang="0">
                <a:pos x="4286" y="348"/>
              </a:cxn>
              <a:cxn ang="0">
                <a:pos x="4353" y="404"/>
              </a:cxn>
              <a:cxn ang="0">
                <a:pos x="4419" y="474"/>
              </a:cxn>
              <a:cxn ang="0">
                <a:pos x="4413" y="546"/>
              </a:cxn>
              <a:cxn ang="0">
                <a:pos x="4443" y="645"/>
              </a:cxn>
              <a:cxn ang="0">
                <a:pos x="4461" y="711"/>
              </a:cxn>
              <a:cxn ang="0">
                <a:pos x="4462" y="811"/>
              </a:cxn>
              <a:cxn ang="0">
                <a:pos x="4483" y="869"/>
              </a:cxn>
              <a:cxn ang="0">
                <a:pos x="4526" y="953"/>
              </a:cxn>
              <a:cxn ang="0">
                <a:pos x="4448" y="999"/>
              </a:cxn>
              <a:cxn ang="0">
                <a:pos x="4203" y="989"/>
              </a:cxn>
              <a:cxn ang="0">
                <a:pos x="3829" y="970"/>
              </a:cxn>
              <a:cxn ang="0">
                <a:pos x="3619" y="991"/>
              </a:cxn>
              <a:cxn ang="0">
                <a:pos x="3434" y="1006"/>
              </a:cxn>
              <a:cxn ang="0">
                <a:pos x="3180" y="1017"/>
              </a:cxn>
              <a:cxn ang="0">
                <a:pos x="2821" y="994"/>
              </a:cxn>
              <a:cxn ang="0">
                <a:pos x="2467" y="999"/>
              </a:cxn>
              <a:cxn ang="0">
                <a:pos x="2091" y="994"/>
              </a:cxn>
              <a:cxn ang="0">
                <a:pos x="1782" y="991"/>
              </a:cxn>
              <a:cxn ang="0">
                <a:pos x="1496" y="977"/>
              </a:cxn>
              <a:cxn ang="0">
                <a:pos x="1284" y="965"/>
              </a:cxn>
              <a:cxn ang="0">
                <a:pos x="907" y="976"/>
              </a:cxn>
              <a:cxn ang="0">
                <a:pos x="483" y="966"/>
              </a:cxn>
              <a:cxn ang="0">
                <a:pos x="297" y="969"/>
              </a:cxn>
              <a:cxn ang="0">
                <a:pos x="285" y="922"/>
              </a:cxn>
              <a:cxn ang="0">
                <a:pos x="364" y="872"/>
              </a:cxn>
              <a:cxn ang="0">
                <a:pos x="324" y="814"/>
              </a:cxn>
              <a:cxn ang="0">
                <a:pos x="286" y="763"/>
              </a:cxn>
              <a:cxn ang="0">
                <a:pos x="289" y="701"/>
              </a:cxn>
              <a:cxn ang="0">
                <a:pos x="103" y="623"/>
              </a:cxn>
              <a:cxn ang="0">
                <a:pos x="158" y="566"/>
              </a:cxn>
              <a:cxn ang="0">
                <a:pos x="116" y="496"/>
              </a:cxn>
              <a:cxn ang="0">
                <a:pos x="74" y="435"/>
              </a:cxn>
              <a:cxn ang="0">
                <a:pos x="100" y="365"/>
              </a:cxn>
              <a:cxn ang="0">
                <a:pos x="87" y="306"/>
              </a:cxn>
              <a:cxn ang="0">
                <a:pos x="13" y="221"/>
              </a:cxn>
              <a:cxn ang="0">
                <a:pos x="21" y="159"/>
              </a:cxn>
              <a:cxn ang="0">
                <a:pos x="0" y="98"/>
              </a:cxn>
              <a:cxn ang="0">
                <a:pos x="28" y="35"/>
              </a:cxn>
            </a:cxnLst>
            <a:rect l="0" t="0" r="r" b="b"/>
            <a:pathLst>
              <a:path w="4537" h="1018">
                <a:moveTo>
                  <a:pt x="71" y="0"/>
                </a:moveTo>
                <a:lnTo>
                  <a:pt x="147" y="13"/>
                </a:lnTo>
                <a:lnTo>
                  <a:pt x="222" y="20"/>
                </a:lnTo>
                <a:lnTo>
                  <a:pt x="315" y="17"/>
                </a:lnTo>
                <a:lnTo>
                  <a:pt x="380" y="6"/>
                </a:lnTo>
                <a:lnTo>
                  <a:pt x="476" y="6"/>
                </a:lnTo>
                <a:lnTo>
                  <a:pt x="547" y="11"/>
                </a:lnTo>
                <a:lnTo>
                  <a:pt x="597" y="30"/>
                </a:lnTo>
                <a:lnTo>
                  <a:pt x="671" y="35"/>
                </a:lnTo>
                <a:lnTo>
                  <a:pt x="760" y="31"/>
                </a:lnTo>
                <a:lnTo>
                  <a:pt x="830" y="26"/>
                </a:lnTo>
                <a:lnTo>
                  <a:pt x="901" y="27"/>
                </a:lnTo>
                <a:lnTo>
                  <a:pt x="996" y="21"/>
                </a:lnTo>
                <a:lnTo>
                  <a:pt x="1034" y="4"/>
                </a:lnTo>
                <a:lnTo>
                  <a:pt x="1105" y="7"/>
                </a:lnTo>
                <a:lnTo>
                  <a:pt x="1203" y="7"/>
                </a:lnTo>
                <a:lnTo>
                  <a:pt x="1274" y="6"/>
                </a:lnTo>
                <a:lnTo>
                  <a:pt x="1351" y="13"/>
                </a:lnTo>
                <a:lnTo>
                  <a:pt x="1511" y="14"/>
                </a:lnTo>
                <a:lnTo>
                  <a:pt x="1651" y="16"/>
                </a:lnTo>
                <a:lnTo>
                  <a:pt x="1750" y="16"/>
                </a:lnTo>
                <a:lnTo>
                  <a:pt x="1818" y="16"/>
                </a:lnTo>
                <a:lnTo>
                  <a:pt x="1891" y="31"/>
                </a:lnTo>
                <a:lnTo>
                  <a:pt x="1962" y="33"/>
                </a:lnTo>
                <a:lnTo>
                  <a:pt x="2103" y="31"/>
                </a:lnTo>
                <a:lnTo>
                  <a:pt x="2242" y="27"/>
                </a:lnTo>
                <a:lnTo>
                  <a:pt x="2433" y="23"/>
                </a:lnTo>
                <a:lnTo>
                  <a:pt x="2503" y="18"/>
                </a:lnTo>
                <a:lnTo>
                  <a:pt x="2574" y="20"/>
                </a:lnTo>
                <a:lnTo>
                  <a:pt x="2648" y="30"/>
                </a:lnTo>
                <a:lnTo>
                  <a:pt x="2740" y="37"/>
                </a:lnTo>
                <a:lnTo>
                  <a:pt x="2878" y="33"/>
                </a:lnTo>
                <a:lnTo>
                  <a:pt x="3022" y="30"/>
                </a:lnTo>
                <a:lnTo>
                  <a:pt x="3160" y="26"/>
                </a:lnTo>
                <a:lnTo>
                  <a:pt x="3231" y="26"/>
                </a:lnTo>
                <a:lnTo>
                  <a:pt x="3305" y="38"/>
                </a:lnTo>
                <a:lnTo>
                  <a:pt x="3403" y="47"/>
                </a:lnTo>
                <a:lnTo>
                  <a:pt x="3594" y="45"/>
                </a:lnTo>
                <a:lnTo>
                  <a:pt x="3683" y="43"/>
                </a:lnTo>
                <a:lnTo>
                  <a:pt x="3752" y="41"/>
                </a:lnTo>
                <a:lnTo>
                  <a:pt x="3847" y="44"/>
                </a:lnTo>
                <a:lnTo>
                  <a:pt x="3921" y="44"/>
                </a:lnTo>
                <a:lnTo>
                  <a:pt x="3989" y="40"/>
                </a:lnTo>
                <a:lnTo>
                  <a:pt x="4084" y="40"/>
                </a:lnTo>
                <a:lnTo>
                  <a:pt x="4152" y="45"/>
                </a:lnTo>
                <a:lnTo>
                  <a:pt x="4204" y="64"/>
                </a:lnTo>
                <a:lnTo>
                  <a:pt x="4215" y="79"/>
                </a:lnTo>
                <a:lnTo>
                  <a:pt x="4193" y="98"/>
                </a:lnTo>
                <a:lnTo>
                  <a:pt x="4173" y="115"/>
                </a:lnTo>
                <a:lnTo>
                  <a:pt x="4198" y="130"/>
                </a:lnTo>
                <a:lnTo>
                  <a:pt x="4229" y="146"/>
                </a:lnTo>
                <a:lnTo>
                  <a:pt x="4211" y="163"/>
                </a:lnTo>
                <a:lnTo>
                  <a:pt x="4173" y="209"/>
                </a:lnTo>
                <a:lnTo>
                  <a:pt x="4183" y="224"/>
                </a:lnTo>
                <a:lnTo>
                  <a:pt x="4210" y="241"/>
                </a:lnTo>
                <a:lnTo>
                  <a:pt x="4214" y="258"/>
                </a:lnTo>
                <a:lnTo>
                  <a:pt x="4218" y="282"/>
                </a:lnTo>
                <a:lnTo>
                  <a:pt x="4232" y="315"/>
                </a:lnTo>
                <a:lnTo>
                  <a:pt x="4235" y="333"/>
                </a:lnTo>
                <a:lnTo>
                  <a:pt x="4286" y="348"/>
                </a:lnTo>
                <a:lnTo>
                  <a:pt x="4342" y="365"/>
                </a:lnTo>
                <a:lnTo>
                  <a:pt x="4348" y="389"/>
                </a:lnTo>
                <a:lnTo>
                  <a:pt x="4353" y="404"/>
                </a:lnTo>
                <a:lnTo>
                  <a:pt x="4335" y="428"/>
                </a:lnTo>
                <a:lnTo>
                  <a:pt x="4339" y="451"/>
                </a:lnTo>
                <a:lnTo>
                  <a:pt x="4419" y="474"/>
                </a:lnTo>
                <a:lnTo>
                  <a:pt x="4452" y="509"/>
                </a:lnTo>
                <a:lnTo>
                  <a:pt x="4433" y="532"/>
                </a:lnTo>
                <a:lnTo>
                  <a:pt x="4413" y="546"/>
                </a:lnTo>
                <a:lnTo>
                  <a:pt x="4395" y="565"/>
                </a:lnTo>
                <a:lnTo>
                  <a:pt x="4431" y="608"/>
                </a:lnTo>
                <a:lnTo>
                  <a:pt x="4443" y="645"/>
                </a:lnTo>
                <a:lnTo>
                  <a:pt x="4447" y="660"/>
                </a:lnTo>
                <a:lnTo>
                  <a:pt x="4456" y="694"/>
                </a:lnTo>
                <a:lnTo>
                  <a:pt x="4461" y="711"/>
                </a:lnTo>
                <a:lnTo>
                  <a:pt x="4473" y="756"/>
                </a:lnTo>
                <a:lnTo>
                  <a:pt x="4452" y="772"/>
                </a:lnTo>
                <a:lnTo>
                  <a:pt x="4462" y="811"/>
                </a:lnTo>
                <a:lnTo>
                  <a:pt x="4472" y="828"/>
                </a:lnTo>
                <a:lnTo>
                  <a:pt x="4498" y="851"/>
                </a:lnTo>
                <a:lnTo>
                  <a:pt x="4483" y="869"/>
                </a:lnTo>
                <a:lnTo>
                  <a:pt x="4487" y="885"/>
                </a:lnTo>
                <a:lnTo>
                  <a:pt x="4494" y="908"/>
                </a:lnTo>
                <a:lnTo>
                  <a:pt x="4526" y="953"/>
                </a:lnTo>
                <a:lnTo>
                  <a:pt x="4536" y="976"/>
                </a:lnTo>
                <a:lnTo>
                  <a:pt x="4519" y="991"/>
                </a:lnTo>
                <a:lnTo>
                  <a:pt x="4448" y="999"/>
                </a:lnTo>
                <a:lnTo>
                  <a:pt x="4380" y="1013"/>
                </a:lnTo>
                <a:lnTo>
                  <a:pt x="4279" y="1001"/>
                </a:lnTo>
                <a:lnTo>
                  <a:pt x="4203" y="989"/>
                </a:lnTo>
                <a:lnTo>
                  <a:pt x="4062" y="979"/>
                </a:lnTo>
                <a:lnTo>
                  <a:pt x="3990" y="972"/>
                </a:lnTo>
                <a:lnTo>
                  <a:pt x="3829" y="970"/>
                </a:lnTo>
                <a:lnTo>
                  <a:pt x="3762" y="974"/>
                </a:lnTo>
                <a:lnTo>
                  <a:pt x="3690" y="984"/>
                </a:lnTo>
                <a:lnTo>
                  <a:pt x="3619" y="991"/>
                </a:lnTo>
                <a:lnTo>
                  <a:pt x="3577" y="1006"/>
                </a:lnTo>
                <a:lnTo>
                  <a:pt x="3508" y="1013"/>
                </a:lnTo>
                <a:lnTo>
                  <a:pt x="3434" y="1006"/>
                </a:lnTo>
                <a:lnTo>
                  <a:pt x="3365" y="999"/>
                </a:lnTo>
                <a:lnTo>
                  <a:pt x="3266" y="1004"/>
                </a:lnTo>
                <a:lnTo>
                  <a:pt x="3180" y="1017"/>
                </a:lnTo>
                <a:lnTo>
                  <a:pt x="3109" y="1014"/>
                </a:lnTo>
                <a:lnTo>
                  <a:pt x="3010" y="1008"/>
                </a:lnTo>
                <a:lnTo>
                  <a:pt x="2821" y="994"/>
                </a:lnTo>
                <a:lnTo>
                  <a:pt x="2630" y="991"/>
                </a:lnTo>
                <a:lnTo>
                  <a:pt x="2562" y="991"/>
                </a:lnTo>
                <a:lnTo>
                  <a:pt x="2467" y="999"/>
                </a:lnTo>
                <a:lnTo>
                  <a:pt x="2299" y="996"/>
                </a:lnTo>
                <a:lnTo>
                  <a:pt x="2160" y="994"/>
                </a:lnTo>
                <a:lnTo>
                  <a:pt x="2091" y="994"/>
                </a:lnTo>
                <a:lnTo>
                  <a:pt x="1949" y="991"/>
                </a:lnTo>
                <a:lnTo>
                  <a:pt x="1853" y="993"/>
                </a:lnTo>
                <a:lnTo>
                  <a:pt x="1782" y="991"/>
                </a:lnTo>
                <a:lnTo>
                  <a:pt x="1642" y="990"/>
                </a:lnTo>
                <a:lnTo>
                  <a:pt x="1570" y="979"/>
                </a:lnTo>
                <a:lnTo>
                  <a:pt x="1496" y="977"/>
                </a:lnTo>
                <a:lnTo>
                  <a:pt x="1432" y="987"/>
                </a:lnTo>
                <a:lnTo>
                  <a:pt x="1334" y="984"/>
                </a:lnTo>
                <a:lnTo>
                  <a:pt x="1284" y="965"/>
                </a:lnTo>
                <a:lnTo>
                  <a:pt x="1214" y="974"/>
                </a:lnTo>
                <a:lnTo>
                  <a:pt x="1051" y="976"/>
                </a:lnTo>
                <a:lnTo>
                  <a:pt x="907" y="976"/>
                </a:lnTo>
                <a:lnTo>
                  <a:pt x="770" y="982"/>
                </a:lnTo>
                <a:lnTo>
                  <a:pt x="679" y="973"/>
                </a:lnTo>
                <a:lnTo>
                  <a:pt x="483" y="966"/>
                </a:lnTo>
                <a:lnTo>
                  <a:pt x="414" y="970"/>
                </a:lnTo>
                <a:lnTo>
                  <a:pt x="350" y="987"/>
                </a:lnTo>
                <a:lnTo>
                  <a:pt x="297" y="969"/>
                </a:lnTo>
                <a:lnTo>
                  <a:pt x="268" y="953"/>
                </a:lnTo>
                <a:lnTo>
                  <a:pt x="262" y="938"/>
                </a:lnTo>
                <a:lnTo>
                  <a:pt x="285" y="922"/>
                </a:lnTo>
                <a:lnTo>
                  <a:pt x="349" y="904"/>
                </a:lnTo>
                <a:lnTo>
                  <a:pt x="368" y="888"/>
                </a:lnTo>
                <a:lnTo>
                  <a:pt x="364" y="872"/>
                </a:lnTo>
                <a:lnTo>
                  <a:pt x="335" y="854"/>
                </a:lnTo>
                <a:lnTo>
                  <a:pt x="332" y="831"/>
                </a:lnTo>
                <a:lnTo>
                  <a:pt x="324" y="814"/>
                </a:lnTo>
                <a:lnTo>
                  <a:pt x="320" y="799"/>
                </a:lnTo>
                <a:lnTo>
                  <a:pt x="314" y="780"/>
                </a:lnTo>
                <a:lnTo>
                  <a:pt x="286" y="763"/>
                </a:lnTo>
                <a:lnTo>
                  <a:pt x="280" y="739"/>
                </a:lnTo>
                <a:lnTo>
                  <a:pt x="299" y="725"/>
                </a:lnTo>
                <a:lnTo>
                  <a:pt x="289" y="701"/>
                </a:lnTo>
                <a:lnTo>
                  <a:pt x="135" y="657"/>
                </a:lnTo>
                <a:lnTo>
                  <a:pt x="112" y="641"/>
                </a:lnTo>
                <a:lnTo>
                  <a:pt x="103" y="623"/>
                </a:lnTo>
                <a:lnTo>
                  <a:pt x="123" y="606"/>
                </a:lnTo>
                <a:lnTo>
                  <a:pt x="165" y="587"/>
                </a:lnTo>
                <a:lnTo>
                  <a:pt x="158" y="566"/>
                </a:lnTo>
                <a:lnTo>
                  <a:pt x="149" y="543"/>
                </a:lnTo>
                <a:lnTo>
                  <a:pt x="144" y="522"/>
                </a:lnTo>
                <a:lnTo>
                  <a:pt x="116" y="496"/>
                </a:lnTo>
                <a:lnTo>
                  <a:pt x="109" y="477"/>
                </a:lnTo>
                <a:lnTo>
                  <a:pt x="78" y="452"/>
                </a:lnTo>
                <a:lnTo>
                  <a:pt x="74" y="435"/>
                </a:lnTo>
                <a:lnTo>
                  <a:pt x="85" y="396"/>
                </a:lnTo>
                <a:lnTo>
                  <a:pt x="106" y="380"/>
                </a:lnTo>
                <a:lnTo>
                  <a:pt x="100" y="365"/>
                </a:lnTo>
                <a:lnTo>
                  <a:pt x="98" y="345"/>
                </a:lnTo>
                <a:lnTo>
                  <a:pt x="93" y="328"/>
                </a:lnTo>
                <a:lnTo>
                  <a:pt x="87" y="306"/>
                </a:lnTo>
                <a:lnTo>
                  <a:pt x="47" y="261"/>
                </a:lnTo>
                <a:lnTo>
                  <a:pt x="20" y="238"/>
                </a:lnTo>
                <a:lnTo>
                  <a:pt x="13" y="221"/>
                </a:lnTo>
                <a:lnTo>
                  <a:pt x="8" y="199"/>
                </a:lnTo>
                <a:lnTo>
                  <a:pt x="32" y="182"/>
                </a:lnTo>
                <a:lnTo>
                  <a:pt x="21" y="159"/>
                </a:lnTo>
                <a:lnTo>
                  <a:pt x="10" y="136"/>
                </a:lnTo>
                <a:lnTo>
                  <a:pt x="10" y="122"/>
                </a:lnTo>
                <a:lnTo>
                  <a:pt x="0" y="98"/>
                </a:lnTo>
                <a:lnTo>
                  <a:pt x="22" y="77"/>
                </a:lnTo>
                <a:lnTo>
                  <a:pt x="15" y="58"/>
                </a:lnTo>
                <a:lnTo>
                  <a:pt x="28" y="35"/>
                </a:lnTo>
                <a:lnTo>
                  <a:pt x="7" y="17"/>
                </a:lnTo>
                <a:lnTo>
                  <a:pt x="71" y="0"/>
                </a:lnTo>
              </a:path>
            </a:pathLst>
          </a:custGeom>
          <a:gradFill flip="none" rotWithShape="1">
            <a:gsLst>
              <a:gs pos="75000">
                <a:srgbClr val="FFDB69">
                  <a:tint val="66000"/>
                  <a:satMod val="160000"/>
                  <a:alpha val="58000"/>
                </a:srgbClr>
              </a:gs>
              <a:gs pos="61000">
                <a:srgbClr val="FFDB69">
                  <a:tint val="44500"/>
                  <a:satMod val="160000"/>
                  <a:alpha val="73000"/>
                </a:srgbClr>
              </a:gs>
              <a:gs pos="100000">
                <a:srgbClr val="FFDB69">
                  <a:tint val="23500"/>
                  <a:satMod val="160000"/>
                  <a:alpha val="80000"/>
                </a:srgbClr>
              </a:gs>
            </a:gsLst>
            <a:lin ang="0" scaled="1"/>
            <a:tileRect/>
          </a:gradFill>
          <a:ln w="9525" cap="rnd" cmpd="sng">
            <a:noFill/>
            <a:prstDash val="solid"/>
            <a:round/>
            <a:headEnd type="none" w="med" len="med"/>
            <a:tailEnd type="none" w="med" len="med"/>
          </a:ln>
          <a:effectLst>
            <a:outerShdw blurRad="50800" dist="38100" dir="2700000" algn="tl" rotWithShape="0">
              <a:prstClr val="black">
                <a:alpha val="40000"/>
              </a:prstClr>
            </a:outerShdw>
          </a:effectLst>
        </p:spPr>
        <p:txBody>
          <a:bodyPr lIns="360000" tIns="72000" rIns="324000" bIns="72000" anchor="ctr"/>
          <a:lstStyle/>
          <a:p>
            <a:pPr marL="171450" lvl="0" indent="-171450">
              <a:lnSpc>
                <a:spcPct val="114000"/>
              </a:lnSpc>
              <a:spcAft>
                <a:spcPts val="600"/>
              </a:spcAft>
              <a:buFont typeface="Arial" panose="020B0604020202020204" pitchFamily="34" charset="0"/>
              <a:buChar char="•"/>
              <a:defRPr/>
            </a:pPr>
            <a:r>
              <a:rPr lang="en-US" sz="900" dirty="0">
                <a:solidFill>
                  <a:prstClr val="black"/>
                </a:solidFill>
                <a:latin typeface="+mj-lt"/>
              </a:rPr>
              <a:t>The decision to increase tariffs was based on the assumption that around 850 MMcf/d of regasified LNG would be supplied to the national gas grid in 2019-20.</a:t>
            </a:r>
          </a:p>
          <a:p>
            <a:pPr marL="171450" lvl="0" indent="-171450">
              <a:lnSpc>
                <a:spcPct val="114000"/>
              </a:lnSpc>
              <a:spcAft>
                <a:spcPts val="600"/>
              </a:spcAft>
              <a:buFont typeface="Arial" panose="020B0604020202020204" pitchFamily="34" charset="0"/>
              <a:buChar char="•"/>
              <a:defRPr/>
            </a:pPr>
            <a:r>
              <a:rPr lang="en-US" sz="900" dirty="0">
                <a:solidFill>
                  <a:prstClr val="black"/>
                </a:solidFill>
                <a:latin typeface="+mj-lt"/>
              </a:rPr>
              <a:t>At present, two floating storage and regasification units with a combined capacity of 1 Bcf/d of regasified gas -- are supplying around 600,000 Mcf/d of gas to the grid, as the connecting pipelines have yet to be completed.</a:t>
            </a:r>
          </a:p>
          <a:p>
            <a:pPr lvl="0" algn="r">
              <a:lnSpc>
                <a:spcPct val="114000"/>
              </a:lnSpc>
              <a:spcAft>
                <a:spcPts val="600"/>
              </a:spcAft>
              <a:defRPr/>
            </a:pPr>
            <a:r>
              <a:rPr lang="en-US" sz="900" b="1" dirty="0">
                <a:solidFill>
                  <a:prstClr val="black"/>
                </a:solidFill>
                <a:latin typeface="+mj-lt"/>
              </a:rPr>
              <a:t>-  BERC Chairman, Monowar Islam, July 2019</a:t>
            </a:r>
          </a:p>
        </p:txBody>
      </p:sp>
    </p:spTree>
    <p:extLst>
      <p:ext uri="{BB962C8B-B14F-4D97-AF65-F5344CB8AC3E}">
        <p14:creationId xmlns:p14="http://schemas.microsoft.com/office/powerpoint/2010/main" val="4201184067"/>
      </p:ext>
    </p:extLst>
  </p:cSld>
  <p:clrMapOvr>
    <a:masterClrMapping/>
  </p:clrMapOvr>
  <p:transition>
    <p:fade/>
  </p:transition>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Object 12" hidden="1"/>
          <p:cNvGraphicFramePr>
            <a:graphicFrameLocks noChangeAspect="1"/>
          </p:cNvGraphicFramePr>
          <p:nvPr>
            <p:custDataLst>
              <p:tags r:id="rId1"/>
            </p:custDataLst>
            <p:extLst>
              <p:ext uri="{D42A27DB-BD31-4B8C-83A1-F6EECF244321}">
                <p14:modId xmlns:p14="http://schemas.microsoft.com/office/powerpoint/2010/main" val="266241471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13" name="Object 12"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12" name="Rectangle 1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Gas Transmission | LNG Infrastructure (April 2020 onwards)</a:t>
            </a:r>
            <a:endParaRPr lang="en-IN" dirty="0"/>
          </a:p>
        </p:txBody>
      </p:sp>
      <p:graphicFrame>
        <p:nvGraphicFramePr>
          <p:cNvPr id="3" name="Table 2"/>
          <p:cNvGraphicFramePr>
            <a:graphicFrameLocks noGrp="1"/>
          </p:cNvGraphicFramePr>
          <p:nvPr>
            <p:custDataLst>
              <p:tags r:id="rId3"/>
            </p:custDataLst>
            <p:extLst>
              <p:ext uri="{D42A27DB-BD31-4B8C-83A1-F6EECF244321}">
                <p14:modId xmlns:p14="http://schemas.microsoft.com/office/powerpoint/2010/main" val="822128366"/>
              </p:ext>
            </p:extLst>
          </p:nvPr>
        </p:nvGraphicFramePr>
        <p:xfrm>
          <a:off x="449993" y="1961918"/>
          <a:ext cx="4734896" cy="44209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723655">
                <a:tc>
                  <a:txBody>
                    <a:bodyPr/>
                    <a:lstStyle/>
                    <a:p>
                      <a:pPr marL="0" lvl="0" indent="0" algn="just">
                        <a:spcBef>
                          <a:spcPts val="0"/>
                        </a:spcBef>
                        <a:spcAft>
                          <a:spcPts val="600"/>
                        </a:spcAft>
                        <a:buFont typeface="Arial" panose="020B0604020202020204" pitchFamily="34" charset="0"/>
                        <a:buNone/>
                      </a:pPr>
                      <a:r>
                        <a:rPr lang="en-US" sz="1000" b="1" baseline="0" dirty="0">
                          <a:solidFill>
                            <a:schemeClr val="tx1"/>
                          </a:solidFill>
                        </a:rPr>
                        <a:t>LNG import infrastructure</a:t>
                      </a:r>
                    </a:p>
                    <a:p>
                      <a:pPr marL="0" lvl="0" indent="0" algn="just">
                        <a:spcBef>
                          <a:spcPts val="0"/>
                        </a:spcBef>
                        <a:spcAft>
                          <a:spcPts val="600"/>
                        </a:spcAft>
                        <a:buFont typeface="Arial" panose="020B0604020202020204" pitchFamily="34" charset="0"/>
                        <a:buNone/>
                      </a:pPr>
                      <a:r>
                        <a:rPr lang="en-US" sz="1000" b="0" baseline="0" dirty="0">
                          <a:solidFill>
                            <a:schemeClr val="tx1"/>
                          </a:solidFill>
                        </a:rPr>
                        <a:t>The GoB planned 3 major pipelines for increasing the LNG supply across Bangladesh as follows:</a:t>
                      </a:r>
                    </a:p>
                    <a:p>
                      <a:pPr marL="0" lvl="0" indent="0" algn="just">
                        <a:spcBef>
                          <a:spcPts val="0"/>
                        </a:spcBef>
                        <a:spcAft>
                          <a:spcPts val="600"/>
                        </a:spcAft>
                        <a:buFont typeface="Arial" panose="020B0604020202020204" pitchFamily="34" charset="0"/>
                        <a:buNone/>
                      </a:pPr>
                      <a:endParaRPr lang="en-US" sz="1000" b="0" kern="1200" baseline="0" dirty="0">
                        <a:solidFill>
                          <a:schemeClr val="tx1"/>
                        </a:solidFill>
                        <a:latin typeface="+mn-lt"/>
                        <a:ea typeface="+mn-ea"/>
                        <a:cs typeface="+mn-cs"/>
                      </a:endParaRPr>
                    </a:p>
                    <a:p>
                      <a:pPr marL="0" lvl="0" indent="0" algn="just">
                        <a:spcBef>
                          <a:spcPts val="0"/>
                        </a:spcBef>
                        <a:spcAft>
                          <a:spcPts val="600"/>
                        </a:spcAft>
                        <a:buFont typeface="Arial" panose="020B0604020202020204" pitchFamily="34" charset="0"/>
                        <a:buNone/>
                      </a:pPr>
                      <a:endParaRPr lang="en-US" sz="1000" b="0" kern="1200" baseline="0" dirty="0">
                        <a:solidFill>
                          <a:schemeClr val="tx1"/>
                        </a:solidFill>
                        <a:latin typeface="+mn-lt"/>
                        <a:ea typeface="+mn-ea"/>
                        <a:cs typeface="+mn-cs"/>
                      </a:endParaRPr>
                    </a:p>
                    <a:p>
                      <a:pPr marL="0" lvl="0" indent="0" algn="just">
                        <a:spcBef>
                          <a:spcPts val="0"/>
                        </a:spcBef>
                        <a:spcAft>
                          <a:spcPts val="600"/>
                        </a:spcAft>
                        <a:buFont typeface="Arial" panose="020B0604020202020204" pitchFamily="34" charset="0"/>
                        <a:buNone/>
                      </a:pPr>
                      <a:endParaRPr lang="en-US" sz="1000" b="0" kern="1200" baseline="0" dirty="0">
                        <a:solidFill>
                          <a:schemeClr val="tx1"/>
                        </a:solidFill>
                        <a:latin typeface="+mn-lt"/>
                        <a:ea typeface="+mn-ea"/>
                        <a:cs typeface="+mn-cs"/>
                      </a:endParaRPr>
                    </a:p>
                    <a:p>
                      <a:pPr marL="0" lvl="0" indent="0" algn="just">
                        <a:spcBef>
                          <a:spcPts val="0"/>
                        </a:spcBef>
                        <a:spcAft>
                          <a:spcPts val="600"/>
                        </a:spcAft>
                        <a:buFont typeface="Arial" panose="020B0604020202020204" pitchFamily="34" charset="0"/>
                        <a:buNone/>
                      </a:pPr>
                      <a:endParaRPr lang="en-US" sz="1000" b="0" kern="1200" baseline="0" dirty="0">
                        <a:solidFill>
                          <a:schemeClr val="tx1"/>
                        </a:solidFill>
                        <a:latin typeface="+mn-lt"/>
                        <a:ea typeface="+mn-ea"/>
                        <a:cs typeface="+mn-cs"/>
                      </a:endParaRPr>
                    </a:p>
                    <a:p>
                      <a:pPr marL="0" lvl="0" indent="0" algn="just">
                        <a:spcBef>
                          <a:spcPts val="0"/>
                        </a:spcBef>
                        <a:spcAft>
                          <a:spcPts val="600"/>
                        </a:spcAft>
                        <a:buFont typeface="Arial" panose="020B0604020202020204" pitchFamily="34" charset="0"/>
                        <a:buNone/>
                      </a:pPr>
                      <a:endParaRPr lang="en-US" sz="1000" b="0" kern="1200" baseline="0" dirty="0">
                        <a:solidFill>
                          <a:schemeClr val="tx1"/>
                        </a:solidFill>
                        <a:latin typeface="+mn-lt"/>
                        <a:ea typeface="+mn-ea"/>
                        <a:cs typeface="+mn-cs"/>
                      </a:endParaRPr>
                    </a:p>
                    <a:p>
                      <a:pPr marL="0" lvl="0" indent="0" algn="just">
                        <a:spcBef>
                          <a:spcPts val="0"/>
                        </a:spcBef>
                        <a:spcAft>
                          <a:spcPts val="600"/>
                        </a:spcAft>
                        <a:buFont typeface="Arial" panose="020B0604020202020204" pitchFamily="34" charset="0"/>
                        <a:buNone/>
                      </a:pPr>
                      <a:endParaRPr lang="en-US" sz="1000" b="0" kern="1200" baseline="0" dirty="0">
                        <a:solidFill>
                          <a:schemeClr val="tx1"/>
                        </a:solidFill>
                        <a:latin typeface="+mn-lt"/>
                        <a:ea typeface="+mn-ea"/>
                        <a:cs typeface="+mn-cs"/>
                      </a:endParaRPr>
                    </a:p>
                    <a:p>
                      <a:pPr marL="0" lvl="0" indent="0" algn="just">
                        <a:spcBef>
                          <a:spcPts val="0"/>
                        </a:spcBef>
                        <a:spcAft>
                          <a:spcPts val="600"/>
                        </a:spcAft>
                        <a:buFont typeface="Arial" panose="020B0604020202020204" pitchFamily="34" charset="0"/>
                        <a:buNone/>
                      </a:pPr>
                      <a:endParaRPr lang="en-US" sz="1000" b="0" kern="1200" baseline="0" dirty="0">
                        <a:solidFill>
                          <a:schemeClr val="tx1"/>
                        </a:solidFill>
                        <a:latin typeface="+mn-lt"/>
                        <a:ea typeface="+mn-ea"/>
                        <a:cs typeface="+mn-cs"/>
                      </a:endParaRPr>
                    </a:p>
                    <a:p>
                      <a:pPr marL="0" lvl="0" indent="0" algn="just">
                        <a:spcBef>
                          <a:spcPts val="0"/>
                        </a:spcBef>
                        <a:spcAft>
                          <a:spcPts val="600"/>
                        </a:spcAft>
                        <a:buFont typeface="Arial" panose="020B0604020202020204" pitchFamily="34" charset="0"/>
                        <a:buNone/>
                      </a:pPr>
                      <a:endParaRPr lang="en-US" sz="1000" b="0" kern="1200" baseline="0" dirty="0">
                        <a:solidFill>
                          <a:schemeClr val="tx1"/>
                        </a:solidFill>
                        <a:latin typeface="+mn-lt"/>
                        <a:ea typeface="+mn-ea"/>
                        <a:cs typeface="+mn-cs"/>
                      </a:endParaRPr>
                    </a:p>
                    <a:p>
                      <a:pPr marL="0" lvl="0" indent="0" algn="just">
                        <a:spcBef>
                          <a:spcPts val="0"/>
                        </a:spcBef>
                        <a:spcAft>
                          <a:spcPts val="600"/>
                        </a:spcAft>
                        <a:buFont typeface="Arial" panose="020B0604020202020204" pitchFamily="34" charset="0"/>
                        <a:buNone/>
                      </a:pPr>
                      <a:endParaRPr lang="en-US" sz="1000" b="0" kern="1200" baseline="0" dirty="0">
                        <a:solidFill>
                          <a:schemeClr val="tx1"/>
                        </a:solidFill>
                        <a:latin typeface="+mn-lt"/>
                        <a:ea typeface="+mn-ea"/>
                        <a:cs typeface="+mn-cs"/>
                      </a:endParaRPr>
                    </a:p>
                    <a:p>
                      <a:pPr marL="0" lvl="0" indent="0" algn="just">
                        <a:spcBef>
                          <a:spcPts val="0"/>
                        </a:spcBef>
                        <a:spcAft>
                          <a:spcPts val="600"/>
                        </a:spcAft>
                        <a:buFont typeface="Arial" panose="020B0604020202020204" pitchFamily="34" charset="0"/>
                        <a:buNone/>
                      </a:pPr>
                      <a:endParaRPr lang="en-US" sz="1000" b="0" kern="1200" baseline="0" dirty="0">
                        <a:solidFill>
                          <a:schemeClr val="tx1"/>
                        </a:solidFill>
                        <a:latin typeface="+mn-lt"/>
                        <a:ea typeface="+mn-ea"/>
                        <a:cs typeface="+mn-cs"/>
                      </a:endParaRPr>
                    </a:p>
                    <a:p>
                      <a:pPr marL="0" lvl="0" indent="0" algn="just">
                        <a:spcBef>
                          <a:spcPts val="0"/>
                        </a:spcBef>
                        <a:spcAft>
                          <a:spcPts val="600"/>
                        </a:spcAft>
                        <a:buFont typeface="Arial" panose="020B0604020202020204" pitchFamily="34" charset="0"/>
                        <a:buNone/>
                      </a:pPr>
                      <a:endParaRPr lang="en-US" sz="1000" b="0" kern="1200" baseline="0" dirty="0">
                        <a:solidFill>
                          <a:schemeClr val="tx1"/>
                        </a:solidFill>
                        <a:latin typeface="+mn-lt"/>
                        <a:ea typeface="+mn-ea"/>
                        <a:cs typeface="+mn-cs"/>
                      </a:endParaRPr>
                    </a:p>
                    <a:p>
                      <a:pPr marL="0" lvl="0" indent="0" algn="just">
                        <a:spcBef>
                          <a:spcPts val="0"/>
                        </a:spcBef>
                        <a:spcAft>
                          <a:spcPts val="600"/>
                        </a:spcAft>
                        <a:buFont typeface="Arial" panose="020B0604020202020204" pitchFamily="34" charset="0"/>
                        <a:buNone/>
                      </a:pPr>
                      <a:r>
                        <a:rPr lang="en-US" sz="1000" b="0" kern="1200" baseline="0" dirty="0">
                          <a:solidFill>
                            <a:schemeClr val="tx1"/>
                          </a:solidFill>
                          <a:latin typeface="+mn-lt"/>
                          <a:ea typeface="+mn-ea"/>
                          <a:cs typeface="+mn-cs"/>
                        </a:rPr>
                        <a:t>The above pipelines will allow the utilization level of the current FSRU’s to increase to 1 BCF/Day from current 0.6 BCF/day</a:t>
                      </a:r>
                    </a:p>
                    <a:p>
                      <a:pPr marL="0" lvl="0" indent="0" algn="just">
                        <a:spcBef>
                          <a:spcPts val="0"/>
                        </a:spcBef>
                        <a:spcAft>
                          <a:spcPts val="600"/>
                        </a:spcAft>
                        <a:buFont typeface="Arial" panose="020B0604020202020204" pitchFamily="34" charset="0"/>
                        <a:buNone/>
                      </a:pPr>
                      <a:r>
                        <a:rPr lang="en-US" sz="1000" b="0" kern="1200" baseline="0" dirty="0">
                          <a:solidFill>
                            <a:schemeClr val="tx1"/>
                          </a:solidFill>
                          <a:latin typeface="+mn-lt"/>
                          <a:ea typeface="+mn-ea"/>
                          <a:cs typeface="+mn-cs"/>
                        </a:rPr>
                        <a:t>Further the GoB is undertaking the Bogura-Rangpur-Saidpur Gas Transmission Pipeline project to connect the northern region of Bangladesh which is also expected to be commissioned by FY21</a:t>
                      </a:r>
                    </a:p>
                    <a:p>
                      <a:pPr marL="0" lvl="0" indent="0" algn="just">
                        <a:spcBef>
                          <a:spcPts val="600"/>
                        </a:spcBef>
                        <a:spcAft>
                          <a:spcPts val="600"/>
                        </a:spcAft>
                        <a:buFont typeface="Arial" panose="020B0604020202020204" pitchFamily="34" charset="0"/>
                        <a:buNone/>
                      </a:pPr>
                      <a:endParaRPr lang="en-US" sz="1000" b="0" kern="1200" baseline="0" dirty="0">
                        <a:solidFill>
                          <a:schemeClr val="tx1"/>
                        </a:solidFill>
                        <a:latin typeface="+mn-lt"/>
                        <a:ea typeface="+mn-ea"/>
                        <a:cs typeface="+mn-cs"/>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4"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0">
              <a:defRPr/>
            </a:pPr>
            <a:r>
              <a:rPr lang="en-US" sz="1400" dirty="0">
                <a:solidFill>
                  <a:prstClr val="black">
                    <a:lumMod val="50000"/>
                    <a:lumOff val="50000"/>
                  </a:prstClr>
                </a:solidFill>
                <a:latin typeface="Verdana" panose="020B0604030504040204" pitchFamily="34" charset="0"/>
              </a:rPr>
              <a:t>Bangladesh is developing the LNG supply infrastructure which will make possible for the two commissioned FSRU’s full evacuation of LNG in the national grid</a:t>
            </a:r>
          </a:p>
        </p:txBody>
      </p:sp>
      <p:pic>
        <p:nvPicPr>
          <p:cNvPr id="5" name="Picture 4"/>
          <p:cNvPicPr>
            <a:picLocks noChangeAspect="1"/>
          </p:cNvPicPr>
          <p:nvPr/>
        </p:nvPicPr>
        <p:blipFill>
          <a:blip r:embed="rId7"/>
          <a:stretch>
            <a:fillRect/>
          </a:stretch>
        </p:blipFill>
        <p:spPr>
          <a:xfrm>
            <a:off x="5804452" y="1961919"/>
            <a:ext cx="4345426" cy="5144559"/>
          </a:xfrm>
          <a:prstGeom prst="rect">
            <a:avLst/>
          </a:prstGeom>
        </p:spPr>
      </p:pic>
      <p:sp>
        <p:nvSpPr>
          <p:cNvPr id="6" name="Oval 5"/>
          <p:cNvSpPr/>
          <p:nvPr/>
        </p:nvSpPr>
        <p:spPr bwMode="gray">
          <a:xfrm rot="20281265">
            <a:off x="8965095" y="5367131"/>
            <a:ext cx="864705" cy="1411356"/>
          </a:xfrm>
          <a:prstGeom prst="ellipse">
            <a:avLst/>
          </a:prstGeom>
          <a:solidFill>
            <a:schemeClr val="accent4">
              <a:alpha val="10000"/>
            </a:schemeClr>
          </a:solidFill>
          <a:ln w="19050" algn="ctr">
            <a:solidFill>
              <a:schemeClr val="accent4"/>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7" name="TextBox 6"/>
          <p:cNvSpPr txBox="1"/>
          <p:nvPr/>
        </p:nvSpPr>
        <p:spPr>
          <a:xfrm>
            <a:off x="7493989" y="6344185"/>
            <a:ext cx="1516212" cy="352853"/>
          </a:xfrm>
          <a:prstGeom prst="roundRect">
            <a:avLst/>
          </a:prstGeom>
          <a:solidFill>
            <a:schemeClr val="accent4"/>
          </a:solidFill>
        </p:spPr>
        <p:txBody>
          <a:bodyPr wrap="square" lIns="0" tIns="36000" rIns="0" bIns="36000" rtlCol="0">
            <a:spAutoFit/>
          </a:bodyPr>
          <a:lstStyle/>
          <a:p>
            <a:pPr marL="171450" marR="0" lvl="0" indent="-171450" algn="l" defTabSz="787481" rtl="0" eaLnBrk="1" fontAlgn="auto" latinLnBrk="0" hangingPunct="1">
              <a:lnSpc>
                <a:spcPct val="100000"/>
              </a:lnSpc>
              <a:spcBef>
                <a:spcPts val="600"/>
              </a:spcBef>
              <a:spcAft>
                <a:spcPts val="0"/>
              </a:spcAft>
              <a:buClrTx/>
              <a:buSzPct val="100000"/>
              <a:buFont typeface="Arial" panose="020B0604020202020204" pitchFamily="34" charset="0"/>
              <a:buChar char="•"/>
              <a:tabLst/>
              <a:defRPr/>
            </a:pPr>
            <a:r>
              <a:rPr kumimoji="0" lang="en-US" sz="800" b="1" i="0" u="none" strike="noStrike" kern="1200" cap="none" spc="0" normalizeH="0" baseline="0" noProof="0" dirty="0">
                <a:ln>
                  <a:noFill/>
                </a:ln>
                <a:solidFill>
                  <a:schemeClr val="bg1"/>
                </a:solidFill>
                <a:effectLst/>
                <a:uLnTx/>
                <a:uFillTx/>
                <a:latin typeface="Verdana"/>
                <a:ea typeface="+mn-ea"/>
                <a:cs typeface="+mn-cs"/>
              </a:rPr>
              <a:t>Maheshkali- Anwara  (Parallel Line)</a:t>
            </a:r>
            <a:endParaRPr kumimoji="0" lang="en-IN" sz="800" b="1" i="0" u="none" strike="noStrike" kern="1200" cap="none" spc="0" normalizeH="0" baseline="0" noProof="0" dirty="0">
              <a:ln>
                <a:noFill/>
              </a:ln>
              <a:solidFill>
                <a:schemeClr val="bg1"/>
              </a:solidFill>
              <a:effectLst/>
              <a:uLnTx/>
              <a:uFillTx/>
              <a:latin typeface="Verdana"/>
              <a:ea typeface="+mn-ea"/>
              <a:cs typeface="+mn-cs"/>
            </a:endParaRPr>
          </a:p>
        </p:txBody>
      </p:sp>
      <p:sp>
        <p:nvSpPr>
          <p:cNvPr id="8" name="Oval 7"/>
          <p:cNvSpPr/>
          <p:nvPr/>
        </p:nvSpPr>
        <p:spPr bwMode="gray">
          <a:xfrm rot="19956352">
            <a:off x="8241855" y="4176473"/>
            <a:ext cx="698777" cy="1548125"/>
          </a:xfrm>
          <a:prstGeom prst="ellipse">
            <a:avLst/>
          </a:prstGeom>
          <a:solidFill>
            <a:schemeClr val="accent5">
              <a:alpha val="28000"/>
            </a:schemeClr>
          </a:solidFill>
          <a:ln w="19050" algn="ctr">
            <a:solidFill>
              <a:schemeClr val="accent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9" name="TextBox 8"/>
          <p:cNvSpPr txBox="1"/>
          <p:nvPr/>
        </p:nvSpPr>
        <p:spPr>
          <a:xfrm>
            <a:off x="8732406" y="4078483"/>
            <a:ext cx="1384289" cy="433290"/>
          </a:xfrm>
          <a:prstGeom prst="roundRect">
            <a:avLst/>
          </a:prstGeom>
          <a:solidFill>
            <a:schemeClr val="accent5"/>
          </a:solidFill>
          <a:ln>
            <a:solidFill>
              <a:schemeClr val="accent5"/>
            </a:solidFill>
          </a:ln>
        </p:spPr>
        <p:txBody>
          <a:bodyPr wrap="square" lIns="0" tIns="72000" rIns="0" bIns="72000" rtlCol="0">
            <a:spAutoFit/>
          </a:bodyPr>
          <a:lstStyle/>
          <a:p>
            <a:pPr marL="171450" marR="0" lvl="0" indent="-171450" algn="l" defTabSz="787481" rtl="0" eaLnBrk="1" fontAlgn="auto" latinLnBrk="0" hangingPunct="1">
              <a:lnSpc>
                <a:spcPct val="100000"/>
              </a:lnSpc>
              <a:spcBef>
                <a:spcPts val="600"/>
              </a:spcBef>
              <a:spcAft>
                <a:spcPts val="0"/>
              </a:spcAft>
              <a:buClrTx/>
              <a:buSzPct val="100000"/>
              <a:buFont typeface="Arial" panose="020B0604020202020204" pitchFamily="34" charset="0"/>
              <a:buChar char="•"/>
              <a:tabLst/>
              <a:defRPr/>
            </a:pPr>
            <a:r>
              <a:rPr kumimoji="0" lang="en-US" sz="800" b="1" i="0" u="none" strike="noStrike" kern="1200" cap="none" spc="0" normalizeH="0" baseline="0" noProof="0" dirty="0">
                <a:ln>
                  <a:noFill/>
                </a:ln>
                <a:solidFill>
                  <a:schemeClr val="bg1"/>
                </a:solidFill>
                <a:effectLst/>
                <a:uLnTx/>
                <a:uFillTx/>
                <a:latin typeface="Verdana"/>
                <a:ea typeface="+mn-ea"/>
                <a:cs typeface="+mn-cs"/>
              </a:rPr>
              <a:t>Chittagong-Feni-Bakhrabad  Pipeline</a:t>
            </a:r>
            <a:endParaRPr kumimoji="0" lang="en-IN" sz="800" b="1" i="0" u="none" strike="noStrike" kern="1200" cap="none" spc="0" normalizeH="0" baseline="0" noProof="0" dirty="0">
              <a:ln>
                <a:noFill/>
              </a:ln>
              <a:solidFill>
                <a:schemeClr val="bg1"/>
              </a:solidFill>
              <a:effectLst/>
              <a:uLnTx/>
              <a:uFillTx/>
              <a:latin typeface="Verdana"/>
              <a:ea typeface="+mn-ea"/>
              <a:cs typeface="+mn-cs"/>
            </a:endParaRPr>
          </a:p>
        </p:txBody>
      </p:sp>
      <p:sp>
        <p:nvSpPr>
          <p:cNvPr id="10" name="Oval 9"/>
          <p:cNvSpPr/>
          <p:nvPr/>
        </p:nvSpPr>
        <p:spPr bwMode="gray">
          <a:xfrm>
            <a:off x="6843713" y="3817157"/>
            <a:ext cx="1521618" cy="557026"/>
          </a:xfrm>
          <a:prstGeom prst="ellipse">
            <a:avLst/>
          </a:prstGeom>
          <a:solidFill>
            <a:schemeClr val="accent1">
              <a:alpha val="23000"/>
            </a:schemeClr>
          </a:solidFill>
          <a:ln w="19050" algn="ctr">
            <a:solidFill>
              <a:schemeClr val="accent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 name="TextBox 10"/>
          <p:cNvSpPr txBox="1"/>
          <p:nvPr/>
        </p:nvSpPr>
        <p:spPr>
          <a:xfrm>
            <a:off x="5890314" y="4620023"/>
            <a:ext cx="2086851" cy="433290"/>
          </a:xfrm>
          <a:prstGeom prst="roundRect">
            <a:avLst/>
          </a:prstGeom>
          <a:solidFill>
            <a:schemeClr val="accent1"/>
          </a:solidFill>
        </p:spPr>
        <p:txBody>
          <a:bodyPr wrap="square" lIns="0" tIns="72000" rIns="0" bIns="72000" rtlCol="0">
            <a:spAutoFit/>
          </a:bodyPr>
          <a:lstStyle/>
          <a:p>
            <a:pPr marL="171450" indent="-171450">
              <a:spcBef>
                <a:spcPts val="600"/>
              </a:spcBef>
              <a:buSzPct val="100000"/>
              <a:buFont typeface="Arial" panose="020B0604020202020204" pitchFamily="34" charset="0"/>
              <a:buChar char="•"/>
            </a:pPr>
            <a:r>
              <a:rPr lang="en-US" sz="800" b="1" dirty="0">
                <a:solidFill>
                  <a:schemeClr val="bg1"/>
                </a:solidFill>
                <a:latin typeface="Verdana"/>
              </a:rPr>
              <a:t>Dhanua-Nalka &amp; Bangabandhu Bridge-Nalka Gas (Expansion)</a:t>
            </a:r>
          </a:p>
        </p:txBody>
      </p:sp>
      <p:graphicFrame>
        <p:nvGraphicFramePr>
          <p:cNvPr id="14" name="Table 13"/>
          <p:cNvGraphicFramePr>
            <a:graphicFrameLocks noGrp="1"/>
          </p:cNvGraphicFramePr>
          <p:nvPr>
            <p:extLst>
              <p:ext uri="{D42A27DB-BD31-4B8C-83A1-F6EECF244321}">
                <p14:modId xmlns:p14="http://schemas.microsoft.com/office/powerpoint/2010/main" val="1884863029"/>
              </p:ext>
            </p:extLst>
          </p:nvPr>
        </p:nvGraphicFramePr>
        <p:xfrm>
          <a:off x="449618" y="2825633"/>
          <a:ext cx="4735625" cy="2227680"/>
        </p:xfrm>
        <a:graphic>
          <a:graphicData uri="http://schemas.openxmlformats.org/drawingml/2006/table">
            <a:tbl>
              <a:tblPr firstRow="1">
                <a:tableStyleId>{3B4B98B0-60AC-42C2-AFA5-B58CD77FA1E5}</a:tableStyleId>
              </a:tblPr>
              <a:tblGrid>
                <a:gridCol w="1178569">
                  <a:extLst>
                    <a:ext uri="{9D8B030D-6E8A-4147-A177-3AD203B41FA5}">
                      <a16:colId xmlns:a16="http://schemas.microsoft.com/office/drawing/2014/main" val="1659914186"/>
                    </a:ext>
                  </a:extLst>
                </a:gridCol>
                <a:gridCol w="934497">
                  <a:extLst>
                    <a:ext uri="{9D8B030D-6E8A-4147-A177-3AD203B41FA5}">
                      <a16:colId xmlns:a16="http://schemas.microsoft.com/office/drawing/2014/main" val="3636210949"/>
                    </a:ext>
                  </a:extLst>
                </a:gridCol>
                <a:gridCol w="2622559">
                  <a:extLst>
                    <a:ext uri="{9D8B030D-6E8A-4147-A177-3AD203B41FA5}">
                      <a16:colId xmlns:a16="http://schemas.microsoft.com/office/drawing/2014/main" val="3349145812"/>
                    </a:ext>
                  </a:extLst>
                </a:gridCol>
              </a:tblGrid>
              <a:tr h="200670">
                <a:tc>
                  <a:txBody>
                    <a:bodyPr/>
                    <a:lstStyle/>
                    <a:p>
                      <a:r>
                        <a:rPr lang="en-US" sz="900" dirty="0"/>
                        <a:t>Pipeline</a:t>
                      </a:r>
                      <a:endParaRPr lang="en-IN" sz="900" b="0" dirty="0"/>
                    </a:p>
                  </a:txBody>
                  <a:tcPr/>
                </a:tc>
                <a:tc>
                  <a:txBody>
                    <a:bodyPr/>
                    <a:lstStyle/>
                    <a:p>
                      <a:r>
                        <a:rPr lang="en-US" sz="900" b="1" dirty="0"/>
                        <a:t>Status</a:t>
                      </a:r>
                      <a:endParaRPr lang="en-IN" sz="900" b="1" dirty="0"/>
                    </a:p>
                  </a:txBody>
                  <a:tcPr/>
                </a:tc>
                <a:tc>
                  <a:txBody>
                    <a:bodyPr/>
                    <a:lstStyle/>
                    <a:p>
                      <a:pPr algn="ctr"/>
                      <a:r>
                        <a:rPr lang="en-US" sz="900" dirty="0"/>
                        <a:t>Details</a:t>
                      </a:r>
                      <a:endParaRPr lang="en-IN" sz="900" b="0" dirty="0"/>
                    </a:p>
                  </a:txBody>
                  <a:tcPr/>
                </a:tc>
                <a:extLst>
                  <a:ext uri="{0D108BD9-81ED-4DB2-BD59-A6C34878D82A}">
                    <a16:rowId xmlns:a16="http://schemas.microsoft.com/office/drawing/2014/main" val="202154620"/>
                  </a:ext>
                </a:extLst>
              </a:tr>
              <a:tr h="702343">
                <a:tc>
                  <a:txBody>
                    <a:bodyPr/>
                    <a:lstStyle/>
                    <a:p>
                      <a:r>
                        <a:rPr lang="en-US" sz="900" b="0" dirty="0"/>
                        <a:t>Maheshkali- Anwara (Parallel Transmission Line)</a:t>
                      </a:r>
                      <a:endParaRPr lang="en-IN" sz="900" b="0" dirty="0"/>
                    </a:p>
                  </a:txBody>
                  <a:tcPr marL="36000" marR="36000" marT="36000" marB="36000"/>
                </a:tc>
                <a:tc>
                  <a:txBody>
                    <a:bodyPr/>
                    <a:lstStyle/>
                    <a:p>
                      <a:pPr algn="ctr"/>
                      <a:r>
                        <a:rPr lang="en-US" sz="900" b="0" dirty="0"/>
                        <a:t>Expected</a:t>
                      </a:r>
                      <a:r>
                        <a:rPr lang="en-US" sz="900" b="0" baseline="0" dirty="0"/>
                        <a:t> COD (FY21)</a:t>
                      </a:r>
                      <a:endParaRPr lang="en-IN" sz="900" b="0" dirty="0"/>
                    </a:p>
                  </a:txBody>
                  <a:tcPr marL="36000" marR="36000" marT="36000" marB="36000"/>
                </a:tc>
                <a:tc>
                  <a:txBody>
                    <a:bodyPr/>
                    <a:lstStyle/>
                    <a:p>
                      <a:pPr marL="357188" lvl="1" indent="-174625" algn="just" defTabSz="990571">
                        <a:spcBef>
                          <a:spcPts val="600"/>
                        </a:spcBef>
                        <a:spcAft>
                          <a:spcPts val="600"/>
                        </a:spcAft>
                        <a:buFont typeface="Courier New" panose="02070309020205020404" pitchFamily="49" charset="0"/>
                        <a:buChar char="o"/>
                      </a:pPr>
                      <a:r>
                        <a:rPr lang="en-US" sz="900" dirty="0"/>
                        <a:t>This pipeline (42 inch x 79 </a:t>
                      </a:r>
                      <a:r>
                        <a:rPr lang="en-US" sz="900" dirty="0" err="1"/>
                        <a:t>kms</a:t>
                      </a:r>
                      <a:r>
                        <a:rPr lang="en-US" sz="900" dirty="0"/>
                        <a:t>) is expected to be completed by Sep 2020 and will allow additional evacuation of LNG from Moheshkali  towards Chattogram</a:t>
                      </a:r>
                    </a:p>
                  </a:txBody>
                  <a:tcPr marL="36000" marR="36000" marT="36000" marB="36000"/>
                </a:tc>
                <a:extLst>
                  <a:ext uri="{0D108BD9-81ED-4DB2-BD59-A6C34878D82A}">
                    <a16:rowId xmlns:a16="http://schemas.microsoft.com/office/drawing/2014/main" val="2120283131"/>
                  </a:ext>
                </a:extLst>
              </a:tr>
              <a:tr h="326088">
                <a:tc>
                  <a:txBody>
                    <a:bodyPr/>
                    <a:lstStyle/>
                    <a:p>
                      <a:r>
                        <a:rPr lang="en-US" sz="900" dirty="0"/>
                        <a:t>Chittagong-Feni-Bakhrabad Pipeline </a:t>
                      </a:r>
                      <a:endParaRPr lang="en-IN" sz="900" b="0" dirty="0"/>
                    </a:p>
                  </a:txBody>
                  <a:tcPr marL="36000" marR="36000" marT="36000" marB="36000"/>
                </a:tc>
                <a:tc>
                  <a:txBody>
                    <a:bodyPr/>
                    <a:lstStyle/>
                    <a:p>
                      <a:pPr algn="ctr"/>
                      <a:r>
                        <a:rPr lang="en-US" sz="900" b="0" dirty="0"/>
                        <a:t>Commissioned (April FY20)</a:t>
                      </a:r>
                      <a:endParaRPr lang="en-IN" sz="900" b="0" dirty="0"/>
                    </a:p>
                  </a:txBody>
                  <a:tcPr marL="36000" marR="36000" marT="36000" marB="36000"/>
                </a:tc>
                <a:tc>
                  <a:txBody>
                    <a:bodyPr/>
                    <a:lstStyle/>
                    <a:p>
                      <a:pPr marL="357188" lvl="1" indent="-174625" algn="just" defTabSz="990571">
                        <a:spcBef>
                          <a:spcPts val="600"/>
                        </a:spcBef>
                        <a:spcAft>
                          <a:spcPts val="600"/>
                        </a:spcAft>
                        <a:buFont typeface="Courier New" panose="02070309020205020404" pitchFamily="49" charset="0"/>
                        <a:buChar char="o"/>
                      </a:pPr>
                      <a:r>
                        <a:rPr lang="en-US" sz="900" dirty="0"/>
                        <a:t>The pipeline (36 inch x 181 Kms) will allow the LNG to flow towards Dhaka circle and allow full evacuation of the LNG in the national grid</a:t>
                      </a:r>
                    </a:p>
                  </a:txBody>
                  <a:tcPr marL="36000" marR="36000" marT="36000" marB="36000"/>
                </a:tc>
                <a:extLst>
                  <a:ext uri="{0D108BD9-81ED-4DB2-BD59-A6C34878D82A}">
                    <a16:rowId xmlns:a16="http://schemas.microsoft.com/office/drawing/2014/main" val="3110394366"/>
                  </a:ext>
                </a:extLst>
              </a:tr>
              <a:tr h="326088">
                <a:tc>
                  <a:txBody>
                    <a:bodyPr/>
                    <a:lstStyle/>
                    <a:p>
                      <a:r>
                        <a:rPr lang="en-IN" sz="900" b="0" dirty="0"/>
                        <a:t>Dhanua-Nalka &amp; Bangabandhu Bridge-Nalka Gas </a:t>
                      </a:r>
                    </a:p>
                  </a:txBody>
                  <a:tcPr marL="36000" marR="36000" marT="36000" marB="36000"/>
                </a:tc>
                <a:tc>
                  <a:txBody>
                    <a:bodyPr/>
                    <a:lstStyle/>
                    <a:p>
                      <a:pPr algn="ctr"/>
                      <a:r>
                        <a:rPr lang="en-US" sz="900" b="0" dirty="0"/>
                        <a:t>Expected</a:t>
                      </a:r>
                      <a:r>
                        <a:rPr lang="en-US" sz="900" b="0" baseline="0" dirty="0"/>
                        <a:t> COD (FY21)</a:t>
                      </a:r>
                      <a:endParaRPr lang="en-IN" sz="900" b="0" dirty="0"/>
                    </a:p>
                  </a:txBody>
                  <a:tcPr marL="36000" marR="36000" marT="36000" marB="36000"/>
                </a:tc>
                <a:tc>
                  <a:txBody>
                    <a:bodyPr/>
                    <a:lstStyle/>
                    <a:p>
                      <a:pPr marL="357188" lvl="1" indent="-174625" algn="just" defTabSz="990571">
                        <a:spcBef>
                          <a:spcPts val="600"/>
                        </a:spcBef>
                        <a:spcAft>
                          <a:spcPts val="600"/>
                        </a:spcAft>
                        <a:buFont typeface="Courier New" panose="02070309020205020404" pitchFamily="49" charset="0"/>
                        <a:buChar char="o"/>
                      </a:pPr>
                      <a:r>
                        <a:rPr lang="en-US" sz="900" dirty="0"/>
                        <a:t>The pipeline</a:t>
                      </a:r>
                      <a:r>
                        <a:rPr lang="en-US" sz="900" baseline="0" dirty="0"/>
                        <a:t> (30 inch x 52 </a:t>
                      </a:r>
                      <a:r>
                        <a:rPr lang="en-US" sz="900" baseline="0" dirty="0" err="1"/>
                        <a:t>kms</a:t>
                      </a:r>
                      <a:r>
                        <a:rPr lang="en-US" sz="900" baseline="0" dirty="0"/>
                        <a:t>) is being constructed for strengthening gas supply to western regions in Bangladesh from eastern regions</a:t>
                      </a:r>
                      <a:endParaRPr lang="en-US" sz="900" dirty="0"/>
                    </a:p>
                  </a:txBody>
                  <a:tcPr marL="36000" marR="36000" marT="36000" marB="36000"/>
                </a:tc>
                <a:extLst>
                  <a:ext uri="{0D108BD9-81ED-4DB2-BD59-A6C34878D82A}">
                    <a16:rowId xmlns:a16="http://schemas.microsoft.com/office/drawing/2014/main" val="3397491726"/>
                  </a:ext>
                </a:extLst>
              </a:tr>
            </a:tbl>
          </a:graphicData>
        </a:graphic>
      </p:graphicFrame>
      <p:sp>
        <p:nvSpPr>
          <p:cNvPr id="16" name="Rectangle 15"/>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Petrobangla, GTCL, Industry Reports, Deloitte Analysis</a:t>
            </a:r>
          </a:p>
        </p:txBody>
      </p:sp>
      <p:sp>
        <p:nvSpPr>
          <p:cNvPr id="17" name="Freeform 3"/>
          <p:cNvSpPr>
            <a:spLocks/>
          </p:cNvSpPr>
          <p:nvPr/>
        </p:nvSpPr>
        <p:spPr bwMode="gray">
          <a:xfrm>
            <a:off x="302597" y="6095359"/>
            <a:ext cx="4882292" cy="1011119"/>
          </a:xfrm>
          <a:custGeom>
            <a:avLst/>
            <a:gdLst/>
            <a:ahLst/>
            <a:cxnLst>
              <a:cxn ang="0">
                <a:pos x="222" y="20"/>
              </a:cxn>
              <a:cxn ang="0">
                <a:pos x="476" y="6"/>
              </a:cxn>
              <a:cxn ang="0">
                <a:pos x="671" y="35"/>
              </a:cxn>
              <a:cxn ang="0">
                <a:pos x="901" y="27"/>
              </a:cxn>
              <a:cxn ang="0">
                <a:pos x="1105" y="7"/>
              </a:cxn>
              <a:cxn ang="0">
                <a:pos x="1351" y="13"/>
              </a:cxn>
              <a:cxn ang="0">
                <a:pos x="1750" y="16"/>
              </a:cxn>
              <a:cxn ang="0">
                <a:pos x="1962" y="33"/>
              </a:cxn>
              <a:cxn ang="0">
                <a:pos x="2433" y="23"/>
              </a:cxn>
              <a:cxn ang="0">
                <a:pos x="2648" y="30"/>
              </a:cxn>
              <a:cxn ang="0">
                <a:pos x="3022" y="30"/>
              </a:cxn>
              <a:cxn ang="0">
                <a:pos x="3305" y="38"/>
              </a:cxn>
              <a:cxn ang="0">
                <a:pos x="3683" y="43"/>
              </a:cxn>
              <a:cxn ang="0">
                <a:pos x="3921" y="44"/>
              </a:cxn>
              <a:cxn ang="0">
                <a:pos x="4152" y="45"/>
              </a:cxn>
              <a:cxn ang="0">
                <a:pos x="4193" y="98"/>
              </a:cxn>
              <a:cxn ang="0">
                <a:pos x="4229" y="146"/>
              </a:cxn>
              <a:cxn ang="0">
                <a:pos x="4183" y="224"/>
              </a:cxn>
              <a:cxn ang="0">
                <a:pos x="4218" y="282"/>
              </a:cxn>
              <a:cxn ang="0">
                <a:pos x="4286" y="348"/>
              </a:cxn>
              <a:cxn ang="0">
                <a:pos x="4353" y="404"/>
              </a:cxn>
              <a:cxn ang="0">
                <a:pos x="4419" y="474"/>
              </a:cxn>
              <a:cxn ang="0">
                <a:pos x="4413" y="546"/>
              </a:cxn>
              <a:cxn ang="0">
                <a:pos x="4443" y="645"/>
              </a:cxn>
              <a:cxn ang="0">
                <a:pos x="4461" y="711"/>
              </a:cxn>
              <a:cxn ang="0">
                <a:pos x="4462" y="811"/>
              </a:cxn>
              <a:cxn ang="0">
                <a:pos x="4483" y="869"/>
              </a:cxn>
              <a:cxn ang="0">
                <a:pos x="4526" y="953"/>
              </a:cxn>
              <a:cxn ang="0">
                <a:pos x="4448" y="999"/>
              </a:cxn>
              <a:cxn ang="0">
                <a:pos x="4203" y="989"/>
              </a:cxn>
              <a:cxn ang="0">
                <a:pos x="3829" y="970"/>
              </a:cxn>
              <a:cxn ang="0">
                <a:pos x="3619" y="991"/>
              </a:cxn>
              <a:cxn ang="0">
                <a:pos x="3434" y="1006"/>
              </a:cxn>
              <a:cxn ang="0">
                <a:pos x="3180" y="1017"/>
              </a:cxn>
              <a:cxn ang="0">
                <a:pos x="2821" y="994"/>
              </a:cxn>
              <a:cxn ang="0">
                <a:pos x="2467" y="999"/>
              </a:cxn>
              <a:cxn ang="0">
                <a:pos x="2091" y="994"/>
              </a:cxn>
              <a:cxn ang="0">
                <a:pos x="1782" y="991"/>
              </a:cxn>
              <a:cxn ang="0">
                <a:pos x="1496" y="977"/>
              </a:cxn>
              <a:cxn ang="0">
                <a:pos x="1284" y="965"/>
              </a:cxn>
              <a:cxn ang="0">
                <a:pos x="907" y="976"/>
              </a:cxn>
              <a:cxn ang="0">
                <a:pos x="483" y="966"/>
              </a:cxn>
              <a:cxn ang="0">
                <a:pos x="297" y="969"/>
              </a:cxn>
              <a:cxn ang="0">
                <a:pos x="285" y="922"/>
              </a:cxn>
              <a:cxn ang="0">
                <a:pos x="364" y="872"/>
              </a:cxn>
              <a:cxn ang="0">
                <a:pos x="324" y="814"/>
              </a:cxn>
              <a:cxn ang="0">
                <a:pos x="286" y="763"/>
              </a:cxn>
              <a:cxn ang="0">
                <a:pos x="289" y="701"/>
              </a:cxn>
              <a:cxn ang="0">
                <a:pos x="103" y="623"/>
              </a:cxn>
              <a:cxn ang="0">
                <a:pos x="158" y="566"/>
              </a:cxn>
              <a:cxn ang="0">
                <a:pos x="116" y="496"/>
              </a:cxn>
              <a:cxn ang="0">
                <a:pos x="74" y="435"/>
              </a:cxn>
              <a:cxn ang="0">
                <a:pos x="100" y="365"/>
              </a:cxn>
              <a:cxn ang="0">
                <a:pos x="87" y="306"/>
              </a:cxn>
              <a:cxn ang="0">
                <a:pos x="13" y="221"/>
              </a:cxn>
              <a:cxn ang="0">
                <a:pos x="21" y="159"/>
              </a:cxn>
              <a:cxn ang="0">
                <a:pos x="0" y="98"/>
              </a:cxn>
              <a:cxn ang="0">
                <a:pos x="28" y="35"/>
              </a:cxn>
            </a:cxnLst>
            <a:rect l="0" t="0" r="r" b="b"/>
            <a:pathLst>
              <a:path w="4537" h="1018">
                <a:moveTo>
                  <a:pt x="71" y="0"/>
                </a:moveTo>
                <a:lnTo>
                  <a:pt x="147" y="13"/>
                </a:lnTo>
                <a:lnTo>
                  <a:pt x="222" y="20"/>
                </a:lnTo>
                <a:lnTo>
                  <a:pt x="315" y="17"/>
                </a:lnTo>
                <a:lnTo>
                  <a:pt x="380" y="6"/>
                </a:lnTo>
                <a:lnTo>
                  <a:pt x="476" y="6"/>
                </a:lnTo>
                <a:lnTo>
                  <a:pt x="547" y="11"/>
                </a:lnTo>
                <a:lnTo>
                  <a:pt x="597" y="30"/>
                </a:lnTo>
                <a:lnTo>
                  <a:pt x="671" y="35"/>
                </a:lnTo>
                <a:lnTo>
                  <a:pt x="760" y="31"/>
                </a:lnTo>
                <a:lnTo>
                  <a:pt x="830" y="26"/>
                </a:lnTo>
                <a:lnTo>
                  <a:pt x="901" y="27"/>
                </a:lnTo>
                <a:lnTo>
                  <a:pt x="996" y="21"/>
                </a:lnTo>
                <a:lnTo>
                  <a:pt x="1034" y="4"/>
                </a:lnTo>
                <a:lnTo>
                  <a:pt x="1105" y="7"/>
                </a:lnTo>
                <a:lnTo>
                  <a:pt x="1203" y="7"/>
                </a:lnTo>
                <a:lnTo>
                  <a:pt x="1274" y="6"/>
                </a:lnTo>
                <a:lnTo>
                  <a:pt x="1351" y="13"/>
                </a:lnTo>
                <a:lnTo>
                  <a:pt x="1511" y="14"/>
                </a:lnTo>
                <a:lnTo>
                  <a:pt x="1651" y="16"/>
                </a:lnTo>
                <a:lnTo>
                  <a:pt x="1750" y="16"/>
                </a:lnTo>
                <a:lnTo>
                  <a:pt x="1818" y="16"/>
                </a:lnTo>
                <a:lnTo>
                  <a:pt x="1891" y="31"/>
                </a:lnTo>
                <a:lnTo>
                  <a:pt x="1962" y="33"/>
                </a:lnTo>
                <a:lnTo>
                  <a:pt x="2103" y="31"/>
                </a:lnTo>
                <a:lnTo>
                  <a:pt x="2242" y="27"/>
                </a:lnTo>
                <a:lnTo>
                  <a:pt x="2433" y="23"/>
                </a:lnTo>
                <a:lnTo>
                  <a:pt x="2503" y="18"/>
                </a:lnTo>
                <a:lnTo>
                  <a:pt x="2574" y="20"/>
                </a:lnTo>
                <a:lnTo>
                  <a:pt x="2648" y="30"/>
                </a:lnTo>
                <a:lnTo>
                  <a:pt x="2740" y="37"/>
                </a:lnTo>
                <a:lnTo>
                  <a:pt x="2878" y="33"/>
                </a:lnTo>
                <a:lnTo>
                  <a:pt x="3022" y="30"/>
                </a:lnTo>
                <a:lnTo>
                  <a:pt x="3160" y="26"/>
                </a:lnTo>
                <a:lnTo>
                  <a:pt x="3231" y="26"/>
                </a:lnTo>
                <a:lnTo>
                  <a:pt x="3305" y="38"/>
                </a:lnTo>
                <a:lnTo>
                  <a:pt x="3403" y="47"/>
                </a:lnTo>
                <a:lnTo>
                  <a:pt x="3594" y="45"/>
                </a:lnTo>
                <a:lnTo>
                  <a:pt x="3683" y="43"/>
                </a:lnTo>
                <a:lnTo>
                  <a:pt x="3752" y="41"/>
                </a:lnTo>
                <a:lnTo>
                  <a:pt x="3847" y="44"/>
                </a:lnTo>
                <a:lnTo>
                  <a:pt x="3921" y="44"/>
                </a:lnTo>
                <a:lnTo>
                  <a:pt x="3989" y="40"/>
                </a:lnTo>
                <a:lnTo>
                  <a:pt x="4084" y="40"/>
                </a:lnTo>
                <a:lnTo>
                  <a:pt x="4152" y="45"/>
                </a:lnTo>
                <a:lnTo>
                  <a:pt x="4204" y="64"/>
                </a:lnTo>
                <a:lnTo>
                  <a:pt x="4215" y="79"/>
                </a:lnTo>
                <a:lnTo>
                  <a:pt x="4193" y="98"/>
                </a:lnTo>
                <a:lnTo>
                  <a:pt x="4173" y="115"/>
                </a:lnTo>
                <a:lnTo>
                  <a:pt x="4198" y="130"/>
                </a:lnTo>
                <a:lnTo>
                  <a:pt x="4229" y="146"/>
                </a:lnTo>
                <a:lnTo>
                  <a:pt x="4211" y="163"/>
                </a:lnTo>
                <a:lnTo>
                  <a:pt x="4173" y="209"/>
                </a:lnTo>
                <a:lnTo>
                  <a:pt x="4183" y="224"/>
                </a:lnTo>
                <a:lnTo>
                  <a:pt x="4210" y="241"/>
                </a:lnTo>
                <a:lnTo>
                  <a:pt x="4214" y="258"/>
                </a:lnTo>
                <a:lnTo>
                  <a:pt x="4218" y="282"/>
                </a:lnTo>
                <a:lnTo>
                  <a:pt x="4232" y="315"/>
                </a:lnTo>
                <a:lnTo>
                  <a:pt x="4235" y="333"/>
                </a:lnTo>
                <a:lnTo>
                  <a:pt x="4286" y="348"/>
                </a:lnTo>
                <a:lnTo>
                  <a:pt x="4342" y="365"/>
                </a:lnTo>
                <a:lnTo>
                  <a:pt x="4348" y="389"/>
                </a:lnTo>
                <a:lnTo>
                  <a:pt x="4353" y="404"/>
                </a:lnTo>
                <a:lnTo>
                  <a:pt x="4335" y="428"/>
                </a:lnTo>
                <a:lnTo>
                  <a:pt x="4339" y="451"/>
                </a:lnTo>
                <a:lnTo>
                  <a:pt x="4419" y="474"/>
                </a:lnTo>
                <a:lnTo>
                  <a:pt x="4452" y="509"/>
                </a:lnTo>
                <a:lnTo>
                  <a:pt x="4433" y="532"/>
                </a:lnTo>
                <a:lnTo>
                  <a:pt x="4413" y="546"/>
                </a:lnTo>
                <a:lnTo>
                  <a:pt x="4395" y="565"/>
                </a:lnTo>
                <a:lnTo>
                  <a:pt x="4431" y="608"/>
                </a:lnTo>
                <a:lnTo>
                  <a:pt x="4443" y="645"/>
                </a:lnTo>
                <a:lnTo>
                  <a:pt x="4447" y="660"/>
                </a:lnTo>
                <a:lnTo>
                  <a:pt x="4456" y="694"/>
                </a:lnTo>
                <a:lnTo>
                  <a:pt x="4461" y="711"/>
                </a:lnTo>
                <a:lnTo>
                  <a:pt x="4473" y="756"/>
                </a:lnTo>
                <a:lnTo>
                  <a:pt x="4452" y="772"/>
                </a:lnTo>
                <a:lnTo>
                  <a:pt x="4462" y="811"/>
                </a:lnTo>
                <a:lnTo>
                  <a:pt x="4472" y="828"/>
                </a:lnTo>
                <a:lnTo>
                  <a:pt x="4498" y="851"/>
                </a:lnTo>
                <a:lnTo>
                  <a:pt x="4483" y="869"/>
                </a:lnTo>
                <a:lnTo>
                  <a:pt x="4487" y="885"/>
                </a:lnTo>
                <a:lnTo>
                  <a:pt x="4494" y="908"/>
                </a:lnTo>
                <a:lnTo>
                  <a:pt x="4526" y="953"/>
                </a:lnTo>
                <a:lnTo>
                  <a:pt x="4536" y="976"/>
                </a:lnTo>
                <a:lnTo>
                  <a:pt x="4519" y="991"/>
                </a:lnTo>
                <a:lnTo>
                  <a:pt x="4448" y="999"/>
                </a:lnTo>
                <a:lnTo>
                  <a:pt x="4380" y="1013"/>
                </a:lnTo>
                <a:lnTo>
                  <a:pt x="4279" y="1001"/>
                </a:lnTo>
                <a:lnTo>
                  <a:pt x="4203" y="989"/>
                </a:lnTo>
                <a:lnTo>
                  <a:pt x="4062" y="979"/>
                </a:lnTo>
                <a:lnTo>
                  <a:pt x="3990" y="972"/>
                </a:lnTo>
                <a:lnTo>
                  <a:pt x="3829" y="970"/>
                </a:lnTo>
                <a:lnTo>
                  <a:pt x="3762" y="974"/>
                </a:lnTo>
                <a:lnTo>
                  <a:pt x="3690" y="984"/>
                </a:lnTo>
                <a:lnTo>
                  <a:pt x="3619" y="991"/>
                </a:lnTo>
                <a:lnTo>
                  <a:pt x="3577" y="1006"/>
                </a:lnTo>
                <a:lnTo>
                  <a:pt x="3508" y="1013"/>
                </a:lnTo>
                <a:lnTo>
                  <a:pt x="3434" y="1006"/>
                </a:lnTo>
                <a:lnTo>
                  <a:pt x="3365" y="999"/>
                </a:lnTo>
                <a:lnTo>
                  <a:pt x="3266" y="1004"/>
                </a:lnTo>
                <a:lnTo>
                  <a:pt x="3180" y="1017"/>
                </a:lnTo>
                <a:lnTo>
                  <a:pt x="3109" y="1014"/>
                </a:lnTo>
                <a:lnTo>
                  <a:pt x="3010" y="1008"/>
                </a:lnTo>
                <a:lnTo>
                  <a:pt x="2821" y="994"/>
                </a:lnTo>
                <a:lnTo>
                  <a:pt x="2630" y="991"/>
                </a:lnTo>
                <a:lnTo>
                  <a:pt x="2562" y="991"/>
                </a:lnTo>
                <a:lnTo>
                  <a:pt x="2467" y="999"/>
                </a:lnTo>
                <a:lnTo>
                  <a:pt x="2299" y="996"/>
                </a:lnTo>
                <a:lnTo>
                  <a:pt x="2160" y="994"/>
                </a:lnTo>
                <a:lnTo>
                  <a:pt x="2091" y="994"/>
                </a:lnTo>
                <a:lnTo>
                  <a:pt x="1949" y="991"/>
                </a:lnTo>
                <a:lnTo>
                  <a:pt x="1853" y="993"/>
                </a:lnTo>
                <a:lnTo>
                  <a:pt x="1782" y="991"/>
                </a:lnTo>
                <a:lnTo>
                  <a:pt x="1642" y="990"/>
                </a:lnTo>
                <a:lnTo>
                  <a:pt x="1570" y="979"/>
                </a:lnTo>
                <a:lnTo>
                  <a:pt x="1496" y="977"/>
                </a:lnTo>
                <a:lnTo>
                  <a:pt x="1432" y="987"/>
                </a:lnTo>
                <a:lnTo>
                  <a:pt x="1334" y="984"/>
                </a:lnTo>
                <a:lnTo>
                  <a:pt x="1284" y="965"/>
                </a:lnTo>
                <a:lnTo>
                  <a:pt x="1214" y="974"/>
                </a:lnTo>
                <a:lnTo>
                  <a:pt x="1051" y="976"/>
                </a:lnTo>
                <a:lnTo>
                  <a:pt x="907" y="976"/>
                </a:lnTo>
                <a:lnTo>
                  <a:pt x="770" y="982"/>
                </a:lnTo>
                <a:lnTo>
                  <a:pt x="679" y="973"/>
                </a:lnTo>
                <a:lnTo>
                  <a:pt x="483" y="966"/>
                </a:lnTo>
                <a:lnTo>
                  <a:pt x="414" y="970"/>
                </a:lnTo>
                <a:lnTo>
                  <a:pt x="350" y="987"/>
                </a:lnTo>
                <a:lnTo>
                  <a:pt x="297" y="969"/>
                </a:lnTo>
                <a:lnTo>
                  <a:pt x="268" y="953"/>
                </a:lnTo>
                <a:lnTo>
                  <a:pt x="262" y="938"/>
                </a:lnTo>
                <a:lnTo>
                  <a:pt x="285" y="922"/>
                </a:lnTo>
                <a:lnTo>
                  <a:pt x="349" y="904"/>
                </a:lnTo>
                <a:lnTo>
                  <a:pt x="368" y="888"/>
                </a:lnTo>
                <a:lnTo>
                  <a:pt x="364" y="872"/>
                </a:lnTo>
                <a:lnTo>
                  <a:pt x="335" y="854"/>
                </a:lnTo>
                <a:lnTo>
                  <a:pt x="332" y="831"/>
                </a:lnTo>
                <a:lnTo>
                  <a:pt x="324" y="814"/>
                </a:lnTo>
                <a:lnTo>
                  <a:pt x="320" y="799"/>
                </a:lnTo>
                <a:lnTo>
                  <a:pt x="314" y="780"/>
                </a:lnTo>
                <a:lnTo>
                  <a:pt x="286" y="763"/>
                </a:lnTo>
                <a:lnTo>
                  <a:pt x="280" y="739"/>
                </a:lnTo>
                <a:lnTo>
                  <a:pt x="299" y="725"/>
                </a:lnTo>
                <a:lnTo>
                  <a:pt x="289" y="701"/>
                </a:lnTo>
                <a:lnTo>
                  <a:pt x="135" y="657"/>
                </a:lnTo>
                <a:lnTo>
                  <a:pt x="112" y="641"/>
                </a:lnTo>
                <a:lnTo>
                  <a:pt x="103" y="623"/>
                </a:lnTo>
                <a:lnTo>
                  <a:pt x="123" y="606"/>
                </a:lnTo>
                <a:lnTo>
                  <a:pt x="165" y="587"/>
                </a:lnTo>
                <a:lnTo>
                  <a:pt x="158" y="566"/>
                </a:lnTo>
                <a:lnTo>
                  <a:pt x="149" y="543"/>
                </a:lnTo>
                <a:lnTo>
                  <a:pt x="144" y="522"/>
                </a:lnTo>
                <a:lnTo>
                  <a:pt x="116" y="496"/>
                </a:lnTo>
                <a:lnTo>
                  <a:pt x="109" y="477"/>
                </a:lnTo>
                <a:lnTo>
                  <a:pt x="78" y="452"/>
                </a:lnTo>
                <a:lnTo>
                  <a:pt x="74" y="435"/>
                </a:lnTo>
                <a:lnTo>
                  <a:pt x="85" y="396"/>
                </a:lnTo>
                <a:lnTo>
                  <a:pt x="106" y="380"/>
                </a:lnTo>
                <a:lnTo>
                  <a:pt x="100" y="365"/>
                </a:lnTo>
                <a:lnTo>
                  <a:pt x="98" y="345"/>
                </a:lnTo>
                <a:lnTo>
                  <a:pt x="93" y="328"/>
                </a:lnTo>
                <a:lnTo>
                  <a:pt x="87" y="306"/>
                </a:lnTo>
                <a:lnTo>
                  <a:pt x="47" y="261"/>
                </a:lnTo>
                <a:lnTo>
                  <a:pt x="20" y="238"/>
                </a:lnTo>
                <a:lnTo>
                  <a:pt x="13" y="221"/>
                </a:lnTo>
                <a:lnTo>
                  <a:pt x="8" y="199"/>
                </a:lnTo>
                <a:lnTo>
                  <a:pt x="32" y="182"/>
                </a:lnTo>
                <a:lnTo>
                  <a:pt x="21" y="159"/>
                </a:lnTo>
                <a:lnTo>
                  <a:pt x="10" y="136"/>
                </a:lnTo>
                <a:lnTo>
                  <a:pt x="10" y="122"/>
                </a:lnTo>
                <a:lnTo>
                  <a:pt x="0" y="98"/>
                </a:lnTo>
                <a:lnTo>
                  <a:pt x="22" y="77"/>
                </a:lnTo>
                <a:lnTo>
                  <a:pt x="15" y="58"/>
                </a:lnTo>
                <a:lnTo>
                  <a:pt x="28" y="35"/>
                </a:lnTo>
                <a:lnTo>
                  <a:pt x="7" y="17"/>
                </a:lnTo>
                <a:lnTo>
                  <a:pt x="71" y="0"/>
                </a:lnTo>
              </a:path>
            </a:pathLst>
          </a:custGeom>
          <a:gradFill flip="none" rotWithShape="1">
            <a:gsLst>
              <a:gs pos="75000">
                <a:srgbClr val="FFDB69">
                  <a:tint val="66000"/>
                  <a:satMod val="160000"/>
                  <a:alpha val="58000"/>
                </a:srgbClr>
              </a:gs>
              <a:gs pos="61000">
                <a:srgbClr val="FFDB69">
                  <a:tint val="44500"/>
                  <a:satMod val="160000"/>
                  <a:alpha val="73000"/>
                </a:srgbClr>
              </a:gs>
              <a:gs pos="100000">
                <a:srgbClr val="FFDB69">
                  <a:tint val="23500"/>
                  <a:satMod val="160000"/>
                  <a:alpha val="80000"/>
                </a:srgbClr>
              </a:gs>
            </a:gsLst>
            <a:lin ang="0" scaled="1"/>
            <a:tileRect/>
          </a:gradFill>
          <a:ln w="9525" cap="rnd" cmpd="sng">
            <a:noFill/>
            <a:prstDash val="solid"/>
            <a:round/>
            <a:headEnd type="none" w="med" len="med"/>
            <a:tailEnd type="none" w="med" len="med"/>
          </a:ln>
          <a:effectLst>
            <a:outerShdw blurRad="50800" dist="38100" dir="2700000" algn="tl" rotWithShape="0">
              <a:prstClr val="black">
                <a:alpha val="40000"/>
              </a:prstClr>
            </a:outerShdw>
          </a:effectLst>
        </p:spPr>
        <p:txBody>
          <a:bodyPr lIns="360000" tIns="72000" rIns="324000" bIns="72000" anchor="ctr"/>
          <a:lstStyle/>
          <a:p>
            <a:pPr marL="171450" lvl="0" indent="-171450">
              <a:lnSpc>
                <a:spcPct val="114000"/>
              </a:lnSpc>
              <a:spcAft>
                <a:spcPts val="600"/>
              </a:spcAft>
              <a:buFont typeface="Arial" panose="020B0604020202020204" pitchFamily="34" charset="0"/>
              <a:buChar char="•"/>
              <a:defRPr/>
            </a:pPr>
            <a:r>
              <a:rPr lang="en-US" sz="1000" dirty="0">
                <a:solidFill>
                  <a:prstClr val="black"/>
                </a:solidFill>
                <a:latin typeface="+mj-lt"/>
              </a:rPr>
              <a:t>Since the northern region is gradually improving with industrial upgradation, there is a crying need for natural gas supply. It will help boost the economic activities there</a:t>
            </a:r>
          </a:p>
          <a:p>
            <a:pPr lvl="0" algn="r">
              <a:lnSpc>
                <a:spcPct val="114000"/>
              </a:lnSpc>
              <a:spcAft>
                <a:spcPts val="600"/>
              </a:spcAft>
              <a:defRPr/>
            </a:pPr>
            <a:r>
              <a:rPr lang="en-US" sz="1000" b="1" dirty="0">
                <a:solidFill>
                  <a:prstClr val="black"/>
                </a:solidFill>
                <a:latin typeface="+mj-lt"/>
              </a:rPr>
              <a:t>- Petrobangla Official, Dec 2018 on the proposed 150 Km Bogura – Saidpur Pipeline Expansion Project</a:t>
            </a:r>
          </a:p>
        </p:txBody>
      </p:sp>
      <p:sp>
        <p:nvSpPr>
          <p:cNvPr id="18" name="Oval 17"/>
          <p:cNvSpPr/>
          <p:nvPr/>
        </p:nvSpPr>
        <p:spPr bwMode="gray">
          <a:xfrm rot="4025444">
            <a:off x="5900068" y="2771940"/>
            <a:ext cx="1828322" cy="703277"/>
          </a:xfrm>
          <a:prstGeom prst="ellipse">
            <a:avLst/>
          </a:prstGeom>
          <a:solidFill>
            <a:srgbClr val="00B0F0">
              <a:alpha val="23000"/>
            </a:srgbClr>
          </a:solidFill>
          <a:ln w="19050" algn="ctr">
            <a:solidFill>
              <a:srgbClr val="00B0F0"/>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9" name="TextBox 18"/>
          <p:cNvSpPr txBox="1"/>
          <p:nvPr/>
        </p:nvSpPr>
        <p:spPr>
          <a:xfrm>
            <a:off x="7024739" y="2418396"/>
            <a:ext cx="2086851" cy="297083"/>
          </a:xfrm>
          <a:prstGeom prst="roundRect">
            <a:avLst/>
          </a:prstGeom>
          <a:solidFill>
            <a:srgbClr val="00B0F0"/>
          </a:solidFill>
        </p:spPr>
        <p:txBody>
          <a:bodyPr wrap="square" lIns="0" tIns="72000" rIns="0" bIns="72000" rtlCol="0">
            <a:spAutoFit/>
          </a:bodyPr>
          <a:lstStyle/>
          <a:p>
            <a:pPr marL="171450" indent="-171450">
              <a:spcBef>
                <a:spcPts val="600"/>
              </a:spcBef>
              <a:buSzPct val="100000"/>
              <a:buFont typeface="Arial" panose="020B0604020202020204" pitchFamily="34" charset="0"/>
              <a:buChar char="•"/>
            </a:pPr>
            <a:r>
              <a:rPr lang="en-US" sz="800" b="1" dirty="0">
                <a:solidFill>
                  <a:schemeClr val="bg1"/>
                </a:solidFill>
              </a:rPr>
              <a:t>Bogura-Rangpur-Saidpur</a:t>
            </a:r>
            <a:endParaRPr lang="en-US" sz="800" b="1" dirty="0">
              <a:solidFill>
                <a:schemeClr val="bg1"/>
              </a:solidFill>
              <a:latin typeface="Verdana"/>
            </a:endParaRPr>
          </a:p>
        </p:txBody>
      </p:sp>
    </p:spTree>
    <p:extLst>
      <p:ext uri="{BB962C8B-B14F-4D97-AF65-F5344CB8AC3E}">
        <p14:creationId xmlns:p14="http://schemas.microsoft.com/office/powerpoint/2010/main" val="4200590307"/>
      </p:ext>
    </p:extLst>
  </p:cSld>
  <p:clrMapOvr>
    <a:masterClrMapping/>
  </p:clrMapOvr>
  <p:transition>
    <p:fade/>
  </p:transition>
</p:sld>
</file>

<file path=ppt/slides/slide85.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236166388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95000"/>
              </a:lnSpc>
              <a:spcBef>
                <a:spcPct val="0"/>
              </a:spcBef>
              <a:spcAft>
                <a:spcPct val="0"/>
              </a:spcAft>
              <a:buFont typeface="Wingdings 2" pitchFamily="18" charset="2"/>
              <a:buNone/>
              <a:defRPr/>
            </a:pPr>
            <a:endParaRPr kumimoji="0" lang="en-US" sz="3898" b="1" u="none" strike="noStrike" kern="1200" cap="none" spc="0" normalizeH="0" noProof="0" dirty="0">
              <a:ln>
                <a:noFill/>
              </a:ln>
              <a:solidFill>
                <a:prstClr val="white"/>
              </a:solidFill>
              <a:effectLst/>
              <a:uLnTx/>
              <a:uFillTx/>
              <a:latin typeface="Verdana" panose="020B0604030504040204" pitchFamily="34" charset="0"/>
              <a:ea typeface="Open Sans" panose="020B0606030504020204" pitchFamily="34" charset="0"/>
              <a:cs typeface="Open Sans" panose="020B0606030504020204" pitchFamily="34" charset="0"/>
              <a:sym typeface="Verdana" panose="020B0604030504040204" pitchFamily="34" charset="0"/>
            </a:endParaRPr>
          </a:p>
        </p:txBody>
      </p:sp>
      <p:sp>
        <p:nvSpPr>
          <p:cNvPr id="2" name="Title 1"/>
          <p:cNvSpPr>
            <a:spLocks noGrp="1"/>
          </p:cNvSpPr>
          <p:nvPr>
            <p:ph type="title"/>
          </p:nvPr>
        </p:nvSpPr>
        <p:spPr>
          <a:xfrm>
            <a:off x="439925" y="1880184"/>
            <a:ext cx="9243963" cy="2147709"/>
          </a:xfrm>
        </p:spPr>
        <p:txBody>
          <a:bodyPr/>
          <a:lstStyle/>
          <a:p>
            <a:r>
              <a:rPr lang="en-US" dirty="0"/>
              <a:t>Gas Supply &amp; Transmission Outlook for Nimbus </a:t>
            </a:r>
            <a:endParaRPr lang="en-IN" dirty="0"/>
          </a:p>
        </p:txBody>
      </p:sp>
    </p:spTree>
    <p:extLst>
      <p:ext uri="{BB962C8B-B14F-4D97-AF65-F5344CB8AC3E}">
        <p14:creationId xmlns:p14="http://schemas.microsoft.com/office/powerpoint/2010/main" val="122021376"/>
      </p:ext>
    </p:extLst>
  </p:cSld>
  <p:clrMapOvr>
    <a:masterClrMapping/>
  </p:clrMapOvr>
  <p:transition>
    <p:fade/>
  </p:transition>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401755252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4" imgW="530" imgH="531" progId="TCLayout.ActiveDocument.1">
                  <p:embed/>
                </p:oleObj>
              </mc:Choice>
              <mc:Fallback>
                <p:oleObj name="think-cell Slide" r:id="rId24" imgW="530" imgH="531" progId="TCLayout.ActiveDocument.1">
                  <p:embed/>
                  <p:pic>
                    <p:nvPicPr>
                      <p:cNvPr id="4" name="Object 3" hidden="1"/>
                      <p:cNvPicPr/>
                      <p:nvPr/>
                    </p:nvPicPr>
                    <p:blipFill>
                      <a:blip r:embed="rId25"/>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defRPr/>
            </a:pPr>
            <a:endParaRPr kumimoji="0" lang="en-IN" sz="1000" u="none" strike="noStrike" kern="1200" cap="none" spc="0" normalizeH="0" noProof="0" dirty="0">
              <a:ln>
                <a:noFill/>
              </a:ln>
              <a:solidFill>
                <a:prstClr val="white"/>
              </a:solidFill>
              <a:effectLst/>
              <a:uLnTx/>
              <a:uFillTx/>
              <a:latin typeface="Verdana" panose="020B0604030504040204" pitchFamily="34" charset="0"/>
              <a:sym typeface="Verdana" panose="020B0604030504040204" pitchFamily="34" charset="0"/>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2193911363"/>
              </p:ext>
            </p:ext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table shows current &amp; proposed gas based power plants on Bhola Island their annual gas consumption estimation (</a:t>
                      </a:r>
                      <a:r>
                        <a:rPr lang="en-US" sz="1000" b="0" baseline="0" dirty="0" err="1">
                          <a:solidFill>
                            <a:schemeClr val="tx1"/>
                          </a:solidFill>
                        </a:rPr>
                        <a:t>mmscfd</a:t>
                      </a:r>
                      <a:r>
                        <a:rPr lang="en-US" sz="1000" b="0" baseline="0" dirty="0">
                          <a:solidFill>
                            <a:schemeClr val="tx1"/>
                          </a:solidFill>
                        </a:rPr>
                        <a:t>) under normative dispatch level</a:t>
                      </a:r>
                      <a:r>
                        <a:rPr lang="en-US" sz="1000" b="0" baseline="30000" dirty="0">
                          <a:solidFill>
                            <a:schemeClr val="tx1"/>
                          </a:solidFill>
                        </a:rPr>
                        <a:t>1,2</a:t>
                      </a:r>
                      <a:r>
                        <a:rPr lang="en-US" sz="1000" b="0" baseline="0" dirty="0">
                          <a:solidFill>
                            <a:schemeClr val="tx1"/>
                          </a:solidFill>
                        </a:rPr>
                        <a:t>:</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graph shows the 2P Reserves (BCF) at Shahbazpur and Bhola Fields as per Petrobangla and the expected gas availability for the power plants</a:t>
                      </a:r>
                    </a:p>
                    <a:p>
                      <a:pPr marL="171450" lvl="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Gas Supply Outlook (Bhola Island)</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dirty="0">
                <a:solidFill>
                  <a:prstClr val="black">
                    <a:lumMod val="50000"/>
                    <a:lumOff val="50000"/>
                  </a:prstClr>
                </a:solidFill>
                <a:latin typeface="Verdana" panose="020B0604030504040204" pitchFamily="34" charset="0"/>
              </a:rPr>
              <a:t>The existing plants at Bhola Island &amp; proposed Nimbus power plant may require ~88 MMSCFD of gas annually; The current reserves at Shahbazpur should be able to supply gas for ~21 years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3617616472"/>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kern="1200" baseline="0" dirty="0">
                          <a:solidFill>
                            <a:schemeClr val="tx1"/>
                          </a:solidFill>
                          <a:latin typeface="+mn-lt"/>
                          <a:ea typeface="+mn-ea"/>
                          <a:cs typeface="+mn-cs"/>
                        </a:rPr>
                        <a:t>Bhola Island Power Plant  - Annual Gas Requirement</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Currently 3 power plants operate in the </a:t>
                      </a:r>
                      <a:r>
                        <a:rPr lang="en-US" sz="1000" b="0" kern="1200" baseline="0" dirty="0" err="1">
                          <a:solidFill>
                            <a:schemeClr val="tx1"/>
                          </a:solidFill>
                          <a:latin typeface="+mn-lt"/>
                          <a:ea typeface="+mn-ea"/>
                          <a:cs typeface="+mn-cs"/>
                        </a:rPr>
                        <a:t>Bhola</a:t>
                      </a:r>
                      <a:r>
                        <a:rPr lang="en-US" sz="1000" b="0" kern="1200" baseline="0" dirty="0">
                          <a:solidFill>
                            <a:schemeClr val="tx1"/>
                          </a:solidFill>
                          <a:latin typeface="+mn-lt"/>
                          <a:ea typeface="+mn-ea"/>
                          <a:cs typeface="+mn-cs"/>
                        </a:rPr>
                        <a:t> Island with a cumulative capacity of 353 MW</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These power plants in </a:t>
                      </a:r>
                      <a:r>
                        <a:rPr lang="en-US" sz="1000" b="0" kern="1200" baseline="0" dirty="0" err="1">
                          <a:solidFill>
                            <a:schemeClr val="tx1"/>
                          </a:solidFill>
                          <a:latin typeface="+mn-lt"/>
                          <a:ea typeface="+mn-ea"/>
                          <a:cs typeface="+mn-cs"/>
                        </a:rPr>
                        <a:t>Bhola</a:t>
                      </a:r>
                      <a:r>
                        <a:rPr lang="en-US" sz="1000" b="0" kern="1200" baseline="0" dirty="0">
                          <a:solidFill>
                            <a:schemeClr val="tx1"/>
                          </a:solidFill>
                          <a:latin typeface="+mn-lt"/>
                          <a:ea typeface="+mn-ea"/>
                          <a:cs typeface="+mn-cs"/>
                        </a:rPr>
                        <a:t> ran at average PLF of ~65%-75% in FY19</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retirements as per PSMP and current PPAs for </a:t>
                      </a:r>
                      <a:r>
                        <a:rPr lang="en-US" sz="1000" b="0" kern="1200" baseline="0" dirty="0" err="1">
                          <a:solidFill>
                            <a:schemeClr val="tx1"/>
                          </a:solidFill>
                          <a:latin typeface="+mn-lt"/>
                          <a:ea typeface="+mn-ea"/>
                          <a:cs typeface="+mn-cs"/>
                        </a:rPr>
                        <a:t>Bhola</a:t>
                      </a:r>
                      <a:r>
                        <a:rPr lang="en-US" sz="1000" b="0" kern="1200" baseline="0" dirty="0">
                          <a:solidFill>
                            <a:schemeClr val="tx1"/>
                          </a:solidFill>
                          <a:latin typeface="+mn-lt"/>
                          <a:ea typeface="+mn-ea"/>
                          <a:cs typeface="+mn-cs"/>
                        </a:rPr>
                        <a:t> I, Venture and Aggreko plants are tentatively at FY37, FY22 and FY22 respectively</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Considering their current efficiency levels and a normative PLF of 80% the existing plants at </a:t>
                      </a:r>
                      <a:r>
                        <a:rPr lang="en-US" sz="1000" b="0" kern="1200" baseline="0" dirty="0" err="1">
                          <a:solidFill>
                            <a:schemeClr val="tx1"/>
                          </a:solidFill>
                          <a:latin typeface="+mn-lt"/>
                          <a:ea typeface="+mn-ea"/>
                          <a:cs typeface="+mn-cs"/>
                        </a:rPr>
                        <a:t>Bhola</a:t>
                      </a:r>
                      <a:r>
                        <a:rPr lang="en-US" sz="1000" b="0" kern="1200" baseline="0" dirty="0">
                          <a:solidFill>
                            <a:schemeClr val="tx1"/>
                          </a:solidFill>
                          <a:latin typeface="+mn-lt"/>
                          <a:ea typeface="+mn-ea"/>
                          <a:cs typeface="+mn-cs"/>
                        </a:rPr>
                        <a:t> Island and the proposed Nimbus Plant together may require ~88 MMSCFD of gas annually till FY22 and ~62 MMSCFD from FY23 onwards considering plant retirements</a:t>
                      </a: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500" b="0" kern="1200" baseline="0" dirty="0">
                        <a:solidFill>
                          <a:schemeClr val="tx1"/>
                        </a:solidFill>
                        <a:latin typeface="+mn-lt"/>
                        <a:ea typeface="+mn-ea"/>
                        <a:cs typeface="+mn-cs"/>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kern="1200" baseline="0" dirty="0">
                          <a:solidFill>
                            <a:schemeClr val="tx1"/>
                          </a:solidFill>
                          <a:latin typeface="+mn-lt"/>
                          <a:ea typeface="+mn-ea"/>
                          <a:cs typeface="+mn-cs"/>
                        </a:rPr>
                        <a:t>Availability of Gas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remaining reserves (2P) at Shahbazpur field were ~351 BCF (962 MMSCFD) in December 2017 as per Petrobangla</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Due to newer gas finds, the remaining reserves were increased in December 2018 to 586 BCF (1,605 MMSCFD) with an additional find at Bhola North fields for 420 BCF (1,151 MMSCFD)</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Based on the gas reserves before additional discovery at Shahbazpur, the reserves may be able to supply gas to power plants for ~10-11 years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Considering the additional discovered reserves, the gas supply can last for 22+ years which would provide sufficient supply till the PPA expiry of Nimbus plant</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reserves basis the technical study shall be used as an input for the study</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6" name="Rectangle 25"/>
          <p:cNvSpPr/>
          <p:nvPr/>
        </p:nvSpPr>
        <p:spPr bwMode="gray">
          <a:xfrm>
            <a:off x="362237" y="729072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BPDB, Petrobangla, Deloitte Analysis Note 1) The Efficiency of Bhola I, Venture 33 MW and Aggreko 95 MW considered as per levels in FY19 2) The Efficiency of Nimbus Plant considered at 46% (in line with PPA condition with 80% PLF) 3) All the plants have been considered to be operating at 80 Gross PLF to determine annual gas requirement 4) 2P Reserves estimated for Dec 19 considering Gross PLF of ~80% for the power plants 4) Conversion factor considered 1 BCF = 2.82 MMSCFD for 365 days 5) Currently the planned EPZ is yet to be setup and hence the gas requirement of the EPZ has not been considered for the analysis.</a:t>
            </a:r>
          </a:p>
        </p:txBody>
      </p:sp>
      <p:cxnSp>
        <p:nvCxnSpPr>
          <p:cNvPr id="14" name="Straight Connector 13"/>
          <p:cNvCxnSpPr/>
          <p:nvPr>
            <p:custDataLst>
              <p:tags r:id="rId5"/>
            </p:custDataLst>
          </p:nvPr>
        </p:nvCxnSpPr>
        <p:spPr bwMode="auto">
          <a:xfrm>
            <a:off x="7281863" y="3625850"/>
            <a:ext cx="40640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custDataLst>
              <p:tags r:id="rId6"/>
            </p:custDataLst>
          </p:nvPr>
        </p:nvCxnSpPr>
        <p:spPr bwMode="auto">
          <a:xfrm>
            <a:off x="6362700" y="3684588"/>
            <a:ext cx="407988"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custDataLst>
              <p:tags r:id="rId7"/>
            </p:custDataLst>
          </p:nvPr>
        </p:nvCxnSpPr>
        <p:spPr bwMode="auto">
          <a:xfrm>
            <a:off x="8199438" y="3495675"/>
            <a:ext cx="407988"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custDataLst>
              <p:tags r:id="rId8"/>
            </p:custDataLst>
          </p:nvPr>
        </p:nvCxnSpPr>
        <p:spPr bwMode="auto">
          <a:xfrm>
            <a:off x="9118600" y="3257550"/>
            <a:ext cx="40640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40" name="Chart 39"/>
          <p:cNvGraphicFramePr/>
          <p:nvPr>
            <p:custDataLst>
              <p:tags r:id="rId9"/>
            </p:custDataLst>
            <p:extLst>
              <p:ext uri="{D42A27DB-BD31-4B8C-83A1-F6EECF244321}">
                <p14:modId xmlns:p14="http://schemas.microsoft.com/office/powerpoint/2010/main" val="3637392831"/>
              </p:ext>
            </p:extLst>
          </p:nvPr>
        </p:nvGraphicFramePr>
        <p:xfrm>
          <a:off x="5565775" y="3057525"/>
          <a:ext cx="4757738" cy="922338"/>
        </p:xfrm>
        <a:graphic>
          <a:graphicData uri="http://schemas.openxmlformats.org/drawingml/2006/chart">
            <c:chart xmlns:c="http://schemas.openxmlformats.org/drawingml/2006/chart" xmlns:r="http://schemas.openxmlformats.org/officeDocument/2006/relationships" r:id="rId26"/>
          </a:graphicData>
        </a:graphic>
      </p:graphicFrame>
      <p:sp>
        <p:nvSpPr>
          <p:cNvPr id="34" name="StandardTextbox"/>
          <p:cNvSpPr>
            <a:spLocks noGrp="1"/>
          </p:cNvSpPr>
          <p:nvPr>
            <p:custDataLst>
              <p:tags r:id="rId10"/>
            </p:custDataLst>
          </p:nvPr>
        </p:nvSpPr>
        <p:spPr bwMode="auto">
          <a:xfrm>
            <a:off x="6743700" y="3983038"/>
            <a:ext cx="565150"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A240108-0981-40E4-B038-943E9A035C8D}" type="datetime'V''ent''u''r''''e ''(''''''33'' M''''''''W'''''''''''''')'''">
              <a:rPr lang="en-IN" altLang="en-US" b="0" smtClean="0"/>
              <a:pPr lvl="1" algn="ctr">
                <a:spcBef>
                  <a:spcPct val="0"/>
                </a:spcBef>
                <a:spcAft>
                  <a:spcPct val="0"/>
                </a:spcAft>
              </a:pPr>
              <a:t>Venture (33 MW)</a:t>
            </a:fld>
            <a:endParaRPr lang="en-IN" b="0" noProof="0" dirty="0">
              <a:sym typeface="+mn-lt"/>
            </a:endParaRPr>
          </a:p>
        </p:txBody>
      </p:sp>
      <p:sp>
        <p:nvSpPr>
          <p:cNvPr id="46" name="StandardTextbox"/>
          <p:cNvSpPr>
            <a:spLocks noGrp="1"/>
          </p:cNvSpPr>
          <p:nvPr>
            <p:custDataLst>
              <p:tags r:id="rId11"/>
            </p:custDataLst>
          </p:nvPr>
        </p:nvSpPr>
        <p:spPr bwMode="auto">
          <a:xfrm>
            <a:off x="9615488" y="3983038"/>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D7D69194-79A8-4322-88F1-8674CE512FDC}" type="datetime'''''''T''''''''''''''o''''''''''''''''ta''l'''">
              <a:rPr lang="en-IN" altLang="en-US" b="0" smtClean="0"/>
              <a:pPr lvl="1" algn="ctr">
                <a:spcBef>
                  <a:spcPct val="0"/>
                </a:spcBef>
                <a:spcAft>
                  <a:spcPct val="0"/>
                </a:spcAft>
              </a:pPr>
              <a:t>Total</a:t>
            </a:fld>
            <a:endParaRPr lang="en-IN" b="0" noProof="0" dirty="0">
              <a:sym typeface="+mn-lt"/>
            </a:endParaRPr>
          </a:p>
        </p:txBody>
      </p:sp>
      <p:sp>
        <p:nvSpPr>
          <p:cNvPr id="33" name="StandardTextbox"/>
          <p:cNvSpPr>
            <a:spLocks noGrp="1"/>
          </p:cNvSpPr>
          <p:nvPr>
            <p:custDataLst>
              <p:tags r:id="rId12"/>
            </p:custDataLst>
          </p:nvPr>
        </p:nvSpPr>
        <p:spPr bwMode="auto">
          <a:xfrm>
            <a:off x="5784850" y="3983038"/>
            <a:ext cx="646113"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164DDF7-FCD5-47BF-98AD-8C456BF48965}" type="datetime'Bho''''''''''l''''''''a'''' (''''2''25'''''''' ''M''''W)'''">
              <a:rPr lang="en-IN" altLang="en-US" b="0" smtClean="0"/>
              <a:pPr lvl="1" algn="ctr">
                <a:spcBef>
                  <a:spcPct val="0"/>
                </a:spcBef>
                <a:spcAft>
                  <a:spcPct val="0"/>
                </a:spcAft>
              </a:pPr>
              <a:t>Bhola (225 MW)</a:t>
            </a:fld>
            <a:endParaRPr lang="en-IN" b="0" noProof="0" dirty="0">
              <a:sym typeface="+mn-lt"/>
            </a:endParaRPr>
          </a:p>
        </p:txBody>
      </p:sp>
      <p:sp>
        <p:nvSpPr>
          <p:cNvPr id="35" name="StandardTextbox"/>
          <p:cNvSpPr>
            <a:spLocks noGrp="1"/>
          </p:cNvSpPr>
          <p:nvPr>
            <p:custDataLst>
              <p:tags r:id="rId13"/>
            </p:custDataLst>
          </p:nvPr>
        </p:nvSpPr>
        <p:spPr bwMode="auto">
          <a:xfrm>
            <a:off x="7661275" y="3983038"/>
            <a:ext cx="565150"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00C3BA0-AE95-41C5-A35F-D282EC815BAE}" type="datetime'''''''''Aggre''k''''''o'' ''(''9''5 ''''''MW'''''''''''''''')'">
              <a:rPr lang="en-IN" altLang="en-US" b="0" smtClean="0"/>
              <a:pPr lvl="1" algn="ctr">
                <a:spcBef>
                  <a:spcPct val="0"/>
                </a:spcBef>
                <a:spcAft>
                  <a:spcPct val="0"/>
                </a:spcAft>
              </a:pPr>
              <a:t>Aggreko (95 MW)</a:t>
            </a:fld>
            <a:endParaRPr lang="en-IN" b="0" noProof="0" dirty="0">
              <a:sym typeface="+mn-lt"/>
            </a:endParaRPr>
          </a:p>
        </p:txBody>
      </p:sp>
      <p:sp>
        <p:nvSpPr>
          <p:cNvPr id="52" name="StandardTextbox"/>
          <p:cNvSpPr>
            <a:spLocks noGrp="1"/>
          </p:cNvSpPr>
          <p:nvPr>
            <p:custDataLst>
              <p:tags r:id="rId14"/>
            </p:custDataLst>
          </p:nvPr>
        </p:nvSpPr>
        <p:spPr bwMode="gray">
          <a:xfrm>
            <a:off x="6965950" y="3578225"/>
            <a:ext cx="122238" cy="152400"/>
          </a:xfrm>
          <a:prstGeom prst="rect">
            <a:avLst/>
          </a:prstGeom>
          <a:solidFill>
            <a:schemeClr val="accent2"/>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99E9365-50B6-4521-97DC-EA95D3F549CB}" type="datetime'''''''8'''''''''''''''''''''''''''''''''">
              <a:rPr lang="en-IN" altLang="en-US" b="0" smtClean="0">
                <a:solidFill>
                  <a:schemeClr val="bg1"/>
                </a:solidFill>
              </a:rPr>
              <a:pPr lvl="1" algn="ctr">
                <a:spcBef>
                  <a:spcPct val="0"/>
                </a:spcBef>
                <a:spcAft>
                  <a:spcPct val="0"/>
                </a:spcAft>
              </a:pPr>
              <a:t>8</a:t>
            </a:fld>
            <a:endParaRPr lang="en-IN" b="0" noProof="0" dirty="0">
              <a:solidFill>
                <a:schemeClr val="bg1"/>
              </a:solidFill>
              <a:sym typeface="+mn-lt"/>
            </a:endParaRPr>
          </a:p>
        </p:txBody>
      </p:sp>
      <p:sp>
        <p:nvSpPr>
          <p:cNvPr id="43" name="StandardTextbox"/>
          <p:cNvSpPr>
            <a:spLocks noGrp="1"/>
          </p:cNvSpPr>
          <p:nvPr>
            <p:custDataLst>
              <p:tags r:id="rId15"/>
            </p:custDataLst>
          </p:nvPr>
        </p:nvSpPr>
        <p:spPr bwMode="auto">
          <a:xfrm>
            <a:off x="8540750" y="3983038"/>
            <a:ext cx="646113"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8650975-2DDB-4075-8D8F-25B053AC0F30}" type="datetime'''''''''''''''N''''''im''''''''bu''s'' (''''2''20'' ''''MW)'">
              <a:rPr lang="en-IN" altLang="en-US" b="0" smtClean="0"/>
              <a:pPr lvl="1" algn="ctr">
                <a:spcBef>
                  <a:spcPct val="0"/>
                </a:spcBef>
                <a:spcAft>
                  <a:spcPct val="0"/>
                </a:spcAft>
              </a:pPr>
              <a:t>Nimbus (220 MW)</a:t>
            </a:fld>
            <a:endParaRPr lang="en-IN" b="0" noProof="0" dirty="0">
              <a:sym typeface="+mn-lt"/>
            </a:endParaRPr>
          </a:p>
        </p:txBody>
      </p:sp>
      <p:graphicFrame>
        <p:nvGraphicFramePr>
          <p:cNvPr id="45" name="Chart 44"/>
          <p:cNvGraphicFramePr/>
          <p:nvPr>
            <p:custDataLst>
              <p:tags r:id="rId16"/>
            </p:custDataLst>
            <p:extLst>
              <p:ext uri="{D42A27DB-BD31-4B8C-83A1-F6EECF244321}">
                <p14:modId xmlns:p14="http://schemas.microsoft.com/office/powerpoint/2010/main" val="3192158246"/>
              </p:ext>
            </p:extLst>
          </p:nvPr>
        </p:nvGraphicFramePr>
        <p:xfrm>
          <a:off x="5565775" y="5503863"/>
          <a:ext cx="4757738" cy="936625"/>
        </p:xfrm>
        <a:graphic>
          <a:graphicData uri="http://schemas.openxmlformats.org/drawingml/2006/chart">
            <c:chart xmlns:c="http://schemas.openxmlformats.org/drawingml/2006/chart" xmlns:r="http://schemas.openxmlformats.org/officeDocument/2006/relationships" r:id="rId27"/>
          </a:graphicData>
        </a:graphic>
      </p:graphicFrame>
      <p:sp>
        <p:nvSpPr>
          <p:cNvPr id="24" name="StandardTextbox"/>
          <p:cNvSpPr>
            <a:spLocks noGrp="1"/>
          </p:cNvSpPr>
          <p:nvPr>
            <p:custDataLst>
              <p:tags r:id="rId17"/>
            </p:custDataLst>
          </p:nvPr>
        </p:nvSpPr>
        <p:spPr bwMode="auto">
          <a:xfrm>
            <a:off x="6559550" y="6443663"/>
            <a:ext cx="47307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223A8ED-22BE-4B18-A145-55948FC5E1B4}" type="datetime'''D''''''''''''e''''''''''''''''''''''''''c-''''''''''1''7'">
              <a:rPr lang="en-IN" altLang="en-US" b="0" smtClean="0"/>
              <a:pPr lvl="1" algn="ctr">
                <a:spcBef>
                  <a:spcPct val="0"/>
                </a:spcBef>
                <a:spcAft>
                  <a:spcPct val="0"/>
                </a:spcAft>
              </a:pPr>
              <a:t>Dec-17</a:t>
            </a:fld>
            <a:endParaRPr lang="en-IN" b="0" noProof="0" dirty="0">
              <a:sym typeface="+mn-lt"/>
            </a:endParaRPr>
          </a:p>
        </p:txBody>
      </p:sp>
      <p:sp>
        <p:nvSpPr>
          <p:cNvPr id="38" name="StandardTextbox"/>
          <p:cNvSpPr>
            <a:spLocks noGrp="1"/>
          </p:cNvSpPr>
          <p:nvPr>
            <p:custDataLst>
              <p:tags r:id="rId18"/>
            </p:custDataLst>
          </p:nvPr>
        </p:nvSpPr>
        <p:spPr bwMode="auto">
          <a:xfrm>
            <a:off x="8456613" y="6443663"/>
            <a:ext cx="12715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BE09DF0-BBA8-40E0-8CE3-AEADAE2DC964}" type="datetime'''''''D''e''c-''19'' ''''(''Es''''''''t''im''ated'')'">
              <a:rPr lang="en-IN" altLang="en-US" b="0" smtClean="0"/>
              <a:pPr lvl="1" algn="ctr">
                <a:spcBef>
                  <a:spcPct val="0"/>
                </a:spcBef>
                <a:spcAft>
                  <a:spcPct val="0"/>
                </a:spcAft>
              </a:pPr>
              <a:t>Dec-19 (Estimated)</a:t>
            </a:fld>
            <a:endParaRPr lang="en-IN" b="0" noProof="0" dirty="0">
              <a:sym typeface="+mn-lt"/>
            </a:endParaRPr>
          </a:p>
        </p:txBody>
      </p:sp>
      <p:sp>
        <p:nvSpPr>
          <p:cNvPr id="5" name="Rectangle 4"/>
          <p:cNvSpPr/>
          <p:nvPr>
            <p:custDataLst>
              <p:tags r:id="rId19"/>
            </p:custDataLst>
          </p:nvPr>
        </p:nvSpPr>
        <p:spPr bwMode="auto">
          <a:xfrm>
            <a:off x="6170613" y="6692900"/>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 name="Rectangle 5"/>
          <p:cNvSpPr/>
          <p:nvPr>
            <p:custDataLst>
              <p:tags r:id="rId20"/>
            </p:custDataLst>
          </p:nvPr>
        </p:nvSpPr>
        <p:spPr bwMode="auto">
          <a:xfrm>
            <a:off x="8059738" y="6692900"/>
            <a:ext cx="179388" cy="133350"/>
          </a:xfrm>
          <a:prstGeom prst="rect">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2" name="StandardTextbox"/>
          <p:cNvSpPr>
            <a:spLocks noGrp="1"/>
          </p:cNvSpPr>
          <p:nvPr>
            <p:custDataLst>
              <p:tags r:id="rId21"/>
            </p:custDataLst>
          </p:nvPr>
        </p:nvSpPr>
        <p:spPr bwMode="auto">
          <a:xfrm>
            <a:off x="6400800" y="6688138"/>
            <a:ext cx="15573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7C12B52C-244D-4922-B5E4-6D1CA2B64915}" type="datetime'Re''s''''''e''''rv''es at'''' ''''S''''hah''b''''azp''ur'''">
              <a:rPr lang="en-IN" altLang="en-US" b="0" smtClean="0"/>
              <a:pPr lvl="1">
                <a:spcBef>
                  <a:spcPct val="0"/>
                </a:spcBef>
                <a:spcAft>
                  <a:spcPct val="0"/>
                </a:spcAft>
              </a:pPr>
              <a:t>Reserves at Shahbazpur</a:t>
            </a:fld>
            <a:endParaRPr lang="en-IN" b="0" noProof="0" dirty="0">
              <a:sym typeface="+mn-lt"/>
            </a:endParaRPr>
          </a:p>
        </p:txBody>
      </p:sp>
      <p:sp>
        <p:nvSpPr>
          <p:cNvPr id="23" name="StandardTextbox"/>
          <p:cNvSpPr>
            <a:spLocks noGrp="1"/>
          </p:cNvSpPr>
          <p:nvPr>
            <p:custDataLst>
              <p:tags r:id="rId22"/>
            </p:custDataLst>
          </p:nvPr>
        </p:nvSpPr>
        <p:spPr bwMode="auto">
          <a:xfrm>
            <a:off x="8289925" y="6688138"/>
            <a:ext cx="160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E9B9F011-8910-4047-A2BB-606E135FF482}" type="datetime'Re''''''ser''''ves at ''''''''''B''hol''a Nort''''''''''h '''">
              <a:rPr lang="en-IN" altLang="en-US" b="0" smtClean="0"/>
              <a:pPr lvl="1">
                <a:spcBef>
                  <a:spcPct val="0"/>
                </a:spcBef>
                <a:spcAft>
                  <a:spcPct val="0"/>
                </a:spcAft>
              </a:pPr>
              <a:t>Reserves at Bhola North </a:t>
            </a:fld>
            <a:endParaRPr lang="en-IN" b="0" noProof="0" dirty="0">
              <a:sym typeface="+mn-lt"/>
            </a:endParaRPr>
          </a:p>
        </p:txBody>
      </p:sp>
      <p:sp>
        <p:nvSpPr>
          <p:cNvPr id="7" name="Rectangle 6"/>
          <p:cNvSpPr/>
          <p:nvPr/>
        </p:nvSpPr>
        <p:spPr bwMode="gray">
          <a:xfrm>
            <a:off x="6064786" y="5024636"/>
            <a:ext cx="741461" cy="366231"/>
          </a:xfrm>
          <a:prstGeom prst="rect">
            <a:avLst/>
          </a:prstGeom>
          <a:noFill/>
          <a:ln w="19050" algn="ctr">
            <a:solidFill>
              <a:schemeClr val="accent4"/>
            </a:solidFill>
            <a:miter lim="800000"/>
            <a:headEnd/>
            <a:tailEnd/>
          </a:ln>
        </p:spPr>
        <p:txBody>
          <a:bodyPr wrap="square" lIns="36000" tIns="36000" rIns="36000" bIns="36000" rtlCol="0" anchor="ctr"/>
          <a:lstStyle/>
          <a:p>
            <a:pPr algn="ctr">
              <a:lnSpc>
                <a:spcPct val="106000"/>
              </a:lnSpc>
              <a:buFont typeface="Wingdings 2" pitchFamily="18" charset="2"/>
              <a:buNone/>
            </a:pPr>
            <a:r>
              <a:rPr lang="en-US" sz="800" b="1" i="1" dirty="0"/>
              <a:t>11 Years</a:t>
            </a:r>
            <a:endParaRPr lang="en-IN" sz="800" b="1" i="1" dirty="0"/>
          </a:p>
        </p:txBody>
      </p:sp>
      <p:sp>
        <p:nvSpPr>
          <p:cNvPr id="57" name="Rectangle 56"/>
          <p:cNvSpPr/>
          <p:nvPr/>
        </p:nvSpPr>
        <p:spPr bwMode="gray">
          <a:xfrm>
            <a:off x="7608606" y="5026054"/>
            <a:ext cx="2632358" cy="385734"/>
          </a:xfrm>
          <a:prstGeom prst="rect">
            <a:avLst/>
          </a:prstGeom>
          <a:noFill/>
          <a:ln w="19050" algn="ctr">
            <a:solidFill>
              <a:schemeClr val="accent4"/>
            </a:solidFill>
            <a:miter lim="800000"/>
            <a:headEnd/>
            <a:tailEnd/>
          </a:ln>
        </p:spPr>
        <p:txBody>
          <a:bodyPr wrap="square" lIns="36000" tIns="36000" rIns="36000" bIns="36000" rtlCol="0" anchor="ctr"/>
          <a:lstStyle/>
          <a:p>
            <a:pPr algn="ctr">
              <a:lnSpc>
                <a:spcPct val="106000"/>
              </a:lnSpc>
              <a:spcAft>
                <a:spcPts val="600"/>
              </a:spcAft>
              <a:buFont typeface="Wingdings 2" pitchFamily="18" charset="2"/>
              <a:buNone/>
            </a:pPr>
            <a:r>
              <a:rPr lang="en-US" sz="800" b="1" i="1" dirty="0"/>
              <a:t>21 Years with Shahbazpur Reserves</a:t>
            </a:r>
          </a:p>
          <a:p>
            <a:pPr algn="ctr">
              <a:lnSpc>
                <a:spcPct val="106000"/>
              </a:lnSpc>
              <a:spcAft>
                <a:spcPts val="600"/>
              </a:spcAft>
              <a:buFont typeface="Wingdings 2" pitchFamily="18" charset="2"/>
              <a:buNone/>
            </a:pPr>
            <a:r>
              <a:rPr lang="en-US" sz="800" b="1" i="1" dirty="0"/>
              <a:t>22+ Years with Additional Bhola Reserves</a:t>
            </a:r>
            <a:endParaRPr lang="en-IN" sz="800" b="1" i="1" dirty="0"/>
          </a:p>
        </p:txBody>
      </p:sp>
      <p:sp>
        <p:nvSpPr>
          <p:cNvPr id="59" name="Rectangle 58"/>
          <p:cNvSpPr/>
          <p:nvPr/>
        </p:nvSpPr>
        <p:spPr bwMode="gray">
          <a:xfrm>
            <a:off x="6170613" y="6884988"/>
            <a:ext cx="176213" cy="138113"/>
          </a:xfrm>
          <a:prstGeom prst="rect">
            <a:avLst/>
          </a:prstGeom>
          <a:noFill/>
          <a:ln w="19050" algn="ctr">
            <a:solidFill>
              <a:schemeClr val="accent4"/>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800" b="1" i="1" dirty="0"/>
          </a:p>
        </p:txBody>
      </p:sp>
      <p:sp>
        <p:nvSpPr>
          <p:cNvPr id="60" name="Rectangle 59"/>
          <p:cNvSpPr/>
          <p:nvPr/>
        </p:nvSpPr>
        <p:spPr bwMode="gray">
          <a:xfrm>
            <a:off x="6292850" y="6897688"/>
            <a:ext cx="3500438" cy="139700"/>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dirty="0"/>
              <a:t>Expected Years of Gas Availability for Nimbus Plant</a:t>
            </a:r>
            <a:endParaRPr lang="en-IN" sz="1000" dirty="0"/>
          </a:p>
        </p:txBody>
      </p:sp>
      <p:sp>
        <p:nvSpPr>
          <p:cNvPr id="10" name="Rectangle 9"/>
          <p:cNvSpPr/>
          <p:nvPr/>
        </p:nvSpPr>
        <p:spPr bwMode="gray">
          <a:xfrm>
            <a:off x="6770688" y="3078220"/>
            <a:ext cx="493200" cy="211629"/>
          </a:xfrm>
          <a:prstGeom prst="rect">
            <a:avLst/>
          </a:prstGeom>
          <a:noFill/>
          <a:ln w="19050" algn="ctr">
            <a:solidFill>
              <a:schemeClr val="accent5"/>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800" b="1" dirty="0"/>
              <a:t>FY22</a:t>
            </a:r>
            <a:endParaRPr lang="en-IN" sz="800" b="1" dirty="0"/>
          </a:p>
        </p:txBody>
      </p:sp>
      <p:sp>
        <p:nvSpPr>
          <p:cNvPr id="68" name="Rectangle 67"/>
          <p:cNvSpPr/>
          <p:nvPr/>
        </p:nvSpPr>
        <p:spPr bwMode="gray">
          <a:xfrm>
            <a:off x="7702567" y="3072359"/>
            <a:ext cx="493200" cy="211629"/>
          </a:xfrm>
          <a:prstGeom prst="rect">
            <a:avLst/>
          </a:prstGeom>
          <a:noFill/>
          <a:ln w="19050" algn="ctr">
            <a:solidFill>
              <a:schemeClr val="accent5"/>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800" b="1" dirty="0"/>
              <a:t>FY22</a:t>
            </a:r>
            <a:endParaRPr lang="en-IN" sz="800" b="1" dirty="0"/>
          </a:p>
        </p:txBody>
      </p:sp>
      <p:sp>
        <p:nvSpPr>
          <p:cNvPr id="69" name="Rectangle 68"/>
          <p:cNvSpPr/>
          <p:nvPr/>
        </p:nvSpPr>
        <p:spPr bwMode="gray">
          <a:xfrm>
            <a:off x="5869325" y="3079319"/>
            <a:ext cx="493200" cy="211629"/>
          </a:xfrm>
          <a:prstGeom prst="rect">
            <a:avLst/>
          </a:prstGeom>
          <a:noFill/>
          <a:ln w="19050" algn="ctr">
            <a:solidFill>
              <a:schemeClr val="accent5"/>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800" b="1" dirty="0"/>
              <a:t>FY37</a:t>
            </a:r>
            <a:endParaRPr lang="en-IN" sz="800" b="1" dirty="0"/>
          </a:p>
        </p:txBody>
      </p:sp>
      <p:sp>
        <p:nvSpPr>
          <p:cNvPr id="73" name="Rectangle 72"/>
          <p:cNvSpPr/>
          <p:nvPr/>
        </p:nvSpPr>
        <p:spPr bwMode="gray">
          <a:xfrm>
            <a:off x="6984797" y="4336300"/>
            <a:ext cx="124732" cy="111130"/>
          </a:xfrm>
          <a:prstGeom prst="rect">
            <a:avLst/>
          </a:prstGeom>
          <a:noFill/>
          <a:ln w="19050" algn="ctr">
            <a:solidFill>
              <a:schemeClr val="accent5"/>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800" b="1" dirty="0"/>
          </a:p>
        </p:txBody>
      </p:sp>
      <p:sp>
        <p:nvSpPr>
          <p:cNvPr id="74" name="Rectangle 73"/>
          <p:cNvSpPr/>
          <p:nvPr/>
        </p:nvSpPr>
        <p:spPr bwMode="gray">
          <a:xfrm>
            <a:off x="7166969" y="4329369"/>
            <a:ext cx="1677588" cy="129721"/>
          </a:xfrm>
          <a:prstGeom prst="rect">
            <a:avLst/>
          </a:prstGeom>
          <a:no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900" dirty="0"/>
              <a:t>Estimated year of retirement</a:t>
            </a:r>
            <a:endParaRPr lang="en-IN" sz="900" dirty="0"/>
          </a:p>
        </p:txBody>
      </p:sp>
      <p:sp>
        <p:nvSpPr>
          <p:cNvPr id="8" name="Rounded Rectangular Callout 7"/>
          <p:cNvSpPr/>
          <p:nvPr/>
        </p:nvSpPr>
        <p:spPr bwMode="gray">
          <a:xfrm>
            <a:off x="7166969" y="2622176"/>
            <a:ext cx="3034032" cy="408651"/>
          </a:xfrm>
          <a:prstGeom prst="wedgeRoundRectCallout">
            <a:avLst>
              <a:gd name="adj1" fmla="val 24924"/>
              <a:gd name="adj2" fmla="val 76660"/>
              <a:gd name="adj3" fmla="val 16667"/>
            </a:avLst>
          </a:prstGeom>
          <a:solidFill>
            <a:schemeClr val="bg1">
              <a:lumMod val="9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800" dirty="0"/>
              <a:t>The GoB has also planned an EPZ in Bhola which may further increase the gas requirement of the island. However, it is currently in the initial planning stages</a:t>
            </a:r>
            <a:endParaRPr lang="en-IN" sz="800" dirty="0"/>
          </a:p>
        </p:txBody>
      </p:sp>
    </p:spTree>
    <p:extLst>
      <p:ext uri="{BB962C8B-B14F-4D97-AF65-F5344CB8AC3E}">
        <p14:creationId xmlns:p14="http://schemas.microsoft.com/office/powerpoint/2010/main" val="2471992910"/>
      </p:ext>
    </p:extLst>
  </p:cSld>
  <p:clrMapOvr>
    <a:masterClrMapping/>
  </p:clrMapOvr>
  <p:transition>
    <p:fade/>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Object 20" hidden="1"/>
          <p:cNvGraphicFramePr>
            <a:graphicFrameLocks noChangeAspect="1"/>
          </p:cNvGraphicFramePr>
          <p:nvPr>
            <p:custDataLst>
              <p:tags r:id="rId1"/>
            </p:custDataLst>
            <p:extLst>
              <p:ext uri="{D42A27DB-BD31-4B8C-83A1-F6EECF244321}">
                <p14:modId xmlns:p14="http://schemas.microsoft.com/office/powerpoint/2010/main" val="63247093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3" imgW="530" imgH="531" progId="TCLayout.ActiveDocument.1">
                  <p:embed/>
                </p:oleObj>
              </mc:Choice>
              <mc:Fallback>
                <p:oleObj name="think-cell Slide" r:id="rId13" imgW="530" imgH="531" progId="TCLayout.ActiveDocument.1">
                  <p:embed/>
                  <p:pic>
                    <p:nvPicPr>
                      <p:cNvPr id="21" name="Object 20" hidden="1"/>
                      <p:cNvPicPr/>
                      <p:nvPr/>
                    </p:nvPicPr>
                    <p:blipFill>
                      <a:blip r:embed="rId14"/>
                      <a:stretch>
                        <a:fillRect/>
                      </a:stretch>
                    </p:blipFill>
                    <p:spPr>
                      <a:xfrm>
                        <a:off x="1588" y="1588"/>
                        <a:ext cx="1588" cy="1588"/>
                      </a:xfrm>
                      <a:prstGeom prst="rect">
                        <a:avLst/>
                      </a:prstGeom>
                    </p:spPr>
                  </p:pic>
                </p:oleObj>
              </mc:Fallback>
            </mc:AlternateContent>
          </a:graphicData>
        </a:graphic>
      </p:graphicFrame>
      <p:sp>
        <p:nvSpPr>
          <p:cNvPr id="18" name="Rectangle 17"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defRPr/>
            </a:pPr>
            <a:endParaRPr kumimoji="0" lang="en-IN" sz="1000" u="none" strike="noStrike" kern="1200" cap="none" spc="0" normalizeH="0" noProof="0" dirty="0">
              <a:ln>
                <a:noFill/>
              </a:ln>
              <a:solidFill>
                <a:prstClr val="white"/>
              </a:solidFill>
              <a:effectLst/>
              <a:uLnTx/>
              <a:uFillTx/>
              <a:sym typeface="+mn-lt"/>
            </a:endParaRPr>
          </a:p>
        </p:txBody>
      </p:sp>
      <p:cxnSp>
        <p:nvCxnSpPr>
          <p:cNvPr id="19" name="Straight Connector 18"/>
          <p:cNvCxnSpPr>
            <a:stCxn id="13" idx="0"/>
            <a:endCxn id="17" idx="4"/>
          </p:cNvCxnSpPr>
          <p:nvPr/>
        </p:nvCxnSpPr>
        <p:spPr>
          <a:xfrm>
            <a:off x="6483972" y="2398910"/>
            <a:ext cx="0" cy="2084747"/>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p>
            <a:r>
              <a:rPr lang="en-US" dirty="0"/>
              <a:t>Gas Supply Outlook (Demand Scenario Analysis)</a:t>
            </a:r>
            <a:endParaRPr lang="en-IN" dirty="0"/>
          </a:p>
        </p:txBody>
      </p:sp>
      <p:sp>
        <p:nvSpPr>
          <p:cNvPr id="3"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 Aggreko 95 MW and Venture 35 MW plants are expected to be retired after FY22; In case these plants get extensions, then the gas reserves at Shahbazpur field would be able to supply gas for</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only ~16 years</a:t>
            </a:r>
            <a:endPar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7" name="Table 6"/>
          <p:cNvGraphicFramePr>
            <a:graphicFrameLocks noGrp="1"/>
          </p:cNvGraphicFramePr>
          <p:nvPr>
            <p:custDataLst>
              <p:tags r:id="rId3"/>
            </p:custDataLst>
            <p:extLst>
              <p:ext uri="{D42A27DB-BD31-4B8C-83A1-F6EECF244321}">
                <p14:modId xmlns:p14="http://schemas.microsoft.com/office/powerpoint/2010/main" val="3567895644"/>
              </p:ext>
            </p:extLst>
          </p:nvPr>
        </p:nvGraphicFramePr>
        <p:xfrm>
          <a:off x="449993" y="1961918"/>
          <a:ext cx="4734896" cy="3771694"/>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3501079">
                <a:tc>
                  <a:txBody>
                    <a:bodyPr/>
                    <a:lstStyle/>
                    <a:p>
                      <a:pPr marL="0" indent="0" algn="just">
                        <a:spcBef>
                          <a:spcPts val="600"/>
                        </a:spcBef>
                        <a:spcAft>
                          <a:spcPts val="600"/>
                        </a:spcAft>
                        <a:buFont typeface="Arial" panose="020B0604020202020204" pitchFamily="34" charset="0"/>
                        <a:buNone/>
                      </a:pPr>
                      <a:r>
                        <a:rPr lang="en-US" sz="1000" b="1" baseline="0" dirty="0">
                          <a:solidFill>
                            <a:schemeClr val="tx1"/>
                          </a:solidFill>
                        </a:rPr>
                        <a:t>Overview</a:t>
                      </a:r>
                    </a:p>
                    <a:p>
                      <a:pPr marL="171450" indent="-171450" algn="just">
                        <a:lnSpc>
                          <a:spcPct val="114000"/>
                        </a:lnSpc>
                        <a:spcBef>
                          <a:spcPts val="0"/>
                        </a:spcBef>
                        <a:spcAft>
                          <a:spcPts val="600"/>
                        </a:spcAft>
                        <a:buFont typeface="Arial" panose="020B0604020202020204" pitchFamily="34" charset="0"/>
                        <a:buChar char="•"/>
                      </a:pPr>
                      <a:r>
                        <a:rPr lang="en-US" sz="1000" b="0" baseline="0" dirty="0">
                          <a:solidFill>
                            <a:schemeClr val="tx1"/>
                          </a:solidFill>
                        </a:rPr>
                        <a:t>Aggreko 95 MW Bhola plant commenced operations in 2011 in Bangladesh and is currently operational from Bhola Island after a tenure extension from GoB with PPA expiry in FY22</a:t>
                      </a:r>
                    </a:p>
                    <a:p>
                      <a:pPr marL="171450" indent="-171450" algn="just">
                        <a:lnSpc>
                          <a:spcPct val="114000"/>
                        </a:lnSpc>
                        <a:spcBef>
                          <a:spcPts val="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Similarly the Venture 33 MW has also received multiple tenure extensions by GoB with the PPA expected to expire during FY22</a:t>
                      </a:r>
                    </a:p>
                    <a:p>
                      <a:pPr marL="171450" indent="-171450" algn="just">
                        <a:lnSpc>
                          <a:spcPct val="114000"/>
                        </a:lnSpc>
                        <a:spcBef>
                          <a:spcPts val="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Both these plants together require ~0.27 BCM (26 MMSCFD) of gas annually</a:t>
                      </a:r>
                    </a:p>
                    <a:p>
                      <a:pPr marL="171450" indent="-171450" algn="just">
                        <a:lnSpc>
                          <a:spcPct val="114000"/>
                        </a:lnSpc>
                        <a:spcBef>
                          <a:spcPts val="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Considering that both plants would be over 10 years of age by the time they reach FY22, </a:t>
                      </a:r>
                      <a:r>
                        <a:rPr lang="en-US" sz="1000" b="1" kern="1200" baseline="0" dirty="0">
                          <a:solidFill>
                            <a:schemeClr val="tx1"/>
                          </a:solidFill>
                          <a:latin typeface="+mn-lt"/>
                          <a:ea typeface="+mn-ea"/>
                          <a:cs typeface="+mn-cs"/>
                        </a:rPr>
                        <a:t>we do not expect further extension </a:t>
                      </a:r>
                      <a:r>
                        <a:rPr lang="en-US" sz="1000" b="0" kern="1200" baseline="0" dirty="0">
                          <a:solidFill>
                            <a:schemeClr val="tx1"/>
                          </a:solidFill>
                          <a:latin typeface="+mn-lt"/>
                          <a:ea typeface="+mn-ea"/>
                          <a:cs typeface="+mn-cs"/>
                        </a:rPr>
                        <a:t>(as per market sources)</a:t>
                      </a:r>
                      <a:r>
                        <a:rPr lang="en-US" sz="1000" b="1" kern="1200" baseline="0" dirty="0">
                          <a:solidFill>
                            <a:schemeClr val="tx1"/>
                          </a:solidFill>
                          <a:latin typeface="+mn-lt"/>
                          <a:ea typeface="+mn-ea"/>
                          <a:cs typeface="+mn-cs"/>
                        </a:rPr>
                        <a:t> </a:t>
                      </a:r>
                      <a:r>
                        <a:rPr lang="en-US" sz="1000" b="0" kern="1200" baseline="0" dirty="0">
                          <a:solidFill>
                            <a:schemeClr val="tx1"/>
                          </a:solidFill>
                          <a:latin typeface="+mn-lt"/>
                          <a:ea typeface="+mn-ea"/>
                          <a:cs typeface="+mn-cs"/>
                        </a:rPr>
                        <a:t>of the PPAs for the plant with the Nimbus plant being sufficient to replace the dispatch levels from these plants</a:t>
                      </a:r>
                    </a:p>
                    <a:p>
                      <a:pPr marL="171450" indent="-171450" algn="just">
                        <a:lnSpc>
                          <a:spcPct val="114000"/>
                        </a:lnSpc>
                        <a:spcBef>
                          <a:spcPts val="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However </a:t>
                      </a:r>
                      <a:r>
                        <a:rPr lang="en-US" sz="1000" b="1" i="1" kern="1200" baseline="0" dirty="0">
                          <a:solidFill>
                            <a:schemeClr val="tx1"/>
                          </a:solidFill>
                          <a:latin typeface="+mn-lt"/>
                          <a:ea typeface="+mn-ea"/>
                          <a:cs typeface="+mn-cs"/>
                        </a:rPr>
                        <a:t>in case these plants do get PPA extensions (5 Years till FY27), then the gas reserves (BCF) at Bhola Island would have to supply to the plants affecting the overall availability of gas for Nimbus as follows</a:t>
                      </a:r>
                      <a:r>
                        <a:rPr lang="en-US" sz="1000" b="0" kern="1200" baseline="0" dirty="0">
                          <a:solidFill>
                            <a:schemeClr val="tx1"/>
                          </a:solidFill>
                          <a:latin typeface="+mn-lt"/>
                          <a:ea typeface="+mn-ea"/>
                          <a:cs typeface="+mn-cs"/>
                        </a:rPr>
                        <a:t>:</a:t>
                      </a:r>
                    </a:p>
                    <a:p>
                      <a:pPr marL="171450" indent="-171450" algn="just">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txBody>
                  <a:tcPr marL="107998" marT="107998">
                    <a:lnL w="12700" cmpd="sng">
                      <a:solidFill>
                        <a:schemeClr val="lt1"/>
                      </a:solidFill>
                    </a:lnL>
                    <a:lnR w="12700" cmpd="sng">
                      <a:solidFill>
                        <a:schemeClr val="lt1"/>
                      </a:solidFill>
                    </a:lnR>
                    <a:lnT w="38100" cmpd="sng">
                      <a:solidFill>
                        <a:srgbClr val="86BC25"/>
                      </a:solidFill>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graphicFrame>
        <p:nvGraphicFramePr>
          <p:cNvPr id="8" name="Table 7"/>
          <p:cNvGraphicFramePr>
            <a:graphicFrameLocks noGrp="1"/>
          </p:cNvGraphicFramePr>
          <p:nvPr>
            <p:custDataLst>
              <p:tags r:id="rId4"/>
            </p:custDataLst>
            <p:extLst>
              <p:ext uri="{D42A27DB-BD31-4B8C-83A1-F6EECF244321}">
                <p14:modId xmlns:p14="http://schemas.microsoft.com/office/powerpoint/2010/main" val="1960445222"/>
              </p:ext>
            </p:extLst>
          </p:nvPr>
        </p:nvGraphicFramePr>
        <p:xfrm>
          <a:off x="5506068" y="1961919"/>
          <a:ext cx="4734896" cy="30493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423472">
                <a:tc>
                  <a:txBody>
                    <a:bodyPr/>
                    <a:lstStyle/>
                    <a:p>
                      <a:pPr marL="171450" indent="-171450" algn="just" defTabSz="990571" rtl="0" eaLnBrk="1" latinLnBrk="0" hangingPunct="1">
                        <a:spcBef>
                          <a:spcPts val="60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Following chart highlights PPA extensions for Aggreko 95 MW plant</a:t>
                      </a: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marR="0" lvl="0" indent="-171450" algn="just" defTabSz="990571" rtl="0" eaLnBrk="1" fontAlgn="auto" latinLnBrk="0" hangingPunct="1">
                        <a:lnSpc>
                          <a:spcPct val="100000"/>
                        </a:lnSpc>
                        <a:spcBef>
                          <a:spcPts val="600"/>
                        </a:spcBef>
                        <a:spcAft>
                          <a:spcPts val="6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Following chart highlights major changes for Bhola 33 MW Plant</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0" name="Table 9"/>
          <p:cNvGraphicFramePr>
            <a:graphicFrameLocks noGrp="1"/>
          </p:cNvGraphicFramePr>
          <p:nvPr>
            <p:extLst>
              <p:ext uri="{D42A27DB-BD31-4B8C-83A1-F6EECF244321}">
                <p14:modId xmlns:p14="http://schemas.microsoft.com/office/powerpoint/2010/main" val="3855868209"/>
              </p:ext>
            </p:extLst>
          </p:nvPr>
        </p:nvGraphicFramePr>
        <p:xfrm>
          <a:off x="5578717" y="2385391"/>
          <a:ext cx="4662247" cy="2105496"/>
        </p:xfrm>
        <a:graphic>
          <a:graphicData uri="http://schemas.openxmlformats.org/drawingml/2006/table">
            <a:tbl>
              <a:tblPr>
                <a:tableStyleId>{2D5ABB26-0587-4C30-8999-92F81FD0307C}</a:tableStyleId>
              </a:tblPr>
              <a:tblGrid>
                <a:gridCol w="1179892">
                  <a:extLst>
                    <a:ext uri="{9D8B030D-6E8A-4147-A177-3AD203B41FA5}">
                      <a16:colId xmlns:a16="http://schemas.microsoft.com/office/drawing/2014/main" val="1263724860"/>
                    </a:ext>
                  </a:extLst>
                </a:gridCol>
                <a:gridCol w="3482355">
                  <a:extLst>
                    <a:ext uri="{9D8B030D-6E8A-4147-A177-3AD203B41FA5}">
                      <a16:colId xmlns:a16="http://schemas.microsoft.com/office/drawing/2014/main" val="3911668136"/>
                    </a:ext>
                  </a:extLst>
                </a:gridCol>
              </a:tblGrid>
              <a:tr h="313014">
                <a:tc>
                  <a:txBody>
                    <a:bodyPr/>
                    <a:lstStyle/>
                    <a:p>
                      <a:r>
                        <a:rPr lang="en-US" sz="1200" b="1" dirty="0"/>
                        <a:t>2011</a:t>
                      </a:r>
                      <a:endParaRPr lang="en-IN" sz="1200" b="1" dirty="0"/>
                    </a:p>
                  </a:txBody>
                  <a:tcPr anchor="ctr"/>
                </a:tc>
                <a:tc>
                  <a:txBody>
                    <a:bodyPr/>
                    <a:lstStyle/>
                    <a:p>
                      <a:pPr algn="l"/>
                      <a:r>
                        <a:rPr lang="en-US" sz="1000" dirty="0"/>
                        <a:t>Aggreko</a:t>
                      </a:r>
                      <a:r>
                        <a:rPr lang="en-US" sz="1000" baseline="0" dirty="0"/>
                        <a:t> 95 MW Ashuganj commences operations</a:t>
                      </a:r>
                      <a:endParaRPr lang="en-IN" sz="1000" b="0" dirty="0"/>
                    </a:p>
                  </a:txBody>
                  <a:tcPr anchor="ctr"/>
                </a:tc>
                <a:extLst>
                  <a:ext uri="{0D108BD9-81ED-4DB2-BD59-A6C34878D82A}">
                    <a16:rowId xmlns:a16="http://schemas.microsoft.com/office/drawing/2014/main" val="2630399598"/>
                  </a:ext>
                </a:extLst>
              </a:tr>
              <a:tr h="313014">
                <a:tc>
                  <a:txBody>
                    <a:bodyPr/>
                    <a:lstStyle/>
                    <a:p>
                      <a:r>
                        <a:rPr lang="en-US" sz="1200" b="1" dirty="0"/>
                        <a:t>2015</a:t>
                      </a:r>
                      <a:endParaRPr lang="en-IN" sz="1200" b="1" dirty="0"/>
                    </a:p>
                  </a:txBody>
                  <a:tcPr anchor="ctr"/>
                </a:tc>
                <a:tc>
                  <a:txBody>
                    <a:bodyPr/>
                    <a:lstStyle/>
                    <a:p>
                      <a:pPr algn="l"/>
                      <a:r>
                        <a:rPr lang="en-US" sz="1000" dirty="0"/>
                        <a:t>Contract extended for 1 year</a:t>
                      </a:r>
                      <a:endParaRPr lang="en-IN" sz="1000" dirty="0"/>
                    </a:p>
                  </a:txBody>
                  <a:tcPr anchor="ctr"/>
                </a:tc>
                <a:extLst>
                  <a:ext uri="{0D108BD9-81ED-4DB2-BD59-A6C34878D82A}">
                    <a16:rowId xmlns:a16="http://schemas.microsoft.com/office/drawing/2014/main" val="34025633"/>
                  </a:ext>
                </a:extLst>
              </a:tr>
              <a:tr h="313014">
                <a:tc>
                  <a:txBody>
                    <a:bodyPr/>
                    <a:lstStyle/>
                    <a:p>
                      <a:r>
                        <a:rPr lang="en-US" sz="1200" b="1" dirty="0"/>
                        <a:t>2016</a:t>
                      </a:r>
                    </a:p>
                  </a:txBody>
                  <a:tcPr anchor="ctr"/>
                </a:tc>
                <a:tc>
                  <a:txBody>
                    <a:bodyPr/>
                    <a:lstStyle/>
                    <a:p>
                      <a:pPr algn="l"/>
                      <a:r>
                        <a:rPr lang="en-US" sz="1000" dirty="0"/>
                        <a:t>Contract</a:t>
                      </a:r>
                      <a:r>
                        <a:rPr lang="en-US" sz="1000" baseline="0" dirty="0"/>
                        <a:t> expired; Proposal to shift plant to Bhola</a:t>
                      </a:r>
                      <a:endParaRPr lang="en-IN" sz="1000" dirty="0"/>
                    </a:p>
                  </a:txBody>
                  <a:tcPr anchor="ctr"/>
                </a:tc>
                <a:extLst>
                  <a:ext uri="{0D108BD9-81ED-4DB2-BD59-A6C34878D82A}">
                    <a16:rowId xmlns:a16="http://schemas.microsoft.com/office/drawing/2014/main" val="3662874574"/>
                  </a:ext>
                </a:extLst>
              </a:tr>
              <a:tr h="591724">
                <a:tc>
                  <a:txBody>
                    <a:bodyPr/>
                    <a:lstStyle/>
                    <a:p>
                      <a:r>
                        <a:rPr lang="en-US" sz="1200" b="1" dirty="0"/>
                        <a:t>2017</a:t>
                      </a:r>
                      <a:endParaRPr lang="en-IN" sz="1200" b="1" dirty="0"/>
                    </a:p>
                  </a:txBody>
                  <a:tcPr anchor="ctr"/>
                </a:tc>
                <a:tc>
                  <a:txBody>
                    <a:bodyPr/>
                    <a:lstStyle/>
                    <a:p>
                      <a:pPr algn="l"/>
                      <a:r>
                        <a:rPr lang="en-US" sz="1000" dirty="0"/>
                        <a:t>Proposal</a:t>
                      </a:r>
                      <a:r>
                        <a:rPr lang="en-US" sz="1000" baseline="0" dirty="0"/>
                        <a:t> sent back by Power Division; capacity payment to be lowered from 14 to 13 USD/unit/month</a:t>
                      </a:r>
                    </a:p>
                    <a:p>
                      <a:pPr algn="l"/>
                      <a:r>
                        <a:rPr lang="en-US" sz="1000" baseline="0" dirty="0"/>
                        <a:t>Additionally, tenure to be changed from 3 to 4 years</a:t>
                      </a:r>
                      <a:endParaRPr lang="en-IN" sz="1000" dirty="0"/>
                    </a:p>
                  </a:txBody>
                  <a:tcPr anchor="ctr"/>
                </a:tc>
                <a:extLst>
                  <a:ext uri="{0D108BD9-81ED-4DB2-BD59-A6C34878D82A}">
                    <a16:rowId xmlns:a16="http://schemas.microsoft.com/office/drawing/2014/main" val="3323064097"/>
                  </a:ext>
                </a:extLst>
              </a:tr>
              <a:tr h="313014">
                <a:tc>
                  <a:txBody>
                    <a:bodyPr/>
                    <a:lstStyle/>
                    <a:p>
                      <a:r>
                        <a:rPr lang="en-US" sz="1200" b="1" dirty="0"/>
                        <a:t>2018</a:t>
                      </a:r>
                      <a:endParaRPr lang="en-IN" sz="1200" b="1" dirty="0"/>
                    </a:p>
                  </a:txBody>
                  <a:tcPr anchor="ctr"/>
                </a:tc>
                <a:tc>
                  <a:txBody>
                    <a:bodyPr/>
                    <a:lstStyle/>
                    <a:p>
                      <a:pPr algn="l"/>
                      <a:r>
                        <a:rPr lang="en-US" sz="1000" dirty="0"/>
                        <a:t>Aggreko</a:t>
                      </a:r>
                      <a:r>
                        <a:rPr lang="en-US" sz="1000" baseline="0" dirty="0"/>
                        <a:t> Bhola 95 MW commences operations</a:t>
                      </a:r>
                      <a:endParaRPr lang="en-IN" sz="1000" dirty="0"/>
                    </a:p>
                  </a:txBody>
                  <a:tcPr anchor="ctr"/>
                </a:tc>
                <a:extLst>
                  <a:ext uri="{0D108BD9-81ED-4DB2-BD59-A6C34878D82A}">
                    <a16:rowId xmlns:a16="http://schemas.microsoft.com/office/drawing/2014/main" val="1614675303"/>
                  </a:ext>
                </a:extLst>
              </a:tr>
            </a:tbl>
          </a:graphicData>
        </a:graphic>
      </p:graphicFrame>
      <p:sp>
        <p:nvSpPr>
          <p:cNvPr id="13" name="Oval 12"/>
          <p:cNvSpPr/>
          <p:nvPr/>
        </p:nvSpPr>
        <p:spPr bwMode="gray">
          <a:xfrm>
            <a:off x="6344824" y="2398910"/>
            <a:ext cx="278296" cy="278296"/>
          </a:xfrm>
          <a:prstGeom prst="ellipse">
            <a:avLst/>
          </a:prstGeom>
          <a:solidFill>
            <a:schemeClr val="accent1">
              <a:lumMod val="20000"/>
              <a:lumOff val="80000"/>
            </a:schemeClr>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4" name="Oval 13"/>
          <p:cNvSpPr/>
          <p:nvPr/>
        </p:nvSpPr>
        <p:spPr bwMode="gray">
          <a:xfrm>
            <a:off x="6344824" y="2727776"/>
            <a:ext cx="278296" cy="278296"/>
          </a:xfrm>
          <a:prstGeom prst="ellipse">
            <a:avLst/>
          </a:prstGeom>
          <a:solidFill>
            <a:schemeClr val="accent1">
              <a:lumMod val="40000"/>
              <a:lumOff val="60000"/>
            </a:schemeClr>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5" name="Oval 14"/>
          <p:cNvSpPr/>
          <p:nvPr/>
        </p:nvSpPr>
        <p:spPr bwMode="gray">
          <a:xfrm>
            <a:off x="6344824" y="3056642"/>
            <a:ext cx="278296" cy="278296"/>
          </a:xfrm>
          <a:prstGeom prst="ellipse">
            <a:avLst/>
          </a:prstGeom>
          <a:solidFill>
            <a:schemeClr val="accent1">
              <a:lumMod val="60000"/>
              <a:lumOff val="40000"/>
            </a:schemeClr>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6" name="Oval 15"/>
          <p:cNvSpPr/>
          <p:nvPr/>
        </p:nvSpPr>
        <p:spPr bwMode="gray">
          <a:xfrm>
            <a:off x="6344824" y="3627824"/>
            <a:ext cx="278296" cy="278296"/>
          </a:xfrm>
          <a:prstGeom prst="ellipse">
            <a:avLst/>
          </a:prstGeom>
          <a:solidFill>
            <a:schemeClr val="accent1">
              <a:lumMod val="75000"/>
            </a:schemeClr>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7" name="Oval 16"/>
          <p:cNvSpPr/>
          <p:nvPr/>
        </p:nvSpPr>
        <p:spPr bwMode="gray">
          <a:xfrm>
            <a:off x="6344824" y="4205361"/>
            <a:ext cx="278296" cy="278296"/>
          </a:xfrm>
          <a:prstGeom prst="ellipse">
            <a:avLst/>
          </a:prstGeom>
          <a:solidFill>
            <a:schemeClr val="accent1">
              <a:lumMod val="50000"/>
            </a:schemeClr>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graphicFrame>
        <p:nvGraphicFramePr>
          <p:cNvPr id="44" name="Table 43"/>
          <p:cNvGraphicFramePr>
            <a:graphicFrameLocks noGrp="1"/>
          </p:cNvGraphicFramePr>
          <p:nvPr>
            <p:extLst>
              <p:ext uri="{D42A27DB-BD31-4B8C-83A1-F6EECF244321}">
                <p14:modId xmlns:p14="http://schemas.microsoft.com/office/powerpoint/2010/main" val="1803612884"/>
              </p:ext>
            </p:extLst>
          </p:nvPr>
        </p:nvGraphicFramePr>
        <p:xfrm>
          <a:off x="5578717" y="5032822"/>
          <a:ext cx="4662247" cy="1857846"/>
        </p:xfrm>
        <a:graphic>
          <a:graphicData uri="http://schemas.openxmlformats.org/drawingml/2006/table">
            <a:tbl>
              <a:tblPr>
                <a:tableStyleId>{2D5ABB26-0587-4C30-8999-92F81FD0307C}</a:tableStyleId>
              </a:tblPr>
              <a:tblGrid>
                <a:gridCol w="1179892">
                  <a:extLst>
                    <a:ext uri="{9D8B030D-6E8A-4147-A177-3AD203B41FA5}">
                      <a16:colId xmlns:a16="http://schemas.microsoft.com/office/drawing/2014/main" val="1263724860"/>
                    </a:ext>
                  </a:extLst>
                </a:gridCol>
                <a:gridCol w="3482355">
                  <a:extLst>
                    <a:ext uri="{9D8B030D-6E8A-4147-A177-3AD203B41FA5}">
                      <a16:colId xmlns:a16="http://schemas.microsoft.com/office/drawing/2014/main" val="3911668136"/>
                    </a:ext>
                  </a:extLst>
                </a:gridCol>
              </a:tblGrid>
              <a:tr h="427880">
                <a:tc>
                  <a:txBody>
                    <a:bodyPr/>
                    <a:lstStyle/>
                    <a:p>
                      <a:r>
                        <a:rPr lang="en-US" sz="1200" b="1" dirty="0"/>
                        <a:t>2009</a:t>
                      </a:r>
                      <a:endParaRPr lang="en-IN" sz="1200" b="1" dirty="0"/>
                    </a:p>
                  </a:txBody>
                  <a:tcPr anchor="ctr"/>
                </a:tc>
                <a:tc>
                  <a:txBody>
                    <a:bodyPr/>
                    <a:lstStyle/>
                    <a:p>
                      <a:pPr algn="l"/>
                      <a:r>
                        <a:rPr lang="en-US" sz="1000" dirty="0"/>
                        <a:t>Venture</a:t>
                      </a:r>
                      <a:r>
                        <a:rPr lang="en-US" sz="1000" baseline="0" dirty="0"/>
                        <a:t> Power Plant commences operation</a:t>
                      </a:r>
                      <a:endParaRPr lang="en-IN" sz="1000" b="0" dirty="0"/>
                    </a:p>
                  </a:txBody>
                  <a:tcPr anchor="ctr"/>
                </a:tc>
                <a:extLst>
                  <a:ext uri="{0D108BD9-81ED-4DB2-BD59-A6C34878D82A}">
                    <a16:rowId xmlns:a16="http://schemas.microsoft.com/office/drawing/2014/main" val="2630399598"/>
                  </a:ext>
                </a:extLst>
              </a:tr>
              <a:tr h="427880">
                <a:tc>
                  <a:txBody>
                    <a:bodyPr/>
                    <a:lstStyle/>
                    <a:p>
                      <a:r>
                        <a:rPr lang="en-US" sz="1200" b="1" dirty="0"/>
                        <a:t>2012</a:t>
                      </a:r>
                      <a:endParaRPr lang="en-IN" sz="1200" b="1" dirty="0"/>
                    </a:p>
                  </a:txBody>
                  <a:tcPr anchor="ctr"/>
                </a:tc>
                <a:tc>
                  <a:txBody>
                    <a:bodyPr/>
                    <a:lstStyle/>
                    <a:p>
                      <a:pPr algn="l"/>
                      <a:r>
                        <a:rPr lang="en-US" sz="1000" dirty="0"/>
                        <a:t>Tenure Extended for 3 more</a:t>
                      </a:r>
                      <a:r>
                        <a:rPr lang="en-US" sz="1000" baseline="0" dirty="0"/>
                        <a:t> years</a:t>
                      </a:r>
                      <a:endParaRPr lang="en-IN" sz="1000" dirty="0"/>
                    </a:p>
                  </a:txBody>
                  <a:tcPr anchor="ctr"/>
                </a:tc>
                <a:extLst>
                  <a:ext uri="{0D108BD9-81ED-4DB2-BD59-A6C34878D82A}">
                    <a16:rowId xmlns:a16="http://schemas.microsoft.com/office/drawing/2014/main" val="34025633"/>
                  </a:ext>
                </a:extLst>
              </a:tr>
              <a:tr h="427880">
                <a:tc>
                  <a:txBody>
                    <a:bodyPr/>
                    <a:lstStyle/>
                    <a:p>
                      <a:r>
                        <a:rPr lang="en-US" sz="1200" b="1" dirty="0"/>
                        <a:t>2016</a:t>
                      </a:r>
                    </a:p>
                  </a:txBody>
                  <a:tcPr anchor="ctr"/>
                </a:tc>
                <a:tc>
                  <a:txBody>
                    <a:bodyPr/>
                    <a:lstStyle/>
                    <a:p>
                      <a:pPr algn="l"/>
                      <a:r>
                        <a:rPr lang="en-US" sz="1000" dirty="0"/>
                        <a:t>Tenure Extended</a:t>
                      </a:r>
                      <a:r>
                        <a:rPr lang="en-US" sz="1000" baseline="0" dirty="0"/>
                        <a:t> for 2 years</a:t>
                      </a:r>
                      <a:endParaRPr lang="en-IN" sz="1000" dirty="0"/>
                    </a:p>
                  </a:txBody>
                  <a:tcPr anchor="ctr"/>
                </a:tc>
                <a:extLst>
                  <a:ext uri="{0D108BD9-81ED-4DB2-BD59-A6C34878D82A}">
                    <a16:rowId xmlns:a16="http://schemas.microsoft.com/office/drawing/2014/main" val="3662874574"/>
                  </a:ext>
                </a:extLst>
              </a:tr>
              <a:tr h="574206">
                <a:tc>
                  <a:txBody>
                    <a:bodyPr/>
                    <a:lstStyle/>
                    <a:p>
                      <a:r>
                        <a:rPr lang="en-US" sz="1200" b="1" dirty="0"/>
                        <a:t>2018</a:t>
                      </a:r>
                      <a:endParaRPr lang="en-IN" sz="1200" b="1" dirty="0"/>
                    </a:p>
                  </a:txBody>
                  <a:tcPr anchor="ctr"/>
                </a:tc>
                <a:tc>
                  <a:txBody>
                    <a:bodyPr/>
                    <a:lstStyle/>
                    <a:p>
                      <a:pPr algn="l"/>
                      <a:r>
                        <a:rPr lang="en-US" sz="1000" dirty="0"/>
                        <a:t>Tenure extended</a:t>
                      </a:r>
                      <a:r>
                        <a:rPr lang="en-US" sz="1000" baseline="0" dirty="0"/>
                        <a:t> by 3 more years</a:t>
                      </a:r>
                      <a:endParaRPr lang="en-IN" sz="1000" dirty="0"/>
                    </a:p>
                  </a:txBody>
                  <a:tcPr anchor="ctr"/>
                </a:tc>
                <a:extLst>
                  <a:ext uri="{0D108BD9-81ED-4DB2-BD59-A6C34878D82A}">
                    <a16:rowId xmlns:a16="http://schemas.microsoft.com/office/drawing/2014/main" val="3323064097"/>
                  </a:ext>
                </a:extLst>
              </a:tr>
            </a:tbl>
          </a:graphicData>
        </a:graphic>
      </p:graphicFrame>
      <p:sp>
        <p:nvSpPr>
          <p:cNvPr id="45" name="Oval 44"/>
          <p:cNvSpPr/>
          <p:nvPr/>
        </p:nvSpPr>
        <p:spPr bwMode="gray">
          <a:xfrm>
            <a:off x="6344824" y="5115323"/>
            <a:ext cx="278296" cy="278296"/>
          </a:xfrm>
          <a:prstGeom prst="ellipse">
            <a:avLst/>
          </a:prstGeom>
          <a:solidFill>
            <a:schemeClr val="accent1">
              <a:lumMod val="20000"/>
              <a:lumOff val="80000"/>
            </a:schemeClr>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46" name="Oval 45"/>
          <p:cNvSpPr/>
          <p:nvPr/>
        </p:nvSpPr>
        <p:spPr bwMode="gray">
          <a:xfrm>
            <a:off x="6344824" y="5538534"/>
            <a:ext cx="278296" cy="278296"/>
          </a:xfrm>
          <a:prstGeom prst="ellipse">
            <a:avLst/>
          </a:prstGeom>
          <a:solidFill>
            <a:schemeClr val="accent1">
              <a:lumMod val="40000"/>
              <a:lumOff val="60000"/>
            </a:schemeClr>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47" name="Oval 46"/>
          <p:cNvSpPr/>
          <p:nvPr/>
        </p:nvSpPr>
        <p:spPr bwMode="gray">
          <a:xfrm>
            <a:off x="6344824" y="5961745"/>
            <a:ext cx="278296" cy="278296"/>
          </a:xfrm>
          <a:prstGeom prst="ellipse">
            <a:avLst/>
          </a:prstGeom>
          <a:solidFill>
            <a:srgbClr val="648D1C"/>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48" name="Oval 47"/>
          <p:cNvSpPr/>
          <p:nvPr/>
        </p:nvSpPr>
        <p:spPr bwMode="gray">
          <a:xfrm>
            <a:off x="6344824" y="6493289"/>
            <a:ext cx="278296" cy="278296"/>
          </a:xfrm>
          <a:prstGeom prst="ellipse">
            <a:avLst/>
          </a:prstGeom>
          <a:solidFill>
            <a:srgbClr val="435E13"/>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cxnSp>
        <p:nvCxnSpPr>
          <p:cNvPr id="11" name="Straight Connector 10"/>
          <p:cNvCxnSpPr>
            <a:stCxn id="45" idx="4"/>
            <a:endCxn id="48" idx="0"/>
          </p:cNvCxnSpPr>
          <p:nvPr/>
        </p:nvCxnSpPr>
        <p:spPr>
          <a:xfrm>
            <a:off x="6483972" y="5393619"/>
            <a:ext cx="0" cy="109967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61" name="Rectangle 60"/>
          <p:cNvSpPr/>
          <p:nvPr/>
        </p:nvSpPr>
        <p:spPr bwMode="gray">
          <a:xfrm>
            <a:off x="1163155" y="5412143"/>
            <a:ext cx="741363" cy="346075"/>
          </a:xfrm>
          <a:prstGeom prst="rect">
            <a:avLst/>
          </a:prstGeom>
          <a:noFill/>
          <a:ln w="19050" algn="ctr">
            <a:solidFill>
              <a:schemeClr val="accent4"/>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800" b="1" i="1" u="none" strike="noStrike" kern="1200" cap="none" spc="0" normalizeH="0" baseline="0" noProof="0" dirty="0">
                <a:ln>
                  <a:noFill/>
                </a:ln>
                <a:solidFill>
                  <a:prstClr val="black"/>
                </a:solidFill>
                <a:effectLst/>
                <a:uLnTx/>
                <a:uFillTx/>
                <a:latin typeface="Verdana"/>
                <a:ea typeface="+mn-ea"/>
                <a:cs typeface="+mn-cs"/>
              </a:rPr>
              <a:t>8 Years</a:t>
            </a:r>
            <a:endParaRPr kumimoji="0" lang="en-IN" sz="800" b="1" i="1" u="none" strike="noStrike" kern="1200" cap="none" spc="0" normalizeH="0" baseline="0" noProof="0" dirty="0">
              <a:ln>
                <a:noFill/>
              </a:ln>
              <a:solidFill>
                <a:prstClr val="black"/>
              </a:solidFill>
              <a:effectLst/>
              <a:uLnTx/>
              <a:uFillTx/>
              <a:latin typeface="Verdana"/>
              <a:ea typeface="+mn-ea"/>
              <a:cs typeface="+mn-cs"/>
            </a:endParaRPr>
          </a:p>
        </p:txBody>
      </p:sp>
      <p:sp>
        <p:nvSpPr>
          <p:cNvPr id="62" name="Rectangle 61"/>
          <p:cNvSpPr/>
          <p:nvPr/>
        </p:nvSpPr>
        <p:spPr bwMode="gray">
          <a:xfrm>
            <a:off x="2424786" y="5385949"/>
            <a:ext cx="2614854" cy="347663"/>
          </a:xfrm>
          <a:prstGeom prst="rect">
            <a:avLst/>
          </a:prstGeom>
          <a:noFill/>
          <a:ln w="19050" algn="ctr">
            <a:solidFill>
              <a:schemeClr val="accent4"/>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800" b="1" i="1" u="none" strike="noStrike" kern="1200" cap="none" spc="0" normalizeH="0" baseline="0" noProof="0" dirty="0">
                <a:ln>
                  <a:noFill/>
                </a:ln>
                <a:solidFill>
                  <a:prstClr val="black"/>
                </a:solidFill>
                <a:effectLst/>
                <a:uLnTx/>
                <a:uFillTx/>
                <a:latin typeface="Verdana"/>
                <a:ea typeface="+mn-ea"/>
                <a:cs typeface="+mn-cs"/>
              </a:rPr>
              <a:t>16 Years with Shahbazpur Reserves</a:t>
            </a:r>
          </a:p>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800" b="1" i="1" u="none" strike="noStrike" kern="1200" cap="none" spc="0" normalizeH="0" baseline="0" noProof="0" dirty="0">
                <a:ln>
                  <a:noFill/>
                </a:ln>
                <a:solidFill>
                  <a:prstClr val="black"/>
                </a:solidFill>
                <a:effectLst/>
                <a:uLnTx/>
                <a:uFillTx/>
                <a:latin typeface="Verdana"/>
                <a:ea typeface="+mn-ea"/>
                <a:cs typeface="+mn-cs"/>
              </a:rPr>
              <a:t>22+ Years with Additional Bhola Reserves</a:t>
            </a:r>
            <a:endParaRPr kumimoji="0" lang="en-IN" sz="800" b="1" i="1" u="none" strike="noStrike" kern="1200" cap="none" spc="0" normalizeH="0" baseline="0" noProof="0" dirty="0">
              <a:ln>
                <a:noFill/>
              </a:ln>
              <a:solidFill>
                <a:prstClr val="black"/>
              </a:solidFill>
              <a:effectLst/>
              <a:uLnTx/>
              <a:uFillTx/>
              <a:latin typeface="Verdana"/>
              <a:ea typeface="+mn-ea"/>
              <a:cs typeface="+mn-cs"/>
            </a:endParaRPr>
          </a:p>
        </p:txBody>
      </p:sp>
      <p:sp>
        <p:nvSpPr>
          <p:cNvPr id="63" name="Rectangle 62"/>
          <p:cNvSpPr/>
          <p:nvPr/>
        </p:nvSpPr>
        <p:spPr bwMode="gray">
          <a:xfrm>
            <a:off x="923132" y="6938963"/>
            <a:ext cx="176213" cy="138113"/>
          </a:xfrm>
          <a:prstGeom prst="rect">
            <a:avLst/>
          </a:prstGeom>
          <a:noFill/>
          <a:ln w="19050" algn="ctr">
            <a:solidFill>
              <a:schemeClr val="accent4"/>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800" b="1" i="1" u="none" strike="noStrike" kern="1200" cap="none" spc="0" normalizeH="0" baseline="0" noProof="0" dirty="0">
              <a:ln>
                <a:noFill/>
              </a:ln>
              <a:solidFill>
                <a:prstClr val="black"/>
              </a:solidFill>
              <a:effectLst/>
              <a:uLnTx/>
              <a:uFillTx/>
              <a:latin typeface="Verdana"/>
              <a:ea typeface="+mn-ea"/>
              <a:cs typeface="+mn-cs"/>
            </a:endParaRPr>
          </a:p>
        </p:txBody>
      </p:sp>
      <p:sp>
        <p:nvSpPr>
          <p:cNvPr id="64" name="Rectangle 63"/>
          <p:cNvSpPr/>
          <p:nvPr/>
        </p:nvSpPr>
        <p:spPr bwMode="gray">
          <a:xfrm>
            <a:off x="1011238" y="6937375"/>
            <a:ext cx="3500438" cy="139700"/>
          </a:xfrm>
          <a:prstGeom prst="rect">
            <a:avLst/>
          </a:prstGeom>
          <a:no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Expected Years of Gas Availability for Nimbus Plant</a:t>
            </a:r>
            <a:endParaRPr kumimoji="0" lang="en-IN" sz="1000" b="0" i="0" u="none" strike="noStrike" kern="1200" cap="none" spc="0" normalizeH="0" baseline="0" noProof="0" dirty="0">
              <a:ln>
                <a:noFill/>
              </a:ln>
              <a:solidFill>
                <a:prstClr val="black"/>
              </a:solidFill>
              <a:effectLst/>
              <a:uLnTx/>
              <a:uFillTx/>
              <a:latin typeface="Verdana"/>
              <a:ea typeface="+mn-ea"/>
              <a:cs typeface="+mn-cs"/>
            </a:endParaRPr>
          </a:p>
        </p:txBody>
      </p:sp>
      <p:sp>
        <p:nvSpPr>
          <p:cNvPr id="72" name="Rectangle 71"/>
          <p:cNvSpPr/>
          <p:nvPr/>
        </p:nvSpPr>
        <p:spPr bwMode="gray">
          <a:xfrm>
            <a:off x="362237" y="7290720"/>
            <a:ext cx="9936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Petrobangla, Deloitte Analysis Note 1) The Efficiency of, Venture 33 MW and Aggreko 95 MW considered as per existing efficiency levels in FY19 2) The Efficiency of Nimbus Plant considered at 46% (in line with PPA condition with 80% PLF 3) All the plants have been considered to be operating at 80% average annual PLF to determine annual gas requirement 4) 2P Reserves estimated for Dec 19 considering plant dispatch levels of ~80% for the Bhola I, Venture and Aggreko plants</a:t>
            </a:r>
          </a:p>
        </p:txBody>
      </p:sp>
      <p:graphicFrame>
        <p:nvGraphicFramePr>
          <p:cNvPr id="41" name="Chart 40"/>
          <p:cNvGraphicFramePr/>
          <p:nvPr>
            <p:custDataLst>
              <p:tags r:id="rId5"/>
            </p:custDataLst>
            <p:extLst>
              <p:ext uri="{D42A27DB-BD31-4B8C-83A1-F6EECF244321}">
                <p14:modId xmlns:p14="http://schemas.microsoft.com/office/powerpoint/2010/main" val="3960173555"/>
              </p:ext>
            </p:extLst>
          </p:nvPr>
        </p:nvGraphicFramePr>
        <p:xfrm>
          <a:off x="366713" y="5719763"/>
          <a:ext cx="4757737" cy="790575"/>
        </p:xfrm>
        <a:graphic>
          <a:graphicData uri="http://schemas.openxmlformats.org/drawingml/2006/chart">
            <c:chart xmlns:c="http://schemas.openxmlformats.org/drawingml/2006/chart" xmlns:r="http://schemas.openxmlformats.org/officeDocument/2006/relationships" r:id="rId15"/>
          </a:graphicData>
        </a:graphic>
      </p:graphicFrame>
      <p:sp>
        <p:nvSpPr>
          <p:cNvPr id="36" name="StandardTextbox"/>
          <p:cNvSpPr>
            <a:spLocks noGrp="1"/>
          </p:cNvSpPr>
          <p:nvPr>
            <p:custDataLst>
              <p:tags r:id="rId6"/>
            </p:custDataLst>
          </p:nvPr>
        </p:nvSpPr>
        <p:spPr bwMode="auto">
          <a:xfrm>
            <a:off x="1360488" y="6513513"/>
            <a:ext cx="47307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8A71ED4-7D0C-4A93-A7C3-4466F647CE92}" type="datetime'D''''''''''''''''''''''''''ec-''''''''''1''''''''''''''7'''">
              <a:rPr lang="en-IN" altLang="en-US" b="0" smtClean="0"/>
              <a:pPr lvl="1" algn="ctr">
                <a:spcBef>
                  <a:spcPct val="0"/>
                </a:spcBef>
                <a:spcAft>
                  <a:spcPct val="0"/>
                </a:spcAft>
              </a:pPr>
              <a:t>Dec-17</a:t>
            </a:fld>
            <a:endParaRPr lang="en-IN" b="0" noProof="0" dirty="0">
              <a:sym typeface="+mn-lt"/>
            </a:endParaRPr>
          </a:p>
        </p:txBody>
      </p:sp>
      <p:sp>
        <p:nvSpPr>
          <p:cNvPr id="35" name="StandardTextbox"/>
          <p:cNvSpPr>
            <a:spLocks noGrp="1"/>
          </p:cNvSpPr>
          <p:nvPr>
            <p:custDataLst>
              <p:tags r:id="rId7"/>
            </p:custDataLst>
          </p:nvPr>
        </p:nvSpPr>
        <p:spPr bwMode="auto">
          <a:xfrm>
            <a:off x="3257550" y="6513513"/>
            <a:ext cx="12715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05DB424-677B-4612-9BC2-982D44775829}" type="datetime'''''Dec''''''''-''''''''19'' (E''s''''ti''mat''e''d'')'">
              <a:rPr lang="en-IN" altLang="en-US" b="0" smtClean="0"/>
              <a:pPr lvl="1" algn="ctr">
                <a:spcBef>
                  <a:spcPct val="0"/>
                </a:spcBef>
                <a:spcAft>
                  <a:spcPct val="0"/>
                </a:spcAft>
              </a:pPr>
              <a:t>Dec-19 (Estimated)</a:t>
            </a:fld>
            <a:endParaRPr lang="en-IN" b="0" noProof="0" dirty="0">
              <a:sym typeface="+mn-lt"/>
            </a:endParaRPr>
          </a:p>
        </p:txBody>
      </p:sp>
      <p:sp>
        <p:nvSpPr>
          <p:cNvPr id="38" name="Rectangle 37"/>
          <p:cNvSpPr/>
          <p:nvPr>
            <p:custDataLst>
              <p:tags r:id="rId8"/>
            </p:custDataLst>
          </p:nvPr>
        </p:nvSpPr>
        <p:spPr bwMode="auto">
          <a:xfrm>
            <a:off x="781050" y="6719888"/>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7" name="Rectangle 36"/>
          <p:cNvSpPr/>
          <p:nvPr>
            <p:custDataLst>
              <p:tags r:id="rId9"/>
            </p:custDataLst>
          </p:nvPr>
        </p:nvSpPr>
        <p:spPr bwMode="auto">
          <a:xfrm>
            <a:off x="2670175" y="6719888"/>
            <a:ext cx="179388" cy="133350"/>
          </a:xfrm>
          <a:prstGeom prst="rect">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9" name="StandardTextbox"/>
          <p:cNvSpPr>
            <a:spLocks noGrp="1"/>
          </p:cNvSpPr>
          <p:nvPr>
            <p:custDataLst>
              <p:tags r:id="rId10"/>
            </p:custDataLst>
          </p:nvPr>
        </p:nvSpPr>
        <p:spPr bwMode="auto">
          <a:xfrm>
            <a:off x="1011238" y="6715125"/>
            <a:ext cx="15573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A5A914B2-D4AC-4469-9859-1A29A3C5D4C0}" type="datetime'''''R''e''''se''''''r''ve''s'''''' a''t'''' Sh''ah''b''azpur'">
              <a:rPr lang="en-IN" altLang="en-US" b="0" smtClean="0"/>
              <a:pPr lvl="1">
                <a:spcBef>
                  <a:spcPct val="0"/>
                </a:spcBef>
                <a:spcAft>
                  <a:spcPct val="0"/>
                </a:spcAft>
              </a:pPr>
              <a:t>Reserves at Shahbazpur</a:t>
            </a:fld>
            <a:endParaRPr lang="en-IN" b="0" noProof="0" dirty="0">
              <a:sym typeface="+mn-lt"/>
            </a:endParaRPr>
          </a:p>
        </p:txBody>
      </p:sp>
      <p:sp>
        <p:nvSpPr>
          <p:cNvPr id="40" name="StandardTextbox"/>
          <p:cNvSpPr>
            <a:spLocks noGrp="1"/>
          </p:cNvSpPr>
          <p:nvPr>
            <p:custDataLst>
              <p:tags r:id="rId11"/>
            </p:custDataLst>
          </p:nvPr>
        </p:nvSpPr>
        <p:spPr bwMode="auto">
          <a:xfrm>
            <a:off x="2900363" y="6715125"/>
            <a:ext cx="160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CF029125-6804-44BD-A8B0-1FA9268B7ED1}" type="datetime'R''es''er''v''e''''''s ''a''t'''' Bhola'' N''''ort''h'''' '''">
              <a:rPr lang="en-IN" altLang="en-US" b="0" smtClean="0"/>
              <a:pPr lvl="1">
                <a:spcBef>
                  <a:spcPct val="0"/>
                </a:spcBef>
                <a:spcAft>
                  <a:spcPct val="0"/>
                </a:spcAft>
              </a:pPr>
              <a:t>Reserves at Bhola North </a:t>
            </a:fld>
            <a:endParaRPr lang="en-IN" b="0" noProof="0" dirty="0">
              <a:sym typeface="+mn-lt"/>
            </a:endParaRPr>
          </a:p>
        </p:txBody>
      </p:sp>
    </p:spTree>
    <p:extLst>
      <p:ext uri="{BB962C8B-B14F-4D97-AF65-F5344CB8AC3E}">
        <p14:creationId xmlns:p14="http://schemas.microsoft.com/office/powerpoint/2010/main" val="475820239"/>
      </p:ext>
    </p:extLst>
  </p:cSld>
  <p:clrMapOvr>
    <a:masterClrMapping/>
  </p:clrMapOvr>
  <p:transition>
    <p:fade/>
  </p:transition>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405443582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3" imgW="530" imgH="531" progId="TCLayout.ActiveDocument.1">
                  <p:embed/>
                </p:oleObj>
              </mc:Choice>
              <mc:Fallback>
                <p:oleObj name="think-cell Slide" r:id="rId23" imgW="530" imgH="531" progId="TCLayout.ActiveDocument.1">
                  <p:embed/>
                  <p:pic>
                    <p:nvPicPr>
                      <p:cNvPr id="3" name="Object 2" hidden="1"/>
                      <p:cNvPicPr/>
                      <p:nvPr/>
                    </p:nvPicPr>
                    <p:blipFill>
                      <a:blip r:embed="rId24"/>
                      <a:stretch>
                        <a:fillRect/>
                      </a:stretch>
                    </p:blipFill>
                    <p:spPr>
                      <a:xfrm>
                        <a:off x="1588" y="1588"/>
                        <a:ext cx="1588" cy="1588"/>
                      </a:xfrm>
                      <a:prstGeom prst="rect">
                        <a:avLst/>
                      </a:prstGeom>
                    </p:spPr>
                  </p:pic>
                </p:oleObj>
              </mc:Fallback>
            </mc:AlternateContent>
          </a:graphicData>
        </a:graphic>
      </p:graphicFrame>
      <p:sp>
        <p:nvSpPr>
          <p:cNvPr id="129" name="Rectangle 128"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graphicFrame>
        <p:nvGraphicFramePr>
          <p:cNvPr id="126" name="Table 125"/>
          <p:cNvGraphicFramePr>
            <a:graphicFrameLocks noGrp="1"/>
          </p:cNvGraphicFramePr>
          <p:nvPr>
            <p:custDataLst>
              <p:tags r:id="rId3"/>
            </p:custDataLst>
          </p:nvPr>
        </p:nvGraphicFramePr>
        <p:xfrm>
          <a:off x="5506068" y="1961919"/>
          <a:ext cx="4734896" cy="5181832"/>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181832">
                <a:tc>
                  <a:txBody>
                    <a:bodyPr/>
                    <a:lstStyle/>
                    <a:p>
                      <a:pPr marL="171450" indent="-171450" algn="just" defTabSz="990571" rtl="0" eaLnBrk="1" latinLnBrk="0" hangingPunct="1">
                        <a:spcBef>
                          <a:spcPts val="60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Following graph illustrates the Demand and Supply of gas to Bhola 1 plant from April 2019 to June 2020 (mmscfd)</a:t>
                      </a: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Following graph illustrates the PLF &amp; Efficiency (%) of Bhola 1, from FY16 to FY19</a:t>
                      </a: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0" indent="0" algn="just" defTabSz="990571" rtl="0" eaLnBrk="1" latinLnBrk="0" hangingPunct="1">
                        <a:spcBef>
                          <a:spcPts val="600"/>
                        </a:spcBef>
                        <a:spcAft>
                          <a:spcPts val="600"/>
                        </a:spcAft>
                        <a:buFont typeface="Arial" panose="020B0604020202020204" pitchFamily="34" charset="0"/>
                        <a:buNone/>
                      </a:pPr>
                      <a:endParaRPr lang="en-US" sz="1000" b="0" kern="1200" baseline="0" dirty="0">
                        <a:solidFill>
                          <a:schemeClr val="tx1"/>
                        </a:solidFill>
                        <a:latin typeface="+mn-lt"/>
                        <a:ea typeface="+mn-ea"/>
                        <a:cs typeface="+mn-cs"/>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67" name="Table 66"/>
          <p:cNvGraphicFramePr>
            <a:graphicFrameLocks noGrp="1"/>
          </p:cNvGraphicFramePr>
          <p:nvPr>
            <p:custDataLst>
              <p:tags r:id="rId4"/>
            </p:custDataLst>
            <p:extLst>
              <p:ext uri="{D42A27DB-BD31-4B8C-83A1-F6EECF244321}">
                <p14:modId xmlns:p14="http://schemas.microsoft.com/office/powerpoint/2010/main" val="1711264924"/>
              </p:ext>
            </p:extLst>
          </p:nvPr>
        </p:nvGraphicFramePr>
        <p:xfrm>
          <a:off x="449993" y="1961918"/>
          <a:ext cx="4734896" cy="4229021"/>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723655">
                <a:tc>
                  <a:txBody>
                    <a:bodyPr/>
                    <a:lstStyle/>
                    <a:p>
                      <a:pPr marL="0" indent="0" algn="just">
                        <a:spcBef>
                          <a:spcPts val="600"/>
                        </a:spcBef>
                        <a:spcAft>
                          <a:spcPts val="600"/>
                        </a:spcAft>
                        <a:buFont typeface="Arial" panose="020B0604020202020204" pitchFamily="34" charset="0"/>
                        <a:buNone/>
                      </a:pPr>
                      <a:r>
                        <a:rPr lang="en-US" sz="1000" b="1" baseline="0" dirty="0" err="1">
                          <a:solidFill>
                            <a:schemeClr val="tx1"/>
                          </a:solidFill>
                        </a:rPr>
                        <a:t>Bhola</a:t>
                      </a:r>
                      <a:r>
                        <a:rPr lang="en-US" sz="1000" b="1" baseline="0" dirty="0">
                          <a:solidFill>
                            <a:schemeClr val="tx1"/>
                          </a:solidFill>
                        </a:rPr>
                        <a:t> I overview</a:t>
                      </a:r>
                      <a:endParaRPr lang="en-US" sz="1000" b="0" baseline="0" dirty="0">
                        <a:solidFill>
                          <a:schemeClr val="tx1"/>
                        </a:solidFill>
                      </a:endParaRPr>
                    </a:p>
                    <a:p>
                      <a:pPr marL="171450" indent="-171450" algn="just">
                        <a:lnSpc>
                          <a:spcPct val="114000"/>
                        </a:lnSpc>
                        <a:spcBef>
                          <a:spcPts val="0"/>
                        </a:spcBef>
                        <a:spcAft>
                          <a:spcPts val="600"/>
                        </a:spcAft>
                        <a:buFont typeface="Arial" panose="020B0604020202020204" pitchFamily="34" charset="0"/>
                        <a:buChar char="•"/>
                      </a:pPr>
                      <a:r>
                        <a:rPr lang="en-US" sz="1000" b="0" baseline="0" dirty="0">
                          <a:solidFill>
                            <a:schemeClr val="tx1"/>
                          </a:solidFill>
                        </a:rPr>
                        <a:t>The daily average demand for Bhola I Power Plant is 35 mmscfd as per Petrobangla</a:t>
                      </a:r>
                    </a:p>
                    <a:p>
                      <a:pPr marL="171450" indent="-171450" algn="just">
                        <a:lnSpc>
                          <a:spcPct val="114000"/>
                        </a:lnSpc>
                        <a:spcBef>
                          <a:spcPts val="0"/>
                        </a:spcBef>
                        <a:spcAft>
                          <a:spcPts val="600"/>
                        </a:spcAft>
                        <a:buFont typeface="Arial" panose="020B0604020202020204" pitchFamily="34" charset="0"/>
                        <a:buChar char="•"/>
                      </a:pPr>
                      <a:r>
                        <a:rPr lang="en-US" sz="1000" b="0" baseline="0" dirty="0">
                          <a:solidFill>
                            <a:schemeClr val="tx1"/>
                          </a:solidFill>
                        </a:rPr>
                        <a:t>However the average supply for gas has been ~28 mmscfd (80% of demand) between April 2019 to April 2020</a:t>
                      </a:r>
                    </a:p>
                    <a:p>
                      <a:pPr marL="171450" indent="-171450" algn="just">
                        <a:lnSpc>
                          <a:spcPct val="114000"/>
                        </a:lnSpc>
                        <a:spcBef>
                          <a:spcPts val="0"/>
                        </a:spcBef>
                        <a:spcAft>
                          <a:spcPts val="600"/>
                        </a:spcAft>
                        <a:buFont typeface="Arial" panose="020B0604020202020204" pitchFamily="34" charset="0"/>
                        <a:buChar char="•"/>
                      </a:pPr>
                      <a:r>
                        <a:rPr lang="en-US" sz="1000" b="0" baseline="0" dirty="0">
                          <a:solidFill>
                            <a:schemeClr val="tx1"/>
                          </a:solidFill>
                        </a:rPr>
                        <a:t>As can be seen from the graph on the right (above), there has been frequent shutdown / maintenance from December 2019 for Bhola I</a:t>
                      </a:r>
                    </a:p>
                    <a:p>
                      <a:pPr marL="171450" indent="-171450" algn="just">
                        <a:lnSpc>
                          <a:spcPct val="114000"/>
                        </a:lnSpc>
                        <a:spcBef>
                          <a:spcPts val="0"/>
                        </a:spcBef>
                        <a:spcAft>
                          <a:spcPts val="600"/>
                        </a:spcAft>
                        <a:buFont typeface="Arial" panose="020B0604020202020204" pitchFamily="34" charset="0"/>
                        <a:buChar char="•"/>
                      </a:pPr>
                      <a:r>
                        <a:rPr lang="en-US" sz="1000" b="0" baseline="0" dirty="0">
                          <a:solidFill>
                            <a:schemeClr val="tx1"/>
                          </a:solidFill>
                        </a:rPr>
                        <a:t>Most of these shutdown / maintenance have historically lasted for 1-5 days </a:t>
                      </a:r>
                    </a:p>
                    <a:p>
                      <a:pPr marL="171450" marR="0" lvl="0" indent="-171450" algn="just" defTabSz="990571" rtl="0" eaLnBrk="1" fontAlgn="auto" latinLnBrk="0" hangingPunct="1">
                        <a:lnSpc>
                          <a:spcPct val="114000"/>
                        </a:lnSpc>
                        <a:spcBef>
                          <a:spcPts val="0"/>
                        </a:spcBef>
                        <a:spcAft>
                          <a:spcPts val="600"/>
                        </a:spcAft>
                        <a:buClrTx/>
                        <a:buSzTx/>
                        <a:buFont typeface="Arial" panose="020B0604020202020204" pitchFamily="34" charset="0"/>
                        <a:buChar char="•"/>
                        <a:tabLst/>
                        <a:defRPr/>
                      </a:pPr>
                      <a:r>
                        <a:rPr lang="en-US" sz="1000" b="0" baseline="0" dirty="0">
                          <a:solidFill>
                            <a:schemeClr val="tx1"/>
                          </a:solidFill>
                        </a:rPr>
                        <a:t>However, since May 2020, the plant has undertaken shutdown GT2 and ST unit due to maintenance leading to further reduction in gas drawal</a:t>
                      </a:r>
                    </a:p>
                    <a:p>
                      <a:pPr marL="171450" marR="0" lvl="0" indent="-171450" algn="just" defTabSz="990571" rtl="0" eaLnBrk="1" fontAlgn="auto" latinLnBrk="0" hangingPunct="1">
                        <a:lnSpc>
                          <a:spcPct val="114000"/>
                        </a:lnSpc>
                        <a:spcBef>
                          <a:spcPts val="0"/>
                        </a:spcBef>
                        <a:spcAft>
                          <a:spcPts val="600"/>
                        </a:spcAft>
                        <a:buClrTx/>
                        <a:buSzTx/>
                        <a:buFont typeface="Arial" panose="020B0604020202020204" pitchFamily="34" charset="0"/>
                        <a:buChar char="•"/>
                        <a:tabLst/>
                        <a:defRPr/>
                      </a:pPr>
                      <a:endParaRPr lang="en-US" sz="1000" b="0" baseline="0" dirty="0">
                        <a:solidFill>
                          <a:schemeClr val="tx1"/>
                        </a:solidFill>
                      </a:endParaRPr>
                    </a:p>
                    <a:p>
                      <a:pPr marL="0" marR="0" lvl="0" indent="0" algn="ctr" defTabSz="787481" rtl="0" eaLnBrk="1" fontAlgn="auto" latinLnBrk="0" hangingPunct="1">
                        <a:lnSpc>
                          <a:spcPct val="106000"/>
                        </a:lnSpc>
                        <a:spcBef>
                          <a:spcPts val="0"/>
                        </a:spcBef>
                        <a:spcAft>
                          <a:spcPts val="600"/>
                        </a:spcAft>
                        <a:buClrTx/>
                        <a:buSzTx/>
                        <a:buFont typeface="Arial" panose="020B0604020202020204" pitchFamily="34" charset="0"/>
                        <a:buNone/>
                        <a:tabLst/>
                        <a:defRPr/>
                      </a:pPr>
                      <a:r>
                        <a:rPr lang="en-US" sz="1400" b="1" i="1" kern="1200" dirty="0">
                          <a:solidFill>
                            <a:srgbClr val="0097A9"/>
                          </a:solidFill>
                          <a:latin typeface="+mn-lt"/>
                          <a:ea typeface="+mn-ea"/>
                          <a:cs typeface="+mn-cs"/>
                        </a:rPr>
                        <a:t>Considering that Bhola I is supplied gas from the Bhola island and since the gas pipeline is not connected to the national grid we don’t envisage any risk of gas diversion from the </a:t>
                      </a:r>
                      <a:r>
                        <a:rPr lang="en-US" sz="1400" b="1" i="1" kern="1200" dirty="0" err="1">
                          <a:solidFill>
                            <a:srgbClr val="0097A9"/>
                          </a:solidFill>
                          <a:latin typeface="+mn-lt"/>
                          <a:ea typeface="+mn-ea"/>
                          <a:cs typeface="+mn-cs"/>
                        </a:rPr>
                        <a:t>Bhola</a:t>
                      </a:r>
                      <a:r>
                        <a:rPr lang="en-US" sz="1400" b="1" i="1" kern="1200" dirty="0">
                          <a:solidFill>
                            <a:srgbClr val="0097A9"/>
                          </a:solidFill>
                          <a:latin typeface="+mn-lt"/>
                          <a:ea typeface="+mn-ea"/>
                          <a:cs typeface="+mn-cs"/>
                        </a:rPr>
                        <a:t> island</a:t>
                      </a: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127" name="Title 1"/>
          <p:cNvSpPr>
            <a:spLocks noGrp="1"/>
          </p:cNvSpPr>
          <p:nvPr>
            <p:ph type="title"/>
          </p:nvPr>
        </p:nvSpPr>
        <p:spPr>
          <a:xfrm>
            <a:off x="449264" y="647700"/>
            <a:ext cx="9791700" cy="431800"/>
          </a:xfrm>
        </p:spPr>
        <p:txBody>
          <a:bodyPr/>
          <a:lstStyle/>
          <a:p>
            <a:r>
              <a:rPr lang="en-US" dirty="0"/>
              <a:t>Gas Supply Outlook (Bhola Island – Bhola I)</a:t>
            </a:r>
            <a:endParaRPr lang="en-IN" dirty="0"/>
          </a:p>
        </p:txBody>
      </p:sp>
      <p:sp>
        <p:nvSpPr>
          <p:cNvPr id="128"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 Bhola I plant has achieved dispatch levels of ~75%-80% in the last 2 years with sufficient gas supply to operate at the dispatch levels in FY20; Future dispatch outlook remains positive considering no major unplanned shutdown / outage event</a:t>
            </a:r>
          </a:p>
        </p:txBody>
      </p:sp>
      <p:graphicFrame>
        <p:nvGraphicFramePr>
          <p:cNvPr id="5" name="Chart 4"/>
          <p:cNvGraphicFramePr/>
          <p:nvPr/>
        </p:nvGraphicFramePr>
        <p:xfrm>
          <a:off x="5615332" y="2425149"/>
          <a:ext cx="4874833" cy="2426937"/>
        </p:xfrm>
        <a:graphic>
          <a:graphicData uri="http://schemas.openxmlformats.org/drawingml/2006/chart">
            <c:chart xmlns:c="http://schemas.openxmlformats.org/drawingml/2006/chart" xmlns:r="http://schemas.openxmlformats.org/officeDocument/2006/relationships" r:id="rId25"/>
          </a:graphicData>
        </a:graphic>
      </p:graphicFrame>
      <p:sp>
        <p:nvSpPr>
          <p:cNvPr id="132" name="Oval 131"/>
          <p:cNvSpPr/>
          <p:nvPr/>
        </p:nvSpPr>
        <p:spPr bwMode="gray">
          <a:xfrm>
            <a:off x="7560093" y="3257994"/>
            <a:ext cx="276940" cy="276940"/>
          </a:xfrm>
          <a:prstGeom prst="ellipse">
            <a:avLst/>
          </a:prstGeom>
          <a:noFill/>
          <a:ln w="19050" algn="ctr">
            <a:solidFill>
              <a:schemeClr val="tx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33" name="Oval 132"/>
          <p:cNvSpPr/>
          <p:nvPr/>
        </p:nvSpPr>
        <p:spPr bwMode="gray">
          <a:xfrm>
            <a:off x="8513485" y="3534934"/>
            <a:ext cx="248207" cy="248207"/>
          </a:xfrm>
          <a:prstGeom prst="ellipse">
            <a:avLst/>
          </a:prstGeom>
          <a:noFill/>
          <a:ln w="19050" algn="ctr">
            <a:solidFill>
              <a:schemeClr val="tx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34" name="Oval 133"/>
          <p:cNvSpPr/>
          <p:nvPr/>
        </p:nvSpPr>
        <p:spPr bwMode="gray">
          <a:xfrm>
            <a:off x="8791288" y="3396464"/>
            <a:ext cx="248207" cy="248207"/>
          </a:xfrm>
          <a:prstGeom prst="ellipse">
            <a:avLst/>
          </a:prstGeom>
          <a:noFill/>
          <a:ln w="19050" algn="ctr">
            <a:solidFill>
              <a:schemeClr val="tx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35" name="Oval 134"/>
          <p:cNvSpPr/>
          <p:nvPr/>
        </p:nvSpPr>
        <p:spPr bwMode="gray">
          <a:xfrm>
            <a:off x="9106582" y="3840371"/>
            <a:ext cx="248207" cy="248207"/>
          </a:xfrm>
          <a:prstGeom prst="ellipse">
            <a:avLst/>
          </a:prstGeom>
          <a:noFill/>
          <a:ln w="19050" algn="ctr">
            <a:solidFill>
              <a:schemeClr val="tx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36" name="Oval 135"/>
          <p:cNvSpPr/>
          <p:nvPr/>
        </p:nvSpPr>
        <p:spPr bwMode="gray">
          <a:xfrm>
            <a:off x="9991756" y="3560216"/>
            <a:ext cx="248207" cy="248207"/>
          </a:xfrm>
          <a:prstGeom prst="ellipse">
            <a:avLst/>
          </a:prstGeom>
          <a:noFill/>
          <a:ln w="19050" algn="ctr">
            <a:solidFill>
              <a:schemeClr val="tx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dirty="0">
                <a:ln>
                  <a:noFill/>
                </a:ln>
                <a:solidFill>
                  <a:prstClr val="white"/>
                </a:solidFill>
                <a:effectLst/>
                <a:uLnTx/>
                <a:uFillTx/>
                <a:latin typeface="Verdana"/>
                <a:ea typeface="+mn-ea"/>
                <a:cs typeface="+mn-cs"/>
              </a:rPr>
              <a:t> 	</a:t>
            </a: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37" name="Oval 136"/>
          <p:cNvSpPr/>
          <p:nvPr/>
        </p:nvSpPr>
        <p:spPr bwMode="gray">
          <a:xfrm>
            <a:off x="6892251" y="3321497"/>
            <a:ext cx="267066" cy="267066"/>
          </a:xfrm>
          <a:prstGeom prst="ellipse">
            <a:avLst/>
          </a:prstGeom>
          <a:noFill/>
          <a:ln w="19050" algn="ctr">
            <a:solidFill>
              <a:schemeClr val="tx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37" name="Oval 36"/>
          <p:cNvSpPr/>
          <p:nvPr/>
        </p:nvSpPr>
        <p:spPr bwMode="gray">
          <a:xfrm>
            <a:off x="8637588" y="4664833"/>
            <a:ext cx="151100" cy="151100"/>
          </a:xfrm>
          <a:prstGeom prst="ellipse">
            <a:avLst/>
          </a:prstGeom>
          <a:noFill/>
          <a:ln w="19050" algn="ctr">
            <a:solidFill>
              <a:schemeClr val="tx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9" name="Rectangle 8"/>
          <p:cNvSpPr/>
          <p:nvPr/>
        </p:nvSpPr>
        <p:spPr bwMode="gray">
          <a:xfrm>
            <a:off x="8715184" y="4635197"/>
            <a:ext cx="1880178" cy="180736"/>
          </a:xfrm>
          <a:prstGeom prst="rect">
            <a:avLst/>
          </a:prstGeom>
          <a:no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800" b="0" i="0" u="none" strike="noStrike" kern="1200" cap="none" spc="0" normalizeH="0" baseline="0" noProof="0" dirty="0">
                <a:ln>
                  <a:noFill/>
                </a:ln>
                <a:solidFill>
                  <a:prstClr val="black"/>
                </a:solidFill>
                <a:effectLst/>
                <a:uLnTx/>
                <a:uFillTx/>
                <a:latin typeface="Verdana"/>
                <a:ea typeface="+mn-ea"/>
                <a:cs typeface="+mn-cs"/>
              </a:rPr>
              <a:t>Plant Shutdown / Maintenance</a:t>
            </a:r>
            <a:endParaRPr kumimoji="0" lang="en-IN" sz="800" b="0" i="0" u="none" strike="noStrike" kern="1200" cap="none" spc="0" normalizeH="0" baseline="0" noProof="0" dirty="0">
              <a:ln>
                <a:noFill/>
              </a:ln>
              <a:solidFill>
                <a:prstClr val="black"/>
              </a:solidFill>
              <a:effectLst/>
              <a:uLnTx/>
              <a:uFillTx/>
              <a:latin typeface="Verdana"/>
              <a:ea typeface="+mn-ea"/>
              <a:cs typeface="+mn-cs"/>
            </a:endParaRPr>
          </a:p>
        </p:txBody>
      </p:sp>
      <p:graphicFrame>
        <p:nvGraphicFramePr>
          <p:cNvPr id="114" name="Chart 113"/>
          <p:cNvGraphicFramePr/>
          <p:nvPr>
            <p:custDataLst>
              <p:tags r:id="rId5"/>
            </p:custDataLst>
          </p:nvPr>
        </p:nvGraphicFramePr>
        <p:xfrm>
          <a:off x="5734050" y="5419725"/>
          <a:ext cx="4587875" cy="1417638"/>
        </p:xfrm>
        <a:graphic>
          <a:graphicData uri="http://schemas.openxmlformats.org/drawingml/2006/chart">
            <c:chart xmlns:c="http://schemas.openxmlformats.org/drawingml/2006/chart" xmlns:r="http://schemas.openxmlformats.org/officeDocument/2006/relationships" r:id="rId26"/>
          </a:graphicData>
        </a:graphic>
      </p:graphicFrame>
      <p:sp>
        <p:nvSpPr>
          <p:cNvPr id="109" name="StandardTextbox"/>
          <p:cNvSpPr>
            <a:spLocks noGrp="1"/>
          </p:cNvSpPr>
          <p:nvPr>
            <p:custDataLst>
              <p:tags r:id="rId6"/>
            </p:custDataLst>
          </p:nvPr>
        </p:nvSpPr>
        <p:spPr bwMode="gray">
          <a:xfrm>
            <a:off x="9340850" y="5402263"/>
            <a:ext cx="37623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0E2D547-32F3-4BDA-ADDB-35365B1045F7}" type="datetime'''''''''''''''''''76.''''''''''''''''''0''''''''''''%'''">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76.0%</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1" name="StandardTextbox"/>
          <p:cNvSpPr>
            <a:spLocks noGrp="1"/>
          </p:cNvSpPr>
          <p:nvPr>
            <p:custDataLst>
              <p:tags r:id="rId7"/>
            </p:custDataLst>
          </p:nvPr>
        </p:nvSpPr>
        <p:spPr bwMode="auto">
          <a:xfrm>
            <a:off x="8448675" y="6821488"/>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DAA545A-CE91-4CA4-AC32-B7E961CCEE9B}" type="datetime'''''''F''''''''''''''''''''''''''''''Y''''''''''1''''8'''''''">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FY18</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1" name="StandardTextbox"/>
          <p:cNvSpPr>
            <a:spLocks noGrp="1"/>
          </p:cNvSpPr>
          <p:nvPr>
            <p:custDataLst>
              <p:tags r:id="rId8"/>
            </p:custDataLst>
          </p:nvPr>
        </p:nvSpPr>
        <p:spPr bwMode="auto">
          <a:xfrm>
            <a:off x="6237288" y="6821488"/>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B6052DF-142A-465D-8D51-4B8EB4603994}" type="datetime'''''''''''''''F''''''Y''''''1''''''''6'''''''''''''''''''">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FY16</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9" name="StandardTextbox"/>
          <p:cNvSpPr>
            <a:spLocks noGrp="1"/>
          </p:cNvSpPr>
          <p:nvPr>
            <p:custDataLst>
              <p:tags r:id="rId9"/>
            </p:custDataLst>
          </p:nvPr>
        </p:nvSpPr>
        <p:spPr bwMode="auto">
          <a:xfrm>
            <a:off x="7343775" y="6821488"/>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35D6EFB-50C3-459E-9BA2-E1ED6CAB04F1}" type="datetime'''''''''''''''''F''''''''''''Y''''''''1''7'''''''''">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FY17</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05" name="StandardTextbox"/>
          <p:cNvSpPr>
            <a:spLocks noGrp="1"/>
          </p:cNvSpPr>
          <p:nvPr>
            <p:custDataLst>
              <p:tags r:id="rId10"/>
            </p:custDataLst>
          </p:nvPr>
        </p:nvSpPr>
        <p:spPr bwMode="gray">
          <a:xfrm>
            <a:off x="7129463" y="5656263"/>
            <a:ext cx="37623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02E16D7-4EB3-4618-849D-990790CF7191}" type="datetime'''''''''''''''6''''''''''''0''''.''''''''''''''0''%'''''">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60.0%</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3" name="StandardTextbox"/>
          <p:cNvSpPr>
            <a:spLocks noGrp="1"/>
          </p:cNvSpPr>
          <p:nvPr>
            <p:custDataLst>
              <p:tags r:id="rId11"/>
            </p:custDataLst>
          </p:nvPr>
        </p:nvSpPr>
        <p:spPr bwMode="auto">
          <a:xfrm>
            <a:off x="9555163" y="6821488"/>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C27DE4B-6D9A-40E7-9010-FEB9945CB4A5}" type="datetime'''''''''''F''''''''''''''''''Y''''1''''''''''''9'''''''">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FY19</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03" name="StandardTextbox"/>
          <p:cNvSpPr>
            <a:spLocks noGrp="1"/>
          </p:cNvSpPr>
          <p:nvPr>
            <p:custDataLst>
              <p:tags r:id="rId12"/>
            </p:custDataLst>
          </p:nvPr>
        </p:nvSpPr>
        <p:spPr bwMode="gray">
          <a:xfrm>
            <a:off x="6024563" y="5703888"/>
            <a:ext cx="37623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1B30E65E-D57E-4BEF-B723-3E6700BF9E37}" type="datetime'''5''''''''7.''''0''''''''''''''%'''''''''''''''">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57.0%</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08" name="StandardTextbox"/>
          <p:cNvSpPr>
            <a:spLocks noGrp="1"/>
          </p:cNvSpPr>
          <p:nvPr>
            <p:custDataLst>
              <p:tags r:id="rId13"/>
            </p:custDataLst>
          </p:nvPr>
        </p:nvSpPr>
        <p:spPr bwMode="gray">
          <a:xfrm>
            <a:off x="8589963" y="5780088"/>
            <a:ext cx="37623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1673CABB-465B-408A-99E0-019B33CBCA1A}" type="datetime'''52''''''''''''''''''''''''''.''''2''''''%'''''''''">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52.2%</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04" name="StandardTextbox"/>
          <p:cNvSpPr>
            <a:spLocks noGrp="1"/>
          </p:cNvSpPr>
          <p:nvPr>
            <p:custDataLst>
              <p:tags r:id="rId14"/>
            </p:custDataLst>
          </p:nvPr>
        </p:nvSpPr>
        <p:spPr bwMode="gray">
          <a:xfrm>
            <a:off x="6378575" y="5880100"/>
            <a:ext cx="37623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0B470A8-4C3E-40FE-BE58-26EF44754FAC}" type="datetime'4''5''''''''''''''''''''.''9''''''''''''''''''''''''''''%'">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45.9%</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06" name="StandardTextbox"/>
          <p:cNvSpPr>
            <a:spLocks noGrp="1"/>
          </p:cNvSpPr>
          <p:nvPr>
            <p:custDataLst>
              <p:tags r:id="rId15"/>
            </p:custDataLst>
          </p:nvPr>
        </p:nvSpPr>
        <p:spPr bwMode="gray">
          <a:xfrm>
            <a:off x="7483475" y="5853113"/>
            <a:ext cx="37623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2FFD67F-0466-4801-AA9C-FED25188AA15}" type="datetime'''''''''''''''''''''''''4''''''''''7''''''.5''''''''''''%'''''">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47.5%</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07" name="StandardTextbox"/>
          <p:cNvSpPr>
            <a:spLocks noGrp="1"/>
          </p:cNvSpPr>
          <p:nvPr>
            <p:custDataLst>
              <p:tags r:id="rId16"/>
            </p:custDataLst>
          </p:nvPr>
        </p:nvSpPr>
        <p:spPr bwMode="gray">
          <a:xfrm>
            <a:off x="8235950" y="5354638"/>
            <a:ext cx="37623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1EAB17A-BDEC-467E-8836-381C07264C47}" type="datetime'7''''''''''''''''''''9''''''''.''''0''''''''''''''%'''''''''">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79.0%</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10" name="StandardTextbox"/>
          <p:cNvSpPr>
            <a:spLocks noGrp="1"/>
          </p:cNvSpPr>
          <p:nvPr>
            <p:custDataLst>
              <p:tags r:id="rId17"/>
            </p:custDataLst>
          </p:nvPr>
        </p:nvSpPr>
        <p:spPr bwMode="gray">
          <a:xfrm>
            <a:off x="9694863" y="5776913"/>
            <a:ext cx="37623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1D325D00-69BA-4882-A719-855AA6A94A6A}" type="datetime'''''''''''''''''''''''''''''''5''''''2.''3''%'''''''''''">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52.3%</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2" name="Rectangle 11"/>
          <p:cNvSpPr/>
          <p:nvPr>
            <p:custDataLst>
              <p:tags r:id="rId18"/>
            </p:custDataLst>
          </p:nvPr>
        </p:nvSpPr>
        <p:spPr bwMode="auto">
          <a:xfrm>
            <a:off x="7804150" y="7037388"/>
            <a:ext cx="142875" cy="106363"/>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 name="Rectangle 10"/>
          <p:cNvSpPr/>
          <p:nvPr>
            <p:custDataLst>
              <p:tags r:id="rId19"/>
            </p:custDataLst>
          </p:nvPr>
        </p:nvSpPr>
        <p:spPr bwMode="auto">
          <a:xfrm>
            <a:off x="7092950" y="7037388"/>
            <a:ext cx="142875" cy="106363"/>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39" name="StandardTextbox"/>
          <p:cNvSpPr>
            <a:spLocks noGrp="1"/>
          </p:cNvSpPr>
          <p:nvPr>
            <p:custDataLst>
              <p:tags r:id="rId20"/>
            </p:custDataLst>
          </p:nvPr>
        </p:nvSpPr>
        <p:spPr bwMode="auto">
          <a:xfrm>
            <a:off x="7286625" y="7032625"/>
            <a:ext cx="4159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E484D52D-2905-4B1C-89CA-42528CD93471}" type="datetime'''''''''''''''P''L''''''F'''' ''(%'''''''''''''''''''''''')'">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PLF (%)</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0" name="StandardTextbox"/>
          <p:cNvSpPr>
            <a:spLocks noGrp="1"/>
          </p:cNvSpPr>
          <p:nvPr>
            <p:custDataLst>
              <p:tags r:id="rId21"/>
            </p:custDataLst>
          </p:nvPr>
        </p:nvSpPr>
        <p:spPr bwMode="auto">
          <a:xfrm>
            <a:off x="7997825" y="7032625"/>
            <a:ext cx="722313"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4593882C-4EEB-43EC-B7EA-D39F11963011}" type="datetime'''''E''''''f''fic''i''''''e''n''''''''cy (%)'''''">
              <a:rPr kumimoji="0" lang="en-IN" altLang="en-US" sz="8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Efficiency (%)</a:t>
            </a:fld>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15" name="Rectangle 114"/>
          <p:cNvSpPr/>
          <p:nvPr/>
        </p:nvSpPr>
        <p:spPr bwMode="gray">
          <a:xfrm>
            <a:off x="362237" y="7290720"/>
            <a:ext cx="9936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Petrobangla, PGCB, Deloitte Analysis; Note 1) The Petrobangla daily gas supply report only mentions Plant Shut Down / Maintenance as a reason for lower gas supply as marked in the graph above</a:t>
            </a:r>
          </a:p>
        </p:txBody>
      </p:sp>
    </p:spTree>
    <p:extLst>
      <p:ext uri="{BB962C8B-B14F-4D97-AF65-F5344CB8AC3E}">
        <p14:creationId xmlns:p14="http://schemas.microsoft.com/office/powerpoint/2010/main" val="3225604564"/>
      </p:ext>
    </p:extLst>
  </p:cSld>
  <p:clrMapOvr>
    <a:masterClrMapping/>
  </p:clrMapOvr>
  <p:transition>
    <p:fade/>
  </p:transition>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234835157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4" name="Object 3"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Gas Transmission | Gas Supply Outlook (Bhola Island)</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Due to delay in construction of</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dedicated pipeline to Nimbus plant, NBBL has arranged temporary supply of natural gas from Bhola I </a:t>
            </a:r>
            <a:r>
              <a:rPr lang="en-US" sz="1400" dirty="0">
                <a:solidFill>
                  <a:prstClr val="black">
                    <a:lumMod val="50000"/>
                    <a:lumOff val="50000"/>
                  </a:prstClr>
                </a:solidFill>
                <a:latin typeface="Verdana" panose="020B0604030504040204" pitchFamily="34" charset="0"/>
              </a:rPr>
              <a:t>gas supply pipeline</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38" name="Table 37"/>
          <p:cNvGraphicFramePr>
            <a:graphicFrameLocks noGrp="1"/>
          </p:cNvGraphicFramePr>
          <p:nvPr>
            <p:custDataLst>
              <p:tags r:id="rId3"/>
            </p:custDataLst>
            <p:extLst>
              <p:ext uri="{D42A27DB-BD31-4B8C-83A1-F6EECF244321}">
                <p14:modId xmlns:p14="http://schemas.microsoft.com/office/powerpoint/2010/main" val="3119798412"/>
              </p:ext>
            </p:extLst>
          </p:nvPr>
        </p:nvGraphicFramePr>
        <p:xfrm>
          <a:off x="449993" y="1961918"/>
          <a:ext cx="4734896" cy="41161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723655">
                <a:tc>
                  <a:txBody>
                    <a:bodyPr/>
                    <a:lstStyle/>
                    <a:p>
                      <a:pPr marL="0" indent="0" algn="just">
                        <a:spcBef>
                          <a:spcPts val="600"/>
                        </a:spcBef>
                        <a:spcAft>
                          <a:spcPts val="600"/>
                        </a:spcAft>
                        <a:buFont typeface="Arial" panose="020B0604020202020204" pitchFamily="34" charset="0"/>
                        <a:buNone/>
                      </a:pPr>
                      <a:r>
                        <a:rPr lang="en-US" sz="1000" b="1" baseline="0" dirty="0">
                          <a:solidFill>
                            <a:schemeClr val="tx1"/>
                          </a:solidFill>
                        </a:rPr>
                        <a:t>Proposed Gas Arrangement for Nimbus Plant</a:t>
                      </a:r>
                    </a:p>
                    <a:p>
                      <a:pPr marL="0" indent="0" algn="just">
                        <a:spcBef>
                          <a:spcPts val="600"/>
                        </a:spcBef>
                        <a:spcAft>
                          <a:spcPts val="600"/>
                        </a:spcAft>
                        <a:buFont typeface="Arial" panose="020B0604020202020204" pitchFamily="34" charset="0"/>
                        <a:buNone/>
                      </a:pPr>
                      <a:r>
                        <a:rPr lang="en-US" sz="1000" b="0" baseline="0" dirty="0">
                          <a:solidFill>
                            <a:schemeClr val="tx1"/>
                          </a:solidFill>
                        </a:rPr>
                        <a:t>The distribution franchise for Bhola island is with SGCL. Power plants get supply of gas via the following infrastructure arrangement:</a:t>
                      </a:r>
                    </a:p>
                    <a:p>
                      <a:pPr marL="0" indent="0" algn="just">
                        <a:spcBef>
                          <a:spcPts val="600"/>
                        </a:spcBef>
                        <a:spcAft>
                          <a:spcPts val="600"/>
                        </a:spcAft>
                        <a:buFont typeface="Arial" panose="020B0604020202020204" pitchFamily="34" charset="0"/>
                        <a:buNone/>
                      </a:pPr>
                      <a:endParaRPr lang="en-US" sz="1000" b="0" baseline="0" dirty="0">
                        <a:solidFill>
                          <a:schemeClr val="tx1"/>
                        </a:solidFill>
                      </a:endParaRPr>
                    </a:p>
                    <a:p>
                      <a:pPr marL="0" indent="0" algn="just">
                        <a:spcBef>
                          <a:spcPts val="600"/>
                        </a:spcBef>
                        <a:spcAft>
                          <a:spcPts val="600"/>
                        </a:spcAft>
                        <a:buFont typeface="Arial" panose="020B0604020202020204" pitchFamily="34" charset="0"/>
                        <a:buNone/>
                      </a:pPr>
                      <a:endParaRPr lang="en-US" sz="1000" b="0" baseline="0" dirty="0">
                        <a:solidFill>
                          <a:schemeClr val="tx1"/>
                        </a:solidFill>
                      </a:endParaRPr>
                    </a:p>
                    <a:p>
                      <a:pPr marL="0" indent="0" algn="just">
                        <a:spcBef>
                          <a:spcPts val="600"/>
                        </a:spcBef>
                        <a:spcAft>
                          <a:spcPts val="600"/>
                        </a:spcAft>
                        <a:buFont typeface="Arial" panose="020B0604020202020204" pitchFamily="34" charset="0"/>
                        <a:buNone/>
                      </a:pPr>
                      <a:endParaRPr lang="en-US" sz="1000" b="0" baseline="0" dirty="0">
                        <a:solidFill>
                          <a:schemeClr val="tx1"/>
                        </a:solidFill>
                      </a:endParaRPr>
                    </a:p>
                    <a:p>
                      <a:pPr marL="0" indent="0" algn="just">
                        <a:spcBef>
                          <a:spcPts val="600"/>
                        </a:spcBef>
                        <a:spcAft>
                          <a:spcPts val="600"/>
                        </a:spcAft>
                        <a:buFont typeface="Arial" panose="020B0604020202020204" pitchFamily="34" charset="0"/>
                        <a:buNone/>
                      </a:pPr>
                      <a:endParaRPr lang="en-US" sz="1000" b="0" baseline="0" dirty="0">
                        <a:solidFill>
                          <a:schemeClr val="tx1"/>
                        </a:solidFill>
                      </a:endParaRPr>
                    </a:p>
                    <a:p>
                      <a:pPr marL="0" indent="0" algn="just">
                        <a:spcBef>
                          <a:spcPts val="600"/>
                        </a:spcBef>
                        <a:spcAft>
                          <a:spcPts val="600"/>
                        </a:spcAft>
                        <a:buFont typeface="Arial" panose="020B0604020202020204" pitchFamily="34" charset="0"/>
                        <a:buNone/>
                      </a:pPr>
                      <a:endParaRPr lang="en-US" sz="1000" b="0" baseline="0" dirty="0">
                        <a:solidFill>
                          <a:schemeClr val="tx1"/>
                        </a:solidFill>
                      </a:endParaRPr>
                    </a:p>
                    <a:p>
                      <a:pPr marL="0" indent="0" algn="just">
                        <a:spcBef>
                          <a:spcPts val="600"/>
                        </a:spcBef>
                        <a:spcAft>
                          <a:spcPts val="600"/>
                        </a:spcAft>
                        <a:buFont typeface="Arial" panose="020B0604020202020204" pitchFamily="34" charset="0"/>
                        <a:buNone/>
                      </a:pPr>
                      <a:endParaRPr lang="en-US" sz="1000" b="0" baseline="0" dirty="0">
                        <a:solidFill>
                          <a:schemeClr val="tx1"/>
                        </a:solidFill>
                      </a:endParaRPr>
                    </a:p>
                    <a:p>
                      <a:pPr marL="0" indent="0" algn="just">
                        <a:spcBef>
                          <a:spcPts val="600"/>
                        </a:spcBef>
                        <a:spcAft>
                          <a:spcPts val="600"/>
                        </a:spcAft>
                        <a:buFont typeface="Arial" panose="020B0604020202020204" pitchFamily="34" charset="0"/>
                        <a:buNone/>
                      </a:pPr>
                      <a:endParaRPr lang="en-US" sz="1000" b="0" baseline="0" dirty="0">
                        <a:solidFill>
                          <a:schemeClr val="tx1"/>
                        </a:solidFill>
                      </a:endParaRPr>
                    </a:p>
                    <a:p>
                      <a:pPr marL="0" indent="0" algn="just">
                        <a:spcBef>
                          <a:spcPts val="600"/>
                        </a:spcBef>
                        <a:spcAft>
                          <a:spcPts val="600"/>
                        </a:spcAft>
                        <a:buFont typeface="Arial" panose="020B0604020202020204" pitchFamily="34" charset="0"/>
                        <a:buNone/>
                      </a:pPr>
                      <a:endParaRPr lang="en-US" sz="1000" b="0" baseline="0" dirty="0">
                        <a:solidFill>
                          <a:schemeClr val="tx1"/>
                        </a:solidFill>
                      </a:endParaRPr>
                    </a:p>
                    <a:p>
                      <a:pPr marL="0" indent="0" algn="just">
                        <a:spcBef>
                          <a:spcPts val="600"/>
                        </a:spcBef>
                        <a:spcAft>
                          <a:spcPts val="600"/>
                        </a:spcAft>
                        <a:buFont typeface="Arial" panose="020B0604020202020204" pitchFamily="34" charset="0"/>
                        <a:buNone/>
                      </a:pPr>
                      <a:endParaRPr lang="en-US" sz="1000" b="0" baseline="0" dirty="0">
                        <a:solidFill>
                          <a:schemeClr val="tx1"/>
                        </a:solidFill>
                      </a:endParaRPr>
                    </a:p>
                    <a:p>
                      <a:pPr marL="0" indent="0" algn="just">
                        <a:spcBef>
                          <a:spcPts val="600"/>
                        </a:spcBef>
                        <a:spcAft>
                          <a:spcPts val="600"/>
                        </a:spcAft>
                        <a:buFont typeface="Arial" panose="020B0604020202020204" pitchFamily="34" charset="0"/>
                        <a:buNone/>
                      </a:pPr>
                      <a:endParaRPr lang="en-US" sz="1000" b="0" baseline="0" dirty="0">
                        <a:solidFill>
                          <a:schemeClr val="tx1"/>
                        </a:solidFill>
                      </a:endParaRPr>
                    </a:p>
                    <a:p>
                      <a:pPr marL="0" indent="0" algn="just">
                        <a:spcBef>
                          <a:spcPts val="600"/>
                        </a:spcBef>
                        <a:spcAft>
                          <a:spcPts val="600"/>
                        </a:spcAft>
                        <a:buFont typeface="Arial" panose="020B0604020202020204" pitchFamily="34" charset="0"/>
                        <a:buNone/>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pic>
        <p:nvPicPr>
          <p:cNvPr id="39" name="Picture 38"/>
          <p:cNvPicPr>
            <a:picLocks noChangeAspect="1"/>
          </p:cNvPicPr>
          <p:nvPr/>
        </p:nvPicPr>
        <p:blipFill rotWithShape="1">
          <a:blip r:embed="rId7"/>
          <a:srcRect l="11548"/>
          <a:stretch/>
        </p:blipFill>
        <p:spPr>
          <a:xfrm>
            <a:off x="6504822" y="2235460"/>
            <a:ext cx="3736142" cy="5101038"/>
          </a:xfrm>
          <a:prstGeom prst="rect">
            <a:avLst/>
          </a:prstGeom>
        </p:spPr>
      </p:pic>
      <p:sp>
        <p:nvSpPr>
          <p:cNvPr id="40" name="Isosceles Triangle 39"/>
          <p:cNvSpPr/>
          <p:nvPr/>
        </p:nvSpPr>
        <p:spPr bwMode="gray">
          <a:xfrm>
            <a:off x="8862634" y="4355782"/>
            <a:ext cx="226492" cy="192725"/>
          </a:xfrm>
          <a:prstGeom prst="triangl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41" name="Isosceles Triangle 40"/>
          <p:cNvSpPr/>
          <p:nvPr/>
        </p:nvSpPr>
        <p:spPr bwMode="gray">
          <a:xfrm>
            <a:off x="7917279" y="2959220"/>
            <a:ext cx="226492" cy="192725"/>
          </a:xfrm>
          <a:prstGeom prst="triangl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cxnSp>
        <p:nvCxnSpPr>
          <p:cNvPr id="42" name="Straight Connector 41"/>
          <p:cNvCxnSpPr>
            <a:endCxn id="40" idx="1"/>
          </p:cNvCxnSpPr>
          <p:nvPr/>
        </p:nvCxnSpPr>
        <p:spPr>
          <a:xfrm>
            <a:off x="8115603" y="3346026"/>
            <a:ext cx="803654" cy="1106119"/>
          </a:xfrm>
          <a:prstGeom prst="line">
            <a:avLst/>
          </a:prstGeom>
          <a:ln w="19050">
            <a:solidFill>
              <a:srgbClr val="7030A0"/>
            </a:solidFill>
          </a:ln>
        </p:spPr>
        <p:style>
          <a:lnRef idx="1">
            <a:schemeClr val="accent1"/>
          </a:lnRef>
          <a:fillRef idx="0">
            <a:schemeClr val="accent1"/>
          </a:fillRef>
          <a:effectRef idx="0">
            <a:schemeClr val="accent1"/>
          </a:effectRef>
          <a:fontRef idx="minor">
            <a:schemeClr val="tx1"/>
          </a:fontRef>
        </p:style>
      </p:cxnSp>
      <p:pic>
        <p:nvPicPr>
          <p:cNvPr id="43" name="Picture 42"/>
          <p:cNvPicPr>
            <a:picLocks noChangeAspect="1"/>
          </p:cNvPicPr>
          <p:nvPr/>
        </p:nvPicPr>
        <p:blipFill>
          <a:blip r:embed="rId8"/>
          <a:stretch>
            <a:fillRect/>
          </a:stretch>
        </p:blipFill>
        <p:spPr>
          <a:xfrm>
            <a:off x="5484089" y="3249662"/>
            <a:ext cx="1198280" cy="1674589"/>
          </a:xfrm>
          <a:prstGeom prst="rect">
            <a:avLst/>
          </a:prstGeom>
        </p:spPr>
      </p:pic>
      <p:sp>
        <p:nvSpPr>
          <p:cNvPr id="44" name="TextBox 43"/>
          <p:cNvSpPr txBox="1"/>
          <p:nvPr/>
        </p:nvSpPr>
        <p:spPr>
          <a:xfrm>
            <a:off x="9098525" y="4334773"/>
            <a:ext cx="1001099" cy="153888"/>
          </a:xfrm>
          <a:prstGeom prst="rect">
            <a:avLst/>
          </a:prstGeom>
          <a:solidFill>
            <a:schemeClr val="bg1"/>
          </a:solidFill>
        </p:spPr>
        <p:txBody>
          <a:bodyPr wrap="square" lIns="0" tIns="0" rIns="0" bIns="0" rtlCol="0">
            <a:spAutoFit/>
          </a:bodyPr>
          <a:lstStyle/>
          <a:p>
            <a:pPr>
              <a:spcBef>
                <a:spcPts val="600"/>
              </a:spcBef>
              <a:buSzPct val="100000"/>
            </a:pPr>
            <a:r>
              <a:rPr lang="en-US" sz="1000" dirty="0">
                <a:solidFill>
                  <a:srgbClr val="313131"/>
                </a:solidFill>
              </a:rPr>
              <a:t>Shahbazpur GF</a:t>
            </a:r>
            <a:endParaRPr lang="en-IN" sz="1000" dirty="0">
              <a:solidFill>
                <a:srgbClr val="313131"/>
              </a:solidFill>
            </a:endParaRPr>
          </a:p>
        </p:txBody>
      </p:sp>
      <p:sp>
        <p:nvSpPr>
          <p:cNvPr id="45" name="TextBox 44"/>
          <p:cNvSpPr txBox="1"/>
          <p:nvPr/>
        </p:nvSpPr>
        <p:spPr>
          <a:xfrm>
            <a:off x="8143771" y="2988932"/>
            <a:ext cx="1001099" cy="153888"/>
          </a:xfrm>
          <a:prstGeom prst="rect">
            <a:avLst/>
          </a:prstGeom>
          <a:solidFill>
            <a:schemeClr val="bg1"/>
          </a:solidFill>
        </p:spPr>
        <p:txBody>
          <a:bodyPr wrap="square" lIns="0" tIns="0" rIns="0" bIns="0" rtlCol="0">
            <a:spAutoFit/>
          </a:bodyPr>
          <a:lstStyle/>
          <a:p>
            <a:pPr>
              <a:spcBef>
                <a:spcPts val="600"/>
              </a:spcBef>
              <a:buSzPct val="100000"/>
            </a:pPr>
            <a:r>
              <a:rPr lang="en-US" sz="1000" dirty="0">
                <a:solidFill>
                  <a:srgbClr val="313131"/>
                </a:solidFill>
              </a:rPr>
              <a:t>Bhola North GF</a:t>
            </a:r>
            <a:endParaRPr lang="en-IN" sz="1000" dirty="0">
              <a:solidFill>
                <a:srgbClr val="313131"/>
              </a:solidFill>
            </a:endParaRPr>
          </a:p>
        </p:txBody>
      </p:sp>
      <p:cxnSp>
        <p:nvCxnSpPr>
          <p:cNvPr id="46" name="Straight Connector 45"/>
          <p:cNvCxnSpPr>
            <a:stCxn id="40" idx="2"/>
          </p:cNvCxnSpPr>
          <p:nvPr/>
        </p:nvCxnSpPr>
        <p:spPr>
          <a:xfrm flipH="1" flipV="1">
            <a:off x="7746636" y="3156142"/>
            <a:ext cx="1115998" cy="1392365"/>
          </a:xfrm>
          <a:prstGeom prst="line">
            <a:avLst/>
          </a:prstGeom>
          <a:ln w="19050">
            <a:solidFill>
              <a:schemeClr val="accent4"/>
            </a:solidFill>
            <a:prstDash val="dash"/>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6612272" y="3116546"/>
            <a:ext cx="1084946" cy="0"/>
          </a:xfrm>
          <a:prstGeom prst="line">
            <a:avLst/>
          </a:prstGeom>
          <a:ln w="19050">
            <a:solidFill>
              <a:schemeClr val="accent4"/>
            </a:solidFill>
            <a:prstDash val="dash"/>
          </a:ln>
        </p:spPr>
        <p:style>
          <a:lnRef idx="1">
            <a:schemeClr val="accent1"/>
          </a:lnRef>
          <a:fillRef idx="0">
            <a:schemeClr val="accent1"/>
          </a:fillRef>
          <a:effectRef idx="0">
            <a:schemeClr val="accent1"/>
          </a:effectRef>
          <a:fontRef idx="minor">
            <a:schemeClr val="tx1"/>
          </a:fontRef>
        </p:style>
      </p:cxnSp>
      <p:graphicFrame>
        <p:nvGraphicFramePr>
          <p:cNvPr id="48" name="Table 47"/>
          <p:cNvGraphicFramePr>
            <a:graphicFrameLocks noGrp="1"/>
          </p:cNvGraphicFramePr>
          <p:nvPr>
            <p:extLst>
              <p:ext uri="{D42A27DB-BD31-4B8C-83A1-F6EECF244321}">
                <p14:modId xmlns:p14="http://schemas.microsoft.com/office/powerpoint/2010/main" val="1887335892"/>
              </p:ext>
            </p:extLst>
          </p:nvPr>
        </p:nvGraphicFramePr>
        <p:xfrm>
          <a:off x="6284860" y="5800442"/>
          <a:ext cx="3956104" cy="1280160"/>
        </p:xfrm>
        <a:graphic>
          <a:graphicData uri="http://schemas.openxmlformats.org/drawingml/2006/table">
            <a:tbl>
              <a:tblPr firstRow="1">
                <a:tableStyleId>{3B4B98B0-60AC-42C2-AFA5-B58CD77FA1E5}</a:tableStyleId>
              </a:tblPr>
              <a:tblGrid>
                <a:gridCol w="971808">
                  <a:extLst>
                    <a:ext uri="{9D8B030D-6E8A-4147-A177-3AD203B41FA5}">
                      <a16:colId xmlns:a16="http://schemas.microsoft.com/office/drawing/2014/main" val="1659914186"/>
                    </a:ext>
                  </a:extLst>
                </a:gridCol>
                <a:gridCol w="2984296">
                  <a:extLst>
                    <a:ext uri="{9D8B030D-6E8A-4147-A177-3AD203B41FA5}">
                      <a16:colId xmlns:a16="http://schemas.microsoft.com/office/drawing/2014/main" val="3349145812"/>
                    </a:ext>
                  </a:extLst>
                </a:gridCol>
              </a:tblGrid>
              <a:tr h="198687">
                <a:tc>
                  <a:txBody>
                    <a:bodyPr/>
                    <a:lstStyle/>
                    <a:p>
                      <a:pPr algn="ctr"/>
                      <a:r>
                        <a:rPr lang="en-US" sz="800" dirty="0"/>
                        <a:t>Legend</a:t>
                      </a:r>
                      <a:endParaRPr lang="en-IN" sz="800" b="0" dirty="0"/>
                    </a:p>
                  </a:txBody>
                  <a:tcPr>
                    <a:solidFill>
                      <a:schemeClr val="bg1"/>
                    </a:solidFill>
                  </a:tcPr>
                </a:tc>
                <a:tc>
                  <a:txBody>
                    <a:bodyPr/>
                    <a:lstStyle/>
                    <a:p>
                      <a:r>
                        <a:rPr lang="en-US" sz="800" dirty="0"/>
                        <a:t>Infrastructure component</a:t>
                      </a:r>
                      <a:endParaRPr lang="en-IN" sz="800" b="0" dirty="0"/>
                    </a:p>
                  </a:txBody>
                  <a:tcPr>
                    <a:solidFill>
                      <a:schemeClr val="bg1"/>
                    </a:solidFill>
                  </a:tcPr>
                </a:tc>
                <a:extLst>
                  <a:ext uri="{0D108BD9-81ED-4DB2-BD59-A6C34878D82A}">
                    <a16:rowId xmlns:a16="http://schemas.microsoft.com/office/drawing/2014/main" val="202154620"/>
                  </a:ext>
                </a:extLst>
              </a:tr>
              <a:tr h="198687">
                <a:tc>
                  <a:txBody>
                    <a:bodyPr/>
                    <a:lstStyle/>
                    <a:p>
                      <a:endParaRPr lang="en-IN" sz="800" b="0" dirty="0"/>
                    </a:p>
                  </a:txBody>
                  <a:tcPr>
                    <a:solidFill>
                      <a:schemeClr val="bg1"/>
                    </a:solidFill>
                  </a:tcPr>
                </a:tc>
                <a:tc>
                  <a:txBody>
                    <a:bodyPr/>
                    <a:lstStyle/>
                    <a:p>
                      <a:r>
                        <a:rPr lang="en-US" sz="800" dirty="0"/>
                        <a:t>GTCL Transmission Line (up</a:t>
                      </a:r>
                      <a:r>
                        <a:rPr lang="en-US" sz="800" baseline="0" dirty="0"/>
                        <a:t> to 14 inches)</a:t>
                      </a:r>
                      <a:endParaRPr lang="en-IN" sz="800" b="0" dirty="0"/>
                    </a:p>
                  </a:txBody>
                  <a:tcPr>
                    <a:solidFill>
                      <a:schemeClr val="bg1"/>
                    </a:solidFill>
                  </a:tcPr>
                </a:tc>
                <a:extLst>
                  <a:ext uri="{0D108BD9-81ED-4DB2-BD59-A6C34878D82A}">
                    <a16:rowId xmlns:a16="http://schemas.microsoft.com/office/drawing/2014/main" val="2120283131"/>
                  </a:ext>
                </a:extLst>
              </a:tr>
              <a:tr h="198687">
                <a:tc>
                  <a:txBody>
                    <a:bodyPr/>
                    <a:lstStyle/>
                    <a:p>
                      <a:endParaRPr lang="en-IN" sz="800" b="0" dirty="0"/>
                    </a:p>
                  </a:txBody>
                  <a:tcPr>
                    <a:solidFill>
                      <a:schemeClr val="bg1"/>
                    </a:solidFill>
                  </a:tcPr>
                </a:tc>
                <a:tc>
                  <a:txBody>
                    <a:bodyPr/>
                    <a:lstStyle/>
                    <a:p>
                      <a:r>
                        <a:rPr lang="en-US" sz="800" dirty="0"/>
                        <a:t>GTCL Proposed Transmission Line ( up to 30 inches)</a:t>
                      </a:r>
                      <a:endParaRPr lang="en-IN" sz="800" b="0" dirty="0"/>
                    </a:p>
                  </a:txBody>
                  <a:tcPr>
                    <a:solidFill>
                      <a:schemeClr val="bg1"/>
                    </a:solidFill>
                  </a:tcPr>
                </a:tc>
                <a:extLst>
                  <a:ext uri="{0D108BD9-81ED-4DB2-BD59-A6C34878D82A}">
                    <a16:rowId xmlns:a16="http://schemas.microsoft.com/office/drawing/2014/main" val="3110394366"/>
                  </a:ext>
                </a:extLst>
              </a:tr>
              <a:tr h="198687">
                <a:tc>
                  <a:txBody>
                    <a:bodyPr/>
                    <a:lstStyle/>
                    <a:p>
                      <a:endParaRPr lang="en-IN" sz="800" b="0" dirty="0"/>
                    </a:p>
                  </a:txBody>
                  <a:tcPr>
                    <a:solidFill>
                      <a:schemeClr val="bg1"/>
                    </a:solidFill>
                  </a:tcPr>
                </a:tc>
                <a:tc>
                  <a:txBody>
                    <a:bodyPr/>
                    <a:lstStyle/>
                    <a:p>
                      <a:r>
                        <a:rPr lang="en-US" sz="800" dirty="0"/>
                        <a:t>Gas Field (Bhola North</a:t>
                      </a:r>
                      <a:r>
                        <a:rPr lang="en-US" sz="800" baseline="0" dirty="0"/>
                        <a:t> </a:t>
                      </a:r>
                      <a:r>
                        <a:rPr lang="en-US" sz="800" dirty="0"/>
                        <a:t>&amp; Shahbazpur)</a:t>
                      </a:r>
                      <a:endParaRPr lang="en-IN" sz="800" b="0" dirty="0"/>
                    </a:p>
                  </a:txBody>
                  <a:tcPr>
                    <a:solidFill>
                      <a:schemeClr val="bg1"/>
                    </a:solidFill>
                  </a:tcPr>
                </a:tc>
                <a:extLst>
                  <a:ext uri="{0D108BD9-81ED-4DB2-BD59-A6C34878D82A}">
                    <a16:rowId xmlns:a16="http://schemas.microsoft.com/office/drawing/2014/main" val="76836288"/>
                  </a:ext>
                </a:extLst>
              </a:tr>
              <a:tr h="198687">
                <a:tc>
                  <a:txBody>
                    <a:bodyPr/>
                    <a:lstStyle/>
                    <a:p>
                      <a:endParaRPr lang="en-IN" sz="800" b="0" dirty="0"/>
                    </a:p>
                  </a:txBody>
                  <a:tcPr>
                    <a:solidFill>
                      <a:schemeClr val="bg1"/>
                    </a:solidFill>
                  </a:tcPr>
                </a:tc>
                <a:tc>
                  <a:txBody>
                    <a:bodyPr/>
                    <a:lstStyle/>
                    <a:p>
                      <a:r>
                        <a:rPr lang="en-US" sz="800" dirty="0"/>
                        <a:t>Commissioned Power Plant</a:t>
                      </a:r>
                      <a:endParaRPr lang="en-IN" sz="800" b="0" dirty="0"/>
                    </a:p>
                  </a:txBody>
                  <a:tcPr>
                    <a:solidFill>
                      <a:schemeClr val="bg1"/>
                    </a:solidFill>
                  </a:tcPr>
                </a:tc>
                <a:extLst>
                  <a:ext uri="{0D108BD9-81ED-4DB2-BD59-A6C34878D82A}">
                    <a16:rowId xmlns:a16="http://schemas.microsoft.com/office/drawing/2014/main" val="828964890"/>
                  </a:ext>
                </a:extLst>
              </a:tr>
              <a:tr h="198687">
                <a:tc>
                  <a:txBody>
                    <a:bodyPr/>
                    <a:lstStyle/>
                    <a:p>
                      <a:endParaRPr lang="en-IN" sz="800" b="0" dirty="0"/>
                    </a:p>
                  </a:txBody>
                  <a:tcPr>
                    <a:solidFill>
                      <a:schemeClr val="bg1"/>
                    </a:solidFill>
                  </a:tcPr>
                </a:tc>
                <a:tc>
                  <a:txBody>
                    <a:bodyPr/>
                    <a:lstStyle/>
                    <a:p>
                      <a:r>
                        <a:rPr lang="en-US" sz="800" dirty="0"/>
                        <a:t>Under Construction Power Plant</a:t>
                      </a:r>
                      <a:endParaRPr lang="en-IN" sz="800" b="0" dirty="0"/>
                    </a:p>
                  </a:txBody>
                  <a:tcPr>
                    <a:solidFill>
                      <a:schemeClr val="bg1"/>
                    </a:solidFill>
                  </a:tcPr>
                </a:tc>
                <a:extLst>
                  <a:ext uri="{0D108BD9-81ED-4DB2-BD59-A6C34878D82A}">
                    <a16:rowId xmlns:a16="http://schemas.microsoft.com/office/drawing/2014/main" val="2899388282"/>
                  </a:ext>
                </a:extLst>
              </a:tr>
            </a:tbl>
          </a:graphicData>
        </a:graphic>
      </p:graphicFrame>
      <p:cxnSp>
        <p:nvCxnSpPr>
          <p:cNvPr id="49" name="Straight Connector 48"/>
          <p:cNvCxnSpPr/>
          <p:nvPr/>
        </p:nvCxnSpPr>
        <p:spPr>
          <a:xfrm>
            <a:off x="6436627" y="6122209"/>
            <a:ext cx="721109" cy="1612"/>
          </a:xfrm>
          <a:prstGeom prst="line">
            <a:avLst/>
          </a:prstGeom>
          <a:ln w="38100">
            <a:solidFill>
              <a:srgbClr val="7030A0"/>
            </a:solidFill>
          </a:ln>
        </p:spPr>
        <p:style>
          <a:lnRef idx="1">
            <a:schemeClr val="accent1"/>
          </a:lnRef>
          <a:fillRef idx="0">
            <a:schemeClr val="accent1"/>
          </a:fillRef>
          <a:effectRef idx="0">
            <a:schemeClr val="accent1"/>
          </a:effectRef>
          <a:fontRef idx="minor">
            <a:schemeClr val="tx1"/>
          </a:fontRef>
        </p:style>
      </p:cxnSp>
      <p:sp>
        <p:nvSpPr>
          <p:cNvPr id="51" name="Oval 50"/>
          <p:cNvSpPr/>
          <p:nvPr/>
        </p:nvSpPr>
        <p:spPr bwMode="gray">
          <a:xfrm>
            <a:off x="8485158" y="4493901"/>
            <a:ext cx="206668" cy="213735"/>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52" name="Oval 51"/>
          <p:cNvSpPr/>
          <p:nvPr/>
        </p:nvSpPr>
        <p:spPr bwMode="gray">
          <a:xfrm>
            <a:off x="8456846" y="4376365"/>
            <a:ext cx="206668" cy="213735"/>
          </a:xfrm>
          <a:prstGeom prst="ellipse">
            <a:avLst/>
          </a:prstGeom>
          <a:solidFill>
            <a:srgbClr val="ED8B0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53" name="TextBox 52"/>
          <p:cNvSpPr txBox="1"/>
          <p:nvPr/>
        </p:nvSpPr>
        <p:spPr>
          <a:xfrm>
            <a:off x="7235067" y="4607435"/>
            <a:ext cx="1215174" cy="153888"/>
          </a:xfrm>
          <a:prstGeom prst="rect">
            <a:avLst/>
          </a:prstGeom>
          <a:solidFill>
            <a:schemeClr val="bg1"/>
          </a:solidFill>
        </p:spPr>
        <p:txBody>
          <a:bodyPr wrap="square" lIns="0" tIns="0" rIns="0" bIns="0" rtlCol="0">
            <a:spAutoFit/>
          </a:bodyPr>
          <a:lstStyle/>
          <a:p>
            <a:pPr>
              <a:spcBef>
                <a:spcPts val="600"/>
              </a:spcBef>
              <a:buSzPct val="100000"/>
            </a:pPr>
            <a:r>
              <a:rPr lang="en-US" sz="1000" dirty="0">
                <a:solidFill>
                  <a:srgbClr val="313131"/>
                </a:solidFill>
              </a:rPr>
              <a:t>Bhola I 225 MW</a:t>
            </a:r>
            <a:endParaRPr lang="en-IN" sz="1000" dirty="0">
              <a:solidFill>
                <a:srgbClr val="313131"/>
              </a:solidFill>
            </a:endParaRPr>
          </a:p>
        </p:txBody>
      </p:sp>
      <p:sp>
        <p:nvSpPr>
          <p:cNvPr id="54" name="TextBox 53"/>
          <p:cNvSpPr txBox="1"/>
          <p:nvPr/>
        </p:nvSpPr>
        <p:spPr>
          <a:xfrm>
            <a:off x="7110339" y="4399338"/>
            <a:ext cx="1336138" cy="153888"/>
          </a:xfrm>
          <a:prstGeom prst="rect">
            <a:avLst/>
          </a:prstGeom>
          <a:solidFill>
            <a:schemeClr val="bg1"/>
          </a:solidFill>
        </p:spPr>
        <p:txBody>
          <a:bodyPr wrap="square" lIns="0" tIns="0" rIns="0" bIns="0" rtlCol="0">
            <a:spAutoFit/>
          </a:bodyPr>
          <a:lstStyle/>
          <a:p>
            <a:pPr>
              <a:spcBef>
                <a:spcPts val="600"/>
              </a:spcBef>
              <a:buSzPct val="100000"/>
            </a:pPr>
            <a:r>
              <a:rPr lang="en-US" sz="1000" dirty="0">
                <a:solidFill>
                  <a:srgbClr val="313131"/>
                </a:solidFill>
              </a:rPr>
              <a:t>NBBL 220 MW CCPP</a:t>
            </a:r>
            <a:endParaRPr lang="en-IN" sz="1000" dirty="0">
              <a:solidFill>
                <a:srgbClr val="313131"/>
              </a:solidFill>
            </a:endParaRPr>
          </a:p>
        </p:txBody>
      </p:sp>
      <p:sp>
        <p:nvSpPr>
          <p:cNvPr id="55" name="TextBox 54"/>
          <p:cNvSpPr txBox="1"/>
          <p:nvPr/>
        </p:nvSpPr>
        <p:spPr>
          <a:xfrm>
            <a:off x="6832234" y="3410775"/>
            <a:ext cx="1215174" cy="307777"/>
          </a:xfrm>
          <a:prstGeom prst="rect">
            <a:avLst/>
          </a:prstGeom>
          <a:solidFill>
            <a:schemeClr val="bg1"/>
          </a:solidFill>
        </p:spPr>
        <p:txBody>
          <a:bodyPr wrap="square" lIns="0" tIns="0" rIns="0" bIns="0" rtlCol="0">
            <a:spAutoFit/>
          </a:bodyPr>
          <a:lstStyle/>
          <a:p>
            <a:pPr>
              <a:spcBef>
                <a:spcPts val="600"/>
              </a:spcBef>
              <a:buSzPct val="100000"/>
            </a:pPr>
            <a:r>
              <a:rPr lang="en-US" sz="1000" dirty="0">
                <a:solidFill>
                  <a:srgbClr val="313131"/>
                </a:solidFill>
              </a:rPr>
              <a:t>Venture Energy (Sinha) 33 MW</a:t>
            </a:r>
            <a:endParaRPr lang="en-IN" sz="1000" dirty="0">
              <a:solidFill>
                <a:srgbClr val="313131"/>
              </a:solidFill>
            </a:endParaRPr>
          </a:p>
        </p:txBody>
      </p:sp>
      <p:sp>
        <p:nvSpPr>
          <p:cNvPr id="56" name="Oval 55"/>
          <p:cNvSpPr/>
          <p:nvPr/>
        </p:nvSpPr>
        <p:spPr bwMode="gray">
          <a:xfrm>
            <a:off x="7902907" y="3372164"/>
            <a:ext cx="206668" cy="213735"/>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57" name="Oval 56"/>
          <p:cNvSpPr/>
          <p:nvPr/>
        </p:nvSpPr>
        <p:spPr bwMode="gray">
          <a:xfrm>
            <a:off x="6728838" y="6664416"/>
            <a:ext cx="134782" cy="139391"/>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58" name="Oval 57"/>
          <p:cNvSpPr/>
          <p:nvPr/>
        </p:nvSpPr>
        <p:spPr bwMode="gray">
          <a:xfrm>
            <a:off x="6728838" y="6879526"/>
            <a:ext cx="134782" cy="139391"/>
          </a:xfrm>
          <a:prstGeom prst="ellipse">
            <a:avLst/>
          </a:prstGeom>
          <a:solidFill>
            <a:srgbClr val="ED8B0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cxnSp>
        <p:nvCxnSpPr>
          <p:cNvPr id="59" name="Straight Connector 58"/>
          <p:cNvCxnSpPr/>
          <p:nvPr/>
        </p:nvCxnSpPr>
        <p:spPr>
          <a:xfrm flipH="1" flipV="1">
            <a:off x="6434721" y="6337319"/>
            <a:ext cx="723015" cy="1"/>
          </a:xfrm>
          <a:prstGeom prst="line">
            <a:avLst/>
          </a:prstGeom>
          <a:ln w="19050">
            <a:solidFill>
              <a:schemeClr val="accent4"/>
            </a:solidFill>
            <a:prstDash val="dash"/>
          </a:ln>
        </p:spPr>
        <p:style>
          <a:lnRef idx="1">
            <a:schemeClr val="accent1"/>
          </a:lnRef>
          <a:fillRef idx="0">
            <a:schemeClr val="accent1"/>
          </a:fillRef>
          <a:effectRef idx="0">
            <a:schemeClr val="accent1"/>
          </a:effectRef>
          <a:fontRef idx="minor">
            <a:schemeClr val="tx1"/>
          </a:fontRef>
        </p:style>
      </p:cxnSp>
      <p:sp>
        <p:nvSpPr>
          <p:cNvPr id="60" name="Isosceles Triangle 59"/>
          <p:cNvSpPr/>
          <p:nvPr/>
        </p:nvSpPr>
        <p:spPr bwMode="gray">
          <a:xfrm>
            <a:off x="6706724" y="6438023"/>
            <a:ext cx="147711" cy="125689"/>
          </a:xfrm>
          <a:prstGeom prst="triangl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1" name="Oval 60"/>
          <p:cNvSpPr/>
          <p:nvPr/>
        </p:nvSpPr>
        <p:spPr bwMode="gray">
          <a:xfrm>
            <a:off x="5833009" y="4071542"/>
            <a:ext cx="673856" cy="674532"/>
          </a:xfrm>
          <a:prstGeom prst="ellipse">
            <a:avLst/>
          </a:prstGeom>
          <a:noFill/>
          <a:ln w="190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graphicFrame>
        <p:nvGraphicFramePr>
          <p:cNvPr id="62" name="Table 61"/>
          <p:cNvGraphicFramePr>
            <a:graphicFrameLocks noGrp="1"/>
          </p:cNvGraphicFramePr>
          <p:nvPr>
            <p:extLst>
              <p:ext uri="{D42A27DB-BD31-4B8C-83A1-F6EECF244321}">
                <p14:modId xmlns:p14="http://schemas.microsoft.com/office/powerpoint/2010/main" val="1187936060"/>
              </p:ext>
            </p:extLst>
          </p:nvPr>
        </p:nvGraphicFramePr>
        <p:xfrm>
          <a:off x="449264" y="2926072"/>
          <a:ext cx="4744964" cy="3221736"/>
        </p:xfrm>
        <a:graphic>
          <a:graphicData uri="http://schemas.openxmlformats.org/drawingml/2006/table">
            <a:tbl>
              <a:tblPr firstRow="1">
                <a:tableStyleId>{3B4B98B0-60AC-42C2-AFA5-B58CD77FA1E5}</a:tableStyleId>
              </a:tblPr>
              <a:tblGrid>
                <a:gridCol w="1630267">
                  <a:extLst>
                    <a:ext uri="{9D8B030D-6E8A-4147-A177-3AD203B41FA5}">
                      <a16:colId xmlns:a16="http://schemas.microsoft.com/office/drawing/2014/main" val="1659914186"/>
                    </a:ext>
                  </a:extLst>
                </a:gridCol>
                <a:gridCol w="3114697">
                  <a:extLst>
                    <a:ext uri="{9D8B030D-6E8A-4147-A177-3AD203B41FA5}">
                      <a16:colId xmlns:a16="http://schemas.microsoft.com/office/drawing/2014/main" val="3349145812"/>
                    </a:ext>
                  </a:extLst>
                </a:gridCol>
              </a:tblGrid>
              <a:tr h="156111">
                <a:tc>
                  <a:txBody>
                    <a:bodyPr/>
                    <a:lstStyle/>
                    <a:p>
                      <a:pPr>
                        <a:lnSpc>
                          <a:spcPct val="114000"/>
                        </a:lnSpc>
                        <a:spcAft>
                          <a:spcPts val="600"/>
                        </a:spcAft>
                      </a:pPr>
                      <a:r>
                        <a:rPr lang="en-US" sz="1000" dirty="0"/>
                        <a:t>Power Plant</a:t>
                      </a:r>
                      <a:endParaRPr lang="en-IN" sz="1000" b="0" dirty="0"/>
                    </a:p>
                  </a:txBody>
                  <a:tcPr/>
                </a:tc>
                <a:tc>
                  <a:txBody>
                    <a:bodyPr/>
                    <a:lstStyle/>
                    <a:p>
                      <a:pPr>
                        <a:lnSpc>
                          <a:spcPct val="114000"/>
                        </a:lnSpc>
                        <a:spcAft>
                          <a:spcPts val="600"/>
                        </a:spcAft>
                      </a:pPr>
                      <a:r>
                        <a:rPr lang="en-US" sz="1000" dirty="0"/>
                        <a:t>SGCL Infrastructure component</a:t>
                      </a:r>
                      <a:endParaRPr lang="en-IN" sz="1000" b="0" dirty="0"/>
                    </a:p>
                  </a:txBody>
                  <a:tcPr/>
                </a:tc>
                <a:extLst>
                  <a:ext uri="{0D108BD9-81ED-4DB2-BD59-A6C34878D82A}">
                    <a16:rowId xmlns:a16="http://schemas.microsoft.com/office/drawing/2014/main" val="202154620"/>
                  </a:ext>
                </a:extLst>
              </a:tr>
              <a:tr h="351250">
                <a:tc>
                  <a:txBody>
                    <a:bodyPr/>
                    <a:lstStyle/>
                    <a:p>
                      <a:pPr>
                        <a:lnSpc>
                          <a:spcPct val="114000"/>
                        </a:lnSpc>
                        <a:spcAft>
                          <a:spcPts val="600"/>
                        </a:spcAft>
                      </a:pPr>
                      <a:r>
                        <a:rPr lang="en-US" sz="1000" b="0" dirty="0"/>
                        <a:t>Bhola</a:t>
                      </a:r>
                      <a:r>
                        <a:rPr lang="en-US" sz="1000" b="0" baseline="0" dirty="0"/>
                        <a:t> 1 Power Plant 225 MW</a:t>
                      </a:r>
                      <a:endParaRPr lang="en-IN" sz="1000" b="0" dirty="0"/>
                    </a:p>
                  </a:txBody>
                  <a:tcPr/>
                </a:tc>
                <a:tc>
                  <a:txBody>
                    <a:bodyPr/>
                    <a:lstStyle/>
                    <a:p>
                      <a:pPr marL="171450" indent="-171450">
                        <a:lnSpc>
                          <a:spcPct val="114000"/>
                        </a:lnSpc>
                        <a:spcAft>
                          <a:spcPts val="600"/>
                        </a:spcAft>
                        <a:buFont typeface="Arial" panose="020B0604020202020204" pitchFamily="34" charset="0"/>
                        <a:buChar char="•"/>
                      </a:pPr>
                      <a:r>
                        <a:rPr lang="en-US" sz="1000" b="0" dirty="0"/>
                        <a:t>Underground</a:t>
                      </a:r>
                      <a:r>
                        <a:rPr lang="en-US" sz="1000" b="0" baseline="0" dirty="0"/>
                        <a:t> pipeline (2 km, 8 inch) connecting Shahbazpur Gas Field to SGCL Valve Station at Borhanuddin</a:t>
                      </a:r>
                      <a:endParaRPr lang="en-IN" sz="1000" b="0" dirty="0"/>
                    </a:p>
                  </a:txBody>
                  <a:tcPr/>
                </a:tc>
                <a:extLst>
                  <a:ext uri="{0D108BD9-81ED-4DB2-BD59-A6C34878D82A}">
                    <a16:rowId xmlns:a16="http://schemas.microsoft.com/office/drawing/2014/main" val="2120283131"/>
                  </a:ext>
                </a:extLst>
              </a:tr>
              <a:tr h="253681">
                <a:tc>
                  <a:txBody>
                    <a:bodyPr/>
                    <a:lstStyle/>
                    <a:p>
                      <a:pPr>
                        <a:lnSpc>
                          <a:spcPct val="114000"/>
                        </a:lnSpc>
                        <a:spcAft>
                          <a:spcPts val="600"/>
                        </a:spcAft>
                      </a:pPr>
                      <a:r>
                        <a:rPr lang="en-US" sz="1000" b="0" dirty="0"/>
                        <a:t>NBBL 220 MW CCPP (Proposed)</a:t>
                      </a:r>
                      <a:endParaRPr lang="en-IN" sz="1000" b="0" dirty="0"/>
                    </a:p>
                  </a:txBody>
                  <a:tcPr/>
                </a:tc>
                <a:tc>
                  <a:txBody>
                    <a:bodyPr/>
                    <a:lstStyle/>
                    <a:p>
                      <a:pPr marL="171450" indent="-171450">
                        <a:lnSpc>
                          <a:spcPct val="114000"/>
                        </a:lnSpc>
                        <a:spcAft>
                          <a:spcPts val="600"/>
                        </a:spcAft>
                        <a:buFont typeface="Arial" panose="020B0604020202020204" pitchFamily="34" charset="0"/>
                        <a:buChar char="•"/>
                      </a:pPr>
                      <a:r>
                        <a:rPr lang="en-US" sz="1000" b="0" dirty="0"/>
                        <a:t>(7</a:t>
                      </a:r>
                      <a:r>
                        <a:rPr lang="en-US" sz="1000" b="0" baseline="0" dirty="0"/>
                        <a:t> km, 12 inch) pipeline under construction from Shahbazpur Gas Field to Plant site</a:t>
                      </a:r>
                    </a:p>
                  </a:txBody>
                  <a:tcPr/>
                </a:tc>
                <a:extLst>
                  <a:ext uri="{0D108BD9-81ED-4DB2-BD59-A6C34878D82A}">
                    <a16:rowId xmlns:a16="http://schemas.microsoft.com/office/drawing/2014/main" val="828964890"/>
                  </a:ext>
                </a:extLst>
              </a:tr>
              <a:tr h="253681">
                <a:tc>
                  <a:txBody>
                    <a:bodyPr/>
                    <a:lstStyle/>
                    <a:p>
                      <a:pPr>
                        <a:lnSpc>
                          <a:spcPct val="114000"/>
                        </a:lnSpc>
                        <a:spcAft>
                          <a:spcPts val="600"/>
                        </a:spcAft>
                      </a:pPr>
                      <a:r>
                        <a:rPr lang="en-US" sz="1000" b="0" dirty="0"/>
                        <a:t>NBBL 220 MW CCPP (Temporary)</a:t>
                      </a:r>
                      <a:endParaRPr lang="en-IN" sz="1000" b="0" dirty="0"/>
                    </a:p>
                  </a:txBody>
                  <a:tcPr/>
                </a:tc>
                <a:tc>
                  <a:txBody>
                    <a:bodyPr/>
                    <a:lstStyle/>
                    <a:p>
                      <a:pPr marL="171450" indent="-171450" algn="just">
                        <a:lnSpc>
                          <a:spcPct val="114000"/>
                        </a:lnSpc>
                        <a:spcAft>
                          <a:spcPts val="600"/>
                        </a:spcAft>
                        <a:buFont typeface="Arial" panose="020B0604020202020204" pitchFamily="34" charset="0"/>
                        <a:buChar char="•"/>
                      </a:pPr>
                      <a:r>
                        <a:rPr lang="en-US" sz="1000" b="0" dirty="0"/>
                        <a:t>Considering</a:t>
                      </a:r>
                      <a:r>
                        <a:rPr lang="en-US" sz="1000" b="0" baseline="0" dirty="0"/>
                        <a:t> the delay in construction of above pipeline, NBBL has constructed a temporary pipeline and Regulating &amp; Metering Station (RMS) for gas supply from Bhola I RMS</a:t>
                      </a:r>
                    </a:p>
                    <a:p>
                      <a:pPr marL="171450" indent="-171450">
                        <a:lnSpc>
                          <a:spcPct val="114000"/>
                        </a:lnSpc>
                        <a:spcAft>
                          <a:spcPts val="600"/>
                        </a:spcAft>
                        <a:buFont typeface="Arial" panose="020B0604020202020204" pitchFamily="34" charset="0"/>
                        <a:buChar char="•"/>
                      </a:pPr>
                      <a:r>
                        <a:rPr lang="en-US" sz="1000" b="1" i="1" baseline="0" dirty="0"/>
                        <a:t>The existing Bhola I RMS is capable of supplying 75 mmscfd gas. This would be sufficient to run both the plants at max. utilization</a:t>
                      </a:r>
                    </a:p>
                  </a:txBody>
                  <a:tcPr/>
                </a:tc>
                <a:extLst>
                  <a:ext uri="{0D108BD9-81ED-4DB2-BD59-A6C34878D82A}">
                    <a16:rowId xmlns:a16="http://schemas.microsoft.com/office/drawing/2014/main" val="326427208"/>
                  </a:ext>
                </a:extLst>
              </a:tr>
            </a:tbl>
          </a:graphicData>
        </a:graphic>
      </p:graphicFrame>
      <p:sp>
        <p:nvSpPr>
          <p:cNvPr id="65" name="Oval 64"/>
          <p:cNvSpPr/>
          <p:nvPr/>
        </p:nvSpPr>
        <p:spPr bwMode="gray">
          <a:xfrm>
            <a:off x="8513470" y="4635245"/>
            <a:ext cx="206668" cy="213735"/>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6" name="TextBox 65"/>
          <p:cNvSpPr txBox="1"/>
          <p:nvPr/>
        </p:nvSpPr>
        <p:spPr>
          <a:xfrm>
            <a:off x="7236489" y="4842624"/>
            <a:ext cx="1215174" cy="153888"/>
          </a:xfrm>
          <a:prstGeom prst="rect">
            <a:avLst/>
          </a:prstGeom>
          <a:solidFill>
            <a:schemeClr val="bg1"/>
          </a:solidFill>
        </p:spPr>
        <p:txBody>
          <a:bodyPr wrap="square" lIns="0" tIns="0" rIns="0" bIns="0" rtlCol="0">
            <a:spAutoFit/>
          </a:bodyPr>
          <a:lstStyle/>
          <a:p>
            <a:pPr>
              <a:spcBef>
                <a:spcPts val="600"/>
              </a:spcBef>
              <a:buSzPct val="100000"/>
            </a:pPr>
            <a:r>
              <a:rPr lang="en-US" sz="1000" dirty="0">
                <a:solidFill>
                  <a:srgbClr val="313131"/>
                </a:solidFill>
              </a:rPr>
              <a:t>Aggreko 95 MW</a:t>
            </a:r>
            <a:endParaRPr lang="en-IN" sz="1000" dirty="0">
              <a:solidFill>
                <a:srgbClr val="313131"/>
              </a:solidFill>
            </a:endParaRPr>
          </a:p>
        </p:txBody>
      </p:sp>
      <p:sp>
        <p:nvSpPr>
          <p:cNvPr id="67" name="TextBox 66"/>
          <p:cNvSpPr txBox="1"/>
          <p:nvPr/>
        </p:nvSpPr>
        <p:spPr>
          <a:xfrm>
            <a:off x="6571091" y="2882276"/>
            <a:ext cx="1215174" cy="153888"/>
          </a:xfrm>
          <a:prstGeom prst="rect">
            <a:avLst/>
          </a:prstGeom>
          <a:solidFill>
            <a:schemeClr val="bg1"/>
          </a:solidFill>
        </p:spPr>
        <p:txBody>
          <a:bodyPr wrap="square" lIns="0" tIns="0" rIns="0" bIns="0" rtlCol="0">
            <a:spAutoFit/>
          </a:bodyPr>
          <a:lstStyle/>
          <a:p>
            <a:pPr>
              <a:spcBef>
                <a:spcPts val="600"/>
              </a:spcBef>
              <a:buSzPct val="100000"/>
            </a:pPr>
            <a:r>
              <a:rPr lang="en-US" sz="1000" dirty="0">
                <a:solidFill>
                  <a:srgbClr val="313131"/>
                </a:solidFill>
              </a:rPr>
              <a:t>Towards barisal</a:t>
            </a:r>
            <a:endParaRPr lang="en-IN" sz="1000" dirty="0">
              <a:solidFill>
                <a:srgbClr val="313131"/>
              </a:solidFill>
            </a:endParaRPr>
          </a:p>
        </p:txBody>
      </p:sp>
      <p:sp>
        <p:nvSpPr>
          <p:cNvPr id="69" name="TextBox 68"/>
          <p:cNvSpPr txBox="1"/>
          <p:nvPr/>
        </p:nvSpPr>
        <p:spPr>
          <a:xfrm>
            <a:off x="8250934" y="3292237"/>
            <a:ext cx="1001099" cy="153888"/>
          </a:xfrm>
          <a:prstGeom prst="rect">
            <a:avLst/>
          </a:prstGeom>
          <a:solidFill>
            <a:schemeClr val="bg1"/>
          </a:solidFill>
        </p:spPr>
        <p:txBody>
          <a:bodyPr wrap="square" lIns="0" tIns="0" rIns="0" bIns="0" rtlCol="0">
            <a:spAutoFit/>
          </a:bodyPr>
          <a:lstStyle/>
          <a:p>
            <a:pPr>
              <a:spcBef>
                <a:spcPts val="600"/>
              </a:spcBef>
              <a:buSzPct val="100000"/>
            </a:pPr>
            <a:r>
              <a:rPr lang="en-US" sz="1000" dirty="0">
                <a:solidFill>
                  <a:srgbClr val="313131"/>
                </a:solidFill>
              </a:rPr>
              <a:t>Bhola Town</a:t>
            </a:r>
            <a:endParaRPr lang="en-IN" sz="1000" dirty="0">
              <a:solidFill>
                <a:srgbClr val="313131"/>
              </a:solidFill>
            </a:endParaRPr>
          </a:p>
        </p:txBody>
      </p:sp>
      <p:sp>
        <p:nvSpPr>
          <p:cNvPr id="70" name="Rectangle 69"/>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Petrobangla, GTCL, SGCL, NBBL, Industry Reports, Deloitte Analysis; Note 1) The gas requirement for both plants have been estimated at dispatch levels of 100% with SHR of Bhola I considered at 52% efficiency (as per actual achieved in FY19) and for Nimbus Plant at ~46%  based on design SHR as per EPC contract</a:t>
            </a:r>
          </a:p>
        </p:txBody>
      </p:sp>
    </p:spTree>
    <p:extLst>
      <p:ext uri="{BB962C8B-B14F-4D97-AF65-F5344CB8AC3E}">
        <p14:creationId xmlns:p14="http://schemas.microsoft.com/office/powerpoint/2010/main" val="2973966653"/>
      </p:ext>
    </p:extLst>
  </p:cSld>
  <p:clrMapOvr>
    <a:masterClrMapping/>
  </p:clrMapOvr>
  <p:transition>
    <p:fade/>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334169324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4" name="Object 3"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graphicFrame>
        <p:nvGraphicFramePr>
          <p:cNvPr id="71" name="Table 70"/>
          <p:cNvGraphicFramePr>
            <a:graphicFrameLocks noGrp="1"/>
          </p:cNvGraphicFramePr>
          <p:nvPr>
            <p:custDataLst>
              <p:tags r:id="rId3"/>
            </p:custDataLst>
            <p:extLst>
              <p:ext uri="{D42A27DB-BD31-4B8C-83A1-F6EECF244321}">
                <p14:modId xmlns:p14="http://schemas.microsoft.com/office/powerpoint/2010/main" val="2644341330"/>
              </p:ext>
            </p:ext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statements have been made by the Prime Minister &amp; Energy Advisor to the Prime Minister regarding discovery in Bhola Gas Fields and plan to connect Bhola Island to National Grid</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Gas Transmission | Gas Supply Outlook (Bhola Island)</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 Government of Bangladesh</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a:t>
            </a:r>
            <a:r>
              <a:rPr lang="en-US" sz="1400" dirty="0">
                <a:solidFill>
                  <a:prstClr val="black">
                    <a:lumMod val="50000"/>
                    <a:lumOff val="50000"/>
                  </a:prstClr>
                </a:solidFill>
                <a:latin typeface="Verdana" panose="020B0604030504040204" pitchFamily="34" charset="0"/>
              </a:rPr>
              <a:t>has planned to connect Bhola Island with National Grid </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which may lead to diverting of gas to other consumers nationally presenting a risk for Nimbus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38" name="Table 37"/>
          <p:cNvGraphicFramePr>
            <a:graphicFrameLocks noGrp="1"/>
          </p:cNvGraphicFramePr>
          <p:nvPr>
            <p:custDataLst>
              <p:tags r:id="rId4"/>
            </p:custDataLst>
            <p:extLst>
              <p:ext uri="{D42A27DB-BD31-4B8C-83A1-F6EECF244321}">
                <p14:modId xmlns:p14="http://schemas.microsoft.com/office/powerpoint/2010/main" val="3789155397"/>
              </p:ext>
            </p:extLst>
          </p:nvPr>
        </p:nvGraphicFramePr>
        <p:xfrm>
          <a:off x="449992" y="1961918"/>
          <a:ext cx="4889263" cy="4207558"/>
        </p:xfrm>
        <a:graphic>
          <a:graphicData uri="http://schemas.openxmlformats.org/drawingml/2006/table">
            <a:tbl>
              <a:tblPr firstRow="1" bandRow="1">
                <a:tableStyleId>{5C22544A-7EE6-4342-B048-85BDC9FD1C3A}</a:tableStyleId>
              </a:tblPr>
              <a:tblGrid>
                <a:gridCol w="4889263">
                  <a:extLst>
                    <a:ext uri="{9D8B030D-6E8A-4147-A177-3AD203B41FA5}">
                      <a16:colId xmlns:a16="http://schemas.microsoft.com/office/drawing/2014/main" val="20000"/>
                    </a:ext>
                  </a:extLst>
                </a:gridCol>
              </a:tblGrid>
              <a:tr h="723655">
                <a:tc>
                  <a:txBody>
                    <a:bodyPr/>
                    <a:lstStyle/>
                    <a:p>
                      <a:pPr marL="0" indent="0" algn="just">
                        <a:spcBef>
                          <a:spcPts val="0"/>
                        </a:spcBef>
                        <a:spcAft>
                          <a:spcPts val="600"/>
                        </a:spcAft>
                        <a:buFont typeface="Arial" panose="020B0604020202020204" pitchFamily="34" charset="0"/>
                        <a:buNone/>
                      </a:pPr>
                      <a:r>
                        <a:rPr lang="en-US" sz="1000" b="1" baseline="0" dirty="0">
                          <a:solidFill>
                            <a:schemeClr val="tx1"/>
                          </a:solidFill>
                        </a:rPr>
                        <a:t>Government’s inclination to bring gas from Bhola Island to National Grid</a:t>
                      </a:r>
                    </a:p>
                    <a:p>
                      <a:pPr marL="171450" indent="-171450" algn="just" defTabSz="990571" rtl="0" eaLnBrk="1" latinLnBrk="0" hangingPunct="1">
                        <a:spcBef>
                          <a:spcPts val="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The GoB has planned the following gas pipeline for connecting Bhola Island with National Grid</a:t>
                      </a:r>
                    </a:p>
                    <a:p>
                      <a:pPr marL="171450" indent="-171450" algn="just">
                        <a:spcBef>
                          <a:spcPts val="0"/>
                        </a:spcBef>
                        <a:spcAft>
                          <a:spcPts val="600"/>
                        </a:spcAft>
                        <a:buFont typeface="Arial" panose="020B0604020202020204" pitchFamily="34" charset="0"/>
                        <a:buChar char="•"/>
                      </a:pPr>
                      <a:endParaRPr lang="en-US" sz="1000" b="0" baseline="0" dirty="0">
                        <a:solidFill>
                          <a:schemeClr val="tx1"/>
                        </a:solidFill>
                      </a:endParaRPr>
                    </a:p>
                    <a:p>
                      <a:pPr marL="171450" indent="-171450" algn="just">
                        <a:spcBef>
                          <a:spcPts val="0"/>
                        </a:spcBef>
                        <a:spcAft>
                          <a:spcPts val="600"/>
                        </a:spcAft>
                        <a:buFont typeface="Arial" panose="020B0604020202020204" pitchFamily="34" charset="0"/>
                        <a:buChar char="•"/>
                      </a:pPr>
                      <a:endParaRPr lang="en-US" sz="1000" b="0" baseline="0" dirty="0">
                        <a:solidFill>
                          <a:schemeClr val="tx1"/>
                        </a:solidFill>
                      </a:endParaRPr>
                    </a:p>
                    <a:p>
                      <a:pPr marL="171450" indent="-171450" algn="just">
                        <a:spcBef>
                          <a:spcPts val="0"/>
                        </a:spcBef>
                        <a:spcAft>
                          <a:spcPts val="600"/>
                        </a:spcAft>
                        <a:buFont typeface="Arial" panose="020B0604020202020204" pitchFamily="34" charset="0"/>
                        <a:buChar char="•"/>
                      </a:pPr>
                      <a:endParaRPr lang="en-US" sz="1000" b="0" baseline="0" dirty="0">
                        <a:solidFill>
                          <a:schemeClr val="tx1"/>
                        </a:solidFill>
                      </a:endParaRPr>
                    </a:p>
                    <a:p>
                      <a:pPr marL="171450" indent="-171450" algn="just">
                        <a:spcBef>
                          <a:spcPts val="0"/>
                        </a:spcBef>
                        <a:spcAft>
                          <a:spcPts val="600"/>
                        </a:spcAft>
                        <a:buFont typeface="Arial" panose="020B0604020202020204" pitchFamily="34" charset="0"/>
                        <a:buChar char="•"/>
                      </a:pPr>
                      <a:endParaRPr lang="en-US" sz="1000" b="0" baseline="0" dirty="0">
                        <a:solidFill>
                          <a:schemeClr val="tx1"/>
                        </a:solidFill>
                      </a:endParaRPr>
                    </a:p>
                    <a:p>
                      <a:pPr marL="171450" indent="-171450" algn="just">
                        <a:spcBef>
                          <a:spcPts val="0"/>
                        </a:spcBef>
                        <a:spcAft>
                          <a:spcPts val="600"/>
                        </a:spcAft>
                        <a:buFont typeface="Arial" panose="020B0604020202020204" pitchFamily="34" charset="0"/>
                        <a:buChar char="•"/>
                      </a:pPr>
                      <a:endParaRPr lang="en-US" sz="1000" b="0" baseline="0" dirty="0">
                        <a:solidFill>
                          <a:schemeClr val="tx1"/>
                        </a:solidFill>
                      </a:endParaRPr>
                    </a:p>
                    <a:p>
                      <a:pPr marL="171450" indent="-171450" algn="just">
                        <a:spcBef>
                          <a:spcPts val="0"/>
                        </a:spcBef>
                        <a:spcAft>
                          <a:spcPts val="600"/>
                        </a:spcAft>
                        <a:buFont typeface="Arial" panose="020B0604020202020204" pitchFamily="34" charset="0"/>
                        <a:buChar char="•"/>
                      </a:pPr>
                      <a:endParaRPr lang="en-US" sz="100" b="0" baseline="0" dirty="0">
                        <a:solidFill>
                          <a:schemeClr val="tx1"/>
                        </a:solidFill>
                      </a:endParaRPr>
                    </a:p>
                    <a:p>
                      <a:pPr marL="171450" indent="-171450" algn="just">
                        <a:spcBef>
                          <a:spcPts val="0"/>
                        </a:spcBef>
                        <a:spcAft>
                          <a:spcPts val="600"/>
                        </a:spcAft>
                        <a:buFont typeface="Arial" panose="020B0604020202020204" pitchFamily="34" charset="0"/>
                        <a:buChar char="•"/>
                      </a:pPr>
                      <a:r>
                        <a:rPr lang="en-US" sz="1000" b="0" baseline="0" dirty="0">
                          <a:solidFill>
                            <a:schemeClr val="tx1"/>
                          </a:solidFill>
                        </a:rPr>
                        <a:t>Currently the Bhola Gas field’s production are entirely consumed in the Bhola Island itself due to lack of connection with the national grid</a:t>
                      </a:r>
                    </a:p>
                    <a:p>
                      <a:pPr marL="171450" marR="0" lvl="0" indent="-171450" algn="just" defTabSz="990571" rtl="0" eaLnBrk="1" fontAlgn="auto" latinLnBrk="0" hangingPunct="1">
                        <a:lnSpc>
                          <a:spcPct val="100000"/>
                        </a:lnSpc>
                        <a:spcBef>
                          <a:spcPts val="0"/>
                        </a:spcBef>
                        <a:spcAft>
                          <a:spcPts val="600"/>
                        </a:spcAft>
                        <a:buClrTx/>
                        <a:buSzTx/>
                        <a:buFont typeface="Arial" panose="020B0604020202020204" pitchFamily="34" charset="0"/>
                        <a:buChar char="•"/>
                        <a:tabLst/>
                        <a:defRPr/>
                      </a:pPr>
                      <a:r>
                        <a:rPr lang="en-US" sz="1000" b="0" baseline="0" dirty="0">
                          <a:solidFill>
                            <a:schemeClr val="tx1"/>
                          </a:solidFill>
                        </a:rPr>
                        <a:t>With the new discovery of Gas in Shahbazpur East 1 and Bhola North Fields, the Prime Minister of Bangladesh and the Energy Advisor to the Prime Minister have also expressed interest in connecting the Bhola fields with the national grid to reduce gas supply deficit</a:t>
                      </a:r>
                    </a:p>
                    <a:p>
                      <a:pPr marL="171450" indent="-171450" algn="just">
                        <a:spcBef>
                          <a:spcPts val="0"/>
                        </a:spcBef>
                        <a:spcAft>
                          <a:spcPts val="600"/>
                        </a:spcAft>
                        <a:buFont typeface="Arial" panose="020B0604020202020204" pitchFamily="34" charset="0"/>
                        <a:buChar char="•"/>
                      </a:pPr>
                      <a:r>
                        <a:rPr lang="en-US" sz="1000" b="0" baseline="0" dirty="0">
                          <a:solidFill>
                            <a:schemeClr val="tx1"/>
                          </a:solidFill>
                        </a:rPr>
                        <a:t>In case the gas pipeline is build to transport gas from Bhola Island to consumers on mainland Bangladesh, there could be a gas supply risk for Nimbus</a:t>
                      </a:r>
                    </a:p>
                    <a:p>
                      <a:pPr marL="171450" indent="-171450" algn="just">
                        <a:spcBef>
                          <a:spcPts val="0"/>
                        </a:spcBef>
                        <a:spcAft>
                          <a:spcPts val="600"/>
                        </a:spcAft>
                        <a:buFont typeface="Arial" panose="020B0604020202020204" pitchFamily="34" charset="0"/>
                        <a:buChar char="•"/>
                      </a:pPr>
                      <a:r>
                        <a:rPr lang="en-US" sz="1000" b="0" baseline="0" dirty="0">
                          <a:solidFill>
                            <a:schemeClr val="tx1"/>
                          </a:solidFill>
                        </a:rPr>
                        <a:t>However the gas pipeline is still in planning stages and may take considerable time to get commissioned considering the approval process and EPC time</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35" name="Freeform 3"/>
          <p:cNvSpPr>
            <a:spLocks/>
          </p:cNvSpPr>
          <p:nvPr/>
        </p:nvSpPr>
        <p:spPr bwMode="gray">
          <a:xfrm>
            <a:off x="5706182" y="4601718"/>
            <a:ext cx="4735625" cy="1788015"/>
          </a:xfrm>
          <a:custGeom>
            <a:avLst/>
            <a:gdLst/>
            <a:ahLst/>
            <a:cxnLst>
              <a:cxn ang="0">
                <a:pos x="222" y="20"/>
              </a:cxn>
              <a:cxn ang="0">
                <a:pos x="476" y="6"/>
              </a:cxn>
              <a:cxn ang="0">
                <a:pos x="671" y="35"/>
              </a:cxn>
              <a:cxn ang="0">
                <a:pos x="901" y="27"/>
              </a:cxn>
              <a:cxn ang="0">
                <a:pos x="1105" y="7"/>
              </a:cxn>
              <a:cxn ang="0">
                <a:pos x="1351" y="13"/>
              </a:cxn>
              <a:cxn ang="0">
                <a:pos x="1750" y="16"/>
              </a:cxn>
              <a:cxn ang="0">
                <a:pos x="1962" y="33"/>
              </a:cxn>
              <a:cxn ang="0">
                <a:pos x="2433" y="23"/>
              </a:cxn>
              <a:cxn ang="0">
                <a:pos x="2648" y="30"/>
              </a:cxn>
              <a:cxn ang="0">
                <a:pos x="3022" y="30"/>
              </a:cxn>
              <a:cxn ang="0">
                <a:pos x="3305" y="38"/>
              </a:cxn>
              <a:cxn ang="0">
                <a:pos x="3683" y="43"/>
              </a:cxn>
              <a:cxn ang="0">
                <a:pos x="3921" y="44"/>
              </a:cxn>
              <a:cxn ang="0">
                <a:pos x="4152" y="45"/>
              </a:cxn>
              <a:cxn ang="0">
                <a:pos x="4193" y="98"/>
              </a:cxn>
              <a:cxn ang="0">
                <a:pos x="4229" y="146"/>
              </a:cxn>
              <a:cxn ang="0">
                <a:pos x="4183" y="224"/>
              </a:cxn>
              <a:cxn ang="0">
                <a:pos x="4218" y="282"/>
              </a:cxn>
              <a:cxn ang="0">
                <a:pos x="4286" y="348"/>
              </a:cxn>
              <a:cxn ang="0">
                <a:pos x="4353" y="404"/>
              </a:cxn>
              <a:cxn ang="0">
                <a:pos x="4419" y="474"/>
              </a:cxn>
              <a:cxn ang="0">
                <a:pos x="4413" y="546"/>
              </a:cxn>
              <a:cxn ang="0">
                <a:pos x="4443" y="645"/>
              </a:cxn>
              <a:cxn ang="0">
                <a:pos x="4461" y="711"/>
              </a:cxn>
              <a:cxn ang="0">
                <a:pos x="4462" y="811"/>
              </a:cxn>
              <a:cxn ang="0">
                <a:pos x="4483" y="869"/>
              </a:cxn>
              <a:cxn ang="0">
                <a:pos x="4526" y="953"/>
              </a:cxn>
              <a:cxn ang="0">
                <a:pos x="4448" y="999"/>
              </a:cxn>
              <a:cxn ang="0">
                <a:pos x="4203" y="989"/>
              </a:cxn>
              <a:cxn ang="0">
                <a:pos x="3829" y="970"/>
              </a:cxn>
              <a:cxn ang="0">
                <a:pos x="3619" y="991"/>
              </a:cxn>
              <a:cxn ang="0">
                <a:pos x="3434" y="1006"/>
              </a:cxn>
              <a:cxn ang="0">
                <a:pos x="3180" y="1017"/>
              </a:cxn>
              <a:cxn ang="0">
                <a:pos x="2821" y="994"/>
              </a:cxn>
              <a:cxn ang="0">
                <a:pos x="2467" y="999"/>
              </a:cxn>
              <a:cxn ang="0">
                <a:pos x="2091" y="994"/>
              </a:cxn>
              <a:cxn ang="0">
                <a:pos x="1782" y="991"/>
              </a:cxn>
              <a:cxn ang="0">
                <a:pos x="1496" y="977"/>
              </a:cxn>
              <a:cxn ang="0">
                <a:pos x="1284" y="965"/>
              </a:cxn>
              <a:cxn ang="0">
                <a:pos x="907" y="976"/>
              </a:cxn>
              <a:cxn ang="0">
                <a:pos x="483" y="966"/>
              </a:cxn>
              <a:cxn ang="0">
                <a:pos x="297" y="969"/>
              </a:cxn>
              <a:cxn ang="0">
                <a:pos x="285" y="922"/>
              </a:cxn>
              <a:cxn ang="0">
                <a:pos x="364" y="872"/>
              </a:cxn>
              <a:cxn ang="0">
                <a:pos x="324" y="814"/>
              </a:cxn>
              <a:cxn ang="0">
                <a:pos x="286" y="763"/>
              </a:cxn>
              <a:cxn ang="0">
                <a:pos x="289" y="701"/>
              </a:cxn>
              <a:cxn ang="0">
                <a:pos x="103" y="623"/>
              </a:cxn>
              <a:cxn ang="0">
                <a:pos x="158" y="566"/>
              </a:cxn>
              <a:cxn ang="0">
                <a:pos x="116" y="496"/>
              </a:cxn>
              <a:cxn ang="0">
                <a:pos x="74" y="435"/>
              </a:cxn>
              <a:cxn ang="0">
                <a:pos x="100" y="365"/>
              </a:cxn>
              <a:cxn ang="0">
                <a:pos x="87" y="306"/>
              </a:cxn>
              <a:cxn ang="0">
                <a:pos x="13" y="221"/>
              </a:cxn>
              <a:cxn ang="0">
                <a:pos x="21" y="159"/>
              </a:cxn>
              <a:cxn ang="0">
                <a:pos x="0" y="98"/>
              </a:cxn>
              <a:cxn ang="0">
                <a:pos x="28" y="35"/>
              </a:cxn>
            </a:cxnLst>
            <a:rect l="0" t="0" r="r" b="b"/>
            <a:pathLst>
              <a:path w="4537" h="1018">
                <a:moveTo>
                  <a:pt x="71" y="0"/>
                </a:moveTo>
                <a:lnTo>
                  <a:pt x="147" y="13"/>
                </a:lnTo>
                <a:lnTo>
                  <a:pt x="222" y="20"/>
                </a:lnTo>
                <a:lnTo>
                  <a:pt x="315" y="17"/>
                </a:lnTo>
                <a:lnTo>
                  <a:pt x="380" y="6"/>
                </a:lnTo>
                <a:lnTo>
                  <a:pt x="476" y="6"/>
                </a:lnTo>
                <a:lnTo>
                  <a:pt x="547" y="11"/>
                </a:lnTo>
                <a:lnTo>
                  <a:pt x="597" y="30"/>
                </a:lnTo>
                <a:lnTo>
                  <a:pt x="671" y="35"/>
                </a:lnTo>
                <a:lnTo>
                  <a:pt x="760" y="31"/>
                </a:lnTo>
                <a:lnTo>
                  <a:pt x="830" y="26"/>
                </a:lnTo>
                <a:lnTo>
                  <a:pt x="901" y="27"/>
                </a:lnTo>
                <a:lnTo>
                  <a:pt x="996" y="21"/>
                </a:lnTo>
                <a:lnTo>
                  <a:pt x="1034" y="4"/>
                </a:lnTo>
                <a:lnTo>
                  <a:pt x="1105" y="7"/>
                </a:lnTo>
                <a:lnTo>
                  <a:pt x="1203" y="7"/>
                </a:lnTo>
                <a:lnTo>
                  <a:pt x="1274" y="6"/>
                </a:lnTo>
                <a:lnTo>
                  <a:pt x="1351" y="13"/>
                </a:lnTo>
                <a:lnTo>
                  <a:pt x="1511" y="14"/>
                </a:lnTo>
                <a:lnTo>
                  <a:pt x="1651" y="16"/>
                </a:lnTo>
                <a:lnTo>
                  <a:pt x="1750" y="16"/>
                </a:lnTo>
                <a:lnTo>
                  <a:pt x="1818" y="16"/>
                </a:lnTo>
                <a:lnTo>
                  <a:pt x="1891" y="31"/>
                </a:lnTo>
                <a:lnTo>
                  <a:pt x="1962" y="33"/>
                </a:lnTo>
                <a:lnTo>
                  <a:pt x="2103" y="31"/>
                </a:lnTo>
                <a:lnTo>
                  <a:pt x="2242" y="27"/>
                </a:lnTo>
                <a:lnTo>
                  <a:pt x="2433" y="23"/>
                </a:lnTo>
                <a:lnTo>
                  <a:pt x="2503" y="18"/>
                </a:lnTo>
                <a:lnTo>
                  <a:pt x="2574" y="20"/>
                </a:lnTo>
                <a:lnTo>
                  <a:pt x="2648" y="30"/>
                </a:lnTo>
                <a:lnTo>
                  <a:pt x="2740" y="37"/>
                </a:lnTo>
                <a:lnTo>
                  <a:pt x="2878" y="33"/>
                </a:lnTo>
                <a:lnTo>
                  <a:pt x="3022" y="30"/>
                </a:lnTo>
                <a:lnTo>
                  <a:pt x="3160" y="26"/>
                </a:lnTo>
                <a:lnTo>
                  <a:pt x="3231" y="26"/>
                </a:lnTo>
                <a:lnTo>
                  <a:pt x="3305" y="38"/>
                </a:lnTo>
                <a:lnTo>
                  <a:pt x="3403" y="47"/>
                </a:lnTo>
                <a:lnTo>
                  <a:pt x="3594" y="45"/>
                </a:lnTo>
                <a:lnTo>
                  <a:pt x="3683" y="43"/>
                </a:lnTo>
                <a:lnTo>
                  <a:pt x="3752" y="41"/>
                </a:lnTo>
                <a:lnTo>
                  <a:pt x="3847" y="44"/>
                </a:lnTo>
                <a:lnTo>
                  <a:pt x="3921" y="44"/>
                </a:lnTo>
                <a:lnTo>
                  <a:pt x="3989" y="40"/>
                </a:lnTo>
                <a:lnTo>
                  <a:pt x="4084" y="40"/>
                </a:lnTo>
                <a:lnTo>
                  <a:pt x="4152" y="45"/>
                </a:lnTo>
                <a:lnTo>
                  <a:pt x="4204" y="64"/>
                </a:lnTo>
                <a:lnTo>
                  <a:pt x="4215" y="79"/>
                </a:lnTo>
                <a:lnTo>
                  <a:pt x="4193" y="98"/>
                </a:lnTo>
                <a:lnTo>
                  <a:pt x="4173" y="115"/>
                </a:lnTo>
                <a:lnTo>
                  <a:pt x="4198" y="130"/>
                </a:lnTo>
                <a:lnTo>
                  <a:pt x="4229" y="146"/>
                </a:lnTo>
                <a:lnTo>
                  <a:pt x="4211" y="163"/>
                </a:lnTo>
                <a:lnTo>
                  <a:pt x="4173" y="209"/>
                </a:lnTo>
                <a:lnTo>
                  <a:pt x="4183" y="224"/>
                </a:lnTo>
                <a:lnTo>
                  <a:pt x="4210" y="241"/>
                </a:lnTo>
                <a:lnTo>
                  <a:pt x="4214" y="258"/>
                </a:lnTo>
                <a:lnTo>
                  <a:pt x="4218" y="282"/>
                </a:lnTo>
                <a:lnTo>
                  <a:pt x="4232" y="315"/>
                </a:lnTo>
                <a:lnTo>
                  <a:pt x="4235" y="333"/>
                </a:lnTo>
                <a:lnTo>
                  <a:pt x="4286" y="348"/>
                </a:lnTo>
                <a:lnTo>
                  <a:pt x="4342" y="365"/>
                </a:lnTo>
                <a:lnTo>
                  <a:pt x="4348" y="389"/>
                </a:lnTo>
                <a:lnTo>
                  <a:pt x="4353" y="404"/>
                </a:lnTo>
                <a:lnTo>
                  <a:pt x="4335" y="428"/>
                </a:lnTo>
                <a:lnTo>
                  <a:pt x="4339" y="451"/>
                </a:lnTo>
                <a:lnTo>
                  <a:pt x="4419" y="474"/>
                </a:lnTo>
                <a:lnTo>
                  <a:pt x="4452" y="509"/>
                </a:lnTo>
                <a:lnTo>
                  <a:pt x="4433" y="532"/>
                </a:lnTo>
                <a:lnTo>
                  <a:pt x="4413" y="546"/>
                </a:lnTo>
                <a:lnTo>
                  <a:pt x="4395" y="565"/>
                </a:lnTo>
                <a:lnTo>
                  <a:pt x="4431" y="608"/>
                </a:lnTo>
                <a:lnTo>
                  <a:pt x="4443" y="645"/>
                </a:lnTo>
                <a:lnTo>
                  <a:pt x="4447" y="660"/>
                </a:lnTo>
                <a:lnTo>
                  <a:pt x="4456" y="694"/>
                </a:lnTo>
                <a:lnTo>
                  <a:pt x="4461" y="711"/>
                </a:lnTo>
                <a:lnTo>
                  <a:pt x="4473" y="756"/>
                </a:lnTo>
                <a:lnTo>
                  <a:pt x="4452" y="772"/>
                </a:lnTo>
                <a:lnTo>
                  <a:pt x="4462" y="811"/>
                </a:lnTo>
                <a:lnTo>
                  <a:pt x="4472" y="828"/>
                </a:lnTo>
                <a:lnTo>
                  <a:pt x="4498" y="851"/>
                </a:lnTo>
                <a:lnTo>
                  <a:pt x="4483" y="869"/>
                </a:lnTo>
                <a:lnTo>
                  <a:pt x="4487" y="885"/>
                </a:lnTo>
                <a:lnTo>
                  <a:pt x="4494" y="908"/>
                </a:lnTo>
                <a:lnTo>
                  <a:pt x="4526" y="953"/>
                </a:lnTo>
                <a:lnTo>
                  <a:pt x="4536" y="976"/>
                </a:lnTo>
                <a:lnTo>
                  <a:pt x="4519" y="991"/>
                </a:lnTo>
                <a:lnTo>
                  <a:pt x="4448" y="999"/>
                </a:lnTo>
                <a:lnTo>
                  <a:pt x="4380" y="1013"/>
                </a:lnTo>
                <a:lnTo>
                  <a:pt x="4279" y="1001"/>
                </a:lnTo>
                <a:lnTo>
                  <a:pt x="4203" y="989"/>
                </a:lnTo>
                <a:lnTo>
                  <a:pt x="4062" y="979"/>
                </a:lnTo>
                <a:lnTo>
                  <a:pt x="3990" y="972"/>
                </a:lnTo>
                <a:lnTo>
                  <a:pt x="3829" y="970"/>
                </a:lnTo>
                <a:lnTo>
                  <a:pt x="3762" y="974"/>
                </a:lnTo>
                <a:lnTo>
                  <a:pt x="3690" y="984"/>
                </a:lnTo>
                <a:lnTo>
                  <a:pt x="3619" y="991"/>
                </a:lnTo>
                <a:lnTo>
                  <a:pt x="3577" y="1006"/>
                </a:lnTo>
                <a:lnTo>
                  <a:pt x="3508" y="1013"/>
                </a:lnTo>
                <a:lnTo>
                  <a:pt x="3434" y="1006"/>
                </a:lnTo>
                <a:lnTo>
                  <a:pt x="3365" y="999"/>
                </a:lnTo>
                <a:lnTo>
                  <a:pt x="3266" y="1004"/>
                </a:lnTo>
                <a:lnTo>
                  <a:pt x="3180" y="1017"/>
                </a:lnTo>
                <a:lnTo>
                  <a:pt x="3109" y="1014"/>
                </a:lnTo>
                <a:lnTo>
                  <a:pt x="3010" y="1008"/>
                </a:lnTo>
                <a:lnTo>
                  <a:pt x="2821" y="994"/>
                </a:lnTo>
                <a:lnTo>
                  <a:pt x="2630" y="991"/>
                </a:lnTo>
                <a:lnTo>
                  <a:pt x="2562" y="991"/>
                </a:lnTo>
                <a:lnTo>
                  <a:pt x="2467" y="999"/>
                </a:lnTo>
                <a:lnTo>
                  <a:pt x="2299" y="996"/>
                </a:lnTo>
                <a:lnTo>
                  <a:pt x="2160" y="994"/>
                </a:lnTo>
                <a:lnTo>
                  <a:pt x="2091" y="994"/>
                </a:lnTo>
                <a:lnTo>
                  <a:pt x="1949" y="991"/>
                </a:lnTo>
                <a:lnTo>
                  <a:pt x="1853" y="993"/>
                </a:lnTo>
                <a:lnTo>
                  <a:pt x="1782" y="991"/>
                </a:lnTo>
                <a:lnTo>
                  <a:pt x="1642" y="990"/>
                </a:lnTo>
                <a:lnTo>
                  <a:pt x="1570" y="979"/>
                </a:lnTo>
                <a:lnTo>
                  <a:pt x="1496" y="977"/>
                </a:lnTo>
                <a:lnTo>
                  <a:pt x="1432" y="987"/>
                </a:lnTo>
                <a:lnTo>
                  <a:pt x="1334" y="984"/>
                </a:lnTo>
                <a:lnTo>
                  <a:pt x="1284" y="965"/>
                </a:lnTo>
                <a:lnTo>
                  <a:pt x="1214" y="974"/>
                </a:lnTo>
                <a:lnTo>
                  <a:pt x="1051" y="976"/>
                </a:lnTo>
                <a:lnTo>
                  <a:pt x="907" y="976"/>
                </a:lnTo>
                <a:lnTo>
                  <a:pt x="770" y="982"/>
                </a:lnTo>
                <a:lnTo>
                  <a:pt x="679" y="973"/>
                </a:lnTo>
                <a:lnTo>
                  <a:pt x="483" y="966"/>
                </a:lnTo>
                <a:lnTo>
                  <a:pt x="414" y="970"/>
                </a:lnTo>
                <a:lnTo>
                  <a:pt x="350" y="987"/>
                </a:lnTo>
                <a:lnTo>
                  <a:pt x="297" y="969"/>
                </a:lnTo>
                <a:lnTo>
                  <a:pt x="268" y="953"/>
                </a:lnTo>
                <a:lnTo>
                  <a:pt x="262" y="938"/>
                </a:lnTo>
                <a:lnTo>
                  <a:pt x="285" y="922"/>
                </a:lnTo>
                <a:lnTo>
                  <a:pt x="349" y="904"/>
                </a:lnTo>
                <a:lnTo>
                  <a:pt x="368" y="888"/>
                </a:lnTo>
                <a:lnTo>
                  <a:pt x="364" y="872"/>
                </a:lnTo>
                <a:lnTo>
                  <a:pt x="335" y="854"/>
                </a:lnTo>
                <a:lnTo>
                  <a:pt x="332" y="831"/>
                </a:lnTo>
                <a:lnTo>
                  <a:pt x="324" y="814"/>
                </a:lnTo>
                <a:lnTo>
                  <a:pt x="320" y="799"/>
                </a:lnTo>
                <a:lnTo>
                  <a:pt x="314" y="780"/>
                </a:lnTo>
                <a:lnTo>
                  <a:pt x="286" y="763"/>
                </a:lnTo>
                <a:lnTo>
                  <a:pt x="280" y="739"/>
                </a:lnTo>
                <a:lnTo>
                  <a:pt x="299" y="725"/>
                </a:lnTo>
                <a:lnTo>
                  <a:pt x="289" y="701"/>
                </a:lnTo>
                <a:lnTo>
                  <a:pt x="135" y="657"/>
                </a:lnTo>
                <a:lnTo>
                  <a:pt x="112" y="641"/>
                </a:lnTo>
                <a:lnTo>
                  <a:pt x="103" y="623"/>
                </a:lnTo>
                <a:lnTo>
                  <a:pt x="123" y="606"/>
                </a:lnTo>
                <a:lnTo>
                  <a:pt x="165" y="587"/>
                </a:lnTo>
                <a:lnTo>
                  <a:pt x="158" y="566"/>
                </a:lnTo>
                <a:lnTo>
                  <a:pt x="149" y="543"/>
                </a:lnTo>
                <a:lnTo>
                  <a:pt x="144" y="522"/>
                </a:lnTo>
                <a:lnTo>
                  <a:pt x="116" y="496"/>
                </a:lnTo>
                <a:lnTo>
                  <a:pt x="109" y="477"/>
                </a:lnTo>
                <a:lnTo>
                  <a:pt x="78" y="452"/>
                </a:lnTo>
                <a:lnTo>
                  <a:pt x="74" y="435"/>
                </a:lnTo>
                <a:lnTo>
                  <a:pt x="85" y="396"/>
                </a:lnTo>
                <a:lnTo>
                  <a:pt x="106" y="380"/>
                </a:lnTo>
                <a:lnTo>
                  <a:pt x="100" y="365"/>
                </a:lnTo>
                <a:lnTo>
                  <a:pt x="98" y="345"/>
                </a:lnTo>
                <a:lnTo>
                  <a:pt x="93" y="328"/>
                </a:lnTo>
                <a:lnTo>
                  <a:pt x="87" y="306"/>
                </a:lnTo>
                <a:lnTo>
                  <a:pt x="47" y="261"/>
                </a:lnTo>
                <a:lnTo>
                  <a:pt x="20" y="238"/>
                </a:lnTo>
                <a:lnTo>
                  <a:pt x="13" y="221"/>
                </a:lnTo>
                <a:lnTo>
                  <a:pt x="8" y="199"/>
                </a:lnTo>
                <a:lnTo>
                  <a:pt x="32" y="182"/>
                </a:lnTo>
                <a:lnTo>
                  <a:pt x="21" y="159"/>
                </a:lnTo>
                <a:lnTo>
                  <a:pt x="10" y="136"/>
                </a:lnTo>
                <a:lnTo>
                  <a:pt x="10" y="122"/>
                </a:lnTo>
                <a:lnTo>
                  <a:pt x="0" y="98"/>
                </a:lnTo>
                <a:lnTo>
                  <a:pt x="22" y="77"/>
                </a:lnTo>
                <a:lnTo>
                  <a:pt x="15" y="58"/>
                </a:lnTo>
                <a:lnTo>
                  <a:pt x="28" y="35"/>
                </a:lnTo>
                <a:lnTo>
                  <a:pt x="7" y="17"/>
                </a:lnTo>
                <a:lnTo>
                  <a:pt x="71" y="0"/>
                </a:lnTo>
              </a:path>
            </a:pathLst>
          </a:custGeom>
          <a:gradFill flip="none" rotWithShape="1">
            <a:gsLst>
              <a:gs pos="75000">
                <a:srgbClr val="FFDB69">
                  <a:tint val="66000"/>
                  <a:satMod val="160000"/>
                  <a:alpha val="58000"/>
                </a:srgbClr>
              </a:gs>
              <a:gs pos="61000">
                <a:srgbClr val="FFDB69">
                  <a:tint val="44500"/>
                  <a:satMod val="160000"/>
                  <a:alpha val="73000"/>
                </a:srgbClr>
              </a:gs>
              <a:gs pos="100000">
                <a:srgbClr val="FFDB69">
                  <a:tint val="23500"/>
                  <a:satMod val="160000"/>
                  <a:alpha val="80000"/>
                </a:srgbClr>
              </a:gs>
            </a:gsLst>
            <a:lin ang="0" scaled="1"/>
            <a:tileRect/>
          </a:gradFill>
          <a:ln w="9525" cap="rnd" cmpd="sng">
            <a:noFill/>
            <a:prstDash val="solid"/>
            <a:round/>
            <a:headEnd type="none" w="med" len="med"/>
            <a:tailEnd type="none" w="med" len="med"/>
          </a:ln>
          <a:effectLst>
            <a:outerShdw blurRad="50800" dist="38100" dir="2700000" algn="tl" rotWithShape="0">
              <a:prstClr val="black">
                <a:alpha val="40000"/>
              </a:prstClr>
            </a:outerShdw>
          </a:effectLst>
        </p:spPr>
        <p:txBody>
          <a:bodyPr lIns="360000" tIns="72000" rIns="324000" bIns="72000" anchor="ctr"/>
          <a:lstStyle/>
          <a:p>
            <a:pPr marL="171450" lvl="0" indent="-171450">
              <a:lnSpc>
                <a:spcPct val="114000"/>
              </a:lnSpc>
              <a:spcAft>
                <a:spcPts val="600"/>
              </a:spcAft>
              <a:buFont typeface="Arial" panose="020B0604020202020204" pitchFamily="34" charset="0"/>
              <a:buChar char="•"/>
              <a:defRPr/>
            </a:pPr>
            <a:r>
              <a:rPr lang="en-US" sz="1000" dirty="0">
                <a:solidFill>
                  <a:prstClr val="black"/>
                </a:solidFill>
              </a:rPr>
              <a:t>The gas can be used in power plants and be added to the national grid through the pipeline, if needed (On new discovery in Bhola Gas Field)</a:t>
            </a:r>
          </a:p>
          <a:p>
            <a:pPr lvl="0" algn="r">
              <a:lnSpc>
                <a:spcPct val="114000"/>
              </a:lnSpc>
              <a:spcAft>
                <a:spcPts val="600"/>
              </a:spcAft>
              <a:defRPr/>
            </a:pPr>
            <a:r>
              <a:rPr lang="en-US" sz="1000" b="1" dirty="0">
                <a:solidFill>
                  <a:prstClr val="black"/>
                </a:solidFill>
                <a:latin typeface="Verdana"/>
              </a:rPr>
              <a:t>- Prime Minister, Sheikh Hasina, Bangladesh, Jan-2018</a:t>
            </a:r>
          </a:p>
        </p:txBody>
      </p:sp>
      <p:sp>
        <p:nvSpPr>
          <p:cNvPr id="36" name="Freeform 3"/>
          <p:cNvSpPr>
            <a:spLocks/>
          </p:cNvSpPr>
          <p:nvPr/>
        </p:nvSpPr>
        <p:spPr bwMode="gray">
          <a:xfrm>
            <a:off x="5524500" y="2670982"/>
            <a:ext cx="4735625" cy="1788015"/>
          </a:xfrm>
          <a:custGeom>
            <a:avLst/>
            <a:gdLst/>
            <a:ahLst/>
            <a:cxnLst>
              <a:cxn ang="0">
                <a:pos x="222" y="20"/>
              </a:cxn>
              <a:cxn ang="0">
                <a:pos x="476" y="6"/>
              </a:cxn>
              <a:cxn ang="0">
                <a:pos x="671" y="35"/>
              </a:cxn>
              <a:cxn ang="0">
                <a:pos x="901" y="27"/>
              </a:cxn>
              <a:cxn ang="0">
                <a:pos x="1105" y="7"/>
              </a:cxn>
              <a:cxn ang="0">
                <a:pos x="1351" y="13"/>
              </a:cxn>
              <a:cxn ang="0">
                <a:pos x="1750" y="16"/>
              </a:cxn>
              <a:cxn ang="0">
                <a:pos x="1962" y="33"/>
              </a:cxn>
              <a:cxn ang="0">
                <a:pos x="2433" y="23"/>
              </a:cxn>
              <a:cxn ang="0">
                <a:pos x="2648" y="30"/>
              </a:cxn>
              <a:cxn ang="0">
                <a:pos x="3022" y="30"/>
              </a:cxn>
              <a:cxn ang="0">
                <a:pos x="3305" y="38"/>
              </a:cxn>
              <a:cxn ang="0">
                <a:pos x="3683" y="43"/>
              </a:cxn>
              <a:cxn ang="0">
                <a:pos x="3921" y="44"/>
              </a:cxn>
              <a:cxn ang="0">
                <a:pos x="4152" y="45"/>
              </a:cxn>
              <a:cxn ang="0">
                <a:pos x="4193" y="98"/>
              </a:cxn>
              <a:cxn ang="0">
                <a:pos x="4229" y="146"/>
              </a:cxn>
              <a:cxn ang="0">
                <a:pos x="4183" y="224"/>
              </a:cxn>
              <a:cxn ang="0">
                <a:pos x="4218" y="282"/>
              </a:cxn>
              <a:cxn ang="0">
                <a:pos x="4286" y="348"/>
              </a:cxn>
              <a:cxn ang="0">
                <a:pos x="4353" y="404"/>
              </a:cxn>
              <a:cxn ang="0">
                <a:pos x="4419" y="474"/>
              </a:cxn>
              <a:cxn ang="0">
                <a:pos x="4413" y="546"/>
              </a:cxn>
              <a:cxn ang="0">
                <a:pos x="4443" y="645"/>
              </a:cxn>
              <a:cxn ang="0">
                <a:pos x="4461" y="711"/>
              </a:cxn>
              <a:cxn ang="0">
                <a:pos x="4462" y="811"/>
              </a:cxn>
              <a:cxn ang="0">
                <a:pos x="4483" y="869"/>
              </a:cxn>
              <a:cxn ang="0">
                <a:pos x="4526" y="953"/>
              </a:cxn>
              <a:cxn ang="0">
                <a:pos x="4448" y="999"/>
              </a:cxn>
              <a:cxn ang="0">
                <a:pos x="4203" y="989"/>
              </a:cxn>
              <a:cxn ang="0">
                <a:pos x="3829" y="970"/>
              </a:cxn>
              <a:cxn ang="0">
                <a:pos x="3619" y="991"/>
              </a:cxn>
              <a:cxn ang="0">
                <a:pos x="3434" y="1006"/>
              </a:cxn>
              <a:cxn ang="0">
                <a:pos x="3180" y="1017"/>
              </a:cxn>
              <a:cxn ang="0">
                <a:pos x="2821" y="994"/>
              </a:cxn>
              <a:cxn ang="0">
                <a:pos x="2467" y="999"/>
              </a:cxn>
              <a:cxn ang="0">
                <a:pos x="2091" y="994"/>
              </a:cxn>
              <a:cxn ang="0">
                <a:pos x="1782" y="991"/>
              </a:cxn>
              <a:cxn ang="0">
                <a:pos x="1496" y="977"/>
              </a:cxn>
              <a:cxn ang="0">
                <a:pos x="1284" y="965"/>
              </a:cxn>
              <a:cxn ang="0">
                <a:pos x="907" y="976"/>
              </a:cxn>
              <a:cxn ang="0">
                <a:pos x="483" y="966"/>
              </a:cxn>
              <a:cxn ang="0">
                <a:pos x="297" y="969"/>
              </a:cxn>
              <a:cxn ang="0">
                <a:pos x="285" y="922"/>
              </a:cxn>
              <a:cxn ang="0">
                <a:pos x="364" y="872"/>
              </a:cxn>
              <a:cxn ang="0">
                <a:pos x="324" y="814"/>
              </a:cxn>
              <a:cxn ang="0">
                <a:pos x="286" y="763"/>
              </a:cxn>
              <a:cxn ang="0">
                <a:pos x="289" y="701"/>
              </a:cxn>
              <a:cxn ang="0">
                <a:pos x="103" y="623"/>
              </a:cxn>
              <a:cxn ang="0">
                <a:pos x="158" y="566"/>
              </a:cxn>
              <a:cxn ang="0">
                <a:pos x="116" y="496"/>
              </a:cxn>
              <a:cxn ang="0">
                <a:pos x="74" y="435"/>
              </a:cxn>
              <a:cxn ang="0">
                <a:pos x="100" y="365"/>
              </a:cxn>
              <a:cxn ang="0">
                <a:pos x="87" y="306"/>
              </a:cxn>
              <a:cxn ang="0">
                <a:pos x="13" y="221"/>
              </a:cxn>
              <a:cxn ang="0">
                <a:pos x="21" y="159"/>
              </a:cxn>
              <a:cxn ang="0">
                <a:pos x="0" y="98"/>
              </a:cxn>
              <a:cxn ang="0">
                <a:pos x="28" y="35"/>
              </a:cxn>
            </a:cxnLst>
            <a:rect l="0" t="0" r="r" b="b"/>
            <a:pathLst>
              <a:path w="4537" h="1018">
                <a:moveTo>
                  <a:pt x="71" y="0"/>
                </a:moveTo>
                <a:lnTo>
                  <a:pt x="147" y="13"/>
                </a:lnTo>
                <a:lnTo>
                  <a:pt x="222" y="20"/>
                </a:lnTo>
                <a:lnTo>
                  <a:pt x="315" y="17"/>
                </a:lnTo>
                <a:lnTo>
                  <a:pt x="380" y="6"/>
                </a:lnTo>
                <a:lnTo>
                  <a:pt x="476" y="6"/>
                </a:lnTo>
                <a:lnTo>
                  <a:pt x="547" y="11"/>
                </a:lnTo>
                <a:lnTo>
                  <a:pt x="597" y="30"/>
                </a:lnTo>
                <a:lnTo>
                  <a:pt x="671" y="35"/>
                </a:lnTo>
                <a:lnTo>
                  <a:pt x="760" y="31"/>
                </a:lnTo>
                <a:lnTo>
                  <a:pt x="830" y="26"/>
                </a:lnTo>
                <a:lnTo>
                  <a:pt x="901" y="27"/>
                </a:lnTo>
                <a:lnTo>
                  <a:pt x="996" y="21"/>
                </a:lnTo>
                <a:lnTo>
                  <a:pt x="1034" y="4"/>
                </a:lnTo>
                <a:lnTo>
                  <a:pt x="1105" y="7"/>
                </a:lnTo>
                <a:lnTo>
                  <a:pt x="1203" y="7"/>
                </a:lnTo>
                <a:lnTo>
                  <a:pt x="1274" y="6"/>
                </a:lnTo>
                <a:lnTo>
                  <a:pt x="1351" y="13"/>
                </a:lnTo>
                <a:lnTo>
                  <a:pt x="1511" y="14"/>
                </a:lnTo>
                <a:lnTo>
                  <a:pt x="1651" y="16"/>
                </a:lnTo>
                <a:lnTo>
                  <a:pt x="1750" y="16"/>
                </a:lnTo>
                <a:lnTo>
                  <a:pt x="1818" y="16"/>
                </a:lnTo>
                <a:lnTo>
                  <a:pt x="1891" y="31"/>
                </a:lnTo>
                <a:lnTo>
                  <a:pt x="1962" y="33"/>
                </a:lnTo>
                <a:lnTo>
                  <a:pt x="2103" y="31"/>
                </a:lnTo>
                <a:lnTo>
                  <a:pt x="2242" y="27"/>
                </a:lnTo>
                <a:lnTo>
                  <a:pt x="2433" y="23"/>
                </a:lnTo>
                <a:lnTo>
                  <a:pt x="2503" y="18"/>
                </a:lnTo>
                <a:lnTo>
                  <a:pt x="2574" y="20"/>
                </a:lnTo>
                <a:lnTo>
                  <a:pt x="2648" y="30"/>
                </a:lnTo>
                <a:lnTo>
                  <a:pt x="2740" y="37"/>
                </a:lnTo>
                <a:lnTo>
                  <a:pt x="2878" y="33"/>
                </a:lnTo>
                <a:lnTo>
                  <a:pt x="3022" y="30"/>
                </a:lnTo>
                <a:lnTo>
                  <a:pt x="3160" y="26"/>
                </a:lnTo>
                <a:lnTo>
                  <a:pt x="3231" y="26"/>
                </a:lnTo>
                <a:lnTo>
                  <a:pt x="3305" y="38"/>
                </a:lnTo>
                <a:lnTo>
                  <a:pt x="3403" y="47"/>
                </a:lnTo>
                <a:lnTo>
                  <a:pt x="3594" y="45"/>
                </a:lnTo>
                <a:lnTo>
                  <a:pt x="3683" y="43"/>
                </a:lnTo>
                <a:lnTo>
                  <a:pt x="3752" y="41"/>
                </a:lnTo>
                <a:lnTo>
                  <a:pt x="3847" y="44"/>
                </a:lnTo>
                <a:lnTo>
                  <a:pt x="3921" y="44"/>
                </a:lnTo>
                <a:lnTo>
                  <a:pt x="3989" y="40"/>
                </a:lnTo>
                <a:lnTo>
                  <a:pt x="4084" y="40"/>
                </a:lnTo>
                <a:lnTo>
                  <a:pt x="4152" y="45"/>
                </a:lnTo>
                <a:lnTo>
                  <a:pt x="4204" y="64"/>
                </a:lnTo>
                <a:lnTo>
                  <a:pt x="4215" y="79"/>
                </a:lnTo>
                <a:lnTo>
                  <a:pt x="4193" y="98"/>
                </a:lnTo>
                <a:lnTo>
                  <a:pt x="4173" y="115"/>
                </a:lnTo>
                <a:lnTo>
                  <a:pt x="4198" y="130"/>
                </a:lnTo>
                <a:lnTo>
                  <a:pt x="4229" y="146"/>
                </a:lnTo>
                <a:lnTo>
                  <a:pt x="4211" y="163"/>
                </a:lnTo>
                <a:lnTo>
                  <a:pt x="4173" y="209"/>
                </a:lnTo>
                <a:lnTo>
                  <a:pt x="4183" y="224"/>
                </a:lnTo>
                <a:lnTo>
                  <a:pt x="4210" y="241"/>
                </a:lnTo>
                <a:lnTo>
                  <a:pt x="4214" y="258"/>
                </a:lnTo>
                <a:lnTo>
                  <a:pt x="4218" y="282"/>
                </a:lnTo>
                <a:lnTo>
                  <a:pt x="4232" y="315"/>
                </a:lnTo>
                <a:lnTo>
                  <a:pt x="4235" y="333"/>
                </a:lnTo>
                <a:lnTo>
                  <a:pt x="4286" y="348"/>
                </a:lnTo>
                <a:lnTo>
                  <a:pt x="4342" y="365"/>
                </a:lnTo>
                <a:lnTo>
                  <a:pt x="4348" y="389"/>
                </a:lnTo>
                <a:lnTo>
                  <a:pt x="4353" y="404"/>
                </a:lnTo>
                <a:lnTo>
                  <a:pt x="4335" y="428"/>
                </a:lnTo>
                <a:lnTo>
                  <a:pt x="4339" y="451"/>
                </a:lnTo>
                <a:lnTo>
                  <a:pt x="4419" y="474"/>
                </a:lnTo>
                <a:lnTo>
                  <a:pt x="4452" y="509"/>
                </a:lnTo>
                <a:lnTo>
                  <a:pt x="4433" y="532"/>
                </a:lnTo>
                <a:lnTo>
                  <a:pt x="4413" y="546"/>
                </a:lnTo>
                <a:lnTo>
                  <a:pt x="4395" y="565"/>
                </a:lnTo>
                <a:lnTo>
                  <a:pt x="4431" y="608"/>
                </a:lnTo>
                <a:lnTo>
                  <a:pt x="4443" y="645"/>
                </a:lnTo>
                <a:lnTo>
                  <a:pt x="4447" y="660"/>
                </a:lnTo>
                <a:lnTo>
                  <a:pt x="4456" y="694"/>
                </a:lnTo>
                <a:lnTo>
                  <a:pt x="4461" y="711"/>
                </a:lnTo>
                <a:lnTo>
                  <a:pt x="4473" y="756"/>
                </a:lnTo>
                <a:lnTo>
                  <a:pt x="4452" y="772"/>
                </a:lnTo>
                <a:lnTo>
                  <a:pt x="4462" y="811"/>
                </a:lnTo>
                <a:lnTo>
                  <a:pt x="4472" y="828"/>
                </a:lnTo>
                <a:lnTo>
                  <a:pt x="4498" y="851"/>
                </a:lnTo>
                <a:lnTo>
                  <a:pt x="4483" y="869"/>
                </a:lnTo>
                <a:lnTo>
                  <a:pt x="4487" y="885"/>
                </a:lnTo>
                <a:lnTo>
                  <a:pt x="4494" y="908"/>
                </a:lnTo>
                <a:lnTo>
                  <a:pt x="4526" y="953"/>
                </a:lnTo>
                <a:lnTo>
                  <a:pt x="4536" y="976"/>
                </a:lnTo>
                <a:lnTo>
                  <a:pt x="4519" y="991"/>
                </a:lnTo>
                <a:lnTo>
                  <a:pt x="4448" y="999"/>
                </a:lnTo>
                <a:lnTo>
                  <a:pt x="4380" y="1013"/>
                </a:lnTo>
                <a:lnTo>
                  <a:pt x="4279" y="1001"/>
                </a:lnTo>
                <a:lnTo>
                  <a:pt x="4203" y="989"/>
                </a:lnTo>
                <a:lnTo>
                  <a:pt x="4062" y="979"/>
                </a:lnTo>
                <a:lnTo>
                  <a:pt x="3990" y="972"/>
                </a:lnTo>
                <a:lnTo>
                  <a:pt x="3829" y="970"/>
                </a:lnTo>
                <a:lnTo>
                  <a:pt x="3762" y="974"/>
                </a:lnTo>
                <a:lnTo>
                  <a:pt x="3690" y="984"/>
                </a:lnTo>
                <a:lnTo>
                  <a:pt x="3619" y="991"/>
                </a:lnTo>
                <a:lnTo>
                  <a:pt x="3577" y="1006"/>
                </a:lnTo>
                <a:lnTo>
                  <a:pt x="3508" y="1013"/>
                </a:lnTo>
                <a:lnTo>
                  <a:pt x="3434" y="1006"/>
                </a:lnTo>
                <a:lnTo>
                  <a:pt x="3365" y="999"/>
                </a:lnTo>
                <a:lnTo>
                  <a:pt x="3266" y="1004"/>
                </a:lnTo>
                <a:lnTo>
                  <a:pt x="3180" y="1017"/>
                </a:lnTo>
                <a:lnTo>
                  <a:pt x="3109" y="1014"/>
                </a:lnTo>
                <a:lnTo>
                  <a:pt x="3010" y="1008"/>
                </a:lnTo>
                <a:lnTo>
                  <a:pt x="2821" y="994"/>
                </a:lnTo>
                <a:lnTo>
                  <a:pt x="2630" y="991"/>
                </a:lnTo>
                <a:lnTo>
                  <a:pt x="2562" y="991"/>
                </a:lnTo>
                <a:lnTo>
                  <a:pt x="2467" y="999"/>
                </a:lnTo>
                <a:lnTo>
                  <a:pt x="2299" y="996"/>
                </a:lnTo>
                <a:lnTo>
                  <a:pt x="2160" y="994"/>
                </a:lnTo>
                <a:lnTo>
                  <a:pt x="2091" y="994"/>
                </a:lnTo>
                <a:lnTo>
                  <a:pt x="1949" y="991"/>
                </a:lnTo>
                <a:lnTo>
                  <a:pt x="1853" y="993"/>
                </a:lnTo>
                <a:lnTo>
                  <a:pt x="1782" y="991"/>
                </a:lnTo>
                <a:lnTo>
                  <a:pt x="1642" y="990"/>
                </a:lnTo>
                <a:lnTo>
                  <a:pt x="1570" y="979"/>
                </a:lnTo>
                <a:lnTo>
                  <a:pt x="1496" y="977"/>
                </a:lnTo>
                <a:lnTo>
                  <a:pt x="1432" y="987"/>
                </a:lnTo>
                <a:lnTo>
                  <a:pt x="1334" y="984"/>
                </a:lnTo>
                <a:lnTo>
                  <a:pt x="1284" y="965"/>
                </a:lnTo>
                <a:lnTo>
                  <a:pt x="1214" y="974"/>
                </a:lnTo>
                <a:lnTo>
                  <a:pt x="1051" y="976"/>
                </a:lnTo>
                <a:lnTo>
                  <a:pt x="907" y="976"/>
                </a:lnTo>
                <a:lnTo>
                  <a:pt x="770" y="982"/>
                </a:lnTo>
                <a:lnTo>
                  <a:pt x="679" y="973"/>
                </a:lnTo>
                <a:lnTo>
                  <a:pt x="483" y="966"/>
                </a:lnTo>
                <a:lnTo>
                  <a:pt x="414" y="970"/>
                </a:lnTo>
                <a:lnTo>
                  <a:pt x="350" y="987"/>
                </a:lnTo>
                <a:lnTo>
                  <a:pt x="297" y="969"/>
                </a:lnTo>
                <a:lnTo>
                  <a:pt x="268" y="953"/>
                </a:lnTo>
                <a:lnTo>
                  <a:pt x="262" y="938"/>
                </a:lnTo>
                <a:lnTo>
                  <a:pt x="285" y="922"/>
                </a:lnTo>
                <a:lnTo>
                  <a:pt x="349" y="904"/>
                </a:lnTo>
                <a:lnTo>
                  <a:pt x="368" y="888"/>
                </a:lnTo>
                <a:lnTo>
                  <a:pt x="364" y="872"/>
                </a:lnTo>
                <a:lnTo>
                  <a:pt x="335" y="854"/>
                </a:lnTo>
                <a:lnTo>
                  <a:pt x="332" y="831"/>
                </a:lnTo>
                <a:lnTo>
                  <a:pt x="324" y="814"/>
                </a:lnTo>
                <a:lnTo>
                  <a:pt x="320" y="799"/>
                </a:lnTo>
                <a:lnTo>
                  <a:pt x="314" y="780"/>
                </a:lnTo>
                <a:lnTo>
                  <a:pt x="286" y="763"/>
                </a:lnTo>
                <a:lnTo>
                  <a:pt x="280" y="739"/>
                </a:lnTo>
                <a:lnTo>
                  <a:pt x="299" y="725"/>
                </a:lnTo>
                <a:lnTo>
                  <a:pt x="289" y="701"/>
                </a:lnTo>
                <a:lnTo>
                  <a:pt x="135" y="657"/>
                </a:lnTo>
                <a:lnTo>
                  <a:pt x="112" y="641"/>
                </a:lnTo>
                <a:lnTo>
                  <a:pt x="103" y="623"/>
                </a:lnTo>
                <a:lnTo>
                  <a:pt x="123" y="606"/>
                </a:lnTo>
                <a:lnTo>
                  <a:pt x="165" y="587"/>
                </a:lnTo>
                <a:lnTo>
                  <a:pt x="158" y="566"/>
                </a:lnTo>
                <a:lnTo>
                  <a:pt x="149" y="543"/>
                </a:lnTo>
                <a:lnTo>
                  <a:pt x="144" y="522"/>
                </a:lnTo>
                <a:lnTo>
                  <a:pt x="116" y="496"/>
                </a:lnTo>
                <a:lnTo>
                  <a:pt x="109" y="477"/>
                </a:lnTo>
                <a:lnTo>
                  <a:pt x="78" y="452"/>
                </a:lnTo>
                <a:lnTo>
                  <a:pt x="74" y="435"/>
                </a:lnTo>
                <a:lnTo>
                  <a:pt x="85" y="396"/>
                </a:lnTo>
                <a:lnTo>
                  <a:pt x="106" y="380"/>
                </a:lnTo>
                <a:lnTo>
                  <a:pt x="100" y="365"/>
                </a:lnTo>
                <a:lnTo>
                  <a:pt x="98" y="345"/>
                </a:lnTo>
                <a:lnTo>
                  <a:pt x="93" y="328"/>
                </a:lnTo>
                <a:lnTo>
                  <a:pt x="87" y="306"/>
                </a:lnTo>
                <a:lnTo>
                  <a:pt x="47" y="261"/>
                </a:lnTo>
                <a:lnTo>
                  <a:pt x="20" y="238"/>
                </a:lnTo>
                <a:lnTo>
                  <a:pt x="13" y="221"/>
                </a:lnTo>
                <a:lnTo>
                  <a:pt x="8" y="199"/>
                </a:lnTo>
                <a:lnTo>
                  <a:pt x="32" y="182"/>
                </a:lnTo>
                <a:lnTo>
                  <a:pt x="21" y="159"/>
                </a:lnTo>
                <a:lnTo>
                  <a:pt x="10" y="136"/>
                </a:lnTo>
                <a:lnTo>
                  <a:pt x="10" y="122"/>
                </a:lnTo>
                <a:lnTo>
                  <a:pt x="0" y="98"/>
                </a:lnTo>
                <a:lnTo>
                  <a:pt x="22" y="77"/>
                </a:lnTo>
                <a:lnTo>
                  <a:pt x="15" y="58"/>
                </a:lnTo>
                <a:lnTo>
                  <a:pt x="28" y="35"/>
                </a:lnTo>
                <a:lnTo>
                  <a:pt x="7" y="17"/>
                </a:lnTo>
                <a:lnTo>
                  <a:pt x="71" y="0"/>
                </a:lnTo>
              </a:path>
            </a:pathLst>
          </a:custGeom>
          <a:gradFill flip="none" rotWithShape="1">
            <a:gsLst>
              <a:gs pos="75000">
                <a:srgbClr val="FFDB69">
                  <a:tint val="66000"/>
                  <a:satMod val="160000"/>
                  <a:alpha val="58000"/>
                </a:srgbClr>
              </a:gs>
              <a:gs pos="61000">
                <a:srgbClr val="FFDB69">
                  <a:tint val="44500"/>
                  <a:satMod val="160000"/>
                  <a:alpha val="73000"/>
                </a:srgbClr>
              </a:gs>
              <a:gs pos="100000">
                <a:srgbClr val="FFDB69">
                  <a:tint val="23500"/>
                  <a:satMod val="160000"/>
                  <a:alpha val="80000"/>
                </a:srgbClr>
              </a:gs>
            </a:gsLst>
            <a:lin ang="0" scaled="1"/>
            <a:tileRect/>
          </a:gradFill>
          <a:ln w="9525" cap="rnd" cmpd="sng">
            <a:noFill/>
            <a:prstDash val="solid"/>
            <a:round/>
            <a:headEnd type="none" w="med" len="med"/>
            <a:tailEnd type="none" w="med" len="med"/>
          </a:ln>
          <a:effectLst>
            <a:outerShdw blurRad="50800" dist="38100" dir="2700000" algn="tl" rotWithShape="0">
              <a:prstClr val="black">
                <a:alpha val="40000"/>
              </a:prstClr>
            </a:outerShdw>
          </a:effectLst>
        </p:spPr>
        <p:txBody>
          <a:bodyPr lIns="360000" tIns="72000" rIns="324000" bIns="72000" anchor="ctr"/>
          <a:lstStyle/>
          <a:p>
            <a:pPr marL="171450" lvl="0" indent="-171450">
              <a:lnSpc>
                <a:spcPct val="114000"/>
              </a:lnSpc>
              <a:spcAft>
                <a:spcPts val="600"/>
              </a:spcAft>
              <a:buFont typeface="Arial" panose="020B0604020202020204" pitchFamily="34" charset="0"/>
              <a:buChar char="•"/>
              <a:defRPr/>
            </a:pPr>
            <a:r>
              <a:rPr lang="en-US" sz="1000" dirty="0">
                <a:solidFill>
                  <a:prstClr val="black"/>
                </a:solidFill>
              </a:rPr>
              <a:t>The government is trying to bring the gas from Bhola field to the mainland of the country and utilise the energy for power generation and industrial purpose</a:t>
            </a:r>
          </a:p>
          <a:p>
            <a:pPr lvl="0" algn="r">
              <a:lnSpc>
                <a:spcPct val="114000"/>
              </a:lnSpc>
              <a:spcAft>
                <a:spcPts val="600"/>
              </a:spcAft>
              <a:defRPr/>
            </a:pPr>
            <a:r>
              <a:rPr lang="en-US" sz="1000" b="1" dirty="0">
                <a:solidFill>
                  <a:prstClr val="black"/>
                </a:solidFill>
                <a:latin typeface="Verdana"/>
              </a:rPr>
              <a:t>- Energy Advisor to Prime Minister, Bangladesh</a:t>
            </a:r>
            <a:r>
              <a:rPr lang="en-US" sz="1000" b="1" dirty="0">
                <a:solidFill>
                  <a:prstClr val="black"/>
                </a:solidFill>
              </a:rPr>
              <a:t>, Dr Tawfiq-e-Elahi Chowdhury, Mar-2018</a:t>
            </a:r>
            <a:endParaRPr lang="en-US" sz="1000" b="1" dirty="0">
              <a:solidFill>
                <a:prstClr val="black"/>
              </a:solidFill>
              <a:latin typeface="Verdana"/>
            </a:endParaRPr>
          </a:p>
        </p:txBody>
      </p:sp>
      <p:sp>
        <p:nvSpPr>
          <p:cNvPr id="70" name="Rectangle 69"/>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GTCL, Industry Reports, Deloitte Analysis</a:t>
            </a:r>
          </a:p>
        </p:txBody>
      </p:sp>
      <p:graphicFrame>
        <p:nvGraphicFramePr>
          <p:cNvPr id="11" name="Table 10"/>
          <p:cNvGraphicFramePr>
            <a:graphicFrameLocks noGrp="1"/>
          </p:cNvGraphicFramePr>
          <p:nvPr>
            <p:extLst>
              <p:ext uri="{D42A27DB-BD31-4B8C-83A1-F6EECF244321}">
                <p14:modId xmlns:p14="http://schemas.microsoft.com/office/powerpoint/2010/main" val="1996316891"/>
              </p:ext>
            </p:extLst>
          </p:nvPr>
        </p:nvGraphicFramePr>
        <p:xfrm>
          <a:off x="446429" y="2838410"/>
          <a:ext cx="4744964" cy="1097280"/>
        </p:xfrm>
        <a:graphic>
          <a:graphicData uri="http://schemas.openxmlformats.org/drawingml/2006/table">
            <a:tbl>
              <a:tblPr firstRow="1">
                <a:tableStyleId>{3B4B98B0-60AC-42C2-AFA5-B58CD77FA1E5}</a:tableStyleId>
              </a:tblPr>
              <a:tblGrid>
                <a:gridCol w="968056">
                  <a:extLst>
                    <a:ext uri="{9D8B030D-6E8A-4147-A177-3AD203B41FA5}">
                      <a16:colId xmlns:a16="http://schemas.microsoft.com/office/drawing/2014/main" val="1659914186"/>
                    </a:ext>
                  </a:extLst>
                </a:gridCol>
                <a:gridCol w="1254813">
                  <a:extLst>
                    <a:ext uri="{9D8B030D-6E8A-4147-A177-3AD203B41FA5}">
                      <a16:colId xmlns:a16="http://schemas.microsoft.com/office/drawing/2014/main" val="3636210949"/>
                    </a:ext>
                  </a:extLst>
                </a:gridCol>
                <a:gridCol w="2522095">
                  <a:extLst>
                    <a:ext uri="{9D8B030D-6E8A-4147-A177-3AD203B41FA5}">
                      <a16:colId xmlns:a16="http://schemas.microsoft.com/office/drawing/2014/main" val="3349145812"/>
                    </a:ext>
                  </a:extLst>
                </a:gridCol>
              </a:tblGrid>
              <a:tr h="193331">
                <a:tc>
                  <a:txBody>
                    <a:bodyPr/>
                    <a:lstStyle/>
                    <a:p>
                      <a:r>
                        <a:rPr lang="en-US" sz="1000" dirty="0"/>
                        <a:t>Pipeline</a:t>
                      </a:r>
                      <a:endParaRPr lang="en-IN" sz="1000" b="0" dirty="0"/>
                    </a:p>
                  </a:txBody>
                  <a:tcPr/>
                </a:tc>
                <a:tc>
                  <a:txBody>
                    <a:bodyPr/>
                    <a:lstStyle/>
                    <a:p>
                      <a:r>
                        <a:rPr lang="en-US" sz="1000" b="1" dirty="0"/>
                        <a:t>Status</a:t>
                      </a:r>
                      <a:endParaRPr lang="en-IN" sz="1000" b="1" dirty="0"/>
                    </a:p>
                  </a:txBody>
                  <a:tcPr/>
                </a:tc>
                <a:tc>
                  <a:txBody>
                    <a:bodyPr/>
                    <a:lstStyle/>
                    <a:p>
                      <a:r>
                        <a:rPr lang="en-US" sz="1000" dirty="0"/>
                        <a:t>Details</a:t>
                      </a:r>
                      <a:endParaRPr lang="en-IN" sz="1000" b="0" dirty="0"/>
                    </a:p>
                  </a:txBody>
                  <a:tcPr/>
                </a:tc>
                <a:extLst>
                  <a:ext uri="{0D108BD9-81ED-4DB2-BD59-A6C34878D82A}">
                    <a16:rowId xmlns:a16="http://schemas.microsoft.com/office/drawing/2014/main" val="202154620"/>
                  </a:ext>
                </a:extLst>
              </a:tr>
              <a:tr h="676659">
                <a:tc>
                  <a:txBody>
                    <a:bodyPr/>
                    <a:lstStyle/>
                    <a:p>
                      <a:r>
                        <a:rPr lang="en-US" sz="1000" b="0" dirty="0"/>
                        <a:t>Bhola-Barishal</a:t>
                      </a:r>
                      <a:endParaRPr lang="en-IN" sz="1000" b="0" dirty="0"/>
                    </a:p>
                  </a:txBody>
                  <a:tcPr/>
                </a:tc>
                <a:tc>
                  <a:txBody>
                    <a:bodyPr/>
                    <a:lstStyle/>
                    <a:p>
                      <a:r>
                        <a:rPr lang="en-US" sz="1000" b="0" dirty="0"/>
                        <a:t>Planned</a:t>
                      </a:r>
                      <a:endParaRPr lang="en-IN" sz="1000" b="0" dirty="0"/>
                    </a:p>
                  </a:txBody>
                  <a:tcPr/>
                </a:tc>
                <a:tc>
                  <a:txBody>
                    <a:bodyPr/>
                    <a:lstStyle/>
                    <a:p>
                      <a:r>
                        <a:rPr lang="en-US" sz="1000" b="0" dirty="0"/>
                        <a:t>(65 km X 24 inch) pipeline to supply national grid</a:t>
                      </a:r>
                      <a:r>
                        <a:rPr lang="en-US" sz="1000" b="0" baseline="0" dirty="0"/>
                        <a:t> with gas produced in Bhola. Final Stage route survey and environmental studies is in progress.</a:t>
                      </a:r>
                      <a:endParaRPr lang="en-IN" sz="1000" b="0" dirty="0"/>
                    </a:p>
                  </a:txBody>
                  <a:tcPr/>
                </a:tc>
                <a:extLst>
                  <a:ext uri="{0D108BD9-81ED-4DB2-BD59-A6C34878D82A}">
                    <a16:rowId xmlns:a16="http://schemas.microsoft.com/office/drawing/2014/main" val="2120283131"/>
                  </a:ext>
                </a:extLst>
              </a:tr>
            </a:tbl>
          </a:graphicData>
        </a:graphic>
      </p:graphicFrame>
      <p:sp>
        <p:nvSpPr>
          <p:cNvPr id="5" name="Rectangle 4"/>
          <p:cNvSpPr/>
          <p:nvPr/>
        </p:nvSpPr>
        <p:spPr>
          <a:xfrm>
            <a:off x="524034" y="6404032"/>
            <a:ext cx="9908332" cy="738664"/>
          </a:xfrm>
          <a:prstGeom prst="rect">
            <a:avLst/>
          </a:prstGeom>
        </p:spPr>
        <p:txBody>
          <a:bodyPr wrap="square">
            <a:spAutoFit/>
          </a:bodyPr>
          <a:lstStyle/>
          <a:p>
            <a:pPr algn="ctr">
              <a:spcAft>
                <a:spcPts val="600"/>
              </a:spcAft>
            </a:pPr>
            <a:r>
              <a:rPr lang="en-US" sz="1400" b="1" i="1" dirty="0">
                <a:solidFill>
                  <a:srgbClr val="0097A9"/>
                </a:solidFill>
              </a:rPr>
              <a:t>As per GTCL the estimated commissioning time of the project would be in June 2025 at the earliest. However, considering the current status we expect further delays in case the project is approved. Hence no major risk is envisaged in the short to medium term.</a:t>
            </a:r>
          </a:p>
        </p:txBody>
      </p:sp>
    </p:spTree>
    <p:extLst>
      <p:ext uri="{BB962C8B-B14F-4D97-AF65-F5344CB8AC3E}">
        <p14:creationId xmlns:p14="http://schemas.microsoft.com/office/powerpoint/2010/main" val="3703963829"/>
      </p:ext>
    </p:extLst>
  </p:cSld>
  <p:clrMapOvr>
    <a:masterClrMapping/>
  </p:clrMapOvr>
  <p:transition>
    <p:fade/>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0000"/>
              </a:lnSpc>
              <a:spcBef>
                <a:spcPct val="0"/>
              </a:spcBef>
              <a:spcAft>
                <a:spcPct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pic>
        <p:nvPicPr>
          <p:cNvPr id="59" name="Picture 58"/>
          <p:cNvPicPr>
            <a:picLocks noChangeAspect="1"/>
          </p:cNvPicPr>
          <p:nvPr/>
        </p:nvPicPr>
        <p:blipFill rotWithShape="1">
          <a:blip r:embed="rId6" cstate="email">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a:ext>
            </a:extLst>
          </a:blip>
          <a:srcRect/>
          <a:stretch/>
        </p:blipFill>
        <p:spPr>
          <a:xfrm>
            <a:off x="6388099" y="1079499"/>
            <a:ext cx="4303713" cy="5570411"/>
          </a:xfrm>
          <a:prstGeom prst="rect">
            <a:avLst/>
          </a:prstGeom>
        </p:spPr>
      </p:pic>
      <p:sp>
        <p:nvSpPr>
          <p:cNvPr id="61" name="Rectangle 60"/>
          <p:cNvSpPr/>
          <p:nvPr/>
        </p:nvSpPr>
        <p:spPr bwMode="gray">
          <a:xfrm>
            <a:off x="447964" y="1030161"/>
            <a:ext cx="10229273" cy="36000"/>
          </a:xfrm>
          <a:prstGeom prst="rect">
            <a:avLst/>
          </a:prstGeom>
          <a:solidFill>
            <a:srgbClr val="00ABAB"/>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2" name="Rectangle 61"/>
          <p:cNvSpPr/>
          <p:nvPr/>
        </p:nvSpPr>
        <p:spPr bwMode="gray">
          <a:xfrm>
            <a:off x="447964" y="6663250"/>
            <a:ext cx="10229273" cy="36000"/>
          </a:xfrm>
          <a:prstGeom prst="rect">
            <a:avLst/>
          </a:prstGeom>
          <a:solidFill>
            <a:srgbClr val="00ABAB"/>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6" name="Rectangle 15"/>
          <p:cNvSpPr/>
          <p:nvPr/>
        </p:nvSpPr>
        <p:spPr>
          <a:xfrm>
            <a:off x="469900" y="2352070"/>
            <a:ext cx="4552045" cy="2677656"/>
          </a:xfrm>
          <a:prstGeom prst="rect">
            <a:avLst/>
          </a:prstGeom>
        </p:spPr>
        <p:txBody>
          <a:bodyPr wrap="square">
            <a:spAutoFit/>
          </a:bodyPr>
          <a:lstStyle/>
          <a:p>
            <a:pPr marL="0" marR="0" lvl="0" indent="0" algn="l" defTabSz="787481"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Verdana"/>
                <a:ea typeface="+mn-ea"/>
                <a:cs typeface="+mn-cs"/>
              </a:rPr>
              <a:t>Electricity Transmission Outlook</a:t>
            </a:r>
          </a:p>
          <a:p>
            <a:pPr marL="0" marR="0" lvl="0" indent="0" algn="l" defTabSz="787481"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0097A9"/>
                </a:solidFill>
                <a:effectLst/>
                <a:uLnTx/>
                <a:uFillTx/>
                <a:latin typeface="Verdana"/>
                <a:ea typeface="+mn-ea"/>
                <a:cs typeface="+mn-cs"/>
              </a:rPr>
              <a:t>Bangladesh electricity transmission network overview, assessment of electricity transmission plan for Nimbus</a:t>
            </a:r>
          </a:p>
        </p:txBody>
      </p:sp>
      <p:sp>
        <p:nvSpPr>
          <p:cNvPr id="13" name="Oval 12"/>
          <p:cNvSpPr/>
          <p:nvPr/>
        </p:nvSpPr>
        <p:spPr bwMode="gray">
          <a:xfrm>
            <a:off x="5179691" y="1296232"/>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01</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14" name="Oval 13"/>
          <p:cNvSpPr/>
          <p:nvPr/>
        </p:nvSpPr>
        <p:spPr bwMode="gray">
          <a:xfrm>
            <a:off x="5184133" y="1819733"/>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02</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15" name="Oval 14"/>
          <p:cNvSpPr/>
          <p:nvPr/>
        </p:nvSpPr>
        <p:spPr bwMode="gray">
          <a:xfrm>
            <a:off x="5184133" y="2343234"/>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solidFill>
                  <a:prstClr val="black"/>
                </a:solidFill>
                <a:latin typeface="Verdana"/>
              </a:rPr>
              <a:t>03</a:t>
            </a:r>
            <a:endParaRPr lang="en-IN" sz="1400" b="1" dirty="0">
              <a:solidFill>
                <a:prstClr val="black"/>
              </a:solidFill>
              <a:latin typeface="Verdana"/>
            </a:endParaRPr>
          </a:p>
        </p:txBody>
      </p:sp>
      <p:sp>
        <p:nvSpPr>
          <p:cNvPr id="17" name="Oval 16"/>
          <p:cNvSpPr/>
          <p:nvPr/>
        </p:nvSpPr>
        <p:spPr bwMode="gray">
          <a:xfrm>
            <a:off x="5179696" y="2866735"/>
            <a:ext cx="382909" cy="382909"/>
          </a:xfrm>
          <a:prstGeom prst="ellipse">
            <a:avLst/>
          </a:prstGeom>
          <a:solidFill>
            <a:schemeClr val="accent5"/>
          </a:solidFill>
        </p:spPr>
        <p:txBody>
          <a:bodyPr wrap="square" lIns="0" tIns="88900" rIns="0" bIns="88900" rtlCol="0" anchor="ctr"/>
          <a:lstStyle/>
          <a:p>
            <a:pPr algn="ctr">
              <a:lnSpc>
                <a:spcPct val="106000"/>
              </a:lnSpc>
              <a:buFont typeface="Wingdings 2" pitchFamily="18" charset="2"/>
              <a:buNone/>
            </a:pPr>
            <a:r>
              <a:rPr lang="en-US" sz="1400" b="1" dirty="0">
                <a:solidFill>
                  <a:prstClr val="white"/>
                </a:solidFill>
                <a:latin typeface="Verdana"/>
              </a:rPr>
              <a:t>04</a:t>
            </a:r>
            <a:endParaRPr lang="en-IN" sz="1400" b="1" dirty="0">
              <a:solidFill>
                <a:prstClr val="white"/>
              </a:solidFill>
              <a:latin typeface="Verdana"/>
            </a:endParaRPr>
          </a:p>
        </p:txBody>
      </p:sp>
      <p:sp>
        <p:nvSpPr>
          <p:cNvPr id="18" name="Oval 17"/>
          <p:cNvSpPr/>
          <p:nvPr/>
        </p:nvSpPr>
        <p:spPr bwMode="gray">
          <a:xfrm>
            <a:off x="5179696" y="3390236"/>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05</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19" name="Oval 18"/>
          <p:cNvSpPr/>
          <p:nvPr/>
        </p:nvSpPr>
        <p:spPr bwMode="gray">
          <a:xfrm>
            <a:off x="5179696" y="3913737"/>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06</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0" name="Oval 19"/>
          <p:cNvSpPr/>
          <p:nvPr/>
        </p:nvSpPr>
        <p:spPr bwMode="gray">
          <a:xfrm>
            <a:off x="5179695" y="4437238"/>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07</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1" name="Oval 20"/>
          <p:cNvSpPr/>
          <p:nvPr/>
        </p:nvSpPr>
        <p:spPr bwMode="gray">
          <a:xfrm>
            <a:off x="5179692" y="4960739"/>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08</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2" name="Oval 21"/>
          <p:cNvSpPr/>
          <p:nvPr/>
        </p:nvSpPr>
        <p:spPr bwMode="gray">
          <a:xfrm>
            <a:off x="5179694" y="5484240"/>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09</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3" name="Oval 22"/>
          <p:cNvSpPr/>
          <p:nvPr/>
        </p:nvSpPr>
        <p:spPr bwMode="gray">
          <a:xfrm>
            <a:off x="5179691" y="6007743"/>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10</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2890004644"/>
      </p:ext>
    </p:extLst>
  </p:cSld>
  <p:clrMapOvr>
    <a:masterClrMapping/>
  </p:clrMapOvr>
  <p:transition>
    <p:fade/>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 name="Object 17" hidden="1"/>
          <p:cNvGraphicFramePr>
            <a:graphicFrameLocks noChangeAspect="1"/>
          </p:cNvGraphicFramePr>
          <p:nvPr>
            <p:custDataLst>
              <p:tags r:id="rId1"/>
            </p:custDataLst>
            <p:extLst>
              <p:ext uri="{D42A27DB-BD31-4B8C-83A1-F6EECF244321}">
                <p14:modId xmlns:p14="http://schemas.microsoft.com/office/powerpoint/2010/main" val="66095131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9" imgW="530" imgH="531" progId="TCLayout.ActiveDocument.1">
                  <p:embed/>
                </p:oleObj>
              </mc:Choice>
              <mc:Fallback>
                <p:oleObj name="think-cell Slide" r:id="rId19" imgW="530" imgH="531" progId="TCLayout.ActiveDocument.1">
                  <p:embed/>
                  <p:pic>
                    <p:nvPicPr>
                      <p:cNvPr id="18" name="Object 17" hidden="1"/>
                      <p:cNvPicPr/>
                      <p:nvPr/>
                    </p:nvPicPr>
                    <p:blipFill>
                      <a:blip r:embed="rId20"/>
                      <a:stretch>
                        <a:fillRect/>
                      </a:stretch>
                    </p:blipFill>
                    <p:spPr>
                      <a:xfrm>
                        <a:off x="1588" y="1588"/>
                        <a:ext cx="1588" cy="1588"/>
                      </a:xfrm>
                      <a:prstGeom prst="rect">
                        <a:avLst/>
                      </a:prstGeom>
                    </p:spPr>
                  </p:pic>
                </p:oleObj>
              </mc:Fallback>
            </mc:AlternateContent>
          </a:graphicData>
        </a:graphic>
      </p:graphicFrame>
      <p:sp>
        <p:nvSpPr>
          <p:cNvPr id="8" name="Rectangle 7"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Electricity Transmission | Overview</a:t>
            </a:r>
            <a:endParaRPr lang="en-IN" dirty="0"/>
          </a:p>
        </p:txBody>
      </p:sp>
      <p:sp>
        <p:nvSpPr>
          <p:cNvPr id="3"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dirty="0">
                <a:solidFill>
                  <a:prstClr val="black">
                    <a:lumMod val="50000"/>
                    <a:lumOff val="50000"/>
                  </a:prstClr>
                </a:solidFill>
                <a:latin typeface="Verdana" panose="020B0604030504040204" pitchFamily="34" charset="0"/>
              </a:rPr>
              <a:t>Bangladesh currently has over 12,000 </a:t>
            </a:r>
            <a:r>
              <a:rPr lang="en-US" sz="1400" dirty="0" err="1">
                <a:solidFill>
                  <a:prstClr val="black">
                    <a:lumMod val="50000"/>
                    <a:lumOff val="50000"/>
                  </a:prstClr>
                </a:solidFill>
                <a:latin typeface="Verdana" panose="020B0604030504040204" pitchFamily="34" charset="0"/>
              </a:rPr>
              <a:t>kms</a:t>
            </a:r>
            <a:r>
              <a:rPr lang="en-US" sz="1400" dirty="0">
                <a:solidFill>
                  <a:prstClr val="black">
                    <a:lumMod val="50000"/>
                    <a:lumOff val="50000"/>
                  </a:prstClr>
                </a:solidFill>
                <a:latin typeface="Verdana" panose="020B0604030504040204" pitchFamily="34" charset="0"/>
              </a:rPr>
              <a:t> of transmission lines and over ~25,000 MVA capacity at 132 /33 kV level capable of handling ~21,000 MW of power evacuation</a:t>
            </a:r>
            <a:endPar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4" name="Table 3"/>
          <p:cNvGraphicFramePr>
            <a:graphicFrameLocks noGrp="1"/>
          </p:cNvGraphicFramePr>
          <p:nvPr>
            <p:custDataLst>
              <p:tags r:id="rId3"/>
            </p:custDataLst>
            <p:extLst>
              <p:ext uri="{D42A27DB-BD31-4B8C-83A1-F6EECF244321}">
                <p14:modId xmlns:p14="http://schemas.microsoft.com/office/powerpoint/2010/main" val="3111081921"/>
              </p:ext>
            </p:extLst>
          </p:nvPr>
        </p:nvGraphicFramePr>
        <p:xfrm>
          <a:off x="449993" y="1961918"/>
          <a:ext cx="4734896" cy="21349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723655">
                <a:tc>
                  <a:txBody>
                    <a:bodyPr/>
                    <a:lstStyle/>
                    <a:p>
                      <a:pPr marL="0" indent="0" algn="just">
                        <a:spcBef>
                          <a:spcPts val="600"/>
                        </a:spcBef>
                        <a:spcAft>
                          <a:spcPts val="600"/>
                        </a:spcAft>
                        <a:buFont typeface="Arial" panose="020B0604020202020204" pitchFamily="34" charset="0"/>
                        <a:buNone/>
                      </a:pPr>
                      <a:r>
                        <a:rPr lang="en-US" sz="1000" b="1" baseline="0" dirty="0">
                          <a:solidFill>
                            <a:schemeClr val="tx1"/>
                          </a:solidFill>
                        </a:rPr>
                        <a:t>Power Transmission</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Power Grid Company of Bangladesh (PGCB) is responsible for wheeling of energy from generation stations to distribution companies using the transmission network. It is mandated for the management of national power grid and economic dispatch of electricity throughout the country.</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The figure (right) highlights the transmission network of PGCB (2019)</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The following figure (below) highlights the overall transmission capacity as of December, 2019</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pic>
        <p:nvPicPr>
          <p:cNvPr id="6" name="Picture 5"/>
          <p:cNvPicPr>
            <a:picLocks noChangeAspect="1"/>
          </p:cNvPicPr>
          <p:nvPr/>
        </p:nvPicPr>
        <p:blipFill>
          <a:blip r:embed="rId21"/>
          <a:stretch>
            <a:fillRect/>
          </a:stretch>
        </p:blipFill>
        <p:spPr>
          <a:xfrm>
            <a:off x="5497830" y="1961918"/>
            <a:ext cx="4743134" cy="5015352"/>
          </a:xfrm>
          <a:prstGeom prst="rect">
            <a:avLst/>
          </a:prstGeom>
        </p:spPr>
      </p:pic>
      <p:graphicFrame>
        <p:nvGraphicFramePr>
          <p:cNvPr id="87" name="Chart 86"/>
          <p:cNvGraphicFramePr/>
          <p:nvPr>
            <p:custDataLst>
              <p:tags r:id="rId4"/>
            </p:custDataLst>
            <p:extLst>
              <p:ext uri="{D42A27DB-BD31-4B8C-83A1-F6EECF244321}">
                <p14:modId xmlns:p14="http://schemas.microsoft.com/office/powerpoint/2010/main" val="487079394"/>
              </p:ext>
            </p:extLst>
          </p:nvPr>
        </p:nvGraphicFramePr>
        <p:xfrm>
          <a:off x="290513" y="4402138"/>
          <a:ext cx="2222500" cy="2116137"/>
        </p:xfrm>
        <a:graphic>
          <a:graphicData uri="http://schemas.openxmlformats.org/drawingml/2006/chart">
            <c:chart xmlns:c="http://schemas.openxmlformats.org/drawingml/2006/chart" xmlns:r="http://schemas.openxmlformats.org/officeDocument/2006/relationships" r:id="rId22"/>
          </a:graphicData>
        </a:graphic>
      </p:graphicFrame>
      <p:sp>
        <p:nvSpPr>
          <p:cNvPr id="12" name="StandardTextbox"/>
          <p:cNvSpPr>
            <a:spLocks noGrp="1"/>
          </p:cNvSpPr>
          <p:nvPr>
            <p:custDataLst>
              <p:tags r:id="rId5"/>
            </p:custDataLst>
          </p:nvPr>
        </p:nvSpPr>
        <p:spPr bwMode="auto">
          <a:xfrm>
            <a:off x="579438" y="6502400"/>
            <a:ext cx="37465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1716DD3-10A0-4DDC-AC78-C65A3F719DF6}" type="datetime'''''''''''''''''''4''0''''''''''''''0 ''k''''''''''V'''">
              <a:rPr lang="en-IN" altLang="en-US" sz="800" b="0" smtClean="0">
                <a:sym typeface="+mn-lt"/>
              </a:rPr>
              <a:pPr lvl="1" algn="ctr">
                <a:spcBef>
                  <a:spcPct val="0"/>
                </a:spcBef>
                <a:spcAft>
                  <a:spcPct val="0"/>
                </a:spcAft>
              </a:pPr>
              <a:t>400 kV</a:t>
            </a:fld>
            <a:endParaRPr lang="en-IN" sz="800" b="0" noProof="0" dirty="0">
              <a:sym typeface="+mn-lt"/>
            </a:endParaRPr>
          </a:p>
        </p:txBody>
      </p:sp>
      <p:sp>
        <p:nvSpPr>
          <p:cNvPr id="33" name="StandardTextbox"/>
          <p:cNvSpPr>
            <a:spLocks noGrp="1"/>
          </p:cNvSpPr>
          <p:nvPr>
            <p:custDataLst>
              <p:tags r:id="rId6"/>
            </p:custDataLst>
          </p:nvPr>
        </p:nvSpPr>
        <p:spPr bwMode="auto">
          <a:xfrm>
            <a:off x="1214438" y="6502400"/>
            <a:ext cx="37465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F5C26CF-BC8B-45EA-A076-05E5080C5A7E}" type="datetime'''''''2''''''''''''''3''''0'''''''' k''''''V'''''''">
              <a:rPr lang="en-IN" altLang="en-US" sz="800" b="0" smtClean="0">
                <a:sym typeface="+mn-lt"/>
              </a:rPr>
              <a:pPr lvl="1" algn="ctr">
                <a:spcBef>
                  <a:spcPct val="0"/>
                </a:spcBef>
                <a:spcAft>
                  <a:spcPct val="0"/>
                </a:spcAft>
              </a:pPr>
              <a:t>230 kV</a:t>
            </a:fld>
            <a:endParaRPr lang="en-IN" sz="800" b="0" noProof="0" dirty="0">
              <a:sym typeface="+mn-lt"/>
            </a:endParaRPr>
          </a:p>
        </p:txBody>
      </p:sp>
      <p:sp>
        <p:nvSpPr>
          <p:cNvPr id="35" name="StandardTextbox"/>
          <p:cNvSpPr>
            <a:spLocks noGrp="1"/>
          </p:cNvSpPr>
          <p:nvPr>
            <p:custDataLst>
              <p:tags r:id="rId7"/>
            </p:custDataLst>
          </p:nvPr>
        </p:nvSpPr>
        <p:spPr bwMode="auto">
          <a:xfrm>
            <a:off x="1849438" y="6502400"/>
            <a:ext cx="37465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882DFED-55D2-48BD-A709-54B7F45FE7D4}" type="datetime'''1''3''''''''''''''''''''2'' ''''kV'''">
              <a:rPr lang="en-IN" altLang="en-US" sz="800" b="0" smtClean="0">
                <a:sym typeface="+mn-lt"/>
              </a:rPr>
              <a:pPr lvl="1" algn="ctr">
                <a:spcBef>
                  <a:spcPct val="0"/>
                </a:spcBef>
                <a:spcAft>
                  <a:spcPct val="0"/>
                </a:spcAft>
              </a:pPr>
              <a:t>132 kV</a:t>
            </a:fld>
            <a:endParaRPr lang="en-IN" sz="800" b="0" noProof="0" dirty="0">
              <a:sym typeface="+mn-lt"/>
            </a:endParaRPr>
          </a:p>
        </p:txBody>
      </p:sp>
      <p:graphicFrame>
        <p:nvGraphicFramePr>
          <p:cNvPr id="86" name="Chart 85"/>
          <p:cNvGraphicFramePr/>
          <p:nvPr>
            <p:custDataLst>
              <p:tags r:id="rId8"/>
            </p:custDataLst>
            <p:extLst>
              <p:ext uri="{D42A27DB-BD31-4B8C-83A1-F6EECF244321}">
                <p14:modId xmlns:p14="http://schemas.microsoft.com/office/powerpoint/2010/main" val="535464309"/>
              </p:ext>
            </p:extLst>
          </p:nvPr>
        </p:nvGraphicFramePr>
        <p:xfrm>
          <a:off x="2489200" y="4402138"/>
          <a:ext cx="2778125" cy="2116137"/>
        </p:xfrm>
        <a:graphic>
          <a:graphicData uri="http://schemas.openxmlformats.org/drawingml/2006/chart">
            <c:chart xmlns:c="http://schemas.openxmlformats.org/drawingml/2006/chart" xmlns:r="http://schemas.openxmlformats.org/officeDocument/2006/relationships" r:id="rId23"/>
          </a:graphicData>
        </a:graphic>
      </p:graphicFrame>
      <p:sp>
        <p:nvSpPr>
          <p:cNvPr id="50" name="StandardTextbox"/>
          <p:cNvSpPr>
            <a:spLocks noGrp="1"/>
          </p:cNvSpPr>
          <p:nvPr>
            <p:custDataLst>
              <p:tags r:id="rId9"/>
            </p:custDataLst>
          </p:nvPr>
        </p:nvSpPr>
        <p:spPr bwMode="auto">
          <a:xfrm>
            <a:off x="3130550" y="6502401"/>
            <a:ext cx="449263" cy="2444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1F83690-AE21-433A-A3FB-E6CA0A252A3C}" type="datetime'''''''4''''00/2''3''0'''' ''''''k''''''''''''''''V'''''">
              <a:rPr lang="en-IN" altLang="en-US" sz="800" b="0" smtClean="0">
                <a:sym typeface="+mn-lt"/>
              </a:rPr>
              <a:pPr lvl="1" algn="ctr">
                <a:spcBef>
                  <a:spcPct val="0"/>
                </a:spcBef>
                <a:spcAft>
                  <a:spcPct val="0"/>
                </a:spcAft>
              </a:pPr>
              <a:t>400/230 kV</a:t>
            </a:fld>
            <a:endParaRPr lang="en-IN" sz="800" b="0" noProof="0" dirty="0">
              <a:sym typeface="+mn-lt"/>
            </a:endParaRPr>
          </a:p>
        </p:txBody>
      </p:sp>
      <p:sp>
        <p:nvSpPr>
          <p:cNvPr id="49" name="StandardTextbox"/>
          <p:cNvSpPr>
            <a:spLocks noGrp="1"/>
          </p:cNvSpPr>
          <p:nvPr>
            <p:custDataLst>
              <p:tags r:id="rId10"/>
            </p:custDataLst>
          </p:nvPr>
        </p:nvSpPr>
        <p:spPr bwMode="auto">
          <a:xfrm>
            <a:off x="2644775" y="6502400"/>
            <a:ext cx="37465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7329893C-0E1C-45EB-B0D7-156004A4964F}" type="datetime'''''''''''''4''''0''''0'''''''' ''k''''''''''V'''''''''''''''">
              <a:rPr lang="en-IN" altLang="en-US" sz="800" b="0" smtClean="0">
                <a:sym typeface="+mn-lt"/>
              </a:rPr>
              <a:pPr lvl="1" algn="ctr">
                <a:spcBef>
                  <a:spcPct val="0"/>
                </a:spcBef>
                <a:spcAft>
                  <a:spcPct val="0"/>
                </a:spcAft>
              </a:pPr>
              <a:t>400 kV</a:t>
            </a:fld>
            <a:endParaRPr lang="en-IN" sz="800" b="0" noProof="0" dirty="0">
              <a:sym typeface="+mn-lt"/>
            </a:endParaRPr>
          </a:p>
        </p:txBody>
      </p:sp>
      <p:sp>
        <p:nvSpPr>
          <p:cNvPr id="51" name="StandardTextbox"/>
          <p:cNvSpPr>
            <a:spLocks noGrp="1"/>
          </p:cNvSpPr>
          <p:nvPr>
            <p:custDataLst>
              <p:tags r:id="rId11"/>
            </p:custDataLst>
          </p:nvPr>
        </p:nvSpPr>
        <p:spPr bwMode="auto">
          <a:xfrm>
            <a:off x="3654425" y="6502401"/>
            <a:ext cx="449263" cy="2444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12D1715-7F38-49A1-8A0B-5A3533B02737}" type="datetime'''40''''0''''''''''/''1''''''3''''2 ''''''''''''k''''''''V'''">
              <a:rPr lang="en-IN" altLang="en-US" sz="800" b="0" smtClean="0">
                <a:sym typeface="+mn-lt"/>
              </a:rPr>
              <a:pPr lvl="1" algn="ctr">
                <a:spcBef>
                  <a:spcPct val="0"/>
                </a:spcBef>
                <a:spcAft>
                  <a:spcPct val="0"/>
                </a:spcAft>
              </a:pPr>
              <a:t>400/132 kV</a:t>
            </a:fld>
            <a:endParaRPr lang="en-IN" sz="800" b="0" noProof="0" dirty="0">
              <a:sym typeface="+mn-lt"/>
            </a:endParaRPr>
          </a:p>
        </p:txBody>
      </p:sp>
      <p:sp>
        <p:nvSpPr>
          <p:cNvPr id="58" name="StandardTextbox"/>
          <p:cNvSpPr>
            <a:spLocks noGrp="1"/>
          </p:cNvSpPr>
          <p:nvPr>
            <p:custDataLst>
              <p:tags r:id="rId12"/>
            </p:custDataLst>
          </p:nvPr>
        </p:nvSpPr>
        <p:spPr bwMode="auto">
          <a:xfrm>
            <a:off x="4176713" y="6502401"/>
            <a:ext cx="449263" cy="2444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BF410DD8-4935-45D8-949B-2EB20D602776}" type="datetime'2''''''''''''''30''''''''''''''''/''''132'''''''''''''' kV'">
              <a:rPr lang="en-IN" altLang="en-US" sz="800" b="0" smtClean="0">
                <a:sym typeface="+mn-lt"/>
              </a:rPr>
              <a:pPr lvl="1" algn="ctr">
                <a:spcBef>
                  <a:spcPct val="0"/>
                </a:spcBef>
                <a:spcAft>
                  <a:spcPct val="0"/>
                </a:spcAft>
              </a:pPr>
              <a:t>230/132 kV</a:t>
            </a:fld>
            <a:endParaRPr lang="en-IN" sz="800" b="0" noProof="0" dirty="0">
              <a:sym typeface="+mn-lt"/>
            </a:endParaRPr>
          </a:p>
        </p:txBody>
      </p:sp>
      <p:sp>
        <p:nvSpPr>
          <p:cNvPr id="60" name="StandardTextbox"/>
          <p:cNvSpPr>
            <a:spLocks noGrp="1"/>
          </p:cNvSpPr>
          <p:nvPr>
            <p:custDataLst>
              <p:tags r:id="rId13"/>
            </p:custDataLst>
          </p:nvPr>
        </p:nvSpPr>
        <p:spPr bwMode="auto">
          <a:xfrm>
            <a:off x="4730750" y="6502401"/>
            <a:ext cx="384175" cy="2444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BBDA5286-3688-4189-A89E-51EDC2324346}" type="datetime'''''''''13''''''''2/3''3'''''''''''''''''''''''''' ''kV'">
              <a:rPr lang="en-IN" altLang="en-US" sz="800" b="0" smtClean="0">
                <a:sym typeface="+mn-lt"/>
              </a:rPr>
              <a:pPr lvl="1" algn="ctr">
                <a:spcBef>
                  <a:spcPct val="0"/>
                </a:spcBef>
                <a:spcAft>
                  <a:spcPct val="0"/>
                </a:spcAft>
              </a:pPr>
              <a:t>132/33 kV</a:t>
            </a:fld>
            <a:endParaRPr lang="en-IN" sz="800" b="0" noProof="0" dirty="0">
              <a:sym typeface="+mn-lt"/>
            </a:endParaRPr>
          </a:p>
        </p:txBody>
      </p:sp>
      <p:sp>
        <p:nvSpPr>
          <p:cNvPr id="80" name="Rectangle 79"/>
          <p:cNvSpPr/>
          <p:nvPr>
            <p:custDataLst>
              <p:tags r:id="rId14"/>
            </p:custDataLst>
          </p:nvPr>
        </p:nvSpPr>
        <p:spPr bwMode="auto">
          <a:xfrm>
            <a:off x="2951163" y="6816725"/>
            <a:ext cx="142875" cy="106363"/>
          </a:xfrm>
          <a:prstGeom prst="rect">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78" name="StandardTextbox"/>
          <p:cNvSpPr>
            <a:spLocks noGrp="1"/>
          </p:cNvSpPr>
          <p:nvPr>
            <p:custDataLst>
              <p:tags r:id="rId15"/>
            </p:custDataLst>
          </p:nvPr>
        </p:nvSpPr>
        <p:spPr bwMode="auto">
          <a:xfrm>
            <a:off x="3144838" y="6811963"/>
            <a:ext cx="137318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D7F9D434-A2C9-48BB-AE58-BF657A1A3EA0}" type="datetime'''Su''b''s''''tati''on'' C''''a''p''aci''t''y'''' (''MVA)'''">
              <a:rPr lang="en-IN" altLang="en-US" sz="800" b="0" smtClean="0">
                <a:sym typeface="+mn-lt"/>
              </a:rPr>
              <a:pPr lvl="1">
                <a:spcBef>
                  <a:spcPct val="0"/>
                </a:spcBef>
                <a:spcAft>
                  <a:spcPct val="0"/>
                </a:spcAft>
              </a:pPr>
              <a:t>Substation Capacity (MVA)</a:t>
            </a:fld>
            <a:endParaRPr lang="en-IN" sz="800" b="0" noProof="0" dirty="0">
              <a:sym typeface="+mn-lt"/>
            </a:endParaRPr>
          </a:p>
        </p:txBody>
      </p:sp>
      <p:sp>
        <p:nvSpPr>
          <p:cNvPr id="83" name="Rectangle 82"/>
          <p:cNvSpPr/>
          <p:nvPr>
            <p:custDataLst>
              <p:tags r:id="rId16"/>
            </p:custDataLst>
          </p:nvPr>
        </p:nvSpPr>
        <p:spPr bwMode="auto">
          <a:xfrm>
            <a:off x="714375" y="6816725"/>
            <a:ext cx="142875" cy="106363"/>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81" name="StandardTextbox"/>
          <p:cNvSpPr>
            <a:spLocks noGrp="1"/>
          </p:cNvSpPr>
          <p:nvPr>
            <p:custDataLst>
              <p:tags r:id="rId17"/>
            </p:custDataLst>
          </p:nvPr>
        </p:nvSpPr>
        <p:spPr bwMode="auto">
          <a:xfrm>
            <a:off x="908050" y="6811963"/>
            <a:ext cx="130968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2B17E420-1E1C-419B-9A40-D290312244EF}" type="datetime'''Tra''''ns''m''i''''''''''ssion'' ''Lines'''' ''''(''''kms)'">
              <a:rPr lang="en-IN" altLang="en-US" sz="800" b="0" smtClean="0">
                <a:sym typeface="+mn-lt"/>
              </a:rPr>
              <a:pPr lvl="1">
                <a:spcBef>
                  <a:spcPct val="0"/>
                </a:spcBef>
                <a:spcAft>
                  <a:spcPct val="0"/>
                </a:spcAft>
              </a:pPr>
              <a:t>Transmission Lines (kms)</a:t>
            </a:fld>
            <a:endParaRPr lang="en-IN" sz="800" b="0" noProof="0" dirty="0">
              <a:sym typeface="+mn-lt"/>
            </a:endParaRPr>
          </a:p>
        </p:txBody>
      </p:sp>
      <p:sp>
        <p:nvSpPr>
          <p:cNvPr id="22" name="Rectangle 21"/>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PGCB, Deloitte Analysis Note: 1) Map not to scale 2) MVA to MW considered at 0.85 Power Factor</a:t>
            </a:r>
          </a:p>
        </p:txBody>
      </p:sp>
    </p:spTree>
    <p:extLst>
      <p:ext uri="{BB962C8B-B14F-4D97-AF65-F5344CB8AC3E}">
        <p14:creationId xmlns:p14="http://schemas.microsoft.com/office/powerpoint/2010/main" val="721679852"/>
      </p:ext>
    </p:extLst>
  </p:cSld>
  <p:clrMapOvr>
    <a:masterClrMapping/>
  </p:clrMapOvr>
  <p:transition>
    <p:fade/>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p:cNvGraphicFramePr>
            <a:graphicFrameLocks noChangeAspect="1"/>
          </p:cNvGraphicFramePr>
          <p:nvPr>
            <p:custDataLst>
              <p:tags r:id="rId1"/>
            </p:custDataLst>
            <p:extLst>
              <p:ext uri="{D42A27DB-BD31-4B8C-83A1-F6EECF244321}">
                <p14:modId xmlns:p14="http://schemas.microsoft.com/office/powerpoint/2010/main" val="418824716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8" imgW="530" imgH="531" progId="TCLayout.ActiveDocument.1">
                  <p:embed/>
                </p:oleObj>
              </mc:Choice>
              <mc:Fallback>
                <p:oleObj name="think-cell Slide" r:id="rId38" imgW="530" imgH="531" progId="TCLayout.ActiveDocument.1">
                  <p:embed/>
                  <p:pic>
                    <p:nvPicPr>
                      <p:cNvPr id="10" name="Object 9" hidden="1"/>
                      <p:cNvPicPr/>
                      <p:nvPr/>
                    </p:nvPicPr>
                    <p:blipFill>
                      <a:blip r:embed="rId39"/>
                      <a:stretch>
                        <a:fillRect/>
                      </a:stretch>
                    </p:blipFill>
                    <p:spPr>
                      <a:xfrm>
                        <a:off x="1588" y="1588"/>
                        <a:ext cx="1588" cy="1588"/>
                      </a:xfrm>
                      <a:prstGeom prst="rect">
                        <a:avLst/>
                      </a:prstGeom>
                    </p:spPr>
                  </p:pic>
                </p:oleObj>
              </mc:Fallback>
            </mc:AlternateContent>
          </a:graphicData>
        </a:graphic>
      </p:graphicFrame>
      <p:sp>
        <p:nvSpPr>
          <p:cNvPr id="5" name="Rectangle 4"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Electricity Transmission | Historical Growth &amp; Transmission Loss</a:t>
            </a:r>
            <a:endParaRPr lang="en-IN" dirty="0"/>
          </a:p>
        </p:txBody>
      </p:sp>
      <p:sp>
        <p:nvSpPr>
          <p:cNvPr id="3"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Bangladesh has expanded</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its transmission line as it aims to provide 100% electricity access to the population by 2021 and also introduced 400 kV substations for importing power typically requiring transmission of power over large distances</a:t>
            </a:r>
            <a:endPar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4" name="Table 3"/>
          <p:cNvGraphicFramePr>
            <a:graphicFrameLocks noGrp="1"/>
          </p:cNvGraphicFramePr>
          <p:nvPr>
            <p:custDataLst>
              <p:tags r:id="rId3"/>
            </p:custDataLst>
            <p:extLst>
              <p:ext uri="{D42A27DB-BD31-4B8C-83A1-F6EECF244321}">
                <p14:modId xmlns:p14="http://schemas.microsoft.com/office/powerpoint/2010/main" val="1098963483"/>
              </p:ext>
            </p:extLst>
          </p:nvPr>
        </p:nvGraphicFramePr>
        <p:xfrm>
          <a:off x="449993" y="1961918"/>
          <a:ext cx="4734896" cy="45733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723655">
                <a:tc>
                  <a:txBody>
                    <a:bodyPr/>
                    <a:lstStyle/>
                    <a:p>
                      <a:pPr marL="0" indent="0" algn="just">
                        <a:spcBef>
                          <a:spcPts val="600"/>
                        </a:spcBef>
                        <a:spcAft>
                          <a:spcPts val="600"/>
                        </a:spcAft>
                        <a:buFont typeface="Arial" panose="020B0604020202020204" pitchFamily="34" charset="0"/>
                        <a:buNone/>
                      </a:pPr>
                      <a:r>
                        <a:rPr lang="en-US" sz="1000" b="1" baseline="0" dirty="0">
                          <a:solidFill>
                            <a:schemeClr val="tx1"/>
                          </a:solidFill>
                        </a:rPr>
                        <a:t>Power Transmission</a:t>
                      </a:r>
                    </a:p>
                    <a:p>
                      <a:pPr marL="171450" marR="0" lvl="0" indent="-171450" algn="just" defTabSz="990571" rtl="0" eaLnBrk="1" fontAlgn="auto" latinLnBrk="0" hangingPunct="1">
                        <a:lnSpc>
                          <a:spcPct val="100000"/>
                        </a:lnSpc>
                        <a:spcBef>
                          <a:spcPts val="600"/>
                        </a:spcBef>
                        <a:spcAft>
                          <a:spcPts val="600"/>
                        </a:spcAft>
                        <a:buClrTx/>
                        <a:buSzTx/>
                        <a:buFont typeface="Arial" panose="020B0604020202020204" pitchFamily="34" charset="0"/>
                        <a:buChar char="•"/>
                        <a:tabLst/>
                        <a:defRPr/>
                      </a:pPr>
                      <a:r>
                        <a:rPr lang="en-US" sz="1000" b="0" baseline="0" dirty="0">
                          <a:solidFill>
                            <a:schemeClr val="tx1"/>
                          </a:solidFill>
                        </a:rPr>
                        <a:t>HVDC substation addition is to facilitate import from India, whereas high voltage transmission capacity is to facilitate transfer of electricity over larger distances, bridging the gap between supply and demand</a:t>
                      </a:r>
                    </a:p>
                    <a:p>
                      <a:pPr marL="171450" lvl="0" indent="-171450" algn="just">
                        <a:spcBef>
                          <a:spcPts val="600"/>
                        </a:spcBef>
                        <a:spcAft>
                          <a:spcPts val="600"/>
                        </a:spcAft>
                        <a:buFont typeface="Arial" panose="020B0604020202020204" pitchFamily="34" charset="0"/>
                        <a:buChar char="•"/>
                      </a:pPr>
                      <a:r>
                        <a:rPr lang="en-US" sz="1000" b="0" baseline="0" dirty="0">
                          <a:solidFill>
                            <a:schemeClr val="tx1"/>
                          </a:solidFill>
                        </a:rPr>
                        <a:t>In addition to introduction of high voltage, capacity addition CAGR from 2010-2019,  at 230 kV and 132 kV is as follows:</a:t>
                      </a:r>
                    </a:p>
                    <a:p>
                      <a:pPr marL="666736" lvl="1" indent="-171450" algn="just">
                        <a:spcBef>
                          <a:spcPts val="600"/>
                        </a:spcBef>
                        <a:spcAft>
                          <a:spcPts val="600"/>
                        </a:spcAft>
                        <a:buFont typeface="Arial" panose="020B0604020202020204" pitchFamily="34" charset="0"/>
                        <a:buChar char="•"/>
                      </a:pPr>
                      <a:r>
                        <a:rPr lang="en-US" sz="1000" b="0" baseline="0" dirty="0">
                          <a:solidFill>
                            <a:schemeClr val="tx1"/>
                          </a:solidFill>
                        </a:rPr>
                        <a:t>230 kV transmission capacity: 2.8%</a:t>
                      </a:r>
                    </a:p>
                    <a:p>
                      <a:pPr marL="666736" lvl="1" indent="-171450" algn="just">
                        <a:spcBef>
                          <a:spcPts val="600"/>
                        </a:spcBef>
                        <a:spcAft>
                          <a:spcPts val="600"/>
                        </a:spcAft>
                        <a:buFont typeface="Arial" panose="020B0604020202020204" pitchFamily="34" charset="0"/>
                        <a:buChar char="•"/>
                      </a:pPr>
                      <a:r>
                        <a:rPr lang="en-US" sz="1000" b="0" baseline="0" dirty="0">
                          <a:solidFill>
                            <a:schemeClr val="tx1"/>
                          </a:solidFill>
                        </a:rPr>
                        <a:t>132 kV transmission capacity : 3.1%</a:t>
                      </a:r>
                    </a:p>
                    <a:p>
                      <a:pPr marL="666736" lvl="1" indent="-171450" algn="just">
                        <a:spcBef>
                          <a:spcPts val="600"/>
                        </a:spcBef>
                        <a:spcAft>
                          <a:spcPts val="600"/>
                        </a:spcAft>
                        <a:buFont typeface="Arial" panose="020B0604020202020204" pitchFamily="34" charset="0"/>
                        <a:buChar char="•"/>
                      </a:pPr>
                      <a:r>
                        <a:rPr lang="en-US" sz="1000" b="0" baseline="0" dirty="0">
                          <a:solidFill>
                            <a:schemeClr val="tx1"/>
                          </a:solidFill>
                        </a:rPr>
                        <a:t>230/132 kV transformation capacity: 6.9%</a:t>
                      </a:r>
                    </a:p>
                    <a:p>
                      <a:pPr marL="666736" lvl="1" indent="-171450" algn="just">
                        <a:spcBef>
                          <a:spcPts val="600"/>
                        </a:spcBef>
                        <a:spcAft>
                          <a:spcPts val="600"/>
                        </a:spcAft>
                        <a:buFont typeface="Arial" panose="020B0604020202020204" pitchFamily="34" charset="0"/>
                        <a:buChar char="•"/>
                      </a:pPr>
                      <a:r>
                        <a:rPr lang="en-US" sz="1000" b="0" baseline="0" dirty="0">
                          <a:solidFill>
                            <a:schemeClr val="tx1"/>
                          </a:solidFill>
                        </a:rPr>
                        <a:t>132/33 kV transformation capacity: 10.9%</a:t>
                      </a:r>
                    </a:p>
                    <a:p>
                      <a:pPr marL="171450" lvl="0" indent="-171450" algn="just" defTabSz="990571" rtl="0" eaLnBrk="1" latinLnBrk="0" hangingPunct="1">
                        <a:spcBef>
                          <a:spcPts val="60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The highest CAGR growth has been in the 132 / 33 kV level as Bangladesh aimed to connect all households with electricity access by 2021</a:t>
                      </a:r>
                    </a:p>
                    <a:p>
                      <a:pPr marL="171450" lvl="0" indent="-171450" algn="just" defTabSz="990571" rtl="0" eaLnBrk="1" latinLnBrk="0" hangingPunct="1">
                        <a:spcBef>
                          <a:spcPts val="60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The 400 kV / 230 kV transmission line have been recently introduced in Bangladesh as the country is planning to introduce power plants in specific clusters such as Moheshkali, Payra, Mongla among others for imported fuel based power plants</a:t>
                      </a:r>
                    </a:p>
                    <a:p>
                      <a:pPr marL="171450" lvl="0" indent="-171450" algn="just" defTabSz="990571" rtl="0" eaLnBrk="1" latinLnBrk="0" hangingPunct="1">
                        <a:spcBef>
                          <a:spcPts val="60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The transmission loss has also improved in Bangladesh with the loss reducing from 6.3% in FY16 to ~5.7% in FY19</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1" name="Table 10"/>
          <p:cNvGraphicFramePr>
            <a:graphicFrameLocks noGrp="1"/>
          </p:cNvGraphicFramePr>
          <p:nvPr>
            <p:custDataLst>
              <p:tags r:id="rId4"/>
            </p:custDataLst>
            <p:extLst>
              <p:ext uri="{D42A27DB-BD31-4B8C-83A1-F6EECF244321}">
                <p14:modId xmlns:p14="http://schemas.microsoft.com/office/powerpoint/2010/main" val="2920701318"/>
              </p:ext>
            </p:extLst>
          </p:nvPr>
        </p:nvGraphicFramePr>
        <p:xfrm>
          <a:off x="5506068" y="1961918"/>
          <a:ext cx="4734896" cy="4585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334021">
                <a:tc>
                  <a:txBody>
                    <a:bodyPr/>
                    <a:lstStyle/>
                    <a:p>
                      <a:pPr marL="0" indent="0" algn="just">
                        <a:spcBef>
                          <a:spcPts val="600"/>
                        </a:spcBef>
                        <a:spcAft>
                          <a:spcPts val="600"/>
                        </a:spcAft>
                        <a:buFont typeface="Arial" panose="020B0604020202020204" pitchFamily="34" charset="0"/>
                        <a:buNone/>
                      </a:pPr>
                      <a:r>
                        <a:rPr lang="en-US" sz="1000" b="0" baseline="0" dirty="0">
                          <a:solidFill>
                            <a:schemeClr val="tx1"/>
                          </a:solidFill>
                        </a:rPr>
                        <a:t>The following figure illustrates the growth of transmission line length of PGCB (MVA) in the past decade, from FY 10 – FY 19</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13" name="TextBox 12"/>
          <p:cNvSpPr txBox="1"/>
          <p:nvPr/>
        </p:nvSpPr>
        <p:spPr>
          <a:xfrm>
            <a:off x="5506068" y="4780723"/>
            <a:ext cx="4582149" cy="307777"/>
          </a:xfrm>
          <a:prstGeom prst="rect">
            <a:avLst/>
          </a:prstGeom>
          <a:noFill/>
        </p:spPr>
        <p:txBody>
          <a:bodyPr wrap="square" lIns="0" tIns="0" rIns="0" bIns="0" rtlCol="0">
            <a:spAutoFit/>
          </a:bodyPr>
          <a:lstStyle/>
          <a:p>
            <a:pPr marL="0" marR="0" lvl="0" indent="0" algn="l" defTabSz="787481"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The following figure illustrates the transmission loss in Bangladesh </a:t>
            </a:r>
            <a:r>
              <a:rPr lang="en-US" sz="1000" noProof="0" dirty="0">
                <a:solidFill>
                  <a:srgbClr val="313131"/>
                </a:solidFill>
                <a:latin typeface="Verdana"/>
              </a:rPr>
              <a:t>between FY16 to FY19</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graphicFrame>
        <p:nvGraphicFramePr>
          <p:cNvPr id="187" name="Chart 186"/>
          <p:cNvGraphicFramePr/>
          <p:nvPr>
            <p:custDataLst>
              <p:tags r:id="rId5"/>
            </p:custDataLst>
            <p:extLst>
              <p:ext uri="{D42A27DB-BD31-4B8C-83A1-F6EECF244321}">
                <p14:modId xmlns:p14="http://schemas.microsoft.com/office/powerpoint/2010/main" val="312196096"/>
              </p:ext>
            </p:extLst>
          </p:nvPr>
        </p:nvGraphicFramePr>
        <p:xfrm>
          <a:off x="5332413" y="2581275"/>
          <a:ext cx="4992687" cy="1731963"/>
        </p:xfrm>
        <a:graphic>
          <a:graphicData uri="http://schemas.openxmlformats.org/drawingml/2006/chart">
            <c:chart xmlns:c="http://schemas.openxmlformats.org/drawingml/2006/chart" xmlns:r="http://schemas.openxmlformats.org/officeDocument/2006/relationships" r:id="rId40"/>
          </a:graphicData>
        </a:graphic>
      </p:graphicFrame>
      <p:sp>
        <p:nvSpPr>
          <p:cNvPr id="177" name="StandardTextbox"/>
          <p:cNvSpPr>
            <a:spLocks noGrp="1"/>
          </p:cNvSpPr>
          <p:nvPr>
            <p:custDataLst>
              <p:tags r:id="rId6"/>
            </p:custDataLst>
          </p:nvPr>
        </p:nvSpPr>
        <p:spPr bwMode="auto">
          <a:xfrm>
            <a:off x="5970589" y="4295775"/>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0F9B89CC-EDD0-4A98-A423-BE4BD4C36B7B}" type="datetime'F''''Y''''''''''''''''''1''''''''''''0'''''''''''''''''''''''">
              <a:rPr lang="en-IN" altLang="en-US" sz="800" b="0" smtClean="0">
                <a:sym typeface="+mn-lt"/>
              </a:rPr>
              <a:pPr lvl="1" algn="ctr">
                <a:spcBef>
                  <a:spcPct val="0"/>
                </a:spcBef>
                <a:spcAft>
                  <a:spcPct val="0"/>
                </a:spcAft>
              </a:pPr>
              <a:t>FY10</a:t>
            </a:fld>
            <a:endParaRPr lang="en-IN" sz="800" b="0" noProof="0" dirty="0">
              <a:sym typeface="+mn-lt"/>
            </a:endParaRPr>
          </a:p>
        </p:txBody>
      </p:sp>
      <p:sp>
        <p:nvSpPr>
          <p:cNvPr id="184" name="StandardTextbox"/>
          <p:cNvSpPr>
            <a:spLocks noGrp="1"/>
          </p:cNvSpPr>
          <p:nvPr>
            <p:custDataLst>
              <p:tags r:id="rId7"/>
            </p:custDataLst>
          </p:nvPr>
        </p:nvSpPr>
        <p:spPr bwMode="auto">
          <a:xfrm>
            <a:off x="9020176" y="4295775"/>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0F5A3376-4933-4D6D-887D-C36F46CD3CC4}" type="datetime'''F''''''''Y''''''''''''''''''''''''''''''''1''7'''''''''">
              <a:rPr lang="en-IN" altLang="en-US" sz="800" b="0" smtClean="0">
                <a:sym typeface="+mn-lt"/>
              </a:rPr>
              <a:pPr lvl="1" algn="ctr">
                <a:spcBef>
                  <a:spcPct val="0"/>
                </a:spcBef>
                <a:spcAft>
                  <a:spcPct val="0"/>
                </a:spcAft>
              </a:pPr>
              <a:t>FY17</a:t>
            </a:fld>
            <a:endParaRPr lang="en-IN" sz="800" b="0" noProof="0" dirty="0">
              <a:sym typeface="+mn-lt"/>
            </a:endParaRPr>
          </a:p>
        </p:txBody>
      </p:sp>
      <p:sp>
        <p:nvSpPr>
          <p:cNvPr id="178" name="StandardTextbox"/>
          <p:cNvSpPr>
            <a:spLocks noGrp="1"/>
          </p:cNvSpPr>
          <p:nvPr>
            <p:custDataLst>
              <p:tags r:id="rId8"/>
            </p:custDataLst>
          </p:nvPr>
        </p:nvSpPr>
        <p:spPr bwMode="auto">
          <a:xfrm>
            <a:off x="6407151" y="4295775"/>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F81E075-D578-459E-A8EB-177B136DDD2A}" type="datetime'''''''''''''''''''''''F''''''Y1''''''''1'''''">
              <a:rPr lang="en-IN" altLang="en-US" sz="800" b="0" smtClean="0">
                <a:sym typeface="+mn-lt"/>
              </a:rPr>
              <a:pPr lvl="1" algn="ctr">
                <a:spcBef>
                  <a:spcPct val="0"/>
                </a:spcBef>
                <a:spcAft>
                  <a:spcPct val="0"/>
                </a:spcAft>
              </a:pPr>
              <a:t>FY11</a:t>
            </a:fld>
            <a:endParaRPr lang="en-IN" sz="800" b="0" noProof="0" dirty="0">
              <a:sym typeface="+mn-lt"/>
            </a:endParaRPr>
          </a:p>
        </p:txBody>
      </p:sp>
      <p:sp>
        <p:nvSpPr>
          <p:cNvPr id="179" name="StandardTextbox"/>
          <p:cNvSpPr>
            <a:spLocks noGrp="1"/>
          </p:cNvSpPr>
          <p:nvPr>
            <p:custDataLst>
              <p:tags r:id="rId9"/>
            </p:custDataLst>
          </p:nvPr>
        </p:nvSpPr>
        <p:spPr bwMode="auto">
          <a:xfrm>
            <a:off x="6842126" y="4295775"/>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EBC24E5-47B3-4464-919C-3046CBEB4AE4}" type="datetime'''''''''''''''''''''''''''''FY''''''1''''''''''''''''2'''''''">
              <a:rPr lang="en-IN" altLang="en-US" sz="800" b="0" smtClean="0">
                <a:sym typeface="+mn-lt"/>
              </a:rPr>
              <a:pPr lvl="1" algn="ctr">
                <a:spcBef>
                  <a:spcPct val="0"/>
                </a:spcBef>
                <a:spcAft>
                  <a:spcPct val="0"/>
                </a:spcAft>
              </a:pPr>
              <a:t>FY12</a:t>
            </a:fld>
            <a:endParaRPr lang="en-IN" sz="800" b="0" noProof="0" dirty="0">
              <a:sym typeface="+mn-lt"/>
            </a:endParaRPr>
          </a:p>
        </p:txBody>
      </p:sp>
      <p:sp>
        <p:nvSpPr>
          <p:cNvPr id="180" name="StandardTextbox"/>
          <p:cNvSpPr>
            <a:spLocks noGrp="1"/>
          </p:cNvSpPr>
          <p:nvPr>
            <p:custDataLst>
              <p:tags r:id="rId10"/>
            </p:custDataLst>
          </p:nvPr>
        </p:nvSpPr>
        <p:spPr bwMode="auto">
          <a:xfrm>
            <a:off x="7278689" y="4295775"/>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8F403A64-37E9-405B-91DB-4BAE667E2ACF}" type="datetime'F''''''''''''''''Y''''''''''''''1''''''''''''''''3'''''''''''">
              <a:rPr lang="en-IN" altLang="en-US" sz="800" b="0" smtClean="0">
                <a:sym typeface="+mn-lt"/>
              </a:rPr>
              <a:pPr lvl="1" algn="ctr">
                <a:spcBef>
                  <a:spcPct val="0"/>
                </a:spcBef>
                <a:spcAft>
                  <a:spcPct val="0"/>
                </a:spcAft>
              </a:pPr>
              <a:t>FY13</a:t>
            </a:fld>
            <a:endParaRPr lang="en-IN" sz="800" b="0" noProof="0" dirty="0">
              <a:sym typeface="+mn-lt"/>
            </a:endParaRPr>
          </a:p>
        </p:txBody>
      </p:sp>
      <p:sp>
        <p:nvSpPr>
          <p:cNvPr id="181" name="StandardTextbox"/>
          <p:cNvSpPr>
            <a:spLocks noGrp="1"/>
          </p:cNvSpPr>
          <p:nvPr>
            <p:custDataLst>
              <p:tags r:id="rId11"/>
            </p:custDataLst>
          </p:nvPr>
        </p:nvSpPr>
        <p:spPr bwMode="auto">
          <a:xfrm>
            <a:off x="7713664" y="4295775"/>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80C029C-8084-4E33-8876-E0BC8FC5690A}" type="datetime'''F''''''''''''''''Y''1''''''''4'''">
              <a:rPr lang="en-IN" altLang="en-US" sz="800" b="0" smtClean="0">
                <a:sym typeface="+mn-lt"/>
              </a:rPr>
              <a:pPr lvl="1" algn="ctr">
                <a:spcBef>
                  <a:spcPct val="0"/>
                </a:spcBef>
                <a:spcAft>
                  <a:spcPct val="0"/>
                </a:spcAft>
              </a:pPr>
              <a:t>FY14</a:t>
            </a:fld>
            <a:endParaRPr lang="en-IN" sz="800" b="0" noProof="0" dirty="0">
              <a:sym typeface="+mn-lt"/>
            </a:endParaRPr>
          </a:p>
        </p:txBody>
      </p:sp>
      <p:sp>
        <p:nvSpPr>
          <p:cNvPr id="182" name="StandardTextbox"/>
          <p:cNvSpPr>
            <a:spLocks noGrp="1"/>
          </p:cNvSpPr>
          <p:nvPr>
            <p:custDataLst>
              <p:tags r:id="rId12"/>
            </p:custDataLst>
          </p:nvPr>
        </p:nvSpPr>
        <p:spPr bwMode="auto">
          <a:xfrm>
            <a:off x="8148639" y="4295775"/>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D3EAC2BB-541E-4E0B-B6D8-FFB1641723D8}" type="datetime'''''''''''''''''''F''''''''''''Y1''''''''''''5'''''''">
              <a:rPr lang="en-IN" altLang="en-US" sz="800" b="0" smtClean="0">
                <a:sym typeface="+mn-lt"/>
              </a:rPr>
              <a:pPr lvl="1" algn="ctr">
                <a:spcBef>
                  <a:spcPct val="0"/>
                </a:spcBef>
                <a:spcAft>
                  <a:spcPct val="0"/>
                </a:spcAft>
              </a:pPr>
              <a:t>FY15</a:t>
            </a:fld>
            <a:endParaRPr lang="en-IN" sz="800" b="0" noProof="0" dirty="0">
              <a:sym typeface="+mn-lt"/>
            </a:endParaRPr>
          </a:p>
        </p:txBody>
      </p:sp>
      <p:sp>
        <p:nvSpPr>
          <p:cNvPr id="183" name="StandardTextbox"/>
          <p:cNvSpPr>
            <a:spLocks noGrp="1"/>
          </p:cNvSpPr>
          <p:nvPr>
            <p:custDataLst>
              <p:tags r:id="rId13"/>
            </p:custDataLst>
          </p:nvPr>
        </p:nvSpPr>
        <p:spPr bwMode="auto">
          <a:xfrm>
            <a:off x="8585201" y="4295775"/>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E1A2560-1DA6-495A-97B5-CFAE357FCEDA}" type="datetime'''''''''''''''F''''''''''''''''''''''''''''''Y''''1''''6'''">
              <a:rPr lang="en-IN" altLang="en-US" sz="800" b="0" smtClean="0">
                <a:sym typeface="+mn-lt"/>
              </a:rPr>
              <a:pPr lvl="1" algn="ctr">
                <a:spcBef>
                  <a:spcPct val="0"/>
                </a:spcBef>
                <a:spcAft>
                  <a:spcPct val="0"/>
                </a:spcAft>
              </a:pPr>
              <a:t>FY16</a:t>
            </a:fld>
            <a:endParaRPr lang="en-IN" sz="800" b="0" noProof="0" dirty="0">
              <a:sym typeface="+mn-lt"/>
            </a:endParaRPr>
          </a:p>
        </p:txBody>
      </p:sp>
      <p:sp>
        <p:nvSpPr>
          <p:cNvPr id="185" name="StandardTextbox"/>
          <p:cNvSpPr>
            <a:spLocks noGrp="1"/>
          </p:cNvSpPr>
          <p:nvPr>
            <p:custDataLst>
              <p:tags r:id="rId14"/>
            </p:custDataLst>
          </p:nvPr>
        </p:nvSpPr>
        <p:spPr bwMode="auto">
          <a:xfrm>
            <a:off x="9456739" y="4295775"/>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1B14E58E-0620-43FB-A01F-7D3DBE387CBA}" type="datetime'''''''F''''''''''Y''''''''''''''''''''''''''1''''''''''''8'">
              <a:rPr lang="en-IN" altLang="en-US" sz="800" b="0" smtClean="0">
                <a:sym typeface="+mn-lt"/>
              </a:rPr>
              <a:pPr lvl="1" algn="ctr">
                <a:spcBef>
                  <a:spcPct val="0"/>
                </a:spcBef>
                <a:spcAft>
                  <a:spcPct val="0"/>
                </a:spcAft>
              </a:pPr>
              <a:t>FY18</a:t>
            </a:fld>
            <a:endParaRPr lang="en-IN" sz="800" b="0" noProof="0" dirty="0">
              <a:sym typeface="+mn-lt"/>
            </a:endParaRPr>
          </a:p>
        </p:txBody>
      </p:sp>
      <p:sp>
        <p:nvSpPr>
          <p:cNvPr id="186" name="StandardTextbox"/>
          <p:cNvSpPr>
            <a:spLocks noGrp="1"/>
          </p:cNvSpPr>
          <p:nvPr>
            <p:custDataLst>
              <p:tags r:id="rId15"/>
            </p:custDataLst>
          </p:nvPr>
        </p:nvSpPr>
        <p:spPr bwMode="auto">
          <a:xfrm>
            <a:off x="9891714" y="4295775"/>
            <a:ext cx="2635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BD2BA598-3876-4EEC-996D-74E2CE907197}" type="datetime'''''FY''''1''''''''''''''''''''''''''''''''''9'''''''">
              <a:rPr lang="en-IN" altLang="en-US" sz="800" b="0" smtClean="0">
                <a:sym typeface="+mn-lt"/>
              </a:rPr>
              <a:pPr lvl="1" algn="ctr">
                <a:spcBef>
                  <a:spcPct val="0"/>
                </a:spcBef>
                <a:spcAft>
                  <a:spcPct val="0"/>
                </a:spcAft>
              </a:pPr>
              <a:t>FY19</a:t>
            </a:fld>
            <a:endParaRPr lang="en-IN" sz="800" b="0" noProof="0" dirty="0">
              <a:sym typeface="+mn-lt"/>
            </a:endParaRPr>
          </a:p>
        </p:txBody>
      </p:sp>
      <p:sp>
        <p:nvSpPr>
          <p:cNvPr id="31" name="Rectangle 30"/>
          <p:cNvSpPr/>
          <p:nvPr>
            <p:custDataLst>
              <p:tags r:id="rId16"/>
            </p:custDataLst>
          </p:nvPr>
        </p:nvSpPr>
        <p:spPr bwMode="auto">
          <a:xfrm>
            <a:off x="6619875" y="4468813"/>
            <a:ext cx="142875" cy="106363"/>
          </a:xfrm>
          <a:prstGeom prst="rect">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4" name="Rectangle 33"/>
          <p:cNvSpPr/>
          <p:nvPr>
            <p:custDataLst>
              <p:tags r:id="rId17"/>
            </p:custDataLst>
          </p:nvPr>
        </p:nvSpPr>
        <p:spPr bwMode="auto">
          <a:xfrm>
            <a:off x="8416925" y="4468813"/>
            <a:ext cx="142875" cy="106363"/>
          </a:xfrm>
          <a:prstGeom prst="rect">
            <a:avLst/>
          </a:prstGeom>
          <a:solidFill>
            <a:srgbClr val="01216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0" name="Rectangle 29"/>
          <p:cNvSpPr/>
          <p:nvPr>
            <p:custDataLst>
              <p:tags r:id="rId18"/>
            </p:custDataLst>
          </p:nvPr>
        </p:nvSpPr>
        <p:spPr bwMode="auto">
          <a:xfrm>
            <a:off x="5715000" y="4468813"/>
            <a:ext cx="142875" cy="106363"/>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2" name="Rectangle 31"/>
          <p:cNvSpPr/>
          <p:nvPr>
            <p:custDataLst>
              <p:tags r:id="rId19"/>
            </p:custDataLst>
          </p:nvPr>
        </p:nvSpPr>
        <p:spPr bwMode="auto">
          <a:xfrm>
            <a:off x="7518400" y="4468813"/>
            <a:ext cx="142875" cy="106363"/>
          </a:xfrm>
          <a:prstGeom prst="rect">
            <a:avLst/>
          </a:prstGeom>
          <a:solidFill>
            <a:srgbClr val="62B5E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5" name="Rectangle 34"/>
          <p:cNvSpPr/>
          <p:nvPr>
            <p:custDataLst>
              <p:tags r:id="rId20"/>
            </p:custDataLst>
          </p:nvPr>
        </p:nvSpPr>
        <p:spPr bwMode="auto">
          <a:xfrm>
            <a:off x="9315450" y="4468813"/>
            <a:ext cx="142875" cy="106363"/>
          </a:xfrm>
          <a:prstGeom prst="rect">
            <a:avLst/>
          </a:prstGeom>
          <a:solidFill>
            <a:srgbClr val="0097A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67" name="StandardTextbox"/>
          <p:cNvSpPr>
            <a:spLocks noGrp="1"/>
          </p:cNvSpPr>
          <p:nvPr>
            <p:custDataLst>
              <p:tags r:id="rId21"/>
            </p:custDataLst>
          </p:nvPr>
        </p:nvSpPr>
        <p:spPr bwMode="auto">
          <a:xfrm>
            <a:off x="7712075" y="4464050"/>
            <a:ext cx="60325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0355F112-46F2-48E3-9E2B-134539B4ACAF}" type="datetime'400''''/''''''''''''''''13''''''''''''''''''''''''2 k''V'''">
              <a:rPr lang="en-IN" altLang="en-US" sz="800" b="0" smtClean="0">
                <a:sym typeface="+mn-lt"/>
              </a:rPr>
              <a:pPr lvl="1">
                <a:spcBef>
                  <a:spcPct val="0"/>
                </a:spcBef>
                <a:spcAft>
                  <a:spcPct val="0"/>
                </a:spcAft>
              </a:pPr>
              <a:t>400/132 kV</a:t>
            </a:fld>
            <a:endParaRPr lang="en-IN" sz="800" b="0" noProof="0" dirty="0">
              <a:sym typeface="+mn-lt"/>
            </a:endParaRPr>
          </a:p>
        </p:txBody>
      </p:sp>
      <p:sp>
        <p:nvSpPr>
          <p:cNvPr id="165" name="StandardTextbox"/>
          <p:cNvSpPr>
            <a:spLocks noGrp="1"/>
          </p:cNvSpPr>
          <p:nvPr>
            <p:custDataLst>
              <p:tags r:id="rId22"/>
            </p:custDataLst>
          </p:nvPr>
        </p:nvSpPr>
        <p:spPr bwMode="auto">
          <a:xfrm>
            <a:off x="5908675" y="4464050"/>
            <a:ext cx="60960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3D79FA7C-D03E-455B-830D-A8E9B5735468}" type="datetime'''H''VDC ''''''''''''''(''M''''''''''''W)'">
              <a:rPr lang="en-IN" altLang="en-US" sz="800" b="0" smtClean="0">
                <a:sym typeface="+mn-lt"/>
              </a:rPr>
              <a:pPr lvl="1">
                <a:spcBef>
                  <a:spcPct val="0"/>
                </a:spcBef>
                <a:spcAft>
                  <a:spcPct val="0"/>
                </a:spcAft>
              </a:pPr>
              <a:t>HVDC (MW)</a:t>
            </a:fld>
            <a:endParaRPr lang="en-IN" sz="800" b="0" noProof="0" dirty="0">
              <a:sym typeface="+mn-lt"/>
            </a:endParaRPr>
          </a:p>
        </p:txBody>
      </p:sp>
      <p:sp>
        <p:nvSpPr>
          <p:cNvPr id="169" name="StandardTextbox"/>
          <p:cNvSpPr>
            <a:spLocks noGrp="1"/>
          </p:cNvSpPr>
          <p:nvPr>
            <p:custDataLst>
              <p:tags r:id="rId23"/>
            </p:custDataLst>
          </p:nvPr>
        </p:nvSpPr>
        <p:spPr bwMode="auto">
          <a:xfrm>
            <a:off x="9509125" y="4464050"/>
            <a:ext cx="538163"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13A60DE1-792A-4BDE-B808-1E2843ECE6D6}" type="datetime'''''13''''''''2''/''''3''''''''''''''3'' ''''k''''''V'''">
              <a:rPr lang="en-IN" altLang="en-US" sz="800" b="0" smtClean="0">
                <a:sym typeface="+mn-lt"/>
              </a:rPr>
              <a:pPr lvl="1">
                <a:spcBef>
                  <a:spcPct val="0"/>
                </a:spcBef>
                <a:spcAft>
                  <a:spcPct val="0"/>
                </a:spcAft>
              </a:pPr>
              <a:t>132/33 kV</a:t>
            </a:fld>
            <a:endParaRPr lang="en-IN" sz="800" b="0" noProof="0" dirty="0">
              <a:sym typeface="+mn-lt"/>
            </a:endParaRPr>
          </a:p>
        </p:txBody>
      </p:sp>
      <p:sp>
        <p:nvSpPr>
          <p:cNvPr id="166" name="StandardTextbox"/>
          <p:cNvSpPr>
            <a:spLocks noGrp="1"/>
          </p:cNvSpPr>
          <p:nvPr>
            <p:custDataLst>
              <p:tags r:id="rId24"/>
            </p:custDataLst>
          </p:nvPr>
        </p:nvSpPr>
        <p:spPr bwMode="auto">
          <a:xfrm>
            <a:off x="6813550" y="4464050"/>
            <a:ext cx="60325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966D0F00-F90A-4063-8799-7016E21CAA3E}" type="datetime'4''''''''0''0''''''''''''''''''/''2''''''3''0 k''''V'''''''">
              <a:rPr lang="en-IN" altLang="en-US" sz="800" b="0" smtClean="0">
                <a:sym typeface="+mn-lt"/>
              </a:rPr>
              <a:pPr lvl="1">
                <a:spcBef>
                  <a:spcPct val="0"/>
                </a:spcBef>
                <a:spcAft>
                  <a:spcPct val="0"/>
                </a:spcAft>
              </a:pPr>
              <a:t>400/230 kV</a:t>
            </a:fld>
            <a:endParaRPr lang="en-IN" sz="800" b="0" noProof="0" dirty="0">
              <a:sym typeface="+mn-lt"/>
            </a:endParaRPr>
          </a:p>
        </p:txBody>
      </p:sp>
      <p:sp>
        <p:nvSpPr>
          <p:cNvPr id="168" name="StandardTextbox"/>
          <p:cNvSpPr>
            <a:spLocks noGrp="1"/>
          </p:cNvSpPr>
          <p:nvPr>
            <p:custDataLst>
              <p:tags r:id="rId25"/>
            </p:custDataLst>
          </p:nvPr>
        </p:nvSpPr>
        <p:spPr bwMode="auto">
          <a:xfrm>
            <a:off x="8610600" y="4464050"/>
            <a:ext cx="60325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D299C373-5611-4940-881F-979007FFC455}" type="datetime'''2''''''''''''''3''''0''''/1''''''''3''''2'' ''''''kV'">
              <a:rPr lang="en-IN" altLang="en-US" sz="800" b="0" smtClean="0">
                <a:sym typeface="+mn-lt"/>
              </a:rPr>
              <a:pPr lvl="1">
                <a:spcBef>
                  <a:spcPct val="0"/>
                </a:spcBef>
                <a:spcAft>
                  <a:spcPct val="0"/>
                </a:spcAft>
              </a:pPr>
              <a:t>230/132 kV</a:t>
            </a:fld>
            <a:endParaRPr lang="en-IN" sz="800" b="0" noProof="0" dirty="0">
              <a:sym typeface="+mn-lt"/>
            </a:endParaRPr>
          </a:p>
        </p:txBody>
      </p:sp>
      <p:graphicFrame>
        <p:nvGraphicFramePr>
          <p:cNvPr id="208" name="Chart 207"/>
          <p:cNvGraphicFramePr/>
          <p:nvPr>
            <p:custDataLst>
              <p:tags r:id="rId26"/>
            </p:custDataLst>
            <p:extLst>
              <p:ext uri="{D42A27DB-BD31-4B8C-83A1-F6EECF244321}">
                <p14:modId xmlns:p14="http://schemas.microsoft.com/office/powerpoint/2010/main" val="879200934"/>
              </p:ext>
            </p:extLst>
          </p:nvPr>
        </p:nvGraphicFramePr>
        <p:xfrm>
          <a:off x="5700713" y="5302250"/>
          <a:ext cx="4414837" cy="1573213"/>
        </p:xfrm>
        <a:graphic>
          <a:graphicData uri="http://schemas.openxmlformats.org/drawingml/2006/chart">
            <c:chart xmlns:c="http://schemas.openxmlformats.org/drawingml/2006/chart" xmlns:r="http://schemas.openxmlformats.org/officeDocument/2006/relationships" r:id="rId41"/>
          </a:graphicData>
        </a:graphic>
      </p:graphicFrame>
      <p:sp>
        <p:nvSpPr>
          <p:cNvPr id="173" name="StandardTextbox"/>
          <p:cNvSpPr>
            <a:spLocks noGrp="1"/>
          </p:cNvSpPr>
          <p:nvPr>
            <p:custDataLst>
              <p:tags r:id="rId27"/>
            </p:custDataLst>
          </p:nvPr>
        </p:nvSpPr>
        <p:spPr bwMode="auto">
          <a:xfrm>
            <a:off x="6151563" y="6878638"/>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F25B54E-0E8A-4D2C-9F28-98881BE45BCA}" type="datetime'''''''''''''''''''''''''''FY''''1''''6'''''">
              <a:rPr lang="en-IN" altLang="en-US" b="0" smtClean="0"/>
              <a:pPr lvl="1" algn="ctr">
                <a:spcBef>
                  <a:spcPct val="0"/>
                </a:spcBef>
                <a:spcAft>
                  <a:spcPct val="0"/>
                </a:spcAft>
              </a:pPr>
              <a:t>FY16</a:t>
            </a:fld>
            <a:endParaRPr lang="en-IN" b="0" noProof="0" dirty="0">
              <a:sym typeface="+mn-lt"/>
            </a:endParaRPr>
          </a:p>
        </p:txBody>
      </p:sp>
      <p:sp>
        <p:nvSpPr>
          <p:cNvPr id="203" name="StandardTextbox"/>
          <p:cNvSpPr>
            <a:spLocks noGrp="1"/>
          </p:cNvSpPr>
          <p:nvPr>
            <p:custDataLst>
              <p:tags r:id="rId28"/>
            </p:custDataLst>
          </p:nvPr>
        </p:nvSpPr>
        <p:spPr bwMode="gray">
          <a:xfrm>
            <a:off x="8247063" y="5386388"/>
            <a:ext cx="3857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B2F6F297-6A09-47CF-8136-C8311177E1D4}" type="datetime'''''''''''''''5''.''5''''%'''''''''''''''''''''''''''''''">
              <a:rPr lang="en-IN" altLang="en-US" b="0" smtClean="0"/>
              <a:pPr lvl="1" algn="ctr">
                <a:spcBef>
                  <a:spcPct val="0"/>
                </a:spcBef>
                <a:spcAft>
                  <a:spcPct val="0"/>
                </a:spcAft>
              </a:pPr>
              <a:t>5.5%</a:t>
            </a:fld>
            <a:endParaRPr lang="en-IN" b="0" noProof="0" dirty="0">
              <a:sym typeface="+mn-lt"/>
            </a:endParaRPr>
          </a:p>
        </p:txBody>
      </p:sp>
      <p:sp>
        <p:nvSpPr>
          <p:cNvPr id="202" name="StandardTextbox"/>
          <p:cNvSpPr>
            <a:spLocks noGrp="1"/>
          </p:cNvSpPr>
          <p:nvPr>
            <p:custDataLst>
              <p:tags r:id="rId29"/>
            </p:custDataLst>
          </p:nvPr>
        </p:nvSpPr>
        <p:spPr bwMode="gray">
          <a:xfrm>
            <a:off x="7185025" y="5316538"/>
            <a:ext cx="3857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6ED679C-536B-4A05-8788-9BE1713B94F3}" type="datetime'5''.''''''''''''''''''8''%'''''''''''''''''''''''">
              <a:rPr lang="en-IN" altLang="en-US" b="0" smtClean="0"/>
              <a:pPr lvl="1" algn="ctr">
                <a:spcBef>
                  <a:spcPct val="0"/>
                </a:spcBef>
                <a:spcAft>
                  <a:spcPct val="0"/>
                </a:spcAft>
              </a:pPr>
              <a:t>5.8%</a:t>
            </a:fld>
            <a:endParaRPr lang="en-IN" b="0" noProof="0" dirty="0">
              <a:sym typeface="+mn-lt"/>
            </a:endParaRPr>
          </a:p>
        </p:txBody>
      </p:sp>
      <p:sp>
        <p:nvSpPr>
          <p:cNvPr id="175" name="StandardTextbox"/>
          <p:cNvSpPr>
            <a:spLocks noGrp="1"/>
          </p:cNvSpPr>
          <p:nvPr>
            <p:custDataLst>
              <p:tags r:id="rId30"/>
            </p:custDataLst>
          </p:nvPr>
        </p:nvSpPr>
        <p:spPr bwMode="auto">
          <a:xfrm>
            <a:off x="8277225" y="6878638"/>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C5B843A-6F7E-415C-AA92-3F0B3BD59566}" type="datetime'''''''''''F''''''''Y''1''''''8'''''''''">
              <a:rPr lang="en-IN" altLang="en-US" b="0" smtClean="0"/>
              <a:pPr lvl="1" algn="ctr">
                <a:spcBef>
                  <a:spcPct val="0"/>
                </a:spcBef>
                <a:spcAft>
                  <a:spcPct val="0"/>
                </a:spcAft>
              </a:pPr>
              <a:t>FY18</a:t>
            </a:fld>
            <a:endParaRPr lang="en-IN" b="0" noProof="0" dirty="0">
              <a:sym typeface="+mn-lt"/>
            </a:endParaRPr>
          </a:p>
        </p:txBody>
      </p:sp>
      <p:sp>
        <p:nvSpPr>
          <p:cNvPr id="174" name="StandardTextbox"/>
          <p:cNvSpPr>
            <a:spLocks noGrp="1"/>
          </p:cNvSpPr>
          <p:nvPr>
            <p:custDataLst>
              <p:tags r:id="rId31"/>
            </p:custDataLst>
          </p:nvPr>
        </p:nvSpPr>
        <p:spPr bwMode="auto">
          <a:xfrm>
            <a:off x="7215188" y="6878638"/>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026B3ED1-2BF7-4178-8E1F-BC0B7CFAB150}" type="datetime'F''''''''''''''''''Y''''''''''1''''''''''''''''''7'''''">
              <a:rPr lang="en-IN" altLang="en-US" b="0" smtClean="0"/>
              <a:pPr lvl="1" algn="ctr">
                <a:spcBef>
                  <a:spcPct val="0"/>
                </a:spcBef>
                <a:spcAft>
                  <a:spcPct val="0"/>
                </a:spcAft>
              </a:pPr>
              <a:t>FY17</a:t>
            </a:fld>
            <a:endParaRPr lang="en-IN" b="0" noProof="0" dirty="0">
              <a:sym typeface="+mn-lt"/>
            </a:endParaRPr>
          </a:p>
        </p:txBody>
      </p:sp>
      <p:sp>
        <p:nvSpPr>
          <p:cNvPr id="192" name="StandardTextbox"/>
          <p:cNvSpPr>
            <a:spLocks noGrp="1"/>
          </p:cNvSpPr>
          <p:nvPr>
            <p:custDataLst>
              <p:tags r:id="rId32"/>
            </p:custDataLst>
          </p:nvPr>
        </p:nvSpPr>
        <p:spPr bwMode="auto">
          <a:xfrm>
            <a:off x="9339263" y="6878638"/>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6D3A331-8075-45ED-9DB3-BDBCBE40BC67}" type="datetime'''F''Y''''''''''''''1''''''''9'''''''''''''''''''''''''''''">
              <a:rPr lang="en-IN" altLang="en-US" b="0" smtClean="0"/>
              <a:pPr lvl="1" algn="ctr">
                <a:spcBef>
                  <a:spcPct val="0"/>
                </a:spcBef>
                <a:spcAft>
                  <a:spcPct val="0"/>
                </a:spcAft>
              </a:pPr>
              <a:t>FY19</a:t>
            </a:fld>
            <a:endParaRPr lang="en-IN" b="0" noProof="0" dirty="0">
              <a:sym typeface="+mn-lt"/>
            </a:endParaRPr>
          </a:p>
        </p:txBody>
      </p:sp>
      <p:sp>
        <p:nvSpPr>
          <p:cNvPr id="201" name="StandardTextbox"/>
          <p:cNvSpPr>
            <a:spLocks noGrp="1"/>
          </p:cNvSpPr>
          <p:nvPr>
            <p:custDataLst>
              <p:tags r:id="rId33"/>
            </p:custDataLst>
          </p:nvPr>
        </p:nvSpPr>
        <p:spPr bwMode="gray">
          <a:xfrm>
            <a:off x="6121400" y="5207000"/>
            <a:ext cx="3857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1221FB7-279A-42C4-922D-7FF38057F5E7}" type="datetime'''6''''.3''''''''''''''''''''''''''''''''''''''''%'''">
              <a:rPr lang="en-IN" altLang="en-US" b="0" smtClean="0"/>
              <a:pPr lvl="1" algn="ctr">
                <a:spcBef>
                  <a:spcPct val="0"/>
                </a:spcBef>
                <a:spcAft>
                  <a:spcPct val="0"/>
                </a:spcAft>
              </a:pPr>
              <a:t>6.3%</a:t>
            </a:fld>
            <a:endParaRPr lang="en-IN" b="0" noProof="0" dirty="0">
              <a:sym typeface="+mn-lt"/>
            </a:endParaRPr>
          </a:p>
        </p:txBody>
      </p:sp>
      <p:sp>
        <p:nvSpPr>
          <p:cNvPr id="204" name="StandardTextbox"/>
          <p:cNvSpPr>
            <a:spLocks noGrp="1"/>
          </p:cNvSpPr>
          <p:nvPr>
            <p:custDataLst>
              <p:tags r:id="rId34"/>
            </p:custDataLst>
          </p:nvPr>
        </p:nvSpPr>
        <p:spPr bwMode="gray">
          <a:xfrm>
            <a:off x="9309100" y="5356225"/>
            <a:ext cx="3857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9AE9074-35B8-4263-90FE-870E633B9D03}" type="datetime'''''''''''''5''''.''7''''''''''''''''%'''''''''''''''''''''">
              <a:rPr lang="en-IN" altLang="en-US" b="0" smtClean="0"/>
              <a:pPr lvl="1" algn="ctr">
                <a:spcBef>
                  <a:spcPct val="0"/>
                </a:spcBef>
                <a:spcAft>
                  <a:spcPct val="0"/>
                </a:spcAft>
              </a:pPr>
              <a:t>5.7%</a:t>
            </a:fld>
            <a:endParaRPr lang="en-IN" b="0" noProof="0" dirty="0">
              <a:sym typeface="+mn-lt"/>
            </a:endParaRPr>
          </a:p>
        </p:txBody>
      </p:sp>
      <p:sp>
        <p:nvSpPr>
          <p:cNvPr id="36" name="Rectangle 35"/>
          <p:cNvSpPr/>
          <p:nvPr>
            <p:custDataLst>
              <p:tags r:id="rId35"/>
            </p:custDataLst>
          </p:nvPr>
        </p:nvSpPr>
        <p:spPr bwMode="auto">
          <a:xfrm>
            <a:off x="7224713" y="7123113"/>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71" name="StandardTextbox"/>
          <p:cNvSpPr>
            <a:spLocks noGrp="1"/>
          </p:cNvSpPr>
          <p:nvPr>
            <p:custDataLst>
              <p:tags r:id="rId36"/>
            </p:custDataLst>
          </p:nvPr>
        </p:nvSpPr>
        <p:spPr bwMode="auto">
          <a:xfrm>
            <a:off x="7454900" y="7118350"/>
            <a:ext cx="146367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64333FF5-B2EA-48D5-9778-47EAF0AA271C}" type="datetime'Tra''n''''s''mi''''''s''''''''sion'' ''Lo''ss (%'''''')'''">
              <a:rPr lang="en-IN" altLang="en-US" b="0" smtClean="0"/>
              <a:pPr lvl="1">
                <a:spcBef>
                  <a:spcPct val="0"/>
                </a:spcBef>
                <a:spcAft>
                  <a:spcPct val="0"/>
                </a:spcAft>
              </a:pPr>
              <a:t>Transmission Loss (%)</a:t>
            </a:fld>
            <a:endParaRPr lang="en-IN" b="0" noProof="0" dirty="0">
              <a:sym typeface="+mn-lt"/>
            </a:endParaRPr>
          </a:p>
        </p:txBody>
      </p:sp>
      <p:sp>
        <p:nvSpPr>
          <p:cNvPr id="209" name="Rectangle 208"/>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PGCB, Deloitte Analysis</a:t>
            </a:r>
          </a:p>
        </p:txBody>
      </p:sp>
    </p:spTree>
    <p:extLst>
      <p:ext uri="{BB962C8B-B14F-4D97-AF65-F5344CB8AC3E}">
        <p14:creationId xmlns:p14="http://schemas.microsoft.com/office/powerpoint/2010/main" val="3545052714"/>
      </p:ext>
    </p:extLst>
  </p:cSld>
  <p:clrMapOvr>
    <a:masterClrMapping/>
  </p:clrMapOvr>
  <p:transition>
    <p:fade/>
  </p:transition>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301618832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3" imgW="530" imgH="531" progId="TCLayout.ActiveDocument.1">
                  <p:embed/>
                </p:oleObj>
              </mc:Choice>
              <mc:Fallback>
                <p:oleObj name="think-cell Slide" r:id="rId33" imgW="530" imgH="531" progId="TCLayout.ActiveDocument.1">
                  <p:embed/>
                  <p:pic>
                    <p:nvPicPr>
                      <p:cNvPr id="3" name="Object 2" hidden="1"/>
                      <p:cNvPicPr/>
                      <p:nvPr/>
                    </p:nvPicPr>
                    <p:blipFill>
                      <a:blip r:embed="rId34"/>
                      <a:stretch>
                        <a:fillRect/>
                      </a:stretch>
                    </p:blipFill>
                    <p:spPr>
                      <a:xfrm>
                        <a:off x="1588" y="1588"/>
                        <a:ext cx="1588" cy="1588"/>
                      </a:xfrm>
                      <a:prstGeom prst="rect">
                        <a:avLst/>
                      </a:prstGeom>
                    </p:spPr>
                  </p:pic>
                </p:oleObj>
              </mc:Fallback>
            </mc:AlternateContent>
          </a:graphicData>
        </a:graphic>
      </p:graphicFrame>
      <p:sp>
        <p:nvSpPr>
          <p:cNvPr id="8" name="Rectangle 7"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IN" sz="1000" dirty="0">
              <a:solidFill>
                <a:schemeClr val="bg1"/>
              </a:solidFill>
              <a:latin typeface="Verdana" panose="020B0604030504040204" pitchFamily="34" charset="0"/>
              <a:sym typeface="Verdana" panose="020B0604030504040204" pitchFamily="34" charset="0"/>
            </a:endParaRPr>
          </a:p>
        </p:txBody>
      </p:sp>
      <p:sp>
        <p:nvSpPr>
          <p:cNvPr id="4" name="Title 1"/>
          <p:cNvSpPr>
            <a:spLocks noGrp="1"/>
          </p:cNvSpPr>
          <p:nvPr>
            <p:ph type="title"/>
          </p:nvPr>
        </p:nvSpPr>
        <p:spPr>
          <a:xfrm>
            <a:off x="449264" y="647700"/>
            <a:ext cx="9791700" cy="431800"/>
          </a:xfrm>
        </p:spPr>
        <p:txBody>
          <a:bodyPr/>
          <a:lstStyle/>
          <a:p>
            <a:r>
              <a:rPr lang="en-US" dirty="0"/>
              <a:t>Electricity Transmission | Outages</a:t>
            </a:r>
            <a:endParaRPr lang="en-IN" dirty="0"/>
          </a:p>
        </p:txBody>
      </p:sp>
      <p:sp>
        <p:nvSpPr>
          <p:cNvPr id="5"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dirty="0">
                <a:solidFill>
                  <a:prstClr val="black">
                    <a:lumMod val="50000"/>
                    <a:lumOff val="50000"/>
                  </a:prstClr>
                </a:solidFill>
                <a:latin typeface="Verdana" panose="020B0604030504040204" pitchFamily="34" charset="0"/>
              </a:rPr>
              <a:t>Bangladesh has been facing significant power cuts due to tripping &amp; emergency outages; Delay in undertaking of maintenance and renovation of older lines have been the major cause for power outages</a:t>
            </a:r>
            <a:endPar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6" name="Table 5"/>
          <p:cNvGraphicFramePr>
            <a:graphicFrameLocks noGrp="1"/>
          </p:cNvGraphicFramePr>
          <p:nvPr>
            <p:custDataLst>
              <p:tags r:id="rId3"/>
            </p:custDataLst>
            <p:extLst>
              <p:ext uri="{D42A27DB-BD31-4B8C-83A1-F6EECF244321}">
                <p14:modId xmlns:p14="http://schemas.microsoft.com/office/powerpoint/2010/main" val="531839599"/>
              </p:ext>
            </p:extLst>
          </p:nvPr>
        </p:nvGraphicFramePr>
        <p:xfrm>
          <a:off x="449993" y="1961918"/>
          <a:ext cx="4734896" cy="27445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723655">
                <a:tc>
                  <a:txBody>
                    <a:bodyPr/>
                    <a:lstStyle/>
                    <a:p>
                      <a:pPr marL="0" indent="0" algn="just">
                        <a:spcBef>
                          <a:spcPts val="600"/>
                        </a:spcBef>
                        <a:spcAft>
                          <a:spcPts val="600"/>
                        </a:spcAft>
                        <a:buFont typeface="Arial" panose="020B0604020202020204" pitchFamily="34" charset="0"/>
                        <a:buNone/>
                      </a:pPr>
                      <a:r>
                        <a:rPr lang="en-US" sz="1000" b="1" baseline="0" dirty="0">
                          <a:solidFill>
                            <a:schemeClr val="tx1"/>
                          </a:solidFill>
                        </a:rPr>
                        <a:t>Power Transmission</a:t>
                      </a:r>
                    </a:p>
                    <a:p>
                      <a:pPr marL="171450" marR="0" lvl="0" indent="-171450" algn="just" defTabSz="990571" rtl="0" eaLnBrk="1" fontAlgn="auto" latinLnBrk="0" hangingPunct="1">
                        <a:lnSpc>
                          <a:spcPct val="100000"/>
                        </a:lnSpc>
                        <a:spcBef>
                          <a:spcPts val="600"/>
                        </a:spcBef>
                        <a:spcAft>
                          <a:spcPts val="600"/>
                        </a:spcAft>
                        <a:buClrTx/>
                        <a:buSzTx/>
                        <a:buFont typeface="Arial" panose="020B0604020202020204" pitchFamily="34" charset="0"/>
                        <a:buChar char="•"/>
                        <a:tabLst/>
                        <a:defRPr/>
                      </a:pPr>
                      <a:r>
                        <a:rPr lang="en-US" sz="1000" b="0" baseline="0" dirty="0">
                          <a:solidFill>
                            <a:schemeClr val="tx1"/>
                          </a:solidFill>
                        </a:rPr>
                        <a:t>Although the power transmission network of Bangladesh is growing to meet the country’s energy needs, the quality &amp; consistency of power supply is still a challenge</a:t>
                      </a:r>
                    </a:p>
                    <a:p>
                      <a:pPr marL="171450" marR="0" lvl="0" indent="-171450" algn="just" defTabSz="990571" rtl="0" eaLnBrk="1" fontAlgn="auto" latinLnBrk="0" hangingPunct="1">
                        <a:lnSpc>
                          <a:spcPct val="100000"/>
                        </a:lnSpc>
                        <a:spcBef>
                          <a:spcPts val="600"/>
                        </a:spcBef>
                        <a:spcAft>
                          <a:spcPts val="600"/>
                        </a:spcAft>
                        <a:buClrTx/>
                        <a:buSzTx/>
                        <a:buFont typeface="Arial" panose="020B0604020202020204" pitchFamily="34" charset="0"/>
                        <a:buChar char="•"/>
                        <a:tabLst/>
                        <a:defRPr/>
                      </a:pPr>
                      <a:r>
                        <a:rPr lang="en-US" sz="1000" b="0" baseline="0" dirty="0">
                          <a:solidFill>
                            <a:schemeClr val="tx1"/>
                          </a:solidFill>
                        </a:rPr>
                        <a:t>Bangladesh has been witnessing increasing power outages due to tripping &amp; emergency outages</a:t>
                      </a:r>
                    </a:p>
                    <a:p>
                      <a:pPr marL="171450" marR="0" lvl="0" indent="-171450" algn="just" defTabSz="990571" rtl="0" eaLnBrk="1" fontAlgn="auto" latinLnBrk="0" hangingPunct="1">
                        <a:lnSpc>
                          <a:spcPct val="100000"/>
                        </a:lnSpc>
                        <a:spcBef>
                          <a:spcPts val="600"/>
                        </a:spcBef>
                        <a:spcAft>
                          <a:spcPts val="600"/>
                        </a:spcAft>
                        <a:buClrTx/>
                        <a:buSzTx/>
                        <a:buFont typeface="Arial" panose="020B0604020202020204" pitchFamily="34" charset="0"/>
                        <a:buChar char="•"/>
                        <a:tabLst/>
                        <a:defRPr/>
                      </a:pPr>
                      <a:r>
                        <a:rPr lang="en-US" sz="1000" b="0" baseline="0" dirty="0">
                          <a:solidFill>
                            <a:schemeClr val="tx1"/>
                          </a:solidFill>
                        </a:rPr>
                        <a:t>Between FY17 and FY19, the overall outage (MWh) nearly tripled from 18,712 MWh to ~53,632 MWh with ~40% outages due to tripping and emergency works</a:t>
                      </a:r>
                    </a:p>
                    <a:p>
                      <a:pPr marL="171450" marR="0" lvl="0" indent="-171450" algn="just" defTabSz="990571" rtl="0" eaLnBrk="1" fontAlgn="auto" latinLnBrk="0" hangingPunct="1">
                        <a:lnSpc>
                          <a:spcPct val="100000"/>
                        </a:lnSpc>
                        <a:spcBef>
                          <a:spcPts val="600"/>
                        </a:spcBef>
                        <a:spcAft>
                          <a:spcPts val="600"/>
                        </a:spcAft>
                        <a:buClrTx/>
                        <a:buSzTx/>
                        <a:buFont typeface="Arial" panose="020B0604020202020204" pitchFamily="34" charset="0"/>
                        <a:buChar char="•"/>
                        <a:tabLst/>
                        <a:defRPr/>
                      </a:pPr>
                      <a:r>
                        <a:rPr lang="en-US" sz="1000" b="0" baseline="0" dirty="0">
                          <a:solidFill>
                            <a:schemeClr val="tx1"/>
                          </a:solidFill>
                        </a:rPr>
                        <a:t>The major reason for the outages has been attributed to the old installations, delay in maintenance, renovation and modernization.</a:t>
                      </a:r>
                    </a:p>
                    <a:p>
                      <a:pPr marL="171450" marR="0" lvl="0" indent="-171450" algn="just" defTabSz="990571" rtl="0" eaLnBrk="1" fontAlgn="auto" latinLnBrk="0" hangingPunct="1">
                        <a:lnSpc>
                          <a:spcPct val="100000"/>
                        </a:lnSpc>
                        <a:spcBef>
                          <a:spcPts val="600"/>
                        </a:spcBef>
                        <a:spcAft>
                          <a:spcPts val="600"/>
                        </a:spcAft>
                        <a:buClrTx/>
                        <a:buSzTx/>
                        <a:buFont typeface="Arial" panose="020B0604020202020204" pitchFamily="34" charset="0"/>
                        <a:buChar char="•"/>
                        <a:tabLst/>
                        <a:defRP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7" name="Table 6"/>
          <p:cNvGraphicFramePr>
            <a:graphicFrameLocks noGrp="1"/>
          </p:cNvGraphicFramePr>
          <p:nvPr>
            <p:custDataLst>
              <p:tags r:id="rId4"/>
            </p:custDataLst>
            <p:extLst>
              <p:ext uri="{D42A27DB-BD31-4B8C-83A1-F6EECF244321}">
                <p14:modId xmlns:p14="http://schemas.microsoft.com/office/powerpoint/2010/main" val="3258323069"/>
              </p:ext>
            </p:extLst>
          </p:nvPr>
        </p:nvGraphicFramePr>
        <p:xfrm>
          <a:off x="5506068" y="1961918"/>
          <a:ext cx="4734896" cy="4585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334021">
                <a:tc>
                  <a:txBody>
                    <a:bodyPr/>
                    <a:lstStyle/>
                    <a:p>
                      <a:pPr marL="0" indent="0" algn="just">
                        <a:spcBef>
                          <a:spcPts val="600"/>
                        </a:spcBef>
                        <a:spcAft>
                          <a:spcPts val="600"/>
                        </a:spcAft>
                        <a:buFont typeface="Arial" panose="020B0604020202020204" pitchFamily="34" charset="0"/>
                        <a:buNone/>
                      </a:pPr>
                      <a:r>
                        <a:rPr lang="en-US" sz="1000" b="0" baseline="0" dirty="0">
                          <a:solidFill>
                            <a:schemeClr val="tx1"/>
                          </a:solidFill>
                        </a:rPr>
                        <a:t>The following figure illustrates the total outages (MWh) in PGCB’s system (FY17 to April-20)</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38" name="Chart 37"/>
          <p:cNvGraphicFramePr/>
          <p:nvPr>
            <p:custDataLst>
              <p:tags r:id="rId5"/>
            </p:custDataLst>
            <p:extLst>
              <p:ext uri="{D42A27DB-BD31-4B8C-83A1-F6EECF244321}">
                <p14:modId xmlns:p14="http://schemas.microsoft.com/office/powerpoint/2010/main" val="1156891816"/>
              </p:ext>
            </p:extLst>
          </p:nvPr>
        </p:nvGraphicFramePr>
        <p:xfrm>
          <a:off x="5422900" y="2601913"/>
          <a:ext cx="4902200" cy="2149475"/>
        </p:xfrm>
        <a:graphic>
          <a:graphicData uri="http://schemas.openxmlformats.org/drawingml/2006/chart">
            <c:chart xmlns:c="http://schemas.openxmlformats.org/drawingml/2006/chart" xmlns:r="http://schemas.openxmlformats.org/officeDocument/2006/relationships" r:id="rId35"/>
          </a:graphicData>
        </a:graphic>
      </p:graphicFrame>
      <p:sp>
        <p:nvSpPr>
          <p:cNvPr id="464" name="StandardTextbox"/>
          <p:cNvSpPr>
            <a:spLocks noGrp="1"/>
          </p:cNvSpPr>
          <p:nvPr>
            <p:custDataLst>
              <p:tags r:id="rId6"/>
            </p:custDataLst>
          </p:nvPr>
        </p:nvSpPr>
        <p:spPr bwMode="gray">
          <a:xfrm>
            <a:off x="5926138" y="4451350"/>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7783754-3A27-41E1-99C8-844FDA4BF997}" type="datetime'''''''''''''''''''''''''''''''''41%'''">
              <a:rPr lang="en-IN" altLang="en-US" b="0" smtClean="0">
                <a:solidFill>
                  <a:schemeClr val="bg1"/>
                </a:solidFill>
              </a:rPr>
              <a:pPr lvl="1" algn="ctr">
                <a:spcBef>
                  <a:spcPct val="0"/>
                </a:spcBef>
                <a:spcAft>
                  <a:spcPct val="0"/>
                </a:spcAft>
              </a:pPr>
              <a:t>41%</a:t>
            </a:fld>
            <a:endParaRPr lang="en-IN" b="0" noProof="0" dirty="0">
              <a:solidFill>
                <a:schemeClr val="bg1"/>
              </a:solidFill>
              <a:sym typeface="+mn-lt"/>
            </a:endParaRPr>
          </a:p>
        </p:txBody>
      </p:sp>
      <p:sp>
        <p:nvSpPr>
          <p:cNvPr id="466" name="StandardTextbox"/>
          <p:cNvSpPr>
            <a:spLocks noGrp="1"/>
          </p:cNvSpPr>
          <p:nvPr>
            <p:custDataLst>
              <p:tags r:id="rId7"/>
            </p:custDataLst>
          </p:nvPr>
        </p:nvSpPr>
        <p:spPr bwMode="gray">
          <a:xfrm>
            <a:off x="7110413" y="4389438"/>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0CC8413B-AAA6-4869-A1E3-23DBCED56FF6}" type="datetime'''''''''''''''''''''''4''''''''''''''0%'''''''''">
              <a:rPr lang="en-IN" altLang="en-US" b="0" smtClean="0">
                <a:solidFill>
                  <a:schemeClr val="bg1"/>
                </a:solidFill>
              </a:rPr>
              <a:pPr lvl="1" algn="ctr">
                <a:spcBef>
                  <a:spcPct val="0"/>
                </a:spcBef>
                <a:spcAft>
                  <a:spcPct val="0"/>
                </a:spcAft>
              </a:pPr>
              <a:t>40%</a:t>
            </a:fld>
            <a:endParaRPr lang="en-IN" b="0" noProof="0" dirty="0">
              <a:solidFill>
                <a:schemeClr val="bg1"/>
              </a:solidFill>
              <a:sym typeface="+mn-lt"/>
            </a:endParaRPr>
          </a:p>
        </p:txBody>
      </p:sp>
      <p:sp>
        <p:nvSpPr>
          <p:cNvPr id="467" name="StandardTextbox"/>
          <p:cNvSpPr>
            <a:spLocks noGrp="1"/>
          </p:cNvSpPr>
          <p:nvPr>
            <p:custDataLst>
              <p:tags r:id="rId8"/>
            </p:custDataLst>
          </p:nvPr>
        </p:nvSpPr>
        <p:spPr bwMode="gray">
          <a:xfrm>
            <a:off x="7110413" y="4119563"/>
            <a:ext cx="339725" cy="152400"/>
          </a:xfrm>
          <a:prstGeom prst="rect">
            <a:avLst/>
          </a:prstGeom>
          <a:noFill/>
          <a:ln>
            <a:noFill/>
          </a:ln>
          <a:extLst>
            <a:ext uri="{909E8E84-426E-40DD-AFC4-6F175D3DCCD1}">
              <a14:hiddenFill xmlns:a14="http://schemas.microsoft.com/office/drawing/2010/main">
                <a:solidFill>
                  <a:srgbClr val="046A38"/>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DD191D0-3A25-4506-990F-BD2E4AEECBD7}" type="datetime'''1''''''''''''''''''''3''''''''''''''''''''''''%'''''''''''">
              <a:rPr lang="en-IN" altLang="en-US" b="0" smtClean="0">
                <a:solidFill>
                  <a:schemeClr val="bg1"/>
                </a:solidFill>
              </a:rPr>
              <a:pPr lvl="1" algn="ctr">
                <a:spcBef>
                  <a:spcPct val="0"/>
                </a:spcBef>
                <a:spcAft>
                  <a:spcPct val="0"/>
                </a:spcAft>
              </a:pPr>
              <a:t>13%</a:t>
            </a:fld>
            <a:endParaRPr lang="en-IN" b="0" noProof="0" dirty="0">
              <a:solidFill>
                <a:schemeClr val="bg1"/>
              </a:solidFill>
              <a:sym typeface="+mn-lt"/>
            </a:endParaRPr>
          </a:p>
        </p:txBody>
      </p:sp>
      <p:sp>
        <p:nvSpPr>
          <p:cNvPr id="472" name="StandardTextbox"/>
          <p:cNvSpPr>
            <a:spLocks noGrp="1"/>
          </p:cNvSpPr>
          <p:nvPr>
            <p:custDataLst>
              <p:tags r:id="rId9"/>
            </p:custDataLst>
          </p:nvPr>
        </p:nvSpPr>
        <p:spPr bwMode="gray">
          <a:xfrm>
            <a:off x="9478963" y="4073525"/>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31856E2-EECB-43C2-A7E2-2D3F3E3052D0}" type="datetime'''''''''''''''''''5''''''''''''9''''''''''''''''%'''''''''''">
              <a:rPr lang="en-IN" altLang="en-US" b="0" smtClean="0">
                <a:solidFill>
                  <a:schemeClr val="bg1"/>
                </a:solidFill>
              </a:rPr>
              <a:pPr lvl="1" algn="ctr">
                <a:spcBef>
                  <a:spcPct val="0"/>
                </a:spcBef>
                <a:spcAft>
                  <a:spcPct val="0"/>
                </a:spcAft>
              </a:pPr>
              <a:t>59%</a:t>
            </a:fld>
            <a:endParaRPr lang="en-IN" b="0" noProof="0" dirty="0">
              <a:solidFill>
                <a:schemeClr val="bg1"/>
              </a:solidFill>
              <a:sym typeface="+mn-lt"/>
            </a:endParaRPr>
          </a:p>
        </p:txBody>
      </p:sp>
      <p:sp>
        <p:nvSpPr>
          <p:cNvPr id="465" name="StandardTextbox"/>
          <p:cNvSpPr>
            <a:spLocks noGrp="1"/>
          </p:cNvSpPr>
          <p:nvPr>
            <p:custDataLst>
              <p:tags r:id="rId10"/>
            </p:custDataLst>
          </p:nvPr>
        </p:nvSpPr>
        <p:spPr bwMode="gray">
          <a:xfrm>
            <a:off x="5926138" y="4064000"/>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A99E172-DACD-4571-8E04-58F7BE8FEB91}" type="datetime'''''''''4''''''''''''''''''''''''''7''''''''''''''''''''''%'''">
              <a:rPr lang="en-IN" altLang="en-US" b="0" smtClean="0">
                <a:solidFill>
                  <a:schemeClr val="bg1"/>
                </a:solidFill>
              </a:rPr>
              <a:pPr lvl="1" algn="ctr">
                <a:spcBef>
                  <a:spcPct val="0"/>
                </a:spcBef>
                <a:spcAft>
                  <a:spcPct val="0"/>
                </a:spcAft>
              </a:pPr>
              <a:t>47%</a:t>
            </a:fld>
            <a:endParaRPr lang="en-IN" b="0" noProof="0" dirty="0">
              <a:solidFill>
                <a:schemeClr val="bg1"/>
              </a:solidFill>
              <a:sym typeface="+mn-lt"/>
            </a:endParaRPr>
          </a:p>
        </p:txBody>
      </p:sp>
      <p:sp>
        <p:nvSpPr>
          <p:cNvPr id="446" name="StandardTextbox"/>
          <p:cNvSpPr>
            <a:spLocks noGrp="1"/>
          </p:cNvSpPr>
          <p:nvPr>
            <p:custDataLst>
              <p:tags r:id="rId11"/>
            </p:custDataLst>
          </p:nvPr>
        </p:nvSpPr>
        <p:spPr bwMode="auto">
          <a:xfrm>
            <a:off x="5934075" y="475456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C9CBCBC-A40E-4327-BBFC-095137543B91}" type="datetime'F''''''''''''''''Y''1''''''''''''''''7'''''''''''''''''''''''">
              <a:rPr lang="en-IN" altLang="en-US" b="0" smtClean="0">
                <a:sym typeface="+mn-lt"/>
              </a:rPr>
              <a:pPr lvl="1" algn="ctr">
                <a:spcBef>
                  <a:spcPct val="0"/>
                </a:spcBef>
                <a:spcAft>
                  <a:spcPct val="0"/>
                </a:spcAft>
              </a:pPr>
              <a:t>FY17</a:t>
            </a:fld>
            <a:endParaRPr lang="en-IN" b="0" noProof="0" dirty="0">
              <a:sym typeface="+mn-lt"/>
            </a:endParaRPr>
          </a:p>
        </p:txBody>
      </p:sp>
      <p:sp>
        <p:nvSpPr>
          <p:cNvPr id="453" name="StandardTextbox"/>
          <p:cNvSpPr>
            <a:spLocks noGrp="1"/>
          </p:cNvSpPr>
          <p:nvPr>
            <p:custDataLst>
              <p:tags r:id="rId12"/>
            </p:custDataLst>
          </p:nvPr>
        </p:nvSpPr>
        <p:spPr bwMode="gray">
          <a:xfrm>
            <a:off x="5926138" y="4270375"/>
            <a:ext cx="339725" cy="152400"/>
          </a:xfrm>
          <a:prstGeom prst="rect">
            <a:avLst/>
          </a:prstGeom>
          <a:solidFill>
            <a:srgbClr val="046A38"/>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9407BE1-8DA8-4214-B510-B01DBF2D75F6}" type="datetime'''''''''''''''''''''''''''''''''''1''''''''''''2''%'''''''''">
              <a:rPr lang="en-IN" altLang="en-US" b="0" smtClean="0">
                <a:solidFill>
                  <a:schemeClr val="bg1"/>
                </a:solidFill>
              </a:rPr>
              <a:pPr lvl="1" algn="ctr">
                <a:spcBef>
                  <a:spcPct val="0"/>
                </a:spcBef>
                <a:spcAft>
                  <a:spcPct val="0"/>
                </a:spcAft>
              </a:pPr>
              <a:t>12%</a:t>
            </a:fld>
            <a:endParaRPr lang="en-IN" b="0" noProof="0" dirty="0">
              <a:solidFill>
                <a:schemeClr val="bg1"/>
              </a:solidFill>
              <a:sym typeface="+mn-lt"/>
            </a:endParaRPr>
          </a:p>
        </p:txBody>
      </p:sp>
      <p:sp>
        <p:nvSpPr>
          <p:cNvPr id="468" name="StandardTextbox"/>
          <p:cNvSpPr>
            <a:spLocks noGrp="1"/>
          </p:cNvSpPr>
          <p:nvPr>
            <p:custDataLst>
              <p:tags r:id="rId13"/>
            </p:custDataLst>
          </p:nvPr>
        </p:nvSpPr>
        <p:spPr bwMode="gray">
          <a:xfrm>
            <a:off x="7110413" y="3813175"/>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F59E9D4-E223-488A-B8EF-3F574FF1691F}" type="datetime'''''''''''''''''4''7''''''''''''''%'''''''''''''''''''''''''''">
              <a:rPr lang="en-IN" altLang="en-US" b="0" smtClean="0">
                <a:solidFill>
                  <a:schemeClr val="bg1"/>
                </a:solidFill>
              </a:rPr>
              <a:pPr lvl="1" algn="ctr">
                <a:spcBef>
                  <a:spcPct val="0"/>
                </a:spcBef>
                <a:spcAft>
                  <a:spcPct val="0"/>
                </a:spcAft>
              </a:pPr>
              <a:t>47%</a:t>
            </a:fld>
            <a:endParaRPr lang="en-IN" b="0" noProof="0" dirty="0">
              <a:solidFill>
                <a:schemeClr val="bg1"/>
              </a:solidFill>
              <a:sym typeface="+mn-lt"/>
            </a:endParaRPr>
          </a:p>
        </p:txBody>
      </p:sp>
      <p:sp>
        <p:nvSpPr>
          <p:cNvPr id="447" name="StandardTextbox"/>
          <p:cNvSpPr>
            <a:spLocks noGrp="1"/>
          </p:cNvSpPr>
          <p:nvPr>
            <p:custDataLst>
              <p:tags r:id="rId14"/>
            </p:custDataLst>
          </p:nvPr>
        </p:nvSpPr>
        <p:spPr bwMode="auto">
          <a:xfrm>
            <a:off x="7118350" y="475456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D143E64E-1750-41E6-90E4-F2BA570449D7}" type="datetime'''''''''''''''F''''''''''''''Y''''''''''''''''''''1''''''8'">
              <a:rPr lang="en-IN" altLang="en-US" b="0" smtClean="0">
                <a:sym typeface="+mn-lt"/>
              </a:rPr>
              <a:pPr lvl="1" algn="ctr">
                <a:spcBef>
                  <a:spcPct val="0"/>
                </a:spcBef>
                <a:spcAft>
                  <a:spcPct val="0"/>
                </a:spcAft>
              </a:pPr>
              <a:t>FY18</a:t>
            </a:fld>
            <a:endParaRPr lang="en-IN" b="0" noProof="0" dirty="0">
              <a:sym typeface="+mn-lt"/>
            </a:endParaRPr>
          </a:p>
        </p:txBody>
      </p:sp>
      <p:sp>
        <p:nvSpPr>
          <p:cNvPr id="471" name="StandardTextbox"/>
          <p:cNvSpPr>
            <a:spLocks noGrp="1"/>
          </p:cNvSpPr>
          <p:nvPr>
            <p:custDataLst>
              <p:tags r:id="rId15"/>
            </p:custDataLst>
          </p:nvPr>
        </p:nvSpPr>
        <p:spPr bwMode="gray">
          <a:xfrm>
            <a:off x="8294688" y="2863850"/>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178E721-F440-46F5-8BC6-D27150F4F680}" type="datetime'''''2''6''''''''''''''''''''''''''''''''''%'''''''">
              <a:rPr lang="en-IN" altLang="en-US" b="0" smtClean="0">
                <a:solidFill>
                  <a:schemeClr val="bg1"/>
                </a:solidFill>
              </a:rPr>
              <a:pPr lvl="1" algn="ctr">
                <a:spcBef>
                  <a:spcPct val="0"/>
                </a:spcBef>
                <a:spcAft>
                  <a:spcPct val="0"/>
                </a:spcAft>
              </a:pPr>
              <a:t>26%</a:t>
            </a:fld>
            <a:endParaRPr lang="en-IN" b="0" noProof="0" dirty="0">
              <a:solidFill>
                <a:schemeClr val="bg1"/>
              </a:solidFill>
              <a:sym typeface="+mn-lt"/>
            </a:endParaRPr>
          </a:p>
        </p:txBody>
      </p:sp>
      <p:sp>
        <p:nvSpPr>
          <p:cNvPr id="470" name="StandardTextbox"/>
          <p:cNvSpPr>
            <a:spLocks noGrp="1"/>
          </p:cNvSpPr>
          <p:nvPr>
            <p:custDataLst>
              <p:tags r:id="rId16"/>
            </p:custDataLst>
          </p:nvPr>
        </p:nvSpPr>
        <p:spPr bwMode="gray">
          <a:xfrm>
            <a:off x="8294688" y="3281363"/>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04FA99E-F77F-4CF2-9FDF-9D1F86946B4B}" type="datetime'''''''''''''''''1''6''%'''''''''''''''''''''''''''''''">
              <a:rPr lang="en-IN" altLang="en-US" b="0" smtClean="0">
                <a:solidFill>
                  <a:schemeClr val="bg1"/>
                </a:solidFill>
              </a:rPr>
              <a:pPr lvl="1" algn="ctr">
                <a:spcBef>
                  <a:spcPct val="0"/>
                </a:spcBef>
                <a:spcAft>
                  <a:spcPct val="0"/>
                </a:spcAft>
              </a:pPr>
              <a:t>16%</a:t>
            </a:fld>
            <a:endParaRPr lang="en-IN" b="0" noProof="0" dirty="0">
              <a:solidFill>
                <a:schemeClr val="bg1"/>
              </a:solidFill>
              <a:sym typeface="+mn-lt"/>
            </a:endParaRPr>
          </a:p>
        </p:txBody>
      </p:sp>
      <p:sp>
        <p:nvSpPr>
          <p:cNvPr id="469" name="StandardTextbox"/>
          <p:cNvSpPr>
            <a:spLocks noGrp="1"/>
          </p:cNvSpPr>
          <p:nvPr>
            <p:custDataLst>
              <p:tags r:id="rId17"/>
            </p:custDataLst>
          </p:nvPr>
        </p:nvSpPr>
        <p:spPr bwMode="gray">
          <a:xfrm>
            <a:off x="8294688" y="4017963"/>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02994B8-75D5-4DD0-8E7F-3A06EAC23C9B}" type="datetime'''''''''''''''''''''''''''''''5''8''%'''''''">
              <a:rPr lang="en-IN" altLang="en-US" b="0" smtClean="0">
                <a:solidFill>
                  <a:schemeClr val="bg1"/>
                </a:solidFill>
              </a:rPr>
              <a:pPr lvl="1" algn="ctr">
                <a:spcBef>
                  <a:spcPct val="0"/>
                </a:spcBef>
                <a:spcAft>
                  <a:spcPct val="0"/>
                </a:spcAft>
              </a:pPr>
              <a:t>58%</a:t>
            </a:fld>
            <a:endParaRPr lang="en-IN" b="0" noProof="0" dirty="0">
              <a:solidFill>
                <a:schemeClr val="bg1"/>
              </a:solidFill>
              <a:sym typeface="+mn-lt"/>
            </a:endParaRPr>
          </a:p>
        </p:txBody>
      </p:sp>
      <p:sp>
        <p:nvSpPr>
          <p:cNvPr id="448" name="StandardTextbox"/>
          <p:cNvSpPr>
            <a:spLocks noGrp="1"/>
          </p:cNvSpPr>
          <p:nvPr>
            <p:custDataLst>
              <p:tags r:id="rId18"/>
            </p:custDataLst>
          </p:nvPr>
        </p:nvSpPr>
        <p:spPr bwMode="auto">
          <a:xfrm>
            <a:off x="8302625" y="475456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44E6EB8-FA74-4F3E-B107-310035BA9F9C}" type="datetime'''''''''''''F''''''''''''''''''Y''''1''9'''''''''''''''''">
              <a:rPr lang="en-IN" altLang="en-US" b="0" smtClean="0">
                <a:sym typeface="+mn-lt"/>
              </a:rPr>
              <a:pPr lvl="1" algn="ctr">
                <a:spcBef>
                  <a:spcPct val="0"/>
                </a:spcBef>
                <a:spcAft>
                  <a:spcPct val="0"/>
                </a:spcAft>
              </a:pPr>
              <a:t>FY19</a:t>
            </a:fld>
            <a:endParaRPr lang="en-IN" b="0" noProof="0" dirty="0">
              <a:sym typeface="+mn-lt"/>
            </a:endParaRPr>
          </a:p>
        </p:txBody>
      </p:sp>
      <p:sp>
        <p:nvSpPr>
          <p:cNvPr id="474" name="StandardTextbox"/>
          <p:cNvSpPr>
            <a:spLocks noGrp="1"/>
          </p:cNvSpPr>
          <p:nvPr>
            <p:custDataLst>
              <p:tags r:id="rId19"/>
            </p:custDataLst>
          </p:nvPr>
        </p:nvSpPr>
        <p:spPr bwMode="gray">
          <a:xfrm>
            <a:off x="9478963" y="3051175"/>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0E7D7D33-3102-43DC-A8D6-544F0C5F52B0}" type="datetime'''''''''2''''''''5''''''''''''''''''''%'''''''''''''''">
              <a:rPr lang="en-IN" altLang="en-US" b="0" smtClean="0">
                <a:solidFill>
                  <a:schemeClr val="bg1"/>
                </a:solidFill>
              </a:rPr>
              <a:pPr lvl="1" algn="ctr">
                <a:spcBef>
                  <a:spcPct val="0"/>
                </a:spcBef>
                <a:spcAft>
                  <a:spcPct val="0"/>
                </a:spcAft>
              </a:pPr>
              <a:t>25%</a:t>
            </a:fld>
            <a:endParaRPr lang="en-IN" b="0" noProof="0" dirty="0">
              <a:solidFill>
                <a:schemeClr val="bg1"/>
              </a:solidFill>
              <a:sym typeface="+mn-lt"/>
            </a:endParaRPr>
          </a:p>
        </p:txBody>
      </p:sp>
      <p:sp>
        <p:nvSpPr>
          <p:cNvPr id="473" name="StandardTextbox"/>
          <p:cNvSpPr>
            <a:spLocks noGrp="1"/>
          </p:cNvSpPr>
          <p:nvPr>
            <p:custDataLst>
              <p:tags r:id="rId20"/>
            </p:custDataLst>
          </p:nvPr>
        </p:nvSpPr>
        <p:spPr bwMode="gray">
          <a:xfrm>
            <a:off x="9478963" y="3413125"/>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9F8373A-D563-4E09-9A44-35BD1D80B7DC}" type="datetime'''''1''''6''''''''''%'''''''">
              <a:rPr lang="en-IN" altLang="en-US" b="0" smtClean="0">
                <a:solidFill>
                  <a:schemeClr val="bg1"/>
                </a:solidFill>
              </a:rPr>
              <a:pPr lvl="1" algn="ctr">
                <a:spcBef>
                  <a:spcPct val="0"/>
                </a:spcBef>
                <a:spcAft>
                  <a:spcPct val="0"/>
                </a:spcAft>
              </a:pPr>
              <a:t>16%</a:t>
            </a:fld>
            <a:endParaRPr lang="en-IN" b="0" noProof="0" dirty="0">
              <a:solidFill>
                <a:schemeClr val="bg1"/>
              </a:solidFill>
              <a:sym typeface="+mn-lt"/>
            </a:endParaRPr>
          </a:p>
        </p:txBody>
      </p:sp>
      <p:sp>
        <p:nvSpPr>
          <p:cNvPr id="449" name="StandardTextbox"/>
          <p:cNvSpPr>
            <a:spLocks noGrp="1"/>
          </p:cNvSpPr>
          <p:nvPr>
            <p:custDataLst>
              <p:tags r:id="rId21"/>
            </p:custDataLst>
          </p:nvPr>
        </p:nvSpPr>
        <p:spPr bwMode="auto">
          <a:xfrm>
            <a:off x="9161463" y="4754563"/>
            <a:ext cx="974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091E7B38-CE1A-4466-9C05-C23D1065B763}" type="datetime'''FY20'''' ''''''(ti''''''l''l'''' ''''A''''''''p''''ril)'">
              <a:rPr lang="en-IN" altLang="en-US" b="0" smtClean="0">
                <a:sym typeface="+mn-lt"/>
              </a:rPr>
              <a:pPr lvl="1" algn="ctr">
                <a:spcBef>
                  <a:spcPct val="0"/>
                </a:spcBef>
                <a:spcAft>
                  <a:spcPct val="0"/>
                </a:spcAft>
              </a:pPr>
              <a:t>FY20 (till April)</a:t>
            </a:fld>
            <a:endParaRPr lang="en-IN" b="0" noProof="0" dirty="0">
              <a:sym typeface="+mn-lt"/>
            </a:endParaRPr>
          </a:p>
        </p:txBody>
      </p:sp>
      <p:sp>
        <p:nvSpPr>
          <p:cNvPr id="452" name="StandardTextbox"/>
          <p:cNvSpPr>
            <a:spLocks noGrp="1"/>
          </p:cNvSpPr>
          <p:nvPr>
            <p:custDataLst>
              <p:tags r:id="rId22"/>
            </p:custDataLst>
          </p:nvPr>
        </p:nvSpPr>
        <p:spPr bwMode="gray">
          <a:xfrm>
            <a:off x="5849939" y="3798888"/>
            <a:ext cx="4921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0911A74D-A6C3-426E-B744-5603EE243905}" type="datetime'''''''''1''''''''8'''''''''''',''''''''''7''''''''''''12'">
              <a:rPr lang="en-IN" altLang="en-US" b="0" smtClean="0">
                <a:sym typeface="+mn-lt"/>
              </a:rPr>
              <a:pPr lvl="1" algn="ctr">
                <a:spcBef>
                  <a:spcPct val="0"/>
                </a:spcBef>
                <a:spcAft>
                  <a:spcPct val="0"/>
                </a:spcAft>
              </a:pPr>
              <a:t>18,712</a:t>
            </a:fld>
            <a:endParaRPr lang="en-IN" b="0" noProof="0" dirty="0">
              <a:sym typeface="+mn-lt"/>
            </a:endParaRPr>
          </a:p>
        </p:txBody>
      </p:sp>
      <p:sp>
        <p:nvSpPr>
          <p:cNvPr id="454" name="StandardTextbox"/>
          <p:cNvSpPr>
            <a:spLocks noGrp="1"/>
          </p:cNvSpPr>
          <p:nvPr>
            <p:custDataLst>
              <p:tags r:id="rId23"/>
            </p:custDataLst>
          </p:nvPr>
        </p:nvSpPr>
        <p:spPr bwMode="gray">
          <a:xfrm>
            <a:off x="7034214" y="3473450"/>
            <a:ext cx="4921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AE2C790-E47D-425D-B6EF-5529F4F55713}" type="datetime'2''''''7'''''''''''',''''''''4''''''''''''''9''''''''''''''5'">
              <a:rPr lang="en-IN" altLang="en-US" b="0" smtClean="0">
                <a:sym typeface="+mn-lt"/>
              </a:rPr>
              <a:pPr lvl="1" algn="ctr">
                <a:spcBef>
                  <a:spcPct val="0"/>
                </a:spcBef>
                <a:spcAft>
                  <a:spcPct val="0"/>
                </a:spcAft>
              </a:pPr>
              <a:t>27,495</a:t>
            </a:fld>
            <a:endParaRPr lang="en-IN" b="0" noProof="0" dirty="0">
              <a:sym typeface="+mn-lt"/>
            </a:endParaRPr>
          </a:p>
        </p:txBody>
      </p:sp>
      <p:sp>
        <p:nvSpPr>
          <p:cNvPr id="455" name="StandardTextbox"/>
          <p:cNvSpPr>
            <a:spLocks noGrp="1"/>
          </p:cNvSpPr>
          <p:nvPr>
            <p:custDataLst>
              <p:tags r:id="rId24"/>
            </p:custDataLst>
          </p:nvPr>
        </p:nvSpPr>
        <p:spPr bwMode="gray">
          <a:xfrm>
            <a:off x="8218489" y="2506663"/>
            <a:ext cx="4921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403A3C5-EFE3-4E38-A3CC-DFBFAC542FCD}" type="datetime'''''''5''3'''''''''''',''''63''''''''''''''''''2'''''">
              <a:rPr lang="en-IN" altLang="en-US" b="0" smtClean="0">
                <a:sym typeface="+mn-lt"/>
              </a:rPr>
              <a:pPr lvl="1" algn="ctr">
                <a:spcBef>
                  <a:spcPct val="0"/>
                </a:spcBef>
                <a:spcAft>
                  <a:spcPct val="0"/>
                </a:spcAft>
              </a:pPr>
              <a:t>53,632</a:t>
            </a:fld>
            <a:endParaRPr lang="en-IN" b="0" noProof="0" dirty="0">
              <a:sym typeface="+mn-lt"/>
            </a:endParaRPr>
          </a:p>
        </p:txBody>
      </p:sp>
      <p:sp>
        <p:nvSpPr>
          <p:cNvPr id="456" name="StandardTextbox"/>
          <p:cNvSpPr>
            <a:spLocks noGrp="1"/>
          </p:cNvSpPr>
          <p:nvPr>
            <p:custDataLst>
              <p:tags r:id="rId25"/>
            </p:custDataLst>
          </p:nvPr>
        </p:nvSpPr>
        <p:spPr bwMode="gray">
          <a:xfrm>
            <a:off x="9402764" y="2728913"/>
            <a:ext cx="4921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0FA0426-51C0-493D-84D9-9D5E9F791D0B}" type="datetime'''''4''''''''7'',''62''''4'''''''''''''''''">
              <a:rPr lang="en-IN" altLang="en-US" b="0" smtClean="0">
                <a:sym typeface="+mn-lt"/>
              </a:rPr>
              <a:pPr lvl="1" algn="ctr">
                <a:spcBef>
                  <a:spcPct val="0"/>
                </a:spcBef>
                <a:spcAft>
                  <a:spcPct val="0"/>
                </a:spcAft>
              </a:pPr>
              <a:t>47,624</a:t>
            </a:fld>
            <a:endParaRPr lang="en-IN" b="0" noProof="0" dirty="0">
              <a:sym typeface="+mn-lt"/>
            </a:endParaRPr>
          </a:p>
        </p:txBody>
      </p:sp>
      <p:sp>
        <p:nvSpPr>
          <p:cNvPr id="459" name="Rectangle 458"/>
          <p:cNvSpPr/>
          <p:nvPr>
            <p:custDataLst>
              <p:tags r:id="rId26"/>
            </p:custDataLst>
          </p:nvPr>
        </p:nvSpPr>
        <p:spPr bwMode="auto">
          <a:xfrm>
            <a:off x="5984875" y="5208588"/>
            <a:ext cx="179388" cy="133350"/>
          </a:xfrm>
          <a:prstGeom prst="rect">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458" name="Rectangle 457"/>
          <p:cNvSpPr/>
          <p:nvPr>
            <p:custDataLst>
              <p:tags r:id="rId27"/>
            </p:custDataLst>
          </p:nvPr>
        </p:nvSpPr>
        <p:spPr bwMode="auto">
          <a:xfrm>
            <a:off x="5984875" y="5005388"/>
            <a:ext cx="179388" cy="133350"/>
          </a:xfrm>
          <a:prstGeom prst="rect">
            <a:avLst/>
          </a:prstGeom>
          <a:solidFill>
            <a:srgbClr val="62B5E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460" name="Rectangle 459"/>
          <p:cNvSpPr/>
          <p:nvPr>
            <p:custDataLst>
              <p:tags r:id="rId28"/>
            </p:custDataLst>
          </p:nvPr>
        </p:nvSpPr>
        <p:spPr bwMode="auto">
          <a:xfrm>
            <a:off x="7537450" y="5005388"/>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4" name="StandardTextbox"/>
          <p:cNvSpPr>
            <a:spLocks noGrp="1"/>
          </p:cNvSpPr>
          <p:nvPr>
            <p:custDataLst>
              <p:tags r:id="rId29"/>
            </p:custDataLst>
          </p:nvPr>
        </p:nvSpPr>
        <p:spPr bwMode="auto">
          <a:xfrm>
            <a:off x="7767638" y="5000625"/>
            <a:ext cx="19113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2255EFDA-1508-4784-AEBB-821E72CD6B5A}" type="datetime'''''Sc''h''e''du''l''e ''/'' M''ain''t''''en''anc''e ''Work'">
              <a:rPr lang="en-IN" altLang="en-US" b="0" smtClean="0">
                <a:sym typeface="+mn-lt"/>
              </a:rPr>
              <a:pPr lvl="1">
                <a:spcBef>
                  <a:spcPct val="0"/>
                </a:spcBef>
                <a:spcAft>
                  <a:spcPct val="0"/>
                </a:spcAft>
              </a:pPr>
              <a:t>Schedule / Maintenance Work</a:t>
            </a:fld>
            <a:endParaRPr lang="en-IN" b="0" noProof="0" dirty="0">
              <a:sym typeface="+mn-lt"/>
            </a:endParaRPr>
          </a:p>
        </p:txBody>
      </p:sp>
      <p:sp>
        <p:nvSpPr>
          <p:cNvPr id="12" name="StandardTextbox"/>
          <p:cNvSpPr>
            <a:spLocks noGrp="1"/>
          </p:cNvSpPr>
          <p:nvPr>
            <p:custDataLst>
              <p:tags r:id="rId30"/>
            </p:custDataLst>
          </p:nvPr>
        </p:nvSpPr>
        <p:spPr bwMode="auto">
          <a:xfrm>
            <a:off x="6215063" y="5000625"/>
            <a:ext cx="10287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EE157479-7CB9-4829-89B7-759DD8EA6ED0}" type="datetime'Tr''i''''''''p''''''''''p''ing'''''' Ou''''''t''age'''''''''''">
              <a:rPr lang="en-IN" altLang="en-US" b="0" smtClean="0"/>
              <a:pPr lvl="1">
                <a:spcBef>
                  <a:spcPct val="0"/>
                </a:spcBef>
                <a:spcAft>
                  <a:spcPct val="0"/>
                </a:spcAft>
              </a:pPr>
              <a:t>Tripping Outage</a:t>
            </a:fld>
            <a:endParaRPr lang="en-IN" b="0" noProof="0" dirty="0">
              <a:sym typeface="+mn-lt"/>
            </a:endParaRPr>
          </a:p>
        </p:txBody>
      </p:sp>
      <p:sp>
        <p:nvSpPr>
          <p:cNvPr id="13" name="StandardTextbox"/>
          <p:cNvSpPr>
            <a:spLocks noGrp="1"/>
          </p:cNvSpPr>
          <p:nvPr>
            <p:custDataLst>
              <p:tags r:id="rId31"/>
            </p:custDataLst>
          </p:nvPr>
        </p:nvSpPr>
        <p:spPr bwMode="auto">
          <a:xfrm>
            <a:off x="6215063" y="5203825"/>
            <a:ext cx="12207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56CAB476-EC1D-4986-B86B-FEC8D454BEDB}" type="datetime'E''''''mer''''ge''n''''cy ''''''''Ou''t''''''ag''''''e'''''''">
              <a:rPr lang="en-IN" altLang="en-US" b="0" smtClean="0">
                <a:sym typeface="+mn-lt"/>
              </a:rPr>
              <a:pPr lvl="1">
                <a:spcBef>
                  <a:spcPct val="0"/>
                </a:spcBef>
                <a:spcAft>
                  <a:spcPct val="0"/>
                </a:spcAft>
              </a:pPr>
              <a:t>Emergency Outage</a:t>
            </a:fld>
            <a:endParaRPr lang="en-IN" b="0" noProof="0" dirty="0">
              <a:sym typeface="+mn-lt"/>
            </a:endParaRPr>
          </a:p>
        </p:txBody>
      </p:sp>
      <p:sp>
        <p:nvSpPr>
          <p:cNvPr id="496" name="Freeform 3"/>
          <p:cNvSpPr>
            <a:spLocks/>
          </p:cNvSpPr>
          <p:nvPr/>
        </p:nvSpPr>
        <p:spPr bwMode="gray">
          <a:xfrm>
            <a:off x="5505339" y="5692164"/>
            <a:ext cx="4735625" cy="1427650"/>
          </a:xfrm>
          <a:custGeom>
            <a:avLst/>
            <a:gdLst/>
            <a:ahLst/>
            <a:cxnLst>
              <a:cxn ang="0">
                <a:pos x="222" y="20"/>
              </a:cxn>
              <a:cxn ang="0">
                <a:pos x="476" y="6"/>
              </a:cxn>
              <a:cxn ang="0">
                <a:pos x="671" y="35"/>
              </a:cxn>
              <a:cxn ang="0">
                <a:pos x="901" y="27"/>
              </a:cxn>
              <a:cxn ang="0">
                <a:pos x="1105" y="7"/>
              </a:cxn>
              <a:cxn ang="0">
                <a:pos x="1351" y="13"/>
              </a:cxn>
              <a:cxn ang="0">
                <a:pos x="1750" y="16"/>
              </a:cxn>
              <a:cxn ang="0">
                <a:pos x="1962" y="33"/>
              </a:cxn>
              <a:cxn ang="0">
                <a:pos x="2433" y="23"/>
              </a:cxn>
              <a:cxn ang="0">
                <a:pos x="2648" y="30"/>
              </a:cxn>
              <a:cxn ang="0">
                <a:pos x="3022" y="30"/>
              </a:cxn>
              <a:cxn ang="0">
                <a:pos x="3305" y="38"/>
              </a:cxn>
              <a:cxn ang="0">
                <a:pos x="3683" y="43"/>
              </a:cxn>
              <a:cxn ang="0">
                <a:pos x="3921" y="44"/>
              </a:cxn>
              <a:cxn ang="0">
                <a:pos x="4152" y="45"/>
              </a:cxn>
              <a:cxn ang="0">
                <a:pos x="4193" y="98"/>
              </a:cxn>
              <a:cxn ang="0">
                <a:pos x="4229" y="146"/>
              </a:cxn>
              <a:cxn ang="0">
                <a:pos x="4183" y="224"/>
              </a:cxn>
              <a:cxn ang="0">
                <a:pos x="4218" y="282"/>
              </a:cxn>
              <a:cxn ang="0">
                <a:pos x="4286" y="348"/>
              </a:cxn>
              <a:cxn ang="0">
                <a:pos x="4353" y="404"/>
              </a:cxn>
              <a:cxn ang="0">
                <a:pos x="4419" y="474"/>
              </a:cxn>
              <a:cxn ang="0">
                <a:pos x="4413" y="546"/>
              </a:cxn>
              <a:cxn ang="0">
                <a:pos x="4443" y="645"/>
              </a:cxn>
              <a:cxn ang="0">
                <a:pos x="4461" y="711"/>
              </a:cxn>
              <a:cxn ang="0">
                <a:pos x="4462" y="811"/>
              </a:cxn>
              <a:cxn ang="0">
                <a:pos x="4483" y="869"/>
              </a:cxn>
              <a:cxn ang="0">
                <a:pos x="4526" y="953"/>
              </a:cxn>
              <a:cxn ang="0">
                <a:pos x="4448" y="999"/>
              </a:cxn>
              <a:cxn ang="0">
                <a:pos x="4203" y="989"/>
              </a:cxn>
              <a:cxn ang="0">
                <a:pos x="3829" y="970"/>
              </a:cxn>
              <a:cxn ang="0">
                <a:pos x="3619" y="991"/>
              </a:cxn>
              <a:cxn ang="0">
                <a:pos x="3434" y="1006"/>
              </a:cxn>
              <a:cxn ang="0">
                <a:pos x="3180" y="1017"/>
              </a:cxn>
              <a:cxn ang="0">
                <a:pos x="2821" y="994"/>
              </a:cxn>
              <a:cxn ang="0">
                <a:pos x="2467" y="999"/>
              </a:cxn>
              <a:cxn ang="0">
                <a:pos x="2091" y="994"/>
              </a:cxn>
              <a:cxn ang="0">
                <a:pos x="1782" y="991"/>
              </a:cxn>
              <a:cxn ang="0">
                <a:pos x="1496" y="977"/>
              </a:cxn>
              <a:cxn ang="0">
                <a:pos x="1284" y="965"/>
              </a:cxn>
              <a:cxn ang="0">
                <a:pos x="907" y="976"/>
              </a:cxn>
              <a:cxn ang="0">
                <a:pos x="483" y="966"/>
              </a:cxn>
              <a:cxn ang="0">
                <a:pos x="297" y="969"/>
              </a:cxn>
              <a:cxn ang="0">
                <a:pos x="285" y="922"/>
              </a:cxn>
              <a:cxn ang="0">
                <a:pos x="364" y="872"/>
              </a:cxn>
              <a:cxn ang="0">
                <a:pos x="324" y="814"/>
              </a:cxn>
              <a:cxn ang="0">
                <a:pos x="286" y="763"/>
              </a:cxn>
              <a:cxn ang="0">
                <a:pos x="289" y="701"/>
              </a:cxn>
              <a:cxn ang="0">
                <a:pos x="103" y="623"/>
              </a:cxn>
              <a:cxn ang="0">
                <a:pos x="158" y="566"/>
              </a:cxn>
              <a:cxn ang="0">
                <a:pos x="116" y="496"/>
              </a:cxn>
              <a:cxn ang="0">
                <a:pos x="74" y="435"/>
              </a:cxn>
              <a:cxn ang="0">
                <a:pos x="100" y="365"/>
              </a:cxn>
              <a:cxn ang="0">
                <a:pos x="87" y="306"/>
              </a:cxn>
              <a:cxn ang="0">
                <a:pos x="13" y="221"/>
              </a:cxn>
              <a:cxn ang="0">
                <a:pos x="21" y="159"/>
              </a:cxn>
              <a:cxn ang="0">
                <a:pos x="0" y="98"/>
              </a:cxn>
              <a:cxn ang="0">
                <a:pos x="28" y="35"/>
              </a:cxn>
            </a:cxnLst>
            <a:rect l="0" t="0" r="r" b="b"/>
            <a:pathLst>
              <a:path w="4537" h="1018">
                <a:moveTo>
                  <a:pt x="71" y="0"/>
                </a:moveTo>
                <a:lnTo>
                  <a:pt x="147" y="13"/>
                </a:lnTo>
                <a:lnTo>
                  <a:pt x="222" y="20"/>
                </a:lnTo>
                <a:lnTo>
                  <a:pt x="315" y="17"/>
                </a:lnTo>
                <a:lnTo>
                  <a:pt x="380" y="6"/>
                </a:lnTo>
                <a:lnTo>
                  <a:pt x="476" y="6"/>
                </a:lnTo>
                <a:lnTo>
                  <a:pt x="547" y="11"/>
                </a:lnTo>
                <a:lnTo>
                  <a:pt x="597" y="30"/>
                </a:lnTo>
                <a:lnTo>
                  <a:pt x="671" y="35"/>
                </a:lnTo>
                <a:lnTo>
                  <a:pt x="760" y="31"/>
                </a:lnTo>
                <a:lnTo>
                  <a:pt x="830" y="26"/>
                </a:lnTo>
                <a:lnTo>
                  <a:pt x="901" y="27"/>
                </a:lnTo>
                <a:lnTo>
                  <a:pt x="996" y="21"/>
                </a:lnTo>
                <a:lnTo>
                  <a:pt x="1034" y="4"/>
                </a:lnTo>
                <a:lnTo>
                  <a:pt x="1105" y="7"/>
                </a:lnTo>
                <a:lnTo>
                  <a:pt x="1203" y="7"/>
                </a:lnTo>
                <a:lnTo>
                  <a:pt x="1274" y="6"/>
                </a:lnTo>
                <a:lnTo>
                  <a:pt x="1351" y="13"/>
                </a:lnTo>
                <a:lnTo>
                  <a:pt x="1511" y="14"/>
                </a:lnTo>
                <a:lnTo>
                  <a:pt x="1651" y="16"/>
                </a:lnTo>
                <a:lnTo>
                  <a:pt x="1750" y="16"/>
                </a:lnTo>
                <a:lnTo>
                  <a:pt x="1818" y="16"/>
                </a:lnTo>
                <a:lnTo>
                  <a:pt x="1891" y="31"/>
                </a:lnTo>
                <a:lnTo>
                  <a:pt x="1962" y="33"/>
                </a:lnTo>
                <a:lnTo>
                  <a:pt x="2103" y="31"/>
                </a:lnTo>
                <a:lnTo>
                  <a:pt x="2242" y="27"/>
                </a:lnTo>
                <a:lnTo>
                  <a:pt x="2433" y="23"/>
                </a:lnTo>
                <a:lnTo>
                  <a:pt x="2503" y="18"/>
                </a:lnTo>
                <a:lnTo>
                  <a:pt x="2574" y="20"/>
                </a:lnTo>
                <a:lnTo>
                  <a:pt x="2648" y="30"/>
                </a:lnTo>
                <a:lnTo>
                  <a:pt x="2740" y="37"/>
                </a:lnTo>
                <a:lnTo>
                  <a:pt x="2878" y="33"/>
                </a:lnTo>
                <a:lnTo>
                  <a:pt x="3022" y="30"/>
                </a:lnTo>
                <a:lnTo>
                  <a:pt x="3160" y="26"/>
                </a:lnTo>
                <a:lnTo>
                  <a:pt x="3231" y="26"/>
                </a:lnTo>
                <a:lnTo>
                  <a:pt x="3305" y="38"/>
                </a:lnTo>
                <a:lnTo>
                  <a:pt x="3403" y="47"/>
                </a:lnTo>
                <a:lnTo>
                  <a:pt x="3594" y="45"/>
                </a:lnTo>
                <a:lnTo>
                  <a:pt x="3683" y="43"/>
                </a:lnTo>
                <a:lnTo>
                  <a:pt x="3752" y="41"/>
                </a:lnTo>
                <a:lnTo>
                  <a:pt x="3847" y="44"/>
                </a:lnTo>
                <a:lnTo>
                  <a:pt x="3921" y="44"/>
                </a:lnTo>
                <a:lnTo>
                  <a:pt x="3989" y="40"/>
                </a:lnTo>
                <a:lnTo>
                  <a:pt x="4084" y="40"/>
                </a:lnTo>
                <a:lnTo>
                  <a:pt x="4152" y="45"/>
                </a:lnTo>
                <a:lnTo>
                  <a:pt x="4204" y="64"/>
                </a:lnTo>
                <a:lnTo>
                  <a:pt x="4215" y="79"/>
                </a:lnTo>
                <a:lnTo>
                  <a:pt x="4193" y="98"/>
                </a:lnTo>
                <a:lnTo>
                  <a:pt x="4173" y="115"/>
                </a:lnTo>
                <a:lnTo>
                  <a:pt x="4198" y="130"/>
                </a:lnTo>
                <a:lnTo>
                  <a:pt x="4229" y="146"/>
                </a:lnTo>
                <a:lnTo>
                  <a:pt x="4211" y="163"/>
                </a:lnTo>
                <a:lnTo>
                  <a:pt x="4173" y="209"/>
                </a:lnTo>
                <a:lnTo>
                  <a:pt x="4183" y="224"/>
                </a:lnTo>
                <a:lnTo>
                  <a:pt x="4210" y="241"/>
                </a:lnTo>
                <a:lnTo>
                  <a:pt x="4214" y="258"/>
                </a:lnTo>
                <a:lnTo>
                  <a:pt x="4218" y="282"/>
                </a:lnTo>
                <a:lnTo>
                  <a:pt x="4232" y="315"/>
                </a:lnTo>
                <a:lnTo>
                  <a:pt x="4235" y="333"/>
                </a:lnTo>
                <a:lnTo>
                  <a:pt x="4286" y="348"/>
                </a:lnTo>
                <a:lnTo>
                  <a:pt x="4342" y="365"/>
                </a:lnTo>
                <a:lnTo>
                  <a:pt x="4348" y="389"/>
                </a:lnTo>
                <a:lnTo>
                  <a:pt x="4353" y="404"/>
                </a:lnTo>
                <a:lnTo>
                  <a:pt x="4335" y="428"/>
                </a:lnTo>
                <a:lnTo>
                  <a:pt x="4339" y="451"/>
                </a:lnTo>
                <a:lnTo>
                  <a:pt x="4419" y="474"/>
                </a:lnTo>
                <a:lnTo>
                  <a:pt x="4452" y="509"/>
                </a:lnTo>
                <a:lnTo>
                  <a:pt x="4433" y="532"/>
                </a:lnTo>
                <a:lnTo>
                  <a:pt x="4413" y="546"/>
                </a:lnTo>
                <a:lnTo>
                  <a:pt x="4395" y="565"/>
                </a:lnTo>
                <a:lnTo>
                  <a:pt x="4431" y="608"/>
                </a:lnTo>
                <a:lnTo>
                  <a:pt x="4443" y="645"/>
                </a:lnTo>
                <a:lnTo>
                  <a:pt x="4447" y="660"/>
                </a:lnTo>
                <a:lnTo>
                  <a:pt x="4456" y="694"/>
                </a:lnTo>
                <a:lnTo>
                  <a:pt x="4461" y="711"/>
                </a:lnTo>
                <a:lnTo>
                  <a:pt x="4473" y="756"/>
                </a:lnTo>
                <a:lnTo>
                  <a:pt x="4452" y="772"/>
                </a:lnTo>
                <a:lnTo>
                  <a:pt x="4462" y="811"/>
                </a:lnTo>
                <a:lnTo>
                  <a:pt x="4472" y="828"/>
                </a:lnTo>
                <a:lnTo>
                  <a:pt x="4498" y="851"/>
                </a:lnTo>
                <a:lnTo>
                  <a:pt x="4483" y="869"/>
                </a:lnTo>
                <a:lnTo>
                  <a:pt x="4487" y="885"/>
                </a:lnTo>
                <a:lnTo>
                  <a:pt x="4494" y="908"/>
                </a:lnTo>
                <a:lnTo>
                  <a:pt x="4526" y="953"/>
                </a:lnTo>
                <a:lnTo>
                  <a:pt x="4536" y="976"/>
                </a:lnTo>
                <a:lnTo>
                  <a:pt x="4519" y="991"/>
                </a:lnTo>
                <a:lnTo>
                  <a:pt x="4448" y="999"/>
                </a:lnTo>
                <a:lnTo>
                  <a:pt x="4380" y="1013"/>
                </a:lnTo>
                <a:lnTo>
                  <a:pt x="4279" y="1001"/>
                </a:lnTo>
                <a:lnTo>
                  <a:pt x="4203" y="989"/>
                </a:lnTo>
                <a:lnTo>
                  <a:pt x="4062" y="979"/>
                </a:lnTo>
                <a:lnTo>
                  <a:pt x="3990" y="972"/>
                </a:lnTo>
                <a:lnTo>
                  <a:pt x="3829" y="970"/>
                </a:lnTo>
                <a:lnTo>
                  <a:pt x="3762" y="974"/>
                </a:lnTo>
                <a:lnTo>
                  <a:pt x="3690" y="984"/>
                </a:lnTo>
                <a:lnTo>
                  <a:pt x="3619" y="991"/>
                </a:lnTo>
                <a:lnTo>
                  <a:pt x="3577" y="1006"/>
                </a:lnTo>
                <a:lnTo>
                  <a:pt x="3508" y="1013"/>
                </a:lnTo>
                <a:lnTo>
                  <a:pt x="3434" y="1006"/>
                </a:lnTo>
                <a:lnTo>
                  <a:pt x="3365" y="999"/>
                </a:lnTo>
                <a:lnTo>
                  <a:pt x="3266" y="1004"/>
                </a:lnTo>
                <a:lnTo>
                  <a:pt x="3180" y="1017"/>
                </a:lnTo>
                <a:lnTo>
                  <a:pt x="3109" y="1014"/>
                </a:lnTo>
                <a:lnTo>
                  <a:pt x="3010" y="1008"/>
                </a:lnTo>
                <a:lnTo>
                  <a:pt x="2821" y="994"/>
                </a:lnTo>
                <a:lnTo>
                  <a:pt x="2630" y="991"/>
                </a:lnTo>
                <a:lnTo>
                  <a:pt x="2562" y="991"/>
                </a:lnTo>
                <a:lnTo>
                  <a:pt x="2467" y="999"/>
                </a:lnTo>
                <a:lnTo>
                  <a:pt x="2299" y="996"/>
                </a:lnTo>
                <a:lnTo>
                  <a:pt x="2160" y="994"/>
                </a:lnTo>
                <a:lnTo>
                  <a:pt x="2091" y="994"/>
                </a:lnTo>
                <a:lnTo>
                  <a:pt x="1949" y="991"/>
                </a:lnTo>
                <a:lnTo>
                  <a:pt x="1853" y="993"/>
                </a:lnTo>
                <a:lnTo>
                  <a:pt x="1782" y="991"/>
                </a:lnTo>
                <a:lnTo>
                  <a:pt x="1642" y="990"/>
                </a:lnTo>
                <a:lnTo>
                  <a:pt x="1570" y="979"/>
                </a:lnTo>
                <a:lnTo>
                  <a:pt x="1496" y="977"/>
                </a:lnTo>
                <a:lnTo>
                  <a:pt x="1432" y="987"/>
                </a:lnTo>
                <a:lnTo>
                  <a:pt x="1334" y="984"/>
                </a:lnTo>
                <a:lnTo>
                  <a:pt x="1284" y="965"/>
                </a:lnTo>
                <a:lnTo>
                  <a:pt x="1214" y="974"/>
                </a:lnTo>
                <a:lnTo>
                  <a:pt x="1051" y="976"/>
                </a:lnTo>
                <a:lnTo>
                  <a:pt x="907" y="976"/>
                </a:lnTo>
                <a:lnTo>
                  <a:pt x="770" y="982"/>
                </a:lnTo>
                <a:lnTo>
                  <a:pt x="679" y="973"/>
                </a:lnTo>
                <a:lnTo>
                  <a:pt x="483" y="966"/>
                </a:lnTo>
                <a:lnTo>
                  <a:pt x="414" y="970"/>
                </a:lnTo>
                <a:lnTo>
                  <a:pt x="350" y="987"/>
                </a:lnTo>
                <a:lnTo>
                  <a:pt x="297" y="969"/>
                </a:lnTo>
                <a:lnTo>
                  <a:pt x="268" y="953"/>
                </a:lnTo>
                <a:lnTo>
                  <a:pt x="262" y="938"/>
                </a:lnTo>
                <a:lnTo>
                  <a:pt x="285" y="922"/>
                </a:lnTo>
                <a:lnTo>
                  <a:pt x="349" y="904"/>
                </a:lnTo>
                <a:lnTo>
                  <a:pt x="368" y="888"/>
                </a:lnTo>
                <a:lnTo>
                  <a:pt x="364" y="872"/>
                </a:lnTo>
                <a:lnTo>
                  <a:pt x="335" y="854"/>
                </a:lnTo>
                <a:lnTo>
                  <a:pt x="332" y="831"/>
                </a:lnTo>
                <a:lnTo>
                  <a:pt x="324" y="814"/>
                </a:lnTo>
                <a:lnTo>
                  <a:pt x="320" y="799"/>
                </a:lnTo>
                <a:lnTo>
                  <a:pt x="314" y="780"/>
                </a:lnTo>
                <a:lnTo>
                  <a:pt x="286" y="763"/>
                </a:lnTo>
                <a:lnTo>
                  <a:pt x="280" y="739"/>
                </a:lnTo>
                <a:lnTo>
                  <a:pt x="299" y="725"/>
                </a:lnTo>
                <a:lnTo>
                  <a:pt x="289" y="701"/>
                </a:lnTo>
                <a:lnTo>
                  <a:pt x="135" y="657"/>
                </a:lnTo>
                <a:lnTo>
                  <a:pt x="112" y="641"/>
                </a:lnTo>
                <a:lnTo>
                  <a:pt x="103" y="623"/>
                </a:lnTo>
                <a:lnTo>
                  <a:pt x="123" y="606"/>
                </a:lnTo>
                <a:lnTo>
                  <a:pt x="165" y="587"/>
                </a:lnTo>
                <a:lnTo>
                  <a:pt x="158" y="566"/>
                </a:lnTo>
                <a:lnTo>
                  <a:pt x="149" y="543"/>
                </a:lnTo>
                <a:lnTo>
                  <a:pt x="144" y="522"/>
                </a:lnTo>
                <a:lnTo>
                  <a:pt x="116" y="496"/>
                </a:lnTo>
                <a:lnTo>
                  <a:pt x="109" y="477"/>
                </a:lnTo>
                <a:lnTo>
                  <a:pt x="78" y="452"/>
                </a:lnTo>
                <a:lnTo>
                  <a:pt x="74" y="435"/>
                </a:lnTo>
                <a:lnTo>
                  <a:pt x="85" y="396"/>
                </a:lnTo>
                <a:lnTo>
                  <a:pt x="106" y="380"/>
                </a:lnTo>
                <a:lnTo>
                  <a:pt x="100" y="365"/>
                </a:lnTo>
                <a:lnTo>
                  <a:pt x="98" y="345"/>
                </a:lnTo>
                <a:lnTo>
                  <a:pt x="93" y="328"/>
                </a:lnTo>
                <a:lnTo>
                  <a:pt x="87" y="306"/>
                </a:lnTo>
                <a:lnTo>
                  <a:pt x="47" y="261"/>
                </a:lnTo>
                <a:lnTo>
                  <a:pt x="20" y="238"/>
                </a:lnTo>
                <a:lnTo>
                  <a:pt x="13" y="221"/>
                </a:lnTo>
                <a:lnTo>
                  <a:pt x="8" y="199"/>
                </a:lnTo>
                <a:lnTo>
                  <a:pt x="32" y="182"/>
                </a:lnTo>
                <a:lnTo>
                  <a:pt x="21" y="159"/>
                </a:lnTo>
                <a:lnTo>
                  <a:pt x="10" y="136"/>
                </a:lnTo>
                <a:lnTo>
                  <a:pt x="10" y="122"/>
                </a:lnTo>
                <a:lnTo>
                  <a:pt x="0" y="98"/>
                </a:lnTo>
                <a:lnTo>
                  <a:pt x="22" y="77"/>
                </a:lnTo>
                <a:lnTo>
                  <a:pt x="15" y="58"/>
                </a:lnTo>
                <a:lnTo>
                  <a:pt x="28" y="35"/>
                </a:lnTo>
                <a:lnTo>
                  <a:pt x="7" y="17"/>
                </a:lnTo>
                <a:lnTo>
                  <a:pt x="71" y="0"/>
                </a:lnTo>
              </a:path>
            </a:pathLst>
          </a:custGeom>
          <a:gradFill flip="none" rotWithShape="1">
            <a:gsLst>
              <a:gs pos="75000">
                <a:srgbClr val="FFDB69">
                  <a:tint val="66000"/>
                  <a:satMod val="160000"/>
                  <a:alpha val="58000"/>
                </a:srgbClr>
              </a:gs>
              <a:gs pos="61000">
                <a:srgbClr val="FFDB69">
                  <a:tint val="44500"/>
                  <a:satMod val="160000"/>
                  <a:alpha val="73000"/>
                </a:srgbClr>
              </a:gs>
              <a:gs pos="100000">
                <a:srgbClr val="FFDB69">
                  <a:tint val="23500"/>
                  <a:satMod val="160000"/>
                  <a:alpha val="80000"/>
                </a:srgbClr>
              </a:gs>
            </a:gsLst>
            <a:lin ang="0" scaled="1"/>
            <a:tileRect/>
          </a:gradFill>
          <a:ln w="9525" cap="rnd" cmpd="sng">
            <a:noFill/>
            <a:prstDash val="solid"/>
            <a:round/>
            <a:headEnd type="none" w="med" len="med"/>
            <a:tailEnd type="none" w="med" len="med"/>
          </a:ln>
          <a:effectLst>
            <a:outerShdw blurRad="50800" dist="38100" dir="2700000" algn="tl" rotWithShape="0">
              <a:prstClr val="black">
                <a:alpha val="40000"/>
              </a:prstClr>
            </a:outerShdw>
          </a:effectLst>
        </p:spPr>
        <p:txBody>
          <a:bodyPr lIns="360000" tIns="72000" rIns="324000" bIns="72000" anchor="ctr"/>
          <a:lstStyle/>
          <a:p>
            <a:pPr marL="171450" lvl="0" indent="-171450">
              <a:lnSpc>
                <a:spcPct val="114000"/>
              </a:lnSpc>
              <a:spcAft>
                <a:spcPts val="600"/>
              </a:spcAft>
              <a:buFont typeface="Arial" panose="020B0604020202020204" pitchFamily="34" charset="0"/>
              <a:buChar char="•"/>
              <a:defRPr/>
            </a:pPr>
            <a:r>
              <a:rPr lang="en-US" sz="1000" dirty="0">
                <a:solidFill>
                  <a:prstClr val="black"/>
                </a:solidFill>
              </a:rPr>
              <a:t>Three PGCB sub-stations in Mymensingh, Narshingdi, and Brahmanbaria shut off after a transformer tripped at Ashuganj at 7:10 pm.</a:t>
            </a:r>
          </a:p>
          <a:p>
            <a:pPr lvl="0" algn="ctr">
              <a:lnSpc>
                <a:spcPct val="114000"/>
              </a:lnSpc>
              <a:spcAft>
                <a:spcPts val="600"/>
              </a:spcAft>
              <a:defRPr/>
            </a:pPr>
            <a:r>
              <a:rPr lang="en-US" sz="1000" dirty="0">
                <a:solidFill>
                  <a:prstClr val="black"/>
                </a:solidFill>
              </a:rPr>
              <a:t> </a:t>
            </a:r>
            <a:r>
              <a:rPr lang="en-US" sz="1000" b="1" dirty="0">
                <a:solidFill>
                  <a:prstClr val="black"/>
                </a:solidFill>
              </a:rPr>
              <a:t>- PGCB Official after ~4 Mn households left without power on June 10, 2020</a:t>
            </a:r>
            <a:endParaRPr lang="en-US" sz="1000" b="1" dirty="0">
              <a:solidFill>
                <a:prstClr val="black"/>
              </a:solidFill>
              <a:latin typeface="Verdana"/>
            </a:endParaRPr>
          </a:p>
        </p:txBody>
      </p:sp>
      <p:sp>
        <p:nvSpPr>
          <p:cNvPr id="497" name="Freeform 3"/>
          <p:cNvSpPr>
            <a:spLocks/>
          </p:cNvSpPr>
          <p:nvPr/>
        </p:nvSpPr>
        <p:spPr bwMode="gray">
          <a:xfrm>
            <a:off x="449626" y="4668838"/>
            <a:ext cx="4735625" cy="1215664"/>
          </a:xfrm>
          <a:custGeom>
            <a:avLst/>
            <a:gdLst/>
            <a:ahLst/>
            <a:cxnLst>
              <a:cxn ang="0">
                <a:pos x="222" y="20"/>
              </a:cxn>
              <a:cxn ang="0">
                <a:pos x="476" y="6"/>
              </a:cxn>
              <a:cxn ang="0">
                <a:pos x="671" y="35"/>
              </a:cxn>
              <a:cxn ang="0">
                <a:pos x="901" y="27"/>
              </a:cxn>
              <a:cxn ang="0">
                <a:pos x="1105" y="7"/>
              </a:cxn>
              <a:cxn ang="0">
                <a:pos x="1351" y="13"/>
              </a:cxn>
              <a:cxn ang="0">
                <a:pos x="1750" y="16"/>
              </a:cxn>
              <a:cxn ang="0">
                <a:pos x="1962" y="33"/>
              </a:cxn>
              <a:cxn ang="0">
                <a:pos x="2433" y="23"/>
              </a:cxn>
              <a:cxn ang="0">
                <a:pos x="2648" y="30"/>
              </a:cxn>
              <a:cxn ang="0">
                <a:pos x="3022" y="30"/>
              </a:cxn>
              <a:cxn ang="0">
                <a:pos x="3305" y="38"/>
              </a:cxn>
              <a:cxn ang="0">
                <a:pos x="3683" y="43"/>
              </a:cxn>
              <a:cxn ang="0">
                <a:pos x="3921" y="44"/>
              </a:cxn>
              <a:cxn ang="0">
                <a:pos x="4152" y="45"/>
              </a:cxn>
              <a:cxn ang="0">
                <a:pos x="4193" y="98"/>
              </a:cxn>
              <a:cxn ang="0">
                <a:pos x="4229" y="146"/>
              </a:cxn>
              <a:cxn ang="0">
                <a:pos x="4183" y="224"/>
              </a:cxn>
              <a:cxn ang="0">
                <a:pos x="4218" y="282"/>
              </a:cxn>
              <a:cxn ang="0">
                <a:pos x="4286" y="348"/>
              </a:cxn>
              <a:cxn ang="0">
                <a:pos x="4353" y="404"/>
              </a:cxn>
              <a:cxn ang="0">
                <a:pos x="4419" y="474"/>
              </a:cxn>
              <a:cxn ang="0">
                <a:pos x="4413" y="546"/>
              </a:cxn>
              <a:cxn ang="0">
                <a:pos x="4443" y="645"/>
              </a:cxn>
              <a:cxn ang="0">
                <a:pos x="4461" y="711"/>
              </a:cxn>
              <a:cxn ang="0">
                <a:pos x="4462" y="811"/>
              </a:cxn>
              <a:cxn ang="0">
                <a:pos x="4483" y="869"/>
              </a:cxn>
              <a:cxn ang="0">
                <a:pos x="4526" y="953"/>
              </a:cxn>
              <a:cxn ang="0">
                <a:pos x="4448" y="999"/>
              </a:cxn>
              <a:cxn ang="0">
                <a:pos x="4203" y="989"/>
              </a:cxn>
              <a:cxn ang="0">
                <a:pos x="3829" y="970"/>
              </a:cxn>
              <a:cxn ang="0">
                <a:pos x="3619" y="991"/>
              </a:cxn>
              <a:cxn ang="0">
                <a:pos x="3434" y="1006"/>
              </a:cxn>
              <a:cxn ang="0">
                <a:pos x="3180" y="1017"/>
              </a:cxn>
              <a:cxn ang="0">
                <a:pos x="2821" y="994"/>
              </a:cxn>
              <a:cxn ang="0">
                <a:pos x="2467" y="999"/>
              </a:cxn>
              <a:cxn ang="0">
                <a:pos x="2091" y="994"/>
              </a:cxn>
              <a:cxn ang="0">
                <a:pos x="1782" y="991"/>
              </a:cxn>
              <a:cxn ang="0">
                <a:pos x="1496" y="977"/>
              </a:cxn>
              <a:cxn ang="0">
                <a:pos x="1284" y="965"/>
              </a:cxn>
              <a:cxn ang="0">
                <a:pos x="907" y="976"/>
              </a:cxn>
              <a:cxn ang="0">
                <a:pos x="483" y="966"/>
              </a:cxn>
              <a:cxn ang="0">
                <a:pos x="297" y="969"/>
              </a:cxn>
              <a:cxn ang="0">
                <a:pos x="285" y="922"/>
              </a:cxn>
              <a:cxn ang="0">
                <a:pos x="364" y="872"/>
              </a:cxn>
              <a:cxn ang="0">
                <a:pos x="324" y="814"/>
              </a:cxn>
              <a:cxn ang="0">
                <a:pos x="286" y="763"/>
              </a:cxn>
              <a:cxn ang="0">
                <a:pos x="289" y="701"/>
              </a:cxn>
              <a:cxn ang="0">
                <a:pos x="103" y="623"/>
              </a:cxn>
              <a:cxn ang="0">
                <a:pos x="158" y="566"/>
              </a:cxn>
              <a:cxn ang="0">
                <a:pos x="116" y="496"/>
              </a:cxn>
              <a:cxn ang="0">
                <a:pos x="74" y="435"/>
              </a:cxn>
              <a:cxn ang="0">
                <a:pos x="100" y="365"/>
              </a:cxn>
              <a:cxn ang="0">
                <a:pos x="87" y="306"/>
              </a:cxn>
              <a:cxn ang="0">
                <a:pos x="13" y="221"/>
              </a:cxn>
              <a:cxn ang="0">
                <a:pos x="21" y="159"/>
              </a:cxn>
              <a:cxn ang="0">
                <a:pos x="0" y="98"/>
              </a:cxn>
              <a:cxn ang="0">
                <a:pos x="28" y="35"/>
              </a:cxn>
            </a:cxnLst>
            <a:rect l="0" t="0" r="r" b="b"/>
            <a:pathLst>
              <a:path w="4537" h="1018">
                <a:moveTo>
                  <a:pt x="71" y="0"/>
                </a:moveTo>
                <a:lnTo>
                  <a:pt x="147" y="13"/>
                </a:lnTo>
                <a:lnTo>
                  <a:pt x="222" y="20"/>
                </a:lnTo>
                <a:lnTo>
                  <a:pt x="315" y="17"/>
                </a:lnTo>
                <a:lnTo>
                  <a:pt x="380" y="6"/>
                </a:lnTo>
                <a:lnTo>
                  <a:pt x="476" y="6"/>
                </a:lnTo>
                <a:lnTo>
                  <a:pt x="547" y="11"/>
                </a:lnTo>
                <a:lnTo>
                  <a:pt x="597" y="30"/>
                </a:lnTo>
                <a:lnTo>
                  <a:pt x="671" y="35"/>
                </a:lnTo>
                <a:lnTo>
                  <a:pt x="760" y="31"/>
                </a:lnTo>
                <a:lnTo>
                  <a:pt x="830" y="26"/>
                </a:lnTo>
                <a:lnTo>
                  <a:pt x="901" y="27"/>
                </a:lnTo>
                <a:lnTo>
                  <a:pt x="996" y="21"/>
                </a:lnTo>
                <a:lnTo>
                  <a:pt x="1034" y="4"/>
                </a:lnTo>
                <a:lnTo>
                  <a:pt x="1105" y="7"/>
                </a:lnTo>
                <a:lnTo>
                  <a:pt x="1203" y="7"/>
                </a:lnTo>
                <a:lnTo>
                  <a:pt x="1274" y="6"/>
                </a:lnTo>
                <a:lnTo>
                  <a:pt x="1351" y="13"/>
                </a:lnTo>
                <a:lnTo>
                  <a:pt x="1511" y="14"/>
                </a:lnTo>
                <a:lnTo>
                  <a:pt x="1651" y="16"/>
                </a:lnTo>
                <a:lnTo>
                  <a:pt x="1750" y="16"/>
                </a:lnTo>
                <a:lnTo>
                  <a:pt x="1818" y="16"/>
                </a:lnTo>
                <a:lnTo>
                  <a:pt x="1891" y="31"/>
                </a:lnTo>
                <a:lnTo>
                  <a:pt x="1962" y="33"/>
                </a:lnTo>
                <a:lnTo>
                  <a:pt x="2103" y="31"/>
                </a:lnTo>
                <a:lnTo>
                  <a:pt x="2242" y="27"/>
                </a:lnTo>
                <a:lnTo>
                  <a:pt x="2433" y="23"/>
                </a:lnTo>
                <a:lnTo>
                  <a:pt x="2503" y="18"/>
                </a:lnTo>
                <a:lnTo>
                  <a:pt x="2574" y="20"/>
                </a:lnTo>
                <a:lnTo>
                  <a:pt x="2648" y="30"/>
                </a:lnTo>
                <a:lnTo>
                  <a:pt x="2740" y="37"/>
                </a:lnTo>
                <a:lnTo>
                  <a:pt x="2878" y="33"/>
                </a:lnTo>
                <a:lnTo>
                  <a:pt x="3022" y="30"/>
                </a:lnTo>
                <a:lnTo>
                  <a:pt x="3160" y="26"/>
                </a:lnTo>
                <a:lnTo>
                  <a:pt x="3231" y="26"/>
                </a:lnTo>
                <a:lnTo>
                  <a:pt x="3305" y="38"/>
                </a:lnTo>
                <a:lnTo>
                  <a:pt x="3403" y="47"/>
                </a:lnTo>
                <a:lnTo>
                  <a:pt x="3594" y="45"/>
                </a:lnTo>
                <a:lnTo>
                  <a:pt x="3683" y="43"/>
                </a:lnTo>
                <a:lnTo>
                  <a:pt x="3752" y="41"/>
                </a:lnTo>
                <a:lnTo>
                  <a:pt x="3847" y="44"/>
                </a:lnTo>
                <a:lnTo>
                  <a:pt x="3921" y="44"/>
                </a:lnTo>
                <a:lnTo>
                  <a:pt x="3989" y="40"/>
                </a:lnTo>
                <a:lnTo>
                  <a:pt x="4084" y="40"/>
                </a:lnTo>
                <a:lnTo>
                  <a:pt x="4152" y="45"/>
                </a:lnTo>
                <a:lnTo>
                  <a:pt x="4204" y="64"/>
                </a:lnTo>
                <a:lnTo>
                  <a:pt x="4215" y="79"/>
                </a:lnTo>
                <a:lnTo>
                  <a:pt x="4193" y="98"/>
                </a:lnTo>
                <a:lnTo>
                  <a:pt x="4173" y="115"/>
                </a:lnTo>
                <a:lnTo>
                  <a:pt x="4198" y="130"/>
                </a:lnTo>
                <a:lnTo>
                  <a:pt x="4229" y="146"/>
                </a:lnTo>
                <a:lnTo>
                  <a:pt x="4211" y="163"/>
                </a:lnTo>
                <a:lnTo>
                  <a:pt x="4173" y="209"/>
                </a:lnTo>
                <a:lnTo>
                  <a:pt x="4183" y="224"/>
                </a:lnTo>
                <a:lnTo>
                  <a:pt x="4210" y="241"/>
                </a:lnTo>
                <a:lnTo>
                  <a:pt x="4214" y="258"/>
                </a:lnTo>
                <a:lnTo>
                  <a:pt x="4218" y="282"/>
                </a:lnTo>
                <a:lnTo>
                  <a:pt x="4232" y="315"/>
                </a:lnTo>
                <a:lnTo>
                  <a:pt x="4235" y="333"/>
                </a:lnTo>
                <a:lnTo>
                  <a:pt x="4286" y="348"/>
                </a:lnTo>
                <a:lnTo>
                  <a:pt x="4342" y="365"/>
                </a:lnTo>
                <a:lnTo>
                  <a:pt x="4348" y="389"/>
                </a:lnTo>
                <a:lnTo>
                  <a:pt x="4353" y="404"/>
                </a:lnTo>
                <a:lnTo>
                  <a:pt x="4335" y="428"/>
                </a:lnTo>
                <a:lnTo>
                  <a:pt x="4339" y="451"/>
                </a:lnTo>
                <a:lnTo>
                  <a:pt x="4419" y="474"/>
                </a:lnTo>
                <a:lnTo>
                  <a:pt x="4452" y="509"/>
                </a:lnTo>
                <a:lnTo>
                  <a:pt x="4433" y="532"/>
                </a:lnTo>
                <a:lnTo>
                  <a:pt x="4413" y="546"/>
                </a:lnTo>
                <a:lnTo>
                  <a:pt x="4395" y="565"/>
                </a:lnTo>
                <a:lnTo>
                  <a:pt x="4431" y="608"/>
                </a:lnTo>
                <a:lnTo>
                  <a:pt x="4443" y="645"/>
                </a:lnTo>
                <a:lnTo>
                  <a:pt x="4447" y="660"/>
                </a:lnTo>
                <a:lnTo>
                  <a:pt x="4456" y="694"/>
                </a:lnTo>
                <a:lnTo>
                  <a:pt x="4461" y="711"/>
                </a:lnTo>
                <a:lnTo>
                  <a:pt x="4473" y="756"/>
                </a:lnTo>
                <a:lnTo>
                  <a:pt x="4452" y="772"/>
                </a:lnTo>
                <a:lnTo>
                  <a:pt x="4462" y="811"/>
                </a:lnTo>
                <a:lnTo>
                  <a:pt x="4472" y="828"/>
                </a:lnTo>
                <a:lnTo>
                  <a:pt x="4498" y="851"/>
                </a:lnTo>
                <a:lnTo>
                  <a:pt x="4483" y="869"/>
                </a:lnTo>
                <a:lnTo>
                  <a:pt x="4487" y="885"/>
                </a:lnTo>
                <a:lnTo>
                  <a:pt x="4494" y="908"/>
                </a:lnTo>
                <a:lnTo>
                  <a:pt x="4526" y="953"/>
                </a:lnTo>
                <a:lnTo>
                  <a:pt x="4536" y="976"/>
                </a:lnTo>
                <a:lnTo>
                  <a:pt x="4519" y="991"/>
                </a:lnTo>
                <a:lnTo>
                  <a:pt x="4448" y="999"/>
                </a:lnTo>
                <a:lnTo>
                  <a:pt x="4380" y="1013"/>
                </a:lnTo>
                <a:lnTo>
                  <a:pt x="4279" y="1001"/>
                </a:lnTo>
                <a:lnTo>
                  <a:pt x="4203" y="989"/>
                </a:lnTo>
                <a:lnTo>
                  <a:pt x="4062" y="979"/>
                </a:lnTo>
                <a:lnTo>
                  <a:pt x="3990" y="972"/>
                </a:lnTo>
                <a:lnTo>
                  <a:pt x="3829" y="970"/>
                </a:lnTo>
                <a:lnTo>
                  <a:pt x="3762" y="974"/>
                </a:lnTo>
                <a:lnTo>
                  <a:pt x="3690" y="984"/>
                </a:lnTo>
                <a:lnTo>
                  <a:pt x="3619" y="991"/>
                </a:lnTo>
                <a:lnTo>
                  <a:pt x="3577" y="1006"/>
                </a:lnTo>
                <a:lnTo>
                  <a:pt x="3508" y="1013"/>
                </a:lnTo>
                <a:lnTo>
                  <a:pt x="3434" y="1006"/>
                </a:lnTo>
                <a:lnTo>
                  <a:pt x="3365" y="999"/>
                </a:lnTo>
                <a:lnTo>
                  <a:pt x="3266" y="1004"/>
                </a:lnTo>
                <a:lnTo>
                  <a:pt x="3180" y="1017"/>
                </a:lnTo>
                <a:lnTo>
                  <a:pt x="3109" y="1014"/>
                </a:lnTo>
                <a:lnTo>
                  <a:pt x="3010" y="1008"/>
                </a:lnTo>
                <a:lnTo>
                  <a:pt x="2821" y="994"/>
                </a:lnTo>
                <a:lnTo>
                  <a:pt x="2630" y="991"/>
                </a:lnTo>
                <a:lnTo>
                  <a:pt x="2562" y="991"/>
                </a:lnTo>
                <a:lnTo>
                  <a:pt x="2467" y="999"/>
                </a:lnTo>
                <a:lnTo>
                  <a:pt x="2299" y="996"/>
                </a:lnTo>
                <a:lnTo>
                  <a:pt x="2160" y="994"/>
                </a:lnTo>
                <a:lnTo>
                  <a:pt x="2091" y="994"/>
                </a:lnTo>
                <a:lnTo>
                  <a:pt x="1949" y="991"/>
                </a:lnTo>
                <a:lnTo>
                  <a:pt x="1853" y="993"/>
                </a:lnTo>
                <a:lnTo>
                  <a:pt x="1782" y="991"/>
                </a:lnTo>
                <a:lnTo>
                  <a:pt x="1642" y="990"/>
                </a:lnTo>
                <a:lnTo>
                  <a:pt x="1570" y="979"/>
                </a:lnTo>
                <a:lnTo>
                  <a:pt x="1496" y="977"/>
                </a:lnTo>
                <a:lnTo>
                  <a:pt x="1432" y="987"/>
                </a:lnTo>
                <a:lnTo>
                  <a:pt x="1334" y="984"/>
                </a:lnTo>
                <a:lnTo>
                  <a:pt x="1284" y="965"/>
                </a:lnTo>
                <a:lnTo>
                  <a:pt x="1214" y="974"/>
                </a:lnTo>
                <a:lnTo>
                  <a:pt x="1051" y="976"/>
                </a:lnTo>
                <a:lnTo>
                  <a:pt x="907" y="976"/>
                </a:lnTo>
                <a:lnTo>
                  <a:pt x="770" y="982"/>
                </a:lnTo>
                <a:lnTo>
                  <a:pt x="679" y="973"/>
                </a:lnTo>
                <a:lnTo>
                  <a:pt x="483" y="966"/>
                </a:lnTo>
                <a:lnTo>
                  <a:pt x="414" y="970"/>
                </a:lnTo>
                <a:lnTo>
                  <a:pt x="350" y="987"/>
                </a:lnTo>
                <a:lnTo>
                  <a:pt x="297" y="969"/>
                </a:lnTo>
                <a:lnTo>
                  <a:pt x="268" y="953"/>
                </a:lnTo>
                <a:lnTo>
                  <a:pt x="262" y="938"/>
                </a:lnTo>
                <a:lnTo>
                  <a:pt x="285" y="922"/>
                </a:lnTo>
                <a:lnTo>
                  <a:pt x="349" y="904"/>
                </a:lnTo>
                <a:lnTo>
                  <a:pt x="368" y="888"/>
                </a:lnTo>
                <a:lnTo>
                  <a:pt x="364" y="872"/>
                </a:lnTo>
                <a:lnTo>
                  <a:pt x="335" y="854"/>
                </a:lnTo>
                <a:lnTo>
                  <a:pt x="332" y="831"/>
                </a:lnTo>
                <a:lnTo>
                  <a:pt x="324" y="814"/>
                </a:lnTo>
                <a:lnTo>
                  <a:pt x="320" y="799"/>
                </a:lnTo>
                <a:lnTo>
                  <a:pt x="314" y="780"/>
                </a:lnTo>
                <a:lnTo>
                  <a:pt x="286" y="763"/>
                </a:lnTo>
                <a:lnTo>
                  <a:pt x="280" y="739"/>
                </a:lnTo>
                <a:lnTo>
                  <a:pt x="299" y="725"/>
                </a:lnTo>
                <a:lnTo>
                  <a:pt x="289" y="701"/>
                </a:lnTo>
                <a:lnTo>
                  <a:pt x="135" y="657"/>
                </a:lnTo>
                <a:lnTo>
                  <a:pt x="112" y="641"/>
                </a:lnTo>
                <a:lnTo>
                  <a:pt x="103" y="623"/>
                </a:lnTo>
                <a:lnTo>
                  <a:pt x="123" y="606"/>
                </a:lnTo>
                <a:lnTo>
                  <a:pt x="165" y="587"/>
                </a:lnTo>
                <a:lnTo>
                  <a:pt x="158" y="566"/>
                </a:lnTo>
                <a:lnTo>
                  <a:pt x="149" y="543"/>
                </a:lnTo>
                <a:lnTo>
                  <a:pt x="144" y="522"/>
                </a:lnTo>
                <a:lnTo>
                  <a:pt x="116" y="496"/>
                </a:lnTo>
                <a:lnTo>
                  <a:pt x="109" y="477"/>
                </a:lnTo>
                <a:lnTo>
                  <a:pt x="78" y="452"/>
                </a:lnTo>
                <a:lnTo>
                  <a:pt x="74" y="435"/>
                </a:lnTo>
                <a:lnTo>
                  <a:pt x="85" y="396"/>
                </a:lnTo>
                <a:lnTo>
                  <a:pt x="106" y="380"/>
                </a:lnTo>
                <a:lnTo>
                  <a:pt x="100" y="365"/>
                </a:lnTo>
                <a:lnTo>
                  <a:pt x="98" y="345"/>
                </a:lnTo>
                <a:lnTo>
                  <a:pt x="93" y="328"/>
                </a:lnTo>
                <a:lnTo>
                  <a:pt x="87" y="306"/>
                </a:lnTo>
                <a:lnTo>
                  <a:pt x="47" y="261"/>
                </a:lnTo>
                <a:lnTo>
                  <a:pt x="20" y="238"/>
                </a:lnTo>
                <a:lnTo>
                  <a:pt x="13" y="221"/>
                </a:lnTo>
                <a:lnTo>
                  <a:pt x="8" y="199"/>
                </a:lnTo>
                <a:lnTo>
                  <a:pt x="32" y="182"/>
                </a:lnTo>
                <a:lnTo>
                  <a:pt x="21" y="159"/>
                </a:lnTo>
                <a:lnTo>
                  <a:pt x="10" y="136"/>
                </a:lnTo>
                <a:lnTo>
                  <a:pt x="10" y="122"/>
                </a:lnTo>
                <a:lnTo>
                  <a:pt x="0" y="98"/>
                </a:lnTo>
                <a:lnTo>
                  <a:pt x="22" y="77"/>
                </a:lnTo>
                <a:lnTo>
                  <a:pt x="15" y="58"/>
                </a:lnTo>
                <a:lnTo>
                  <a:pt x="28" y="35"/>
                </a:lnTo>
                <a:lnTo>
                  <a:pt x="7" y="17"/>
                </a:lnTo>
                <a:lnTo>
                  <a:pt x="71" y="0"/>
                </a:lnTo>
              </a:path>
            </a:pathLst>
          </a:custGeom>
          <a:gradFill flip="none" rotWithShape="1">
            <a:gsLst>
              <a:gs pos="75000">
                <a:srgbClr val="FFDB69">
                  <a:tint val="66000"/>
                  <a:satMod val="160000"/>
                  <a:alpha val="58000"/>
                </a:srgbClr>
              </a:gs>
              <a:gs pos="61000">
                <a:srgbClr val="FFDB69">
                  <a:tint val="44500"/>
                  <a:satMod val="160000"/>
                  <a:alpha val="73000"/>
                </a:srgbClr>
              </a:gs>
              <a:gs pos="100000">
                <a:srgbClr val="FFDB69">
                  <a:tint val="23500"/>
                  <a:satMod val="160000"/>
                  <a:alpha val="80000"/>
                </a:srgbClr>
              </a:gs>
            </a:gsLst>
            <a:lin ang="0" scaled="1"/>
            <a:tileRect/>
          </a:gradFill>
          <a:ln w="9525" cap="rnd" cmpd="sng">
            <a:noFill/>
            <a:prstDash val="solid"/>
            <a:round/>
            <a:headEnd type="none" w="med" len="med"/>
            <a:tailEnd type="none" w="med" len="med"/>
          </a:ln>
          <a:effectLst>
            <a:outerShdw blurRad="50800" dist="38100" dir="2700000" algn="tl" rotWithShape="0">
              <a:prstClr val="black">
                <a:alpha val="40000"/>
              </a:prstClr>
            </a:outerShdw>
          </a:effectLst>
        </p:spPr>
        <p:txBody>
          <a:bodyPr lIns="360000" tIns="72000" rIns="324000" bIns="72000" anchor="ctr"/>
          <a:lstStyle/>
          <a:p>
            <a:pPr marL="171450" lvl="0" indent="-171450">
              <a:lnSpc>
                <a:spcPct val="114000"/>
              </a:lnSpc>
              <a:spcAft>
                <a:spcPts val="600"/>
              </a:spcAft>
              <a:buFont typeface="Arial" panose="020B0604020202020204" pitchFamily="34" charset="0"/>
              <a:buChar char="•"/>
              <a:defRPr/>
            </a:pPr>
            <a:r>
              <a:rPr lang="en-US" sz="1000" dirty="0">
                <a:solidFill>
                  <a:prstClr val="black"/>
                </a:solidFill>
              </a:rPr>
              <a:t>Many power transformers and long stretches of power lines are old and have not been replaced in decades though they needed to carry load more than ever before following people’s increasing dependence on electrical appliances.</a:t>
            </a:r>
          </a:p>
          <a:p>
            <a:pPr lvl="0" algn="ctr">
              <a:lnSpc>
                <a:spcPct val="114000"/>
              </a:lnSpc>
              <a:spcAft>
                <a:spcPts val="600"/>
              </a:spcAft>
              <a:defRPr/>
            </a:pPr>
            <a:r>
              <a:rPr lang="en-US" sz="1000" b="1" dirty="0">
                <a:solidFill>
                  <a:prstClr val="black"/>
                </a:solidFill>
              </a:rPr>
              <a:t> - Industry Source, March 2020</a:t>
            </a:r>
          </a:p>
        </p:txBody>
      </p:sp>
      <p:sp>
        <p:nvSpPr>
          <p:cNvPr id="498" name="Freeform 3"/>
          <p:cNvSpPr>
            <a:spLocks/>
          </p:cNvSpPr>
          <p:nvPr/>
        </p:nvSpPr>
        <p:spPr bwMode="gray">
          <a:xfrm>
            <a:off x="449625" y="5949902"/>
            <a:ext cx="4735625" cy="1109588"/>
          </a:xfrm>
          <a:custGeom>
            <a:avLst/>
            <a:gdLst/>
            <a:ahLst/>
            <a:cxnLst>
              <a:cxn ang="0">
                <a:pos x="222" y="20"/>
              </a:cxn>
              <a:cxn ang="0">
                <a:pos x="476" y="6"/>
              </a:cxn>
              <a:cxn ang="0">
                <a:pos x="671" y="35"/>
              </a:cxn>
              <a:cxn ang="0">
                <a:pos x="901" y="27"/>
              </a:cxn>
              <a:cxn ang="0">
                <a:pos x="1105" y="7"/>
              </a:cxn>
              <a:cxn ang="0">
                <a:pos x="1351" y="13"/>
              </a:cxn>
              <a:cxn ang="0">
                <a:pos x="1750" y="16"/>
              </a:cxn>
              <a:cxn ang="0">
                <a:pos x="1962" y="33"/>
              </a:cxn>
              <a:cxn ang="0">
                <a:pos x="2433" y="23"/>
              </a:cxn>
              <a:cxn ang="0">
                <a:pos x="2648" y="30"/>
              </a:cxn>
              <a:cxn ang="0">
                <a:pos x="3022" y="30"/>
              </a:cxn>
              <a:cxn ang="0">
                <a:pos x="3305" y="38"/>
              </a:cxn>
              <a:cxn ang="0">
                <a:pos x="3683" y="43"/>
              </a:cxn>
              <a:cxn ang="0">
                <a:pos x="3921" y="44"/>
              </a:cxn>
              <a:cxn ang="0">
                <a:pos x="4152" y="45"/>
              </a:cxn>
              <a:cxn ang="0">
                <a:pos x="4193" y="98"/>
              </a:cxn>
              <a:cxn ang="0">
                <a:pos x="4229" y="146"/>
              </a:cxn>
              <a:cxn ang="0">
                <a:pos x="4183" y="224"/>
              </a:cxn>
              <a:cxn ang="0">
                <a:pos x="4218" y="282"/>
              </a:cxn>
              <a:cxn ang="0">
                <a:pos x="4286" y="348"/>
              </a:cxn>
              <a:cxn ang="0">
                <a:pos x="4353" y="404"/>
              </a:cxn>
              <a:cxn ang="0">
                <a:pos x="4419" y="474"/>
              </a:cxn>
              <a:cxn ang="0">
                <a:pos x="4413" y="546"/>
              </a:cxn>
              <a:cxn ang="0">
                <a:pos x="4443" y="645"/>
              </a:cxn>
              <a:cxn ang="0">
                <a:pos x="4461" y="711"/>
              </a:cxn>
              <a:cxn ang="0">
                <a:pos x="4462" y="811"/>
              </a:cxn>
              <a:cxn ang="0">
                <a:pos x="4483" y="869"/>
              </a:cxn>
              <a:cxn ang="0">
                <a:pos x="4526" y="953"/>
              </a:cxn>
              <a:cxn ang="0">
                <a:pos x="4448" y="999"/>
              </a:cxn>
              <a:cxn ang="0">
                <a:pos x="4203" y="989"/>
              </a:cxn>
              <a:cxn ang="0">
                <a:pos x="3829" y="970"/>
              </a:cxn>
              <a:cxn ang="0">
                <a:pos x="3619" y="991"/>
              </a:cxn>
              <a:cxn ang="0">
                <a:pos x="3434" y="1006"/>
              </a:cxn>
              <a:cxn ang="0">
                <a:pos x="3180" y="1017"/>
              </a:cxn>
              <a:cxn ang="0">
                <a:pos x="2821" y="994"/>
              </a:cxn>
              <a:cxn ang="0">
                <a:pos x="2467" y="999"/>
              </a:cxn>
              <a:cxn ang="0">
                <a:pos x="2091" y="994"/>
              </a:cxn>
              <a:cxn ang="0">
                <a:pos x="1782" y="991"/>
              </a:cxn>
              <a:cxn ang="0">
                <a:pos x="1496" y="977"/>
              </a:cxn>
              <a:cxn ang="0">
                <a:pos x="1284" y="965"/>
              </a:cxn>
              <a:cxn ang="0">
                <a:pos x="907" y="976"/>
              </a:cxn>
              <a:cxn ang="0">
                <a:pos x="483" y="966"/>
              </a:cxn>
              <a:cxn ang="0">
                <a:pos x="297" y="969"/>
              </a:cxn>
              <a:cxn ang="0">
                <a:pos x="285" y="922"/>
              </a:cxn>
              <a:cxn ang="0">
                <a:pos x="364" y="872"/>
              </a:cxn>
              <a:cxn ang="0">
                <a:pos x="324" y="814"/>
              </a:cxn>
              <a:cxn ang="0">
                <a:pos x="286" y="763"/>
              </a:cxn>
              <a:cxn ang="0">
                <a:pos x="289" y="701"/>
              </a:cxn>
              <a:cxn ang="0">
                <a:pos x="103" y="623"/>
              </a:cxn>
              <a:cxn ang="0">
                <a:pos x="158" y="566"/>
              </a:cxn>
              <a:cxn ang="0">
                <a:pos x="116" y="496"/>
              </a:cxn>
              <a:cxn ang="0">
                <a:pos x="74" y="435"/>
              </a:cxn>
              <a:cxn ang="0">
                <a:pos x="100" y="365"/>
              </a:cxn>
              <a:cxn ang="0">
                <a:pos x="87" y="306"/>
              </a:cxn>
              <a:cxn ang="0">
                <a:pos x="13" y="221"/>
              </a:cxn>
              <a:cxn ang="0">
                <a:pos x="21" y="159"/>
              </a:cxn>
              <a:cxn ang="0">
                <a:pos x="0" y="98"/>
              </a:cxn>
              <a:cxn ang="0">
                <a:pos x="28" y="35"/>
              </a:cxn>
            </a:cxnLst>
            <a:rect l="0" t="0" r="r" b="b"/>
            <a:pathLst>
              <a:path w="4537" h="1018">
                <a:moveTo>
                  <a:pt x="71" y="0"/>
                </a:moveTo>
                <a:lnTo>
                  <a:pt x="147" y="13"/>
                </a:lnTo>
                <a:lnTo>
                  <a:pt x="222" y="20"/>
                </a:lnTo>
                <a:lnTo>
                  <a:pt x="315" y="17"/>
                </a:lnTo>
                <a:lnTo>
                  <a:pt x="380" y="6"/>
                </a:lnTo>
                <a:lnTo>
                  <a:pt x="476" y="6"/>
                </a:lnTo>
                <a:lnTo>
                  <a:pt x="547" y="11"/>
                </a:lnTo>
                <a:lnTo>
                  <a:pt x="597" y="30"/>
                </a:lnTo>
                <a:lnTo>
                  <a:pt x="671" y="35"/>
                </a:lnTo>
                <a:lnTo>
                  <a:pt x="760" y="31"/>
                </a:lnTo>
                <a:lnTo>
                  <a:pt x="830" y="26"/>
                </a:lnTo>
                <a:lnTo>
                  <a:pt x="901" y="27"/>
                </a:lnTo>
                <a:lnTo>
                  <a:pt x="996" y="21"/>
                </a:lnTo>
                <a:lnTo>
                  <a:pt x="1034" y="4"/>
                </a:lnTo>
                <a:lnTo>
                  <a:pt x="1105" y="7"/>
                </a:lnTo>
                <a:lnTo>
                  <a:pt x="1203" y="7"/>
                </a:lnTo>
                <a:lnTo>
                  <a:pt x="1274" y="6"/>
                </a:lnTo>
                <a:lnTo>
                  <a:pt x="1351" y="13"/>
                </a:lnTo>
                <a:lnTo>
                  <a:pt x="1511" y="14"/>
                </a:lnTo>
                <a:lnTo>
                  <a:pt x="1651" y="16"/>
                </a:lnTo>
                <a:lnTo>
                  <a:pt x="1750" y="16"/>
                </a:lnTo>
                <a:lnTo>
                  <a:pt x="1818" y="16"/>
                </a:lnTo>
                <a:lnTo>
                  <a:pt x="1891" y="31"/>
                </a:lnTo>
                <a:lnTo>
                  <a:pt x="1962" y="33"/>
                </a:lnTo>
                <a:lnTo>
                  <a:pt x="2103" y="31"/>
                </a:lnTo>
                <a:lnTo>
                  <a:pt x="2242" y="27"/>
                </a:lnTo>
                <a:lnTo>
                  <a:pt x="2433" y="23"/>
                </a:lnTo>
                <a:lnTo>
                  <a:pt x="2503" y="18"/>
                </a:lnTo>
                <a:lnTo>
                  <a:pt x="2574" y="20"/>
                </a:lnTo>
                <a:lnTo>
                  <a:pt x="2648" y="30"/>
                </a:lnTo>
                <a:lnTo>
                  <a:pt x="2740" y="37"/>
                </a:lnTo>
                <a:lnTo>
                  <a:pt x="2878" y="33"/>
                </a:lnTo>
                <a:lnTo>
                  <a:pt x="3022" y="30"/>
                </a:lnTo>
                <a:lnTo>
                  <a:pt x="3160" y="26"/>
                </a:lnTo>
                <a:lnTo>
                  <a:pt x="3231" y="26"/>
                </a:lnTo>
                <a:lnTo>
                  <a:pt x="3305" y="38"/>
                </a:lnTo>
                <a:lnTo>
                  <a:pt x="3403" y="47"/>
                </a:lnTo>
                <a:lnTo>
                  <a:pt x="3594" y="45"/>
                </a:lnTo>
                <a:lnTo>
                  <a:pt x="3683" y="43"/>
                </a:lnTo>
                <a:lnTo>
                  <a:pt x="3752" y="41"/>
                </a:lnTo>
                <a:lnTo>
                  <a:pt x="3847" y="44"/>
                </a:lnTo>
                <a:lnTo>
                  <a:pt x="3921" y="44"/>
                </a:lnTo>
                <a:lnTo>
                  <a:pt x="3989" y="40"/>
                </a:lnTo>
                <a:lnTo>
                  <a:pt x="4084" y="40"/>
                </a:lnTo>
                <a:lnTo>
                  <a:pt x="4152" y="45"/>
                </a:lnTo>
                <a:lnTo>
                  <a:pt x="4204" y="64"/>
                </a:lnTo>
                <a:lnTo>
                  <a:pt x="4215" y="79"/>
                </a:lnTo>
                <a:lnTo>
                  <a:pt x="4193" y="98"/>
                </a:lnTo>
                <a:lnTo>
                  <a:pt x="4173" y="115"/>
                </a:lnTo>
                <a:lnTo>
                  <a:pt x="4198" y="130"/>
                </a:lnTo>
                <a:lnTo>
                  <a:pt x="4229" y="146"/>
                </a:lnTo>
                <a:lnTo>
                  <a:pt x="4211" y="163"/>
                </a:lnTo>
                <a:lnTo>
                  <a:pt x="4173" y="209"/>
                </a:lnTo>
                <a:lnTo>
                  <a:pt x="4183" y="224"/>
                </a:lnTo>
                <a:lnTo>
                  <a:pt x="4210" y="241"/>
                </a:lnTo>
                <a:lnTo>
                  <a:pt x="4214" y="258"/>
                </a:lnTo>
                <a:lnTo>
                  <a:pt x="4218" y="282"/>
                </a:lnTo>
                <a:lnTo>
                  <a:pt x="4232" y="315"/>
                </a:lnTo>
                <a:lnTo>
                  <a:pt x="4235" y="333"/>
                </a:lnTo>
                <a:lnTo>
                  <a:pt x="4286" y="348"/>
                </a:lnTo>
                <a:lnTo>
                  <a:pt x="4342" y="365"/>
                </a:lnTo>
                <a:lnTo>
                  <a:pt x="4348" y="389"/>
                </a:lnTo>
                <a:lnTo>
                  <a:pt x="4353" y="404"/>
                </a:lnTo>
                <a:lnTo>
                  <a:pt x="4335" y="428"/>
                </a:lnTo>
                <a:lnTo>
                  <a:pt x="4339" y="451"/>
                </a:lnTo>
                <a:lnTo>
                  <a:pt x="4419" y="474"/>
                </a:lnTo>
                <a:lnTo>
                  <a:pt x="4452" y="509"/>
                </a:lnTo>
                <a:lnTo>
                  <a:pt x="4433" y="532"/>
                </a:lnTo>
                <a:lnTo>
                  <a:pt x="4413" y="546"/>
                </a:lnTo>
                <a:lnTo>
                  <a:pt x="4395" y="565"/>
                </a:lnTo>
                <a:lnTo>
                  <a:pt x="4431" y="608"/>
                </a:lnTo>
                <a:lnTo>
                  <a:pt x="4443" y="645"/>
                </a:lnTo>
                <a:lnTo>
                  <a:pt x="4447" y="660"/>
                </a:lnTo>
                <a:lnTo>
                  <a:pt x="4456" y="694"/>
                </a:lnTo>
                <a:lnTo>
                  <a:pt x="4461" y="711"/>
                </a:lnTo>
                <a:lnTo>
                  <a:pt x="4473" y="756"/>
                </a:lnTo>
                <a:lnTo>
                  <a:pt x="4452" y="772"/>
                </a:lnTo>
                <a:lnTo>
                  <a:pt x="4462" y="811"/>
                </a:lnTo>
                <a:lnTo>
                  <a:pt x="4472" y="828"/>
                </a:lnTo>
                <a:lnTo>
                  <a:pt x="4498" y="851"/>
                </a:lnTo>
                <a:lnTo>
                  <a:pt x="4483" y="869"/>
                </a:lnTo>
                <a:lnTo>
                  <a:pt x="4487" y="885"/>
                </a:lnTo>
                <a:lnTo>
                  <a:pt x="4494" y="908"/>
                </a:lnTo>
                <a:lnTo>
                  <a:pt x="4526" y="953"/>
                </a:lnTo>
                <a:lnTo>
                  <a:pt x="4536" y="976"/>
                </a:lnTo>
                <a:lnTo>
                  <a:pt x="4519" y="991"/>
                </a:lnTo>
                <a:lnTo>
                  <a:pt x="4448" y="999"/>
                </a:lnTo>
                <a:lnTo>
                  <a:pt x="4380" y="1013"/>
                </a:lnTo>
                <a:lnTo>
                  <a:pt x="4279" y="1001"/>
                </a:lnTo>
                <a:lnTo>
                  <a:pt x="4203" y="989"/>
                </a:lnTo>
                <a:lnTo>
                  <a:pt x="4062" y="979"/>
                </a:lnTo>
                <a:lnTo>
                  <a:pt x="3990" y="972"/>
                </a:lnTo>
                <a:lnTo>
                  <a:pt x="3829" y="970"/>
                </a:lnTo>
                <a:lnTo>
                  <a:pt x="3762" y="974"/>
                </a:lnTo>
                <a:lnTo>
                  <a:pt x="3690" y="984"/>
                </a:lnTo>
                <a:lnTo>
                  <a:pt x="3619" y="991"/>
                </a:lnTo>
                <a:lnTo>
                  <a:pt x="3577" y="1006"/>
                </a:lnTo>
                <a:lnTo>
                  <a:pt x="3508" y="1013"/>
                </a:lnTo>
                <a:lnTo>
                  <a:pt x="3434" y="1006"/>
                </a:lnTo>
                <a:lnTo>
                  <a:pt x="3365" y="999"/>
                </a:lnTo>
                <a:lnTo>
                  <a:pt x="3266" y="1004"/>
                </a:lnTo>
                <a:lnTo>
                  <a:pt x="3180" y="1017"/>
                </a:lnTo>
                <a:lnTo>
                  <a:pt x="3109" y="1014"/>
                </a:lnTo>
                <a:lnTo>
                  <a:pt x="3010" y="1008"/>
                </a:lnTo>
                <a:lnTo>
                  <a:pt x="2821" y="994"/>
                </a:lnTo>
                <a:lnTo>
                  <a:pt x="2630" y="991"/>
                </a:lnTo>
                <a:lnTo>
                  <a:pt x="2562" y="991"/>
                </a:lnTo>
                <a:lnTo>
                  <a:pt x="2467" y="999"/>
                </a:lnTo>
                <a:lnTo>
                  <a:pt x="2299" y="996"/>
                </a:lnTo>
                <a:lnTo>
                  <a:pt x="2160" y="994"/>
                </a:lnTo>
                <a:lnTo>
                  <a:pt x="2091" y="994"/>
                </a:lnTo>
                <a:lnTo>
                  <a:pt x="1949" y="991"/>
                </a:lnTo>
                <a:lnTo>
                  <a:pt x="1853" y="993"/>
                </a:lnTo>
                <a:lnTo>
                  <a:pt x="1782" y="991"/>
                </a:lnTo>
                <a:lnTo>
                  <a:pt x="1642" y="990"/>
                </a:lnTo>
                <a:lnTo>
                  <a:pt x="1570" y="979"/>
                </a:lnTo>
                <a:lnTo>
                  <a:pt x="1496" y="977"/>
                </a:lnTo>
                <a:lnTo>
                  <a:pt x="1432" y="987"/>
                </a:lnTo>
                <a:lnTo>
                  <a:pt x="1334" y="984"/>
                </a:lnTo>
                <a:lnTo>
                  <a:pt x="1284" y="965"/>
                </a:lnTo>
                <a:lnTo>
                  <a:pt x="1214" y="974"/>
                </a:lnTo>
                <a:lnTo>
                  <a:pt x="1051" y="976"/>
                </a:lnTo>
                <a:lnTo>
                  <a:pt x="907" y="976"/>
                </a:lnTo>
                <a:lnTo>
                  <a:pt x="770" y="982"/>
                </a:lnTo>
                <a:lnTo>
                  <a:pt x="679" y="973"/>
                </a:lnTo>
                <a:lnTo>
                  <a:pt x="483" y="966"/>
                </a:lnTo>
                <a:lnTo>
                  <a:pt x="414" y="970"/>
                </a:lnTo>
                <a:lnTo>
                  <a:pt x="350" y="987"/>
                </a:lnTo>
                <a:lnTo>
                  <a:pt x="297" y="969"/>
                </a:lnTo>
                <a:lnTo>
                  <a:pt x="268" y="953"/>
                </a:lnTo>
                <a:lnTo>
                  <a:pt x="262" y="938"/>
                </a:lnTo>
                <a:lnTo>
                  <a:pt x="285" y="922"/>
                </a:lnTo>
                <a:lnTo>
                  <a:pt x="349" y="904"/>
                </a:lnTo>
                <a:lnTo>
                  <a:pt x="368" y="888"/>
                </a:lnTo>
                <a:lnTo>
                  <a:pt x="364" y="872"/>
                </a:lnTo>
                <a:lnTo>
                  <a:pt x="335" y="854"/>
                </a:lnTo>
                <a:lnTo>
                  <a:pt x="332" y="831"/>
                </a:lnTo>
                <a:lnTo>
                  <a:pt x="324" y="814"/>
                </a:lnTo>
                <a:lnTo>
                  <a:pt x="320" y="799"/>
                </a:lnTo>
                <a:lnTo>
                  <a:pt x="314" y="780"/>
                </a:lnTo>
                <a:lnTo>
                  <a:pt x="286" y="763"/>
                </a:lnTo>
                <a:lnTo>
                  <a:pt x="280" y="739"/>
                </a:lnTo>
                <a:lnTo>
                  <a:pt x="299" y="725"/>
                </a:lnTo>
                <a:lnTo>
                  <a:pt x="289" y="701"/>
                </a:lnTo>
                <a:lnTo>
                  <a:pt x="135" y="657"/>
                </a:lnTo>
                <a:lnTo>
                  <a:pt x="112" y="641"/>
                </a:lnTo>
                <a:lnTo>
                  <a:pt x="103" y="623"/>
                </a:lnTo>
                <a:lnTo>
                  <a:pt x="123" y="606"/>
                </a:lnTo>
                <a:lnTo>
                  <a:pt x="165" y="587"/>
                </a:lnTo>
                <a:lnTo>
                  <a:pt x="158" y="566"/>
                </a:lnTo>
                <a:lnTo>
                  <a:pt x="149" y="543"/>
                </a:lnTo>
                <a:lnTo>
                  <a:pt x="144" y="522"/>
                </a:lnTo>
                <a:lnTo>
                  <a:pt x="116" y="496"/>
                </a:lnTo>
                <a:lnTo>
                  <a:pt x="109" y="477"/>
                </a:lnTo>
                <a:lnTo>
                  <a:pt x="78" y="452"/>
                </a:lnTo>
                <a:lnTo>
                  <a:pt x="74" y="435"/>
                </a:lnTo>
                <a:lnTo>
                  <a:pt x="85" y="396"/>
                </a:lnTo>
                <a:lnTo>
                  <a:pt x="106" y="380"/>
                </a:lnTo>
                <a:lnTo>
                  <a:pt x="100" y="365"/>
                </a:lnTo>
                <a:lnTo>
                  <a:pt x="98" y="345"/>
                </a:lnTo>
                <a:lnTo>
                  <a:pt x="93" y="328"/>
                </a:lnTo>
                <a:lnTo>
                  <a:pt x="87" y="306"/>
                </a:lnTo>
                <a:lnTo>
                  <a:pt x="47" y="261"/>
                </a:lnTo>
                <a:lnTo>
                  <a:pt x="20" y="238"/>
                </a:lnTo>
                <a:lnTo>
                  <a:pt x="13" y="221"/>
                </a:lnTo>
                <a:lnTo>
                  <a:pt x="8" y="199"/>
                </a:lnTo>
                <a:lnTo>
                  <a:pt x="32" y="182"/>
                </a:lnTo>
                <a:lnTo>
                  <a:pt x="21" y="159"/>
                </a:lnTo>
                <a:lnTo>
                  <a:pt x="10" y="136"/>
                </a:lnTo>
                <a:lnTo>
                  <a:pt x="10" y="122"/>
                </a:lnTo>
                <a:lnTo>
                  <a:pt x="0" y="98"/>
                </a:lnTo>
                <a:lnTo>
                  <a:pt x="22" y="77"/>
                </a:lnTo>
                <a:lnTo>
                  <a:pt x="15" y="58"/>
                </a:lnTo>
                <a:lnTo>
                  <a:pt x="28" y="35"/>
                </a:lnTo>
                <a:lnTo>
                  <a:pt x="7" y="17"/>
                </a:lnTo>
                <a:lnTo>
                  <a:pt x="71" y="0"/>
                </a:lnTo>
              </a:path>
            </a:pathLst>
          </a:custGeom>
          <a:gradFill flip="none" rotWithShape="1">
            <a:gsLst>
              <a:gs pos="75000">
                <a:srgbClr val="FFDB69">
                  <a:tint val="66000"/>
                  <a:satMod val="160000"/>
                  <a:alpha val="58000"/>
                </a:srgbClr>
              </a:gs>
              <a:gs pos="61000">
                <a:srgbClr val="FFDB69">
                  <a:tint val="44500"/>
                  <a:satMod val="160000"/>
                  <a:alpha val="73000"/>
                </a:srgbClr>
              </a:gs>
              <a:gs pos="100000">
                <a:srgbClr val="FFDB69">
                  <a:tint val="23500"/>
                  <a:satMod val="160000"/>
                  <a:alpha val="80000"/>
                </a:srgbClr>
              </a:gs>
            </a:gsLst>
            <a:lin ang="0" scaled="1"/>
            <a:tileRect/>
          </a:gradFill>
          <a:ln w="9525" cap="rnd" cmpd="sng">
            <a:noFill/>
            <a:prstDash val="solid"/>
            <a:round/>
            <a:headEnd type="none" w="med" len="med"/>
            <a:tailEnd type="none" w="med" len="med"/>
          </a:ln>
          <a:effectLst>
            <a:outerShdw blurRad="50800" dist="38100" dir="2700000" algn="tl" rotWithShape="0">
              <a:prstClr val="black">
                <a:alpha val="40000"/>
              </a:prstClr>
            </a:outerShdw>
          </a:effectLst>
        </p:spPr>
        <p:txBody>
          <a:bodyPr lIns="360000" tIns="72000" rIns="324000" bIns="72000" anchor="ctr"/>
          <a:lstStyle/>
          <a:p>
            <a:pPr marL="171450" lvl="0" indent="-171450">
              <a:lnSpc>
                <a:spcPct val="114000"/>
              </a:lnSpc>
              <a:spcAft>
                <a:spcPts val="600"/>
              </a:spcAft>
              <a:buFont typeface="Arial" panose="020B0604020202020204" pitchFamily="34" charset="0"/>
              <a:buChar char="•"/>
              <a:defRPr/>
            </a:pPr>
            <a:r>
              <a:rPr lang="en-US" sz="1000" dirty="0">
                <a:solidFill>
                  <a:prstClr val="black"/>
                </a:solidFill>
              </a:rPr>
              <a:t>Overloading rendered 1,023 transformers non-functional in June last year. </a:t>
            </a:r>
          </a:p>
          <a:p>
            <a:pPr marL="171450" lvl="0" indent="-171450">
              <a:lnSpc>
                <a:spcPct val="114000"/>
              </a:lnSpc>
              <a:spcAft>
                <a:spcPts val="600"/>
              </a:spcAft>
              <a:buFont typeface="Arial" panose="020B0604020202020204" pitchFamily="34" charset="0"/>
              <a:buChar char="•"/>
              <a:defRPr/>
            </a:pPr>
            <a:r>
              <a:rPr lang="en-US" sz="1000" dirty="0">
                <a:solidFill>
                  <a:prstClr val="black"/>
                </a:solidFill>
              </a:rPr>
              <a:t>As many as 1,535 other transformers got burnt the same month hampering power distribution in many areas.</a:t>
            </a:r>
          </a:p>
          <a:p>
            <a:pPr lvl="0" algn="r">
              <a:lnSpc>
                <a:spcPct val="114000"/>
              </a:lnSpc>
              <a:spcAft>
                <a:spcPts val="600"/>
              </a:spcAft>
              <a:defRPr/>
            </a:pPr>
            <a:r>
              <a:rPr lang="en-US" sz="1000" b="1" dirty="0">
                <a:solidFill>
                  <a:prstClr val="black"/>
                </a:solidFill>
                <a:latin typeface="Verdana"/>
              </a:rPr>
              <a:t>- Power Cell Official, March 2020</a:t>
            </a:r>
          </a:p>
        </p:txBody>
      </p:sp>
    </p:spTree>
    <p:extLst>
      <p:ext uri="{BB962C8B-B14F-4D97-AF65-F5344CB8AC3E}">
        <p14:creationId xmlns:p14="http://schemas.microsoft.com/office/powerpoint/2010/main" val="4151228845"/>
      </p:ext>
    </p:extLst>
  </p:cSld>
  <p:clrMapOvr>
    <a:masterClrMapping/>
  </p:clrMapOvr>
  <p:transition>
    <p:fade/>
  </p:transition>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 name="Object 17" hidden="1"/>
          <p:cNvGraphicFramePr>
            <a:graphicFrameLocks noChangeAspect="1"/>
          </p:cNvGraphicFramePr>
          <p:nvPr>
            <p:custDataLst>
              <p:tags r:id="rId1"/>
            </p:custDataLst>
            <p:extLst>
              <p:ext uri="{D42A27DB-BD31-4B8C-83A1-F6EECF244321}">
                <p14:modId xmlns:p14="http://schemas.microsoft.com/office/powerpoint/2010/main" val="110561385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18" name="Object 17"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8" name="Rectangle 7"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Electricity Transmission | Major Ongoing Development Projects</a:t>
            </a:r>
            <a:endParaRPr lang="en-IN" dirty="0"/>
          </a:p>
        </p:txBody>
      </p:sp>
      <p:sp>
        <p:nvSpPr>
          <p:cNvPr id="3"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dirty="0">
                <a:solidFill>
                  <a:prstClr val="black">
                    <a:lumMod val="50000"/>
                    <a:lumOff val="50000"/>
                  </a:prstClr>
                </a:solidFill>
                <a:latin typeface="Verdana" panose="020B0604030504040204" pitchFamily="34" charset="0"/>
              </a:rPr>
              <a:t>Bangladesh is implementing major transmission projects to increase connectivity in the western region and also increasing capacity for power import &amp; cluster based generation projects</a:t>
            </a:r>
            <a:endPar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4" name="Table 3"/>
          <p:cNvGraphicFramePr>
            <a:graphicFrameLocks noGrp="1"/>
          </p:cNvGraphicFramePr>
          <p:nvPr>
            <p:custDataLst>
              <p:tags r:id="rId3"/>
            </p:custDataLst>
            <p:extLst>
              <p:ext uri="{D42A27DB-BD31-4B8C-83A1-F6EECF244321}">
                <p14:modId xmlns:p14="http://schemas.microsoft.com/office/powerpoint/2010/main" val="367056404"/>
              </p:ext>
            </p:extLst>
          </p:nvPr>
        </p:nvGraphicFramePr>
        <p:xfrm>
          <a:off x="449992" y="1961918"/>
          <a:ext cx="9790971" cy="723655"/>
        </p:xfrm>
        <a:graphic>
          <a:graphicData uri="http://schemas.openxmlformats.org/drawingml/2006/table">
            <a:tbl>
              <a:tblPr firstRow="1" bandRow="1">
                <a:tableStyleId>{5C22544A-7EE6-4342-B048-85BDC9FD1C3A}</a:tableStyleId>
              </a:tblPr>
              <a:tblGrid>
                <a:gridCol w="9790971">
                  <a:extLst>
                    <a:ext uri="{9D8B030D-6E8A-4147-A177-3AD203B41FA5}">
                      <a16:colId xmlns:a16="http://schemas.microsoft.com/office/drawing/2014/main" val="20000"/>
                    </a:ext>
                  </a:extLst>
                </a:gridCol>
              </a:tblGrid>
              <a:tr h="723655">
                <a:tc>
                  <a:txBody>
                    <a:bodyPr/>
                    <a:lstStyle/>
                    <a:p>
                      <a:pPr marL="0" indent="0" algn="ctr">
                        <a:spcBef>
                          <a:spcPts val="600"/>
                        </a:spcBef>
                        <a:spcAft>
                          <a:spcPts val="600"/>
                        </a:spcAft>
                        <a:buFont typeface="Arial" panose="020B0604020202020204" pitchFamily="34" charset="0"/>
                        <a:buNone/>
                      </a:pPr>
                      <a:r>
                        <a:rPr lang="en-US" sz="1000" b="1" baseline="0" dirty="0">
                          <a:solidFill>
                            <a:schemeClr val="tx1"/>
                          </a:solidFill>
                        </a:rPr>
                        <a:t>Some of the major Transmission Expansion Projects</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pic>
        <p:nvPicPr>
          <p:cNvPr id="6" name="Picture 5"/>
          <p:cNvPicPr>
            <a:picLocks noChangeAspect="1"/>
          </p:cNvPicPr>
          <p:nvPr/>
        </p:nvPicPr>
        <p:blipFill>
          <a:blip r:embed="rId7"/>
          <a:stretch>
            <a:fillRect/>
          </a:stretch>
        </p:blipFill>
        <p:spPr>
          <a:xfrm>
            <a:off x="3087847" y="2339037"/>
            <a:ext cx="4433093" cy="4687517"/>
          </a:xfrm>
          <a:prstGeom prst="rect">
            <a:avLst/>
          </a:prstGeom>
        </p:spPr>
      </p:pic>
      <p:sp>
        <p:nvSpPr>
          <p:cNvPr id="5" name="Oval 4"/>
          <p:cNvSpPr/>
          <p:nvPr/>
        </p:nvSpPr>
        <p:spPr bwMode="gray">
          <a:xfrm>
            <a:off x="3087847" y="3703320"/>
            <a:ext cx="297180" cy="297180"/>
          </a:xfrm>
          <a:prstGeom prst="ellipse">
            <a:avLst/>
          </a:prstGeom>
          <a:solidFill>
            <a:schemeClr val="accent1"/>
          </a:solidFill>
          <a:ln>
            <a:solidFill>
              <a:schemeClr val="accent1"/>
            </a:solidFill>
            <a:headEnd/>
            <a:tailEnd/>
          </a:ln>
        </p:spPr>
        <p:style>
          <a:lnRef idx="2">
            <a:schemeClr val="accent1">
              <a:shade val="50000"/>
            </a:schemeClr>
          </a:lnRef>
          <a:fillRef idx="1">
            <a:schemeClr val="accent1"/>
          </a:fillRef>
          <a:effectRef idx="0">
            <a:schemeClr val="accent1"/>
          </a:effectRef>
          <a:fontRef idx="minor">
            <a:schemeClr val="lt1"/>
          </a:fontRef>
        </p:style>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7" name="Line Callout 2 (No Border) 6"/>
          <p:cNvSpPr/>
          <p:nvPr/>
        </p:nvSpPr>
        <p:spPr bwMode="gray">
          <a:xfrm flipH="1">
            <a:off x="367824" y="2666583"/>
            <a:ext cx="2238216" cy="583407"/>
          </a:xfrm>
          <a:prstGeom prst="callout2">
            <a:avLst>
              <a:gd name="adj1" fmla="val 18750"/>
              <a:gd name="adj2" fmla="val -8333"/>
              <a:gd name="adj3" fmla="val 18750"/>
              <a:gd name="adj4" fmla="val -16667"/>
              <a:gd name="adj5" fmla="val 198704"/>
              <a:gd name="adj6" fmla="val -23916"/>
            </a:avLst>
          </a:prstGeom>
          <a:solidFill>
            <a:schemeClr val="accent1">
              <a:alpha val="14000"/>
            </a:schemeClr>
          </a:solidFill>
          <a:ln w="19050" algn="ctr">
            <a:solidFill>
              <a:schemeClr val="accent1"/>
            </a:solidFill>
            <a:miter lim="800000"/>
            <a:headEnd/>
            <a:tailEnd/>
          </a:ln>
        </p:spPr>
        <p:txBody>
          <a:bodyPr wrap="square" lIns="88900" tIns="88900" rIns="88900" bIns="88900" rtlCol="0" anchor="ctr"/>
          <a:lstStyle/>
          <a:p>
            <a:pPr>
              <a:lnSpc>
                <a:spcPct val="106000"/>
              </a:lnSpc>
              <a:buFont typeface="Wingdings 2" pitchFamily="18" charset="2"/>
              <a:buNone/>
            </a:pPr>
            <a:r>
              <a:rPr lang="en-US" sz="800" dirty="0"/>
              <a:t>Construction of Rahanpur to Monakasha Border 400kV Transmission Line to Import Power from India (Jharkhand) to Bangladesh (28 Kms)</a:t>
            </a:r>
          </a:p>
        </p:txBody>
      </p:sp>
      <p:sp>
        <p:nvSpPr>
          <p:cNvPr id="24" name="Oval 23"/>
          <p:cNvSpPr/>
          <p:nvPr/>
        </p:nvSpPr>
        <p:spPr bwMode="gray">
          <a:xfrm rot="19668287">
            <a:off x="3819013" y="3495307"/>
            <a:ext cx="653159" cy="2680678"/>
          </a:xfrm>
          <a:prstGeom prst="ellipse">
            <a:avLst/>
          </a:prstGeom>
          <a:solidFill>
            <a:schemeClr val="accent5">
              <a:alpha val="23000"/>
            </a:schemeClr>
          </a:solidFill>
          <a:ln>
            <a:solidFill>
              <a:schemeClr val="accent5"/>
            </a:solidFill>
            <a:headEnd/>
            <a:tailEnd/>
          </a:ln>
        </p:spPr>
        <p:style>
          <a:lnRef idx="2">
            <a:schemeClr val="accent1">
              <a:shade val="50000"/>
            </a:schemeClr>
          </a:lnRef>
          <a:fillRef idx="1">
            <a:schemeClr val="accent1"/>
          </a:fillRef>
          <a:effectRef idx="0">
            <a:schemeClr val="accent1"/>
          </a:effectRef>
          <a:fontRef idx="minor">
            <a:schemeClr val="lt1"/>
          </a:fontRef>
        </p:style>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5" name="Line Callout 2 (No Border) 24"/>
          <p:cNvSpPr/>
          <p:nvPr/>
        </p:nvSpPr>
        <p:spPr bwMode="gray">
          <a:xfrm flipH="1">
            <a:off x="367824" y="6116942"/>
            <a:ext cx="2238216" cy="583407"/>
          </a:xfrm>
          <a:prstGeom prst="callout2">
            <a:avLst>
              <a:gd name="adj1" fmla="val 18750"/>
              <a:gd name="adj2" fmla="val -8333"/>
              <a:gd name="adj3" fmla="val 18750"/>
              <a:gd name="adj4" fmla="val -16667"/>
              <a:gd name="adj5" fmla="val -83418"/>
              <a:gd name="adj6" fmla="val -76516"/>
            </a:avLst>
          </a:prstGeom>
          <a:solidFill>
            <a:schemeClr val="accent5">
              <a:alpha val="12000"/>
            </a:schemeClr>
          </a:solidFill>
          <a:ln w="19050" algn="ctr">
            <a:solidFill>
              <a:schemeClr val="accent5"/>
            </a:solidFill>
            <a:miter lim="800000"/>
            <a:headEnd/>
            <a:tailEnd/>
          </a:ln>
        </p:spPr>
        <p:txBody>
          <a:bodyPr wrap="square" lIns="88900" tIns="88900" rIns="88900" bIns="88900" rtlCol="0" anchor="ctr"/>
          <a:lstStyle/>
          <a:p>
            <a:pPr>
              <a:lnSpc>
                <a:spcPct val="106000"/>
              </a:lnSpc>
              <a:buFont typeface="Wingdings 2" pitchFamily="18" charset="2"/>
              <a:buNone/>
            </a:pPr>
            <a:r>
              <a:rPr lang="en-US" sz="800" dirty="0"/>
              <a:t>Southwest Transmission Grid Expansion Project (For Barisal &amp; Rajshahi) – 132kV to 400 kV lines</a:t>
            </a:r>
          </a:p>
        </p:txBody>
      </p:sp>
      <p:sp>
        <p:nvSpPr>
          <p:cNvPr id="27" name="Line Callout 2 (No Border) 26"/>
          <p:cNvSpPr/>
          <p:nvPr/>
        </p:nvSpPr>
        <p:spPr bwMode="gray">
          <a:xfrm>
            <a:off x="7933245" y="2846190"/>
            <a:ext cx="2238216" cy="583407"/>
          </a:xfrm>
          <a:prstGeom prst="callout2">
            <a:avLst>
              <a:gd name="adj1" fmla="val 18750"/>
              <a:gd name="adj2" fmla="val -8333"/>
              <a:gd name="adj3" fmla="val 18750"/>
              <a:gd name="adj4" fmla="val -16667"/>
              <a:gd name="adj5" fmla="val 320174"/>
              <a:gd name="adj6" fmla="val -77027"/>
            </a:avLst>
          </a:prstGeom>
          <a:solidFill>
            <a:schemeClr val="accent4">
              <a:alpha val="16000"/>
            </a:schemeClr>
          </a:solidFill>
          <a:ln w="19050" algn="ctr">
            <a:solidFill>
              <a:schemeClr val="accent4"/>
            </a:solidFill>
            <a:miter lim="800000"/>
            <a:headEnd/>
            <a:tailEnd/>
          </a:ln>
        </p:spPr>
        <p:txBody>
          <a:bodyPr wrap="square" lIns="88900" tIns="88900" rIns="88900" bIns="88900" rtlCol="0" anchor="ctr"/>
          <a:lstStyle/>
          <a:p>
            <a:pPr>
              <a:lnSpc>
                <a:spcPct val="106000"/>
              </a:lnSpc>
              <a:buFont typeface="Wingdings 2" pitchFamily="18" charset="2"/>
              <a:buNone/>
            </a:pPr>
            <a:r>
              <a:rPr lang="en-US" sz="800" dirty="0"/>
              <a:t>Construction of 500 MW HVDC Back to Back Station from Tripura to Comilla</a:t>
            </a:r>
          </a:p>
        </p:txBody>
      </p:sp>
      <p:sp>
        <p:nvSpPr>
          <p:cNvPr id="28" name="Oval 27"/>
          <p:cNvSpPr/>
          <p:nvPr/>
        </p:nvSpPr>
        <p:spPr bwMode="gray">
          <a:xfrm>
            <a:off x="6008486" y="4693638"/>
            <a:ext cx="297180" cy="297180"/>
          </a:xfrm>
          <a:prstGeom prst="ellipse">
            <a:avLst/>
          </a:prstGeom>
          <a:solidFill>
            <a:schemeClr val="accent4"/>
          </a:solidFill>
          <a:ln>
            <a:solidFill>
              <a:schemeClr val="accent4"/>
            </a:solidFill>
            <a:headEnd/>
            <a:tailEnd/>
          </a:ln>
        </p:spPr>
        <p:style>
          <a:lnRef idx="2">
            <a:schemeClr val="accent1">
              <a:shade val="50000"/>
            </a:schemeClr>
          </a:lnRef>
          <a:fillRef idx="1">
            <a:schemeClr val="accent1"/>
          </a:fillRef>
          <a:effectRef idx="0">
            <a:schemeClr val="accent1"/>
          </a:effectRef>
          <a:fontRef idx="minor">
            <a:schemeClr val="lt1"/>
          </a:fontRef>
        </p:style>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0" name="Line Callout 2 (No Border) 29"/>
          <p:cNvSpPr/>
          <p:nvPr/>
        </p:nvSpPr>
        <p:spPr bwMode="gray">
          <a:xfrm flipH="1">
            <a:off x="367824" y="4173623"/>
            <a:ext cx="2320384" cy="583407"/>
          </a:xfrm>
          <a:prstGeom prst="callout2">
            <a:avLst>
              <a:gd name="adj1" fmla="val 18750"/>
              <a:gd name="adj2" fmla="val -8333"/>
              <a:gd name="adj3" fmla="val 18750"/>
              <a:gd name="adj4" fmla="val -16667"/>
              <a:gd name="adj5" fmla="val 16501"/>
              <a:gd name="adj6" fmla="val -43832"/>
            </a:avLst>
          </a:prstGeom>
          <a:solidFill>
            <a:schemeClr val="accent2">
              <a:alpha val="16000"/>
            </a:schemeClr>
          </a:solidFill>
          <a:ln w="19050" algn="ctr">
            <a:solidFill>
              <a:schemeClr val="accent2"/>
            </a:solidFill>
            <a:miter lim="800000"/>
            <a:headEnd/>
            <a:tailEnd/>
          </a:ln>
        </p:spPr>
        <p:txBody>
          <a:bodyPr wrap="square" lIns="88900" tIns="88900" rIns="88900" bIns="88900" rtlCol="0" anchor="ctr"/>
          <a:lstStyle/>
          <a:p>
            <a:pPr>
              <a:lnSpc>
                <a:spcPct val="106000"/>
              </a:lnSpc>
              <a:buFont typeface="Wingdings 2" pitchFamily="18" charset="2"/>
              <a:buNone/>
            </a:pPr>
            <a:r>
              <a:rPr lang="en-US" sz="800" dirty="0"/>
              <a:t>Evacuation for Roopur Nuclear Power Plant at 400 kV towards Dhaka</a:t>
            </a:r>
          </a:p>
        </p:txBody>
      </p:sp>
      <p:sp>
        <p:nvSpPr>
          <p:cNvPr id="31" name="Oval 30"/>
          <p:cNvSpPr/>
          <p:nvPr/>
        </p:nvSpPr>
        <p:spPr bwMode="gray">
          <a:xfrm rot="16200000">
            <a:off x="4226863" y="3599272"/>
            <a:ext cx="218819" cy="1408720"/>
          </a:xfrm>
          <a:prstGeom prst="ellipse">
            <a:avLst/>
          </a:prstGeom>
          <a:solidFill>
            <a:schemeClr val="accent2">
              <a:alpha val="23000"/>
            </a:schemeClr>
          </a:solidFill>
          <a:ln>
            <a:solidFill>
              <a:schemeClr val="accent2"/>
            </a:solidFill>
            <a:headEnd/>
            <a:tailEnd/>
          </a:ln>
        </p:spPr>
        <p:style>
          <a:lnRef idx="2">
            <a:schemeClr val="accent1">
              <a:shade val="50000"/>
            </a:schemeClr>
          </a:lnRef>
          <a:fillRef idx="1">
            <a:schemeClr val="accent1"/>
          </a:fillRef>
          <a:effectRef idx="0">
            <a:schemeClr val="accent1"/>
          </a:effectRef>
          <a:fontRef idx="minor">
            <a:schemeClr val="lt1"/>
          </a:fontRef>
        </p:style>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2" name="Line Callout 2 (No Border) 31"/>
          <p:cNvSpPr/>
          <p:nvPr/>
        </p:nvSpPr>
        <p:spPr bwMode="gray">
          <a:xfrm>
            <a:off x="7920578" y="5558545"/>
            <a:ext cx="2263551" cy="583407"/>
          </a:xfrm>
          <a:prstGeom prst="callout2">
            <a:avLst>
              <a:gd name="adj1" fmla="val 18750"/>
              <a:gd name="adj2" fmla="val -8333"/>
              <a:gd name="adj3" fmla="val 18750"/>
              <a:gd name="adj4" fmla="val -16667"/>
              <a:gd name="adj5" fmla="val -65785"/>
              <a:gd name="adj6" fmla="val -117881"/>
            </a:avLst>
          </a:prstGeom>
          <a:solidFill>
            <a:srgbClr val="00B0F0">
              <a:alpha val="12000"/>
            </a:srgbClr>
          </a:solidFill>
          <a:ln w="19050" algn="ctr">
            <a:solidFill>
              <a:srgbClr val="00B0F0"/>
            </a:solidFill>
            <a:miter lim="800000"/>
            <a:headEnd/>
            <a:tailEnd/>
          </a:ln>
        </p:spPr>
        <p:txBody>
          <a:bodyPr wrap="square" lIns="88900" tIns="88900" rIns="88900" bIns="88900" rtlCol="0" anchor="ctr"/>
          <a:lstStyle/>
          <a:p>
            <a:pPr>
              <a:lnSpc>
                <a:spcPct val="106000"/>
              </a:lnSpc>
              <a:buFont typeface="Wingdings 2" pitchFamily="18" charset="2"/>
              <a:buNone/>
            </a:pPr>
            <a:r>
              <a:rPr lang="en-US" sz="800" dirty="0"/>
              <a:t>Construction of Payra – Gopalgonj – Aminbazar 400 kV line &amp; substation</a:t>
            </a:r>
          </a:p>
        </p:txBody>
      </p:sp>
      <p:sp>
        <p:nvSpPr>
          <p:cNvPr id="34" name="Oval 33"/>
          <p:cNvSpPr/>
          <p:nvPr/>
        </p:nvSpPr>
        <p:spPr bwMode="gray">
          <a:xfrm>
            <a:off x="4949190" y="4194222"/>
            <a:ext cx="434340" cy="1806529"/>
          </a:xfrm>
          <a:prstGeom prst="ellipse">
            <a:avLst/>
          </a:prstGeom>
          <a:solidFill>
            <a:srgbClr val="00B0F0">
              <a:alpha val="23000"/>
            </a:srgbClr>
          </a:solidFill>
          <a:ln>
            <a:solidFill>
              <a:srgbClr val="00B0F0"/>
            </a:solidFill>
            <a:headEnd/>
            <a:tailEnd/>
          </a:ln>
        </p:spPr>
        <p:style>
          <a:lnRef idx="2">
            <a:schemeClr val="accent1">
              <a:shade val="50000"/>
            </a:schemeClr>
          </a:lnRef>
          <a:fillRef idx="1">
            <a:schemeClr val="accent1"/>
          </a:fillRef>
          <a:effectRef idx="0">
            <a:schemeClr val="accent1"/>
          </a:effectRef>
          <a:fontRef idx="minor">
            <a:schemeClr val="lt1"/>
          </a:fontRef>
        </p:style>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6" name="Oval 35"/>
          <p:cNvSpPr/>
          <p:nvPr/>
        </p:nvSpPr>
        <p:spPr bwMode="gray">
          <a:xfrm rot="19061056">
            <a:off x="5994255" y="4316728"/>
            <a:ext cx="466883" cy="1826482"/>
          </a:xfrm>
          <a:prstGeom prst="ellipse">
            <a:avLst/>
          </a:prstGeom>
          <a:solidFill>
            <a:schemeClr val="accent6">
              <a:alpha val="23000"/>
            </a:schemeClr>
          </a:solidFill>
          <a:ln>
            <a:solidFill>
              <a:schemeClr val="accent6"/>
            </a:solidFill>
            <a:headEnd/>
            <a:tailEnd/>
          </a:ln>
        </p:spPr>
        <p:style>
          <a:lnRef idx="2">
            <a:schemeClr val="accent1">
              <a:shade val="50000"/>
            </a:schemeClr>
          </a:lnRef>
          <a:fillRef idx="1">
            <a:schemeClr val="accent1"/>
          </a:fillRef>
          <a:effectRef idx="0">
            <a:schemeClr val="accent1"/>
          </a:effectRef>
          <a:fontRef idx="minor">
            <a:schemeClr val="lt1"/>
          </a:fontRef>
        </p:style>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8" name="Line Callout 2 (No Border) 37"/>
          <p:cNvSpPr/>
          <p:nvPr/>
        </p:nvSpPr>
        <p:spPr bwMode="gray">
          <a:xfrm>
            <a:off x="7920579" y="3990901"/>
            <a:ext cx="2238216" cy="583407"/>
          </a:xfrm>
          <a:prstGeom prst="callout2">
            <a:avLst>
              <a:gd name="adj1" fmla="val 18750"/>
              <a:gd name="adj2" fmla="val -8333"/>
              <a:gd name="adj3" fmla="val 18750"/>
              <a:gd name="adj4" fmla="val -16667"/>
              <a:gd name="adj5" fmla="val 196746"/>
              <a:gd name="adj6" fmla="val -65792"/>
            </a:avLst>
          </a:prstGeom>
          <a:solidFill>
            <a:schemeClr val="accent6">
              <a:alpha val="16000"/>
            </a:schemeClr>
          </a:solidFill>
          <a:ln w="19050" algn="ctr">
            <a:solidFill>
              <a:schemeClr val="accent6"/>
            </a:solidFill>
            <a:miter lim="800000"/>
            <a:headEnd/>
            <a:tailEnd/>
          </a:ln>
        </p:spPr>
        <p:txBody>
          <a:bodyPr wrap="square" lIns="88900" tIns="88900" rIns="88900" bIns="88900" rtlCol="0" anchor="ctr"/>
          <a:lstStyle/>
          <a:p>
            <a:pPr>
              <a:lnSpc>
                <a:spcPct val="106000"/>
              </a:lnSpc>
              <a:buFont typeface="Wingdings 2" pitchFamily="18" charset="2"/>
              <a:buNone/>
            </a:pPr>
            <a:r>
              <a:rPr lang="en-US" sz="800" dirty="0"/>
              <a:t>Moheshkali to Bulta (near Dhaka) Transmission Strengthening Projects for Coal / LNG based power plants</a:t>
            </a:r>
          </a:p>
        </p:txBody>
      </p:sp>
      <p:sp>
        <p:nvSpPr>
          <p:cNvPr id="39" name="Rectangle 38"/>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PGCB, Deloitte Analysis Note 1) Map not to scale</a:t>
            </a:r>
          </a:p>
        </p:txBody>
      </p:sp>
      <p:sp>
        <p:nvSpPr>
          <p:cNvPr id="9" name="Rectangle 8"/>
          <p:cNvSpPr/>
          <p:nvPr/>
        </p:nvSpPr>
        <p:spPr>
          <a:xfrm>
            <a:off x="3087847" y="7067769"/>
            <a:ext cx="6044578" cy="276999"/>
          </a:xfrm>
          <a:prstGeom prst="rect">
            <a:avLst/>
          </a:prstGeom>
        </p:spPr>
        <p:txBody>
          <a:bodyPr wrap="square">
            <a:spAutoFit/>
          </a:bodyPr>
          <a:lstStyle/>
          <a:p>
            <a:pPr>
              <a:spcBef>
                <a:spcPts val="600"/>
              </a:spcBef>
              <a:buSzPct val="100000"/>
            </a:pPr>
            <a:r>
              <a:rPr lang="en-GB" sz="1200" b="1" i="1" dirty="0">
                <a:solidFill>
                  <a:srgbClr val="313131"/>
                </a:solidFill>
              </a:rPr>
              <a:t>Note: List of Planned transmission lines is provided in the </a:t>
            </a:r>
            <a:r>
              <a:rPr lang="en-GB" sz="1200" b="1" i="1" dirty="0">
                <a:solidFill>
                  <a:srgbClr val="313131"/>
                </a:solidFill>
                <a:hlinkClick r:id="rId8" action="ppaction://hlinksldjump"/>
              </a:rPr>
              <a:t>Appendix</a:t>
            </a:r>
            <a:r>
              <a:rPr lang="en-GB" sz="1200" b="1" i="1" dirty="0">
                <a:solidFill>
                  <a:srgbClr val="313131"/>
                </a:solidFill>
              </a:rPr>
              <a:t> </a:t>
            </a:r>
          </a:p>
        </p:txBody>
      </p:sp>
    </p:spTree>
    <p:extLst>
      <p:ext uri="{BB962C8B-B14F-4D97-AF65-F5344CB8AC3E}">
        <p14:creationId xmlns:p14="http://schemas.microsoft.com/office/powerpoint/2010/main" val="3668088237"/>
      </p:ext>
    </p:extLst>
  </p:cSld>
  <p:clrMapOvr>
    <a:masterClrMapping/>
  </p:clrMapOvr>
  <p:transition>
    <p:fade/>
  </p:transition>
</p:sld>
</file>

<file path=ppt/slides/slide96.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40280856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US" sz="3898" b="1" u="none" strike="noStrike" kern="1200" cap="none" spc="0" normalizeH="0" noProof="0" dirty="0">
              <a:ln>
                <a:noFill/>
              </a:ln>
              <a:solidFill>
                <a:prstClr val="white"/>
              </a:solidFill>
              <a:effectLst/>
              <a:uLnTx/>
              <a:uFillTx/>
              <a:latin typeface="Verdana" panose="020B0604030504040204" pitchFamily="34" charset="0"/>
              <a:ea typeface="Open Sans" panose="020B0606030504020204" pitchFamily="34" charset="0"/>
              <a:cs typeface="Open Sans" panose="020B0606030504020204" pitchFamily="34" charset="0"/>
              <a:sym typeface="Verdana" panose="020B0604030504040204" pitchFamily="34" charset="0"/>
            </a:endParaRPr>
          </a:p>
        </p:txBody>
      </p:sp>
      <p:sp>
        <p:nvSpPr>
          <p:cNvPr id="2" name="Title 1"/>
          <p:cNvSpPr>
            <a:spLocks noGrp="1"/>
          </p:cNvSpPr>
          <p:nvPr>
            <p:ph type="title"/>
          </p:nvPr>
        </p:nvSpPr>
        <p:spPr>
          <a:xfrm>
            <a:off x="439925" y="1880184"/>
            <a:ext cx="9243963" cy="2147709"/>
          </a:xfrm>
        </p:spPr>
        <p:txBody>
          <a:bodyPr/>
          <a:lstStyle/>
          <a:p>
            <a:r>
              <a:rPr lang="en-US" dirty="0"/>
              <a:t>Electricity Transmission Plan for Nimbus</a:t>
            </a:r>
            <a:endParaRPr lang="en-IN" dirty="0"/>
          </a:p>
        </p:txBody>
      </p:sp>
    </p:spTree>
    <p:extLst>
      <p:ext uri="{BB962C8B-B14F-4D97-AF65-F5344CB8AC3E}">
        <p14:creationId xmlns:p14="http://schemas.microsoft.com/office/powerpoint/2010/main" val="837844036"/>
      </p:ext>
    </p:extLst>
  </p:cSld>
  <p:clrMapOvr>
    <a:masterClrMapping/>
  </p:clrMapOvr>
  <p:transition>
    <p:fade/>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201390068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3" name="Object 2"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129" name="Rectangle 128"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67" name="Table 66"/>
          <p:cNvGraphicFramePr>
            <a:graphicFrameLocks noGrp="1"/>
          </p:cNvGraphicFramePr>
          <p:nvPr>
            <p:custDataLst>
              <p:tags r:id="rId3"/>
            </p:custDataLst>
            <p:extLst>
              <p:ext uri="{D42A27DB-BD31-4B8C-83A1-F6EECF244321}">
                <p14:modId xmlns:p14="http://schemas.microsoft.com/office/powerpoint/2010/main" val="3411414137"/>
              </p:ext>
            </p:extLst>
          </p:nvPr>
        </p:nvGraphicFramePr>
        <p:xfrm>
          <a:off x="449993" y="1961918"/>
          <a:ext cx="4734896" cy="723655"/>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723655">
                <a:tc>
                  <a:txBody>
                    <a:bodyPr/>
                    <a:lstStyle/>
                    <a:p>
                      <a:pPr marL="0" indent="0" algn="just">
                        <a:spcBef>
                          <a:spcPts val="600"/>
                        </a:spcBef>
                        <a:spcAft>
                          <a:spcPts val="600"/>
                        </a:spcAft>
                        <a:buFont typeface="Arial" panose="020B0604020202020204" pitchFamily="34" charset="0"/>
                        <a:buNone/>
                      </a:pPr>
                      <a:r>
                        <a:rPr lang="en-US" sz="1000" b="1" baseline="0" dirty="0">
                          <a:solidFill>
                            <a:schemeClr val="tx1"/>
                          </a:solidFill>
                        </a:rPr>
                        <a:t>Current Transmission evacuation plan for NBBL</a:t>
                      </a:r>
                    </a:p>
                    <a:p>
                      <a:pPr marL="0" indent="0" algn="just">
                        <a:spcBef>
                          <a:spcPts val="600"/>
                        </a:spcBef>
                        <a:spcAft>
                          <a:spcPts val="600"/>
                        </a:spcAft>
                        <a:buFont typeface="Arial" panose="020B0604020202020204" pitchFamily="34" charset="0"/>
                        <a:buNone/>
                      </a:pPr>
                      <a:endParaRPr lang="en-US" sz="1000" b="1"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pSp>
        <p:nvGrpSpPr>
          <p:cNvPr id="68" name="Group 67"/>
          <p:cNvGrpSpPr/>
          <p:nvPr/>
        </p:nvGrpSpPr>
        <p:grpSpPr>
          <a:xfrm>
            <a:off x="5970680" y="2291028"/>
            <a:ext cx="3829646" cy="4652011"/>
            <a:chOff x="6399138" y="2285999"/>
            <a:chExt cx="3829646" cy="4652011"/>
          </a:xfrm>
        </p:grpSpPr>
        <p:pic>
          <p:nvPicPr>
            <p:cNvPr id="69" name="Picture 68"/>
            <p:cNvPicPr>
              <a:picLocks noChangeAspect="1"/>
            </p:cNvPicPr>
            <p:nvPr/>
          </p:nvPicPr>
          <p:blipFill rotWithShape="1">
            <a:blip r:embed="rId7"/>
            <a:srcRect r="25917" b="7836"/>
            <a:stretch/>
          </p:blipFill>
          <p:spPr>
            <a:xfrm>
              <a:off x="6399138" y="2285999"/>
              <a:ext cx="3756445" cy="4652011"/>
            </a:xfrm>
            <a:prstGeom prst="rect">
              <a:avLst/>
            </a:prstGeom>
          </p:spPr>
        </p:pic>
        <p:sp>
          <p:nvSpPr>
            <p:cNvPr id="70" name="Isosceles Triangle 69"/>
            <p:cNvSpPr/>
            <p:nvPr/>
          </p:nvSpPr>
          <p:spPr bwMode="gray">
            <a:xfrm>
              <a:off x="8770077" y="5381898"/>
              <a:ext cx="172740" cy="135901"/>
            </a:xfrm>
            <a:prstGeom prst="triangl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71" name="Isosceles Triangle 70"/>
            <p:cNvSpPr/>
            <p:nvPr/>
          </p:nvSpPr>
          <p:spPr bwMode="gray">
            <a:xfrm>
              <a:off x="7313742" y="6282840"/>
              <a:ext cx="172740" cy="135901"/>
            </a:xfrm>
            <a:prstGeom prst="triangl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72" name="Isosceles Triangle 71"/>
            <p:cNvSpPr/>
            <p:nvPr/>
          </p:nvSpPr>
          <p:spPr bwMode="gray">
            <a:xfrm>
              <a:off x="7673439" y="6012655"/>
              <a:ext cx="172740" cy="135901"/>
            </a:xfrm>
            <a:prstGeom prst="triangl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73" name="TextBox 72"/>
            <p:cNvSpPr txBox="1"/>
            <p:nvPr/>
          </p:nvSpPr>
          <p:spPr>
            <a:xfrm>
              <a:off x="9006950" y="5391903"/>
              <a:ext cx="877309" cy="153888"/>
            </a:xfrm>
            <a:prstGeom prst="rect">
              <a:avLst/>
            </a:prstGeom>
            <a:solidFill>
              <a:schemeClr val="bg1"/>
            </a:solid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Borhanuddin</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sp>
          <p:nvSpPr>
            <p:cNvPr id="74" name="TextBox 73"/>
            <p:cNvSpPr txBox="1"/>
            <p:nvPr/>
          </p:nvSpPr>
          <p:spPr>
            <a:xfrm>
              <a:off x="7892769" y="6012655"/>
              <a:ext cx="365748" cy="153888"/>
            </a:xfrm>
            <a:prstGeom prst="rect">
              <a:avLst/>
            </a:prstGeom>
            <a:solidFill>
              <a:schemeClr val="bg1"/>
            </a:solid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Payra</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sp>
          <p:nvSpPr>
            <p:cNvPr id="75" name="TextBox 74"/>
            <p:cNvSpPr txBox="1"/>
            <p:nvPr/>
          </p:nvSpPr>
          <p:spPr>
            <a:xfrm>
              <a:off x="7378964" y="6455527"/>
              <a:ext cx="438655" cy="153888"/>
            </a:xfrm>
            <a:prstGeom prst="rect">
              <a:avLst/>
            </a:prstGeom>
            <a:solidFill>
              <a:schemeClr val="bg1"/>
            </a:solid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Payra</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sp>
          <p:nvSpPr>
            <p:cNvPr id="76" name="Isosceles Triangle 75"/>
            <p:cNvSpPr/>
            <p:nvPr/>
          </p:nvSpPr>
          <p:spPr bwMode="gray">
            <a:xfrm>
              <a:off x="7427795" y="5493566"/>
              <a:ext cx="172740" cy="135901"/>
            </a:xfrm>
            <a:prstGeom prst="triangl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77" name="TextBox 76"/>
            <p:cNvSpPr txBox="1"/>
            <p:nvPr/>
          </p:nvSpPr>
          <p:spPr>
            <a:xfrm>
              <a:off x="7673439" y="5505800"/>
              <a:ext cx="877309" cy="153888"/>
            </a:xfrm>
            <a:prstGeom prst="rect">
              <a:avLst/>
            </a:prstGeom>
            <a:solidFill>
              <a:schemeClr val="bg1"/>
            </a:solid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Patuakhali</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sp>
          <p:nvSpPr>
            <p:cNvPr id="78" name="Isosceles Triangle 77"/>
            <p:cNvSpPr/>
            <p:nvPr/>
          </p:nvSpPr>
          <p:spPr bwMode="gray">
            <a:xfrm>
              <a:off x="7398753" y="4510836"/>
              <a:ext cx="172740" cy="135901"/>
            </a:xfrm>
            <a:prstGeom prst="triangl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79" name="Isosceles Triangle 78"/>
            <p:cNvSpPr/>
            <p:nvPr/>
          </p:nvSpPr>
          <p:spPr bwMode="gray">
            <a:xfrm>
              <a:off x="7607951" y="4683524"/>
              <a:ext cx="172740" cy="135901"/>
            </a:xfrm>
            <a:prstGeom prst="triangl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80" name="Isosceles Triangle 79"/>
            <p:cNvSpPr/>
            <p:nvPr/>
          </p:nvSpPr>
          <p:spPr bwMode="gray">
            <a:xfrm>
              <a:off x="7056601" y="3493617"/>
              <a:ext cx="172740" cy="135901"/>
            </a:xfrm>
            <a:prstGeom prst="triangl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81" name="TextBox 80"/>
            <p:cNvSpPr txBox="1"/>
            <p:nvPr/>
          </p:nvSpPr>
          <p:spPr>
            <a:xfrm>
              <a:off x="7306945" y="3506621"/>
              <a:ext cx="877309" cy="153888"/>
            </a:xfrm>
            <a:prstGeom prst="rect">
              <a:avLst/>
            </a:prstGeom>
            <a:solidFill>
              <a:schemeClr val="bg1"/>
            </a:solid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Gopalganj</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sp>
          <p:nvSpPr>
            <p:cNvPr id="82" name="Isosceles Triangle 81"/>
            <p:cNvSpPr/>
            <p:nvPr/>
          </p:nvSpPr>
          <p:spPr bwMode="gray">
            <a:xfrm>
              <a:off x="7153975" y="2388011"/>
              <a:ext cx="172740" cy="135901"/>
            </a:xfrm>
            <a:prstGeom prst="triangl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83" name="TextBox 82"/>
            <p:cNvSpPr txBox="1"/>
            <p:nvPr/>
          </p:nvSpPr>
          <p:spPr>
            <a:xfrm>
              <a:off x="7342036" y="2309376"/>
              <a:ext cx="877309" cy="153888"/>
            </a:xfrm>
            <a:prstGeom prst="rect">
              <a:avLst/>
            </a:prstGeom>
            <a:solidFill>
              <a:schemeClr val="bg1"/>
            </a:solid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Aminbazar</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sp>
          <p:nvSpPr>
            <p:cNvPr id="84" name="Freeform 83"/>
            <p:cNvSpPr/>
            <p:nvPr/>
          </p:nvSpPr>
          <p:spPr bwMode="gray">
            <a:xfrm>
              <a:off x="8413563" y="4992130"/>
              <a:ext cx="430966" cy="420129"/>
            </a:xfrm>
            <a:custGeom>
              <a:avLst/>
              <a:gdLst>
                <a:gd name="connsiteX0" fmla="*/ 325497 w 325497"/>
                <a:gd name="connsiteY0" fmla="*/ 420129 h 420129"/>
                <a:gd name="connsiteX1" fmla="*/ 12459 w 325497"/>
                <a:gd name="connsiteY1" fmla="*/ 0 h 420129"/>
              </a:gdLst>
              <a:ahLst/>
              <a:cxnLst>
                <a:cxn ang="0">
                  <a:pos x="connsiteX0" y="connsiteY0"/>
                </a:cxn>
                <a:cxn ang="0">
                  <a:pos x="connsiteX1" y="connsiteY1"/>
                </a:cxn>
              </a:cxnLst>
              <a:rect l="l" t="t" r="r" b="b"/>
              <a:pathLst>
                <a:path w="325497" h="420129">
                  <a:moveTo>
                    <a:pt x="325497" y="420129"/>
                  </a:moveTo>
                  <a:cubicBezTo>
                    <a:pt x="137399" y="240956"/>
                    <a:pt x="-50698" y="61784"/>
                    <a:pt x="12459" y="0"/>
                  </a:cubicBezTo>
                </a:path>
              </a:pathLst>
            </a:custGeom>
            <a:noFill/>
            <a:ln w="19050" algn="ctr">
              <a:no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000" b="0" i="0" u="none" strike="noStrike" kern="1200" cap="none" spc="0" normalizeH="0" baseline="0" noProof="0" dirty="0">
                <a:ln>
                  <a:noFill/>
                </a:ln>
                <a:solidFill>
                  <a:prstClr val="black"/>
                </a:solidFill>
                <a:effectLst/>
                <a:uLnTx/>
                <a:uFillTx/>
                <a:latin typeface="Verdana"/>
                <a:ea typeface="+mn-ea"/>
                <a:cs typeface="+mn-cs"/>
              </a:endParaRPr>
            </a:p>
          </p:txBody>
        </p:sp>
        <p:sp>
          <p:nvSpPr>
            <p:cNvPr id="85" name="Freeform 84"/>
            <p:cNvSpPr/>
            <p:nvPr/>
          </p:nvSpPr>
          <p:spPr bwMode="gray">
            <a:xfrm>
              <a:off x="9318831" y="3414415"/>
              <a:ext cx="909953" cy="283024"/>
            </a:xfrm>
            <a:custGeom>
              <a:avLst/>
              <a:gdLst>
                <a:gd name="connsiteX0" fmla="*/ 0 w 687263"/>
                <a:gd name="connsiteY0" fmla="*/ 17017 h 283024"/>
                <a:gd name="connsiteX1" fmla="*/ 27709 w 687263"/>
                <a:gd name="connsiteY1" fmla="*/ 5933 h 283024"/>
                <a:gd name="connsiteX2" fmla="*/ 205047 w 687263"/>
                <a:gd name="connsiteY2" fmla="*/ 11475 h 283024"/>
                <a:gd name="connsiteX3" fmla="*/ 266007 w 687263"/>
                <a:gd name="connsiteY3" fmla="*/ 17017 h 283024"/>
                <a:gd name="connsiteX4" fmla="*/ 326967 w 687263"/>
                <a:gd name="connsiteY4" fmla="*/ 33642 h 283024"/>
                <a:gd name="connsiteX5" fmla="*/ 393469 w 687263"/>
                <a:gd name="connsiteY5" fmla="*/ 44726 h 283024"/>
                <a:gd name="connsiteX6" fmla="*/ 454429 w 687263"/>
                <a:gd name="connsiteY6" fmla="*/ 77977 h 283024"/>
                <a:gd name="connsiteX7" fmla="*/ 493222 w 687263"/>
                <a:gd name="connsiteY7" fmla="*/ 94602 h 283024"/>
                <a:gd name="connsiteX8" fmla="*/ 537557 w 687263"/>
                <a:gd name="connsiteY8" fmla="*/ 116769 h 283024"/>
                <a:gd name="connsiteX9" fmla="*/ 565266 w 687263"/>
                <a:gd name="connsiteY9" fmla="*/ 127853 h 283024"/>
                <a:gd name="connsiteX10" fmla="*/ 592975 w 687263"/>
                <a:gd name="connsiteY10" fmla="*/ 150020 h 283024"/>
                <a:gd name="connsiteX11" fmla="*/ 609600 w 687263"/>
                <a:gd name="connsiteY11" fmla="*/ 161104 h 283024"/>
                <a:gd name="connsiteX12" fmla="*/ 631767 w 687263"/>
                <a:gd name="connsiteY12" fmla="*/ 188813 h 283024"/>
                <a:gd name="connsiteX13" fmla="*/ 659477 w 687263"/>
                <a:gd name="connsiteY13" fmla="*/ 222064 h 283024"/>
                <a:gd name="connsiteX14" fmla="*/ 681644 w 687263"/>
                <a:gd name="connsiteY14" fmla="*/ 255315 h 283024"/>
                <a:gd name="connsiteX15" fmla="*/ 687186 w 687263"/>
                <a:gd name="connsiteY15" fmla="*/ 283024 h 28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87263" h="283024">
                  <a:moveTo>
                    <a:pt x="0" y="17017"/>
                  </a:moveTo>
                  <a:cubicBezTo>
                    <a:pt x="9236" y="13322"/>
                    <a:pt x="18058" y="8346"/>
                    <a:pt x="27709" y="5933"/>
                  </a:cubicBezTo>
                  <a:cubicBezTo>
                    <a:pt x="84727" y="-8322"/>
                    <a:pt x="151509" y="7013"/>
                    <a:pt x="205047" y="11475"/>
                  </a:cubicBezTo>
                  <a:lnTo>
                    <a:pt x="266007" y="17017"/>
                  </a:lnTo>
                  <a:cubicBezTo>
                    <a:pt x="286327" y="22559"/>
                    <a:pt x="306386" y="29168"/>
                    <a:pt x="326967" y="33642"/>
                  </a:cubicBezTo>
                  <a:cubicBezTo>
                    <a:pt x="348927" y="38416"/>
                    <a:pt x="372243" y="37343"/>
                    <a:pt x="393469" y="44726"/>
                  </a:cubicBezTo>
                  <a:cubicBezTo>
                    <a:pt x="415331" y="52330"/>
                    <a:pt x="433726" y="67626"/>
                    <a:pt x="454429" y="77977"/>
                  </a:cubicBezTo>
                  <a:cubicBezTo>
                    <a:pt x="467012" y="84269"/>
                    <a:pt x="480473" y="88653"/>
                    <a:pt x="493222" y="94602"/>
                  </a:cubicBezTo>
                  <a:cubicBezTo>
                    <a:pt x="508195" y="101589"/>
                    <a:pt x="522555" y="109845"/>
                    <a:pt x="537557" y="116769"/>
                  </a:cubicBezTo>
                  <a:cubicBezTo>
                    <a:pt x="546589" y="120938"/>
                    <a:pt x="556736" y="122735"/>
                    <a:pt x="565266" y="127853"/>
                  </a:cubicBezTo>
                  <a:cubicBezTo>
                    <a:pt x="575409" y="133939"/>
                    <a:pt x="583512" y="142923"/>
                    <a:pt x="592975" y="150020"/>
                  </a:cubicBezTo>
                  <a:cubicBezTo>
                    <a:pt x="598303" y="154016"/>
                    <a:pt x="604890" y="156394"/>
                    <a:pt x="609600" y="161104"/>
                  </a:cubicBezTo>
                  <a:cubicBezTo>
                    <a:pt x="617964" y="169468"/>
                    <a:pt x="623978" y="179911"/>
                    <a:pt x="631767" y="188813"/>
                  </a:cubicBezTo>
                  <a:cubicBezTo>
                    <a:pt x="661639" y="222952"/>
                    <a:pt x="636791" y="188035"/>
                    <a:pt x="659477" y="222064"/>
                  </a:cubicBezTo>
                  <a:cubicBezTo>
                    <a:pt x="672651" y="261591"/>
                    <a:pt x="653971" y="213807"/>
                    <a:pt x="681644" y="255315"/>
                  </a:cubicBezTo>
                  <a:cubicBezTo>
                    <a:pt x="688354" y="265380"/>
                    <a:pt x="687186" y="272464"/>
                    <a:pt x="687186" y="283024"/>
                  </a:cubicBezTo>
                </a:path>
              </a:pathLst>
            </a:custGeom>
            <a:noFill/>
            <a:ln w="19050" algn="ctr">
              <a:no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000" b="0" i="0" u="none" strike="noStrike" kern="1200" cap="none" spc="0" normalizeH="0" baseline="0" noProof="0" dirty="0">
                <a:ln>
                  <a:noFill/>
                </a:ln>
                <a:solidFill>
                  <a:prstClr val="black"/>
                </a:solidFill>
                <a:effectLst/>
                <a:uLnTx/>
                <a:uFillTx/>
                <a:latin typeface="Verdana"/>
                <a:ea typeface="+mn-ea"/>
                <a:cs typeface="+mn-cs"/>
              </a:endParaRPr>
            </a:p>
          </p:txBody>
        </p:sp>
        <p:cxnSp>
          <p:nvCxnSpPr>
            <p:cNvPr id="86" name="Curved Connector 85"/>
            <p:cNvCxnSpPr>
              <a:stCxn id="70" idx="1"/>
              <a:endCxn id="78" idx="5"/>
            </p:cNvCxnSpPr>
            <p:nvPr/>
          </p:nvCxnSpPr>
          <p:spPr>
            <a:xfrm rot="10800000">
              <a:off x="7528310" y="4578787"/>
              <a:ext cx="1284954" cy="871062"/>
            </a:xfrm>
            <a:prstGeom prst="curvedConnector3">
              <a:avLst>
                <a:gd name="adj1" fmla="val 21448"/>
              </a:avLst>
            </a:prstGeom>
            <a:ln w="41275" cmpd="dbl">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sp>
          <p:nvSpPr>
            <p:cNvPr id="87" name="TextBox 86"/>
            <p:cNvSpPr txBox="1"/>
            <p:nvPr/>
          </p:nvSpPr>
          <p:spPr>
            <a:xfrm>
              <a:off x="7546955" y="4416806"/>
              <a:ext cx="784467" cy="153888"/>
            </a:xfrm>
            <a:prstGeom prst="rect">
              <a:avLst/>
            </a:prstGeom>
            <a:solidFill>
              <a:schemeClr val="bg1"/>
            </a:solid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Barishal N</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sp>
          <p:nvSpPr>
            <p:cNvPr id="88" name="TextBox 87"/>
            <p:cNvSpPr txBox="1"/>
            <p:nvPr/>
          </p:nvSpPr>
          <p:spPr>
            <a:xfrm>
              <a:off x="7817619" y="4817737"/>
              <a:ext cx="567384" cy="153888"/>
            </a:xfrm>
            <a:prstGeom prst="rect">
              <a:avLst/>
            </a:prstGeom>
            <a:solidFill>
              <a:schemeClr val="bg1"/>
            </a:solid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Barishal</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cxnSp>
          <p:nvCxnSpPr>
            <p:cNvPr id="89" name="Curved Connector 88"/>
            <p:cNvCxnSpPr>
              <a:stCxn id="71" idx="1"/>
            </p:cNvCxnSpPr>
            <p:nvPr/>
          </p:nvCxnSpPr>
          <p:spPr>
            <a:xfrm rot="10800000" flipH="1">
              <a:off x="7356927" y="5629467"/>
              <a:ext cx="129554" cy="721324"/>
            </a:xfrm>
            <a:prstGeom prst="curvedConnector4">
              <a:avLst>
                <a:gd name="adj1" fmla="val -28490"/>
                <a:gd name="adj2" fmla="val 46980"/>
              </a:avLst>
            </a:prstGeom>
            <a:ln w="41275" cmpd="dbl">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a:stCxn id="76" idx="0"/>
              <a:endCxn id="79" idx="3"/>
            </p:cNvCxnSpPr>
            <p:nvPr/>
          </p:nvCxnSpPr>
          <p:spPr>
            <a:xfrm flipV="1">
              <a:off x="7514165" y="4819425"/>
              <a:ext cx="180156" cy="674141"/>
            </a:xfrm>
            <a:prstGeom prst="line">
              <a:avLst/>
            </a:prstGeom>
            <a:ln w="12700">
              <a:solidFill>
                <a:srgbClr val="ED8B00"/>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a:endCxn id="79" idx="1"/>
            </p:cNvCxnSpPr>
            <p:nvPr/>
          </p:nvCxnSpPr>
          <p:spPr>
            <a:xfrm>
              <a:off x="7497043" y="4644654"/>
              <a:ext cx="154094" cy="106821"/>
            </a:xfrm>
            <a:prstGeom prst="line">
              <a:avLst/>
            </a:prstGeom>
            <a:ln w="44450" cmpd="dbl">
              <a:solidFill>
                <a:srgbClr val="ED8B00"/>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a:stCxn id="76" idx="1"/>
              <a:endCxn id="78" idx="3"/>
            </p:cNvCxnSpPr>
            <p:nvPr/>
          </p:nvCxnSpPr>
          <p:spPr>
            <a:xfrm flipV="1">
              <a:off x="7470981" y="4646737"/>
              <a:ext cx="14142" cy="914780"/>
            </a:xfrm>
            <a:prstGeom prst="line">
              <a:avLst/>
            </a:prstGeom>
            <a:ln w="41275" cmpd="dbl">
              <a:solidFill>
                <a:schemeClr val="accent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a:stCxn id="78" idx="1"/>
              <a:endCxn id="80" idx="3"/>
            </p:cNvCxnSpPr>
            <p:nvPr/>
          </p:nvCxnSpPr>
          <p:spPr>
            <a:xfrm flipH="1" flipV="1">
              <a:off x="7142971" y="3629518"/>
              <a:ext cx="298967" cy="949269"/>
            </a:xfrm>
            <a:prstGeom prst="line">
              <a:avLst/>
            </a:prstGeom>
            <a:ln w="41275" cmpd="dbl">
              <a:solidFill>
                <a:schemeClr val="accent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94" name="Isosceles Triangle 93"/>
            <p:cNvSpPr/>
            <p:nvPr/>
          </p:nvSpPr>
          <p:spPr bwMode="gray">
            <a:xfrm>
              <a:off x="7427795" y="3731543"/>
              <a:ext cx="172740" cy="135901"/>
            </a:xfrm>
            <a:prstGeom prst="triangl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95" name="TextBox 94"/>
            <p:cNvSpPr txBox="1"/>
            <p:nvPr/>
          </p:nvSpPr>
          <p:spPr>
            <a:xfrm>
              <a:off x="7651137" y="3758639"/>
              <a:ext cx="680285" cy="153888"/>
            </a:xfrm>
            <a:prstGeom prst="rect">
              <a:avLst/>
            </a:prstGeom>
            <a:solidFill>
              <a:schemeClr val="bg1"/>
            </a:solid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Madaripur</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cxnSp>
          <p:nvCxnSpPr>
            <p:cNvPr id="96" name="Straight Connector 95"/>
            <p:cNvCxnSpPr>
              <a:stCxn id="94" idx="3"/>
              <a:endCxn id="78" idx="0"/>
            </p:cNvCxnSpPr>
            <p:nvPr/>
          </p:nvCxnSpPr>
          <p:spPr>
            <a:xfrm flipH="1">
              <a:off x="7485123" y="3867444"/>
              <a:ext cx="29042" cy="643392"/>
            </a:xfrm>
            <a:prstGeom prst="line">
              <a:avLst/>
            </a:prstGeom>
            <a:ln w="44450" cmpd="dbl">
              <a:solidFill>
                <a:srgbClr val="ED8B00"/>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a:stCxn id="80" idx="4"/>
              <a:endCxn id="94" idx="1"/>
            </p:cNvCxnSpPr>
            <p:nvPr/>
          </p:nvCxnSpPr>
          <p:spPr>
            <a:xfrm>
              <a:off x="7229341" y="3629518"/>
              <a:ext cx="241640" cy="169976"/>
            </a:xfrm>
            <a:prstGeom prst="line">
              <a:avLst/>
            </a:prstGeom>
            <a:ln w="44450" cmpd="dbl">
              <a:solidFill>
                <a:srgbClr val="ED8B00"/>
              </a:solidFill>
            </a:ln>
          </p:spPr>
          <p:style>
            <a:lnRef idx="1">
              <a:schemeClr val="accent1"/>
            </a:lnRef>
            <a:fillRef idx="0">
              <a:schemeClr val="accent1"/>
            </a:fillRef>
            <a:effectRef idx="0">
              <a:schemeClr val="accent1"/>
            </a:effectRef>
            <a:fontRef idx="minor">
              <a:schemeClr val="tx1"/>
            </a:fontRef>
          </p:style>
        </p:cxnSp>
        <p:sp>
          <p:nvSpPr>
            <p:cNvPr id="98" name="Isosceles Triangle 97"/>
            <p:cNvSpPr/>
            <p:nvPr/>
          </p:nvSpPr>
          <p:spPr bwMode="gray">
            <a:xfrm>
              <a:off x="7497709" y="6179827"/>
              <a:ext cx="172740" cy="135901"/>
            </a:xfrm>
            <a:prstGeom prst="triangl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99" name="TextBox 98"/>
            <p:cNvSpPr txBox="1"/>
            <p:nvPr/>
          </p:nvSpPr>
          <p:spPr>
            <a:xfrm>
              <a:off x="7702855" y="6212753"/>
              <a:ext cx="682148" cy="153888"/>
            </a:xfrm>
            <a:prstGeom prst="rect">
              <a:avLst/>
            </a:prstGeom>
            <a:solidFill>
              <a:schemeClr val="bg1"/>
            </a:solid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Payra LNG</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cxnSp>
          <p:nvCxnSpPr>
            <p:cNvPr id="100" name="Curved Connector 99"/>
            <p:cNvCxnSpPr>
              <a:stCxn id="98" idx="1"/>
              <a:endCxn id="80" idx="2"/>
            </p:cNvCxnSpPr>
            <p:nvPr/>
          </p:nvCxnSpPr>
          <p:spPr>
            <a:xfrm rot="10800000">
              <a:off x="7056602" y="3629518"/>
              <a:ext cx="484293" cy="2618260"/>
            </a:xfrm>
            <a:prstGeom prst="curvedConnector2">
              <a:avLst/>
            </a:prstGeom>
            <a:ln w="41275" cmpd="dbl">
              <a:solidFill>
                <a:schemeClr val="accent3"/>
              </a:solidFill>
              <a:prstDash val="dashDot"/>
            </a:ln>
          </p:spPr>
          <p:style>
            <a:lnRef idx="1">
              <a:schemeClr val="accent1"/>
            </a:lnRef>
            <a:fillRef idx="0">
              <a:schemeClr val="accent1"/>
            </a:fillRef>
            <a:effectRef idx="0">
              <a:schemeClr val="accent1"/>
            </a:effectRef>
            <a:fontRef idx="minor">
              <a:schemeClr val="tx1"/>
            </a:fontRef>
          </p:style>
        </p:cxnSp>
        <p:cxnSp>
          <p:nvCxnSpPr>
            <p:cNvPr id="101" name="Curved Connector 100"/>
            <p:cNvCxnSpPr>
              <a:stCxn id="80" idx="5"/>
              <a:endCxn id="82" idx="5"/>
            </p:cNvCxnSpPr>
            <p:nvPr/>
          </p:nvCxnSpPr>
          <p:spPr>
            <a:xfrm flipV="1">
              <a:off x="7186156" y="2455962"/>
              <a:ext cx="97374" cy="1105606"/>
            </a:xfrm>
            <a:prstGeom prst="curvedConnector3">
              <a:avLst>
                <a:gd name="adj1" fmla="val 232656"/>
              </a:avLst>
            </a:prstGeom>
            <a:ln w="41275" cmpd="dbl">
              <a:solidFill>
                <a:schemeClr val="accent3"/>
              </a:solidFill>
              <a:prstDash val="dashDot"/>
            </a:ln>
          </p:spPr>
          <p:style>
            <a:lnRef idx="1">
              <a:schemeClr val="accent1"/>
            </a:lnRef>
            <a:fillRef idx="0">
              <a:schemeClr val="accent1"/>
            </a:fillRef>
            <a:effectRef idx="0">
              <a:schemeClr val="accent1"/>
            </a:effectRef>
            <a:fontRef idx="minor">
              <a:schemeClr val="tx1"/>
            </a:fontRef>
          </p:style>
        </p:cxnSp>
        <p:cxnSp>
          <p:nvCxnSpPr>
            <p:cNvPr id="102" name="Curved Connector 101"/>
            <p:cNvCxnSpPr>
              <a:stCxn id="72" idx="1"/>
              <a:endCxn id="80" idx="4"/>
            </p:cNvCxnSpPr>
            <p:nvPr/>
          </p:nvCxnSpPr>
          <p:spPr>
            <a:xfrm rot="10800000">
              <a:off x="7229342" y="3629518"/>
              <a:ext cx="487283" cy="2451088"/>
            </a:xfrm>
            <a:prstGeom prst="curvedConnector2">
              <a:avLst/>
            </a:prstGeom>
            <a:ln w="19050" cmpd="sng">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3" name="Curved Connector 102"/>
            <p:cNvCxnSpPr>
              <a:stCxn id="72" idx="1"/>
              <a:endCxn id="80" idx="3"/>
            </p:cNvCxnSpPr>
            <p:nvPr/>
          </p:nvCxnSpPr>
          <p:spPr>
            <a:xfrm rot="10800000">
              <a:off x="7142972" y="3629518"/>
              <a:ext cx="573653" cy="2451088"/>
            </a:xfrm>
            <a:prstGeom prst="curvedConnector2">
              <a:avLst/>
            </a:prstGeom>
            <a:ln w="19050" cmpd="sng">
              <a:solidFill>
                <a:schemeClr val="accent4"/>
              </a:solidFill>
              <a:prstDash val="sysDash"/>
            </a:ln>
          </p:spPr>
          <p:style>
            <a:lnRef idx="1">
              <a:schemeClr val="accent1"/>
            </a:lnRef>
            <a:fillRef idx="0">
              <a:schemeClr val="accent1"/>
            </a:fillRef>
            <a:effectRef idx="0">
              <a:schemeClr val="accent1"/>
            </a:effectRef>
            <a:fontRef idx="minor">
              <a:schemeClr val="tx1"/>
            </a:fontRef>
          </p:style>
        </p:cxnSp>
        <p:cxnSp>
          <p:nvCxnSpPr>
            <p:cNvPr id="104" name="Curved Connector 103"/>
            <p:cNvCxnSpPr>
              <a:stCxn id="80" idx="5"/>
              <a:endCxn id="82" idx="0"/>
            </p:cNvCxnSpPr>
            <p:nvPr/>
          </p:nvCxnSpPr>
          <p:spPr>
            <a:xfrm flipV="1">
              <a:off x="7186156" y="2388011"/>
              <a:ext cx="54189" cy="1173557"/>
            </a:xfrm>
            <a:prstGeom prst="curvedConnector4">
              <a:avLst>
                <a:gd name="adj1" fmla="val 782199"/>
                <a:gd name="adj2" fmla="val 92175"/>
              </a:avLst>
            </a:prstGeom>
            <a:ln w="41275" cmpd="dbl">
              <a:solidFill>
                <a:schemeClr val="accent4"/>
              </a:solidFill>
              <a:prstDash val="sysDot"/>
            </a:ln>
          </p:spPr>
          <p:style>
            <a:lnRef idx="1">
              <a:schemeClr val="accent1"/>
            </a:lnRef>
            <a:fillRef idx="0">
              <a:schemeClr val="accent1"/>
            </a:fillRef>
            <a:effectRef idx="0">
              <a:schemeClr val="accent1"/>
            </a:effectRef>
            <a:fontRef idx="minor">
              <a:schemeClr val="tx1"/>
            </a:fontRef>
          </p:style>
        </p:cxnSp>
      </p:grpSp>
      <p:graphicFrame>
        <p:nvGraphicFramePr>
          <p:cNvPr id="105" name="Table 104"/>
          <p:cNvGraphicFramePr>
            <a:graphicFrameLocks noGrp="1"/>
          </p:cNvGraphicFramePr>
          <p:nvPr>
            <p:extLst>
              <p:ext uri="{D42A27DB-BD31-4B8C-83A1-F6EECF244321}">
                <p14:modId xmlns:p14="http://schemas.microsoft.com/office/powerpoint/2010/main" val="2770708474"/>
              </p:ext>
            </p:extLst>
          </p:nvPr>
        </p:nvGraphicFramePr>
        <p:xfrm>
          <a:off x="8368499" y="2702028"/>
          <a:ext cx="1860285" cy="2042160"/>
        </p:xfrm>
        <a:graphic>
          <a:graphicData uri="http://schemas.openxmlformats.org/drawingml/2006/table">
            <a:tbl>
              <a:tblPr firstRow="1">
                <a:tableStyleId>{3B4B98B0-60AC-42C2-AFA5-B58CD77FA1E5}</a:tableStyleId>
              </a:tblPr>
              <a:tblGrid>
                <a:gridCol w="459740">
                  <a:extLst>
                    <a:ext uri="{9D8B030D-6E8A-4147-A177-3AD203B41FA5}">
                      <a16:colId xmlns:a16="http://schemas.microsoft.com/office/drawing/2014/main" val="1659914186"/>
                    </a:ext>
                  </a:extLst>
                </a:gridCol>
                <a:gridCol w="1400545">
                  <a:extLst>
                    <a:ext uri="{9D8B030D-6E8A-4147-A177-3AD203B41FA5}">
                      <a16:colId xmlns:a16="http://schemas.microsoft.com/office/drawing/2014/main" val="3349145812"/>
                    </a:ext>
                  </a:extLst>
                </a:gridCol>
              </a:tblGrid>
              <a:tr h="284232">
                <a:tc>
                  <a:txBody>
                    <a:bodyPr/>
                    <a:lstStyle/>
                    <a:p>
                      <a:pPr algn="ctr"/>
                      <a:r>
                        <a:rPr lang="en-US" sz="800" b="1" dirty="0"/>
                        <a:t>Key</a:t>
                      </a:r>
                      <a:endParaRPr lang="en-IN" sz="800" b="1" dirty="0"/>
                    </a:p>
                  </a:txBody>
                  <a:tcPr>
                    <a:solidFill>
                      <a:schemeClr val="bg1"/>
                    </a:solidFill>
                  </a:tcPr>
                </a:tc>
                <a:tc>
                  <a:txBody>
                    <a:bodyPr/>
                    <a:lstStyle/>
                    <a:p>
                      <a:r>
                        <a:rPr lang="en-US" sz="800" b="1" dirty="0"/>
                        <a:t>Infrastructure component</a:t>
                      </a:r>
                      <a:endParaRPr lang="en-IN" sz="800" b="1" dirty="0"/>
                    </a:p>
                  </a:txBody>
                  <a:tcPr>
                    <a:solidFill>
                      <a:schemeClr val="bg1"/>
                    </a:solidFill>
                  </a:tcPr>
                </a:tc>
                <a:extLst>
                  <a:ext uri="{0D108BD9-81ED-4DB2-BD59-A6C34878D82A}">
                    <a16:rowId xmlns:a16="http://schemas.microsoft.com/office/drawing/2014/main" val="202154620"/>
                  </a:ext>
                </a:extLst>
              </a:tr>
              <a:tr h="180875">
                <a:tc>
                  <a:txBody>
                    <a:bodyPr/>
                    <a:lstStyle/>
                    <a:p>
                      <a:endParaRPr lang="en-IN" sz="800" b="0" dirty="0"/>
                    </a:p>
                  </a:txBody>
                  <a:tcPr>
                    <a:solidFill>
                      <a:schemeClr val="bg1"/>
                    </a:solidFill>
                  </a:tcPr>
                </a:tc>
                <a:tc>
                  <a:txBody>
                    <a:bodyPr/>
                    <a:lstStyle/>
                    <a:p>
                      <a:r>
                        <a:rPr lang="en-US" sz="800" dirty="0"/>
                        <a:t>220 kV Tx</a:t>
                      </a:r>
                      <a:r>
                        <a:rPr lang="en-US" sz="800" baseline="0" dirty="0"/>
                        <a:t> line</a:t>
                      </a:r>
                      <a:endParaRPr lang="en-IN" sz="800" b="0" dirty="0"/>
                    </a:p>
                  </a:txBody>
                  <a:tcPr>
                    <a:solidFill>
                      <a:schemeClr val="bg1"/>
                    </a:solidFill>
                  </a:tcPr>
                </a:tc>
                <a:extLst>
                  <a:ext uri="{0D108BD9-81ED-4DB2-BD59-A6C34878D82A}">
                    <a16:rowId xmlns:a16="http://schemas.microsoft.com/office/drawing/2014/main" val="2120283131"/>
                  </a:ext>
                </a:extLst>
              </a:tr>
              <a:tr h="180875">
                <a:tc>
                  <a:txBody>
                    <a:bodyPr/>
                    <a:lstStyle/>
                    <a:p>
                      <a:endParaRPr lang="en-IN" sz="800" b="0" dirty="0"/>
                    </a:p>
                  </a:txBody>
                  <a:tcPr>
                    <a:solidFill>
                      <a:schemeClr val="bg1"/>
                    </a:solidFill>
                  </a:tcPr>
                </a:tc>
                <a:tc>
                  <a:txBody>
                    <a:bodyPr/>
                    <a:lstStyle/>
                    <a:p>
                      <a:r>
                        <a:rPr lang="en-US" sz="800" dirty="0"/>
                        <a:t>220 kV Tx line (UC)</a:t>
                      </a:r>
                      <a:endParaRPr lang="en-IN" sz="800" b="0" dirty="0"/>
                    </a:p>
                  </a:txBody>
                  <a:tcPr>
                    <a:solidFill>
                      <a:schemeClr val="bg1"/>
                    </a:solidFill>
                  </a:tcPr>
                </a:tc>
                <a:extLst>
                  <a:ext uri="{0D108BD9-81ED-4DB2-BD59-A6C34878D82A}">
                    <a16:rowId xmlns:a16="http://schemas.microsoft.com/office/drawing/2014/main" val="3110394366"/>
                  </a:ext>
                </a:extLst>
              </a:tr>
              <a:tr h="180875">
                <a:tc>
                  <a:txBody>
                    <a:bodyPr/>
                    <a:lstStyle/>
                    <a:p>
                      <a:endParaRPr lang="en-IN" sz="800" b="0" dirty="0"/>
                    </a:p>
                  </a:txBody>
                  <a:tcPr>
                    <a:solidFill>
                      <a:schemeClr val="bg1"/>
                    </a:solidFill>
                  </a:tcPr>
                </a:tc>
                <a:tc>
                  <a:txBody>
                    <a:bodyPr/>
                    <a:lstStyle/>
                    <a:p>
                      <a:r>
                        <a:rPr lang="en-US" sz="800" dirty="0"/>
                        <a:t>132 kV Tx line</a:t>
                      </a:r>
                      <a:endParaRPr lang="en-IN" sz="800" b="0" dirty="0"/>
                    </a:p>
                  </a:txBody>
                  <a:tcPr>
                    <a:solidFill>
                      <a:schemeClr val="bg1"/>
                    </a:solidFill>
                  </a:tcPr>
                </a:tc>
                <a:extLst>
                  <a:ext uri="{0D108BD9-81ED-4DB2-BD59-A6C34878D82A}">
                    <a16:rowId xmlns:a16="http://schemas.microsoft.com/office/drawing/2014/main" val="76836288"/>
                  </a:ext>
                </a:extLst>
              </a:tr>
              <a:tr h="180875">
                <a:tc>
                  <a:txBody>
                    <a:bodyPr/>
                    <a:lstStyle/>
                    <a:p>
                      <a:endParaRPr lang="en-IN" sz="800" b="0" dirty="0"/>
                    </a:p>
                  </a:txBody>
                  <a:tcPr>
                    <a:solidFill>
                      <a:schemeClr val="bg1"/>
                    </a:solidFill>
                  </a:tcPr>
                </a:tc>
                <a:tc>
                  <a:txBody>
                    <a:bodyPr/>
                    <a:lstStyle/>
                    <a:p>
                      <a:r>
                        <a:rPr lang="en-US" sz="800" dirty="0"/>
                        <a:t>400 kV Tx line </a:t>
                      </a:r>
                      <a:endParaRPr lang="en-IN" sz="800" b="0" dirty="0"/>
                    </a:p>
                  </a:txBody>
                  <a:tcPr>
                    <a:solidFill>
                      <a:schemeClr val="bg1"/>
                    </a:solidFill>
                  </a:tcPr>
                </a:tc>
                <a:extLst>
                  <a:ext uri="{0D108BD9-81ED-4DB2-BD59-A6C34878D82A}">
                    <a16:rowId xmlns:a16="http://schemas.microsoft.com/office/drawing/2014/main" val="828964890"/>
                  </a:ext>
                </a:extLst>
              </a:tr>
              <a:tr h="180875">
                <a:tc>
                  <a:txBody>
                    <a:bodyPr/>
                    <a:lstStyle/>
                    <a:p>
                      <a:endParaRPr lang="en-IN" sz="800" b="0" dirty="0"/>
                    </a:p>
                  </a:txBody>
                  <a:tcPr>
                    <a:solidFill>
                      <a:schemeClr val="bg1"/>
                    </a:solidFill>
                  </a:tcPr>
                </a:tc>
                <a:tc>
                  <a:txBody>
                    <a:bodyPr/>
                    <a:lstStyle/>
                    <a:p>
                      <a:r>
                        <a:rPr lang="en-US" sz="800" dirty="0"/>
                        <a:t>400 kV Tx line (UC)</a:t>
                      </a:r>
                      <a:endParaRPr lang="en-IN" sz="800" b="0" dirty="0"/>
                    </a:p>
                  </a:txBody>
                  <a:tcPr>
                    <a:solidFill>
                      <a:schemeClr val="bg1"/>
                    </a:solidFill>
                  </a:tcPr>
                </a:tc>
                <a:extLst>
                  <a:ext uri="{0D108BD9-81ED-4DB2-BD59-A6C34878D82A}">
                    <a16:rowId xmlns:a16="http://schemas.microsoft.com/office/drawing/2014/main" val="2899388282"/>
                  </a:ext>
                </a:extLst>
              </a:tr>
              <a:tr h="180875">
                <a:tc>
                  <a:txBody>
                    <a:bodyPr/>
                    <a:lstStyle/>
                    <a:p>
                      <a:endParaRPr lang="en-IN" sz="800" b="0" dirty="0"/>
                    </a:p>
                  </a:txBody>
                  <a:tcPr>
                    <a:solidFill>
                      <a:schemeClr val="bg1"/>
                    </a:solidFill>
                  </a:tcPr>
                </a:tc>
                <a:tc>
                  <a:txBody>
                    <a:bodyPr/>
                    <a:lstStyle/>
                    <a:p>
                      <a:r>
                        <a:rPr lang="en-US" sz="800" b="0" dirty="0"/>
                        <a:t>400 kV Tx line (Plan)</a:t>
                      </a:r>
                      <a:endParaRPr lang="en-IN" sz="800" b="0" dirty="0"/>
                    </a:p>
                  </a:txBody>
                  <a:tcPr>
                    <a:solidFill>
                      <a:schemeClr val="bg1"/>
                    </a:solidFill>
                  </a:tcPr>
                </a:tc>
                <a:extLst>
                  <a:ext uri="{0D108BD9-81ED-4DB2-BD59-A6C34878D82A}">
                    <a16:rowId xmlns:a16="http://schemas.microsoft.com/office/drawing/2014/main" val="3548674121"/>
                  </a:ext>
                </a:extLst>
              </a:tr>
              <a:tr h="180875">
                <a:tc>
                  <a:txBody>
                    <a:bodyPr/>
                    <a:lstStyle/>
                    <a:p>
                      <a:endParaRPr lang="en-IN" sz="800" b="0" dirty="0"/>
                    </a:p>
                  </a:txBody>
                  <a:tcPr>
                    <a:solidFill>
                      <a:schemeClr val="bg1"/>
                    </a:solidFill>
                  </a:tcPr>
                </a:tc>
                <a:tc>
                  <a:txBody>
                    <a:bodyPr/>
                    <a:lstStyle/>
                    <a:p>
                      <a:r>
                        <a:rPr lang="en-US" sz="800" b="0" dirty="0"/>
                        <a:t>Substation</a:t>
                      </a:r>
                      <a:endParaRPr lang="en-IN" sz="800" b="0" dirty="0"/>
                    </a:p>
                  </a:txBody>
                  <a:tcPr>
                    <a:solidFill>
                      <a:schemeClr val="bg1"/>
                    </a:solidFill>
                  </a:tcPr>
                </a:tc>
                <a:extLst>
                  <a:ext uri="{0D108BD9-81ED-4DB2-BD59-A6C34878D82A}">
                    <a16:rowId xmlns:a16="http://schemas.microsoft.com/office/drawing/2014/main" val="1321708816"/>
                  </a:ext>
                </a:extLst>
              </a:tr>
              <a:tr h="180875">
                <a:tc>
                  <a:txBody>
                    <a:bodyPr/>
                    <a:lstStyle/>
                    <a:p>
                      <a:endParaRPr lang="en-IN" sz="800" b="0" dirty="0"/>
                    </a:p>
                  </a:txBody>
                  <a:tcPr>
                    <a:solidFill>
                      <a:schemeClr val="bg1"/>
                    </a:solidFill>
                  </a:tcPr>
                </a:tc>
                <a:tc>
                  <a:txBody>
                    <a:bodyPr/>
                    <a:lstStyle/>
                    <a:p>
                      <a:r>
                        <a:rPr lang="en-US" sz="800" b="0" dirty="0"/>
                        <a:t>Bhola I Switchyard</a:t>
                      </a:r>
                      <a:endParaRPr lang="en-IN" sz="800" b="0" dirty="0"/>
                    </a:p>
                  </a:txBody>
                  <a:tcPr>
                    <a:solidFill>
                      <a:schemeClr val="bg1"/>
                    </a:solidFill>
                  </a:tcPr>
                </a:tc>
                <a:extLst>
                  <a:ext uri="{0D108BD9-81ED-4DB2-BD59-A6C34878D82A}">
                    <a16:rowId xmlns:a16="http://schemas.microsoft.com/office/drawing/2014/main" val="2317592564"/>
                  </a:ext>
                </a:extLst>
              </a:tr>
            </a:tbl>
          </a:graphicData>
        </a:graphic>
      </p:graphicFrame>
      <p:grpSp>
        <p:nvGrpSpPr>
          <p:cNvPr id="106" name="Group 105"/>
          <p:cNvGrpSpPr/>
          <p:nvPr/>
        </p:nvGrpSpPr>
        <p:grpSpPr>
          <a:xfrm>
            <a:off x="8443589" y="3117880"/>
            <a:ext cx="400939" cy="1306523"/>
            <a:chOff x="693964" y="5561516"/>
            <a:chExt cx="571500" cy="1306523"/>
          </a:xfrm>
        </p:grpSpPr>
        <p:cxnSp>
          <p:nvCxnSpPr>
            <p:cNvPr id="107" name="Straight Connector 106"/>
            <p:cNvCxnSpPr/>
            <p:nvPr/>
          </p:nvCxnSpPr>
          <p:spPr>
            <a:xfrm>
              <a:off x="693964" y="5561516"/>
              <a:ext cx="571500" cy="0"/>
            </a:xfrm>
            <a:prstGeom prst="line">
              <a:avLst/>
            </a:prstGeom>
            <a:ln w="28575">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693964" y="5798280"/>
              <a:ext cx="571500" cy="0"/>
            </a:xfrm>
            <a:prstGeom prst="line">
              <a:avLst/>
            </a:prstGeom>
            <a:ln w="28575">
              <a:solidFill>
                <a:schemeClr val="accent1">
                  <a:lumMod val="50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693964" y="6012655"/>
              <a:ext cx="571500" cy="0"/>
            </a:xfrm>
            <a:prstGeom prst="line">
              <a:avLst/>
            </a:prstGeom>
            <a:ln w="28575">
              <a:solidFill>
                <a:srgbClr val="ED8B00"/>
              </a:solidFill>
              <a:prstDash val="soli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a:off x="693964" y="6212753"/>
              <a:ext cx="571500" cy="0"/>
            </a:xfrm>
            <a:prstGeom prst="line">
              <a:avLst/>
            </a:prstGeom>
            <a:ln w="28575">
              <a:solidFill>
                <a:schemeClr val="accent4"/>
              </a:solidFill>
              <a:prstDash val="soli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a:off x="693964" y="6418741"/>
              <a:ext cx="571500" cy="0"/>
            </a:xfrm>
            <a:prstGeom prst="line">
              <a:avLst/>
            </a:prstGeom>
            <a:ln w="28575">
              <a:solidFill>
                <a:schemeClr val="accent4"/>
              </a:solidFill>
              <a:prstDash val="sysDash"/>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a:off x="693964" y="6609415"/>
              <a:ext cx="571500" cy="0"/>
            </a:xfrm>
            <a:prstGeom prst="line">
              <a:avLst/>
            </a:prstGeom>
            <a:ln w="28575">
              <a:solidFill>
                <a:schemeClr val="accent3"/>
              </a:solidFill>
              <a:prstDash val="dashDot"/>
            </a:ln>
          </p:spPr>
          <p:style>
            <a:lnRef idx="1">
              <a:schemeClr val="accent1"/>
            </a:lnRef>
            <a:fillRef idx="0">
              <a:schemeClr val="accent1"/>
            </a:fillRef>
            <a:effectRef idx="0">
              <a:schemeClr val="accent1"/>
            </a:effectRef>
            <a:fontRef idx="minor">
              <a:schemeClr val="tx1"/>
            </a:fontRef>
          </p:style>
        </p:cxnSp>
        <p:sp>
          <p:nvSpPr>
            <p:cNvPr id="113" name="Isosceles Triangle 112"/>
            <p:cNvSpPr/>
            <p:nvPr/>
          </p:nvSpPr>
          <p:spPr bwMode="gray">
            <a:xfrm>
              <a:off x="893344" y="6732138"/>
              <a:ext cx="172740" cy="135901"/>
            </a:xfrm>
            <a:prstGeom prst="triangl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grpSp>
      <p:pic>
        <p:nvPicPr>
          <p:cNvPr id="114" name="Picture 113"/>
          <p:cNvPicPr>
            <a:picLocks noChangeAspect="1"/>
          </p:cNvPicPr>
          <p:nvPr/>
        </p:nvPicPr>
        <p:blipFill>
          <a:blip r:embed="rId8"/>
          <a:stretch>
            <a:fillRect/>
          </a:stretch>
        </p:blipFill>
        <p:spPr>
          <a:xfrm>
            <a:off x="5459597" y="1921285"/>
            <a:ext cx="856915" cy="1196682"/>
          </a:xfrm>
          <a:prstGeom prst="rect">
            <a:avLst/>
          </a:prstGeom>
        </p:spPr>
      </p:pic>
      <p:sp>
        <p:nvSpPr>
          <p:cNvPr id="115" name="Diamond 114"/>
          <p:cNvSpPr/>
          <p:nvPr/>
        </p:nvSpPr>
        <p:spPr bwMode="gray">
          <a:xfrm>
            <a:off x="8245901" y="5417119"/>
            <a:ext cx="149185" cy="149185"/>
          </a:xfrm>
          <a:prstGeom prst="diamond">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16" name="Diamond 115"/>
          <p:cNvSpPr/>
          <p:nvPr/>
        </p:nvSpPr>
        <p:spPr bwMode="gray">
          <a:xfrm>
            <a:off x="8567726" y="4539513"/>
            <a:ext cx="149185" cy="149185"/>
          </a:xfrm>
          <a:prstGeom prst="diamond">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17" name="Oval 116"/>
          <p:cNvSpPr/>
          <p:nvPr/>
        </p:nvSpPr>
        <p:spPr bwMode="gray">
          <a:xfrm rot="1915440">
            <a:off x="6758231" y="4645427"/>
            <a:ext cx="2401556" cy="797085"/>
          </a:xfrm>
          <a:prstGeom prst="ellipse">
            <a:avLst/>
          </a:prstGeom>
          <a:solidFill>
            <a:schemeClr val="accent5">
              <a:alpha val="18000"/>
            </a:schemeClr>
          </a:solidFill>
          <a:ln w="19050" algn="ctr">
            <a:noFill/>
            <a:prstDash val="dashDot"/>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18" name="Oval 117"/>
          <p:cNvSpPr/>
          <p:nvPr/>
        </p:nvSpPr>
        <p:spPr bwMode="gray">
          <a:xfrm>
            <a:off x="6779879" y="4296212"/>
            <a:ext cx="297180" cy="297180"/>
          </a:xfrm>
          <a:prstGeom prst="ellipse">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solidFill>
                  <a:schemeClr val="bg1"/>
                </a:solidFill>
              </a:rPr>
              <a:t>1</a:t>
            </a:r>
            <a:endParaRPr lang="en-IN" sz="1000" b="1" dirty="0">
              <a:solidFill>
                <a:schemeClr val="bg1"/>
              </a:solidFill>
            </a:endParaRPr>
          </a:p>
        </p:txBody>
      </p:sp>
      <p:sp>
        <p:nvSpPr>
          <p:cNvPr id="119" name="Oval 118"/>
          <p:cNvSpPr/>
          <p:nvPr/>
        </p:nvSpPr>
        <p:spPr bwMode="gray">
          <a:xfrm>
            <a:off x="7288167" y="2769917"/>
            <a:ext cx="297180" cy="297180"/>
          </a:xfrm>
          <a:prstGeom prst="ellipse">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solidFill>
                  <a:schemeClr val="bg1"/>
                </a:solidFill>
              </a:rPr>
              <a:t>2</a:t>
            </a:r>
            <a:endParaRPr lang="en-IN" sz="1000" b="1" dirty="0">
              <a:solidFill>
                <a:schemeClr val="bg1"/>
              </a:solidFill>
            </a:endParaRPr>
          </a:p>
        </p:txBody>
      </p:sp>
      <p:sp>
        <p:nvSpPr>
          <p:cNvPr id="120" name="Oval 119"/>
          <p:cNvSpPr/>
          <p:nvPr/>
        </p:nvSpPr>
        <p:spPr bwMode="gray">
          <a:xfrm>
            <a:off x="6966875" y="5198280"/>
            <a:ext cx="297180" cy="297180"/>
          </a:xfrm>
          <a:prstGeom prst="ellipse">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solidFill>
                  <a:schemeClr val="bg1"/>
                </a:solidFill>
              </a:rPr>
              <a:t>3</a:t>
            </a:r>
            <a:endParaRPr lang="en-IN" sz="1000" b="1" dirty="0">
              <a:solidFill>
                <a:schemeClr val="bg1"/>
              </a:solidFill>
            </a:endParaRPr>
          </a:p>
        </p:txBody>
      </p:sp>
      <p:sp>
        <p:nvSpPr>
          <p:cNvPr id="121" name="Line Callout 1 (Border and Accent Bar) 120"/>
          <p:cNvSpPr/>
          <p:nvPr/>
        </p:nvSpPr>
        <p:spPr bwMode="gray">
          <a:xfrm>
            <a:off x="8757765" y="5751328"/>
            <a:ext cx="1566051" cy="402257"/>
          </a:xfrm>
          <a:prstGeom prst="accentBorderCallout1">
            <a:avLst>
              <a:gd name="adj1" fmla="val 18750"/>
              <a:gd name="adj2" fmla="val -8333"/>
              <a:gd name="adj3" fmla="val -330770"/>
              <a:gd name="adj4" fmla="val -110589"/>
            </a:avLst>
          </a:prstGeom>
          <a:solidFill>
            <a:schemeClr val="accent4">
              <a:lumMod val="20000"/>
              <a:lumOff val="80000"/>
            </a:schemeClr>
          </a:solidFill>
          <a:ln w="9525" algn="ctr">
            <a:solidFill>
              <a:schemeClr val="accent4"/>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dirty="0"/>
              <a:t>Substation Capacity of Barisal (N)</a:t>
            </a:r>
            <a:endParaRPr lang="en-IN" sz="1000" dirty="0"/>
          </a:p>
        </p:txBody>
      </p:sp>
      <p:sp>
        <p:nvSpPr>
          <p:cNvPr id="122" name="Line Callout 1 (Border and Accent Bar) 121"/>
          <p:cNvSpPr/>
          <p:nvPr/>
        </p:nvSpPr>
        <p:spPr bwMode="gray">
          <a:xfrm>
            <a:off x="8492532" y="6440369"/>
            <a:ext cx="1810866" cy="693343"/>
          </a:xfrm>
          <a:prstGeom prst="accentBorderCallout1">
            <a:avLst>
              <a:gd name="adj1" fmla="val 18750"/>
              <a:gd name="adj2" fmla="val -8333"/>
              <a:gd name="adj3" fmla="val -146764"/>
              <a:gd name="adj4" fmla="val -72361"/>
            </a:avLst>
          </a:prstGeom>
          <a:solidFill>
            <a:schemeClr val="accent4">
              <a:lumMod val="20000"/>
              <a:lumOff val="80000"/>
            </a:schemeClr>
          </a:solidFill>
          <a:ln w="9525" algn="ctr">
            <a:solidFill>
              <a:schemeClr val="accent4"/>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dirty="0"/>
              <a:t>Loading at Patuakhali – Barisal TL incase of Payra Evacuation from Patuakhali</a:t>
            </a:r>
            <a:endParaRPr lang="en-IN" sz="1000" dirty="0"/>
          </a:p>
        </p:txBody>
      </p:sp>
      <p:sp>
        <p:nvSpPr>
          <p:cNvPr id="123" name="Line Callout 1 (Border and Accent Bar) 122"/>
          <p:cNvSpPr/>
          <p:nvPr/>
        </p:nvSpPr>
        <p:spPr bwMode="gray">
          <a:xfrm>
            <a:off x="8320493" y="2039985"/>
            <a:ext cx="1887165" cy="402257"/>
          </a:xfrm>
          <a:prstGeom prst="accentBorderCallout1">
            <a:avLst>
              <a:gd name="adj1" fmla="val 18750"/>
              <a:gd name="adj2" fmla="val -8333"/>
              <a:gd name="adj3" fmla="val 203426"/>
              <a:gd name="adj4" fmla="val -45738"/>
            </a:avLst>
          </a:prstGeom>
          <a:solidFill>
            <a:schemeClr val="accent4">
              <a:lumMod val="20000"/>
              <a:lumOff val="80000"/>
            </a:schemeClr>
          </a:solidFill>
          <a:ln w="9525" algn="ctr">
            <a:solidFill>
              <a:schemeClr val="accent4"/>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dirty="0"/>
              <a:t>Delay in Gopalgonj – Aminbazar TL connectivity</a:t>
            </a:r>
            <a:endParaRPr lang="en-IN" sz="1000" dirty="0"/>
          </a:p>
        </p:txBody>
      </p:sp>
      <p:graphicFrame>
        <p:nvGraphicFramePr>
          <p:cNvPr id="124" name="Table 123"/>
          <p:cNvGraphicFramePr>
            <a:graphicFrameLocks noGrp="1"/>
          </p:cNvGraphicFramePr>
          <p:nvPr>
            <p:extLst>
              <p:ext uri="{D42A27DB-BD31-4B8C-83A1-F6EECF244321}">
                <p14:modId xmlns:p14="http://schemas.microsoft.com/office/powerpoint/2010/main" val="3121320739"/>
              </p:ext>
            </p:extLst>
          </p:nvPr>
        </p:nvGraphicFramePr>
        <p:xfrm>
          <a:off x="452975" y="2391349"/>
          <a:ext cx="4704252" cy="4777840"/>
        </p:xfrm>
        <a:graphic>
          <a:graphicData uri="http://schemas.openxmlformats.org/drawingml/2006/table">
            <a:tbl>
              <a:tblPr firstRow="1" bandRow="1">
                <a:tableStyleId>{21E4AEA4-8DFA-4A89-87EB-49C32662AFE0}</a:tableStyleId>
              </a:tblPr>
              <a:tblGrid>
                <a:gridCol w="539924">
                  <a:extLst>
                    <a:ext uri="{9D8B030D-6E8A-4147-A177-3AD203B41FA5}">
                      <a16:colId xmlns:a16="http://schemas.microsoft.com/office/drawing/2014/main" val="1856096851"/>
                    </a:ext>
                  </a:extLst>
                </a:gridCol>
                <a:gridCol w="983830">
                  <a:extLst>
                    <a:ext uri="{9D8B030D-6E8A-4147-A177-3AD203B41FA5}">
                      <a16:colId xmlns:a16="http://schemas.microsoft.com/office/drawing/2014/main" val="1382100304"/>
                    </a:ext>
                  </a:extLst>
                </a:gridCol>
                <a:gridCol w="3180498">
                  <a:extLst>
                    <a:ext uri="{9D8B030D-6E8A-4147-A177-3AD203B41FA5}">
                      <a16:colId xmlns:a16="http://schemas.microsoft.com/office/drawing/2014/main" val="139354826"/>
                    </a:ext>
                  </a:extLst>
                </a:gridCol>
              </a:tblGrid>
              <a:tr h="370840">
                <a:tc>
                  <a:txBody>
                    <a:bodyPr/>
                    <a:lstStyle/>
                    <a:p>
                      <a:pPr algn="ctr"/>
                      <a:r>
                        <a:rPr lang="en-US" sz="1000" dirty="0"/>
                        <a:t>Sl. No.</a:t>
                      </a:r>
                      <a:endParaRPr lang="en-IN" sz="1000" b="1" dirty="0"/>
                    </a:p>
                  </a:txBody>
                  <a:tcPr marL="36000" marR="36000" marT="36000" marB="36000"/>
                </a:tc>
                <a:tc>
                  <a:txBody>
                    <a:bodyPr/>
                    <a:lstStyle/>
                    <a:p>
                      <a:pPr algn="ctr"/>
                      <a:r>
                        <a:rPr lang="en-US" sz="1000" dirty="0"/>
                        <a:t>Stage</a:t>
                      </a:r>
                      <a:endParaRPr lang="en-IN" sz="1000" b="1" dirty="0"/>
                    </a:p>
                  </a:txBody>
                  <a:tcPr marL="36000" marR="36000" marT="36000" marB="36000"/>
                </a:tc>
                <a:tc>
                  <a:txBody>
                    <a:bodyPr/>
                    <a:lstStyle/>
                    <a:p>
                      <a:r>
                        <a:rPr lang="en-US" sz="1000" dirty="0"/>
                        <a:t>Details</a:t>
                      </a:r>
                      <a:endParaRPr lang="en-IN" sz="1000" b="1" dirty="0"/>
                    </a:p>
                  </a:txBody>
                  <a:tcPr marL="36000" marR="36000" marT="36000" marB="36000"/>
                </a:tc>
                <a:extLst>
                  <a:ext uri="{0D108BD9-81ED-4DB2-BD59-A6C34878D82A}">
                    <a16:rowId xmlns:a16="http://schemas.microsoft.com/office/drawing/2014/main" val="3065448601"/>
                  </a:ext>
                </a:extLst>
              </a:tr>
              <a:tr h="370840">
                <a:tc>
                  <a:txBody>
                    <a:bodyPr/>
                    <a:lstStyle/>
                    <a:p>
                      <a:pPr algn="ctr"/>
                      <a:r>
                        <a:rPr lang="en-US" sz="1000" dirty="0"/>
                        <a:t>1</a:t>
                      </a:r>
                      <a:endParaRPr lang="en-IN" sz="1000" b="0" dirty="0"/>
                    </a:p>
                  </a:txBody>
                  <a:tcPr marL="36000" marR="36000" marT="36000" marB="36000"/>
                </a:tc>
                <a:tc>
                  <a:txBody>
                    <a:bodyPr/>
                    <a:lstStyle/>
                    <a:p>
                      <a:r>
                        <a:rPr lang="en-US" sz="1000" dirty="0"/>
                        <a:t>Switchyard</a:t>
                      </a:r>
                      <a:r>
                        <a:rPr lang="en-US" sz="1000" baseline="0" dirty="0"/>
                        <a:t> connection</a:t>
                      </a:r>
                      <a:endParaRPr lang="en-IN" sz="1000" b="1" dirty="0"/>
                    </a:p>
                  </a:txBody>
                  <a:tcPr marL="36000" marR="36000" marT="36000" marB="36000"/>
                </a:tc>
                <a:tc>
                  <a:txBody>
                    <a:bodyPr/>
                    <a:lstStyle/>
                    <a:p>
                      <a:pPr marL="171450" marR="0" lvl="0" indent="-171450" algn="just" defTabSz="990571" rtl="0" eaLnBrk="1" fontAlgn="auto" latinLnBrk="0" hangingPunct="1">
                        <a:lnSpc>
                          <a:spcPct val="100000"/>
                        </a:lnSpc>
                        <a:spcBef>
                          <a:spcPts val="600"/>
                        </a:spcBef>
                        <a:spcAft>
                          <a:spcPts val="0"/>
                        </a:spcAft>
                        <a:buClrTx/>
                        <a:buSzTx/>
                        <a:buFont typeface="Arial" panose="020B0604020202020204" pitchFamily="34" charset="0"/>
                        <a:buChar char="•"/>
                        <a:tabLst/>
                        <a:defRPr/>
                      </a:pPr>
                      <a:r>
                        <a:rPr lang="en-US" sz="1000" kern="1200" baseline="0" dirty="0">
                          <a:solidFill>
                            <a:schemeClr val="dk1"/>
                          </a:solidFill>
                          <a:latin typeface="+mn-lt"/>
                          <a:ea typeface="+mn-ea"/>
                          <a:cs typeface="+mn-cs"/>
                        </a:rPr>
                        <a:t>Nimbus switch yard is to connect with Bhola 1 switchyard for power transmission</a:t>
                      </a:r>
                    </a:p>
                    <a:p>
                      <a:pPr marL="171450" marR="0" lvl="0" indent="-171450" algn="just" defTabSz="990571" rtl="0" eaLnBrk="1" fontAlgn="auto" latinLnBrk="0" hangingPunct="1">
                        <a:lnSpc>
                          <a:spcPct val="100000"/>
                        </a:lnSpc>
                        <a:spcBef>
                          <a:spcPts val="600"/>
                        </a:spcBef>
                        <a:spcAft>
                          <a:spcPts val="0"/>
                        </a:spcAft>
                        <a:buClrTx/>
                        <a:buSzTx/>
                        <a:buFont typeface="Arial" panose="020B0604020202020204" pitchFamily="34" charset="0"/>
                        <a:buChar char="•"/>
                        <a:tabLst/>
                        <a:defRPr/>
                      </a:pPr>
                      <a:r>
                        <a:rPr lang="en-US" sz="1000" b="1" i="1" kern="1200" baseline="0" dirty="0">
                          <a:solidFill>
                            <a:schemeClr val="dk1"/>
                          </a:solidFill>
                          <a:latin typeface="+mn-lt"/>
                          <a:ea typeface="+mn-ea"/>
                          <a:cs typeface="+mn-cs"/>
                        </a:rPr>
                        <a:t>As per documents provided, we understand the augmentation of Bhola I busbar to allow evacuation of power from Nimbus has been completed</a:t>
                      </a:r>
                    </a:p>
                  </a:txBody>
                  <a:tcPr marL="36000" marR="36000" marT="36000" marB="36000"/>
                </a:tc>
                <a:extLst>
                  <a:ext uri="{0D108BD9-81ED-4DB2-BD59-A6C34878D82A}">
                    <a16:rowId xmlns:a16="http://schemas.microsoft.com/office/drawing/2014/main" val="1968404016"/>
                  </a:ext>
                </a:extLst>
              </a:tr>
              <a:tr h="370840">
                <a:tc>
                  <a:txBody>
                    <a:bodyPr/>
                    <a:lstStyle/>
                    <a:p>
                      <a:pPr algn="ctr"/>
                      <a:r>
                        <a:rPr lang="en-US" sz="1000" dirty="0"/>
                        <a:t>2</a:t>
                      </a:r>
                      <a:endParaRPr lang="en-IN" sz="1000" b="0" dirty="0"/>
                    </a:p>
                  </a:txBody>
                  <a:tcPr marL="36000" marR="36000" marT="36000" marB="36000"/>
                </a:tc>
                <a:tc>
                  <a:txBody>
                    <a:bodyPr/>
                    <a:lstStyle/>
                    <a:p>
                      <a:r>
                        <a:rPr lang="en-US" sz="1000" dirty="0"/>
                        <a:t>Switchyard to Substation</a:t>
                      </a:r>
                      <a:endParaRPr lang="en-IN" sz="1000" b="1" dirty="0"/>
                    </a:p>
                  </a:txBody>
                  <a:tcPr marL="36000" marR="36000" marT="36000" marB="36000"/>
                </a:tc>
                <a:tc>
                  <a:txBody>
                    <a:bodyPr/>
                    <a:lstStyle/>
                    <a:p>
                      <a:r>
                        <a:rPr lang="en-US" sz="1000" dirty="0"/>
                        <a:t>Bhola 1 switchyard</a:t>
                      </a:r>
                      <a:r>
                        <a:rPr lang="en-US" sz="1000" baseline="0" dirty="0"/>
                        <a:t> is connected to the 230 kV Transmission Line connecting Bhola Island to Barisal (N) Substation</a:t>
                      </a:r>
                    </a:p>
                    <a:p>
                      <a:pPr marL="171450" lvl="0" indent="-171450" algn="just">
                        <a:spcBef>
                          <a:spcPts val="600"/>
                        </a:spcBef>
                        <a:spcAft>
                          <a:spcPts val="0"/>
                        </a:spcAft>
                        <a:buFont typeface="Arial" panose="020B0604020202020204" pitchFamily="34" charset="0"/>
                        <a:buChar char="•"/>
                      </a:pPr>
                      <a:r>
                        <a:rPr lang="en-US" sz="1000" baseline="0" dirty="0"/>
                        <a:t>Capacity : 2 X 918 = 1836 Amp ; 621 MW</a:t>
                      </a:r>
                    </a:p>
                    <a:p>
                      <a:pPr marL="171450" lvl="0" indent="-171450" algn="just">
                        <a:spcBef>
                          <a:spcPts val="600"/>
                        </a:spcBef>
                        <a:spcAft>
                          <a:spcPts val="0"/>
                        </a:spcAft>
                        <a:buFont typeface="Arial" panose="020B0604020202020204" pitchFamily="34" charset="0"/>
                        <a:buChar char="•"/>
                      </a:pPr>
                      <a:r>
                        <a:rPr lang="en-US" sz="1000" baseline="0" dirty="0"/>
                        <a:t>Max Loading – 545 MW</a:t>
                      </a:r>
                    </a:p>
                    <a:p>
                      <a:pPr marL="171450" lvl="0" indent="-171450" algn="just">
                        <a:spcBef>
                          <a:spcPts val="600"/>
                        </a:spcBef>
                        <a:spcAft>
                          <a:spcPts val="0"/>
                        </a:spcAft>
                        <a:buFont typeface="Arial" panose="020B0604020202020204" pitchFamily="34" charset="0"/>
                        <a:buChar char="•"/>
                      </a:pPr>
                      <a:r>
                        <a:rPr lang="en-US" sz="1000" baseline="0" dirty="0"/>
                        <a:t>Current Loading – 320 MW (225 MW Bhola I and 95 MW Aggreko)</a:t>
                      </a:r>
                    </a:p>
                    <a:p>
                      <a:pPr marL="171450" lvl="0" indent="-171450" algn="just">
                        <a:spcBef>
                          <a:spcPts val="600"/>
                        </a:spcBef>
                        <a:spcAft>
                          <a:spcPts val="0"/>
                        </a:spcAft>
                        <a:buFont typeface="Arial" panose="020B0604020202020204" pitchFamily="34" charset="0"/>
                        <a:buChar char="•"/>
                      </a:pPr>
                      <a:r>
                        <a:rPr lang="en-US" sz="1000" b="1" i="1" baseline="0" dirty="0"/>
                        <a:t>Buffer Capacity on Transmission line:  225 MW which should be sufficient to evacuate 220 MW from Nimbus</a:t>
                      </a:r>
                    </a:p>
                  </a:txBody>
                  <a:tcPr marL="36000" marR="36000" marT="36000" marB="36000"/>
                </a:tc>
                <a:extLst>
                  <a:ext uri="{0D108BD9-81ED-4DB2-BD59-A6C34878D82A}">
                    <a16:rowId xmlns:a16="http://schemas.microsoft.com/office/drawing/2014/main" val="3246567695"/>
                  </a:ext>
                </a:extLst>
              </a:tr>
              <a:tr h="370840">
                <a:tc>
                  <a:txBody>
                    <a:bodyPr/>
                    <a:lstStyle/>
                    <a:p>
                      <a:pPr algn="ctr"/>
                      <a:r>
                        <a:rPr lang="en-US" sz="1000" b="0" dirty="0"/>
                        <a:t>3</a:t>
                      </a:r>
                      <a:endParaRPr lang="en-IN" sz="1000" b="0" dirty="0"/>
                    </a:p>
                  </a:txBody>
                  <a:tcPr marL="36000" marR="36000" marT="36000" marB="36000"/>
                </a:tc>
                <a:tc>
                  <a:txBody>
                    <a:bodyPr/>
                    <a:lstStyle/>
                    <a:p>
                      <a:r>
                        <a:rPr lang="en-US" sz="1000" dirty="0"/>
                        <a:t>Barishal (N) S/S and beyond</a:t>
                      </a:r>
                      <a:endParaRPr lang="en-IN" sz="1000" b="1" dirty="0"/>
                    </a:p>
                  </a:txBody>
                  <a:tcPr marL="36000" marR="36000" marT="36000" marB="36000"/>
                </a:tc>
                <a:tc>
                  <a:txBody>
                    <a:bodyPr/>
                    <a:lstStyle/>
                    <a:p>
                      <a:pPr marL="171450" marR="0" lvl="0" indent="-171450" algn="just" defTabSz="990571" rtl="0" eaLnBrk="1" fontAlgn="auto" latinLnBrk="0" hangingPunct="1">
                        <a:lnSpc>
                          <a:spcPct val="100000"/>
                        </a:lnSpc>
                        <a:spcBef>
                          <a:spcPts val="600"/>
                        </a:spcBef>
                        <a:spcAft>
                          <a:spcPts val="0"/>
                        </a:spcAft>
                        <a:buClrTx/>
                        <a:buSzTx/>
                        <a:buFont typeface="Arial" panose="020B0604020202020204" pitchFamily="34" charset="0"/>
                        <a:buChar char="•"/>
                        <a:tabLst/>
                        <a:defRPr/>
                      </a:pPr>
                      <a:r>
                        <a:rPr lang="en-US" sz="1000" kern="1200" baseline="0" dirty="0">
                          <a:solidFill>
                            <a:schemeClr val="dk1"/>
                          </a:solidFill>
                          <a:latin typeface="+mn-lt"/>
                          <a:ea typeface="+mn-ea"/>
                          <a:cs typeface="+mn-cs"/>
                        </a:rPr>
                        <a:t>We have also assessed any potential challenges that may arise for evacuation of power from Barisal (N) Substation </a:t>
                      </a:r>
                    </a:p>
                    <a:p>
                      <a:pPr marL="171450" marR="0" lvl="0" indent="-171450" algn="just" defTabSz="990571" rtl="0" eaLnBrk="1" fontAlgn="auto" latinLnBrk="0" hangingPunct="1">
                        <a:lnSpc>
                          <a:spcPct val="100000"/>
                        </a:lnSpc>
                        <a:spcBef>
                          <a:spcPts val="600"/>
                        </a:spcBef>
                        <a:spcAft>
                          <a:spcPts val="0"/>
                        </a:spcAft>
                        <a:buClrTx/>
                        <a:buSzTx/>
                        <a:buFont typeface="Arial" panose="020B0604020202020204" pitchFamily="34" charset="0"/>
                        <a:buChar char="•"/>
                        <a:tabLst/>
                        <a:defRPr/>
                      </a:pPr>
                      <a:r>
                        <a:rPr lang="en-US" sz="1000" b="1" i="1" kern="1200" baseline="0" dirty="0">
                          <a:solidFill>
                            <a:schemeClr val="dk1"/>
                          </a:solidFill>
                          <a:latin typeface="+mn-lt"/>
                          <a:ea typeface="+mn-ea"/>
                          <a:cs typeface="+mn-cs"/>
                        </a:rPr>
                        <a:t>The graph on the right shows 3 potential challenges for evacuation of power from Barisal (N)</a:t>
                      </a:r>
                    </a:p>
                    <a:p>
                      <a:pPr marL="171450" marR="0" lvl="0" indent="-171450" algn="just" defTabSz="990571" rtl="0" eaLnBrk="1" fontAlgn="auto" latinLnBrk="0" hangingPunct="1">
                        <a:lnSpc>
                          <a:spcPct val="100000"/>
                        </a:lnSpc>
                        <a:spcBef>
                          <a:spcPts val="600"/>
                        </a:spcBef>
                        <a:spcAft>
                          <a:spcPts val="0"/>
                        </a:spcAft>
                        <a:buClrTx/>
                        <a:buSzTx/>
                        <a:buFont typeface="Arial" panose="020B0604020202020204" pitchFamily="34" charset="0"/>
                        <a:buChar char="•"/>
                        <a:tabLst/>
                        <a:defRPr/>
                      </a:pPr>
                      <a:r>
                        <a:rPr lang="en-US" sz="1000" b="1" i="1" kern="1200" baseline="0" dirty="0">
                          <a:solidFill>
                            <a:schemeClr val="dk1"/>
                          </a:solidFill>
                          <a:latin typeface="+mn-lt"/>
                          <a:ea typeface="+mn-ea"/>
                          <a:cs typeface="+mn-cs"/>
                        </a:rPr>
                        <a:t>Each of these issues have been discussed in detail in subsequent slides</a:t>
                      </a:r>
                    </a:p>
                  </a:txBody>
                  <a:tcPr marL="36000" marR="36000" marT="36000" marB="36000"/>
                </a:tc>
                <a:extLst>
                  <a:ext uri="{0D108BD9-81ED-4DB2-BD59-A6C34878D82A}">
                    <a16:rowId xmlns:a16="http://schemas.microsoft.com/office/drawing/2014/main" val="879001433"/>
                  </a:ext>
                </a:extLst>
              </a:tr>
            </a:tbl>
          </a:graphicData>
        </a:graphic>
      </p:graphicFrame>
      <p:sp>
        <p:nvSpPr>
          <p:cNvPr id="125" name="Rectangle 124"/>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PGCB, NBBL, Deloitte Analysis Note: 1) Map not to scale 2) UC donates under construction lines</a:t>
            </a:r>
          </a:p>
        </p:txBody>
      </p:sp>
      <p:sp>
        <p:nvSpPr>
          <p:cNvPr id="127" name="Title 1"/>
          <p:cNvSpPr>
            <a:spLocks noGrp="1"/>
          </p:cNvSpPr>
          <p:nvPr>
            <p:ph type="title"/>
          </p:nvPr>
        </p:nvSpPr>
        <p:spPr>
          <a:xfrm>
            <a:off x="449264" y="647700"/>
            <a:ext cx="9791700" cy="431800"/>
          </a:xfrm>
        </p:spPr>
        <p:txBody>
          <a:bodyPr/>
          <a:lstStyle/>
          <a:p>
            <a:r>
              <a:rPr lang="en-US" dirty="0"/>
              <a:t>Electricity Transmission | Current Plan for Evacuation of Power for Nimbus</a:t>
            </a:r>
            <a:endParaRPr lang="en-IN" dirty="0"/>
          </a:p>
        </p:txBody>
      </p:sp>
      <p:sp>
        <p:nvSpPr>
          <p:cNvPr id="128"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0">
              <a:defRPr/>
            </a:pPr>
            <a:r>
              <a:rPr lang="en-US" sz="1400" dirty="0">
                <a:solidFill>
                  <a:prstClr val="black">
                    <a:lumMod val="50000"/>
                    <a:lumOff val="50000"/>
                  </a:prstClr>
                </a:solidFill>
                <a:latin typeface="Verdana" panose="020B0604030504040204" pitchFamily="34" charset="0"/>
              </a:rPr>
              <a:t>As per Electrical Interconnection &amp; Transmission Plan, Nimbus will evacuate the power generated through Bhola I switchyard via 230 kV transmission line to Barisal (N) substation</a:t>
            </a:r>
          </a:p>
        </p:txBody>
      </p:sp>
    </p:spTree>
    <p:extLst>
      <p:ext uri="{BB962C8B-B14F-4D97-AF65-F5344CB8AC3E}">
        <p14:creationId xmlns:p14="http://schemas.microsoft.com/office/powerpoint/2010/main" val="2322652457"/>
      </p:ext>
    </p:extLst>
  </p:cSld>
  <p:clrMapOvr>
    <a:masterClrMapping/>
  </p:clrMapOvr>
  <p:transition>
    <p:fade/>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43480532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3" name="Object 2"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21" name="Rectangle 20"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4" name="Table 3"/>
          <p:cNvGraphicFramePr>
            <a:graphicFrameLocks noGrp="1"/>
          </p:cNvGraphicFramePr>
          <p:nvPr>
            <p:custDataLst>
              <p:tags r:id="rId3"/>
            </p:custDataLst>
            <p:extLst>
              <p:ext uri="{D42A27DB-BD31-4B8C-83A1-F6EECF244321}">
                <p14:modId xmlns:p14="http://schemas.microsoft.com/office/powerpoint/2010/main" val="841552611"/>
              </p:ext>
            </p:extLst>
          </p:nvPr>
        </p:nvGraphicFramePr>
        <p:xfrm>
          <a:off x="449993" y="1961918"/>
          <a:ext cx="4734896" cy="54115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723655">
                <a:tc>
                  <a:txBody>
                    <a:bodyPr/>
                    <a:lstStyle/>
                    <a:p>
                      <a:pPr marL="0" indent="0" algn="just">
                        <a:spcBef>
                          <a:spcPts val="600"/>
                        </a:spcBef>
                        <a:spcAft>
                          <a:spcPts val="600"/>
                        </a:spcAft>
                        <a:buFont typeface="Arial" panose="020B0604020202020204" pitchFamily="34" charset="0"/>
                        <a:buNone/>
                      </a:pPr>
                      <a:r>
                        <a:rPr lang="en-US" sz="1000" b="1" baseline="0" dirty="0">
                          <a:solidFill>
                            <a:schemeClr val="tx1"/>
                          </a:solidFill>
                        </a:rPr>
                        <a:t>Potential risks for transmission evacuation</a:t>
                      </a:r>
                    </a:p>
                    <a:p>
                      <a:pPr marL="228600" indent="-228600" algn="just">
                        <a:spcBef>
                          <a:spcPts val="0"/>
                        </a:spcBef>
                        <a:spcAft>
                          <a:spcPts val="600"/>
                        </a:spcAft>
                        <a:buFont typeface="+mj-lt"/>
                        <a:buAutoNum type="arabicPeriod"/>
                      </a:pPr>
                      <a:r>
                        <a:rPr lang="en-US" sz="1000" b="1" baseline="0" dirty="0">
                          <a:solidFill>
                            <a:schemeClr val="tx1"/>
                          </a:solidFill>
                        </a:rPr>
                        <a:t>Loading constraint at Barisal N S/S due to insufficient existing capacity</a:t>
                      </a:r>
                    </a:p>
                    <a:p>
                      <a:pPr marL="228600" indent="-228600" algn="just">
                        <a:spcBef>
                          <a:spcPts val="0"/>
                        </a:spcBef>
                        <a:spcAft>
                          <a:spcPts val="600"/>
                        </a:spcAft>
                        <a:buFont typeface="+mj-lt"/>
                        <a:buAutoNum type="arabicPeriod"/>
                      </a:pPr>
                      <a:endParaRPr lang="en-US" sz="1000" b="1" baseline="0" dirty="0">
                        <a:solidFill>
                          <a:schemeClr val="tx1"/>
                        </a:solidFill>
                      </a:endParaRPr>
                    </a:p>
                    <a:p>
                      <a:pPr marL="228600" indent="-228600" algn="just">
                        <a:spcBef>
                          <a:spcPts val="0"/>
                        </a:spcBef>
                        <a:spcAft>
                          <a:spcPts val="600"/>
                        </a:spcAft>
                        <a:buFont typeface="+mj-lt"/>
                        <a:buAutoNum type="arabicPeriod"/>
                      </a:pPr>
                      <a:endParaRPr lang="en-US" sz="1000" b="1" baseline="0" dirty="0">
                        <a:solidFill>
                          <a:schemeClr val="tx1"/>
                        </a:solidFill>
                      </a:endParaRPr>
                    </a:p>
                    <a:p>
                      <a:pPr marL="228600" indent="-228600" algn="just">
                        <a:spcBef>
                          <a:spcPts val="0"/>
                        </a:spcBef>
                        <a:spcAft>
                          <a:spcPts val="600"/>
                        </a:spcAft>
                        <a:buFont typeface="+mj-lt"/>
                        <a:buAutoNum type="arabicPeriod"/>
                      </a:pPr>
                      <a:endParaRPr lang="en-US" sz="1000" b="1" baseline="0" dirty="0">
                        <a:solidFill>
                          <a:schemeClr val="tx1"/>
                        </a:solidFill>
                      </a:endParaRPr>
                    </a:p>
                    <a:p>
                      <a:pPr marL="228600" indent="-228600" algn="just">
                        <a:spcBef>
                          <a:spcPts val="0"/>
                        </a:spcBef>
                        <a:spcAft>
                          <a:spcPts val="600"/>
                        </a:spcAft>
                        <a:buFont typeface="+mj-lt"/>
                        <a:buAutoNum type="arabicPeriod"/>
                      </a:pPr>
                      <a:endParaRPr lang="en-US" sz="1000" b="1" baseline="0" dirty="0">
                        <a:solidFill>
                          <a:schemeClr val="tx1"/>
                        </a:solidFill>
                      </a:endParaRPr>
                    </a:p>
                    <a:p>
                      <a:pPr marL="228600" indent="-228600" algn="just">
                        <a:spcBef>
                          <a:spcPts val="0"/>
                        </a:spcBef>
                        <a:spcAft>
                          <a:spcPts val="600"/>
                        </a:spcAft>
                        <a:buFont typeface="+mj-lt"/>
                        <a:buAutoNum type="arabicPeriod"/>
                      </a:pPr>
                      <a:endParaRPr lang="en-US" sz="1000" b="1" baseline="0" dirty="0">
                        <a:solidFill>
                          <a:schemeClr val="tx1"/>
                        </a:solidFill>
                      </a:endParaRPr>
                    </a:p>
                    <a:p>
                      <a:pPr marL="228600" indent="-228600" algn="just">
                        <a:spcBef>
                          <a:spcPts val="0"/>
                        </a:spcBef>
                        <a:spcAft>
                          <a:spcPts val="600"/>
                        </a:spcAft>
                        <a:buFont typeface="+mj-lt"/>
                        <a:buAutoNum type="arabicPeriod"/>
                      </a:pPr>
                      <a:endParaRPr lang="en-US" sz="1000" b="1" baseline="0" dirty="0">
                        <a:solidFill>
                          <a:schemeClr val="tx1"/>
                        </a:solidFill>
                      </a:endParaRPr>
                    </a:p>
                    <a:p>
                      <a:pPr marL="228600" indent="-228600" algn="just">
                        <a:spcBef>
                          <a:spcPts val="0"/>
                        </a:spcBef>
                        <a:spcAft>
                          <a:spcPts val="600"/>
                        </a:spcAft>
                        <a:buFont typeface="+mj-lt"/>
                        <a:buAutoNum type="arabicPeriod"/>
                      </a:pPr>
                      <a:endParaRPr lang="en-US" sz="1000" b="1" baseline="0" dirty="0">
                        <a:solidFill>
                          <a:schemeClr val="tx1"/>
                        </a:solidFill>
                      </a:endParaRPr>
                    </a:p>
                    <a:p>
                      <a:pPr marL="0" indent="0" algn="just">
                        <a:spcBef>
                          <a:spcPts val="0"/>
                        </a:spcBef>
                        <a:spcAft>
                          <a:spcPts val="600"/>
                        </a:spcAft>
                        <a:buFont typeface="+mj-lt"/>
                        <a:buNone/>
                      </a:pPr>
                      <a:endParaRPr lang="en-US" sz="1000" b="1" baseline="0" dirty="0">
                        <a:solidFill>
                          <a:schemeClr val="tx1"/>
                        </a:solidFill>
                      </a:endParaRPr>
                    </a:p>
                    <a:p>
                      <a:pPr marL="228600" indent="-228600" algn="just">
                        <a:spcBef>
                          <a:spcPts val="0"/>
                        </a:spcBef>
                        <a:spcAft>
                          <a:spcPts val="600"/>
                        </a:spcAft>
                        <a:buFont typeface="+mj-lt"/>
                        <a:buAutoNum type="arabicPeriod"/>
                      </a:pPr>
                      <a:endParaRPr lang="en-US" sz="1000" b="1" baseline="0" dirty="0">
                        <a:solidFill>
                          <a:schemeClr val="tx1"/>
                        </a:solidFill>
                      </a:endParaRPr>
                    </a:p>
                    <a:p>
                      <a:pPr marL="228600" indent="-228600" algn="just">
                        <a:spcBef>
                          <a:spcPts val="0"/>
                        </a:spcBef>
                        <a:spcAft>
                          <a:spcPts val="600"/>
                        </a:spcAft>
                        <a:buFont typeface="+mj-lt"/>
                        <a:buAutoNum type="arabicPeriod"/>
                      </a:pPr>
                      <a:endParaRPr lang="en-US" sz="1000" b="1" baseline="0" dirty="0">
                        <a:solidFill>
                          <a:schemeClr val="tx1"/>
                        </a:solidFill>
                      </a:endParaRPr>
                    </a:p>
                    <a:p>
                      <a:pPr marL="228600" indent="-228600" algn="just">
                        <a:spcBef>
                          <a:spcPts val="0"/>
                        </a:spcBef>
                        <a:spcAft>
                          <a:spcPts val="600"/>
                        </a:spcAft>
                        <a:buFont typeface="+mj-lt"/>
                        <a:buAutoNum type="arabicPeriod"/>
                      </a:pPr>
                      <a:endParaRPr lang="en-US" sz="1000" b="1" baseline="0" dirty="0">
                        <a:solidFill>
                          <a:schemeClr val="tx1"/>
                        </a:solidFill>
                      </a:endParaRPr>
                    </a:p>
                    <a:p>
                      <a:pPr marL="228600" indent="-228600" algn="just">
                        <a:spcBef>
                          <a:spcPts val="0"/>
                        </a:spcBef>
                        <a:spcAft>
                          <a:spcPts val="600"/>
                        </a:spcAft>
                        <a:buFont typeface="+mj-lt"/>
                        <a:buAutoNum type="arabicPeriod"/>
                      </a:pPr>
                      <a:endParaRPr lang="en-US" sz="1000" b="1" baseline="0" dirty="0">
                        <a:solidFill>
                          <a:schemeClr val="tx1"/>
                        </a:solidFill>
                      </a:endParaRPr>
                    </a:p>
                    <a:p>
                      <a:pPr marL="171450" lvl="0" indent="-171450" algn="just">
                        <a:spcBef>
                          <a:spcPts val="0"/>
                        </a:spcBef>
                        <a:spcAft>
                          <a:spcPts val="600"/>
                        </a:spcAft>
                        <a:buFont typeface="Arial" panose="020B0604020202020204" pitchFamily="34" charset="0"/>
                        <a:buChar char="•"/>
                      </a:pPr>
                      <a:r>
                        <a:rPr lang="en-US" sz="1000" b="0" baseline="0" dirty="0">
                          <a:solidFill>
                            <a:schemeClr val="tx1"/>
                          </a:solidFill>
                        </a:rPr>
                        <a:t>With overall transformer capacity of Barisal Substation ~510 MW and evacuation of ~540 MW required from Bhola I, Aggreko &amp; NBBL Plants, there may be a requirement of substation capacity augmentation at Barisal (N)</a:t>
                      </a:r>
                    </a:p>
                    <a:p>
                      <a:pPr marL="171450" lvl="0" indent="-171450" algn="just">
                        <a:spcBef>
                          <a:spcPts val="0"/>
                        </a:spcBef>
                        <a:spcAft>
                          <a:spcPts val="600"/>
                        </a:spcAft>
                        <a:buFont typeface="Arial" panose="020B0604020202020204" pitchFamily="34" charset="0"/>
                        <a:buChar char="•"/>
                      </a:pPr>
                      <a:r>
                        <a:rPr lang="en-US" sz="1000" b="1" i="1" baseline="0" dirty="0">
                          <a:solidFill>
                            <a:schemeClr val="tx1"/>
                          </a:solidFill>
                        </a:rPr>
                        <a:t>In case the augmentation is not conducted, there may be evacuation challenge of NBBL if all plants are running at maximum dispatchable capacity</a:t>
                      </a:r>
                    </a:p>
                    <a:p>
                      <a:pPr marL="171450" lvl="0" indent="-171450" algn="just">
                        <a:spcBef>
                          <a:spcPts val="0"/>
                        </a:spcBef>
                        <a:spcAft>
                          <a:spcPts val="600"/>
                        </a:spcAft>
                        <a:buFont typeface="Arial" panose="020B0604020202020204" pitchFamily="34" charset="0"/>
                        <a:buChar char="•"/>
                      </a:pPr>
                      <a:r>
                        <a:rPr lang="en-US" sz="1000" b="1" i="1" baseline="0" dirty="0">
                          <a:solidFill>
                            <a:schemeClr val="tx1"/>
                          </a:solidFill>
                        </a:rPr>
                        <a:t>However in case Aggreko 95 MW PPA is not extended beyond FY22, then the evacuation risk would be for short term only</a:t>
                      </a:r>
                    </a:p>
                    <a:p>
                      <a:pPr marL="171450" lvl="0" indent="-171450" algn="just">
                        <a:spcBef>
                          <a:spcPts val="0"/>
                        </a:spcBef>
                        <a:spcAft>
                          <a:spcPts val="6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5" name="Oval 4"/>
          <p:cNvSpPr/>
          <p:nvPr/>
        </p:nvSpPr>
        <p:spPr bwMode="gray">
          <a:xfrm>
            <a:off x="8595892" y="5624091"/>
            <a:ext cx="233916" cy="233916"/>
          </a:xfrm>
          <a:prstGeom prst="ellipse">
            <a:avLst/>
          </a:prstGeom>
          <a:solidFill>
            <a:schemeClr val="bg1"/>
          </a:solidFill>
          <a:ln w="19050" algn="ctr">
            <a:solidFill>
              <a:srgbClr val="FF0AFF"/>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dirty="0">
                <a:ln>
                  <a:noFill/>
                </a:ln>
                <a:solidFill>
                  <a:srgbClr val="FF0AFF"/>
                </a:solidFill>
                <a:effectLst/>
                <a:uLnTx/>
                <a:uFillTx/>
                <a:latin typeface="Verdana"/>
                <a:ea typeface="+mn-ea"/>
                <a:cs typeface="+mn-cs"/>
              </a:rPr>
              <a:t>G</a:t>
            </a:r>
            <a:endParaRPr kumimoji="0" lang="en-IN" sz="1600" b="1" i="0" u="none" strike="noStrike" kern="1200" cap="none" spc="0" normalizeH="0" baseline="0" noProof="0" dirty="0">
              <a:ln>
                <a:noFill/>
              </a:ln>
              <a:solidFill>
                <a:srgbClr val="FF0AFF"/>
              </a:solidFill>
              <a:effectLst/>
              <a:uLnTx/>
              <a:uFillTx/>
              <a:latin typeface="Verdana"/>
              <a:ea typeface="+mn-ea"/>
              <a:cs typeface="+mn-cs"/>
            </a:endParaRPr>
          </a:p>
        </p:txBody>
      </p:sp>
      <p:sp>
        <p:nvSpPr>
          <p:cNvPr id="6" name="TextBox 5"/>
          <p:cNvSpPr txBox="1"/>
          <p:nvPr/>
        </p:nvSpPr>
        <p:spPr>
          <a:xfrm>
            <a:off x="8595892" y="5858007"/>
            <a:ext cx="542260" cy="15388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NBBL</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pic>
        <p:nvPicPr>
          <p:cNvPr id="7" name="Picture 6"/>
          <p:cNvPicPr>
            <a:picLocks noChangeAspect="1"/>
          </p:cNvPicPr>
          <p:nvPr/>
        </p:nvPicPr>
        <p:blipFill>
          <a:blip r:embed="rId7"/>
          <a:stretch>
            <a:fillRect/>
          </a:stretch>
        </p:blipFill>
        <p:spPr>
          <a:xfrm>
            <a:off x="5467614" y="1961918"/>
            <a:ext cx="4761170" cy="5144563"/>
          </a:xfrm>
          <a:prstGeom prst="rect">
            <a:avLst/>
          </a:prstGeom>
        </p:spPr>
      </p:pic>
      <p:grpSp>
        <p:nvGrpSpPr>
          <p:cNvPr id="8" name="Group 7"/>
          <p:cNvGrpSpPr/>
          <p:nvPr/>
        </p:nvGrpSpPr>
        <p:grpSpPr>
          <a:xfrm>
            <a:off x="5467614" y="1961918"/>
            <a:ext cx="1371600" cy="744279"/>
            <a:chOff x="11415912" y="2134183"/>
            <a:chExt cx="1371600" cy="744279"/>
          </a:xfrm>
        </p:grpSpPr>
        <p:sp>
          <p:nvSpPr>
            <p:cNvPr id="9" name="Rectangle 8"/>
            <p:cNvSpPr/>
            <p:nvPr/>
          </p:nvSpPr>
          <p:spPr bwMode="gray">
            <a:xfrm>
              <a:off x="11415912" y="2134183"/>
              <a:ext cx="1371600" cy="744279"/>
            </a:xfrm>
            <a:prstGeom prst="rect">
              <a:avLst/>
            </a:prstGeom>
            <a:solidFill>
              <a:schemeClr val="bg1"/>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 name="TextBox 9"/>
            <p:cNvSpPr txBox="1"/>
            <p:nvPr/>
          </p:nvSpPr>
          <p:spPr>
            <a:xfrm>
              <a:off x="12006150" y="2198547"/>
              <a:ext cx="574158" cy="15388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400 kV</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sp>
          <p:nvSpPr>
            <p:cNvPr id="11" name="TextBox 10"/>
            <p:cNvSpPr txBox="1"/>
            <p:nvPr/>
          </p:nvSpPr>
          <p:spPr>
            <a:xfrm>
              <a:off x="12006150" y="2352435"/>
              <a:ext cx="574158" cy="15388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230 kV</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sp>
          <p:nvSpPr>
            <p:cNvPr id="12" name="TextBox 11"/>
            <p:cNvSpPr txBox="1"/>
            <p:nvPr/>
          </p:nvSpPr>
          <p:spPr>
            <a:xfrm>
              <a:off x="12006150" y="2506323"/>
              <a:ext cx="574158" cy="15388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132 kV</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sp>
          <p:nvSpPr>
            <p:cNvPr id="13" name="TextBox 12"/>
            <p:cNvSpPr txBox="1"/>
            <p:nvPr/>
          </p:nvSpPr>
          <p:spPr>
            <a:xfrm>
              <a:off x="12006150" y="2660212"/>
              <a:ext cx="706934" cy="15388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Generator</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cxnSp>
          <p:nvCxnSpPr>
            <p:cNvPr id="14" name="Straight Connector 13"/>
            <p:cNvCxnSpPr/>
            <p:nvPr/>
          </p:nvCxnSpPr>
          <p:spPr>
            <a:xfrm>
              <a:off x="11511605" y="2262345"/>
              <a:ext cx="393405" cy="0"/>
            </a:xfrm>
            <a:prstGeom prst="line">
              <a:avLst/>
            </a:prstGeom>
            <a:ln w="38100">
              <a:solidFill>
                <a:srgbClr val="9A4AB3"/>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11511605" y="2429379"/>
              <a:ext cx="393405" cy="0"/>
            </a:xfrm>
            <a:prstGeom prst="line">
              <a:avLst/>
            </a:prstGeom>
            <a:ln w="38100">
              <a:solidFill>
                <a:srgbClr val="54A154"/>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11511605" y="2583267"/>
              <a:ext cx="39340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Oval 16"/>
            <p:cNvSpPr/>
            <p:nvPr/>
          </p:nvSpPr>
          <p:spPr bwMode="gray">
            <a:xfrm>
              <a:off x="11570346" y="2644840"/>
              <a:ext cx="152822" cy="152822"/>
            </a:xfrm>
            <a:prstGeom prst="ellipse">
              <a:avLst/>
            </a:prstGeom>
            <a:solidFill>
              <a:schemeClr val="bg1"/>
            </a:solidFill>
            <a:ln w="19050" algn="ctr">
              <a:solidFill>
                <a:srgbClr val="FF0AFF"/>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00" b="1" i="0" u="none" strike="noStrike" kern="1200" cap="none" spc="0" normalizeH="0" baseline="0" noProof="0" dirty="0">
                  <a:ln>
                    <a:noFill/>
                  </a:ln>
                  <a:solidFill>
                    <a:srgbClr val="FF0AFF"/>
                  </a:solidFill>
                  <a:effectLst/>
                  <a:uLnTx/>
                  <a:uFillTx/>
                  <a:latin typeface="Verdana"/>
                  <a:ea typeface="+mn-ea"/>
                  <a:cs typeface="+mn-cs"/>
                </a:rPr>
                <a:t>G</a:t>
              </a:r>
              <a:endParaRPr kumimoji="0" lang="en-IN" sz="1000" b="1" i="0" u="none" strike="noStrike" kern="1200" cap="none" spc="0" normalizeH="0" baseline="0" noProof="0" dirty="0">
                <a:ln>
                  <a:noFill/>
                </a:ln>
                <a:solidFill>
                  <a:srgbClr val="FF0AFF"/>
                </a:solidFill>
                <a:effectLst/>
                <a:uLnTx/>
                <a:uFillTx/>
                <a:latin typeface="Verdana"/>
                <a:ea typeface="+mn-ea"/>
                <a:cs typeface="+mn-cs"/>
              </a:endParaRPr>
            </a:p>
          </p:txBody>
        </p:sp>
      </p:grpSp>
      <p:sp>
        <p:nvSpPr>
          <p:cNvPr id="18" name="Oval 17"/>
          <p:cNvSpPr/>
          <p:nvPr/>
        </p:nvSpPr>
        <p:spPr bwMode="gray">
          <a:xfrm>
            <a:off x="5513973" y="5218403"/>
            <a:ext cx="2532916" cy="1349980"/>
          </a:xfrm>
          <a:prstGeom prst="ellipse">
            <a:avLst/>
          </a:prstGeom>
          <a:solidFill>
            <a:schemeClr val="accent5">
              <a:alpha val="23000"/>
            </a:schemeClr>
          </a:solidFill>
          <a:ln w="19050" algn="ctr">
            <a:noFill/>
            <a:prstDash val="dashDot"/>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9" name="Title 1"/>
          <p:cNvSpPr>
            <a:spLocks noGrp="1"/>
          </p:cNvSpPr>
          <p:nvPr>
            <p:ph type="title"/>
          </p:nvPr>
        </p:nvSpPr>
        <p:spPr>
          <a:xfrm>
            <a:off x="449264" y="647700"/>
            <a:ext cx="9791700" cy="431800"/>
          </a:xfrm>
        </p:spPr>
        <p:txBody>
          <a:bodyPr/>
          <a:lstStyle/>
          <a:p>
            <a:r>
              <a:rPr lang="en-US" dirty="0"/>
              <a:t>Electricity Transmission | Substation Capacity at Barisal (N)</a:t>
            </a:r>
            <a:endParaRPr lang="en-IN" dirty="0"/>
          </a:p>
        </p:txBody>
      </p:sp>
      <p:sp>
        <p:nvSpPr>
          <p:cNvPr id="2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0">
              <a:defRPr/>
            </a:pPr>
            <a:r>
              <a:rPr lang="en-US" sz="1400" dirty="0">
                <a:solidFill>
                  <a:prstClr val="black">
                    <a:lumMod val="50000"/>
                    <a:lumOff val="50000"/>
                  </a:prstClr>
                </a:solidFill>
                <a:latin typeface="Verdana" panose="020B0604030504040204" pitchFamily="34" charset="0"/>
              </a:rPr>
              <a:t>The transformer capacity at Barisal (N) may need to be augmented to allow all plants from Bhola Island to run at maximum dispatchable capacity</a:t>
            </a:r>
          </a:p>
        </p:txBody>
      </p:sp>
      <p:sp>
        <p:nvSpPr>
          <p:cNvPr id="22" name="Oval 21"/>
          <p:cNvSpPr/>
          <p:nvPr/>
        </p:nvSpPr>
        <p:spPr bwMode="gray">
          <a:xfrm>
            <a:off x="6690624" y="5637771"/>
            <a:ext cx="297180" cy="297180"/>
          </a:xfrm>
          <a:prstGeom prst="ellipse">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solidFill>
                  <a:schemeClr val="bg1"/>
                </a:solidFill>
              </a:rPr>
              <a:t>1</a:t>
            </a:r>
            <a:endParaRPr lang="en-IN" sz="1000" b="1" dirty="0">
              <a:solidFill>
                <a:schemeClr val="bg1"/>
              </a:solidFill>
            </a:endParaRPr>
          </a:p>
        </p:txBody>
      </p:sp>
      <p:sp>
        <p:nvSpPr>
          <p:cNvPr id="23" name="Line Callout 1 (Border and Accent Bar) 22"/>
          <p:cNvSpPr/>
          <p:nvPr/>
        </p:nvSpPr>
        <p:spPr bwMode="gray">
          <a:xfrm>
            <a:off x="8046889" y="5692264"/>
            <a:ext cx="2181895" cy="876119"/>
          </a:xfrm>
          <a:prstGeom prst="accentBorderCallout1">
            <a:avLst>
              <a:gd name="adj1" fmla="val 18750"/>
              <a:gd name="adj2" fmla="val -8333"/>
              <a:gd name="adj3" fmla="val 7365"/>
              <a:gd name="adj4" fmla="val -69716"/>
            </a:avLst>
          </a:prstGeom>
          <a:solidFill>
            <a:schemeClr val="accent4">
              <a:lumMod val="20000"/>
              <a:lumOff val="80000"/>
            </a:schemeClr>
          </a:solidFill>
          <a:ln w="9525" algn="ctr">
            <a:solidFill>
              <a:schemeClr val="accent4"/>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dirty="0"/>
              <a:t>Substation Capacity of Barisal (N) = 600 MVA = ~510 MW</a:t>
            </a:r>
          </a:p>
          <a:p>
            <a:pPr algn="ctr">
              <a:lnSpc>
                <a:spcPct val="106000"/>
              </a:lnSpc>
              <a:buFont typeface="Wingdings 2" pitchFamily="18" charset="2"/>
              <a:buNone/>
            </a:pPr>
            <a:endParaRPr lang="en-US" sz="1000" dirty="0"/>
          </a:p>
          <a:p>
            <a:pPr algn="ctr">
              <a:lnSpc>
                <a:spcPct val="106000"/>
              </a:lnSpc>
              <a:buFont typeface="Wingdings 2" pitchFamily="18" charset="2"/>
              <a:buNone/>
            </a:pPr>
            <a:r>
              <a:rPr lang="en-US" sz="1000" dirty="0"/>
              <a:t>Evacuation Capacity Required ~540 MW</a:t>
            </a:r>
            <a:endParaRPr lang="en-IN" sz="1000" dirty="0"/>
          </a:p>
        </p:txBody>
      </p:sp>
      <p:graphicFrame>
        <p:nvGraphicFramePr>
          <p:cNvPr id="25" name="Table 24"/>
          <p:cNvGraphicFramePr>
            <a:graphicFrameLocks noGrp="1"/>
          </p:cNvGraphicFramePr>
          <p:nvPr>
            <p:extLst>
              <p:ext uri="{D42A27DB-BD31-4B8C-83A1-F6EECF244321}">
                <p14:modId xmlns:p14="http://schemas.microsoft.com/office/powerpoint/2010/main" val="4155470504"/>
              </p:ext>
            </p:extLst>
          </p:nvPr>
        </p:nvGraphicFramePr>
        <p:xfrm>
          <a:off x="449628" y="2742027"/>
          <a:ext cx="4735625" cy="2576440"/>
        </p:xfrm>
        <a:graphic>
          <a:graphicData uri="http://schemas.openxmlformats.org/drawingml/2006/table">
            <a:tbl>
              <a:tblPr firstRow="1" bandRow="1">
                <a:tableStyleId>{21E4AEA4-8DFA-4A89-87EB-49C32662AFE0}</a:tableStyleId>
              </a:tblPr>
              <a:tblGrid>
                <a:gridCol w="543525">
                  <a:extLst>
                    <a:ext uri="{9D8B030D-6E8A-4147-A177-3AD203B41FA5}">
                      <a16:colId xmlns:a16="http://schemas.microsoft.com/office/drawing/2014/main" val="1856096851"/>
                    </a:ext>
                  </a:extLst>
                </a:gridCol>
                <a:gridCol w="870301">
                  <a:extLst>
                    <a:ext uri="{9D8B030D-6E8A-4147-A177-3AD203B41FA5}">
                      <a16:colId xmlns:a16="http://schemas.microsoft.com/office/drawing/2014/main" val="1382100304"/>
                    </a:ext>
                  </a:extLst>
                </a:gridCol>
                <a:gridCol w="3321799">
                  <a:extLst>
                    <a:ext uri="{9D8B030D-6E8A-4147-A177-3AD203B41FA5}">
                      <a16:colId xmlns:a16="http://schemas.microsoft.com/office/drawing/2014/main" val="139354826"/>
                    </a:ext>
                  </a:extLst>
                </a:gridCol>
              </a:tblGrid>
              <a:tr h="370840">
                <a:tc>
                  <a:txBody>
                    <a:bodyPr/>
                    <a:lstStyle/>
                    <a:p>
                      <a:pPr algn="ctr"/>
                      <a:r>
                        <a:rPr lang="en-US" sz="1000" dirty="0"/>
                        <a:t>Sl. No.</a:t>
                      </a:r>
                      <a:endParaRPr lang="en-IN" sz="1000" b="1" dirty="0"/>
                    </a:p>
                  </a:txBody>
                  <a:tcPr marL="36000" marR="36000" marT="36000" marB="36000"/>
                </a:tc>
                <a:tc>
                  <a:txBody>
                    <a:bodyPr/>
                    <a:lstStyle/>
                    <a:p>
                      <a:pPr algn="ctr"/>
                      <a:r>
                        <a:rPr lang="en-US" sz="1000" dirty="0"/>
                        <a:t>Stage</a:t>
                      </a:r>
                      <a:endParaRPr lang="en-IN" sz="1000" b="1" dirty="0"/>
                    </a:p>
                  </a:txBody>
                  <a:tcPr marL="36000" marR="36000" marT="36000" marB="36000"/>
                </a:tc>
                <a:tc>
                  <a:txBody>
                    <a:bodyPr/>
                    <a:lstStyle/>
                    <a:p>
                      <a:r>
                        <a:rPr lang="en-US" sz="1000" dirty="0"/>
                        <a:t>Details</a:t>
                      </a:r>
                      <a:endParaRPr lang="en-IN" sz="1000" b="1" dirty="0"/>
                    </a:p>
                  </a:txBody>
                  <a:tcPr marL="36000" marR="36000" marT="36000" marB="36000"/>
                </a:tc>
                <a:extLst>
                  <a:ext uri="{0D108BD9-81ED-4DB2-BD59-A6C34878D82A}">
                    <a16:rowId xmlns:a16="http://schemas.microsoft.com/office/drawing/2014/main" val="3065448601"/>
                  </a:ext>
                </a:extLst>
              </a:tr>
              <a:tr h="370840">
                <a:tc>
                  <a:txBody>
                    <a:bodyPr/>
                    <a:lstStyle/>
                    <a:p>
                      <a:pPr algn="ctr"/>
                      <a:r>
                        <a:rPr lang="en-US" sz="1000" dirty="0"/>
                        <a:t>4</a:t>
                      </a:r>
                      <a:endParaRPr lang="en-IN" sz="1000" b="0" dirty="0"/>
                    </a:p>
                  </a:txBody>
                  <a:tcPr marL="36000" marR="36000" marT="36000" marB="36000"/>
                </a:tc>
                <a:tc>
                  <a:txBody>
                    <a:bodyPr/>
                    <a:lstStyle/>
                    <a:p>
                      <a:r>
                        <a:rPr lang="en-US" sz="1000" dirty="0"/>
                        <a:t>Barishal (N) S/S</a:t>
                      </a:r>
                      <a:endParaRPr lang="en-IN" sz="1000" b="1" dirty="0"/>
                    </a:p>
                  </a:txBody>
                  <a:tcPr marL="36000" marR="36000" marT="36000" marB="36000"/>
                </a:tc>
                <a:tc>
                  <a:txBody>
                    <a:bodyPr/>
                    <a:lstStyle/>
                    <a:p>
                      <a:pPr marL="0" marR="0" lvl="0" indent="0" algn="just" defTabSz="990571" rtl="0" eaLnBrk="1" fontAlgn="auto" latinLnBrk="0" hangingPunct="1">
                        <a:lnSpc>
                          <a:spcPct val="100000"/>
                        </a:lnSpc>
                        <a:spcBef>
                          <a:spcPts val="600"/>
                        </a:spcBef>
                        <a:spcAft>
                          <a:spcPts val="0"/>
                        </a:spcAft>
                        <a:buClrTx/>
                        <a:buSzTx/>
                        <a:buFont typeface="Arial" panose="020B0604020202020204" pitchFamily="34" charset="0"/>
                        <a:buNone/>
                        <a:tabLst/>
                        <a:defRPr/>
                      </a:pPr>
                      <a:r>
                        <a:rPr lang="en-US" sz="1000" b="0" i="0" kern="1200" baseline="0" dirty="0">
                          <a:solidFill>
                            <a:schemeClr val="dk1"/>
                          </a:solidFill>
                          <a:latin typeface="+mn-lt"/>
                          <a:ea typeface="+mn-ea"/>
                          <a:cs typeface="+mn-cs"/>
                        </a:rPr>
                        <a:t>The Transformer Capacity at Barisal (N) Substation at 230kV / 132 kV level is 600 MVA (2x300 MVA)</a:t>
                      </a:r>
                    </a:p>
                    <a:p>
                      <a:pPr marL="0" marR="0" lvl="0" indent="0" algn="just" defTabSz="990571" rtl="0" eaLnBrk="1" fontAlgn="auto" latinLnBrk="0" hangingPunct="1">
                        <a:lnSpc>
                          <a:spcPct val="100000"/>
                        </a:lnSpc>
                        <a:spcBef>
                          <a:spcPts val="600"/>
                        </a:spcBef>
                        <a:spcAft>
                          <a:spcPts val="0"/>
                        </a:spcAft>
                        <a:buClrTx/>
                        <a:buSzTx/>
                        <a:buFont typeface="Arial" panose="020B0604020202020204" pitchFamily="34" charset="0"/>
                        <a:buNone/>
                        <a:tabLst/>
                        <a:defRPr/>
                      </a:pPr>
                      <a:r>
                        <a:rPr lang="en-US" sz="1000" b="1" i="1" kern="1200" baseline="0" dirty="0">
                          <a:solidFill>
                            <a:schemeClr val="dk1"/>
                          </a:solidFill>
                          <a:latin typeface="+mn-lt"/>
                          <a:ea typeface="+mn-ea"/>
                          <a:cs typeface="+mn-cs"/>
                        </a:rPr>
                        <a:t>Maximum evacuation possible from Barisal (N) is 510 MW (600 MVA x 0.85 Power Factor)</a:t>
                      </a:r>
                    </a:p>
                    <a:p>
                      <a:pPr marL="0" marR="0" lvl="0" indent="0" algn="just" defTabSz="990571" rtl="0" eaLnBrk="1" fontAlgn="auto" latinLnBrk="0" hangingPunct="1">
                        <a:lnSpc>
                          <a:spcPct val="100000"/>
                        </a:lnSpc>
                        <a:spcBef>
                          <a:spcPts val="600"/>
                        </a:spcBef>
                        <a:spcAft>
                          <a:spcPts val="0"/>
                        </a:spcAft>
                        <a:buClrTx/>
                        <a:buSzTx/>
                        <a:buFont typeface="Arial" panose="020B0604020202020204" pitchFamily="34" charset="0"/>
                        <a:buNone/>
                        <a:tabLst/>
                        <a:defRPr/>
                      </a:pPr>
                      <a:r>
                        <a:rPr lang="en-US" sz="1000" b="0" i="1" kern="1200" baseline="0" dirty="0">
                          <a:solidFill>
                            <a:schemeClr val="dk1"/>
                          </a:solidFill>
                          <a:latin typeface="+mn-lt"/>
                          <a:ea typeface="+mn-ea"/>
                          <a:cs typeface="+mn-cs"/>
                        </a:rPr>
                        <a:t>Power Evacuation from Bhola Island </a:t>
                      </a:r>
                    </a:p>
                    <a:p>
                      <a:pPr marL="171450" marR="0" lvl="0" indent="-171450" algn="just" defTabSz="990571" rtl="0" eaLnBrk="1" fontAlgn="auto" latinLnBrk="0" hangingPunct="1">
                        <a:lnSpc>
                          <a:spcPct val="100000"/>
                        </a:lnSpc>
                        <a:spcBef>
                          <a:spcPts val="600"/>
                        </a:spcBef>
                        <a:spcAft>
                          <a:spcPts val="0"/>
                        </a:spcAft>
                        <a:buClrTx/>
                        <a:buSzTx/>
                        <a:buFont typeface="Arial" panose="020B0604020202020204" pitchFamily="34" charset="0"/>
                        <a:buChar char="•"/>
                        <a:tabLst/>
                        <a:defRPr/>
                      </a:pPr>
                      <a:r>
                        <a:rPr lang="en-US" sz="1000" b="0" i="1" kern="1200" baseline="0" dirty="0">
                          <a:solidFill>
                            <a:schemeClr val="dk1"/>
                          </a:solidFill>
                          <a:latin typeface="+mn-lt"/>
                          <a:ea typeface="+mn-ea"/>
                          <a:cs typeface="+mn-cs"/>
                        </a:rPr>
                        <a:t>Bhola I – 225 MW</a:t>
                      </a:r>
                    </a:p>
                    <a:p>
                      <a:pPr marL="171450" marR="0" lvl="0" indent="-171450" algn="just" defTabSz="990571" rtl="0" eaLnBrk="1" fontAlgn="auto" latinLnBrk="0" hangingPunct="1">
                        <a:lnSpc>
                          <a:spcPct val="100000"/>
                        </a:lnSpc>
                        <a:spcBef>
                          <a:spcPts val="600"/>
                        </a:spcBef>
                        <a:spcAft>
                          <a:spcPts val="0"/>
                        </a:spcAft>
                        <a:buClrTx/>
                        <a:buSzTx/>
                        <a:buFont typeface="Arial" panose="020B0604020202020204" pitchFamily="34" charset="0"/>
                        <a:buChar char="•"/>
                        <a:tabLst/>
                        <a:defRPr/>
                      </a:pPr>
                      <a:r>
                        <a:rPr lang="en-US" sz="1000" b="0" i="1" kern="1200" baseline="0" dirty="0">
                          <a:solidFill>
                            <a:schemeClr val="dk1"/>
                          </a:solidFill>
                          <a:latin typeface="+mn-lt"/>
                          <a:ea typeface="+mn-ea"/>
                          <a:cs typeface="+mn-cs"/>
                        </a:rPr>
                        <a:t>Aggreko – 95 MW</a:t>
                      </a:r>
                    </a:p>
                    <a:p>
                      <a:pPr marL="171450" marR="0" lvl="0" indent="-171450" algn="just" defTabSz="990571" rtl="0" eaLnBrk="1" fontAlgn="auto" latinLnBrk="0" hangingPunct="1">
                        <a:lnSpc>
                          <a:spcPct val="100000"/>
                        </a:lnSpc>
                        <a:spcBef>
                          <a:spcPts val="600"/>
                        </a:spcBef>
                        <a:spcAft>
                          <a:spcPts val="0"/>
                        </a:spcAft>
                        <a:buClrTx/>
                        <a:buSzTx/>
                        <a:buFont typeface="Arial" panose="020B0604020202020204" pitchFamily="34" charset="0"/>
                        <a:buChar char="•"/>
                        <a:tabLst/>
                        <a:defRPr/>
                      </a:pPr>
                      <a:r>
                        <a:rPr lang="en-US" sz="1000" b="0" i="1" kern="1200" baseline="0" dirty="0">
                          <a:solidFill>
                            <a:schemeClr val="dk1"/>
                          </a:solidFill>
                          <a:latin typeface="+mn-lt"/>
                          <a:ea typeface="+mn-ea"/>
                          <a:cs typeface="+mn-cs"/>
                        </a:rPr>
                        <a:t>Nimbus – 220 MW</a:t>
                      </a:r>
                    </a:p>
                    <a:p>
                      <a:pPr marL="171450" marR="0" lvl="0" indent="-171450" algn="just" defTabSz="990571" rtl="0" eaLnBrk="1" fontAlgn="auto" latinLnBrk="0" hangingPunct="1">
                        <a:lnSpc>
                          <a:spcPct val="100000"/>
                        </a:lnSpc>
                        <a:spcBef>
                          <a:spcPts val="600"/>
                        </a:spcBef>
                        <a:spcAft>
                          <a:spcPts val="0"/>
                        </a:spcAft>
                        <a:buClrTx/>
                        <a:buSzTx/>
                        <a:buFont typeface="Arial" panose="020B0604020202020204" pitchFamily="34" charset="0"/>
                        <a:buChar char="•"/>
                        <a:tabLst/>
                        <a:defRPr/>
                      </a:pPr>
                      <a:r>
                        <a:rPr lang="en-US" sz="1000" b="1" i="1" kern="1200" baseline="0" dirty="0">
                          <a:solidFill>
                            <a:schemeClr val="dk1"/>
                          </a:solidFill>
                          <a:latin typeface="+mn-lt"/>
                          <a:ea typeface="+mn-ea"/>
                          <a:cs typeface="+mn-cs"/>
                        </a:rPr>
                        <a:t>Total Evacuation Required – 540 MW</a:t>
                      </a:r>
                    </a:p>
                  </a:txBody>
                  <a:tcPr marL="36000" marR="36000" marT="36000" marB="36000"/>
                </a:tc>
                <a:extLst>
                  <a:ext uri="{0D108BD9-81ED-4DB2-BD59-A6C34878D82A}">
                    <a16:rowId xmlns:a16="http://schemas.microsoft.com/office/drawing/2014/main" val="879001433"/>
                  </a:ext>
                </a:extLst>
              </a:tr>
            </a:tbl>
          </a:graphicData>
        </a:graphic>
      </p:graphicFrame>
      <p:sp>
        <p:nvSpPr>
          <p:cNvPr id="26" name="Rectangle 25"/>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a:lnSpc>
                <a:spcPct val="106000"/>
              </a:lnSpc>
              <a:defRPr/>
            </a:pPr>
            <a:r>
              <a:rPr lang="en-US" sz="700" i="1" dirty="0">
                <a:solidFill>
                  <a:prstClr val="black"/>
                </a:solidFill>
              </a:rPr>
              <a:t>Source: PGCB, NBBL, Deloitte Analysis Note 1) The power factor has been assumed at 0.85 considering industry standards  Note: 2) Map not to scale</a:t>
            </a:r>
          </a:p>
        </p:txBody>
      </p:sp>
    </p:spTree>
    <p:extLst>
      <p:ext uri="{BB962C8B-B14F-4D97-AF65-F5344CB8AC3E}">
        <p14:creationId xmlns:p14="http://schemas.microsoft.com/office/powerpoint/2010/main" val="2592754509"/>
      </p:ext>
    </p:extLst>
  </p:cSld>
  <p:clrMapOvr>
    <a:masterClrMapping/>
  </p:clrMapOvr>
  <p:transition>
    <p:fade/>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199224051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3" name="Object 2"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21" name="Rectangle 20"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4" name="Table 3"/>
          <p:cNvGraphicFramePr>
            <a:graphicFrameLocks noGrp="1"/>
          </p:cNvGraphicFramePr>
          <p:nvPr>
            <p:custDataLst>
              <p:tags r:id="rId3"/>
            </p:custDataLst>
            <p:extLst>
              <p:ext uri="{D42A27DB-BD31-4B8C-83A1-F6EECF244321}">
                <p14:modId xmlns:p14="http://schemas.microsoft.com/office/powerpoint/2010/main" val="1716628319"/>
              </p:ext>
            </p:extLst>
          </p:nvPr>
        </p:nvGraphicFramePr>
        <p:xfrm>
          <a:off x="449993" y="1961918"/>
          <a:ext cx="4734896" cy="35065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723655">
                <a:tc>
                  <a:txBody>
                    <a:bodyPr/>
                    <a:lstStyle/>
                    <a:p>
                      <a:pPr marL="0" indent="0" algn="just">
                        <a:spcBef>
                          <a:spcPts val="600"/>
                        </a:spcBef>
                        <a:spcAft>
                          <a:spcPts val="600"/>
                        </a:spcAft>
                        <a:buFont typeface="Arial" panose="020B0604020202020204" pitchFamily="34" charset="0"/>
                        <a:buNone/>
                      </a:pPr>
                      <a:r>
                        <a:rPr lang="en-US" sz="1000" b="1" baseline="0" dirty="0">
                          <a:solidFill>
                            <a:schemeClr val="tx1"/>
                          </a:solidFill>
                        </a:rPr>
                        <a:t>Potential risks for transmission evacuation</a:t>
                      </a:r>
                    </a:p>
                    <a:p>
                      <a:pPr marL="228600" indent="-228600" algn="just">
                        <a:spcBef>
                          <a:spcPts val="600"/>
                        </a:spcBef>
                        <a:spcAft>
                          <a:spcPts val="600"/>
                        </a:spcAft>
                        <a:buFont typeface="+mj-lt"/>
                        <a:buAutoNum type="arabicPeriod" startAt="2"/>
                      </a:pPr>
                      <a:r>
                        <a:rPr lang="en-US" sz="1000" b="1" baseline="0" dirty="0">
                          <a:solidFill>
                            <a:schemeClr val="tx1"/>
                          </a:solidFill>
                        </a:rPr>
                        <a:t>Potential backdown due to delayed commissioning of Gopalganj – Aminbazar 400 kV line</a:t>
                      </a:r>
                    </a:p>
                    <a:p>
                      <a:pPr marL="228600" lvl="0" indent="-228600" algn="just">
                        <a:spcBef>
                          <a:spcPts val="600"/>
                        </a:spcBef>
                        <a:spcAft>
                          <a:spcPts val="0"/>
                        </a:spcAft>
                        <a:buFont typeface="Arial" panose="020B0604020202020204" pitchFamily="34" charset="0"/>
                        <a:buChar char="•"/>
                      </a:pPr>
                      <a:r>
                        <a:rPr lang="en-US" sz="1000" b="0" baseline="0" dirty="0">
                          <a:solidFill>
                            <a:schemeClr val="tx1"/>
                          </a:solidFill>
                        </a:rPr>
                        <a:t>The Power from Payra (1320 MW) Imported Coal Based Power plant is planned to be evacuated by commissioning the Payra-Gopalgonj-Aminbazar 400 kV transmission lines</a:t>
                      </a:r>
                    </a:p>
                    <a:p>
                      <a:pPr marL="228600" lvl="0" indent="-228600" algn="just">
                        <a:spcBef>
                          <a:spcPts val="600"/>
                        </a:spcBef>
                        <a:spcAft>
                          <a:spcPts val="0"/>
                        </a:spcAft>
                        <a:buFont typeface="Arial" panose="020B0604020202020204" pitchFamily="34" charset="0"/>
                        <a:buChar char="•"/>
                      </a:pPr>
                      <a:r>
                        <a:rPr lang="en-US" sz="1000" b="0" baseline="0" dirty="0">
                          <a:solidFill>
                            <a:schemeClr val="tx1"/>
                          </a:solidFill>
                        </a:rPr>
                        <a:t>Although the Payra-Gopalgonj 400 kV line has been commissioned (as on January 2020), the construction work for Gopalgonj – Aminbazar transmission line is ongoing</a:t>
                      </a:r>
                    </a:p>
                    <a:p>
                      <a:pPr marL="228600" lvl="0" indent="-228600" algn="just">
                        <a:spcBef>
                          <a:spcPts val="600"/>
                        </a:spcBef>
                        <a:spcAft>
                          <a:spcPts val="0"/>
                        </a:spcAft>
                        <a:buFont typeface="Arial" panose="020B0604020202020204" pitchFamily="34" charset="0"/>
                        <a:buChar char="•"/>
                      </a:pPr>
                      <a:r>
                        <a:rPr lang="en-US" sz="1000" b="0" baseline="0" dirty="0">
                          <a:solidFill>
                            <a:schemeClr val="tx1"/>
                          </a:solidFill>
                        </a:rPr>
                        <a:t>The Gopalgonj-Aminbazar line involves a 7.5 Km underwater stretch over Padma river which may further delay the project</a:t>
                      </a:r>
                    </a:p>
                    <a:p>
                      <a:pPr marL="228600" lvl="0" indent="-228600" algn="just">
                        <a:spcBef>
                          <a:spcPts val="600"/>
                        </a:spcBef>
                        <a:spcAft>
                          <a:spcPts val="0"/>
                        </a:spcAft>
                        <a:buFont typeface="Arial" panose="020B0604020202020204" pitchFamily="34" charset="0"/>
                        <a:buChar char="•"/>
                      </a:pPr>
                      <a:r>
                        <a:rPr lang="en-US" sz="1000" b="1" i="1" baseline="0" dirty="0">
                          <a:solidFill>
                            <a:schemeClr val="tx1"/>
                          </a:solidFill>
                        </a:rPr>
                        <a:t>In case of delay in the commissioning of the above TL, there may be an evacuation constraint at Gopalgonj which could have cascading effect on the power plants in the Bhola region</a:t>
                      </a:r>
                    </a:p>
                    <a:p>
                      <a:pPr marL="228600" lvl="0" indent="-228600" algn="just">
                        <a:spcBef>
                          <a:spcPts val="600"/>
                        </a:spcBef>
                        <a:spcAft>
                          <a:spcPts val="0"/>
                        </a:spcAft>
                        <a:buFont typeface="Arial" panose="020B0604020202020204" pitchFamily="34" charset="0"/>
                        <a:buChar char="•"/>
                      </a:pPr>
                      <a:r>
                        <a:rPr lang="en-US" sz="1000" b="0" baseline="0" dirty="0">
                          <a:solidFill>
                            <a:schemeClr val="tx1"/>
                          </a:solidFill>
                        </a:rPr>
                        <a:t>The Barisal (N) substation is connected to the Gopalgonj Substation using 132 kV TL for further evacuation of power from the substation</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5" name="Oval 4"/>
          <p:cNvSpPr/>
          <p:nvPr/>
        </p:nvSpPr>
        <p:spPr bwMode="gray">
          <a:xfrm>
            <a:off x="8595892" y="5624091"/>
            <a:ext cx="233916" cy="233916"/>
          </a:xfrm>
          <a:prstGeom prst="ellipse">
            <a:avLst/>
          </a:prstGeom>
          <a:solidFill>
            <a:schemeClr val="bg1"/>
          </a:solidFill>
          <a:ln w="19050" algn="ctr">
            <a:solidFill>
              <a:srgbClr val="FF0AFF"/>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dirty="0">
                <a:ln>
                  <a:noFill/>
                </a:ln>
                <a:solidFill>
                  <a:srgbClr val="FF0AFF"/>
                </a:solidFill>
                <a:effectLst/>
                <a:uLnTx/>
                <a:uFillTx/>
                <a:latin typeface="Verdana"/>
                <a:ea typeface="+mn-ea"/>
                <a:cs typeface="+mn-cs"/>
              </a:rPr>
              <a:t>G</a:t>
            </a:r>
            <a:endParaRPr kumimoji="0" lang="en-IN" sz="1600" b="1" i="0" u="none" strike="noStrike" kern="1200" cap="none" spc="0" normalizeH="0" baseline="0" noProof="0" dirty="0">
              <a:ln>
                <a:noFill/>
              </a:ln>
              <a:solidFill>
                <a:srgbClr val="FF0AFF"/>
              </a:solidFill>
              <a:effectLst/>
              <a:uLnTx/>
              <a:uFillTx/>
              <a:latin typeface="Verdana"/>
              <a:ea typeface="+mn-ea"/>
              <a:cs typeface="+mn-cs"/>
            </a:endParaRPr>
          </a:p>
        </p:txBody>
      </p:sp>
      <p:sp>
        <p:nvSpPr>
          <p:cNvPr id="6" name="TextBox 5"/>
          <p:cNvSpPr txBox="1"/>
          <p:nvPr/>
        </p:nvSpPr>
        <p:spPr>
          <a:xfrm>
            <a:off x="8595892" y="5858007"/>
            <a:ext cx="542260" cy="15388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NBBL</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pic>
        <p:nvPicPr>
          <p:cNvPr id="7" name="Picture 6"/>
          <p:cNvPicPr>
            <a:picLocks noChangeAspect="1"/>
          </p:cNvPicPr>
          <p:nvPr/>
        </p:nvPicPr>
        <p:blipFill>
          <a:blip r:embed="rId7"/>
          <a:stretch>
            <a:fillRect/>
          </a:stretch>
        </p:blipFill>
        <p:spPr>
          <a:xfrm>
            <a:off x="5467614" y="1961918"/>
            <a:ext cx="4761170" cy="5144563"/>
          </a:xfrm>
          <a:prstGeom prst="rect">
            <a:avLst/>
          </a:prstGeom>
        </p:spPr>
      </p:pic>
      <p:grpSp>
        <p:nvGrpSpPr>
          <p:cNvPr id="8" name="Group 7"/>
          <p:cNvGrpSpPr/>
          <p:nvPr/>
        </p:nvGrpSpPr>
        <p:grpSpPr>
          <a:xfrm>
            <a:off x="5467614" y="1961918"/>
            <a:ext cx="1371600" cy="744279"/>
            <a:chOff x="11415912" y="2134183"/>
            <a:chExt cx="1371600" cy="744279"/>
          </a:xfrm>
        </p:grpSpPr>
        <p:sp>
          <p:nvSpPr>
            <p:cNvPr id="9" name="Rectangle 8"/>
            <p:cNvSpPr/>
            <p:nvPr/>
          </p:nvSpPr>
          <p:spPr bwMode="gray">
            <a:xfrm>
              <a:off x="11415912" y="2134183"/>
              <a:ext cx="1371600" cy="744279"/>
            </a:xfrm>
            <a:prstGeom prst="rect">
              <a:avLst/>
            </a:prstGeom>
            <a:solidFill>
              <a:schemeClr val="bg1"/>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 name="TextBox 9"/>
            <p:cNvSpPr txBox="1"/>
            <p:nvPr/>
          </p:nvSpPr>
          <p:spPr>
            <a:xfrm>
              <a:off x="12006150" y="2198547"/>
              <a:ext cx="574158" cy="15388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400 kV</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sp>
          <p:nvSpPr>
            <p:cNvPr id="11" name="TextBox 10"/>
            <p:cNvSpPr txBox="1"/>
            <p:nvPr/>
          </p:nvSpPr>
          <p:spPr>
            <a:xfrm>
              <a:off x="12006150" y="2352435"/>
              <a:ext cx="574158" cy="15388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230 kV</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sp>
          <p:nvSpPr>
            <p:cNvPr id="12" name="TextBox 11"/>
            <p:cNvSpPr txBox="1"/>
            <p:nvPr/>
          </p:nvSpPr>
          <p:spPr>
            <a:xfrm>
              <a:off x="12006150" y="2506323"/>
              <a:ext cx="574158" cy="15388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132 kV</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sp>
          <p:nvSpPr>
            <p:cNvPr id="13" name="TextBox 12"/>
            <p:cNvSpPr txBox="1"/>
            <p:nvPr/>
          </p:nvSpPr>
          <p:spPr>
            <a:xfrm>
              <a:off x="12006150" y="2660212"/>
              <a:ext cx="706934" cy="15388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Generator</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cxnSp>
          <p:nvCxnSpPr>
            <p:cNvPr id="14" name="Straight Connector 13"/>
            <p:cNvCxnSpPr/>
            <p:nvPr/>
          </p:nvCxnSpPr>
          <p:spPr>
            <a:xfrm>
              <a:off x="11511605" y="2262345"/>
              <a:ext cx="393405" cy="0"/>
            </a:xfrm>
            <a:prstGeom prst="line">
              <a:avLst/>
            </a:prstGeom>
            <a:ln w="38100">
              <a:solidFill>
                <a:srgbClr val="9A4AB3"/>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11511605" y="2429379"/>
              <a:ext cx="393405" cy="0"/>
            </a:xfrm>
            <a:prstGeom prst="line">
              <a:avLst/>
            </a:prstGeom>
            <a:ln w="38100">
              <a:solidFill>
                <a:srgbClr val="54A154"/>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11511605" y="2583267"/>
              <a:ext cx="39340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Oval 16"/>
            <p:cNvSpPr/>
            <p:nvPr/>
          </p:nvSpPr>
          <p:spPr bwMode="gray">
            <a:xfrm>
              <a:off x="11570346" y="2644840"/>
              <a:ext cx="152822" cy="152822"/>
            </a:xfrm>
            <a:prstGeom prst="ellipse">
              <a:avLst/>
            </a:prstGeom>
            <a:solidFill>
              <a:schemeClr val="bg1"/>
            </a:solidFill>
            <a:ln w="19050" algn="ctr">
              <a:solidFill>
                <a:srgbClr val="FF0AFF"/>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00" b="1" i="0" u="none" strike="noStrike" kern="1200" cap="none" spc="0" normalizeH="0" baseline="0" noProof="0" dirty="0">
                  <a:ln>
                    <a:noFill/>
                  </a:ln>
                  <a:solidFill>
                    <a:srgbClr val="FF0AFF"/>
                  </a:solidFill>
                  <a:effectLst/>
                  <a:uLnTx/>
                  <a:uFillTx/>
                  <a:latin typeface="Verdana"/>
                  <a:ea typeface="+mn-ea"/>
                  <a:cs typeface="+mn-cs"/>
                </a:rPr>
                <a:t>G</a:t>
              </a:r>
              <a:endParaRPr kumimoji="0" lang="en-IN" sz="1000" b="1" i="0" u="none" strike="noStrike" kern="1200" cap="none" spc="0" normalizeH="0" baseline="0" noProof="0" dirty="0">
                <a:ln>
                  <a:noFill/>
                </a:ln>
                <a:solidFill>
                  <a:srgbClr val="FF0AFF"/>
                </a:solidFill>
                <a:effectLst/>
                <a:uLnTx/>
                <a:uFillTx/>
                <a:latin typeface="Verdana"/>
                <a:ea typeface="+mn-ea"/>
                <a:cs typeface="+mn-cs"/>
              </a:endParaRPr>
            </a:p>
          </p:txBody>
        </p:sp>
      </p:grpSp>
      <p:sp>
        <p:nvSpPr>
          <p:cNvPr id="19" name="Title 1"/>
          <p:cNvSpPr>
            <a:spLocks noGrp="1"/>
          </p:cNvSpPr>
          <p:nvPr>
            <p:ph type="title"/>
          </p:nvPr>
        </p:nvSpPr>
        <p:spPr>
          <a:xfrm>
            <a:off x="449264" y="647700"/>
            <a:ext cx="9791700" cy="431800"/>
          </a:xfrm>
        </p:spPr>
        <p:txBody>
          <a:bodyPr/>
          <a:lstStyle/>
          <a:p>
            <a:r>
              <a:rPr lang="en-US" dirty="0"/>
              <a:t>Electricity Transmission | Delay in Connectivity to Aminbazar</a:t>
            </a:r>
            <a:endParaRPr lang="en-IN" dirty="0"/>
          </a:p>
        </p:txBody>
      </p:sp>
      <p:sp>
        <p:nvSpPr>
          <p:cNvPr id="2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0">
              <a:defRPr/>
            </a:pPr>
            <a:r>
              <a:rPr lang="en-US" sz="1400" dirty="0">
                <a:solidFill>
                  <a:prstClr val="black">
                    <a:lumMod val="50000"/>
                    <a:lumOff val="50000"/>
                  </a:prstClr>
                </a:solidFill>
                <a:latin typeface="Verdana" panose="020B0604030504040204" pitchFamily="34" charset="0"/>
              </a:rPr>
              <a:t>The Gopalgonj-Aminbazar 400 kV TL is yet to be commissioned which may create an evacuation constraint at Gopalgonj in case Payra Imported Coal Based Power Plant is commissioned with full dispatch capacity</a:t>
            </a:r>
          </a:p>
        </p:txBody>
      </p:sp>
      <p:sp>
        <p:nvSpPr>
          <p:cNvPr id="22" name="Oval 21"/>
          <p:cNvSpPr/>
          <p:nvPr/>
        </p:nvSpPr>
        <p:spPr bwMode="gray">
          <a:xfrm>
            <a:off x="8110250" y="5752743"/>
            <a:ext cx="297180" cy="297180"/>
          </a:xfrm>
          <a:prstGeom prst="ellipse">
            <a:avLst/>
          </a:pr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000" b="1" dirty="0">
              <a:solidFill>
                <a:schemeClr val="bg1"/>
              </a:solidFill>
            </a:endParaRPr>
          </a:p>
        </p:txBody>
      </p:sp>
      <p:sp>
        <p:nvSpPr>
          <p:cNvPr id="26" name="Rectangle 25"/>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a:lnSpc>
                <a:spcPct val="106000"/>
              </a:lnSpc>
              <a:defRPr/>
            </a:pPr>
            <a:r>
              <a:rPr lang="en-US" sz="700" i="1" dirty="0">
                <a:solidFill>
                  <a:prstClr val="black"/>
                </a:solidFill>
              </a:rPr>
              <a:t>Source: PGCB, NBBL, Industry Reports, Deloitte Analysis ; Note: 1) Map not to scale</a:t>
            </a:r>
          </a:p>
        </p:txBody>
      </p:sp>
      <p:sp>
        <p:nvSpPr>
          <p:cNvPr id="27" name="Line Callout 1 (Border and Accent Bar) 26"/>
          <p:cNvSpPr/>
          <p:nvPr/>
        </p:nvSpPr>
        <p:spPr bwMode="gray">
          <a:xfrm flipH="1">
            <a:off x="6764786" y="1918591"/>
            <a:ext cx="1566051" cy="402257"/>
          </a:xfrm>
          <a:prstGeom prst="accentBorderCallout1">
            <a:avLst>
              <a:gd name="adj1" fmla="val 18750"/>
              <a:gd name="adj2" fmla="val -8333"/>
              <a:gd name="adj3" fmla="val 121024"/>
              <a:gd name="adj4" fmla="val -68986"/>
            </a:avLst>
          </a:prstGeom>
          <a:solidFill>
            <a:schemeClr val="accent4">
              <a:lumMod val="20000"/>
              <a:lumOff val="80000"/>
            </a:schemeClr>
          </a:solidFill>
          <a:ln w="9525" algn="ctr">
            <a:solidFill>
              <a:schemeClr val="accent4"/>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dirty="0"/>
              <a:t>Aminbazar Substation</a:t>
            </a:r>
            <a:endParaRPr lang="en-IN" sz="1000" dirty="0"/>
          </a:p>
        </p:txBody>
      </p:sp>
      <p:sp>
        <p:nvSpPr>
          <p:cNvPr id="29" name="Oval 28"/>
          <p:cNvSpPr/>
          <p:nvPr/>
        </p:nvSpPr>
        <p:spPr bwMode="gray">
          <a:xfrm>
            <a:off x="8110250" y="6593274"/>
            <a:ext cx="297180" cy="297180"/>
          </a:xfrm>
          <a:prstGeom prst="ellipse">
            <a:avLst/>
          </a:pr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000" b="1" dirty="0">
              <a:solidFill>
                <a:schemeClr val="bg1"/>
              </a:solidFill>
            </a:endParaRPr>
          </a:p>
        </p:txBody>
      </p:sp>
      <p:sp>
        <p:nvSpPr>
          <p:cNvPr id="30" name="Line Callout 1 (Border and Accent Bar) 29"/>
          <p:cNvSpPr/>
          <p:nvPr/>
        </p:nvSpPr>
        <p:spPr bwMode="gray">
          <a:xfrm>
            <a:off x="8567184" y="6689325"/>
            <a:ext cx="1566051" cy="402257"/>
          </a:xfrm>
          <a:prstGeom prst="accentBorderCallout1">
            <a:avLst>
              <a:gd name="adj1" fmla="val 18750"/>
              <a:gd name="adj2" fmla="val -8333"/>
              <a:gd name="adj3" fmla="val 18730"/>
              <a:gd name="adj4" fmla="val -9868"/>
            </a:avLst>
          </a:prstGeom>
          <a:solidFill>
            <a:schemeClr val="accent5">
              <a:lumMod val="20000"/>
              <a:lumOff val="80000"/>
            </a:schemeClr>
          </a:solidFill>
          <a:ln w="9525" algn="ctr">
            <a:solidFill>
              <a:schemeClr val="accent4"/>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dirty="0"/>
              <a:t>Payra Imported Coal TPP</a:t>
            </a:r>
            <a:endParaRPr lang="en-IN" sz="1000" dirty="0"/>
          </a:p>
        </p:txBody>
      </p:sp>
      <p:cxnSp>
        <p:nvCxnSpPr>
          <p:cNvPr id="32" name="Elbow Connector 31"/>
          <p:cNvCxnSpPr>
            <a:stCxn id="22" idx="6"/>
            <a:endCxn id="28" idx="2"/>
          </p:cNvCxnSpPr>
          <p:nvPr/>
        </p:nvCxnSpPr>
        <p:spPr>
          <a:xfrm flipV="1">
            <a:off x="8407430" y="2328760"/>
            <a:ext cx="730722" cy="3572573"/>
          </a:xfrm>
          <a:prstGeom prst="bentConnector3">
            <a:avLst>
              <a:gd name="adj1" fmla="val 62514"/>
            </a:avLst>
          </a:prstGeom>
          <a:ln>
            <a:solidFill>
              <a:srgbClr val="9A4AB3"/>
            </a:solidFill>
            <a:prstDash val="dash"/>
            <a:tailEnd type="triangle"/>
          </a:ln>
        </p:spPr>
        <p:style>
          <a:lnRef idx="2">
            <a:schemeClr val="accent3"/>
          </a:lnRef>
          <a:fillRef idx="0">
            <a:schemeClr val="accent3"/>
          </a:fillRef>
          <a:effectRef idx="1">
            <a:schemeClr val="accent3"/>
          </a:effectRef>
          <a:fontRef idx="minor">
            <a:schemeClr val="tx1"/>
          </a:fontRef>
        </p:style>
      </p:cxnSp>
      <p:sp>
        <p:nvSpPr>
          <p:cNvPr id="23" name="Line Callout 1 (Border and Accent Bar) 22"/>
          <p:cNvSpPr/>
          <p:nvPr/>
        </p:nvSpPr>
        <p:spPr bwMode="gray">
          <a:xfrm>
            <a:off x="8567184" y="6076476"/>
            <a:ext cx="1566051" cy="402257"/>
          </a:xfrm>
          <a:prstGeom prst="accentBorderCallout1">
            <a:avLst>
              <a:gd name="adj1" fmla="val 18750"/>
              <a:gd name="adj2" fmla="val -8333"/>
              <a:gd name="adj3" fmla="val -18209"/>
              <a:gd name="adj4" fmla="val -14977"/>
            </a:avLst>
          </a:prstGeom>
          <a:solidFill>
            <a:schemeClr val="accent5">
              <a:lumMod val="20000"/>
              <a:lumOff val="80000"/>
            </a:schemeClr>
          </a:solidFill>
          <a:ln w="9525" algn="ctr">
            <a:solidFill>
              <a:schemeClr val="accent4"/>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dirty="0"/>
              <a:t>Gopalganj Substation</a:t>
            </a:r>
            <a:endParaRPr lang="en-IN" sz="1000" dirty="0"/>
          </a:p>
        </p:txBody>
      </p:sp>
      <p:sp>
        <p:nvSpPr>
          <p:cNvPr id="39" name="Line Callout 1 (Border and Accent Bar) 38"/>
          <p:cNvSpPr/>
          <p:nvPr/>
        </p:nvSpPr>
        <p:spPr bwMode="gray">
          <a:xfrm flipH="1">
            <a:off x="6764786" y="1923275"/>
            <a:ext cx="1566051" cy="402257"/>
          </a:xfrm>
          <a:prstGeom prst="accentBorderCallout1">
            <a:avLst>
              <a:gd name="adj1" fmla="val 18750"/>
              <a:gd name="adj2" fmla="val -8333"/>
              <a:gd name="adj3" fmla="val 121024"/>
              <a:gd name="adj4" fmla="val -68986"/>
            </a:avLst>
          </a:prstGeom>
          <a:solidFill>
            <a:schemeClr val="accent4">
              <a:lumMod val="20000"/>
              <a:lumOff val="80000"/>
            </a:schemeClr>
          </a:solidFill>
          <a:ln w="9525" algn="ctr">
            <a:solidFill>
              <a:schemeClr val="accent4"/>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dirty="0"/>
              <a:t>Aminbazar Substation</a:t>
            </a:r>
            <a:endParaRPr lang="en-IN" sz="1000" dirty="0"/>
          </a:p>
        </p:txBody>
      </p:sp>
      <p:sp>
        <p:nvSpPr>
          <p:cNvPr id="40" name="Line Callout 1 (Border and Accent Bar) 39"/>
          <p:cNvSpPr/>
          <p:nvPr/>
        </p:nvSpPr>
        <p:spPr bwMode="gray">
          <a:xfrm flipH="1">
            <a:off x="6282148" y="3916150"/>
            <a:ext cx="1566051" cy="711546"/>
          </a:xfrm>
          <a:prstGeom prst="accentBorderCallout1">
            <a:avLst>
              <a:gd name="adj1" fmla="val 18750"/>
              <a:gd name="adj2" fmla="val -8333"/>
              <a:gd name="adj3" fmla="val 217634"/>
              <a:gd name="adj4" fmla="val -60958"/>
            </a:avLst>
          </a:prstGeom>
          <a:solidFill>
            <a:srgbClr val="E4CDEB"/>
          </a:solidFill>
          <a:ln w="9525" algn="ctr">
            <a:solidFill>
              <a:srgbClr val="9A4AB3"/>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dirty="0"/>
              <a:t>Planned Direct Connectivity from Gopalgonj to Aminbazar</a:t>
            </a:r>
            <a:endParaRPr lang="en-IN" sz="1000" dirty="0"/>
          </a:p>
        </p:txBody>
      </p:sp>
      <p:sp>
        <p:nvSpPr>
          <p:cNvPr id="28" name="Oval 27"/>
          <p:cNvSpPr/>
          <p:nvPr/>
        </p:nvSpPr>
        <p:spPr bwMode="gray">
          <a:xfrm>
            <a:off x="9138152" y="2180170"/>
            <a:ext cx="297180" cy="297180"/>
          </a:xfrm>
          <a:prstGeom prst="ellipse">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solidFill>
                  <a:schemeClr val="bg1"/>
                </a:solidFill>
              </a:rPr>
              <a:t>2</a:t>
            </a:r>
            <a:endParaRPr lang="en-IN" sz="1000" b="1" dirty="0">
              <a:solidFill>
                <a:schemeClr val="bg1"/>
              </a:solidFill>
            </a:endParaRPr>
          </a:p>
        </p:txBody>
      </p:sp>
      <p:sp>
        <p:nvSpPr>
          <p:cNvPr id="41" name="Freeform 3"/>
          <p:cNvSpPr>
            <a:spLocks/>
          </p:cNvSpPr>
          <p:nvPr/>
        </p:nvSpPr>
        <p:spPr bwMode="gray">
          <a:xfrm>
            <a:off x="449264" y="5620836"/>
            <a:ext cx="4735625" cy="1485645"/>
          </a:xfrm>
          <a:custGeom>
            <a:avLst/>
            <a:gdLst/>
            <a:ahLst/>
            <a:cxnLst>
              <a:cxn ang="0">
                <a:pos x="222" y="20"/>
              </a:cxn>
              <a:cxn ang="0">
                <a:pos x="476" y="6"/>
              </a:cxn>
              <a:cxn ang="0">
                <a:pos x="671" y="35"/>
              </a:cxn>
              <a:cxn ang="0">
                <a:pos x="901" y="27"/>
              </a:cxn>
              <a:cxn ang="0">
                <a:pos x="1105" y="7"/>
              </a:cxn>
              <a:cxn ang="0">
                <a:pos x="1351" y="13"/>
              </a:cxn>
              <a:cxn ang="0">
                <a:pos x="1750" y="16"/>
              </a:cxn>
              <a:cxn ang="0">
                <a:pos x="1962" y="33"/>
              </a:cxn>
              <a:cxn ang="0">
                <a:pos x="2433" y="23"/>
              </a:cxn>
              <a:cxn ang="0">
                <a:pos x="2648" y="30"/>
              </a:cxn>
              <a:cxn ang="0">
                <a:pos x="3022" y="30"/>
              </a:cxn>
              <a:cxn ang="0">
                <a:pos x="3305" y="38"/>
              </a:cxn>
              <a:cxn ang="0">
                <a:pos x="3683" y="43"/>
              </a:cxn>
              <a:cxn ang="0">
                <a:pos x="3921" y="44"/>
              </a:cxn>
              <a:cxn ang="0">
                <a:pos x="4152" y="45"/>
              </a:cxn>
              <a:cxn ang="0">
                <a:pos x="4193" y="98"/>
              </a:cxn>
              <a:cxn ang="0">
                <a:pos x="4229" y="146"/>
              </a:cxn>
              <a:cxn ang="0">
                <a:pos x="4183" y="224"/>
              </a:cxn>
              <a:cxn ang="0">
                <a:pos x="4218" y="282"/>
              </a:cxn>
              <a:cxn ang="0">
                <a:pos x="4286" y="348"/>
              </a:cxn>
              <a:cxn ang="0">
                <a:pos x="4353" y="404"/>
              </a:cxn>
              <a:cxn ang="0">
                <a:pos x="4419" y="474"/>
              </a:cxn>
              <a:cxn ang="0">
                <a:pos x="4413" y="546"/>
              </a:cxn>
              <a:cxn ang="0">
                <a:pos x="4443" y="645"/>
              </a:cxn>
              <a:cxn ang="0">
                <a:pos x="4461" y="711"/>
              </a:cxn>
              <a:cxn ang="0">
                <a:pos x="4462" y="811"/>
              </a:cxn>
              <a:cxn ang="0">
                <a:pos x="4483" y="869"/>
              </a:cxn>
              <a:cxn ang="0">
                <a:pos x="4526" y="953"/>
              </a:cxn>
              <a:cxn ang="0">
                <a:pos x="4448" y="999"/>
              </a:cxn>
              <a:cxn ang="0">
                <a:pos x="4203" y="989"/>
              </a:cxn>
              <a:cxn ang="0">
                <a:pos x="3829" y="970"/>
              </a:cxn>
              <a:cxn ang="0">
                <a:pos x="3619" y="991"/>
              </a:cxn>
              <a:cxn ang="0">
                <a:pos x="3434" y="1006"/>
              </a:cxn>
              <a:cxn ang="0">
                <a:pos x="3180" y="1017"/>
              </a:cxn>
              <a:cxn ang="0">
                <a:pos x="2821" y="994"/>
              </a:cxn>
              <a:cxn ang="0">
                <a:pos x="2467" y="999"/>
              </a:cxn>
              <a:cxn ang="0">
                <a:pos x="2091" y="994"/>
              </a:cxn>
              <a:cxn ang="0">
                <a:pos x="1782" y="991"/>
              </a:cxn>
              <a:cxn ang="0">
                <a:pos x="1496" y="977"/>
              </a:cxn>
              <a:cxn ang="0">
                <a:pos x="1284" y="965"/>
              </a:cxn>
              <a:cxn ang="0">
                <a:pos x="907" y="976"/>
              </a:cxn>
              <a:cxn ang="0">
                <a:pos x="483" y="966"/>
              </a:cxn>
              <a:cxn ang="0">
                <a:pos x="297" y="969"/>
              </a:cxn>
              <a:cxn ang="0">
                <a:pos x="285" y="922"/>
              </a:cxn>
              <a:cxn ang="0">
                <a:pos x="364" y="872"/>
              </a:cxn>
              <a:cxn ang="0">
                <a:pos x="324" y="814"/>
              </a:cxn>
              <a:cxn ang="0">
                <a:pos x="286" y="763"/>
              </a:cxn>
              <a:cxn ang="0">
                <a:pos x="289" y="701"/>
              </a:cxn>
              <a:cxn ang="0">
                <a:pos x="103" y="623"/>
              </a:cxn>
              <a:cxn ang="0">
                <a:pos x="158" y="566"/>
              </a:cxn>
              <a:cxn ang="0">
                <a:pos x="116" y="496"/>
              </a:cxn>
              <a:cxn ang="0">
                <a:pos x="74" y="435"/>
              </a:cxn>
              <a:cxn ang="0">
                <a:pos x="100" y="365"/>
              </a:cxn>
              <a:cxn ang="0">
                <a:pos x="87" y="306"/>
              </a:cxn>
              <a:cxn ang="0">
                <a:pos x="13" y="221"/>
              </a:cxn>
              <a:cxn ang="0">
                <a:pos x="21" y="159"/>
              </a:cxn>
              <a:cxn ang="0">
                <a:pos x="0" y="98"/>
              </a:cxn>
              <a:cxn ang="0">
                <a:pos x="28" y="35"/>
              </a:cxn>
            </a:cxnLst>
            <a:rect l="0" t="0" r="r" b="b"/>
            <a:pathLst>
              <a:path w="4537" h="1018">
                <a:moveTo>
                  <a:pt x="71" y="0"/>
                </a:moveTo>
                <a:lnTo>
                  <a:pt x="147" y="13"/>
                </a:lnTo>
                <a:lnTo>
                  <a:pt x="222" y="20"/>
                </a:lnTo>
                <a:lnTo>
                  <a:pt x="315" y="17"/>
                </a:lnTo>
                <a:lnTo>
                  <a:pt x="380" y="6"/>
                </a:lnTo>
                <a:lnTo>
                  <a:pt x="476" y="6"/>
                </a:lnTo>
                <a:lnTo>
                  <a:pt x="547" y="11"/>
                </a:lnTo>
                <a:lnTo>
                  <a:pt x="597" y="30"/>
                </a:lnTo>
                <a:lnTo>
                  <a:pt x="671" y="35"/>
                </a:lnTo>
                <a:lnTo>
                  <a:pt x="760" y="31"/>
                </a:lnTo>
                <a:lnTo>
                  <a:pt x="830" y="26"/>
                </a:lnTo>
                <a:lnTo>
                  <a:pt x="901" y="27"/>
                </a:lnTo>
                <a:lnTo>
                  <a:pt x="996" y="21"/>
                </a:lnTo>
                <a:lnTo>
                  <a:pt x="1034" y="4"/>
                </a:lnTo>
                <a:lnTo>
                  <a:pt x="1105" y="7"/>
                </a:lnTo>
                <a:lnTo>
                  <a:pt x="1203" y="7"/>
                </a:lnTo>
                <a:lnTo>
                  <a:pt x="1274" y="6"/>
                </a:lnTo>
                <a:lnTo>
                  <a:pt x="1351" y="13"/>
                </a:lnTo>
                <a:lnTo>
                  <a:pt x="1511" y="14"/>
                </a:lnTo>
                <a:lnTo>
                  <a:pt x="1651" y="16"/>
                </a:lnTo>
                <a:lnTo>
                  <a:pt x="1750" y="16"/>
                </a:lnTo>
                <a:lnTo>
                  <a:pt x="1818" y="16"/>
                </a:lnTo>
                <a:lnTo>
                  <a:pt x="1891" y="31"/>
                </a:lnTo>
                <a:lnTo>
                  <a:pt x="1962" y="33"/>
                </a:lnTo>
                <a:lnTo>
                  <a:pt x="2103" y="31"/>
                </a:lnTo>
                <a:lnTo>
                  <a:pt x="2242" y="27"/>
                </a:lnTo>
                <a:lnTo>
                  <a:pt x="2433" y="23"/>
                </a:lnTo>
                <a:lnTo>
                  <a:pt x="2503" y="18"/>
                </a:lnTo>
                <a:lnTo>
                  <a:pt x="2574" y="20"/>
                </a:lnTo>
                <a:lnTo>
                  <a:pt x="2648" y="30"/>
                </a:lnTo>
                <a:lnTo>
                  <a:pt x="2740" y="37"/>
                </a:lnTo>
                <a:lnTo>
                  <a:pt x="2878" y="33"/>
                </a:lnTo>
                <a:lnTo>
                  <a:pt x="3022" y="30"/>
                </a:lnTo>
                <a:lnTo>
                  <a:pt x="3160" y="26"/>
                </a:lnTo>
                <a:lnTo>
                  <a:pt x="3231" y="26"/>
                </a:lnTo>
                <a:lnTo>
                  <a:pt x="3305" y="38"/>
                </a:lnTo>
                <a:lnTo>
                  <a:pt x="3403" y="47"/>
                </a:lnTo>
                <a:lnTo>
                  <a:pt x="3594" y="45"/>
                </a:lnTo>
                <a:lnTo>
                  <a:pt x="3683" y="43"/>
                </a:lnTo>
                <a:lnTo>
                  <a:pt x="3752" y="41"/>
                </a:lnTo>
                <a:lnTo>
                  <a:pt x="3847" y="44"/>
                </a:lnTo>
                <a:lnTo>
                  <a:pt x="3921" y="44"/>
                </a:lnTo>
                <a:lnTo>
                  <a:pt x="3989" y="40"/>
                </a:lnTo>
                <a:lnTo>
                  <a:pt x="4084" y="40"/>
                </a:lnTo>
                <a:lnTo>
                  <a:pt x="4152" y="45"/>
                </a:lnTo>
                <a:lnTo>
                  <a:pt x="4204" y="64"/>
                </a:lnTo>
                <a:lnTo>
                  <a:pt x="4215" y="79"/>
                </a:lnTo>
                <a:lnTo>
                  <a:pt x="4193" y="98"/>
                </a:lnTo>
                <a:lnTo>
                  <a:pt x="4173" y="115"/>
                </a:lnTo>
                <a:lnTo>
                  <a:pt x="4198" y="130"/>
                </a:lnTo>
                <a:lnTo>
                  <a:pt x="4229" y="146"/>
                </a:lnTo>
                <a:lnTo>
                  <a:pt x="4211" y="163"/>
                </a:lnTo>
                <a:lnTo>
                  <a:pt x="4173" y="209"/>
                </a:lnTo>
                <a:lnTo>
                  <a:pt x="4183" y="224"/>
                </a:lnTo>
                <a:lnTo>
                  <a:pt x="4210" y="241"/>
                </a:lnTo>
                <a:lnTo>
                  <a:pt x="4214" y="258"/>
                </a:lnTo>
                <a:lnTo>
                  <a:pt x="4218" y="282"/>
                </a:lnTo>
                <a:lnTo>
                  <a:pt x="4232" y="315"/>
                </a:lnTo>
                <a:lnTo>
                  <a:pt x="4235" y="333"/>
                </a:lnTo>
                <a:lnTo>
                  <a:pt x="4286" y="348"/>
                </a:lnTo>
                <a:lnTo>
                  <a:pt x="4342" y="365"/>
                </a:lnTo>
                <a:lnTo>
                  <a:pt x="4348" y="389"/>
                </a:lnTo>
                <a:lnTo>
                  <a:pt x="4353" y="404"/>
                </a:lnTo>
                <a:lnTo>
                  <a:pt x="4335" y="428"/>
                </a:lnTo>
                <a:lnTo>
                  <a:pt x="4339" y="451"/>
                </a:lnTo>
                <a:lnTo>
                  <a:pt x="4419" y="474"/>
                </a:lnTo>
                <a:lnTo>
                  <a:pt x="4452" y="509"/>
                </a:lnTo>
                <a:lnTo>
                  <a:pt x="4433" y="532"/>
                </a:lnTo>
                <a:lnTo>
                  <a:pt x="4413" y="546"/>
                </a:lnTo>
                <a:lnTo>
                  <a:pt x="4395" y="565"/>
                </a:lnTo>
                <a:lnTo>
                  <a:pt x="4431" y="608"/>
                </a:lnTo>
                <a:lnTo>
                  <a:pt x="4443" y="645"/>
                </a:lnTo>
                <a:lnTo>
                  <a:pt x="4447" y="660"/>
                </a:lnTo>
                <a:lnTo>
                  <a:pt x="4456" y="694"/>
                </a:lnTo>
                <a:lnTo>
                  <a:pt x="4461" y="711"/>
                </a:lnTo>
                <a:lnTo>
                  <a:pt x="4473" y="756"/>
                </a:lnTo>
                <a:lnTo>
                  <a:pt x="4452" y="772"/>
                </a:lnTo>
                <a:lnTo>
                  <a:pt x="4462" y="811"/>
                </a:lnTo>
                <a:lnTo>
                  <a:pt x="4472" y="828"/>
                </a:lnTo>
                <a:lnTo>
                  <a:pt x="4498" y="851"/>
                </a:lnTo>
                <a:lnTo>
                  <a:pt x="4483" y="869"/>
                </a:lnTo>
                <a:lnTo>
                  <a:pt x="4487" y="885"/>
                </a:lnTo>
                <a:lnTo>
                  <a:pt x="4494" y="908"/>
                </a:lnTo>
                <a:lnTo>
                  <a:pt x="4526" y="953"/>
                </a:lnTo>
                <a:lnTo>
                  <a:pt x="4536" y="976"/>
                </a:lnTo>
                <a:lnTo>
                  <a:pt x="4519" y="991"/>
                </a:lnTo>
                <a:lnTo>
                  <a:pt x="4448" y="999"/>
                </a:lnTo>
                <a:lnTo>
                  <a:pt x="4380" y="1013"/>
                </a:lnTo>
                <a:lnTo>
                  <a:pt x="4279" y="1001"/>
                </a:lnTo>
                <a:lnTo>
                  <a:pt x="4203" y="989"/>
                </a:lnTo>
                <a:lnTo>
                  <a:pt x="4062" y="979"/>
                </a:lnTo>
                <a:lnTo>
                  <a:pt x="3990" y="972"/>
                </a:lnTo>
                <a:lnTo>
                  <a:pt x="3829" y="970"/>
                </a:lnTo>
                <a:lnTo>
                  <a:pt x="3762" y="974"/>
                </a:lnTo>
                <a:lnTo>
                  <a:pt x="3690" y="984"/>
                </a:lnTo>
                <a:lnTo>
                  <a:pt x="3619" y="991"/>
                </a:lnTo>
                <a:lnTo>
                  <a:pt x="3577" y="1006"/>
                </a:lnTo>
                <a:lnTo>
                  <a:pt x="3508" y="1013"/>
                </a:lnTo>
                <a:lnTo>
                  <a:pt x="3434" y="1006"/>
                </a:lnTo>
                <a:lnTo>
                  <a:pt x="3365" y="999"/>
                </a:lnTo>
                <a:lnTo>
                  <a:pt x="3266" y="1004"/>
                </a:lnTo>
                <a:lnTo>
                  <a:pt x="3180" y="1017"/>
                </a:lnTo>
                <a:lnTo>
                  <a:pt x="3109" y="1014"/>
                </a:lnTo>
                <a:lnTo>
                  <a:pt x="3010" y="1008"/>
                </a:lnTo>
                <a:lnTo>
                  <a:pt x="2821" y="994"/>
                </a:lnTo>
                <a:lnTo>
                  <a:pt x="2630" y="991"/>
                </a:lnTo>
                <a:lnTo>
                  <a:pt x="2562" y="991"/>
                </a:lnTo>
                <a:lnTo>
                  <a:pt x="2467" y="999"/>
                </a:lnTo>
                <a:lnTo>
                  <a:pt x="2299" y="996"/>
                </a:lnTo>
                <a:lnTo>
                  <a:pt x="2160" y="994"/>
                </a:lnTo>
                <a:lnTo>
                  <a:pt x="2091" y="994"/>
                </a:lnTo>
                <a:lnTo>
                  <a:pt x="1949" y="991"/>
                </a:lnTo>
                <a:lnTo>
                  <a:pt x="1853" y="993"/>
                </a:lnTo>
                <a:lnTo>
                  <a:pt x="1782" y="991"/>
                </a:lnTo>
                <a:lnTo>
                  <a:pt x="1642" y="990"/>
                </a:lnTo>
                <a:lnTo>
                  <a:pt x="1570" y="979"/>
                </a:lnTo>
                <a:lnTo>
                  <a:pt x="1496" y="977"/>
                </a:lnTo>
                <a:lnTo>
                  <a:pt x="1432" y="987"/>
                </a:lnTo>
                <a:lnTo>
                  <a:pt x="1334" y="984"/>
                </a:lnTo>
                <a:lnTo>
                  <a:pt x="1284" y="965"/>
                </a:lnTo>
                <a:lnTo>
                  <a:pt x="1214" y="974"/>
                </a:lnTo>
                <a:lnTo>
                  <a:pt x="1051" y="976"/>
                </a:lnTo>
                <a:lnTo>
                  <a:pt x="907" y="976"/>
                </a:lnTo>
                <a:lnTo>
                  <a:pt x="770" y="982"/>
                </a:lnTo>
                <a:lnTo>
                  <a:pt x="679" y="973"/>
                </a:lnTo>
                <a:lnTo>
                  <a:pt x="483" y="966"/>
                </a:lnTo>
                <a:lnTo>
                  <a:pt x="414" y="970"/>
                </a:lnTo>
                <a:lnTo>
                  <a:pt x="350" y="987"/>
                </a:lnTo>
                <a:lnTo>
                  <a:pt x="297" y="969"/>
                </a:lnTo>
                <a:lnTo>
                  <a:pt x="268" y="953"/>
                </a:lnTo>
                <a:lnTo>
                  <a:pt x="262" y="938"/>
                </a:lnTo>
                <a:lnTo>
                  <a:pt x="285" y="922"/>
                </a:lnTo>
                <a:lnTo>
                  <a:pt x="349" y="904"/>
                </a:lnTo>
                <a:lnTo>
                  <a:pt x="368" y="888"/>
                </a:lnTo>
                <a:lnTo>
                  <a:pt x="364" y="872"/>
                </a:lnTo>
                <a:lnTo>
                  <a:pt x="335" y="854"/>
                </a:lnTo>
                <a:lnTo>
                  <a:pt x="332" y="831"/>
                </a:lnTo>
                <a:lnTo>
                  <a:pt x="324" y="814"/>
                </a:lnTo>
                <a:lnTo>
                  <a:pt x="320" y="799"/>
                </a:lnTo>
                <a:lnTo>
                  <a:pt x="314" y="780"/>
                </a:lnTo>
                <a:lnTo>
                  <a:pt x="286" y="763"/>
                </a:lnTo>
                <a:lnTo>
                  <a:pt x="280" y="739"/>
                </a:lnTo>
                <a:lnTo>
                  <a:pt x="299" y="725"/>
                </a:lnTo>
                <a:lnTo>
                  <a:pt x="289" y="701"/>
                </a:lnTo>
                <a:lnTo>
                  <a:pt x="135" y="657"/>
                </a:lnTo>
                <a:lnTo>
                  <a:pt x="112" y="641"/>
                </a:lnTo>
                <a:lnTo>
                  <a:pt x="103" y="623"/>
                </a:lnTo>
                <a:lnTo>
                  <a:pt x="123" y="606"/>
                </a:lnTo>
                <a:lnTo>
                  <a:pt x="165" y="587"/>
                </a:lnTo>
                <a:lnTo>
                  <a:pt x="158" y="566"/>
                </a:lnTo>
                <a:lnTo>
                  <a:pt x="149" y="543"/>
                </a:lnTo>
                <a:lnTo>
                  <a:pt x="144" y="522"/>
                </a:lnTo>
                <a:lnTo>
                  <a:pt x="116" y="496"/>
                </a:lnTo>
                <a:lnTo>
                  <a:pt x="109" y="477"/>
                </a:lnTo>
                <a:lnTo>
                  <a:pt x="78" y="452"/>
                </a:lnTo>
                <a:lnTo>
                  <a:pt x="74" y="435"/>
                </a:lnTo>
                <a:lnTo>
                  <a:pt x="85" y="396"/>
                </a:lnTo>
                <a:lnTo>
                  <a:pt x="106" y="380"/>
                </a:lnTo>
                <a:lnTo>
                  <a:pt x="100" y="365"/>
                </a:lnTo>
                <a:lnTo>
                  <a:pt x="98" y="345"/>
                </a:lnTo>
                <a:lnTo>
                  <a:pt x="93" y="328"/>
                </a:lnTo>
                <a:lnTo>
                  <a:pt x="87" y="306"/>
                </a:lnTo>
                <a:lnTo>
                  <a:pt x="47" y="261"/>
                </a:lnTo>
                <a:lnTo>
                  <a:pt x="20" y="238"/>
                </a:lnTo>
                <a:lnTo>
                  <a:pt x="13" y="221"/>
                </a:lnTo>
                <a:lnTo>
                  <a:pt x="8" y="199"/>
                </a:lnTo>
                <a:lnTo>
                  <a:pt x="32" y="182"/>
                </a:lnTo>
                <a:lnTo>
                  <a:pt x="21" y="159"/>
                </a:lnTo>
                <a:lnTo>
                  <a:pt x="10" y="136"/>
                </a:lnTo>
                <a:lnTo>
                  <a:pt x="10" y="122"/>
                </a:lnTo>
                <a:lnTo>
                  <a:pt x="0" y="98"/>
                </a:lnTo>
                <a:lnTo>
                  <a:pt x="22" y="77"/>
                </a:lnTo>
                <a:lnTo>
                  <a:pt x="15" y="58"/>
                </a:lnTo>
                <a:lnTo>
                  <a:pt x="28" y="35"/>
                </a:lnTo>
                <a:lnTo>
                  <a:pt x="7" y="17"/>
                </a:lnTo>
                <a:lnTo>
                  <a:pt x="71" y="0"/>
                </a:lnTo>
              </a:path>
            </a:pathLst>
          </a:custGeom>
          <a:gradFill flip="none" rotWithShape="1">
            <a:gsLst>
              <a:gs pos="75000">
                <a:srgbClr val="FFDB69">
                  <a:tint val="66000"/>
                  <a:satMod val="160000"/>
                  <a:alpha val="58000"/>
                </a:srgbClr>
              </a:gs>
              <a:gs pos="61000">
                <a:srgbClr val="FFDB69">
                  <a:tint val="44500"/>
                  <a:satMod val="160000"/>
                  <a:alpha val="73000"/>
                </a:srgbClr>
              </a:gs>
              <a:gs pos="100000">
                <a:srgbClr val="FFDB69">
                  <a:tint val="23500"/>
                  <a:satMod val="160000"/>
                  <a:alpha val="80000"/>
                </a:srgbClr>
              </a:gs>
            </a:gsLst>
            <a:lin ang="0" scaled="1"/>
            <a:tileRect/>
          </a:gradFill>
          <a:ln w="9525" cap="rnd" cmpd="sng">
            <a:noFill/>
            <a:prstDash val="solid"/>
            <a:round/>
            <a:headEnd type="none" w="med" len="med"/>
            <a:tailEnd type="none" w="med" len="med"/>
          </a:ln>
          <a:effectLst>
            <a:outerShdw blurRad="50800" dist="38100" dir="2700000" algn="tl" rotWithShape="0">
              <a:prstClr val="black">
                <a:alpha val="40000"/>
              </a:prstClr>
            </a:outerShdw>
          </a:effectLst>
        </p:spPr>
        <p:txBody>
          <a:bodyPr lIns="360000" tIns="72000" rIns="324000" bIns="72000" anchor="ctr"/>
          <a:lstStyle/>
          <a:p>
            <a:pPr marL="171450" lvl="0" indent="-171450">
              <a:lnSpc>
                <a:spcPct val="114000"/>
              </a:lnSpc>
              <a:spcAft>
                <a:spcPts val="600"/>
              </a:spcAft>
              <a:buFont typeface="Arial" panose="020B0604020202020204" pitchFamily="34" charset="0"/>
              <a:buChar char="•"/>
              <a:defRPr/>
            </a:pPr>
            <a:r>
              <a:rPr lang="en-US" sz="1000" dirty="0">
                <a:solidFill>
                  <a:prstClr val="black"/>
                </a:solidFill>
              </a:rPr>
              <a:t>The Power Grid Company of Bangladesh still needs to build 84 km double-circuit 400 kv transmission line from Gopalganj to connect the Payra power plant to Aminbazar in Dhaka. </a:t>
            </a:r>
          </a:p>
          <a:p>
            <a:pPr marL="171450" lvl="0" indent="-171450">
              <a:lnSpc>
                <a:spcPct val="114000"/>
              </a:lnSpc>
              <a:spcAft>
                <a:spcPts val="600"/>
              </a:spcAft>
              <a:buFont typeface="Arial" panose="020B0604020202020204" pitchFamily="34" charset="0"/>
              <a:buChar char="•"/>
              <a:defRPr/>
            </a:pPr>
            <a:r>
              <a:rPr lang="en-US" sz="1000" dirty="0">
                <a:solidFill>
                  <a:prstClr val="black"/>
                </a:solidFill>
              </a:rPr>
              <a:t>They would not be able to complete the task until June 2021.</a:t>
            </a:r>
          </a:p>
          <a:p>
            <a:pPr lvl="0" algn="r">
              <a:lnSpc>
                <a:spcPct val="114000"/>
              </a:lnSpc>
              <a:spcAft>
                <a:spcPts val="600"/>
              </a:spcAft>
              <a:defRPr/>
            </a:pPr>
            <a:r>
              <a:rPr lang="en-US" sz="1000" b="1" dirty="0">
                <a:solidFill>
                  <a:prstClr val="black"/>
                </a:solidFill>
              </a:rPr>
              <a:t>- Golam Kibria, MD PGCB, &amp; Payra Plant Officials, Mar-20</a:t>
            </a:r>
            <a:endParaRPr lang="en-US" sz="1000" b="1" dirty="0">
              <a:solidFill>
                <a:prstClr val="black"/>
              </a:solidFill>
              <a:latin typeface="Verdana"/>
            </a:endParaRPr>
          </a:p>
        </p:txBody>
      </p:sp>
    </p:spTree>
    <p:extLst>
      <p:ext uri="{BB962C8B-B14F-4D97-AF65-F5344CB8AC3E}">
        <p14:creationId xmlns:p14="http://schemas.microsoft.com/office/powerpoint/2010/main" val="135434424"/>
      </p:ext>
    </p:extLst>
  </p:cSld>
  <p:clrMapOvr>
    <a:masterClrMapping/>
  </p:clrMapOvr>
  <p:transition>
    <p:fade/>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412675235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3" name="Object 2"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21" name="Rectangle 20"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4" name="Table 3"/>
          <p:cNvGraphicFramePr>
            <a:graphicFrameLocks noGrp="1"/>
          </p:cNvGraphicFramePr>
          <p:nvPr>
            <p:custDataLst>
              <p:tags r:id="rId3"/>
            </p:custDataLst>
            <p:extLst>
              <p:ext uri="{D42A27DB-BD31-4B8C-83A1-F6EECF244321}">
                <p14:modId xmlns:p14="http://schemas.microsoft.com/office/powerpoint/2010/main" val="2064466389"/>
              </p:ext>
            </p:extLst>
          </p:nvPr>
        </p:nvGraphicFramePr>
        <p:xfrm>
          <a:off x="449993" y="1961918"/>
          <a:ext cx="4734896" cy="33541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723655">
                <a:tc>
                  <a:txBody>
                    <a:bodyPr/>
                    <a:lstStyle/>
                    <a:p>
                      <a:pPr marL="0" indent="0" algn="just">
                        <a:spcBef>
                          <a:spcPts val="600"/>
                        </a:spcBef>
                        <a:spcAft>
                          <a:spcPts val="600"/>
                        </a:spcAft>
                        <a:buFont typeface="Arial" panose="020B0604020202020204" pitchFamily="34" charset="0"/>
                        <a:buNone/>
                      </a:pPr>
                      <a:r>
                        <a:rPr lang="en-US" sz="1000" b="1" baseline="0" dirty="0">
                          <a:solidFill>
                            <a:schemeClr val="tx1"/>
                          </a:solidFill>
                        </a:rPr>
                        <a:t>Potential risks for transmission evacuation</a:t>
                      </a:r>
                    </a:p>
                    <a:p>
                      <a:pPr marL="228600" indent="-228600" algn="just">
                        <a:spcBef>
                          <a:spcPts val="600"/>
                        </a:spcBef>
                        <a:spcAft>
                          <a:spcPts val="600"/>
                        </a:spcAft>
                        <a:buFont typeface="+mj-lt"/>
                        <a:buAutoNum type="arabicPeriod" startAt="3"/>
                      </a:pPr>
                      <a:r>
                        <a:rPr lang="en-US" sz="1000" b="1" baseline="0" dirty="0">
                          <a:solidFill>
                            <a:schemeClr val="tx1"/>
                          </a:solidFill>
                        </a:rPr>
                        <a:t>Loading Constraint at Barisal (N) substation and Barisal – Gopalgonj 132 kV line in case of Payra power evacuation from Patuakhali</a:t>
                      </a:r>
                    </a:p>
                    <a:p>
                      <a:pPr marL="228600" lvl="0" indent="-228600" algn="just">
                        <a:spcBef>
                          <a:spcPts val="600"/>
                        </a:spcBef>
                        <a:spcAft>
                          <a:spcPts val="0"/>
                        </a:spcAft>
                        <a:buFont typeface="Arial" panose="020B0604020202020204" pitchFamily="34" charset="0"/>
                        <a:buChar char="•"/>
                      </a:pPr>
                      <a:r>
                        <a:rPr lang="en-US" sz="1000" b="0" baseline="0" dirty="0">
                          <a:solidFill>
                            <a:schemeClr val="tx1"/>
                          </a:solidFill>
                        </a:rPr>
                        <a:t>Even though the double circuit Payra-Gopalgonj TL has been commissioned, the power evacuation is still being done via Single Circuit leading to reduced power evacuation from Payra</a:t>
                      </a:r>
                    </a:p>
                    <a:p>
                      <a:pPr marL="228600" lvl="0" indent="-228600" algn="just">
                        <a:spcBef>
                          <a:spcPts val="600"/>
                        </a:spcBef>
                        <a:spcAft>
                          <a:spcPts val="0"/>
                        </a:spcAft>
                        <a:buFont typeface="Arial" panose="020B0604020202020204" pitchFamily="34" charset="0"/>
                        <a:buChar char="•"/>
                      </a:pPr>
                      <a:r>
                        <a:rPr lang="en-US" sz="1000" b="0" baseline="0" dirty="0">
                          <a:solidFill>
                            <a:schemeClr val="tx1"/>
                          </a:solidFill>
                        </a:rPr>
                        <a:t>This is due to constraint at Gopalgonj substation to handle double circuit transmission</a:t>
                      </a:r>
                    </a:p>
                    <a:p>
                      <a:pPr marL="228600" lvl="0" indent="-228600" algn="just">
                        <a:spcBef>
                          <a:spcPts val="600"/>
                        </a:spcBef>
                        <a:spcAft>
                          <a:spcPts val="0"/>
                        </a:spcAft>
                        <a:buFont typeface="Arial" panose="020B0604020202020204" pitchFamily="34" charset="0"/>
                        <a:buChar char="•"/>
                      </a:pPr>
                      <a:r>
                        <a:rPr lang="en-US" sz="1000" b="1" i="1" baseline="0" dirty="0">
                          <a:solidFill>
                            <a:schemeClr val="tx1"/>
                          </a:solidFill>
                        </a:rPr>
                        <a:t>In such a situation, the Govt. may choose to evacuate power from Payra via Patukahli to Barisal (N) and beyond</a:t>
                      </a:r>
                    </a:p>
                    <a:p>
                      <a:pPr marL="228600" lvl="0" indent="-228600" algn="just">
                        <a:spcBef>
                          <a:spcPts val="600"/>
                        </a:spcBef>
                        <a:spcAft>
                          <a:spcPts val="0"/>
                        </a:spcAft>
                        <a:buFont typeface="Arial" panose="020B0604020202020204" pitchFamily="34" charset="0"/>
                        <a:buChar char="•"/>
                      </a:pPr>
                      <a:r>
                        <a:rPr lang="en-US" sz="1000" b="1" i="1" baseline="0" dirty="0">
                          <a:solidFill>
                            <a:schemeClr val="tx1"/>
                          </a:solidFill>
                        </a:rPr>
                        <a:t>Any additional power supply to Barisal substation could increase the challenge of power evacuation from Bhola Islands</a:t>
                      </a:r>
                    </a:p>
                    <a:p>
                      <a:pPr marL="228600" lvl="0" indent="-228600" algn="just">
                        <a:spcBef>
                          <a:spcPts val="600"/>
                        </a:spcBef>
                        <a:spcAft>
                          <a:spcPts val="0"/>
                        </a:spcAft>
                        <a:buFont typeface="Arial" panose="020B0604020202020204" pitchFamily="34" charset="0"/>
                        <a:buChar char="•"/>
                      </a:pPr>
                      <a:r>
                        <a:rPr lang="en-US" sz="1000" b="0" baseline="0" dirty="0">
                          <a:solidFill>
                            <a:schemeClr val="tx1"/>
                          </a:solidFill>
                        </a:rPr>
                        <a:t>As mentioned earlier, the Barisal (N) substation may currently need additional capacity augmentation to enable all Bhola Island power plants to operate at maximum dispatchable capacity</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19" name="Title 1"/>
          <p:cNvSpPr>
            <a:spLocks noGrp="1"/>
          </p:cNvSpPr>
          <p:nvPr>
            <p:ph type="title"/>
          </p:nvPr>
        </p:nvSpPr>
        <p:spPr>
          <a:xfrm>
            <a:off x="449264" y="647700"/>
            <a:ext cx="9791700" cy="431800"/>
          </a:xfrm>
        </p:spPr>
        <p:txBody>
          <a:bodyPr/>
          <a:lstStyle/>
          <a:p>
            <a:r>
              <a:rPr lang="en-US" dirty="0"/>
              <a:t>Electricity Transmission | Delay in Connectivity to Aminbazar</a:t>
            </a:r>
            <a:endParaRPr lang="en-IN" dirty="0"/>
          </a:p>
        </p:txBody>
      </p:sp>
      <p:sp>
        <p:nvSpPr>
          <p:cNvPr id="2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0">
              <a:defRPr/>
            </a:pPr>
            <a:r>
              <a:rPr lang="en-US" sz="1400" dirty="0">
                <a:solidFill>
                  <a:prstClr val="black">
                    <a:lumMod val="50000"/>
                    <a:lumOff val="50000"/>
                  </a:prstClr>
                </a:solidFill>
                <a:latin typeface="Verdana" panose="020B0604030504040204" pitchFamily="34" charset="0"/>
              </a:rPr>
              <a:t>In case of partial evacuation of power from Payra to Gopalgonj via Patuakhali TL the capacity constraint of Barisal (N) substation may further increase which may lead to backdown of power generation from Bhola Island Power Plants</a:t>
            </a:r>
          </a:p>
        </p:txBody>
      </p:sp>
      <p:sp>
        <p:nvSpPr>
          <p:cNvPr id="26" name="Rectangle 25"/>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a:lnSpc>
                <a:spcPct val="106000"/>
              </a:lnSpc>
              <a:defRPr/>
            </a:pPr>
            <a:r>
              <a:rPr lang="en-US" sz="700" i="1" dirty="0">
                <a:solidFill>
                  <a:prstClr val="black"/>
                </a:solidFill>
              </a:rPr>
              <a:t>Source: PGCB, NBBL, Industry Reports, Deloitte Analysis; Note: 1) Map not to scale</a:t>
            </a:r>
          </a:p>
        </p:txBody>
      </p:sp>
      <p:sp>
        <p:nvSpPr>
          <p:cNvPr id="41" name="Freeform 3"/>
          <p:cNvSpPr>
            <a:spLocks/>
          </p:cNvSpPr>
          <p:nvPr/>
        </p:nvSpPr>
        <p:spPr bwMode="gray">
          <a:xfrm>
            <a:off x="453016" y="5386927"/>
            <a:ext cx="4735625" cy="1643070"/>
          </a:xfrm>
          <a:custGeom>
            <a:avLst/>
            <a:gdLst/>
            <a:ahLst/>
            <a:cxnLst>
              <a:cxn ang="0">
                <a:pos x="222" y="20"/>
              </a:cxn>
              <a:cxn ang="0">
                <a:pos x="476" y="6"/>
              </a:cxn>
              <a:cxn ang="0">
                <a:pos x="671" y="35"/>
              </a:cxn>
              <a:cxn ang="0">
                <a:pos x="901" y="27"/>
              </a:cxn>
              <a:cxn ang="0">
                <a:pos x="1105" y="7"/>
              </a:cxn>
              <a:cxn ang="0">
                <a:pos x="1351" y="13"/>
              </a:cxn>
              <a:cxn ang="0">
                <a:pos x="1750" y="16"/>
              </a:cxn>
              <a:cxn ang="0">
                <a:pos x="1962" y="33"/>
              </a:cxn>
              <a:cxn ang="0">
                <a:pos x="2433" y="23"/>
              </a:cxn>
              <a:cxn ang="0">
                <a:pos x="2648" y="30"/>
              </a:cxn>
              <a:cxn ang="0">
                <a:pos x="3022" y="30"/>
              </a:cxn>
              <a:cxn ang="0">
                <a:pos x="3305" y="38"/>
              </a:cxn>
              <a:cxn ang="0">
                <a:pos x="3683" y="43"/>
              </a:cxn>
              <a:cxn ang="0">
                <a:pos x="3921" y="44"/>
              </a:cxn>
              <a:cxn ang="0">
                <a:pos x="4152" y="45"/>
              </a:cxn>
              <a:cxn ang="0">
                <a:pos x="4193" y="98"/>
              </a:cxn>
              <a:cxn ang="0">
                <a:pos x="4229" y="146"/>
              </a:cxn>
              <a:cxn ang="0">
                <a:pos x="4183" y="224"/>
              </a:cxn>
              <a:cxn ang="0">
                <a:pos x="4218" y="282"/>
              </a:cxn>
              <a:cxn ang="0">
                <a:pos x="4286" y="348"/>
              </a:cxn>
              <a:cxn ang="0">
                <a:pos x="4353" y="404"/>
              </a:cxn>
              <a:cxn ang="0">
                <a:pos x="4419" y="474"/>
              </a:cxn>
              <a:cxn ang="0">
                <a:pos x="4413" y="546"/>
              </a:cxn>
              <a:cxn ang="0">
                <a:pos x="4443" y="645"/>
              </a:cxn>
              <a:cxn ang="0">
                <a:pos x="4461" y="711"/>
              </a:cxn>
              <a:cxn ang="0">
                <a:pos x="4462" y="811"/>
              </a:cxn>
              <a:cxn ang="0">
                <a:pos x="4483" y="869"/>
              </a:cxn>
              <a:cxn ang="0">
                <a:pos x="4526" y="953"/>
              </a:cxn>
              <a:cxn ang="0">
                <a:pos x="4448" y="999"/>
              </a:cxn>
              <a:cxn ang="0">
                <a:pos x="4203" y="989"/>
              </a:cxn>
              <a:cxn ang="0">
                <a:pos x="3829" y="970"/>
              </a:cxn>
              <a:cxn ang="0">
                <a:pos x="3619" y="991"/>
              </a:cxn>
              <a:cxn ang="0">
                <a:pos x="3434" y="1006"/>
              </a:cxn>
              <a:cxn ang="0">
                <a:pos x="3180" y="1017"/>
              </a:cxn>
              <a:cxn ang="0">
                <a:pos x="2821" y="994"/>
              </a:cxn>
              <a:cxn ang="0">
                <a:pos x="2467" y="999"/>
              </a:cxn>
              <a:cxn ang="0">
                <a:pos x="2091" y="994"/>
              </a:cxn>
              <a:cxn ang="0">
                <a:pos x="1782" y="991"/>
              </a:cxn>
              <a:cxn ang="0">
                <a:pos x="1496" y="977"/>
              </a:cxn>
              <a:cxn ang="0">
                <a:pos x="1284" y="965"/>
              </a:cxn>
              <a:cxn ang="0">
                <a:pos x="907" y="976"/>
              </a:cxn>
              <a:cxn ang="0">
                <a:pos x="483" y="966"/>
              </a:cxn>
              <a:cxn ang="0">
                <a:pos x="297" y="969"/>
              </a:cxn>
              <a:cxn ang="0">
                <a:pos x="285" y="922"/>
              </a:cxn>
              <a:cxn ang="0">
                <a:pos x="364" y="872"/>
              </a:cxn>
              <a:cxn ang="0">
                <a:pos x="324" y="814"/>
              </a:cxn>
              <a:cxn ang="0">
                <a:pos x="286" y="763"/>
              </a:cxn>
              <a:cxn ang="0">
                <a:pos x="289" y="701"/>
              </a:cxn>
              <a:cxn ang="0">
                <a:pos x="103" y="623"/>
              </a:cxn>
              <a:cxn ang="0">
                <a:pos x="158" y="566"/>
              </a:cxn>
              <a:cxn ang="0">
                <a:pos x="116" y="496"/>
              </a:cxn>
              <a:cxn ang="0">
                <a:pos x="74" y="435"/>
              </a:cxn>
              <a:cxn ang="0">
                <a:pos x="100" y="365"/>
              </a:cxn>
              <a:cxn ang="0">
                <a:pos x="87" y="306"/>
              </a:cxn>
              <a:cxn ang="0">
                <a:pos x="13" y="221"/>
              </a:cxn>
              <a:cxn ang="0">
                <a:pos x="21" y="159"/>
              </a:cxn>
              <a:cxn ang="0">
                <a:pos x="0" y="98"/>
              </a:cxn>
              <a:cxn ang="0">
                <a:pos x="28" y="35"/>
              </a:cxn>
            </a:cxnLst>
            <a:rect l="0" t="0" r="r" b="b"/>
            <a:pathLst>
              <a:path w="4537" h="1018">
                <a:moveTo>
                  <a:pt x="71" y="0"/>
                </a:moveTo>
                <a:lnTo>
                  <a:pt x="147" y="13"/>
                </a:lnTo>
                <a:lnTo>
                  <a:pt x="222" y="20"/>
                </a:lnTo>
                <a:lnTo>
                  <a:pt x="315" y="17"/>
                </a:lnTo>
                <a:lnTo>
                  <a:pt x="380" y="6"/>
                </a:lnTo>
                <a:lnTo>
                  <a:pt x="476" y="6"/>
                </a:lnTo>
                <a:lnTo>
                  <a:pt x="547" y="11"/>
                </a:lnTo>
                <a:lnTo>
                  <a:pt x="597" y="30"/>
                </a:lnTo>
                <a:lnTo>
                  <a:pt x="671" y="35"/>
                </a:lnTo>
                <a:lnTo>
                  <a:pt x="760" y="31"/>
                </a:lnTo>
                <a:lnTo>
                  <a:pt x="830" y="26"/>
                </a:lnTo>
                <a:lnTo>
                  <a:pt x="901" y="27"/>
                </a:lnTo>
                <a:lnTo>
                  <a:pt x="996" y="21"/>
                </a:lnTo>
                <a:lnTo>
                  <a:pt x="1034" y="4"/>
                </a:lnTo>
                <a:lnTo>
                  <a:pt x="1105" y="7"/>
                </a:lnTo>
                <a:lnTo>
                  <a:pt x="1203" y="7"/>
                </a:lnTo>
                <a:lnTo>
                  <a:pt x="1274" y="6"/>
                </a:lnTo>
                <a:lnTo>
                  <a:pt x="1351" y="13"/>
                </a:lnTo>
                <a:lnTo>
                  <a:pt x="1511" y="14"/>
                </a:lnTo>
                <a:lnTo>
                  <a:pt x="1651" y="16"/>
                </a:lnTo>
                <a:lnTo>
                  <a:pt x="1750" y="16"/>
                </a:lnTo>
                <a:lnTo>
                  <a:pt x="1818" y="16"/>
                </a:lnTo>
                <a:lnTo>
                  <a:pt x="1891" y="31"/>
                </a:lnTo>
                <a:lnTo>
                  <a:pt x="1962" y="33"/>
                </a:lnTo>
                <a:lnTo>
                  <a:pt x="2103" y="31"/>
                </a:lnTo>
                <a:lnTo>
                  <a:pt x="2242" y="27"/>
                </a:lnTo>
                <a:lnTo>
                  <a:pt x="2433" y="23"/>
                </a:lnTo>
                <a:lnTo>
                  <a:pt x="2503" y="18"/>
                </a:lnTo>
                <a:lnTo>
                  <a:pt x="2574" y="20"/>
                </a:lnTo>
                <a:lnTo>
                  <a:pt x="2648" y="30"/>
                </a:lnTo>
                <a:lnTo>
                  <a:pt x="2740" y="37"/>
                </a:lnTo>
                <a:lnTo>
                  <a:pt x="2878" y="33"/>
                </a:lnTo>
                <a:lnTo>
                  <a:pt x="3022" y="30"/>
                </a:lnTo>
                <a:lnTo>
                  <a:pt x="3160" y="26"/>
                </a:lnTo>
                <a:lnTo>
                  <a:pt x="3231" y="26"/>
                </a:lnTo>
                <a:lnTo>
                  <a:pt x="3305" y="38"/>
                </a:lnTo>
                <a:lnTo>
                  <a:pt x="3403" y="47"/>
                </a:lnTo>
                <a:lnTo>
                  <a:pt x="3594" y="45"/>
                </a:lnTo>
                <a:lnTo>
                  <a:pt x="3683" y="43"/>
                </a:lnTo>
                <a:lnTo>
                  <a:pt x="3752" y="41"/>
                </a:lnTo>
                <a:lnTo>
                  <a:pt x="3847" y="44"/>
                </a:lnTo>
                <a:lnTo>
                  <a:pt x="3921" y="44"/>
                </a:lnTo>
                <a:lnTo>
                  <a:pt x="3989" y="40"/>
                </a:lnTo>
                <a:lnTo>
                  <a:pt x="4084" y="40"/>
                </a:lnTo>
                <a:lnTo>
                  <a:pt x="4152" y="45"/>
                </a:lnTo>
                <a:lnTo>
                  <a:pt x="4204" y="64"/>
                </a:lnTo>
                <a:lnTo>
                  <a:pt x="4215" y="79"/>
                </a:lnTo>
                <a:lnTo>
                  <a:pt x="4193" y="98"/>
                </a:lnTo>
                <a:lnTo>
                  <a:pt x="4173" y="115"/>
                </a:lnTo>
                <a:lnTo>
                  <a:pt x="4198" y="130"/>
                </a:lnTo>
                <a:lnTo>
                  <a:pt x="4229" y="146"/>
                </a:lnTo>
                <a:lnTo>
                  <a:pt x="4211" y="163"/>
                </a:lnTo>
                <a:lnTo>
                  <a:pt x="4173" y="209"/>
                </a:lnTo>
                <a:lnTo>
                  <a:pt x="4183" y="224"/>
                </a:lnTo>
                <a:lnTo>
                  <a:pt x="4210" y="241"/>
                </a:lnTo>
                <a:lnTo>
                  <a:pt x="4214" y="258"/>
                </a:lnTo>
                <a:lnTo>
                  <a:pt x="4218" y="282"/>
                </a:lnTo>
                <a:lnTo>
                  <a:pt x="4232" y="315"/>
                </a:lnTo>
                <a:lnTo>
                  <a:pt x="4235" y="333"/>
                </a:lnTo>
                <a:lnTo>
                  <a:pt x="4286" y="348"/>
                </a:lnTo>
                <a:lnTo>
                  <a:pt x="4342" y="365"/>
                </a:lnTo>
                <a:lnTo>
                  <a:pt x="4348" y="389"/>
                </a:lnTo>
                <a:lnTo>
                  <a:pt x="4353" y="404"/>
                </a:lnTo>
                <a:lnTo>
                  <a:pt x="4335" y="428"/>
                </a:lnTo>
                <a:lnTo>
                  <a:pt x="4339" y="451"/>
                </a:lnTo>
                <a:lnTo>
                  <a:pt x="4419" y="474"/>
                </a:lnTo>
                <a:lnTo>
                  <a:pt x="4452" y="509"/>
                </a:lnTo>
                <a:lnTo>
                  <a:pt x="4433" y="532"/>
                </a:lnTo>
                <a:lnTo>
                  <a:pt x="4413" y="546"/>
                </a:lnTo>
                <a:lnTo>
                  <a:pt x="4395" y="565"/>
                </a:lnTo>
                <a:lnTo>
                  <a:pt x="4431" y="608"/>
                </a:lnTo>
                <a:lnTo>
                  <a:pt x="4443" y="645"/>
                </a:lnTo>
                <a:lnTo>
                  <a:pt x="4447" y="660"/>
                </a:lnTo>
                <a:lnTo>
                  <a:pt x="4456" y="694"/>
                </a:lnTo>
                <a:lnTo>
                  <a:pt x="4461" y="711"/>
                </a:lnTo>
                <a:lnTo>
                  <a:pt x="4473" y="756"/>
                </a:lnTo>
                <a:lnTo>
                  <a:pt x="4452" y="772"/>
                </a:lnTo>
                <a:lnTo>
                  <a:pt x="4462" y="811"/>
                </a:lnTo>
                <a:lnTo>
                  <a:pt x="4472" y="828"/>
                </a:lnTo>
                <a:lnTo>
                  <a:pt x="4498" y="851"/>
                </a:lnTo>
                <a:lnTo>
                  <a:pt x="4483" y="869"/>
                </a:lnTo>
                <a:lnTo>
                  <a:pt x="4487" y="885"/>
                </a:lnTo>
                <a:lnTo>
                  <a:pt x="4494" y="908"/>
                </a:lnTo>
                <a:lnTo>
                  <a:pt x="4526" y="953"/>
                </a:lnTo>
                <a:lnTo>
                  <a:pt x="4536" y="976"/>
                </a:lnTo>
                <a:lnTo>
                  <a:pt x="4519" y="991"/>
                </a:lnTo>
                <a:lnTo>
                  <a:pt x="4448" y="999"/>
                </a:lnTo>
                <a:lnTo>
                  <a:pt x="4380" y="1013"/>
                </a:lnTo>
                <a:lnTo>
                  <a:pt x="4279" y="1001"/>
                </a:lnTo>
                <a:lnTo>
                  <a:pt x="4203" y="989"/>
                </a:lnTo>
                <a:lnTo>
                  <a:pt x="4062" y="979"/>
                </a:lnTo>
                <a:lnTo>
                  <a:pt x="3990" y="972"/>
                </a:lnTo>
                <a:lnTo>
                  <a:pt x="3829" y="970"/>
                </a:lnTo>
                <a:lnTo>
                  <a:pt x="3762" y="974"/>
                </a:lnTo>
                <a:lnTo>
                  <a:pt x="3690" y="984"/>
                </a:lnTo>
                <a:lnTo>
                  <a:pt x="3619" y="991"/>
                </a:lnTo>
                <a:lnTo>
                  <a:pt x="3577" y="1006"/>
                </a:lnTo>
                <a:lnTo>
                  <a:pt x="3508" y="1013"/>
                </a:lnTo>
                <a:lnTo>
                  <a:pt x="3434" y="1006"/>
                </a:lnTo>
                <a:lnTo>
                  <a:pt x="3365" y="999"/>
                </a:lnTo>
                <a:lnTo>
                  <a:pt x="3266" y="1004"/>
                </a:lnTo>
                <a:lnTo>
                  <a:pt x="3180" y="1017"/>
                </a:lnTo>
                <a:lnTo>
                  <a:pt x="3109" y="1014"/>
                </a:lnTo>
                <a:lnTo>
                  <a:pt x="3010" y="1008"/>
                </a:lnTo>
                <a:lnTo>
                  <a:pt x="2821" y="994"/>
                </a:lnTo>
                <a:lnTo>
                  <a:pt x="2630" y="991"/>
                </a:lnTo>
                <a:lnTo>
                  <a:pt x="2562" y="991"/>
                </a:lnTo>
                <a:lnTo>
                  <a:pt x="2467" y="999"/>
                </a:lnTo>
                <a:lnTo>
                  <a:pt x="2299" y="996"/>
                </a:lnTo>
                <a:lnTo>
                  <a:pt x="2160" y="994"/>
                </a:lnTo>
                <a:lnTo>
                  <a:pt x="2091" y="994"/>
                </a:lnTo>
                <a:lnTo>
                  <a:pt x="1949" y="991"/>
                </a:lnTo>
                <a:lnTo>
                  <a:pt x="1853" y="993"/>
                </a:lnTo>
                <a:lnTo>
                  <a:pt x="1782" y="991"/>
                </a:lnTo>
                <a:lnTo>
                  <a:pt x="1642" y="990"/>
                </a:lnTo>
                <a:lnTo>
                  <a:pt x="1570" y="979"/>
                </a:lnTo>
                <a:lnTo>
                  <a:pt x="1496" y="977"/>
                </a:lnTo>
                <a:lnTo>
                  <a:pt x="1432" y="987"/>
                </a:lnTo>
                <a:lnTo>
                  <a:pt x="1334" y="984"/>
                </a:lnTo>
                <a:lnTo>
                  <a:pt x="1284" y="965"/>
                </a:lnTo>
                <a:lnTo>
                  <a:pt x="1214" y="974"/>
                </a:lnTo>
                <a:lnTo>
                  <a:pt x="1051" y="976"/>
                </a:lnTo>
                <a:lnTo>
                  <a:pt x="907" y="976"/>
                </a:lnTo>
                <a:lnTo>
                  <a:pt x="770" y="982"/>
                </a:lnTo>
                <a:lnTo>
                  <a:pt x="679" y="973"/>
                </a:lnTo>
                <a:lnTo>
                  <a:pt x="483" y="966"/>
                </a:lnTo>
                <a:lnTo>
                  <a:pt x="414" y="970"/>
                </a:lnTo>
                <a:lnTo>
                  <a:pt x="350" y="987"/>
                </a:lnTo>
                <a:lnTo>
                  <a:pt x="297" y="969"/>
                </a:lnTo>
                <a:lnTo>
                  <a:pt x="268" y="953"/>
                </a:lnTo>
                <a:lnTo>
                  <a:pt x="262" y="938"/>
                </a:lnTo>
                <a:lnTo>
                  <a:pt x="285" y="922"/>
                </a:lnTo>
                <a:lnTo>
                  <a:pt x="349" y="904"/>
                </a:lnTo>
                <a:lnTo>
                  <a:pt x="368" y="888"/>
                </a:lnTo>
                <a:lnTo>
                  <a:pt x="364" y="872"/>
                </a:lnTo>
                <a:lnTo>
                  <a:pt x="335" y="854"/>
                </a:lnTo>
                <a:lnTo>
                  <a:pt x="332" y="831"/>
                </a:lnTo>
                <a:lnTo>
                  <a:pt x="324" y="814"/>
                </a:lnTo>
                <a:lnTo>
                  <a:pt x="320" y="799"/>
                </a:lnTo>
                <a:lnTo>
                  <a:pt x="314" y="780"/>
                </a:lnTo>
                <a:lnTo>
                  <a:pt x="286" y="763"/>
                </a:lnTo>
                <a:lnTo>
                  <a:pt x="280" y="739"/>
                </a:lnTo>
                <a:lnTo>
                  <a:pt x="299" y="725"/>
                </a:lnTo>
                <a:lnTo>
                  <a:pt x="289" y="701"/>
                </a:lnTo>
                <a:lnTo>
                  <a:pt x="135" y="657"/>
                </a:lnTo>
                <a:lnTo>
                  <a:pt x="112" y="641"/>
                </a:lnTo>
                <a:lnTo>
                  <a:pt x="103" y="623"/>
                </a:lnTo>
                <a:lnTo>
                  <a:pt x="123" y="606"/>
                </a:lnTo>
                <a:lnTo>
                  <a:pt x="165" y="587"/>
                </a:lnTo>
                <a:lnTo>
                  <a:pt x="158" y="566"/>
                </a:lnTo>
                <a:lnTo>
                  <a:pt x="149" y="543"/>
                </a:lnTo>
                <a:lnTo>
                  <a:pt x="144" y="522"/>
                </a:lnTo>
                <a:lnTo>
                  <a:pt x="116" y="496"/>
                </a:lnTo>
                <a:lnTo>
                  <a:pt x="109" y="477"/>
                </a:lnTo>
                <a:lnTo>
                  <a:pt x="78" y="452"/>
                </a:lnTo>
                <a:lnTo>
                  <a:pt x="74" y="435"/>
                </a:lnTo>
                <a:lnTo>
                  <a:pt x="85" y="396"/>
                </a:lnTo>
                <a:lnTo>
                  <a:pt x="106" y="380"/>
                </a:lnTo>
                <a:lnTo>
                  <a:pt x="100" y="365"/>
                </a:lnTo>
                <a:lnTo>
                  <a:pt x="98" y="345"/>
                </a:lnTo>
                <a:lnTo>
                  <a:pt x="93" y="328"/>
                </a:lnTo>
                <a:lnTo>
                  <a:pt x="87" y="306"/>
                </a:lnTo>
                <a:lnTo>
                  <a:pt x="47" y="261"/>
                </a:lnTo>
                <a:lnTo>
                  <a:pt x="20" y="238"/>
                </a:lnTo>
                <a:lnTo>
                  <a:pt x="13" y="221"/>
                </a:lnTo>
                <a:lnTo>
                  <a:pt x="8" y="199"/>
                </a:lnTo>
                <a:lnTo>
                  <a:pt x="32" y="182"/>
                </a:lnTo>
                <a:lnTo>
                  <a:pt x="21" y="159"/>
                </a:lnTo>
                <a:lnTo>
                  <a:pt x="10" y="136"/>
                </a:lnTo>
                <a:lnTo>
                  <a:pt x="10" y="122"/>
                </a:lnTo>
                <a:lnTo>
                  <a:pt x="0" y="98"/>
                </a:lnTo>
                <a:lnTo>
                  <a:pt x="22" y="77"/>
                </a:lnTo>
                <a:lnTo>
                  <a:pt x="15" y="58"/>
                </a:lnTo>
                <a:lnTo>
                  <a:pt x="28" y="35"/>
                </a:lnTo>
                <a:lnTo>
                  <a:pt x="7" y="17"/>
                </a:lnTo>
                <a:lnTo>
                  <a:pt x="71" y="0"/>
                </a:lnTo>
              </a:path>
            </a:pathLst>
          </a:custGeom>
          <a:gradFill flip="none" rotWithShape="1">
            <a:gsLst>
              <a:gs pos="75000">
                <a:srgbClr val="FFDB69">
                  <a:tint val="66000"/>
                  <a:satMod val="160000"/>
                  <a:alpha val="58000"/>
                </a:srgbClr>
              </a:gs>
              <a:gs pos="61000">
                <a:srgbClr val="FFDB69">
                  <a:tint val="44500"/>
                  <a:satMod val="160000"/>
                  <a:alpha val="73000"/>
                </a:srgbClr>
              </a:gs>
              <a:gs pos="100000">
                <a:srgbClr val="FFDB69">
                  <a:tint val="23500"/>
                  <a:satMod val="160000"/>
                  <a:alpha val="80000"/>
                </a:srgbClr>
              </a:gs>
            </a:gsLst>
            <a:lin ang="0" scaled="1"/>
            <a:tileRect/>
          </a:gradFill>
          <a:ln w="9525" cap="rnd" cmpd="sng">
            <a:noFill/>
            <a:prstDash val="solid"/>
            <a:round/>
            <a:headEnd type="none" w="med" len="med"/>
            <a:tailEnd type="none" w="med" len="med"/>
          </a:ln>
          <a:effectLst>
            <a:outerShdw blurRad="50800" dist="38100" dir="2700000" algn="tl" rotWithShape="0">
              <a:prstClr val="black">
                <a:alpha val="40000"/>
              </a:prstClr>
            </a:outerShdw>
          </a:effectLst>
        </p:spPr>
        <p:txBody>
          <a:bodyPr lIns="360000" tIns="72000" rIns="324000" bIns="72000" anchor="ctr"/>
          <a:lstStyle/>
          <a:p>
            <a:pPr marL="171450" lvl="0" indent="-171450">
              <a:lnSpc>
                <a:spcPct val="114000"/>
              </a:lnSpc>
              <a:spcAft>
                <a:spcPts val="600"/>
              </a:spcAft>
              <a:buFont typeface="Arial" panose="020B0604020202020204" pitchFamily="34" charset="0"/>
              <a:buChar char="•"/>
              <a:defRPr/>
            </a:pPr>
            <a:r>
              <a:rPr lang="en-US" sz="1000" dirty="0">
                <a:solidFill>
                  <a:prstClr val="black"/>
                </a:solidFill>
              </a:rPr>
              <a:t>The Gopalganj substation, meant to distribute a part of the electricity generated by the Payra power plant among some north-western areas such as Gopalganj, Madaripur and Fairdpur, was not yet prepared to handle double circuit line.</a:t>
            </a:r>
          </a:p>
          <a:p>
            <a:pPr marL="171450" lvl="0" indent="-171450" algn="r">
              <a:lnSpc>
                <a:spcPct val="114000"/>
              </a:lnSpc>
              <a:spcAft>
                <a:spcPts val="600"/>
              </a:spcAft>
              <a:buFont typeface="Arial" panose="020B0604020202020204" pitchFamily="34" charset="0"/>
              <a:buChar char="•"/>
              <a:defRPr/>
            </a:pPr>
            <a:r>
              <a:rPr lang="en-US" sz="1000" dirty="0">
                <a:solidFill>
                  <a:prstClr val="black"/>
                </a:solidFill>
              </a:rPr>
              <a:t>The 132 kv distribution lines running from the Gopalganj substation are old lines and highly susceptible to tripping</a:t>
            </a:r>
            <a:r>
              <a:rPr lang="en-US" sz="1000" b="1" dirty="0">
                <a:solidFill>
                  <a:prstClr val="black"/>
                </a:solidFill>
              </a:rPr>
              <a:t> PGCB and BPDB Officials, March 2020</a:t>
            </a:r>
          </a:p>
        </p:txBody>
      </p:sp>
      <p:grpSp>
        <p:nvGrpSpPr>
          <p:cNvPr id="31" name="Group 30"/>
          <p:cNvGrpSpPr/>
          <p:nvPr/>
        </p:nvGrpSpPr>
        <p:grpSpPr>
          <a:xfrm>
            <a:off x="5970680" y="2291028"/>
            <a:ext cx="3829646" cy="4652011"/>
            <a:chOff x="6399138" y="2285999"/>
            <a:chExt cx="3829646" cy="4652011"/>
          </a:xfrm>
        </p:grpSpPr>
        <p:pic>
          <p:nvPicPr>
            <p:cNvPr id="33" name="Picture 32"/>
            <p:cNvPicPr>
              <a:picLocks noChangeAspect="1"/>
            </p:cNvPicPr>
            <p:nvPr/>
          </p:nvPicPr>
          <p:blipFill rotWithShape="1">
            <a:blip r:embed="rId7"/>
            <a:srcRect r="25917" b="7836"/>
            <a:stretch/>
          </p:blipFill>
          <p:spPr>
            <a:xfrm>
              <a:off x="6399138" y="2285999"/>
              <a:ext cx="3756445" cy="4652011"/>
            </a:xfrm>
            <a:prstGeom prst="rect">
              <a:avLst/>
            </a:prstGeom>
          </p:spPr>
        </p:pic>
        <p:sp>
          <p:nvSpPr>
            <p:cNvPr id="34" name="Isosceles Triangle 33"/>
            <p:cNvSpPr/>
            <p:nvPr/>
          </p:nvSpPr>
          <p:spPr bwMode="gray">
            <a:xfrm>
              <a:off x="8770077" y="5381898"/>
              <a:ext cx="172740" cy="135901"/>
            </a:xfrm>
            <a:prstGeom prst="triangl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35" name="Isosceles Triangle 34"/>
            <p:cNvSpPr/>
            <p:nvPr/>
          </p:nvSpPr>
          <p:spPr bwMode="gray">
            <a:xfrm>
              <a:off x="7313742" y="6282840"/>
              <a:ext cx="172740" cy="135901"/>
            </a:xfrm>
            <a:prstGeom prst="triangl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36" name="Isosceles Triangle 35"/>
            <p:cNvSpPr/>
            <p:nvPr/>
          </p:nvSpPr>
          <p:spPr bwMode="gray">
            <a:xfrm>
              <a:off x="7673439" y="6012655"/>
              <a:ext cx="172740" cy="135901"/>
            </a:xfrm>
            <a:prstGeom prst="triangl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37" name="TextBox 36"/>
            <p:cNvSpPr txBox="1"/>
            <p:nvPr/>
          </p:nvSpPr>
          <p:spPr>
            <a:xfrm>
              <a:off x="9006950" y="5391903"/>
              <a:ext cx="877309" cy="153888"/>
            </a:xfrm>
            <a:prstGeom prst="rect">
              <a:avLst/>
            </a:prstGeom>
            <a:solidFill>
              <a:schemeClr val="bg1"/>
            </a:solid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Borhanuddin</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sp>
          <p:nvSpPr>
            <p:cNvPr id="38" name="TextBox 37"/>
            <p:cNvSpPr txBox="1"/>
            <p:nvPr/>
          </p:nvSpPr>
          <p:spPr>
            <a:xfrm>
              <a:off x="7892769" y="6012655"/>
              <a:ext cx="365748" cy="153888"/>
            </a:xfrm>
            <a:prstGeom prst="rect">
              <a:avLst/>
            </a:prstGeom>
            <a:solidFill>
              <a:schemeClr val="bg1"/>
            </a:solid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Payra</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sp>
          <p:nvSpPr>
            <p:cNvPr id="42" name="TextBox 41"/>
            <p:cNvSpPr txBox="1"/>
            <p:nvPr/>
          </p:nvSpPr>
          <p:spPr>
            <a:xfrm>
              <a:off x="7378964" y="6455527"/>
              <a:ext cx="438655" cy="153888"/>
            </a:xfrm>
            <a:prstGeom prst="rect">
              <a:avLst/>
            </a:prstGeom>
            <a:solidFill>
              <a:schemeClr val="bg1"/>
            </a:solid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Payra</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sp>
          <p:nvSpPr>
            <p:cNvPr id="43" name="Isosceles Triangle 42"/>
            <p:cNvSpPr/>
            <p:nvPr/>
          </p:nvSpPr>
          <p:spPr bwMode="gray">
            <a:xfrm>
              <a:off x="7427795" y="5493566"/>
              <a:ext cx="172740" cy="135901"/>
            </a:xfrm>
            <a:prstGeom prst="triangl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44" name="TextBox 43"/>
            <p:cNvSpPr txBox="1"/>
            <p:nvPr/>
          </p:nvSpPr>
          <p:spPr>
            <a:xfrm>
              <a:off x="7673439" y="5505800"/>
              <a:ext cx="877309" cy="153888"/>
            </a:xfrm>
            <a:prstGeom prst="rect">
              <a:avLst/>
            </a:prstGeom>
            <a:solidFill>
              <a:schemeClr val="bg1"/>
            </a:solid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Patuakhali</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sp>
          <p:nvSpPr>
            <p:cNvPr id="45" name="Isosceles Triangle 44"/>
            <p:cNvSpPr/>
            <p:nvPr/>
          </p:nvSpPr>
          <p:spPr bwMode="gray">
            <a:xfrm>
              <a:off x="7398753" y="4510836"/>
              <a:ext cx="172740" cy="135901"/>
            </a:xfrm>
            <a:prstGeom prst="triangl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46" name="Isosceles Triangle 45"/>
            <p:cNvSpPr/>
            <p:nvPr/>
          </p:nvSpPr>
          <p:spPr bwMode="gray">
            <a:xfrm>
              <a:off x="7607951" y="4683524"/>
              <a:ext cx="172740" cy="135901"/>
            </a:xfrm>
            <a:prstGeom prst="triangl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47" name="Isosceles Triangle 46"/>
            <p:cNvSpPr/>
            <p:nvPr/>
          </p:nvSpPr>
          <p:spPr bwMode="gray">
            <a:xfrm>
              <a:off x="7056601" y="3493617"/>
              <a:ext cx="172740" cy="135901"/>
            </a:xfrm>
            <a:prstGeom prst="triangl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48" name="TextBox 47"/>
            <p:cNvSpPr txBox="1"/>
            <p:nvPr/>
          </p:nvSpPr>
          <p:spPr>
            <a:xfrm>
              <a:off x="7306945" y="3506621"/>
              <a:ext cx="877309" cy="153888"/>
            </a:xfrm>
            <a:prstGeom prst="rect">
              <a:avLst/>
            </a:prstGeom>
            <a:solidFill>
              <a:schemeClr val="bg1"/>
            </a:solid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Gopalganj</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sp>
          <p:nvSpPr>
            <p:cNvPr id="49" name="Isosceles Triangle 48"/>
            <p:cNvSpPr/>
            <p:nvPr/>
          </p:nvSpPr>
          <p:spPr bwMode="gray">
            <a:xfrm>
              <a:off x="7153975" y="2388011"/>
              <a:ext cx="172740" cy="135901"/>
            </a:xfrm>
            <a:prstGeom prst="triangl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50" name="TextBox 49"/>
            <p:cNvSpPr txBox="1"/>
            <p:nvPr/>
          </p:nvSpPr>
          <p:spPr>
            <a:xfrm>
              <a:off x="7342036" y="2309376"/>
              <a:ext cx="877309" cy="153888"/>
            </a:xfrm>
            <a:prstGeom prst="rect">
              <a:avLst/>
            </a:prstGeom>
            <a:solidFill>
              <a:schemeClr val="bg1"/>
            </a:solid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Aminbazar</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sp>
          <p:nvSpPr>
            <p:cNvPr id="51" name="Freeform 50"/>
            <p:cNvSpPr/>
            <p:nvPr/>
          </p:nvSpPr>
          <p:spPr bwMode="gray">
            <a:xfrm>
              <a:off x="8413563" y="4992130"/>
              <a:ext cx="430966" cy="420129"/>
            </a:xfrm>
            <a:custGeom>
              <a:avLst/>
              <a:gdLst>
                <a:gd name="connsiteX0" fmla="*/ 325497 w 325497"/>
                <a:gd name="connsiteY0" fmla="*/ 420129 h 420129"/>
                <a:gd name="connsiteX1" fmla="*/ 12459 w 325497"/>
                <a:gd name="connsiteY1" fmla="*/ 0 h 420129"/>
              </a:gdLst>
              <a:ahLst/>
              <a:cxnLst>
                <a:cxn ang="0">
                  <a:pos x="connsiteX0" y="connsiteY0"/>
                </a:cxn>
                <a:cxn ang="0">
                  <a:pos x="connsiteX1" y="connsiteY1"/>
                </a:cxn>
              </a:cxnLst>
              <a:rect l="l" t="t" r="r" b="b"/>
              <a:pathLst>
                <a:path w="325497" h="420129">
                  <a:moveTo>
                    <a:pt x="325497" y="420129"/>
                  </a:moveTo>
                  <a:cubicBezTo>
                    <a:pt x="137399" y="240956"/>
                    <a:pt x="-50698" y="61784"/>
                    <a:pt x="12459" y="0"/>
                  </a:cubicBezTo>
                </a:path>
              </a:pathLst>
            </a:custGeom>
            <a:noFill/>
            <a:ln w="19050" algn="ctr">
              <a:no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000" b="0" i="0" u="none" strike="noStrike" kern="1200" cap="none" spc="0" normalizeH="0" baseline="0" noProof="0" dirty="0">
                <a:ln>
                  <a:noFill/>
                </a:ln>
                <a:solidFill>
                  <a:prstClr val="black"/>
                </a:solidFill>
                <a:effectLst/>
                <a:uLnTx/>
                <a:uFillTx/>
                <a:latin typeface="Verdana"/>
                <a:ea typeface="+mn-ea"/>
                <a:cs typeface="+mn-cs"/>
              </a:endParaRPr>
            </a:p>
          </p:txBody>
        </p:sp>
        <p:sp>
          <p:nvSpPr>
            <p:cNvPr id="52" name="Freeform 51"/>
            <p:cNvSpPr/>
            <p:nvPr/>
          </p:nvSpPr>
          <p:spPr bwMode="gray">
            <a:xfrm>
              <a:off x="9318831" y="3414415"/>
              <a:ext cx="909953" cy="283024"/>
            </a:xfrm>
            <a:custGeom>
              <a:avLst/>
              <a:gdLst>
                <a:gd name="connsiteX0" fmla="*/ 0 w 687263"/>
                <a:gd name="connsiteY0" fmla="*/ 17017 h 283024"/>
                <a:gd name="connsiteX1" fmla="*/ 27709 w 687263"/>
                <a:gd name="connsiteY1" fmla="*/ 5933 h 283024"/>
                <a:gd name="connsiteX2" fmla="*/ 205047 w 687263"/>
                <a:gd name="connsiteY2" fmla="*/ 11475 h 283024"/>
                <a:gd name="connsiteX3" fmla="*/ 266007 w 687263"/>
                <a:gd name="connsiteY3" fmla="*/ 17017 h 283024"/>
                <a:gd name="connsiteX4" fmla="*/ 326967 w 687263"/>
                <a:gd name="connsiteY4" fmla="*/ 33642 h 283024"/>
                <a:gd name="connsiteX5" fmla="*/ 393469 w 687263"/>
                <a:gd name="connsiteY5" fmla="*/ 44726 h 283024"/>
                <a:gd name="connsiteX6" fmla="*/ 454429 w 687263"/>
                <a:gd name="connsiteY6" fmla="*/ 77977 h 283024"/>
                <a:gd name="connsiteX7" fmla="*/ 493222 w 687263"/>
                <a:gd name="connsiteY7" fmla="*/ 94602 h 283024"/>
                <a:gd name="connsiteX8" fmla="*/ 537557 w 687263"/>
                <a:gd name="connsiteY8" fmla="*/ 116769 h 283024"/>
                <a:gd name="connsiteX9" fmla="*/ 565266 w 687263"/>
                <a:gd name="connsiteY9" fmla="*/ 127853 h 283024"/>
                <a:gd name="connsiteX10" fmla="*/ 592975 w 687263"/>
                <a:gd name="connsiteY10" fmla="*/ 150020 h 283024"/>
                <a:gd name="connsiteX11" fmla="*/ 609600 w 687263"/>
                <a:gd name="connsiteY11" fmla="*/ 161104 h 283024"/>
                <a:gd name="connsiteX12" fmla="*/ 631767 w 687263"/>
                <a:gd name="connsiteY12" fmla="*/ 188813 h 283024"/>
                <a:gd name="connsiteX13" fmla="*/ 659477 w 687263"/>
                <a:gd name="connsiteY13" fmla="*/ 222064 h 283024"/>
                <a:gd name="connsiteX14" fmla="*/ 681644 w 687263"/>
                <a:gd name="connsiteY14" fmla="*/ 255315 h 283024"/>
                <a:gd name="connsiteX15" fmla="*/ 687186 w 687263"/>
                <a:gd name="connsiteY15" fmla="*/ 283024 h 28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87263" h="283024">
                  <a:moveTo>
                    <a:pt x="0" y="17017"/>
                  </a:moveTo>
                  <a:cubicBezTo>
                    <a:pt x="9236" y="13322"/>
                    <a:pt x="18058" y="8346"/>
                    <a:pt x="27709" y="5933"/>
                  </a:cubicBezTo>
                  <a:cubicBezTo>
                    <a:pt x="84727" y="-8322"/>
                    <a:pt x="151509" y="7013"/>
                    <a:pt x="205047" y="11475"/>
                  </a:cubicBezTo>
                  <a:lnTo>
                    <a:pt x="266007" y="17017"/>
                  </a:lnTo>
                  <a:cubicBezTo>
                    <a:pt x="286327" y="22559"/>
                    <a:pt x="306386" y="29168"/>
                    <a:pt x="326967" y="33642"/>
                  </a:cubicBezTo>
                  <a:cubicBezTo>
                    <a:pt x="348927" y="38416"/>
                    <a:pt x="372243" y="37343"/>
                    <a:pt x="393469" y="44726"/>
                  </a:cubicBezTo>
                  <a:cubicBezTo>
                    <a:pt x="415331" y="52330"/>
                    <a:pt x="433726" y="67626"/>
                    <a:pt x="454429" y="77977"/>
                  </a:cubicBezTo>
                  <a:cubicBezTo>
                    <a:pt x="467012" y="84269"/>
                    <a:pt x="480473" y="88653"/>
                    <a:pt x="493222" y="94602"/>
                  </a:cubicBezTo>
                  <a:cubicBezTo>
                    <a:pt x="508195" y="101589"/>
                    <a:pt x="522555" y="109845"/>
                    <a:pt x="537557" y="116769"/>
                  </a:cubicBezTo>
                  <a:cubicBezTo>
                    <a:pt x="546589" y="120938"/>
                    <a:pt x="556736" y="122735"/>
                    <a:pt x="565266" y="127853"/>
                  </a:cubicBezTo>
                  <a:cubicBezTo>
                    <a:pt x="575409" y="133939"/>
                    <a:pt x="583512" y="142923"/>
                    <a:pt x="592975" y="150020"/>
                  </a:cubicBezTo>
                  <a:cubicBezTo>
                    <a:pt x="598303" y="154016"/>
                    <a:pt x="604890" y="156394"/>
                    <a:pt x="609600" y="161104"/>
                  </a:cubicBezTo>
                  <a:cubicBezTo>
                    <a:pt x="617964" y="169468"/>
                    <a:pt x="623978" y="179911"/>
                    <a:pt x="631767" y="188813"/>
                  </a:cubicBezTo>
                  <a:cubicBezTo>
                    <a:pt x="661639" y="222952"/>
                    <a:pt x="636791" y="188035"/>
                    <a:pt x="659477" y="222064"/>
                  </a:cubicBezTo>
                  <a:cubicBezTo>
                    <a:pt x="672651" y="261591"/>
                    <a:pt x="653971" y="213807"/>
                    <a:pt x="681644" y="255315"/>
                  </a:cubicBezTo>
                  <a:cubicBezTo>
                    <a:pt x="688354" y="265380"/>
                    <a:pt x="687186" y="272464"/>
                    <a:pt x="687186" y="283024"/>
                  </a:cubicBezTo>
                </a:path>
              </a:pathLst>
            </a:custGeom>
            <a:noFill/>
            <a:ln w="19050" algn="ctr">
              <a:no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000" b="0" i="0" u="none" strike="noStrike" kern="1200" cap="none" spc="0" normalizeH="0" baseline="0" noProof="0" dirty="0">
                <a:ln>
                  <a:noFill/>
                </a:ln>
                <a:solidFill>
                  <a:prstClr val="black"/>
                </a:solidFill>
                <a:effectLst/>
                <a:uLnTx/>
                <a:uFillTx/>
                <a:latin typeface="Verdana"/>
                <a:ea typeface="+mn-ea"/>
                <a:cs typeface="+mn-cs"/>
              </a:endParaRPr>
            </a:p>
          </p:txBody>
        </p:sp>
        <p:cxnSp>
          <p:nvCxnSpPr>
            <p:cNvPr id="53" name="Curved Connector 52"/>
            <p:cNvCxnSpPr>
              <a:stCxn id="34" idx="1"/>
              <a:endCxn id="45" idx="5"/>
            </p:cNvCxnSpPr>
            <p:nvPr/>
          </p:nvCxnSpPr>
          <p:spPr>
            <a:xfrm rot="10800000">
              <a:off x="7528310" y="4578787"/>
              <a:ext cx="1284954" cy="871062"/>
            </a:xfrm>
            <a:prstGeom prst="curvedConnector3">
              <a:avLst>
                <a:gd name="adj1" fmla="val 21448"/>
              </a:avLst>
            </a:prstGeom>
            <a:ln w="41275" cmpd="dbl">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sp>
          <p:nvSpPr>
            <p:cNvPr id="54" name="TextBox 53"/>
            <p:cNvSpPr txBox="1"/>
            <p:nvPr/>
          </p:nvSpPr>
          <p:spPr>
            <a:xfrm>
              <a:off x="7546955" y="4416806"/>
              <a:ext cx="784467" cy="153888"/>
            </a:xfrm>
            <a:prstGeom prst="rect">
              <a:avLst/>
            </a:prstGeom>
            <a:solidFill>
              <a:schemeClr val="bg1"/>
            </a:solid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Barishal N</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sp>
          <p:nvSpPr>
            <p:cNvPr id="55" name="TextBox 54"/>
            <p:cNvSpPr txBox="1"/>
            <p:nvPr/>
          </p:nvSpPr>
          <p:spPr>
            <a:xfrm>
              <a:off x="7817619" y="4817737"/>
              <a:ext cx="567384" cy="153888"/>
            </a:xfrm>
            <a:prstGeom prst="rect">
              <a:avLst/>
            </a:prstGeom>
            <a:solidFill>
              <a:schemeClr val="bg1"/>
            </a:solid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Barishal</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cxnSp>
          <p:nvCxnSpPr>
            <p:cNvPr id="56" name="Curved Connector 55"/>
            <p:cNvCxnSpPr>
              <a:stCxn id="35" idx="1"/>
            </p:cNvCxnSpPr>
            <p:nvPr/>
          </p:nvCxnSpPr>
          <p:spPr>
            <a:xfrm rot="10800000" flipH="1">
              <a:off x="7356927" y="5629467"/>
              <a:ext cx="129554" cy="721324"/>
            </a:xfrm>
            <a:prstGeom prst="curvedConnector4">
              <a:avLst>
                <a:gd name="adj1" fmla="val -28490"/>
                <a:gd name="adj2" fmla="val 46980"/>
              </a:avLst>
            </a:prstGeom>
            <a:ln w="41275" cmpd="dbl">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a:stCxn id="43" idx="0"/>
              <a:endCxn id="46" idx="3"/>
            </p:cNvCxnSpPr>
            <p:nvPr/>
          </p:nvCxnSpPr>
          <p:spPr>
            <a:xfrm flipV="1">
              <a:off x="7514165" y="4819425"/>
              <a:ext cx="180156" cy="674141"/>
            </a:xfrm>
            <a:prstGeom prst="line">
              <a:avLst/>
            </a:prstGeom>
            <a:ln w="12700">
              <a:solidFill>
                <a:srgbClr val="ED8B00"/>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a:endCxn id="46" idx="1"/>
            </p:cNvCxnSpPr>
            <p:nvPr/>
          </p:nvCxnSpPr>
          <p:spPr>
            <a:xfrm>
              <a:off x="7497043" y="4644654"/>
              <a:ext cx="154094" cy="106821"/>
            </a:xfrm>
            <a:prstGeom prst="line">
              <a:avLst/>
            </a:prstGeom>
            <a:ln w="44450" cmpd="dbl">
              <a:solidFill>
                <a:srgbClr val="ED8B00"/>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a:stCxn id="43" idx="1"/>
              <a:endCxn id="45" idx="3"/>
            </p:cNvCxnSpPr>
            <p:nvPr/>
          </p:nvCxnSpPr>
          <p:spPr>
            <a:xfrm flipV="1">
              <a:off x="7470981" y="4646737"/>
              <a:ext cx="14142" cy="914780"/>
            </a:xfrm>
            <a:prstGeom prst="line">
              <a:avLst/>
            </a:prstGeom>
            <a:ln w="41275" cmpd="dbl">
              <a:solidFill>
                <a:schemeClr val="accent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a:stCxn id="45" idx="1"/>
              <a:endCxn id="47" idx="3"/>
            </p:cNvCxnSpPr>
            <p:nvPr/>
          </p:nvCxnSpPr>
          <p:spPr>
            <a:xfrm flipH="1" flipV="1">
              <a:off x="7142971" y="3629518"/>
              <a:ext cx="298967" cy="949269"/>
            </a:xfrm>
            <a:prstGeom prst="line">
              <a:avLst/>
            </a:prstGeom>
            <a:ln w="41275" cmpd="dbl">
              <a:solidFill>
                <a:schemeClr val="accent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61" name="Isosceles Triangle 60"/>
            <p:cNvSpPr/>
            <p:nvPr/>
          </p:nvSpPr>
          <p:spPr bwMode="gray">
            <a:xfrm>
              <a:off x="7427795" y="3731543"/>
              <a:ext cx="172740" cy="135901"/>
            </a:xfrm>
            <a:prstGeom prst="triangl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62" name="TextBox 61"/>
            <p:cNvSpPr txBox="1"/>
            <p:nvPr/>
          </p:nvSpPr>
          <p:spPr>
            <a:xfrm>
              <a:off x="7651137" y="3758639"/>
              <a:ext cx="680285" cy="153888"/>
            </a:xfrm>
            <a:prstGeom prst="rect">
              <a:avLst/>
            </a:prstGeom>
            <a:solidFill>
              <a:schemeClr val="bg1"/>
            </a:solid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Madaripur</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cxnSp>
          <p:nvCxnSpPr>
            <p:cNvPr id="63" name="Straight Connector 62"/>
            <p:cNvCxnSpPr>
              <a:stCxn id="61" idx="3"/>
              <a:endCxn id="45" idx="0"/>
            </p:cNvCxnSpPr>
            <p:nvPr/>
          </p:nvCxnSpPr>
          <p:spPr>
            <a:xfrm flipH="1">
              <a:off x="7485123" y="3867444"/>
              <a:ext cx="29042" cy="643392"/>
            </a:xfrm>
            <a:prstGeom prst="line">
              <a:avLst/>
            </a:prstGeom>
            <a:ln w="44450" cmpd="dbl">
              <a:solidFill>
                <a:srgbClr val="ED8B00"/>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a:stCxn id="47" idx="4"/>
              <a:endCxn id="61" idx="1"/>
            </p:cNvCxnSpPr>
            <p:nvPr/>
          </p:nvCxnSpPr>
          <p:spPr>
            <a:xfrm>
              <a:off x="7229341" y="3629518"/>
              <a:ext cx="241640" cy="169976"/>
            </a:xfrm>
            <a:prstGeom prst="line">
              <a:avLst/>
            </a:prstGeom>
            <a:ln w="44450" cmpd="dbl">
              <a:solidFill>
                <a:srgbClr val="ED8B00"/>
              </a:solidFill>
            </a:ln>
          </p:spPr>
          <p:style>
            <a:lnRef idx="1">
              <a:schemeClr val="accent1"/>
            </a:lnRef>
            <a:fillRef idx="0">
              <a:schemeClr val="accent1"/>
            </a:fillRef>
            <a:effectRef idx="0">
              <a:schemeClr val="accent1"/>
            </a:effectRef>
            <a:fontRef idx="minor">
              <a:schemeClr val="tx1"/>
            </a:fontRef>
          </p:style>
        </p:cxnSp>
        <p:sp>
          <p:nvSpPr>
            <p:cNvPr id="65" name="Isosceles Triangle 64"/>
            <p:cNvSpPr/>
            <p:nvPr/>
          </p:nvSpPr>
          <p:spPr bwMode="gray">
            <a:xfrm>
              <a:off x="7497709" y="6179827"/>
              <a:ext cx="172740" cy="135901"/>
            </a:xfrm>
            <a:prstGeom prst="triangl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66" name="TextBox 65"/>
            <p:cNvSpPr txBox="1"/>
            <p:nvPr/>
          </p:nvSpPr>
          <p:spPr>
            <a:xfrm>
              <a:off x="7702855" y="6212753"/>
              <a:ext cx="682148" cy="153888"/>
            </a:xfrm>
            <a:prstGeom prst="rect">
              <a:avLst/>
            </a:prstGeom>
            <a:solidFill>
              <a:schemeClr val="bg1"/>
            </a:solid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srgbClr val="313131"/>
                  </a:solidFill>
                  <a:effectLst/>
                  <a:uLnTx/>
                  <a:uFillTx/>
                  <a:latin typeface="Verdana"/>
                  <a:ea typeface="+mn-ea"/>
                  <a:cs typeface="+mn-cs"/>
                </a:rPr>
                <a:t>Payra LNG</a:t>
              </a:r>
              <a:endParaRPr kumimoji="0" lang="en-IN" sz="1000" b="0" i="0" u="none" strike="noStrike" kern="1200" cap="none" spc="0" normalizeH="0" baseline="0" noProof="0" dirty="0">
                <a:ln>
                  <a:noFill/>
                </a:ln>
                <a:solidFill>
                  <a:srgbClr val="313131"/>
                </a:solidFill>
                <a:effectLst/>
                <a:uLnTx/>
                <a:uFillTx/>
                <a:latin typeface="Verdana"/>
                <a:ea typeface="+mn-ea"/>
                <a:cs typeface="+mn-cs"/>
              </a:endParaRPr>
            </a:p>
          </p:txBody>
        </p:sp>
        <p:cxnSp>
          <p:nvCxnSpPr>
            <p:cNvPr id="67" name="Curved Connector 66"/>
            <p:cNvCxnSpPr>
              <a:stCxn id="65" idx="1"/>
              <a:endCxn id="47" idx="2"/>
            </p:cNvCxnSpPr>
            <p:nvPr/>
          </p:nvCxnSpPr>
          <p:spPr>
            <a:xfrm rot="10800000">
              <a:off x="7056602" y="3629518"/>
              <a:ext cx="484293" cy="2618260"/>
            </a:xfrm>
            <a:prstGeom prst="curvedConnector2">
              <a:avLst/>
            </a:prstGeom>
            <a:ln w="41275" cmpd="dbl">
              <a:solidFill>
                <a:schemeClr val="accent3"/>
              </a:solidFill>
              <a:prstDash val="dashDot"/>
            </a:ln>
          </p:spPr>
          <p:style>
            <a:lnRef idx="1">
              <a:schemeClr val="accent1"/>
            </a:lnRef>
            <a:fillRef idx="0">
              <a:schemeClr val="accent1"/>
            </a:fillRef>
            <a:effectRef idx="0">
              <a:schemeClr val="accent1"/>
            </a:effectRef>
            <a:fontRef idx="minor">
              <a:schemeClr val="tx1"/>
            </a:fontRef>
          </p:style>
        </p:cxnSp>
        <p:cxnSp>
          <p:nvCxnSpPr>
            <p:cNvPr id="68" name="Curved Connector 67"/>
            <p:cNvCxnSpPr>
              <a:stCxn id="47" idx="5"/>
              <a:endCxn id="49" idx="5"/>
            </p:cNvCxnSpPr>
            <p:nvPr/>
          </p:nvCxnSpPr>
          <p:spPr>
            <a:xfrm flipV="1">
              <a:off x="7186156" y="2455962"/>
              <a:ext cx="97374" cy="1105606"/>
            </a:xfrm>
            <a:prstGeom prst="curvedConnector3">
              <a:avLst>
                <a:gd name="adj1" fmla="val 232656"/>
              </a:avLst>
            </a:prstGeom>
            <a:ln w="41275" cmpd="dbl">
              <a:solidFill>
                <a:schemeClr val="accent3"/>
              </a:solidFill>
              <a:prstDash val="dashDot"/>
            </a:ln>
          </p:spPr>
          <p:style>
            <a:lnRef idx="1">
              <a:schemeClr val="accent1"/>
            </a:lnRef>
            <a:fillRef idx="0">
              <a:schemeClr val="accent1"/>
            </a:fillRef>
            <a:effectRef idx="0">
              <a:schemeClr val="accent1"/>
            </a:effectRef>
            <a:fontRef idx="minor">
              <a:schemeClr val="tx1"/>
            </a:fontRef>
          </p:style>
        </p:cxnSp>
        <p:cxnSp>
          <p:nvCxnSpPr>
            <p:cNvPr id="69" name="Curved Connector 68"/>
            <p:cNvCxnSpPr>
              <a:stCxn id="36" idx="1"/>
              <a:endCxn id="47" idx="4"/>
            </p:cNvCxnSpPr>
            <p:nvPr/>
          </p:nvCxnSpPr>
          <p:spPr>
            <a:xfrm rot="10800000">
              <a:off x="7229342" y="3629518"/>
              <a:ext cx="487283" cy="2451088"/>
            </a:xfrm>
            <a:prstGeom prst="curvedConnector2">
              <a:avLst/>
            </a:prstGeom>
            <a:ln w="19050" cmpd="sng">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70" name="Curved Connector 69"/>
            <p:cNvCxnSpPr>
              <a:stCxn id="36" idx="1"/>
              <a:endCxn id="47" idx="3"/>
            </p:cNvCxnSpPr>
            <p:nvPr/>
          </p:nvCxnSpPr>
          <p:spPr>
            <a:xfrm rot="10800000">
              <a:off x="7142972" y="3629518"/>
              <a:ext cx="573653" cy="2451088"/>
            </a:xfrm>
            <a:prstGeom prst="curvedConnector2">
              <a:avLst/>
            </a:prstGeom>
            <a:ln w="19050" cmpd="sng">
              <a:solidFill>
                <a:schemeClr val="accent4"/>
              </a:solidFill>
              <a:prstDash val="sysDash"/>
            </a:ln>
          </p:spPr>
          <p:style>
            <a:lnRef idx="1">
              <a:schemeClr val="accent1"/>
            </a:lnRef>
            <a:fillRef idx="0">
              <a:schemeClr val="accent1"/>
            </a:fillRef>
            <a:effectRef idx="0">
              <a:schemeClr val="accent1"/>
            </a:effectRef>
            <a:fontRef idx="minor">
              <a:schemeClr val="tx1"/>
            </a:fontRef>
          </p:style>
        </p:cxnSp>
        <p:cxnSp>
          <p:nvCxnSpPr>
            <p:cNvPr id="71" name="Curved Connector 70"/>
            <p:cNvCxnSpPr>
              <a:stCxn id="47" idx="5"/>
              <a:endCxn id="49" idx="0"/>
            </p:cNvCxnSpPr>
            <p:nvPr/>
          </p:nvCxnSpPr>
          <p:spPr>
            <a:xfrm flipV="1">
              <a:off x="7186156" y="2388011"/>
              <a:ext cx="54189" cy="1173557"/>
            </a:xfrm>
            <a:prstGeom prst="curvedConnector4">
              <a:avLst>
                <a:gd name="adj1" fmla="val 782199"/>
                <a:gd name="adj2" fmla="val 92175"/>
              </a:avLst>
            </a:prstGeom>
            <a:ln w="41275" cmpd="dbl">
              <a:solidFill>
                <a:schemeClr val="accent4"/>
              </a:solidFill>
              <a:prstDash val="sysDot"/>
            </a:ln>
          </p:spPr>
          <p:style>
            <a:lnRef idx="1">
              <a:schemeClr val="accent1"/>
            </a:lnRef>
            <a:fillRef idx="0">
              <a:schemeClr val="accent1"/>
            </a:fillRef>
            <a:effectRef idx="0">
              <a:schemeClr val="accent1"/>
            </a:effectRef>
            <a:fontRef idx="minor">
              <a:schemeClr val="tx1"/>
            </a:fontRef>
          </p:style>
        </p:cxnSp>
      </p:grpSp>
      <p:graphicFrame>
        <p:nvGraphicFramePr>
          <p:cNvPr id="72" name="Table 71"/>
          <p:cNvGraphicFramePr>
            <a:graphicFrameLocks noGrp="1"/>
          </p:cNvGraphicFramePr>
          <p:nvPr>
            <p:extLst>
              <p:ext uri="{D42A27DB-BD31-4B8C-83A1-F6EECF244321}">
                <p14:modId xmlns:p14="http://schemas.microsoft.com/office/powerpoint/2010/main" val="678851065"/>
              </p:ext>
            </p:extLst>
          </p:nvPr>
        </p:nvGraphicFramePr>
        <p:xfrm>
          <a:off x="8368499" y="2702028"/>
          <a:ext cx="1860285" cy="2042160"/>
        </p:xfrm>
        <a:graphic>
          <a:graphicData uri="http://schemas.openxmlformats.org/drawingml/2006/table">
            <a:tbl>
              <a:tblPr firstRow="1">
                <a:tableStyleId>{3B4B98B0-60AC-42C2-AFA5-B58CD77FA1E5}</a:tableStyleId>
              </a:tblPr>
              <a:tblGrid>
                <a:gridCol w="459740">
                  <a:extLst>
                    <a:ext uri="{9D8B030D-6E8A-4147-A177-3AD203B41FA5}">
                      <a16:colId xmlns:a16="http://schemas.microsoft.com/office/drawing/2014/main" val="1659914186"/>
                    </a:ext>
                  </a:extLst>
                </a:gridCol>
                <a:gridCol w="1400545">
                  <a:extLst>
                    <a:ext uri="{9D8B030D-6E8A-4147-A177-3AD203B41FA5}">
                      <a16:colId xmlns:a16="http://schemas.microsoft.com/office/drawing/2014/main" val="3349145812"/>
                    </a:ext>
                  </a:extLst>
                </a:gridCol>
              </a:tblGrid>
              <a:tr h="284232">
                <a:tc>
                  <a:txBody>
                    <a:bodyPr/>
                    <a:lstStyle/>
                    <a:p>
                      <a:pPr algn="ctr"/>
                      <a:r>
                        <a:rPr lang="en-US" sz="800" b="1" dirty="0"/>
                        <a:t>Key</a:t>
                      </a:r>
                      <a:endParaRPr lang="en-IN" sz="800" b="1" dirty="0"/>
                    </a:p>
                  </a:txBody>
                  <a:tcPr>
                    <a:solidFill>
                      <a:schemeClr val="bg1"/>
                    </a:solidFill>
                  </a:tcPr>
                </a:tc>
                <a:tc>
                  <a:txBody>
                    <a:bodyPr/>
                    <a:lstStyle/>
                    <a:p>
                      <a:r>
                        <a:rPr lang="en-US" sz="800" b="1" dirty="0"/>
                        <a:t>Infrastructure component</a:t>
                      </a:r>
                      <a:endParaRPr lang="en-IN" sz="800" b="1" dirty="0"/>
                    </a:p>
                  </a:txBody>
                  <a:tcPr>
                    <a:solidFill>
                      <a:schemeClr val="bg1"/>
                    </a:solidFill>
                  </a:tcPr>
                </a:tc>
                <a:extLst>
                  <a:ext uri="{0D108BD9-81ED-4DB2-BD59-A6C34878D82A}">
                    <a16:rowId xmlns:a16="http://schemas.microsoft.com/office/drawing/2014/main" val="202154620"/>
                  </a:ext>
                </a:extLst>
              </a:tr>
              <a:tr h="180875">
                <a:tc>
                  <a:txBody>
                    <a:bodyPr/>
                    <a:lstStyle/>
                    <a:p>
                      <a:endParaRPr lang="en-IN" sz="800" b="0" dirty="0"/>
                    </a:p>
                  </a:txBody>
                  <a:tcPr>
                    <a:solidFill>
                      <a:schemeClr val="bg1"/>
                    </a:solidFill>
                  </a:tcPr>
                </a:tc>
                <a:tc>
                  <a:txBody>
                    <a:bodyPr/>
                    <a:lstStyle/>
                    <a:p>
                      <a:r>
                        <a:rPr lang="en-US" sz="800" dirty="0"/>
                        <a:t>220 kV Tx</a:t>
                      </a:r>
                      <a:r>
                        <a:rPr lang="en-US" sz="800" baseline="0" dirty="0"/>
                        <a:t> line</a:t>
                      </a:r>
                      <a:endParaRPr lang="en-IN" sz="800" b="0" dirty="0"/>
                    </a:p>
                  </a:txBody>
                  <a:tcPr>
                    <a:solidFill>
                      <a:schemeClr val="bg1"/>
                    </a:solidFill>
                  </a:tcPr>
                </a:tc>
                <a:extLst>
                  <a:ext uri="{0D108BD9-81ED-4DB2-BD59-A6C34878D82A}">
                    <a16:rowId xmlns:a16="http://schemas.microsoft.com/office/drawing/2014/main" val="2120283131"/>
                  </a:ext>
                </a:extLst>
              </a:tr>
              <a:tr h="180875">
                <a:tc>
                  <a:txBody>
                    <a:bodyPr/>
                    <a:lstStyle/>
                    <a:p>
                      <a:endParaRPr lang="en-IN" sz="800" b="0" dirty="0"/>
                    </a:p>
                  </a:txBody>
                  <a:tcPr>
                    <a:solidFill>
                      <a:schemeClr val="bg1"/>
                    </a:solidFill>
                  </a:tcPr>
                </a:tc>
                <a:tc>
                  <a:txBody>
                    <a:bodyPr/>
                    <a:lstStyle/>
                    <a:p>
                      <a:r>
                        <a:rPr lang="en-US" sz="800" dirty="0"/>
                        <a:t>220 kV Tx line (UC)</a:t>
                      </a:r>
                      <a:endParaRPr lang="en-IN" sz="800" b="0" dirty="0"/>
                    </a:p>
                  </a:txBody>
                  <a:tcPr>
                    <a:solidFill>
                      <a:schemeClr val="bg1"/>
                    </a:solidFill>
                  </a:tcPr>
                </a:tc>
                <a:extLst>
                  <a:ext uri="{0D108BD9-81ED-4DB2-BD59-A6C34878D82A}">
                    <a16:rowId xmlns:a16="http://schemas.microsoft.com/office/drawing/2014/main" val="3110394366"/>
                  </a:ext>
                </a:extLst>
              </a:tr>
              <a:tr h="180875">
                <a:tc>
                  <a:txBody>
                    <a:bodyPr/>
                    <a:lstStyle/>
                    <a:p>
                      <a:endParaRPr lang="en-IN" sz="800" b="0" dirty="0"/>
                    </a:p>
                  </a:txBody>
                  <a:tcPr>
                    <a:solidFill>
                      <a:schemeClr val="bg1"/>
                    </a:solidFill>
                  </a:tcPr>
                </a:tc>
                <a:tc>
                  <a:txBody>
                    <a:bodyPr/>
                    <a:lstStyle/>
                    <a:p>
                      <a:r>
                        <a:rPr lang="en-US" sz="800" dirty="0"/>
                        <a:t>132 kV Tx line</a:t>
                      </a:r>
                      <a:endParaRPr lang="en-IN" sz="800" b="0" dirty="0"/>
                    </a:p>
                  </a:txBody>
                  <a:tcPr>
                    <a:solidFill>
                      <a:schemeClr val="bg1"/>
                    </a:solidFill>
                  </a:tcPr>
                </a:tc>
                <a:extLst>
                  <a:ext uri="{0D108BD9-81ED-4DB2-BD59-A6C34878D82A}">
                    <a16:rowId xmlns:a16="http://schemas.microsoft.com/office/drawing/2014/main" val="76836288"/>
                  </a:ext>
                </a:extLst>
              </a:tr>
              <a:tr h="180875">
                <a:tc>
                  <a:txBody>
                    <a:bodyPr/>
                    <a:lstStyle/>
                    <a:p>
                      <a:endParaRPr lang="en-IN" sz="800" b="0" dirty="0"/>
                    </a:p>
                  </a:txBody>
                  <a:tcPr>
                    <a:solidFill>
                      <a:schemeClr val="bg1"/>
                    </a:solidFill>
                  </a:tcPr>
                </a:tc>
                <a:tc>
                  <a:txBody>
                    <a:bodyPr/>
                    <a:lstStyle/>
                    <a:p>
                      <a:r>
                        <a:rPr lang="en-US" sz="800" dirty="0"/>
                        <a:t>400 kV Tx line </a:t>
                      </a:r>
                      <a:endParaRPr lang="en-IN" sz="800" b="0" dirty="0"/>
                    </a:p>
                  </a:txBody>
                  <a:tcPr>
                    <a:solidFill>
                      <a:schemeClr val="bg1"/>
                    </a:solidFill>
                  </a:tcPr>
                </a:tc>
                <a:extLst>
                  <a:ext uri="{0D108BD9-81ED-4DB2-BD59-A6C34878D82A}">
                    <a16:rowId xmlns:a16="http://schemas.microsoft.com/office/drawing/2014/main" val="828964890"/>
                  </a:ext>
                </a:extLst>
              </a:tr>
              <a:tr h="180875">
                <a:tc>
                  <a:txBody>
                    <a:bodyPr/>
                    <a:lstStyle/>
                    <a:p>
                      <a:endParaRPr lang="en-IN" sz="800" b="0" dirty="0"/>
                    </a:p>
                  </a:txBody>
                  <a:tcPr>
                    <a:solidFill>
                      <a:schemeClr val="bg1"/>
                    </a:solidFill>
                  </a:tcPr>
                </a:tc>
                <a:tc>
                  <a:txBody>
                    <a:bodyPr/>
                    <a:lstStyle/>
                    <a:p>
                      <a:r>
                        <a:rPr lang="en-US" sz="800" dirty="0"/>
                        <a:t>400 kV Tx line (UC)</a:t>
                      </a:r>
                      <a:endParaRPr lang="en-IN" sz="800" b="0" dirty="0"/>
                    </a:p>
                  </a:txBody>
                  <a:tcPr>
                    <a:solidFill>
                      <a:schemeClr val="bg1"/>
                    </a:solidFill>
                  </a:tcPr>
                </a:tc>
                <a:extLst>
                  <a:ext uri="{0D108BD9-81ED-4DB2-BD59-A6C34878D82A}">
                    <a16:rowId xmlns:a16="http://schemas.microsoft.com/office/drawing/2014/main" val="2899388282"/>
                  </a:ext>
                </a:extLst>
              </a:tr>
              <a:tr h="180875">
                <a:tc>
                  <a:txBody>
                    <a:bodyPr/>
                    <a:lstStyle/>
                    <a:p>
                      <a:endParaRPr lang="en-IN" sz="800" b="0" dirty="0"/>
                    </a:p>
                  </a:txBody>
                  <a:tcPr>
                    <a:solidFill>
                      <a:schemeClr val="bg1"/>
                    </a:solidFill>
                  </a:tcPr>
                </a:tc>
                <a:tc>
                  <a:txBody>
                    <a:bodyPr/>
                    <a:lstStyle/>
                    <a:p>
                      <a:r>
                        <a:rPr lang="en-US" sz="800" b="0" dirty="0"/>
                        <a:t>400 kV Tx line (Plan)</a:t>
                      </a:r>
                      <a:endParaRPr lang="en-IN" sz="800" b="0" dirty="0"/>
                    </a:p>
                  </a:txBody>
                  <a:tcPr>
                    <a:solidFill>
                      <a:schemeClr val="bg1"/>
                    </a:solidFill>
                  </a:tcPr>
                </a:tc>
                <a:extLst>
                  <a:ext uri="{0D108BD9-81ED-4DB2-BD59-A6C34878D82A}">
                    <a16:rowId xmlns:a16="http://schemas.microsoft.com/office/drawing/2014/main" val="3548674121"/>
                  </a:ext>
                </a:extLst>
              </a:tr>
              <a:tr h="180875">
                <a:tc>
                  <a:txBody>
                    <a:bodyPr/>
                    <a:lstStyle/>
                    <a:p>
                      <a:endParaRPr lang="en-IN" sz="800" b="0" dirty="0"/>
                    </a:p>
                  </a:txBody>
                  <a:tcPr>
                    <a:solidFill>
                      <a:schemeClr val="bg1"/>
                    </a:solidFill>
                  </a:tcPr>
                </a:tc>
                <a:tc>
                  <a:txBody>
                    <a:bodyPr/>
                    <a:lstStyle/>
                    <a:p>
                      <a:r>
                        <a:rPr lang="en-US" sz="800" b="0" dirty="0"/>
                        <a:t>Substation</a:t>
                      </a:r>
                      <a:endParaRPr lang="en-IN" sz="800" b="0" dirty="0"/>
                    </a:p>
                  </a:txBody>
                  <a:tcPr>
                    <a:solidFill>
                      <a:schemeClr val="bg1"/>
                    </a:solidFill>
                  </a:tcPr>
                </a:tc>
                <a:extLst>
                  <a:ext uri="{0D108BD9-81ED-4DB2-BD59-A6C34878D82A}">
                    <a16:rowId xmlns:a16="http://schemas.microsoft.com/office/drawing/2014/main" val="1321708816"/>
                  </a:ext>
                </a:extLst>
              </a:tr>
              <a:tr h="180875">
                <a:tc>
                  <a:txBody>
                    <a:bodyPr/>
                    <a:lstStyle/>
                    <a:p>
                      <a:endParaRPr lang="en-IN" sz="800" b="0" dirty="0"/>
                    </a:p>
                  </a:txBody>
                  <a:tcPr>
                    <a:solidFill>
                      <a:schemeClr val="bg1"/>
                    </a:solidFill>
                  </a:tcPr>
                </a:tc>
                <a:tc>
                  <a:txBody>
                    <a:bodyPr/>
                    <a:lstStyle/>
                    <a:p>
                      <a:r>
                        <a:rPr lang="en-US" sz="800" b="0" dirty="0"/>
                        <a:t>Bhola I Switchyard</a:t>
                      </a:r>
                      <a:endParaRPr lang="en-IN" sz="800" b="0" dirty="0"/>
                    </a:p>
                  </a:txBody>
                  <a:tcPr>
                    <a:solidFill>
                      <a:schemeClr val="bg1"/>
                    </a:solidFill>
                  </a:tcPr>
                </a:tc>
                <a:extLst>
                  <a:ext uri="{0D108BD9-81ED-4DB2-BD59-A6C34878D82A}">
                    <a16:rowId xmlns:a16="http://schemas.microsoft.com/office/drawing/2014/main" val="2317592564"/>
                  </a:ext>
                </a:extLst>
              </a:tr>
            </a:tbl>
          </a:graphicData>
        </a:graphic>
      </p:graphicFrame>
      <p:grpSp>
        <p:nvGrpSpPr>
          <p:cNvPr id="73" name="Group 72"/>
          <p:cNvGrpSpPr/>
          <p:nvPr/>
        </p:nvGrpSpPr>
        <p:grpSpPr>
          <a:xfrm>
            <a:off x="8443589" y="3117880"/>
            <a:ext cx="400939" cy="1306523"/>
            <a:chOff x="693964" y="5561516"/>
            <a:chExt cx="571500" cy="1306523"/>
          </a:xfrm>
        </p:grpSpPr>
        <p:cxnSp>
          <p:nvCxnSpPr>
            <p:cNvPr id="74" name="Straight Connector 73"/>
            <p:cNvCxnSpPr/>
            <p:nvPr/>
          </p:nvCxnSpPr>
          <p:spPr>
            <a:xfrm>
              <a:off x="693964" y="5561516"/>
              <a:ext cx="571500" cy="0"/>
            </a:xfrm>
            <a:prstGeom prst="line">
              <a:avLst/>
            </a:prstGeom>
            <a:ln w="28575">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693964" y="5798280"/>
              <a:ext cx="571500" cy="0"/>
            </a:xfrm>
            <a:prstGeom prst="line">
              <a:avLst/>
            </a:prstGeom>
            <a:ln w="28575">
              <a:solidFill>
                <a:schemeClr val="accent1">
                  <a:lumMod val="50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693964" y="6012655"/>
              <a:ext cx="571500" cy="0"/>
            </a:xfrm>
            <a:prstGeom prst="line">
              <a:avLst/>
            </a:prstGeom>
            <a:ln w="28575">
              <a:solidFill>
                <a:srgbClr val="ED8B00"/>
              </a:solidFill>
              <a:prstDash val="solid"/>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693964" y="6212753"/>
              <a:ext cx="571500" cy="0"/>
            </a:xfrm>
            <a:prstGeom prst="line">
              <a:avLst/>
            </a:prstGeom>
            <a:ln w="28575">
              <a:solidFill>
                <a:schemeClr val="accent4"/>
              </a:solidFill>
              <a:prstDash val="solid"/>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693964" y="6418741"/>
              <a:ext cx="571500" cy="0"/>
            </a:xfrm>
            <a:prstGeom prst="line">
              <a:avLst/>
            </a:prstGeom>
            <a:ln w="28575">
              <a:solidFill>
                <a:schemeClr val="accent4"/>
              </a:solidFill>
              <a:prstDash val="sysDash"/>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693964" y="6609415"/>
              <a:ext cx="571500" cy="0"/>
            </a:xfrm>
            <a:prstGeom prst="line">
              <a:avLst/>
            </a:prstGeom>
            <a:ln w="28575">
              <a:solidFill>
                <a:schemeClr val="accent3"/>
              </a:solidFill>
              <a:prstDash val="dashDot"/>
            </a:ln>
          </p:spPr>
          <p:style>
            <a:lnRef idx="1">
              <a:schemeClr val="accent1"/>
            </a:lnRef>
            <a:fillRef idx="0">
              <a:schemeClr val="accent1"/>
            </a:fillRef>
            <a:effectRef idx="0">
              <a:schemeClr val="accent1"/>
            </a:effectRef>
            <a:fontRef idx="minor">
              <a:schemeClr val="tx1"/>
            </a:fontRef>
          </p:style>
        </p:cxnSp>
        <p:sp>
          <p:nvSpPr>
            <p:cNvPr id="80" name="Isosceles Triangle 79"/>
            <p:cNvSpPr/>
            <p:nvPr/>
          </p:nvSpPr>
          <p:spPr bwMode="gray">
            <a:xfrm>
              <a:off x="893344" y="6732138"/>
              <a:ext cx="172740" cy="135901"/>
            </a:xfrm>
            <a:prstGeom prst="triangl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a:ea typeface="+mn-ea"/>
                <a:cs typeface="+mn-cs"/>
              </a:endParaRPr>
            </a:p>
          </p:txBody>
        </p:sp>
      </p:grpSp>
      <p:pic>
        <p:nvPicPr>
          <p:cNvPr id="81" name="Picture 80"/>
          <p:cNvPicPr>
            <a:picLocks noChangeAspect="1"/>
          </p:cNvPicPr>
          <p:nvPr/>
        </p:nvPicPr>
        <p:blipFill>
          <a:blip r:embed="rId8"/>
          <a:stretch>
            <a:fillRect/>
          </a:stretch>
        </p:blipFill>
        <p:spPr>
          <a:xfrm>
            <a:off x="5459597" y="1921285"/>
            <a:ext cx="856915" cy="1196682"/>
          </a:xfrm>
          <a:prstGeom prst="rect">
            <a:avLst/>
          </a:prstGeom>
        </p:spPr>
      </p:pic>
      <p:sp>
        <p:nvSpPr>
          <p:cNvPr id="82" name="Diamond 81"/>
          <p:cNvSpPr/>
          <p:nvPr/>
        </p:nvSpPr>
        <p:spPr bwMode="gray">
          <a:xfrm>
            <a:off x="8245901" y="5417119"/>
            <a:ext cx="149185" cy="149185"/>
          </a:xfrm>
          <a:prstGeom prst="diamond">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83" name="Diamond 82"/>
          <p:cNvSpPr/>
          <p:nvPr/>
        </p:nvSpPr>
        <p:spPr bwMode="gray">
          <a:xfrm>
            <a:off x="8567726" y="4539513"/>
            <a:ext cx="149185" cy="149185"/>
          </a:xfrm>
          <a:prstGeom prst="diamond">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84" name="Oval 83"/>
          <p:cNvSpPr/>
          <p:nvPr/>
        </p:nvSpPr>
        <p:spPr bwMode="gray">
          <a:xfrm rot="1915440">
            <a:off x="6758231" y="4645427"/>
            <a:ext cx="2401556" cy="797085"/>
          </a:xfrm>
          <a:prstGeom prst="ellipse">
            <a:avLst/>
          </a:prstGeom>
          <a:solidFill>
            <a:schemeClr val="accent5">
              <a:alpha val="18000"/>
            </a:schemeClr>
          </a:solidFill>
          <a:ln w="19050" algn="ctr">
            <a:noFill/>
            <a:prstDash val="dashDot"/>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85" name="Oval 84"/>
          <p:cNvSpPr/>
          <p:nvPr/>
        </p:nvSpPr>
        <p:spPr bwMode="gray">
          <a:xfrm>
            <a:off x="6779879" y="4296212"/>
            <a:ext cx="297180" cy="297180"/>
          </a:xfrm>
          <a:prstGeom prst="ellipse">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solidFill>
                  <a:schemeClr val="bg1"/>
                </a:solidFill>
              </a:rPr>
              <a:t>1</a:t>
            </a:r>
            <a:endParaRPr lang="en-IN" sz="1000" b="1" dirty="0">
              <a:solidFill>
                <a:schemeClr val="bg1"/>
              </a:solidFill>
            </a:endParaRPr>
          </a:p>
        </p:txBody>
      </p:sp>
      <p:sp>
        <p:nvSpPr>
          <p:cNvPr id="86" name="Oval 85"/>
          <p:cNvSpPr/>
          <p:nvPr/>
        </p:nvSpPr>
        <p:spPr bwMode="gray">
          <a:xfrm>
            <a:off x="7288167" y="2769917"/>
            <a:ext cx="297180" cy="297180"/>
          </a:xfrm>
          <a:prstGeom prst="ellipse">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solidFill>
                  <a:schemeClr val="bg1"/>
                </a:solidFill>
              </a:rPr>
              <a:t>2</a:t>
            </a:r>
            <a:endParaRPr lang="en-IN" sz="1000" b="1" dirty="0">
              <a:solidFill>
                <a:schemeClr val="bg1"/>
              </a:solidFill>
            </a:endParaRPr>
          </a:p>
        </p:txBody>
      </p:sp>
      <p:sp>
        <p:nvSpPr>
          <p:cNvPr id="87" name="Oval 86"/>
          <p:cNvSpPr/>
          <p:nvPr/>
        </p:nvSpPr>
        <p:spPr bwMode="gray">
          <a:xfrm>
            <a:off x="6966875" y="5198280"/>
            <a:ext cx="297180" cy="297180"/>
          </a:xfrm>
          <a:prstGeom prst="ellipse">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solidFill>
                  <a:schemeClr val="bg1"/>
                </a:solidFill>
              </a:rPr>
              <a:t>3</a:t>
            </a:r>
            <a:endParaRPr lang="en-IN" sz="1000" b="1" dirty="0">
              <a:solidFill>
                <a:schemeClr val="bg1"/>
              </a:solidFill>
            </a:endParaRPr>
          </a:p>
        </p:txBody>
      </p:sp>
      <p:sp>
        <p:nvSpPr>
          <p:cNvPr id="88" name="Line Callout 1 (Border and Accent Bar) 87"/>
          <p:cNvSpPr/>
          <p:nvPr/>
        </p:nvSpPr>
        <p:spPr bwMode="gray">
          <a:xfrm>
            <a:off x="8757765" y="5751328"/>
            <a:ext cx="1566051" cy="402257"/>
          </a:xfrm>
          <a:prstGeom prst="accentBorderCallout1">
            <a:avLst>
              <a:gd name="adj1" fmla="val 18750"/>
              <a:gd name="adj2" fmla="val -8333"/>
              <a:gd name="adj3" fmla="val -330770"/>
              <a:gd name="adj4" fmla="val -110589"/>
            </a:avLst>
          </a:prstGeom>
          <a:solidFill>
            <a:schemeClr val="accent4">
              <a:lumMod val="20000"/>
              <a:lumOff val="80000"/>
            </a:schemeClr>
          </a:solidFill>
          <a:ln w="9525" algn="ctr">
            <a:solidFill>
              <a:schemeClr val="accent4"/>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dirty="0"/>
              <a:t>Substation Capacity of Barisal (N)</a:t>
            </a:r>
            <a:endParaRPr lang="en-IN" sz="1000" dirty="0"/>
          </a:p>
        </p:txBody>
      </p:sp>
      <p:sp>
        <p:nvSpPr>
          <p:cNvPr id="89" name="Line Callout 1 (Border and Accent Bar) 88"/>
          <p:cNvSpPr/>
          <p:nvPr/>
        </p:nvSpPr>
        <p:spPr bwMode="gray">
          <a:xfrm>
            <a:off x="8492532" y="6440369"/>
            <a:ext cx="1810866" cy="693343"/>
          </a:xfrm>
          <a:prstGeom prst="accentBorderCallout1">
            <a:avLst>
              <a:gd name="adj1" fmla="val 18750"/>
              <a:gd name="adj2" fmla="val -8333"/>
              <a:gd name="adj3" fmla="val -146764"/>
              <a:gd name="adj4" fmla="val -72361"/>
            </a:avLst>
          </a:prstGeom>
          <a:solidFill>
            <a:schemeClr val="accent4">
              <a:lumMod val="20000"/>
              <a:lumOff val="80000"/>
            </a:schemeClr>
          </a:solidFill>
          <a:ln w="9525" algn="ctr">
            <a:solidFill>
              <a:schemeClr val="accent4"/>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dirty="0"/>
              <a:t>Loading at Patuakhali – Barisal TL incase of Payra Evacuation from Patuakhali</a:t>
            </a:r>
            <a:endParaRPr lang="en-IN" sz="1000" dirty="0"/>
          </a:p>
        </p:txBody>
      </p:sp>
      <p:sp>
        <p:nvSpPr>
          <p:cNvPr id="91" name="Line Callout 1 (Border and Accent Bar) 90"/>
          <p:cNvSpPr/>
          <p:nvPr/>
        </p:nvSpPr>
        <p:spPr bwMode="gray">
          <a:xfrm>
            <a:off x="8320493" y="2039985"/>
            <a:ext cx="1887165" cy="402257"/>
          </a:xfrm>
          <a:prstGeom prst="accentBorderCallout1">
            <a:avLst>
              <a:gd name="adj1" fmla="val 18750"/>
              <a:gd name="adj2" fmla="val -8333"/>
              <a:gd name="adj3" fmla="val 203426"/>
              <a:gd name="adj4" fmla="val -45738"/>
            </a:avLst>
          </a:prstGeom>
          <a:solidFill>
            <a:schemeClr val="accent4">
              <a:lumMod val="20000"/>
              <a:lumOff val="80000"/>
            </a:schemeClr>
          </a:solidFill>
          <a:ln w="9525" algn="ctr">
            <a:solidFill>
              <a:schemeClr val="accent4"/>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dirty="0"/>
              <a:t>Delay in Gopalgonj – Aminbazar TL connectivity</a:t>
            </a:r>
            <a:endParaRPr lang="en-IN" sz="1000" dirty="0"/>
          </a:p>
        </p:txBody>
      </p:sp>
    </p:spTree>
    <p:extLst>
      <p:ext uri="{BB962C8B-B14F-4D97-AF65-F5344CB8AC3E}">
        <p14:creationId xmlns:p14="http://schemas.microsoft.com/office/powerpoint/2010/main" val="1297377925"/>
      </p:ext>
    </p:extLst>
  </p:cSld>
  <p:clrMapOvr>
    <a:masterClrMapping/>
  </p:clrMapOvr>
  <p:transition>
    <p:fade/>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0000"/>
              </a:lnSpc>
              <a:spcBef>
                <a:spcPct val="0"/>
              </a:spcBef>
              <a:spcAft>
                <a:spcPct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pic>
        <p:nvPicPr>
          <p:cNvPr id="59" name="Picture 58"/>
          <p:cNvPicPr>
            <a:picLocks noChangeAspect="1"/>
          </p:cNvPicPr>
          <p:nvPr/>
        </p:nvPicPr>
        <p:blipFill rotWithShape="1">
          <a:blip r:embed="rId6" cstate="email">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a:ext>
            </a:extLst>
          </a:blip>
          <a:srcRect/>
          <a:stretch/>
        </p:blipFill>
        <p:spPr>
          <a:xfrm>
            <a:off x="6388099" y="1079499"/>
            <a:ext cx="4303713" cy="5570411"/>
          </a:xfrm>
          <a:prstGeom prst="rect">
            <a:avLst/>
          </a:prstGeom>
        </p:spPr>
      </p:pic>
      <p:sp>
        <p:nvSpPr>
          <p:cNvPr id="61" name="Rectangle 60"/>
          <p:cNvSpPr/>
          <p:nvPr/>
        </p:nvSpPr>
        <p:spPr bwMode="gray">
          <a:xfrm>
            <a:off x="447964" y="1030161"/>
            <a:ext cx="10229273" cy="36000"/>
          </a:xfrm>
          <a:prstGeom prst="rect">
            <a:avLst/>
          </a:prstGeom>
          <a:solidFill>
            <a:srgbClr val="00ABAB"/>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2" name="Rectangle 61"/>
          <p:cNvSpPr/>
          <p:nvPr/>
        </p:nvSpPr>
        <p:spPr bwMode="gray">
          <a:xfrm>
            <a:off x="447964" y="6663250"/>
            <a:ext cx="10229273" cy="36000"/>
          </a:xfrm>
          <a:prstGeom prst="rect">
            <a:avLst/>
          </a:prstGeom>
          <a:solidFill>
            <a:srgbClr val="00ABAB"/>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6" name="Rectangle 15"/>
          <p:cNvSpPr/>
          <p:nvPr/>
        </p:nvSpPr>
        <p:spPr>
          <a:xfrm>
            <a:off x="469900" y="2352070"/>
            <a:ext cx="4552045" cy="3416320"/>
          </a:xfrm>
          <a:prstGeom prst="rect">
            <a:avLst/>
          </a:prstGeom>
        </p:spPr>
        <p:txBody>
          <a:bodyPr wrap="square">
            <a:spAutoFit/>
          </a:bodyPr>
          <a:lstStyle/>
          <a:p>
            <a:pPr lvl="0"/>
            <a:r>
              <a:rPr lang="en-US" sz="2400" b="1" dirty="0">
                <a:solidFill>
                  <a:prstClr val="black"/>
                </a:solidFill>
              </a:rPr>
              <a:t>Gas &amp; Fuel Pricing Assessment</a:t>
            </a:r>
          </a:p>
          <a:p>
            <a:pPr lvl="0"/>
            <a:r>
              <a:rPr lang="en-US" sz="2400" i="1" noProof="0" dirty="0">
                <a:solidFill>
                  <a:srgbClr val="0097A9"/>
                </a:solidFill>
                <a:latin typeface="Verdana"/>
              </a:rPr>
              <a:t>Assessment of landed cost of LNG, HSD and HFO in Bangladesh, historical movement in prices announced by GoB for power sector and fuel price forecast for LNG and HSD</a:t>
            </a:r>
            <a:endParaRPr kumimoji="0" lang="en-US" sz="2400" b="0" i="1" u="none" strike="noStrike" kern="1200" cap="none" spc="0" normalizeH="0" baseline="0" noProof="0" dirty="0">
              <a:ln>
                <a:noFill/>
              </a:ln>
              <a:solidFill>
                <a:srgbClr val="0097A9"/>
              </a:solidFill>
              <a:effectLst/>
              <a:uLnTx/>
              <a:uFillTx/>
              <a:latin typeface="Verdana"/>
              <a:ea typeface="+mn-ea"/>
              <a:cs typeface="+mn-cs"/>
            </a:endParaRPr>
          </a:p>
        </p:txBody>
      </p:sp>
      <p:sp>
        <p:nvSpPr>
          <p:cNvPr id="13" name="Oval 12"/>
          <p:cNvSpPr/>
          <p:nvPr/>
        </p:nvSpPr>
        <p:spPr bwMode="gray">
          <a:xfrm>
            <a:off x="5179691" y="1296232"/>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01</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14" name="Oval 13"/>
          <p:cNvSpPr/>
          <p:nvPr/>
        </p:nvSpPr>
        <p:spPr bwMode="gray">
          <a:xfrm>
            <a:off x="5184133" y="1819733"/>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02</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15" name="Oval 14"/>
          <p:cNvSpPr/>
          <p:nvPr/>
        </p:nvSpPr>
        <p:spPr bwMode="gray">
          <a:xfrm>
            <a:off x="5184133" y="2343234"/>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03</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17" name="Oval 16"/>
          <p:cNvSpPr/>
          <p:nvPr/>
        </p:nvSpPr>
        <p:spPr bwMode="gray">
          <a:xfrm>
            <a:off x="5179696" y="2866735"/>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solidFill>
                  <a:prstClr val="black"/>
                </a:solidFill>
                <a:latin typeface="Verdana"/>
              </a:rPr>
              <a:t>04</a:t>
            </a:r>
            <a:endParaRPr lang="en-IN" sz="1400" b="1" dirty="0">
              <a:solidFill>
                <a:prstClr val="black"/>
              </a:solidFill>
              <a:latin typeface="Verdana"/>
            </a:endParaRPr>
          </a:p>
        </p:txBody>
      </p:sp>
      <p:sp>
        <p:nvSpPr>
          <p:cNvPr id="18" name="Oval 17"/>
          <p:cNvSpPr/>
          <p:nvPr/>
        </p:nvSpPr>
        <p:spPr bwMode="gray">
          <a:xfrm>
            <a:off x="5179696" y="3390236"/>
            <a:ext cx="382909" cy="382909"/>
          </a:xfrm>
          <a:prstGeom prst="ellipse">
            <a:avLst/>
          </a:prstGeom>
          <a:solidFill>
            <a:schemeClr val="accent5"/>
          </a:solidFill>
        </p:spPr>
        <p:txBody>
          <a:bodyPr wrap="square" lIns="0" tIns="88900" rIns="0" bIns="88900" rtlCol="0" anchor="ctr"/>
          <a:lstStyle/>
          <a:p>
            <a:pPr algn="ctr">
              <a:lnSpc>
                <a:spcPct val="106000"/>
              </a:lnSpc>
              <a:buFont typeface="Wingdings 2" pitchFamily="18" charset="2"/>
              <a:buNone/>
            </a:pPr>
            <a:r>
              <a:rPr lang="en-US" sz="1400" b="1" dirty="0">
                <a:solidFill>
                  <a:prstClr val="white"/>
                </a:solidFill>
                <a:latin typeface="Verdana"/>
              </a:rPr>
              <a:t>05</a:t>
            </a:r>
            <a:endParaRPr lang="en-IN" sz="1400" b="1" dirty="0">
              <a:solidFill>
                <a:prstClr val="white"/>
              </a:solidFill>
              <a:latin typeface="Verdana"/>
            </a:endParaRPr>
          </a:p>
        </p:txBody>
      </p:sp>
      <p:sp>
        <p:nvSpPr>
          <p:cNvPr id="19" name="Oval 18"/>
          <p:cNvSpPr/>
          <p:nvPr/>
        </p:nvSpPr>
        <p:spPr bwMode="gray">
          <a:xfrm>
            <a:off x="5179696" y="3913737"/>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06</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0" name="Oval 19"/>
          <p:cNvSpPr/>
          <p:nvPr/>
        </p:nvSpPr>
        <p:spPr bwMode="gray">
          <a:xfrm>
            <a:off x="5179695" y="4437238"/>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07</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1" name="Oval 20"/>
          <p:cNvSpPr/>
          <p:nvPr/>
        </p:nvSpPr>
        <p:spPr bwMode="gray">
          <a:xfrm>
            <a:off x="5179692" y="4960739"/>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08</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2" name="Oval 21"/>
          <p:cNvSpPr/>
          <p:nvPr/>
        </p:nvSpPr>
        <p:spPr bwMode="gray">
          <a:xfrm>
            <a:off x="5179694" y="5484240"/>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09</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3" name="Oval 22"/>
          <p:cNvSpPr/>
          <p:nvPr/>
        </p:nvSpPr>
        <p:spPr bwMode="gray">
          <a:xfrm>
            <a:off x="5179691" y="6007743"/>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10</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2764568644"/>
      </p:ext>
    </p:extLst>
  </p:cSld>
  <p:clrMapOvr>
    <a:masterClrMapping/>
  </p:clrMapOvr>
  <p:transition>
    <p:fade/>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4" name="Object 3"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2880863707"/>
              </p:ext>
            </p:extLst>
          </p:nvPr>
        </p:nvGraphicFramePr>
        <p:xfrm>
          <a:off x="5524500" y="1961920"/>
          <a:ext cx="4732062" cy="477979"/>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477979">
                <a:tc>
                  <a:txBody>
                    <a:bodyPr/>
                    <a:lstStyle/>
                    <a:p>
                      <a:pPr marL="0" lvl="0" indent="0">
                        <a:spcAft>
                          <a:spcPts val="500"/>
                        </a:spcAft>
                        <a:buFont typeface="Arial" panose="020B0604020202020204" pitchFamily="34" charset="0"/>
                        <a:buNone/>
                      </a:pPr>
                      <a:r>
                        <a:rPr lang="en-US" sz="1000" b="0" baseline="0" dirty="0">
                          <a:solidFill>
                            <a:schemeClr val="tx1"/>
                          </a:solidFill>
                        </a:rPr>
                        <a:t>Following table presents an illustration of landed cost of LNG for the month of Jan, 2020 (RasGas Contract)</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LNG landed price | Historical</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Bangladesh has 2 long term LNG Contracts which are Brent Crude Linked with ~$0.80 / MMBTU as fixed costs along with a ~12.5% slope</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5" name="Table 4"/>
          <p:cNvGraphicFramePr>
            <a:graphicFrameLocks noGrp="1"/>
          </p:cNvGraphicFramePr>
          <p:nvPr>
            <p:extLst>
              <p:ext uri="{D42A27DB-BD31-4B8C-83A1-F6EECF244321}">
                <p14:modId xmlns:p14="http://schemas.microsoft.com/office/powerpoint/2010/main" val="1737738132"/>
              </p:ext>
            </p:extLst>
          </p:nvPr>
        </p:nvGraphicFramePr>
        <p:xfrm>
          <a:off x="5538969" y="2480795"/>
          <a:ext cx="4717592" cy="3588448"/>
        </p:xfrm>
        <a:graphic>
          <a:graphicData uri="http://schemas.openxmlformats.org/drawingml/2006/table">
            <a:tbl>
              <a:tblPr firstRow="1">
                <a:tableStyleId>{3B4B98B0-60AC-42C2-AFA5-B58CD77FA1E5}</a:tableStyleId>
              </a:tblPr>
              <a:tblGrid>
                <a:gridCol w="1307602">
                  <a:extLst>
                    <a:ext uri="{9D8B030D-6E8A-4147-A177-3AD203B41FA5}">
                      <a16:colId xmlns:a16="http://schemas.microsoft.com/office/drawing/2014/main" val="1775614364"/>
                    </a:ext>
                  </a:extLst>
                </a:gridCol>
                <a:gridCol w="1114088">
                  <a:extLst>
                    <a:ext uri="{9D8B030D-6E8A-4147-A177-3AD203B41FA5}">
                      <a16:colId xmlns:a16="http://schemas.microsoft.com/office/drawing/2014/main" val="2641491909"/>
                    </a:ext>
                  </a:extLst>
                </a:gridCol>
                <a:gridCol w="838100">
                  <a:extLst>
                    <a:ext uri="{9D8B030D-6E8A-4147-A177-3AD203B41FA5}">
                      <a16:colId xmlns:a16="http://schemas.microsoft.com/office/drawing/2014/main" val="3113871719"/>
                    </a:ext>
                  </a:extLst>
                </a:gridCol>
                <a:gridCol w="1457802">
                  <a:extLst>
                    <a:ext uri="{9D8B030D-6E8A-4147-A177-3AD203B41FA5}">
                      <a16:colId xmlns:a16="http://schemas.microsoft.com/office/drawing/2014/main" val="529510123"/>
                    </a:ext>
                  </a:extLst>
                </a:gridCol>
              </a:tblGrid>
              <a:tr h="181197">
                <a:tc>
                  <a:txBody>
                    <a:bodyPr/>
                    <a:lstStyle/>
                    <a:p>
                      <a:r>
                        <a:rPr lang="en-US" sz="900" dirty="0">
                          <a:latin typeface="+mn-lt"/>
                        </a:rPr>
                        <a:t>Term</a:t>
                      </a:r>
                      <a:endParaRPr lang="en-IN" sz="900" b="0" dirty="0">
                        <a:latin typeface="+mn-lt"/>
                      </a:endParaRPr>
                    </a:p>
                  </a:txBody>
                  <a:tcPr anchor="ctr"/>
                </a:tc>
                <a:tc>
                  <a:txBody>
                    <a:bodyPr/>
                    <a:lstStyle/>
                    <a:p>
                      <a:r>
                        <a:rPr lang="en-US" sz="900" b="0" dirty="0">
                          <a:latin typeface="+mn-lt"/>
                        </a:rPr>
                        <a:t>Unit</a:t>
                      </a:r>
                      <a:endParaRPr lang="en-IN" sz="900" b="0" dirty="0">
                        <a:latin typeface="+mn-lt"/>
                      </a:endParaRPr>
                    </a:p>
                  </a:txBody>
                  <a:tcPr anchor="ctr"/>
                </a:tc>
                <a:tc>
                  <a:txBody>
                    <a:bodyPr/>
                    <a:lstStyle/>
                    <a:p>
                      <a:r>
                        <a:rPr lang="en-US" sz="900" dirty="0">
                          <a:latin typeface="+mn-lt"/>
                        </a:rPr>
                        <a:t>Value</a:t>
                      </a:r>
                      <a:endParaRPr lang="en-IN" sz="900" b="0" dirty="0">
                        <a:latin typeface="+mn-lt"/>
                      </a:endParaRPr>
                    </a:p>
                  </a:txBody>
                  <a:tcPr anchor="ctr"/>
                </a:tc>
                <a:tc>
                  <a:txBody>
                    <a:bodyPr/>
                    <a:lstStyle/>
                    <a:p>
                      <a:r>
                        <a:rPr lang="en-US" sz="900" b="0" dirty="0">
                          <a:latin typeface="+mn-lt"/>
                        </a:rPr>
                        <a:t>Details</a:t>
                      </a:r>
                      <a:endParaRPr lang="en-IN" sz="900" b="0" dirty="0">
                        <a:latin typeface="+mn-lt"/>
                      </a:endParaRPr>
                    </a:p>
                  </a:txBody>
                  <a:tcPr anchor="ctr"/>
                </a:tc>
                <a:extLst>
                  <a:ext uri="{0D108BD9-81ED-4DB2-BD59-A6C34878D82A}">
                    <a16:rowId xmlns:a16="http://schemas.microsoft.com/office/drawing/2014/main" val="1394148824"/>
                  </a:ext>
                </a:extLst>
              </a:tr>
              <a:tr h="310238">
                <a:tc>
                  <a:txBody>
                    <a:bodyPr/>
                    <a:lstStyle/>
                    <a:p>
                      <a:r>
                        <a:rPr lang="en-US" sz="900" dirty="0">
                          <a:latin typeface="+mn-lt"/>
                        </a:rPr>
                        <a:t>Brent Crude Price</a:t>
                      </a:r>
                      <a:endParaRPr lang="en-IN" sz="900" dirty="0">
                        <a:latin typeface="+mn-lt"/>
                      </a:endParaRPr>
                    </a:p>
                  </a:txBody>
                  <a:tcPr anchor="ctr"/>
                </a:tc>
                <a:tc>
                  <a:txBody>
                    <a:bodyPr/>
                    <a:lstStyle/>
                    <a:p>
                      <a:r>
                        <a:rPr lang="en-US" sz="900" i="0" dirty="0">
                          <a:latin typeface="+mn-lt"/>
                        </a:rPr>
                        <a:t>USD / BBL</a:t>
                      </a:r>
                      <a:endParaRPr lang="en-IN" sz="900" i="0" dirty="0">
                        <a:latin typeface="+mn-lt"/>
                      </a:endParaRPr>
                    </a:p>
                  </a:txBody>
                  <a:tcPr anchor="ctr"/>
                </a:tc>
                <a:tc>
                  <a:txBody>
                    <a:bodyPr/>
                    <a:lstStyle/>
                    <a:p>
                      <a:r>
                        <a:rPr lang="en-US" sz="900" i="0" dirty="0">
                          <a:latin typeface="+mn-lt"/>
                        </a:rPr>
                        <a:t>63.68</a:t>
                      </a:r>
                      <a:endParaRPr lang="en-IN" sz="900" i="0" dirty="0">
                        <a:latin typeface="+mn-lt"/>
                      </a:endParaRPr>
                    </a:p>
                  </a:txBody>
                  <a:tcPr anchor="ctr"/>
                </a:tc>
                <a:tc>
                  <a:txBody>
                    <a:bodyPr/>
                    <a:lstStyle/>
                    <a:p>
                      <a:r>
                        <a:rPr lang="en-US" sz="900" i="1" dirty="0">
                          <a:latin typeface="+mn-lt"/>
                        </a:rPr>
                        <a:t>Previous</a:t>
                      </a:r>
                      <a:r>
                        <a:rPr lang="en-US" sz="900" i="1" baseline="0" dirty="0">
                          <a:latin typeface="+mn-lt"/>
                        </a:rPr>
                        <a:t> 3 Months’ average Brent Crude Price</a:t>
                      </a:r>
                      <a:endParaRPr lang="en-IN" sz="900" i="1" dirty="0">
                        <a:latin typeface="+mn-lt"/>
                      </a:endParaRPr>
                    </a:p>
                  </a:txBody>
                  <a:tcPr anchor="ctr"/>
                </a:tc>
                <a:extLst>
                  <a:ext uri="{0D108BD9-81ED-4DB2-BD59-A6C34878D82A}">
                    <a16:rowId xmlns:a16="http://schemas.microsoft.com/office/drawing/2014/main" val="2738390981"/>
                  </a:ext>
                </a:extLst>
              </a:tr>
              <a:tr h="310238">
                <a:tc>
                  <a:txBody>
                    <a:bodyPr/>
                    <a:lstStyle/>
                    <a:p>
                      <a:r>
                        <a:rPr lang="en-US" sz="900" b="1" dirty="0">
                          <a:latin typeface="+mn-lt"/>
                        </a:rPr>
                        <a:t>LNG DES</a:t>
                      </a:r>
                      <a:endParaRPr lang="en-IN" sz="900" b="1" dirty="0">
                        <a:latin typeface="+mn-lt"/>
                      </a:endParaRPr>
                    </a:p>
                  </a:txBody>
                  <a:tcPr anchor="ctr"/>
                </a:tc>
                <a:tc>
                  <a:txBody>
                    <a:bodyPr/>
                    <a:lstStyle/>
                    <a:p>
                      <a:r>
                        <a:rPr lang="en-US" sz="900" b="1" i="0" dirty="0">
                          <a:latin typeface="+mn-lt"/>
                        </a:rPr>
                        <a:t>USD / MMBTU</a:t>
                      </a:r>
                      <a:endParaRPr lang="en-IN" sz="900" b="1" i="0" dirty="0">
                        <a:latin typeface="+mn-lt"/>
                      </a:endParaRPr>
                    </a:p>
                  </a:txBody>
                  <a:tcPr anchor="ctr"/>
                </a:tc>
                <a:tc>
                  <a:txBody>
                    <a:bodyPr/>
                    <a:lstStyle/>
                    <a:p>
                      <a:r>
                        <a:rPr lang="en-US" sz="900" b="1" dirty="0">
                          <a:latin typeface="+mn-lt"/>
                        </a:rPr>
                        <a:t>8.518</a:t>
                      </a:r>
                      <a:endParaRPr lang="en-IN" sz="900" b="1" i="0" dirty="0">
                        <a:latin typeface="+mn-lt"/>
                      </a:endParaRPr>
                    </a:p>
                  </a:txBody>
                  <a:tcPr anchor="ctr"/>
                </a:tc>
                <a:tc>
                  <a:txBody>
                    <a:bodyPr/>
                    <a:lstStyle/>
                    <a:p>
                      <a:r>
                        <a:rPr lang="en-US" sz="900" b="1" i="1" dirty="0">
                          <a:latin typeface="+mn-lt"/>
                        </a:rPr>
                        <a:t>According</a:t>
                      </a:r>
                      <a:r>
                        <a:rPr lang="en-US" sz="900" b="1" i="1" baseline="0" dirty="0">
                          <a:latin typeface="+mn-lt"/>
                        </a:rPr>
                        <a:t> to RasGas pricing mechanism</a:t>
                      </a:r>
                      <a:endParaRPr lang="en-IN" sz="900" b="1" i="1" dirty="0">
                        <a:latin typeface="+mn-lt"/>
                      </a:endParaRPr>
                    </a:p>
                  </a:txBody>
                  <a:tcPr anchor="ctr"/>
                </a:tc>
                <a:extLst>
                  <a:ext uri="{0D108BD9-81ED-4DB2-BD59-A6C34878D82A}">
                    <a16:rowId xmlns:a16="http://schemas.microsoft.com/office/drawing/2014/main" val="4034923871"/>
                  </a:ext>
                </a:extLst>
              </a:tr>
              <a:tr h="182913">
                <a:tc>
                  <a:txBody>
                    <a:bodyPr/>
                    <a:lstStyle/>
                    <a:p>
                      <a:r>
                        <a:rPr lang="en-US" sz="900" baseline="0" dirty="0">
                          <a:latin typeface="+mn-lt"/>
                        </a:rPr>
                        <a:t>VAT on import</a:t>
                      </a:r>
                      <a:endParaRPr lang="en-IN" sz="900" dirty="0">
                        <a:latin typeface="+mn-lt"/>
                      </a:endParaRPr>
                    </a:p>
                  </a:txBody>
                  <a:tcPr anchor="ct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black"/>
                          </a:solidFill>
                          <a:effectLst/>
                          <a:uLnTx/>
                          <a:uFillTx/>
                          <a:latin typeface="+mn-lt"/>
                          <a:ea typeface="+mn-ea"/>
                          <a:cs typeface="+mn-cs"/>
                        </a:rPr>
                        <a:t>USD / MMBTU</a:t>
                      </a:r>
                      <a:endParaRPr kumimoji="0" lang="en-IN" sz="900" b="0" i="0" u="none" strike="noStrike" kern="1200" cap="none" spc="0" normalizeH="0" baseline="0" noProof="0" dirty="0">
                        <a:ln>
                          <a:noFill/>
                        </a:ln>
                        <a:solidFill>
                          <a:prstClr val="black"/>
                        </a:solidFill>
                        <a:effectLst/>
                        <a:uLnTx/>
                        <a:uFillTx/>
                        <a:latin typeface="+mn-lt"/>
                        <a:ea typeface="+mn-ea"/>
                        <a:cs typeface="+mn-cs"/>
                      </a:endParaRPr>
                    </a:p>
                  </a:txBody>
                  <a:tcPr anchor="ctr"/>
                </a:tc>
                <a:tc>
                  <a:txBody>
                    <a:bodyPr/>
                    <a:lstStyle/>
                    <a:p>
                      <a:r>
                        <a:rPr lang="en-US" sz="900" dirty="0">
                          <a:latin typeface="+mn-lt"/>
                        </a:rPr>
                        <a:t>1.278</a:t>
                      </a:r>
                      <a:endParaRPr lang="en-IN" sz="900" i="0" dirty="0">
                        <a:latin typeface="+mn-lt"/>
                      </a:endParaRPr>
                    </a:p>
                  </a:txBody>
                  <a:tcPr anchor="ctr"/>
                </a:tc>
                <a:tc>
                  <a:txBody>
                    <a:bodyPr/>
                    <a:lstStyle/>
                    <a:p>
                      <a:r>
                        <a:rPr lang="en-US" sz="900" i="0" dirty="0">
                          <a:latin typeface="+mn-lt"/>
                        </a:rPr>
                        <a:t>15% VAT</a:t>
                      </a:r>
                      <a:r>
                        <a:rPr lang="en-US" sz="900" i="0" baseline="0" dirty="0">
                          <a:latin typeface="+mn-lt"/>
                        </a:rPr>
                        <a:t> on import</a:t>
                      </a:r>
                      <a:endParaRPr lang="en-IN" sz="900" i="0" dirty="0">
                        <a:latin typeface="+mn-lt"/>
                      </a:endParaRPr>
                    </a:p>
                  </a:txBody>
                  <a:tcPr anchor="ctr"/>
                </a:tc>
                <a:extLst>
                  <a:ext uri="{0D108BD9-81ED-4DB2-BD59-A6C34878D82A}">
                    <a16:rowId xmlns:a16="http://schemas.microsoft.com/office/drawing/2014/main" val="2831035279"/>
                  </a:ext>
                </a:extLst>
              </a:tr>
              <a:tr h="224061">
                <a:tc>
                  <a:txBody>
                    <a:bodyPr/>
                    <a:lstStyle/>
                    <a:p>
                      <a:r>
                        <a:rPr lang="en-US" sz="900" dirty="0">
                          <a:latin typeface="+mn-lt"/>
                        </a:rPr>
                        <a:t>Operational cost (Regasification, T&amp;D</a:t>
                      </a:r>
                      <a:r>
                        <a:rPr lang="en-US" sz="900" baseline="0" dirty="0">
                          <a:latin typeface="+mn-lt"/>
                        </a:rPr>
                        <a:t> margin, LNG operational margin)</a:t>
                      </a:r>
                      <a:endParaRPr lang="en-IN" sz="900" dirty="0">
                        <a:latin typeface="+mn-lt"/>
                      </a:endParaRPr>
                    </a:p>
                  </a:txBody>
                  <a:tcPr anchor="ct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black"/>
                          </a:solidFill>
                          <a:effectLst/>
                          <a:uLnTx/>
                          <a:uFillTx/>
                          <a:latin typeface="+mn-lt"/>
                          <a:ea typeface="+mn-ea"/>
                          <a:cs typeface="+mn-cs"/>
                        </a:rPr>
                        <a:t>USD / MMBTU</a:t>
                      </a:r>
                      <a:endParaRPr kumimoji="0" lang="en-IN" sz="900" b="0" i="0" u="none" strike="noStrike" kern="1200" cap="none" spc="0" normalizeH="0" baseline="0" noProof="0" dirty="0">
                        <a:ln>
                          <a:noFill/>
                        </a:ln>
                        <a:solidFill>
                          <a:prstClr val="black"/>
                        </a:solidFill>
                        <a:effectLst/>
                        <a:uLnTx/>
                        <a:uFillTx/>
                        <a:latin typeface="+mn-lt"/>
                        <a:ea typeface="+mn-ea"/>
                        <a:cs typeface="+mn-cs"/>
                      </a:endParaRPr>
                    </a:p>
                  </a:txBody>
                  <a:tcPr anchor="ctr"/>
                </a:tc>
                <a:tc>
                  <a:txBody>
                    <a:bodyPr/>
                    <a:lstStyle/>
                    <a:p>
                      <a:r>
                        <a:rPr lang="en-US" sz="900" dirty="0">
                          <a:latin typeface="+mn-lt"/>
                        </a:rPr>
                        <a:t>0.788</a:t>
                      </a:r>
                      <a:endParaRPr lang="en-IN" sz="900" i="0" dirty="0">
                        <a:latin typeface="+mn-lt"/>
                      </a:endParaRPr>
                    </a:p>
                  </a:txBody>
                  <a:tcPr anchor="ctr"/>
                </a:tc>
                <a:tc>
                  <a:txBody>
                    <a:bodyPr/>
                    <a:lstStyle/>
                    <a:p>
                      <a:r>
                        <a:rPr lang="en-US" sz="900" i="0" dirty="0">
                          <a:latin typeface="+mn-lt"/>
                        </a:rPr>
                        <a:t>As per BERC</a:t>
                      </a:r>
                      <a:endParaRPr lang="en-IN" sz="900" i="0" dirty="0">
                        <a:latin typeface="+mn-lt"/>
                      </a:endParaRPr>
                    </a:p>
                  </a:txBody>
                  <a:tcPr anchor="ctr"/>
                </a:tc>
                <a:extLst>
                  <a:ext uri="{0D108BD9-81ED-4DB2-BD59-A6C34878D82A}">
                    <a16:rowId xmlns:a16="http://schemas.microsoft.com/office/drawing/2014/main" val="4220947824"/>
                  </a:ext>
                </a:extLst>
              </a:tr>
              <a:tr h="224061">
                <a:tc>
                  <a:txBody>
                    <a:bodyPr/>
                    <a:lstStyle/>
                    <a:p>
                      <a:r>
                        <a:rPr lang="en-US" sz="900" dirty="0">
                          <a:latin typeface="+mn-lt"/>
                        </a:rPr>
                        <a:t>Petrobangla</a:t>
                      </a:r>
                      <a:r>
                        <a:rPr lang="en-US" sz="900" baseline="0" dirty="0">
                          <a:latin typeface="+mn-lt"/>
                        </a:rPr>
                        <a:t> margin</a:t>
                      </a:r>
                      <a:endParaRPr lang="en-IN" sz="900" dirty="0">
                        <a:latin typeface="+mn-lt"/>
                      </a:endParaRPr>
                    </a:p>
                  </a:txBody>
                  <a:tcPr anchor="ct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black"/>
                          </a:solidFill>
                          <a:effectLst/>
                          <a:uLnTx/>
                          <a:uFillTx/>
                          <a:latin typeface="+mn-lt"/>
                          <a:ea typeface="+mn-ea"/>
                          <a:cs typeface="+mn-cs"/>
                        </a:rPr>
                        <a:t>USD / MMBTU</a:t>
                      </a:r>
                      <a:endParaRPr kumimoji="0" lang="en-IN" sz="900" b="0" i="0" u="none" strike="noStrike" kern="1200" cap="none" spc="0" normalizeH="0" baseline="0" noProof="0" dirty="0">
                        <a:ln>
                          <a:noFill/>
                        </a:ln>
                        <a:solidFill>
                          <a:prstClr val="black"/>
                        </a:solidFill>
                        <a:effectLst/>
                        <a:uLnTx/>
                        <a:uFillTx/>
                        <a:latin typeface="+mn-lt"/>
                        <a:ea typeface="+mn-ea"/>
                        <a:cs typeface="+mn-cs"/>
                      </a:endParaRPr>
                    </a:p>
                  </a:txBody>
                  <a:tcPr anchor="ctr"/>
                </a:tc>
                <a:tc>
                  <a:txBody>
                    <a:bodyPr/>
                    <a:lstStyle/>
                    <a:p>
                      <a:r>
                        <a:rPr lang="en-US" sz="900" dirty="0">
                          <a:latin typeface="+mn-lt"/>
                        </a:rPr>
                        <a:t>0.017</a:t>
                      </a:r>
                      <a:endParaRPr lang="en-IN" sz="900" i="0" dirty="0">
                        <a:latin typeface="+mn-lt"/>
                      </a:endParaRPr>
                    </a:p>
                  </a:txBody>
                  <a:tcPr anchor="ct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black"/>
                          </a:solidFill>
                          <a:effectLst/>
                          <a:uLnTx/>
                          <a:uFillTx/>
                          <a:latin typeface="+mn-lt"/>
                          <a:ea typeface="+mn-ea"/>
                          <a:cs typeface="+mn-cs"/>
                        </a:rPr>
                        <a:t>As per BERC</a:t>
                      </a:r>
                      <a:endParaRPr kumimoji="0" lang="en-IN" sz="900" b="0" i="0" u="none" strike="noStrike" kern="1200" cap="none" spc="0" normalizeH="0" baseline="0" noProof="0" dirty="0">
                        <a:ln>
                          <a:noFill/>
                        </a:ln>
                        <a:solidFill>
                          <a:prstClr val="black"/>
                        </a:solidFill>
                        <a:effectLst/>
                        <a:uLnTx/>
                        <a:uFillTx/>
                        <a:latin typeface="+mn-lt"/>
                        <a:ea typeface="+mn-ea"/>
                        <a:cs typeface="+mn-cs"/>
                      </a:endParaRPr>
                    </a:p>
                  </a:txBody>
                  <a:tcPr anchor="ctr"/>
                </a:tc>
                <a:extLst>
                  <a:ext uri="{0D108BD9-81ED-4DB2-BD59-A6C34878D82A}">
                    <a16:rowId xmlns:a16="http://schemas.microsoft.com/office/drawing/2014/main" val="3409875260"/>
                  </a:ext>
                </a:extLst>
              </a:tr>
              <a:tr h="224061">
                <a:tc>
                  <a:txBody>
                    <a:bodyPr/>
                    <a:lstStyle/>
                    <a:p>
                      <a:r>
                        <a:rPr lang="en-US" sz="900" dirty="0">
                          <a:latin typeface="+mn-lt"/>
                        </a:rPr>
                        <a:t>System loss (on total</a:t>
                      </a:r>
                      <a:r>
                        <a:rPr lang="en-US" sz="900" baseline="0" dirty="0">
                          <a:latin typeface="+mn-lt"/>
                        </a:rPr>
                        <a:t> cost)</a:t>
                      </a:r>
                      <a:endParaRPr lang="en-IN" sz="900" dirty="0">
                        <a:latin typeface="+mn-lt"/>
                      </a:endParaRPr>
                    </a:p>
                  </a:txBody>
                  <a:tcPr anchor="ct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black"/>
                          </a:solidFill>
                          <a:effectLst/>
                          <a:uLnTx/>
                          <a:uFillTx/>
                          <a:latin typeface="+mn-lt"/>
                          <a:ea typeface="+mn-ea"/>
                          <a:cs typeface="+mn-cs"/>
                        </a:rPr>
                        <a:t>USD / MMBTU</a:t>
                      </a:r>
                      <a:endParaRPr kumimoji="0" lang="en-IN" sz="900" b="0" i="0" u="none" strike="noStrike" kern="1200" cap="none" spc="0" normalizeH="0" baseline="0" noProof="0" dirty="0">
                        <a:ln>
                          <a:noFill/>
                        </a:ln>
                        <a:solidFill>
                          <a:prstClr val="black"/>
                        </a:solidFill>
                        <a:effectLst/>
                        <a:uLnTx/>
                        <a:uFillTx/>
                        <a:latin typeface="+mn-lt"/>
                        <a:ea typeface="+mn-ea"/>
                        <a:cs typeface="+mn-cs"/>
                      </a:endParaRPr>
                    </a:p>
                  </a:txBody>
                  <a:tcPr anchor="ctr"/>
                </a:tc>
                <a:tc>
                  <a:txBody>
                    <a:bodyPr/>
                    <a:lstStyle/>
                    <a:p>
                      <a:r>
                        <a:rPr lang="en-US" sz="900" dirty="0">
                          <a:latin typeface="+mn-lt"/>
                        </a:rPr>
                        <a:t>0.148</a:t>
                      </a:r>
                      <a:endParaRPr lang="en-IN" sz="900" i="0" dirty="0">
                        <a:latin typeface="+mn-lt"/>
                      </a:endParaRPr>
                    </a:p>
                  </a:txBody>
                  <a:tcPr anchor="ctr"/>
                </a:tc>
                <a:tc>
                  <a:txBody>
                    <a:bodyPr/>
                    <a:lstStyle/>
                    <a:p>
                      <a:r>
                        <a:rPr lang="en-US" sz="900" i="0" dirty="0">
                          <a:latin typeface="+mn-lt"/>
                        </a:rPr>
                        <a:t>As per BERC (~1.4%)</a:t>
                      </a:r>
                      <a:endParaRPr lang="en-IN" sz="900" i="0" dirty="0">
                        <a:latin typeface="+mn-lt"/>
                      </a:endParaRPr>
                    </a:p>
                  </a:txBody>
                  <a:tcPr anchor="ctr"/>
                </a:tc>
                <a:extLst>
                  <a:ext uri="{0D108BD9-81ED-4DB2-BD59-A6C34878D82A}">
                    <a16:rowId xmlns:a16="http://schemas.microsoft.com/office/drawing/2014/main" val="1686131348"/>
                  </a:ext>
                </a:extLst>
              </a:tr>
              <a:tr h="250888">
                <a:tc>
                  <a:txBody>
                    <a:bodyPr/>
                    <a:lstStyle/>
                    <a:p>
                      <a:r>
                        <a:rPr lang="en-US" sz="900" dirty="0">
                          <a:latin typeface="+mn-lt"/>
                        </a:rPr>
                        <a:t>VAT</a:t>
                      </a:r>
                      <a:r>
                        <a:rPr lang="en-US" sz="900" baseline="0" dirty="0">
                          <a:latin typeface="+mn-lt"/>
                        </a:rPr>
                        <a:t> at selling point</a:t>
                      </a:r>
                      <a:endParaRPr lang="en-IN" sz="900" dirty="0">
                        <a:latin typeface="+mn-lt"/>
                      </a:endParaRPr>
                    </a:p>
                  </a:txBody>
                  <a:tcPr anchor="ct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black"/>
                          </a:solidFill>
                          <a:effectLst/>
                          <a:uLnTx/>
                          <a:uFillTx/>
                          <a:latin typeface="+mn-lt"/>
                          <a:ea typeface="+mn-ea"/>
                          <a:cs typeface="+mn-cs"/>
                        </a:rPr>
                        <a:t>USD / MMBTU</a:t>
                      </a:r>
                      <a:endParaRPr kumimoji="0" lang="en-IN" sz="900" b="0" i="0" u="none" strike="noStrike" kern="1200" cap="none" spc="0" normalizeH="0" baseline="0" noProof="0" dirty="0">
                        <a:ln>
                          <a:noFill/>
                        </a:ln>
                        <a:solidFill>
                          <a:prstClr val="black"/>
                        </a:solidFill>
                        <a:effectLst/>
                        <a:uLnTx/>
                        <a:uFillTx/>
                        <a:latin typeface="+mn-lt"/>
                        <a:ea typeface="+mn-ea"/>
                        <a:cs typeface="+mn-cs"/>
                      </a:endParaRPr>
                    </a:p>
                  </a:txBody>
                  <a:tcPr anchor="ctr"/>
                </a:tc>
                <a:tc>
                  <a:txBody>
                    <a:bodyPr/>
                    <a:lstStyle/>
                    <a:p>
                      <a:r>
                        <a:rPr lang="en-US" sz="900" dirty="0">
                          <a:latin typeface="+mn-lt"/>
                        </a:rPr>
                        <a:t>0.537</a:t>
                      </a:r>
                      <a:endParaRPr lang="en-IN" sz="900" i="0" dirty="0">
                        <a:latin typeface="+mn-lt"/>
                      </a:endParaRPr>
                    </a:p>
                  </a:txBody>
                  <a:tcPr anchor="ctr"/>
                </a:tc>
                <a:tc>
                  <a:txBody>
                    <a:bodyPr/>
                    <a:lstStyle/>
                    <a:p>
                      <a:r>
                        <a:rPr lang="en-US" sz="900" i="0" dirty="0">
                          <a:latin typeface="+mn-lt"/>
                        </a:rPr>
                        <a:t>As per BERC (~5%)</a:t>
                      </a:r>
                      <a:endParaRPr lang="en-IN" sz="900" i="0" dirty="0">
                        <a:latin typeface="+mn-lt"/>
                      </a:endParaRPr>
                    </a:p>
                  </a:txBody>
                  <a:tcPr anchor="ctr"/>
                </a:tc>
                <a:extLst>
                  <a:ext uri="{0D108BD9-81ED-4DB2-BD59-A6C34878D82A}">
                    <a16:rowId xmlns:a16="http://schemas.microsoft.com/office/drawing/2014/main" val="1337773040"/>
                  </a:ext>
                </a:extLst>
              </a:tr>
              <a:tr h="224061">
                <a:tc>
                  <a:txBody>
                    <a:bodyPr/>
                    <a:lstStyle/>
                    <a:p>
                      <a:r>
                        <a:rPr lang="en-US" sz="900" b="1" dirty="0">
                          <a:latin typeface="+mn-lt"/>
                        </a:rPr>
                        <a:t>Total Landed Cost</a:t>
                      </a:r>
                      <a:endParaRPr lang="en-IN" sz="900" b="1" dirty="0">
                        <a:latin typeface="+mn-lt"/>
                      </a:endParaRPr>
                    </a:p>
                  </a:txBody>
                  <a:tcPr anchor="ctr"/>
                </a:tc>
                <a:tc>
                  <a:txBody>
                    <a:bodyPr/>
                    <a:lstStyle/>
                    <a:p>
                      <a:r>
                        <a:rPr lang="en-US" sz="900" i="0" dirty="0">
                          <a:latin typeface="+mn-lt"/>
                        </a:rPr>
                        <a:t>USD / MMBTU</a:t>
                      </a:r>
                      <a:endParaRPr lang="en-IN" sz="900" i="0" dirty="0">
                        <a:latin typeface="+mn-lt"/>
                      </a:endParaRPr>
                    </a:p>
                  </a:txBody>
                  <a:tcPr anchor="ctr"/>
                </a:tc>
                <a:tc>
                  <a:txBody>
                    <a:bodyPr/>
                    <a:lstStyle/>
                    <a:p>
                      <a:r>
                        <a:rPr lang="en-US" sz="900" b="1" dirty="0">
                          <a:latin typeface="+mn-lt"/>
                        </a:rPr>
                        <a:t>11.286</a:t>
                      </a:r>
                      <a:endParaRPr lang="en-IN" sz="900" b="1" i="0" dirty="0">
                        <a:latin typeface="+mn-lt"/>
                      </a:endParaRPr>
                    </a:p>
                  </a:txBody>
                  <a:tcPr anchor="ctr"/>
                </a:tc>
                <a:tc>
                  <a:txBody>
                    <a:bodyPr/>
                    <a:lstStyle/>
                    <a:p>
                      <a:endParaRPr lang="en-IN" sz="900" b="1" i="0" dirty="0">
                        <a:latin typeface="+mn-lt"/>
                      </a:endParaRPr>
                    </a:p>
                  </a:txBody>
                  <a:tcPr anchor="ctr"/>
                </a:tc>
                <a:extLst>
                  <a:ext uri="{0D108BD9-81ED-4DB2-BD59-A6C34878D82A}">
                    <a16:rowId xmlns:a16="http://schemas.microsoft.com/office/drawing/2014/main" val="2598767121"/>
                  </a:ext>
                </a:extLst>
              </a:tr>
            </a:tbl>
          </a:graphicData>
        </a:graphic>
      </p:graphicFrame>
      <mc:AlternateContent xmlns:mc="http://schemas.openxmlformats.org/markup-compatibility/2006" xmlns:a14="http://schemas.microsoft.com/office/drawing/2010/main">
        <mc:Choice Requires="a14">
          <p:graphicFrame>
            <p:nvGraphicFramePr>
              <p:cNvPr id="48" name="Table 47"/>
              <p:cNvGraphicFramePr>
                <a:graphicFrameLocks noGrp="1"/>
              </p:cNvGraphicFramePr>
              <p:nvPr>
                <p:custDataLst>
                  <p:tags r:id="rId4"/>
                </p:custDataLst>
                <p:extLst>
                  <p:ext uri="{D42A27DB-BD31-4B8C-83A1-F6EECF244321}">
                    <p14:modId xmlns:p14="http://schemas.microsoft.com/office/powerpoint/2010/main" val="157465986"/>
                  </p:ext>
                </p:extLst>
              </p:nvPr>
            </p:nvGraphicFramePr>
            <p:xfrm>
              <a:off x="383700" y="1961920"/>
              <a:ext cx="4732062" cy="3404918"/>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2653280">
                    <a:tc>
                      <a:txBody>
                        <a:bodyPr/>
                        <a:lstStyle/>
                        <a:p>
                          <a:pPr marL="0" indent="0">
                            <a:spcAft>
                              <a:spcPts val="500"/>
                            </a:spcAft>
                            <a:buFont typeface="Arial" panose="020B0604020202020204" pitchFamily="34" charset="0"/>
                            <a:buNone/>
                          </a:pPr>
                          <a:r>
                            <a:rPr lang="en-US" sz="1000" b="1" baseline="0" dirty="0">
                              <a:solidFill>
                                <a:schemeClr val="tx1"/>
                              </a:solidFill>
                            </a:rPr>
                            <a:t>LNG Pricing mechanism</a:t>
                          </a: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The LNG pricing for long term contracts in Bangladesh is linked to Brent Crude</a:t>
                          </a: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For example, Petrobangla has an agreement with Qatar’s RasGas for the supply of 2.5 MMT/Year of lean LNG for 15 years.</a:t>
                          </a: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The LNG pricing is linked to Brent crude oil index, and the LNG DES price with RasGas utilizes the approximate relation:</a:t>
                          </a:r>
                        </a:p>
                        <a:p>
                          <a:pPr marL="0" marR="0" lvl="0" indent="0" algn="l"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14:m>
                            <m:oMathPara xmlns:m="http://schemas.openxmlformats.org/officeDocument/2006/math">
                              <m:oMathParaPr>
                                <m:jc m:val="centerGroup"/>
                              </m:oMathParaPr>
                              <m:oMath xmlns:m="http://schemas.openxmlformats.org/officeDocument/2006/math">
                                <m:r>
                                  <a:rPr lang="en-US" sz="1000" b="0" i="1" baseline="0" smtClean="0">
                                    <a:solidFill>
                                      <a:schemeClr val="tx1"/>
                                    </a:solidFill>
                                    <a:latin typeface="Cambria Math" panose="02040503050406030204" pitchFamily="18" charset="0"/>
                                  </a:rPr>
                                  <m:t>𝑃</m:t>
                                </m:r>
                                <m:r>
                                  <a:rPr lang="en-US" sz="1000" b="0" i="1" baseline="0" smtClean="0">
                                    <a:solidFill>
                                      <a:schemeClr val="tx1"/>
                                    </a:solidFill>
                                    <a:latin typeface="Cambria Math" panose="02040503050406030204" pitchFamily="18" charset="0"/>
                                  </a:rPr>
                                  <m:t>=0.1265 ∗</m:t>
                                </m:r>
                                <m:d>
                                  <m:dPr>
                                    <m:ctrlPr>
                                      <a:rPr lang="en-US" sz="1000" b="0" i="1" baseline="0" smtClean="0">
                                        <a:solidFill>
                                          <a:schemeClr val="tx1"/>
                                        </a:solidFill>
                                        <a:latin typeface="Cambria Math" panose="02040503050406030204" pitchFamily="18" charset="0"/>
                                      </a:rPr>
                                    </m:ctrlPr>
                                  </m:dPr>
                                  <m:e>
                                    <m:r>
                                      <a:rPr lang="en-US" sz="1000" b="0" i="1" baseline="0" smtClean="0">
                                        <a:solidFill>
                                          <a:schemeClr val="tx1"/>
                                        </a:solidFill>
                                        <a:latin typeface="Cambria Math" panose="02040503050406030204" pitchFamily="18" charset="0"/>
                                      </a:rPr>
                                      <m:t>𝐵𝑟𝑒𝑛𝑡</m:t>
                                    </m:r>
                                    <m:r>
                                      <a:rPr lang="en-US" sz="1000" b="0" i="1" baseline="0" smtClean="0">
                                        <a:solidFill>
                                          <a:schemeClr val="tx1"/>
                                        </a:solidFill>
                                        <a:latin typeface="Cambria Math" panose="02040503050406030204" pitchFamily="18" charset="0"/>
                                      </a:rPr>
                                      <m:t>+0.50</m:t>
                                    </m:r>
                                  </m:e>
                                </m:d>
                              </m:oMath>
                              <m:oMath xmlns:m="http://schemas.openxmlformats.org/officeDocument/2006/math">
                                <m:r>
                                  <a:rPr lang="en-US" sz="1000" b="0" i="1" baseline="0" smtClean="0">
                                    <a:solidFill>
                                      <a:schemeClr val="tx1"/>
                                    </a:solidFill>
                                    <a:latin typeface="Cambria Math" panose="02040503050406030204" pitchFamily="18" charset="0"/>
                                  </a:rPr>
                                  <m:t>𝑃</m:t>
                                </m:r>
                                <m:r>
                                  <a:rPr lang="en-US" sz="1000" b="0" i="1" baseline="0" smtClean="0">
                                    <a:solidFill>
                                      <a:schemeClr val="tx1"/>
                                    </a:solidFill>
                                    <a:latin typeface="Cambria Math" panose="02040503050406030204" pitchFamily="18" charset="0"/>
                                  </a:rPr>
                                  <m:t>:</m:t>
                                </m:r>
                                <m:r>
                                  <a:rPr lang="en-US" sz="1000" b="0" i="1" baseline="0" smtClean="0">
                                    <a:solidFill>
                                      <a:schemeClr val="tx1"/>
                                    </a:solidFill>
                                    <a:latin typeface="Cambria Math" panose="02040503050406030204" pitchFamily="18" charset="0"/>
                                  </a:rPr>
                                  <m:t>𝐿𝑁𝐺</m:t>
                                </m:r>
                                <m:r>
                                  <a:rPr lang="en-US" sz="1000" b="0" i="1" baseline="0" smtClean="0">
                                    <a:solidFill>
                                      <a:schemeClr val="tx1"/>
                                    </a:solidFill>
                                    <a:latin typeface="Cambria Math" panose="02040503050406030204" pitchFamily="18" charset="0"/>
                                  </a:rPr>
                                  <m:t> </m:t>
                                </m:r>
                                <m:r>
                                  <a:rPr lang="en-US" sz="1000" b="0" i="1" baseline="0" smtClean="0">
                                    <a:solidFill>
                                      <a:schemeClr val="tx1"/>
                                    </a:solidFill>
                                    <a:latin typeface="Cambria Math" panose="02040503050406030204" pitchFamily="18" charset="0"/>
                                  </a:rPr>
                                  <m:t>𝐷𝐸𝑆</m:t>
                                </m:r>
                                <m:r>
                                  <a:rPr lang="en-US" sz="1000" b="0" i="1" baseline="0" smtClean="0">
                                    <a:solidFill>
                                      <a:schemeClr val="tx1"/>
                                    </a:solidFill>
                                    <a:latin typeface="Cambria Math" panose="02040503050406030204" pitchFamily="18" charset="0"/>
                                  </a:rPr>
                                  <m:t> </m:t>
                                </m:r>
                                <m:r>
                                  <a:rPr lang="en-US" sz="1000" b="0" i="1" baseline="0" smtClean="0">
                                    <a:solidFill>
                                      <a:schemeClr val="tx1"/>
                                    </a:solidFill>
                                    <a:latin typeface="Cambria Math" panose="02040503050406030204" pitchFamily="18" charset="0"/>
                                  </a:rPr>
                                  <m:t>𝑝𝑟𝑖𝑐𝑒</m:t>
                                </m:r>
                                <m:r>
                                  <a:rPr lang="en-US" sz="1000" b="0" i="1" baseline="0" smtClean="0">
                                    <a:solidFill>
                                      <a:schemeClr val="tx1"/>
                                    </a:solidFill>
                                    <a:latin typeface="Cambria Math" panose="02040503050406030204" pitchFamily="18" charset="0"/>
                                  </a:rPr>
                                  <m:t> (</m:t>
                                </m:r>
                                <m:r>
                                  <a:rPr lang="en-US" sz="1000" b="0" i="1" baseline="0" smtClean="0">
                                    <a:solidFill>
                                      <a:schemeClr val="tx1"/>
                                    </a:solidFill>
                                    <a:latin typeface="Cambria Math" panose="02040503050406030204" pitchFamily="18" charset="0"/>
                                  </a:rPr>
                                  <m:t>𝑈𝑆𝐷</m:t>
                                </m:r>
                                <m:r>
                                  <a:rPr lang="en-US" sz="1000" b="0" i="1" baseline="0" smtClean="0">
                                    <a:solidFill>
                                      <a:schemeClr val="tx1"/>
                                    </a:solidFill>
                                    <a:latin typeface="Cambria Math" panose="02040503050406030204" pitchFamily="18" charset="0"/>
                                  </a:rPr>
                                  <m:t>/</m:t>
                                </m:r>
                                <m:r>
                                  <a:rPr lang="en-US" sz="1000" b="0" i="1" baseline="0" smtClean="0">
                                    <a:solidFill>
                                      <a:schemeClr val="tx1"/>
                                    </a:solidFill>
                                    <a:latin typeface="Cambria Math" panose="02040503050406030204" pitchFamily="18" charset="0"/>
                                  </a:rPr>
                                  <m:t>𝑚𝑚𝑏𝑡𝑢</m:t>
                                </m:r>
                                <m:r>
                                  <a:rPr lang="en-US" sz="1000" b="0" i="1" baseline="0" smtClean="0">
                                    <a:solidFill>
                                      <a:schemeClr val="tx1"/>
                                    </a:solidFill>
                                    <a:latin typeface="Cambria Math" panose="02040503050406030204" pitchFamily="18" charset="0"/>
                                  </a:rPr>
                                  <m:t>)</m:t>
                                </m:r>
                              </m:oMath>
                              <m:oMath xmlns:m="http://schemas.openxmlformats.org/officeDocument/2006/math">
                                <m:r>
                                  <a:rPr lang="en-US" sz="1000" b="0" i="1" baseline="0" smtClean="0">
                                    <a:solidFill>
                                      <a:schemeClr val="tx1"/>
                                    </a:solidFill>
                                    <a:latin typeface="Cambria Math" panose="02040503050406030204" pitchFamily="18" charset="0"/>
                                  </a:rPr>
                                  <m:t>𝐵𝑟𝑒𝑛𝑡</m:t>
                                </m:r>
                                <m:r>
                                  <a:rPr lang="en-US" sz="1000" b="0" i="1" baseline="0" smtClean="0">
                                    <a:solidFill>
                                      <a:schemeClr val="tx1"/>
                                    </a:solidFill>
                                    <a:latin typeface="Cambria Math" panose="02040503050406030204" pitchFamily="18" charset="0"/>
                                  </a:rPr>
                                  <m:t>:</m:t>
                                </m:r>
                                <m:r>
                                  <a:rPr lang="en-US" sz="1000" b="0" i="1" baseline="0" smtClean="0">
                                    <a:solidFill>
                                      <a:schemeClr val="tx1"/>
                                    </a:solidFill>
                                    <a:latin typeface="Cambria Math" panose="02040503050406030204" pitchFamily="18" charset="0"/>
                                  </a:rPr>
                                  <m:t>𝐵𝑟𝑒𝑛𝑡</m:t>
                                </m:r>
                                <m:r>
                                  <a:rPr lang="en-US" sz="1000" b="0" i="1" baseline="0" smtClean="0">
                                    <a:solidFill>
                                      <a:schemeClr val="tx1"/>
                                    </a:solidFill>
                                    <a:latin typeface="Cambria Math" panose="02040503050406030204" pitchFamily="18" charset="0"/>
                                  </a:rPr>
                                  <m:t> </m:t>
                                </m:r>
                                <m:r>
                                  <a:rPr lang="en-US" sz="1000" b="0" i="1" baseline="0" smtClean="0">
                                    <a:solidFill>
                                      <a:schemeClr val="tx1"/>
                                    </a:solidFill>
                                    <a:latin typeface="Cambria Math" panose="02040503050406030204" pitchFamily="18" charset="0"/>
                                  </a:rPr>
                                  <m:t>𝑐𝑟𝑢𝑑𝑒</m:t>
                                </m:r>
                                <m:r>
                                  <a:rPr lang="en-US" sz="1000" b="0" i="1" baseline="0" smtClean="0">
                                    <a:solidFill>
                                      <a:schemeClr val="tx1"/>
                                    </a:solidFill>
                                    <a:latin typeface="Cambria Math" panose="02040503050406030204" pitchFamily="18" charset="0"/>
                                  </a:rPr>
                                  <m:t> </m:t>
                                </m:r>
                                <m:r>
                                  <a:rPr lang="en-US" sz="1000" b="0" i="1" baseline="0" smtClean="0">
                                    <a:solidFill>
                                      <a:schemeClr val="tx1"/>
                                    </a:solidFill>
                                    <a:latin typeface="Cambria Math" panose="02040503050406030204" pitchFamily="18" charset="0"/>
                                  </a:rPr>
                                  <m:t>𝑜𝑖𝑙</m:t>
                                </m:r>
                                <m:r>
                                  <a:rPr lang="en-US" sz="1000" b="0" i="1" baseline="0" smtClean="0">
                                    <a:solidFill>
                                      <a:schemeClr val="tx1"/>
                                    </a:solidFill>
                                    <a:latin typeface="Cambria Math" panose="02040503050406030204" pitchFamily="18" charset="0"/>
                                  </a:rPr>
                                  <m:t> </m:t>
                                </m:r>
                                <m:r>
                                  <a:rPr lang="en-US" sz="1000" b="0" i="1" baseline="0" smtClean="0">
                                    <a:solidFill>
                                      <a:schemeClr val="tx1"/>
                                    </a:solidFill>
                                    <a:latin typeface="Cambria Math" panose="02040503050406030204" pitchFamily="18" charset="0"/>
                                  </a:rPr>
                                  <m:t>𝑖𝑛</m:t>
                                </m:r>
                                <m:r>
                                  <a:rPr lang="en-US" sz="1000" b="0" i="1" baseline="0" smtClean="0">
                                    <a:solidFill>
                                      <a:schemeClr val="tx1"/>
                                    </a:solidFill>
                                    <a:latin typeface="Cambria Math" panose="02040503050406030204" pitchFamily="18" charset="0"/>
                                  </a:rPr>
                                  <m:t> </m:t>
                                </m:r>
                                <m:r>
                                  <a:rPr lang="en-US" sz="1000" b="0" i="1" baseline="0" smtClean="0">
                                    <a:solidFill>
                                      <a:schemeClr val="tx1"/>
                                    </a:solidFill>
                                    <a:latin typeface="Cambria Math" panose="02040503050406030204" pitchFamily="18" charset="0"/>
                                  </a:rPr>
                                  <m:t>𝐹𝑂𝐵</m:t>
                                </m:r>
                                <m:r>
                                  <a:rPr lang="en-US" sz="1000" b="0" i="1" baseline="0" smtClean="0">
                                    <a:solidFill>
                                      <a:schemeClr val="tx1"/>
                                    </a:solidFill>
                                    <a:latin typeface="Cambria Math" panose="02040503050406030204" pitchFamily="18" charset="0"/>
                                  </a:rPr>
                                  <m:t> </m:t>
                                </m:r>
                                <m:r>
                                  <a:rPr lang="en-US" sz="1000" b="0" i="1" baseline="0" smtClean="0">
                                    <a:solidFill>
                                      <a:schemeClr val="tx1"/>
                                    </a:solidFill>
                                    <a:latin typeface="Cambria Math" panose="02040503050406030204" pitchFamily="18" charset="0"/>
                                  </a:rPr>
                                  <m:t>𝑝𝑟𝑖𝑐𝑒</m:t>
                                </m:r>
                                <m:r>
                                  <a:rPr lang="en-US" sz="1000" b="0" i="1" baseline="0" smtClean="0">
                                    <a:solidFill>
                                      <a:schemeClr val="tx1"/>
                                    </a:solidFill>
                                    <a:latin typeface="Cambria Math" panose="02040503050406030204" pitchFamily="18" charset="0"/>
                                  </a:rPr>
                                  <m:t> (</m:t>
                                </m:r>
                                <m:r>
                                  <a:rPr lang="en-US" sz="1000" b="0" i="1" baseline="0" smtClean="0">
                                    <a:solidFill>
                                      <a:schemeClr val="tx1"/>
                                    </a:solidFill>
                                    <a:latin typeface="Cambria Math" panose="02040503050406030204" pitchFamily="18" charset="0"/>
                                  </a:rPr>
                                  <m:t>𝑈𝑆𝐷</m:t>
                                </m:r>
                                <m:r>
                                  <a:rPr lang="en-US" sz="1000" b="0" i="1" baseline="0" smtClean="0">
                                    <a:solidFill>
                                      <a:schemeClr val="tx1"/>
                                    </a:solidFill>
                                    <a:latin typeface="Cambria Math" panose="02040503050406030204" pitchFamily="18" charset="0"/>
                                  </a:rPr>
                                  <m:t>/</m:t>
                                </m:r>
                                <m:r>
                                  <a:rPr lang="en-US" sz="1000" b="0" i="1" baseline="0" smtClean="0">
                                    <a:solidFill>
                                      <a:schemeClr val="tx1"/>
                                    </a:solidFill>
                                    <a:latin typeface="Cambria Math" panose="02040503050406030204" pitchFamily="18" charset="0"/>
                                  </a:rPr>
                                  <m:t>𝑏𝑏𝑙</m:t>
                                </m:r>
                                <m:r>
                                  <a:rPr lang="en-US" sz="1000" b="0" i="1" baseline="0" smtClean="0">
                                    <a:solidFill>
                                      <a:schemeClr val="tx1"/>
                                    </a:solidFill>
                                    <a:latin typeface="Cambria Math" panose="02040503050406030204" pitchFamily="18" charset="0"/>
                                  </a:rPr>
                                  <m:t>)</m:t>
                                </m:r>
                              </m:oMath>
                            </m:oMathPara>
                          </a14:m>
                          <a:endParaRPr lang="en-US" sz="1000" b="0" kern="1200" baseline="0" dirty="0">
                            <a:solidFill>
                              <a:schemeClr val="tx1"/>
                            </a:solidFill>
                            <a:latin typeface="+mn-lt"/>
                            <a:ea typeface="+mn-ea"/>
                            <a:cs typeface="+mn-cs"/>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Brent price considered is the previous three month average Brent Crude oil price</a:t>
                          </a: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Apart from the above pricing formula &amp; VAT rates (~total ~20%) in Bangladesh, an average of $0.80/ MMBtu is the cost of regasification, transmission &amp; margins of SOEs</a:t>
                          </a: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rgbClr val="313131"/>
                              </a:solidFill>
                              <a:effectLst/>
                              <a:uLnTx/>
                              <a:uFillTx/>
                              <a:latin typeface="+mn-lt"/>
                              <a:ea typeface="+mn-ea"/>
                              <a:cs typeface="+mn-cs"/>
                            </a:rPr>
                            <a:t>Following figure indicates movement of Brent with LNG landed cost, showing the 3 month lag in price movement</a:t>
                          </a: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IN" sz="1000" b="0" i="0" u="none" strike="noStrike" kern="1200" cap="none" spc="0" normalizeH="0" baseline="0" noProof="0" dirty="0">
                            <a:ln>
                              <a:noFill/>
                            </a:ln>
                            <a:solidFill>
                              <a:srgbClr val="313131"/>
                            </a:solidFill>
                            <a:effectLst/>
                            <a:uLnTx/>
                            <a:uFillTx/>
                            <a:latin typeface="+mn-lt"/>
                            <a:ea typeface="+mn-ea"/>
                            <a:cs typeface="+mn-cs"/>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mc:Choice>
        <mc:Fallback xmlns="">
          <p:graphicFrame>
            <p:nvGraphicFramePr>
              <p:cNvPr id="48" name="Table 47"/>
              <p:cNvGraphicFramePr>
                <a:graphicFrameLocks noGrp="1"/>
              </p:cNvGraphicFramePr>
              <p:nvPr>
                <p:custDataLst>
                  <p:tags r:id="rId9"/>
                </p:custDataLst>
                <p:extLst>
                  <p:ext uri="{D42A27DB-BD31-4B8C-83A1-F6EECF244321}">
                    <p14:modId xmlns:p14="http://schemas.microsoft.com/office/powerpoint/2010/main" val="157465986"/>
                  </p:ext>
                </p:extLst>
              </p:nvPr>
            </p:nvGraphicFramePr>
            <p:xfrm>
              <a:off x="383700" y="1961920"/>
              <a:ext cx="4732062" cy="3404918"/>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3404918">
                    <a:tc>
                      <a:txBody>
                        <a:bodyPr/>
                        <a:lstStyle/>
                        <a:p>
                          <a:endParaRPr lang="en-US"/>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blipFill>
                          <a:blip r:embed="rId10"/>
                          <a:stretch>
                            <a:fillRect l="-129" t="-536" r="-514" b="-714"/>
                          </a:stretch>
                        </a:blipFill>
                      </a:tcPr>
                    </a:tc>
                    <a:extLst>
                      <a:ext uri="{0D108BD9-81ED-4DB2-BD59-A6C34878D82A}">
                        <a16:rowId xmlns:a16="http://schemas.microsoft.com/office/drawing/2014/main" val="10000"/>
                      </a:ext>
                    </a:extLst>
                  </a:tr>
                </a:tbl>
              </a:graphicData>
            </a:graphic>
          </p:graphicFrame>
        </mc:Fallback>
      </mc:AlternateContent>
      <p:graphicFrame>
        <p:nvGraphicFramePr>
          <p:cNvPr id="10" name="Chart 9"/>
          <p:cNvGraphicFramePr/>
          <p:nvPr/>
        </p:nvGraphicFramePr>
        <p:xfrm>
          <a:off x="449264" y="5283200"/>
          <a:ext cx="4680967" cy="1796868"/>
        </p:xfrm>
        <a:graphic>
          <a:graphicData uri="http://schemas.openxmlformats.org/drawingml/2006/chart">
            <c:chart xmlns:c="http://schemas.openxmlformats.org/drawingml/2006/chart" xmlns:r="http://schemas.openxmlformats.org/officeDocument/2006/relationships" r:id="rId11"/>
          </a:graphicData>
        </a:graphic>
      </p:graphicFrame>
      <p:sp>
        <p:nvSpPr>
          <p:cNvPr id="12" name="Rectangle 11"/>
          <p:cNvSpPr/>
          <p:nvPr/>
        </p:nvSpPr>
        <p:spPr bwMode="gray">
          <a:xfrm>
            <a:off x="383700" y="7290237"/>
            <a:ext cx="9691005" cy="152783"/>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a:t>
            </a:r>
            <a:r>
              <a:rPr lang="en-US" sz="700" i="1" dirty="0">
                <a:solidFill>
                  <a:prstClr val="black"/>
                </a:solidFill>
                <a:latin typeface="Verdana"/>
              </a:rPr>
              <a:t>Petrobangla</a:t>
            </a:r>
            <a:r>
              <a:rPr kumimoji="0" lang="en-US" sz="700" b="0" i="1" u="none" strike="noStrike" kern="1200" cap="none" spc="0" normalizeH="0" baseline="0" noProof="0" dirty="0">
                <a:ln>
                  <a:noFill/>
                </a:ln>
                <a:solidFill>
                  <a:prstClr val="black"/>
                </a:solidFill>
                <a:effectLst/>
                <a:uLnTx/>
                <a:uFillTx/>
                <a:latin typeface="Verdana"/>
                <a:ea typeface="+mn-ea"/>
                <a:cs typeface="+mn-cs"/>
              </a:rPr>
              <a:t>, Industry Reports, Deloitte Analysis;</a:t>
            </a:r>
            <a:r>
              <a:rPr kumimoji="0" lang="en-US" sz="700" b="0" i="1" u="none" strike="noStrike" kern="1200" cap="none" spc="0" normalizeH="0" noProof="0" dirty="0">
                <a:ln>
                  <a:noFill/>
                </a:ln>
                <a:solidFill>
                  <a:prstClr val="black"/>
                </a:solidFill>
                <a:effectLst/>
                <a:uLnTx/>
                <a:uFillTx/>
                <a:latin typeface="Verdana"/>
                <a:ea typeface="+mn-ea"/>
                <a:cs typeface="+mn-cs"/>
              </a:rPr>
              <a:t> Note 1) The premium, taxes, duties, margins and losses considered for estimation of landed cost of HSD in Bangladesh is based on industry &amp; BERC estimates</a:t>
            </a:r>
            <a:endParaRPr kumimoji="0" lang="en-US" sz="700" b="0" i="1"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157109240"/>
      </p:ext>
    </p:extLst>
  </p:cSld>
  <p:clrMapOvr>
    <a:masterClrMapping/>
  </p:clrMapOvr>
  <p:transition>
    <p:fade/>
  </p:transition>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8" name="Rectangle 7"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graphicFrame>
        <p:nvGraphicFramePr>
          <p:cNvPr id="4" name="Table 3"/>
          <p:cNvGraphicFramePr>
            <a:graphicFrameLocks noGrp="1"/>
          </p:cNvGraphicFramePr>
          <p:nvPr>
            <p:custDataLst>
              <p:tags r:id="rId3"/>
            </p:custDataLst>
          </p:nvPr>
        </p:nvGraphicFramePr>
        <p:xfrm>
          <a:off x="5524500" y="1961920"/>
          <a:ext cx="4732062" cy="2985818"/>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477979">
                <a:tc>
                  <a:txBody>
                    <a:bodyPr/>
                    <a:lstStyle/>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schemeClr val="tx1"/>
                          </a:solidFill>
                          <a:effectLst/>
                          <a:uLnTx/>
                          <a:uFillTx/>
                          <a:latin typeface="+mn-lt"/>
                          <a:ea typeface="+mn-ea"/>
                          <a:cs typeface="+mn-cs"/>
                        </a:rPr>
                        <a:t>Following graph presents the crude oil price forecast as per various Studies (FY20 to FY30)</a:t>
                      </a: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dirty="0">
                        <a:ln>
                          <a:noFill/>
                        </a:ln>
                        <a:solidFill>
                          <a:schemeClr val="tx1"/>
                        </a:solidFill>
                        <a:effectLst/>
                        <a:uLnTx/>
                        <a:uFillTx/>
                        <a:latin typeface="+mn-lt"/>
                        <a:ea typeface="+mn-ea"/>
                        <a:cs typeface="+mn-cs"/>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dirty="0">
                        <a:ln>
                          <a:noFill/>
                        </a:ln>
                        <a:solidFill>
                          <a:schemeClr val="tx1"/>
                        </a:solidFill>
                        <a:effectLst/>
                        <a:uLnTx/>
                        <a:uFillTx/>
                        <a:latin typeface="+mn-lt"/>
                        <a:ea typeface="+mn-ea"/>
                        <a:cs typeface="+mn-cs"/>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dirty="0">
                        <a:ln>
                          <a:noFill/>
                        </a:ln>
                        <a:solidFill>
                          <a:schemeClr val="tx1"/>
                        </a:solidFill>
                        <a:effectLst/>
                        <a:uLnTx/>
                        <a:uFillTx/>
                        <a:latin typeface="+mn-lt"/>
                        <a:ea typeface="+mn-ea"/>
                        <a:cs typeface="+mn-cs"/>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dirty="0">
                        <a:ln>
                          <a:noFill/>
                        </a:ln>
                        <a:solidFill>
                          <a:schemeClr val="tx1"/>
                        </a:solidFill>
                        <a:effectLst/>
                        <a:uLnTx/>
                        <a:uFillTx/>
                        <a:latin typeface="+mn-lt"/>
                        <a:ea typeface="+mn-ea"/>
                        <a:cs typeface="+mn-cs"/>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dirty="0">
                        <a:ln>
                          <a:noFill/>
                        </a:ln>
                        <a:solidFill>
                          <a:schemeClr val="tx1"/>
                        </a:solidFill>
                        <a:effectLst/>
                        <a:uLnTx/>
                        <a:uFillTx/>
                        <a:latin typeface="+mn-lt"/>
                        <a:ea typeface="+mn-ea"/>
                        <a:cs typeface="+mn-cs"/>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dirty="0">
                        <a:ln>
                          <a:noFill/>
                        </a:ln>
                        <a:solidFill>
                          <a:schemeClr val="tx1"/>
                        </a:solidFill>
                        <a:effectLst/>
                        <a:uLnTx/>
                        <a:uFillTx/>
                        <a:latin typeface="+mn-lt"/>
                        <a:ea typeface="+mn-ea"/>
                        <a:cs typeface="+mn-cs"/>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dirty="0">
                        <a:ln>
                          <a:noFill/>
                        </a:ln>
                        <a:solidFill>
                          <a:schemeClr val="tx1"/>
                        </a:solidFill>
                        <a:effectLst/>
                        <a:uLnTx/>
                        <a:uFillTx/>
                        <a:latin typeface="+mn-lt"/>
                        <a:ea typeface="+mn-ea"/>
                        <a:cs typeface="+mn-cs"/>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dirty="0">
                        <a:ln>
                          <a:noFill/>
                        </a:ln>
                        <a:solidFill>
                          <a:schemeClr val="tx1"/>
                        </a:solidFill>
                        <a:effectLst/>
                        <a:uLnTx/>
                        <a:uFillTx/>
                        <a:latin typeface="+mn-lt"/>
                        <a:ea typeface="+mn-ea"/>
                        <a:cs typeface="+mn-cs"/>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dirty="0">
                        <a:ln>
                          <a:noFill/>
                        </a:ln>
                        <a:solidFill>
                          <a:schemeClr val="tx1"/>
                        </a:solidFill>
                        <a:effectLst/>
                        <a:uLnTx/>
                        <a:uFillTx/>
                        <a:latin typeface="+mn-lt"/>
                        <a:ea typeface="+mn-ea"/>
                        <a:cs typeface="+mn-cs"/>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dirty="0">
                        <a:ln>
                          <a:noFill/>
                        </a:ln>
                        <a:solidFill>
                          <a:schemeClr val="tx1"/>
                        </a:solidFill>
                        <a:effectLst/>
                        <a:uLnTx/>
                        <a:uFillTx/>
                        <a:latin typeface="+mn-lt"/>
                        <a:ea typeface="+mn-ea"/>
                        <a:cs typeface="+mn-cs"/>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schemeClr val="tx1"/>
                          </a:solidFill>
                          <a:effectLst/>
                          <a:uLnTx/>
                          <a:uFillTx/>
                          <a:latin typeface="+mn-lt"/>
                          <a:ea typeface="+mn-ea"/>
                          <a:cs typeface="+mn-cs"/>
                        </a:rPr>
                        <a:t>Following graph presents the estimation of landed LNG price in Bangladesh (long term contracts)</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5" name="Title 1"/>
          <p:cNvSpPr>
            <a:spLocks noGrp="1"/>
          </p:cNvSpPr>
          <p:nvPr>
            <p:ph type="title"/>
          </p:nvPr>
        </p:nvSpPr>
        <p:spPr>
          <a:xfrm>
            <a:off x="449264" y="647700"/>
            <a:ext cx="9791700" cy="431800"/>
          </a:xfrm>
        </p:spPr>
        <p:txBody>
          <a:bodyPr/>
          <a:lstStyle/>
          <a:p>
            <a:r>
              <a:rPr lang="en-US" dirty="0"/>
              <a:t>LNG landed price | Forecast</a:t>
            </a:r>
            <a:endParaRPr lang="en-IN" dirty="0"/>
          </a:p>
        </p:txBody>
      </p:sp>
      <p:sp>
        <p:nvSpPr>
          <p:cNvPr id="6"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Due to Covid-19, Crude Prices have fallen from ~$60 / bbl in FY19 to average ~$35 / bbl in FY20 with major agencies projecting sub $50/</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a:t>
            </a:r>
            <a:r>
              <a:rPr kumimoji="0" lang="en-US" sz="1400" b="1" i="0" u="none" strike="noStrike" kern="1200" cap="none" spc="0" normalizeH="0" noProof="0" dirty="0" err="1">
                <a:ln>
                  <a:noFill/>
                </a:ln>
                <a:solidFill>
                  <a:prstClr val="black">
                    <a:lumMod val="50000"/>
                    <a:lumOff val="50000"/>
                  </a:prstClr>
                </a:solidFill>
                <a:effectLst/>
                <a:uLnTx/>
                <a:uFillTx/>
                <a:latin typeface="Verdana" panose="020B0604030504040204" pitchFamily="34" charset="0"/>
                <a:ea typeface="+mn-ea"/>
                <a:cs typeface="+mn-cs"/>
              </a:rPr>
              <a:t>bbl</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rates in the short to medium term</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LNG prices in Bangladesh being linked to crude are thus expected to be muted in line with Oil Forecasts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7" name="Table 6"/>
          <p:cNvGraphicFramePr>
            <a:graphicFrameLocks noGrp="1"/>
          </p:cNvGraphicFramePr>
          <p:nvPr>
            <p:custDataLst>
              <p:tags r:id="rId4"/>
            </p:custDataLst>
            <p:extLst>
              <p:ext uri="{D42A27DB-BD31-4B8C-83A1-F6EECF244321}">
                <p14:modId xmlns:p14="http://schemas.microsoft.com/office/powerpoint/2010/main" val="1208219363"/>
              </p:ext>
            </p:extLst>
          </p:nvPr>
        </p:nvGraphicFramePr>
        <p:xfrm>
          <a:off x="383700" y="1961920"/>
          <a:ext cx="4732062" cy="5106718"/>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2653280">
                <a:tc>
                  <a:txBody>
                    <a:bodyPr/>
                    <a:lstStyle/>
                    <a:p>
                      <a:pPr marL="0" indent="0" algn="just">
                        <a:spcAft>
                          <a:spcPts val="500"/>
                        </a:spcAft>
                        <a:buFont typeface="Arial" panose="020B0604020202020204" pitchFamily="34" charset="0"/>
                        <a:buNone/>
                      </a:pPr>
                      <a:r>
                        <a:rPr lang="en-US" sz="1000" b="1" baseline="0" dirty="0">
                          <a:solidFill>
                            <a:schemeClr val="tx1"/>
                          </a:solidFill>
                        </a:rPr>
                        <a:t>Brent Crude Price Forecast</a:t>
                      </a:r>
                    </a:p>
                    <a:p>
                      <a:pPr marL="171450" marR="0" lvl="0" indent="-171450" algn="just" defTabSz="990571" rtl="0" eaLnBrk="1" fontAlgn="auto" latinLnBrk="0" hangingPunct="1">
                        <a:lnSpc>
                          <a:spcPct val="100000"/>
                        </a:lnSpc>
                        <a:spcBef>
                          <a:spcPts val="600"/>
                        </a:spcBef>
                        <a:spcAft>
                          <a:spcPts val="500"/>
                        </a:spcAft>
                        <a:buClrTx/>
                        <a:buSzTx/>
                        <a:buFont typeface="Arial" panose="020B0604020202020204" pitchFamily="34" charset="0"/>
                        <a:buChar char="•"/>
                        <a:tabLst/>
                        <a:defRPr/>
                      </a:pPr>
                      <a:r>
                        <a:rPr lang="en-US" sz="1000" b="0" baseline="0" dirty="0">
                          <a:solidFill>
                            <a:schemeClr val="tx1"/>
                          </a:solidFill>
                        </a:rPr>
                        <a:t>As the long term contracts for LNG in Bangladesh are linked to Crude Oil prices, we have considered price forecast as per World Bank (long term) and EIA (short term) for projection of landed LNG prices in Bangladesh</a:t>
                      </a:r>
                    </a:p>
                    <a:p>
                      <a:pPr marL="171450" marR="0" lvl="0" indent="-171450" algn="just" defTabSz="990571" rtl="0" eaLnBrk="1" fontAlgn="auto" latinLnBrk="0" hangingPunct="1">
                        <a:lnSpc>
                          <a:spcPct val="100000"/>
                        </a:lnSpc>
                        <a:spcBef>
                          <a:spcPts val="600"/>
                        </a:spcBef>
                        <a:spcAft>
                          <a:spcPts val="5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chemeClr val="tx1"/>
                          </a:solidFill>
                          <a:effectLst/>
                          <a:uLnTx/>
                          <a:uFillTx/>
                          <a:latin typeface="+mn-lt"/>
                          <a:ea typeface="+mn-ea"/>
                          <a:cs typeface="+mn-cs"/>
                        </a:rPr>
                        <a:t>As can be seen from the graph on the right (above), the Crude Oil prices have fallen dramatically in FY20 due to impact of Covid-19 with average price reducing to $35 / BBL</a:t>
                      </a:r>
                    </a:p>
                    <a:p>
                      <a:pPr marL="171450" marR="0" lvl="0" indent="-171450" algn="just" defTabSz="990571" rtl="0" eaLnBrk="1" fontAlgn="auto" latinLnBrk="0" hangingPunct="1">
                        <a:lnSpc>
                          <a:spcPct val="100000"/>
                        </a:lnSpc>
                        <a:spcBef>
                          <a:spcPts val="600"/>
                        </a:spcBef>
                        <a:spcAft>
                          <a:spcPts val="5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chemeClr val="tx1"/>
                          </a:solidFill>
                          <a:effectLst/>
                          <a:uLnTx/>
                          <a:uFillTx/>
                          <a:latin typeface="+mn-lt"/>
                          <a:ea typeface="+mn-ea"/>
                          <a:cs typeface="+mn-cs"/>
                        </a:rPr>
                        <a:t>Both World Bank and EIA project price recovery from FY22 with the former projection prices to reach $70 / bbl by FY30</a:t>
                      </a:r>
                      <a:endParaRPr kumimoji="0" lang="en-US" sz="1000" b="0" i="0" u="none" strike="noStrike" kern="1200" cap="none" spc="0" normalizeH="0" baseline="0" noProof="0" dirty="0">
                        <a:ln>
                          <a:noFill/>
                        </a:ln>
                        <a:solidFill>
                          <a:srgbClr val="313131"/>
                        </a:solidFill>
                        <a:effectLst/>
                        <a:uLnTx/>
                        <a:uFillTx/>
                        <a:latin typeface="+mn-lt"/>
                        <a:ea typeface="+mn-ea"/>
                        <a:cs typeface="+mn-cs"/>
                      </a:endParaRP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noProof="0" dirty="0">
                        <a:ln>
                          <a:noFill/>
                        </a:ln>
                        <a:solidFill>
                          <a:srgbClr val="313131"/>
                        </a:solidFill>
                        <a:effectLst/>
                        <a:uLnTx/>
                        <a:uFillTx/>
                        <a:latin typeface="+mn-lt"/>
                        <a:ea typeface="+mn-ea"/>
                        <a:cs typeface="+mn-cs"/>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1" baseline="0" dirty="0">
                        <a:solidFill>
                          <a:schemeClr val="tx1"/>
                        </a:solidFill>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1" baseline="0" dirty="0">
                        <a:solidFill>
                          <a:schemeClr val="tx1"/>
                        </a:solidFill>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baseline="0" dirty="0">
                          <a:solidFill>
                            <a:schemeClr val="tx1"/>
                          </a:solidFill>
                        </a:rPr>
                        <a:t>Long Term LNG Price Forecast</a:t>
                      </a:r>
                    </a:p>
                    <a:p>
                      <a:pPr marL="171450" marR="0" lvl="0" indent="-171450" algn="just" defTabSz="990571" rtl="0" eaLnBrk="1" fontAlgn="auto" latinLnBrk="0" hangingPunct="1">
                        <a:lnSpc>
                          <a:spcPct val="100000"/>
                        </a:lnSpc>
                        <a:spcBef>
                          <a:spcPts val="600"/>
                        </a:spcBef>
                        <a:spcAft>
                          <a:spcPts val="500"/>
                        </a:spcAft>
                        <a:buClrTx/>
                        <a:buSzTx/>
                        <a:buFont typeface="Arial" panose="020B0604020202020204" pitchFamily="34" charset="0"/>
                        <a:buChar char="•"/>
                        <a:tabLst/>
                        <a:defRPr/>
                      </a:pPr>
                      <a:r>
                        <a:rPr lang="en-US" sz="1000" b="0" baseline="0" dirty="0">
                          <a:solidFill>
                            <a:schemeClr val="tx1"/>
                          </a:solidFill>
                        </a:rPr>
                        <a:t>Based on the above discussed estimates for crude oil, we have projected the landed LNG cost in Bangladesh</a:t>
                      </a:r>
                    </a:p>
                    <a:p>
                      <a:pPr marL="171450" marR="0" lvl="0" indent="-171450" algn="just" defTabSz="990571" rtl="0" eaLnBrk="1" fontAlgn="auto" latinLnBrk="0" hangingPunct="1">
                        <a:lnSpc>
                          <a:spcPct val="100000"/>
                        </a:lnSpc>
                        <a:spcBef>
                          <a:spcPts val="600"/>
                        </a:spcBef>
                        <a:spcAft>
                          <a:spcPts val="500"/>
                        </a:spcAft>
                        <a:buClrTx/>
                        <a:buSzTx/>
                        <a:buFont typeface="Arial" panose="020B0604020202020204" pitchFamily="34" charset="0"/>
                        <a:buChar char="•"/>
                        <a:tabLst/>
                        <a:defRPr/>
                      </a:pPr>
                      <a:r>
                        <a:rPr lang="en-US" sz="1000" b="0" baseline="0" dirty="0">
                          <a:solidFill>
                            <a:schemeClr val="tx1"/>
                          </a:solidFill>
                        </a:rPr>
                        <a:t>For FY21, we have considered the average of the price forecast by World Bank and EIA</a:t>
                      </a:r>
                    </a:p>
                    <a:p>
                      <a:pPr marL="171450" marR="0" lvl="0" indent="-171450" algn="just" defTabSz="990571" rtl="0" eaLnBrk="1" fontAlgn="auto" latinLnBrk="0" hangingPunct="1">
                        <a:lnSpc>
                          <a:spcPct val="100000"/>
                        </a:lnSpc>
                        <a:spcBef>
                          <a:spcPts val="600"/>
                        </a:spcBef>
                        <a:spcAft>
                          <a:spcPts val="500"/>
                        </a:spcAft>
                        <a:buClrTx/>
                        <a:buSzTx/>
                        <a:buFont typeface="Arial" panose="020B0604020202020204" pitchFamily="34" charset="0"/>
                        <a:buChar char="•"/>
                        <a:tabLst/>
                        <a:defRPr/>
                      </a:pPr>
                      <a:r>
                        <a:rPr lang="en-US" sz="1000" b="0" baseline="0" dirty="0">
                          <a:solidFill>
                            <a:schemeClr val="tx1"/>
                          </a:solidFill>
                        </a:rPr>
                        <a:t>Considering the RasGas contract, the landed cost of LNG in Bangladesh may reach $~8 / MMBTU in FY21 and is expected to increase gradually to $~12.3 / MMBTU by FY30</a:t>
                      </a:r>
                    </a:p>
                    <a:p>
                      <a:pPr marL="171450" marR="0" lvl="0" indent="-171450" algn="just" defTabSz="990571" rtl="0" eaLnBrk="1" fontAlgn="auto" latinLnBrk="0" hangingPunct="1">
                        <a:lnSpc>
                          <a:spcPct val="100000"/>
                        </a:lnSpc>
                        <a:spcBef>
                          <a:spcPts val="600"/>
                        </a:spcBef>
                        <a:spcAft>
                          <a:spcPts val="500"/>
                        </a:spcAft>
                        <a:buClrTx/>
                        <a:buSzTx/>
                        <a:buFont typeface="Arial" panose="020B0604020202020204" pitchFamily="34" charset="0"/>
                        <a:buChar char="•"/>
                        <a:tabLst/>
                        <a:defRPr/>
                      </a:pPr>
                      <a:r>
                        <a:rPr lang="en-US" sz="1000" b="0" baseline="0" dirty="0">
                          <a:solidFill>
                            <a:schemeClr val="tx1"/>
                          </a:solidFill>
                        </a:rPr>
                        <a:t>Till FY25 prices of LNG are expected to be muted due to slow recovery of crude oil prices as projected by the agencies </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IN" sz="1000" b="0" i="0" u="none" strike="noStrike" kern="1200" cap="none" spc="0" normalizeH="0" baseline="0" noProof="0" dirty="0">
                        <a:ln>
                          <a:noFill/>
                        </a:ln>
                        <a:solidFill>
                          <a:srgbClr val="313131"/>
                        </a:solidFill>
                        <a:effectLst/>
                        <a:uLnTx/>
                        <a:uFillTx/>
                        <a:latin typeface="+mn-lt"/>
                        <a:ea typeface="+mn-ea"/>
                        <a:cs typeface="+mn-cs"/>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1" name="Chart 10"/>
          <p:cNvGraphicFramePr/>
          <p:nvPr>
            <p:extLst>
              <p:ext uri="{D42A27DB-BD31-4B8C-83A1-F6EECF244321}">
                <p14:modId xmlns:p14="http://schemas.microsoft.com/office/powerpoint/2010/main" val="990923432"/>
              </p:ext>
            </p:extLst>
          </p:nvPr>
        </p:nvGraphicFramePr>
        <p:xfrm>
          <a:off x="5524500" y="2439900"/>
          <a:ext cx="4716464" cy="2063520"/>
        </p:xfrm>
        <a:graphic>
          <a:graphicData uri="http://schemas.openxmlformats.org/drawingml/2006/chart">
            <c:chart xmlns:c="http://schemas.openxmlformats.org/drawingml/2006/chart" xmlns:r="http://schemas.openxmlformats.org/officeDocument/2006/relationships" r:id="rId8"/>
          </a:graphicData>
        </a:graphic>
      </p:graphicFrame>
      <p:grpSp>
        <p:nvGrpSpPr>
          <p:cNvPr id="10" name="Group 9"/>
          <p:cNvGrpSpPr/>
          <p:nvPr/>
        </p:nvGrpSpPr>
        <p:grpSpPr>
          <a:xfrm>
            <a:off x="9585411" y="3740703"/>
            <a:ext cx="96418" cy="138546"/>
            <a:chOff x="9476509" y="5052291"/>
            <a:chExt cx="96418" cy="138546"/>
          </a:xfrm>
        </p:grpSpPr>
        <p:cxnSp>
          <p:nvCxnSpPr>
            <p:cNvPr id="9" name="Straight Connector 8"/>
            <p:cNvCxnSpPr/>
            <p:nvPr/>
          </p:nvCxnSpPr>
          <p:spPr>
            <a:xfrm flipH="1">
              <a:off x="9476509" y="5052291"/>
              <a:ext cx="69273" cy="138546"/>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9511145" y="5052291"/>
              <a:ext cx="61782" cy="138546"/>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grpSp>
      <p:graphicFrame>
        <p:nvGraphicFramePr>
          <p:cNvPr id="16" name="Chart 15"/>
          <p:cNvGraphicFramePr/>
          <p:nvPr>
            <p:extLst>
              <p:ext uri="{D42A27DB-BD31-4B8C-83A1-F6EECF244321}">
                <p14:modId xmlns:p14="http://schemas.microsoft.com/office/powerpoint/2010/main" val="4049062033"/>
              </p:ext>
            </p:extLst>
          </p:nvPr>
        </p:nvGraphicFramePr>
        <p:xfrm>
          <a:off x="5540098" y="4863830"/>
          <a:ext cx="4716464" cy="1944808"/>
        </p:xfrm>
        <a:graphic>
          <a:graphicData uri="http://schemas.openxmlformats.org/drawingml/2006/chart">
            <c:chart xmlns:c="http://schemas.openxmlformats.org/drawingml/2006/chart" xmlns:r="http://schemas.openxmlformats.org/officeDocument/2006/relationships" r:id="rId9"/>
          </a:graphicData>
        </a:graphic>
      </p:graphicFrame>
      <p:sp>
        <p:nvSpPr>
          <p:cNvPr id="17" name="Rectangle 16"/>
          <p:cNvSpPr/>
          <p:nvPr/>
        </p:nvSpPr>
        <p:spPr bwMode="gray">
          <a:xfrm>
            <a:off x="2901159" y="7111548"/>
            <a:ext cx="6609413" cy="217966"/>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World Bank, EIA, Deloitte Analysis Note 1) World Bank Data considered for WTI Crude Oil as per Commodities price Outlook for 2020 -</a:t>
            </a:r>
          </a:p>
        </p:txBody>
      </p:sp>
      <p:grpSp>
        <p:nvGrpSpPr>
          <p:cNvPr id="19" name="Group 18"/>
          <p:cNvGrpSpPr/>
          <p:nvPr/>
        </p:nvGrpSpPr>
        <p:grpSpPr>
          <a:xfrm>
            <a:off x="9510572" y="6158996"/>
            <a:ext cx="96418" cy="138546"/>
            <a:chOff x="9476509" y="5052291"/>
            <a:chExt cx="96418" cy="138546"/>
          </a:xfrm>
        </p:grpSpPr>
        <p:cxnSp>
          <p:nvCxnSpPr>
            <p:cNvPr id="20" name="Straight Connector 19"/>
            <p:cNvCxnSpPr/>
            <p:nvPr/>
          </p:nvCxnSpPr>
          <p:spPr>
            <a:xfrm flipH="1">
              <a:off x="9476509" y="5052291"/>
              <a:ext cx="69273" cy="138546"/>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flipH="1">
              <a:off x="9511145" y="5052291"/>
              <a:ext cx="61782" cy="138546"/>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grpSp>
      <p:sp>
        <p:nvSpPr>
          <p:cNvPr id="22" name="Rectangle 21"/>
          <p:cNvSpPr/>
          <p:nvPr/>
        </p:nvSpPr>
        <p:spPr bwMode="gray">
          <a:xfrm>
            <a:off x="377114" y="7287760"/>
            <a:ext cx="9936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http://pubdocs.worldbank.org/en/633541587395091108/CMO-April-2020-Forecasts.pdf 2) EIA Price Forecast Considered for West Taxes Intermediate - </a:t>
            </a:r>
            <a:r>
              <a:rPr kumimoji="0" lang="en-US" sz="700" b="0" i="1" u="none" strike="noStrike" kern="1200" cap="none" spc="0" normalizeH="0" baseline="0" noProof="0" dirty="0">
                <a:ln>
                  <a:noFill/>
                </a:ln>
                <a:solidFill>
                  <a:prstClr val="black"/>
                </a:solidFill>
                <a:effectLst/>
                <a:uLnTx/>
                <a:uFillTx/>
                <a:latin typeface="Verdana"/>
                <a:ea typeface="+mn-ea"/>
                <a:cs typeface="+mn-cs"/>
                <a:hlinkClick r:id="rId10"/>
              </a:rPr>
              <a:t>https://www.eia.gov/analysis</a:t>
            </a:r>
            <a:r>
              <a:rPr kumimoji="0" lang="en-US" sz="700" b="0" i="1" u="none" strike="noStrike" kern="1200" cap="none" spc="0" normalizeH="0" noProof="0" dirty="0">
                <a:ln>
                  <a:noFill/>
                </a:ln>
                <a:solidFill>
                  <a:prstClr val="black"/>
                </a:solidFill>
                <a:effectLst/>
                <a:uLnTx/>
                <a:uFillTx/>
                <a:latin typeface="Verdana"/>
                <a:ea typeface="+mn-ea"/>
                <a:cs typeface="+mn-cs"/>
              </a:rPr>
              <a:t> </a:t>
            </a:r>
            <a:r>
              <a:rPr lang="en-US" sz="700" i="1" dirty="0">
                <a:solidFill>
                  <a:prstClr val="black"/>
                </a:solidFill>
                <a:latin typeface="Verdana"/>
              </a:rPr>
              <a:t>2</a:t>
            </a:r>
            <a:r>
              <a:rPr kumimoji="0" lang="en-US" sz="700" b="0" i="1" u="none" strike="noStrike" kern="1200" cap="none" spc="0" normalizeH="0" baseline="0" noProof="0" dirty="0">
                <a:ln>
                  <a:noFill/>
                </a:ln>
                <a:solidFill>
                  <a:prstClr val="black"/>
                </a:solidFill>
                <a:effectLst/>
                <a:uLnTx/>
                <a:uFillTx/>
                <a:latin typeface="Verdana"/>
                <a:ea typeface="+mn-ea"/>
                <a:cs typeface="+mn-cs"/>
              </a:rPr>
              <a:t>) Landed LNG price forecast considered in line with RasGas pricing formula with all other cost components for LNG price (taxes, regasification charges, margins , losses considered at FY19 levels)</a:t>
            </a:r>
          </a:p>
        </p:txBody>
      </p:sp>
    </p:spTree>
    <p:extLst>
      <p:ext uri="{BB962C8B-B14F-4D97-AF65-F5344CB8AC3E}">
        <p14:creationId xmlns:p14="http://schemas.microsoft.com/office/powerpoint/2010/main" val="2679511761"/>
      </p:ext>
    </p:extLst>
  </p:cSld>
  <p:clrMapOvr>
    <a:masterClrMapping/>
  </p:clrMapOvr>
  <p:transition>
    <p:fade/>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29623929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8" name="Rectangle 7"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graphicFrame>
        <p:nvGraphicFramePr>
          <p:cNvPr id="4" name="Table 3"/>
          <p:cNvGraphicFramePr>
            <a:graphicFrameLocks noGrp="1"/>
          </p:cNvGraphicFramePr>
          <p:nvPr>
            <p:custDataLst>
              <p:tags r:id="rId3"/>
            </p:custDataLst>
          </p:nvPr>
        </p:nvGraphicFramePr>
        <p:xfrm>
          <a:off x="5524500" y="1961920"/>
          <a:ext cx="4732062" cy="2985818"/>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477979">
                <a:tc>
                  <a:txBody>
                    <a:bodyPr/>
                    <a:lstStyle/>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schemeClr val="tx1"/>
                          </a:solidFill>
                          <a:effectLst/>
                          <a:uLnTx/>
                          <a:uFillTx/>
                          <a:latin typeface="+mn-lt"/>
                          <a:ea typeface="+mn-ea"/>
                          <a:cs typeface="+mn-cs"/>
                        </a:rPr>
                        <a:t>Following graph presents the price forecast for Domestic Production of natural gas and Landed Price of LNG import ($/MMBTU)</a:t>
                      </a: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dirty="0">
                        <a:ln>
                          <a:noFill/>
                        </a:ln>
                        <a:solidFill>
                          <a:schemeClr val="tx1"/>
                        </a:solidFill>
                        <a:effectLst/>
                        <a:uLnTx/>
                        <a:uFillTx/>
                        <a:latin typeface="+mn-lt"/>
                        <a:ea typeface="+mn-ea"/>
                        <a:cs typeface="+mn-cs"/>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dirty="0">
                        <a:ln>
                          <a:noFill/>
                        </a:ln>
                        <a:solidFill>
                          <a:schemeClr val="tx1"/>
                        </a:solidFill>
                        <a:effectLst/>
                        <a:uLnTx/>
                        <a:uFillTx/>
                        <a:latin typeface="+mn-lt"/>
                        <a:ea typeface="+mn-ea"/>
                        <a:cs typeface="+mn-cs"/>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dirty="0">
                        <a:ln>
                          <a:noFill/>
                        </a:ln>
                        <a:solidFill>
                          <a:schemeClr val="tx1"/>
                        </a:solidFill>
                        <a:effectLst/>
                        <a:uLnTx/>
                        <a:uFillTx/>
                        <a:latin typeface="+mn-lt"/>
                        <a:ea typeface="+mn-ea"/>
                        <a:cs typeface="+mn-cs"/>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dirty="0">
                        <a:ln>
                          <a:noFill/>
                        </a:ln>
                        <a:solidFill>
                          <a:schemeClr val="tx1"/>
                        </a:solidFill>
                        <a:effectLst/>
                        <a:uLnTx/>
                        <a:uFillTx/>
                        <a:latin typeface="+mn-lt"/>
                        <a:ea typeface="+mn-ea"/>
                        <a:cs typeface="+mn-cs"/>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dirty="0">
                        <a:ln>
                          <a:noFill/>
                        </a:ln>
                        <a:solidFill>
                          <a:schemeClr val="tx1"/>
                        </a:solidFill>
                        <a:effectLst/>
                        <a:uLnTx/>
                        <a:uFillTx/>
                        <a:latin typeface="+mn-lt"/>
                        <a:ea typeface="+mn-ea"/>
                        <a:cs typeface="+mn-cs"/>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dirty="0">
                        <a:ln>
                          <a:noFill/>
                        </a:ln>
                        <a:solidFill>
                          <a:schemeClr val="tx1"/>
                        </a:solidFill>
                        <a:effectLst/>
                        <a:uLnTx/>
                        <a:uFillTx/>
                        <a:latin typeface="+mn-lt"/>
                        <a:ea typeface="+mn-ea"/>
                        <a:cs typeface="+mn-cs"/>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dirty="0">
                        <a:ln>
                          <a:noFill/>
                        </a:ln>
                        <a:solidFill>
                          <a:schemeClr val="tx1"/>
                        </a:solidFill>
                        <a:effectLst/>
                        <a:uLnTx/>
                        <a:uFillTx/>
                        <a:latin typeface="+mn-lt"/>
                        <a:ea typeface="+mn-ea"/>
                        <a:cs typeface="+mn-cs"/>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dirty="0">
                        <a:ln>
                          <a:noFill/>
                        </a:ln>
                        <a:solidFill>
                          <a:schemeClr val="tx1"/>
                        </a:solidFill>
                        <a:effectLst/>
                        <a:uLnTx/>
                        <a:uFillTx/>
                        <a:latin typeface="+mn-lt"/>
                        <a:ea typeface="+mn-ea"/>
                        <a:cs typeface="+mn-cs"/>
                      </a:endParaRPr>
                    </a:p>
                    <a:p>
                      <a:pPr marL="0" marR="0" lvl="0" indent="0" algn="l"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kumimoji="0" lang="en-US" sz="1000" b="0" i="0" u="none" strike="noStrike" kern="1200" cap="none" spc="0" normalizeH="0" baseline="0" dirty="0">
                        <a:ln>
                          <a:noFill/>
                        </a:ln>
                        <a:solidFill>
                          <a:schemeClr val="tx1"/>
                        </a:solidFill>
                        <a:effectLst/>
                        <a:uLnTx/>
                        <a:uFillTx/>
                        <a:latin typeface="+mn-lt"/>
                        <a:ea typeface="+mn-ea"/>
                        <a:cs typeface="+mn-cs"/>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dirty="0">
                        <a:ln>
                          <a:noFill/>
                        </a:ln>
                        <a:solidFill>
                          <a:schemeClr val="tx1"/>
                        </a:solidFill>
                        <a:effectLst/>
                        <a:uLnTx/>
                        <a:uFillTx/>
                        <a:latin typeface="+mn-lt"/>
                        <a:ea typeface="+mn-ea"/>
                        <a:cs typeface="+mn-cs"/>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schemeClr val="tx1"/>
                          </a:solidFill>
                          <a:effectLst/>
                          <a:uLnTx/>
                          <a:uFillTx/>
                          <a:latin typeface="+mn-lt"/>
                          <a:ea typeface="+mn-ea"/>
                          <a:cs typeface="+mn-cs"/>
                        </a:rPr>
                        <a:t>Following graph presents the estimation of landed price of Domestic Natural Gas in Bangladesh ($/MMBtu)</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5" name="Title 1"/>
          <p:cNvSpPr>
            <a:spLocks noGrp="1"/>
          </p:cNvSpPr>
          <p:nvPr>
            <p:ph type="title"/>
          </p:nvPr>
        </p:nvSpPr>
        <p:spPr>
          <a:xfrm>
            <a:off x="449264" y="647700"/>
            <a:ext cx="9791700" cy="431800"/>
          </a:xfrm>
        </p:spPr>
        <p:txBody>
          <a:bodyPr/>
          <a:lstStyle/>
          <a:p>
            <a:r>
              <a:rPr lang="en-US" dirty="0"/>
              <a:t>Natural Gas Price for Power Sector| Forecast </a:t>
            </a:r>
            <a:endParaRPr lang="en-IN" dirty="0"/>
          </a:p>
        </p:txBody>
      </p:sp>
      <p:sp>
        <p:nvSpPr>
          <p:cNvPr id="6"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Considering</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the forecasts for domestic gas production cost and imported LNG prices, the natural gas prices for the power sector may increase from the current $1.4 / MMBTU to $2.6 / MMBTU by FY 26</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7" name="Table 6"/>
          <p:cNvGraphicFramePr>
            <a:graphicFrameLocks noGrp="1"/>
          </p:cNvGraphicFramePr>
          <p:nvPr>
            <p:custDataLst>
              <p:tags r:id="rId4"/>
            </p:custDataLst>
            <p:extLst>
              <p:ext uri="{D42A27DB-BD31-4B8C-83A1-F6EECF244321}">
                <p14:modId xmlns:p14="http://schemas.microsoft.com/office/powerpoint/2010/main" val="2774413528"/>
              </p:ext>
            </p:extLst>
          </p:nvPr>
        </p:nvGraphicFramePr>
        <p:xfrm>
          <a:off x="383700" y="1961920"/>
          <a:ext cx="4732062" cy="4484418"/>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2653280">
                <a:tc>
                  <a:txBody>
                    <a:bodyPr/>
                    <a:lstStyle/>
                    <a:p>
                      <a:pPr marL="0" indent="0" algn="just">
                        <a:spcBef>
                          <a:spcPts val="600"/>
                        </a:spcBef>
                        <a:spcAft>
                          <a:spcPts val="500"/>
                        </a:spcAft>
                        <a:buFont typeface="Arial" panose="020B0604020202020204" pitchFamily="34" charset="0"/>
                        <a:buNone/>
                      </a:pPr>
                      <a:r>
                        <a:rPr lang="en-US" sz="1000" b="1" baseline="0" dirty="0">
                          <a:solidFill>
                            <a:schemeClr val="tx1"/>
                          </a:solidFill>
                        </a:rPr>
                        <a:t>Domestic Gas Price Forecast</a:t>
                      </a:r>
                    </a:p>
                    <a:p>
                      <a:pPr marL="171450" marR="0" lvl="0" indent="-171450" algn="just" defTabSz="990571" rtl="0" eaLnBrk="1" fontAlgn="auto" latinLnBrk="0" hangingPunct="1">
                        <a:lnSpc>
                          <a:spcPct val="100000"/>
                        </a:lnSpc>
                        <a:spcBef>
                          <a:spcPts val="600"/>
                        </a:spcBef>
                        <a:spcAft>
                          <a:spcPts val="500"/>
                        </a:spcAft>
                        <a:buClrTx/>
                        <a:buSzTx/>
                        <a:buFont typeface="Arial" panose="020B0604020202020204" pitchFamily="34" charset="0"/>
                        <a:buChar char="•"/>
                        <a:tabLst/>
                        <a:defRPr/>
                      </a:pPr>
                      <a:r>
                        <a:rPr lang="en-US" sz="1000" b="0" baseline="0" dirty="0">
                          <a:solidFill>
                            <a:schemeClr val="tx1"/>
                          </a:solidFill>
                        </a:rPr>
                        <a:t>Between FY09 and FY19, Bangladesh has increased the natural gas tariff for power sector at a CAGR of ~4.7% whereas the average inflation rate (WPI Index) in Bangladesh has grown at an average rate of ~5.5% between FY15 and FY19</a:t>
                      </a:r>
                    </a:p>
                    <a:p>
                      <a:pPr marL="171450" marR="0" lvl="0" indent="-171450" algn="just" defTabSz="990571" rtl="0" eaLnBrk="1" fontAlgn="auto" latinLnBrk="0" hangingPunct="1">
                        <a:lnSpc>
                          <a:spcPct val="100000"/>
                        </a:lnSpc>
                        <a:spcBef>
                          <a:spcPts val="600"/>
                        </a:spcBef>
                        <a:spcAft>
                          <a:spcPts val="500"/>
                        </a:spcAft>
                        <a:buClrTx/>
                        <a:buSzTx/>
                        <a:buFont typeface="Arial" panose="020B0604020202020204" pitchFamily="34" charset="0"/>
                        <a:buChar char="•"/>
                        <a:tabLst/>
                        <a:defRPr/>
                      </a:pPr>
                      <a:r>
                        <a:rPr lang="en-US" sz="1000" b="0" baseline="0" dirty="0">
                          <a:solidFill>
                            <a:schemeClr val="tx1"/>
                          </a:solidFill>
                        </a:rPr>
                        <a:t>We have projected the growth rate of production of domestic natural gas for power sector in line with the tariff hikes in Bangladesh </a:t>
                      </a:r>
                    </a:p>
                    <a:p>
                      <a:pPr marL="171450" marR="0" lvl="0" indent="-171450" algn="just" defTabSz="990571" rtl="0" eaLnBrk="1" fontAlgn="auto" latinLnBrk="0" hangingPunct="1">
                        <a:lnSpc>
                          <a:spcPct val="100000"/>
                        </a:lnSpc>
                        <a:spcBef>
                          <a:spcPts val="600"/>
                        </a:spcBef>
                        <a:spcAft>
                          <a:spcPts val="500"/>
                        </a:spcAft>
                        <a:buClrTx/>
                        <a:buSzTx/>
                        <a:buFont typeface="Arial" panose="020B0604020202020204" pitchFamily="34" charset="0"/>
                        <a:buChar char="•"/>
                        <a:tabLst/>
                        <a:defRPr/>
                      </a:pPr>
                      <a:r>
                        <a:rPr lang="en-US" sz="1000" b="0" baseline="0" dirty="0">
                          <a:solidFill>
                            <a:schemeClr val="tx1"/>
                          </a:solidFill>
                        </a:rPr>
                        <a:t>The production cost for natural cost was $1.43 / MMBTU in FY20 as per BERC which is thus expected to increase to $1.88 / MMBTU by FY26</a:t>
                      </a:r>
                    </a:p>
                    <a:p>
                      <a:pPr marL="171450" marR="0" lvl="0" indent="-171450" algn="just" defTabSz="990571" rtl="0" eaLnBrk="1" fontAlgn="auto" latinLnBrk="0" hangingPunct="1">
                        <a:lnSpc>
                          <a:spcPct val="100000"/>
                        </a:lnSpc>
                        <a:spcBef>
                          <a:spcPts val="600"/>
                        </a:spcBef>
                        <a:spcAft>
                          <a:spcPts val="500"/>
                        </a:spcAft>
                        <a:buClrTx/>
                        <a:buSzTx/>
                        <a:buFont typeface="Arial" panose="020B0604020202020204" pitchFamily="34" charset="0"/>
                        <a:buChar char="•"/>
                        <a:tabLst/>
                        <a:defRPr/>
                      </a:pPr>
                      <a:r>
                        <a:rPr lang="en-US" sz="1000" b="0" baseline="0" dirty="0">
                          <a:solidFill>
                            <a:schemeClr val="tx1"/>
                          </a:solidFill>
                        </a:rPr>
                        <a:t>We have projected the landed cost of LNG in Bangladesh considering the crude oil price movement as projected by World Bank and EIA (as discussed earlier)</a:t>
                      </a:r>
                    </a:p>
                    <a:p>
                      <a:pPr marL="171450" marR="0" lvl="0" indent="-171450" algn="just" defTabSz="990571" rtl="0" eaLnBrk="1" fontAlgn="auto" latinLnBrk="0" hangingPunct="1">
                        <a:lnSpc>
                          <a:spcPct val="100000"/>
                        </a:lnSpc>
                        <a:spcBef>
                          <a:spcPts val="600"/>
                        </a:spcBef>
                        <a:spcAft>
                          <a:spcPts val="500"/>
                        </a:spcAft>
                        <a:buClrTx/>
                        <a:buSzTx/>
                        <a:buFont typeface="Arial" panose="020B0604020202020204" pitchFamily="34" charset="0"/>
                        <a:buChar char="•"/>
                        <a:tabLst/>
                        <a:defRPr/>
                      </a:pPr>
                      <a:r>
                        <a:rPr lang="en-US" sz="1000" b="0" baseline="0" dirty="0">
                          <a:solidFill>
                            <a:schemeClr val="tx1"/>
                          </a:solidFill>
                        </a:rPr>
                        <a:t>Considering the current blending ratio of ~25% to continue to lack of additional supply infrastructure of LNG and a gradual subsidy reduction of 5% p.a. we have projected the overall natural gas / LNG cost in Bangladesh for the power sector</a:t>
                      </a:r>
                    </a:p>
                    <a:p>
                      <a:pPr marL="171450" marR="0" lvl="0" indent="-171450" algn="just" defTabSz="990571" rtl="0" eaLnBrk="1" fontAlgn="auto" latinLnBrk="0" hangingPunct="1">
                        <a:lnSpc>
                          <a:spcPct val="100000"/>
                        </a:lnSpc>
                        <a:spcBef>
                          <a:spcPts val="600"/>
                        </a:spcBef>
                        <a:spcAft>
                          <a:spcPts val="5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rgbClr val="313131"/>
                          </a:solidFill>
                          <a:effectLst/>
                          <a:uLnTx/>
                          <a:uFillTx/>
                          <a:latin typeface="+mn-lt"/>
                          <a:ea typeface="+mn-ea"/>
                          <a:cs typeface="+mn-cs"/>
                        </a:rPr>
                        <a:t>As can be seen from the graph on the right (below), the tariff for natural gas for power sector is expected to increase to $2.58 / MMBTU by FY26</a:t>
                      </a:r>
                    </a:p>
                    <a:p>
                      <a:pPr marL="171450" marR="0" lvl="0" indent="-171450" algn="just" defTabSz="990571" rtl="0" eaLnBrk="1" fontAlgn="auto" latinLnBrk="0" hangingPunct="1">
                        <a:lnSpc>
                          <a:spcPct val="100000"/>
                        </a:lnSpc>
                        <a:spcBef>
                          <a:spcPts val="600"/>
                        </a:spcBef>
                        <a:spcAft>
                          <a:spcPts val="500"/>
                        </a:spcAft>
                        <a:buClrTx/>
                        <a:buSzTx/>
                        <a:buFont typeface="Arial" panose="020B0604020202020204" pitchFamily="34" charset="0"/>
                        <a:buChar char="•"/>
                        <a:tabLst/>
                        <a:defRPr/>
                      </a:pPr>
                      <a:endParaRPr kumimoji="0" lang="en-IN" sz="1000" b="0" i="0" u="none" strike="noStrike" kern="1200" cap="none" spc="0" normalizeH="0" baseline="0" noProof="0" dirty="0">
                        <a:ln>
                          <a:noFill/>
                        </a:ln>
                        <a:solidFill>
                          <a:srgbClr val="313131"/>
                        </a:solidFill>
                        <a:effectLst/>
                        <a:uLnTx/>
                        <a:uFillTx/>
                        <a:latin typeface="+mn-lt"/>
                        <a:ea typeface="+mn-ea"/>
                        <a:cs typeface="+mn-cs"/>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1" name="Chart 10"/>
          <p:cNvGraphicFramePr/>
          <p:nvPr>
            <p:extLst>
              <p:ext uri="{D42A27DB-BD31-4B8C-83A1-F6EECF244321}">
                <p14:modId xmlns:p14="http://schemas.microsoft.com/office/powerpoint/2010/main" val="571909531"/>
              </p:ext>
            </p:extLst>
          </p:nvPr>
        </p:nvGraphicFramePr>
        <p:xfrm>
          <a:off x="5524500" y="2439900"/>
          <a:ext cx="4716464" cy="2063520"/>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6" name="Chart 15"/>
          <p:cNvGraphicFramePr/>
          <p:nvPr>
            <p:extLst>
              <p:ext uri="{D42A27DB-BD31-4B8C-83A1-F6EECF244321}">
                <p14:modId xmlns:p14="http://schemas.microsoft.com/office/powerpoint/2010/main" val="106133485"/>
              </p:ext>
            </p:extLst>
          </p:nvPr>
        </p:nvGraphicFramePr>
        <p:xfrm>
          <a:off x="5540098" y="4981400"/>
          <a:ext cx="4716464" cy="1944808"/>
        </p:xfrm>
        <a:graphic>
          <a:graphicData uri="http://schemas.openxmlformats.org/drawingml/2006/chart">
            <c:chart xmlns:c="http://schemas.openxmlformats.org/drawingml/2006/chart" xmlns:r="http://schemas.openxmlformats.org/officeDocument/2006/relationships" r:id="rId9"/>
          </a:graphicData>
        </a:graphic>
      </p:graphicFrame>
      <p:sp>
        <p:nvSpPr>
          <p:cNvPr id="18" name="Rectangle 17"/>
          <p:cNvSpPr/>
          <p:nvPr/>
        </p:nvSpPr>
        <p:spPr bwMode="gray">
          <a:xfrm>
            <a:off x="310040" y="7300955"/>
            <a:ext cx="10152000" cy="224562"/>
          </a:xfrm>
          <a:prstGeom prst="rect">
            <a:avLst/>
          </a:prstGeom>
          <a:noFill/>
          <a:ln w="19050" algn="ctr">
            <a:noFill/>
            <a:miter lim="800000"/>
            <a:headEnd/>
            <a:tailEnd/>
          </a:ln>
        </p:spPr>
        <p:txBody>
          <a:bodyPr wrap="square" lIns="88900" tIns="88900" rIns="88900" bIns="88900" rtlCol="0" anchor="ctr"/>
          <a:lstStyle/>
          <a:p>
            <a:pPr marL="0" marR="0" lvl="0" indent="0" algn="l" defTabSz="914400"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 Source: World</a:t>
            </a:r>
            <a:r>
              <a:rPr kumimoji="0" lang="en-US" sz="700" b="0" i="1" u="none" strike="noStrike" kern="1200" cap="none" spc="0" normalizeH="0" noProof="0" dirty="0">
                <a:ln>
                  <a:noFill/>
                </a:ln>
                <a:solidFill>
                  <a:prstClr val="black"/>
                </a:solidFill>
                <a:effectLst/>
                <a:uLnTx/>
                <a:uFillTx/>
                <a:latin typeface="Verdana"/>
                <a:ea typeface="+mn-ea"/>
                <a:cs typeface="+mn-cs"/>
              </a:rPr>
              <a:t> Bank, BERC, EIA, Deloitte Analysis; </a:t>
            </a:r>
            <a:r>
              <a:rPr kumimoji="0" lang="en-US" sz="700" b="0" i="1" u="none" strike="noStrike" kern="1200" cap="none" spc="0" normalizeH="0" baseline="0" noProof="0" dirty="0">
                <a:ln>
                  <a:noFill/>
                </a:ln>
                <a:solidFill>
                  <a:prstClr val="black"/>
                </a:solidFill>
                <a:effectLst/>
                <a:uLnTx/>
                <a:uFillTx/>
                <a:latin typeface="Verdana"/>
                <a:ea typeface="+mn-ea"/>
                <a:cs typeface="+mn-cs"/>
              </a:rPr>
              <a:t>Note</a:t>
            </a:r>
            <a:r>
              <a:rPr kumimoji="0" lang="en-US" sz="700" b="0" i="1" u="none" strike="noStrike" kern="1200" cap="none" spc="0" normalizeH="0" noProof="0" dirty="0">
                <a:ln>
                  <a:noFill/>
                </a:ln>
                <a:solidFill>
                  <a:prstClr val="black"/>
                </a:solidFill>
                <a:effectLst/>
                <a:uLnTx/>
                <a:uFillTx/>
                <a:latin typeface="Verdana"/>
                <a:ea typeface="+mn-ea"/>
                <a:cs typeface="+mn-cs"/>
              </a:rPr>
              <a:t> 1) The tariff for FY21 has been considered at $1.39 / MMBTU in line with the tariff for FY20 as proposed by BERC despite the fall in projection for landed LNG cost as we do not expect the Govt. to reduce the tariff for natural gas 2) The current subsidy of ~65% to power sector has been assumed to be gradually reduced in line with Govt. Vision and has been considered at 5% p.a. for the purpose of our analysis</a:t>
            </a:r>
            <a:endParaRPr kumimoji="0" lang="en-US" sz="700" b="0" i="1"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1111392981"/>
      </p:ext>
    </p:extLst>
  </p:cSld>
  <p:clrMapOvr>
    <a:masterClrMapping/>
  </p:clrMapOvr>
  <p:transition>
    <p:fade/>
  </p:transition>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351466708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5" imgW="530" imgH="531" progId="TCLayout.ActiveDocument.1">
                  <p:embed/>
                </p:oleObj>
              </mc:Choice>
              <mc:Fallback>
                <p:oleObj name="think-cell Slide" r:id="rId35" imgW="530" imgH="531" progId="TCLayout.ActiveDocument.1">
                  <p:embed/>
                  <p:pic>
                    <p:nvPicPr>
                      <p:cNvPr id="4" name="Object 3" hidden="1"/>
                      <p:cNvPicPr/>
                      <p:nvPr/>
                    </p:nvPicPr>
                    <p:blipFill>
                      <a:blip r:embed="rId3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IN" sz="800" u="none" strike="noStrike" kern="1200" cap="none" spc="0" normalizeH="0" noProof="0" dirty="0">
              <a:ln>
                <a:noFill/>
              </a:ln>
              <a:solidFill>
                <a:prstClr val="white"/>
              </a:solidFill>
              <a:effectLst/>
              <a:uLnTx/>
              <a:uFillTx/>
              <a:sym typeface="+mn-lt"/>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2016223045"/>
              </p:ext>
            </p:extLst>
          </p:nvPr>
        </p:nvGraphicFramePr>
        <p:xfrm>
          <a:off x="5524500" y="1961920"/>
          <a:ext cx="4732062" cy="477979"/>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477979">
                <a:tc>
                  <a:txBody>
                    <a:bodyPr/>
                    <a:lstStyle/>
                    <a:p>
                      <a:pPr marL="0" lvl="0" indent="0">
                        <a:spcAft>
                          <a:spcPts val="500"/>
                        </a:spcAft>
                        <a:buFont typeface="Arial" panose="020B0604020202020204" pitchFamily="34" charset="0"/>
                        <a:buNone/>
                      </a:pPr>
                      <a:r>
                        <a:rPr lang="en-US" sz="1000" b="0" baseline="0" dirty="0">
                          <a:solidFill>
                            <a:schemeClr val="tx1"/>
                          </a:solidFill>
                        </a:rPr>
                        <a:t>Following table presents an illustration of landed cost of HFO for the month of Jan, 2020</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HSD landed price | Historical</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Although Bangladesh sources majority of its HSD requirement from International suppliers, the GoB</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has kept the HSD prices constant with no linkage to global oil price variation</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5" name="Table 4"/>
          <p:cNvGraphicFramePr>
            <a:graphicFrameLocks noGrp="1"/>
          </p:cNvGraphicFramePr>
          <p:nvPr>
            <p:extLst>
              <p:ext uri="{D42A27DB-BD31-4B8C-83A1-F6EECF244321}">
                <p14:modId xmlns:p14="http://schemas.microsoft.com/office/powerpoint/2010/main" val="3053611182"/>
              </p:ext>
            </p:extLst>
          </p:nvPr>
        </p:nvGraphicFramePr>
        <p:xfrm>
          <a:off x="5524500" y="2480796"/>
          <a:ext cx="4732063" cy="3864095"/>
        </p:xfrm>
        <a:graphic>
          <a:graphicData uri="http://schemas.openxmlformats.org/drawingml/2006/table">
            <a:tbl>
              <a:tblPr firstRow="1">
                <a:tableStyleId>{3B4B98B0-60AC-42C2-AFA5-B58CD77FA1E5}</a:tableStyleId>
              </a:tblPr>
              <a:tblGrid>
                <a:gridCol w="1671430">
                  <a:extLst>
                    <a:ext uri="{9D8B030D-6E8A-4147-A177-3AD203B41FA5}">
                      <a16:colId xmlns:a16="http://schemas.microsoft.com/office/drawing/2014/main" val="1775614364"/>
                    </a:ext>
                  </a:extLst>
                </a:gridCol>
                <a:gridCol w="954157">
                  <a:extLst>
                    <a:ext uri="{9D8B030D-6E8A-4147-A177-3AD203B41FA5}">
                      <a16:colId xmlns:a16="http://schemas.microsoft.com/office/drawing/2014/main" val="3113871719"/>
                    </a:ext>
                  </a:extLst>
                </a:gridCol>
                <a:gridCol w="2106476">
                  <a:extLst>
                    <a:ext uri="{9D8B030D-6E8A-4147-A177-3AD203B41FA5}">
                      <a16:colId xmlns:a16="http://schemas.microsoft.com/office/drawing/2014/main" val="529510123"/>
                    </a:ext>
                  </a:extLst>
                </a:gridCol>
              </a:tblGrid>
              <a:tr h="343132">
                <a:tc>
                  <a:txBody>
                    <a:bodyPr/>
                    <a:lstStyle/>
                    <a:p>
                      <a:r>
                        <a:rPr lang="en-US" sz="900" dirty="0">
                          <a:latin typeface="+mj-lt"/>
                        </a:rPr>
                        <a:t>Term</a:t>
                      </a:r>
                      <a:endParaRPr lang="en-IN" sz="900" b="0" dirty="0">
                        <a:latin typeface="+mj-lt"/>
                      </a:endParaRPr>
                    </a:p>
                  </a:txBody>
                  <a:tcPr anchor="ctr"/>
                </a:tc>
                <a:tc>
                  <a:txBody>
                    <a:bodyPr/>
                    <a:lstStyle/>
                    <a:p>
                      <a:r>
                        <a:rPr lang="en-US" sz="900" dirty="0">
                          <a:latin typeface="+mj-lt"/>
                        </a:rPr>
                        <a:t>Price (</a:t>
                      </a:r>
                      <a:r>
                        <a:rPr lang="en-US" sz="900" b="0" dirty="0">
                          <a:latin typeface="+mj-lt"/>
                        </a:rPr>
                        <a:t>Tk/Litre</a:t>
                      </a:r>
                      <a:r>
                        <a:rPr lang="en-US" sz="900" dirty="0">
                          <a:latin typeface="+mj-lt"/>
                        </a:rPr>
                        <a:t>)</a:t>
                      </a:r>
                      <a:endParaRPr lang="en-IN" sz="900" b="0" dirty="0">
                        <a:latin typeface="+mj-lt"/>
                      </a:endParaRPr>
                    </a:p>
                  </a:txBody>
                  <a:tcPr anchor="ctr"/>
                </a:tc>
                <a:tc>
                  <a:txBody>
                    <a:bodyPr/>
                    <a:lstStyle/>
                    <a:p>
                      <a:r>
                        <a:rPr lang="en-US" sz="900" b="0" dirty="0">
                          <a:latin typeface="+mj-lt"/>
                        </a:rPr>
                        <a:t>Description</a:t>
                      </a:r>
                      <a:endParaRPr lang="en-IN" sz="900" b="0" dirty="0">
                        <a:latin typeface="+mj-lt"/>
                      </a:endParaRPr>
                    </a:p>
                  </a:txBody>
                  <a:tcPr anchor="ctr"/>
                </a:tc>
                <a:extLst>
                  <a:ext uri="{0D108BD9-81ED-4DB2-BD59-A6C34878D82A}">
                    <a16:rowId xmlns:a16="http://schemas.microsoft.com/office/drawing/2014/main" val="1394148824"/>
                  </a:ext>
                </a:extLst>
              </a:tr>
              <a:tr h="343132">
                <a:tc>
                  <a:txBody>
                    <a:bodyPr/>
                    <a:lstStyle/>
                    <a:p>
                      <a:pPr algn="l" fontAlgn="b"/>
                      <a:r>
                        <a:rPr lang="en-US" sz="900" b="0" i="0" u="none" strike="noStrike" dirty="0">
                          <a:solidFill>
                            <a:srgbClr val="000000"/>
                          </a:solidFill>
                          <a:effectLst/>
                          <a:latin typeface="+mj-lt"/>
                        </a:rPr>
                        <a:t>Tariff/Assessable</a:t>
                      </a:r>
                      <a:r>
                        <a:rPr lang="en-US" sz="900" b="0" i="0" u="none" strike="noStrike" baseline="0" dirty="0">
                          <a:solidFill>
                            <a:srgbClr val="000000"/>
                          </a:solidFill>
                          <a:effectLst/>
                          <a:latin typeface="+mj-lt"/>
                        </a:rPr>
                        <a:t> Value (TV)</a:t>
                      </a:r>
                      <a:endParaRPr lang="en-US" sz="900" b="0" i="0" u="none" strike="noStrike" dirty="0">
                        <a:solidFill>
                          <a:srgbClr val="000000"/>
                        </a:solidFill>
                        <a:effectLst/>
                        <a:latin typeface="+mj-lt"/>
                      </a:endParaRPr>
                    </a:p>
                  </a:txBody>
                  <a:tcPr anchor="ctr"/>
                </a:tc>
                <a:tc>
                  <a:txBody>
                    <a:bodyPr/>
                    <a:lstStyle/>
                    <a:p>
                      <a:r>
                        <a:rPr lang="en-US" sz="900" i="0" dirty="0">
                          <a:latin typeface="+mj-lt"/>
                        </a:rPr>
                        <a:t>31.89</a:t>
                      </a:r>
                      <a:endParaRPr lang="en-IN" sz="900" i="0" dirty="0">
                        <a:latin typeface="+mj-lt"/>
                      </a:endParaRPr>
                    </a:p>
                  </a:txBody>
                  <a:tcPr anchor="ctr"/>
                </a:tc>
                <a:tc>
                  <a:txBody>
                    <a:bodyPr/>
                    <a:lstStyle/>
                    <a:p>
                      <a:r>
                        <a:rPr lang="en-US" sz="900" i="1" dirty="0">
                          <a:latin typeface="+mj-lt"/>
                        </a:rPr>
                        <a:t>Price of Crude converted</a:t>
                      </a:r>
                      <a:r>
                        <a:rPr lang="en-US" sz="900" i="1" baseline="0" dirty="0">
                          <a:latin typeface="+mj-lt"/>
                        </a:rPr>
                        <a:t> to Tk/Liter</a:t>
                      </a:r>
                      <a:endParaRPr lang="en-IN" sz="900" i="1" dirty="0">
                        <a:latin typeface="+mj-lt"/>
                      </a:endParaRPr>
                    </a:p>
                  </a:txBody>
                  <a:tcPr anchor="ctr"/>
                </a:tc>
                <a:extLst>
                  <a:ext uri="{0D108BD9-81ED-4DB2-BD59-A6C34878D82A}">
                    <a16:rowId xmlns:a16="http://schemas.microsoft.com/office/drawing/2014/main" val="2653013335"/>
                  </a:ext>
                </a:extLst>
              </a:tr>
              <a:tr h="277141">
                <a:tc>
                  <a:txBody>
                    <a:bodyPr/>
                    <a:lstStyle/>
                    <a:p>
                      <a:pPr algn="l" fontAlgn="b"/>
                      <a:r>
                        <a:rPr lang="en-US" sz="900" b="0" i="0" u="none" strike="noStrike" dirty="0">
                          <a:solidFill>
                            <a:srgbClr val="000000"/>
                          </a:solidFill>
                          <a:effectLst/>
                          <a:latin typeface="+mj-lt"/>
                        </a:rPr>
                        <a:t>Premium (USD/bbl.)</a:t>
                      </a:r>
                    </a:p>
                  </a:txBody>
                  <a:tcPr anchor="ctr"/>
                </a:tc>
                <a:tc>
                  <a:txBody>
                    <a:bodyPr/>
                    <a:lstStyle/>
                    <a:p>
                      <a:r>
                        <a:rPr lang="en-US" sz="900" i="0" dirty="0">
                          <a:latin typeface="+mj-lt"/>
                        </a:rPr>
                        <a:t>2.27</a:t>
                      </a:r>
                      <a:endParaRPr lang="en-IN" sz="900" i="0" dirty="0">
                        <a:latin typeface="+mj-lt"/>
                      </a:endParaRPr>
                    </a:p>
                  </a:txBody>
                  <a:tcPr anchor="ctr"/>
                </a:tc>
                <a:tc>
                  <a:txBody>
                    <a:bodyPr/>
                    <a:lstStyle/>
                    <a:p>
                      <a:r>
                        <a:rPr lang="en-US" sz="900" i="1" dirty="0">
                          <a:latin typeface="+mj-lt"/>
                        </a:rPr>
                        <a:t>Premium</a:t>
                      </a:r>
                      <a:r>
                        <a:rPr lang="en-US" sz="900" i="1" baseline="0" dirty="0">
                          <a:latin typeface="+mj-lt"/>
                        </a:rPr>
                        <a:t> added to Platts rate</a:t>
                      </a:r>
                      <a:endParaRPr lang="en-IN" sz="900" i="1" dirty="0">
                        <a:latin typeface="+mj-lt"/>
                      </a:endParaRPr>
                    </a:p>
                  </a:txBody>
                  <a:tcPr anchor="ctr"/>
                </a:tc>
                <a:extLst>
                  <a:ext uri="{0D108BD9-81ED-4DB2-BD59-A6C34878D82A}">
                    <a16:rowId xmlns:a16="http://schemas.microsoft.com/office/drawing/2014/main" val="748743501"/>
                  </a:ext>
                </a:extLst>
              </a:tr>
              <a:tr h="343132">
                <a:tc>
                  <a:txBody>
                    <a:bodyPr/>
                    <a:lstStyle/>
                    <a:p>
                      <a:pPr algn="l" fontAlgn="b"/>
                      <a:r>
                        <a:rPr lang="en-US" sz="900" b="0" i="0" u="none" strike="noStrike" dirty="0">
                          <a:solidFill>
                            <a:srgbClr val="000000"/>
                          </a:solidFill>
                          <a:effectLst/>
                          <a:latin typeface="+mj-lt"/>
                        </a:rPr>
                        <a:t>CIF Cost</a:t>
                      </a:r>
                    </a:p>
                  </a:txBody>
                  <a:tcPr anchor="ctr"/>
                </a:tc>
                <a:tc>
                  <a:txBody>
                    <a:bodyPr/>
                    <a:lstStyle/>
                    <a:p>
                      <a:r>
                        <a:rPr lang="en-US" sz="900" i="0" dirty="0">
                          <a:latin typeface="+mj-lt"/>
                        </a:rPr>
                        <a:t>33.03</a:t>
                      </a:r>
                      <a:endParaRPr lang="en-IN" sz="900" i="0" dirty="0">
                        <a:latin typeface="+mj-lt"/>
                      </a:endParaRPr>
                    </a:p>
                  </a:txBody>
                  <a:tcPr anchor="ctr"/>
                </a:tc>
                <a:tc>
                  <a:txBody>
                    <a:bodyPr/>
                    <a:lstStyle/>
                    <a:p>
                      <a:r>
                        <a:rPr lang="en-US" sz="900" i="1" dirty="0">
                          <a:latin typeface="+mj-lt"/>
                        </a:rPr>
                        <a:t>Indexed to Platts rate</a:t>
                      </a:r>
                      <a:r>
                        <a:rPr lang="en-US" sz="900" i="1" baseline="0" dirty="0">
                          <a:latin typeface="+mj-lt"/>
                        </a:rPr>
                        <a:t> + premium</a:t>
                      </a:r>
                      <a:endParaRPr lang="en-IN" sz="900" i="1" dirty="0">
                        <a:latin typeface="+mj-lt"/>
                      </a:endParaRPr>
                    </a:p>
                  </a:txBody>
                  <a:tcPr anchor="ctr"/>
                </a:tc>
                <a:extLst>
                  <a:ext uri="{0D108BD9-81ED-4DB2-BD59-A6C34878D82A}">
                    <a16:rowId xmlns:a16="http://schemas.microsoft.com/office/drawing/2014/main" val="1377369848"/>
                  </a:ext>
                </a:extLst>
              </a:tr>
              <a:tr h="277141">
                <a:tc>
                  <a:txBody>
                    <a:bodyPr/>
                    <a:lstStyle/>
                    <a:p>
                      <a:pPr algn="l" fontAlgn="b"/>
                      <a:r>
                        <a:rPr lang="en-US" sz="900" b="0" i="0" u="none" strike="noStrike" dirty="0">
                          <a:solidFill>
                            <a:srgbClr val="000000"/>
                          </a:solidFill>
                          <a:effectLst/>
                          <a:latin typeface="+mj-lt"/>
                        </a:rPr>
                        <a:t>Corresponding Duty</a:t>
                      </a:r>
                      <a:r>
                        <a:rPr lang="en-US" sz="900" b="0" i="0" u="none" strike="noStrike" baseline="0" dirty="0">
                          <a:solidFill>
                            <a:srgbClr val="000000"/>
                          </a:solidFill>
                          <a:effectLst/>
                          <a:latin typeface="+mj-lt"/>
                        </a:rPr>
                        <a:t> (CD)</a:t>
                      </a:r>
                      <a:endParaRPr lang="en-US" sz="900" b="0" i="0" u="none" strike="noStrike" dirty="0">
                        <a:solidFill>
                          <a:srgbClr val="000000"/>
                        </a:solidFill>
                        <a:effectLst/>
                        <a:latin typeface="+mj-lt"/>
                      </a:endParaRPr>
                    </a:p>
                  </a:txBody>
                  <a:tcPr anchor="ctr"/>
                </a:tc>
                <a:tc>
                  <a:txBody>
                    <a:bodyPr/>
                    <a:lstStyle/>
                    <a:p>
                      <a:r>
                        <a:rPr lang="en-US" sz="900" i="0" dirty="0">
                          <a:latin typeface="+mj-lt"/>
                        </a:rPr>
                        <a:t>3.19</a:t>
                      </a:r>
                      <a:endParaRPr lang="en-IN" sz="900" i="0" dirty="0">
                        <a:latin typeface="+mj-lt"/>
                      </a:endParaRPr>
                    </a:p>
                  </a:txBody>
                  <a:tcPr anchor="ctr"/>
                </a:tc>
                <a:tc>
                  <a:txBody>
                    <a:bodyPr/>
                    <a:lstStyle/>
                    <a:p>
                      <a:r>
                        <a:rPr lang="en-US" sz="900" i="1" dirty="0">
                          <a:latin typeface="+mj-lt"/>
                        </a:rPr>
                        <a:t>10%</a:t>
                      </a:r>
                      <a:r>
                        <a:rPr lang="en-US" sz="900" i="1" baseline="0" dirty="0">
                          <a:latin typeface="+mj-lt"/>
                        </a:rPr>
                        <a:t> on TV</a:t>
                      </a:r>
                      <a:endParaRPr lang="en-IN" sz="900" i="1" dirty="0">
                        <a:latin typeface="+mj-lt"/>
                      </a:endParaRPr>
                    </a:p>
                  </a:txBody>
                  <a:tcPr anchor="ctr"/>
                </a:tc>
                <a:extLst>
                  <a:ext uri="{0D108BD9-81ED-4DB2-BD59-A6C34878D82A}">
                    <a16:rowId xmlns:a16="http://schemas.microsoft.com/office/drawing/2014/main" val="2424131339"/>
                  </a:ext>
                </a:extLst>
              </a:tr>
              <a:tr h="214457">
                <a:tc>
                  <a:txBody>
                    <a:bodyPr/>
                    <a:lstStyle/>
                    <a:p>
                      <a:pPr algn="l" fontAlgn="b"/>
                      <a:r>
                        <a:rPr lang="en-IN" sz="900" b="0" i="0" u="none" strike="noStrike" dirty="0">
                          <a:solidFill>
                            <a:srgbClr val="000000"/>
                          </a:solidFill>
                          <a:effectLst/>
                          <a:latin typeface="+mj-lt"/>
                        </a:rPr>
                        <a:t>Other Taxes (VAT, ATV, AIT)</a:t>
                      </a:r>
                    </a:p>
                  </a:txBody>
                  <a:tcPr anchor="ctr"/>
                </a:tc>
                <a:tc>
                  <a:txBody>
                    <a:bodyPr/>
                    <a:lstStyle/>
                    <a:p>
                      <a:r>
                        <a:rPr lang="en-US" sz="900" i="0" dirty="0">
                          <a:latin typeface="+mj-lt"/>
                        </a:rPr>
                        <a:t>7.71</a:t>
                      </a:r>
                      <a:endParaRPr lang="en-IN" sz="900" i="0" dirty="0">
                        <a:latin typeface="+mj-lt"/>
                      </a:endParaRPr>
                    </a:p>
                  </a:txBody>
                  <a:tcPr anchor="ctr"/>
                </a:tc>
                <a:tc>
                  <a:txBody>
                    <a:bodyPr/>
                    <a:lstStyle/>
                    <a:p>
                      <a:r>
                        <a:rPr lang="en-US" sz="900" i="1" dirty="0">
                          <a:latin typeface="+mj-lt"/>
                        </a:rPr>
                        <a:t>25% on (TV + CD)</a:t>
                      </a:r>
                      <a:endParaRPr lang="en-IN" sz="900" i="1" dirty="0">
                        <a:latin typeface="+mj-lt"/>
                      </a:endParaRPr>
                    </a:p>
                  </a:txBody>
                  <a:tcPr anchor="ctr"/>
                </a:tc>
                <a:extLst>
                  <a:ext uri="{0D108BD9-81ED-4DB2-BD59-A6C34878D82A}">
                    <a16:rowId xmlns:a16="http://schemas.microsoft.com/office/drawing/2014/main" val="395012680"/>
                  </a:ext>
                </a:extLst>
              </a:tr>
              <a:tr h="343132">
                <a:tc>
                  <a:txBody>
                    <a:bodyPr/>
                    <a:lstStyle/>
                    <a:p>
                      <a:pPr algn="l" fontAlgn="b"/>
                      <a:r>
                        <a:rPr lang="en-US" sz="900" b="0" i="0" u="none" strike="noStrike" dirty="0">
                          <a:solidFill>
                            <a:srgbClr val="000000"/>
                          </a:solidFill>
                          <a:effectLst/>
                          <a:latin typeface="+mj-lt"/>
                        </a:rPr>
                        <a:t>Other charges</a:t>
                      </a:r>
                    </a:p>
                  </a:txBody>
                  <a:tcPr anchor="ctr"/>
                </a:tc>
                <a:tc>
                  <a:txBody>
                    <a:bodyPr/>
                    <a:lstStyle/>
                    <a:p>
                      <a:r>
                        <a:rPr lang="en-US" sz="900" i="0" dirty="0">
                          <a:latin typeface="+mj-lt"/>
                        </a:rPr>
                        <a:t>1.75</a:t>
                      </a:r>
                      <a:endParaRPr lang="en-IN" sz="900" i="0" dirty="0">
                        <a:latin typeface="+mj-lt"/>
                      </a:endParaRPr>
                    </a:p>
                  </a:txBody>
                  <a:tcPr anchor="ct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US" sz="900" i="1" dirty="0">
                          <a:latin typeface="+mj-lt"/>
                        </a:rPr>
                        <a:t>Port</a:t>
                      </a:r>
                      <a:r>
                        <a:rPr lang="en-US" sz="900" i="1" baseline="0" dirty="0">
                          <a:latin typeface="+mj-lt"/>
                        </a:rPr>
                        <a:t> costs, </a:t>
                      </a:r>
                      <a:r>
                        <a:rPr lang="en-US" sz="900" i="1" kern="1200" dirty="0">
                          <a:solidFill>
                            <a:schemeClr val="tx1"/>
                          </a:solidFill>
                          <a:latin typeface="+mn-lt"/>
                          <a:ea typeface="+mn-ea"/>
                          <a:cs typeface="+mn-cs"/>
                        </a:rPr>
                        <a:t>financing, surveying and administrative expense</a:t>
                      </a:r>
                      <a:endParaRPr lang="en-IN" sz="900" i="1" kern="1200" dirty="0">
                        <a:solidFill>
                          <a:schemeClr val="tx1"/>
                        </a:solidFill>
                        <a:latin typeface="+mn-lt"/>
                        <a:ea typeface="+mn-ea"/>
                        <a:cs typeface="+mn-cs"/>
                      </a:endParaRPr>
                    </a:p>
                  </a:txBody>
                  <a:tcPr anchor="ctr"/>
                </a:tc>
                <a:extLst>
                  <a:ext uri="{0D108BD9-81ED-4DB2-BD59-A6C34878D82A}">
                    <a16:rowId xmlns:a16="http://schemas.microsoft.com/office/drawing/2014/main" val="2831035279"/>
                  </a:ext>
                </a:extLst>
              </a:tr>
              <a:tr h="383733">
                <a:tc>
                  <a:txBody>
                    <a:bodyPr/>
                    <a:lstStyle/>
                    <a:p>
                      <a:pPr algn="l" fontAlgn="b"/>
                      <a:r>
                        <a:rPr lang="en-US" sz="900" b="0" i="0" u="none" strike="noStrike" dirty="0">
                          <a:solidFill>
                            <a:srgbClr val="000000"/>
                          </a:solidFill>
                          <a:effectLst/>
                          <a:latin typeface="+mj-lt"/>
                        </a:rPr>
                        <a:t>Selling &amp; Distribution Cost ()</a:t>
                      </a:r>
                    </a:p>
                  </a:txBody>
                  <a:tcPr anchor="ctr"/>
                </a:tc>
                <a:tc>
                  <a:txBody>
                    <a:bodyPr/>
                    <a:lstStyle/>
                    <a:p>
                      <a:r>
                        <a:rPr lang="en-US" sz="900" i="0" dirty="0">
                          <a:latin typeface="+mj-lt"/>
                        </a:rPr>
                        <a:t>1.30</a:t>
                      </a:r>
                      <a:endParaRPr lang="en-IN" sz="900" i="0" dirty="0">
                        <a:latin typeface="+mj-lt"/>
                      </a:endParaRPr>
                    </a:p>
                  </a:txBody>
                  <a:tcPr anchor="ct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US" sz="900" i="1" dirty="0">
                          <a:latin typeface="+mj-lt"/>
                        </a:rPr>
                        <a:t>Transit Loss &amp; Transportation to depot</a:t>
                      </a:r>
                      <a:endParaRPr lang="en-IN" sz="900" i="1" dirty="0">
                        <a:latin typeface="+mj-lt"/>
                      </a:endParaRPr>
                    </a:p>
                  </a:txBody>
                  <a:tcPr anchor="ctr"/>
                </a:tc>
                <a:extLst>
                  <a:ext uri="{0D108BD9-81ED-4DB2-BD59-A6C34878D82A}">
                    <a16:rowId xmlns:a16="http://schemas.microsoft.com/office/drawing/2014/main" val="849879817"/>
                  </a:ext>
                </a:extLst>
              </a:tr>
              <a:tr h="343132">
                <a:tc>
                  <a:txBody>
                    <a:bodyPr/>
                    <a:lstStyle/>
                    <a:p>
                      <a:pPr algn="l" fontAlgn="b"/>
                      <a:r>
                        <a:rPr lang="en-IN" sz="900" b="0" i="0" u="none" strike="noStrike" dirty="0">
                          <a:solidFill>
                            <a:srgbClr val="000000"/>
                          </a:solidFill>
                          <a:effectLst/>
                          <a:latin typeface="+mj-lt"/>
                        </a:rPr>
                        <a:t>BPC's Margin</a:t>
                      </a:r>
                    </a:p>
                  </a:txBody>
                  <a:tcPr anchor="ctr"/>
                </a:tc>
                <a:tc>
                  <a:txBody>
                    <a:bodyPr/>
                    <a:lstStyle/>
                    <a:p>
                      <a:r>
                        <a:rPr lang="en-US" sz="900" i="0" dirty="0">
                          <a:latin typeface="+mj-lt"/>
                        </a:rPr>
                        <a:t>4.70</a:t>
                      </a:r>
                      <a:endParaRPr lang="en-IN" sz="900" i="0" dirty="0">
                        <a:latin typeface="+mj-lt"/>
                      </a:endParaRPr>
                    </a:p>
                  </a:txBody>
                  <a:tcPr anchor="ct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US" sz="900" i="1" dirty="0">
                          <a:latin typeface="+mj-lt"/>
                        </a:rPr>
                        <a:t>10% on total cost till sale to dealer</a:t>
                      </a:r>
                      <a:endParaRPr lang="en-IN" sz="900" i="1" dirty="0">
                        <a:latin typeface="+mj-lt"/>
                      </a:endParaRPr>
                    </a:p>
                  </a:txBody>
                  <a:tcPr anchor="ctr"/>
                </a:tc>
                <a:extLst>
                  <a:ext uri="{0D108BD9-81ED-4DB2-BD59-A6C34878D82A}">
                    <a16:rowId xmlns:a16="http://schemas.microsoft.com/office/drawing/2014/main" val="3409875260"/>
                  </a:ext>
                </a:extLst>
              </a:tr>
              <a:tr h="343132">
                <a:tc>
                  <a:txBody>
                    <a:bodyPr/>
                    <a:lstStyle/>
                    <a:p>
                      <a:pPr algn="l" fontAlgn="b"/>
                      <a:r>
                        <a:rPr lang="en-US" sz="900" b="0" i="0" u="none" strike="noStrike" dirty="0">
                          <a:solidFill>
                            <a:srgbClr val="000000"/>
                          </a:solidFill>
                          <a:effectLst/>
                          <a:latin typeface="+mj-lt"/>
                        </a:rPr>
                        <a:t>Dealer costs</a:t>
                      </a:r>
                    </a:p>
                  </a:txBody>
                  <a:tcPr anchor="ctr"/>
                </a:tc>
                <a:tc>
                  <a:txBody>
                    <a:bodyPr/>
                    <a:lstStyle/>
                    <a:p>
                      <a:r>
                        <a:rPr lang="en-US" sz="900" i="0" dirty="0">
                          <a:latin typeface="+mj-lt"/>
                        </a:rPr>
                        <a:t>5</a:t>
                      </a:r>
                      <a:endParaRPr lang="en-IN" sz="900" i="0" dirty="0">
                        <a:latin typeface="+mj-lt"/>
                      </a:endParaRPr>
                    </a:p>
                  </a:txBody>
                  <a:tcPr anchor="ctr"/>
                </a:tc>
                <a:tc>
                  <a:txBody>
                    <a:bodyPr/>
                    <a:lstStyle/>
                    <a:p>
                      <a:pPr algn="l" fontAlgn="b"/>
                      <a:r>
                        <a:rPr lang="en-US" sz="900" b="0" i="1" u="none" strike="noStrike" kern="1200" dirty="0">
                          <a:solidFill>
                            <a:srgbClr val="000000"/>
                          </a:solidFill>
                          <a:effectLst/>
                          <a:latin typeface="+mn-lt"/>
                          <a:ea typeface="+mn-ea"/>
                          <a:cs typeface="+mn-cs"/>
                        </a:rPr>
                        <a:t>Transportation to dealer and dealer margin</a:t>
                      </a:r>
                    </a:p>
                  </a:txBody>
                  <a:tcPr anchor="ctr"/>
                </a:tc>
                <a:extLst>
                  <a:ext uri="{0D108BD9-81ED-4DB2-BD59-A6C34878D82A}">
                    <a16:rowId xmlns:a16="http://schemas.microsoft.com/office/drawing/2014/main" val="1337773040"/>
                  </a:ext>
                </a:extLst>
              </a:tr>
              <a:tr h="343132">
                <a:tc>
                  <a:txBody>
                    <a:bodyPr/>
                    <a:lstStyle/>
                    <a:p>
                      <a:pPr algn="l" fontAlgn="b"/>
                      <a:r>
                        <a:rPr lang="en-IN" sz="900" b="1" i="0" u="none" strike="noStrike" dirty="0">
                          <a:solidFill>
                            <a:srgbClr val="000000"/>
                          </a:solidFill>
                          <a:effectLst/>
                          <a:latin typeface="+mj-lt"/>
                        </a:rPr>
                        <a:t>Total End/Customer Level Cost</a:t>
                      </a:r>
                    </a:p>
                  </a:txBody>
                  <a:tcPr anchor="ctr"/>
                </a:tc>
                <a:tc>
                  <a:txBody>
                    <a:bodyPr/>
                    <a:lstStyle/>
                    <a:p>
                      <a:r>
                        <a:rPr lang="en-US" sz="900" b="1" i="0" dirty="0">
                          <a:latin typeface="+mj-lt"/>
                        </a:rPr>
                        <a:t>56.59</a:t>
                      </a:r>
                      <a:endParaRPr lang="en-IN" sz="900" b="1" i="0" dirty="0">
                        <a:latin typeface="+mj-lt"/>
                      </a:endParaRPr>
                    </a:p>
                  </a:txBody>
                  <a:tcPr anchor="ctr"/>
                </a:tc>
                <a:tc>
                  <a:txBody>
                    <a:bodyPr/>
                    <a:lstStyle/>
                    <a:p>
                      <a:endParaRPr lang="en-IN" sz="900" b="1" i="0" dirty="0">
                        <a:latin typeface="+mj-lt"/>
                      </a:endParaRPr>
                    </a:p>
                  </a:txBody>
                  <a:tcPr anchor="ctr"/>
                </a:tc>
                <a:extLst>
                  <a:ext uri="{0D108BD9-81ED-4DB2-BD59-A6C34878D82A}">
                    <a16:rowId xmlns:a16="http://schemas.microsoft.com/office/drawing/2014/main" val="2598767121"/>
                  </a:ext>
                </a:extLst>
              </a:tr>
            </a:tbl>
          </a:graphicData>
        </a:graphic>
      </p:graphicFrame>
      <p:graphicFrame>
        <p:nvGraphicFramePr>
          <p:cNvPr id="48" name="Table 47"/>
          <p:cNvGraphicFramePr>
            <a:graphicFrameLocks noGrp="1"/>
          </p:cNvGraphicFramePr>
          <p:nvPr>
            <p:custDataLst>
              <p:tags r:id="rId4"/>
            </p:custDataLst>
            <p:extLst>
              <p:ext uri="{D42A27DB-BD31-4B8C-83A1-F6EECF244321}">
                <p14:modId xmlns:p14="http://schemas.microsoft.com/office/powerpoint/2010/main" val="3756313181"/>
              </p:ext>
            </p:extLst>
          </p:nvPr>
        </p:nvGraphicFramePr>
        <p:xfrm>
          <a:off x="383700" y="1961920"/>
          <a:ext cx="4732062" cy="2377277"/>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2377277">
                <a:tc>
                  <a:txBody>
                    <a:bodyPr/>
                    <a:lstStyle/>
                    <a:p>
                      <a:pPr marL="0" indent="0" algn="just">
                        <a:spcAft>
                          <a:spcPts val="500"/>
                        </a:spcAft>
                        <a:buFont typeface="Arial" panose="020B0604020202020204" pitchFamily="34" charset="0"/>
                        <a:buNone/>
                      </a:pPr>
                      <a:r>
                        <a:rPr lang="en-US" sz="1000" b="1" baseline="0" dirty="0">
                          <a:solidFill>
                            <a:schemeClr val="tx1"/>
                          </a:solidFill>
                        </a:rPr>
                        <a:t>HSD Pricing mechanism</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HSD pricing is linked to Platts Rate (FOB Gulf). The CIF value of HSD is acquired at a premium per barrel to the Platts rate</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However, the selling rate is fixed by the GoB and does not seem to linked to actual cost of supply of diesel in Bangladesh</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Following figure indicates movement of Crude Oil with HSD landed cost, (3 month lag in price movement) and the government fixed price of HSD</a:t>
                      </a:r>
                      <a:endParaRPr lang="en-IN" sz="1000" b="0" kern="1200" baseline="0" dirty="0">
                        <a:solidFill>
                          <a:schemeClr val="tx1"/>
                        </a:solidFill>
                        <a:latin typeface="+mn-lt"/>
                        <a:ea typeface="+mn-ea"/>
                        <a:cs typeface="+mn-cs"/>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12" name="Rectangle 11"/>
          <p:cNvSpPr/>
          <p:nvPr/>
        </p:nvSpPr>
        <p:spPr bwMode="gray">
          <a:xfrm>
            <a:off x="377227" y="7260740"/>
            <a:ext cx="9324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BPC, Industry Reports, Deloitte Analysis;</a:t>
            </a:r>
            <a:r>
              <a:rPr kumimoji="0" lang="en-US" sz="700" b="0" i="1" u="none" strike="noStrike" kern="1200" cap="none" spc="0" normalizeH="0" noProof="0" dirty="0">
                <a:ln>
                  <a:noFill/>
                </a:ln>
                <a:solidFill>
                  <a:prstClr val="black"/>
                </a:solidFill>
                <a:effectLst/>
                <a:uLnTx/>
                <a:uFillTx/>
                <a:latin typeface="Verdana"/>
                <a:ea typeface="+mn-ea"/>
                <a:cs typeface="+mn-cs"/>
              </a:rPr>
              <a:t> Note 1) The premium, taxes, duties, margins and losses considered for estimation of landed cost of HSD in Bangladesh is based on industry estimates</a:t>
            </a:r>
            <a:endParaRPr kumimoji="0" lang="en-US" sz="700" b="0" i="1" u="none" strike="noStrike" kern="1200" cap="none" spc="0" normalizeH="0" baseline="0" noProof="0" dirty="0">
              <a:ln>
                <a:noFill/>
              </a:ln>
              <a:solidFill>
                <a:prstClr val="black"/>
              </a:solidFill>
              <a:effectLst/>
              <a:uLnTx/>
              <a:uFillTx/>
              <a:latin typeface="Verdana"/>
              <a:ea typeface="+mn-ea"/>
              <a:cs typeface="+mn-cs"/>
            </a:endParaRPr>
          </a:p>
        </p:txBody>
      </p:sp>
      <p:cxnSp>
        <p:nvCxnSpPr>
          <p:cNvPr id="19" name="Straight Connector 18"/>
          <p:cNvCxnSpPr/>
          <p:nvPr>
            <p:custDataLst>
              <p:tags r:id="rId5"/>
            </p:custDataLst>
          </p:nvPr>
        </p:nvCxnSpPr>
        <p:spPr bwMode="auto">
          <a:xfrm flipV="1">
            <a:off x="3043238" y="6113463"/>
            <a:ext cx="0" cy="33338"/>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custDataLst>
              <p:tags r:id="rId6"/>
            </p:custDataLst>
          </p:nvPr>
        </p:nvCxnSpPr>
        <p:spPr bwMode="auto">
          <a:xfrm flipV="1">
            <a:off x="671513" y="6113463"/>
            <a:ext cx="0" cy="33338"/>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custDataLst>
              <p:tags r:id="rId7"/>
            </p:custDataLst>
          </p:nvPr>
        </p:nvCxnSpPr>
        <p:spPr bwMode="auto">
          <a:xfrm flipV="1">
            <a:off x="1857375" y="6113463"/>
            <a:ext cx="0" cy="33338"/>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custDataLst>
              <p:tags r:id="rId8"/>
            </p:custDataLst>
          </p:nvPr>
        </p:nvCxnSpPr>
        <p:spPr bwMode="auto">
          <a:xfrm flipV="1">
            <a:off x="1066800" y="6113463"/>
            <a:ext cx="0" cy="33338"/>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custDataLst>
              <p:tags r:id="rId9"/>
            </p:custDataLst>
          </p:nvPr>
        </p:nvCxnSpPr>
        <p:spPr bwMode="auto">
          <a:xfrm flipV="1">
            <a:off x="1462088" y="6113463"/>
            <a:ext cx="0" cy="33338"/>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custDataLst>
              <p:tags r:id="rId10"/>
            </p:custDataLst>
          </p:nvPr>
        </p:nvCxnSpPr>
        <p:spPr bwMode="auto">
          <a:xfrm flipV="1">
            <a:off x="2252663" y="6113463"/>
            <a:ext cx="0" cy="33338"/>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custDataLst>
              <p:tags r:id="rId11"/>
            </p:custDataLst>
          </p:nvPr>
        </p:nvCxnSpPr>
        <p:spPr bwMode="auto">
          <a:xfrm flipV="1">
            <a:off x="2647950" y="6113463"/>
            <a:ext cx="0" cy="33338"/>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custDataLst>
              <p:tags r:id="rId12"/>
            </p:custDataLst>
          </p:nvPr>
        </p:nvCxnSpPr>
        <p:spPr bwMode="auto">
          <a:xfrm flipV="1">
            <a:off x="3438525" y="6113463"/>
            <a:ext cx="0" cy="33338"/>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custDataLst>
              <p:tags r:id="rId13"/>
            </p:custDataLst>
          </p:nvPr>
        </p:nvCxnSpPr>
        <p:spPr bwMode="auto">
          <a:xfrm flipV="1">
            <a:off x="3833813" y="6113463"/>
            <a:ext cx="0" cy="33338"/>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custDataLst>
              <p:tags r:id="rId14"/>
            </p:custDataLst>
          </p:nvPr>
        </p:nvCxnSpPr>
        <p:spPr bwMode="auto">
          <a:xfrm flipV="1">
            <a:off x="4229100" y="6113463"/>
            <a:ext cx="0" cy="33338"/>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custDataLst>
              <p:tags r:id="rId15"/>
            </p:custDataLst>
          </p:nvPr>
        </p:nvCxnSpPr>
        <p:spPr bwMode="auto">
          <a:xfrm flipV="1">
            <a:off x="4624388" y="6113463"/>
            <a:ext cx="0" cy="33338"/>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52" name="Chart 51"/>
          <p:cNvGraphicFramePr/>
          <p:nvPr>
            <p:custDataLst>
              <p:tags r:id="rId16"/>
            </p:custDataLst>
            <p:extLst>
              <p:ext uri="{D42A27DB-BD31-4B8C-83A1-F6EECF244321}">
                <p14:modId xmlns:p14="http://schemas.microsoft.com/office/powerpoint/2010/main" val="1473631074"/>
              </p:ext>
            </p:extLst>
          </p:nvPr>
        </p:nvGraphicFramePr>
        <p:xfrm>
          <a:off x="284163" y="3786188"/>
          <a:ext cx="4727575" cy="2411412"/>
        </p:xfrm>
        <a:graphic>
          <a:graphicData uri="http://schemas.openxmlformats.org/drawingml/2006/chart">
            <c:chart xmlns:c="http://schemas.openxmlformats.org/drawingml/2006/chart" xmlns:r="http://schemas.openxmlformats.org/officeDocument/2006/relationships" r:id="rId37"/>
          </a:graphicData>
        </a:graphic>
      </p:graphicFrame>
      <p:sp>
        <p:nvSpPr>
          <p:cNvPr id="29" name="StandardTextbox"/>
          <p:cNvSpPr>
            <a:spLocks noGrp="1"/>
          </p:cNvSpPr>
          <p:nvPr>
            <p:custDataLst>
              <p:tags r:id="rId17"/>
            </p:custDataLst>
          </p:nvPr>
        </p:nvSpPr>
        <p:spPr bwMode="gray">
          <a:xfrm>
            <a:off x="893763" y="6180138"/>
            <a:ext cx="347663"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94B91D9-1D80-4384-943B-FC268B73318F}" type="datetime'''''J''''an''''''''''''''''''-1''2'''''''''''''''''''''''''''">
              <a:rPr lang="en-IN" altLang="en-US" sz="800" b="0" smtClean="0"/>
              <a:pPr lvl="1" algn="ctr">
                <a:spcBef>
                  <a:spcPct val="0"/>
                </a:spcBef>
                <a:spcAft>
                  <a:spcPct val="0"/>
                </a:spcAft>
              </a:pPr>
              <a:t>Jan-12</a:t>
            </a:fld>
            <a:endParaRPr lang="en-IN" sz="800" b="0" noProof="0" dirty="0">
              <a:sym typeface="+mn-lt"/>
            </a:endParaRPr>
          </a:p>
        </p:txBody>
      </p:sp>
      <p:sp>
        <p:nvSpPr>
          <p:cNvPr id="31" name="StandardTextbox"/>
          <p:cNvSpPr>
            <a:spLocks noGrp="1"/>
          </p:cNvSpPr>
          <p:nvPr>
            <p:custDataLst>
              <p:tags r:id="rId18"/>
            </p:custDataLst>
          </p:nvPr>
        </p:nvSpPr>
        <p:spPr bwMode="gray">
          <a:xfrm>
            <a:off x="3660775" y="6180138"/>
            <a:ext cx="347663"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94BEBFE-1C0F-43E6-978F-5C161BD083E3}" type="datetime'''''''''''''J''a''''''''n''''-''19'''">
              <a:rPr lang="en-IN" altLang="en-US" sz="800" b="0" smtClean="0"/>
              <a:pPr lvl="1" algn="ctr">
                <a:spcBef>
                  <a:spcPct val="0"/>
                </a:spcBef>
                <a:spcAft>
                  <a:spcPct val="0"/>
                </a:spcAft>
              </a:pPr>
              <a:t>Jan-19</a:t>
            </a:fld>
            <a:endParaRPr lang="en-IN" sz="800" b="0" noProof="0" dirty="0">
              <a:sym typeface="+mn-lt"/>
            </a:endParaRPr>
          </a:p>
        </p:txBody>
      </p:sp>
      <p:sp>
        <p:nvSpPr>
          <p:cNvPr id="28" name="StandardTextbox"/>
          <p:cNvSpPr>
            <a:spLocks noGrp="1"/>
          </p:cNvSpPr>
          <p:nvPr>
            <p:custDataLst>
              <p:tags r:id="rId19"/>
            </p:custDataLst>
          </p:nvPr>
        </p:nvSpPr>
        <p:spPr bwMode="gray">
          <a:xfrm>
            <a:off x="1289050" y="6180138"/>
            <a:ext cx="347663"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201F3DE-016B-440D-8589-F6750562E92A}" type="datetime'''''''''''''''''''''Ja''n''-''''''''''''1''''''''''3'''''">
              <a:rPr lang="en-IN" altLang="en-US" sz="800" b="0" smtClean="0"/>
              <a:pPr lvl="1" algn="ctr">
                <a:spcBef>
                  <a:spcPct val="0"/>
                </a:spcBef>
                <a:spcAft>
                  <a:spcPct val="0"/>
                </a:spcAft>
              </a:pPr>
              <a:t>Jan-13</a:t>
            </a:fld>
            <a:endParaRPr lang="en-IN" sz="800" b="0" noProof="0" dirty="0">
              <a:sym typeface="+mn-lt"/>
            </a:endParaRPr>
          </a:p>
        </p:txBody>
      </p:sp>
      <p:sp>
        <p:nvSpPr>
          <p:cNvPr id="27" name="StandardTextbox"/>
          <p:cNvSpPr>
            <a:spLocks noGrp="1"/>
          </p:cNvSpPr>
          <p:nvPr>
            <p:custDataLst>
              <p:tags r:id="rId20"/>
            </p:custDataLst>
          </p:nvPr>
        </p:nvSpPr>
        <p:spPr bwMode="gray">
          <a:xfrm>
            <a:off x="2079625" y="6180138"/>
            <a:ext cx="347663"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D06556A-0C9E-4DF8-ACE9-7399FF036B84}" type="datetime'''''''''Ja''''''''n''''''''''''''''''-15'">
              <a:rPr lang="en-IN" altLang="en-US" sz="800" b="0" smtClean="0"/>
              <a:pPr lvl="1" algn="ctr">
                <a:spcBef>
                  <a:spcPct val="0"/>
                </a:spcBef>
                <a:spcAft>
                  <a:spcPct val="0"/>
                </a:spcAft>
              </a:pPr>
              <a:t>Jan-15</a:t>
            </a:fld>
            <a:endParaRPr lang="en-IN" sz="800" b="0" noProof="0" dirty="0">
              <a:sym typeface="+mn-lt"/>
            </a:endParaRPr>
          </a:p>
        </p:txBody>
      </p:sp>
      <p:sp>
        <p:nvSpPr>
          <p:cNvPr id="26" name="StandardTextbox"/>
          <p:cNvSpPr>
            <a:spLocks noGrp="1"/>
          </p:cNvSpPr>
          <p:nvPr>
            <p:custDataLst>
              <p:tags r:id="rId21"/>
            </p:custDataLst>
          </p:nvPr>
        </p:nvSpPr>
        <p:spPr bwMode="gray">
          <a:xfrm>
            <a:off x="1684338" y="6180138"/>
            <a:ext cx="347663"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C91EF11-0056-4F2E-B7B7-13739F7534C8}" type="datetime'''''''''J''''''''''''''''''''''a''''''''''n-''''''''14'">
              <a:rPr lang="en-IN" altLang="en-US" sz="800" b="0" smtClean="0"/>
              <a:pPr lvl="1" algn="ctr">
                <a:spcBef>
                  <a:spcPct val="0"/>
                </a:spcBef>
                <a:spcAft>
                  <a:spcPct val="0"/>
                </a:spcAft>
              </a:pPr>
              <a:t>Jan-14</a:t>
            </a:fld>
            <a:endParaRPr lang="en-IN" sz="800" b="0" noProof="0" dirty="0">
              <a:sym typeface="+mn-lt"/>
            </a:endParaRPr>
          </a:p>
        </p:txBody>
      </p:sp>
      <p:sp>
        <p:nvSpPr>
          <p:cNvPr id="25" name="StandardTextbox"/>
          <p:cNvSpPr>
            <a:spLocks noGrp="1"/>
          </p:cNvSpPr>
          <p:nvPr>
            <p:custDataLst>
              <p:tags r:id="rId22"/>
            </p:custDataLst>
          </p:nvPr>
        </p:nvSpPr>
        <p:spPr bwMode="gray">
          <a:xfrm>
            <a:off x="2474913" y="6180138"/>
            <a:ext cx="347663"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F782217-7DE3-464E-9F9F-A941D2E9B034}" type="datetime'''''''J''a''''''''''''''''n''-''''''16'''''">
              <a:rPr lang="en-IN" altLang="en-US" sz="800" b="0" smtClean="0"/>
              <a:pPr lvl="1" algn="ctr">
                <a:spcBef>
                  <a:spcPct val="0"/>
                </a:spcBef>
                <a:spcAft>
                  <a:spcPct val="0"/>
                </a:spcAft>
              </a:pPr>
              <a:t>Jan-16</a:t>
            </a:fld>
            <a:endParaRPr lang="en-IN" sz="800" b="0" noProof="0" dirty="0">
              <a:sym typeface="+mn-lt"/>
            </a:endParaRPr>
          </a:p>
        </p:txBody>
      </p:sp>
      <p:sp>
        <p:nvSpPr>
          <p:cNvPr id="30" name="StandardTextbox"/>
          <p:cNvSpPr>
            <a:spLocks noGrp="1"/>
          </p:cNvSpPr>
          <p:nvPr>
            <p:custDataLst>
              <p:tags r:id="rId23"/>
            </p:custDataLst>
          </p:nvPr>
        </p:nvSpPr>
        <p:spPr bwMode="gray">
          <a:xfrm>
            <a:off x="2870200" y="6180138"/>
            <a:ext cx="347663"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33DDC9E-409C-4715-829D-1DCDB89E69CA}" type="datetime'''''''''''''J''''''''an-''''''''''1''''''''''''''''''''''7'''">
              <a:rPr lang="en-IN" altLang="en-US" sz="800" b="0" smtClean="0"/>
              <a:pPr lvl="1" algn="ctr">
                <a:spcBef>
                  <a:spcPct val="0"/>
                </a:spcBef>
                <a:spcAft>
                  <a:spcPct val="0"/>
                </a:spcAft>
              </a:pPr>
              <a:t>Jan-17</a:t>
            </a:fld>
            <a:endParaRPr lang="en-IN" sz="800" b="0" noProof="0" dirty="0">
              <a:sym typeface="+mn-lt"/>
            </a:endParaRPr>
          </a:p>
        </p:txBody>
      </p:sp>
      <p:sp>
        <p:nvSpPr>
          <p:cNvPr id="32" name="StandardTextbox"/>
          <p:cNvSpPr>
            <a:spLocks noGrp="1"/>
          </p:cNvSpPr>
          <p:nvPr>
            <p:custDataLst>
              <p:tags r:id="rId24"/>
            </p:custDataLst>
          </p:nvPr>
        </p:nvSpPr>
        <p:spPr bwMode="gray">
          <a:xfrm>
            <a:off x="3265488" y="6180138"/>
            <a:ext cx="347663"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D77C3BF5-5757-41AB-9CA9-491C5A1F5339}" type="datetime'J''''''''''a''''''n-''''1''''''''''''8'''''''''''''''''''''">
              <a:rPr lang="en-IN" altLang="en-US" sz="800" b="0" smtClean="0"/>
              <a:pPr lvl="1" algn="ctr">
                <a:spcBef>
                  <a:spcPct val="0"/>
                </a:spcBef>
                <a:spcAft>
                  <a:spcPct val="0"/>
                </a:spcAft>
              </a:pPr>
              <a:t>Jan-18</a:t>
            </a:fld>
            <a:endParaRPr lang="en-IN" sz="800" b="0" noProof="0" dirty="0">
              <a:sym typeface="+mn-lt"/>
            </a:endParaRPr>
          </a:p>
        </p:txBody>
      </p:sp>
      <p:sp>
        <p:nvSpPr>
          <p:cNvPr id="33" name="StandardTextbox"/>
          <p:cNvSpPr>
            <a:spLocks noGrp="1"/>
          </p:cNvSpPr>
          <p:nvPr>
            <p:custDataLst>
              <p:tags r:id="rId25"/>
            </p:custDataLst>
          </p:nvPr>
        </p:nvSpPr>
        <p:spPr bwMode="gray">
          <a:xfrm>
            <a:off x="4056063" y="6180138"/>
            <a:ext cx="347663"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CC0CF4D-961A-4AA1-83BA-A99D377BAF00}" type="datetime'Ja''''n''''-''''''''''''''''''''''''''''2''0'''">
              <a:rPr lang="en-IN" altLang="en-US" sz="800" b="0" smtClean="0"/>
              <a:pPr lvl="1" algn="ctr">
                <a:spcBef>
                  <a:spcPct val="0"/>
                </a:spcBef>
                <a:spcAft>
                  <a:spcPct val="0"/>
                </a:spcAft>
              </a:pPr>
              <a:t>Jan-20</a:t>
            </a:fld>
            <a:endParaRPr lang="en-IN" sz="800" b="0" noProof="0" dirty="0">
              <a:sym typeface="+mn-lt"/>
            </a:endParaRPr>
          </a:p>
        </p:txBody>
      </p:sp>
      <p:sp>
        <p:nvSpPr>
          <p:cNvPr id="34" name="StandardTextbox"/>
          <p:cNvSpPr>
            <a:spLocks noGrp="1"/>
          </p:cNvSpPr>
          <p:nvPr>
            <p:custDataLst>
              <p:tags r:id="rId26"/>
            </p:custDataLst>
          </p:nvPr>
        </p:nvSpPr>
        <p:spPr bwMode="auto">
          <a:xfrm>
            <a:off x="403225" y="3605213"/>
            <a:ext cx="538163"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r>
              <a:rPr lang="en-IN" altLang="en-US" sz="800" b="0" dirty="0">
                <a:sym typeface="+mn-lt"/>
              </a:rPr>
              <a:t>USD / BBL</a:t>
            </a:r>
            <a:endParaRPr lang="en-IN" sz="800" b="0" noProof="0" dirty="0">
              <a:sym typeface="+mn-lt"/>
            </a:endParaRPr>
          </a:p>
        </p:txBody>
      </p:sp>
      <p:sp>
        <p:nvSpPr>
          <p:cNvPr id="35" name="StandardTextbox"/>
          <p:cNvSpPr>
            <a:spLocks noGrp="1"/>
          </p:cNvSpPr>
          <p:nvPr>
            <p:custDataLst>
              <p:tags r:id="rId27"/>
            </p:custDataLst>
          </p:nvPr>
        </p:nvSpPr>
        <p:spPr bwMode="auto">
          <a:xfrm>
            <a:off x="4389438" y="3605213"/>
            <a:ext cx="46990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r>
              <a:rPr lang="en-IN" altLang="en-US" sz="800" b="0" dirty="0">
                <a:sym typeface="+mn-lt"/>
              </a:rPr>
              <a:t>Tk / Litre</a:t>
            </a:r>
            <a:endParaRPr lang="en-IN" sz="800" b="0" noProof="0" dirty="0">
              <a:sym typeface="+mn-lt"/>
            </a:endParaRPr>
          </a:p>
        </p:txBody>
      </p:sp>
      <p:cxnSp>
        <p:nvCxnSpPr>
          <p:cNvPr id="37" name="Straight Connector 36"/>
          <p:cNvCxnSpPr/>
          <p:nvPr>
            <p:custDataLst>
              <p:tags r:id="rId28"/>
            </p:custDataLst>
          </p:nvPr>
        </p:nvCxnSpPr>
        <p:spPr bwMode="gray">
          <a:xfrm>
            <a:off x="519113" y="6442075"/>
            <a:ext cx="85725" cy="0"/>
          </a:xfrm>
          <a:prstGeom prst="line">
            <a:avLst/>
          </a:prstGeom>
          <a:ln w="28575" cap="rnd" cmpd="sng" algn="ctr">
            <a:solidFill>
              <a:srgbClr val="86BC25"/>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custDataLst>
              <p:tags r:id="rId29"/>
            </p:custDataLst>
          </p:nvPr>
        </p:nvCxnSpPr>
        <p:spPr bwMode="gray">
          <a:xfrm>
            <a:off x="519113" y="6615113"/>
            <a:ext cx="85725" cy="0"/>
          </a:xfrm>
          <a:prstGeom prst="line">
            <a:avLst/>
          </a:prstGeom>
          <a:ln w="28575" cap="rnd" cmpd="sng" algn="ctr">
            <a:solidFill>
              <a:schemeClr val="accent3"/>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custDataLst>
              <p:tags r:id="rId30"/>
            </p:custDataLst>
          </p:nvPr>
        </p:nvCxnSpPr>
        <p:spPr bwMode="gray">
          <a:xfrm>
            <a:off x="2689225" y="6442075"/>
            <a:ext cx="85725" cy="0"/>
          </a:xfrm>
          <a:prstGeom prst="line">
            <a:avLst/>
          </a:prstGeom>
          <a:ln w="28575" cap="rnd" cmpd="sng" algn="ctr">
            <a:solidFill>
              <a:schemeClr val="accent4"/>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StandardTextbox"/>
          <p:cNvSpPr>
            <a:spLocks noGrp="1"/>
          </p:cNvSpPr>
          <p:nvPr>
            <p:custDataLst>
              <p:tags r:id="rId31"/>
            </p:custDataLst>
          </p:nvPr>
        </p:nvSpPr>
        <p:spPr bwMode="auto">
          <a:xfrm>
            <a:off x="684213" y="6384925"/>
            <a:ext cx="165100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7E841C43-7FB4-4C41-AC3F-3EFC64F4C755}" type="datetime'''''Brent Cr''u''de o''i''''l pric''''e (U''''''SD''/''BBL'')'">
              <a:rPr lang="en-US" altLang="en-US" sz="800" b="0" smtClean="0"/>
              <a:pPr lvl="1">
                <a:spcBef>
                  <a:spcPct val="0"/>
                </a:spcBef>
                <a:spcAft>
                  <a:spcPct val="0"/>
                </a:spcAft>
              </a:pPr>
              <a:t>Brent Crude oil price (USD/BBL)</a:t>
            </a:fld>
            <a:endParaRPr lang="en-IN" sz="800" b="0" noProof="0" dirty="0">
              <a:sym typeface="+mn-lt"/>
            </a:endParaRPr>
          </a:p>
        </p:txBody>
      </p:sp>
      <p:sp>
        <p:nvSpPr>
          <p:cNvPr id="40" name="StandardTextbox"/>
          <p:cNvSpPr>
            <a:spLocks noGrp="1"/>
          </p:cNvSpPr>
          <p:nvPr>
            <p:custDataLst>
              <p:tags r:id="rId32"/>
            </p:custDataLst>
          </p:nvPr>
        </p:nvSpPr>
        <p:spPr bwMode="auto">
          <a:xfrm>
            <a:off x="2854325" y="6384925"/>
            <a:ext cx="1751013"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0A5305C2-86C4-4403-9DCB-C4B757966A79}" type="datetime'Ac''tual'' HSD ''S''ell''ing'' R''ate ''(T''k/L''''''itre)'">
              <a:rPr lang="en-US" altLang="en-US" sz="800" b="0" smtClean="0"/>
              <a:pPr lvl="1">
                <a:spcBef>
                  <a:spcPct val="0"/>
                </a:spcBef>
                <a:spcAft>
                  <a:spcPct val="0"/>
                </a:spcAft>
              </a:pPr>
              <a:t>Actual HSD Selling Rate (Tk/Litre)</a:t>
            </a:fld>
            <a:endParaRPr lang="en-IN" sz="800" b="0" noProof="0" dirty="0">
              <a:sym typeface="+mn-lt"/>
            </a:endParaRPr>
          </a:p>
        </p:txBody>
      </p:sp>
      <p:sp>
        <p:nvSpPr>
          <p:cNvPr id="41" name="StandardTextbox"/>
          <p:cNvSpPr>
            <a:spLocks noGrp="1"/>
          </p:cNvSpPr>
          <p:nvPr>
            <p:custDataLst>
              <p:tags r:id="rId33"/>
            </p:custDataLst>
          </p:nvPr>
        </p:nvSpPr>
        <p:spPr bwMode="auto">
          <a:xfrm>
            <a:off x="684213" y="6557963"/>
            <a:ext cx="187483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C3189D49-302C-4B04-926D-BF105066521B}" type="datetime'H''SD ''''L''anded c''''ost'''''' e''stimate (Tk/''''Litre)'">
              <a:rPr lang="en-US" altLang="en-US" sz="800" b="0" smtClean="0"/>
              <a:pPr lvl="1">
                <a:spcBef>
                  <a:spcPct val="0"/>
                </a:spcBef>
                <a:spcAft>
                  <a:spcPct val="0"/>
                </a:spcAft>
              </a:pPr>
              <a:t>HSD Landed cost estimate (Tk/Litre)</a:t>
            </a:fld>
            <a:endParaRPr lang="en-IN" sz="800" b="0" noProof="0" dirty="0">
              <a:sym typeface="+mn-lt"/>
            </a:endParaRPr>
          </a:p>
        </p:txBody>
      </p:sp>
    </p:spTree>
    <p:extLst>
      <p:ext uri="{BB962C8B-B14F-4D97-AF65-F5344CB8AC3E}">
        <p14:creationId xmlns:p14="http://schemas.microsoft.com/office/powerpoint/2010/main" val="2344671120"/>
      </p:ext>
    </p:extLst>
  </p:cSld>
  <p:clrMapOvr>
    <a:masterClrMapping/>
  </p:clrMapOvr>
  <p:transition>
    <p:fade/>
  </p:transition>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8" name="Rectangle 7"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graphicFrame>
        <p:nvGraphicFramePr>
          <p:cNvPr id="4" name="Table 3"/>
          <p:cNvGraphicFramePr>
            <a:graphicFrameLocks noGrp="1"/>
          </p:cNvGraphicFramePr>
          <p:nvPr>
            <p:custDataLst>
              <p:tags r:id="rId3"/>
            </p:custDataLst>
          </p:nvPr>
        </p:nvGraphicFramePr>
        <p:xfrm>
          <a:off x="5524500" y="1961920"/>
          <a:ext cx="4732062" cy="477979"/>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477979">
                <a:tc>
                  <a:txBody>
                    <a:bodyPr/>
                    <a:lstStyle/>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schemeClr val="tx1"/>
                          </a:solidFill>
                          <a:effectLst/>
                          <a:uLnTx/>
                          <a:uFillTx/>
                          <a:latin typeface="+mn-lt"/>
                          <a:ea typeface="+mn-ea"/>
                          <a:cs typeface="+mn-cs"/>
                        </a:rPr>
                        <a:t>Following graph presents the estimation of landed HSD price in Bangladesh (long term contracts)</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5" name="Title 1"/>
          <p:cNvSpPr>
            <a:spLocks noGrp="1"/>
          </p:cNvSpPr>
          <p:nvPr>
            <p:ph type="title"/>
          </p:nvPr>
        </p:nvSpPr>
        <p:spPr>
          <a:xfrm>
            <a:off x="449264" y="647700"/>
            <a:ext cx="9791700" cy="431800"/>
          </a:xfrm>
        </p:spPr>
        <p:txBody>
          <a:bodyPr/>
          <a:lstStyle/>
          <a:p>
            <a:r>
              <a:rPr lang="en-US" dirty="0"/>
              <a:t>HSD landed price | Forecast</a:t>
            </a:r>
            <a:endParaRPr lang="en-IN" dirty="0"/>
          </a:p>
        </p:txBody>
      </p:sp>
      <p:sp>
        <p:nvSpPr>
          <p:cNvPr id="6"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 HSD prices are expected to remain at current BDT 65 / liter levels till FY26 considering</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the lower crude oil price projections;</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Any price increase / decrease for end consumers would be dependent on GoB’s fiscal targets and other considerations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7" name="Table 6"/>
          <p:cNvGraphicFramePr>
            <a:graphicFrameLocks noGrp="1"/>
          </p:cNvGraphicFramePr>
          <p:nvPr>
            <p:custDataLst>
              <p:tags r:id="rId4"/>
            </p:custDataLst>
            <p:extLst>
              <p:ext uri="{D42A27DB-BD31-4B8C-83A1-F6EECF244321}">
                <p14:modId xmlns:p14="http://schemas.microsoft.com/office/powerpoint/2010/main" val="4212057403"/>
              </p:ext>
            </p:extLst>
          </p:nvPr>
        </p:nvGraphicFramePr>
        <p:xfrm>
          <a:off x="383700" y="1961920"/>
          <a:ext cx="4732062" cy="3773218"/>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2653280">
                <a:tc>
                  <a:txBody>
                    <a:bodyPr/>
                    <a:lstStyle/>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baseline="0" dirty="0">
                          <a:solidFill>
                            <a:schemeClr val="tx1"/>
                          </a:solidFill>
                        </a:rPr>
                        <a:t>Long Term HSD Price Forecast</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Considering the Crude Oil Price Forecast discussed earlier, we have projected the landed HSD cost in Bangladesh</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We have considered the average of the price forecasts by all agencies discussed above till FY26 for the purpose of estimating crude oil price</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As can be seen from the graph on the right, the landed cost of HSD in Bangladesh may reach BDT ~51 / liter by FY26 </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However historically the Bangladesh Govt. has set the price for HSD in Bangladesh without any linkage to international crude price movement in the past</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Thus, we expect that the GoB may not increase price of HSD till the actual landed cost of price of HSD touches BDT 65 / liter (the current price set by GoB for consumers). </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In case of actual landed cost of HSD increasing beyond BDT 65 / liter, the Govt. may increase price in line with actual landed cost subject to the Govt.’s fiscal targets and other considerations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noProof="0" dirty="0">
                        <a:ln>
                          <a:noFill/>
                        </a:ln>
                        <a:solidFill>
                          <a:srgbClr val="313131"/>
                        </a:solidFill>
                        <a:effectLst/>
                        <a:uLnTx/>
                        <a:uFillTx/>
                        <a:latin typeface="+mn-lt"/>
                        <a:ea typeface="+mn-ea"/>
                        <a:cs typeface="+mn-cs"/>
                      </a:endParaRP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noProof="0" dirty="0">
                        <a:ln>
                          <a:noFill/>
                        </a:ln>
                        <a:solidFill>
                          <a:srgbClr val="313131"/>
                        </a:solidFill>
                        <a:effectLst/>
                        <a:uLnTx/>
                        <a:uFillTx/>
                        <a:latin typeface="+mn-lt"/>
                        <a:ea typeface="+mn-ea"/>
                        <a:cs typeface="+mn-cs"/>
                      </a:endParaRP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IN" sz="1000" b="0" i="0" u="none" strike="noStrike" kern="1200" cap="none" spc="0" normalizeH="0" baseline="0" noProof="0" dirty="0">
                        <a:ln>
                          <a:noFill/>
                        </a:ln>
                        <a:solidFill>
                          <a:srgbClr val="313131"/>
                        </a:solidFill>
                        <a:effectLst/>
                        <a:uLnTx/>
                        <a:uFillTx/>
                        <a:latin typeface="+mn-lt"/>
                        <a:ea typeface="+mn-ea"/>
                        <a:cs typeface="+mn-cs"/>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6" name="Chart 15"/>
          <p:cNvGraphicFramePr/>
          <p:nvPr>
            <p:extLst>
              <p:ext uri="{D42A27DB-BD31-4B8C-83A1-F6EECF244321}">
                <p14:modId xmlns:p14="http://schemas.microsoft.com/office/powerpoint/2010/main" val="1548991939"/>
              </p:ext>
            </p:extLst>
          </p:nvPr>
        </p:nvGraphicFramePr>
        <p:xfrm>
          <a:off x="5524500" y="2396318"/>
          <a:ext cx="4716464" cy="2602220"/>
        </p:xfrm>
        <a:graphic>
          <a:graphicData uri="http://schemas.openxmlformats.org/drawingml/2006/chart">
            <c:chart xmlns:c="http://schemas.openxmlformats.org/drawingml/2006/chart" xmlns:r="http://schemas.openxmlformats.org/officeDocument/2006/relationships" r:id="rId8"/>
          </a:graphicData>
        </a:graphic>
      </p:graphicFrame>
      <p:sp>
        <p:nvSpPr>
          <p:cNvPr id="17" name="Rectangle 16"/>
          <p:cNvSpPr/>
          <p:nvPr/>
        </p:nvSpPr>
        <p:spPr bwMode="gray">
          <a:xfrm>
            <a:off x="2914732" y="7069794"/>
            <a:ext cx="6609413" cy="217966"/>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World Bank, EIA, Deloitte Analysis Note 1) World Bank Data considered for WTI Crude Oil as per Commodities price Outlook for 2020 -</a:t>
            </a:r>
          </a:p>
        </p:txBody>
      </p:sp>
      <p:sp>
        <p:nvSpPr>
          <p:cNvPr id="22" name="Rectangle 21"/>
          <p:cNvSpPr/>
          <p:nvPr/>
        </p:nvSpPr>
        <p:spPr bwMode="gray">
          <a:xfrm>
            <a:off x="377114" y="7287760"/>
            <a:ext cx="9936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http://pubdocs.worldbank.org/en/633541587395091108/CMO-April-2020-Forecasts.pdf 2) EIA Price Forecast Considered for West Taxes Intermediate - https://www.eia.gov/analysis/ 3) Landed HSD price forecast considered in line with BPC’s pricing formula estimates with all other cost components for HSD price (taxes, regasification charges, margins , losses considered at FY19 levels)</a:t>
            </a:r>
          </a:p>
        </p:txBody>
      </p:sp>
    </p:spTree>
    <p:extLst>
      <p:ext uri="{BB962C8B-B14F-4D97-AF65-F5344CB8AC3E}">
        <p14:creationId xmlns:p14="http://schemas.microsoft.com/office/powerpoint/2010/main" val="1703363109"/>
      </p:ext>
    </p:extLst>
  </p:cSld>
  <p:clrMapOvr>
    <a:masterClrMapping/>
  </p:clrMapOvr>
  <p:transition>
    <p:fade/>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0000"/>
              </a:lnSpc>
              <a:spcBef>
                <a:spcPct val="0"/>
              </a:spcBef>
              <a:spcAft>
                <a:spcPct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pic>
        <p:nvPicPr>
          <p:cNvPr id="59" name="Picture 58"/>
          <p:cNvPicPr>
            <a:picLocks noChangeAspect="1"/>
          </p:cNvPicPr>
          <p:nvPr/>
        </p:nvPicPr>
        <p:blipFill rotWithShape="1">
          <a:blip r:embed="rId6" cstate="email">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a:ext>
            </a:extLst>
          </a:blip>
          <a:srcRect/>
          <a:stretch/>
        </p:blipFill>
        <p:spPr>
          <a:xfrm>
            <a:off x="6388099" y="1079499"/>
            <a:ext cx="4303713" cy="5570411"/>
          </a:xfrm>
          <a:prstGeom prst="rect">
            <a:avLst/>
          </a:prstGeom>
        </p:spPr>
      </p:pic>
      <p:sp>
        <p:nvSpPr>
          <p:cNvPr id="61" name="Rectangle 60"/>
          <p:cNvSpPr/>
          <p:nvPr/>
        </p:nvSpPr>
        <p:spPr bwMode="gray">
          <a:xfrm>
            <a:off x="447964" y="1030161"/>
            <a:ext cx="10229273" cy="36000"/>
          </a:xfrm>
          <a:prstGeom prst="rect">
            <a:avLst/>
          </a:prstGeom>
          <a:solidFill>
            <a:srgbClr val="00ABAB"/>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2" name="Rectangle 61"/>
          <p:cNvSpPr/>
          <p:nvPr/>
        </p:nvSpPr>
        <p:spPr bwMode="gray">
          <a:xfrm>
            <a:off x="447964" y="6663250"/>
            <a:ext cx="10229273" cy="36000"/>
          </a:xfrm>
          <a:prstGeom prst="rect">
            <a:avLst/>
          </a:prstGeom>
          <a:solidFill>
            <a:srgbClr val="00ABAB"/>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6" name="Rectangle 15"/>
          <p:cNvSpPr/>
          <p:nvPr/>
        </p:nvSpPr>
        <p:spPr>
          <a:xfrm>
            <a:off x="469900" y="2352070"/>
            <a:ext cx="4552045" cy="4154984"/>
          </a:xfrm>
          <a:prstGeom prst="rect">
            <a:avLst/>
          </a:prstGeom>
        </p:spPr>
        <p:txBody>
          <a:bodyPr wrap="square">
            <a:spAutoFit/>
          </a:bodyPr>
          <a:lstStyle/>
          <a:p>
            <a:pPr marL="0" marR="0" lvl="0" indent="0" algn="l" defTabSz="787481"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Verdana"/>
                <a:ea typeface="+mn-ea"/>
                <a:cs typeface="+mn-cs"/>
              </a:rPr>
              <a:t>Discom Credit Risk Assessment</a:t>
            </a:r>
          </a:p>
          <a:p>
            <a:pPr marL="0" marR="0" lvl="0" indent="0" algn="l" defTabSz="787481"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0097A9"/>
                </a:solidFill>
                <a:effectLst/>
                <a:uLnTx/>
                <a:uFillTx/>
                <a:latin typeface="Verdana"/>
                <a:ea typeface="+mn-ea"/>
                <a:cs typeface="+mn-cs"/>
              </a:rPr>
              <a:t>Historical</a:t>
            </a:r>
            <a:r>
              <a:rPr kumimoji="0" lang="en-US" sz="2400" b="0" i="1" u="none" strike="noStrike" kern="1200" cap="none" spc="0" normalizeH="0" noProof="0" dirty="0">
                <a:ln>
                  <a:noFill/>
                </a:ln>
                <a:solidFill>
                  <a:srgbClr val="0097A9"/>
                </a:solidFill>
                <a:effectLst/>
                <a:uLnTx/>
                <a:uFillTx/>
                <a:latin typeface="Verdana"/>
                <a:ea typeface="+mn-ea"/>
                <a:cs typeface="+mn-cs"/>
              </a:rPr>
              <a:t> performanc</a:t>
            </a:r>
            <a:r>
              <a:rPr lang="en-US" sz="2400" i="1" dirty="0">
                <a:solidFill>
                  <a:srgbClr val="0097A9"/>
                </a:solidFill>
                <a:latin typeface="Verdana"/>
              </a:rPr>
              <a:t>e of BPDB, average power purchase cost and selling rate assessment, billing &amp; collection assessment, IPP payment history, foreign payment performance, impact of Covid-19 on financial performance</a:t>
            </a:r>
            <a:endParaRPr kumimoji="0" lang="en-US" sz="2400" b="0" i="1" u="none" strike="noStrike" kern="1200" cap="none" spc="0" normalizeH="0" baseline="0" noProof="0" dirty="0">
              <a:ln>
                <a:noFill/>
              </a:ln>
              <a:solidFill>
                <a:srgbClr val="0097A9"/>
              </a:solidFill>
              <a:effectLst/>
              <a:uLnTx/>
              <a:uFillTx/>
              <a:latin typeface="Verdana"/>
              <a:ea typeface="+mn-ea"/>
              <a:cs typeface="+mn-cs"/>
            </a:endParaRPr>
          </a:p>
        </p:txBody>
      </p:sp>
      <p:sp>
        <p:nvSpPr>
          <p:cNvPr id="13" name="Oval 12"/>
          <p:cNvSpPr/>
          <p:nvPr/>
        </p:nvSpPr>
        <p:spPr bwMode="gray">
          <a:xfrm>
            <a:off x="5179691" y="1296232"/>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01</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14" name="Oval 13"/>
          <p:cNvSpPr/>
          <p:nvPr/>
        </p:nvSpPr>
        <p:spPr bwMode="gray">
          <a:xfrm>
            <a:off x="5184133" y="1819733"/>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02</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15" name="Oval 14"/>
          <p:cNvSpPr/>
          <p:nvPr/>
        </p:nvSpPr>
        <p:spPr bwMode="gray">
          <a:xfrm>
            <a:off x="5184133" y="2343234"/>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03</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17" name="Oval 16"/>
          <p:cNvSpPr/>
          <p:nvPr/>
        </p:nvSpPr>
        <p:spPr bwMode="gray">
          <a:xfrm>
            <a:off x="5179696" y="2866735"/>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04</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18" name="Oval 17"/>
          <p:cNvSpPr/>
          <p:nvPr/>
        </p:nvSpPr>
        <p:spPr bwMode="gray">
          <a:xfrm>
            <a:off x="5179696" y="3390236"/>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solidFill>
                  <a:prstClr val="black"/>
                </a:solidFill>
                <a:latin typeface="Verdana"/>
              </a:rPr>
              <a:t>05</a:t>
            </a:r>
            <a:endParaRPr lang="en-IN" sz="1400" b="1" dirty="0">
              <a:solidFill>
                <a:prstClr val="black"/>
              </a:solidFill>
              <a:latin typeface="Verdana"/>
            </a:endParaRPr>
          </a:p>
        </p:txBody>
      </p:sp>
      <p:sp>
        <p:nvSpPr>
          <p:cNvPr id="19" name="Oval 18"/>
          <p:cNvSpPr/>
          <p:nvPr/>
        </p:nvSpPr>
        <p:spPr bwMode="gray">
          <a:xfrm>
            <a:off x="5179696" y="3913737"/>
            <a:ext cx="382909" cy="382909"/>
          </a:xfrm>
          <a:prstGeom prst="ellipse">
            <a:avLst/>
          </a:prstGeom>
          <a:solidFill>
            <a:schemeClr val="accent5"/>
          </a:solidFill>
        </p:spPr>
        <p:txBody>
          <a:bodyPr wrap="square" lIns="0" tIns="88900" rIns="0" bIns="88900" rtlCol="0" anchor="ctr"/>
          <a:lstStyle/>
          <a:p>
            <a:pPr algn="ctr">
              <a:lnSpc>
                <a:spcPct val="106000"/>
              </a:lnSpc>
              <a:buFont typeface="Wingdings 2" pitchFamily="18" charset="2"/>
              <a:buNone/>
            </a:pPr>
            <a:r>
              <a:rPr lang="en-US" sz="1400" b="1" dirty="0">
                <a:solidFill>
                  <a:prstClr val="white"/>
                </a:solidFill>
                <a:latin typeface="Verdana"/>
              </a:rPr>
              <a:t>06</a:t>
            </a:r>
            <a:endParaRPr lang="en-IN" sz="1400" b="1" dirty="0">
              <a:solidFill>
                <a:prstClr val="white"/>
              </a:solidFill>
              <a:latin typeface="Verdana"/>
            </a:endParaRPr>
          </a:p>
        </p:txBody>
      </p:sp>
      <p:sp>
        <p:nvSpPr>
          <p:cNvPr id="20" name="Oval 19"/>
          <p:cNvSpPr/>
          <p:nvPr/>
        </p:nvSpPr>
        <p:spPr bwMode="gray">
          <a:xfrm>
            <a:off x="5179695" y="4437238"/>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07</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1" name="Oval 20"/>
          <p:cNvSpPr/>
          <p:nvPr/>
        </p:nvSpPr>
        <p:spPr bwMode="gray">
          <a:xfrm>
            <a:off x="5179692" y="4960739"/>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08</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2" name="Oval 21"/>
          <p:cNvSpPr/>
          <p:nvPr/>
        </p:nvSpPr>
        <p:spPr bwMode="gray">
          <a:xfrm>
            <a:off x="5179694" y="5484240"/>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09</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3" name="Oval 22"/>
          <p:cNvSpPr/>
          <p:nvPr/>
        </p:nvSpPr>
        <p:spPr bwMode="gray">
          <a:xfrm>
            <a:off x="5179691" y="6007743"/>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10</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133402575"/>
      </p:ext>
    </p:extLst>
  </p:cSld>
  <p:clrMapOvr>
    <a:masterClrMapping/>
  </p:clrMapOvr>
  <p:transition>
    <p:fade/>
  </p:transition>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8" imgW="530" imgH="531" progId="TCLayout.ActiveDocument.1">
                  <p:embed/>
                </p:oleObj>
              </mc:Choice>
              <mc:Fallback>
                <p:oleObj name="think-cell Slide" r:id="rId38" imgW="530" imgH="531" progId="TCLayout.ActiveDocument.1">
                  <p:embed/>
                  <p:pic>
                    <p:nvPicPr>
                      <p:cNvPr id="4" name="Object 3" hidden="1"/>
                      <p:cNvPicPr/>
                      <p:nvPr/>
                    </p:nvPicPr>
                    <p:blipFill>
                      <a:blip r:embed="rId39"/>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IN" sz="1000" u="none" strike="noStrike" kern="1200" cap="none" spc="0" normalizeH="0" noProof="0" dirty="0">
              <a:ln>
                <a:noFill/>
              </a:ln>
              <a:solidFill>
                <a:prstClr val="white"/>
              </a:solidFill>
              <a:effectLst/>
              <a:uLnTx/>
              <a:uFillTx/>
              <a:latin typeface="Verdana" panose="020B0604030504040204" pitchFamily="34" charset="0"/>
              <a:sym typeface="Verdana" panose="020B0604030504040204" pitchFamily="34" charset="0"/>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2648537009"/>
              </p:ext>
            </p:ext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graph shows the Total Revenue and Net Profitability (after subsidy adjustment) (BDT Bn) of BPDB (Generation &amp; Bulk Supply) from FY15 to FY19:</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graph shows the subsidy support to BPDB in the last 5 years (BDT Bn) from FY15 to FY19</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BPDB Historical Performance| Discom Credit Assessment</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BPDB has been historically earning losses with Government providing major support in the form of loans which has further strained BPDB’s financial performance</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lgn="just">
                        <a:spcAft>
                          <a:spcPts val="500"/>
                        </a:spcAft>
                        <a:buFont typeface="Arial" panose="020B0604020202020204" pitchFamily="34" charset="0"/>
                        <a:buNone/>
                      </a:pPr>
                      <a:r>
                        <a:rPr lang="en-US" sz="1000" b="1" baseline="0" dirty="0">
                          <a:solidFill>
                            <a:schemeClr val="tx1"/>
                          </a:solidFill>
                        </a:rPr>
                        <a:t>BPDB Historical Profitability</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As can be seen from the graph on the right (above), BPDB (Generation &amp; Bulk Supply) has been incurring losses historically in the Generation &amp; Bulk Supply business.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The losses are primarily due to the differential in the overall power purchase cost and the allowed bulk supply tariff for BPDB </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BPDB is dependent on the Government Subsidy for its operations.</a:t>
                      </a: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1" baseline="0" dirty="0">
                        <a:solidFill>
                          <a:schemeClr val="tx1"/>
                        </a:solidFill>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baseline="0" dirty="0">
                          <a:solidFill>
                            <a:schemeClr val="tx1"/>
                          </a:solidFill>
                        </a:rPr>
                        <a:t>Subsidy Support from Government</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Government of Bangladesh supports BPDB to cover its power purchase cost and power sales cost in the following forms:</a:t>
                      </a:r>
                    </a:p>
                    <a:p>
                      <a:pPr marL="355600" marR="0" lvl="1" indent="-171450" algn="just" defTabSz="990571" rtl="0" eaLnBrk="1" fontAlgn="auto" latinLnBrk="0" hangingPunct="1">
                        <a:lnSpc>
                          <a:spcPct val="100000"/>
                        </a:lnSpc>
                        <a:spcBef>
                          <a:spcPts val="0"/>
                        </a:spcBef>
                        <a:spcAft>
                          <a:spcPts val="500"/>
                        </a:spcAft>
                        <a:buClrTx/>
                        <a:buSzTx/>
                        <a:buFont typeface="Courier New" panose="02070309020205020404" pitchFamily="49" charset="0"/>
                        <a:buChar char="o"/>
                        <a:tabLst/>
                        <a:defRPr/>
                      </a:pPr>
                      <a:r>
                        <a:rPr lang="en-US" sz="1000" b="1" kern="1200" baseline="0" dirty="0">
                          <a:solidFill>
                            <a:schemeClr val="tx1"/>
                          </a:solidFill>
                          <a:latin typeface="+mn-lt"/>
                          <a:ea typeface="+mn-ea"/>
                          <a:cs typeface="+mn-cs"/>
                        </a:rPr>
                        <a:t>Subsidy Support as Loan </a:t>
                      </a:r>
                      <a:r>
                        <a:rPr lang="en-US" sz="1000" b="0" kern="1200" baseline="0" dirty="0">
                          <a:solidFill>
                            <a:schemeClr val="tx1"/>
                          </a:solidFill>
                          <a:latin typeface="+mn-lt"/>
                          <a:ea typeface="+mn-ea"/>
                          <a:cs typeface="+mn-cs"/>
                        </a:rPr>
                        <a:t>– The GoB has been providing interest bearing Loan as subsidy support to BPDB</a:t>
                      </a:r>
                    </a:p>
                    <a:p>
                      <a:pPr marL="355600" marR="0" lvl="1" indent="-171450" algn="just" defTabSz="990571" rtl="0" eaLnBrk="1" fontAlgn="auto" latinLnBrk="0" hangingPunct="1">
                        <a:lnSpc>
                          <a:spcPct val="100000"/>
                        </a:lnSpc>
                        <a:spcBef>
                          <a:spcPts val="0"/>
                        </a:spcBef>
                        <a:spcAft>
                          <a:spcPts val="500"/>
                        </a:spcAft>
                        <a:buClrTx/>
                        <a:buSzTx/>
                        <a:buFont typeface="Courier New" panose="02070309020205020404" pitchFamily="49" charset="0"/>
                        <a:buChar char="o"/>
                        <a:tabLst/>
                        <a:defRPr/>
                      </a:pPr>
                      <a:r>
                        <a:rPr lang="en-US" sz="1000" b="1" kern="1200" baseline="0" dirty="0">
                          <a:solidFill>
                            <a:schemeClr val="tx1"/>
                          </a:solidFill>
                          <a:latin typeface="+mn-lt"/>
                          <a:ea typeface="+mn-ea"/>
                          <a:cs typeface="+mn-cs"/>
                        </a:rPr>
                        <a:t>Interest on Loan for Subsidy </a:t>
                      </a:r>
                      <a:r>
                        <a:rPr lang="en-US" sz="1000" b="0" kern="1200" baseline="0" dirty="0">
                          <a:solidFill>
                            <a:schemeClr val="tx1"/>
                          </a:solidFill>
                          <a:latin typeface="+mn-lt"/>
                          <a:ea typeface="+mn-ea"/>
                          <a:cs typeface="+mn-cs"/>
                        </a:rPr>
                        <a:t>– Although BPDB charges the interest on loan for subsidy in the profit and loss account, they have not paid the same to GoB since FY15. Thus, the interest accruals on the loan is also treated as subsidy</a:t>
                      </a:r>
                    </a:p>
                    <a:p>
                      <a:pPr marL="355600" marR="0" lvl="1" indent="-171450" algn="just" defTabSz="990571" rtl="0" eaLnBrk="1" fontAlgn="auto" latinLnBrk="0" hangingPunct="1">
                        <a:lnSpc>
                          <a:spcPct val="100000"/>
                        </a:lnSpc>
                        <a:spcBef>
                          <a:spcPts val="0"/>
                        </a:spcBef>
                        <a:spcAft>
                          <a:spcPts val="500"/>
                        </a:spcAft>
                        <a:buClrTx/>
                        <a:buSzTx/>
                        <a:buFont typeface="Courier New" panose="02070309020205020404" pitchFamily="49" charset="0"/>
                        <a:buChar char="o"/>
                        <a:tabLst/>
                        <a:defRPr/>
                      </a:pPr>
                      <a:r>
                        <a:rPr lang="en-US" sz="1000" b="1" kern="1200" baseline="0" dirty="0">
                          <a:solidFill>
                            <a:schemeClr val="tx1"/>
                          </a:solidFill>
                          <a:latin typeface="+mn-lt"/>
                          <a:ea typeface="+mn-ea"/>
                          <a:cs typeface="+mn-cs"/>
                        </a:rPr>
                        <a:t>Cash Subsidy </a:t>
                      </a:r>
                      <a:r>
                        <a:rPr lang="en-US" sz="1000" b="0" kern="1200" baseline="0" dirty="0">
                          <a:solidFill>
                            <a:schemeClr val="tx1"/>
                          </a:solidFill>
                          <a:latin typeface="+mn-lt"/>
                          <a:ea typeface="+mn-ea"/>
                          <a:cs typeface="+mn-cs"/>
                        </a:rPr>
                        <a:t>– Since FY18, GoB has started providing direct cash based subsidy to BPDB</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introduction of Cash Subsidy has led to reduction in overall losses for BPDB in FY19 making it match its overall revenue requirement from operations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76" name="Chart 175"/>
          <p:cNvGraphicFramePr/>
          <p:nvPr>
            <p:custDataLst>
              <p:tags r:id="rId5"/>
            </p:custDataLst>
          </p:nvPr>
        </p:nvGraphicFramePr>
        <p:xfrm>
          <a:off x="5441950" y="2444750"/>
          <a:ext cx="4897438" cy="1484313"/>
        </p:xfrm>
        <a:graphic>
          <a:graphicData uri="http://schemas.openxmlformats.org/drawingml/2006/chart">
            <c:chart xmlns:c="http://schemas.openxmlformats.org/drawingml/2006/chart" xmlns:r="http://schemas.openxmlformats.org/officeDocument/2006/relationships" r:id="rId40"/>
          </a:graphicData>
        </a:graphic>
      </p:graphicFrame>
      <p:sp>
        <p:nvSpPr>
          <p:cNvPr id="38" name="StandardTextbox"/>
          <p:cNvSpPr>
            <a:spLocks noGrp="1"/>
          </p:cNvSpPr>
          <p:nvPr>
            <p:custDataLst>
              <p:tags r:id="rId6"/>
            </p:custDataLst>
          </p:nvPr>
        </p:nvSpPr>
        <p:spPr bwMode="auto">
          <a:xfrm>
            <a:off x="7727950" y="39497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B076735-8E0F-4AAD-882E-ED99DF7C3A08}" type="datetime'''F''''''''Y''''''''''''''''''''''''''''''1''''7'''">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FY17</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1" name="StandardTextbox"/>
          <p:cNvSpPr>
            <a:spLocks noGrp="1"/>
          </p:cNvSpPr>
          <p:nvPr>
            <p:custDataLst>
              <p:tags r:id="rId7"/>
            </p:custDataLst>
          </p:nvPr>
        </p:nvSpPr>
        <p:spPr bwMode="auto">
          <a:xfrm>
            <a:off x="6780213" y="39497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D2FAD61-551C-429E-8445-92457FFC1E06}" type="datetime'''''''''''F''''''''Y''''''''''''1''6'''''''''''''''''">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FY16</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0" name="StandardTextbox"/>
          <p:cNvSpPr>
            <a:spLocks noGrp="1"/>
          </p:cNvSpPr>
          <p:nvPr>
            <p:custDataLst>
              <p:tags r:id="rId8"/>
            </p:custDataLst>
          </p:nvPr>
        </p:nvSpPr>
        <p:spPr bwMode="auto">
          <a:xfrm>
            <a:off x="5834063" y="39497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C891D0E-254A-4596-BB8D-E0F51C16B26F}" type="datetime'''''''''''''''''''''''''''F''''''''''''''''''''Y''15'''">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1" name="StandardTextbox"/>
          <p:cNvSpPr>
            <a:spLocks noGrp="1"/>
          </p:cNvSpPr>
          <p:nvPr>
            <p:custDataLst>
              <p:tags r:id="rId9"/>
            </p:custDataLst>
          </p:nvPr>
        </p:nvSpPr>
        <p:spPr bwMode="auto">
          <a:xfrm>
            <a:off x="8674100" y="39497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583D5C60-78E1-489D-A955-2D098293910B}" type="datetime'''''F''''''Y''''''''1''''8'''''''''''''''">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FY18</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3" name="StandardTextbox"/>
          <p:cNvSpPr>
            <a:spLocks noGrp="1"/>
          </p:cNvSpPr>
          <p:nvPr>
            <p:custDataLst>
              <p:tags r:id="rId10"/>
            </p:custDataLst>
          </p:nvPr>
        </p:nvSpPr>
        <p:spPr bwMode="auto">
          <a:xfrm>
            <a:off x="9620250" y="39497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C355115F-2668-43AF-8355-9A345B1B58DB}" type="datetime'''''''''''''''''''''''''''F''''''''''''''''Y1''9'''''''''''''">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FY19</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8" name="Rectangle 7"/>
          <p:cNvSpPr/>
          <p:nvPr>
            <p:custDataLst>
              <p:tags r:id="rId11"/>
            </p:custDataLst>
          </p:nvPr>
        </p:nvSpPr>
        <p:spPr bwMode="auto">
          <a:xfrm>
            <a:off x="6308725" y="4229100"/>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4" name="Rectangle 13"/>
          <p:cNvSpPr/>
          <p:nvPr>
            <p:custDataLst>
              <p:tags r:id="rId12"/>
            </p:custDataLst>
          </p:nvPr>
        </p:nvSpPr>
        <p:spPr bwMode="auto">
          <a:xfrm>
            <a:off x="7829550" y="4229100"/>
            <a:ext cx="179388" cy="133350"/>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7" name="StandardTextbox"/>
          <p:cNvSpPr>
            <a:spLocks noGrp="1"/>
          </p:cNvSpPr>
          <p:nvPr>
            <p:custDataLst>
              <p:tags r:id="rId13"/>
            </p:custDataLst>
          </p:nvPr>
        </p:nvSpPr>
        <p:spPr bwMode="auto">
          <a:xfrm>
            <a:off x="6538913" y="4224338"/>
            <a:ext cx="11890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781BFD04-6BBA-4EC4-BD04-220A41822EE1}" type="datetime'''''''''''R''e''''''''ve''n''''''u''''''e'' (BD''''T B''''n)'">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Revenue (BDT Bn)</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9" name="StandardTextbox"/>
          <p:cNvSpPr>
            <a:spLocks noGrp="1"/>
          </p:cNvSpPr>
          <p:nvPr>
            <p:custDataLst>
              <p:tags r:id="rId14"/>
            </p:custDataLst>
          </p:nvPr>
        </p:nvSpPr>
        <p:spPr bwMode="auto">
          <a:xfrm>
            <a:off x="8059738" y="4224338"/>
            <a:ext cx="16684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B92EB776-A47E-4802-95E0-B403D2442CD2}" type="datetime'Ne''t'' P''r''''''''''o''''''fit / Loss'' (BDT'''' ''B''''n)'">
              <a:rPr kumimoji="0" lang="nl-NL"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Net Profit / Loss (BDT Bn)</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graphicFrame>
        <p:nvGraphicFramePr>
          <p:cNvPr id="57" name="Chart 56"/>
          <p:cNvGraphicFramePr/>
          <p:nvPr>
            <p:custDataLst>
              <p:tags r:id="rId15"/>
            </p:custDataLst>
          </p:nvPr>
        </p:nvGraphicFramePr>
        <p:xfrm>
          <a:off x="5441950" y="5395913"/>
          <a:ext cx="4881563" cy="1138237"/>
        </p:xfrm>
        <a:graphic>
          <a:graphicData uri="http://schemas.openxmlformats.org/drawingml/2006/chart">
            <c:chart xmlns:c="http://schemas.openxmlformats.org/drawingml/2006/chart" xmlns:r="http://schemas.openxmlformats.org/officeDocument/2006/relationships" r:id="rId41"/>
          </a:graphicData>
        </a:graphic>
      </p:graphicFrame>
      <p:sp>
        <p:nvSpPr>
          <p:cNvPr id="86" name="StandardTextbox"/>
          <p:cNvSpPr>
            <a:spLocks noGrp="1"/>
          </p:cNvSpPr>
          <p:nvPr>
            <p:custDataLst>
              <p:tags r:id="rId16"/>
            </p:custDataLst>
          </p:nvPr>
        </p:nvSpPr>
        <p:spPr bwMode="gray">
          <a:xfrm>
            <a:off x="8724900" y="5749925"/>
            <a:ext cx="203200" cy="152400"/>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67F2EA68-31B4-4B91-A637-2D09B8A15B74}" type="datetime'''''''''''''''''''5''''''7'''''''''''''''''''''''''''">
              <a:rPr lang="en-IN" altLang="en-US" b="0" smtClean="0">
                <a:solidFill>
                  <a:srgbClr val="000000"/>
                </a:solidFill>
              </a:rPr>
              <a:pPr lvl="1" algn="ctr">
                <a:spcBef>
                  <a:spcPct val="0"/>
                </a:spcBef>
                <a:spcAft>
                  <a:spcPct val="0"/>
                </a:spcAft>
                <a:defRPr/>
              </a:pPr>
              <a:t>57</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29" name="StandardTextbox"/>
          <p:cNvSpPr>
            <a:spLocks noGrp="1"/>
          </p:cNvSpPr>
          <p:nvPr>
            <p:custDataLst>
              <p:tags r:id="rId17"/>
            </p:custDataLst>
          </p:nvPr>
        </p:nvSpPr>
        <p:spPr bwMode="gray">
          <a:xfrm>
            <a:off x="6837363" y="6359525"/>
            <a:ext cx="203200" cy="152400"/>
          </a:xfrm>
          <a:prstGeom prst="rect">
            <a:avLst/>
          </a:prstGeom>
          <a:solidFill>
            <a:srgbClr val="046A38"/>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CD0A9D29-03FB-4804-AFDB-F6E0B558196E}" type="datetime'1''''''''''''''''''''''0'''''''''''">
              <a:rPr kumimoji="0" lang="en-IN" altLang="en-US" sz="1000" b="0" i="0" u="none" strike="noStrike" kern="1200" cap="none" spc="0" normalizeH="0" baseline="0" noProof="0" smtClean="0">
                <a:ln>
                  <a:noFill/>
                </a:ln>
                <a:solidFill>
                  <a:prstClr val="white"/>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10</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06" name="StandardTextbox"/>
          <p:cNvSpPr>
            <a:spLocks noGrp="1"/>
          </p:cNvSpPr>
          <p:nvPr>
            <p:custDataLst>
              <p:tags r:id="rId18"/>
            </p:custDataLst>
          </p:nvPr>
        </p:nvSpPr>
        <p:spPr bwMode="gray">
          <a:xfrm>
            <a:off x="5935663" y="6370638"/>
            <a:ext cx="122238" cy="152400"/>
          </a:xfrm>
          <a:prstGeom prst="rect">
            <a:avLst/>
          </a:prstGeom>
          <a:solidFill>
            <a:srgbClr val="046A38"/>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F80F6455-B46B-44A6-8553-5B4CB21E4C04}" type="datetime'''''''''''''''''''8'''''''''''''''''''''''''''">
              <a:rPr kumimoji="0" lang="en-IN" altLang="en-US" sz="1000" b="0" i="0" u="none" strike="noStrike" kern="1200" cap="none" spc="0" normalizeH="0" baseline="0" noProof="0" smtClean="0">
                <a:ln>
                  <a:noFill/>
                </a:ln>
                <a:solidFill>
                  <a:prstClr val="white"/>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8</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96" name="StandardTextbox"/>
          <p:cNvSpPr>
            <a:spLocks noGrp="1"/>
          </p:cNvSpPr>
          <p:nvPr>
            <p:custDataLst>
              <p:tags r:id="rId19"/>
            </p:custDataLst>
          </p:nvPr>
        </p:nvSpPr>
        <p:spPr bwMode="auto">
          <a:xfrm>
            <a:off x="7720013" y="65659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B24473F-C24D-45E3-9CAB-55DA22F1820C}" type="datetime'''F''''''''''''''''''''''''''''''''''''''''''''''''Y''17'''''">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FY17</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94" name="StandardTextbox"/>
          <p:cNvSpPr>
            <a:spLocks noGrp="1"/>
          </p:cNvSpPr>
          <p:nvPr>
            <p:custDataLst>
              <p:tags r:id="rId20"/>
            </p:custDataLst>
          </p:nvPr>
        </p:nvSpPr>
        <p:spPr bwMode="auto">
          <a:xfrm>
            <a:off x="6777038" y="65659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7E7F215-CD10-41CB-8CE2-8FF4F2BA2762}" type="datetime'''''''''''''''''''''''''''''''F''''''''Y''''''''''''1''''6'''">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FY16</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77" name="StandardTextbox"/>
          <p:cNvSpPr>
            <a:spLocks noGrp="1"/>
          </p:cNvSpPr>
          <p:nvPr>
            <p:custDataLst>
              <p:tags r:id="rId21"/>
            </p:custDataLst>
          </p:nvPr>
        </p:nvSpPr>
        <p:spPr bwMode="auto">
          <a:xfrm>
            <a:off x="5834063" y="65659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F133476-0473-4FE3-8CF4-43DF5A509D80}" type="datetime'''''''''''''FY''''''''''''''''15'''''''''">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30" name="StandardTextbox"/>
          <p:cNvSpPr>
            <a:spLocks noGrp="1"/>
          </p:cNvSpPr>
          <p:nvPr>
            <p:custDataLst>
              <p:tags r:id="rId22"/>
            </p:custDataLst>
          </p:nvPr>
        </p:nvSpPr>
        <p:spPr bwMode="gray">
          <a:xfrm>
            <a:off x="8594725" y="6361113"/>
            <a:ext cx="203200" cy="152400"/>
          </a:xfrm>
          <a:prstGeom prst="rect">
            <a:avLst/>
          </a:prstGeom>
          <a:solidFill>
            <a:srgbClr val="86BC25"/>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D959324-F170-453F-B884-02FC8B112A75}" type="datetime'''''''''''''''''1''''''''''''0'''''''''''''''''''">
              <a:rPr kumimoji="0" lang="en-IN" altLang="en-US" sz="1000" b="0" i="0" u="none" strike="noStrike" kern="1200" cap="none" spc="0" normalizeH="0" baseline="0" noProof="0" smtClean="0">
                <a:ln>
                  <a:noFill/>
                </a:ln>
                <a:solidFill>
                  <a:prstClr val="white"/>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10</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32" name="StandardTextbox"/>
          <p:cNvSpPr>
            <a:spLocks noGrp="1"/>
          </p:cNvSpPr>
          <p:nvPr>
            <p:custDataLst>
              <p:tags r:id="rId23"/>
            </p:custDataLst>
          </p:nvPr>
        </p:nvSpPr>
        <p:spPr bwMode="gray">
          <a:xfrm>
            <a:off x="7780338" y="6353175"/>
            <a:ext cx="203200" cy="152400"/>
          </a:xfrm>
          <a:prstGeom prst="rect">
            <a:avLst/>
          </a:prstGeom>
          <a:solidFill>
            <a:srgbClr val="046A38"/>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539F5E26-81F3-42BC-B297-03705F211523}" type="datetime'''''''''''''''''''''''''''''''''''11'''''''''''''">
              <a:rPr kumimoji="0" lang="en-IN" altLang="en-US" sz="1000" b="0" i="0" u="none" strike="noStrike" kern="1200" cap="none" spc="0" normalizeH="0" baseline="0" noProof="0" smtClean="0">
                <a:ln>
                  <a:noFill/>
                </a:ln>
                <a:solidFill>
                  <a:prstClr val="white"/>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11</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97" name="StandardTextbox"/>
          <p:cNvSpPr>
            <a:spLocks noGrp="1"/>
          </p:cNvSpPr>
          <p:nvPr>
            <p:custDataLst>
              <p:tags r:id="rId24"/>
            </p:custDataLst>
          </p:nvPr>
        </p:nvSpPr>
        <p:spPr bwMode="auto">
          <a:xfrm>
            <a:off x="8664575" y="65659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221FAE1-CCB2-47E6-8D43-C2C542CBB59A}" type="datetime'''''''''''FY''1''''8'''''''''''''''''''''''''''''''''''''">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FY18</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91" name="StandardTextbox"/>
          <p:cNvSpPr>
            <a:spLocks noGrp="1"/>
          </p:cNvSpPr>
          <p:nvPr>
            <p:custDataLst>
              <p:tags r:id="rId25"/>
            </p:custDataLst>
          </p:nvPr>
        </p:nvSpPr>
        <p:spPr bwMode="gray">
          <a:xfrm>
            <a:off x="9840913" y="5476875"/>
            <a:ext cx="122238" cy="152400"/>
          </a:xfrm>
          <a:prstGeom prst="rect">
            <a:avLst/>
          </a:prstGeom>
          <a:solidFill>
            <a:srgbClr val="62B5E5"/>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4E89730-8BA5-4101-AAD2-A1763445A8F1}" type="datetime'''''''''''''''''''''''''0'''''''''''''''''''''''''''''''''">
              <a:rPr kumimoji="0" lang="en-IN" altLang="en-US" sz="1000" b="0" i="0" u="none" strike="noStrike" kern="1200" cap="none" spc="0" normalizeH="0" baseline="0" noProof="0" smtClean="0">
                <a:ln>
                  <a:noFill/>
                </a:ln>
                <a:solidFill>
                  <a:prstClr val="white"/>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0</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98" name="StandardTextbox"/>
          <p:cNvSpPr>
            <a:spLocks noGrp="1"/>
          </p:cNvSpPr>
          <p:nvPr>
            <p:custDataLst>
              <p:tags r:id="rId26"/>
            </p:custDataLst>
          </p:nvPr>
        </p:nvSpPr>
        <p:spPr bwMode="auto">
          <a:xfrm>
            <a:off x="9607550" y="65659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5A0A615-7265-428B-9D1F-60DAA30BC9CE}" type="datetime'''''F''''''''''''''''''''''''Y''''1''''''''9'">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FY19</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80" name="StandardTextbox"/>
          <p:cNvSpPr>
            <a:spLocks noGrp="1"/>
          </p:cNvSpPr>
          <p:nvPr>
            <p:custDataLst>
              <p:tags r:id="rId27"/>
            </p:custDataLst>
          </p:nvPr>
        </p:nvSpPr>
        <p:spPr bwMode="gray">
          <a:xfrm>
            <a:off x="5854700" y="5300663"/>
            <a:ext cx="2841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FB776D55-53B8-4797-9F1F-B38F8450F1AD}" type="datetime'1''0''''''''''''''0'''''''''''''''''''''''''''''''''''''''''">
              <a:rPr lang="en-IN" altLang="en-US" b="0" smtClean="0">
                <a:solidFill>
                  <a:srgbClr val="000000"/>
                </a:solidFill>
              </a:rPr>
              <a:pPr lvl="1" algn="ctr">
                <a:spcBef>
                  <a:spcPct val="0"/>
                </a:spcBef>
                <a:spcAft>
                  <a:spcPct val="0"/>
                </a:spcAft>
                <a:defRPr/>
              </a:pPr>
              <a:t>100</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81" name="StandardTextbox"/>
          <p:cNvSpPr>
            <a:spLocks noGrp="1"/>
          </p:cNvSpPr>
          <p:nvPr>
            <p:custDataLst>
              <p:tags r:id="rId28"/>
            </p:custDataLst>
          </p:nvPr>
        </p:nvSpPr>
        <p:spPr bwMode="gray">
          <a:xfrm>
            <a:off x="6837363" y="5949950"/>
            <a:ext cx="203200" cy="152400"/>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38E106D4-F8E3-4F67-B950-4022F5EA22DB}" type="datetime'''''''''3''''''''''''''''8'''''''''''''''''">
              <a:rPr lang="en-IN" altLang="en-US" b="0" smtClean="0">
                <a:solidFill>
                  <a:srgbClr val="000000"/>
                </a:solidFill>
              </a:rPr>
              <a:pPr lvl="1" algn="ctr">
                <a:spcBef>
                  <a:spcPct val="0"/>
                </a:spcBef>
                <a:spcAft>
                  <a:spcPct val="0"/>
                </a:spcAft>
                <a:defRPr/>
              </a:pPr>
              <a:t>38</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82" name="StandardTextbox"/>
          <p:cNvSpPr>
            <a:spLocks noGrp="1"/>
          </p:cNvSpPr>
          <p:nvPr>
            <p:custDataLst>
              <p:tags r:id="rId29"/>
            </p:custDataLst>
          </p:nvPr>
        </p:nvSpPr>
        <p:spPr bwMode="gray">
          <a:xfrm>
            <a:off x="7780338" y="5808663"/>
            <a:ext cx="203200" cy="152400"/>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927694B3-B1DA-489E-AB06-A207965BEFB2}" type="datetime'''''''''''''''''''''''''''5''''1'''''''''''''''''">
              <a:rPr lang="en-IN" altLang="en-US" b="0" smtClean="0">
                <a:solidFill>
                  <a:srgbClr val="000000"/>
                </a:solidFill>
              </a:rPr>
              <a:pPr lvl="1" algn="ctr">
                <a:spcBef>
                  <a:spcPct val="0"/>
                </a:spcBef>
                <a:spcAft>
                  <a:spcPct val="0"/>
                </a:spcAft>
                <a:defRPr/>
              </a:pPr>
              <a:t>51</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87" name="StandardTextbox"/>
          <p:cNvSpPr>
            <a:spLocks noGrp="1"/>
          </p:cNvSpPr>
          <p:nvPr>
            <p:custDataLst>
              <p:tags r:id="rId30"/>
            </p:custDataLst>
          </p:nvPr>
        </p:nvSpPr>
        <p:spPr bwMode="gray">
          <a:xfrm>
            <a:off x="9667875" y="5324475"/>
            <a:ext cx="203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C29D2D8A-5582-4078-83E9-66199DE6629E}" type="datetime'''''''''''9''''''''''''3'''''''''''''''''''''''''">
              <a:rPr lang="en-IN" altLang="en-US" b="0" smtClean="0">
                <a:solidFill>
                  <a:srgbClr val="000000"/>
                </a:solidFill>
              </a:rPr>
              <a:pPr lvl="1" algn="ctr">
                <a:spcBef>
                  <a:spcPct val="0"/>
                </a:spcBef>
                <a:spcAft>
                  <a:spcPct val="0"/>
                </a:spcAft>
                <a:defRPr/>
              </a:pPr>
              <a:t>93</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113" name="Rectangle 112"/>
          <p:cNvSpPr/>
          <p:nvPr>
            <p:custDataLst>
              <p:tags r:id="rId31"/>
            </p:custDataLst>
          </p:nvPr>
        </p:nvSpPr>
        <p:spPr bwMode="auto">
          <a:xfrm>
            <a:off x="7680325" y="6788150"/>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7" name="Rectangle 16"/>
          <p:cNvSpPr/>
          <p:nvPr>
            <p:custDataLst>
              <p:tags r:id="rId32"/>
            </p:custDataLst>
          </p:nvPr>
        </p:nvSpPr>
        <p:spPr bwMode="auto">
          <a:xfrm>
            <a:off x="6007100" y="6788150"/>
            <a:ext cx="179388" cy="133350"/>
          </a:xfrm>
          <a:prstGeom prst="rect">
            <a:avLst/>
          </a:prstGeom>
          <a:solidFill>
            <a:srgbClr val="62B5E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8" name="Rectangle 17"/>
          <p:cNvSpPr/>
          <p:nvPr>
            <p:custDataLst>
              <p:tags r:id="rId33"/>
            </p:custDataLst>
          </p:nvPr>
        </p:nvSpPr>
        <p:spPr bwMode="auto">
          <a:xfrm>
            <a:off x="6007100" y="6991350"/>
            <a:ext cx="179388" cy="133350"/>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1" name="StandardTextbox"/>
          <p:cNvSpPr>
            <a:spLocks noGrp="1"/>
          </p:cNvSpPr>
          <p:nvPr>
            <p:custDataLst>
              <p:tags r:id="rId34"/>
            </p:custDataLst>
          </p:nvPr>
        </p:nvSpPr>
        <p:spPr bwMode="auto">
          <a:xfrm>
            <a:off x="7910513" y="6783388"/>
            <a:ext cx="8604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4D0F8CA4-B277-4C2C-A41E-DAFA2300C692}" type="datetime'''''Ca''''''s''''''''h'' ''''''''''''''''''''Su''bsid''''y'''">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Cash Subsidy</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10" name="StandardTextbox"/>
          <p:cNvSpPr>
            <a:spLocks noGrp="1"/>
          </p:cNvSpPr>
          <p:nvPr>
            <p:custDataLst>
              <p:tags r:id="rId35"/>
            </p:custDataLst>
          </p:nvPr>
        </p:nvSpPr>
        <p:spPr bwMode="auto">
          <a:xfrm>
            <a:off x="6237288" y="6783388"/>
            <a:ext cx="1341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21A1771A-2FD6-4248-AB49-0CE9B5124093}" type="datetime'''''''Subsid''y ''''(''''L''o''an'' ''''''''''''''''F''o''rm)'">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Subsidy (Loan Form)</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08" name="StandardTextbox"/>
          <p:cNvSpPr>
            <a:spLocks noGrp="1"/>
          </p:cNvSpPr>
          <p:nvPr>
            <p:custDataLst>
              <p:tags r:id="rId36"/>
            </p:custDataLst>
          </p:nvPr>
        </p:nvSpPr>
        <p:spPr bwMode="auto">
          <a:xfrm>
            <a:off x="6237288" y="6986588"/>
            <a:ext cx="126047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BCAF2456-3249-4159-9FEF-A68CDA029A31}" type="datetime'''I''''ntere''s''''t'''''' ''''''o''n ''''''''Su''bsi''dy'">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Interest on Subsidy</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62" name="Rectangle 161"/>
          <p:cNvSpPr/>
          <p:nvPr/>
        </p:nvSpPr>
        <p:spPr bwMode="gray">
          <a:xfrm>
            <a:off x="5736167" y="5016500"/>
            <a:ext cx="522288" cy="250825"/>
          </a:xfrm>
          <a:prstGeom prst="rect">
            <a:avLst/>
          </a:prstGeom>
          <a:noFill/>
          <a:ln w="19050" algn="ctr">
            <a:solidFill>
              <a:schemeClr val="accent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49%</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165" name="Rectangle 164"/>
          <p:cNvSpPr/>
          <p:nvPr/>
        </p:nvSpPr>
        <p:spPr bwMode="gray">
          <a:xfrm>
            <a:off x="6678745" y="5021263"/>
            <a:ext cx="522288" cy="250825"/>
          </a:xfrm>
          <a:prstGeom prst="rect">
            <a:avLst/>
          </a:prstGeom>
          <a:noFill/>
          <a:ln w="19050" algn="ctr">
            <a:solidFill>
              <a:schemeClr val="accent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16%</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166" name="Rectangle 165"/>
          <p:cNvSpPr/>
          <p:nvPr/>
        </p:nvSpPr>
        <p:spPr bwMode="gray">
          <a:xfrm>
            <a:off x="7621323" y="5018088"/>
            <a:ext cx="522288" cy="250825"/>
          </a:xfrm>
          <a:prstGeom prst="rect">
            <a:avLst/>
          </a:prstGeom>
          <a:noFill/>
          <a:ln w="19050" algn="ctr">
            <a:solidFill>
              <a:schemeClr val="accent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19%</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167" name="Rectangle 166"/>
          <p:cNvSpPr/>
          <p:nvPr/>
        </p:nvSpPr>
        <p:spPr bwMode="gray">
          <a:xfrm>
            <a:off x="8563901" y="5018088"/>
            <a:ext cx="522288" cy="250825"/>
          </a:xfrm>
          <a:prstGeom prst="rect">
            <a:avLst/>
          </a:prstGeom>
          <a:noFill/>
          <a:ln w="19050" algn="ctr">
            <a:solidFill>
              <a:schemeClr val="accent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19%</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168" name="Rectangle 167"/>
          <p:cNvSpPr/>
          <p:nvPr/>
        </p:nvSpPr>
        <p:spPr bwMode="gray">
          <a:xfrm>
            <a:off x="9506477" y="5016500"/>
            <a:ext cx="522288" cy="250825"/>
          </a:xfrm>
          <a:prstGeom prst="rect">
            <a:avLst/>
          </a:prstGeom>
          <a:noFill/>
          <a:ln w="19050" algn="ctr">
            <a:solidFill>
              <a:schemeClr val="accent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28%</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169" name="Rectangle 168"/>
          <p:cNvSpPr/>
          <p:nvPr/>
        </p:nvSpPr>
        <p:spPr bwMode="gray">
          <a:xfrm>
            <a:off x="7683237" y="7013575"/>
            <a:ext cx="176476" cy="125413"/>
          </a:xfrm>
          <a:prstGeom prst="rect">
            <a:avLst/>
          </a:prstGeom>
          <a:noFill/>
          <a:ln w="19050" algn="ctr">
            <a:solidFill>
              <a:schemeClr val="accent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171" name="Rectangle 170"/>
          <p:cNvSpPr/>
          <p:nvPr/>
        </p:nvSpPr>
        <p:spPr bwMode="gray">
          <a:xfrm>
            <a:off x="7812871" y="7013575"/>
            <a:ext cx="2336400" cy="125413"/>
          </a:xfrm>
          <a:prstGeom prst="rect">
            <a:avLst/>
          </a:prstGeom>
          <a:no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Overall Subsidy as % of Revenue</a:t>
            </a:r>
            <a:endParaRPr kumimoji="0" lang="en-IN" sz="1000" b="0" i="0" u="none" strike="noStrike" kern="1200" cap="none" spc="0" normalizeH="0" baseline="0" noProof="0" dirty="0">
              <a:ln>
                <a:noFill/>
              </a:ln>
              <a:solidFill>
                <a:prstClr val="black"/>
              </a:solidFill>
              <a:effectLst/>
              <a:uLnTx/>
              <a:uFillTx/>
              <a:latin typeface="Verdana"/>
              <a:ea typeface="+mn-ea"/>
              <a:cs typeface="+mn-cs"/>
            </a:endParaRPr>
          </a:p>
        </p:txBody>
      </p:sp>
      <p:sp>
        <p:nvSpPr>
          <p:cNvPr id="47" name="Rectangle 46"/>
          <p:cNvSpPr/>
          <p:nvPr/>
        </p:nvSpPr>
        <p:spPr bwMode="gray">
          <a:xfrm>
            <a:off x="377226" y="7260739"/>
            <a:ext cx="9052523" cy="306873"/>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Deloitte Analysis; Note 1)</a:t>
            </a:r>
            <a:r>
              <a:rPr kumimoji="0" lang="en-US" sz="700" b="0" i="1" u="none" strike="noStrike" kern="1200" cap="none" spc="0" normalizeH="0" noProof="0" dirty="0">
                <a:ln>
                  <a:noFill/>
                </a:ln>
                <a:solidFill>
                  <a:prstClr val="black"/>
                </a:solidFill>
                <a:effectLst/>
                <a:uLnTx/>
                <a:uFillTx/>
                <a:latin typeface="Verdana"/>
                <a:ea typeface="+mn-ea"/>
                <a:cs typeface="+mn-cs"/>
              </a:rPr>
              <a:t> The Net Profit / Loss depicted in the graph (top) includes the subsidy provided by Government of Bangladesh (bottom graph)</a:t>
            </a:r>
            <a:endParaRPr kumimoji="0" lang="en-US" sz="700" b="0" i="1"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358121327"/>
      </p:ext>
    </p:extLst>
  </p:cSld>
  <p:clrMapOvr>
    <a:masterClrMapping/>
  </p:clrMapOvr>
  <p:transition>
    <p:fade/>
  </p:transition>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9" imgW="530" imgH="531" progId="TCLayout.ActiveDocument.1">
                  <p:embed/>
                </p:oleObj>
              </mc:Choice>
              <mc:Fallback>
                <p:oleObj name="think-cell Slide" r:id="rId49" imgW="530" imgH="531" progId="TCLayout.ActiveDocument.1">
                  <p:embed/>
                  <p:pic>
                    <p:nvPicPr>
                      <p:cNvPr id="4" name="Object 3" hidden="1"/>
                      <p:cNvPicPr/>
                      <p:nvPr/>
                    </p:nvPicPr>
                    <p:blipFill>
                      <a:blip r:embed="rId50"/>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1492885117"/>
              </p:ext>
            </p:ext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graph shows the breakup of Networth (BDT Bn) of BPDB (Generation &amp; Bulk Supply) from FY15 to FY19:</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graph shows the long term liabilities of BPDB in the last 5 years (BDT Bn) from FY15 to FY19</a:t>
                      </a: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BPDB Net Worth| Discom Credit Assessment</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 continued losses has led to net-worth erosion of BPDB; However with cash subsidy from GoB, the net-worth position may start to improve in future</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1891766975"/>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lgn="just">
                        <a:spcAft>
                          <a:spcPts val="500"/>
                        </a:spcAft>
                        <a:buFont typeface="Arial" panose="020B0604020202020204" pitchFamily="34" charset="0"/>
                        <a:buNone/>
                      </a:pPr>
                      <a:r>
                        <a:rPr lang="en-US" sz="1000" b="1" baseline="0" dirty="0">
                          <a:solidFill>
                            <a:schemeClr val="tx1"/>
                          </a:solidFill>
                        </a:rPr>
                        <a:t>Net Worth of BPDB</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The continued losses and subsidy support to BPDB in the form of loans has led to erosion of its networth</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The Government of Bangladesh has been steadily infusing equity in BPDB. However the same has been inadequate to change the solvency position of BPDB</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Although the networth position of BPDB has been deteriorating till FY18, the position has improved slightly in FY19 due to infusion of cash subsidy in BPDB</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However BPDB still has a negative net worth of BDT ~211 Bn in FY19</a:t>
                      </a: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1" baseline="0" dirty="0">
                        <a:solidFill>
                          <a:schemeClr val="tx1"/>
                        </a:solidFill>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baseline="0" dirty="0">
                          <a:solidFill>
                            <a:schemeClr val="tx1"/>
                          </a:solidFill>
                        </a:rPr>
                        <a:t>Long Term Liabilities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BPDB’s funds its long term asset by Government &amp; loans from International Bilateral / Multilateral agencies only</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largest long term debt component is the Subsidy Support as loan from GoB</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long term debt has increased at 12% CAGR and currently stands at BDT 621 Bn in FY19</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Debt Equity Ratio due to eroded networth has been negative for BPDB at an average of ~(-) 3.5-4.0</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However with the cash infusion as subsidy, the debt equity ratio is expected to improve in the future</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03" name="Chart 102"/>
          <p:cNvGraphicFramePr/>
          <p:nvPr>
            <p:custDataLst>
              <p:tags r:id="rId5"/>
            </p:custDataLst>
          </p:nvPr>
        </p:nvGraphicFramePr>
        <p:xfrm>
          <a:off x="5653088" y="2398713"/>
          <a:ext cx="4670425" cy="1222375"/>
        </p:xfrm>
        <a:graphic>
          <a:graphicData uri="http://schemas.openxmlformats.org/drawingml/2006/chart">
            <c:chart xmlns:c="http://schemas.openxmlformats.org/drawingml/2006/chart" xmlns:r="http://schemas.openxmlformats.org/officeDocument/2006/relationships" r:id="rId51"/>
          </a:graphicData>
        </a:graphic>
      </p:graphicFrame>
      <p:sp>
        <p:nvSpPr>
          <p:cNvPr id="57" name="StandardTextbox"/>
          <p:cNvSpPr>
            <a:spLocks noGrp="1"/>
          </p:cNvSpPr>
          <p:nvPr>
            <p:custDataLst>
              <p:tags r:id="rId6"/>
            </p:custDataLst>
          </p:nvPr>
        </p:nvSpPr>
        <p:spPr bwMode="gray">
          <a:xfrm>
            <a:off x="7818438" y="3460750"/>
            <a:ext cx="3413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2AA207F-5257-4D30-BFDB-BD9DACDF2F24}" type="datetime'-''1''''6''''''''''''''6'''''''''''''''''''''''''''''''''''">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-166</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6" name="StandardTextbox"/>
          <p:cNvSpPr>
            <a:spLocks noGrp="1"/>
          </p:cNvSpPr>
          <p:nvPr>
            <p:custDataLst>
              <p:tags r:id="rId7"/>
            </p:custDataLst>
          </p:nvPr>
        </p:nvSpPr>
        <p:spPr bwMode="gray">
          <a:xfrm>
            <a:off x="6916738" y="3413125"/>
            <a:ext cx="3413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151AD154-6782-4FE7-B9B9-83D815798C5A}" type="datetime'''''''''''''-1''''''4''''''''''''''''''''''''7'''''''''''''">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-147</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8" name="StandardTextbox"/>
          <p:cNvSpPr>
            <a:spLocks noGrp="1"/>
          </p:cNvSpPr>
          <p:nvPr>
            <p:custDataLst>
              <p:tags r:id="rId8"/>
            </p:custDataLst>
          </p:nvPr>
        </p:nvSpPr>
        <p:spPr bwMode="auto">
          <a:xfrm>
            <a:off x="6024563" y="37592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74F292F-B6B5-4393-8507-C06E894960E5}" type="datetime'F''''''''''''''Y''''''''''''''''''''1''''''''''''''''''5'''">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69" name="StandardTextbox"/>
          <p:cNvSpPr>
            <a:spLocks noGrp="1"/>
          </p:cNvSpPr>
          <p:nvPr>
            <p:custDataLst>
              <p:tags r:id="rId9"/>
            </p:custDataLst>
          </p:nvPr>
        </p:nvSpPr>
        <p:spPr bwMode="auto">
          <a:xfrm>
            <a:off x="6924675" y="37592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E94A73E-0B1C-47DF-8AB0-63121EAB0924}" type="datetime'''''''''FY''''''''''''''1''''''''6'''''''''''''''''">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FY16</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71" name="StandardTextbox"/>
          <p:cNvSpPr>
            <a:spLocks noGrp="1"/>
          </p:cNvSpPr>
          <p:nvPr>
            <p:custDataLst>
              <p:tags r:id="rId10"/>
            </p:custDataLst>
          </p:nvPr>
        </p:nvSpPr>
        <p:spPr bwMode="auto">
          <a:xfrm>
            <a:off x="7826375" y="37592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A1D7657-A724-49A9-AAC5-81392B971FD8}" type="datetime'''''''''''F''Y''''''''''''''''''''''1''7'''">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FY17</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72" name="StandardTextbox"/>
          <p:cNvSpPr>
            <a:spLocks noGrp="1"/>
          </p:cNvSpPr>
          <p:nvPr>
            <p:custDataLst>
              <p:tags r:id="rId11"/>
            </p:custDataLst>
          </p:nvPr>
        </p:nvSpPr>
        <p:spPr bwMode="auto">
          <a:xfrm>
            <a:off x="8726488" y="37592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4BDA100A-491C-45E3-A87D-FA814FFD38D9}" type="datetime'''''''''''''''''F''''''Y''''''1''''''''''''''''8'''''''">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FY18</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73" name="StandardTextbox"/>
          <p:cNvSpPr>
            <a:spLocks noGrp="1"/>
          </p:cNvSpPr>
          <p:nvPr>
            <p:custDataLst>
              <p:tags r:id="rId12"/>
            </p:custDataLst>
          </p:nvPr>
        </p:nvSpPr>
        <p:spPr bwMode="auto">
          <a:xfrm>
            <a:off x="9628188" y="37592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E155987-D736-41A9-8169-C082F395AAB9}" type="datetime'''''''F''''''''''''''Y''1''''''9'''''''''''''''''''">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FY19</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5" name="StandardTextbox"/>
          <p:cNvSpPr>
            <a:spLocks noGrp="1"/>
          </p:cNvSpPr>
          <p:nvPr>
            <p:custDataLst>
              <p:tags r:id="rId13"/>
            </p:custDataLst>
          </p:nvPr>
        </p:nvSpPr>
        <p:spPr bwMode="gray">
          <a:xfrm>
            <a:off x="6016625" y="3375025"/>
            <a:ext cx="3413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57474A11-9F84-4EBB-A738-AADE0830B8FD}" type="datetime'-''''''''''''''''''1''''''''3''''''''3'''''''''">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-133</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65" name="StandardTextbox"/>
          <p:cNvSpPr>
            <a:spLocks noGrp="1"/>
          </p:cNvSpPr>
          <p:nvPr>
            <p:custDataLst>
              <p:tags r:id="rId14"/>
            </p:custDataLst>
          </p:nvPr>
        </p:nvSpPr>
        <p:spPr bwMode="gray">
          <a:xfrm>
            <a:off x="8718550" y="3559175"/>
            <a:ext cx="3413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E2668CD-728E-4753-9904-D8EA2529E356}" type="datetime'''''''''''''''''''''''''''''''''''-''''''2''''25'">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-225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66" name="StandardTextbox"/>
          <p:cNvSpPr>
            <a:spLocks noGrp="1"/>
          </p:cNvSpPr>
          <p:nvPr>
            <p:custDataLst>
              <p:tags r:id="rId15"/>
            </p:custDataLst>
          </p:nvPr>
        </p:nvSpPr>
        <p:spPr bwMode="gray">
          <a:xfrm>
            <a:off x="9620250" y="3563938"/>
            <a:ext cx="3413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E284947-C08C-4E93-A591-974906EB865F}" type="datetime'''''''''''''''''-''''''''2''''1''''''1'''''''''''''">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-211</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7" name="Rectangle 6"/>
          <p:cNvSpPr/>
          <p:nvPr>
            <p:custDataLst>
              <p:tags r:id="rId16"/>
            </p:custDataLst>
          </p:nvPr>
        </p:nvSpPr>
        <p:spPr bwMode="auto">
          <a:xfrm>
            <a:off x="6959600" y="3981450"/>
            <a:ext cx="179388" cy="133350"/>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 name="Rectangle 5"/>
          <p:cNvSpPr/>
          <p:nvPr>
            <p:custDataLst>
              <p:tags r:id="rId17"/>
            </p:custDataLst>
          </p:nvPr>
        </p:nvSpPr>
        <p:spPr bwMode="auto">
          <a:xfrm>
            <a:off x="5697538" y="3981450"/>
            <a:ext cx="179388" cy="133350"/>
          </a:xfrm>
          <a:prstGeom prst="rect">
            <a:avLst/>
          </a:prstGeom>
          <a:solidFill>
            <a:srgbClr val="62B5E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9" name="Rectangle 8"/>
          <p:cNvSpPr/>
          <p:nvPr>
            <p:custDataLst>
              <p:tags r:id="rId18"/>
            </p:custDataLst>
          </p:nvPr>
        </p:nvSpPr>
        <p:spPr bwMode="auto">
          <a:xfrm>
            <a:off x="8453438" y="3981450"/>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52" name="StandardTextbox"/>
          <p:cNvSpPr>
            <a:spLocks noGrp="1"/>
          </p:cNvSpPr>
          <p:nvPr>
            <p:custDataLst>
              <p:tags r:id="rId19"/>
            </p:custDataLst>
          </p:nvPr>
        </p:nvSpPr>
        <p:spPr bwMode="auto">
          <a:xfrm>
            <a:off x="5927725" y="3976688"/>
            <a:ext cx="93027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6A60F375-49FB-42D1-8DB7-A46DE7465B44}" type="datetime'''''P''''''''''''aid'''''''''' ''U''''''''p ''Eq''uit''y'''">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Paid Up Equity</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3" name="StandardTextbox"/>
          <p:cNvSpPr>
            <a:spLocks noGrp="1"/>
          </p:cNvSpPr>
          <p:nvPr>
            <p:custDataLst>
              <p:tags r:id="rId20"/>
            </p:custDataLst>
          </p:nvPr>
        </p:nvSpPr>
        <p:spPr bwMode="auto">
          <a:xfrm>
            <a:off x="7189788" y="3976688"/>
            <a:ext cx="11620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7EC066AC-BBBF-46EB-A203-CACA9FD9C306}" type="datetime'''''''R''et''a''in''''ed'''' ''E''''''''ar''''''n''ings'''''''">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Retained Earnings</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75" name="StandardTextbox"/>
          <p:cNvSpPr>
            <a:spLocks noGrp="1"/>
          </p:cNvSpPr>
          <p:nvPr>
            <p:custDataLst>
              <p:tags r:id="rId21"/>
            </p:custDataLst>
          </p:nvPr>
        </p:nvSpPr>
        <p:spPr bwMode="auto">
          <a:xfrm>
            <a:off x="8683625" y="3976688"/>
            <a:ext cx="15478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E53EF969-165A-49A5-907A-D30C88E04CA1}" type="datetime'O''the''''''''''r'''''''''' ''Fund''s &amp;'''' Res''''e''''rves'">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Other Funds &amp; Reserves</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graphicFrame>
        <p:nvGraphicFramePr>
          <p:cNvPr id="189" name="Chart 188"/>
          <p:cNvGraphicFramePr/>
          <p:nvPr>
            <p:custDataLst>
              <p:tags r:id="rId22"/>
            </p:custDataLst>
          </p:nvPr>
        </p:nvGraphicFramePr>
        <p:xfrm>
          <a:off x="5653088" y="5556250"/>
          <a:ext cx="4670425" cy="971550"/>
        </p:xfrm>
        <a:graphic>
          <a:graphicData uri="http://schemas.openxmlformats.org/drawingml/2006/chart">
            <c:chart xmlns:c="http://schemas.openxmlformats.org/drawingml/2006/chart" xmlns:r="http://schemas.openxmlformats.org/officeDocument/2006/relationships" r:id="rId52"/>
          </a:graphicData>
        </a:graphic>
      </p:graphicFrame>
      <p:cxnSp>
        <p:nvCxnSpPr>
          <p:cNvPr id="16" name="Straight Connector 15"/>
          <p:cNvCxnSpPr/>
          <p:nvPr>
            <p:custDataLst>
              <p:tags r:id="rId23"/>
            </p:custDataLst>
          </p:nvPr>
        </p:nvCxnSpPr>
        <p:spPr bwMode="auto">
          <a:xfrm flipV="1">
            <a:off x="6186488" y="5189538"/>
            <a:ext cx="3603625" cy="290513"/>
          </a:xfrm>
          <a:prstGeom prst="line">
            <a:avLst/>
          </a:prstGeom>
          <a:ln w="6350" cap="flat" cmpd="sng" algn="ctr">
            <a:solidFill>
              <a:schemeClr val="tx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5" name="StandardTextbox"/>
          <p:cNvSpPr>
            <a:spLocks noGrp="1"/>
          </p:cNvSpPr>
          <p:nvPr>
            <p:custDataLst>
              <p:tags r:id="rId24"/>
            </p:custDataLst>
          </p:nvPr>
        </p:nvSpPr>
        <p:spPr bwMode="gray">
          <a:xfrm>
            <a:off x="8747125" y="5451475"/>
            <a:ext cx="2841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02BB8BD-F591-4586-A8D8-E4F1F47848BA}" type="datetime'6''''''''''''''''''''''1''''''''''''''''8'''''''">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618</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34" name="StandardTextbox"/>
          <p:cNvSpPr>
            <a:spLocks noGrp="1"/>
          </p:cNvSpPr>
          <p:nvPr>
            <p:custDataLst>
              <p:tags r:id="rId25"/>
            </p:custDataLst>
          </p:nvPr>
        </p:nvSpPr>
        <p:spPr bwMode="gray">
          <a:xfrm>
            <a:off x="6985000" y="5818188"/>
            <a:ext cx="203200" cy="152400"/>
          </a:xfrm>
          <a:prstGeom prst="rect">
            <a:avLst/>
          </a:prstGeom>
          <a:solidFill>
            <a:srgbClr val="62B5E5"/>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8C1CA18-DD89-47C9-B0DF-5A16A397C1FD}" type="datetime'''''5''''''''''''''''''''''''''''''''''''''''''''4'''''''">
              <a:rPr kumimoji="0" lang="en-IN" altLang="en-US" sz="1000" b="0" i="0" u="none" strike="noStrike" kern="1200" cap="none" spc="0" normalizeH="0" baseline="0" noProof="0" smtClean="0">
                <a:ln>
                  <a:noFill/>
                </a:ln>
                <a:solidFill>
                  <a:prstClr val="white"/>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54</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39" name="StandardTextbox"/>
          <p:cNvSpPr>
            <a:spLocks noGrp="1"/>
          </p:cNvSpPr>
          <p:nvPr>
            <p:custDataLst>
              <p:tags r:id="rId26"/>
            </p:custDataLst>
          </p:nvPr>
        </p:nvSpPr>
        <p:spPr bwMode="auto">
          <a:xfrm>
            <a:off x="6924675" y="65532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5B187FF-C8D5-46D2-A1F0-264C85C93AE2}" type="datetime'''''''''''''F''''Y1''''''''''''''6'''">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FY16</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15" name="StandardTextbox"/>
          <p:cNvSpPr>
            <a:spLocks noGrp="1"/>
          </p:cNvSpPr>
          <p:nvPr>
            <p:custDataLst>
              <p:tags r:id="rId27"/>
            </p:custDataLst>
          </p:nvPr>
        </p:nvSpPr>
        <p:spPr bwMode="gray">
          <a:xfrm>
            <a:off x="6045200" y="5735638"/>
            <a:ext cx="2841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8AAD026-88AC-4FBC-BBB8-4FDE62B75B82}" type="datetime'''''3''''''''''''''''''''''''''9''''''''''''7'">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397</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19" name="StandardTextbox"/>
          <p:cNvSpPr>
            <a:spLocks noGrp="1"/>
          </p:cNvSpPr>
          <p:nvPr>
            <p:custDataLst>
              <p:tags r:id="rId28"/>
            </p:custDataLst>
          </p:nvPr>
        </p:nvSpPr>
        <p:spPr bwMode="gray">
          <a:xfrm>
            <a:off x="6084888" y="5888038"/>
            <a:ext cx="203200" cy="152400"/>
          </a:xfrm>
          <a:prstGeom prst="rect">
            <a:avLst/>
          </a:prstGeom>
          <a:solidFill>
            <a:srgbClr val="62B5E5"/>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2F8A3C1-2F3E-4078-B722-7C1A53E5C8CE}" type="datetime'''''''''''''''''''5''''''''''3'''''''''''''''''">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53</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41" name="StandardTextbox"/>
          <p:cNvSpPr>
            <a:spLocks noGrp="1"/>
          </p:cNvSpPr>
          <p:nvPr>
            <p:custDataLst>
              <p:tags r:id="rId29"/>
            </p:custDataLst>
          </p:nvPr>
        </p:nvSpPr>
        <p:spPr bwMode="auto">
          <a:xfrm>
            <a:off x="8726488" y="65532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09BF0B1-F9A6-4062-B9FF-32240AF96E85}" type="datetime'''''''''''''''''''''F''''''Y''''''''''''''1''''''''8'''''''''">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FY18</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21" name="StandardTextbox"/>
          <p:cNvSpPr>
            <a:spLocks noGrp="1"/>
          </p:cNvSpPr>
          <p:nvPr>
            <p:custDataLst>
              <p:tags r:id="rId30"/>
            </p:custDataLst>
          </p:nvPr>
        </p:nvSpPr>
        <p:spPr bwMode="gray">
          <a:xfrm>
            <a:off x="7886700" y="5695950"/>
            <a:ext cx="203200" cy="152400"/>
          </a:xfrm>
          <a:prstGeom prst="rect">
            <a:avLst/>
          </a:prstGeom>
          <a:solidFill>
            <a:srgbClr val="62B5E5"/>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273C0D9-7ACA-4BC9-8C1A-9A7C04E94F4B}" type="datetime'''''5''''''''''''''5'''''''''''''''''''''''''''''''">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55</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33" name="StandardTextbox"/>
          <p:cNvSpPr>
            <a:spLocks noGrp="1"/>
          </p:cNvSpPr>
          <p:nvPr>
            <p:custDataLst>
              <p:tags r:id="rId31"/>
            </p:custDataLst>
          </p:nvPr>
        </p:nvSpPr>
        <p:spPr bwMode="gray">
          <a:xfrm>
            <a:off x="6985000" y="6342063"/>
            <a:ext cx="203200" cy="152400"/>
          </a:xfrm>
          <a:prstGeom prst="rect">
            <a:avLst/>
          </a:prstGeom>
          <a:solidFill>
            <a:srgbClr val="86BC25"/>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8E050E0C-EEFD-4883-B09B-7FFC86C8B14D}" type="datetime'''''''''4''1'''''''''''''''''''''''''''''''''''''''''''''''">
              <a:rPr kumimoji="0" lang="en-IN" altLang="en-US" sz="1000" b="0" i="0" u="none" strike="noStrike" kern="1200" cap="none" spc="0" normalizeH="0" baseline="0" noProof="0" smtClean="0">
                <a:ln>
                  <a:noFill/>
                </a:ln>
                <a:solidFill>
                  <a:prstClr val="white"/>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41</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04" name="StandardTextbox"/>
          <p:cNvSpPr>
            <a:spLocks noGrp="1"/>
          </p:cNvSpPr>
          <p:nvPr>
            <p:custDataLst>
              <p:tags r:id="rId32"/>
            </p:custDataLst>
          </p:nvPr>
        </p:nvSpPr>
        <p:spPr bwMode="auto">
          <a:xfrm>
            <a:off x="6024563" y="65532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C3C25A1-9784-4435-9765-FE15C78FC7B8}" type="datetime'''''''''''''''''''''''FY''''''''''''''1''''5'''''''">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31" name="StandardTextbox"/>
          <p:cNvSpPr>
            <a:spLocks noGrp="1"/>
          </p:cNvSpPr>
          <p:nvPr>
            <p:custDataLst>
              <p:tags r:id="rId33"/>
            </p:custDataLst>
          </p:nvPr>
        </p:nvSpPr>
        <p:spPr bwMode="gray">
          <a:xfrm>
            <a:off x="6084888" y="6357938"/>
            <a:ext cx="203200" cy="152400"/>
          </a:xfrm>
          <a:prstGeom prst="rect">
            <a:avLst/>
          </a:prstGeom>
          <a:solidFill>
            <a:srgbClr val="86BC25"/>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A62BF42-08F0-4BEA-89A7-A161035BB447}" type="datetime'''''''''''''1''''''''''''''''''''''''''''''''6'''''''''''''">
              <a:rPr kumimoji="0" lang="en-IN" altLang="en-US" sz="1000" b="0" i="0" u="none" strike="noStrike" kern="1200" cap="none" spc="0" normalizeH="0" baseline="0" noProof="0" smtClean="0">
                <a:ln>
                  <a:noFill/>
                </a:ln>
                <a:solidFill>
                  <a:prstClr val="white"/>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16</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26" name="StandardTextbox"/>
          <p:cNvSpPr>
            <a:spLocks noGrp="1"/>
          </p:cNvSpPr>
          <p:nvPr>
            <p:custDataLst>
              <p:tags r:id="rId34"/>
            </p:custDataLst>
          </p:nvPr>
        </p:nvSpPr>
        <p:spPr bwMode="gray">
          <a:xfrm>
            <a:off x="8786813" y="5603875"/>
            <a:ext cx="203200" cy="152400"/>
          </a:xfrm>
          <a:prstGeom prst="rect">
            <a:avLst/>
          </a:prstGeom>
          <a:solidFill>
            <a:srgbClr val="62B5E5"/>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AC0CF0D-CADB-42B8-ABBC-11AC225499BE}" type="datetime'''''''''''''''''''''''''''5''''''''''''9'''''''''''">
              <a:rPr kumimoji="0" lang="en-IN" altLang="en-US" sz="1000" b="0" i="0" u="none" strike="noStrike" kern="1200" cap="none" spc="0" normalizeH="0" baseline="0" noProof="0" smtClean="0">
                <a:ln>
                  <a:noFill/>
                </a:ln>
                <a:solidFill>
                  <a:prstClr val="white"/>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59</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42" name="StandardTextbox"/>
          <p:cNvSpPr>
            <a:spLocks noGrp="1"/>
          </p:cNvSpPr>
          <p:nvPr>
            <p:custDataLst>
              <p:tags r:id="rId35"/>
            </p:custDataLst>
          </p:nvPr>
        </p:nvSpPr>
        <p:spPr bwMode="auto">
          <a:xfrm>
            <a:off x="9628188" y="65532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EF7E628-47D5-4A9A-AE02-6261EFBF11F8}" type="datetime'F''''Y''''''''1''''''''''''''''''9'''''''''''''''''''''''">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FY19</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16" name="StandardTextbox"/>
          <p:cNvSpPr>
            <a:spLocks noGrp="1"/>
          </p:cNvSpPr>
          <p:nvPr>
            <p:custDataLst>
              <p:tags r:id="rId36"/>
            </p:custDataLst>
          </p:nvPr>
        </p:nvSpPr>
        <p:spPr bwMode="gray">
          <a:xfrm>
            <a:off x="6945313" y="5665788"/>
            <a:ext cx="2841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5367F121-5901-4C98-A8CB-5768B3510CED}" type="datetime'''45''''''''1'''''''''''''''''''''''''">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451</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17" name="StandardTextbox"/>
          <p:cNvSpPr>
            <a:spLocks noGrp="1"/>
          </p:cNvSpPr>
          <p:nvPr>
            <p:custDataLst>
              <p:tags r:id="rId37"/>
            </p:custDataLst>
          </p:nvPr>
        </p:nvSpPr>
        <p:spPr bwMode="gray">
          <a:xfrm>
            <a:off x="7847013" y="5543550"/>
            <a:ext cx="2841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84795134-6568-42BE-9D2E-CB9C78FF3885}" type="datetime'''5''4''''''''''''''''''''''''''''''''''''''''6'''''''''''">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546</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27" name="StandardTextbox"/>
          <p:cNvSpPr>
            <a:spLocks noGrp="1"/>
          </p:cNvSpPr>
          <p:nvPr>
            <p:custDataLst>
              <p:tags r:id="rId38"/>
            </p:custDataLst>
          </p:nvPr>
        </p:nvSpPr>
        <p:spPr bwMode="gray">
          <a:xfrm>
            <a:off x="9648825" y="5448300"/>
            <a:ext cx="2841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39D04D5-F0D2-4374-8334-3CB0F8658481}" type="datetime'''''''''6''''''''''''''''''''''''''''2''''''''''''''''1'''">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621</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56" name="StandardTextbox"/>
          <p:cNvSpPr>
            <a:spLocks noGrp="1"/>
          </p:cNvSpPr>
          <p:nvPr>
            <p:custDataLst>
              <p:tags r:id="rId39"/>
            </p:custDataLst>
          </p:nvPr>
        </p:nvSpPr>
        <p:spPr bwMode="gray">
          <a:xfrm>
            <a:off x="9688513" y="5600700"/>
            <a:ext cx="203200" cy="152400"/>
          </a:xfrm>
          <a:prstGeom prst="rect">
            <a:avLst/>
          </a:prstGeom>
          <a:solidFill>
            <a:srgbClr val="62B5E5"/>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5F718E11-B5A6-4444-937A-474A976F9AA4}" type="datetime'''''''''''''''''''''60'''''''''''''">
              <a:rPr kumimoji="0" lang="en-IN" altLang="en-US" sz="1000" b="0" i="0" u="none" strike="noStrike" kern="1200" cap="none" spc="0" normalizeH="0" baseline="0" noProof="0" smtClean="0">
                <a:ln>
                  <a:noFill/>
                </a:ln>
                <a:solidFill>
                  <a:prstClr val="white"/>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60</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88" name="StandardTextbox"/>
          <p:cNvSpPr>
            <a:spLocks noGrp="1"/>
          </p:cNvSpPr>
          <p:nvPr>
            <p:custDataLst>
              <p:tags r:id="rId40"/>
            </p:custDataLst>
          </p:nvPr>
        </p:nvSpPr>
        <p:spPr bwMode="auto">
          <a:xfrm>
            <a:off x="7826375" y="65532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375FC1F-6F75-420D-A349-8BD4ECF0C2F2}" type="datetime'F''''''''''''''''''''''''''''''''''''Y1''''''''''''''7'''''''">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FY17</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81" name="StandardTextbox"/>
          <p:cNvSpPr>
            <a:spLocks noGrp="1"/>
          </p:cNvSpPr>
          <p:nvPr>
            <p:custDataLst>
              <p:tags r:id="rId41"/>
            </p:custDataLst>
          </p:nvPr>
        </p:nvSpPr>
        <p:spPr bwMode="auto">
          <a:xfrm>
            <a:off x="7667625" y="5226050"/>
            <a:ext cx="641350" cy="215900"/>
          </a:xfrm>
          <a:prstGeom prst="ellipse">
            <a:avLst/>
          </a:prstGeom>
          <a:solidFill>
            <a:srgbClr val="FFFFFF"/>
          </a:solidFill>
          <a:ln w="9525" algn="ctr">
            <a:solidFill>
              <a:schemeClr val="tx1"/>
            </a:solidFill>
          </a:ln>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33D62D2-CEC4-49EB-A705-0C33912BE5E5}" type="datetime'''+''''1''''2''''%'''''''''''''''''''''''''">
              <a:rPr kumimoji="0" lang="en-IN" altLang="en-US" sz="1000" b="1"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+12%</a:t>
            </a:fld>
            <a:endParaRPr kumimoji="0" lang="en-IN" sz="1000" b="1"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0" name="Rectangle 9"/>
          <p:cNvSpPr/>
          <p:nvPr>
            <p:custDataLst>
              <p:tags r:id="rId42"/>
            </p:custDataLst>
          </p:nvPr>
        </p:nvSpPr>
        <p:spPr bwMode="auto">
          <a:xfrm>
            <a:off x="6167438" y="6718300"/>
            <a:ext cx="179388" cy="133350"/>
          </a:xfrm>
          <a:prstGeom prst="rect">
            <a:avLst/>
          </a:prstGeom>
          <a:solidFill>
            <a:srgbClr val="62B5E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 name="Rectangle 10"/>
          <p:cNvSpPr/>
          <p:nvPr>
            <p:custDataLst>
              <p:tags r:id="rId43"/>
            </p:custDataLst>
          </p:nvPr>
        </p:nvSpPr>
        <p:spPr bwMode="auto">
          <a:xfrm>
            <a:off x="6167438" y="6921500"/>
            <a:ext cx="179388" cy="133350"/>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2" name="Rectangle 11"/>
          <p:cNvSpPr/>
          <p:nvPr>
            <p:custDataLst>
              <p:tags r:id="rId44"/>
            </p:custDataLst>
          </p:nvPr>
        </p:nvSpPr>
        <p:spPr bwMode="auto">
          <a:xfrm>
            <a:off x="8315325" y="6718300"/>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9" name="StandardTextbox"/>
          <p:cNvSpPr>
            <a:spLocks noGrp="1"/>
          </p:cNvSpPr>
          <p:nvPr>
            <p:custDataLst>
              <p:tags r:id="rId45"/>
            </p:custDataLst>
          </p:nvPr>
        </p:nvSpPr>
        <p:spPr bwMode="auto">
          <a:xfrm>
            <a:off x="6397625" y="6713538"/>
            <a:ext cx="18161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737604F3-C73A-4F6A-8083-68DAD09D8731}" type="datetime'Go''ve''rnmen''t L''o''''a''n'''' (''Pr''oj''e''''''c''ts)'''">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Government Loan (Projects)</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12" name="StandardTextbox"/>
          <p:cNvSpPr>
            <a:spLocks noGrp="1"/>
          </p:cNvSpPr>
          <p:nvPr>
            <p:custDataLst>
              <p:tags r:id="rId46"/>
            </p:custDataLst>
          </p:nvPr>
        </p:nvSpPr>
        <p:spPr bwMode="auto">
          <a:xfrm>
            <a:off x="6397625" y="6916738"/>
            <a:ext cx="15224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12E56E49-3225-4DCE-89C5-E7E318805FCC}" type="datetime'''Subs''id''y ''S''u''p''p''''''o''r''''t'''' (Loa''''n)'''''">
              <a:rPr kumimoji="0" lang="en-US"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Subsidy Support (Loan)</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14" name="StandardTextbox"/>
          <p:cNvSpPr>
            <a:spLocks noGrp="1"/>
          </p:cNvSpPr>
          <p:nvPr>
            <p:custDataLst>
              <p:tags r:id="rId47"/>
            </p:custDataLst>
          </p:nvPr>
        </p:nvSpPr>
        <p:spPr bwMode="auto">
          <a:xfrm>
            <a:off x="8545513" y="6713538"/>
            <a:ext cx="14986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0D09BE69-1687-446D-A69D-E6D440BB630A}" type="datetime'F''or''''ei''''gn Loa''''''n'''''''' ''(Proje''c''t''s'''')'''">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Foreign Loan (Projects)</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59" name="Rectangle 158"/>
          <p:cNvSpPr/>
          <p:nvPr/>
        </p:nvSpPr>
        <p:spPr bwMode="gray">
          <a:xfrm>
            <a:off x="5935191" y="4819652"/>
            <a:ext cx="502594" cy="250825"/>
          </a:xfrm>
          <a:prstGeom prst="rect">
            <a:avLst/>
          </a:prstGeom>
          <a:noFill/>
          <a:ln w="19050" algn="ctr">
            <a:solidFill>
              <a:schemeClr val="accent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-3.8</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170" name="Rectangle 169"/>
          <p:cNvSpPr/>
          <p:nvPr/>
        </p:nvSpPr>
        <p:spPr bwMode="gray">
          <a:xfrm>
            <a:off x="6835430" y="4819651"/>
            <a:ext cx="502594" cy="250825"/>
          </a:xfrm>
          <a:prstGeom prst="rect">
            <a:avLst/>
          </a:prstGeom>
          <a:noFill/>
          <a:ln w="19050" algn="ctr">
            <a:solidFill>
              <a:schemeClr val="accent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-3.9</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173" name="Rectangle 172"/>
          <p:cNvSpPr/>
          <p:nvPr/>
        </p:nvSpPr>
        <p:spPr bwMode="gray">
          <a:xfrm>
            <a:off x="7735669" y="4816475"/>
            <a:ext cx="502594" cy="250825"/>
          </a:xfrm>
          <a:prstGeom prst="rect">
            <a:avLst/>
          </a:prstGeom>
          <a:noFill/>
          <a:ln w="19050" algn="ctr">
            <a:solidFill>
              <a:schemeClr val="accent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-4.1</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174" name="Rectangle 173"/>
          <p:cNvSpPr/>
          <p:nvPr/>
        </p:nvSpPr>
        <p:spPr bwMode="gray">
          <a:xfrm>
            <a:off x="8635908" y="4818852"/>
            <a:ext cx="502594" cy="250825"/>
          </a:xfrm>
          <a:prstGeom prst="rect">
            <a:avLst/>
          </a:prstGeom>
          <a:noFill/>
          <a:ln w="19050" algn="ctr">
            <a:solidFill>
              <a:schemeClr val="accent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-3.4</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176" name="Rectangle 175"/>
          <p:cNvSpPr/>
          <p:nvPr/>
        </p:nvSpPr>
        <p:spPr bwMode="gray">
          <a:xfrm>
            <a:off x="9536147" y="4816475"/>
            <a:ext cx="502594" cy="250825"/>
          </a:xfrm>
          <a:prstGeom prst="rect">
            <a:avLst/>
          </a:prstGeom>
          <a:noFill/>
          <a:ln w="19050" algn="ctr">
            <a:solidFill>
              <a:schemeClr val="accent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-3.8</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177" name="Rectangle 176"/>
          <p:cNvSpPr/>
          <p:nvPr/>
        </p:nvSpPr>
        <p:spPr bwMode="gray">
          <a:xfrm>
            <a:off x="8321513" y="6945992"/>
            <a:ext cx="176476" cy="125413"/>
          </a:xfrm>
          <a:prstGeom prst="rect">
            <a:avLst/>
          </a:prstGeom>
          <a:noFill/>
          <a:ln w="19050" algn="ctr">
            <a:solidFill>
              <a:schemeClr val="accent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178" name="Rectangle 177"/>
          <p:cNvSpPr/>
          <p:nvPr/>
        </p:nvSpPr>
        <p:spPr bwMode="gray">
          <a:xfrm>
            <a:off x="8453438" y="6945992"/>
            <a:ext cx="1548000" cy="125413"/>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Debt / Equity Ratio</a:t>
            </a:r>
            <a:endParaRPr kumimoji="0" lang="en-IN" sz="1000" b="0" i="0" u="none" strike="noStrike" kern="1200" cap="none" spc="0" normalizeH="0" baseline="0" noProof="0" dirty="0">
              <a:ln>
                <a:noFill/>
              </a:ln>
              <a:solidFill>
                <a:prstClr val="black"/>
              </a:solidFill>
              <a:effectLst/>
              <a:uLnTx/>
              <a:uFillTx/>
              <a:latin typeface="Verdana"/>
              <a:ea typeface="+mn-ea"/>
              <a:cs typeface="+mn-cs"/>
            </a:endParaRPr>
          </a:p>
        </p:txBody>
      </p:sp>
      <p:sp>
        <p:nvSpPr>
          <p:cNvPr id="58" name="Rectangle 57"/>
          <p:cNvSpPr/>
          <p:nvPr/>
        </p:nvSpPr>
        <p:spPr bwMode="gray">
          <a:xfrm>
            <a:off x="377227" y="7260740"/>
            <a:ext cx="5652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Deloitte Analysis</a:t>
            </a:r>
          </a:p>
        </p:txBody>
      </p:sp>
    </p:spTree>
    <p:extLst>
      <p:ext uri="{BB962C8B-B14F-4D97-AF65-F5344CB8AC3E}">
        <p14:creationId xmlns:p14="http://schemas.microsoft.com/office/powerpoint/2010/main" val="4087996343"/>
      </p:ext>
    </p:extLst>
  </p:cSld>
  <p:clrMapOvr>
    <a:masterClrMapping/>
  </p:clrMapOvr>
  <p:transition>
    <p:fade/>
  </p:transition>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1" imgW="530" imgH="531" progId="TCLayout.ActiveDocument.1">
                  <p:embed/>
                </p:oleObj>
              </mc:Choice>
              <mc:Fallback>
                <p:oleObj name="think-cell Slide" r:id="rId81" imgW="530" imgH="531" progId="TCLayout.ActiveDocument.1">
                  <p:embed/>
                  <p:pic>
                    <p:nvPicPr>
                      <p:cNvPr id="4" name="Object 3" hidden="1"/>
                      <p:cNvPicPr/>
                      <p:nvPr/>
                    </p:nvPicPr>
                    <p:blipFill>
                      <a:blip r:embed="rId82"/>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2059143268"/>
              </p:ext>
            </p:ext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graph shows the average Power Purchase Cost vs Average Selling Cost (BDT / kWh) of BPDB (Generation &amp; Bulk Supply): :</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graph shows the major fuel wise total power purchase cost including capacity charge (BDT / kWh) BPDB in the last 3 years from FY17 to FY19</a:t>
                      </a: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BPDB Power Purchase and Selling Rates| Discom Credit Assessment</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 contribution of liquid based power in the energy mix has been driving the overall power purchase cost of BPDB higher than the average bulk selling rate</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925713917"/>
              </p:ext>
            </p:extLst>
          </p:nvPr>
        </p:nvGraphicFramePr>
        <p:xfrm>
          <a:off x="449993" y="1961919"/>
          <a:ext cx="4734896" cy="26048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1953134">
                <a:tc>
                  <a:txBody>
                    <a:bodyPr/>
                    <a:lstStyle/>
                    <a:p>
                      <a:pPr marL="0" indent="0" algn="just">
                        <a:spcAft>
                          <a:spcPts val="500"/>
                        </a:spcAft>
                        <a:buFont typeface="Arial" panose="020B0604020202020204" pitchFamily="34" charset="0"/>
                        <a:buNone/>
                      </a:pPr>
                      <a:r>
                        <a:rPr lang="en-US" sz="1000" b="1" baseline="0" dirty="0">
                          <a:solidFill>
                            <a:schemeClr val="tx1"/>
                          </a:solidFill>
                        </a:rPr>
                        <a:t>Purchase vs Selling Cost</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The average power purchase cost for BPDB has been ranging between TK 5.5-6.3 / unit in the last 5 years whereas the average bulk selling rate has been Tk 4.8-5.1 / unit</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The higher average power purchase cost has been due to continued contribution of liquid fuel based power in the energy mix of Bangladesh</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The average cost of generation of HFO and HSD based power was Tk ~11-14 / unit for HFO and Tk 20-28 / unit for HSD in the last 3 years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These liquid fuels contribute ~20%-25% of the overall energy requirement of Bangladesh</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It is due this non recovery of the costs from tariff which has been impacting the health of BPDB over the years</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86" name="Chart 85"/>
          <p:cNvGraphicFramePr/>
          <p:nvPr>
            <p:custDataLst>
              <p:tags r:id="rId5"/>
            </p:custDataLst>
          </p:nvPr>
        </p:nvGraphicFramePr>
        <p:xfrm>
          <a:off x="5514975" y="2898775"/>
          <a:ext cx="4824413" cy="1231900"/>
        </p:xfrm>
        <a:graphic>
          <a:graphicData uri="http://schemas.openxmlformats.org/drawingml/2006/chart">
            <c:chart xmlns:c="http://schemas.openxmlformats.org/drawingml/2006/chart" xmlns:r="http://schemas.openxmlformats.org/officeDocument/2006/relationships" r:id="rId83"/>
          </a:graphicData>
        </a:graphic>
      </p:graphicFrame>
      <p:cxnSp>
        <p:nvCxnSpPr>
          <p:cNvPr id="106" name="Straight Connector 105"/>
          <p:cNvCxnSpPr/>
          <p:nvPr>
            <p:custDataLst>
              <p:tags r:id="rId6"/>
            </p:custDataLst>
          </p:nvPr>
        </p:nvCxnSpPr>
        <p:spPr bwMode="auto">
          <a:xfrm flipV="1">
            <a:off x="5929313" y="2701925"/>
            <a:ext cx="0" cy="184150"/>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custDataLst>
              <p:tags r:id="rId7"/>
            </p:custDataLst>
          </p:nvPr>
        </p:nvCxnSpPr>
        <p:spPr bwMode="auto">
          <a:xfrm>
            <a:off x="6196013" y="2701925"/>
            <a:ext cx="0" cy="409575"/>
          </a:xfrm>
          <a:prstGeom prst="line">
            <a:avLst/>
          </a:prstGeom>
          <a:ln w="6350" cap="flat" cmpd="sng" algn="ctr">
            <a:solidFill>
              <a:schemeClr val="tx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custDataLst>
              <p:tags r:id="rId8"/>
            </p:custDataLst>
          </p:nvPr>
        </p:nvCxnSpPr>
        <p:spPr bwMode="auto">
          <a:xfrm>
            <a:off x="5929313" y="2701925"/>
            <a:ext cx="266700" cy="0"/>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custDataLst>
              <p:tags r:id="rId9"/>
            </p:custDataLst>
          </p:nvPr>
        </p:nvCxnSpPr>
        <p:spPr bwMode="auto">
          <a:xfrm flipV="1">
            <a:off x="6861175" y="2813050"/>
            <a:ext cx="0" cy="184150"/>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custDataLst>
              <p:tags r:id="rId10"/>
            </p:custDataLst>
          </p:nvPr>
        </p:nvCxnSpPr>
        <p:spPr bwMode="auto">
          <a:xfrm>
            <a:off x="6861175" y="2813050"/>
            <a:ext cx="266700" cy="0"/>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custDataLst>
              <p:tags r:id="rId11"/>
            </p:custDataLst>
          </p:nvPr>
        </p:nvCxnSpPr>
        <p:spPr bwMode="auto">
          <a:xfrm>
            <a:off x="7127875" y="2813051"/>
            <a:ext cx="0" cy="265113"/>
          </a:xfrm>
          <a:prstGeom prst="line">
            <a:avLst/>
          </a:prstGeom>
          <a:ln w="6350" cap="flat" cmpd="sng" algn="ctr">
            <a:solidFill>
              <a:schemeClr val="tx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custDataLst>
              <p:tags r:id="rId12"/>
            </p:custDataLst>
          </p:nvPr>
        </p:nvCxnSpPr>
        <p:spPr bwMode="auto">
          <a:xfrm flipV="1">
            <a:off x="7793038" y="2800350"/>
            <a:ext cx="0" cy="184150"/>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custDataLst>
              <p:tags r:id="rId13"/>
            </p:custDataLst>
          </p:nvPr>
        </p:nvCxnSpPr>
        <p:spPr bwMode="auto">
          <a:xfrm>
            <a:off x="7793038" y="2800350"/>
            <a:ext cx="266700" cy="0"/>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custDataLst>
              <p:tags r:id="rId14"/>
            </p:custDataLst>
          </p:nvPr>
        </p:nvCxnSpPr>
        <p:spPr bwMode="auto">
          <a:xfrm>
            <a:off x="8059738" y="2800351"/>
            <a:ext cx="0" cy="271463"/>
          </a:xfrm>
          <a:prstGeom prst="line">
            <a:avLst/>
          </a:prstGeom>
          <a:ln w="6350" cap="flat" cmpd="sng" algn="ctr">
            <a:solidFill>
              <a:schemeClr val="tx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5" name="Straight Connector 114"/>
          <p:cNvCxnSpPr/>
          <p:nvPr>
            <p:custDataLst>
              <p:tags r:id="rId15"/>
            </p:custDataLst>
          </p:nvPr>
        </p:nvCxnSpPr>
        <p:spPr bwMode="auto">
          <a:xfrm flipV="1">
            <a:off x="8724900" y="2698750"/>
            <a:ext cx="0" cy="184150"/>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custDataLst>
              <p:tags r:id="rId16"/>
            </p:custDataLst>
          </p:nvPr>
        </p:nvCxnSpPr>
        <p:spPr bwMode="auto">
          <a:xfrm>
            <a:off x="8724900" y="2698750"/>
            <a:ext cx="266700" cy="0"/>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custDataLst>
              <p:tags r:id="rId17"/>
            </p:custDataLst>
          </p:nvPr>
        </p:nvCxnSpPr>
        <p:spPr bwMode="auto">
          <a:xfrm>
            <a:off x="8991600" y="2698750"/>
            <a:ext cx="0" cy="381000"/>
          </a:xfrm>
          <a:prstGeom prst="line">
            <a:avLst/>
          </a:prstGeom>
          <a:ln w="6350" cap="flat" cmpd="sng" algn="ctr">
            <a:solidFill>
              <a:schemeClr val="tx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p:nvPr>
            <p:custDataLst>
              <p:tags r:id="rId18"/>
            </p:custDataLst>
          </p:nvPr>
        </p:nvCxnSpPr>
        <p:spPr bwMode="auto">
          <a:xfrm>
            <a:off x="9923463" y="2746375"/>
            <a:ext cx="0" cy="341313"/>
          </a:xfrm>
          <a:prstGeom prst="line">
            <a:avLst/>
          </a:prstGeom>
          <a:ln w="6350" cap="flat" cmpd="sng" algn="ctr">
            <a:solidFill>
              <a:schemeClr val="tx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custDataLst>
              <p:tags r:id="rId19"/>
            </p:custDataLst>
          </p:nvPr>
        </p:nvCxnSpPr>
        <p:spPr bwMode="auto">
          <a:xfrm flipV="1">
            <a:off x="9656763" y="2746375"/>
            <a:ext cx="0" cy="184150"/>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custDataLst>
              <p:tags r:id="rId20"/>
            </p:custDataLst>
          </p:nvPr>
        </p:nvCxnSpPr>
        <p:spPr bwMode="auto">
          <a:xfrm>
            <a:off x="9656763" y="2746375"/>
            <a:ext cx="266700" cy="0"/>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StandardTextbox"/>
          <p:cNvSpPr>
            <a:spLocks noGrp="1"/>
          </p:cNvSpPr>
          <p:nvPr>
            <p:custDataLst>
              <p:tags r:id="rId21"/>
            </p:custDataLst>
          </p:nvPr>
        </p:nvSpPr>
        <p:spPr bwMode="auto">
          <a:xfrm>
            <a:off x="5900738" y="413385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2180BE4-991D-4FB7-8B8F-2D890CD56157}" type="datetime'''''''''''''''''''''''F''''''''''Y1''''''''''''5'''''''''''''">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 name="StandardTextbox"/>
          <p:cNvSpPr>
            <a:spLocks noGrp="1"/>
          </p:cNvSpPr>
          <p:nvPr>
            <p:custDataLst>
              <p:tags r:id="rId22"/>
            </p:custDataLst>
          </p:nvPr>
        </p:nvSpPr>
        <p:spPr bwMode="auto">
          <a:xfrm>
            <a:off x="8696325" y="413385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561EDB01-5194-4C71-A8A9-855E9785C096}" type="datetime'''''''''''''''''''''''F''''''''Y''1''8'">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FY18</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8" name="StandardTextbox"/>
          <p:cNvSpPr>
            <a:spLocks noGrp="1"/>
          </p:cNvSpPr>
          <p:nvPr>
            <p:custDataLst>
              <p:tags r:id="rId23"/>
            </p:custDataLst>
          </p:nvPr>
        </p:nvSpPr>
        <p:spPr bwMode="auto">
          <a:xfrm>
            <a:off x="6832600" y="413385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D8081F5-A886-44CF-9CAD-80D62AF88C2E}" type="datetime'''''''''''F''''''''''''''''''''''''''''''Y1''6'''''''''''">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FY16</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4" name="StandardTextbox"/>
          <p:cNvSpPr>
            <a:spLocks noGrp="1"/>
          </p:cNvSpPr>
          <p:nvPr>
            <p:custDataLst>
              <p:tags r:id="rId24"/>
            </p:custDataLst>
          </p:nvPr>
        </p:nvSpPr>
        <p:spPr bwMode="auto">
          <a:xfrm>
            <a:off x="9628188" y="413385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7917483-E31E-45D2-A47B-6700604F92C0}" type="datetime'''F''''''''''''''''''''''''Y''1''''''''''''''''''''''''9'">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FY19</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0" name="StandardTextbox"/>
          <p:cNvSpPr>
            <a:spLocks noGrp="1"/>
          </p:cNvSpPr>
          <p:nvPr>
            <p:custDataLst>
              <p:tags r:id="rId25"/>
            </p:custDataLst>
          </p:nvPr>
        </p:nvSpPr>
        <p:spPr bwMode="auto">
          <a:xfrm>
            <a:off x="7764463" y="413385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F68B541-FFBB-4553-8AF2-D744137967D0}" type="datetime'''''F''''''''''Y''''''''''''''''''''''1''7'''''''''''''">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FY17</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79" name="StandardTextbox"/>
          <p:cNvSpPr>
            <a:spLocks noGrp="1"/>
          </p:cNvSpPr>
          <p:nvPr>
            <p:custDataLst>
              <p:tags r:id="rId26"/>
            </p:custDataLst>
          </p:nvPr>
        </p:nvSpPr>
        <p:spPr bwMode="auto">
          <a:xfrm>
            <a:off x="5776913" y="2593975"/>
            <a:ext cx="571500" cy="215900"/>
          </a:xfrm>
          <a:prstGeom prst="ellipse">
            <a:avLst/>
          </a:prstGeom>
          <a:solidFill>
            <a:srgbClr val="FFFFFF"/>
          </a:solidFill>
          <a:ln w="9525" algn="ctr">
            <a:solidFill>
              <a:schemeClr val="tx1"/>
            </a:solidFill>
          </a:ln>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C6BC48B-2BA4-4A33-BF76-70F320862732}" type="datetime'''''''''''''-''''''''''''''''''''''''''2''4''''''''%'''''''''">
              <a:rPr kumimoji="0" lang="en-IN" altLang="en-US" sz="1000" b="1"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-24%</a:t>
            </a:fld>
            <a:endParaRPr kumimoji="0" lang="en-IN" sz="1000" b="1"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84" name="StandardTextbox"/>
          <p:cNvSpPr>
            <a:spLocks noGrp="1"/>
          </p:cNvSpPr>
          <p:nvPr>
            <p:custDataLst>
              <p:tags r:id="rId27"/>
            </p:custDataLst>
          </p:nvPr>
        </p:nvSpPr>
        <p:spPr bwMode="auto">
          <a:xfrm>
            <a:off x="6708775" y="2705100"/>
            <a:ext cx="571500" cy="215900"/>
          </a:xfrm>
          <a:prstGeom prst="ellipse">
            <a:avLst/>
          </a:prstGeom>
          <a:solidFill>
            <a:srgbClr val="FFFFFF"/>
          </a:solidFill>
          <a:ln w="9525" algn="ctr">
            <a:solidFill>
              <a:schemeClr val="tx1"/>
            </a:solidFill>
          </a:ln>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E3118EE-F488-488C-BA3C-9384EBC558D5}" type="datetime'''''''''''''''-''''''''''10''''''''''''''''''''''''''''''%'''">
              <a:rPr kumimoji="0" lang="en-IN" altLang="en-US" sz="1000" b="1"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-10%</a:t>
            </a:fld>
            <a:endParaRPr kumimoji="0" lang="en-IN" sz="1000" b="1"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89" name="StandardTextbox"/>
          <p:cNvSpPr>
            <a:spLocks noGrp="1"/>
          </p:cNvSpPr>
          <p:nvPr>
            <p:custDataLst>
              <p:tags r:id="rId28"/>
            </p:custDataLst>
          </p:nvPr>
        </p:nvSpPr>
        <p:spPr bwMode="auto">
          <a:xfrm>
            <a:off x="7640638" y="2692400"/>
            <a:ext cx="571500" cy="215900"/>
          </a:xfrm>
          <a:prstGeom prst="ellipse">
            <a:avLst/>
          </a:prstGeom>
          <a:solidFill>
            <a:srgbClr val="FFFFFF"/>
          </a:solidFill>
          <a:ln w="9525" algn="ctr">
            <a:solidFill>
              <a:schemeClr val="tx1"/>
            </a:solidFill>
          </a:ln>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C5F54DF-3D19-441C-88F8-5C61C353E64A}" type="datetime'''-1''0''%'''">
              <a:rPr kumimoji="0" lang="en-IN" altLang="en-US" sz="1000" b="1"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-10%</a:t>
            </a:fld>
            <a:endParaRPr kumimoji="0" lang="en-IN" sz="1000" b="1"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94" name="StandardTextbox"/>
          <p:cNvSpPr>
            <a:spLocks noGrp="1"/>
          </p:cNvSpPr>
          <p:nvPr>
            <p:custDataLst>
              <p:tags r:id="rId29"/>
            </p:custDataLst>
          </p:nvPr>
        </p:nvSpPr>
        <p:spPr bwMode="auto">
          <a:xfrm>
            <a:off x="8572500" y="2590800"/>
            <a:ext cx="571500" cy="215900"/>
          </a:xfrm>
          <a:prstGeom prst="ellipse">
            <a:avLst/>
          </a:prstGeom>
          <a:solidFill>
            <a:srgbClr val="FFFFFF"/>
          </a:solidFill>
          <a:ln w="9525" algn="ctr">
            <a:solidFill>
              <a:schemeClr val="tx1"/>
            </a:solidFill>
          </a:ln>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A6308D0-E493-4CC1-AE02-D2F27AFBA350}" type="datetime'''''''-''''''''''''''''''''''2''''''''''''1''''''%'">
              <a:rPr kumimoji="0" lang="en-IN" altLang="en-US" sz="1000" b="1"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-21%</a:t>
            </a:fld>
            <a:endParaRPr kumimoji="0" lang="en-IN" sz="1000" b="1"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19" name="StandardTextbox"/>
          <p:cNvSpPr>
            <a:spLocks noGrp="1"/>
          </p:cNvSpPr>
          <p:nvPr>
            <p:custDataLst>
              <p:tags r:id="rId30"/>
            </p:custDataLst>
          </p:nvPr>
        </p:nvSpPr>
        <p:spPr bwMode="auto">
          <a:xfrm>
            <a:off x="9504363" y="2638425"/>
            <a:ext cx="571500" cy="215900"/>
          </a:xfrm>
          <a:prstGeom prst="ellipse">
            <a:avLst/>
          </a:prstGeom>
          <a:solidFill>
            <a:srgbClr val="FFFFFF"/>
          </a:solidFill>
          <a:ln w="9525" algn="ctr">
            <a:solidFill>
              <a:schemeClr val="tx1"/>
            </a:solidFill>
          </a:ln>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A54BF13-5072-44ED-A58A-ADC849E66D02}" type="datetime'''''''''''''''''''''-1''''''''''''''''''''''7''''''%'''''''">
              <a:rPr kumimoji="0" lang="en-IN" altLang="en-US" sz="1000" b="1"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-17%</a:t>
            </a:fld>
            <a:endParaRPr kumimoji="0" lang="en-IN" sz="1000" b="1"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 name="Rectangle 4"/>
          <p:cNvSpPr/>
          <p:nvPr>
            <p:custDataLst>
              <p:tags r:id="rId31"/>
            </p:custDataLst>
          </p:nvPr>
        </p:nvSpPr>
        <p:spPr bwMode="auto">
          <a:xfrm>
            <a:off x="5913438" y="4424363"/>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 name="Rectangle 5"/>
          <p:cNvSpPr/>
          <p:nvPr>
            <p:custDataLst>
              <p:tags r:id="rId32"/>
            </p:custDataLst>
          </p:nvPr>
        </p:nvSpPr>
        <p:spPr bwMode="auto">
          <a:xfrm>
            <a:off x="8196263" y="4424363"/>
            <a:ext cx="179388" cy="133350"/>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8" name="StandardTextbox"/>
          <p:cNvSpPr>
            <a:spLocks noGrp="1"/>
          </p:cNvSpPr>
          <p:nvPr>
            <p:custDataLst>
              <p:tags r:id="rId33"/>
            </p:custDataLst>
          </p:nvPr>
        </p:nvSpPr>
        <p:spPr bwMode="auto">
          <a:xfrm>
            <a:off x="6143625" y="4419600"/>
            <a:ext cx="19510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B1DC4F92-1741-45A7-A518-D7B72EDAE9D8}" type="datetime'A''ve''ra''''ge Po''wer'' ''P''u''rc''''ha''s''''''e ''Cost '">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Average Power Purchase Cost </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9" name="StandardTextbox"/>
          <p:cNvSpPr>
            <a:spLocks noGrp="1"/>
          </p:cNvSpPr>
          <p:nvPr>
            <p:custDataLst>
              <p:tags r:id="rId34"/>
            </p:custDataLst>
          </p:nvPr>
        </p:nvSpPr>
        <p:spPr bwMode="auto">
          <a:xfrm>
            <a:off x="8426450" y="4419600"/>
            <a:ext cx="16557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C5226F5C-1BC9-4C47-BA4F-37585774B5A6}" type="datetime'''Av''''''er''''age'' ''Bulk Selling'' ''''Rat''''e'">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Average Bulk Selling Rate</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graphicFrame>
        <p:nvGraphicFramePr>
          <p:cNvPr id="83" name="Chart 82"/>
          <p:cNvGraphicFramePr/>
          <p:nvPr>
            <p:custDataLst>
              <p:tags r:id="rId35"/>
            </p:custDataLst>
          </p:nvPr>
        </p:nvGraphicFramePr>
        <p:xfrm>
          <a:off x="5514975" y="5307013"/>
          <a:ext cx="4824413" cy="1331912"/>
        </p:xfrm>
        <a:graphic>
          <a:graphicData uri="http://schemas.openxmlformats.org/drawingml/2006/chart">
            <c:chart xmlns:c="http://schemas.openxmlformats.org/drawingml/2006/chart" xmlns:r="http://schemas.openxmlformats.org/officeDocument/2006/relationships" r:id="rId84"/>
          </a:graphicData>
        </a:graphic>
      </p:graphicFrame>
      <p:sp>
        <p:nvSpPr>
          <p:cNvPr id="144" name="StandardTextbox"/>
          <p:cNvSpPr>
            <a:spLocks noGrp="1"/>
          </p:cNvSpPr>
          <p:nvPr>
            <p:custDataLst>
              <p:tags r:id="rId36"/>
            </p:custDataLst>
          </p:nvPr>
        </p:nvSpPr>
        <p:spPr bwMode="auto">
          <a:xfrm>
            <a:off x="9318625" y="66421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A524A47-DC02-4164-98D7-DD50DD1160EA}" type="datetime'''''''''''''''''''F''''Y''''''''''''''1''''''''''9'">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FY19</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47" name="StandardTextbox"/>
          <p:cNvSpPr>
            <a:spLocks noGrp="1"/>
          </p:cNvSpPr>
          <p:nvPr>
            <p:custDataLst>
              <p:tags r:id="rId37"/>
            </p:custDataLst>
          </p:nvPr>
        </p:nvSpPr>
        <p:spPr bwMode="auto">
          <a:xfrm>
            <a:off x="7764463" y="66421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C6E6175-0DFF-4056-9342-FF9601719C2B}" type="datetime'''''''''F''''''''''''''''Y''''''''''1''''''''''8'''''''''''">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FY18</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45" name="StandardTextbox"/>
          <p:cNvSpPr>
            <a:spLocks noGrp="1"/>
          </p:cNvSpPr>
          <p:nvPr>
            <p:custDataLst>
              <p:tags r:id="rId38"/>
            </p:custDataLst>
          </p:nvPr>
        </p:nvSpPr>
        <p:spPr bwMode="auto">
          <a:xfrm>
            <a:off x="6211888" y="66421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E7A9F658-8442-4161-86A4-73B854E01212}" type="datetime'''''''''''''''F''''''''''''''Y''''''''1''''7'''''''''''''">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FY17</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55" name="Rectangle 154"/>
          <p:cNvSpPr/>
          <p:nvPr>
            <p:custDataLst>
              <p:tags r:id="rId39"/>
            </p:custDataLst>
          </p:nvPr>
        </p:nvSpPr>
        <p:spPr bwMode="auto">
          <a:xfrm>
            <a:off x="7373938" y="6872288"/>
            <a:ext cx="179388" cy="133350"/>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54" name="Rectangle 153"/>
          <p:cNvSpPr/>
          <p:nvPr>
            <p:custDataLst>
              <p:tags r:id="rId40"/>
            </p:custDataLst>
          </p:nvPr>
        </p:nvSpPr>
        <p:spPr bwMode="auto">
          <a:xfrm>
            <a:off x="6800850" y="6872288"/>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5" name="Rectangle 64"/>
          <p:cNvSpPr/>
          <p:nvPr>
            <p:custDataLst>
              <p:tags r:id="rId41"/>
            </p:custDataLst>
          </p:nvPr>
        </p:nvSpPr>
        <p:spPr bwMode="auto">
          <a:xfrm>
            <a:off x="8586788" y="6872288"/>
            <a:ext cx="179388" cy="133350"/>
          </a:xfrm>
          <a:prstGeom prst="rect">
            <a:avLst/>
          </a:prstGeom>
          <a:solidFill>
            <a:srgbClr val="012169"/>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4" name="Rectangle 63"/>
          <p:cNvSpPr/>
          <p:nvPr>
            <p:custDataLst>
              <p:tags r:id="rId42"/>
            </p:custDataLst>
          </p:nvPr>
        </p:nvSpPr>
        <p:spPr bwMode="auto">
          <a:xfrm>
            <a:off x="7986713" y="6872288"/>
            <a:ext cx="179388" cy="133350"/>
          </a:xfrm>
          <a:prstGeom prst="rect">
            <a:avLst/>
          </a:prstGeom>
          <a:solidFill>
            <a:srgbClr val="62B5E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71" name="StandardTextbox"/>
          <p:cNvSpPr>
            <a:spLocks noGrp="1"/>
          </p:cNvSpPr>
          <p:nvPr>
            <p:custDataLst>
              <p:tags r:id="rId43"/>
            </p:custDataLst>
          </p:nvPr>
        </p:nvSpPr>
        <p:spPr bwMode="auto">
          <a:xfrm>
            <a:off x="8816975" y="6867525"/>
            <a:ext cx="4397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CFA45388-9502-49A5-ACDD-95047D670619}" type="datetime'''''''''''''''''''''''''''''''I''''''''m''p''''o''r''t'''">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Import</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57" name="StandardTextbox"/>
          <p:cNvSpPr>
            <a:spLocks noGrp="1"/>
          </p:cNvSpPr>
          <p:nvPr>
            <p:custDataLst>
              <p:tags r:id="rId44"/>
            </p:custDataLst>
          </p:nvPr>
        </p:nvSpPr>
        <p:spPr bwMode="auto">
          <a:xfrm>
            <a:off x="7031038" y="6867525"/>
            <a:ext cx="2413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6D5C1452-B579-489E-9E84-F4169265708E}" type="datetime'''''''G''''''a''''''''''''''''''''''''''s'''''''''''''''">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Gas</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56" name="StandardTextbox"/>
          <p:cNvSpPr>
            <a:spLocks noGrp="1"/>
          </p:cNvSpPr>
          <p:nvPr>
            <p:custDataLst>
              <p:tags r:id="rId45"/>
            </p:custDataLst>
          </p:nvPr>
        </p:nvSpPr>
        <p:spPr bwMode="auto">
          <a:xfrm>
            <a:off x="7604125" y="6867525"/>
            <a:ext cx="2809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72CC2D24-A927-48DB-9EB4-E56390C984C4}" type="datetime'H''''''S''''''''D'''''''''''''''''''">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HSD</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69" name="StandardTextbox"/>
          <p:cNvSpPr>
            <a:spLocks noGrp="1"/>
          </p:cNvSpPr>
          <p:nvPr>
            <p:custDataLst>
              <p:tags r:id="rId46"/>
            </p:custDataLst>
          </p:nvPr>
        </p:nvSpPr>
        <p:spPr bwMode="auto">
          <a:xfrm>
            <a:off x="8216900" y="6867525"/>
            <a:ext cx="2682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64834EE3-2DAC-4912-B917-6B5662EF475B}" type="datetime'''''''''''''''''''''''''''HF''''''''''''O'''''''''''''''''''''">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HFO</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graphicFrame>
        <p:nvGraphicFramePr>
          <p:cNvPr id="101" name="Chart 100"/>
          <p:cNvGraphicFramePr/>
          <p:nvPr>
            <p:custDataLst>
              <p:tags r:id="rId47"/>
            </p:custDataLst>
          </p:nvPr>
        </p:nvGraphicFramePr>
        <p:xfrm>
          <a:off x="366713" y="5087938"/>
          <a:ext cx="4900612" cy="1550987"/>
        </p:xfrm>
        <a:graphic>
          <a:graphicData uri="http://schemas.openxmlformats.org/drawingml/2006/chart">
            <c:chart xmlns:c="http://schemas.openxmlformats.org/drawingml/2006/chart" xmlns:r="http://schemas.openxmlformats.org/officeDocument/2006/relationships" r:id="rId85"/>
          </a:graphicData>
        </a:graphic>
      </p:graphicFrame>
      <p:sp>
        <p:nvSpPr>
          <p:cNvPr id="311" name="StandardTextbox"/>
          <p:cNvSpPr>
            <a:spLocks noGrp="1"/>
          </p:cNvSpPr>
          <p:nvPr>
            <p:custDataLst>
              <p:tags r:id="rId48"/>
            </p:custDataLst>
          </p:nvPr>
        </p:nvSpPr>
        <p:spPr bwMode="gray">
          <a:xfrm>
            <a:off x="1287464" y="5583238"/>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34137D2-C51B-47B7-934A-00D518CC45CE}" type="datetime'1''''''''''''''''7''''''''''''''''''''''''''''''''''''%'''">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17%</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314" name="StandardTextbox"/>
          <p:cNvSpPr>
            <a:spLocks noGrp="1"/>
          </p:cNvSpPr>
          <p:nvPr>
            <p:custDataLst>
              <p:tags r:id="rId49"/>
            </p:custDataLst>
          </p:nvPr>
        </p:nvSpPr>
        <p:spPr bwMode="gray">
          <a:xfrm>
            <a:off x="4224339" y="6005513"/>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CAE3F1F5-5CE3-40C7-9C2E-2B15BB7632FE}" type="datetime'''''''6''''''''''''''''''''8''''''''%'''''''">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68%</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309" name="StandardTextbox"/>
          <p:cNvSpPr>
            <a:spLocks noGrp="1"/>
          </p:cNvSpPr>
          <p:nvPr>
            <p:custDataLst>
              <p:tags r:id="rId50"/>
            </p:custDataLst>
          </p:nvPr>
        </p:nvSpPr>
        <p:spPr bwMode="gray">
          <a:xfrm>
            <a:off x="1066801" y="6105525"/>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15F708D9-B4DF-481B-86CD-09A7B88836B0}" type="datetime'''''''6''''''''''''''''''''6''''''''''''''''''''''%'''''''''''">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66%</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312" name="StandardTextbox"/>
          <p:cNvSpPr>
            <a:spLocks noGrp="1"/>
          </p:cNvSpPr>
          <p:nvPr>
            <p:custDataLst>
              <p:tags r:id="rId51"/>
            </p:custDataLst>
          </p:nvPr>
        </p:nvSpPr>
        <p:spPr bwMode="gray">
          <a:xfrm>
            <a:off x="2646364" y="6088063"/>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8E27F0D-91D0-4B3D-BEB2-691DCBEF007F}" type="datetime'''''''''''''''''''6''''''''''''4%'''''''''''''''''''''''''''''">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64%</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313" name="StandardTextbox"/>
          <p:cNvSpPr>
            <a:spLocks noGrp="1"/>
          </p:cNvSpPr>
          <p:nvPr>
            <p:custDataLst>
              <p:tags r:id="rId52"/>
            </p:custDataLst>
          </p:nvPr>
        </p:nvSpPr>
        <p:spPr bwMode="gray">
          <a:xfrm>
            <a:off x="2646363" y="5502275"/>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7FAB4DB-ED5E-48E4-8374-51952905CB6C}" type="datetime'1''''''7''''''''''''''%'''''''''">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17%</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310" name="StandardTextbox"/>
          <p:cNvSpPr>
            <a:spLocks noGrp="1"/>
          </p:cNvSpPr>
          <p:nvPr>
            <p:custDataLst>
              <p:tags r:id="rId53"/>
            </p:custDataLst>
          </p:nvPr>
        </p:nvSpPr>
        <p:spPr bwMode="gray">
          <a:xfrm>
            <a:off x="889001" y="5707063"/>
            <a:ext cx="258763" cy="152400"/>
          </a:xfrm>
          <a:prstGeom prst="rect">
            <a:avLst/>
          </a:prstGeom>
          <a:solidFill>
            <a:schemeClr val="accent2"/>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C0BEAF59-A5E9-4A4E-BB6D-CE7FA26D4523}" type="datetime'''5''''''''''''''''''''''''''''''''%'''''''''">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288" name="StandardTextbox"/>
          <p:cNvSpPr>
            <a:spLocks noGrp="1"/>
          </p:cNvSpPr>
          <p:nvPr>
            <p:custDataLst>
              <p:tags r:id="rId54"/>
            </p:custDataLst>
          </p:nvPr>
        </p:nvSpPr>
        <p:spPr bwMode="gray">
          <a:xfrm>
            <a:off x="889000" y="5438775"/>
            <a:ext cx="258763" cy="152400"/>
          </a:xfrm>
          <a:prstGeom prst="rect">
            <a:avLst/>
          </a:prstGeom>
          <a:solidFill>
            <a:schemeClr val="accent4"/>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65068FB-9C3E-47DC-88CB-1B51EF701ADF}" type="datetime'''''''''''''''''''''''''''''''8%'''''''''">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8%</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209" name="StandardTextbox"/>
          <p:cNvSpPr>
            <a:spLocks noGrp="1"/>
          </p:cNvSpPr>
          <p:nvPr>
            <p:custDataLst>
              <p:tags r:id="rId55"/>
            </p:custDataLst>
          </p:nvPr>
        </p:nvSpPr>
        <p:spPr bwMode="auto">
          <a:xfrm>
            <a:off x="1074738" y="66421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ADDE7E4-18F8-472C-8711-B6E6C0FD8EEF}" type="datetime'''''''''''F''''''Y''''''''''''''''''''''''''''1''''''''7'''">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FY17</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90" name="StandardTextbox"/>
          <p:cNvSpPr>
            <a:spLocks noGrp="1"/>
          </p:cNvSpPr>
          <p:nvPr>
            <p:custDataLst>
              <p:tags r:id="rId56"/>
            </p:custDataLst>
          </p:nvPr>
        </p:nvSpPr>
        <p:spPr bwMode="gray">
          <a:xfrm>
            <a:off x="2687638" y="5653088"/>
            <a:ext cx="258763" cy="152400"/>
          </a:xfrm>
          <a:prstGeom prst="rect">
            <a:avLst/>
          </a:prstGeom>
          <a:solidFill>
            <a:schemeClr val="accent2"/>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B8380AA-2829-43E8-8AEE-0A685F5ED96F}" type="datetime'''''''''''''''''''''''7''''''''''''''''''''''''''''''%'''">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7%</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289" name="StandardTextbox"/>
          <p:cNvSpPr>
            <a:spLocks noGrp="1"/>
          </p:cNvSpPr>
          <p:nvPr>
            <p:custDataLst>
              <p:tags r:id="rId57"/>
            </p:custDataLst>
          </p:nvPr>
        </p:nvSpPr>
        <p:spPr bwMode="gray">
          <a:xfrm>
            <a:off x="2468563" y="5348288"/>
            <a:ext cx="258763" cy="152400"/>
          </a:xfrm>
          <a:prstGeom prst="rect">
            <a:avLst/>
          </a:prstGeom>
          <a:solidFill>
            <a:schemeClr val="accent4"/>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58950A56-CC20-4CB5-98DB-A39C33A8DFF7}" type="datetime'''8''''''''''''''''''''''''''''''''''''''''%'''''''''''''''">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8%</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225" name="StandardTextbox"/>
          <p:cNvSpPr>
            <a:spLocks noGrp="1"/>
          </p:cNvSpPr>
          <p:nvPr>
            <p:custDataLst>
              <p:tags r:id="rId58"/>
            </p:custDataLst>
          </p:nvPr>
        </p:nvSpPr>
        <p:spPr bwMode="auto">
          <a:xfrm>
            <a:off x="2654300" y="66421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F16F38C9-7E78-4678-841D-0179F75B784E}" type="datetime'''''F''Y''''''''''''''''1''8'''''''''''''''''''''''''''''''''">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FY18</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91" name="StandardTextbox"/>
          <p:cNvSpPr>
            <a:spLocks noGrp="1"/>
          </p:cNvSpPr>
          <p:nvPr>
            <p:custDataLst>
              <p:tags r:id="rId59"/>
            </p:custDataLst>
          </p:nvPr>
        </p:nvSpPr>
        <p:spPr bwMode="gray">
          <a:xfrm>
            <a:off x="4046538" y="5510213"/>
            <a:ext cx="258763" cy="152400"/>
          </a:xfrm>
          <a:prstGeom prst="rect">
            <a:avLst/>
          </a:prstGeom>
          <a:solidFill>
            <a:schemeClr val="accent2"/>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CBAAE1E-5851-44AC-BEB8-18AAEBC366E2}" type="datetime'''''''''''''''''''''''''''''''''''''''''''3''''''''%'">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3%</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315" name="StandardTextbox"/>
          <p:cNvSpPr>
            <a:spLocks noGrp="1"/>
          </p:cNvSpPr>
          <p:nvPr>
            <p:custDataLst>
              <p:tags r:id="rId60"/>
            </p:custDataLst>
          </p:nvPr>
        </p:nvSpPr>
        <p:spPr bwMode="gray">
          <a:xfrm>
            <a:off x="4445000" y="5378450"/>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C1B91CD-07D9-46CF-A58B-E109FBEDEC74}" type="datetime'''''''''''1''''''''''''''''''''''''''''''''6''%'''''''''''''''">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16%</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316" name="StandardTextbox"/>
          <p:cNvSpPr>
            <a:spLocks noGrp="1"/>
          </p:cNvSpPr>
          <p:nvPr>
            <p:custDataLst>
              <p:tags r:id="rId61"/>
            </p:custDataLst>
          </p:nvPr>
        </p:nvSpPr>
        <p:spPr bwMode="gray">
          <a:xfrm>
            <a:off x="4005263" y="5200650"/>
            <a:ext cx="339725" cy="152400"/>
          </a:xfrm>
          <a:prstGeom prst="rect">
            <a:avLst/>
          </a:prstGeom>
          <a:noFill/>
          <a:ln>
            <a:noFill/>
          </a:ln>
          <a:extLst>
            <a:ext uri="{909E8E84-426E-40DD-AFC4-6F175D3DCCD1}">
              <a14:hiddenFill xmlns:a14="http://schemas.microsoft.com/office/drawing/2010/main">
                <a:solidFill>
                  <a:schemeClr val="accent4"/>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140D75D8-8C1D-4742-987A-71C72048430E}" type="datetime'''1''''''''''''''''0''''''''''''''''''''''''''''%'''''''">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10%</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227" name="StandardTextbox"/>
          <p:cNvSpPr>
            <a:spLocks noGrp="1"/>
          </p:cNvSpPr>
          <p:nvPr>
            <p:custDataLst>
              <p:tags r:id="rId62"/>
            </p:custDataLst>
          </p:nvPr>
        </p:nvSpPr>
        <p:spPr bwMode="auto">
          <a:xfrm>
            <a:off x="4232275" y="66421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B0F300B-6FCD-48C9-9808-E50F1C89220F}" type="datetime'''''F''''''''Y''''''''''''''1''''''''''''''''''''9'''''">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FY19</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15" name="StandardTextbox"/>
          <p:cNvSpPr>
            <a:spLocks noGrp="1"/>
          </p:cNvSpPr>
          <p:nvPr>
            <p:custDataLst>
              <p:tags r:id="rId63"/>
            </p:custDataLst>
          </p:nvPr>
        </p:nvSpPr>
        <p:spPr bwMode="gray">
          <a:xfrm>
            <a:off x="990600" y="5221288"/>
            <a:ext cx="4921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D423DF0-6FF8-4B53-B965-32EE1910735B}" type="datetime'''''''''''5''''''''''''''7'''''',''''''''''''27''6'">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57,276</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16" name="StandardTextbox"/>
          <p:cNvSpPr>
            <a:spLocks noGrp="1"/>
          </p:cNvSpPr>
          <p:nvPr>
            <p:custDataLst>
              <p:tags r:id="rId64"/>
            </p:custDataLst>
          </p:nvPr>
        </p:nvSpPr>
        <p:spPr bwMode="gray">
          <a:xfrm>
            <a:off x="2570163" y="5122863"/>
            <a:ext cx="4921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CEFE513-36EB-4A85-A729-FB7BC4782219}" type="datetime'''''''''''''''''''''''''62,''''''''''''6''7''''''8'''''">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62,678</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17" name="StandardTextbox"/>
          <p:cNvSpPr>
            <a:spLocks noGrp="1"/>
          </p:cNvSpPr>
          <p:nvPr>
            <p:custDataLst>
              <p:tags r:id="rId65"/>
            </p:custDataLst>
          </p:nvPr>
        </p:nvSpPr>
        <p:spPr bwMode="gray">
          <a:xfrm>
            <a:off x="4148138" y="4960938"/>
            <a:ext cx="4921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B523E4D-9AD1-4C51-8FD4-6F814AF08D82}" type="datetime'''''''''''''''''''''''''''70,''''5''''''''''''33'''''''''''''">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70,533</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91" name="StandardTextbox"/>
          <p:cNvSpPr>
            <a:spLocks noGrp="1"/>
          </p:cNvSpPr>
          <p:nvPr>
            <p:custDataLst>
              <p:tags r:id="rId66"/>
            </p:custDataLst>
          </p:nvPr>
        </p:nvSpPr>
        <p:spPr bwMode="gray">
          <a:xfrm>
            <a:off x="1328738" y="5373688"/>
            <a:ext cx="258763" cy="152400"/>
          </a:xfrm>
          <a:prstGeom prst="rect">
            <a:avLst/>
          </a:prstGeom>
          <a:solidFill>
            <a:schemeClr val="accent6"/>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82D03D4D-BA5D-4C1B-88EC-2C8B18F874DF}" type="datetime'''''''''''''''''''''''''''3''%'''''''''">
              <a:rPr kumimoji="0" lang="en-IN" altLang="en-US" sz="1000" b="0" i="0" u="none" strike="noStrike" kern="1200" cap="none" spc="0" normalizeH="0" baseline="0" noProof="0" smtClean="0">
                <a:ln>
                  <a:noFill/>
                </a:ln>
                <a:solidFill>
                  <a:prstClr val="white"/>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3%</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93" name="StandardTextbox"/>
          <p:cNvSpPr>
            <a:spLocks noGrp="1"/>
          </p:cNvSpPr>
          <p:nvPr>
            <p:custDataLst>
              <p:tags r:id="rId67"/>
            </p:custDataLst>
          </p:nvPr>
        </p:nvSpPr>
        <p:spPr bwMode="gray">
          <a:xfrm>
            <a:off x="2908300" y="5275263"/>
            <a:ext cx="258763" cy="152400"/>
          </a:xfrm>
          <a:prstGeom prst="rect">
            <a:avLst/>
          </a:prstGeom>
          <a:solidFill>
            <a:schemeClr val="accent6"/>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E31C3A10-BA94-4040-89D1-1A294D6F6619}" type="datetime'''''''''''''''''4''''''''''''''''''''''''''''''''''%'''''">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4%</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95" name="StandardTextbox"/>
          <p:cNvSpPr>
            <a:spLocks noGrp="1"/>
          </p:cNvSpPr>
          <p:nvPr>
            <p:custDataLst>
              <p:tags r:id="rId68"/>
            </p:custDataLst>
          </p:nvPr>
        </p:nvSpPr>
        <p:spPr bwMode="gray">
          <a:xfrm>
            <a:off x="4486275" y="5113338"/>
            <a:ext cx="258763" cy="152400"/>
          </a:xfrm>
          <a:prstGeom prst="rect">
            <a:avLst/>
          </a:prstGeom>
          <a:solidFill>
            <a:schemeClr val="accent6"/>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E067D8B6-17D4-4EE2-92E0-FC5553A46C9F}" type="datetime'''3''''%'''''''''''''''''''''''''''''''''''''">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3%</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302" name="Rectangle 301"/>
          <p:cNvSpPr/>
          <p:nvPr>
            <p:custDataLst>
              <p:tags r:id="rId69"/>
            </p:custDataLst>
          </p:nvPr>
        </p:nvSpPr>
        <p:spPr bwMode="auto">
          <a:xfrm>
            <a:off x="1096963" y="6791325"/>
            <a:ext cx="179388" cy="133350"/>
          </a:xfrm>
          <a:prstGeom prst="rect">
            <a:avLst/>
          </a:prstGeom>
          <a:solidFill>
            <a:schemeClr val="accent1"/>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303" name="Rectangle 302"/>
          <p:cNvSpPr/>
          <p:nvPr>
            <p:custDataLst>
              <p:tags r:id="rId70"/>
            </p:custDataLst>
          </p:nvPr>
        </p:nvSpPr>
        <p:spPr bwMode="auto">
          <a:xfrm>
            <a:off x="1670050" y="6791325"/>
            <a:ext cx="179388" cy="133350"/>
          </a:xfrm>
          <a:prstGeom prst="rect">
            <a:avLst/>
          </a:prstGeom>
          <a:solidFill>
            <a:schemeClr val="accent2"/>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305" name="Rectangle 304"/>
          <p:cNvSpPr/>
          <p:nvPr>
            <p:custDataLst>
              <p:tags r:id="rId71"/>
            </p:custDataLst>
          </p:nvPr>
        </p:nvSpPr>
        <p:spPr bwMode="auto">
          <a:xfrm>
            <a:off x="2882900" y="6791325"/>
            <a:ext cx="179388" cy="133350"/>
          </a:xfrm>
          <a:prstGeom prst="rect">
            <a:avLst/>
          </a:prstGeom>
          <a:solidFill>
            <a:schemeClr val="accent4"/>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304" name="Rectangle 303"/>
          <p:cNvSpPr/>
          <p:nvPr>
            <p:custDataLst>
              <p:tags r:id="rId72"/>
            </p:custDataLst>
          </p:nvPr>
        </p:nvSpPr>
        <p:spPr bwMode="auto">
          <a:xfrm>
            <a:off x="2282825" y="6791325"/>
            <a:ext cx="179388" cy="133350"/>
          </a:xfrm>
          <a:prstGeom prst="rect">
            <a:avLst/>
          </a:prstGeom>
          <a:solidFill>
            <a:schemeClr val="accent3"/>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7" name="Rectangle 6"/>
          <p:cNvSpPr/>
          <p:nvPr>
            <p:custDataLst>
              <p:tags r:id="rId73"/>
            </p:custDataLst>
          </p:nvPr>
        </p:nvSpPr>
        <p:spPr bwMode="auto">
          <a:xfrm>
            <a:off x="3654425" y="6791325"/>
            <a:ext cx="179388" cy="133350"/>
          </a:xfrm>
          <a:prstGeom prst="rect">
            <a:avLst/>
          </a:prstGeom>
          <a:solidFill>
            <a:schemeClr val="accent6"/>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12" name="StandardTextbox"/>
          <p:cNvSpPr>
            <a:spLocks noGrp="1"/>
          </p:cNvSpPr>
          <p:nvPr>
            <p:custDataLst>
              <p:tags r:id="rId74"/>
            </p:custDataLst>
          </p:nvPr>
        </p:nvSpPr>
        <p:spPr bwMode="auto">
          <a:xfrm>
            <a:off x="1327150" y="6786563"/>
            <a:ext cx="2413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BC0FF69A-0988-4231-A445-81079FD4A4EF}" type="datetime'''''G''''''''''''''''''a''''''''''''''''''''''s'''''''''''''">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Gas</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13" name="StandardTextbox"/>
          <p:cNvSpPr>
            <a:spLocks noGrp="1"/>
          </p:cNvSpPr>
          <p:nvPr>
            <p:custDataLst>
              <p:tags r:id="rId75"/>
            </p:custDataLst>
          </p:nvPr>
        </p:nvSpPr>
        <p:spPr bwMode="auto">
          <a:xfrm>
            <a:off x="1900238" y="6786563"/>
            <a:ext cx="2809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F2F3AAD6-D522-4187-B922-618BB537A29F}" type="datetime'''''H''''''''''''''''''''''''''''''S''''D'''''''''''''''''''">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HSD</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43" name="StandardTextbox"/>
          <p:cNvSpPr>
            <a:spLocks noGrp="1"/>
          </p:cNvSpPr>
          <p:nvPr>
            <p:custDataLst>
              <p:tags r:id="rId76"/>
            </p:custDataLst>
          </p:nvPr>
        </p:nvSpPr>
        <p:spPr bwMode="auto">
          <a:xfrm>
            <a:off x="3113088" y="6786563"/>
            <a:ext cx="4397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931BFF76-96D1-4BBE-BF57-64F485DAAF82}" type="datetime'''''''I''''m''''p''''''''''''''''''''''o''''rt'''''''''''''''">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Import</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14" name="StandardTextbox"/>
          <p:cNvSpPr>
            <a:spLocks noGrp="1"/>
          </p:cNvSpPr>
          <p:nvPr>
            <p:custDataLst>
              <p:tags r:id="rId77"/>
            </p:custDataLst>
          </p:nvPr>
        </p:nvSpPr>
        <p:spPr bwMode="auto">
          <a:xfrm>
            <a:off x="2513013" y="6786563"/>
            <a:ext cx="2682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F7A9E151-1382-4463-A3A5-2CEDE8D57157}" type="datetime'''''''''''''''H''''''''''''''''F''''''''''''''''''O'''''">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HFO</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90" name="StandardTextbox"/>
          <p:cNvSpPr>
            <a:spLocks noGrp="1"/>
          </p:cNvSpPr>
          <p:nvPr>
            <p:custDataLst>
              <p:tags r:id="rId78"/>
            </p:custDataLst>
          </p:nvPr>
        </p:nvSpPr>
        <p:spPr bwMode="auto">
          <a:xfrm>
            <a:off x="3884613" y="6786563"/>
            <a:ext cx="4286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50FFF945-8325-4407-8CCF-A8604DD3D3D0}" type="datetime'Oth''''''''''''e''''rs'''''''''''''''''''''''''''''''''''''">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Others</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graphicFrame>
        <p:nvGraphicFramePr>
          <p:cNvPr id="323" name="Table 322"/>
          <p:cNvGraphicFramePr>
            <a:graphicFrameLocks noGrp="1"/>
          </p:cNvGraphicFramePr>
          <p:nvPr>
            <p:custDataLst>
              <p:tags r:id="rId79"/>
            </p:custDataLst>
          </p:nvPr>
        </p:nvGraphicFramePr>
        <p:xfrm>
          <a:off x="480042" y="4545283"/>
          <a:ext cx="4734896" cy="4585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456114">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graph shows the major fuel wise contribution in the Bangladesh energy mix (MU) in the last 3 years from FY17 to FY19</a:t>
                      </a:r>
                    </a:p>
                  </a:txBody>
                  <a:tcPr marL="107998" marT="107998">
                    <a:lnL w="12700" cmpd="sng">
                      <a:noFill/>
                    </a:lnL>
                    <a:lnR w="12700" cmpd="sng">
                      <a:noFill/>
                    </a:lnR>
                    <a:lnT w="381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sp>
        <p:nvSpPr>
          <p:cNvPr id="85" name="Rectangle 84"/>
          <p:cNvSpPr/>
          <p:nvPr/>
        </p:nvSpPr>
        <p:spPr bwMode="gray">
          <a:xfrm>
            <a:off x="377227" y="7260740"/>
            <a:ext cx="5652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Deloitte Analysis</a:t>
            </a:r>
          </a:p>
        </p:txBody>
      </p:sp>
    </p:spTree>
    <p:extLst>
      <p:ext uri="{BB962C8B-B14F-4D97-AF65-F5344CB8AC3E}">
        <p14:creationId xmlns:p14="http://schemas.microsoft.com/office/powerpoint/2010/main" val="624053134"/>
      </p:ext>
    </p:extLst>
  </p:cSld>
  <p:clrMapOvr>
    <a:masterClrMapping/>
  </p:clrMapOvr>
  <p:transition>
    <p:fade/>
  </p:transition>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4" imgW="530" imgH="531" progId="TCLayout.ActiveDocument.1">
                  <p:embed/>
                </p:oleObj>
              </mc:Choice>
              <mc:Fallback>
                <p:oleObj name="think-cell Slide" r:id="rId34" imgW="530" imgH="531" progId="TCLayout.ActiveDocument.1">
                  <p:embed/>
                  <p:pic>
                    <p:nvPicPr>
                      <p:cNvPr id="4" name="Object 3" hidden="1"/>
                      <p:cNvPicPr/>
                      <p:nvPr/>
                    </p:nvPicPr>
                    <p:blipFill>
                      <a:blip r:embed="rId35"/>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graphicFrame>
        <p:nvGraphicFramePr>
          <p:cNvPr id="100" name="Table 99"/>
          <p:cNvGraphicFramePr>
            <a:graphicFrameLocks noGrp="1"/>
          </p:cNvGraphicFramePr>
          <p:nvPr>
            <p:custDataLst>
              <p:tags r:id="rId3"/>
            </p:custData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graph shows the total power purchase cost and total annual billing of BPDB from FY15 to FY19:</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graph shows total annual billing &amp; collections in the last 5 years from FY15 to FY19</a:t>
                      </a: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BPDB - Difference in Billing &amp; Collections| Discom Credit Assessment</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 difference in power purchase &amp; bulk sales rate has affected liquidity position with only ~1 month of cash &amp; bank balances with BPDB to pay off power purchase cost</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2154175260"/>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lgn="just">
                        <a:spcAft>
                          <a:spcPts val="500"/>
                        </a:spcAft>
                        <a:buFont typeface="Arial" panose="020B0604020202020204" pitchFamily="34" charset="0"/>
                        <a:buNone/>
                      </a:pPr>
                      <a:r>
                        <a:rPr lang="en-US" sz="1000" b="1" baseline="0" dirty="0">
                          <a:solidFill>
                            <a:schemeClr val="tx1"/>
                          </a:solidFill>
                        </a:rPr>
                        <a:t>BPDB Payments &amp; Collections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difference in the average power purchase rate and average selling rate has led to a mismatch in BPDB’s overall power purchase cost and annual billing to </a:t>
                      </a:r>
                      <a:r>
                        <a:rPr lang="en-US" sz="1000" b="0" kern="1200" baseline="0" dirty="0" err="1">
                          <a:solidFill>
                            <a:schemeClr val="tx1"/>
                          </a:solidFill>
                          <a:latin typeface="+mn-lt"/>
                          <a:ea typeface="+mn-ea"/>
                          <a:cs typeface="+mn-cs"/>
                        </a:rPr>
                        <a:t>discoms</a:t>
                      </a:r>
                      <a:endParaRPr lang="en-US" sz="1000" b="0" kern="1200" baseline="0" dirty="0">
                        <a:solidFill>
                          <a:schemeClr val="tx1"/>
                        </a:solidFill>
                        <a:latin typeface="+mn-lt"/>
                        <a:ea typeface="+mn-ea"/>
                        <a:cs typeface="+mn-cs"/>
                      </a:endParaRP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BPDB has been able to bill only ~80%-95% of its total power purchase cost to the </a:t>
                      </a:r>
                      <a:r>
                        <a:rPr lang="en-US" sz="1000" b="0" kern="1200" baseline="0" dirty="0" err="1">
                          <a:solidFill>
                            <a:schemeClr val="tx1"/>
                          </a:solidFill>
                          <a:latin typeface="+mn-lt"/>
                          <a:ea typeface="+mn-ea"/>
                          <a:cs typeface="+mn-cs"/>
                        </a:rPr>
                        <a:t>discoms</a:t>
                      </a:r>
                      <a:endParaRPr lang="en-US" sz="1000" b="0" kern="1200" baseline="0" dirty="0">
                        <a:solidFill>
                          <a:schemeClr val="tx1"/>
                        </a:solidFill>
                        <a:latin typeface="+mn-lt"/>
                        <a:ea typeface="+mn-ea"/>
                        <a:cs typeface="+mn-cs"/>
                      </a:endParaRP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Apart from the power purchase cost, BPDB has to incur expenses pertaining to general &amp; administrative activities, long &amp; short term loans, provisions &amp; maintenance activities among others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During FY15 and FY16, BPDB was able to collect less than 95% of its billing from </a:t>
                      </a:r>
                      <a:r>
                        <a:rPr lang="en-US" sz="1000" b="0" kern="1200" baseline="0" dirty="0" err="1">
                          <a:solidFill>
                            <a:schemeClr val="tx1"/>
                          </a:solidFill>
                          <a:latin typeface="+mn-lt"/>
                          <a:ea typeface="+mn-ea"/>
                          <a:cs typeface="+mn-cs"/>
                        </a:rPr>
                        <a:t>discoms</a:t>
                      </a:r>
                      <a:r>
                        <a:rPr lang="en-US" sz="1000" b="0" kern="1200" baseline="0" dirty="0">
                          <a:solidFill>
                            <a:schemeClr val="tx1"/>
                          </a:solidFill>
                          <a:latin typeface="+mn-lt"/>
                          <a:ea typeface="+mn-ea"/>
                          <a:cs typeface="+mn-cs"/>
                        </a:rPr>
                        <a:t> which has now improved to 99%-100% range</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However the annual cash position of BPDB has deteriorated due to an overall mismatch between its revenues and expenditure.</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During FY18 and FY19, BPDB’s cash balance was only sufficient to pay ~1 Month’s power purchase cost signifying requirement of resilience on borrowings to pay off dues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kern="1200" baseline="0" dirty="0">
                        <a:solidFill>
                          <a:schemeClr val="tx1"/>
                        </a:solidFill>
                        <a:latin typeface="+mn-lt"/>
                        <a:ea typeface="+mn-ea"/>
                        <a:cs typeface="+mn-cs"/>
                      </a:endParaRP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Following graph shows cash &amp; bank balance of BPDB (BDT Bn) in the last 5 years from FY15 to FY19</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kern="1200" baseline="0" dirty="0">
                        <a:solidFill>
                          <a:schemeClr val="tx1"/>
                        </a:solidFill>
                        <a:latin typeface="+mn-lt"/>
                        <a:ea typeface="+mn-ea"/>
                        <a:cs typeface="+mn-cs"/>
                      </a:endParaRP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kern="1200" baseline="0" dirty="0">
                        <a:solidFill>
                          <a:schemeClr val="tx1"/>
                        </a:solidFill>
                        <a:latin typeface="+mn-lt"/>
                        <a:ea typeface="+mn-ea"/>
                        <a:cs typeface="+mn-cs"/>
                      </a:endParaRPr>
                    </a:p>
                    <a:p>
                      <a:pPr marL="0" indent="0" algn="just">
                        <a:spcAft>
                          <a:spcPts val="500"/>
                        </a:spcAft>
                        <a:buFont typeface="Arial" panose="020B0604020202020204" pitchFamily="34" charset="0"/>
                        <a:buNone/>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59" name="Chart 58"/>
          <p:cNvGraphicFramePr/>
          <p:nvPr>
            <p:custDataLst>
              <p:tags r:id="rId5"/>
            </p:custDataLst>
          </p:nvPr>
        </p:nvGraphicFramePr>
        <p:xfrm>
          <a:off x="5441950" y="2790825"/>
          <a:ext cx="4881563" cy="1120775"/>
        </p:xfrm>
        <a:graphic>
          <a:graphicData uri="http://schemas.openxmlformats.org/drawingml/2006/chart">
            <c:chart xmlns:c="http://schemas.openxmlformats.org/drawingml/2006/chart" xmlns:r="http://schemas.openxmlformats.org/officeDocument/2006/relationships" r:id="rId36"/>
          </a:graphicData>
        </a:graphic>
      </p:graphicFrame>
      <p:sp>
        <p:nvSpPr>
          <p:cNvPr id="238" name="StandardTextbox"/>
          <p:cNvSpPr>
            <a:spLocks noGrp="1"/>
          </p:cNvSpPr>
          <p:nvPr>
            <p:custDataLst>
              <p:tags r:id="rId6"/>
            </p:custDataLst>
          </p:nvPr>
        </p:nvSpPr>
        <p:spPr bwMode="auto">
          <a:xfrm>
            <a:off x="5834063" y="3914775"/>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4F49E88F-6B9C-4FBD-80EA-98D6D5F2777D}" type="datetime'''F''''''''''''''''Y''''''''''''''1''''''''5'''''">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43" name="StandardTextbox"/>
          <p:cNvSpPr>
            <a:spLocks noGrp="1"/>
          </p:cNvSpPr>
          <p:nvPr>
            <p:custDataLst>
              <p:tags r:id="rId7"/>
            </p:custDataLst>
          </p:nvPr>
        </p:nvSpPr>
        <p:spPr bwMode="auto">
          <a:xfrm>
            <a:off x="6777038" y="3914775"/>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E033FDC3-38E5-4FA8-A399-33E88EB1DC03}" type="datetime'F''''''''''Y''''1''''''''''6'''''''''''''''''">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FY16</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45" name="StandardTextbox"/>
          <p:cNvSpPr>
            <a:spLocks noGrp="1"/>
          </p:cNvSpPr>
          <p:nvPr>
            <p:custDataLst>
              <p:tags r:id="rId8"/>
            </p:custDataLst>
          </p:nvPr>
        </p:nvSpPr>
        <p:spPr bwMode="auto">
          <a:xfrm>
            <a:off x="7720013" y="3914775"/>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69DF520-706D-45BE-8B14-08CDE8684C0D}" type="datetime'F''''''''''''''''''''Y''''''''''''''''1''''''''7'''''''''''">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FY17</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46" name="StandardTextbox"/>
          <p:cNvSpPr>
            <a:spLocks noGrp="1"/>
          </p:cNvSpPr>
          <p:nvPr>
            <p:custDataLst>
              <p:tags r:id="rId9"/>
            </p:custDataLst>
          </p:nvPr>
        </p:nvSpPr>
        <p:spPr bwMode="auto">
          <a:xfrm>
            <a:off x="8664575" y="3914775"/>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E891225-B0A3-49A0-8495-7F189825A532}" type="datetime'''F''''''''Y''''''''''''''''''''''''''''''''1''''8'''''''''''">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FY18</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47" name="StandardTextbox"/>
          <p:cNvSpPr>
            <a:spLocks noGrp="1"/>
          </p:cNvSpPr>
          <p:nvPr>
            <p:custDataLst>
              <p:tags r:id="rId10"/>
            </p:custDataLst>
          </p:nvPr>
        </p:nvSpPr>
        <p:spPr bwMode="auto">
          <a:xfrm>
            <a:off x="9607550" y="3914775"/>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42F05D2-C8BE-4FFB-8BB7-2FEE5D9B3AC6}" type="datetime'''''''''FY''''''''''''''''''1''''''9'''''''''''''''">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FY19</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0" name="Rectangle 19"/>
          <p:cNvSpPr/>
          <p:nvPr>
            <p:custDataLst>
              <p:tags r:id="rId11"/>
            </p:custDataLst>
          </p:nvPr>
        </p:nvSpPr>
        <p:spPr bwMode="auto">
          <a:xfrm>
            <a:off x="8032750" y="4222750"/>
            <a:ext cx="160338" cy="120650"/>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9" name="Rectangle 18"/>
          <p:cNvSpPr/>
          <p:nvPr>
            <p:custDataLst>
              <p:tags r:id="rId12"/>
            </p:custDataLst>
          </p:nvPr>
        </p:nvSpPr>
        <p:spPr bwMode="auto">
          <a:xfrm>
            <a:off x="6192838" y="4222750"/>
            <a:ext cx="160338" cy="1206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36" name="StandardTextbox"/>
          <p:cNvSpPr>
            <a:spLocks noGrp="1"/>
          </p:cNvSpPr>
          <p:nvPr>
            <p:custDataLst>
              <p:tags r:id="rId13"/>
            </p:custDataLst>
          </p:nvPr>
        </p:nvSpPr>
        <p:spPr bwMode="auto">
          <a:xfrm>
            <a:off x="6403975" y="4219575"/>
            <a:ext cx="152717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B3251C57-8A74-4205-B277-D3F9E8C43A5C}" type="datetime'To''tal'''' P''''''ower ''''''Pu''''rcha''''se Co''''st'">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Total Power Purchase Cost</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37" name="StandardTextbox"/>
          <p:cNvSpPr>
            <a:spLocks noGrp="1"/>
          </p:cNvSpPr>
          <p:nvPr>
            <p:custDataLst>
              <p:tags r:id="rId14"/>
            </p:custDataLst>
          </p:nvPr>
        </p:nvSpPr>
        <p:spPr bwMode="auto">
          <a:xfrm>
            <a:off x="8243888" y="4219575"/>
            <a:ext cx="110966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F367D660-1888-4111-A63E-2E101D4182BA}" type="datetime'Tota''l'' A''''n''n''u''''''al'' ''Bi''''''l''li''''n''''''g'">
              <a:rPr kumimoji="0" lang="en-US"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Total Annual Billing</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62" name="Rectangle 261"/>
          <p:cNvSpPr/>
          <p:nvPr/>
        </p:nvSpPr>
        <p:spPr bwMode="gray">
          <a:xfrm>
            <a:off x="5710238" y="2442756"/>
            <a:ext cx="502594" cy="250825"/>
          </a:xfrm>
          <a:prstGeom prst="rect">
            <a:avLst/>
          </a:prstGeom>
          <a:noFill/>
          <a:ln w="19050" algn="ctr">
            <a:solidFill>
              <a:schemeClr val="accent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80%</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263" name="Rectangle 262"/>
          <p:cNvSpPr/>
          <p:nvPr/>
        </p:nvSpPr>
        <p:spPr bwMode="gray">
          <a:xfrm>
            <a:off x="6645437" y="2442755"/>
            <a:ext cx="502594" cy="250825"/>
          </a:xfrm>
          <a:prstGeom prst="rect">
            <a:avLst/>
          </a:prstGeom>
          <a:noFill/>
          <a:ln w="19050" algn="ctr">
            <a:solidFill>
              <a:schemeClr val="accent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96%</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264" name="Rectangle 263"/>
          <p:cNvSpPr/>
          <p:nvPr/>
        </p:nvSpPr>
        <p:spPr bwMode="gray">
          <a:xfrm>
            <a:off x="7580636" y="2439579"/>
            <a:ext cx="502594" cy="250825"/>
          </a:xfrm>
          <a:prstGeom prst="rect">
            <a:avLst/>
          </a:prstGeom>
          <a:noFill/>
          <a:ln w="19050" algn="ctr">
            <a:solidFill>
              <a:schemeClr val="accent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95%</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265" name="Rectangle 264"/>
          <p:cNvSpPr/>
          <p:nvPr/>
        </p:nvSpPr>
        <p:spPr bwMode="gray">
          <a:xfrm>
            <a:off x="8515835" y="2441956"/>
            <a:ext cx="502594" cy="250825"/>
          </a:xfrm>
          <a:prstGeom prst="rect">
            <a:avLst/>
          </a:prstGeom>
          <a:noFill/>
          <a:ln w="19050" algn="ctr">
            <a:solidFill>
              <a:schemeClr val="accent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82%</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266" name="Rectangle 265"/>
          <p:cNvSpPr/>
          <p:nvPr/>
        </p:nvSpPr>
        <p:spPr bwMode="gray">
          <a:xfrm>
            <a:off x="9451032" y="2439579"/>
            <a:ext cx="502594" cy="250825"/>
          </a:xfrm>
          <a:prstGeom prst="rect">
            <a:avLst/>
          </a:prstGeom>
          <a:noFill/>
          <a:ln w="19050" algn="ctr">
            <a:solidFill>
              <a:schemeClr val="accent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85%</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268" name="Rectangle 267"/>
          <p:cNvSpPr/>
          <p:nvPr/>
        </p:nvSpPr>
        <p:spPr bwMode="gray">
          <a:xfrm>
            <a:off x="6048376" y="4420664"/>
            <a:ext cx="139700" cy="123825"/>
          </a:xfrm>
          <a:prstGeom prst="rect">
            <a:avLst/>
          </a:prstGeom>
          <a:noFill/>
          <a:ln w="19050" algn="ctr">
            <a:solidFill>
              <a:schemeClr val="accent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269" name="Rectangle 268"/>
          <p:cNvSpPr/>
          <p:nvPr/>
        </p:nvSpPr>
        <p:spPr bwMode="gray">
          <a:xfrm>
            <a:off x="6159501" y="4411139"/>
            <a:ext cx="3616325" cy="165100"/>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prstClr val="black"/>
                </a:solidFill>
                <a:effectLst/>
                <a:uLnTx/>
                <a:uFillTx/>
                <a:latin typeface="Verdana"/>
                <a:ea typeface="+mn-ea"/>
                <a:cs typeface="+mn-cs"/>
              </a:rPr>
              <a:t>Total Annual Billing as % of Total Power Purchase Cost</a:t>
            </a:r>
            <a:endParaRPr kumimoji="0" lang="en-IN" sz="900" b="0" i="0" u="none" strike="noStrike" kern="1200" cap="none" spc="0" normalizeH="0" baseline="0" noProof="0" dirty="0">
              <a:ln>
                <a:noFill/>
              </a:ln>
              <a:solidFill>
                <a:prstClr val="black"/>
              </a:solidFill>
              <a:effectLst/>
              <a:uLnTx/>
              <a:uFillTx/>
              <a:latin typeface="Verdana"/>
              <a:ea typeface="+mn-ea"/>
              <a:cs typeface="+mn-cs"/>
            </a:endParaRPr>
          </a:p>
        </p:txBody>
      </p:sp>
      <p:graphicFrame>
        <p:nvGraphicFramePr>
          <p:cNvPr id="362" name="Chart 361"/>
          <p:cNvGraphicFramePr/>
          <p:nvPr>
            <p:custDataLst>
              <p:tags r:id="rId15"/>
            </p:custDataLst>
          </p:nvPr>
        </p:nvGraphicFramePr>
        <p:xfrm>
          <a:off x="5441950" y="5534025"/>
          <a:ext cx="4881563" cy="1168400"/>
        </p:xfrm>
        <a:graphic>
          <a:graphicData uri="http://schemas.openxmlformats.org/drawingml/2006/chart">
            <c:chart xmlns:c="http://schemas.openxmlformats.org/drawingml/2006/chart" xmlns:r="http://schemas.openxmlformats.org/officeDocument/2006/relationships" r:id="rId37"/>
          </a:graphicData>
        </a:graphic>
      </p:graphicFrame>
      <p:sp>
        <p:nvSpPr>
          <p:cNvPr id="328" name="StandardTextbox"/>
          <p:cNvSpPr>
            <a:spLocks noGrp="1"/>
          </p:cNvSpPr>
          <p:nvPr>
            <p:custDataLst>
              <p:tags r:id="rId16"/>
            </p:custDataLst>
          </p:nvPr>
        </p:nvSpPr>
        <p:spPr bwMode="auto">
          <a:xfrm>
            <a:off x="5834063" y="67056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6F2DC0E-FB6B-4A70-8FC0-30BDC354DE58}" type="datetime'''''F''''''''''''''''''''''''''''''''''''''''Y15'''">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29" name="StandardTextbox"/>
          <p:cNvSpPr>
            <a:spLocks noGrp="1"/>
          </p:cNvSpPr>
          <p:nvPr>
            <p:custDataLst>
              <p:tags r:id="rId17"/>
            </p:custDataLst>
          </p:nvPr>
        </p:nvSpPr>
        <p:spPr bwMode="auto">
          <a:xfrm>
            <a:off x="6777038" y="67056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352AB84-FE6B-404F-9732-14DADEC2BCF8}" type="datetime'''''F''''''''''''Y''''''1''''''''''''''6'''''''">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FY16</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30" name="StandardTextbox"/>
          <p:cNvSpPr>
            <a:spLocks noGrp="1"/>
          </p:cNvSpPr>
          <p:nvPr>
            <p:custDataLst>
              <p:tags r:id="rId18"/>
            </p:custDataLst>
          </p:nvPr>
        </p:nvSpPr>
        <p:spPr bwMode="auto">
          <a:xfrm>
            <a:off x="7720013" y="67056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B63CBA9-1FD4-40A2-B76B-50F79FCEAE60}" type="datetime'''''''''''''''FY''''1''''''''''''''''''''''7'''''''''''''">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FY17</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27" name="StandardTextbox"/>
          <p:cNvSpPr>
            <a:spLocks noGrp="1"/>
          </p:cNvSpPr>
          <p:nvPr>
            <p:custDataLst>
              <p:tags r:id="rId19"/>
            </p:custDataLst>
          </p:nvPr>
        </p:nvSpPr>
        <p:spPr bwMode="auto">
          <a:xfrm>
            <a:off x="8664575" y="67056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5BB03F10-0FD8-4993-987D-2DD95CBC72AF}" type="datetime'FY''''''''''''''''''''''''1''''''''''''''''''8'">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FY18</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31" name="StandardTextbox"/>
          <p:cNvSpPr>
            <a:spLocks noGrp="1"/>
          </p:cNvSpPr>
          <p:nvPr>
            <p:custDataLst>
              <p:tags r:id="rId20"/>
            </p:custDataLst>
          </p:nvPr>
        </p:nvSpPr>
        <p:spPr bwMode="auto">
          <a:xfrm>
            <a:off x="9607550" y="67056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8ACC529-323C-4679-97FC-2F6DD11F4418}" type="datetime'''''''''''''''FY''''''''''''''''1''9'''">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FY19</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8" name="Rectangle 27"/>
          <p:cNvSpPr/>
          <p:nvPr>
            <p:custDataLst>
              <p:tags r:id="rId21"/>
            </p:custDataLst>
          </p:nvPr>
        </p:nvSpPr>
        <p:spPr bwMode="auto">
          <a:xfrm>
            <a:off x="6992938" y="6881813"/>
            <a:ext cx="160338" cy="120650"/>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332" name="Rectangle 331"/>
          <p:cNvSpPr/>
          <p:nvPr>
            <p:custDataLst>
              <p:tags r:id="rId22"/>
            </p:custDataLst>
          </p:nvPr>
        </p:nvSpPr>
        <p:spPr bwMode="auto">
          <a:xfrm>
            <a:off x="5570538" y="6881813"/>
            <a:ext cx="160338" cy="1206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334" name="StandardTextbox"/>
          <p:cNvSpPr>
            <a:spLocks noGrp="1"/>
          </p:cNvSpPr>
          <p:nvPr>
            <p:custDataLst>
              <p:tags r:id="rId23"/>
            </p:custDataLst>
          </p:nvPr>
        </p:nvSpPr>
        <p:spPr bwMode="auto">
          <a:xfrm>
            <a:off x="5781675" y="6878638"/>
            <a:ext cx="110966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ADC5674E-7861-4352-87F8-94A0C938BCF1}" type="datetime'''To''''t''''''''a''l ''''''''A''nn''ual'' ''Bi''''''lli''ng'">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Total Annual Billing</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41" name="StandardTextbox"/>
          <p:cNvSpPr>
            <a:spLocks noGrp="1"/>
          </p:cNvSpPr>
          <p:nvPr>
            <p:custDataLst>
              <p:tags r:id="rId24"/>
            </p:custDataLst>
          </p:nvPr>
        </p:nvSpPr>
        <p:spPr bwMode="auto">
          <a:xfrm>
            <a:off x="7204075" y="6878638"/>
            <a:ext cx="13208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DAFD25EC-5D51-4845-8092-81963F99CDCE}" type="datetime'''T''o''tal ''Ann''''u''''''''''al ''Co''''l''l''''''ectio''n'">
              <a:rPr kumimoji="0" lang="en-IN" altLang="en-US" sz="9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Total Annual Collection</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47" name="Rectangle 346"/>
          <p:cNvSpPr/>
          <p:nvPr/>
        </p:nvSpPr>
        <p:spPr bwMode="gray">
          <a:xfrm>
            <a:off x="5710238" y="5260975"/>
            <a:ext cx="502594" cy="250825"/>
          </a:xfrm>
          <a:prstGeom prst="rect">
            <a:avLst/>
          </a:prstGeom>
          <a:noFill/>
          <a:ln w="19050" algn="ctr">
            <a:solidFill>
              <a:schemeClr val="accent5"/>
            </a:solidFill>
            <a:miter lim="800000"/>
            <a:headEnd/>
            <a:tailEnd/>
          </a:ln>
        </p:spPr>
        <p:txBody>
          <a:bodyPr wrap="square" lIns="36000" tIns="88900" rIns="360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94%</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348" name="Rectangle 347"/>
          <p:cNvSpPr/>
          <p:nvPr/>
        </p:nvSpPr>
        <p:spPr bwMode="gray">
          <a:xfrm>
            <a:off x="6645437" y="5260975"/>
            <a:ext cx="502594" cy="250825"/>
          </a:xfrm>
          <a:prstGeom prst="rect">
            <a:avLst/>
          </a:prstGeom>
          <a:noFill/>
          <a:ln w="19050" algn="ctr">
            <a:solidFill>
              <a:schemeClr val="accent5"/>
            </a:solidFill>
            <a:miter lim="800000"/>
            <a:headEnd/>
            <a:tailEnd/>
          </a:ln>
        </p:spPr>
        <p:txBody>
          <a:bodyPr wrap="square" lIns="36000" tIns="88900" rIns="360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90%</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349" name="Rectangle 348"/>
          <p:cNvSpPr/>
          <p:nvPr/>
        </p:nvSpPr>
        <p:spPr bwMode="gray">
          <a:xfrm>
            <a:off x="7580636" y="5257800"/>
            <a:ext cx="502594" cy="250825"/>
          </a:xfrm>
          <a:prstGeom prst="rect">
            <a:avLst/>
          </a:prstGeom>
          <a:noFill/>
          <a:ln w="19050" algn="ctr">
            <a:solidFill>
              <a:schemeClr val="accent5"/>
            </a:solidFill>
            <a:miter lim="800000"/>
            <a:headEnd/>
            <a:tailEnd/>
          </a:ln>
        </p:spPr>
        <p:txBody>
          <a:bodyPr wrap="square" lIns="36000" tIns="88900" rIns="360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100%</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350" name="Rectangle 349"/>
          <p:cNvSpPr/>
          <p:nvPr/>
        </p:nvSpPr>
        <p:spPr bwMode="gray">
          <a:xfrm>
            <a:off x="8515835" y="5259388"/>
            <a:ext cx="502594" cy="250825"/>
          </a:xfrm>
          <a:prstGeom prst="rect">
            <a:avLst/>
          </a:prstGeom>
          <a:noFill/>
          <a:ln w="19050" algn="ctr">
            <a:solidFill>
              <a:schemeClr val="accent5"/>
            </a:solidFill>
            <a:miter lim="800000"/>
            <a:headEnd/>
            <a:tailEnd/>
          </a:ln>
        </p:spPr>
        <p:txBody>
          <a:bodyPr wrap="square" lIns="36000" tIns="88900" rIns="360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99%</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351" name="Rectangle 350"/>
          <p:cNvSpPr/>
          <p:nvPr/>
        </p:nvSpPr>
        <p:spPr bwMode="gray">
          <a:xfrm>
            <a:off x="9451032" y="5257800"/>
            <a:ext cx="502594" cy="250825"/>
          </a:xfrm>
          <a:prstGeom prst="rect">
            <a:avLst/>
          </a:prstGeom>
          <a:noFill/>
          <a:ln w="19050" algn="ctr">
            <a:solidFill>
              <a:schemeClr val="accent5"/>
            </a:solidFill>
            <a:miter lim="800000"/>
            <a:headEnd/>
            <a:tailEnd/>
          </a:ln>
        </p:spPr>
        <p:txBody>
          <a:bodyPr wrap="square" lIns="36000" tIns="88900" rIns="360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100%</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354" name="Rectangle 353"/>
          <p:cNvSpPr/>
          <p:nvPr/>
        </p:nvSpPr>
        <p:spPr bwMode="gray">
          <a:xfrm>
            <a:off x="8631330" y="6899275"/>
            <a:ext cx="141288" cy="123825"/>
          </a:xfrm>
          <a:prstGeom prst="rect">
            <a:avLst/>
          </a:prstGeom>
          <a:noFill/>
          <a:ln w="19050" algn="ctr">
            <a:solidFill>
              <a:schemeClr val="accent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355" name="Rectangle 354"/>
          <p:cNvSpPr/>
          <p:nvPr/>
        </p:nvSpPr>
        <p:spPr bwMode="gray">
          <a:xfrm>
            <a:off x="8768925" y="6878638"/>
            <a:ext cx="1533675" cy="165100"/>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prstClr val="black"/>
                </a:solidFill>
                <a:effectLst/>
                <a:uLnTx/>
                <a:uFillTx/>
                <a:latin typeface="Verdana"/>
                <a:ea typeface="+mn-ea"/>
                <a:cs typeface="+mn-cs"/>
              </a:rPr>
              <a:t>Billing Collection Ratio</a:t>
            </a:r>
            <a:endParaRPr kumimoji="0" lang="en-IN" sz="900" b="0" i="0" u="none" strike="noStrike" kern="1200" cap="none" spc="0" normalizeH="0" baseline="0" noProof="0" dirty="0">
              <a:ln>
                <a:noFill/>
              </a:ln>
              <a:solidFill>
                <a:prstClr val="black"/>
              </a:solidFill>
              <a:effectLst/>
              <a:uLnTx/>
              <a:uFillTx/>
              <a:latin typeface="Verdana"/>
              <a:ea typeface="+mn-ea"/>
              <a:cs typeface="+mn-cs"/>
            </a:endParaRPr>
          </a:p>
        </p:txBody>
      </p:sp>
      <p:graphicFrame>
        <p:nvGraphicFramePr>
          <p:cNvPr id="57" name="Chart 56"/>
          <p:cNvGraphicFramePr/>
          <p:nvPr>
            <p:custDataLst>
              <p:tags r:id="rId25"/>
            </p:custDataLst>
          </p:nvPr>
        </p:nvGraphicFramePr>
        <p:xfrm>
          <a:off x="366713" y="5695950"/>
          <a:ext cx="4900612" cy="901700"/>
        </p:xfrm>
        <a:graphic>
          <a:graphicData uri="http://schemas.openxmlformats.org/drawingml/2006/chart">
            <c:chart xmlns:c="http://schemas.openxmlformats.org/drawingml/2006/chart" xmlns:r="http://schemas.openxmlformats.org/officeDocument/2006/relationships" r:id="rId38"/>
          </a:graphicData>
        </a:graphic>
      </p:graphicFrame>
      <p:sp>
        <p:nvSpPr>
          <p:cNvPr id="363" name="StandardTextbox"/>
          <p:cNvSpPr>
            <a:spLocks noGrp="1"/>
          </p:cNvSpPr>
          <p:nvPr>
            <p:custDataLst>
              <p:tags r:id="rId26"/>
            </p:custDataLst>
          </p:nvPr>
        </p:nvSpPr>
        <p:spPr bwMode="auto">
          <a:xfrm>
            <a:off x="760413" y="6600825"/>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DA88FB6-2BEF-4AA6-BF39-49DF4EDF25EC}" type="datetime'''''''''''''''''''''''''F''''''''''''Y1''''''''''''''5'''">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2" name="StandardTextbox"/>
          <p:cNvSpPr>
            <a:spLocks noGrp="1"/>
          </p:cNvSpPr>
          <p:nvPr>
            <p:custDataLst>
              <p:tags r:id="rId27"/>
            </p:custDataLst>
          </p:nvPr>
        </p:nvSpPr>
        <p:spPr bwMode="auto">
          <a:xfrm>
            <a:off x="1708150" y="6600825"/>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0788A27-2D37-4AAD-963B-907CEFF146BF}" type="datetime'''''''F''''''''''''Y''''''1''''''''6'''''''''''''''''">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FY16</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4" name="StandardTextbox"/>
          <p:cNvSpPr>
            <a:spLocks noGrp="1"/>
          </p:cNvSpPr>
          <p:nvPr>
            <p:custDataLst>
              <p:tags r:id="rId28"/>
            </p:custDataLst>
          </p:nvPr>
        </p:nvSpPr>
        <p:spPr bwMode="auto">
          <a:xfrm>
            <a:off x="2654300" y="6600825"/>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50DDB430-8A8B-494A-BFEF-5FB6D2BEE66F}" type="datetime'''''''''''''''''''F''''Y''''''''''''''''''1''''''''''''7'''''">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FY17</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6" name="StandardTextbox"/>
          <p:cNvSpPr>
            <a:spLocks noGrp="1"/>
          </p:cNvSpPr>
          <p:nvPr>
            <p:custDataLst>
              <p:tags r:id="rId29"/>
            </p:custDataLst>
          </p:nvPr>
        </p:nvSpPr>
        <p:spPr bwMode="auto">
          <a:xfrm>
            <a:off x="4548188" y="6600825"/>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9ED0E35-630C-4681-932D-2D2368C98610}" type="datetime'F''Y''1''''''''''''''''''''9'">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FY19</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5" name="StandardTextbox"/>
          <p:cNvSpPr>
            <a:spLocks noGrp="1"/>
          </p:cNvSpPr>
          <p:nvPr>
            <p:custDataLst>
              <p:tags r:id="rId30"/>
            </p:custDataLst>
          </p:nvPr>
        </p:nvSpPr>
        <p:spPr bwMode="auto">
          <a:xfrm>
            <a:off x="3602038" y="6600825"/>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E73241F4-FC8E-4AFB-A0B5-1A284D0AAD66}" type="datetime'''''''''''''''''''''''''''''FY''''1''''''''''''''''''''8'">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FY18</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1" name="Rectangle 30"/>
          <p:cNvSpPr/>
          <p:nvPr>
            <p:custDataLst>
              <p:tags r:id="rId31"/>
            </p:custDataLst>
          </p:nvPr>
        </p:nvSpPr>
        <p:spPr bwMode="auto">
          <a:xfrm>
            <a:off x="2238375" y="6875463"/>
            <a:ext cx="179388" cy="133350"/>
          </a:xfrm>
          <a:prstGeom prst="rect">
            <a:avLst/>
          </a:prstGeom>
          <a:solidFill>
            <a:srgbClr val="00ABAB"/>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387" name="StandardTextbox"/>
          <p:cNvSpPr>
            <a:spLocks noGrp="1"/>
          </p:cNvSpPr>
          <p:nvPr>
            <p:custDataLst>
              <p:tags r:id="rId32"/>
            </p:custDataLst>
          </p:nvPr>
        </p:nvSpPr>
        <p:spPr bwMode="auto">
          <a:xfrm>
            <a:off x="2468563" y="6870700"/>
            <a:ext cx="134937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72292E22-8802-4981-ADF2-ADF7DE93CA75}" type="datetime'Cash in'''''''''''' ''''H''an''d ''''''''''''&amp; ''''Ba''''''nk'">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Cash in Hand &amp; Bank</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1" name="Rectangle 50"/>
          <p:cNvSpPr/>
          <p:nvPr/>
        </p:nvSpPr>
        <p:spPr bwMode="gray">
          <a:xfrm>
            <a:off x="377227" y="7260740"/>
            <a:ext cx="5652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Deloitte Analysis</a:t>
            </a:r>
          </a:p>
        </p:txBody>
      </p:sp>
    </p:spTree>
    <p:extLst>
      <p:ext uri="{BB962C8B-B14F-4D97-AF65-F5344CB8AC3E}">
        <p14:creationId xmlns:p14="http://schemas.microsoft.com/office/powerpoint/2010/main" val="3999495500"/>
      </p:ext>
    </p:extLst>
  </p:cSld>
  <p:clrMapOvr>
    <a:masterClrMapping/>
  </p:clrMapOvr>
  <p:transition>
    <p:fade/>
  </p:transition>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6" imgW="530" imgH="531" progId="TCLayout.ActiveDocument.1">
                  <p:embed/>
                </p:oleObj>
              </mc:Choice>
              <mc:Fallback>
                <p:oleObj name="think-cell Slide" r:id="rId16" imgW="530" imgH="531" progId="TCLayout.ActiveDocument.1">
                  <p:embed/>
                  <p:pic>
                    <p:nvPicPr>
                      <p:cNvPr id="4" name="Object 3" hidden="1"/>
                      <p:cNvPicPr/>
                      <p:nvPr/>
                    </p:nvPicPr>
                    <p:blipFill>
                      <a:blip r:embed="rId1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graphicFrame>
        <p:nvGraphicFramePr>
          <p:cNvPr id="100" name="Table 99"/>
          <p:cNvGraphicFramePr>
            <a:graphicFrameLocks noGrp="1"/>
          </p:cNvGraphicFramePr>
          <p:nvPr>
            <p:custDataLst>
              <p:tags r:id="rId3"/>
            </p:custData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Following graph shows the Creditor’s Turnover ratio and Creditor Days in the last 5 years from FY15 to FY19</a:t>
                      </a:r>
                    </a:p>
                    <a:p>
                      <a:pPr marL="0" lvl="0" indent="0">
                        <a:spcAft>
                          <a:spcPts val="500"/>
                        </a:spcAft>
                        <a:buFont typeface="Arial" panose="020B0604020202020204" pitchFamily="34" charset="0"/>
                        <a:buNone/>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graph shows Debtor’s Turnover ratio and Debtor Days in the last 5 years from FY15 to FY19</a:t>
                      </a: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BPDB Debtor and Creditor Days| Discom Credit Assessment</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There is a mismatch in BPDB’s payables &amp; receivables due to delayed payments by </a:t>
            </a:r>
            <a:r>
              <a:rPr kumimoji="0" lang="en-US" sz="1400" b="1" i="0" u="none" strike="noStrike" kern="1200" cap="none" spc="0" normalizeH="0" baseline="0" noProof="0" dirty="0" err="1">
                <a:ln>
                  <a:noFill/>
                </a:ln>
                <a:solidFill>
                  <a:prstClr val="black">
                    <a:lumMod val="50000"/>
                    <a:lumOff val="50000"/>
                  </a:prstClr>
                </a:solidFill>
                <a:effectLst/>
                <a:uLnTx/>
                <a:uFillTx/>
                <a:latin typeface="Verdana" panose="020B0604030504040204" pitchFamily="34" charset="0"/>
                <a:ea typeface="+mn-ea"/>
                <a:cs typeface="+mn-cs"/>
              </a:rPr>
              <a:t>discoms</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to clear the dues which </a:t>
            </a:r>
            <a:r>
              <a:rPr lang="en-US" sz="1400" dirty="0">
                <a:solidFill>
                  <a:prstClr val="black">
                    <a:lumMod val="50000"/>
                    <a:lumOff val="50000"/>
                  </a:prstClr>
                </a:solidFill>
                <a:latin typeface="Verdana" panose="020B0604030504040204" pitchFamily="34" charset="0"/>
              </a:rPr>
              <a:t>further</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impact BPDB’s liquidity position</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3250820128"/>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lgn="just">
                        <a:spcAft>
                          <a:spcPts val="500"/>
                        </a:spcAft>
                        <a:buFont typeface="Arial" panose="020B0604020202020204" pitchFamily="34" charset="0"/>
                        <a:buNone/>
                      </a:pPr>
                      <a:r>
                        <a:rPr lang="en-US" sz="1000" b="1" baseline="0" dirty="0">
                          <a:solidFill>
                            <a:schemeClr val="tx1"/>
                          </a:solidFill>
                        </a:rPr>
                        <a:t>BPDB Debtor &amp; Creditor Receivable Days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There is a significant mismatch in BPDB’s liquidity position in respect to the payment made to creditors and receivables from debtors.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BPDB’s average creditor days has been in the range of ~50-70 days since FY15 whereas the average debtor days has been in the range of ~170-190 days </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A lower creditor turnover ratio / creditor days than debtor turnover ratio / debtor days signifies that BPDB is paying more frequently to clear its debt to IPPs / Import / Fuel Suppliers than it is receiving from the power sales to </a:t>
                      </a:r>
                      <a:r>
                        <a:rPr lang="en-US" sz="1000" b="0" kern="1200" baseline="0" dirty="0" err="1">
                          <a:solidFill>
                            <a:schemeClr val="tx1"/>
                          </a:solidFill>
                          <a:latin typeface="+mn-lt"/>
                          <a:ea typeface="+mn-ea"/>
                          <a:cs typeface="+mn-cs"/>
                        </a:rPr>
                        <a:t>discoms</a:t>
                      </a:r>
                      <a:r>
                        <a:rPr lang="en-US" sz="1000" b="0" kern="1200" baseline="0" dirty="0">
                          <a:solidFill>
                            <a:schemeClr val="tx1"/>
                          </a:solidFill>
                          <a:latin typeface="+mn-lt"/>
                          <a:ea typeface="+mn-ea"/>
                          <a:cs typeface="+mn-cs"/>
                        </a:rPr>
                        <a:t> such as DPDC, DESCO, REB among others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Historically the BPDB’s total receivables have been ranging between 2-2.5 times its payables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kern="1200" baseline="0" dirty="0">
                        <a:solidFill>
                          <a:schemeClr val="tx1"/>
                        </a:solidFill>
                        <a:latin typeface="+mn-lt"/>
                        <a:ea typeface="+mn-ea"/>
                        <a:cs typeface="+mn-cs"/>
                      </a:endParaRP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Following graph shows Total Accounts Payable and Receivables for BPDB (BDT Bn) in the last 5 years from FY15 to FY19</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kern="1200" baseline="0" dirty="0">
                        <a:solidFill>
                          <a:schemeClr val="tx1"/>
                        </a:solidFill>
                        <a:latin typeface="+mn-lt"/>
                        <a:ea typeface="+mn-ea"/>
                        <a:cs typeface="+mn-cs"/>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27" name="Chart 26"/>
          <p:cNvGraphicFramePr/>
          <p:nvPr/>
        </p:nvGraphicFramePr>
        <p:xfrm>
          <a:off x="5387837" y="2630078"/>
          <a:ext cx="5005387" cy="1856197"/>
        </p:xfrm>
        <a:graphic>
          <a:graphicData uri="http://schemas.openxmlformats.org/drawingml/2006/chart">
            <c:chart xmlns:c="http://schemas.openxmlformats.org/drawingml/2006/chart" xmlns:r="http://schemas.openxmlformats.org/officeDocument/2006/relationships" r:id="rId18"/>
          </a:graphicData>
        </a:graphic>
      </p:graphicFrame>
      <p:graphicFrame>
        <p:nvGraphicFramePr>
          <p:cNvPr id="28" name="Chart 27"/>
          <p:cNvGraphicFramePr/>
          <p:nvPr/>
        </p:nvGraphicFramePr>
        <p:xfrm>
          <a:off x="5387837" y="5115296"/>
          <a:ext cx="5005387" cy="1894825"/>
        </p:xfrm>
        <a:graphic>
          <a:graphicData uri="http://schemas.openxmlformats.org/drawingml/2006/chart">
            <c:chart xmlns:c="http://schemas.openxmlformats.org/drawingml/2006/chart" xmlns:r="http://schemas.openxmlformats.org/officeDocument/2006/relationships" r:id="rId19"/>
          </a:graphicData>
        </a:graphic>
      </p:graphicFrame>
      <p:graphicFrame>
        <p:nvGraphicFramePr>
          <p:cNvPr id="51" name="Chart 50"/>
          <p:cNvGraphicFramePr/>
          <p:nvPr>
            <p:custDataLst>
              <p:tags r:id="rId5"/>
            </p:custDataLst>
          </p:nvPr>
        </p:nvGraphicFramePr>
        <p:xfrm>
          <a:off x="374650" y="4991100"/>
          <a:ext cx="4881563" cy="1492250"/>
        </p:xfrm>
        <a:graphic>
          <a:graphicData uri="http://schemas.openxmlformats.org/drawingml/2006/chart">
            <c:chart xmlns:c="http://schemas.openxmlformats.org/drawingml/2006/chart" xmlns:r="http://schemas.openxmlformats.org/officeDocument/2006/relationships" r:id="rId20"/>
          </a:graphicData>
        </a:graphic>
      </p:graphicFrame>
      <p:sp>
        <p:nvSpPr>
          <p:cNvPr id="31" name="StandardTextbox"/>
          <p:cNvSpPr>
            <a:spLocks noGrp="1"/>
          </p:cNvSpPr>
          <p:nvPr>
            <p:custDataLst>
              <p:tags r:id="rId6"/>
            </p:custDataLst>
          </p:nvPr>
        </p:nvSpPr>
        <p:spPr bwMode="auto">
          <a:xfrm>
            <a:off x="766763" y="6486525"/>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5D59F4F-34C0-4AE7-B809-93414C2FFB7E}" type="datetime'''''''''''''''''''F''''''Y''''''''''''1''''''5'">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3" name="StandardTextbox"/>
          <p:cNvSpPr>
            <a:spLocks noGrp="1"/>
          </p:cNvSpPr>
          <p:nvPr>
            <p:custDataLst>
              <p:tags r:id="rId7"/>
            </p:custDataLst>
          </p:nvPr>
        </p:nvSpPr>
        <p:spPr bwMode="auto">
          <a:xfrm>
            <a:off x="3597275" y="6486525"/>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EB39823E-9DA5-49CA-9A15-4063A34CF227}" type="datetime'''''''''''''''F''''''Y''1''''''''8'''''''''''''''''''''">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FY18</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0" name="StandardTextbox"/>
          <p:cNvSpPr>
            <a:spLocks noGrp="1"/>
          </p:cNvSpPr>
          <p:nvPr>
            <p:custDataLst>
              <p:tags r:id="rId8"/>
            </p:custDataLst>
          </p:nvPr>
        </p:nvSpPr>
        <p:spPr bwMode="auto">
          <a:xfrm>
            <a:off x="1709738" y="6486525"/>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E40BD4DA-9D50-4CB4-8468-5E394B75800C}" type="datetime'''''''F''''''''''Y''''''''''''''''''''''''''''1''6'''''''''">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FY16</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2" name="StandardTextbox"/>
          <p:cNvSpPr>
            <a:spLocks noGrp="1"/>
          </p:cNvSpPr>
          <p:nvPr>
            <p:custDataLst>
              <p:tags r:id="rId9"/>
            </p:custDataLst>
          </p:nvPr>
        </p:nvSpPr>
        <p:spPr bwMode="auto">
          <a:xfrm>
            <a:off x="2652713" y="6486525"/>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1BB82E4-34EC-4CE2-9F71-D3AE7610A7EC}" type="datetime'F''''''''''''''''Y''''''''''''1''''''''''''7'''''">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FY17</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4" name="StandardTextbox"/>
          <p:cNvSpPr>
            <a:spLocks noGrp="1"/>
          </p:cNvSpPr>
          <p:nvPr>
            <p:custDataLst>
              <p:tags r:id="rId10"/>
            </p:custDataLst>
          </p:nvPr>
        </p:nvSpPr>
        <p:spPr bwMode="auto">
          <a:xfrm>
            <a:off x="4540250" y="6486525"/>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BA330EB-218F-41A0-8A96-238B240F74F6}" type="datetime'''FY''''''''''1''''''''''''''''''''''9'''''">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FY19</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 name="Rectangle 4"/>
          <p:cNvSpPr/>
          <p:nvPr>
            <p:custDataLst>
              <p:tags r:id="rId11"/>
            </p:custDataLst>
          </p:nvPr>
        </p:nvSpPr>
        <p:spPr bwMode="auto">
          <a:xfrm>
            <a:off x="1300163" y="6786563"/>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 name="Rectangle 5"/>
          <p:cNvSpPr/>
          <p:nvPr>
            <p:custDataLst>
              <p:tags r:id="rId12"/>
            </p:custDataLst>
          </p:nvPr>
        </p:nvSpPr>
        <p:spPr bwMode="auto">
          <a:xfrm>
            <a:off x="3109913" y="6786563"/>
            <a:ext cx="179388" cy="133350"/>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47" name="StandardTextbox"/>
          <p:cNvSpPr>
            <a:spLocks noGrp="1"/>
          </p:cNvSpPr>
          <p:nvPr>
            <p:custDataLst>
              <p:tags r:id="rId13"/>
            </p:custDataLst>
          </p:nvPr>
        </p:nvSpPr>
        <p:spPr bwMode="auto">
          <a:xfrm>
            <a:off x="1530350" y="6781800"/>
            <a:ext cx="147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4999F58E-82CF-4832-B961-466644D709A1}" type="datetime'''''T''''ota''l'' ''''Ac''''''''''coun''''ts Pa''ya''ble'''''">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Total Accounts Payable</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8" name="StandardTextbox"/>
          <p:cNvSpPr>
            <a:spLocks noGrp="1"/>
          </p:cNvSpPr>
          <p:nvPr>
            <p:custDataLst>
              <p:tags r:id="rId14"/>
            </p:custDataLst>
          </p:nvPr>
        </p:nvSpPr>
        <p:spPr bwMode="auto">
          <a:xfrm>
            <a:off x="3340100" y="6781800"/>
            <a:ext cx="11128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40E1D46B-B9C0-4E96-8A76-FAD37EB07BFF}" type="datetime'''''T''''''''ota''l'' ''R''''e''c''''eiv''a''''''bl''e''''s'">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Total Receivables</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0" name="Rectangle 19"/>
          <p:cNvSpPr/>
          <p:nvPr/>
        </p:nvSpPr>
        <p:spPr bwMode="gray">
          <a:xfrm>
            <a:off x="377227" y="7260740"/>
            <a:ext cx="5652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Deloitte Analysis</a:t>
            </a:r>
          </a:p>
        </p:txBody>
      </p:sp>
    </p:spTree>
    <p:extLst>
      <p:ext uri="{BB962C8B-B14F-4D97-AF65-F5344CB8AC3E}">
        <p14:creationId xmlns:p14="http://schemas.microsoft.com/office/powerpoint/2010/main" val="1057498048"/>
      </p:ext>
    </p:extLst>
  </p:cSld>
  <p:clrMapOvr>
    <a:masterClrMapping/>
  </p:clrMapOvr>
  <p:transition>
    <p:fade/>
  </p:transition>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Object 6" hidden="1"/>
          <p:cNvGraphicFramePr>
            <a:graphicFrameLocks noChangeAspect="1"/>
          </p:cNvGraphicFramePr>
          <p:nvPr>
            <p:custDataLst>
              <p:tags r:id="rId1"/>
            </p:custDataLst>
            <p:extLst>
              <p:ext uri="{D42A27DB-BD31-4B8C-83A1-F6EECF244321}">
                <p14:modId xmlns:p14="http://schemas.microsoft.com/office/powerpoint/2010/main" val="293515165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9" imgW="530" imgH="531" progId="TCLayout.ActiveDocument.1">
                  <p:embed/>
                </p:oleObj>
              </mc:Choice>
              <mc:Fallback>
                <p:oleObj name="think-cell Slide" r:id="rId19" imgW="530" imgH="531" progId="TCLayout.ActiveDocument.1">
                  <p:embed/>
                  <p:pic>
                    <p:nvPicPr>
                      <p:cNvPr id="7" name="Object 6" hidden="1"/>
                      <p:cNvPicPr/>
                      <p:nvPr/>
                    </p:nvPicPr>
                    <p:blipFill>
                      <a:blip r:embed="rId20"/>
                      <a:stretch>
                        <a:fillRect/>
                      </a:stretch>
                    </p:blipFill>
                    <p:spPr>
                      <a:xfrm>
                        <a:off x="1588" y="1588"/>
                        <a:ext cx="1588" cy="1588"/>
                      </a:xfrm>
                      <a:prstGeom prst="rect">
                        <a:avLst/>
                      </a:prstGeom>
                    </p:spPr>
                  </p:pic>
                </p:oleObj>
              </mc:Fallback>
            </mc:AlternateContent>
          </a:graphicData>
        </a:graphic>
      </p:graphicFrame>
      <p:sp>
        <p:nvSpPr>
          <p:cNvPr id="10" name="Rectangle 9"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defRPr/>
            </a:pPr>
            <a:endParaRPr kumimoji="0" lang="en-IN" sz="1000" b="1" u="none" strike="noStrike" kern="1200" cap="none" spc="0" normalizeH="0" noProof="0" dirty="0">
              <a:ln>
                <a:noFill/>
              </a:ln>
              <a:solidFill>
                <a:prstClr val="white"/>
              </a:solidFill>
              <a:effectLst/>
              <a:uLnTx/>
              <a:uFillTx/>
              <a:latin typeface="Verdana" panose="020B0604030504040204" pitchFamily="34" charset="0"/>
              <a:sym typeface="Verdana" panose="020B0604030504040204" pitchFamily="34" charset="0"/>
            </a:endParaRPr>
          </a:p>
        </p:txBody>
      </p:sp>
      <p:graphicFrame>
        <p:nvGraphicFramePr>
          <p:cNvPr id="11" name="Table 10"/>
          <p:cNvGraphicFramePr>
            <a:graphicFrameLocks noGrp="1"/>
          </p:cNvGraphicFramePr>
          <p:nvPr>
            <p:custDataLst>
              <p:tags r:id="rId3"/>
            </p:custDataLst>
            <p:extLst>
              <p:ext uri="{D42A27DB-BD31-4B8C-83A1-F6EECF244321}">
                <p14:modId xmlns:p14="http://schemas.microsoft.com/office/powerpoint/2010/main" val="905127682"/>
              </p:ext>
            </p:extLst>
          </p:nvPr>
        </p:nvGraphicFramePr>
        <p:xfrm>
          <a:off x="5404782" y="1961918"/>
          <a:ext cx="4732062" cy="6008418"/>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760000">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graph shows the tentative power demand growth estimated in Bangladesh between FY19 and FY26 (MW):</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graph shows total estimated total capacity charge payment impact (BDT Bn) for BPDB till FY26</a:t>
                      </a:r>
                      <a:r>
                        <a:rPr lang="en-US" sz="1000" b="0" baseline="30000" dirty="0">
                          <a:solidFill>
                            <a:schemeClr val="tx1"/>
                          </a:solidFill>
                        </a:rPr>
                        <a:t>[1]</a:t>
                      </a: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txBody>
                  <a:tcPr marL="107998" marT="107998">
                    <a:lnL w="12700" cmpd="sng">
                      <a:noFill/>
                    </a:lnL>
                    <a:lnR w="12700" cmpd="sng">
                      <a:noFill/>
                    </a:lnR>
                    <a:lnT w="38100" cap="flat" cmpd="sng" algn="ctr">
                      <a:solidFill>
                        <a:schemeClr val="accent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sp>
        <p:nvSpPr>
          <p:cNvPr id="8" name="Title 1"/>
          <p:cNvSpPr>
            <a:spLocks noGrp="1"/>
          </p:cNvSpPr>
          <p:nvPr>
            <p:ph type="title"/>
          </p:nvPr>
        </p:nvSpPr>
        <p:spPr>
          <a:xfrm>
            <a:off x="449264" y="647700"/>
            <a:ext cx="9791700" cy="431800"/>
          </a:xfrm>
        </p:spPr>
        <p:txBody>
          <a:bodyPr/>
          <a:lstStyle/>
          <a:p>
            <a:r>
              <a:rPr lang="en-US" dirty="0"/>
              <a:t>BPDB – Fixed Charge Assessment| Discom Credit Assessment</a:t>
            </a:r>
            <a:endParaRPr lang="en-IN" dirty="0"/>
          </a:p>
        </p:txBody>
      </p:sp>
      <p:sp>
        <p:nvSpPr>
          <p:cNvPr id="9"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dirty="0">
                <a:solidFill>
                  <a:prstClr val="black">
                    <a:lumMod val="50000"/>
                    <a:lumOff val="50000"/>
                  </a:prstClr>
                </a:solidFill>
                <a:latin typeface="Verdana" panose="020B0604030504040204" pitchFamily="34" charset="0"/>
              </a:rPr>
              <a:t>Although average power demand is expected to grow at a CAGR of ~10.4% till FY26, BPDB’s fixed payment obligations may increase from current estimated BDT ~173 </a:t>
            </a:r>
            <a:r>
              <a:rPr lang="en-US" sz="1400" dirty="0" err="1">
                <a:solidFill>
                  <a:prstClr val="black">
                    <a:lumMod val="50000"/>
                    <a:lumOff val="50000"/>
                  </a:prstClr>
                </a:solidFill>
                <a:latin typeface="Verdana" panose="020B0604030504040204" pitchFamily="34" charset="0"/>
              </a:rPr>
              <a:t>Bn</a:t>
            </a:r>
            <a:r>
              <a:rPr lang="en-US" sz="1400" dirty="0">
                <a:solidFill>
                  <a:prstClr val="black">
                    <a:lumMod val="50000"/>
                    <a:lumOff val="50000"/>
                  </a:prstClr>
                </a:solidFill>
                <a:latin typeface="Verdana" panose="020B0604030504040204" pitchFamily="34" charset="0"/>
              </a:rPr>
              <a:t> to BDT ~281 </a:t>
            </a:r>
            <a:r>
              <a:rPr lang="en-US" sz="1400" dirty="0" err="1">
                <a:solidFill>
                  <a:prstClr val="black">
                    <a:lumMod val="50000"/>
                    <a:lumOff val="50000"/>
                  </a:prstClr>
                </a:solidFill>
                <a:latin typeface="Verdana" panose="020B0604030504040204" pitchFamily="34" charset="0"/>
              </a:rPr>
              <a:t>Bn</a:t>
            </a:r>
            <a:r>
              <a:rPr lang="en-US" sz="1400" dirty="0">
                <a:solidFill>
                  <a:prstClr val="black">
                    <a:lumMod val="50000"/>
                    <a:lumOff val="50000"/>
                  </a:prstClr>
                </a:solidFill>
                <a:latin typeface="Verdana" panose="020B0604030504040204" pitchFamily="34" charset="0"/>
              </a:rPr>
              <a:t> during the same period at a CAGR of ~7.1% only</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12" name="Table 11"/>
          <p:cNvGraphicFramePr>
            <a:graphicFrameLocks noGrp="1"/>
          </p:cNvGraphicFramePr>
          <p:nvPr>
            <p:custDataLst>
              <p:tags r:id="rId4"/>
            </p:custDataLst>
            <p:extLst>
              <p:ext uri="{D42A27DB-BD31-4B8C-83A1-F6EECF244321}">
                <p14:modId xmlns:p14="http://schemas.microsoft.com/office/powerpoint/2010/main" val="1001686651"/>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lgn="just">
                        <a:spcAft>
                          <a:spcPts val="500"/>
                        </a:spcAft>
                        <a:buFont typeface="Arial" panose="020B0604020202020204" pitchFamily="34" charset="0"/>
                        <a:buNone/>
                      </a:pPr>
                      <a:r>
                        <a:rPr lang="en-US" sz="1000" b="1" baseline="0" dirty="0">
                          <a:solidFill>
                            <a:schemeClr val="tx1"/>
                          </a:solidFill>
                        </a:rPr>
                        <a:t>Growth in Power Demand in Bangladesh</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As per our power demand assessment, Bangladesh has an average power demand of ~7,800 MW in FY19</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average power demand (in our </a:t>
                      </a:r>
                      <a:r>
                        <a:rPr lang="en-US" sz="1000" b="0" kern="1200" baseline="0" dirty="0" err="1">
                          <a:solidFill>
                            <a:schemeClr val="tx1"/>
                          </a:solidFill>
                          <a:latin typeface="+mn-lt"/>
                          <a:ea typeface="+mn-ea"/>
                          <a:cs typeface="+mn-cs"/>
                        </a:rPr>
                        <a:t>Covid</a:t>
                      </a:r>
                      <a:r>
                        <a:rPr lang="en-US" sz="1000" b="0" kern="1200" baseline="0" dirty="0">
                          <a:solidFill>
                            <a:schemeClr val="tx1"/>
                          </a:solidFill>
                          <a:latin typeface="+mn-lt"/>
                          <a:ea typeface="+mn-ea"/>
                          <a:cs typeface="+mn-cs"/>
                        </a:rPr>
                        <a:t> -19 base case) is expected to reach ~15,700 MW by FY26</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Thus, the average power demand is expected to grow at a CAGR of ~10.4% till FY26</a:t>
                      </a: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1" baseline="0" dirty="0">
                        <a:solidFill>
                          <a:schemeClr val="tx1"/>
                        </a:solidFill>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baseline="0" dirty="0">
                          <a:solidFill>
                            <a:schemeClr val="tx1"/>
                          </a:solidFill>
                        </a:rPr>
                        <a:t>Impact on Fixed Charges Payout by BPDB</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As per our estimation, Bangladesh’s total power purchase cost of BDT 390 </a:t>
                      </a:r>
                      <a:r>
                        <a:rPr lang="en-US" sz="1000" b="0" kern="1200" baseline="0" dirty="0" err="1">
                          <a:solidFill>
                            <a:schemeClr val="tx1"/>
                          </a:solidFill>
                          <a:latin typeface="+mn-lt"/>
                          <a:ea typeface="+mn-ea"/>
                          <a:cs typeface="+mn-cs"/>
                        </a:rPr>
                        <a:t>Bn</a:t>
                      </a:r>
                      <a:r>
                        <a:rPr lang="en-US" sz="1000" b="0" kern="1200" baseline="0" dirty="0">
                          <a:solidFill>
                            <a:schemeClr val="tx1"/>
                          </a:solidFill>
                          <a:latin typeface="+mn-lt"/>
                          <a:ea typeface="+mn-ea"/>
                          <a:cs typeface="+mn-cs"/>
                        </a:rPr>
                        <a:t> in FY19, comprised ~BDT 173 </a:t>
                      </a:r>
                      <a:r>
                        <a:rPr lang="en-US" sz="1000" b="0" kern="1200" baseline="0" dirty="0" err="1">
                          <a:solidFill>
                            <a:schemeClr val="tx1"/>
                          </a:solidFill>
                          <a:latin typeface="+mn-lt"/>
                          <a:ea typeface="+mn-ea"/>
                          <a:cs typeface="+mn-cs"/>
                        </a:rPr>
                        <a:t>Bn</a:t>
                      </a:r>
                      <a:r>
                        <a:rPr lang="en-US" sz="1000" b="0" kern="1200" baseline="0" dirty="0">
                          <a:solidFill>
                            <a:schemeClr val="tx1"/>
                          </a:solidFill>
                          <a:latin typeface="+mn-lt"/>
                          <a:ea typeface="+mn-ea"/>
                          <a:cs typeface="+mn-cs"/>
                        </a:rPr>
                        <a:t> of fixed charges only</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Out of the BDT ~173 </a:t>
                      </a:r>
                      <a:r>
                        <a:rPr lang="en-US" sz="1000" b="0" kern="1200" baseline="0" dirty="0" err="1">
                          <a:solidFill>
                            <a:schemeClr val="tx1"/>
                          </a:solidFill>
                          <a:latin typeface="+mn-lt"/>
                          <a:ea typeface="+mn-ea"/>
                          <a:cs typeface="+mn-cs"/>
                        </a:rPr>
                        <a:t>Bn</a:t>
                      </a:r>
                      <a:r>
                        <a:rPr lang="en-US" sz="1000" b="0" kern="1200" baseline="0" dirty="0">
                          <a:solidFill>
                            <a:schemeClr val="tx1"/>
                          </a:solidFill>
                          <a:latin typeface="+mn-lt"/>
                          <a:ea typeface="+mn-ea"/>
                          <a:cs typeface="+mn-cs"/>
                        </a:rPr>
                        <a:t>, rental/quick rental power plants may have cost BPDB BDT ~27 </a:t>
                      </a:r>
                      <a:r>
                        <a:rPr lang="en-US" sz="1000" b="0" kern="1200" baseline="0" dirty="0" err="1">
                          <a:solidFill>
                            <a:schemeClr val="tx1"/>
                          </a:solidFill>
                          <a:latin typeface="+mn-lt"/>
                          <a:ea typeface="+mn-ea"/>
                          <a:cs typeface="+mn-cs"/>
                        </a:rPr>
                        <a:t>Bn</a:t>
                      </a:r>
                      <a:r>
                        <a:rPr lang="en-US" sz="1000" b="0" kern="1200" baseline="0" dirty="0">
                          <a:solidFill>
                            <a:schemeClr val="tx1"/>
                          </a:solidFill>
                          <a:latin typeface="+mn-lt"/>
                          <a:ea typeface="+mn-ea"/>
                          <a:cs typeface="+mn-cs"/>
                        </a:rPr>
                        <a:t> (~15% of total FC) despite having a share of ~9% in the installed capacity in Bangladesh</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Based on our supply outlook, Bangladesh’s installed capacity of ~18,961 MW in FY19 is expected to reach ~26,400 MW by FY26 leading to an increase in its fixed payment obligations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However considering that the rental / quick rental power plants are expected to retire by FY26, there may be some reduction in Fixed Charge payout</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graph on the right (below) shows the estimated fixed charge payout by BPDB in FY26 which may reach BDT ~281 </a:t>
                      </a:r>
                      <a:r>
                        <a:rPr lang="en-US" sz="1000" b="0" kern="1200" baseline="0" dirty="0" err="1">
                          <a:solidFill>
                            <a:schemeClr val="tx1"/>
                          </a:solidFill>
                          <a:latin typeface="+mn-lt"/>
                          <a:ea typeface="+mn-ea"/>
                          <a:cs typeface="+mn-cs"/>
                        </a:rPr>
                        <a:t>Bn</a:t>
                      </a:r>
                      <a:r>
                        <a:rPr lang="en-US" sz="1000" b="0" kern="1200" baseline="0" dirty="0">
                          <a:solidFill>
                            <a:schemeClr val="tx1"/>
                          </a:solidFill>
                          <a:latin typeface="+mn-lt"/>
                          <a:ea typeface="+mn-ea"/>
                          <a:cs typeface="+mn-cs"/>
                        </a:rPr>
                        <a:t> growing at a CAGR of ~7.1% which is lower than estimated average power demand growth</a:t>
                      </a: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25" name="Chart 24"/>
          <p:cNvGraphicFramePr/>
          <p:nvPr>
            <p:custDataLst>
              <p:tags r:id="rId5"/>
            </p:custDataLst>
            <p:extLst>
              <p:ext uri="{D42A27DB-BD31-4B8C-83A1-F6EECF244321}">
                <p14:modId xmlns:p14="http://schemas.microsoft.com/office/powerpoint/2010/main" val="3986804876"/>
              </p:ext>
            </p:extLst>
          </p:nvPr>
        </p:nvGraphicFramePr>
        <p:xfrm>
          <a:off x="5322888" y="2733675"/>
          <a:ext cx="4895850" cy="1246188"/>
        </p:xfrm>
        <a:graphic>
          <a:graphicData uri="http://schemas.openxmlformats.org/drawingml/2006/chart">
            <c:chart xmlns:c="http://schemas.openxmlformats.org/drawingml/2006/chart" xmlns:r="http://schemas.openxmlformats.org/officeDocument/2006/relationships" r:id="rId21"/>
          </a:graphicData>
        </a:graphic>
      </p:graphicFrame>
      <p:cxnSp>
        <p:nvCxnSpPr>
          <p:cNvPr id="16" name="Straight Connector 15"/>
          <p:cNvCxnSpPr/>
          <p:nvPr>
            <p:custDataLst>
              <p:tags r:id="rId6"/>
            </p:custDataLst>
          </p:nvPr>
        </p:nvCxnSpPr>
        <p:spPr bwMode="auto">
          <a:xfrm flipV="1">
            <a:off x="6588125" y="2603500"/>
            <a:ext cx="2365375" cy="482600"/>
          </a:xfrm>
          <a:prstGeom prst="line">
            <a:avLst/>
          </a:prstGeom>
          <a:ln w="6350" cap="flat" cmpd="sng" algn="ctr">
            <a:solidFill>
              <a:schemeClr val="tx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StandardTextbox"/>
          <p:cNvSpPr>
            <a:spLocks noGrp="1"/>
          </p:cNvSpPr>
          <p:nvPr>
            <p:custDataLst>
              <p:tags r:id="rId7"/>
            </p:custDataLst>
          </p:nvPr>
        </p:nvSpPr>
        <p:spPr bwMode="auto">
          <a:xfrm>
            <a:off x="6426200" y="3983038"/>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7ABF6E9A-7DEF-4781-B6B9-2CA64F503483}" type="datetime'''F''''''''''''''Y''''''1''''''''''''9'">
              <a:rPr lang="en-IN" altLang="en-US" b="0" smtClean="0">
                <a:solidFill>
                  <a:srgbClr val="000000"/>
                </a:solidFill>
              </a:rPr>
              <a:pPr lvl="1" algn="ctr">
                <a:spcBef>
                  <a:spcPct val="0"/>
                </a:spcBef>
                <a:spcAft>
                  <a:spcPct val="0"/>
                </a:spcAft>
                <a:defRPr/>
              </a:pPr>
              <a:t>FY19</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41" name="StandardTextbox"/>
          <p:cNvSpPr>
            <a:spLocks noGrp="1"/>
          </p:cNvSpPr>
          <p:nvPr>
            <p:custDataLst>
              <p:tags r:id="rId8"/>
            </p:custDataLst>
          </p:nvPr>
        </p:nvSpPr>
        <p:spPr bwMode="auto">
          <a:xfrm>
            <a:off x="8391525" y="3983038"/>
            <a:ext cx="11239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A95FDB69-0149-427A-85D0-B208B7788D9C}" type="datetime'''F''Y2''''6'' ''''(''''''Es''''''''t''''''''imat''''e''d)'''">
              <a:rPr lang="en-IN" altLang="en-US" b="0" smtClean="0">
                <a:solidFill>
                  <a:srgbClr val="000000"/>
                </a:solidFill>
              </a:rPr>
              <a:pPr lvl="1" algn="ctr">
                <a:spcBef>
                  <a:spcPct val="0"/>
                </a:spcBef>
                <a:spcAft>
                  <a:spcPct val="0"/>
                </a:spcAft>
                <a:defRPr/>
              </a:pPr>
              <a:t>FY26 (Estimated)</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33" name="StandardTextbox"/>
          <p:cNvSpPr>
            <a:spLocks noGrp="1"/>
          </p:cNvSpPr>
          <p:nvPr>
            <p:custDataLst>
              <p:tags r:id="rId9"/>
            </p:custDataLst>
          </p:nvPr>
        </p:nvSpPr>
        <p:spPr bwMode="auto">
          <a:xfrm>
            <a:off x="7431088" y="2736850"/>
            <a:ext cx="679450" cy="215900"/>
          </a:xfrm>
          <a:prstGeom prst="ellipse">
            <a:avLst/>
          </a:prstGeom>
          <a:solidFill>
            <a:srgbClr val="FFFFFF"/>
          </a:solidFill>
          <a:ln w="9525" algn="ctr">
            <a:solidFill>
              <a:schemeClr val="tx1"/>
            </a:solidFill>
          </a:ln>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BDB59C8D-9A13-417B-9070-34195EB3F9AD}" type="datetime'1''''''0''''''''''''.''''4''''%'''''''''''''''''''''''''''''''">
              <a:rPr lang="en-IN" altLang="en-US" smtClean="0"/>
              <a:pPr lvl="1" algn="ctr">
                <a:spcBef>
                  <a:spcPct val="0"/>
                </a:spcBef>
                <a:spcAft>
                  <a:spcPct val="0"/>
                </a:spcAft>
              </a:pPr>
              <a:t>10.4%</a:t>
            </a:fld>
            <a:endParaRPr lang="en-IN" noProof="0" dirty="0">
              <a:sym typeface="+mn-lt"/>
            </a:endParaRPr>
          </a:p>
        </p:txBody>
      </p:sp>
      <p:graphicFrame>
        <p:nvGraphicFramePr>
          <p:cNvPr id="32" name="Chart 31"/>
          <p:cNvGraphicFramePr/>
          <p:nvPr>
            <p:custDataLst>
              <p:tags r:id="rId10"/>
            </p:custDataLst>
            <p:extLst>
              <p:ext uri="{D42A27DB-BD31-4B8C-83A1-F6EECF244321}">
                <p14:modId xmlns:p14="http://schemas.microsoft.com/office/powerpoint/2010/main" val="311454512"/>
              </p:ext>
            </p:extLst>
          </p:nvPr>
        </p:nvGraphicFramePr>
        <p:xfrm>
          <a:off x="5322888" y="5013325"/>
          <a:ext cx="4895850" cy="1425575"/>
        </p:xfrm>
        <a:graphic>
          <a:graphicData uri="http://schemas.openxmlformats.org/drawingml/2006/chart">
            <c:chart xmlns:c="http://schemas.openxmlformats.org/drawingml/2006/chart" xmlns:r="http://schemas.openxmlformats.org/officeDocument/2006/relationships" r:id="rId22"/>
          </a:graphicData>
        </a:graphic>
      </p:graphicFrame>
      <p:sp useBgFill="1">
        <p:nvSpPr>
          <p:cNvPr id="15" name="Freeform 14"/>
          <p:cNvSpPr/>
          <p:nvPr>
            <p:custDataLst>
              <p:tags r:id="rId11"/>
            </p:custDataLst>
          </p:nvPr>
        </p:nvSpPr>
        <p:spPr bwMode="auto">
          <a:xfrm>
            <a:off x="7723188" y="6283325"/>
            <a:ext cx="96838" cy="146051"/>
          </a:xfrm>
          <a:custGeom>
            <a:avLst/>
            <a:gdLst/>
            <a:ahLst/>
            <a:cxnLst/>
            <a:rect l="0" t="0" r="0" b="0"/>
            <a:pathLst>
              <a:path w="96838" h="146051">
                <a:moveTo>
                  <a:pt x="96837" y="0"/>
                </a:moveTo>
                <a:lnTo>
                  <a:pt x="57150" y="146050"/>
                </a:lnTo>
                <a:lnTo>
                  <a:pt x="0" y="146050"/>
                </a:lnTo>
                <a:lnTo>
                  <a:pt x="39687" y="0"/>
                </a:lnTo>
                <a:close/>
              </a:path>
            </a:pathLst>
          </a:custGeom>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4" name="Freeform 13"/>
          <p:cNvSpPr/>
          <p:nvPr>
            <p:custDataLst>
              <p:tags r:id="rId12"/>
            </p:custDataLst>
          </p:nvPr>
        </p:nvSpPr>
        <p:spPr bwMode="auto">
          <a:xfrm>
            <a:off x="7780338" y="6283325"/>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a:p>
        </p:txBody>
      </p:sp>
      <p:sp>
        <p:nvSpPr>
          <p:cNvPr id="13" name="Freeform 12"/>
          <p:cNvSpPr/>
          <p:nvPr>
            <p:custDataLst>
              <p:tags r:id="rId13"/>
            </p:custDataLst>
          </p:nvPr>
        </p:nvSpPr>
        <p:spPr bwMode="auto">
          <a:xfrm>
            <a:off x="7723188" y="6283325"/>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a:p>
        </p:txBody>
      </p:sp>
      <p:cxnSp>
        <p:nvCxnSpPr>
          <p:cNvPr id="6" name="Straight Connector 5"/>
          <p:cNvCxnSpPr/>
          <p:nvPr>
            <p:custDataLst>
              <p:tags r:id="rId14"/>
            </p:custDataLst>
          </p:nvPr>
        </p:nvCxnSpPr>
        <p:spPr bwMode="auto">
          <a:xfrm flipV="1">
            <a:off x="6588125" y="4906963"/>
            <a:ext cx="2365375" cy="439738"/>
          </a:xfrm>
          <a:prstGeom prst="line">
            <a:avLst/>
          </a:prstGeom>
          <a:ln w="6350" cap="flat" cmpd="sng" algn="ctr">
            <a:solidFill>
              <a:schemeClr val="tx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0" name="StandardTextbox"/>
          <p:cNvSpPr>
            <a:spLocks noGrp="1"/>
          </p:cNvSpPr>
          <p:nvPr>
            <p:custDataLst>
              <p:tags r:id="rId15"/>
            </p:custDataLst>
          </p:nvPr>
        </p:nvSpPr>
        <p:spPr bwMode="auto">
          <a:xfrm>
            <a:off x="6026150" y="6442075"/>
            <a:ext cx="11239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DBBFE370-946F-4C29-A442-67AE3F9327D2}" type="datetime'FY''''''''1''''''''9'''' (''''''Es''t''''''im''ate''d)'">
              <a:rPr lang="en-IN" altLang="en-US" b="0" smtClean="0">
                <a:solidFill>
                  <a:srgbClr val="000000"/>
                </a:solidFill>
              </a:rPr>
              <a:pPr lvl="1" algn="ctr">
                <a:spcBef>
                  <a:spcPct val="0"/>
                </a:spcBef>
                <a:spcAft>
                  <a:spcPct val="0"/>
                </a:spcAft>
                <a:defRPr/>
              </a:pPr>
              <a:t>FY19 (Estimated)</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60" name="StandardTextbox"/>
          <p:cNvSpPr>
            <a:spLocks noGrp="1"/>
          </p:cNvSpPr>
          <p:nvPr>
            <p:custDataLst>
              <p:tags r:id="rId16"/>
            </p:custDataLst>
          </p:nvPr>
        </p:nvSpPr>
        <p:spPr bwMode="auto">
          <a:xfrm>
            <a:off x="8391525" y="6442075"/>
            <a:ext cx="11239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AD4A3A9F-7B88-47C7-B619-4E8371143504}" type="datetime'F''Y''''2''''6 ''(E''''''''''sti''''''''m''''a''''te''''d)'''">
              <a:rPr lang="en-IN" altLang="en-US" b="0" smtClean="0">
                <a:solidFill>
                  <a:srgbClr val="000000"/>
                </a:solidFill>
              </a:rPr>
              <a:pPr lvl="1" algn="ctr">
                <a:spcBef>
                  <a:spcPct val="0"/>
                </a:spcBef>
                <a:spcAft>
                  <a:spcPct val="0"/>
                </a:spcAft>
                <a:defRPr/>
              </a:pPr>
              <a:t>FY26 (Estimated)</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30" name="StandardTextbox"/>
          <p:cNvSpPr>
            <a:spLocks noGrp="1"/>
          </p:cNvSpPr>
          <p:nvPr>
            <p:custDataLst>
              <p:tags r:id="rId17"/>
            </p:custDataLst>
          </p:nvPr>
        </p:nvSpPr>
        <p:spPr bwMode="auto">
          <a:xfrm>
            <a:off x="7496175" y="5018088"/>
            <a:ext cx="550863" cy="215900"/>
          </a:xfrm>
          <a:prstGeom prst="ellipse">
            <a:avLst/>
          </a:prstGeom>
          <a:solidFill>
            <a:srgbClr val="FFFFFF"/>
          </a:solidFill>
          <a:ln w="9525" algn="ctr">
            <a:solidFill>
              <a:schemeClr val="tx1"/>
            </a:solidFill>
          </a:ln>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14C6500-5702-42C9-834B-CE4E47A46CCB}" type="datetime'7''''''''''''.''''''''''''''''2''''''''''''%'''''''''''''''''">
              <a:rPr lang="en-IN" altLang="en-US" smtClean="0"/>
              <a:pPr lvl="1" algn="ctr">
                <a:spcBef>
                  <a:spcPct val="0"/>
                </a:spcBef>
                <a:spcAft>
                  <a:spcPct val="0"/>
                </a:spcAft>
              </a:pPr>
              <a:t>7.2%</a:t>
            </a:fld>
            <a:endParaRPr lang="en-IN" noProof="0" dirty="0">
              <a:sym typeface="+mn-lt"/>
            </a:endParaRPr>
          </a:p>
        </p:txBody>
      </p:sp>
      <p:sp>
        <p:nvSpPr>
          <p:cNvPr id="2" name="TextBox 1"/>
          <p:cNvSpPr txBox="1"/>
          <p:nvPr/>
        </p:nvSpPr>
        <p:spPr>
          <a:xfrm>
            <a:off x="354888" y="6756413"/>
            <a:ext cx="9936000" cy="387846"/>
          </a:xfrm>
          <a:prstGeom prst="rect">
            <a:avLst/>
          </a:prstGeom>
          <a:noFill/>
          <a:ln w="19050" algn="ctr">
            <a:noFill/>
            <a:miter lim="800000"/>
            <a:headEnd/>
            <a:tailEnd/>
          </a:ln>
        </p:spPr>
        <p:txBody>
          <a:bodyPr wrap="square" lIns="88900" tIns="88900" rIns="88900" bIns="88900" rtlCol="0" anchor="ctr"/>
          <a:lstStyle>
            <a:defPPr>
              <a:defRPr lang="en-US"/>
            </a:defPPr>
            <a:lvl1pPr marR="0" lvl="0" indent="0" fontAlgn="auto">
              <a:lnSpc>
                <a:spcPct val="106000"/>
              </a:lnSpc>
              <a:spcBef>
                <a:spcPts val="0"/>
              </a:spcBef>
              <a:spcAft>
                <a:spcPts val="0"/>
              </a:spcAft>
              <a:buClrTx/>
              <a:buSzTx/>
              <a:buFontTx/>
              <a:buNone/>
              <a:tabLst/>
              <a:defRPr kumimoji="0" sz="700" b="0" i="1" u="none" strike="noStrike" cap="none" spc="0" normalizeH="0" baseline="0">
                <a:ln>
                  <a:noFill/>
                </a:ln>
                <a:solidFill>
                  <a:prstClr val="black"/>
                </a:solidFill>
                <a:effectLst/>
                <a:uLnTx/>
                <a:uFillTx/>
                <a:latin typeface="Verdana"/>
              </a:defRPr>
            </a:lvl1pPr>
          </a:lstStyle>
          <a:p>
            <a:r>
              <a:rPr lang="en-GB" dirty="0"/>
              <a:t>Source: BPDB, Industry Reports, Deloitte Analysis; Note [1]: 1</a:t>
            </a:r>
            <a:r>
              <a:rPr lang="en-US" dirty="0"/>
              <a:t>) We have considered the fixed cost of HFO based plants under RPP/QRPP ownership in FY19 based on sample benchmark data of PPAs for a few RPP/QRPP plants in Bangladesh which may lead to variance (+/- 10%) in the total power purchase cost estimated by us and the total power purchase cost reported by BPDB in FY19 2) We have considered the fixed cost of HSD Based plants under RPP / QRPP ownership at the same level as that of entire HSD portfolio in Bangladesh in FY19 which may lead to variance (+/- 10%) in the total power purchase cost estimated by us </a:t>
            </a:r>
          </a:p>
        </p:txBody>
      </p:sp>
      <p:sp>
        <p:nvSpPr>
          <p:cNvPr id="43" name="TextBox 42"/>
          <p:cNvSpPr txBox="1"/>
          <p:nvPr/>
        </p:nvSpPr>
        <p:spPr>
          <a:xfrm>
            <a:off x="2463113" y="7086402"/>
            <a:ext cx="7755625" cy="190181"/>
          </a:xfrm>
          <a:prstGeom prst="rect">
            <a:avLst/>
          </a:prstGeom>
          <a:noFill/>
          <a:ln w="19050" algn="ctr">
            <a:noFill/>
            <a:miter lim="800000"/>
            <a:headEnd/>
            <a:tailEnd/>
          </a:ln>
        </p:spPr>
        <p:txBody>
          <a:bodyPr wrap="square" lIns="88900" tIns="88900" rIns="88900" bIns="88900" rtlCol="0" anchor="ctr"/>
          <a:lstStyle>
            <a:defPPr>
              <a:defRPr lang="en-US"/>
            </a:defPPr>
            <a:lvl1pPr marR="0" lvl="0" indent="0" fontAlgn="auto">
              <a:lnSpc>
                <a:spcPct val="106000"/>
              </a:lnSpc>
              <a:spcBef>
                <a:spcPts val="0"/>
              </a:spcBef>
              <a:spcAft>
                <a:spcPts val="0"/>
              </a:spcAft>
              <a:buClrTx/>
              <a:buSzTx/>
              <a:buFontTx/>
              <a:buNone/>
              <a:tabLst/>
              <a:defRPr kumimoji="0" sz="700" b="0" i="1" u="none" strike="noStrike" cap="none" spc="0" normalizeH="0" baseline="0">
                <a:ln>
                  <a:noFill/>
                </a:ln>
                <a:solidFill>
                  <a:prstClr val="black"/>
                </a:solidFill>
                <a:effectLst/>
                <a:uLnTx/>
                <a:uFillTx/>
                <a:latin typeface="Verdana"/>
              </a:defRPr>
            </a:lvl1pPr>
          </a:lstStyle>
          <a:p>
            <a:r>
              <a:rPr lang="en-US" dirty="0"/>
              <a:t>and the total power purchase cost reported by BPDB in FY19 3) We have estimated the total power purchase cost of  upcoming LNG and Imported coal based power</a:t>
            </a:r>
          </a:p>
        </p:txBody>
      </p:sp>
      <p:sp>
        <p:nvSpPr>
          <p:cNvPr id="44" name="TextBox 43"/>
          <p:cNvSpPr txBox="1"/>
          <p:nvPr/>
        </p:nvSpPr>
        <p:spPr>
          <a:xfrm>
            <a:off x="354888" y="7176843"/>
            <a:ext cx="9712818" cy="478817"/>
          </a:xfrm>
          <a:prstGeom prst="rect">
            <a:avLst/>
          </a:prstGeom>
          <a:noFill/>
          <a:ln w="19050" algn="ctr">
            <a:noFill/>
            <a:miter lim="800000"/>
            <a:headEnd/>
            <a:tailEnd/>
          </a:ln>
        </p:spPr>
        <p:txBody>
          <a:bodyPr wrap="square" lIns="88900" tIns="88900" rIns="88900" bIns="88900" rtlCol="0" anchor="ctr"/>
          <a:lstStyle>
            <a:defPPr>
              <a:defRPr lang="en-US"/>
            </a:defPPr>
            <a:lvl1pPr marR="0" lvl="0" indent="0" fontAlgn="auto">
              <a:lnSpc>
                <a:spcPct val="106000"/>
              </a:lnSpc>
              <a:spcBef>
                <a:spcPts val="0"/>
              </a:spcBef>
              <a:spcAft>
                <a:spcPts val="0"/>
              </a:spcAft>
              <a:buClrTx/>
              <a:buSzTx/>
              <a:buFontTx/>
              <a:buNone/>
              <a:tabLst/>
              <a:defRPr kumimoji="0" sz="700" b="0" i="1" u="none" strike="noStrike" cap="none" spc="0" normalizeH="0" baseline="0">
                <a:ln>
                  <a:noFill/>
                </a:ln>
                <a:solidFill>
                  <a:prstClr val="black"/>
                </a:solidFill>
                <a:effectLst/>
                <a:uLnTx/>
                <a:uFillTx/>
                <a:latin typeface="Verdana"/>
              </a:defRPr>
            </a:lvl1pPr>
          </a:lstStyle>
          <a:p>
            <a:r>
              <a:rPr lang="en-US" dirty="0"/>
              <a:t>plants considering the </a:t>
            </a:r>
            <a:r>
              <a:rPr lang="en-US" dirty="0" err="1"/>
              <a:t>levelized</a:t>
            </a:r>
            <a:r>
              <a:rPr lang="en-US" dirty="0"/>
              <a:t> projections for fixed cost of such plants based on industry estimates and 1st year fuel price for LNG at $8 / MMBTU (landed cost) and Coal at $~90 / </a:t>
            </a:r>
            <a:r>
              <a:rPr lang="en-US" dirty="0" err="1"/>
              <a:t>Tonne</a:t>
            </a:r>
            <a:r>
              <a:rPr lang="en-US" dirty="0"/>
              <a:t> (landed cost) 5) The incremental capacity addition required to meet the average demand (apart from the planned capacity addition) has been assumed to be met by LNG based power plants only 6) We have estimated the projected the BPDB payment obligations for meeting average power demand only and not for meeting peak demand.</a:t>
            </a:r>
          </a:p>
        </p:txBody>
      </p:sp>
    </p:spTree>
    <p:extLst>
      <p:ext uri="{BB962C8B-B14F-4D97-AF65-F5344CB8AC3E}">
        <p14:creationId xmlns:p14="http://schemas.microsoft.com/office/powerpoint/2010/main" val="1816824321"/>
      </p:ext>
    </p:extLst>
  </p:cSld>
  <p:clrMapOvr>
    <a:masterClrMapping/>
  </p:clrMapOvr>
  <p:transition>
    <p:fade/>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Object 6" hidden="1"/>
          <p:cNvGraphicFramePr>
            <a:graphicFrameLocks noChangeAspect="1"/>
          </p:cNvGraphicFramePr>
          <p:nvPr>
            <p:custDataLst>
              <p:tags r:id="rId1"/>
            </p:custDataLst>
            <p:extLst>
              <p:ext uri="{D42A27DB-BD31-4B8C-83A1-F6EECF244321}">
                <p14:modId xmlns:p14="http://schemas.microsoft.com/office/powerpoint/2010/main" val="231427613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7" imgW="530" imgH="531" progId="TCLayout.ActiveDocument.1">
                  <p:embed/>
                </p:oleObj>
              </mc:Choice>
              <mc:Fallback>
                <p:oleObj name="think-cell Slide" r:id="rId27" imgW="530" imgH="531" progId="TCLayout.ActiveDocument.1">
                  <p:embed/>
                  <p:pic>
                    <p:nvPicPr>
                      <p:cNvPr id="7" name="Object 6" hidden="1"/>
                      <p:cNvPicPr/>
                      <p:nvPr/>
                    </p:nvPicPr>
                    <p:blipFill>
                      <a:blip r:embed="rId28"/>
                      <a:stretch>
                        <a:fillRect/>
                      </a:stretch>
                    </p:blipFill>
                    <p:spPr>
                      <a:xfrm>
                        <a:off x="1588" y="1588"/>
                        <a:ext cx="1588" cy="1588"/>
                      </a:xfrm>
                      <a:prstGeom prst="rect">
                        <a:avLst/>
                      </a:prstGeom>
                    </p:spPr>
                  </p:pic>
                </p:oleObj>
              </mc:Fallback>
            </mc:AlternateContent>
          </a:graphicData>
        </a:graphic>
      </p:graphicFrame>
      <p:sp>
        <p:nvSpPr>
          <p:cNvPr id="10" name="Rectangle 9"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defRPr/>
            </a:pPr>
            <a:endParaRPr kumimoji="0" lang="en-IN" sz="1000" u="none" strike="noStrike" kern="1200" cap="none" spc="0" normalizeH="0" noProof="0" dirty="0">
              <a:ln>
                <a:noFill/>
              </a:ln>
              <a:solidFill>
                <a:prstClr val="white"/>
              </a:solidFill>
              <a:effectLst/>
              <a:uLnTx/>
              <a:uFillTx/>
              <a:sym typeface="+mn-lt"/>
            </a:endParaRPr>
          </a:p>
        </p:txBody>
      </p:sp>
      <p:graphicFrame>
        <p:nvGraphicFramePr>
          <p:cNvPr id="11" name="Table 10"/>
          <p:cNvGraphicFramePr>
            <a:graphicFrameLocks noGrp="1"/>
          </p:cNvGraphicFramePr>
          <p:nvPr>
            <p:custDataLst>
              <p:tags r:id="rId3"/>
            </p:custDataLst>
            <p:extLst>
              <p:ext uri="{D42A27DB-BD31-4B8C-83A1-F6EECF244321}">
                <p14:modId xmlns:p14="http://schemas.microsoft.com/office/powerpoint/2010/main" val="3412616814"/>
              </p:ext>
            </p:extLst>
          </p:nvPr>
        </p:nvGraphicFramePr>
        <p:xfrm>
          <a:off x="5404782" y="1961918"/>
          <a:ext cx="4732062" cy="5792518"/>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760000">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graph shows total estimated total variable charge payment impact (BDT </a:t>
                      </a:r>
                      <a:r>
                        <a:rPr lang="en-US" sz="1000" b="0" baseline="0" dirty="0" err="1">
                          <a:solidFill>
                            <a:schemeClr val="tx1"/>
                          </a:solidFill>
                        </a:rPr>
                        <a:t>Bn</a:t>
                      </a:r>
                      <a:r>
                        <a:rPr lang="en-US" sz="1000" b="0" baseline="0" dirty="0">
                          <a:solidFill>
                            <a:schemeClr val="tx1"/>
                          </a:solidFill>
                        </a:rPr>
                        <a:t>) for BPDB till FY26:</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graph shows the Estimated Per unit Cost &amp; Revenue Forecast (BDT / kWh)</a:t>
                      </a:r>
                      <a:endParaRPr lang="en-US" sz="1000" b="0" baseline="3000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txBody>
                  <a:tcPr marL="107998" marT="107998">
                    <a:lnL w="12700" cmpd="sng">
                      <a:noFill/>
                    </a:lnL>
                    <a:lnR w="12700" cmpd="sng">
                      <a:noFill/>
                    </a:lnR>
                    <a:lnT w="38100" cap="flat" cmpd="sng" algn="ctr">
                      <a:solidFill>
                        <a:schemeClr val="accent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sp>
        <p:nvSpPr>
          <p:cNvPr id="8" name="Title 1"/>
          <p:cNvSpPr>
            <a:spLocks noGrp="1"/>
          </p:cNvSpPr>
          <p:nvPr>
            <p:ph type="title"/>
          </p:nvPr>
        </p:nvSpPr>
        <p:spPr>
          <a:xfrm>
            <a:off x="449264" y="647700"/>
            <a:ext cx="9791700" cy="431800"/>
          </a:xfrm>
        </p:spPr>
        <p:txBody>
          <a:bodyPr/>
          <a:lstStyle/>
          <a:p>
            <a:r>
              <a:rPr lang="en-US" dirty="0"/>
              <a:t>BPDB – Variable Charge Assessment| </a:t>
            </a:r>
            <a:r>
              <a:rPr lang="en-US" dirty="0" err="1"/>
              <a:t>Discom</a:t>
            </a:r>
            <a:r>
              <a:rPr lang="en-US" dirty="0"/>
              <a:t> Credit Assessment</a:t>
            </a:r>
            <a:endParaRPr lang="en-IN" dirty="0"/>
          </a:p>
        </p:txBody>
      </p:sp>
      <p:sp>
        <p:nvSpPr>
          <p:cNvPr id="9"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 growth in power</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demand at 10.4% CAGR would also lead to increase in variable payment for BPDB from the current 217 </a:t>
            </a:r>
            <a:r>
              <a:rPr kumimoji="0" lang="en-US" sz="1400" b="1" i="0" u="none" strike="noStrike" kern="1200" cap="none" spc="0" normalizeH="0" noProof="0" dirty="0" err="1">
                <a:ln>
                  <a:noFill/>
                </a:ln>
                <a:solidFill>
                  <a:prstClr val="black">
                    <a:lumMod val="50000"/>
                    <a:lumOff val="50000"/>
                  </a:prstClr>
                </a:solidFill>
                <a:effectLst/>
                <a:uLnTx/>
                <a:uFillTx/>
                <a:latin typeface="Verdana" panose="020B0604030504040204" pitchFamily="34" charset="0"/>
                <a:ea typeface="+mn-ea"/>
                <a:cs typeface="+mn-cs"/>
              </a:rPr>
              <a:t>Bn</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BDT to ~409 </a:t>
            </a:r>
            <a:r>
              <a:rPr kumimoji="0" lang="en-US" sz="1400" b="1" i="0" u="none" strike="noStrike" kern="1200" cap="none" spc="0" normalizeH="0" noProof="0" dirty="0" err="1">
                <a:ln>
                  <a:noFill/>
                </a:ln>
                <a:solidFill>
                  <a:prstClr val="black">
                    <a:lumMod val="50000"/>
                    <a:lumOff val="50000"/>
                  </a:prstClr>
                </a:solidFill>
                <a:effectLst/>
                <a:uLnTx/>
                <a:uFillTx/>
                <a:latin typeface="Verdana" panose="020B0604030504040204" pitchFamily="34" charset="0"/>
                <a:ea typeface="+mn-ea"/>
                <a:cs typeface="+mn-cs"/>
              </a:rPr>
              <a:t>Bn</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BDT by FY26; However the growth in variable payment would be lower at 9.5% CAGR leading to overall power increase cost at 8.5% CAGR only</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12" name="Table 11"/>
          <p:cNvGraphicFramePr>
            <a:graphicFrameLocks noGrp="1"/>
          </p:cNvGraphicFramePr>
          <p:nvPr>
            <p:custDataLst>
              <p:tags r:id="rId4"/>
            </p:custDataLst>
            <p:extLst>
              <p:ext uri="{D42A27DB-BD31-4B8C-83A1-F6EECF244321}">
                <p14:modId xmlns:p14="http://schemas.microsoft.com/office/powerpoint/2010/main" val="627986647"/>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baseline="0" dirty="0">
                          <a:solidFill>
                            <a:schemeClr val="tx1"/>
                          </a:solidFill>
                        </a:rPr>
                        <a:t>Impact Variable Charges Payout by BPDB</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As mentioned earlier, Bangladesh paid ~217 </a:t>
                      </a:r>
                      <a:r>
                        <a:rPr lang="en-US" sz="1000" b="0" kern="1200" baseline="0" dirty="0" err="1">
                          <a:solidFill>
                            <a:schemeClr val="tx1"/>
                          </a:solidFill>
                          <a:latin typeface="+mn-lt"/>
                          <a:ea typeface="+mn-ea"/>
                          <a:cs typeface="+mn-cs"/>
                        </a:rPr>
                        <a:t>Bn</a:t>
                      </a:r>
                      <a:r>
                        <a:rPr lang="en-US" sz="1000" b="0" kern="1200" baseline="0" dirty="0">
                          <a:solidFill>
                            <a:schemeClr val="tx1"/>
                          </a:solidFill>
                          <a:latin typeface="+mn-lt"/>
                          <a:ea typeface="+mn-ea"/>
                          <a:cs typeface="+mn-cs"/>
                        </a:rPr>
                        <a:t> BDT as variable charges for the power produced in the country in FY19 </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Out of the BDT ~217 </a:t>
                      </a:r>
                      <a:r>
                        <a:rPr lang="en-US" sz="1000" b="0" kern="1200" baseline="0" dirty="0" err="1">
                          <a:solidFill>
                            <a:schemeClr val="tx1"/>
                          </a:solidFill>
                          <a:latin typeface="+mn-lt"/>
                          <a:ea typeface="+mn-ea"/>
                          <a:cs typeface="+mn-cs"/>
                        </a:rPr>
                        <a:t>Bn</a:t>
                      </a:r>
                      <a:r>
                        <a:rPr lang="en-US" sz="1000" b="0" kern="1200" baseline="0" dirty="0">
                          <a:solidFill>
                            <a:schemeClr val="tx1"/>
                          </a:solidFill>
                          <a:latin typeface="+mn-lt"/>
                          <a:ea typeface="+mn-ea"/>
                          <a:cs typeface="+mn-cs"/>
                        </a:rPr>
                        <a:t>, liquid fuel based plants (HSD/HFO) are estimated to have contributed to ~142 </a:t>
                      </a:r>
                      <a:r>
                        <a:rPr lang="en-US" sz="1000" b="0" kern="1200" baseline="0" dirty="0" err="1">
                          <a:solidFill>
                            <a:schemeClr val="tx1"/>
                          </a:solidFill>
                          <a:latin typeface="+mn-lt"/>
                          <a:ea typeface="+mn-ea"/>
                          <a:cs typeface="+mn-cs"/>
                        </a:rPr>
                        <a:t>Bn</a:t>
                      </a:r>
                      <a:r>
                        <a:rPr lang="en-US" sz="1000" b="0" kern="1200" baseline="0" dirty="0">
                          <a:solidFill>
                            <a:schemeClr val="tx1"/>
                          </a:solidFill>
                          <a:latin typeface="+mn-lt"/>
                          <a:ea typeface="+mn-ea"/>
                          <a:cs typeface="+mn-cs"/>
                        </a:rPr>
                        <a:t> (65% of the fuel cost) compared to their installed capacity of 6,140 MW (32% of total installed capacity of ~18,961 MW)</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Going forward we expect the average power demand in Bangladesh to be met by ~19,600 MW of non-liquid based power supply capacity in Bangladesh </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graph on the right (below) shows the estimated variable charge payout by BPDB in FY26 to meet the average power demand which may reach BDT ~409 </a:t>
                      </a:r>
                      <a:r>
                        <a:rPr lang="en-US" sz="1000" b="0" kern="1200" baseline="0" dirty="0" err="1">
                          <a:solidFill>
                            <a:schemeClr val="tx1"/>
                          </a:solidFill>
                          <a:latin typeface="+mn-lt"/>
                          <a:ea typeface="+mn-ea"/>
                          <a:cs typeface="+mn-cs"/>
                        </a:rPr>
                        <a:t>Bn</a:t>
                      </a:r>
                      <a:r>
                        <a:rPr lang="en-US" sz="1000" b="0" kern="1200" baseline="0" dirty="0">
                          <a:solidFill>
                            <a:schemeClr val="tx1"/>
                          </a:solidFill>
                          <a:latin typeface="+mn-lt"/>
                          <a:ea typeface="+mn-ea"/>
                          <a:cs typeface="+mn-cs"/>
                        </a:rPr>
                        <a:t> growing at a CAGR of ~9.5% which is lower than estimated average power demand growth</a:t>
                      </a: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kern="1200" baseline="0" dirty="0">
                          <a:solidFill>
                            <a:schemeClr val="tx1"/>
                          </a:solidFill>
                          <a:latin typeface="+mn-lt"/>
                          <a:ea typeface="+mn-ea"/>
                          <a:cs typeface="+mn-cs"/>
                        </a:rPr>
                        <a:t>Per Unit Cost &amp; Revenue Impact</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average power purchase cost of BPDB which stood at BDT ~5.7 / kWh in FY19 may reduce to BDT ~5.0 / kWh primarily driven by replacement of expensive HSD/HFO based generation to economical sources of power such as LNG and Imported Coal</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We have also considered that in such as supply scenario, the average bulk power selling rate of BPDB may remain constant at BDT 5 / kWh (at FY19 levels) considering the fall in overall power purchase cost for BPDB</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Thus the gap between BPDB’s revenue and power purchase cost is expected to reduce significantly to marginal levels by FY26</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kern="1200" baseline="0" dirty="0">
                        <a:solidFill>
                          <a:schemeClr val="tx1"/>
                        </a:solidFill>
                        <a:latin typeface="+mn-lt"/>
                        <a:ea typeface="+mn-ea"/>
                        <a:cs typeface="+mn-cs"/>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extBox 1"/>
          <p:cNvSpPr txBox="1"/>
          <p:nvPr/>
        </p:nvSpPr>
        <p:spPr>
          <a:xfrm>
            <a:off x="377114" y="6660285"/>
            <a:ext cx="9936000" cy="387846"/>
          </a:xfrm>
          <a:prstGeom prst="rect">
            <a:avLst/>
          </a:prstGeom>
          <a:noFill/>
          <a:ln w="19050" algn="ctr">
            <a:noFill/>
            <a:miter lim="800000"/>
            <a:headEnd/>
            <a:tailEnd/>
          </a:ln>
        </p:spPr>
        <p:txBody>
          <a:bodyPr wrap="square" lIns="88900" tIns="88900" rIns="88900" bIns="88900" rtlCol="0" anchor="ctr"/>
          <a:lstStyle>
            <a:defPPr>
              <a:defRPr lang="en-US"/>
            </a:defPPr>
            <a:lvl1pPr marR="0" lvl="0" indent="0" fontAlgn="auto">
              <a:lnSpc>
                <a:spcPct val="106000"/>
              </a:lnSpc>
              <a:spcBef>
                <a:spcPts val="0"/>
              </a:spcBef>
              <a:spcAft>
                <a:spcPts val="0"/>
              </a:spcAft>
              <a:buClrTx/>
              <a:buSzTx/>
              <a:buFontTx/>
              <a:buNone/>
              <a:tabLst/>
              <a:defRPr kumimoji="0" sz="700" b="0" i="1" u="none" strike="noStrike" cap="none" spc="0" normalizeH="0" baseline="0">
                <a:ln>
                  <a:noFill/>
                </a:ln>
                <a:solidFill>
                  <a:prstClr val="black"/>
                </a:solidFill>
                <a:effectLst/>
                <a:uLnTx/>
                <a:uFillTx/>
                <a:latin typeface="Verdana"/>
              </a:defRPr>
            </a:lvl1pPr>
          </a:lstStyle>
          <a:p>
            <a:pPr lvl="0"/>
            <a:r>
              <a:rPr kumimoji="0" lang="en-GB" sz="700" b="0" i="1" u="none" strike="noStrike" kern="1200" cap="none" spc="0" normalizeH="0" baseline="0" noProof="0" dirty="0">
                <a:ln>
                  <a:noFill/>
                </a:ln>
                <a:solidFill>
                  <a:prstClr val="black"/>
                </a:solidFill>
                <a:effectLst/>
                <a:uLnTx/>
                <a:uFillTx/>
                <a:latin typeface="Verdana"/>
                <a:ea typeface="+mn-ea"/>
                <a:cs typeface="+mn-cs"/>
              </a:rPr>
              <a:t>Source: BPDB, Industry Reports, Deloitte Analysis; Note 1</a:t>
            </a:r>
            <a:r>
              <a:rPr lang="en-US" dirty="0"/>
              <a:t>) We have considered the average gas price for power sector at BDT 4.45 / SCM as per prevailing tariff with no escalation. 2) We have considered the average Variable Cost per unit (kWh) for Gas, HSD and HFO based plants belonging to Rental / Quick Rental Ownership (RPP/QRPP) in FY19 at same level as that of the entire Gas, HSD and HFO portfolio in Bangladesh in FY19 3) </a:t>
            </a:r>
            <a:r>
              <a:rPr kumimoji="0" lang="en-US" sz="700" b="0" i="1" u="none" strike="noStrike" kern="1200" cap="none" spc="0" normalizeH="0" baseline="0" noProof="0" dirty="0">
                <a:ln>
                  <a:noFill/>
                </a:ln>
                <a:solidFill>
                  <a:prstClr val="black"/>
                </a:solidFill>
                <a:effectLst/>
                <a:uLnTx/>
                <a:uFillTx/>
                <a:latin typeface="Verdana"/>
                <a:ea typeface="+mn-ea"/>
                <a:cs typeface="+mn-cs"/>
              </a:rPr>
              <a:t>We have considered the fixed cost of HFO based plants under RPP/QRPP ownership in FY19 based on sample benchmark data of PPAs for a few RPP/QRPP plants in Bangladesh which may lead to variance (+/- 10%) in the total power purchase cost estimated by us and the total power purchase cost reported by BPDB in FY19 4) We have considered the fixed cost of HSD Based plants under RPP / QRPP ownership at the same level as that of entire HSD portfolio in Bangladesh in FY19 which may lead to variance (+/- 10%) in the total power purchase cost estimated by us </a:t>
            </a:r>
            <a:r>
              <a:rPr lang="en-US" dirty="0"/>
              <a:t>and the total power purchase cost reported by BPDB in FY19 5) We have</a:t>
            </a:r>
            <a:endParaRPr kumimoji="0" lang="en-US" sz="700" b="0" i="1" u="none" strike="noStrike" kern="1200" cap="none" spc="0" normalizeH="0" baseline="0" noProof="0" dirty="0">
              <a:ln>
                <a:noFill/>
              </a:ln>
              <a:solidFill>
                <a:prstClr val="black"/>
              </a:solidFill>
              <a:effectLst/>
              <a:uLnTx/>
              <a:uFillTx/>
              <a:latin typeface="Verdana"/>
              <a:ea typeface="+mn-ea"/>
              <a:cs typeface="+mn-cs"/>
            </a:endParaRPr>
          </a:p>
        </p:txBody>
      </p:sp>
      <p:sp>
        <p:nvSpPr>
          <p:cNvPr id="43" name="TextBox 42"/>
          <p:cNvSpPr txBox="1"/>
          <p:nvPr/>
        </p:nvSpPr>
        <p:spPr>
          <a:xfrm>
            <a:off x="2463113" y="7110378"/>
            <a:ext cx="7755625" cy="190181"/>
          </a:xfrm>
          <a:prstGeom prst="rect">
            <a:avLst/>
          </a:prstGeom>
          <a:noFill/>
          <a:ln w="19050" algn="ctr">
            <a:noFill/>
            <a:miter lim="800000"/>
            <a:headEnd/>
            <a:tailEnd/>
          </a:ln>
        </p:spPr>
        <p:txBody>
          <a:bodyPr wrap="square" lIns="88900" tIns="88900" rIns="88900" bIns="88900" rtlCol="0" anchor="ctr"/>
          <a:lstStyle>
            <a:defPPr>
              <a:defRPr lang="en-US"/>
            </a:defPPr>
            <a:lvl1pPr marR="0" lvl="0" indent="0" fontAlgn="auto">
              <a:lnSpc>
                <a:spcPct val="106000"/>
              </a:lnSpc>
              <a:spcBef>
                <a:spcPts val="0"/>
              </a:spcBef>
              <a:spcAft>
                <a:spcPts val="0"/>
              </a:spcAft>
              <a:buClrTx/>
              <a:buSzTx/>
              <a:buFontTx/>
              <a:buNone/>
              <a:tabLst/>
              <a:defRPr kumimoji="0" sz="700" b="0" i="1" u="none" strike="noStrike" cap="none" spc="0" normalizeH="0" baseline="0">
                <a:ln>
                  <a:noFill/>
                </a:ln>
                <a:solidFill>
                  <a:prstClr val="black"/>
                </a:solidFill>
                <a:effectLst/>
                <a:uLnTx/>
                <a:uFillTx/>
                <a:latin typeface="Verdana"/>
              </a:defRPr>
            </a:lvl1pPr>
          </a:lstStyle>
          <a:p>
            <a:pPr lvl="0"/>
            <a:r>
              <a:rPr kumimoji="0" lang="en-US" sz="700" b="0" i="1" u="none" strike="noStrike" kern="1200" cap="none" spc="0" normalizeH="0" baseline="0" noProof="0" dirty="0">
                <a:ln>
                  <a:noFill/>
                </a:ln>
                <a:solidFill>
                  <a:prstClr val="black"/>
                </a:solidFill>
                <a:effectLst/>
                <a:uLnTx/>
                <a:uFillTx/>
                <a:latin typeface="Verdana"/>
                <a:ea typeface="+mn-ea"/>
                <a:cs typeface="+mn-cs"/>
              </a:rPr>
              <a:t>estimated the total power purchase cost of  upcoming LNG and Imported coal based </a:t>
            </a:r>
            <a:r>
              <a:rPr lang="en-US" dirty="0"/>
              <a:t>power plants considering the </a:t>
            </a:r>
            <a:r>
              <a:rPr lang="en-US" dirty="0" err="1"/>
              <a:t>levelized</a:t>
            </a:r>
            <a:r>
              <a:rPr lang="en-US" dirty="0"/>
              <a:t> projections for fixed cost of such plants</a:t>
            </a:r>
            <a:endParaRPr kumimoji="0" lang="en-US" sz="700" b="0" i="1" u="none" strike="noStrike" kern="1200" cap="none" spc="0" normalizeH="0" baseline="0" noProof="0" dirty="0">
              <a:ln>
                <a:noFill/>
              </a:ln>
              <a:solidFill>
                <a:prstClr val="black"/>
              </a:solidFill>
              <a:effectLst/>
              <a:uLnTx/>
              <a:uFillTx/>
              <a:latin typeface="Verdana"/>
              <a:ea typeface="+mn-ea"/>
              <a:cs typeface="+mn-cs"/>
            </a:endParaRPr>
          </a:p>
        </p:txBody>
      </p:sp>
      <p:sp>
        <p:nvSpPr>
          <p:cNvPr id="44" name="TextBox 43"/>
          <p:cNvSpPr txBox="1"/>
          <p:nvPr/>
        </p:nvSpPr>
        <p:spPr>
          <a:xfrm>
            <a:off x="354888" y="7176843"/>
            <a:ext cx="9712818" cy="478817"/>
          </a:xfrm>
          <a:prstGeom prst="rect">
            <a:avLst/>
          </a:prstGeom>
          <a:noFill/>
          <a:ln w="19050" algn="ctr">
            <a:noFill/>
            <a:miter lim="800000"/>
            <a:headEnd/>
            <a:tailEnd/>
          </a:ln>
        </p:spPr>
        <p:txBody>
          <a:bodyPr wrap="square" lIns="88900" tIns="88900" rIns="88900" bIns="88900" rtlCol="0" anchor="ctr"/>
          <a:lstStyle>
            <a:defPPr>
              <a:defRPr lang="en-US"/>
            </a:defPPr>
            <a:lvl1pPr marR="0" lvl="0" indent="0" fontAlgn="auto">
              <a:lnSpc>
                <a:spcPct val="106000"/>
              </a:lnSpc>
              <a:spcBef>
                <a:spcPts val="0"/>
              </a:spcBef>
              <a:spcAft>
                <a:spcPts val="0"/>
              </a:spcAft>
              <a:buClrTx/>
              <a:buSzTx/>
              <a:buFontTx/>
              <a:buNone/>
              <a:tabLst/>
              <a:defRPr kumimoji="0" sz="700" b="0" i="1" u="none" strike="noStrike" cap="none" spc="0" normalizeH="0" baseline="0">
                <a:ln>
                  <a:noFill/>
                </a:ln>
                <a:solidFill>
                  <a:prstClr val="black"/>
                </a:solidFill>
                <a:effectLst/>
                <a:uLnTx/>
                <a:uFillTx/>
                <a:latin typeface="Verdana"/>
              </a:defRPr>
            </a:lvl1pPr>
          </a:lstStyle>
          <a:p>
            <a:pPr lvl="0"/>
            <a:r>
              <a:rPr lang="en-US" dirty="0"/>
              <a:t>based on industry estimates and 1st year fuel price for LNG </a:t>
            </a:r>
            <a:r>
              <a:rPr kumimoji="0" lang="en-US" sz="700" b="0" i="1" u="none" strike="noStrike" kern="1200" cap="none" spc="0" normalizeH="0" baseline="0" noProof="0" dirty="0">
                <a:ln>
                  <a:noFill/>
                </a:ln>
                <a:solidFill>
                  <a:prstClr val="black"/>
                </a:solidFill>
                <a:effectLst/>
                <a:uLnTx/>
                <a:uFillTx/>
                <a:latin typeface="Verdana"/>
                <a:ea typeface="+mn-ea"/>
                <a:cs typeface="+mn-cs"/>
              </a:rPr>
              <a:t>at $8 / MMBTU (landed cost) and Coal at $~90 / </a:t>
            </a:r>
            <a:r>
              <a:rPr kumimoji="0" lang="en-US" sz="700" b="0" i="1" u="none" strike="noStrike" kern="1200" cap="none" spc="0" normalizeH="0" baseline="0" noProof="0" dirty="0" err="1">
                <a:ln>
                  <a:noFill/>
                </a:ln>
                <a:solidFill>
                  <a:prstClr val="black"/>
                </a:solidFill>
                <a:effectLst/>
                <a:uLnTx/>
                <a:uFillTx/>
                <a:latin typeface="Verdana"/>
                <a:ea typeface="+mn-ea"/>
                <a:cs typeface="+mn-cs"/>
              </a:rPr>
              <a:t>Tonne</a:t>
            </a:r>
            <a:r>
              <a:rPr kumimoji="0" lang="en-US" sz="700" b="0" i="1" u="none" strike="noStrike" kern="1200" cap="none" spc="0" normalizeH="0" baseline="0" noProof="0" dirty="0">
                <a:ln>
                  <a:noFill/>
                </a:ln>
                <a:solidFill>
                  <a:prstClr val="black"/>
                </a:solidFill>
                <a:effectLst/>
                <a:uLnTx/>
                <a:uFillTx/>
                <a:latin typeface="Verdana"/>
                <a:ea typeface="+mn-ea"/>
                <a:cs typeface="+mn-cs"/>
              </a:rPr>
              <a:t> (landed cost) 6) The incremental capacity addition required to meet the average demand (apart from the planned capacity addition) has been assumed to be met by LNG based power plants only 7) We have estimated the projected the BPDB payment obligations for meeting average power demand only and not for meeting peak demand</a:t>
            </a:r>
          </a:p>
        </p:txBody>
      </p:sp>
      <p:sp>
        <p:nvSpPr>
          <p:cNvPr id="24" name="Rectangle 23"/>
          <p:cNvSpPr/>
          <p:nvPr>
            <p:custDataLst>
              <p:tags r:id="rId5"/>
            </p:custDataLst>
          </p:nvPr>
        </p:nvSpPr>
        <p:spPr bwMode="auto">
          <a:xfrm>
            <a:off x="6831013" y="6234113"/>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5" name="StandardTextbox"/>
          <p:cNvSpPr>
            <a:spLocks noGrp="1"/>
          </p:cNvSpPr>
          <p:nvPr>
            <p:custDataLst>
              <p:tags r:id="rId6"/>
            </p:custDataLst>
          </p:nvPr>
        </p:nvSpPr>
        <p:spPr bwMode="auto">
          <a:xfrm>
            <a:off x="7061200" y="6229350"/>
            <a:ext cx="1949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80E37E29-1EF4-4C1F-90B7-3BC63E3D88F7}" type="datetime'Ave''''r''age'' ''Bu''lk'' Po''wer Sa''le'' P''r''''i''''c''e'">
              <a:rPr lang="en-US" altLang="en-US" b="0" smtClean="0">
                <a:solidFill>
                  <a:srgbClr val="000000"/>
                </a:solidFill>
              </a:rPr>
              <a:pPr lvl="1">
                <a:spcBef>
                  <a:spcPct val="0"/>
                </a:spcBef>
                <a:spcAft>
                  <a:spcPct val="0"/>
                </a:spcAft>
              </a:pPr>
              <a:t>Average Bulk Power Sale Price</a:t>
            </a:fld>
            <a:endParaRPr kumimoji="0" lang="en-IN" sz="1000" b="0" i="0" strike="noStrike" kern="1200" spc="0" normalizeH="0" noProof="0" dirty="0">
              <a:ln>
                <a:noFill/>
              </a:ln>
              <a:solidFill>
                <a:srgbClr val="000000"/>
              </a:solidFill>
              <a:effectLst/>
              <a:uLnTx/>
              <a:uFillTx/>
              <a:latin typeface="Verdana"/>
              <a:sym typeface="+mn-lt"/>
            </a:endParaRPr>
          </a:p>
        </p:txBody>
      </p:sp>
      <p:graphicFrame>
        <p:nvGraphicFramePr>
          <p:cNvPr id="97" name="Chart 96"/>
          <p:cNvGraphicFramePr/>
          <p:nvPr>
            <p:custDataLst>
              <p:tags r:id="rId7"/>
            </p:custDataLst>
            <p:extLst>
              <p:ext uri="{D42A27DB-BD31-4B8C-83A1-F6EECF244321}">
                <p14:modId xmlns:p14="http://schemas.microsoft.com/office/powerpoint/2010/main" val="2592947495"/>
              </p:ext>
            </p:extLst>
          </p:nvPr>
        </p:nvGraphicFramePr>
        <p:xfrm>
          <a:off x="5405438" y="4770438"/>
          <a:ext cx="4711700" cy="1023937"/>
        </p:xfrm>
        <a:graphic>
          <a:graphicData uri="http://schemas.openxmlformats.org/drawingml/2006/chart">
            <c:chart xmlns:c="http://schemas.openxmlformats.org/drawingml/2006/chart" xmlns:r="http://schemas.openxmlformats.org/officeDocument/2006/relationships" r:id="rId29"/>
          </a:graphicData>
        </a:graphic>
      </p:graphicFrame>
      <p:sp>
        <p:nvSpPr>
          <p:cNvPr id="27" name="StandardTextbox"/>
          <p:cNvSpPr>
            <a:spLocks noGrp="1"/>
          </p:cNvSpPr>
          <p:nvPr>
            <p:custDataLst>
              <p:tags r:id="rId8"/>
            </p:custDataLst>
          </p:nvPr>
        </p:nvSpPr>
        <p:spPr bwMode="auto">
          <a:xfrm>
            <a:off x="6462713" y="579755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2CA79904-E029-42E1-834D-CC778B5BCF25}" type="datetime'''''''''''''F''''''Y''''''''''''19'''''''''''''''''''''''''">
              <a:rPr lang="en-IN" altLang="en-US" b="0" smtClean="0">
                <a:solidFill>
                  <a:srgbClr val="000000"/>
                </a:solidFill>
              </a:rPr>
              <a:pPr lvl="1" algn="ctr">
                <a:spcBef>
                  <a:spcPct val="0"/>
                </a:spcBef>
                <a:spcAft>
                  <a:spcPct val="0"/>
                </a:spcAft>
                <a:defRPr/>
              </a:pPr>
              <a:t>FY19</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28" name="StandardTextbox"/>
          <p:cNvSpPr>
            <a:spLocks noGrp="1"/>
          </p:cNvSpPr>
          <p:nvPr>
            <p:custDataLst>
              <p:tags r:id="rId9"/>
            </p:custDataLst>
          </p:nvPr>
        </p:nvSpPr>
        <p:spPr bwMode="auto">
          <a:xfrm>
            <a:off x="8335963" y="5797550"/>
            <a:ext cx="11239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83F9D710-2AD0-4C85-9611-BF39FF7DEF75}" type="datetime'''''''''F''''Y26'' (''''E''s''''tim''''at''''''''''''e''d)'''">
              <a:rPr lang="en-US" altLang="en-US" b="0" smtClean="0">
                <a:solidFill>
                  <a:srgbClr val="000000"/>
                </a:solidFill>
              </a:rPr>
              <a:pPr lvl="1" algn="ctr">
                <a:spcBef>
                  <a:spcPct val="0"/>
                </a:spcBef>
                <a:spcAft>
                  <a:spcPct val="0"/>
                </a:spcAft>
                <a:defRPr/>
              </a:pPr>
              <a:t>FY26 (Estimated)</a:t>
            </a:fld>
            <a:endParaRPr kumimoji="0" lang="en-IN" sz="1000" b="0" i="0" strike="noStrike" kern="1200" spc="0" normalizeH="0" noProof="0" dirty="0">
              <a:ln>
                <a:noFill/>
              </a:ln>
              <a:solidFill>
                <a:srgbClr val="000000"/>
              </a:solidFill>
              <a:effectLst/>
              <a:uLnTx/>
              <a:uFillTx/>
              <a:latin typeface="Verdana"/>
              <a:sym typeface="+mn-lt"/>
            </a:endParaRPr>
          </a:p>
        </p:txBody>
      </p:sp>
      <p:graphicFrame>
        <p:nvGraphicFramePr>
          <p:cNvPr id="98" name="Chart 97"/>
          <p:cNvGraphicFramePr/>
          <p:nvPr>
            <p:custDataLst>
              <p:tags r:id="rId10"/>
            </p:custDataLst>
            <p:extLst>
              <p:ext uri="{D42A27DB-BD31-4B8C-83A1-F6EECF244321}">
                <p14:modId xmlns:p14="http://schemas.microsoft.com/office/powerpoint/2010/main" val="4161424145"/>
              </p:ext>
            </p:extLst>
          </p:nvPr>
        </p:nvGraphicFramePr>
        <p:xfrm>
          <a:off x="7540625" y="4878388"/>
          <a:ext cx="1778000" cy="915987"/>
        </p:xfrm>
        <a:graphic>
          <a:graphicData uri="http://schemas.openxmlformats.org/drawingml/2006/chart">
            <c:chart xmlns:c="http://schemas.openxmlformats.org/drawingml/2006/chart" xmlns:r="http://schemas.openxmlformats.org/officeDocument/2006/relationships" r:id="rId30"/>
          </a:graphicData>
        </a:graphic>
      </p:graphicFrame>
      <p:sp>
        <p:nvSpPr>
          <p:cNvPr id="32" name="StandardTextbox"/>
          <p:cNvSpPr>
            <a:spLocks noGrp="1"/>
          </p:cNvSpPr>
          <p:nvPr>
            <p:custDataLst>
              <p:tags r:id="rId11"/>
            </p:custDataLst>
          </p:nvPr>
        </p:nvSpPr>
        <p:spPr bwMode="gray">
          <a:xfrm>
            <a:off x="8305800" y="4792663"/>
            <a:ext cx="2492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DD3621C8-0CD1-4003-ABBE-888446C2BE14}" type="datetime'''''''''5''''.''''''''0'''''''''''''''''''''''''''''''''''''''">
              <a:rPr lang="en-IN" altLang="en-US" b="0" smtClean="0"/>
              <a:pPr lvl="1" algn="ctr">
                <a:spcBef>
                  <a:spcPct val="0"/>
                </a:spcBef>
                <a:spcAft>
                  <a:spcPct val="0"/>
                </a:spcAft>
              </a:pPr>
              <a:t>5.0</a:t>
            </a:fld>
            <a:endParaRPr lang="en-IN" b="0" noProof="0" dirty="0">
              <a:sym typeface="+mn-lt"/>
            </a:endParaRPr>
          </a:p>
        </p:txBody>
      </p:sp>
      <p:graphicFrame>
        <p:nvGraphicFramePr>
          <p:cNvPr id="73" name="Chart 72"/>
          <p:cNvGraphicFramePr/>
          <p:nvPr>
            <p:custDataLst>
              <p:tags r:id="rId12"/>
            </p:custDataLst>
            <p:extLst>
              <p:ext uri="{D42A27DB-BD31-4B8C-83A1-F6EECF244321}">
                <p14:modId xmlns:p14="http://schemas.microsoft.com/office/powerpoint/2010/main" val="2880217760"/>
              </p:ext>
            </p:extLst>
          </p:nvPr>
        </p:nvGraphicFramePr>
        <p:xfrm>
          <a:off x="5245100" y="4575175"/>
          <a:ext cx="1778000" cy="1219200"/>
        </p:xfrm>
        <a:graphic>
          <a:graphicData uri="http://schemas.openxmlformats.org/drawingml/2006/chart">
            <c:chart xmlns:c="http://schemas.openxmlformats.org/drawingml/2006/chart" xmlns:r="http://schemas.openxmlformats.org/officeDocument/2006/relationships" r:id="rId31"/>
          </a:graphicData>
        </a:graphic>
      </p:graphicFrame>
      <p:sp>
        <p:nvSpPr>
          <p:cNvPr id="52" name="StandardTextbox"/>
          <p:cNvSpPr>
            <a:spLocks noGrp="1"/>
          </p:cNvSpPr>
          <p:nvPr>
            <p:custDataLst>
              <p:tags r:id="rId13"/>
            </p:custDataLst>
          </p:nvPr>
        </p:nvSpPr>
        <p:spPr bwMode="gray">
          <a:xfrm>
            <a:off x="6010275" y="4479925"/>
            <a:ext cx="2492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DCC56678-ABB9-4D7B-B614-7C84C518D579}" type="datetime'''''''''''''''''''''''5''.''7'''''''">
              <a:rPr lang="en-IN" altLang="en-US" b="0" smtClean="0"/>
              <a:pPr lvl="1" algn="ctr">
                <a:spcBef>
                  <a:spcPct val="0"/>
                </a:spcBef>
                <a:spcAft>
                  <a:spcPct val="0"/>
                </a:spcAft>
              </a:pPr>
              <a:t>5.7</a:t>
            </a:fld>
            <a:endParaRPr lang="en-IN" b="0" noProof="0" dirty="0">
              <a:sym typeface="+mn-lt"/>
            </a:endParaRPr>
          </a:p>
        </p:txBody>
      </p:sp>
      <p:sp>
        <p:nvSpPr>
          <p:cNvPr id="54" name="Rectangle 53"/>
          <p:cNvSpPr/>
          <p:nvPr>
            <p:custDataLst>
              <p:tags r:id="rId14"/>
            </p:custDataLst>
          </p:nvPr>
        </p:nvSpPr>
        <p:spPr bwMode="auto">
          <a:xfrm>
            <a:off x="6015038" y="5980113"/>
            <a:ext cx="179388" cy="133350"/>
          </a:xfrm>
          <a:prstGeom prst="rect">
            <a:avLst/>
          </a:pr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53" name="Rectangle 52"/>
          <p:cNvSpPr/>
          <p:nvPr>
            <p:custDataLst>
              <p:tags r:id="rId15"/>
            </p:custDataLst>
          </p:nvPr>
        </p:nvSpPr>
        <p:spPr bwMode="auto">
          <a:xfrm>
            <a:off x="7962900" y="5980113"/>
            <a:ext cx="179388" cy="133350"/>
          </a:xfrm>
          <a:prstGeom prst="rect">
            <a:avLst/>
          </a:prstGeom>
          <a:solidFill>
            <a:srgbClr val="01216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55" name="StandardTextbox"/>
          <p:cNvSpPr>
            <a:spLocks noGrp="1"/>
          </p:cNvSpPr>
          <p:nvPr>
            <p:custDataLst>
              <p:tags r:id="rId16"/>
            </p:custDataLst>
          </p:nvPr>
        </p:nvSpPr>
        <p:spPr bwMode="auto">
          <a:xfrm>
            <a:off x="6245225" y="5975350"/>
            <a:ext cx="161607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5D5D4266-26A6-4EC4-9EDC-DA92AB7B6EC8}" type="datetime'A''''ve''''r''a''g''e Cap''a''''cit''''''y'''''' ''C''har''ge'">
              <a:rPr lang="en-IN" altLang="en-US" b="0" smtClean="0"/>
              <a:pPr lvl="1">
                <a:spcBef>
                  <a:spcPct val="0"/>
                </a:spcBef>
                <a:spcAft>
                  <a:spcPct val="0"/>
                </a:spcAft>
              </a:pPr>
              <a:t>Average Capacity Charge</a:t>
            </a:fld>
            <a:endParaRPr lang="en-IN" b="0" noProof="0" dirty="0">
              <a:sym typeface="+mn-lt"/>
            </a:endParaRPr>
          </a:p>
        </p:txBody>
      </p:sp>
      <p:sp>
        <p:nvSpPr>
          <p:cNvPr id="56" name="StandardTextbox"/>
          <p:cNvSpPr>
            <a:spLocks noGrp="1"/>
          </p:cNvSpPr>
          <p:nvPr>
            <p:custDataLst>
              <p:tags r:id="rId17"/>
            </p:custDataLst>
          </p:nvPr>
        </p:nvSpPr>
        <p:spPr bwMode="auto">
          <a:xfrm>
            <a:off x="8193088" y="5975350"/>
            <a:ext cx="15875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0B870AE6-063D-44D2-92FE-A0F5D78C4F89}" type="datetime'''''''Ave''''rage'''' ''Variable C''ha''''r''''''''ge'''''''''">
              <a:rPr lang="en-IN" altLang="en-US" b="0" smtClean="0"/>
              <a:pPr lvl="1">
                <a:spcBef>
                  <a:spcPct val="0"/>
                </a:spcBef>
                <a:spcAft>
                  <a:spcPct val="0"/>
                </a:spcAft>
              </a:pPr>
              <a:t>Average Variable Charge</a:t>
            </a:fld>
            <a:endParaRPr lang="en-IN" b="0" noProof="0" dirty="0">
              <a:sym typeface="+mn-lt"/>
            </a:endParaRPr>
          </a:p>
        </p:txBody>
      </p:sp>
      <p:cxnSp>
        <p:nvCxnSpPr>
          <p:cNvPr id="69" name="Straight Connector 68"/>
          <p:cNvCxnSpPr/>
          <p:nvPr/>
        </p:nvCxnSpPr>
        <p:spPr>
          <a:xfrm>
            <a:off x="5487987" y="5702300"/>
            <a:ext cx="4343400"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graphicFrame>
        <p:nvGraphicFramePr>
          <p:cNvPr id="94" name="Chart 93"/>
          <p:cNvGraphicFramePr/>
          <p:nvPr>
            <p:custDataLst>
              <p:tags r:id="rId18"/>
            </p:custDataLst>
            <p:extLst>
              <p:ext uri="{D42A27DB-BD31-4B8C-83A1-F6EECF244321}">
                <p14:modId xmlns:p14="http://schemas.microsoft.com/office/powerpoint/2010/main" val="914722113"/>
              </p:ext>
            </p:extLst>
          </p:nvPr>
        </p:nvGraphicFramePr>
        <p:xfrm>
          <a:off x="5322888" y="2586038"/>
          <a:ext cx="4895850" cy="1239837"/>
        </p:xfrm>
        <a:graphic>
          <a:graphicData uri="http://schemas.openxmlformats.org/drawingml/2006/chart">
            <c:chart xmlns:c="http://schemas.openxmlformats.org/drawingml/2006/chart" xmlns:r="http://schemas.openxmlformats.org/officeDocument/2006/relationships" r:id="rId32"/>
          </a:graphicData>
        </a:graphic>
      </p:graphicFrame>
      <p:sp useBgFill="1">
        <p:nvSpPr>
          <p:cNvPr id="20" name="Freeform 19"/>
          <p:cNvSpPr/>
          <p:nvPr>
            <p:custDataLst>
              <p:tags r:id="rId19"/>
            </p:custDataLst>
          </p:nvPr>
        </p:nvSpPr>
        <p:spPr bwMode="auto">
          <a:xfrm>
            <a:off x="7723188" y="3670300"/>
            <a:ext cx="96838" cy="146051"/>
          </a:xfrm>
          <a:custGeom>
            <a:avLst/>
            <a:gdLst/>
            <a:ahLst/>
            <a:cxnLst/>
            <a:rect l="0" t="0" r="0" b="0"/>
            <a:pathLst>
              <a:path w="96838" h="146051">
                <a:moveTo>
                  <a:pt x="96837" y="0"/>
                </a:moveTo>
                <a:lnTo>
                  <a:pt x="57150" y="146050"/>
                </a:lnTo>
                <a:lnTo>
                  <a:pt x="0" y="146050"/>
                </a:lnTo>
                <a:lnTo>
                  <a:pt x="39687" y="0"/>
                </a:lnTo>
                <a:close/>
              </a:path>
            </a:pathLst>
          </a:custGeom>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9" name="Freeform 18"/>
          <p:cNvSpPr/>
          <p:nvPr>
            <p:custDataLst>
              <p:tags r:id="rId20"/>
            </p:custDataLst>
          </p:nvPr>
        </p:nvSpPr>
        <p:spPr bwMode="auto">
          <a:xfrm>
            <a:off x="7780338" y="3670300"/>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a:p>
        </p:txBody>
      </p:sp>
      <p:sp>
        <p:nvSpPr>
          <p:cNvPr id="18" name="Freeform 17"/>
          <p:cNvSpPr/>
          <p:nvPr>
            <p:custDataLst>
              <p:tags r:id="rId21"/>
            </p:custDataLst>
          </p:nvPr>
        </p:nvSpPr>
        <p:spPr bwMode="auto">
          <a:xfrm>
            <a:off x="7723188" y="3670300"/>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a:p>
        </p:txBody>
      </p:sp>
      <p:cxnSp>
        <p:nvCxnSpPr>
          <p:cNvPr id="82" name="Straight Connector 81"/>
          <p:cNvCxnSpPr/>
          <p:nvPr>
            <p:custDataLst>
              <p:tags r:id="rId22"/>
            </p:custDataLst>
          </p:nvPr>
        </p:nvCxnSpPr>
        <p:spPr bwMode="auto">
          <a:xfrm flipV="1">
            <a:off x="6588125" y="2479676"/>
            <a:ext cx="2365375" cy="449263"/>
          </a:xfrm>
          <a:prstGeom prst="line">
            <a:avLst/>
          </a:prstGeom>
          <a:ln w="6350" cap="flat" cmpd="sng" algn="ctr">
            <a:solidFill>
              <a:schemeClr val="tx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4" name="StandardTextbox"/>
          <p:cNvSpPr>
            <a:spLocks noGrp="1"/>
          </p:cNvSpPr>
          <p:nvPr>
            <p:custDataLst>
              <p:tags r:id="rId23"/>
            </p:custDataLst>
          </p:nvPr>
        </p:nvSpPr>
        <p:spPr bwMode="auto">
          <a:xfrm>
            <a:off x="8391525" y="3829050"/>
            <a:ext cx="11239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6B32C2B8-FAC9-47A7-A20E-CCA7BD794046}" type="datetime'F''Y2''''''''''6'''' (Esti''m''a''t''''e''''d'''''''')'''">
              <a:rPr lang="en-IN" altLang="en-US" b="0" smtClean="0">
                <a:solidFill>
                  <a:srgbClr val="000000"/>
                </a:solidFill>
              </a:rPr>
              <a:pPr lvl="1" algn="ctr">
                <a:spcBef>
                  <a:spcPct val="0"/>
                </a:spcBef>
                <a:spcAft>
                  <a:spcPct val="0"/>
                </a:spcAft>
                <a:defRPr/>
              </a:pPr>
              <a:t>FY26 (Estimated)</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83" name="StandardTextbox"/>
          <p:cNvSpPr>
            <a:spLocks noGrp="1"/>
          </p:cNvSpPr>
          <p:nvPr>
            <p:custDataLst>
              <p:tags r:id="rId24"/>
            </p:custDataLst>
          </p:nvPr>
        </p:nvSpPr>
        <p:spPr bwMode="auto">
          <a:xfrm>
            <a:off x="6026150" y="3829050"/>
            <a:ext cx="11239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53496C3B-3E67-407F-99DB-BE2BB8FEF05D}" type="datetime'F''''''Y''''''''''''''19'' (E''''s''t''''i''m''''a''''''ted)'">
              <a:rPr lang="en-IN" altLang="en-US" b="0" smtClean="0">
                <a:solidFill>
                  <a:srgbClr val="000000"/>
                </a:solidFill>
              </a:rPr>
              <a:pPr lvl="1" algn="ctr">
                <a:spcBef>
                  <a:spcPct val="0"/>
                </a:spcBef>
                <a:spcAft>
                  <a:spcPct val="0"/>
                </a:spcAft>
                <a:defRPr/>
              </a:pPr>
              <a:t>FY19 (Estimated)</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85" name="StandardTextbox"/>
          <p:cNvSpPr>
            <a:spLocks noGrp="1"/>
          </p:cNvSpPr>
          <p:nvPr>
            <p:custDataLst>
              <p:tags r:id="rId25"/>
            </p:custDataLst>
          </p:nvPr>
        </p:nvSpPr>
        <p:spPr bwMode="auto">
          <a:xfrm>
            <a:off x="7496175" y="2595563"/>
            <a:ext cx="550863" cy="215900"/>
          </a:xfrm>
          <a:prstGeom prst="ellipse">
            <a:avLst/>
          </a:prstGeom>
          <a:solidFill>
            <a:srgbClr val="FFFFFF"/>
          </a:solidFill>
          <a:ln w="9525" algn="ctr">
            <a:solidFill>
              <a:schemeClr val="tx1"/>
            </a:solidFill>
          </a:ln>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8990107B-184B-4DE2-B516-6033AD12D2E0}" type="datetime'''''''''''''''''''''''9''''''''.5%'''''''''''''''''''''''''''">
              <a:rPr lang="en-IN" altLang="en-US" smtClean="0"/>
              <a:pPr lvl="1" algn="ctr">
                <a:spcBef>
                  <a:spcPct val="0"/>
                </a:spcBef>
                <a:spcAft>
                  <a:spcPct val="0"/>
                </a:spcAft>
              </a:pPr>
              <a:t>9.5%</a:t>
            </a:fld>
            <a:endParaRPr lang="en-IN" noProof="0" dirty="0">
              <a:sym typeface="+mn-lt"/>
            </a:endParaRPr>
          </a:p>
        </p:txBody>
      </p:sp>
    </p:spTree>
    <p:extLst>
      <p:ext uri="{BB962C8B-B14F-4D97-AF65-F5344CB8AC3E}">
        <p14:creationId xmlns:p14="http://schemas.microsoft.com/office/powerpoint/2010/main" val="1018718780"/>
      </p:ext>
    </p:extLst>
  </p:cSld>
  <p:clrMapOvr>
    <a:masterClrMapping/>
  </p:clrMapOvr>
  <p:transition>
    <p:fade/>
  </p:transition>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Object 6" hidden="1"/>
          <p:cNvGraphicFramePr>
            <a:graphicFrameLocks noChangeAspect="1"/>
          </p:cNvGraphicFramePr>
          <p:nvPr>
            <p:custDataLst>
              <p:tags r:id="rId1"/>
            </p:custDataLst>
            <p:extLst>
              <p:ext uri="{D42A27DB-BD31-4B8C-83A1-F6EECF244321}">
                <p14:modId xmlns:p14="http://schemas.microsoft.com/office/powerpoint/2010/main" val="297122565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3" imgW="530" imgH="531" progId="TCLayout.ActiveDocument.1">
                  <p:embed/>
                </p:oleObj>
              </mc:Choice>
              <mc:Fallback>
                <p:oleObj name="think-cell Slide" r:id="rId33" imgW="530" imgH="531" progId="TCLayout.ActiveDocument.1">
                  <p:embed/>
                  <p:pic>
                    <p:nvPicPr>
                      <p:cNvPr id="7" name="Object 6" hidden="1"/>
                      <p:cNvPicPr/>
                      <p:nvPr/>
                    </p:nvPicPr>
                    <p:blipFill>
                      <a:blip r:embed="rId34"/>
                      <a:stretch>
                        <a:fillRect/>
                      </a:stretch>
                    </p:blipFill>
                    <p:spPr>
                      <a:xfrm>
                        <a:off x="1588" y="1588"/>
                        <a:ext cx="1588" cy="1588"/>
                      </a:xfrm>
                      <a:prstGeom prst="rect">
                        <a:avLst/>
                      </a:prstGeom>
                    </p:spPr>
                  </p:pic>
                </p:oleObj>
              </mc:Fallback>
            </mc:AlternateContent>
          </a:graphicData>
        </a:graphic>
      </p:graphicFrame>
      <p:sp>
        <p:nvSpPr>
          <p:cNvPr id="10" name="Rectangle 9"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defRPr/>
            </a:pPr>
            <a:endParaRPr kumimoji="0" lang="en-IN" sz="1000" u="none" strike="noStrike" kern="1200" cap="none" spc="0" normalizeH="0" noProof="0" dirty="0">
              <a:ln>
                <a:noFill/>
              </a:ln>
              <a:solidFill>
                <a:prstClr val="white"/>
              </a:solidFill>
              <a:effectLst/>
              <a:uLnTx/>
              <a:uFillTx/>
              <a:sym typeface="+mn-lt"/>
            </a:endParaRPr>
          </a:p>
        </p:txBody>
      </p:sp>
      <p:graphicFrame>
        <p:nvGraphicFramePr>
          <p:cNvPr id="11" name="Table 10"/>
          <p:cNvGraphicFramePr>
            <a:graphicFrameLocks noGrp="1"/>
          </p:cNvGraphicFramePr>
          <p:nvPr>
            <p:custDataLst>
              <p:tags r:id="rId3"/>
            </p:custDataLst>
            <p:extLst>
              <p:ext uri="{D42A27DB-BD31-4B8C-83A1-F6EECF244321}">
                <p14:modId xmlns:p14="http://schemas.microsoft.com/office/powerpoint/2010/main" val="2519472814"/>
              </p:ext>
            </p:extLst>
          </p:nvPr>
        </p:nvGraphicFramePr>
        <p:xfrm>
          <a:off x="5404782" y="1961918"/>
          <a:ext cx="4732062" cy="5792518"/>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760000">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graph shows total estimated total variable charge payment impact (BDT </a:t>
                      </a:r>
                      <a:r>
                        <a:rPr lang="en-US" sz="1000" b="0" baseline="0" dirty="0" err="1">
                          <a:solidFill>
                            <a:schemeClr val="tx1"/>
                          </a:solidFill>
                        </a:rPr>
                        <a:t>Bn</a:t>
                      </a:r>
                      <a:r>
                        <a:rPr lang="en-US" sz="1000" b="0" baseline="0" dirty="0">
                          <a:solidFill>
                            <a:schemeClr val="tx1"/>
                          </a:solidFill>
                        </a:rPr>
                        <a:t>) for BPDB till FY26:</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graph shows the Estimated Per unit Cost &amp; Revenue Forecast (BDT / kWh)</a:t>
                      </a:r>
                      <a:endParaRPr lang="en-US" sz="1000" b="0" baseline="3000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txBody>
                  <a:tcPr marL="107998" marT="107998">
                    <a:lnL w="12700" cmpd="sng">
                      <a:noFill/>
                    </a:lnL>
                    <a:lnR w="12700" cmpd="sng">
                      <a:noFill/>
                    </a:lnR>
                    <a:lnT w="38100" cap="flat" cmpd="sng" algn="ctr">
                      <a:solidFill>
                        <a:schemeClr val="accent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sp>
        <p:nvSpPr>
          <p:cNvPr id="8" name="Title 1"/>
          <p:cNvSpPr>
            <a:spLocks noGrp="1"/>
          </p:cNvSpPr>
          <p:nvPr>
            <p:ph type="title"/>
          </p:nvPr>
        </p:nvSpPr>
        <p:spPr>
          <a:xfrm>
            <a:off x="449264" y="647700"/>
            <a:ext cx="9791700" cy="431800"/>
          </a:xfrm>
        </p:spPr>
        <p:txBody>
          <a:bodyPr/>
          <a:lstStyle/>
          <a:p>
            <a:r>
              <a:rPr lang="en-US" dirty="0"/>
              <a:t>BPDB – Payment Assessment (Case – Power Demand Growth at 5% CAGR)</a:t>
            </a:r>
            <a:endParaRPr lang="en-IN" dirty="0"/>
          </a:p>
        </p:txBody>
      </p:sp>
      <p:sp>
        <p:nvSpPr>
          <p:cNvPr id="9"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Considering a lower power demand growth</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at 5% CAGR till FY26, the total power purchase cost of BPDB is expected to still grow at a lower</a:t>
            </a:r>
            <a:r>
              <a:rPr lang="en-US" sz="1400" dirty="0">
                <a:solidFill>
                  <a:prstClr val="black">
                    <a:lumMod val="50000"/>
                    <a:lumOff val="50000"/>
                  </a:prstClr>
                </a:solidFill>
                <a:latin typeface="Verdana" panose="020B0604030504040204" pitchFamily="34" charset="0"/>
              </a:rPr>
              <a:t> rate of 3.4% signifying improved financial strength</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12" name="Table 11"/>
          <p:cNvGraphicFramePr>
            <a:graphicFrameLocks noGrp="1"/>
          </p:cNvGraphicFramePr>
          <p:nvPr>
            <p:custDataLst>
              <p:tags r:id="rId4"/>
            </p:custDataLst>
            <p:extLst>
              <p:ext uri="{D42A27DB-BD31-4B8C-83A1-F6EECF244321}">
                <p14:modId xmlns:p14="http://schemas.microsoft.com/office/powerpoint/2010/main" val="144383679"/>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baseline="0" dirty="0">
                          <a:solidFill>
                            <a:schemeClr val="tx1"/>
                          </a:solidFill>
                        </a:rPr>
                        <a:t>Impact on Fixed and Variable Charges Payout by BPDB</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We considered a low power demand scenario of ~5% CAGR to assess the impact of BPDB’s payment obligation </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Thus, the average power demand would increase from the current ~7,832 MW to ~11,020 MW by FY26</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In such a case, we expect the fixed charges to remain constant at BDT ~280 </a:t>
                      </a:r>
                      <a:r>
                        <a:rPr lang="en-US" sz="1000" b="0" kern="1200" baseline="0" dirty="0" err="1">
                          <a:solidFill>
                            <a:schemeClr val="tx1"/>
                          </a:solidFill>
                          <a:latin typeface="+mn-lt"/>
                          <a:ea typeface="+mn-ea"/>
                          <a:cs typeface="+mn-cs"/>
                        </a:rPr>
                        <a:t>Bn</a:t>
                      </a:r>
                      <a:r>
                        <a:rPr lang="en-US" sz="1000" b="0" kern="1200" baseline="0" dirty="0">
                          <a:solidFill>
                            <a:schemeClr val="tx1"/>
                          </a:solidFill>
                          <a:latin typeface="+mn-lt"/>
                          <a:ea typeface="+mn-ea"/>
                          <a:cs typeface="+mn-cs"/>
                        </a:rPr>
                        <a:t> in line with our projections in base case</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However the variable charge is expected to reduce to BDT ~212 </a:t>
                      </a:r>
                      <a:r>
                        <a:rPr lang="en-US" sz="1000" b="0" kern="1200" baseline="0" dirty="0" err="1">
                          <a:solidFill>
                            <a:schemeClr val="tx1"/>
                          </a:solidFill>
                          <a:latin typeface="+mn-lt"/>
                          <a:ea typeface="+mn-ea"/>
                          <a:cs typeface="+mn-cs"/>
                        </a:rPr>
                        <a:t>Bn</a:t>
                      </a:r>
                      <a:r>
                        <a:rPr lang="en-US" sz="1000" b="0" kern="1200" baseline="0" dirty="0">
                          <a:solidFill>
                            <a:schemeClr val="tx1"/>
                          </a:solidFill>
                          <a:latin typeface="+mn-lt"/>
                          <a:ea typeface="+mn-ea"/>
                          <a:cs typeface="+mn-cs"/>
                        </a:rPr>
                        <a:t> compared to BDT ~410 </a:t>
                      </a:r>
                      <a:r>
                        <a:rPr lang="en-US" sz="1000" b="0" kern="1200" baseline="0" dirty="0" err="1">
                          <a:solidFill>
                            <a:schemeClr val="tx1"/>
                          </a:solidFill>
                          <a:latin typeface="+mn-lt"/>
                          <a:ea typeface="+mn-ea"/>
                          <a:cs typeface="+mn-cs"/>
                        </a:rPr>
                        <a:t>Bn</a:t>
                      </a:r>
                      <a:r>
                        <a:rPr lang="en-US" sz="1000" b="0" kern="1200" baseline="0" dirty="0">
                          <a:solidFill>
                            <a:schemeClr val="tx1"/>
                          </a:solidFill>
                          <a:latin typeface="+mn-lt"/>
                          <a:ea typeface="+mn-ea"/>
                          <a:cs typeface="+mn-cs"/>
                        </a:rPr>
                        <a:t> in the base case in line with lower generation</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Thus, the overall power purchase cost would increase at a CAGR of only 3.4% which would be lower than the power demand growth rate of 5%</a:t>
                      </a:r>
                      <a:endParaRPr lang="en-US" sz="1000" b="1" kern="1200" baseline="0" dirty="0">
                        <a:solidFill>
                          <a:schemeClr val="tx1"/>
                        </a:solidFill>
                        <a:latin typeface="+mn-lt"/>
                        <a:ea typeface="+mn-ea"/>
                        <a:cs typeface="+mn-cs"/>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1" kern="1200" baseline="0" dirty="0">
                        <a:solidFill>
                          <a:schemeClr val="tx1"/>
                        </a:solidFill>
                        <a:latin typeface="+mn-lt"/>
                        <a:ea typeface="+mn-ea"/>
                        <a:cs typeface="+mn-cs"/>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kern="1200" baseline="0" dirty="0">
                          <a:solidFill>
                            <a:schemeClr val="tx1"/>
                          </a:solidFill>
                          <a:latin typeface="+mn-lt"/>
                          <a:ea typeface="+mn-ea"/>
                          <a:cs typeface="+mn-cs"/>
                        </a:rPr>
                        <a:t>Per Unit Cost &amp; Revenue Impact</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average power purchase cost of BPDB which stood at BDT ~5.7 / kWh in FY19 may reduce to BDT ~5.1 / kWh considering the fuel substitution with cheaper fuels (LNG and Imported Coal)</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We have assumed the bulk power sale rate to remain at 5 BDT / unit as in the base case</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Thus the gap between BPDB’s revenue and power purchase cost is still expected to reduce significantly to marginal levels by FY26</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kern="1200" baseline="0" dirty="0">
                        <a:solidFill>
                          <a:schemeClr val="tx1"/>
                        </a:solidFill>
                        <a:latin typeface="+mn-lt"/>
                        <a:ea typeface="+mn-ea"/>
                        <a:cs typeface="+mn-cs"/>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extBox 1"/>
          <p:cNvSpPr txBox="1"/>
          <p:nvPr/>
        </p:nvSpPr>
        <p:spPr>
          <a:xfrm>
            <a:off x="377114" y="6660285"/>
            <a:ext cx="9936000" cy="387846"/>
          </a:xfrm>
          <a:prstGeom prst="rect">
            <a:avLst/>
          </a:prstGeom>
          <a:noFill/>
          <a:ln w="19050" algn="ctr">
            <a:noFill/>
            <a:miter lim="800000"/>
            <a:headEnd/>
            <a:tailEnd/>
          </a:ln>
        </p:spPr>
        <p:txBody>
          <a:bodyPr wrap="square" lIns="88900" tIns="88900" rIns="88900" bIns="88900" rtlCol="0" anchor="ctr"/>
          <a:lstStyle>
            <a:defPPr>
              <a:defRPr lang="en-US"/>
            </a:defPPr>
            <a:lvl1pPr marR="0" lvl="0" indent="0" fontAlgn="auto">
              <a:lnSpc>
                <a:spcPct val="106000"/>
              </a:lnSpc>
              <a:spcBef>
                <a:spcPts val="0"/>
              </a:spcBef>
              <a:spcAft>
                <a:spcPts val="0"/>
              </a:spcAft>
              <a:buClrTx/>
              <a:buSzTx/>
              <a:buFontTx/>
              <a:buNone/>
              <a:tabLst/>
              <a:defRPr kumimoji="0" sz="700" b="0" i="1" u="none" strike="noStrike" cap="none" spc="0" normalizeH="0" baseline="0">
                <a:ln>
                  <a:noFill/>
                </a:ln>
                <a:solidFill>
                  <a:prstClr val="black"/>
                </a:solidFill>
                <a:effectLst/>
                <a:uLnTx/>
                <a:uFillTx/>
                <a:latin typeface="Verdana"/>
              </a:defRPr>
            </a:lvl1pPr>
          </a:lstStyle>
          <a:p>
            <a:pPr lvl="0"/>
            <a:r>
              <a:rPr kumimoji="0" lang="en-GB" sz="700" b="0" i="1" u="none" strike="noStrike" kern="1200" cap="none" spc="0" normalizeH="0" baseline="0" noProof="0" dirty="0">
                <a:ln>
                  <a:noFill/>
                </a:ln>
                <a:solidFill>
                  <a:prstClr val="black"/>
                </a:solidFill>
                <a:effectLst/>
                <a:uLnTx/>
                <a:uFillTx/>
                <a:latin typeface="Verdana"/>
                <a:ea typeface="+mn-ea"/>
                <a:cs typeface="+mn-cs"/>
              </a:rPr>
              <a:t>Source: BPDB, Industry Reports, Deloitte Analysis; Note 1</a:t>
            </a:r>
            <a:r>
              <a:rPr lang="en-US" dirty="0"/>
              <a:t>) We have considered the average gas price for power sector at BDT 4.45 / SCM as per prevailing tariff with no escalation. 2) We have considered the average Variable Cost per unit (kWh) for Gas, HSD and HFO based plants belonging to Rental / Quick Rental Ownership (RPP/QRPP) in FY19 at same level as that of the entire Gas, HSD and HFO portfolio in Bangladesh in FY19 3) </a:t>
            </a:r>
            <a:r>
              <a:rPr kumimoji="0" lang="en-US" sz="700" b="0" i="1" u="none" strike="noStrike" kern="1200" cap="none" spc="0" normalizeH="0" baseline="0" noProof="0" dirty="0">
                <a:ln>
                  <a:noFill/>
                </a:ln>
                <a:solidFill>
                  <a:prstClr val="black"/>
                </a:solidFill>
                <a:effectLst/>
                <a:uLnTx/>
                <a:uFillTx/>
                <a:latin typeface="Verdana"/>
                <a:ea typeface="+mn-ea"/>
                <a:cs typeface="+mn-cs"/>
              </a:rPr>
              <a:t>We have considered the fixed cost of HFO based plants under RPP/QRPP ownership in FY19 based on sample benchmark data of PPAs for a few RPP/QRPP plants in Bangladesh which may lead to variance (+/- 10%) in the total power purchase cost estimated by us and the total power purchase cost reported by BPDB in FY19 4) We have considered the fixed cost of HSD Based plants under RPP / QRPP ownership at the same level as that of entire HSD portfolio in Bangladesh in FY19 which may lead to variance (+/- 10%) in the total power purchase cost estimated by us </a:t>
            </a:r>
            <a:r>
              <a:rPr lang="en-US" dirty="0"/>
              <a:t>and the total power purchase cost reported by BPDB in FY19 5) We have</a:t>
            </a:r>
            <a:endParaRPr kumimoji="0" lang="en-US" sz="700" b="0" i="1" u="none" strike="noStrike" kern="1200" cap="none" spc="0" normalizeH="0" baseline="0" noProof="0" dirty="0">
              <a:ln>
                <a:noFill/>
              </a:ln>
              <a:solidFill>
                <a:prstClr val="black"/>
              </a:solidFill>
              <a:effectLst/>
              <a:uLnTx/>
              <a:uFillTx/>
              <a:latin typeface="Verdana"/>
              <a:ea typeface="+mn-ea"/>
              <a:cs typeface="+mn-cs"/>
            </a:endParaRPr>
          </a:p>
        </p:txBody>
      </p:sp>
      <p:sp>
        <p:nvSpPr>
          <p:cNvPr id="43" name="TextBox 42"/>
          <p:cNvSpPr txBox="1"/>
          <p:nvPr/>
        </p:nvSpPr>
        <p:spPr>
          <a:xfrm>
            <a:off x="2463113" y="7110378"/>
            <a:ext cx="7755625" cy="190181"/>
          </a:xfrm>
          <a:prstGeom prst="rect">
            <a:avLst/>
          </a:prstGeom>
          <a:noFill/>
          <a:ln w="19050" algn="ctr">
            <a:noFill/>
            <a:miter lim="800000"/>
            <a:headEnd/>
            <a:tailEnd/>
          </a:ln>
        </p:spPr>
        <p:txBody>
          <a:bodyPr wrap="square" lIns="88900" tIns="88900" rIns="88900" bIns="88900" rtlCol="0" anchor="ctr"/>
          <a:lstStyle>
            <a:defPPr>
              <a:defRPr lang="en-US"/>
            </a:defPPr>
            <a:lvl1pPr marR="0" lvl="0" indent="0" fontAlgn="auto">
              <a:lnSpc>
                <a:spcPct val="106000"/>
              </a:lnSpc>
              <a:spcBef>
                <a:spcPts val="0"/>
              </a:spcBef>
              <a:spcAft>
                <a:spcPts val="0"/>
              </a:spcAft>
              <a:buClrTx/>
              <a:buSzTx/>
              <a:buFontTx/>
              <a:buNone/>
              <a:tabLst/>
              <a:defRPr kumimoji="0" sz="700" b="0" i="1" u="none" strike="noStrike" cap="none" spc="0" normalizeH="0" baseline="0">
                <a:ln>
                  <a:noFill/>
                </a:ln>
                <a:solidFill>
                  <a:prstClr val="black"/>
                </a:solidFill>
                <a:effectLst/>
                <a:uLnTx/>
                <a:uFillTx/>
                <a:latin typeface="Verdana"/>
              </a:defRPr>
            </a:lvl1pPr>
          </a:lstStyle>
          <a:p>
            <a:pPr lvl="0"/>
            <a:r>
              <a:rPr kumimoji="0" lang="en-US" sz="700" b="0" i="1" u="none" strike="noStrike" kern="1200" cap="none" spc="0" normalizeH="0" baseline="0" noProof="0" dirty="0">
                <a:ln>
                  <a:noFill/>
                </a:ln>
                <a:solidFill>
                  <a:prstClr val="black"/>
                </a:solidFill>
                <a:effectLst/>
                <a:uLnTx/>
                <a:uFillTx/>
                <a:latin typeface="Verdana"/>
                <a:ea typeface="+mn-ea"/>
                <a:cs typeface="+mn-cs"/>
              </a:rPr>
              <a:t>estimated the total power purchase cost of  upcoming LNG and Imported coal based </a:t>
            </a:r>
            <a:r>
              <a:rPr lang="en-US" dirty="0"/>
              <a:t>power plants considering the </a:t>
            </a:r>
            <a:r>
              <a:rPr lang="en-US" dirty="0" err="1"/>
              <a:t>levelized</a:t>
            </a:r>
            <a:r>
              <a:rPr lang="en-US" dirty="0"/>
              <a:t> projections for fixed cost of such plants</a:t>
            </a:r>
            <a:endParaRPr kumimoji="0" lang="en-US" sz="700" b="0" i="1" u="none" strike="noStrike" kern="1200" cap="none" spc="0" normalizeH="0" baseline="0" noProof="0" dirty="0">
              <a:ln>
                <a:noFill/>
              </a:ln>
              <a:solidFill>
                <a:prstClr val="black"/>
              </a:solidFill>
              <a:effectLst/>
              <a:uLnTx/>
              <a:uFillTx/>
              <a:latin typeface="Verdana"/>
              <a:ea typeface="+mn-ea"/>
              <a:cs typeface="+mn-cs"/>
            </a:endParaRPr>
          </a:p>
        </p:txBody>
      </p:sp>
      <p:sp>
        <p:nvSpPr>
          <p:cNvPr id="44" name="TextBox 43"/>
          <p:cNvSpPr txBox="1"/>
          <p:nvPr/>
        </p:nvSpPr>
        <p:spPr>
          <a:xfrm>
            <a:off x="354888" y="7176843"/>
            <a:ext cx="9712818" cy="478817"/>
          </a:xfrm>
          <a:prstGeom prst="rect">
            <a:avLst/>
          </a:prstGeom>
          <a:noFill/>
          <a:ln w="19050" algn="ctr">
            <a:noFill/>
            <a:miter lim="800000"/>
            <a:headEnd/>
            <a:tailEnd/>
          </a:ln>
        </p:spPr>
        <p:txBody>
          <a:bodyPr wrap="square" lIns="88900" tIns="88900" rIns="88900" bIns="88900" rtlCol="0" anchor="ctr"/>
          <a:lstStyle>
            <a:defPPr>
              <a:defRPr lang="en-US"/>
            </a:defPPr>
            <a:lvl1pPr marR="0" lvl="0" indent="0" fontAlgn="auto">
              <a:lnSpc>
                <a:spcPct val="106000"/>
              </a:lnSpc>
              <a:spcBef>
                <a:spcPts val="0"/>
              </a:spcBef>
              <a:spcAft>
                <a:spcPts val="0"/>
              </a:spcAft>
              <a:buClrTx/>
              <a:buSzTx/>
              <a:buFontTx/>
              <a:buNone/>
              <a:tabLst/>
              <a:defRPr kumimoji="0" sz="700" b="0" i="1" u="none" strike="noStrike" cap="none" spc="0" normalizeH="0" baseline="0">
                <a:ln>
                  <a:noFill/>
                </a:ln>
                <a:solidFill>
                  <a:prstClr val="black"/>
                </a:solidFill>
                <a:effectLst/>
                <a:uLnTx/>
                <a:uFillTx/>
                <a:latin typeface="Verdana"/>
              </a:defRPr>
            </a:lvl1pPr>
          </a:lstStyle>
          <a:p>
            <a:pPr lvl="0"/>
            <a:r>
              <a:rPr lang="en-US" dirty="0"/>
              <a:t>based on industry estimates and 1st year fuel price for LNG </a:t>
            </a:r>
            <a:r>
              <a:rPr kumimoji="0" lang="en-US" sz="700" b="0" i="1" u="none" strike="noStrike" kern="1200" cap="none" spc="0" normalizeH="0" baseline="0" noProof="0" dirty="0">
                <a:ln>
                  <a:noFill/>
                </a:ln>
                <a:solidFill>
                  <a:prstClr val="black"/>
                </a:solidFill>
                <a:effectLst/>
                <a:uLnTx/>
                <a:uFillTx/>
                <a:latin typeface="Verdana"/>
                <a:ea typeface="+mn-ea"/>
                <a:cs typeface="+mn-cs"/>
              </a:rPr>
              <a:t>at $8 / MMBTU (landed cost) and Coal at $~90 / </a:t>
            </a:r>
            <a:r>
              <a:rPr kumimoji="0" lang="en-US" sz="700" b="0" i="1" u="none" strike="noStrike" kern="1200" cap="none" spc="0" normalizeH="0" baseline="0" noProof="0" dirty="0" err="1">
                <a:ln>
                  <a:noFill/>
                </a:ln>
                <a:solidFill>
                  <a:prstClr val="black"/>
                </a:solidFill>
                <a:effectLst/>
                <a:uLnTx/>
                <a:uFillTx/>
                <a:latin typeface="Verdana"/>
                <a:ea typeface="+mn-ea"/>
                <a:cs typeface="+mn-cs"/>
              </a:rPr>
              <a:t>Tonne</a:t>
            </a:r>
            <a:r>
              <a:rPr kumimoji="0" lang="en-US" sz="700" b="0" i="1" u="none" strike="noStrike" kern="1200" cap="none" spc="0" normalizeH="0" baseline="0" noProof="0" dirty="0">
                <a:ln>
                  <a:noFill/>
                </a:ln>
                <a:solidFill>
                  <a:prstClr val="black"/>
                </a:solidFill>
                <a:effectLst/>
                <a:uLnTx/>
                <a:uFillTx/>
                <a:latin typeface="Verdana"/>
                <a:ea typeface="+mn-ea"/>
                <a:cs typeface="+mn-cs"/>
              </a:rPr>
              <a:t> (landed cost) 6) The incremental capacity addition required to meet the average demand (apart from the planned capacity addition) has been assumed to be met by LNG based power plants only 7) We have estimated the projected the BPDB payment obligations for meeting average power demand only and not for meeting peak demand</a:t>
            </a:r>
          </a:p>
        </p:txBody>
      </p:sp>
      <p:sp>
        <p:nvSpPr>
          <p:cNvPr id="24" name="Rectangle 23"/>
          <p:cNvSpPr/>
          <p:nvPr>
            <p:custDataLst>
              <p:tags r:id="rId5"/>
            </p:custDataLst>
          </p:nvPr>
        </p:nvSpPr>
        <p:spPr bwMode="auto">
          <a:xfrm>
            <a:off x="6831013" y="6234113"/>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5" name="StandardTextbox"/>
          <p:cNvSpPr>
            <a:spLocks noGrp="1"/>
          </p:cNvSpPr>
          <p:nvPr>
            <p:custDataLst>
              <p:tags r:id="rId6"/>
            </p:custDataLst>
          </p:nvPr>
        </p:nvSpPr>
        <p:spPr bwMode="auto">
          <a:xfrm>
            <a:off x="7061200" y="6229350"/>
            <a:ext cx="1949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80E37E29-1EF4-4C1F-90B7-3BC63E3D88F7}" type="datetime'Ave''''r''age'' ''Bu''lk'' Po''wer Sa''le'' P''r''''i''''c''e'">
              <a:rPr lang="en-US" altLang="en-US" b="0" smtClean="0">
                <a:solidFill>
                  <a:srgbClr val="000000"/>
                </a:solidFill>
              </a:rPr>
              <a:pPr lvl="1">
                <a:spcBef>
                  <a:spcPct val="0"/>
                </a:spcBef>
                <a:spcAft>
                  <a:spcPct val="0"/>
                </a:spcAft>
              </a:pPr>
              <a:t>Average Bulk Power Sale Price</a:t>
            </a:fld>
            <a:endParaRPr kumimoji="0" lang="en-IN" sz="1000" b="0" i="0" strike="noStrike" kern="1200" spc="0" normalizeH="0" noProof="0" dirty="0">
              <a:ln>
                <a:noFill/>
              </a:ln>
              <a:solidFill>
                <a:srgbClr val="000000"/>
              </a:solidFill>
              <a:effectLst/>
              <a:uLnTx/>
              <a:uFillTx/>
              <a:latin typeface="Verdana"/>
              <a:sym typeface="+mn-lt"/>
            </a:endParaRPr>
          </a:p>
        </p:txBody>
      </p:sp>
      <p:graphicFrame>
        <p:nvGraphicFramePr>
          <p:cNvPr id="65" name="Chart 64"/>
          <p:cNvGraphicFramePr/>
          <p:nvPr>
            <p:custDataLst>
              <p:tags r:id="rId7"/>
            </p:custDataLst>
            <p:extLst>
              <p:ext uri="{D42A27DB-BD31-4B8C-83A1-F6EECF244321}">
                <p14:modId xmlns:p14="http://schemas.microsoft.com/office/powerpoint/2010/main" val="672073196"/>
              </p:ext>
            </p:extLst>
          </p:nvPr>
        </p:nvGraphicFramePr>
        <p:xfrm>
          <a:off x="5405438" y="4770438"/>
          <a:ext cx="4711700" cy="1023937"/>
        </p:xfrm>
        <a:graphic>
          <a:graphicData uri="http://schemas.openxmlformats.org/drawingml/2006/chart">
            <c:chart xmlns:c="http://schemas.openxmlformats.org/drawingml/2006/chart" xmlns:r="http://schemas.openxmlformats.org/officeDocument/2006/relationships" r:id="rId35"/>
          </a:graphicData>
        </a:graphic>
      </p:graphicFrame>
      <p:sp>
        <p:nvSpPr>
          <p:cNvPr id="27" name="StandardTextbox"/>
          <p:cNvSpPr>
            <a:spLocks noGrp="1"/>
          </p:cNvSpPr>
          <p:nvPr>
            <p:custDataLst>
              <p:tags r:id="rId8"/>
            </p:custDataLst>
          </p:nvPr>
        </p:nvSpPr>
        <p:spPr bwMode="auto">
          <a:xfrm>
            <a:off x="6462713" y="579755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2CA79904-E029-42E1-834D-CC778B5BCF25}" type="datetime'''''''''''''F''''''Y''''''''''''19'''''''''''''''''''''''''">
              <a:rPr lang="en-IN" altLang="en-US" b="0" smtClean="0">
                <a:solidFill>
                  <a:srgbClr val="000000"/>
                </a:solidFill>
              </a:rPr>
              <a:pPr lvl="1" algn="ctr">
                <a:spcBef>
                  <a:spcPct val="0"/>
                </a:spcBef>
                <a:spcAft>
                  <a:spcPct val="0"/>
                </a:spcAft>
                <a:defRPr/>
              </a:pPr>
              <a:t>FY19</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28" name="StandardTextbox"/>
          <p:cNvSpPr>
            <a:spLocks noGrp="1"/>
          </p:cNvSpPr>
          <p:nvPr>
            <p:custDataLst>
              <p:tags r:id="rId9"/>
            </p:custDataLst>
          </p:nvPr>
        </p:nvSpPr>
        <p:spPr bwMode="auto">
          <a:xfrm>
            <a:off x="8335963" y="5797550"/>
            <a:ext cx="11239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83F9D710-2AD0-4C85-9611-BF39FF7DEF75}" type="datetime'''''''''F''''Y26'' (''''E''s''''tim''''at''''''''''''e''d)'''">
              <a:rPr lang="en-US" altLang="en-US" b="0" smtClean="0">
                <a:solidFill>
                  <a:srgbClr val="000000"/>
                </a:solidFill>
              </a:rPr>
              <a:pPr lvl="1" algn="ctr">
                <a:spcBef>
                  <a:spcPct val="0"/>
                </a:spcBef>
                <a:spcAft>
                  <a:spcPct val="0"/>
                </a:spcAft>
                <a:defRPr/>
              </a:pPr>
              <a:t>FY26 (Estimated)</a:t>
            </a:fld>
            <a:endParaRPr kumimoji="0" lang="en-IN" sz="1000" b="0" i="0" strike="noStrike" kern="1200" spc="0" normalizeH="0" noProof="0" dirty="0">
              <a:ln>
                <a:noFill/>
              </a:ln>
              <a:solidFill>
                <a:srgbClr val="000000"/>
              </a:solidFill>
              <a:effectLst/>
              <a:uLnTx/>
              <a:uFillTx/>
              <a:latin typeface="Verdana"/>
              <a:sym typeface="+mn-lt"/>
            </a:endParaRPr>
          </a:p>
        </p:txBody>
      </p:sp>
      <p:graphicFrame>
        <p:nvGraphicFramePr>
          <p:cNvPr id="67" name="Chart 66"/>
          <p:cNvGraphicFramePr/>
          <p:nvPr>
            <p:custDataLst>
              <p:tags r:id="rId10"/>
            </p:custDataLst>
            <p:extLst>
              <p:ext uri="{D42A27DB-BD31-4B8C-83A1-F6EECF244321}">
                <p14:modId xmlns:p14="http://schemas.microsoft.com/office/powerpoint/2010/main" val="313679433"/>
              </p:ext>
            </p:extLst>
          </p:nvPr>
        </p:nvGraphicFramePr>
        <p:xfrm>
          <a:off x="7540625" y="4751388"/>
          <a:ext cx="1778000" cy="1042987"/>
        </p:xfrm>
        <a:graphic>
          <a:graphicData uri="http://schemas.openxmlformats.org/drawingml/2006/chart">
            <c:chart xmlns:c="http://schemas.openxmlformats.org/drawingml/2006/chart" xmlns:r="http://schemas.openxmlformats.org/officeDocument/2006/relationships" r:id="rId36"/>
          </a:graphicData>
        </a:graphic>
      </p:graphicFrame>
      <p:sp>
        <p:nvSpPr>
          <p:cNvPr id="32" name="StandardTextbox"/>
          <p:cNvSpPr>
            <a:spLocks noGrp="1"/>
          </p:cNvSpPr>
          <p:nvPr>
            <p:custDataLst>
              <p:tags r:id="rId11"/>
            </p:custDataLst>
          </p:nvPr>
        </p:nvSpPr>
        <p:spPr bwMode="gray">
          <a:xfrm>
            <a:off x="8305800" y="4656138"/>
            <a:ext cx="2492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28B3A24-659D-43E1-9AE7-6FC6E9AE3DD3}" type="datetime'''''''''''''''''''''''''''''''''''''5''''''''''.''1'''''''''">
              <a:rPr lang="en-IN" altLang="en-US" b="0" smtClean="0"/>
              <a:pPr lvl="1" algn="ctr">
                <a:spcBef>
                  <a:spcPct val="0"/>
                </a:spcBef>
                <a:spcAft>
                  <a:spcPct val="0"/>
                </a:spcAft>
              </a:pPr>
              <a:t>5.1</a:t>
            </a:fld>
            <a:endParaRPr lang="en-IN" b="0" noProof="0" dirty="0">
              <a:sym typeface="+mn-lt"/>
            </a:endParaRPr>
          </a:p>
        </p:txBody>
      </p:sp>
      <p:graphicFrame>
        <p:nvGraphicFramePr>
          <p:cNvPr id="73" name="Chart 72"/>
          <p:cNvGraphicFramePr/>
          <p:nvPr>
            <p:custDataLst>
              <p:tags r:id="rId12"/>
            </p:custDataLst>
            <p:extLst>
              <p:ext uri="{D42A27DB-BD31-4B8C-83A1-F6EECF244321}">
                <p14:modId xmlns:p14="http://schemas.microsoft.com/office/powerpoint/2010/main" val="2065064547"/>
              </p:ext>
            </p:extLst>
          </p:nvPr>
        </p:nvGraphicFramePr>
        <p:xfrm>
          <a:off x="5245100" y="4575175"/>
          <a:ext cx="1778000" cy="1219200"/>
        </p:xfrm>
        <a:graphic>
          <a:graphicData uri="http://schemas.openxmlformats.org/drawingml/2006/chart">
            <c:chart xmlns:c="http://schemas.openxmlformats.org/drawingml/2006/chart" xmlns:r="http://schemas.openxmlformats.org/officeDocument/2006/relationships" r:id="rId37"/>
          </a:graphicData>
        </a:graphic>
      </p:graphicFrame>
      <p:sp>
        <p:nvSpPr>
          <p:cNvPr id="52" name="StandardTextbox"/>
          <p:cNvSpPr>
            <a:spLocks noGrp="1"/>
          </p:cNvSpPr>
          <p:nvPr>
            <p:custDataLst>
              <p:tags r:id="rId13"/>
            </p:custDataLst>
          </p:nvPr>
        </p:nvSpPr>
        <p:spPr bwMode="gray">
          <a:xfrm>
            <a:off x="6010275" y="4479925"/>
            <a:ext cx="2492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DCC56678-ABB9-4D7B-B614-7C84C518D579}" type="datetime'''''''''''''''''''''''5''.''7'''''''">
              <a:rPr lang="en-IN" altLang="en-US" b="0" smtClean="0"/>
              <a:pPr lvl="1" algn="ctr">
                <a:spcBef>
                  <a:spcPct val="0"/>
                </a:spcBef>
                <a:spcAft>
                  <a:spcPct val="0"/>
                </a:spcAft>
              </a:pPr>
              <a:t>5.7</a:t>
            </a:fld>
            <a:endParaRPr lang="en-IN" b="0" noProof="0" dirty="0">
              <a:sym typeface="+mn-lt"/>
            </a:endParaRPr>
          </a:p>
        </p:txBody>
      </p:sp>
      <p:sp>
        <p:nvSpPr>
          <p:cNvPr id="54" name="Rectangle 53"/>
          <p:cNvSpPr/>
          <p:nvPr>
            <p:custDataLst>
              <p:tags r:id="rId14"/>
            </p:custDataLst>
          </p:nvPr>
        </p:nvSpPr>
        <p:spPr bwMode="auto">
          <a:xfrm>
            <a:off x="6015038" y="5980113"/>
            <a:ext cx="179388" cy="133350"/>
          </a:xfrm>
          <a:prstGeom prst="rect">
            <a:avLst/>
          </a:pr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53" name="Rectangle 52"/>
          <p:cNvSpPr/>
          <p:nvPr>
            <p:custDataLst>
              <p:tags r:id="rId15"/>
            </p:custDataLst>
          </p:nvPr>
        </p:nvSpPr>
        <p:spPr bwMode="auto">
          <a:xfrm>
            <a:off x="7962900" y="5980113"/>
            <a:ext cx="179388" cy="133350"/>
          </a:xfrm>
          <a:prstGeom prst="rect">
            <a:avLst/>
          </a:prstGeom>
          <a:solidFill>
            <a:srgbClr val="01216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55" name="StandardTextbox"/>
          <p:cNvSpPr>
            <a:spLocks noGrp="1"/>
          </p:cNvSpPr>
          <p:nvPr>
            <p:custDataLst>
              <p:tags r:id="rId16"/>
            </p:custDataLst>
          </p:nvPr>
        </p:nvSpPr>
        <p:spPr bwMode="auto">
          <a:xfrm>
            <a:off x="6245225" y="5975350"/>
            <a:ext cx="161607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5D5D4266-26A6-4EC4-9EDC-DA92AB7B6EC8}" type="datetime'A''''ve''''r''a''g''e Cap''a''''cit''''''y'''''' ''C''har''ge'">
              <a:rPr lang="en-IN" altLang="en-US" b="0" smtClean="0"/>
              <a:pPr lvl="1">
                <a:spcBef>
                  <a:spcPct val="0"/>
                </a:spcBef>
                <a:spcAft>
                  <a:spcPct val="0"/>
                </a:spcAft>
              </a:pPr>
              <a:t>Average Capacity Charge</a:t>
            </a:fld>
            <a:endParaRPr lang="en-IN" b="0" noProof="0" dirty="0">
              <a:sym typeface="+mn-lt"/>
            </a:endParaRPr>
          </a:p>
        </p:txBody>
      </p:sp>
      <p:sp>
        <p:nvSpPr>
          <p:cNvPr id="56" name="StandardTextbox"/>
          <p:cNvSpPr>
            <a:spLocks noGrp="1"/>
          </p:cNvSpPr>
          <p:nvPr>
            <p:custDataLst>
              <p:tags r:id="rId17"/>
            </p:custDataLst>
          </p:nvPr>
        </p:nvSpPr>
        <p:spPr bwMode="auto">
          <a:xfrm>
            <a:off x="8193088" y="5975350"/>
            <a:ext cx="15875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0B870AE6-063D-44D2-92FE-A0F5D78C4F89}" type="datetime'''''''Ave''''rage'''' ''Variable C''ha''''r''''''''ge'''''''''">
              <a:rPr lang="en-IN" altLang="en-US" b="0" smtClean="0"/>
              <a:pPr lvl="1">
                <a:spcBef>
                  <a:spcPct val="0"/>
                </a:spcBef>
                <a:spcAft>
                  <a:spcPct val="0"/>
                </a:spcAft>
              </a:pPr>
              <a:t>Average Variable Charge</a:t>
            </a:fld>
            <a:endParaRPr lang="en-IN" b="0" noProof="0" dirty="0">
              <a:sym typeface="+mn-lt"/>
            </a:endParaRPr>
          </a:p>
        </p:txBody>
      </p:sp>
      <p:cxnSp>
        <p:nvCxnSpPr>
          <p:cNvPr id="69" name="Straight Connector 68"/>
          <p:cNvCxnSpPr/>
          <p:nvPr/>
        </p:nvCxnSpPr>
        <p:spPr>
          <a:xfrm>
            <a:off x="5487987" y="5702300"/>
            <a:ext cx="4343400"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graphicFrame>
        <p:nvGraphicFramePr>
          <p:cNvPr id="62" name="Chart 61"/>
          <p:cNvGraphicFramePr/>
          <p:nvPr>
            <p:custDataLst>
              <p:tags r:id="rId18"/>
            </p:custDataLst>
            <p:extLst>
              <p:ext uri="{D42A27DB-BD31-4B8C-83A1-F6EECF244321}">
                <p14:modId xmlns:p14="http://schemas.microsoft.com/office/powerpoint/2010/main" val="1426382694"/>
              </p:ext>
            </p:extLst>
          </p:nvPr>
        </p:nvGraphicFramePr>
        <p:xfrm>
          <a:off x="5405438" y="2632075"/>
          <a:ext cx="4711700" cy="1020763"/>
        </p:xfrm>
        <a:graphic>
          <a:graphicData uri="http://schemas.openxmlformats.org/drawingml/2006/chart">
            <c:chart xmlns:c="http://schemas.openxmlformats.org/drawingml/2006/chart" xmlns:r="http://schemas.openxmlformats.org/officeDocument/2006/relationships" r:id="rId38"/>
          </a:graphicData>
        </a:graphic>
      </p:graphicFrame>
      <p:sp useBgFill="1">
        <p:nvSpPr>
          <p:cNvPr id="34" name="Freeform 33"/>
          <p:cNvSpPr/>
          <p:nvPr>
            <p:custDataLst>
              <p:tags r:id="rId19"/>
            </p:custDataLst>
          </p:nvPr>
        </p:nvSpPr>
        <p:spPr bwMode="auto">
          <a:xfrm>
            <a:off x="7712075" y="3497263"/>
            <a:ext cx="96838" cy="146050"/>
          </a:xfrm>
          <a:custGeom>
            <a:avLst/>
            <a:gdLst/>
            <a:ahLst/>
            <a:cxnLst/>
            <a:rect l="0" t="0" r="0" b="0"/>
            <a:pathLst>
              <a:path w="96838" h="146051">
                <a:moveTo>
                  <a:pt x="96837" y="0"/>
                </a:moveTo>
                <a:lnTo>
                  <a:pt x="57150" y="146050"/>
                </a:lnTo>
                <a:lnTo>
                  <a:pt x="0" y="146050"/>
                </a:lnTo>
                <a:lnTo>
                  <a:pt x="39687" y="0"/>
                </a:lnTo>
                <a:close/>
              </a:path>
            </a:pathLst>
          </a:custGeom>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6" name="Freeform 35"/>
          <p:cNvSpPr/>
          <p:nvPr>
            <p:custDataLst>
              <p:tags r:id="rId20"/>
            </p:custDataLst>
          </p:nvPr>
        </p:nvSpPr>
        <p:spPr bwMode="auto">
          <a:xfrm>
            <a:off x="7769225" y="3497263"/>
            <a:ext cx="39688" cy="146050"/>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a:p>
        </p:txBody>
      </p:sp>
      <p:sp>
        <p:nvSpPr>
          <p:cNvPr id="35" name="Freeform 34"/>
          <p:cNvSpPr/>
          <p:nvPr>
            <p:custDataLst>
              <p:tags r:id="rId21"/>
            </p:custDataLst>
          </p:nvPr>
        </p:nvSpPr>
        <p:spPr bwMode="auto">
          <a:xfrm>
            <a:off x="7712075" y="3497263"/>
            <a:ext cx="39688" cy="146050"/>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a:p>
        </p:txBody>
      </p:sp>
      <p:cxnSp>
        <p:nvCxnSpPr>
          <p:cNvPr id="37" name="Straight Connector 36"/>
          <p:cNvCxnSpPr/>
          <p:nvPr>
            <p:custDataLst>
              <p:tags r:id="rId22"/>
            </p:custDataLst>
          </p:nvPr>
        </p:nvCxnSpPr>
        <p:spPr bwMode="auto">
          <a:xfrm flipV="1">
            <a:off x="6623050" y="2424113"/>
            <a:ext cx="2273300" cy="179388"/>
          </a:xfrm>
          <a:prstGeom prst="line">
            <a:avLst/>
          </a:prstGeom>
          <a:ln w="6350" cap="flat" cmpd="sng" algn="ctr">
            <a:solidFill>
              <a:schemeClr val="tx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9" name="StandardTextbox"/>
          <p:cNvSpPr>
            <a:spLocks noGrp="1"/>
          </p:cNvSpPr>
          <p:nvPr>
            <p:custDataLst>
              <p:tags r:id="rId23"/>
            </p:custDataLst>
          </p:nvPr>
        </p:nvSpPr>
        <p:spPr bwMode="auto">
          <a:xfrm>
            <a:off x="8334375" y="3656013"/>
            <a:ext cx="11239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3F3225D5-8854-4A4E-875A-2A027E4245D8}" type="datetime'FY''2''''6'' ''(E''''s''''t''''i''''''ma''te''''''d)'''">
              <a:rPr lang="en-IN" altLang="en-US" b="0" smtClean="0">
                <a:solidFill>
                  <a:srgbClr val="000000"/>
                </a:solidFill>
              </a:rPr>
              <a:pPr lvl="1" algn="ctr">
                <a:spcBef>
                  <a:spcPct val="0"/>
                </a:spcBef>
                <a:spcAft>
                  <a:spcPct val="0"/>
                </a:spcAft>
                <a:defRPr/>
              </a:pPr>
              <a:t>FY26 (Estimated)</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38" name="StandardTextbox"/>
          <p:cNvSpPr>
            <a:spLocks noGrp="1"/>
          </p:cNvSpPr>
          <p:nvPr>
            <p:custDataLst>
              <p:tags r:id="rId24"/>
            </p:custDataLst>
          </p:nvPr>
        </p:nvSpPr>
        <p:spPr bwMode="auto">
          <a:xfrm>
            <a:off x="6061075" y="3656013"/>
            <a:ext cx="11239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defRPr/>
            </a:pPr>
            <a:fld id="{323AF4ED-8F14-4BD2-B0BF-F39942C57C81}" type="datetime'FY19'''''''' (E''''''stimate''''d'''''''')'''''''''">
              <a:rPr lang="en-IN" altLang="en-US" b="0" smtClean="0">
                <a:solidFill>
                  <a:srgbClr val="000000"/>
                </a:solidFill>
              </a:rPr>
              <a:pPr lvl="1" algn="ctr">
                <a:spcBef>
                  <a:spcPct val="0"/>
                </a:spcBef>
                <a:spcAft>
                  <a:spcPct val="0"/>
                </a:spcAft>
                <a:defRPr/>
              </a:pPr>
              <a:t>FY19 (Estimated)</a:t>
            </a:fld>
            <a:endParaRPr kumimoji="0" lang="en-IN" sz="1000" b="0" i="0" strike="noStrike" kern="1200" spc="0" normalizeH="0" noProof="0" dirty="0">
              <a:ln>
                <a:noFill/>
              </a:ln>
              <a:solidFill>
                <a:srgbClr val="000000"/>
              </a:solidFill>
              <a:effectLst/>
              <a:uLnTx/>
              <a:uFillTx/>
              <a:latin typeface="Verdana"/>
              <a:sym typeface="+mn-lt"/>
            </a:endParaRPr>
          </a:p>
        </p:txBody>
      </p:sp>
      <p:sp>
        <p:nvSpPr>
          <p:cNvPr id="40" name="StandardTextbox"/>
          <p:cNvSpPr>
            <a:spLocks noGrp="1"/>
          </p:cNvSpPr>
          <p:nvPr>
            <p:custDataLst>
              <p:tags r:id="rId25"/>
            </p:custDataLst>
          </p:nvPr>
        </p:nvSpPr>
        <p:spPr bwMode="gray">
          <a:xfrm>
            <a:off x="6481763" y="2716213"/>
            <a:ext cx="2841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164CA38D-8546-4033-BA51-81BF56B60CAD}" type="datetime'''''''''''''''3''9''''''''''''''''''''''''0'''">
              <a:rPr lang="en-IN" altLang="en-US" b="0" smtClean="0"/>
              <a:pPr lvl="1" algn="ctr">
                <a:spcBef>
                  <a:spcPct val="0"/>
                </a:spcBef>
                <a:spcAft>
                  <a:spcPct val="0"/>
                </a:spcAft>
              </a:pPr>
              <a:t>390</a:t>
            </a:fld>
            <a:endParaRPr lang="en-IN" b="0" noProof="0" dirty="0">
              <a:sym typeface="+mn-lt"/>
            </a:endParaRPr>
          </a:p>
        </p:txBody>
      </p:sp>
      <p:sp>
        <p:nvSpPr>
          <p:cNvPr id="41" name="StandardTextbox"/>
          <p:cNvSpPr>
            <a:spLocks noGrp="1"/>
          </p:cNvSpPr>
          <p:nvPr>
            <p:custDataLst>
              <p:tags r:id="rId26"/>
            </p:custDataLst>
          </p:nvPr>
        </p:nvSpPr>
        <p:spPr bwMode="gray">
          <a:xfrm>
            <a:off x="8755063" y="2536825"/>
            <a:ext cx="2841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7CF9AD9E-021F-4B8E-B8C3-6DD054C9843D}" type="datetime'''''''''''4''''''''9''''''''''3'''">
              <a:rPr lang="en-IN" altLang="en-US" b="0" smtClean="0"/>
              <a:pPr lvl="1" algn="ctr">
                <a:spcBef>
                  <a:spcPct val="0"/>
                </a:spcBef>
                <a:spcAft>
                  <a:spcPct val="0"/>
                </a:spcAft>
              </a:pPr>
              <a:t>493</a:t>
            </a:fld>
            <a:endParaRPr lang="en-IN" b="0" noProof="0" dirty="0">
              <a:sym typeface="+mn-lt"/>
            </a:endParaRPr>
          </a:p>
        </p:txBody>
      </p:sp>
      <p:sp>
        <p:nvSpPr>
          <p:cNvPr id="42" name="StandardTextbox"/>
          <p:cNvSpPr>
            <a:spLocks noGrp="1"/>
          </p:cNvSpPr>
          <p:nvPr>
            <p:custDataLst>
              <p:tags r:id="rId27"/>
            </p:custDataLst>
          </p:nvPr>
        </p:nvSpPr>
        <p:spPr bwMode="auto">
          <a:xfrm>
            <a:off x="7485063" y="2405063"/>
            <a:ext cx="550863" cy="215900"/>
          </a:xfrm>
          <a:prstGeom prst="ellipse">
            <a:avLst/>
          </a:prstGeom>
          <a:solidFill>
            <a:srgbClr val="FFFFFF"/>
          </a:solidFill>
          <a:ln w="9525" algn="ctr">
            <a:solidFill>
              <a:schemeClr val="tx1"/>
            </a:solidFill>
          </a:ln>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ED5B883-5A74-4896-A582-443F402E5F7B}" type="datetime'3''''.''''''''''''''''''''''''4%'''''''''''''''''">
              <a:rPr lang="en-IN" altLang="en-US" smtClean="0"/>
              <a:pPr lvl="1" algn="ctr">
                <a:spcBef>
                  <a:spcPct val="0"/>
                </a:spcBef>
                <a:spcAft>
                  <a:spcPct val="0"/>
                </a:spcAft>
              </a:pPr>
              <a:t>3.4%</a:t>
            </a:fld>
            <a:endParaRPr lang="en-IN" noProof="0" dirty="0">
              <a:sym typeface="+mn-lt"/>
            </a:endParaRPr>
          </a:p>
        </p:txBody>
      </p:sp>
      <p:sp>
        <p:nvSpPr>
          <p:cNvPr id="45" name="Rectangle 44"/>
          <p:cNvSpPr/>
          <p:nvPr>
            <p:custDataLst>
              <p:tags r:id="rId28"/>
            </p:custDataLst>
          </p:nvPr>
        </p:nvSpPr>
        <p:spPr bwMode="auto">
          <a:xfrm>
            <a:off x="6105525" y="3919538"/>
            <a:ext cx="179388" cy="133350"/>
          </a:xfrm>
          <a:prstGeom prst="rect">
            <a:avLst/>
          </a:pr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46" name="Rectangle 45"/>
          <p:cNvSpPr/>
          <p:nvPr>
            <p:custDataLst>
              <p:tags r:id="rId29"/>
            </p:custDataLst>
          </p:nvPr>
        </p:nvSpPr>
        <p:spPr bwMode="auto">
          <a:xfrm>
            <a:off x="7654925" y="3919538"/>
            <a:ext cx="179388" cy="133350"/>
          </a:xfrm>
          <a:prstGeom prst="rect">
            <a:avLst/>
          </a:prstGeom>
          <a:solidFill>
            <a:srgbClr val="01216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47" name="StandardTextbox"/>
          <p:cNvSpPr>
            <a:spLocks noGrp="1"/>
          </p:cNvSpPr>
          <p:nvPr>
            <p:custDataLst>
              <p:tags r:id="rId30"/>
            </p:custDataLst>
          </p:nvPr>
        </p:nvSpPr>
        <p:spPr bwMode="auto">
          <a:xfrm>
            <a:off x="6335713" y="3914775"/>
            <a:ext cx="12176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B535368F-5407-452C-B2D1-1FBC635C9236}" type="datetime'''''Cap''''''''a''''''''''''ci''''t''y'''' Pa''ym''ents'">
              <a:rPr lang="en-IN" altLang="en-US" b="0" smtClean="0"/>
              <a:pPr lvl="1">
                <a:spcBef>
                  <a:spcPct val="0"/>
                </a:spcBef>
                <a:spcAft>
                  <a:spcPct val="0"/>
                </a:spcAft>
              </a:pPr>
              <a:t>Capacity Payments</a:t>
            </a:fld>
            <a:endParaRPr lang="en-IN" b="0" noProof="0" dirty="0">
              <a:sym typeface="+mn-lt"/>
            </a:endParaRPr>
          </a:p>
        </p:txBody>
      </p:sp>
      <p:sp>
        <p:nvSpPr>
          <p:cNvPr id="48" name="StandardTextbox"/>
          <p:cNvSpPr>
            <a:spLocks noGrp="1"/>
          </p:cNvSpPr>
          <p:nvPr>
            <p:custDataLst>
              <p:tags r:id="rId31"/>
            </p:custDataLst>
          </p:nvPr>
        </p:nvSpPr>
        <p:spPr bwMode="auto">
          <a:xfrm>
            <a:off x="7885113" y="3914775"/>
            <a:ext cx="16891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54AF3A97-1CA1-4E2B-9834-0A2A42F9B295}" type="datetime'''V''a''''r''''''ia''ble Ch''''ar''g''''''''''e Pay''''ments'">
              <a:rPr lang="en-IN" altLang="en-US" b="0" smtClean="0"/>
              <a:pPr lvl="1">
                <a:spcBef>
                  <a:spcPct val="0"/>
                </a:spcBef>
                <a:spcAft>
                  <a:spcPct val="0"/>
                </a:spcAft>
              </a:pPr>
              <a:t>Variable Charge Payments</a:t>
            </a:fld>
            <a:endParaRPr lang="en-IN" b="0" noProof="0" dirty="0">
              <a:sym typeface="+mn-lt"/>
            </a:endParaRPr>
          </a:p>
        </p:txBody>
      </p:sp>
    </p:spTree>
    <p:extLst>
      <p:ext uri="{BB962C8B-B14F-4D97-AF65-F5344CB8AC3E}">
        <p14:creationId xmlns:p14="http://schemas.microsoft.com/office/powerpoint/2010/main" val="2910085252"/>
      </p:ext>
    </p:extLst>
  </p:cSld>
  <p:clrMapOvr>
    <a:masterClrMapping/>
  </p:clrMapOvr>
  <p:transition>
    <p:fade/>
  </p:transition>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4" name="Object 3"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2057395289"/>
              </p:ext>
            </p:ext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0" lvl="0" indent="0">
                        <a:spcAft>
                          <a:spcPts val="500"/>
                        </a:spcAft>
                        <a:buFont typeface="Arial" panose="020B0604020202020204" pitchFamily="34" charset="0"/>
                        <a:buNone/>
                      </a:pPr>
                      <a:r>
                        <a:rPr lang="en-US" sz="1000" b="1" baseline="0" dirty="0">
                          <a:solidFill>
                            <a:schemeClr val="tx1"/>
                          </a:solidFill>
                        </a:rPr>
                        <a:t>Impact of Foreign Currency Reserves on payment by BPDB to Foreign Sponsors</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r>
                        <a:rPr lang="en-US" sz="1000" b="1" baseline="0" dirty="0">
                          <a:solidFill>
                            <a:schemeClr val="tx1"/>
                          </a:solidFill>
                        </a:rPr>
                        <a:t>Idle liquid Fuel Plants one of the major causes of Capacity Payments</a:t>
                      </a:r>
                    </a:p>
                    <a:p>
                      <a:pPr marL="0" lvl="0" indent="0">
                        <a:spcAft>
                          <a:spcPts val="500"/>
                        </a:spcAft>
                        <a:buFont typeface="Arial" panose="020B0604020202020204" pitchFamily="34" charset="0"/>
                        <a:buNone/>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5" name="Freeform 3"/>
          <p:cNvSpPr>
            <a:spLocks/>
          </p:cNvSpPr>
          <p:nvPr/>
        </p:nvSpPr>
        <p:spPr bwMode="gray">
          <a:xfrm>
            <a:off x="5524500" y="2480794"/>
            <a:ext cx="4735625" cy="2257655"/>
          </a:xfrm>
          <a:custGeom>
            <a:avLst/>
            <a:gdLst/>
            <a:ahLst/>
            <a:cxnLst>
              <a:cxn ang="0">
                <a:pos x="222" y="20"/>
              </a:cxn>
              <a:cxn ang="0">
                <a:pos x="476" y="6"/>
              </a:cxn>
              <a:cxn ang="0">
                <a:pos x="671" y="35"/>
              </a:cxn>
              <a:cxn ang="0">
                <a:pos x="901" y="27"/>
              </a:cxn>
              <a:cxn ang="0">
                <a:pos x="1105" y="7"/>
              </a:cxn>
              <a:cxn ang="0">
                <a:pos x="1351" y="13"/>
              </a:cxn>
              <a:cxn ang="0">
                <a:pos x="1750" y="16"/>
              </a:cxn>
              <a:cxn ang="0">
                <a:pos x="1962" y="33"/>
              </a:cxn>
              <a:cxn ang="0">
                <a:pos x="2433" y="23"/>
              </a:cxn>
              <a:cxn ang="0">
                <a:pos x="2648" y="30"/>
              </a:cxn>
              <a:cxn ang="0">
                <a:pos x="3022" y="30"/>
              </a:cxn>
              <a:cxn ang="0">
                <a:pos x="3305" y="38"/>
              </a:cxn>
              <a:cxn ang="0">
                <a:pos x="3683" y="43"/>
              </a:cxn>
              <a:cxn ang="0">
                <a:pos x="3921" y="44"/>
              </a:cxn>
              <a:cxn ang="0">
                <a:pos x="4152" y="45"/>
              </a:cxn>
              <a:cxn ang="0">
                <a:pos x="4193" y="98"/>
              </a:cxn>
              <a:cxn ang="0">
                <a:pos x="4229" y="146"/>
              </a:cxn>
              <a:cxn ang="0">
                <a:pos x="4183" y="224"/>
              </a:cxn>
              <a:cxn ang="0">
                <a:pos x="4218" y="282"/>
              </a:cxn>
              <a:cxn ang="0">
                <a:pos x="4286" y="348"/>
              </a:cxn>
              <a:cxn ang="0">
                <a:pos x="4353" y="404"/>
              </a:cxn>
              <a:cxn ang="0">
                <a:pos x="4419" y="474"/>
              </a:cxn>
              <a:cxn ang="0">
                <a:pos x="4413" y="546"/>
              </a:cxn>
              <a:cxn ang="0">
                <a:pos x="4443" y="645"/>
              </a:cxn>
              <a:cxn ang="0">
                <a:pos x="4461" y="711"/>
              </a:cxn>
              <a:cxn ang="0">
                <a:pos x="4462" y="811"/>
              </a:cxn>
              <a:cxn ang="0">
                <a:pos x="4483" y="869"/>
              </a:cxn>
              <a:cxn ang="0">
                <a:pos x="4526" y="953"/>
              </a:cxn>
              <a:cxn ang="0">
                <a:pos x="4448" y="999"/>
              </a:cxn>
              <a:cxn ang="0">
                <a:pos x="4203" y="989"/>
              </a:cxn>
              <a:cxn ang="0">
                <a:pos x="3829" y="970"/>
              </a:cxn>
              <a:cxn ang="0">
                <a:pos x="3619" y="991"/>
              </a:cxn>
              <a:cxn ang="0">
                <a:pos x="3434" y="1006"/>
              </a:cxn>
              <a:cxn ang="0">
                <a:pos x="3180" y="1017"/>
              </a:cxn>
              <a:cxn ang="0">
                <a:pos x="2821" y="994"/>
              </a:cxn>
              <a:cxn ang="0">
                <a:pos x="2467" y="999"/>
              </a:cxn>
              <a:cxn ang="0">
                <a:pos x="2091" y="994"/>
              </a:cxn>
              <a:cxn ang="0">
                <a:pos x="1782" y="991"/>
              </a:cxn>
              <a:cxn ang="0">
                <a:pos x="1496" y="977"/>
              </a:cxn>
              <a:cxn ang="0">
                <a:pos x="1284" y="965"/>
              </a:cxn>
              <a:cxn ang="0">
                <a:pos x="907" y="976"/>
              </a:cxn>
              <a:cxn ang="0">
                <a:pos x="483" y="966"/>
              </a:cxn>
              <a:cxn ang="0">
                <a:pos x="297" y="969"/>
              </a:cxn>
              <a:cxn ang="0">
                <a:pos x="285" y="922"/>
              </a:cxn>
              <a:cxn ang="0">
                <a:pos x="364" y="872"/>
              </a:cxn>
              <a:cxn ang="0">
                <a:pos x="324" y="814"/>
              </a:cxn>
              <a:cxn ang="0">
                <a:pos x="286" y="763"/>
              </a:cxn>
              <a:cxn ang="0">
                <a:pos x="289" y="701"/>
              </a:cxn>
              <a:cxn ang="0">
                <a:pos x="103" y="623"/>
              </a:cxn>
              <a:cxn ang="0">
                <a:pos x="158" y="566"/>
              </a:cxn>
              <a:cxn ang="0">
                <a:pos x="116" y="496"/>
              </a:cxn>
              <a:cxn ang="0">
                <a:pos x="74" y="435"/>
              </a:cxn>
              <a:cxn ang="0">
                <a:pos x="100" y="365"/>
              </a:cxn>
              <a:cxn ang="0">
                <a:pos x="87" y="306"/>
              </a:cxn>
              <a:cxn ang="0">
                <a:pos x="13" y="221"/>
              </a:cxn>
              <a:cxn ang="0">
                <a:pos x="21" y="159"/>
              </a:cxn>
              <a:cxn ang="0">
                <a:pos x="0" y="98"/>
              </a:cxn>
              <a:cxn ang="0">
                <a:pos x="28" y="35"/>
              </a:cxn>
            </a:cxnLst>
            <a:rect l="0" t="0" r="r" b="b"/>
            <a:pathLst>
              <a:path w="4537" h="1018">
                <a:moveTo>
                  <a:pt x="71" y="0"/>
                </a:moveTo>
                <a:lnTo>
                  <a:pt x="147" y="13"/>
                </a:lnTo>
                <a:lnTo>
                  <a:pt x="222" y="20"/>
                </a:lnTo>
                <a:lnTo>
                  <a:pt x="315" y="17"/>
                </a:lnTo>
                <a:lnTo>
                  <a:pt x="380" y="6"/>
                </a:lnTo>
                <a:lnTo>
                  <a:pt x="476" y="6"/>
                </a:lnTo>
                <a:lnTo>
                  <a:pt x="547" y="11"/>
                </a:lnTo>
                <a:lnTo>
                  <a:pt x="597" y="30"/>
                </a:lnTo>
                <a:lnTo>
                  <a:pt x="671" y="35"/>
                </a:lnTo>
                <a:lnTo>
                  <a:pt x="760" y="31"/>
                </a:lnTo>
                <a:lnTo>
                  <a:pt x="830" y="26"/>
                </a:lnTo>
                <a:lnTo>
                  <a:pt x="901" y="27"/>
                </a:lnTo>
                <a:lnTo>
                  <a:pt x="996" y="21"/>
                </a:lnTo>
                <a:lnTo>
                  <a:pt x="1034" y="4"/>
                </a:lnTo>
                <a:lnTo>
                  <a:pt x="1105" y="7"/>
                </a:lnTo>
                <a:lnTo>
                  <a:pt x="1203" y="7"/>
                </a:lnTo>
                <a:lnTo>
                  <a:pt x="1274" y="6"/>
                </a:lnTo>
                <a:lnTo>
                  <a:pt x="1351" y="13"/>
                </a:lnTo>
                <a:lnTo>
                  <a:pt x="1511" y="14"/>
                </a:lnTo>
                <a:lnTo>
                  <a:pt x="1651" y="16"/>
                </a:lnTo>
                <a:lnTo>
                  <a:pt x="1750" y="16"/>
                </a:lnTo>
                <a:lnTo>
                  <a:pt x="1818" y="16"/>
                </a:lnTo>
                <a:lnTo>
                  <a:pt x="1891" y="31"/>
                </a:lnTo>
                <a:lnTo>
                  <a:pt x="1962" y="33"/>
                </a:lnTo>
                <a:lnTo>
                  <a:pt x="2103" y="31"/>
                </a:lnTo>
                <a:lnTo>
                  <a:pt x="2242" y="27"/>
                </a:lnTo>
                <a:lnTo>
                  <a:pt x="2433" y="23"/>
                </a:lnTo>
                <a:lnTo>
                  <a:pt x="2503" y="18"/>
                </a:lnTo>
                <a:lnTo>
                  <a:pt x="2574" y="20"/>
                </a:lnTo>
                <a:lnTo>
                  <a:pt x="2648" y="30"/>
                </a:lnTo>
                <a:lnTo>
                  <a:pt x="2740" y="37"/>
                </a:lnTo>
                <a:lnTo>
                  <a:pt x="2878" y="33"/>
                </a:lnTo>
                <a:lnTo>
                  <a:pt x="3022" y="30"/>
                </a:lnTo>
                <a:lnTo>
                  <a:pt x="3160" y="26"/>
                </a:lnTo>
                <a:lnTo>
                  <a:pt x="3231" y="26"/>
                </a:lnTo>
                <a:lnTo>
                  <a:pt x="3305" y="38"/>
                </a:lnTo>
                <a:lnTo>
                  <a:pt x="3403" y="47"/>
                </a:lnTo>
                <a:lnTo>
                  <a:pt x="3594" y="45"/>
                </a:lnTo>
                <a:lnTo>
                  <a:pt x="3683" y="43"/>
                </a:lnTo>
                <a:lnTo>
                  <a:pt x="3752" y="41"/>
                </a:lnTo>
                <a:lnTo>
                  <a:pt x="3847" y="44"/>
                </a:lnTo>
                <a:lnTo>
                  <a:pt x="3921" y="44"/>
                </a:lnTo>
                <a:lnTo>
                  <a:pt x="3989" y="40"/>
                </a:lnTo>
                <a:lnTo>
                  <a:pt x="4084" y="40"/>
                </a:lnTo>
                <a:lnTo>
                  <a:pt x="4152" y="45"/>
                </a:lnTo>
                <a:lnTo>
                  <a:pt x="4204" y="64"/>
                </a:lnTo>
                <a:lnTo>
                  <a:pt x="4215" y="79"/>
                </a:lnTo>
                <a:lnTo>
                  <a:pt x="4193" y="98"/>
                </a:lnTo>
                <a:lnTo>
                  <a:pt x="4173" y="115"/>
                </a:lnTo>
                <a:lnTo>
                  <a:pt x="4198" y="130"/>
                </a:lnTo>
                <a:lnTo>
                  <a:pt x="4229" y="146"/>
                </a:lnTo>
                <a:lnTo>
                  <a:pt x="4211" y="163"/>
                </a:lnTo>
                <a:lnTo>
                  <a:pt x="4173" y="209"/>
                </a:lnTo>
                <a:lnTo>
                  <a:pt x="4183" y="224"/>
                </a:lnTo>
                <a:lnTo>
                  <a:pt x="4210" y="241"/>
                </a:lnTo>
                <a:lnTo>
                  <a:pt x="4214" y="258"/>
                </a:lnTo>
                <a:lnTo>
                  <a:pt x="4218" y="282"/>
                </a:lnTo>
                <a:lnTo>
                  <a:pt x="4232" y="315"/>
                </a:lnTo>
                <a:lnTo>
                  <a:pt x="4235" y="333"/>
                </a:lnTo>
                <a:lnTo>
                  <a:pt x="4286" y="348"/>
                </a:lnTo>
                <a:lnTo>
                  <a:pt x="4342" y="365"/>
                </a:lnTo>
                <a:lnTo>
                  <a:pt x="4348" y="389"/>
                </a:lnTo>
                <a:lnTo>
                  <a:pt x="4353" y="404"/>
                </a:lnTo>
                <a:lnTo>
                  <a:pt x="4335" y="428"/>
                </a:lnTo>
                <a:lnTo>
                  <a:pt x="4339" y="451"/>
                </a:lnTo>
                <a:lnTo>
                  <a:pt x="4419" y="474"/>
                </a:lnTo>
                <a:lnTo>
                  <a:pt x="4452" y="509"/>
                </a:lnTo>
                <a:lnTo>
                  <a:pt x="4433" y="532"/>
                </a:lnTo>
                <a:lnTo>
                  <a:pt x="4413" y="546"/>
                </a:lnTo>
                <a:lnTo>
                  <a:pt x="4395" y="565"/>
                </a:lnTo>
                <a:lnTo>
                  <a:pt x="4431" y="608"/>
                </a:lnTo>
                <a:lnTo>
                  <a:pt x="4443" y="645"/>
                </a:lnTo>
                <a:lnTo>
                  <a:pt x="4447" y="660"/>
                </a:lnTo>
                <a:lnTo>
                  <a:pt x="4456" y="694"/>
                </a:lnTo>
                <a:lnTo>
                  <a:pt x="4461" y="711"/>
                </a:lnTo>
                <a:lnTo>
                  <a:pt x="4473" y="756"/>
                </a:lnTo>
                <a:lnTo>
                  <a:pt x="4452" y="772"/>
                </a:lnTo>
                <a:lnTo>
                  <a:pt x="4462" y="811"/>
                </a:lnTo>
                <a:lnTo>
                  <a:pt x="4472" y="828"/>
                </a:lnTo>
                <a:lnTo>
                  <a:pt x="4498" y="851"/>
                </a:lnTo>
                <a:lnTo>
                  <a:pt x="4483" y="869"/>
                </a:lnTo>
                <a:lnTo>
                  <a:pt x="4487" y="885"/>
                </a:lnTo>
                <a:lnTo>
                  <a:pt x="4494" y="908"/>
                </a:lnTo>
                <a:lnTo>
                  <a:pt x="4526" y="953"/>
                </a:lnTo>
                <a:lnTo>
                  <a:pt x="4536" y="976"/>
                </a:lnTo>
                <a:lnTo>
                  <a:pt x="4519" y="991"/>
                </a:lnTo>
                <a:lnTo>
                  <a:pt x="4448" y="999"/>
                </a:lnTo>
                <a:lnTo>
                  <a:pt x="4380" y="1013"/>
                </a:lnTo>
                <a:lnTo>
                  <a:pt x="4279" y="1001"/>
                </a:lnTo>
                <a:lnTo>
                  <a:pt x="4203" y="989"/>
                </a:lnTo>
                <a:lnTo>
                  <a:pt x="4062" y="979"/>
                </a:lnTo>
                <a:lnTo>
                  <a:pt x="3990" y="972"/>
                </a:lnTo>
                <a:lnTo>
                  <a:pt x="3829" y="970"/>
                </a:lnTo>
                <a:lnTo>
                  <a:pt x="3762" y="974"/>
                </a:lnTo>
                <a:lnTo>
                  <a:pt x="3690" y="984"/>
                </a:lnTo>
                <a:lnTo>
                  <a:pt x="3619" y="991"/>
                </a:lnTo>
                <a:lnTo>
                  <a:pt x="3577" y="1006"/>
                </a:lnTo>
                <a:lnTo>
                  <a:pt x="3508" y="1013"/>
                </a:lnTo>
                <a:lnTo>
                  <a:pt x="3434" y="1006"/>
                </a:lnTo>
                <a:lnTo>
                  <a:pt x="3365" y="999"/>
                </a:lnTo>
                <a:lnTo>
                  <a:pt x="3266" y="1004"/>
                </a:lnTo>
                <a:lnTo>
                  <a:pt x="3180" y="1017"/>
                </a:lnTo>
                <a:lnTo>
                  <a:pt x="3109" y="1014"/>
                </a:lnTo>
                <a:lnTo>
                  <a:pt x="3010" y="1008"/>
                </a:lnTo>
                <a:lnTo>
                  <a:pt x="2821" y="994"/>
                </a:lnTo>
                <a:lnTo>
                  <a:pt x="2630" y="991"/>
                </a:lnTo>
                <a:lnTo>
                  <a:pt x="2562" y="991"/>
                </a:lnTo>
                <a:lnTo>
                  <a:pt x="2467" y="999"/>
                </a:lnTo>
                <a:lnTo>
                  <a:pt x="2299" y="996"/>
                </a:lnTo>
                <a:lnTo>
                  <a:pt x="2160" y="994"/>
                </a:lnTo>
                <a:lnTo>
                  <a:pt x="2091" y="994"/>
                </a:lnTo>
                <a:lnTo>
                  <a:pt x="1949" y="991"/>
                </a:lnTo>
                <a:lnTo>
                  <a:pt x="1853" y="993"/>
                </a:lnTo>
                <a:lnTo>
                  <a:pt x="1782" y="991"/>
                </a:lnTo>
                <a:lnTo>
                  <a:pt x="1642" y="990"/>
                </a:lnTo>
                <a:lnTo>
                  <a:pt x="1570" y="979"/>
                </a:lnTo>
                <a:lnTo>
                  <a:pt x="1496" y="977"/>
                </a:lnTo>
                <a:lnTo>
                  <a:pt x="1432" y="987"/>
                </a:lnTo>
                <a:lnTo>
                  <a:pt x="1334" y="984"/>
                </a:lnTo>
                <a:lnTo>
                  <a:pt x="1284" y="965"/>
                </a:lnTo>
                <a:lnTo>
                  <a:pt x="1214" y="974"/>
                </a:lnTo>
                <a:lnTo>
                  <a:pt x="1051" y="976"/>
                </a:lnTo>
                <a:lnTo>
                  <a:pt x="907" y="976"/>
                </a:lnTo>
                <a:lnTo>
                  <a:pt x="770" y="982"/>
                </a:lnTo>
                <a:lnTo>
                  <a:pt x="679" y="973"/>
                </a:lnTo>
                <a:lnTo>
                  <a:pt x="483" y="966"/>
                </a:lnTo>
                <a:lnTo>
                  <a:pt x="414" y="970"/>
                </a:lnTo>
                <a:lnTo>
                  <a:pt x="350" y="987"/>
                </a:lnTo>
                <a:lnTo>
                  <a:pt x="297" y="969"/>
                </a:lnTo>
                <a:lnTo>
                  <a:pt x="268" y="953"/>
                </a:lnTo>
                <a:lnTo>
                  <a:pt x="262" y="938"/>
                </a:lnTo>
                <a:lnTo>
                  <a:pt x="285" y="922"/>
                </a:lnTo>
                <a:lnTo>
                  <a:pt x="349" y="904"/>
                </a:lnTo>
                <a:lnTo>
                  <a:pt x="368" y="888"/>
                </a:lnTo>
                <a:lnTo>
                  <a:pt x="364" y="872"/>
                </a:lnTo>
                <a:lnTo>
                  <a:pt x="335" y="854"/>
                </a:lnTo>
                <a:lnTo>
                  <a:pt x="332" y="831"/>
                </a:lnTo>
                <a:lnTo>
                  <a:pt x="324" y="814"/>
                </a:lnTo>
                <a:lnTo>
                  <a:pt x="320" y="799"/>
                </a:lnTo>
                <a:lnTo>
                  <a:pt x="314" y="780"/>
                </a:lnTo>
                <a:lnTo>
                  <a:pt x="286" y="763"/>
                </a:lnTo>
                <a:lnTo>
                  <a:pt x="280" y="739"/>
                </a:lnTo>
                <a:lnTo>
                  <a:pt x="299" y="725"/>
                </a:lnTo>
                <a:lnTo>
                  <a:pt x="289" y="701"/>
                </a:lnTo>
                <a:lnTo>
                  <a:pt x="135" y="657"/>
                </a:lnTo>
                <a:lnTo>
                  <a:pt x="112" y="641"/>
                </a:lnTo>
                <a:lnTo>
                  <a:pt x="103" y="623"/>
                </a:lnTo>
                <a:lnTo>
                  <a:pt x="123" y="606"/>
                </a:lnTo>
                <a:lnTo>
                  <a:pt x="165" y="587"/>
                </a:lnTo>
                <a:lnTo>
                  <a:pt x="158" y="566"/>
                </a:lnTo>
                <a:lnTo>
                  <a:pt x="149" y="543"/>
                </a:lnTo>
                <a:lnTo>
                  <a:pt x="144" y="522"/>
                </a:lnTo>
                <a:lnTo>
                  <a:pt x="116" y="496"/>
                </a:lnTo>
                <a:lnTo>
                  <a:pt x="109" y="477"/>
                </a:lnTo>
                <a:lnTo>
                  <a:pt x="78" y="452"/>
                </a:lnTo>
                <a:lnTo>
                  <a:pt x="74" y="435"/>
                </a:lnTo>
                <a:lnTo>
                  <a:pt x="85" y="396"/>
                </a:lnTo>
                <a:lnTo>
                  <a:pt x="106" y="380"/>
                </a:lnTo>
                <a:lnTo>
                  <a:pt x="100" y="365"/>
                </a:lnTo>
                <a:lnTo>
                  <a:pt x="98" y="345"/>
                </a:lnTo>
                <a:lnTo>
                  <a:pt x="93" y="328"/>
                </a:lnTo>
                <a:lnTo>
                  <a:pt x="87" y="306"/>
                </a:lnTo>
                <a:lnTo>
                  <a:pt x="47" y="261"/>
                </a:lnTo>
                <a:lnTo>
                  <a:pt x="20" y="238"/>
                </a:lnTo>
                <a:lnTo>
                  <a:pt x="13" y="221"/>
                </a:lnTo>
                <a:lnTo>
                  <a:pt x="8" y="199"/>
                </a:lnTo>
                <a:lnTo>
                  <a:pt x="32" y="182"/>
                </a:lnTo>
                <a:lnTo>
                  <a:pt x="21" y="159"/>
                </a:lnTo>
                <a:lnTo>
                  <a:pt x="10" y="136"/>
                </a:lnTo>
                <a:lnTo>
                  <a:pt x="10" y="122"/>
                </a:lnTo>
                <a:lnTo>
                  <a:pt x="0" y="98"/>
                </a:lnTo>
                <a:lnTo>
                  <a:pt x="22" y="77"/>
                </a:lnTo>
                <a:lnTo>
                  <a:pt x="15" y="58"/>
                </a:lnTo>
                <a:lnTo>
                  <a:pt x="28" y="35"/>
                </a:lnTo>
                <a:lnTo>
                  <a:pt x="7" y="17"/>
                </a:lnTo>
                <a:lnTo>
                  <a:pt x="71" y="0"/>
                </a:lnTo>
              </a:path>
            </a:pathLst>
          </a:custGeom>
          <a:gradFill flip="none" rotWithShape="1">
            <a:gsLst>
              <a:gs pos="75000">
                <a:srgbClr val="FFDB69">
                  <a:tint val="66000"/>
                  <a:satMod val="160000"/>
                  <a:alpha val="58000"/>
                </a:srgbClr>
              </a:gs>
              <a:gs pos="61000">
                <a:srgbClr val="FFDB69">
                  <a:tint val="44500"/>
                  <a:satMod val="160000"/>
                  <a:alpha val="73000"/>
                </a:srgbClr>
              </a:gs>
              <a:gs pos="100000">
                <a:srgbClr val="FFDB69">
                  <a:tint val="23500"/>
                  <a:satMod val="160000"/>
                  <a:alpha val="80000"/>
                </a:srgbClr>
              </a:gs>
            </a:gsLst>
            <a:lin ang="0" scaled="1"/>
            <a:tileRect/>
          </a:gradFill>
          <a:ln w="9525" cap="rnd" cmpd="sng">
            <a:noFill/>
            <a:prstDash val="solid"/>
            <a:round/>
            <a:headEnd type="none" w="med" len="med"/>
            <a:tailEnd type="none" w="med" len="med"/>
          </a:ln>
          <a:effectLst>
            <a:outerShdw blurRad="50800" dist="38100" dir="2700000" algn="tl" rotWithShape="0">
              <a:prstClr val="black">
                <a:alpha val="40000"/>
              </a:prstClr>
            </a:outerShdw>
          </a:effectLst>
        </p:spPr>
        <p:txBody>
          <a:bodyPr lIns="360000" tIns="72000" rIns="324000" bIns="72000" anchor="ctr"/>
          <a:lstStyle/>
          <a:p>
            <a:pPr marL="0" marR="0" lvl="0" indent="0" algn="l" defTabSz="787481" rtl="0" eaLnBrk="1" fontAlgn="auto" latinLnBrk="0" hangingPunct="1">
              <a:lnSpc>
                <a:spcPct val="114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BPDB is facing difficulties in making the payments for electricity imports and foreign loans due to a crisis of US dollar in state-owned commercial banks.</a:t>
            </a:r>
          </a:p>
          <a:p>
            <a:pPr lvl="0">
              <a:lnSpc>
                <a:spcPct val="114000"/>
              </a:lnSpc>
              <a:spcAft>
                <a:spcPts val="600"/>
              </a:spcAft>
              <a:defRPr/>
            </a:pPr>
            <a:r>
              <a:rPr lang="en-US" sz="1000" dirty="0">
                <a:solidFill>
                  <a:prstClr val="black"/>
                </a:solidFill>
              </a:rPr>
              <a:t>Though BPDB has paid the necessary fund in the local currency, the state-run banks are yet to make the payment due to foreign currency crisis. NTPC of India has already imposed a surcharge against Agrani Bank Ltd for the delay.</a:t>
            </a:r>
            <a:endParaRPr kumimoji="0" lang="en-US" sz="1000" b="0" i="0" u="none" strike="noStrike" kern="1200" cap="none" spc="0" normalizeH="0" baseline="0" noProof="0" dirty="0">
              <a:ln>
                <a:noFill/>
              </a:ln>
              <a:solidFill>
                <a:prstClr val="black"/>
              </a:solidFill>
              <a:effectLst/>
              <a:uLnTx/>
              <a:uFillTx/>
              <a:latin typeface="Verdana"/>
              <a:ea typeface="+mn-ea"/>
              <a:cs typeface="+mn-cs"/>
            </a:endParaRPr>
          </a:p>
          <a:p>
            <a:pPr marL="0" marR="0" lvl="0" indent="0" algn="r" defTabSz="787481" rtl="0" eaLnBrk="1" fontAlgn="auto" latinLnBrk="0" hangingPunct="1">
              <a:lnSpc>
                <a:spcPct val="114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a:t>
            </a:r>
            <a:r>
              <a:rPr kumimoji="0" lang="en-US" sz="1000" b="1" i="0" u="none" strike="noStrike" kern="1200" cap="none" spc="0" normalizeH="0" baseline="0" noProof="0" dirty="0">
                <a:ln>
                  <a:noFill/>
                </a:ln>
                <a:solidFill>
                  <a:prstClr val="black"/>
                </a:solidFill>
                <a:effectLst/>
                <a:uLnTx/>
                <a:uFillTx/>
                <a:latin typeface="Verdana"/>
                <a:ea typeface="+mn-ea"/>
                <a:cs typeface="+mn-cs"/>
              </a:rPr>
              <a:t> Industry Source, Dec 2019</a:t>
            </a:r>
            <a:endParaRPr kumimoji="0" lang="en-US" sz="1000" b="1" i="0" u="none" strike="noStrike" kern="1200" cap="none" spc="0" normalizeH="0" baseline="-25000" noProof="0" dirty="0">
              <a:ln>
                <a:noFill/>
              </a:ln>
              <a:solidFill>
                <a:prstClr val="black"/>
              </a:solidFill>
              <a:effectLst/>
              <a:uLnTx/>
              <a:uFillTx/>
              <a:latin typeface="Verdana"/>
              <a:ea typeface="+mn-ea"/>
              <a:cs typeface="+mn-cs"/>
            </a:endParaRPr>
          </a:p>
        </p:txBody>
      </p:sp>
      <p:sp>
        <p:nvSpPr>
          <p:cNvPr id="2" name="Title 1"/>
          <p:cNvSpPr>
            <a:spLocks noGrp="1"/>
          </p:cNvSpPr>
          <p:nvPr>
            <p:ph type="title"/>
          </p:nvPr>
        </p:nvSpPr>
        <p:spPr/>
        <p:txBody>
          <a:bodyPr/>
          <a:lstStyle/>
          <a:p>
            <a:r>
              <a:rPr lang="en-US" dirty="0"/>
              <a:t>BPDB Liquidity Assessment – Public Sources| Discom Credit Assessment</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We have presented a few snippets from primary/secondary sources on the liquidity position of BPDB and the overall market perception on over capacity in Bangladesh</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730295269"/>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spcAft>
                          <a:spcPts val="500"/>
                        </a:spcAft>
                        <a:buFont typeface="Arial" panose="020B0604020202020204" pitchFamily="34" charset="0"/>
                        <a:buNone/>
                      </a:pPr>
                      <a:r>
                        <a:rPr lang="en-US" sz="1000" b="1" baseline="0" dirty="0">
                          <a:solidFill>
                            <a:schemeClr val="tx1"/>
                          </a:solidFill>
                        </a:rPr>
                        <a:t>Delay in Payment to IPPs</a:t>
                      </a: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r>
                        <a:rPr lang="en-US" sz="1000" b="1" baseline="0" dirty="0">
                          <a:solidFill>
                            <a:schemeClr val="tx1"/>
                          </a:solidFill>
                        </a:rPr>
                        <a:t>Impact of Fixed Charge on GoB’s Finances</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0" name="Freeform 3"/>
          <p:cNvSpPr>
            <a:spLocks/>
          </p:cNvSpPr>
          <p:nvPr/>
        </p:nvSpPr>
        <p:spPr bwMode="gray">
          <a:xfrm>
            <a:off x="449263" y="2430949"/>
            <a:ext cx="4735625" cy="2513814"/>
          </a:xfrm>
          <a:custGeom>
            <a:avLst/>
            <a:gdLst/>
            <a:ahLst/>
            <a:cxnLst>
              <a:cxn ang="0">
                <a:pos x="222" y="20"/>
              </a:cxn>
              <a:cxn ang="0">
                <a:pos x="476" y="6"/>
              </a:cxn>
              <a:cxn ang="0">
                <a:pos x="671" y="35"/>
              </a:cxn>
              <a:cxn ang="0">
                <a:pos x="901" y="27"/>
              </a:cxn>
              <a:cxn ang="0">
                <a:pos x="1105" y="7"/>
              </a:cxn>
              <a:cxn ang="0">
                <a:pos x="1351" y="13"/>
              </a:cxn>
              <a:cxn ang="0">
                <a:pos x="1750" y="16"/>
              </a:cxn>
              <a:cxn ang="0">
                <a:pos x="1962" y="33"/>
              </a:cxn>
              <a:cxn ang="0">
                <a:pos x="2433" y="23"/>
              </a:cxn>
              <a:cxn ang="0">
                <a:pos x="2648" y="30"/>
              </a:cxn>
              <a:cxn ang="0">
                <a:pos x="3022" y="30"/>
              </a:cxn>
              <a:cxn ang="0">
                <a:pos x="3305" y="38"/>
              </a:cxn>
              <a:cxn ang="0">
                <a:pos x="3683" y="43"/>
              </a:cxn>
              <a:cxn ang="0">
                <a:pos x="3921" y="44"/>
              </a:cxn>
              <a:cxn ang="0">
                <a:pos x="4152" y="45"/>
              </a:cxn>
              <a:cxn ang="0">
                <a:pos x="4193" y="98"/>
              </a:cxn>
              <a:cxn ang="0">
                <a:pos x="4229" y="146"/>
              </a:cxn>
              <a:cxn ang="0">
                <a:pos x="4183" y="224"/>
              </a:cxn>
              <a:cxn ang="0">
                <a:pos x="4218" y="282"/>
              </a:cxn>
              <a:cxn ang="0">
                <a:pos x="4286" y="348"/>
              </a:cxn>
              <a:cxn ang="0">
                <a:pos x="4353" y="404"/>
              </a:cxn>
              <a:cxn ang="0">
                <a:pos x="4419" y="474"/>
              </a:cxn>
              <a:cxn ang="0">
                <a:pos x="4413" y="546"/>
              </a:cxn>
              <a:cxn ang="0">
                <a:pos x="4443" y="645"/>
              </a:cxn>
              <a:cxn ang="0">
                <a:pos x="4461" y="711"/>
              </a:cxn>
              <a:cxn ang="0">
                <a:pos x="4462" y="811"/>
              </a:cxn>
              <a:cxn ang="0">
                <a:pos x="4483" y="869"/>
              </a:cxn>
              <a:cxn ang="0">
                <a:pos x="4526" y="953"/>
              </a:cxn>
              <a:cxn ang="0">
                <a:pos x="4448" y="999"/>
              </a:cxn>
              <a:cxn ang="0">
                <a:pos x="4203" y="989"/>
              </a:cxn>
              <a:cxn ang="0">
                <a:pos x="3829" y="970"/>
              </a:cxn>
              <a:cxn ang="0">
                <a:pos x="3619" y="991"/>
              </a:cxn>
              <a:cxn ang="0">
                <a:pos x="3434" y="1006"/>
              </a:cxn>
              <a:cxn ang="0">
                <a:pos x="3180" y="1017"/>
              </a:cxn>
              <a:cxn ang="0">
                <a:pos x="2821" y="994"/>
              </a:cxn>
              <a:cxn ang="0">
                <a:pos x="2467" y="999"/>
              </a:cxn>
              <a:cxn ang="0">
                <a:pos x="2091" y="994"/>
              </a:cxn>
              <a:cxn ang="0">
                <a:pos x="1782" y="991"/>
              </a:cxn>
              <a:cxn ang="0">
                <a:pos x="1496" y="977"/>
              </a:cxn>
              <a:cxn ang="0">
                <a:pos x="1284" y="965"/>
              </a:cxn>
              <a:cxn ang="0">
                <a:pos x="907" y="976"/>
              </a:cxn>
              <a:cxn ang="0">
                <a:pos x="483" y="966"/>
              </a:cxn>
              <a:cxn ang="0">
                <a:pos x="297" y="969"/>
              </a:cxn>
              <a:cxn ang="0">
                <a:pos x="285" y="922"/>
              </a:cxn>
              <a:cxn ang="0">
                <a:pos x="364" y="872"/>
              </a:cxn>
              <a:cxn ang="0">
                <a:pos x="324" y="814"/>
              </a:cxn>
              <a:cxn ang="0">
                <a:pos x="286" y="763"/>
              </a:cxn>
              <a:cxn ang="0">
                <a:pos x="289" y="701"/>
              </a:cxn>
              <a:cxn ang="0">
                <a:pos x="103" y="623"/>
              </a:cxn>
              <a:cxn ang="0">
                <a:pos x="158" y="566"/>
              </a:cxn>
              <a:cxn ang="0">
                <a:pos x="116" y="496"/>
              </a:cxn>
              <a:cxn ang="0">
                <a:pos x="74" y="435"/>
              </a:cxn>
              <a:cxn ang="0">
                <a:pos x="100" y="365"/>
              </a:cxn>
              <a:cxn ang="0">
                <a:pos x="87" y="306"/>
              </a:cxn>
              <a:cxn ang="0">
                <a:pos x="13" y="221"/>
              </a:cxn>
              <a:cxn ang="0">
                <a:pos x="21" y="159"/>
              </a:cxn>
              <a:cxn ang="0">
                <a:pos x="0" y="98"/>
              </a:cxn>
              <a:cxn ang="0">
                <a:pos x="28" y="35"/>
              </a:cxn>
            </a:cxnLst>
            <a:rect l="0" t="0" r="r" b="b"/>
            <a:pathLst>
              <a:path w="4537" h="1018">
                <a:moveTo>
                  <a:pt x="71" y="0"/>
                </a:moveTo>
                <a:lnTo>
                  <a:pt x="147" y="13"/>
                </a:lnTo>
                <a:lnTo>
                  <a:pt x="222" y="20"/>
                </a:lnTo>
                <a:lnTo>
                  <a:pt x="315" y="17"/>
                </a:lnTo>
                <a:lnTo>
                  <a:pt x="380" y="6"/>
                </a:lnTo>
                <a:lnTo>
                  <a:pt x="476" y="6"/>
                </a:lnTo>
                <a:lnTo>
                  <a:pt x="547" y="11"/>
                </a:lnTo>
                <a:lnTo>
                  <a:pt x="597" y="30"/>
                </a:lnTo>
                <a:lnTo>
                  <a:pt x="671" y="35"/>
                </a:lnTo>
                <a:lnTo>
                  <a:pt x="760" y="31"/>
                </a:lnTo>
                <a:lnTo>
                  <a:pt x="830" y="26"/>
                </a:lnTo>
                <a:lnTo>
                  <a:pt x="901" y="27"/>
                </a:lnTo>
                <a:lnTo>
                  <a:pt x="996" y="21"/>
                </a:lnTo>
                <a:lnTo>
                  <a:pt x="1034" y="4"/>
                </a:lnTo>
                <a:lnTo>
                  <a:pt x="1105" y="7"/>
                </a:lnTo>
                <a:lnTo>
                  <a:pt x="1203" y="7"/>
                </a:lnTo>
                <a:lnTo>
                  <a:pt x="1274" y="6"/>
                </a:lnTo>
                <a:lnTo>
                  <a:pt x="1351" y="13"/>
                </a:lnTo>
                <a:lnTo>
                  <a:pt x="1511" y="14"/>
                </a:lnTo>
                <a:lnTo>
                  <a:pt x="1651" y="16"/>
                </a:lnTo>
                <a:lnTo>
                  <a:pt x="1750" y="16"/>
                </a:lnTo>
                <a:lnTo>
                  <a:pt x="1818" y="16"/>
                </a:lnTo>
                <a:lnTo>
                  <a:pt x="1891" y="31"/>
                </a:lnTo>
                <a:lnTo>
                  <a:pt x="1962" y="33"/>
                </a:lnTo>
                <a:lnTo>
                  <a:pt x="2103" y="31"/>
                </a:lnTo>
                <a:lnTo>
                  <a:pt x="2242" y="27"/>
                </a:lnTo>
                <a:lnTo>
                  <a:pt x="2433" y="23"/>
                </a:lnTo>
                <a:lnTo>
                  <a:pt x="2503" y="18"/>
                </a:lnTo>
                <a:lnTo>
                  <a:pt x="2574" y="20"/>
                </a:lnTo>
                <a:lnTo>
                  <a:pt x="2648" y="30"/>
                </a:lnTo>
                <a:lnTo>
                  <a:pt x="2740" y="37"/>
                </a:lnTo>
                <a:lnTo>
                  <a:pt x="2878" y="33"/>
                </a:lnTo>
                <a:lnTo>
                  <a:pt x="3022" y="30"/>
                </a:lnTo>
                <a:lnTo>
                  <a:pt x="3160" y="26"/>
                </a:lnTo>
                <a:lnTo>
                  <a:pt x="3231" y="26"/>
                </a:lnTo>
                <a:lnTo>
                  <a:pt x="3305" y="38"/>
                </a:lnTo>
                <a:lnTo>
                  <a:pt x="3403" y="47"/>
                </a:lnTo>
                <a:lnTo>
                  <a:pt x="3594" y="45"/>
                </a:lnTo>
                <a:lnTo>
                  <a:pt x="3683" y="43"/>
                </a:lnTo>
                <a:lnTo>
                  <a:pt x="3752" y="41"/>
                </a:lnTo>
                <a:lnTo>
                  <a:pt x="3847" y="44"/>
                </a:lnTo>
                <a:lnTo>
                  <a:pt x="3921" y="44"/>
                </a:lnTo>
                <a:lnTo>
                  <a:pt x="3989" y="40"/>
                </a:lnTo>
                <a:lnTo>
                  <a:pt x="4084" y="40"/>
                </a:lnTo>
                <a:lnTo>
                  <a:pt x="4152" y="45"/>
                </a:lnTo>
                <a:lnTo>
                  <a:pt x="4204" y="64"/>
                </a:lnTo>
                <a:lnTo>
                  <a:pt x="4215" y="79"/>
                </a:lnTo>
                <a:lnTo>
                  <a:pt x="4193" y="98"/>
                </a:lnTo>
                <a:lnTo>
                  <a:pt x="4173" y="115"/>
                </a:lnTo>
                <a:lnTo>
                  <a:pt x="4198" y="130"/>
                </a:lnTo>
                <a:lnTo>
                  <a:pt x="4229" y="146"/>
                </a:lnTo>
                <a:lnTo>
                  <a:pt x="4211" y="163"/>
                </a:lnTo>
                <a:lnTo>
                  <a:pt x="4173" y="209"/>
                </a:lnTo>
                <a:lnTo>
                  <a:pt x="4183" y="224"/>
                </a:lnTo>
                <a:lnTo>
                  <a:pt x="4210" y="241"/>
                </a:lnTo>
                <a:lnTo>
                  <a:pt x="4214" y="258"/>
                </a:lnTo>
                <a:lnTo>
                  <a:pt x="4218" y="282"/>
                </a:lnTo>
                <a:lnTo>
                  <a:pt x="4232" y="315"/>
                </a:lnTo>
                <a:lnTo>
                  <a:pt x="4235" y="333"/>
                </a:lnTo>
                <a:lnTo>
                  <a:pt x="4286" y="348"/>
                </a:lnTo>
                <a:lnTo>
                  <a:pt x="4342" y="365"/>
                </a:lnTo>
                <a:lnTo>
                  <a:pt x="4348" y="389"/>
                </a:lnTo>
                <a:lnTo>
                  <a:pt x="4353" y="404"/>
                </a:lnTo>
                <a:lnTo>
                  <a:pt x="4335" y="428"/>
                </a:lnTo>
                <a:lnTo>
                  <a:pt x="4339" y="451"/>
                </a:lnTo>
                <a:lnTo>
                  <a:pt x="4419" y="474"/>
                </a:lnTo>
                <a:lnTo>
                  <a:pt x="4452" y="509"/>
                </a:lnTo>
                <a:lnTo>
                  <a:pt x="4433" y="532"/>
                </a:lnTo>
                <a:lnTo>
                  <a:pt x="4413" y="546"/>
                </a:lnTo>
                <a:lnTo>
                  <a:pt x="4395" y="565"/>
                </a:lnTo>
                <a:lnTo>
                  <a:pt x="4431" y="608"/>
                </a:lnTo>
                <a:lnTo>
                  <a:pt x="4443" y="645"/>
                </a:lnTo>
                <a:lnTo>
                  <a:pt x="4447" y="660"/>
                </a:lnTo>
                <a:lnTo>
                  <a:pt x="4456" y="694"/>
                </a:lnTo>
                <a:lnTo>
                  <a:pt x="4461" y="711"/>
                </a:lnTo>
                <a:lnTo>
                  <a:pt x="4473" y="756"/>
                </a:lnTo>
                <a:lnTo>
                  <a:pt x="4452" y="772"/>
                </a:lnTo>
                <a:lnTo>
                  <a:pt x="4462" y="811"/>
                </a:lnTo>
                <a:lnTo>
                  <a:pt x="4472" y="828"/>
                </a:lnTo>
                <a:lnTo>
                  <a:pt x="4498" y="851"/>
                </a:lnTo>
                <a:lnTo>
                  <a:pt x="4483" y="869"/>
                </a:lnTo>
                <a:lnTo>
                  <a:pt x="4487" y="885"/>
                </a:lnTo>
                <a:lnTo>
                  <a:pt x="4494" y="908"/>
                </a:lnTo>
                <a:lnTo>
                  <a:pt x="4526" y="953"/>
                </a:lnTo>
                <a:lnTo>
                  <a:pt x="4536" y="976"/>
                </a:lnTo>
                <a:lnTo>
                  <a:pt x="4519" y="991"/>
                </a:lnTo>
                <a:lnTo>
                  <a:pt x="4448" y="999"/>
                </a:lnTo>
                <a:lnTo>
                  <a:pt x="4380" y="1013"/>
                </a:lnTo>
                <a:lnTo>
                  <a:pt x="4279" y="1001"/>
                </a:lnTo>
                <a:lnTo>
                  <a:pt x="4203" y="989"/>
                </a:lnTo>
                <a:lnTo>
                  <a:pt x="4062" y="979"/>
                </a:lnTo>
                <a:lnTo>
                  <a:pt x="3990" y="972"/>
                </a:lnTo>
                <a:lnTo>
                  <a:pt x="3829" y="970"/>
                </a:lnTo>
                <a:lnTo>
                  <a:pt x="3762" y="974"/>
                </a:lnTo>
                <a:lnTo>
                  <a:pt x="3690" y="984"/>
                </a:lnTo>
                <a:lnTo>
                  <a:pt x="3619" y="991"/>
                </a:lnTo>
                <a:lnTo>
                  <a:pt x="3577" y="1006"/>
                </a:lnTo>
                <a:lnTo>
                  <a:pt x="3508" y="1013"/>
                </a:lnTo>
                <a:lnTo>
                  <a:pt x="3434" y="1006"/>
                </a:lnTo>
                <a:lnTo>
                  <a:pt x="3365" y="999"/>
                </a:lnTo>
                <a:lnTo>
                  <a:pt x="3266" y="1004"/>
                </a:lnTo>
                <a:lnTo>
                  <a:pt x="3180" y="1017"/>
                </a:lnTo>
                <a:lnTo>
                  <a:pt x="3109" y="1014"/>
                </a:lnTo>
                <a:lnTo>
                  <a:pt x="3010" y="1008"/>
                </a:lnTo>
                <a:lnTo>
                  <a:pt x="2821" y="994"/>
                </a:lnTo>
                <a:lnTo>
                  <a:pt x="2630" y="991"/>
                </a:lnTo>
                <a:lnTo>
                  <a:pt x="2562" y="991"/>
                </a:lnTo>
                <a:lnTo>
                  <a:pt x="2467" y="999"/>
                </a:lnTo>
                <a:lnTo>
                  <a:pt x="2299" y="996"/>
                </a:lnTo>
                <a:lnTo>
                  <a:pt x="2160" y="994"/>
                </a:lnTo>
                <a:lnTo>
                  <a:pt x="2091" y="994"/>
                </a:lnTo>
                <a:lnTo>
                  <a:pt x="1949" y="991"/>
                </a:lnTo>
                <a:lnTo>
                  <a:pt x="1853" y="993"/>
                </a:lnTo>
                <a:lnTo>
                  <a:pt x="1782" y="991"/>
                </a:lnTo>
                <a:lnTo>
                  <a:pt x="1642" y="990"/>
                </a:lnTo>
                <a:lnTo>
                  <a:pt x="1570" y="979"/>
                </a:lnTo>
                <a:lnTo>
                  <a:pt x="1496" y="977"/>
                </a:lnTo>
                <a:lnTo>
                  <a:pt x="1432" y="987"/>
                </a:lnTo>
                <a:lnTo>
                  <a:pt x="1334" y="984"/>
                </a:lnTo>
                <a:lnTo>
                  <a:pt x="1284" y="965"/>
                </a:lnTo>
                <a:lnTo>
                  <a:pt x="1214" y="974"/>
                </a:lnTo>
                <a:lnTo>
                  <a:pt x="1051" y="976"/>
                </a:lnTo>
                <a:lnTo>
                  <a:pt x="907" y="976"/>
                </a:lnTo>
                <a:lnTo>
                  <a:pt x="770" y="982"/>
                </a:lnTo>
                <a:lnTo>
                  <a:pt x="679" y="973"/>
                </a:lnTo>
                <a:lnTo>
                  <a:pt x="483" y="966"/>
                </a:lnTo>
                <a:lnTo>
                  <a:pt x="414" y="970"/>
                </a:lnTo>
                <a:lnTo>
                  <a:pt x="350" y="987"/>
                </a:lnTo>
                <a:lnTo>
                  <a:pt x="297" y="969"/>
                </a:lnTo>
                <a:lnTo>
                  <a:pt x="268" y="953"/>
                </a:lnTo>
                <a:lnTo>
                  <a:pt x="262" y="938"/>
                </a:lnTo>
                <a:lnTo>
                  <a:pt x="285" y="922"/>
                </a:lnTo>
                <a:lnTo>
                  <a:pt x="349" y="904"/>
                </a:lnTo>
                <a:lnTo>
                  <a:pt x="368" y="888"/>
                </a:lnTo>
                <a:lnTo>
                  <a:pt x="364" y="872"/>
                </a:lnTo>
                <a:lnTo>
                  <a:pt x="335" y="854"/>
                </a:lnTo>
                <a:lnTo>
                  <a:pt x="332" y="831"/>
                </a:lnTo>
                <a:lnTo>
                  <a:pt x="324" y="814"/>
                </a:lnTo>
                <a:lnTo>
                  <a:pt x="320" y="799"/>
                </a:lnTo>
                <a:lnTo>
                  <a:pt x="314" y="780"/>
                </a:lnTo>
                <a:lnTo>
                  <a:pt x="286" y="763"/>
                </a:lnTo>
                <a:lnTo>
                  <a:pt x="280" y="739"/>
                </a:lnTo>
                <a:lnTo>
                  <a:pt x="299" y="725"/>
                </a:lnTo>
                <a:lnTo>
                  <a:pt x="289" y="701"/>
                </a:lnTo>
                <a:lnTo>
                  <a:pt x="135" y="657"/>
                </a:lnTo>
                <a:lnTo>
                  <a:pt x="112" y="641"/>
                </a:lnTo>
                <a:lnTo>
                  <a:pt x="103" y="623"/>
                </a:lnTo>
                <a:lnTo>
                  <a:pt x="123" y="606"/>
                </a:lnTo>
                <a:lnTo>
                  <a:pt x="165" y="587"/>
                </a:lnTo>
                <a:lnTo>
                  <a:pt x="158" y="566"/>
                </a:lnTo>
                <a:lnTo>
                  <a:pt x="149" y="543"/>
                </a:lnTo>
                <a:lnTo>
                  <a:pt x="144" y="522"/>
                </a:lnTo>
                <a:lnTo>
                  <a:pt x="116" y="496"/>
                </a:lnTo>
                <a:lnTo>
                  <a:pt x="109" y="477"/>
                </a:lnTo>
                <a:lnTo>
                  <a:pt x="78" y="452"/>
                </a:lnTo>
                <a:lnTo>
                  <a:pt x="74" y="435"/>
                </a:lnTo>
                <a:lnTo>
                  <a:pt x="85" y="396"/>
                </a:lnTo>
                <a:lnTo>
                  <a:pt x="106" y="380"/>
                </a:lnTo>
                <a:lnTo>
                  <a:pt x="100" y="365"/>
                </a:lnTo>
                <a:lnTo>
                  <a:pt x="98" y="345"/>
                </a:lnTo>
                <a:lnTo>
                  <a:pt x="93" y="328"/>
                </a:lnTo>
                <a:lnTo>
                  <a:pt x="87" y="306"/>
                </a:lnTo>
                <a:lnTo>
                  <a:pt x="47" y="261"/>
                </a:lnTo>
                <a:lnTo>
                  <a:pt x="20" y="238"/>
                </a:lnTo>
                <a:lnTo>
                  <a:pt x="13" y="221"/>
                </a:lnTo>
                <a:lnTo>
                  <a:pt x="8" y="199"/>
                </a:lnTo>
                <a:lnTo>
                  <a:pt x="32" y="182"/>
                </a:lnTo>
                <a:lnTo>
                  <a:pt x="21" y="159"/>
                </a:lnTo>
                <a:lnTo>
                  <a:pt x="10" y="136"/>
                </a:lnTo>
                <a:lnTo>
                  <a:pt x="10" y="122"/>
                </a:lnTo>
                <a:lnTo>
                  <a:pt x="0" y="98"/>
                </a:lnTo>
                <a:lnTo>
                  <a:pt x="22" y="77"/>
                </a:lnTo>
                <a:lnTo>
                  <a:pt x="15" y="58"/>
                </a:lnTo>
                <a:lnTo>
                  <a:pt x="28" y="35"/>
                </a:lnTo>
                <a:lnTo>
                  <a:pt x="7" y="17"/>
                </a:lnTo>
                <a:lnTo>
                  <a:pt x="71" y="0"/>
                </a:lnTo>
              </a:path>
            </a:pathLst>
          </a:custGeom>
          <a:gradFill flip="none" rotWithShape="1">
            <a:gsLst>
              <a:gs pos="75000">
                <a:srgbClr val="FFDB69">
                  <a:tint val="66000"/>
                  <a:satMod val="160000"/>
                  <a:alpha val="58000"/>
                </a:srgbClr>
              </a:gs>
              <a:gs pos="61000">
                <a:srgbClr val="FFDB69">
                  <a:tint val="44500"/>
                  <a:satMod val="160000"/>
                  <a:alpha val="73000"/>
                </a:srgbClr>
              </a:gs>
              <a:gs pos="100000">
                <a:srgbClr val="FFDB69">
                  <a:tint val="23500"/>
                  <a:satMod val="160000"/>
                  <a:alpha val="80000"/>
                </a:srgbClr>
              </a:gs>
            </a:gsLst>
            <a:lin ang="0" scaled="1"/>
            <a:tileRect/>
          </a:gradFill>
          <a:ln w="9525" cap="rnd" cmpd="sng">
            <a:noFill/>
            <a:prstDash val="solid"/>
            <a:round/>
            <a:headEnd type="none" w="med" len="med"/>
            <a:tailEnd type="none" w="med" len="med"/>
          </a:ln>
          <a:effectLst>
            <a:outerShdw blurRad="50800" dist="38100" dir="2700000" algn="tl" rotWithShape="0">
              <a:prstClr val="black">
                <a:alpha val="40000"/>
              </a:prstClr>
            </a:outerShdw>
          </a:effectLst>
        </p:spPr>
        <p:txBody>
          <a:bodyPr lIns="360000" tIns="72000" rIns="324000" bIns="72000" anchor="ctr"/>
          <a:lstStyle/>
          <a:p>
            <a:pPr marL="171450" marR="0" lvl="0" indent="-171450" algn="l" defTabSz="787481" rtl="0" eaLnBrk="1" fontAlgn="auto" latinLnBrk="0" hangingPunct="1">
              <a:lnSpc>
                <a:spcPct val="114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During the last fiscal year, the Bangladesh Power Development Board (BPDB) had to pay almost Tk9,000 crore to 74 private companies as capacity payment. In turn, as compensation, the government had to provide subsidy to the power board.</a:t>
            </a:r>
          </a:p>
          <a:p>
            <a:pPr marL="171450" marR="0" lvl="0" indent="-171450" algn="l" defTabSz="787481" rtl="0" eaLnBrk="1" fontAlgn="auto" latinLnBrk="0" hangingPunct="1">
              <a:lnSpc>
                <a:spcPct val="114000"/>
              </a:lnSpc>
              <a:spcBef>
                <a:spcPts val="0"/>
              </a:spcBef>
              <a:spcAft>
                <a:spcPts val="600"/>
              </a:spcAft>
              <a:buClrTx/>
              <a:buSzTx/>
              <a:buFont typeface="Arial" panose="020B0604020202020204" pitchFamily="34" charset="0"/>
              <a:buChar char="•"/>
              <a:tabLst/>
              <a:defRPr/>
            </a:pPr>
            <a:r>
              <a:rPr kumimoji="0" lang="en-US" sz="1000" b="1" i="1" u="none" strike="noStrike" kern="1200" cap="none" spc="0" normalizeH="0" baseline="0" noProof="0" dirty="0">
                <a:ln>
                  <a:noFill/>
                </a:ln>
                <a:solidFill>
                  <a:prstClr val="black"/>
                </a:solidFill>
                <a:effectLst/>
                <a:uLnTx/>
                <a:uFillTx/>
                <a:latin typeface="Verdana"/>
                <a:ea typeface="+mn-ea"/>
                <a:cs typeface="+mn-cs"/>
              </a:rPr>
              <a:t>Subsequently, the power board had to suspend payments to private power producers for more than five months</a:t>
            </a:r>
          </a:p>
          <a:p>
            <a:pPr marL="171450" marR="0" lvl="0" indent="-171450" algn="l" defTabSz="787481" rtl="0" eaLnBrk="1" fontAlgn="auto" latinLnBrk="0" hangingPunct="1">
              <a:lnSpc>
                <a:spcPct val="114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"After getting budgetary support from the government, the dues have been cleared," Selim Abed, member (finance) of the BPDB</a:t>
            </a:r>
          </a:p>
          <a:p>
            <a:pPr marL="0" marR="0" lvl="0" indent="0" algn="r" defTabSz="787481" rtl="0" eaLnBrk="1" fontAlgn="auto" latinLnBrk="0" hangingPunct="1">
              <a:lnSpc>
                <a:spcPct val="114000"/>
              </a:lnSpc>
              <a:spcBef>
                <a:spcPts val="0"/>
              </a:spcBef>
              <a:spcAft>
                <a:spcPts val="60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Verdana"/>
                <a:ea typeface="+mn-ea"/>
                <a:cs typeface="+mn-cs"/>
              </a:rPr>
              <a:t>- Selim Abed, Member (Finance),BPDB, May 2020</a:t>
            </a:r>
          </a:p>
        </p:txBody>
      </p:sp>
      <p:sp>
        <p:nvSpPr>
          <p:cNvPr id="21" name="Freeform 3"/>
          <p:cNvSpPr>
            <a:spLocks/>
          </p:cNvSpPr>
          <p:nvPr/>
        </p:nvSpPr>
        <p:spPr bwMode="gray">
          <a:xfrm>
            <a:off x="449262" y="5308306"/>
            <a:ext cx="4735625" cy="1778294"/>
          </a:xfrm>
          <a:custGeom>
            <a:avLst/>
            <a:gdLst/>
            <a:ahLst/>
            <a:cxnLst>
              <a:cxn ang="0">
                <a:pos x="222" y="20"/>
              </a:cxn>
              <a:cxn ang="0">
                <a:pos x="476" y="6"/>
              </a:cxn>
              <a:cxn ang="0">
                <a:pos x="671" y="35"/>
              </a:cxn>
              <a:cxn ang="0">
                <a:pos x="901" y="27"/>
              </a:cxn>
              <a:cxn ang="0">
                <a:pos x="1105" y="7"/>
              </a:cxn>
              <a:cxn ang="0">
                <a:pos x="1351" y="13"/>
              </a:cxn>
              <a:cxn ang="0">
                <a:pos x="1750" y="16"/>
              </a:cxn>
              <a:cxn ang="0">
                <a:pos x="1962" y="33"/>
              </a:cxn>
              <a:cxn ang="0">
                <a:pos x="2433" y="23"/>
              </a:cxn>
              <a:cxn ang="0">
                <a:pos x="2648" y="30"/>
              </a:cxn>
              <a:cxn ang="0">
                <a:pos x="3022" y="30"/>
              </a:cxn>
              <a:cxn ang="0">
                <a:pos x="3305" y="38"/>
              </a:cxn>
              <a:cxn ang="0">
                <a:pos x="3683" y="43"/>
              </a:cxn>
              <a:cxn ang="0">
                <a:pos x="3921" y="44"/>
              </a:cxn>
              <a:cxn ang="0">
                <a:pos x="4152" y="45"/>
              </a:cxn>
              <a:cxn ang="0">
                <a:pos x="4193" y="98"/>
              </a:cxn>
              <a:cxn ang="0">
                <a:pos x="4229" y="146"/>
              </a:cxn>
              <a:cxn ang="0">
                <a:pos x="4183" y="224"/>
              </a:cxn>
              <a:cxn ang="0">
                <a:pos x="4218" y="282"/>
              </a:cxn>
              <a:cxn ang="0">
                <a:pos x="4286" y="348"/>
              </a:cxn>
              <a:cxn ang="0">
                <a:pos x="4353" y="404"/>
              </a:cxn>
              <a:cxn ang="0">
                <a:pos x="4419" y="474"/>
              </a:cxn>
              <a:cxn ang="0">
                <a:pos x="4413" y="546"/>
              </a:cxn>
              <a:cxn ang="0">
                <a:pos x="4443" y="645"/>
              </a:cxn>
              <a:cxn ang="0">
                <a:pos x="4461" y="711"/>
              </a:cxn>
              <a:cxn ang="0">
                <a:pos x="4462" y="811"/>
              </a:cxn>
              <a:cxn ang="0">
                <a:pos x="4483" y="869"/>
              </a:cxn>
              <a:cxn ang="0">
                <a:pos x="4526" y="953"/>
              </a:cxn>
              <a:cxn ang="0">
                <a:pos x="4448" y="999"/>
              </a:cxn>
              <a:cxn ang="0">
                <a:pos x="4203" y="989"/>
              </a:cxn>
              <a:cxn ang="0">
                <a:pos x="3829" y="970"/>
              </a:cxn>
              <a:cxn ang="0">
                <a:pos x="3619" y="991"/>
              </a:cxn>
              <a:cxn ang="0">
                <a:pos x="3434" y="1006"/>
              </a:cxn>
              <a:cxn ang="0">
                <a:pos x="3180" y="1017"/>
              </a:cxn>
              <a:cxn ang="0">
                <a:pos x="2821" y="994"/>
              </a:cxn>
              <a:cxn ang="0">
                <a:pos x="2467" y="999"/>
              </a:cxn>
              <a:cxn ang="0">
                <a:pos x="2091" y="994"/>
              </a:cxn>
              <a:cxn ang="0">
                <a:pos x="1782" y="991"/>
              </a:cxn>
              <a:cxn ang="0">
                <a:pos x="1496" y="977"/>
              </a:cxn>
              <a:cxn ang="0">
                <a:pos x="1284" y="965"/>
              </a:cxn>
              <a:cxn ang="0">
                <a:pos x="907" y="976"/>
              </a:cxn>
              <a:cxn ang="0">
                <a:pos x="483" y="966"/>
              </a:cxn>
              <a:cxn ang="0">
                <a:pos x="297" y="969"/>
              </a:cxn>
              <a:cxn ang="0">
                <a:pos x="285" y="922"/>
              </a:cxn>
              <a:cxn ang="0">
                <a:pos x="364" y="872"/>
              </a:cxn>
              <a:cxn ang="0">
                <a:pos x="324" y="814"/>
              </a:cxn>
              <a:cxn ang="0">
                <a:pos x="286" y="763"/>
              </a:cxn>
              <a:cxn ang="0">
                <a:pos x="289" y="701"/>
              </a:cxn>
              <a:cxn ang="0">
                <a:pos x="103" y="623"/>
              </a:cxn>
              <a:cxn ang="0">
                <a:pos x="158" y="566"/>
              </a:cxn>
              <a:cxn ang="0">
                <a:pos x="116" y="496"/>
              </a:cxn>
              <a:cxn ang="0">
                <a:pos x="74" y="435"/>
              </a:cxn>
              <a:cxn ang="0">
                <a:pos x="100" y="365"/>
              </a:cxn>
              <a:cxn ang="0">
                <a:pos x="87" y="306"/>
              </a:cxn>
              <a:cxn ang="0">
                <a:pos x="13" y="221"/>
              </a:cxn>
              <a:cxn ang="0">
                <a:pos x="21" y="159"/>
              </a:cxn>
              <a:cxn ang="0">
                <a:pos x="0" y="98"/>
              </a:cxn>
              <a:cxn ang="0">
                <a:pos x="28" y="35"/>
              </a:cxn>
            </a:cxnLst>
            <a:rect l="0" t="0" r="r" b="b"/>
            <a:pathLst>
              <a:path w="4537" h="1018">
                <a:moveTo>
                  <a:pt x="71" y="0"/>
                </a:moveTo>
                <a:lnTo>
                  <a:pt x="147" y="13"/>
                </a:lnTo>
                <a:lnTo>
                  <a:pt x="222" y="20"/>
                </a:lnTo>
                <a:lnTo>
                  <a:pt x="315" y="17"/>
                </a:lnTo>
                <a:lnTo>
                  <a:pt x="380" y="6"/>
                </a:lnTo>
                <a:lnTo>
                  <a:pt x="476" y="6"/>
                </a:lnTo>
                <a:lnTo>
                  <a:pt x="547" y="11"/>
                </a:lnTo>
                <a:lnTo>
                  <a:pt x="597" y="30"/>
                </a:lnTo>
                <a:lnTo>
                  <a:pt x="671" y="35"/>
                </a:lnTo>
                <a:lnTo>
                  <a:pt x="760" y="31"/>
                </a:lnTo>
                <a:lnTo>
                  <a:pt x="830" y="26"/>
                </a:lnTo>
                <a:lnTo>
                  <a:pt x="901" y="27"/>
                </a:lnTo>
                <a:lnTo>
                  <a:pt x="996" y="21"/>
                </a:lnTo>
                <a:lnTo>
                  <a:pt x="1034" y="4"/>
                </a:lnTo>
                <a:lnTo>
                  <a:pt x="1105" y="7"/>
                </a:lnTo>
                <a:lnTo>
                  <a:pt x="1203" y="7"/>
                </a:lnTo>
                <a:lnTo>
                  <a:pt x="1274" y="6"/>
                </a:lnTo>
                <a:lnTo>
                  <a:pt x="1351" y="13"/>
                </a:lnTo>
                <a:lnTo>
                  <a:pt x="1511" y="14"/>
                </a:lnTo>
                <a:lnTo>
                  <a:pt x="1651" y="16"/>
                </a:lnTo>
                <a:lnTo>
                  <a:pt x="1750" y="16"/>
                </a:lnTo>
                <a:lnTo>
                  <a:pt x="1818" y="16"/>
                </a:lnTo>
                <a:lnTo>
                  <a:pt x="1891" y="31"/>
                </a:lnTo>
                <a:lnTo>
                  <a:pt x="1962" y="33"/>
                </a:lnTo>
                <a:lnTo>
                  <a:pt x="2103" y="31"/>
                </a:lnTo>
                <a:lnTo>
                  <a:pt x="2242" y="27"/>
                </a:lnTo>
                <a:lnTo>
                  <a:pt x="2433" y="23"/>
                </a:lnTo>
                <a:lnTo>
                  <a:pt x="2503" y="18"/>
                </a:lnTo>
                <a:lnTo>
                  <a:pt x="2574" y="20"/>
                </a:lnTo>
                <a:lnTo>
                  <a:pt x="2648" y="30"/>
                </a:lnTo>
                <a:lnTo>
                  <a:pt x="2740" y="37"/>
                </a:lnTo>
                <a:lnTo>
                  <a:pt x="2878" y="33"/>
                </a:lnTo>
                <a:lnTo>
                  <a:pt x="3022" y="30"/>
                </a:lnTo>
                <a:lnTo>
                  <a:pt x="3160" y="26"/>
                </a:lnTo>
                <a:lnTo>
                  <a:pt x="3231" y="26"/>
                </a:lnTo>
                <a:lnTo>
                  <a:pt x="3305" y="38"/>
                </a:lnTo>
                <a:lnTo>
                  <a:pt x="3403" y="47"/>
                </a:lnTo>
                <a:lnTo>
                  <a:pt x="3594" y="45"/>
                </a:lnTo>
                <a:lnTo>
                  <a:pt x="3683" y="43"/>
                </a:lnTo>
                <a:lnTo>
                  <a:pt x="3752" y="41"/>
                </a:lnTo>
                <a:lnTo>
                  <a:pt x="3847" y="44"/>
                </a:lnTo>
                <a:lnTo>
                  <a:pt x="3921" y="44"/>
                </a:lnTo>
                <a:lnTo>
                  <a:pt x="3989" y="40"/>
                </a:lnTo>
                <a:lnTo>
                  <a:pt x="4084" y="40"/>
                </a:lnTo>
                <a:lnTo>
                  <a:pt x="4152" y="45"/>
                </a:lnTo>
                <a:lnTo>
                  <a:pt x="4204" y="64"/>
                </a:lnTo>
                <a:lnTo>
                  <a:pt x="4215" y="79"/>
                </a:lnTo>
                <a:lnTo>
                  <a:pt x="4193" y="98"/>
                </a:lnTo>
                <a:lnTo>
                  <a:pt x="4173" y="115"/>
                </a:lnTo>
                <a:lnTo>
                  <a:pt x="4198" y="130"/>
                </a:lnTo>
                <a:lnTo>
                  <a:pt x="4229" y="146"/>
                </a:lnTo>
                <a:lnTo>
                  <a:pt x="4211" y="163"/>
                </a:lnTo>
                <a:lnTo>
                  <a:pt x="4173" y="209"/>
                </a:lnTo>
                <a:lnTo>
                  <a:pt x="4183" y="224"/>
                </a:lnTo>
                <a:lnTo>
                  <a:pt x="4210" y="241"/>
                </a:lnTo>
                <a:lnTo>
                  <a:pt x="4214" y="258"/>
                </a:lnTo>
                <a:lnTo>
                  <a:pt x="4218" y="282"/>
                </a:lnTo>
                <a:lnTo>
                  <a:pt x="4232" y="315"/>
                </a:lnTo>
                <a:lnTo>
                  <a:pt x="4235" y="333"/>
                </a:lnTo>
                <a:lnTo>
                  <a:pt x="4286" y="348"/>
                </a:lnTo>
                <a:lnTo>
                  <a:pt x="4342" y="365"/>
                </a:lnTo>
                <a:lnTo>
                  <a:pt x="4348" y="389"/>
                </a:lnTo>
                <a:lnTo>
                  <a:pt x="4353" y="404"/>
                </a:lnTo>
                <a:lnTo>
                  <a:pt x="4335" y="428"/>
                </a:lnTo>
                <a:lnTo>
                  <a:pt x="4339" y="451"/>
                </a:lnTo>
                <a:lnTo>
                  <a:pt x="4419" y="474"/>
                </a:lnTo>
                <a:lnTo>
                  <a:pt x="4452" y="509"/>
                </a:lnTo>
                <a:lnTo>
                  <a:pt x="4433" y="532"/>
                </a:lnTo>
                <a:lnTo>
                  <a:pt x="4413" y="546"/>
                </a:lnTo>
                <a:lnTo>
                  <a:pt x="4395" y="565"/>
                </a:lnTo>
                <a:lnTo>
                  <a:pt x="4431" y="608"/>
                </a:lnTo>
                <a:lnTo>
                  <a:pt x="4443" y="645"/>
                </a:lnTo>
                <a:lnTo>
                  <a:pt x="4447" y="660"/>
                </a:lnTo>
                <a:lnTo>
                  <a:pt x="4456" y="694"/>
                </a:lnTo>
                <a:lnTo>
                  <a:pt x="4461" y="711"/>
                </a:lnTo>
                <a:lnTo>
                  <a:pt x="4473" y="756"/>
                </a:lnTo>
                <a:lnTo>
                  <a:pt x="4452" y="772"/>
                </a:lnTo>
                <a:lnTo>
                  <a:pt x="4462" y="811"/>
                </a:lnTo>
                <a:lnTo>
                  <a:pt x="4472" y="828"/>
                </a:lnTo>
                <a:lnTo>
                  <a:pt x="4498" y="851"/>
                </a:lnTo>
                <a:lnTo>
                  <a:pt x="4483" y="869"/>
                </a:lnTo>
                <a:lnTo>
                  <a:pt x="4487" y="885"/>
                </a:lnTo>
                <a:lnTo>
                  <a:pt x="4494" y="908"/>
                </a:lnTo>
                <a:lnTo>
                  <a:pt x="4526" y="953"/>
                </a:lnTo>
                <a:lnTo>
                  <a:pt x="4536" y="976"/>
                </a:lnTo>
                <a:lnTo>
                  <a:pt x="4519" y="991"/>
                </a:lnTo>
                <a:lnTo>
                  <a:pt x="4448" y="999"/>
                </a:lnTo>
                <a:lnTo>
                  <a:pt x="4380" y="1013"/>
                </a:lnTo>
                <a:lnTo>
                  <a:pt x="4279" y="1001"/>
                </a:lnTo>
                <a:lnTo>
                  <a:pt x="4203" y="989"/>
                </a:lnTo>
                <a:lnTo>
                  <a:pt x="4062" y="979"/>
                </a:lnTo>
                <a:lnTo>
                  <a:pt x="3990" y="972"/>
                </a:lnTo>
                <a:lnTo>
                  <a:pt x="3829" y="970"/>
                </a:lnTo>
                <a:lnTo>
                  <a:pt x="3762" y="974"/>
                </a:lnTo>
                <a:lnTo>
                  <a:pt x="3690" y="984"/>
                </a:lnTo>
                <a:lnTo>
                  <a:pt x="3619" y="991"/>
                </a:lnTo>
                <a:lnTo>
                  <a:pt x="3577" y="1006"/>
                </a:lnTo>
                <a:lnTo>
                  <a:pt x="3508" y="1013"/>
                </a:lnTo>
                <a:lnTo>
                  <a:pt x="3434" y="1006"/>
                </a:lnTo>
                <a:lnTo>
                  <a:pt x="3365" y="999"/>
                </a:lnTo>
                <a:lnTo>
                  <a:pt x="3266" y="1004"/>
                </a:lnTo>
                <a:lnTo>
                  <a:pt x="3180" y="1017"/>
                </a:lnTo>
                <a:lnTo>
                  <a:pt x="3109" y="1014"/>
                </a:lnTo>
                <a:lnTo>
                  <a:pt x="3010" y="1008"/>
                </a:lnTo>
                <a:lnTo>
                  <a:pt x="2821" y="994"/>
                </a:lnTo>
                <a:lnTo>
                  <a:pt x="2630" y="991"/>
                </a:lnTo>
                <a:lnTo>
                  <a:pt x="2562" y="991"/>
                </a:lnTo>
                <a:lnTo>
                  <a:pt x="2467" y="999"/>
                </a:lnTo>
                <a:lnTo>
                  <a:pt x="2299" y="996"/>
                </a:lnTo>
                <a:lnTo>
                  <a:pt x="2160" y="994"/>
                </a:lnTo>
                <a:lnTo>
                  <a:pt x="2091" y="994"/>
                </a:lnTo>
                <a:lnTo>
                  <a:pt x="1949" y="991"/>
                </a:lnTo>
                <a:lnTo>
                  <a:pt x="1853" y="993"/>
                </a:lnTo>
                <a:lnTo>
                  <a:pt x="1782" y="991"/>
                </a:lnTo>
                <a:lnTo>
                  <a:pt x="1642" y="990"/>
                </a:lnTo>
                <a:lnTo>
                  <a:pt x="1570" y="979"/>
                </a:lnTo>
                <a:lnTo>
                  <a:pt x="1496" y="977"/>
                </a:lnTo>
                <a:lnTo>
                  <a:pt x="1432" y="987"/>
                </a:lnTo>
                <a:lnTo>
                  <a:pt x="1334" y="984"/>
                </a:lnTo>
                <a:lnTo>
                  <a:pt x="1284" y="965"/>
                </a:lnTo>
                <a:lnTo>
                  <a:pt x="1214" y="974"/>
                </a:lnTo>
                <a:lnTo>
                  <a:pt x="1051" y="976"/>
                </a:lnTo>
                <a:lnTo>
                  <a:pt x="907" y="976"/>
                </a:lnTo>
                <a:lnTo>
                  <a:pt x="770" y="982"/>
                </a:lnTo>
                <a:lnTo>
                  <a:pt x="679" y="973"/>
                </a:lnTo>
                <a:lnTo>
                  <a:pt x="483" y="966"/>
                </a:lnTo>
                <a:lnTo>
                  <a:pt x="414" y="970"/>
                </a:lnTo>
                <a:lnTo>
                  <a:pt x="350" y="987"/>
                </a:lnTo>
                <a:lnTo>
                  <a:pt x="297" y="969"/>
                </a:lnTo>
                <a:lnTo>
                  <a:pt x="268" y="953"/>
                </a:lnTo>
                <a:lnTo>
                  <a:pt x="262" y="938"/>
                </a:lnTo>
                <a:lnTo>
                  <a:pt x="285" y="922"/>
                </a:lnTo>
                <a:lnTo>
                  <a:pt x="349" y="904"/>
                </a:lnTo>
                <a:lnTo>
                  <a:pt x="368" y="888"/>
                </a:lnTo>
                <a:lnTo>
                  <a:pt x="364" y="872"/>
                </a:lnTo>
                <a:lnTo>
                  <a:pt x="335" y="854"/>
                </a:lnTo>
                <a:lnTo>
                  <a:pt x="332" y="831"/>
                </a:lnTo>
                <a:lnTo>
                  <a:pt x="324" y="814"/>
                </a:lnTo>
                <a:lnTo>
                  <a:pt x="320" y="799"/>
                </a:lnTo>
                <a:lnTo>
                  <a:pt x="314" y="780"/>
                </a:lnTo>
                <a:lnTo>
                  <a:pt x="286" y="763"/>
                </a:lnTo>
                <a:lnTo>
                  <a:pt x="280" y="739"/>
                </a:lnTo>
                <a:lnTo>
                  <a:pt x="299" y="725"/>
                </a:lnTo>
                <a:lnTo>
                  <a:pt x="289" y="701"/>
                </a:lnTo>
                <a:lnTo>
                  <a:pt x="135" y="657"/>
                </a:lnTo>
                <a:lnTo>
                  <a:pt x="112" y="641"/>
                </a:lnTo>
                <a:lnTo>
                  <a:pt x="103" y="623"/>
                </a:lnTo>
                <a:lnTo>
                  <a:pt x="123" y="606"/>
                </a:lnTo>
                <a:lnTo>
                  <a:pt x="165" y="587"/>
                </a:lnTo>
                <a:lnTo>
                  <a:pt x="158" y="566"/>
                </a:lnTo>
                <a:lnTo>
                  <a:pt x="149" y="543"/>
                </a:lnTo>
                <a:lnTo>
                  <a:pt x="144" y="522"/>
                </a:lnTo>
                <a:lnTo>
                  <a:pt x="116" y="496"/>
                </a:lnTo>
                <a:lnTo>
                  <a:pt x="109" y="477"/>
                </a:lnTo>
                <a:lnTo>
                  <a:pt x="78" y="452"/>
                </a:lnTo>
                <a:lnTo>
                  <a:pt x="74" y="435"/>
                </a:lnTo>
                <a:lnTo>
                  <a:pt x="85" y="396"/>
                </a:lnTo>
                <a:lnTo>
                  <a:pt x="106" y="380"/>
                </a:lnTo>
                <a:lnTo>
                  <a:pt x="100" y="365"/>
                </a:lnTo>
                <a:lnTo>
                  <a:pt x="98" y="345"/>
                </a:lnTo>
                <a:lnTo>
                  <a:pt x="93" y="328"/>
                </a:lnTo>
                <a:lnTo>
                  <a:pt x="87" y="306"/>
                </a:lnTo>
                <a:lnTo>
                  <a:pt x="47" y="261"/>
                </a:lnTo>
                <a:lnTo>
                  <a:pt x="20" y="238"/>
                </a:lnTo>
                <a:lnTo>
                  <a:pt x="13" y="221"/>
                </a:lnTo>
                <a:lnTo>
                  <a:pt x="8" y="199"/>
                </a:lnTo>
                <a:lnTo>
                  <a:pt x="32" y="182"/>
                </a:lnTo>
                <a:lnTo>
                  <a:pt x="21" y="159"/>
                </a:lnTo>
                <a:lnTo>
                  <a:pt x="10" y="136"/>
                </a:lnTo>
                <a:lnTo>
                  <a:pt x="10" y="122"/>
                </a:lnTo>
                <a:lnTo>
                  <a:pt x="0" y="98"/>
                </a:lnTo>
                <a:lnTo>
                  <a:pt x="22" y="77"/>
                </a:lnTo>
                <a:lnTo>
                  <a:pt x="15" y="58"/>
                </a:lnTo>
                <a:lnTo>
                  <a:pt x="28" y="35"/>
                </a:lnTo>
                <a:lnTo>
                  <a:pt x="7" y="17"/>
                </a:lnTo>
                <a:lnTo>
                  <a:pt x="71" y="0"/>
                </a:lnTo>
              </a:path>
            </a:pathLst>
          </a:custGeom>
          <a:gradFill flip="none" rotWithShape="1">
            <a:gsLst>
              <a:gs pos="75000">
                <a:srgbClr val="FFDB69">
                  <a:tint val="66000"/>
                  <a:satMod val="160000"/>
                  <a:alpha val="58000"/>
                </a:srgbClr>
              </a:gs>
              <a:gs pos="61000">
                <a:srgbClr val="FFDB69">
                  <a:tint val="44500"/>
                  <a:satMod val="160000"/>
                  <a:alpha val="73000"/>
                </a:srgbClr>
              </a:gs>
              <a:gs pos="100000">
                <a:srgbClr val="FFDB69">
                  <a:tint val="23500"/>
                  <a:satMod val="160000"/>
                  <a:alpha val="80000"/>
                </a:srgbClr>
              </a:gs>
            </a:gsLst>
            <a:lin ang="0" scaled="1"/>
            <a:tileRect/>
          </a:gradFill>
          <a:ln w="9525" cap="rnd" cmpd="sng">
            <a:noFill/>
            <a:prstDash val="solid"/>
            <a:round/>
            <a:headEnd type="none" w="med" len="med"/>
            <a:tailEnd type="none" w="med" len="med"/>
          </a:ln>
          <a:effectLst>
            <a:outerShdw blurRad="50800" dist="38100" dir="2700000" algn="tl" rotWithShape="0">
              <a:prstClr val="black">
                <a:alpha val="40000"/>
              </a:prstClr>
            </a:outerShdw>
          </a:effectLst>
        </p:spPr>
        <p:txBody>
          <a:bodyPr lIns="360000" tIns="72000" rIns="324000" bIns="72000" anchor="ctr"/>
          <a:lstStyle/>
          <a:p>
            <a:pPr marL="171450" marR="0" lvl="0" indent="-171450" algn="l" defTabSz="787481" rtl="0" eaLnBrk="1" fontAlgn="auto" latinLnBrk="0" hangingPunct="1">
              <a:lnSpc>
                <a:spcPct val="114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We are worried that private investments across the country have not grown in line with power generation," said an official of a private power company. </a:t>
            </a:r>
          </a:p>
          <a:p>
            <a:pPr marL="171450" marR="0" lvl="0" indent="-171450" algn="l" defTabSz="787481" rtl="0" eaLnBrk="1" fontAlgn="auto" latinLnBrk="0" hangingPunct="1">
              <a:lnSpc>
                <a:spcPct val="114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"This is already affecting the power board and if things go on like this</a:t>
            </a:r>
            <a:r>
              <a:rPr kumimoji="0" lang="en-US" sz="1000" b="1" i="0" u="none" strike="noStrike" kern="1200" cap="none" spc="0" normalizeH="0" baseline="0" noProof="0" dirty="0">
                <a:ln>
                  <a:noFill/>
                </a:ln>
                <a:solidFill>
                  <a:prstClr val="black"/>
                </a:solidFill>
                <a:effectLst/>
                <a:uLnTx/>
                <a:uFillTx/>
                <a:latin typeface="Verdana"/>
                <a:ea typeface="+mn-ea"/>
                <a:cs typeface="+mn-cs"/>
              </a:rPr>
              <a:t>, the government will find itself in a big financial mess”</a:t>
            </a:r>
          </a:p>
          <a:p>
            <a:pPr marL="0" marR="0" lvl="0" indent="0" algn="r" defTabSz="787481" rtl="0" eaLnBrk="1" fontAlgn="auto" latinLnBrk="0" hangingPunct="1">
              <a:lnSpc>
                <a:spcPct val="114000"/>
              </a:lnSpc>
              <a:spcBef>
                <a:spcPts val="0"/>
              </a:spcBef>
              <a:spcAft>
                <a:spcPts val="60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Verdana"/>
                <a:ea typeface="+mn-ea"/>
                <a:cs typeface="+mn-cs"/>
              </a:rPr>
              <a:t>- Official of Private Power Company, May 2020</a:t>
            </a:r>
          </a:p>
        </p:txBody>
      </p:sp>
      <p:sp>
        <p:nvSpPr>
          <p:cNvPr id="26" name="Freeform 3"/>
          <p:cNvSpPr>
            <a:spLocks/>
          </p:cNvSpPr>
          <p:nvPr/>
        </p:nvSpPr>
        <p:spPr bwMode="gray">
          <a:xfrm>
            <a:off x="5522718" y="5413794"/>
            <a:ext cx="4735625" cy="1829277"/>
          </a:xfrm>
          <a:custGeom>
            <a:avLst/>
            <a:gdLst/>
            <a:ahLst/>
            <a:cxnLst>
              <a:cxn ang="0">
                <a:pos x="222" y="20"/>
              </a:cxn>
              <a:cxn ang="0">
                <a:pos x="476" y="6"/>
              </a:cxn>
              <a:cxn ang="0">
                <a:pos x="671" y="35"/>
              </a:cxn>
              <a:cxn ang="0">
                <a:pos x="901" y="27"/>
              </a:cxn>
              <a:cxn ang="0">
                <a:pos x="1105" y="7"/>
              </a:cxn>
              <a:cxn ang="0">
                <a:pos x="1351" y="13"/>
              </a:cxn>
              <a:cxn ang="0">
                <a:pos x="1750" y="16"/>
              </a:cxn>
              <a:cxn ang="0">
                <a:pos x="1962" y="33"/>
              </a:cxn>
              <a:cxn ang="0">
                <a:pos x="2433" y="23"/>
              </a:cxn>
              <a:cxn ang="0">
                <a:pos x="2648" y="30"/>
              </a:cxn>
              <a:cxn ang="0">
                <a:pos x="3022" y="30"/>
              </a:cxn>
              <a:cxn ang="0">
                <a:pos x="3305" y="38"/>
              </a:cxn>
              <a:cxn ang="0">
                <a:pos x="3683" y="43"/>
              </a:cxn>
              <a:cxn ang="0">
                <a:pos x="3921" y="44"/>
              </a:cxn>
              <a:cxn ang="0">
                <a:pos x="4152" y="45"/>
              </a:cxn>
              <a:cxn ang="0">
                <a:pos x="4193" y="98"/>
              </a:cxn>
              <a:cxn ang="0">
                <a:pos x="4229" y="146"/>
              </a:cxn>
              <a:cxn ang="0">
                <a:pos x="4183" y="224"/>
              </a:cxn>
              <a:cxn ang="0">
                <a:pos x="4218" y="282"/>
              </a:cxn>
              <a:cxn ang="0">
                <a:pos x="4286" y="348"/>
              </a:cxn>
              <a:cxn ang="0">
                <a:pos x="4353" y="404"/>
              </a:cxn>
              <a:cxn ang="0">
                <a:pos x="4419" y="474"/>
              </a:cxn>
              <a:cxn ang="0">
                <a:pos x="4413" y="546"/>
              </a:cxn>
              <a:cxn ang="0">
                <a:pos x="4443" y="645"/>
              </a:cxn>
              <a:cxn ang="0">
                <a:pos x="4461" y="711"/>
              </a:cxn>
              <a:cxn ang="0">
                <a:pos x="4462" y="811"/>
              </a:cxn>
              <a:cxn ang="0">
                <a:pos x="4483" y="869"/>
              </a:cxn>
              <a:cxn ang="0">
                <a:pos x="4526" y="953"/>
              </a:cxn>
              <a:cxn ang="0">
                <a:pos x="4448" y="999"/>
              </a:cxn>
              <a:cxn ang="0">
                <a:pos x="4203" y="989"/>
              </a:cxn>
              <a:cxn ang="0">
                <a:pos x="3829" y="970"/>
              </a:cxn>
              <a:cxn ang="0">
                <a:pos x="3619" y="991"/>
              </a:cxn>
              <a:cxn ang="0">
                <a:pos x="3434" y="1006"/>
              </a:cxn>
              <a:cxn ang="0">
                <a:pos x="3180" y="1017"/>
              </a:cxn>
              <a:cxn ang="0">
                <a:pos x="2821" y="994"/>
              </a:cxn>
              <a:cxn ang="0">
                <a:pos x="2467" y="999"/>
              </a:cxn>
              <a:cxn ang="0">
                <a:pos x="2091" y="994"/>
              </a:cxn>
              <a:cxn ang="0">
                <a:pos x="1782" y="991"/>
              </a:cxn>
              <a:cxn ang="0">
                <a:pos x="1496" y="977"/>
              </a:cxn>
              <a:cxn ang="0">
                <a:pos x="1284" y="965"/>
              </a:cxn>
              <a:cxn ang="0">
                <a:pos x="907" y="976"/>
              </a:cxn>
              <a:cxn ang="0">
                <a:pos x="483" y="966"/>
              </a:cxn>
              <a:cxn ang="0">
                <a:pos x="297" y="969"/>
              </a:cxn>
              <a:cxn ang="0">
                <a:pos x="285" y="922"/>
              </a:cxn>
              <a:cxn ang="0">
                <a:pos x="364" y="872"/>
              </a:cxn>
              <a:cxn ang="0">
                <a:pos x="324" y="814"/>
              </a:cxn>
              <a:cxn ang="0">
                <a:pos x="286" y="763"/>
              </a:cxn>
              <a:cxn ang="0">
                <a:pos x="289" y="701"/>
              </a:cxn>
              <a:cxn ang="0">
                <a:pos x="103" y="623"/>
              </a:cxn>
              <a:cxn ang="0">
                <a:pos x="158" y="566"/>
              </a:cxn>
              <a:cxn ang="0">
                <a:pos x="116" y="496"/>
              </a:cxn>
              <a:cxn ang="0">
                <a:pos x="74" y="435"/>
              </a:cxn>
              <a:cxn ang="0">
                <a:pos x="100" y="365"/>
              </a:cxn>
              <a:cxn ang="0">
                <a:pos x="87" y="306"/>
              </a:cxn>
              <a:cxn ang="0">
                <a:pos x="13" y="221"/>
              </a:cxn>
              <a:cxn ang="0">
                <a:pos x="21" y="159"/>
              </a:cxn>
              <a:cxn ang="0">
                <a:pos x="0" y="98"/>
              </a:cxn>
              <a:cxn ang="0">
                <a:pos x="28" y="35"/>
              </a:cxn>
            </a:cxnLst>
            <a:rect l="0" t="0" r="r" b="b"/>
            <a:pathLst>
              <a:path w="4537" h="1018">
                <a:moveTo>
                  <a:pt x="71" y="0"/>
                </a:moveTo>
                <a:lnTo>
                  <a:pt x="147" y="13"/>
                </a:lnTo>
                <a:lnTo>
                  <a:pt x="222" y="20"/>
                </a:lnTo>
                <a:lnTo>
                  <a:pt x="315" y="17"/>
                </a:lnTo>
                <a:lnTo>
                  <a:pt x="380" y="6"/>
                </a:lnTo>
                <a:lnTo>
                  <a:pt x="476" y="6"/>
                </a:lnTo>
                <a:lnTo>
                  <a:pt x="547" y="11"/>
                </a:lnTo>
                <a:lnTo>
                  <a:pt x="597" y="30"/>
                </a:lnTo>
                <a:lnTo>
                  <a:pt x="671" y="35"/>
                </a:lnTo>
                <a:lnTo>
                  <a:pt x="760" y="31"/>
                </a:lnTo>
                <a:lnTo>
                  <a:pt x="830" y="26"/>
                </a:lnTo>
                <a:lnTo>
                  <a:pt x="901" y="27"/>
                </a:lnTo>
                <a:lnTo>
                  <a:pt x="996" y="21"/>
                </a:lnTo>
                <a:lnTo>
                  <a:pt x="1034" y="4"/>
                </a:lnTo>
                <a:lnTo>
                  <a:pt x="1105" y="7"/>
                </a:lnTo>
                <a:lnTo>
                  <a:pt x="1203" y="7"/>
                </a:lnTo>
                <a:lnTo>
                  <a:pt x="1274" y="6"/>
                </a:lnTo>
                <a:lnTo>
                  <a:pt x="1351" y="13"/>
                </a:lnTo>
                <a:lnTo>
                  <a:pt x="1511" y="14"/>
                </a:lnTo>
                <a:lnTo>
                  <a:pt x="1651" y="16"/>
                </a:lnTo>
                <a:lnTo>
                  <a:pt x="1750" y="16"/>
                </a:lnTo>
                <a:lnTo>
                  <a:pt x="1818" y="16"/>
                </a:lnTo>
                <a:lnTo>
                  <a:pt x="1891" y="31"/>
                </a:lnTo>
                <a:lnTo>
                  <a:pt x="1962" y="33"/>
                </a:lnTo>
                <a:lnTo>
                  <a:pt x="2103" y="31"/>
                </a:lnTo>
                <a:lnTo>
                  <a:pt x="2242" y="27"/>
                </a:lnTo>
                <a:lnTo>
                  <a:pt x="2433" y="23"/>
                </a:lnTo>
                <a:lnTo>
                  <a:pt x="2503" y="18"/>
                </a:lnTo>
                <a:lnTo>
                  <a:pt x="2574" y="20"/>
                </a:lnTo>
                <a:lnTo>
                  <a:pt x="2648" y="30"/>
                </a:lnTo>
                <a:lnTo>
                  <a:pt x="2740" y="37"/>
                </a:lnTo>
                <a:lnTo>
                  <a:pt x="2878" y="33"/>
                </a:lnTo>
                <a:lnTo>
                  <a:pt x="3022" y="30"/>
                </a:lnTo>
                <a:lnTo>
                  <a:pt x="3160" y="26"/>
                </a:lnTo>
                <a:lnTo>
                  <a:pt x="3231" y="26"/>
                </a:lnTo>
                <a:lnTo>
                  <a:pt x="3305" y="38"/>
                </a:lnTo>
                <a:lnTo>
                  <a:pt x="3403" y="47"/>
                </a:lnTo>
                <a:lnTo>
                  <a:pt x="3594" y="45"/>
                </a:lnTo>
                <a:lnTo>
                  <a:pt x="3683" y="43"/>
                </a:lnTo>
                <a:lnTo>
                  <a:pt x="3752" y="41"/>
                </a:lnTo>
                <a:lnTo>
                  <a:pt x="3847" y="44"/>
                </a:lnTo>
                <a:lnTo>
                  <a:pt x="3921" y="44"/>
                </a:lnTo>
                <a:lnTo>
                  <a:pt x="3989" y="40"/>
                </a:lnTo>
                <a:lnTo>
                  <a:pt x="4084" y="40"/>
                </a:lnTo>
                <a:lnTo>
                  <a:pt x="4152" y="45"/>
                </a:lnTo>
                <a:lnTo>
                  <a:pt x="4204" y="64"/>
                </a:lnTo>
                <a:lnTo>
                  <a:pt x="4215" y="79"/>
                </a:lnTo>
                <a:lnTo>
                  <a:pt x="4193" y="98"/>
                </a:lnTo>
                <a:lnTo>
                  <a:pt x="4173" y="115"/>
                </a:lnTo>
                <a:lnTo>
                  <a:pt x="4198" y="130"/>
                </a:lnTo>
                <a:lnTo>
                  <a:pt x="4229" y="146"/>
                </a:lnTo>
                <a:lnTo>
                  <a:pt x="4211" y="163"/>
                </a:lnTo>
                <a:lnTo>
                  <a:pt x="4173" y="209"/>
                </a:lnTo>
                <a:lnTo>
                  <a:pt x="4183" y="224"/>
                </a:lnTo>
                <a:lnTo>
                  <a:pt x="4210" y="241"/>
                </a:lnTo>
                <a:lnTo>
                  <a:pt x="4214" y="258"/>
                </a:lnTo>
                <a:lnTo>
                  <a:pt x="4218" y="282"/>
                </a:lnTo>
                <a:lnTo>
                  <a:pt x="4232" y="315"/>
                </a:lnTo>
                <a:lnTo>
                  <a:pt x="4235" y="333"/>
                </a:lnTo>
                <a:lnTo>
                  <a:pt x="4286" y="348"/>
                </a:lnTo>
                <a:lnTo>
                  <a:pt x="4342" y="365"/>
                </a:lnTo>
                <a:lnTo>
                  <a:pt x="4348" y="389"/>
                </a:lnTo>
                <a:lnTo>
                  <a:pt x="4353" y="404"/>
                </a:lnTo>
                <a:lnTo>
                  <a:pt x="4335" y="428"/>
                </a:lnTo>
                <a:lnTo>
                  <a:pt x="4339" y="451"/>
                </a:lnTo>
                <a:lnTo>
                  <a:pt x="4419" y="474"/>
                </a:lnTo>
                <a:lnTo>
                  <a:pt x="4452" y="509"/>
                </a:lnTo>
                <a:lnTo>
                  <a:pt x="4433" y="532"/>
                </a:lnTo>
                <a:lnTo>
                  <a:pt x="4413" y="546"/>
                </a:lnTo>
                <a:lnTo>
                  <a:pt x="4395" y="565"/>
                </a:lnTo>
                <a:lnTo>
                  <a:pt x="4431" y="608"/>
                </a:lnTo>
                <a:lnTo>
                  <a:pt x="4443" y="645"/>
                </a:lnTo>
                <a:lnTo>
                  <a:pt x="4447" y="660"/>
                </a:lnTo>
                <a:lnTo>
                  <a:pt x="4456" y="694"/>
                </a:lnTo>
                <a:lnTo>
                  <a:pt x="4461" y="711"/>
                </a:lnTo>
                <a:lnTo>
                  <a:pt x="4473" y="756"/>
                </a:lnTo>
                <a:lnTo>
                  <a:pt x="4452" y="772"/>
                </a:lnTo>
                <a:lnTo>
                  <a:pt x="4462" y="811"/>
                </a:lnTo>
                <a:lnTo>
                  <a:pt x="4472" y="828"/>
                </a:lnTo>
                <a:lnTo>
                  <a:pt x="4498" y="851"/>
                </a:lnTo>
                <a:lnTo>
                  <a:pt x="4483" y="869"/>
                </a:lnTo>
                <a:lnTo>
                  <a:pt x="4487" y="885"/>
                </a:lnTo>
                <a:lnTo>
                  <a:pt x="4494" y="908"/>
                </a:lnTo>
                <a:lnTo>
                  <a:pt x="4526" y="953"/>
                </a:lnTo>
                <a:lnTo>
                  <a:pt x="4536" y="976"/>
                </a:lnTo>
                <a:lnTo>
                  <a:pt x="4519" y="991"/>
                </a:lnTo>
                <a:lnTo>
                  <a:pt x="4448" y="999"/>
                </a:lnTo>
                <a:lnTo>
                  <a:pt x="4380" y="1013"/>
                </a:lnTo>
                <a:lnTo>
                  <a:pt x="4279" y="1001"/>
                </a:lnTo>
                <a:lnTo>
                  <a:pt x="4203" y="989"/>
                </a:lnTo>
                <a:lnTo>
                  <a:pt x="4062" y="979"/>
                </a:lnTo>
                <a:lnTo>
                  <a:pt x="3990" y="972"/>
                </a:lnTo>
                <a:lnTo>
                  <a:pt x="3829" y="970"/>
                </a:lnTo>
                <a:lnTo>
                  <a:pt x="3762" y="974"/>
                </a:lnTo>
                <a:lnTo>
                  <a:pt x="3690" y="984"/>
                </a:lnTo>
                <a:lnTo>
                  <a:pt x="3619" y="991"/>
                </a:lnTo>
                <a:lnTo>
                  <a:pt x="3577" y="1006"/>
                </a:lnTo>
                <a:lnTo>
                  <a:pt x="3508" y="1013"/>
                </a:lnTo>
                <a:lnTo>
                  <a:pt x="3434" y="1006"/>
                </a:lnTo>
                <a:lnTo>
                  <a:pt x="3365" y="999"/>
                </a:lnTo>
                <a:lnTo>
                  <a:pt x="3266" y="1004"/>
                </a:lnTo>
                <a:lnTo>
                  <a:pt x="3180" y="1017"/>
                </a:lnTo>
                <a:lnTo>
                  <a:pt x="3109" y="1014"/>
                </a:lnTo>
                <a:lnTo>
                  <a:pt x="3010" y="1008"/>
                </a:lnTo>
                <a:lnTo>
                  <a:pt x="2821" y="994"/>
                </a:lnTo>
                <a:lnTo>
                  <a:pt x="2630" y="991"/>
                </a:lnTo>
                <a:lnTo>
                  <a:pt x="2562" y="991"/>
                </a:lnTo>
                <a:lnTo>
                  <a:pt x="2467" y="999"/>
                </a:lnTo>
                <a:lnTo>
                  <a:pt x="2299" y="996"/>
                </a:lnTo>
                <a:lnTo>
                  <a:pt x="2160" y="994"/>
                </a:lnTo>
                <a:lnTo>
                  <a:pt x="2091" y="994"/>
                </a:lnTo>
                <a:lnTo>
                  <a:pt x="1949" y="991"/>
                </a:lnTo>
                <a:lnTo>
                  <a:pt x="1853" y="993"/>
                </a:lnTo>
                <a:lnTo>
                  <a:pt x="1782" y="991"/>
                </a:lnTo>
                <a:lnTo>
                  <a:pt x="1642" y="990"/>
                </a:lnTo>
                <a:lnTo>
                  <a:pt x="1570" y="979"/>
                </a:lnTo>
                <a:lnTo>
                  <a:pt x="1496" y="977"/>
                </a:lnTo>
                <a:lnTo>
                  <a:pt x="1432" y="987"/>
                </a:lnTo>
                <a:lnTo>
                  <a:pt x="1334" y="984"/>
                </a:lnTo>
                <a:lnTo>
                  <a:pt x="1284" y="965"/>
                </a:lnTo>
                <a:lnTo>
                  <a:pt x="1214" y="974"/>
                </a:lnTo>
                <a:lnTo>
                  <a:pt x="1051" y="976"/>
                </a:lnTo>
                <a:lnTo>
                  <a:pt x="907" y="976"/>
                </a:lnTo>
                <a:lnTo>
                  <a:pt x="770" y="982"/>
                </a:lnTo>
                <a:lnTo>
                  <a:pt x="679" y="973"/>
                </a:lnTo>
                <a:lnTo>
                  <a:pt x="483" y="966"/>
                </a:lnTo>
                <a:lnTo>
                  <a:pt x="414" y="970"/>
                </a:lnTo>
                <a:lnTo>
                  <a:pt x="350" y="987"/>
                </a:lnTo>
                <a:lnTo>
                  <a:pt x="297" y="969"/>
                </a:lnTo>
                <a:lnTo>
                  <a:pt x="268" y="953"/>
                </a:lnTo>
                <a:lnTo>
                  <a:pt x="262" y="938"/>
                </a:lnTo>
                <a:lnTo>
                  <a:pt x="285" y="922"/>
                </a:lnTo>
                <a:lnTo>
                  <a:pt x="349" y="904"/>
                </a:lnTo>
                <a:lnTo>
                  <a:pt x="368" y="888"/>
                </a:lnTo>
                <a:lnTo>
                  <a:pt x="364" y="872"/>
                </a:lnTo>
                <a:lnTo>
                  <a:pt x="335" y="854"/>
                </a:lnTo>
                <a:lnTo>
                  <a:pt x="332" y="831"/>
                </a:lnTo>
                <a:lnTo>
                  <a:pt x="324" y="814"/>
                </a:lnTo>
                <a:lnTo>
                  <a:pt x="320" y="799"/>
                </a:lnTo>
                <a:lnTo>
                  <a:pt x="314" y="780"/>
                </a:lnTo>
                <a:lnTo>
                  <a:pt x="286" y="763"/>
                </a:lnTo>
                <a:lnTo>
                  <a:pt x="280" y="739"/>
                </a:lnTo>
                <a:lnTo>
                  <a:pt x="299" y="725"/>
                </a:lnTo>
                <a:lnTo>
                  <a:pt x="289" y="701"/>
                </a:lnTo>
                <a:lnTo>
                  <a:pt x="135" y="657"/>
                </a:lnTo>
                <a:lnTo>
                  <a:pt x="112" y="641"/>
                </a:lnTo>
                <a:lnTo>
                  <a:pt x="103" y="623"/>
                </a:lnTo>
                <a:lnTo>
                  <a:pt x="123" y="606"/>
                </a:lnTo>
                <a:lnTo>
                  <a:pt x="165" y="587"/>
                </a:lnTo>
                <a:lnTo>
                  <a:pt x="158" y="566"/>
                </a:lnTo>
                <a:lnTo>
                  <a:pt x="149" y="543"/>
                </a:lnTo>
                <a:lnTo>
                  <a:pt x="144" y="522"/>
                </a:lnTo>
                <a:lnTo>
                  <a:pt x="116" y="496"/>
                </a:lnTo>
                <a:lnTo>
                  <a:pt x="109" y="477"/>
                </a:lnTo>
                <a:lnTo>
                  <a:pt x="78" y="452"/>
                </a:lnTo>
                <a:lnTo>
                  <a:pt x="74" y="435"/>
                </a:lnTo>
                <a:lnTo>
                  <a:pt x="85" y="396"/>
                </a:lnTo>
                <a:lnTo>
                  <a:pt x="106" y="380"/>
                </a:lnTo>
                <a:lnTo>
                  <a:pt x="100" y="365"/>
                </a:lnTo>
                <a:lnTo>
                  <a:pt x="98" y="345"/>
                </a:lnTo>
                <a:lnTo>
                  <a:pt x="93" y="328"/>
                </a:lnTo>
                <a:lnTo>
                  <a:pt x="87" y="306"/>
                </a:lnTo>
                <a:lnTo>
                  <a:pt x="47" y="261"/>
                </a:lnTo>
                <a:lnTo>
                  <a:pt x="20" y="238"/>
                </a:lnTo>
                <a:lnTo>
                  <a:pt x="13" y="221"/>
                </a:lnTo>
                <a:lnTo>
                  <a:pt x="8" y="199"/>
                </a:lnTo>
                <a:lnTo>
                  <a:pt x="32" y="182"/>
                </a:lnTo>
                <a:lnTo>
                  <a:pt x="21" y="159"/>
                </a:lnTo>
                <a:lnTo>
                  <a:pt x="10" y="136"/>
                </a:lnTo>
                <a:lnTo>
                  <a:pt x="10" y="122"/>
                </a:lnTo>
                <a:lnTo>
                  <a:pt x="0" y="98"/>
                </a:lnTo>
                <a:lnTo>
                  <a:pt x="22" y="77"/>
                </a:lnTo>
                <a:lnTo>
                  <a:pt x="15" y="58"/>
                </a:lnTo>
                <a:lnTo>
                  <a:pt x="28" y="35"/>
                </a:lnTo>
                <a:lnTo>
                  <a:pt x="7" y="17"/>
                </a:lnTo>
                <a:lnTo>
                  <a:pt x="71" y="0"/>
                </a:lnTo>
              </a:path>
            </a:pathLst>
          </a:custGeom>
          <a:gradFill flip="none" rotWithShape="1">
            <a:gsLst>
              <a:gs pos="75000">
                <a:srgbClr val="FFDB69">
                  <a:tint val="66000"/>
                  <a:satMod val="160000"/>
                  <a:alpha val="58000"/>
                </a:srgbClr>
              </a:gs>
              <a:gs pos="61000">
                <a:srgbClr val="FFDB69">
                  <a:tint val="44500"/>
                  <a:satMod val="160000"/>
                  <a:alpha val="73000"/>
                </a:srgbClr>
              </a:gs>
              <a:gs pos="100000">
                <a:srgbClr val="FFDB69">
                  <a:tint val="23500"/>
                  <a:satMod val="160000"/>
                  <a:alpha val="80000"/>
                </a:srgbClr>
              </a:gs>
            </a:gsLst>
            <a:lin ang="0" scaled="1"/>
            <a:tileRect/>
          </a:gradFill>
          <a:ln w="9525" cap="rnd" cmpd="sng">
            <a:noFill/>
            <a:prstDash val="solid"/>
            <a:round/>
            <a:headEnd type="none" w="med" len="med"/>
            <a:tailEnd type="none" w="med" len="med"/>
          </a:ln>
          <a:effectLst>
            <a:outerShdw blurRad="50800" dist="38100" dir="2700000" algn="tl" rotWithShape="0">
              <a:prstClr val="black">
                <a:alpha val="40000"/>
              </a:prstClr>
            </a:outerShdw>
          </a:effectLst>
        </p:spPr>
        <p:txBody>
          <a:bodyPr lIns="360000" tIns="72000" rIns="324000" bIns="72000" anchor="ctr"/>
          <a:lstStyle/>
          <a:p>
            <a:pPr marL="171450" marR="0" lvl="0" indent="-171450" algn="l" defTabSz="787481" rtl="0" eaLnBrk="1" fontAlgn="auto" latinLnBrk="0" hangingPunct="1">
              <a:lnSpc>
                <a:spcPct val="114000"/>
              </a:lnSpc>
              <a:spcBef>
                <a:spcPts val="0"/>
              </a:spcBef>
              <a:spcAft>
                <a:spcPts val="600"/>
              </a:spcAft>
              <a:buClrTx/>
              <a:buSzTx/>
              <a:buFont typeface="Arial" panose="020B0604020202020204" pitchFamily="34" charset="0"/>
              <a:buChar char="•"/>
              <a:tabLst/>
              <a:defRPr/>
            </a:pPr>
            <a:endParaRPr kumimoji="0" lang="en-US" sz="1000" b="1" i="1" u="none" strike="noStrike" kern="1200" cap="none" spc="0" normalizeH="0" baseline="0" noProof="0" dirty="0">
              <a:ln>
                <a:noFill/>
              </a:ln>
              <a:solidFill>
                <a:prstClr val="black"/>
              </a:solidFill>
              <a:effectLst/>
              <a:uLnTx/>
              <a:uFillTx/>
              <a:latin typeface="Verdana"/>
              <a:ea typeface="+mn-ea"/>
              <a:cs typeface="+mn-cs"/>
            </a:endParaRPr>
          </a:p>
          <a:p>
            <a:pPr marL="171450" lvl="0" indent="-171450">
              <a:lnSpc>
                <a:spcPct val="114000"/>
              </a:lnSpc>
              <a:spcAft>
                <a:spcPts val="600"/>
              </a:spcAft>
              <a:buFont typeface="Arial" panose="020B0604020202020204" pitchFamily="34" charset="0"/>
              <a:buChar char="•"/>
              <a:defRPr/>
            </a:pPr>
            <a:r>
              <a:rPr lang="en-US" sz="1000" b="1" dirty="0">
                <a:solidFill>
                  <a:prstClr val="black"/>
                </a:solidFill>
              </a:rPr>
              <a:t>Idle state’ of the costly diesel-based power plants </a:t>
            </a:r>
            <a:r>
              <a:rPr lang="en-US" sz="1000" dirty="0">
                <a:solidFill>
                  <a:prstClr val="black"/>
                </a:solidFill>
              </a:rPr>
              <a:t>was causing the hemorrhage of the government’s funds because of the capacity payments that the BPDB needs to pay to those power plants</a:t>
            </a:r>
          </a:p>
          <a:p>
            <a:pPr lvl="0" algn="r">
              <a:lnSpc>
                <a:spcPct val="114000"/>
              </a:lnSpc>
              <a:spcAft>
                <a:spcPts val="600"/>
              </a:spcAft>
              <a:defRPr/>
            </a:pPr>
            <a:r>
              <a:rPr kumimoji="0" lang="en-US" sz="1000" b="1" i="0" u="none" strike="noStrike" kern="1200" cap="none" spc="0" normalizeH="0" baseline="0" noProof="0" dirty="0">
                <a:ln>
                  <a:noFill/>
                </a:ln>
                <a:solidFill>
                  <a:prstClr val="black"/>
                </a:solidFill>
                <a:effectLst/>
                <a:uLnTx/>
                <a:uFillTx/>
                <a:latin typeface="Verdana"/>
                <a:ea typeface="+mn-ea"/>
                <a:cs typeface="+mn-cs"/>
              </a:rPr>
              <a:t>- Dr. Ahmed</a:t>
            </a:r>
            <a:r>
              <a:rPr kumimoji="0" lang="en-US" sz="1000" b="1" i="0" u="none" strike="noStrike" kern="1200" cap="none" spc="0" normalizeH="0" noProof="0" dirty="0">
                <a:ln>
                  <a:noFill/>
                </a:ln>
                <a:solidFill>
                  <a:prstClr val="black"/>
                </a:solidFill>
                <a:effectLst/>
                <a:uLnTx/>
                <a:uFillTx/>
                <a:latin typeface="Verdana"/>
                <a:ea typeface="+mn-ea"/>
                <a:cs typeface="+mn-cs"/>
              </a:rPr>
              <a:t> Kaikaus, Power Division Secretary, Oct 2019</a:t>
            </a:r>
            <a:endParaRPr kumimoji="0" lang="en-US" sz="1000" b="1" i="0" u="none" strike="noStrike" kern="1200" cap="none" spc="0" normalizeH="0" baseline="0" noProof="0" dirty="0">
              <a:ln>
                <a:noFill/>
              </a:ln>
              <a:solidFill>
                <a:prstClr val="black"/>
              </a:solidFill>
              <a:effectLst/>
              <a:uLnTx/>
              <a:uFillTx/>
              <a:latin typeface="Verdana"/>
              <a:ea typeface="+mn-ea"/>
              <a:cs typeface="+mn-cs"/>
            </a:endParaRPr>
          </a:p>
          <a:p>
            <a:pPr marL="171450" marR="0" lvl="0" indent="-171450" algn="r" defTabSz="787481" rtl="0" eaLnBrk="1" fontAlgn="auto" latinLnBrk="0" hangingPunct="1">
              <a:lnSpc>
                <a:spcPct val="114000"/>
              </a:lnSpc>
              <a:spcBef>
                <a:spcPts val="0"/>
              </a:spcBef>
              <a:spcAft>
                <a:spcPts val="600"/>
              </a:spcAft>
              <a:buClrTx/>
              <a:buSzTx/>
              <a:buFont typeface="Arial" panose="020B0604020202020204" pitchFamily="34" charset="0"/>
              <a:buChar char="•"/>
              <a:tabLst/>
              <a:defRPr/>
            </a:pPr>
            <a:endParaRPr kumimoji="0" lang="en-US" sz="1000" b="0" i="0" u="none" strike="noStrike" kern="1200" cap="none" spc="0" normalizeH="0" baseline="-25000" noProof="0" dirty="0">
              <a:ln>
                <a:noFill/>
              </a:ln>
              <a:solidFill>
                <a:prstClr val="black"/>
              </a:solidFill>
              <a:effectLst/>
              <a:uLnTx/>
              <a:uFillTx/>
              <a:latin typeface="Verdana"/>
              <a:ea typeface="+mn-ea"/>
              <a:cs typeface="+mn-cs"/>
            </a:endParaRPr>
          </a:p>
        </p:txBody>
      </p:sp>
      <p:sp>
        <p:nvSpPr>
          <p:cNvPr id="13" name="Rectangle 12"/>
          <p:cNvSpPr/>
          <p:nvPr/>
        </p:nvSpPr>
        <p:spPr bwMode="gray">
          <a:xfrm>
            <a:off x="377227" y="7260740"/>
            <a:ext cx="5652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Industry Reports</a:t>
            </a:r>
          </a:p>
        </p:txBody>
      </p:sp>
    </p:spTree>
    <p:extLst>
      <p:ext uri="{BB962C8B-B14F-4D97-AF65-F5344CB8AC3E}">
        <p14:creationId xmlns:p14="http://schemas.microsoft.com/office/powerpoint/2010/main" val="2103604746"/>
      </p:ext>
    </p:extLst>
  </p:cSld>
  <p:clrMapOvr>
    <a:masterClrMapping/>
  </p:clrMapOvr>
  <p:transition>
    <p:fade/>
  </p:transition>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Object 6" hidden="1"/>
          <p:cNvGraphicFramePr>
            <a:graphicFrameLocks noChangeAspect="1"/>
          </p:cNvGraphicFramePr>
          <p:nvPr>
            <p:custDataLst>
              <p:tags r:id="rId1"/>
            </p:custDataLst>
            <p:extLst>
              <p:ext uri="{D42A27DB-BD31-4B8C-83A1-F6EECF244321}">
                <p14:modId xmlns:p14="http://schemas.microsoft.com/office/powerpoint/2010/main" val="235184494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7" name="Object 6"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6" name="Rectangle 5"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algn="ctr">
              <a:lnSpc>
                <a:spcPct val="106000"/>
              </a:lnSpc>
              <a:buFont typeface="Wingdings 2" pitchFamily="18" charset="2"/>
              <a:buNone/>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BPDB – IPP Relations Assessment | Discom Credit Assessment</a:t>
            </a:r>
            <a:endParaRPr lang="en-IN" dirty="0"/>
          </a:p>
        </p:txBody>
      </p:sp>
      <p:sp>
        <p:nvSpPr>
          <p:cNvPr id="3"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Historically the Government has not defaulted on payment to IPPs and provides payment guarantees to all IPPs in Bangladesh; Bangladesh also has not terminated any PPA for operational plants in the last 5 years</a:t>
            </a:r>
          </a:p>
        </p:txBody>
      </p:sp>
      <p:graphicFrame>
        <p:nvGraphicFramePr>
          <p:cNvPr id="4" name="Table 3"/>
          <p:cNvGraphicFramePr>
            <a:graphicFrameLocks noGrp="1"/>
          </p:cNvGraphicFramePr>
          <p:nvPr>
            <p:custDataLst>
              <p:tags r:id="rId3"/>
            </p:custDataLst>
            <p:extLst>
              <p:ext uri="{D42A27DB-BD31-4B8C-83A1-F6EECF244321}">
                <p14:modId xmlns:p14="http://schemas.microsoft.com/office/powerpoint/2010/main" val="2427743231"/>
              </p:ext>
            </p:extLst>
          </p:nvPr>
        </p:nvGraphicFramePr>
        <p:xfrm>
          <a:off x="449993" y="1961918"/>
          <a:ext cx="4734896" cy="45733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723655">
                <a:tc>
                  <a:txBody>
                    <a:bodyPr/>
                    <a:lstStyle/>
                    <a:p>
                      <a:pPr marL="0" indent="0" algn="just">
                        <a:spcBef>
                          <a:spcPts val="600"/>
                        </a:spcBef>
                        <a:spcAft>
                          <a:spcPts val="600"/>
                        </a:spcAft>
                        <a:buFont typeface="Arial" panose="020B0604020202020204" pitchFamily="34" charset="0"/>
                        <a:buNone/>
                      </a:pPr>
                      <a:r>
                        <a:rPr lang="en-US" sz="1000" b="1" baseline="0" dirty="0">
                          <a:solidFill>
                            <a:schemeClr val="tx1"/>
                          </a:solidFill>
                        </a:rPr>
                        <a:t>Govt. Guarantee for Power Plants</a:t>
                      </a:r>
                    </a:p>
                    <a:p>
                      <a:pPr marL="171450" indent="-171450" algn="just" defTabSz="990571" rtl="0" eaLnBrk="1" latinLnBrk="0" hangingPunct="1">
                        <a:spcBef>
                          <a:spcPts val="60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As per Industry sources, the Government provides payment guarantees for payment defaults by BPDB, PGCB and other GOB owned Power utilities for all existing IPPs in Bangladesh</a:t>
                      </a:r>
                    </a:p>
                    <a:p>
                      <a:pPr marL="171450" indent="-171450" algn="just" defTabSz="990571" rtl="0" eaLnBrk="1" latinLnBrk="0" hangingPunct="1">
                        <a:spcBef>
                          <a:spcPts val="60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Although there has not been any payment default to IPPs in the last 5 years, there has been delay in payments to IPPs on a few occasions</a:t>
                      </a:r>
                      <a:endParaRPr lang="en-US" sz="1000" b="1" baseline="0" dirty="0">
                        <a:solidFill>
                          <a:schemeClr val="tx1"/>
                        </a:solidFill>
                      </a:endParaRPr>
                    </a:p>
                    <a:p>
                      <a:pPr marL="0" indent="0" algn="just">
                        <a:spcBef>
                          <a:spcPts val="600"/>
                        </a:spcBef>
                        <a:spcAft>
                          <a:spcPts val="600"/>
                        </a:spcAft>
                        <a:buFont typeface="Arial" panose="020B0604020202020204" pitchFamily="34" charset="0"/>
                        <a:buNone/>
                      </a:pPr>
                      <a:r>
                        <a:rPr lang="en-US" sz="1000" b="1" baseline="0" dirty="0">
                          <a:solidFill>
                            <a:schemeClr val="tx1"/>
                          </a:solidFill>
                        </a:rPr>
                        <a:t>Outlook for PPA extensions / terminations</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Based on our assessment of the PPA extensions / terminations, most Rental Power Plants, Public plants and BPDB plants are operating in extension to their operational life in Bangladesh</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The table on the right illustrates a few plants which have received extensions in Bangladesh</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As per Industry sources, BPDB has not terminated any PPA in the least 5 years for operational plants</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In April 2019, BPDB had terminated two PPA for 2 power plants (108MW Basila, Keraniganj power plant and 108MW Gabtali power plant) for failure to commission the plants even after 8 years (PPA signed in October 2011)</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However even these plants had received another 1 year extension for commissioning with the GoB backtracking on the PPA</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5" name="Table 4"/>
          <p:cNvGraphicFramePr>
            <a:graphicFrameLocks noGrp="1"/>
          </p:cNvGraphicFramePr>
          <p:nvPr>
            <p:custDataLst>
              <p:tags r:id="rId4"/>
            </p:custDataLst>
          </p:nvPr>
        </p:nvGraphicFramePr>
        <p:xfrm>
          <a:off x="5506068" y="1961919"/>
          <a:ext cx="4734896" cy="532804"/>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32804">
                <a:tc>
                  <a:txBody>
                    <a:bodyPr/>
                    <a:lstStyle/>
                    <a:p>
                      <a:pPr marL="0" indent="0" algn="just">
                        <a:spcBef>
                          <a:spcPts val="600"/>
                        </a:spcBef>
                        <a:spcAft>
                          <a:spcPts val="600"/>
                        </a:spcAft>
                        <a:buFont typeface="Arial" panose="020B0604020202020204" pitchFamily="34" charset="0"/>
                        <a:buNone/>
                      </a:pPr>
                      <a:r>
                        <a:rPr lang="en-US" sz="1000" b="0" baseline="0" dirty="0">
                          <a:solidFill>
                            <a:schemeClr val="tx1"/>
                          </a:solidFill>
                        </a:rPr>
                        <a:t>Following chart highlights a few tenure extensions for Power Plants in Bangladesh:</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5" name="Table 14"/>
          <p:cNvGraphicFramePr>
            <a:graphicFrameLocks noGrp="1"/>
          </p:cNvGraphicFramePr>
          <p:nvPr>
            <p:extLst>
              <p:ext uri="{D42A27DB-BD31-4B8C-83A1-F6EECF244321}">
                <p14:modId xmlns:p14="http://schemas.microsoft.com/office/powerpoint/2010/main" val="3162765821"/>
              </p:ext>
            </p:extLst>
          </p:nvPr>
        </p:nvGraphicFramePr>
        <p:xfrm>
          <a:off x="5506068" y="2494723"/>
          <a:ext cx="4877036" cy="4686625"/>
        </p:xfrm>
        <a:graphic>
          <a:graphicData uri="http://schemas.openxmlformats.org/drawingml/2006/table">
            <a:tbl>
              <a:tblPr firstRow="1">
                <a:tableStyleId>{3B4B98B0-60AC-42C2-AFA5-B58CD77FA1E5}</a:tableStyleId>
              </a:tblPr>
              <a:tblGrid>
                <a:gridCol w="417654">
                  <a:extLst>
                    <a:ext uri="{9D8B030D-6E8A-4147-A177-3AD203B41FA5}">
                      <a16:colId xmlns:a16="http://schemas.microsoft.com/office/drawing/2014/main" val="1638266347"/>
                    </a:ext>
                  </a:extLst>
                </a:gridCol>
                <a:gridCol w="1368618">
                  <a:extLst>
                    <a:ext uri="{9D8B030D-6E8A-4147-A177-3AD203B41FA5}">
                      <a16:colId xmlns:a16="http://schemas.microsoft.com/office/drawing/2014/main" val="1152816039"/>
                    </a:ext>
                  </a:extLst>
                </a:gridCol>
                <a:gridCol w="754380">
                  <a:extLst>
                    <a:ext uri="{9D8B030D-6E8A-4147-A177-3AD203B41FA5}">
                      <a16:colId xmlns:a16="http://schemas.microsoft.com/office/drawing/2014/main" val="3636321109"/>
                    </a:ext>
                  </a:extLst>
                </a:gridCol>
                <a:gridCol w="914400">
                  <a:extLst>
                    <a:ext uri="{9D8B030D-6E8A-4147-A177-3AD203B41FA5}">
                      <a16:colId xmlns:a16="http://schemas.microsoft.com/office/drawing/2014/main" val="2497224784"/>
                    </a:ext>
                  </a:extLst>
                </a:gridCol>
                <a:gridCol w="1421984">
                  <a:extLst>
                    <a:ext uri="{9D8B030D-6E8A-4147-A177-3AD203B41FA5}">
                      <a16:colId xmlns:a16="http://schemas.microsoft.com/office/drawing/2014/main" val="736732129"/>
                    </a:ext>
                  </a:extLst>
                </a:gridCol>
              </a:tblGrid>
              <a:tr h="326668">
                <a:tc>
                  <a:txBody>
                    <a:bodyPr/>
                    <a:lstStyle/>
                    <a:p>
                      <a:r>
                        <a:rPr lang="en-US" sz="900" dirty="0"/>
                        <a:t>Sr. No</a:t>
                      </a:r>
                      <a:endParaRPr lang="en-IN" sz="900" b="0" dirty="0"/>
                    </a:p>
                  </a:txBody>
                  <a:tcPr anchor="ctr"/>
                </a:tc>
                <a:tc>
                  <a:txBody>
                    <a:bodyPr/>
                    <a:lstStyle/>
                    <a:p>
                      <a:r>
                        <a:rPr lang="en-US" sz="900" dirty="0"/>
                        <a:t>Plant name</a:t>
                      </a:r>
                      <a:endParaRPr lang="en-IN" sz="900" b="0" dirty="0"/>
                    </a:p>
                  </a:txBody>
                  <a:tcPr anchor="ctr"/>
                </a:tc>
                <a:tc>
                  <a:txBody>
                    <a:bodyPr/>
                    <a:lstStyle/>
                    <a:p>
                      <a:pPr algn="ctr"/>
                      <a:r>
                        <a:rPr lang="en-US" sz="900" dirty="0"/>
                        <a:t>Capacity (MW)</a:t>
                      </a:r>
                      <a:endParaRPr lang="en-IN" sz="900" b="0" dirty="0"/>
                    </a:p>
                  </a:txBody>
                  <a:tcPr anchor="ctr"/>
                </a:tc>
                <a:tc>
                  <a:txBody>
                    <a:bodyPr/>
                    <a:lstStyle/>
                    <a:p>
                      <a:pPr algn="ctr"/>
                      <a:r>
                        <a:rPr lang="en-US" sz="900" b="1" dirty="0"/>
                        <a:t>COD</a:t>
                      </a:r>
                      <a:endParaRPr lang="en-IN" sz="900" b="0" dirty="0"/>
                    </a:p>
                  </a:txBody>
                  <a:tcPr anchor="ctr"/>
                </a:tc>
                <a:tc>
                  <a:txBody>
                    <a:bodyPr/>
                    <a:lstStyle/>
                    <a:p>
                      <a:r>
                        <a:rPr lang="en-US" sz="900" dirty="0"/>
                        <a:t>Extension</a:t>
                      </a:r>
                      <a:endParaRPr lang="en-IN" sz="900" b="0" dirty="0"/>
                    </a:p>
                  </a:txBody>
                  <a:tcPr anchor="ctr"/>
                </a:tc>
                <a:extLst>
                  <a:ext uri="{0D108BD9-81ED-4DB2-BD59-A6C34878D82A}">
                    <a16:rowId xmlns:a16="http://schemas.microsoft.com/office/drawing/2014/main" val="2688665358"/>
                  </a:ext>
                </a:extLst>
              </a:tr>
              <a:tr h="370397">
                <a:tc>
                  <a:txBody>
                    <a:bodyPr/>
                    <a:lstStyle/>
                    <a:p>
                      <a:r>
                        <a:rPr lang="en-US" sz="900" dirty="0"/>
                        <a:t>1</a:t>
                      </a:r>
                      <a:endParaRPr lang="en-IN" sz="900" b="0" dirty="0"/>
                    </a:p>
                  </a:txBody>
                  <a:tcPr anchor="ctr"/>
                </a:tc>
                <a:tc>
                  <a:txBody>
                    <a:bodyPr/>
                    <a:lstStyle/>
                    <a:p>
                      <a:r>
                        <a:rPr lang="en-US" sz="900" dirty="0"/>
                        <a:t>Venture Energy</a:t>
                      </a:r>
                      <a:endParaRPr lang="en-IN" sz="900" b="0" dirty="0"/>
                    </a:p>
                  </a:txBody>
                  <a:tcPr anchor="ctr"/>
                </a:tc>
                <a:tc>
                  <a:txBody>
                    <a:bodyPr/>
                    <a:lstStyle/>
                    <a:p>
                      <a:pPr algn="ctr"/>
                      <a:r>
                        <a:rPr lang="en-US" sz="900" dirty="0"/>
                        <a:t>38.50</a:t>
                      </a:r>
                      <a:endParaRPr lang="en-IN" sz="900" b="0" dirty="0"/>
                    </a:p>
                  </a:txBody>
                  <a:tcPr anchor="ctr"/>
                </a:tc>
                <a:tc>
                  <a:txBody>
                    <a:bodyPr/>
                    <a:lstStyle/>
                    <a:p>
                      <a:pPr algn="ctr"/>
                      <a:r>
                        <a:rPr lang="en-US" sz="900" dirty="0"/>
                        <a:t>2009</a:t>
                      </a:r>
                      <a:endParaRPr lang="en-IN" sz="900" b="0" dirty="0"/>
                    </a:p>
                  </a:txBody>
                  <a:tcPr anchor="ctr"/>
                </a:tc>
                <a:tc>
                  <a:txBody>
                    <a:bodyPr/>
                    <a:lstStyle/>
                    <a:p>
                      <a:pPr marL="171450" indent="-171450">
                        <a:buFont typeface="Arial" panose="020B0604020202020204" pitchFamily="34" charset="0"/>
                        <a:buChar char="•"/>
                      </a:pPr>
                      <a:r>
                        <a:rPr lang="en-US" sz="900" dirty="0"/>
                        <a:t>2 years (2015)</a:t>
                      </a:r>
                    </a:p>
                    <a:p>
                      <a:pPr marL="171450" indent="-171450">
                        <a:buFont typeface="Arial" panose="020B0604020202020204" pitchFamily="34" charset="0"/>
                        <a:buChar char="•"/>
                      </a:pPr>
                      <a:r>
                        <a:rPr lang="en-US" sz="900" dirty="0"/>
                        <a:t>3 years</a:t>
                      </a:r>
                      <a:r>
                        <a:rPr lang="en-US" sz="900" baseline="0" dirty="0"/>
                        <a:t> (2018)</a:t>
                      </a:r>
                      <a:endParaRPr lang="en-IN" sz="900" b="0" dirty="0"/>
                    </a:p>
                  </a:txBody>
                  <a:tcPr anchor="ctr"/>
                </a:tc>
                <a:extLst>
                  <a:ext uri="{0D108BD9-81ED-4DB2-BD59-A6C34878D82A}">
                    <a16:rowId xmlns:a16="http://schemas.microsoft.com/office/drawing/2014/main" val="2758696006"/>
                  </a:ext>
                </a:extLst>
              </a:tr>
              <a:tr h="370397">
                <a:tc>
                  <a:txBody>
                    <a:bodyPr/>
                    <a:lstStyle/>
                    <a:p>
                      <a:r>
                        <a:rPr lang="en-US" sz="900" dirty="0"/>
                        <a:t>2</a:t>
                      </a:r>
                      <a:endParaRPr lang="en-IN" sz="900" b="0" dirty="0"/>
                    </a:p>
                  </a:txBody>
                  <a:tcPr anchor="ctr"/>
                </a:tc>
                <a:tc>
                  <a:txBody>
                    <a:bodyPr/>
                    <a:lstStyle/>
                    <a:p>
                      <a:r>
                        <a:rPr lang="en-US" sz="900" dirty="0"/>
                        <a:t>Kumargaon (Energyprima)</a:t>
                      </a:r>
                      <a:endParaRPr lang="en-IN" sz="900" b="0" dirty="0"/>
                    </a:p>
                  </a:txBody>
                  <a:tcPr anchor="ctr"/>
                </a:tc>
                <a:tc>
                  <a:txBody>
                    <a:bodyPr/>
                    <a:lstStyle/>
                    <a:p>
                      <a:pPr algn="ctr"/>
                      <a:r>
                        <a:rPr lang="en-US" sz="900" dirty="0"/>
                        <a:t>50</a:t>
                      </a:r>
                      <a:endParaRPr lang="en-IN" sz="900" b="0" dirty="0"/>
                    </a:p>
                  </a:txBody>
                  <a:tcPr anchor="ctr"/>
                </a:tc>
                <a:tc>
                  <a:txBody>
                    <a:bodyPr/>
                    <a:lstStyle/>
                    <a:p>
                      <a:pPr algn="ctr"/>
                      <a:r>
                        <a:rPr lang="en-US" sz="900" dirty="0"/>
                        <a:t>2008</a:t>
                      </a:r>
                      <a:endParaRPr lang="en-IN" sz="900" b="0" dirty="0"/>
                    </a:p>
                  </a:txBody>
                  <a:tcPr anchor="ctr"/>
                </a:tc>
                <a:tc>
                  <a:txBody>
                    <a:bodyPr/>
                    <a:lstStyle/>
                    <a:p>
                      <a:pPr marL="171450" indent="-171450">
                        <a:buFont typeface="Arial" panose="020B0604020202020204" pitchFamily="34" charset="0"/>
                        <a:buChar char="•"/>
                      </a:pPr>
                      <a:r>
                        <a:rPr lang="en-US" sz="900" dirty="0"/>
                        <a:t>3 years</a:t>
                      </a:r>
                      <a:r>
                        <a:rPr lang="en-US" sz="900" baseline="0" dirty="0"/>
                        <a:t> (2012)</a:t>
                      </a:r>
                      <a:endParaRPr lang="en-US" sz="900" dirty="0"/>
                    </a:p>
                    <a:p>
                      <a:pPr marL="171450" indent="-171450">
                        <a:buFont typeface="Arial" panose="020B0604020202020204" pitchFamily="34" charset="0"/>
                        <a:buChar char="•"/>
                      </a:pPr>
                      <a:r>
                        <a:rPr lang="en-US" sz="900" dirty="0"/>
                        <a:t>3 years (2015)</a:t>
                      </a:r>
                      <a:endParaRPr lang="en-IN" sz="900" b="0" dirty="0"/>
                    </a:p>
                  </a:txBody>
                  <a:tcPr anchor="ctr"/>
                </a:tc>
                <a:extLst>
                  <a:ext uri="{0D108BD9-81ED-4DB2-BD59-A6C34878D82A}">
                    <a16:rowId xmlns:a16="http://schemas.microsoft.com/office/drawing/2014/main" val="2838599882"/>
                  </a:ext>
                </a:extLst>
              </a:tr>
              <a:tr h="370397">
                <a:tc>
                  <a:txBody>
                    <a:bodyPr/>
                    <a:lstStyle/>
                    <a:p>
                      <a:r>
                        <a:rPr lang="en-US" sz="900" b="0" dirty="0"/>
                        <a:t>3</a:t>
                      </a:r>
                      <a:endParaRPr lang="en-IN" sz="900" b="0" dirty="0"/>
                    </a:p>
                  </a:txBody>
                  <a:tcPr anchor="ctr"/>
                </a:tc>
                <a:tc>
                  <a:txBody>
                    <a:bodyPr/>
                    <a:lstStyle/>
                    <a:p>
                      <a:r>
                        <a:rPr lang="en-US" sz="900" b="0" dirty="0"/>
                        <a:t>NEPC Consortium (IPP/SIPP)</a:t>
                      </a:r>
                      <a:endParaRPr lang="en-IN" sz="900" b="0" dirty="0"/>
                    </a:p>
                  </a:txBody>
                  <a:tcPr anchor="ctr"/>
                </a:tc>
                <a:tc>
                  <a:txBody>
                    <a:bodyPr/>
                    <a:lstStyle/>
                    <a:p>
                      <a:pPr algn="ctr"/>
                      <a:r>
                        <a:rPr lang="en-US" sz="900" b="0" dirty="0"/>
                        <a:t>110</a:t>
                      </a:r>
                      <a:endParaRPr lang="en-IN" sz="900" b="0" dirty="0"/>
                    </a:p>
                  </a:txBody>
                  <a:tcPr anchor="ctr"/>
                </a:tc>
                <a:tc>
                  <a:txBody>
                    <a:bodyPr/>
                    <a:lstStyle/>
                    <a:p>
                      <a:pPr algn="ctr"/>
                      <a:r>
                        <a:rPr lang="en-US" sz="900" b="0" dirty="0"/>
                        <a:t>1999</a:t>
                      </a:r>
                      <a:endParaRPr lang="en-IN" sz="900" b="0" dirty="0"/>
                    </a:p>
                  </a:txBody>
                  <a:tcPr anchor="ctr"/>
                </a:tc>
                <a:tc>
                  <a:txBody>
                    <a:bodyPr/>
                    <a:lstStyle/>
                    <a:p>
                      <a:pPr marL="171450" indent="-171450">
                        <a:buFont typeface="Arial" panose="020B0604020202020204" pitchFamily="34" charset="0"/>
                        <a:buChar char="•"/>
                      </a:pPr>
                      <a:r>
                        <a:rPr lang="en-US" sz="900" b="0" dirty="0"/>
                        <a:t>3 Year (2014)</a:t>
                      </a:r>
                    </a:p>
                    <a:p>
                      <a:pPr marL="171450" indent="-171450">
                        <a:buFont typeface="Arial" panose="020B0604020202020204" pitchFamily="34" charset="0"/>
                        <a:buChar char="•"/>
                      </a:pPr>
                      <a:r>
                        <a:rPr lang="en-US" sz="900" b="0" dirty="0"/>
                        <a:t>2 Years (2019)</a:t>
                      </a:r>
                      <a:endParaRPr lang="en-IN" sz="900" b="0" dirty="0"/>
                    </a:p>
                  </a:txBody>
                  <a:tcPr anchor="ctr"/>
                </a:tc>
                <a:extLst>
                  <a:ext uri="{0D108BD9-81ED-4DB2-BD59-A6C34878D82A}">
                    <a16:rowId xmlns:a16="http://schemas.microsoft.com/office/drawing/2014/main" val="3541535278"/>
                  </a:ext>
                </a:extLst>
              </a:tr>
              <a:tr h="370397">
                <a:tc>
                  <a:txBody>
                    <a:bodyPr/>
                    <a:lstStyle/>
                    <a:p>
                      <a:r>
                        <a:rPr lang="en-US" sz="900" b="0" dirty="0"/>
                        <a:t>3</a:t>
                      </a:r>
                      <a:endParaRPr lang="en-IN" sz="900" b="0" dirty="0"/>
                    </a:p>
                  </a:txBody>
                  <a:tcPr anchor="ctr"/>
                </a:tc>
                <a:tc>
                  <a:txBody>
                    <a:bodyPr/>
                    <a:lstStyle/>
                    <a:p>
                      <a:r>
                        <a:rPr lang="en-US" sz="900" b="0" dirty="0"/>
                        <a:t>Bogra (Energyprima)</a:t>
                      </a:r>
                      <a:endParaRPr lang="en-IN" sz="900" b="0" dirty="0"/>
                    </a:p>
                  </a:txBody>
                  <a:tcPr anchor="ctr"/>
                </a:tc>
                <a:tc>
                  <a:txBody>
                    <a:bodyPr/>
                    <a:lstStyle/>
                    <a:p>
                      <a:pPr algn="ctr"/>
                      <a:r>
                        <a:rPr lang="en-US" sz="900" b="0" dirty="0"/>
                        <a:t>20</a:t>
                      </a:r>
                      <a:endParaRPr lang="en-IN" sz="900" b="0" dirty="0"/>
                    </a:p>
                  </a:txBody>
                  <a:tcPr anchor="ctr"/>
                </a:tc>
                <a:tc>
                  <a:txBody>
                    <a:bodyPr/>
                    <a:lstStyle/>
                    <a:p>
                      <a:pPr algn="ctr"/>
                      <a:r>
                        <a:rPr lang="en-US" sz="900" b="0" dirty="0"/>
                        <a:t>2008</a:t>
                      </a:r>
                      <a:endParaRPr lang="en-IN" sz="900" b="0" dirty="0"/>
                    </a:p>
                  </a:txBody>
                  <a:tcPr anchor="ctr"/>
                </a:tc>
                <a:tc>
                  <a:txBody>
                    <a:bodyPr/>
                    <a:lstStyle/>
                    <a:p>
                      <a:pPr marL="171450" indent="-171450">
                        <a:buFont typeface="Arial" panose="020B0604020202020204" pitchFamily="34" charset="0"/>
                        <a:buChar char="•"/>
                      </a:pPr>
                      <a:r>
                        <a:rPr lang="en-US" sz="900" dirty="0"/>
                        <a:t>3 years</a:t>
                      </a:r>
                      <a:r>
                        <a:rPr lang="en-US" sz="900" baseline="0" dirty="0"/>
                        <a:t> (2012)</a:t>
                      </a:r>
                      <a:endParaRPr lang="en-US" sz="900" dirty="0"/>
                    </a:p>
                    <a:p>
                      <a:pPr marL="171450" indent="-171450">
                        <a:buFont typeface="Arial" panose="020B0604020202020204" pitchFamily="34" charset="0"/>
                        <a:buChar char="•"/>
                      </a:pPr>
                      <a:r>
                        <a:rPr lang="en-US" sz="900" dirty="0"/>
                        <a:t>3 years (2015)</a:t>
                      </a:r>
                      <a:endParaRPr lang="en-IN" sz="900" b="0" dirty="0"/>
                    </a:p>
                  </a:txBody>
                  <a:tcPr anchor="ctr"/>
                </a:tc>
                <a:extLst>
                  <a:ext uri="{0D108BD9-81ED-4DB2-BD59-A6C34878D82A}">
                    <a16:rowId xmlns:a16="http://schemas.microsoft.com/office/drawing/2014/main" val="903716771"/>
                  </a:ext>
                </a:extLst>
              </a:tr>
              <a:tr h="370397">
                <a:tc>
                  <a:txBody>
                    <a:bodyPr/>
                    <a:lstStyle/>
                    <a:p>
                      <a:r>
                        <a:rPr lang="en-US" sz="900" b="0" dirty="0"/>
                        <a:t>4</a:t>
                      </a:r>
                      <a:endParaRPr lang="en-IN" sz="900" b="0" dirty="0"/>
                    </a:p>
                  </a:txBody>
                  <a:tcPr anchor="ctr"/>
                </a:tc>
                <a:tc>
                  <a:txBody>
                    <a:bodyPr/>
                    <a:lstStyle/>
                    <a:p>
                      <a:r>
                        <a:rPr lang="en-US" sz="900" b="0" dirty="0"/>
                        <a:t>Shahjibazar (Energyprima)</a:t>
                      </a:r>
                      <a:endParaRPr lang="en-IN" sz="900" b="0" dirty="0"/>
                    </a:p>
                  </a:txBody>
                  <a:tcPr anchor="ctr"/>
                </a:tc>
                <a:tc>
                  <a:txBody>
                    <a:bodyPr/>
                    <a:lstStyle/>
                    <a:p>
                      <a:pPr algn="ctr"/>
                      <a:r>
                        <a:rPr lang="en-US" sz="900" b="0" dirty="0"/>
                        <a:t>50</a:t>
                      </a:r>
                      <a:endParaRPr lang="en-IN" sz="900" b="0" dirty="0"/>
                    </a:p>
                  </a:txBody>
                  <a:tcPr anchor="ctr"/>
                </a:tc>
                <a:tc>
                  <a:txBody>
                    <a:bodyPr/>
                    <a:lstStyle/>
                    <a:p>
                      <a:pPr algn="ctr"/>
                      <a:r>
                        <a:rPr lang="en-US" sz="900" b="0" dirty="0"/>
                        <a:t>2008</a:t>
                      </a:r>
                      <a:endParaRPr lang="en-IN" sz="900" b="0" dirty="0"/>
                    </a:p>
                  </a:txBody>
                  <a:tcPr anchor="ctr"/>
                </a:tc>
                <a:tc>
                  <a:txBody>
                    <a:bodyPr/>
                    <a:lstStyle/>
                    <a:p>
                      <a:pPr marL="171450" indent="-171450">
                        <a:buFont typeface="Arial" panose="020B0604020202020204" pitchFamily="34" charset="0"/>
                        <a:buChar char="•"/>
                      </a:pPr>
                      <a:r>
                        <a:rPr lang="en-US" sz="900" dirty="0"/>
                        <a:t>3 years</a:t>
                      </a:r>
                      <a:r>
                        <a:rPr lang="en-US" sz="900" baseline="0" dirty="0"/>
                        <a:t> (2012)</a:t>
                      </a:r>
                      <a:endParaRPr lang="en-US" sz="900" dirty="0"/>
                    </a:p>
                    <a:p>
                      <a:pPr marL="171450" indent="-171450">
                        <a:buFont typeface="Arial" panose="020B0604020202020204" pitchFamily="34" charset="0"/>
                        <a:buChar char="•"/>
                      </a:pPr>
                      <a:r>
                        <a:rPr lang="en-US" sz="900" dirty="0"/>
                        <a:t>3 years (2015)</a:t>
                      </a:r>
                      <a:endParaRPr lang="en-IN" sz="900" b="0" dirty="0"/>
                    </a:p>
                  </a:txBody>
                  <a:tcPr anchor="ctr"/>
                </a:tc>
                <a:extLst>
                  <a:ext uri="{0D108BD9-81ED-4DB2-BD59-A6C34878D82A}">
                    <a16:rowId xmlns:a16="http://schemas.microsoft.com/office/drawing/2014/main" val="2853324328"/>
                  </a:ext>
                </a:extLst>
              </a:tr>
              <a:tr h="211656">
                <a:tc>
                  <a:txBody>
                    <a:bodyPr/>
                    <a:lstStyle/>
                    <a:p>
                      <a:r>
                        <a:rPr lang="en-US" sz="900" dirty="0"/>
                        <a:t>3</a:t>
                      </a:r>
                      <a:endParaRPr lang="en-IN" sz="900" b="0" dirty="0"/>
                    </a:p>
                  </a:txBody>
                  <a:tcPr anchor="ctr"/>
                </a:tc>
                <a:tc>
                  <a:txBody>
                    <a:bodyPr/>
                    <a:lstStyle/>
                    <a:p>
                      <a:r>
                        <a:rPr lang="en-US" sz="900" dirty="0"/>
                        <a:t>Powerpac Motiyara</a:t>
                      </a:r>
                      <a:endParaRPr lang="en-IN" sz="900" b="0" dirty="0"/>
                    </a:p>
                  </a:txBody>
                  <a:tcPr anchor="ctr"/>
                </a:tc>
                <a:tc>
                  <a:txBody>
                    <a:bodyPr/>
                    <a:lstStyle/>
                    <a:p>
                      <a:pPr algn="ctr"/>
                      <a:r>
                        <a:rPr lang="en-US" sz="900" dirty="0"/>
                        <a:t>100</a:t>
                      </a:r>
                      <a:endParaRPr lang="en-IN" sz="900" b="0" dirty="0"/>
                    </a:p>
                  </a:txBody>
                  <a:tcPr anchor="ctr"/>
                </a:tc>
                <a:tc>
                  <a:txBody>
                    <a:bodyPr/>
                    <a:lstStyle/>
                    <a:p>
                      <a:pPr algn="ctr"/>
                      <a:r>
                        <a:rPr lang="en-US" sz="900" dirty="0"/>
                        <a:t>2012</a:t>
                      </a:r>
                      <a:endParaRPr lang="en-IN" sz="900" b="0" dirty="0"/>
                    </a:p>
                  </a:txBody>
                  <a:tcPr anchor="ctr"/>
                </a:tc>
                <a:tc>
                  <a:txBody>
                    <a:bodyPr/>
                    <a:lstStyle/>
                    <a:p>
                      <a:pPr marL="171450" indent="-171450">
                        <a:buFont typeface="Arial" panose="020B0604020202020204" pitchFamily="34" charset="0"/>
                        <a:buChar char="•"/>
                      </a:pPr>
                      <a:r>
                        <a:rPr lang="en-US" sz="900" dirty="0"/>
                        <a:t>5 years (2017)</a:t>
                      </a:r>
                      <a:endParaRPr lang="en-IN" sz="900" b="0" dirty="0"/>
                    </a:p>
                  </a:txBody>
                  <a:tcPr anchor="ctr"/>
                </a:tc>
                <a:extLst>
                  <a:ext uri="{0D108BD9-81ED-4DB2-BD59-A6C34878D82A}">
                    <a16:rowId xmlns:a16="http://schemas.microsoft.com/office/drawing/2014/main" val="2505527562"/>
                  </a:ext>
                </a:extLst>
              </a:tr>
              <a:tr h="326668">
                <a:tc>
                  <a:txBody>
                    <a:bodyPr/>
                    <a:lstStyle/>
                    <a:p>
                      <a:r>
                        <a:rPr lang="en-US" sz="900" b="0" dirty="0"/>
                        <a:t>4</a:t>
                      </a:r>
                      <a:endParaRPr lang="en-IN" sz="900" b="0" dirty="0"/>
                    </a:p>
                  </a:txBody>
                  <a:tcPr anchor="ctr"/>
                </a:tc>
                <a:tc>
                  <a:txBody>
                    <a:bodyPr/>
                    <a:lstStyle/>
                    <a:p>
                      <a:r>
                        <a:rPr lang="en-US" sz="900" b="0" dirty="0"/>
                        <a:t>Precision Energy (Ashuganj)</a:t>
                      </a:r>
                      <a:endParaRPr lang="en-IN" sz="900" b="0" dirty="0"/>
                    </a:p>
                  </a:txBody>
                  <a:tcPr anchor="ctr"/>
                </a:tc>
                <a:tc>
                  <a:txBody>
                    <a:bodyPr/>
                    <a:lstStyle/>
                    <a:p>
                      <a:pPr algn="ctr"/>
                      <a:r>
                        <a:rPr lang="en-US" sz="900" b="0" dirty="0"/>
                        <a:t>55</a:t>
                      </a:r>
                      <a:endParaRPr lang="en-IN" sz="900" b="0" dirty="0"/>
                    </a:p>
                  </a:txBody>
                  <a:tcPr anchor="ctr"/>
                </a:tc>
                <a:tc>
                  <a:txBody>
                    <a:bodyPr/>
                    <a:lstStyle/>
                    <a:p>
                      <a:pPr algn="ctr"/>
                      <a:r>
                        <a:rPr lang="en-US" sz="900" b="0" dirty="0"/>
                        <a:t>2010</a:t>
                      </a:r>
                      <a:endParaRPr lang="en-IN" sz="900" b="0" dirty="0"/>
                    </a:p>
                  </a:txBody>
                  <a:tcPr anchor="ctr"/>
                </a:tc>
                <a:tc>
                  <a:txBody>
                    <a:bodyPr/>
                    <a:lstStyle/>
                    <a:p>
                      <a:pPr marL="171450" indent="-171450">
                        <a:buFont typeface="Arial" panose="020B0604020202020204" pitchFamily="34" charset="0"/>
                        <a:buChar char="•"/>
                      </a:pPr>
                      <a:r>
                        <a:rPr lang="en-US" sz="900" b="0" dirty="0"/>
                        <a:t>5</a:t>
                      </a:r>
                      <a:r>
                        <a:rPr lang="en-US" sz="900" b="0" baseline="0" dirty="0"/>
                        <a:t> years (2017)</a:t>
                      </a:r>
                      <a:endParaRPr lang="en-IN" sz="900" b="0" dirty="0"/>
                    </a:p>
                  </a:txBody>
                  <a:tcPr anchor="ctr"/>
                </a:tc>
                <a:extLst>
                  <a:ext uri="{0D108BD9-81ED-4DB2-BD59-A6C34878D82A}">
                    <a16:rowId xmlns:a16="http://schemas.microsoft.com/office/drawing/2014/main" val="3045491348"/>
                  </a:ext>
                </a:extLst>
              </a:tr>
              <a:tr h="211656">
                <a:tc>
                  <a:txBody>
                    <a:bodyPr/>
                    <a:lstStyle/>
                    <a:p>
                      <a:r>
                        <a:rPr lang="en-US" sz="900" b="0" dirty="0"/>
                        <a:t>5</a:t>
                      </a:r>
                      <a:endParaRPr lang="en-IN" sz="900" b="0" dirty="0"/>
                    </a:p>
                  </a:txBody>
                  <a:tcPr anchor="ctr"/>
                </a:tc>
                <a:tc>
                  <a:txBody>
                    <a:bodyPr/>
                    <a:lstStyle/>
                    <a:p>
                      <a:r>
                        <a:rPr lang="en-US" sz="900" b="0" dirty="0"/>
                        <a:t>Kathakali-Rajshahi</a:t>
                      </a:r>
                      <a:endParaRPr lang="en-IN" sz="900" b="0" dirty="0"/>
                    </a:p>
                  </a:txBody>
                  <a:tcPr anchor="ctr"/>
                </a:tc>
                <a:tc>
                  <a:txBody>
                    <a:bodyPr/>
                    <a:lstStyle/>
                    <a:p>
                      <a:pPr algn="ctr"/>
                      <a:r>
                        <a:rPr lang="en-US" sz="900" b="0" dirty="0"/>
                        <a:t>50</a:t>
                      </a:r>
                      <a:endParaRPr lang="en-IN" sz="900" b="0" dirty="0"/>
                    </a:p>
                  </a:txBody>
                  <a:tcPr anchor="ctr"/>
                </a:tc>
                <a:tc>
                  <a:txBody>
                    <a:bodyPr/>
                    <a:lstStyle/>
                    <a:p>
                      <a:pPr algn="ctr"/>
                      <a:r>
                        <a:rPr lang="en-US" sz="900" b="0" dirty="0"/>
                        <a:t>2010</a:t>
                      </a:r>
                      <a:endParaRPr lang="en-IN" sz="900" b="0" dirty="0"/>
                    </a:p>
                  </a:txBody>
                  <a:tcPr anchor="ctr"/>
                </a:tc>
                <a:tc>
                  <a:txBody>
                    <a:bodyPr/>
                    <a:lstStyle/>
                    <a:p>
                      <a:pPr marL="171450" indent="-171450">
                        <a:buFont typeface="Arial" panose="020B0604020202020204" pitchFamily="34" charset="0"/>
                        <a:buChar char="•"/>
                      </a:pPr>
                      <a:r>
                        <a:rPr lang="en-US" sz="900" b="0" dirty="0"/>
                        <a:t>5 years (2017)</a:t>
                      </a:r>
                      <a:endParaRPr lang="en-IN" sz="900" b="0" dirty="0"/>
                    </a:p>
                  </a:txBody>
                  <a:tcPr anchor="ctr"/>
                </a:tc>
                <a:extLst>
                  <a:ext uri="{0D108BD9-81ED-4DB2-BD59-A6C34878D82A}">
                    <a16:rowId xmlns:a16="http://schemas.microsoft.com/office/drawing/2014/main" val="2974818485"/>
                  </a:ext>
                </a:extLst>
              </a:tr>
              <a:tr h="326668">
                <a:tc>
                  <a:txBody>
                    <a:bodyPr/>
                    <a:lstStyle/>
                    <a:p>
                      <a:r>
                        <a:rPr lang="en-US" sz="900" b="0" dirty="0"/>
                        <a:t>6</a:t>
                      </a:r>
                      <a:endParaRPr lang="en-IN" sz="900" b="0" dirty="0"/>
                    </a:p>
                  </a:txBody>
                  <a:tcPr anchor="ctr"/>
                </a:tc>
                <a:tc>
                  <a:txBody>
                    <a:bodyPr/>
                    <a:lstStyle/>
                    <a:p>
                      <a:r>
                        <a:rPr lang="en-US" sz="900" b="0" dirty="0"/>
                        <a:t>Sinha power</a:t>
                      </a:r>
                      <a:r>
                        <a:rPr lang="en-US" sz="900" b="0" baseline="0" dirty="0"/>
                        <a:t> -Chapainawabganj</a:t>
                      </a:r>
                      <a:endParaRPr lang="en-IN" sz="900" b="0" dirty="0"/>
                    </a:p>
                  </a:txBody>
                  <a:tcPr anchor="ctr"/>
                </a:tc>
                <a:tc>
                  <a:txBody>
                    <a:bodyPr/>
                    <a:lstStyle/>
                    <a:p>
                      <a:pPr algn="ctr"/>
                      <a:r>
                        <a:rPr lang="en-US" sz="900" b="0" dirty="0"/>
                        <a:t>50</a:t>
                      </a:r>
                      <a:endParaRPr lang="en-IN" sz="900" b="0" dirty="0"/>
                    </a:p>
                  </a:txBody>
                  <a:tcPr anchor="ctr"/>
                </a:tc>
                <a:tc>
                  <a:txBody>
                    <a:bodyPr/>
                    <a:lstStyle/>
                    <a:p>
                      <a:pPr algn="ctr"/>
                      <a:r>
                        <a:rPr lang="en-US" sz="900" b="0" dirty="0"/>
                        <a:t>2010</a:t>
                      </a:r>
                      <a:endParaRPr lang="en-IN" sz="900" b="0" dirty="0"/>
                    </a:p>
                  </a:txBody>
                  <a:tcPr anchor="ctr"/>
                </a:tc>
                <a:tc>
                  <a:txBody>
                    <a:bodyPr/>
                    <a:lstStyle/>
                    <a:p>
                      <a:pPr marL="171450" indent="-171450">
                        <a:buFont typeface="Arial" panose="020B0604020202020204" pitchFamily="34" charset="0"/>
                        <a:buChar char="•"/>
                      </a:pPr>
                      <a:r>
                        <a:rPr lang="en-US" sz="900" b="0" dirty="0"/>
                        <a:t>5 years (2017)</a:t>
                      </a:r>
                      <a:endParaRPr lang="en-IN" sz="900" b="0" dirty="0"/>
                    </a:p>
                  </a:txBody>
                  <a:tcPr anchor="ctr"/>
                </a:tc>
                <a:extLst>
                  <a:ext uri="{0D108BD9-81ED-4DB2-BD59-A6C34878D82A}">
                    <a16:rowId xmlns:a16="http://schemas.microsoft.com/office/drawing/2014/main" val="685825454"/>
                  </a:ext>
                </a:extLst>
              </a:tr>
              <a:tr h="211656">
                <a:tc>
                  <a:txBody>
                    <a:bodyPr/>
                    <a:lstStyle/>
                    <a:p>
                      <a:r>
                        <a:rPr lang="en-US" sz="900" b="0" dirty="0"/>
                        <a:t>7</a:t>
                      </a:r>
                      <a:endParaRPr lang="en-IN" sz="900" b="0" dirty="0"/>
                    </a:p>
                  </a:txBody>
                  <a:tcPr anchor="ctr"/>
                </a:tc>
                <a:tc>
                  <a:txBody>
                    <a:bodyPr/>
                    <a:lstStyle/>
                    <a:p>
                      <a:r>
                        <a:rPr lang="en-US" sz="900" b="0" dirty="0"/>
                        <a:t>UEL-Ashuganj</a:t>
                      </a:r>
                      <a:endParaRPr lang="en-IN" sz="900" b="0" dirty="0"/>
                    </a:p>
                  </a:txBody>
                  <a:tcPr anchor="ctr"/>
                </a:tc>
                <a:tc>
                  <a:txBody>
                    <a:bodyPr/>
                    <a:lstStyle/>
                    <a:p>
                      <a:pPr algn="ctr"/>
                      <a:r>
                        <a:rPr lang="en-US" sz="900" b="0" dirty="0"/>
                        <a:t>53</a:t>
                      </a:r>
                      <a:endParaRPr lang="en-IN" sz="900" b="0" dirty="0"/>
                    </a:p>
                  </a:txBody>
                  <a:tcPr anchor="ctr"/>
                </a:tc>
                <a:tc>
                  <a:txBody>
                    <a:bodyPr/>
                    <a:lstStyle/>
                    <a:p>
                      <a:pPr algn="ctr"/>
                      <a:r>
                        <a:rPr lang="en-US" sz="900" b="0" dirty="0"/>
                        <a:t>2011</a:t>
                      </a:r>
                      <a:endParaRPr lang="en-IN" sz="900" b="0" dirty="0"/>
                    </a:p>
                  </a:txBody>
                  <a:tcPr anchor="ctr"/>
                </a:tc>
                <a:tc>
                  <a:txBody>
                    <a:bodyPr/>
                    <a:lstStyle/>
                    <a:p>
                      <a:pPr marL="171450" indent="-171450">
                        <a:buFont typeface="Arial" panose="020B0604020202020204" pitchFamily="34" charset="0"/>
                        <a:buChar char="•"/>
                      </a:pPr>
                      <a:r>
                        <a:rPr lang="en-US" sz="900" b="0" dirty="0"/>
                        <a:t>5 years (2013)</a:t>
                      </a:r>
                      <a:endParaRPr lang="en-IN" sz="900" b="0" dirty="0"/>
                    </a:p>
                  </a:txBody>
                  <a:tcPr anchor="ctr"/>
                </a:tc>
                <a:extLst>
                  <a:ext uri="{0D108BD9-81ED-4DB2-BD59-A6C34878D82A}">
                    <a16:rowId xmlns:a16="http://schemas.microsoft.com/office/drawing/2014/main" val="2764836313"/>
                  </a:ext>
                </a:extLst>
              </a:tr>
              <a:tr h="211656">
                <a:tc>
                  <a:txBody>
                    <a:bodyPr/>
                    <a:lstStyle/>
                    <a:p>
                      <a:r>
                        <a:rPr lang="en-US" sz="900" b="0" dirty="0"/>
                        <a:t>8</a:t>
                      </a:r>
                      <a:endParaRPr lang="en-IN" sz="900" b="0" dirty="0"/>
                    </a:p>
                  </a:txBody>
                  <a:tcPr anchor="ctr"/>
                </a:tc>
                <a:tc>
                  <a:txBody>
                    <a:bodyPr/>
                    <a:lstStyle/>
                    <a:p>
                      <a:r>
                        <a:rPr lang="en-US" sz="900" b="0" dirty="0"/>
                        <a:t>KPCL –II</a:t>
                      </a:r>
                      <a:endParaRPr lang="en-IN" sz="900" b="0" dirty="0"/>
                    </a:p>
                  </a:txBody>
                  <a:tcPr anchor="ctr"/>
                </a:tc>
                <a:tc>
                  <a:txBody>
                    <a:bodyPr/>
                    <a:lstStyle/>
                    <a:p>
                      <a:pPr algn="ctr"/>
                      <a:r>
                        <a:rPr lang="en-US" sz="900" b="0" dirty="0"/>
                        <a:t>115</a:t>
                      </a:r>
                      <a:endParaRPr lang="en-IN" sz="900" b="0" dirty="0"/>
                    </a:p>
                  </a:txBody>
                  <a:tcPr anchor="ctr"/>
                </a:tc>
                <a:tc>
                  <a:txBody>
                    <a:bodyPr/>
                    <a:lstStyle/>
                    <a:p>
                      <a:pPr algn="ctr"/>
                      <a:r>
                        <a:rPr lang="en-US" sz="900" b="0" dirty="0"/>
                        <a:t>2010</a:t>
                      </a:r>
                      <a:endParaRPr lang="en-IN" sz="900" b="0" dirty="0"/>
                    </a:p>
                  </a:txBody>
                  <a:tcPr anchor="ctr"/>
                </a:tc>
                <a:tc>
                  <a:txBody>
                    <a:bodyPr/>
                    <a:lstStyle/>
                    <a:p>
                      <a:pPr marL="171450" indent="-171450">
                        <a:buFont typeface="Arial" panose="020B0604020202020204" pitchFamily="34" charset="0"/>
                        <a:buChar char="•"/>
                      </a:pPr>
                      <a:r>
                        <a:rPr lang="en-US" sz="900" b="0" dirty="0"/>
                        <a:t>5 years (2016)</a:t>
                      </a:r>
                      <a:r>
                        <a:rPr lang="en-US" sz="900" b="0" baseline="0" dirty="0"/>
                        <a:t> </a:t>
                      </a:r>
                      <a:endParaRPr lang="en-IN" sz="900" b="0" dirty="0"/>
                    </a:p>
                  </a:txBody>
                  <a:tcPr anchor="ctr"/>
                </a:tc>
                <a:extLst>
                  <a:ext uri="{0D108BD9-81ED-4DB2-BD59-A6C34878D82A}">
                    <a16:rowId xmlns:a16="http://schemas.microsoft.com/office/drawing/2014/main" val="700033675"/>
                  </a:ext>
                </a:extLst>
              </a:tr>
              <a:tr h="326668">
                <a:tc>
                  <a:txBody>
                    <a:bodyPr/>
                    <a:lstStyle/>
                    <a:p>
                      <a:r>
                        <a:rPr lang="en-US" sz="900" b="0" dirty="0"/>
                        <a:t>9</a:t>
                      </a:r>
                      <a:endParaRPr lang="en-IN" sz="900" b="0" dirty="0"/>
                    </a:p>
                  </a:txBody>
                  <a:tcPr anchor="ctr"/>
                </a:tc>
                <a:tc>
                  <a:txBody>
                    <a:bodyPr/>
                    <a:lstStyle/>
                    <a:p>
                      <a:r>
                        <a:rPr lang="en-US" sz="900" b="0" dirty="0"/>
                        <a:t>Khanjahan</a:t>
                      </a:r>
                      <a:r>
                        <a:rPr lang="en-US" sz="900" b="0" baseline="0" dirty="0"/>
                        <a:t> Ali – Summit</a:t>
                      </a:r>
                      <a:endParaRPr lang="en-IN" sz="900" b="0" dirty="0"/>
                    </a:p>
                  </a:txBody>
                  <a:tcPr anchor="ctr"/>
                </a:tc>
                <a:tc>
                  <a:txBody>
                    <a:bodyPr/>
                    <a:lstStyle/>
                    <a:p>
                      <a:pPr algn="ctr"/>
                      <a:r>
                        <a:rPr lang="en-US" sz="900" b="0" dirty="0"/>
                        <a:t>40</a:t>
                      </a:r>
                      <a:endParaRPr lang="en-IN" sz="900" b="0" dirty="0"/>
                    </a:p>
                  </a:txBody>
                  <a:tcPr anchor="ctr"/>
                </a:tc>
                <a:tc>
                  <a:txBody>
                    <a:bodyPr/>
                    <a:lstStyle/>
                    <a:p>
                      <a:pPr algn="ctr"/>
                      <a:r>
                        <a:rPr lang="en-US" sz="900" b="0" dirty="0"/>
                        <a:t>2010</a:t>
                      </a:r>
                      <a:endParaRPr lang="en-IN" sz="900" b="0" dirty="0"/>
                    </a:p>
                  </a:txBody>
                  <a:tcPr anchor="ctr"/>
                </a:tc>
                <a:tc>
                  <a:txBody>
                    <a:bodyPr/>
                    <a:lstStyle/>
                    <a:p>
                      <a:pPr marL="171450" indent="-171450">
                        <a:buFont typeface="Arial" panose="020B0604020202020204" pitchFamily="34" charset="0"/>
                        <a:buChar char="•"/>
                      </a:pPr>
                      <a:r>
                        <a:rPr lang="en-US" sz="900" b="0" dirty="0"/>
                        <a:t>5 years</a:t>
                      </a:r>
                      <a:r>
                        <a:rPr lang="en-US" sz="900" b="0" baseline="0" dirty="0"/>
                        <a:t> (2016)</a:t>
                      </a:r>
                      <a:endParaRPr lang="en-IN" sz="900" b="0" dirty="0"/>
                    </a:p>
                  </a:txBody>
                  <a:tcPr anchor="ctr"/>
                </a:tc>
                <a:extLst>
                  <a:ext uri="{0D108BD9-81ED-4DB2-BD59-A6C34878D82A}">
                    <a16:rowId xmlns:a16="http://schemas.microsoft.com/office/drawing/2014/main" val="548220602"/>
                  </a:ext>
                </a:extLst>
              </a:tr>
              <a:tr h="211656">
                <a:tc>
                  <a:txBody>
                    <a:bodyPr/>
                    <a:lstStyle/>
                    <a:p>
                      <a:r>
                        <a:rPr lang="en-US" sz="900" b="0" dirty="0"/>
                        <a:t>10</a:t>
                      </a:r>
                      <a:endParaRPr lang="en-IN" sz="900" b="0" dirty="0"/>
                    </a:p>
                  </a:txBody>
                  <a:tcPr anchor="ctr"/>
                </a:tc>
                <a:tc>
                  <a:txBody>
                    <a:bodyPr/>
                    <a:lstStyle/>
                    <a:p>
                      <a:r>
                        <a:rPr lang="en-US" sz="900" b="0" dirty="0"/>
                        <a:t>Acorn Infra</a:t>
                      </a:r>
                      <a:endParaRPr lang="en-IN" sz="900" b="0" dirty="0"/>
                    </a:p>
                  </a:txBody>
                  <a:tcPr anchor="ctr"/>
                </a:tc>
                <a:tc>
                  <a:txBody>
                    <a:bodyPr/>
                    <a:lstStyle/>
                    <a:p>
                      <a:pPr algn="ctr"/>
                      <a:r>
                        <a:rPr lang="en-US" sz="900" b="0" dirty="0"/>
                        <a:t>100</a:t>
                      </a:r>
                      <a:endParaRPr lang="en-IN" sz="900" b="0" dirty="0"/>
                    </a:p>
                  </a:txBody>
                  <a:tcPr anchor="ctr"/>
                </a:tc>
                <a:tc>
                  <a:txBody>
                    <a:bodyPr/>
                    <a:lstStyle/>
                    <a:p>
                      <a:pPr algn="ctr"/>
                      <a:r>
                        <a:rPr lang="en-US" sz="900" b="0" dirty="0"/>
                        <a:t>2012</a:t>
                      </a:r>
                      <a:endParaRPr lang="en-IN" sz="900" b="0" dirty="0"/>
                    </a:p>
                  </a:txBody>
                  <a:tcPr anchor="ctr"/>
                </a:tc>
                <a:tc>
                  <a:txBody>
                    <a:bodyPr/>
                    <a:lstStyle/>
                    <a:p>
                      <a:pPr marL="171450" indent="-171450">
                        <a:buFont typeface="Arial" panose="020B0604020202020204" pitchFamily="34" charset="0"/>
                        <a:buChar char="•"/>
                      </a:pPr>
                      <a:r>
                        <a:rPr lang="en-US" sz="900" b="0" dirty="0"/>
                        <a:t>5 years (2017)</a:t>
                      </a:r>
                      <a:endParaRPr lang="en-IN" sz="900" b="0" dirty="0"/>
                    </a:p>
                  </a:txBody>
                  <a:tcPr anchor="ctr"/>
                </a:tc>
                <a:extLst>
                  <a:ext uri="{0D108BD9-81ED-4DB2-BD59-A6C34878D82A}">
                    <a16:rowId xmlns:a16="http://schemas.microsoft.com/office/drawing/2014/main" val="1552745850"/>
                  </a:ext>
                </a:extLst>
              </a:tr>
              <a:tr h="211656">
                <a:tc>
                  <a:txBody>
                    <a:bodyPr/>
                    <a:lstStyle/>
                    <a:p>
                      <a:r>
                        <a:rPr lang="en-US" sz="900" b="0" dirty="0"/>
                        <a:t>11</a:t>
                      </a:r>
                      <a:endParaRPr lang="en-IN" sz="900" b="0" dirty="0"/>
                    </a:p>
                  </a:txBody>
                  <a:tcPr anchor="ctr"/>
                </a:tc>
                <a:tc>
                  <a:txBody>
                    <a:bodyPr/>
                    <a:lstStyle/>
                    <a:p>
                      <a:r>
                        <a:rPr lang="en-US" sz="900" b="0" dirty="0"/>
                        <a:t>Dutch Bangla</a:t>
                      </a:r>
                      <a:endParaRPr lang="en-IN" sz="900" b="0" dirty="0"/>
                    </a:p>
                  </a:txBody>
                  <a:tcPr anchor="ctr"/>
                </a:tc>
                <a:tc>
                  <a:txBody>
                    <a:bodyPr/>
                    <a:lstStyle/>
                    <a:p>
                      <a:pPr algn="ctr"/>
                      <a:r>
                        <a:rPr lang="en-US" sz="900" b="0" dirty="0"/>
                        <a:t>100</a:t>
                      </a:r>
                      <a:endParaRPr lang="en-IN" sz="900" b="0" dirty="0"/>
                    </a:p>
                  </a:txBody>
                  <a:tcPr anchor="ctr"/>
                </a:tc>
                <a:tc>
                  <a:txBody>
                    <a:bodyPr/>
                    <a:lstStyle/>
                    <a:p>
                      <a:pPr algn="ctr"/>
                      <a:r>
                        <a:rPr lang="en-US" sz="900" b="0" dirty="0"/>
                        <a:t>2011</a:t>
                      </a:r>
                      <a:endParaRPr lang="en-IN" sz="900" b="0" dirty="0"/>
                    </a:p>
                  </a:txBody>
                  <a:tcPr anchor="ctr"/>
                </a:tc>
                <a:tc>
                  <a:txBody>
                    <a:bodyPr/>
                    <a:lstStyle/>
                    <a:p>
                      <a:pPr marL="171450" indent="-171450">
                        <a:buFont typeface="Arial" panose="020B0604020202020204" pitchFamily="34" charset="0"/>
                        <a:buChar char="•"/>
                      </a:pPr>
                      <a:r>
                        <a:rPr lang="en-US" sz="900" b="0" dirty="0"/>
                        <a:t>5 years (2016)</a:t>
                      </a:r>
                      <a:endParaRPr lang="en-IN" sz="900" b="0" dirty="0"/>
                    </a:p>
                  </a:txBody>
                  <a:tcPr anchor="ctr"/>
                </a:tc>
                <a:extLst>
                  <a:ext uri="{0D108BD9-81ED-4DB2-BD59-A6C34878D82A}">
                    <a16:rowId xmlns:a16="http://schemas.microsoft.com/office/drawing/2014/main" val="1323007215"/>
                  </a:ext>
                </a:extLst>
              </a:tr>
            </a:tbl>
          </a:graphicData>
        </a:graphic>
      </p:graphicFrame>
      <p:sp>
        <p:nvSpPr>
          <p:cNvPr id="11" name="Rectangle 10"/>
          <p:cNvSpPr/>
          <p:nvPr/>
        </p:nvSpPr>
        <p:spPr bwMode="gray">
          <a:xfrm>
            <a:off x="362237" y="7290720"/>
            <a:ext cx="9936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Industry Reports, Deloitte Analysis;</a:t>
            </a:r>
            <a:r>
              <a:rPr kumimoji="0" lang="en-US" sz="700" b="0" i="1" u="none" strike="noStrike" kern="1200" cap="none" spc="0" normalizeH="0" noProof="0" dirty="0">
                <a:ln>
                  <a:noFill/>
                </a:ln>
                <a:solidFill>
                  <a:prstClr val="black"/>
                </a:solidFill>
                <a:effectLst/>
                <a:uLnTx/>
                <a:uFillTx/>
                <a:latin typeface="Verdana"/>
                <a:ea typeface="+mn-ea"/>
                <a:cs typeface="+mn-cs"/>
              </a:rPr>
              <a:t> Note 1) Over the last 10 years, a few power plants have retired in Bangladesh and hence their PPAs have expired on completion of their tenure.</a:t>
            </a:r>
            <a:endParaRPr kumimoji="0" lang="en-US" sz="700" b="0" i="1"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782956318"/>
      </p:ext>
    </p:extLst>
  </p:cSld>
  <p:clrMapOvr>
    <a:masterClrMapping/>
  </p:clrMapOvr>
  <p:transition>
    <p:fade/>
  </p:transition>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4" imgW="530" imgH="531" progId="TCLayout.ActiveDocument.1">
                  <p:embed/>
                </p:oleObj>
              </mc:Choice>
              <mc:Fallback>
                <p:oleObj name="think-cell Slide" r:id="rId44" imgW="530" imgH="531" progId="TCLayout.ActiveDocument.1">
                  <p:embed/>
                  <p:pic>
                    <p:nvPicPr>
                      <p:cNvPr id="4" name="Object 3" hidden="1"/>
                      <p:cNvPicPr/>
                      <p:nvPr/>
                    </p:nvPicPr>
                    <p:blipFill>
                      <a:blip r:embed="rId45"/>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graphicFrame>
        <p:nvGraphicFramePr>
          <p:cNvPr id="100" name="Table 99"/>
          <p:cNvGraphicFramePr>
            <a:graphicFrameLocks noGrp="1"/>
          </p:cNvGraphicFramePr>
          <p:nvPr>
            <p:custDataLst>
              <p:tags r:id="rId3"/>
            </p:custData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Following graph shows the change in change in monthly generation power portfolio in Bangladesh (MU) Pre &amp; Post Covid</a:t>
                      </a: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graph shows the tentative change in Power Purchase Cost for BPDB (monthly) in BDT / kWh due to Covid -19 Pandemic</a:t>
                      </a: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BPDB Liquidity Assessment – Covid 19 | Discom Credit Assessment</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 fall in energy demand due to Covid-19 epidemic has led to a decrease in liquid based generation which is expected to reduce the overall power purchase cost for BPDB</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lgn="just">
                        <a:spcAft>
                          <a:spcPts val="500"/>
                        </a:spcAft>
                        <a:buFont typeface="Arial" panose="020B0604020202020204" pitchFamily="34" charset="0"/>
                        <a:buNone/>
                      </a:pPr>
                      <a:r>
                        <a:rPr lang="en-US" sz="1000" b="1" baseline="0" dirty="0">
                          <a:solidFill>
                            <a:schemeClr val="tx1"/>
                          </a:solidFill>
                        </a:rPr>
                        <a:t>Fall in Power Generation due to Covid 19 pandemic</a:t>
                      </a:r>
                    </a:p>
                    <a:p>
                      <a:pPr marL="171450" indent="-171450" algn="just">
                        <a:spcAft>
                          <a:spcPts val="500"/>
                        </a:spcAft>
                        <a:buFont typeface="Arial" panose="020B0604020202020204" pitchFamily="34" charset="0"/>
                        <a:buChar char="•"/>
                      </a:pPr>
                      <a:r>
                        <a:rPr lang="en-US" sz="1000" b="0" baseline="0" dirty="0">
                          <a:solidFill>
                            <a:schemeClr val="tx1"/>
                          </a:solidFill>
                        </a:rPr>
                        <a:t>Bangladesh imposed national holiday from 26</a:t>
                      </a:r>
                      <a:r>
                        <a:rPr lang="en-US" sz="1000" b="0" baseline="30000" dirty="0">
                          <a:solidFill>
                            <a:schemeClr val="tx1"/>
                          </a:solidFill>
                        </a:rPr>
                        <a:t>th</a:t>
                      </a:r>
                      <a:r>
                        <a:rPr lang="en-US" sz="1000" b="0" baseline="0" dirty="0">
                          <a:solidFill>
                            <a:schemeClr val="tx1"/>
                          </a:solidFill>
                        </a:rPr>
                        <a:t> March 2020 due to the Covid-19 pandemic which has led to an average monthly power generation fall by ~16% in April 2020 compared to April 2019</a:t>
                      </a:r>
                    </a:p>
                    <a:p>
                      <a:pPr marL="171450" indent="-171450" algn="just">
                        <a:spcAft>
                          <a:spcPts val="500"/>
                        </a:spcAft>
                        <a:buFont typeface="Arial" panose="020B0604020202020204" pitchFamily="34" charset="0"/>
                        <a:buChar char="•"/>
                      </a:pPr>
                      <a:r>
                        <a:rPr lang="en-US" sz="1000" b="0" baseline="0" dirty="0">
                          <a:solidFill>
                            <a:schemeClr val="tx1"/>
                          </a:solidFill>
                        </a:rPr>
                        <a:t>The fall has been due to shutdown of industries and commercial establishments which forms ~42% of the total electricity demand segment in Bangladesh</a:t>
                      </a:r>
                    </a:p>
                    <a:p>
                      <a:pPr marL="171450" indent="-171450" algn="just">
                        <a:spcAft>
                          <a:spcPts val="500"/>
                        </a:spcAft>
                        <a:buFont typeface="Arial" panose="020B0604020202020204" pitchFamily="34" charset="0"/>
                        <a:buChar char="•"/>
                      </a:pPr>
                      <a:r>
                        <a:rPr lang="en-US" sz="1000" b="0" baseline="0" dirty="0">
                          <a:solidFill>
                            <a:schemeClr val="tx1"/>
                          </a:solidFill>
                        </a:rPr>
                        <a:t>The curtailment of power demand has also led to a shift in the power generation mix in Bangladesh with BPDB backing down costly HFO based generation plants and shutting down HSD based generation completely.</a:t>
                      </a:r>
                    </a:p>
                    <a:p>
                      <a:pPr marL="171450" indent="-171450" algn="just">
                        <a:spcAft>
                          <a:spcPts val="500"/>
                        </a:spcAft>
                        <a:buFont typeface="Arial" panose="020B0604020202020204" pitchFamily="34" charset="0"/>
                        <a:buChar char="•"/>
                      </a:pPr>
                      <a:r>
                        <a:rPr lang="en-US" sz="1000" b="0" baseline="0" dirty="0">
                          <a:solidFill>
                            <a:schemeClr val="tx1"/>
                          </a:solidFill>
                        </a:rPr>
                        <a:t>The liquid based power generation share in the fuel mix has fallen from 20% in April 2019 to 8% in April 2020. In absolute terms the generation fell from ~1,230 MUs to ~419 MUs representing an absolute fall by 66%</a:t>
                      </a:r>
                    </a:p>
                    <a:p>
                      <a:pPr marL="171450" indent="-171450" algn="just">
                        <a:spcAft>
                          <a:spcPts val="500"/>
                        </a:spcAft>
                        <a:buFont typeface="Arial" panose="020B0604020202020204" pitchFamily="34" charset="0"/>
                        <a:buChar char="•"/>
                      </a:pPr>
                      <a:r>
                        <a:rPr lang="en-US" sz="1000" b="0" baseline="0" dirty="0">
                          <a:solidFill>
                            <a:schemeClr val="tx1"/>
                          </a:solidFill>
                        </a:rPr>
                        <a:t>Gas based power plants have increased their share in the fuel mix due to their cheaper cost whereas coal based power witnessed the increase due to test runs of NWPGCL Payra Unit 1 (660 MW).</a:t>
                      </a:r>
                    </a:p>
                    <a:p>
                      <a:pPr marL="0" indent="0" algn="just" defTabSz="990571" rtl="0" eaLnBrk="1" latinLnBrk="0" hangingPunct="1">
                        <a:spcAft>
                          <a:spcPts val="500"/>
                        </a:spcAft>
                        <a:buFont typeface="Arial" panose="020B0604020202020204" pitchFamily="34" charset="0"/>
                        <a:buNone/>
                      </a:pPr>
                      <a:r>
                        <a:rPr lang="en-US" sz="1000" b="1" kern="1200" baseline="0" dirty="0">
                          <a:solidFill>
                            <a:schemeClr val="tx1"/>
                          </a:solidFill>
                          <a:latin typeface="+mn-lt"/>
                          <a:ea typeface="+mn-ea"/>
                          <a:cs typeface="+mn-cs"/>
                        </a:rPr>
                        <a:t>Impact on overall power purchase cost of BPDB</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We have projected the overall impact of the shift in generation mix as well as reduced generation on the average power purchase cost of BPDB</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We considered the average variable charge to remain at similar levels of FY2019 with BPDB continuing to pay fixed charges to all power plants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Considering an average Fixed Charge of ~BDT 2.4 / kWh in FY2019 we have projected power purchase cost of BPDB in April 2020</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At the current levels, the overall power purchase cost for BPDB may fall from BDT 5.7 / unit in FY2019 to BDT 5.0 in April 2020</a:t>
                      </a:r>
                    </a:p>
                    <a:p>
                      <a:pPr marL="0" indent="0" algn="just">
                        <a:spcAft>
                          <a:spcPts val="500"/>
                        </a:spcAft>
                        <a:buFont typeface="Arial" panose="020B0604020202020204" pitchFamily="34" charset="0"/>
                        <a:buNone/>
                      </a:pPr>
                      <a:endParaRPr lang="en-US" sz="1000" b="1"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55" name="Chart 154"/>
          <p:cNvGraphicFramePr/>
          <p:nvPr>
            <p:custDataLst>
              <p:tags r:id="rId5"/>
            </p:custDataLst>
          </p:nvPr>
        </p:nvGraphicFramePr>
        <p:xfrm>
          <a:off x="5441950" y="2760663"/>
          <a:ext cx="3527425" cy="1558925"/>
        </p:xfrm>
        <a:graphic>
          <a:graphicData uri="http://schemas.openxmlformats.org/drawingml/2006/chart">
            <c:chart xmlns:c="http://schemas.openxmlformats.org/drawingml/2006/chart" xmlns:r="http://schemas.openxmlformats.org/officeDocument/2006/relationships" r:id="rId46"/>
          </a:graphicData>
        </a:graphic>
      </p:graphicFrame>
      <p:cxnSp>
        <p:nvCxnSpPr>
          <p:cNvPr id="126" name="Straight Connector 125"/>
          <p:cNvCxnSpPr/>
          <p:nvPr>
            <p:custDataLst>
              <p:tags r:id="rId6"/>
            </p:custDataLst>
          </p:nvPr>
        </p:nvCxnSpPr>
        <p:spPr bwMode="auto">
          <a:xfrm flipH="1">
            <a:off x="8437563" y="4143375"/>
            <a:ext cx="90488" cy="47625"/>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5" name="StandardTextbox"/>
          <p:cNvSpPr>
            <a:spLocks noGrp="1"/>
          </p:cNvSpPr>
          <p:nvPr>
            <p:custDataLst>
              <p:tags r:id="rId7"/>
            </p:custDataLst>
          </p:nvPr>
        </p:nvSpPr>
        <p:spPr bwMode="gray">
          <a:xfrm>
            <a:off x="7893050" y="3440113"/>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32170B1-86C2-4C87-822F-A95BB70E4EBC}" type="datetime'''''''''''''''''''''''''''''''''7''''5''''''''%'''''''''''''">
              <a:rPr kumimoji="0" lang="en-IN" altLang="en-US" sz="900" b="0" i="0" u="none" strike="noStrike" kern="1200" cap="none" spc="0" normalizeH="0" baseline="0" noProof="0" smtClean="0">
                <a:ln>
                  <a:noFill/>
                </a:ln>
                <a:solidFill>
                  <a:prstClr val="white"/>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75%</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31" name="StandardTextbox"/>
          <p:cNvSpPr>
            <a:spLocks noGrp="1"/>
          </p:cNvSpPr>
          <p:nvPr>
            <p:custDataLst>
              <p:tags r:id="rId8"/>
            </p:custDataLst>
          </p:nvPr>
        </p:nvSpPr>
        <p:spPr bwMode="gray">
          <a:xfrm>
            <a:off x="6483350" y="4022725"/>
            <a:ext cx="233363" cy="136525"/>
          </a:xfrm>
          <a:prstGeom prst="rect">
            <a:avLst/>
          </a:prstGeom>
          <a:solidFill>
            <a:srgbClr val="046A38"/>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710FB73-C61F-4AFB-92E9-98B8B7C569A4}" type="datetime'''1''''''''''''''''''''''%'''''''''''''''''''">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32" name="StandardTextbox"/>
          <p:cNvSpPr>
            <a:spLocks noGrp="1"/>
          </p:cNvSpPr>
          <p:nvPr>
            <p:custDataLst>
              <p:tags r:id="rId9"/>
            </p:custDataLst>
          </p:nvPr>
        </p:nvSpPr>
        <p:spPr bwMode="gray">
          <a:xfrm>
            <a:off x="6015038" y="3735388"/>
            <a:ext cx="233363" cy="136525"/>
          </a:xfrm>
          <a:prstGeom prst="rect">
            <a:avLst/>
          </a:prstGeom>
          <a:solidFill>
            <a:srgbClr val="012169"/>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E357ADA0-FFA6-4D8C-89C9-2390784EA68E}" type="datetime'''''''''''''''''''''0''''''''''%'''''''''''''''''">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0%</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43" name="StandardTextbox"/>
          <p:cNvSpPr>
            <a:spLocks noGrp="1"/>
          </p:cNvSpPr>
          <p:nvPr>
            <p:custDataLst>
              <p:tags r:id="rId10"/>
            </p:custDataLst>
          </p:nvPr>
        </p:nvSpPr>
        <p:spPr bwMode="gray">
          <a:xfrm>
            <a:off x="6211888" y="3235325"/>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E1F67D9-08E0-4397-966A-7A67BFF61C92}" type="datetime'''''''''''''''''6''6''''%'''''''''''">
              <a:rPr kumimoji="0" lang="en-IN" altLang="en-US" sz="900" b="0" i="0" u="none" strike="noStrike" kern="1200" cap="none" spc="0" normalizeH="0" baseline="0" noProof="0" smtClean="0">
                <a:ln>
                  <a:noFill/>
                </a:ln>
                <a:solidFill>
                  <a:prstClr val="white"/>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66%</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49" name="StandardTextbox"/>
          <p:cNvSpPr>
            <a:spLocks noGrp="1"/>
          </p:cNvSpPr>
          <p:nvPr>
            <p:custDataLst>
              <p:tags r:id="rId11"/>
            </p:custDataLst>
          </p:nvPr>
        </p:nvSpPr>
        <p:spPr bwMode="gray">
          <a:xfrm>
            <a:off x="6483350" y="3716338"/>
            <a:ext cx="233363" cy="136525"/>
          </a:xfrm>
          <a:prstGeom prst="rect">
            <a:avLst/>
          </a:prstGeom>
          <a:solidFill>
            <a:srgbClr val="0097A9"/>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CA3FDD07-83D2-4C7D-A673-BA84B8FDD653}" type="datetime'''''''''''''''''''''3%'''''''''''''''''''''">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3%</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42" name="StandardTextbox"/>
          <p:cNvSpPr>
            <a:spLocks noGrp="1"/>
          </p:cNvSpPr>
          <p:nvPr>
            <p:custDataLst>
              <p:tags r:id="rId12"/>
            </p:custDataLst>
          </p:nvPr>
        </p:nvSpPr>
        <p:spPr bwMode="gray">
          <a:xfrm>
            <a:off x="6211888" y="3876675"/>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4A80286-B51B-4CC6-8F57-EF9EF8E84541}" type="datetime'''''''''''''''2''''''''''''''0%'''''''''''''''''''''''">
              <a:rPr kumimoji="0" lang="en-IN" altLang="en-US" sz="900" b="0" i="0" u="none" strike="noStrike" kern="1200" cap="none" spc="0" normalizeH="0" baseline="0" noProof="0" smtClean="0">
                <a:ln>
                  <a:noFill/>
                </a:ln>
                <a:solidFill>
                  <a:prstClr val="white"/>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20%</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41" name="StandardTextbox"/>
          <p:cNvSpPr>
            <a:spLocks noGrp="1"/>
          </p:cNvSpPr>
          <p:nvPr>
            <p:custDataLst>
              <p:tags r:id="rId13"/>
            </p:custDataLst>
          </p:nvPr>
        </p:nvSpPr>
        <p:spPr bwMode="gray">
          <a:xfrm>
            <a:off x="5978525" y="4098925"/>
            <a:ext cx="306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47DEB262-03A8-4ABD-9BCB-6290F252E969}" type="datetime'''''''''''''''''1''''''''''''''0''''%'''''">
              <a:rPr kumimoji="0" lang="en-IN" altLang="en-US" sz="900" b="0" i="0" u="none" strike="noStrike" kern="1200" cap="none" spc="0" normalizeH="0" baseline="0" noProof="0" smtClean="0">
                <a:ln>
                  <a:noFill/>
                </a:ln>
                <a:solidFill>
                  <a:prstClr val="white"/>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10%</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4" name="StandardTextbox"/>
          <p:cNvSpPr>
            <a:spLocks noGrp="1"/>
          </p:cNvSpPr>
          <p:nvPr>
            <p:custDataLst>
              <p:tags r:id="rId14"/>
            </p:custDataLst>
          </p:nvPr>
        </p:nvSpPr>
        <p:spPr bwMode="auto">
          <a:xfrm>
            <a:off x="5637213" y="4313238"/>
            <a:ext cx="145573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5817B6D-7E08-445F-9084-67D5C424A251}" type="datetime'''''''Ap''r''''i''l'' ''2''0''''19 (''Pr''''e ''Covid'')'''">
              <a:rPr kumimoji="0" lang="en-IN" altLang="en-US" sz="900" b="1"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April 2019 (Pre Covid)</a:t>
            </a:fld>
            <a:endParaRPr kumimoji="0" lang="en-IN" sz="900" b="1"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4" name="StandardTextbox"/>
          <p:cNvSpPr>
            <a:spLocks noGrp="1"/>
          </p:cNvSpPr>
          <p:nvPr>
            <p:custDataLst>
              <p:tags r:id="rId15"/>
            </p:custDataLst>
          </p:nvPr>
        </p:nvSpPr>
        <p:spPr bwMode="gray">
          <a:xfrm>
            <a:off x="7696200" y="3927475"/>
            <a:ext cx="233363" cy="136525"/>
          </a:xfrm>
          <a:prstGeom prst="rect">
            <a:avLst/>
          </a:prstGeom>
          <a:solidFill>
            <a:srgbClr val="0097A9"/>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8D48230-95E7-4DFB-8A8D-99781AB23ABB}" type="datetime'8''''''''''''''''''''''''''''''''''''''''''''%'''''''">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8%</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57" name="StandardTextbox"/>
          <p:cNvSpPr>
            <a:spLocks noGrp="1"/>
          </p:cNvSpPr>
          <p:nvPr>
            <p:custDataLst>
              <p:tags r:id="rId16"/>
            </p:custDataLst>
          </p:nvPr>
        </p:nvSpPr>
        <p:spPr bwMode="gray">
          <a:xfrm>
            <a:off x="8164513" y="4024313"/>
            <a:ext cx="233363" cy="136525"/>
          </a:xfrm>
          <a:prstGeom prst="rect">
            <a:avLst/>
          </a:prstGeom>
          <a:solidFill>
            <a:srgbClr val="62B5E5"/>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EEF7393-6632-455E-A31C-F4A98ADD4F64}" type="datetime'''''''''''''8''''''''''''''''''''''''''%'''">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8%</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25" name="StandardTextbox"/>
          <p:cNvSpPr>
            <a:spLocks noGrp="1"/>
          </p:cNvSpPr>
          <p:nvPr>
            <p:custDataLst>
              <p:tags r:id="rId17"/>
            </p:custDataLst>
          </p:nvPr>
        </p:nvSpPr>
        <p:spPr bwMode="gray">
          <a:xfrm>
            <a:off x="7696200" y="4073525"/>
            <a:ext cx="233363" cy="136525"/>
          </a:xfrm>
          <a:prstGeom prst="rect">
            <a:avLst/>
          </a:prstGeom>
          <a:solidFill>
            <a:srgbClr val="046A38"/>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84873D6A-4997-4D6E-829A-EDCBCF0AF088}" type="datetime'''0''''%'''''''''''''''''''''''''''''''''''''''''''''''''">
              <a:rPr kumimoji="0" lang="en-IN" altLang="en-US" sz="9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0%</a:t>
            </a:fld>
            <a:endParaRPr kumimoji="0" lang="en-IN" sz="9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44" name="StandardTextbox"/>
          <p:cNvSpPr>
            <a:spLocks noGrp="1"/>
          </p:cNvSpPr>
          <p:nvPr>
            <p:custDataLst>
              <p:tags r:id="rId18"/>
            </p:custDataLst>
          </p:nvPr>
        </p:nvSpPr>
        <p:spPr bwMode="gray">
          <a:xfrm>
            <a:off x="8528050" y="4075113"/>
            <a:ext cx="23336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A272C49B-78B5-42A5-8AAE-1DFBB046FD9F}" type="datetime'''8''''''''''''''''''''''''%'''">
              <a:rPr kumimoji="0" lang="en-IN" altLang="en-US" sz="9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8%</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4" name="StandardTextbox"/>
          <p:cNvSpPr>
            <a:spLocks noGrp="1"/>
          </p:cNvSpPr>
          <p:nvPr>
            <p:custDataLst>
              <p:tags r:id="rId19"/>
            </p:custDataLst>
          </p:nvPr>
        </p:nvSpPr>
        <p:spPr bwMode="auto">
          <a:xfrm>
            <a:off x="7285038" y="4313238"/>
            <a:ext cx="152082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CA387CB-C912-4B1F-AAC0-663B1A06DAED}" type="datetime'Apri''l'''''' 2''0''20'''''''''''''''' (Post ''C''ovi''''d)'''">
              <a:rPr kumimoji="0" lang="en-IN" altLang="en-US" sz="900" b="1"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April 2020 (Post Covid)</a:t>
            </a:fld>
            <a:endParaRPr kumimoji="0" lang="en-IN" sz="900" b="1"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 name="StandardTextbox"/>
          <p:cNvSpPr>
            <a:spLocks noGrp="1"/>
          </p:cNvSpPr>
          <p:nvPr>
            <p:custDataLst>
              <p:tags r:id="rId20"/>
            </p:custDataLst>
          </p:nvPr>
        </p:nvSpPr>
        <p:spPr bwMode="gray">
          <a:xfrm>
            <a:off x="6178550" y="2681288"/>
            <a:ext cx="37147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EC8C16CC-3DE4-41BF-834A-94D844949B1C}" type="datetime'''''''''''6'''',''''''''''''''''''''''''''1''''''5''''5'''''''">
              <a:rPr kumimoji="0" lang="en-IN" altLang="en-US" sz="9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6,155</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3" name="StandardTextbox"/>
          <p:cNvSpPr>
            <a:spLocks noGrp="1"/>
          </p:cNvSpPr>
          <p:nvPr>
            <p:custDataLst>
              <p:tags r:id="rId21"/>
            </p:custDataLst>
          </p:nvPr>
        </p:nvSpPr>
        <p:spPr bwMode="gray">
          <a:xfrm>
            <a:off x="7859713" y="2905125"/>
            <a:ext cx="37147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3E54F23-6CB3-4376-8B28-C04DC2982939}" type="datetime'''''''''''''5'''',''''''''1''''''''''''''6''''''7'''''">
              <a:rPr kumimoji="0" lang="en-IN" altLang="en-US" sz="9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5,167</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13" name="Rectangle 112"/>
          <p:cNvSpPr/>
          <p:nvPr>
            <p:custDataLst>
              <p:tags r:id="rId22"/>
            </p:custDataLst>
          </p:nvPr>
        </p:nvSpPr>
        <p:spPr bwMode="auto">
          <a:xfrm>
            <a:off x="6100763" y="4583113"/>
            <a:ext cx="160338" cy="120650"/>
          </a:xfrm>
          <a:prstGeom prst="rect">
            <a:avLst/>
          </a:prstGeom>
          <a:solidFill>
            <a:srgbClr val="0097A9"/>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2" name="Rectangle 111"/>
          <p:cNvSpPr/>
          <p:nvPr>
            <p:custDataLst>
              <p:tags r:id="rId23"/>
            </p:custDataLst>
          </p:nvPr>
        </p:nvSpPr>
        <p:spPr bwMode="auto">
          <a:xfrm>
            <a:off x="5570538" y="4583113"/>
            <a:ext cx="160338" cy="120650"/>
          </a:xfrm>
          <a:prstGeom prst="rect">
            <a:avLst/>
          </a:prstGeom>
          <a:solidFill>
            <a:srgbClr val="75787B"/>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5" name="Rectangle 114"/>
          <p:cNvSpPr/>
          <p:nvPr>
            <p:custDataLst>
              <p:tags r:id="rId24"/>
            </p:custDataLst>
          </p:nvPr>
        </p:nvSpPr>
        <p:spPr bwMode="auto">
          <a:xfrm>
            <a:off x="7272338" y="4583113"/>
            <a:ext cx="160338" cy="120650"/>
          </a:xfrm>
          <a:prstGeom prst="rect">
            <a:avLst/>
          </a:prstGeom>
          <a:solidFill>
            <a:srgbClr val="62B5E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4" name="Rectangle 113"/>
          <p:cNvSpPr/>
          <p:nvPr>
            <p:custDataLst>
              <p:tags r:id="rId25"/>
            </p:custDataLst>
          </p:nvPr>
        </p:nvSpPr>
        <p:spPr bwMode="auto">
          <a:xfrm>
            <a:off x="6662738" y="4583113"/>
            <a:ext cx="160338" cy="120650"/>
          </a:xfrm>
          <a:prstGeom prst="rect">
            <a:avLst/>
          </a:prstGeom>
          <a:solidFill>
            <a:srgbClr val="012169"/>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6" name="Rectangle 115"/>
          <p:cNvSpPr/>
          <p:nvPr>
            <p:custDataLst>
              <p:tags r:id="rId26"/>
            </p:custDataLst>
          </p:nvPr>
        </p:nvSpPr>
        <p:spPr bwMode="auto">
          <a:xfrm>
            <a:off x="7739063" y="4583113"/>
            <a:ext cx="160338" cy="120650"/>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17" name="Rectangle 116"/>
          <p:cNvSpPr/>
          <p:nvPr>
            <p:custDataLst>
              <p:tags r:id="rId27"/>
            </p:custDataLst>
          </p:nvPr>
        </p:nvSpPr>
        <p:spPr bwMode="auto">
          <a:xfrm>
            <a:off x="8396288" y="4583113"/>
            <a:ext cx="160338" cy="1206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8" name="StandardTextbox"/>
          <p:cNvSpPr>
            <a:spLocks noGrp="1"/>
          </p:cNvSpPr>
          <p:nvPr>
            <p:custDataLst>
              <p:tags r:id="rId28"/>
            </p:custDataLst>
          </p:nvPr>
        </p:nvSpPr>
        <p:spPr bwMode="auto">
          <a:xfrm>
            <a:off x="7950200" y="4579938"/>
            <a:ext cx="3444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5E0A07BC-E761-408B-9C96-408AAD0417F4}" type="datetime'''''''H''''''y''''''''''d''''r''''''o'''''''''''''''''''''''">
              <a:rPr kumimoji="0" lang="en-IN" altLang="en-US" sz="9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Hydro</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7" name="StandardTextbox"/>
          <p:cNvSpPr>
            <a:spLocks noGrp="1"/>
          </p:cNvSpPr>
          <p:nvPr>
            <p:custDataLst>
              <p:tags r:id="rId29"/>
            </p:custDataLst>
          </p:nvPr>
        </p:nvSpPr>
        <p:spPr bwMode="auto">
          <a:xfrm>
            <a:off x="5781675" y="4579938"/>
            <a:ext cx="2174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AB3F292D-6C9C-48D5-9E81-E48332C49C84}" type="datetime'''''''''''''''G''''''''''''''a''''''''''s'''">
              <a:rPr kumimoji="0" lang="en-IN" altLang="en-US" sz="9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Gas</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8" name="StandardTextbox"/>
          <p:cNvSpPr>
            <a:spLocks noGrp="1"/>
          </p:cNvSpPr>
          <p:nvPr>
            <p:custDataLst>
              <p:tags r:id="rId30"/>
            </p:custDataLst>
          </p:nvPr>
        </p:nvSpPr>
        <p:spPr bwMode="auto">
          <a:xfrm>
            <a:off x="6311900" y="4579938"/>
            <a:ext cx="24923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678FD4D6-1F2C-4AB8-91B0-2A2356A04486}" type="datetime'''''C''''''''''''o''''''''''''''a''''l'''''''''''">
              <a:rPr kumimoji="0" lang="en-IN" altLang="en-US" sz="9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Coal</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7" name="StandardTextbox"/>
          <p:cNvSpPr>
            <a:spLocks noGrp="1"/>
          </p:cNvSpPr>
          <p:nvPr>
            <p:custDataLst>
              <p:tags r:id="rId31"/>
            </p:custDataLst>
          </p:nvPr>
        </p:nvSpPr>
        <p:spPr bwMode="auto">
          <a:xfrm>
            <a:off x="7483475" y="4579938"/>
            <a:ext cx="1539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F6E74DCB-8FD4-441D-B48E-0CCA9AB76A91}" type="datetime'''O''i''''''''''''''''''''''''''''''''''l'''''">
              <a:rPr kumimoji="0" lang="en-IN" altLang="en-US" sz="9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Oil</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9" name="StandardTextbox"/>
          <p:cNvSpPr>
            <a:spLocks noGrp="1"/>
          </p:cNvSpPr>
          <p:nvPr>
            <p:custDataLst>
              <p:tags r:id="rId32"/>
            </p:custDataLst>
          </p:nvPr>
        </p:nvSpPr>
        <p:spPr bwMode="auto">
          <a:xfrm>
            <a:off x="6873875" y="4579938"/>
            <a:ext cx="29686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366F80D4-3EB6-4BE8-A63B-FF6B61F24744}" type="datetime'''''''''''''''S''''o''''l''''''a''r'''''''''''''''">
              <a:rPr kumimoji="0" lang="en-IN" altLang="en-US" sz="9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Solar</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9" name="StandardTextbox"/>
          <p:cNvSpPr>
            <a:spLocks noGrp="1"/>
          </p:cNvSpPr>
          <p:nvPr>
            <p:custDataLst>
              <p:tags r:id="rId33"/>
            </p:custDataLst>
          </p:nvPr>
        </p:nvSpPr>
        <p:spPr bwMode="auto">
          <a:xfrm>
            <a:off x="8607425" y="4579938"/>
            <a:ext cx="3937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EF8BE9D3-10B3-41A5-8A3E-924457BA9FC7}" type="datetime'I''''''''''''''''''''''m''''''''p''''o''''r''t'''''''''''''''">
              <a:rPr kumimoji="0" lang="en-IN" altLang="en-US" sz="9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Import</a:t>
            </a:fld>
            <a:endParaRPr kumimoji="0" lang="en-IN" sz="9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29" name="Rectangle 128"/>
          <p:cNvSpPr/>
          <p:nvPr/>
        </p:nvSpPr>
        <p:spPr bwMode="gray">
          <a:xfrm>
            <a:off x="8958262" y="2695575"/>
            <a:ext cx="684000" cy="198000"/>
          </a:xfrm>
          <a:prstGeom prst="rect">
            <a:avLst/>
          </a:prstGeom>
          <a:solidFill>
            <a:srgbClr val="75787B"/>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+9.2%</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130" name="Rectangle 129"/>
          <p:cNvSpPr/>
          <p:nvPr/>
        </p:nvSpPr>
        <p:spPr bwMode="gray">
          <a:xfrm>
            <a:off x="8958262" y="2946717"/>
            <a:ext cx="684000" cy="198000"/>
          </a:xfrm>
          <a:prstGeom prst="rect">
            <a:avLst/>
          </a:prstGeom>
          <a:solidFill>
            <a:srgbClr val="0097A9"/>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+5.3%</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131" name="Rectangle 130"/>
          <p:cNvSpPr/>
          <p:nvPr/>
        </p:nvSpPr>
        <p:spPr bwMode="gray">
          <a:xfrm>
            <a:off x="8952762" y="3197859"/>
            <a:ext cx="684000" cy="198000"/>
          </a:xfrm>
          <a:prstGeom prst="rect">
            <a:avLst/>
          </a:prstGeom>
          <a:solidFill>
            <a:srgbClr val="012169"/>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0%</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132" name="Rectangle 131"/>
          <p:cNvSpPr/>
          <p:nvPr/>
        </p:nvSpPr>
        <p:spPr bwMode="gray">
          <a:xfrm>
            <a:off x="8952761" y="3449001"/>
            <a:ext cx="684000" cy="198000"/>
          </a:xfrm>
          <a:prstGeom prst="rect">
            <a:avLst/>
          </a:prstGeom>
          <a:solidFill>
            <a:srgbClr val="62B5E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-11.9%</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133" name="Rectangle 132"/>
          <p:cNvSpPr/>
          <p:nvPr/>
        </p:nvSpPr>
        <p:spPr bwMode="gray">
          <a:xfrm>
            <a:off x="8952761" y="3700143"/>
            <a:ext cx="684000" cy="198000"/>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-0.4%</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134" name="Rectangle 133"/>
          <p:cNvSpPr/>
          <p:nvPr/>
        </p:nvSpPr>
        <p:spPr bwMode="gray">
          <a:xfrm>
            <a:off x="8952761" y="3951287"/>
            <a:ext cx="684000" cy="19800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-2.2%</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151" name="Rectangle 150"/>
          <p:cNvSpPr/>
          <p:nvPr/>
        </p:nvSpPr>
        <p:spPr bwMode="gray">
          <a:xfrm>
            <a:off x="8443861" y="2382839"/>
            <a:ext cx="1701800" cy="323850"/>
          </a:xfrm>
          <a:prstGeom prst="rect">
            <a:avLst/>
          </a:prstGeom>
          <a:no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1" i="1" u="none" strike="noStrike" kern="1200" cap="none" spc="0" normalizeH="0" baseline="0" noProof="0" dirty="0">
                <a:ln>
                  <a:noFill/>
                </a:ln>
                <a:solidFill>
                  <a:prstClr val="black"/>
                </a:solidFill>
                <a:effectLst/>
                <a:uLnTx/>
                <a:uFillTx/>
                <a:latin typeface="Verdana"/>
                <a:ea typeface="+mn-ea"/>
                <a:cs typeface="+mn-cs"/>
              </a:rPr>
              <a:t>Change in Fuel Mix</a:t>
            </a:r>
            <a:endParaRPr kumimoji="0" lang="en-IN" sz="1000" b="1" i="1" u="none" strike="noStrike" kern="1200" cap="none" spc="0" normalizeH="0" baseline="0" noProof="0" dirty="0">
              <a:ln>
                <a:noFill/>
              </a:ln>
              <a:solidFill>
                <a:prstClr val="black"/>
              </a:solidFill>
              <a:effectLst/>
              <a:uLnTx/>
              <a:uFillTx/>
              <a:latin typeface="Verdana"/>
              <a:ea typeface="+mn-ea"/>
              <a:cs typeface="+mn-cs"/>
            </a:endParaRPr>
          </a:p>
        </p:txBody>
      </p:sp>
      <p:sp>
        <p:nvSpPr>
          <p:cNvPr id="152" name="Rectangle 151"/>
          <p:cNvSpPr/>
          <p:nvPr/>
        </p:nvSpPr>
        <p:spPr bwMode="gray">
          <a:xfrm>
            <a:off x="6287199" y="2382839"/>
            <a:ext cx="2059178" cy="323850"/>
          </a:xfrm>
          <a:prstGeom prst="rect">
            <a:avLst/>
          </a:prstGeom>
          <a:no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1" i="1" u="none" strike="noStrike" kern="1200" cap="none" spc="0" normalizeH="0" baseline="0" noProof="0" dirty="0">
                <a:ln>
                  <a:noFill/>
                </a:ln>
                <a:solidFill>
                  <a:prstClr val="black"/>
                </a:solidFill>
                <a:effectLst/>
                <a:uLnTx/>
                <a:uFillTx/>
                <a:latin typeface="Verdana"/>
                <a:ea typeface="+mn-ea"/>
                <a:cs typeface="+mn-cs"/>
              </a:rPr>
              <a:t>Monthly Generation (MU)</a:t>
            </a:r>
            <a:endParaRPr kumimoji="0" lang="en-IN" sz="1000" b="1" i="1" u="none" strike="noStrike" kern="1200" cap="none" spc="0" normalizeH="0" baseline="0" noProof="0" dirty="0">
              <a:ln>
                <a:noFill/>
              </a:ln>
              <a:solidFill>
                <a:prstClr val="black"/>
              </a:solidFill>
              <a:effectLst/>
              <a:uLnTx/>
              <a:uFillTx/>
              <a:latin typeface="Verdana"/>
              <a:ea typeface="+mn-ea"/>
              <a:cs typeface="+mn-cs"/>
            </a:endParaRPr>
          </a:p>
        </p:txBody>
      </p:sp>
      <p:sp>
        <p:nvSpPr>
          <p:cNvPr id="156" name="Rectangle 155"/>
          <p:cNvSpPr/>
          <p:nvPr/>
        </p:nvSpPr>
        <p:spPr bwMode="gray">
          <a:xfrm>
            <a:off x="8952761" y="3946524"/>
            <a:ext cx="684000" cy="19800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-2.2%</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157" name="Rectangle 156"/>
          <p:cNvSpPr/>
          <p:nvPr/>
        </p:nvSpPr>
        <p:spPr bwMode="gray">
          <a:xfrm>
            <a:off x="8952761" y="4210050"/>
            <a:ext cx="684000" cy="198000"/>
          </a:xfrm>
          <a:prstGeom prst="rect">
            <a:avLst/>
          </a:prstGeom>
          <a:solidFill>
            <a:schemeClr val="tx1"/>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-16%</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158" name="Rectangle 157"/>
          <p:cNvSpPr/>
          <p:nvPr/>
        </p:nvSpPr>
        <p:spPr bwMode="gray">
          <a:xfrm>
            <a:off x="9636761" y="4147125"/>
            <a:ext cx="958850" cy="323850"/>
          </a:xfrm>
          <a:prstGeom prst="rect">
            <a:avLst/>
          </a:prstGeom>
          <a:no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800" b="1" i="1" u="none" strike="noStrike" kern="1200" cap="none" spc="0" normalizeH="0" baseline="0" noProof="0" dirty="0">
                <a:ln>
                  <a:noFill/>
                </a:ln>
                <a:solidFill>
                  <a:prstClr val="black"/>
                </a:solidFill>
                <a:effectLst/>
                <a:uLnTx/>
                <a:uFillTx/>
                <a:latin typeface="Verdana"/>
                <a:ea typeface="+mn-ea"/>
                <a:cs typeface="+mn-cs"/>
              </a:rPr>
              <a:t>Overall Fall in Generation</a:t>
            </a:r>
            <a:endParaRPr kumimoji="0" lang="en-IN" sz="800" b="1" i="1" u="none" strike="noStrike" kern="1200" cap="none" spc="0" normalizeH="0" baseline="0" noProof="0" dirty="0">
              <a:ln>
                <a:noFill/>
              </a:ln>
              <a:solidFill>
                <a:prstClr val="black"/>
              </a:solidFill>
              <a:effectLst/>
              <a:uLnTx/>
              <a:uFillTx/>
              <a:latin typeface="Verdana"/>
              <a:ea typeface="+mn-ea"/>
              <a:cs typeface="+mn-cs"/>
            </a:endParaRPr>
          </a:p>
        </p:txBody>
      </p:sp>
      <p:graphicFrame>
        <p:nvGraphicFramePr>
          <p:cNvPr id="62" name="Chart 61"/>
          <p:cNvGraphicFramePr/>
          <p:nvPr>
            <p:custDataLst>
              <p:tags r:id="rId34"/>
            </p:custDataLst>
          </p:nvPr>
        </p:nvGraphicFramePr>
        <p:xfrm>
          <a:off x="5441950" y="5427663"/>
          <a:ext cx="3687763" cy="1363662"/>
        </p:xfrm>
        <a:graphic>
          <a:graphicData uri="http://schemas.openxmlformats.org/drawingml/2006/chart">
            <c:chart xmlns:c="http://schemas.openxmlformats.org/drawingml/2006/chart" xmlns:r="http://schemas.openxmlformats.org/officeDocument/2006/relationships" r:id="rId47"/>
          </a:graphicData>
        </a:graphic>
      </p:graphicFrame>
      <p:sp>
        <p:nvSpPr>
          <p:cNvPr id="159" name="StandardTextbox"/>
          <p:cNvSpPr>
            <a:spLocks noGrp="1"/>
          </p:cNvSpPr>
          <p:nvPr>
            <p:custDataLst>
              <p:tags r:id="rId35"/>
            </p:custDataLst>
          </p:nvPr>
        </p:nvSpPr>
        <p:spPr bwMode="auto">
          <a:xfrm>
            <a:off x="5749925" y="6794500"/>
            <a:ext cx="13096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FC6B0C0A-1C9E-4DA9-B33C-9BE7C7CE791B}" type="datetime'F''''''Y-2''''0''''19'''''' (Pre'' C''''ovi''''d)'''''''">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FY-2019 (Pre Covid)</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70" name="StandardTextbox"/>
          <p:cNvSpPr>
            <a:spLocks noGrp="1"/>
          </p:cNvSpPr>
          <p:nvPr>
            <p:custDataLst>
              <p:tags r:id="rId36"/>
            </p:custDataLst>
          </p:nvPr>
        </p:nvSpPr>
        <p:spPr bwMode="auto">
          <a:xfrm>
            <a:off x="7408863" y="6794500"/>
            <a:ext cx="151447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9217D46-12AA-41FE-B6CC-70284D9BEB26}" type="datetime'''A''p''''r''''il''''-202''0'' ''''''(Post ''''''Cov''''id)'">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April-2020 (Post Covid)</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98" name="StandardTextbox"/>
          <p:cNvSpPr>
            <a:spLocks noGrp="1"/>
          </p:cNvSpPr>
          <p:nvPr>
            <p:custDataLst>
              <p:tags r:id="rId37"/>
            </p:custDataLst>
          </p:nvPr>
        </p:nvSpPr>
        <p:spPr bwMode="gray">
          <a:xfrm>
            <a:off x="6280150" y="5332413"/>
            <a:ext cx="2492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F55444A8-A868-4740-9AE3-6E302C4DAADB}" type="datetime'''''''''5''''''''''''''''''''''''''''''''''''''.''7'''''">
              <a:rPr kumimoji="0" lang="en-IN" altLang="en-US" sz="10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5.7</a:t>
            </a:fld>
            <a:endParaRPr kumimoji="0" lang="en-IN" sz="10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166" name="StandardTextbox"/>
          <p:cNvSpPr>
            <a:spLocks noGrp="1"/>
          </p:cNvSpPr>
          <p:nvPr>
            <p:custDataLst>
              <p:tags r:id="rId38"/>
            </p:custDataLst>
          </p:nvPr>
        </p:nvSpPr>
        <p:spPr bwMode="gray">
          <a:xfrm>
            <a:off x="8042275" y="5480050"/>
            <a:ext cx="2492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83FD619B-8273-4A6C-A94B-E730913C747C}" type="datetime'''''5.''''''''''''''''''''''''''''''''''''0'''''''">
              <a:rPr kumimoji="0" lang="en-IN" altLang="en-US" sz="10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5.0</a:t>
            </a:fld>
            <a:endParaRPr kumimoji="0" lang="en-IN" sz="10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187" name="Rectangle 186"/>
          <p:cNvSpPr/>
          <p:nvPr>
            <p:custDataLst>
              <p:tags r:id="rId39"/>
            </p:custDataLst>
          </p:nvPr>
        </p:nvSpPr>
        <p:spPr bwMode="auto">
          <a:xfrm>
            <a:off x="6132513" y="7040563"/>
            <a:ext cx="179388" cy="133350"/>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88" name="Rectangle 187"/>
          <p:cNvSpPr/>
          <p:nvPr>
            <p:custDataLst>
              <p:tags r:id="rId40"/>
            </p:custDataLst>
          </p:nvPr>
        </p:nvSpPr>
        <p:spPr bwMode="auto">
          <a:xfrm>
            <a:off x="7410450" y="7040563"/>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63" name="StandardTextbox"/>
          <p:cNvSpPr>
            <a:spLocks noGrp="1"/>
          </p:cNvSpPr>
          <p:nvPr>
            <p:custDataLst>
              <p:tags r:id="rId41"/>
            </p:custDataLst>
          </p:nvPr>
        </p:nvSpPr>
        <p:spPr bwMode="auto">
          <a:xfrm>
            <a:off x="7640638" y="7035800"/>
            <a:ext cx="838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0D6D3C30-9320-4627-85B7-520BC3753F16}" type="datetime'Fi''''''''''''''''''''''x''''''ed'''' C''''''harge'''''''''">
              <a:rPr kumimoji="0" lang="en-IN" altLang="en-US" sz="1000" b="0" i="0" u="none" strike="noStrike" kern="1200" cap="none" spc="0" normalizeH="0" baseline="0" noProof="0" smtClean="0">
                <a:ln>
                  <a:noFill/>
                </a:ln>
                <a:solidFill>
                  <a:prstClr val="black"/>
                </a:solidFill>
                <a:effectLst/>
                <a:uLnTx/>
                <a:uFillTx/>
                <a:latin typeface="Verdana"/>
                <a:ea typeface="+mn-ea"/>
                <a:cs typeface="+mn-cs"/>
                <a:sym typeface="+mn-lt"/>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Fixed Charge</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62" name="StandardTextbox"/>
          <p:cNvSpPr>
            <a:spLocks noGrp="1"/>
          </p:cNvSpPr>
          <p:nvPr>
            <p:custDataLst>
              <p:tags r:id="rId42"/>
            </p:custDataLst>
          </p:nvPr>
        </p:nvSpPr>
        <p:spPr bwMode="auto">
          <a:xfrm>
            <a:off x="6362700" y="7035800"/>
            <a:ext cx="9461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4ABAE0F6-58F8-4C1A-B5B2-9F6925C53416}" type="datetime'''''''E''n''e''r''''''gy ''''''''Ch''''''''''''arg''e'''''">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Energy Charge</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95" name="Rectangular Callout 194"/>
          <p:cNvSpPr/>
          <p:nvPr/>
        </p:nvSpPr>
        <p:spPr bwMode="gray">
          <a:xfrm>
            <a:off x="8805862" y="5510213"/>
            <a:ext cx="1620285" cy="828901"/>
          </a:xfrm>
          <a:prstGeom prst="wedgeRectCallout">
            <a:avLst>
              <a:gd name="adj1" fmla="val -65871"/>
              <a:gd name="adj2" fmla="val 33908"/>
            </a:avLst>
          </a:prstGeom>
          <a:solidFill>
            <a:schemeClr val="accent6">
              <a:lumMod val="20000"/>
              <a:lumOff val="80000"/>
            </a:schemeClr>
          </a:solid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Verdana"/>
                <a:ea typeface="+mn-ea"/>
                <a:cs typeface="+mn-cs"/>
              </a:rPr>
              <a:t>The per unit FC is expected to increase due to lower generation whereas shift from Oil to Gas based generation is expected to reduce energy charge</a:t>
            </a:r>
            <a:endParaRPr kumimoji="0" lang="en-IN" sz="800" b="0" i="0" u="none" strike="noStrike" kern="1200" cap="none" spc="0" normalizeH="0" baseline="0" noProof="0" dirty="0">
              <a:ln>
                <a:noFill/>
              </a:ln>
              <a:solidFill>
                <a:prstClr val="black"/>
              </a:solidFill>
              <a:effectLst/>
              <a:uLnTx/>
              <a:uFillTx/>
              <a:latin typeface="Verdana"/>
              <a:ea typeface="+mn-ea"/>
              <a:cs typeface="+mn-cs"/>
            </a:endParaRPr>
          </a:p>
        </p:txBody>
      </p:sp>
      <p:sp>
        <p:nvSpPr>
          <p:cNvPr id="58" name="Rectangle 57"/>
          <p:cNvSpPr/>
          <p:nvPr/>
        </p:nvSpPr>
        <p:spPr bwMode="gray">
          <a:xfrm>
            <a:off x="377227" y="7260740"/>
            <a:ext cx="5652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Deloitte Analysis</a:t>
            </a:r>
          </a:p>
        </p:txBody>
      </p:sp>
    </p:spTree>
    <p:extLst>
      <p:ext uri="{BB962C8B-B14F-4D97-AF65-F5344CB8AC3E}">
        <p14:creationId xmlns:p14="http://schemas.microsoft.com/office/powerpoint/2010/main" val="3386143151"/>
      </p:ext>
    </p:extLst>
  </p:cSld>
  <p:clrMapOvr>
    <a:masterClrMapping/>
  </p:clrMapOvr>
  <p:transition>
    <p:fade/>
  </p:transition>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2" imgW="530" imgH="531" progId="TCLayout.ActiveDocument.1">
                  <p:embed/>
                </p:oleObj>
              </mc:Choice>
              <mc:Fallback>
                <p:oleObj name="think-cell Slide" r:id="rId42" imgW="530" imgH="531" progId="TCLayout.ActiveDocument.1">
                  <p:embed/>
                  <p:pic>
                    <p:nvPicPr>
                      <p:cNvPr id="4" name="Object 3" hidden="1"/>
                      <p:cNvPicPr/>
                      <p:nvPr/>
                    </p:nvPicPr>
                    <p:blipFill>
                      <a:blip r:embed="rId43"/>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783264762"/>
              </p:ext>
            </p:ext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Following graph shows the change in total power purchase cost (BDT Bn) in Bangladesh in Pre &amp; Post Covid Scenario</a:t>
                      </a: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graph shows the tentative impact on power sales to </a:t>
                      </a:r>
                      <a:r>
                        <a:rPr lang="en-US" sz="1000" b="0" baseline="0" dirty="0" err="1">
                          <a:solidFill>
                            <a:schemeClr val="tx1"/>
                          </a:solidFill>
                        </a:rPr>
                        <a:t>discoms</a:t>
                      </a:r>
                      <a:r>
                        <a:rPr lang="en-US" sz="1000" b="0" baseline="0" dirty="0">
                          <a:solidFill>
                            <a:schemeClr val="tx1"/>
                          </a:solidFill>
                        </a:rPr>
                        <a:t> by BPDB (BDT Bn) due to Covid -19 Pandemic</a:t>
                      </a: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BPDB Liquidity Assessment – Covid 19 | Discom Credit Assessment</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Apart from the reduction in power purchase cost, BPDB’s revenue is also expected to be impacted; However as BPDB sells power on a fixed bulk supply tariff, the overall difference in power purchase cost &amp; revenue from sales could reduce substantially</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2633236985"/>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lgn="just">
                        <a:spcAft>
                          <a:spcPts val="500"/>
                        </a:spcAft>
                        <a:buFont typeface="Arial" panose="020B0604020202020204" pitchFamily="34" charset="0"/>
                        <a:buNone/>
                      </a:pPr>
                      <a:r>
                        <a:rPr lang="en-US" sz="1000" b="1" baseline="0" dirty="0">
                          <a:solidFill>
                            <a:schemeClr val="tx1"/>
                          </a:solidFill>
                        </a:rPr>
                        <a:t>Fall in Overall Power Generation Cost</a:t>
                      </a:r>
                    </a:p>
                    <a:p>
                      <a:pPr marL="171450" indent="-171450" algn="just">
                        <a:spcAft>
                          <a:spcPts val="500"/>
                        </a:spcAft>
                        <a:buFont typeface="Arial" panose="020B0604020202020204" pitchFamily="34" charset="0"/>
                        <a:buChar char="•"/>
                      </a:pPr>
                      <a:r>
                        <a:rPr lang="en-US" sz="1000" b="0" baseline="0" dirty="0">
                          <a:solidFill>
                            <a:schemeClr val="tx1"/>
                          </a:solidFill>
                        </a:rPr>
                        <a:t>The reduction in power generation by 16% and shift from liquid to gas based generation is expected to reduce monthly power generation cost of BPDB by ~28% </a:t>
                      </a:r>
                    </a:p>
                    <a:p>
                      <a:pPr marL="171450" indent="-171450" algn="just">
                        <a:spcAft>
                          <a:spcPts val="500"/>
                        </a:spcAft>
                        <a:buFont typeface="Arial" panose="020B0604020202020204" pitchFamily="34" charset="0"/>
                        <a:buChar char="•"/>
                      </a:pPr>
                      <a:r>
                        <a:rPr lang="en-US" sz="1000" b="0" baseline="0" dirty="0">
                          <a:solidFill>
                            <a:schemeClr val="tx1"/>
                          </a:solidFill>
                        </a:rPr>
                        <a:t>The average liquid based generation cost for BPDB at BDT ~16 / kWh is being replaced by cheaper gas based power generation at BDT ~2.7 / kWh</a:t>
                      </a:r>
                    </a:p>
                    <a:p>
                      <a:pPr marL="171450" indent="-171450" algn="just">
                        <a:spcAft>
                          <a:spcPts val="500"/>
                        </a:spcAft>
                        <a:buFont typeface="Arial" panose="020B0604020202020204" pitchFamily="34" charset="0"/>
                        <a:buChar char="•"/>
                      </a:pPr>
                      <a:r>
                        <a:rPr lang="en-US" sz="1000" b="0" baseline="0" dirty="0">
                          <a:solidFill>
                            <a:schemeClr val="tx1"/>
                          </a:solidFill>
                        </a:rPr>
                        <a:t>The per month saving in power purchase cost could come down by ~BDT 10 Bn</a:t>
                      </a:r>
                    </a:p>
                    <a:p>
                      <a:pPr marL="0" indent="0" algn="just" defTabSz="990571" rtl="0" eaLnBrk="1" latinLnBrk="0" hangingPunct="1">
                        <a:spcAft>
                          <a:spcPts val="500"/>
                        </a:spcAft>
                        <a:buFont typeface="Arial" panose="020B0604020202020204" pitchFamily="34" charset="0"/>
                        <a:buNone/>
                      </a:pPr>
                      <a:endParaRPr lang="en-US" sz="1000" b="1" kern="1200" baseline="0" dirty="0">
                        <a:solidFill>
                          <a:schemeClr val="tx1"/>
                        </a:solidFill>
                        <a:latin typeface="+mn-lt"/>
                        <a:ea typeface="+mn-ea"/>
                        <a:cs typeface="+mn-cs"/>
                      </a:endParaRPr>
                    </a:p>
                    <a:p>
                      <a:pPr marL="0" indent="0" algn="just" defTabSz="990571" rtl="0" eaLnBrk="1" latinLnBrk="0" hangingPunct="1">
                        <a:spcAft>
                          <a:spcPts val="500"/>
                        </a:spcAft>
                        <a:buFont typeface="Arial" panose="020B0604020202020204" pitchFamily="34" charset="0"/>
                        <a:buNone/>
                      </a:pPr>
                      <a:r>
                        <a:rPr lang="en-US" sz="1000" b="1" kern="1200" baseline="0" dirty="0">
                          <a:solidFill>
                            <a:schemeClr val="tx1"/>
                          </a:solidFill>
                          <a:latin typeface="+mn-lt"/>
                          <a:ea typeface="+mn-ea"/>
                          <a:cs typeface="+mn-cs"/>
                        </a:rPr>
                        <a:t>Fall in Overall Power Sales </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We have considered the average billing rate of FY2019 to assess the tentative fall in revenue for BPDB for post covid-19 scenario</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In FY2019, the average billing rate for BPDB was ~BDT 5.00 / Unit to the </a:t>
                      </a:r>
                      <a:r>
                        <a:rPr lang="en-US" sz="1000" b="0" kern="1200" baseline="0" dirty="0" err="1">
                          <a:solidFill>
                            <a:schemeClr val="tx1"/>
                          </a:solidFill>
                          <a:latin typeface="+mn-lt"/>
                          <a:ea typeface="+mn-ea"/>
                          <a:cs typeface="+mn-cs"/>
                        </a:rPr>
                        <a:t>discoms</a:t>
                      </a:r>
                      <a:r>
                        <a:rPr lang="en-US" sz="1000" b="0" kern="1200" baseline="0" dirty="0">
                          <a:solidFill>
                            <a:schemeClr val="tx1"/>
                          </a:solidFill>
                          <a:latin typeface="+mn-lt"/>
                          <a:ea typeface="+mn-ea"/>
                          <a:cs typeface="+mn-cs"/>
                        </a:rPr>
                        <a:t> which has been kept at same level for FY20</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In such a scenario, BPDB’s average revenue from power sales could fall from BDT 31 Bn in April 2019 (tentative) to BDT 26 Bn in April 2020</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Despite the revenue fall, the overall profitability position for BPDB should ideally improve as the difference in Power Purchase &amp; Sales would reduce substantially to become at par.</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GoB has waived for Late Payment Charges for domestic consumers till May 2019 which is expected to lead to a delay in overall collections for </a:t>
                      </a:r>
                      <a:r>
                        <a:rPr lang="en-US" sz="1000" b="0" kern="1200" baseline="0" dirty="0" err="1">
                          <a:solidFill>
                            <a:schemeClr val="tx1"/>
                          </a:solidFill>
                          <a:latin typeface="+mn-lt"/>
                          <a:ea typeface="+mn-ea"/>
                          <a:cs typeface="+mn-cs"/>
                        </a:rPr>
                        <a:t>discoms</a:t>
                      </a:r>
                      <a:endParaRPr lang="en-US" sz="1000" b="0" kern="1200" baseline="0" dirty="0">
                        <a:solidFill>
                          <a:schemeClr val="tx1"/>
                        </a:solidFill>
                        <a:latin typeface="+mn-lt"/>
                        <a:ea typeface="+mn-ea"/>
                        <a:cs typeface="+mn-cs"/>
                      </a:endParaRP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Discoms in turn are expected to delay their payments to BPDB which may need short term support from the Government of Bangladesh to pay its dues to various IPPs as well as fuel suppliers and vendors for its own power plants</a:t>
                      </a:r>
                    </a:p>
                    <a:p>
                      <a:pPr marL="0" indent="0" algn="just">
                        <a:spcAft>
                          <a:spcPts val="500"/>
                        </a:spcAft>
                        <a:buFont typeface="Arial" panose="020B0604020202020204" pitchFamily="34" charset="0"/>
                        <a:buNone/>
                      </a:pPr>
                      <a:endParaRPr lang="en-US" sz="1000" b="1"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45" name="Chart 44"/>
          <p:cNvGraphicFramePr/>
          <p:nvPr>
            <p:custDataLst>
              <p:tags r:id="rId5"/>
            </p:custDataLst>
          </p:nvPr>
        </p:nvGraphicFramePr>
        <p:xfrm>
          <a:off x="5721350" y="2541588"/>
          <a:ext cx="4205288" cy="1704975"/>
        </p:xfrm>
        <a:graphic>
          <a:graphicData uri="http://schemas.openxmlformats.org/drawingml/2006/chart">
            <c:chart xmlns:c="http://schemas.openxmlformats.org/drawingml/2006/chart" xmlns:r="http://schemas.openxmlformats.org/officeDocument/2006/relationships" r:id="rId44"/>
          </a:graphicData>
        </a:graphic>
      </p:graphicFrame>
      <p:cxnSp>
        <p:nvCxnSpPr>
          <p:cNvPr id="20" name="Straight Connector 19"/>
          <p:cNvCxnSpPr/>
          <p:nvPr>
            <p:custDataLst>
              <p:tags r:id="rId6"/>
            </p:custDataLst>
          </p:nvPr>
        </p:nvCxnSpPr>
        <p:spPr bwMode="auto">
          <a:xfrm>
            <a:off x="9396413" y="3054350"/>
            <a:ext cx="485775" cy="0"/>
          </a:xfrm>
          <a:prstGeom prst="line">
            <a:avLst/>
          </a:prstGeom>
          <a:ln w="6350" cap="flat" cmpd="sng" algn="ctr">
            <a:solidFill>
              <a:schemeClr val="tx1"/>
            </a:solidFill>
            <a:prstDash val="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custDataLst>
              <p:tags r:id="rId7"/>
            </p:custDataLst>
          </p:nvPr>
        </p:nvCxnSpPr>
        <p:spPr bwMode="auto">
          <a:xfrm>
            <a:off x="7377114" y="2624138"/>
            <a:ext cx="2505075" cy="0"/>
          </a:xfrm>
          <a:prstGeom prst="line">
            <a:avLst/>
          </a:prstGeom>
          <a:ln w="6350" cap="flat" cmpd="sng" algn="ctr">
            <a:solidFill>
              <a:schemeClr val="tx1"/>
            </a:solidFill>
            <a:prstDash val="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custDataLst>
              <p:tags r:id="rId8"/>
            </p:custDataLst>
          </p:nvPr>
        </p:nvCxnSpPr>
        <p:spPr bwMode="auto">
          <a:xfrm>
            <a:off x="9844088" y="2620963"/>
            <a:ext cx="0" cy="436563"/>
          </a:xfrm>
          <a:prstGeom prst="line">
            <a:avLst/>
          </a:prstGeom>
          <a:ln w="6350" cap="flat" cmpd="sng" algn="ctr">
            <a:solidFill>
              <a:schemeClr val="tx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8" name="StandardTextbox"/>
          <p:cNvSpPr>
            <a:spLocks noGrp="1"/>
          </p:cNvSpPr>
          <p:nvPr>
            <p:custDataLst>
              <p:tags r:id="rId9"/>
            </p:custDataLst>
          </p:nvPr>
        </p:nvSpPr>
        <p:spPr bwMode="gray">
          <a:xfrm>
            <a:off x="6643688" y="2787650"/>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59A3E0EE-01D6-4C5D-8802-02422FEC59B7}" type="datetime'''''3''''''''''1''''''''''''''''''''''''''%'">
              <a:rPr kumimoji="0" lang="en-IN" altLang="en-US" sz="1000" b="0" i="0" u="none" strike="noStrike" kern="1200" cap="none" spc="0" normalizeH="0" baseline="0" noProof="0" smtClean="0">
                <a:ln>
                  <a:noFill/>
                </a:ln>
                <a:solidFill>
                  <a:prstClr val="white"/>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31%</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10" name="StandardTextbox"/>
          <p:cNvSpPr>
            <a:spLocks noGrp="1"/>
          </p:cNvSpPr>
          <p:nvPr>
            <p:custDataLst>
              <p:tags r:id="rId10"/>
            </p:custDataLst>
          </p:nvPr>
        </p:nvSpPr>
        <p:spPr bwMode="gray">
          <a:xfrm>
            <a:off x="8662988" y="3205163"/>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EFAE2B9-9A2C-4058-9785-C25223C0423E}" type="datetime'''''''''''4''''''''''''''1%'''''''''''''''''''''''''">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41%</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78" name="StandardTextbox"/>
          <p:cNvSpPr>
            <a:spLocks noGrp="1"/>
          </p:cNvSpPr>
          <p:nvPr>
            <p:custDataLst>
              <p:tags r:id="rId11"/>
            </p:custDataLst>
          </p:nvPr>
        </p:nvSpPr>
        <p:spPr bwMode="gray">
          <a:xfrm>
            <a:off x="6965950" y="3057525"/>
            <a:ext cx="258763" cy="152400"/>
          </a:xfrm>
          <a:prstGeom prst="rect">
            <a:avLst/>
          </a:prstGeom>
          <a:solidFill>
            <a:srgbClr val="0097A9"/>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591B220-3DF9-4227-87ED-43698E848939}" type="datetime'''''''''''''4''''''''''''''''''''''''''''''''''''''''''%'''''">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4%</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77" name="StandardTextbox"/>
          <p:cNvSpPr>
            <a:spLocks noGrp="1"/>
          </p:cNvSpPr>
          <p:nvPr>
            <p:custDataLst>
              <p:tags r:id="rId12"/>
            </p:custDataLst>
          </p:nvPr>
        </p:nvSpPr>
        <p:spPr bwMode="gray">
          <a:xfrm>
            <a:off x="6403975" y="3087688"/>
            <a:ext cx="258763" cy="152400"/>
          </a:xfrm>
          <a:prstGeom prst="rect">
            <a:avLst/>
          </a:prstGeom>
          <a:solidFill>
            <a:srgbClr val="012169"/>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8093FDA5-30CA-4817-AD28-79CF5F2DFD9B}" type="datetime'''''''''''''''0''%'''''''''''''''''''''''''''''''">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0%</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09" name="StandardTextbox"/>
          <p:cNvSpPr>
            <a:spLocks noGrp="1"/>
          </p:cNvSpPr>
          <p:nvPr>
            <p:custDataLst>
              <p:tags r:id="rId13"/>
            </p:custDataLst>
          </p:nvPr>
        </p:nvSpPr>
        <p:spPr bwMode="gray">
          <a:xfrm>
            <a:off x="8662988" y="3757613"/>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F9FE04A-50AE-4428-8276-5D9FF3238494}" type="datetime'''''3''8%'''''''''''''''''''''''">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38%</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07" name="StandardTextbox"/>
          <p:cNvSpPr>
            <a:spLocks noGrp="1"/>
          </p:cNvSpPr>
          <p:nvPr>
            <p:custDataLst>
              <p:tags r:id="rId14"/>
            </p:custDataLst>
          </p:nvPr>
        </p:nvSpPr>
        <p:spPr bwMode="gray">
          <a:xfrm>
            <a:off x="6643688" y="3513138"/>
            <a:ext cx="339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37375BC-D5C7-4CDD-A4E2-4B6E8412429F}" type="datetime'''''5''''''''5''''''''''''''''%'''''''''''''''''''">
              <a:rPr kumimoji="0" lang="en-IN" altLang="en-US" sz="1000" b="0" i="0" u="none" strike="noStrike" kern="1200" cap="none" spc="0" normalizeH="0" baseline="0" noProof="0" smtClean="0">
                <a:ln>
                  <a:noFill/>
                </a:ln>
                <a:solidFill>
                  <a:prstClr val="white"/>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55%</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76" name="StandardTextbox"/>
          <p:cNvSpPr>
            <a:spLocks noGrp="1"/>
          </p:cNvSpPr>
          <p:nvPr>
            <p:custDataLst>
              <p:tags r:id="rId15"/>
            </p:custDataLst>
          </p:nvPr>
        </p:nvSpPr>
        <p:spPr bwMode="gray">
          <a:xfrm>
            <a:off x="6965950" y="3940175"/>
            <a:ext cx="258763" cy="152400"/>
          </a:xfrm>
          <a:prstGeom prst="rect">
            <a:avLst/>
          </a:prstGeom>
          <a:solidFill>
            <a:srgbClr val="046A38"/>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86F4E33-487A-4B68-B5B5-E1B5FF7BBC37}" type="datetime'''''0''%'''''''''''''''''''''''''''''''''''''''">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0%</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06" name="StandardTextbox"/>
          <p:cNvSpPr>
            <a:spLocks noGrp="1"/>
          </p:cNvSpPr>
          <p:nvPr>
            <p:custDataLst>
              <p:tags r:id="rId16"/>
            </p:custDataLst>
          </p:nvPr>
        </p:nvSpPr>
        <p:spPr bwMode="gray">
          <a:xfrm>
            <a:off x="6403975" y="4014788"/>
            <a:ext cx="2587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AC423C6-571F-4E46-9646-96B6D9FAA112}" type="datetime'''''''''''''''''''''''''''''''9%'''''''''''''''''''''">
              <a:rPr kumimoji="0" lang="en-IN" altLang="en-US" sz="1000" b="0" i="0" u="none" strike="noStrike" kern="1200" cap="none" spc="0" normalizeH="0" baseline="0" noProof="0" smtClean="0">
                <a:ln>
                  <a:noFill/>
                </a:ln>
                <a:solidFill>
                  <a:prstClr val="white"/>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9%</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58" name="StandardTextbox"/>
          <p:cNvSpPr>
            <a:spLocks noGrp="1"/>
          </p:cNvSpPr>
          <p:nvPr>
            <p:custDataLst>
              <p:tags r:id="rId17"/>
            </p:custDataLst>
          </p:nvPr>
        </p:nvSpPr>
        <p:spPr bwMode="auto">
          <a:xfrm>
            <a:off x="6096000" y="4249738"/>
            <a:ext cx="14366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175C79FE-3A1F-4A15-8C5E-1BEB4D49FEA3}" type="datetime'A''''''''pril'''' 2019'' (Pr''''''e ''Co''''''v''i''d)'''''">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April 2019 (Pre Covid)</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96" name="StandardTextbox"/>
          <p:cNvSpPr>
            <a:spLocks noGrp="1"/>
          </p:cNvSpPr>
          <p:nvPr>
            <p:custDataLst>
              <p:tags r:id="rId18"/>
            </p:custDataLst>
          </p:nvPr>
        </p:nvSpPr>
        <p:spPr bwMode="gray">
          <a:xfrm>
            <a:off x="8943975" y="3489325"/>
            <a:ext cx="339725" cy="152400"/>
          </a:xfrm>
          <a:prstGeom prst="rect">
            <a:avLst/>
          </a:prstGeom>
          <a:solidFill>
            <a:srgbClr val="0097A9"/>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89CA969-E24C-42BE-B37C-230D70B907F9}" type="datetime'''1''''''''''''''''''''''''''''''''''''0''''''''''''%'">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10%</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65" name="StandardTextbox"/>
          <p:cNvSpPr>
            <a:spLocks noGrp="1"/>
          </p:cNvSpPr>
          <p:nvPr>
            <p:custDataLst>
              <p:tags r:id="rId19"/>
            </p:custDataLst>
          </p:nvPr>
        </p:nvSpPr>
        <p:spPr bwMode="gray">
          <a:xfrm>
            <a:off x="8731250" y="2876550"/>
            <a:ext cx="203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0BCCA24-02A1-4443-ADE6-C21610E764AF}" type="datetime'2''''''''''''''''6'''''''''''''''''''''''''''''">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26</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80" name="StandardTextbox"/>
          <p:cNvSpPr>
            <a:spLocks noGrp="1"/>
          </p:cNvSpPr>
          <p:nvPr>
            <p:custDataLst>
              <p:tags r:id="rId20"/>
            </p:custDataLst>
          </p:nvPr>
        </p:nvSpPr>
        <p:spPr bwMode="gray">
          <a:xfrm>
            <a:off x="8424863" y="3544888"/>
            <a:ext cx="258763" cy="152400"/>
          </a:xfrm>
          <a:prstGeom prst="rect">
            <a:avLst/>
          </a:prstGeom>
          <a:solidFill>
            <a:srgbClr val="012169"/>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DCCC971-4277-4FCD-BBE6-DAC8BD24EC54}" type="datetime'''''''''''''''''''''0''''''''''''''''''''%'''''''''''''''">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0%</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79" name="StandardTextbox"/>
          <p:cNvSpPr>
            <a:spLocks noGrp="1"/>
          </p:cNvSpPr>
          <p:nvPr>
            <p:custDataLst>
              <p:tags r:id="rId21"/>
            </p:custDataLst>
          </p:nvPr>
        </p:nvSpPr>
        <p:spPr bwMode="gray">
          <a:xfrm>
            <a:off x="8985250" y="3971925"/>
            <a:ext cx="258763" cy="152400"/>
          </a:xfrm>
          <a:prstGeom prst="rect">
            <a:avLst/>
          </a:prstGeom>
          <a:solidFill>
            <a:srgbClr val="046A38"/>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F2D14D9-9CCC-42DE-BDC1-DC79EEF63585}" type="datetime'''''''''''''''''''''''0''''''%'''''''''''''''''''''''''''''''">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0%</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95" name="StandardTextbox"/>
          <p:cNvSpPr>
            <a:spLocks noGrp="1"/>
          </p:cNvSpPr>
          <p:nvPr>
            <p:custDataLst>
              <p:tags r:id="rId22"/>
            </p:custDataLst>
          </p:nvPr>
        </p:nvSpPr>
        <p:spPr bwMode="gray">
          <a:xfrm>
            <a:off x="8383588" y="4030663"/>
            <a:ext cx="339725" cy="152400"/>
          </a:xfrm>
          <a:prstGeom prst="rect">
            <a:avLst/>
          </a:prstGeom>
          <a:solidFill>
            <a:srgbClr val="86BC25"/>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06264CC-9C05-456B-8787-F8E435394E37}" type="datetime'''''''''''''''''''1''''''0''%'''''''''''''''''''">
              <a:rPr kumimoji="0" lang="en-IN" altLang="en-US" sz="1000" b="0" i="0" u="none" strike="noStrike" kern="1200" cap="none" spc="0" normalizeH="0" baseline="0" noProof="0" smtClean="0">
                <a:ln>
                  <a:noFill/>
                </a:ln>
                <a:solidFill>
                  <a:prstClr val="white"/>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10%</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69" name="StandardTextbox"/>
          <p:cNvSpPr>
            <a:spLocks noGrp="1"/>
          </p:cNvSpPr>
          <p:nvPr>
            <p:custDataLst>
              <p:tags r:id="rId23"/>
            </p:custDataLst>
          </p:nvPr>
        </p:nvSpPr>
        <p:spPr bwMode="auto">
          <a:xfrm>
            <a:off x="8081963" y="4249738"/>
            <a:ext cx="150177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E60F307F-DB36-44FD-8BD2-14B0E79D6E86}" type="datetime'Ap''''ril 20''''2''''0 ''''(P''''''''ost'' ''''Co''''''v''id)'">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April 2020 (Post Covid)</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64" name="StandardTextbox"/>
          <p:cNvSpPr>
            <a:spLocks noGrp="1"/>
          </p:cNvSpPr>
          <p:nvPr>
            <p:custDataLst>
              <p:tags r:id="rId24"/>
            </p:custDataLst>
          </p:nvPr>
        </p:nvSpPr>
        <p:spPr bwMode="gray">
          <a:xfrm>
            <a:off x="6711950" y="2446338"/>
            <a:ext cx="203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AED40225-AA63-4001-8657-BE3A1B855CC1}" type="datetime'''''''3''''''''''''''''''''6'''">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36</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82" name="StandardTextbox"/>
          <p:cNvSpPr>
            <a:spLocks noGrp="1"/>
          </p:cNvSpPr>
          <p:nvPr>
            <p:custDataLst>
              <p:tags r:id="rId25"/>
            </p:custDataLst>
          </p:nvPr>
        </p:nvSpPr>
        <p:spPr bwMode="auto">
          <a:xfrm>
            <a:off x="9558338" y="2692400"/>
            <a:ext cx="571500" cy="215900"/>
          </a:xfrm>
          <a:prstGeom prst="ellipse">
            <a:avLst/>
          </a:prstGeom>
          <a:solidFill>
            <a:srgbClr val="FFFFFF"/>
          </a:solidFill>
          <a:ln w="9525" algn="ctr">
            <a:solidFill>
              <a:schemeClr val="tx1"/>
            </a:solidFill>
          </a:ln>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3322941-62E9-4C3C-BF0E-40464A443E36}" type="datetime'''''''''-''''''''''''''2''''''''''''''''8''''''''''''%'''''''">
              <a:rPr kumimoji="0" lang="en-IN" altLang="en-US" sz="1000" b="1"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-28%</a:t>
            </a:fld>
            <a:endParaRPr kumimoji="0" lang="en-IN" sz="1000" b="1"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1" name="Rectangle 10"/>
          <p:cNvSpPr/>
          <p:nvPr>
            <p:custDataLst>
              <p:tags r:id="rId26"/>
            </p:custDataLst>
          </p:nvPr>
        </p:nvSpPr>
        <p:spPr bwMode="auto">
          <a:xfrm>
            <a:off x="7246938" y="4495800"/>
            <a:ext cx="179388" cy="133350"/>
          </a:xfrm>
          <a:prstGeom prst="rect">
            <a:avLst/>
          </a:prstGeom>
          <a:solidFill>
            <a:srgbClr val="012169"/>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3" name="Rectangle 12"/>
          <p:cNvSpPr/>
          <p:nvPr>
            <p:custDataLst>
              <p:tags r:id="rId27"/>
            </p:custDataLst>
          </p:nvPr>
        </p:nvSpPr>
        <p:spPr bwMode="auto">
          <a:xfrm>
            <a:off x="8410575" y="4495800"/>
            <a:ext cx="179388" cy="133350"/>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9" name="Rectangle 8"/>
          <p:cNvSpPr/>
          <p:nvPr>
            <p:custDataLst>
              <p:tags r:id="rId28"/>
            </p:custDataLst>
          </p:nvPr>
        </p:nvSpPr>
        <p:spPr bwMode="auto">
          <a:xfrm>
            <a:off x="6064250" y="4495800"/>
            <a:ext cx="179388" cy="133350"/>
          </a:xfrm>
          <a:prstGeom prst="rect">
            <a:avLst/>
          </a:prstGeom>
          <a:solidFill>
            <a:srgbClr val="75787B"/>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2" name="Rectangle 11"/>
          <p:cNvSpPr/>
          <p:nvPr>
            <p:custDataLst>
              <p:tags r:id="rId29"/>
            </p:custDataLst>
          </p:nvPr>
        </p:nvSpPr>
        <p:spPr bwMode="auto">
          <a:xfrm>
            <a:off x="7908925" y="4495800"/>
            <a:ext cx="179388" cy="133350"/>
          </a:xfrm>
          <a:prstGeom prst="rect">
            <a:avLst/>
          </a:prstGeom>
          <a:solidFill>
            <a:srgbClr val="62B5E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 name="Rectangle 9"/>
          <p:cNvSpPr/>
          <p:nvPr>
            <p:custDataLst>
              <p:tags r:id="rId30"/>
            </p:custDataLst>
          </p:nvPr>
        </p:nvSpPr>
        <p:spPr bwMode="auto">
          <a:xfrm>
            <a:off x="6637338" y="4495800"/>
            <a:ext cx="179388" cy="133350"/>
          </a:xfrm>
          <a:prstGeom prst="rect">
            <a:avLst/>
          </a:prstGeom>
          <a:solidFill>
            <a:srgbClr val="0097A9"/>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5" name="Rectangle 14"/>
          <p:cNvSpPr/>
          <p:nvPr>
            <p:custDataLst>
              <p:tags r:id="rId31"/>
            </p:custDataLst>
          </p:nvPr>
        </p:nvSpPr>
        <p:spPr bwMode="auto">
          <a:xfrm>
            <a:off x="9123363" y="4495800"/>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73" name="StandardTextbox"/>
          <p:cNvSpPr>
            <a:spLocks noGrp="1"/>
          </p:cNvSpPr>
          <p:nvPr>
            <p:custDataLst>
              <p:tags r:id="rId32"/>
            </p:custDataLst>
          </p:nvPr>
        </p:nvSpPr>
        <p:spPr bwMode="auto">
          <a:xfrm>
            <a:off x="8139113" y="4491038"/>
            <a:ext cx="1698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C82638BB-0CE9-4620-9F04-5DC19806A1B6}" type="datetime'''''O''i''''''''''l'''''''''''''''''''''">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Oil</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61" name="StandardTextbox"/>
          <p:cNvSpPr>
            <a:spLocks noGrp="1"/>
          </p:cNvSpPr>
          <p:nvPr>
            <p:custDataLst>
              <p:tags r:id="rId33"/>
            </p:custDataLst>
          </p:nvPr>
        </p:nvSpPr>
        <p:spPr bwMode="auto">
          <a:xfrm>
            <a:off x="6294438" y="4491038"/>
            <a:ext cx="2413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1C496F0D-3DC0-44A0-8072-E22AA14DC923}" type="datetime'''''''''''''''''''''''''G''''''''''a''''''''''''s'">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Gas</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74" name="StandardTextbox"/>
          <p:cNvSpPr>
            <a:spLocks noGrp="1"/>
          </p:cNvSpPr>
          <p:nvPr>
            <p:custDataLst>
              <p:tags r:id="rId34"/>
            </p:custDataLst>
          </p:nvPr>
        </p:nvSpPr>
        <p:spPr bwMode="auto">
          <a:xfrm>
            <a:off x="8640763" y="4491038"/>
            <a:ext cx="3810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298E54D9-679A-4437-A291-27194DAB9701}" type="datetime'''''''''''''H''''''y''d''''''''r''''''''''''o'''">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Hydro</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63" name="StandardTextbox"/>
          <p:cNvSpPr>
            <a:spLocks noGrp="1"/>
          </p:cNvSpPr>
          <p:nvPr>
            <p:custDataLst>
              <p:tags r:id="rId35"/>
            </p:custDataLst>
          </p:nvPr>
        </p:nvSpPr>
        <p:spPr bwMode="auto">
          <a:xfrm>
            <a:off x="7477125" y="4491038"/>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B86A6737-8758-4321-8E88-CA8BDEB8B8A4}" type="datetime'''''''S''''''''''''''''''''''''''''''o''''''''''''l''ar'">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Solar</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62" name="StandardTextbox"/>
          <p:cNvSpPr>
            <a:spLocks noGrp="1"/>
          </p:cNvSpPr>
          <p:nvPr>
            <p:custDataLst>
              <p:tags r:id="rId36"/>
            </p:custDataLst>
          </p:nvPr>
        </p:nvSpPr>
        <p:spPr bwMode="auto">
          <a:xfrm>
            <a:off x="6867525" y="4491038"/>
            <a:ext cx="2778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0DD3D9AD-DC7D-4185-8683-151BAF4A41C5}" type="datetime'''''Coa''''''''l'''''''''''''''''''''''''''''''''''''''''''''">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Coal</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75" name="StandardTextbox"/>
          <p:cNvSpPr>
            <a:spLocks noGrp="1"/>
          </p:cNvSpPr>
          <p:nvPr>
            <p:custDataLst>
              <p:tags r:id="rId37"/>
            </p:custDataLst>
          </p:nvPr>
        </p:nvSpPr>
        <p:spPr bwMode="auto">
          <a:xfrm>
            <a:off x="9353550" y="4491038"/>
            <a:ext cx="4397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3EFF6E99-5FA3-4985-8B67-7C16D43A2B1F}" type="datetime'''''''''''''''I''''m''p''''o''''''r''''''''''t'''''''''">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Import</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graphicFrame>
        <p:nvGraphicFramePr>
          <p:cNvPr id="262" name="Chart 261"/>
          <p:cNvGraphicFramePr/>
          <p:nvPr>
            <p:custDataLst>
              <p:tags r:id="rId38"/>
            </p:custDataLst>
          </p:nvPr>
        </p:nvGraphicFramePr>
        <p:xfrm>
          <a:off x="5721350" y="5583238"/>
          <a:ext cx="4205288" cy="1381125"/>
        </p:xfrm>
        <a:graphic>
          <a:graphicData uri="http://schemas.openxmlformats.org/drawingml/2006/chart">
            <c:chart xmlns:c="http://schemas.openxmlformats.org/drawingml/2006/chart" xmlns:r="http://schemas.openxmlformats.org/officeDocument/2006/relationships" r:id="rId45"/>
          </a:graphicData>
        </a:graphic>
      </p:graphicFrame>
      <p:sp>
        <p:nvSpPr>
          <p:cNvPr id="223" name="StandardTextbox"/>
          <p:cNvSpPr>
            <a:spLocks noGrp="1"/>
          </p:cNvSpPr>
          <p:nvPr>
            <p:custDataLst>
              <p:tags r:id="rId39"/>
            </p:custDataLst>
          </p:nvPr>
        </p:nvSpPr>
        <p:spPr bwMode="auto">
          <a:xfrm>
            <a:off x="6096000" y="6967538"/>
            <a:ext cx="14366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4F86BAA8-F221-47E1-A70D-C9FAE3D6F000}" type="datetime'A''p''''''ri''''l'''''' 2019'' ''''(''P''r''e Co''''vi''d)'">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April 2019 (Pre Covid)</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29" name="StandardTextbox"/>
          <p:cNvSpPr>
            <a:spLocks noGrp="1"/>
          </p:cNvSpPr>
          <p:nvPr>
            <p:custDataLst>
              <p:tags r:id="rId40"/>
            </p:custDataLst>
          </p:nvPr>
        </p:nvSpPr>
        <p:spPr bwMode="auto">
          <a:xfrm>
            <a:off x="8081963" y="6967538"/>
            <a:ext cx="150177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1AC23B9-C18B-4807-AEE8-E4853B82A0F2}" type="datetime'Ap''r''''il'' 2020 ''(''''Pos''''''t'''' Co''v''i''d'''')'''''">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April 2020 (Post Covid)</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4" name="Rectangle 43"/>
          <p:cNvSpPr/>
          <p:nvPr/>
        </p:nvSpPr>
        <p:spPr bwMode="gray">
          <a:xfrm>
            <a:off x="377227" y="7260740"/>
            <a:ext cx="9997262" cy="192573"/>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Deloitte</a:t>
            </a:r>
            <a:r>
              <a:rPr kumimoji="0" lang="en-US" sz="700" b="0" i="1" u="none" strike="noStrike" kern="1200" cap="none" spc="0" normalizeH="0" noProof="0" dirty="0">
                <a:ln>
                  <a:noFill/>
                </a:ln>
                <a:solidFill>
                  <a:prstClr val="black"/>
                </a:solidFill>
                <a:effectLst/>
                <a:uLnTx/>
                <a:uFillTx/>
                <a:latin typeface="Verdana"/>
                <a:ea typeface="+mn-ea"/>
                <a:cs typeface="+mn-cs"/>
              </a:rPr>
              <a:t> Analysis</a:t>
            </a:r>
            <a:endParaRPr kumimoji="0" lang="en-US" sz="700" b="0" i="1"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278174623"/>
      </p:ext>
    </p:extLst>
  </p:cSld>
  <p:clrMapOvr>
    <a:masterClrMapping/>
  </p:clrMapOvr>
  <p:transition>
    <p:fade/>
  </p:transition>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4" name="Object 3"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graphicFrame>
        <p:nvGraphicFramePr>
          <p:cNvPr id="100" name="Table 99"/>
          <p:cNvGraphicFramePr>
            <a:graphicFrameLocks noGrp="1"/>
          </p:cNvGraphicFramePr>
          <p:nvPr>
            <p:custDataLst>
              <p:tags r:id="rId3"/>
            </p:custData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0" lvl="0" indent="0">
                        <a:spcAft>
                          <a:spcPts val="500"/>
                        </a:spcAft>
                        <a:buFont typeface="Arial" panose="020B0604020202020204" pitchFamily="34" charset="0"/>
                        <a:buNone/>
                      </a:pPr>
                      <a:r>
                        <a:rPr lang="en-US" sz="1000" b="1" baseline="0" dirty="0">
                          <a:solidFill>
                            <a:schemeClr val="tx1"/>
                          </a:solidFill>
                        </a:rPr>
                        <a:t>Fall in Oil Imports due to lower industrial use and Oil based generation</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r>
                        <a:rPr lang="en-US" sz="1000" b="1" baseline="0" dirty="0">
                          <a:solidFill>
                            <a:schemeClr val="tx1"/>
                          </a:solidFill>
                        </a:rPr>
                        <a:t>BPDB instruction to stop liquid fired plants</a:t>
                      </a:r>
                    </a:p>
                    <a:p>
                      <a:pPr marL="0" lvl="0" indent="0">
                        <a:spcAft>
                          <a:spcPts val="500"/>
                        </a:spcAft>
                        <a:buFont typeface="Arial" panose="020B0604020202020204" pitchFamily="34" charset="0"/>
                        <a:buNone/>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5" name="Freeform 3"/>
          <p:cNvSpPr>
            <a:spLocks/>
          </p:cNvSpPr>
          <p:nvPr/>
        </p:nvSpPr>
        <p:spPr bwMode="gray">
          <a:xfrm>
            <a:off x="5410200" y="2424446"/>
            <a:ext cx="4735625" cy="2257655"/>
          </a:xfrm>
          <a:custGeom>
            <a:avLst/>
            <a:gdLst/>
            <a:ahLst/>
            <a:cxnLst>
              <a:cxn ang="0">
                <a:pos x="222" y="20"/>
              </a:cxn>
              <a:cxn ang="0">
                <a:pos x="476" y="6"/>
              </a:cxn>
              <a:cxn ang="0">
                <a:pos x="671" y="35"/>
              </a:cxn>
              <a:cxn ang="0">
                <a:pos x="901" y="27"/>
              </a:cxn>
              <a:cxn ang="0">
                <a:pos x="1105" y="7"/>
              </a:cxn>
              <a:cxn ang="0">
                <a:pos x="1351" y="13"/>
              </a:cxn>
              <a:cxn ang="0">
                <a:pos x="1750" y="16"/>
              </a:cxn>
              <a:cxn ang="0">
                <a:pos x="1962" y="33"/>
              </a:cxn>
              <a:cxn ang="0">
                <a:pos x="2433" y="23"/>
              </a:cxn>
              <a:cxn ang="0">
                <a:pos x="2648" y="30"/>
              </a:cxn>
              <a:cxn ang="0">
                <a:pos x="3022" y="30"/>
              </a:cxn>
              <a:cxn ang="0">
                <a:pos x="3305" y="38"/>
              </a:cxn>
              <a:cxn ang="0">
                <a:pos x="3683" y="43"/>
              </a:cxn>
              <a:cxn ang="0">
                <a:pos x="3921" y="44"/>
              </a:cxn>
              <a:cxn ang="0">
                <a:pos x="4152" y="45"/>
              </a:cxn>
              <a:cxn ang="0">
                <a:pos x="4193" y="98"/>
              </a:cxn>
              <a:cxn ang="0">
                <a:pos x="4229" y="146"/>
              </a:cxn>
              <a:cxn ang="0">
                <a:pos x="4183" y="224"/>
              </a:cxn>
              <a:cxn ang="0">
                <a:pos x="4218" y="282"/>
              </a:cxn>
              <a:cxn ang="0">
                <a:pos x="4286" y="348"/>
              </a:cxn>
              <a:cxn ang="0">
                <a:pos x="4353" y="404"/>
              </a:cxn>
              <a:cxn ang="0">
                <a:pos x="4419" y="474"/>
              </a:cxn>
              <a:cxn ang="0">
                <a:pos x="4413" y="546"/>
              </a:cxn>
              <a:cxn ang="0">
                <a:pos x="4443" y="645"/>
              </a:cxn>
              <a:cxn ang="0">
                <a:pos x="4461" y="711"/>
              </a:cxn>
              <a:cxn ang="0">
                <a:pos x="4462" y="811"/>
              </a:cxn>
              <a:cxn ang="0">
                <a:pos x="4483" y="869"/>
              </a:cxn>
              <a:cxn ang="0">
                <a:pos x="4526" y="953"/>
              </a:cxn>
              <a:cxn ang="0">
                <a:pos x="4448" y="999"/>
              </a:cxn>
              <a:cxn ang="0">
                <a:pos x="4203" y="989"/>
              </a:cxn>
              <a:cxn ang="0">
                <a:pos x="3829" y="970"/>
              </a:cxn>
              <a:cxn ang="0">
                <a:pos x="3619" y="991"/>
              </a:cxn>
              <a:cxn ang="0">
                <a:pos x="3434" y="1006"/>
              </a:cxn>
              <a:cxn ang="0">
                <a:pos x="3180" y="1017"/>
              </a:cxn>
              <a:cxn ang="0">
                <a:pos x="2821" y="994"/>
              </a:cxn>
              <a:cxn ang="0">
                <a:pos x="2467" y="999"/>
              </a:cxn>
              <a:cxn ang="0">
                <a:pos x="2091" y="994"/>
              </a:cxn>
              <a:cxn ang="0">
                <a:pos x="1782" y="991"/>
              </a:cxn>
              <a:cxn ang="0">
                <a:pos x="1496" y="977"/>
              </a:cxn>
              <a:cxn ang="0">
                <a:pos x="1284" y="965"/>
              </a:cxn>
              <a:cxn ang="0">
                <a:pos x="907" y="976"/>
              </a:cxn>
              <a:cxn ang="0">
                <a:pos x="483" y="966"/>
              </a:cxn>
              <a:cxn ang="0">
                <a:pos x="297" y="969"/>
              </a:cxn>
              <a:cxn ang="0">
                <a:pos x="285" y="922"/>
              </a:cxn>
              <a:cxn ang="0">
                <a:pos x="364" y="872"/>
              </a:cxn>
              <a:cxn ang="0">
                <a:pos x="324" y="814"/>
              </a:cxn>
              <a:cxn ang="0">
                <a:pos x="286" y="763"/>
              </a:cxn>
              <a:cxn ang="0">
                <a:pos x="289" y="701"/>
              </a:cxn>
              <a:cxn ang="0">
                <a:pos x="103" y="623"/>
              </a:cxn>
              <a:cxn ang="0">
                <a:pos x="158" y="566"/>
              </a:cxn>
              <a:cxn ang="0">
                <a:pos x="116" y="496"/>
              </a:cxn>
              <a:cxn ang="0">
                <a:pos x="74" y="435"/>
              </a:cxn>
              <a:cxn ang="0">
                <a:pos x="100" y="365"/>
              </a:cxn>
              <a:cxn ang="0">
                <a:pos x="87" y="306"/>
              </a:cxn>
              <a:cxn ang="0">
                <a:pos x="13" y="221"/>
              </a:cxn>
              <a:cxn ang="0">
                <a:pos x="21" y="159"/>
              </a:cxn>
              <a:cxn ang="0">
                <a:pos x="0" y="98"/>
              </a:cxn>
              <a:cxn ang="0">
                <a:pos x="28" y="35"/>
              </a:cxn>
            </a:cxnLst>
            <a:rect l="0" t="0" r="r" b="b"/>
            <a:pathLst>
              <a:path w="4537" h="1018">
                <a:moveTo>
                  <a:pt x="71" y="0"/>
                </a:moveTo>
                <a:lnTo>
                  <a:pt x="147" y="13"/>
                </a:lnTo>
                <a:lnTo>
                  <a:pt x="222" y="20"/>
                </a:lnTo>
                <a:lnTo>
                  <a:pt x="315" y="17"/>
                </a:lnTo>
                <a:lnTo>
                  <a:pt x="380" y="6"/>
                </a:lnTo>
                <a:lnTo>
                  <a:pt x="476" y="6"/>
                </a:lnTo>
                <a:lnTo>
                  <a:pt x="547" y="11"/>
                </a:lnTo>
                <a:lnTo>
                  <a:pt x="597" y="30"/>
                </a:lnTo>
                <a:lnTo>
                  <a:pt x="671" y="35"/>
                </a:lnTo>
                <a:lnTo>
                  <a:pt x="760" y="31"/>
                </a:lnTo>
                <a:lnTo>
                  <a:pt x="830" y="26"/>
                </a:lnTo>
                <a:lnTo>
                  <a:pt x="901" y="27"/>
                </a:lnTo>
                <a:lnTo>
                  <a:pt x="996" y="21"/>
                </a:lnTo>
                <a:lnTo>
                  <a:pt x="1034" y="4"/>
                </a:lnTo>
                <a:lnTo>
                  <a:pt x="1105" y="7"/>
                </a:lnTo>
                <a:lnTo>
                  <a:pt x="1203" y="7"/>
                </a:lnTo>
                <a:lnTo>
                  <a:pt x="1274" y="6"/>
                </a:lnTo>
                <a:lnTo>
                  <a:pt x="1351" y="13"/>
                </a:lnTo>
                <a:lnTo>
                  <a:pt x="1511" y="14"/>
                </a:lnTo>
                <a:lnTo>
                  <a:pt x="1651" y="16"/>
                </a:lnTo>
                <a:lnTo>
                  <a:pt x="1750" y="16"/>
                </a:lnTo>
                <a:lnTo>
                  <a:pt x="1818" y="16"/>
                </a:lnTo>
                <a:lnTo>
                  <a:pt x="1891" y="31"/>
                </a:lnTo>
                <a:lnTo>
                  <a:pt x="1962" y="33"/>
                </a:lnTo>
                <a:lnTo>
                  <a:pt x="2103" y="31"/>
                </a:lnTo>
                <a:lnTo>
                  <a:pt x="2242" y="27"/>
                </a:lnTo>
                <a:lnTo>
                  <a:pt x="2433" y="23"/>
                </a:lnTo>
                <a:lnTo>
                  <a:pt x="2503" y="18"/>
                </a:lnTo>
                <a:lnTo>
                  <a:pt x="2574" y="20"/>
                </a:lnTo>
                <a:lnTo>
                  <a:pt x="2648" y="30"/>
                </a:lnTo>
                <a:lnTo>
                  <a:pt x="2740" y="37"/>
                </a:lnTo>
                <a:lnTo>
                  <a:pt x="2878" y="33"/>
                </a:lnTo>
                <a:lnTo>
                  <a:pt x="3022" y="30"/>
                </a:lnTo>
                <a:lnTo>
                  <a:pt x="3160" y="26"/>
                </a:lnTo>
                <a:lnTo>
                  <a:pt x="3231" y="26"/>
                </a:lnTo>
                <a:lnTo>
                  <a:pt x="3305" y="38"/>
                </a:lnTo>
                <a:lnTo>
                  <a:pt x="3403" y="47"/>
                </a:lnTo>
                <a:lnTo>
                  <a:pt x="3594" y="45"/>
                </a:lnTo>
                <a:lnTo>
                  <a:pt x="3683" y="43"/>
                </a:lnTo>
                <a:lnTo>
                  <a:pt x="3752" y="41"/>
                </a:lnTo>
                <a:lnTo>
                  <a:pt x="3847" y="44"/>
                </a:lnTo>
                <a:lnTo>
                  <a:pt x="3921" y="44"/>
                </a:lnTo>
                <a:lnTo>
                  <a:pt x="3989" y="40"/>
                </a:lnTo>
                <a:lnTo>
                  <a:pt x="4084" y="40"/>
                </a:lnTo>
                <a:lnTo>
                  <a:pt x="4152" y="45"/>
                </a:lnTo>
                <a:lnTo>
                  <a:pt x="4204" y="64"/>
                </a:lnTo>
                <a:lnTo>
                  <a:pt x="4215" y="79"/>
                </a:lnTo>
                <a:lnTo>
                  <a:pt x="4193" y="98"/>
                </a:lnTo>
                <a:lnTo>
                  <a:pt x="4173" y="115"/>
                </a:lnTo>
                <a:lnTo>
                  <a:pt x="4198" y="130"/>
                </a:lnTo>
                <a:lnTo>
                  <a:pt x="4229" y="146"/>
                </a:lnTo>
                <a:lnTo>
                  <a:pt x="4211" y="163"/>
                </a:lnTo>
                <a:lnTo>
                  <a:pt x="4173" y="209"/>
                </a:lnTo>
                <a:lnTo>
                  <a:pt x="4183" y="224"/>
                </a:lnTo>
                <a:lnTo>
                  <a:pt x="4210" y="241"/>
                </a:lnTo>
                <a:lnTo>
                  <a:pt x="4214" y="258"/>
                </a:lnTo>
                <a:lnTo>
                  <a:pt x="4218" y="282"/>
                </a:lnTo>
                <a:lnTo>
                  <a:pt x="4232" y="315"/>
                </a:lnTo>
                <a:lnTo>
                  <a:pt x="4235" y="333"/>
                </a:lnTo>
                <a:lnTo>
                  <a:pt x="4286" y="348"/>
                </a:lnTo>
                <a:lnTo>
                  <a:pt x="4342" y="365"/>
                </a:lnTo>
                <a:lnTo>
                  <a:pt x="4348" y="389"/>
                </a:lnTo>
                <a:lnTo>
                  <a:pt x="4353" y="404"/>
                </a:lnTo>
                <a:lnTo>
                  <a:pt x="4335" y="428"/>
                </a:lnTo>
                <a:lnTo>
                  <a:pt x="4339" y="451"/>
                </a:lnTo>
                <a:lnTo>
                  <a:pt x="4419" y="474"/>
                </a:lnTo>
                <a:lnTo>
                  <a:pt x="4452" y="509"/>
                </a:lnTo>
                <a:lnTo>
                  <a:pt x="4433" y="532"/>
                </a:lnTo>
                <a:lnTo>
                  <a:pt x="4413" y="546"/>
                </a:lnTo>
                <a:lnTo>
                  <a:pt x="4395" y="565"/>
                </a:lnTo>
                <a:lnTo>
                  <a:pt x="4431" y="608"/>
                </a:lnTo>
                <a:lnTo>
                  <a:pt x="4443" y="645"/>
                </a:lnTo>
                <a:lnTo>
                  <a:pt x="4447" y="660"/>
                </a:lnTo>
                <a:lnTo>
                  <a:pt x="4456" y="694"/>
                </a:lnTo>
                <a:lnTo>
                  <a:pt x="4461" y="711"/>
                </a:lnTo>
                <a:lnTo>
                  <a:pt x="4473" y="756"/>
                </a:lnTo>
                <a:lnTo>
                  <a:pt x="4452" y="772"/>
                </a:lnTo>
                <a:lnTo>
                  <a:pt x="4462" y="811"/>
                </a:lnTo>
                <a:lnTo>
                  <a:pt x="4472" y="828"/>
                </a:lnTo>
                <a:lnTo>
                  <a:pt x="4498" y="851"/>
                </a:lnTo>
                <a:lnTo>
                  <a:pt x="4483" y="869"/>
                </a:lnTo>
                <a:lnTo>
                  <a:pt x="4487" y="885"/>
                </a:lnTo>
                <a:lnTo>
                  <a:pt x="4494" y="908"/>
                </a:lnTo>
                <a:lnTo>
                  <a:pt x="4526" y="953"/>
                </a:lnTo>
                <a:lnTo>
                  <a:pt x="4536" y="976"/>
                </a:lnTo>
                <a:lnTo>
                  <a:pt x="4519" y="991"/>
                </a:lnTo>
                <a:lnTo>
                  <a:pt x="4448" y="999"/>
                </a:lnTo>
                <a:lnTo>
                  <a:pt x="4380" y="1013"/>
                </a:lnTo>
                <a:lnTo>
                  <a:pt x="4279" y="1001"/>
                </a:lnTo>
                <a:lnTo>
                  <a:pt x="4203" y="989"/>
                </a:lnTo>
                <a:lnTo>
                  <a:pt x="4062" y="979"/>
                </a:lnTo>
                <a:lnTo>
                  <a:pt x="3990" y="972"/>
                </a:lnTo>
                <a:lnTo>
                  <a:pt x="3829" y="970"/>
                </a:lnTo>
                <a:lnTo>
                  <a:pt x="3762" y="974"/>
                </a:lnTo>
                <a:lnTo>
                  <a:pt x="3690" y="984"/>
                </a:lnTo>
                <a:lnTo>
                  <a:pt x="3619" y="991"/>
                </a:lnTo>
                <a:lnTo>
                  <a:pt x="3577" y="1006"/>
                </a:lnTo>
                <a:lnTo>
                  <a:pt x="3508" y="1013"/>
                </a:lnTo>
                <a:lnTo>
                  <a:pt x="3434" y="1006"/>
                </a:lnTo>
                <a:lnTo>
                  <a:pt x="3365" y="999"/>
                </a:lnTo>
                <a:lnTo>
                  <a:pt x="3266" y="1004"/>
                </a:lnTo>
                <a:lnTo>
                  <a:pt x="3180" y="1017"/>
                </a:lnTo>
                <a:lnTo>
                  <a:pt x="3109" y="1014"/>
                </a:lnTo>
                <a:lnTo>
                  <a:pt x="3010" y="1008"/>
                </a:lnTo>
                <a:lnTo>
                  <a:pt x="2821" y="994"/>
                </a:lnTo>
                <a:lnTo>
                  <a:pt x="2630" y="991"/>
                </a:lnTo>
                <a:lnTo>
                  <a:pt x="2562" y="991"/>
                </a:lnTo>
                <a:lnTo>
                  <a:pt x="2467" y="999"/>
                </a:lnTo>
                <a:lnTo>
                  <a:pt x="2299" y="996"/>
                </a:lnTo>
                <a:lnTo>
                  <a:pt x="2160" y="994"/>
                </a:lnTo>
                <a:lnTo>
                  <a:pt x="2091" y="994"/>
                </a:lnTo>
                <a:lnTo>
                  <a:pt x="1949" y="991"/>
                </a:lnTo>
                <a:lnTo>
                  <a:pt x="1853" y="993"/>
                </a:lnTo>
                <a:lnTo>
                  <a:pt x="1782" y="991"/>
                </a:lnTo>
                <a:lnTo>
                  <a:pt x="1642" y="990"/>
                </a:lnTo>
                <a:lnTo>
                  <a:pt x="1570" y="979"/>
                </a:lnTo>
                <a:lnTo>
                  <a:pt x="1496" y="977"/>
                </a:lnTo>
                <a:lnTo>
                  <a:pt x="1432" y="987"/>
                </a:lnTo>
                <a:lnTo>
                  <a:pt x="1334" y="984"/>
                </a:lnTo>
                <a:lnTo>
                  <a:pt x="1284" y="965"/>
                </a:lnTo>
                <a:lnTo>
                  <a:pt x="1214" y="974"/>
                </a:lnTo>
                <a:lnTo>
                  <a:pt x="1051" y="976"/>
                </a:lnTo>
                <a:lnTo>
                  <a:pt x="907" y="976"/>
                </a:lnTo>
                <a:lnTo>
                  <a:pt x="770" y="982"/>
                </a:lnTo>
                <a:lnTo>
                  <a:pt x="679" y="973"/>
                </a:lnTo>
                <a:lnTo>
                  <a:pt x="483" y="966"/>
                </a:lnTo>
                <a:lnTo>
                  <a:pt x="414" y="970"/>
                </a:lnTo>
                <a:lnTo>
                  <a:pt x="350" y="987"/>
                </a:lnTo>
                <a:lnTo>
                  <a:pt x="297" y="969"/>
                </a:lnTo>
                <a:lnTo>
                  <a:pt x="268" y="953"/>
                </a:lnTo>
                <a:lnTo>
                  <a:pt x="262" y="938"/>
                </a:lnTo>
                <a:lnTo>
                  <a:pt x="285" y="922"/>
                </a:lnTo>
                <a:lnTo>
                  <a:pt x="349" y="904"/>
                </a:lnTo>
                <a:lnTo>
                  <a:pt x="368" y="888"/>
                </a:lnTo>
                <a:lnTo>
                  <a:pt x="364" y="872"/>
                </a:lnTo>
                <a:lnTo>
                  <a:pt x="335" y="854"/>
                </a:lnTo>
                <a:lnTo>
                  <a:pt x="332" y="831"/>
                </a:lnTo>
                <a:lnTo>
                  <a:pt x="324" y="814"/>
                </a:lnTo>
                <a:lnTo>
                  <a:pt x="320" y="799"/>
                </a:lnTo>
                <a:lnTo>
                  <a:pt x="314" y="780"/>
                </a:lnTo>
                <a:lnTo>
                  <a:pt x="286" y="763"/>
                </a:lnTo>
                <a:lnTo>
                  <a:pt x="280" y="739"/>
                </a:lnTo>
                <a:lnTo>
                  <a:pt x="299" y="725"/>
                </a:lnTo>
                <a:lnTo>
                  <a:pt x="289" y="701"/>
                </a:lnTo>
                <a:lnTo>
                  <a:pt x="135" y="657"/>
                </a:lnTo>
                <a:lnTo>
                  <a:pt x="112" y="641"/>
                </a:lnTo>
                <a:lnTo>
                  <a:pt x="103" y="623"/>
                </a:lnTo>
                <a:lnTo>
                  <a:pt x="123" y="606"/>
                </a:lnTo>
                <a:lnTo>
                  <a:pt x="165" y="587"/>
                </a:lnTo>
                <a:lnTo>
                  <a:pt x="158" y="566"/>
                </a:lnTo>
                <a:lnTo>
                  <a:pt x="149" y="543"/>
                </a:lnTo>
                <a:lnTo>
                  <a:pt x="144" y="522"/>
                </a:lnTo>
                <a:lnTo>
                  <a:pt x="116" y="496"/>
                </a:lnTo>
                <a:lnTo>
                  <a:pt x="109" y="477"/>
                </a:lnTo>
                <a:lnTo>
                  <a:pt x="78" y="452"/>
                </a:lnTo>
                <a:lnTo>
                  <a:pt x="74" y="435"/>
                </a:lnTo>
                <a:lnTo>
                  <a:pt x="85" y="396"/>
                </a:lnTo>
                <a:lnTo>
                  <a:pt x="106" y="380"/>
                </a:lnTo>
                <a:lnTo>
                  <a:pt x="100" y="365"/>
                </a:lnTo>
                <a:lnTo>
                  <a:pt x="98" y="345"/>
                </a:lnTo>
                <a:lnTo>
                  <a:pt x="93" y="328"/>
                </a:lnTo>
                <a:lnTo>
                  <a:pt x="87" y="306"/>
                </a:lnTo>
                <a:lnTo>
                  <a:pt x="47" y="261"/>
                </a:lnTo>
                <a:lnTo>
                  <a:pt x="20" y="238"/>
                </a:lnTo>
                <a:lnTo>
                  <a:pt x="13" y="221"/>
                </a:lnTo>
                <a:lnTo>
                  <a:pt x="8" y="199"/>
                </a:lnTo>
                <a:lnTo>
                  <a:pt x="32" y="182"/>
                </a:lnTo>
                <a:lnTo>
                  <a:pt x="21" y="159"/>
                </a:lnTo>
                <a:lnTo>
                  <a:pt x="10" y="136"/>
                </a:lnTo>
                <a:lnTo>
                  <a:pt x="10" y="122"/>
                </a:lnTo>
                <a:lnTo>
                  <a:pt x="0" y="98"/>
                </a:lnTo>
                <a:lnTo>
                  <a:pt x="22" y="77"/>
                </a:lnTo>
                <a:lnTo>
                  <a:pt x="15" y="58"/>
                </a:lnTo>
                <a:lnTo>
                  <a:pt x="28" y="35"/>
                </a:lnTo>
                <a:lnTo>
                  <a:pt x="7" y="17"/>
                </a:lnTo>
                <a:lnTo>
                  <a:pt x="71" y="0"/>
                </a:lnTo>
              </a:path>
            </a:pathLst>
          </a:custGeom>
          <a:gradFill flip="none" rotWithShape="1">
            <a:gsLst>
              <a:gs pos="75000">
                <a:srgbClr val="FFDB69">
                  <a:tint val="66000"/>
                  <a:satMod val="160000"/>
                  <a:alpha val="58000"/>
                </a:srgbClr>
              </a:gs>
              <a:gs pos="61000">
                <a:srgbClr val="FFDB69">
                  <a:tint val="44500"/>
                  <a:satMod val="160000"/>
                  <a:alpha val="73000"/>
                </a:srgbClr>
              </a:gs>
              <a:gs pos="100000">
                <a:srgbClr val="FFDB69">
                  <a:tint val="23500"/>
                  <a:satMod val="160000"/>
                  <a:alpha val="80000"/>
                </a:srgbClr>
              </a:gs>
            </a:gsLst>
            <a:lin ang="0" scaled="1"/>
            <a:tileRect/>
          </a:gradFill>
          <a:ln w="9525" cap="rnd" cmpd="sng">
            <a:noFill/>
            <a:prstDash val="solid"/>
            <a:round/>
            <a:headEnd type="none" w="med" len="med"/>
            <a:tailEnd type="none" w="med" len="med"/>
          </a:ln>
          <a:effectLst>
            <a:outerShdw blurRad="50800" dist="38100" dir="2700000" algn="tl" rotWithShape="0">
              <a:prstClr val="black">
                <a:alpha val="40000"/>
              </a:prstClr>
            </a:outerShdw>
          </a:effectLst>
        </p:spPr>
        <p:txBody>
          <a:bodyPr lIns="360000" tIns="72000" rIns="324000" bIns="72000" anchor="ctr"/>
          <a:lstStyle/>
          <a:p>
            <a:pPr marL="171450" marR="0" lvl="0" indent="-171450" algn="l" defTabSz="787481" rtl="0" eaLnBrk="1" fontAlgn="auto" latinLnBrk="0" hangingPunct="1">
              <a:lnSpc>
                <a:spcPct val="114000"/>
              </a:lnSpc>
              <a:spcBef>
                <a:spcPts val="0"/>
              </a:spcBef>
              <a:spcAft>
                <a:spcPts val="600"/>
              </a:spcAft>
              <a:buClrTx/>
              <a:buSzTx/>
              <a:buFont typeface="Arial" panose="020B0604020202020204" pitchFamily="34" charset="0"/>
              <a:buChar char="•"/>
              <a:tabLst/>
              <a:defRPr/>
            </a:pPr>
            <a:r>
              <a:rPr kumimoji="0" lang="en-US" sz="1000" b="1" i="0" u="none" strike="noStrike" kern="1200" cap="none" spc="0" normalizeH="0" baseline="0" noProof="0" dirty="0">
                <a:ln>
                  <a:noFill/>
                </a:ln>
                <a:solidFill>
                  <a:prstClr val="black"/>
                </a:solidFill>
                <a:effectLst/>
                <a:uLnTx/>
                <a:uFillTx/>
                <a:latin typeface="Verdana"/>
                <a:ea typeface="+mn-ea"/>
                <a:cs typeface="+mn-cs"/>
              </a:rPr>
              <a:t>The demand for fuel oil in Bangladesh has dropped from 18,000 tonnes per day to 6,000 tonnes due to the nationwide shutdown since March 26.</a:t>
            </a:r>
          </a:p>
          <a:p>
            <a:pPr marL="0" marR="0" lvl="0" indent="0" algn="l" defTabSz="787481" rtl="0" eaLnBrk="1" fontAlgn="auto" latinLnBrk="0" hangingPunct="1">
              <a:lnSpc>
                <a:spcPct val="114000"/>
              </a:lnSpc>
              <a:spcBef>
                <a:spcPts val="0"/>
              </a:spcBef>
              <a:spcAft>
                <a:spcPts val="600"/>
              </a:spcAft>
              <a:buClrTx/>
              <a:buSzTx/>
              <a:buFontTx/>
              <a:buNone/>
              <a:tabLst/>
              <a:defRPr/>
            </a:pPr>
            <a:endParaRPr kumimoji="0" lang="en-US" sz="1000" b="0" i="0" u="none" strike="noStrike" kern="1200" cap="none" spc="0" normalizeH="0" baseline="0" noProof="0" dirty="0">
              <a:ln>
                <a:noFill/>
              </a:ln>
              <a:solidFill>
                <a:prstClr val="black"/>
              </a:solidFill>
              <a:effectLst/>
              <a:uLnTx/>
              <a:uFillTx/>
              <a:latin typeface="Verdana"/>
              <a:ea typeface="+mn-ea"/>
              <a:cs typeface="+mn-cs"/>
            </a:endParaRPr>
          </a:p>
          <a:p>
            <a:pPr marL="0" marR="0" lvl="0" indent="0" algn="r" defTabSz="787481" rtl="0" eaLnBrk="1" fontAlgn="auto" latinLnBrk="0" hangingPunct="1">
              <a:lnSpc>
                <a:spcPct val="114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a:t>
            </a:r>
            <a:r>
              <a:rPr kumimoji="0" lang="en-US" sz="1000" b="1" i="0" u="none" strike="noStrike" kern="1200" cap="none" spc="0" normalizeH="0" baseline="0" noProof="0" dirty="0">
                <a:ln>
                  <a:noFill/>
                </a:ln>
                <a:solidFill>
                  <a:prstClr val="black"/>
                </a:solidFill>
                <a:effectLst/>
                <a:uLnTx/>
                <a:uFillTx/>
                <a:latin typeface="Verdana"/>
                <a:ea typeface="+mn-ea"/>
                <a:cs typeface="+mn-cs"/>
              </a:rPr>
              <a:t> Bangladesh Petroleum Corporation, April 2020</a:t>
            </a:r>
            <a:endParaRPr kumimoji="0" lang="en-US" sz="1000" b="1" i="0" u="none" strike="noStrike" kern="1200" cap="none" spc="0" normalizeH="0" baseline="-25000" noProof="0" dirty="0">
              <a:ln>
                <a:noFill/>
              </a:ln>
              <a:solidFill>
                <a:prstClr val="black"/>
              </a:solidFill>
              <a:effectLst/>
              <a:uLnTx/>
              <a:uFillTx/>
              <a:latin typeface="Verdana"/>
              <a:ea typeface="+mn-ea"/>
              <a:cs typeface="+mn-cs"/>
            </a:endParaRPr>
          </a:p>
        </p:txBody>
      </p:sp>
      <p:sp>
        <p:nvSpPr>
          <p:cNvPr id="2" name="Title 1"/>
          <p:cNvSpPr>
            <a:spLocks noGrp="1"/>
          </p:cNvSpPr>
          <p:nvPr>
            <p:ph type="title"/>
          </p:nvPr>
        </p:nvSpPr>
        <p:spPr/>
        <p:txBody>
          <a:bodyPr/>
          <a:lstStyle/>
          <a:p>
            <a:r>
              <a:rPr lang="en-US" dirty="0"/>
              <a:t>BPDB Liquidity Assessment – Covid 19 | Discom Credit Assessment</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We have presented a few snippets basis primary/secondary available sources on the liquidity impact of coronavirus on BPDB as well as the impact on liquid fired plants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spcAft>
                          <a:spcPts val="500"/>
                        </a:spcAft>
                        <a:buFont typeface="Arial" panose="020B0604020202020204" pitchFamily="34" charset="0"/>
                        <a:buNone/>
                      </a:pPr>
                      <a:r>
                        <a:rPr lang="en-US" sz="1000" b="1" baseline="0" dirty="0">
                          <a:solidFill>
                            <a:schemeClr val="tx1"/>
                          </a:solidFill>
                        </a:rPr>
                        <a:t>Delay in payments to IPP due to Covid-19</a:t>
                      </a: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endParaRPr lang="en-US" sz="1000" b="1" baseline="0" dirty="0">
                        <a:solidFill>
                          <a:schemeClr val="tx1"/>
                        </a:solidFill>
                      </a:endParaRPr>
                    </a:p>
                    <a:p>
                      <a:pPr marL="0" indent="0">
                        <a:spcAft>
                          <a:spcPts val="500"/>
                        </a:spcAft>
                        <a:buFont typeface="Arial" panose="020B0604020202020204" pitchFamily="34" charset="0"/>
                        <a:buNone/>
                      </a:pPr>
                      <a:r>
                        <a:rPr lang="en-US" sz="1000" b="1" baseline="0" dirty="0">
                          <a:solidFill>
                            <a:schemeClr val="tx1"/>
                          </a:solidFill>
                        </a:rPr>
                        <a:t>Delay in collection from End-Consumers by Discoms to Impact overall payments to BPDB</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0" name="Freeform 3"/>
          <p:cNvSpPr>
            <a:spLocks/>
          </p:cNvSpPr>
          <p:nvPr/>
        </p:nvSpPr>
        <p:spPr bwMode="gray">
          <a:xfrm>
            <a:off x="449263" y="2430949"/>
            <a:ext cx="4735625" cy="2513814"/>
          </a:xfrm>
          <a:custGeom>
            <a:avLst/>
            <a:gdLst/>
            <a:ahLst/>
            <a:cxnLst>
              <a:cxn ang="0">
                <a:pos x="222" y="20"/>
              </a:cxn>
              <a:cxn ang="0">
                <a:pos x="476" y="6"/>
              </a:cxn>
              <a:cxn ang="0">
                <a:pos x="671" y="35"/>
              </a:cxn>
              <a:cxn ang="0">
                <a:pos x="901" y="27"/>
              </a:cxn>
              <a:cxn ang="0">
                <a:pos x="1105" y="7"/>
              </a:cxn>
              <a:cxn ang="0">
                <a:pos x="1351" y="13"/>
              </a:cxn>
              <a:cxn ang="0">
                <a:pos x="1750" y="16"/>
              </a:cxn>
              <a:cxn ang="0">
                <a:pos x="1962" y="33"/>
              </a:cxn>
              <a:cxn ang="0">
                <a:pos x="2433" y="23"/>
              </a:cxn>
              <a:cxn ang="0">
                <a:pos x="2648" y="30"/>
              </a:cxn>
              <a:cxn ang="0">
                <a:pos x="3022" y="30"/>
              </a:cxn>
              <a:cxn ang="0">
                <a:pos x="3305" y="38"/>
              </a:cxn>
              <a:cxn ang="0">
                <a:pos x="3683" y="43"/>
              </a:cxn>
              <a:cxn ang="0">
                <a:pos x="3921" y="44"/>
              </a:cxn>
              <a:cxn ang="0">
                <a:pos x="4152" y="45"/>
              </a:cxn>
              <a:cxn ang="0">
                <a:pos x="4193" y="98"/>
              </a:cxn>
              <a:cxn ang="0">
                <a:pos x="4229" y="146"/>
              </a:cxn>
              <a:cxn ang="0">
                <a:pos x="4183" y="224"/>
              </a:cxn>
              <a:cxn ang="0">
                <a:pos x="4218" y="282"/>
              </a:cxn>
              <a:cxn ang="0">
                <a:pos x="4286" y="348"/>
              </a:cxn>
              <a:cxn ang="0">
                <a:pos x="4353" y="404"/>
              </a:cxn>
              <a:cxn ang="0">
                <a:pos x="4419" y="474"/>
              </a:cxn>
              <a:cxn ang="0">
                <a:pos x="4413" y="546"/>
              </a:cxn>
              <a:cxn ang="0">
                <a:pos x="4443" y="645"/>
              </a:cxn>
              <a:cxn ang="0">
                <a:pos x="4461" y="711"/>
              </a:cxn>
              <a:cxn ang="0">
                <a:pos x="4462" y="811"/>
              </a:cxn>
              <a:cxn ang="0">
                <a:pos x="4483" y="869"/>
              </a:cxn>
              <a:cxn ang="0">
                <a:pos x="4526" y="953"/>
              </a:cxn>
              <a:cxn ang="0">
                <a:pos x="4448" y="999"/>
              </a:cxn>
              <a:cxn ang="0">
                <a:pos x="4203" y="989"/>
              </a:cxn>
              <a:cxn ang="0">
                <a:pos x="3829" y="970"/>
              </a:cxn>
              <a:cxn ang="0">
                <a:pos x="3619" y="991"/>
              </a:cxn>
              <a:cxn ang="0">
                <a:pos x="3434" y="1006"/>
              </a:cxn>
              <a:cxn ang="0">
                <a:pos x="3180" y="1017"/>
              </a:cxn>
              <a:cxn ang="0">
                <a:pos x="2821" y="994"/>
              </a:cxn>
              <a:cxn ang="0">
                <a:pos x="2467" y="999"/>
              </a:cxn>
              <a:cxn ang="0">
                <a:pos x="2091" y="994"/>
              </a:cxn>
              <a:cxn ang="0">
                <a:pos x="1782" y="991"/>
              </a:cxn>
              <a:cxn ang="0">
                <a:pos x="1496" y="977"/>
              </a:cxn>
              <a:cxn ang="0">
                <a:pos x="1284" y="965"/>
              </a:cxn>
              <a:cxn ang="0">
                <a:pos x="907" y="976"/>
              </a:cxn>
              <a:cxn ang="0">
                <a:pos x="483" y="966"/>
              </a:cxn>
              <a:cxn ang="0">
                <a:pos x="297" y="969"/>
              </a:cxn>
              <a:cxn ang="0">
                <a:pos x="285" y="922"/>
              </a:cxn>
              <a:cxn ang="0">
                <a:pos x="364" y="872"/>
              </a:cxn>
              <a:cxn ang="0">
                <a:pos x="324" y="814"/>
              </a:cxn>
              <a:cxn ang="0">
                <a:pos x="286" y="763"/>
              </a:cxn>
              <a:cxn ang="0">
                <a:pos x="289" y="701"/>
              </a:cxn>
              <a:cxn ang="0">
                <a:pos x="103" y="623"/>
              </a:cxn>
              <a:cxn ang="0">
                <a:pos x="158" y="566"/>
              </a:cxn>
              <a:cxn ang="0">
                <a:pos x="116" y="496"/>
              </a:cxn>
              <a:cxn ang="0">
                <a:pos x="74" y="435"/>
              </a:cxn>
              <a:cxn ang="0">
                <a:pos x="100" y="365"/>
              </a:cxn>
              <a:cxn ang="0">
                <a:pos x="87" y="306"/>
              </a:cxn>
              <a:cxn ang="0">
                <a:pos x="13" y="221"/>
              </a:cxn>
              <a:cxn ang="0">
                <a:pos x="21" y="159"/>
              </a:cxn>
              <a:cxn ang="0">
                <a:pos x="0" y="98"/>
              </a:cxn>
              <a:cxn ang="0">
                <a:pos x="28" y="35"/>
              </a:cxn>
            </a:cxnLst>
            <a:rect l="0" t="0" r="r" b="b"/>
            <a:pathLst>
              <a:path w="4537" h="1018">
                <a:moveTo>
                  <a:pt x="71" y="0"/>
                </a:moveTo>
                <a:lnTo>
                  <a:pt x="147" y="13"/>
                </a:lnTo>
                <a:lnTo>
                  <a:pt x="222" y="20"/>
                </a:lnTo>
                <a:lnTo>
                  <a:pt x="315" y="17"/>
                </a:lnTo>
                <a:lnTo>
                  <a:pt x="380" y="6"/>
                </a:lnTo>
                <a:lnTo>
                  <a:pt x="476" y="6"/>
                </a:lnTo>
                <a:lnTo>
                  <a:pt x="547" y="11"/>
                </a:lnTo>
                <a:lnTo>
                  <a:pt x="597" y="30"/>
                </a:lnTo>
                <a:lnTo>
                  <a:pt x="671" y="35"/>
                </a:lnTo>
                <a:lnTo>
                  <a:pt x="760" y="31"/>
                </a:lnTo>
                <a:lnTo>
                  <a:pt x="830" y="26"/>
                </a:lnTo>
                <a:lnTo>
                  <a:pt x="901" y="27"/>
                </a:lnTo>
                <a:lnTo>
                  <a:pt x="996" y="21"/>
                </a:lnTo>
                <a:lnTo>
                  <a:pt x="1034" y="4"/>
                </a:lnTo>
                <a:lnTo>
                  <a:pt x="1105" y="7"/>
                </a:lnTo>
                <a:lnTo>
                  <a:pt x="1203" y="7"/>
                </a:lnTo>
                <a:lnTo>
                  <a:pt x="1274" y="6"/>
                </a:lnTo>
                <a:lnTo>
                  <a:pt x="1351" y="13"/>
                </a:lnTo>
                <a:lnTo>
                  <a:pt x="1511" y="14"/>
                </a:lnTo>
                <a:lnTo>
                  <a:pt x="1651" y="16"/>
                </a:lnTo>
                <a:lnTo>
                  <a:pt x="1750" y="16"/>
                </a:lnTo>
                <a:lnTo>
                  <a:pt x="1818" y="16"/>
                </a:lnTo>
                <a:lnTo>
                  <a:pt x="1891" y="31"/>
                </a:lnTo>
                <a:lnTo>
                  <a:pt x="1962" y="33"/>
                </a:lnTo>
                <a:lnTo>
                  <a:pt x="2103" y="31"/>
                </a:lnTo>
                <a:lnTo>
                  <a:pt x="2242" y="27"/>
                </a:lnTo>
                <a:lnTo>
                  <a:pt x="2433" y="23"/>
                </a:lnTo>
                <a:lnTo>
                  <a:pt x="2503" y="18"/>
                </a:lnTo>
                <a:lnTo>
                  <a:pt x="2574" y="20"/>
                </a:lnTo>
                <a:lnTo>
                  <a:pt x="2648" y="30"/>
                </a:lnTo>
                <a:lnTo>
                  <a:pt x="2740" y="37"/>
                </a:lnTo>
                <a:lnTo>
                  <a:pt x="2878" y="33"/>
                </a:lnTo>
                <a:lnTo>
                  <a:pt x="3022" y="30"/>
                </a:lnTo>
                <a:lnTo>
                  <a:pt x="3160" y="26"/>
                </a:lnTo>
                <a:lnTo>
                  <a:pt x="3231" y="26"/>
                </a:lnTo>
                <a:lnTo>
                  <a:pt x="3305" y="38"/>
                </a:lnTo>
                <a:lnTo>
                  <a:pt x="3403" y="47"/>
                </a:lnTo>
                <a:lnTo>
                  <a:pt x="3594" y="45"/>
                </a:lnTo>
                <a:lnTo>
                  <a:pt x="3683" y="43"/>
                </a:lnTo>
                <a:lnTo>
                  <a:pt x="3752" y="41"/>
                </a:lnTo>
                <a:lnTo>
                  <a:pt x="3847" y="44"/>
                </a:lnTo>
                <a:lnTo>
                  <a:pt x="3921" y="44"/>
                </a:lnTo>
                <a:lnTo>
                  <a:pt x="3989" y="40"/>
                </a:lnTo>
                <a:lnTo>
                  <a:pt x="4084" y="40"/>
                </a:lnTo>
                <a:lnTo>
                  <a:pt x="4152" y="45"/>
                </a:lnTo>
                <a:lnTo>
                  <a:pt x="4204" y="64"/>
                </a:lnTo>
                <a:lnTo>
                  <a:pt x="4215" y="79"/>
                </a:lnTo>
                <a:lnTo>
                  <a:pt x="4193" y="98"/>
                </a:lnTo>
                <a:lnTo>
                  <a:pt x="4173" y="115"/>
                </a:lnTo>
                <a:lnTo>
                  <a:pt x="4198" y="130"/>
                </a:lnTo>
                <a:lnTo>
                  <a:pt x="4229" y="146"/>
                </a:lnTo>
                <a:lnTo>
                  <a:pt x="4211" y="163"/>
                </a:lnTo>
                <a:lnTo>
                  <a:pt x="4173" y="209"/>
                </a:lnTo>
                <a:lnTo>
                  <a:pt x="4183" y="224"/>
                </a:lnTo>
                <a:lnTo>
                  <a:pt x="4210" y="241"/>
                </a:lnTo>
                <a:lnTo>
                  <a:pt x="4214" y="258"/>
                </a:lnTo>
                <a:lnTo>
                  <a:pt x="4218" y="282"/>
                </a:lnTo>
                <a:lnTo>
                  <a:pt x="4232" y="315"/>
                </a:lnTo>
                <a:lnTo>
                  <a:pt x="4235" y="333"/>
                </a:lnTo>
                <a:lnTo>
                  <a:pt x="4286" y="348"/>
                </a:lnTo>
                <a:lnTo>
                  <a:pt x="4342" y="365"/>
                </a:lnTo>
                <a:lnTo>
                  <a:pt x="4348" y="389"/>
                </a:lnTo>
                <a:lnTo>
                  <a:pt x="4353" y="404"/>
                </a:lnTo>
                <a:lnTo>
                  <a:pt x="4335" y="428"/>
                </a:lnTo>
                <a:lnTo>
                  <a:pt x="4339" y="451"/>
                </a:lnTo>
                <a:lnTo>
                  <a:pt x="4419" y="474"/>
                </a:lnTo>
                <a:lnTo>
                  <a:pt x="4452" y="509"/>
                </a:lnTo>
                <a:lnTo>
                  <a:pt x="4433" y="532"/>
                </a:lnTo>
                <a:lnTo>
                  <a:pt x="4413" y="546"/>
                </a:lnTo>
                <a:lnTo>
                  <a:pt x="4395" y="565"/>
                </a:lnTo>
                <a:lnTo>
                  <a:pt x="4431" y="608"/>
                </a:lnTo>
                <a:lnTo>
                  <a:pt x="4443" y="645"/>
                </a:lnTo>
                <a:lnTo>
                  <a:pt x="4447" y="660"/>
                </a:lnTo>
                <a:lnTo>
                  <a:pt x="4456" y="694"/>
                </a:lnTo>
                <a:lnTo>
                  <a:pt x="4461" y="711"/>
                </a:lnTo>
                <a:lnTo>
                  <a:pt x="4473" y="756"/>
                </a:lnTo>
                <a:lnTo>
                  <a:pt x="4452" y="772"/>
                </a:lnTo>
                <a:lnTo>
                  <a:pt x="4462" y="811"/>
                </a:lnTo>
                <a:lnTo>
                  <a:pt x="4472" y="828"/>
                </a:lnTo>
                <a:lnTo>
                  <a:pt x="4498" y="851"/>
                </a:lnTo>
                <a:lnTo>
                  <a:pt x="4483" y="869"/>
                </a:lnTo>
                <a:lnTo>
                  <a:pt x="4487" y="885"/>
                </a:lnTo>
                <a:lnTo>
                  <a:pt x="4494" y="908"/>
                </a:lnTo>
                <a:lnTo>
                  <a:pt x="4526" y="953"/>
                </a:lnTo>
                <a:lnTo>
                  <a:pt x="4536" y="976"/>
                </a:lnTo>
                <a:lnTo>
                  <a:pt x="4519" y="991"/>
                </a:lnTo>
                <a:lnTo>
                  <a:pt x="4448" y="999"/>
                </a:lnTo>
                <a:lnTo>
                  <a:pt x="4380" y="1013"/>
                </a:lnTo>
                <a:lnTo>
                  <a:pt x="4279" y="1001"/>
                </a:lnTo>
                <a:lnTo>
                  <a:pt x="4203" y="989"/>
                </a:lnTo>
                <a:lnTo>
                  <a:pt x="4062" y="979"/>
                </a:lnTo>
                <a:lnTo>
                  <a:pt x="3990" y="972"/>
                </a:lnTo>
                <a:lnTo>
                  <a:pt x="3829" y="970"/>
                </a:lnTo>
                <a:lnTo>
                  <a:pt x="3762" y="974"/>
                </a:lnTo>
                <a:lnTo>
                  <a:pt x="3690" y="984"/>
                </a:lnTo>
                <a:lnTo>
                  <a:pt x="3619" y="991"/>
                </a:lnTo>
                <a:lnTo>
                  <a:pt x="3577" y="1006"/>
                </a:lnTo>
                <a:lnTo>
                  <a:pt x="3508" y="1013"/>
                </a:lnTo>
                <a:lnTo>
                  <a:pt x="3434" y="1006"/>
                </a:lnTo>
                <a:lnTo>
                  <a:pt x="3365" y="999"/>
                </a:lnTo>
                <a:lnTo>
                  <a:pt x="3266" y="1004"/>
                </a:lnTo>
                <a:lnTo>
                  <a:pt x="3180" y="1017"/>
                </a:lnTo>
                <a:lnTo>
                  <a:pt x="3109" y="1014"/>
                </a:lnTo>
                <a:lnTo>
                  <a:pt x="3010" y="1008"/>
                </a:lnTo>
                <a:lnTo>
                  <a:pt x="2821" y="994"/>
                </a:lnTo>
                <a:lnTo>
                  <a:pt x="2630" y="991"/>
                </a:lnTo>
                <a:lnTo>
                  <a:pt x="2562" y="991"/>
                </a:lnTo>
                <a:lnTo>
                  <a:pt x="2467" y="999"/>
                </a:lnTo>
                <a:lnTo>
                  <a:pt x="2299" y="996"/>
                </a:lnTo>
                <a:lnTo>
                  <a:pt x="2160" y="994"/>
                </a:lnTo>
                <a:lnTo>
                  <a:pt x="2091" y="994"/>
                </a:lnTo>
                <a:lnTo>
                  <a:pt x="1949" y="991"/>
                </a:lnTo>
                <a:lnTo>
                  <a:pt x="1853" y="993"/>
                </a:lnTo>
                <a:lnTo>
                  <a:pt x="1782" y="991"/>
                </a:lnTo>
                <a:lnTo>
                  <a:pt x="1642" y="990"/>
                </a:lnTo>
                <a:lnTo>
                  <a:pt x="1570" y="979"/>
                </a:lnTo>
                <a:lnTo>
                  <a:pt x="1496" y="977"/>
                </a:lnTo>
                <a:lnTo>
                  <a:pt x="1432" y="987"/>
                </a:lnTo>
                <a:lnTo>
                  <a:pt x="1334" y="984"/>
                </a:lnTo>
                <a:lnTo>
                  <a:pt x="1284" y="965"/>
                </a:lnTo>
                <a:lnTo>
                  <a:pt x="1214" y="974"/>
                </a:lnTo>
                <a:lnTo>
                  <a:pt x="1051" y="976"/>
                </a:lnTo>
                <a:lnTo>
                  <a:pt x="907" y="976"/>
                </a:lnTo>
                <a:lnTo>
                  <a:pt x="770" y="982"/>
                </a:lnTo>
                <a:lnTo>
                  <a:pt x="679" y="973"/>
                </a:lnTo>
                <a:lnTo>
                  <a:pt x="483" y="966"/>
                </a:lnTo>
                <a:lnTo>
                  <a:pt x="414" y="970"/>
                </a:lnTo>
                <a:lnTo>
                  <a:pt x="350" y="987"/>
                </a:lnTo>
                <a:lnTo>
                  <a:pt x="297" y="969"/>
                </a:lnTo>
                <a:lnTo>
                  <a:pt x="268" y="953"/>
                </a:lnTo>
                <a:lnTo>
                  <a:pt x="262" y="938"/>
                </a:lnTo>
                <a:lnTo>
                  <a:pt x="285" y="922"/>
                </a:lnTo>
                <a:lnTo>
                  <a:pt x="349" y="904"/>
                </a:lnTo>
                <a:lnTo>
                  <a:pt x="368" y="888"/>
                </a:lnTo>
                <a:lnTo>
                  <a:pt x="364" y="872"/>
                </a:lnTo>
                <a:lnTo>
                  <a:pt x="335" y="854"/>
                </a:lnTo>
                <a:lnTo>
                  <a:pt x="332" y="831"/>
                </a:lnTo>
                <a:lnTo>
                  <a:pt x="324" y="814"/>
                </a:lnTo>
                <a:lnTo>
                  <a:pt x="320" y="799"/>
                </a:lnTo>
                <a:lnTo>
                  <a:pt x="314" y="780"/>
                </a:lnTo>
                <a:lnTo>
                  <a:pt x="286" y="763"/>
                </a:lnTo>
                <a:lnTo>
                  <a:pt x="280" y="739"/>
                </a:lnTo>
                <a:lnTo>
                  <a:pt x="299" y="725"/>
                </a:lnTo>
                <a:lnTo>
                  <a:pt x="289" y="701"/>
                </a:lnTo>
                <a:lnTo>
                  <a:pt x="135" y="657"/>
                </a:lnTo>
                <a:lnTo>
                  <a:pt x="112" y="641"/>
                </a:lnTo>
                <a:lnTo>
                  <a:pt x="103" y="623"/>
                </a:lnTo>
                <a:lnTo>
                  <a:pt x="123" y="606"/>
                </a:lnTo>
                <a:lnTo>
                  <a:pt x="165" y="587"/>
                </a:lnTo>
                <a:lnTo>
                  <a:pt x="158" y="566"/>
                </a:lnTo>
                <a:lnTo>
                  <a:pt x="149" y="543"/>
                </a:lnTo>
                <a:lnTo>
                  <a:pt x="144" y="522"/>
                </a:lnTo>
                <a:lnTo>
                  <a:pt x="116" y="496"/>
                </a:lnTo>
                <a:lnTo>
                  <a:pt x="109" y="477"/>
                </a:lnTo>
                <a:lnTo>
                  <a:pt x="78" y="452"/>
                </a:lnTo>
                <a:lnTo>
                  <a:pt x="74" y="435"/>
                </a:lnTo>
                <a:lnTo>
                  <a:pt x="85" y="396"/>
                </a:lnTo>
                <a:lnTo>
                  <a:pt x="106" y="380"/>
                </a:lnTo>
                <a:lnTo>
                  <a:pt x="100" y="365"/>
                </a:lnTo>
                <a:lnTo>
                  <a:pt x="98" y="345"/>
                </a:lnTo>
                <a:lnTo>
                  <a:pt x="93" y="328"/>
                </a:lnTo>
                <a:lnTo>
                  <a:pt x="87" y="306"/>
                </a:lnTo>
                <a:lnTo>
                  <a:pt x="47" y="261"/>
                </a:lnTo>
                <a:lnTo>
                  <a:pt x="20" y="238"/>
                </a:lnTo>
                <a:lnTo>
                  <a:pt x="13" y="221"/>
                </a:lnTo>
                <a:lnTo>
                  <a:pt x="8" y="199"/>
                </a:lnTo>
                <a:lnTo>
                  <a:pt x="32" y="182"/>
                </a:lnTo>
                <a:lnTo>
                  <a:pt x="21" y="159"/>
                </a:lnTo>
                <a:lnTo>
                  <a:pt x="10" y="136"/>
                </a:lnTo>
                <a:lnTo>
                  <a:pt x="10" y="122"/>
                </a:lnTo>
                <a:lnTo>
                  <a:pt x="0" y="98"/>
                </a:lnTo>
                <a:lnTo>
                  <a:pt x="22" y="77"/>
                </a:lnTo>
                <a:lnTo>
                  <a:pt x="15" y="58"/>
                </a:lnTo>
                <a:lnTo>
                  <a:pt x="28" y="35"/>
                </a:lnTo>
                <a:lnTo>
                  <a:pt x="7" y="17"/>
                </a:lnTo>
                <a:lnTo>
                  <a:pt x="71" y="0"/>
                </a:lnTo>
              </a:path>
            </a:pathLst>
          </a:custGeom>
          <a:gradFill flip="none" rotWithShape="1">
            <a:gsLst>
              <a:gs pos="75000">
                <a:srgbClr val="FFDB69">
                  <a:tint val="66000"/>
                  <a:satMod val="160000"/>
                  <a:alpha val="58000"/>
                </a:srgbClr>
              </a:gs>
              <a:gs pos="61000">
                <a:srgbClr val="FFDB69">
                  <a:tint val="44500"/>
                  <a:satMod val="160000"/>
                  <a:alpha val="73000"/>
                </a:srgbClr>
              </a:gs>
              <a:gs pos="100000">
                <a:srgbClr val="FFDB69">
                  <a:tint val="23500"/>
                  <a:satMod val="160000"/>
                  <a:alpha val="80000"/>
                </a:srgbClr>
              </a:gs>
            </a:gsLst>
            <a:lin ang="0" scaled="1"/>
            <a:tileRect/>
          </a:gradFill>
          <a:ln w="9525" cap="rnd" cmpd="sng">
            <a:noFill/>
            <a:prstDash val="solid"/>
            <a:round/>
            <a:headEnd type="none" w="med" len="med"/>
            <a:tailEnd type="none" w="med" len="med"/>
          </a:ln>
          <a:effectLst>
            <a:outerShdw blurRad="50800" dist="38100" dir="2700000" algn="tl" rotWithShape="0">
              <a:prstClr val="black">
                <a:alpha val="40000"/>
              </a:prstClr>
            </a:outerShdw>
          </a:effectLst>
        </p:spPr>
        <p:txBody>
          <a:bodyPr lIns="360000" tIns="72000" rIns="324000" bIns="72000" anchor="ctr"/>
          <a:lstStyle/>
          <a:p>
            <a:pPr marL="171450" marR="0" lvl="0" indent="-171450" algn="l" defTabSz="787481" rtl="0" eaLnBrk="1" fontAlgn="auto" latinLnBrk="0" hangingPunct="1">
              <a:lnSpc>
                <a:spcPct val="114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However, </a:t>
            </a:r>
            <a:r>
              <a:rPr kumimoji="0" lang="en-US" sz="1000" b="1" i="1" u="none" strike="noStrike" kern="1200" cap="none" spc="0" normalizeH="0" baseline="0" noProof="0" dirty="0">
                <a:ln>
                  <a:noFill/>
                </a:ln>
                <a:solidFill>
                  <a:prstClr val="black"/>
                </a:solidFill>
                <a:effectLst/>
                <a:uLnTx/>
                <a:uFillTx/>
                <a:latin typeface="Verdana"/>
                <a:ea typeface="+mn-ea"/>
                <a:cs typeface="+mn-cs"/>
              </a:rPr>
              <a:t>the private power plants have not been paid since January </a:t>
            </a:r>
          </a:p>
          <a:p>
            <a:pPr marL="0" marR="0" lvl="0" indent="0" algn="r" defTabSz="787481" rtl="0" eaLnBrk="1" fontAlgn="auto" latinLnBrk="0" hangingPunct="1">
              <a:lnSpc>
                <a:spcPct val="114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 Power Division, May 2020</a:t>
            </a:r>
          </a:p>
          <a:p>
            <a:pPr marL="171450" marR="0" lvl="0" indent="-171450" algn="l" defTabSz="787481" rtl="0" eaLnBrk="1" fontAlgn="auto" latinLnBrk="0" hangingPunct="1">
              <a:lnSpc>
                <a:spcPct val="114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"A financial shortage was anticipated in the current situation. </a:t>
            </a:r>
            <a:r>
              <a:rPr kumimoji="0" lang="en-US" sz="1000" b="1" i="1" u="none" strike="noStrike" kern="1200" cap="none" spc="0" normalizeH="0" baseline="0" noProof="0" dirty="0">
                <a:ln>
                  <a:noFill/>
                </a:ln>
                <a:solidFill>
                  <a:prstClr val="black"/>
                </a:solidFill>
                <a:effectLst/>
                <a:uLnTx/>
                <a:uFillTx/>
                <a:latin typeface="Verdana"/>
                <a:ea typeface="+mn-ea"/>
                <a:cs typeface="+mn-cs"/>
              </a:rPr>
              <a:t>Knowing that, as our longtime partners, we have urged them to cooperate with us in such a crisis period</a:t>
            </a:r>
            <a:r>
              <a:rPr kumimoji="0" lang="en-US" sz="1000" b="0" i="0" u="none" strike="noStrike" kern="1200" cap="none" spc="0" normalizeH="0" baseline="0" noProof="0" dirty="0">
                <a:ln>
                  <a:noFill/>
                </a:ln>
                <a:solidFill>
                  <a:prstClr val="black"/>
                </a:solidFill>
                <a:effectLst/>
                <a:uLnTx/>
                <a:uFillTx/>
                <a:latin typeface="Verdana"/>
                <a:ea typeface="+mn-ea"/>
                <a:cs typeface="+mn-cs"/>
              </a:rPr>
              <a:t>,“</a:t>
            </a:r>
          </a:p>
          <a:p>
            <a:pPr marL="0" marR="0" lvl="0" indent="0" algn="r" defTabSz="787481" rtl="0" eaLnBrk="1" fontAlgn="auto" latinLnBrk="0" hangingPunct="1">
              <a:lnSpc>
                <a:spcPct val="114000"/>
              </a:lnSpc>
              <a:spcBef>
                <a:spcPts val="0"/>
              </a:spcBef>
              <a:spcAft>
                <a:spcPts val="60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Verdana"/>
                <a:ea typeface="+mn-ea"/>
                <a:cs typeface="+mn-cs"/>
              </a:rPr>
              <a:t>-Engineer Md Belayet Hossain, BPDB (Chairman), May 2020</a:t>
            </a:r>
          </a:p>
        </p:txBody>
      </p:sp>
      <p:sp>
        <p:nvSpPr>
          <p:cNvPr id="21" name="Freeform 3"/>
          <p:cNvSpPr>
            <a:spLocks/>
          </p:cNvSpPr>
          <p:nvPr/>
        </p:nvSpPr>
        <p:spPr bwMode="gray">
          <a:xfrm>
            <a:off x="449262" y="5612130"/>
            <a:ext cx="4735625" cy="1474470"/>
          </a:xfrm>
          <a:custGeom>
            <a:avLst/>
            <a:gdLst/>
            <a:ahLst/>
            <a:cxnLst>
              <a:cxn ang="0">
                <a:pos x="222" y="20"/>
              </a:cxn>
              <a:cxn ang="0">
                <a:pos x="476" y="6"/>
              </a:cxn>
              <a:cxn ang="0">
                <a:pos x="671" y="35"/>
              </a:cxn>
              <a:cxn ang="0">
                <a:pos x="901" y="27"/>
              </a:cxn>
              <a:cxn ang="0">
                <a:pos x="1105" y="7"/>
              </a:cxn>
              <a:cxn ang="0">
                <a:pos x="1351" y="13"/>
              </a:cxn>
              <a:cxn ang="0">
                <a:pos x="1750" y="16"/>
              </a:cxn>
              <a:cxn ang="0">
                <a:pos x="1962" y="33"/>
              </a:cxn>
              <a:cxn ang="0">
                <a:pos x="2433" y="23"/>
              </a:cxn>
              <a:cxn ang="0">
                <a:pos x="2648" y="30"/>
              </a:cxn>
              <a:cxn ang="0">
                <a:pos x="3022" y="30"/>
              </a:cxn>
              <a:cxn ang="0">
                <a:pos x="3305" y="38"/>
              </a:cxn>
              <a:cxn ang="0">
                <a:pos x="3683" y="43"/>
              </a:cxn>
              <a:cxn ang="0">
                <a:pos x="3921" y="44"/>
              </a:cxn>
              <a:cxn ang="0">
                <a:pos x="4152" y="45"/>
              </a:cxn>
              <a:cxn ang="0">
                <a:pos x="4193" y="98"/>
              </a:cxn>
              <a:cxn ang="0">
                <a:pos x="4229" y="146"/>
              </a:cxn>
              <a:cxn ang="0">
                <a:pos x="4183" y="224"/>
              </a:cxn>
              <a:cxn ang="0">
                <a:pos x="4218" y="282"/>
              </a:cxn>
              <a:cxn ang="0">
                <a:pos x="4286" y="348"/>
              </a:cxn>
              <a:cxn ang="0">
                <a:pos x="4353" y="404"/>
              </a:cxn>
              <a:cxn ang="0">
                <a:pos x="4419" y="474"/>
              </a:cxn>
              <a:cxn ang="0">
                <a:pos x="4413" y="546"/>
              </a:cxn>
              <a:cxn ang="0">
                <a:pos x="4443" y="645"/>
              </a:cxn>
              <a:cxn ang="0">
                <a:pos x="4461" y="711"/>
              </a:cxn>
              <a:cxn ang="0">
                <a:pos x="4462" y="811"/>
              </a:cxn>
              <a:cxn ang="0">
                <a:pos x="4483" y="869"/>
              </a:cxn>
              <a:cxn ang="0">
                <a:pos x="4526" y="953"/>
              </a:cxn>
              <a:cxn ang="0">
                <a:pos x="4448" y="999"/>
              </a:cxn>
              <a:cxn ang="0">
                <a:pos x="4203" y="989"/>
              </a:cxn>
              <a:cxn ang="0">
                <a:pos x="3829" y="970"/>
              </a:cxn>
              <a:cxn ang="0">
                <a:pos x="3619" y="991"/>
              </a:cxn>
              <a:cxn ang="0">
                <a:pos x="3434" y="1006"/>
              </a:cxn>
              <a:cxn ang="0">
                <a:pos x="3180" y="1017"/>
              </a:cxn>
              <a:cxn ang="0">
                <a:pos x="2821" y="994"/>
              </a:cxn>
              <a:cxn ang="0">
                <a:pos x="2467" y="999"/>
              </a:cxn>
              <a:cxn ang="0">
                <a:pos x="2091" y="994"/>
              </a:cxn>
              <a:cxn ang="0">
                <a:pos x="1782" y="991"/>
              </a:cxn>
              <a:cxn ang="0">
                <a:pos x="1496" y="977"/>
              </a:cxn>
              <a:cxn ang="0">
                <a:pos x="1284" y="965"/>
              </a:cxn>
              <a:cxn ang="0">
                <a:pos x="907" y="976"/>
              </a:cxn>
              <a:cxn ang="0">
                <a:pos x="483" y="966"/>
              </a:cxn>
              <a:cxn ang="0">
                <a:pos x="297" y="969"/>
              </a:cxn>
              <a:cxn ang="0">
                <a:pos x="285" y="922"/>
              </a:cxn>
              <a:cxn ang="0">
                <a:pos x="364" y="872"/>
              </a:cxn>
              <a:cxn ang="0">
                <a:pos x="324" y="814"/>
              </a:cxn>
              <a:cxn ang="0">
                <a:pos x="286" y="763"/>
              </a:cxn>
              <a:cxn ang="0">
                <a:pos x="289" y="701"/>
              </a:cxn>
              <a:cxn ang="0">
                <a:pos x="103" y="623"/>
              </a:cxn>
              <a:cxn ang="0">
                <a:pos x="158" y="566"/>
              </a:cxn>
              <a:cxn ang="0">
                <a:pos x="116" y="496"/>
              </a:cxn>
              <a:cxn ang="0">
                <a:pos x="74" y="435"/>
              </a:cxn>
              <a:cxn ang="0">
                <a:pos x="100" y="365"/>
              </a:cxn>
              <a:cxn ang="0">
                <a:pos x="87" y="306"/>
              </a:cxn>
              <a:cxn ang="0">
                <a:pos x="13" y="221"/>
              </a:cxn>
              <a:cxn ang="0">
                <a:pos x="21" y="159"/>
              </a:cxn>
              <a:cxn ang="0">
                <a:pos x="0" y="98"/>
              </a:cxn>
              <a:cxn ang="0">
                <a:pos x="28" y="35"/>
              </a:cxn>
            </a:cxnLst>
            <a:rect l="0" t="0" r="r" b="b"/>
            <a:pathLst>
              <a:path w="4537" h="1018">
                <a:moveTo>
                  <a:pt x="71" y="0"/>
                </a:moveTo>
                <a:lnTo>
                  <a:pt x="147" y="13"/>
                </a:lnTo>
                <a:lnTo>
                  <a:pt x="222" y="20"/>
                </a:lnTo>
                <a:lnTo>
                  <a:pt x="315" y="17"/>
                </a:lnTo>
                <a:lnTo>
                  <a:pt x="380" y="6"/>
                </a:lnTo>
                <a:lnTo>
                  <a:pt x="476" y="6"/>
                </a:lnTo>
                <a:lnTo>
                  <a:pt x="547" y="11"/>
                </a:lnTo>
                <a:lnTo>
                  <a:pt x="597" y="30"/>
                </a:lnTo>
                <a:lnTo>
                  <a:pt x="671" y="35"/>
                </a:lnTo>
                <a:lnTo>
                  <a:pt x="760" y="31"/>
                </a:lnTo>
                <a:lnTo>
                  <a:pt x="830" y="26"/>
                </a:lnTo>
                <a:lnTo>
                  <a:pt x="901" y="27"/>
                </a:lnTo>
                <a:lnTo>
                  <a:pt x="996" y="21"/>
                </a:lnTo>
                <a:lnTo>
                  <a:pt x="1034" y="4"/>
                </a:lnTo>
                <a:lnTo>
                  <a:pt x="1105" y="7"/>
                </a:lnTo>
                <a:lnTo>
                  <a:pt x="1203" y="7"/>
                </a:lnTo>
                <a:lnTo>
                  <a:pt x="1274" y="6"/>
                </a:lnTo>
                <a:lnTo>
                  <a:pt x="1351" y="13"/>
                </a:lnTo>
                <a:lnTo>
                  <a:pt x="1511" y="14"/>
                </a:lnTo>
                <a:lnTo>
                  <a:pt x="1651" y="16"/>
                </a:lnTo>
                <a:lnTo>
                  <a:pt x="1750" y="16"/>
                </a:lnTo>
                <a:lnTo>
                  <a:pt x="1818" y="16"/>
                </a:lnTo>
                <a:lnTo>
                  <a:pt x="1891" y="31"/>
                </a:lnTo>
                <a:lnTo>
                  <a:pt x="1962" y="33"/>
                </a:lnTo>
                <a:lnTo>
                  <a:pt x="2103" y="31"/>
                </a:lnTo>
                <a:lnTo>
                  <a:pt x="2242" y="27"/>
                </a:lnTo>
                <a:lnTo>
                  <a:pt x="2433" y="23"/>
                </a:lnTo>
                <a:lnTo>
                  <a:pt x="2503" y="18"/>
                </a:lnTo>
                <a:lnTo>
                  <a:pt x="2574" y="20"/>
                </a:lnTo>
                <a:lnTo>
                  <a:pt x="2648" y="30"/>
                </a:lnTo>
                <a:lnTo>
                  <a:pt x="2740" y="37"/>
                </a:lnTo>
                <a:lnTo>
                  <a:pt x="2878" y="33"/>
                </a:lnTo>
                <a:lnTo>
                  <a:pt x="3022" y="30"/>
                </a:lnTo>
                <a:lnTo>
                  <a:pt x="3160" y="26"/>
                </a:lnTo>
                <a:lnTo>
                  <a:pt x="3231" y="26"/>
                </a:lnTo>
                <a:lnTo>
                  <a:pt x="3305" y="38"/>
                </a:lnTo>
                <a:lnTo>
                  <a:pt x="3403" y="47"/>
                </a:lnTo>
                <a:lnTo>
                  <a:pt x="3594" y="45"/>
                </a:lnTo>
                <a:lnTo>
                  <a:pt x="3683" y="43"/>
                </a:lnTo>
                <a:lnTo>
                  <a:pt x="3752" y="41"/>
                </a:lnTo>
                <a:lnTo>
                  <a:pt x="3847" y="44"/>
                </a:lnTo>
                <a:lnTo>
                  <a:pt x="3921" y="44"/>
                </a:lnTo>
                <a:lnTo>
                  <a:pt x="3989" y="40"/>
                </a:lnTo>
                <a:lnTo>
                  <a:pt x="4084" y="40"/>
                </a:lnTo>
                <a:lnTo>
                  <a:pt x="4152" y="45"/>
                </a:lnTo>
                <a:lnTo>
                  <a:pt x="4204" y="64"/>
                </a:lnTo>
                <a:lnTo>
                  <a:pt x="4215" y="79"/>
                </a:lnTo>
                <a:lnTo>
                  <a:pt x="4193" y="98"/>
                </a:lnTo>
                <a:lnTo>
                  <a:pt x="4173" y="115"/>
                </a:lnTo>
                <a:lnTo>
                  <a:pt x="4198" y="130"/>
                </a:lnTo>
                <a:lnTo>
                  <a:pt x="4229" y="146"/>
                </a:lnTo>
                <a:lnTo>
                  <a:pt x="4211" y="163"/>
                </a:lnTo>
                <a:lnTo>
                  <a:pt x="4173" y="209"/>
                </a:lnTo>
                <a:lnTo>
                  <a:pt x="4183" y="224"/>
                </a:lnTo>
                <a:lnTo>
                  <a:pt x="4210" y="241"/>
                </a:lnTo>
                <a:lnTo>
                  <a:pt x="4214" y="258"/>
                </a:lnTo>
                <a:lnTo>
                  <a:pt x="4218" y="282"/>
                </a:lnTo>
                <a:lnTo>
                  <a:pt x="4232" y="315"/>
                </a:lnTo>
                <a:lnTo>
                  <a:pt x="4235" y="333"/>
                </a:lnTo>
                <a:lnTo>
                  <a:pt x="4286" y="348"/>
                </a:lnTo>
                <a:lnTo>
                  <a:pt x="4342" y="365"/>
                </a:lnTo>
                <a:lnTo>
                  <a:pt x="4348" y="389"/>
                </a:lnTo>
                <a:lnTo>
                  <a:pt x="4353" y="404"/>
                </a:lnTo>
                <a:lnTo>
                  <a:pt x="4335" y="428"/>
                </a:lnTo>
                <a:lnTo>
                  <a:pt x="4339" y="451"/>
                </a:lnTo>
                <a:lnTo>
                  <a:pt x="4419" y="474"/>
                </a:lnTo>
                <a:lnTo>
                  <a:pt x="4452" y="509"/>
                </a:lnTo>
                <a:lnTo>
                  <a:pt x="4433" y="532"/>
                </a:lnTo>
                <a:lnTo>
                  <a:pt x="4413" y="546"/>
                </a:lnTo>
                <a:lnTo>
                  <a:pt x="4395" y="565"/>
                </a:lnTo>
                <a:lnTo>
                  <a:pt x="4431" y="608"/>
                </a:lnTo>
                <a:lnTo>
                  <a:pt x="4443" y="645"/>
                </a:lnTo>
                <a:lnTo>
                  <a:pt x="4447" y="660"/>
                </a:lnTo>
                <a:lnTo>
                  <a:pt x="4456" y="694"/>
                </a:lnTo>
                <a:lnTo>
                  <a:pt x="4461" y="711"/>
                </a:lnTo>
                <a:lnTo>
                  <a:pt x="4473" y="756"/>
                </a:lnTo>
                <a:lnTo>
                  <a:pt x="4452" y="772"/>
                </a:lnTo>
                <a:lnTo>
                  <a:pt x="4462" y="811"/>
                </a:lnTo>
                <a:lnTo>
                  <a:pt x="4472" y="828"/>
                </a:lnTo>
                <a:lnTo>
                  <a:pt x="4498" y="851"/>
                </a:lnTo>
                <a:lnTo>
                  <a:pt x="4483" y="869"/>
                </a:lnTo>
                <a:lnTo>
                  <a:pt x="4487" y="885"/>
                </a:lnTo>
                <a:lnTo>
                  <a:pt x="4494" y="908"/>
                </a:lnTo>
                <a:lnTo>
                  <a:pt x="4526" y="953"/>
                </a:lnTo>
                <a:lnTo>
                  <a:pt x="4536" y="976"/>
                </a:lnTo>
                <a:lnTo>
                  <a:pt x="4519" y="991"/>
                </a:lnTo>
                <a:lnTo>
                  <a:pt x="4448" y="999"/>
                </a:lnTo>
                <a:lnTo>
                  <a:pt x="4380" y="1013"/>
                </a:lnTo>
                <a:lnTo>
                  <a:pt x="4279" y="1001"/>
                </a:lnTo>
                <a:lnTo>
                  <a:pt x="4203" y="989"/>
                </a:lnTo>
                <a:lnTo>
                  <a:pt x="4062" y="979"/>
                </a:lnTo>
                <a:lnTo>
                  <a:pt x="3990" y="972"/>
                </a:lnTo>
                <a:lnTo>
                  <a:pt x="3829" y="970"/>
                </a:lnTo>
                <a:lnTo>
                  <a:pt x="3762" y="974"/>
                </a:lnTo>
                <a:lnTo>
                  <a:pt x="3690" y="984"/>
                </a:lnTo>
                <a:lnTo>
                  <a:pt x="3619" y="991"/>
                </a:lnTo>
                <a:lnTo>
                  <a:pt x="3577" y="1006"/>
                </a:lnTo>
                <a:lnTo>
                  <a:pt x="3508" y="1013"/>
                </a:lnTo>
                <a:lnTo>
                  <a:pt x="3434" y="1006"/>
                </a:lnTo>
                <a:lnTo>
                  <a:pt x="3365" y="999"/>
                </a:lnTo>
                <a:lnTo>
                  <a:pt x="3266" y="1004"/>
                </a:lnTo>
                <a:lnTo>
                  <a:pt x="3180" y="1017"/>
                </a:lnTo>
                <a:lnTo>
                  <a:pt x="3109" y="1014"/>
                </a:lnTo>
                <a:lnTo>
                  <a:pt x="3010" y="1008"/>
                </a:lnTo>
                <a:lnTo>
                  <a:pt x="2821" y="994"/>
                </a:lnTo>
                <a:lnTo>
                  <a:pt x="2630" y="991"/>
                </a:lnTo>
                <a:lnTo>
                  <a:pt x="2562" y="991"/>
                </a:lnTo>
                <a:lnTo>
                  <a:pt x="2467" y="999"/>
                </a:lnTo>
                <a:lnTo>
                  <a:pt x="2299" y="996"/>
                </a:lnTo>
                <a:lnTo>
                  <a:pt x="2160" y="994"/>
                </a:lnTo>
                <a:lnTo>
                  <a:pt x="2091" y="994"/>
                </a:lnTo>
                <a:lnTo>
                  <a:pt x="1949" y="991"/>
                </a:lnTo>
                <a:lnTo>
                  <a:pt x="1853" y="993"/>
                </a:lnTo>
                <a:lnTo>
                  <a:pt x="1782" y="991"/>
                </a:lnTo>
                <a:lnTo>
                  <a:pt x="1642" y="990"/>
                </a:lnTo>
                <a:lnTo>
                  <a:pt x="1570" y="979"/>
                </a:lnTo>
                <a:lnTo>
                  <a:pt x="1496" y="977"/>
                </a:lnTo>
                <a:lnTo>
                  <a:pt x="1432" y="987"/>
                </a:lnTo>
                <a:lnTo>
                  <a:pt x="1334" y="984"/>
                </a:lnTo>
                <a:lnTo>
                  <a:pt x="1284" y="965"/>
                </a:lnTo>
                <a:lnTo>
                  <a:pt x="1214" y="974"/>
                </a:lnTo>
                <a:lnTo>
                  <a:pt x="1051" y="976"/>
                </a:lnTo>
                <a:lnTo>
                  <a:pt x="907" y="976"/>
                </a:lnTo>
                <a:lnTo>
                  <a:pt x="770" y="982"/>
                </a:lnTo>
                <a:lnTo>
                  <a:pt x="679" y="973"/>
                </a:lnTo>
                <a:lnTo>
                  <a:pt x="483" y="966"/>
                </a:lnTo>
                <a:lnTo>
                  <a:pt x="414" y="970"/>
                </a:lnTo>
                <a:lnTo>
                  <a:pt x="350" y="987"/>
                </a:lnTo>
                <a:lnTo>
                  <a:pt x="297" y="969"/>
                </a:lnTo>
                <a:lnTo>
                  <a:pt x="268" y="953"/>
                </a:lnTo>
                <a:lnTo>
                  <a:pt x="262" y="938"/>
                </a:lnTo>
                <a:lnTo>
                  <a:pt x="285" y="922"/>
                </a:lnTo>
                <a:lnTo>
                  <a:pt x="349" y="904"/>
                </a:lnTo>
                <a:lnTo>
                  <a:pt x="368" y="888"/>
                </a:lnTo>
                <a:lnTo>
                  <a:pt x="364" y="872"/>
                </a:lnTo>
                <a:lnTo>
                  <a:pt x="335" y="854"/>
                </a:lnTo>
                <a:lnTo>
                  <a:pt x="332" y="831"/>
                </a:lnTo>
                <a:lnTo>
                  <a:pt x="324" y="814"/>
                </a:lnTo>
                <a:lnTo>
                  <a:pt x="320" y="799"/>
                </a:lnTo>
                <a:lnTo>
                  <a:pt x="314" y="780"/>
                </a:lnTo>
                <a:lnTo>
                  <a:pt x="286" y="763"/>
                </a:lnTo>
                <a:lnTo>
                  <a:pt x="280" y="739"/>
                </a:lnTo>
                <a:lnTo>
                  <a:pt x="299" y="725"/>
                </a:lnTo>
                <a:lnTo>
                  <a:pt x="289" y="701"/>
                </a:lnTo>
                <a:lnTo>
                  <a:pt x="135" y="657"/>
                </a:lnTo>
                <a:lnTo>
                  <a:pt x="112" y="641"/>
                </a:lnTo>
                <a:lnTo>
                  <a:pt x="103" y="623"/>
                </a:lnTo>
                <a:lnTo>
                  <a:pt x="123" y="606"/>
                </a:lnTo>
                <a:lnTo>
                  <a:pt x="165" y="587"/>
                </a:lnTo>
                <a:lnTo>
                  <a:pt x="158" y="566"/>
                </a:lnTo>
                <a:lnTo>
                  <a:pt x="149" y="543"/>
                </a:lnTo>
                <a:lnTo>
                  <a:pt x="144" y="522"/>
                </a:lnTo>
                <a:lnTo>
                  <a:pt x="116" y="496"/>
                </a:lnTo>
                <a:lnTo>
                  <a:pt x="109" y="477"/>
                </a:lnTo>
                <a:lnTo>
                  <a:pt x="78" y="452"/>
                </a:lnTo>
                <a:lnTo>
                  <a:pt x="74" y="435"/>
                </a:lnTo>
                <a:lnTo>
                  <a:pt x="85" y="396"/>
                </a:lnTo>
                <a:lnTo>
                  <a:pt x="106" y="380"/>
                </a:lnTo>
                <a:lnTo>
                  <a:pt x="100" y="365"/>
                </a:lnTo>
                <a:lnTo>
                  <a:pt x="98" y="345"/>
                </a:lnTo>
                <a:lnTo>
                  <a:pt x="93" y="328"/>
                </a:lnTo>
                <a:lnTo>
                  <a:pt x="87" y="306"/>
                </a:lnTo>
                <a:lnTo>
                  <a:pt x="47" y="261"/>
                </a:lnTo>
                <a:lnTo>
                  <a:pt x="20" y="238"/>
                </a:lnTo>
                <a:lnTo>
                  <a:pt x="13" y="221"/>
                </a:lnTo>
                <a:lnTo>
                  <a:pt x="8" y="199"/>
                </a:lnTo>
                <a:lnTo>
                  <a:pt x="32" y="182"/>
                </a:lnTo>
                <a:lnTo>
                  <a:pt x="21" y="159"/>
                </a:lnTo>
                <a:lnTo>
                  <a:pt x="10" y="136"/>
                </a:lnTo>
                <a:lnTo>
                  <a:pt x="10" y="122"/>
                </a:lnTo>
                <a:lnTo>
                  <a:pt x="0" y="98"/>
                </a:lnTo>
                <a:lnTo>
                  <a:pt x="22" y="77"/>
                </a:lnTo>
                <a:lnTo>
                  <a:pt x="15" y="58"/>
                </a:lnTo>
                <a:lnTo>
                  <a:pt x="28" y="35"/>
                </a:lnTo>
                <a:lnTo>
                  <a:pt x="7" y="17"/>
                </a:lnTo>
                <a:lnTo>
                  <a:pt x="71" y="0"/>
                </a:lnTo>
              </a:path>
            </a:pathLst>
          </a:custGeom>
          <a:gradFill flip="none" rotWithShape="1">
            <a:gsLst>
              <a:gs pos="75000">
                <a:srgbClr val="FFDB69">
                  <a:tint val="66000"/>
                  <a:satMod val="160000"/>
                  <a:alpha val="58000"/>
                </a:srgbClr>
              </a:gs>
              <a:gs pos="61000">
                <a:srgbClr val="FFDB69">
                  <a:tint val="44500"/>
                  <a:satMod val="160000"/>
                  <a:alpha val="73000"/>
                </a:srgbClr>
              </a:gs>
              <a:gs pos="100000">
                <a:srgbClr val="FFDB69">
                  <a:tint val="23500"/>
                  <a:satMod val="160000"/>
                  <a:alpha val="80000"/>
                </a:srgbClr>
              </a:gs>
            </a:gsLst>
            <a:lin ang="0" scaled="1"/>
            <a:tileRect/>
          </a:gradFill>
          <a:ln w="9525" cap="rnd" cmpd="sng">
            <a:noFill/>
            <a:prstDash val="solid"/>
            <a:round/>
            <a:headEnd type="none" w="med" len="med"/>
            <a:tailEnd type="none" w="med" len="med"/>
          </a:ln>
          <a:effectLst>
            <a:outerShdw blurRad="50800" dist="38100" dir="2700000" algn="tl" rotWithShape="0">
              <a:prstClr val="black">
                <a:alpha val="40000"/>
              </a:prstClr>
            </a:outerShdw>
          </a:effectLst>
        </p:spPr>
        <p:txBody>
          <a:bodyPr lIns="360000" tIns="72000" rIns="324000" bIns="72000" anchor="ctr"/>
          <a:lstStyle/>
          <a:p>
            <a:pPr marL="171450" marR="0" lvl="0" indent="-171450" algn="l" defTabSz="787481" rtl="0" eaLnBrk="1" fontAlgn="auto" latinLnBrk="0" hangingPunct="1">
              <a:lnSpc>
                <a:spcPct val="114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"We have a record of hundred percent bill collection. But we have received only 10 percent of the total bills for the month of March," </a:t>
            </a:r>
          </a:p>
          <a:p>
            <a:pPr marL="0" marR="0" lvl="0" indent="0" algn="r" defTabSz="787481" rtl="0" eaLnBrk="1" fontAlgn="auto" latinLnBrk="0" hangingPunct="1">
              <a:lnSpc>
                <a:spcPct val="114000"/>
              </a:lnSpc>
              <a:spcBef>
                <a:spcPts val="0"/>
              </a:spcBef>
              <a:spcAft>
                <a:spcPts val="60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Verdana"/>
                <a:ea typeface="+mn-ea"/>
                <a:cs typeface="+mn-cs"/>
              </a:rPr>
              <a:t>- Md Kausar Ameer Ali, managing director of DESCO, May 2020 </a:t>
            </a:r>
          </a:p>
        </p:txBody>
      </p:sp>
      <p:sp>
        <p:nvSpPr>
          <p:cNvPr id="26" name="Freeform 3"/>
          <p:cNvSpPr>
            <a:spLocks/>
          </p:cNvSpPr>
          <p:nvPr/>
        </p:nvSpPr>
        <p:spPr bwMode="gray">
          <a:xfrm>
            <a:off x="5522718" y="5413794"/>
            <a:ext cx="4735625" cy="1829277"/>
          </a:xfrm>
          <a:custGeom>
            <a:avLst/>
            <a:gdLst/>
            <a:ahLst/>
            <a:cxnLst>
              <a:cxn ang="0">
                <a:pos x="222" y="20"/>
              </a:cxn>
              <a:cxn ang="0">
                <a:pos x="476" y="6"/>
              </a:cxn>
              <a:cxn ang="0">
                <a:pos x="671" y="35"/>
              </a:cxn>
              <a:cxn ang="0">
                <a:pos x="901" y="27"/>
              </a:cxn>
              <a:cxn ang="0">
                <a:pos x="1105" y="7"/>
              </a:cxn>
              <a:cxn ang="0">
                <a:pos x="1351" y="13"/>
              </a:cxn>
              <a:cxn ang="0">
                <a:pos x="1750" y="16"/>
              </a:cxn>
              <a:cxn ang="0">
                <a:pos x="1962" y="33"/>
              </a:cxn>
              <a:cxn ang="0">
                <a:pos x="2433" y="23"/>
              </a:cxn>
              <a:cxn ang="0">
                <a:pos x="2648" y="30"/>
              </a:cxn>
              <a:cxn ang="0">
                <a:pos x="3022" y="30"/>
              </a:cxn>
              <a:cxn ang="0">
                <a:pos x="3305" y="38"/>
              </a:cxn>
              <a:cxn ang="0">
                <a:pos x="3683" y="43"/>
              </a:cxn>
              <a:cxn ang="0">
                <a:pos x="3921" y="44"/>
              </a:cxn>
              <a:cxn ang="0">
                <a:pos x="4152" y="45"/>
              </a:cxn>
              <a:cxn ang="0">
                <a:pos x="4193" y="98"/>
              </a:cxn>
              <a:cxn ang="0">
                <a:pos x="4229" y="146"/>
              </a:cxn>
              <a:cxn ang="0">
                <a:pos x="4183" y="224"/>
              </a:cxn>
              <a:cxn ang="0">
                <a:pos x="4218" y="282"/>
              </a:cxn>
              <a:cxn ang="0">
                <a:pos x="4286" y="348"/>
              </a:cxn>
              <a:cxn ang="0">
                <a:pos x="4353" y="404"/>
              </a:cxn>
              <a:cxn ang="0">
                <a:pos x="4419" y="474"/>
              </a:cxn>
              <a:cxn ang="0">
                <a:pos x="4413" y="546"/>
              </a:cxn>
              <a:cxn ang="0">
                <a:pos x="4443" y="645"/>
              </a:cxn>
              <a:cxn ang="0">
                <a:pos x="4461" y="711"/>
              </a:cxn>
              <a:cxn ang="0">
                <a:pos x="4462" y="811"/>
              </a:cxn>
              <a:cxn ang="0">
                <a:pos x="4483" y="869"/>
              </a:cxn>
              <a:cxn ang="0">
                <a:pos x="4526" y="953"/>
              </a:cxn>
              <a:cxn ang="0">
                <a:pos x="4448" y="999"/>
              </a:cxn>
              <a:cxn ang="0">
                <a:pos x="4203" y="989"/>
              </a:cxn>
              <a:cxn ang="0">
                <a:pos x="3829" y="970"/>
              </a:cxn>
              <a:cxn ang="0">
                <a:pos x="3619" y="991"/>
              </a:cxn>
              <a:cxn ang="0">
                <a:pos x="3434" y="1006"/>
              </a:cxn>
              <a:cxn ang="0">
                <a:pos x="3180" y="1017"/>
              </a:cxn>
              <a:cxn ang="0">
                <a:pos x="2821" y="994"/>
              </a:cxn>
              <a:cxn ang="0">
                <a:pos x="2467" y="999"/>
              </a:cxn>
              <a:cxn ang="0">
                <a:pos x="2091" y="994"/>
              </a:cxn>
              <a:cxn ang="0">
                <a:pos x="1782" y="991"/>
              </a:cxn>
              <a:cxn ang="0">
                <a:pos x="1496" y="977"/>
              </a:cxn>
              <a:cxn ang="0">
                <a:pos x="1284" y="965"/>
              </a:cxn>
              <a:cxn ang="0">
                <a:pos x="907" y="976"/>
              </a:cxn>
              <a:cxn ang="0">
                <a:pos x="483" y="966"/>
              </a:cxn>
              <a:cxn ang="0">
                <a:pos x="297" y="969"/>
              </a:cxn>
              <a:cxn ang="0">
                <a:pos x="285" y="922"/>
              </a:cxn>
              <a:cxn ang="0">
                <a:pos x="364" y="872"/>
              </a:cxn>
              <a:cxn ang="0">
                <a:pos x="324" y="814"/>
              </a:cxn>
              <a:cxn ang="0">
                <a:pos x="286" y="763"/>
              </a:cxn>
              <a:cxn ang="0">
                <a:pos x="289" y="701"/>
              </a:cxn>
              <a:cxn ang="0">
                <a:pos x="103" y="623"/>
              </a:cxn>
              <a:cxn ang="0">
                <a:pos x="158" y="566"/>
              </a:cxn>
              <a:cxn ang="0">
                <a:pos x="116" y="496"/>
              </a:cxn>
              <a:cxn ang="0">
                <a:pos x="74" y="435"/>
              </a:cxn>
              <a:cxn ang="0">
                <a:pos x="100" y="365"/>
              </a:cxn>
              <a:cxn ang="0">
                <a:pos x="87" y="306"/>
              </a:cxn>
              <a:cxn ang="0">
                <a:pos x="13" y="221"/>
              </a:cxn>
              <a:cxn ang="0">
                <a:pos x="21" y="159"/>
              </a:cxn>
              <a:cxn ang="0">
                <a:pos x="0" y="98"/>
              </a:cxn>
              <a:cxn ang="0">
                <a:pos x="28" y="35"/>
              </a:cxn>
            </a:cxnLst>
            <a:rect l="0" t="0" r="r" b="b"/>
            <a:pathLst>
              <a:path w="4537" h="1018">
                <a:moveTo>
                  <a:pt x="71" y="0"/>
                </a:moveTo>
                <a:lnTo>
                  <a:pt x="147" y="13"/>
                </a:lnTo>
                <a:lnTo>
                  <a:pt x="222" y="20"/>
                </a:lnTo>
                <a:lnTo>
                  <a:pt x="315" y="17"/>
                </a:lnTo>
                <a:lnTo>
                  <a:pt x="380" y="6"/>
                </a:lnTo>
                <a:lnTo>
                  <a:pt x="476" y="6"/>
                </a:lnTo>
                <a:lnTo>
                  <a:pt x="547" y="11"/>
                </a:lnTo>
                <a:lnTo>
                  <a:pt x="597" y="30"/>
                </a:lnTo>
                <a:lnTo>
                  <a:pt x="671" y="35"/>
                </a:lnTo>
                <a:lnTo>
                  <a:pt x="760" y="31"/>
                </a:lnTo>
                <a:lnTo>
                  <a:pt x="830" y="26"/>
                </a:lnTo>
                <a:lnTo>
                  <a:pt x="901" y="27"/>
                </a:lnTo>
                <a:lnTo>
                  <a:pt x="996" y="21"/>
                </a:lnTo>
                <a:lnTo>
                  <a:pt x="1034" y="4"/>
                </a:lnTo>
                <a:lnTo>
                  <a:pt x="1105" y="7"/>
                </a:lnTo>
                <a:lnTo>
                  <a:pt x="1203" y="7"/>
                </a:lnTo>
                <a:lnTo>
                  <a:pt x="1274" y="6"/>
                </a:lnTo>
                <a:lnTo>
                  <a:pt x="1351" y="13"/>
                </a:lnTo>
                <a:lnTo>
                  <a:pt x="1511" y="14"/>
                </a:lnTo>
                <a:lnTo>
                  <a:pt x="1651" y="16"/>
                </a:lnTo>
                <a:lnTo>
                  <a:pt x="1750" y="16"/>
                </a:lnTo>
                <a:lnTo>
                  <a:pt x="1818" y="16"/>
                </a:lnTo>
                <a:lnTo>
                  <a:pt x="1891" y="31"/>
                </a:lnTo>
                <a:lnTo>
                  <a:pt x="1962" y="33"/>
                </a:lnTo>
                <a:lnTo>
                  <a:pt x="2103" y="31"/>
                </a:lnTo>
                <a:lnTo>
                  <a:pt x="2242" y="27"/>
                </a:lnTo>
                <a:lnTo>
                  <a:pt x="2433" y="23"/>
                </a:lnTo>
                <a:lnTo>
                  <a:pt x="2503" y="18"/>
                </a:lnTo>
                <a:lnTo>
                  <a:pt x="2574" y="20"/>
                </a:lnTo>
                <a:lnTo>
                  <a:pt x="2648" y="30"/>
                </a:lnTo>
                <a:lnTo>
                  <a:pt x="2740" y="37"/>
                </a:lnTo>
                <a:lnTo>
                  <a:pt x="2878" y="33"/>
                </a:lnTo>
                <a:lnTo>
                  <a:pt x="3022" y="30"/>
                </a:lnTo>
                <a:lnTo>
                  <a:pt x="3160" y="26"/>
                </a:lnTo>
                <a:lnTo>
                  <a:pt x="3231" y="26"/>
                </a:lnTo>
                <a:lnTo>
                  <a:pt x="3305" y="38"/>
                </a:lnTo>
                <a:lnTo>
                  <a:pt x="3403" y="47"/>
                </a:lnTo>
                <a:lnTo>
                  <a:pt x="3594" y="45"/>
                </a:lnTo>
                <a:lnTo>
                  <a:pt x="3683" y="43"/>
                </a:lnTo>
                <a:lnTo>
                  <a:pt x="3752" y="41"/>
                </a:lnTo>
                <a:lnTo>
                  <a:pt x="3847" y="44"/>
                </a:lnTo>
                <a:lnTo>
                  <a:pt x="3921" y="44"/>
                </a:lnTo>
                <a:lnTo>
                  <a:pt x="3989" y="40"/>
                </a:lnTo>
                <a:lnTo>
                  <a:pt x="4084" y="40"/>
                </a:lnTo>
                <a:lnTo>
                  <a:pt x="4152" y="45"/>
                </a:lnTo>
                <a:lnTo>
                  <a:pt x="4204" y="64"/>
                </a:lnTo>
                <a:lnTo>
                  <a:pt x="4215" y="79"/>
                </a:lnTo>
                <a:lnTo>
                  <a:pt x="4193" y="98"/>
                </a:lnTo>
                <a:lnTo>
                  <a:pt x="4173" y="115"/>
                </a:lnTo>
                <a:lnTo>
                  <a:pt x="4198" y="130"/>
                </a:lnTo>
                <a:lnTo>
                  <a:pt x="4229" y="146"/>
                </a:lnTo>
                <a:lnTo>
                  <a:pt x="4211" y="163"/>
                </a:lnTo>
                <a:lnTo>
                  <a:pt x="4173" y="209"/>
                </a:lnTo>
                <a:lnTo>
                  <a:pt x="4183" y="224"/>
                </a:lnTo>
                <a:lnTo>
                  <a:pt x="4210" y="241"/>
                </a:lnTo>
                <a:lnTo>
                  <a:pt x="4214" y="258"/>
                </a:lnTo>
                <a:lnTo>
                  <a:pt x="4218" y="282"/>
                </a:lnTo>
                <a:lnTo>
                  <a:pt x="4232" y="315"/>
                </a:lnTo>
                <a:lnTo>
                  <a:pt x="4235" y="333"/>
                </a:lnTo>
                <a:lnTo>
                  <a:pt x="4286" y="348"/>
                </a:lnTo>
                <a:lnTo>
                  <a:pt x="4342" y="365"/>
                </a:lnTo>
                <a:lnTo>
                  <a:pt x="4348" y="389"/>
                </a:lnTo>
                <a:lnTo>
                  <a:pt x="4353" y="404"/>
                </a:lnTo>
                <a:lnTo>
                  <a:pt x="4335" y="428"/>
                </a:lnTo>
                <a:lnTo>
                  <a:pt x="4339" y="451"/>
                </a:lnTo>
                <a:lnTo>
                  <a:pt x="4419" y="474"/>
                </a:lnTo>
                <a:lnTo>
                  <a:pt x="4452" y="509"/>
                </a:lnTo>
                <a:lnTo>
                  <a:pt x="4433" y="532"/>
                </a:lnTo>
                <a:lnTo>
                  <a:pt x="4413" y="546"/>
                </a:lnTo>
                <a:lnTo>
                  <a:pt x="4395" y="565"/>
                </a:lnTo>
                <a:lnTo>
                  <a:pt x="4431" y="608"/>
                </a:lnTo>
                <a:lnTo>
                  <a:pt x="4443" y="645"/>
                </a:lnTo>
                <a:lnTo>
                  <a:pt x="4447" y="660"/>
                </a:lnTo>
                <a:lnTo>
                  <a:pt x="4456" y="694"/>
                </a:lnTo>
                <a:lnTo>
                  <a:pt x="4461" y="711"/>
                </a:lnTo>
                <a:lnTo>
                  <a:pt x="4473" y="756"/>
                </a:lnTo>
                <a:lnTo>
                  <a:pt x="4452" y="772"/>
                </a:lnTo>
                <a:lnTo>
                  <a:pt x="4462" y="811"/>
                </a:lnTo>
                <a:lnTo>
                  <a:pt x="4472" y="828"/>
                </a:lnTo>
                <a:lnTo>
                  <a:pt x="4498" y="851"/>
                </a:lnTo>
                <a:lnTo>
                  <a:pt x="4483" y="869"/>
                </a:lnTo>
                <a:lnTo>
                  <a:pt x="4487" y="885"/>
                </a:lnTo>
                <a:lnTo>
                  <a:pt x="4494" y="908"/>
                </a:lnTo>
                <a:lnTo>
                  <a:pt x="4526" y="953"/>
                </a:lnTo>
                <a:lnTo>
                  <a:pt x="4536" y="976"/>
                </a:lnTo>
                <a:lnTo>
                  <a:pt x="4519" y="991"/>
                </a:lnTo>
                <a:lnTo>
                  <a:pt x="4448" y="999"/>
                </a:lnTo>
                <a:lnTo>
                  <a:pt x="4380" y="1013"/>
                </a:lnTo>
                <a:lnTo>
                  <a:pt x="4279" y="1001"/>
                </a:lnTo>
                <a:lnTo>
                  <a:pt x="4203" y="989"/>
                </a:lnTo>
                <a:lnTo>
                  <a:pt x="4062" y="979"/>
                </a:lnTo>
                <a:lnTo>
                  <a:pt x="3990" y="972"/>
                </a:lnTo>
                <a:lnTo>
                  <a:pt x="3829" y="970"/>
                </a:lnTo>
                <a:lnTo>
                  <a:pt x="3762" y="974"/>
                </a:lnTo>
                <a:lnTo>
                  <a:pt x="3690" y="984"/>
                </a:lnTo>
                <a:lnTo>
                  <a:pt x="3619" y="991"/>
                </a:lnTo>
                <a:lnTo>
                  <a:pt x="3577" y="1006"/>
                </a:lnTo>
                <a:lnTo>
                  <a:pt x="3508" y="1013"/>
                </a:lnTo>
                <a:lnTo>
                  <a:pt x="3434" y="1006"/>
                </a:lnTo>
                <a:lnTo>
                  <a:pt x="3365" y="999"/>
                </a:lnTo>
                <a:lnTo>
                  <a:pt x="3266" y="1004"/>
                </a:lnTo>
                <a:lnTo>
                  <a:pt x="3180" y="1017"/>
                </a:lnTo>
                <a:lnTo>
                  <a:pt x="3109" y="1014"/>
                </a:lnTo>
                <a:lnTo>
                  <a:pt x="3010" y="1008"/>
                </a:lnTo>
                <a:lnTo>
                  <a:pt x="2821" y="994"/>
                </a:lnTo>
                <a:lnTo>
                  <a:pt x="2630" y="991"/>
                </a:lnTo>
                <a:lnTo>
                  <a:pt x="2562" y="991"/>
                </a:lnTo>
                <a:lnTo>
                  <a:pt x="2467" y="999"/>
                </a:lnTo>
                <a:lnTo>
                  <a:pt x="2299" y="996"/>
                </a:lnTo>
                <a:lnTo>
                  <a:pt x="2160" y="994"/>
                </a:lnTo>
                <a:lnTo>
                  <a:pt x="2091" y="994"/>
                </a:lnTo>
                <a:lnTo>
                  <a:pt x="1949" y="991"/>
                </a:lnTo>
                <a:lnTo>
                  <a:pt x="1853" y="993"/>
                </a:lnTo>
                <a:lnTo>
                  <a:pt x="1782" y="991"/>
                </a:lnTo>
                <a:lnTo>
                  <a:pt x="1642" y="990"/>
                </a:lnTo>
                <a:lnTo>
                  <a:pt x="1570" y="979"/>
                </a:lnTo>
                <a:lnTo>
                  <a:pt x="1496" y="977"/>
                </a:lnTo>
                <a:lnTo>
                  <a:pt x="1432" y="987"/>
                </a:lnTo>
                <a:lnTo>
                  <a:pt x="1334" y="984"/>
                </a:lnTo>
                <a:lnTo>
                  <a:pt x="1284" y="965"/>
                </a:lnTo>
                <a:lnTo>
                  <a:pt x="1214" y="974"/>
                </a:lnTo>
                <a:lnTo>
                  <a:pt x="1051" y="976"/>
                </a:lnTo>
                <a:lnTo>
                  <a:pt x="907" y="976"/>
                </a:lnTo>
                <a:lnTo>
                  <a:pt x="770" y="982"/>
                </a:lnTo>
                <a:lnTo>
                  <a:pt x="679" y="973"/>
                </a:lnTo>
                <a:lnTo>
                  <a:pt x="483" y="966"/>
                </a:lnTo>
                <a:lnTo>
                  <a:pt x="414" y="970"/>
                </a:lnTo>
                <a:lnTo>
                  <a:pt x="350" y="987"/>
                </a:lnTo>
                <a:lnTo>
                  <a:pt x="297" y="969"/>
                </a:lnTo>
                <a:lnTo>
                  <a:pt x="268" y="953"/>
                </a:lnTo>
                <a:lnTo>
                  <a:pt x="262" y="938"/>
                </a:lnTo>
                <a:lnTo>
                  <a:pt x="285" y="922"/>
                </a:lnTo>
                <a:lnTo>
                  <a:pt x="349" y="904"/>
                </a:lnTo>
                <a:lnTo>
                  <a:pt x="368" y="888"/>
                </a:lnTo>
                <a:lnTo>
                  <a:pt x="364" y="872"/>
                </a:lnTo>
                <a:lnTo>
                  <a:pt x="335" y="854"/>
                </a:lnTo>
                <a:lnTo>
                  <a:pt x="332" y="831"/>
                </a:lnTo>
                <a:lnTo>
                  <a:pt x="324" y="814"/>
                </a:lnTo>
                <a:lnTo>
                  <a:pt x="320" y="799"/>
                </a:lnTo>
                <a:lnTo>
                  <a:pt x="314" y="780"/>
                </a:lnTo>
                <a:lnTo>
                  <a:pt x="286" y="763"/>
                </a:lnTo>
                <a:lnTo>
                  <a:pt x="280" y="739"/>
                </a:lnTo>
                <a:lnTo>
                  <a:pt x="299" y="725"/>
                </a:lnTo>
                <a:lnTo>
                  <a:pt x="289" y="701"/>
                </a:lnTo>
                <a:lnTo>
                  <a:pt x="135" y="657"/>
                </a:lnTo>
                <a:lnTo>
                  <a:pt x="112" y="641"/>
                </a:lnTo>
                <a:lnTo>
                  <a:pt x="103" y="623"/>
                </a:lnTo>
                <a:lnTo>
                  <a:pt x="123" y="606"/>
                </a:lnTo>
                <a:lnTo>
                  <a:pt x="165" y="587"/>
                </a:lnTo>
                <a:lnTo>
                  <a:pt x="158" y="566"/>
                </a:lnTo>
                <a:lnTo>
                  <a:pt x="149" y="543"/>
                </a:lnTo>
                <a:lnTo>
                  <a:pt x="144" y="522"/>
                </a:lnTo>
                <a:lnTo>
                  <a:pt x="116" y="496"/>
                </a:lnTo>
                <a:lnTo>
                  <a:pt x="109" y="477"/>
                </a:lnTo>
                <a:lnTo>
                  <a:pt x="78" y="452"/>
                </a:lnTo>
                <a:lnTo>
                  <a:pt x="74" y="435"/>
                </a:lnTo>
                <a:lnTo>
                  <a:pt x="85" y="396"/>
                </a:lnTo>
                <a:lnTo>
                  <a:pt x="106" y="380"/>
                </a:lnTo>
                <a:lnTo>
                  <a:pt x="100" y="365"/>
                </a:lnTo>
                <a:lnTo>
                  <a:pt x="98" y="345"/>
                </a:lnTo>
                <a:lnTo>
                  <a:pt x="93" y="328"/>
                </a:lnTo>
                <a:lnTo>
                  <a:pt x="87" y="306"/>
                </a:lnTo>
                <a:lnTo>
                  <a:pt x="47" y="261"/>
                </a:lnTo>
                <a:lnTo>
                  <a:pt x="20" y="238"/>
                </a:lnTo>
                <a:lnTo>
                  <a:pt x="13" y="221"/>
                </a:lnTo>
                <a:lnTo>
                  <a:pt x="8" y="199"/>
                </a:lnTo>
                <a:lnTo>
                  <a:pt x="32" y="182"/>
                </a:lnTo>
                <a:lnTo>
                  <a:pt x="21" y="159"/>
                </a:lnTo>
                <a:lnTo>
                  <a:pt x="10" y="136"/>
                </a:lnTo>
                <a:lnTo>
                  <a:pt x="10" y="122"/>
                </a:lnTo>
                <a:lnTo>
                  <a:pt x="0" y="98"/>
                </a:lnTo>
                <a:lnTo>
                  <a:pt x="22" y="77"/>
                </a:lnTo>
                <a:lnTo>
                  <a:pt x="15" y="58"/>
                </a:lnTo>
                <a:lnTo>
                  <a:pt x="28" y="35"/>
                </a:lnTo>
                <a:lnTo>
                  <a:pt x="7" y="17"/>
                </a:lnTo>
                <a:lnTo>
                  <a:pt x="71" y="0"/>
                </a:lnTo>
              </a:path>
            </a:pathLst>
          </a:custGeom>
          <a:gradFill flip="none" rotWithShape="1">
            <a:gsLst>
              <a:gs pos="75000">
                <a:srgbClr val="FFDB69">
                  <a:tint val="66000"/>
                  <a:satMod val="160000"/>
                  <a:alpha val="58000"/>
                </a:srgbClr>
              </a:gs>
              <a:gs pos="61000">
                <a:srgbClr val="FFDB69">
                  <a:tint val="44500"/>
                  <a:satMod val="160000"/>
                  <a:alpha val="73000"/>
                </a:srgbClr>
              </a:gs>
              <a:gs pos="100000">
                <a:srgbClr val="FFDB69">
                  <a:tint val="23500"/>
                  <a:satMod val="160000"/>
                  <a:alpha val="80000"/>
                </a:srgbClr>
              </a:gs>
            </a:gsLst>
            <a:lin ang="0" scaled="1"/>
            <a:tileRect/>
          </a:gradFill>
          <a:ln w="9525" cap="rnd" cmpd="sng">
            <a:noFill/>
            <a:prstDash val="solid"/>
            <a:round/>
            <a:headEnd type="none" w="med" len="med"/>
            <a:tailEnd type="none" w="med" len="med"/>
          </a:ln>
          <a:effectLst>
            <a:outerShdw blurRad="50800" dist="38100" dir="2700000" algn="tl" rotWithShape="0">
              <a:prstClr val="black">
                <a:alpha val="40000"/>
              </a:prstClr>
            </a:outerShdw>
          </a:effectLst>
        </p:spPr>
        <p:txBody>
          <a:bodyPr lIns="360000" tIns="72000" rIns="324000" bIns="72000" anchor="ctr"/>
          <a:lstStyle/>
          <a:p>
            <a:pPr marL="171450" marR="0" lvl="0" indent="-171450" algn="l" defTabSz="787481" rtl="0" eaLnBrk="1" fontAlgn="auto" latinLnBrk="0" hangingPunct="1">
              <a:lnSpc>
                <a:spcPct val="114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All diesel-fired power plants, having the total generation capacity of 1,140 megawatts (MW), are now shut along with a good number of furnace oil-fired ones.</a:t>
            </a:r>
          </a:p>
          <a:p>
            <a:pPr marL="171450" marR="0" lvl="0" indent="-171450" algn="l" defTabSz="787481" rtl="0" eaLnBrk="1" fontAlgn="auto" latinLnBrk="0" hangingPunct="1">
              <a:lnSpc>
                <a:spcPct val="114000"/>
              </a:lnSpc>
              <a:spcBef>
                <a:spcPts val="0"/>
              </a:spcBef>
              <a:spcAft>
                <a:spcPts val="600"/>
              </a:spcAft>
              <a:buClrTx/>
              <a:buSzTx/>
              <a:buFont typeface="Arial" panose="020B0604020202020204" pitchFamily="34" charset="0"/>
              <a:buChar char="•"/>
              <a:tabLst/>
              <a:defRPr/>
            </a:pPr>
            <a:r>
              <a:rPr kumimoji="0" lang="en-US" sz="1000" b="1" i="0" u="none" strike="noStrike" kern="1200" cap="none" spc="0" normalizeH="0" baseline="0" noProof="0" dirty="0">
                <a:ln>
                  <a:noFill/>
                </a:ln>
                <a:solidFill>
                  <a:prstClr val="black"/>
                </a:solidFill>
                <a:effectLst/>
                <a:uLnTx/>
                <a:uFillTx/>
                <a:latin typeface="Verdana"/>
                <a:ea typeface="+mn-ea"/>
                <a:cs typeface="+mn-cs"/>
              </a:rPr>
              <a:t>BPDB has asked the plant owners to keep majority of the oil-fired power plants shut to save the entity from counting huge payment for electricity purchase</a:t>
            </a:r>
            <a:r>
              <a:rPr kumimoji="0" lang="en-US" sz="1000" b="0" i="0" u="none" strike="noStrike" kern="1200" cap="none" spc="0" normalizeH="0" baseline="0" noProof="0" dirty="0">
                <a:ln>
                  <a:noFill/>
                </a:ln>
                <a:solidFill>
                  <a:prstClr val="black"/>
                </a:solidFill>
                <a:effectLst/>
                <a:uLnTx/>
                <a:uFillTx/>
                <a:latin typeface="Verdana"/>
                <a:ea typeface="+mn-ea"/>
                <a:cs typeface="+mn-cs"/>
              </a:rPr>
              <a:t>. </a:t>
            </a:r>
          </a:p>
          <a:p>
            <a:pPr marL="0" marR="0" lvl="0" indent="0" algn="r" defTabSz="787481" rtl="0" eaLnBrk="1" fontAlgn="auto" latinLnBrk="0" hangingPunct="1">
              <a:lnSpc>
                <a:spcPct val="114000"/>
              </a:lnSpc>
              <a:spcBef>
                <a:spcPts val="0"/>
              </a:spcBef>
              <a:spcAft>
                <a:spcPts val="600"/>
              </a:spcAft>
              <a:buClrTx/>
              <a:buSzTx/>
              <a:buFontTx/>
              <a:buNone/>
              <a:tabLst/>
              <a:defRPr/>
            </a:pPr>
            <a:r>
              <a:rPr kumimoji="0" lang="en-US" sz="1000" b="1" i="1" u="none" strike="noStrike" kern="1200" cap="none" spc="0" normalizeH="0" baseline="0" noProof="0" dirty="0">
                <a:ln>
                  <a:noFill/>
                </a:ln>
                <a:solidFill>
                  <a:prstClr val="black"/>
                </a:solidFill>
                <a:effectLst/>
                <a:uLnTx/>
                <a:uFillTx/>
                <a:latin typeface="Verdana"/>
                <a:ea typeface="+mn-ea"/>
                <a:cs typeface="+mn-cs"/>
              </a:rPr>
              <a:t>- BPDB, April 2020</a:t>
            </a:r>
            <a:endParaRPr kumimoji="0" lang="en-US" sz="1000" b="0" i="0" u="none" strike="noStrike" kern="1200" cap="none" spc="0" normalizeH="0" baseline="0" noProof="0" dirty="0">
              <a:ln>
                <a:noFill/>
              </a:ln>
              <a:solidFill>
                <a:prstClr val="black"/>
              </a:solidFill>
              <a:effectLst/>
              <a:uLnTx/>
              <a:uFillTx/>
              <a:latin typeface="Verdana"/>
              <a:ea typeface="+mn-ea"/>
              <a:cs typeface="+mn-cs"/>
            </a:endParaRPr>
          </a:p>
        </p:txBody>
      </p:sp>
      <p:sp>
        <p:nvSpPr>
          <p:cNvPr id="12" name="Rectangle 11"/>
          <p:cNvSpPr/>
          <p:nvPr/>
        </p:nvSpPr>
        <p:spPr bwMode="gray">
          <a:xfrm>
            <a:off x="377227" y="7260740"/>
            <a:ext cx="5652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Deloitte Analysis</a:t>
            </a:r>
          </a:p>
        </p:txBody>
      </p:sp>
    </p:spTree>
    <p:extLst>
      <p:ext uri="{BB962C8B-B14F-4D97-AF65-F5344CB8AC3E}">
        <p14:creationId xmlns:p14="http://schemas.microsoft.com/office/powerpoint/2010/main" val="445323947"/>
      </p:ext>
    </p:extLst>
  </p:cSld>
  <p:clrMapOvr>
    <a:masterClrMapping/>
  </p:clrMapOvr>
  <p:transition>
    <p:fade/>
  </p:transition>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327887191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4" imgW="530" imgH="531" progId="TCLayout.ActiveDocument.1">
                  <p:embed/>
                </p:oleObj>
              </mc:Choice>
              <mc:Fallback>
                <p:oleObj name="think-cell Slide" r:id="rId24" imgW="530" imgH="531" progId="TCLayout.ActiveDocument.1">
                  <p:embed/>
                  <p:pic>
                    <p:nvPicPr>
                      <p:cNvPr id="4" name="Object 3" hidden="1"/>
                      <p:cNvPicPr/>
                      <p:nvPr/>
                    </p:nvPicPr>
                    <p:blipFill>
                      <a:blip r:embed="rId25"/>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algn="ctr">
              <a:lnSpc>
                <a:spcPct val="106000"/>
              </a:lnSpc>
              <a:buFont typeface="Wingdings 2" pitchFamily="18" charset="2"/>
              <a:buNone/>
            </a:pPr>
            <a:endParaRPr lang="en-IN" sz="1000" b="1" dirty="0">
              <a:solidFill>
                <a:schemeClr val="bg1"/>
              </a:solidFill>
              <a:latin typeface="Verdana" panose="020B0604030504040204" pitchFamily="34" charset="0"/>
              <a:sym typeface="Verdana" panose="020B0604030504040204" pitchFamily="34" charset="0"/>
            </a:endParaRPr>
          </a:p>
        </p:txBody>
      </p:sp>
      <p:sp>
        <p:nvSpPr>
          <p:cNvPr id="2" name="Title 1"/>
          <p:cNvSpPr>
            <a:spLocks noGrp="1"/>
          </p:cNvSpPr>
          <p:nvPr>
            <p:ph type="title"/>
          </p:nvPr>
        </p:nvSpPr>
        <p:spPr/>
        <p:txBody>
          <a:bodyPr/>
          <a:lstStyle/>
          <a:p>
            <a:r>
              <a:rPr lang="en-US" dirty="0"/>
              <a:t>Bulk Level &amp; Retail Tariff Hike History | </a:t>
            </a:r>
            <a:r>
              <a:rPr lang="en-US" dirty="0" err="1"/>
              <a:t>Discom</a:t>
            </a:r>
            <a:r>
              <a:rPr lang="en-US" dirty="0"/>
              <a:t> Credit Assessment</a:t>
            </a:r>
            <a:endParaRPr lang="en-IN" dirty="0"/>
          </a:p>
        </p:txBody>
      </p:sp>
      <p:graphicFrame>
        <p:nvGraphicFramePr>
          <p:cNvPr id="5" name="Table 4"/>
          <p:cNvGraphicFramePr>
            <a:graphicFrameLocks noGrp="1"/>
          </p:cNvGraphicFramePr>
          <p:nvPr>
            <p:custDataLst>
              <p:tags r:id="rId3"/>
            </p:custDataLst>
            <p:extLst>
              <p:ext uri="{D42A27DB-BD31-4B8C-83A1-F6EECF244321}">
                <p14:modId xmlns:p14="http://schemas.microsoft.com/office/powerpoint/2010/main" val="1606579254"/>
              </p:ext>
            </p:ext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Following graph shows the historical average bulk supply tariff in Bangladesh (BDT / kWh)</a:t>
                      </a: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Following graph shows the historical average bulk supply tariff in Bangladesh (BDT / kWh)</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6" name="Table 5"/>
          <p:cNvGraphicFramePr>
            <a:graphicFrameLocks noGrp="1"/>
          </p:cNvGraphicFramePr>
          <p:nvPr>
            <p:custDataLst>
              <p:tags r:id="rId4"/>
            </p:custDataLst>
            <p:extLst>
              <p:ext uri="{D42A27DB-BD31-4B8C-83A1-F6EECF244321}">
                <p14:modId xmlns:p14="http://schemas.microsoft.com/office/powerpoint/2010/main" val="1868824676"/>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lgn="just">
                        <a:spcAft>
                          <a:spcPts val="500"/>
                        </a:spcAft>
                        <a:buFont typeface="Arial" panose="020B0604020202020204" pitchFamily="34" charset="0"/>
                        <a:buNone/>
                      </a:pPr>
                      <a:r>
                        <a:rPr lang="en-US" sz="1000" b="1" baseline="0" dirty="0">
                          <a:solidFill>
                            <a:schemeClr val="tx1"/>
                          </a:solidFill>
                        </a:rPr>
                        <a:t>Bulk Supply Tariff (BST)</a:t>
                      </a:r>
                    </a:p>
                    <a:p>
                      <a:pPr marL="171450" indent="-171450" algn="just">
                        <a:lnSpc>
                          <a:spcPct val="114000"/>
                        </a:lnSpc>
                        <a:spcAft>
                          <a:spcPts val="600"/>
                        </a:spcAft>
                        <a:buFont typeface="Arial" panose="020B0604020202020204" pitchFamily="34" charset="0"/>
                        <a:buChar char="•"/>
                      </a:pPr>
                      <a:r>
                        <a:rPr lang="en-US" sz="1000" b="0" baseline="0" dirty="0">
                          <a:solidFill>
                            <a:schemeClr val="tx1"/>
                          </a:solidFill>
                        </a:rPr>
                        <a:t>The Average Bulk Supply Tariff in Bangladesh has only been increased twice between March 2014 and March 2020</a:t>
                      </a:r>
                    </a:p>
                    <a:p>
                      <a:pPr marL="171450" indent="-171450" algn="just">
                        <a:lnSpc>
                          <a:spcPct val="114000"/>
                        </a:lnSpc>
                        <a:spcAft>
                          <a:spcPts val="600"/>
                        </a:spcAft>
                        <a:buFont typeface="Arial" panose="020B0604020202020204" pitchFamily="34" charset="0"/>
                        <a:buChar char="•"/>
                      </a:pPr>
                      <a:r>
                        <a:rPr lang="en-US" sz="1000" b="0" baseline="0" dirty="0">
                          <a:solidFill>
                            <a:schemeClr val="tx1"/>
                          </a:solidFill>
                        </a:rPr>
                        <a:t>The tariffs for Bulk Supply are set for each distribution utility in Bangladesh by BERC and BPDB supplies power at that particular rate</a:t>
                      </a:r>
                    </a:p>
                    <a:p>
                      <a:pPr marL="171450" indent="-171450" algn="just">
                        <a:lnSpc>
                          <a:spcPct val="114000"/>
                        </a:lnSpc>
                        <a:spcAft>
                          <a:spcPts val="600"/>
                        </a:spcAft>
                        <a:buFont typeface="Arial" panose="020B0604020202020204" pitchFamily="34" charset="0"/>
                        <a:buChar char="•"/>
                      </a:pPr>
                      <a:r>
                        <a:rPr lang="en-US" sz="1000" b="0" baseline="0" dirty="0">
                          <a:solidFill>
                            <a:schemeClr val="tx1"/>
                          </a:solidFill>
                        </a:rPr>
                        <a:t>The average bulk supply rate for the utilities has been shown on the graph on the right (above) and currently stands at BDT 5.17 / kWh</a:t>
                      </a:r>
                    </a:p>
                    <a:p>
                      <a:pPr marL="171450" indent="-171450" algn="just">
                        <a:lnSpc>
                          <a:spcPct val="114000"/>
                        </a:lnSpc>
                        <a:spcAft>
                          <a:spcPts val="600"/>
                        </a:spcAft>
                        <a:buFont typeface="Arial" panose="020B0604020202020204" pitchFamily="34" charset="0"/>
                        <a:buChar char="•"/>
                      </a:pPr>
                      <a:endParaRPr lang="en-US" sz="1000" b="0" baseline="0" dirty="0">
                        <a:solidFill>
                          <a:schemeClr val="tx1"/>
                        </a:solidFill>
                      </a:endParaRPr>
                    </a:p>
                    <a:p>
                      <a:pPr marL="0" indent="0" algn="just" defTabSz="990571" rtl="0" eaLnBrk="1" latinLnBrk="0" hangingPunct="1">
                        <a:lnSpc>
                          <a:spcPct val="114000"/>
                        </a:lnSpc>
                        <a:spcAft>
                          <a:spcPts val="500"/>
                        </a:spcAft>
                        <a:buFont typeface="Arial" panose="020B0604020202020204" pitchFamily="34" charset="0"/>
                        <a:buNone/>
                      </a:pPr>
                      <a:r>
                        <a:rPr lang="en-US" sz="1000" b="1" kern="1200" baseline="0" dirty="0">
                          <a:solidFill>
                            <a:schemeClr val="tx1"/>
                          </a:solidFill>
                          <a:latin typeface="+mn-lt"/>
                          <a:ea typeface="+mn-ea"/>
                          <a:cs typeface="+mn-cs"/>
                        </a:rPr>
                        <a:t>Retail Supply Tariff (RST)</a:t>
                      </a:r>
                    </a:p>
                    <a:p>
                      <a:pPr marL="171450" indent="-171450" algn="just" defTabSz="990571" rtl="0" eaLnBrk="1" latinLnBrk="0" hangingPunct="1">
                        <a:lnSpc>
                          <a:spcPct val="114000"/>
                        </a:lnSpc>
                        <a:spcAft>
                          <a:spcPts val="600"/>
                        </a:spcAft>
                        <a:buFont typeface="Arial" panose="020B0604020202020204" pitchFamily="34" charset="0"/>
                        <a:buChar char="•"/>
                      </a:pPr>
                      <a:r>
                        <a:rPr lang="en-US" sz="1000" b="0" kern="1200" baseline="0" dirty="0">
                          <a:solidFill>
                            <a:schemeClr val="tx1"/>
                          </a:solidFill>
                          <a:latin typeface="+mn-lt"/>
                          <a:ea typeface="+mn-ea"/>
                          <a:cs typeface="+mn-cs"/>
                        </a:rPr>
                        <a:t>The average retail supply tariffs have been hiked at a higher frequency and quantum compared to Bulk Supply tariffs in the last years</a:t>
                      </a:r>
                    </a:p>
                    <a:p>
                      <a:pPr marL="171450" indent="-171450" algn="just" defTabSz="990571" rtl="0" eaLnBrk="1" latinLnBrk="0" hangingPunct="1">
                        <a:lnSpc>
                          <a:spcPct val="114000"/>
                        </a:lnSpc>
                        <a:spcAft>
                          <a:spcPts val="600"/>
                        </a:spcAft>
                        <a:buFont typeface="Arial" panose="020B0604020202020204" pitchFamily="34" charset="0"/>
                        <a:buChar char="•"/>
                      </a:pPr>
                      <a:r>
                        <a:rPr lang="en-US" sz="1000" b="0" kern="1200" baseline="0" dirty="0">
                          <a:solidFill>
                            <a:schemeClr val="tx1"/>
                          </a:solidFill>
                          <a:latin typeface="+mn-lt"/>
                          <a:ea typeface="+mn-ea"/>
                          <a:cs typeface="+mn-cs"/>
                        </a:rPr>
                        <a:t>The cost of supply increase for </a:t>
                      </a:r>
                    </a:p>
                    <a:p>
                      <a:pPr marL="171450" indent="-171450" algn="just" defTabSz="990571" rtl="0" eaLnBrk="1" latinLnBrk="0" hangingPunct="1">
                        <a:lnSpc>
                          <a:spcPct val="114000"/>
                        </a:lnSpc>
                        <a:spcAft>
                          <a:spcPts val="600"/>
                        </a:spcAft>
                        <a:buFont typeface="Arial" panose="020B0604020202020204" pitchFamily="34" charset="0"/>
                        <a:buChar char="•"/>
                      </a:pPr>
                      <a:r>
                        <a:rPr lang="en-US" sz="1000" b="0" kern="1200" baseline="0" dirty="0">
                          <a:solidFill>
                            <a:schemeClr val="tx1"/>
                          </a:solidFill>
                          <a:latin typeface="+mn-lt"/>
                          <a:ea typeface="+mn-ea"/>
                          <a:cs typeface="+mn-cs"/>
                        </a:rPr>
                        <a:t>The increase in tariffs has also led to an improvement in the financial performance of the </a:t>
                      </a:r>
                      <a:r>
                        <a:rPr lang="en-US" sz="1000" b="0" kern="1200" baseline="0" dirty="0" err="1">
                          <a:solidFill>
                            <a:schemeClr val="tx1"/>
                          </a:solidFill>
                          <a:latin typeface="+mn-lt"/>
                          <a:ea typeface="+mn-ea"/>
                          <a:cs typeface="+mn-cs"/>
                        </a:rPr>
                        <a:t>discoms</a:t>
                      </a:r>
                      <a:endParaRPr lang="en-US" sz="1000" b="0" kern="1200" baseline="0" dirty="0">
                        <a:solidFill>
                          <a:schemeClr val="tx1"/>
                        </a:solidFill>
                        <a:latin typeface="+mn-lt"/>
                        <a:ea typeface="+mn-ea"/>
                        <a:cs typeface="+mn-cs"/>
                      </a:endParaRPr>
                    </a:p>
                    <a:p>
                      <a:pPr marL="171450" indent="-171450" algn="just">
                        <a:lnSpc>
                          <a:spcPct val="114000"/>
                        </a:lnSpc>
                        <a:spcAft>
                          <a:spcPts val="600"/>
                        </a:spcAft>
                        <a:buFont typeface="Arial" panose="020B0604020202020204" pitchFamily="34" charset="0"/>
                        <a:buChar char="•"/>
                      </a:pPr>
                      <a:r>
                        <a:rPr lang="en-US" sz="1000" b="0" baseline="0" dirty="0">
                          <a:solidFill>
                            <a:schemeClr val="tx1"/>
                          </a:solidFill>
                        </a:rPr>
                        <a:t>Considering the increase of imported fuel based power generation (LNG, Coal) as well as Power Import from India, the Bulk Supply Cost of BPDB is expected to increase substantially (refer</a:t>
                      </a:r>
                      <a:r>
                        <a:rPr lang="en-US" sz="1000" b="0" baseline="0" dirty="0">
                          <a:solidFill>
                            <a:srgbClr val="FF0000"/>
                          </a:solidFill>
                        </a:rPr>
                        <a:t> </a:t>
                      </a:r>
                      <a:r>
                        <a:rPr lang="en-US" sz="1000" b="0" baseline="0" dirty="0">
                          <a:solidFill>
                            <a:srgbClr val="FF0000"/>
                          </a:solidFill>
                          <a:hlinkClick r:id="rId26" action="ppaction://hlinksldjump"/>
                        </a:rPr>
                        <a:t>Slide</a:t>
                      </a:r>
                      <a:r>
                        <a:rPr lang="en-US" sz="1000" b="0" baseline="0" dirty="0">
                          <a:solidFill>
                            <a:schemeClr val="tx1"/>
                          </a:solidFill>
                        </a:rPr>
                        <a:t>)</a:t>
                      </a:r>
                    </a:p>
                    <a:p>
                      <a:pPr marL="171450" indent="-171450" algn="just">
                        <a:lnSpc>
                          <a:spcPct val="114000"/>
                        </a:lnSpc>
                        <a:spcAft>
                          <a:spcPts val="600"/>
                        </a:spcAft>
                        <a:buFont typeface="Arial" panose="020B0604020202020204" pitchFamily="34" charset="0"/>
                        <a:buChar char="•"/>
                      </a:pPr>
                      <a:r>
                        <a:rPr lang="en-US" sz="1000" b="0" baseline="0" dirty="0">
                          <a:solidFill>
                            <a:schemeClr val="tx1"/>
                          </a:solidFill>
                        </a:rPr>
                        <a:t>This increase in the payment obligations of BPDB may require an increasing trend in tariff hikes at both BST and RST levels in Bangladesh</a:t>
                      </a:r>
                    </a:p>
                    <a:p>
                      <a:pPr marL="171450" indent="-171450" algn="just" defTabSz="990571" rtl="0" eaLnBrk="1" latinLnBrk="0" hangingPunct="1">
                        <a:lnSpc>
                          <a:spcPct val="114000"/>
                        </a:lnSpc>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7"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dirty="0">
                <a:solidFill>
                  <a:prstClr val="black">
                    <a:lumMod val="50000"/>
                    <a:lumOff val="50000"/>
                  </a:prstClr>
                </a:solidFill>
                <a:latin typeface="Verdana" panose="020B0604030504040204" pitchFamily="34" charset="0"/>
              </a:rPr>
              <a:t>Historically the annual average tariff hikes in Bangladesh has been kept at ~1.7 to ~2.5%; The increasing reliance of imported fuel  based generation in Bangladesh is expected to lead to an increasing trend in the frequency &amp; quantum of tariff hikes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73" name="Chart 72"/>
          <p:cNvGraphicFramePr/>
          <p:nvPr>
            <p:custDataLst>
              <p:tags r:id="rId5"/>
            </p:custDataLst>
            <p:extLst>
              <p:ext uri="{D42A27DB-BD31-4B8C-83A1-F6EECF244321}">
                <p14:modId xmlns:p14="http://schemas.microsoft.com/office/powerpoint/2010/main" val="4065812355"/>
              </p:ext>
            </p:extLst>
          </p:nvPr>
        </p:nvGraphicFramePr>
        <p:xfrm>
          <a:off x="5430838" y="2587625"/>
          <a:ext cx="4892675" cy="1450975"/>
        </p:xfrm>
        <a:graphic>
          <a:graphicData uri="http://schemas.openxmlformats.org/drawingml/2006/chart">
            <c:chart xmlns:c="http://schemas.openxmlformats.org/drawingml/2006/chart" xmlns:r="http://schemas.openxmlformats.org/officeDocument/2006/relationships" r:id="rId27"/>
          </a:graphicData>
        </a:graphic>
      </p:graphicFrame>
      <p:cxnSp>
        <p:nvCxnSpPr>
          <p:cNvPr id="70" name="Straight Connector 69"/>
          <p:cNvCxnSpPr/>
          <p:nvPr>
            <p:custDataLst>
              <p:tags r:id="rId6"/>
            </p:custDataLst>
          </p:nvPr>
        </p:nvCxnSpPr>
        <p:spPr bwMode="auto">
          <a:xfrm flipV="1">
            <a:off x="6103938" y="2505075"/>
            <a:ext cx="3546475" cy="112713"/>
          </a:xfrm>
          <a:prstGeom prst="line">
            <a:avLst/>
          </a:prstGeom>
          <a:ln w="6350" cap="flat" cmpd="sng" algn="ctr">
            <a:solidFill>
              <a:schemeClr val="tx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 name="StandardTextbox"/>
          <p:cNvSpPr>
            <a:spLocks noGrp="1"/>
          </p:cNvSpPr>
          <p:nvPr>
            <p:custDataLst>
              <p:tags r:id="rId7"/>
            </p:custDataLst>
          </p:nvPr>
        </p:nvSpPr>
        <p:spPr bwMode="auto">
          <a:xfrm>
            <a:off x="5870575" y="4041775"/>
            <a:ext cx="4683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0334F16-0235-4525-96A1-58D60D93D04F}" type="datetime'''M''''''''ar-''''''''''''''''''''''1''4'''''''">
              <a:rPr lang="en-IN" altLang="en-US" b="0" smtClean="0"/>
              <a:pPr lvl="1" algn="ctr">
                <a:spcBef>
                  <a:spcPct val="0"/>
                </a:spcBef>
                <a:spcAft>
                  <a:spcPct val="0"/>
                </a:spcAft>
              </a:pPr>
              <a:t>Mar-14</a:t>
            </a:fld>
            <a:endParaRPr lang="en-IN" b="0" noProof="0" dirty="0">
              <a:sym typeface="+mn-lt"/>
            </a:endParaRPr>
          </a:p>
        </p:txBody>
      </p:sp>
      <p:sp>
        <p:nvSpPr>
          <p:cNvPr id="24" name="StandardTextbox"/>
          <p:cNvSpPr>
            <a:spLocks noGrp="1"/>
          </p:cNvSpPr>
          <p:nvPr>
            <p:custDataLst>
              <p:tags r:id="rId8"/>
            </p:custDataLst>
          </p:nvPr>
        </p:nvSpPr>
        <p:spPr bwMode="auto">
          <a:xfrm>
            <a:off x="7050088" y="4041775"/>
            <a:ext cx="4746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6EA063C-CAB2-4374-86BC-F46ED263DCF3}" type="datetime'''''''Se''''''p''''-1''''''''''''''''''''''''''''''5'''''''''">
              <a:rPr lang="en-IN" altLang="en-US" b="0" smtClean="0"/>
              <a:pPr lvl="1" algn="ctr">
                <a:spcBef>
                  <a:spcPct val="0"/>
                </a:spcBef>
                <a:spcAft>
                  <a:spcPct val="0"/>
                </a:spcAft>
              </a:pPr>
              <a:t>Sep-15</a:t>
            </a:fld>
            <a:endParaRPr lang="en-IN" b="0" noProof="0" dirty="0">
              <a:sym typeface="+mn-lt"/>
            </a:endParaRPr>
          </a:p>
        </p:txBody>
      </p:sp>
      <p:sp>
        <p:nvSpPr>
          <p:cNvPr id="25" name="StandardTextbox"/>
          <p:cNvSpPr>
            <a:spLocks noGrp="1"/>
          </p:cNvSpPr>
          <p:nvPr>
            <p:custDataLst>
              <p:tags r:id="rId9"/>
            </p:custDataLst>
          </p:nvPr>
        </p:nvSpPr>
        <p:spPr bwMode="auto">
          <a:xfrm>
            <a:off x="8231188" y="4041775"/>
            <a:ext cx="47307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96167A7-A1DB-4116-BD82-664564DF7870}" type="datetime'D''ec-''''''''''''''''''''''17'">
              <a:rPr lang="en-IN" altLang="en-US" b="0" smtClean="0"/>
              <a:pPr lvl="1" algn="ctr">
                <a:spcBef>
                  <a:spcPct val="0"/>
                </a:spcBef>
                <a:spcAft>
                  <a:spcPct val="0"/>
                </a:spcAft>
              </a:pPr>
              <a:t>Dec-17</a:t>
            </a:fld>
            <a:endParaRPr lang="en-IN" b="0" noProof="0" dirty="0">
              <a:sym typeface="+mn-lt"/>
            </a:endParaRPr>
          </a:p>
        </p:txBody>
      </p:sp>
      <p:sp>
        <p:nvSpPr>
          <p:cNvPr id="29" name="StandardTextbox"/>
          <p:cNvSpPr>
            <a:spLocks noGrp="1"/>
          </p:cNvSpPr>
          <p:nvPr>
            <p:custDataLst>
              <p:tags r:id="rId10"/>
            </p:custDataLst>
          </p:nvPr>
        </p:nvSpPr>
        <p:spPr bwMode="auto">
          <a:xfrm>
            <a:off x="9417050" y="4041775"/>
            <a:ext cx="4683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60F3983-9BBA-46BC-B605-2B9E59047D35}" type="datetime'''''''''''''''''''''''''''''M''''ar''-20'''''''''''">
              <a:rPr lang="en-IN" altLang="en-US" b="0" smtClean="0"/>
              <a:pPr lvl="1" algn="ctr">
                <a:spcBef>
                  <a:spcPct val="0"/>
                </a:spcBef>
                <a:spcAft>
                  <a:spcPct val="0"/>
                </a:spcAft>
              </a:pPr>
              <a:t>Mar-20</a:t>
            </a:fld>
            <a:endParaRPr lang="en-IN" b="0" noProof="0" dirty="0">
              <a:sym typeface="+mn-lt"/>
            </a:endParaRPr>
          </a:p>
        </p:txBody>
      </p:sp>
      <p:sp>
        <p:nvSpPr>
          <p:cNvPr id="69" name="StandardTextbox"/>
          <p:cNvSpPr>
            <a:spLocks noGrp="1"/>
          </p:cNvSpPr>
          <p:nvPr>
            <p:custDataLst>
              <p:tags r:id="rId11"/>
            </p:custDataLst>
          </p:nvPr>
        </p:nvSpPr>
        <p:spPr bwMode="auto">
          <a:xfrm>
            <a:off x="7602538" y="2452688"/>
            <a:ext cx="550863" cy="215900"/>
          </a:xfrm>
          <a:prstGeom prst="ellipse">
            <a:avLst/>
          </a:prstGeom>
          <a:solidFill>
            <a:srgbClr val="FFFFFF"/>
          </a:solidFill>
          <a:ln w="9525" algn="ctr">
            <a:solidFill>
              <a:schemeClr val="tx1"/>
            </a:solidFill>
          </a:ln>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D33DF869-56C0-400A-8047-B3259DA6B339}" type="datetime'''''''''''1''''''.7''''''''''''''''%'''''''''''''''''''''">
              <a:rPr lang="en-IN" altLang="en-US" smtClean="0"/>
              <a:pPr lvl="1" algn="ctr">
                <a:spcBef>
                  <a:spcPct val="0"/>
                </a:spcBef>
                <a:spcAft>
                  <a:spcPct val="0"/>
                </a:spcAft>
              </a:pPr>
              <a:t>1.7%</a:t>
            </a:fld>
            <a:endParaRPr lang="en-IN" noProof="0" dirty="0">
              <a:sym typeface="+mn-lt"/>
            </a:endParaRPr>
          </a:p>
        </p:txBody>
      </p:sp>
      <p:sp>
        <p:nvSpPr>
          <p:cNvPr id="65" name="Rectangle 64"/>
          <p:cNvSpPr/>
          <p:nvPr>
            <p:custDataLst>
              <p:tags r:id="rId12"/>
            </p:custDataLst>
          </p:nvPr>
        </p:nvSpPr>
        <p:spPr bwMode="auto">
          <a:xfrm>
            <a:off x="6940550" y="4341813"/>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5" name="StandardTextbox"/>
          <p:cNvSpPr>
            <a:spLocks noGrp="1"/>
          </p:cNvSpPr>
          <p:nvPr>
            <p:custDataLst>
              <p:tags r:id="rId13"/>
            </p:custDataLst>
          </p:nvPr>
        </p:nvSpPr>
        <p:spPr bwMode="auto">
          <a:xfrm>
            <a:off x="7170738" y="4337050"/>
            <a:ext cx="17033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0AFB0D35-C3DD-4A5E-9229-171DD5C8EF24}" type="datetime'''''A''ver''a''ge ''''''B''''ul''k ''''Sup''ply Ta''''''riff'">
              <a:rPr lang="en-IN" altLang="en-US" b="0" smtClean="0"/>
              <a:pPr lvl="1">
                <a:spcBef>
                  <a:spcPct val="0"/>
                </a:spcBef>
                <a:spcAft>
                  <a:spcPct val="0"/>
                </a:spcAft>
              </a:pPr>
              <a:t>Average Bulk Supply Tariff</a:t>
            </a:fld>
            <a:endParaRPr lang="en-IN" b="0" noProof="0" dirty="0">
              <a:sym typeface="+mn-lt"/>
            </a:endParaRPr>
          </a:p>
        </p:txBody>
      </p:sp>
      <p:graphicFrame>
        <p:nvGraphicFramePr>
          <p:cNvPr id="88" name="Chart 87"/>
          <p:cNvGraphicFramePr/>
          <p:nvPr>
            <p:custDataLst>
              <p:tags r:id="rId14"/>
            </p:custDataLst>
            <p:extLst>
              <p:ext uri="{D42A27DB-BD31-4B8C-83A1-F6EECF244321}">
                <p14:modId xmlns:p14="http://schemas.microsoft.com/office/powerpoint/2010/main" val="3001094427"/>
              </p:ext>
            </p:extLst>
          </p:nvPr>
        </p:nvGraphicFramePr>
        <p:xfrm>
          <a:off x="5430838" y="5275263"/>
          <a:ext cx="4892675" cy="1450975"/>
        </p:xfrm>
        <a:graphic>
          <a:graphicData uri="http://schemas.openxmlformats.org/drawingml/2006/chart">
            <c:chart xmlns:c="http://schemas.openxmlformats.org/drawingml/2006/chart" xmlns:r="http://schemas.openxmlformats.org/officeDocument/2006/relationships" r:id="rId28"/>
          </a:graphicData>
        </a:graphic>
      </p:graphicFrame>
      <p:cxnSp>
        <p:nvCxnSpPr>
          <p:cNvPr id="75" name="Straight Connector 74"/>
          <p:cNvCxnSpPr/>
          <p:nvPr>
            <p:custDataLst>
              <p:tags r:id="rId15"/>
            </p:custDataLst>
          </p:nvPr>
        </p:nvCxnSpPr>
        <p:spPr bwMode="auto">
          <a:xfrm flipV="1">
            <a:off x="6103938" y="5189538"/>
            <a:ext cx="3546475" cy="160338"/>
          </a:xfrm>
          <a:prstGeom prst="line">
            <a:avLst/>
          </a:prstGeom>
          <a:ln w="6350" cap="flat" cmpd="sng" algn="ctr">
            <a:solidFill>
              <a:schemeClr val="tx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9" name="StandardTextbox"/>
          <p:cNvSpPr>
            <a:spLocks noGrp="1"/>
          </p:cNvSpPr>
          <p:nvPr>
            <p:custDataLst>
              <p:tags r:id="rId16"/>
            </p:custDataLst>
          </p:nvPr>
        </p:nvSpPr>
        <p:spPr bwMode="auto">
          <a:xfrm>
            <a:off x="9417050" y="6729413"/>
            <a:ext cx="4683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C9BE0E6-D7E2-485D-999D-067278BFA2A4}" type="datetime'''''''''M''''''a''''r''''''''''''-''''''''2''''''''''''''0'''">
              <a:rPr lang="en-IN" altLang="en-US" b="0" smtClean="0"/>
              <a:pPr lvl="1" algn="ctr">
                <a:spcBef>
                  <a:spcPct val="0"/>
                </a:spcBef>
                <a:spcAft>
                  <a:spcPct val="0"/>
                </a:spcAft>
              </a:pPr>
              <a:t>Mar-20</a:t>
            </a:fld>
            <a:endParaRPr lang="en-IN" b="0" noProof="0" dirty="0">
              <a:sym typeface="+mn-lt"/>
            </a:endParaRPr>
          </a:p>
        </p:txBody>
      </p:sp>
      <p:sp>
        <p:nvSpPr>
          <p:cNvPr id="76" name="StandardTextbox"/>
          <p:cNvSpPr>
            <a:spLocks noGrp="1"/>
          </p:cNvSpPr>
          <p:nvPr>
            <p:custDataLst>
              <p:tags r:id="rId17"/>
            </p:custDataLst>
          </p:nvPr>
        </p:nvSpPr>
        <p:spPr bwMode="auto">
          <a:xfrm>
            <a:off x="5870575" y="6729413"/>
            <a:ext cx="4683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3600ECF-7A55-481A-AA4C-42B73B6932A6}" type="datetime'''M''ar''''''''-''''''''1''''''''''''''''''''''''4'''''''''''">
              <a:rPr lang="en-IN" altLang="en-US" b="0" smtClean="0"/>
              <a:pPr lvl="1" algn="ctr">
                <a:spcBef>
                  <a:spcPct val="0"/>
                </a:spcBef>
                <a:spcAft>
                  <a:spcPct val="0"/>
                </a:spcAft>
              </a:pPr>
              <a:t>Mar-14</a:t>
            </a:fld>
            <a:endParaRPr lang="en-IN" b="0" noProof="0" dirty="0">
              <a:sym typeface="+mn-lt"/>
            </a:endParaRPr>
          </a:p>
        </p:txBody>
      </p:sp>
      <p:sp>
        <p:nvSpPr>
          <p:cNvPr id="77" name="StandardTextbox"/>
          <p:cNvSpPr>
            <a:spLocks noGrp="1"/>
          </p:cNvSpPr>
          <p:nvPr>
            <p:custDataLst>
              <p:tags r:id="rId18"/>
            </p:custDataLst>
          </p:nvPr>
        </p:nvSpPr>
        <p:spPr bwMode="auto">
          <a:xfrm>
            <a:off x="7050088" y="6729413"/>
            <a:ext cx="4746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77B6F2D-FA5B-46D9-BA5B-8282B73810E6}" type="datetime'S''''''''''''''''e''''''''p''''-''1''''5'''''''">
              <a:rPr lang="en-IN" altLang="en-US" b="0" smtClean="0"/>
              <a:pPr lvl="1" algn="ctr">
                <a:spcBef>
                  <a:spcPct val="0"/>
                </a:spcBef>
                <a:spcAft>
                  <a:spcPct val="0"/>
                </a:spcAft>
              </a:pPr>
              <a:t>Sep-15</a:t>
            </a:fld>
            <a:endParaRPr lang="en-IN" b="0" noProof="0" dirty="0">
              <a:sym typeface="+mn-lt"/>
            </a:endParaRPr>
          </a:p>
        </p:txBody>
      </p:sp>
      <p:sp>
        <p:nvSpPr>
          <p:cNvPr id="78" name="StandardTextbox"/>
          <p:cNvSpPr>
            <a:spLocks noGrp="1"/>
          </p:cNvSpPr>
          <p:nvPr>
            <p:custDataLst>
              <p:tags r:id="rId19"/>
            </p:custDataLst>
          </p:nvPr>
        </p:nvSpPr>
        <p:spPr bwMode="auto">
          <a:xfrm>
            <a:off x="8231188" y="6729413"/>
            <a:ext cx="47307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C91751A-A958-4314-A8D6-D95339091217}" type="datetime'''''''''D''''''''''''''e''''c''''''''''-1''''7'''''''''''''''">
              <a:rPr lang="en-IN" altLang="en-US" b="0" smtClean="0"/>
              <a:pPr lvl="1" algn="ctr">
                <a:spcBef>
                  <a:spcPct val="0"/>
                </a:spcBef>
                <a:spcAft>
                  <a:spcPct val="0"/>
                </a:spcAft>
              </a:pPr>
              <a:t>Dec-17</a:t>
            </a:fld>
            <a:endParaRPr lang="en-IN" b="0" noProof="0" dirty="0">
              <a:sym typeface="+mn-lt"/>
            </a:endParaRPr>
          </a:p>
        </p:txBody>
      </p:sp>
      <p:sp>
        <p:nvSpPr>
          <p:cNvPr id="80" name="StandardTextbox"/>
          <p:cNvSpPr>
            <a:spLocks noGrp="1"/>
          </p:cNvSpPr>
          <p:nvPr>
            <p:custDataLst>
              <p:tags r:id="rId20"/>
            </p:custDataLst>
          </p:nvPr>
        </p:nvSpPr>
        <p:spPr bwMode="auto">
          <a:xfrm>
            <a:off x="7602539" y="5160963"/>
            <a:ext cx="550863" cy="215900"/>
          </a:xfrm>
          <a:prstGeom prst="ellipse">
            <a:avLst/>
          </a:prstGeom>
          <a:solidFill>
            <a:srgbClr val="FFFFFF"/>
          </a:solidFill>
          <a:ln w="9525" algn="ctr">
            <a:solidFill>
              <a:schemeClr val="tx1"/>
            </a:solidFill>
          </a:ln>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41C4CF7-CE19-4DA0-BBE4-BCFD9371D06E}" type="datetime'''''''''''''''2.5''''''''''''''%'''">
              <a:rPr lang="en-IN" altLang="en-US" smtClean="0"/>
              <a:pPr lvl="1" algn="ctr">
                <a:spcBef>
                  <a:spcPct val="0"/>
                </a:spcBef>
                <a:spcAft>
                  <a:spcPct val="0"/>
                </a:spcAft>
              </a:pPr>
              <a:t>2.5%</a:t>
            </a:fld>
            <a:endParaRPr lang="en-IN" noProof="0" dirty="0">
              <a:sym typeface="+mn-lt"/>
            </a:endParaRPr>
          </a:p>
        </p:txBody>
      </p:sp>
      <p:sp>
        <p:nvSpPr>
          <p:cNvPr id="81" name="Rectangle 80"/>
          <p:cNvSpPr/>
          <p:nvPr>
            <p:custDataLst>
              <p:tags r:id="rId21"/>
            </p:custDataLst>
          </p:nvPr>
        </p:nvSpPr>
        <p:spPr bwMode="auto">
          <a:xfrm>
            <a:off x="6940550" y="7029450"/>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82" name="StandardTextbox"/>
          <p:cNvSpPr>
            <a:spLocks noGrp="1"/>
          </p:cNvSpPr>
          <p:nvPr>
            <p:custDataLst>
              <p:tags r:id="rId22"/>
            </p:custDataLst>
          </p:nvPr>
        </p:nvSpPr>
        <p:spPr bwMode="auto">
          <a:xfrm>
            <a:off x="7170738" y="7024688"/>
            <a:ext cx="17875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4A96CC84-51D9-45A0-B59A-06355402C71D}" type="datetime'A''vera''ge Ret''ail ''Su''''''p''''''''''ply Tar''i''''ff'''">
              <a:rPr lang="en-IN" altLang="en-US" b="0" smtClean="0"/>
              <a:pPr lvl="1">
                <a:spcBef>
                  <a:spcPct val="0"/>
                </a:spcBef>
                <a:spcAft>
                  <a:spcPct val="0"/>
                </a:spcAft>
              </a:pPr>
              <a:t>Average Retail Supply Tariff</a:t>
            </a:fld>
            <a:endParaRPr lang="en-IN" b="0" noProof="0" dirty="0">
              <a:sym typeface="+mn-lt"/>
            </a:endParaRPr>
          </a:p>
        </p:txBody>
      </p:sp>
      <p:sp>
        <p:nvSpPr>
          <p:cNvPr id="106" name="Rectangle 105"/>
          <p:cNvSpPr/>
          <p:nvPr/>
        </p:nvSpPr>
        <p:spPr bwMode="gray">
          <a:xfrm>
            <a:off x="377227" y="7260740"/>
            <a:ext cx="9997262" cy="192573"/>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Deloitte</a:t>
            </a:r>
            <a:r>
              <a:rPr kumimoji="0" lang="en-US" sz="700" b="0" i="1" u="none" strike="noStrike" kern="1200" cap="none" spc="0" normalizeH="0" noProof="0" dirty="0">
                <a:ln>
                  <a:noFill/>
                </a:ln>
                <a:solidFill>
                  <a:prstClr val="black"/>
                </a:solidFill>
                <a:effectLst/>
                <a:uLnTx/>
                <a:uFillTx/>
                <a:latin typeface="Verdana"/>
                <a:ea typeface="+mn-ea"/>
                <a:cs typeface="+mn-cs"/>
              </a:rPr>
              <a:t> Analysis</a:t>
            </a:r>
            <a:endParaRPr kumimoji="0" lang="en-US" sz="700" b="0" i="1"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3244151941"/>
      </p:ext>
    </p:extLst>
  </p:cSld>
  <p:clrMapOvr>
    <a:masterClrMapping/>
  </p:clrMapOvr>
  <p:transition>
    <p:fade/>
  </p:transition>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423538534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0" imgW="530" imgH="531" progId="TCLayout.ActiveDocument.1">
                  <p:embed/>
                </p:oleObj>
              </mc:Choice>
              <mc:Fallback>
                <p:oleObj name="think-cell Slide" r:id="rId30" imgW="530" imgH="531" progId="TCLayout.ActiveDocument.1">
                  <p:embed/>
                  <p:pic>
                    <p:nvPicPr>
                      <p:cNvPr id="4" name="Object 3" hidden="1"/>
                      <p:cNvPicPr/>
                      <p:nvPr/>
                    </p:nvPicPr>
                    <p:blipFill>
                      <a:blip r:embed="rId31"/>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algn="ctr">
              <a:lnSpc>
                <a:spcPct val="106000"/>
              </a:lnSpc>
              <a:buFont typeface="Wingdings 2" pitchFamily="18" charset="2"/>
              <a:buNone/>
            </a:pPr>
            <a:endParaRPr lang="en-IN" sz="1000" dirty="0">
              <a:solidFill>
                <a:schemeClr val="bg1"/>
              </a:solidFill>
              <a:sym typeface="+mn-lt"/>
            </a:endParaRPr>
          </a:p>
        </p:txBody>
      </p:sp>
      <p:sp>
        <p:nvSpPr>
          <p:cNvPr id="2" name="Title 1"/>
          <p:cNvSpPr>
            <a:spLocks noGrp="1"/>
          </p:cNvSpPr>
          <p:nvPr>
            <p:ph type="title"/>
          </p:nvPr>
        </p:nvSpPr>
        <p:spPr/>
        <p:txBody>
          <a:bodyPr/>
          <a:lstStyle/>
          <a:p>
            <a:r>
              <a:rPr lang="en-US" dirty="0"/>
              <a:t>Assessment of Distribution Utility Profitability | </a:t>
            </a:r>
            <a:r>
              <a:rPr lang="en-US" dirty="0" err="1"/>
              <a:t>Discom</a:t>
            </a:r>
            <a:r>
              <a:rPr lang="en-US" dirty="0"/>
              <a:t> Credit Assessment</a:t>
            </a:r>
            <a:endParaRPr lang="en-IN" dirty="0"/>
          </a:p>
        </p:txBody>
      </p:sp>
      <p:sp>
        <p:nvSpPr>
          <p:cNvPr id="5"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Most of the </a:t>
            </a:r>
            <a:r>
              <a:rPr kumimoji="0" lang="en-US" sz="1400" b="1" i="0" u="none" strike="noStrike" kern="1200" cap="none" spc="0" normalizeH="0" baseline="0" noProof="0" dirty="0" err="1">
                <a:ln>
                  <a:noFill/>
                </a:ln>
                <a:solidFill>
                  <a:prstClr val="black">
                    <a:lumMod val="50000"/>
                    <a:lumOff val="50000"/>
                  </a:prstClr>
                </a:solidFill>
                <a:effectLst/>
                <a:uLnTx/>
                <a:uFillTx/>
                <a:latin typeface="Verdana" panose="020B0604030504040204" pitchFamily="34" charset="0"/>
                <a:ea typeface="+mn-ea"/>
                <a:cs typeface="+mn-cs"/>
              </a:rPr>
              <a:t>discoms</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in Bangladesh are profitable due to the Government increasing retail tariffs periodically while bulk supply tariffs were kept same between FY15 to FY19</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6" name="Table 5"/>
          <p:cNvGraphicFramePr>
            <a:graphicFrameLocks noGrp="1"/>
          </p:cNvGraphicFramePr>
          <p:nvPr>
            <p:custDataLst>
              <p:tags r:id="rId3"/>
            </p:custDataLst>
            <p:extLst>
              <p:ext uri="{D42A27DB-BD31-4B8C-83A1-F6EECF244321}">
                <p14:modId xmlns:p14="http://schemas.microsoft.com/office/powerpoint/2010/main" val="4219140111"/>
              </p:ext>
            </p:ext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Following graph shows the historical profitability of some of the </a:t>
                      </a:r>
                      <a:r>
                        <a:rPr lang="en-US" sz="1000" b="0" baseline="0" dirty="0" err="1">
                          <a:solidFill>
                            <a:schemeClr val="tx1"/>
                          </a:solidFill>
                        </a:rPr>
                        <a:t>discoms</a:t>
                      </a:r>
                      <a:r>
                        <a:rPr lang="en-US" sz="1000" b="0" baseline="0" dirty="0">
                          <a:solidFill>
                            <a:schemeClr val="tx1"/>
                          </a:solidFill>
                        </a:rPr>
                        <a:t> in Bangladesh in BDT </a:t>
                      </a:r>
                      <a:r>
                        <a:rPr lang="en-US" sz="1000" b="0" baseline="0" dirty="0" err="1">
                          <a:solidFill>
                            <a:schemeClr val="tx1"/>
                          </a:solidFill>
                        </a:rPr>
                        <a:t>Bn</a:t>
                      </a: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Following graph shows the historical profitability of some of the </a:t>
                      </a:r>
                      <a:r>
                        <a:rPr lang="en-US" sz="1000" b="0" baseline="0" dirty="0" err="1">
                          <a:solidFill>
                            <a:schemeClr val="tx1"/>
                          </a:solidFill>
                        </a:rPr>
                        <a:t>discoms</a:t>
                      </a:r>
                      <a:r>
                        <a:rPr lang="en-US" sz="1000" b="0" baseline="0" dirty="0">
                          <a:solidFill>
                            <a:schemeClr val="tx1"/>
                          </a:solidFill>
                        </a:rPr>
                        <a:t> in Bangladesh in BDT </a:t>
                      </a:r>
                      <a:r>
                        <a:rPr lang="en-US" sz="1000" b="0" baseline="0" dirty="0" err="1">
                          <a:solidFill>
                            <a:schemeClr val="tx1"/>
                          </a:solidFill>
                        </a:rPr>
                        <a:t>Mn</a:t>
                      </a: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7" name="Table 6"/>
          <p:cNvGraphicFramePr>
            <a:graphicFrameLocks noGrp="1"/>
          </p:cNvGraphicFramePr>
          <p:nvPr>
            <p:custDataLst>
              <p:tags r:id="rId4"/>
            </p:custDataLst>
            <p:extLst>
              <p:ext uri="{D42A27DB-BD31-4B8C-83A1-F6EECF244321}">
                <p14:modId xmlns:p14="http://schemas.microsoft.com/office/powerpoint/2010/main" val="1873907909"/>
              </p:ext>
            </p:ext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indent="0" algn="just">
                        <a:spcAft>
                          <a:spcPts val="500"/>
                        </a:spcAft>
                        <a:buFont typeface="Arial" panose="020B0604020202020204" pitchFamily="34" charset="0"/>
                        <a:buNone/>
                      </a:pPr>
                      <a:r>
                        <a:rPr lang="en-US" sz="1000" b="1" baseline="0" dirty="0">
                          <a:solidFill>
                            <a:schemeClr val="tx1"/>
                          </a:solidFill>
                        </a:rPr>
                        <a:t>Improving Profitability &amp; Net worth</a:t>
                      </a:r>
                    </a:p>
                    <a:p>
                      <a:pPr marL="171450" indent="-171450" algn="just">
                        <a:lnSpc>
                          <a:spcPct val="114000"/>
                        </a:lnSpc>
                        <a:spcAft>
                          <a:spcPts val="600"/>
                        </a:spcAft>
                        <a:buFont typeface="Arial" panose="020B0604020202020204" pitchFamily="34" charset="0"/>
                        <a:buChar char="•"/>
                      </a:pPr>
                      <a:r>
                        <a:rPr lang="en-US" sz="1000" b="0" baseline="0" dirty="0">
                          <a:solidFill>
                            <a:schemeClr val="tx1"/>
                          </a:solidFill>
                        </a:rPr>
                        <a:t>Most of the </a:t>
                      </a:r>
                      <a:r>
                        <a:rPr lang="en-US" sz="1000" b="0" baseline="0" dirty="0" err="1">
                          <a:solidFill>
                            <a:schemeClr val="tx1"/>
                          </a:solidFill>
                        </a:rPr>
                        <a:t>the</a:t>
                      </a:r>
                      <a:r>
                        <a:rPr lang="en-US" sz="1000" b="0" baseline="0" dirty="0">
                          <a:solidFill>
                            <a:schemeClr val="tx1"/>
                          </a:solidFill>
                        </a:rPr>
                        <a:t> power distribution utilities in Bangladesh excluding BPDB’s distribution business and WZPDCL have been posting Net Profits in the last 3 years</a:t>
                      </a:r>
                    </a:p>
                    <a:p>
                      <a:pPr marL="171450" indent="-171450" algn="just">
                        <a:lnSpc>
                          <a:spcPct val="114000"/>
                        </a:lnSpc>
                        <a:spcAft>
                          <a:spcPts val="600"/>
                        </a:spcAft>
                        <a:buFont typeface="Arial" panose="020B0604020202020204" pitchFamily="34" charset="0"/>
                        <a:buChar char="•"/>
                      </a:pPr>
                      <a:r>
                        <a:rPr lang="en-US" sz="1000" b="0" baseline="0" dirty="0">
                          <a:solidFill>
                            <a:schemeClr val="tx1"/>
                          </a:solidFill>
                        </a:rPr>
                        <a:t>The major reason for the increasing profits is the continued increase in Annual Retail Tariffs by BERC while the Bulk Supply Tariff were not increased between September 2015 till November 2020</a:t>
                      </a:r>
                    </a:p>
                    <a:p>
                      <a:pPr marL="171450" indent="-171450" algn="just">
                        <a:lnSpc>
                          <a:spcPct val="114000"/>
                        </a:lnSpc>
                        <a:spcAft>
                          <a:spcPts val="600"/>
                        </a:spcAft>
                        <a:buFont typeface="Arial" panose="020B0604020202020204" pitchFamily="34" charset="0"/>
                        <a:buChar char="•"/>
                      </a:pPr>
                      <a:r>
                        <a:rPr lang="en-US" sz="1000" b="0" baseline="0" dirty="0">
                          <a:solidFill>
                            <a:schemeClr val="tx1"/>
                          </a:solidFill>
                        </a:rPr>
                        <a:t>Although BPDB’s own distribution business is under net losses, it earned operating profit in FY2018 and FY2019 to the tune of ~BDT 372 </a:t>
                      </a:r>
                      <a:r>
                        <a:rPr lang="en-US" sz="1000" b="0" baseline="0" dirty="0" err="1">
                          <a:solidFill>
                            <a:schemeClr val="tx1"/>
                          </a:solidFill>
                        </a:rPr>
                        <a:t>Mn</a:t>
                      </a:r>
                      <a:r>
                        <a:rPr lang="en-US" sz="1000" b="0" baseline="0" dirty="0">
                          <a:solidFill>
                            <a:schemeClr val="tx1"/>
                          </a:solidFill>
                        </a:rPr>
                        <a:t> and BDT 483 </a:t>
                      </a:r>
                      <a:r>
                        <a:rPr lang="en-US" sz="1000" b="0" baseline="0" dirty="0" err="1">
                          <a:solidFill>
                            <a:schemeClr val="tx1"/>
                          </a:solidFill>
                        </a:rPr>
                        <a:t>Mn</a:t>
                      </a:r>
                      <a:r>
                        <a:rPr lang="en-US" sz="1000" b="0" baseline="0" dirty="0">
                          <a:solidFill>
                            <a:schemeClr val="tx1"/>
                          </a:solidFill>
                        </a:rPr>
                        <a:t> respectively</a:t>
                      </a:r>
                    </a:p>
                    <a:p>
                      <a:pPr marL="171450" indent="-171450" algn="just">
                        <a:lnSpc>
                          <a:spcPct val="114000"/>
                        </a:lnSpc>
                        <a:spcAft>
                          <a:spcPts val="600"/>
                        </a:spcAft>
                        <a:buFont typeface="Arial" panose="020B0604020202020204" pitchFamily="34" charset="0"/>
                        <a:buChar char="•"/>
                      </a:pPr>
                      <a:r>
                        <a:rPr lang="en-US" sz="1000" b="0" baseline="0" dirty="0">
                          <a:solidFill>
                            <a:schemeClr val="tx1"/>
                          </a:solidFill>
                        </a:rPr>
                        <a:t>The net worth of the distribution utilities also has been increasing due to improving financial performance with DPDC having the highest net worth among the utilities in comparison</a:t>
                      </a:r>
                    </a:p>
                    <a:p>
                      <a:pPr marL="171450" indent="-171450" algn="just">
                        <a:lnSpc>
                          <a:spcPct val="114000"/>
                        </a:lnSpc>
                        <a:spcAft>
                          <a:spcPts val="600"/>
                        </a:spcAft>
                        <a:buFont typeface="Arial" panose="020B0604020202020204" pitchFamily="34" charset="0"/>
                        <a:buChar char="•"/>
                      </a:pPr>
                      <a:r>
                        <a:rPr lang="en-US" sz="1000" b="0" baseline="0" dirty="0">
                          <a:solidFill>
                            <a:schemeClr val="tx1"/>
                          </a:solidFill>
                        </a:rPr>
                        <a:t>The Government of Bangladesh has been injecting regular equity in BPDB’s distribution business to offset its losses</a:t>
                      </a:r>
                    </a:p>
                    <a:p>
                      <a:pPr marL="171450" indent="-171450" algn="just">
                        <a:lnSpc>
                          <a:spcPct val="114000"/>
                        </a:lnSpc>
                        <a:spcAft>
                          <a:spcPts val="600"/>
                        </a:spcAft>
                        <a:buFont typeface="Arial" panose="020B0604020202020204" pitchFamily="34" charset="0"/>
                        <a:buChar char="•"/>
                      </a:pPr>
                      <a:r>
                        <a:rPr lang="en-US" sz="1000" b="0" baseline="0" dirty="0">
                          <a:solidFill>
                            <a:schemeClr val="tx1"/>
                          </a:solidFill>
                        </a:rPr>
                        <a:t>However the distribution utilities are not directly subsidized by the Government with their tariff structure revised regularly to ensure profitability by cross-subsidization</a:t>
                      </a:r>
                    </a:p>
                    <a:p>
                      <a:pPr marL="171450" indent="-171450" algn="just">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221" name="Chart 220"/>
          <p:cNvGraphicFramePr/>
          <p:nvPr>
            <p:custDataLst>
              <p:tags r:id="rId5"/>
            </p:custDataLst>
            <p:extLst>
              <p:ext uri="{D42A27DB-BD31-4B8C-83A1-F6EECF244321}">
                <p14:modId xmlns:p14="http://schemas.microsoft.com/office/powerpoint/2010/main" val="3763666750"/>
              </p:ext>
            </p:extLst>
          </p:nvPr>
        </p:nvGraphicFramePr>
        <p:xfrm>
          <a:off x="5165725" y="2351088"/>
          <a:ext cx="5173663" cy="1684337"/>
        </p:xfrm>
        <a:graphic>
          <a:graphicData uri="http://schemas.openxmlformats.org/drawingml/2006/chart">
            <c:chart xmlns:c="http://schemas.openxmlformats.org/drawingml/2006/chart" xmlns:r="http://schemas.openxmlformats.org/officeDocument/2006/relationships" r:id="rId32"/>
          </a:graphicData>
        </a:graphic>
      </p:graphicFrame>
      <p:sp>
        <p:nvSpPr>
          <p:cNvPr id="10" name="StandardTextbox"/>
          <p:cNvSpPr>
            <a:spLocks noGrp="1"/>
          </p:cNvSpPr>
          <p:nvPr>
            <p:custDataLst>
              <p:tags r:id="rId6"/>
            </p:custDataLst>
          </p:nvPr>
        </p:nvSpPr>
        <p:spPr bwMode="auto">
          <a:xfrm>
            <a:off x="5680075" y="4056063"/>
            <a:ext cx="871538"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B519FE0F-F6D8-4ECA-AF24-E3807DCB8EE3}" type="datetime'BP''D''''''B'' ''''(Dist''ri''''bu''t''''''''''''io''n'')'">
              <a:rPr lang="en-IN" altLang="en-US" b="0" smtClean="0"/>
              <a:pPr lvl="1" algn="ctr">
                <a:spcBef>
                  <a:spcPct val="0"/>
                </a:spcBef>
                <a:spcAft>
                  <a:spcPct val="0"/>
                </a:spcAft>
              </a:pPr>
              <a:t>BPDB (Distribution)</a:t>
            </a:fld>
            <a:endParaRPr lang="en-IN" b="0" noProof="0" dirty="0">
              <a:sym typeface="+mn-lt"/>
            </a:endParaRPr>
          </a:p>
        </p:txBody>
      </p:sp>
      <p:sp>
        <p:nvSpPr>
          <p:cNvPr id="23" name="StandardTextbox"/>
          <p:cNvSpPr>
            <a:spLocks noGrp="1"/>
          </p:cNvSpPr>
          <p:nvPr>
            <p:custDataLst>
              <p:tags r:id="rId7"/>
            </p:custDataLst>
          </p:nvPr>
        </p:nvSpPr>
        <p:spPr bwMode="auto">
          <a:xfrm>
            <a:off x="7019925" y="4056063"/>
            <a:ext cx="5603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1E85A662-7C1D-4BE1-8966-03D4E94EBD05}" type="datetime'''W''''''''''''''''''''''ZPD''C''L'''''''''''''">
              <a:rPr lang="en-IN" altLang="en-US" b="0" smtClean="0"/>
              <a:pPr lvl="1" algn="ctr">
                <a:spcBef>
                  <a:spcPct val="0"/>
                </a:spcBef>
                <a:spcAft>
                  <a:spcPct val="0"/>
                </a:spcAft>
              </a:pPr>
              <a:t>WZPDCL</a:t>
            </a:fld>
            <a:endParaRPr lang="en-IN" b="0" noProof="0" dirty="0">
              <a:sym typeface="+mn-lt"/>
            </a:endParaRPr>
          </a:p>
        </p:txBody>
      </p:sp>
      <p:sp>
        <p:nvSpPr>
          <p:cNvPr id="25" name="StandardTextbox"/>
          <p:cNvSpPr>
            <a:spLocks noGrp="1"/>
          </p:cNvSpPr>
          <p:nvPr>
            <p:custDataLst>
              <p:tags r:id="rId8"/>
            </p:custDataLst>
          </p:nvPr>
        </p:nvSpPr>
        <p:spPr bwMode="auto">
          <a:xfrm>
            <a:off x="8294688" y="4056063"/>
            <a:ext cx="3746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B83109D-1347-4777-B6C6-616FF5C154E9}" type="datetime'''''''D''''''''''''''''''''''''''''''P''''''''DC'''''''''">
              <a:rPr lang="en-IN" altLang="en-US" b="0" smtClean="0"/>
              <a:pPr lvl="1" algn="ctr">
                <a:spcBef>
                  <a:spcPct val="0"/>
                </a:spcBef>
                <a:spcAft>
                  <a:spcPct val="0"/>
                </a:spcAft>
              </a:pPr>
              <a:t>DPDC</a:t>
            </a:fld>
            <a:endParaRPr lang="en-IN" b="0" noProof="0" dirty="0">
              <a:sym typeface="+mn-lt"/>
            </a:endParaRPr>
          </a:p>
        </p:txBody>
      </p:sp>
      <p:sp>
        <p:nvSpPr>
          <p:cNvPr id="27" name="StandardTextbox"/>
          <p:cNvSpPr>
            <a:spLocks noGrp="1"/>
          </p:cNvSpPr>
          <p:nvPr>
            <p:custDataLst>
              <p:tags r:id="rId9"/>
            </p:custDataLst>
          </p:nvPr>
        </p:nvSpPr>
        <p:spPr bwMode="auto">
          <a:xfrm>
            <a:off x="9431338" y="4056063"/>
            <a:ext cx="4683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1DE31E58-E35F-4A55-A2C3-BDA6195A88C2}" type="datetime'''''''''D''''''''E''''''''''''''''''''''S''''''''C''''''''O'''">
              <a:rPr lang="en-IN" altLang="en-US" b="0" smtClean="0"/>
              <a:pPr lvl="1" algn="ctr">
                <a:spcBef>
                  <a:spcPct val="0"/>
                </a:spcBef>
                <a:spcAft>
                  <a:spcPct val="0"/>
                </a:spcAft>
              </a:pPr>
              <a:t>DESCO</a:t>
            </a:fld>
            <a:endParaRPr lang="en-IN" b="0" noProof="0" dirty="0">
              <a:sym typeface="+mn-lt"/>
            </a:endParaRPr>
          </a:p>
        </p:txBody>
      </p:sp>
      <p:sp useBgFill="1">
        <p:nvSpPr>
          <p:cNvPr id="205" name="StandardTextbox"/>
          <p:cNvSpPr>
            <a:spLocks noGrp="1"/>
          </p:cNvSpPr>
          <p:nvPr>
            <p:custDataLst>
              <p:tags r:id="rId10"/>
            </p:custDataLst>
          </p:nvPr>
        </p:nvSpPr>
        <p:spPr bwMode="gray">
          <a:xfrm>
            <a:off x="5840413" y="3548063"/>
            <a:ext cx="387350" cy="152400"/>
          </a:xfrm>
          <a:prstGeom prst="rect">
            <a:avLst/>
          </a:prstGeom>
          <a:ln>
            <a:noFill/>
          </a:ln>
        </p:spPr>
        <p:txBody>
          <a:bodyPr vert="horz" wrap="none" lIns="20638" tIns="0" rIns="20638"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1186D305-227B-4421-A85B-59A9C64BE8DE}" type="datetime'''''''''''-''''''''''''''0''''''''''''.''''''''9''''8'''">
              <a:rPr lang="en-IN" altLang="en-US" b="0" smtClean="0">
                <a:sym typeface="+mn-lt"/>
              </a:rPr>
              <a:pPr lvl="1" algn="ctr">
                <a:spcBef>
                  <a:spcPct val="0"/>
                </a:spcBef>
                <a:spcAft>
                  <a:spcPct val="0"/>
                </a:spcAft>
              </a:pPr>
              <a:t>-0.98</a:t>
            </a:fld>
            <a:endParaRPr lang="en-IN" b="0" noProof="0" dirty="0">
              <a:sym typeface="+mn-lt"/>
            </a:endParaRPr>
          </a:p>
        </p:txBody>
      </p:sp>
      <p:sp useBgFill="1">
        <p:nvSpPr>
          <p:cNvPr id="208" name="StandardTextbox"/>
          <p:cNvSpPr>
            <a:spLocks noGrp="1"/>
          </p:cNvSpPr>
          <p:nvPr>
            <p:custDataLst>
              <p:tags r:id="rId11"/>
            </p:custDataLst>
          </p:nvPr>
        </p:nvSpPr>
        <p:spPr bwMode="gray">
          <a:xfrm>
            <a:off x="9553575" y="2867025"/>
            <a:ext cx="330200" cy="152400"/>
          </a:xfrm>
          <a:prstGeom prst="rect">
            <a:avLst/>
          </a:prstGeom>
          <a:ln>
            <a:noFill/>
          </a:ln>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8D2E82A6-D843-4CC1-AF38-B75CDCC39DDD}" type="datetime'0''''''.''''''''''''''''4''''''''7'">
              <a:rPr lang="en-IN" altLang="en-US" b="0" smtClean="0">
                <a:sym typeface="+mn-lt"/>
              </a:rPr>
              <a:pPr lvl="1" algn="ctr">
                <a:spcBef>
                  <a:spcPct val="0"/>
                </a:spcBef>
                <a:spcAft>
                  <a:spcPct val="0"/>
                </a:spcAft>
              </a:pPr>
              <a:t>0.47</a:t>
            </a:fld>
            <a:endParaRPr lang="en-IN" b="0" noProof="0" dirty="0">
              <a:sym typeface="+mn-lt"/>
            </a:endParaRPr>
          </a:p>
        </p:txBody>
      </p:sp>
      <p:sp>
        <p:nvSpPr>
          <p:cNvPr id="43" name="Rectangle 42"/>
          <p:cNvSpPr/>
          <p:nvPr>
            <p:custDataLst>
              <p:tags r:id="rId12"/>
            </p:custDataLst>
          </p:nvPr>
        </p:nvSpPr>
        <p:spPr bwMode="auto">
          <a:xfrm>
            <a:off x="8305800" y="4437063"/>
            <a:ext cx="179388" cy="133350"/>
          </a:xfrm>
          <a:prstGeom prst="rect">
            <a:avLst/>
          </a:prstGeom>
          <a:solidFill>
            <a:srgbClr val="62B5E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42" name="Rectangle 41"/>
          <p:cNvSpPr/>
          <p:nvPr>
            <p:custDataLst>
              <p:tags r:id="rId13"/>
            </p:custDataLst>
          </p:nvPr>
        </p:nvSpPr>
        <p:spPr bwMode="auto">
          <a:xfrm>
            <a:off x="7499350" y="4437063"/>
            <a:ext cx="179388" cy="133350"/>
          </a:xfrm>
          <a:prstGeom prst="rect">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93" name="Rectangle 92"/>
          <p:cNvSpPr/>
          <p:nvPr>
            <p:custDataLst>
              <p:tags r:id="rId14"/>
            </p:custDataLst>
          </p:nvPr>
        </p:nvSpPr>
        <p:spPr bwMode="auto">
          <a:xfrm>
            <a:off x="6692900" y="4437063"/>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6" name="StandardTextbox"/>
          <p:cNvSpPr>
            <a:spLocks noGrp="1"/>
          </p:cNvSpPr>
          <p:nvPr>
            <p:custDataLst>
              <p:tags r:id="rId15"/>
            </p:custDataLst>
          </p:nvPr>
        </p:nvSpPr>
        <p:spPr bwMode="auto">
          <a:xfrm>
            <a:off x="7729538" y="4432300"/>
            <a:ext cx="4746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12E2CE02-3AE0-4F4A-B679-6609553806CF}" type="datetime'FY''''''''''2''0''''''''''1''''''''''''''8'''''">
              <a:rPr lang="en-IN" altLang="en-US" b="0" smtClean="0"/>
              <a:pPr lvl="1">
                <a:spcBef>
                  <a:spcPct val="0"/>
                </a:spcBef>
                <a:spcAft>
                  <a:spcPct val="0"/>
                </a:spcAft>
              </a:pPr>
              <a:t>FY2018</a:t>
            </a:fld>
            <a:endParaRPr lang="en-IN" b="0" noProof="0" dirty="0">
              <a:sym typeface="+mn-lt"/>
            </a:endParaRPr>
          </a:p>
        </p:txBody>
      </p:sp>
      <p:sp>
        <p:nvSpPr>
          <p:cNvPr id="37" name="StandardTextbox"/>
          <p:cNvSpPr>
            <a:spLocks noGrp="1"/>
          </p:cNvSpPr>
          <p:nvPr>
            <p:custDataLst>
              <p:tags r:id="rId16"/>
            </p:custDataLst>
          </p:nvPr>
        </p:nvSpPr>
        <p:spPr bwMode="auto">
          <a:xfrm>
            <a:off x="8535988" y="4432300"/>
            <a:ext cx="4746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20E9363C-4592-46BD-8517-35631032CDA6}" type="datetime'F''''''''''''''''''''''''''''Y''2''''''''0''''''''19'''''''">
              <a:rPr lang="en-IN" altLang="en-US" b="0" smtClean="0"/>
              <a:pPr lvl="1">
                <a:spcBef>
                  <a:spcPct val="0"/>
                </a:spcBef>
                <a:spcAft>
                  <a:spcPct val="0"/>
                </a:spcAft>
              </a:pPr>
              <a:t>FY2019</a:t>
            </a:fld>
            <a:endParaRPr lang="en-IN" b="0" noProof="0" dirty="0">
              <a:sym typeface="+mn-lt"/>
            </a:endParaRPr>
          </a:p>
        </p:txBody>
      </p:sp>
      <p:sp>
        <p:nvSpPr>
          <p:cNvPr id="89" name="StandardTextbox"/>
          <p:cNvSpPr>
            <a:spLocks noGrp="1"/>
          </p:cNvSpPr>
          <p:nvPr>
            <p:custDataLst>
              <p:tags r:id="rId17"/>
            </p:custDataLst>
          </p:nvPr>
        </p:nvSpPr>
        <p:spPr bwMode="auto">
          <a:xfrm>
            <a:off x="6923088" y="4432300"/>
            <a:ext cx="4746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DD6B984B-FC5F-4936-AEEC-9525EBE3F340}" type="datetime'''''''FY''''''''''''2''''''0''''''''1''7'''''''''''''''''">
              <a:rPr lang="en-IN" altLang="en-US" b="0" smtClean="0"/>
              <a:pPr lvl="1">
                <a:spcBef>
                  <a:spcPct val="0"/>
                </a:spcBef>
                <a:spcAft>
                  <a:spcPct val="0"/>
                </a:spcAft>
              </a:pPr>
              <a:t>FY2017</a:t>
            </a:fld>
            <a:endParaRPr lang="en-IN" b="0" noProof="0" dirty="0">
              <a:sym typeface="+mn-lt"/>
            </a:endParaRPr>
          </a:p>
        </p:txBody>
      </p:sp>
      <p:graphicFrame>
        <p:nvGraphicFramePr>
          <p:cNvPr id="211" name="Chart 210"/>
          <p:cNvGraphicFramePr/>
          <p:nvPr>
            <p:custDataLst>
              <p:tags r:id="rId18"/>
            </p:custDataLst>
            <p:extLst>
              <p:ext uri="{D42A27DB-BD31-4B8C-83A1-F6EECF244321}">
                <p14:modId xmlns:p14="http://schemas.microsoft.com/office/powerpoint/2010/main" val="2941276461"/>
              </p:ext>
            </p:extLst>
          </p:nvPr>
        </p:nvGraphicFramePr>
        <p:xfrm>
          <a:off x="5141913" y="5197475"/>
          <a:ext cx="5197475" cy="1287463"/>
        </p:xfrm>
        <a:graphic>
          <a:graphicData uri="http://schemas.openxmlformats.org/drawingml/2006/chart">
            <c:chart xmlns:c="http://schemas.openxmlformats.org/drawingml/2006/chart" xmlns:r="http://schemas.openxmlformats.org/officeDocument/2006/relationships" r:id="rId33"/>
          </a:graphicData>
        </a:graphic>
      </p:graphicFrame>
      <p:sp>
        <p:nvSpPr>
          <p:cNvPr id="99" name="StandardTextbox"/>
          <p:cNvSpPr>
            <a:spLocks noGrp="1"/>
          </p:cNvSpPr>
          <p:nvPr>
            <p:custDataLst>
              <p:tags r:id="rId19"/>
            </p:custDataLst>
          </p:nvPr>
        </p:nvSpPr>
        <p:spPr bwMode="auto">
          <a:xfrm>
            <a:off x="9431338" y="6472238"/>
            <a:ext cx="4683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8AF19F2-6F7E-473B-95DE-44274B51C501}" type="datetime'''''''''D''''''''''E''''''S''''''''C''''O'''''">
              <a:rPr lang="en-IN" altLang="en-US" b="0" smtClean="0"/>
              <a:pPr lvl="1" algn="ctr">
                <a:spcBef>
                  <a:spcPct val="0"/>
                </a:spcBef>
                <a:spcAft>
                  <a:spcPct val="0"/>
                </a:spcAft>
              </a:pPr>
              <a:t>DESCO</a:t>
            </a:fld>
            <a:endParaRPr lang="en-IN" b="0" noProof="0" dirty="0">
              <a:sym typeface="+mn-lt"/>
            </a:endParaRPr>
          </a:p>
        </p:txBody>
      </p:sp>
      <p:sp>
        <p:nvSpPr>
          <p:cNvPr id="96" name="StandardTextbox"/>
          <p:cNvSpPr>
            <a:spLocks noGrp="1"/>
          </p:cNvSpPr>
          <p:nvPr>
            <p:custDataLst>
              <p:tags r:id="rId20"/>
            </p:custDataLst>
          </p:nvPr>
        </p:nvSpPr>
        <p:spPr bwMode="auto">
          <a:xfrm>
            <a:off x="5680075" y="6472238"/>
            <a:ext cx="871538"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F802694-E269-44BD-905E-313874EE82CE}" type="datetime'''''B''P''DB ''''''(''D''''i''''s''tr''''''ibuti''on'')'">
              <a:rPr lang="en-IN" altLang="en-US" b="0" smtClean="0"/>
              <a:pPr lvl="1" algn="ctr">
                <a:spcBef>
                  <a:spcPct val="0"/>
                </a:spcBef>
                <a:spcAft>
                  <a:spcPct val="0"/>
                </a:spcAft>
              </a:pPr>
              <a:t>BPDB (Distribution)</a:t>
            </a:fld>
            <a:endParaRPr lang="en-IN" b="0" noProof="0" dirty="0">
              <a:sym typeface="+mn-lt"/>
            </a:endParaRPr>
          </a:p>
        </p:txBody>
      </p:sp>
      <p:sp>
        <p:nvSpPr>
          <p:cNvPr id="97" name="StandardTextbox"/>
          <p:cNvSpPr>
            <a:spLocks noGrp="1"/>
          </p:cNvSpPr>
          <p:nvPr>
            <p:custDataLst>
              <p:tags r:id="rId21"/>
            </p:custDataLst>
          </p:nvPr>
        </p:nvSpPr>
        <p:spPr bwMode="auto">
          <a:xfrm>
            <a:off x="7019925" y="6472238"/>
            <a:ext cx="5603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1537D49B-274C-4B79-997F-AB8F90305EDF}" type="datetime'''''W''''''''Z''''''''''''P''D''''CL'''''''">
              <a:rPr lang="en-IN" altLang="en-US" b="0" smtClean="0"/>
              <a:pPr lvl="1" algn="ctr">
                <a:spcBef>
                  <a:spcPct val="0"/>
                </a:spcBef>
                <a:spcAft>
                  <a:spcPct val="0"/>
                </a:spcAft>
              </a:pPr>
              <a:t>WZPDCL</a:t>
            </a:fld>
            <a:endParaRPr lang="en-IN" b="0" noProof="0" dirty="0">
              <a:sym typeface="+mn-lt"/>
            </a:endParaRPr>
          </a:p>
        </p:txBody>
      </p:sp>
      <p:sp>
        <p:nvSpPr>
          <p:cNvPr id="98" name="StandardTextbox"/>
          <p:cNvSpPr>
            <a:spLocks noGrp="1"/>
          </p:cNvSpPr>
          <p:nvPr>
            <p:custDataLst>
              <p:tags r:id="rId22"/>
            </p:custDataLst>
          </p:nvPr>
        </p:nvSpPr>
        <p:spPr bwMode="auto">
          <a:xfrm>
            <a:off x="8294688" y="6472238"/>
            <a:ext cx="3746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FE998C4-7979-4294-9C7A-51DD9CF88019}" type="datetime'''''''''D''''''''''''''''''''''''''''PD''''C'''''''''''">
              <a:rPr lang="en-IN" altLang="en-US" b="0" smtClean="0"/>
              <a:pPr lvl="1" algn="ctr">
                <a:spcBef>
                  <a:spcPct val="0"/>
                </a:spcBef>
                <a:spcAft>
                  <a:spcPct val="0"/>
                </a:spcAft>
              </a:pPr>
              <a:t>DPDC</a:t>
            </a:fld>
            <a:endParaRPr lang="en-IN" b="0" noProof="0" dirty="0">
              <a:sym typeface="+mn-lt"/>
            </a:endParaRPr>
          </a:p>
        </p:txBody>
      </p:sp>
      <p:sp>
        <p:nvSpPr>
          <p:cNvPr id="106" name="Rectangle 105"/>
          <p:cNvSpPr/>
          <p:nvPr>
            <p:custDataLst>
              <p:tags r:id="rId23"/>
            </p:custDataLst>
          </p:nvPr>
        </p:nvSpPr>
        <p:spPr bwMode="auto">
          <a:xfrm>
            <a:off x="6692900" y="6838950"/>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05" name="Rectangle 104"/>
          <p:cNvSpPr/>
          <p:nvPr>
            <p:custDataLst>
              <p:tags r:id="rId24"/>
            </p:custDataLst>
          </p:nvPr>
        </p:nvSpPr>
        <p:spPr bwMode="auto">
          <a:xfrm>
            <a:off x="7499350" y="6838950"/>
            <a:ext cx="179388" cy="133350"/>
          </a:xfrm>
          <a:prstGeom prst="rect">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04" name="Rectangle 103"/>
          <p:cNvSpPr/>
          <p:nvPr>
            <p:custDataLst>
              <p:tags r:id="rId25"/>
            </p:custDataLst>
          </p:nvPr>
        </p:nvSpPr>
        <p:spPr bwMode="auto">
          <a:xfrm>
            <a:off x="8305800" y="6838950"/>
            <a:ext cx="179388" cy="133350"/>
          </a:xfrm>
          <a:prstGeom prst="rect">
            <a:avLst/>
          </a:prstGeom>
          <a:solidFill>
            <a:srgbClr val="62B5E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09" name="StandardTextbox"/>
          <p:cNvSpPr>
            <a:spLocks noGrp="1"/>
          </p:cNvSpPr>
          <p:nvPr>
            <p:custDataLst>
              <p:tags r:id="rId26"/>
            </p:custDataLst>
          </p:nvPr>
        </p:nvSpPr>
        <p:spPr bwMode="auto">
          <a:xfrm>
            <a:off x="6923088" y="6834188"/>
            <a:ext cx="4746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66E0335B-3363-4297-BAE1-AD3B90EE28ED}" type="datetime'''''F''''''''''''Y''''''2''''''''''0''''1''7'''''''''">
              <a:rPr lang="en-IN" altLang="en-US" b="0" smtClean="0"/>
              <a:pPr lvl="1">
                <a:spcBef>
                  <a:spcPct val="0"/>
                </a:spcBef>
                <a:spcAft>
                  <a:spcPct val="0"/>
                </a:spcAft>
              </a:pPr>
              <a:t>FY2017</a:t>
            </a:fld>
            <a:endParaRPr lang="en-IN" b="0" noProof="0" dirty="0">
              <a:sym typeface="+mn-lt"/>
            </a:endParaRPr>
          </a:p>
        </p:txBody>
      </p:sp>
      <p:sp>
        <p:nvSpPr>
          <p:cNvPr id="107" name="StandardTextbox"/>
          <p:cNvSpPr>
            <a:spLocks noGrp="1"/>
          </p:cNvSpPr>
          <p:nvPr>
            <p:custDataLst>
              <p:tags r:id="rId27"/>
            </p:custDataLst>
          </p:nvPr>
        </p:nvSpPr>
        <p:spPr bwMode="auto">
          <a:xfrm>
            <a:off x="7729538" y="6834188"/>
            <a:ext cx="4746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AC2AA56F-A954-4489-A8DB-48816D01DA14}" type="datetime'F''''Y''''''''''''''''2''''''''0''''''''''''''''''18'">
              <a:rPr lang="en-IN" altLang="en-US" b="0" smtClean="0"/>
              <a:pPr lvl="1">
                <a:spcBef>
                  <a:spcPct val="0"/>
                </a:spcBef>
                <a:spcAft>
                  <a:spcPct val="0"/>
                </a:spcAft>
              </a:pPr>
              <a:t>FY2018</a:t>
            </a:fld>
            <a:endParaRPr lang="en-IN" b="0" noProof="0" dirty="0">
              <a:sym typeface="+mn-lt"/>
            </a:endParaRPr>
          </a:p>
        </p:txBody>
      </p:sp>
      <p:sp>
        <p:nvSpPr>
          <p:cNvPr id="108" name="StandardTextbox"/>
          <p:cNvSpPr>
            <a:spLocks noGrp="1"/>
          </p:cNvSpPr>
          <p:nvPr>
            <p:custDataLst>
              <p:tags r:id="rId28"/>
            </p:custDataLst>
          </p:nvPr>
        </p:nvSpPr>
        <p:spPr bwMode="auto">
          <a:xfrm>
            <a:off x="8535988" y="6834188"/>
            <a:ext cx="4746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53129FFE-9118-4438-A65D-DD0D317B4E48}" type="datetime'''''F''''''Y''''''''''''2''''''0''''19'''''''''''''''''">
              <a:rPr lang="en-IN" altLang="en-US" b="0" smtClean="0"/>
              <a:pPr lvl="1">
                <a:spcBef>
                  <a:spcPct val="0"/>
                </a:spcBef>
                <a:spcAft>
                  <a:spcPct val="0"/>
                </a:spcAft>
              </a:pPr>
              <a:t>FY2019</a:t>
            </a:fld>
            <a:endParaRPr lang="en-IN" b="0" noProof="0" dirty="0">
              <a:sym typeface="+mn-lt"/>
            </a:endParaRPr>
          </a:p>
        </p:txBody>
      </p:sp>
      <p:sp>
        <p:nvSpPr>
          <p:cNvPr id="212" name="Rectangle 211"/>
          <p:cNvSpPr/>
          <p:nvPr/>
        </p:nvSpPr>
        <p:spPr bwMode="gray">
          <a:xfrm>
            <a:off x="377227" y="7260740"/>
            <a:ext cx="9997262" cy="192573"/>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WZPDCL,</a:t>
            </a:r>
            <a:r>
              <a:rPr kumimoji="0" lang="en-US" sz="700" b="0" i="1" u="none" strike="noStrike" kern="1200" cap="none" spc="0" normalizeH="0" noProof="0" dirty="0">
                <a:ln>
                  <a:noFill/>
                </a:ln>
                <a:solidFill>
                  <a:prstClr val="black"/>
                </a:solidFill>
                <a:effectLst/>
                <a:uLnTx/>
                <a:uFillTx/>
                <a:latin typeface="Verdana"/>
                <a:ea typeface="+mn-ea"/>
                <a:cs typeface="+mn-cs"/>
              </a:rPr>
              <a:t> DPDC, DESCO</a:t>
            </a:r>
            <a:r>
              <a:rPr kumimoji="0" lang="en-US" sz="700" b="0" i="1" u="none" strike="noStrike" kern="1200" cap="none" spc="0" normalizeH="0" baseline="0" noProof="0" dirty="0">
                <a:ln>
                  <a:noFill/>
                </a:ln>
                <a:solidFill>
                  <a:prstClr val="black"/>
                </a:solidFill>
                <a:effectLst/>
                <a:uLnTx/>
                <a:uFillTx/>
                <a:latin typeface="Verdana"/>
                <a:ea typeface="+mn-ea"/>
                <a:cs typeface="+mn-cs"/>
              </a:rPr>
              <a:t>, Deloitte</a:t>
            </a:r>
            <a:r>
              <a:rPr kumimoji="0" lang="en-US" sz="700" b="0" i="1" u="none" strike="noStrike" kern="1200" cap="none" spc="0" normalizeH="0" noProof="0" dirty="0">
                <a:ln>
                  <a:noFill/>
                </a:ln>
                <a:solidFill>
                  <a:prstClr val="black"/>
                </a:solidFill>
                <a:effectLst/>
                <a:uLnTx/>
                <a:uFillTx/>
                <a:latin typeface="Verdana"/>
                <a:ea typeface="+mn-ea"/>
                <a:cs typeface="+mn-cs"/>
              </a:rPr>
              <a:t> Analysis</a:t>
            </a:r>
            <a:endParaRPr kumimoji="0" lang="en-US" sz="700" b="0" i="1"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614422087"/>
      </p:ext>
    </p:extLst>
  </p:cSld>
  <p:clrMapOvr>
    <a:masterClrMapping/>
  </p:clrMapOvr>
  <p:transition>
    <p:fade/>
  </p:transition>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0000"/>
              </a:lnSpc>
              <a:spcBef>
                <a:spcPct val="0"/>
              </a:spcBef>
              <a:spcAft>
                <a:spcPct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pic>
        <p:nvPicPr>
          <p:cNvPr id="59" name="Picture 58"/>
          <p:cNvPicPr>
            <a:picLocks noChangeAspect="1"/>
          </p:cNvPicPr>
          <p:nvPr/>
        </p:nvPicPr>
        <p:blipFill rotWithShape="1">
          <a:blip r:embed="rId6" cstate="email">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a:ext>
            </a:extLst>
          </a:blip>
          <a:srcRect/>
          <a:stretch/>
        </p:blipFill>
        <p:spPr>
          <a:xfrm>
            <a:off x="6388099" y="1079499"/>
            <a:ext cx="4303713" cy="5570411"/>
          </a:xfrm>
          <a:prstGeom prst="rect">
            <a:avLst/>
          </a:prstGeom>
        </p:spPr>
      </p:pic>
      <p:sp>
        <p:nvSpPr>
          <p:cNvPr id="61" name="Rectangle 60"/>
          <p:cNvSpPr/>
          <p:nvPr/>
        </p:nvSpPr>
        <p:spPr bwMode="gray">
          <a:xfrm>
            <a:off x="447964" y="1030161"/>
            <a:ext cx="10229273" cy="36000"/>
          </a:xfrm>
          <a:prstGeom prst="rect">
            <a:avLst/>
          </a:prstGeom>
          <a:solidFill>
            <a:srgbClr val="00ABAB"/>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2" name="Rectangle 61"/>
          <p:cNvSpPr/>
          <p:nvPr/>
        </p:nvSpPr>
        <p:spPr bwMode="gray">
          <a:xfrm>
            <a:off x="447964" y="6663250"/>
            <a:ext cx="10229273" cy="36000"/>
          </a:xfrm>
          <a:prstGeom prst="rect">
            <a:avLst/>
          </a:prstGeom>
          <a:solidFill>
            <a:srgbClr val="00ABAB"/>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6" name="Rectangle 15"/>
          <p:cNvSpPr/>
          <p:nvPr/>
        </p:nvSpPr>
        <p:spPr>
          <a:xfrm>
            <a:off x="469900" y="2352070"/>
            <a:ext cx="4552045" cy="3046988"/>
          </a:xfrm>
          <a:prstGeom prst="rect">
            <a:avLst/>
          </a:prstGeom>
        </p:spPr>
        <p:txBody>
          <a:bodyPr wrap="square">
            <a:spAutoFit/>
          </a:bodyPr>
          <a:lstStyle/>
          <a:p>
            <a:pPr lvl="0"/>
            <a:r>
              <a:rPr lang="en-US" sz="2400" b="1" dirty="0">
                <a:solidFill>
                  <a:prstClr val="black"/>
                </a:solidFill>
              </a:rPr>
              <a:t>Fuel Supplier Credit Risk Assessment</a:t>
            </a:r>
          </a:p>
          <a:p>
            <a:pPr lvl="0"/>
            <a:r>
              <a:rPr kumimoji="0" lang="en-US" sz="2400" b="0" i="1" u="none" strike="noStrike" kern="1200" cap="none" spc="0" normalizeH="0" baseline="0" noProof="0" dirty="0">
                <a:ln>
                  <a:noFill/>
                </a:ln>
                <a:solidFill>
                  <a:srgbClr val="0097A9"/>
                </a:solidFill>
                <a:effectLst/>
                <a:uLnTx/>
                <a:uFillTx/>
                <a:latin typeface="Verdana"/>
                <a:ea typeface="+mn-ea"/>
                <a:cs typeface="+mn-cs"/>
              </a:rPr>
              <a:t>Historical performance of BPC</a:t>
            </a:r>
            <a:r>
              <a:rPr kumimoji="0" lang="en-US" sz="2400" b="0" i="1" u="none" strike="noStrike" kern="1200" cap="none" spc="0" normalizeH="0" noProof="0" dirty="0">
                <a:ln>
                  <a:noFill/>
                </a:ln>
                <a:solidFill>
                  <a:srgbClr val="0097A9"/>
                </a:solidFill>
                <a:effectLst/>
                <a:uLnTx/>
                <a:uFillTx/>
                <a:latin typeface="Verdana"/>
                <a:ea typeface="+mn-ea"/>
                <a:cs typeface="+mn-cs"/>
              </a:rPr>
              <a:t> and SGCL</a:t>
            </a:r>
            <a:r>
              <a:rPr kumimoji="0" lang="en-US" sz="2400" b="0" i="1" u="none" strike="noStrike" kern="1200" cap="none" spc="0" normalizeH="0" baseline="0" noProof="0" dirty="0">
                <a:ln>
                  <a:noFill/>
                </a:ln>
                <a:solidFill>
                  <a:srgbClr val="0097A9"/>
                </a:solidFill>
                <a:effectLst/>
                <a:uLnTx/>
                <a:uFillTx/>
                <a:latin typeface="Verdana"/>
                <a:ea typeface="+mn-ea"/>
                <a:cs typeface="+mn-cs"/>
              </a:rPr>
              <a:t>, receivables</a:t>
            </a:r>
            <a:r>
              <a:rPr kumimoji="0" lang="en-US" sz="2400" b="0" i="1" u="none" strike="noStrike" kern="1200" cap="none" spc="0" normalizeH="0" noProof="0" dirty="0">
                <a:ln>
                  <a:noFill/>
                </a:ln>
                <a:solidFill>
                  <a:srgbClr val="0097A9"/>
                </a:solidFill>
                <a:effectLst/>
                <a:uLnTx/>
                <a:uFillTx/>
                <a:latin typeface="Verdana"/>
                <a:ea typeface="+mn-ea"/>
                <a:cs typeface="+mn-cs"/>
              </a:rPr>
              <a:t> and payment assessment, current liquidity position for immediate payment obligations</a:t>
            </a:r>
            <a:endParaRPr kumimoji="0" lang="en-US" sz="2400" b="0" i="1" u="none" strike="noStrike" kern="1200" cap="none" spc="0" normalizeH="0" baseline="0" noProof="0" dirty="0">
              <a:ln>
                <a:noFill/>
              </a:ln>
              <a:solidFill>
                <a:srgbClr val="0097A9"/>
              </a:solidFill>
              <a:effectLst/>
              <a:uLnTx/>
              <a:uFillTx/>
              <a:latin typeface="Verdana"/>
              <a:ea typeface="+mn-ea"/>
              <a:cs typeface="+mn-cs"/>
            </a:endParaRPr>
          </a:p>
        </p:txBody>
      </p:sp>
      <p:sp>
        <p:nvSpPr>
          <p:cNvPr id="13" name="Oval 12"/>
          <p:cNvSpPr/>
          <p:nvPr/>
        </p:nvSpPr>
        <p:spPr bwMode="gray">
          <a:xfrm>
            <a:off x="5179691" y="1296232"/>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01</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14" name="Oval 13"/>
          <p:cNvSpPr/>
          <p:nvPr/>
        </p:nvSpPr>
        <p:spPr bwMode="gray">
          <a:xfrm>
            <a:off x="5184133" y="1819733"/>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02</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15" name="Oval 14"/>
          <p:cNvSpPr/>
          <p:nvPr/>
        </p:nvSpPr>
        <p:spPr bwMode="gray">
          <a:xfrm>
            <a:off x="5184133" y="2343234"/>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03</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17" name="Oval 16"/>
          <p:cNvSpPr/>
          <p:nvPr/>
        </p:nvSpPr>
        <p:spPr bwMode="gray">
          <a:xfrm>
            <a:off x="5179696" y="2866735"/>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04</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18" name="Oval 17"/>
          <p:cNvSpPr/>
          <p:nvPr/>
        </p:nvSpPr>
        <p:spPr bwMode="gray">
          <a:xfrm>
            <a:off x="5179696" y="3390236"/>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05</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19" name="Oval 18"/>
          <p:cNvSpPr/>
          <p:nvPr/>
        </p:nvSpPr>
        <p:spPr bwMode="gray">
          <a:xfrm>
            <a:off x="5179696" y="3913737"/>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solidFill>
                  <a:prstClr val="black"/>
                </a:solidFill>
                <a:latin typeface="Verdana"/>
              </a:rPr>
              <a:t>06</a:t>
            </a:r>
            <a:endParaRPr lang="en-IN" sz="1400" b="1" dirty="0">
              <a:solidFill>
                <a:prstClr val="black"/>
              </a:solidFill>
              <a:latin typeface="Verdana"/>
            </a:endParaRPr>
          </a:p>
        </p:txBody>
      </p:sp>
      <p:sp>
        <p:nvSpPr>
          <p:cNvPr id="20" name="Oval 19"/>
          <p:cNvSpPr/>
          <p:nvPr/>
        </p:nvSpPr>
        <p:spPr bwMode="gray">
          <a:xfrm>
            <a:off x="5179695" y="4437238"/>
            <a:ext cx="382909" cy="382909"/>
          </a:xfrm>
          <a:prstGeom prst="ellipse">
            <a:avLst/>
          </a:prstGeom>
          <a:solidFill>
            <a:schemeClr val="accent5"/>
          </a:solidFill>
        </p:spPr>
        <p:txBody>
          <a:bodyPr wrap="square" lIns="0" tIns="88900" rIns="0" bIns="88900" rtlCol="0" anchor="ctr"/>
          <a:lstStyle/>
          <a:p>
            <a:pPr algn="ctr">
              <a:lnSpc>
                <a:spcPct val="106000"/>
              </a:lnSpc>
              <a:buFont typeface="Wingdings 2" pitchFamily="18" charset="2"/>
              <a:buNone/>
            </a:pPr>
            <a:r>
              <a:rPr lang="en-US" sz="1400" b="1" dirty="0">
                <a:solidFill>
                  <a:prstClr val="white"/>
                </a:solidFill>
                <a:latin typeface="Verdana"/>
              </a:rPr>
              <a:t>07</a:t>
            </a:r>
            <a:endParaRPr lang="en-IN" sz="1400" b="1" dirty="0">
              <a:solidFill>
                <a:prstClr val="white"/>
              </a:solidFill>
              <a:latin typeface="Verdana"/>
            </a:endParaRPr>
          </a:p>
        </p:txBody>
      </p:sp>
      <p:sp>
        <p:nvSpPr>
          <p:cNvPr id="21" name="Oval 20"/>
          <p:cNvSpPr/>
          <p:nvPr/>
        </p:nvSpPr>
        <p:spPr bwMode="gray">
          <a:xfrm>
            <a:off x="5179692" y="4960739"/>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08</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2" name="Oval 21"/>
          <p:cNvSpPr/>
          <p:nvPr/>
        </p:nvSpPr>
        <p:spPr bwMode="gray">
          <a:xfrm>
            <a:off x="5179694" y="5484240"/>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09</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3" name="Oval 22"/>
          <p:cNvSpPr/>
          <p:nvPr/>
        </p:nvSpPr>
        <p:spPr bwMode="gray">
          <a:xfrm>
            <a:off x="5179691" y="6007743"/>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10</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3211524537"/>
      </p:ext>
    </p:extLst>
  </p:cSld>
  <p:clrMapOvr>
    <a:masterClrMapping/>
  </p:clrMapOvr>
  <p:transition>
    <p:fade/>
  </p:transition>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6" imgW="530" imgH="531" progId="TCLayout.ActiveDocument.1">
                  <p:embed/>
                </p:oleObj>
              </mc:Choice>
              <mc:Fallback>
                <p:oleObj name="think-cell Slide" r:id="rId36" imgW="530" imgH="531" progId="TCLayout.ActiveDocument.1">
                  <p:embed/>
                  <p:pic>
                    <p:nvPicPr>
                      <p:cNvPr id="4" name="Object 3" hidden="1"/>
                      <p:cNvPicPr/>
                      <p:nvPr/>
                    </p:nvPicPr>
                    <p:blipFill>
                      <a:blip r:embed="rId3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graphicFrame>
        <p:nvGraphicFramePr>
          <p:cNvPr id="100" name="Table 99"/>
          <p:cNvGraphicFramePr>
            <a:graphicFrameLocks noGrp="1"/>
          </p:cNvGraphicFramePr>
          <p:nvPr>
            <p:custDataLst>
              <p:tags r:id="rId3"/>
            </p:custDataLst>
          </p:nvPr>
        </p:nvGraphicFramePr>
        <p:xfrm>
          <a:off x="5524500" y="1961920"/>
          <a:ext cx="4732062" cy="463230"/>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463230">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graph shows the Total Revenue from sales and Net Profitability (BDT Bn) of BPC from FY10 to FY11 and FY15 to FY19:</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Bangladesh Petroleum Corporation | Supplier Credit Assessment</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BPC has been earning profits since FY15 due to a downward trend in the global crude market which has</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helped it </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to improve its solvency</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2142053321"/>
              </p:ext>
            </p:extLst>
          </p:nvPr>
        </p:nvGraphicFramePr>
        <p:xfrm>
          <a:off x="449993" y="1961918"/>
          <a:ext cx="4734896" cy="5475202"/>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75202">
                <a:tc>
                  <a:txBody>
                    <a:bodyPr/>
                    <a:lstStyle/>
                    <a:p>
                      <a:pPr marL="0" indent="0" algn="just">
                        <a:spcAft>
                          <a:spcPts val="500"/>
                        </a:spcAft>
                        <a:buFont typeface="Arial" panose="020B0604020202020204" pitchFamily="34" charset="0"/>
                        <a:buNone/>
                      </a:pPr>
                      <a:r>
                        <a:rPr lang="en-US" sz="1000" b="1" baseline="0" dirty="0">
                          <a:solidFill>
                            <a:schemeClr val="tx1"/>
                          </a:solidFill>
                        </a:rPr>
                        <a:t>BPC Profitability</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Bangladesh Petroleum Corporation is the GoB owned entity responsible overall import, production &amp; supply of petroleum products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Apart from import of petroleum products, it operates Eastern Refinery Limited and Chittagong LPG Bottling Plant</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As can be seen from the graph on the right (above), BPC has been earning profits in the last 4 years. However BPC has been known to earn losses till FY14</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From FY15 onwards BPC has been able to earn profits as the Global Crude prices declined from ~$100 / barrel to ~$40-60 / Barrels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BPC does not follow a market linked pricing and typically follows a fixed pricing model. It is due to this that in the high crude price era BPC was making losses however in a low crude price regime the company has turned profitable</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baseline="0" dirty="0">
                          <a:solidFill>
                            <a:schemeClr val="tx1"/>
                          </a:solidFill>
                        </a:rPr>
                        <a:t>BPC Net Worth &amp; Long Term Liabilities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Due to the historical losses, BPC’s current net-worth is negative.</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However it has been improving since FY15 and has shown ~65% improvement since FY15</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On the other hand, the long term liabilities of BPC comprises of Loans / Bonds from the Government which has historically been given to BPC to pay the difference in its fuel import bill and sales to consumers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About 99% of the long term liabilities are BPC’s dues to the Government of Bangladesh</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kern="1200" baseline="0" dirty="0">
                        <a:solidFill>
                          <a:schemeClr val="tx1"/>
                        </a:solidFill>
                        <a:latin typeface="+mn-lt"/>
                        <a:ea typeface="+mn-ea"/>
                        <a:cs typeface="+mn-cs"/>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53" name="Rectangle 52"/>
          <p:cNvSpPr/>
          <p:nvPr/>
        </p:nvSpPr>
        <p:spPr>
          <a:xfrm>
            <a:off x="5505339" y="4301867"/>
            <a:ext cx="4735625" cy="618118"/>
          </a:xfrm>
          <a:prstGeom prst="rect">
            <a:avLst/>
          </a:prstGeom>
        </p:spPr>
        <p:txBody>
          <a:bodyPr wrap="square">
            <a:spAutoFit/>
          </a:bodyPr>
          <a:lstStyle/>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noProof="0" dirty="0">
              <a:ln>
                <a:noFill/>
              </a:ln>
              <a:solidFill>
                <a:prstClr val="black"/>
              </a:solidFill>
              <a:effectLst/>
              <a:uLnTx/>
              <a:uFillTx/>
              <a:latin typeface="Verdana"/>
              <a:ea typeface="+mn-ea"/>
              <a:cs typeface="+mn-cs"/>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Following graph shows the Net Worth of BPC (BDT Bn) from FY10 to FY11 and FY15 to FY19</a:t>
            </a:r>
          </a:p>
        </p:txBody>
      </p:sp>
      <p:graphicFrame>
        <p:nvGraphicFramePr>
          <p:cNvPr id="47" name="Chart 46"/>
          <p:cNvGraphicFramePr/>
          <p:nvPr>
            <p:custDataLst>
              <p:tags r:id="rId5"/>
            </p:custDataLst>
          </p:nvPr>
        </p:nvGraphicFramePr>
        <p:xfrm>
          <a:off x="5535613" y="2487613"/>
          <a:ext cx="4803775" cy="1370012"/>
        </p:xfrm>
        <a:graphic>
          <a:graphicData uri="http://schemas.openxmlformats.org/drawingml/2006/chart">
            <c:chart xmlns:c="http://schemas.openxmlformats.org/drawingml/2006/chart" xmlns:r="http://schemas.openxmlformats.org/officeDocument/2006/relationships" r:id="rId38"/>
          </a:graphicData>
        </a:graphic>
      </p:graphicFrame>
      <p:sp useBgFill="1">
        <p:nvSpPr>
          <p:cNvPr id="11" name="Freeform 10"/>
          <p:cNvSpPr/>
          <p:nvPr>
            <p:custDataLst>
              <p:tags r:id="rId6"/>
            </p:custDataLst>
          </p:nvPr>
        </p:nvSpPr>
        <p:spPr bwMode="auto">
          <a:xfrm>
            <a:off x="6894513" y="3417888"/>
            <a:ext cx="96838" cy="146051"/>
          </a:xfrm>
          <a:custGeom>
            <a:avLst/>
            <a:gdLst/>
            <a:ahLst/>
            <a:cxnLst/>
            <a:rect l="0" t="0" r="0" b="0"/>
            <a:pathLst>
              <a:path w="96838" h="146051">
                <a:moveTo>
                  <a:pt x="96837" y="0"/>
                </a:moveTo>
                <a:lnTo>
                  <a:pt x="57150" y="146050"/>
                </a:lnTo>
                <a:lnTo>
                  <a:pt x="0" y="146050"/>
                </a:lnTo>
                <a:lnTo>
                  <a:pt x="39687" y="0"/>
                </a:lnTo>
                <a:close/>
              </a:path>
            </a:pathLst>
          </a:custGeom>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9" name="Freeform 8"/>
          <p:cNvSpPr/>
          <p:nvPr>
            <p:custDataLst>
              <p:tags r:id="rId7"/>
            </p:custDataLst>
          </p:nvPr>
        </p:nvSpPr>
        <p:spPr bwMode="auto">
          <a:xfrm>
            <a:off x="6894513" y="3417888"/>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787481" rtl="0" eaLnBrk="1" fontAlgn="auto" latinLnBrk="0" hangingPunct="1">
              <a:lnSpc>
                <a:spcPct val="100000"/>
              </a:lnSpc>
              <a:spcBef>
                <a:spcPts val="0"/>
              </a:spcBef>
              <a:spcAft>
                <a:spcPts val="0"/>
              </a:spcAft>
              <a:buClrTx/>
              <a:buSzTx/>
              <a:buFontTx/>
              <a:buNone/>
              <a:tabLst/>
              <a:defRPr/>
            </a:pPr>
            <a:endParaRPr kumimoji="0" lang="en-IN" sz="1550" b="0" i="0" u="none" strike="noStrike" kern="1200" cap="none" spc="0" normalizeH="0" baseline="0" noProof="0" dirty="0">
              <a:ln>
                <a:noFill/>
              </a:ln>
              <a:solidFill>
                <a:prstClr val="black"/>
              </a:solidFill>
              <a:effectLst/>
              <a:uLnTx/>
              <a:uFillTx/>
              <a:latin typeface="Verdana"/>
              <a:ea typeface="+mn-ea"/>
              <a:cs typeface="+mn-cs"/>
            </a:endParaRPr>
          </a:p>
        </p:txBody>
      </p:sp>
      <p:sp>
        <p:nvSpPr>
          <p:cNvPr id="10" name="Freeform 9"/>
          <p:cNvSpPr/>
          <p:nvPr>
            <p:custDataLst>
              <p:tags r:id="rId8"/>
            </p:custDataLst>
          </p:nvPr>
        </p:nvSpPr>
        <p:spPr bwMode="auto">
          <a:xfrm>
            <a:off x="6951663" y="3417888"/>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787481" rtl="0" eaLnBrk="1" fontAlgn="auto" latinLnBrk="0" hangingPunct="1">
              <a:lnSpc>
                <a:spcPct val="100000"/>
              </a:lnSpc>
              <a:spcBef>
                <a:spcPts val="0"/>
              </a:spcBef>
              <a:spcAft>
                <a:spcPts val="0"/>
              </a:spcAft>
              <a:buClrTx/>
              <a:buSzTx/>
              <a:buFontTx/>
              <a:buNone/>
              <a:tabLst/>
              <a:defRPr/>
            </a:pPr>
            <a:endParaRPr kumimoji="0" lang="en-IN" sz="1550" b="0" i="0" u="none" strike="noStrike" kern="1200" cap="none" spc="0" normalizeH="0" baseline="0" noProof="0" dirty="0">
              <a:ln>
                <a:noFill/>
              </a:ln>
              <a:solidFill>
                <a:prstClr val="black"/>
              </a:solidFill>
              <a:effectLst/>
              <a:uLnTx/>
              <a:uFillTx/>
              <a:latin typeface="Verdana"/>
              <a:ea typeface="+mn-ea"/>
              <a:cs typeface="+mn-cs"/>
            </a:endParaRPr>
          </a:p>
        </p:txBody>
      </p:sp>
      <p:sp>
        <p:nvSpPr>
          <p:cNvPr id="123" name="StandardTextbox"/>
          <p:cNvSpPr>
            <a:spLocks noGrp="1"/>
          </p:cNvSpPr>
          <p:nvPr>
            <p:custDataLst>
              <p:tags r:id="rId9"/>
            </p:custDataLst>
          </p:nvPr>
        </p:nvSpPr>
        <p:spPr bwMode="auto">
          <a:xfrm>
            <a:off x="5786438" y="387826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100575F1-1B65-4E55-95A3-1175E36434C2}" type="datetime'''''''''''''''''F''''Y''''''''''''''1''''0'''''''''''''">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6" name="StandardTextbox"/>
          <p:cNvSpPr>
            <a:spLocks noGrp="1"/>
          </p:cNvSpPr>
          <p:nvPr>
            <p:custDataLst>
              <p:tags r:id="rId10"/>
            </p:custDataLst>
          </p:nvPr>
        </p:nvSpPr>
        <p:spPr bwMode="auto">
          <a:xfrm>
            <a:off x="9099550" y="387826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8E79B3F5-4BB3-4F52-8654-6698F089A9EC}" type="datetime'''F''''''''''''''''''''''''Y1''''''''''''''8'''''''''''''''">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FY18</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25" name="StandardTextbox"/>
          <p:cNvSpPr>
            <a:spLocks noGrp="1"/>
          </p:cNvSpPr>
          <p:nvPr>
            <p:custDataLst>
              <p:tags r:id="rId11"/>
            </p:custDataLst>
          </p:nvPr>
        </p:nvSpPr>
        <p:spPr bwMode="auto">
          <a:xfrm>
            <a:off x="6448425" y="387826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50F0C819-C29D-4065-818C-1E984073773E}" type="datetime'''''''''''''''''F''''''''Y''1''''''''''''''''''''''''1'''">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FY11</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8" name="StandardTextbox"/>
          <p:cNvSpPr>
            <a:spLocks noGrp="1"/>
          </p:cNvSpPr>
          <p:nvPr>
            <p:custDataLst>
              <p:tags r:id="rId12"/>
            </p:custDataLst>
          </p:nvPr>
        </p:nvSpPr>
        <p:spPr bwMode="auto">
          <a:xfrm>
            <a:off x="9763125" y="387826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F6A22B6D-CCCF-49CF-B291-C577A81E5C6A}" type="datetime'''''''''''''''''''''''''''F''Y''1''''''''''9'''">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FY19</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5" name="StandardTextbox"/>
          <p:cNvSpPr>
            <a:spLocks noGrp="1"/>
          </p:cNvSpPr>
          <p:nvPr>
            <p:custDataLst>
              <p:tags r:id="rId13"/>
            </p:custDataLst>
          </p:nvPr>
        </p:nvSpPr>
        <p:spPr bwMode="auto">
          <a:xfrm>
            <a:off x="7773988" y="387826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C7E0D61-FF2C-4E2A-B99A-69DADE26BC32}" type="datetime'F''''''Y''''''''''''''''''16'''''''''''''''''''''''">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FY16</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4" name="StandardTextbox"/>
          <p:cNvSpPr>
            <a:spLocks noGrp="1"/>
          </p:cNvSpPr>
          <p:nvPr>
            <p:custDataLst>
              <p:tags r:id="rId14"/>
            </p:custDataLst>
          </p:nvPr>
        </p:nvSpPr>
        <p:spPr bwMode="auto">
          <a:xfrm>
            <a:off x="8437563" y="387826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0B7BA5D-9116-4056-8461-09B07E7AC5FF}" type="datetime'''''''''''''''''''''''F''''''''''''''''Y''''1''''7'''">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FY17</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2" name="StandardTextbox"/>
          <p:cNvSpPr>
            <a:spLocks noGrp="1"/>
          </p:cNvSpPr>
          <p:nvPr>
            <p:custDataLst>
              <p:tags r:id="rId15"/>
            </p:custDataLst>
          </p:nvPr>
        </p:nvSpPr>
        <p:spPr bwMode="auto">
          <a:xfrm>
            <a:off x="7112000" y="387826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2F90121-80ED-4A07-8D3C-F669649E4341}" type="datetime'''F''Y''''1''''''''''''5'''''''''''''''''''''''''''''''''''">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 name="Rectangle 4"/>
          <p:cNvSpPr/>
          <p:nvPr>
            <p:custDataLst>
              <p:tags r:id="rId16"/>
            </p:custDataLst>
          </p:nvPr>
        </p:nvSpPr>
        <p:spPr bwMode="auto">
          <a:xfrm>
            <a:off x="7023100" y="4102100"/>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 name="Rectangle 5"/>
          <p:cNvSpPr/>
          <p:nvPr>
            <p:custDataLst>
              <p:tags r:id="rId17"/>
            </p:custDataLst>
          </p:nvPr>
        </p:nvSpPr>
        <p:spPr bwMode="auto">
          <a:xfrm>
            <a:off x="8270875" y="4102100"/>
            <a:ext cx="179388" cy="133350"/>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3" name="StandardTextbox"/>
          <p:cNvSpPr>
            <a:spLocks noGrp="1"/>
          </p:cNvSpPr>
          <p:nvPr>
            <p:custDataLst>
              <p:tags r:id="rId18"/>
            </p:custDataLst>
          </p:nvPr>
        </p:nvSpPr>
        <p:spPr bwMode="auto">
          <a:xfrm>
            <a:off x="7253288" y="4097338"/>
            <a:ext cx="9159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79C99294-528D-42FA-B0E8-F4E0FD50EA0A}" type="datetime'''To''''ta''l ''''''Re''''''v''''''e''''''n''''''u''e'''">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Total Revenue</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4" name="StandardTextbox"/>
          <p:cNvSpPr>
            <a:spLocks noGrp="1"/>
          </p:cNvSpPr>
          <p:nvPr>
            <p:custDataLst>
              <p:tags r:id="rId19"/>
            </p:custDataLst>
          </p:nvPr>
        </p:nvSpPr>
        <p:spPr bwMode="auto">
          <a:xfrm>
            <a:off x="8501063" y="4097338"/>
            <a:ext cx="7000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81E3C20A-5DE9-4F44-A334-FE8563AA346A}" type="datetime'''''To''''t''''al'''''' ''''P''''''r''''''o''f''i''''''t'''">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Total Profit</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graphicFrame>
        <p:nvGraphicFramePr>
          <p:cNvPr id="59" name="Chart 58"/>
          <p:cNvGraphicFramePr/>
          <p:nvPr>
            <p:custDataLst>
              <p:tags r:id="rId20"/>
            </p:custDataLst>
          </p:nvPr>
        </p:nvGraphicFramePr>
        <p:xfrm>
          <a:off x="5535613" y="5118100"/>
          <a:ext cx="4803775" cy="1323975"/>
        </p:xfrm>
        <a:graphic>
          <a:graphicData uri="http://schemas.openxmlformats.org/drawingml/2006/chart">
            <c:chart xmlns:c="http://schemas.openxmlformats.org/drawingml/2006/chart" xmlns:r="http://schemas.openxmlformats.org/officeDocument/2006/relationships" r:id="rId39"/>
          </a:graphicData>
        </a:graphic>
      </p:graphicFrame>
      <p:sp useBgFill="1">
        <p:nvSpPr>
          <p:cNvPr id="17" name="Freeform 16"/>
          <p:cNvSpPr/>
          <p:nvPr>
            <p:custDataLst>
              <p:tags r:id="rId21"/>
            </p:custDataLst>
          </p:nvPr>
        </p:nvSpPr>
        <p:spPr bwMode="auto">
          <a:xfrm>
            <a:off x="6894513" y="5703888"/>
            <a:ext cx="96838" cy="146050"/>
          </a:xfrm>
          <a:custGeom>
            <a:avLst/>
            <a:gdLst/>
            <a:ahLst/>
            <a:cxnLst/>
            <a:rect l="0" t="0" r="0" b="0"/>
            <a:pathLst>
              <a:path w="96838" h="146051">
                <a:moveTo>
                  <a:pt x="96837" y="0"/>
                </a:moveTo>
                <a:lnTo>
                  <a:pt x="57150" y="146050"/>
                </a:lnTo>
                <a:lnTo>
                  <a:pt x="0" y="146050"/>
                </a:lnTo>
                <a:lnTo>
                  <a:pt x="39687" y="0"/>
                </a:lnTo>
                <a:close/>
              </a:path>
            </a:pathLst>
          </a:custGeom>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2" name="Freeform 11"/>
          <p:cNvSpPr/>
          <p:nvPr>
            <p:custDataLst>
              <p:tags r:id="rId22"/>
            </p:custDataLst>
          </p:nvPr>
        </p:nvSpPr>
        <p:spPr bwMode="auto">
          <a:xfrm>
            <a:off x="6894513" y="5703888"/>
            <a:ext cx="39688" cy="146050"/>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787481" rtl="0" eaLnBrk="1" fontAlgn="auto" latinLnBrk="0" hangingPunct="1">
              <a:lnSpc>
                <a:spcPct val="100000"/>
              </a:lnSpc>
              <a:spcBef>
                <a:spcPts val="0"/>
              </a:spcBef>
              <a:spcAft>
                <a:spcPts val="0"/>
              </a:spcAft>
              <a:buClrTx/>
              <a:buSzTx/>
              <a:buFontTx/>
              <a:buNone/>
              <a:tabLst/>
              <a:defRPr/>
            </a:pPr>
            <a:endParaRPr kumimoji="0" lang="en-IN" sz="1550" b="0" i="0" u="none" strike="noStrike" kern="1200" cap="none" spc="0" normalizeH="0" baseline="0" noProof="0" dirty="0">
              <a:ln>
                <a:noFill/>
              </a:ln>
              <a:solidFill>
                <a:prstClr val="black"/>
              </a:solidFill>
              <a:effectLst/>
              <a:uLnTx/>
              <a:uFillTx/>
              <a:latin typeface="Verdana"/>
              <a:ea typeface="+mn-ea"/>
              <a:cs typeface="+mn-cs"/>
            </a:endParaRPr>
          </a:p>
        </p:txBody>
      </p:sp>
      <p:sp>
        <p:nvSpPr>
          <p:cNvPr id="16" name="Freeform 15"/>
          <p:cNvSpPr/>
          <p:nvPr>
            <p:custDataLst>
              <p:tags r:id="rId23"/>
            </p:custDataLst>
          </p:nvPr>
        </p:nvSpPr>
        <p:spPr bwMode="auto">
          <a:xfrm>
            <a:off x="6951663" y="5703888"/>
            <a:ext cx="39688" cy="146050"/>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787481" rtl="0" eaLnBrk="1" fontAlgn="auto" latinLnBrk="0" hangingPunct="1">
              <a:lnSpc>
                <a:spcPct val="100000"/>
              </a:lnSpc>
              <a:spcBef>
                <a:spcPts val="0"/>
              </a:spcBef>
              <a:spcAft>
                <a:spcPts val="0"/>
              </a:spcAft>
              <a:buClrTx/>
              <a:buSzTx/>
              <a:buFontTx/>
              <a:buNone/>
              <a:tabLst/>
              <a:defRPr/>
            </a:pPr>
            <a:endParaRPr kumimoji="0" lang="en-IN" sz="1550" b="0" i="0" u="none" strike="noStrike" kern="1200" cap="none" spc="0" normalizeH="0" baseline="0" noProof="0" dirty="0">
              <a:ln>
                <a:noFill/>
              </a:ln>
              <a:solidFill>
                <a:prstClr val="black"/>
              </a:solidFill>
              <a:effectLst/>
              <a:uLnTx/>
              <a:uFillTx/>
              <a:latin typeface="Verdana"/>
              <a:ea typeface="+mn-ea"/>
              <a:cs typeface="+mn-cs"/>
            </a:endParaRPr>
          </a:p>
        </p:txBody>
      </p:sp>
      <p:sp>
        <p:nvSpPr>
          <p:cNvPr id="143" name="StandardTextbox"/>
          <p:cNvSpPr>
            <a:spLocks noGrp="1"/>
          </p:cNvSpPr>
          <p:nvPr>
            <p:custDataLst>
              <p:tags r:id="rId24"/>
            </p:custDataLst>
          </p:nvPr>
        </p:nvSpPr>
        <p:spPr bwMode="auto">
          <a:xfrm>
            <a:off x="6448425" y="646271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4686E73-081F-4AFF-8321-8EF51D7838B2}" type="datetime'''''''''''F''Y''''''1''''1'''''''''''''''''''''''''''''''">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FY11</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41" name="StandardTextbox"/>
          <p:cNvSpPr>
            <a:spLocks noGrp="1"/>
          </p:cNvSpPr>
          <p:nvPr>
            <p:custDataLst>
              <p:tags r:id="rId25"/>
            </p:custDataLst>
          </p:nvPr>
        </p:nvSpPr>
        <p:spPr bwMode="auto">
          <a:xfrm>
            <a:off x="5786438" y="646271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64CF5A8-E893-4685-A7B0-ADD11BB47652}" type="datetime'FY''''1''''''''''0'''''''">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5" name="StandardTextbox"/>
          <p:cNvSpPr>
            <a:spLocks noGrp="1"/>
          </p:cNvSpPr>
          <p:nvPr>
            <p:custDataLst>
              <p:tags r:id="rId26"/>
            </p:custDataLst>
          </p:nvPr>
        </p:nvSpPr>
        <p:spPr bwMode="auto">
          <a:xfrm>
            <a:off x="9099550" y="646271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29C7A0D-35C3-42C7-B844-622CC62E2185}" type="datetime'''''''''''F''''Y''1''''8'''''''">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FY18</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0" name="StandardTextbox"/>
          <p:cNvSpPr>
            <a:spLocks noGrp="1"/>
          </p:cNvSpPr>
          <p:nvPr>
            <p:custDataLst>
              <p:tags r:id="rId27"/>
            </p:custDataLst>
          </p:nvPr>
        </p:nvSpPr>
        <p:spPr bwMode="auto">
          <a:xfrm>
            <a:off x="7773988" y="646271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52BCFE2A-3977-4678-A5BD-A1EF66C1B6C9}" type="datetime'''F''''''''''''''Y''''''''''''''''''''''''''''''''''''''1''6'">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FY16</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2" name="StandardTextbox"/>
          <p:cNvSpPr>
            <a:spLocks noGrp="1"/>
          </p:cNvSpPr>
          <p:nvPr>
            <p:custDataLst>
              <p:tags r:id="rId28"/>
            </p:custDataLst>
          </p:nvPr>
        </p:nvSpPr>
        <p:spPr bwMode="auto">
          <a:xfrm>
            <a:off x="8437563" y="646271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50A31571-C38B-4C5D-861B-E7F1CA6F6D89}" type="datetime'''''''''''''F''''''''''Y1''''''''''''7'''''''''''''">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FY17</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7" name="StandardTextbox"/>
          <p:cNvSpPr>
            <a:spLocks noGrp="1"/>
          </p:cNvSpPr>
          <p:nvPr>
            <p:custDataLst>
              <p:tags r:id="rId29"/>
            </p:custDataLst>
          </p:nvPr>
        </p:nvSpPr>
        <p:spPr bwMode="auto">
          <a:xfrm>
            <a:off x="9763125" y="646271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E52AA6B0-D68B-4C38-B06F-4C3767DCFA1B}" type="datetime'''F''''Y''''''''''''''''''''''''''''''1''9'''''''''">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FY19</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9" name="StandardTextbox"/>
          <p:cNvSpPr>
            <a:spLocks noGrp="1"/>
          </p:cNvSpPr>
          <p:nvPr>
            <p:custDataLst>
              <p:tags r:id="rId30"/>
            </p:custDataLst>
          </p:nvPr>
        </p:nvSpPr>
        <p:spPr bwMode="auto">
          <a:xfrm>
            <a:off x="7112000" y="646271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61D3942-D306-4C6C-BA03-8650DDC9EEA2}" type="datetime'''''''''''F''Y''''''''''''''1''''''5'''''''''''">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FY15</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7" name="Rectangle 6"/>
          <p:cNvSpPr/>
          <p:nvPr>
            <p:custDataLst>
              <p:tags r:id="rId31"/>
            </p:custDataLst>
          </p:nvPr>
        </p:nvSpPr>
        <p:spPr bwMode="auto">
          <a:xfrm>
            <a:off x="6864350" y="6786563"/>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8" name="Rectangle 7"/>
          <p:cNvSpPr/>
          <p:nvPr>
            <p:custDataLst>
              <p:tags r:id="rId32"/>
            </p:custDataLst>
          </p:nvPr>
        </p:nvSpPr>
        <p:spPr bwMode="auto">
          <a:xfrm>
            <a:off x="7785100" y="6786563"/>
            <a:ext cx="179388" cy="133350"/>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38" name="StandardTextbox"/>
          <p:cNvSpPr>
            <a:spLocks noGrp="1"/>
          </p:cNvSpPr>
          <p:nvPr>
            <p:custDataLst>
              <p:tags r:id="rId33"/>
            </p:custDataLst>
          </p:nvPr>
        </p:nvSpPr>
        <p:spPr bwMode="auto">
          <a:xfrm>
            <a:off x="7094538" y="6781800"/>
            <a:ext cx="588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C703FB3F-13EA-40BA-80BB-0256F243E5CB}" type="datetime'''''''''''N''''''''''''''e''t''w''''o''''''''''''''''rth'">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Networth</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9" name="StandardTextbox"/>
          <p:cNvSpPr>
            <a:spLocks noGrp="1"/>
          </p:cNvSpPr>
          <p:nvPr>
            <p:custDataLst>
              <p:tags r:id="rId34"/>
            </p:custDataLst>
          </p:nvPr>
        </p:nvSpPr>
        <p:spPr bwMode="auto">
          <a:xfrm>
            <a:off x="8015288" y="6781800"/>
            <a:ext cx="13255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822E87BF-907E-407C-A60D-994808EBCBF1}" type="datetime'''''L''''''''ong ''Term ''Li''ab''i''l''''it''''''i''es'''">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Long Term Liabilities</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41" name="Rectangle 40"/>
          <p:cNvSpPr/>
          <p:nvPr/>
        </p:nvSpPr>
        <p:spPr bwMode="gray">
          <a:xfrm>
            <a:off x="377227" y="7260740"/>
            <a:ext cx="9997262" cy="192573"/>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BPC, Deloitte</a:t>
            </a:r>
            <a:r>
              <a:rPr kumimoji="0" lang="en-US" sz="700" b="0" i="1" u="none" strike="noStrike" kern="1200" cap="none" spc="0" normalizeH="0" noProof="0" dirty="0">
                <a:ln>
                  <a:noFill/>
                </a:ln>
                <a:solidFill>
                  <a:prstClr val="black"/>
                </a:solidFill>
                <a:effectLst/>
                <a:uLnTx/>
                <a:uFillTx/>
                <a:latin typeface="Verdana"/>
                <a:ea typeface="+mn-ea"/>
                <a:cs typeface="+mn-cs"/>
              </a:rPr>
              <a:t> Analysis</a:t>
            </a:r>
            <a:endParaRPr kumimoji="0" lang="en-US" sz="700" b="0" i="1"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2819516773"/>
      </p:ext>
    </p:extLst>
  </p:cSld>
  <p:clrMapOvr>
    <a:masterClrMapping/>
  </p:clrMapOvr>
  <p:transition>
    <p:fade/>
  </p:transition>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3" imgW="530" imgH="531" progId="TCLayout.ActiveDocument.1">
                  <p:embed/>
                </p:oleObj>
              </mc:Choice>
              <mc:Fallback>
                <p:oleObj name="think-cell Slide" r:id="rId43" imgW="530" imgH="531" progId="TCLayout.ActiveDocument.1">
                  <p:embed/>
                  <p:pic>
                    <p:nvPicPr>
                      <p:cNvPr id="4" name="Object 3" hidden="1"/>
                      <p:cNvPicPr/>
                      <p:nvPr/>
                    </p:nvPicPr>
                    <p:blipFill>
                      <a:blip r:embed="rId44"/>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US" sz="1000" u="none" strike="noStrike" kern="1200" cap="none" spc="0" normalizeH="0" noProof="0" dirty="0">
              <a:ln>
                <a:noFill/>
              </a:ln>
              <a:solidFill>
                <a:prstClr val="white"/>
              </a:solidFill>
              <a:effectLst/>
              <a:uLnTx/>
              <a:uFillTx/>
              <a:latin typeface="Verdana" panose="020B0604030504040204" pitchFamily="34" charset="0"/>
              <a:sym typeface="Verdana" panose="020B0604030504040204" pitchFamily="34" charset="0"/>
            </a:endParaRPr>
          </a:p>
        </p:txBody>
      </p:sp>
      <p:graphicFrame>
        <p:nvGraphicFramePr>
          <p:cNvPr id="100" name="Table 99"/>
          <p:cNvGraphicFramePr>
            <a:graphicFrameLocks noGrp="1"/>
          </p:cNvGraphicFramePr>
          <p:nvPr>
            <p:custDataLst>
              <p:tags r:id="rId3"/>
            </p:custDataLst>
          </p:nvPr>
        </p:nvGraphicFramePr>
        <p:xfrm>
          <a:off x="5524500" y="1961920"/>
          <a:ext cx="4732062" cy="5136464"/>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136464">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graph shows the Major Import &amp; Domestic production &amp; Processing Cost of BPC (BDT Bn) from FY16 to FY19:</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graph shows the Revenue Earned from Sale of Goods by BPC (BDT Bn) from FY16 to FY19</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Bangladesh Petroleum Corporation | Supplier Credit Assessment</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dirty="0">
                <a:solidFill>
                  <a:prstClr val="black">
                    <a:lumMod val="50000"/>
                    <a:lumOff val="50000"/>
                  </a:prstClr>
                </a:solidFill>
                <a:latin typeface="Verdana" panose="020B0604030504040204" pitchFamily="34" charset="0"/>
              </a:rPr>
              <a:t>BPC’s import costs are benchmarked to international crude prices; However its revenue growth is constrained by the GoB pricing mechanism which has kept the major fuel prices unchanged since 2016</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nvPr>
        </p:nvGraphicFramePr>
        <p:xfrm>
          <a:off x="449993" y="1961918"/>
          <a:ext cx="4734896" cy="49416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2421239">
                <a:tc>
                  <a:txBody>
                    <a:bodyPr/>
                    <a:lstStyle/>
                    <a:p>
                      <a:pPr marL="0" indent="0" algn="just">
                        <a:spcAft>
                          <a:spcPts val="500"/>
                        </a:spcAft>
                        <a:buFont typeface="Arial" panose="020B0604020202020204" pitchFamily="34" charset="0"/>
                        <a:buNone/>
                      </a:pPr>
                      <a:r>
                        <a:rPr lang="en-US" sz="1000" b="1" baseline="0" dirty="0">
                          <a:solidFill>
                            <a:schemeClr val="tx1"/>
                          </a:solidFill>
                        </a:rPr>
                        <a:t>BPC Import &amp; Domestic Production / Processing Cost</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BPC is majorly dependent on importing petroleum products to meet the country’s liquid fuel demand</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About ~60-70% of the BPC’s cost of goods comprises of import costs with refined fuel comprising ~75% of the overall imports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BPC operates just one refinery (Eastern Refinery Limited) with capacity of refining 1.5 Million Tonnes of Crude annually</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It has planned to increase the capacity to 3.0 Million Tonnes which will assist in increasing the domestic refining capacity to ~50% of the overall imports in Bangladesh (at FY 19 levels) from current 25%.</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baseline="0" dirty="0">
                          <a:solidFill>
                            <a:schemeClr val="tx1"/>
                          </a:solidFill>
                        </a:rPr>
                        <a:t>BPC’s Revenue</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BPC’s annual revenue from sale of goods has increased at ~9.5% in the last 5 years which is in stark contrast to its cost of goods which increased at 25%</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BPC’s average selling rate is defined by the Government of Bangladesh which governs BPC’s overall revenue</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GoB hasn’t revised prices for HSD, SKO, HOBC, Petrol, Furnace Oil since 2016 and for LPG the prices were last set in 2009</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prices for Bunker Fuel and LDO were revised in 2018 and 2019 respectively</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Thus the constant pricing of fuels has been the primary reason for the reduced growth in BPC’s cost</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20" name="Chart 119"/>
          <p:cNvGraphicFramePr/>
          <p:nvPr>
            <p:custDataLst>
              <p:tags r:id="rId5"/>
            </p:custDataLst>
          </p:nvPr>
        </p:nvGraphicFramePr>
        <p:xfrm>
          <a:off x="5441950" y="2830513"/>
          <a:ext cx="4881563" cy="947737"/>
        </p:xfrm>
        <a:graphic>
          <a:graphicData uri="http://schemas.openxmlformats.org/drawingml/2006/chart">
            <c:chart xmlns:c="http://schemas.openxmlformats.org/drawingml/2006/chart" xmlns:r="http://schemas.openxmlformats.org/officeDocument/2006/relationships" r:id="rId45"/>
          </a:graphicData>
        </a:graphic>
      </p:graphicFrame>
      <p:cxnSp>
        <p:nvCxnSpPr>
          <p:cNvPr id="18" name="Straight Connector 17"/>
          <p:cNvCxnSpPr/>
          <p:nvPr>
            <p:custDataLst>
              <p:tags r:id="rId6"/>
            </p:custDataLst>
          </p:nvPr>
        </p:nvCxnSpPr>
        <p:spPr bwMode="auto">
          <a:xfrm flipV="1">
            <a:off x="6113463" y="2562225"/>
            <a:ext cx="3536950" cy="377825"/>
          </a:xfrm>
          <a:prstGeom prst="line">
            <a:avLst/>
          </a:prstGeom>
          <a:ln w="6350" cap="flat" cmpd="sng" algn="ctr">
            <a:solidFill>
              <a:schemeClr val="tx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1" name="StandardTextbox"/>
          <p:cNvSpPr>
            <a:spLocks noGrp="1"/>
          </p:cNvSpPr>
          <p:nvPr>
            <p:custDataLst>
              <p:tags r:id="rId7"/>
            </p:custDataLst>
          </p:nvPr>
        </p:nvSpPr>
        <p:spPr bwMode="auto">
          <a:xfrm>
            <a:off x="5951538" y="3781425"/>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15A0097-B263-4599-A244-0DE2A3BF0E30}" type="datetime'''''F''''''Y''''''''''''''''''''''''''''''''''''''1''''6'''">
              <a:rPr lang="en-IN" altLang="en-US" b="0" smtClean="0"/>
              <a:pPr lvl="1" algn="ctr">
                <a:spcBef>
                  <a:spcPct val="0"/>
                </a:spcBef>
                <a:spcAft>
                  <a:spcPct val="0"/>
                </a:spcAft>
              </a:pPr>
              <a:t>FY16</a:t>
            </a:fld>
            <a:endParaRPr lang="en-IN" b="0" noProof="0" dirty="0">
              <a:sym typeface="+mn-lt"/>
            </a:endParaRPr>
          </a:p>
        </p:txBody>
      </p:sp>
      <p:sp>
        <p:nvSpPr>
          <p:cNvPr id="41" name="StandardTextbox"/>
          <p:cNvSpPr>
            <a:spLocks noGrp="1"/>
          </p:cNvSpPr>
          <p:nvPr>
            <p:custDataLst>
              <p:tags r:id="rId8"/>
            </p:custDataLst>
          </p:nvPr>
        </p:nvSpPr>
        <p:spPr bwMode="gray">
          <a:xfrm>
            <a:off x="7151688" y="2967038"/>
            <a:ext cx="2841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766B43ED-1B0F-4F2E-AD01-BDD5319C764A}" type="datetime'''''''''''2''''''''''''''''''''''''''''''''''8''''''2'''''''''">
              <a:rPr lang="en-IN" altLang="en-US" b="0" smtClean="0"/>
              <a:pPr lvl="1" algn="ctr">
                <a:spcBef>
                  <a:spcPct val="0"/>
                </a:spcBef>
                <a:spcAft>
                  <a:spcPct val="0"/>
                </a:spcAft>
              </a:pPr>
              <a:t>282</a:t>
            </a:fld>
            <a:endParaRPr lang="en-IN" b="0" noProof="0" dirty="0">
              <a:sym typeface="+mn-lt"/>
            </a:endParaRPr>
          </a:p>
        </p:txBody>
      </p:sp>
      <p:sp>
        <p:nvSpPr>
          <p:cNvPr id="37" name="StandardTextbox"/>
          <p:cNvSpPr>
            <a:spLocks noGrp="1"/>
          </p:cNvSpPr>
          <p:nvPr>
            <p:custDataLst>
              <p:tags r:id="rId9"/>
            </p:custDataLst>
          </p:nvPr>
        </p:nvSpPr>
        <p:spPr bwMode="gray">
          <a:xfrm>
            <a:off x="5972175" y="3092450"/>
            <a:ext cx="2841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098846CB-A332-40A9-B356-5A4A5162E716}" type="datetime'''''''''2''''''''''''''''''''''1''''''''''''''''''''''''1'">
              <a:rPr lang="en-IN" altLang="en-US" b="0" smtClean="0"/>
              <a:pPr lvl="1" algn="ctr">
                <a:spcBef>
                  <a:spcPct val="0"/>
                </a:spcBef>
                <a:spcAft>
                  <a:spcPct val="0"/>
                </a:spcAft>
              </a:pPr>
              <a:t>211</a:t>
            </a:fld>
            <a:endParaRPr lang="en-IN" b="0" noProof="0" dirty="0">
              <a:sym typeface="+mn-lt"/>
            </a:endParaRPr>
          </a:p>
        </p:txBody>
      </p:sp>
      <p:sp>
        <p:nvSpPr>
          <p:cNvPr id="42" name="StandardTextbox"/>
          <p:cNvSpPr>
            <a:spLocks noGrp="1"/>
          </p:cNvSpPr>
          <p:nvPr>
            <p:custDataLst>
              <p:tags r:id="rId10"/>
            </p:custDataLst>
          </p:nvPr>
        </p:nvSpPr>
        <p:spPr bwMode="gray">
          <a:xfrm>
            <a:off x="8329613" y="2805113"/>
            <a:ext cx="2841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1B46B1D8-24C4-4F0A-BC50-C5C33C5714F5}" type="datetime'''''''''''''''''3''''6''''9'''''''">
              <a:rPr lang="en-IN" altLang="en-US" b="0" smtClean="0"/>
              <a:pPr lvl="1" algn="ctr">
                <a:spcBef>
                  <a:spcPct val="0"/>
                </a:spcBef>
                <a:spcAft>
                  <a:spcPct val="0"/>
                </a:spcAft>
              </a:pPr>
              <a:t>369</a:t>
            </a:fld>
            <a:endParaRPr lang="en-IN" b="0" noProof="0" dirty="0">
              <a:sym typeface="+mn-lt"/>
            </a:endParaRPr>
          </a:p>
        </p:txBody>
      </p:sp>
      <p:sp>
        <p:nvSpPr>
          <p:cNvPr id="48" name="StandardTextbox"/>
          <p:cNvSpPr>
            <a:spLocks noGrp="1"/>
          </p:cNvSpPr>
          <p:nvPr>
            <p:custDataLst>
              <p:tags r:id="rId11"/>
            </p:custDataLst>
          </p:nvPr>
        </p:nvSpPr>
        <p:spPr bwMode="auto">
          <a:xfrm>
            <a:off x="8308975" y="3781425"/>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B82A27C-BC24-45B2-A146-F22797A43EBB}" type="datetime'''''''''''''''''''''F''''''''''''''''''''Y''1''''8'''''''''">
              <a:rPr lang="en-IN" altLang="en-US" b="0" smtClean="0"/>
              <a:pPr lvl="1" algn="ctr">
                <a:spcBef>
                  <a:spcPct val="0"/>
                </a:spcBef>
                <a:spcAft>
                  <a:spcPct val="0"/>
                </a:spcAft>
              </a:pPr>
              <a:t>FY18</a:t>
            </a:fld>
            <a:endParaRPr lang="en-IN" b="0" noProof="0" dirty="0">
              <a:sym typeface="+mn-lt"/>
            </a:endParaRPr>
          </a:p>
        </p:txBody>
      </p:sp>
      <p:sp>
        <p:nvSpPr>
          <p:cNvPr id="46" name="StandardTextbox"/>
          <p:cNvSpPr>
            <a:spLocks noGrp="1"/>
          </p:cNvSpPr>
          <p:nvPr>
            <p:custDataLst>
              <p:tags r:id="rId12"/>
            </p:custDataLst>
          </p:nvPr>
        </p:nvSpPr>
        <p:spPr bwMode="auto">
          <a:xfrm>
            <a:off x="7131050" y="3781425"/>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7E9096E3-9045-488D-BD10-BE7AFD6A4B09}" type="datetime'''''''''''''''''''''''''''F''''''''''Y''''''1''7'''''''''''">
              <a:rPr lang="en-IN" altLang="en-US" b="0" smtClean="0"/>
              <a:pPr lvl="1" algn="ctr">
                <a:spcBef>
                  <a:spcPct val="0"/>
                </a:spcBef>
                <a:spcAft>
                  <a:spcPct val="0"/>
                </a:spcAft>
              </a:pPr>
              <a:t>FY17</a:t>
            </a:fld>
            <a:endParaRPr lang="en-IN" b="0" noProof="0" dirty="0">
              <a:sym typeface="+mn-lt"/>
            </a:endParaRPr>
          </a:p>
        </p:txBody>
      </p:sp>
      <p:sp>
        <p:nvSpPr>
          <p:cNvPr id="117" name="StandardTextbox"/>
          <p:cNvSpPr>
            <a:spLocks noGrp="1"/>
          </p:cNvSpPr>
          <p:nvPr>
            <p:custDataLst>
              <p:tags r:id="rId13"/>
            </p:custDataLst>
          </p:nvPr>
        </p:nvSpPr>
        <p:spPr bwMode="gray">
          <a:xfrm>
            <a:off x="5848350" y="3560763"/>
            <a:ext cx="203200" cy="152400"/>
          </a:xfrm>
          <a:prstGeom prst="rect">
            <a:avLst/>
          </a:prstGeom>
          <a:solidFill>
            <a:srgbClr val="86BC25"/>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31A1725-1427-4926-9708-08E7089AAB01}" type="datetime'''''''''''''''6''''''1'''''''''''''''''">
              <a:rPr lang="en-IN" altLang="en-US" b="0" smtClean="0">
                <a:solidFill>
                  <a:schemeClr val="bg1"/>
                </a:solidFill>
                <a:sym typeface="+mn-lt"/>
              </a:rPr>
              <a:pPr lvl="1" algn="ctr">
                <a:spcBef>
                  <a:spcPct val="0"/>
                </a:spcBef>
                <a:spcAft>
                  <a:spcPct val="0"/>
                </a:spcAft>
              </a:pPr>
              <a:t>61</a:t>
            </a:fld>
            <a:endParaRPr lang="en-IN" b="0" noProof="0" dirty="0">
              <a:solidFill>
                <a:schemeClr val="bg1"/>
              </a:solidFill>
              <a:sym typeface="+mn-lt"/>
            </a:endParaRPr>
          </a:p>
        </p:txBody>
      </p:sp>
      <p:sp>
        <p:nvSpPr>
          <p:cNvPr id="51" name="StandardTextbox"/>
          <p:cNvSpPr>
            <a:spLocks noGrp="1"/>
          </p:cNvSpPr>
          <p:nvPr>
            <p:custDataLst>
              <p:tags r:id="rId14"/>
            </p:custDataLst>
          </p:nvPr>
        </p:nvSpPr>
        <p:spPr bwMode="auto">
          <a:xfrm>
            <a:off x="9488488" y="3781425"/>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30A0C8E-A5AD-4A55-A76B-E52AFABBCE51}" type="datetime'F''''''''''''''''''''Y''''''''''''''''''1''''''''''''''9'">
              <a:rPr lang="en-IN" altLang="en-US" b="0" smtClean="0"/>
              <a:pPr lvl="1" algn="ctr">
                <a:spcBef>
                  <a:spcPct val="0"/>
                </a:spcBef>
                <a:spcAft>
                  <a:spcPct val="0"/>
                </a:spcAft>
              </a:pPr>
              <a:t>FY19</a:t>
            </a:fld>
            <a:endParaRPr lang="en-IN" b="0" noProof="0" dirty="0">
              <a:sym typeface="+mn-lt"/>
            </a:endParaRPr>
          </a:p>
        </p:txBody>
      </p:sp>
      <p:sp>
        <p:nvSpPr>
          <p:cNvPr id="58" name="StandardTextbox"/>
          <p:cNvSpPr>
            <a:spLocks noGrp="1"/>
          </p:cNvSpPr>
          <p:nvPr>
            <p:custDataLst>
              <p:tags r:id="rId15"/>
            </p:custDataLst>
          </p:nvPr>
        </p:nvSpPr>
        <p:spPr bwMode="gray">
          <a:xfrm>
            <a:off x="9509125" y="2735263"/>
            <a:ext cx="2841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6D8D2F9-184B-4D95-B14E-E8150765BC06}" type="datetime'''''''''''''''''''''''''4''''0''''''''''''''''''9'''''">
              <a:rPr lang="en-IN" altLang="en-US" b="0" smtClean="0"/>
              <a:pPr lvl="1" algn="ctr">
                <a:spcBef>
                  <a:spcPct val="0"/>
                </a:spcBef>
                <a:spcAft>
                  <a:spcPct val="0"/>
                </a:spcAft>
              </a:pPr>
              <a:t>409</a:t>
            </a:fld>
            <a:endParaRPr lang="en-IN" b="0" noProof="0" dirty="0">
              <a:sym typeface="+mn-lt"/>
            </a:endParaRPr>
          </a:p>
        </p:txBody>
      </p:sp>
      <p:sp>
        <p:nvSpPr>
          <p:cNvPr id="60" name="StandardTextbox"/>
          <p:cNvSpPr>
            <a:spLocks noGrp="1"/>
          </p:cNvSpPr>
          <p:nvPr>
            <p:custDataLst>
              <p:tags r:id="rId16"/>
            </p:custDataLst>
          </p:nvPr>
        </p:nvSpPr>
        <p:spPr bwMode="gray">
          <a:xfrm>
            <a:off x="6218238" y="3495675"/>
            <a:ext cx="122238" cy="152400"/>
          </a:xfrm>
          <a:prstGeom prst="rect">
            <a:avLst/>
          </a:prstGeom>
          <a:solidFill>
            <a:srgbClr val="046A38"/>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B59F7E4-9C28-4CEF-9F6F-7F5D5A88204E}" type="datetime'7'''''''''''''''''''''">
              <a:rPr lang="en-IN" altLang="en-US" b="0" smtClean="0">
                <a:solidFill>
                  <a:schemeClr val="bg1"/>
                </a:solidFill>
                <a:sym typeface="+mn-lt"/>
              </a:rPr>
              <a:pPr lvl="1" algn="ctr">
                <a:spcBef>
                  <a:spcPct val="0"/>
                </a:spcBef>
                <a:spcAft>
                  <a:spcPct val="0"/>
                </a:spcAft>
              </a:pPr>
              <a:t>7</a:t>
            </a:fld>
            <a:endParaRPr lang="en-IN" b="0" noProof="0" dirty="0">
              <a:solidFill>
                <a:schemeClr val="bg1"/>
              </a:solidFill>
              <a:sym typeface="+mn-lt"/>
            </a:endParaRPr>
          </a:p>
        </p:txBody>
      </p:sp>
      <p:sp>
        <p:nvSpPr>
          <p:cNvPr id="62" name="StandardTextbox"/>
          <p:cNvSpPr>
            <a:spLocks noGrp="1"/>
          </p:cNvSpPr>
          <p:nvPr>
            <p:custDataLst>
              <p:tags r:id="rId17"/>
            </p:custDataLst>
          </p:nvPr>
        </p:nvSpPr>
        <p:spPr bwMode="gray">
          <a:xfrm>
            <a:off x="7356475" y="3446463"/>
            <a:ext cx="203200" cy="152400"/>
          </a:xfrm>
          <a:prstGeom prst="rect">
            <a:avLst/>
          </a:prstGeom>
          <a:solidFill>
            <a:srgbClr val="046A38"/>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8F83DF4-7F4F-4DB9-A3A2-BBFFA83D54B3}" type="datetime'''''''''''''''''''''''''''''''''''''''''''1''''''''''2'''''''">
              <a:rPr lang="en-IN" altLang="en-US" b="0" smtClean="0">
                <a:solidFill>
                  <a:schemeClr val="bg1"/>
                </a:solidFill>
                <a:sym typeface="+mn-lt"/>
              </a:rPr>
              <a:pPr lvl="1" algn="ctr">
                <a:spcBef>
                  <a:spcPct val="0"/>
                </a:spcBef>
                <a:spcAft>
                  <a:spcPct val="0"/>
                </a:spcAft>
              </a:pPr>
              <a:t>12</a:t>
            </a:fld>
            <a:endParaRPr lang="en-IN" b="0" noProof="0" dirty="0">
              <a:solidFill>
                <a:schemeClr val="bg1"/>
              </a:solidFill>
              <a:sym typeface="+mn-lt"/>
            </a:endParaRPr>
          </a:p>
        </p:txBody>
      </p:sp>
      <p:sp>
        <p:nvSpPr>
          <p:cNvPr id="65" name="StandardTextbox"/>
          <p:cNvSpPr>
            <a:spLocks noGrp="1"/>
          </p:cNvSpPr>
          <p:nvPr>
            <p:custDataLst>
              <p:tags r:id="rId18"/>
            </p:custDataLst>
          </p:nvPr>
        </p:nvSpPr>
        <p:spPr bwMode="gray">
          <a:xfrm>
            <a:off x="9713913" y="3413125"/>
            <a:ext cx="203200" cy="152400"/>
          </a:xfrm>
          <a:prstGeom prst="rect">
            <a:avLst/>
          </a:prstGeom>
          <a:solidFill>
            <a:srgbClr val="046A38"/>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752AF94-B9EB-46BC-AF9E-EAC599FF741F}" type="datetime'''''''1''''''''''''''''''''''''''''''''''''''3'''''">
              <a:rPr lang="en-IN" altLang="en-US" b="0" smtClean="0">
                <a:solidFill>
                  <a:schemeClr val="bg1"/>
                </a:solidFill>
                <a:sym typeface="+mn-lt"/>
              </a:rPr>
              <a:pPr lvl="1" algn="ctr">
                <a:spcBef>
                  <a:spcPct val="0"/>
                </a:spcBef>
                <a:spcAft>
                  <a:spcPct val="0"/>
                </a:spcAft>
              </a:pPr>
              <a:t>13</a:t>
            </a:fld>
            <a:endParaRPr lang="en-IN" b="0" noProof="0" dirty="0">
              <a:solidFill>
                <a:schemeClr val="bg1"/>
              </a:solidFill>
              <a:sym typeface="+mn-lt"/>
            </a:endParaRPr>
          </a:p>
        </p:txBody>
      </p:sp>
      <p:sp>
        <p:nvSpPr>
          <p:cNvPr id="81" name="StandardTextbox"/>
          <p:cNvSpPr>
            <a:spLocks noGrp="1"/>
          </p:cNvSpPr>
          <p:nvPr>
            <p:custDataLst>
              <p:tags r:id="rId19"/>
            </p:custDataLst>
          </p:nvPr>
        </p:nvSpPr>
        <p:spPr bwMode="gray">
          <a:xfrm>
            <a:off x="6011863" y="3244850"/>
            <a:ext cx="203200" cy="152400"/>
          </a:xfrm>
          <a:prstGeom prst="rect">
            <a:avLst/>
          </a:prstGeom>
          <a:solidFill>
            <a:srgbClr val="012169"/>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D589A041-872B-4DDF-B0C3-6D67C36BD28C}" type="datetime'''''''''''3''''''''''''''''''''''''''2'''''''''''">
              <a:rPr lang="en-IN" altLang="en-US" b="0" smtClean="0">
                <a:solidFill>
                  <a:schemeClr val="bg1"/>
                </a:solidFill>
                <a:sym typeface="+mn-lt"/>
              </a:rPr>
              <a:pPr lvl="1" algn="ctr">
                <a:spcBef>
                  <a:spcPct val="0"/>
                </a:spcBef>
                <a:spcAft>
                  <a:spcPct val="0"/>
                </a:spcAft>
              </a:pPr>
              <a:t>32</a:t>
            </a:fld>
            <a:endParaRPr lang="en-IN" b="0" noProof="0" dirty="0">
              <a:solidFill>
                <a:schemeClr val="bg1"/>
              </a:solidFill>
              <a:sym typeface="+mn-lt"/>
            </a:endParaRPr>
          </a:p>
        </p:txBody>
      </p:sp>
      <p:sp>
        <p:nvSpPr>
          <p:cNvPr id="82" name="StandardTextbox"/>
          <p:cNvSpPr>
            <a:spLocks noGrp="1"/>
          </p:cNvSpPr>
          <p:nvPr>
            <p:custDataLst>
              <p:tags r:id="rId20"/>
            </p:custDataLst>
          </p:nvPr>
        </p:nvSpPr>
        <p:spPr bwMode="gray">
          <a:xfrm>
            <a:off x="8534400" y="3467100"/>
            <a:ext cx="203200" cy="152400"/>
          </a:xfrm>
          <a:prstGeom prst="rect">
            <a:avLst/>
          </a:prstGeom>
          <a:solidFill>
            <a:srgbClr val="046A38"/>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DCB59E4-B6E3-4932-81FF-90AF5ECC2B4A}" type="datetime'''''''''2''''''''''''''1'''''''''''''''''">
              <a:rPr lang="en-IN" altLang="en-US" b="0" smtClean="0">
                <a:solidFill>
                  <a:schemeClr val="bg1"/>
                </a:solidFill>
                <a:sym typeface="+mn-lt"/>
              </a:rPr>
              <a:pPr lvl="1" algn="ctr">
                <a:spcBef>
                  <a:spcPct val="0"/>
                </a:spcBef>
                <a:spcAft>
                  <a:spcPct val="0"/>
                </a:spcAft>
              </a:pPr>
              <a:t>21</a:t>
            </a:fld>
            <a:endParaRPr lang="en-IN" b="0" noProof="0" dirty="0">
              <a:solidFill>
                <a:schemeClr val="bg1"/>
              </a:solidFill>
              <a:sym typeface="+mn-lt"/>
            </a:endParaRPr>
          </a:p>
        </p:txBody>
      </p:sp>
      <p:sp>
        <p:nvSpPr>
          <p:cNvPr id="84" name="StandardTextbox"/>
          <p:cNvSpPr>
            <a:spLocks noGrp="1"/>
          </p:cNvSpPr>
          <p:nvPr>
            <p:custDataLst>
              <p:tags r:id="rId21"/>
            </p:custDataLst>
          </p:nvPr>
        </p:nvSpPr>
        <p:spPr bwMode="gray">
          <a:xfrm>
            <a:off x="7191375" y="3119438"/>
            <a:ext cx="203200" cy="152400"/>
          </a:xfrm>
          <a:prstGeom prst="rect">
            <a:avLst/>
          </a:prstGeom>
          <a:solidFill>
            <a:srgbClr val="012169"/>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1C4EE732-BBA8-4932-8DE2-782B10B3020F}" type="datetime'''''''''''''''''''4''''''''''''''''''''''1'''''''''">
              <a:rPr lang="en-IN" altLang="en-US" b="0" smtClean="0">
                <a:solidFill>
                  <a:schemeClr val="bg1"/>
                </a:solidFill>
                <a:sym typeface="+mn-lt"/>
              </a:rPr>
              <a:pPr lvl="1" algn="ctr">
                <a:spcBef>
                  <a:spcPct val="0"/>
                </a:spcBef>
                <a:spcAft>
                  <a:spcPct val="0"/>
                </a:spcAft>
              </a:pPr>
              <a:t>41</a:t>
            </a:fld>
            <a:endParaRPr lang="en-IN" b="0" noProof="0" dirty="0">
              <a:solidFill>
                <a:schemeClr val="bg1"/>
              </a:solidFill>
              <a:sym typeface="+mn-lt"/>
            </a:endParaRPr>
          </a:p>
        </p:txBody>
      </p:sp>
      <p:sp>
        <p:nvSpPr>
          <p:cNvPr id="113" name="StandardTextbox"/>
          <p:cNvSpPr>
            <a:spLocks noGrp="1"/>
          </p:cNvSpPr>
          <p:nvPr>
            <p:custDataLst>
              <p:tags r:id="rId22"/>
            </p:custDataLst>
          </p:nvPr>
        </p:nvSpPr>
        <p:spPr bwMode="gray">
          <a:xfrm>
            <a:off x="8369300" y="2957513"/>
            <a:ext cx="203200" cy="152400"/>
          </a:xfrm>
          <a:prstGeom prst="rect">
            <a:avLst/>
          </a:prstGeom>
          <a:solidFill>
            <a:srgbClr val="012169"/>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F17804A-7A9E-4646-B148-F10695C55C5A}" type="datetime'''''''''''''''''''''''''''''''4''''''''''''''6'''''''''''''">
              <a:rPr lang="en-IN" altLang="en-US" b="0" smtClean="0">
                <a:solidFill>
                  <a:schemeClr val="bg1"/>
                </a:solidFill>
                <a:sym typeface="+mn-lt"/>
              </a:rPr>
              <a:pPr lvl="1" algn="ctr">
                <a:spcBef>
                  <a:spcPct val="0"/>
                </a:spcBef>
                <a:spcAft>
                  <a:spcPct val="0"/>
                </a:spcAft>
              </a:pPr>
              <a:t>46</a:t>
            </a:fld>
            <a:endParaRPr lang="en-IN" b="0" noProof="0" dirty="0">
              <a:solidFill>
                <a:schemeClr val="bg1"/>
              </a:solidFill>
              <a:sym typeface="+mn-lt"/>
            </a:endParaRPr>
          </a:p>
        </p:txBody>
      </p:sp>
      <p:sp>
        <p:nvSpPr>
          <p:cNvPr id="118" name="StandardTextbox"/>
          <p:cNvSpPr>
            <a:spLocks noGrp="1"/>
          </p:cNvSpPr>
          <p:nvPr>
            <p:custDataLst>
              <p:tags r:id="rId23"/>
            </p:custDataLst>
          </p:nvPr>
        </p:nvSpPr>
        <p:spPr bwMode="gray">
          <a:xfrm>
            <a:off x="9548813" y="2894013"/>
            <a:ext cx="203200" cy="152400"/>
          </a:xfrm>
          <a:prstGeom prst="rect">
            <a:avLst/>
          </a:prstGeom>
          <a:solidFill>
            <a:srgbClr val="012169"/>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D8AFE17-3439-4EAD-879A-26E3C9611386}" type="datetime'''''''''''''''''''''6''''''1'''''''''''''''''''''''">
              <a:rPr lang="en-IN" altLang="en-US" b="0" smtClean="0">
                <a:solidFill>
                  <a:schemeClr val="bg1"/>
                </a:solidFill>
                <a:sym typeface="+mn-lt"/>
              </a:rPr>
              <a:pPr lvl="1" algn="ctr">
                <a:spcBef>
                  <a:spcPct val="0"/>
                </a:spcBef>
                <a:spcAft>
                  <a:spcPct val="0"/>
                </a:spcAft>
              </a:pPr>
              <a:t>61</a:t>
            </a:fld>
            <a:endParaRPr lang="en-IN" b="0" noProof="0" dirty="0">
              <a:solidFill>
                <a:schemeClr val="bg1"/>
              </a:solidFill>
              <a:sym typeface="+mn-lt"/>
            </a:endParaRPr>
          </a:p>
        </p:txBody>
      </p:sp>
      <p:sp>
        <p:nvSpPr>
          <p:cNvPr id="115" name="StandardTextbox"/>
          <p:cNvSpPr>
            <a:spLocks noGrp="1"/>
          </p:cNvSpPr>
          <p:nvPr>
            <p:custDataLst>
              <p:tags r:id="rId24"/>
            </p:custDataLst>
          </p:nvPr>
        </p:nvSpPr>
        <p:spPr bwMode="auto">
          <a:xfrm>
            <a:off x="7639050" y="2643188"/>
            <a:ext cx="485775" cy="215900"/>
          </a:xfrm>
          <a:prstGeom prst="ellipse">
            <a:avLst/>
          </a:prstGeom>
          <a:solidFill>
            <a:srgbClr val="FFFFFF"/>
          </a:solidFill>
          <a:ln w="9525" algn="ctr">
            <a:solidFill>
              <a:schemeClr val="tx1"/>
            </a:solidFill>
          </a:ln>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090F31A9-30BF-43ED-A092-9BD3245486F4}" type="datetime'''''''''''''''''''''2''''5''''%'''''''''''''''''''''''''''''''">
              <a:rPr lang="en-IN" altLang="en-US" smtClean="0"/>
              <a:pPr lvl="1" algn="ctr">
                <a:spcBef>
                  <a:spcPct val="0"/>
                </a:spcBef>
                <a:spcAft>
                  <a:spcPct val="0"/>
                </a:spcAft>
              </a:pPr>
              <a:t>25%</a:t>
            </a:fld>
            <a:endParaRPr lang="en-IN" noProof="0" dirty="0">
              <a:sym typeface="+mn-lt"/>
            </a:endParaRPr>
          </a:p>
        </p:txBody>
      </p:sp>
      <p:sp>
        <p:nvSpPr>
          <p:cNvPr id="13" name="Rectangle 12"/>
          <p:cNvSpPr/>
          <p:nvPr>
            <p:custDataLst>
              <p:tags r:id="rId25"/>
            </p:custDataLst>
          </p:nvPr>
        </p:nvSpPr>
        <p:spPr bwMode="auto">
          <a:xfrm>
            <a:off x="5570538" y="4287838"/>
            <a:ext cx="160338" cy="120650"/>
          </a:xfrm>
          <a:prstGeom prst="rect">
            <a:avLst/>
          </a:prstGeom>
          <a:solidFill>
            <a:srgbClr val="62B5E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2" name="Rectangle 11"/>
          <p:cNvSpPr/>
          <p:nvPr>
            <p:custDataLst>
              <p:tags r:id="rId26"/>
            </p:custDataLst>
          </p:nvPr>
        </p:nvSpPr>
        <p:spPr bwMode="auto">
          <a:xfrm>
            <a:off x="5570538" y="4100513"/>
            <a:ext cx="160338" cy="120650"/>
          </a:xfrm>
          <a:prstGeom prst="rect">
            <a:avLst/>
          </a:prstGeom>
          <a:solidFill>
            <a:srgbClr val="01216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4" name="Rectangle 13"/>
          <p:cNvSpPr/>
          <p:nvPr>
            <p:custDataLst>
              <p:tags r:id="rId27"/>
            </p:custDataLst>
          </p:nvPr>
        </p:nvSpPr>
        <p:spPr bwMode="auto">
          <a:xfrm>
            <a:off x="7081838" y="4100513"/>
            <a:ext cx="160338" cy="120650"/>
          </a:xfrm>
          <a:prstGeom prst="rect">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5" name="Rectangle 14"/>
          <p:cNvSpPr/>
          <p:nvPr>
            <p:custDataLst>
              <p:tags r:id="rId28"/>
            </p:custDataLst>
          </p:nvPr>
        </p:nvSpPr>
        <p:spPr bwMode="auto">
          <a:xfrm>
            <a:off x="7081838" y="4287838"/>
            <a:ext cx="160338" cy="120650"/>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6" name="StandardTextbox"/>
          <p:cNvSpPr>
            <a:spLocks noGrp="1"/>
          </p:cNvSpPr>
          <p:nvPr>
            <p:custDataLst>
              <p:tags r:id="rId29"/>
            </p:custDataLst>
          </p:nvPr>
        </p:nvSpPr>
        <p:spPr bwMode="auto">
          <a:xfrm>
            <a:off x="7292975" y="4097338"/>
            <a:ext cx="122396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E5842DF4-7ECC-4277-B191-BF1515F8B9F5}" type="datetime'I''''m''p''''or''''te''''''d ''''''''''''Fu''rn''ace Oil'''">
              <a:rPr lang="en-IN" altLang="en-US" sz="900" b="0" smtClean="0"/>
              <a:pPr lvl="1">
                <a:spcBef>
                  <a:spcPct val="0"/>
                </a:spcBef>
                <a:spcAft>
                  <a:spcPct val="0"/>
                </a:spcAft>
              </a:pPr>
              <a:t>Imported Furnace Oil</a:t>
            </a:fld>
            <a:endParaRPr lang="en-IN" sz="900" b="0" noProof="0" dirty="0">
              <a:sym typeface="+mn-lt"/>
            </a:endParaRPr>
          </a:p>
        </p:txBody>
      </p:sp>
      <p:sp>
        <p:nvSpPr>
          <p:cNvPr id="69" name="StandardTextbox"/>
          <p:cNvSpPr>
            <a:spLocks noGrp="1"/>
          </p:cNvSpPr>
          <p:nvPr>
            <p:custDataLst>
              <p:tags r:id="rId30"/>
            </p:custDataLst>
          </p:nvPr>
        </p:nvSpPr>
        <p:spPr bwMode="auto">
          <a:xfrm>
            <a:off x="7292975" y="4284663"/>
            <a:ext cx="282575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45F8A3DC-0070-4133-8A5E-C2F69F844284}" type="datetime'Im''por''ted Domestic'' Production ''''''&amp; Processing C''ost'">
              <a:rPr lang="en-US" altLang="en-US" sz="900" b="0" smtClean="0">
                <a:sym typeface="+mn-lt"/>
              </a:rPr>
              <a:pPr lvl="1">
                <a:spcBef>
                  <a:spcPct val="0"/>
                </a:spcBef>
                <a:spcAft>
                  <a:spcPct val="0"/>
                </a:spcAft>
              </a:pPr>
              <a:t>Imported Domestic Production &amp; Processing Cost</a:t>
            </a:fld>
            <a:endParaRPr lang="en-IN" sz="900" b="0" noProof="0" dirty="0">
              <a:sym typeface="+mn-lt"/>
            </a:endParaRPr>
          </a:p>
        </p:txBody>
      </p:sp>
      <p:sp>
        <p:nvSpPr>
          <p:cNvPr id="35" name="StandardTextbox"/>
          <p:cNvSpPr>
            <a:spLocks noGrp="1"/>
          </p:cNvSpPr>
          <p:nvPr>
            <p:custDataLst>
              <p:tags r:id="rId31"/>
            </p:custDataLst>
          </p:nvPr>
        </p:nvSpPr>
        <p:spPr bwMode="auto">
          <a:xfrm>
            <a:off x="5781675" y="4284663"/>
            <a:ext cx="119856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D1DCE286-6CD4-463C-9B77-D9DF90B27053}" type="datetime'''''''''I''mp''o''rt''e''''''d'' Ref''''i''''n''ed ''O''il'''">
              <a:rPr lang="en-IN" altLang="en-US" sz="900" b="0" smtClean="0">
                <a:sym typeface="+mn-lt"/>
              </a:rPr>
              <a:pPr lvl="1">
                <a:spcBef>
                  <a:spcPct val="0"/>
                </a:spcBef>
                <a:spcAft>
                  <a:spcPct val="0"/>
                </a:spcAft>
              </a:pPr>
              <a:t>Imported Refined Oil</a:t>
            </a:fld>
            <a:endParaRPr lang="en-IN" sz="900" b="0" noProof="0" dirty="0">
              <a:sym typeface="+mn-lt"/>
            </a:endParaRPr>
          </a:p>
        </p:txBody>
      </p:sp>
      <p:sp>
        <p:nvSpPr>
          <p:cNvPr id="34" name="StandardTextbox"/>
          <p:cNvSpPr>
            <a:spLocks noGrp="1"/>
          </p:cNvSpPr>
          <p:nvPr>
            <p:custDataLst>
              <p:tags r:id="rId32"/>
            </p:custDataLst>
          </p:nvPr>
        </p:nvSpPr>
        <p:spPr bwMode="auto">
          <a:xfrm>
            <a:off x="5781675" y="4097338"/>
            <a:ext cx="110807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93FE3746-12FA-4907-B234-B4C5D2ECBCCC}" type="datetime'''''''I''''mp''''or''''ted'' C''''r''''u''d''''e'''' ''O''il'">
              <a:rPr lang="en-IN" altLang="en-US" sz="900" b="0" smtClean="0">
                <a:sym typeface="+mn-lt"/>
              </a:rPr>
              <a:pPr lvl="1">
                <a:spcBef>
                  <a:spcPct val="0"/>
                </a:spcBef>
                <a:spcAft>
                  <a:spcPct val="0"/>
                </a:spcAft>
              </a:pPr>
              <a:t>Imported Crude Oil</a:t>
            </a:fld>
            <a:endParaRPr lang="en-IN" sz="900" b="0" noProof="0" dirty="0">
              <a:sym typeface="+mn-lt"/>
            </a:endParaRPr>
          </a:p>
        </p:txBody>
      </p:sp>
      <p:graphicFrame>
        <p:nvGraphicFramePr>
          <p:cNvPr id="132" name="Chart 131"/>
          <p:cNvGraphicFramePr/>
          <p:nvPr>
            <p:custDataLst>
              <p:tags r:id="rId33"/>
            </p:custDataLst>
          </p:nvPr>
        </p:nvGraphicFramePr>
        <p:xfrm>
          <a:off x="5432425" y="5411788"/>
          <a:ext cx="4897438" cy="1328737"/>
        </p:xfrm>
        <a:graphic>
          <a:graphicData uri="http://schemas.openxmlformats.org/drawingml/2006/chart">
            <c:chart xmlns:c="http://schemas.openxmlformats.org/drawingml/2006/chart" xmlns:r="http://schemas.openxmlformats.org/officeDocument/2006/relationships" r:id="rId46"/>
          </a:graphicData>
        </a:graphic>
      </p:graphicFrame>
      <p:cxnSp>
        <p:nvCxnSpPr>
          <p:cNvPr id="19" name="Straight Connector 18"/>
          <p:cNvCxnSpPr/>
          <p:nvPr>
            <p:custDataLst>
              <p:tags r:id="rId34"/>
            </p:custDataLst>
          </p:nvPr>
        </p:nvCxnSpPr>
        <p:spPr bwMode="auto">
          <a:xfrm flipV="1">
            <a:off x="6105525" y="5245100"/>
            <a:ext cx="3549650" cy="234950"/>
          </a:xfrm>
          <a:prstGeom prst="line">
            <a:avLst/>
          </a:prstGeom>
          <a:ln w="6350" cap="flat" cmpd="sng" algn="ctr">
            <a:solidFill>
              <a:schemeClr val="tx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5" name="StandardTextbox"/>
          <p:cNvSpPr>
            <a:spLocks noGrp="1"/>
          </p:cNvSpPr>
          <p:nvPr>
            <p:custDataLst>
              <p:tags r:id="rId35"/>
            </p:custDataLst>
          </p:nvPr>
        </p:nvSpPr>
        <p:spPr bwMode="auto">
          <a:xfrm>
            <a:off x="7126288" y="67437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DB11387-BCA4-4800-8406-FFA380233D68}" type="datetime'''''''''''''''''''''''''FY''''''''''''''''''''''''''''1''7'">
              <a:rPr lang="en-IN" altLang="en-US" b="0" smtClean="0"/>
              <a:pPr lvl="1" algn="ctr">
                <a:spcBef>
                  <a:spcPct val="0"/>
                </a:spcBef>
                <a:spcAft>
                  <a:spcPct val="0"/>
                </a:spcAft>
              </a:pPr>
              <a:t>FY17</a:t>
            </a:fld>
            <a:endParaRPr lang="en-IN" b="0" noProof="0" dirty="0">
              <a:sym typeface="+mn-lt"/>
            </a:endParaRPr>
          </a:p>
        </p:txBody>
      </p:sp>
      <p:sp>
        <p:nvSpPr>
          <p:cNvPr id="94" name="StandardTextbox"/>
          <p:cNvSpPr>
            <a:spLocks noGrp="1"/>
          </p:cNvSpPr>
          <p:nvPr>
            <p:custDataLst>
              <p:tags r:id="rId36"/>
            </p:custDataLst>
          </p:nvPr>
        </p:nvSpPr>
        <p:spPr bwMode="auto">
          <a:xfrm>
            <a:off x="5943600" y="67437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7D707461-6C7A-4BB6-B73C-3445F816FF90}" type="datetime'''''F''''''Y''''''''''''''''''''1''''6'''">
              <a:rPr lang="en-IN" altLang="en-US" b="0" smtClean="0"/>
              <a:pPr lvl="1" algn="ctr">
                <a:spcBef>
                  <a:spcPct val="0"/>
                </a:spcBef>
                <a:spcAft>
                  <a:spcPct val="0"/>
                </a:spcAft>
              </a:pPr>
              <a:t>FY16</a:t>
            </a:fld>
            <a:endParaRPr lang="en-IN" b="0" noProof="0" dirty="0">
              <a:sym typeface="+mn-lt"/>
            </a:endParaRPr>
          </a:p>
        </p:txBody>
      </p:sp>
      <p:sp>
        <p:nvSpPr>
          <p:cNvPr id="107" name="StandardTextbox"/>
          <p:cNvSpPr>
            <a:spLocks noGrp="1"/>
          </p:cNvSpPr>
          <p:nvPr>
            <p:custDataLst>
              <p:tags r:id="rId37"/>
            </p:custDataLst>
          </p:nvPr>
        </p:nvSpPr>
        <p:spPr bwMode="auto">
          <a:xfrm>
            <a:off x="8310563" y="67437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1BB0A98-295E-44FE-8849-369A272434EB}" type="datetime'''''FY''''''''''''1''''''''''''''''''''''''''''8'''''''">
              <a:rPr lang="en-IN" altLang="en-US" b="0" smtClean="0"/>
              <a:pPr lvl="1" algn="ctr">
                <a:spcBef>
                  <a:spcPct val="0"/>
                </a:spcBef>
                <a:spcAft>
                  <a:spcPct val="0"/>
                </a:spcAft>
              </a:pPr>
              <a:t>FY18</a:t>
            </a:fld>
            <a:endParaRPr lang="en-IN" b="0" noProof="0" dirty="0">
              <a:sym typeface="+mn-lt"/>
            </a:endParaRPr>
          </a:p>
        </p:txBody>
      </p:sp>
      <p:sp>
        <p:nvSpPr>
          <p:cNvPr id="109" name="StandardTextbox"/>
          <p:cNvSpPr>
            <a:spLocks noGrp="1"/>
          </p:cNvSpPr>
          <p:nvPr>
            <p:custDataLst>
              <p:tags r:id="rId38"/>
            </p:custDataLst>
          </p:nvPr>
        </p:nvSpPr>
        <p:spPr bwMode="auto">
          <a:xfrm>
            <a:off x="9493250" y="674370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7AA5FD0F-BB44-44F5-B368-4EE8A5EBCC26}" type="datetime'''''F''''''''''''''''''Y''''''''''''1''''''''''''''''''''''9'">
              <a:rPr lang="en-IN" altLang="en-US" b="0" smtClean="0"/>
              <a:pPr lvl="1" algn="ctr">
                <a:spcBef>
                  <a:spcPct val="0"/>
                </a:spcBef>
                <a:spcAft>
                  <a:spcPct val="0"/>
                </a:spcAft>
              </a:pPr>
              <a:t>FY19</a:t>
            </a:fld>
            <a:endParaRPr lang="en-IN" b="0" noProof="0" dirty="0">
              <a:sym typeface="+mn-lt"/>
            </a:endParaRPr>
          </a:p>
        </p:txBody>
      </p:sp>
      <p:sp>
        <p:nvSpPr>
          <p:cNvPr id="124" name="StandardTextbox"/>
          <p:cNvSpPr>
            <a:spLocks noGrp="1"/>
          </p:cNvSpPr>
          <p:nvPr>
            <p:custDataLst>
              <p:tags r:id="rId39"/>
            </p:custDataLst>
          </p:nvPr>
        </p:nvSpPr>
        <p:spPr bwMode="auto">
          <a:xfrm>
            <a:off x="7605713" y="5254625"/>
            <a:ext cx="550863" cy="215900"/>
          </a:xfrm>
          <a:prstGeom prst="ellipse">
            <a:avLst/>
          </a:prstGeom>
          <a:solidFill>
            <a:srgbClr val="FFFFFF"/>
          </a:solidFill>
          <a:ln w="9525" algn="ctr">
            <a:solidFill>
              <a:schemeClr val="tx1"/>
            </a:solidFill>
          </a:ln>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807DC8EB-C0E8-46FE-9204-2C79605E9A56}" type="datetime'''''9''''.''''''''''''''5''''''%'''''''''''''">
              <a:rPr lang="en-IN" altLang="en-US" smtClean="0"/>
              <a:pPr lvl="1" algn="ctr">
                <a:spcBef>
                  <a:spcPct val="0"/>
                </a:spcBef>
                <a:spcAft>
                  <a:spcPct val="0"/>
                </a:spcAft>
              </a:pPr>
              <a:t>9.5%</a:t>
            </a:fld>
            <a:endParaRPr lang="en-IN" noProof="0" dirty="0">
              <a:sym typeface="+mn-lt"/>
            </a:endParaRPr>
          </a:p>
        </p:txBody>
      </p:sp>
      <p:sp>
        <p:nvSpPr>
          <p:cNvPr id="16" name="Rectangle 15"/>
          <p:cNvSpPr/>
          <p:nvPr>
            <p:custDataLst>
              <p:tags r:id="rId40"/>
            </p:custDataLst>
          </p:nvPr>
        </p:nvSpPr>
        <p:spPr bwMode="auto">
          <a:xfrm>
            <a:off x="6877050" y="7021513"/>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92" name="StandardTextbox"/>
          <p:cNvSpPr>
            <a:spLocks noGrp="1"/>
          </p:cNvSpPr>
          <p:nvPr>
            <p:custDataLst>
              <p:tags r:id="rId41"/>
            </p:custDataLst>
          </p:nvPr>
        </p:nvSpPr>
        <p:spPr bwMode="auto">
          <a:xfrm>
            <a:off x="7107238" y="7016750"/>
            <a:ext cx="222567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98645734-2667-4F18-B932-FAE667747D6D}" type="datetime'BP''C’s'' R''eve''nu''e ''''fro''m'''' Sale of G''''oo''ds'''">
              <a:rPr lang="en-US" altLang="en-US" b="0" smtClean="0"/>
              <a:pPr lvl="1">
                <a:spcBef>
                  <a:spcPct val="0"/>
                </a:spcBef>
                <a:spcAft>
                  <a:spcPct val="0"/>
                </a:spcAft>
              </a:pPr>
              <a:t>BPC’s Revenue from Sale of Goods</a:t>
            </a:fld>
            <a:endParaRPr lang="en-IN" b="0" noProof="0" dirty="0">
              <a:sym typeface="+mn-lt"/>
            </a:endParaRPr>
          </a:p>
        </p:txBody>
      </p:sp>
      <p:sp>
        <p:nvSpPr>
          <p:cNvPr id="45" name="Rectangle 44"/>
          <p:cNvSpPr/>
          <p:nvPr/>
        </p:nvSpPr>
        <p:spPr bwMode="gray">
          <a:xfrm>
            <a:off x="377227" y="7260740"/>
            <a:ext cx="9997262" cy="192573"/>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BPC, Deloitte</a:t>
            </a:r>
            <a:r>
              <a:rPr kumimoji="0" lang="en-US" sz="700" b="0" i="1" u="none" strike="noStrike" kern="1200" cap="none" spc="0" normalizeH="0" noProof="0" dirty="0">
                <a:ln>
                  <a:noFill/>
                </a:ln>
                <a:solidFill>
                  <a:prstClr val="black"/>
                </a:solidFill>
                <a:effectLst/>
                <a:uLnTx/>
                <a:uFillTx/>
                <a:latin typeface="Verdana"/>
                <a:ea typeface="+mn-ea"/>
                <a:cs typeface="+mn-cs"/>
              </a:rPr>
              <a:t> Analysis</a:t>
            </a:r>
            <a:endParaRPr kumimoji="0" lang="en-US" sz="700" b="0" i="1"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2552273471"/>
      </p:ext>
    </p:extLst>
  </p:cSld>
  <p:clrMapOvr>
    <a:masterClrMapping/>
  </p:clrMapOvr>
  <p:transition>
    <p:fade/>
  </p:transition>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4" name="Object 3"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IN" sz="1000" u="none" strike="noStrike" kern="1200" cap="none" spc="0" normalizeH="0" noProof="0" dirty="0">
              <a:ln>
                <a:noFill/>
              </a:ln>
              <a:solidFill>
                <a:prstClr val="white"/>
              </a:solidFill>
              <a:effectLst/>
              <a:uLnTx/>
              <a:uFillTx/>
              <a:latin typeface="Verdana" panose="020B0604030504040204" pitchFamily="34" charset="0"/>
              <a:sym typeface="Verdana" panose="020B0604030504040204" pitchFamily="34" charset="0"/>
            </a:endParaRPr>
          </a:p>
        </p:txBody>
      </p:sp>
      <p:graphicFrame>
        <p:nvGraphicFramePr>
          <p:cNvPr id="100" name="Table 99"/>
          <p:cNvGraphicFramePr>
            <a:graphicFrameLocks noGrp="1"/>
          </p:cNvGraphicFramePr>
          <p:nvPr>
            <p:custDataLst>
              <p:tags r:id="rId3"/>
            </p:custDataLst>
          </p:nvPr>
        </p:nvGraphicFramePr>
        <p:xfrm>
          <a:off x="5524500" y="1961920"/>
          <a:ext cx="4732062" cy="5136464"/>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136464">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graph shows the &amp; Accounts Receivable of BPC (BDT Bn) and average Debtor Days from FY16 to FY19:</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Following graph shows the &amp; Accounts Payable of BPC (BDT Bn) and average Creditor Days from FY16 to FY19:</a:t>
                      </a:r>
                    </a:p>
                    <a:p>
                      <a:pPr marL="171450" lvl="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Bangladesh Petroleum Corporation | Supplier Credit Assessment</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noProof="0" dirty="0">
                <a:solidFill>
                  <a:prstClr val="black">
                    <a:lumMod val="50000"/>
                    <a:lumOff val="50000"/>
                  </a:prstClr>
                </a:solidFill>
                <a:latin typeface="Verdana" panose="020B0604030504040204" pitchFamily="34" charset="0"/>
              </a:rPr>
              <a:t>There is a mismatch in BPC’s receivable &amp; payable’s frequency; However given the strategic importance of importing Petroleum products, BPC trading payables are expected to be supported by GoB for any payment shortfall to international oil companies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192445662"/>
              </p:ext>
            </p:extLst>
          </p:nvPr>
        </p:nvGraphicFramePr>
        <p:xfrm>
          <a:off x="449993" y="1961918"/>
          <a:ext cx="4734896" cy="48146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2421239">
                <a:tc>
                  <a:txBody>
                    <a:bodyPr/>
                    <a:lstStyle/>
                    <a:p>
                      <a:pPr marL="0" indent="0" algn="just">
                        <a:spcAft>
                          <a:spcPts val="500"/>
                        </a:spcAft>
                        <a:buFont typeface="Arial" panose="020B0604020202020204" pitchFamily="34" charset="0"/>
                        <a:buNone/>
                      </a:pPr>
                      <a:r>
                        <a:rPr lang="en-US" sz="1000" b="1" baseline="0" dirty="0">
                          <a:solidFill>
                            <a:schemeClr val="tx1"/>
                          </a:solidFill>
                        </a:rPr>
                        <a:t>Receivables Assessment </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BPC receives its revenue from its subsidiaries namely Eastern Refinery Limited, Padma Oil Company, Jamuna Oil Company, Meghna Oil Company, LP Gas Limited, Eastern Lubricants Ltd.</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The receivables at the end of FY19 were ~60% of BPC’s annual revenue </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In terms of receivable frequency, BPC receives its trading receivable roughly evert ~200-230 days signifying cash risk for the company</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0" baseline="0" dirty="0">
                        <a:solidFill>
                          <a:schemeClr val="tx1"/>
                        </a:solidFill>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0" baseline="0" dirty="0">
                        <a:solidFill>
                          <a:schemeClr val="tx1"/>
                        </a:solidFill>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baseline="0" dirty="0">
                          <a:solidFill>
                            <a:schemeClr val="tx1"/>
                          </a:solidFill>
                        </a:rPr>
                        <a:t>Payables Assessment </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BPC’s payables mainly comprises of payments to international crude suppliers and other natural gas companies in Bangladesh</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accounts payable from trading activities has been quite consistent in the last 4 years as these would majorly be accountable for imports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However the overall accounts payable has reached BDT ~230 Bn which indicates that BPC may be delaying payments for domestic operations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Considering the strategic importance of importing petroleum products &amp; enforcement principles of international oil contracts, the payables for BPC’s Trading activities are expected to be within payment timeline (as per contract) and supported by Government of Bangladesh</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59" name="Chart 158"/>
          <p:cNvGraphicFramePr/>
          <p:nvPr/>
        </p:nvGraphicFramePr>
        <p:xfrm>
          <a:off x="5387837" y="2630078"/>
          <a:ext cx="5005387" cy="1856197"/>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61" name="Chart 160"/>
          <p:cNvGraphicFramePr/>
          <p:nvPr/>
        </p:nvGraphicFramePr>
        <p:xfrm>
          <a:off x="5345114" y="5242187"/>
          <a:ext cx="5005387" cy="1856197"/>
        </p:xfrm>
        <a:graphic>
          <a:graphicData uri="http://schemas.openxmlformats.org/drawingml/2006/chart">
            <c:chart xmlns:c="http://schemas.openxmlformats.org/drawingml/2006/chart" xmlns:r="http://schemas.openxmlformats.org/officeDocument/2006/relationships" r:id="rId9"/>
          </a:graphicData>
        </a:graphic>
      </p:graphicFrame>
      <p:sp>
        <p:nvSpPr>
          <p:cNvPr id="10" name="Rectangle 9"/>
          <p:cNvSpPr/>
          <p:nvPr/>
        </p:nvSpPr>
        <p:spPr bwMode="gray">
          <a:xfrm>
            <a:off x="377227" y="7260740"/>
            <a:ext cx="9997262" cy="192573"/>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BPC, Deloitte</a:t>
            </a:r>
            <a:r>
              <a:rPr kumimoji="0" lang="en-US" sz="700" b="0" i="1" u="none" strike="noStrike" kern="1200" cap="none" spc="0" normalizeH="0" noProof="0" dirty="0">
                <a:ln>
                  <a:noFill/>
                </a:ln>
                <a:solidFill>
                  <a:prstClr val="black"/>
                </a:solidFill>
                <a:effectLst/>
                <a:uLnTx/>
                <a:uFillTx/>
                <a:latin typeface="Verdana"/>
                <a:ea typeface="+mn-ea"/>
                <a:cs typeface="+mn-cs"/>
              </a:rPr>
              <a:t> Analysis</a:t>
            </a:r>
            <a:endParaRPr kumimoji="0" lang="en-US" sz="700" b="0" i="1"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1799793667"/>
      </p:ext>
    </p:extLst>
  </p:cSld>
  <p:clrMapOvr>
    <a:masterClrMapping/>
  </p:clrMapOvr>
  <p:transition>
    <p:fade/>
  </p:transition>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 name="StandardTextbox"/>
          <p:cNvSpPr>
            <a:spLocks noGrp="1"/>
          </p:cNvSpPr>
          <p:nvPr>
            <p:custDataLst>
              <p:tags r:id="rId1"/>
            </p:custDataLst>
          </p:nvPr>
        </p:nvSpPr>
        <p:spPr bwMode="gray">
          <a:xfrm>
            <a:off x="6046788" y="2644775"/>
            <a:ext cx="2492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8C0C056-7C21-47CE-9C09-88D8EAFF6A99}" type="datetime'1''''''''''''''.''''''''''''''''''''''''''2'''''''''''''''''''">
              <a:rPr lang="en-IN" altLang="en-US" b="0" smtClean="0">
                <a:sym typeface="+mn-lt"/>
              </a:rPr>
              <a:pPr lvl="1" algn="ctr">
                <a:spcBef>
                  <a:spcPct val="0"/>
                </a:spcBef>
                <a:spcAft>
                  <a:spcPct val="0"/>
                </a:spcAft>
              </a:pPr>
              <a:t>1.2</a:t>
            </a:fld>
            <a:endParaRPr lang="en-IN" b="0" noProof="0" dirty="0">
              <a:sym typeface="+mn-lt"/>
            </a:endParaRPr>
          </a:p>
        </p:txBody>
      </p:sp>
      <p:graphicFrame>
        <p:nvGraphicFramePr>
          <p:cNvPr id="4" name="Object 3"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6" imgW="530" imgH="531" progId="TCLayout.ActiveDocument.1">
                  <p:embed/>
                </p:oleObj>
              </mc:Choice>
              <mc:Fallback>
                <p:oleObj name="think-cell Slide" r:id="rId26" imgW="530" imgH="531" progId="TCLayout.ActiveDocument.1">
                  <p:embed/>
                  <p:pic>
                    <p:nvPicPr>
                      <p:cNvPr id="4" name="Object 3" hidden="1"/>
                      <p:cNvPicPr/>
                      <p:nvPr/>
                    </p:nvPicPr>
                    <p:blipFill>
                      <a:blip r:embed="rId2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IN" sz="1000" u="none" strike="noStrike" kern="1200" cap="none" spc="0" normalizeH="0" noProof="0" dirty="0">
              <a:ln>
                <a:noFill/>
              </a:ln>
              <a:solidFill>
                <a:prstClr val="white"/>
              </a:solidFill>
              <a:effectLst/>
              <a:uLnTx/>
              <a:uFillTx/>
              <a:latin typeface="Verdana" panose="020B0604030504040204" pitchFamily="34" charset="0"/>
              <a:sym typeface="Verdana" panose="020B0604030504040204" pitchFamily="34" charset="0"/>
            </a:endParaRPr>
          </a:p>
        </p:txBody>
      </p:sp>
      <p:graphicFrame>
        <p:nvGraphicFramePr>
          <p:cNvPr id="100" name="Table 99"/>
          <p:cNvGraphicFramePr>
            <a:graphicFrameLocks noGrp="1"/>
          </p:cNvGraphicFramePr>
          <p:nvPr>
            <p:custDataLst>
              <p:tags r:id="rId4"/>
            </p:custDataLst>
          </p:nvPr>
        </p:nvGraphicFramePr>
        <p:xfrm>
          <a:off x="5524500" y="1961920"/>
          <a:ext cx="4716464" cy="3162530"/>
        </p:xfrm>
        <a:graphic>
          <a:graphicData uri="http://schemas.openxmlformats.org/drawingml/2006/table">
            <a:tbl>
              <a:tblPr firstRow="1" bandRow="1">
                <a:tableStyleId>{5C22544A-7EE6-4342-B048-85BDC9FD1C3A}</a:tableStyleId>
              </a:tblPr>
              <a:tblGrid>
                <a:gridCol w="4716464">
                  <a:extLst>
                    <a:ext uri="{9D8B030D-6E8A-4147-A177-3AD203B41FA5}">
                      <a16:colId xmlns:a16="http://schemas.microsoft.com/office/drawing/2014/main" val="20000"/>
                    </a:ext>
                  </a:extLst>
                </a:gridCol>
              </a:tblGrid>
              <a:tr h="3162530">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graph shows the Current Assets and Current Liabilities  (BDT Bn) of BPC from FY16 to FY19:</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Following graph shows the Annual Cash &amp; Bank Balance (BDT Bn) of BPC FY16 to FY19:</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Bangladesh Petroleum Corporation | Supplier Credit Assessment</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noProof="0" dirty="0">
                <a:solidFill>
                  <a:prstClr val="black">
                    <a:lumMod val="50000"/>
                    <a:lumOff val="50000"/>
                  </a:prstClr>
                </a:solidFill>
                <a:latin typeface="Verdana" panose="020B0604030504040204" pitchFamily="34" charset="0"/>
              </a:rPr>
              <a:t>The overall liquidity position has improved for BPC with the short term liquidity position sufficient to meet any immediate payment obligations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5"/>
            </p:custDataLst>
            <p:extLst>
              <p:ext uri="{D42A27DB-BD31-4B8C-83A1-F6EECF244321}">
                <p14:modId xmlns:p14="http://schemas.microsoft.com/office/powerpoint/2010/main" val="1721473231"/>
              </p:ext>
            </p:extLst>
          </p:nvPr>
        </p:nvGraphicFramePr>
        <p:xfrm>
          <a:off x="449993" y="1961918"/>
          <a:ext cx="4734896" cy="2421239"/>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2421239">
                <a:tc>
                  <a:txBody>
                    <a:bodyPr/>
                    <a:lstStyle/>
                    <a:p>
                      <a:pPr marL="0" indent="0" algn="just">
                        <a:spcAft>
                          <a:spcPts val="500"/>
                        </a:spcAft>
                        <a:buFont typeface="Arial" panose="020B0604020202020204" pitchFamily="34" charset="0"/>
                        <a:buNone/>
                      </a:pPr>
                      <a:r>
                        <a:rPr lang="en-US" sz="1000" b="1" baseline="0" dirty="0">
                          <a:solidFill>
                            <a:schemeClr val="tx1"/>
                          </a:solidFill>
                        </a:rPr>
                        <a:t>Overall liquidity Position</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The overall liquidity position of BPC has improved backed by profits from trading and delaying its payables to creditors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The current ratio has increased to 1.2 to 1.8 in the last 5 years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BPC’s Cash &amp; Bank Balance has also shown a remarkable growth from BDT 58 Bn to BDT 263 Bn in just 4 years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Thus, BPC’s short term liquidity position should be sufficient to meet any immediate payments to its creditors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37" name="Chart 136"/>
          <p:cNvGraphicFramePr/>
          <p:nvPr>
            <p:custDataLst>
              <p:tags r:id="rId6"/>
            </p:custDataLst>
          </p:nvPr>
        </p:nvGraphicFramePr>
        <p:xfrm>
          <a:off x="5441950" y="2390775"/>
          <a:ext cx="4897438" cy="1419225"/>
        </p:xfrm>
        <a:graphic>
          <a:graphicData uri="http://schemas.openxmlformats.org/drawingml/2006/chart">
            <c:chart xmlns:c="http://schemas.openxmlformats.org/drawingml/2006/chart" xmlns:r="http://schemas.openxmlformats.org/officeDocument/2006/relationships" r:id="rId28"/>
          </a:graphicData>
        </a:graphic>
      </p:graphicFrame>
      <p:sp>
        <p:nvSpPr>
          <p:cNvPr id="32" name="StandardTextbox"/>
          <p:cNvSpPr>
            <a:spLocks noGrp="1"/>
          </p:cNvSpPr>
          <p:nvPr>
            <p:custDataLst>
              <p:tags r:id="rId7"/>
            </p:custDataLst>
          </p:nvPr>
        </p:nvSpPr>
        <p:spPr bwMode="auto">
          <a:xfrm>
            <a:off x="7135813" y="3813175"/>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40A60B9-E5B7-4E7C-9805-C208DA4B2E76}" type="datetime'''''''''FY''''''''''''''1''''''''''''''''''''7'''''''">
              <a:rPr lang="en-IN" altLang="en-US" b="0" smtClean="0"/>
              <a:pPr lvl="1" algn="ctr">
                <a:spcBef>
                  <a:spcPct val="0"/>
                </a:spcBef>
                <a:spcAft>
                  <a:spcPct val="0"/>
                </a:spcAft>
              </a:pPr>
              <a:t>FY17</a:t>
            </a:fld>
            <a:endParaRPr lang="en-IN" b="0" noProof="0" dirty="0">
              <a:sym typeface="+mn-lt"/>
            </a:endParaRPr>
          </a:p>
        </p:txBody>
      </p:sp>
      <p:sp>
        <p:nvSpPr>
          <p:cNvPr id="23" name="StandardTextbox"/>
          <p:cNvSpPr>
            <a:spLocks noGrp="1"/>
          </p:cNvSpPr>
          <p:nvPr>
            <p:custDataLst>
              <p:tags r:id="rId8"/>
            </p:custDataLst>
          </p:nvPr>
        </p:nvSpPr>
        <p:spPr bwMode="auto">
          <a:xfrm>
            <a:off x="5953125" y="3813175"/>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8F732EE-EA43-4235-BC6D-F1748A33BD87}" type="datetime'''''''''''''''FY''''''''''''''16'">
              <a:rPr lang="en-IN" altLang="en-US" b="0" smtClean="0"/>
              <a:pPr lvl="1" algn="ctr">
                <a:spcBef>
                  <a:spcPct val="0"/>
                </a:spcBef>
                <a:spcAft>
                  <a:spcPct val="0"/>
                </a:spcAft>
              </a:pPr>
              <a:t>FY16</a:t>
            </a:fld>
            <a:endParaRPr lang="en-IN" b="0" noProof="0" dirty="0">
              <a:sym typeface="+mn-lt"/>
            </a:endParaRPr>
          </a:p>
        </p:txBody>
      </p:sp>
      <p:sp>
        <p:nvSpPr>
          <p:cNvPr id="34" name="StandardTextbox"/>
          <p:cNvSpPr>
            <a:spLocks noGrp="1"/>
          </p:cNvSpPr>
          <p:nvPr>
            <p:custDataLst>
              <p:tags r:id="rId9"/>
            </p:custDataLst>
          </p:nvPr>
        </p:nvSpPr>
        <p:spPr bwMode="auto">
          <a:xfrm>
            <a:off x="8320088" y="3813175"/>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8DF877A2-2339-4692-8139-D4F2AB54567A}" type="datetime'''F''''Y''''''''''''''''''''''''18'''''''''''''''''''''''''''">
              <a:rPr lang="en-IN" altLang="en-US" b="0" smtClean="0"/>
              <a:pPr lvl="1" algn="ctr">
                <a:spcBef>
                  <a:spcPct val="0"/>
                </a:spcBef>
                <a:spcAft>
                  <a:spcPct val="0"/>
                </a:spcAft>
              </a:pPr>
              <a:t>FY18</a:t>
            </a:fld>
            <a:endParaRPr lang="en-IN" b="0" noProof="0" dirty="0">
              <a:sym typeface="+mn-lt"/>
            </a:endParaRPr>
          </a:p>
        </p:txBody>
      </p:sp>
      <p:sp>
        <p:nvSpPr>
          <p:cNvPr id="36" name="StandardTextbox"/>
          <p:cNvSpPr>
            <a:spLocks noGrp="1"/>
          </p:cNvSpPr>
          <p:nvPr>
            <p:custDataLst>
              <p:tags r:id="rId10"/>
            </p:custDataLst>
          </p:nvPr>
        </p:nvSpPr>
        <p:spPr bwMode="auto">
          <a:xfrm>
            <a:off x="9502775" y="3813175"/>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163F34F1-BDAA-4225-98CC-5DF531D1F56F}" type="datetime'''''''''''''''''''F''''''''''''''Y''1''''''''''9'''''''''''">
              <a:rPr lang="en-IN" altLang="en-US" b="0" smtClean="0"/>
              <a:pPr lvl="1" algn="ctr">
                <a:spcBef>
                  <a:spcPct val="0"/>
                </a:spcBef>
                <a:spcAft>
                  <a:spcPct val="0"/>
                </a:spcAft>
              </a:pPr>
              <a:t>FY19</a:t>
            </a:fld>
            <a:endParaRPr lang="en-IN" b="0" noProof="0" dirty="0">
              <a:sym typeface="+mn-lt"/>
            </a:endParaRPr>
          </a:p>
        </p:txBody>
      </p:sp>
      <p:sp>
        <p:nvSpPr>
          <p:cNvPr id="9" name="Rectangle 8"/>
          <p:cNvSpPr/>
          <p:nvPr>
            <p:custDataLst>
              <p:tags r:id="rId11"/>
            </p:custDataLst>
          </p:nvPr>
        </p:nvSpPr>
        <p:spPr bwMode="auto">
          <a:xfrm>
            <a:off x="5964238" y="4151313"/>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7" name="Rectangle 16"/>
          <p:cNvSpPr/>
          <p:nvPr>
            <p:custDataLst>
              <p:tags r:id="rId12"/>
            </p:custDataLst>
          </p:nvPr>
        </p:nvSpPr>
        <p:spPr bwMode="auto">
          <a:xfrm>
            <a:off x="7313613" y="4151313"/>
            <a:ext cx="179388" cy="133350"/>
          </a:xfrm>
          <a:prstGeom prst="rect">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cxnSp>
        <p:nvCxnSpPr>
          <p:cNvPr id="28" name="Straight Connector 27"/>
          <p:cNvCxnSpPr/>
          <p:nvPr>
            <p:custDataLst>
              <p:tags r:id="rId13"/>
            </p:custDataLst>
          </p:nvPr>
        </p:nvCxnSpPr>
        <p:spPr bwMode="gray">
          <a:xfrm>
            <a:off x="8796338" y="4217988"/>
            <a:ext cx="200025" cy="0"/>
          </a:xfrm>
          <a:prstGeom prst="line">
            <a:avLst/>
          </a:prstGeom>
          <a:ln w="28575" cap="rnd" cmpd="sng" algn="ctr">
            <a:solidFill>
              <a:schemeClr val="accent4"/>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7" name="Isosceles Triangle 56"/>
          <p:cNvSpPr/>
          <p:nvPr>
            <p:custDataLst>
              <p:tags r:id="rId14"/>
            </p:custDataLst>
          </p:nvPr>
        </p:nvSpPr>
        <p:spPr bwMode="auto">
          <a:xfrm>
            <a:off x="8864600" y="4186238"/>
            <a:ext cx="63500" cy="63500"/>
          </a:xfrm>
          <a:prstGeom prst="triangle">
            <a:avLst/>
          </a:prstGeom>
          <a:solidFill>
            <a:schemeClr val="accent4"/>
          </a:solidFill>
          <a:ln w="9525" algn="ctr">
            <a:solidFill>
              <a:schemeClr val="accent4"/>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1" name="StandardTextbox"/>
          <p:cNvSpPr>
            <a:spLocks noGrp="1"/>
          </p:cNvSpPr>
          <p:nvPr>
            <p:custDataLst>
              <p:tags r:id="rId15"/>
            </p:custDataLst>
          </p:nvPr>
        </p:nvSpPr>
        <p:spPr bwMode="auto">
          <a:xfrm>
            <a:off x="6194425" y="4146550"/>
            <a:ext cx="9445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C568565A-A34C-4A77-9F25-DCFA83CABC89}" type="datetime'''''''C''''u''''r''ren''t'''' ''''''A''s''s''ets'">
              <a:rPr lang="en-IN" altLang="en-US" b="0" smtClean="0"/>
              <a:pPr lvl="1">
                <a:spcBef>
                  <a:spcPct val="0"/>
                </a:spcBef>
                <a:spcAft>
                  <a:spcPct val="0"/>
                </a:spcAft>
              </a:pPr>
              <a:t>Current Assets</a:t>
            </a:fld>
            <a:endParaRPr lang="en-IN" b="0" noProof="0" dirty="0">
              <a:sym typeface="+mn-lt"/>
            </a:endParaRPr>
          </a:p>
        </p:txBody>
      </p:sp>
      <p:sp>
        <p:nvSpPr>
          <p:cNvPr id="22" name="StandardTextbox"/>
          <p:cNvSpPr>
            <a:spLocks noGrp="1"/>
          </p:cNvSpPr>
          <p:nvPr>
            <p:custDataLst>
              <p:tags r:id="rId16"/>
            </p:custDataLst>
          </p:nvPr>
        </p:nvSpPr>
        <p:spPr bwMode="auto">
          <a:xfrm>
            <a:off x="7543800" y="4146550"/>
            <a:ext cx="11255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E5E59219-7AD3-48EF-AA4C-15E246F20DB9}" type="datetime'''''Curre''nt ''L''''''''i''ab''i''li''ti''''''''e''''''''''s'">
              <a:rPr lang="en-IN" altLang="en-US" b="0" smtClean="0"/>
              <a:pPr lvl="1">
                <a:spcBef>
                  <a:spcPct val="0"/>
                </a:spcBef>
                <a:spcAft>
                  <a:spcPct val="0"/>
                </a:spcAft>
              </a:pPr>
              <a:t>Current Liabilities</a:t>
            </a:fld>
            <a:endParaRPr lang="en-IN" b="0" noProof="0" dirty="0">
              <a:sym typeface="+mn-lt"/>
            </a:endParaRPr>
          </a:p>
        </p:txBody>
      </p:sp>
      <p:sp>
        <p:nvSpPr>
          <p:cNvPr id="61" name="StandardTextbox"/>
          <p:cNvSpPr>
            <a:spLocks noGrp="1"/>
          </p:cNvSpPr>
          <p:nvPr>
            <p:custDataLst>
              <p:tags r:id="rId17"/>
            </p:custDataLst>
          </p:nvPr>
        </p:nvSpPr>
        <p:spPr bwMode="auto">
          <a:xfrm>
            <a:off x="9074150" y="4146550"/>
            <a:ext cx="8588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6B470C31-B31C-45E5-B716-9FB6EE9A6C7C}" type="datetime'''C''''''''u''''r''r''''e''nt'''''' ''Ra''''''t''i''o'''">
              <a:rPr lang="en-IN" altLang="en-US" b="0" smtClean="0"/>
              <a:pPr lvl="1">
                <a:spcBef>
                  <a:spcPct val="0"/>
                </a:spcBef>
                <a:spcAft>
                  <a:spcPct val="0"/>
                </a:spcAft>
              </a:pPr>
              <a:t>Current Ratio</a:t>
            </a:fld>
            <a:endParaRPr lang="en-IN" b="0" noProof="0" dirty="0">
              <a:sym typeface="+mn-lt"/>
            </a:endParaRPr>
          </a:p>
        </p:txBody>
      </p:sp>
      <p:graphicFrame>
        <p:nvGraphicFramePr>
          <p:cNvPr id="164" name="Chart 163"/>
          <p:cNvGraphicFramePr/>
          <p:nvPr>
            <p:custDataLst>
              <p:tags r:id="rId18"/>
            </p:custDataLst>
          </p:nvPr>
        </p:nvGraphicFramePr>
        <p:xfrm>
          <a:off x="5441950" y="5083175"/>
          <a:ext cx="4657725" cy="1303338"/>
        </p:xfrm>
        <a:graphic>
          <a:graphicData uri="http://schemas.openxmlformats.org/drawingml/2006/chart">
            <c:chart xmlns:c="http://schemas.openxmlformats.org/drawingml/2006/chart" xmlns:r="http://schemas.openxmlformats.org/officeDocument/2006/relationships" r:id="rId29"/>
          </a:graphicData>
        </a:graphic>
      </p:graphicFrame>
      <p:sp>
        <p:nvSpPr>
          <p:cNvPr id="140" name="StandardTextbox"/>
          <p:cNvSpPr>
            <a:spLocks noGrp="1"/>
          </p:cNvSpPr>
          <p:nvPr>
            <p:custDataLst>
              <p:tags r:id="rId19"/>
            </p:custDataLst>
          </p:nvPr>
        </p:nvSpPr>
        <p:spPr bwMode="auto">
          <a:xfrm>
            <a:off x="5924550" y="6389688"/>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084CE12-37F0-495D-B580-96D158EA44B1}" type="datetime'''''''''F''''''''''''''''''Y1''''''''''''''''6'''">
              <a:rPr lang="en-IN" altLang="en-US" b="0" smtClean="0"/>
              <a:pPr lvl="1" algn="ctr">
                <a:spcBef>
                  <a:spcPct val="0"/>
                </a:spcBef>
                <a:spcAft>
                  <a:spcPct val="0"/>
                </a:spcAft>
              </a:pPr>
              <a:t>FY16</a:t>
            </a:fld>
            <a:endParaRPr lang="en-IN" b="0" noProof="0" dirty="0">
              <a:sym typeface="+mn-lt"/>
            </a:endParaRPr>
          </a:p>
        </p:txBody>
      </p:sp>
      <p:sp>
        <p:nvSpPr>
          <p:cNvPr id="150" name="StandardTextbox"/>
          <p:cNvSpPr>
            <a:spLocks noGrp="1"/>
          </p:cNvSpPr>
          <p:nvPr>
            <p:custDataLst>
              <p:tags r:id="rId20"/>
            </p:custDataLst>
          </p:nvPr>
        </p:nvSpPr>
        <p:spPr bwMode="auto">
          <a:xfrm>
            <a:off x="7046913" y="6389688"/>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B5858EFB-7133-4F62-A3A6-8286E8F3CFD9}" type="datetime'''''''F''Y''''''1''''''''''''''''''''''''7'">
              <a:rPr lang="en-IN" altLang="en-US" b="0" smtClean="0"/>
              <a:pPr lvl="1" algn="ctr">
                <a:spcBef>
                  <a:spcPct val="0"/>
                </a:spcBef>
                <a:spcAft>
                  <a:spcPct val="0"/>
                </a:spcAft>
              </a:pPr>
              <a:t>FY17</a:t>
            </a:fld>
            <a:endParaRPr lang="en-IN" b="0" noProof="0" dirty="0">
              <a:sym typeface="+mn-lt"/>
            </a:endParaRPr>
          </a:p>
        </p:txBody>
      </p:sp>
      <p:sp>
        <p:nvSpPr>
          <p:cNvPr id="152" name="StandardTextbox"/>
          <p:cNvSpPr>
            <a:spLocks noGrp="1"/>
          </p:cNvSpPr>
          <p:nvPr>
            <p:custDataLst>
              <p:tags r:id="rId21"/>
            </p:custDataLst>
          </p:nvPr>
        </p:nvSpPr>
        <p:spPr bwMode="auto">
          <a:xfrm>
            <a:off x="8170863" y="6389688"/>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816F9080-FCC3-429C-99EB-039F730E2EF7}" type="datetime'''''''''''F''''Y1''8'''''''''''''''''''''''''''">
              <a:rPr lang="en-IN" altLang="en-US" b="0" smtClean="0"/>
              <a:pPr lvl="1" algn="ctr">
                <a:spcBef>
                  <a:spcPct val="0"/>
                </a:spcBef>
                <a:spcAft>
                  <a:spcPct val="0"/>
                </a:spcAft>
              </a:pPr>
              <a:t>FY18</a:t>
            </a:fld>
            <a:endParaRPr lang="en-IN" b="0" noProof="0" dirty="0">
              <a:sym typeface="+mn-lt"/>
            </a:endParaRPr>
          </a:p>
        </p:txBody>
      </p:sp>
      <p:sp>
        <p:nvSpPr>
          <p:cNvPr id="154" name="StandardTextbox"/>
          <p:cNvSpPr>
            <a:spLocks noGrp="1"/>
          </p:cNvSpPr>
          <p:nvPr>
            <p:custDataLst>
              <p:tags r:id="rId22"/>
            </p:custDataLst>
          </p:nvPr>
        </p:nvSpPr>
        <p:spPr bwMode="auto">
          <a:xfrm>
            <a:off x="9293225" y="6389688"/>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86517F4C-89E5-4F27-9EDE-297B7DAEB8E4}" type="datetime'''''''''''''''''''''F''''''''''''''''''''''''Y''19'''''">
              <a:rPr lang="en-IN" altLang="en-US" b="0" smtClean="0"/>
              <a:pPr lvl="1" algn="ctr">
                <a:spcBef>
                  <a:spcPct val="0"/>
                </a:spcBef>
                <a:spcAft>
                  <a:spcPct val="0"/>
                </a:spcAft>
              </a:pPr>
              <a:t>FY19</a:t>
            </a:fld>
            <a:endParaRPr lang="en-IN" b="0" noProof="0" dirty="0">
              <a:sym typeface="+mn-lt"/>
            </a:endParaRPr>
          </a:p>
        </p:txBody>
      </p:sp>
      <p:sp>
        <p:nvSpPr>
          <p:cNvPr id="58" name="Rectangle 57"/>
          <p:cNvSpPr/>
          <p:nvPr>
            <p:custDataLst>
              <p:tags r:id="rId23"/>
            </p:custDataLst>
          </p:nvPr>
        </p:nvSpPr>
        <p:spPr bwMode="auto">
          <a:xfrm>
            <a:off x="7005638" y="6678613"/>
            <a:ext cx="179388" cy="133350"/>
          </a:xfrm>
          <a:prstGeom prst="rect">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38" name="StandardTextbox"/>
          <p:cNvSpPr>
            <a:spLocks noGrp="1"/>
          </p:cNvSpPr>
          <p:nvPr>
            <p:custDataLst>
              <p:tags r:id="rId24"/>
            </p:custDataLst>
          </p:nvPr>
        </p:nvSpPr>
        <p:spPr bwMode="auto">
          <a:xfrm>
            <a:off x="7235825" y="6673850"/>
            <a:ext cx="13557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1A94D7B7-F367-4D33-9F8F-28EC76DF2AF5}" type="datetime'''C''''''''''ash &amp;'' ''''''''''''Bank ''Ba''la''''nc''e'''''">
              <a:rPr lang="en-IN" altLang="en-US" b="0" smtClean="0"/>
              <a:pPr lvl="1">
                <a:spcBef>
                  <a:spcPct val="0"/>
                </a:spcBef>
                <a:spcAft>
                  <a:spcPct val="0"/>
                </a:spcAft>
              </a:pPr>
              <a:t>Cash &amp; Bank Balance</a:t>
            </a:fld>
            <a:endParaRPr lang="en-IN" b="0" noProof="0" dirty="0">
              <a:sym typeface="+mn-lt"/>
            </a:endParaRPr>
          </a:p>
        </p:txBody>
      </p:sp>
      <p:sp>
        <p:nvSpPr>
          <p:cNvPr id="29" name="Rectangle 28"/>
          <p:cNvSpPr/>
          <p:nvPr/>
        </p:nvSpPr>
        <p:spPr bwMode="gray">
          <a:xfrm>
            <a:off x="377227" y="7260740"/>
            <a:ext cx="9997262" cy="192573"/>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BPC, Deloitte</a:t>
            </a:r>
            <a:r>
              <a:rPr kumimoji="0" lang="en-US" sz="700" b="0" i="1" u="none" strike="noStrike" kern="1200" cap="none" spc="0" normalizeH="0" noProof="0" dirty="0">
                <a:ln>
                  <a:noFill/>
                </a:ln>
                <a:solidFill>
                  <a:prstClr val="black"/>
                </a:solidFill>
                <a:effectLst/>
                <a:uLnTx/>
                <a:uFillTx/>
                <a:latin typeface="Verdana"/>
                <a:ea typeface="+mn-ea"/>
                <a:cs typeface="+mn-cs"/>
              </a:rPr>
              <a:t> Analysis</a:t>
            </a:r>
            <a:endParaRPr kumimoji="0" lang="en-US" sz="700" b="0" i="1"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2133943425"/>
      </p:ext>
    </p:extLst>
  </p:cSld>
  <p:clrMapOvr>
    <a:masterClrMapping/>
  </p:clrMapOvr>
  <p:transition>
    <p:fade/>
  </p:transition>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5" imgW="530" imgH="531" progId="TCLayout.ActiveDocument.1">
                  <p:embed/>
                </p:oleObj>
              </mc:Choice>
              <mc:Fallback>
                <p:oleObj name="think-cell Slide" r:id="rId35" imgW="530" imgH="531" progId="TCLayout.ActiveDocument.1">
                  <p:embed/>
                  <p:pic>
                    <p:nvPicPr>
                      <p:cNvPr id="4" name="Object 3" hidden="1"/>
                      <p:cNvPicPr/>
                      <p:nvPr/>
                    </p:nvPicPr>
                    <p:blipFill>
                      <a:blip r:embed="rId3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IN" sz="1000" u="none" strike="noStrike" kern="1200" cap="none" spc="0" normalizeH="0" noProof="0" dirty="0">
              <a:ln>
                <a:noFill/>
              </a:ln>
              <a:solidFill>
                <a:prstClr val="white"/>
              </a:solidFill>
              <a:effectLst/>
              <a:uLnTx/>
              <a:uFillTx/>
              <a:latin typeface="Verdana" panose="020B0604030504040204" pitchFamily="34" charset="0"/>
              <a:sym typeface="Verdana" panose="020B0604030504040204" pitchFamily="34" charset="0"/>
            </a:endParaRPr>
          </a:p>
        </p:txBody>
      </p:sp>
      <p:graphicFrame>
        <p:nvGraphicFramePr>
          <p:cNvPr id="100" name="Table 99"/>
          <p:cNvGraphicFramePr>
            <a:graphicFrameLocks noGrp="1"/>
          </p:cNvGraphicFramePr>
          <p:nvPr>
            <p:custDataLst>
              <p:tags r:id="rId3"/>
            </p:custDataLst>
          </p:nvPr>
        </p:nvGraphicFramePr>
        <p:xfrm>
          <a:off x="5524500" y="1961920"/>
          <a:ext cx="4732062" cy="463230"/>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463230">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graph shows the Total Revenue from sales and Net Profitability (BDT Mn) of SGCL in the last two years</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SGCL Performance</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dirty="0">
                <a:solidFill>
                  <a:prstClr val="black">
                    <a:lumMod val="50000"/>
                    <a:lumOff val="50000"/>
                  </a:prstClr>
                </a:solidFill>
                <a:latin typeface="Verdana" panose="020B0604030504040204" pitchFamily="34" charset="0"/>
              </a:rPr>
              <a:t>SGCL being a distribution company has been earning profits since the last 5 years with ~99% of its revenue coming from supply of gas to power sector</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2281477994"/>
              </p:ext>
            </p:extLst>
          </p:nvPr>
        </p:nvGraphicFramePr>
        <p:xfrm>
          <a:off x="449993" y="1961918"/>
          <a:ext cx="4734896" cy="26683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2421239">
                <a:tc>
                  <a:txBody>
                    <a:bodyPr/>
                    <a:lstStyle/>
                    <a:p>
                      <a:pPr marL="0" indent="0" algn="just">
                        <a:spcAft>
                          <a:spcPts val="500"/>
                        </a:spcAft>
                        <a:buFont typeface="Arial" panose="020B0604020202020204" pitchFamily="34" charset="0"/>
                        <a:buNone/>
                      </a:pPr>
                      <a:r>
                        <a:rPr lang="en-US" sz="1000" b="1" baseline="0" dirty="0">
                          <a:solidFill>
                            <a:schemeClr val="tx1"/>
                          </a:solidFill>
                        </a:rPr>
                        <a:t>SGCL Historical Performance &amp; Supply Profile</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As a gas distribution company, SGCL has been profitable company with its revenue &amp; net profitability rising at ~83% CAGR in the last 5 years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The revenue has increased primarily due to increased gas sales in its geographic area</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About ~99% of SGCL’s revenue comes from supply of natural gas to power sector</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As SGCL mainly sources the gas from Bhola Gas Field, its distribution is limited to the consumers in the Bhola Island</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However SGCL provides gas to NWPGCL’s Bheramara Power Plant (410 MW) which is already connected to the national gas grid</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SGCL is the supplier of NWPGCL’s plant as it falls under its supply area</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53" name="Rectangle 52"/>
          <p:cNvSpPr/>
          <p:nvPr/>
        </p:nvSpPr>
        <p:spPr>
          <a:xfrm>
            <a:off x="5505339" y="4301867"/>
            <a:ext cx="4735625" cy="618118"/>
          </a:xfrm>
          <a:prstGeom prst="rect">
            <a:avLst/>
          </a:prstGeom>
        </p:spPr>
        <p:txBody>
          <a:bodyPr wrap="square">
            <a:spAutoFit/>
          </a:bodyPr>
          <a:lstStyle/>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noProof="0" dirty="0">
              <a:ln>
                <a:noFill/>
              </a:ln>
              <a:solidFill>
                <a:prstClr val="black"/>
              </a:solidFill>
              <a:effectLst/>
              <a:uLnTx/>
              <a:uFillTx/>
              <a:latin typeface="Verdana"/>
              <a:ea typeface="+mn-ea"/>
              <a:cs typeface="+mn-cs"/>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Following graph shows the YoY Gas purchase of SGCL and</a:t>
            </a:r>
            <a:r>
              <a:rPr kumimoji="0" lang="en-US" sz="1000" b="0" i="0" u="none" strike="noStrike" kern="1200" cap="none" spc="0" normalizeH="0" noProof="0" dirty="0">
                <a:ln>
                  <a:noFill/>
                </a:ln>
                <a:solidFill>
                  <a:prstClr val="black"/>
                </a:solidFill>
                <a:effectLst/>
                <a:uLnTx/>
                <a:uFillTx/>
                <a:latin typeface="Verdana"/>
                <a:ea typeface="+mn-ea"/>
                <a:cs typeface="+mn-cs"/>
              </a:rPr>
              <a:t> its consumer consumption breakup (mmscmd) from FY15 to FY19</a:t>
            </a:r>
            <a:endParaRPr kumimoji="0" lang="en-US" sz="1000" b="0" i="0" u="none" strike="noStrike" kern="1200" cap="none" spc="0" normalizeH="0" baseline="0" noProof="0" dirty="0">
              <a:ln>
                <a:noFill/>
              </a:ln>
              <a:solidFill>
                <a:prstClr val="black"/>
              </a:solidFill>
              <a:effectLst/>
              <a:uLnTx/>
              <a:uFillTx/>
              <a:latin typeface="Verdana"/>
              <a:ea typeface="+mn-ea"/>
              <a:cs typeface="+mn-cs"/>
            </a:endParaRPr>
          </a:p>
        </p:txBody>
      </p:sp>
      <p:graphicFrame>
        <p:nvGraphicFramePr>
          <p:cNvPr id="137" name="Chart 136"/>
          <p:cNvGraphicFramePr/>
          <p:nvPr>
            <p:custDataLst>
              <p:tags r:id="rId5"/>
            </p:custDataLst>
          </p:nvPr>
        </p:nvGraphicFramePr>
        <p:xfrm>
          <a:off x="5594350" y="2654300"/>
          <a:ext cx="3641725" cy="1157288"/>
        </p:xfrm>
        <a:graphic>
          <a:graphicData uri="http://schemas.openxmlformats.org/drawingml/2006/chart">
            <c:chart xmlns:c="http://schemas.openxmlformats.org/drawingml/2006/chart" xmlns:r="http://schemas.openxmlformats.org/officeDocument/2006/relationships" r:id="rId37"/>
          </a:graphicData>
        </a:graphic>
      </p:graphicFrame>
      <p:sp>
        <p:nvSpPr>
          <p:cNvPr id="15" name="StandardTextbox"/>
          <p:cNvSpPr>
            <a:spLocks noGrp="1"/>
          </p:cNvSpPr>
          <p:nvPr>
            <p:custDataLst>
              <p:tags r:id="rId6"/>
            </p:custDataLst>
          </p:nvPr>
        </p:nvSpPr>
        <p:spPr bwMode="auto">
          <a:xfrm>
            <a:off x="5861050" y="381476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5F71BDF-010F-4346-9F26-A2ED6CEB27ED}" type="datetime'F''Y1''''''''''''''''''''''''''''''''''''''''''5'''''''">
              <a:rPr lang="en-IN" altLang="en-US" b="0" smtClean="0"/>
              <a:pPr lvl="1" algn="ctr">
                <a:spcBef>
                  <a:spcPct val="0"/>
                </a:spcBef>
                <a:spcAft>
                  <a:spcPct val="0"/>
                </a:spcAft>
              </a:pPr>
              <a:t>FY15</a:t>
            </a:fld>
            <a:endParaRPr lang="en-IN" b="0" noProof="0" dirty="0">
              <a:sym typeface="+mn-lt"/>
            </a:endParaRPr>
          </a:p>
        </p:txBody>
      </p:sp>
      <p:sp>
        <p:nvSpPr>
          <p:cNvPr id="26" name="StandardTextbox"/>
          <p:cNvSpPr>
            <a:spLocks noGrp="1"/>
          </p:cNvSpPr>
          <p:nvPr>
            <p:custDataLst>
              <p:tags r:id="rId7"/>
            </p:custDataLst>
          </p:nvPr>
        </p:nvSpPr>
        <p:spPr bwMode="auto">
          <a:xfrm>
            <a:off x="6556375" y="381476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3784F66-A8AD-4129-9361-3B32BF92FCE1}" type="datetime'''''''''''''FY''''''1''''''''''''''''''''''''''6'''''">
              <a:rPr lang="en-IN" altLang="en-US" b="0" smtClean="0"/>
              <a:pPr lvl="1" algn="ctr">
                <a:spcBef>
                  <a:spcPct val="0"/>
                </a:spcBef>
                <a:spcAft>
                  <a:spcPct val="0"/>
                </a:spcAft>
              </a:pPr>
              <a:t>FY16</a:t>
            </a:fld>
            <a:endParaRPr lang="en-IN" b="0" noProof="0" dirty="0">
              <a:sym typeface="+mn-lt"/>
            </a:endParaRPr>
          </a:p>
        </p:txBody>
      </p:sp>
      <p:sp>
        <p:nvSpPr>
          <p:cNvPr id="35" name="StandardTextbox"/>
          <p:cNvSpPr>
            <a:spLocks noGrp="1"/>
          </p:cNvSpPr>
          <p:nvPr>
            <p:custDataLst>
              <p:tags r:id="rId8"/>
            </p:custDataLst>
          </p:nvPr>
        </p:nvSpPr>
        <p:spPr bwMode="auto">
          <a:xfrm>
            <a:off x="8642350" y="381476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1C571C81-623D-4AF4-8F7D-436EEE26F05E}" type="datetime'''''''''''F''''Y''''''''''''1''''''''''''9'''''''''">
              <a:rPr lang="en-IN" altLang="en-US" b="0" smtClean="0"/>
              <a:pPr lvl="1" algn="ctr">
                <a:spcBef>
                  <a:spcPct val="0"/>
                </a:spcBef>
                <a:spcAft>
                  <a:spcPct val="0"/>
                </a:spcAft>
              </a:pPr>
              <a:t>FY19</a:t>
            </a:fld>
            <a:endParaRPr lang="en-IN" b="0" noProof="0" dirty="0">
              <a:sym typeface="+mn-lt"/>
            </a:endParaRPr>
          </a:p>
        </p:txBody>
      </p:sp>
      <p:sp>
        <p:nvSpPr>
          <p:cNvPr id="31" name="StandardTextbox"/>
          <p:cNvSpPr>
            <a:spLocks noGrp="1"/>
          </p:cNvSpPr>
          <p:nvPr>
            <p:custDataLst>
              <p:tags r:id="rId9"/>
            </p:custDataLst>
          </p:nvPr>
        </p:nvSpPr>
        <p:spPr bwMode="auto">
          <a:xfrm>
            <a:off x="7251700" y="381476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34A0FF6-7928-4EA8-9DA3-E3610368E5A9}" type="datetime'''F''Y''''''''''''''''''''1''7'''''''''''''">
              <a:rPr lang="en-IN" altLang="en-US" b="0" smtClean="0"/>
              <a:pPr lvl="1" algn="ctr">
                <a:spcBef>
                  <a:spcPct val="0"/>
                </a:spcBef>
                <a:spcAft>
                  <a:spcPct val="0"/>
                </a:spcAft>
              </a:pPr>
              <a:t>FY17</a:t>
            </a:fld>
            <a:endParaRPr lang="en-IN" b="0" noProof="0" dirty="0">
              <a:sym typeface="+mn-lt"/>
            </a:endParaRPr>
          </a:p>
        </p:txBody>
      </p:sp>
      <p:sp>
        <p:nvSpPr>
          <p:cNvPr id="33" name="StandardTextbox"/>
          <p:cNvSpPr>
            <a:spLocks noGrp="1"/>
          </p:cNvSpPr>
          <p:nvPr>
            <p:custDataLst>
              <p:tags r:id="rId10"/>
            </p:custDataLst>
          </p:nvPr>
        </p:nvSpPr>
        <p:spPr bwMode="auto">
          <a:xfrm>
            <a:off x="7947025" y="381476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F1067BE-9010-4652-928B-CAC02D658606}" type="datetime'''''''''''F''''''''''''''''Y1''8'''''''''''''''''''''''">
              <a:rPr lang="en-IN" altLang="en-US" b="0" smtClean="0"/>
              <a:pPr lvl="1" algn="ctr">
                <a:spcBef>
                  <a:spcPct val="0"/>
                </a:spcBef>
                <a:spcAft>
                  <a:spcPct val="0"/>
                </a:spcAft>
              </a:pPr>
              <a:t>FY18</a:t>
            </a:fld>
            <a:endParaRPr lang="en-IN" b="0" noProof="0" dirty="0">
              <a:sym typeface="+mn-lt"/>
            </a:endParaRPr>
          </a:p>
        </p:txBody>
      </p:sp>
      <p:sp>
        <p:nvSpPr>
          <p:cNvPr id="5" name="Rectangle 4"/>
          <p:cNvSpPr/>
          <p:nvPr>
            <p:custDataLst>
              <p:tags r:id="rId11"/>
            </p:custDataLst>
          </p:nvPr>
        </p:nvSpPr>
        <p:spPr bwMode="auto">
          <a:xfrm>
            <a:off x="6564313" y="4098925"/>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7" name="Rectangle 6"/>
          <p:cNvSpPr/>
          <p:nvPr>
            <p:custDataLst>
              <p:tags r:id="rId12"/>
            </p:custDataLst>
          </p:nvPr>
        </p:nvSpPr>
        <p:spPr bwMode="auto">
          <a:xfrm>
            <a:off x="7812088" y="4098925"/>
            <a:ext cx="179388" cy="133350"/>
          </a:xfrm>
          <a:prstGeom prst="rect">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3" name="StandardTextbox"/>
          <p:cNvSpPr>
            <a:spLocks noGrp="1"/>
          </p:cNvSpPr>
          <p:nvPr>
            <p:custDataLst>
              <p:tags r:id="rId13"/>
            </p:custDataLst>
          </p:nvPr>
        </p:nvSpPr>
        <p:spPr bwMode="auto">
          <a:xfrm>
            <a:off x="6794500" y="4094163"/>
            <a:ext cx="9159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F92592B7-0376-4710-85CE-8CD88EBB9BAE}" type="datetime'T''''ot''''a''l'''''''''''''''''''''' R''e''v''en''''''ue'''''">
              <a:rPr lang="en-IN" altLang="en-US" b="0" smtClean="0"/>
              <a:pPr lvl="1">
                <a:spcBef>
                  <a:spcPct val="0"/>
                </a:spcBef>
                <a:spcAft>
                  <a:spcPct val="0"/>
                </a:spcAft>
              </a:pPr>
              <a:t>Total Revenue</a:t>
            </a:fld>
            <a:endParaRPr lang="en-IN" b="0" noProof="0" dirty="0">
              <a:sym typeface="+mn-lt"/>
            </a:endParaRPr>
          </a:p>
        </p:txBody>
      </p:sp>
      <p:sp>
        <p:nvSpPr>
          <p:cNvPr id="46" name="StandardTextbox"/>
          <p:cNvSpPr>
            <a:spLocks noGrp="1"/>
          </p:cNvSpPr>
          <p:nvPr>
            <p:custDataLst>
              <p:tags r:id="rId14"/>
            </p:custDataLst>
          </p:nvPr>
        </p:nvSpPr>
        <p:spPr bwMode="auto">
          <a:xfrm>
            <a:off x="8042275" y="4094163"/>
            <a:ext cx="13303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0C44097E-4B4F-47B5-A432-44DE1BECA396}" type="datetime'T''''''o''ta''l ''''Pr''of''''''it Af''''''''te''r ''''Tax'">
              <a:rPr lang="en-IN" altLang="en-US" b="0" smtClean="0"/>
              <a:pPr lvl="1">
                <a:spcBef>
                  <a:spcPct val="0"/>
                </a:spcBef>
                <a:spcAft>
                  <a:spcPct val="0"/>
                </a:spcAft>
              </a:pPr>
              <a:t>Total Profit After Tax</a:t>
            </a:fld>
            <a:endParaRPr lang="en-IN" b="0" noProof="0" dirty="0">
              <a:sym typeface="+mn-lt"/>
            </a:endParaRPr>
          </a:p>
        </p:txBody>
      </p:sp>
      <p:graphicFrame>
        <p:nvGraphicFramePr>
          <p:cNvPr id="115" name="Chart 114"/>
          <p:cNvGraphicFramePr/>
          <p:nvPr>
            <p:custDataLst>
              <p:tags r:id="rId15"/>
            </p:custDataLst>
          </p:nvPr>
        </p:nvGraphicFramePr>
        <p:xfrm>
          <a:off x="5594350" y="4886325"/>
          <a:ext cx="2498725" cy="1703388"/>
        </p:xfrm>
        <a:graphic>
          <a:graphicData uri="http://schemas.openxmlformats.org/drawingml/2006/chart">
            <c:chart xmlns:c="http://schemas.openxmlformats.org/drawingml/2006/chart" xmlns:r="http://schemas.openxmlformats.org/officeDocument/2006/relationships" r:id="rId38"/>
          </a:graphicData>
        </a:graphic>
      </p:graphicFrame>
      <p:sp>
        <p:nvSpPr>
          <p:cNvPr id="62" name="StandardTextbox"/>
          <p:cNvSpPr>
            <a:spLocks noGrp="1"/>
          </p:cNvSpPr>
          <p:nvPr>
            <p:custDataLst>
              <p:tags r:id="rId16"/>
            </p:custDataLst>
          </p:nvPr>
        </p:nvSpPr>
        <p:spPr bwMode="auto">
          <a:xfrm>
            <a:off x="6215063" y="6592888"/>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8500536-F5E2-4EBA-BD42-027C36434B7B}" type="datetime'''''''F''''''''Y''''''''''''''1''''6'''''''''''''">
              <a:rPr lang="en-IN" altLang="en-US" b="0" smtClean="0"/>
              <a:pPr lvl="1" algn="ctr">
                <a:spcBef>
                  <a:spcPct val="0"/>
                </a:spcBef>
                <a:spcAft>
                  <a:spcPct val="0"/>
                </a:spcAft>
              </a:pPr>
              <a:t>FY16</a:t>
            </a:fld>
            <a:endParaRPr lang="en-IN" b="0" noProof="0" dirty="0">
              <a:sym typeface="+mn-lt"/>
            </a:endParaRPr>
          </a:p>
        </p:txBody>
      </p:sp>
      <p:sp>
        <p:nvSpPr>
          <p:cNvPr id="61" name="StandardTextbox"/>
          <p:cNvSpPr>
            <a:spLocks noGrp="1"/>
          </p:cNvSpPr>
          <p:nvPr>
            <p:custDataLst>
              <p:tags r:id="rId17"/>
            </p:custDataLst>
          </p:nvPr>
        </p:nvSpPr>
        <p:spPr bwMode="auto">
          <a:xfrm>
            <a:off x="5748338" y="6592888"/>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8C99002A-307E-4ECD-8766-74628AB3C79C}" type="datetime'''''''''''''''''''''''''F''''''''Y''''''''''''''1''''''5'''">
              <a:rPr lang="en-IN" altLang="en-US" b="0" smtClean="0"/>
              <a:pPr lvl="1" algn="ctr">
                <a:spcBef>
                  <a:spcPct val="0"/>
                </a:spcBef>
                <a:spcAft>
                  <a:spcPct val="0"/>
                </a:spcAft>
              </a:pPr>
              <a:t>FY15</a:t>
            </a:fld>
            <a:endParaRPr lang="en-IN" b="0" noProof="0" dirty="0">
              <a:sym typeface="+mn-lt"/>
            </a:endParaRPr>
          </a:p>
        </p:txBody>
      </p:sp>
      <p:sp>
        <p:nvSpPr>
          <p:cNvPr id="64" name="StandardTextbox"/>
          <p:cNvSpPr>
            <a:spLocks noGrp="1"/>
          </p:cNvSpPr>
          <p:nvPr>
            <p:custDataLst>
              <p:tags r:id="rId18"/>
            </p:custDataLst>
          </p:nvPr>
        </p:nvSpPr>
        <p:spPr bwMode="auto">
          <a:xfrm>
            <a:off x="6681788" y="6592888"/>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737133D1-D687-4110-8A4A-093E32DCC4EC}" type="datetime'F''Y1''''7'''''''''''''''''''''">
              <a:rPr lang="en-IN" altLang="en-US" b="0" smtClean="0"/>
              <a:pPr lvl="1" algn="ctr">
                <a:spcBef>
                  <a:spcPct val="0"/>
                </a:spcBef>
                <a:spcAft>
                  <a:spcPct val="0"/>
                </a:spcAft>
              </a:pPr>
              <a:t>FY17</a:t>
            </a:fld>
            <a:endParaRPr lang="en-IN" b="0" noProof="0" dirty="0">
              <a:sym typeface="+mn-lt"/>
            </a:endParaRPr>
          </a:p>
        </p:txBody>
      </p:sp>
      <p:sp>
        <p:nvSpPr>
          <p:cNvPr id="65" name="StandardTextbox"/>
          <p:cNvSpPr>
            <a:spLocks noGrp="1"/>
          </p:cNvSpPr>
          <p:nvPr>
            <p:custDataLst>
              <p:tags r:id="rId19"/>
            </p:custDataLst>
          </p:nvPr>
        </p:nvSpPr>
        <p:spPr bwMode="auto">
          <a:xfrm>
            <a:off x="7148513" y="6592888"/>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3ACF97F-9160-4F6F-A7FB-AB79E4E79BA8}" type="datetime'''''''F''Y''''''18'">
              <a:rPr lang="en-IN" altLang="en-US" b="0" smtClean="0"/>
              <a:pPr lvl="1" algn="ctr">
                <a:spcBef>
                  <a:spcPct val="0"/>
                </a:spcBef>
                <a:spcAft>
                  <a:spcPct val="0"/>
                </a:spcAft>
              </a:pPr>
              <a:t>FY18</a:t>
            </a:fld>
            <a:endParaRPr lang="en-IN" b="0" noProof="0" dirty="0">
              <a:sym typeface="+mn-lt"/>
            </a:endParaRPr>
          </a:p>
        </p:txBody>
      </p:sp>
      <p:sp>
        <p:nvSpPr>
          <p:cNvPr id="63" name="StandardTextbox"/>
          <p:cNvSpPr>
            <a:spLocks noGrp="1"/>
          </p:cNvSpPr>
          <p:nvPr>
            <p:custDataLst>
              <p:tags r:id="rId20"/>
            </p:custDataLst>
          </p:nvPr>
        </p:nvSpPr>
        <p:spPr bwMode="auto">
          <a:xfrm>
            <a:off x="7615238" y="6592888"/>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F294F95-6334-4C23-884E-1EF3FC204FB5}" type="datetime'''F''''''''''''''''''''''Y''1''''9'''''''''''''''''">
              <a:rPr lang="en-IN" altLang="en-US" b="0" smtClean="0"/>
              <a:pPr lvl="1" algn="ctr">
                <a:spcBef>
                  <a:spcPct val="0"/>
                </a:spcBef>
                <a:spcAft>
                  <a:spcPct val="0"/>
                </a:spcAft>
              </a:pPr>
              <a:t>FY19</a:t>
            </a:fld>
            <a:endParaRPr lang="en-IN" b="0" noProof="0" dirty="0">
              <a:sym typeface="+mn-lt"/>
            </a:endParaRPr>
          </a:p>
        </p:txBody>
      </p:sp>
      <p:sp>
        <p:nvSpPr>
          <p:cNvPr id="11" name="Rectangle 10"/>
          <p:cNvSpPr/>
          <p:nvPr>
            <p:custDataLst>
              <p:tags r:id="rId21"/>
            </p:custDataLst>
          </p:nvPr>
        </p:nvSpPr>
        <p:spPr bwMode="auto">
          <a:xfrm>
            <a:off x="5816600" y="6810375"/>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08" name="StandardTextbox"/>
          <p:cNvSpPr>
            <a:spLocks noGrp="1"/>
          </p:cNvSpPr>
          <p:nvPr>
            <p:custDataLst>
              <p:tags r:id="rId22"/>
            </p:custDataLst>
          </p:nvPr>
        </p:nvSpPr>
        <p:spPr bwMode="auto">
          <a:xfrm>
            <a:off x="6046788" y="6805613"/>
            <a:ext cx="8636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6E63175B-401F-4C98-973A-3C3B8D01ECDF}" type="datetime'''''''''Gas'''' ''''''''P''''''u''''r''ch''''a''''''se'''''">
              <a:rPr lang="en-IN" altLang="en-US" b="0" smtClean="0"/>
              <a:pPr lvl="1">
                <a:spcBef>
                  <a:spcPct val="0"/>
                </a:spcBef>
                <a:spcAft>
                  <a:spcPct val="0"/>
                </a:spcAft>
              </a:pPr>
              <a:t>Gas Purchase</a:t>
            </a:fld>
            <a:endParaRPr lang="en-IN" b="0" noProof="0" dirty="0">
              <a:sym typeface="+mn-lt"/>
            </a:endParaRPr>
          </a:p>
        </p:txBody>
      </p:sp>
      <p:graphicFrame>
        <p:nvGraphicFramePr>
          <p:cNvPr id="52" name="Chart 51"/>
          <p:cNvGraphicFramePr/>
          <p:nvPr>
            <p:custDataLst>
              <p:tags r:id="rId23"/>
            </p:custDataLst>
          </p:nvPr>
        </p:nvGraphicFramePr>
        <p:xfrm>
          <a:off x="8278813" y="5003800"/>
          <a:ext cx="1835150" cy="1585913"/>
        </p:xfrm>
        <a:graphic>
          <a:graphicData uri="http://schemas.openxmlformats.org/drawingml/2006/chart">
            <c:chart xmlns:c="http://schemas.openxmlformats.org/drawingml/2006/chart" xmlns:r="http://schemas.openxmlformats.org/officeDocument/2006/relationships" r:id="rId39"/>
          </a:graphicData>
        </a:graphic>
      </p:graphicFrame>
      <p:sp>
        <p:nvSpPr>
          <p:cNvPr id="88" name="StandardTextbox"/>
          <p:cNvSpPr>
            <a:spLocks noGrp="1"/>
          </p:cNvSpPr>
          <p:nvPr>
            <p:custDataLst>
              <p:tags r:id="rId24"/>
            </p:custDataLst>
          </p:nvPr>
        </p:nvSpPr>
        <p:spPr bwMode="gray">
          <a:xfrm>
            <a:off x="9378950" y="5708650"/>
            <a:ext cx="466725" cy="152400"/>
          </a:xfrm>
          <a:prstGeom prst="rect">
            <a:avLst/>
          </a:prstGeom>
          <a:noFill/>
          <a:ln>
            <a:noFill/>
          </a:ln>
          <a:extLst>
            <a:ext uri="{909E8E84-426E-40DD-AFC4-6F175D3DCCD1}">
              <a14:hiddenFill xmlns:a14="http://schemas.microsoft.com/office/drawing/2010/main">
                <a:solidFill>
                  <a:srgbClr val="0097A9"/>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326CBD6-948C-4304-BFD9-5BF2442A546F}" type="datetime'''''''''''''9''''''''''8''''''''''''''''.''''''''''5%'''''''''">
              <a:rPr lang="en-IN" altLang="en-US" b="0" smtClean="0">
                <a:solidFill>
                  <a:schemeClr val="bg1"/>
                </a:solidFill>
              </a:rPr>
              <a:pPr lvl="1" algn="ctr">
                <a:spcBef>
                  <a:spcPct val="0"/>
                </a:spcBef>
                <a:spcAft>
                  <a:spcPct val="0"/>
                </a:spcAft>
              </a:pPr>
              <a:t>98.5%</a:t>
            </a:fld>
            <a:endParaRPr lang="en-IN" b="0" noProof="0" dirty="0">
              <a:solidFill>
                <a:schemeClr val="bg1"/>
              </a:solidFill>
              <a:sym typeface="+mn-lt"/>
            </a:endParaRPr>
          </a:p>
        </p:txBody>
      </p:sp>
      <p:sp>
        <p:nvSpPr>
          <p:cNvPr id="149" name="StandardTextbox"/>
          <p:cNvSpPr>
            <a:spLocks noGrp="1"/>
          </p:cNvSpPr>
          <p:nvPr>
            <p:custDataLst>
              <p:tags r:id="rId25"/>
            </p:custDataLst>
          </p:nvPr>
        </p:nvSpPr>
        <p:spPr bwMode="auto">
          <a:xfrm>
            <a:off x="8615363" y="6592888"/>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C3D2B64-73F1-4CF4-813B-0FCD5E574722}" type="datetime'''''''''''''''''F''''''''Y''1''''''8'''''''''''''''''''''''''">
              <a:rPr lang="en-IN" altLang="en-US" b="0" smtClean="0"/>
              <a:pPr lvl="1" algn="ctr">
                <a:spcBef>
                  <a:spcPct val="0"/>
                </a:spcBef>
                <a:spcAft>
                  <a:spcPct val="0"/>
                </a:spcAft>
              </a:pPr>
              <a:t>FY18</a:t>
            </a:fld>
            <a:endParaRPr lang="en-IN" b="0" noProof="0" dirty="0">
              <a:sym typeface="+mn-lt"/>
            </a:endParaRPr>
          </a:p>
        </p:txBody>
      </p:sp>
      <p:sp>
        <p:nvSpPr>
          <p:cNvPr id="161" name="StandardTextbox"/>
          <p:cNvSpPr>
            <a:spLocks noGrp="1"/>
          </p:cNvSpPr>
          <p:nvPr>
            <p:custDataLst>
              <p:tags r:id="rId26"/>
            </p:custDataLst>
          </p:nvPr>
        </p:nvSpPr>
        <p:spPr bwMode="auto">
          <a:xfrm>
            <a:off x="9450388" y="6592888"/>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7E7037E0-E7CC-4478-8B7D-7E25B4CB8D68}" type="datetime'F''''''''''''''''''''''Y''''''1''''''''''''''9'''''''''''">
              <a:rPr lang="en-IN" altLang="en-US" b="0" smtClean="0"/>
              <a:pPr lvl="1" algn="ctr">
                <a:spcBef>
                  <a:spcPct val="0"/>
                </a:spcBef>
                <a:spcAft>
                  <a:spcPct val="0"/>
                </a:spcAft>
              </a:pPr>
              <a:t>FY19</a:t>
            </a:fld>
            <a:endParaRPr lang="en-IN" b="0" noProof="0" dirty="0">
              <a:sym typeface="+mn-lt"/>
            </a:endParaRPr>
          </a:p>
        </p:txBody>
      </p:sp>
      <p:sp>
        <p:nvSpPr>
          <p:cNvPr id="48" name="StandardTextbox"/>
          <p:cNvSpPr>
            <a:spLocks noGrp="1"/>
          </p:cNvSpPr>
          <p:nvPr>
            <p:custDataLst>
              <p:tags r:id="rId27"/>
            </p:custDataLst>
          </p:nvPr>
        </p:nvSpPr>
        <p:spPr bwMode="gray">
          <a:xfrm>
            <a:off x="8653463" y="5214938"/>
            <a:ext cx="2492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80B624CD-7856-4037-AD50-BD5C26B39CBB}" type="datetime'''''''''''''''2''''''''''''''''''''''''.''''''''''''1'">
              <a:rPr lang="en-IN" altLang="en-US" b="0" smtClean="0">
                <a:sym typeface="+mn-lt"/>
              </a:rPr>
              <a:pPr lvl="1" algn="ctr">
                <a:spcBef>
                  <a:spcPct val="0"/>
                </a:spcBef>
                <a:spcAft>
                  <a:spcPct val="0"/>
                </a:spcAft>
              </a:pPr>
              <a:t>2.1</a:t>
            </a:fld>
            <a:endParaRPr lang="en-IN" b="0" noProof="0" dirty="0">
              <a:sym typeface="+mn-lt"/>
            </a:endParaRPr>
          </a:p>
        </p:txBody>
      </p:sp>
      <p:sp>
        <p:nvSpPr>
          <p:cNvPr id="192" name="StandardTextbox"/>
          <p:cNvSpPr>
            <a:spLocks noGrp="1"/>
          </p:cNvSpPr>
          <p:nvPr>
            <p:custDataLst>
              <p:tags r:id="rId28"/>
            </p:custDataLst>
          </p:nvPr>
        </p:nvSpPr>
        <p:spPr bwMode="gray">
          <a:xfrm>
            <a:off x="9488488" y="4908550"/>
            <a:ext cx="2492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288AFE1-BD4F-4776-812F-1C61C23040EF}" type="datetime'''''''''''''''''''''''2''''''.''''''''''''''''''''''7'">
              <a:rPr lang="en-IN" altLang="en-US" b="0" smtClean="0"/>
              <a:pPr lvl="1" algn="ctr">
                <a:spcBef>
                  <a:spcPct val="0"/>
                </a:spcBef>
                <a:spcAft>
                  <a:spcPct val="0"/>
                </a:spcAft>
              </a:pPr>
              <a:t>2.7</a:t>
            </a:fld>
            <a:endParaRPr lang="en-IN" b="0" noProof="0" dirty="0">
              <a:sym typeface="+mn-lt"/>
            </a:endParaRPr>
          </a:p>
        </p:txBody>
      </p:sp>
      <p:sp>
        <p:nvSpPr>
          <p:cNvPr id="49" name="StandardTextbox"/>
          <p:cNvSpPr>
            <a:spLocks noGrp="1"/>
          </p:cNvSpPr>
          <p:nvPr>
            <p:custDataLst>
              <p:tags r:id="rId29"/>
            </p:custDataLst>
          </p:nvPr>
        </p:nvSpPr>
        <p:spPr bwMode="gray">
          <a:xfrm>
            <a:off x="8543925" y="5867400"/>
            <a:ext cx="466725" cy="152400"/>
          </a:xfrm>
          <a:prstGeom prst="rect">
            <a:avLst/>
          </a:prstGeom>
          <a:noFill/>
          <a:ln>
            <a:noFill/>
          </a:ln>
          <a:extLst>
            <a:ext uri="{909E8E84-426E-40DD-AFC4-6F175D3DCCD1}">
              <a14:hiddenFill xmlns:a14="http://schemas.microsoft.com/office/drawing/2010/main">
                <a:solidFill>
                  <a:srgbClr val="0097A9"/>
                </a:solidFill>
              </a14:hiddenFill>
            </a:ext>
          </a:extLst>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B3BE505-3BC3-4287-962E-782494093F7B}" type="datetime'''''''''''99''''''''.''''1''''''''''''''''''%'">
              <a:rPr lang="en-IN" altLang="en-US" b="0" smtClean="0">
                <a:solidFill>
                  <a:schemeClr val="bg1"/>
                </a:solidFill>
                <a:sym typeface="+mn-lt"/>
              </a:rPr>
              <a:pPr lvl="1" algn="ctr">
                <a:spcBef>
                  <a:spcPct val="0"/>
                </a:spcBef>
                <a:spcAft>
                  <a:spcPct val="0"/>
                </a:spcAft>
              </a:pPr>
              <a:t>99.1%</a:t>
            </a:fld>
            <a:endParaRPr lang="en-IN" b="0" noProof="0" dirty="0">
              <a:solidFill>
                <a:schemeClr val="bg1"/>
              </a:solidFill>
              <a:sym typeface="+mn-lt"/>
            </a:endParaRPr>
          </a:p>
        </p:txBody>
      </p:sp>
      <p:sp>
        <p:nvSpPr>
          <p:cNvPr id="9" name="Rectangle 8"/>
          <p:cNvSpPr/>
          <p:nvPr>
            <p:custDataLst>
              <p:tags r:id="rId30"/>
            </p:custDataLst>
          </p:nvPr>
        </p:nvSpPr>
        <p:spPr bwMode="auto">
          <a:xfrm>
            <a:off x="8602663" y="6810375"/>
            <a:ext cx="179388" cy="133350"/>
          </a:xfrm>
          <a:prstGeom prst="rect">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0" name="Rectangle 9"/>
          <p:cNvSpPr/>
          <p:nvPr>
            <p:custDataLst>
              <p:tags r:id="rId31"/>
            </p:custDataLst>
          </p:nvPr>
        </p:nvSpPr>
        <p:spPr bwMode="auto">
          <a:xfrm>
            <a:off x="9321800" y="6810375"/>
            <a:ext cx="179388" cy="133350"/>
          </a:xfrm>
          <a:prstGeom prst="rect">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52" name="StandardTextbox"/>
          <p:cNvSpPr>
            <a:spLocks noGrp="1"/>
          </p:cNvSpPr>
          <p:nvPr>
            <p:custDataLst>
              <p:tags r:id="rId32"/>
            </p:custDataLst>
          </p:nvPr>
        </p:nvSpPr>
        <p:spPr bwMode="auto">
          <a:xfrm>
            <a:off x="8832850" y="6805613"/>
            <a:ext cx="3873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C1509454-527F-4982-A6BA-8AD54B0BBCE6}" type="datetime'''P''o''''''''w''''''''''''e''''''''''''r'''''">
              <a:rPr lang="en-IN" altLang="en-US" b="0" smtClean="0"/>
              <a:pPr lvl="1">
                <a:spcBef>
                  <a:spcPct val="0"/>
                </a:spcBef>
                <a:spcAft>
                  <a:spcPct val="0"/>
                </a:spcAft>
              </a:pPr>
              <a:t>Power</a:t>
            </a:fld>
            <a:endParaRPr lang="en-IN" b="0" noProof="0" dirty="0">
              <a:sym typeface="+mn-lt"/>
            </a:endParaRPr>
          </a:p>
        </p:txBody>
      </p:sp>
      <p:sp>
        <p:nvSpPr>
          <p:cNvPr id="153" name="StandardTextbox"/>
          <p:cNvSpPr>
            <a:spLocks noGrp="1"/>
          </p:cNvSpPr>
          <p:nvPr>
            <p:custDataLst>
              <p:tags r:id="rId33"/>
            </p:custDataLst>
          </p:nvPr>
        </p:nvSpPr>
        <p:spPr bwMode="auto">
          <a:xfrm>
            <a:off x="9551988" y="6805613"/>
            <a:ext cx="4286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94EA97A2-D93E-4202-97EE-DE6716CF3D6A}" type="datetime'''''''O''''''''th''''e''''''''''''''''''''r''s'''">
              <a:rPr lang="en-IN" altLang="en-US" b="0" smtClean="0"/>
              <a:pPr lvl="1">
                <a:spcBef>
                  <a:spcPct val="0"/>
                </a:spcBef>
                <a:spcAft>
                  <a:spcPct val="0"/>
                </a:spcAft>
              </a:pPr>
              <a:t>Others</a:t>
            </a:fld>
            <a:endParaRPr lang="en-IN" b="0" noProof="0" dirty="0">
              <a:sym typeface="+mn-lt"/>
            </a:endParaRPr>
          </a:p>
        </p:txBody>
      </p:sp>
      <p:sp>
        <p:nvSpPr>
          <p:cNvPr id="39" name="Rectangle 38"/>
          <p:cNvSpPr/>
          <p:nvPr/>
        </p:nvSpPr>
        <p:spPr bwMode="gray">
          <a:xfrm>
            <a:off x="9267351" y="2788696"/>
            <a:ext cx="578324" cy="167522"/>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b="1" dirty="0">
                <a:solidFill>
                  <a:schemeClr val="bg1"/>
                </a:solidFill>
              </a:rPr>
              <a:t>83%</a:t>
            </a:r>
            <a:endParaRPr lang="en-IN" sz="900" b="1" dirty="0">
              <a:solidFill>
                <a:schemeClr val="bg1"/>
              </a:solidFill>
            </a:endParaRPr>
          </a:p>
        </p:txBody>
      </p:sp>
      <p:sp>
        <p:nvSpPr>
          <p:cNvPr id="146" name="Rectangle 145"/>
          <p:cNvSpPr/>
          <p:nvPr/>
        </p:nvSpPr>
        <p:spPr bwMode="gray">
          <a:xfrm>
            <a:off x="9262826" y="3021305"/>
            <a:ext cx="578324" cy="167522"/>
          </a:xfrm>
          <a:prstGeom prst="rect">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b="1" dirty="0">
                <a:solidFill>
                  <a:schemeClr val="bg1"/>
                </a:solidFill>
              </a:rPr>
              <a:t>83%</a:t>
            </a:r>
            <a:endParaRPr lang="en-IN" sz="900" b="1" dirty="0">
              <a:solidFill>
                <a:schemeClr val="bg1"/>
              </a:solidFill>
            </a:endParaRPr>
          </a:p>
        </p:txBody>
      </p:sp>
      <p:sp>
        <p:nvSpPr>
          <p:cNvPr id="147" name="Rectangle 146"/>
          <p:cNvSpPr/>
          <p:nvPr/>
        </p:nvSpPr>
        <p:spPr bwMode="gray">
          <a:xfrm>
            <a:off x="9262826" y="2539780"/>
            <a:ext cx="578324" cy="167522"/>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b="1" dirty="0"/>
              <a:t>CAGR</a:t>
            </a:r>
            <a:endParaRPr lang="en-IN" sz="900" b="1" dirty="0"/>
          </a:p>
        </p:txBody>
      </p:sp>
      <p:graphicFrame>
        <p:nvGraphicFramePr>
          <p:cNvPr id="40" name="Table 39"/>
          <p:cNvGraphicFramePr>
            <a:graphicFrameLocks noGrp="1"/>
          </p:cNvGraphicFramePr>
          <p:nvPr>
            <p:extLst>
              <p:ext uri="{D42A27DB-BD31-4B8C-83A1-F6EECF244321}">
                <p14:modId xmlns:p14="http://schemas.microsoft.com/office/powerpoint/2010/main" val="2604781771"/>
              </p:ext>
            </p:extLst>
          </p:nvPr>
        </p:nvGraphicFramePr>
        <p:xfrm>
          <a:off x="613964" y="4710545"/>
          <a:ext cx="4493420" cy="1920240"/>
        </p:xfrm>
        <a:graphic>
          <a:graphicData uri="http://schemas.openxmlformats.org/drawingml/2006/table">
            <a:tbl>
              <a:tblPr firstRow="1" bandRow="1">
                <a:tableStyleId>{69012ECD-51FC-41F1-AA8D-1B2483CD663E}</a:tableStyleId>
              </a:tblPr>
              <a:tblGrid>
                <a:gridCol w="1631396">
                  <a:extLst>
                    <a:ext uri="{9D8B030D-6E8A-4147-A177-3AD203B41FA5}">
                      <a16:colId xmlns:a16="http://schemas.microsoft.com/office/drawing/2014/main" val="1553288380"/>
                    </a:ext>
                  </a:extLst>
                </a:gridCol>
                <a:gridCol w="2862024">
                  <a:extLst>
                    <a:ext uri="{9D8B030D-6E8A-4147-A177-3AD203B41FA5}">
                      <a16:colId xmlns:a16="http://schemas.microsoft.com/office/drawing/2014/main" val="2363715688"/>
                    </a:ext>
                  </a:extLst>
                </a:gridCol>
              </a:tblGrid>
              <a:tr h="229874">
                <a:tc>
                  <a:txBody>
                    <a:bodyPr/>
                    <a:lstStyle/>
                    <a:p>
                      <a:r>
                        <a:rPr lang="en-US" sz="1000" dirty="0"/>
                        <a:t>Consumer Category</a:t>
                      </a:r>
                      <a:endParaRPr lang="en-IN" sz="1000" dirty="0"/>
                    </a:p>
                  </a:txBody>
                  <a:tcPr/>
                </a:tc>
                <a:tc>
                  <a:txBody>
                    <a:bodyPr/>
                    <a:lstStyle/>
                    <a:p>
                      <a:r>
                        <a:rPr lang="en-US" sz="1000" dirty="0"/>
                        <a:t>Number of</a:t>
                      </a:r>
                      <a:r>
                        <a:rPr lang="en-US" sz="1000" baseline="0" dirty="0"/>
                        <a:t> Consumers / Details</a:t>
                      </a:r>
                      <a:endParaRPr lang="en-IN" sz="1000" dirty="0"/>
                    </a:p>
                  </a:txBody>
                  <a:tcPr/>
                </a:tc>
                <a:extLst>
                  <a:ext uri="{0D108BD9-81ED-4DB2-BD59-A6C34878D82A}">
                    <a16:rowId xmlns:a16="http://schemas.microsoft.com/office/drawing/2014/main" val="2490284217"/>
                  </a:ext>
                </a:extLst>
              </a:tr>
              <a:tr h="229874">
                <a:tc>
                  <a:txBody>
                    <a:bodyPr/>
                    <a:lstStyle/>
                    <a:p>
                      <a:r>
                        <a:rPr lang="en-US" sz="1000" dirty="0"/>
                        <a:t>Power</a:t>
                      </a:r>
                      <a:endParaRPr lang="en-IN" sz="1000" dirty="0"/>
                    </a:p>
                  </a:txBody>
                  <a:tcPr/>
                </a:tc>
                <a:tc>
                  <a:txBody>
                    <a:bodyPr/>
                    <a:lstStyle/>
                    <a:p>
                      <a:pPr marL="171450" indent="-171450">
                        <a:buFont typeface="Arial" panose="020B0604020202020204" pitchFamily="34" charset="0"/>
                        <a:buChar char="•"/>
                      </a:pPr>
                      <a:r>
                        <a:rPr lang="en-US" sz="1000" dirty="0"/>
                        <a:t>Aggrego 95 MW</a:t>
                      </a:r>
                      <a:endParaRPr lang="en-IN" sz="1000" dirty="0"/>
                    </a:p>
                    <a:p>
                      <a:pPr marL="171450" indent="-171450">
                        <a:buFont typeface="Arial" panose="020B0604020202020204" pitchFamily="34" charset="0"/>
                        <a:buChar char="•"/>
                      </a:pPr>
                      <a:r>
                        <a:rPr lang="en-US" sz="1000" dirty="0"/>
                        <a:t>Bhola</a:t>
                      </a:r>
                      <a:r>
                        <a:rPr lang="en-US" sz="1000" baseline="0" dirty="0"/>
                        <a:t> 34.5 PP Rental Plant</a:t>
                      </a:r>
                    </a:p>
                    <a:p>
                      <a:pPr marL="171450" indent="-171450">
                        <a:buFont typeface="Arial" panose="020B0604020202020204" pitchFamily="34" charset="0"/>
                        <a:buChar char="•"/>
                      </a:pPr>
                      <a:r>
                        <a:rPr lang="en-US" sz="1000" baseline="0" dirty="0"/>
                        <a:t>Bhola I 225 MW</a:t>
                      </a:r>
                    </a:p>
                    <a:p>
                      <a:pPr marL="171450" indent="-171450">
                        <a:buFont typeface="Arial" panose="020B0604020202020204" pitchFamily="34" charset="0"/>
                        <a:buChar char="•"/>
                      </a:pPr>
                      <a:r>
                        <a:rPr lang="en-US" sz="1000" baseline="0" dirty="0"/>
                        <a:t>NWPGCL Bheramara 410 MW</a:t>
                      </a:r>
                      <a:r>
                        <a:rPr lang="en-US" sz="1000" baseline="30000" dirty="0"/>
                        <a:t>1</a:t>
                      </a:r>
                      <a:endParaRPr lang="en-IN" sz="1000" dirty="0"/>
                    </a:p>
                  </a:txBody>
                  <a:tcPr/>
                </a:tc>
                <a:extLst>
                  <a:ext uri="{0D108BD9-81ED-4DB2-BD59-A6C34878D82A}">
                    <a16:rowId xmlns:a16="http://schemas.microsoft.com/office/drawing/2014/main" val="3329902737"/>
                  </a:ext>
                </a:extLst>
              </a:tr>
              <a:tr h="229874">
                <a:tc>
                  <a:txBody>
                    <a:bodyPr/>
                    <a:lstStyle/>
                    <a:p>
                      <a:r>
                        <a:rPr lang="en-US" sz="1000" dirty="0"/>
                        <a:t>Domestic</a:t>
                      </a:r>
                      <a:endParaRPr lang="en-IN" sz="1000" dirty="0"/>
                    </a:p>
                  </a:txBody>
                  <a:tcPr/>
                </a:tc>
                <a:tc>
                  <a:txBody>
                    <a:bodyPr/>
                    <a:lstStyle/>
                    <a:p>
                      <a:pPr marL="171450" indent="-171450">
                        <a:buFont typeface="Arial" panose="020B0604020202020204" pitchFamily="34" charset="0"/>
                        <a:buChar char="•"/>
                      </a:pPr>
                      <a:r>
                        <a:rPr lang="en-US" sz="1000" dirty="0"/>
                        <a:t>2286</a:t>
                      </a:r>
                      <a:endParaRPr lang="en-IN" sz="1000" dirty="0"/>
                    </a:p>
                  </a:txBody>
                  <a:tcPr/>
                </a:tc>
                <a:extLst>
                  <a:ext uri="{0D108BD9-81ED-4DB2-BD59-A6C34878D82A}">
                    <a16:rowId xmlns:a16="http://schemas.microsoft.com/office/drawing/2014/main" val="1869858311"/>
                  </a:ext>
                </a:extLst>
              </a:tr>
              <a:tr h="229874">
                <a:tc>
                  <a:txBody>
                    <a:bodyPr/>
                    <a:lstStyle/>
                    <a:p>
                      <a:r>
                        <a:rPr lang="en-US" sz="1000" dirty="0"/>
                        <a:t>Commercial</a:t>
                      </a:r>
                      <a:endParaRPr lang="en-IN" sz="1000" dirty="0"/>
                    </a:p>
                  </a:txBody>
                  <a:tcPr/>
                </a:tc>
                <a:tc>
                  <a:txBody>
                    <a:bodyPr/>
                    <a:lstStyle/>
                    <a:p>
                      <a:pPr marL="171450" indent="-171450">
                        <a:buFont typeface="Arial" panose="020B0604020202020204" pitchFamily="34" charset="0"/>
                        <a:buChar char="•"/>
                      </a:pPr>
                      <a:r>
                        <a:rPr lang="en-US" sz="1000" dirty="0"/>
                        <a:t>3</a:t>
                      </a:r>
                      <a:endParaRPr lang="en-IN" sz="1000" dirty="0"/>
                    </a:p>
                  </a:txBody>
                  <a:tcPr/>
                </a:tc>
                <a:extLst>
                  <a:ext uri="{0D108BD9-81ED-4DB2-BD59-A6C34878D82A}">
                    <a16:rowId xmlns:a16="http://schemas.microsoft.com/office/drawing/2014/main" val="1515436056"/>
                  </a:ext>
                </a:extLst>
              </a:tr>
              <a:tr h="229874">
                <a:tc>
                  <a:txBody>
                    <a:bodyPr/>
                    <a:lstStyle/>
                    <a:p>
                      <a:r>
                        <a:rPr lang="en-US" sz="1000" dirty="0"/>
                        <a:t>Industrial</a:t>
                      </a:r>
                      <a:endParaRPr lang="en-IN" sz="1000" dirty="0"/>
                    </a:p>
                  </a:txBody>
                  <a:tcPr/>
                </a:tc>
                <a:tc>
                  <a:txBody>
                    <a:bodyPr/>
                    <a:lstStyle/>
                    <a:p>
                      <a:pPr marL="171450" indent="-171450">
                        <a:buFont typeface="Arial" panose="020B0604020202020204" pitchFamily="34" charset="0"/>
                        <a:buChar char="•"/>
                      </a:pPr>
                      <a:r>
                        <a:rPr lang="en-US" sz="1000" dirty="0"/>
                        <a:t>4</a:t>
                      </a:r>
                      <a:endParaRPr lang="en-IN" sz="1000" dirty="0"/>
                    </a:p>
                  </a:txBody>
                  <a:tcPr/>
                </a:tc>
                <a:extLst>
                  <a:ext uri="{0D108BD9-81ED-4DB2-BD59-A6C34878D82A}">
                    <a16:rowId xmlns:a16="http://schemas.microsoft.com/office/drawing/2014/main" val="778258853"/>
                  </a:ext>
                </a:extLst>
              </a:tr>
              <a:tr h="229874">
                <a:tc>
                  <a:txBody>
                    <a:bodyPr/>
                    <a:lstStyle/>
                    <a:p>
                      <a:r>
                        <a:rPr lang="en-US" sz="1000" dirty="0"/>
                        <a:t>Captive Power</a:t>
                      </a:r>
                      <a:endParaRPr lang="en-IN" sz="1000" dirty="0"/>
                    </a:p>
                  </a:txBody>
                  <a:tcPr/>
                </a:tc>
                <a:tc>
                  <a:txBody>
                    <a:bodyPr/>
                    <a:lstStyle/>
                    <a:p>
                      <a:pPr marL="171450" indent="-171450">
                        <a:buFont typeface="Arial" panose="020B0604020202020204" pitchFamily="34" charset="0"/>
                        <a:buChar char="•"/>
                      </a:pPr>
                      <a:r>
                        <a:rPr lang="en-US" sz="1000" dirty="0"/>
                        <a:t>2 </a:t>
                      </a:r>
                      <a:endParaRPr lang="en-IN" sz="1000" dirty="0"/>
                    </a:p>
                  </a:txBody>
                  <a:tcPr/>
                </a:tc>
                <a:extLst>
                  <a:ext uri="{0D108BD9-81ED-4DB2-BD59-A6C34878D82A}">
                    <a16:rowId xmlns:a16="http://schemas.microsoft.com/office/drawing/2014/main" val="589789252"/>
                  </a:ext>
                </a:extLst>
              </a:tr>
            </a:tbl>
          </a:graphicData>
        </a:graphic>
      </p:graphicFrame>
      <p:sp>
        <p:nvSpPr>
          <p:cNvPr id="150" name="Rectangle 149"/>
          <p:cNvSpPr/>
          <p:nvPr/>
        </p:nvSpPr>
        <p:spPr bwMode="gray">
          <a:xfrm>
            <a:off x="377227" y="7260740"/>
            <a:ext cx="9997262" cy="192573"/>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SGCL, Deloitte Analysis; Note 1)</a:t>
            </a:r>
            <a:r>
              <a:rPr kumimoji="0" lang="en-US" sz="700" b="0" i="1" u="none" strike="noStrike" kern="1200" cap="none" spc="0" normalizeH="0" noProof="0" dirty="0">
                <a:ln>
                  <a:noFill/>
                </a:ln>
                <a:solidFill>
                  <a:prstClr val="black"/>
                </a:solidFill>
                <a:effectLst/>
                <a:uLnTx/>
                <a:uFillTx/>
                <a:latin typeface="Verdana"/>
                <a:ea typeface="+mn-ea"/>
                <a:cs typeface="+mn-cs"/>
              </a:rPr>
              <a:t> The NWPGCL </a:t>
            </a:r>
            <a:r>
              <a:rPr kumimoji="0" lang="en-US" sz="700" b="0" i="1" u="none" strike="noStrike" kern="1200" cap="none" spc="0" normalizeH="0" noProof="0" dirty="0" err="1">
                <a:ln>
                  <a:noFill/>
                </a:ln>
                <a:solidFill>
                  <a:prstClr val="black"/>
                </a:solidFill>
                <a:effectLst/>
                <a:uLnTx/>
                <a:uFillTx/>
                <a:latin typeface="Verdana"/>
                <a:ea typeface="+mn-ea"/>
                <a:cs typeface="+mn-cs"/>
              </a:rPr>
              <a:t>Bheramara</a:t>
            </a:r>
            <a:r>
              <a:rPr kumimoji="0" lang="en-US" sz="700" b="0" i="1" u="none" strike="noStrike" kern="1200" cap="none" spc="0" normalizeH="0" noProof="0" dirty="0">
                <a:ln>
                  <a:noFill/>
                </a:ln>
                <a:solidFill>
                  <a:prstClr val="black"/>
                </a:solidFill>
                <a:effectLst/>
                <a:uLnTx/>
                <a:uFillTx/>
                <a:latin typeface="Verdana"/>
                <a:ea typeface="+mn-ea"/>
                <a:cs typeface="+mn-cs"/>
              </a:rPr>
              <a:t> 410 MW is not located in </a:t>
            </a:r>
            <a:r>
              <a:rPr kumimoji="0" lang="en-US" sz="700" b="0" i="1" u="none" strike="noStrike" kern="1200" cap="none" spc="0" normalizeH="0" noProof="0" dirty="0" err="1">
                <a:ln>
                  <a:noFill/>
                </a:ln>
                <a:solidFill>
                  <a:prstClr val="black"/>
                </a:solidFill>
                <a:effectLst/>
                <a:uLnTx/>
                <a:uFillTx/>
                <a:latin typeface="Verdana"/>
                <a:ea typeface="+mn-ea"/>
                <a:cs typeface="+mn-cs"/>
              </a:rPr>
              <a:t>Bhola</a:t>
            </a:r>
            <a:r>
              <a:rPr kumimoji="0" lang="en-US" sz="700" b="0" i="1" u="none" strike="noStrike" kern="1200" cap="none" spc="0" normalizeH="0" noProof="0" dirty="0">
                <a:ln>
                  <a:noFill/>
                </a:ln>
                <a:solidFill>
                  <a:prstClr val="black"/>
                </a:solidFill>
                <a:effectLst/>
                <a:uLnTx/>
                <a:uFillTx/>
                <a:latin typeface="Verdana"/>
                <a:ea typeface="+mn-ea"/>
                <a:cs typeface="+mn-cs"/>
              </a:rPr>
              <a:t> Island and hence not supplied natural gas via </a:t>
            </a:r>
            <a:r>
              <a:rPr kumimoji="0" lang="en-US" sz="700" b="0" i="1" u="none" strike="noStrike" kern="1200" cap="none" spc="0" normalizeH="0" noProof="0" dirty="0" err="1">
                <a:ln>
                  <a:noFill/>
                </a:ln>
                <a:solidFill>
                  <a:prstClr val="black"/>
                </a:solidFill>
                <a:effectLst/>
                <a:uLnTx/>
                <a:uFillTx/>
                <a:latin typeface="Verdana"/>
                <a:ea typeface="+mn-ea"/>
                <a:cs typeface="+mn-cs"/>
              </a:rPr>
              <a:t>Bhola</a:t>
            </a:r>
            <a:r>
              <a:rPr kumimoji="0" lang="en-US" sz="700" b="0" i="1" u="none" strike="noStrike" kern="1200" cap="none" spc="0" normalizeH="0" noProof="0" dirty="0">
                <a:ln>
                  <a:noFill/>
                </a:ln>
                <a:solidFill>
                  <a:prstClr val="black"/>
                </a:solidFill>
                <a:effectLst/>
                <a:uLnTx/>
                <a:uFillTx/>
                <a:latin typeface="Verdana"/>
                <a:ea typeface="+mn-ea"/>
                <a:cs typeface="+mn-cs"/>
              </a:rPr>
              <a:t> Fields. It falls under SGCL’s command area and is supplied natural gas via the National Gas Grid</a:t>
            </a:r>
            <a:endParaRPr kumimoji="0" lang="en-US" sz="700" b="0" i="1"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155725547"/>
      </p:ext>
    </p:extLst>
  </p:cSld>
  <p:clrMapOvr>
    <a:masterClrMapping/>
  </p:clrMapOvr>
  <p:transition>
    <p:fade/>
  </p:transition>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190408130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6" imgW="530" imgH="531" progId="TCLayout.ActiveDocument.1">
                  <p:embed/>
                </p:oleObj>
              </mc:Choice>
              <mc:Fallback>
                <p:oleObj name="think-cell Slide" r:id="rId16" imgW="530" imgH="531" progId="TCLayout.ActiveDocument.1">
                  <p:embed/>
                  <p:pic>
                    <p:nvPicPr>
                      <p:cNvPr id="4" name="Object 3" hidden="1"/>
                      <p:cNvPicPr/>
                      <p:nvPr/>
                    </p:nvPicPr>
                    <p:blipFill>
                      <a:blip r:embed="rId1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defRPr/>
            </a:pPr>
            <a:endParaRPr kumimoji="0" lang="en-GB" sz="1000" u="none" strike="noStrike" kern="1200" cap="none" spc="0" normalizeH="0" noProof="0" dirty="0">
              <a:ln>
                <a:noFill/>
              </a:ln>
              <a:solidFill>
                <a:prstClr val="white"/>
              </a:solidFill>
              <a:effectLst/>
              <a:uLnTx/>
              <a:uFillTx/>
              <a:latin typeface="Verdana" panose="020B0604030504040204" pitchFamily="34" charset="0"/>
              <a:sym typeface="Verdana" panose="020B0604030504040204" pitchFamily="34" charset="0"/>
            </a:endParaRPr>
          </a:p>
        </p:txBody>
      </p:sp>
      <p:graphicFrame>
        <p:nvGraphicFramePr>
          <p:cNvPr id="100" name="Table 99"/>
          <p:cNvGraphicFramePr>
            <a:graphicFrameLocks noGrp="1"/>
          </p:cNvGraphicFramePr>
          <p:nvPr>
            <p:custDataLst>
              <p:tags r:id="rId3"/>
            </p:custDataLst>
            <p:extLst>
              <p:ext uri="{D42A27DB-BD31-4B8C-83A1-F6EECF244321}">
                <p14:modId xmlns:p14="http://schemas.microsoft.com/office/powerpoint/2010/main" val="564376820"/>
              </p:ext>
            </p:extLst>
          </p:nvPr>
        </p:nvGraphicFramePr>
        <p:xfrm>
          <a:off x="5524500" y="1961920"/>
          <a:ext cx="4732062" cy="463230"/>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463230">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graph shows the Total Sales from gas and annual collections  (BDT Mn) of SGCL in the last two years</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itle 1"/>
          <p:cNvSpPr>
            <a:spLocks noGrp="1"/>
          </p:cNvSpPr>
          <p:nvPr>
            <p:ph type="title"/>
          </p:nvPr>
        </p:nvSpPr>
        <p:spPr/>
        <p:txBody>
          <a:bodyPr/>
          <a:lstStyle/>
          <a:p>
            <a:r>
              <a:rPr lang="en-US" dirty="0"/>
              <a:t>SGCL Performance</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noProof="0" dirty="0">
                <a:solidFill>
                  <a:prstClr val="black">
                    <a:lumMod val="50000"/>
                    <a:lumOff val="50000"/>
                  </a:prstClr>
                </a:solidFill>
                <a:latin typeface="Verdana" panose="020B0604030504040204" pitchFamily="34" charset="0"/>
              </a:rPr>
              <a:t>SGCL’s Billing-Collection efficiency has improved in FY19 to 1.2 months of average receivables; The profitability has also allowed SGCL to lower its debt equity ratio signifying improvement in overall solvency</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4"/>
            </p:custDataLst>
            <p:extLst>
              <p:ext uri="{D42A27DB-BD31-4B8C-83A1-F6EECF244321}">
                <p14:modId xmlns:p14="http://schemas.microsoft.com/office/powerpoint/2010/main" val="1322195453"/>
              </p:ext>
            </p:extLst>
          </p:nvPr>
        </p:nvGraphicFramePr>
        <p:xfrm>
          <a:off x="449993" y="1961918"/>
          <a:ext cx="4734896" cy="46368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2421239">
                <a:tc>
                  <a:txBody>
                    <a:bodyPr/>
                    <a:lstStyle/>
                    <a:p>
                      <a:pPr marL="0" indent="0" algn="just">
                        <a:spcAft>
                          <a:spcPts val="500"/>
                        </a:spcAft>
                        <a:buFont typeface="Arial" panose="020B0604020202020204" pitchFamily="34" charset="0"/>
                        <a:buNone/>
                      </a:pPr>
                      <a:r>
                        <a:rPr lang="en-US" sz="1000" b="1" baseline="0" dirty="0">
                          <a:solidFill>
                            <a:schemeClr val="tx1"/>
                          </a:solidFill>
                        </a:rPr>
                        <a:t>SGCL Billing &amp; Collection Efficiency</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SGCL’s collection efficiency has ranged from ~76</a:t>
                      </a:r>
                      <a:r>
                        <a:rPr kumimoji="0" lang="en-US" sz="1000" b="0" i="0" u="none" strike="noStrike" kern="1200" cap="none" spc="0" normalizeH="0" baseline="0" dirty="0">
                          <a:ln>
                            <a:noFill/>
                          </a:ln>
                          <a:solidFill>
                            <a:schemeClr val="tx1"/>
                          </a:solidFill>
                          <a:effectLst/>
                          <a:uLnTx/>
                          <a:uFillTx/>
                          <a:latin typeface="Verdana"/>
                          <a:ea typeface="+mn-ea"/>
                          <a:cs typeface="+mn-cs"/>
                        </a:rPr>
                        <a:t>% to ~120% in </a:t>
                      </a:r>
                      <a:r>
                        <a:rPr kumimoji="0" lang="en-US" sz="1000" b="0" i="0" u="none" strike="noStrike" kern="1200" cap="none" spc="0" normalizeH="0" baseline="0" dirty="0">
                          <a:ln>
                            <a:noFill/>
                          </a:ln>
                          <a:solidFill>
                            <a:prstClr val="black"/>
                          </a:solidFill>
                          <a:effectLst/>
                          <a:uLnTx/>
                          <a:uFillTx/>
                          <a:latin typeface="Verdana"/>
                          <a:ea typeface="+mn-ea"/>
                          <a:cs typeface="+mn-cs"/>
                        </a:rPr>
                        <a:t>the last 5 years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According to its annual reports, its overall receivables has decreased from an average ~2-4 months between FY15 to FY18 to ~1.2 month in FY19 indicating improved liquidity position</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On the other hand, SGCL’s creditor payable days has increased from ~5 months in FY18 to ~6.5 months in FY19</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The major creditors of SGCL are BAPEX and BGFCL (both GoB owned companies)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dirty="0">
                        <a:ln>
                          <a:noFill/>
                        </a:ln>
                        <a:solidFill>
                          <a:prstClr val="black"/>
                        </a:solidFill>
                        <a:effectLst/>
                        <a:uLnTx/>
                        <a:uFillTx/>
                        <a:latin typeface="Verdana"/>
                        <a:ea typeface="+mn-ea"/>
                        <a:cs typeface="+mn-cs"/>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1" kern="1200" baseline="0" dirty="0">
                        <a:solidFill>
                          <a:schemeClr val="tx1"/>
                        </a:solidFill>
                        <a:latin typeface="+mn-lt"/>
                        <a:ea typeface="+mn-ea"/>
                        <a:cs typeface="+mn-cs"/>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1" kern="1200" baseline="0" dirty="0">
                        <a:solidFill>
                          <a:schemeClr val="tx1"/>
                        </a:solidFill>
                        <a:latin typeface="+mn-lt"/>
                        <a:ea typeface="+mn-ea"/>
                        <a:cs typeface="+mn-cs"/>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1" kern="1200" baseline="0" dirty="0">
                        <a:solidFill>
                          <a:schemeClr val="tx1"/>
                        </a:solidFill>
                        <a:latin typeface="+mn-lt"/>
                        <a:ea typeface="+mn-ea"/>
                        <a:cs typeface="+mn-cs"/>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kern="1200" baseline="0" dirty="0">
                          <a:solidFill>
                            <a:schemeClr val="tx1"/>
                          </a:solidFill>
                          <a:latin typeface="+mn-lt"/>
                          <a:ea typeface="+mn-ea"/>
                          <a:cs typeface="+mn-cs"/>
                        </a:rPr>
                        <a:t>Debt Equity &amp; Current Liquidity Ratio</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SGCL’s profitability has helped it to reduce its long term loans from Government of Bangladesh &amp; Petrobangla</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The Debt Equity Ratio has reduced from a high of ~6 in FY16 to ~4 in FY19</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The management of SGCL has also indicated that the Debt Equity Ratio is expected to further reduce in the coming years as it intends to pay its long term loans to improve solvency</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In terms of liquidity, the Current Ratio of SGCL has improved from ~1.5 in FY16 to ~1.9 in FY 19</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53" name="Rectangle 52"/>
          <p:cNvSpPr/>
          <p:nvPr/>
        </p:nvSpPr>
        <p:spPr>
          <a:xfrm>
            <a:off x="5505339" y="4529257"/>
            <a:ext cx="4735625" cy="618118"/>
          </a:xfrm>
          <a:prstGeom prst="rect">
            <a:avLst/>
          </a:prstGeom>
        </p:spPr>
        <p:txBody>
          <a:bodyPr wrap="square">
            <a:spAutoFit/>
          </a:bodyPr>
          <a:lstStyle/>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kumimoji="0" lang="en-US" sz="1000" b="0" i="0" u="none" strike="noStrike" kern="1200" cap="none" spc="0" normalizeH="0" baseline="0" noProof="0" dirty="0">
              <a:ln>
                <a:noFill/>
              </a:ln>
              <a:solidFill>
                <a:prstClr val="black"/>
              </a:solidFill>
              <a:effectLst/>
              <a:uLnTx/>
              <a:uFillTx/>
              <a:latin typeface="Verdana"/>
              <a:ea typeface="+mn-ea"/>
              <a:cs typeface="+mn-cs"/>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Following graph shows </a:t>
            </a:r>
            <a:r>
              <a:rPr lang="en-US" sz="1000" dirty="0">
                <a:solidFill>
                  <a:prstClr val="black"/>
                </a:solidFill>
                <a:latin typeface="Verdana"/>
              </a:rPr>
              <a:t>the debt equity ratio and current ratio of SGCL </a:t>
            </a:r>
            <a:r>
              <a:rPr kumimoji="0" lang="en-US" sz="1000" b="0" i="0" u="none" strike="noStrike" kern="1200" cap="none" spc="0" normalizeH="0" noProof="0" dirty="0">
                <a:ln>
                  <a:noFill/>
                </a:ln>
                <a:solidFill>
                  <a:prstClr val="black"/>
                </a:solidFill>
                <a:effectLst/>
                <a:uLnTx/>
                <a:uFillTx/>
                <a:latin typeface="Verdana"/>
                <a:ea typeface="+mn-ea"/>
                <a:cs typeface="+mn-cs"/>
              </a:rPr>
              <a:t>from FY16 to FY19</a:t>
            </a:r>
            <a:endParaRPr kumimoji="0" lang="en-US" sz="1000" b="0" i="0" u="none" strike="noStrike" kern="1200" cap="none" spc="0" normalizeH="0" baseline="0" noProof="0" dirty="0">
              <a:ln>
                <a:noFill/>
              </a:ln>
              <a:solidFill>
                <a:prstClr val="black"/>
              </a:solidFill>
              <a:effectLst/>
              <a:uLnTx/>
              <a:uFillTx/>
              <a:latin typeface="Verdana"/>
              <a:ea typeface="+mn-ea"/>
              <a:cs typeface="+mn-cs"/>
            </a:endParaRPr>
          </a:p>
        </p:txBody>
      </p:sp>
      <p:graphicFrame>
        <p:nvGraphicFramePr>
          <p:cNvPr id="36" name="Chart 35"/>
          <p:cNvGraphicFramePr/>
          <p:nvPr>
            <p:custDataLst>
              <p:tags r:id="rId5"/>
            </p:custDataLst>
            <p:extLst>
              <p:ext uri="{D42A27DB-BD31-4B8C-83A1-F6EECF244321}">
                <p14:modId xmlns:p14="http://schemas.microsoft.com/office/powerpoint/2010/main" val="607477903"/>
              </p:ext>
            </p:extLst>
          </p:nvPr>
        </p:nvGraphicFramePr>
        <p:xfrm>
          <a:off x="5594350" y="2728913"/>
          <a:ext cx="4729163" cy="1082675"/>
        </p:xfrm>
        <a:graphic>
          <a:graphicData uri="http://schemas.openxmlformats.org/drawingml/2006/chart">
            <c:chart xmlns:c="http://schemas.openxmlformats.org/drawingml/2006/chart" xmlns:r="http://schemas.openxmlformats.org/officeDocument/2006/relationships" r:id="rId18"/>
          </a:graphicData>
        </a:graphic>
      </p:graphicFrame>
      <p:sp>
        <p:nvSpPr>
          <p:cNvPr id="15" name="StandardTextbox"/>
          <p:cNvSpPr>
            <a:spLocks noGrp="1"/>
          </p:cNvSpPr>
          <p:nvPr>
            <p:custDataLst>
              <p:tags r:id="rId6"/>
            </p:custDataLst>
          </p:nvPr>
        </p:nvSpPr>
        <p:spPr bwMode="auto">
          <a:xfrm>
            <a:off x="5970588" y="381476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5F71BDF-010F-4346-9F26-A2ED6CEB27ED}" type="datetime'F''Y1''''''''''''''''''''''''''''''''''''''''''5'''''''">
              <a:rPr lang="en-IN" altLang="en-US" b="0" smtClean="0"/>
              <a:pPr lvl="1" algn="ctr">
                <a:spcBef>
                  <a:spcPct val="0"/>
                </a:spcBef>
                <a:spcAft>
                  <a:spcPct val="0"/>
                </a:spcAft>
              </a:pPr>
              <a:t>FY15</a:t>
            </a:fld>
            <a:endParaRPr lang="en-IN" b="0" noProof="0" dirty="0">
              <a:sym typeface="+mn-lt"/>
            </a:endParaRPr>
          </a:p>
        </p:txBody>
      </p:sp>
      <p:sp>
        <p:nvSpPr>
          <p:cNvPr id="31" name="StandardTextbox"/>
          <p:cNvSpPr>
            <a:spLocks noGrp="1"/>
          </p:cNvSpPr>
          <p:nvPr>
            <p:custDataLst>
              <p:tags r:id="rId7"/>
            </p:custDataLst>
          </p:nvPr>
        </p:nvSpPr>
        <p:spPr bwMode="auto">
          <a:xfrm>
            <a:off x="7796213" y="381476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34A0FF6-7928-4EA8-9DA3-E3610368E5A9}" type="datetime'''F''Y''''''''''''''''''''1''7'''''''''''''">
              <a:rPr lang="en-IN" altLang="en-US" b="0" smtClean="0"/>
              <a:pPr lvl="1" algn="ctr">
                <a:spcBef>
                  <a:spcPct val="0"/>
                </a:spcBef>
                <a:spcAft>
                  <a:spcPct val="0"/>
                </a:spcAft>
              </a:pPr>
              <a:t>FY17</a:t>
            </a:fld>
            <a:endParaRPr lang="en-IN" b="0" noProof="0" dirty="0">
              <a:sym typeface="+mn-lt"/>
            </a:endParaRPr>
          </a:p>
        </p:txBody>
      </p:sp>
      <p:sp>
        <p:nvSpPr>
          <p:cNvPr id="26" name="StandardTextbox"/>
          <p:cNvSpPr>
            <a:spLocks noGrp="1"/>
          </p:cNvSpPr>
          <p:nvPr>
            <p:custDataLst>
              <p:tags r:id="rId8"/>
            </p:custDataLst>
          </p:nvPr>
        </p:nvSpPr>
        <p:spPr bwMode="auto">
          <a:xfrm>
            <a:off x="6883400" y="381476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3784F66-A8AD-4129-9361-3B32BF92FCE1}" type="datetime'''''''''''''FY''''''1''''''''''''''''''''''''''6'''''">
              <a:rPr lang="en-IN" altLang="en-US" b="0" smtClean="0"/>
              <a:pPr lvl="1" algn="ctr">
                <a:spcBef>
                  <a:spcPct val="0"/>
                </a:spcBef>
                <a:spcAft>
                  <a:spcPct val="0"/>
                </a:spcAft>
              </a:pPr>
              <a:t>FY16</a:t>
            </a:fld>
            <a:endParaRPr lang="en-IN" b="0" noProof="0" dirty="0">
              <a:sym typeface="+mn-lt"/>
            </a:endParaRPr>
          </a:p>
        </p:txBody>
      </p:sp>
      <p:sp>
        <p:nvSpPr>
          <p:cNvPr id="35" name="StandardTextbox"/>
          <p:cNvSpPr>
            <a:spLocks noGrp="1"/>
          </p:cNvSpPr>
          <p:nvPr>
            <p:custDataLst>
              <p:tags r:id="rId9"/>
            </p:custDataLst>
          </p:nvPr>
        </p:nvSpPr>
        <p:spPr bwMode="auto">
          <a:xfrm>
            <a:off x="9621838" y="381476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1C571C81-623D-4AF4-8F7D-436EEE26F05E}" type="datetime'''''''''''F''''Y''''''''''''1''''''''''''9'''''''''">
              <a:rPr lang="en-IN" altLang="en-US" b="0" smtClean="0"/>
              <a:pPr lvl="1" algn="ctr">
                <a:spcBef>
                  <a:spcPct val="0"/>
                </a:spcBef>
                <a:spcAft>
                  <a:spcPct val="0"/>
                </a:spcAft>
              </a:pPr>
              <a:t>FY19</a:t>
            </a:fld>
            <a:endParaRPr lang="en-IN" b="0" noProof="0" dirty="0">
              <a:sym typeface="+mn-lt"/>
            </a:endParaRPr>
          </a:p>
        </p:txBody>
      </p:sp>
      <p:sp>
        <p:nvSpPr>
          <p:cNvPr id="33" name="StandardTextbox"/>
          <p:cNvSpPr>
            <a:spLocks noGrp="1"/>
          </p:cNvSpPr>
          <p:nvPr>
            <p:custDataLst>
              <p:tags r:id="rId10"/>
            </p:custDataLst>
          </p:nvPr>
        </p:nvSpPr>
        <p:spPr bwMode="auto">
          <a:xfrm>
            <a:off x="8709025" y="3814763"/>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F1067BE-9010-4652-928B-CAC02D658606}" type="datetime'''''''''''F''''''''''''''''Y1''8'''''''''''''''''''''''">
              <a:rPr lang="en-IN" altLang="en-US" b="0" smtClean="0"/>
              <a:pPr lvl="1" algn="ctr">
                <a:spcBef>
                  <a:spcPct val="0"/>
                </a:spcBef>
                <a:spcAft>
                  <a:spcPct val="0"/>
                </a:spcAft>
              </a:pPr>
              <a:t>FY18</a:t>
            </a:fld>
            <a:endParaRPr lang="en-IN" b="0" noProof="0" dirty="0">
              <a:sym typeface="+mn-lt"/>
            </a:endParaRPr>
          </a:p>
        </p:txBody>
      </p:sp>
      <p:sp>
        <p:nvSpPr>
          <p:cNvPr id="5" name="Rectangle 4"/>
          <p:cNvSpPr/>
          <p:nvPr>
            <p:custDataLst>
              <p:tags r:id="rId11"/>
            </p:custDataLst>
          </p:nvPr>
        </p:nvSpPr>
        <p:spPr bwMode="auto">
          <a:xfrm>
            <a:off x="6564313" y="4098925"/>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7" name="Rectangle 6"/>
          <p:cNvSpPr/>
          <p:nvPr>
            <p:custDataLst>
              <p:tags r:id="rId12"/>
            </p:custDataLst>
          </p:nvPr>
        </p:nvSpPr>
        <p:spPr bwMode="auto">
          <a:xfrm>
            <a:off x="7999413" y="4098925"/>
            <a:ext cx="179388" cy="133350"/>
          </a:xfrm>
          <a:prstGeom prst="rect">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3" name="StandardTextbox"/>
          <p:cNvSpPr>
            <a:spLocks noGrp="1"/>
          </p:cNvSpPr>
          <p:nvPr>
            <p:custDataLst>
              <p:tags r:id="rId13"/>
            </p:custDataLst>
          </p:nvPr>
        </p:nvSpPr>
        <p:spPr bwMode="auto">
          <a:xfrm>
            <a:off x="6794500" y="4094163"/>
            <a:ext cx="11033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07A0C6F5-FC39-4F20-BE36-1D6A77675A25}" type="datetime'T''''ot''a''''''''l ''''Sa''l''''e''''s'''' ''''(Ga''''''s'')'">
              <a:rPr lang="en-IN" altLang="en-US" b="0" smtClean="0"/>
              <a:pPr lvl="1">
                <a:spcBef>
                  <a:spcPct val="0"/>
                </a:spcBef>
                <a:spcAft>
                  <a:spcPct val="0"/>
                </a:spcAft>
              </a:pPr>
              <a:t>Total Sales (Gas)</a:t>
            </a:fld>
            <a:endParaRPr lang="en-IN" b="0" noProof="0" dirty="0">
              <a:sym typeface="+mn-lt"/>
            </a:endParaRPr>
          </a:p>
        </p:txBody>
      </p:sp>
      <p:sp>
        <p:nvSpPr>
          <p:cNvPr id="46" name="StandardTextbox"/>
          <p:cNvSpPr>
            <a:spLocks noGrp="1"/>
          </p:cNvSpPr>
          <p:nvPr>
            <p:custDataLst>
              <p:tags r:id="rId14"/>
            </p:custDataLst>
          </p:nvPr>
        </p:nvSpPr>
        <p:spPr bwMode="auto">
          <a:xfrm>
            <a:off x="8229600" y="4094163"/>
            <a:ext cx="10525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A343A839-EC7A-49E0-AC96-E1720A847975}" type="datetime'''''Tot''''''al'' ''Co''''''''''llect''i''o''n''''''s'">
              <a:rPr lang="en-IN" altLang="en-US" b="0" smtClean="0"/>
              <a:pPr lvl="1">
                <a:spcBef>
                  <a:spcPct val="0"/>
                </a:spcBef>
                <a:spcAft>
                  <a:spcPct val="0"/>
                </a:spcAft>
              </a:pPr>
              <a:t>Total Collections</a:t>
            </a:fld>
            <a:endParaRPr lang="en-IN" b="0" noProof="0" dirty="0">
              <a:sym typeface="+mn-lt"/>
            </a:endParaRPr>
          </a:p>
        </p:txBody>
      </p:sp>
      <p:sp>
        <p:nvSpPr>
          <p:cNvPr id="67" name="Rectangle 66"/>
          <p:cNvSpPr/>
          <p:nvPr/>
        </p:nvSpPr>
        <p:spPr bwMode="gray">
          <a:xfrm>
            <a:off x="5822479" y="2461975"/>
            <a:ext cx="502594" cy="250825"/>
          </a:xfrm>
          <a:prstGeom prst="rect">
            <a:avLst/>
          </a:prstGeom>
          <a:noFill/>
          <a:ln w="19050" algn="ctr">
            <a:solidFill>
              <a:schemeClr val="accent5"/>
            </a:solidFill>
            <a:miter lim="800000"/>
            <a:headEnd/>
            <a:tailEnd/>
          </a:ln>
        </p:spPr>
        <p:txBody>
          <a:bodyPr wrap="square" lIns="36000" tIns="88900" rIns="360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lang="en-US" sz="900" b="1" dirty="0">
                <a:solidFill>
                  <a:prstClr val="black"/>
                </a:solidFill>
                <a:latin typeface="Verdana"/>
              </a:rPr>
              <a:t>3.5</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68" name="Rectangle 67"/>
          <p:cNvSpPr/>
          <p:nvPr/>
        </p:nvSpPr>
        <p:spPr bwMode="gray">
          <a:xfrm>
            <a:off x="6757678" y="2461974"/>
            <a:ext cx="502594" cy="250825"/>
          </a:xfrm>
          <a:prstGeom prst="rect">
            <a:avLst/>
          </a:prstGeom>
          <a:noFill/>
          <a:ln w="19050" algn="ctr">
            <a:solidFill>
              <a:schemeClr val="accent5"/>
            </a:solidFill>
            <a:miter lim="800000"/>
            <a:headEnd/>
            <a:tailEnd/>
          </a:ln>
        </p:spPr>
        <p:txBody>
          <a:bodyPr wrap="square" lIns="36000" tIns="88900" rIns="360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2</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69" name="Rectangle 68"/>
          <p:cNvSpPr/>
          <p:nvPr/>
        </p:nvSpPr>
        <p:spPr bwMode="gray">
          <a:xfrm>
            <a:off x="7692877" y="2458798"/>
            <a:ext cx="502594" cy="250825"/>
          </a:xfrm>
          <a:prstGeom prst="rect">
            <a:avLst/>
          </a:prstGeom>
          <a:noFill/>
          <a:ln w="19050" algn="ctr">
            <a:solidFill>
              <a:schemeClr val="accent5"/>
            </a:solidFill>
            <a:miter lim="800000"/>
            <a:headEnd/>
            <a:tailEnd/>
          </a:ln>
        </p:spPr>
        <p:txBody>
          <a:bodyPr wrap="square" lIns="36000" tIns="88900" rIns="360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2.6</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70" name="Rectangle 69"/>
          <p:cNvSpPr/>
          <p:nvPr/>
        </p:nvSpPr>
        <p:spPr bwMode="gray">
          <a:xfrm>
            <a:off x="8628076" y="2461175"/>
            <a:ext cx="502594" cy="250825"/>
          </a:xfrm>
          <a:prstGeom prst="rect">
            <a:avLst/>
          </a:prstGeom>
          <a:noFill/>
          <a:ln w="19050" algn="ctr">
            <a:solidFill>
              <a:schemeClr val="accent5"/>
            </a:solidFill>
            <a:miter lim="800000"/>
            <a:headEnd/>
            <a:tailEnd/>
          </a:ln>
        </p:spPr>
        <p:txBody>
          <a:bodyPr wrap="square" lIns="36000" tIns="88900" rIns="360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4</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71" name="Rectangle 70"/>
          <p:cNvSpPr/>
          <p:nvPr/>
        </p:nvSpPr>
        <p:spPr bwMode="gray">
          <a:xfrm>
            <a:off x="9563273" y="2458798"/>
            <a:ext cx="502594" cy="250825"/>
          </a:xfrm>
          <a:prstGeom prst="rect">
            <a:avLst/>
          </a:prstGeom>
          <a:noFill/>
          <a:ln w="19050" algn="ctr">
            <a:solidFill>
              <a:schemeClr val="accent5"/>
            </a:solidFill>
            <a:miter lim="800000"/>
            <a:headEnd/>
            <a:tailEnd/>
          </a:ln>
        </p:spPr>
        <p:txBody>
          <a:bodyPr wrap="square" lIns="36000" tIns="88900" rIns="360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1.2</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72" name="Rectangle 71"/>
          <p:cNvSpPr/>
          <p:nvPr/>
        </p:nvSpPr>
        <p:spPr bwMode="gray">
          <a:xfrm>
            <a:off x="6601664" y="4359394"/>
            <a:ext cx="139700" cy="123825"/>
          </a:xfrm>
          <a:prstGeom prst="rect">
            <a:avLst/>
          </a:prstGeom>
          <a:noFill/>
          <a:ln w="19050" algn="ctr">
            <a:solidFill>
              <a:schemeClr val="accent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73" name="Rectangle 72"/>
          <p:cNvSpPr/>
          <p:nvPr/>
        </p:nvSpPr>
        <p:spPr bwMode="gray">
          <a:xfrm>
            <a:off x="6712789" y="4349869"/>
            <a:ext cx="2417881" cy="165100"/>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prstClr val="black"/>
                </a:solidFill>
                <a:effectLst/>
                <a:uLnTx/>
                <a:uFillTx/>
                <a:latin typeface="Verdana"/>
                <a:ea typeface="+mn-ea"/>
                <a:cs typeface="+mn-cs"/>
              </a:rPr>
              <a:t>Receivable (Months)</a:t>
            </a:r>
            <a:endParaRPr kumimoji="0" lang="en-IN" sz="900" b="0" i="0" u="none" strike="noStrike" kern="1200" cap="none" spc="0" normalizeH="0" baseline="0" noProof="0" dirty="0">
              <a:ln>
                <a:noFill/>
              </a:ln>
              <a:solidFill>
                <a:prstClr val="black"/>
              </a:solidFill>
              <a:effectLst/>
              <a:uLnTx/>
              <a:uFillTx/>
              <a:latin typeface="Verdana"/>
              <a:ea typeface="+mn-ea"/>
              <a:cs typeface="+mn-cs"/>
            </a:endParaRPr>
          </a:p>
        </p:txBody>
      </p:sp>
      <p:graphicFrame>
        <p:nvGraphicFramePr>
          <p:cNvPr id="16" name="Chart 15"/>
          <p:cNvGraphicFramePr/>
          <p:nvPr>
            <p:extLst>
              <p:ext uri="{D42A27DB-BD31-4B8C-83A1-F6EECF244321}">
                <p14:modId xmlns:p14="http://schemas.microsoft.com/office/powerpoint/2010/main" val="4048945357"/>
              </p:ext>
            </p:extLst>
          </p:nvPr>
        </p:nvGraphicFramePr>
        <p:xfrm>
          <a:off x="5524446" y="5356032"/>
          <a:ext cx="4716518" cy="1821414"/>
        </p:xfrm>
        <a:graphic>
          <a:graphicData uri="http://schemas.openxmlformats.org/drawingml/2006/chart">
            <c:chart xmlns:c="http://schemas.openxmlformats.org/drawingml/2006/chart" xmlns:r="http://schemas.openxmlformats.org/officeDocument/2006/relationships" r:id="rId19"/>
          </a:graphicData>
        </a:graphic>
      </p:graphicFrame>
      <p:sp>
        <p:nvSpPr>
          <p:cNvPr id="74" name="Rectangle 73"/>
          <p:cNvSpPr/>
          <p:nvPr/>
        </p:nvSpPr>
        <p:spPr bwMode="gray">
          <a:xfrm>
            <a:off x="7308010" y="7172682"/>
            <a:ext cx="139700" cy="123825"/>
          </a:xfrm>
          <a:prstGeom prst="rect">
            <a:avLst/>
          </a:prstGeom>
          <a:noFill/>
          <a:ln w="19050" algn="ctr">
            <a:solidFill>
              <a:schemeClr val="accent5"/>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75" name="Rectangle 74"/>
          <p:cNvSpPr/>
          <p:nvPr/>
        </p:nvSpPr>
        <p:spPr bwMode="gray">
          <a:xfrm>
            <a:off x="7419135" y="7163157"/>
            <a:ext cx="2417881" cy="165100"/>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prstClr val="black"/>
                </a:solidFill>
                <a:effectLst/>
                <a:uLnTx/>
                <a:uFillTx/>
                <a:latin typeface="Verdana"/>
                <a:ea typeface="+mn-ea"/>
                <a:cs typeface="+mn-cs"/>
              </a:rPr>
              <a:t>Payable (Months)</a:t>
            </a:r>
            <a:endParaRPr kumimoji="0" lang="en-IN" sz="900" b="0" i="0" u="none" strike="noStrike" kern="1200" cap="none" spc="0" normalizeH="0" baseline="0" noProof="0" dirty="0">
              <a:ln>
                <a:noFill/>
              </a:ln>
              <a:solidFill>
                <a:prstClr val="black"/>
              </a:solidFill>
              <a:effectLst/>
              <a:uLnTx/>
              <a:uFillTx/>
              <a:latin typeface="Verdana"/>
              <a:ea typeface="+mn-ea"/>
              <a:cs typeface="+mn-cs"/>
            </a:endParaRPr>
          </a:p>
        </p:txBody>
      </p:sp>
      <p:sp>
        <p:nvSpPr>
          <p:cNvPr id="76" name="Rectangle 75"/>
          <p:cNvSpPr/>
          <p:nvPr/>
        </p:nvSpPr>
        <p:spPr bwMode="gray">
          <a:xfrm>
            <a:off x="8148652" y="5223455"/>
            <a:ext cx="502594" cy="250825"/>
          </a:xfrm>
          <a:prstGeom prst="rect">
            <a:avLst/>
          </a:prstGeom>
          <a:noFill/>
          <a:ln w="19050" algn="ctr">
            <a:solidFill>
              <a:schemeClr val="accent5"/>
            </a:solidFill>
            <a:miter lim="800000"/>
            <a:headEnd/>
            <a:tailEnd/>
          </a:ln>
        </p:spPr>
        <p:txBody>
          <a:bodyPr wrap="square" lIns="36000" tIns="88900" rIns="360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5</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77" name="Rectangle 76"/>
          <p:cNvSpPr/>
          <p:nvPr/>
        </p:nvSpPr>
        <p:spPr bwMode="gray">
          <a:xfrm>
            <a:off x="9282113" y="5228409"/>
            <a:ext cx="502594" cy="250825"/>
          </a:xfrm>
          <a:prstGeom prst="rect">
            <a:avLst/>
          </a:prstGeom>
          <a:noFill/>
          <a:ln w="19050" algn="ctr">
            <a:solidFill>
              <a:schemeClr val="accent5"/>
            </a:solidFill>
            <a:miter lim="800000"/>
            <a:headEnd/>
            <a:tailEnd/>
          </a:ln>
        </p:spPr>
        <p:txBody>
          <a:bodyPr wrap="square" lIns="36000" tIns="88900" rIns="360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black"/>
                </a:solidFill>
                <a:effectLst/>
                <a:uLnTx/>
                <a:uFillTx/>
                <a:latin typeface="Verdana"/>
                <a:ea typeface="+mn-ea"/>
                <a:cs typeface="+mn-cs"/>
              </a:rPr>
              <a:t>6.5</a:t>
            </a:r>
            <a:endParaRPr kumimoji="0" lang="en-IN" sz="900" b="1" i="0" u="none" strike="noStrike" kern="1200" cap="none" spc="0" normalizeH="0" baseline="0" noProof="0" dirty="0">
              <a:ln>
                <a:noFill/>
              </a:ln>
              <a:solidFill>
                <a:prstClr val="black"/>
              </a:solidFill>
              <a:effectLst/>
              <a:uLnTx/>
              <a:uFillTx/>
              <a:latin typeface="Verdana"/>
              <a:ea typeface="+mn-ea"/>
              <a:cs typeface="+mn-cs"/>
            </a:endParaRPr>
          </a:p>
        </p:txBody>
      </p:sp>
      <p:sp>
        <p:nvSpPr>
          <p:cNvPr id="78" name="Rectangle 77"/>
          <p:cNvSpPr/>
          <p:nvPr/>
        </p:nvSpPr>
        <p:spPr bwMode="gray">
          <a:xfrm>
            <a:off x="377227" y="7260740"/>
            <a:ext cx="5652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SGCL, Deloitte Analysis</a:t>
            </a:r>
          </a:p>
        </p:txBody>
      </p:sp>
    </p:spTree>
    <p:extLst>
      <p:ext uri="{BB962C8B-B14F-4D97-AF65-F5344CB8AC3E}">
        <p14:creationId xmlns:p14="http://schemas.microsoft.com/office/powerpoint/2010/main" val="345216167"/>
      </p:ext>
    </p:extLst>
  </p:cSld>
  <p:clrMapOvr>
    <a:masterClrMapping/>
  </p:clrMapOvr>
  <p:transition>
    <p:fade/>
  </p:transition>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261496003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3" imgW="530" imgH="531" progId="TCLayout.ActiveDocument.1">
                  <p:embed/>
                </p:oleObj>
              </mc:Choice>
              <mc:Fallback>
                <p:oleObj name="think-cell Slide" r:id="rId33" imgW="530" imgH="531" progId="TCLayout.ActiveDocument.1">
                  <p:embed/>
                  <p:pic>
                    <p:nvPicPr>
                      <p:cNvPr id="4" name="Object 3" hidden="1"/>
                      <p:cNvPicPr/>
                      <p:nvPr/>
                    </p:nvPicPr>
                    <p:blipFill>
                      <a:blip r:embed="rId34"/>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Financial Performance of </a:t>
            </a:r>
            <a:r>
              <a:rPr lang="en-US" dirty="0" err="1"/>
              <a:t>Petrobangla</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noProof="0" dirty="0">
                <a:solidFill>
                  <a:prstClr val="black">
                    <a:lumMod val="50000"/>
                    <a:lumOff val="50000"/>
                  </a:prstClr>
                </a:solidFill>
                <a:latin typeface="Verdana" panose="020B0604030504040204" pitchFamily="34" charset="0"/>
              </a:rPr>
              <a:t>During FY16 to FY18, </a:t>
            </a:r>
            <a:r>
              <a:rPr lang="en-US" sz="1400" noProof="0" dirty="0" err="1">
                <a:solidFill>
                  <a:prstClr val="black">
                    <a:lumMod val="50000"/>
                    <a:lumOff val="50000"/>
                  </a:prstClr>
                </a:solidFill>
                <a:latin typeface="Verdana" panose="020B0604030504040204" pitchFamily="34" charset="0"/>
              </a:rPr>
              <a:t>Petrobangla</a:t>
            </a:r>
            <a:r>
              <a:rPr lang="en-US" sz="1400" noProof="0" dirty="0">
                <a:solidFill>
                  <a:prstClr val="black">
                    <a:lumMod val="50000"/>
                    <a:lumOff val="50000"/>
                  </a:prstClr>
                </a:solidFill>
                <a:latin typeface="Verdana" panose="020B0604030504040204" pitchFamily="34" charset="0"/>
              </a:rPr>
              <a:t> made a net loss of BDT 18-19 </a:t>
            </a:r>
            <a:r>
              <a:rPr lang="en-US" sz="1400" noProof="0" dirty="0" err="1">
                <a:solidFill>
                  <a:prstClr val="black">
                    <a:lumMod val="50000"/>
                    <a:lumOff val="50000"/>
                  </a:prstClr>
                </a:solidFill>
                <a:latin typeface="Verdana" panose="020B0604030504040204" pitchFamily="34" charset="0"/>
              </a:rPr>
              <a:t>Bn</a:t>
            </a:r>
            <a:r>
              <a:rPr lang="en-US" sz="1400" noProof="0" dirty="0">
                <a:solidFill>
                  <a:prstClr val="black">
                    <a:lumMod val="50000"/>
                    <a:lumOff val="50000"/>
                  </a:prstClr>
                </a:solidFill>
                <a:latin typeface="Verdana" panose="020B0604030504040204" pitchFamily="34" charset="0"/>
              </a:rPr>
              <a:t> annually; However the financial position of </a:t>
            </a:r>
            <a:r>
              <a:rPr lang="en-US" sz="1400" noProof="0" dirty="0" err="1">
                <a:solidFill>
                  <a:prstClr val="black">
                    <a:lumMod val="50000"/>
                    <a:lumOff val="50000"/>
                  </a:prstClr>
                </a:solidFill>
                <a:latin typeface="Verdana" panose="020B0604030504040204" pitchFamily="34" charset="0"/>
              </a:rPr>
              <a:t>Petrobangla</a:t>
            </a:r>
            <a:r>
              <a:rPr lang="en-US" sz="1400" noProof="0" dirty="0">
                <a:solidFill>
                  <a:prstClr val="black">
                    <a:lumMod val="50000"/>
                    <a:lumOff val="50000"/>
                  </a:prstClr>
                </a:solidFill>
                <a:latin typeface="Verdana" panose="020B0604030504040204" pitchFamily="34" charset="0"/>
              </a:rPr>
              <a:t> is supported by Energy Security &amp; Gas Development Funds as well as direct subsidy from the GoB in its reserves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99" name="Table 98"/>
          <p:cNvGraphicFramePr>
            <a:graphicFrameLocks noGrp="1"/>
          </p:cNvGraphicFramePr>
          <p:nvPr>
            <p:custDataLst>
              <p:tags r:id="rId3"/>
            </p:custDataLst>
            <p:extLst>
              <p:ext uri="{D42A27DB-BD31-4B8C-83A1-F6EECF244321}">
                <p14:modId xmlns:p14="http://schemas.microsoft.com/office/powerpoint/2010/main" val="3500282188"/>
              </p:ext>
            </p:extLst>
          </p:nvPr>
        </p:nvGraphicFramePr>
        <p:xfrm>
          <a:off x="449993" y="1961918"/>
          <a:ext cx="4734896" cy="45733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2421239">
                <a:tc>
                  <a:txBody>
                    <a:bodyPr/>
                    <a:lstStyle/>
                    <a:p>
                      <a:pPr marL="0" indent="0" algn="just">
                        <a:spcAft>
                          <a:spcPts val="500"/>
                        </a:spcAft>
                        <a:buFont typeface="Arial" panose="020B0604020202020204" pitchFamily="34" charset="0"/>
                        <a:buNone/>
                      </a:pPr>
                      <a:r>
                        <a:rPr lang="en-US" sz="1000" b="1" baseline="0" dirty="0">
                          <a:solidFill>
                            <a:schemeClr val="tx1"/>
                          </a:solidFill>
                        </a:rPr>
                        <a:t>Profitability</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During FY16 to FY18, </a:t>
                      </a:r>
                      <a:r>
                        <a:rPr kumimoji="0" lang="en-US" sz="1000" b="0" i="0" u="none" strike="noStrike" kern="1200" cap="none" spc="0" normalizeH="0" baseline="0" dirty="0" err="1">
                          <a:ln>
                            <a:noFill/>
                          </a:ln>
                          <a:solidFill>
                            <a:prstClr val="black"/>
                          </a:solidFill>
                          <a:effectLst/>
                          <a:uLnTx/>
                          <a:uFillTx/>
                          <a:latin typeface="Verdana"/>
                          <a:ea typeface="+mn-ea"/>
                          <a:cs typeface="+mn-cs"/>
                        </a:rPr>
                        <a:t>Petrobangla</a:t>
                      </a:r>
                      <a:r>
                        <a:rPr kumimoji="0" lang="en-US" sz="1000" b="0" i="0" u="none" strike="noStrike" kern="1200" cap="none" spc="0" normalizeH="0" baseline="0" dirty="0">
                          <a:ln>
                            <a:noFill/>
                          </a:ln>
                          <a:solidFill>
                            <a:prstClr val="black"/>
                          </a:solidFill>
                          <a:effectLst/>
                          <a:uLnTx/>
                          <a:uFillTx/>
                          <a:latin typeface="Verdana"/>
                          <a:ea typeface="+mn-ea"/>
                          <a:cs typeface="+mn-cs"/>
                        </a:rPr>
                        <a:t> earned loss at operating and net levels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Its operating and net losses have been consistently in the range of range of BDT~18 – 20 </a:t>
                      </a:r>
                      <a:r>
                        <a:rPr kumimoji="0" lang="en-US" sz="1000" b="0" i="0" u="none" strike="noStrike" kern="1200" cap="none" spc="0" normalizeH="0" baseline="0" dirty="0" err="1">
                          <a:ln>
                            <a:noFill/>
                          </a:ln>
                          <a:solidFill>
                            <a:prstClr val="black"/>
                          </a:solidFill>
                          <a:effectLst/>
                          <a:uLnTx/>
                          <a:uFillTx/>
                          <a:latin typeface="Verdana"/>
                          <a:ea typeface="+mn-ea"/>
                          <a:cs typeface="+mn-cs"/>
                        </a:rPr>
                        <a:t>Bn</a:t>
                      </a:r>
                      <a:r>
                        <a:rPr kumimoji="0" lang="en-US" sz="1000" b="0" i="0" u="none" strike="noStrike" kern="1200" cap="none" spc="0" normalizeH="0" baseline="0" dirty="0">
                          <a:ln>
                            <a:noFill/>
                          </a:ln>
                          <a:solidFill>
                            <a:prstClr val="black"/>
                          </a:solidFill>
                          <a:effectLst/>
                          <a:uLnTx/>
                          <a:uFillTx/>
                          <a:latin typeface="Verdana"/>
                          <a:ea typeface="+mn-ea"/>
                          <a:cs typeface="+mn-cs"/>
                        </a:rPr>
                        <a:t> annually</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As per the BERC’s natural gas price tariff orders, there is cross subsidy at consumer segment and also at an aggregate level with the same being at ~22% in the tariff order set in FY2019</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The subsidy at the aggregate level is one of the major reasons for the net losses of </a:t>
                      </a:r>
                      <a:r>
                        <a:rPr kumimoji="0" lang="en-US" sz="1000" b="0" i="0" u="none" strike="noStrike" kern="1200" cap="none" spc="0" normalizeH="0" baseline="0" dirty="0" err="1">
                          <a:ln>
                            <a:noFill/>
                          </a:ln>
                          <a:solidFill>
                            <a:prstClr val="black"/>
                          </a:solidFill>
                          <a:effectLst/>
                          <a:uLnTx/>
                          <a:uFillTx/>
                          <a:latin typeface="Verdana"/>
                          <a:ea typeface="+mn-ea"/>
                          <a:cs typeface="+mn-cs"/>
                        </a:rPr>
                        <a:t>Petrobangla</a:t>
                      </a:r>
                      <a:endParaRPr kumimoji="0" lang="en-US" sz="1000" b="0" i="0" u="none" strike="noStrike" kern="1200" cap="none" spc="0" normalizeH="0" baseline="0" dirty="0">
                        <a:ln>
                          <a:noFill/>
                        </a:ln>
                        <a:solidFill>
                          <a:prstClr val="black"/>
                        </a:solidFill>
                        <a:effectLst/>
                        <a:uLnTx/>
                        <a:uFillTx/>
                        <a:latin typeface="Verdana"/>
                        <a:ea typeface="+mn-ea"/>
                        <a:cs typeface="+mn-cs"/>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kumimoji="0" lang="en-US" sz="1000" b="0" i="0" u="none" strike="noStrike" kern="1200" cap="none" spc="0" normalizeH="0" baseline="0" dirty="0">
                        <a:ln>
                          <a:noFill/>
                        </a:ln>
                        <a:solidFill>
                          <a:prstClr val="black"/>
                        </a:solidFill>
                        <a:effectLst/>
                        <a:uLnTx/>
                        <a:uFillTx/>
                        <a:latin typeface="Verdana"/>
                        <a:ea typeface="+mn-ea"/>
                        <a:cs typeface="+mn-cs"/>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kumimoji="0" lang="en-US" sz="1000" b="0" i="0" u="none" strike="noStrike" kern="1200" cap="none" spc="0" normalizeH="0" baseline="0" dirty="0">
                        <a:ln>
                          <a:noFill/>
                        </a:ln>
                        <a:solidFill>
                          <a:prstClr val="black"/>
                        </a:solidFill>
                        <a:effectLst/>
                        <a:uLnTx/>
                        <a:uFillTx/>
                        <a:latin typeface="Verdana"/>
                        <a:ea typeface="+mn-ea"/>
                        <a:cs typeface="+mn-cs"/>
                      </a:endParaRP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kumimoji="0" lang="en-US" sz="1000" b="1" i="0" u="none" strike="noStrike" kern="1200" cap="none" spc="0" normalizeH="0" baseline="0" dirty="0">
                          <a:ln>
                            <a:noFill/>
                          </a:ln>
                          <a:solidFill>
                            <a:prstClr val="black"/>
                          </a:solidFill>
                          <a:effectLst/>
                          <a:uLnTx/>
                          <a:uFillTx/>
                          <a:latin typeface="Verdana"/>
                          <a:ea typeface="+mn-ea"/>
                          <a:cs typeface="+mn-cs"/>
                        </a:rPr>
                        <a:t>Net Worth</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Despite the losses, </a:t>
                      </a:r>
                      <a:r>
                        <a:rPr kumimoji="0" lang="en-US" sz="1000" b="0" i="0" u="none" strike="noStrike" kern="1200" cap="none" spc="0" normalizeH="0" baseline="0" dirty="0" err="1">
                          <a:ln>
                            <a:noFill/>
                          </a:ln>
                          <a:solidFill>
                            <a:prstClr val="black"/>
                          </a:solidFill>
                          <a:effectLst/>
                          <a:uLnTx/>
                          <a:uFillTx/>
                          <a:latin typeface="Verdana"/>
                          <a:ea typeface="+mn-ea"/>
                          <a:cs typeface="+mn-cs"/>
                        </a:rPr>
                        <a:t>Petrobangla</a:t>
                      </a:r>
                      <a:r>
                        <a:rPr kumimoji="0" lang="en-US" sz="1000" b="0" i="0" u="none" strike="noStrike" kern="1200" cap="none" spc="0" normalizeH="0" baseline="0" dirty="0">
                          <a:ln>
                            <a:noFill/>
                          </a:ln>
                          <a:solidFill>
                            <a:prstClr val="black"/>
                          </a:solidFill>
                          <a:effectLst/>
                          <a:uLnTx/>
                          <a:uFillTx/>
                          <a:latin typeface="Verdana"/>
                          <a:ea typeface="+mn-ea"/>
                          <a:cs typeface="+mn-cs"/>
                        </a:rPr>
                        <a:t> has a positive </a:t>
                      </a:r>
                      <a:r>
                        <a:rPr kumimoji="0" lang="en-US" sz="1000" b="0" i="0" u="none" strike="noStrike" kern="1200" cap="none" spc="0" normalizeH="0" baseline="0" dirty="0" err="1">
                          <a:ln>
                            <a:noFill/>
                          </a:ln>
                          <a:solidFill>
                            <a:prstClr val="black"/>
                          </a:solidFill>
                          <a:effectLst/>
                          <a:uLnTx/>
                          <a:uFillTx/>
                          <a:latin typeface="Verdana"/>
                          <a:ea typeface="+mn-ea"/>
                          <a:cs typeface="+mn-cs"/>
                        </a:rPr>
                        <a:t>networth</a:t>
                      </a:r>
                      <a:r>
                        <a:rPr kumimoji="0" lang="en-US" sz="1000" b="0" i="0" u="none" strike="noStrike" kern="1200" cap="none" spc="0" normalizeH="0" baseline="0" dirty="0">
                          <a:ln>
                            <a:noFill/>
                          </a:ln>
                          <a:solidFill>
                            <a:prstClr val="black"/>
                          </a:solidFill>
                          <a:effectLst/>
                          <a:uLnTx/>
                          <a:uFillTx/>
                          <a:latin typeface="Verdana"/>
                          <a:ea typeface="+mn-ea"/>
                          <a:cs typeface="+mn-cs"/>
                        </a:rPr>
                        <a:t> at BDT 191 Bn. </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The net worth is supported by the Gas Development and Energy Security Funds setup by the Government where consumers pay a part of the tariff for supporting exploration activities in Bangladesh</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This fund is collected by the distribution companies from the consumers and transferred to BAPEX for exploration activities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In addition the subsidy provided by the Government seem to be appropriated at the Revenue Reserve level</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sz="1000" b="0" i="0" u="none" strike="noStrike" kern="1200" cap="none" spc="0" normalizeH="0" baseline="0" dirty="0">
                          <a:ln>
                            <a:noFill/>
                          </a:ln>
                          <a:solidFill>
                            <a:prstClr val="black"/>
                          </a:solidFill>
                          <a:effectLst/>
                          <a:uLnTx/>
                          <a:uFillTx/>
                          <a:latin typeface="Verdana"/>
                          <a:ea typeface="+mn-ea"/>
                          <a:cs typeface="+mn-cs"/>
                        </a:rPr>
                        <a:t>A part of the fund is also being used for renewable energy by the Government as part of Energy Security initiatives</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78" name="Rectangle 77"/>
          <p:cNvSpPr/>
          <p:nvPr/>
        </p:nvSpPr>
        <p:spPr bwMode="gray">
          <a:xfrm>
            <a:off x="377227" y="7260740"/>
            <a:ext cx="5652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a:t>
            </a:r>
            <a:r>
              <a:rPr kumimoji="0" lang="en-US" sz="700" b="0" i="1" u="none" strike="noStrike" kern="1200" cap="none" spc="0" normalizeH="0" baseline="0" noProof="0" dirty="0" err="1">
                <a:ln>
                  <a:noFill/>
                </a:ln>
                <a:solidFill>
                  <a:prstClr val="black"/>
                </a:solidFill>
                <a:effectLst/>
                <a:uLnTx/>
                <a:uFillTx/>
                <a:latin typeface="Verdana"/>
                <a:ea typeface="+mn-ea"/>
                <a:cs typeface="+mn-cs"/>
              </a:rPr>
              <a:t>Petrobangla</a:t>
            </a:r>
            <a:r>
              <a:rPr kumimoji="0" lang="en-US" sz="700" b="0" i="1" u="none" strike="noStrike" kern="1200" cap="none" spc="0" normalizeH="0" baseline="0" noProof="0" dirty="0">
                <a:ln>
                  <a:noFill/>
                </a:ln>
                <a:solidFill>
                  <a:prstClr val="black"/>
                </a:solidFill>
                <a:effectLst/>
                <a:uLnTx/>
                <a:uFillTx/>
                <a:latin typeface="Verdana"/>
                <a:ea typeface="+mn-ea"/>
                <a:cs typeface="+mn-cs"/>
              </a:rPr>
              <a:t>, Industry Reports, Deloitte Analysis</a:t>
            </a:r>
          </a:p>
        </p:txBody>
      </p:sp>
      <p:graphicFrame>
        <p:nvGraphicFramePr>
          <p:cNvPr id="32" name="Table 31"/>
          <p:cNvGraphicFramePr>
            <a:graphicFrameLocks noGrp="1"/>
          </p:cNvGraphicFramePr>
          <p:nvPr>
            <p:custDataLst>
              <p:tags r:id="rId4"/>
            </p:custDataLst>
            <p:extLst>
              <p:ext uri="{D42A27DB-BD31-4B8C-83A1-F6EECF244321}">
                <p14:modId xmlns:p14="http://schemas.microsoft.com/office/powerpoint/2010/main" val="1416840188"/>
              </p:ext>
            </p:extLst>
          </p:nvPr>
        </p:nvGraphicFramePr>
        <p:xfrm>
          <a:off x="5524500" y="1961920"/>
          <a:ext cx="4732062" cy="5440366"/>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440366">
                <a:tc>
                  <a:txBody>
                    <a:bodyPr/>
                    <a:lstStyle/>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Following graph shows the historical profitability of </a:t>
                      </a:r>
                      <a:r>
                        <a:rPr lang="en-US" sz="1000" b="0" baseline="0" dirty="0" err="1">
                          <a:solidFill>
                            <a:schemeClr val="tx1"/>
                          </a:solidFill>
                        </a:rPr>
                        <a:t>Petrobangla</a:t>
                      </a:r>
                      <a:r>
                        <a:rPr lang="en-US" sz="1000" b="0" baseline="0" dirty="0">
                          <a:solidFill>
                            <a:schemeClr val="tx1"/>
                          </a:solidFill>
                        </a:rPr>
                        <a:t> (BDT </a:t>
                      </a:r>
                      <a:r>
                        <a:rPr lang="en-US" sz="1000" b="0" baseline="0" dirty="0" err="1">
                          <a:solidFill>
                            <a:schemeClr val="tx1"/>
                          </a:solidFill>
                        </a:rPr>
                        <a:t>Bn</a:t>
                      </a:r>
                      <a:r>
                        <a:rPr lang="en-US" sz="1000" b="0" baseline="0" dirty="0">
                          <a:solidFill>
                            <a:schemeClr val="tx1"/>
                          </a:solidFill>
                        </a:rPr>
                        <a:t>)</a:t>
                      </a: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marR="0" lvl="0"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Following graph shows the historical net-worth of </a:t>
                      </a:r>
                      <a:r>
                        <a:rPr lang="en-US" sz="1000" b="0" baseline="0" dirty="0" err="1">
                          <a:solidFill>
                            <a:schemeClr val="tx1"/>
                          </a:solidFill>
                        </a:rPr>
                        <a:t>Petrobangla</a:t>
                      </a:r>
                      <a:r>
                        <a:rPr lang="en-US" sz="1000" b="0" baseline="0" dirty="0">
                          <a:solidFill>
                            <a:schemeClr val="tx1"/>
                          </a:solidFill>
                        </a:rPr>
                        <a:t> (BDT </a:t>
                      </a:r>
                      <a:r>
                        <a:rPr lang="en-US" sz="1000" b="0" baseline="0" dirty="0" err="1">
                          <a:solidFill>
                            <a:schemeClr val="tx1"/>
                          </a:solidFill>
                        </a:rPr>
                        <a:t>Bn</a:t>
                      </a:r>
                      <a:r>
                        <a:rPr lang="en-US" sz="1000" b="0" baseline="0" dirty="0">
                          <a:solidFill>
                            <a:schemeClr val="tx1"/>
                          </a:solidFill>
                        </a:rPr>
                        <a:t>)</a:t>
                      </a:r>
                    </a:p>
                    <a:p>
                      <a:pPr marL="171450" lvl="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247" name="Chart 246"/>
          <p:cNvGraphicFramePr/>
          <p:nvPr>
            <p:custDataLst>
              <p:tags r:id="rId5"/>
            </p:custDataLst>
            <p:extLst>
              <p:ext uri="{D42A27DB-BD31-4B8C-83A1-F6EECF244321}">
                <p14:modId xmlns:p14="http://schemas.microsoft.com/office/powerpoint/2010/main" val="3157153677"/>
              </p:ext>
            </p:extLst>
          </p:nvPr>
        </p:nvGraphicFramePr>
        <p:xfrm>
          <a:off x="5441950" y="2498725"/>
          <a:ext cx="4897438" cy="1379538"/>
        </p:xfrm>
        <a:graphic>
          <a:graphicData uri="http://schemas.openxmlformats.org/drawingml/2006/chart">
            <c:chart xmlns:c="http://schemas.openxmlformats.org/drawingml/2006/chart" xmlns:r="http://schemas.openxmlformats.org/officeDocument/2006/relationships" r:id="rId35"/>
          </a:graphicData>
        </a:graphic>
      </p:graphicFrame>
      <p:sp>
        <p:nvSpPr>
          <p:cNvPr id="38" name="StandardTextbox"/>
          <p:cNvSpPr>
            <a:spLocks noGrp="1"/>
          </p:cNvSpPr>
          <p:nvPr>
            <p:custDataLst>
              <p:tags r:id="rId6"/>
            </p:custDataLst>
          </p:nvPr>
        </p:nvSpPr>
        <p:spPr bwMode="auto">
          <a:xfrm>
            <a:off x="6070600" y="3898900"/>
            <a:ext cx="4873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6DA4AF4-785C-4DEF-8F01-4EA318271CFB}" type="datetime'''''''F''''''Y''''''''2''''''''''''016'''''''''''''''''''''">
              <a:rPr lang="en-IN" altLang="en-US" b="0" smtClean="0"/>
              <a:pPr lvl="1" algn="ctr">
                <a:spcBef>
                  <a:spcPct val="0"/>
                </a:spcBef>
                <a:spcAft>
                  <a:spcPct val="0"/>
                </a:spcAft>
              </a:pPr>
              <a:t>FY2016</a:t>
            </a:fld>
            <a:endParaRPr lang="en-IN" b="0" noProof="0" dirty="0">
              <a:sym typeface="+mn-lt"/>
            </a:endParaRPr>
          </a:p>
        </p:txBody>
      </p:sp>
      <p:sp>
        <p:nvSpPr>
          <p:cNvPr id="116" name="StandardTextbox"/>
          <p:cNvSpPr>
            <a:spLocks noGrp="1"/>
          </p:cNvSpPr>
          <p:nvPr>
            <p:custDataLst>
              <p:tags r:id="rId7"/>
            </p:custDataLst>
          </p:nvPr>
        </p:nvSpPr>
        <p:spPr bwMode="auto">
          <a:xfrm>
            <a:off x="9224963" y="3898900"/>
            <a:ext cx="4873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BB5E1FF1-FED1-4833-81F7-49CB076CD292}" type="datetime'''''''''FY''''''''''''''2''0''''''''1''''''''''''''''8'''">
              <a:rPr lang="en-IN" altLang="en-US" b="0" smtClean="0"/>
              <a:pPr lvl="1" algn="ctr">
                <a:spcBef>
                  <a:spcPct val="0"/>
                </a:spcBef>
                <a:spcAft>
                  <a:spcPct val="0"/>
                </a:spcAft>
              </a:pPr>
              <a:t>FY2018</a:t>
            </a:fld>
            <a:endParaRPr lang="en-IN" b="0" noProof="0" dirty="0">
              <a:sym typeface="+mn-lt"/>
            </a:endParaRPr>
          </a:p>
        </p:txBody>
      </p:sp>
      <p:sp>
        <p:nvSpPr>
          <p:cNvPr id="45" name="StandardTextbox"/>
          <p:cNvSpPr>
            <a:spLocks noGrp="1"/>
          </p:cNvSpPr>
          <p:nvPr>
            <p:custDataLst>
              <p:tags r:id="rId8"/>
            </p:custDataLst>
          </p:nvPr>
        </p:nvSpPr>
        <p:spPr bwMode="auto">
          <a:xfrm>
            <a:off x="7646988" y="3898900"/>
            <a:ext cx="4873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012F146A-9756-4327-9290-1044804F9C46}" type="datetime'''F''''''''''''''''''Y''''''20''''''''1''''''''7'''''''''''">
              <a:rPr lang="en-IN" altLang="en-US" b="0" smtClean="0"/>
              <a:pPr lvl="1" algn="ctr">
                <a:spcBef>
                  <a:spcPct val="0"/>
                </a:spcBef>
                <a:spcAft>
                  <a:spcPct val="0"/>
                </a:spcAft>
              </a:pPr>
              <a:t>FY2017</a:t>
            </a:fld>
            <a:endParaRPr lang="en-IN" b="0" noProof="0" dirty="0">
              <a:sym typeface="+mn-lt"/>
            </a:endParaRPr>
          </a:p>
        </p:txBody>
      </p:sp>
      <p:sp>
        <p:nvSpPr>
          <p:cNvPr id="29" name="Rectangle 28"/>
          <p:cNvSpPr/>
          <p:nvPr>
            <p:custDataLst>
              <p:tags r:id="rId9"/>
            </p:custDataLst>
          </p:nvPr>
        </p:nvSpPr>
        <p:spPr bwMode="auto">
          <a:xfrm>
            <a:off x="8326438" y="4191000"/>
            <a:ext cx="179388" cy="133350"/>
          </a:xfrm>
          <a:prstGeom prst="rect">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4" name="Rectangle 23"/>
          <p:cNvSpPr/>
          <p:nvPr>
            <p:custDataLst>
              <p:tags r:id="rId10"/>
            </p:custDataLst>
          </p:nvPr>
        </p:nvSpPr>
        <p:spPr bwMode="auto">
          <a:xfrm>
            <a:off x="6437313" y="4191000"/>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22" name="StandardTextbox"/>
          <p:cNvSpPr>
            <a:spLocks noGrp="1"/>
          </p:cNvSpPr>
          <p:nvPr>
            <p:custDataLst>
              <p:tags r:id="rId11"/>
            </p:custDataLst>
          </p:nvPr>
        </p:nvSpPr>
        <p:spPr bwMode="auto">
          <a:xfrm>
            <a:off x="6667500" y="4186238"/>
            <a:ext cx="15573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29C2294E-9A83-44DA-953C-7B8A8CDBD57A}" type="datetime'Op''era''ti''ng'''' ''''''Profit /'' ''(''L''''o''ss)'''''">
              <a:rPr lang="en-IN" altLang="en-US" b="0" smtClean="0"/>
              <a:pPr lvl="1">
                <a:spcBef>
                  <a:spcPct val="0"/>
                </a:spcBef>
                <a:spcAft>
                  <a:spcPct val="0"/>
                </a:spcAft>
              </a:pPr>
              <a:t>Operating Profit / (Loss)</a:t>
            </a:fld>
            <a:endParaRPr lang="en-IN" b="0" noProof="0" dirty="0">
              <a:sym typeface="+mn-lt"/>
            </a:endParaRPr>
          </a:p>
        </p:txBody>
      </p:sp>
      <p:sp>
        <p:nvSpPr>
          <p:cNvPr id="132" name="StandardTextbox"/>
          <p:cNvSpPr>
            <a:spLocks noGrp="1"/>
          </p:cNvSpPr>
          <p:nvPr>
            <p:custDataLst>
              <p:tags r:id="rId12"/>
            </p:custDataLst>
          </p:nvPr>
        </p:nvSpPr>
        <p:spPr bwMode="auto">
          <a:xfrm>
            <a:off x="8556625" y="4186238"/>
            <a:ext cx="11477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59D528E1-DDFE-4BB7-8BCA-59D085AE7724}" type="datetime'Ne''''t'' Pr''of''it'' ''''''/ ''''(''L''os''s'''''''''''')'">
              <a:rPr lang="en-IN" altLang="en-US" b="0" smtClean="0"/>
              <a:pPr lvl="1">
                <a:spcBef>
                  <a:spcPct val="0"/>
                </a:spcBef>
                <a:spcAft>
                  <a:spcPct val="0"/>
                </a:spcAft>
              </a:pPr>
              <a:t>Net Profit / (Loss)</a:t>
            </a:fld>
            <a:endParaRPr lang="en-IN" b="0" noProof="0" dirty="0">
              <a:sym typeface="+mn-lt"/>
            </a:endParaRPr>
          </a:p>
        </p:txBody>
      </p:sp>
      <p:graphicFrame>
        <p:nvGraphicFramePr>
          <p:cNvPr id="253" name="Chart 252"/>
          <p:cNvGraphicFramePr/>
          <p:nvPr>
            <p:custDataLst>
              <p:tags r:id="rId13"/>
            </p:custDataLst>
            <p:extLst>
              <p:ext uri="{D42A27DB-BD31-4B8C-83A1-F6EECF244321}">
                <p14:modId xmlns:p14="http://schemas.microsoft.com/office/powerpoint/2010/main" val="2508993174"/>
              </p:ext>
            </p:extLst>
          </p:nvPr>
        </p:nvGraphicFramePr>
        <p:xfrm>
          <a:off x="5441950" y="5159375"/>
          <a:ext cx="4897438" cy="1354138"/>
        </p:xfrm>
        <a:graphic>
          <a:graphicData uri="http://schemas.openxmlformats.org/drawingml/2006/chart">
            <c:chart xmlns:c="http://schemas.openxmlformats.org/drawingml/2006/chart" xmlns:r="http://schemas.openxmlformats.org/officeDocument/2006/relationships" r:id="rId36"/>
          </a:graphicData>
        </a:graphic>
      </p:graphicFrame>
      <p:sp>
        <p:nvSpPr>
          <p:cNvPr id="177" name="StandardTextbox"/>
          <p:cNvSpPr>
            <a:spLocks noGrp="1"/>
          </p:cNvSpPr>
          <p:nvPr>
            <p:custDataLst>
              <p:tags r:id="rId14"/>
            </p:custDataLst>
          </p:nvPr>
        </p:nvSpPr>
        <p:spPr bwMode="auto">
          <a:xfrm>
            <a:off x="7646988" y="6516688"/>
            <a:ext cx="4873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54CFA24-3096-47EA-9BA9-234A0D1FCEDF}" type="datetime'F''''''''''''Y''''''''2''''''''''''''''''0''''17'''''''''''''">
              <a:rPr lang="en-IN" altLang="en-US" b="0" smtClean="0"/>
              <a:pPr lvl="1" algn="ctr">
                <a:spcBef>
                  <a:spcPct val="0"/>
                </a:spcBef>
                <a:spcAft>
                  <a:spcPct val="0"/>
                </a:spcAft>
              </a:pPr>
              <a:t>FY2017</a:t>
            </a:fld>
            <a:endParaRPr lang="en-IN" b="0" noProof="0" dirty="0">
              <a:sym typeface="+mn-lt"/>
            </a:endParaRPr>
          </a:p>
        </p:txBody>
      </p:sp>
      <p:sp>
        <p:nvSpPr>
          <p:cNvPr id="148" name="StandardTextbox"/>
          <p:cNvSpPr>
            <a:spLocks noGrp="1"/>
          </p:cNvSpPr>
          <p:nvPr>
            <p:custDataLst>
              <p:tags r:id="rId15"/>
            </p:custDataLst>
          </p:nvPr>
        </p:nvSpPr>
        <p:spPr bwMode="gray">
          <a:xfrm>
            <a:off x="6170614" y="5610225"/>
            <a:ext cx="2841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AE14671-982A-4581-AE41-801C828A1D04}" type="datetime'''''''''''''''''1''''''''''''''''''''''''''''''03'''''''">
              <a:rPr lang="en-IN" altLang="en-US" b="0" smtClean="0"/>
              <a:pPr lvl="1" algn="ctr">
                <a:spcBef>
                  <a:spcPct val="0"/>
                </a:spcBef>
                <a:spcAft>
                  <a:spcPct val="0"/>
                </a:spcAft>
              </a:pPr>
              <a:t>103</a:t>
            </a:fld>
            <a:endParaRPr lang="en-IN" b="0" noProof="0" dirty="0">
              <a:sym typeface="+mn-lt"/>
            </a:endParaRPr>
          </a:p>
        </p:txBody>
      </p:sp>
      <p:sp>
        <p:nvSpPr>
          <p:cNvPr id="142" name="StandardTextbox"/>
          <p:cNvSpPr>
            <a:spLocks noGrp="1"/>
          </p:cNvSpPr>
          <p:nvPr>
            <p:custDataLst>
              <p:tags r:id="rId16"/>
            </p:custDataLst>
          </p:nvPr>
        </p:nvSpPr>
        <p:spPr bwMode="auto">
          <a:xfrm>
            <a:off x="6069013" y="6516688"/>
            <a:ext cx="4873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2389DF7-2537-4AEE-9777-7624FB1B8913}" type="datetime'''FY''''20''''''''''''''''1''''''''''''6'''''">
              <a:rPr lang="en-IN" altLang="en-US" b="0" smtClean="0"/>
              <a:pPr lvl="1" algn="ctr">
                <a:spcBef>
                  <a:spcPct val="0"/>
                </a:spcBef>
                <a:spcAft>
                  <a:spcPct val="0"/>
                </a:spcAft>
              </a:pPr>
              <a:t>FY2016</a:t>
            </a:fld>
            <a:endParaRPr lang="en-IN" b="0" noProof="0" dirty="0">
              <a:sym typeface="+mn-lt"/>
            </a:endParaRPr>
          </a:p>
        </p:txBody>
      </p:sp>
      <p:sp>
        <p:nvSpPr>
          <p:cNvPr id="179" name="StandardTextbox"/>
          <p:cNvSpPr>
            <a:spLocks noGrp="1"/>
          </p:cNvSpPr>
          <p:nvPr>
            <p:custDataLst>
              <p:tags r:id="rId17"/>
            </p:custDataLst>
          </p:nvPr>
        </p:nvSpPr>
        <p:spPr bwMode="auto">
          <a:xfrm>
            <a:off x="9223375" y="6516688"/>
            <a:ext cx="4873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DFFFFB62-0294-4B63-85EB-FF3B63B0B9D4}" type="datetime'''F''''''''''''''Y''2''''''0''''''1''''''''8'">
              <a:rPr lang="en-IN" altLang="en-US" b="0" smtClean="0"/>
              <a:pPr lvl="1" algn="ctr">
                <a:spcBef>
                  <a:spcPct val="0"/>
                </a:spcBef>
                <a:spcAft>
                  <a:spcPct val="0"/>
                </a:spcAft>
              </a:pPr>
              <a:t>FY2018</a:t>
            </a:fld>
            <a:endParaRPr lang="en-IN" b="0" noProof="0" dirty="0">
              <a:sym typeface="+mn-lt"/>
            </a:endParaRPr>
          </a:p>
        </p:txBody>
      </p:sp>
      <p:sp>
        <p:nvSpPr>
          <p:cNvPr id="149" name="StandardTextbox"/>
          <p:cNvSpPr>
            <a:spLocks noGrp="1"/>
          </p:cNvSpPr>
          <p:nvPr>
            <p:custDataLst>
              <p:tags r:id="rId18"/>
            </p:custDataLst>
          </p:nvPr>
        </p:nvSpPr>
        <p:spPr bwMode="gray">
          <a:xfrm>
            <a:off x="7788275" y="5708650"/>
            <a:ext cx="203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12693CC-F208-45D8-9FB5-D9D2625C90D7}" type="datetime'8''''''''''''''''''''''8'''''''''''''''''''''''''''">
              <a:rPr lang="en-IN" altLang="en-US" b="0" smtClean="0"/>
              <a:pPr lvl="1" algn="ctr">
                <a:spcBef>
                  <a:spcPct val="0"/>
                </a:spcBef>
                <a:spcAft>
                  <a:spcPct val="0"/>
                </a:spcAft>
              </a:pPr>
              <a:t>88</a:t>
            </a:fld>
            <a:endParaRPr lang="en-IN" b="0" noProof="0" dirty="0">
              <a:sym typeface="+mn-lt"/>
            </a:endParaRPr>
          </a:p>
        </p:txBody>
      </p:sp>
      <p:sp>
        <p:nvSpPr>
          <p:cNvPr id="150" name="StandardTextbox"/>
          <p:cNvSpPr>
            <a:spLocks noGrp="1"/>
          </p:cNvSpPr>
          <p:nvPr>
            <p:custDataLst>
              <p:tags r:id="rId19"/>
            </p:custDataLst>
          </p:nvPr>
        </p:nvSpPr>
        <p:spPr bwMode="gray">
          <a:xfrm>
            <a:off x="9324976" y="5064125"/>
            <a:ext cx="2841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0E5DDAE-C18A-4C03-98A0-9BC5829EEE1B}" type="datetime'''''''''''''1''''''''''''''''''''''''''''9''''''''1'''''">
              <a:rPr lang="en-IN" altLang="en-US" b="0" smtClean="0"/>
              <a:pPr lvl="1" algn="ctr">
                <a:spcBef>
                  <a:spcPct val="0"/>
                </a:spcBef>
                <a:spcAft>
                  <a:spcPct val="0"/>
                </a:spcAft>
              </a:pPr>
              <a:t>191</a:t>
            </a:fld>
            <a:endParaRPr lang="en-IN" b="0" noProof="0" dirty="0">
              <a:sym typeface="+mn-lt"/>
            </a:endParaRPr>
          </a:p>
        </p:txBody>
      </p:sp>
      <p:sp>
        <p:nvSpPr>
          <p:cNvPr id="248" name="StandardTextbox"/>
          <p:cNvSpPr>
            <a:spLocks noGrp="1"/>
          </p:cNvSpPr>
          <p:nvPr>
            <p:custDataLst>
              <p:tags r:id="rId20"/>
            </p:custDataLst>
          </p:nvPr>
        </p:nvSpPr>
        <p:spPr bwMode="gray">
          <a:xfrm>
            <a:off x="6210300" y="5765800"/>
            <a:ext cx="203200" cy="152400"/>
          </a:xfrm>
          <a:prstGeom prst="rect">
            <a:avLst/>
          </a:prstGeom>
          <a:solidFill>
            <a:srgbClr val="62B5E5"/>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D82E4927-4D34-4FCF-B4FA-2157D7411A17}" type="datetime'''''''''''''''''1''''''8'''''''''">
              <a:rPr lang="en-IN" altLang="en-US" b="0" smtClean="0">
                <a:solidFill>
                  <a:schemeClr val="bg1"/>
                </a:solidFill>
                <a:sym typeface="+mn-lt"/>
              </a:rPr>
              <a:pPr lvl="1" algn="ctr">
                <a:spcBef>
                  <a:spcPct val="0"/>
                </a:spcBef>
                <a:spcAft>
                  <a:spcPct val="0"/>
                </a:spcAft>
              </a:pPr>
              <a:t>18</a:t>
            </a:fld>
            <a:endParaRPr lang="en-IN" b="0" noProof="0" dirty="0">
              <a:solidFill>
                <a:schemeClr val="bg1"/>
              </a:solidFill>
              <a:sym typeface="+mn-lt"/>
            </a:endParaRPr>
          </a:p>
        </p:txBody>
      </p:sp>
      <p:sp>
        <p:nvSpPr>
          <p:cNvPr id="249" name="StandardTextbox"/>
          <p:cNvSpPr>
            <a:spLocks noGrp="1"/>
          </p:cNvSpPr>
          <p:nvPr>
            <p:custDataLst>
              <p:tags r:id="rId21"/>
            </p:custDataLst>
          </p:nvPr>
        </p:nvSpPr>
        <p:spPr bwMode="gray">
          <a:xfrm>
            <a:off x="7569200" y="5983288"/>
            <a:ext cx="203200" cy="152400"/>
          </a:xfrm>
          <a:prstGeom prst="rect">
            <a:avLst/>
          </a:prstGeom>
          <a:solidFill>
            <a:srgbClr val="046A38"/>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3A8F7B9-451C-4BEB-8C20-76A5754B770A}" type="datetime'''''''''''''''''''''''''''''''''''''''''''''''1''9'''''''''">
              <a:rPr lang="en-IN" altLang="en-US" b="0" smtClean="0">
                <a:solidFill>
                  <a:schemeClr val="bg1"/>
                </a:solidFill>
                <a:sym typeface="+mn-lt"/>
              </a:rPr>
              <a:pPr lvl="1" algn="ctr">
                <a:spcBef>
                  <a:spcPct val="0"/>
                </a:spcBef>
                <a:spcAft>
                  <a:spcPct val="0"/>
                </a:spcAft>
              </a:pPr>
              <a:t>19</a:t>
            </a:fld>
            <a:endParaRPr lang="en-IN" b="0" noProof="0" dirty="0">
              <a:solidFill>
                <a:schemeClr val="bg1"/>
              </a:solidFill>
              <a:sym typeface="+mn-lt"/>
            </a:endParaRPr>
          </a:p>
        </p:txBody>
      </p:sp>
      <p:sp>
        <p:nvSpPr>
          <p:cNvPr id="250" name="StandardTextbox"/>
          <p:cNvSpPr>
            <a:spLocks noGrp="1"/>
          </p:cNvSpPr>
          <p:nvPr>
            <p:custDataLst>
              <p:tags r:id="rId22"/>
            </p:custDataLst>
          </p:nvPr>
        </p:nvSpPr>
        <p:spPr bwMode="gray">
          <a:xfrm>
            <a:off x="8007350" y="5867400"/>
            <a:ext cx="203200" cy="152400"/>
          </a:xfrm>
          <a:prstGeom prst="rect">
            <a:avLst/>
          </a:prstGeom>
          <a:solidFill>
            <a:srgbClr val="62B5E5"/>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E493393-8CFA-413E-AA5D-7F3CF42C9F16}" type="datetime'''''1''''''''''8'''''''''''">
              <a:rPr lang="en-IN" altLang="en-US" b="0" smtClean="0">
                <a:solidFill>
                  <a:schemeClr val="bg1"/>
                </a:solidFill>
                <a:sym typeface="+mn-lt"/>
              </a:rPr>
              <a:pPr lvl="1" algn="ctr">
                <a:spcBef>
                  <a:spcPct val="0"/>
                </a:spcBef>
                <a:spcAft>
                  <a:spcPct val="0"/>
                </a:spcAft>
              </a:pPr>
              <a:t>18</a:t>
            </a:fld>
            <a:endParaRPr lang="en-IN" b="0" noProof="0" dirty="0">
              <a:solidFill>
                <a:schemeClr val="bg1"/>
              </a:solidFill>
              <a:sym typeface="+mn-lt"/>
            </a:endParaRPr>
          </a:p>
        </p:txBody>
      </p:sp>
      <p:sp>
        <p:nvSpPr>
          <p:cNvPr id="251" name="StandardTextbox"/>
          <p:cNvSpPr>
            <a:spLocks noGrp="1"/>
          </p:cNvSpPr>
          <p:nvPr>
            <p:custDataLst>
              <p:tags r:id="rId23"/>
            </p:custDataLst>
          </p:nvPr>
        </p:nvSpPr>
        <p:spPr bwMode="gray">
          <a:xfrm>
            <a:off x="9364663" y="5224463"/>
            <a:ext cx="203200" cy="152400"/>
          </a:xfrm>
          <a:prstGeom prst="rect">
            <a:avLst/>
          </a:prstGeom>
          <a:solidFill>
            <a:srgbClr val="62B5E5"/>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B0EA263F-F3B0-4727-A685-D9B4F37DC0E4}" type="datetime'''1''''''''''''''''''''''''''''''''''9'''''''''''''">
              <a:rPr lang="en-IN" altLang="en-US" b="0" smtClean="0">
                <a:solidFill>
                  <a:schemeClr val="bg1"/>
                </a:solidFill>
                <a:sym typeface="+mn-lt"/>
              </a:rPr>
              <a:pPr lvl="1" algn="ctr">
                <a:spcBef>
                  <a:spcPct val="0"/>
                </a:spcBef>
                <a:spcAft>
                  <a:spcPct val="0"/>
                </a:spcAft>
              </a:pPr>
              <a:t>19</a:t>
            </a:fld>
            <a:endParaRPr lang="en-IN" b="0" noProof="0" dirty="0">
              <a:solidFill>
                <a:schemeClr val="bg1"/>
              </a:solidFill>
              <a:sym typeface="+mn-lt"/>
            </a:endParaRPr>
          </a:p>
        </p:txBody>
      </p:sp>
      <p:sp>
        <p:nvSpPr>
          <p:cNvPr id="173" name="Rectangle 172"/>
          <p:cNvSpPr/>
          <p:nvPr>
            <p:custDataLst>
              <p:tags r:id="rId24"/>
            </p:custDataLst>
          </p:nvPr>
        </p:nvSpPr>
        <p:spPr bwMode="auto">
          <a:xfrm>
            <a:off x="5575300" y="6780213"/>
            <a:ext cx="179388" cy="133350"/>
          </a:xfrm>
          <a:prstGeom prst="rect">
            <a:avLst/>
          </a:prstGeom>
          <a:solidFill>
            <a:srgbClr val="01216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75" name="Rectangle 174"/>
          <p:cNvSpPr/>
          <p:nvPr>
            <p:custDataLst>
              <p:tags r:id="rId25"/>
            </p:custDataLst>
          </p:nvPr>
        </p:nvSpPr>
        <p:spPr bwMode="auto">
          <a:xfrm>
            <a:off x="6905625" y="6780213"/>
            <a:ext cx="179388" cy="133350"/>
          </a:xfrm>
          <a:prstGeom prst="rect">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74" name="Rectangle 173"/>
          <p:cNvSpPr/>
          <p:nvPr>
            <p:custDataLst>
              <p:tags r:id="rId26"/>
            </p:custDataLst>
          </p:nvPr>
        </p:nvSpPr>
        <p:spPr bwMode="auto">
          <a:xfrm>
            <a:off x="5575300" y="6983413"/>
            <a:ext cx="179388" cy="133350"/>
          </a:xfrm>
          <a:prstGeom prst="rect">
            <a:avLst/>
          </a:prstGeom>
          <a:solidFill>
            <a:srgbClr val="62B5E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97" name="Rectangle 196"/>
          <p:cNvSpPr/>
          <p:nvPr>
            <p:custDataLst>
              <p:tags r:id="rId27"/>
            </p:custDataLst>
          </p:nvPr>
        </p:nvSpPr>
        <p:spPr bwMode="auto">
          <a:xfrm>
            <a:off x="6905625" y="6983413"/>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82" name="StandardTextbox"/>
          <p:cNvSpPr>
            <a:spLocks noGrp="1"/>
          </p:cNvSpPr>
          <p:nvPr>
            <p:custDataLst>
              <p:tags r:id="rId28"/>
            </p:custDataLst>
          </p:nvPr>
        </p:nvSpPr>
        <p:spPr bwMode="auto">
          <a:xfrm>
            <a:off x="7135813" y="6978650"/>
            <a:ext cx="27574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0633E2D6-FE34-46B7-A3C6-52F5A671CA09}" type="datetime'Gas Developme''nt &amp; En''''e''r''''gy S''ecu''rity'' Fun''ds'">
              <a:rPr lang="en-US" altLang="en-US" b="0" smtClean="0"/>
              <a:pPr lvl="1">
                <a:spcBef>
                  <a:spcPct val="0"/>
                </a:spcBef>
                <a:spcAft>
                  <a:spcPct val="0"/>
                </a:spcAft>
              </a:pPr>
              <a:t>Gas Development &amp; Energy Security Funds</a:t>
            </a:fld>
            <a:endParaRPr lang="en-IN" b="0" noProof="0" dirty="0">
              <a:sym typeface="+mn-lt"/>
            </a:endParaRPr>
          </a:p>
        </p:txBody>
      </p:sp>
      <p:sp>
        <p:nvSpPr>
          <p:cNvPr id="145" name="StandardTextbox"/>
          <p:cNvSpPr>
            <a:spLocks noGrp="1"/>
          </p:cNvSpPr>
          <p:nvPr>
            <p:custDataLst>
              <p:tags r:id="rId29"/>
            </p:custDataLst>
          </p:nvPr>
        </p:nvSpPr>
        <p:spPr bwMode="auto">
          <a:xfrm>
            <a:off x="5805488" y="6775450"/>
            <a:ext cx="969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7902164D-F4B9-4186-AC2F-960FFCF7A414}" type="datetime'''''Paid ''U''p'''''''''' ''''Ca''p''''''''''i''t''''''a''l'''">
              <a:rPr lang="en-IN" altLang="en-US" b="0" smtClean="0"/>
              <a:pPr lvl="1">
                <a:spcBef>
                  <a:spcPct val="0"/>
                </a:spcBef>
                <a:spcAft>
                  <a:spcPct val="0"/>
                </a:spcAft>
              </a:pPr>
              <a:t>Paid Up Capital</a:t>
            </a:fld>
            <a:endParaRPr lang="en-IN" b="0" noProof="0" dirty="0">
              <a:sym typeface="+mn-lt"/>
            </a:endParaRPr>
          </a:p>
        </p:txBody>
      </p:sp>
      <p:sp>
        <p:nvSpPr>
          <p:cNvPr id="146" name="StandardTextbox"/>
          <p:cNvSpPr>
            <a:spLocks noGrp="1"/>
          </p:cNvSpPr>
          <p:nvPr>
            <p:custDataLst>
              <p:tags r:id="rId30"/>
            </p:custDataLst>
          </p:nvPr>
        </p:nvSpPr>
        <p:spPr bwMode="auto">
          <a:xfrm>
            <a:off x="5805488" y="6978650"/>
            <a:ext cx="9985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E603A670-DEB3-4F3A-956D-3D33CB7C333A}" type="datetime'''C''''a''''''''''pi''''t''a''''''''l ''Re''s''''''e''''rv''e'">
              <a:rPr lang="en-IN" altLang="en-US" b="0" smtClean="0"/>
              <a:pPr lvl="1">
                <a:spcBef>
                  <a:spcPct val="0"/>
                </a:spcBef>
                <a:spcAft>
                  <a:spcPct val="0"/>
                </a:spcAft>
              </a:pPr>
              <a:t>Capital Reserve</a:t>
            </a:fld>
            <a:endParaRPr lang="en-IN" b="0" noProof="0" dirty="0">
              <a:sym typeface="+mn-lt"/>
            </a:endParaRPr>
          </a:p>
        </p:txBody>
      </p:sp>
      <p:sp>
        <p:nvSpPr>
          <p:cNvPr id="147" name="StandardTextbox"/>
          <p:cNvSpPr>
            <a:spLocks noGrp="1"/>
          </p:cNvSpPr>
          <p:nvPr>
            <p:custDataLst>
              <p:tags r:id="rId31"/>
            </p:custDataLst>
          </p:nvPr>
        </p:nvSpPr>
        <p:spPr bwMode="auto">
          <a:xfrm>
            <a:off x="7135813" y="6775450"/>
            <a:ext cx="11112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E499403A-2324-4469-9747-CD15784FCE48}" type="datetime'''''''''Re''''''''''''ven''u''''''''e'''' ''Rese''''rv''''e'''">
              <a:rPr lang="en-IN" altLang="en-US" b="0" smtClean="0"/>
              <a:pPr lvl="1">
                <a:spcBef>
                  <a:spcPct val="0"/>
                </a:spcBef>
                <a:spcAft>
                  <a:spcPct val="0"/>
                </a:spcAft>
              </a:pPr>
              <a:t>Revenue Reserve</a:t>
            </a:fld>
            <a:endParaRPr lang="en-IN" b="0" noProof="0" dirty="0">
              <a:sym typeface="+mn-lt"/>
            </a:endParaRPr>
          </a:p>
        </p:txBody>
      </p:sp>
    </p:spTree>
    <p:extLst>
      <p:ext uri="{BB962C8B-B14F-4D97-AF65-F5344CB8AC3E}">
        <p14:creationId xmlns:p14="http://schemas.microsoft.com/office/powerpoint/2010/main" val="2314470850"/>
      </p:ext>
    </p:extLst>
  </p:cSld>
  <p:clrMapOvr>
    <a:masterClrMapping/>
  </p:clrMapOvr>
  <p:transition>
    <p:fade/>
  </p:transition>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0000"/>
              </a:lnSpc>
              <a:spcBef>
                <a:spcPct val="0"/>
              </a:spcBef>
              <a:spcAft>
                <a:spcPct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pic>
        <p:nvPicPr>
          <p:cNvPr id="59" name="Picture 58"/>
          <p:cNvPicPr>
            <a:picLocks noChangeAspect="1"/>
          </p:cNvPicPr>
          <p:nvPr/>
        </p:nvPicPr>
        <p:blipFill rotWithShape="1">
          <a:blip r:embed="rId6" cstate="email">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a:ext>
            </a:extLst>
          </a:blip>
          <a:srcRect/>
          <a:stretch/>
        </p:blipFill>
        <p:spPr>
          <a:xfrm>
            <a:off x="6388099" y="1079499"/>
            <a:ext cx="4303713" cy="5570411"/>
          </a:xfrm>
          <a:prstGeom prst="rect">
            <a:avLst/>
          </a:prstGeom>
        </p:spPr>
      </p:pic>
      <p:sp>
        <p:nvSpPr>
          <p:cNvPr id="61" name="Rectangle 60"/>
          <p:cNvSpPr/>
          <p:nvPr/>
        </p:nvSpPr>
        <p:spPr bwMode="gray">
          <a:xfrm>
            <a:off x="447964" y="1030161"/>
            <a:ext cx="10229273" cy="36000"/>
          </a:xfrm>
          <a:prstGeom prst="rect">
            <a:avLst/>
          </a:prstGeom>
          <a:solidFill>
            <a:srgbClr val="00ABAB"/>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2" name="Rectangle 61"/>
          <p:cNvSpPr/>
          <p:nvPr/>
        </p:nvSpPr>
        <p:spPr bwMode="gray">
          <a:xfrm>
            <a:off x="447964" y="6663250"/>
            <a:ext cx="10229273" cy="36000"/>
          </a:xfrm>
          <a:prstGeom prst="rect">
            <a:avLst/>
          </a:prstGeom>
          <a:solidFill>
            <a:srgbClr val="00ABAB"/>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6" name="Rectangle 15"/>
          <p:cNvSpPr/>
          <p:nvPr/>
        </p:nvSpPr>
        <p:spPr>
          <a:xfrm>
            <a:off x="469900" y="2352070"/>
            <a:ext cx="4552045" cy="3785652"/>
          </a:xfrm>
          <a:prstGeom prst="rect">
            <a:avLst/>
          </a:prstGeom>
        </p:spPr>
        <p:txBody>
          <a:bodyPr wrap="square">
            <a:spAutoFit/>
          </a:bodyPr>
          <a:lstStyle/>
          <a:p>
            <a:pPr lvl="0"/>
            <a:r>
              <a:rPr lang="en-US" sz="2400" b="1" dirty="0">
                <a:solidFill>
                  <a:prstClr val="black"/>
                </a:solidFill>
              </a:rPr>
              <a:t>Assessment of Foreign Participation in Power Sector</a:t>
            </a:r>
          </a:p>
          <a:p>
            <a:pPr marL="0" marR="0" lvl="0" indent="0" algn="l" defTabSz="787481"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0097A9"/>
                </a:solidFill>
                <a:effectLst/>
                <a:uLnTx/>
                <a:uFillTx/>
                <a:latin typeface="Verdana"/>
                <a:ea typeface="+mn-ea"/>
                <a:cs typeface="+mn-cs"/>
              </a:rPr>
              <a:t>Investment overview by private players,</a:t>
            </a:r>
            <a:r>
              <a:rPr kumimoji="0" lang="en-US" sz="2400" b="0" i="1" u="none" strike="noStrike" kern="1200" cap="none" spc="0" normalizeH="0" noProof="0" dirty="0">
                <a:ln>
                  <a:noFill/>
                </a:ln>
                <a:solidFill>
                  <a:srgbClr val="0097A9"/>
                </a:solidFill>
                <a:effectLst/>
                <a:uLnTx/>
                <a:uFillTx/>
                <a:latin typeface="Verdana"/>
                <a:ea typeface="+mn-ea"/>
                <a:cs typeface="+mn-cs"/>
              </a:rPr>
              <a:t> major portfolio of foreign equity investors, lenders and multilaterals in power projects, identification of opportunities for Actis</a:t>
            </a:r>
            <a:endParaRPr kumimoji="0" lang="en-US" sz="2400" b="0" i="1" u="none" strike="noStrike" kern="1200" cap="none" spc="0" normalizeH="0" baseline="0" noProof="0" dirty="0">
              <a:ln>
                <a:noFill/>
              </a:ln>
              <a:solidFill>
                <a:srgbClr val="0097A9"/>
              </a:solidFill>
              <a:effectLst/>
              <a:uLnTx/>
              <a:uFillTx/>
              <a:latin typeface="Verdana"/>
              <a:ea typeface="+mn-ea"/>
              <a:cs typeface="+mn-cs"/>
            </a:endParaRPr>
          </a:p>
        </p:txBody>
      </p:sp>
      <p:sp>
        <p:nvSpPr>
          <p:cNvPr id="13" name="Oval 12"/>
          <p:cNvSpPr/>
          <p:nvPr/>
        </p:nvSpPr>
        <p:spPr bwMode="gray">
          <a:xfrm>
            <a:off x="5179691" y="1296232"/>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01</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14" name="Oval 13"/>
          <p:cNvSpPr/>
          <p:nvPr/>
        </p:nvSpPr>
        <p:spPr bwMode="gray">
          <a:xfrm>
            <a:off x="5184133" y="1819733"/>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02</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15" name="Oval 14"/>
          <p:cNvSpPr/>
          <p:nvPr/>
        </p:nvSpPr>
        <p:spPr bwMode="gray">
          <a:xfrm>
            <a:off x="5184133" y="2343234"/>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03</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17" name="Oval 16"/>
          <p:cNvSpPr/>
          <p:nvPr/>
        </p:nvSpPr>
        <p:spPr bwMode="gray">
          <a:xfrm>
            <a:off x="5179696" y="2866735"/>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04</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18" name="Oval 17"/>
          <p:cNvSpPr/>
          <p:nvPr/>
        </p:nvSpPr>
        <p:spPr bwMode="gray">
          <a:xfrm>
            <a:off x="5179696" y="3390236"/>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05</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19" name="Oval 18"/>
          <p:cNvSpPr/>
          <p:nvPr/>
        </p:nvSpPr>
        <p:spPr bwMode="gray">
          <a:xfrm>
            <a:off x="5179696" y="3913737"/>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06</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0" name="Oval 19"/>
          <p:cNvSpPr/>
          <p:nvPr/>
        </p:nvSpPr>
        <p:spPr bwMode="gray">
          <a:xfrm>
            <a:off x="5179695" y="4437238"/>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solidFill>
                  <a:prstClr val="black"/>
                </a:solidFill>
                <a:latin typeface="Verdana"/>
              </a:rPr>
              <a:t>07</a:t>
            </a:r>
            <a:endParaRPr lang="en-IN" sz="1400" b="1" dirty="0">
              <a:solidFill>
                <a:prstClr val="black"/>
              </a:solidFill>
              <a:latin typeface="Verdana"/>
            </a:endParaRPr>
          </a:p>
        </p:txBody>
      </p:sp>
      <p:sp>
        <p:nvSpPr>
          <p:cNvPr id="21" name="Oval 20"/>
          <p:cNvSpPr/>
          <p:nvPr/>
        </p:nvSpPr>
        <p:spPr bwMode="gray">
          <a:xfrm>
            <a:off x="5179692" y="4960739"/>
            <a:ext cx="382909" cy="382909"/>
          </a:xfrm>
          <a:prstGeom prst="ellipse">
            <a:avLst/>
          </a:prstGeom>
          <a:solidFill>
            <a:schemeClr val="accent5"/>
          </a:solidFill>
        </p:spPr>
        <p:txBody>
          <a:bodyPr wrap="square" lIns="0" tIns="88900" rIns="0" bIns="88900" rtlCol="0" anchor="ctr"/>
          <a:lstStyle/>
          <a:p>
            <a:pPr algn="ctr">
              <a:lnSpc>
                <a:spcPct val="106000"/>
              </a:lnSpc>
              <a:buFont typeface="Wingdings 2" pitchFamily="18" charset="2"/>
              <a:buNone/>
            </a:pPr>
            <a:r>
              <a:rPr lang="en-US" sz="1400" b="1" dirty="0">
                <a:solidFill>
                  <a:prstClr val="white"/>
                </a:solidFill>
                <a:latin typeface="Verdana"/>
              </a:rPr>
              <a:t>08</a:t>
            </a:r>
            <a:endParaRPr lang="en-IN" sz="1400" b="1" dirty="0">
              <a:solidFill>
                <a:prstClr val="white"/>
              </a:solidFill>
              <a:latin typeface="Verdana"/>
            </a:endParaRPr>
          </a:p>
        </p:txBody>
      </p:sp>
      <p:sp>
        <p:nvSpPr>
          <p:cNvPr id="22" name="Oval 21"/>
          <p:cNvSpPr/>
          <p:nvPr/>
        </p:nvSpPr>
        <p:spPr bwMode="gray">
          <a:xfrm>
            <a:off x="5179694" y="5484240"/>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09</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3" name="Oval 22"/>
          <p:cNvSpPr/>
          <p:nvPr/>
        </p:nvSpPr>
        <p:spPr bwMode="gray">
          <a:xfrm>
            <a:off x="5179691" y="6007743"/>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10</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384039537"/>
      </p:ext>
    </p:extLst>
  </p:cSld>
  <p:clrMapOvr>
    <a:masterClrMapping/>
  </p:clrMapOvr>
  <p:transition>
    <p:fade/>
  </p:transition>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7" name="Object 146" hidden="1"/>
          <p:cNvGraphicFramePr>
            <a:graphicFrameLocks noChangeAspect="1"/>
          </p:cNvGraphicFramePr>
          <p:nvPr>
            <p:custDataLst>
              <p:tags r:id="rId1"/>
            </p:custDataLst>
            <p:extLst>
              <p:ext uri="{D42A27DB-BD31-4B8C-83A1-F6EECF244321}">
                <p14:modId xmlns:p14="http://schemas.microsoft.com/office/powerpoint/2010/main" val="138740726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147" name="Object 146"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146" name="Rectangle 145"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Foreign Equity Participation in Power Sector | Investments in Power Plants</a:t>
            </a:r>
            <a:endParaRPr lang="en-IN" dirty="0"/>
          </a:p>
        </p:txBody>
      </p:sp>
      <p:graphicFrame>
        <p:nvGraphicFramePr>
          <p:cNvPr id="38" name="Table 37"/>
          <p:cNvGraphicFramePr>
            <a:graphicFrameLocks noGrp="1"/>
          </p:cNvGraphicFramePr>
          <p:nvPr>
            <p:custDataLst>
              <p:tags r:id="rId3"/>
            </p:custDataLst>
            <p:extLst>
              <p:ext uri="{D42A27DB-BD31-4B8C-83A1-F6EECF244321}">
                <p14:modId xmlns:p14="http://schemas.microsoft.com/office/powerpoint/2010/main" val="2306818441"/>
              </p:ext>
            </p:extLst>
          </p:nvPr>
        </p:nvGraphicFramePr>
        <p:xfrm>
          <a:off x="449992" y="1961919"/>
          <a:ext cx="9790971" cy="763318"/>
        </p:xfrm>
        <a:graphic>
          <a:graphicData uri="http://schemas.openxmlformats.org/drawingml/2006/table">
            <a:tbl>
              <a:tblPr firstRow="1" bandRow="1">
                <a:tableStyleId>{5C22544A-7EE6-4342-B048-85BDC9FD1C3A}</a:tableStyleId>
              </a:tblPr>
              <a:tblGrid>
                <a:gridCol w="9790971">
                  <a:extLst>
                    <a:ext uri="{9D8B030D-6E8A-4147-A177-3AD203B41FA5}">
                      <a16:colId xmlns:a16="http://schemas.microsoft.com/office/drawing/2014/main" val="20000"/>
                    </a:ext>
                  </a:extLst>
                </a:gridCol>
              </a:tblGrid>
              <a:tr h="393336">
                <a:tc>
                  <a:txBody>
                    <a:bodyPr/>
                    <a:lstStyle/>
                    <a:p>
                      <a:pPr marL="0" marR="0" lvl="0" indent="0" algn="just" defTabSz="990571" rtl="0" eaLnBrk="1" fontAlgn="auto" latinLnBrk="0" hangingPunct="1">
                        <a:lnSpc>
                          <a:spcPct val="100000"/>
                        </a:lnSpc>
                        <a:spcBef>
                          <a:spcPts val="600"/>
                        </a:spcBef>
                        <a:spcAft>
                          <a:spcPts val="600"/>
                        </a:spcAft>
                        <a:buClrTx/>
                        <a:buSzTx/>
                        <a:buFont typeface="Arial" panose="020B0604020202020204" pitchFamily="34" charset="0"/>
                        <a:buNone/>
                        <a:tabLst/>
                        <a:defRPr/>
                      </a:pPr>
                      <a:r>
                        <a:rPr kumimoji="0" lang="en-US" sz="1000" b="0" i="0" u="none" strike="noStrike" kern="1200" cap="none" spc="0" normalizeH="0" baseline="0" noProof="0" dirty="0">
                          <a:ln>
                            <a:noFill/>
                          </a:ln>
                          <a:solidFill>
                            <a:prstClr val="black"/>
                          </a:solidFill>
                          <a:effectLst/>
                          <a:uLnTx/>
                          <a:uFillTx/>
                          <a:latin typeface="+mn-lt"/>
                          <a:ea typeface="+mn-ea"/>
                          <a:cs typeface="+mn-cs"/>
                        </a:rPr>
                        <a:t>The following figure highlights the </a:t>
                      </a:r>
                      <a:r>
                        <a:rPr kumimoji="0" lang="en-US" sz="1000" b="1" i="0" u="none" strike="noStrike" kern="1200" cap="none" spc="0" normalizeH="0" baseline="0" noProof="0" dirty="0">
                          <a:ln>
                            <a:noFill/>
                          </a:ln>
                          <a:solidFill>
                            <a:prstClr val="black"/>
                          </a:solidFill>
                          <a:effectLst/>
                          <a:uLnTx/>
                          <a:uFillTx/>
                          <a:latin typeface="+mn-lt"/>
                          <a:ea typeface="+mn-ea"/>
                          <a:cs typeface="+mn-cs"/>
                        </a:rPr>
                        <a:t>major historical power sector investments </a:t>
                      </a:r>
                      <a:r>
                        <a:rPr kumimoji="0" lang="en-US" sz="1000" b="0" i="0" u="none" strike="noStrike" kern="1200" cap="none" spc="0" normalizeH="0" baseline="0" noProof="0" dirty="0">
                          <a:ln>
                            <a:noFill/>
                          </a:ln>
                          <a:solidFill>
                            <a:prstClr val="black"/>
                          </a:solidFill>
                          <a:effectLst/>
                          <a:uLnTx/>
                          <a:uFillTx/>
                          <a:latin typeface="+mn-lt"/>
                          <a:ea typeface="+mn-ea"/>
                          <a:cs typeface="+mn-cs"/>
                        </a:rPr>
                        <a:t>with regards to </a:t>
                      </a:r>
                      <a:r>
                        <a:rPr kumimoji="0" lang="en-US" sz="1000" b="1" i="0" u="none" strike="noStrike" kern="1200" cap="none" spc="0" normalizeH="0" baseline="0" noProof="0" dirty="0">
                          <a:ln>
                            <a:noFill/>
                          </a:ln>
                          <a:solidFill>
                            <a:prstClr val="black"/>
                          </a:solidFill>
                          <a:effectLst/>
                          <a:uLnTx/>
                          <a:uFillTx/>
                          <a:latin typeface="+mn-lt"/>
                          <a:ea typeface="+mn-ea"/>
                          <a:cs typeface="+mn-cs"/>
                        </a:rPr>
                        <a:t>foreign equity </a:t>
                      </a:r>
                      <a:r>
                        <a:rPr kumimoji="0" lang="en-US" sz="1000" b="0" i="0" u="none" strike="noStrike" kern="1200" cap="none" spc="0" normalizeH="0" baseline="0" noProof="0" dirty="0">
                          <a:ln>
                            <a:noFill/>
                          </a:ln>
                          <a:solidFill>
                            <a:prstClr val="black"/>
                          </a:solidFill>
                          <a:effectLst/>
                          <a:uLnTx/>
                          <a:uFillTx/>
                          <a:latin typeface="+mn-lt"/>
                          <a:ea typeface="+mn-ea"/>
                          <a:cs typeface="+mn-cs"/>
                        </a:rPr>
                        <a:t>investment in </a:t>
                      </a:r>
                      <a:r>
                        <a:rPr kumimoji="0" lang="en-US" sz="1000" b="0" i="0" u="none" strike="noStrike" kern="1200" cap="none" spc="0" normalizeH="0" baseline="0" noProof="0" dirty="0" err="1">
                          <a:ln>
                            <a:noFill/>
                          </a:ln>
                          <a:solidFill>
                            <a:prstClr val="black"/>
                          </a:solidFill>
                          <a:effectLst/>
                          <a:uLnTx/>
                          <a:uFillTx/>
                          <a:latin typeface="+mn-lt"/>
                          <a:ea typeface="+mn-ea"/>
                          <a:cs typeface="+mn-cs"/>
                        </a:rPr>
                        <a:t>genration</a:t>
                      </a:r>
                      <a:r>
                        <a:rPr kumimoji="0" lang="en-US" sz="1000" b="0" i="0" u="none" strike="noStrike" kern="1200" cap="none" spc="0" normalizeH="0" baseline="0" noProof="0" dirty="0">
                          <a:ln>
                            <a:noFill/>
                          </a:ln>
                          <a:solidFill>
                            <a:prstClr val="black"/>
                          </a:solidFill>
                          <a:effectLst/>
                          <a:uLnTx/>
                          <a:uFillTx/>
                          <a:latin typeface="+mn-lt"/>
                          <a:ea typeface="+mn-ea"/>
                          <a:cs typeface="+mn-cs"/>
                        </a:rPr>
                        <a:t> projects over the years:</a:t>
                      </a:r>
                      <a:endParaRPr kumimoji="0" lang="en-IN" sz="1000" b="0" i="0" u="none" strike="noStrike" kern="1200" cap="none" spc="0" normalizeH="0" baseline="0" noProof="0" dirty="0">
                        <a:ln>
                          <a:noFill/>
                        </a:ln>
                        <a:solidFill>
                          <a:prstClr val="black"/>
                        </a:solidFill>
                        <a:effectLst/>
                        <a:uLnTx/>
                        <a:uFillTx/>
                        <a:latin typeface="+mn-lt"/>
                        <a:ea typeface="+mn-ea"/>
                        <a:cs typeface="+mn-cs"/>
                      </a:endParaRPr>
                    </a:p>
                    <a:p>
                      <a:pPr marL="0" indent="0" algn="just">
                        <a:spcBef>
                          <a:spcPts val="600"/>
                        </a:spcBef>
                        <a:spcAft>
                          <a:spcPts val="600"/>
                        </a:spcAft>
                        <a:buFont typeface="Arial" panose="020B0604020202020204" pitchFamily="34" charset="0"/>
                        <a:buNone/>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cxnSp>
        <p:nvCxnSpPr>
          <p:cNvPr id="4" name="Straight Connector 3"/>
          <p:cNvCxnSpPr>
            <a:cxnSpLocks/>
          </p:cNvCxnSpPr>
          <p:nvPr/>
        </p:nvCxnSpPr>
        <p:spPr>
          <a:xfrm>
            <a:off x="529800" y="5130830"/>
            <a:ext cx="957624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nvGrpSpPr>
          <p:cNvPr id="40" name="Group 39"/>
          <p:cNvGrpSpPr/>
          <p:nvPr/>
        </p:nvGrpSpPr>
        <p:grpSpPr>
          <a:xfrm>
            <a:off x="957657" y="5062714"/>
            <a:ext cx="1620451" cy="1223210"/>
            <a:chOff x="1057246" y="5062715"/>
            <a:chExt cx="1620451" cy="1223210"/>
          </a:xfrm>
        </p:grpSpPr>
        <p:sp>
          <p:nvSpPr>
            <p:cNvPr id="61" name="TextBox 60"/>
            <p:cNvSpPr txBox="1"/>
            <p:nvPr/>
          </p:nvSpPr>
          <p:spPr>
            <a:xfrm>
              <a:off x="1057246" y="6039704"/>
              <a:ext cx="1620451"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effectLst/>
                  <a:uLnTx/>
                  <a:uFillTx/>
                  <a:latin typeface="Verdana"/>
                  <a:ea typeface="+mn-ea"/>
                  <a:cs typeface="+mn-cs"/>
                </a:rPr>
                <a:t>360 MW Haripur Power (AES) </a:t>
              </a:r>
              <a:r>
                <a:rPr kumimoji="0" lang="en-US" sz="800" b="1" i="1" u="none" strike="noStrike" kern="1200" cap="none" spc="0" normalizeH="0" baseline="0" noProof="0" dirty="0">
                  <a:ln>
                    <a:noFill/>
                  </a:ln>
                  <a:effectLst/>
                  <a:uLnTx/>
                  <a:uFillTx/>
                  <a:latin typeface="Verdana"/>
                  <a:ea typeface="+mn-ea"/>
                  <a:cs typeface="+mn-cs"/>
                </a:rPr>
                <a:t>(USA)</a:t>
              </a:r>
              <a:endParaRPr kumimoji="0" lang="en-IN" sz="800" b="1" i="0" u="none" strike="noStrike" kern="1200" cap="none" spc="0" normalizeH="0" baseline="0" noProof="0" dirty="0">
                <a:ln>
                  <a:noFill/>
                </a:ln>
                <a:effectLst/>
                <a:uLnTx/>
                <a:uFillTx/>
                <a:latin typeface="Verdana"/>
                <a:ea typeface="+mn-ea"/>
                <a:cs typeface="+mn-cs"/>
              </a:endParaRPr>
            </a:p>
          </p:txBody>
        </p:sp>
        <p:cxnSp>
          <p:nvCxnSpPr>
            <p:cNvPr id="65" name="Straight Connector 64"/>
            <p:cNvCxnSpPr>
              <a:stCxn id="26" idx="4"/>
            </p:cNvCxnSpPr>
            <p:nvPr/>
          </p:nvCxnSpPr>
          <p:spPr>
            <a:xfrm flipH="1">
              <a:off x="1846133" y="5206715"/>
              <a:ext cx="2006" cy="813141"/>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6" name="Oval 25"/>
            <p:cNvSpPr>
              <a:spLocks/>
            </p:cNvSpPr>
            <p:nvPr/>
          </p:nvSpPr>
          <p:spPr bwMode="gray">
            <a:xfrm>
              <a:off x="1776139" y="5062715"/>
              <a:ext cx="144000" cy="144000"/>
            </a:xfrm>
            <a:prstGeom prst="ellipse">
              <a:avLst/>
            </a:prstGeom>
            <a:solidFill>
              <a:schemeClr val="accent1">
                <a:lumMod val="60000"/>
                <a:lumOff val="4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grpSp>
      <p:grpSp>
        <p:nvGrpSpPr>
          <p:cNvPr id="42" name="Group 41"/>
          <p:cNvGrpSpPr/>
          <p:nvPr/>
        </p:nvGrpSpPr>
        <p:grpSpPr>
          <a:xfrm>
            <a:off x="238586" y="3071916"/>
            <a:ext cx="1250552" cy="2134799"/>
            <a:chOff x="433126" y="3071916"/>
            <a:chExt cx="1250552" cy="2134799"/>
          </a:xfrm>
        </p:grpSpPr>
        <p:cxnSp>
          <p:nvCxnSpPr>
            <p:cNvPr id="56" name="Straight Connector 55"/>
            <p:cNvCxnSpPr>
              <a:stCxn id="58" idx="2"/>
              <a:endCxn id="55" idx="0"/>
            </p:cNvCxnSpPr>
            <p:nvPr/>
          </p:nvCxnSpPr>
          <p:spPr>
            <a:xfrm>
              <a:off x="1058402" y="3318137"/>
              <a:ext cx="11202" cy="1744578"/>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58" name="TextBox 57"/>
            <p:cNvSpPr txBox="1"/>
            <p:nvPr/>
          </p:nvSpPr>
          <p:spPr>
            <a:xfrm>
              <a:off x="433126" y="3071916"/>
              <a:ext cx="1250552"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effectLst/>
                  <a:uLnTx/>
                  <a:uFillTx/>
                  <a:latin typeface="Verdana"/>
                  <a:ea typeface="+mn-ea"/>
                  <a:cs typeface="+mn-cs"/>
                </a:rPr>
                <a:t>110 MW NEPC Consortium</a:t>
              </a:r>
              <a:endParaRPr kumimoji="0" lang="en-IN" sz="800" b="1" i="1" u="none" strike="noStrike" kern="1200" cap="none" spc="0" normalizeH="0" baseline="0" noProof="0" dirty="0">
                <a:ln>
                  <a:noFill/>
                </a:ln>
                <a:effectLst/>
                <a:uLnTx/>
                <a:uFillTx/>
                <a:latin typeface="Verdana"/>
                <a:ea typeface="+mn-ea"/>
                <a:cs typeface="+mn-cs"/>
              </a:endParaRPr>
            </a:p>
          </p:txBody>
        </p:sp>
        <p:sp>
          <p:nvSpPr>
            <p:cNvPr id="55" name="Oval 54"/>
            <p:cNvSpPr>
              <a:spLocks/>
            </p:cNvSpPr>
            <p:nvPr/>
          </p:nvSpPr>
          <p:spPr bwMode="gray">
            <a:xfrm>
              <a:off x="997604" y="5062715"/>
              <a:ext cx="144000" cy="144000"/>
            </a:xfrm>
            <a:prstGeom prst="ellipse">
              <a:avLst/>
            </a:prstGeom>
            <a:solidFill>
              <a:schemeClr val="accent1">
                <a:lumMod val="40000"/>
                <a:lumOff val="6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grpSp>
      <p:grpSp>
        <p:nvGrpSpPr>
          <p:cNvPr id="30" name="Group 29"/>
          <p:cNvGrpSpPr/>
          <p:nvPr/>
        </p:nvGrpSpPr>
        <p:grpSpPr>
          <a:xfrm>
            <a:off x="5920202" y="3371203"/>
            <a:ext cx="1224000" cy="1835512"/>
            <a:chOff x="4506655" y="3371203"/>
            <a:chExt cx="1224000" cy="1835512"/>
          </a:xfrm>
        </p:grpSpPr>
        <p:cxnSp>
          <p:nvCxnSpPr>
            <p:cNvPr id="27" name="Straight Connector 26"/>
            <p:cNvCxnSpPr>
              <a:stCxn id="66" idx="2"/>
              <a:endCxn id="64" idx="0"/>
            </p:cNvCxnSpPr>
            <p:nvPr/>
          </p:nvCxnSpPr>
          <p:spPr>
            <a:xfrm flipH="1">
              <a:off x="5118655" y="3767310"/>
              <a:ext cx="1314" cy="1295405"/>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66" name="TextBox 65"/>
            <p:cNvSpPr txBox="1"/>
            <p:nvPr/>
          </p:nvSpPr>
          <p:spPr>
            <a:xfrm>
              <a:off x="4506655" y="3371203"/>
              <a:ext cx="1224000" cy="310442"/>
            </a:xfrm>
            <a:prstGeom prst="rect">
              <a:avLst/>
            </a:prstGeom>
            <a:noFill/>
          </p:spPr>
          <p:txBody>
            <a:bodyPr wrap="square" lIns="0" tIns="0" rIns="0" bIns="0" rtlCol="0">
              <a:no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effectLst/>
                  <a:uLnTx/>
                  <a:uFillTx/>
                  <a:latin typeface="Verdana"/>
                  <a:ea typeface="+mn-ea"/>
                  <a:cs typeface="+mn-cs"/>
                </a:rPr>
                <a:t>50 MW DPA Power Gen (</a:t>
              </a:r>
              <a:r>
                <a:rPr kumimoji="0" lang="en-US" sz="800" b="1" i="0" u="none" strike="noStrike" kern="1200" cap="none" spc="0" normalizeH="0" baseline="0" noProof="0" dirty="0" err="1">
                  <a:ln>
                    <a:noFill/>
                  </a:ln>
                  <a:effectLst/>
                  <a:uLnTx/>
                  <a:uFillTx/>
                  <a:latin typeface="Verdana"/>
                  <a:ea typeface="+mn-ea"/>
                  <a:cs typeface="+mn-cs"/>
                </a:rPr>
                <a:t>Aggratech</a:t>
              </a:r>
              <a:r>
                <a:rPr kumimoji="0" lang="en-US" sz="800" b="1" i="0" u="none" strike="noStrike" kern="1200" cap="none" spc="0" normalizeH="0" baseline="0" noProof="0" dirty="0">
                  <a:ln>
                    <a:noFill/>
                  </a:ln>
                  <a:effectLst/>
                  <a:uLnTx/>
                  <a:uFillTx/>
                  <a:latin typeface="Verdana"/>
                  <a:ea typeface="+mn-ea"/>
                  <a:cs typeface="+mn-cs"/>
                </a:rPr>
                <a:t> AG) </a:t>
              </a:r>
              <a:r>
                <a:rPr kumimoji="0" lang="en-US" sz="800" b="1" i="1" u="none" strike="noStrike" kern="1200" cap="none" spc="0" normalizeH="0" baseline="0" noProof="0" dirty="0">
                  <a:ln>
                    <a:noFill/>
                  </a:ln>
                  <a:effectLst/>
                  <a:uLnTx/>
                  <a:uFillTx/>
                  <a:latin typeface="Verdana"/>
                  <a:ea typeface="+mn-ea"/>
                  <a:cs typeface="+mn-cs"/>
                </a:rPr>
                <a:t>(Germany)</a:t>
              </a:r>
              <a:endParaRPr kumimoji="0" lang="en-IN" sz="800" b="1" i="0" u="none" strike="noStrike" kern="1200" cap="none" spc="0" normalizeH="0" baseline="0" noProof="0" dirty="0">
                <a:ln>
                  <a:noFill/>
                </a:ln>
                <a:effectLst/>
                <a:uLnTx/>
                <a:uFillTx/>
                <a:latin typeface="Verdana"/>
                <a:ea typeface="+mn-ea"/>
                <a:cs typeface="+mn-cs"/>
              </a:endParaRPr>
            </a:p>
          </p:txBody>
        </p:sp>
        <p:sp>
          <p:nvSpPr>
            <p:cNvPr id="64" name="Oval 63"/>
            <p:cNvSpPr>
              <a:spLocks/>
            </p:cNvSpPr>
            <p:nvPr/>
          </p:nvSpPr>
          <p:spPr bwMode="gray">
            <a:xfrm>
              <a:off x="5046655" y="5062715"/>
              <a:ext cx="144000" cy="144000"/>
            </a:xfrm>
            <a:prstGeom prst="ellipse">
              <a:avLst/>
            </a:prstGeom>
            <a:solidFill>
              <a:srgbClr val="9AD62E"/>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grpSp>
      <p:grpSp>
        <p:nvGrpSpPr>
          <p:cNvPr id="24" name="Group 23"/>
          <p:cNvGrpSpPr/>
          <p:nvPr/>
        </p:nvGrpSpPr>
        <p:grpSpPr>
          <a:xfrm>
            <a:off x="7838467" y="5069370"/>
            <a:ext cx="804972" cy="2066926"/>
            <a:chOff x="7390784" y="5062715"/>
            <a:chExt cx="804972" cy="2066926"/>
          </a:xfrm>
        </p:grpSpPr>
        <p:sp>
          <p:nvSpPr>
            <p:cNvPr id="102" name="TextBox 101"/>
            <p:cNvSpPr txBox="1"/>
            <p:nvPr/>
          </p:nvSpPr>
          <p:spPr>
            <a:xfrm>
              <a:off x="7390784" y="6637198"/>
              <a:ext cx="804972" cy="4924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solidFill>
                    <a:srgbClr val="313131"/>
                  </a:solidFill>
                  <a:effectLst/>
                  <a:uLnTx/>
                  <a:uFillTx/>
                  <a:latin typeface="Verdana"/>
                  <a:ea typeface="+mn-ea"/>
                  <a:cs typeface="+mn-cs"/>
                </a:rPr>
                <a:t>52 MW </a:t>
              </a:r>
              <a:r>
                <a:rPr kumimoji="0" lang="en-US" sz="800" b="1" i="0" u="none" strike="noStrike" kern="1200" cap="none" spc="0" normalizeH="0" baseline="0" noProof="0" dirty="0" err="1">
                  <a:ln>
                    <a:noFill/>
                  </a:ln>
                  <a:solidFill>
                    <a:srgbClr val="313131"/>
                  </a:solidFill>
                  <a:effectLst/>
                  <a:uLnTx/>
                  <a:uFillTx/>
                  <a:latin typeface="Verdana"/>
                  <a:ea typeface="+mn-ea"/>
                  <a:cs typeface="+mn-cs"/>
                </a:rPr>
                <a:t>Lakdhanvi</a:t>
              </a:r>
              <a:r>
                <a:rPr kumimoji="0" lang="en-US" sz="800" b="1" i="0" u="none" strike="noStrike" kern="1200" cap="none" spc="0" normalizeH="0" baseline="0" noProof="0" dirty="0">
                  <a:ln>
                    <a:noFill/>
                  </a:ln>
                  <a:solidFill>
                    <a:srgbClr val="313131"/>
                  </a:solidFill>
                  <a:effectLst/>
                  <a:uLnTx/>
                  <a:uFillTx/>
                  <a:latin typeface="Verdana"/>
                  <a:ea typeface="+mn-ea"/>
                  <a:cs typeface="+mn-cs"/>
                </a:rPr>
                <a:t> (</a:t>
              </a:r>
              <a:r>
                <a:rPr kumimoji="0" lang="en-US" sz="800" b="1" i="0" u="none" strike="noStrike" kern="1200" cap="none" spc="0" normalizeH="0" baseline="0" noProof="0" dirty="0" err="1">
                  <a:ln>
                    <a:noFill/>
                  </a:ln>
                  <a:solidFill>
                    <a:srgbClr val="313131"/>
                  </a:solidFill>
                  <a:effectLst/>
                  <a:uLnTx/>
                  <a:uFillTx/>
                  <a:latin typeface="Verdana"/>
                  <a:ea typeface="+mn-ea"/>
                  <a:cs typeface="+mn-cs"/>
                </a:rPr>
                <a:t>Lakdhanvi</a:t>
              </a:r>
              <a:r>
                <a:rPr kumimoji="0" lang="en-US" sz="800" b="1" i="0" u="none" strike="noStrike" kern="1200" cap="none" spc="0" normalizeH="0" baseline="0" noProof="0" dirty="0">
                  <a:ln>
                    <a:noFill/>
                  </a:ln>
                  <a:solidFill>
                    <a:srgbClr val="313131"/>
                  </a:solidFill>
                  <a:effectLst/>
                  <a:uLnTx/>
                  <a:uFillTx/>
                  <a:latin typeface="Verdana"/>
                  <a:ea typeface="+mn-ea"/>
                  <a:cs typeface="+mn-cs"/>
                </a:rPr>
                <a:t>)</a:t>
              </a:r>
              <a:br>
                <a:rPr kumimoji="0" lang="en-US" sz="800" b="1" i="0" u="none" strike="noStrike" kern="1200" cap="none" spc="0" normalizeH="0" baseline="0" noProof="0" dirty="0">
                  <a:ln>
                    <a:noFill/>
                  </a:ln>
                  <a:solidFill>
                    <a:srgbClr val="313131"/>
                  </a:solidFill>
                  <a:effectLst/>
                  <a:uLnTx/>
                  <a:uFillTx/>
                  <a:latin typeface="Verdana"/>
                  <a:ea typeface="+mn-ea"/>
                  <a:cs typeface="+mn-cs"/>
                </a:rPr>
              </a:br>
              <a:r>
                <a:rPr kumimoji="0" lang="en-US" sz="800" b="1" i="1" u="none" strike="noStrike" kern="1200" cap="none" spc="0" normalizeH="0" baseline="0" noProof="0" dirty="0">
                  <a:ln>
                    <a:noFill/>
                  </a:ln>
                  <a:solidFill>
                    <a:srgbClr val="313131"/>
                  </a:solidFill>
                  <a:effectLst/>
                  <a:uLnTx/>
                  <a:uFillTx/>
                  <a:latin typeface="Verdana"/>
                  <a:ea typeface="+mn-ea"/>
                  <a:cs typeface="+mn-cs"/>
                </a:rPr>
                <a:t>(Sri Lanka)</a:t>
              </a:r>
              <a:endParaRPr kumimoji="0" lang="en-IN" sz="800" b="1" i="0" u="none" strike="noStrike" kern="1200" cap="none" spc="0" normalizeH="0" baseline="0" noProof="0" dirty="0">
                <a:ln>
                  <a:noFill/>
                </a:ln>
                <a:solidFill>
                  <a:srgbClr val="313131"/>
                </a:solidFill>
                <a:effectLst/>
                <a:uLnTx/>
                <a:uFillTx/>
                <a:latin typeface="Verdana"/>
                <a:ea typeface="+mn-ea"/>
                <a:cs typeface="+mn-cs"/>
              </a:endParaRPr>
            </a:p>
          </p:txBody>
        </p:sp>
        <p:cxnSp>
          <p:nvCxnSpPr>
            <p:cNvPr id="127" name="Straight Connector 126"/>
            <p:cNvCxnSpPr/>
            <p:nvPr/>
          </p:nvCxnSpPr>
          <p:spPr>
            <a:xfrm flipH="1" flipV="1">
              <a:off x="7741517" y="5204388"/>
              <a:ext cx="9415" cy="1403275"/>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97" name="Oval 96"/>
            <p:cNvSpPr>
              <a:spLocks/>
            </p:cNvSpPr>
            <p:nvPr/>
          </p:nvSpPr>
          <p:spPr bwMode="gray">
            <a:xfrm>
              <a:off x="7668373" y="5062715"/>
              <a:ext cx="144000" cy="144000"/>
            </a:xfrm>
            <a:prstGeom prst="ellipse">
              <a:avLst/>
            </a:prstGeom>
            <a:solidFill>
              <a:schemeClr val="accent4">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white"/>
                </a:solidFill>
                <a:effectLst/>
                <a:uLnTx/>
                <a:uFillTx/>
                <a:latin typeface="Verdana"/>
                <a:ea typeface="+mn-ea"/>
                <a:cs typeface="+mn-cs"/>
              </a:endParaRPr>
            </a:p>
          </p:txBody>
        </p:sp>
      </p:grpSp>
      <p:grpSp>
        <p:nvGrpSpPr>
          <p:cNvPr id="23" name="Group 22"/>
          <p:cNvGrpSpPr/>
          <p:nvPr/>
        </p:nvGrpSpPr>
        <p:grpSpPr>
          <a:xfrm>
            <a:off x="7838467" y="3395372"/>
            <a:ext cx="1366113" cy="1827512"/>
            <a:chOff x="7768592" y="3379203"/>
            <a:chExt cx="1366113" cy="1827512"/>
          </a:xfrm>
        </p:grpSpPr>
        <p:cxnSp>
          <p:nvCxnSpPr>
            <p:cNvPr id="104" name="Straight Connector 103"/>
            <p:cNvCxnSpPr>
              <a:endCxn id="100" idx="0"/>
            </p:cNvCxnSpPr>
            <p:nvPr/>
          </p:nvCxnSpPr>
          <p:spPr>
            <a:xfrm>
              <a:off x="8443900" y="3571476"/>
              <a:ext cx="7749" cy="1491239"/>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07" name="TextBox 106"/>
            <p:cNvSpPr txBox="1"/>
            <p:nvPr/>
          </p:nvSpPr>
          <p:spPr>
            <a:xfrm>
              <a:off x="7768592" y="3379203"/>
              <a:ext cx="1366113"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solidFill>
                    <a:srgbClr val="313131"/>
                  </a:solidFill>
                  <a:effectLst/>
                  <a:uLnTx/>
                  <a:uFillTx/>
                  <a:latin typeface="Verdana"/>
                </a:rPr>
                <a:t>341 MW Summit (GE</a:t>
              </a:r>
              <a:r>
                <a:rPr lang="en-US" sz="800" b="1" dirty="0">
                  <a:solidFill>
                    <a:srgbClr val="313131"/>
                  </a:solidFill>
                  <a:latin typeface="Verdana"/>
                </a:rPr>
                <a:t>)</a:t>
              </a:r>
              <a:br>
                <a:rPr lang="en-US" sz="800" b="1" dirty="0">
                  <a:solidFill>
                    <a:srgbClr val="313131"/>
                  </a:solidFill>
                  <a:latin typeface="Verdana"/>
                </a:rPr>
              </a:br>
              <a:r>
                <a:rPr lang="en-US" sz="800" b="1" i="1" dirty="0">
                  <a:solidFill>
                    <a:srgbClr val="313131"/>
                  </a:solidFill>
                  <a:latin typeface="Verdana"/>
                </a:rPr>
                <a:t>(USA)</a:t>
              </a:r>
              <a:endParaRPr kumimoji="0" lang="en-IN" sz="800" b="1" i="0" u="none" strike="noStrike" kern="1200" cap="none" spc="0" normalizeH="0" baseline="0" noProof="0" dirty="0">
                <a:ln>
                  <a:noFill/>
                </a:ln>
                <a:solidFill>
                  <a:srgbClr val="313131"/>
                </a:solidFill>
                <a:effectLst/>
                <a:uLnTx/>
                <a:uFillTx/>
                <a:latin typeface="Verdana"/>
              </a:endParaRPr>
            </a:p>
          </p:txBody>
        </p:sp>
        <p:sp>
          <p:nvSpPr>
            <p:cNvPr id="100" name="Oval 99"/>
            <p:cNvSpPr>
              <a:spLocks/>
            </p:cNvSpPr>
            <p:nvPr/>
          </p:nvSpPr>
          <p:spPr bwMode="gray">
            <a:xfrm>
              <a:off x="8379649" y="5062715"/>
              <a:ext cx="144000" cy="144000"/>
            </a:xfrm>
            <a:prstGeom prst="ellipse">
              <a:avLst/>
            </a:prstGeom>
            <a:solidFill>
              <a:schemeClr val="accent4">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white"/>
                </a:solidFill>
                <a:effectLst/>
                <a:uLnTx/>
                <a:uFillTx/>
                <a:latin typeface="Verdana"/>
                <a:ea typeface="+mn-ea"/>
                <a:cs typeface="+mn-cs"/>
              </a:endParaRPr>
            </a:p>
          </p:txBody>
        </p:sp>
      </p:grpSp>
      <p:grpSp>
        <p:nvGrpSpPr>
          <p:cNvPr id="21" name="Group 20"/>
          <p:cNvGrpSpPr/>
          <p:nvPr/>
        </p:nvGrpSpPr>
        <p:grpSpPr>
          <a:xfrm>
            <a:off x="9413991" y="5062714"/>
            <a:ext cx="941987" cy="1320272"/>
            <a:chOff x="9163797" y="5062715"/>
            <a:chExt cx="941987" cy="1320272"/>
          </a:xfrm>
        </p:grpSpPr>
        <p:sp>
          <p:nvSpPr>
            <p:cNvPr id="154" name="TextBox 153"/>
            <p:cNvSpPr txBox="1"/>
            <p:nvPr/>
          </p:nvSpPr>
          <p:spPr>
            <a:xfrm>
              <a:off x="9163797" y="5890544"/>
              <a:ext cx="941987" cy="4924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solidFill>
                    <a:srgbClr val="313131"/>
                  </a:solidFill>
                  <a:effectLst/>
                  <a:uLnTx/>
                  <a:uFillTx/>
                  <a:latin typeface="Verdana"/>
                  <a:ea typeface="+mn-ea"/>
                  <a:cs typeface="+mn-cs"/>
                </a:rPr>
                <a:t>300 MW APR Energy (APR Energy)</a:t>
              </a:r>
              <a:br>
                <a:rPr kumimoji="0" lang="en-US" sz="800" b="1" i="0" u="none" strike="noStrike" kern="1200" cap="none" spc="0" normalizeH="0" baseline="0" noProof="0" dirty="0">
                  <a:ln>
                    <a:noFill/>
                  </a:ln>
                  <a:solidFill>
                    <a:srgbClr val="313131"/>
                  </a:solidFill>
                  <a:effectLst/>
                  <a:uLnTx/>
                  <a:uFillTx/>
                  <a:latin typeface="Verdana"/>
                  <a:ea typeface="+mn-ea"/>
                  <a:cs typeface="+mn-cs"/>
                </a:rPr>
              </a:br>
              <a:r>
                <a:rPr kumimoji="0" lang="en-US" sz="800" b="1" i="1" u="none" strike="noStrike" kern="1200" cap="none" spc="0" normalizeH="0" baseline="0" noProof="0" dirty="0">
                  <a:ln>
                    <a:noFill/>
                  </a:ln>
                  <a:solidFill>
                    <a:srgbClr val="313131"/>
                  </a:solidFill>
                  <a:effectLst/>
                  <a:uLnTx/>
                  <a:uFillTx/>
                  <a:latin typeface="Verdana"/>
                  <a:ea typeface="+mn-ea"/>
                  <a:cs typeface="+mn-cs"/>
                </a:rPr>
                <a:t>(USA)</a:t>
              </a:r>
              <a:endParaRPr kumimoji="0" lang="en-IN" sz="800" b="1" i="0" u="none" strike="noStrike" kern="1200" cap="none" spc="0" normalizeH="0" baseline="0" noProof="0" dirty="0">
                <a:ln>
                  <a:noFill/>
                </a:ln>
                <a:solidFill>
                  <a:srgbClr val="313131"/>
                </a:solidFill>
                <a:effectLst/>
                <a:uLnTx/>
                <a:uFillTx/>
                <a:latin typeface="Verdana"/>
                <a:ea typeface="+mn-ea"/>
                <a:cs typeface="+mn-cs"/>
              </a:endParaRPr>
            </a:p>
          </p:txBody>
        </p:sp>
        <p:cxnSp>
          <p:nvCxnSpPr>
            <p:cNvPr id="202" name="Straight Connector 201"/>
            <p:cNvCxnSpPr>
              <a:cxnSpLocks/>
              <a:stCxn id="154" idx="0"/>
              <a:endCxn id="126" idx="4"/>
            </p:cNvCxnSpPr>
            <p:nvPr/>
          </p:nvCxnSpPr>
          <p:spPr>
            <a:xfrm flipH="1" flipV="1">
              <a:off x="9633629" y="5206715"/>
              <a:ext cx="1162" cy="683829"/>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26" name="Oval 125"/>
            <p:cNvSpPr>
              <a:spLocks/>
            </p:cNvSpPr>
            <p:nvPr/>
          </p:nvSpPr>
          <p:spPr bwMode="gray">
            <a:xfrm>
              <a:off x="9561629" y="5062715"/>
              <a:ext cx="144000" cy="144000"/>
            </a:xfrm>
            <a:prstGeom prst="ellipse">
              <a:avLst/>
            </a:prstGeom>
            <a:solidFill>
              <a:srgbClr val="50AEE2"/>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grpSp>
      <p:grpSp>
        <p:nvGrpSpPr>
          <p:cNvPr id="28" name="Group 27"/>
          <p:cNvGrpSpPr/>
          <p:nvPr/>
        </p:nvGrpSpPr>
        <p:grpSpPr>
          <a:xfrm>
            <a:off x="6785988" y="5062715"/>
            <a:ext cx="1245111" cy="1250068"/>
            <a:chOff x="6129957" y="5062715"/>
            <a:chExt cx="1245111" cy="1250068"/>
          </a:xfrm>
        </p:grpSpPr>
        <p:sp>
          <p:nvSpPr>
            <p:cNvPr id="99" name="TextBox 98"/>
            <p:cNvSpPr txBox="1"/>
            <p:nvPr/>
          </p:nvSpPr>
          <p:spPr>
            <a:xfrm>
              <a:off x="6129957" y="5823391"/>
              <a:ext cx="1245111" cy="489392"/>
            </a:xfrm>
            <a:prstGeom prst="rect">
              <a:avLst/>
            </a:prstGeom>
            <a:noFill/>
          </p:spPr>
          <p:txBody>
            <a:bodyPr wrap="square" lIns="0" tIns="0" rIns="0" bIns="0" rtlCol="0">
              <a:no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solidFill>
                    <a:srgbClr val="313131"/>
                  </a:solidFill>
                  <a:effectLst/>
                  <a:uLnTx/>
                  <a:uFillTx/>
                  <a:latin typeface="Verdana"/>
                  <a:ea typeface="+mn-ea"/>
                  <a:cs typeface="+mn-cs"/>
                </a:rPr>
                <a:t>52 MW Raj Lanka (</a:t>
              </a:r>
              <a:r>
                <a:rPr kumimoji="0" lang="en-US" sz="800" b="1" i="0" u="none" strike="noStrike" kern="1200" cap="none" spc="0" normalizeH="0" baseline="0" noProof="0" dirty="0" err="1">
                  <a:ln>
                    <a:noFill/>
                  </a:ln>
                  <a:solidFill>
                    <a:srgbClr val="313131"/>
                  </a:solidFill>
                  <a:effectLst/>
                  <a:uLnTx/>
                  <a:uFillTx/>
                  <a:latin typeface="Verdana"/>
                  <a:ea typeface="+mn-ea"/>
                  <a:cs typeface="+mn-cs"/>
                </a:rPr>
                <a:t>Lakdhanvi</a:t>
              </a:r>
              <a:r>
                <a:rPr kumimoji="0" lang="en-US" sz="800" b="1" i="0" u="none" strike="noStrike" kern="1200" cap="none" spc="0" normalizeH="0" baseline="0" noProof="0" dirty="0">
                  <a:ln>
                    <a:noFill/>
                  </a:ln>
                  <a:solidFill>
                    <a:srgbClr val="313131"/>
                  </a:solidFill>
                  <a:effectLst/>
                  <a:uLnTx/>
                  <a:uFillTx/>
                  <a:latin typeface="Verdana"/>
                  <a:ea typeface="+mn-ea"/>
                  <a:cs typeface="+mn-cs"/>
                </a:rPr>
                <a:t>) </a:t>
              </a:r>
              <a:br>
                <a:rPr kumimoji="0" lang="en-US" sz="800" b="1" i="0" u="none" strike="noStrike" kern="1200" cap="none" spc="0" normalizeH="0" baseline="0" noProof="0" dirty="0">
                  <a:ln>
                    <a:noFill/>
                  </a:ln>
                  <a:solidFill>
                    <a:srgbClr val="313131"/>
                  </a:solidFill>
                  <a:effectLst/>
                  <a:uLnTx/>
                  <a:uFillTx/>
                  <a:latin typeface="Verdana"/>
                  <a:ea typeface="+mn-ea"/>
                  <a:cs typeface="+mn-cs"/>
                </a:rPr>
              </a:br>
              <a:r>
                <a:rPr kumimoji="0" lang="en-US" sz="800" b="1" i="1" u="none" strike="noStrike" kern="1200" cap="none" spc="0" normalizeH="0" baseline="0" noProof="0" dirty="0">
                  <a:ln>
                    <a:noFill/>
                  </a:ln>
                  <a:solidFill>
                    <a:srgbClr val="313131"/>
                  </a:solidFill>
                  <a:effectLst/>
                  <a:uLnTx/>
                  <a:uFillTx/>
                  <a:latin typeface="Verdana"/>
                  <a:ea typeface="+mn-ea"/>
                  <a:cs typeface="+mn-cs"/>
                </a:rPr>
                <a:t>(Sri Lanka)</a:t>
              </a:r>
              <a:endParaRPr kumimoji="0" lang="en-IN" sz="800" b="1" i="0" u="none" strike="noStrike" kern="1200" cap="none" spc="0" normalizeH="0" baseline="0" noProof="0" dirty="0">
                <a:ln>
                  <a:noFill/>
                </a:ln>
                <a:solidFill>
                  <a:srgbClr val="313131"/>
                </a:solidFill>
                <a:effectLst/>
                <a:uLnTx/>
                <a:uFillTx/>
                <a:latin typeface="Verdana"/>
                <a:ea typeface="+mn-ea"/>
                <a:cs typeface="+mn-cs"/>
              </a:endParaRPr>
            </a:p>
          </p:txBody>
        </p:sp>
        <p:sp>
          <p:nvSpPr>
            <p:cNvPr id="90" name="Oval 89"/>
            <p:cNvSpPr>
              <a:spLocks/>
            </p:cNvSpPr>
            <p:nvPr/>
          </p:nvSpPr>
          <p:spPr bwMode="gray">
            <a:xfrm>
              <a:off x="6678481" y="5062715"/>
              <a:ext cx="144000" cy="144000"/>
            </a:xfrm>
            <a:prstGeom prst="ellipse">
              <a:avLst/>
            </a:prstGeom>
            <a:solidFill>
              <a:schemeClr val="accent2">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white"/>
                </a:solidFill>
                <a:effectLst/>
                <a:uLnTx/>
                <a:uFillTx/>
                <a:latin typeface="Verdana"/>
                <a:ea typeface="+mn-ea"/>
                <a:cs typeface="+mn-cs"/>
              </a:endParaRPr>
            </a:p>
          </p:txBody>
        </p:sp>
        <p:cxnSp>
          <p:nvCxnSpPr>
            <p:cNvPr id="185" name="Straight Connector 184"/>
            <p:cNvCxnSpPr>
              <a:stCxn id="90" idx="4"/>
              <a:endCxn id="99" idx="0"/>
            </p:cNvCxnSpPr>
            <p:nvPr/>
          </p:nvCxnSpPr>
          <p:spPr>
            <a:xfrm>
              <a:off x="6750481" y="5206715"/>
              <a:ext cx="2032" cy="616676"/>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20" name="Group 19"/>
          <p:cNvGrpSpPr/>
          <p:nvPr/>
        </p:nvGrpSpPr>
        <p:grpSpPr>
          <a:xfrm>
            <a:off x="8808433" y="2808186"/>
            <a:ext cx="1511956" cy="2396201"/>
            <a:chOff x="9264190" y="2810514"/>
            <a:chExt cx="1511956" cy="2396201"/>
          </a:xfrm>
        </p:grpSpPr>
        <p:sp>
          <p:nvSpPr>
            <p:cNvPr id="197" name="TextBox 196"/>
            <p:cNvSpPr txBox="1"/>
            <p:nvPr/>
          </p:nvSpPr>
          <p:spPr>
            <a:xfrm>
              <a:off x="9264190" y="2810514"/>
              <a:ext cx="1511956" cy="4924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solidFill>
                    <a:srgbClr val="313131"/>
                  </a:solidFill>
                  <a:effectLst/>
                  <a:uLnTx/>
                  <a:uFillTx/>
                  <a:latin typeface="Verdana"/>
                  <a:ea typeface="+mn-ea"/>
                  <a:cs typeface="+mn-cs"/>
                </a:rPr>
                <a:t>149 MW Ace Alliance (Initially won by Atkin Alliance (Sri Lanka);</a:t>
              </a:r>
              <a:r>
                <a:rPr kumimoji="0" lang="en-US" sz="800" b="1" i="0" u="none" strike="noStrike" kern="1200" cap="none" spc="0" normalizeH="0" noProof="0" dirty="0">
                  <a:ln>
                    <a:noFill/>
                  </a:ln>
                  <a:solidFill>
                    <a:srgbClr val="313131"/>
                  </a:solidFill>
                  <a:effectLst/>
                  <a:uLnTx/>
                  <a:uFillTx/>
                  <a:latin typeface="Verdana"/>
                  <a:ea typeface="+mn-ea"/>
                  <a:cs typeface="+mn-cs"/>
                </a:rPr>
                <a:t> bought by Summit)</a:t>
              </a:r>
              <a:endParaRPr kumimoji="0" lang="en-IN" sz="800" b="1" i="0" u="none" strike="noStrike" kern="1200" cap="none" spc="0" normalizeH="0" baseline="0" noProof="0" dirty="0">
                <a:ln>
                  <a:noFill/>
                </a:ln>
                <a:solidFill>
                  <a:srgbClr val="313131"/>
                </a:solidFill>
                <a:effectLst/>
                <a:uLnTx/>
                <a:uFillTx/>
                <a:latin typeface="Verdana"/>
                <a:ea typeface="+mn-ea"/>
                <a:cs typeface="+mn-cs"/>
              </a:endParaRPr>
            </a:p>
          </p:txBody>
        </p:sp>
        <p:sp>
          <p:nvSpPr>
            <p:cNvPr id="205" name="Oval 204"/>
            <p:cNvSpPr>
              <a:spLocks/>
            </p:cNvSpPr>
            <p:nvPr/>
          </p:nvSpPr>
          <p:spPr bwMode="gray">
            <a:xfrm>
              <a:off x="9961521" y="5062715"/>
              <a:ext cx="144000" cy="144000"/>
            </a:xfrm>
            <a:prstGeom prst="ellipse">
              <a:avLst/>
            </a:prstGeom>
            <a:solidFill>
              <a:srgbClr val="50AEE2"/>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cxnSp>
          <p:nvCxnSpPr>
            <p:cNvPr id="206" name="Straight Connector 205"/>
            <p:cNvCxnSpPr>
              <a:stCxn id="205" idx="0"/>
            </p:cNvCxnSpPr>
            <p:nvPr/>
          </p:nvCxnSpPr>
          <p:spPr>
            <a:xfrm flipV="1">
              <a:off x="10033521" y="3345597"/>
              <a:ext cx="0" cy="1717118"/>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43" name="Group 42"/>
          <p:cNvGrpSpPr/>
          <p:nvPr/>
        </p:nvGrpSpPr>
        <p:grpSpPr>
          <a:xfrm>
            <a:off x="197918" y="4460379"/>
            <a:ext cx="432000" cy="1204672"/>
            <a:chOff x="501741" y="4460379"/>
            <a:chExt cx="432000" cy="1204672"/>
          </a:xfrm>
        </p:grpSpPr>
        <p:sp>
          <p:nvSpPr>
            <p:cNvPr id="54" name="Oval 53"/>
            <p:cNvSpPr>
              <a:spLocks/>
            </p:cNvSpPr>
            <p:nvPr/>
          </p:nvSpPr>
          <p:spPr bwMode="gray">
            <a:xfrm>
              <a:off x="501741" y="4926584"/>
              <a:ext cx="432000" cy="432000"/>
            </a:xfrm>
            <a:prstGeom prst="ellipse">
              <a:avLst/>
            </a:prstGeom>
            <a:solidFill>
              <a:schemeClr val="accent1">
                <a:lumMod val="40000"/>
                <a:lumOff val="60000"/>
              </a:schemeClr>
            </a:solid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700" b="1" i="0" u="none" strike="noStrike" kern="1200" cap="none" spc="0" normalizeH="0" baseline="0" noProof="0" dirty="0">
                <a:ln>
                  <a:noFill/>
                </a:ln>
                <a:solidFill>
                  <a:prstClr val="black"/>
                </a:solidFill>
                <a:effectLst/>
                <a:uLnTx/>
                <a:uFillTx/>
                <a:latin typeface="Verdana"/>
                <a:ea typeface="+mn-ea"/>
                <a:cs typeface="+mn-cs"/>
              </a:endParaRPr>
            </a:p>
          </p:txBody>
        </p:sp>
        <p:sp>
          <p:nvSpPr>
            <p:cNvPr id="165" name="TextBox 164"/>
            <p:cNvSpPr txBox="1"/>
            <p:nvPr/>
          </p:nvSpPr>
          <p:spPr>
            <a:xfrm rot="16200000">
              <a:off x="111260" y="4981923"/>
              <a:ext cx="1204672" cy="161583"/>
            </a:xfrm>
            <a:prstGeom prst="rect">
              <a:avLst/>
            </a:prstGeom>
            <a:noFill/>
          </p:spPr>
          <p:txBody>
            <a:bodyPr wrap="square" lIns="0" tIns="0" rIns="0" bIns="0" rtlCol="0">
              <a:spAutoFit/>
            </a:bodyPr>
            <a:lstStyle/>
            <a:p>
              <a:pPr algn="r">
                <a:spcBef>
                  <a:spcPts val="600"/>
                </a:spcBef>
                <a:buSzPct val="100000"/>
              </a:pPr>
              <a:r>
                <a:rPr lang="en-GB" sz="1050" b="1" dirty="0"/>
                <a:t>2000</a:t>
              </a:r>
              <a:endParaRPr lang="en-GB" sz="500" dirty="0"/>
            </a:p>
          </p:txBody>
        </p:sp>
      </p:grpSp>
      <p:grpSp>
        <p:nvGrpSpPr>
          <p:cNvPr id="41" name="Group 40"/>
          <p:cNvGrpSpPr/>
          <p:nvPr/>
        </p:nvGrpSpPr>
        <p:grpSpPr>
          <a:xfrm>
            <a:off x="1145225" y="4926584"/>
            <a:ext cx="432000" cy="1718307"/>
            <a:chOff x="1236980" y="4926584"/>
            <a:chExt cx="432000" cy="1718307"/>
          </a:xfrm>
        </p:grpSpPr>
        <p:sp>
          <p:nvSpPr>
            <p:cNvPr id="59" name="Oval 58"/>
            <p:cNvSpPr>
              <a:spLocks/>
            </p:cNvSpPr>
            <p:nvPr/>
          </p:nvSpPr>
          <p:spPr bwMode="gray">
            <a:xfrm>
              <a:off x="1236980" y="4926584"/>
              <a:ext cx="432000" cy="432000"/>
            </a:xfrm>
            <a:prstGeom prst="ellipse">
              <a:avLst/>
            </a:prstGeom>
            <a:solidFill>
              <a:schemeClr val="accent1">
                <a:lumMod val="60000"/>
                <a:lumOff val="40000"/>
              </a:schemeClr>
            </a:solid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700" b="1" i="0" u="none" strike="noStrike" kern="1200" cap="none" spc="0" normalizeH="0" baseline="0" noProof="0" dirty="0">
                <a:ln>
                  <a:noFill/>
                </a:ln>
                <a:solidFill>
                  <a:prstClr val="black"/>
                </a:solidFill>
                <a:effectLst/>
                <a:uLnTx/>
                <a:uFillTx/>
                <a:latin typeface="Verdana"/>
                <a:ea typeface="+mn-ea"/>
                <a:cs typeface="+mn-cs"/>
              </a:endParaRPr>
            </a:p>
          </p:txBody>
        </p:sp>
        <p:sp>
          <p:nvSpPr>
            <p:cNvPr id="166" name="TextBox 165"/>
            <p:cNvSpPr txBox="1"/>
            <p:nvPr/>
          </p:nvSpPr>
          <p:spPr>
            <a:xfrm rot="16200000">
              <a:off x="854115" y="5961763"/>
              <a:ext cx="1204672" cy="161583"/>
            </a:xfrm>
            <a:prstGeom prst="rect">
              <a:avLst/>
            </a:prstGeom>
            <a:noFill/>
          </p:spPr>
          <p:txBody>
            <a:bodyPr wrap="square" lIns="0" tIns="0" rIns="0" bIns="0" rtlCol="0">
              <a:spAutoFit/>
            </a:bodyPr>
            <a:lstStyle/>
            <a:p>
              <a:pPr algn="r">
                <a:spcBef>
                  <a:spcPts val="600"/>
                </a:spcBef>
                <a:buSzPct val="100000"/>
              </a:pPr>
              <a:r>
                <a:rPr lang="en-GB" sz="1050" b="1" dirty="0"/>
                <a:t>2002</a:t>
              </a:r>
              <a:endParaRPr lang="en-GB" sz="500" dirty="0"/>
            </a:p>
          </p:txBody>
        </p:sp>
      </p:grpSp>
      <p:grpSp>
        <p:nvGrpSpPr>
          <p:cNvPr id="31" name="Group 30"/>
          <p:cNvGrpSpPr/>
          <p:nvPr/>
        </p:nvGrpSpPr>
        <p:grpSpPr>
          <a:xfrm>
            <a:off x="5948445" y="4476548"/>
            <a:ext cx="432000" cy="1204672"/>
            <a:chOff x="4550792" y="4465222"/>
            <a:chExt cx="432000" cy="1204672"/>
          </a:xfrm>
        </p:grpSpPr>
        <p:sp>
          <p:nvSpPr>
            <p:cNvPr id="63" name="Oval 62"/>
            <p:cNvSpPr>
              <a:spLocks/>
            </p:cNvSpPr>
            <p:nvPr/>
          </p:nvSpPr>
          <p:spPr bwMode="gray">
            <a:xfrm>
              <a:off x="4550792" y="4926584"/>
              <a:ext cx="432000" cy="432000"/>
            </a:xfrm>
            <a:prstGeom prst="ellipse">
              <a:avLst/>
            </a:prstGeom>
            <a:solidFill>
              <a:srgbClr val="6E9A1E"/>
            </a:solid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700" b="1" i="0" u="none" strike="noStrike" kern="1200" cap="none" spc="0" normalizeH="0" baseline="0" noProof="0" dirty="0">
                <a:ln>
                  <a:noFill/>
                </a:ln>
                <a:solidFill>
                  <a:prstClr val="black"/>
                </a:solidFill>
                <a:effectLst/>
                <a:uLnTx/>
                <a:uFillTx/>
                <a:latin typeface="Verdana"/>
                <a:ea typeface="+mn-ea"/>
                <a:cs typeface="+mn-cs"/>
              </a:endParaRPr>
            </a:p>
          </p:txBody>
        </p:sp>
        <p:sp>
          <p:nvSpPr>
            <p:cNvPr id="167" name="TextBox 166"/>
            <p:cNvSpPr txBox="1"/>
            <p:nvPr/>
          </p:nvSpPr>
          <p:spPr>
            <a:xfrm rot="16200000">
              <a:off x="4164457" y="4986766"/>
              <a:ext cx="1204672" cy="161583"/>
            </a:xfrm>
            <a:prstGeom prst="rect">
              <a:avLst/>
            </a:prstGeom>
            <a:noFill/>
          </p:spPr>
          <p:txBody>
            <a:bodyPr wrap="square" lIns="0" tIns="0" rIns="0" bIns="0" rtlCol="0">
              <a:spAutoFit/>
            </a:bodyPr>
            <a:lstStyle/>
            <a:p>
              <a:pPr algn="r">
                <a:spcBef>
                  <a:spcPts val="600"/>
                </a:spcBef>
                <a:buSzPct val="100000"/>
              </a:pPr>
              <a:r>
                <a:rPr lang="en-GB" sz="1050" b="1" dirty="0"/>
                <a:t>2011</a:t>
              </a:r>
              <a:endParaRPr lang="en-GB" sz="500" dirty="0"/>
            </a:p>
          </p:txBody>
        </p:sp>
      </p:grpSp>
      <p:grpSp>
        <p:nvGrpSpPr>
          <p:cNvPr id="29" name="Group 28"/>
          <p:cNvGrpSpPr/>
          <p:nvPr/>
        </p:nvGrpSpPr>
        <p:grpSpPr>
          <a:xfrm>
            <a:off x="6724582" y="4926584"/>
            <a:ext cx="432000" cy="1715457"/>
            <a:chOff x="5958492" y="4926584"/>
            <a:chExt cx="432000" cy="1715457"/>
          </a:xfrm>
        </p:grpSpPr>
        <p:sp>
          <p:nvSpPr>
            <p:cNvPr id="89" name="Oval 88"/>
            <p:cNvSpPr>
              <a:spLocks/>
            </p:cNvSpPr>
            <p:nvPr/>
          </p:nvSpPr>
          <p:spPr bwMode="gray">
            <a:xfrm>
              <a:off x="5958492" y="4926584"/>
              <a:ext cx="432000" cy="432000"/>
            </a:xfrm>
            <a:prstGeom prst="ellipse">
              <a:avLst/>
            </a:prstGeom>
            <a:solidFill>
              <a:schemeClr val="accent2">
                <a:lumMod val="50000"/>
              </a:schemeClr>
            </a:solid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700" b="1" i="0" u="none" strike="noStrike" kern="1200" cap="none" spc="0" normalizeH="0" baseline="0" noProof="0" dirty="0">
                <a:ln>
                  <a:noFill/>
                </a:ln>
                <a:solidFill>
                  <a:prstClr val="white"/>
                </a:solidFill>
                <a:effectLst/>
                <a:uLnTx/>
                <a:uFillTx/>
                <a:latin typeface="Verdana"/>
                <a:ea typeface="+mn-ea"/>
                <a:cs typeface="+mn-cs"/>
              </a:endParaRPr>
            </a:p>
          </p:txBody>
        </p:sp>
        <p:sp>
          <p:nvSpPr>
            <p:cNvPr id="171" name="TextBox 170"/>
            <p:cNvSpPr txBox="1"/>
            <p:nvPr/>
          </p:nvSpPr>
          <p:spPr>
            <a:xfrm rot="16200000">
              <a:off x="5577327" y="5958913"/>
              <a:ext cx="1204672" cy="161583"/>
            </a:xfrm>
            <a:prstGeom prst="rect">
              <a:avLst/>
            </a:prstGeom>
            <a:noFill/>
          </p:spPr>
          <p:txBody>
            <a:bodyPr wrap="square" lIns="0" tIns="0" rIns="0" bIns="0" rtlCol="0">
              <a:spAutoFit/>
            </a:bodyPr>
            <a:lstStyle/>
            <a:p>
              <a:pPr algn="r">
                <a:spcBef>
                  <a:spcPts val="600"/>
                </a:spcBef>
                <a:buSzPct val="100000"/>
              </a:pPr>
              <a:r>
                <a:rPr lang="en-GB" sz="1050" b="1" dirty="0"/>
                <a:t>2015</a:t>
              </a:r>
              <a:endParaRPr lang="en-GB" sz="500" dirty="0"/>
            </a:p>
          </p:txBody>
        </p:sp>
      </p:grpSp>
      <p:grpSp>
        <p:nvGrpSpPr>
          <p:cNvPr id="25" name="Group 24"/>
          <p:cNvGrpSpPr/>
          <p:nvPr/>
        </p:nvGrpSpPr>
        <p:grpSpPr>
          <a:xfrm>
            <a:off x="7599376" y="4467068"/>
            <a:ext cx="432000" cy="1204672"/>
            <a:chOff x="6915900" y="4469409"/>
            <a:chExt cx="432000" cy="1204672"/>
          </a:xfrm>
        </p:grpSpPr>
        <p:sp>
          <p:nvSpPr>
            <p:cNvPr id="93" name="Oval 92"/>
            <p:cNvSpPr>
              <a:spLocks/>
            </p:cNvSpPr>
            <p:nvPr/>
          </p:nvSpPr>
          <p:spPr bwMode="gray">
            <a:xfrm>
              <a:off x="6915900" y="4929012"/>
              <a:ext cx="432000" cy="432000"/>
            </a:xfrm>
            <a:prstGeom prst="ellipse">
              <a:avLst/>
            </a:prstGeom>
            <a:solidFill>
              <a:schemeClr val="accent4">
                <a:lumMod val="50000"/>
              </a:schemeClr>
            </a:solid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700" b="1" i="0" u="none" strike="noStrike" kern="1200" cap="none" spc="0" normalizeH="0" baseline="0" noProof="0" dirty="0">
                <a:ln>
                  <a:noFill/>
                </a:ln>
                <a:solidFill>
                  <a:prstClr val="white"/>
                </a:solidFill>
                <a:effectLst/>
                <a:uLnTx/>
                <a:uFillTx/>
                <a:latin typeface="Verdana"/>
                <a:ea typeface="+mn-ea"/>
                <a:cs typeface="+mn-cs"/>
              </a:endParaRPr>
            </a:p>
          </p:txBody>
        </p:sp>
        <p:sp>
          <p:nvSpPr>
            <p:cNvPr id="172" name="TextBox 171"/>
            <p:cNvSpPr txBox="1"/>
            <p:nvPr/>
          </p:nvSpPr>
          <p:spPr>
            <a:xfrm rot="16200000">
              <a:off x="6510725" y="4990953"/>
              <a:ext cx="1204672" cy="161583"/>
            </a:xfrm>
            <a:prstGeom prst="rect">
              <a:avLst/>
            </a:prstGeom>
            <a:noFill/>
          </p:spPr>
          <p:txBody>
            <a:bodyPr wrap="square" lIns="0" tIns="0" rIns="0" bIns="0" rtlCol="0">
              <a:spAutoFit/>
            </a:bodyPr>
            <a:lstStyle/>
            <a:p>
              <a:pPr algn="r">
                <a:spcBef>
                  <a:spcPts val="600"/>
                </a:spcBef>
                <a:buSzPct val="100000"/>
              </a:pPr>
              <a:r>
                <a:rPr lang="en-GB" sz="1050" b="1" dirty="0"/>
                <a:t>2016</a:t>
              </a:r>
              <a:endParaRPr lang="en-GB" sz="500" dirty="0"/>
            </a:p>
          </p:txBody>
        </p:sp>
      </p:grpSp>
      <p:grpSp>
        <p:nvGrpSpPr>
          <p:cNvPr id="22" name="Group 21"/>
          <p:cNvGrpSpPr/>
          <p:nvPr/>
        </p:nvGrpSpPr>
        <p:grpSpPr>
          <a:xfrm>
            <a:off x="8828409" y="4929434"/>
            <a:ext cx="432000" cy="1715457"/>
            <a:chOff x="8899513" y="4926584"/>
            <a:chExt cx="432000" cy="1715457"/>
          </a:xfrm>
        </p:grpSpPr>
        <p:sp>
          <p:nvSpPr>
            <p:cNvPr id="153" name="Oval 152"/>
            <p:cNvSpPr>
              <a:spLocks/>
            </p:cNvSpPr>
            <p:nvPr/>
          </p:nvSpPr>
          <p:spPr bwMode="gray">
            <a:xfrm>
              <a:off x="8899513" y="4926584"/>
              <a:ext cx="432000" cy="432000"/>
            </a:xfrm>
            <a:prstGeom prst="ellipse">
              <a:avLst/>
            </a:prstGeom>
            <a:solidFill>
              <a:schemeClr val="accent3">
                <a:lumMod val="75000"/>
              </a:schemeClr>
            </a:solid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700" b="1" i="0" u="none" strike="noStrike" kern="1200" cap="none" spc="0" normalizeH="0" baseline="0" noProof="0" dirty="0">
                <a:ln>
                  <a:noFill/>
                </a:ln>
                <a:solidFill>
                  <a:prstClr val="black"/>
                </a:solidFill>
                <a:effectLst/>
                <a:uLnTx/>
                <a:uFillTx/>
                <a:latin typeface="Verdana"/>
                <a:ea typeface="+mn-ea"/>
                <a:cs typeface="+mn-cs"/>
              </a:endParaRPr>
            </a:p>
          </p:txBody>
        </p:sp>
        <p:sp>
          <p:nvSpPr>
            <p:cNvPr id="173" name="TextBox 172"/>
            <p:cNvSpPr txBox="1"/>
            <p:nvPr/>
          </p:nvSpPr>
          <p:spPr>
            <a:xfrm rot="16200000">
              <a:off x="8507806" y="5958913"/>
              <a:ext cx="1204672" cy="161583"/>
            </a:xfrm>
            <a:prstGeom prst="rect">
              <a:avLst/>
            </a:prstGeom>
            <a:noFill/>
          </p:spPr>
          <p:txBody>
            <a:bodyPr wrap="square" lIns="0" tIns="0" rIns="0" bIns="0" rtlCol="0">
              <a:spAutoFit/>
            </a:bodyPr>
            <a:lstStyle/>
            <a:p>
              <a:pPr algn="r">
                <a:spcBef>
                  <a:spcPts val="600"/>
                </a:spcBef>
                <a:buSzPct val="100000"/>
              </a:pPr>
              <a:r>
                <a:rPr lang="en-GB" sz="1050" b="1" dirty="0"/>
                <a:t>2019</a:t>
              </a:r>
              <a:endParaRPr lang="en-GB" sz="500" dirty="0"/>
            </a:p>
          </p:txBody>
        </p:sp>
      </p:grpSp>
      <p:sp>
        <p:nvSpPr>
          <p:cNvPr id="176"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dirty="0">
                <a:solidFill>
                  <a:prstClr val="black">
                    <a:lumMod val="50000"/>
                    <a:lumOff val="50000"/>
                  </a:prstClr>
                </a:solidFill>
                <a:latin typeface="Verdana" panose="020B0604030504040204" pitchFamily="34" charset="0"/>
              </a:rPr>
              <a:t>The Bangladesh power sector has been witnessing an increasing trend of foreign participation in the generation segment led by private IPPs and equity investment firms</a:t>
            </a:r>
            <a:endPar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sp>
        <p:nvSpPr>
          <p:cNvPr id="177" name="Rectangle 176"/>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a:lnSpc>
                <a:spcPct val="106000"/>
              </a:lnSpc>
              <a:defRPr/>
            </a:pPr>
            <a:r>
              <a:rPr lang="en-US" sz="700" i="1" dirty="0">
                <a:solidFill>
                  <a:prstClr val="black"/>
                </a:solidFill>
              </a:rPr>
              <a:t>Source: BPDB, Industry Reports, Deloitte Analysis</a:t>
            </a:r>
          </a:p>
        </p:txBody>
      </p:sp>
      <p:grpSp>
        <p:nvGrpSpPr>
          <p:cNvPr id="39" name="Group 38"/>
          <p:cNvGrpSpPr/>
          <p:nvPr/>
        </p:nvGrpSpPr>
        <p:grpSpPr>
          <a:xfrm>
            <a:off x="1256674" y="2583801"/>
            <a:ext cx="1779879" cy="2627242"/>
            <a:chOff x="1280277" y="2596143"/>
            <a:chExt cx="1779879" cy="2627242"/>
          </a:xfrm>
        </p:grpSpPr>
        <p:sp>
          <p:nvSpPr>
            <p:cNvPr id="95" name="Oval 94"/>
            <p:cNvSpPr>
              <a:spLocks/>
            </p:cNvSpPr>
            <p:nvPr/>
          </p:nvSpPr>
          <p:spPr bwMode="gray">
            <a:xfrm>
              <a:off x="1982861" y="5079385"/>
              <a:ext cx="144000" cy="144000"/>
            </a:xfrm>
            <a:prstGeom prst="ellipse">
              <a:avLst/>
            </a:prstGeom>
            <a:solidFill>
              <a:schemeClr val="accent1">
                <a:lumMod val="60000"/>
                <a:lumOff val="4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cxnSp>
          <p:nvCxnSpPr>
            <p:cNvPr id="98" name="Straight Connector 97"/>
            <p:cNvCxnSpPr>
              <a:endCxn id="95" idx="0"/>
            </p:cNvCxnSpPr>
            <p:nvPr/>
          </p:nvCxnSpPr>
          <p:spPr>
            <a:xfrm>
              <a:off x="2054861" y="2910479"/>
              <a:ext cx="0" cy="2168906"/>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06" name="TextBox 105"/>
            <p:cNvSpPr txBox="1"/>
            <p:nvPr/>
          </p:nvSpPr>
          <p:spPr>
            <a:xfrm>
              <a:off x="1280277" y="2596143"/>
              <a:ext cx="1779879"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effectLst/>
                  <a:uLnTx/>
                  <a:uFillTx/>
                  <a:latin typeface="Verdana"/>
                  <a:ea typeface="+mn-ea"/>
                  <a:cs typeface="+mn-cs"/>
                </a:rPr>
                <a:t>450 MW Meghnaghat</a:t>
              </a:r>
              <a:br>
                <a:rPr kumimoji="0" lang="en-US" sz="800" b="1" i="0" u="none" strike="noStrike" kern="1200" cap="none" spc="0" normalizeH="0" noProof="0" dirty="0">
                  <a:ln>
                    <a:noFill/>
                  </a:ln>
                  <a:effectLst/>
                  <a:uLnTx/>
                  <a:uFillTx/>
                  <a:latin typeface="Verdana"/>
                  <a:ea typeface="+mn-ea"/>
                  <a:cs typeface="+mn-cs"/>
                </a:rPr>
              </a:br>
              <a:r>
                <a:rPr kumimoji="0" lang="en-US" sz="800" b="1" i="0" u="none" strike="noStrike" kern="1200" cap="none" spc="0" normalizeH="0" noProof="0" dirty="0">
                  <a:ln>
                    <a:noFill/>
                  </a:ln>
                  <a:effectLst/>
                  <a:uLnTx/>
                  <a:uFillTx/>
                  <a:latin typeface="Verdana"/>
                  <a:ea typeface="+mn-ea"/>
                  <a:cs typeface="+mn-cs"/>
                </a:rPr>
                <a:t>(AES) </a:t>
              </a:r>
              <a:r>
                <a:rPr kumimoji="0" lang="en-US" sz="800" b="1" i="1" u="none" strike="noStrike" kern="1200" cap="none" spc="0" normalizeH="0" noProof="0" dirty="0">
                  <a:ln>
                    <a:noFill/>
                  </a:ln>
                  <a:effectLst/>
                  <a:uLnTx/>
                  <a:uFillTx/>
                  <a:latin typeface="Verdana"/>
                  <a:ea typeface="+mn-ea"/>
                  <a:cs typeface="+mn-cs"/>
                </a:rPr>
                <a:t>(USA)</a:t>
              </a:r>
              <a:endParaRPr kumimoji="0" lang="en-IN" sz="800" b="1" i="0" u="none" strike="noStrike" kern="1200" cap="none" spc="0" normalizeH="0" baseline="0" noProof="0" dirty="0">
                <a:ln>
                  <a:noFill/>
                </a:ln>
                <a:effectLst/>
                <a:uLnTx/>
                <a:uFillTx/>
                <a:latin typeface="Verdana"/>
                <a:ea typeface="+mn-ea"/>
                <a:cs typeface="+mn-cs"/>
              </a:endParaRPr>
            </a:p>
          </p:txBody>
        </p:sp>
      </p:grpSp>
      <p:grpSp>
        <p:nvGrpSpPr>
          <p:cNvPr id="37" name="Group 36"/>
          <p:cNvGrpSpPr/>
          <p:nvPr/>
        </p:nvGrpSpPr>
        <p:grpSpPr>
          <a:xfrm>
            <a:off x="2387821" y="4464707"/>
            <a:ext cx="432000" cy="1204672"/>
            <a:chOff x="2221586" y="4465222"/>
            <a:chExt cx="432000" cy="1204672"/>
          </a:xfrm>
        </p:grpSpPr>
        <p:sp>
          <p:nvSpPr>
            <p:cNvPr id="108" name="Oval 107"/>
            <p:cNvSpPr>
              <a:spLocks/>
            </p:cNvSpPr>
            <p:nvPr/>
          </p:nvSpPr>
          <p:spPr bwMode="gray">
            <a:xfrm>
              <a:off x="2221586" y="4926584"/>
              <a:ext cx="432000" cy="432000"/>
            </a:xfrm>
            <a:prstGeom prst="ellipse">
              <a:avLst/>
            </a:prstGeom>
            <a:solidFill>
              <a:srgbClr val="9AD62E"/>
            </a:solid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700" b="1" i="0" u="none" strike="noStrike" kern="1200" cap="none" spc="0" normalizeH="0" baseline="0" noProof="0" dirty="0">
                <a:ln>
                  <a:noFill/>
                </a:ln>
                <a:solidFill>
                  <a:prstClr val="black"/>
                </a:solidFill>
                <a:effectLst/>
                <a:uLnTx/>
                <a:uFillTx/>
                <a:latin typeface="Verdana"/>
                <a:ea typeface="+mn-ea"/>
                <a:cs typeface="+mn-cs"/>
              </a:endParaRPr>
            </a:p>
          </p:txBody>
        </p:sp>
        <p:sp>
          <p:nvSpPr>
            <p:cNvPr id="109" name="TextBox 108"/>
            <p:cNvSpPr txBox="1"/>
            <p:nvPr/>
          </p:nvSpPr>
          <p:spPr>
            <a:xfrm rot="16200000">
              <a:off x="1835251" y="4986766"/>
              <a:ext cx="1204672" cy="161583"/>
            </a:xfrm>
            <a:prstGeom prst="rect">
              <a:avLst/>
            </a:prstGeom>
            <a:noFill/>
          </p:spPr>
          <p:txBody>
            <a:bodyPr wrap="square" lIns="0" tIns="0" rIns="0" bIns="0" rtlCol="0">
              <a:spAutoFit/>
            </a:bodyPr>
            <a:lstStyle/>
            <a:p>
              <a:pPr algn="r">
                <a:spcBef>
                  <a:spcPts val="600"/>
                </a:spcBef>
                <a:buSzPct val="100000"/>
              </a:pPr>
              <a:r>
                <a:rPr lang="en-GB" sz="1050" b="1" dirty="0"/>
                <a:t>2003</a:t>
              </a:r>
              <a:endParaRPr lang="en-GB" sz="500" dirty="0"/>
            </a:p>
          </p:txBody>
        </p:sp>
      </p:grpSp>
      <p:grpSp>
        <p:nvGrpSpPr>
          <p:cNvPr id="36" name="Group 35"/>
          <p:cNvGrpSpPr/>
          <p:nvPr/>
        </p:nvGrpSpPr>
        <p:grpSpPr>
          <a:xfrm>
            <a:off x="2116849" y="3011484"/>
            <a:ext cx="1779879" cy="2194487"/>
            <a:chOff x="1937890" y="3012228"/>
            <a:chExt cx="1779879" cy="2194487"/>
          </a:xfrm>
        </p:grpSpPr>
        <p:sp>
          <p:nvSpPr>
            <p:cNvPr id="110" name="Oval 109"/>
            <p:cNvSpPr>
              <a:spLocks/>
            </p:cNvSpPr>
            <p:nvPr/>
          </p:nvSpPr>
          <p:spPr bwMode="gray">
            <a:xfrm>
              <a:off x="2734113" y="5062715"/>
              <a:ext cx="144000" cy="144000"/>
            </a:xfrm>
            <a:prstGeom prst="ellipse">
              <a:avLst/>
            </a:prstGeom>
            <a:solidFill>
              <a:schemeClr val="accent1">
                <a:lumMod val="60000"/>
                <a:lumOff val="4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cxnSp>
          <p:nvCxnSpPr>
            <p:cNvPr id="111" name="Straight Connector 110"/>
            <p:cNvCxnSpPr>
              <a:endCxn id="110" idx="0"/>
            </p:cNvCxnSpPr>
            <p:nvPr/>
          </p:nvCxnSpPr>
          <p:spPr>
            <a:xfrm>
              <a:off x="2806113" y="3441248"/>
              <a:ext cx="0" cy="1621467"/>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2" name="TextBox 111"/>
            <p:cNvSpPr txBox="1"/>
            <p:nvPr/>
          </p:nvSpPr>
          <p:spPr>
            <a:xfrm>
              <a:off x="1937890" y="3012228"/>
              <a:ext cx="1779879" cy="36933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effectLst/>
                  <a:uLnTx/>
                  <a:uFillTx/>
                  <a:latin typeface="Verdana"/>
                  <a:ea typeface="+mn-ea"/>
                  <a:cs typeface="+mn-cs"/>
                </a:rPr>
                <a:t>450 MW Meghnaghat</a:t>
              </a:r>
              <a:br>
                <a:rPr kumimoji="0" lang="en-US" sz="800" b="1" i="0" u="none" strike="noStrike" kern="1200" cap="none" spc="0" normalizeH="0" noProof="0" dirty="0">
                  <a:ln>
                    <a:noFill/>
                  </a:ln>
                  <a:effectLst/>
                  <a:uLnTx/>
                  <a:uFillTx/>
                  <a:latin typeface="Verdana"/>
                  <a:ea typeface="+mn-ea"/>
                  <a:cs typeface="+mn-cs"/>
                </a:rPr>
              </a:br>
              <a:r>
                <a:rPr kumimoji="0" lang="en-US" sz="800" b="1" i="0" u="none" strike="noStrike" kern="1200" cap="none" spc="0" normalizeH="0" noProof="0" dirty="0">
                  <a:ln>
                    <a:noFill/>
                  </a:ln>
                  <a:effectLst/>
                  <a:uLnTx/>
                  <a:uFillTx/>
                  <a:latin typeface="Verdana"/>
                  <a:ea typeface="+mn-ea"/>
                  <a:cs typeface="+mn-cs"/>
                </a:rPr>
                <a:t>(AES sells to CDC </a:t>
              </a:r>
              <a:r>
                <a:rPr kumimoji="0" lang="en-US" sz="800" b="1" i="0" u="none" strike="noStrike" kern="1200" cap="none" spc="0" normalizeH="0" noProof="0" dirty="0" err="1">
                  <a:ln>
                    <a:noFill/>
                  </a:ln>
                  <a:effectLst/>
                  <a:uLnTx/>
                  <a:uFillTx/>
                  <a:latin typeface="Verdana"/>
                  <a:ea typeface="+mn-ea"/>
                  <a:cs typeface="+mn-cs"/>
                </a:rPr>
                <a:t>Globeleq</a:t>
              </a:r>
              <a:r>
                <a:rPr kumimoji="0" lang="en-US" sz="800" b="1" i="0" u="none" strike="noStrike" kern="1200" cap="none" spc="0" normalizeH="0" noProof="0" dirty="0">
                  <a:ln>
                    <a:noFill/>
                  </a:ln>
                  <a:effectLst/>
                  <a:uLnTx/>
                  <a:uFillTx/>
                  <a:latin typeface="Verdana"/>
                  <a:ea typeface="+mn-ea"/>
                  <a:cs typeface="+mn-cs"/>
                </a:rPr>
                <a:t>) </a:t>
              </a:r>
              <a:r>
                <a:rPr kumimoji="0" lang="en-US" sz="800" b="1" i="1" u="none" strike="noStrike" kern="1200" cap="none" spc="0" normalizeH="0" noProof="0" dirty="0">
                  <a:ln>
                    <a:noFill/>
                  </a:ln>
                  <a:effectLst/>
                  <a:uLnTx/>
                  <a:uFillTx/>
                  <a:latin typeface="Verdana"/>
                  <a:ea typeface="+mn-ea"/>
                  <a:cs typeface="+mn-cs"/>
                </a:rPr>
                <a:t>(UK)</a:t>
              </a:r>
              <a:endParaRPr kumimoji="0" lang="en-IN" sz="800" b="1" i="0" u="none" strike="noStrike" kern="1200" cap="none" spc="0" normalizeH="0" baseline="0" noProof="0" dirty="0">
                <a:ln>
                  <a:noFill/>
                </a:ln>
                <a:effectLst/>
                <a:uLnTx/>
                <a:uFillTx/>
                <a:latin typeface="Verdana"/>
                <a:ea typeface="+mn-ea"/>
                <a:cs typeface="+mn-cs"/>
              </a:endParaRPr>
            </a:p>
          </p:txBody>
        </p:sp>
      </p:grpSp>
      <p:grpSp>
        <p:nvGrpSpPr>
          <p:cNvPr id="35" name="Group 34"/>
          <p:cNvGrpSpPr/>
          <p:nvPr/>
        </p:nvGrpSpPr>
        <p:grpSpPr>
          <a:xfrm>
            <a:off x="3510146" y="4464706"/>
            <a:ext cx="432000" cy="1204672"/>
            <a:chOff x="2949846" y="4465223"/>
            <a:chExt cx="432000" cy="1204672"/>
          </a:xfrm>
        </p:grpSpPr>
        <p:sp>
          <p:nvSpPr>
            <p:cNvPr id="113" name="Oval 112"/>
            <p:cNvSpPr>
              <a:spLocks/>
            </p:cNvSpPr>
            <p:nvPr/>
          </p:nvSpPr>
          <p:spPr bwMode="gray">
            <a:xfrm>
              <a:off x="2949846" y="4926585"/>
              <a:ext cx="432000" cy="432000"/>
            </a:xfrm>
            <a:prstGeom prst="ellipse">
              <a:avLst/>
            </a:prstGeom>
            <a:solidFill>
              <a:srgbClr val="87BD25"/>
            </a:solid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700" b="1" i="0" u="none" strike="noStrike" kern="1200" cap="none" spc="0" normalizeH="0" baseline="0" noProof="0" dirty="0">
                <a:ln>
                  <a:noFill/>
                </a:ln>
                <a:solidFill>
                  <a:prstClr val="black"/>
                </a:solidFill>
                <a:effectLst/>
                <a:uLnTx/>
                <a:uFillTx/>
                <a:latin typeface="Verdana"/>
                <a:ea typeface="+mn-ea"/>
                <a:cs typeface="+mn-cs"/>
              </a:endParaRPr>
            </a:p>
          </p:txBody>
        </p:sp>
        <p:sp>
          <p:nvSpPr>
            <p:cNvPr id="114" name="TextBox 113"/>
            <p:cNvSpPr txBox="1"/>
            <p:nvPr/>
          </p:nvSpPr>
          <p:spPr>
            <a:xfrm rot="16200000">
              <a:off x="2563511" y="4986767"/>
              <a:ext cx="1204672" cy="161583"/>
            </a:xfrm>
            <a:prstGeom prst="rect">
              <a:avLst/>
            </a:prstGeom>
            <a:noFill/>
          </p:spPr>
          <p:txBody>
            <a:bodyPr wrap="square" lIns="0" tIns="0" rIns="0" bIns="0" rtlCol="0">
              <a:spAutoFit/>
            </a:bodyPr>
            <a:lstStyle/>
            <a:p>
              <a:pPr algn="r">
                <a:spcBef>
                  <a:spcPts val="600"/>
                </a:spcBef>
                <a:buSzPct val="100000"/>
              </a:pPr>
              <a:r>
                <a:rPr lang="en-GB" sz="1050" b="1" dirty="0"/>
                <a:t>2005</a:t>
              </a:r>
              <a:endParaRPr lang="en-GB" sz="500" dirty="0"/>
            </a:p>
          </p:txBody>
        </p:sp>
      </p:grpSp>
      <p:grpSp>
        <p:nvGrpSpPr>
          <p:cNvPr id="34" name="Group 33"/>
          <p:cNvGrpSpPr/>
          <p:nvPr/>
        </p:nvGrpSpPr>
        <p:grpSpPr>
          <a:xfrm>
            <a:off x="3394660" y="5060387"/>
            <a:ext cx="1620451" cy="2173952"/>
            <a:chOff x="2722083" y="5062715"/>
            <a:chExt cx="1620451" cy="2173952"/>
          </a:xfrm>
        </p:grpSpPr>
        <p:sp>
          <p:nvSpPr>
            <p:cNvPr id="115" name="TextBox 114"/>
            <p:cNvSpPr txBox="1"/>
            <p:nvPr/>
          </p:nvSpPr>
          <p:spPr>
            <a:xfrm>
              <a:off x="2722083" y="6867335"/>
              <a:ext cx="1620451" cy="36933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effectLst/>
                  <a:uLnTx/>
                  <a:uFillTx/>
                  <a:latin typeface="Verdana"/>
                  <a:ea typeface="+mn-ea"/>
                  <a:cs typeface="+mn-cs"/>
                </a:rPr>
                <a:t>360 MW Haripur Power (AES sells to CDC </a:t>
              </a:r>
              <a:r>
                <a:rPr kumimoji="0" lang="en-US" sz="800" b="1" i="0" u="none" strike="noStrike" kern="1200" cap="none" spc="0" normalizeH="0" baseline="0" noProof="0" dirty="0" err="1">
                  <a:ln>
                    <a:noFill/>
                  </a:ln>
                  <a:effectLst/>
                  <a:uLnTx/>
                  <a:uFillTx/>
                  <a:latin typeface="Verdana"/>
                  <a:ea typeface="+mn-ea"/>
                  <a:cs typeface="+mn-cs"/>
                </a:rPr>
                <a:t>Globeleq</a:t>
              </a:r>
              <a:r>
                <a:rPr kumimoji="0" lang="en-US" sz="800" b="1" i="0" u="none" strike="noStrike" kern="1200" cap="none" spc="0" normalizeH="0" baseline="0" noProof="0" dirty="0">
                  <a:ln>
                    <a:noFill/>
                  </a:ln>
                  <a:effectLst/>
                  <a:uLnTx/>
                  <a:uFillTx/>
                  <a:latin typeface="Verdana"/>
                  <a:ea typeface="+mn-ea"/>
                  <a:cs typeface="+mn-cs"/>
                </a:rPr>
                <a:t>) </a:t>
              </a:r>
              <a:r>
                <a:rPr kumimoji="0" lang="en-US" sz="800" b="1" i="1" u="none" strike="noStrike" kern="1200" cap="none" spc="0" normalizeH="0" baseline="0" noProof="0" dirty="0">
                  <a:ln>
                    <a:noFill/>
                  </a:ln>
                  <a:effectLst/>
                  <a:uLnTx/>
                  <a:uFillTx/>
                  <a:latin typeface="Verdana"/>
                  <a:ea typeface="+mn-ea"/>
                  <a:cs typeface="+mn-cs"/>
                </a:rPr>
                <a:t>(UK)</a:t>
              </a:r>
              <a:endParaRPr kumimoji="0" lang="en-IN" sz="800" b="1" i="0" u="none" strike="noStrike" kern="1200" cap="none" spc="0" normalizeH="0" baseline="0" noProof="0" dirty="0">
                <a:ln>
                  <a:noFill/>
                </a:ln>
                <a:effectLst/>
                <a:uLnTx/>
                <a:uFillTx/>
                <a:latin typeface="Verdana"/>
                <a:ea typeface="+mn-ea"/>
                <a:cs typeface="+mn-cs"/>
              </a:endParaRPr>
            </a:p>
          </p:txBody>
        </p:sp>
        <p:cxnSp>
          <p:nvCxnSpPr>
            <p:cNvPr id="116" name="Straight Connector 115"/>
            <p:cNvCxnSpPr>
              <a:stCxn id="117" idx="4"/>
            </p:cNvCxnSpPr>
            <p:nvPr/>
          </p:nvCxnSpPr>
          <p:spPr>
            <a:xfrm>
              <a:off x="3512976" y="5206715"/>
              <a:ext cx="0" cy="1573863"/>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7" name="Oval 116"/>
            <p:cNvSpPr>
              <a:spLocks/>
            </p:cNvSpPr>
            <p:nvPr/>
          </p:nvSpPr>
          <p:spPr bwMode="gray">
            <a:xfrm>
              <a:off x="3440976" y="5062715"/>
              <a:ext cx="144000" cy="144000"/>
            </a:xfrm>
            <a:prstGeom prst="ellipse">
              <a:avLst/>
            </a:prstGeom>
            <a:solidFill>
              <a:schemeClr val="accent1">
                <a:lumMod val="60000"/>
                <a:lumOff val="4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grpSp>
      <p:grpSp>
        <p:nvGrpSpPr>
          <p:cNvPr id="33" name="Group 32"/>
          <p:cNvGrpSpPr/>
          <p:nvPr/>
        </p:nvGrpSpPr>
        <p:grpSpPr>
          <a:xfrm>
            <a:off x="4418562" y="4464705"/>
            <a:ext cx="432000" cy="1204672"/>
            <a:chOff x="3699526" y="4465222"/>
            <a:chExt cx="432000" cy="1204672"/>
          </a:xfrm>
        </p:grpSpPr>
        <p:sp>
          <p:nvSpPr>
            <p:cNvPr id="124" name="Oval 123"/>
            <p:cNvSpPr>
              <a:spLocks/>
            </p:cNvSpPr>
            <p:nvPr/>
          </p:nvSpPr>
          <p:spPr bwMode="gray">
            <a:xfrm>
              <a:off x="3699526" y="4926584"/>
              <a:ext cx="432000" cy="432000"/>
            </a:xfrm>
            <a:prstGeom prst="ellipse">
              <a:avLst/>
            </a:prstGeom>
            <a:solidFill>
              <a:srgbClr val="82B624"/>
            </a:solid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700" b="1" i="0" u="none" strike="noStrike" kern="1200" cap="none" spc="0" normalizeH="0" baseline="0" noProof="0" dirty="0">
                <a:ln>
                  <a:noFill/>
                </a:ln>
                <a:solidFill>
                  <a:prstClr val="black"/>
                </a:solidFill>
                <a:effectLst/>
                <a:uLnTx/>
                <a:uFillTx/>
                <a:latin typeface="Verdana"/>
                <a:ea typeface="+mn-ea"/>
                <a:cs typeface="+mn-cs"/>
              </a:endParaRPr>
            </a:p>
          </p:txBody>
        </p:sp>
        <p:sp>
          <p:nvSpPr>
            <p:cNvPr id="128" name="TextBox 127"/>
            <p:cNvSpPr txBox="1"/>
            <p:nvPr/>
          </p:nvSpPr>
          <p:spPr>
            <a:xfrm rot="16200000">
              <a:off x="3313191" y="4986766"/>
              <a:ext cx="1204672" cy="161583"/>
            </a:xfrm>
            <a:prstGeom prst="rect">
              <a:avLst/>
            </a:prstGeom>
            <a:noFill/>
          </p:spPr>
          <p:txBody>
            <a:bodyPr wrap="square" lIns="0" tIns="0" rIns="0" bIns="0" rtlCol="0">
              <a:spAutoFit/>
            </a:bodyPr>
            <a:lstStyle/>
            <a:p>
              <a:pPr algn="r">
                <a:spcBef>
                  <a:spcPts val="600"/>
                </a:spcBef>
                <a:buSzPct val="100000"/>
              </a:pPr>
              <a:r>
                <a:rPr lang="en-GB" sz="1050" b="1" dirty="0"/>
                <a:t>2007</a:t>
              </a:r>
              <a:endParaRPr lang="en-GB" sz="500" dirty="0"/>
            </a:p>
          </p:txBody>
        </p:sp>
      </p:grpSp>
      <p:grpSp>
        <p:nvGrpSpPr>
          <p:cNvPr id="44" name="Group 43"/>
          <p:cNvGrpSpPr/>
          <p:nvPr/>
        </p:nvGrpSpPr>
        <p:grpSpPr>
          <a:xfrm>
            <a:off x="4337934" y="5060387"/>
            <a:ext cx="1236417" cy="1432363"/>
            <a:chOff x="3602438" y="5062715"/>
            <a:chExt cx="1236417" cy="1432363"/>
          </a:xfrm>
        </p:grpSpPr>
        <p:cxnSp>
          <p:nvCxnSpPr>
            <p:cNvPr id="131" name="Straight Connector 130"/>
            <p:cNvCxnSpPr>
              <a:stCxn id="132" idx="4"/>
            </p:cNvCxnSpPr>
            <p:nvPr/>
          </p:nvCxnSpPr>
          <p:spPr>
            <a:xfrm>
              <a:off x="4273795" y="5206715"/>
              <a:ext cx="0" cy="786931"/>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32" name="Oval 131"/>
            <p:cNvSpPr>
              <a:spLocks/>
            </p:cNvSpPr>
            <p:nvPr/>
          </p:nvSpPr>
          <p:spPr bwMode="gray">
            <a:xfrm>
              <a:off x="4201795" y="5062715"/>
              <a:ext cx="144000" cy="144000"/>
            </a:xfrm>
            <a:prstGeom prst="ellipse">
              <a:avLst/>
            </a:prstGeom>
            <a:solidFill>
              <a:schemeClr val="accent1">
                <a:lumMod val="60000"/>
                <a:lumOff val="4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136" name="TextBox 135"/>
            <p:cNvSpPr txBox="1"/>
            <p:nvPr/>
          </p:nvSpPr>
          <p:spPr>
            <a:xfrm>
              <a:off x="3602438" y="6002635"/>
              <a:ext cx="1236417" cy="4924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effectLst/>
                  <a:uLnTx/>
                  <a:uFillTx/>
                  <a:latin typeface="Verdana"/>
                  <a:ea typeface="+mn-ea"/>
                  <a:cs typeface="+mn-cs"/>
                </a:rPr>
                <a:t>360 MW Haripur Power (CDC </a:t>
              </a:r>
              <a:r>
                <a:rPr kumimoji="0" lang="en-US" sz="800" b="1" i="0" u="none" strike="noStrike" kern="1200" cap="none" spc="0" normalizeH="0" baseline="0" noProof="0" dirty="0" err="1">
                  <a:ln>
                    <a:noFill/>
                  </a:ln>
                  <a:effectLst/>
                  <a:uLnTx/>
                  <a:uFillTx/>
                  <a:latin typeface="Verdana"/>
                  <a:ea typeface="+mn-ea"/>
                  <a:cs typeface="+mn-cs"/>
                </a:rPr>
                <a:t>Globeleq</a:t>
              </a:r>
              <a:r>
                <a:rPr kumimoji="0" lang="en-US" sz="800" b="1" i="0" u="none" strike="noStrike" kern="1200" cap="none" spc="0" normalizeH="0" baseline="0" noProof="0" dirty="0">
                  <a:ln>
                    <a:noFill/>
                  </a:ln>
                  <a:effectLst/>
                  <a:uLnTx/>
                  <a:uFillTx/>
                  <a:latin typeface="Verdana"/>
                  <a:ea typeface="+mn-ea"/>
                  <a:cs typeface="+mn-cs"/>
                </a:rPr>
                <a:t> sells to </a:t>
              </a:r>
              <a:r>
                <a:rPr kumimoji="0" lang="en-US" sz="800" b="1" i="0" u="none" strike="noStrike" kern="1200" cap="none" spc="0" normalizeH="0" baseline="0" noProof="0" dirty="0" err="1">
                  <a:ln>
                    <a:noFill/>
                  </a:ln>
                  <a:effectLst/>
                  <a:uLnTx/>
                  <a:uFillTx/>
                  <a:latin typeface="Verdana"/>
                  <a:ea typeface="+mn-ea"/>
                  <a:cs typeface="+mn-cs"/>
                </a:rPr>
                <a:t>Pendekar</a:t>
              </a:r>
              <a:r>
                <a:rPr kumimoji="0" lang="en-US" sz="800" b="1" i="0" u="none" strike="noStrike" kern="1200" cap="none" spc="0" normalizeH="0" baseline="0" noProof="0" dirty="0">
                  <a:ln>
                    <a:noFill/>
                  </a:ln>
                  <a:effectLst/>
                  <a:uLnTx/>
                  <a:uFillTx/>
                  <a:latin typeface="Verdana"/>
                  <a:ea typeface="+mn-ea"/>
                  <a:cs typeface="+mn-cs"/>
                </a:rPr>
                <a:t>) </a:t>
              </a:r>
              <a:r>
                <a:rPr kumimoji="0" lang="en-US" sz="800" b="1" i="1" u="none" strike="noStrike" kern="1200" cap="none" spc="0" normalizeH="0" baseline="0" noProof="0" dirty="0">
                  <a:ln>
                    <a:noFill/>
                  </a:ln>
                  <a:effectLst/>
                  <a:uLnTx/>
                  <a:uFillTx/>
                  <a:latin typeface="Verdana"/>
                  <a:ea typeface="+mn-ea"/>
                  <a:cs typeface="+mn-cs"/>
                </a:rPr>
                <a:t>(Malaysia)</a:t>
              </a:r>
              <a:endParaRPr kumimoji="0" lang="en-IN" sz="800" b="1" i="0" u="none" strike="noStrike" kern="1200" cap="none" spc="0" normalizeH="0" baseline="0" noProof="0" dirty="0">
                <a:ln>
                  <a:noFill/>
                </a:ln>
                <a:effectLst/>
                <a:uLnTx/>
                <a:uFillTx/>
                <a:latin typeface="Verdana"/>
                <a:ea typeface="+mn-ea"/>
                <a:cs typeface="+mn-cs"/>
              </a:endParaRPr>
            </a:p>
          </p:txBody>
        </p:sp>
      </p:grpSp>
      <p:grpSp>
        <p:nvGrpSpPr>
          <p:cNvPr id="32" name="Group 31"/>
          <p:cNvGrpSpPr/>
          <p:nvPr/>
        </p:nvGrpSpPr>
        <p:grpSpPr>
          <a:xfrm>
            <a:off x="4574393" y="2663991"/>
            <a:ext cx="1779879" cy="2542489"/>
            <a:chOff x="3700934" y="2664226"/>
            <a:chExt cx="1779879" cy="2542489"/>
          </a:xfrm>
        </p:grpSpPr>
        <p:sp>
          <p:nvSpPr>
            <p:cNvPr id="133" name="Oval 132"/>
            <p:cNvSpPr>
              <a:spLocks/>
            </p:cNvSpPr>
            <p:nvPr/>
          </p:nvSpPr>
          <p:spPr bwMode="gray">
            <a:xfrm>
              <a:off x="4387712" y="5062715"/>
              <a:ext cx="144000" cy="144000"/>
            </a:xfrm>
            <a:prstGeom prst="ellipse">
              <a:avLst/>
            </a:prstGeom>
            <a:solidFill>
              <a:schemeClr val="accent1">
                <a:lumMod val="60000"/>
                <a:lumOff val="4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cxnSp>
          <p:nvCxnSpPr>
            <p:cNvPr id="134" name="Straight Connector 133"/>
            <p:cNvCxnSpPr>
              <a:endCxn id="133" idx="0"/>
            </p:cNvCxnSpPr>
            <p:nvPr/>
          </p:nvCxnSpPr>
          <p:spPr>
            <a:xfrm>
              <a:off x="4459712" y="3071916"/>
              <a:ext cx="0" cy="1990799"/>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37" name="TextBox 136"/>
            <p:cNvSpPr txBox="1"/>
            <p:nvPr/>
          </p:nvSpPr>
          <p:spPr>
            <a:xfrm>
              <a:off x="3700934" y="2664226"/>
              <a:ext cx="1779879" cy="36933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effectLst/>
                  <a:uLnTx/>
                  <a:uFillTx/>
                  <a:latin typeface="Verdana"/>
                  <a:ea typeface="+mn-ea"/>
                  <a:cs typeface="+mn-cs"/>
                </a:rPr>
                <a:t>450 MW Meghnaghat</a:t>
              </a:r>
              <a:br>
                <a:rPr kumimoji="0" lang="en-US" sz="800" b="1" i="0" u="none" strike="noStrike" kern="1200" cap="none" spc="0" normalizeH="0" noProof="0" dirty="0">
                  <a:ln>
                    <a:noFill/>
                  </a:ln>
                  <a:effectLst/>
                  <a:uLnTx/>
                  <a:uFillTx/>
                  <a:latin typeface="Verdana"/>
                  <a:ea typeface="+mn-ea"/>
                  <a:cs typeface="+mn-cs"/>
                </a:rPr>
              </a:br>
              <a:r>
                <a:rPr kumimoji="0" lang="en-US" sz="800" b="1" i="0" u="none" strike="noStrike" kern="1200" cap="none" spc="0" normalizeH="0" noProof="0" dirty="0">
                  <a:ln>
                    <a:noFill/>
                  </a:ln>
                  <a:effectLst/>
                  <a:uLnTx/>
                  <a:uFillTx/>
                  <a:latin typeface="Verdana"/>
                  <a:ea typeface="+mn-ea"/>
                  <a:cs typeface="+mn-cs"/>
                </a:rPr>
                <a:t>(CDC </a:t>
              </a:r>
              <a:r>
                <a:rPr kumimoji="0" lang="en-US" sz="800" b="1" i="0" u="none" strike="noStrike" kern="1200" cap="none" spc="0" normalizeH="0" noProof="0" dirty="0" err="1">
                  <a:ln>
                    <a:noFill/>
                  </a:ln>
                  <a:effectLst/>
                  <a:uLnTx/>
                  <a:uFillTx/>
                  <a:latin typeface="Verdana"/>
                  <a:ea typeface="+mn-ea"/>
                  <a:cs typeface="+mn-cs"/>
                </a:rPr>
                <a:t>Globeleq</a:t>
              </a:r>
              <a:r>
                <a:rPr kumimoji="0" lang="en-US" sz="800" b="1" i="0" u="none" strike="noStrike" kern="1200" cap="none" spc="0" normalizeH="0" noProof="0" dirty="0">
                  <a:ln>
                    <a:noFill/>
                  </a:ln>
                  <a:effectLst/>
                  <a:uLnTx/>
                  <a:uFillTx/>
                  <a:latin typeface="Verdana"/>
                  <a:ea typeface="+mn-ea"/>
                  <a:cs typeface="+mn-cs"/>
                </a:rPr>
                <a:t> sells to </a:t>
              </a:r>
              <a:r>
                <a:rPr kumimoji="0" lang="en-US" sz="800" b="1" i="0" u="none" strike="noStrike" kern="1200" cap="none" spc="0" normalizeH="0" noProof="0" dirty="0" err="1">
                  <a:ln>
                    <a:noFill/>
                  </a:ln>
                  <a:effectLst/>
                  <a:uLnTx/>
                  <a:uFillTx/>
                  <a:latin typeface="Verdana"/>
                  <a:ea typeface="+mn-ea"/>
                  <a:cs typeface="+mn-cs"/>
                </a:rPr>
                <a:t>Pendekar</a:t>
              </a:r>
              <a:r>
                <a:rPr kumimoji="0" lang="en-US" sz="800" b="1" i="0" u="none" strike="noStrike" kern="1200" cap="none" spc="0" normalizeH="0" noProof="0" dirty="0">
                  <a:ln>
                    <a:noFill/>
                  </a:ln>
                  <a:effectLst/>
                  <a:uLnTx/>
                  <a:uFillTx/>
                  <a:latin typeface="Verdana"/>
                  <a:ea typeface="+mn-ea"/>
                  <a:cs typeface="+mn-cs"/>
                </a:rPr>
                <a:t>) </a:t>
              </a:r>
              <a:r>
                <a:rPr kumimoji="0" lang="en-US" sz="800" b="1" i="1" u="none" strike="noStrike" kern="1200" cap="none" spc="0" normalizeH="0" noProof="0" dirty="0">
                  <a:ln>
                    <a:noFill/>
                  </a:ln>
                  <a:effectLst/>
                  <a:uLnTx/>
                  <a:uFillTx/>
                  <a:latin typeface="Verdana"/>
                  <a:ea typeface="+mn-ea"/>
                  <a:cs typeface="+mn-cs"/>
                </a:rPr>
                <a:t>(Malaysia)</a:t>
              </a:r>
              <a:endParaRPr kumimoji="0" lang="en-IN" sz="800" b="1" i="0" u="none" strike="noStrike" kern="1200" cap="none" spc="0" normalizeH="0" baseline="0" noProof="0" dirty="0">
                <a:ln>
                  <a:noFill/>
                </a:ln>
                <a:effectLst/>
                <a:uLnTx/>
                <a:uFillTx/>
                <a:latin typeface="Verdana"/>
                <a:ea typeface="+mn-ea"/>
                <a:cs typeface="+mn-cs"/>
              </a:endParaRPr>
            </a:p>
          </p:txBody>
        </p:sp>
      </p:grpSp>
      <p:grpSp>
        <p:nvGrpSpPr>
          <p:cNvPr id="88" name="Group 87"/>
          <p:cNvGrpSpPr/>
          <p:nvPr/>
        </p:nvGrpSpPr>
        <p:grpSpPr>
          <a:xfrm>
            <a:off x="2503522" y="5060387"/>
            <a:ext cx="1529651" cy="1670929"/>
            <a:chOff x="309308" y="5062715"/>
            <a:chExt cx="1529651" cy="1670929"/>
          </a:xfrm>
        </p:grpSpPr>
        <p:cxnSp>
          <p:nvCxnSpPr>
            <p:cNvPr id="91" name="Straight Connector 90"/>
            <p:cNvCxnSpPr>
              <a:stCxn id="92" idx="0"/>
              <a:endCxn id="94" idx="0"/>
            </p:cNvCxnSpPr>
            <p:nvPr/>
          </p:nvCxnSpPr>
          <p:spPr>
            <a:xfrm flipH="1" flipV="1">
              <a:off x="1069604" y="5062715"/>
              <a:ext cx="4530" cy="1301597"/>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92" name="TextBox 91"/>
            <p:cNvSpPr txBox="1"/>
            <p:nvPr/>
          </p:nvSpPr>
          <p:spPr>
            <a:xfrm>
              <a:off x="309308" y="6364312"/>
              <a:ext cx="1529651" cy="36933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effectLst/>
                  <a:uLnTx/>
                  <a:uFillTx/>
                  <a:latin typeface="Verdana"/>
                  <a:ea typeface="+mn-ea"/>
                  <a:cs typeface="+mn-cs"/>
                </a:rPr>
                <a:t>110 MW NEPC Consortium </a:t>
              </a:r>
              <a:br>
                <a:rPr kumimoji="0" lang="en-US" sz="800" b="1" i="0" u="none" strike="noStrike" kern="1200" cap="none" spc="0" normalizeH="0" baseline="0" noProof="0" dirty="0">
                  <a:ln>
                    <a:noFill/>
                  </a:ln>
                  <a:effectLst/>
                  <a:uLnTx/>
                  <a:uFillTx/>
                  <a:latin typeface="Verdana"/>
                  <a:ea typeface="+mn-ea"/>
                  <a:cs typeface="+mn-cs"/>
                </a:rPr>
              </a:br>
              <a:r>
                <a:rPr kumimoji="0" lang="en-US" sz="800" b="1" i="0" u="none" strike="noStrike" kern="1200" cap="none" spc="0" normalizeH="0" baseline="0" noProof="0" dirty="0">
                  <a:ln>
                    <a:noFill/>
                  </a:ln>
                  <a:effectLst/>
                  <a:uLnTx/>
                  <a:uFillTx/>
                  <a:latin typeface="Verdana"/>
                  <a:ea typeface="+mn-ea"/>
                  <a:cs typeface="+mn-cs"/>
                </a:rPr>
                <a:t>(bought</a:t>
              </a:r>
              <a:r>
                <a:rPr kumimoji="0" lang="en-US" sz="800" b="1" i="0" u="none" strike="noStrike" kern="1200" cap="none" spc="0" normalizeH="0" noProof="0" dirty="0">
                  <a:ln>
                    <a:noFill/>
                  </a:ln>
                  <a:effectLst/>
                  <a:uLnTx/>
                  <a:uFillTx/>
                  <a:latin typeface="Verdana"/>
                  <a:ea typeface="+mn-ea"/>
                  <a:cs typeface="+mn-cs"/>
                </a:rPr>
                <a:t> by CDC </a:t>
              </a:r>
              <a:r>
                <a:rPr kumimoji="0" lang="en-US" sz="800" b="1" i="0" u="none" strike="noStrike" kern="1200" cap="none" spc="0" normalizeH="0" noProof="0" dirty="0" err="1">
                  <a:ln>
                    <a:noFill/>
                  </a:ln>
                  <a:effectLst/>
                  <a:uLnTx/>
                  <a:uFillTx/>
                  <a:latin typeface="Verdana"/>
                  <a:ea typeface="+mn-ea"/>
                  <a:cs typeface="+mn-cs"/>
                </a:rPr>
                <a:t>Globeleq</a:t>
              </a:r>
              <a:r>
                <a:rPr kumimoji="0" lang="en-US" sz="800" b="1" i="0" u="none" strike="noStrike" kern="1200" cap="none" spc="0" normalizeH="0" noProof="0" dirty="0">
                  <a:ln>
                    <a:noFill/>
                  </a:ln>
                  <a:effectLst/>
                  <a:uLnTx/>
                  <a:uFillTx/>
                  <a:latin typeface="Verdana"/>
                  <a:ea typeface="+mn-ea"/>
                  <a:cs typeface="+mn-cs"/>
                </a:rPr>
                <a:t>)</a:t>
              </a:r>
              <a:r>
                <a:rPr kumimoji="0" lang="en-US" sz="800" b="1" i="1" u="none" strike="noStrike" kern="1200" cap="none" spc="0" normalizeH="0" noProof="0" dirty="0">
                  <a:ln>
                    <a:noFill/>
                  </a:ln>
                  <a:effectLst/>
                  <a:uLnTx/>
                  <a:uFillTx/>
                  <a:latin typeface="Verdana"/>
                  <a:ea typeface="+mn-ea"/>
                  <a:cs typeface="+mn-cs"/>
                </a:rPr>
                <a:t> (UK)</a:t>
              </a:r>
              <a:endParaRPr kumimoji="0" lang="en-IN" sz="800" b="1" i="1" u="none" strike="noStrike" kern="1200" cap="none" spc="0" normalizeH="0" baseline="0" noProof="0" dirty="0">
                <a:ln>
                  <a:noFill/>
                </a:ln>
                <a:effectLst/>
                <a:uLnTx/>
                <a:uFillTx/>
                <a:latin typeface="Verdana"/>
                <a:ea typeface="+mn-ea"/>
                <a:cs typeface="+mn-cs"/>
              </a:endParaRPr>
            </a:p>
          </p:txBody>
        </p:sp>
        <p:sp>
          <p:nvSpPr>
            <p:cNvPr id="94" name="Oval 93"/>
            <p:cNvSpPr>
              <a:spLocks/>
            </p:cNvSpPr>
            <p:nvPr/>
          </p:nvSpPr>
          <p:spPr bwMode="gray">
            <a:xfrm>
              <a:off x="997604" y="5062715"/>
              <a:ext cx="144000" cy="144000"/>
            </a:xfrm>
            <a:prstGeom prst="ellipse">
              <a:avLst/>
            </a:prstGeom>
            <a:solidFill>
              <a:schemeClr val="accent1">
                <a:lumMod val="40000"/>
                <a:lumOff val="6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grpSp>
      <p:grpSp>
        <p:nvGrpSpPr>
          <p:cNvPr id="101" name="Group 100"/>
          <p:cNvGrpSpPr/>
          <p:nvPr/>
        </p:nvGrpSpPr>
        <p:grpSpPr>
          <a:xfrm>
            <a:off x="4967626" y="5060387"/>
            <a:ext cx="1529651" cy="1979430"/>
            <a:chOff x="298467" y="5062715"/>
            <a:chExt cx="1529651" cy="1979430"/>
          </a:xfrm>
        </p:grpSpPr>
        <p:cxnSp>
          <p:nvCxnSpPr>
            <p:cNvPr id="103" name="Straight Connector 102"/>
            <p:cNvCxnSpPr>
              <a:stCxn id="105" idx="0"/>
              <a:endCxn id="118" idx="0"/>
            </p:cNvCxnSpPr>
            <p:nvPr/>
          </p:nvCxnSpPr>
          <p:spPr>
            <a:xfrm flipV="1">
              <a:off x="1063293" y="5062715"/>
              <a:ext cx="6311" cy="1486987"/>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05" name="TextBox 104"/>
            <p:cNvSpPr txBox="1"/>
            <p:nvPr/>
          </p:nvSpPr>
          <p:spPr>
            <a:xfrm>
              <a:off x="298467" y="6549702"/>
              <a:ext cx="1529651" cy="4924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effectLst/>
                  <a:uLnTx/>
                  <a:uFillTx/>
                  <a:latin typeface="Verdana"/>
                  <a:ea typeface="+mn-ea"/>
                  <a:cs typeface="+mn-cs"/>
                </a:rPr>
                <a:t>110 MW NEPC Consortium </a:t>
              </a:r>
              <a:br>
                <a:rPr kumimoji="0" lang="en-US" sz="800" b="1" i="0" u="none" strike="noStrike" kern="1200" cap="none" spc="0" normalizeH="0" baseline="0" noProof="0" dirty="0">
                  <a:ln>
                    <a:noFill/>
                  </a:ln>
                  <a:effectLst/>
                  <a:uLnTx/>
                  <a:uFillTx/>
                  <a:latin typeface="Verdana"/>
                  <a:ea typeface="+mn-ea"/>
                  <a:cs typeface="+mn-cs"/>
                </a:rPr>
              </a:br>
              <a:r>
                <a:rPr kumimoji="0" lang="en-US" sz="800" b="1" i="0" u="none" strike="noStrike" kern="1200" cap="none" spc="0" normalizeH="0" baseline="0" noProof="0" dirty="0">
                  <a:ln>
                    <a:noFill/>
                  </a:ln>
                  <a:effectLst/>
                  <a:uLnTx/>
                  <a:uFillTx/>
                  <a:latin typeface="Verdana"/>
                  <a:ea typeface="+mn-ea"/>
                  <a:cs typeface="+mn-cs"/>
                </a:rPr>
                <a:t>(CDC </a:t>
              </a:r>
              <a:r>
                <a:rPr kumimoji="0" lang="en-US" sz="800" b="1" i="0" u="none" strike="noStrike" kern="1200" cap="none" spc="0" normalizeH="0" baseline="0" noProof="0" dirty="0" err="1">
                  <a:ln>
                    <a:noFill/>
                  </a:ln>
                  <a:effectLst/>
                  <a:uLnTx/>
                  <a:uFillTx/>
                  <a:latin typeface="Verdana"/>
                  <a:ea typeface="+mn-ea"/>
                  <a:cs typeface="+mn-cs"/>
                </a:rPr>
                <a:t>Globeleq</a:t>
              </a:r>
              <a:r>
                <a:rPr kumimoji="0" lang="en-US" sz="800" b="1" i="0" u="none" strike="noStrike" kern="1200" cap="none" spc="0" normalizeH="0" noProof="0" dirty="0">
                  <a:ln>
                    <a:noFill/>
                  </a:ln>
                  <a:effectLst/>
                  <a:uLnTx/>
                  <a:uFillTx/>
                  <a:latin typeface="Verdana"/>
                  <a:ea typeface="+mn-ea"/>
                  <a:cs typeface="+mn-cs"/>
                </a:rPr>
                <a:t> sells to </a:t>
              </a:r>
              <a:r>
                <a:rPr kumimoji="0" lang="en-US" sz="800" b="1" i="0" u="none" strike="noStrike" kern="1200" cap="none" spc="0" normalizeH="0" noProof="0" dirty="0" err="1">
                  <a:ln>
                    <a:noFill/>
                  </a:ln>
                  <a:effectLst/>
                  <a:uLnTx/>
                  <a:uFillTx/>
                  <a:latin typeface="Verdana"/>
                  <a:ea typeface="+mn-ea"/>
                  <a:cs typeface="+mn-cs"/>
                </a:rPr>
                <a:t>Pendekar</a:t>
              </a:r>
              <a:r>
                <a:rPr kumimoji="0" lang="en-US" sz="800" b="1" i="0" u="none" strike="noStrike" kern="1200" cap="none" spc="0" normalizeH="0" noProof="0" dirty="0">
                  <a:ln>
                    <a:noFill/>
                  </a:ln>
                  <a:effectLst/>
                  <a:uLnTx/>
                  <a:uFillTx/>
                  <a:latin typeface="Verdana"/>
                  <a:ea typeface="+mn-ea"/>
                  <a:cs typeface="+mn-cs"/>
                </a:rPr>
                <a:t>)</a:t>
              </a:r>
              <a:br>
                <a:rPr kumimoji="0" lang="en-US" sz="800" b="1" i="0" u="none" strike="noStrike" kern="1200" cap="none" spc="0" normalizeH="0" noProof="0" dirty="0">
                  <a:ln>
                    <a:noFill/>
                  </a:ln>
                  <a:effectLst/>
                  <a:uLnTx/>
                  <a:uFillTx/>
                  <a:latin typeface="Verdana"/>
                  <a:ea typeface="+mn-ea"/>
                  <a:cs typeface="+mn-cs"/>
                </a:rPr>
              </a:br>
              <a:r>
                <a:rPr kumimoji="0" lang="en-US" sz="800" b="1" i="1" u="none" strike="noStrike" kern="1200" cap="none" spc="0" normalizeH="0" noProof="0" dirty="0">
                  <a:ln>
                    <a:noFill/>
                  </a:ln>
                  <a:effectLst/>
                  <a:uLnTx/>
                  <a:uFillTx/>
                  <a:latin typeface="Verdana"/>
                  <a:ea typeface="+mn-ea"/>
                  <a:cs typeface="+mn-cs"/>
                </a:rPr>
                <a:t>(Malaysia)</a:t>
              </a:r>
              <a:endParaRPr kumimoji="0" lang="en-IN" sz="800" b="1" i="1" u="none" strike="noStrike" kern="1200" cap="none" spc="0" normalizeH="0" baseline="0" noProof="0" dirty="0">
                <a:ln>
                  <a:noFill/>
                </a:ln>
                <a:effectLst/>
                <a:uLnTx/>
                <a:uFillTx/>
                <a:latin typeface="Verdana"/>
                <a:ea typeface="+mn-ea"/>
                <a:cs typeface="+mn-cs"/>
              </a:endParaRPr>
            </a:p>
          </p:txBody>
        </p:sp>
        <p:sp>
          <p:nvSpPr>
            <p:cNvPr id="118" name="Oval 117"/>
            <p:cNvSpPr>
              <a:spLocks/>
            </p:cNvSpPr>
            <p:nvPr/>
          </p:nvSpPr>
          <p:spPr bwMode="gray">
            <a:xfrm>
              <a:off x="997604" y="5062715"/>
              <a:ext cx="144000" cy="144000"/>
            </a:xfrm>
            <a:prstGeom prst="ellipse">
              <a:avLst/>
            </a:prstGeom>
            <a:solidFill>
              <a:schemeClr val="accent1">
                <a:lumMod val="40000"/>
                <a:lumOff val="6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grpSp>
    </p:spTree>
    <p:extLst>
      <p:ext uri="{BB962C8B-B14F-4D97-AF65-F5344CB8AC3E}">
        <p14:creationId xmlns:p14="http://schemas.microsoft.com/office/powerpoint/2010/main" val="4276077260"/>
      </p:ext>
    </p:extLst>
  </p:cSld>
  <p:clrMapOvr>
    <a:masterClrMapping/>
  </p:clrMapOvr>
  <p:transition>
    <p:fade/>
  </p:transition>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7" name="Object 146" hidden="1"/>
          <p:cNvGraphicFramePr>
            <a:graphicFrameLocks noChangeAspect="1"/>
          </p:cNvGraphicFramePr>
          <p:nvPr>
            <p:custDataLst>
              <p:tags r:id="rId1"/>
            </p:custDataLst>
            <p:extLst>
              <p:ext uri="{D42A27DB-BD31-4B8C-83A1-F6EECF244321}">
                <p14:modId xmlns:p14="http://schemas.microsoft.com/office/powerpoint/2010/main" val="241714455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147" name="Object 146"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146" name="Rectangle 145"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Foreign Debt Participation in Power Sector | Investments in Power Plants</a:t>
            </a:r>
            <a:endParaRPr lang="en-IN" dirty="0"/>
          </a:p>
        </p:txBody>
      </p:sp>
      <p:graphicFrame>
        <p:nvGraphicFramePr>
          <p:cNvPr id="38" name="Table 37"/>
          <p:cNvGraphicFramePr>
            <a:graphicFrameLocks noGrp="1"/>
          </p:cNvGraphicFramePr>
          <p:nvPr>
            <p:custDataLst>
              <p:tags r:id="rId3"/>
            </p:custDataLst>
            <p:extLst>
              <p:ext uri="{D42A27DB-BD31-4B8C-83A1-F6EECF244321}">
                <p14:modId xmlns:p14="http://schemas.microsoft.com/office/powerpoint/2010/main" val="3075192724"/>
              </p:ext>
            </p:extLst>
          </p:nvPr>
        </p:nvGraphicFramePr>
        <p:xfrm>
          <a:off x="449992" y="1961919"/>
          <a:ext cx="9790971" cy="763318"/>
        </p:xfrm>
        <a:graphic>
          <a:graphicData uri="http://schemas.openxmlformats.org/drawingml/2006/table">
            <a:tbl>
              <a:tblPr firstRow="1" bandRow="1">
                <a:tableStyleId>{5C22544A-7EE6-4342-B048-85BDC9FD1C3A}</a:tableStyleId>
              </a:tblPr>
              <a:tblGrid>
                <a:gridCol w="9790971">
                  <a:extLst>
                    <a:ext uri="{9D8B030D-6E8A-4147-A177-3AD203B41FA5}">
                      <a16:colId xmlns:a16="http://schemas.microsoft.com/office/drawing/2014/main" val="20000"/>
                    </a:ext>
                  </a:extLst>
                </a:gridCol>
              </a:tblGrid>
              <a:tr h="393336">
                <a:tc>
                  <a:txBody>
                    <a:bodyPr/>
                    <a:lstStyle/>
                    <a:p>
                      <a:pPr marL="0" marR="0" lvl="0" indent="0" algn="just" defTabSz="990571" rtl="0" eaLnBrk="1" fontAlgn="auto" latinLnBrk="0" hangingPunct="1">
                        <a:lnSpc>
                          <a:spcPct val="100000"/>
                        </a:lnSpc>
                        <a:spcBef>
                          <a:spcPts val="600"/>
                        </a:spcBef>
                        <a:spcAft>
                          <a:spcPts val="600"/>
                        </a:spcAft>
                        <a:buClrTx/>
                        <a:buSzTx/>
                        <a:buFont typeface="Arial" panose="020B0604020202020204" pitchFamily="34" charset="0"/>
                        <a:buNone/>
                        <a:tabLst/>
                        <a:defRPr/>
                      </a:pPr>
                      <a:r>
                        <a:rPr kumimoji="0" lang="en-US" sz="1000" b="0" i="0" u="none" strike="noStrike" kern="1200" cap="none" spc="0" normalizeH="0" baseline="0" noProof="0" dirty="0">
                          <a:ln>
                            <a:noFill/>
                          </a:ln>
                          <a:solidFill>
                            <a:prstClr val="black"/>
                          </a:solidFill>
                          <a:effectLst/>
                          <a:uLnTx/>
                          <a:uFillTx/>
                          <a:latin typeface="+mn-lt"/>
                          <a:ea typeface="+mn-ea"/>
                          <a:cs typeface="+mn-cs"/>
                        </a:rPr>
                        <a:t>The following figure highlights the </a:t>
                      </a:r>
                      <a:r>
                        <a:rPr kumimoji="0" lang="en-US" sz="1000" b="1" i="0" u="none" strike="noStrike" kern="1200" cap="none" spc="0" normalizeH="0" baseline="0" noProof="0" dirty="0">
                          <a:ln>
                            <a:noFill/>
                          </a:ln>
                          <a:solidFill>
                            <a:prstClr val="black"/>
                          </a:solidFill>
                          <a:effectLst/>
                          <a:uLnTx/>
                          <a:uFillTx/>
                          <a:latin typeface="+mn-lt"/>
                          <a:ea typeface="+mn-ea"/>
                          <a:cs typeface="+mn-cs"/>
                        </a:rPr>
                        <a:t>major historical power sector investments </a:t>
                      </a:r>
                      <a:r>
                        <a:rPr kumimoji="0" lang="en-US" sz="1000" b="0" i="0" u="none" strike="noStrike" kern="1200" cap="none" spc="0" normalizeH="0" baseline="0" noProof="0" dirty="0">
                          <a:ln>
                            <a:noFill/>
                          </a:ln>
                          <a:solidFill>
                            <a:prstClr val="black"/>
                          </a:solidFill>
                          <a:effectLst/>
                          <a:uLnTx/>
                          <a:uFillTx/>
                          <a:latin typeface="+mn-lt"/>
                          <a:ea typeface="+mn-ea"/>
                          <a:cs typeface="+mn-cs"/>
                        </a:rPr>
                        <a:t>with regards to </a:t>
                      </a:r>
                      <a:r>
                        <a:rPr kumimoji="0" lang="en-US" sz="1000" b="1" i="0" u="none" strike="noStrike" kern="1200" cap="none" spc="0" normalizeH="0" baseline="0" noProof="0" dirty="0">
                          <a:ln>
                            <a:noFill/>
                          </a:ln>
                          <a:solidFill>
                            <a:prstClr val="black"/>
                          </a:solidFill>
                          <a:effectLst/>
                          <a:uLnTx/>
                          <a:uFillTx/>
                          <a:latin typeface="+mn-lt"/>
                          <a:ea typeface="+mn-ea"/>
                          <a:cs typeface="+mn-cs"/>
                        </a:rPr>
                        <a:t>foreign debt </a:t>
                      </a:r>
                      <a:r>
                        <a:rPr kumimoji="0" lang="en-US" sz="1000" b="0" i="0" u="none" strike="noStrike" kern="1200" cap="none" spc="0" normalizeH="0" baseline="0" noProof="0" dirty="0">
                          <a:ln>
                            <a:noFill/>
                          </a:ln>
                          <a:solidFill>
                            <a:prstClr val="black"/>
                          </a:solidFill>
                          <a:effectLst/>
                          <a:uLnTx/>
                          <a:uFillTx/>
                          <a:latin typeface="+mn-lt"/>
                          <a:ea typeface="+mn-ea"/>
                          <a:cs typeface="+mn-cs"/>
                        </a:rPr>
                        <a:t>investment in generation projects over the years</a:t>
                      </a:r>
                      <a:endParaRPr kumimoji="0" lang="en-IN" sz="1000" b="0" i="0" u="none" strike="noStrike" kern="1200" cap="none" spc="0" normalizeH="0" baseline="0" noProof="0" dirty="0">
                        <a:ln>
                          <a:noFill/>
                        </a:ln>
                        <a:solidFill>
                          <a:prstClr val="black"/>
                        </a:solidFill>
                        <a:effectLst/>
                        <a:uLnTx/>
                        <a:uFillTx/>
                        <a:latin typeface="+mn-lt"/>
                        <a:ea typeface="+mn-ea"/>
                        <a:cs typeface="+mn-cs"/>
                      </a:endParaRPr>
                    </a:p>
                    <a:p>
                      <a:pPr marL="0" indent="0" algn="just">
                        <a:spcBef>
                          <a:spcPts val="600"/>
                        </a:spcBef>
                        <a:spcAft>
                          <a:spcPts val="600"/>
                        </a:spcAft>
                        <a:buFont typeface="Arial" panose="020B0604020202020204" pitchFamily="34" charset="0"/>
                        <a:buNone/>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cxnSp>
        <p:nvCxnSpPr>
          <p:cNvPr id="4" name="Straight Connector 3"/>
          <p:cNvCxnSpPr>
            <a:cxnSpLocks/>
          </p:cNvCxnSpPr>
          <p:nvPr/>
        </p:nvCxnSpPr>
        <p:spPr>
          <a:xfrm>
            <a:off x="529800" y="5130830"/>
            <a:ext cx="957624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7" name="Straight Connector 6"/>
          <p:cNvCxnSpPr>
            <a:stCxn id="6" idx="0"/>
            <a:endCxn id="50" idx="2"/>
          </p:cNvCxnSpPr>
          <p:nvPr/>
        </p:nvCxnSpPr>
        <p:spPr>
          <a:xfrm flipV="1">
            <a:off x="1047989" y="3983588"/>
            <a:ext cx="0" cy="1079127"/>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50" name="TextBox 49"/>
          <p:cNvSpPr txBox="1"/>
          <p:nvPr/>
        </p:nvSpPr>
        <p:spPr>
          <a:xfrm>
            <a:off x="603519" y="3614256"/>
            <a:ext cx="888940" cy="36933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effectLst/>
                <a:uLnTx/>
                <a:uFillTx/>
                <a:latin typeface="Verdana"/>
                <a:ea typeface="+mn-ea"/>
                <a:cs typeface="+mn-cs"/>
              </a:rPr>
              <a:t>KPCL 110 MW Commissioned (IFC)</a:t>
            </a:r>
            <a:endParaRPr kumimoji="0" lang="en-IN" sz="800" b="1" i="0" u="none" strike="noStrike" kern="1200" cap="none" spc="0" normalizeH="0" baseline="0" noProof="0" dirty="0">
              <a:ln>
                <a:noFill/>
              </a:ln>
              <a:effectLst/>
              <a:uLnTx/>
              <a:uFillTx/>
              <a:latin typeface="Verdana"/>
              <a:ea typeface="+mn-ea"/>
              <a:cs typeface="+mn-cs"/>
            </a:endParaRPr>
          </a:p>
        </p:txBody>
      </p:sp>
      <p:sp>
        <p:nvSpPr>
          <p:cNvPr id="61" name="TextBox 60"/>
          <p:cNvSpPr txBox="1"/>
          <p:nvPr/>
        </p:nvSpPr>
        <p:spPr>
          <a:xfrm>
            <a:off x="1166816" y="6019856"/>
            <a:ext cx="1620451"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effectLst/>
                <a:uLnTx/>
                <a:uFillTx/>
                <a:latin typeface="Verdana"/>
                <a:ea typeface="+mn-ea"/>
                <a:cs typeface="+mn-cs"/>
              </a:rPr>
              <a:t>360 MW Haripur Power (IDA)</a:t>
            </a:r>
            <a:endParaRPr kumimoji="0" lang="en-IN" sz="800" b="1" i="0" u="none" strike="noStrike" kern="1200" cap="none" spc="0" normalizeH="0" baseline="0" noProof="0" dirty="0">
              <a:ln>
                <a:noFill/>
              </a:ln>
              <a:effectLst/>
              <a:uLnTx/>
              <a:uFillTx/>
              <a:latin typeface="Verdana"/>
              <a:ea typeface="+mn-ea"/>
              <a:cs typeface="+mn-cs"/>
            </a:endParaRPr>
          </a:p>
        </p:txBody>
      </p:sp>
      <p:cxnSp>
        <p:nvCxnSpPr>
          <p:cNvPr id="65" name="Straight Connector 64"/>
          <p:cNvCxnSpPr>
            <a:endCxn id="61" idx="0"/>
          </p:cNvCxnSpPr>
          <p:nvPr/>
        </p:nvCxnSpPr>
        <p:spPr>
          <a:xfrm flipH="1">
            <a:off x="1977042" y="5206715"/>
            <a:ext cx="2006" cy="813141"/>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a:stCxn id="78" idx="2"/>
            <a:endCxn id="75" idx="0"/>
          </p:cNvCxnSpPr>
          <p:nvPr/>
        </p:nvCxnSpPr>
        <p:spPr>
          <a:xfrm flipH="1">
            <a:off x="4390678" y="4001307"/>
            <a:ext cx="3253" cy="1061408"/>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70" name="TextBox 69"/>
          <p:cNvSpPr txBox="1"/>
          <p:nvPr/>
        </p:nvSpPr>
        <p:spPr>
          <a:xfrm>
            <a:off x="3570155" y="6707345"/>
            <a:ext cx="1112114" cy="36933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effectLst/>
                <a:uLnTx/>
                <a:uFillTx/>
                <a:latin typeface="Verdana"/>
                <a:ea typeface="+mn-ea"/>
                <a:cs typeface="+mn-cs"/>
              </a:rPr>
              <a:t>100 MW Dutch Bangla Power (Mashreq Bank)</a:t>
            </a:r>
            <a:endParaRPr kumimoji="0" lang="en-IN" sz="800" b="1" i="0" u="none" strike="noStrike" kern="1200" cap="none" spc="0" normalizeH="0" baseline="0" noProof="0" dirty="0">
              <a:ln>
                <a:noFill/>
              </a:ln>
              <a:effectLst/>
              <a:uLnTx/>
              <a:uFillTx/>
              <a:latin typeface="Verdana"/>
              <a:ea typeface="+mn-ea"/>
              <a:cs typeface="+mn-cs"/>
            </a:endParaRPr>
          </a:p>
        </p:txBody>
      </p:sp>
      <p:cxnSp>
        <p:nvCxnSpPr>
          <p:cNvPr id="72" name="Straight Connector 71"/>
          <p:cNvCxnSpPr>
            <a:stCxn id="68" idx="0"/>
            <a:endCxn id="73" idx="2"/>
          </p:cNvCxnSpPr>
          <p:nvPr/>
        </p:nvCxnSpPr>
        <p:spPr>
          <a:xfrm flipV="1">
            <a:off x="3859970" y="2653416"/>
            <a:ext cx="265" cy="2409299"/>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73" name="TextBox 72"/>
          <p:cNvSpPr txBox="1"/>
          <p:nvPr/>
        </p:nvSpPr>
        <p:spPr>
          <a:xfrm>
            <a:off x="3078866" y="2407195"/>
            <a:ext cx="1562737"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effectLst/>
                <a:uLnTx/>
                <a:uFillTx/>
                <a:latin typeface="Verdana"/>
                <a:ea typeface="+mn-ea"/>
                <a:cs typeface="+mn-cs"/>
              </a:rPr>
              <a:t>100 MW IEL Consortium (Mashreq Bank)</a:t>
            </a:r>
            <a:endParaRPr kumimoji="0" lang="en-IN" sz="800" b="1" i="0" u="none" strike="noStrike" kern="1200" cap="none" spc="0" normalizeH="0" baseline="0" noProof="0" dirty="0">
              <a:ln>
                <a:noFill/>
              </a:ln>
              <a:effectLst/>
              <a:uLnTx/>
              <a:uFillTx/>
              <a:latin typeface="Verdana"/>
              <a:ea typeface="+mn-ea"/>
              <a:cs typeface="+mn-cs"/>
            </a:endParaRPr>
          </a:p>
        </p:txBody>
      </p:sp>
      <p:sp>
        <p:nvSpPr>
          <p:cNvPr id="78" name="TextBox 77"/>
          <p:cNvSpPr txBox="1"/>
          <p:nvPr/>
        </p:nvSpPr>
        <p:spPr>
          <a:xfrm>
            <a:off x="3932653" y="3536377"/>
            <a:ext cx="922555" cy="464930"/>
          </a:xfrm>
          <a:prstGeom prst="rect">
            <a:avLst/>
          </a:prstGeom>
          <a:noFill/>
        </p:spPr>
        <p:txBody>
          <a:bodyPr wrap="square" lIns="0" tIns="0" rIns="0" bIns="0" rtlCol="0">
            <a:no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effectLst/>
                <a:uLnTx/>
                <a:uFillTx/>
                <a:latin typeface="Verdana"/>
                <a:ea typeface="+mn-ea"/>
                <a:cs typeface="+mn-cs"/>
              </a:rPr>
              <a:t>115 MW KPCL Unit 2(DEG &amp; FMO)</a:t>
            </a:r>
            <a:endParaRPr kumimoji="0" lang="en-IN" sz="800" b="1" i="0" u="none" strike="noStrike" kern="1200" cap="none" spc="0" normalizeH="0" baseline="0" noProof="0" dirty="0">
              <a:ln>
                <a:noFill/>
              </a:ln>
              <a:effectLst/>
              <a:uLnTx/>
              <a:uFillTx/>
              <a:latin typeface="Verdana"/>
              <a:ea typeface="+mn-ea"/>
              <a:cs typeface="+mn-cs"/>
            </a:endParaRPr>
          </a:p>
        </p:txBody>
      </p:sp>
      <p:cxnSp>
        <p:nvCxnSpPr>
          <p:cNvPr id="80" name="Straight Connector 79"/>
          <p:cNvCxnSpPr>
            <a:stCxn id="71" idx="4"/>
            <a:endCxn id="70" idx="0"/>
          </p:cNvCxnSpPr>
          <p:nvPr/>
        </p:nvCxnSpPr>
        <p:spPr>
          <a:xfrm>
            <a:off x="4125324" y="5206715"/>
            <a:ext cx="888" cy="150063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81" name="TextBox 80"/>
          <p:cNvSpPr txBox="1"/>
          <p:nvPr/>
        </p:nvSpPr>
        <p:spPr>
          <a:xfrm>
            <a:off x="4170589" y="5948034"/>
            <a:ext cx="970405" cy="4924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effectLst/>
                <a:uLnTx/>
                <a:uFillTx/>
                <a:latin typeface="Verdana"/>
                <a:ea typeface="+mn-ea"/>
                <a:cs typeface="+mn-cs"/>
              </a:rPr>
              <a:t>40 MW Khanjahan Ali (Standard Chartered)</a:t>
            </a:r>
            <a:endParaRPr kumimoji="0" lang="en-IN" sz="800" b="1" i="0" u="none" strike="noStrike" kern="1200" cap="none" spc="0" normalizeH="0" baseline="0" noProof="0" dirty="0">
              <a:ln>
                <a:noFill/>
              </a:ln>
              <a:effectLst/>
              <a:uLnTx/>
              <a:uFillTx/>
              <a:latin typeface="Verdana"/>
              <a:ea typeface="+mn-ea"/>
              <a:cs typeface="+mn-cs"/>
            </a:endParaRPr>
          </a:p>
        </p:txBody>
      </p:sp>
      <p:sp>
        <p:nvSpPr>
          <p:cNvPr id="84" name="TextBox 83"/>
          <p:cNvSpPr txBox="1"/>
          <p:nvPr/>
        </p:nvSpPr>
        <p:spPr>
          <a:xfrm>
            <a:off x="4331032" y="2843410"/>
            <a:ext cx="1178418" cy="36933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effectLst/>
                <a:uLnTx/>
                <a:uFillTx/>
                <a:latin typeface="Verdana"/>
                <a:ea typeface="+mn-ea"/>
                <a:cs typeface="+mn-cs"/>
              </a:rPr>
              <a:t>53 MW United Ashuganj (Standard Chartered)</a:t>
            </a:r>
            <a:endParaRPr kumimoji="0" lang="en-IN" sz="800" b="1" i="0" u="none" strike="noStrike" kern="1200" cap="none" spc="0" normalizeH="0" baseline="0" noProof="0" dirty="0">
              <a:ln>
                <a:noFill/>
              </a:ln>
              <a:effectLst/>
              <a:uLnTx/>
              <a:uFillTx/>
              <a:latin typeface="Verdana"/>
              <a:ea typeface="+mn-ea"/>
              <a:cs typeface="+mn-cs"/>
            </a:endParaRPr>
          </a:p>
        </p:txBody>
      </p:sp>
      <p:cxnSp>
        <p:nvCxnSpPr>
          <p:cNvPr id="87" name="Straight Connector 86"/>
          <p:cNvCxnSpPr>
            <a:stCxn id="82" idx="0"/>
            <a:endCxn id="84" idx="2"/>
          </p:cNvCxnSpPr>
          <p:nvPr/>
        </p:nvCxnSpPr>
        <p:spPr>
          <a:xfrm flipH="1" flipV="1">
            <a:off x="4920241" y="3212742"/>
            <a:ext cx="1143" cy="1849973"/>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92" name="TextBox 91"/>
          <p:cNvSpPr txBox="1"/>
          <p:nvPr/>
        </p:nvSpPr>
        <p:spPr>
          <a:xfrm>
            <a:off x="5500401" y="3588496"/>
            <a:ext cx="1148082"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solidFill>
                  <a:srgbClr val="313131"/>
                </a:solidFill>
                <a:effectLst/>
                <a:uLnTx/>
                <a:uFillTx/>
                <a:latin typeface="Verdana"/>
                <a:ea typeface="+mn-ea"/>
                <a:cs typeface="+mn-cs"/>
              </a:rPr>
              <a:t>108 MW Regent Power (IFC)</a:t>
            </a:r>
            <a:endParaRPr kumimoji="0" lang="en-IN" sz="800" b="1" i="0" u="none" strike="noStrike" kern="1200" cap="none" spc="0" normalizeH="0" baseline="0" noProof="0" dirty="0">
              <a:ln>
                <a:noFill/>
              </a:ln>
              <a:solidFill>
                <a:srgbClr val="313131"/>
              </a:solidFill>
              <a:effectLst/>
              <a:uLnTx/>
              <a:uFillTx/>
              <a:latin typeface="Verdana"/>
              <a:ea typeface="+mn-ea"/>
              <a:cs typeface="+mn-cs"/>
            </a:endParaRPr>
          </a:p>
        </p:txBody>
      </p:sp>
      <p:sp>
        <p:nvSpPr>
          <p:cNvPr id="99" name="TextBox 98"/>
          <p:cNvSpPr txBox="1"/>
          <p:nvPr/>
        </p:nvSpPr>
        <p:spPr>
          <a:xfrm>
            <a:off x="5775259" y="5823528"/>
            <a:ext cx="1245111" cy="489392"/>
          </a:xfrm>
          <a:prstGeom prst="rect">
            <a:avLst/>
          </a:prstGeom>
          <a:noFill/>
        </p:spPr>
        <p:txBody>
          <a:bodyPr wrap="square" lIns="0" tIns="0" rIns="0" bIns="0" rtlCol="0">
            <a:no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solidFill>
                  <a:srgbClr val="313131"/>
                </a:solidFill>
                <a:effectLst/>
                <a:uLnTx/>
                <a:uFillTx/>
                <a:latin typeface="Verdana"/>
                <a:ea typeface="+mn-ea"/>
                <a:cs typeface="+mn-cs"/>
              </a:rPr>
              <a:t>52 MW Raj Lanka (Lakdhanvi, NDBIB)</a:t>
            </a:r>
            <a:endParaRPr kumimoji="0" lang="en-IN" sz="800" b="1" i="0" u="none" strike="noStrike" kern="1200" cap="none" spc="0" normalizeH="0" baseline="0" noProof="0" dirty="0">
              <a:ln>
                <a:noFill/>
              </a:ln>
              <a:solidFill>
                <a:srgbClr val="313131"/>
              </a:solidFill>
              <a:effectLst/>
              <a:uLnTx/>
              <a:uFillTx/>
              <a:latin typeface="Verdana"/>
              <a:ea typeface="+mn-ea"/>
              <a:cs typeface="+mn-cs"/>
            </a:endParaRPr>
          </a:p>
        </p:txBody>
      </p:sp>
      <p:cxnSp>
        <p:nvCxnSpPr>
          <p:cNvPr id="101" name="Straight Connector 100"/>
          <p:cNvCxnSpPr>
            <a:stCxn id="179" idx="0"/>
            <a:endCxn id="92" idx="2"/>
          </p:cNvCxnSpPr>
          <p:nvPr/>
        </p:nvCxnSpPr>
        <p:spPr>
          <a:xfrm flipV="1">
            <a:off x="6074442" y="3834717"/>
            <a:ext cx="0" cy="1227998"/>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02" name="TextBox 101"/>
          <p:cNvSpPr txBox="1"/>
          <p:nvPr/>
        </p:nvSpPr>
        <p:spPr>
          <a:xfrm>
            <a:off x="6861389" y="3413219"/>
            <a:ext cx="804972"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solidFill>
                  <a:srgbClr val="313131"/>
                </a:solidFill>
                <a:effectLst/>
                <a:uLnTx/>
                <a:uFillTx/>
                <a:latin typeface="Verdana"/>
                <a:ea typeface="+mn-ea"/>
                <a:cs typeface="+mn-cs"/>
              </a:rPr>
              <a:t>52 MW Lakdhanvi</a:t>
            </a:r>
            <a:endParaRPr kumimoji="0" lang="en-IN" sz="800" b="1" i="0" u="none" strike="noStrike" kern="1200" cap="none" spc="0" normalizeH="0" baseline="0" noProof="0" dirty="0">
              <a:ln>
                <a:noFill/>
              </a:ln>
              <a:solidFill>
                <a:srgbClr val="313131"/>
              </a:solidFill>
              <a:effectLst/>
              <a:uLnTx/>
              <a:uFillTx/>
              <a:latin typeface="Verdana"/>
              <a:ea typeface="+mn-ea"/>
              <a:cs typeface="+mn-cs"/>
            </a:endParaRPr>
          </a:p>
        </p:txBody>
      </p:sp>
      <p:cxnSp>
        <p:nvCxnSpPr>
          <p:cNvPr id="104" name="Straight Connector 103"/>
          <p:cNvCxnSpPr>
            <a:stCxn id="107" idx="2"/>
            <a:endCxn id="100" idx="0"/>
          </p:cNvCxnSpPr>
          <p:nvPr/>
        </p:nvCxnSpPr>
        <p:spPr>
          <a:xfrm>
            <a:off x="7634384" y="3078737"/>
            <a:ext cx="10310" cy="1983978"/>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07" name="TextBox 106"/>
          <p:cNvSpPr txBox="1"/>
          <p:nvPr/>
        </p:nvSpPr>
        <p:spPr>
          <a:xfrm>
            <a:off x="6951327" y="2832516"/>
            <a:ext cx="1366113"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solidFill>
                  <a:srgbClr val="313131"/>
                </a:solidFill>
                <a:effectLst/>
                <a:uLnTx/>
                <a:uFillTx/>
                <a:latin typeface="Verdana"/>
              </a:rPr>
              <a:t>341 MW Summit </a:t>
            </a:r>
            <a:br>
              <a:rPr kumimoji="0" lang="en-US" sz="800" b="1" i="0" u="none" strike="noStrike" kern="1200" cap="none" spc="0" normalizeH="0" baseline="0" noProof="0" dirty="0">
                <a:ln>
                  <a:noFill/>
                </a:ln>
                <a:solidFill>
                  <a:srgbClr val="313131"/>
                </a:solidFill>
                <a:effectLst/>
                <a:uLnTx/>
                <a:uFillTx/>
                <a:latin typeface="Verdana"/>
              </a:rPr>
            </a:br>
            <a:r>
              <a:rPr kumimoji="0" lang="en-US" sz="800" b="1" i="0" u="none" strike="noStrike" kern="1200" cap="none" spc="0" normalizeH="0" baseline="0" noProof="0" dirty="0">
                <a:ln>
                  <a:noFill/>
                </a:ln>
                <a:solidFill>
                  <a:srgbClr val="313131"/>
                </a:solidFill>
                <a:effectLst/>
                <a:uLnTx/>
                <a:uFillTx/>
                <a:latin typeface="Verdana"/>
              </a:rPr>
              <a:t>(ADB, IFC, IsDB</a:t>
            </a:r>
            <a:r>
              <a:rPr lang="en-US" sz="800" b="1" dirty="0">
                <a:solidFill>
                  <a:srgbClr val="313131"/>
                </a:solidFill>
                <a:latin typeface="Verdana"/>
              </a:rPr>
              <a:t>)</a:t>
            </a:r>
            <a:endParaRPr kumimoji="0" lang="en-IN" sz="800" b="1" i="0" u="none" strike="noStrike" kern="1200" cap="none" spc="0" normalizeH="0" baseline="0" noProof="0" dirty="0">
              <a:ln>
                <a:noFill/>
              </a:ln>
              <a:solidFill>
                <a:srgbClr val="313131"/>
              </a:solidFill>
              <a:effectLst/>
              <a:uLnTx/>
              <a:uFillTx/>
              <a:latin typeface="Verdana"/>
            </a:endParaRPr>
          </a:p>
        </p:txBody>
      </p:sp>
      <p:sp>
        <p:nvSpPr>
          <p:cNvPr id="122" name="TextBox 121"/>
          <p:cNvSpPr txBox="1"/>
          <p:nvPr/>
        </p:nvSpPr>
        <p:spPr>
          <a:xfrm>
            <a:off x="7295475" y="6653398"/>
            <a:ext cx="1467021" cy="36933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solidFill>
                  <a:srgbClr val="313131"/>
                </a:solidFill>
                <a:effectLst/>
                <a:uLnTx/>
                <a:uFillTx/>
                <a:latin typeface="Verdana"/>
                <a:ea typeface="+mn-ea"/>
                <a:cs typeface="+mn-cs"/>
              </a:rPr>
              <a:t>195 MW UAEL (Standard Chartered Bank, WB IPFF, DEG, IFC)</a:t>
            </a:r>
            <a:endParaRPr kumimoji="0" lang="en-IN" sz="800" b="1" i="0" u="none" strike="noStrike" kern="1200" cap="none" spc="0" normalizeH="0" baseline="0" noProof="0" dirty="0">
              <a:ln>
                <a:noFill/>
              </a:ln>
              <a:solidFill>
                <a:srgbClr val="313131"/>
              </a:solidFill>
              <a:effectLst/>
              <a:uLnTx/>
              <a:uFillTx/>
              <a:latin typeface="Verdana"/>
              <a:ea typeface="+mn-ea"/>
              <a:cs typeface="+mn-cs"/>
            </a:endParaRPr>
          </a:p>
        </p:txBody>
      </p:sp>
      <p:sp>
        <p:nvSpPr>
          <p:cNvPr id="125" name="TextBox 124"/>
          <p:cNvSpPr txBox="1"/>
          <p:nvPr/>
        </p:nvSpPr>
        <p:spPr>
          <a:xfrm>
            <a:off x="7884642" y="3483328"/>
            <a:ext cx="991216" cy="455619"/>
          </a:xfrm>
          <a:prstGeom prst="rect">
            <a:avLst/>
          </a:prstGeom>
          <a:noFill/>
        </p:spPr>
        <p:txBody>
          <a:bodyPr wrap="square" lIns="0" tIns="0" rIns="0" bIns="0" rtlCol="0">
            <a:no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solidFill>
                  <a:srgbClr val="313131"/>
                </a:solidFill>
                <a:effectLst/>
                <a:uLnTx/>
                <a:uFillTx/>
                <a:latin typeface="Verdana"/>
                <a:ea typeface="+mn-ea"/>
                <a:cs typeface="+mn-cs"/>
              </a:rPr>
              <a:t>Dhaka Northern &amp; Southern Power </a:t>
            </a:r>
            <a:br>
              <a:rPr kumimoji="0" lang="en-US" sz="800" b="1" i="0" u="none" strike="noStrike" kern="1200" cap="none" spc="0" normalizeH="0" baseline="0" noProof="0" dirty="0">
                <a:ln>
                  <a:noFill/>
                </a:ln>
                <a:solidFill>
                  <a:srgbClr val="313131"/>
                </a:solidFill>
                <a:effectLst/>
                <a:uLnTx/>
                <a:uFillTx/>
                <a:latin typeface="Verdana"/>
                <a:ea typeface="+mn-ea"/>
                <a:cs typeface="+mn-cs"/>
              </a:rPr>
            </a:br>
            <a:r>
              <a:rPr kumimoji="0" lang="en-US" sz="800" b="1" i="0" u="none" strike="noStrike" kern="1200" cap="none" spc="0" normalizeH="0" baseline="0" noProof="0" dirty="0">
                <a:ln>
                  <a:noFill/>
                </a:ln>
                <a:solidFill>
                  <a:srgbClr val="313131"/>
                </a:solidFill>
                <a:effectLst/>
                <a:uLnTx/>
                <a:uFillTx/>
                <a:latin typeface="Verdana"/>
                <a:ea typeface="+mn-ea"/>
                <a:cs typeface="+mn-cs"/>
              </a:rPr>
              <a:t>(WB IPFF)</a:t>
            </a:r>
            <a:endParaRPr kumimoji="0" lang="en-IN" sz="800" b="1" i="0" u="none" strike="noStrike" kern="1200" cap="none" spc="0" normalizeH="0" baseline="0" noProof="0" dirty="0">
              <a:ln>
                <a:noFill/>
              </a:ln>
              <a:solidFill>
                <a:srgbClr val="313131"/>
              </a:solidFill>
              <a:effectLst/>
              <a:uLnTx/>
              <a:uFillTx/>
              <a:latin typeface="Verdana"/>
              <a:ea typeface="+mn-ea"/>
              <a:cs typeface="+mn-cs"/>
            </a:endParaRPr>
          </a:p>
        </p:txBody>
      </p:sp>
      <p:cxnSp>
        <p:nvCxnSpPr>
          <p:cNvPr id="127" name="Straight Connector 126"/>
          <p:cNvCxnSpPr>
            <a:stCxn id="97" idx="0"/>
            <a:endCxn id="102" idx="2"/>
          </p:cNvCxnSpPr>
          <p:nvPr/>
        </p:nvCxnSpPr>
        <p:spPr>
          <a:xfrm flipH="1" flipV="1">
            <a:off x="7263875" y="3659440"/>
            <a:ext cx="9415" cy="1403275"/>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a:stCxn id="122" idx="0"/>
            <a:endCxn id="105" idx="4"/>
          </p:cNvCxnSpPr>
          <p:nvPr/>
        </p:nvCxnSpPr>
        <p:spPr>
          <a:xfrm flipH="1" flipV="1">
            <a:off x="8016098" y="5206715"/>
            <a:ext cx="12888" cy="1446683"/>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94" name="TextBox 193"/>
          <p:cNvSpPr txBox="1"/>
          <p:nvPr/>
        </p:nvSpPr>
        <p:spPr>
          <a:xfrm>
            <a:off x="8497385" y="2812485"/>
            <a:ext cx="1586114" cy="36933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solidFill>
                  <a:srgbClr val="313131"/>
                </a:solidFill>
                <a:effectLst/>
                <a:uLnTx/>
                <a:uFillTx/>
                <a:latin typeface="Verdana"/>
                <a:ea typeface="+mn-ea"/>
                <a:cs typeface="+mn-cs"/>
              </a:rPr>
              <a:t>105 MW Orion Rupsha (Mercantile &amp; Mashreq Bank)</a:t>
            </a:r>
            <a:endParaRPr kumimoji="0" lang="en-IN" sz="800" b="1" i="0" u="none" strike="noStrike" kern="1200" cap="none" spc="0" normalizeH="0" baseline="0" noProof="0" dirty="0">
              <a:ln>
                <a:noFill/>
              </a:ln>
              <a:solidFill>
                <a:srgbClr val="313131"/>
              </a:solidFill>
              <a:effectLst/>
              <a:uLnTx/>
              <a:uFillTx/>
              <a:latin typeface="Verdana"/>
              <a:ea typeface="+mn-ea"/>
              <a:cs typeface="+mn-cs"/>
            </a:endParaRPr>
          </a:p>
        </p:txBody>
      </p:sp>
      <p:sp>
        <p:nvSpPr>
          <p:cNvPr id="195" name="TextBox 194"/>
          <p:cNvSpPr txBox="1"/>
          <p:nvPr/>
        </p:nvSpPr>
        <p:spPr>
          <a:xfrm>
            <a:off x="9061709" y="6168063"/>
            <a:ext cx="965158" cy="4924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solidFill>
                  <a:srgbClr val="313131"/>
                </a:solidFill>
                <a:effectLst/>
                <a:uLnTx/>
                <a:uFillTx/>
                <a:latin typeface="Verdana"/>
                <a:ea typeface="+mn-ea"/>
                <a:cs typeface="+mn-cs"/>
              </a:rPr>
              <a:t>282 MW Sembcorp (Clifford, IFC, CDC )</a:t>
            </a:r>
            <a:endParaRPr kumimoji="0" lang="en-IN" sz="800" b="1" i="0" u="none" strike="noStrike" kern="1200" cap="none" spc="0" normalizeH="0" baseline="0" noProof="0" dirty="0">
              <a:ln>
                <a:noFill/>
              </a:ln>
              <a:solidFill>
                <a:srgbClr val="313131"/>
              </a:solidFill>
              <a:effectLst/>
              <a:uLnTx/>
              <a:uFillTx/>
              <a:latin typeface="Verdana"/>
              <a:ea typeface="+mn-ea"/>
              <a:cs typeface="+mn-cs"/>
            </a:endParaRPr>
          </a:p>
        </p:txBody>
      </p:sp>
      <p:sp>
        <p:nvSpPr>
          <p:cNvPr id="196" name="TextBox 195"/>
          <p:cNvSpPr txBox="1"/>
          <p:nvPr/>
        </p:nvSpPr>
        <p:spPr>
          <a:xfrm>
            <a:off x="9364330" y="3372153"/>
            <a:ext cx="846850" cy="4924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solidFill>
                  <a:srgbClr val="313131"/>
                </a:solidFill>
                <a:effectLst/>
                <a:uLnTx/>
                <a:uFillTx/>
                <a:latin typeface="Verdana"/>
                <a:ea typeface="+mn-ea"/>
                <a:cs typeface="+mn-cs"/>
              </a:rPr>
              <a:t>300 MW Kodda (Clifford, Sumitomo)</a:t>
            </a:r>
            <a:endParaRPr kumimoji="0" lang="en-IN" sz="800" b="1" i="0" u="none" strike="noStrike" kern="1200" cap="none" spc="0" normalizeH="0" baseline="0" noProof="0" dirty="0">
              <a:ln>
                <a:noFill/>
              </a:ln>
              <a:solidFill>
                <a:srgbClr val="313131"/>
              </a:solidFill>
              <a:effectLst/>
              <a:uLnTx/>
              <a:uFillTx/>
              <a:latin typeface="Verdana"/>
              <a:ea typeface="+mn-ea"/>
              <a:cs typeface="+mn-cs"/>
            </a:endParaRPr>
          </a:p>
        </p:txBody>
      </p:sp>
      <p:sp>
        <p:nvSpPr>
          <p:cNvPr id="197" name="TextBox 196"/>
          <p:cNvSpPr txBox="1"/>
          <p:nvPr/>
        </p:nvSpPr>
        <p:spPr>
          <a:xfrm>
            <a:off x="9681230" y="6675515"/>
            <a:ext cx="704716" cy="36933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solidFill>
                  <a:srgbClr val="313131"/>
                </a:solidFill>
                <a:effectLst/>
                <a:uLnTx/>
                <a:uFillTx/>
                <a:latin typeface="Verdana"/>
                <a:ea typeface="+mn-ea"/>
                <a:cs typeface="+mn-cs"/>
              </a:rPr>
              <a:t>149 MW Ace Alliance (OFID)</a:t>
            </a:r>
            <a:endParaRPr kumimoji="0" lang="en-IN" sz="800" b="1" i="0" u="none" strike="noStrike" kern="1200" cap="none" spc="0" normalizeH="0" baseline="0" noProof="0" dirty="0">
              <a:ln>
                <a:noFill/>
              </a:ln>
              <a:solidFill>
                <a:srgbClr val="313131"/>
              </a:solidFill>
              <a:effectLst/>
              <a:uLnTx/>
              <a:uFillTx/>
              <a:latin typeface="Verdana"/>
              <a:ea typeface="+mn-ea"/>
              <a:cs typeface="+mn-cs"/>
            </a:endParaRPr>
          </a:p>
        </p:txBody>
      </p:sp>
      <p:cxnSp>
        <p:nvCxnSpPr>
          <p:cNvPr id="199" name="Straight Connector 198"/>
          <p:cNvCxnSpPr>
            <a:stCxn id="120" idx="0"/>
            <a:endCxn id="125" idx="2"/>
          </p:cNvCxnSpPr>
          <p:nvPr/>
        </p:nvCxnSpPr>
        <p:spPr>
          <a:xfrm flipH="1" flipV="1">
            <a:off x="8380250" y="3938947"/>
            <a:ext cx="7253" cy="1123768"/>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5" name="Oval 4"/>
          <p:cNvSpPr>
            <a:spLocks/>
          </p:cNvSpPr>
          <p:nvPr/>
        </p:nvSpPr>
        <p:spPr bwMode="gray">
          <a:xfrm>
            <a:off x="475828" y="4932168"/>
            <a:ext cx="432000" cy="432000"/>
          </a:xfrm>
          <a:prstGeom prst="ellipse">
            <a:avLst/>
          </a:prstGeom>
          <a:solidFill>
            <a:schemeClr val="accent1">
              <a:lumMod val="20000"/>
              <a:lumOff val="80000"/>
            </a:schemeClr>
          </a:solid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700" b="1" i="0" u="none" strike="noStrike" kern="1200" cap="none" spc="0" normalizeH="0" baseline="0" noProof="0" dirty="0">
              <a:ln>
                <a:noFill/>
              </a:ln>
              <a:solidFill>
                <a:prstClr val="black"/>
              </a:solidFill>
              <a:effectLst/>
              <a:uLnTx/>
              <a:uFillTx/>
              <a:latin typeface="Verdana"/>
              <a:ea typeface="+mn-ea"/>
              <a:cs typeface="+mn-cs"/>
            </a:endParaRPr>
          </a:p>
        </p:txBody>
      </p:sp>
      <p:sp>
        <p:nvSpPr>
          <p:cNvPr id="6" name="Oval 5"/>
          <p:cNvSpPr>
            <a:spLocks/>
          </p:cNvSpPr>
          <p:nvPr/>
        </p:nvSpPr>
        <p:spPr bwMode="gray">
          <a:xfrm>
            <a:off x="975989" y="5062715"/>
            <a:ext cx="144000" cy="144000"/>
          </a:xfrm>
          <a:prstGeom prst="ellipse">
            <a:avLst/>
          </a:prstGeom>
          <a:solidFill>
            <a:schemeClr val="accent1">
              <a:lumMod val="20000"/>
              <a:lumOff val="8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26" name="Oval 25"/>
          <p:cNvSpPr>
            <a:spLocks/>
          </p:cNvSpPr>
          <p:nvPr/>
        </p:nvSpPr>
        <p:spPr bwMode="gray">
          <a:xfrm>
            <a:off x="1918536" y="5062715"/>
            <a:ext cx="144000" cy="144000"/>
          </a:xfrm>
          <a:prstGeom prst="ellipse">
            <a:avLst/>
          </a:prstGeom>
          <a:solidFill>
            <a:schemeClr val="accent1">
              <a:lumMod val="60000"/>
              <a:lumOff val="4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59" name="Oval 58"/>
          <p:cNvSpPr>
            <a:spLocks/>
          </p:cNvSpPr>
          <p:nvPr/>
        </p:nvSpPr>
        <p:spPr bwMode="gray">
          <a:xfrm>
            <a:off x="1323917" y="4926584"/>
            <a:ext cx="432000" cy="432000"/>
          </a:xfrm>
          <a:prstGeom prst="ellipse">
            <a:avLst/>
          </a:prstGeom>
          <a:solidFill>
            <a:schemeClr val="accent1">
              <a:lumMod val="60000"/>
              <a:lumOff val="40000"/>
            </a:schemeClr>
          </a:solid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700" b="1" i="0" u="none" strike="noStrike" kern="1200" cap="none" spc="0" normalizeH="0" baseline="0" noProof="0" dirty="0">
              <a:ln>
                <a:noFill/>
              </a:ln>
              <a:solidFill>
                <a:prstClr val="black"/>
              </a:solidFill>
              <a:effectLst/>
              <a:uLnTx/>
              <a:uFillTx/>
              <a:latin typeface="Verdana"/>
              <a:ea typeface="+mn-ea"/>
              <a:cs typeface="+mn-cs"/>
            </a:endParaRPr>
          </a:p>
        </p:txBody>
      </p:sp>
      <p:sp>
        <p:nvSpPr>
          <p:cNvPr id="63" name="Oval 62"/>
          <p:cNvSpPr>
            <a:spLocks/>
          </p:cNvSpPr>
          <p:nvPr/>
        </p:nvSpPr>
        <p:spPr bwMode="gray">
          <a:xfrm>
            <a:off x="2373817" y="4926584"/>
            <a:ext cx="432000" cy="432000"/>
          </a:xfrm>
          <a:prstGeom prst="ellipse">
            <a:avLst/>
          </a:prstGeom>
          <a:solidFill>
            <a:srgbClr val="9AD62E"/>
          </a:solid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700" b="1" i="0" u="none" strike="noStrike" kern="1200" cap="none" spc="0" normalizeH="0" baseline="0" noProof="0" dirty="0">
              <a:ln>
                <a:noFill/>
              </a:ln>
              <a:solidFill>
                <a:prstClr val="black"/>
              </a:solidFill>
              <a:effectLst/>
              <a:uLnTx/>
              <a:uFillTx/>
              <a:latin typeface="Verdana"/>
              <a:ea typeface="+mn-ea"/>
              <a:cs typeface="+mn-cs"/>
            </a:endParaRPr>
          </a:p>
        </p:txBody>
      </p:sp>
      <p:sp>
        <p:nvSpPr>
          <p:cNvPr id="67" name="Oval 66"/>
          <p:cNvSpPr>
            <a:spLocks/>
          </p:cNvSpPr>
          <p:nvPr/>
        </p:nvSpPr>
        <p:spPr bwMode="gray">
          <a:xfrm>
            <a:off x="3065364" y="4926584"/>
            <a:ext cx="432000" cy="432000"/>
          </a:xfrm>
          <a:prstGeom prst="ellipse">
            <a:avLst/>
          </a:prstGeom>
          <a:solidFill>
            <a:schemeClr val="accent1">
              <a:lumMod val="75000"/>
            </a:schemeClr>
          </a:solid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700" b="1" i="0" u="none" strike="noStrike" kern="1200" cap="none" spc="0" normalizeH="0" baseline="0" noProof="0" dirty="0">
              <a:ln>
                <a:noFill/>
              </a:ln>
              <a:solidFill>
                <a:prstClr val="white"/>
              </a:solidFill>
              <a:effectLst/>
              <a:uLnTx/>
              <a:uFillTx/>
              <a:latin typeface="Verdana"/>
              <a:ea typeface="+mn-ea"/>
              <a:cs typeface="+mn-cs"/>
            </a:endParaRPr>
          </a:p>
        </p:txBody>
      </p:sp>
      <p:sp>
        <p:nvSpPr>
          <p:cNvPr id="68" name="Oval 67"/>
          <p:cNvSpPr>
            <a:spLocks/>
          </p:cNvSpPr>
          <p:nvPr/>
        </p:nvSpPr>
        <p:spPr bwMode="gray">
          <a:xfrm>
            <a:off x="3787970" y="5062715"/>
            <a:ext cx="144000" cy="144000"/>
          </a:xfrm>
          <a:prstGeom prst="ellipse">
            <a:avLst/>
          </a:prstGeom>
          <a:solidFill>
            <a:schemeClr val="accent1">
              <a:lumMod val="75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71" name="Oval 70"/>
          <p:cNvSpPr>
            <a:spLocks/>
          </p:cNvSpPr>
          <p:nvPr/>
        </p:nvSpPr>
        <p:spPr bwMode="gray">
          <a:xfrm>
            <a:off x="4053324" y="5062715"/>
            <a:ext cx="144000" cy="144000"/>
          </a:xfrm>
          <a:prstGeom prst="ellipse">
            <a:avLst/>
          </a:prstGeom>
          <a:solidFill>
            <a:schemeClr val="accent1">
              <a:lumMod val="75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75" name="Oval 74"/>
          <p:cNvSpPr>
            <a:spLocks/>
          </p:cNvSpPr>
          <p:nvPr/>
        </p:nvSpPr>
        <p:spPr bwMode="gray">
          <a:xfrm>
            <a:off x="4318678" y="5062715"/>
            <a:ext cx="144000" cy="144000"/>
          </a:xfrm>
          <a:prstGeom prst="ellipse">
            <a:avLst/>
          </a:prstGeom>
          <a:solidFill>
            <a:schemeClr val="accent1">
              <a:lumMod val="75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79" name="Oval 78"/>
          <p:cNvSpPr>
            <a:spLocks/>
          </p:cNvSpPr>
          <p:nvPr/>
        </p:nvSpPr>
        <p:spPr bwMode="gray">
          <a:xfrm>
            <a:off x="4584032" y="5062715"/>
            <a:ext cx="144000" cy="144000"/>
          </a:xfrm>
          <a:prstGeom prst="ellipse">
            <a:avLst/>
          </a:prstGeom>
          <a:solidFill>
            <a:schemeClr val="accent1">
              <a:lumMod val="75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82" name="Oval 81"/>
          <p:cNvSpPr>
            <a:spLocks/>
          </p:cNvSpPr>
          <p:nvPr/>
        </p:nvSpPr>
        <p:spPr bwMode="gray">
          <a:xfrm>
            <a:off x="4849384" y="5062715"/>
            <a:ext cx="144000" cy="144000"/>
          </a:xfrm>
          <a:prstGeom prst="ellipse">
            <a:avLst/>
          </a:prstGeom>
          <a:solidFill>
            <a:schemeClr val="accent1">
              <a:lumMod val="75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89" name="Oval 88"/>
          <p:cNvSpPr>
            <a:spLocks/>
          </p:cNvSpPr>
          <p:nvPr/>
        </p:nvSpPr>
        <p:spPr bwMode="gray">
          <a:xfrm>
            <a:off x="5287885" y="4926584"/>
            <a:ext cx="432000" cy="432000"/>
          </a:xfrm>
          <a:prstGeom prst="ellipse">
            <a:avLst/>
          </a:prstGeom>
          <a:solidFill>
            <a:schemeClr val="accent2">
              <a:lumMod val="50000"/>
            </a:schemeClr>
          </a:solid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700" b="1" i="0" u="none" strike="noStrike" kern="1200" cap="none" spc="0" normalizeH="0" baseline="0" noProof="0" dirty="0">
              <a:ln>
                <a:noFill/>
              </a:ln>
              <a:solidFill>
                <a:prstClr val="white"/>
              </a:solidFill>
              <a:effectLst/>
              <a:uLnTx/>
              <a:uFillTx/>
              <a:latin typeface="Verdana"/>
              <a:ea typeface="+mn-ea"/>
              <a:cs typeface="+mn-cs"/>
            </a:endParaRPr>
          </a:p>
        </p:txBody>
      </p:sp>
      <p:sp>
        <p:nvSpPr>
          <p:cNvPr id="90" name="Oval 89"/>
          <p:cNvSpPr>
            <a:spLocks/>
          </p:cNvSpPr>
          <p:nvPr/>
        </p:nvSpPr>
        <p:spPr bwMode="gray">
          <a:xfrm>
            <a:off x="6247147" y="5062715"/>
            <a:ext cx="144000" cy="144000"/>
          </a:xfrm>
          <a:prstGeom prst="ellipse">
            <a:avLst/>
          </a:prstGeom>
          <a:solidFill>
            <a:schemeClr val="accent2">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93" name="Oval 92"/>
          <p:cNvSpPr>
            <a:spLocks/>
          </p:cNvSpPr>
          <p:nvPr/>
        </p:nvSpPr>
        <p:spPr bwMode="gray">
          <a:xfrm>
            <a:off x="6724932" y="4926584"/>
            <a:ext cx="432000" cy="432000"/>
          </a:xfrm>
          <a:prstGeom prst="ellipse">
            <a:avLst/>
          </a:prstGeom>
          <a:solidFill>
            <a:schemeClr val="accent4">
              <a:lumMod val="50000"/>
            </a:schemeClr>
          </a:solid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700" b="1" i="0" u="none" strike="noStrike" kern="1200" cap="none" spc="0" normalizeH="0" baseline="0" noProof="0" dirty="0">
              <a:ln>
                <a:noFill/>
              </a:ln>
              <a:solidFill>
                <a:prstClr val="white"/>
              </a:solidFill>
              <a:effectLst/>
              <a:uLnTx/>
              <a:uFillTx/>
              <a:latin typeface="Verdana"/>
              <a:ea typeface="+mn-ea"/>
              <a:cs typeface="+mn-cs"/>
            </a:endParaRPr>
          </a:p>
        </p:txBody>
      </p:sp>
      <p:sp>
        <p:nvSpPr>
          <p:cNvPr id="97" name="Oval 96"/>
          <p:cNvSpPr>
            <a:spLocks/>
          </p:cNvSpPr>
          <p:nvPr/>
        </p:nvSpPr>
        <p:spPr bwMode="gray">
          <a:xfrm>
            <a:off x="7201290" y="5062715"/>
            <a:ext cx="144000" cy="144000"/>
          </a:xfrm>
          <a:prstGeom prst="ellipse">
            <a:avLst/>
          </a:prstGeom>
          <a:solidFill>
            <a:schemeClr val="accent4">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0" name="Oval 99"/>
          <p:cNvSpPr>
            <a:spLocks/>
          </p:cNvSpPr>
          <p:nvPr/>
        </p:nvSpPr>
        <p:spPr bwMode="gray">
          <a:xfrm>
            <a:off x="7572694" y="5062715"/>
            <a:ext cx="144000" cy="144000"/>
          </a:xfrm>
          <a:prstGeom prst="ellipse">
            <a:avLst/>
          </a:prstGeom>
          <a:solidFill>
            <a:schemeClr val="accent4">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white"/>
              </a:solidFill>
              <a:effectLst/>
              <a:uLnTx/>
              <a:uFillTx/>
              <a:latin typeface="Verdana"/>
              <a:ea typeface="+mn-ea"/>
              <a:cs typeface="+mn-cs"/>
            </a:endParaRPr>
          </a:p>
        </p:txBody>
      </p:sp>
      <p:sp>
        <p:nvSpPr>
          <p:cNvPr id="105" name="Oval 104"/>
          <p:cNvSpPr>
            <a:spLocks/>
          </p:cNvSpPr>
          <p:nvPr/>
        </p:nvSpPr>
        <p:spPr bwMode="gray">
          <a:xfrm>
            <a:off x="7944098" y="5062715"/>
            <a:ext cx="144000" cy="144000"/>
          </a:xfrm>
          <a:prstGeom prst="ellipse">
            <a:avLst/>
          </a:prstGeom>
          <a:solidFill>
            <a:schemeClr val="accent3">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120" name="Oval 119"/>
          <p:cNvSpPr>
            <a:spLocks/>
          </p:cNvSpPr>
          <p:nvPr/>
        </p:nvSpPr>
        <p:spPr bwMode="gray">
          <a:xfrm>
            <a:off x="8315503" y="5062715"/>
            <a:ext cx="144000" cy="144000"/>
          </a:xfrm>
          <a:prstGeom prst="ellipse">
            <a:avLst/>
          </a:prstGeom>
          <a:solidFill>
            <a:schemeClr val="accent3">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130" name="Oval 129"/>
          <p:cNvSpPr>
            <a:spLocks/>
          </p:cNvSpPr>
          <p:nvPr/>
        </p:nvSpPr>
        <p:spPr bwMode="gray">
          <a:xfrm>
            <a:off x="9716802" y="5062715"/>
            <a:ext cx="144000" cy="144000"/>
          </a:xfrm>
          <a:prstGeom prst="ellipse">
            <a:avLst/>
          </a:prstGeom>
          <a:solidFill>
            <a:srgbClr val="50AEE2"/>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153" name="Oval 152"/>
          <p:cNvSpPr>
            <a:spLocks/>
          </p:cNvSpPr>
          <p:nvPr/>
        </p:nvSpPr>
        <p:spPr bwMode="gray">
          <a:xfrm>
            <a:off x="8506330" y="4926584"/>
            <a:ext cx="432000" cy="432000"/>
          </a:xfrm>
          <a:prstGeom prst="ellipse">
            <a:avLst/>
          </a:prstGeom>
          <a:solidFill>
            <a:schemeClr val="accent3">
              <a:lumMod val="75000"/>
            </a:schemeClr>
          </a:solid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700" b="1" i="0" u="none" strike="noStrike" kern="1200" cap="none" spc="0" normalizeH="0" baseline="0" noProof="0" dirty="0">
              <a:ln>
                <a:noFill/>
              </a:ln>
              <a:solidFill>
                <a:prstClr val="black"/>
              </a:solidFill>
              <a:effectLst/>
              <a:uLnTx/>
              <a:uFillTx/>
              <a:latin typeface="Verdana"/>
              <a:ea typeface="+mn-ea"/>
              <a:cs typeface="+mn-cs"/>
            </a:endParaRPr>
          </a:p>
        </p:txBody>
      </p:sp>
      <p:sp>
        <p:nvSpPr>
          <p:cNvPr id="179" name="Oval 178"/>
          <p:cNvSpPr>
            <a:spLocks/>
          </p:cNvSpPr>
          <p:nvPr/>
        </p:nvSpPr>
        <p:spPr bwMode="gray">
          <a:xfrm>
            <a:off x="6002442" y="5062715"/>
            <a:ext cx="144000" cy="144000"/>
          </a:xfrm>
          <a:prstGeom prst="ellipse">
            <a:avLst/>
          </a:prstGeom>
          <a:solidFill>
            <a:schemeClr val="accent2">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white"/>
              </a:solidFill>
              <a:effectLst/>
              <a:uLnTx/>
              <a:uFillTx/>
              <a:latin typeface="Verdana"/>
              <a:ea typeface="+mn-ea"/>
              <a:cs typeface="+mn-cs"/>
            </a:endParaRPr>
          </a:p>
        </p:txBody>
      </p:sp>
      <p:cxnSp>
        <p:nvCxnSpPr>
          <p:cNvPr id="185" name="Straight Connector 184"/>
          <p:cNvCxnSpPr>
            <a:stCxn id="90" idx="4"/>
          </p:cNvCxnSpPr>
          <p:nvPr/>
        </p:nvCxnSpPr>
        <p:spPr>
          <a:xfrm>
            <a:off x="6319147" y="5206715"/>
            <a:ext cx="2032" cy="616676"/>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98" name="Oval 197"/>
          <p:cNvSpPr>
            <a:spLocks/>
          </p:cNvSpPr>
          <p:nvPr/>
        </p:nvSpPr>
        <p:spPr bwMode="gray">
          <a:xfrm>
            <a:off x="9227393" y="5062715"/>
            <a:ext cx="144000" cy="144000"/>
          </a:xfrm>
          <a:prstGeom prst="ellipse">
            <a:avLst/>
          </a:prstGeom>
          <a:solidFill>
            <a:srgbClr val="50AEE2"/>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201" name="Oval 200"/>
          <p:cNvSpPr>
            <a:spLocks/>
          </p:cNvSpPr>
          <p:nvPr/>
        </p:nvSpPr>
        <p:spPr bwMode="gray">
          <a:xfrm>
            <a:off x="9472097" y="5062715"/>
            <a:ext cx="144000" cy="144000"/>
          </a:xfrm>
          <a:prstGeom prst="ellipse">
            <a:avLst/>
          </a:prstGeom>
          <a:solidFill>
            <a:srgbClr val="50AEE2"/>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205" name="Oval 204"/>
          <p:cNvSpPr>
            <a:spLocks/>
          </p:cNvSpPr>
          <p:nvPr/>
        </p:nvSpPr>
        <p:spPr bwMode="gray">
          <a:xfrm>
            <a:off x="9961521" y="5062715"/>
            <a:ext cx="144000" cy="144000"/>
          </a:xfrm>
          <a:prstGeom prst="ellipse">
            <a:avLst/>
          </a:prstGeom>
          <a:solidFill>
            <a:srgbClr val="50AEE2"/>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cxnSp>
        <p:nvCxnSpPr>
          <p:cNvPr id="206" name="Straight Connector 205"/>
          <p:cNvCxnSpPr>
            <a:stCxn id="205" idx="4"/>
            <a:endCxn id="197" idx="0"/>
          </p:cNvCxnSpPr>
          <p:nvPr/>
        </p:nvCxnSpPr>
        <p:spPr>
          <a:xfrm>
            <a:off x="10033521" y="5206715"/>
            <a:ext cx="67" cy="146880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a:cxnSpLocks/>
            <a:stCxn id="130" idx="0"/>
            <a:endCxn id="196" idx="2"/>
          </p:cNvCxnSpPr>
          <p:nvPr/>
        </p:nvCxnSpPr>
        <p:spPr>
          <a:xfrm flipH="1" flipV="1">
            <a:off x="9787755" y="3864596"/>
            <a:ext cx="1047" cy="1198119"/>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a:stCxn id="195" idx="0"/>
            <a:endCxn id="201" idx="4"/>
          </p:cNvCxnSpPr>
          <p:nvPr/>
        </p:nvCxnSpPr>
        <p:spPr>
          <a:xfrm flipH="1" flipV="1">
            <a:off x="9544097" y="5206715"/>
            <a:ext cx="191" cy="961348"/>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a:stCxn id="198" idx="0"/>
            <a:endCxn id="194" idx="2"/>
          </p:cNvCxnSpPr>
          <p:nvPr/>
        </p:nvCxnSpPr>
        <p:spPr>
          <a:xfrm flipH="1" flipV="1">
            <a:off x="9290442" y="3181817"/>
            <a:ext cx="8951" cy="1880898"/>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a:stCxn id="79" idx="4"/>
            <a:endCxn id="81" idx="0"/>
          </p:cNvCxnSpPr>
          <p:nvPr/>
        </p:nvCxnSpPr>
        <p:spPr>
          <a:xfrm flipH="1">
            <a:off x="4655792" y="5206715"/>
            <a:ext cx="240" cy="741319"/>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62" name="TextBox 161"/>
          <p:cNvSpPr txBox="1"/>
          <p:nvPr/>
        </p:nvSpPr>
        <p:spPr>
          <a:xfrm rot="16200000">
            <a:off x="76939" y="5961764"/>
            <a:ext cx="1204672" cy="161583"/>
          </a:xfrm>
          <a:prstGeom prst="rect">
            <a:avLst/>
          </a:prstGeom>
          <a:noFill/>
        </p:spPr>
        <p:txBody>
          <a:bodyPr wrap="square" lIns="0" tIns="0" rIns="0" bIns="0" rtlCol="0" anchor="ctr">
            <a:spAutoFit/>
          </a:bodyPr>
          <a:lstStyle/>
          <a:p>
            <a:pPr algn="r">
              <a:spcBef>
                <a:spcPts val="600"/>
              </a:spcBef>
              <a:buSzPct val="100000"/>
            </a:pPr>
            <a:r>
              <a:rPr lang="en-GB" sz="1050" b="1" dirty="0"/>
              <a:t>1999</a:t>
            </a:r>
            <a:endParaRPr lang="en-GB" sz="500" dirty="0"/>
          </a:p>
        </p:txBody>
      </p:sp>
      <p:sp>
        <p:nvSpPr>
          <p:cNvPr id="166" name="TextBox 165"/>
          <p:cNvSpPr txBox="1"/>
          <p:nvPr/>
        </p:nvSpPr>
        <p:spPr>
          <a:xfrm rot="16200000">
            <a:off x="941052" y="5961763"/>
            <a:ext cx="1204672" cy="161583"/>
          </a:xfrm>
          <a:prstGeom prst="rect">
            <a:avLst/>
          </a:prstGeom>
          <a:noFill/>
        </p:spPr>
        <p:txBody>
          <a:bodyPr wrap="square" lIns="0" tIns="0" rIns="0" bIns="0" rtlCol="0">
            <a:spAutoFit/>
          </a:bodyPr>
          <a:lstStyle/>
          <a:p>
            <a:pPr algn="r">
              <a:spcBef>
                <a:spcPts val="600"/>
              </a:spcBef>
              <a:buSzPct val="100000"/>
            </a:pPr>
            <a:r>
              <a:rPr lang="en-GB" sz="1050" b="1" dirty="0"/>
              <a:t>2002</a:t>
            </a:r>
            <a:endParaRPr lang="en-GB" sz="500" dirty="0"/>
          </a:p>
        </p:txBody>
      </p:sp>
      <p:sp>
        <p:nvSpPr>
          <p:cNvPr id="167" name="TextBox 166"/>
          <p:cNvSpPr txBox="1"/>
          <p:nvPr/>
        </p:nvSpPr>
        <p:spPr>
          <a:xfrm rot="16200000">
            <a:off x="1987482" y="4986766"/>
            <a:ext cx="1204672" cy="161583"/>
          </a:xfrm>
          <a:prstGeom prst="rect">
            <a:avLst/>
          </a:prstGeom>
          <a:noFill/>
        </p:spPr>
        <p:txBody>
          <a:bodyPr wrap="square" lIns="0" tIns="0" rIns="0" bIns="0" rtlCol="0">
            <a:spAutoFit/>
          </a:bodyPr>
          <a:lstStyle/>
          <a:p>
            <a:pPr algn="r">
              <a:spcBef>
                <a:spcPts val="600"/>
              </a:spcBef>
              <a:buSzPct val="100000"/>
            </a:pPr>
            <a:r>
              <a:rPr lang="en-GB" sz="1050" b="1" dirty="0"/>
              <a:t>2011</a:t>
            </a:r>
            <a:endParaRPr lang="en-GB" sz="500" dirty="0"/>
          </a:p>
        </p:txBody>
      </p:sp>
      <p:sp>
        <p:nvSpPr>
          <p:cNvPr id="168" name="TextBox 167"/>
          <p:cNvSpPr txBox="1"/>
          <p:nvPr/>
        </p:nvSpPr>
        <p:spPr>
          <a:xfrm rot="16200000">
            <a:off x="2675631" y="5961763"/>
            <a:ext cx="1204672" cy="161583"/>
          </a:xfrm>
          <a:prstGeom prst="rect">
            <a:avLst/>
          </a:prstGeom>
          <a:noFill/>
        </p:spPr>
        <p:txBody>
          <a:bodyPr wrap="square" lIns="0" tIns="0" rIns="0" bIns="0" rtlCol="0">
            <a:spAutoFit/>
          </a:bodyPr>
          <a:lstStyle/>
          <a:p>
            <a:pPr algn="r">
              <a:spcBef>
                <a:spcPts val="600"/>
              </a:spcBef>
              <a:buSzPct val="100000"/>
            </a:pPr>
            <a:r>
              <a:rPr lang="en-GB" sz="1050" b="1" dirty="0"/>
              <a:t>2012</a:t>
            </a:r>
            <a:endParaRPr lang="en-GB" sz="500" dirty="0"/>
          </a:p>
        </p:txBody>
      </p:sp>
      <p:sp>
        <p:nvSpPr>
          <p:cNvPr id="171" name="TextBox 170"/>
          <p:cNvSpPr txBox="1"/>
          <p:nvPr/>
        </p:nvSpPr>
        <p:spPr>
          <a:xfrm rot="16200000">
            <a:off x="4906720" y="5958913"/>
            <a:ext cx="1204672" cy="161583"/>
          </a:xfrm>
          <a:prstGeom prst="rect">
            <a:avLst/>
          </a:prstGeom>
          <a:noFill/>
        </p:spPr>
        <p:txBody>
          <a:bodyPr wrap="square" lIns="0" tIns="0" rIns="0" bIns="0" rtlCol="0">
            <a:spAutoFit/>
          </a:bodyPr>
          <a:lstStyle/>
          <a:p>
            <a:pPr algn="r">
              <a:spcBef>
                <a:spcPts val="600"/>
              </a:spcBef>
              <a:buSzPct val="100000"/>
            </a:pPr>
            <a:r>
              <a:rPr lang="en-GB" sz="1050" b="1" dirty="0"/>
              <a:t>2015</a:t>
            </a:r>
            <a:endParaRPr lang="en-GB" sz="500" dirty="0"/>
          </a:p>
        </p:txBody>
      </p:sp>
      <p:sp>
        <p:nvSpPr>
          <p:cNvPr id="172" name="TextBox 171"/>
          <p:cNvSpPr txBox="1"/>
          <p:nvPr/>
        </p:nvSpPr>
        <p:spPr>
          <a:xfrm rot="16200000">
            <a:off x="6319757" y="4988525"/>
            <a:ext cx="1204672" cy="161583"/>
          </a:xfrm>
          <a:prstGeom prst="rect">
            <a:avLst/>
          </a:prstGeom>
          <a:noFill/>
        </p:spPr>
        <p:txBody>
          <a:bodyPr wrap="square" lIns="0" tIns="0" rIns="0" bIns="0" rtlCol="0">
            <a:spAutoFit/>
          </a:bodyPr>
          <a:lstStyle/>
          <a:p>
            <a:pPr algn="r">
              <a:spcBef>
                <a:spcPts val="600"/>
              </a:spcBef>
              <a:buSzPct val="100000"/>
            </a:pPr>
            <a:r>
              <a:rPr lang="en-GB" sz="1050" b="1" dirty="0"/>
              <a:t>2016</a:t>
            </a:r>
            <a:endParaRPr lang="en-GB" sz="500" dirty="0"/>
          </a:p>
        </p:txBody>
      </p:sp>
      <p:sp>
        <p:nvSpPr>
          <p:cNvPr id="173" name="TextBox 172"/>
          <p:cNvSpPr txBox="1"/>
          <p:nvPr/>
        </p:nvSpPr>
        <p:spPr>
          <a:xfrm rot="16200000">
            <a:off x="8114623" y="5958913"/>
            <a:ext cx="1204672" cy="161583"/>
          </a:xfrm>
          <a:prstGeom prst="rect">
            <a:avLst/>
          </a:prstGeom>
          <a:noFill/>
        </p:spPr>
        <p:txBody>
          <a:bodyPr wrap="square" lIns="0" tIns="0" rIns="0" bIns="0" rtlCol="0">
            <a:spAutoFit/>
          </a:bodyPr>
          <a:lstStyle/>
          <a:p>
            <a:pPr algn="r">
              <a:spcBef>
                <a:spcPts val="600"/>
              </a:spcBef>
              <a:buSzPct val="100000"/>
            </a:pPr>
            <a:r>
              <a:rPr lang="en-GB" sz="1050" b="1" dirty="0"/>
              <a:t>2019</a:t>
            </a:r>
            <a:endParaRPr lang="en-GB" sz="500" dirty="0"/>
          </a:p>
        </p:txBody>
      </p:sp>
      <p:sp>
        <p:nvSpPr>
          <p:cNvPr id="176"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dirty="0">
                <a:solidFill>
                  <a:prstClr val="black">
                    <a:lumMod val="50000"/>
                    <a:lumOff val="50000"/>
                  </a:prstClr>
                </a:solidFill>
                <a:latin typeface="Verdana" panose="020B0604030504040204" pitchFamily="34" charset="0"/>
              </a:rPr>
              <a:t>The foreign investments have also witnessed debt participation by Bilateral / Multilateral Donor Organizations, Investment &amp; Commercial Banking Institutions </a:t>
            </a:r>
            <a:endPar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sp>
        <p:nvSpPr>
          <p:cNvPr id="177" name="Rectangle 176"/>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a:lnSpc>
                <a:spcPct val="106000"/>
              </a:lnSpc>
              <a:defRPr/>
            </a:pPr>
            <a:r>
              <a:rPr lang="en-US" sz="700" i="1" dirty="0">
                <a:solidFill>
                  <a:prstClr val="black"/>
                </a:solidFill>
              </a:rPr>
              <a:t>Source: BPDB, Industry Reports, Deloitte Analysis</a:t>
            </a:r>
          </a:p>
        </p:txBody>
      </p:sp>
      <p:sp>
        <p:nvSpPr>
          <p:cNvPr id="95" name="Oval 94"/>
          <p:cNvSpPr>
            <a:spLocks/>
          </p:cNvSpPr>
          <p:nvPr/>
        </p:nvSpPr>
        <p:spPr bwMode="gray">
          <a:xfrm>
            <a:off x="2137650" y="5062714"/>
            <a:ext cx="144000" cy="144000"/>
          </a:xfrm>
          <a:prstGeom prst="ellipse">
            <a:avLst/>
          </a:prstGeom>
          <a:solidFill>
            <a:schemeClr val="accent1">
              <a:lumMod val="60000"/>
              <a:lumOff val="4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cxnSp>
        <p:nvCxnSpPr>
          <p:cNvPr id="98" name="Straight Connector 97"/>
          <p:cNvCxnSpPr>
            <a:stCxn id="106" idx="2"/>
          </p:cNvCxnSpPr>
          <p:nvPr/>
        </p:nvCxnSpPr>
        <p:spPr>
          <a:xfrm>
            <a:off x="2194859" y="3983588"/>
            <a:ext cx="641" cy="1079125"/>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06" name="TextBox 105"/>
          <p:cNvSpPr txBox="1"/>
          <p:nvPr/>
        </p:nvSpPr>
        <p:spPr>
          <a:xfrm>
            <a:off x="1696935" y="3614256"/>
            <a:ext cx="995848" cy="369332"/>
          </a:xfrm>
          <a:prstGeom prst="rect">
            <a:avLst/>
          </a:prstGeom>
          <a:noFill/>
        </p:spPr>
        <p:txBody>
          <a:bodyPr wrap="square" lIns="0" tIns="0" rIns="0" bIns="0" rtlCol="0">
            <a:spAutoFit/>
          </a:bodyPr>
          <a:lstStyle/>
          <a:p>
            <a:pPr lvl="0" algn="ctr">
              <a:spcBef>
                <a:spcPts val="600"/>
              </a:spcBef>
              <a:buSzPct val="100000"/>
              <a:defRPr/>
            </a:pPr>
            <a:r>
              <a:rPr lang="en-US" sz="800" b="1" dirty="0"/>
              <a:t>450 MW Meghnaghat (ADB)</a:t>
            </a:r>
            <a:endParaRPr kumimoji="0" lang="en-IN" sz="800" b="1" i="0" u="none" strike="noStrike" kern="1200" cap="none" spc="0" normalizeH="0" baseline="0" noProof="0" dirty="0">
              <a:ln>
                <a:noFill/>
              </a:ln>
              <a:effectLst/>
              <a:uLnTx/>
              <a:uFillTx/>
              <a:latin typeface="Verdana"/>
              <a:ea typeface="+mn-ea"/>
              <a:cs typeface="+mn-cs"/>
            </a:endParaRPr>
          </a:p>
        </p:txBody>
      </p:sp>
    </p:spTree>
    <p:extLst>
      <p:ext uri="{BB962C8B-B14F-4D97-AF65-F5344CB8AC3E}">
        <p14:creationId xmlns:p14="http://schemas.microsoft.com/office/powerpoint/2010/main" val="3612242727"/>
      </p:ext>
    </p:extLst>
  </p:cSld>
  <p:clrMapOvr>
    <a:masterClrMapping/>
  </p:clrMapOvr>
  <p:transition>
    <p:fade/>
  </p:transition>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259652526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4" name="Object 3"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Foreign Participation in Power Sector | Upcoming Investments</a:t>
            </a:r>
            <a:endParaRPr lang="en-IN" dirty="0"/>
          </a:p>
        </p:txBody>
      </p:sp>
      <p:graphicFrame>
        <p:nvGraphicFramePr>
          <p:cNvPr id="5" name="Table 4"/>
          <p:cNvGraphicFramePr>
            <a:graphicFrameLocks noGrp="1"/>
          </p:cNvGraphicFramePr>
          <p:nvPr>
            <p:custDataLst>
              <p:tags r:id="rId3"/>
            </p:custDataLst>
            <p:extLst>
              <p:ext uri="{D42A27DB-BD31-4B8C-83A1-F6EECF244321}">
                <p14:modId xmlns:p14="http://schemas.microsoft.com/office/powerpoint/2010/main" val="635182218"/>
              </p:ext>
            </p:extLst>
          </p:nvPr>
        </p:nvGraphicFramePr>
        <p:xfrm>
          <a:off x="449992" y="1961919"/>
          <a:ext cx="9790971" cy="458518"/>
        </p:xfrm>
        <a:graphic>
          <a:graphicData uri="http://schemas.openxmlformats.org/drawingml/2006/table">
            <a:tbl>
              <a:tblPr firstRow="1" bandRow="1">
                <a:tableStyleId>{5C22544A-7EE6-4342-B048-85BDC9FD1C3A}</a:tableStyleId>
              </a:tblPr>
              <a:tblGrid>
                <a:gridCol w="9790971">
                  <a:extLst>
                    <a:ext uri="{9D8B030D-6E8A-4147-A177-3AD203B41FA5}">
                      <a16:colId xmlns:a16="http://schemas.microsoft.com/office/drawing/2014/main" val="20000"/>
                    </a:ext>
                  </a:extLst>
                </a:gridCol>
              </a:tblGrid>
              <a:tr h="393336">
                <a:tc>
                  <a:txBody>
                    <a:bodyPr/>
                    <a:lstStyle/>
                    <a:p>
                      <a:pPr marL="0" marR="0" lvl="0" indent="0" algn="just" defTabSz="990571" rtl="0" eaLnBrk="1" fontAlgn="auto" latinLnBrk="0" hangingPunct="1">
                        <a:lnSpc>
                          <a:spcPct val="100000"/>
                        </a:lnSpc>
                        <a:spcBef>
                          <a:spcPts val="600"/>
                        </a:spcBef>
                        <a:spcAft>
                          <a:spcPts val="600"/>
                        </a:spcAft>
                        <a:buClrTx/>
                        <a:buSzTx/>
                        <a:buFont typeface="Arial" panose="020B0604020202020204" pitchFamily="34" charset="0"/>
                        <a:buNone/>
                        <a:tabLst/>
                        <a:defRPr/>
                      </a:pPr>
                      <a:r>
                        <a:rPr kumimoji="0" lang="en-US" sz="1000" b="0" i="0" u="none" strike="noStrike" kern="1200" cap="none" spc="0" normalizeH="0" baseline="0" noProof="0" dirty="0">
                          <a:ln>
                            <a:noFill/>
                          </a:ln>
                          <a:solidFill>
                            <a:prstClr val="black"/>
                          </a:solidFill>
                          <a:effectLst/>
                          <a:uLnTx/>
                          <a:uFillTx/>
                          <a:latin typeface="+mn-lt"/>
                          <a:ea typeface="+mn-ea"/>
                          <a:cs typeface="+mn-cs"/>
                        </a:rPr>
                        <a:t>The following figure highlights the </a:t>
                      </a:r>
                      <a:r>
                        <a:rPr kumimoji="0" lang="en-US" sz="1000" b="1" i="0" u="none" strike="noStrike" kern="1200" cap="none" spc="0" normalizeH="0" baseline="0" noProof="0" dirty="0">
                          <a:ln>
                            <a:noFill/>
                          </a:ln>
                          <a:solidFill>
                            <a:prstClr val="black"/>
                          </a:solidFill>
                          <a:effectLst/>
                          <a:uLnTx/>
                          <a:uFillTx/>
                          <a:latin typeface="+mn-lt"/>
                          <a:ea typeface="+mn-ea"/>
                          <a:cs typeface="+mn-cs"/>
                        </a:rPr>
                        <a:t>major planned / upcoming power sector investments </a:t>
                      </a:r>
                      <a:r>
                        <a:rPr kumimoji="0" lang="en-US" sz="1000" b="0" i="0" u="none" strike="noStrike" kern="1200" cap="none" spc="0" normalizeH="0" baseline="0" noProof="0" dirty="0">
                          <a:ln>
                            <a:noFill/>
                          </a:ln>
                          <a:solidFill>
                            <a:prstClr val="black"/>
                          </a:solidFill>
                          <a:effectLst/>
                          <a:uLnTx/>
                          <a:uFillTx/>
                          <a:latin typeface="+mn-lt"/>
                          <a:ea typeface="+mn-ea"/>
                          <a:cs typeface="+mn-cs"/>
                        </a:rPr>
                        <a:t>with regards to </a:t>
                      </a:r>
                      <a:r>
                        <a:rPr kumimoji="0" lang="en-US" sz="1000" b="1" i="0" u="none" strike="noStrike" kern="1200" cap="none" spc="0" normalizeH="0" baseline="0" noProof="0" dirty="0">
                          <a:ln>
                            <a:noFill/>
                          </a:ln>
                          <a:solidFill>
                            <a:prstClr val="black"/>
                          </a:solidFill>
                          <a:effectLst/>
                          <a:uLnTx/>
                          <a:uFillTx/>
                          <a:latin typeface="+mn-lt"/>
                          <a:ea typeface="+mn-ea"/>
                          <a:cs typeface="+mn-cs"/>
                        </a:rPr>
                        <a:t>foreign debt &amp; equity </a:t>
                      </a:r>
                      <a:r>
                        <a:rPr kumimoji="0" lang="en-US" sz="1000" b="0" i="0" u="none" strike="noStrike" kern="1200" cap="none" spc="0" normalizeH="0" baseline="0" noProof="0" dirty="0">
                          <a:ln>
                            <a:noFill/>
                          </a:ln>
                          <a:solidFill>
                            <a:prstClr val="black"/>
                          </a:solidFill>
                          <a:effectLst/>
                          <a:uLnTx/>
                          <a:uFillTx/>
                          <a:latin typeface="+mn-lt"/>
                          <a:ea typeface="+mn-ea"/>
                          <a:cs typeface="+mn-cs"/>
                        </a:rPr>
                        <a:t>investment based in generation projects</a:t>
                      </a:r>
                      <a:endParaRPr kumimoji="0" lang="en-IN" sz="1000" b="0" i="0" u="none" strike="noStrike" kern="1200" cap="none" spc="0" normalizeH="0" baseline="0" noProof="0" dirty="0">
                        <a:ln>
                          <a:noFill/>
                        </a:ln>
                        <a:solidFill>
                          <a:prstClr val="black"/>
                        </a:solidFill>
                        <a:effectLst/>
                        <a:uLnTx/>
                        <a:uFillTx/>
                        <a:latin typeface="+mn-lt"/>
                        <a:ea typeface="+mn-ea"/>
                        <a:cs typeface="+mn-cs"/>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cxnSp>
        <p:nvCxnSpPr>
          <p:cNvPr id="6" name="Straight Connector 5"/>
          <p:cNvCxnSpPr>
            <a:cxnSpLocks/>
          </p:cNvCxnSpPr>
          <p:nvPr/>
        </p:nvCxnSpPr>
        <p:spPr>
          <a:xfrm>
            <a:off x="529800" y="5051129"/>
            <a:ext cx="957624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sp>
        <p:nvSpPr>
          <p:cNvPr id="7" name="Oval 6"/>
          <p:cNvSpPr>
            <a:spLocks/>
          </p:cNvSpPr>
          <p:nvPr/>
        </p:nvSpPr>
        <p:spPr bwMode="gray">
          <a:xfrm>
            <a:off x="278115" y="4834316"/>
            <a:ext cx="478234" cy="478234"/>
          </a:xfrm>
          <a:prstGeom prst="ellipse">
            <a:avLst/>
          </a:prstGeom>
          <a:solidFill>
            <a:schemeClr val="accent3">
              <a:lumMod val="20000"/>
              <a:lumOff val="8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grpSp>
        <p:nvGrpSpPr>
          <p:cNvPr id="92" name="Group 91"/>
          <p:cNvGrpSpPr/>
          <p:nvPr/>
        </p:nvGrpSpPr>
        <p:grpSpPr>
          <a:xfrm>
            <a:off x="216857" y="4968235"/>
            <a:ext cx="1397233" cy="1885455"/>
            <a:chOff x="193118" y="4979129"/>
            <a:chExt cx="1397233" cy="1885455"/>
          </a:xfrm>
        </p:grpSpPr>
        <p:sp>
          <p:nvSpPr>
            <p:cNvPr id="40" name="Oval 39"/>
            <p:cNvSpPr>
              <a:spLocks/>
            </p:cNvSpPr>
            <p:nvPr/>
          </p:nvSpPr>
          <p:spPr bwMode="gray">
            <a:xfrm>
              <a:off x="795184" y="4979129"/>
              <a:ext cx="144000" cy="144000"/>
            </a:xfrm>
            <a:prstGeom prst="ellipse">
              <a:avLst/>
            </a:prstGeom>
            <a:solidFill>
              <a:schemeClr val="accent1">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cxnSp>
          <p:nvCxnSpPr>
            <p:cNvPr id="87" name="Straight Connector 86"/>
            <p:cNvCxnSpPr/>
            <p:nvPr/>
          </p:nvCxnSpPr>
          <p:spPr>
            <a:xfrm flipH="1" flipV="1">
              <a:off x="853632" y="5123129"/>
              <a:ext cx="13552" cy="1372123"/>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88" name="TextBox 87"/>
            <p:cNvSpPr txBox="1"/>
            <p:nvPr/>
          </p:nvSpPr>
          <p:spPr>
            <a:xfrm>
              <a:off x="193118" y="6495252"/>
              <a:ext cx="1397233" cy="36933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err="1">
                  <a:ln>
                    <a:noFill/>
                  </a:ln>
                  <a:effectLst/>
                  <a:uLnTx/>
                  <a:uFillTx/>
                  <a:latin typeface="Verdana"/>
                  <a:ea typeface="+mn-ea"/>
                  <a:cs typeface="+mn-cs"/>
                </a:rPr>
                <a:t>Siddhirganj</a:t>
              </a:r>
              <a:r>
                <a:rPr kumimoji="0" lang="en-US" sz="800" b="1" i="0" u="none" strike="noStrike" kern="1200" cap="none" spc="0" normalizeH="0" baseline="0" noProof="0" dirty="0">
                  <a:ln>
                    <a:noFill/>
                  </a:ln>
                  <a:effectLst/>
                  <a:uLnTx/>
                  <a:uFillTx/>
                  <a:latin typeface="Verdana"/>
                  <a:ea typeface="+mn-ea"/>
                  <a:cs typeface="+mn-cs"/>
                </a:rPr>
                <a:t> 335 MW CCPP ST</a:t>
              </a:r>
              <a:br>
                <a:rPr kumimoji="0" lang="en-US" sz="800" b="1" i="0" u="none" strike="noStrike" kern="1200" cap="none" spc="0" normalizeH="0" noProof="0" dirty="0">
                  <a:ln>
                    <a:noFill/>
                  </a:ln>
                  <a:effectLst/>
                  <a:uLnTx/>
                  <a:uFillTx/>
                  <a:latin typeface="Verdana"/>
                  <a:ea typeface="+mn-ea"/>
                  <a:cs typeface="+mn-cs"/>
                </a:rPr>
              </a:br>
              <a:r>
                <a:rPr kumimoji="0" lang="en-US" sz="800" b="1" i="0" u="none" strike="noStrike" kern="1200" cap="none" spc="0" normalizeH="0" baseline="0" noProof="0" dirty="0">
                  <a:ln>
                    <a:noFill/>
                  </a:ln>
                  <a:effectLst/>
                  <a:uLnTx/>
                  <a:uFillTx/>
                  <a:latin typeface="Verdana"/>
                  <a:ea typeface="+mn-ea"/>
                  <a:cs typeface="+mn-cs"/>
                </a:rPr>
                <a:t>(World</a:t>
              </a:r>
              <a:r>
                <a:rPr kumimoji="0" lang="en-US" sz="800" b="1" i="0" u="none" strike="noStrike" kern="1200" cap="none" spc="0" normalizeH="0" noProof="0" dirty="0">
                  <a:ln>
                    <a:noFill/>
                  </a:ln>
                  <a:effectLst/>
                  <a:uLnTx/>
                  <a:uFillTx/>
                  <a:latin typeface="Verdana"/>
                  <a:ea typeface="+mn-ea"/>
                  <a:cs typeface="+mn-cs"/>
                </a:rPr>
                <a:t> Bank</a:t>
              </a:r>
              <a:r>
                <a:rPr kumimoji="0" lang="en-US" sz="800" b="1" i="0" u="none" strike="noStrike" kern="1200" cap="none" spc="0" normalizeH="0" baseline="0" noProof="0" dirty="0">
                  <a:ln>
                    <a:noFill/>
                  </a:ln>
                  <a:effectLst/>
                  <a:uLnTx/>
                  <a:uFillTx/>
                  <a:latin typeface="Verdana"/>
                  <a:ea typeface="+mn-ea"/>
                  <a:cs typeface="+mn-cs"/>
                </a:rPr>
                <a:t>)</a:t>
              </a:r>
              <a:endParaRPr kumimoji="0" lang="en-IN" sz="800" b="1" i="0" u="none" strike="noStrike" kern="1200" cap="none" spc="0" normalizeH="0" baseline="0" noProof="0" dirty="0">
                <a:ln>
                  <a:noFill/>
                </a:ln>
                <a:effectLst/>
                <a:uLnTx/>
                <a:uFillTx/>
                <a:latin typeface="Verdana"/>
                <a:ea typeface="+mn-ea"/>
                <a:cs typeface="+mn-cs"/>
              </a:endParaRPr>
            </a:p>
          </p:txBody>
        </p:sp>
      </p:grpSp>
      <p:grpSp>
        <p:nvGrpSpPr>
          <p:cNvPr id="109" name="Group 108"/>
          <p:cNvGrpSpPr/>
          <p:nvPr/>
        </p:nvGrpSpPr>
        <p:grpSpPr>
          <a:xfrm>
            <a:off x="701995" y="2752116"/>
            <a:ext cx="1397233" cy="2369858"/>
            <a:chOff x="360098" y="2753271"/>
            <a:chExt cx="1397233" cy="2369858"/>
          </a:xfrm>
        </p:grpSpPr>
        <p:sp>
          <p:nvSpPr>
            <p:cNvPr id="41" name="Oval 40"/>
            <p:cNvSpPr>
              <a:spLocks/>
            </p:cNvSpPr>
            <p:nvPr/>
          </p:nvSpPr>
          <p:spPr bwMode="gray">
            <a:xfrm>
              <a:off x="874888" y="4979129"/>
              <a:ext cx="144000" cy="144000"/>
            </a:xfrm>
            <a:prstGeom prst="ellipse">
              <a:avLst/>
            </a:prstGeom>
            <a:solidFill>
              <a:schemeClr val="accent1">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cxnSp>
          <p:nvCxnSpPr>
            <p:cNvPr id="100" name="Straight Connector 99"/>
            <p:cNvCxnSpPr/>
            <p:nvPr/>
          </p:nvCxnSpPr>
          <p:spPr>
            <a:xfrm flipH="1" flipV="1">
              <a:off x="946888" y="3205217"/>
              <a:ext cx="8050" cy="1755637"/>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02" name="TextBox 101"/>
            <p:cNvSpPr txBox="1"/>
            <p:nvPr/>
          </p:nvSpPr>
          <p:spPr>
            <a:xfrm>
              <a:off x="360098" y="2753271"/>
              <a:ext cx="1397233" cy="36933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err="1">
                  <a:ln>
                    <a:noFill/>
                  </a:ln>
                  <a:effectLst/>
                  <a:uLnTx/>
                  <a:uFillTx/>
                  <a:latin typeface="Verdana"/>
                  <a:ea typeface="+mn-ea"/>
                  <a:cs typeface="+mn-cs"/>
                </a:rPr>
                <a:t>Manikganj</a:t>
              </a:r>
              <a:r>
                <a:rPr kumimoji="0" lang="en-US" sz="800" b="1" i="0" u="none" strike="noStrike" kern="1200" cap="none" spc="0" normalizeH="0" baseline="0" noProof="0" dirty="0">
                  <a:ln>
                    <a:noFill/>
                  </a:ln>
                  <a:effectLst/>
                  <a:uLnTx/>
                  <a:uFillTx/>
                  <a:latin typeface="Verdana"/>
                  <a:ea typeface="+mn-ea"/>
                  <a:cs typeface="+mn-cs"/>
                </a:rPr>
                <a:t> 162 MW</a:t>
              </a:r>
              <a:br>
                <a:rPr kumimoji="0" lang="en-US" sz="800" b="1" i="0" u="none" strike="noStrike" kern="1200" cap="none" spc="0" normalizeH="0" noProof="0" dirty="0">
                  <a:ln>
                    <a:noFill/>
                  </a:ln>
                  <a:effectLst/>
                  <a:uLnTx/>
                  <a:uFillTx/>
                  <a:latin typeface="Verdana"/>
                  <a:ea typeface="+mn-ea"/>
                  <a:cs typeface="+mn-cs"/>
                </a:rPr>
              </a:br>
              <a:r>
                <a:rPr lang="en-US" sz="800" b="1" dirty="0">
                  <a:latin typeface="Verdana"/>
                </a:rPr>
                <a:t>(</a:t>
              </a:r>
              <a:r>
                <a:rPr lang="en-US" sz="800" b="1" dirty="0" err="1">
                  <a:latin typeface="Verdana"/>
                </a:rPr>
                <a:t>Changzou</a:t>
              </a:r>
              <a:r>
                <a:rPr lang="en-US" sz="800" b="1" dirty="0">
                  <a:latin typeface="Verdana"/>
                </a:rPr>
                <a:t> </a:t>
              </a:r>
              <a:r>
                <a:rPr lang="en-US" sz="800" b="1" dirty="0" err="1">
                  <a:latin typeface="Verdana"/>
                </a:rPr>
                <a:t>Hutang</a:t>
              </a:r>
              <a:r>
                <a:rPr lang="en-US" sz="800" b="1" dirty="0">
                  <a:latin typeface="Verdana"/>
                </a:rPr>
                <a:t> Coal Power) </a:t>
              </a:r>
              <a:r>
                <a:rPr lang="en-US" sz="800" b="1" i="1" dirty="0">
                  <a:latin typeface="Verdana"/>
                </a:rPr>
                <a:t>(China)</a:t>
              </a:r>
              <a:endParaRPr kumimoji="0" lang="en-IN" sz="800" b="1" i="1" u="none" strike="noStrike" kern="1200" cap="none" spc="0" normalizeH="0" baseline="0" noProof="0" dirty="0">
                <a:ln>
                  <a:noFill/>
                </a:ln>
                <a:effectLst/>
                <a:uLnTx/>
                <a:uFillTx/>
                <a:latin typeface="Verdana"/>
              </a:endParaRPr>
            </a:p>
          </p:txBody>
        </p:sp>
      </p:grpSp>
      <p:grpSp>
        <p:nvGrpSpPr>
          <p:cNvPr id="108" name="Group 107"/>
          <p:cNvGrpSpPr/>
          <p:nvPr/>
        </p:nvGrpSpPr>
        <p:grpSpPr>
          <a:xfrm>
            <a:off x="996153" y="4979129"/>
            <a:ext cx="1469451" cy="1257664"/>
            <a:chOff x="842677" y="4979129"/>
            <a:chExt cx="1469451" cy="1257664"/>
          </a:xfrm>
        </p:grpSpPr>
        <p:sp>
          <p:nvSpPr>
            <p:cNvPr id="28" name="Oval 27"/>
            <p:cNvSpPr>
              <a:spLocks/>
            </p:cNvSpPr>
            <p:nvPr/>
          </p:nvSpPr>
          <p:spPr bwMode="gray">
            <a:xfrm>
              <a:off x="1314064" y="4979129"/>
              <a:ext cx="144000" cy="144000"/>
            </a:xfrm>
            <a:prstGeom prst="ellipse">
              <a:avLst/>
            </a:prstGeom>
            <a:solidFill>
              <a:schemeClr val="accent1">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cxnSp>
          <p:nvCxnSpPr>
            <p:cNvPr id="105" name="Straight Connector 104"/>
            <p:cNvCxnSpPr>
              <a:stCxn id="28" idx="4"/>
            </p:cNvCxnSpPr>
            <p:nvPr/>
          </p:nvCxnSpPr>
          <p:spPr>
            <a:xfrm>
              <a:off x="1386064" y="5123129"/>
              <a:ext cx="0" cy="686061"/>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07" name="TextBox 106"/>
            <p:cNvSpPr txBox="1"/>
            <p:nvPr/>
          </p:nvSpPr>
          <p:spPr>
            <a:xfrm>
              <a:off x="842677" y="5867461"/>
              <a:ext cx="1469451" cy="36933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err="1">
                  <a:ln>
                    <a:noFill/>
                  </a:ln>
                  <a:effectLst/>
                  <a:uLnTx/>
                  <a:uFillTx/>
                  <a:latin typeface="Verdana"/>
                  <a:ea typeface="+mn-ea"/>
                  <a:cs typeface="+mn-cs"/>
                </a:rPr>
                <a:t>Feni</a:t>
              </a:r>
              <a:r>
                <a:rPr kumimoji="0" lang="en-US" sz="800" b="1" i="0" u="none" strike="noStrike" kern="1200" cap="none" spc="0" normalizeH="0" baseline="0" noProof="0" dirty="0">
                  <a:ln>
                    <a:noFill/>
                  </a:ln>
                  <a:effectLst/>
                  <a:uLnTx/>
                  <a:uFillTx/>
                  <a:latin typeface="Verdana"/>
                  <a:ea typeface="+mn-ea"/>
                  <a:cs typeface="+mn-cs"/>
                </a:rPr>
                <a:t> 114 MW</a:t>
              </a:r>
              <a:br>
                <a:rPr kumimoji="0" lang="en-US" sz="800" b="1" i="0" u="none" strike="noStrike" kern="1200" cap="none" spc="0" normalizeH="0" noProof="0" dirty="0">
                  <a:ln>
                    <a:noFill/>
                  </a:ln>
                  <a:effectLst/>
                  <a:uLnTx/>
                  <a:uFillTx/>
                  <a:latin typeface="Verdana"/>
                  <a:ea typeface="+mn-ea"/>
                  <a:cs typeface="+mn-cs"/>
                </a:rPr>
              </a:br>
              <a:r>
                <a:rPr lang="en-US" sz="800" b="1" dirty="0">
                  <a:latin typeface="Verdana"/>
                </a:rPr>
                <a:t>(</a:t>
              </a:r>
              <a:r>
                <a:rPr lang="en-US" sz="800" b="1" dirty="0" err="1">
                  <a:latin typeface="Verdana"/>
                </a:rPr>
                <a:t>Lakdhanvi</a:t>
              </a:r>
              <a:r>
                <a:rPr lang="en-US" sz="800" b="1" dirty="0">
                  <a:latin typeface="Verdana"/>
                </a:rPr>
                <a:t> (</a:t>
              </a:r>
              <a:r>
                <a:rPr lang="en-US" sz="800" b="1" i="1" dirty="0">
                  <a:latin typeface="Verdana"/>
                </a:rPr>
                <a:t>Sri Lanka); </a:t>
              </a:r>
              <a:r>
                <a:rPr lang="en-US" sz="800" b="1" dirty="0">
                  <a:latin typeface="Verdana"/>
                </a:rPr>
                <a:t>DFCC Bank &amp; HNB Bank)</a:t>
              </a:r>
              <a:endParaRPr kumimoji="0" lang="en-IN" sz="800" b="1" i="0" u="none" strike="noStrike" kern="1200" cap="none" spc="0" normalizeH="0" baseline="0" noProof="0" dirty="0">
                <a:ln>
                  <a:noFill/>
                </a:ln>
                <a:effectLst/>
                <a:uLnTx/>
                <a:uFillTx/>
                <a:latin typeface="Verdana"/>
                <a:ea typeface="+mn-ea"/>
                <a:cs typeface="+mn-cs"/>
              </a:endParaRPr>
            </a:p>
          </p:txBody>
        </p:sp>
      </p:grpSp>
      <p:grpSp>
        <p:nvGrpSpPr>
          <p:cNvPr id="117" name="Group 116"/>
          <p:cNvGrpSpPr/>
          <p:nvPr/>
        </p:nvGrpSpPr>
        <p:grpSpPr>
          <a:xfrm>
            <a:off x="1847353" y="3124915"/>
            <a:ext cx="1197283" cy="2006407"/>
            <a:chOff x="973566" y="3116722"/>
            <a:chExt cx="1197283" cy="2006407"/>
          </a:xfrm>
        </p:grpSpPr>
        <p:sp>
          <p:nvSpPr>
            <p:cNvPr id="42" name="Oval 41"/>
            <p:cNvSpPr>
              <a:spLocks/>
            </p:cNvSpPr>
            <p:nvPr/>
          </p:nvSpPr>
          <p:spPr bwMode="gray">
            <a:xfrm>
              <a:off x="1487024" y="4979129"/>
              <a:ext cx="144000" cy="144000"/>
            </a:xfrm>
            <a:prstGeom prst="ellipse">
              <a:avLst/>
            </a:prstGeom>
            <a:solidFill>
              <a:schemeClr val="accent1">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113" name="TextBox 112"/>
            <p:cNvSpPr txBox="1"/>
            <p:nvPr/>
          </p:nvSpPr>
          <p:spPr>
            <a:xfrm>
              <a:off x="973566" y="3116722"/>
              <a:ext cx="1197283" cy="4924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err="1">
                  <a:ln>
                    <a:noFill/>
                  </a:ln>
                  <a:effectLst/>
                  <a:uLnTx/>
                  <a:uFillTx/>
                  <a:latin typeface="Verdana"/>
                  <a:ea typeface="+mn-ea"/>
                  <a:cs typeface="+mn-cs"/>
                </a:rPr>
                <a:t>Payra</a:t>
              </a:r>
              <a:r>
                <a:rPr kumimoji="0" lang="en-US" sz="800" b="1" i="0" u="none" strike="noStrike" kern="1200" cap="none" spc="0" normalizeH="0" baseline="0" noProof="0" dirty="0">
                  <a:ln>
                    <a:noFill/>
                  </a:ln>
                  <a:effectLst/>
                  <a:uLnTx/>
                  <a:uFillTx/>
                  <a:latin typeface="Verdana"/>
                  <a:ea typeface="+mn-ea"/>
                  <a:cs typeface="+mn-cs"/>
                </a:rPr>
                <a:t> </a:t>
              </a:r>
              <a:r>
                <a:rPr kumimoji="0" lang="en-US" sz="800" b="1" i="0" u="none" strike="noStrike" kern="1200" cap="none" spc="0" normalizeH="0" baseline="0" noProof="0" dirty="0" err="1">
                  <a:ln>
                    <a:noFill/>
                  </a:ln>
                  <a:effectLst/>
                  <a:uLnTx/>
                  <a:uFillTx/>
                  <a:latin typeface="Verdana"/>
                  <a:ea typeface="+mn-ea"/>
                  <a:cs typeface="+mn-cs"/>
                </a:rPr>
                <a:t>Pataukhali</a:t>
              </a:r>
              <a:r>
                <a:rPr kumimoji="0" lang="en-US" sz="800" b="1" i="0" u="none" strike="noStrike" kern="1200" cap="none" spc="0" normalizeH="0" baseline="0" noProof="0" dirty="0">
                  <a:ln>
                    <a:noFill/>
                  </a:ln>
                  <a:effectLst/>
                  <a:uLnTx/>
                  <a:uFillTx/>
                  <a:latin typeface="Verdana"/>
                  <a:ea typeface="+mn-ea"/>
                  <a:cs typeface="+mn-cs"/>
                </a:rPr>
                <a:t> 1320 MW Phase 1</a:t>
              </a:r>
              <a:br>
                <a:rPr kumimoji="0" lang="en-US" sz="800" b="1" i="0" u="none" strike="noStrike" kern="1200" cap="none" spc="0" normalizeH="0" noProof="0" dirty="0">
                  <a:ln>
                    <a:noFill/>
                  </a:ln>
                  <a:effectLst/>
                  <a:uLnTx/>
                  <a:uFillTx/>
                  <a:latin typeface="Verdana"/>
                  <a:ea typeface="+mn-ea"/>
                  <a:cs typeface="+mn-cs"/>
                </a:rPr>
              </a:br>
              <a:r>
                <a:rPr lang="en-US" sz="800" b="1" dirty="0">
                  <a:latin typeface="Verdana"/>
                </a:rPr>
                <a:t>(CMC </a:t>
              </a:r>
              <a:r>
                <a:rPr lang="en-US" sz="800" b="1" i="1" dirty="0">
                  <a:latin typeface="Verdana"/>
                </a:rPr>
                <a:t>(China); CEXIM Bank)</a:t>
              </a:r>
              <a:endParaRPr kumimoji="0" lang="en-IN" sz="800" b="1" i="1" u="none" strike="noStrike" kern="1200" cap="none" spc="0" normalizeH="0" baseline="0" noProof="0" dirty="0">
                <a:ln>
                  <a:noFill/>
                </a:ln>
                <a:effectLst/>
                <a:uLnTx/>
                <a:uFillTx/>
                <a:latin typeface="Verdana"/>
              </a:endParaRPr>
            </a:p>
          </p:txBody>
        </p:sp>
        <p:cxnSp>
          <p:nvCxnSpPr>
            <p:cNvPr id="114" name="Straight Connector 113"/>
            <p:cNvCxnSpPr>
              <a:stCxn id="42" idx="0"/>
            </p:cNvCxnSpPr>
            <p:nvPr/>
          </p:nvCxnSpPr>
          <p:spPr>
            <a:xfrm flipV="1">
              <a:off x="1559024" y="3706494"/>
              <a:ext cx="0" cy="1272635"/>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118" name="Oval 117"/>
          <p:cNvSpPr>
            <a:spLocks/>
          </p:cNvSpPr>
          <p:nvPr/>
        </p:nvSpPr>
        <p:spPr bwMode="gray">
          <a:xfrm>
            <a:off x="1812222" y="4782744"/>
            <a:ext cx="478234" cy="478234"/>
          </a:xfrm>
          <a:prstGeom prst="ellipse">
            <a:avLst/>
          </a:prstGeom>
          <a:solidFill>
            <a:schemeClr val="accent3">
              <a:lumMod val="60000"/>
              <a:lumOff val="4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grpSp>
        <p:nvGrpSpPr>
          <p:cNvPr id="122" name="Group 121"/>
          <p:cNvGrpSpPr/>
          <p:nvPr/>
        </p:nvGrpSpPr>
        <p:grpSpPr>
          <a:xfrm>
            <a:off x="2749933" y="2509724"/>
            <a:ext cx="1429033" cy="2612250"/>
            <a:chOff x="1538241" y="2510879"/>
            <a:chExt cx="1429033" cy="2612250"/>
          </a:xfrm>
        </p:grpSpPr>
        <p:sp>
          <p:nvSpPr>
            <p:cNvPr id="43" name="Oval 42"/>
            <p:cNvSpPr>
              <a:spLocks/>
            </p:cNvSpPr>
            <p:nvPr/>
          </p:nvSpPr>
          <p:spPr bwMode="gray">
            <a:xfrm>
              <a:off x="1832944" y="4979129"/>
              <a:ext cx="144000" cy="144000"/>
            </a:xfrm>
            <a:prstGeom prst="ellipse">
              <a:avLst/>
            </a:prstGeom>
            <a:solidFill>
              <a:schemeClr val="accent1">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119" name="TextBox 118"/>
            <p:cNvSpPr txBox="1"/>
            <p:nvPr/>
          </p:nvSpPr>
          <p:spPr>
            <a:xfrm>
              <a:off x="1538241" y="2510879"/>
              <a:ext cx="1429033" cy="4924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err="1">
                  <a:ln>
                    <a:noFill/>
                  </a:ln>
                  <a:effectLst/>
                  <a:uLnTx/>
                  <a:uFillTx/>
                  <a:latin typeface="Verdana"/>
                  <a:ea typeface="+mn-ea"/>
                  <a:cs typeface="+mn-cs"/>
                </a:rPr>
                <a:t>Thakurgaon</a:t>
              </a:r>
              <a:r>
                <a:rPr kumimoji="0" lang="en-US" sz="800" b="1" i="0" u="none" strike="noStrike" kern="1200" cap="none" spc="0" normalizeH="0" baseline="0" noProof="0" dirty="0">
                  <a:ln>
                    <a:noFill/>
                  </a:ln>
                  <a:effectLst/>
                  <a:uLnTx/>
                  <a:uFillTx/>
                  <a:latin typeface="Verdana"/>
                  <a:ea typeface="+mn-ea"/>
                  <a:cs typeface="+mn-cs"/>
                </a:rPr>
                <a:t> 100</a:t>
              </a:r>
              <a:r>
                <a:rPr kumimoji="0" lang="en-US" sz="800" b="1" i="0" u="none" strike="noStrike" kern="1200" cap="none" spc="0" normalizeH="0" noProof="0" dirty="0">
                  <a:ln>
                    <a:noFill/>
                  </a:ln>
                  <a:effectLst/>
                  <a:uLnTx/>
                  <a:uFillTx/>
                  <a:latin typeface="Verdana"/>
                  <a:ea typeface="+mn-ea"/>
                  <a:cs typeface="+mn-cs"/>
                </a:rPr>
                <a:t> </a:t>
              </a:r>
              <a:r>
                <a:rPr kumimoji="0" lang="en-US" sz="800" b="1" i="0" u="none" strike="noStrike" kern="1200" cap="none" spc="0" normalizeH="0" baseline="0" noProof="0" dirty="0">
                  <a:ln>
                    <a:noFill/>
                  </a:ln>
                  <a:effectLst/>
                  <a:uLnTx/>
                  <a:uFillTx/>
                  <a:latin typeface="Verdana"/>
                  <a:ea typeface="+mn-ea"/>
                  <a:cs typeface="+mn-cs"/>
                </a:rPr>
                <a:t>MW</a:t>
              </a:r>
              <a:br>
                <a:rPr kumimoji="0" lang="en-US" sz="800" b="1" i="0" u="none" strike="noStrike" kern="1200" cap="none" spc="0" normalizeH="0" noProof="0" dirty="0">
                  <a:ln>
                    <a:noFill/>
                  </a:ln>
                  <a:effectLst/>
                  <a:uLnTx/>
                  <a:uFillTx/>
                  <a:latin typeface="Verdana"/>
                  <a:ea typeface="+mn-ea"/>
                  <a:cs typeface="+mn-cs"/>
                </a:rPr>
              </a:br>
              <a:r>
                <a:rPr lang="en-US" sz="800" b="1" dirty="0">
                  <a:latin typeface="Verdana"/>
                </a:rPr>
                <a:t>(EMA Power Investment (</a:t>
              </a:r>
              <a:r>
                <a:rPr lang="en-US" sz="800" b="1" i="1" dirty="0">
                  <a:latin typeface="Verdana"/>
                </a:rPr>
                <a:t>UAE), </a:t>
              </a:r>
              <a:r>
                <a:rPr lang="en-US" sz="800" b="1" dirty="0" err="1">
                  <a:latin typeface="Verdana"/>
                </a:rPr>
                <a:t>Daelim</a:t>
              </a:r>
              <a:r>
                <a:rPr lang="en-US" sz="800" b="1" dirty="0">
                  <a:latin typeface="Verdana"/>
                </a:rPr>
                <a:t> Energy</a:t>
              </a:r>
              <a:r>
                <a:rPr lang="en-US" sz="800" b="1" i="1" dirty="0">
                  <a:latin typeface="Verdana"/>
                </a:rPr>
                <a:t> (South Korea);MLAs</a:t>
              </a:r>
              <a:r>
                <a:rPr lang="en-US" sz="800" b="1" dirty="0">
                  <a:latin typeface="Verdana"/>
                </a:rPr>
                <a:t>)</a:t>
              </a:r>
              <a:endParaRPr kumimoji="0" lang="en-IN" sz="800" b="1" i="0" u="none" strike="noStrike" kern="1200" cap="none" spc="0" normalizeH="0" baseline="0" noProof="0" dirty="0">
                <a:ln>
                  <a:noFill/>
                </a:ln>
                <a:effectLst/>
                <a:uLnTx/>
                <a:uFillTx/>
                <a:latin typeface="Verdana"/>
                <a:ea typeface="+mn-ea"/>
                <a:cs typeface="+mn-cs"/>
              </a:endParaRPr>
            </a:p>
          </p:txBody>
        </p:sp>
        <p:cxnSp>
          <p:nvCxnSpPr>
            <p:cNvPr id="120" name="Straight Connector 119"/>
            <p:cNvCxnSpPr/>
            <p:nvPr/>
          </p:nvCxnSpPr>
          <p:spPr>
            <a:xfrm>
              <a:off x="1904944" y="3122603"/>
              <a:ext cx="0" cy="1838251"/>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124" name="Oval 123"/>
          <p:cNvSpPr>
            <a:spLocks/>
          </p:cNvSpPr>
          <p:nvPr/>
        </p:nvSpPr>
        <p:spPr bwMode="gray">
          <a:xfrm>
            <a:off x="3367406" y="4745779"/>
            <a:ext cx="478234" cy="478234"/>
          </a:xfrm>
          <a:prstGeom prst="ellipse">
            <a:avLst/>
          </a:prstGeom>
          <a:solidFill>
            <a:srgbClr val="65B7E5"/>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grpSp>
        <p:nvGrpSpPr>
          <p:cNvPr id="125" name="Group 124"/>
          <p:cNvGrpSpPr/>
          <p:nvPr/>
        </p:nvGrpSpPr>
        <p:grpSpPr>
          <a:xfrm>
            <a:off x="2474119" y="4984896"/>
            <a:ext cx="1429033" cy="1828128"/>
            <a:chOff x="1610156" y="4979129"/>
            <a:chExt cx="1429033" cy="1828128"/>
          </a:xfrm>
        </p:grpSpPr>
        <p:sp>
          <p:nvSpPr>
            <p:cNvPr id="126" name="Oval 125"/>
            <p:cNvSpPr>
              <a:spLocks/>
            </p:cNvSpPr>
            <p:nvPr/>
          </p:nvSpPr>
          <p:spPr bwMode="gray">
            <a:xfrm>
              <a:off x="1832944" y="4979129"/>
              <a:ext cx="144000" cy="144000"/>
            </a:xfrm>
            <a:prstGeom prst="ellipse">
              <a:avLst/>
            </a:prstGeom>
            <a:solidFill>
              <a:schemeClr val="accent1">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127" name="TextBox 126"/>
            <p:cNvSpPr txBox="1"/>
            <p:nvPr/>
          </p:nvSpPr>
          <p:spPr>
            <a:xfrm>
              <a:off x="1610156" y="6437925"/>
              <a:ext cx="1429033" cy="36933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lang="en-US" sz="800" b="1" dirty="0" err="1">
                  <a:latin typeface="Verdana"/>
                </a:rPr>
                <a:t>Bhola</a:t>
              </a:r>
              <a:r>
                <a:rPr lang="en-US" sz="800" b="1" dirty="0">
                  <a:latin typeface="Verdana"/>
                </a:rPr>
                <a:t> 220 </a:t>
              </a:r>
              <a:r>
                <a:rPr kumimoji="0" lang="en-US" sz="800" b="1" i="0" u="none" strike="noStrike" kern="1200" cap="none" spc="0" normalizeH="0" baseline="0" noProof="0" dirty="0">
                  <a:ln>
                    <a:noFill/>
                  </a:ln>
                  <a:effectLst/>
                  <a:uLnTx/>
                  <a:uFillTx/>
                  <a:latin typeface="Verdana"/>
                  <a:ea typeface="+mn-ea"/>
                  <a:cs typeface="+mn-cs"/>
                </a:rPr>
                <a:t>MW</a:t>
              </a:r>
              <a:br>
                <a:rPr kumimoji="0" lang="en-US" sz="800" b="1" i="0" u="none" strike="noStrike" kern="1200" cap="none" spc="0" normalizeH="0" noProof="0" dirty="0">
                  <a:ln>
                    <a:noFill/>
                  </a:ln>
                  <a:effectLst/>
                  <a:uLnTx/>
                  <a:uFillTx/>
                  <a:latin typeface="Verdana"/>
                  <a:ea typeface="+mn-ea"/>
                  <a:cs typeface="+mn-cs"/>
                </a:rPr>
              </a:br>
              <a:r>
                <a:rPr lang="en-US" sz="800" b="1" dirty="0">
                  <a:latin typeface="Verdana"/>
                </a:rPr>
                <a:t>(</a:t>
              </a:r>
              <a:r>
                <a:rPr lang="en-US" sz="800" b="1" dirty="0" err="1">
                  <a:latin typeface="Verdana"/>
                </a:rPr>
                <a:t>Shapoorji</a:t>
              </a:r>
              <a:r>
                <a:rPr lang="en-US" sz="800" b="1" dirty="0">
                  <a:latin typeface="Verdana"/>
                </a:rPr>
                <a:t> </a:t>
              </a:r>
              <a:r>
                <a:rPr lang="en-US" sz="800" b="1" dirty="0" err="1">
                  <a:latin typeface="Verdana"/>
                </a:rPr>
                <a:t>Pallonji</a:t>
              </a:r>
              <a:r>
                <a:rPr lang="en-US" sz="800" b="1" dirty="0">
                  <a:latin typeface="Verdana"/>
                </a:rPr>
                <a:t> </a:t>
              </a:r>
              <a:r>
                <a:rPr lang="en-US" sz="800" b="1" i="1" dirty="0">
                  <a:latin typeface="Verdana"/>
                </a:rPr>
                <a:t>(India);  AIIB &amp; </a:t>
              </a:r>
              <a:r>
                <a:rPr lang="en-US" sz="800" b="1" i="1" dirty="0" err="1">
                  <a:latin typeface="Verdana"/>
                </a:rPr>
                <a:t>IsDB</a:t>
              </a:r>
              <a:r>
                <a:rPr lang="en-US" sz="800" b="1" dirty="0">
                  <a:latin typeface="Verdana"/>
                </a:rPr>
                <a:t>)</a:t>
              </a:r>
              <a:endParaRPr kumimoji="0" lang="en-IN" sz="800" b="1" i="0" u="none" strike="noStrike" kern="1200" cap="none" spc="0" normalizeH="0" baseline="0" noProof="0" dirty="0">
                <a:ln>
                  <a:noFill/>
                </a:ln>
                <a:effectLst/>
                <a:uLnTx/>
                <a:uFillTx/>
                <a:latin typeface="Verdana"/>
                <a:ea typeface="+mn-ea"/>
                <a:cs typeface="+mn-cs"/>
              </a:endParaRPr>
            </a:p>
          </p:txBody>
        </p:sp>
        <p:cxnSp>
          <p:nvCxnSpPr>
            <p:cNvPr id="128" name="Straight Connector 127"/>
            <p:cNvCxnSpPr/>
            <p:nvPr/>
          </p:nvCxnSpPr>
          <p:spPr>
            <a:xfrm>
              <a:off x="1904944" y="5108385"/>
              <a:ext cx="0" cy="1245752"/>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129" name="Oval 128"/>
          <p:cNvSpPr>
            <a:spLocks/>
          </p:cNvSpPr>
          <p:nvPr/>
        </p:nvSpPr>
        <p:spPr bwMode="gray">
          <a:xfrm>
            <a:off x="4348289" y="4782744"/>
            <a:ext cx="478234" cy="478234"/>
          </a:xfrm>
          <a:prstGeom prst="ellipse">
            <a:avLst/>
          </a:prstGeom>
          <a:solidFill>
            <a:schemeClr val="accent3">
              <a:lumMod val="75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grpSp>
        <p:nvGrpSpPr>
          <p:cNvPr id="134" name="Group 133"/>
          <p:cNvGrpSpPr/>
          <p:nvPr/>
        </p:nvGrpSpPr>
        <p:grpSpPr>
          <a:xfrm>
            <a:off x="4418673" y="4984896"/>
            <a:ext cx="1696302" cy="1935004"/>
            <a:chOff x="2962985" y="4979129"/>
            <a:chExt cx="1696302" cy="1935004"/>
          </a:xfrm>
        </p:grpSpPr>
        <p:sp>
          <p:nvSpPr>
            <p:cNvPr id="48" name="Oval 47"/>
            <p:cNvSpPr>
              <a:spLocks/>
            </p:cNvSpPr>
            <p:nvPr/>
          </p:nvSpPr>
          <p:spPr bwMode="gray">
            <a:xfrm>
              <a:off x="3562544" y="4979129"/>
              <a:ext cx="144000" cy="144000"/>
            </a:xfrm>
            <a:prstGeom prst="ellipse">
              <a:avLst/>
            </a:prstGeom>
            <a:solidFill>
              <a:schemeClr val="accent1">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131" name="TextBox 130"/>
            <p:cNvSpPr txBox="1"/>
            <p:nvPr/>
          </p:nvSpPr>
          <p:spPr>
            <a:xfrm>
              <a:off x="2962985" y="6667912"/>
              <a:ext cx="1696302" cy="246221"/>
            </a:xfrm>
            <a:prstGeom prst="rect">
              <a:avLst/>
            </a:prstGeom>
            <a:noFill/>
          </p:spPr>
          <p:txBody>
            <a:bodyPr wrap="square" lIns="0" tIns="0" rIns="0" bIns="0" rtlCol="0">
              <a:spAutoFit/>
            </a:bodyPr>
            <a:lstStyle/>
            <a:p>
              <a:pPr lvl="0" algn="ctr">
                <a:spcBef>
                  <a:spcPts val="600"/>
                </a:spcBef>
                <a:buSzPct val="100000"/>
                <a:defRPr/>
              </a:pPr>
              <a:r>
                <a:rPr kumimoji="0" lang="en-US" sz="800" b="1" i="0" u="none" strike="noStrike" kern="1200" cap="none" spc="0" normalizeH="0" baseline="0" noProof="0" dirty="0" err="1">
                  <a:ln>
                    <a:noFill/>
                  </a:ln>
                  <a:effectLst/>
                  <a:uLnTx/>
                  <a:uFillTx/>
                  <a:latin typeface="Verdana"/>
                  <a:ea typeface="+mn-ea"/>
                  <a:cs typeface="+mn-cs"/>
                </a:rPr>
                <a:t>Ashuganj</a:t>
              </a:r>
              <a:r>
                <a:rPr kumimoji="0" lang="en-US" sz="800" b="1" i="0" u="none" strike="noStrike" kern="1200" cap="none" spc="0" normalizeH="0" baseline="0" noProof="0" dirty="0">
                  <a:ln>
                    <a:noFill/>
                  </a:ln>
                  <a:effectLst/>
                  <a:uLnTx/>
                  <a:uFillTx/>
                  <a:latin typeface="Verdana"/>
                  <a:ea typeface="+mn-ea"/>
                  <a:cs typeface="+mn-cs"/>
                </a:rPr>
                <a:t> 400 MW CCPP </a:t>
              </a:r>
              <a:r>
                <a:rPr lang="en-US" sz="800" b="1" dirty="0"/>
                <a:t>(IDB, ADB, </a:t>
              </a:r>
              <a:r>
                <a:rPr lang="en-US" sz="800" b="1" dirty="0" err="1"/>
                <a:t>KfW</a:t>
              </a:r>
              <a:r>
                <a:rPr lang="en-US" sz="800" b="1" dirty="0"/>
                <a:t> &amp; OPEC</a:t>
              </a:r>
              <a:r>
                <a:rPr lang="en-US" sz="800" b="1" i="1" dirty="0">
                  <a:latin typeface="Verdana"/>
                </a:rPr>
                <a:t>)</a:t>
              </a:r>
              <a:endParaRPr kumimoji="0" lang="en-IN" sz="800" b="1" i="1" u="none" strike="noStrike" kern="1200" cap="none" spc="0" normalizeH="0" baseline="0" noProof="0" dirty="0">
                <a:ln>
                  <a:noFill/>
                </a:ln>
                <a:effectLst/>
                <a:uLnTx/>
                <a:uFillTx/>
                <a:latin typeface="Verdana"/>
              </a:endParaRPr>
            </a:p>
          </p:txBody>
        </p:sp>
        <p:cxnSp>
          <p:nvCxnSpPr>
            <p:cNvPr id="132" name="Straight Connector 131"/>
            <p:cNvCxnSpPr/>
            <p:nvPr/>
          </p:nvCxnSpPr>
          <p:spPr>
            <a:xfrm flipV="1">
              <a:off x="3634544" y="5106468"/>
              <a:ext cx="0" cy="1516123"/>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136" name="Group 135"/>
          <p:cNvGrpSpPr/>
          <p:nvPr/>
        </p:nvGrpSpPr>
        <p:grpSpPr>
          <a:xfrm>
            <a:off x="3782328" y="3207153"/>
            <a:ext cx="1601993" cy="1905082"/>
            <a:chOff x="1562284" y="3218047"/>
            <a:chExt cx="1601993" cy="1905082"/>
          </a:xfrm>
        </p:grpSpPr>
        <p:sp>
          <p:nvSpPr>
            <p:cNvPr id="137" name="Oval 136"/>
            <p:cNvSpPr>
              <a:spLocks/>
            </p:cNvSpPr>
            <p:nvPr/>
          </p:nvSpPr>
          <p:spPr bwMode="gray">
            <a:xfrm>
              <a:off x="1832944" y="4979129"/>
              <a:ext cx="144000" cy="144000"/>
            </a:xfrm>
            <a:prstGeom prst="ellipse">
              <a:avLst/>
            </a:prstGeom>
            <a:solidFill>
              <a:schemeClr val="accent1">
                <a:lumMod val="60000"/>
                <a:lumOff val="4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138" name="TextBox 137"/>
            <p:cNvSpPr txBox="1"/>
            <p:nvPr/>
          </p:nvSpPr>
          <p:spPr>
            <a:xfrm>
              <a:off x="1562284" y="3218047"/>
              <a:ext cx="1601993" cy="36933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a:ln>
                    <a:noFill/>
                  </a:ln>
                  <a:effectLst/>
                  <a:uLnTx/>
                  <a:uFillTx/>
                  <a:latin typeface="Verdana"/>
                  <a:ea typeface="+mn-ea"/>
                  <a:cs typeface="+mn-cs"/>
                </a:rPr>
                <a:t>LNG based</a:t>
              </a:r>
              <a:r>
                <a:rPr kumimoji="0" lang="en-US" sz="800" b="1" i="0" u="none" strike="noStrike" kern="1200" cap="none" spc="0" normalizeH="0" noProof="0" dirty="0">
                  <a:ln>
                    <a:noFill/>
                  </a:ln>
                  <a:effectLst/>
                  <a:uLnTx/>
                  <a:uFillTx/>
                  <a:latin typeface="Verdana"/>
                  <a:ea typeface="+mn-ea"/>
                  <a:cs typeface="+mn-cs"/>
                </a:rPr>
                <a:t> 750 MW CCPP</a:t>
              </a:r>
              <a:br>
                <a:rPr kumimoji="0" lang="en-US" sz="800" b="1" i="0" u="none" strike="noStrike" kern="1200" cap="none" spc="0" normalizeH="0" noProof="0" dirty="0">
                  <a:ln>
                    <a:noFill/>
                  </a:ln>
                  <a:effectLst/>
                  <a:uLnTx/>
                  <a:uFillTx/>
                  <a:latin typeface="Verdana"/>
                  <a:ea typeface="+mn-ea"/>
                  <a:cs typeface="+mn-cs"/>
                </a:rPr>
              </a:br>
              <a:r>
                <a:rPr lang="en-US" sz="800" b="1" dirty="0">
                  <a:latin typeface="Verdana"/>
                </a:rPr>
                <a:t>(Reliance Power(</a:t>
              </a:r>
              <a:r>
                <a:rPr lang="en-US" sz="800" b="1" i="1" dirty="0">
                  <a:latin typeface="Verdana"/>
                </a:rPr>
                <a:t>India), </a:t>
              </a:r>
              <a:r>
                <a:rPr lang="en-US" sz="800" b="1" dirty="0">
                  <a:latin typeface="Verdana"/>
                </a:rPr>
                <a:t>JERA </a:t>
              </a:r>
              <a:r>
                <a:rPr lang="en-US" sz="800" b="1" i="1" dirty="0">
                  <a:latin typeface="Verdana"/>
                </a:rPr>
                <a:t>(Japan);ADB &amp; IDB</a:t>
              </a:r>
              <a:r>
                <a:rPr lang="en-US" sz="800" b="1" dirty="0">
                  <a:latin typeface="Verdana"/>
                </a:rPr>
                <a:t>)</a:t>
              </a:r>
              <a:endParaRPr kumimoji="0" lang="en-IN" sz="800" b="1" i="0" u="none" strike="noStrike" kern="1200" cap="none" spc="0" normalizeH="0" baseline="0" noProof="0" dirty="0">
                <a:ln>
                  <a:noFill/>
                </a:ln>
                <a:effectLst/>
                <a:uLnTx/>
                <a:uFillTx/>
                <a:latin typeface="Verdana"/>
                <a:ea typeface="+mn-ea"/>
                <a:cs typeface="+mn-cs"/>
              </a:endParaRPr>
            </a:p>
          </p:txBody>
        </p:sp>
        <p:cxnSp>
          <p:nvCxnSpPr>
            <p:cNvPr id="139" name="Straight Connector 138"/>
            <p:cNvCxnSpPr/>
            <p:nvPr/>
          </p:nvCxnSpPr>
          <p:spPr>
            <a:xfrm>
              <a:off x="1904944" y="3710490"/>
              <a:ext cx="0" cy="1250364"/>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141" name="Group 140"/>
          <p:cNvGrpSpPr/>
          <p:nvPr/>
        </p:nvGrpSpPr>
        <p:grpSpPr>
          <a:xfrm>
            <a:off x="5283979" y="3709714"/>
            <a:ext cx="1601993" cy="1392856"/>
            <a:chOff x="1570962" y="3730273"/>
            <a:chExt cx="1601993" cy="1392856"/>
          </a:xfrm>
        </p:grpSpPr>
        <p:sp>
          <p:nvSpPr>
            <p:cNvPr id="142" name="Oval 141"/>
            <p:cNvSpPr>
              <a:spLocks/>
            </p:cNvSpPr>
            <p:nvPr/>
          </p:nvSpPr>
          <p:spPr bwMode="gray">
            <a:xfrm>
              <a:off x="1832944" y="4979129"/>
              <a:ext cx="144000" cy="144000"/>
            </a:xfrm>
            <a:prstGeom prst="ellipse">
              <a:avLst/>
            </a:prstGeom>
            <a:solidFill>
              <a:schemeClr val="accent1">
                <a:lumMod val="60000"/>
                <a:lumOff val="4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143" name="TextBox 142"/>
            <p:cNvSpPr txBox="1"/>
            <p:nvPr/>
          </p:nvSpPr>
          <p:spPr>
            <a:xfrm>
              <a:off x="1570962" y="3730273"/>
              <a:ext cx="1601993" cy="36933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err="1">
                  <a:ln>
                    <a:noFill/>
                  </a:ln>
                  <a:effectLst/>
                  <a:uLnTx/>
                  <a:uFillTx/>
                  <a:latin typeface="Verdana"/>
                  <a:ea typeface="+mn-ea"/>
                  <a:cs typeface="+mn-cs"/>
                </a:rPr>
                <a:t>Chattogram</a:t>
              </a:r>
              <a:r>
                <a:rPr kumimoji="0" lang="en-US" sz="800" b="1" i="0" u="none" strike="noStrike" kern="1200" cap="none" spc="0" normalizeH="0" noProof="0" dirty="0">
                  <a:ln>
                    <a:noFill/>
                  </a:ln>
                  <a:effectLst/>
                  <a:uLnTx/>
                  <a:uFillTx/>
                  <a:latin typeface="Verdana"/>
                  <a:ea typeface="+mn-ea"/>
                  <a:cs typeface="+mn-cs"/>
                </a:rPr>
                <a:t> 2 X 612 MW</a:t>
              </a:r>
              <a:br>
                <a:rPr kumimoji="0" lang="en-US" sz="800" b="1" i="0" u="none" strike="noStrike" kern="1200" cap="none" spc="0" normalizeH="0" noProof="0" dirty="0">
                  <a:ln>
                    <a:noFill/>
                  </a:ln>
                  <a:effectLst/>
                  <a:uLnTx/>
                  <a:uFillTx/>
                  <a:latin typeface="Verdana"/>
                  <a:ea typeface="+mn-ea"/>
                  <a:cs typeface="+mn-cs"/>
                </a:rPr>
              </a:br>
              <a:r>
                <a:rPr lang="en-US" sz="800" b="1" dirty="0">
                  <a:latin typeface="Verdana"/>
                </a:rPr>
                <a:t>(SEPCO-3 &amp; HTG </a:t>
              </a:r>
              <a:r>
                <a:rPr lang="en-US" sz="800" b="1" i="1" dirty="0">
                  <a:latin typeface="Verdana"/>
                </a:rPr>
                <a:t>(China);CEXIM Bank</a:t>
              </a:r>
              <a:r>
                <a:rPr lang="en-US" sz="800" b="1" dirty="0">
                  <a:latin typeface="Verdana"/>
                </a:rPr>
                <a:t>)</a:t>
              </a:r>
              <a:endParaRPr kumimoji="0" lang="en-IN" sz="800" b="1" i="0" u="none" strike="noStrike" kern="1200" cap="none" spc="0" normalizeH="0" baseline="0" noProof="0" dirty="0">
                <a:ln>
                  <a:noFill/>
                </a:ln>
                <a:effectLst/>
                <a:uLnTx/>
                <a:uFillTx/>
                <a:latin typeface="Verdana"/>
                <a:ea typeface="+mn-ea"/>
                <a:cs typeface="+mn-cs"/>
              </a:endParaRPr>
            </a:p>
          </p:txBody>
        </p:sp>
        <p:cxnSp>
          <p:nvCxnSpPr>
            <p:cNvPr id="144" name="Straight Connector 143"/>
            <p:cNvCxnSpPr/>
            <p:nvPr/>
          </p:nvCxnSpPr>
          <p:spPr>
            <a:xfrm>
              <a:off x="1904944" y="4232148"/>
              <a:ext cx="0" cy="728706"/>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147" name="Oval 146"/>
          <p:cNvSpPr>
            <a:spLocks/>
          </p:cNvSpPr>
          <p:nvPr/>
        </p:nvSpPr>
        <p:spPr bwMode="gray">
          <a:xfrm>
            <a:off x="5953670" y="4833971"/>
            <a:ext cx="478234" cy="478234"/>
          </a:xfrm>
          <a:prstGeom prst="ellipse">
            <a:avLst/>
          </a:prstGeom>
          <a:solidFill>
            <a:schemeClr val="accent3">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grpSp>
        <p:nvGrpSpPr>
          <p:cNvPr id="148" name="Group 147"/>
          <p:cNvGrpSpPr/>
          <p:nvPr/>
        </p:nvGrpSpPr>
        <p:grpSpPr>
          <a:xfrm>
            <a:off x="6061903" y="2902715"/>
            <a:ext cx="1696302" cy="2219259"/>
            <a:chOff x="2874665" y="2903870"/>
            <a:chExt cx="1696302" cy="2219259"/>
          </a:xfrm>
        </p:grpSpPr>
        <p:sp>
          <p:nvSpPr>
            <p:cNvPr id="149" name="Oval 148"/>
            <p:cNvSpPr>
              <a:spLocks/>
            </p:cNvSpPr>
            <p:nvPr/>
          </p:nvSpPr>
          <p:spPr bwMode="gray">
            <a:xfrm>
              <a:off x="3562544" y="4979129"/>
              <a:ext cx="144000" cy="144000"/>
            </a:xfrm>
            <a:prstGeom prst="ellipse">
              <a:avLst/>
            </a:prstGeom>
            <a:solidFill>
              <a:schemeClr val="accent1">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150" name="TextBox 149"/>
            <p:cNvSpPr txBox="1"/>
            <p:nvPr/>
          </p:nvSpPr>
          <p:spPr>
            <a:xfrm>
              <a:off x="2874665" y="2903870"/>
              <a:ext cx="1696302" cy="246221"/>
            </a:xfrm>
            <a:prstGeom prst="rect">
              <a:avLst/>
            </a:prstGeom>
            <a:noFill/>
          </p:spPr>
          <p:txBody>
            <a:bodyPr wrap="square" lIns="0" tIns="0" rIns="0" bIns="0" rtlCol="0">
              <a:spAutoFit/>
            </a:bodyPr>
            <a:lstStyle/>
            <a:p>
              <a:pPr lvl="0" algn="ctr">
                <a:spcBef>
                  <a:spcPts val="600"/>
                </a:spcBef>
                <a:buSzPct val="100000"/>
                <a:defRPr/>
              </a:pPr>
              <a:r>
                <a:rPr kumimoji="0" lang="en-US" sz="800" b="1" i="0" u="none" strike="noStrike" kern="1200" cap="none" spc="0" normalizeH="0" baseline="0" noProof="0" dirty="0" err="1">
                  <a:ln>
                    <a:noFill/>
                  </a:ln>
                  <a:effectLst/>
                  <a:uLnTx/>
                  <a:uFillTx/>
                  <a:latin typeface="Verdana"/>
                  <a:ea typeface="+mn-ea"/>
                  <a:cs typeface="+mn-cs"/>
                </a:rPr>
                <a:t>Meghanghat</a:t>
              </a:r>
              <a:r>
                <a:rPr kumimoji="0" lang="en-US" sz="800" b="1" i="0" u="none" strike="noStrike" kern="1200" cap="none" spc="0" normalizeH="0" baseline="0" noProof="0" dirty="0">
                  <a:ln>
                    <a:noFill/>
                  </a:ln>
                  <a:effectLst/>
                  <a:uLnTx/>
                  <a:uFillTx/>
                  <a:latin typeface="Verdana"/>
                  <a:ea typeface="+mn-ea"/>
                  <a:cs typeface="+mn-cs"/>
                </a:rPr>
                <a:t> 600 MW CCPP (Summit) </a:t>
              </a:r>
              <a:r>
                <a:rPr lang="en-US" sz="800" b="1" dirty="0"/>
                <a:t>(GE </a:t>
              </a:r>
              <a:r>
                <a:rPr lang="en-US" sz="800" b="1" i="1" dirty="0"/>
                <a:t>(USA); </a:t>
              </a:r>
              <a:r>
                <a:rPr lang="en-US" sz="800" b="1" dirty="0"/>
                <a:t>IFC)</a:t>
              </a:r>
              <a:endParaRPr kumimoji="0" lang="en-IN" sz="800" b="1" i="1" u="none" strike="noStrike" kern="1200" cap="none" spc="0" normalizeH="0" baseline="0" noProof="0" dirty="0">
                <a:ln>
                  <a:noFill/>
                </a:ln>
                <a:effectLst/>
                <a:uLnTx/>
                <a:uFillTx/>
                <a:latin typeface="Verdana"/>
              </a:endParaRPr>
            </a:p>
          </p:txBody>
        </p:sp>
        <p:cxnSp>
          <p:nvCxnSpPr>
            <p:cNvPr id="151" name="Straight Connector 150"/>
            <p:cNvCxnSpPr/>
            <p:nvPr/>
          </p:nvCxnSpPr>
          <p:spPr>
            <a:xfrm flipV="1">
              <a:off x="3634544" y="3219202"/>
              <a:ext cx="0" cy="1759927"/>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157" name="Group 156"/>
          <p:cNvGrpSpPr/>
          <p:nvPr/>
        </p:nvGrpSpPr>
        <p:grpSpPr>
          <a:xfrm>
            <a:off x="6862987" y="4977974"/>
            <a:ext cx="1093846" cy="1076988"/>
            <a:chOff x="3127466" y="4979129"/>
            <a:chExt cx="1093846" cy="1076988"/>
          </a:xfrm>
        </p:grpSpPr>
        <p:sp>
          <p:nvSpPr>
            <p:cNvPr id="158" name="Oval 157"/>
            <p:cNvSpPr>
              <a:spLocks/>
            </p:cNvSpPr>
            <p:nvPr/>
          </p:nvSpPr>
          <p:spPr bwMode="gray">
            <a:xfrm>
              <a:off x="3562544" y="4979129"/>
              <a:ext cx="144000" cy="144000"/>
            </a:xfrm>
            <a:prstGeom prst="ellipse">
              <a:avLst/>
            </a:prstGeom>
            <a:solidFill>
              <a:schemeClr val="accent1">
                <a:lumMod val="60000"/>
                <a:lumOff val="4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159" name="TextBox 158"/>
            <p:cNvSpPr txBox="1"/>
            <p:nvPr/>
          </p:nvSpPr>
          <p:spPr>
            <a:xfrm>
              <a:off x="3127466" y="5686785"/>
              <a:ext cx="1093846" cy="369332"/>
            </a:xfrm>
            <a:prstGeom prst="rect">
              <a:avLst/>
            </a:prstGeom>
            <a:noFill/>
          </p:spPr>
          <p:txBody>
            <a:bodyPr wrap="square" lIns="0" tIns="0" rIns="0" bIns="0" rtlCol="0">
              <a:spAutoFit/>
            </a:bodyPr>
            <a:lstStyle/>
            <a:p>
              <a:pPr lvl="0" algn="ctr">
                <a:spcBef>
                  <a:spcPts val="600"/>
                </a:spcBef>
                <a:buSzPct val="100000"/>
                <a:defRPr/>
              </a:pPr>
              <a:r>
                <a:rPr kumimoji="0" lang="en-US" sz="800" b="1" i="0" u="none" strike="noStrike" kern="1200" cap="none" spc="0" normalizeH="0" baseline="0" noProof="0" dirty="0" err="1">
                  <a:ln>
                    <a:noFill/>
                  </a:ln>
                  <a:effectLst/>
                  <a:uLnTx/>
                  <a:uFillTx/>
                  <a:latin typeface="Verdana"/>
                  <a:ea typeface="+mn-ea"/>
                  <a:cs typeface="+mn-cs"/>
                </a:rPr>
                <a:t>Barishal</a:t>
              </a:r>
              <a:r>
                <a:rPr kumimoji="0" lang="en-US" sz="800" b="1" i="0" u="none" strike="noStrike" kern="1200" cap="none" spc="0" normalizeH="0" baseline="0" noProof="0" dirty="0">
                  <a:ln>
                    <a:noFill/>
                  </a:ln>
                  <a:effectLst/>
                  <a:uLnTx/>
                  <a:uFillTx/>
                  <a:latin typeface="Verdana"/>
                  <a:ea typeface="+mn-ea"/>
                  <a:cs typeface="+mn-cs"/>
                </a:rPr>
                <a:t> 307 MW </a:t>
              </a:r>
              <a:br>
                <a:rPr kumimoji="0" lang="en-US" sz="800" b="1" i="0" u="none" strike="noStrike" kern="1200" cap="none" spc="0" normalizeH="0" baseline="0" noProof="0" dirty="0">
                  <a:ln>
                    <a:noFill/>
                  </a:ln>
                  <a:effectLst/>
                  <a:uLnTx/>
                  <a:uFillTx/>
                  <a:latin typeface="Verdana"/>
                  <a:ea typeface="+mn-ea"/>
                  <a:cs typeface="+mn-cs"/>
                </a:rPr>
              </a:br>
              <a:r>
                <a:rPr lang="en-US" sz="800" b="1" dirty="0"/>
                <a:t>(</a:t>
              </a:r>
              <a:r>
                <a:rPr lang="en-US" sz="800" b="1" dirty="0" err="1"/>
                <a:t>PowerChina</a:t>
              </a:r>
              <a:r>
                <a:rPr lang="en-US" sz="800" b="1" dirty="0"/>
                <a:t> </a:t>
              </a:r>
              <a:r>
                <a:rPr lang="en-US" sz="800" b="1" i="1" dirty="0"/>
                <a:t>(China)</a:t>
              </a:r>
              <a:r>
                <a:rPr lang="en-US" sz="800" b="1" dirty="0"/>
                <a:t>)</a:t>
              </a:r>
              <a:endParaRPr kumimoji="0" lang="en-IN" sz="800" b="1" i="1" u="none" strike="noStrike" kern="1200" cap="none" spc="0" normalizeH="0" baseline="0" noProof="0" dirty="0">
                <a:ln>
                  <a:noFill/>
                </a:ln>
                <a:effectLst/>
                <a:uLnTx/>
                <a:uFillTx/>
                <a:latin typeface="Verdana"/>
              </a:endParaRPr>
            </a:p>
          </p:txBody>
        </p:sp>
        <p:cxnSp>
          <p:nvCxnSpPr>
            <p:cNvPr id="160" name="Straight Connector 159"/>
            <p:cNvCxnSpPr/>
            <p:nvPr/>
          </p:nvCxnSpPr>
          <p:spPr>
            <a:xfrm flipV="1">
              <a:off x="3634544" y="5106470"/>
              <a:ext cx="0" cy="468171"/>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162" name="Group 161"/>
          <p:cNvGrpSpPr/>
          <p:nvPr/>
        </p:nvGrpSpPr>
        <p:grpSpPr>
          <a:xfrm>
            <a:off x="7409910" y="3218047"/>
            <a:ext cx="1403951" cy="1898894"/>
            <a:chOff x="893062" y="3224235"/>
            <a:chExt cx="1403951" cy="1898894"/>
          </a:xfrm>
        </p:grpSpPr>
        <p:sp>
          <p:nvSpPr>
            <p:cNvPr id="163" name="Oval 162"/>
            <p:cNvSpPr>
              <a:spLocks/>
            </p:cNvSpPr>
            <p:nvPr/>
          </p:nvSpPr>
          <p:spPr bwMode="gray">
            <a:xfrm>
              <a:off x="1487024" y="4979129"/>
              <a:ext cx="144000" cy="144000"/>
            </a:xfrm>
            <a:prstGeom prst="ellipse">
              <a:avLst/>
            </a:prstGeom>
            <a:solidFill>
              <a:schemeClr val="accent1">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164" name="TextBox 163"/>
            <p:cNvSpPr txBox="1"/>
            <p:nvPr/>
          </p:nvSpPr>
          <p:spPr>
            <a:xfrm>
              <a:off x="893062" y="3224235"/>
              <a:ext cx="1403951" cy="36933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err="1">
                  <a:ln>
                    <a:noFill/>
                  </a:ln>
                  <a:effectLst/>
                  <a:uLnTx/>
                  <a:uFillTx/>
                  <a:latin typeface="Verdana"/>
                  <a:ea typeface="+mn-ea"/>
                  <a:cs typeface="+mn-cs"/>
                </a:rPr>
                <a:t>Meghanghat</a:t>
              </a:r>
              <a:r>
                <a:rPr kumimoji="0" lang="en-US" sz="800" b="1" i="0" u="none" strike="noStrike" kern="1200" cap="none" spc="0" normalizeH="0" baseline="0" noProof="0" dirty="0">
                  <a:ln>
                    <a:noFill/>
                  </a:ln>
                  <a:effectLst/>
                  <a:uLnTx/>
                  <a:uFillTx/>
                  <a:latin typeface="Verdana"/>
                  <a:ea typeface="+mn-ea"/>
                  <a:cs typeface="+mn-cs"/>
                </a:rPr>
                <a:t> 600 MW CCPP (Unique)</a:t>
              </a:r>
              <a:br>
                <a:rPr kumimoji="0" lang="en-US" sz="800" b="1" i="0" u="none" strike="noStrike" kern="1200" cap="none" spc="0" normalizeH="0" noProof="0" dirty="0">
                  <a:ln>
                    <a:noFill/>
                  </a:ln>
                  <a:effectLst/>
                  <a:uLnTx/>
                  <a:uFillTx/>
                  <a:latin typeface="Verdana"/>
                  <a:ea typeface="+mn-ea"/>
                  <a:cs typeface="+mn-cs"/>
                </a:rPr>
              </a:br>
              <a:r>
                <a:rPr lang="en-US" sz="800" b="1" dirty="0">
                  <a:latin typeface="Verdana"/>
                </a:rPr>
                <a:t>(GE </a:t>
              </a:r>
              <a:r>
                <a:rPr lang="en-US" sz="800" b="1" i="1" dirty="0">
                  <a:latin typeface="Verdana"/>
                </a:rPr>
                <a:t>(USA))</a:t>
              </a:r>
              <a:endParaRPr kumimoji="0" lang="en-IN" sz="800" b="1" i="1" u="none" strike="noStrike" kern="1200" cap="none" spc="0" normalizeH="0" baseline="0" noProof="0" dirty="0">
                <a:ln>
                  <a:noFill/>
                </a:ln>
                <a:effectLst/>
                <a:uLnTx/>
                <a:uFillTx/>
                <a:latin typeface="Verdana"/>
              </a:endParaRPr>
            </a:p>
          </p:txBody>
        </p:sp>
        <p:cxnSp>
          <p:nvCxnSpPr>
            <p:cNvPr id="165" name="Straight Connector 164"/>
            <p:cNvCxnSpPr>
              <a:stCxn id="163" idx="0"/>
            </p:cNvCxnSpPr>
            <p:nvPr/>
          </p:nvCxnSpPr>
          <p:spPr>
            <a:xfrm flipV="1">
              <a:off x="1559024" y="3706494"/>
              <a:ext cx="0" cy="1272635"/>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166" name="Group 165"/>
          <p:cNvGrpSpPr/>
          <p:nvPr/>
        </p:nvGrpSpPr>
        <p:grpSpPr>
          <a:xfrm>
            <a:off x="7978475" y="4977974"/>
            <a:ext cx="1223814" cy="1320374"/>
            <a:chOff x="2998718" y="4979129"/>
            <a:chExt cx="1223814" cy="1320374"/>
          </a:xfrm>
        </p:grpSpPr>
        <p:sp>
          <p:nvSpPr>
            <p:cNvPr id="167" name="Oval 166"/>
            <p:cNvSpPr>
              <a:spLocks/>
            </p:cNvSpPr>
            <p:nvPr/>
          </p:nvSpPr>
          <p:spPr bwMode="gray">
            <a:xfrm>
              <a:off x="3562544" y="4979129"/>
              <a:ext cx="144000" cy="144000"/>
            </a:xfrm>
            <a:prstGeom prst="ellipse">
              <a:avLst/>
            </a:prstGeom>
            <a:solidFill>
              <a:schemeClr val="accent1">
                <a:lumMod val="60000"/>
                <a:lumOff val="4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168" name="TextBox 167"/>
            <p:cNvSpPr txBox="1"/>
            <p:nvPr/>
          </p:nvSpPr>
          <p:spPr>
            <a:xfrm>
              <a:off x="2998718" y="5930171"/>
              <a:ext cx="1223814" cy="369332"/>
            </a:xfrm>
            <a:prstGeom prst="rect">
              <a:avLst/>
            </a:prstGeom>
            <a:noFill/>
          </p:spPr>
          <p:txBody>
            <a:bodyPr wrap="square" lIns="0" tIns="0" rIns="0" bIns="0" rtlCol="0">
              <a:spAutoFit/>
            </a:bodyPr>
            <a:lstStyle/>
            <a:p>
              <a:pPr lvl="0" algn="ctr">
                <a:spcBef>
                  <a:spcPts val="600"/>
                </a:spcBef>
                <a:buSzPct val="100000"/>
                <a:defRPr/>
              </a:pPr>
              <a:r>
                <a:rPr kumimoji="0" lang="en-US" sz="800" b="1" i="0" u="none" strike="noStrike" kern="1200" cap="none" spc="0" normalizeH="0" baseline="0" noProof="0" dirty="0" err="1">
                  <a:ln>
                    <a:noFill/>
                  </a:ln>
                  <a:effectLst/>
                  <a:uLnTx/>
                  <a:uFillTx/>
                  <a:latin typeface="Verdana"/>
                  <a:ea typeface="+mn-ea"/>
                  <a:cs typeface="+mn-cs"/>
                </a:rPr>
                <a:t>Meghanghat</a:t>
              </a:r>
              <a:r>
                <a:rPr kumimoji="0" lang="en-US" sz="800" b="1" i="0" u="none" strike="noStrike" kern="1200" cap="none" spc="0" normalizeH="0" baseline="0" noProof="0" dirty="0">
                  <a:ln>
                    <a:noFill/>
                  </a:ln>
                  <a:effectLst/>
                  <a:uLnTx/>
                  <a:uFillTx/>
                  <a:latin typeface="Verdana"/>
                  <a:ea typeface="+mn-ea"/>
                  <a:cs typeface="+mn-cs"/>
                </a:rPr>
                <a:t> 500 MW (</a:t>
              </a:r>
              <a:r>
                <a:rPr kumimoji="0" lang="en-US" sz="800" b="1" i="0" u="none" strike="noStrike" kern="1200" cap="none" spc="0" normalizeH="0" baseline="0" noProof="0" dirty="0" err="1">
                  <a:ln>
                    <a:noFill/>
                  </a:ln>
                  <a:effectLst/>
                  <a:uLnTx/>
                  <a:uFillTx/>
                  <a:latin typeface="Verdana"/>
                  <a:ea typeface="+mn-ea"/>
                  <a:cs typeface="+mn-cs"/>
                </a:rPr>
                <a:t>Anlima</a:t>
              </a:r>
              <a:r>
                <a:rPr kumimoji="0" lang="en-US" sz="800" b="1" i="0" u="none" strike="noStrike" kern="1200" cap="none" spc="0" normalizeH="0" baseline="0" noProof="0" dirty="0">
                  <a:ln>
                    <a:noFill/>
                  </a:ln>
                  <a:effectLst/>
                  <a:uLnTx/>
                  <a:uFillTx/>
                  <a:latin typeface="Verdana"/>
                  <a:ea typeface="+mn-ea"/>
                  <a:cs typeface="+mn-cs"/>
                </a:rPr>
                <a:t>) CCPP</a:t>
              </a:r>
              <a:br>
                <a:rPr kumimoji="0" lang="en-US" sz="800" b="1" i="0" u="none" strike="noStrike" kern="1200" cap="none" spc="0" normalizeH="0" baseline="0" noProof="0" dirty="0">
                  <a:ln>
                    <a:noFill/>
                  </a:ln>
                  <a:effectLst/>
                  <a:uLnTx/>
                  <a:uFillTx/>
                  <a:latin typeface="Verdana"/>
                  <a:ea typeface="+mn-ea"/>
                  <a:cs typeface="+mn-cs"/>
                </a:rPr>
              </a:br>
              <a:r>
                <a:rPr lang="en-US" sz="800" b="1" dirty="0"/>
                <a:t>(GE </a:t>
              </a:r>
              <a:r>
                <a:rPr lang="en-US" sz="800" b="1" i="1" dirty="0"/>
                <a:t>(USA)</a:t>
              </a:r>
              <a:r>
                <a:rPr lang="en-US" sz="800" b="1" dirty="0"/>
                <a:t>)</a:t>
              </a:r>
              <a:endParaRPr kumimoji="0" lang="en-IN" sz="800" b="1" i="1" u="none" strike="noStrike" kern="1200" cap="none" spc="0" normalizeH="0" baseline="0" noProof="0" dirty="0">
                <a:ln>
                  <a:noFill/>
                </a:ln>
                <a:effectLst/>
                <a:uLnTx/>
                <a:uFillTx/>
                <a:latin typeface="Verdana"/>
              </a:endParaRPr>
            </a:p>
          </p:txBody>
        </p:sp>
        <p:cxnSp>
          <p:nvCxnSpPr>
            <p:cNvPr id="169" name="Straight Connector 168"/>
            <p:cNvCxnSpPr/>
            <p:nvPr/>
          </p:nvCxnSpPr>
          <p:spPr>
            <a:xfrm flipV="1">
              <a:off x="3634544" y="5106470"/>
              <a:ext cx="0" cy="703875"/>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170" name="Oval 169"/>
          <p:cNvSpPr>
            <a:spLocks/>
          </p:cNvSpPr>
          <p:nvPr/>
        </p:nvSpPr>
        <p:spPr bwMode="gray">
          <a:xfrm>
            <a:off x="9051990" y="4833971"/>
            <a:ext cx="478234" cy="478234"/>
          </a:xfrm>
          <a:prstGeom prst="ellipse">
            <a:avLst/>
          </a:prstGeom>
          <a:solidFill>
            <a:schemeClr val="accent4">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grpSp>
        <p:nvGrpSpPr>
          <p:cNvPr id="171" name="Group 170"/>
          <p:cNvGrpSpPr/>
          <p:nvPr/>
        </p:nvGrpSpPr>
        <p:grpSpPr>
          <a:xfrm>
            <a:off x="9055860" y="3095729"/>
            <a:ext cx="1299877" cy="2010739"/>
            <a:chOff x="753647" y="3112390"/>
            <a:chExt cx="1299877" cy="2010739"/>
          </a:xfrm>
        </p:grpSpPr>
        <p:sp>
          <p:nvSpPr>
            <p:cNvPr id="172" name="Oval 171"/>
            <p:cNvSpPr>
              <a:spLocks/>
            </p:cNvSpPr>
            <p:nvPr/>
          </p:nvSpPr>
          <p:spPr bwMode="gray">
            <a:xfrm>
              <a:off x="1487024" y="4979129"/>
              <a:ext cx="144000" cy="144000"/>
            </a:xfrm>
            <a:prstGeom prst="ellipse">
              <a:avLst/>
            </a:prstGeom>
            <a:solidFill>
              <a:schemeClr val="accent1">
                <a:lumMod val="60000"/>
                <a:lumOff val="4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173" name="TextBox 172"/>
            <p:cNvSpPr txBox="1"/>
            <p:nvPr/>
          </p:nvSpPr>
          <p:spPr>
            <a:xfrm>
              <a:off x="753647" y="3112390"/>
              <a:ext cx="1299877" cy="4924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800" b="1" i="0" u="none" strike="noStrike" kern="1200" cap="none" spc="0" normalizeH="0" baseline="0" noProof="0" dirty="0" err="1">
                  <a:ln>
                    <a:noFill/>
                  </a:ln>
                  <a:effectLst/>
                  <a:uLnTx/>
                  <a:uFillTx/>
                  <a:latin typeface="Verdana"/>
                  <a:ea typeface="+mn-ea"/>
                  <a:cs typeface="+mn-cs"/>
                </a:rPr>
                <a:t>Payra</a:t>
              </a:r>
              <a:r>
                <a:rPr kumimoji="0" lang="en-US" sz="800" b="1" i="0" u="none" strike="noStrike" kern="1200" cap="none" spc="0" normalizeH="0" baseline="0" noProof="0" dirty="0">
                  <a:ln>
                    <a:noFill/>
                  </a:ln>
                  <a:effectLst/>
                  <a:uLnTx/>
                  <a:uFillTx/>
                  <a:latin typeface="Verdana"/>
                  <a:ea typeface="+mn-ea"/>
                  <a:cs typeface="+mn-cs"/>
                </a:rPr>
                <a:t> </a:t>
              </a:r>
              <a:r>
                <a:rPr kumimoji="0" lang="en-US" sz="800" b="1" i="0" u="none" strike="noStrike" kern="1200" cap="none" spc="0" normalizeH="0" baseline="0" noProof="0" dirty="0" err="1">
                  <a:ln>
                    <a:noFill/>
                  </a:ln>
                  <a:effectLst/>
                  <a:uLnTx/>
                  <a:uFillTx/>
                  <a:latin typeface="Verdana"/>
                  <a:ea typeface="+mn-ea"/>
                  <a:cs typeface="+mn-cs"/>
                </a:rPr>
                <a:t>Pataukhali</a:t>
              </a:r>
              <a:r>
                <a:rPr kumimoji="0" lang="en-US" sz="800" b="1" i="0" u="none" strike="noStrike" kern="1200" cap="none" spc="0" normalizeH="0" baseline="0" noProof="0" dirty="0">
                  <a:ln>
                    <a:noFill/>
                  </a:ln>
                  <a:effectLst/>
                  <a:uLnTx/>
                  <a:uFillTx/>
                  <a:latin typeface="Verdana"/>
                  <a:ea typeface="+mn-ea"/>
                  <a:cs typeface="+mn-cs"/>
                </a:rPr>
                <a:t> 1320 MW Phase 2</a:t>
              </a:r>
              <a:br>
                <a:rPr kumimoji="0" lang="en-US" sz="800" b="1" i="0" u="none" strike="noStrike" kern="1200" cap="none" spc="0" normalizeH="0" noProof="0" dirty="0">
                  <a:ln>
                    <a:noFill/>
                  </a:ln>
                  <a:effectLst/>
                  <a:uLnTx/>
                  <a:uFillTx/>
                  <a:latin typeface="Verdana"/>
                  <a:ea typeface="+mn-ea"/>
                  <a:cs typeface="+mn-cs"/>
                </a:rPr>
              </a:br>
              <a:r>
                <a:rPr lang="en-US" sz="800" b="1" dirty="0">
                  <a:latin typeface="Verdana"/>
                </a:rPr>
                <a:t>(CMC </a:t>
              </a:r>
              <a:r>
                <a:rPr lang="en-US" sz="800" b="1" i="1" dirty="0">
                  <a:latin typeface="Verdana"/>
                </a:rPr>
                <a:t>(China); CEXIM Bank)</a:t>
              </a:r>
              <a:endParaRPr kumimoji="0" lang="en-IN" sz="800" b="1" i="1" u="none" strike="noStrike" kern="1200" cap="none" spc="0" normalizeH="0" baseline="0" noProof="0" dirty="0">
                <a:ln>
                  <a:noFill/>
                </a:ln>
                <a:effectLst/>
                <a:uLnTx/>
                <a:uFillTx/>
                <a:latin typeface="Verdana"/>
              </a:endParaRPr>
            </a:p>
          </p:txBody>
        </p:sp>
        <p:cxnSp>
          <p:nvCxnSpPr>
            <p:cNvPr id="174" name="Straight Connector 173"/>
            <p:cNvCxnSpPr>
              <a:stCxn id="172" idx="0"/>
            </p:cNvCxnSpPr>
            <p:nvPr/>
          </p:nvCxnSpPr>
          <p:spPr>
            <a:xfrm flipV="1">
              <a:off x="1559024" y="3706494"/>
              <a:ext cx="0" cy="1272635"/>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176" name="TextBox 175"/>
          <p:cNvSpPr txBox="1"/>
          <p:nvPr/>
        </p:nvSpPr>
        <p:spPr>
          <a:xfrm rot="16200000">
            <a:off x="201906" y="5576821"/>
            <a:ext cx="609846" cy="161584"/>
          </a:xfrm>
          <a:prstGeom prst="rect">
            <a:avLst/>
          </a:prstGeom>
          <a:noFill/>
        </p:spPr>
        <p:txBody>
          <a:bodyPr wrap="square" lIns="0" tIns="0" rIns="0" bIns="0" rtlCol="0" anchor="ctr">
            <a:spAutoFit/>
          </a:bodyPr>
          <a:lstStyle/>
          <a:p>
            <a:pPr algn="r">
              <a:spcBef>
                <a:spcPts val="600"/>
              </a:spcBef>
              <a:buSzPct val="100000"/>
            </a:pPr>
            <a:r>
              <a:rPr lang="en-GB" sz="1050" b="1" dirty="0"/>
              <a:t>2020</a:t>
            </a:r>
            <a:endParaRPr lang="en-GB" sz="500" dirty="0"/>
          </a:p>
        </p:txBody>
      </p:sp>
      <p:sp>
        <p:nvSpPr>
          <p:cNvPr id="177" name="TextBox 176"/>
          <p:cNvSpPr txBox="1"/>
          <p:nvPr/>
        </p:nvSpPr>
        <p:spPr>
          <a:xfrm rot="16200000">
            <a:off x="1734838" y="5576821"/>
            <a:ext cx="609846" cy="161584"/>
          </a:xfrm>
          <a:prstGeom prst="rect">
            <a:avLst/>
          </a:prstGeom>
          <a:noFill/>
        </p:spPr>
        <p:txBody>
          <a:bodyPr wrap="square" lIns="0" tIns="0" rIns="0" bIns="0" rtlCol="0" anchor="ctr">
            <a:spAutoFit/>
          </a:bodyPr>
          <a:lstStyle/>
          <a:p>
            <a:pPr algn="r">
              <a:spcBef>
                <a:spcPts val="600"/>
              </a:spcBef>
              <a:buSzPct val="100000"/>
            </a:pPr>
            <a:r>
              <a:rPr lang="en-GB" sz="1050" b="1" dirty="0"/>
              <a:t>2021</a:t>
            </a:r>
            <a:endParaRPr lang="en-GB" sz="500" dirty="0"/>
          </a:p>
        </p:txBody>
      </p:sp>
      <p:sp>
        <p:nvSpPr>
          <p:cNvPr id="178" name="TextBox 177"/>
          <p:cNvSpPr txBox="1"/>
          <p:nvPr/>
        </p:nvSpPr>
        <p:spPr>
          <a:xfrm rot="16200000">
            <a:off x="3301600" y="5576821"/>
            <a:ext cx="609846" cy="161584"/>
          </a:xfrm>
          <a:prstGeom prst="rect">
            <a:avLst/>
          </a:prstGeom>
          <a:noFill/>
        </p:spPr>
        <p:txBody>
          <a:bodyPr wrap="square" lIns="0" tIns="0" rIns="0" bIns="0" rtlCol="0" anchor="ctr">
            <a:spAutoFit/>
          </a:bodyPr>
          <a:lstStyle/>
          <a:p>
            <a:pPr algn="r">
              <a:spcBef>
                <a:spcPts val="600"/>
              </a:spcBef>
              <a:buSzPct val="100000"/>
            </a:pPr>
            <a:r>
              <a:rPr lang="en-GB" sz="1050" b="1" dirty="0"/>
              <a:t>2022</a:t>
            </a:r>
            <a:endParaRPr lang="en-GB" sz="500" dirty="0"/>
          </a:p>
        </p:txBody>
      </p:sp>
      <p:sp>
        <p:nvSpPr>
          <p:cNvPr id="180" name="TextBox 179"/>
          <p:cNvSpPr txBox="1"/>
          <p:nvPr/>
        </p:nvSpPr>
        <p:spPr>
          <a:xfrm rot="16200000">
            <a:off x="4247758" y="5576821"/>
            <a:ext cx="609846" cy="161584"/>
          </a:xfrm>
          <a:prstGeom prst="rect">
            <a:avLst/>
          </a:prstGeom>
          <a:noFill/>
        </p:spPr>
        <p:txBody>
          <a:bodyPr wrap="square" lIns="0" tIns="0" rIns="0" bIns="0" rtlCol="0" anchor="ctr">
            <a:spAutoFit/>
          </a:bodyPr>
          <a:lstStyle/>
          <a:p>
            <a:pPr algn="r">
              <a:spcBef>
                <a:spcPts val="600"/>
              </a:spcBef>
              <a:buSzPct val="100000"/>
            </a:pPr>
            <a:r>
              <a:rPr lang="en-GB" sz="1050" b="1" dirty="0"/>
              <a:t>2023</a:t>
            </a:r>
            <a:endParaRPr lang="en-GB" sz="500" dirty="0"/>
          </a:p>
        </p:txBody>
      </p:sp>
      <p:sp>
        <p:nvSpPr>
          <p:cNvPr id="181" name="TextBox 180"/>
          <p:cNvSpPr txBox="1"/>
          <p:nvPr/>
        </p:nvSpPr>
        <p:spPr>
          <a:xfrm rot="16200000">
            <a:off x="5879046" y="5576821"/>
            <a:ext cx="609846" cy="161584"/>
          </a:xfrm>
          <a:prstGeom prst="rect">
            <a:avLst/>
          </a:prstGeom>
          <a:noFill/>
        </p:spPr>
        <p:txBody>
          <a:bodyPr wrap="square" lIns="0" tIns="0" rIns="0" bIns="0" rtlCol="0" anchor="ctr">
            <a:spAutoFit/>
          </a:bodyPr>
          <a:lstStyle/>
          <a:p>
            <a:pPr algn="r">
              <a:spcBef>
                <a:spcPts val="600"/>
              </a:spcBef>
              <a:buSzPct val="100000"/>
            </a:pPr>
            <a:r>
              <a:rPr lang="en-GB" sz="1050" b="1" dirty="0"/>
              <a:t>2024</a:t>
            </a:r>
            <a:endParaRPr lang="en-GB" sz="500" dirty="0"/>
          </a:p>
        </p:txBody>
      </p:sp>
      <p:sp>
        <p:nvSpPr>
          <p:cNvPr id="182" name="TextBox 181"/>
          <p:cNvSpPr txBox="1"/>
          <p:nvPr/>
        </p:nvSpPr>
        <p:spPr>
          <a:xfrm rot="16200000">
            <a:off x="8986184" y="5576821"/>
            <a:ext cx="609846" cy="161584"/>
          </a:xfrm>
          <a:prstGeom prst="rect">
            <a:avLst/>
          </a:prstGeom>
          <a:noFill/>
        </p:spPr>
        <p:txBody>
          <a:bodyPr wrap="square" lIns="0" tIns="0" rIns="0" bIns="0" rtlCol="0" anchor="ctr">
            <a:spAutoFit/>
          </a:bodyPr>
          <a:lstStyle/>
          <a:p>
            <a:pPr algn="r">
              <a:spcBef>
                <a:spcPts val="600"/>
              </a:spcBef>
              <a:buSzPct val="100000"/>
            </a:pPr>
            <a:r>
              <a:rPr lang="en-GB" sz="1050" b="1" dirty="0"/>
              <a:t>2027</a:t>
            </a:r>
            <a:endParaRPr lang="en-GB" sz="500" dirty="0"/>
          </a:p>
        </p:txBody>
      </p:sp>
      <p:sp>
        <p:nvSpPr>
          <p:cNvPr id="186" name="Oval 185"/>
          <p:cNvSpPr>
            <a:spLocks/>
          </p:cNvSpPr>
          <p:nvPr/>
        </p:nvSpPr>
        <p:spPr bwMode="gray">
          <a:xfrm>
            <a:off x="7519252" y="6591511"/>
            <a:ext cx="144000" cy="144000"/>
          </a:xfrm>
          <a:prstGeom prst="ellipse">
            <a:avLst/>
          </a:prstGeom>
          <a:solidFill>
            <a:schemeClr val="accent1">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187" name="Oval 186"/>
          <p:cNvSpPr>
            <a:spLocks/>
          </p:cNvSpPr>
          <p:nvPr/>
        </p:nvSpPr>
        <p:spPr bwMode="gray">
          <a:xfrm>
            <a:off x="7519252" y="6881323"/>
            <a:ext cx="144000" cy="144000"/>
          </a:xfrm>
          <a:prstGeom prst="ellipse">
            <a:avLst/>
          </a:prstGeom>
          <a:solidFill>
            <a:schemeClr val="accent1">
              <a:lumMod val="60000"/>
              <a:lumOff val="4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000" b="1" i="0" u="none" strike="noStrike" kern="1200" cap="none" spc="0" normalizeH="0" baseline="0" noProof="0" dirty="0">
              <a:ln>
                <a:noFill/>
              </a:ln>
              <a:solidFill>
                <a:prstClr val="black"/>
              </a:solidFill>
              <a:effectLst/>
              <a:uLnTx/>
              <a:uFillTx/>
              <a:latin typeface="Verdana"/>
              <a:ea typeface="+mn-ea"/>
              <a:cs typeface="+mn-cs"/>
            </a:endParaRPr>
          </a:p>
        </p:txBody>
      </p:sp>
      <p:sp>
        <p:nvSpPr>
          <p:cNvPr id="188" name="TextBox 187"/>
          <p:cNvSpPr txBox="1"/>
          <p:nvPr/>
        </p:nvSpPr>
        <p:spPr>
          <a:xfrm>
            <a:off x="7758205" y="6599198"/>
            <a:ext cx="2741013" cy="153888"/>
          </a:xfrm>
          <a:prstGeom prst="rect">
            <a:avLst/>
          </a:prstGeom>
          <a:noFill/>
        </p:spPr>
        <p:txBody>
          <a:bodyPr wrap="square" lIns="0" tIns="0" rIns="0" bIns="0" rtlCol="0">
            <a:spAutoFit/>
          </a:bodyPr>
          <a:lstStyle/>
          <a:p>
            <a:pPr>
              <a:spcBef>
                <a:spcPts val="600"/>
              </a:spcBef>
              <a:buSzPct val="100000"/>
            </a:pPr>
            <a:r>
              <a:rPr lang="en-US" sz="1000" dirty="0">
                <a:solidFill>
                  <a:srgbClr val="313131"/>
                </a:solidFill>
              </a:rPr>
              <a:t>Identified as upcoming in supply outlook</a:t>
            </a:r>
            <a:endParaRPr lang="en-IN" sz="1000" dirty="0">
              <a:solidFill>
                <a:srgbClr val="313131"/>
              </a:solidFill>
            </a:endParaRPr>
          </a:p>
        </p:txBody>
      </p:sp>
      <p:sp>
        <p:nvSpPr>
          <p:cNvPr id="189" name="TextBox 188"/>
          <p:cNvSpPr txBox="1"/>
          <p:nvPr/>
        </p:nvSpPr>
        <p:spPr>
          <a:xfrm>
            <a:off x="7758205" y="6873247"/>
            <a:ext cx="2741013" cy="307777"/>
          </a:xfrm>
          <a:prstGeom prst="rect">
            <a:avLst/>
          </a:prstGeom>
          <a:noFill/>
        </p:spPr>
        <p:txBody>
          <a:bodyPr wrap="square" lIns="0" tIns="0" rIns="0" bIns="0" rtlCol="0">
            <a:spAutoFit/>
          </a:bodyPr>
          <a:lstStyle/>
          <a:p>
            <a:pPr>
              <a:spcBef>
                <a:spcPts val="600"/>
              </a:spcBef>
              <a:buSzPct val="100000"/>
            </a:pPr>
            <a:r>
              <a:rPr lang="en-US" sz="1000" dirty="0">
                <a:solidFill>
                  <a:srgbClr val="313131"/>
                </a:solidFill>
              </a:rPr>
              <a:t>Planned Projects (may be delayed beyond FY26)</a:t>
            </a:r>
            <a:endParaRPr lang="en-IN" sz="1000" dirty="0">
              <a:solidFill>
                <a:srgbClr val="313131"/>
              </a:solidFill>
            </a:endParaRPr>
          </a:p>
        </p:txBody>
      </p:sp>
      <p:sp>
        <p:nvSpPr>
          <p:cNvPr id="79"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noProof="0" dirty="0">
                <a:solidFill>
                  <a:prstClr val="black">
                    <a:lumMod val="50000"/>
                    <a:lumOff val="50000"/>
                  </a:prstClr>
                </a:solidFill>
                <a:latin typeface="Verdana" panose="020B0604030504040204" pitchFamily="34" charset="0"/>
              </a:rPr>
              <a:t>The upcoming generation project pipeline also showcases strong </a:t>
            </a:r>
            <a:r>
              <a:rPr lang="en-US" sz="1400" dirty="0">
                <a:solidFill>
                  <a:prstClr val="black">
                    <a:lumMod val="50000"/>
                    <a:lumOff val="50000"/>
                  </a:prstClr>
                </a:solidFill>
                <a:latin typeface="Verdana" panose="020B0604030504040204" pitchFamily="34" charset="0"/>
              </a:rPr>
              <a:t>foreign equity &amp; debt participation</a:t>
            </a:r>
            <a:r>
              <a:rPr lang="en-US" sz="1400" noProof="0" dirty="0">
                <a:solidFill>
                  <a:prstClr val="black">
                    <a:lumMod val="50000"/>
                    <a:lumOff val="50000"/>
                  </a:prstClr>
                </a:solidFill>
                <a:latin typeface="Verdana" panose="020B0604030504040204" pitchFamily="34" charset="0"/>
              </a:rPr>
              <a:t> </a:t>
            </a:r>
            <a:endPar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sp>
        <p:nvSpPr>
          <p:cNvPr id="81" name="Rectangle 80"/>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a:lnSpc>
                <a:spcPct val="106000"/>
              </a:lnSpc>
              <a:defRPr/>
            </a:pPr>
            <a:r>
              <a:rPr lang="en-US" sz="700" i="1" dirty="0">
                <a:solidFill>
                  <a:prstClr val="black"/>
                </a:solidFill>
              </a:rPr>
              <a:t>Source: BPDB, Industry Reports, Deloitte Analysis</a:t>
            </a:r>
          </a:p>
        </p:txBody>
      </p:sp>
      <p:sp>
        <p:nvSpPr>
          <p:cNvPr id="8" name="Rectangle 7"/>
          <p:cNvSpPr/>
          <p:nvPr/>
        </p:nvSpPr>
        <p:spPr bwMode="gray">
          <a:xfrm>
            <a:off x="2764332" y="7296155"/>
            <a:ext cx="7501485" cy="224562"/>
          </a:xfrm>
          <a:prstGeom prst="rect">
            <a:avLst/>
          </a:prstGeom>
          <a:noFill/>
          <a:ln w="19050" algn="ctr">
            <a:noFill/>
            <a:miter lim="800000"/>
            <a:headEnd/>
            <a:tailEnd/>
          </a:ln>
        </p:spPr>
        <p:txBody>
          <a:bodyPr wrap="square" lIns="88900" tIns="88900" rIns="88900" bIns="88900" rtlCol="0" anchor="ctr"/>
          <a:lstStyle/>
          <a:p>
            <a:pPr>
              <a:lnSpc>
                <a:spcPct val="106000"/>
              </a:lnSpc>
              <a:buFont typeface="Wingdings 2" pitchFamily="18" charset="2"/>
              <a:buNone/>
            </a:pPr>
            <a:r>
              <a:rPr lang="en-US" sz="800" dirty="0"/>
              <a:t>Note: A few international players such as </a:t>
            </a:r>
            <a:r>
              <a:rPr lang="en-US" sz="800" dirty="0" err="1"/>
              <a:t>Sojits</a:t>
            </a:r>
            <a:r>
              <a:rPr lang="en-US" sz="800" dirty="0"/>
              <a:t>, Mitsubishi, </a:t>
            </a:r>
            <a:r>
              <a:rPr lang="en-US" sz="800" dirty="0" err="1"/>
              <a:t>Petronet</a:t>
            </a:r>
            <a:r>
              <a:rPr lang="en-US" sz="800" dirty="0"/>
              <a:t> LNG etc. have invested / planned investments in the Bangladesh economy (LNG Terminals, Ports, Renewable Energy Industrial Zones among others) which may directly / indirectly support the energy sector</a:t>
            </a:r>
            <a:endParaRPr lang="en-IN" sz="800" dirty="0"/>
          </a:p>
        </p:txBody>
      </p:sp>
    </p:spTree>
    <p:extLst>
      <p:ext uri="{BB962C8B-B14F-4D97-AF65-F5344CB8AC3E}">
        <p14:creationId xmlns:p14="http://schemas.microsoft.com/office/powerpoint/2010/main" val="2138349220"/>
      </p:ext>
    </p:extLst>
  </p:cSld>
  <p:clrMapOvr>
    <a:masterClrMapping/>
  </p:clrMapOvr>
  <p:transition>
    <p:fade/>
  </p:transition>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 name="Object 17" hidden="1"/>
          <p:cNvGraphicFramePr>
            <a:graphicFrameLocks noChangeAspect="1"/>
          </p:cNvGraphicFramePr>
          <p:nvPr>
            <p:custDataLst>
              <p:tags r:id="rId1"/>
            </p:custDataLst>
            <p:extLst>
              <p:ext uri="{D42A27DB-BD31-4B8C-83A1-F6EECF244321}">
                <p14:modId xmlns:p14="http://schemas.microsoft.com/office/powerpoint/2010/main" val="130722994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5" imgW="530" imgH="531" progId="TCLayout.ActiveDocument.1">
                  <p:embed/>
                </p:oleObj>
              </mc:Choice>
              <mc:Fallback>
                <p:oleObj name="think-cell Slide" r:id="rId25" imgW="530" imgH="531" progId="TCLayout.ActiveDocument.1">
                  <p:embed/>
                  <p:pic>
                    <p:nvPicPr>
                      <p:cNvPr id="18" name="Object 17" hidden="1"/>
                      <p:cNvPicPr/>
                      <p:nvPr/>
                    </p:nvPicPr>
                    <p:blipFill>
                      <a:blip r:embed="rId26"/>
                      <a:stretch>
                        <a:fillRect/>
                      </a:stretch>
                    </p:blipFill>
                    <p:spPr>
                      <a:xfrm>
                        <a:off x="1588" y="1588"/>
                        <a:ext cx="1588" cy="1588"/>
                      </a:xfrm>
                      <a:prstGeom prst="rect">
                        <a:avLst/>
                      </a:prstGeom>
                    </p:spPr>
                  </p:pic>
                </p:oleObj>
              </mc:Fallback>
            </mc:AlternateContent>
          </a:graphicData>
        </a:graphic>
      </p:graphicFrame>
      <p:sp>
        <p:nvSpPr>
          <p:cNvPr id="5" name="Rectangle 4"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defTabSz="914400">
              <a:lnSpc>
                <a:spcPct val="106000"/>
              </a:lnSpc>
              <a:buFont typeface="Wingdings 2" pitchFamily="18" charset="2"/>
              <a:buNone/>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sp>
        <p:nvSpPr>
          <p:cNvPr id="9" name="Rectangle 8"/>
          <p:cNvSpPr/>
          <p:nvPr/>
        </p:nvSpPr>
        <p:spPr bwMode="gray">
          <a:xfrm>
            <a:off x="5400676" y="4859339"/>
            <a:ext cx="4946649" cy="2259249"/>
          </a:xfrm>
          <a:prstGeom prst="rect">
            <a:avLst/>
          </a:prstGeom>
          <a:solidFill>
            <a:schemeClr val="accent2">
              <a:alpha val="13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 name="Title 1"/>
          <p:cNvSpPr>
            <a:spLocks noGrp="1"/>
          </p:cNvSpPr>
          <p:nvPr>
            <p:ph type="title"/>
          </p:nvPr>
        </p:nvSpPr>
        <p:spPr/>
        <p:txBody>
          <a:bodyPr/>
          <a:lstStyle/>
          <a:p>
            <a:r>
              <a:rPr lang="en-US" dirty="0"/>
              <a:t>Foreign Participation in Power Sector | Investment Overview</a:t>
            </a:r>
            <a:endParaRPr lang="en-IN" dirty="0"/>
          </a:p>
        </p:txBody>
      </p:sp>
      <p:graphicFrame>
        <p:nvGraphicFramePr>
          <p:cNvPr id="3" name="Table 2"/>
          <p:cNvGraphicFramePr>
            <a:graphicFrameLocks noGrp="1"/>
          </p:cNvGraphicFramePr>
          <p:nvPr>
            <p:custDataLst>
              <p:tags r:id="rId3"/>
            </p:custDataLst>
            <p:extLst>
              <p:ext uri="{D42A27DB-BD31-4B8C-83A1-F6EECF244321}">
                <p14:modId xmlns:p14="http://schemas.microsoft.com/office/powerpoint/2010/main" val="2085628648"/>
              </p:ext>
            </p:extLst>
          </p:nvPr>
        </p:nvGraphicFramePr>
        <p:xfrm>
          <a:off x="449993" y="1961918"/>
          <a:ext cx="4734896" cy="51829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723655">
                <a:tc>
                  <a:txBody>
                    <a:bodyPr/>
                    <a:lstStyle/>
                    <a:p>
                      <a:pPr marL="0" indent="0" algn="just">
                        <a:spcBef>
                          <a:spcPts val="600"/>
                        </a:spcBef>
                        <a:spcAft>
                          <a:spcPts val="600"/>
                        </a:spcAft>
                        <a:buFont typeface="Arial" panose="020B0604020202020204" pitchFamily="34" charset="0"/>
                        <a:buNone/>
                      </a:pPr>
                      <a:r>
                        <a:rPr lang="en-US" sz="1000" b="1" baseline="0" dirty="0">
                          <a:solidFill>
                            <a:schemeClr val="tx1"/>
                          </a:solidFill>
                        </a:rPr>
                        <a:t>Asset portfolio for FY19</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The installed capacity for FY 19 was 18,961 MW, out of which the private sector comprised of 8,043 MW</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Company wise portfolio is as provided in the </a:t>
                      </a:r>
                      <a:r>
                        <a:rPr lang="en-US" sz="1000" b="1" baseline="0" dirty="0">
                          <a:solidFill>
                            <a:schemeClr val="tx1"/>
                          </a:solidFill>
                          <a:hlinkClick r:id="rId27" action="ppaction://hlinksldjump"/>
                        </a:rPr>
                        <a:t>Appendix</a:t>
                      </a:r>
                      <a:endParaRPr lang="en-US" sz="1000" b="1" baseline="0" dirty="0">
                        <a:solidFill>
                          <a:schemeClr val="tx1"/>
                        </a:solidFill>
                      </a:endParaRP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As mentioned earlier, Bangladesh has witnessed significant foreign investment in the power sector</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A large part of the foreign investment has been geared towards the private player power plants with ~4,000 MW of capacity receiving foreign equity &amp; loan support</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The Multilateral agencies have also provided investment support to the public and private players in the power sector with ~2,500 MW witnessing investment from Multilateral agencies (equity / loan)</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Apart from the private players, the foreign and multilateral agencies have also invested in public sector plants with ~1,200 MW and ~2,800 MW of public portfolio receiving investment from them respectively</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The BPDB plants are generally funded via loans from Multilateral agencies and Government of Bangladesh only</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Thus considering the foreign investment concentration towards privately owned power projects, Actis can look for potential opportunities in this segment</a:t>
                      </a:r>
                    </a:p>
                    <a:p>
                      <a:pPr marL="171450" indent="-171450" algn="just">
                        <a:spcBef>
                          <a:spcPts val="600"/>
                        </a:spcBef>
                        <a:spcAft>
                          <a:spcPts val="600"/>
                        </a:spcAft>
                        <a:buFont typeface="Arial" panose="020B0604020202020204" pitchFamily="34" charset="0"/>
                        <a:buChar char="•"/>
                      </a:pPr>
                      <a:endParaRPr lang="en-US" sz="1000" b="0" baseline="0" dirty="0">
                        <a:solidFill>
                          <a:schemeClr val="tx1"/>
                        </a:solidFill>
                      </a:endParaRPr>
                    </a:p>
                    <a:p>
                      <a:pPr marL="0" indent="0" algn="just">
                        <a:spcBef>
                          <a:spcPts val="600"/>
                        </a:spcBef>
                        <a:spcAft>
                          <a:spcPts val="600"/>
                        </a:spcAft>
                        <a:buFont typeface="Arial" panose="020B0604020202020204" pitchFamily="34" charset="0"/>
                        <a:buNone/>
                      </a:pPr>
                      <a:endParaRPr lang="en-US" sz="1000" b="1"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4"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dirty="0">
                <a:solidFill>
                  <a:prstClr val="black">
                    <a:lumMod val="50000"/>
                    <a:lumOff val="50000"/>
                  </a:prstClr>
                </a:solidFill>
                <a:latin typeface="Verdana" panose="020B0604030504040204" pitchFamily="34" charset="0"/>
              </a:rPr>
              <a:t>With over ~2,000 MW of Private Player backed power projects in Bangladesh receiving foreign investment, there may be a potential for Actis to evaluate prospective opportunity for investment</a:t>
            </a:r>
            <a:endPar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8" name="Table 7"/>
          <p:cNvGraphicFramePr>
            <a:graphicFrameLocks noGrp="1"/>
          </p:cNvGraphicFramePr>
          <p:nvPr>
            <p:custDataLst>
              <p:tags r:id="rId4"/>
            </p:custDataLst>
            <p:extLst>
              <p:ext uri="{D42A27DB-BD31-4B8C-83A1-F6EECF244321}">
                <p14:modId xmlns:p14="http://schemas.microsoft.com/office/powerpoint/2010/main" val="121657638"/>
              </p:ext>
            </p:extLst>
          </p:nvPr>
        </p:nvGraphicFramePr>
        <p:xfrm>
          <a:off x="5506068" y="1961918"/>
          <a:ext cx="4734896" cy="22873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297400">
                <a:tc>
                  <a:txBody>
                    <a:bodyPr/>
                    <a:lstStyle/>
                    <a:p>
                      <a:pPr marL="171450" indent="-171450" algn="just">
                        <a:spcBef>
                          <a:spcPts val="60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Following</a:t>
                      </a:r>
                      <a:r>
                        <a:rPr lang="en-US" sz="1000" b="0" baseline="0" dirty="0">
                          <a:solidFill>
                            <a:schemeClr val="tx1"/>
                          </a:solidFill>
                        </a:rPr>
                        <a:t> figure shows the distribution of installed capacity  (MW) for FY19</a:t>
                      </a:r>
                    </a:p>
                    <a:p>
                      <a:pPr marL="171450" indent="-171450" algn="just">
                        <a:spcBef>
                          <a:spcPts val="600"/>
                        </a:spcBef>
                        <a:spcAft>
                          <a:spcPts val="600"/>
                        </a:spcAft>
                        <a:buFont typeface="Arial" panose="020B0604020202020204" pitchFamily="34" charset="0"/>
                        <a:buChar char="•"/>
                      </a:pPr>
                      <a:endParaRPr lang="en-US" sz="1000" b="0" baseline="0" dirty="0">
                        <a:solidFill>
                          <a:schemeClr val="tx1"/>
                        </a:solidFill>
                      </a:endParaRPr>
                    </a:p>
                    <a:p>
                      <a:pPr marL="171450" indent="-171450" algn="just">
                        <a:spcBef>
                          <a:spcPts val="600"/>
                        </a:spcBef>
                        <a:spcAft>
                          <a:spcPts val="600"/>
                        </a:spcAft>
                        <a:buFont typeface="Arial" panose="020B0604020202020204" pitchFamily="34" charset="0"/>
                        <a:buChar char="•"/>
                      </a:pPr>
                      <a:endParaRPr lang="en-US" sz="1000" b="0" baseline="0" dirty="0">
                        <a:solidFill>
                          <a:schemeClr val="tx1"/>
                        </a:solidFill>
                      </a:endParaRPr>
                    </a:p>
                    <a:p>
                      <a:pPr marL="171450" indent="-171450" algn="just">
                        <a:spcBef>
                          <a:spcPts val="600"/>
                        </a:spcBef>
                        <a:spcAft>
                          <a:spcPts val="600"/>
                        </a:spcAft>
                        <a:buFont typeface="Arial" panose="020B0604020202020204" pitchFamily="34" charset="0"/>
                        <a:buChar char="•"/>
                      </a:pPr>
                      <a:endParaRPr lang="en-US" sz="1000" b="0" baseline="0" dirty="0">
                        <a:solidFill>
                          <a:schemeClr val="tx1"/>
                        </a:solidFill>
                      </a:endParaRPr>
                    </a:p>
                    <a:p>
                      <a:pPr marL="171450" indent="-171450" algn="just">
                        <a:spcBef>
                          <a:spcPts val="600"/>
                        </a:spcBef>
                        <a:spcAft>
                          <a:spcPts val="600"/>
                        </a:spcAft>
                        <a:buFont typeface="Arial" panose="020B0604020202020204" pitchFamily="34" charset="0"/>
                        <a:buChar char="•"/>
                      </a:pPr>
                      <a:endParaRPr lang="en-US" sz="1000" b="0" baseline="0" dirty="0">
                        <a:solidFill>
                          <a:schemeClr val="tx1"/>
                        </a:solidFill>
                      </a:endParaRPr>
                    </a:p>
                    <a:p>
                      <a:pPr marL="171450" indent="-171450" algn="just">
                        <a:spcBef>
                          <a:spcPts val="600"/>
                        </a:spcBef>
                        <a:spcAft>
                          <a:spcPts val="600"/>
                        </a:spcAft>
                        <a:buFont typeface="Arial" panose="020B0604020202020204" pitchFamily="34" charset="0"/>
                        <a:buChar char="•"/>
                      </a:pPr>
                      <a:endParaRPr lang="en-US" sz="1000" b="0" baseline="0" dirty="0">
                        <a:solidFill>
                          <a:schemeClr val="tx1"/>
                        </a:solidFill>
                      </a:endParaRPr>
                    </a:p>
                    <a:p>
                      <a:pPr marL="171450" indent="-171450" algn="just">
                        <a:spcBef>
                          <a:spcPts val="600"/>
                        </a:spcBef>
                        <a:spcAft>
                          <a:spcPts val="6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cxnSp>
        <p:nvCxnSpPr>
          <p:cNvPr id="47" name="Straight Connector 46"/>
          <p:cNvCxnSpPr/>
          <p:nvPr>
            <p:custDataLst>
              <p:tags r:id="rId5"/>
            </p:custDataLst>
          </p:nvPr>
        </p:nvCxnSpPr>
        <p:spPr bwMode="auto">
          <a:xfrm>
            <a:off x="9277350" y="2525713"/>
            <a:ext cx="3492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custDataLst>
              <p:tags r:id="rId6"/>
            </p:custDataLst>
          </p:nvPr>
        </p:nvCxnSpPr>
        <p:spPr bwMode="auto">
          <a:xfrm>
            <a:off x="6119813" y="3589338"/>
            <a:ext cx="3492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custDataLst>
              <p:tags r:id="rId7"/>
            </p:custDataLst>
          </p:nvPr>
        </p:nvCxnSpPr>
        <p:spPr bwMode="auto">
          <a:xfrm>
            <a:off x="6908800" y="3252788"/>
            <a:ext cx="3492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custDataLst>
              <p:tags r:id="rId8"/>
            </p:custDataLst>
          </p:nvPr>
        </p:nvCxnSpPr>
        <p:spPr bwMode="auto">
          <a:xfrm>
            <a:off x="8488363" y="2617788"/>
            <a:ext cx="349250"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custDataLst>
              <p:tags r:id="rId9"/>
            </p:custDataLst>
          </p:nvPr>
        </p:nvCxnSpPr>
        <p:spPr bwMode="auto">
          <a:xfrm>
            <a:off x="7697788" y="2738438"/>
            <a:ext cx="350838"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39" name="Chart 38"/>
          <p:cNvGraphicFramePr/>
          <p:nvPr>
            <p:custDataLst>
              <p:tags r:id="rId10"/>
            </p:custDataLst>
            <p:extLst>
              <p:ext uri="{D42A27DB-BD31-4B8C-83A1-F6EECF244321}">
                <p14:modId xmlns:p14="http://schemas.microsoft.com/office/powerpoint/2010/main" val="2766726379"/>
              </p:ext>
            </p:extLst>
          </p:nvPr>
        </p:nvGraphicFramePr>
        <p:xfrm>
          <a:off x="5422900" y="2325688"/>
          <a:ext cx="4900613" cy="1779587"/>
        </p:xfrm>
        <a:graphic>
          <a:graphicData uri="http://schemas.openxmlformats.org/drawingml/2006/chart">
            <c:chart xmlns:c="http://schemas.openxmlformats.org/drawingml/2006/chart" xmlns:r="http://schemas.openxmlformats.org/officeDocument/2006/relationships" r:id="rId28"/>
          </a:graphicData>
        </a:graphic>
      </p:graphicFrame>
      <p:sp>
        <p:nvSpPr>
          <p:cNvPr id="56" name="StandardTextbox"/>
          <p:cNvSpPr>
            <a:spLocks noGrp="1"/>
          </p:cNvSpPr>
          <p:nvPr>
            <p:custDataLst>
              <p:tags r:id="rId11"/>
            </p:custDataLst>
          </p:nvPr>
        </p:nvSpPr>
        <p:spPr bwMode="gray">
          <a:xfrm>
            <a:off x="8851901" y="2495550"/>
            <a:ext cx="411163" cy="152400"/>
          </a:xfrm>
          <a:prstGeom prst="rect">
            <a:avLst/>
          </a:prstGeom>
          <a:solidFill>
            <a:srgbClr val="86BC25"/>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11A84CA-4E19-4CFC-9DEC-6BF2AB6FF4C5}" type="datetime'''''''''''''''1'''''''''''''''''''''''''',''''''''160'''">
              <a:rPr kumimoji="0" lang="en-IN" altLang="en-US" sz="1000" b="0" i="0" u="none" strike="noStrike" kern="1200" cap="none" spc="0" normalizeH="0" baseline="0" noProof="0" smtClean="0">
                <a:ln>
                  <a:noFill/>
                </a:ln>
                <a:solidFill>
                  <a:prstClr val="white"/>
                </a:solidFill>
                <a:effectLst/>
                <a:uLnTx/>
                <a:uFillTx/>
                <a:latin typeface="Verdana"/>
                <a:ea typeface="+mn-ea"/>
                <a:cs typeface="+mn-cs"/>
                <a:sym typeface="+mn-lt"/>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1,160</a:t>
            </a:fld>
            <a:endParaRPr kumimoji="0" lang="en-IN" sz="1000" b="0" i="0" u="none" strike="noStrike" kern="1200" cap="none" spc="0" normalizeH="0" baseline="0" noProof="0" dirty="0">
              <a:ln>
                <a:noFill/>
              </a:ln>
              <a:solidFill>
                <a:prstClr val="white"/>
              </a:solidFill>
              <a:effectLst/>
              <a:uLnTx/>
              <a:uFillTx/>
              <a:latin typeface="Verdana"/>
              <a:ea typeface="+mn-ea"/>
              <a:cs typeface="+mn-cs"/>
              <a:sym typeface="+mn-lt"/>
            </a:endParaRPr>
          </a:p>
        </p:txBody>
      </p:sp>
      <p:sp>
        <p:nvSpPr>
          <p:cNvPr id="12" name="StandardTextbox"/>
          <p:cNvSpPr>
            <a:spLocks noGrp="1"/>
          </p:cNvSpPr>
          <p:nvPr>
            <p:custDataLst>
              <p:tags r:id="rId12"/>
            </p:custDataLst>
          </p:nvPr>
        </p:nvSpPr>
        <p:spPr bwMode="auto">
          <a:xfrm>
            <a:off x="5718175" y="4108450"/>
            <a:ext cx="3619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F8A0CB9-E39A-4194-BCAD-372A2F92A524}" type="datetime'''''''''''''BP''''''D''''''''''''''''''''''''''B'''">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BPDB</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5" name="StandardTextbox"/>
          <p:cNvSpPr>
            <a:spLocks noGrp="1"/>
          </p:cNvSpPr>
          <p:nvPr>
            <p:custDataLst>
              <p:tags r:id="rId13"/>
            </p:custDataLst>
          </p:nvPr>
        </p:nvSpPr>
        <p:spPr bwMode="auto">
          <a:xfrm>
            <a:off x="6496050" y="4108450"/>
            <a:ext cx="3857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C2AE5C8-A171-43D0-BE11-02EC054480A0}" type="datetime'''''P''''u''''bl''''i''''''''''''''c'''''''''''''''''''">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Public</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2" name="StandardTextbox"/>
          <p:cNvSpPr>
            <a:spLocks noGrp="1"/>
          </p:cNvSpPr>
          <p:nvPr>
            <p:custDataLst>
              <p:tags r:id="rId14"/>
            </p:custDataLst>
          </p:nvPr>
        </p:nvSpPr>
        <p:spPr bwMode="auto">
          <a:xfrm>
            <a:off x="9680575" y="4108450"/>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B346B88A-EC74-43A9-893D-5B7D0F194237}" type="datetime'''''''T''''''''''''''''''o''''''''t''a''''l'''''''''">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Total</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6" name="StandardTextbox"/>
          <p:cNvSpPr>
            <a:spLocks noGrp="1"/>
          </p:cNvSpPr>
          <p:nvPr>
            <p:custDataLst>
              <p:tags r:id="rId15"/>
            </p:custDataLst>
          </p:nvPr>
        </p:nvSpPr>
        <p:spPr bwMode="auto">
          <a:xfrm>
            <a:off x="7115175" y="4108450"/>
            <a:ext cx="7254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CFA08814-6DD0-4DD6-B8B5-043A15D8AF52}" type="datetime'I''''''P''''P /'''' S''''I''''''''P''''''''Ps'''''''''''''">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IPP / SIPPs</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3" name="StandardTextbox"/>
          <p:cNvSpPr>
            <a:spLocks noGrp="1"/>
          </p:cNvSpPr>
          <p:nvPr>
            <p:custDataLst>
              <p:tags r:id="rId16"/>
            </p:custDataLst>
          </p:nvPr>
        </p:nvSpPr>
        <p:spPr bwMode="auto">
          <a:xfrm>
            <a:off x="8024813" y="4108450"/>
            <a:ext cx="4873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80786A95-654C-4308-AC2D-761D077E619F}" type="datetime'''''''R''''''''''''''''''''ent''a''''''l''''''''''s'''''''">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Rentals</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27" name="StandardTextbox"/>
          <p:cNvSpPr>
            <a:spLocks noGrp="1"/>
          </p:cNvSpPr>
          <p:nvPr>
            <p:custDataLst>
              <p:tags r:id="rId17"/>
            </p:custDataLst>
          </p:nvPr>
        </p:nvSpPr>
        <p:spPr bwMode="auto">
          <a:xfrm>
            <a:off x="8831263" y="4108450"/>
            <a:ext cx="452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9456B386-A339-4DCA-8D41-7AD831DAA561}" type="datetime'I''m''''''po''''''''''r''''''''''''''''t'''''''">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Import</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6" name="Rectangle 5"/>
          <p:cNvSpPr/>
          <p:nvPr/>
        </p:nvSpPr>
        <p:spPr bwMode="gray">
          <a:xfrm>
            <a:off x="7082807" y="2402825"/>
            <a:ext cx="1575207" cy="1956450"/>
          </a:xfrm>
          <a:prstGeom prst="rect">
            <a:avLst/>
          </a:prstGeom>
          <a:solidFill>
            <a:schemeClr val="accent2">
              <a:alpha val="7000"/>
            </a:schemeClr>
          </a:solidFill>
          <a:ln w="3175" algn="ctr">
            <a:solidFill>
              <a:schemeClr val="accent2"/>
            </a:solidFill>
            <a:prstDash val="solid"/>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81" name="TextBox 80"/>
          <p:cNvSpPr txBox="1"/>
          <p:nvPr/>
        </p:nvSpPr>
        <p:spPr>
          <a:xfrm>
            <a:off x="7175581" y="3352772"/>
            <a:ext cx="1395249" cy="10772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700" b="1" i="0" u="none" strike="noStrike" kern="1200" cap="none" spc="0" normalizeH="0" baseline="0" noProof="0" dirty="0">
                <a:ln>
                  <a:noFill/>
                </a:ln>
                <a:solidFill>
                  <a:srgbClr val="313131"/>
                </a:solidFill>
                <a:effectLst/>
                <a:uLnTx/>
                <a:uFillTx/>
                <a:latin typeface="Verdana"/>
                <a:ea typeface="+mn-ea"/>
                <a:cs typeface="+mn-cs"/>
              </a:rPr>
              <a:t>Total Private - ~8,000 MW</a:t>
            </a:r>
            <a:endParaRPr kumimoji="0" lang="en-IN" sz="700" b="1" i="0" u="none" strike="noStrike" kern="1200" cap="none" spc="0" normalizeH="0" baseline="0" noProof="0" dirty="0">
              <a:ln>
                <a:noFill/>
              </a:ln>
              <a:solidFill>
                <a:srgbClr val="313131"/>
              </a:solidFill>
              <a:effectLst/>
              <a:uLnTx/>
              <a:uFillTx/>
              <a:latin typeface="Verdana"/>
              <a:ea typeface="+mn-ea"/>
              <a:cs typeface="+mn-cs"/>
            </a:endParaRPr>
          </a:p>
        </p:txBody>
      </p:sp>
      <p:graphicFrame>
        <p:nvGraphicFramePr>
          <p:cNvPr id="50" name="Chart 49"/>
          <p:cNvGraphicFramePr/>
          <p:nvPr>
            <p:custDataLst>
              <p:tags r:id="rId18"/>
            </p:custDataLst>
            <p:extLst>
              <p:ext uri="{D42A27DB-BD31-4B8C-83A1-F6EECF244321}">
                <p14:modId xmlns:p14="http://schemas.microsoft.com/office/powerpoint/2010/main" val="924406759"/>
              </p:ext>
            </p:extLst>
          </p:nvPr>
        </p:nvGraphicFramePr>
        <p:xfrm>
          <a:off x="5422900" y="4964113"/>
          <a:ext cx="4924425" cy="1747837"/>
        </p:xfrm>
        <a:graphic>
          <a:graphicData uri="http://schemas.openxmlformats.org/drawingml/2006/chart">
            <c:chart xmlns:c="http://schemas.openxmlformats.org/drawingml/2006/chart" xmlns:r="http://schemas.openxmlformats.org/officeDocument/2006/relationships" r:id="rId29"/>
          </a:graphicData>
        </a:graphic>
      </p:graphicFrame>
      <p:sp>
        <p:nvSpPr>
          <p:cNvPr id="84" name="StandardTextbox"/>
          <p:cNvSpPr>
            <a:spLocks noGrp="1"/>
          </p:cNvSpPr>
          <p:nvPr>
            <p:custDataLst>
              <p:tags r:id="rId19"/>
            </p:custDataLst>
          </p:nvPr>
        </p:nvSpPr>
        <p:spPr bwMode="auto">
          <a:xfrm>
            <a:off x="5830888" y="6715125"/>
            <a:ext cx="935038"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3EECBFC9-D325-4BF6-B7BA-E255E158C4FE}" type="datetime'Fo''r''eig''n E''q''uity ''In''v''''''''e''''s''''tmen''t'''''">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Foreign Equity Investment</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93" name="StandardTextbox"/>
          <p:cNvSpPr>
            <a:spLocks noGrp="1"/>
          </p:cNvSpPr>
          <p:nvPr>
            <p:custDataLst>
              <p:tags r:id="rId20"/>
            </p:custDataLst>
          </p:nvPr>
        </p:nvSpPr>
        <p:spPr bwMode="auto">
          <a:xfrm>
            <a:off x="8720138" y="6715125"/>
            <a:ext cx="15033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7210EA80-A458-4C5F-8624-F4CB270811B8}" type="datetime'''M''''''''ult''i''''lat''''era''''''l'' ''''I''nvestm''''ent'">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Multilateral Investment</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91" name="StandardTextbox"/>
          <p:cNvSpPr>
            <a:spLocks noGrp="1"/>
          </p:cNvSpPr>
          <p:nvPr>
            <p:custDataLst>
              <p:tags r:id="rId21"/>
            </p:custDataLst>
          </p:nvPr>
        </p:nvSpPr>
        <p:spPr bwMode="auto">
          <a:xfrm>
            <a:off x="7466013" y="6715125"/>
            <a:ext cx="8397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400B6BD-744F-4D32-A885-8C64D7194AFB}" type="datetime'''''F''''''''''o''''r''ei''''g''n ''''L''''o''a''''n'''">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Foreign Loan</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88" name="Rectangle 87"/>
          <p:cNvSpPr/>
          <p:nvPr>
            <p:custDataLst>
              <p:tags r:id="rId22"/>
            </p:custDataLst>
          </p:nvPr>
        </p:nvSpPr>
        <p:spPr bwMode="auto">
          <a:xfrm>
            <a:off x="7096125" y="6961188"/>
            <a:ext cx="179388" cy="133350"/>
          </a:xfrm>
          <a:prstGeom prst="rect">
            <a:avLst/>
          </a:prstGeom>
          <a:solidFill>
            <a:schemeClr val="accent2"/>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82" name="StandardTextbox"/>
          <p:cNvSpPr>
            <a:spLocks noGrp="1"/>
          </p:cNvSpPr>
          <p:nvPr>
            <p:custDataLst>
              <p:tags r:id="rId23"/>
            </p:custDataLst>
          </p:nvPr>
        </p:nvSpPr>
        <p:spPr bwMode="auto">
          <a:xfrm>
            <a:off x="7326313" y="6956425"/>
            <a:ext cx="12636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9D2B9581-AC59-42EC-8592-EDEFAA8EBE66}" type="datetime'''P''''ri''va''''''''''te ''P''la''''''n''''ts ''''''(M''W)'">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Private Plants (MW)</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34" name="Freeform 33"/>
          <p:cNvSpPr>
            <a:spLocks/>
          </p:cNvSpPr>
          <p:nvPr/>
        </p:nvSpPr>
        <p:spPr bwMode="auto">
          <a:xfrm rot="10800000">
            <a:off x="5331617" y="4357688"/>
            <a:ext cx="5109167" cy="501650"/>
          </a:xfrm>
          <a:custGeom>
            <a:avLst/>
            <a:gdLst/>
            <a:ahLst/>
            <a:cxnLst>
              <a:cxn ang="0">
                <a:pos x="0" y="0"/>
              </a:cxn>
              <a:cxn ang="0">
                <a:pos x="446" y="947"/>
              </a:cxn>
              <a:cxn ang="0">
                <a:pos x="844" y="950"/>
              </a:cxn>
              <a:cxn ang="0">
                <a:pos x="1290" y="3"/>
              </a:cxn>
              <a:cxn ang="0">
                <a:pos x="0" y="0"/>
              </a:cxn>
            </a:cxnLst>
            <a:rect l="0" t="0" r="r" b="b"/>
            <a:pathLst>
              <a:path w="1291" h="951">
                <a:moveTo>
                  <a:pt x="0" y="0"/>
                </a:moveTo>
                <a:lnTo>
                  <a:pt x="446" y="947"/>
                </a:lnTo>
                <a:lnTo>
                  <a:pt x="844" y="950"/>
                </a:lnTo>
                <a:lnTo>
                  <a:pt x="1290" y="3"/>
                </a:lnTo>
                <a:lnTo>
                  <a:pt x="0" y="0"/>
                </a:lnTo>
              </a:path>
            </a:pathLst>
          </a:custGeom>
          <a:solidFill>
            <a:schemeClr val="accent2">
              <a:alpha val="41000"/>
            </a:schemeClr>
          </a:solidFill>
          <a:ln w="9525" cap="rnd" cmpd="sng">
            <a:solidFill>
              <a:sysClr val="window" lastClr="FFFFFF"/>
            </a:solidFill>
            <a:prstDash val="solid"/>
            <a:round/>
            <a:headEnd type="none" w="med" len="med"/>
            <a:tailEnd type="none" w="med" len="me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ndParaRPr>
          </a:p>
        </p:txBody>
      </p:sp>
      <p:cxnSp>
        <p:nvCxnSpPr>
          <p:cNvPr id="35" name="Straight Connector 34"/>
          <p:cNvCxnSpPr/>
          <p:nvPr/>
        </p:nvCxnSpPr>
        <p:spPr>
          <a:xfrm rot="10800000" flipV="1">
            <a:off x="5983288" y="4668838"/>
            <a:ext cx="3700463" cy="0"/>
          </a:xfrm>
          <a:prstGeom prst="line">
            <a:avLst/>
          </a:prstGeom>
          <a:solidFill>
            <a:schemeClr val="accent1">
              <a:lumMod val="40000"/>
              <a:lumOff val="60000"/>
            </a:schemeClr>
          </a:solidFill>
          <a:ln w="95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flipV="1">
            <a:off x="6667500" y="4473575"/>
            <a:ext cx="2343150" cy="0"/>
          </a:xfrm>
          <a:prstGeom prst="line">
            <a:avLst/>
          </a:prstGeom>
          <a:solidFill>
            <a:schemeClr val="accent1">
              <a:lumMod val="40000"/>
              <a:lumOff val="60000"/>
            </a:schemeClr>
          </a:solidFill>
          <a:ln w="9525">
            <a:solidFill>
              <a:schemeClr val="bg1"/>
            </a:solidFill>
          </a:ln>
        </p:spPr>
        <p:style>
          <a:lnRef idx="1">
            <a:schemeClr val="accent1"/>
          </a:lnRef>
          <a:fillRef idx="0">
            <a:schemeClr val="accent1"/>
          </a:fillRef>
          <a:effectRef idx="0">
            <a:schemeClr val="accent1"/>
          </a:effectRef>
          <a:fontRef idx="minor">
            <a:schemeClr val="tx1"/>
          </a:fontRef>
        </p:style>
      </p:cxnSp>
      <p:sp>
        <p:nvSpPr>
          <p:cNvPr id="51" name="Rectangle 50"/>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a:lnSpc>
                <a:spcPct val="106000"/>
              </a:lnSpc>
              <a:defRPr/>
            </a:pPr>
            <a:r>
              <a:rPr lang="en-US" sz="700" i="1" dirty="0">
                <a:solidFill>
                  <a:prstClr val="black"/>
                </a:solidFill>
              </a:rPr>
              <a:t>Source: BPDB, Industry Reports Deloitte Analysis; Note: 1) The data for foreign equity, loan and multilateral investments do not indicate mutually exclusive investments</a:t>
            </a:r>
          </a:p>
        </p:txBody>
      </p:sp>
    </p:spTree>
    <p:extLst>
      <p:ext uri="{BB962C8B-B14F-4D97-AF65-F5344CB8AC3E}">
        <p14:creationId xmlns:p14="http://schemas.microsoft.com/office/powerpoint/2010/main" val="2167957400"/>
      </p:ext>
    </p:extLst>
  </p:cSld>
  <p:clrMapOvr>
    <a:masterClrMapping/>
  </p:clrMapOvr>
  <p:transition>
    <p:fade/>
  </p:transition>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noChangeAspect="1"/>
          </p:cNvGraphicFramePr>
          <p:nvPr>
            <p:custDataLst>
              <p:tags r:id="rId1"/>
            </p:custDataLst>
            <p:extLst>
              <p:ext uri="{D42A27DB-BD31-4B8C-83A1-F6EECF244321}">
                <p14:modId xmlns:p14="http://schemas.microsoft.com/office/powerpoint/2010/main" val="139446833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0" imgW="530" imgH="531" progId="TCLayout.ActiveDocument.1">
                  <p:embed/>
                </p:oleObj>
              </mc:Choice>
              <mc:Fallback>
                <p:oleObj name="think-cell Slide" r:id="rId20" imgW="530" imgH="531" progId="TCLayout.ActiveDocument.1">
                  <p:embed/>
                  <p:pic>
                    <p:nvPicPr>
                      <p:cNvPr id="6" name="Object 5" hidden="1"/>
                      <p:cNvPicPr/>
                      <p:nvPr/>
                    </p:nvPicPr>
                    <p:blipFill>
                      <a:blip r:embed="rId21"/>
                      <a:stretch>
                        <a:fillRect/>
                      </a:stretch>
                    </p:blipFill>
                    <p:spPr>
                      <a:xfrm>
                        <a:off x="1588" y="1588"/>
                        <a:ext cx="1588" cy="1588"/>
                      </a:xfrm>
                      <a:prstGeom prst="rect">
                        <a:avLst/>
                      </a:prstGeom>
                    </p:spPr>
                  </p:pic>
                </p:oleObj>
              </mc:Fallback>
            </mc:AlternateContent>
          </a:graphicData>
        </a:graphic>
      </p:graphicFrame>
      <p:sp>
        <p:nvSpPr>
          <p:cNvPr id="5" name="Rectangle 4"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3" name="Table 2"/>
          <p:cNvGraphicFramePr>
            <a:graphicFrameLocks noGrp="1"/>
          </p:cNvGraphicFramePr>
          <p:nvPr>
            <p:custDataLst>
              <p:tags r:id="rId3"/>
            </p:custDataLst>
            <p:extLst>
              <p:ext uri="{D42A27DB-BD31-4B8C-83A1-F6EECF244321}">
                <p14:modId xmlns:p14="http://schemas.microsoft.com/office/powerpoint/2010/main" val="2736045269"/>
              </p:ext>
            </p:extLst>
          </p:nvPr>
        </p:nvGraphicFramePr>
        <p:xfrm>
          <a:off x="449993" y="1961918"/>
          <a:ext cx="4734896" cy="44209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723655">
                <a:tc>
                  <a:txBody>
                    <a:bodyPr/>
                    <a:lstStyle/>
                    <a:p>
                      <a:pPr marL="0" indent="0" algn="just">
                        <a:spcBef>
                          <a:spcPts val="600"/>
                        </a:spcBef>
                        <a:spcAft>
                          <a:spcPts val="600"/>
                        </a:spcAft>
                        <a:buFont typeface="Arial" panose="020B0604020202020204" pitchFamily="34" charset="0"/>
                        <a:buNone/>
                      </a:pPr>
                      <a:r>
                        <a:rPr lang="en-US" sz="1000" b="1" baseline="0" dirty="0">
                          <a:solidFill>
                            <a:schemeClr val="tx1"/>
                          </a:solidFill>
                        </a:rPr>
                        <a:t>Foreign investment in Privately Owned Plants</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In terms of foreign investment, major foreign players &amp; multilateral agencies have preferred Gas based power plants for investment in Bangladesh</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These investments have been in line with global preference for cleaner fuels for investments</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In terms of equity investment by foreign players, ~1500 MW of gas based capacity have witnessed investment in the form of foreign equity and ~2,000 MW have had multilateral investments</a:t>
                      </a:r>
                    </a:p>
                    <a:p>
                      <a:pPr marL="171450" marR="0" lvl="0" indent="-171450" algn="just" defTabSz="990571" rtl="0" eaLnBrk="1" fontAlgn="auto" latinLnBrk="0" hangingPunct="1">
                        <a:lnSpc>
                          <a:spcPct val="100000"/>
                        </a:lnSpc>
                        <a:spcBef>
                          <a:spcPts val="600"/>
                        </a:spcBef>
                        <a:spcAft>
                          <a:spcPts val="600"/>
                        </a:spcAft>
                        <a:buClrTx/>
                        <a:buSzTx/>
                        <a:buFont typeface="Arial" panose="020B0604020202020204" pitchFamily="34" charset="0"/>
                        <a:buChar char="•"/>
                        <a:tabLst/>
                        <a:defRPr/>
                      </a:pPr>
                      <a:r>
                        <a:rPr lang="en-US" sz="1000" b="0" baseline="0" dirty="0">
                          <a:solidFill>
                            <a:schemeClr val="tx1"/>
                          </a:solidFill>
                        </a:rPr>
                        <a:t>While plants operating on HFO also managed to acquire foreign funding from all three avenues, they were majorly funded via foreign loan mode </a:t>
                      </a:r>
                    </a:p>
                    <a:p>
                      <a:pPr marL="171450" marR="0" lvl="0" indent="-171450" algn="just" defTabSz="990571" rtl="0" eaLnBrk="1" fontAlgn="auto" latinLnBrk="0" hangingPunct="1">
                        <a:lnSpc>
                          <a:spcPct val="100000"/>
                        </a:lnSpc>
                        <a:spcBef>
                          <a:spcPts val="600"/>
                        </a:spcBef>
                        <a:spcAft>
                          <a:spcPts val="600"/>
                        </a:spcAft>
                        <a:buClrTx/>
                        <a:buSzTx/>
                        <a:buFont typeface="Arial" panose="020B0604020202020204" pitchFamily="34" charset="0"/>
                        <a:buChar char="•"/>
                        <a:tabLst/>
                        <a:defRPr/>
                      </a:pPr>
                      <a:r>
                        <a:rPr lang="en-US" sz="1000" b="0" baseline="0" dirty="0">
                          <a:solidFill>
                            <a:schemeClr val="tx1"/>
                          </a:solidFill>
                        </a:rPr>
                        <a:t>The table on the right (below), highlights the major players who have invested in the IPP space as foreign equity and loans as well as Multilateral players with significant exposure in Bangladesh</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The gas based portfolio has attracted players such as Pendekar Energy, Sembcorp and GE and multilateral agencies such as IFC and ADB </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HSD operated plants secured equity investment from APR Energy and Aggratech AG and loans from Eastern Bank ltd and Saudi-Bangladesh Industrial and Agricultural Investment Company. </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4"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Gas based plants have witnessed</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majority investment by foreign players with Pendekar Energy being the largest foreign players and ADB / IFC being the largest multilateral players </a:t>
            </a:r>
            <a:endPar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8" name="Table 7"/>
          <p:cNvGraphicFramePr>
            <a:graphicFrameLocks noGrp="1"/>
          </p:cNvGraphicFramePr>
          <p:nvPr>
            <p:custDataLst>
              <p:tags r:id="rId4"/>
            </p:custDataLst>
            <p:extLst>
              <p:ext uri="{D42A27DB-BD31-4B8C-83A1-F6EECF244321}">
                <p14:modId xmlns:p14="http://schemas.microsoft.com/office/powerpoint/2010/main" val="2242137355"/>
              </p:ext>
            </p:extLst>
          </p:nvPr>
        </p:nvGraphicFramePr>
        <p:xfrm>
          <a:off x="5506068" y="1961917"/>
          <a:ext cx="4734896" cy="4585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441041">
                <a:tc>
                  <a:txBody>
                    <a:bodyPr/>
                    <a:lstStyle/>
                    <a:p>
                      <a:pPr marL="0" indent="0" algn="just">
                        <a:spcBef>
                          <a:spcPts val="600"/>
                        </a:spcBef>
                        <a:spcAft>
                          <a:spcPts val="600"/>
                        </a:spcAft>
                        <a:buFont typeface="Arial" panose="020B0604020202020204" pitchFamily="34" charset="0"/>
                        <a:buNone/>
                      </a:pPr>
                      <a:r>
                        <a:rPr lang="en-US" sz="1000" b="0" baseline="0" dirty="0">
                          <a:solidFill>
                            <a:schemeClr val="tx1"/>
                          </a:solidFill>
                        </a:rPr>
                        <a:t>Following figure shows the distribution of foreign investment (MW) according to operating fuel of plant for commissioned plants</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14" name="TextBox 13"/>
          <p:cNvSpPr txBox="1"/>
          <p:nvPr/>
        </p:nvSpPr>
        <p:spPr>
          <a:xfrm>
            <a:off x="5506203" y="4627238"/>
            <a:ext cx="4734761" cy="307777"/>
          </a:xfrm>
          <a:prstGeom prst="rect">
            <a:avLst/>
          </a:prstGeom>
          <a:noFill/>
        </p:spPr>
        <p:txBody>
          <a:bodyPr wrap="square" lIns="0" tIns="0" rIns="0" bIns="0" rtlCol="0">
            <a:spAutoFit/>
          </a:bodyPr>
          <a:lstStyle/>
          <a:p>
            <a:pPr marL="0" marR="0" lvl="0" indent="0" algn="just" defTabSz="914400" rtl="0" eaLnBrk="1" fontAlgn="auto" latinLnBrk="0" hangingPunct="1">
              <a:lnSpc>
                <a:spcPct val="100000"/>
              </a:lnSpc>
              <a:spcBef>
                <a:spcPts val="600"/>
              </a:spcBef>
              <a:spcAft>
                <a:spcPts val="60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Following table constitutes the list of major foreign players and multilateral funders for operational plants</a:t>
            </a:r>
          </a:p>
        </p:txBody>
      </p:sp>
      <p:graphicFrame>
        <p:nvGraphicFramePr>
          <p:cNvPr id="10" name="Table 9"/>
          <p:cNvGraphicFramePr>
            <a:graphicFrameLocks noGrp="1"/>
          </p:cNvGraphicFramePr>
          <p:nvPr>
            <p:extLst>
              <p:ext uri="{D42A27DB-BD31-4B8C-83A1-F6EECF244321}">
                <p14:modId xmlns:p14="http://schemas.microsoft.com/office/powerpoint/2010/main" val="1200238981"/>
              </p:ext>
            </p:extLst>
          </p:nvPr>
        </p:nvGraphicFramePr>
        <p:xfrm>
          <a:off x="5506068" y="5012554"/>
          <a:ext cx="4915304" cy="2110573"/>
        </p:xfrm>
        <a:graphic>
          <a:graphicData uri="http://schemas.openxmlformats.org/drawingml/2006/table">
            <a:tbl>
              <a:tblPr firstRow="1">
                <a:tableStyleId>{5C22544A-7EE6-4342-B048-85BDC9FD1C3A}</a:tableStyleId>
              </a:tblPr>
              <a:tblGrid>
                <a:gridCol w="558401">
                  <a:extLst>
                    <a:ext uri="{9D8B030D-6E8A-4147-A177-3AD203B41FA5}">
                      <a16:colId xmlns:a16="http://schemas.microsoft.com/office/drawing/2014/main" val="1950246367"/>
                    </a:ext>
                  </a:extLst>
                </a:gridCol>
                <a:gridCol w="1452301">
                  <a:extLst>
                    <a:ext uri="{9D8B030D-6E8A-4147-A177-3AD203B41FA5}">
                      <a16:colId xmlns:a16="http://schemas.microsoft.com/office/drawing/2014/main" val="3949766043"/>
                    </a:ext>
                  </a:extLst>
                </a:gridCol>
                <a:gridCol w="1452301">
                  <a:extLst>
                    <a:ext uri="{9D8B030D-6E8A-4147-A177-3AD203B41FA5}">
                      <a16:colId xmlns:a16="http://schemas.microsoft.com/office/drawing/2014/main" val="279501602"/>
                    </a:ext>
                  </a:extLst>
                </a:gridCol>
                <a:gridCol w="1452301">
                  <a:extLst>
                    <a:ext uri="{9D8B030D-6E8A-4147-A177-3AD203B41FA5}">
                      <a16:colId xmlns:a16="http://schemas.microsoft.com/office/drawing/2014/main" val="2441610059"/>
                    </a:ext>
                  </a:extLst>
                </a:gridCol>
              </a:tblGrid>
              <a:tr h="281773">
                <a:tc>
                  <a:txBody>
                    <a:bodyPr/>
                    <a:lstStyle/>
                    <a:p>
                      <a:endParaRPr lang="en-IN" sz="1050" dirty="0"/>
                    </a:p>
                  </a:txBody>
                  <a:tcPr>
                    <a:solidFill>
                      <a:schemeClr val="bg1"/>
                    </a:solidFill>
                  </a:tcPr>
                </a:tc>
                <a:tc>
                  <a:txBody>
                    <a:bodyPr/>
                    <a:lstStyle/>
                    <a:p>
                      <a:r>
                        <a:rPr lang="en-US" sz="900" dirty="0"/>
                        <a:t>Foreign Equity</a:t>
                      </a:r>
                      <a:endParaRPr lang="en-IN" sz="900" dirty="0"/>
                    </a:p>
                  </a:txBody>
                  <a:tcPr>
                    <a:solidFill>
                      <a:schemeClr val="accent3">
                        <a:lumMod val="50000"/>
                      </a:schemeClr>
                    </a:solidFill>
                  </a:tcPr>
                </a:tc>
                <a:tc>
                  <a:txBody>
                    <a:bodyPr/>
                    <a:lstStyle/>
                    <a:p>
                      <a:r>
                        <a:rPr lang="en-US" sz="900" dirty="0"/>
                        <a:t>Foreign Loan</a:t>
                      </a:r>
                      <a:endParaRPr lang="en-IN" sz="900" dirty="0"/>
                    </a:p>
                  </a:txBody>
                  <a:tcPr>
                    <a:solidFill>
                      <a:schemeClr val="accent3">
                        <a:lumMod val="75000"/>
                      </a:schemeClr>
                    </a:solidFill>
                  </a:tcPr>
                </a:tc>
                <a:tc>
                  <a:txBody>
                    <a:bodyPr/>
                    <a:lstStyle/>
                    <a:p>
                      <a:r>
                        <a:rPr lang="en-US" sz="900" dirty="0"/>
                        <a:t>Multilateral</a:t>
                      </a:r>
                      <a:endParaRPr lang="en-IN" sz="900" dirty="0"/>
                    </a:p>
                  </a:txBody>
                  <a:tcPr>
                    <a:solidFill>
                      <a:schemeClr val="accent3"/>
                    </a:solidFill>
                  </a:tcPr>
                </a:tc>
                <a:extLst>
                  <a:ext uri="{0D108BD9-81ED-4DB2-BD59-A6C34878D82A}">
                    <a16:rowId xmlns:a16="http://schemas.microsoft.com/office/drawing/2014/main" val="3034127228"/>
                  </a:ext>
                </a:extLst>
              </a:tr>
              <a:tr h="348131">
                <a:tc>
                  <a:txBody>
                    <a:bodyPr/>
                    <a:lstStyle/>
                    <a:p>
                      <a:endParaRPr lang="en-IN" sz="1050" dirty="0"/>
                    </a:p>
                  </a:txBody>
                  <a:tcPr>
                    <a:solidFill>
                      <a:schemeClr val="bg1"/>
                    </a:solidFill>
                  </a:tcPr>
                </a:tc>
                <a:tc>
                  <a:txBody>
                    <a:bodyPr/>
                    <a:lstStyle/>
                    <a:p>
                      <a:r>
                        <a:rPr lang="en-US" sz="900" dirty="0"/>
                        <a:t>Pendekar Energy </a:t>
                      </a:r>
                    </a:p>
                    <a:p>
                      <a:r>
                        <a:rPr lang="en-US" sz="900" dirty="0"/>
                        <a:t>(920 MW)</a:t>
                      </a:r>
                      <a:endParaRPr lang="en-IN" sz="900" dirty="0"/>
                    </a:p>
                  </a:txBody>
                  <a:tcPr>
                    <a:solidFill>
                      <a:schemeClr val="accent3">
                        <a:lumMod val="60000"/>
                        <a:lumOff val="40000"/>
                      </a:schemeClr>
                    </a:solidFill>
                  </a:tcPr>
                </a:tc>
                <a:tc>
                  <a:txBody>
                    <a:bodyPr/>
                    <a:lstStyle/>
                    <a:p>
                      <a:r>
                        <a:rPr lang="en-US" sz="900" dirty="0"/>
                        <a:t>DEG</a:t>
                      </a:r>
                    </a:p>
                    <a:p>
                      <a:r>
                        <a:rPr lang="en-US" sz="900" dirty="0"/>
                        <a:t>(310</a:t>
                      </a:r>
                      <a:r>
                        <a:rPr lang="en-US" sz="900" baseline="0" dirty="0"/>
                        <a:t> MW)</a:t>
                      </a:r>
                      <a:endParaRPr lang="en-IN" sz="900" dirty="0"/>
                    </a:p>
                  </a:txBody>
                  <a:tcPr>
                    <a:solidFill>
                      <a:schemeClr val="accent3">
                        <a:lumMod val="40000"/>
                        <a:lumOff val="60000"/>
                      </a:schemeClr>
                    </a:solidFill>
                  </a:tcPr>
                </a:tc>
                <a:tc>
                  <a:txBody>
                    <a:bodyPr/>
                    <a:lstStyle/>
                    <a:p>
                      <a:r>
                        <a:rPr lang="en-US" sz="900" dirty="0"/>
                        <a:t>ADB</a:t>
                      </a:r>
                    </a:p>
                    <a:p>
                      <a:r>
                        <a:rPr lang="en-US" sz="900" dirty="0"/>
                        <a:t>(1,096</a:t>
                      </a:r>
                      <a:r>
                        <a:rPr lang="en-US" sz="900" baseline="0" dirty="0"/>
                        <a:t> MW)</a:t>
                      </a:r>
                    </a:p>
                  </a:txBody>
                  <a:tcPr>
                    <a:solidFill>
                      <a:schemeClr val="accent3">
                        <a:lumMod val="20000"/>
                        <a:lumOff val="80000"/>
                      </a:schemeClr>
                    </a:solidFill>
                  </a:tcPr>
                </a:tc>
                <a:extLst>
                  <a:ext uri="{0D108BD9-81ED-4DB2-BD59-A6C34878D82A}">
                    <a16:rowId xmlns:a16="http://schemas.microsoft.com/office/drawing/2014/main" val="937555447"/>
                  </a:ext>
                </a:extLst>
              </a:tr>
              <a:tr h="348131">
                <a:tc>
                  <a:txBody>
                    <a:bodyPr/>
                    <a:lstStyle/>
                    <a:p>
                      <a:endParaRPr lang="en-IN" sz="1050" dirty="0"/>
                    </a:p>
                  </a:txBody>
                  <a:tcPr>
                    <a:solidFill>
                      <a:schemeClr val="bg1"/>
                    </a:solidFill>
                  </a:tcPr>
                </a:tc>
                <a:tc>
                  <a:txBody>
                    <a:bodyPr/>
                    <a:lstStyle/>
                    <a:p>
                      <a:r>
                        <a:rPr lang="en-US" sz="900" dirty="0"/>
                        <a:t>GE </a:t>
                      </a:r>
                    </a:p>
                    <a:p>
                      <a:r>
                        <a:rPr lang="en-US" sz="900" dirty="0"/>
                        <a:t>(341</a:t>
                      </a:r>
                      <a:r>
                        <a:rPr lang="en-US" sz="900" baseline="0" dirty="0"/>
                        <a:t> MW)</a:t>
                      </a:r>
                      <a:endParaRPr lang="en-IN" sz="900" dirty="0"/>
                    </a:p>
                  </a:txBody>
                  <a:tcPr>
                    <a:solidFill>
                      <a:schemeClr val="accent3">
                        <a:lumMod val="60000"/>
                        <a:lumOff val="40000"/>
                      </a:schemeClr>
                    </a:solidFill>
                  </a:tcPr>
                </a:tc>
                <a:tc>
                  <a:txBody>
                    <a:bodyPr/>
                    <a:lstStyle/>
                    <a:p>
                      <a:r>
                        <a:rPr lang="en-US" sz="900" dirty="0"/>
                        <a:t>Sumitomo Mitsui</a:t>
                      </a:r>
                    </a:p>
                    <a:p>
                      <a:r>
                        <a:rPr lang="en-US" sz="900" dirty="0"/>
                        <a:t>(300 MW)</a:t>
                      </a:r>
                      <a:endParaRPr lang="en-IN" sz="900" dirty="0"/>
                    </a:p>
                  </a:txBody>
                  <a:tcPr>
                    <a:solidFill>
                      <a:schemeClr val="accent3">
                        <a:lumMod val="40000"/>
                        <a:lumOff val="60000"/>
                      </a:schemeClr>
                    </a:solidFill>
                  </a:tcPr>
                </a:tc>
                <a:tc>
                  <a:txBody>
                    <a:bodyPr/>
                    <a:lstStyle/>
                    <a:p>
                      <a:r>
                        <a:rPr lang="en-US" sz="900" dirty="0"/>
                        <a:t>IFC </a:t>
                      </a:r>
                    </a:p>
                    <a:p>
                      <a:r>
                        <a:rPr lang="en-US" sz="900" dirty="0"/>
                        <a:t>(1,036</a:t>
                      </a:r>
                      <a:r>
                        <a:rPr lang="en-US" sz="900" baseline="0" dirty="0"/>
                        <a:t> MW)</a:t>
                      </a:r>
                      <a:endParaRPr lang="en-IN" sz="900" dirty="0"/>
                    </a:p>
                  </a:txBody>
                  <a:tcPr>
                    <a:solidFill>
                      <a:schemeClr val="accent3">
                        <a:lumMod val="20000"/>
                        <a:lumOff val="80000"/>
                      </a:schemeClr>
                    </a:solidFill>
                  </a:tcPr>
                </a:tc>
                <a:extLst>
                  <a:ext uri="{0D108BD9-81ED-4DB2-BD59-A6C34878D82A}">
                    <a16:rowId xmlns:a16="http://schemas.microsoft.com/office/drawing/2014/main" val="2058171041"/>
                  </a:ext>
                </a:extLst>
              </a:tr>
              <a:tr h="348131">
                <a:tc>
                  <a:txBody>
                    <a:bodyPr/>
                    <a:lstStyle/>
                    <a:p>
                      <a:endParaRPr lang="en-IN" sz="1050" dirty="0"/>
                    </a:p>
                  </a:txBody>
                  <a:tcPr>
                    <a:solidFill>
                      <a:schemeClr val="bg1"/>
                    </a:solidFill>
                  </a:tcP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US" sz="900" dirty="0"/>
                        <a:t>APR Energy </a:t>
                      </a:r>
                    </a:p>
                    <a:p>
                      <a:pPr marL="0" marR="0" lvl="0" indent="0" algn="l" defTabSz="990571" rtl="0" eaLnBrk="1" fontAlgn="auto" latinLnBrk="0" hangingPunct="1">
                        <a:lnSpc>
                          <a:spcPct val="100000"/>
                        </a:lnSpc>
                        <a:spcBef>
                          <a:spcPts val="0"/>
                        </a:spcBef>
                        <a:spcAft>
                          <a:spcPts val="0"/>
                        </a:spcAft>
                        <a:buClrTx/>
                        <a:buSzTx/>
                        <a:buFontTx/>
                        <a:buNone/>
                        <a:tabLst/>
                        <a:defRPr/>
                      </a:pPr>
                      <a:r>
                        <a:rPr lang="en-US" sz="900" dirty="0"/>
                        <a:t>(300 MW)</a:t>
                      </a:r>
                      <a:endParaRPr lang="en-IN" sz="900" dirty="0"/>
                    </a:p>
                  </a:txBody>
                  <a:tcPr>
                    <a:solidFill>
                      <a:schemeClr val="accent3">
                        <a:lumMod val="60000"/>
                        <a:lumOff val="40000"/>
                      </a:schemeClr>
                    </a:solidFill>
                  </a:tcPr>
                </a:tc>
                <a:tc>
                  <a:txBody>
                    <a:bodyPr/>
                    <a:lstStyle/>
                    <a:p>
                      <a:r>
                        <a:rPr lang="en-US" sz="900" dirty="0"/>
                        <a:t>Standard Chartered</a:t>
                      </a:r>
                    </a:p>
                    <a:p>
                      <a:r>
                        <a:rPr lang="en-US" sz="900" baseline="0" dirty="0"/>
                        <a:t> (288 MW)</a:t>
                      </a:r>
                      <a:endParaRPr lang="en-IN" sz="900" dirty="0"/>
                    </a:p>
                  </a:txBody>
                  <a:tcPr>
                    <a:solidFill>
                      <a:schemeClr val="accent3">
                        <a:lumMod val="40000"/>
                        <a:lumOff val="60000"/>
                      </a:schemeClr>
                    </a:solidFill>
                  </a:tcPr>
                </a:tc>
                <a:tc>
                  <a:txBody>
                    <a:bodyPr/>
                    <a:lstStyle/>
                    <a:p>
                      <a:r>
                        <a:rPr lang="en-US" sz="900" dirty="0"/>
                        <a:t>IsDB</a:t>
                      </a:r>
                    </a:p>
                    <a:p>
                      <a:r>
                        <a:rPr lang="en-US" sz="900" dirty="0"/>
                        <a:t>(341 MW)</a:t>
                      </a:r>
                      <a:endParaRPr lang="en-IN" sz="900" dirty="0"/>
                    </a:p>
                  </a:txBody>
                  <a:tcPr>
                    <a:solidFill>
                      <a:srgbClr val="E0F0FA"/>
                    </a:solidFill>
                  </a:tcPr>
                </a:tc>
                <a:extLst>
                  <a:ext uri="{0D108BD9-81ED-4DB2-BD59-A6C34878D82A}">
                    <a16:rowId xmlns:a16="http://schemas.microsoft.com/office/drawing/2014/main" val="3354968468"/>
                  </a:ext>
                </a:extLst>
              </a:tr>
              <a:tr h="348131">
                <a:tc>
                  <a:txBody>
                    <a:bodyPr/>
                    <a:lstStyle/>
                    <a:p>
                      <a:endParaRPr lang="en-IN" sz="1050" dirty="0"/>
                    </a:p>
                  </a:txBody>
                  <a:tcPr>
                    <a:solidFill>
                      <a:schemeClr val="bg1"/>
                    </a:solidFill>
                  </a:tcPr>
                </a:tc>
                <a:tc>
                  <a:txBody>
                    <a:bodyPr/>
                    <a:lstStyle/>
                    <a:p>
                      <a:r>
                        <a:rPr lang="en-US" sz="900" dirty="0"/>
                        <a:t>Sembcorp Utilities </a:t>
                      </a:r>
                    </a:p>
                    <a:p>
                      <a:r>
                        <a:rPr lang="en-US" sz="900" dirty="0"/>
                        <a:t>(282 MW)</a:t>
                      </a:r>
                      <a:endParaRPr lang="en-IN" sz="900" dirty="0"/>
                    </a:p>
                  </a:txBody>
                  <a:tcPr>
                    <a:solidFill>
                      <a:schemeClr val="accent3">
                        <a:lumMod val="60000"/>
                        <a:lumOff val="40000"/>
                      </a:schemeClr>
                    </a:solidFill>
                  </a:tcPr>
                </a:tc>
                <a:tc>
                  <a:txBody>
                    <a:bodyPr/>
                    <a:lstStyle/>
                    <a:p>
                      <a:r>
                        <a:rPr lang="en-US" sz="900" dirty="0"/>
                        <a:t>Clifford Capital</a:t>
                      </a:r>
                    </a:p>
                    <a:p>
                      <a:r>
                        <a:rPr lang="en-US" sz="900" dirty="0"/>
                        <a:t>(282 MW)</a:t>
                      </a:r>
                    </a:p>
                  </a:txBody>
                  <a:tcPr>
                    <a:solidFill>
                      <a:srgbClr val="C0E1F5"/>
                    </a:solidFill>
                  </a:tcPr>
                </a:tc>
                <a:tc>
                  <a:txBody>
                    <a:bodyPr/>
                    <a:lstStyle/>
                    <a:p>
                      <a:r>
                        <a:rPr lang="en-US" sz="900" dirty="0"/>
                        <a:t>IDA</a:t>
                      </a:r>
                    </a:p>
                    <a:p>
                      <a:r>
                        <a:rPr lang="en-US" sz="900" dirty="0"/>
                        <a:t>(360 MW)</a:t>
                      </a:r>
                      <a:endParaRPr lang="en-IN" sz="900" dirty="0"/>
                    </a:p>
                  </a:txBody>
                  <a:tcPr>
                    <a:solidFill>
                      <a:srgbClr val="E0F0FA"/>
                    </a:solidFill>
                  </a:tcPr>
                </a:tc>
                <a:extLst>
                  <a:ext uri="{0D108BD9-81ED-4DB2-BD59-A6C34878D82A}">
                    <a16:rowId xmlns:a16="http://schemas.microsoft.com/office/drawing/2014/main" val="1113466722"/>
                  </a:ext>
                </a:extLst>
              </a:tr>
              <a:tr h="348131">
                <a:tc>
                  <a:txBody>
                    <a:bodyPr/>
                    <a:lstStyle/>
                    <a:p>
                      <a:endParaRPr lang="en-IN" sz="1050" dirty="0"/>
                    </a:p>
                  </a:txBody>
                  <a:tcPr>
                    <a:solidFill>
                      <a:schemeClr val="bg1"/>
                    </a:solidFill>
                  </a:tcPr>
                </a:tc>
                <a:tc>
                  <a:txBody>
                    <a:bodyPr/>
                    <a:lstStyle/>
                    <a:p>
                      <a:r>
                        <a:rPr lang="en-US" sz="900" dirty="0"/>
                        <a:t>Lakdhanvi Group</a:t>
                      </a:r>
                    </a:p>
                    <a:p>
                      <a:r>
                        <a:rPr lang="en-US" sz="900" dirty="0"/>
                        <a:t>(104 MW)</a:t>
                      </a:r>
                      <a:endParaRPr lang="en-IN" sz="900" dirty="0"/>
                    </a:p>
                  </a:txBody>
                  <a:tcPr>
                    <a:solidFill>
                      <a:schemeClr val="accent3">
                        <a:lumMod val="60000"/>
                        <a:lumOff val="40000"/>
                      </a:schemeClr>
                    </a:solidFill>
                  </a:tcPr>
                </a:tc>
                <a:tc>
                  <a:txBody>
                    <a:bodyPr/>
                    <a:lstStyle/>
                    <a:p>
                      <a:r>
                        <a:rPr lang="en-US" sz="900" dirty="0"/>
                        <a:t>SMO</a:t>
                      </a:r>
                      <a:r>
                        <a:rPr lang="en-US" sz="900" baseline="0" dirty="0"/>
                        <a:t> (Netherland)</a:t>
                      </a:r>
                    </a:p>
                    <a:p>
                      <a:r>
                        <a:rPr lang="en-US" sz="900" baseline="0" dirty="0"/>
                        <a:t>(115 MW)</a:t>
                      </a:r>
                      <a:endParaRPr lang="en-IN" sz="900" dirty="0"/>
                    </a:p>
                  </a:txBody>
                  <a:tcPr>
                    <a:solidFill>
                      <a:srgbClr val="C0E1F5"/>
                    </a:solidFill>
                  </a:tcPr>
                </a:tc>
                <a:tc>
                  <a:txBody>
                    <a:bodyPr/>
                    <a:lstStyle/>
                    <a:p>
                      <a:r>
                        <a:rPr lang="en-US" sz="900" dirty="0"/>
                        <a:t>ICD, OFID</a:t>
                      </a:r>
                    </a:p>
                    <a:p>
                      <a:r>
                        <a:rPr lang="en-US" sz="900" dirty="0"/>
                        <a:t>(149 MW)</a:t>
                      </a:r>
                      <a:endParaRPr lang="en-IN" sz="900" dirty="0"/>
                    </a:p>
                  </a:txBody>
                  <a:tcPr>
                    <a:solidFill>
                      <a:srgbClr val="E0F0FA"/>
                    </a:solidFill>
                  </a:tcPr>
                </a:tc>
                <a:extLst>
                  <a:ext uri="{0D108BD9-81ED-4DB2-BD59-A6C34878D82A}">
                    <a16:rowId xmlns:a16="http://schemas.microsoft.com/office/drawing/2014/main" val="2974806546"/>
                  </a:ext>
                </a:extLst>
              </a:tr>
            </a:tbl>
          </a:graphicData>
        </a:graphic>
      </p:graphicFrame>
      <p:sp>
        <p:nvSpPr>
          <p:cNvPr id="22" name="Oval 21"/>
          <p:cNvSpPr/>
          <p:nvPr/>
        </p:nvSpPr>
        <p:spPr bwMode="gray">
          <a:xfrm>
            <a:off x="5633542" y="5343962"/>
            <a:ext cx="284657" cy="284657"/>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1</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23" name="Oval 22"/>
          <p:cNvSpPr/>
          <p:nvPr/>
        </p:nvSpPr>
        <p:spPr bwMode="gray">
          <a:xfrm>
            <a:off x="5633543" y="5701528"/>
            <a:ext cx="284657" cy="284657"/>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2</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24" name="Oval 23"/>
          <p:cNvSpPr/>
          <p:nvPr/>
        </p:nvSpPr>
        <p:spPr bwMode="gray">
          <a:xfrm>
            <a:off x="5633543" y="6059094"/>
            <a:ext cx="284657" cy="284657"/>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3</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25" name="Oval 24"/>
          <p:cNvSpPr/>
          <p:nvPr/>
        </p:nvSpPr>
        <p:spPr bwMode="gray">
          <a:xfrm>
            <a:off x="5633543" y="6416660"/>
            <a:ext cx="284657" cy="284657"/>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4</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26" name="Oval 25"/>
          <p:cNvSpPr/>
          <p:nvPr/>
        </p:nvSpPr>
        <p:spPr bwMode="gray">
          <a:xfrm>
            <a:off x="5633542" y="6774225"/>
            <a:ext cx="284657" cy="284657"/>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5</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graphicFrame>
        <p:nvGraphicFramePr>
          <p:cNvPr id="62" name="Chart 61"/>
          <p:cNvGraphicFramePr/>
          <p:nvPr>
            <p:custDataLst>
              <p:tags r:id="rId5"/>
            </p:custDataLst>
            <p:extLst>
              <p:ext uri="{D42A27DB-BD31-4B8C-83A1-F6EECF244321}">
                <p14:modId xmlns:p14="http://schemas.microsoft.com/office/powerpoint/2010/main" val="1287844800"/>
              </p:ext>
            </p:extLst>
          </p:nvPr>
        </p:nvGraphicFramePr>
        <p:xfrm>
          <a:off x="5422900" y="2644775"/>
          <a:ext cx="4900613" cy="1495425"/>
        </p:xfrm>
        <a:graphic>
          <a:graphicData uri="http://schemas.openxmlformats.org/drawingml/2006/chart">
            <c:chart xmlns:c="http://schemas.openxmlformats.org/drawingml/2006/chart" xmlns:r="http://schemas.openxmlformats.org/officeDocument/2006/relationships" r:id="rId22"/>
          </a:graphicData>
        </a:graphic>
      </p:graphicFrame>
      <p:sp>
        <p:nvSpPr>
          <p:cNvPr id="21" name="StandardTextbox"/>
          <p:cNvSpPr>
            <a:spLocks noGrp="1"/>
          </p:cNvSpPr>
          <p:nvPr>
            <p:custDataLst>
              <p:tags r:id="rId6"/>
            </p:custDataLst>
          </p:nvPr>
        </p:nvSpPr>
        <p:spPr bwMode="gray">
          <a:xfrm>
            <a:off x="6107113" y="2843213"/>
            <a:ext cx="37147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B9AD902A-4B4D-4107-B6EF-95113A21B1BD}" type="datetime'''1'',''''''''''''''9''''''9''''7'''''''''''''''''''''''''">
              <a:rPr lang="en-IN" altLang="en-US" sz="900" b="0" smtClean="0">
                <a:sym typeface="+mn-lt"/>
              </a:rPr>
              <a:pPr lvl="1" algn="ctr">
                <a:spcBef>
                  <a:spcPct val="0"/>
                </a:spcBef>
                <a:spcAft>
                  <a:spcPct val="0"/>
                </a:spcAft>
              </a:pPr>
              <a:t>1,997</a:t>
            </a:fld>
            <a:endParaRPr lang="en-IN" sz="900" b="0" noProof="0" dirty="0">
              <a:sym typeface="+mn-lt"/>
            </a:endParaRPr>
          </a:p>
        </p:txBody>
      </p:sp>
      <p:sp>
        <p:nvSpPr>
          <p:cNvPr id="15" name="StandardTextbox"/>
          <p:cNvSpPr>
            <a:spLocks noGrp="1"/>
          </p:cNvSpPr>
          <p:nvPr>
            <p:custDataLst>
              <p:tags r:id="rId7"/>
            </p:custDataLst>
          </p:nvPr>
        </p:nvSpPr>
        <p:spPr bwMode="auto">
          <a:xfrm>
            <a:off x="5872163" y="4133850"/>
            <a:ext cx="84296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1BB34F1-B0E9-4F53-AB53-58BBB1A7AC0B}" type="datetime'''''For''e''''''''''''''''i''''gn'' ''E''''qui''''''''ty'">
              <a:rPr lang="en-IN" altLang="en-US" sz="900" b="0" smtClean="0">
                <a:sym typeface="+mn-lt"/>
              </a:rPr>
              <a:pPr lvl="1" algn="ctr">
                <a:spcBef>
                  <a:spcPct val="0"/>
                </a:spcBef>
                <a:spcAft>
                  <a:spcPct val="0"/>
                </a:spcAft>
              </a:pPr>
              <a:t>Foreign Equity</a:t>
            </a:fld>
            <a:endParaRPr lang="en-IN" sz="900" b="0" noProof="0" dirty="0">
              <a:sym typeface="+mn-lt"/>
            </a:endParaRPr>
          </a:p>
        </p:txBody>
      </p:sp>
      <p:sp>
        <p:nvSpPr>
          <p:cNvPr id="27" name="StandardTextbox"/>
          <p:cNvSpPr>
            <a:spLocks noGrp="1"/>
          </p:cNvSpPr>
          <p:nvPr>
            <p:custDataLst>
              <p:tags r:id="rId8"/>
            </p:custDataLst>
          </p:nvPr>
        </p:nvSpPr>
        <p:spPr bwMode="gray">
          <a:xfrm>
            <a:off x="7686675" y="2811463"/>
            <a:ext cx="37147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7E935EA-E974-44F3-A9EF-A99DE53D7775}" type="datetime'2'''''''',0''5''''''''''''''''''''''''''''''7'''">
              <a:rPr lang="en-IN" altLang="en-US" sz="900" b="0" smtClean="0">
                <a:sym typeface="+mn-lt"/>
              </a:rPr>
              <a:pPr lvl="1" algn="ctr">
                <a:spcBef>
                  <a:spcPct val="0"/>
                </a:spcBef>
                <a:spcAft>
                  <a:spcPct val="0"/>
                </a:spcAft>
              </a:pPr>
              <a:t>2,057</a:t>
            </a:fld>
            <a:endParaRPr lang="en-IN" sz="900" b="0" noProof="0" dirty="0">
              <a:sym typeface="+mn-lt"/>
            </a:endParaRPr>
          </a:p>
        </p:txBody>
      </p:sp>
      <p:sp>
        <p:nvSpPr>
          <p:cNvPr id="28" name="StandardTextbox"/>
          <p:cNvSpPr>
            <a:spLocks noGrp="1"/>
          </p:cNvSpPr>
          <p:nvPr>
            <p:custDataLst>
              <p:tags r:id="rId9"/>
            </p:custDataLst>
          </p:nvPr>
        </p:nvSpPr>
        <p:spPr bwMode="gray">
          <a:xfrm>
            <a:off x="9264650" y="2565400"/>
            <a:ext cx="37147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692DA56-5E83-401B-81E7-7039E0EE64AD}" type="datetime'''''''''''''2'''''''''''''',''''5''''''''''''2''''''''5'''''''">
              <a:rPr lang="en-IN" altLang="en-US" sz="900" b="0" smtClean="0">
                <a:sym typeface="+mn-lt"/>
              </a:rPr>
              <a:pPr lvl="1" algn="ctr">
                <a:spcBef>
                  <a:spcPct val="0"/>
                </a:spcBef>
                <a:spcAft>
                  <a:spcPct val="0"/>
                </a:spcAft>
              </a:pPr>
              <a:t>2,525</a:t>
            </a:fld>
            <a:endParaRPr lang="en-IN" sz="900" b="0" noProof="0" dirty="0">
              <a:sym typeface="+mn-lt"/>
            </a:endParaRPr>
          </a:p>
        </p:txBody>
      </p:sp>
      <p:sp>
        <p:nvSpPr>
          <p:cNvPr id="31" name="StandardTextbox"/>
          <p:cNvSpPr>
            <a:spLocks noGrp="1"/>
          </p:cNvSpPr>
          <p:nvPr>
            <p:custDataLst>
              <p:tags r:id="rId10"/>
            </p:custDataLst>
          </p:nvPr>
        </p:nvSpPr>
        <p:spPr bwMode="auto">
          <a:xfrm>
            <a:off x="7494588" y="4133850"/>
            <a:ext cx="75565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28A1370-7F15-4610-8A7B-793E49BCCAC4}" type="datetime'''''Fo''r''''e''''''''''i''g''''n ''''''''L''''''o''a''n'''">
              <a:rPr lang="en-IN" altLang="en-US" sz="900" b="0" smtClean="0">
                <a:sym typeface="+mn-lt"/>
              </a:rPr>
              <a:pPr lvl="1" algn="ctr">
                <a:spcBef>
                  <a:spcPct val="0"/>
                </a:spcBef>
                <a:spcAft>
                  <a:spcPct val="0"/>
                </a:spcAft>
              </a:pPr>
              <a:t>Foreign Loan</a:t>
            </a:fld>
            <a:endParaRPr lang="en-IN" sz="900" b="0" noProof="0" dirty="0">
              <a:sym typeface="+mn-lt"/>
            </a:endParaRPr>
          </a:p>
        </p:txBody>
      </p:sp>
      <p:sp>
        <p:nvSpPr>
          <p:cNvPr id="33" name="StandardTextbox"/>
          <p:cNvSpPr>
            <a:spLocks noGrp="1"/>
          </p:cNvSpPr>
          <p:nvPr>
            <p:custDataLst>
              <p:tags r:id="rId11"/>
            </p:custDataLst>
          </p:nvPr>
        </p:nvSpPr>
        <p:spPr bwMode="auto">
          <a:xfrm>
            <a:off x="9124950" y="4133850"/>
            <a:ext cx="65246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9E4FD17-0A04-47FE-B04A-BCB3C5064AED}" type="datetime'''''''Mu''lt''''''''i''''''l''''at''''''era''l'''''''''">
              <a:rPr lang="en-IN" altLang="en-US" sz="900" b="0" smtClean="0">
                <a:sym typeface="+mn-lt"/>
              </a:rPr>
              <a:pPr lvl="1" algn="ctr">
                <a:spcBef>
                  <a:spcPct val="0"/>
                </a:spcBef>
                <a:spcAft>
                  <a:spcPct val="0"/>
                </a:spcAft>
              </a:pPr>
              <a:t>Multilateral</a:t>
            </a:fld>
            <a:endParaRPr lang="en-IN" sz="900" b="0" noProof="0" dirty="0">
              <a:sym typeface="+mn-lt"/>
            </a:endParaRPr>
          </a:p>
        </p:txBody>
      </p:sp>
      <p:sp>
        <p:nvSpPr>
          <p:cNvPr id="38" name="StandardTextbox"/>
          <p:cNvSpPr>
            <a:spLocks noGrp="1"/>
          </p:cNvSpPr>
          <p:nvPr>
            <p:custDataLst>
              <p:tags r:id="rId12"/>
            </p:custDataLst>
          </p:nvPr>
        </p:nvSpPr>
        <p:spPr bwMode="gray">
          <a:xfrm>
            <a:off x="7743825" y="3494088"/>
            <a:ext cx="257175" cy="136525"/>
          </a:xfrm>
          <a:prstGeom prst="rect">
            <a:avLst/>
          </a:prstGeom>
          <a:solidFill>
            <a:srgbClr val="046A38"/>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2386314-26A5-4CAF-8AA9-8ABE48748097}" type="datetime'''1''''''''0''''''''''''''''''''''''''''0'">
              <a:rPr lang="en-IN" altLang="en-US" sz="900" b="0" smtClean="0">
                <a:solidFill>
                  <a:schemeClr val="bg1"/>
                </a:solidFill>
                <a:sym typeface="+mn-lt"/>
              </a:rPr>
              <a:pPr lvl="1" algn="ctr">
                <a:spcBef>
                  <a:spcPct val="0"/>
                </a:spcBef>
                <a:spcAft>
                  <a:spcPct val="0"/>
                </a:spcAft>
              </a:pPr>
              <a:t>100</a:t>
            </a:fld>
            <a:endParaRPr lang="en-IN" sz="900" b="0" noProof="0" dirty="0">
              <a:solidFill>
                <a:schemeClr val="bg1"/>
              </a:solidFill>
              <a:sym typeface="+mn-lt"/>
            </a:endParaRPr>
          </a:p>
        </p:txBody>
      </p:sp>
      <p:sp>
        <p:nvSpPr>
          <p:cNvPr id="12" name="Rectangle 11"/>
          <p:cNvSpPr/>
          <p:nvPr>
            <p:custDataLst>
              <p:tags r:id="rId13"/>
            </p:custDataLst>
          </p:nvPr>
        </p:nvSpPr>
        <p:spPr bwMode="auto">
          <a:xfrm>
            <a:off x="7615237" y="4398962"/>
            <a:ext cx="160338" cy="120650"/>
          </a:xfrm>
          <a:prstGeom prst="rect">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9" name="Rectangle 8"/>
          <p:cNvSpPr/>
          <p:nvPr>
            <p:custDataLst>
              <p:tags r:id="rId14"/>
            </p:custDataLst>
          </p:nvPr>
        </p:nvSpPr>
        <p:spPr bwMode="auto">
          <a:xfrm>
            <a:off x="7085012" y="4398962"/>
            <a:ext cx="160338" cy="120650"/>
          </a:xfrm>
          <a:prstGeom prst="rect">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3" name="Rectangle 12"/>
          <p:cNvSpPr/>
          <p:nvPr>
            <p:custDataLst>
              <p:tags r:id="rId15"/>
            </p:custDataLst>
          </p:nvPr>
        </p:nvSpPr>
        <p:spPr bwMode="auto">
          <a:xfrm>
            <a:off x="8178799" y="4398962"/>
            <a:ext cx="160338" cy="120650"/>
          </a:xfrm>
          <a:prstGeom prst="rect">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8" name="StandardTextbox"/>
          <p:cNvSpPr>
            <a:spLocks noGrp="1"/>
          </p:cNvSpPr>
          <p:nvPr>
            <p:custDataLst>
              <p:tags r:id="rId16"/>
            </p:custDataLst>
          </p:nvPr>
        </p:nvSpPr>
        <p:spPr bwMode="auto">
          <a:xfrm>
            <a:off x="7296150" y="4395788"/>
            <a:ext cx="2174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3E96C4FA-AE0D-4F36-97BA-9963291A58A5}" type="datetime'''''''''''G''''''''''''''''''''''''''''''''''''a''s'">
              <a:rPr lang="en-IN" altLang="en-US" sz="900" b="0" smtClean="0">
                <a:sym typeface="+mn-lt"/>
              </a:rPr>
              <a:pPr lvl="1">
                <a:spcBef>
                  <a:spcPct val="0"/>
                </a:spcBef>
                <a:spcAft>
                  <a:spcPct val="0"/>
                </a:spcAft>
              </a:pPr>
              <a:t>Gas</a:t>
            </a:fld>
            <a:endParaRPr lang="en-IN" sz="900" b="0" noProof="0" dirty="0">
              <a:sym typeface="+mn-lt"/>
            </a:endParaRPr>
          </a:p>
        </p:txBody>
      </p:sp>
      <p:sp>
        <p:nvSpPr>
          <p:cNvPr id="20" name="StandardTextbox"/>
          <p:cNvSpPr>
            <a:spLocks noGrp="1"/>
          </p:cNvSpPr>
          <p:nvPr>
            <p:custDataLst>
              <p:tags r:id="rId17"/>
            </p:custDataLst>
          </p:nvPr>
        </p:nvSpPr>
        <p:spPr bwMode="auto">
          <a:xfrm>
            <a:off x="8389937" y="4395788"/>
            <a:ext cx="2413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0C559941-0B91-480E-89D1-C5A280B50FC2}" type="datetime'''H''''''''''''''''F''''''''''''O'''''''''''''''''''''''''''">
              <a:rPr lang="en-IN" altLang="en-US" sz="900" b="0" smtClean="0">
                <a:sym typeface="+mn-lt"/>
              </a:rPr>
              <a:pPr lvl="1">
                <a:spcBef>
                  <a:spcPct val="0"/>
                </a:spcBef>
                <a:spcAft>
                  <a:spcPct val="0"/>
                </a:spcAft>
              </a:pPr>
              <a:t>HFO</a:t>
            </a:fld>
            <a:endParaRPr lang="en-IN" sz="900" b="0" noProof="0" dirty="0">
              <a:sym typeface="+mn-lt"/>
            </a:endParaRPr>
          </a:p>
        </p:txBody>
      </p:sp>
      <p:sp>
        <p:nvSpPr>
          <p:cNvPr id="19" name="StandardTextbox"/>
          <p:cNvSpPr>
            <a:spLocks noGrp="1"/>
          </p:cNvSpPr>
          <p:nvPr>
            <p:custDataLst>
              <p:tags r:id="rId18"/>
            </p:custDataLst>
          </p:nvPr>
        </p:nvSpPr>
        <p:spPr bwMode="auto">
          <a:xfrm>
            <a:off x="7826375" y="4395788"/>
            <a:ext cx="25082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A156DEC4-5702-4A12-838C-C13EE76D3944}" type="datetime'''H''''''''''''''''''''''''''''''''''''''''''SD'">
              <a:rPr lang="en-IN" altLang="en-US" sz="900" b="0" smtClean="0">
                <a:sym typeface="+mn-lt"/>
              </a:rPr>
              <a:pPr lvl="1">
                <a:spcBef>
                  <a:spcPct val="0"/>
                </a:spcBef>
                <a:spcAft>
                  <a:spcPct val="0"/>
                </a:spcAft>
              </a:pPr>
              <a:t>HSD</a:t>
            </a:fld>
            <a:endParaRPr lang="en-IN" sz="900" b="0" noProof="0" dirty="0">
              <a:sym typeface="+mn-lt"/>
            </a:endParaRPr>
          </a:p>
        </p:txBody>
      </p:sp>
      <p:sp>
        <p:nvSpPr>
          <p:cNvPr id="64" name="Rectangle 63"/>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a:lnSpc>
                <a:spcPct val="106000"/>
              </a:lnSpc>
              <a:defRPr/>
            </a:pPr>
            <a:r>
              <a:rPr lang="en-US" sz="700" i="1" dirty="0">
                <a:solidFill>
                  <a:prstClr val="black"/>
                </a:solidFill>
              </a:rPr>
              <a:t>Source: BPDB, Industry Reports Deloitte Analysis; Note: 1) The data for foreign equity, loan and multilateral investments do not indicate mutually exclusive investments</a:t>
            </a:r>
          </a:p>
        </p:txBody>
      </p:sp>
      <p:sp>
        <p:nvSpPr>
          <p:cNvPr id="66" name="Title 1"/>
          <p:cNvSpPr>
            <a:spLocks noGrp="1"/>
          </p:cNvSpPr>
          <p:nvPr>
            <p:ph type="title"/>
          </p:nvPr>
        </p:nvSpPr>
        <p:spPr>
          <a:xfrm>
            <a:off x="449264" y="647700"/>
            <a:ext cx="9791700" cy="431800"/>
          </a:xfrm>
        </p:spPr>
        <p:txBody>
          <a:bodyPr/>
          <a:lstStyle/>
          <a:p>
            <a:r>
              <a:rPr lang="en-US" dirty="0"/>
              <a:t>Foreign Participation in Power Sector | IPP Portfolio</a:t>
            </a:r>
            <a:endParaRPr lang="en-IN" dirty="0"/>
          </a:p>
        </p:txBody>
      </p:sp>
    </p:spTree>
    <p:extLst>
      <p:ext uri="{BB962C8B-B14F-4D97-AF65-F5344CB8AC3E}">
        <p14:creationId xmlns:p14="http://schemas.microsoft.com/office/powerpoint/2010/main" val="1520683268"/>
      </p:ext>
    </p:extLst>
  </p:cSld>
  <p:clrMapOvr>
    <a:masterClrMapping/>
  </p:clrMapOvr>
  <p:transition>
    <p:fade/>
  </p:transition>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1"/>
            </p:custDataLst>
            <p:extLst>
              <p:ext uri="{D42A27DB-BD31-4B8C-83A1-F6EECF244321}">
                <p14:modId xmlns:p14="http://schemas.microsoft.com/office/powerpoint/2010/main" val="127098086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4" imgW="530" imgH="531" progId="TCLayout.ActiveDocument.1">
                  <p:embed/>
                </p:oleObj>
              </mc:Choice>
              <mc:Fallback>
                <p:oleObj name="think-cell Slide" r:id="rId14" imgW="530" imgH="531" progId="TCLayout.ActiveDocument.1">
                  <p:embed/>
                  <p:pic>
                    <p:nvPicPr>
                      <p:cNvPr id="15" name="Object 14" hidden="1"/>
                      <p:cNvPicPr/>
                      <p:nvPr/>
                    </p:nvPicPr>
                    <p:blipFill>
                      <a:blip r:embed="rId15"/>
                      <a:stretch>
                        <a:fillRect/>
                      </a:stretch>
                    </p:blipFill>
                    <p:spPr>
                      <a:xfrm>
                        <a:off x="1588" y="1588"/>
                        <a:ext cx="1588" cy="1588"/>
                      </a:xfrm>
                      <a:prstGeom prst="rect">
                        <a:avLst/>
                      </a:prstGeom>
                    </p:spPr>
                  </p:pic>
                </p:oleObj>
              </mc:Fallback>
            </mc:AlternateContent>
          </a:graphicData>
        </a:graphic>
      </p:graphicFrame>
      <p:sp>
        <p:nvSpPr>
          <p:cNvPr id="7" name="Rectangle 6"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3" name="Table 2"/>
          <p:cNvGraphicFramePr>
            <a:graphicFrameLocks noGrp="1"/>
          </p:cNvGraphicFramePr>
          <p:nvPr>
            <p:custDataLst>
              <p:tags r:id="rId3"/>
            </p:custDataLst>
            <p:extLst>
              <p:ext uri="{D42A27DB-BD31-4B8C-83A1-F6EECF244321}">
                <p14:modId xmlns:p14="http://schemas.microsoft.com/office/powerpoint/2010/main" val="2544747640"/>
              </p:ext>
            </p:extLst>
          </p:nvPr>
        </p:nvGraphicFramePr>
        <p:xfrm>
          <a:off x="449993" y="1961918"/>
          <a:ext cx="4734896" cy="36589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1497517">
                <a:tc>
                  <a:txBody>
                    <a:bodyPr/>
                    <a:lstStyle/>
                    <a:p>
                      <a:pPr marL="0" indent="0" algn="just">
                        <a:spcBef>
                          <a:spcPts val="600"/>
                        </a:spcBef>
                        <a:spcAft>
                          <a:spcPts val="600"/>
                        </a:spcAft>
                        <a:buFont typeface="Arial" panose="020B0604020202020204" pitchFamily="34" charset="0"/>
                        <a:buNone/>
                      </a:pPr>
                      <a:r>
                        <a:rPr lang="en-US" sz="1000" b="1" baseline="0" dirty="0">
                          <a:solidFill>
                            <a:schemeClr val="tx1"/>
                          </a:solidFill>
                        </a:rPr>
                        <a:t>Potential investment area for Actis (Commissioned Plants) </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~3,400 MW of privately owned gas power plants are currently operational in Bangladesh</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In terms of the overall ~3,400 MW of gas based capacity, ~2,000 MW of capacity have been commissioned over 7 years ago </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These power plants would be of older technology and may not provide a suitable opportunity for new investments</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Thus, ~1,400 MW of capacity remains in the system which have been commissioned in the last 7 years and may provide for a suitable investment opportunity</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The table on the right (below) lists out the projects which have been commissioned in the last 7 years in Bangladesh (privately owned gas based power plants)</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All the plants are IPP / SIPP owned and are not rental in nature</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Actis may evaluate these plants in terms of potential investment opportunity</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0" name="Table 9"/>
          <p:cNvGraphicFramePr>
            <a:graphicFrameLocks noGrp="1"/>
          </p:cNvGraphicFramePr>
          <p:nvPr>
            <p:custDataLst>
              <p:tags r:id="rId4"/>
            </p:custDataLst>
            <p:extLst>
              <p:ext uri="{D42A27DB-BD31-4B8C-83A1-F6EECF244321}">
                <p14:modId xmlns:p14="http://schemas.microsoft.com/office/powerpoint/2010/main" val="989118551"/>
              </p:ext>
            </p:extLst>
          </p:nvPr>
        </p:nvGraphicFramePr>
        <p:xfrm>
          <a:off x="5506068" y="1961918"/>
          <a:ext cx="4734896" cy="33541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653691">
                <a:tc>
                  <a:txBody>
                    <a:bodyPr/>
                    <a:lstStyle/>
                    <a:p>
                      <a:pPr marL="171450" indent="-171450" algn="just" defTabSz="990571" rtl="0" eaLnBrk="1" latinLnBrk="0" hangingPunct="1">
                        <a:spcBef>
                          <a:spcPts val="60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Following chart indicates the capacity &amp; age of gas based plants of private players in Bangladesh in FY19</a:t>
                      </a: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marR="0" lvl="0" indent="-171450" algn="just" defTabSz="990571" rtl="0" eaLnBrk="1" fontAlgn="auto" latinLnBrk="0" hangingPunct="1">
                        <a:lnSpc>
                          <a:spcPct val="100000"/>
                        </a:lnSpc>
                        <a:spcBef>
                          <a:spcPts val="60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mn-lt"/>
                          <a:ea typeface="+mn-ea"/>
                          <a:cs typeface="+mn-cs"/>
                        </a:rPr>
                        <a:t>Following table indicates the list of projects for potential investment (commissioned in the last 7 years)</a:t>
                      </a: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val="1850004645"/>
              </p:ext>
            </p:extLst>
          </p:nvPr>
        </p:nvGraphicFramePr>
        <p:xfrm>
          <a:off x="5559929" y="5102505"/>
          <a:ext cx="4728653" cy="1859280"/>
        </p:xfrm>
        <a:graphic>
          <a:graphicData uri="http://schemas.openxmlformats.org/drawingml/2006/table">
            <a:tbl>
              <a:tblPr firstRow="1">
                <a:tableStyleId>{3B4B98B0-60AC-42C2-AFA5-B58CD77FA1E5}</a:tableStyleId>
              </a:tblPr>
              <a:tblGrid>
                <a:gridCol w="1111804">
                  <a:extLst>
                    <a:ext uri="{9D8B030D-6E8A-4147-A177-3AD203B41FA5}">
                      <a16:colId xmlns:a16="http://schemas.microsoft.com/office/drawing/2014/main" val="1659914186"/>
                    </a:ext>
                  </a:extLst>
                </a:gridCol>
                <a:gridCol w="694267">
                  <a:extLst>
                    <a:ext uri="{9D8B030D-6E8A-4147-A177-3AD203B41FA5}">
                      <a16:colId xmlns:a16="http://schemas.microsoft.com/office/drawing/2014/main" val="3349145812"/>
                    </a:ext>
                  </a:extLst>
                </a:gridCol>
                <a:gridCol w="784240">
                  <a:extLst>
                    <a:ext uri="{9D8B030D-6E8A-4147-A177-3AD203B41FA5}">
                      <a16:colId xmlns:a16="http://schemas.microsoft.com/office/drawing/2014/main" val="1580213636"/>
                    </a:ext>
                  </a:extLst>
                </a:gridCol>
                <a:gridCol w="583281">
                  <a:extLst>
                    <a:ext uri="{9D8B030D-6E8A-4147-A177-3AD203B41FA5}">
                      <a16:colId xmlns:a16="http://schemas.microsoft.com/office/drawing/2014/main" val="2955342936"/>
                    </a:ext>
                  </a:extLst>
                </a:gridCol>
                <a:gridCol w="853376">
                  <a:extLst>
                    <a:ext uri="{9D8B030D-6E8A-4147-A177-3AD203B41FA5}">
                      <a16:colId xmlns:a16="http://schemas.microsoft.com/office/drawing/2014/main" val="3345325919"/>
                    </a:ext>
                  </a:extLst>
                </a:gridCol>
                <a:gridCol w="701685">
                  <a:extLst>
                    <a:ext uri="{9D8B030D-6E8A-4147-A177-3AD203B41FA5}">
                      <a16:colId xmlns:a16="http://schemas.microsoft.com/office/drawing/2014/main" val="3083998670"/>
                    </a:ext>
                  </a:extLst>
                </a:gridCol>
              </a:tblGrid>
              <a:tr h="294900">
                <a:tc>
                  <a:txBody>
                    <a:bodyPr/>
                    <a:lstStyle/>
                    <a:p>
                      <a:pPr algn="l"/>
                      <a:r>
                        <a:rPr lang="en-US" sz="800" b="1" dirty="0">
                          <a:latin typeface="+mj-lt"/>
                        </a:rPr>
                        <a:t>Plant Name</a:t>
                      </a:r>
                      <a:endParaRPr lang="en-IN" sz="800" b="1" dirty="0">
                        <a:latin typeface="+mj-lt"/>
                      </a:endParaRPr>
                    </a:p>
                  </a:txBody>
                  <a:tcPr anchor="ctr"/>
                </a:tc>
                <a:tc>
                  <a:txBody>
                    <a:bodyPr/>
                    <a:lstStyle/>
                    <a:p>
                      <a:pPr algn="l"/>
                      <a:r>
                        <a:rPr lang="en-US" sz="800" b="1" dirty="0">
                          <a:latin typeface="+mj-lt"/>
                        </a:rPr>
                        <a:t>Capacity</a:t>
                      </a:r>
                    </a:p>
                    <a:p>
                      <a:pPr algn="l"/>
                      <a:r>
                        <a:rPr lang="en-US" sz="800" b="1" dirty="0">
                          <a:latin typeface="+mj-lt"/>
                        </a:rPr>
                        <a:t>(MW)</a:t>
                      </a:r>
                      <a:endParaRPr lang="en-IN" sz="800" b="1" dirty="0">
                        <a:latin typeface="+mj-lt"/>
                      </a:endParaRPr>
                    </a:p>
                  </a:txBody>
                  <a:tcPr anchor="ctr"/>
                </a:tc>
                <a:tc>
                  <a:txBody>
                    <a:bodyPr/>
                    <a:lstStyle/>
                    <a:p>
                      <a:pPr algn="ctr"/>
                      <a:r>
                        <a:rPr lang="en-US" sz="800" b="1" dirty="0">
                          <a:latin typeface="+mj-lt"/>
                        </a:rPr>
                        <a:t>COD</a:t>
                      </a:r>
                      <a:endParaRPr lang="en-IN" sz="800" b="1" dirty="0">
                        <a:latin typeface="+mj-lt"/>
                      </a:endParaRPr>
                    </a:p>
                  </a:txBody>
                  <a:tcPr anchor="ctr"/>
                </a:tc>
                <a:tc>
                  <a:txBody>
                    <a:bodyPr/>
                    <a:lstStyle/>
                    <a:p>
                      <a:pPr algn="l"/>
                      <a:r>
                        <a:rPr lang="en-US" sz="800" b="1" dirty="0">
                          <a:latin typeface="+mj-lt"/>
                        </a:rPr>
                        <a:t>PLF FY19</a:t>
                      </a:r>
                      <a:endParaRPr lang="en-IN" sz="800" b="1" dirty="0">
                        <a:latin typeface="+mj-lt"/>
                      </a:endParaRPr>
                    </a:p>
                  </a:txBody>
                  <a:tcPr anchor="ctr"/>
                </a:tc>
                <a:tc>
                  <a:txBody>
                    <a:bodyPr/>
                    <a:lstStyle/>
                    <a:p>
                      <a:pPr algn="ctr"/>
                      <a:r>
                        <a:rPr lang="en-US" sz="800" b="1" dirty="0">
                          <a:latin typeface="+mj-lt"/>
                        </a:rPr>
                        <a:t>Efficiency</a:t>
                      </a:r>
                      <a:endParaRPr lang="en-IN" sz="800" b="1" dirty="0">
                        <a:latin typeface="+mj-lt"/>
                      </a:endParaRPr>
                    </a:p>
                  </a:txBody>
                  <a:tcPr anchor="ctr"/>
                </a:tc>
                <a:tc>
                  <a:txBody>
                    <a:bodyPr/>
                    <a:lstStyle/>
                    <a:p>
                      <a:pPr algn="ctr"/>
                      <a:r>
                        <a:rPr lang="en-US" sz="800" b="1" dirty="0">
                          <a:latin typeface="+mj-lt"/>
                        </a:rPr>
                        <a:t>Owner</a:t>
                      </a:r>
                      <a:endParaRPr lang="en-IN" sz="800" b="1" dirty="0">
                        <a:latin typeface="+mj-lt"/>
                      </a:endParaRPr>
                    </a:p>
                  </a:txBody>
                  <a:tcPr anchor="ctr"/>
                </a:tc>
                <a:extLst>
                  <a:ext uri="{0D108BD9-81ED-4DB2-BD59-A6C34878D82A}">
                    <a16:rowId xmlns:a16="http://schemas.microsoft.com/office/drawing/2014/main" val="202154620"/>
                  </a:ext>
                </a:extLst>
              </a:tr>
              <a:tr h="294718">
                <a:tc>
                  <a:txBody>
                    <a:bodyPr/>
                    <a:lstStyle/>
                    <a:p>
                      <a:pPr algn="l" fontAlgn="ctr"/>
                      <a:r>
                        <a:rPr lang="en-US" sz="800" b="0" i="0" u="none" strike="noStrike" dirty="0">
                          <a:solidFill>
                            <a:srgbClr val="000000"/>
                          </a:solidFill>
                          <a:effectLst/>
                          <a:latin typeface="+mj-lt"/>
                        </a:rPr>
                        <a:t>Summit Bibiyana II</a:t>
                      </a:r>
                    </a:p>
                  </a:txBody>
                  <a:tcPr anchor="ctr"/>
                </a:tc>
                <a:tc>
                  <a:txBody>
                    <a:bodyPr/>
                    <a:lstStyle/>
                    <a:p>
                      <a:pPr algn="ctr" fontAlgn="ctr"/>
                      <a:r>
                        <a:rPr lang="en-IN" sz="800" b="0" i="0" u="none" strike="noStrike" dirty="0">
                          <a:solidFill>
                            <a:srgbClr val="000000"/>
                          </a:solidFill>
                          <a:effectLst/>
                          <a:latin typeface="+mj-lt"/>
                        </a:rPr>
                        <a:t>341</a:t>
                      </a:r>
                    </a:p>
                  </a:txBody>
                  <a:tcPr anchor="ctr"/>
                </a:tc>
                <a:tc>
                  <a:txBody>
                    <a:bodyPr/>
                    <a:lstStyle/>
                    <a:p>
                      <a:pPr algn="ctr" fontAlgn="b"/>
                      <a:r>
                        <a:rPr lang="en-IN" sz="800" b="0" i="0" u="none" strike="noStrike" dirty="0">
                          <a:solidFill>
                            <a:srgbClr val="000000"/>
                          </a:solidFill>
                          <a:effectLst/>
                          <a:latin typeface="+mj-lt"/>
                        </a:rPr>
                        <a:t>2015</a:t>
                      </a:r>
                    </a:p>
                  </a:txBody>
                  <a:tcPr anchor="ctr"/>
                </a:tc>
                <a:tc>
                  <a:txBody>
                    <a:bodyPr/>
                    <a:lstStyle/>
                    <a:p>
                      <a:pPr algn="ctr" fontAlgn="b"/>
                      <a:r>
                        <a:rPr lang="en-IN" sz="800" b="0" i="0" u="none" strike="noStrike" dirty="0">
                          <a:solidFill>
                            <a:srgbClr val="000000"/>
                          </a:solidFill>
                          <a:effectLst/>
                          <a:latin typeface="+mj-lt"/>
                        </a:rPr>
                        <a:t>76%</a:t>
                      </a:r>
                    </a:p>
                  </a:txBody>
                  <a:tcPr anchor="ctr"/>
                </a:tc>
                <a:tc>
                  <a:txBody>
                    <a:bodyPr/>
                    <a:lstStyle/>
                    <a:p>
                      <a:pPr algn="ctr" fontAlgn="b"/>
                      <a:r>
                        <a:rPr lang="en-IN" sz="800" b="0" i="0" u="none" strike="noStrike" dirty="0">
                          <a:solidFill>
                            <a:srgbClr val="000000"/>
                          </a:solidFill>
                          <a:effectLst/>
                          <a:latin typeface="+mj-lt"/>
                        </a:rPr>
                        <a:t>28.88%</a:t>
                      </a:r>
                    </a:p>
                  </a:txBody>
                  <a:tcPr anchor="ctr"/>
                </a:tc>
                <a:tc>
                  <a:txBody>
                    <a:bodyPr/>
                    <a:lstStyle/>
                    <a:p>
                      <a:pPr algn="ctr" fontAlgn="b"/>
                      <a:r>
                        <a:rPr lang="en-IN" sz="800" b="0" i="0" u="none" strike="noStrike" dirty="0">
                          <a:solidFill>
                            <a:srgbClr val="000000"/>
                          </a:solidFill>
                          <a:effectLst/>
                          <a:latin typeface="+mj-lt"/>
                        </a:rPr>
                        <a:t>Summit</a:t>
                      </a:r>
                    </a:p>
                  </a:txBody>
                  <a:tcPr anchor="ctr"/>
                </a:tc>
                <a:extLst>
                  <a:ext uri="{0D108BD9-81ED-4DB2-BD59-A6C34878D82A}">
                    <a16:rowId xmlns:a16="http://schemas.microsoft.com/office/drawing/2014/main" val="2120283131"/>
                  </a:ext>
                </a:extLst>
              </a:tr>
              <a:tr h="187548">
                <a:tc>
                  <a:txBody>
                    <a:bodyPr/>
                    <a:lstStyle/>
                    <a:p>
                      <a:pPr algn="l" fontAlgn="ctr"/>
                      <a:r>
                        <a:rPr lang="en-IN" sz="800" b="0" i="0" u="none" strike="noStrike" dirty="0">
                          <a:solidFill>
                            <a:srgbClr val="000000"/>
                          </a:solidFill>
                          <a:effectLst/>
                          <a:latin typeface="+mj-lt"/>
                        </a:rPr>
                        <a:t>Kushiara Power</a:t>
                      </a:r>
                    </a:p>
                  </a:txBody>
                  <a:tcPr anchor="ctr"/>
                </a:tc>
                <a:tc>
                  <a:txBody>
                    <a:bodyPr/>
                    <a:lstStyle/>
                    <a:p>
                      <a:pPr algn="ctr" fontAlgn="ctr"/>
                      <a:r>
                        <a:rPr lang="en-IN" sz="800" b="0" i="0" u="none" strike="noStrike" dirty="0">
                          <a:solidFill>
                            <a:srgbClr val="000000"/>
                          </a:solidFill>
                          <a:effectLst/>
                          <a:latin typeface="+mj-lt"/>
                        </a:rPr>
                        <a:t>163</a:t>
                      </a:r>
                    </a:p>
                  </a:txBody>
                  <a:tcPr anchor="ctr"/>
                </a:tc>
                <a:tc>
                  <a:txBody>
                    <a:bodyPr/>
                    <a:lstStyle/>
                    <a:p>
                      <a:pPr algn="ctr" fontAlgn="b"/>
                      <a:r>
                        <a:rPr lang="en-IN" sz="800" b="0" i="0" u="none" strike="noStrike" dirty="0">
                          <a:solidFill>
                            <a:srgbClr val="000000"/>
                          </a:solidFill>
                          <a:effectLst/>
                          <a:latin typeface="+mj-lt"/>
                        </a:rPr>
                        <a:t>2017</a:t>
                      </a:r>
                    </a:p>
                  </a:txBody>
                  <a:tcPr anchor="ctr"/>
                </a:tc>
                <a:tc>
                  <a:txBody>
                    <a:bodyPr/>
                    <a:lstStyle/>
                    <a:p>
                      <a:pPr algn="ctr" fontAlgn="b"/>
                      <a:r>
                        <a:rPr lang="en-IN" sz="800" b="0" i="0" u="none" strike="noStrike" dirty="0">
                          <a:solidFill>
                            <a:srgbClr val="000000"/>
                          </a:solidFill>
                          <a:effectLst/>
                          <a:latin typeface="+mj-lt"/>
                        </a:rPr>
                        <a:t>76%</a:t>
                      </a:r>
                    </a:p>
                  </a:txBody>
                  <a:tcPr anchor="ctr"/>
                </a:tc>
                <a:tc>
                  <a:txBody>
                    <a:bodyPr/>
                    <a:lstStyle/>
                    <a:p>
                      <a:pPr algn="ctr" fontAlgn="b"/>
                      <a:r>
                        <a:rPr lang="en-IN" sz="800" b="0" i="0" u="none" strike="noStrike" dirty="0">
                          <a:solidFill>
                            <a:srgbClr val="000000"/>
                          </a:solidFill>
                          <a:effectLst/>
                          <a:latin typeface="+mj-lt"/>
                        </a:rPr>
                        <a:t>35.70%</a:t>
                      </a:r>
                    </a:p>
                  </a:txBody>
                  <a:tcPr anchor="ctr"/>
                </a:tc>
                <a:tc>
                  <a:txBody>
                    <a:bodyPr/>
                    <a:lstStyle/>
                    <a:p>
                      <a:pPr algn="ctr" fontAlgn="b"/>
                      <a:r>
                        <a:rPr lang="en-IN" sz="800" b="0" i="0" u="none" strike="noStrike" dirty="0">
                          <a:solidFill>
                            <a:srgbClr val="000000"/>
                          </a:solidFill>
                          <a:effectLst/>
                          <a:latin typeface="+mj-lt"/>
                        </a:rPr>
                        <a:t>Max</a:t>
                      </a:r>
                    </a:p>
                  </a:txBody>
                  <a:tcPr anchor="ctr"/>
                </a:tc>
                <a:extLst>
                  <a:ext uri="{0D108BD9-81ED-4DB2-BD59-A6C34878D82A}">
                    <a16:rowId xmlns:a16="http://schemas.microsoft.com/office/drawing/2014/main" val="413943885"/>
                  </a:ext>
                </a:extLst>
              </a:tr>
              <a:tr h="187548">
                <a:tc>
                  <a:txBody>
                    <a:bodyPr/>
                    <a:lstStyle/>
                    <a:p>
                      <a:pPr algn="l" fontAlgn="ctr"/>
                      <a:r>
                        <a:rPr lang="en-IN" sz="800" b="0" i="0" u="none" strike="noStrike" dirty="0">
                          <a:solidFill>
                            <a:srgbClr val="000000"/>
                          </a:solidFill>
                          <a:effectLst/>
                          <a:latin typeface="+mj-lt"/>
                        </a:rPr>
                        <a:t>Sembcorp NWPC</a:t>
                      </a:r>
                    </a:p>
                  </a:txBody>
                  <a:tcPr anchor="ctr"/>
                </a:tc>
                <a:tc>
                  <a:txBody>
                    <a:bodyPr/>
                    <a:lstStyle/>
                    <a:p>
                      <a:pPr algn="ctr" fontAlgn="ctr"/>
                      <a:r>
                        <a:rPr lang="en-IN" sz="800" b="0" i="0" u="none" strike="noStrike" dirty="0">
                          <a:solidFill>
                            <a:srgbClr val="000000"/>
                          </a:solidFill>
                          <a:effectLst/>
                          <a:latin typeface="+mj-lt"/>
                        </a:rPr>
                        <a:t>282</a:t>
                      </a:r>
                    </a:p>
                  </a:txBody>
                  <a:tcPr anchor="ctr"/>
                </a:tc>
                <a:tc>
                  <a:txBody>
                    <a:bodyPr/>
                    <a:lstStyle/>
                    <a:p>
                      <a:pPr algn="ctr" fontAlgn="b"/>
                      <a:r>
                        <a:rPr lang="en-IN" sz="800" b="0" i="0" u="none" strike="noStrike" dirty="0">
                          <a:solidFill>
                            <a:srgbClr val="000000"/>
                          </a:solidFill>
                          <a:effectLst/>
                          <a:latin typeface="+mj-lt"/>
                        </a:rPr>
                        <a:t>2018</a:t>
                      </a:r>
                    </a:p>
                  </a:txBody>
                  <a:tcPr anchor="ctr"/>
                </a:tc>
                <a:tc>
                  <a:txBody>
                    <a:bodyPr/>
                    <a:lstStyle/>
                    <a:p>
                      <a:pPr algn="ctr" fontAlgn="b"/>
                      <a:r>
                        <a:rPr lang="en-IN" sz="800" b="0" i="0" u="none" strike="noStrike" dirty="0">
                          <a:solidFill>
                            <a:srgbClr val="000000"/>
                          </a:solidFill>
                          <a:effectLst/>
                          <a:latin typeface="+mj-lt"/>
                        </a:rPr>
                        <a:t>31%</a:t>
                      </a:r>
                    </a:p>
                  </a:txBody>
                  <a:tcPr anchor="ctr"/>
                </a:tc>
                <a:tc>
                  <a:txBody>
                    <a:bodyPr/>
                    <a:lstStyle/>
                    <a:p>
                      <a:pPr algn="ctr" fontAlgn="b"/>
                      <a:r>
                        <a:rPr lang="en-IN" sz="800" b="0" i="0" u="none" strike="noStrike" dirty="0">
                          <a:solidFill>
                            <a:srgbClr val="000000"/>
                          </a:solidFill>
                          <a:effectLst/>
                          <a:latin typeface="+mj-lt"/>
                        </a:rPr>
                        <a:t>42.71%</a:t>
                      </a:r>
                    </a:p>
                  </a:txBody>
                  <a:tcPr anchor="ctr"/>
                </a:tc>
                <a:tc>
                  <a:txBody>
                    <a:bodyPr/>
                    <a:lstStyle/>
                    <a:p>
                      <a:pPr algn="ctr" fontAlgn="b"/>
                      <a:r>
                        <a:rPr lang="en-IN" sz="800" b="0" i="0" u="none" strike="noStrike" dirty="0">
                          <a:solidFill>
                            <a:srgbClr val="000000"/>
                          </a:solidFill>
                          <a:effectLst/>
                          <a:latin typeface="+mj-lt"/>
                        </a:rPr>
                        <a:t>Sembcorp</a:t>
                      </a:r>
                    </a:p>
                  </a:txBody>
                  <a:tcPr anchor="ctr"/>
                </a:tc>
                <a:extLst>
                  <a:ext uri="{0D108BD9-81ED-4DB2-BD59-A6C34878D82A}">
                    <a16:rowId xmlns:a16="http://schemas.microsoft.com/office/drawing/2014/main" val="3110394366"/>
                  </a:ext>
                </a:extLst>
              </a:tr>
              <a:tr h="187548">
                <a:tc>
                  <a:txBody>
                    <a:bodyPr/>
                    <a:lstStyle/>
                    <a:p>
                      <a:pPr algn="l" fontAlgn="ctr"/>
                      <a:r>
                        <a:rPr lang="en-IN" sz="800" b="0" i="0" u="none" strike="noStrike" dirty="0">
                          <a:solidFill>
                            <a:srgbClr val="000000"/>
                          </a:solidFill>
                          <a:effectLst/>
                          <a:latin typeface="+mj-lt"/>
                        </a:rPr>
                        <a:t>United </a:t>
                      </a:r>
                      <a:r>
                        <a:rPr lang="en-IN" sz="800" b="0" i="0" u="none" strike="noStrike" dirty="0" err="1">
                          <a:solidFill>
                            <a:srgbClr val="000000"/>
                          </a:solidFill>
                          <a:effectLst/>
                          <a:latin typeface="+mj-lt"/>
                        </a:rPr>
                        <a:t>Ashuganj</a:t>
                      </a:r>
                      <a:endParaRPr lang="en-IN" sz="800" b="0" i="0" u="none" strike="noStrike" dirty="0">
                        <a:solidFill>
                          <a:srgbClr val="000000"/>
                        </a:solidFill>
                        <a:effectLst/>
                        <a:latin typeface="+mj-lt"/>
                      </a:endParaRPr>
                    </a:p>
                  </a:txBody>
                  <a:tcPr anchor="ctr"/>
                </a:tc>
                <a:tc>
                  <a:txBody>
                    <a:bodyPr/>
                    <a:lstStyle/>
                    <a:p>
                      <a:pPr algn="ctr" fontAlgn="ctr"/>
                      <a:r>
                        <a:rPr lang="en-IN" sz="800" b="0" i="0" u="none" strike="noStrike" dirty="0">
                          <a:solidFill>
                            <a:srgbClr val="000000"/>
                          </a:solidFill>
                          <a:effectLst/>
                          <a:latin typeface="+mj-lt"/>
                        </a:rPr>
                        <a:t>195</a:t>
                      </a:r>
                    </a:p>
                  </a:txBody>
                  <a:tcPr anchor="ctr"/>
                </a:tc>
                <a:tc>
                  <a:txBody>
                    <a:bodyPr/>
                    <a:lstStyle/>
                    <a:p>
                      <a:pPr algn="ctr" fontAlgn="b"/>
                      <a:r>
                        <a:rPr lang="en-IN" sz="800" b="0" i="0" u="none" strike="noStrike" dirty="0">
                          <a:solidFill>
                            <a:srgbClr val="000000"/>
                          </a:solidFill>
                          <a:effectLst/>
                          <a:latin typeface="+mj-lt"/>
                        </a:rPr>
                        <a:t>2015</a:t>
                      </a:r>
                    </a:p>
                  </a:txBody>
                  <a:tcPr anchor="ctr"/>
                </a:tc>
                <a:tc>
                  <a:txBody>
                    <a:bodyPr/>
                    <a:lstStyle/>
                    <a:p>
                      <a:pPr algn="ctr" fontAlgn="b"/>
                      <a:r>
                        <a:rPr lang="en-IN" sz="800" b="0" i="0" u="none" strike="noStrike" dirty="0">
                          <a:solidFill>
                            <a:srgbClr val="000000"/>
                          </a:solidFill>
                          <a:effectLst/>
                          <a:latin typeface="+mj-lt"/>
                        </a:rPr>
                        <a:t>24%</a:t>
                      </a:r>
                    </a:p>
                  </a:txBody>
                  <a:tcPr anchor="ctr"/>
                </a:tc>
                <a:tc>
                  <a:txBody>
                    <a:bodyPr/>
                    <a:lstStyle/>
                    <a:p>
                      <a:pPr algn="ctr" fontAlgn="b"/>
                      <a:r>
                        <a:rPr lang="en-IN" sz="800" b="0" i="0" u="none" strike="noStrike" dirty="0">
                          <a:solidFill>
                            <a:srgbClr val="000000"/>
                          </a:solidFill>
                          <a:effectLst/>
                          <a:latin typeface="+mj-lt"/>
                        </a:rPr>
                        <a:t>42.51%</a:t>
                      </a:r>
                    </a:p>
                  </a:txBody>
                  <a:tcPr anchor="ctr"/>
                </a:tc>
                <a:tc>
                  <a:txBody>
                    <a:bodyPr/>
                    <a:lstStyle/>
                    <a:p>
                      <a:pPr algn="ctr" fontAlgn="b"/>
                      <a:r>
                        <a:rPr lang="en-IN" sz="800" b="0" i="0" u="none" strike="noStrike" dirty="0">
                          <a:solidFill>
                            <a:srgbClr val="000000"/>
                          </a:solidFill>
                          <a:effectLst/>
                          <a:latin typeface="+mj-lt"/>
                        </a:rPr>
                        <a:t>United</a:t>
                      </a:r>
                    </a:p>
                  </a:txBody>
                  <a:tcPr anchor="ctr"/>
                </a:tc>
                <a:extLst>
                  <a:ext uri="{0D108BD9-81ED-4DB2-BD59-A6C34878D82A}">
                    <a16:rowId xmlns:a16="http://schemas.microsoft.com/office/drawing/2014/main" val="76836288"/>
                  </a:ext>
                </a:extLst>
              </a:tr>
              <a:tr h="294718">
                <a:tc>
                  <a:txBody>
                    <a:bodyPr/>
                    <a:lstStyle/>
                    <a:p>
                      <a:pPr algn="l" fontAlgn="ctr"/>
                      <a:r>
                        <a:rPr lang="en-IN" sz="800" b="0" i="0" u="none" strike="noStrike" dirty="0">
                          <a:solidFill>
                            <a:srgbClr val="000000"/>
                          </a:solidFill>
                          <a:effectLst/>
                          <a:latin typeface="+mj-lt"/>
                        </a:rPr>
                        <a:t>Summit Meghnaghat</a:t>
                      </a:r>
                    </a:p>
                  </a:txBody>
                  <a:tcPr anchor="ctr"/>
                </a:tc>
                <a:tc>
                  <a:txBody>
                    <a:bodyPr/>
                    <a:lstStyle/>
                    <a:p>
                      <a:pPr algn="ctr" fontAlgn="ctr"/>
                      <a:r>
                        <a:rPr lang="en-IN" sz="800" b="0" i="0" u="none" strike="noStrike" dirty="0">
                          <a:solidFill>
                            <a:srgbClr val="000000"/>
                          </a:solidFill>
                          <a:effectLst/>
                          <a:latin typeface="+mj-lt"/>
                        </a:rPr>
                        <a:t>305</a:t>
                      </a:r>
                    </a:p>
                  </a:txBody>
                  <a:tcPr anchor="ctr"/>
                </a:tc>
                <a:tc>
                  <a:txBody>
                    <a:bodyPr/>
                    <a:lstStyle/>
                    <a:p>
                      <a:pPr algn="ctr" fontAlgn="b"/>
                      <a:r>
                        <a:rPr lang="en-IN" sz="800" b="0" i="0" u="none" strike="noStrike" dirty="0">
                          <a:solidFill>
                            <a:srgbClr val="000000"/>
                          </a:solidFill>
                          <a:effectLst/>
                          <a:latin typeface="+mj-lt"/>
                        </a:rPr>
                        <a:t>2015</a:t>
                      </a:r>
                    </a:p>
                  </a:txBody>
                  <a:tcPr anchor="ctr"/>
                </a:tc>
                <a:tc>
                  <a:txBody>
                    <a:bodyPr/>
                    <a:lstStyle/>
                    <a:p>
                      <a:pPr algn="ctr" fontAlgn="b"/>
                      <a:r>
                        <a:rPr lang="en-IN" sz="800" b="0" i="0" u="none" strike="noStrike" dirty="0">
                          <a:solidFill>
                            <a:srgbClr val="000000"/>
                          </a:solidFill>
                          <a:effectLst/>
                          <a:latin typeface="+mj-lt"/>
                        </a:rPr>
                        <a:t>24%</a:t>
                      </a:r>
                    </a:p>
                  </a:txBody>
                  <a:tcPr anchor="ctr"/>
                </a:tc>
                <a:tc>
                  <a:txBody>
                    <a:bodyPr/>
                    <a:lstStyle/>
                    <a:p>
                      <a:pPr algn="ctr" fontAlgn="b"/>
                      <a:r>
                        <a:rPr lang="en-IN" sz="800" b="0" i="0" u="none" strike="noStrike" dirty="0">
                          <a:solidFill>
                            <a:srgbClr val="000000"/>
                          </a:solidFill>
                          <a:effectLst/>
                          <a:latin typeface="+mj-lt"/>
                        </a:rPr>
                        <a:t>43.09%</a:t>
                      </a:r>
                    </a:p>
                  </a:txBody>
                  <a:tcPr anchor="ctr"/>
                </a:tc>
                <a:tc>
                  <a:txBody>
                    <a:bodyPr/>
                    <a:lstStyle/>
                    <a:p>
                      <a:pPr algn="ctr" fontAlgn="b"/>
                      <a:r>
                        <a:rPr lang="en-IN" sz="800" b="0" i="0" u="none" strike="noStrike" dirty="0">
                          <a:solidFill>
                            <a:srgbClr val="000000"/>
                          </a:solidFill>
                          <a:effectLst/>
                          <a:latin typeface="+mj-lt"/>
                        </a:rPr>
                        <a:t>Summit</a:t>
                      </a:r>
                    </a:p>
                  </a:txBody>
                  <a:tcPr anchor="ctr"/>
                </a:tc>
                <a:extLst>
                  <a:ext uri="{0D108BD9-81ED-4DB2-BD59-A6C34878D82A}">
                    <a16:rowId xmlns:a16="http://schemas.microsoft.com/office/drawing/2014/main" val="828964890"/>
                  </a:ext>
                </a:extLst>
              </a:tr>
              <a:tr h="206917">
                <a:tc>
                  <a:txBody>
                    <a:bodyPr/>
                    <a:lstStyle/>
                    <a:p>
                      <a:pPr algn="l" fontAlgn="ctr"/>
                      <a:r>
                        <a:rPr lang="en-US" sz="800" b="0" i="0" u="none" strike="noStrike" dirty="0">
                          <a:solidFill>
                            <a:srgbClr val="000000"/>
                          </a:solidFill>
                          <a:effectLst/>
                          <a:latin typeface="+mj-lt"/>
                        </a:rPr>
                        <a:t>Regent Power</a:t>
                      </a:r>
                      <a:endParaRPr lang="en-IN" sz="800" b="0" i="0" u="none" strike="noStrike" dirty="0">
                        <a:solidFill>
                          <a:srgbClr val="000000"/>
                        </a:solidFill>
                        <a:effectLst/>
                        <a:latin typeface="+mj-lt"/>
                      </a:endParaRPr>
                    </a:p>
                  </a:txBody>
                  <a:tcPr anchor="ctr"/>
                </a:tc>
                <a:tc>
                  <a:txBody>
                    <a:bodyPr/>
                    <a:lstStyle/>
                    <a:p>
                      <a:pPr algn="ctr" fontAlgn="ctr"/>
                      <a:r>
                        <a:rPr lang="en-US" sz="800" b="0" i="0" u="none" strike="noStrike" dirty="0">
                          <a:solidFill>
                            <a:srgbClr val="000000"/>
                          </a:solidFill>
                          <a:effectLst/>
                          <a:latin typeface="+mj-lt"/>
                        </a:rPr>
                        <a:t>108</a:t>
                      </a:r>
                      <a:endParaRPr lang="en-IN" sz="800" b="0" i="0" u="none" strike="noStrike" dirty="0">
                        <a:solidFill>
                          <a:srgbClr val="000000"/>
                        </a:solidFill>
                        <a:effectLst/>
                        <a:latin typeface="+mj-lt"/>
                      </a:endParaRPr>
                    </a:p>
                  </a:txBody>
                  <a:tcPr anchor="ctr"/>
                </a:tc>
                <a:tc>
                  <a:txBody>
                    <a:bodyPr/>
                    <a:lstStyle/>
                    <a:p>
                      <a:pPr algn="ctr" fontAlgn="b"/>
                      <a:r>
                        <a:rPr lang="en-US" sz="800" b="0" i="0" u="none" strike="noStrike" dirty="0">
                          <a:solidFill>
                            <a:srgbClr val="000000"/>
                          </a:solidFill>
                          <a:effectLst/>
                          <a:latin typeface="+mj-lt"/>
                        </a:rPr>
                        <a:t>2014</a:t>
                      </a:r>
                      <a:endParaRPr lang="en-IN" sz="800" b="0" i="0" u="none" strike="noStrike" dirty="0">
                        <a:solidFill>
                          <a:srgbClr val="000000"/>
                        </a:solidFill>
                        <a:effectLst/>
                        <a:latin typeface="+mj-lt"/>
                      </a:endParaRPr>
                    </a:p>
                  </a:txBody>
                  <a:tcPr anchor="ctr"/>
                </a:tc>
                <a:tc>
                  <a:txBody>
                    <a:bodyPr/>
                    <a:lstStyle/>
                    <a:p>
                      <a:pPr algn="ctr" fontAlgn="b"/>
                      <a:r>
                        <a:rPr lang="en-US" sz="800" b="0" i="0" u="none" strike="noStrike" dirty="0">
                          <a:solidFill>
                            <a:srgbClr val="000000"/>
                          </a:solidFill>
                          <a:effectLst/>
                          <a:latin typeface="+mj-lt"/>
                        </a:rPr>
                        <a:t>37%</a:t>
                      </a:r>
                      <a:endParaRPr lang="en-IN" sz="800" b="0" i="0" u="none" strike="noStrike" dirty="0">
                        <a:solidFill>
                          <a:srgbClr val="000000"/>
                        </a:solidFill>
                        <a:effectLst/>
                        <a:latin typeface="+mj-lt"/>
                      </a:endParaRPr>
                    </a:p>
                  </a:txBody>
                  <a:tcPr anchor="ctr"/>
                </a:tc>
                <a:tc>
                  <a:txBody>
                    <a:bodyPr/>
                    <a:lstStyle/>
                    <a:p>
                      <a:pPr algn="ctr" fontAlgn="b"/>
                      <a:r>
                        <a:rPr lang="en-US" sz="800" b="0" i="0" u="none" strike="noStrike" dirty="0">
                          <a:solidFill>
                            <a:srgbClr val="000000"/>
                          </a:solidFill>
                          <a:effectLst/>
                          <a:latin typeface="+mj-lt"/>
                        </a:rPr>
                        <a:t>37.26%</a:t>
                      </a:r>
                      <a:endParaRPr lang="en-IN" sz="800" b="0" i="0" u="none" strike="noStrike" dirty="0">
                        <a:solidFill>
                          <a:srgbClr val="000000"/>
                        </a:solidFill>
                        <a:effectLst/>
                        <a:latin typeface="+mj-lt"/>
                      </a:endParaRPr>
                    </a:p>
                  </a:txBody>
                  <a:tcPr anchor="ctr"/>
                </a:tc>
                <a:tc>
                  <a:txBody>
                    <a:bodyPr/>
                    <a:lstStyle/>
                    <a:p>
                      <a:pPr algn="ctr" fontAlgn="b"/>
                      <a:r>
                        <a:rPr lang="en-US" sz="800" b="0" i="0" u="none" strike="noStrike" dirty="0">
                          <a:solidFill>
                            <a:srgbClr val="000000"/>
                          </a:solidFill>
                          <a:effectLst/>
                          <a:latin typeface="+mj-lt"/>
                        </a:rPr>
                        <a:t>Regent</a:t>
                      </a:r>
                      <a:endParaRPr lang="en-IN" sz="800" b="0" i="0" u="none" strike="noStrike" dirty="0">
                        <a:solidFill>
                          <a:srgbClr val="000000"/>
                        </a:solidFill>
                        <a:effectLst/>
                        <a:latin typeface="+mj-lt"/>
                      </a:endParaRPr>
                    </a:p>
                  </a:txBody>
                  <a:tcPr anchor="ctr"/>
                </a:tc>
                <a:extLst>
                  <a:ext uri="{0D108BD9-81ED-4DB2-BD59-A6C34878D82A}">
                    <a16:rowId xmlns:a16="http://schemas.microsoft.com/office/drawing/2014/main" val="1834673359"/>
                  </a:ext>
                </a:extLst>
              </a:tr>
            </a:tbl>
          </a:graphicData>
        </a:graphic>
      </p:graphicFrame>
      <p:cxnSp>
        <p:nvCxnSpPr>
          <p:cNvPr id="36" name="Straight Connector 35"/>
          <p:cNvCxnSpPr/>
          <p:nvPr>
            <p:custDataLst>
              <p:tags r:id="rId5"/>
            </p:custDataLst>
          </p:nvPr>
        </p:nvCxnSpPr>
        <p:spPr bwMode="auto">
          <a:xfrm>
            <a:off x="8843963" y="3492500"/>
            <a:ext cx="523875"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custDataLst>
              <p:tags r:id="rId6"/>
            </p:custDataLst>
          </p:nvPr>
        </p:nvCxnSpPr>
        <p:spPr bwMode="auto">
          <a:xfrm>
            <a:off x="7661275" y="3278188"/>
            <a:ext cx="525463"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custDataLst>
              <p:tags r:id="rId7"/>
            </p:custDataLst>
          </p:nvPr>
        </p:nvCxnSpPr>
        <p:spPr bwMode="auto">
          <a:xfrm>
            <a:off x="6478588" y="2647950"/>
            <a:ext cx="525463"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156" name="Chart 155"/>
          <p:cNvGraphicFramePr/>
          <p:nvPr>
            <p:custDataLst>
              <p:tags r:id="rId8"/>
            </p:custDataLst>
            <p:extLst>
              <p:ext uri="{D42A27DB-BD31-4B8C-83A1-F6EECF244321}">
                <p14:modId xmlns:p14="http://schemas.microsoft.com/office/powerpoint/2010/main" val="2941582935"/>
              </p:ext>
            </p:extLst>
          </p:nvPr>
        </p:nvGraphicFramePr>
        <p:xfrm>
          <a:off x="5476875" y="2463800"/>
          <a:ext cx="4894263" cy="1697038"/>
        </p:xfrm>
        <a:graphic>
          <a:graphicData uri="http://schemas.openxmlformats.org/drawingml/2006/chart">
            <c:chart xmlns:c="http://schemas.openxmlformats.org/drawingml/2006/chart" xmlns:r="http://schemas.openxmlformats.org/officeDocument/2006/relationships" r:id="rId16"/>
          </a:graphicData>
        </a:graphic>
      </p:graphicFrame>
      <p:sp>
        <p:nvSpPr>
          <p:cNvPr id="12" name="StandardTextbox"/>
          <p:cNvSpPr>
            <a:spLocks noGrp="1"/>
          </p:cNvSpPr>
          <p:nvPr>
            <p:custDataLst>
              <p:tags r:id="rId9"/>
            </p:custDataLst>
          </p:nvPr>
        </p:nvSpPr>
        <p:spPr bwMode="auto">
          <a:xfrm>
            <a:off x="5718175" y="4154488"/>
            <a:ext cx="865188" cy="4095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36C8171-59E3-4BA5-BCC8-E0B1CC44F9C5}" type="datetime'G''as Based ''PP'' Portfol''io o''''f Privat''e Pla''ye''''rs'">
              <a:rPr lang="en-US" altLang="en-US" sz="900" b="0" smtClean="0"/>
              <a:pPr lvl="1" algn="ctr">
                <a:spcBef>
                  <a:spcPct val="0"/>
                </a:spcBef>
                <a:spcAft>
                  <a:spcPct val="0"/>
                </a:spcAft>
              </a:pPr>
              <a:t>Gas Based PP Portfolio of Private Players</a:t>
            </a:fld>
            <a:endParaRPr lang="en-IN" sz="900" b="0" noProof="0" dirty="0">
              <a:sym typeface="+mn-lt"/>
            </a:endParaRPr>
          </a:p>
        </p:txBody>
      </p:sp>
      <p:sp>
        <p:nvSpPr>
          <p:cNvPr id="33" name="StandardTextbox"/>
          <p:cNvSpPr>
            <a:spLocks noGrp="1"/>
          </p:cNvSpPr>
          <p:nvPr>
            <p:custDataLst>
              <p:tags r:id="rId10"/>
            </p:custDataLst>
          </p:nvPr>
        </p:nvSpPr>
        <p:spPr bwMode="auto">
          <a:xfrm>
            <a:off x="9439274" y="4154488"/>
            <a:ext cx="51435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BEF8DA5A-3B75-4D4E-95F6-C12B979FD5EC}" type="datetime'''''''''A''''''g''''''''''''''e'' ''''''''''''X&lt;''''''''7'''">
              <a:rPr lang="en-IN" altLang="en-US" sz="900" b="0" smtClean="0">
                <a:sym typeface="+mn-lt"/>
              </a:rPr>
              <a:pPr lvl="1" algn="ctr">
                <a:spcBef>
                  <a:spcPct val="0"/>
                </a:spcBef>
                <a:spcAft>
                  <a:spcPct val="0"/>
                </a:spcAft>
              </a:pPr>
              <a:t>Age X&lt;7</a:t>
            </a:fld>
            <a:endParaRPr lang="en-IN" sz="900" b="0" noProof="0" dirty="0">
              <a:sym typeface="+mn-lt"/>
            </a:endParaRPr>
          </a:p>
        </p:txBody>
      </p:sp>
      <p:sp>
        <p:nvSpPr>
          <p:cNvPr id="13" name="StandardTextbox"/>
          <p:cNvSpPr>
            <a:spLocks noGrp="1"/>
          </p:cNvSpPr>
          <p:nvPr>
            <p:custDataLst>
              <p:tags r:id="rId11"/>
            </p:custDataLst>
          </p:nvPr>
        </p:nvSpPr>
        <p:spPr bwMode="auto">
          <a:xfrm>
            <a:off x="6834188" y="4154488"/>
            <a:ext cx="99853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BD20B63C-8FF0-4C9F-9797-87F79E9B3CF5}" type="datetime'A''''g''e'''''' &gt;''''''''='''''''''' ''10 Y''''''''e''''ars'''">
              <a:rPr lang="en-IN" altLang="en-US" sz="900" b="0" smtClean="0">
                <a:sym typeface="+mn-lt"/>
              </a:rPr>
              <a:pPr lvl="1" algn="ctr">
                <a:spcBef>
                  <a:spcPct val="0"/>
                </a:spcBef>
                <a:spcAft>
                  <a:spcPct val="0"/>
                </a:spcAft>
              </a:pPr>
              <a:t>Age &gt;= 10 Years</a:t>
            </a:fld>
            <a:endParaRPr lang="en-IN" sz="900" b="0" noProof="0" dirty="0">
              <a:sym typeface="+mn-lt"/>
            </a:endParaRPr>
          </a:p>
        </p:txBody>
      </p:sp>
      <p:sp>
        <p:nvSpPr>
          <p:cNvPr id="27" name="StandardTextbox"/>
          <p:cNvSpPr>
            <a:spLocks noGrp="1"/>
          </p:cNvSpPr>
          <p:nvPr>
            <p:custDataLst>
              <p:tags r:id="rId12"/>
            </p:custDataLst>
          </p:nvPr>
        </p:nvSpPr>
        <p:spPr bwMode="auto">
          <a:xfrm>
            <a:off x="8091488" y="4154488"/>
            <a:ext cx="84772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DCD015A9-DD55-47AB-A0D7-A7A9F8B14825}" type="datetime'Age'' ''''7''''''''''''''''''''''&gt;''=''X''''''''&lt;1''''''''''0'">
              <a:rPr lang="en-IN" altLang="en-US" sz="900" b="0" smtClean="0">
                <a:sym typeface="+mn-lt"/>
              </a:rPr>
              <a:pPr lvl="1" algn="ctr">
                <a:spcBef>
                  <a:spcPct val="0"/>
                </a:spcBef>
                <a:spcAft>
                  <a:spcPct val="0"/>
                </a:spcAft>
              </a:pPr>
              <a:t>Age 7&gt;=X&lt;10</a:t>
            </a:fld>
            <a:endParaRPr lang="en-IN" sz="900" b="0" noProof="0" dirty="0">
              <a:sym typeface="+mn-lt"/>
            </a:endParaRPr>
          </a:p>
        </p:txBody>
      </p:sp>
      <p:sp>
        <p:nvSpPr>
          <p:cNvPr id="6" name="Rectangle 5"/>
          <p:cNvSpPr/>
          <p:nvPr/>
        </p:nvSpPr>
        <p:spPr bwMode="gray">
          <a:xfrm>
            <a:off x="9205875" y="3041651"/>
            <a:ext cx="949344" cy="1349375"/>
          </a:xfrm>
          <a:prstGeom prst="rect">
            <a:avLst/>
          </a:prstGeom>
          <a:noFill/>
          <a:ln w="19050" algn="ctr">
            <a:solidFill>
              <a:schemeClr val="tx1"/>
            </a:solidFill>
            <a:prstDash val="dashDot"/>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58" name="Rectangle 157"/>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a:lnSpc>
                <a:spcPct val="106000"/>
              </a:lnSpc>
              <a:defRPr/>
            </a:pPr>
            <a:r>
              <a:rPr lang="en-US" sz="700" i="1" dirty="0">
                <a:solidFill>
                  <a:prstClr val="black"/>
                </a:solidFill>
              </a:rPr>
              <a:t>Source: BPDB, Industry Reports Deloitte Analysis; Note: 1) Summit 305 MW has been running at duel fuel with HFO due to gas shortage in FY16 and FY17. With increasing gas availability, it is expected to ramp up dispatch  Note 2) Sembcorp 282 MW was commissioned in October 2018 and is expected to ramp up dispatch from FY20 onwards </a:t>
            </a:r>
          </a:p>
        </p:txBody>
      </p:sp>
      <p:sp>
        <p:nvSpPr>
          <p:cNvPr id="159"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dirty="0">
                <a:solidFill>
                  <a:prstClr val="black">
                    <a:lumMod val="50000"/>
                    <a:lumOff val="50000"/>
                  </a:prstClr>
                </a:solidFill>
                <a:latin typeface="Verdana" panose="020B0604030504040204" pitchFamily="34" charset="0"/>
              </a:rPr>
              <a:t>~1,400 MW of gas based plants have been commissioned by the private players in the last 7 years which may provide a potential investment opportunity given their age and technology</a:t>
            </a:r>
            <a:endPar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sp>
        <p:nvSpPr>
          <p:cNvPr id="163" name="Title 1"/>
          <p:cNvSpPr>
            <a:spLocks noGrp="1"/>
          </p:cNvSpPr>
          <p:nvPr>
            <p:ph type="title"/>
          </p:nvPr>
        </p:nvSpPr>
        <p:spPr>
          <a:xfrm>
            <a:off x="449264" y="647700"/>
            <a:ext cx="9791700" cy="431800"/>
          </a:xfrm>
        </p:spPr>
        <p:txBody>
          <a:bodyPr/>
          <a:lstStyle/>
          <a:p>
            <a:r>
              <a:rPr lang="en-US" dirty="0"/>
              <a:t>Foreign Participation in Power Sector | Asset Identification (Commissioned)</a:t>
            </a:r>
            <a:endParaRPr lang="en-IN" dirty="0"/>
          </a:p>
        </p:txBody>
      </p:sp>
    </p:spTree>
    <p:extLst>
      <p:ext uri="{BB962C8B-B14F-4D97-AF65-F5344CB8AC3E}">
        <p14:creationId xmlns:p14="http://schemas.microsoft.com/office/powerpoint/2010/main" val="1318670580"/>
      </p:ext>
    </p:extLst>
  </p:cSld>
  <p:clrMapOvr>
    <a:masterClrMapping/>
  </p:clrMapOvr>
  <p:transition>
    <p:fade/>
  </p:transition>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noChangeAspect="1"/>
          </p:cNvGraphicFramePr>
          <p:nvPr>
            <p:custDataLst>
              <p:tags r:id="rId1"/>
            </p:custDataLst>
            <p:extLst>
              <p:ext uri="{D42A27DB-BD31-4B8C-83A1-F6EECF244321}">
                <p14:modId xmlns:p14="http://schemas.microsoft.com/office/powerpoint/2010/main" val="161794239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5" imgW="530" imgH="531" progId="TCLayout.ActiveDocument.1">
                  <p:embed/>
                </p:oleObj>
              </mc:Choice>
              <mc:Fallback>
                <p:oleObj name="think-cell Slide" r:id="rId25" imgW="530" imgH="531" progId="TCLayout.ActiveDocument.1">
                  <p:embed/>
                  <p:pic>
                    <p:nvPicPr>
                      <p:cNvPr id="6" name="Object 5" hidden="1"/>
                      <p:cNvPicPr/>
                      <p:nvPr/>
                    </p:nvPicPr>
                    <p:blipFill>
                      <a:blip r:embed="rId26"/>
                      <a:stretch>
                        <a:fillRect/>
                      </a:stretch>
                    </p:blipFill>
                    <p:spPr>
                      <a:xfrm>
                        <a:off x="1588" y="1588"/>
                        <a:ext cx="1588" cy="1588"/>
                      </a:xfrm>
                      <a:prstGeom prst="rect">
                        <a:avLst/>
                      </a:prstGeom>
                    </p:spPr>
                  </p:pic>
                </p:oleObj>
              </mc:Fallback>
            </mc:AlternateContent>
          </a:graphicData>
        </a:graphic>
      </p:graphicFrame>
      <p:sp>
        <p:nvSpPr>
          <p:cNvPr id="5" name="Rectangle 4"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Foreign Participation in Power Sector | Planned Investments in Power Sector</a:t>
            </a:r>
            <a:endParaRPr lang="en-IN" dirty="0"/>
          </a:p>
        </p:txBody>
      </p:sp>
      <p:graphicFrame>
        <p:nvGraphicFramePr>
          <p:cNvPr id="3" name="Table 2"/>
          <p:cNvGraphicFramePr>
            <a:graphicFrameLocks noGrp="1"/>
          </p:cNvGraphicFramePr>
          <p:nvPr>
            <p:custDataLst>
              <p:tags r:id="rId3"/>
            </p:custDataLst>
            <p:extLst>
              <p:ext uri="{D42A27DB-BD31-4B8C-83A1-F6EECF244321}">
                <p14:modId xmlns:p14="http://schemas.microsoft.com/office/powerpoint/2010/main" val="768770345"/>
              </p:ext>
            </p:extLst>
          </p:nvPr>
        </p:nvGraphicFramePr>
        <p:xfrm>
          <a:off x="449993" y="1961918"/>
          <a:ext cx="4734896" cy="39637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723655">
                <a:tc>
                  <a:txBody>
                    <a:bodyPr/>
                    <a:lstStyle/>
                    <a:p>
                      <a:pPr marL="0" marR="0" lvl="0" indent="0" algn="just" defTabSz="990571" rtl="0" eaLnBrk="1" fontAlgn="auto" latinLnBrk="0" hangingPunct="1">
                        <a:lnSpc>
                          <a:spcPct val="100000"/>
                        </a:lnSpc>
                        <a:spcBef>
                          <a:spcPts val="600"/>
                        </a:spcBef>
                        <a:spcAft>
                          <a:spcPts val="600"/>
                        </a:spcAft>
                        <a:buClrTx/>
                        <a:buSzTx/>
                        <a:buFont typeface="Arial" panose="020B0604020202020204" pitchFamily="34" charset="0"/>
                        <a:buNone/>
                        <a:tabLst/>
                        <a:defRPr/>
                      </a:pPr>
                      <a:r>
                        <a:rPr lang="en-US" sz="1000" b="1" baseline="0" dirty="0">
                          <a:solidFill>
                            <a:schemeClr val="tx1"/>
                          </a:solidFill>
                        </a:rPr>
                        <a:t>Foreign investment according to fuel (Upcoming)</a:t>
                      </a:r>
                      <a:endParaRPr lang="en-US" sz="1000" b="0" baseline="0" dirty="0">
                        <a:solidFill>
                          <a:schemeClr val="tx1"/>
                        </a:solidFill>
                      </a:endParaRP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As projected in our supply scenario, ~17,000 MW of capacity expansion has been planned in Bangladesh till FY26 out of which ~5,500 MW has been planned by private players</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Of these, ~4,000 MW of capacity has been planned with foreign equity investment and ~2,300 MW of capacity also receiving foreign loan support</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In terms of fuel wise investment, LNG is the preferred choice for Multilateral investments with ~1,300 MW having some form of multilateral investment</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The major players in terms of foreign investors for private power plants are HTG Group &amp; SEPCO 3 which have planned investments in Imported Coal Based power, followed by GE which is investing in LNG based power plants</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Although the private players have planned significant capacity expansions, the disbursements / financial closure of many of these plants are yet to be completed and hence their commissioning may be delayed as projected in our supply scenario</a:t>
                      </a:r>
                    </a:p>
                    <a:p>
                      <a:pPr marL="171450" indent="-171450" algn="just">
                        <a:spcBef>
                          <a:spcPts val="600"/>
                        </a:spcBef>
                        <a:spcAft>
                          <a:spcPts val="6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4" name="Strapline"/>
          <p:cNvSpPr txBox="1">
            <a:spLocks/>
          </p:cNvSpPr>
          <p:nvPr/>
        </p:nvSpPr>
        <p:spPr>
          <a:xfrm>
            <a:off x="449264" y="1079500"/>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0">
              <a:defRPr/>
            </a:pPr>
            <a:r>
              <a:rPr lang="en-US" sz="1400" dirty="0">
                <a:solidFill>
                  <a:prstClr val="black">
                    <a:lumMod val="50000"/>
                    <a:lumOff val="50000"/>
                  </a:prstClr>
                </a:solidFill>
                <a:latin typeface="Verdana" panose="020B0604030504040204" pitchFamily="34" charset="0"/>
              </a:rPr>
              <a:t>The foreign players have planned equity investments in ~4,000 MW privately owned power plants with LNG and Imported coal based power plants having highest investments </a:t>
            </a:r>
          </a:p>
        </p:txBody>
      </p:sp>
      <p:graphicFrame>
        <p:nvGraphicFramePr>
          <p:cNvPr id="8" name="Table 7"/>
          <p:cNvGraphicFramePr>
            <a:graphicFrameLocks noGrp="1"/>
          </p:cNvGraphicFramePr>
          <p:nvPr>
            <p:custDataLst>
              <p:tags r:id="rId4"/>
            </p:custDataLst>
            <p:extLst>
              <p:ext uri="{D42A27DB-BD31-4B8C-83A1-F6EECF244321}">
                <p14:modId xmlns:p14="http://schemas.microsoft.com/office/powerpoint/2010/main" val="598478571"/>
              </p:ext>
            </p:extLst>
          </p:nvPr>
        </p:nvGraphicFramePr>
        <p:xfrm>
          <a:off x="5506068" y="1961917"/>
          <a:ext cx="4734896" cy="32017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441041">
                <a:tc>
                  <a:txBody>
                    <a:bodyPr/>
                    <a:lstStyle/>
                    <a:p>
                      <a:pPr marL="171450" indent="-171450" algn="just" defTabSz="990571" rtl="0" eaLnBrk="1" latinLnBrk="0" hangingPunct="1">
                        <a:spcBef>
                          <a:spcPts val="600"/>
                        </a:spcBef>
                        <a:spcAft>
                          <a:spcPts val="600"/>
                        </a:spcAft>
                        <a:buFont typeface="Arial" panose="020B0604020202020204" pitchFamily="34" charset="0"/>
                        <a:buChar char="•"/>
                      </a:pPr>
                      <a:r>
                        <a:rPr lang="en-US" sz="1000" b="0" kern="1200" baseline="0" dirty="0">
                          <a:solidFill>
                            <a:schemeClr val="tx1"/>
                          </a:solidFill>
                          <a:latin typeface="+mn-lt"/>
                          <a:ea typeface="+mn-ea"/>
                          <a:cs typeface="+mn-cs"/>
                        </a:rPr>
                        <a:t>Following figure shows the distribution of foreign investment for upcoming Private Player owned Plants in Bangladesh (MW)</a:t>
                      </a: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p>
                      <a:pPr marL="0" indent="0" algn="just" defTabSz="990571" rtl="0" eaLnBrk="1" latinLnBrk="0" hangingPunct="1">
                        <a:spcBef>
                          <a:spcPts val="0"/>
                        </a:spcBef>
                        <a:spcAft>
                          <a:spcPts val="600"/>
                        </a:spcAft>
                        <a:buFont typeface="Arial" panose="020B0604020202020204" pitchFamily="34" charset="0"/>
                        <a:buNone/>
                      </a:pPr>
                      <a:endParaRPr lang="en-US" sz="1000" b="0" kern="1200" baseline="0" dirty="0">
                        <a:solidFill>
                          <a:schemeClr val="tx1"/>
                        </a:solidFill>
                        <a:latin typeface="+mn-lt"/>
                        <a:ea typeface="+mn-ea"/>
                        <a:cs typeface="+mn-cs"/>
                      </a:endParaRPr>
                    </a:p>
                    <a:p>
                      <a:pPr marL="171450" marR="0" lvl="0" indent="-171450" algn="just" defTabSz="990571"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mn-lt"/>
                          <a:ea typeface="+mn-ea"/>
                          <a:cs typeface="+mn-cs"/>
                        </a:rPr>
                        <a:t>Following constitutes the list of major foreign players and multilateral funders for upcoming privately owned plants</a:t>
                      </a:r>
                    </a:p>
                    <a:p>
                      <a:pPr marL="171450" indent="-171450" algn="just" defTabSz="990571" rtl="0" eaLnBrk="1" latinLnBrk="0" hangingPunct="1">
                        <a:spcBef>
                          <a:spcPts val="600"/>
                        </a:spcBef>
                        <a:spcAft>
                          <a:spcPts val="600"/>
                        </a:spcAft>
                        <a:buFont typeface="Arial" panose="020B0604020202020204" pitchFamily="34" charset="0"/>
                        <a:buChar char="•"/>
                      </a:pPr>
                      <a:endParaRPr lang="en-US" sz="1000" b="0" kern="1200" baseline="0" dirty="0">
                        <a:solidFill>
                          <a:schemeClr val="tx1"/>
                        </a:solidFill>
                        <a:latin typeface="+mn-lt"/>
                        <a:ea typeface="+mn-ea"/>
                        <a:cs typeface="+mn-cs"/>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2" name="Table 11"/>
          <p:cNvGraphicFramePr>
            <a:graphicFrameLocks noGrp="1"/>
          </p:cNvGraphicFramePr>
          <p:nvPr>
            <p:extLst>
              <p:ext uri="{D42A27DB-BD31-4B8C-83A1-F6EECF244321}">
                <p14:modId xmlns:p14="http://schemas.microsoft.com/office/powerpoint/2010/main" val="2656460263"/>
              </p:ext>
            </p:extLst>
          </p:nvPr>
        </p:nvGraphicFramePr>
        <p:xfrm>
          <a:off x="5516361" y="4845067"/>
          <a:ext cx="4915304" cy="2263987"/>
        </p:xfrm>
        <a:graphic>
          <a:graphicData uri="http://schemas.openxmlformats.org/drawingml/2006/table">
            <a:tbl>
              <a:tblPr firstRow="1">
                <a:tableStyleId>{5C22544A-7EE6-4342-B048-85BDC9FD1C3A}</a:tableStyleId>
              </a:tblPr>
              <a:tblGrid>
                <a:gridCol w="558401">
                  <a:extLst>
                    <a:ext uri="{9D8B030D-6E8A-4147-A177-3AD203B41FA5}">
                      <a16:colId xmlns:a16="http://schemas.microsoft.com/office/drawing/2014/main" val="1950246367"/>
                    </a:ext>
                  </a:extLst>
                </a:gridCol>
                <a:gridCol w="1774838">
                  <a:extLst>
                    <a:ext uri="{9D8B030D-6E8A-4147-A177-3AD203B41FA5}">
                      <a16:colId xmlns:a16="http://schemas.microsoft.com/office/drawing/2014/main" val="3949766043"/>
                    </a:ext>
                  </a:extLst>
                </a:gridCol>
                <a:gridCol w="1639230">
                  <a:extLst>
                    <a:ext uri="{9D8B030D-6E8A-4147-A177-3AD203B41FA5}">
                      <a16:colId xmlns:a16="http://schemas.microsoft.com/office/drawing/2014/main" val="279501602"/>
                    </a:ext>
                  </a:extLst>
                </a:gridCol>
                <a:gridCol w="942835">
                  <a:extLst>
                    <a:ext uri="{9D8B030D-6E8A-4147-A177-3AD203B41FA5}">
                      <a16:colId xmlns:a16="http://schemas.microsoft.com/office/drawing/2014/main" val="2441610059"/>
                    </a:ext>
                  </a:extLst>
                </a:gridCol>
              </a:tblGrid>
              <a:tr h="220748">
                <a:tc>
                  <a:txBody>
                    <a:bodyPr/>
                    <a:lstStyle/>
                    <a:p>
                      <a:endParaRPr lang="en-IN" sz="900" dirty="0"/>
                    </a:p>
                  </a:txBody>
                  <a:tcPr>
                    <a:solidFill>
                      <a:schemeClr val="bg1"/>
                    </a:solidFill>
                  </a:tcPr>
                </a:tc>
                <a:tc>
                  <a:txBody>
                    <a:bodyPr/>
                    <a:lstStyle/>
                    <a:p>
                      <a:r>
                        <a:rPr lang="en-US" sz="900" dirty="0"/>
                        <a:t>Foreign Equity</a:t>
                      </a:r>
                      <a:endParaRPr lang="en-IN" sz="900" dirty="0"/>
                    </a:p>
                  </a:txBody>
                  <a:tcPr>
                    <a:solidFill>
                      <a:schemeClr val="accent3">
                        <a:lumMod val="50000"/>
                      </a:schemeClr>
                    </a:solidFill>
                  </a:tcPr>
                </a:tc>
                <a:tc>
                  <a:txBody>
                    <a:bodyPr/>
                    <a:lstStyle/>
                    <a:p>
                      <a:r>
                        <a:rPr lang="en-US" sz="900" dirty="0"/>
                        <a:t>Foreign Loan</a:t>
                      </a:r>
                      <a:endParaRPr lang="en-IN" sz="900" dirty="0"/>
                    </a:p>
                  </a:txBody>
                  <a:tcPr>
                    <a:solidFill>
                      <a:schemeClr val="accent3">
                        <a:lumMod val="75000"/>
                      </a:schemeClr>
                    </a:solidFill>
                  </a:tcPr>
                </a:tc>
                <a:tc>
                  <a:txBody>
                    <a:bodyPr/>
                    <a:lstStyle/>
                    <a:p>
                      <a:r>
                        <a:rPr lang="en-US" sz="900" dirty="0"/>
                        <a:t>MLA</a:t>
                      </a:r>
                      <a:endParaRPr lang="en-IN" sz="900" dirty="0"/>
                    </a:p>
                  </a:txBody>
                  <a:tcPr>
                    <a:solidFill>
                      <a:schemeClr val="accent3"/>
                    </a:solidFill>
                  </a:tcPr>
                </a:tc>
                <a:extLst>
                  <a:ext uri="{0D108BD9-81ED-4DB2-BD59-A6C34878D82A}">
                    <a16:rowId xmlns:a16="http://schemas.microsoft.com/office/drawing/2014/main" val="3034127228"/>
                  </a:ext>
                </a:extLst>
              </a:tr>
              <a:tr h="340439">
                <a:tc>
                  <a:txBody>
                    <a:bodyPr/>
                    <a:lstStyle/>
                    <a:p>
                      <a:endParaRPr lang="en-IN" sz="900" dirty="0"/>
                    </a:p>
                  </a:txBody>
                  <a:tcPr>
                    <a:solidFill>
                      <a:schemeClr val="bg1"/>
                    </a:solidFill>
                  </a:tcPr>
                </a:tc>
                <a:tc>
                  <a:txBody>
                    <a:bodyPr/>
                    <a:lstStyle/>
                    <a:p>
                      <a:r>
                        <a:rPr lang="en-US" sz="900" dirty="0"/>
                        <a:t>HTG</a:t>
                      </a:r>
                      <a:r>
                        <a:rPr lang="en-US" sz="900" baseline="0" dirty="0"/>
                        <a:t> Group &amp; SEPCO -3</a:t>
                      </a:r>
                      <a:endParaRPr lang="en-US" sz="900" dirty="0"/>
                    </a:p>
                    <a:p>
                      <a:r>
                        <a:rPr lang="en-US" sz="900" dirty="0"/>
                        <a:t>(1,224</a:t>
                      </a:r>
                      <a:r>
                        <a:rPr lang="en-US" sz="900" baseline="0" dirty="0"/>
                        <a:t> MW)</a:t>
                      </a:r>
                      <a:endParaRPr lang="en-IN" sz="900" dirty="0"/>
                    </a:p>
                  </a:txBody>
                  <a:tcPr>
                    <a:solidFill>
                      <a:schemeClr val="accent3">
                        <a:lumMod val="60000"/>
                        <a:lumOff val="40000"/>
                      </a:schemeClr>
                    </a:solidFill>
                  </a:tcPr>
                </a:tc>
                <a:tc>
                  <a:txBody>
                    <a:bodyPr/>
                    <a:lstStyle/>
                    <a:p>
                      <a:r>
                        <a:rPr lang="en-US" sz="900" dirty="0"/>
                        <a:t>CEXIM Bank</a:t>
                      </a:r>
                    </a:p>
                    <a:p>
                      <a:r>
                        <a:rPr lang="en-US" sz="900" dirty="0"/>
                        <a:t>(1,244</a:t>
                      </a:r>
                      <a:r>
                        <a:rPr lang="en-US" sz="900" baseline="0" dirty="0"/>
                        <a:t> MW)</a:t>
                      </a:r>
                      <a:endParaRPr lang="en-IN" sz="900" dirty="0"/>
                    </a:p>
                  </a:txBody>
                  <a:tcPr>
                    <a:solidFill>
                      <a:schemeClr val="accent3">
                        <a:lumMod val="40000"/>
                        <a:lumOff val="60000"/>
                      </a:schemeClr>
                    </a:solidFill>
                  </a:tcPr>
                </a:tc>
                <a:tc>
                  <a:txBody>
                    <a:bodyPr/>
                    <a:lstStyle/>
                    <a:p>
                      <a:r>
                        <a:rPr lang="en-US" sz="900" dirty="0"/>
                        <a:t>ADB &amp; IDB</a:t>
                      </a:r>
                    </a:p>
                    <a:p>
                      <a:r>
                        <a:rPr lang="en-US" sz="900" dirty="0"/>
                        <a:t>(718 MW</a:t>
                      </a:r>
                      <a:r>
                        <a:rPr lang="en-US" sz="900" baseline="0" dirty="0"/>
                        <a:t>)</a:t>
                      </a:r>
                    </a:p>
                  </a:txBody>
                  <a:tcPr>
                    <a:solidFill>
                      <a:schemeClr val="accent3">
                        <a:lumMod val="20000"/>
                        <a:lumOff val="80000"/>
                      </a:schemeClr>
                    </a:solidFill>
                  </a:tcPr>
                </a:tc>
                <a:extLst>
                  <a:ext uri="{0D108BD9-81ED-4DB2-BD59-A6C34878D82A}">
                    <a16:rowId xmlns:a16="http://schemas.microsoft.com/office/drawing/2014/main" val="937555447"/>
                  </a:ext>
                </a:extLst>
              </a:tr>
              <a:tr h="340439">
                <a:tc>
                  <a:txBody>
                    <a:bodyPr/>
                    <a:lstStyle/>
                    <a:p>
                      <a:endParaRPr lang="en-IN" sz="900" dirty="0"/>
                    </a:p>
                  </a:txBody>
                  <a:tcPr>
                    <a:solidFill>
                      <a:schemeClr val="bg1"/>
                    </a:solidFill>
                  </a:tcPr>
                </a:tc>
                <a:tc>
                  <a:txBody>
                    <a:bodyPr/>
                    <a:lstStyle/>
                    <a:p>
                      <a:r>
                        <a:rPr lang="en-US" sz="900" dirty="0"/>
                        <a:t>GE </a:t>
                      </a:r>
                    </a:p>
                    <a:p>
                      <a:r>
                        <a:rPr lang="en-US" sz="900" dirty="0"/>
                        <a:t>(1,167</a:t>
                      </a:r>
                      <a:r>
                        <a:rPr lang="en-US" sz="900" baseline="0" dirty="0"/>
                        <a:t> </a:t>
                      </a:r>
                      <a:r>
                        <a:rPr lang="en-US" sz="900" dirty="0"/>
                        <a:t>MW)</a:t>
                      </a:r>
                      <a:endParaRPr lang="en-IN" sz="900" dirty="0"/>
                    </a:p>
                  </a:txBody>
                  <a:tcPr>
                    <a:solidFill>
                      <a:schemeClr val="accent3">
                        <a:lumMod val="60000"/>
                        <a:lumOff val="40000"/>
                      </a:schemeClr>
                    </a:solidFill>
                  </a:tcPr>
                </a:tc>
                <a:tc>
                  <a:txBody>
                    <a:bodyPr/>
                    <a:lstStyle/>
                    <a:p>
                      <a:r>
                        <a:rPr lang="en-US" sz="900" dirty="0"/>
                        <a:t>DFCC &amp; HNB</a:t>
                      </a:r>
                    </a:p>
                    <a:p>
                      <a:r>
                        <a:rPr lang="en-US" sz="900" baseline="0" dirty="0"/>
                        <a:t> (114 MW)</a:t>
                      </a:r>
                      <a:endParaRPr lang="en-IN" sz="900" dirty="0"/>
                    </a:p>
                  </a:txBody>
                  <a:tcPr>
                    <a:solidFill>
                      <a:schemeClr val="accent3">
                        <a:lumMod val="40000"/>
                        <a:lumOff val="60000"/>
                      </a:schemeClr>
                    </a:solidFill>
                  </a:tcPr>
                </a:tc>
                <a:tc>
                  <a:txBody>
                    <a:bodyPr/>
                    <a:lstStyle/>
                    <a:p>
                      <a:r>
                        <a:rPr lang="en-US" sz="900" dirty="0"/>
                        <a:t>IFC </a:t>
                      </a:r>
                    </a:p>
                    <a:p>
                      <a:r>
                        <a:rPr lang="en-US" sz="900" dirty="0"/>
                        <a:t>(583 MW</a:t>
                      </a:r>
                      <a:r>
                        <a:rPr lang="en-US" sz="900" baseline="0" dirty="0"/>
                        <a:t>)</a:t>
                      </a:r>
                      <a:endParaRPr lang="en-IN" sz="900" dirty="0"/>
                    </a:p>
                  </a:txBody>
                  <a:tcPr>
                    <a:solidFill>
                      <a:schemeClr val="accent3">
                        <a:lumMod val="20000"/>
                        <a:lumOff val="80000"/>
                      </a:schemeClr>
                    </a:solidFill>
                  </a:tcPr>
                </a:tc>
                <a:extLst>
                  <a:ext uri="{0D108BD9-81ED-4DB2-BD59-A6C34878D82A}">
                    <a16:rowId xmlns:a16="http://schemas.microsoft.com/office/drawing/2014/main" val="2058171041"/>
                  </a:ext>
                </a:extLst>
              </a:tr>
              <a:tr h="340439">
                <a:tc>
                  <a:txBody>
                    <a:bodyPr/>
                    <a:lstStyle/>
                    <a:p>
                      <a:endParaRPr lang="en-IN" sz="900" dirty="0"/>
                    </a:p>
                  </a:txBody>
                  <a:tcPr>
                    <a:solidFill>
                      <a:schemeClr val="bg1"/>
                    </a:solidFill>
                  </a:tcPr>
                </a:tc>
                <a:tc>
                  <a:txBody>
                    <a:bodyPr/>
                    <a:lstStyle/>
                    <a:p>
                      <a:r>
                        <a:rPr lang="en-US" sz="900" dirty="0"/>
                        <a:t>Reliance</a:t>
                      </a:r>
                      <a:r>
                        <a:rPr lang="en-US" sz="900" baseline="0" dirty="0"/>
                        <a:t> Power &amp; JERA</a:t>
                      </a:r>
                      <a:endParaRPr lang="en-US" sz="900" dirty="0"/>
                    </a:p>
                    <a:p>
                      <a:r>
                        <a:rPr lang="en-US" sz="900" dirty="0"/>
                        <a:t>(718</a:t>
                      </a:r>
                      <a:r>
                        <a:rPr lang="en-US" sz="900" baseline="0" dirty="0"/>
                        <a:t> MW)</a:t>
                      </a:r>
                      <a:endParaRPr lang="en-IN" sz="900" dirty="0"/>
                    </a:p>
                  </a:txBody>
                  <a:tcPr>
                    <a:solidFill>
                      <a:schemeClr val="accent3">
                        <a:lumMod val="60000"/>
                        <a:lumOff val="40000"/>
                      </a:schemeClr>
                    </a:solidFill>
                  </a:tcPr>
                </a:tc>
                <a:tc>
                  <a:txBody>
                    <a:bodyPr/>
                    <a:lstStyle/>
                    <a:p>
                      <a:endParaRPr lang="en-IN" sz="900" dirty="0"/>
                    </a:p>
                  </a:txBody>
                  <a:tcPr>
                    <a:noFill/>
                  </a:tcPr>
                </a:tc>
                <a:tc>
                  <a:txBody>
                    <a:bodyPr/>
                    <a:lstStyle/>
                    <a:p>
                      <a:endParaRPr lang="en-IN" sz="900" dirty="0"/>
                    </a:p>
                  </a:txBody>
                  <a:tcPr>
                    <a:solidFill>
                      <a:schemeClr val="bg1"/>
                    </a:solidFill>
                  </a:tcPr>
                </a:tc>
                <a:extLst>
                  <a:ext uri="{0D108BD9-81ED-4DB2-BD59-A6C34878D82A}">
                    <a16:rowId xmlns:a16="http://schemas.microsoft.com/office/drawing/2014/main" val="3354968468"/>
                  </a:ext>
                </a:extLst>
              </a:tr>
              <a:tr h="435187">
                <a:tc>
                  <a:txBody>
                    <a:bodyPr/>
                    <a:lstStyle/>
                    <a:p>
                      <a:endParaRPr lang="en-IN" sz="900" dirty="0"/>
                    </a:p>
                  </a:txBody>
                  <a:tcPr>
                    <a:solidFill>
                      <a:schemeClr val="bg1"/>
                    </a:solidFill>
                  </a:tcPr>
                </a:tc>
                <a:tc>
                  <a:txBody>
                    <a:bodyPr/>
                    <a:lstStyle/>
                    <a:p>
                      <a:r>
                        <a:rPr lang="en-US" sz="900" dirty="0"/>
                        <a:t>PowerChina</a:t>
                      </a:r>
                    </a:p>
                    <a:p>
                      <a:r>
                        <a:rPr lang="en-US" sz="900" dirty="0"/>
                        <a:t>(307</a:t>
                      </a:r>
                      <a:r>
                        <a:rPr lang="en-US" sz="900" baseline="0" dirty="0"/>
                        <a:t> MW)</a:t>
                      </a:r>
                      <a:endParaRPr lang="en-IN" sz="900" dirty="0"/>
                    </a:p>
                  </a:txBody>
                  <a:tcPr>
                    <a:solidFill>
                      <a:schemeClr val="accent3">
                        <a:lumMod val="60000"/>
                        <a:lumOff val="40000"/>
                      </a:schemeClr>
                    </a:solidFill>
                  </a:tcPr>
                </a:tc>
                <a:tc>
                  <a:txBody>
                    <a:bodyPr/>
                    <a:lstStyle/>
                    <a:p>
                      <a:endParaRPr lang="en-IN" sz="900" dirty="0"/>
                    </a:p>
                  </a:txBody>
                  <a:tcPr>
                    <a:solidFill>
                      <a:schemeClr val="bg1"/>
                    </a:solidFill>
                  </a:tcPr>
                </a:tc>
                <a:tc>
                  <a:txBody>
                    <a:bodyPr/>
                    <a:lstStyle/>
                    <a:p>
                      <a:endParaRPr lang="en-IN" sz="900" dirty="0"/>
                    </a:p>
                  </a:txBody>
                  <a:tcPr>
                    <a:solidFill>
                      <a:schemeClr val="bg1"/>
                    </a:solidFill>
                  </a:tcPr>
                </a:tc>
                <a:extLst>
                  <a:ext uri="{0D108BD9-81ED-4DB2-BD59-A6C34878D82A}">
                    <a16:rowId xmlns:a16="http://schemas.microsoft.com/office/drawing/2014/main" val="1113466722"/>
                  </a:ext>
                </a:extLst>
              </a:tr>
              <a:tr h="310425">
                <a:tc>
                  <a:txBody>
                    <a:bodyPr/>
                    <a:lstStyle/>
                    <a:p>
                      <a:endParaRPr lang="en-IN" sz="900" dirty="0"/>
                    </a:p>
                  </a:txBody>
                  <a:tcPr>
                    <a:solidFill>
                      <a:schemeClr val="bg1"/>
                    </a:solidFill>
                  </a:tcPr>
                </a:tc>
                <a:tc>
                  <a:txBody>
                    <a:bodyPr/>
                    <a:lstStyle/>
                    <a:p>
                      <a:r>
                        <a:rPr lang="en-US" sz="900" dirty="0"/>
                        <a:t>Changzhou Hutang Coal Power Co. Ltd.(China) </a:t>
                      </a:r>
                    </a:p>
                    <a:p>
                      <a:r>
                        <a:rPr lang="en-US" sz="900" dirty="0"/>
                        <a:t>(162 MW)</a:t>
                      </a:r>
                      <a:endParaRPr lang="en-IN" sz="900" dirty="0"/>
                    </a:p>
                  </a:txBody>
                  <a:tcPr>
                    <a:solidFill>
                      <a:schemeClr val="accent3">
                        <a:lumMod val="60000"/>
                        <a:lumOff val="40000"/>
                      </a:schemeClr>
                    </a:solidFill>
                  </a:tcPr>
                </a:tc>
                <a:tc>
                  <a:txBody>
                    <a:bodyPr/>
                    <a:lstStyle/>
                    <a:p>
                      <a:endParaRPr lang="en-IN" sz="900" dirty="0"/>
                    </a:p>
                  </a:txBody>
                  <a:tcPr>
                    <a:solidFill>
                      <a:schemeClr val="bg1"/>
                    </a:solidFill>
                  </a:tcPr>
                </a:tc>
                <a:tc>
                  <a:txBody>
                    <a:bodyPr/>
                    <a:lstStyle/>
                    <a:p>
                      <a:endParaRPr lang="en-IN" sz="900" dirty="0"/>
                    </a:p>
                  </a:txBody>
                  <a:tcPr>
                    <a:solidFill>
                      <a:schemeClr val="bg1"/>
                    </a:solidFill>
                  </a:tcPr>
                </a:tc>
                <a:extLst>
                  <a:ext uri="{0D108BD9-81ED-4DB2-BD59-A6C34878D82A}">
                    <a16:rowId xmlns:a16="http://schemas.microsoft.com/office/drawing/2014/main" val="2974806546"/>
                  </a:ext>
                </a:extLst>
              </a:tr>
            </a:tbl>
          </a:graphicData>
        </a:graphic>
      </p:graphicFrame>
      <p:sp>
        <p:nvSpPr>
          <p:cNvPr id="13" name="Oval 12"/>
          <p:cNvSpPr/>
          <p:nvPr/>
        </p:nvSpPr>
        <p:spPr bwMode="gray">
          <a:xfrm>
            <a:off x="5633543" y="5113413"/>
            <a:ext cx="324000" cy="324000"/>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dirty="0">
                <a:ln>
                  <a:noFill/>
                </a:ln>
                <a:solidFill>
                  <a:prstClr val="white"/>
                </a:solidFill>
                <a:effectLst/>
                <a:uLnTx/>
                <a:uFillTx/>
                <a:latin typeface="Verdana"/>
                <a:ea typeface="+mn-ea"/>
                <a:cs typeface="+mn-cs"/>
              </a:rPr>
              <a:t>1</a:t>
            </a:r>
            <a:endParaRPr kumimoji="0" lang="en-IN" sz="1050" b="1" i="0" u="none" strike="noStrike" kern="1200" cap="none" spc="0" normalizeH="0" baseline="0" noProof="0" dirty="0">
              <a:ln>
                <a:noFill/>
              </a:ln>
              <a:solidFill>
                <a:prstClr val="white"/>
              </a:solidFill>
              <a:effectLst/>
              <a:uLnTx/>
              <a:uFillTx/>
              <a:latin typeface="Verdana"/>
              <a:ea typeface="+mn-ea"/>
              <a:cs typeface="+mn-cs"/>
            </a:endParaRPr>
          </a:p>
        </p:txBody>
      </p:sp>
      <p:sp>
        <p:nvSpPr>
          <p:cNvPr id="16" name="Oval 15"/>
          <p:cNvSpPr/>
          <p:nvPr/>
        </p:nvSpPr>
        <p:spPr bwMode="gray">
          <a:xfrm>
            <a:off x="5633543" y="5500804"/>
            <a:ext cx="324000" cy="324000"/>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dirty="0">
                <a:ln>
                  <a:noFill/>
                </a:ln>
                <a:solidFill>
                  <a:prstClr val="white"/>
                </a:solidFill>
                <a:effectLst/>
                <a:uLnTx/>
                <a:uFillTx/>
                <a:latin typeface="Verdana"/>
                <a:ea typeface="+mn-ea"/>
                <a:cs typeface="+mn-cs"/>
              </a:rPr>
              <a:t>2</a:t>
            </a:r>
            <a:endParaRPr kumimoji="0" lang="en-IN" sz="1050" b="1" i="0" u="none" strike="noStrike" kern="1200" cap="none" spc="0" normalizeH="0" baseline="0" noProof="0" dirty="0">
              <a:ln>
                <a:noFill/>
              </a:ln>
              <a:solidFill>
                <a:prstClr val="white"/>
              </a:solidFill>
              <a:effectLst/>
              <a:uLnTx/>
              <a:uFillTx/>
              <a:latin typeface="Verdana"/>
              <a:ea typeface="+mn-ea"/>
              <a:cs typeface="+mn-cs"/>
            </a:endParaRPr>
          </a:p>
        </p:txBody>
      </p:sp>
      <p:sp>
        <p:nvSpPr>
          <p:cNvPr id="17" name="Oval 16"/>
          <p:cNvSpPr/>
          <p:nvPr/>
        </p:nvSpPr>
        <p:spPr bwMode="gray">
          <a:xfrm>
            <a:off x="5633543" y="5888195"/>
            <a:ext cx="324000" cy="324000"/>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dirty="0">
                <a:ln>
                  <a:noFill/>
                </a:ln>
                <a:solidFill>
                  <a:prstClr val="white"/>
                </a:solidFill>
                <a:effectLst/>
                <a:uLnTx/>
                <a:uFillTx/>
                <a:latin typeface="Verdana"/>
                <a:ea typeface="+mn-ea"/>
                <a:cs typeface="+mn-cs"/>
              </a:rPr>
              <a:t>3</a:t>
            </a:r>
            <a:endParaRPr kumimoji="0" lang="en-IN" sz="1050" b="1" i="0" u="none" strike="noStrike" kern="1200" cap="none" spc="0" normalizeH="0" baseline="0" noProof="0" dirty="0">
              <a:ln>
                <a:noFill/>
              </a:ln>
              <a:solidFill>
                <a:prstClr val="white"/>
              </a:solidFill>
              <a:effectLst/>
              <a:uLnTx/>
              <a:uFillTx/>
              <a:latin typeface="Verdana"/>
              <a:ea typeface="+mn-ea"/>
              <a:cs typeface="+mn-cs"/>
            </a:endParaRPr>
          </a:p>
        </p:txBody>
      </p:sp>
      <p:sp>
        <p:nvSpPr>
          <p:cNvPr id="18" name="Oval 17"/>
          <p:cNvSpPr/>
          <p:nvPr/>
        </p:nvSpPr>
        <p:spPr bwMode="gray">
          <a:xfrm>
            <a:off x="5633543" y="6278418"/>
            <a:ext cx="324000" cy="324000"/>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dirty="0">
                <a:ln>
                  <a:noFill/>
                </a:ln>
                <a:solidFill>
                  <a:prstClr val="white"/>
                </a:solidFill>
                <a:effectLst/>
                <a:uLnTx/>
                <a:uFillTx/>
                <a:latin typeface="Verdana"/>
                <a:ea typeface="+mn-ea"/>
                <a:cs typeface="+mn-cs"/>
              </a:rPr>
              <a:t>4</a:t>
            </a:r>
            <a:endParaRPr kumimoji="0" lang="en-IN" sz="1050" b="1" i="0" u="none" strike="noStrike" kern="1200" cap="none" spc="0" normalizeH="0" baseline="0" noProof="0" dirty="0">
              <a:ln>
                <a:noFill/>
              </a:ln>
              <a:solidFill>
                <a:prstClr val="white"/>
              </a:solidFill>
              <a:effectLst/>
              <a:uLnTx/>
              <a:uFillTx/>
              <a:latin typeface="Verdana"/>
              <a:ea typeface="+mn-ea"/>
              <a:cs typeface="+mn-cs"/>
            </a:endParaRPr>
          </a:p>
        </p:txBody>
      </p:sp>
      <p:sp>
        <p:nvSpPr>
          <p:cNvPr id="19" name="Oval 18"/>
          <p:cNvSpPr/>
          <p:nvPr/>
        </p:nvSpPr>
        <p:spPr bwMode="gray">
          <a:xfrm>
            <a:off x="5633543" y="6662962"/>
            <a:ext cx="324000" cy="324000"/>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dirty="0">
                <a:ln>
                  <a:noFill/>
                </a:ln>
                <a:solidFill>
                  <a:prstClr val="white"/>
                </a:solidFill>
                <a:effectLst/>
                <a:uLnTx/>
                <a:uFillTx/>
                <a:latin typeface="Verdana"/>
                <a:ea typeface="+mn-ea"/>
                <a:cs typeface="+mn-cs"/>
              </a:rPr>
              <a:t>5</a:t>
            </a:r>
            <a:endParaRPr kumimoji="0" lang="en-IN" sz="1050" b="1" i="0" u="none" strike="noStrike" kern="1200" cap="none" spc="0" normalizeH="0" baseline="0" noProof="0" dirty="0">
              <a:ln>
                <a:noFill/>
              </a:ln>
              <a:solidFill>
                <a:prstClr val="white"/>
              </a:solidFill>
              <a:effectLst/>
              <a:uLnTx/>
              <a:uFillTx/>
              <a:latin typeface="Verdana"/>
              <a:ea typeface="+mn-ea"/>
              <a:cs typeface="+mn-cs"/>
            </a:endParaRPr>
          </a:p>
        </p:txBody>
      </p:sp>
      <p:graphicFrame>
        <p:nvGraphicFramePr>
          <p:cNvPr id="109" name="Chart 108"/>
          <p:cNvGraphicFramePr/>
          <p:nvPr>
            <p:custDataLst>
              <p:tags r:id="rId5"/>
            </p:custDataLst>
            <p:extLst>
              <p:ext uri="{D42A27DB-BD31-4B8C-83A1-F6EECF244321}">
                <p14:modId xmlns:p14="http://schemas.microsoft.com/office/powerpoint/2010/main" val="1115195206"/>
              </p:ext>
            </p:extLst>
          </p:nvPr>
        </p:nvGraphicFramePr>
        <p:xfrm>
          <a:off x="5422900" y="2513013"/>
          <a:ext cx="4900613" cy="1417637"/>
        </p:xfrm>
        <a:graphic>
          <a:graphicData uri="http://schemas.openxmlformats.org/drawingml/2006/chart">
            <c:chart xmlns:c="http://schemas.openxmlformats.org/drawingml/2006/chart" xmlns:r="http://schemas.openxmlformats.org/officeDocument/2006/relationships" r:id="rId27"/>
          </a:graphicData>
        </a:graphic>
      </p:graphicFrame>
      <p:sp>
        <p:nvSpPr>
          <p:cNvPr id="22" name="StandardTextbox"/>
          <p:cNvSpPr>
            <a:spLocks noGrp="1"/>
          </p:cNvSpPr>
          <p:nvPr>
            <p:custDataLst>
              <p:tags r:id="rId6"/>
            </p:custDataLst>
          </p:nvPr>
        </p:nvSpPr>
        <p:spPr bwMode="auto">
          <a:xfrm>
            <a:off x="5872163" y="3924300"/>
            <a:ext cx="84296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3BCF526-866B-464D-B3DC-EB57EA9054C2}" type="datetime'F''''''''''''''or''''e''''i''''gn'''''''' Eq''''u''ity'">
              <a:rPr lang="en-IN" altLang="en-US" sz="900" b="0" smtClean="0"/>
              <a:pPr lvl="1" algn="ctr">
                <a:spcBef>
                  <a:spcPct val="0"/>
                </a:spcBef>
                <a:spcAft>
                  <a:spcPct val="0"/>
                </a:spcAft>
              </a:pPr>
              <a:t>Foreign Equity</a:t>
            </a:fld>
            <a:endParaRPr lang="en-IN" sz="900" b="0" noProof="0" dirty="0">
              <a:sym typeface="+mn-lt"/>
            </a:endParaRPr>
          </a:p>
        </p:txBody>
      </p:sp>
      <p:sp>
        <p:nvSpPr>
          <p:cNvPr id="21" name="StandardTextbox"/>
          <p:cNvSpPr>
            <a:spLocks noGrp="1"/>
          </p:cNvSpPr>
          <p:nvPr>
            <p:custDataLst>
              <p:tags r:id="rId7"/>
            </p:custDataLst>
          </p:nvPr>
        </p:nvSpPr>
        <p:spPr bwMode="gray">
          <a:xfrm>
            <a:off x="6107113" y="2433638"/>
            <a:ext cx="37147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829E2D8D-6467-4239-BAB5-2D3A5E0CD802}" type="datetime'''''4'''''''''''''''',''''''''''''''02''''''''7'''''">
              <a:rPr lang="en-IN" altLang="en-US" sz="900" b="0" smtClean="0"/>
              <a:pPr lvl="1" algn="ctr">
                <a:spcBef>
                  <a:spcPct val="0"/>
                </a:spcBef>
                <a:spcAft>
                  <a:spcPct val="0"/>
                </a:spcAft>
              </a:pPr>
              <a:t>4,027</a:t>
            </a:fld>
            <a:endParaRPr lang="en-IN" sz="900" b="0" noProof="0" dirty="0">
              <a:sym typeface="+mn-lt"/>
            </a:endParaRPr>
          </a:p>
        </p:txBody>
      </p:sp>
      <p:sp>
        <p:nvSpPr>
          <p:cNvPr id="94" name="StandardTextbox"/>
          <p:cNvSpPr>
            <a:spLocks noGrp="1"/>
          </p:cNvSpPr>
          <p:nvPr>
            <p:custDataLst>
              <p:tags r:id="rId8"/>
            </p:custDataLst>
          </p:nvPr>
        </p:nvSpPr>
        <p:spPr bwMode="gray">
          <a:xfrm>
            <a:off x="7743826" y="3071813"/>
            <a:ext cx="257175" cy="136525"/>
          </a:xfrm>
          <a:prstGeom prst="rect">
            <a:avLst/>
          </a:prstGeom>
          <a:solidFill>
            <a:schemeClr val="accent4"/>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526CA64-1FE0-456F-8C4B-466D1DCB2A15}" type="datetime'''''''''''2''''''''''''''''''''''''29'''''''''">
              <a:rPr lang="en-IN" altLang="en-US" sz="900" b="0" smtClean="0">
                <a:solidFill>
                  <a:schemeClr val="bg1"/>
                </a:solidFill>
                <a:sym typeface="+mn-lt"/>
              </a:rPr>
              <a:pPr lvl="1" algn="ctr">
                <a:spcBef>
                  <a:spcPct val="0"/>
                </a:spcBef>
                <a:spcAft>
                  <a:spcPct val="0"/>
                </a:spcAft>
              </a:pPr>
              <a:t>229</a:t>
            </a:fld>
            <a:endParaRPr lang="en-IN" sz="900" b="0" noProof="0" dirty="0">
              <a:solidFill>
                <a:schemeClr val="bg1"/>
              </a:solidFill>
              <a:sym typeface="+mn-lt"/>
            </a:endParaRPr>
          </a:p>
        </p:txBody>
      </p:sp>
      <p:sp>
        <p:nvSpPr>
          <p:cNvPr id="25" name="StandardTextbox"/>
          <p:cNvSpPr>
            <a:spLocks noGrp="1"/>
          </p:cNvSpPr>
          <p:nvPr>
            <p:custDataLst>
              <p:tags r:id="rId9"/>
            </p:custDataLst>
          </p:nvPr>
        </p:nvSpPr>
        <p:spPr bwMode="auto">
          <a:xfrm>
            <a:off x="7494588" y="3924300"/>
            <a:ext cx="75565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7C24E406-9233-4993-B54A-AD3E1B5B32E2}" type="datetime'F''''''o''r''''''ei''''g''''''''n'' L''''o''a''''''''''''''n'">
              <a:rPr lang="en-IN" altLang="en-US" sz="900" b="0" smtClean="0"/>
              <a:pPr lvl="1" algn="ctr">
                <a:spcBef>
                  <a:spcPct val="0"/>
                </a:spcBef>
                <a:spcAft>
                  <a:spcPct val="0"/>
                </a:spcAft>
              </a:pPr>
              <a:t>Foreign Loan</a:t>
            </a:fld>
            <a:endParaRPr lang="en-IN" sz="900" b="0" noProof="0" dirty="0">
              <a:sym typeface="+mn-lt"/>
            </a:endParaRPr>
          </a:p>
        </p:txBody>
      </p:sp>
      <p:sp>
        <p:nvSpPr>
          <p:cNvPr id="26" name="StandardTextbox"/>
          <p:cNvSpPr>
            <a:spLocks noGrp="1"/>
          </p:cNvSpPr>
          <p:nvPr>
            <p:custDataLst>
              <p:tags r:id="rId10"/>
            </p:custDataLst>
          </p:nvPr>
        </p:nvSpPr>
        <p:spPr bwMode="auto">
          <a:xfrm>
            <a:off x="9124950" y="3924300"/>
            <a:ext cx="65246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6EBECAC-B0B7-41E0-AE9D-AD8407204D44}" type="datetime'''''M''ul''''''t''''''ilat''''e''''''''r''''''a''''''l'''''''">
              <a:rPr lang="en-IN" altLang="en-US" sz="900" b="0" smtClean="0"/>
              <a:pPr lvl="1" algn="ctr">
                <a:spcBef>
                  <a:spcPct val="0"/>
                </a:spcBef>
                <a:spcAft>
                  <a:spcPct val="0"/>
                </a:spcAft>
              </a:pPr>
              <a:t>Multilateral</a:t>
            </a:fld>
            <a:endParaRPr lang="en-IN" sz="900" b="0" noProof="0" dirty="0">
              <a:sym typeface="+mn-lt"/>
            </a:endParaRPr>
          </a:p>
        </p:txBody>
      </p:sp>
      <p:sp>
        <p:nvSpPr>
          <p:cNvPr id="45" name="StandardTextbox"/>
          <p:cNvSpPr>
            <a:spLocks noGrp="1"/>
          </p:cNvSpPr>
          <p:nvPr>
            <p:custDataLst>
              <p:tags r:id="rId11"/>
            </p:custDataLst>
          </p:nvPr>
        </p:nvSpPr>
        <p:spPr bwMode="gray">
          <a:xfrm>
            <a:off x="6164263" y="3744913"/>
            <a:ext cx="257175" cy="136525"/>
          </a:xfrm>
          <a:prstGeom prst="rect">
            <a:avLst/>
          </a:prstGeom>
          <a:solidFill>
            <a:schemeClr val="accent1"/>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FC9D558-D109-4D66-8234-6A49CAF051F7}" type="datetime'''''''''''''2''''''''''''2''''''0'''''''''''''''''''''''">
              <a:rPr lang="en-IN" altLang="en-US" sz="900" b="0" smtClean="0">
                <a:solidFill>
                  <a:schemeClr val="bg1"/>
                </a:solidFill>
              </a:rPr>
              <a:pPr lvl="1" algn="ctr">
                <a:spcBef>
                  <a:spcPct val="0"/>
                </a:spcBef>
                <a:spcAft>
                  <a:spcPct val="0"/>
                </a:spcAft>
              </a:pPr>
              <a:t>220</a:t>
            </a:fld>
            <a:endParaRPr lang="en-IN" sz="900" b="0" noProof="0" dirty="0">
              <a:solidFill>
                <a:schemeClr val="bg1"/>
              </a:solidFill>
              <a:sym typeface="+mn-lt"/>
            </a:endParaRPr>
          </a:p>
        </p:txBody>
      </p:sp>
      <p:sp>
        <p:nvSpPr>
          <p:cNvPr id="55" name="StandardTextbox"/>
          <p:cNvSpPr>
            <a:spLocks noGrp="1"/>
          </p:cNvSpPr>
          <p:nvPr>
            <p:custDataLst>
              <p:tags r:id="rId12"/>
            </p:custDataLst>
          </p:nvPr>
        </p:nvSpPr>
        <p:spPr bwMode="gray">
          <a:xfrm>
            <a:off x="7686675" y="2935288"/>
            <a:ext cx="37147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7733A633-46BD-4D2F-98AB-D35B74A09F90}" type="datetime'''2'',''''''''''''''''3''9''''''''''''1'''''''''''''''''''''">
              <a:rPr lang="en-IN" altLang="en-US" sz="900" b="0" smtClean="0"/>
              <a:pPr lvl="1" algn="ctr">
                <a:spcBef>
                  <a:spcPct val="0"/>
                </a:spcBef>
                <a:spcAft>
                  <a:spcPct val="0"/>
                </a:spcAft>
              </a:pPr>
              <a:t>2,391</a:t>
            </a:fld>
            <a:endParaRPr lang="en-IN" sz="900" b="0" noProof="0" dirty="0">
              <a:sym typeface="+mn-lt"/>
            </a:endParaRPr>
          </a:p>
        </p:txBody>
      </p:sp>
      <p:sp>
        <p:nvSpPr>
          <p:cNvPr id="71" name="StandardTextbox"/>
          <p:cNvSpPr>
            <a:spLocks noGrp="1"/>
          </p:cNvSpPr>
          <p:nvPr>
            <p:custDataLst>
              <p:tags r:id="rId13"/>
            </p:custDataLst>
          </p:nvPr>
        </p:nvSpPr>
        <p:spPr bwMode="gray">
          <a:xfrm>
            <a:off x="7743825" y="3744913"/>
            <a:ext cx="257175" cy="136525"/>
          </a:xfrm>
          <a:prstGeom prst="rect">
            <a:avLst/>
          </a:prstGeom>
          <a:solidFill>
            <a:schemeClr val="accent1"/>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8F6DA7C-76FA-43ED-A201-E28DFF49637A}" type="datetime'''''2''''''2''''''''''''''''''''''''''''''''0'''''''''''">
              <a:rPr lang="en-IN" altLang="en-US" sz="900" b="0" smtClean="0">
                <a:solidFill>
                  <a:schemeClr val="bg1"/>
                </a:solidFill>
              </a:rPr>
              <a:pPr lvl="1" algn="ctr">
                <a:spcBef>
                  <a:spcPct val="0"/>
                </a:spcBef>
                <a:spcAft>
                  <a:spcPct val="0"/>
                </a:spcAft>
              </a:pPr>
              <a:t>220</a:t>
            </a:fld>
            <a:endParaRPr lang="en-IN" sz="900" b="0" noProof="0" dirty="0">
              <a:solidFill>
                <a:schemeClr val="bg1"/>
              </a:solidFill>
              <a:sym typeface="+mn-lt"/>
            </a:endParaRPr>
          </a:p>
        </p:txBody>
      </p:sp>
      <p:sp>
        <p:nvSpPr>
          <p:cNvPr id="82" name="StandardTextbox"/>
          <p:cNvSpPr>
            <a:spLocks noGrp="1"/>
          </p:cNvSpPr>
          <p:nvPr>
            <p:custDataLst>
              <p:tags r:id="rId14"/>
            </p:custDataLst>
          </p:nvPr>
        </p:nvSpPr>
        <p:spPr bwMode="gray">
          <a:xfrm>
            <a:off x="9264651" y="3221038"/>
            <a:ext cx="37147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9050" tIns="0" rIns="1905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F0F4E85-ECE2-49AA-945B-2A5AA277F5BC}" type="datetime'''''''1'''''''''''',''41''''''''''''''''''''''''''''6'''''''">
              <a:rPr lang="en-IN" altLang="en-US" sz="900" b="0" smtClean="0"/>
              <a:pPr lvl="1" algn="ctr">
                <a:spcBef>
                  <a:spcPct val="0"/>
                </a:spcBef>
                <a:spcAft>
                  <a:spcPct val="0"/>
                </a:spcAft>
              </a:pPr>
              <a:t>1,416</a:t>
            </a:fld>
            <a:endParaRPr lang="en-IN" sz="900" b="0" noProof="0" dirty="0">
              <a:sym typeface="+mn-lt"/>
            </a:endParaRPr>
          </a:p>
        </p:txBody>
      </p:sp>
      <p:sp>
        <p:nvSpPr>
          <p:cNvPr id="96" name="StandardTextbox"/>
          <p:cNvSpPr>
            <a:spLocks noGrp="1"/>
          </p:cNvSpPr>
          <p:nvPr>
            <p:custDataLst>
              <p:tags r:id="rId15"/>
            </p:custDataLst>
          </p:nvPr>
        </p:nvSpPr>
        <p:spPr bwMode="gray">
          <a:xfrm>
            <a:off x="9321800" y="3357563"/>
            <a:ext cx="257175" cy="136525"/>
          </a:xfrm>
          <a:prstGeom prst="rect">
            <a:avLst/>
          </a:prstGeom>
          <a:solidFill>
            <a:schemeClr val="accent4"/>
          </a:solidFill>
          <a:ln>
            <a:noFill/>
          </a:ln>
        </p:spPr>
        <p:txBody>
          <a:bodyPr vert="horz" wrap="none" lIns="19050" tIns="0" rIns="1905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9B16FED-E8FE-4BC7-97E8-B927D3C2BE8E}" type="datetime'''''''''1''''''''1''''''''''''''''''''5'''''''''''''''">
              <a:rPr lang="en-IN" altLang="en-US" sz="900" b="0" smtClean="0">
                <a:solidFill>
                  <a:schemeClr val="bg1"/>
                </a:solidFill>
                <a:sym typeface="+mn-lt"/>
              </a:rPr>
              <a:pPr lvl="1" algn="ctr">
                <a:spcBef>
                  <a:spcPct val="0"/>
                </a:spcBef>
                <a:spcAft>
                  <a:spcPct val="0"/>
                </a:spcAft>
              </a:pPr>
              <a:t>115</a:t>
            </a:fld>
            <a:endParaRPr lang="en-IN" sz="900" b="0" noProof="0" dirty="0">
              <a:solidFill>
                <a:schemeClr val="bg1"/>
              </a:solidFill>
              <a:sym typeface="+mn-lt"/>
            </a:endParaRPr>
          </a:p>
        </p:txBody>
      </p:sp>
      <p:sp>
        <p:nvSpPr>
          <p:cNvPr id="7" name="Rectangle 6"/>
          <p:cNvSpPr/>
          <p:nvPr>
            <p:custDataLst>
              <p:tags r:id="rId16"/>
            </p:custDataLst>
          </p:nvPr>
        </p:nvSpPr>
        <p:spPr bwMode="auto">
          <a:xfrm>
            <a:off x="7262813" y="4254500"/>
            <a:ext cx="160338" cy="120650"/>
          </a:xfrm>
          <a:prstGeom prst="rect">
            <a:avLst/>
          </a:prstGeom>
          <a:solidFill>
            <a:srgbClr val="62B5E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9" name="Rectangle 28"/>
          <p:cNvSpPr/>
          <p:nvPr>
            <p:custDataLst>
              <p:tags r:id="rId17"/>
            </p:custDataLst>
          </p:nvPr>
        </p:nvSpPr>
        <p:spPr bwMode="auto">
          <a:xfrm>
            <a:off x="6732588" y="4254500"/>
            <a:ext cx="160338" cy="120650"/>
          </a:xfrm>
          <a:prstGeom prst="rect">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0" name="Rectangle 29"/>
          <p:cNvSpPr/>
          <p:nvPr>
            <p:custDataLst>
              <p:tags r:id="rId18"/>
            </p:custDataLst>
          </p:nvPr>
        </p:nvSpPr>
        <p:spPr bwMode="auto">
          <a:xfrm>
            <a:off x="8948738" y="4254500"/>
            <a:ext cx="160338" cy="120650"/>
          </a:xfrm>
          <a:prstGeom prst="rect">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9" name="Rectangle 8"/>
          <p:cNvSpPr/>
          <p:nvPr>
            <p:custDataLst>
              <p:tags r:id="rId19"/>
            </p:custDataLst>
          </p:nvPr>
        </p:nvSpPr>
        <p:spPr bwMode="auto">
          <a:xfrm>
            <a:off x="7813675" y="4254500"/>
            <a:ext cx="160338" cy="120650"/>
          </a:xfrm>
          <a:prstGeom prst="rect">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1" name="StandardTextbox"/>
          <p:cNvSpPr>
            <a:spLocks noGrp="1"/>
          </p:cNvSpPr>
          <p:nvPr>
            <p:custDataLst>
              <p:tags r:id="rId20"/>
            </p:custDataLst>
          </p:nvPr>
        </p:nvSpPr>
        <p:spPr bwMode="auto">
          <a:xfrm>
            <a:off x="6943725" y="4251325"/>
            <a:ext cx="2174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3AC02644-6F95-4978-ACEB-9E10CB6ADC07}" type="datetime'''''''G''''a''''''''''''''''''''''''''''s'''''''''''''">
              <a:rPr lang="en-IN" altLang="en-US" sz="900" b="0" smtClean="0"/>
              <a:pPr lvl="1">
                <a:spcBef>
                  <a:spcPct val="0"/>
                </a:spcBef>
                <a:spcAft>
                  <a:spcPct val="0"/>
                </a:spcAft>
              </a:pPr>
              <a:t>Gas</a:t>
            </a:fld>
            <a:endParaRPr lang="en-IN" sz="900" b="0" noProof="0" dirty="0">
              <a:sym typeface="+mn-lt"/>
            </a:endParaRPr>
          </a:p>
        </p:txBody>
      </p:sp>
      <p:sp>
        <p:nvSpPr>
          <p:cNvPr id="32" name="StandardTextbox"/>
          <p:cNvSpPr>
            <a:spLocks noGrp="1"/>
          </p:cNvSpPr>
          <p:nvPr>
            <p:custDataLst>
              <p:tags r:id="rId21"/>
            </p:custDataLst>
          </p:nvPr>
        </p:nvSpPr>
        <p:spPr bwMode="auto">
          <a:xfrm>
            <a:off x="9159875" y="4251325"/>
            <a:ext cx="2413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1756F6F3-B3F2-40BF-AFD9-D5B1AFEC8CF9}" type="datetime'''''''''''''''''H''''''''''''''''''''''''''''F''''O'''''''''''">
              <a:rPr lang="en-IN" altLang="en-US" sz="900" b="0" smtClean="0"/>
              <a:pPr lvl="1">
                <a:spcBef>
                  <a:spcPct val="0"/>
                </a:spcBef>
                <a:spcAft>
                  <a:spcPct val="0"/>
                </a:spcAft>
              </a:pPr>
              <a:t>HFO</a:t>
            </a:fld>
            <a:endParaRPr lang="en-IN" sz="900" b="0" noProof="0" dirty="0">
              <a:sym typeface="+mn-lt"/>
            </a:endParaRPr>
          </a:p>
        </p:txBody>
      </p:sp>
      <p:sp>
        <p:nvSpPr>
          <p:cNvPr id="38" name="StandardTextbox"/>
          <p:cNvSpPr>
            <a:spLocks noGrp="1"/>
          </p:cNvSpPr>
          <p:nvPr>
            <p:custDataLst>
              <p:tags r:id="rId22"/>
            </p:custDataLst>
          </p:nvPr>
        </p:nvSpPr>
        <p:spPr bwMode="auto">
          <a:xfrm>
            <a:off x="7473950" y="4251325"/>
            <a:ext cx="23812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B78EB5CB-7AEF-4B87-B612-5CBDFD11FCE8}" type="datetime'''''''''''''''''L''''''''''''N''''''''''''''''G'''">
              <a:rPr lang="en-IN" altLang="en-US" sz="900" b="0" smtClean="0"/>
              <a:pPr lvl="1">
                <a:spcBef>
                  <a:spcPct val="0"/>
                </a:spcBef>
                <a:spcAft>
                  <a:spcPct val="0"/>
                </a:spcAft>
              </a:pPr>
              <a:t>LNG</a:t>
            </a:fld>
            <a:endParaRPr lang="en-IN" sz="900" b="0" noProof="0" dirty="0">
              <a:sym typeface="+mn-lt"/>
            </a:endParaRPr>
          </a:p>
        </p:txBody>
      </p:sp>
      <p:sp>
        <p:nvSpPr>
          <p:cNvPr id="41" name="StandardTextbox"/>
          <p:cNvSpPr>
            <a:spLocks noGrp="1"/>
          </p:cNvSpPr>
          <p:nvPr>
            <p:custDataLst>
              <p:tags r:id="rId23"/>
            </p:custDataLst>
          </p:nvPr>
        </p:nvSpPr>
        <p:spPr bwMode="auto">
          <a:xfrm>
            <a:off x="8024813" y="4251325"/>
            <a:ext cx="82232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5E0180C3-64B4-478C-8FBF-04145F95DE1C}" type="datetime'''I''''''''''''mp''o''''rt''''''e''''''''d C''''o''al'''''">
              <a:rPr lang="en-IN" altLang="en-US" sz="900" b="0" smtClean="0"/>
              <a:pPr lvl="1">
                <a:spcBef>
                  <a:spcPct val="0"/>
                </a:spcBef>
                <a:spcAft>
                  <a:spcPct val="0"/>
                </a:spcAft>
              </a:pPr>
              <a:t>Imported Coal</a:t>
            </a:fld>
            <a:endParaRPr lang="en-IN" sz="900" b="0" noProof="0" dirty="0">
              <a:sym typeface="+mn-lt"/>
            </a:endParaRPr>
          </a:p>
        </p:txBody>
      </p:sp>
      <p:sp>
        <p:nvSpPr>
          <p:cNvPr id="110" name="Rectangle 109"/>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a:lnSpc>
                <a:spcPct val="106000"/>
              </a:lnSpc>
              <a:defRPr/>
            </a:pPr>
            <a:r>
              <a:rPr lang="en-US" sz="700" i="1" dirty="0">
                <a:solidFill>
                  <a:prstClr val="black"/>
                </a:solidFill>
              </a:rPr>
              <a:t>Source: BPDB, Industry Reports Deloitte Analysis; Note: 1) The data for foreign equity, loan and multilateral investments do not indicate mutually exclusive investments</a:t>
            </a:r>
          </a:p>
        </p:txBody>
      </p:sp>
    </p:spTree>
    <p:extLst>
      <p:ext uri="{BB962C8B-B14F-4D97-AF65-F5344CB8AC3E}">
        <p14:creationId xmlns:p14="http://schemas.microsoft.com/office/powerpoint/2010/main" val="2872398967"/>
      </p:ext>
    </p:extLst>
  </p:cSld>
  <p:clrMapOvr>
    <a:masterClrMapping/>
  </p:clrMapOvr>
  <p:transition>
    <p:fade/>
  </p:transition>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Object 10" hidden="1"/>
          <p:cNvGraphicFramePr>
            <a:graphicFrameLocks noChangeAspect="1"/>
          </p:cNvGraphicFramePr>
          <p:nvPr>
            <p:custDataLst>
              <p:tags r:id="rId1"/>
            </p:custDataLst>
            <p:extLst>
              <p:ext uri="{D42A27DB-BD31-4B8C-83A1-F6EECF244321}">
                <p14:modId xmlns:p14="http://schemas.microsoft.com/office/powerpoint/2010/main" val="295342354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5" imgW="530" imgH="531" progId="TCLayout.ActiveDocument.1">
                  <p:embed/>
                </p:oleObj>
              </mc:Choice>
              <mc:Fallback>
                <p:oleObj name="think-cell Slide" r:id="rId15" imgW="530" imgH="531" progId="TCLayout.ActiveDocument.1">
                  <p:embed/>
                  <p:pic>
                    <p:nvPicPr>
                      <p:cNvPr id="11" name="Object 10" hidden="1"/>
                      <p:cNvPicPr/>
                      <p:nvPr/>
                    </p:nvPicPr>
                    <p:blipFill>
                      <a:blip r:embed="rId16"/>
                      <a:stretch>
                        <a:fillRect/>
                      </a:stretch>
                    </p:blipFill>
                    <p:spPr>
                      <a:xfrm>
                        <a:off x="1588" y="1588"/>
                        <a:ext cx="1588" cy="1588"/>
                      </a:xfrm>
                      <a:prstGeom prst="rect">
                        <a:avLst/>
                      </a:prstGeom>
                    </p:spPr>
                  </p:pic>
                </p:oleObj>
              </mc:Fallback>
            </mc:AlternateContent>
          </a:graphicData>
        </a:graphic>
      </p:graphicFrame>
      <p:sp>
        <p:nvSpPr>
          <p:cNvPr id="5" name="Rectangle 4"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Foreign Participation in Power Sector | Asset Identification (Upcoming)</a:t>
            </a:r>
            <a:endParaRPr lang="en-IN" dirty="0"/>
          </a:p>
        </p:txBody>
      </p:sp>
      <p:graphicFrame>
        <p:nvGraphicFramePr>
          <p:cNvPr id="3" name="Table 2"/>
          <p:cNvGraphicFramePr>
            <a:graphicFrameLocks noGrp="1"/>
          </p:cNvGraphicFramePr>
          <p:nvPr>
            <p:custDataLst>
              <p:tags r:id="rId3"/>
            </p:custDataLst>
            <p:extLst>
              <p:ext uri="{D42A27DB-BD31-4B8C-83A1-F6EECF244321}">
                <p14:modId xmlns:p14="http://schemas.microsoft.com/office/powerpoint/2010/main" val="1146821867"/>
              </p:ext>
            </p:extLst>
          </p:nvPr>
        </p:nvGraphicFramePr>
        <p:xfrm>
          <a:off x="449993" y="1961918"/>
          <a:ext cx="4734896" cy="2439718"/>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1497517">
                <a:tc>
                  <a:txBody>
                    <a:bodyPr/>
                    <a:lstStyle/>
                    <a:p>
                      <a:pPr marL="0" indent="0" algn="just">
                        <a:spcBef>
                          <a:spcPts val="600"/>
                        </a:spcBef>
                        <a:spcAft>
                          <a:spcPts val="600"/>
                        </a:spcAft>
                        <a:buFont typeface="Arial" panose="020B0604020202020204" pitchFamily="34" charset="0"/>
                        <a:buNone/>
                      </a:pPr>
                      <a:r>
                        <a:rPr lang="en-US" sz="1000" b="1" baseline="0" dirty="0">
                          <a:solidFill>
                            <a:schemeClr val="tx1"/>
                          </a:solidFill>
                        </a:rPr>
                        <a:t>Potential investment opportunity for Upcoming Plants</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Although, ~3,000 MW of Gas based capacity addition has been planned in Bangladesh, only ~220 MW of the capacity is expected to be commissioned by private players</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The sole planned 220 MW of gas based capacity addition by private players is the Nimbus plant</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In terms of LNG based power plant capacity addition, we expect ~1,200 MW of privately owned plants to be commissioned by FY26</a:t>
                      </a:r>
                    </a:p>
                    <a:p>
                      <a:pPr marL="171450" indent="-171450" algn="just">
                        <a:spcBef>
                          <a:spcPts val="600"/>
                        </a:spcBef>
                        <a:spcAft>
                          <a:spcPts val="600"/>
                        </a:spcAft>
                        <a:buFont typeface="Arial" panose="020B0604020202020204" pitchFamily="34" charset="0"/>
                        <a:buChar char="•"/>
                      </a:pPr>
                      <a:r>
                        <a:rPr lang="en-US" sz="1000" b="0" baseline="0" dirty="0">
                          <a:solidFill>
                            <a:schemeClr val="tx1"/>
                          </a:solidFill>
                        </a:rPr>
                        <a:t>These plants are owned by Summit, United Group, with 2 more LNG plants being planned by Anlima Textile / GE and the Unique Groups</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0" name="Table 9"/>
          <p:cNvGraphicFramePr>
            <a:graphicFrameLocks noGrp="1"/>
          </p:cNvGraphicFramePr>
          <p:nvPr>
            <p:custDataLst>
              <p:tags r:id="rId4"/>
            </p:custDataLst>
            <p:extLst>
              <p:ext uri="{D42A27DB-BD31-4B8C-83A1-F6EECF244321}">
                <p14:modId xmlns:p14="http://schemas.microsoft.com/office/powerpoint/2010/main" val="3008901030"/>
              </p:ext>
            </p:extLst>
          </p:nvPr>
        </p:nvGraphicFramePr>
        <p:xfrm>
          <a:off x="5506068" y="1961918"/>
          <a:ext cx="4734896" cy="653691"/>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653691">
                <a:tc>
                  <a:txBody>
                    <a:bodyPr/>
                    <a:lstStyle/>
                    <a:p>
                      <a:pPr marL="0" indent="0" algn="just">
                        <a:spcBef>
                          <a:spcPts val="600"/>
                        </a:spcBef>
                        <a:spcAft>
                          <a:spcPts val="600"/>
                        </a:spcAft>
                        <a:buFont typeface="Arial" panose="020B0604020202020204" pitchFamily="34" charset="0"/>
                        <a:buNone/>
                      </a:pPr>
                      <a:r>
                        <a:rPr lang="en-US" sz="1000" b="0" baseline="0" dirty="0">
                          <a:solidFill>
                            <a:schemeClr val="tx1"/>
                          </a:solidFill>
                        </a:rPr>
                        <a:t>Following chart shows the distribution of upcoming gas based capacity, with identification of private capacity as potential investment play</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val="1523125752"/>
              </p:ext>
            </p:extLst>
          </p:nvPr>
        </p:nvGraphicFramePr>
        <p:xfrm>
          <a:off x="449264" y="5099857"/>
          <a:ext cx="4735626" cy="1981200"/>
        </p:xfrm>
        <a:graphic>
          <a:graphicData uri="http://schemas.openxmlformats.org/drawingml/2006/table">
            <a:tbl>
              <a:tblPr firstRow="1">
                <a:tableStyleId>{3B4B98B0-60AC-42C2-AFA5-B58CD77FA1E5}</a:tableStyleId>
              </a:tblPr>
              <a:tblGrid>
                <a:gridCol w="1619379">
                  <a:extLst>
                    <a:ext uri="{9D8B030D-6E8A-4147-A177-3AD203B41FA5}">
                      <a16:colId xmlns:a16="http://schemas.microsoft.com/office/drawing/2014/main" val="1659914186"/>
                    </a:ext>
                  </a:extLst>
                </a:gridCol>
                <a:gridCol w="846944">
                  <a:extLst>
                    <a:ext uri="{9D8B030D-6E8A-4147-A177-3AD203B41FA5}">
                      <a16:colId xmlns:a16="http://schemas.microsoft.com/office/drawing/2014/main" val="3349145812"/>
                    </a:ext>
                  </a:extLst>
                </a:gridCol>
                <a:gridCol w="1121457">
                  <a:extLst>
                    <a:ext uri="{9D8B030D-6E8A-4147-A177-3AD203B41FA5}">
                      <a16:colId xmlns:a16="http://schemas.microsoft.com/office/drawing/2014/main" val="1580213636"/>
                    </a:ext>
                  </a:extLst>
                </a:gridCol>
                <a:gridCol w="1147846">
                  <a:extLst>
                    <a:ext uri="{9D8B030D-6E8A-4147-A177-3AD203B41FA5}">
                      <a16:colId xmlns:a16="http://schemas.microsoft.com/office/drawing/2014/main" val="3083998670"/>
                    </a:ext>
                  </a:extLst>
                </a:gridCol>
              </a:tblGrid>
              <a:tr h="300439">
                <a:tc>
                  <a:txBody>
                    <a:bodyPr/>
                    <a:lstStyle/>
                    <a:p>
                      <a:pPr algn="l"/>
                      <a:r>
                        <a:rPr lang="en-US" sz="1000" b="1" dirty="0">
                          <a:latin typeface="+mj-lt"/>
                        </a:rPr>
                        <a:t>Plant Name</a:t>
                      </a:r>
                      <a:endParaRPr lang="en-IN" sz="1000" b="1" dirty="0">
                        <a:latin typeface="+mj-lt"/>
                      </a:endParaRPr>
                    </a:p>
                  </a:txBody>
                  <a:tcPr anchor="ctr"/>
                </a:tc>
                <a:tc>
                  <a:txBody>
                    <a:bodyPr/>
                    <a:lstStyle/>
                    <a:p>
                      <a:pPr algn="ctr"/>
                      <a:r>
                        <a:rPr lang="en-US" sz="1000" b="1" dirty="0">
                          <a:latin typeface="+mj-lt"/>
                        </a:rPr>
                        <a:t>Capacity</a:t>
                      </a:r>
                    </a:p>
                    <a:p>
                      <a:pPr algn="ctr"/>
                      <a:r>
                        <a:rPr lang="en-US" sz="1000" b="1" dirty="0">
                          <a:latin typeface="+mj-lt"/>
                        </a:rPr>
                        <a:t>(MW)</a:t>
                      </a:r>
                      <a:endParaRPr lang="en-IN" sz="1000" b="1" dirty="0">
                        <a:latin typeface="+mj-lt"/>
                      </a:endParaRPr>
                    </a:p>
                  </a:txBody>
                  <a:tcPr anchor="ctr"/>
                </a:tc>
                <a:tc>
                  <a:txBody>
                    <a:bodyPr/>
                    <a:lstStyle/>
                    <a:p>
                      <a:pPr algn="ctr"/>
                      <a:r>
                        <a:rPr lang="en-US" sz="1000" b="1" dirty="0">
                          <a:latin typeface="+mj-lt"/>
                        </a:rPr>
                        <a:t>COD (Estimated)</a:t>
                      </a:r>
                      <a:endParaRPr lang="en-IN" sz="1000" b="1" dirty="0">
                        <a:latin typeface="+mj-lt"/>
                      </a:endParaRPr>
                    </a:p>
                  </a:txBody>
                  <a:tcPr anchor="ctr"/>
                </a:tc>
                <a:tc>
                  <a:txBody>
                    <a:bodyPr/>
                    <a:lstStyle/>
                    <a:p>
                      <a:pPr algn="ctr"/>
                      <a:r>
                        <a:rPr lang="en-US" sz="1000" b="1" dirty="0">
                          <a:latin typeface="+mj-lt"/>
                        </a:rPr>
                        <a:t>Owner Group</a:t>
                      </a:r>
                      <a:endParaRPr lang="en-IN" sz="1000" b="1" dirty="0">
                        <a:latin typeface="+mj-lt"/>
                      </a:endParaRPr>
                    </a:p>
                  </a:txBody>
                  <a:tcPr anchor="ctr"/>
                </a:tc>
                <a:extLst>
                  <a:ext uri="{0D108BD9-81ED-4DB2-BD59-A6C34878D82A}">
                    <a16:rowId xmlns:a16="http://schemas.microsoft.com/office/drawing/2014/main" val="202154620"/>
                  </a:ext>
                </a:extLst>
              </a:tr>
              <a:tr h="364570">
                <a:tc>
                  <a:txBody>
                    <a:bodyPr/>
                    <a:lstStyle/>
                    <a:p>
                      <a:pPr marL="0" marR="0" lvl="0" indent="0" algn="l" defTabSz="990571" rtl="0" eaLnBrk="1" fontAlgn="ctr" latinLnBrk="0" hangingPunct="1">
                        <a:lnSpc>
                          <a:spcPct val="100000"/>
                        </a:lnSpc>
                        <a:spcBef>
                          <a:spcPts val="0"/>
                        </a:spcBef>
                        <a:spcAft>
                          <a:spcPts val="0"/>
                        </a:spcAft>
                        <a:buClrTx/>
                        <a:buSzTx/>
                        <a:buFontTx/>
                        <a:buNone/>
                        <a:tabLst/>
                        <a:defRPr/>
                      </a:pPr>
                      <a:r>
                        <a:rPr lang="en-IN" sz="1000" b="0" dirty="0">
                          <a:effectLst/>
                          <a:latin typeface="+mj-lt"/>
                        </a:rPr>
                        <a:t>Meghnaghat</a:t>
                      </a:r>
                      <a:r>
                        <a:rPr lang="en-IN" sz="1000" b="0" baseline="0" dirty="0">
                          <a:effectLst/>
                          <a:latin typeface="+mj-lt"/>
                        </a:rPr>
                        <a:t> 600 MW CCPP – Summit</a:t>
                      </a:r>
                      <a:endParaRPr lang="en-IN" sz="1000" b="0" dirty="0">
                        <a:effectLst/>
                        <a:latin typeface="+mj-lt"/>
                        <a:ea typeface="Verdana" panose="020B0604030504040204" pitchFamily="34" charset="0"/>
                        <a:cs typeface="Times New Roman" panose="02020603050405020304" pitchFamily="18" charset="0"/>
                      </a:endParaRPr>
                    </a:p>
                  </a:txBody>
                  <a:tcPr anchor="ctr">
                    <a:noFill/>
                  </a:tcPr>
                </a:tc>
                <a:tc>
                  <a:txBody>
                    <a:bodyPr/>
                    <a:lstStyle/>
                    <a:p>
                      <a:pPr algn="ctr" fontAlgn="ctr"/>
                      <a:r>
                        <a:rPr lang="en-US" sz="1000" b="0" i="0" u="none" strike="noStrike" dirty="0">
                          <a:solidFill>
                            <a:srgbClr val="000000"/>
                          </a:solidFill>
                          <a:effectLst/>
                          <a:latin typeface="+mj-lt"/>
                        </a:rPr>
                        <a:t>584</a:t>
                      </a:r>
                      <a:endParaRPr lang="en-IN" sz="1000" b="0" i="0" u="none" strike="noStrike" dirty="0">
                        <a:solidFill>
                          <a:srgbClr val="000000"/>
                        </a:solidFill>
                        <a:effectLst/>
                        <a:latin typeface="+mj-lt"/>
                      </a:endParaRPr>
                    </a:p>
                  </a:txBody>
                  <a:tcPr anchor="ctr">
                    <a:noFill/>
                  </a:tcPr>
                </a:tc>
                <a:tc>
                  <a:txBody>
                    <a:bodyPr/>
                    <a:lstStyle/>
                    <a:p>
                      <a:pPr algn="ctr" fontAlgn="b"/>
                      <a:r>
                        <a:rPr lang="en-US" sz="1000" b="0" i="0" u="none" strike="noStrike" dirty="0">
                          <a:solidFill>
                            <a:srgbClr val="000000"/>
                          </a:solidFill>
                          <a:effectLst/>
                          <a:latin typeface="+mj-lt"/>
                        </a:rPr>
                        <a:t>2024</a:t>
                      </a:r>
                      <a:endParaRPr lang="en-IN" sz="1000" b="0" i="0" u="none" strike="noStrike" dirty="0">
                        <a:solidFill>
                          <a:srgbClr val="000000"/>
                        </a:solidFill>
                        <a:effectLst/>
                        <a:latin typeface="+mj-lt"/>
                      </a:endParaRPr>
                    </a:p>
                  </a:txBody>
                  <a:tcPr anchor="ctr">
                    <a:noFill/>
                  </a:tcPr>
                </a:tc>
                <a:tc>
                  <a:txBody>
                    <a:bodyPr/>
                    <a:lstStyle/>
                    <a:p>
                      <a:pPr algn="ctr" fontAlgn="b"/>
                      <a:r>
                        <a:rPr lang="en-US" sz="1000" b="0" i="0" u="none" strike="noStrike" dirty="0">
                          <a:solidFill>
                            <a:srgbClr val="000000"/>
                          </a:solidFill>
                          <a:effectLst/>
                          <a:latin typeface="+mj-lt"/>
                        </a:rPr>
                        <a:t>Summit Group</a:t>
                      </a:r>
                      <a:endParaRPr lang="en-IN" sz="1000" b="0" i="0" u="none" strike="noStrike" dirty="0">
                        <a:solidFill>
                          <a:srgbClr val="000000"/>
                        </a:solidFill>
                        <a:effectLst/>
                        <a:latin typeface="+mj-lt"/>
                      </a:endParaRPr>
                    </a:p>
                  </a:txBody>
                  <a:tcPr anchor="ctr">
                    <a:noFill/>
                  </a:tcPr>
                </a:tc>
                <a:extLst>
                  <a:ext uri="{0D108BD9-81ED-4DB2-BD59-A6C34878D82A}">
                    <a16:rowId xmlns:a16="http://schemas.microsoft.com/office/drawing/2014/main" val="3612843403"/>
                  </a:ext>
                </a:extLst>
              </a:tr>
              <a:tr h="364570">
                <a:tc>
                  <a:txBody>
                    <a:bodyPr/>
                    <a:lstStyle/>
                    <a:p>
                      <a:pPr marL="0" marR="0" lvl="0" indent="0" algn="l" defTabSz="990571" rtl="0" eaLnBrk="1" fontAlgn="ctr" latinLnBrk="0" hangingPunct="1">
                        <a:lnSpc>
                          <a:spcPct val="100000"/>
                        </a:lnSpc>
                        <a:spcBef>
                          <a:spcPts val="0"/>
                        </a:spcBef>
                        <a:spcAft>
                          <a:spcPts val="0"/>
                        </a:spcAft>
                        <a:buClrTx/>
                        <a:buSzTx/>
                        <a:buFontTx/>
                        <a:buNone/>
                        <a:tabLst/>
                        <a:defRPr/>
                      </a:pPr>
                      <a:r>
                        <a:rPr lang="en-IN" sz="1000" b="0" dirty="0">
                          <a:effectLst/>
                          <a:latin typeface="+mj-lt"/>
                        </a:rPr>
                        <a:t>Meghnaghat</a:t>
                      </a:r>
                      <a:r>
                        <a:rPr lang="en-IN" sz="1000" b="0" baseline="0" dirty="0">
                          <a:effectLst/>
                          <a:latin typeface="+mj-lt"/>
                        </a:rPr>
                        <a:t> 600 MW CCPP – UMPL</a:t>
                      </a:r>
                      <a:endParaRPr lang="en-IN" sz="1000" b="0" dirty="0">
                        <a:effectLst/>
                        <a:latin typeface="+mj-lt"/>
                        <a:ea typeface="Verdana" panose="020B0604030504040204" pitchFamily="34" charset="0"/>
                        <a:cs typeface="Times New Roman" panose="02020603050405020304" pitchFamily="18" charset="0"/>
                      </a:endParaRPr>
                    </a:p>
                  </a:txBody>
                  <a:tcPr anchor="ctr">
                    <a:noFill/>
                  </a:tcPr>
                </a:tc>
                <a:tc>
                  <a:txBody>
                    <a:bodyPr/>
                    <a:lstStyle/>
                    <a:p>
                      <a:pPr algn="ctr" fontAlgn="ctr"/>
                      <a:r>
                        <a:rPr lang="en-US" sz="1000" b="0" i="0" u="none" strike="noStrike" dirty="0">
                          <a:solidFill>
                            <a:srgbClr val="000000"/>
                          </a:solidFill>
                          <a:effectLst/>
                          <a:latin typeface="+mj-lt"/>
                        </a:rPr>
                        <a:t>583</a:t>
                      </a:r>
                      <a:endParaRPr lang="en-IN" sz="1000" b="0" i="0" u="none" strike="noStrike" dirty="0">
                        <a:solidFill>
                          <a:srgbClr val="000000"/>
                        </a:solidFill>
                        <a:effectLst/>
                        <a:latin typeface="+mj-lt"/>
                      </a:endParaRPr>
                    </a:p>
                  </a:txBody>
                  <a:tcPr anchor="ctr">
                    <a:noFill/>
                  </a:tcPr>
                </a:tc>
                <a:tc>
                  <a:txBody>
                    <a:bodyPr/>
                    <a:lstStyle/>
                    <a:p>
                      <a:pPr algn="ctr" fontAlgn="b"/>
                      <a:r>
                        <a:rPr lang="en-US" sz="1000" b="0" i="0" u="none" strike="noStrike" dirty="0">
                          <a:solidFill>
                            <a:srgbClr val="000000"/>
                          </a:solidFill>
                          <a:effectLst/>
                          <a:latin typeface="+mj-lt"/>
                        </a:rPr>
                        <a:t>2024</a:t>
                      </a:r>
                      <a:endParaRPr lang="en-IN" sz="1000" b="0" i="0" u="none" strike="noStrike" dirty="0">
                        <a:solidFill>
                          <a:srgbClr val="000000"/>
                        </a:solidFill>
                        <a:effectLst/>
                        <a:latin typeface="+mj-lt"/>
                      </a:endParaRPr>
                    </a:p>
                  </a:txBody>
                  <a:tcPr anchor="ctr">
                    <a:noFill/>
                  </a:tcPr>
                </a:tc>
                <a:tc>
                  <a:txBody>
                    <a:bodyPr/>
                    <a:lstStyle/>
                    <a:p>
                      <a:pPr algn="ctr" fontAlgn="b"/>
                      <a:r>
                        <a:rPr lang="en-US" sz="1000" b="0" i="0" u="none" strike="noStrike" dirty="0">
                          <a:solidFill>
                            <a:srgbClr val="000000"/>
                          </a:solidFill>
                          <a:effectLst/>
                          <a:latin typeface="+mj-lt"/>
                        </a:rPr>
                        <a:t>United Group</a:t>
                      </a:r>
                      <a:endParaRPr lang="en-IN" sz="1000" b="0" i="0" u="none" strike="noStrike" dirty="0">
                        <a:solidFill>
                          <a:srgbClr val="000000"/>
                        </a:solidFill>
                        <a:effectLst/>
                        <a:latin typeface="+mj-lt"/>
                      </a:endParaRPr>
                    </a:p>
                  </a:txBody>
                  <a:tcPr anchor="ctr">
                    <a:noFill/>
                  </a:tcPr>
                </a:tc>
                <a:extLst>
                  <a:ext uri="{0D108BD9-81ED-4DB2-BD59-A6C34878D82A}">
                    <a16:rowId xmlns:a16="http://schemas.microsoft.com/office/drawing/2014/main" val="3212144327"/>
                  </a:ext>
                </a:extLst>
              </a:tr>
              <a:tr h="364570">
                <a:tc>
                  <a:txBody>
                    <a:bodyPr/>
                    <a:lstStyle/>
                    <a:p>
                      <a:pPr marL="0" marR="0" lvl="0" indent="0" algn="l" defTabSz="990571" rtl="0" eaLnBrk="1" fontAlgn="ctr" latinLnBrk="0" hangingPunct="1">
                        <a:lnSpc>
                          <a:spcPct val="100000"/>
                        </a:lnSpc>
                        <a:spcBef>
                          <a:spcPts val="0"/>
                        </a:spcBef>
                        <a:spcAft>
                          <a:spcPts val="0"/>
                        </a:spcAft>
                        <a:buClrTx/>
                        <a:buSzTx/>
                        <a:buFontTx/>
                        <a:buNone/>
                        <a:tabLst/>
                        <a:defRPr/>
                      </a:pPr>
                      <a:r>
                        <a:rPr lang="en-US" sz="1000" b="0" dirty="0">
                          <a:effectLst/>
                          <a:latin typeface="+mj-lt"/>
                          <a:ea typeface="Verdana" panose="020B0604030504040204" pitchFamily="34" charset="0"/>
                          <a:cs typeface="Times New Roman" panose="02020603050405020304" pitchFamily="18" charset="0"/>
                        </a:rPr>
                        <a:t>Meghnaghat 500</a:t>
                      </a:r>
                      <a:r>
                        <a:rPr lang="en-US" sz="1000" b="0" baseline="0" dirty="0">
                          <a:effectLst/>
                          <a:latin typeface="+mj-lt"/>
                          <a:ea typeface="Verdana" panose="020B0604030504040204" pitchFamily="34" charset="0"/>
                          <a:cs typeface="Times New Roman" panose="02020603050405020304" pitchFamily="18" charset="0"/>
                        </a:rPr>
                        <a:t> MW -  Anlima Textile &amp; GE</a:t>
                      </a:r>
                      <a:endParaRPr lang="en-IN" sz="1000" b="0" dirty="0">
                        <a:effectLst/>
                        <a:latin typeface="+mj-lt"/>
                        <a:ea typeface="Verdana" panose="020B0604030504040204" pitchFamily="34" charset="0"/>
                        <a:cs typeface="Times New Roman" panose="02020603050405020304" pitchFamily="18" charset="0"/>
                      </a:endParaRPr>
                    </a:p>
                  </a:txBody>
                  <a:tcPr anchor="ctr">
                    <a:noFill/>
                  </a:tcPr>
                </a:tc>
                <a:tc>
                  <a:txBody>
                    <a:bodyPr/>
                    <a:lstStyle/>
                    <a:p>
                      <a:pPr algn="ctr" fontAlgn="ctr"/>
                      <a:r>
                        <a:rPr lang="en-US" sz="1000" b="0" i="0" u="none" strike="noStrike" dirty="0">
                          <a:solidFill>
                            <a:srgbClr val="000000"/>
                          </a:solidFill>
                          <a:effectLst/>
                          <a:latin typeface="+mj-lt"/>
                        </a:rPr>
                        <a:t>450</a:t>
                      </a:r>
                      <a:endParaRPr lang="en-IN" sz="1000" b="0" i="0" u="none" strike="noStrike" dirty="0">
                        <a:solidFill>
                          <a:srgbClr val="000000"/>
                        </a:solidFill>
                        <a:effectLst/>
                        <a:latin typeface="+mj-lt"/>
                      </a:endParaRPr>
                    </a:p>
                  </a:txBody>
                  <a:tcPr anchor="ctr">
                    <a:noFill/>
                  </a:tcPr>
                </a:tc>
                <a:tc>
                  <a:txBody>
                    <a:bodyPr/>
                    <a:lstStyle/>
                    <a:p>
                      <a:pPr algn="ctr" fontAlgn="b"/>
                      <a:r>
                        <a:rPr lang="en-US" sz="1000" b="0" i="0" u="none" strike="noStrike" dirty="0">
                          <a:solidFill>
                            <a:srgbClr val="000000"/>
                          </a:solidFill>
                          <a:effectLst/>
                          <a:latin typeface="+mj-lt"/>
                        </a:rPr>
                        <a:t>2027-2030</a:t>
                      </a:r>
                      <a:endParaRPr lang="en-IN" sz="1000" b="0" i="0" u="none" strike="noStrike" dirty="0">
                        <a:solidFill>
                          <a:srgbClr val="000000"/>
                        </a:solidFill>
                        <a:effectLst/>
                        <a:latin typeface="+mj-lt"/>
                      </a:endParaRPr>
                    </a:p>
                  </a:txBody>
                  <a:tcPr anchor="ctr">
                    <a:noFill/>
                  </a:tcPr>
                </a:tc>
                <a:tc>
                  <a:txBody>
                    <a:bodyPr/>
                    <a:lstStyle/>
                    <a:p>
                      <a:pPr algn="ctr" fontAlgn="b"/>
                      <a:r>
                        <a:rPr lang="en-US" sz="1000" b="0" i="0" u="none" strike="noStrike" dirty="0">
                          <a:solidFill>
                            <a:srgbClr val="000000"/>
                          </a:solidFill>
                          <a:effectLst/>
                          <a:latin typeface="+mj-lt"/>
                        </a:rPr>
                        <a:t>Anlima &amp; GE</a:t>
                      </a:r>
                      <a:endParaRPr lang="en-IN" sz="1000" b="0" i="0" u="none" strike="noStrike" dirty="0">
                        <a:solidFill>
                          <a:srgbClr val="000000"/>
                        </a:solidFill>
                        <a:effectLst/>
                        <a:latin typeface="+mj-lt"/>
                      </a:endParaRPr>
                    </a:p>
                  </a:txBody>
                  <a:tcPr anchor="ctr">
                    <a:noFill/>
                  </a:tcPr>
                </a:tc>
                <a:extLst>
                  <a:ext uri="{0D108BD9-81ED-4DB2-BD59-A6C34878D82A}">
                    <a16:rowId xmlns:a16="http://schemas.microsoft.com/office/drawing/2014/main" val="1811424072"/>
                  </a:ext>
                </a:extLst>
              </a:tr>
              <a:tr h="364570">
                <a:tc>
                  <a:txBody>
                    <a:bodyPr/>
                    <a:lstStyle/>
                    <a:p>
                      <a:pPr marL="0" marR="0" lvl="0" indent="0" algn="l" defTabSz="990571" rtl="0" eaLnBrk="1" fontAlgn="ctr" latinLnBrk="0" hangingPunct="1">
                        <a:lnSpc>
                          <a:spcPct val="100000"/>
                        </a:lnSpc>
                        <a:spcBef>
                          <a:spcPts val="0"/>
                        </a:spcBef>
                        <a:spcAft>
                          <a:spcPts val="0"/>
                        </a:spcAft>
                        <a:buClrTx/>
                        <a:buSzTx/>
                        <a:buFontTx/>
                        <a:buNone/>
                        <a:tabLst/>
                        <a:defRPr/>
                      </a:pPr>
                      <a:r>
                        <a:rPr lang="en-US" sz="1000" b="0" dirty="0">
                          <a:effectLst/>
                          <a:latin typeface="Verdana" panose="020B0604030504040204" pitchFamily="34" charset="0"/>
                          <a:ea typeface="Verdana" panose="020B0604030504040204" pitchFamily="34" charset="0"/>
                          <a:cs typeface="Times New Roman" panose="02020603050405020304" pitchFamily="18" charset="0"/>
                        </a:rPr>
                        <a:t>Meghnaghat UECL</a:t>
                      </a:r>
                      <a:endParaRPr lang="en-IN" sz="1000" b="0" dirty="0">
                        <a:effectLst/>
                        <a:latin typeface="Verdana" panose="020B0604030504040204" pitchFamily="34" charset="0"/>
                        <a:ea typeface="Verdana" panose="020B0604030504040204" pitchFamily="34" charset="0"/>
                        <a:cs typeface="Times New Roman" panose="02020603050405020304" pitchFamily="18" charset="0"/>
                      </a:endParaRPr>
                    </a:p>
                    <a:p>
                      <a:pPr marL="0" marR="0" lvl="0" indent="0" algn="l" defTabSz="990571" rtl="0" eaLnBrk="1" fontAlgn="ctr" latinLnBrk="0" hangingPunct="1">
                        <a:lnSpc>
                          <a:spcPct val="100000"/>
                        </a:lnSpc>
                        <a:spcBef>
                          <a:spcPts val="0"/>
                        </a:spcBef>
                        <a:spcAft>
                          <a:spcPts val="0"/>
                        </a:spcAft>
                        <a:buClrTx/>
                        <a:buSzTx/>
                        <a:buFontTx/>
                        <a:buNone/>
                        <a:tabLst/>
                        <a:defRPr/>
                      </a:pPr>
                      <a:endParaRPr lang="en-IN" sz="1000" b="0" dirty="0">
                        <a:effectLst/>
                        <a:latin typeface="+mj-lt"/>
                        <a:ea typeface="Verdana" panose="020B0604030504040204" pitchFamily="34" charset="0"/>
                        <a:cs typeface="Times New Roman" panose="02020603050405020304" pitchFamily="18" charset="0"/>
                      </a:endParaRPr>
                    </a:p>
                  </a:txBody>
                  <a:tcPr anchor="ctr">
                    <a:noFill/>
                  </a:tcPr>
                </a:tc>
                <a:tc>
                  <a:txBody>
                    <a:bodyPr/>
                    <a:lstStyle/>
                    <a:p>
                      <a:pPr algn="ctr" fontAlgn="ctr"/>
                      <a:r>
                        <a:rPr lang="en-US" sz="1000" b="0" i="0" u="none" strike="noStrike" dirty="0">
                          <a:solidFill>
                            <a:srgbClr val="000000"/>
                          </a:solidFill>
                          <a:effectLst/>
                          <a:latin typeface="+mj-lt"/>
                        </a:rPr>
                        <a:t>450</a:t>
                      </a:r>
                      <a:endParaRPr lang="en-IN" sz="1000" b="0" i="0" u="none" strike="noStrike" dirty="0">
                        <a:solidFill>
                          <a:srgbClr val="000000"/>
                        </a:solidFill>
                        <a:effectLst/>
                        <a:latin typeface="+mj-lt"/>
                      </a:endParaRPr>
                    </a:p>
                  </a:txBody>
                  <a:tcPr anchor="ctr">
                    <a:noFill/>
                  </a:tcPr>
                </a:tc>
                <a:tc>
                  <a:txBody>
                    <a:bodyPr/>
                    <a:lstStyle/>
                    <a:p>
                      <a:pPr algn="ctr" fontAlgn="b"/>
                      <a:r>
                        <a:rPr lang="en-US" sz="1000" b="0" i="0" u="none" strike="noStrike" kern="1200" dirty="0">
                          <a:solidFill>
                            <a:srgbClr val="000000"/>
                          </a:solidFill>
                          <a:effectLst/>
                          <a:latin typeface="+mn-lt"/>
                          <a:ea typeface="+mn-ea"/>
                          <a:cs typeface="+mn-cs"/>
                        </a:rPr>
                        <a:t>2027-2030</a:t>
                      </a:r>
                      <a:endParaRPr lang="en-IN" sz="1000" b="0" i="0" u="none" strike="noStrike" dirty="0">
                        <a:solidFill>
                          <a:srgbClr val="000000"/>
                        </a:solidFill>
                        <a:effectLst/>
                        <a:latin typeface="+mj-lt"/>
                      </a:endParaRPr>
                    </a:p>
                  </a:txBody>
                  <a:tcPr anchor="ctr">
                    <a:noFill/>
                  </a:tcPr>
                </a:tc>
                <a:tc>
                  <a:txBody>
                    <a:bodyPr/>
                    <a:lstStyle/>
                    <a:p>
                      <a:pPr algn="ctr" fontAlgn="b"/>
                      <a:r>
                        <a:rPr lang="en-US" sz="1000" b="0" i="0" u="none" strike="noStrike" dirty="0">
                          <a:solidFill>
                            <a:srgbClr val="000000"/>
                          </a:solidFill>
                          <a:effectLst/>
                          <a:latin typeface="+mj-lt"/>
                        </a:rPr>
                        <a:t>Unique Energy</a:t>
                      </a:r>
                      <a:endParaRPr lang="en-IN" sz="1000" b="0" i="0" u="none" strike="noStrike" dirty="0">
                        <a:solidFill>
                          <a:srgbClr val="000000"/>
                        </a:solidFill>
                        <a:effectLst/>
                        <a:latin typeface="+mj-lt"/>
                      </a:endParaRPr>
                    </a:p>
                  </a:txBody>
                  <a:tcPr anchor="ctr">
                    <a:noFill/>
                  </a:tcPr>
                </a:tc>
                <a:extLst>
                  <a:ext uri="{0D108BD9-81ED-4DB2-BD59-A6C34878D82A}">
                    <a16:rowId xmlns:a16="http://schemas.microsoft.com/office/drawing/2014/main" val="2367579802"/>
                  </a:ext>
                </a:extLst>
              </a:tr>
            </a:tbl>
          </a:graphicData>
        </a:graphic>
      </p:graphicFrame>
      <p:sp>
        <p:nvSpPr>
          <p:cNvPr id="4" name="Rectangle 3"/>
          <p:cNvSpPr/>
          <p:nvPr/>
        </p:nvSpPr>
        <p:spPr>
          <a:xfrm>
            <a:off x="449264" y="4507352"/>
            <a:ext cx="4734896" cy="400110"/>
          </a:xfrm>
          <a:prstGeom prst="rect">
            <a:avLst/>
          </a:prstGeom>
        </p:spPr>
        <p:txBody>
          <a:bodyPr wrap="square">
            <a:spAutoFit/>
          </a:bodyPr>
          <a:lstStyle/>
          <a:p>
            <a:pPr marL="0" marR="0" lvl="0" indent="0" algn="just" defTabSz="914400" rtl="0" eaLnBrk="1" fontAlgn="auto" latinLnBrk="0" hangingPunct="1">
              <a:lnSpc>
                <a:spcPct val="100000"/>
              </a:lnSpc>
              <a:spcBef>
                <a:spcPts val="600"/>
              </a:spcBef>
              <a:spcAft>
                <a:spcPts val="60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Following table indicates the list of upcoming projects for potential investment opportunity</a:t>
            </a:r>
            <a:r>
              <a:rPr kumimoji="0" lang="en-US" sz="1000" b="0" i="0" u="none" strike="noStrike" kern="1200" cap="none" spc="0" normalizeH="0" noProof="0" dirty="0">
                <a:ln>
                  <a:noFill/>
                </a:ln>
                <a:solidFill>
                  <a:prstClr val="black"/>
                </a:solidFill>
                <a:effectLst/>
                <a:uLnTx/>
                <a:uFillTx/>
                <a:latin typeface="Verdana"/>
                <a:ea typeface="+mn-ea"/>
                <a:cs typeface="+mn-cs"/>
              </a:rPr>
              <a:t> in Bangladesh</a:t>
            </a:r>
            <a:endParaRPr kumimoji="0" lang="en-US" sz="1000" b="0" i="0" u="none" strike="noStrike" kern="1200" cap="none" spc="0" normalizeH="0" baseline="0" noProof="0" dirty="0">
              <a:ln>
                <a:noFill/>
              </a:ln>
              <a:solidFill>
                <a:prstClr val="black"/>
              </a:solidFill>
              <a:effectLst/>
              <a:uLnTx/>
              <a:uFillTx/>
              <a:latin typeface="Verdana"/>
              <a:ea typeface="+mn-ea"/>
              <a:cs typeface="+mn-cs"/>
            </a:endParaRPr>
          </a:p>
        </p:txBody>
      </p:sp>
      <p:graphicFrame>
        <p:nvGraphicFramePr>
          <p:cNvPr id="28" name="Chart 27"/>
          <p:cNvGraphicFramePr/>
          <p:nvPr>
            <p:custDataLst>
              <p:tags r:id="rId5"/>
            </p:custDataLst>
            <p:extLst>
              <p:ext uri="{D42A27DB-BD31-4B8C-83A1-F6EECF244321}">
                <p14:modId xmlns:p14="http://schemas.microsoft.com/office/powerpoint/2010/main" val="3765013490"/>
              </p:ext>
            </p:extLst>
          </p:nvPr>
        </p:nvGraphicFramePr>
        <p:xfrm>
          <a:off x="5506068" y="5400450"/>
          <a:ext cx="4900612" cy="1343025"/>
        </p:xfrm>
        <a:graphic>
          <a:graphicData uri="http://schemas.openxmlformats.org/drawingml/2006/chart">
            <c:chart xmlns:c="http://schemas.openxmlformats.org/drawingml/2006/chart" xmlns:r="http://schemas.openxmlformats.org/officeDocument/2006/relationships" r:id="rId17"/>
          </a:graphicData>
        </a:graphic>
      </p:graphicFrame>
      <p:sp>
        <p:nvSpPr>
          <p:cNvPr id="29" name="StandardTextbox"/>
          <p:cNvSpPr>
            <a:spLocks noGrp="1"/>
          </p:cNvSpPr>
          <p:nvPr>
            <p:custDataLst>
              <p:tags r:id="rId6"/>
            </p:custDataLst>
          </p:nvPr>
        </p:nvSpPr>
        <p:spPr bwMode="auto">
          <a:xfrm>
            <a:off x="5936280" y="6746650"/>
            <a:ext cx="1670050"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E48F86E3-E340-419E-9454-5E0E90883C63}" type="datetime'Pl''anned'' ''LNG Installed Capacity t''i''ll FY2026 ''(''MW)'">
              <a:rPr kumimoji="0" lang="en-US" altLang="en-US" sz="10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Planned LNG Installed Capacity till FY2026 (MW)</a:t>
            </a:fld>
            <a:endParaRPr kumimoji="0" lang="en-IN" sz="10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30" name="StandardTextbox"/>
          <p:cNvSpPr>
            <a:spLocks noGrp="1"/>
          </p:cNvSpPr>
          <p:nvPr>
            <p:custDataLst>
              <p:tags r:id="rId7"/>
            </p:custDataLst>
          </p:nvPr>
        </p:nvSpPr>
        <p:spPr bwMode="auto">
          <a:xfrm>
            <a:off x="8385793" y="6746650"/>
            <a:ext cx="1508125"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0E795475-265F-441B-AC17-776488E5A464}" type="datetime'Proba''ble Servi''cea''''ble Ca''pacity t''i''ll FY26 (''MW)'">
              <a:rPr kumimoji="0" lang="en-US" altLang="en-US" sz="10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Probable Serviceable Capacity till FY26 (MW)</a:t>
            </a:fld>
            <a:endParaRPr kumimoji="0" lang="en-IN" sz="10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31" name="Rectangle 30"/>
          <p:cNvSpPr/>
          <p:nvPr/>
        </p:nvSpPr>
        <p:spPr>
          <a:xfrm>
            <a:off x="5506068" y="4753614"/>
            <a:ext cx="4734896" cy="400110"/>
          </a:xfrm>
          <a:prstGeom prst="rect">
            <a:avLst/>
          </a:prstGeom>
        </p:spPr>
        <p:txBody>
          <a:bodyPr wrap="square">
            <a:spAutoFit/>
          </a:bodyPr>
          <a:lstStyle/>
          <a:p>
            <a:pPr marL="0" marR="0" lvl="0" indent="0" algn="just" defTabSz="990571" rtl="0" eaLnBrk="1" fontAlgn="auto" latinLnBrk="0" hangingPunct="1">
              <a:lnSpc>
                <a:spcPct val="100000"/>
              </a:lnSpc>
              <a:spcBef>
                <a:spcPts val="0"/>
              </a:spcBef>
              <a:spcAft>
                <a:spcPts val="50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Following graph shows the planned LNG Installed Capacity as per BPDB and our estimated commissionable capacity (MW) by FY2026</a:t>
            </a:r>
          </a:p>
        </p:txBody>
      </p:sp>
      <p:sp>
        <p:nvSpPr>
          <p:cNvPr id="32" name="Rectangle 31"/>
          <p:cNvSpPr/>
          <p:nvPr/>
        </p:nvSpPr>
        <p:spPr bwMode="gray">
          <a:xfrm>
            <a:off x="8273988" y="5779363"/>
            <a:ext cx="1784412" cy="1376039"/>
          </a:xfrm>
          <a:prstGeom prst="rect">
            <a:avLst/>
          </a:prstGeom>
          <a:noFill/>
          <a:ln w="19050" algn="ctr">
            <a:solidFill>
              <a:schemeClr val="tx1"/>
            </a:solidFill>
            <a:prstDash val="dashDot"/>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cxnSp>
        <p:nvCxnSpPr>
          <p:cNvPr id="9" name="Straight Connector 8"/>
          <p:cNvCxnSpPr/>
          <p:nvPr>
            <p:custDataLst>
              <p:tags r:id="rId8"/>
            </p:custDataLst>
          </p:nvPr>
        </p:nvCxnSpPr>
        <p:spPr bwMode="auto">
          <a:xfrm>
            <a:off x="6732588" y="2813050"/>
            <a:ext cx="701675"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custDataLst>
              <p:tags r:id="rId9"/>
            </p:custDataLst>
          </p:nvPr>
        </p:nvCxnSpPr>
        <p:spPr bwMode="auto">
          <a:xfrm>
            <a:off x="8312150" y="4049713"/>
            <a:ext cx="700088" cy="0"/>
          </a:xfrm>
          <a:prstGeom prst="line">
            <a:avLst/>
          </a:prstGeom>
          <a:ln w="3175" cap="flat" cmpd="sng" algn="ctr">
            <a:solidFill>
              <a:schemeClr val="tx1"/>
            </a:solidFill>
            <a:prstDash val="lg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66" name="Chart 65"/>
          <p:cNvGraphicFramePr/>
          <p:nvPr>
            <p:custDataLst>
              <p:tags r:id="rId10"/>
            </p:custDataLst>
            <p:extLst>
              <p:ext uri="{D42A27DB-BD31-4B8C-83A1-F6EECF244321}">
                <p14:modId xmlns:p14="http://schemas.microsoft.com/office/powerpoint/2010/main" val="1657235731"/>
              </p:ext>
            </p:extLst>
          </p:nvPr>
        </p:nvGraphicFramePr>
        <p:xfrm>
          <a:off x="5422900" y="2643188"/>
          <a:ext cx="4900613" cy="1592262"/>
        </p:xfrm>
        <a:graphic>
          <a:graphicData uri="http://schemas.openxmlformats.org/drawingml/2006/chart">
            <c:chart xmlns:c="http://schemas.openxmlformats.org/drawingml/2006/chart" xmlns:r="http://schemas.openxmlformats.org/officeDocument/2006/relationships" r:id="rId18"/>
          </a:graphicData>
        </a:graphic>
      </p:graphicFrame>
      <p:sp>
        <p:nvSpPr>
          <p:cNvPr id="34" name="StandardTextbox"/>
          <p:cNvSpPr>
            <a:spLocks noGrp="1"/>
          </p:cNvSpPr>
          <p:nvPr>
            <p:custDataLst>
              <p:tags r:id="rId11"/>
            </p:custDataLst>
          </p:nvPr>
        </p:nvSpPr>
        <p:spPr bwMode="auto">
          <a:xfrm>
            <a:off x="9005888" y="4219575"/>
            <a:ext cx="890588" cy="2444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8BDAB7B-8BE0-4C4A-AC4E-01F9C44F1337}" type="datetime'Capa''ci''t''y Planne''d ''by'''' ''Pr''ivate P''l''an''t''s'">
              <a:rPr lang="en-US" altLang="en-US" sz="800" b="0" smtClean="0">
                <a:sym typeface="+mn-lt"/>
              </a:rPr>
              <a:pPr lvl="1" algn="ctr">
                <a:spcBef>
                  <a:spcPct val="0"/>
                </a:spcBef>
                <a:spcAft>
                  <a:spcPct val="0"/>
                </a:spcAft>
              </a:pPr>
              <a:t>Capacity Planned by Private Plants</a:t>
            </a:fld>
            <a:endParaRPr lang="en-IN" sz="800" b="0" noProof="0" dirty="0">
              <a:sym typeface="+mn-lt"/>
            </a:endParaRPr>
          </a:p>
        </p:txBody>
      </p:sp>
      <p:sp>
        <p:nvSpPr>
          <p:cNvPr id="20" name="StandardTextbox"/>
          <p:cNvSpPr>
            <a:spLocks noGrp="1"/>
          </p:cNvSpPr>
          <p:nvPr>
            <p:custDataLst>
              <p:tags r:id="rId12"/>
            </p:custDataLst>
          </p:nvPr>
        </p:nvSpPr>
        <p:spPr bwMode="auto">
          <a:xfrm>
            <a:off x="5637213" y="4219575"/>
            <a:ext cx="1312863" cy="36671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A70D610-1F5B-48FA-810F-34E4F99A1BAF}" type="thinkcell&lt;?xml version=&quot;1.0&quot; encoding=&quot;UTF-16&quot; standalone=&quot;yes&quot;?&gt;&lt;root reqver=&quot;25060&quot;&gt;&lt;version val=&quot;28278&quot;/&gt;&lt;PersistentType&gt;&lt;m_guid val=&quot;29bdd793-e935-48f8-aaef-334a0e3cff5c&quot;/&gt;&lt;m_prec&gt;&lt;m_yearfmt&gt;&lt;begin val=&quot;0&quot;/&gt;&lt;end val=&quot;4&quot;/&gt;&lt;/m_yearfmt&gt;&lt;/m_prec&gt;&lt;/PersistentType&gt;&lt;/root&gt;">
              <a:rPr lang="en-US" altLang="en-US" sz="800" b="0" smtClean="0"/>
              <a:pPr lvl="1" algn="ctr">
                <a:spcBef>
                  <a:spcPct val="0"/>
                </a:spcBef>
                <a:spcAft>
                  <a:spcPct val="0"/>
                </a:spcAft>
              </a:pPr>
              <a:t>Probable Serviceable Capacity Addition for Gas Based Plants till FY26</a:t>
            </a:fld>
            <a:endParaRPr lang="en-IN" sz="800" b="0" noProof="0" dirty="0">
              <a:sym typeface="+mn-lt"/>
            </a:endParaRPr>
          </a:p>
        </p:txBody>
      </p:sp>
      <p:sp>
        <p:nvSpPr>
          <p:cNvPr id="21" name="StandardTextbox"/>
          <p:cNvSpPr>
            <a:spLocks noGrp="1"/>
          </p:cNvSpPr>
          <p:nvPr>
            <p:custDataLst>
              <p:tags r:id="rId13"/>
            </p:custDataLst>
          </p:nvPr>
        </p:nvSpPr>
        <p:spPr bwMode="auto">
          <a:xfrm>
            <a:off x="7310438" y="4219575"/>
            <a:ext cx="1125538" cy="2444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DD1F11D4-BCC3-483F-88C1-738FE5D1E0A2}" type="datetime'Ca''''pacity Planne''d b''y BPDB / P''ubl''i''c Entit''ies'''">
              <a:rPr lang="en-US" altLang="en-US" sz="800" b="0" smtClean="0">
                <a:sym typeface="+mn-lt"/>
              </a:rPr>
              <a:pPr lvl="1" algn="ctr">
                <a:spcBef>
                  <a:spcPct val="0"/>
                </a:spcBef>
                <a:spcAft>
                  <a:spcPct val="0"/>
                </a:spcAft>
              </a:pPr>
              <a:t>Capacity Planned by BPDB / Public Entities</a:t>
            </a:fld>
            <a:endParaRPr lang="en-IN" sz="800" b="0" noProof="0" dirty="0">
              <a:sym typeface="+mn-lt"/>
            </a:endParaRPr>
          </a:p>
        </p:txBody>
      </p:sp>
      <p:sp>
        <p:nvSpPr>
          <p:cNvPr id="68"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0">
              <a:defRPr/>
            </a:pPr>
            <a:r>
              <a:rPr lang="en-US" sz="1400" dirty="0">
                <a:solidFill>
                  <a:prstClr val="black">
                    <a:lumMod val="50000"/>
                    <a:lumOff val="50000"/>
                  </a:prstClr>
                </a:solidFill>
                <a:latin typeface="Verdana" panose="020B0604030504040204" pitchFamily="34" charset="0"/>
              </a:rPr>
              <a:t>~1,200 MW of LNG based plants are expected to be commissioned by the private players which may provide potential investment opportunity </a:t>
            </a:r>
          </a:p>
        </p:txBody>
      </p:sp>
      <p:sp>
        <p:nvSpPr>
          <p:cNvPr id="70" name="Rectangle 69"/>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a:lnSpc>
                <a:spcPct val="106000"/>
              </a:lnSpc>
              <a:defRPr/>
            </a:pPr>
            <a:r>
              <a:rPr lang="en-US" sz="700" i="1" dirty="0">
                <a:solidFill>
                  <a:prstClr val="black"/>
                </a:solidFill>
              </a:rPr>
              <a:t>Source: BPDB, Industry Reports Deloitte Analysis</a:t>
            </a:r>
          </a:p>
        </p:txBody>
      </p:sp>
    </p:spTree>
    <p:extLst>
      <p:ext uri="{BB962C8B-B14F-4D97-AF65-F5344CB8AC3E}">
        <p14:creationId xmlns:p14="http://schemas.microsoft.com/office/powerpoint/2010/main" val="3431153116"/>
      </p:ext>
    </p:extLst>
  </p:cSld>
  <p:clrMapOvr>
    <a:masterClrMapping/>
  </p:clrMapOvr>
  <p:transition>
    <p:fade/>
  </p:transition>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pic>
        <p:nvPicPr>
          <p:cNvPr id="59" name="Picture 58"/>
          <p:cNvPicPr>
            <a:picLocks noChangeAspect="1"/>
          </p:cNvPicPr>
          <p:nvPr/>
        </p:nvPicPr>
        <p:blipFill rotWithShape="1">
          <a:blip r:embed="rId6" cstate="email">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a:ext>
            </a:extLst>
          </a:blip>
          <a:srcRect/>
          <a:stretch/>
        </p:blipFill>
        <p:spPr>
          <a:xfrm>
            <a:off x="6388099" y="1079499"/>
            <a:ext cx="4303713" cy="5570411"/>
          </a:xfrm>
          <a:prstGeom prst="rect">
            <a:avLst/>
          </a:prstGeom>
        </p:spPr>
      </p:pic>
      <p:sp>
        <p:nvSpPr>
          <p:cNvPr id="61" name="Rectangle 60"/>
          <p:cNvSpPr/>
          <p:nvPr/>
        </p:nvSpPr>
        <p:spPr bwMode="gray">
          <a:xfrm>
            <a:off x="447964" y="1030161"/>
            <a:ext cx="10229273" cy="36000"/>
          </a:xfrm>
          <a:prstGeom prst="rect">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2" name="Rectangle 61"/>
          <p:cNvSpPr/>
          <p:nvPr/>
        </p:nvSpPr>
        <p:spPr bwMode="gray">
          <a:xfrm>
            <a:off x="447964" y="6663250"/>
            <a:ext cx="10229273" cy="36000"/>
          </a:xfrm>
          <a:prstGeom prst="rect">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6" name="Rectangle 15"/>
          <p:cNvSpPr/>
          <p:nvPr/>
        </p:nvSpPr>
        <p:spPr>
          <a:xfrm>
            <a:off x="469900" y="2352070"/>
            <a:ext cx="4552045" cy="2677656"/>
          </a:xfrm>
          <a:prstGeom prst="rect">
            <a:avLst/>
          </a:prstGeom>
        </p:spPr>
        <p:txBody>
          <a:bodyPr wrap="square">
            <a:spAutoFit/>
          </a:bodyPr>
          <a:lstStyle/>
          <a:p>
            <a:r>
              <a:rPr lang="en-US" sz="2400" b="1" dirty="0"/>
              <a:t>Contracts Risk Assessment</a:t>
            </a:r>
          </a:p>
          <a:p>
            <a:r>
              <a:rPr lang="en-US" sz="2400" i="1" dirty="0">
                <a:solidFill>
                  <a:schemeClr val="accent5"/>
                </a:solidFill>
              </a:rPr>
              <a:t>Analyze the key terms &amp; provisions of the PPA, GSA, FSA, O&amp;M, IA and identify risks and their mitigation measures </a:t>
            </a:r>
          </a:p>
        </p:txBody>
      </p:sp>
      <p:sp>
        <p:nvSpPr>
          <p:cNvPr id="18" name="Oval 17"/>
          <p:cNvSpPr/>
          <p:nvPr/>
        </p:nvSpPr>
        <p:spPr bwMode="gray">
          <a:xfrm>
            <a:off x="5179691" y="1296232"/>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01</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19" name="Oval 18"/>
          <p:cNvSpPr/>
          <p:nvPr/>
        </p:nvSpPr>
        <p:spPr bwMode="gray">
          <a:xfrm>
            <a:off x="5184133" y="1819733"/>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02</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0" name="Oval 19"/>
          <p:cNvSpPr/>
          <p:nvPr/>
        </p:nvSpPr>
        <p:spPr bwMode="gray">
          <a:xfrm>
            <a:off x="5184133" y="2343234"/>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03</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1" name="Oval 20"/>
          <p:cNvSpPr/>
          <p:nvPr/>
        </p:nvSpPr>
        <p:spPr bwMode="gray">
          <a:xfrm>
            <a:off x="5179696" y="2866735"/>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04</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2" name="Oval 21"/>
          <p:cNvSpPr/>
          <p:nvPr/>
        </p:nvSpPr>
        <p:spPr bwMode="gray">
          <a:xfrm>
            <a:off x="5179696" y="3390236"/>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05</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3" name="Oval 22"/>
          <p:cNvSpPr/>
          <p:nvPr/>
        </p:nvSpPr>
        <p:spPr bwMode="gray">
          <a:xfrm>
            <a:off x="5179696" y="3913737"/>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06</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4" name="Oval 23"/>
          <p:cNvSpPr/>
          <p:nvPr/>
        </p:nvSpPr>
        <p:spPr bwMode="gray">
          <a:xfrm>
            <a:off x="5179695" y="4437238"/>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solidFill>
                  <a:prstClr val="black"/>
                </a:solidFill>
                <a:latin typeface="Verdana"/>
              </a:rPr>
              <a:t>07</a:t>
            </a:r>
            <a:endParaRPr lang="en-IN" sz="1400" b="1" dirty="0">
              <a:solidFill>
                <a:prstClr val="black"/>
              </a:solidFill>
              <a:latin typeface="Verdana"/>
            </a:endParaRPr>
          </a:p>
        </p:txBody>
      </p:sp>
      <p:sp>
        <p:nvSpPr>
          <p:cNvPr id="25" name="Oval 24"/>
          <p:cNvSpPr/>
          <p:nvPr/>
        </p:nvSpPr>
        <p:spPr bwMode="gray">
          <a:xfrm>
            <a:off x="5179692" y="4960739"/>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solidFill>
                  <a:prstClr val="black"/>
                </a:solidFill>
                <a:latin typeface="Verdana"/>
              </a:rPr>
              <a:t>08</a:t>
            </a:r>
            <a:endParaRPr lang="en-IN" sz="1400" b="1" dirty="0">
              <a:solidFill>
                <a:prstClr val="black"/>
              </a:solidFill>
              <a:latin typeface="Verdana"/>
            </a:endParaRPr>
          </a:p>
        </p:txBody>
      </p:sp>
      <p:sp>
        <p:nvSpPr>
          <p:cNvPr id="26" name="Oval 25"/>
          <p:cNvSpPr/>
          <p:nvPr/>
        </p:nvSpPr>
        <p:spPr bwMode="gray">
          <a:xfrm>
            <a:off x="5179694" y="5484240"/>
            <a:ext cx="382909" cy="382909"/>
          </a:xfrm>
          <a:prstGeom prst="ellipse">
            <a:avLst/>
          </a:prstGeom>
          <a:solidFill>
            <a:schemeClr val="accent5"/>
          </a:solidFill>
        </p:spPr>
        <p:txBody>
          <a:bodyPr wrap="square" lIns="0" tIns="88900" rIns="0" bIns="88900" rtlCol="0" anchor="ctr"/>
          <a:lstStyle/>
          <a:p>
            <a:pPr algn="ctr">
              <a:lnSpc>
                <a:spcPct val="106000"/>
              </a:lnSpc>
              <a:buFont typeface="Wingdings 2" pitchFamily="18" charset="2"/>
              <a:buNone/>
            </a:pPr>
            <a:r>
              <a:rPr lang="en-US" sz="1400" b="1" dirty="0">
                <a:solidFill>
                  <a:prstClr val="white"/>
                </a:solidFill>
                <a:latin typeface="Verdana"/>
              </a:rPr>
              <a:t>09</a:t>
            </a:r>
            <a:endParaRPr lang="en-IN" sz="1400" b="1" dirty="0">
              <a:solidFill>
                <a:prstClr val="white"/>
              </a:solidFill>
              <a:latin typeface="Verdana"/>
            </a:endParaRPr>
          </a:p>
        </p:txBody>
      </p:sp>
      <p:sp>
        <p:nvSpPr>
          <p:cNvPr id="27" name="Oval 26"/>
          <p:cNvSpPr/>
          <p:nvPr/>
        </p:nvSpPr>
        <p:spPr bwMode="gray">
          <a:xfrm>
            <a:off x="5179691" y="6007743"/>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10</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3240009024"/>
      </p:ext>
    </p:extLst>
  </p:cSld>
  <p:clrMapOvr>
    <a:masterClrMapping/>
  </p:clrMapOvr>
  <p:transition>
    <p:fade/>
  </p:transition>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Strapline"/>
          <p:cNvSpPr>
            <a:spLocks noGrp="1"/>
          </p:cNvSpPr>
          <p:nvPr>
            <p:ph type="body" sz="quarter" idx="13"/>
          </p:nvPr>
        </p:nvSpPr>
        <p:spPr>
          <a:xfrm>
            <a:off x="449993" y="1079983"/>
            <a:ext cx="9791843" cy="518392"/>
          </a:xfrm>
        </p:spPr>
        <p:txBody>
          <a:bodyPr lIns="0" tIns="0" rIns="0" bIns="0" anchor="t">
            <a:noAutofit/>
          </a:bodyPr>
          <a:lstStyle/>
          <a:p>
            <a:r>
              <a:rPr lang="en-US" b="1" dirty="0">
                <a:solidFill>
                  <a:schemeClr val="tx1">
                    <a:lumMod val="50000"/>
                    <a:lumOff val="50000"/>
                  </a:schemeClr>
                </a:solidFill>
                <a:latin typeface="Verdana" panose="020B0604030504040204" pitchFamily="34" charset="0"/>
              </a:rPr>
              <a:t>Entire Capacity of 220 MW capacity is contracted with BPDB for 22 years</a:t>
            </a:r>
            <a:endParaRPr lang="en-GB" b="1" dirty="0">
              <a:solidFill>
                <a:schemeClr val="tx1">
                  <a:lumMod val="50000"/>
                  <a:lumOff val="50000"/>
                </a:schemeClr>
              </a:solidFill>
              <a:latin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Power Purchase Agreement | Salient Features</a:t>
            </a:r>
          </a:p>
        </p:txBody>
      </p:sp>
      <p:graphicFrame>
        <p:nvGraphicFramePr>
          <p:cNvPr id="20" name="Table 19"/>
          <p:cNvGraphicFramePr>
            <a:graphicFrameLocks noGrp="1"/>
          </p:cNvGraphicFramePr>
          <p:nvPr>
            <p:custDataLst>
              <p:tags r:id="rId1"/>
            </p:custDataLst>
            <p:extLst>
              <p:ext uri="{D42A27DB-BD31-4B8C-83A1-F6EECF244321}">
                <p14:modId xmlns:p14="http://schemas.microsoft.com/office/powerpoint/2010/main" val="3014312262"/>
              </p:ext>
            </p:extLst>
          </p:nvPr>
        </p:nvGraphicFramePr>
        <p:xfrm>
          <a:off x="449993" y="1961919"/>
          <a:ext cx="4734896" cy="5452671"/>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133051">
                <a:tc>
                  <a:txBody>
                    <a:bodyPr/>
                    <a:lstStyle/>
                    <a:p>
                      <a:pPr marL="0" indent="0">
                        <a:spcAft>
                          <a:spcPts val="500"/>
                        </a:spcAft>
                        <a:buFont typeface="Arial" panose="020B0604020202020204" pitchFamily="34" charset="0"/>
                        <a:buNone/>
                      </a:pPr>
                      <a:r>
                        <a:rPr lang="en-US" sz="1000" b="1" baseline="0" dirty="0">
                          <a:solidFill>
                            <a:schemeClr val="tx1"/>
                          </a:solidFill>
                        </a:rPr>
                        <a:t>Salient features: </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Term: 22 years, extendable upon mutual agreement</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Dispatch: Based on merit order; </a:t>
                      </a:r>
                      <a:r>
                        <a:rPr lang="en-US" sz="1000" b="1" baseline="0" dirty="0">
                          <a:solidFill>
                            <a:schemeClr val="tx1"/>
                          </a:solidFill>
                        </a:rPr>
                        <a:t>No minimum offtake guarantee</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Sale to third parties: Not allowed</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Fuel: The preferred fuel of operation is gas. In case of gas unavailability, BPDB can decide to switch from gas to fuel or to cease operations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Commissioning: The plant is required to be commissioned within 28 months after execution of project agreements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Delivery Point: High voltage side of the 230 kV step up transformer in its switchyard</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Normative Availability: 90% for first 10 years, 85% thereafter. </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Force Majeure/ Political Event: Either parties can claim relief from obligations. Proportionate payment will be made in case facility is partly operational</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Event of default: Default due to other counterparties will not constitute event of default</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Termination: Expiry or Event of Default </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Dispute Resolution: Through expert or Arbitration; Governed by laws of England and Wales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Performance Security: </a:t>
                      </a:r>
                    </a:p>
                    <a:p>
                      <a:pPr marL="495286" marR="0" lvl="1"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0" baseline="0" dirty="0">
                          <a:solidFill>
                            <a:schemeClr val="tx1"/>
                          </a:solidFill>
                        </a:rPr>
                        <a:t>By NBBL – Proposal Security, Performance Security, Operations Security Deposit</a:t>
                      </a:r>
                    </a:p>
                    <a:p>
                      <a:pPr marL="495286" marR="0" lvl="1"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0" baseline="0" dirty="0">
                          <a:solidFill>
                            <a:schemeClr val="tx1"/>
                          </a:solidFill>
                        </a:rPr>
                        <a:t>By BPDB – Letter of Credit from BPDB and Guaranteed by Government of Bangladesh</a:t>
                      </a:r>
                    </a:p>
                    <a:p>
                      <a:pPr marL="495286" marR="0" lvl="1" indent="0" algn="l"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0" baseline="0" dirty="0">
                        <a:solidFill>
                          <a:schemeClr val="tx1"/>
                        </a:solidFill>
                      </a:endParaRPr>
                    </a:p>
                  </a:txBody>
                  <a:tcPr marL="107998" marT="107998">
                    <a:lnL w="12700" cmpd="sng">
                      <a:noFill/>
                    </a:lnL>
                    <a:lnR w="12700" cmpd="sng">
                      <a:noFill/>
                    </a:lnR>
                    <a:lnT w="38100" cap="flat" cmpd="sng" algn="ctr">
                      <a:solidFill>
                        <a:schemeClr val="accent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19620">
                <a:tc>
                  <a:txBody>
                    <a:bodyPr/>
                    <a:lstStyle/>
                    <a:p>
                      <a:pPr marL="0" marR="0" lvl="0" indent="0" algn="l"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0" baseline="0" dirty="0">
                        <a:solidFill>
                          <a:srgbClr val="FF0000"/>
                        </a:solidFill>
                      </a:endParaRPr>
                    </a:p>
                  </a:txBody>
                  <a:tcPr marL="107998" marT="107998">
                    <a:lnL w="12700" cmpd="sng">
                      <a:solidFill>
                        <a:schemeClr val="lt1"/>
                      </a:solidFill>
                    </a:lnL>
                    <a:lnR w="12700" cmpd="sng">
                      <a:solidFill>
                        <a:schemeClr val="lt1"/>
                      </a:solidFill>
                    </a:lnR>
                    <a:lnT w="38100" cmpd="sng">
                      <a:noFill/>
                    </a:lnT>
                    <a:lnB w="38100" cmpd="sng">
                      <a:solidFill>
                        <a:schemeClr val="lt1"/>
                      </a:solidFill>
                    </a:lnB>
                    <a:noFill/>
                  </a:tcPr>
                </a:tc>
                <a:extLst>
                  <a:ext uri="{0D108BD9-81ED-4DB2-BD59-A6C34878D82A}">
                    <a16:rowId xmlns:a16="http://schemas.microsoft.com/office/drawing/2014/main" val="1644354327"/>
                  </a:ext>
                </a:extLst>
              </a:tr>
            </a:tbl>
          </a:graphicData>
        </a:graphic>
      </p:graphicFrame>
      <p:sp>
        <p:nvSpPr>
          <p:cNvPr id="23" name="Rectangle 22"/>
          <p:cNvSpPr/>
          <p:nvPr/>
        </p:nvSpPr>
        <p:spPr bwMode="gray">
          <a:xfrm>
            <a:off x="5614404" y="2140823"/>
            <a:ext cx="4399388" cy="4746994"/>
          </a:xfrm>
          <a:prstGeom prst="rect">
            <a:avLst/>
          </a:prstGeom>
          <a:solidFill>
            <a:srgbClr val="F8FBFA"/>
          </a:solidFill>
          <a:ln w="3175" algn="ctr">
            <a:solidFill>
              <a:srgbClr val="C4D600">
                <a:alpha val="61000"/>
              </a:srgbClr>
            </a:solidFill>
            <a:prstDash val="dash"/>
            <a:miter lim="800000"/>
            <a:headEnd/>
            <a:tailEnd/>
          </a:ln>
        </p:spPr>
        <p:txBody>
          <a:bodyPr wrap="square" lIns="88900" tIns="88900" rIns="88900" bIns="88900" rtlCol="0" anchor="t"/>
          <a:lstStyle/>
          <a:p>
            <a:pPr marL="0" marR="0" lvl="0" indent="0" algn="l" defTabSz="914400" rtl="0" eaLnBrk="0" fontAlgn="base" latinLnBrk="0" hangingPunct="0">
              <a:lnSpc>
                <a:spcPct val="100000"/>
              </a:lnSpc>
              <a:spcBef>
                <a:spcPct val="0"/>
              </a:spcBef>
              <a:spcAft>
                <a:spcPct val="0"/>
              </a:spcAft>
              <a:buClrTx/>
              <a:buSzTx/>
              <a:buFont typeface="Wingdings 2" pitchFamily="18" charset="2"/>
              <a:buNone/>
              <a:tabLst/>
              <a:defRPr/>
            </a:pPr>
            <a:r>
              <a:rPr kumimoji="0" lang="en-US" sz="1600" b="1" i="0" u="none" strike="noStrike" kern="1200" cap="none" spc="0" normalizeH="0" baseline="0" noProof="0" dirty="0">
                <a:ln>
                  <a:noFill/>
                </a:ln>
                <a:solidFill>
                  <a:srgbClr val="75787B"/>
                </a:solidFill>
                <a:effectLst/>
                <a:uLnTx/>
                <a:uFillTx/>
                <a:latin typeface="Arial" panose="020B0604020202020204" pitchFamily="34" charset="0"/>
                <a:ea typeface="+mn-ea"/>
                <a:cs typeface="Arial" panose="020B0604020202020204" pitchFamily="34" charset="0"/>
              </a:rPr>
              <a:t>        </a:t>
            </a:r>
            <a:r>
              <a:rPr kumimoji="0" lang="en-US" sz="1200" b="1" i="0" u="none" strike="noStrike" kern="1200" cap="none" spc="0" normalizeH="0" baseline="0" noProof="0" dirty="0">
                <a:ln>
                  <a:noFill/>
                </a:ln>
                <a:solidFill>
                  <a:srgbClr val="75787B">
                    <a:lumMod val="50000"/>
                  </a:srgbClr>
                </a:solidFill>
                <a:effectLst/>
                <a:uLnTx/>
                <a:uFillTx/>
                <a:latin typeface="Verdana"/>
                <a:ea typeface="+mn-ea"/>
                <a:cs typeface="+mn-cs"/>
              </a:rPr>
              <a:t>Key Risks</a:t>
            </a:r>
          </a:p>
          <a:p>
            <a:pPr marL="0" marR="0" lvl="0" indent="0" algn="l" defTabSz="914400" rtl="0" eaLnBrk="0" fontAlgn="base" latinLnBrk="0" hangingPunct="0">
              <a:lnSpc>
                <a:spcPct val="100000"/>
              </a:lnSpc>
              <a:spcBef>
                <a:spcPct val="0"/>
              </a:spcBef>
              <a:spcAft>
                <a:spcPct val="0"/>
              </a:spcAft>
              <a:buClrTx/>
              <a:buSzTx/>
              <a:buFont typeface="Wingdings 2" pitchFamily="18" charset="2"/>
              <a:buNone/>
              <a:tabLst/>
              <a:defRPr/>
            </a:pPr>
            <a:endParaRPr kumimoji="0" lang="en-US" sz="1600" b="1" i="0" u="none" strike="noStrike" kern="1200" cap="none" spc="0" normalizeH="0" baseline="0" noProof="0" dirty="0">
              <a:ln>
                <a:noFill/>
              </a:ln>
              <a:solidFill>
                <a:srgbClr val="75787B"/>
              </a:solidFill>
              <a:effectLst/>
              <a:uLnTx/>
              <a:uFillTx/>
              <a:latin typeface="Arial" panose="020B0604020202020204" pitchFamily="34" charset="0"/>
              <a:ea typeface="+mn-ea"/>
              <a:cs typeface="Arial" panose="020B0604020202020204" pitchFamily="34" charset="0"/>
            </a:endParaRP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According to the terms of the Power Purchase Agreement, the facility should have been commissioned by 28</a:t>
            </a:r>
            <a:r>
              <a:rPr kumimoji="0" lang="en-US" sz="1000" b="0" i="0" u="none" strike="noStrike" kern="1200" cap="none" spc="0" normalizeH="0" baseline="30000" noProof="0" dirty="0">
                <a:ln>
                  <a:noFill/>
                </a:ln>
                <a:solidFill>
                  <a:prstClr val="black"/>
                </a:solidFill>
                <a:effectLst/>
                <a:uLnTx/>
                <a:uFillTx/>
                <a:latin typeface="Verdana"/>
                <a:ea typeface="+mn-ea"/>
                <a:cs typeface="+mn-cs"/>
              </a:rPr>
              <a:t>th</a:t>
            </a:r>
            <a:r>
              <a:rPr kumimoji="0" lang="en-US" sz="1000" b="0" i="0" u="none" strike="noStrike" kern="1200" cap="none" spc="0" normalizeH="0" baseline="0" noProof="0" dirty="0">
                <a:ln>
                  <a:noFill/>
                </a:ln>
                <a:solidFill>
                  <a:prstClr val="black"/>
                </a:solidFill>
                <a:effectLst/>
                <a:uLnTx/>
                <a:uFillTx/>
                <a:latin typeface="Verdana"/>
                <a:ea typeface="+mn-ea"/>
                <a:cs typeface="+mn-cs"/>
              </a:rPr>
              <a:t> December 2019 (i.e. 28 months from execution of project agreements). However, presently, the facility is still under construction and the expected COD is June 2020.</a:t>
            </a: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Vide letter dated 22</a:t>
            </a:r>
            <a:r>
              <a:rPr kumimoji="0" lang="en-US" sz="1000" b="0" i="0" u="none" strike="noStrike" kern="1200" cap="none" spc="0" normalizeH="0" baseline="30000" noProof="0" dirty="0">
                <a:ln>
                  <a:noFill/>
                </a:ln>
                <a:solidFill>
                  <a:prstClr val="black"/>
                </a:solidFill>
                <a:effectLst/>
                <a:uLnTx/>
                <a:uFillTx/>
                <a:latin typeface="Verdana"/>
                <a:ea typeface="+mn-ea"/>
                <a:cs typeface="+mn-cs"/>
              </a:rPr>
              <a:t>nd</a:t>
            </a:r>
            <a:r>
              <a:rPr kumimoji="0" lang="en-US" sz="1000" b="0" i="0" u="none" strike="noStrike" kern="1200" cap="none" spc="0" normalizeH="0" baseline="0" noProof="0" dirty="0">
                <a:ln>
                  <a:noFill/>
                </a:ln>
                <a:solidFill>
                  <a:prstClr val="black"/>
                </a:solidFill>
                <a:effectLst/>
                <a:uLnTx/>
                <a:uFillTx/>
                <a:latin typeface="Verdana"/>
                <a:ea typeface="+mn-ea"/>
                <a:cs typeface="+mn-cs"/>
              </a:rPr>
              <a:t> August 2019 to BPDB, NBBL had requested for an extension of  the Required COD on account of delay in construction of gas transmission facility and in obtaining two Government Authorizations, both of which are grounds for extension in commissioning timelines as per the project agreements. </a:t>
            </a: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In case the timeline extension is not authorized by BPDB, NBBL will have to pay liquidated damages (@USD 100 per day per MW of delay beyond 28 months from execution of agreements). Moreover, delay of more than 12 months will constitute a Company (NBBL) Event of Default</a:t>
            </a:r>
            <a:r>
              <a:rPr kumimoji="0" lang="en-US" sz="1000" b="0" i="0" u="none" strike="noStrike" kern="1200" cap="none" spc="0" normalizeH="0" noProof="0" dirty="0">
                <a:ln>
                  <a:noFill/>
                </a:ln>
                <a:solidFill>
                  <a:prstClr val="black"/>
                </a:solidFill>
                <a:effectLst/>
                <a:uLnTx/>
                <a:uFillTx/>
                <a:latin typeface="Verdana"/>
                <a:ea typeface="+mn-ea"/>
                <a:cs typeface="+mn-cs"/>
              </a:rPr>
              <a:t> and thereby allow termination of </a:t>
            </a:r>
            <a:r>
              <a:rPr kumimoji="0" lang="en-US" sz="1000" b="0" i="0" u="none" strike="noStrike" kern="1200" cap="none" spc="0" normalizeH="0" noProof="0" dirty="0" err="1">
                <a:ln>
                  <a:noFill/>
                </a:ln>
                <a:solidFill>
                  <a:prstClr val="black"/>
                </a:solidFill>
                <a:effectLst/>
                <a:uLnTx/>
                <a:uFillTx/>
                <a:latin typeface="Verdana"/>
                <a:ea typeface="+mn-ea"/>
                <a:cs typeface="+mn-cs"/>
              </a:rPr>
              <a:t>th</a:t>
            </a:r>
            <a:r>
              <a:rPr lang="en-US" sz="1000" dirty="0">
                <a:solidFill>
                  <a:prstClr val="black"/>
                </a:solidFill>
                <a:latin typeface="Verdana"/>
              </a:rPr>
              <a:t>e PPA</a:t>
            </a:r>
            <a:endParaRPr kumimoji="0" lang="en-US" sz="1000" b="0" i="0" u="none" strike="noStrike" kern="1200" cap="none" spc="0" normalizeH="0" baseline="0" noProof="0" dirty="0">
              <a:ln>
                <a:noFill/>
              </a:ln>
              <a:solidFill>
                <a:prstClr val="black"/>
              </a:solidFill>
              <a:effectLst/>
              <a:uLnTx/>
              <a:uFillTx/>
              <a:latin typeface="Verdana"/>
              <a:ea typeface="+mn-ea"/>
              <a:cs typeface="+mn-cs"/>
            </a:endParaRP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Considering high cost of fuel in Bangladesh, there is a  possibility that the plant will not find a place in the merit order and will thus not be scheduled if it has to be scheduled using HSD </a:t>
            </a: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1000" b="0" i="0" u="none" strike="noStrike" kern="1200" cap="none" spc="0" normalizeH="0" baseline="0" noProof="0" dirty="0">
              <a:ln>
                <a:noFill/>
              </a:ln>
              <a:solidFill>
                <a:prstClr val="black"/>
              </a:solidFill>
              <a:effectLst/>
              <a:uLnTx/>
              <a:uFillTx/>
              <a:latin typeface="Verdana"/>
              <a:ea typeface="+mn-ea"/>
              <a:cs typeface="+mn-cs"/>
            </a:endParaRP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1000" b="0" i="0" u="none" strike="noStrike" kern="1200" cap="none" spc="0" normalizeH="0" baseline="0" noProof="0" dirty="0">
              <a:ln>
                <a:noFill/>
              </a:ln>
              <a:solidFill>
                <a:prstClr val="black"/>
              </a:solidFill>
              <a:effectLst/>
              <a:uLnTx/>
              <a:uFillTx/>
              <a:latin typeface="Verdana"/>
              <a:ea typeface="+mn-ea"/>
              <a:cs typeface="+mn-cs"/>
            </a:endParaRP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1000" b="0" i="0" u="none" strike="noStrike" kern="1200" cap="none" spc="0" normalizeH="0" baseline="0" noProof="0" dirty="0">
              <a:ln>
                <a:noFill/>
              </a:ln>
              <a:solidFill>
                <a:prstClr val="black"/>
              </a:solidFill>
              <a:effectLst/>
              <a:uLnTx/>
              <a:uFillTx/>
              <a:latin typeface="Verdana"/>
              <a:ea typeface="+mn-ea"/>
              <a:cs typeface="+mn-cs"/>
            </a:endParaRPr>
          </a:p>
        </p:txBody>
      </p:sp>
      <p:grpSp>
        <p:nvGrpSpPr>
          <p:cNvPr id="24" name="Group 449"/>
          <p:cNvGrpSpPr>
            <a:grpSpLocks noChangeAspect="1"/>
          </p:cNvGrpSpPr>
          <p:nvPr/>
        </p:nvGrpSpPr>
        <p:grpSpPr bwMode="auto">
          <a:xfrm>
            <a:off x="5669001" y="2193091"/>
            <a:ext cx="344760" cy="332826"/>
            <a:chOff x="2732" y="1561"/>
            <a:chExt cx="340" cy="340"/>
          </a:xfrm>
          <a:solidFill>
            <a:schemeClr val="accent1"/>
          </a:solidFill>
        </p:grpSpPr>
        <p:sp>
          <p:nvSpPr>
            <p:cNvPr id="25" name="Freeform 450"/>
            <p:cNvSpPr>
              <a:spLocks noEditPoints="1"/>
            </p:cNvSpPr>
            <p:nvPr/>
          </p:nvSpPr>
          <p:spPr bwMode="auto">
            <a:xfrm>
              <a:off x="2732" y="156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solidFill>
                <a:schemeClr val="accent1"/>
              </a:solid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787481" rtl="0" eaLnBrk="1" fontAlgn="auto" latinLnBrk="0" hangingPunct="1">
                <a:lnSpc>
                  <a:spcPct val="100000"/>
                </a:lnSpc>
                <a:spcBef>
                  <a:spcPts val="0"/>
                </a:spcBef>
                <a:spcAft>
                  <a:spcPts val="0"/>
                </a:spcAft>
                <a:buClrTx/>
                <a:buSzTx/>
                <a:buFontTx/>
                <a:buNone/>
                <a:tabLst/>
                <a:defRPr/>
              </a:pPr>
              <a:endParaRPr kumimoji="0" lang="en-GB" sz="1550" b="0" i="0" u="none" strike="noStrike" kern="1200" cap="none" spc="0" normalizeH="0" baseline="0" noProof="0" dirty="0">
                <a:ln>
                  <a:noFill/>
                </a:ln>
                <a:solidFill>
                  <a:prstClr val="black"/>
                </a:solidFill>
                <a:effectLst/>
                <a:uLnTx/>
                <a:uFillTx/>
                <a:latin typeface="Verdana"/>
                <a:ea typeface="+mn-ea"/>
                <a:cs typeface="+mn-cs"/>
              </a:endParaRPr>
            </a:p>
          </p:txBody>
        </p:sp>
        <p:sp>
          <p:nvSpPr>
            <p:cNvPr id="26" name="Freeform 451"/>
            <p:cNvSpPr>
              <a:spLocks noEditPoints="1"/>
            </p:cNvSpPr>
            <p:nvPr/>
          </p:nvSpPr>
          <p:spPr bwMode="auto">
            <a:xfrm>
              <a:off x="2795" y="1630"/>
              <a:ext cx="211" cy="207"/>
            </a:xfrm>
            <a:custGeom>
              <a:avLst/>
              <a:gdLst>
                <a:gd name="T0" fmla="*/ 132 w 318"/>
                <a:gd name="T1" fmla="*/ 312 h 312"/>
                <a:gd name="T2" fmla="*/ 124 w 318"/>
                <a:gd name="T3" fmla="*/ 309 h 312"/>
                <a:gd name="T4" fmla="*/ 4 w 318"/>
                <a:gd name="T5" fmla="*/ 188 h 312"/>
                <a:gd name="T6" fmla="*/ 4 w 318"/>
                <a:gd name="T7" fmla="*/ 173 h 312"/>
                <a:gd name="T8" fmla="*/ 173 w 318"/>
                <a:gd name="T9" fmla="*/ 4 h 312"/>
                <a:gd name="T10" fmla="*/ 182 w 318"/>
                <a:gd name="T11" fmla="*/ 0 h 312"/>
                <a:gd name="T12" fmla="*/ 292 w 318"/>
                <a:gd name="T13" fmla="*/ 11 h 312"/>
                <a:gd name="T14" fmla="*/ 302 w 318"/>
                <a:gd name="T15" fmla="*/ 20 h 312"/>
                <a:gd name="T16" fmla="*/ 317 w 318"/>
                <a:gd name="T17" fmla="*/ 125 h 312"/>
                <a:gd name="T18" fmla="*/ 314 w 318"/>
                <a:gd name="T19" fmla="*/ 134 h 312"/>
                <a:gd name="T20" fmla="*/ 140 w 318"/>
                <a:gd name="T21" fmla="*/ 309 h 312"/>
                <a:gd name="T22" fmla="*/ 132 w 318"/>
                <a:gd name="T23" fmla="*/ 312 h 312"/>
                <a:gd name="T24" fmla="*/ 26 w 318"/>
                <a:gd name="T25" fmla="*/ 180 h 312"/>
                <a:gd name="T26" fmla="*/ 132 w 318"/>
                <a:gd name="T27" fmla="*/ 286 h 312"/>
                <a:gd name="T28" fmla="*/ 295 w 318"/>
                <a:gd name="T29" fmla="*/ 123 h 312"/>
                <a:gd name="T30" fmla="*/ 282 w 318"/>
                <a:gd name="T31" fmla="*/ 31 h 312"/>
                <a:gd name="T32" fmla="*/ 185 w 318"/>
                <a:gd name="T33" fmla="*/ 22 h 312"/>
                <a:gd name="T34" fmla="*/ 26 w 318"/>
                <a:gd name="T35" fmla="*/ 180 h 312"/>
                <a:gd name="T36" fmla="*/ 245 w 318"/>
                <a:gd name="T37" fmla="*/ 67 h 312"/>
                <a:gd name="T38" fmla="*/ 214 w 318"/>
                <a:gd name="T39" fmla="*/ 67 h 312"/>
                <a:gd name="T40" fmla="*/ 214 w 318"/>
                <a:gd name="T41" fmla="*/ 98 h 312"/>
                <a:gd name="T42" fmla="*/ 245 w 318"/>
                <a:gd name="T43" fmla="*/ 98 h 312"/>
                <a:gd name="T44" fmla="*/ 245 w 318"/>
                <a:gd name="T45" fmla="*/ 67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8" h="312">
                  <a:moveTo>
                    <a:pt x="132" y="312"/>
                  </a:moveTo>
                  <a:cubicBezTo>
                    <a:pt x="129" y="312"/>
                    <a:pt x="127" y="311"/>
                    <a:pt x="124" y="309"/>
                  </a:cubicBezTo>
                  <a:cubicBezTo>
                    <a:pt x="4" y="188"/>
                    <a:pt x="4" y="188"/>
                    <a:pt x="4" y="188"/>
                  </a:cubicBezTo>
                  <a:cubicBezTo>
                    <a:pt x="0" y="184"/>
                    <a:pt x="0" y="177"/>
                    <a:pt x="4" y="173"/>
                  </a:cubicBezTo>
                  <a:cubicBezTo>
                    <a:pt x="173" y="4"/>
                    <a:pt x="173" y="4"/>
                    <a:pt x="173" y="4"/>
                  </a:cubicBezTo>
                  <a:cubicBezTo>
                    <a:pt x="175" y="1"/>
                    <a:pt x="178" y="0"/>
                    <a:pt x="182" y="0"/>
                  </a:cubicBezTo>
                  <a:cubicBezTo>
                    <a:pt x="292" y="11"/>
                    <a:pt x="292" y="11"/>
                    <a:pt x="292" y="11"/>
                  </a:cubicBezTo>
                  <a:cubicBezTo>
                    <a:pt x="297" y="11"/>
                    <a:pt x="301" y="15"/>
                    <a:pt x="302" y="20"/>
                  </a:cubicBezTo>
                  <a:cubicBezTo>
                    <a:pt x="317" y="125"/>
                    <a:pt x="317" y="125"/>
                    <a:pt x="317" y="125"/>
                  </a:cubicBezTo>
                  <a:cubicBezTo>
                    <a:pt x="318" y="128"/>
                    <a:pt x="316" y="132"/>
                    <a:pt x="314" y="134"/>
                  </a:cubicBezTo>
                  <a:cubicBezTo>
                    <a:pt x="140" y="309"/>
                    <a:pt x="140" y="309"/>
                    <a:pt x="140" y="309"/>
                  </a:cubicBezTo>
                  <a:cubicBezTo>
                    <a:pt x="137" y="311"/>
                    <a:pt x="135" y="312"/>
                    <a:pt x="132" y="312"/>
                  </a:cubicBezTo>
                  <a:close/>
                  <a:moveTo>
                    <a:pt x="26" y="180"/>
                  </a:moveTo>
                  <a:cubicBezTo>
                    <a:pt x="132" y="286"/>
                    <a:pt x="132" y="286"/>
                    <a:pt x="132" y="286"/>
                  </a:cubicBezTo>
                  <a:cubicBezTo>
                    <a:pt x="295" y="123"/>
                    <a:pt x="295" y="123"/>
                    <a:pt x="295" y="123"/>
                  </a:cubicBezTo>
                  <a:cubicBezTo>
                    <a:pt x="282" y="31"/>
                    <a:pt x="282" y="31"/>
                    <a:pt x="282" y="31"/>
                  </a:cubicBezTo>
                  <a:cubicBezTo>
                    <a:pt x="185" y="22"/>
                    <a:pt x="185" y="22"/>
                    <a:pt x="185" y="22"/>
                  </a:cubicBezTo>
                  <a:lnTo>
                    <a:pt x="26" y="180"/>
                  </a:lnTo>
                  <a:close/>
                  <a:moveTo>
                    <a:pt x="245" y="67"/>
                  </a:moveTo>
                  <a:cubicBezTo>
                    <a:pt x="236" y="58"/>
                    <a:pt x="222" y="58"/>
                    <a:pt x="214" y="67"/>
                  </a:cubicBezTo>
                  <a:cubicBezTo>
                    <a:pt x="205" y="75"/>
                    <a:pt x="205" y="89"/>
                    <a:pt x="214" y="98"/>
                  </a:cubicBezTo>
                  <a:cubicBezTo>
                    <a:pt x="222" y="106"/>
                    <a:pt x="236" y="106"/>
                    <a:pt x="245" y="98"/>
                  </a:cubicBezTo>
                  <a:cubicBezTo>
                    <a:pt x="253" y="89"/>
                    <a:pt x="253" y="75"/>
                    <a:pt x="245" y="67"/>
                  </a:cubicBezTo>
                  <a:close/>
                </a:path>
              </a:pathLst>
            </a:custGeom>
            <a:grpFill/>
            <a:ln>
              <a:solidFill>
                <a:schemeClr val="accent1"/>
              </a:solid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787481" rtl="0" eaLnBrk="1" fontAlgn="auto" latinLnBrk="0" hangingPunct="1">
                <a:lnSpc>
                  <a:spcPct val="100000"/>
                </a:lnSpc>
                <a:spcBef>
                  <a:spcPts val="0"/>
                </a:spcBef>
                <a:spcAft>
                  <a:spcPts val="0"/>
                </a:spcAft>
                <a:buClrTx/>
                <a:buSzTx/>
                <a:buFontTx/>
                <a:buNone/>
                <a:tabLst/>
                <a:defRPr/>
              </a:pPr>
              <a:endParaRPr kumimoji="0" lang="en-GB" sz="1550" b="0" i="0" u="none" strike="noStrike" kern="1200" cap="none" spc="0" normalizeH="0" baseline="0" noProof="0" dirty="0">
                <a:ln>
                  <a:noFill/>
                </a:ln>
                <a:solidFill>
                  <a:prstClr val="black"/>
                </a:solidFill>
                <a:effectLst/>
                <a:uLnTx/>
                <a:uFillTx/>
                <a:latin typeface="Verdana"/>
                <a:ea typeface="+mn-ea"/>
                <a:cs typeface="+mn-cs"/>
              </a:endParaRPr>
            </a:p>
          </p:txBody>
        </p:sp>
      </p:grpSp>
      <p:sp>
        <p:nvSpPr>
          <p:cNvPr id="9" name="Rectangle 8"/>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PPA, Deloitte Analysis</a:t>
            </a:r>
          </a:p>
        </p:txBody>
      </p:sp>
    </p:spTree>
    <p:extLst>
      <p:ext uri="{BB962C8B-B14F-4D97-AF65-F5344CB8AC3E}">
        <p14:creationId xmlns:p14="http://schemas.microsoft.com/office/powerpoint/2010/main" val="234669842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Strapline"/>
          <p:cNvSpPr>
            <a:spLocks noGrp="1"/>
          </p:cNvSpPr>
          <p:nvPr>
            <p:ph type="body" sz="quarter" idx="13"/>
          </p:nvPr>
        </p:nvSpPr>
        <p:spPr>
          <a:xfrm>
            <a:off x="449993" y="1079983"/>
            <a:ext cx="9791843" cy="518392"/>
          </a:xfrm>
        </p:spPr>
        <p:txBody>
          <a:bodyPr lIns="0" tIns="0" rIns="0" bIns="0" anchor="t">
            <a:noAutofit/>
          </a:bodyPr>
          <a:lstStyle/>
          <a:p>
            <a:r>
              <a:rPr lang="en-US" b="1" dirty="0">
                <a:solidFill>
                  <a:schemeClr val="tx1">
                    <a:lumMod val="50000"/>
                    <a:lumOff val="50000"/>
                  </a:schemeClr>
                </a:solidFill>
                <a:latin typeface="Verdana" panose="020B0604030504040204" pitchFamily="34" charset="0"/>
              </a:rPr>
              <a:t>Separate Reference tariff quoted for gas and fuel based operations</a:t>
            </a:r>
            <a:endParaRPr lang="en-GB" b="1" dirty="0">
              <a:solidFill>
                <a:schemeClr val="tx1">
                  <a:lumMod val="50000"/>
                  <a:lumOff val="50000"/>
                </a:schemeClr>
              </a:solidFill>
              <a:latin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Power Purchase Agreement | Salient Features</a:t>
            </a:r>
          </a:p>
        </p:txBody>
      </p:sp>
      <p:graphicFrame>
        <p:nvGraphicFramePr>
          <p:cNvPr id="20" name="Table 19"/>
          <p:cNvGraphicFramePr>
            <a:graphicFrameLocks noGrp="1"/>
          </p:cNvGraphicFramePr>
          <p:nvPr>
            <p:custDataLst>
              <p:tags r:id="rId1"/>
            </p:custDataLst>
            <p:extLst>
              <p:ext uri="{D42A27DB-BD31-4B8C-83A1-F6EECF244321}">
                <p14:modId xmlns:p14="http://schemas.microsoft.com/office/powerpoint/2010/main" val="182318013"/>
              </p:ext>
            </p:extLst>
          </p:nvPr>
        </p:nvGraphicFramePr>
        <p:xfrm>
          <a:off x="449993" y="1961921"/>
          <a:ext cx="4734896" cy="4815936"/>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757914">
                <a:tc>
                  <a:txBody>
                    <a:bodyPr/>
                    <a:lstStyle/>
                    <a:p>
                      <a:pPr marL="0" indent="0">
                        <a:spcAft>
                          <a:spcPts val="500"/>
                        </a:spcAft>
                        <a:buFont typeface="Arial" panose="020B0604020202020204" pitchFamily="34" charset="0"/>
                        <a:buNone/>
                      </a:pPr>
                      <a:r>
                        <a:rPr lang="en-US" sz="1000" b="1" baseline="0" dirty="0">
                          <a:solidFill>
                            <a:schemeClr val="tx1"/>
                          </a:solidFill>
                        </a:rPr>
                        <a:t>Salient features: </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Tariff is based on reference capacity charge and energy charge rates quoted as part of bid separately for gas and fuel based operations.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Capacity charges payable on dependable capacity; Energy charge payable on net energy output</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Fuel charges will be based on price paid for gas/ fuel. All taxes and transportation costs paid for gas/ fuel are pass through</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Penalty/ incentive for availability: Proportionate recovery based on availability</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Transmission Charges: Not included in tariff since delivery is at plant periphery</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BPDB will continue to pay Capacity charges in case of failure to delivery gas due to failure of transmission facility</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BPDB will pay capacity charge if station is not scheduled</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Reference station heat rate is quoted in the bid based on plant load factor</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Cost of any restoration/ additions on account of a Political Event can be recovered through a revision in Reference Fixed and Variable Charge Rates</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Payment Security by BPDB: Aggregate of two months of capacity payment and variable O&amp;M adjusted for inflation assuming 85% of contracted/dependable capacity</a:t>
                      </a:r>
                    </a:p>
                    <a:p>
                      <a:pPr marL="0" marR="0" lvl="0" indent="0" algn="l"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0" baseline="0" dirty="0">
                        <a:solidFill>
                          <a:schemeClr val="tx1"/>
                        </a:solidFill>
                      </a:endParaRPr>
                    </a:p>
                  </a:txBody>
                  <a:tcPr marL="107998" marT="107998">
                    <a:lnL w="12700" cmpd="sng">
                      <a:noFill/>
                    </a:lnL>
                    <a:lnR w="12700" cmpd="sng">
                      <a:noFill/>
                    </a:lnR>
                    <a:lnT w="38100" cap="flat" cmpd="sng" algn="ctr">
                      <a:solidFill>
                        <a:schemeClr val="accent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0">
                <a:tc>
                  <a:txBody>
                    <a:bodyPr/>
                    <a:lstStyle/>
                    <a:p>
                      <a:pPr marL="0" marR="0" lvl="0" indent="0" algn="l"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0" baseline="0" dirty="0">
                        <a:solidFill>
                          <a:srgbClr val="FF0000"/>
                        </a:solidFill>
                      </a:endParaRPr>
                    </a:p>
                  </a:txBody>
                  <a:tcPr marL="107998" marT="107998">
                    <a:lnL w="12700" cmpd="sng">
                      <a:noFill/>
                    </a:lnL>
                    <a:lnR w="12700" cmpd="sng">
                      <a:noFill/>
                    </a:lnR>
                    <a:lnT w="381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644354327"/>
                  </a:ext>
                </a:extLst>
              </a:tr>
            </a:tbl>
          </a:graphicData>
        </a:graphic>
      </p:graphicFrame>
      <p:grpSp>
        <p:nvGrpSpPr>
          <p:cNvPr id="22" name="Group 21"/>
          <p:cNvGrpSpPr/>
          <p:nvPr/>
        </p:nvGrpSpPr>
        <p:grpSpPr>
          <a:xfrm>
            <a:off x="5614404" y="2140823"/>
            <a:ext cx="4399388" cy="2470934"/>
            <a:chOff x="5523627" y="4438151"/>
            <a:chExt cx="4717335" cy="2744509"/>
          </a:xfrm>
        </p:grpSpPr>
        <p:sp>
          <p:nvSpPr>
            <p:cNvPr id="23" name="Rectangle 22"/>
            <p:cNvSpPr/>
            <p:nvPr/>
          </p:nvSpPr>
          <p:spPr bwMode="gray">
            <a:xfrm>
              <a:off x="5523627" y="4438151"/>
              <a:ext cx="4717335" cy="2744509"/>
            </a:xfrm>
            <a:prstGeom prst="rect">
              <a:avLst/>
            </a:prstGeom>
            <a:solidFill>
              <a:srgbClr val="F8FBFA"/>
            </a:solidFill>
            <a:ln w="3175" algn="ctr">
              <a:solidFill>
                <a:srgbClr val="C4D600">
                  <a:alpha val="61000"/>
                </a:srgbClr>
              </a:solidFill>
              <a:prstDash val="dash"/>
              <a:miter lim="800000"/>
              <a:headEnd/>
              <a:tailEnd/>
            </a:ln>
          </p:spPr>
          <p:txBody>
            <a:bodyPr wrap="square" lIns="88900" tIns="88900" rIns="88900" bIns="88900" rtlCol="0" anchor="t"/>
            <a:lstStyle/>
            <a:p>
              <a:pPr marL="0" marR="0" lvl="0" indent="0" algn="l" defTabSz="914400" rtl="0" eaLnBrk="0" fontAlgn="base" latinLnBrk="0" hangingPunct="0">
                <a:lnSpc>
                  <a:spcPct val="100000"/>
                </a:lnSpc>
                <a:spcBef>
                  <a:spcPct val="0"/>
                </a:spcBef>
                <a:spcAft>
                  <a:spcPct val="0"/>
                </a:spcAft>
                <a:buClrTx/>
                <a:buSzTx/>
                <a:buFont typeface="Wingdings 2" pitchFamily="18" charset="2"/>
                <a:buNone/>
                <a:tabLst/>
                <a:defRPr/>
              </a:pPr>
              <a:r>
                <a:rPr kumimoji="0" lang="en-US" sz="1600" b="1" i="0" u="none" strike="noStrike" kern="1200" cap="none" spc="0" normalizeH="0" baseline="0" noProof="0" dirty="0">
                  <a:ln>
                    <a:noFill/>
                  </a:ln>
                  <a:solidFill>
                    <a:srgbClr val="75787B"/>
                  </a:solidFill>
                  <a:effectLst/>
                  <a:uLnTx/>
                  <a:uFillTx/>
                  <a:latin typeface="Arial" panose="020B0604020202020204" pitchFamily="34" charset="0"/>
                  <a:ea typeface="+mn-ea"/>
                  <a:cs typeface="Arial" panose="020B0604020202020204" pitchFamily="34" charset="0"/>
                </a:rPr>
                <a:t>        </a:t>
              </a:r>
              <a:r>
                <a:rPr kumimoji="0" lang="en-US" sz="1200" b="1" i="0" u="none" strike="noStrike" kern="1200" cap="none" spc="0" normalizeH="0" baseline="0" noProof="0" dirty="0">
                  <a:ln>
                    <a:noFill/>
                  </a:ln>
                  <a:solidFill>
                    <a:srgbClr val="75787B">
                      <a:lumMod val="50000"/>
                    </a:srgbClr>
                  </a:solidFill>
                  <a:effectLst/>
                  <a:uLnTx/>
                  <a:uFillTx/>
                  <a:latin typeface="Verdana"/>
                  <a:ea typeface="+mn-ea"/>
                  <a:cs typeface="+mn-cs"/>
                </a:rPr>
                <a:t>Key Risks</a:t>
              </a:r>
            </a:p>
            <a:p>
              <a:pPr marL="0" marR="0" lvl="0" indent="0" algn="l" defTabSz="914400" rtl="0" eaLnBrk="0" fontAlgn="base" latinLnBrk="0" hangingPunct="0">
                <a:lnSpc>
                  <a:spcPct val="100000"/>
                </a:lnSpc>
                <a:spcBef>
                  <a:spcPct val="0"/>
                </a:spcBef>
                <a:spcAft>
                  <a:spcPct val="0"/>
                </a:spcAft>
                <a:buClrTx/>
                <a:buSzTx/>
                <a:buFont typeface="Wingdings 2" pitchFamily="18" charset="2"/>
                <a:buNone/>
                <a:tabLst/>
                <a:defRPr/>
              </a:pPr>
              <a:endParaRPr kumimoji="0" lang="en-US" sz="1600" b="1" i="0" u="none" strike="noStrike" kern="1200" cap="none" spc="0" normalizeH="0" baseline="0" noProof="0" dirty="0">
                <a:ln>
                  <a:noFill/>
                </a:ln>
                <a:solidFill>
                  <a:srgbClr val="75787B"/>
                </a:solidFill>
                <a:effectLst/>
                <a:uLnTx/>
                <a:uFillTx/>
                <a:latin typeface="Arial" panose="020B0604020202020204" pitchFamily="34" charset="0"/>
                <a:ea typeface="+mn-ea"/>
                <a:cs typeface="Arial" panose="020B0604020202020204" pitchFamily="34" charset="0"/>
              </a:endParaRP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Recovery of Operations and Maintenance Costs are based on Net Energy Output. Any reduction in the power scheduled from the plant by BPDB may lead to under-recovery of O&amp;M costs.</a:t>
              </a: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Recovery of capacity charges is based on dependable capacity. Therefore, any increase in dependable capacity beyond the threshold level will lead to a greater capacity charge recovery to NBBL. However, the corresponding incentive is not incorporated in the Operation and Maintenance Agreement signed with the O&amp;M Contractor.</a:t>
              </a: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1000" b="0" i="0" u="none" strike="noStrike" kern="1200" cap="none" spc="0" normalizeH="0" baseline="0" noProof="0" dirty="0">
                <a:ln>
                  <a:noFill/>
                </a:ln>
                <a:solidFill>
                  <a:prstClr val="black"/>
                </a:solidFill>
                <a:effectLst/>
                <a:uLnTx/>
                <a:uFillTx/>
                <a:latin typeface="Verdana"/>
                <a:ea typeface="+mn-ea"/>
                <a:cs typeface="+mn-cs"/>
              </a:endParaRP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1000" b="0" i="0" u="none" strike="noStrike" kern="1200" cap="none" spc="0" normalizeH="0" baseline="0" noProof="0" dirty="0">
                <a:ln>
                  <a:noFill/>
                </a:ln>
                <a:solidFill>
                  <a:prstClr val="black"/>
                </a:solidFill>
                <a:effectLst/>
                <a:uLnTx/>
                <a:uFillTx/>
                <a:latin typeface="Verdana"/>
                <a:ea typeface="+mn-ea"/>
                <a:cs typeface="+mn-cs"/>
              </a:endParaRP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1000" b="0" i="0" u="none" strike="noStrike" kern="1200" cap="none" spc="0" normalizeH="0" baseline="0" noProof="0" dirty="0">
                <a:ln>
                  <a:noFill/>
                </a:ln>
                <a:solidFill>
                  <a:prstClr val="black"/>
                </a:solidFill>
                <a:effectLst/>
                <a:uLnTx/>
                <a:uFillTx/>
                <a:latin typeface="Verdana"/>
                <a:ea typeface="+mn-ea"/>
                <a:cs typeface="+mn-cs"/>
              </a:endParaRP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1000" b="0" i="0" u="none" strike="noStrike" kern="1200" cap="none" spc="0" normalizeH="0" baseline="0" noProof="0" dirty="0">
                <a:ln>
                  <a:noFill/>
                </a:ln>
                <a:solidFill>
                  <a:prstClr val="black"/>
                </a:solidFill>
                <a:effectLst/>
                <a:uLnTx/>
                <a:uFillTx/>
                <a:latin typeface="Verdana"/>
                <a:ea typeface="+mn-ea"/>
                <a:cs typeface="+mn-cs"/>
              </a:endParaRPr>
            </a:p>
          </p:txBody>
        </p:sp>
        <p:grpSp>
          <p:nvGrpSpPr>
            <p:cNvPr id="24" name="Group 449"/>
            <p:cNvGrpSpPr>
              <a:grpSpLocks noChangeAspect="1"/>
            </p:cNvGrpSpPr>
            <p:nvPr/>
          </p:nvGrpSpPr>
          <p:grpSpPr bwMode="auto">
            <a:xfrm>
              <a:off x="5582170" y="4496206"/>
              <a:ext cx="369676" cy="369676"/>
              <a:chOff x="2732" y="1561"/>
              <a:chExt cx="340" cy="340"/>
            </a:xfrm>
            <a:solidFill>
              <a:schemeClr val="accent1"/>
            </a:solidFill>
          </p:grpSpPr>
          <p:sp>
            <p:nvSpPr>
              <p:cNvPr id="25" name="Freeform 450"/>
              <p:cNvSpPr>
                <a:spLocks noEditPoints="1"/>
              </p:cNvSpPr>
              <p:nvPr/>
            </p:nvSpPr>
            <p:spPr bwMode="auto">
              <a:xfrm>
                <a:off x="2732" y="156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solidFill>
                  <a:schemeClr val="accent1"/>
                </a:solid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787481" rtl="0" eaLnBrk="1" fontAlgn="auto" latinLnBrk="0" hangingPunct="1">
                  <a:lnSpc>
                    <a:spcPct val="100000"/>
                  </a:lnSpc>
                  <a:spcBef>
                    <a:spcPts val="0"/>
                  </a:spcBef>
                  <a:spcAft>
                    <a:spcPts val="0"/>
                  </a:spcAft>
                  <a:buClrTx/>
                  <a:buSzTx/>
                  <a:buFontTx/>
                  <a:buNone/>
                  <a:tabLst/>
                  <a:defRPr/>
                </a:pPr>
                <a:endParaRPr kumimoji="0" lang="en-GB" sz="1550" b="0" i="0" u="none" strike="noStrike" kern="1200" cap="none" spc="0" normalizeH="0" baseline="0" noProof="0" dirty="0">
                  <a:ln>
                    <a:noFill/>
                  </a:ln>
                  <a:solidFill>
                    <a:prstClr val="black"/>
                  </a:solidFill>
                  <a:effectLst/>
                  <a:uLnTx/>
                  <a:uFillTx/>
                  <a:latin typeface="Verdana"/>
                  <a:ea typeface="+mn-ea"/>
                  <a:cs typeface="+mn-cs"/>
                </a:endParaRPr>
              </a:p>
            </p:txBody>
          </p:sp>
          <p:sp>
            <p:nvSpPr>
              <p:cNvPr id="26" name="Freeform 451"/>
              <p:cNvSpPr>
                <a:spLocks noEditPoints="1"/>
              </p:cNvSpPr>
              <p:nvPr/>
            </p:nvSpPr>
            <p:spPr bwMode="auto">
              <a:xfrm>
                <a:off x="2795" y="1630"/>
                <a:ext cx="211" cy="207"/>
              </a:xfrm>
              <a:custGeom>
                <a:avLst/>
                <a:gdLst>
                  <a:gd name="T0" fmla="*/ 132 w 318"/>
                  <a:gd name="T1" fmla="*/ 312 h 312"/>
                  <a:gd name="T2" fmla="*/ 124 w 318"/>
                  <a:gd name="T3" fmla="*/ 309 h 312"/>
                  <a:gd name="T4" fmla="*/ 4 w 318"/>
                  <a:gd name="T5" fmla="*/ 188 h 312"/>
                  <a:gd name="T6" fmla="*/ 4 w 318"/>
                  <a:gd name="T7" fmla="*/ 173 h 312"/>
                  <a:gd name="T8" fmla="*/ 173 w 318"/>
                  <a:gd name="T9" fmla="*/ 4 h 312"/>
                  <a:gd name="T10" fmla="*/ 182 w 318"/>
                  <a:gd name="T11" fmla="*/ 0 h 312"/>
                  <a:gd name="T12" fmla="*/ 292 w 318"/>
                  <a:gd name="T13" fmla="*/ 11 h 312"/>
                  <a:gd name="T14" fmla="*/ 302 w 318"/>
                  <a:gd name="T15" fmla="*/ 20 h 312"/>
                  <a:gd name="T16" fmla="*/ 317 w 318"/>
                  <a:gd name="T17" fmla="*/ 125 h 312"/>
                  <a:gd name="T18" fmla="*/ 314 w 318"/>
                  <a:gd name="T19" fmla="*/ 134 h 312"/>
                  <a:gd name="T20" fmla="*/ 140 w 318"/>
                  <a:gd name="T21" fmla="*/ 309 h 312"/>
                  <a:gd name="T22" fmla="*/ 132 w 318"/>
                  <a:gd name="T23" fmla="*/ 312 h 312"/>
                  <a:gd name="T24" fmla="*/ 26 w 318"/>
                  <a:gd name="T25" fmla="*/ 180 h 312"/>
                  <a:gd name="T26" fmla="*/ 132 w 318"/>
                  <a:gd name="T27" fmla="*/ 286 h 312"/>
                  <a:gd name="T28" fmla="*/ 295 w 318"/>
                  <a:gd name="T29" fmla="*/ 123 h 312"/>
                  <a:gd name="T30" fmla="*/ 282 w 318"/>
                  <a:gd name="T31" fmla="*/ 31 h 312"/>
                  <a:gd name="T32" fmla="*/ 185 w 318"/>
                  <a:gd name="T33" fmla="*/ 22 h 312"/>
                  <a:gd name="T34" fmla="*/ 26 w 318"/>
                  <a:gd name="T35" fmla="*/ 180 h 312"/>
                  <a:gd name="T36" fmla="*/ 245 w 318"/>
                  <a:gd name="T37" fmla="*/ 67 h 312"/>
                  <a:gd name="T38" fmla="*/ 214 w 318"/>
                  <a:gd name="T39" fmla="*/ 67 h 312"/>
                  <a:gd name="T40" fmla="*/ 214 w 318"/>
                  <a:gd name="T41" fmla="*/ 98 h 312"/>
                  <a:gd name="T42" fmla="*/ 245 w 318"/>
                  <a:gd name="T43" fmla="*/ 98 h 312"/>
                  <a:gd name="T44" fmla="*/ 245 w 318"/>
                  <a:gd name="T45" fmla="*/ 67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8" h="312">
                    <a:moveTo>
                      <a:pt x="132" y="312"/>
                    </a:moveTo>
                    <a:cubicBezTo>
                      <a:pt x="129" y="312"/>
                      <a:pt x="127" y="311"/>
                      <a:pt x="124" y="309"/>
                    </a:cubicBezTo>
                    <a:cubicBezTo>
                      <a:pt x="4" y="188"/>
                      <a:pt x="4" y="188"/>
                      <a:pt x="4" y="188"/>
                    </a:cubicBezTo>
                    <a:cubicBezTo>
                      <a:pt x="0" y="184"/>
                      <a:pt x="0" y="177"/>
                      <a:pt x="4" y="173"/>
                    </a:cubicBezTo>
                    <a:cubicBezTo>
                      <a:pt x="173" y="4"/>
                      <a:pt x="173" y="4"/>
                      <a:pt x="173" y="4"/>
                    </a:cubicBezTo>
                    <a:cubicBezTo>
                      <a:pt x="175" y="1"/>
                      <a:pt x="178" y="0"/>
                      <a:pt x="182" y="0"/>
                    </a:cubicBezTo>
                    <a:cubicBezTo>
                      <a:pt x="292" y="11"/>
                      <a:pt x="292" y="11"/>
                      <a:pt x="292" y="11"/>
                    </a:cubicBezTo>
                    <a:cubicBezTo>
                      <a:pt x="297" y="11"/>
                      <a:pt x="301" y="15"/>
                      <a:pt x="302" y="20"/>
                    </a:cubicBezTo>
                    <a:cubicBezTo>
                      <a:pt x="317" y="125"/>
                      <a:pt x="317" y="125"/>
                      <a:pt x="317" y="125"/>
                    </a:cubicBezTo>
                    <a:cubicBezTo>
                      <a:pt x="318" y="128"/>
                      <a:pt x="316" y="132"/>
                      <a:pt x="314" y="134"/>
                    </a:cubicBezTo>
                    <a:cubicBezTo>
                      <a:pt x="140" y="309"/>
                      <a:pt x="140" y="309"/>
                      <a:pt x="140" y="309"/>
                    </a:cubicBezTo>
                    <a:cubicBezTo>
                      <a:pt x="137" y="311"/>
                      <a:pt x="135" y="312"/>
                      <a:pt x="132" y="312"/>
                    </a:cubicBezTo>
                    <a:close/>
                    <a:moveTo>
                      <a:pt x="26" y="180"/>
                    </a:moveTo>
                    <a:cubicBezTo>
                      <a:pt x="132" y="286"/>
                      <a:pt x="132" y="286"/>
                      <a:pt x="132" y="286"/>
                    </a:cubicBezTo>
                    <a:cubicBezTo>
                      <a:pt x="295" y="123"/>
                      <a:pt x="295" y="123"/>
                      <a:pt x="295" y="123"/>
                    </a:cubicBezTo>
                    <a:cubicBezTo>
                      <a:pt x="282" y="31"/>
                      <a:pt x="282" y="31"/>
                      <a:pt x="282" y="31"/>
                    </a:cubicBezTo>
                    <a:cubicBezTo>
                      <a:pt x="185" y="22"/>
                      <a:pt x="185" y="22"/>
                      <a:pt x="185" y="22"/>
                    </a:cubicBezTo>
                    <a:lnTo>
                      <a:pt x="26" y="180"/>
                    </a:lnTo>
                    <a:close/>
                    <a:moveTo>
                      <a:pt x="245" y="67"/>
                    </a:moveTo>
                    <a:cubicBezTo>
                      <a:pt x="236" y="58"/>
                      <a:pt x="222" y="58"/>
                      <a:pt x="214" y="67"/>
                    </a:cubicBezTo>
                    <a:cubicBezTo>
                      <a:pt x="205" y="75"/>
                      <a:pt x="205" y="89"/>
                      <a:pt x="214" y="98"/>
                    </a:cubicBezTo>
                    <a:cubicBezTo>
                      <a:pt x="222" y="106"/>
                      <a:pt x="236" y="106"/>
                      <a:pt x="245" y="98"/>
                    </a:cubicBezTo>
                    <a:cubicBezTo>
                      <a:pt x="253" y="89"/>
                      <a:pt x="253" y="75"/>
                      <a:pt x="245" y="67"/>
                    </a:cubicBezTo>
                    <a:close/>
                  </a:path>
                </a:pathLst>
              </a:custGeom>
              <a:grpFill/>
              <a:ln>
                <a:solidFill>
                  <a:schemeClr val="accent1"/>
                </a:solid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787481" rtl="0" eaLnBrk="1" fontAlgn="auto" latinLnBrk="0" hangingPunct="1">
                  <a:lnSpc>
                    <a:spcPct val="100000"/>
                  </a:lnSpc>
                  <a:spcBef>
                    <a:spcPts val="0"/>
                  </a:spcBef>
                  <a:spcAft>
                    <a:spcPts val="0"/>
                  </a:spcAft>
                  <a:buClrTx/>
                  <a:buSzTx/>
                  <a:buFontTx/>
                  <a:buNone/>
                  <a:tabLst/>
                  <a:defRPr/>
                </a:pPr>
                <a:endParaRPr kumimoji="0" lang="en-GB" sz="1550" b="0" i="0" u="none" strike="noStrike" kern="1200" cap="none" spc="0" normalizeH="0" baseline="0" noProof="0" dirty="0">
                  <a:ln>
                    <a:noFill/>
                  </a:ln>
                  <a:solidFill>
                    <a:prstClr val="black"/>
                  </a:solidFill>
                  <a:effectLst/>
                  <a:uLnTx/>
                  <a:uFillTx/>
                  <a:latin typeface="Verdana"/>
                  <a:ea typeface="+mn-ea"/>
                  <a:cs typeface="+mn-cs"/>
                </a:endParaRPr>
              </a:p>
            </p:txBody>
          </p:sp>
        </p:grpSp>
      </p:grpSp>
      <p:grpSp>
        <p:nvGrpSpPr>
          <p:cNvPr id="11" name="Group 10"/>
          <p:cNvGrpSpPr/>
          <p:nvPr/>
        </p:nvGrpSpPr>
        <p:grpSpPr>
          <a:xfrm>
            <a:off x="5643307" y="4830418"/>
            <a:ext cx="4370485" cy="2107096"/>
            <a:chOff x="449993" y="4959626"/>
            <a:chExt cx="4986711" cy="2107096"/>
          </a:xfrm>
        </p:grpSpPr>
        <p:sp>
          <p:nvSpPr>
            <p:cNvPr id="59" name="Rectangle 58"/>
            <p:cNvSpPr/>
            <p:nvPr/>
          </p:nvSpPr>
          <p:spPr bwMode="gray">
            <a:xfrm>
              <a:off x="2567527" y="5266860"/>
              <a:ext cx="873388" cy="261257"/>
            </a:xfrm>
            <a:prstGeom prst="rect">
              <a:avLst/>
            </a:prstGeom>
            <a:solidFill>
              <a:schemeClr val="accent1"/>
            </a:solidFill>
            <a:ln w="19050" algn="ctr">
              <a:solidFill>
                <a:schemeClr val="accent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Tariff</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60" name="Rectangle 59"/>
            <p:cNvSpPr/>
            <p:nvPr/>
          </p:nvSpPr>
          <p:spPr bwMode="gray">
            <a:xfrm>
              <a:off x="1369157" y="5729533"/>
              <a:ext cx="873388" cy="261257"/>
            </a:xfrm>
            <a:prstGeom prst="rect">
              <a:avLst/>
            </a:prstGeom>
            <a:solidFill>
              <a:schemeClr val="accent1"/>
            </a:solidFill>
            <a:ln w="19050" algn="ctr">
              <a:solidFill>
                <a:schemeClr val="accent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Fixed</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61" name="Rectangle 60"/>
            <p:cNvSpPr/>
            <p:nvPr/>
          </p:nvSpPr>
          <p:spPr bwMode="gray">
            <a:xfrm>
              <a:off x="3682317" y="5729534"/>
              <a:ext cx="873388" cy="261257"/>
            </a:xfrm>
            <a:prstGeom prst="rect">
              <a:avLst/>
            </a:prstGeom>
            <a:solidFill>
              <a:schemeClr val="accent1"/>
            </a:solidFill>
            <a:ln w="19050" algn="ctr">
              <a:solidFill>
                <a:schemeClr val="accent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Variable</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cxnSp>
          <p:nvCxnSpPr>
            <p:cNvPr id="65" name="Elbow Connector 64"/>
            <p:cNvCxnSpPr>
              <a:stCxn id="59" idx="2"/>
              <a:endCxn id="61" idx="0"/>
            </p:cNvCxnSpPr>
            <p:nvPr/>
          </p:nvCxnSpPr>
          <p:spPr>
            <a:xfrm rot="16200000" flipH="1">
              <a:off x="3460908" y="5071430"/>
              <a:ext cx="201417" cy="1114790"/>
            </a:xfrm>
            <a:prstGeom prst="bentConnector3">
              <a:avLst/>
            </a:prstGeom>
            <a:ln>
              <a:solidFill>
                <a:schemeClr val="tx2"/>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66" name="Elbow Connector 65"/>
            <p:cNvCxnSpPr>
              <a:stCxn id="59" idx="2"/>
              <a:endCxn id="60" idx="0"/>
            </p:cNvCxnSpPr>
            <p:nvPr/>
          </p:nvCxnSpPr>
          <p:spPr>
            <a:xfrm rot="5400000">
              <a:off x="2304328" y="5029640"/>
              <a:ext cx="201416" cy="1198370"/>
            </a:xfrm>
            <a:prstGeom prst="bentConnector3">
              <a:avLst>
                <a:gd name="adj1" fmla="val 50000"/>
              </a:avLst>
            </a:prstGeom>
            <a:ln>
              <a:solidFill>
                <a:schemeClr val="tx2"/>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6" name="TextBox 75"/>
            <p:cNvSpPr txBox="1"/>
            <p:nvPr/>
          </p:nvSpPr>
          <p:spPr>
            <a:xfrm>
              <a:off x="1615811" y="5036028"/>
              <a:ext cx="2776820" cy="153888"/>
            </a:xfrm>
            <a:prstGeom prst="rect">
              <a:avLst/>
            </a:prstGeom>
            <a:noFill/>
          </p:spPr>
          <p:txBody>
            <a:bodyPr wrap="square" lIns="0" tIns="0" rIns="0" bIns="0" rtlCol="0">
              <a:spAutoFit/>
            </a:bodyPr>
            <a:lstStyle/>
            <a:p>
              <a:pPr marL="0" marR="0" lvl="0" indent="0" algn="ctr" defTabSz="787481" rtl="0" eaLnBrk="1" fontAlgn="auto" latinLnBrk="0" hangingPunct="1">
                <a:lnSpc>
                  <a:spcPct val="100000"/>
                </a:lnSpc>
                <a:spcBef>
                  <a:spcPts val="600"/>
                </a:spcBef>
                <a:spcAft>
                  <a:spcPts val="0"/>
                </a:spcAft>
                <a:buClrTx/>
                <a:buSzPct val="100000"/>
                <a:buFontTx/>
                <a:buNone/>
                <a:tabLst/>
                <a:defRPr/>
              </a:pPr>
              <a:r>
                <a:rPr kumimoji="0" lang="en-US" sz="1000" b="1" i="0" u="none" strike="noStrike" kern="1200" cap="none" spc="0" normalizeH="0" baseline="0" noProof="0" dirty="0">
                  <a:ln>
                    <a:noFill/>
                  </a:ln>
                  <a:solidFill>
                    <a:srgbClr val="53565A"/>
                  </a:solidFill>
                  <a:effectLst/>
                  <a:uLnTx/>
                  <a:uFillTx/>
                  <a:latin typeface="Verdana"/>
                  <a:ea typeface="+mn-ea"/>
                  <a:cs typeface="+mn-cs"/>
                </a:rPr>
                <a:t>Tariff Structure</a:t>
              </a:r>
              <a:endParaRPr kumimoji="0" lang="en-IN" sz="1000" b="1" i="0" u="none" strike="noStrike" kern="1200" cap="none" spc="0" normalizeH="0" baseline="0" noProof="0" dirty="0">
                <a:ln>
                  <a:noFill/>
                </a:ln>
                <a:solidFill>
                  <a:srgbClr val="53565A"/>
                </a:solidFill>
                <a:effectLst/>
                <a:uLnTx/>
                <a:uFillTx/>
                <a:latin typeface="Verdana"/>
                <a:ea typeface="+mn-ea"/>
                <a:cs typeface="+mn-cs"/>
              </a:endParaRPr>
            </a:p>
          </p:txBody>
        </p:sp>
        <p:sp>
          <p:nvSpPr>
            <p:cNvPr id="77" name="Rectangle 76"/>
            <p:cNvSpPr/>
            <p:nvPr/>
          </p:nvSpPr>
          <p:spPr bwMode="gray">
            <a:xfrm>
              <a:off x="548874" y="6132572"/>
              <a:ext cx="1095311" cy="356928"/>
            </a:xfrm>
            <a:prstGeom prst="rect">
              <a:avLst/>
            </a:prstGeom>
            <a:noFill/>
            <a:ln w="19050" algn="ctr">
              <a:solidFill>
                <a:schemeClr val="accent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rgbClr val="046A38"/>
                  </a:solidFill>
                  <a:effectLst/>
                  <a:uLnTx/>
                  <a:uFillTx/>
                  <a:latin typeface="Verdana"/>
                  <a:ea typeface="+mn-ea"/>
                  <a:cs typeface="+mn-cs"/>
                </a:rPr>
                <a:t>Non Escalable</a:t>
              </a:r>
              <a:endParaRPr kumimoji="0" lang="en-IN" sz="900" b="0" i="0" u="none" strike="noStrike" kern="1200" cap="none" spc="0" normalizeH="0" baseline="0" noProof="0" dirty="0">
                <a:ln>
                  <a:noFill/>
                </a:ln>
                <a:solidFill>
                  <a:srgbClr val="046A38"/>
                </a:solidFill>
                <a:effectLst/>
                <a:uLnTx/>
                <a:uFillTx/>
                <a:latin typeface="Verdana"/>
                <a:ea typeface="+mn-ea"/>
                <a:cs typeface="+mn-cs"/>
              </a:endParaRPr>
            </a:p>
          </p:txBody>
        </p:sp>
        <p:sp>
          <p:nvSpPr>
            <p:cNvPr id="78" name="Rectangle 77"/>
            <p:cNvSpPr/>
            <p:nvPr/>
          </p:nvSpPr>
          <p:spPr bwMode="gray">
            <a:xfrm>
              <a:off x="1805851" y="6132572"/>
              <a:ext cx="1095311" cy="356928"/>
            </a:xfrm>
            <a:prstGeom prst="rect">
              <a:avLst/>
            </a:prstGeom>
            <a:noFill/>
            <a:ln w="19050" algn="ctr">
              <a:solidFill>
                <a:schemeClr val="accent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rgbClr val="046A38"/>
                  </a:solidFill>
                  <a:effectLst/>
                  <a:uLnTx/>
                  <a:uFillTx/>
                  <a:latin typeface="Verdana"/>
                  <a:ea typeface="+mn-ea"/>
                  <a:cs typeface="+mn-cs"/>
                </a:rPr>
                <a:t>Foreign Escalable</a:t>
              </a:r>
              <a:endParaRPr kumimoji="0" lang="en-IN" sz="900" b="0" i="0" u="none" strike="noStrike" kern="1200" cap="none" spc="0" normalizeH="0" baseline="0" noProof="0" dirty="0">
                <a:ln>
                  <a:noFill/>
                </a:ln>
                <a:solidFill>
                  <a:srgbClr val="046A38"/>
                </a:solidFill>
                <a:effectLst/>
                <a:uLnTx/>
                <a:uFillTx/>
                <a:latin typeface="Verdana"/>
                <a:ea typeface="+mn-ea"/>
                <a:cs typeface="+mn-cs"/>
              </a:endParaRPr>
            </a:p>
          </p:txBody>
        </p:sp>
        <p:sp>
          <p:nvSpPr>
            <p:cNvPr id="79" name="Rectangle 78"/>
            <p:cNvSpPr/>
            <p:nvPr/>
          </p:nvSpPr>
          <p:spPr bwMode="gray">
            <a:xfrm>
              <a:off x="3004221" y="6132572"/>
              <a:ext cx="1095311" cy="356928"/>
            </a:xfrm>
            <a:prstGeom prst="rect">
              <a:avLst/>
            </a:prstGeom>
            <a:noFill/>
            <a:ln w="19050" algn="ctr">
              <a:solidFill>
                <a:schemeClr val="accent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rgbClr val="046A38"/>
                  </a:solidFill>
                  <a:effectLst/>
                  <a:uLnTx/>
                  <a:uFillTx/>
                  <a:latin typeface="Verdana"/>
                  <a:ea typeface="+mn-ea"/>
                  <a:cs typeface="+mn-cs"/>
                </a:rPr>
                <a:t>Foreign Variable O&amp;M</a:t>
              </a:r>
              <a:endParaRPr kumimoji="0" lang="en-IN" sz="900" b="0" i="0" u="none" strike="noStrike" kern="1200" cap="none" spc="0" normalizeH="0" baseline="0" noProof="0" dirty="0">
                <a:ln>
                  <a:noFill/>
                </a:ln>
                <a:solidFill>
                  <a:srgbClr val="046A38"/>
                </a:solidFill>
                <a:effectLst/>
                <a:uLnTx/>
                <a:uFillTx/>
                <a:latin typeface="Verdana"/>
                <a:ea typeface="+mn-ea"/>
                <a:cs typeface="+mn-cs"/>
              </a:endParaRPr>
            </a:p>
          </p:txBody>
        </p:sp>
        <p:sp>
          <p:nvSpPr>
            <p:cNvPr id="80" name="Rectangle 79"/>
            <p:cNvSpPr/>
            <p:nvPr/>
          </p:nvSpPr>
          <p:spPr bwMode="gray">
            <a:xfrm>
              <a:off x="4249110" y="6132572"/>
              <a:ext cx="1095311" cy="356928"/>
            </a:xfrm>
            <a:prstGeom prst="rect">
              <a:avLst/>
            </a:prstGeom>
            <a:noFill/>
            <a:ln w="19050" algn="ctr">
              <a:solidFill>
                <a:schemeClr val="accent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rgbClr val="046A38"/>
                  </a:solidFill>
                  <a:effectLst/>
                  <a:uLnTx/>
                  <a:uFillTx/>
                  <a:latin typeface="Verdana"/>
                  <a:ea typeface="+mn-ea"/>
                  <a:cs typeface="+mn-cs"/>
                </a:rPr>
                <a:t>Local Variable O&amp;M</a:t>
              </a:r>
              <a:endParaRPr kumimoji="0" lang="en-IN" sz="900" b="0" i="0" u="none" strike="noStrike" kern="1200" cap="none" spc="0" normalizeH="0" baseline="0" noProof="0" dirty="0">
                <a:ln>
                  <a:noFill/>
                </a:ln>
                <a:solidFill>
                  <a:srgbClr val="046A38"/>
                </a:solidFill>
                <a:effectLst/>
                <a:uLnTx/>
                <a:uFillTx/>
                <a:latin typeface="Verdana"/>
                <a:ea typeface="+mn-ea"/>
                <a:cs typeface="+mn-cs"/>
              </a:endParaRPr>
            </a:p>
          </p:txBody>
        </p:sp>
        <p:cxnSp>
          <p:nvCxnSpPr>
            <p:cNvPr id="3" name="Straight Connector 2"/>
            <p:cNvCxnSpPr>
              <a:stCxn id="77" idx="0"/>
              <a:endCxn id="60" idx="2"/>
            </p:cNvCxnSpPr>
            <p:nvPr/>
          </p:nvCxnSpPr>
          <p:spPr>
            <a:xfrm flipV="1">
              <a:off x="1096530" y="5990790"/>
              <a:ext cx="709321" cy="141782"/>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5" name="Straight Connector 4"/>
            <p:cNvCxnSpPr>
              <a:stCxn id="79" idx="0"/>
              <a:endCxn id="61" idx="2"/>
            </p:cNvCxnSpPr>
            <p:nvPr/>
          </p:nvCxnSpPr>
          <p:spPr>
            <a:xfrm flipV="1">
              <a:off x="3551877" y="5990791"/>
              <a:ext cx="567134" cy="141781"/>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 name="Straight Connector 6"/>
            <p:cNvCxnSpPr>
              <a:stCxn id="78" idx="0"/>
              <a:endCxn id="60" idx="2"/>
            </p:cNvCxnSpPr>
            <p:nvPr/>
          </p:nvCxnSpPr>
          <p:spPr>
            <a:xfrm flipH="1" flipV="1">
              <a:off x="1805851" y="5990790"/>
              <a:ext cx="547656" cy="141782"/>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a:stCxn id="80" idx="0"/>
              <a:endCxn id="61" idx="2"/>
            </p:cNvCxnSpPr>
            <p:nvPr/>
          </p:nvCxnSpPr>
          <p:spPr>
            <a:xfrm flipH="1" flipV="1">
              <a:off x="4119011" y="5990791"/>
              <a:ext cx="677755" cy="141781"/>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81" name="Rectangle 80"/>
            <p:cNvSpPr/>
            <p:nvPr/>
          </p:nvSpPr>
          <p:spPr bwMode="gray">
            <a:xfrm>
              <a:off x="1101216" y="6631282"/>
              <a:ext cx="1095311" cy="356928"/>
            </a:xfrm>
            <a:prstGeom prst="rect">
              <a:avLst/>
            </a:prstGeom>
            <a:noFill/>
            <a:ln w="19050" algn="ctr">
              <a:solidFill>
                <a:schemeClr val="accent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rgbClr val="046A38"/>
                  </a:solidFill>
                  <a:effectLst/>
                  <a:uLnTx/>
                  <a:uFillTx/>
                  <a:latin typeface="Verdana"/>
                  <a:ea typeface="+mn-ea"/>
                  <a:cs typeface="+mn-cs"/>
                </a:rPr>
                <a:t>Local Escalable</a:t>
              </a:r>
              <a:endParaRPr kumimoji="0" lang="en-IN" sz="900" b="0" i="0" u="none" strike="noStrike" kern="1200" cap="none" spc="0" normalizeH="0" baseline="0" noProof="0" dirty="0">
                <a:ln>
                  <a:noFill/>
                </a:ln>
                <a:solidFill>
                  <a:srgbClr val="046A38"/>
                </a:solidFill>
                <a:effectLst/>
                <a:uLnTx/>
                <a:uFillTx/>
                <a:latin typeface="Verdana"/>
                <a:ea typeface="+mn-ea"/>
                <a:cs typeface="+mn-cs"/>
              </a:endParaRPr>
            </a:p>
          </p:txBody>
        </p:sp>
        <p:sp>
          <p:nvSpPr>
            <p:cNvPr id="82" name="Rectangle 81"/>
            <p:cNvSpPr/>
            <p:nvPr/>
          </p:nvSpPr>
          <p:spPr bwMode="gray">
            <a:xfrm>
              <a:off x="3571355" y="6631282"/>
              <a:ext cx="1095311" cy="356928"/>
            </a:xfrm>
            <a:prstGeom prst="rect">
              <a:avLst/>
            </a:prstGeom>
            <a:noFill/>
            <a:ln w="19050" algn="ctr">
              <a:solidFill>
                <a:schemeClr val="accent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rgbClr val="046A38"/>
                  </a:solidFill>
                  <a:effectLst/>
                  <a:uLnTx/>
                  <a:uFillTx/>
                  <a:latin typeface="Verdana"/>
                  <a:ea typeface="+mn-ea"/>
                  <a:cs typeface="+mn-cs"/>
                </a:rPr>
                <a:t>Fuel Cost</a:t>
              </a:r>
              <a:endParaRPr kumimoji="0" lang="en-IN" sz="900" b="0" i="0" u="none" strike="noStrike" kern="1200" cap="none" spc="0" normalizeH="0" baseline="0" noProof="0" dirty="0">
                <a:ln>
                  <a:noFill/>
                </a:ln>
                <a:solidFill>
                  <a:srgbClr val="046A38"/>
                </a:solidFill>
                <a:effectLst/>
                <a:uLnTx/>
                <a:uFillTx/>
                <a:latin typeface="Verdana"/>
                <a:ea typeface="+mn-ea"/>
                <a:cs typeface="+mn-cs"/>
              </a:endParaRPr>
            </a:p>
          </p:txBody>
        </p:sp>
        <p:sp>
          <p:nvSpPr>
            <p:cNvPr id="83" name="Rectangle 82"/>
            <p:cNvSpPr/>
            <p:nvPr/>
          </p:nvSpPr>
          <p:spPr bwMode="gray">
            <a:xfrm>
              <a:off x="449993" y="4959626"/>
              <a:ext cx="4986711" cy="2107096"/>
            </a:xfrm>
            <a:prstGeom prst="rect">
              <a:avLst/>
            </a:prstGeom>
            <a:noFill/>
            <a:ln w="19050" algn="ctr">
              <a:solidFill>
                <a:schemeClr val="accent1"/>
              </a:solidFill>
              <a:prstDash val="dash"/>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grpSp>
      <p:sp>
        <p:nvSpPr>
          <p:cNvPr id="28" name="Rectangle 27"/>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PPA, Deloitte Analysis</a:t>
            </a:r>
          </a:p>
        </p:txBody>
      </p:sp>
    </p:spTree>
    <p:extLst>
      <p:ext uri="{BB962C8B-B14F-4D97-AF65-F5344CB8AC3E}">
        <p14:creationId xmlns:p14="http://schemas.microsoft.com/office/powerpoint/2010/main" val="338314516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Strapline"/>
          <p:cNvSpPr>
            <a:spLocks noGrp="1"/>
          </p:cNvSpPr>
          <p:nvPr>
            <p:ph type="body" sz="quarter" idx="13"/>
          </p:nvPr>
        </p:nvSpPr>
        <p:spPr>
          <a:xfrm>
            <a:off x="449993" y="1079983"/>
            <a:ext cx="9791843" cy="518392"/>
          </a:xfrm>
        </p:spPr>
        <p:txBody>
          <a:bodyPr lIns="0" tIns="0" rIns="0" bIns="0" anchor="t">
            <a:noAutofit/>
          </a:bodyPr>
          <a:lstStyle/>
          <a:p>
            <a:r>
              <a:rPr lang="en-US" b="1" dirty="0">
                <a:solidFill>
                  <a:schemeClr val="tx1">
                    <a:lumMod val="50000"/>
                    <a:lumOff val="50000"/>
                  </a:schemeClr>
                </a:solidFill>
                <a:latin typeface="Verdana" panose="020B0604030504040204" pitchFamily="34" charset="0"/>
              </a:rPr>
              <a:t>Reference Tariff Schedule – Gas Operations </a:t>
            </a:r>
          </a:p>
          <a:p>
            <a:endParaRPr lang="en-GB" b="1" dirty="0">
              <a:solidFill>
                <a:schemeClr val="tx1">
                  <a:lumMod val="50000"/>
                  <a:lumOff val="50000"/>
                </a:schemeClr>
              </a:solidFill>
              <a:latin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dirty="0">
                <a:solidFill>
                  <a:srgbClr val="000000"/>
                </a:solidFill>
                <a:latin typeface="Verdana" panose="020B0604030504040204" pitchFamily="34" charset="0"/>
              </a:rPr>
              <a:t>Power Purchase Agreement | Salient Features</a:t>
            </a:r>
            <a:endParaRPr lang="en-GB" noProof="0" dirty="0">
              <a:solidFill>
                <a:srgbClr val="000000"/>
              </a:solidFill>
              <a:latin typeface="Verdana" panose="020B0604030504040204" pitchFamily="34" charset="0"/>
            </a:endParaRPr>
          </a:p>
        </p:txBody>
      </p:sp>
      <p:graphicFrame>
        <p:nvGraphicFramePr>
          <p:cNvPr id="21" name="Table 20"/>
          <p:cNvGraphicFramePr>
            <a:graphicFrameLocks noGrp="1"/>
          </p:cNvGraphicFramePr>
          <p:nvPr>
            <p:custDataLst>
              <p:tags r:id="rId1"/>
            </p:custDataLst>
            <p:extLst>
              <p:ext uri="{D42A27DB-BD31-4B8C-83A1-F6EECF244321}">
                <p14:modId xmlns:p14="http://schemas.microsoft.com/office/powerpoint/2010/main" val="1632014949"/>
              </p:ext>
            </p:extLst>
          </p:nvPr>
        </p:nvGraphicFramePr>
        <p:xfrm>
          <a:off x="445637" y="1694623"/>
          <a:ext cx="9658103" cy="5394960"/>
        </p:xfrm>
        <a:graphic>
          <a:graphicData uri="http://schemas.openxmlformats.org/drawingml/2006/table">
            <a:tbl>
              <a:tblPr>
                <a:tableStyleId>{5C22544A-7EE6-4342-B048-85BDC9FD1C3A}</a:tableStyleId>
              </a:tblPr>
              <a:tblGrid>
                <a:gridCol w="677485">
                  <a:extLst>
                    <a:ext uri="{9D8B030D-6E8A-4147-A177-3AD203B41FA5}">
                      <a16:colId xmlns:a16="http://schemas.microsoft.com/office/drawing/2014/main" val="725993939"/>
                    </a:ext>
                  </a:extLst>
                </a:gridCol>
                <a:gridCol w="1760506">
                  <a:extLst>
                    <a:ext uri="{9D8B030D-6E8A-4147-A177-3AD203B41FA5}">
                      <a16:colId xmlns:a16="http://schemas.microsoft.com/office/drawing/2014/main" val="3555621483"/>
                    </a:ext>
                  </a:extLst>
                </a:gridCol>
                <a:gridCol w="1805028">
                  <a:extLst>
                    <a:ext uri="{9D8B030D-6E8A-4147-A177-3AD203B41FA5}">
                      <a16:colId xmlns:a16="http://schemas.microsoft.com/office/drawing/2014/main" val="4193530369"/>
                    </a:ext>
                  </a:extLst>
                </a:gridCol>
                <a:gridCol w="1805028">
                  <a:extLst>
                    <a:ext uri="{9D8B030D-6E8A-4147-A177-3AD203B41FA5}">
                      <a16:colId xmlns:a16="http://schemas.microsoft.com/office/drawing/2014/main" val="8313366"/>
                    </a:ext>
                  </a:extLst>
                </a:gridCol>
                <a:gridCol w="1805028">
                  <a:extLst>
                    <a:ext uri="{9D8B030D-6E8A-4147-A177-3AD203B41FA5}">
                      <a16:colId xmlns:a16="http://schemas.microsoft.com/office/drawing/2014/main" val="3906966749"/>
                    </a:ext>
                  </a:extLst>
                </a:gridCol>
                <a:gridCol w="1805028">
                  <a:extLst>
                    <a:ext uri="{9D8B030D-6E8A-4147-A177-3AD203B41FA5}">
                      <a16:colId xmlns:a16="http://schemas.microsoft.com/office/drawing/2014/main" val="3693536966"/>
                    </a:ext>
                  </a:extLst>
                </a:gridCol>
              </a:tblGrid>
              <a:tr h="0">
                <a:tc>
                  <a:txBody>
                    <a:bodyPr/>
                    <a:lstStyle/>
                    <a:p>
                      <a:pPr algn="r" fontAlgn="ctr"/>
                      <a:r>
                        <a:rPr lang="en-IN" sz="900" b="1" i="0" u="none" strike="noStrike" dirty="0">
                          <a:solidFill>
                            <a:schemeClr val="accent1"/>
                          </a:solidFill>
                          <a:effectLst/>
                          <a:latin typeface="+mj-lt"/>
                        </a:rPr>
                        <a:t>Contract Year</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ctr" fontAlgn="ctr"/>
                      <a:r>
                        <a:rPr lang="en-US" sz="900" b="1" i="0" u="none" strike="noStrike" dirty="0">
                          <a:solidFill>
                            <a:schemeClr val="accent1"/>
                          </a:solidFill>
                          <a:effectLst/>
                          <a:latin typeface="+mj-lt"/>
                        </a:rPr>
                        <a:t>Non Escalable Capacity Price (USD/kW-Month)</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ctr" fontAlgn="ctr"/>
                      <a:r>
                        <a:rPr lang="en-US" sz="900" b="1" i="0" u="none" strike="noStrike" kern="1200" dirty="0">
                          <a:solidFill>
                            <a:schemeClr val="accent1"/>
                          </a:solidFill>
                          <a:effectLst/>
                          <a:latin typeface="+mn-lt"/>
                          <a:ea typeface="+mn-ea"/>
                          <a:cs typeface="+mn-cs"/>
                        </a:rPr>
                        <a:t>Foreign Escalable Capacity Price (USD/kW-Month)</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ctr" fontAlgn="ctr"/>
                      <a:r>
                        <a:rPr lang="en-US" sz="900" b="1" i="0" u="none" strike="noStrike" kern="1200" dirty="0">
                          <a:solidFill>
                            <a:schemeClr val="accent1"/>
                          </a:solidFill>
                          <a:effectLst/>
                          <a:latin typeface="+mn-lt"/>
                          <a:ea typeface="+mn-ea"/>
                          <a:cs typeface="+mn-cs"/>
                        </a:rPr>
                        <a:t>Local Escalable Capacity Price (Taka/kW-Month)</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ctr" fontAlgn="ctr"/>
                      <a:r>
                        <a:rPr lang="en-US" sz="900" b="1" i="0" u="none" strike="noStrike" kern="1200" dirty="0">
                          <a:solidFill>
                            <a:schemeClr val="accent1"/>
                          </a:solidFill>
                          <a:effectLst/>
                          <a:latin typeface="+mn-lt"/>
                          <a:ea typeface="+mn-ea"/>
                          <a:cs typeface="+mn-cs"/>
                        </a:rPr>
                        <a:t>Foreign Variable O&amp;M Price (USD/kWh)</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ctr" fontAlgn="ctr"/>
                      <a:r>
                        <a:rPr lang="en-US" sz="900" b="1" i="0" u="none" strike="noStrike" kern="1200" dirty="0">
                          <a:solidFill>
                            <a:schemeClr val="accent1"/>
                          </a:solidFill>
                          <a:effectLst/>
                          <a:latin typeface="+mn-lt"/>
                          <a:ea typeface="+mn-ea"/>
                          <a:cs typeface="+mn-cs"/>
                        </a:rPr>
                        <a:t>Local Variable O&amp;M Price (Taka/kWh)</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0">
                <a:tc>
                  <a:txBody>
                    <a:bodyPr/>
                    <a:lstStyle/>
                    <a:p>
                      <a:pPr algn="r" fontAlgn="ctr"/>
                      <a:r>
                        <a:rPr lang="en-IN" sz="900" b="0" i="0" u="none" strike="noStrike" dirty="0">
                          <a:solidFill>
                            <a:srgbClr val="000000"/>
                          </a:solidFill>
                          <a:effectLst/>
                          <a:latin typeface="+mn-lt"/>
                        </a:rPr>
                        <a:t>1</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mn-lt"/>
                        </a:rPr>
                        <a:t>11.920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lang="en-US" sz="900" b="0" i="0" u="none" strike="noStrike" dirty="0">
                          <a:solidFill>
                            <a:srgbClr val="000000"/>
                          </a:solidFill>
                          <a:effectLst/>
                          <a:latin typeface="+mn-lt"/>
                        </a:rPr>
                        <a:t>1.4839</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lang="en-US" sz="900" b="0" i="0" u="none" strike="noStrike" dirty="0">
                          <a:solidFill>
                            <a:srgbClr val="000000"/>
                          </a:solidFill>
                          <a:effectLst/>
                          <a:latin typeface="+mn-lt"/>
                        </a:rPr>
                        <a:t> 33.0000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lang="en-US" sz="900" b="0" i="0" u="none" strike="noStrike" dirty="0">
                          <a:solidFill>
                            <a:srgbClr val="000000"/>
                          </a:solidFill>
                          <a:effectLst/>
                          <a:latin typeface="+mn-lt"/>
                        </a:rPr>
                        <a:t>0.0003</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lang="en-US" sz="900" b="0" i="0" u="none" strike="noStrike" dirty="0">
                          <a:solidFill>
                            <a:srgbClr val="000000"/>
                          </a:solidFill>
                          <a:effectLst/>
                          <a:latin typeface="+mn-lt"/>
                        </a:rPr>
                        <a:t>0.0032</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3411289822"/>
                  </a:ext>
                </a:extLst>
              </a:tr>
              <a:tr h="0">
                <a:tc>
                  <a:txBody>
                    <a:bodyPr/>
                    <a:lstStyle/>
                    <a:p>
                      <a:pPr algn="r" fontAlgn="ctr"/>
                      <a:r>
                        <a:rPr lang="en-IN" sz="900" b="0" i="0" u="none" strike="noStrike" dirty="0">
                          <a:solidFill>
                            <a:srgbClr val="000000"/>
                          </a:solidFill>
                          <a:effectLst/>
                          <a:latin typeface="+mn-lt"/>
                        </a:rPr>
                        <a:t>2</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11.920</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1.4839</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33.0000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0.0032</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2826985262"/>
                  </a:ext>
                </a:extLst>
              </a:tr>
              <a:tr h="0">
                <a:tc>
                  <a:txBody>
                    <a:bodyPr/>
                    <a:lstStyle/>
                    <a:p>
                      <a:pPr algn="r" fontAlgn="ctr"/>
                      <a:r>
                        <a:rPr lang="en-IN" sz="900" b="0" i="0" u="none" strike="noStrike" dirty="0">
                          <a:solidFill>
                            <a:srgbClr val="000000"/>
                          </a:solidFill>
                          <a:effectLst/>
                          <a:latin typeface="+mn-lt"/>
                        </a:rPr>
                        <a:t>3</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11.920</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1.4839</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33.0000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0.0032</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2318831079"/>
                  </a:ext>
                </a:extLst>
              </a:tr>
              <a:tr h="0">
                <a:tc>
                  <a:txBody>
                    <a:bodyPr/>
                    <a:lstStyle/>
                    <a:p>
                      <a:pPr algn="r" fontAlgn="ctr"/>
                      <a:r>
                        <a:rPr lang="en-IN" sz="900" b="0" i="0" u="none" strike="noStrike" dirty="0">
                          <a:solidFill>
                            <a:srgbClr val="000000"/>
                          </a:solidFill>
                          <a:effectLst/>
                          <a:latin typeface="+mn-lt"/>
                        </a:rPr>
                        <a:t>4</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11.920</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1.4839</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33.0000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0.0032</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952061644"/>
                  </a:ext>
                </a:extLst>
              </a:tr>
              <a:tr h="0">
                <a:tc>
                  <a:txBody>
                    <a:bodyPr/>
                    <a:lstStyle/>
                    <a:p>
                      <a:pPr algn="r" fontAlgn="ctr"/>
                      <a:r>
                        <a:rPr lang="en-IN" sz="900" b="0" i="0" u="none" strike="noStrike" dirty="0">
                          <a:solidFill>
                            <a:srgbClr val="000000"/>
                          </a:solidFill>
                          <a:effectLst/>
                          <a:latin typeface="+mn-lt"/>
                        </a:rPr>
                        <a:t>5</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11.920</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1.4839</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33.0000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0.0032</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1238706706"/>
                  </a:ext>
                </a:extLst>
              </a:tr>
              <a:tr h="0">
                <a:tc>
                  <a:txBody>
                    <a:bodyPr/>
                    <a:lstStyle/>
                    <a:p>
                      <a:pPr algn="r" fontAlgn="ctr"/>
                      <a:r>
                        <a:rPr lang="en-IN" sz="900" b="0" i="0" u="none" strike="noStrike" dirty="0">
                          <a:solidFill>
                            <a:srgbClr val="000000"/>
                          </a:solidFill>
                          <a:effectLst/>
                          <a:latin typeface="+mn-lt"/>
                        </a:rPr>
                        <a:t>6</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11.920</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1.4839</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33.0000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0.0032</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1014207269"/>
                  </a:ext>
                </a:extLst>
              </a:tr>
              <a:tr h="0">
                <a:tc>
                  <a:txBody>
                    <a:bodyPr/>
                    <a:lstStyle/>
                    <a:p>
                      <a:pPr algn="r" fontAlgn="ctr"/>
                      <a:r>
                        <a:rPr lang="en-IN" sz="900" b="0" i="0" u="none" strike="noStrike" dirty="0">
                          <a:solidFill>
                            <a:srgbClr val="000000"/>
                          </a:solidFill>
                          <a:effectLst/>
                          <a:latin typeface="+mn-lt"/>
                        </a:rPr>
                        <a:t>7</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11.920</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1.4839</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33.0000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0.0032</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3677488901"/>
                  </a:ext>
                </a:extLst>
              </a:tr>
              <a:tr h="0">
                <a:tc>
                  <a:txBody>
                    <a:bodyPr/>
                    <a:lstStyle/>
                    <a:p>
                      <a:pPr algn="r" fontAlgn="ctr"/>
                      <a:r>
                        <a:rPr lang="en-IN" sz="900" b="0" i="0" u="none" strike="noStrike" dirty="0">
                          <a:solidFill>
                            <a:srgbClr val="000000"/>
                          </a:solidFill>
                          <a:effectLst/>
                          <a:latin typeface="+mn-lt"/>
                        </a:rPr>
                        <a:t>8</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11.920</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1.4839</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33.0000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0.0032</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10420692"/>
                  </a:ext>
                </a:extLst>
              </a:tr>
              <a:tr h="0">
                <a:tc>
                  <a:txBody>
                    <a:bodyPr/>
                    <a:lstStyle/>
                    <a:p>
                      <a:pPr algn="r" fontAlgn="ctr"/>
                      <a:r>
                        <a:rPr lang="en-IN" sz="900" b="0" i="0" u="none" strike="noStrike" dirty="0">
                          <a:solidFill>
                            <a:srgbClr val="000000"/>
                          </a:solidFill>
                          <a:effectLst/>
                          <a:latin typeface="+mn-lt"/>
                        </a:rPr>
                        <a:t>9</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11.920</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1.4839</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33.0000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0.0032</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1021988146"/>
                  </a:ext>
                </a:extLst>
              </a:tr>
              <a:tr h="0">
                <a:tc>
                  <a:txBody>
                    <a:bodyPr/>
                    <a:lstStyle/>
                    <a:p>
                      <a:pPr algn="r" fontAlgn="ctr"/>
                      <a:r>
                        <a:rPr lang="en-IN" sz="900" b="0" i="0" u="none" strike="noStrike" dirty="0">
                          <a:solidFill>
                            <a:srgbClr val="000000"/>
                          </a:solidFill>
                          <a:effectLst/>
                          <a:latin typeface="+mn-lt"/>
                        </a:rPr>
                        <a:t>10</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lang="en-US" sz="900" b="0" i="0" u="none" strike="noStrike" dirty="0">
                          <a:solidFill>
                            <a:srgbClr val="000000"/>
                          </a:solidFill>
                          <a:effectLst/>
                          <a:latin typeface="+mn-lt"/>
                        </a:rPr>
                        <a:t>11.920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1.4839</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33.0000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0.0032</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1237682244"/>
                  </a:ext>
                </a:extLst>
              </a:tr>
              <a:tr h="0">
                <a:tc>
                  <a:txBody>
                    <a:bodyPr/>
                    <a:lstStyle/>
                    <a:p>
                      <a:pPr algn="r" fontAlgn="ctr"/>
                      <a:r>
                        <a:rPr lang="en-IN" sz="900" b="0" i="0" u="none" strike="noStrike" dirty="0">
                          <a:solidFill>
                            <a:srgbClr val="000000"/>
                          </a:solidFill>
                          <a:effectLst/>
                          <a:latin typeface="+mn-lt"/>
                        </a:rPr>
                        <a:t>11</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mn-lt"/>
                        </a:rPr>
                        <a:t>7.7020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1.4839</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33.0000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0.0032</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2768004266"/>
                  </a:ext>
                </a:extLst>
              </a:tr>
              <a:tr h="0">
                <a:tc>
                  <a:txBody>
                    <a:bodyPr/>
                    <a:lstStyle/>
                    <a:p>
                      <a:pPr algn="r" fontAlgn="ctr"/>
                      <a:r>
                        <a:rPr lang="en-IN" sz="900" b="0" i="0" u="none" strike="noStrike" dirty="0">
                          <a:solidFill>
                            <a:srgbClr val="000000"/>
                          </a:solidFill>
                          <a:effectLst/>
                          <a:latin typeface="+mn-lt"/>
                        </a:rPr>
                        <a:t>12</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7.7020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1.4839</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33.0000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0.0032</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61599379"/>
                  </a:ext>
                </a:extLst>
              </a:tr>
              <a:tr h="0">
                <a:tc>
                  <a:txBody>
                    <a:bodyPr/>
                    <a:lstStyle/>
                    <a:p>
                      <a:pPr algn="r" fontAlgn="ctr"/>
                      <a:r>
                        <a:rPr lang="en-IN" sz="900" b="0" i="0" u="none" strike="noStrike" dirty="0">
                          <a:solidFill>
                            <a:srgbClr val="000000"/>
                          </a:solidFill>
                          <a:effectLst/>
                          <a:latin typeface="+mn-lt"/>
                        </a:rPr>
                        <a:t>13</a:t>
                      </a: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7.7020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1.4839</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33.0000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0.0032</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2242971646"/>
                  </a:ext>
                </a:extLst>
              </a:tr>
              <a:tr h="0">
                <a:tc>
                  <a:txBody>
                    <a:bodyPr/>
                    <a:lstStyle/>
                    <a:p>
                      <a:pPr algn="r" fontAlgn="ctr"/>
                      <a:r>
                        <a:rPr lang="en-IN" sz="900" b="0" i="0" u="none" strike="noStrike" dirty="0">
                          <a:solidFill>
                            <a:srgbClr val="000000"/>
                          </a:solidFill>
                          <a:effectLst/>
                          <a:latin typeface="+mn-lt"/>
                        </a:rPr>
                        <a:t>14</a:t>
                      </a: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7.7020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1.4839</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33.0000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0.0032</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1923727616"/>
                  </a:ext>
                </a:extLst>
              </a:tr>
              <a:tr h="0">
                <a:tc>
                  <a:txBody>
                    <a:bodyPr/>
                    <a:lstStyle/>
                    <a:p>
                      <a:pPr algn="r" fontAlgn="ctr"/>
                      <a:r>
                        <a:rPr lang="en-IN" sz="900" b="0" i="0" u="none" strike="noStrike" dirty="0">
                          <a:solidFill>
                            <a:srgbClr val="000000"/>
                          </a:solidFill>
                          <a:effectLst/>
                          <a:latin typeface="+mn-lt"/>
                        </a:rPr>
                        <a:t>15</a:t>
                      </a: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7.7020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1.4839</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33.0000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0.0032</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2451436597"/>
                  </a:ext>
                </a:extLst>
              </a:tr>
              <a:tr h="0">
                <a:tc>
                  <a:txBody>
                    <a:bodyPr/>
                    <a:lstStyle/>
                    <a:p>
                      <a:pPr algn="r" fontAlgn="ctr"/>
                      <a:r>
                        <a:rPr lang="en-US" sz="900" b="0" i="0" u="none" strike="noStrike" dirty="0">
                          <a:solidFill>
                            <a:srgbClr val="000000"/>
                          </a:solidFill>
                          <a:effectLst/>
                          <a:latin typeface="+mn-lt"/>
                        </a:rPr>
                        <a:t>16</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7.7020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1.4839</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33.0000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0.0032</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2104531326"/>
                  </a:ext>
                </a:extLst>
              </a:tr>
              <a:tr h="0">
                <a:tc>
                  <a:txBody>
                    <a:bodyPr/>
                    <a:lstStyle/>
                    <a:p>
                      <a:pPr algn="r" fontAlgn="ctr"/>
                      <a:r>
                        <a:rPr lang="en-US" sz="900" b="0" i="0" u="none" strike="noStrike" dirty="0">
                          <a:solidFill>
                            <a:srgbClr val="000000"/>
                          </a:solidFill>
                          <a:effectLst/>
                          <a:latin typeface="+mn-lt"/>
                        </a:rPr>
                        <a:t>17</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7.7020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1.4839</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33.0000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0.0032</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2623940667"/>
                  </a:ext>
                </a:extLst>
              </a:tr>
              <a:tr h="0">
                <a:tc>
                  <a:txBody>
                    <a:bodyPr/>
                    <a:lstStyle/>
                    <a:p>
                      <a:pPr algn="r" fontAlgn="ctr"/>
                      <a:r>
                        <a:rPr lang="en-US" sz="900" b="0" i="0" u="none" strike="noStrike" dirty="0">
                          <a:solidFill>
                            <a:srgbClr val="000000"/>
                          </a:solidFill>
                          <a:effectLst/>
                          <a:latin typeface="+mn-lt"/>
                        </a:rPr>
                        <a:t>18</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7.7020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1.4839</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33.0000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0.0032</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3976061058"/>
                  </a:ext>
                </a:extLst>
              </a:tr>
              <a:tr h="0">
                <a:tc>
                  <a:txBody>
                    <a:bodyPr/>
                    <a:lstStyle/>
                    <a:p>
                      <a:pPr algn="r" fontAlgn="ctr"/>
                      <a:r>
                        <a:rPr lang="en-US" sz="900" b="0" i="0" u="none" strike="noStrike" dirty="0">
                          <a:solidFill>
                            <a:srgbClr val="000000"/>
                          </a:solidFill>
                          <a:effectLst/>
                          <a:latin typeface="+mn-lt"/>
                        </a:rPr>
                        <a:t>19</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7.7020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1.4839</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33.0000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0.0032</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732221825"/>
                  </a:ext>
                </a:extLst>
              </a:tr>
              <a:tr h="0">
                <a:tc>
                  <a:txBody>
                    <a:bodyPr/>
                    <a:lstStyle/>
                    <a:p>
                      <a:pPr algn="r" fontAlgn="ctr"/>
                      <a:r>
                        <a:rPr lang="en-US" sz="900" b="0" i="0" u="none" strike="noStrike" dirty="0">
                          <a:solidFill>
                            <a:srgbClr val="000000"/>
                          </a:solidFill>
                          <a:effectLst/>
                          <a:latin typeface="+mn-lt"/>
                        </a:rPr>
                        <a:t>20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7.7020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1.4839</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33.0000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0.0032</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2147162693"/>
                  </a:ext>
                </a:extLst>
              </a:tr>
              <a:tr h="0">
                <a:tc>
                  <a:txBody>
                    <a:bodyPr/>
                    <a:lstStyle/>
                    <a:p>
                      <a:pPr algn="r" fontAlgn="ctr"/>
                      <a:r>
                        <a:rPr lang="en-US" sz="900" b="0" i="0" u="none" strike="noStrike" dirty="0">
                          <a:solidFill>
                            <a:srgbClr val="000000"/>
                          </a:solidFill>
                          <a:effectLst/>
                          <a:latin typeface="+mn-lt"/>
                        </a:rPr>
                        <a:t>21</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7.7020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1.4839</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33.0000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0.0032</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3090123520"/>
                  </a:ext>
                </a:extLst>
              </a:tr>
              <a:tr h="0">
                <a:tc>
                  <a:txBody>
                    <a:bodyPr/>
                    <a:lstStyle/>
                    <a:p>
                      <a:pPr algn="r" fontAlgn="ctr"/>
                      <a:r>
                        <a:rPr lang="en-US" sz="900" b="0" i="0" u="none" strike="noStrike" dirty="0">
                          <a:solidFill>
                            <a:srgbClr val="000000"/>
                          </a:solidFill>
                          <a:effectLst/>
                          <a:latin typeface="+mn-lt"/>
                        </a:rPr>
                        <a:t>22</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7.7020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1.4839</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33.0000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0.0032</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1463259926"/>
                  </a:ext>
                </a:extLst>
              </a:tr>
            </a:tbl>
          </a:graphicData>
        </a:graphic>
      </p:graphicFrame>
      <p:sp>
        <p:nvSpPr>
          <p:cNvPr id="5" name="Rectangle 4"/>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PPA, Deloitte Analysis</a:t>
            </a:r>
          </a:p>
        </p:txBody>
      </p:sp>
    </p:spTree>
    <p:extLst>
      <p:ext uri="{BB962C8B-B14F-4D97-AF65-F5344CB8AC3E}">
        <p14:creationId xmlns:p14="http://schemas.microsoft.com/office/powerpoint/2010/main" val="262150176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Strapline"/>
          <p:cNvSpPr>
            <a:spLocks noGrp="1"/>
          </p:cNvSpPr>
          <p:nvPr>
            <p:ph type="body" sz="quarter" idx="13"/>
          </p:nvPr>
        </p:nvSpPr>
        <p:spPr>
          <a:xfrm>
            <a:off x="449993" y="1079983"/>
            <a:ext cx="9791843" cy="518392"/>
          </a:xfrm>
        </p:spPr>
        <p:txBody>
          <a:bodyPr lIns="0" tIns="0" rIns="0" bIns="0" anchor="t">
            <a:noAutofit/>
          </a:bodyPr>
          <a:lstStyle/>
          <a:p>
            <a:r>
              <a:rPr lang="en-US" b="1" dirty="0">
                <a:solidFill>
                  <a:schemeClr val="tx1">
                    <a:lumMod val="50000"/>
                    <a:lumOff val="50000"/>
                  </a:schemeClr>
                </a:solidFill>
                <a:latin typeface="Verdana" panose="020B0604030504040204" pitchFamily="34" charset="0"/>
              </a:rPr>
              <a:t>Reference Tariff Schedule – Fuel Operations </a:t>
            </a:r>
          </a:p>
          <a:p>
            <a:endParaRPr lang="en-GB" b="1" dirty="0">
              <a:solidFill>
                <a:schemeClr val="tx1">
                  <a:lumMod val="50000"/>
                  <a:lumOff val="50000"/>
                </a:schemeClr>
              </a:solidFill>
              <a:latin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dirty="0">
                <a:solidFill>
                  <a:srgbClr val="000000"/>
                </a:solidFill>
                <a:latin typeface="Verdana" panose="020B0604030504040204" pitchFamily="34" charset="0"/>
              </a:rPr>
              <a:t>Power Purchase Agreement | Salient Features</a:t>
            </a:r>
            <a:endParaRPr lang="en-GB" noProof="0" dirty="0">
              <a:solidFill>
                <a:srgbClr val="000000"/>
              </a:solidFill>
              <a:latin typeface="Verdana" panose="020B0604030504040204" pitchFamily="34" charset="0"/>
            </a:endParaRPr>
          </a:p>
        </p:txBody>
      </p:sp>
      <p:graphicFrame>
        <p:nvGraphicFramePr>
          <p:cNvPr id="21" name="Table 20"/>
          <p:cNvGraphicFramePr>
            <a:graphicFrameLocks noGrp="1"/>
          </p:cNvGraphicFramePr>
          <p:nvPr>
            <p:custDataLst>
              <p:tags r:id="rId1"/>
            </p:custDataLst>
            <p:extLst>
              <p:ext uri="{D42A27DB-BD31-4B8C-83A1-F6EECF244321}">
                <p14:modId xmlns:p14="http://schemas.microsoft.com/office/powerpoint/2010/main" val="3242066367"/>
              </p:ext>
            </p:extLst>
          </p:nvPr>
        </p:nvGraphicFramePr>
        <p:xfrm>
          <a:off x="445637" y="1694623"/>
          <a:ext cx="9658103" cy="5394960"/>
        </p:xfrm>
        <a:graphic>
          <a:graphicData uri="http://schemas.openxmlformats.org/drawingml/2006/table">
            <a:tbl>
              <a:tblPr>
                <a:tableStyleId>{5C22544A-7EE6-4342-B048-85BDC9FD1C3A}</a:tableStyleId>
              </a:tblPr>
              <a:tblGrid>
                <a:gridCol w="677485">
                  <a:extLst>
                    <a:ext uri="{9D8B030D-6E8A-4147-A177-3AD203B41FA5}">
                      <a16:colId xmlns:a16="http://schemas.microsoft.com/office/drawing/2014/main" val="725993939"/>
                    </a:ext>
                  </a:extLst>
                </a:gridCol>
                <a:gridCol w="1760506">
                  <a:extLst>
                    <a:ext uri="{9D8B030D-6E8A-4147-A177-3AD203B41FA5}">
                      <a16:colId xmlns:a16="http://schemas.microsoft.com/office/drawing/2014/main" val="3555621483"/>
                    </a:ext>
                  </a:extLst>
                </a:gridCol>
                <a:gridCol w="1805028">
                  <a:extLst>
                    <a:ext uri="{9D8B030D-6E8A-4147-A177-3AD203B41FA5}">
                      <a16:colId xmlns:a16="http://schemas.microsoft.com/office/drawing/2014/main" val="4193530369"/>
                    </a:ext>
                  </a:extLst>
                </a:gridCol>
                <a:gridCol w="1805028">
                  <a:extLst>
                    <a:ext uri="{9D8B030D-6E8A-4147-A177-3AD203B41FA5}">
                      <a16:colId xmlns:a16="http://schemas.microsoft.com/office/drawing/2014/main" val="8313366"/>
                    </a:ext>
                  </a:extLst>
                </a:gridCol>
                <a:gridCol w="1805028">
                  <a:extLst>
                    <a:ext uri="{9D8B030D-6E8A-4147-A177-3AD203B41FA5}">
                      <a16:colId xmlns:a16="http://schemas.microsoft.com/office/drawing/2014/main" val="3906966749"/>
                    </a:ext>
                  </a:extLst>
                </a:gridCol>
                <a:gridCol w="1805028">
                  <a:extLst>
                    <a:ext uri="{9D8B030D-6E8A-4147-A177-3AD203B41FA5}">
                      <a16:colId xmlns:a16="http://schemas.microsoft.com/office/drawing/2014/main" val="3693536966"/>
                    </a:ext>
                  </a:extLst>
                </a:gridCol>
              </a:tblGrid>
              <a:tr h="0">
                <a:tc>
                  <a:txBody>
                    <a:bodyPr/>
                    <a:lstStyle/>
                    <a:p>
                      <a:pPr algn="r" fontAlgn="ctr"/>
                      <a:r>
                        <a:rPr lang="en-IN" sz="900" b="1" i="0" u="none" strike="noStrike" dirty="0">
                          <a:solidFill>
                            <a:schemeClr val="accent1"/>
                          </a:solidFill>
                          <a:effectLst/>
                          <a:latin typeface="+mj-lt"/>
                        </a:rPr>
                        <a:t>Contract Year</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ctr" fontAlgn="ctr"/>
                      <a:r>
                        <a:rPr lang="en-US" sz="900" b="1" i="0" u="none" strike="noStrike" dirty="0">
                          <a:solidFill>
                            <a:schemeClr val="accent1"/>
                          </a:solidFill>
                          <a:effectLst/>
                          <a:latin typeface="+mj-lt"/>
                        </a:rPr>
                        <a:t>Non Escalable Capacity Price (USD/kW-Month)</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ctr" fontAlgn="ctr"/>
                      <a:r>
                        <a:rPr lang="en-US" sz="900" b="1" i="0" u="none" strike="noStrike" kern="1200" dirty="0">
                          <a:solidFill>
                            <a:schemeClr val="accent1"/>
                          </a:solidFill>
                          <a:effectLst/>
                          <a:latin typeface="+mn-lt"/>
                          <a:ea typeface="+mn-ea"/>
                          <a:cs typeface="+mn-cs"/>
                        </a:rPr>
                        <a:t>Foreign Escalable Capacity Price (USD/kW-Month)</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ctr" fontAlgn="ctr"/>
                      <a:r>
                        <a:rPr lang="en-US" sz="900" b="1" i="0" u="none" strike="noStrike" kern="1200" dirty="0">
                          <a:solidFill>
                            <a:schemeClr val="accent1"/>
                          </a:solidFill>
                          <a:effectLst/>
                          <a:latin typeface="+mn-lt"/>
                          <a:ea typeface="+mn-ea"/>
                          <a:cs typeface="+mn-cs"/>
                        </a:rPr>
                        <a:t>Local Escalable Capacity Price (Taka/kW-Month)</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ctr" fontAlgn="ctr"/>
                      <a:r>
                        <a:rPr lang="en-US" sz="900" b="1" i="0" u="none" strike="noStrike" kern="1200" dirty="0">
                          <a:solidFill>
                            <a:schemeClr val="accent1"/>
                          </a:solidFill>
                          <a:effectLst/>
                          <a:latin typeface="+mn-lt"/>
                          <a:ea typeface="+mn-ea"/>
                          <a:cs typeface="+mn-cs"/>
                        </a:rPr>
                        <a:t>Foreign Variable O&amp;M Price (USD/kWh)</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ctr" fontAlgn="ctr"/>
                      <a:r>
                        <a:rPr lang="en-US" sz="900" b="1" i="0" u="none" strike="noStrike" kern="1200" dirty="0">
                          <a:solidFill>
                            <a:schemeClr val="accent1"/>
                          </a:solidFill>
                          <a:effectLst/>
                          <a:latin typeface="+mn-lt"/>
                          <a:ea typeface="+mn-ea"/>
                          <a:cs typeface="+mn-cs"/>
                        </a:rPr>
                        <a:t>Local Variable O&amp;M Price (Taka/kWh)</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0">
                <a:tc>
                  <a:txBody>
                    <a:bodyPr/>
                    <a:lstStyle/>
                    <a:p>
                      <a:pPr algn="r" fontAlgn="ctr"/>
                      <a:r>
                        <a:rPr lang="en-IN" sz="900" b="0" i="0" u="none" strike="noStrike" dirty="0">
                          <a:solidFill>
                            <a:srgbClr val="000000"/>
                          </a:solidFill>
                          <a:effectLst/>
                          <a:latin typeface="+mn-lt"/>
                        </a:rPr>
                        <a:t>1</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mn-lt"/>
                        </a:rPr>
                        <a:t>13.2200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lang="en-US" sz="900" b="0" i="0" u="none" strike="noStrike" dirty="0">
                          <a:solidFill>
                            <a:srgbClr val="000000"/>
                          </a:solidFill>
                          <a:effectLst/>
                          <a:latin typeface="+mn-lt"/>
                        </a:rPr>
                        <a:t>2.1568</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lang="en-US" sz="900" b="0" i="0" u="none" strike="noStrike" dirty="0">
                          <a:solidFill>
                            <a:srgbClr val="000000"/>
                          </a:solidFill>
                          <a:effectLst/>
                          <a:latin typeface="+mn-lt"/>
                        </a:rPr>
                        <a:t>39.9440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lang="en-US" sz="900" b="0" i="0" u="none" strike="noStrike" dirty="0">
                          <a:solidFill>
                            <a:srgbClr val="000000"/>
                          </a:solidFill>
                          <a:effectLst/>
                          <a:latin typeface="+mn-lt"/>
                        </a:rPr>
                        <a:t>0.0003</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lang="en-US" sz="900" b="0" i="0" u="none" strike="noStrike" dirty="0">
                          <a:solidFill>
                            <a:srgbClr val="000000"/>
                          </a:solidFill>
                          <a:effectLst/>
                          <a:latin typeface="+mn-lt"/>
                        </a:rPr>
                        <a:t>0.0034</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3411289822"/>
                  </a:ext>
                </a:extLst>
              </a:tr>
              <a:tr h="0">
                <a:tc>
                  <a:txBody>
                    <a:bodyPr/>
                    <a:lstStyle/>
                    <a:p>
                      <a:pPr algn="r" fontAlgn="ctr"/>
                      <a:r>
                        <a:rPr lang="en-IN" sz="900" b="0" i="0" u="none" strike="noStrike" dirty="0">
                          <a:solidFill>
                            <a:srgbClr val="000000"/>
                          </a:solidFill>
                          <a:effectLst/>
                          <a:latin typeface="+mn-lt"/>
                        </a:rPr>
                        <a:t>2</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13.2200</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2.1568</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39.9440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0.0034</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2826985262"/>
                  </a:ext>
                </a:extLst>
              </a:tr>
              <a:tr h="0">
                <a:tc>
                  <a:txBody>
                    <a:bodyPr/>
                    <a:lstStyle/>
                    <a:p>
                      <a:pPr algn="r" fontAlgn="ctr"/>
                      <a:r>
                        <a:rPr lang="en-IN" sz="900" b="0" i="0" u="none" strike="noStrike" dirty="0">
                          <a:solidFill>
                            <a:srgbClr val="000000"/>
                          </a:solidFill>
                          <a:effectLst/>
                          <a:latin typeface="+mn-lt"/>
                        </a:rPr>
                        <a:t>3</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13.2200</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2.1568</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39.9440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0.0034</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2318831079"/>
                  </a:ext>
                </a:extLst>
              </a:tr>
              <a:tr h="0">
                <a:tc>
                  <a:txBody>
                    <a:bodyPr/>
                    <a:lstStyle/>
                    <a:p>
                      <a:pPr algn="r" fontAlgn="ctr"/>
                      <a:r>
                        <a:rPr lang="en-IN" sz="900" b="0" i="0" u="none" strike="noStrike" dirty="0">
                          <a:solidFill>
                            <a:srgbClr val="000000"/>
                          </a:solidFill>
                          <a:effectLst/>
                          <a:latin typeface="+mn-lt"/>
                        </a:rPr>
                        <a:t>4</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13.2200</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2.1568</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39.9440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0.0034</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952061644"/>
                  </a:ext>
                </a:extLst>
              </a:tr>
              <a:tr h="0">
                <a:tc>
                  <a:txBody>
                    <a:bodyPr/>
                    <a:lstStyle/>
                    <a:p>
                      <a:pPr algn="r" fontAlgn="ctr"/>
                      <a:r>
                        <a:rPr lang="en-IN" sz="900" b="0" i="0" u="none" strike="noStrike" dirty="0">
                          <a:solidFill>
                            <a:srgbClr val="000000"/>
                          </a:solidFill>
                          <a:effectLst/>
                          <a:latin typeface="+mn-lt"/>
                        </a:rPr>
                        <a:t>5</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13.2200</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2.1568</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39.9440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0.0034</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1238706706"/>
                  </a:ext>
                </a:extLst>
              </a:tr>
              <a:tr h="0">
                <a:tc>
                  <a:txBody>
                    <a:bodyPr/>
                    <a:lstStyle/>
                    <a:p>
                      <a:pPr algn="r" fontAlgn="ctr"/>
                      <a:r>
                        <a:rPr lang="en-IN" sz="900" b="0" i="0" u="none" strike="noStrike" dirty="0">
                          <a:solidFill>
                            <a:srgbClr val="000000"/>
                          </a:solidFill>
                          <a:effectLst/>
                          <a:latin typeface="+mn-lt"/>
                        </a:rPr>
                        <a:t>6</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13.2200</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2.1568</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39.9440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0.0034</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1014207269"/>
                  </a:ext>
                </a:extLst>
              </a:tr>
              <a:tr h="0">
                <a:tc>
                  <a:txBody>
                    <a:bodyPr/>
                    <a:lstStyle/>
                    <a:p>
                      <a:pPr algn="r" fontAlgn="ctr"/>
                      <a:r>
                        <a:rPr lang="en-IN" sz="900" b="0" i="0" u="none" strike="noStrike" dirty="0">
                          <a:solidFill>
                            <a:srgbClr val="000000"/>
                          </a:solidFill>
                          <a:effectLst/>
                          <a:latin typeface="+mn-lt"/>
                        </a:rPr>
                        <a:t>7</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13.2200</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2.1568</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39.9440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0.0034</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3677488901"/>
                  </a:ext>
                </a:extLst>
              </a:tr>
              <a:tr h="0">
                <a:tc>
                  <a:txBody>
                    <a:bodyPr/>
                    <a:lstStyle/>
                    <a:p>
                      <a:pPr algn="r" fontAlgn="ctr"/>
                      <a:r>
                        <a:rPr lang="en-IN" sz="900" b="0" i="0" u="none" strike="noStrike" dirty="0">
                          <a:solidFill>
                            <a:srgbClr val="000000"/>
                          </a:solidFill>
                          <a:effectLst/>
                          <a:latin typeface="+mn-lt"/>
                        </a:rPr>
                        <a:t>8</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13.2200</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2.1568</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39.9440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0.0034</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10420692"/>
                  </a:ext>
                </a:extLst>
              </a:tr>
              <a:tr h="0">
                <a:tc>
                  <a:txBody>
                    <a:bodyPr/>
                    <a:lstStyle/>
                    <a:p>
                      <a:pPr algn="r" fontAlgn="ctr"/>
                      <a:r>
                        <a:rPr lang="en-IN" sz="900" b="0" i="0" u="none" strike="noStrike" dirty="0">
                          <a:solidFill>
                            <a:srgbClr val="000000"/>
                          </a:solidFill>
                          <a:effectLst/>
                          <a:latin typeface="+mn-lt"/>
                        </a:rPr>
                        <a:t>9</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13.2200</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2.1568</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39.9440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0.0034</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1021988146"/>
                  </a:ext>
                </a:extLst>
              </a:tr>
              <a:tr h="0">
                <a:tc>
                  <a:txBody>
                    <a:bodyPr/>
                    <a:lstStyle/>
                    <a:p>
                      <a:pPr algn="r" fontAlgn="ctr"/>
                      <a:r>
                        <a:rPr lang="en-IN" sz="900" b="0" i="0" u="none" strike="noStrike" dirty="0">
                          <a:solidFill>
                            <a:srgbClr val="000000"/>
                          </a:solidFill>
                          <a:effectLst/>
                          <a:latin typeface="+mn-lt"/>
                        </a:rPr>
                        <a:t>10</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13.2200</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2.1568</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39.9440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0.0034</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1237682244"/>
                  </a:ext>
                </a:extLst>
              </a:tr>
              <a:tr h="0">
                <a:tc>
                  <a:txBody>
                    <a:bodyPr/>
                    <a:lstStyle/>
                    <a:p>
                      <a:pPr algn="r" fontAlgn="ctr"/>
                      <a:r>
                        <a:rPr lang="en-IN" sz="900" b="0" i="0" u="none" strike="noStrike" dirty="0">
                          <a:solidFill>
                            <a:srgbClr val="000000"/>
                          </a:solidFill>
                          <a:effectLst/>
                          <a:latin typeface="+mn-lt"/>
                        </a:rPr>
                        <a:t>11</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mn-lt"/>
                        </a:rPr>
                        <a:t>10.6700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2.1568</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39.9440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0.0034</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2768004266"/>
                  </a:ext>
                </a:extLst>
              </a:tr>
              <a:tr h="0">
                <a:tc>
                  <a:txBody>
                    <a:bodyPr/>
                    <a:lstStyle/>
                    <a:p>
                      <a:pPr algn="r" fontAlgn="ctr"/>
                      <a:r>
                        <a:rPr lang="en-IN" sz="900" b="0" i="0" u="none" strike="noStrike" dirty="0">
                          <a:solidFill>
                            <a:srgbClr val="000000"/>
                          </a:solidFill>
                          <a:effectLst/>
                          <a:latin typeface="+mn-lt"/>
                        </a:rPr>
                        <a:t>12</a:t>
                      </a: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10.6700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2.1568</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39.9440</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0.0034</a:t>
                      </a:r>
                      <a:endParaRPr lang="en-IN" sz="900" b="0" i="0" u="none" strike="noStrike" dirty="0">
                        <a:solidFill>
                          <a:srgbClr val="000000"/>
                        </a:solidFill>
                        <a:effectLst/>
                        <a:latin typeface="+mn-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61599379"/>
                  </a:ext>
                </a:extLst>
              </a:tr>
              <a:tr h="0">
                <a:tc>
                  <a:txBody>
                    <a:bodyPr/>
                    <a:lstStyle/>
                    <a:p>
                      <a:pPr algn="r" fontAlgn="ctr"/>
                      <a:r>
                        <a:rPr lang="en-IN" sz="900" b="0" i="0" u="none" strike="noStrike" dirty="0">
                          <a:solidFill>
                            <a:srgbClr val="000000"/>
                          </a:solidFill>
                          <a:effectLst/>
                          <a:latin typeface="+mn-lt"/>
                        </a:rPr>
                        <a:t>13</a:t>
                      </a: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10.6700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2.1568</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39.9440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0.0034</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2242971646"/>
                  </a:ext>
                </a:extLst>
              </a:tr>
              <a:tr h="0">
                <a:tc>
                  <a:txBody>
                    <a:bodyPr/>
                    <a:lstStyle/>
                    <a:p>
                      <a:pPr algn="r" fontAlgn="ctr"/>
                      <a:r>
                        <a:rPr lang="en-IN" sz="900" b="0" i="0" u="none" strike="noStrike" dirty="0">
                          <a:solidFill>
                            <a:srgbClr val="000000"/>
                          </a:solidFill>
                          <a:effectLst/>
                          <a:latin typeface="+mn-lt"/>
                        </a:rPr>
                        <a:t>14</a:t>
                      </a: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10.6700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2.1568</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39.9440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0.0034</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1923727616"/>
                  </a:ext>
                </a:extLst>
              </a:tr>
              <a:tr h="0">
                <a:tc>
                  <a:txBody>
                    <a:bodyPr/>
                    <a:lstStyle/>
                    <a:p>
                      <a:pPr algn="r" fontAlgn="ctr"/>
                      <a:r>
                        <a:rPr lang="en-IN" sz="900" b="0" i="0" u="none" strike="noStrike" dirty="0">
                          <a:solidFill>
                            <a:srgbClr val="000000"/>
                          </a:solidFill>
                          <a:effectLst/>
                          <a:latin typeface="+mn-lt"/>
                        </a:rPr>
                        <a:t>15</a:t>
                      </a: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10.6700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2.1568</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39.9440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0.0034</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2451436597"/>
                  </a:ext>
                </a:extLst>
              </a:tr>
              <a:tr h="0">
                <a:tc>
                  <a:txBody>
                    <a:bodyPr/>
                    <a:lstStyle/>
                    <a:p>
                      <a:pPr algn="r" fontAlgn="ctr"/>
                      <a:r>
                        <a:rPr lang="en-US" sz="900" b="0" i="0" u="none" strike="noStrike" dirty="0">
                          <a:solidFill>
                            <a:srgbClr val="000000"/>
                          </a:solidFill>
                          <a:effectLst/>
                          <a:latin typeface="+mn-lt"/>
                        </a:rPr>
                        <a:t>16</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10.6700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2.1568</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39.9440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0.0034</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2104531326"/>
                  </a:ext>
                </a:extLst>
              </a:tr>
              <a:tr h="0">
                <a:tc>
                  <a:txBody>
                    <a:bodyPr/>
                    <a:lstStyle/>
                    <a:p>
                      <a:pPr algn="r" fontAlgn="ctr"/>
                      <a:r>
                        <a:rPr lang="en-US" sz="900" b="0" i="0" u="none" strike="noStrike" dirty="0">
                          <a:solidFill>
                            <a:srgbClr val="000000"/>
                          </a:solidFill>
                          <a:effectLst/>
                          <a:latin typeface="+mn-lt"/>
                        </a:rPr>
                        <a:t>17</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10.6700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2.1568</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39.9440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0.0034</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2623940667"/>
                  </a:ext>
                </a:extLst>
              </a:tr>
              <a:tr h="0">
                <a:tc>
                  <a:txBody>
                    <a:bodyPr/>
                    <a:lstStyle/>
                    <a:p>
                      <a:pPr algn="r" fontAlgn="ctr"/>
                      <a:r>
                        <a:rPr lang="en-US" sz="900" b="0" i="0" u="none" strike="noStrike" dirty="0">
                          <a:solidFill>
                            <a:srgbClr val="000000"/>
                          </a:solidFill>
                          <a:effectLst/>
                          <a:latin typeface="+mn-lt"/>
                        </a:rPr>
                        <a:t>18</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10.6700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2.1568</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39.9440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0.0034</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3976061058"/>
                  </a:ext>
                </a:extLst>
              </a:tr>
              <a:tr h="0">
                <a:tc>
                  <a:txBody>
                    <a:bodyPr/>
                    <a:lstStyle/>
                    <a:p>
                      <a:pPr algn="r" fontAlgn="ctr"/>
                      <a:r>
                        <a:rPr lang="en-US" sz="900" b="0" i="0" u="none" strike="noStrike" dirty="0">
                          <a:solidFill>
                            <a:srgbClr val="000000"/>
                          </a:solidFill>
                          <a:effectLst/>
                          <a:latin typeface="+mn-lt"/>
                        </a:rPr>
                        <a:t>19</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10.6700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2.1568</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39.9440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0.0034</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732221825"/>
                  </a:ext>
                </a:extLst>
              </a:tr>
              <a:tr h="0">
                <a:tc>
                  <a:txBody>
                    <a:bodyPr/>
                    <a:lstStyle/>
                    <a:p>
                      <a:pPr algn="r" fontAlgn="ctr"/>
                      <a:r>
                        <a:rPr lang="en-US" sz="900" b="0" i="0" u="none" strike="noStrike" dirty="0">
                          <a:solidFill>
                            <a:srgbClr val="000000"/>
                          </a:solidFill>
                          <a:effectLst/>
                          <a:latin typeface="+mn-lt"/>
                        </a:rPr>
                        <a:t>20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10.6700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2.1568</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39.9440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0.0034</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2147162693"/>
                  </a:ext>
                </a:extLst>
              </a:tr>
              <a:tr h="0">
                <a:tc>
                  <a:txBody>
                    <a:bodyPr/>
                    <a:lstStyle/>
                    <a:p>
                      <a:pPr algn="r" fontAlgn="ctr"/>
                      <a:r>
                        <a:rPr lang="en-US" sz="900" b="0" i="0" u="none" strike="noStrike" dirty="0">
                          <a:solidFill>
                            <a:srgbClr val="000000"/>
                          </a:solidFill>
                          <a:effectLst/>
                          <a:latin typeface="+mn-lt"/>
                        </a:rPr>
                        <a:t>21</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10.6700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2.1568</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39.9440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0.0034</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3090123520"/>
                  </a:ext>
                </a:extLst>
              </a:tr>
              <a:tr h="0">
                <a:tc>
                  <a:txBody>
                    <a:bodyPr/>
                    <a:lstStyle/>
                    <a:p>
                      <a:pPr algn="r" fontAlgn="ctr"/>
                      <a:r>
                        <a:rPr lang="en-US" sz="900" b="0" i="0" u="none" strike="noStrike" dirty="0">
                          <a:solidFill>
                            <a:srgbClr val="000000"/>
                          </a:solidFill>
                          <a:effectLst/>
                          <a:latin typeface="+mn-lt"/>
                        </a:rPr>
                        <a:t>22</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10.6700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marL="0" marR="0" lvl="0" indent="0" algn="ctr" defTabSz="990571" rtl="0" eaLnBrk="1" fontAlgn="ctr"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Verdana"/>
                          <a:ea typeface="+mn-ea"/>
                          <a:cs typeface="+mn-cs"/>
                        </a:rPr>
                        <a:t>2.1568</a:t>
                      </a:r>
                      <a:endParaRPr kumimoji="0" lang="en-IN" sz="900" b="0" i="0" u="none" strike="noStrike" kern="1200" cap="none" spc="0" normalizeH="0" baseline="0" noProof="0" dirty="0">
                        <a:ln>
                          <a:noFill/>
                        </a:ln>
                        <a:solidFill>
                          <a:srgbClr val="000000"/>
                        </a:solidFill>
                        <a:effectLst/>
                        <a:uLnTx/>
                        <a:uFillTx/>
                        <a:latin typeface="Verdana"/>
                        <a:ea typeface="+mn-ea"/>
                        <a:cs typeface="+mn-cs"/>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39.9440</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chemeClr val="accent1">
                        <a:lumMod val="20000"/>
                        <a:lumOff val="80000"/>
                        <a:alpha val="60000"/>
                      </a:scheme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0.0003</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tc>
                  <a:txBody>
                    <a:bodyPr/>
                    <a:lstStyle/>
                    <a:p>
                      <a:pPr algn="ctr" fontAlgn="ctr"/>
                      <a:r>
                        <a:rPr kumimoji="0" lang="en-US" sz="900" b="0" i="0" u="none" strike="noStrike" kern="1200" cap="none" spc="0" normalizeH="0" baseline="0" noProof="0" dirty="0">
                          <a:ln>
                            <a:noFill/>
                          </a:ln>
                          <a:solidFill>
                            <a:srgbClr val="000000"/>
                          </a:solidFill>
                          <a:effectLst/>
                          <a:uLnTx/>
                          <a:uFillTx/>
                          <a:latin typeface="Verdana"/>
                          <a:ea typeface="+mn-ea"/>
                          <a:cs typeface="+mn-cs"/>
                        </a:rPr>
                        <a:t>0.0034</a:t>
                      </a:r>
                      <a:endParaRPr lang="en-IN" sz="900" b="0" i="0" u="none" strike="noStrike" dirty="0">
                        <a:solidFill>
                          <a:srgbClr val="000000"/>
                        </a:solidFill>
                        <a:effectLst/>
                        <a:latin typeface="+mn-lt"/>
                      </a:endParaRPr>
                    </a:p>
                  </a:txBody>
                  <a:tcPr marL="45720" marR="4572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9DD4CF">
                        <a:alpha val="60000"/>
                      </a:srgbClr>
                    </a:solidFill>
                  </a:tcPr>
                </a:tc>
                <a:extLst>
                  <a:ext uri="{0D108BD9-81ED-4DB2-BD59-A6C34878D82A}">
                    <a16:rowId xmlns:a16="http://schemas.microsoft.com/office/drawing/2014/main" val="1463259926"/>
                  </a:ext>
                </a:extLst>
              </a:tr>
            </a:tbl>
          </a:graphicData>
        </a:graphic>
      </p:graphicFrame>
      <p:sp>
        <p:nvSpPr>
          <p:cNvPr id="5" name="Rectangle 4"/>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PPA, Deloitte Analysis</a:t>
            </a:r>
          </a:p>
        </p:txBody>
      </p:sp>
    </p:spTree>
    <p:extLst>
      <p:ext uri="{BB962C8B-B14F-4D97-AF65-F5344CB8AC3E}">
        <p14:creationId xmlns:p14="http://schemas.microsoft.com/office/powerpoint/2010/main" val="424772896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Strapline"/>
          <p:cNvSpPr>
            <a:spLocks noGrp="1"/>
          </p:cNvSpPr>
          <p:nvPr>
            <p:ph type="body" sz="quarter" idx="13"/>
          </p:nvPr>
        </p:nvSpPr>
        <p:spPr>
          <a:xfrm>
            <a:off x="449993" y="1079983"/>
            <a:ext cx="9791843" cy="518392"/>
          </a:xfrm>
        </p:spPr>
        <p:txBody>
          <a:bodyPr lIns="0" tIns="0" rIns="0" bIns="0" anchor="t">
            <a:noAutofit/>
          </a:bodyPr>
          <a:lstStyle/>
          <a:p>
            <a:r>
              <a:rPr lang="en-US" b="1" dirty="0">
                <a:solidFill>
                  <a:schemeClr val="tx1">
                    <a:lumMod val="50000"/>
                    <a:lumOff val="50000"/>
                  </a:schemeClr>
                </a:solidFill>
                <a:latin typeface="Verdana" panose="020B0604030504040204" pitchFamily="34" charset="0"/>
              </a:rPr>
              <a:t>Tariff</a:t>
            </a:r>
          </a:p>
          <a:p>
            <a:endParaRPr lang="en-GB" b="1" dirty="0">
              <a:solidFill>
                <a:schemeClr val="tx1">
                  <a:lumMod val="50000"/>
                  <a:lumOff val="50000"/>
                </a:schemeClr>
              </a:solidFill>
              <a:latin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US" dirty="0"/>
              <a:t>Power Purchase Agreement | Key Terms</a:t>
            </a:r>
            <a:endParaRPr lang="en-GB" noProof="0" dirty="0">
              <a:solidFill>
                <a:srgbClr val="000000"/>
              </a:solidFill>
              <a:latin typeface="Verdana" panose="020B0604030504040204" pitchFamily="34" charset="0"/>
            </a:endParaRPr>
          </a:p>
        </p:txBody>
      </p:sp>
      <p:graphicFrame>
        <p:nvGraphicFramePr>
          <p:cNvPr id="2" name="Table 1"/>
          <p:cNvGraphicFramePr>
            <a:graphicFrameLocks noGrp="1"/>
          </p:cNvGraphicFramePr>
          <p:nvPr>
            <p:extLst>
              <p:ext uri="{D42A27DB-BD31-4B8C-83A1-F6EECF244321}">
                <p14:modId xmlns:p14="http://schemas.microsoft.com/office/powerpoint/2010/main" val="2043587110"/>
              </p:ext>
            </p:extLst>
          </p:nvPr>
        </p:nvGraphicFramePr>
        <p:xfrm>
          <a:off x="449992" y="1598375"/>
          <a:ext cx="9791843" cy="5366526"/>
        </p:xfrm>
        <a:graphic>
          <a:graphicData uri="http://schemas.openxmlformats.org/drawingml/2006/table">
            <a:tbl>
              <a:tblPr firstRow="1">
                <a:tableStyleId>{3B4B98B0-60AC-42C2-AFA5-B58CD77FA1E5}</a:tableStyleId>
              </a:tblPr>
              <a:tblGrid>
                <a:gridCol w="553860">
                  <a:extLst>
                    <a:ext uri="{9D8B030D-6E8A-4147-A177-3AD203B41FA5}">
                      <a16:colId xmlns:a16="http://schemas.microsoft.com/office/drawing/2014/main" val="3671827557"/>
                    </a:ext>
                  </a:extLst>
                </a:gridCol>
                <a:gridCol w="1023731">
                  <a:extLst>
                    <a:ext uri="{9D8B030D-6E8A-4147-A177-3AD203B41FA5}">
                      <a16:colId xmlns:a16="http://schemas.microsoft.com/office/drawing/2014/main" val="2911403996"/>
                    </a:ext>
                  </a:extLst>
                </a:gridCol>
                <a:gridCol w="6468235">
                  <a:extLst>
                    <a:ext uri="{9D8B030D-6E8A-4147-A177-3AD203B41FA5}">
                      <a16:colId xmlns:a16="http://schemas.microsoft.com/office/drawing/2014/main" val="1355348493"/>
                    </a:ext>
                  </a:extLst>
                </a:gridCol>
                <a:gridCol w="1746017">
                  <a:extLst>
                    <a:ext uri="{9D8B030D-6E8A-4147-A177-3AD203B41FA5}">
                      <a16:colId xmlns:a16="http://schemas.microsoft.com/office/drawing/2014/main" val="3087093619"/>
                    </a:ext>
                  </a:extLst>
                </a:gridCol>
              </a:tblGrid>
              <a:tr h="370840">
                <a:tc>
                  <a:txBody>
                    <a:bodyPr/>
                    <a:lstStyle/>
                    <a:p>
                      <a:pPr algn="just">
                        <a:spcAft>
                          <a:spcPts val="500"/>
                        </a:spcAft>
                      </a:pPr>
                      <a:r>
                        <a:rPr lang="en-US" sz="1000" dirty="0"/>
                        <a:t>Sr. No</a:t>
                      </a:r>
                      <a:endParaRPr lang="en-IN" sz="1000" dirty="0"/>
                    </a:p>
                  </a:txBody>
                  <a:tcPr/>
                </a:tc>
                <a:tc>
                  <a:txBody>
                    <a:bodyPr/>
                    <a:lstStyle/>
                    <a:p>
                      <a:pPr algn="just">
                        <a:spcAft>
                          <a:spcPts val="500"/>
                        </a:spcAft>
                      </a:pPr>
                      <a:r>
                        <a:rPr lang="en-US" sz="1000" dirty="0"/>
                        <a:t>Parameter</a:t>
                      </a:r>
                      <a:endParaRPr lang="en-IN" sz="1000" dirty="0"/>
                    </a:p>
                  </a:txBody>
                  <a:tcPr/>
                </a:tc>
                <a:tc>
                  <a:txBody>
                    <a:bodyPr/>
                    <a:lstStyle/>
                    <a:p>
                      <a:pPr algn="just">
                        <a:spcAft>
                          <a:spcPts val="500"/>
                        </a:spcAft>
                      </a:pPr>
                      <a:r>
                        <a:rPr lang="en-US" sz="1000" dirty="0"/>
                        <a:t>Conditions</a:t>
                      </a:r>
                      <a:endParaRPr lang="en-IN" sz="1000" dirty="0"/>
                    </a:p>
                  </a:txBody>
                  <a:tcPr/>
                </a:tc>
                <a:tc>
                  <a:txBody>
                    <a:bodyPr/>
                    <a:lstStyle/>
                    <a:p>
                      <a:pPr algn="just">
                        <a:spcAft>
                          <a:spcPts val="500"/>
                        </a:spcAft>
                      </a:pPr>
                      <a:r>
                        <a:rPr lang="en-US" sz="1000" dirty="0"/>
                        <a:t>Key</a:t>
                      </a:r>
                      <a:r>
                        <a:rPr lang="en-US" sz="1000" baseline="0" dirty="0"/>
                        <a:t> risks</a:t>
                      </a:r>
                      <a:endParaRPr lang="en-IN" sz="1000" dirty="0"/>
                    </a:p>
                  </a:txBody>
                  <a:tcPr/>
                </a:tc>
                <a:extLst>
                  <a:ext uri="{0D108BD9-81ED-4DB2-BD59-A6C34878D82A}">
                    <a16:rowId xmlns:a16="http://schemas.microsoft.com/office/drawing/2014/main" val="3995669302"/>
                  </a:ext>
                </a:extLst>
              </a:tr>
              <a:tr h="281446">
                <a:tc gridSpan="4">
                  <a:txBody>
                    <a:bodyPr/>
                    <a:lstStyle/>
                    <a:p>
                      <a:pPr marL="0" marR="0" lvl="0" indent="0" algn="just" defTabSz="990571" rtl="0" eaLnBrk="1" fontAlgn="auto" latinLnBrk="0" hangingPunct="1">
                        <a:lnSpc>
                          <a:spcPct val="100000"/>
                        </a:lnSpc>
                        <a:spcBef>
                          <a:spcPts val="0"/>
                        </a:spcBef>
                        <a:spcAft>
                          <a:spcPts val="500"/>
                        </a:spcAft>
                        <a:buClrTx/>
                        <a:buSzTx/>
                        <a:buFontTx/>
                        <a:buNone/>
                        <a:tabLst/>
                        <a:defRPr/>
                      </a:pPr>
                      <a:r>
                        <a:rPr lang="en-US" sz="1000" b="1" i="1" dirty="0"/>
                        <a:t>Comment on the key variables in tariff – fixed and escalable components of capacity and energy charges for gas and diesel</a:t>
                      </a:r>
                      <a:endParaRPr lang="en-IN" sz="1000" b="1" i="1" dirty="0"/>
                    </a:p>
                  </a:txBody>
                  <a:tcPr>
                    <a:solidFill>
                      <a:schemeClr val="accent1">
                        <a:lumMod val="20000"/>
                        <a:lumOff val="80000"/>
                      </a:schemeClr>
                    </a:solidFill>
                  </a:tcPr>
                </a:tc>
                <a:tc hMerge="1">
                  <a:txBody>
                    <a:bodyPr/>
                    <a:lstStyle/>
                    <a:p>
                      <a:pPr>
                        <a:spcAft>
                          <a:spcPts val="500"/>
                        </a:spcAft>
                      </a:pPr>
                      <a:endParaRPr lang="en-IN" sz="1000" dirty="0"/>
                    </a:p>
                  </a:txBody>
                  <a:tcPr/>
                </a:tc>
                <a:tc hMerge="1">
                  <a:txBody>
                    <a:bodyPr/>
                    <a:lstStyle/>
                    <a:p>
                      <a:pPr>
                        <a:spcAft>
                          <a:spcPts val="500"/>
                        </a:spcAft>
                      </a:pPr>
                      <a:endParaRPr lang="en-IN" sz="1000" dirty="0"/>
                    </a:p>
                  </a:txBody>
                  <a:tcPr/>
                </a:tc>
                <a:tc hMerge="1">
                  <a:txBody>
                    <a:bodyPr/>
                    <a:lstStyle/>
                    <a:p>
                      <a:endParaRPr lang="en-GB"/>
                    </a:p>
                  </a:txBody>
                  <a:tcPr/>
                </a:tc>
                <a:extLst>
                  <a:ext uri="{0D108BD9-81ED-4DB2-BD59-A6C34878D82A}">
                    <a16:rowId xmlns:a16="http://schemas.microsoft.com/office/drawing/2014/main" val="630256731"/>
                  </a:ext>
                </a:extLst>
              </a:tr>
              <a:tr h="370840">
                <a:tc>
                  <a:txBody>
                    <a:bodyPr/>
                    <a:lstStyle/>
                    <a:p>
                      <a:pPr algn="just">
                        <a:spcAft>
                          <a:spcPts val="500"/>
                        </a:spcAft>
                      </a:pPr>
                      <a:r>
                        <a:rPr lang="en-US" sz="1000" dirty="0"/>
                        <a:t>1</a:t>
                      </a:r>
                      <a:endParaRPr lang="en-IN" sz="1000" dirty="0"/>
                    </a:p>
                  </a:txBody>
                  <a:tcPr>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Tariff</a:t>
                      </a:r>
                      <a:endParaRPr lang="en-IN" sz="1000" dirty="0"/>
                    </a:p>
                  </a:txBody>
                  <a:tcPr>
                    <a:lnB w="12700" cap="flat" cmpd="sng" algn="ctr">
                      <a:solidFill>
                        <a:schemeClr val="tx1"/>
                      </a:solidFill>
                      <a:prstDash val="solid"/>
                      <a:round/>
                      <a:headEnd type="none" w="med" len="med"/>
                      <a:tailEnd type="none" w="med" len="med"/>
                    </a:lnB>
                  </a:tcPr>
                </a:tc>
                <a:tc>
                  <a:txBody>
                    <a:bodyPr/>
                    <a:lstStyle/>
                    <a:p>
                      <a:pPr marL="0" indent="0" algn="just">
                        <a:spcAft>
                          <a:spcPts val="500"/>
                        </a:spcAft>
                        <a:buFont typeface="+mj-lt"/>
                        <a:buNone/>
                      </a:pPr>
                      <a:r>
                        <a:rPr lang="en-US" sz="1000" dirty="0"/>
                        <a:t>Tariff = Capacity Payment + Energy Payment (in BDT, payable on monthly basis)</a:t>
                      </a:r>
                    </a:p>
                    <a:p>
                      <a:pPr marL="171450" indent="-171450" algn="just">
                        <a:spcAft>
                          <a:spcPts val="500"/>
                        </a:spcAft>
                        <a:buFont typeface="Arial" panose="020B0604020202020204" pitchFamily="34" charset="0"/>
                        <a:buChar char="•"/>
                      </a:pPr>
                      <a:r>
                        <a:rPr lang="en-US" sz="1000" dirty="0"/>
                        <a:t>Capacity Payment and Energy Payment are payable based on Dependable Capacity (MW) and Net Energy Output (KWh) respectively for the month</a:t>
                      </a:r>
                    </a:p>
                    <a:p>
                      <a:pPr marL="171450" indent="-171450" algn="just">
                        <a:spcAft>
                          <a:spcPts val="500"/>
                        </a:spcAft>
                        <a:buFont typeface="Arial" panose="020B0604020202020204" pitchFamily="34" charset="0"/>
                        <a:buChar char="•"/>
                      </a:pPr>
                      <a:r>
                        <a:rPr lang="en-US" sz="1000" dirty="0"/>
                        <a:t>Capacity Payment = Non-Escalable Capacity Payment + Escalable Capacity Payment</a:t>
                      </a:r>
                    </a:p>
                    <a:p>
                      <a:pPr marL="666736" lvl="1" indent="-171450" algn="just">
                        <a:spcAft>
                          <a:spcPts val="500"/>
                        </a:spcAft>
                        <a:buFont typeface="Arial" panose="020B0604020202020204" pitchFamily="34" charset="0"/>
                        <a:buChar char="•"/>
                      </a:pPr>
                      <a:r>
                        <a:rPr lang="en-US" sz="1000" dirty="0"/>
                        <a:t>Non-Escalable Capacity Payment = Reference Non-Escalable Capacity Price (USD/KW, as per Sch. 6 of PPA) x USD to BDT Exchange Rate x Wtd. Avg. Dependable Capacity for the month (MW)</a:t>
                      </a:r>
                    </a:p>
                    <a:p>
                      <a:pPr marL="666736" lvl="1" indent="-171450" algn="just">
                        <a:spcAft>
                          <a:spcPts val="500"/>
                        </a:spcAft>
                        <a:buFont typeface="Arial" panose="020B0604020202020204" pitchFamily="34" charset="0"/>
                        <a:buChar char="•"/>
                      </a:pPr>
                      <a:r>
                        <a:rPr lang="en-US" sz="1000" dirty="0"/>
                        <a:t>Escalable Capacity Payment = Foreign Escalable Capacity Payment + Local Escalable Capacity Payment</a:t>
                      </a:r>
                    </a:p>
                    <a:p>
                      <a:pPr marL="1162021" lvl="2" indent="-171450" algn="just">
                        <a:spcAft>
                          <a:spcPts val="500"/>
                        </a:spcAft>
                        <a:buFont typeface="Arial" panose="020B0604020202020204" pitchFamily="34" charset="0"/>
                        <a:buChar char="•"/>
                      </a:pPr>
                      <a:r>
                        <a:rPr lang="en-US" sz="1000" dirty="0"/>
                        <a:t>Foreign Escalable Capacity Payment = Reference Foreign Escalable Capacity Price (USD/KW, as per Sch. 6 of PPA) x USD to BDT Exchange Rate x Foreign Inflation Indexation Factor x Wtd. Avg. Dependable Capacity for the month (MW)</a:t>
                      </a:r>
                    </a:p>
                    <a:p>
                      <a:pPr marL="1162021" lvl="2" indent="-171450" algn="just">
                        <a:spcAft>
                          <a:spcPts val="500"/>
                        </a:spcAft>
                        <a:buFont typeface="Arial" panose="020B0604020202020204" pitchFamily="34" charset="0"/>
                        <a:buChar char="•"/>
                      </a:pPr>
                      <a:r>
                        <a:rPr lang="en-US" sz="1000" dirty="0"/>
                        <a:t>Local Escalable Capacity Payment = Reference Local Escalable Capacity Price (BDT/KW, as per Sch. 6 of PPA) x Local Inflation Indexation Factor x Wtd. Avg. Dependable Capacity for the month (MW)</a:t>
                      </a:r>
                    </a:p>
                    <a:p>
                      <a:pPr marL="171450" lvl="0" indent="-171450" algn="just">
                        <a:spcAft>
                          <a:spcPts val="500"/>
                        </a:spcAft>
                        <a:buFont typeface="Arial" panose="020B0604020202020204" pitchFamily="34" charset="0"/>
                        <a:buChar char="•"/>
                      </a:pPr>
                      <a:r>
                        <a:rPr lang="en-US" sz="1000" dirty="0"/>
                        <a:t>Energy Payment = Variable O&amp;M Payment + Fuel Payment</a:t>
                      </a:r>
                    </a:p>
                    <a:p>
                      <a:pPr marL="666736" lvl="1" indent="-171450" algn="just">
                        <a:spcAft>
                          <a:spcPts val="500"/>
                        </a:spcAft>
                        <a:buFont typeface="Arial" panose="020B0604020202020204" pitchFamily="34" charset="0"/>
                        <a:buChar char="•"/>
                      </a:pPr>
                      <a:r>
                        <a:rPr lang="en-US" sz="1000" dirty="0"/>
                        <a:t>Variable O&amp;M Payment = Foreign Variable O&amp;M Payment + Local Variable O&amp;M Payment</a:t>
                      </a:r>
                    </a:p>
                    <a:p>
                      <a:pPr marL="1162021" lvl="2" indent="-171450" algn="just">
                        <a:spcAft>
                          <a:spcPts val="500"/>
                        </a:spcAft>
                        <a:buFont typeface="Arial" panose="020B0604020202020204" pitchFamily="34" charset="0"/>
                        <a:buChar char="•"/>
                      </a:pPr>
                      <a:r>
                        <a:rPr lang="en-US" sz="1000" dirty="0"/>
                        <a:t>Foreign Variable O&amp;M Payment = Reference Foreign Variable O&amp;M Price (USD/KWh, as per Sch. 6 of PPA) x USD to BDT Exchange Rate x Foreign Inflation Indexation Factor x Net Energy Output for the month (KWh) x min (0.85 / avg. PF for the month, 1)</a:t>
                      </a:r>
                    </a:p>
                    <a:p>
                      <a:pPr marL="1162021" lvl="2" indent="-171450" algn="just">
                        <a:spcAft>
                          <a:spcPts val="500"/>
                        </a:spcAft>
                        <a:buFont typeface="Arial" panose="020B0604020202020204" pitchFamily="34" charset="0"/>
                        <a:buChar char="•"/>
                      </a:pPr>
                      <a:r>
                        <a:rPr lang="en-US" sz="1000" dirty="0"/>
                        <a:t>Local Variable O&amp;M Payment = Reference Local Variable O&amp;M Price (BDT/KWh, as per Sch. 6 of PPA) x Local Inflation Indexation Factor x Net Energy Output for the month (KWh) x min (0.85 / avg. PF for the month, 1)</a:t>
                      </a:r>
                    </a:p>
                  </a:txBody>
                  <a:tcPr>
                    <a:lnB w="12700"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dirty="0"/>
                        <a:t>Recovery of capacity charge is based on dependable capacity which provides an incentive to achieve a higher dependable capacity. However, there is no such incentive in the O&amp;M contract</a:t>
                      </a:r>
                    </a:p>
                    <a:p>
                      <a:pPr marL="171450" indent="-171450" algn="just">
                        <a:spcAft>
                          <a:spcPts val="500"/>
                        </a:spcAft>
                        <a:buFont typeface="Arial" panose="020B0604020202020204" pitchFamily="34" charset="0"/>
                        <a:buChar char="•"/>
                      </a:pPr>
                      <a:r>
                        <a:rPr lang="en-US" sz="1000" dirty="0"/>
                        <a:t>The Reference Heat Rate is not adjusted for the life of plant (yearly degradation)</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6387994"/>
                  </a:ext>
                </a:extLst>
              </a:tr>
            </a:tbl>
          </a:graphicData>
        </a:graphic>
      </p:graphicFrame>
      <p:sp>
        <p:nvSpPr>
          <p:cNvPr id="5" name="Rectangle 4"/>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PPA, Deloitte Analysis</a:t>
            </a:r>
          </a:p>
        </p:txBody>
      </p:sp>
    </p:spTree>
    <p:extLst>
      <p:ext uri="{BB962C8B-B14F-4D97-AF65-F5344CB8AC3E}">
        <p14:creationId xmlns:p14="http://schemas.microsoft.com/office/powerpoint/2010/main" val="116577801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Strapline"/>
          <p:cNvSpPr>
            <a:spLocks noGrp="1"/>
          </p:cNvSpPr>
          <p:nvPr>
            <p:ph type="body" sz="quarter" idx="13"/>
          </p:nvPr>
        </p:nvSpPr>
        <p:spPr>
          <a:xfrm>
            <a:off x="449993" y="1079983"/>
            <a:ext cx="9791843" cy="518392"/>
          </a:xfrm>
        </p:spPr>
        <p:txBody>
          <a:bodyPr lIns="0" tIns="0" rIns="0" bIns="0" anchor="t">
            <a:noAutofit/>
          </a:bodyPr>
          <a:lstStyle/>
          <a:p>
            <a:r>
              <a:rPr lang="en-US" b="1" dirty="0">
                <a:solidFill>
                  <a:schemeClr val="tx1">
                    <a:lumMod val="50000"/>
                    <a:lumOff val="50000"/>
                  </a:schemeClr>
                </a:solidFill>
                <a:latin typeface="Verdana" panose="020B0604030504040204" pitchFamily="34" charset="0"/>
              </a:rPr>
              <a:t>Tariff</a:t>
            </a:r>
          </a:p>
          <a:p>
            <a:endParaRPr lang="en-GB" b="1" dirty="0">
              <a:solidFill>
                <a:schemeClr val="tx1">
                  <a:lumMod val="50000"/>
                  <a:lumOff val="50000"/>
                </a:schemeClr>
              </a:solidFill>
              <a:latin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US" dirty="0"/>
              <a:t>Power Purchase Agreement | Key Terms</a:t>
            </a:r>
            <a:endParaRPr lang="en-GB" noProof="0" dirty="0">
              <a:solidFill>
                <a:srgbClr val="000000"/>
              </a:solidFill>
              <a:latin typeface="Verdana" panose="020B0604030504040204" pitchFamily="34" charset="0"/>
            </a:endParaRPr>
          </a:p>
        </p:txBody>
      </p:sp>
      <p:graphicFrame>
        <p:nvGraphicFramePr>
          <p:cNvPr id="2" name="Table 1"/>
          <p:cNvGraphicFramePr>
            <a:graphicFrameLocks noGrp="1"/>
          </p:cNvGraphicFramePr>
          <p:nvPr>
            <p:extLst>
              <p:ext uri="{D42A27DB-BD31-4B8C-83A1-F6EECF244321}">
                <p14:modId xmlns:p14="http://schemas.microsoft.com/office/powerpoint/2010/main" val="3759294265"/>
              </p:ext>
            </p:extLst>
          </p:nvPr>
        </p:nvGraphicFramePr>
        <p:xfrm>
          <a:off x="449992" y="1563650"/>
          <a:ext cx="9791843" cy="5648960"/>
        </p:xfrm>
        <a:graphic>
          <a:graphicData uri="http://schemas.openxmlformats.org/drawingml/2006/table">
            <a:tbl>
              <a:tblPr firstRow="1">
                <a:tableStyleId>{3B4B98B0-60AC-42C2-AFA5-B58CD77FA1E5}</a:tableStyleId>
              </a:tblPr>
              <a:tblGrid>
                <a:gridCol w="553860">
                  <a:extLst>
                    <a:ext uri="{9D8B030D-6E8A-4147-A177-3AD203B41FA5}">
                      <a16:colId xmlns:a16="http://schemas.microsoft.com/office/drawing/2014/main" val="3671827557"/>
                    </a:ext>
                  </a:extLst>
                </a:gridCol>
                <a:gridCol w="1137464">
                  <a:extLst>
                    <a:ext uri="{9D8B030D-6E8A-4147-A177-3AD203B41FA5}">
                      <a16:colId xmlns:a16="http://schemas.microsoft.com/office/drawing/2014/main" val="2911403996"/>
                    </a:ext>
                  </a:extLst>
                </a:gridCol>
                <a:gridCol w="6169307">
                  <a:extLst>
                    <a:ext uri="{9D8B030D-6E8A-4147-A177-3AD203B41FA5}">
                      <a16:colId xmlns:a16="http://schemas.microsoft.com/office/drawing/2014/main" val="1355348493"/>
                    </a:ext>
                  </a:extLst>
                </a:gridCol>
                <a:gridCol w="1931212">
                  <a:extLst>
                    <a:ext uri="{9D8B030D-6E8A-4147-A177-3AD203B41FA5}">
                      <a16:colId xmlns:a16="http://schemas.microsoft.com/office/drawing/2014/main" val="3999508094"/>
                    </a:ext>
                  </a:extLst>
                </a:gridCol>
              </a:tblGrid>
              <a:tr h="254020">
                <a:tc>
                  <a:txBody>
                    <a:bodyPr/>
                    <a:lstStyle/>
                    <a:p>
                      <a:pPr algn="just">
                        <a:spcAft>
                          <a:spcPts val="500"/>
                        </a:spcAft>
                      </a:pPr>
                      <a:r>
                        <a:rPr lang="en-US" sz="1000" dirty="0"/>
                        <a:t>Sr. No</a:t>
                      </a:r>
                      <a:endParaRPr lang="en-IN" sz="1000" dirty="0"/>
                    </a:p>
                  </a:txBody>
                  <a:tcPr>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Parameter</a:t>
                      </a:r>
                      <a:endParaRPr lang="en-IN" sz="1000" dirty="0"/>
                    </a:p>
                  </a:txBody>
                  <a:tcPr>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Conditions</a:t>
                      </a:r>
                      <a:endParaRPr lang="en-IN" sz="1000" dirty="0"/>
                    </a:p>
                  </a:txBody>
                  <a:tcPr>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Key</a:t>
                      </a:r>
                      <a:r>
                        <a:rPr lang="en-US" sz="1000" baseline="0" dirty="0"/>
                        <a:t> risks</a:t>
                      </a:r>
                      <a:endParaRPr lang="en-IN" sz="10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5669302"/>
                  </a:ext>
                </a:extLst>
              </a:tr>
              <a:tr h="2118462">
                <a:tc>
                  <a:txBody>
                    <a:bodyPr/>
                    <a:lstStyle/>
                    <a:p>
                      <a:pPr algn="just">
                        <a:spcAft>
                          <a:spcPts val="500"/>
                        </a:spcAft>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Tariff</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666736" lvl="1" indent="-171450" algn="just">
                        <a:spcAft>
                          <a:spcPts val="500"/>
                        </a:spcAft>
                        <a:buFont typeface="Arial" panose="020B0604020202020204" pitchFamily="34" charset="0"/>
                        <a:buChar char="•"/>
                      </a:pPr>
                      <a:r>
                        <a:rPr lang="en-US" sz="1000" dirty="0"/>
                        <a:t>Fuel Payment for operation on Fuel Oil = Quantity (kg) x Price (BDT/kg) for the leftover Fuel Oil at the end of the previous month + Sum of {Quantity of Fuel Oil (kg) received in each consignment during the month x Fuel Oil Price (BDT/kg) for the consignment} – Quantity (kg) x Price (BDT/kg) for the leftover Fuel Oil at the end of this month,</a:t>
                      </a:r>
                    </a:p>
                    <a:p>
                      <a:pPr algn="just">
                        <a:spcAft>
                          <a:spcPts val="500"/>
                        </a:spcAft>
                      </a:pPr>
                      <a:r>
                        <a:rPr lang="en-US" sz="1000" dirty="0"/>
                        <a:t>Where, Quantity (kg) of the leftover Fuel Oil at the end of any month = (Total Heat of Fuel Oil received during the month and left over in previous month based on the actual Fuel Oil Heat Value – Heat consumed from Fuel Oil based on Reference Heat Rate as per Sch. 6 of PPA) / Wtd. Avg. Actual Fuel Oil Heat Value</a:t>
                      </a:r>
                    </a:p>
                    <a:p>
                      <a:pPr algn="just">
                        <a:spcAft>
                          <a:spcPts val="500"/>
                        </a:spcAft>
                      </a:pPr>
                      <a:r>
                        <a:rPr lang="en-US" sz="1000" dirty="0"/>
                        <a:t>Fuel Oil Price allowed to be recovered through Energy Payment = Price paid to the fuel supplier + Duties, taxes, fees, surcharges, etc. paid to Govt. authority + Freight, ocean loss, insurance, bank charges, letter of credit charges, lighterage, handling commission, port dues, survey fee, storage and handling charges, etc. incurred at actuals </a:t>
                      </a:r>
                    </a:p>
                    <a:p>
                      <a:pPr marL="666736" lvl="1" indent="-171450" algn="just">
                        <a:spcAft>
                          <a:spcPts val="500"/>
                        </a:spcAft>
                        <a:buFont typeface="Arial" panose="020B0604020202020204" pitchFamily="34" charset="0"/>
                        <a:buChar char="•"/>
                      </a:pPr>
                      <a:r>
                        <a:rPr lang="en-US" sz="1000" dirty="0"/>
                        <a:t>Fuel Payment for operation on Gas = Gas price (BDT/MSCF) as defined in GSA / (0.95 x 1.055) x Heat consumed from Gas based on Reference Heat Rate as per Sch. 6 of PPA</a:t>
                      </a:r>
                    </a:p>
                    <a:p>
                      <a:pPr algn="just">
                        <a:spcAft>
                          <a:spcPts val="500"/>
                        </a:spcAft>
                      </a:pPr>
                      <a:r>
                        <a:rPr lang="en-US" sz="1000" dirty="0"/>
                        <a:t>(Where, there is no adjustment for the actual Btu content of the Gas above or below the assumed 950 Btu of HHV per SCF of Gas)</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6387994"/>
                  </a:ext>
                </a:extLst>
              </a:tr>
              <a:tr h="449420">
                <a:tc>
                  <a:txBody>
                    <a:bodyPr/>
                    <a:lstStyle/>
                    <a:p>
                      <a:pPr algn="just">
                        <a:spcAft>
                          <a:spcPts val="500"/>
                        </a:spcAft>
                      </a:pPr>
                      <a:r>
                        <a:rPr lang="en-US" sz="1000" dirty="0"/>
                        <a:t>2</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IN" sz="1000" dirty="0"/>
                        <a:t>Energy payment during commissioning </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Payable by BPDB for the Net Energy Output delivered to the Delivery Point during testing and commissioning</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8373241"/>
                  </a:ext>
                </a:extLst>
              </a:tr>
              <a:tr h="880928">
                <a:tc>
                  <a:txBody>
                    <a:bodyPr/>
                    <a:lstStyle/>
                    <a:p>
                      <a:pPr algn="just">
                        <a:spcAft>
                          <a:spcPts val="500"/>
                        </a:spcAft>
                      </a:pPr>
                      <a:r>
                        <a:rPr lang="en-US" sz="1000" dirty="0"/>
                        <a:t>3</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IN" sz="1000" dirty="0"/>
                        <a:t>Start-up Payment </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dirty="0"/>
                        <a:t>Payable by BPDB for each start-up of a Gas Turbine following the dispatch instruction in excess of 40 free start-ups for each Gas Turbine for a Contract year. Such start-ups will exclude start-ups following Forced Outage, Maintenance Outage, Scheduled Outage or Force Majeure Event declared by the Company.</a:t>
                      </a:r>
                    </a:p>
                    <a:p>
                      <a:pPr marL="171450" indent="-171450" algn="just">
                        <a:spcAft>
                          <a:spcPts val="500"/>
                        </a:spcAft>
                        <a:buFont typeface="Arial" panose="020B0604020202020204" pitchFamily="34" charset="0"/>
                        <a:buChar char="•"/>
                      </a:pPr>
                      <a:r>
                        <a:rPr lang="en-US" sz="1000" dirty="0"/>
                        <a:t>Consists of a fixed component (for maintenance) and fuel component (for Gas or Fuel Oil)</a:t>
                      </a:r>
                    </a:p>
                    <a:p>
                      <a:pPr marL="171450" indent="-171450" algn="just">
                        <a:spcAft>
                          <a:spcPts val="500"/>
                        </a:spcAft>
                        <a:buFont typeface="Arial" panose="020B0604020202020204" pitchFamily="34" charset="0"/>
                        <a:buChar char="•"/>
                      </a:pPr>
                      <a:r>
                        <a:rPr lang="en-US" sz="1000" dirty="0"/>
                        <a:t>SC (main) = 5,000*CE*FIIF</a:t>
                      </a:r>
                      <a:r>
                        <a:rPr lang="en-US" sz="1000" baseline="0" dirty="0"/>
                        <a:t>;    SC (Gas) = 500*GP/(0.95*1.055)</a:t>
                      </a:r>
                    </a:p>
                    <a:p>
                      <a:pPr algn="just">
                        <a:spcAft>
                          <a:spcPts val="500"/>
                        </a:spcAft>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IN" sz="1000" dirty="0">
                          <a:solidFill>
                            <a:schemeClr val="tx1"/>
                          </a:solidFill>
                        </a:rPr>
                        <a:t>Since energy payment</a:t>
                      </a:r>
                      <a:r>
                        <a:rPr lang="en-IN" sz="1000" baseline="0" dirty="0">
                          <a:solidFill>
                            <a:schemeClr val="tx1"/>
                          </a:solidFill>
                        </a:rPr>
                        <a:t> is based of Reference Heat Rate it would most likely be that the fuel consumed during the startup would be partially recoverable through tariff. Thus for 40 free startups Company may have revenue loss</a:t>
                      </a:r>
                      <a:endParaRPr lang="en-IN" sz="1000" dirty="0">
                        <a:solidFill>
                          <a:schemeClr val="tx1"/>
                        </a:solidFill>
                      </a:endParaRP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22813361"/>
                  </a:ext>
                </a:extLst>
              </a:tr>
            </a:tbl>
          </a:graphicData>
        </a:graphic>
      </p:graphicFrame>
      <p:sp>
        <p:nvSpPr>
          <p:cNvPr id="6" name="Rectangle 5"/>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PPA, Deloitte Analysis</a:t>
            </a:r>
          </a:p>
        </p:txBody>
      </p:sp>
    </p:spTree>
    <p:extLst>
      <p:ext uri="{BB962C8B-B14F-4D97-AF65-F5344CB8AC3E}">
        <p14:creationId xmlns:p14="http://schemas.microsoft.com/office/powerpoint/2010/main" val="218205413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Strapline"/>
          <p:cNvSpPr>
            <a:spLocks noGrp="1"/>
          </p:cNvSpPr>
          <p:nvPr>
            <p:ph type="body" sz="quarter" idx="13"/>
          </p:nvPr>
        </p:nvSpPr>
        <p:spPr>
          <a:xfrm>
            <a:off x="449993" y="1079983"/>
            <a:ext cx="9791843" cy="518392"/>
          </a:xfrm>
        </p:spPr>
        <p:txBody>
          <a:bodyPr lIns="0" tIns="0" rIns="0" bIns="0" anchor="t">
            <a:noAutofit/>
          </a:bodyPr>
          <a:lstStyle/>
          <a:p>
            <a:r>
              <a:rPr lang="en-US" b="1" dirty="0">
                <a:solidFill>
                  <a:schemeClr val="tx1">
                    <a:lumMod val="50000"/>
                    <a:lumOff val="50000"/>
                  </a:schemeClr>
                </a:solidFill>
                <a:latin typeface="Verdana" panose="020B0604030504040204" pitchFamily="34" charset="0"/>
              </a:rPr>
              <a:t>Delivery Point</a:t>
            </a:r>
          </a:p>
          <a:p>
            <a:endParaRPr lang="en-GB" b="1" dirty="0">
              <a:solidFill>
                <a:schemeClr val="tx1">
                  <a:lumMod val="50000"/>
                  <a:lumOff val="50000"/>
                </a:schemeClr>
              </a:solidFill>
              <a:latin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US" dirty="0"/>
              <a:t>Power Purchase Agreement | Key Terms</a:t>
            </a:r>
            <a:endParaRPr lang="en-GB" noProof="0" dirty="0">
              <a:solidFill>
                <a:srgbClr val="000000"/>
              </a:solidFill>
              <a:latin typeface="Verdana" panose="020B0604030504040204" pitchFamily="34" charset="0"/>
            </a:endParaRPr>
          </a:p>
        </p:txBody>
      </p:sp>
      <p:graphicFrame>
        <p:nvGraphicFramePr>
          <p:cNvPr id="2" name="Table 1"/>
          <p:cNvGraphicFramePr>
            <a:graphicFrameLocks noGrp="1"/>
          </p:cNvGraphicFramePr>
          <p:nvPr>
            <p:extLst>
              <p:ext uri="{D42A27DB-BD31-4B8C-83A1-F6EECF244321}">
                <p14:modId xmlns:p14="http://schemas.microsoft.com/office/powerpoint/2010/main" val="1606860583"/>
              </p:ext>
            </p:extLst>
          </p:nvPr>
        </p:nvGraphicFramePr>
        <p:xfrm>
          <a:off x="449992" y="1598375"/>
          <a:ext cx="9791843" cy="5562600"/>
        </p:xfrm>
        <a:graphic>
          <a:graphicData uri="http://schemas.openxmlformats.org/drawingml/2006/table">
            <a:tbl>
              <a:tblPr firstRow="1">
                <a:tableStyleId>{3B4B98B0-60AC-42C2-AFA5-B58CD77FA1E5}</a:tableStyleId>
              </a:tblPr>
              <a:tblGrid>
                <a:gridCol w="553860">
                  <a:extLst>
                    <a:ext uri="{9D8B030D-6E8A-4147-A177-3AD203B41FA5}">
                      <a16:colId xmlns:a16="http://schemas.microsoft.com/office/drawing/2014/main" val="3671827557"/>
                    </a:ext>
                  </a:extLst>
                </a:gridCol>
                <a:gridCol w="1023731">
                  <a:extLst>
                    <a:ext uri="{9D8B030D-6E8A-4147-A177-3AD203B41FA5}">
                      <a16:colId xmlns:a16="http://schemas.microsoft.com/office/drawing/2014/main" val="2911403996"/>
                    </a:ext>
                  </a:extLst>
                </a:gridCol>
                <a:gridCol w="6758608">
                  <a:extLst>
                    <a:ext uri="{9D8B030D-6E8A-4147-A177-3AD203B41FA5}">
                      <a16:colId xmlns:a16="http://schemas.microsoft.com/office/drawing/2014/main" val="1355348493"/>
                    </a:ext>
                  </a:extLst>
                </a:gridCol>
                <a:gridCol w="1455644">
                  <a:extLst>
                    <a:ext uri="{9D8B030D-6E8A-4147-A177-3AD203B41FA5}">
                      <a16:colId xmlns:a16="http://schemas.microsoft.com/office/drawing/2014/main" val="3999508094"/>
                    </a:ext>
                  </a:extLst>
                </a:gridCol>
              </a:tblGrid>
              <a:tr h="238272">
                <a:tc>
                  <a:txBody>
                    <a:bodyPr/>
                    <a:lstStyle/>
                    <a:p>
                      <a:pPr algn="just">
                        <a:spcAft>
                          <a:spcPts val="500"/>
                        </a:spcAft>
                      </a:pPr>
                      <a:r>
                        <a:rPr lang="en-US" sz="1000" dirty="0"/>
                        <a:t>Sr. No</a:t>
                      </a:r>
                      <a:endParaRPr lang="en-IN" sz="1000" dirty="0"/>
                    </a:p>
                  </a:txBody>
                  <a:tcPr>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Parameter</a:t>
                      </a:r>
                      <a:endParaRPr lang="en-IN" sz="1000" dirty="0"/>
                    </a:p>
                  </a:txBody>
                  <a:tcPr>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Conditions</a:t>
                      </a:r>
                      <a:endParaRPr lang="en-IN" sz="1000" dirty="0"/>
                    </a:p>
                  </a:txBody>
                  <a:tcPr>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Key</a:t>
                      </a:r>
                      <a:r>
                        <a:rPr lang="en-US" sz="1000" baseline="0" dirty="0"/>
                        <a:t> risks</a:t>
                      </a:r>
                      <a:endParaRPr lang="en-IN" sz="10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5669302"/>
                  </a:ext>
                </a:extLst>
              </a:tr>
              <a:tr h="1383809">
                <a:tc>
                  <a:txBody>
                    <a:bodyPr/>
                    <a:lstStyle/>
                    <a:p>
                      <a:pPr algn="just">
                        <a:spcAft>
                          <a:spcPts val="500"/>
                        </a:spcAft>
                      </a:pPr>
                      <a:r>
                        <a:rPr lang="en-IN" sz="1000" dirty="0"/>
                        <a:t>3</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Supplemental Tariff Payment </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dirty="0"/>
                        <a:t>Supplemental Tariff for Political Events other than Change in Law </a:t>
                      </a:r>
                    </a:p>
                    <a:p>
                      <a:pPr marL="666736" lvl="1" indent="-171450" algn="just">
                        <a:spcAft>
                          <a:spcPts val="500"/>
                        </a:spcAft>
                        <a:buFont typeface="Arial" panose="020B0604020202020204" pitchFamily="34" charset="0"/>
                        <a:buChar char="•"/>
                      </a:pPr>
                      <a:r>
                        <a:rPr lang="en-US" sz="1000" dirty="0"/>
                        <a:t>In case the Political Event results in damage / adverse effects on the facility, which is repaired / remedied by the Company.</a:t>
                      </a:r>
                    </a:p>
                    <a:p>
                      <a:pPr marL="666736" lvl="1" indent="-171450" algn="just">
                        <a:spcAft>
                          <a:spcPts val="500"/>
                        </a:spcAft>
                        <a:buFont typeface="Arial" panose="020B0604020202020204" pitchFamily="34" charset="0"/>
                        <a:buChar char="•"/>
                      </a:pPr>
                      <a:r>
                        <a:rPr lang="en-US" sz="1000" dirty="0"/>
                        <a:t>Difference between the restoration costs approved in accordance with Sec. 11B.3 of the Implementation Agreement and any insurance proceeds.</a:t>
                      </a:r>
                    </a:p>
                    <a:p>
                      <a:pPr marL="171450" indent="-171450" algn="just">
                        <a:spcAft>
                          <a:spcPts val="500"/>
                        </a:spcAft>
                        <a:buFont typeface="Arial" panose="020B0604020202020204" pitchFamily="34" charset="0"/>
                        <a:buChar char="•"/>
                      </a:pPr>
                      <a:r>
                        <a:rPr lang="en-US" sz="1000" dirty="0"/>
                        <a:t>Supplemental Tariff for Change in Law :</a:t>
                      </a:r>
                    </a:p>
                    <a:p>
                      <a:pPr marL="666736" lvl="1" indent="-171450" algn="just">
                        <a:spcAft>
                          <a:spcPts val="500"/>
                        </a:spcAft>
                        <a:buFont typeface="Arial" panose="020B0604020202020204" pitchFamily="34" charset="0"/>
                        <a:buChar char="•"/>
                      </a:pPr>
                      <a:r>
                        <a:rPr lang="en-US" sz="1000" dirty="0"/>
                        <a:t>In case the Change in Law requires material modification or capital addition by the Company (as per Sec. 11B of the Implementation Agreement), or any increase in operating costs as approved by GOB in the manner provided by the Imp. Agreement</a:t>
                      </a:r>
                    </a:p>
                    <a:p>
                      <a:pPr marL="171450" indent="-171450" algn="just">
                        <a:spcAft>
                          <a:spcPts val="500"/>
                        </a:spcAft>
                        <a:buFont typeface="Arial" panose="020B0604020202020204" pitchFamily="34" charset="0"/>
                        <a:buChar char="•"/>
                      </a:pPr>
                      <a:r>
                        <a:rPr lang="en-US" sz="1000" dirty="0"/>
                        <a:t>To be calculated in the same manner and basis as the Capacity Payment and Energy Payment, and will be payable on monthly basis</a:t>
                      </a:r>
                    </a:p>
                    <a:p>
                      <a:pPr marL="171450" indent="-171450" algn="just">
                        <a:spcAft>
                          <a:spcPts val="500"/>
                        </a:spcAft>
                        <a:buFont typeface="Arial" panose="020B0604020202020204" pitchFamily="34" charset="0"/>
                        <a:buChar char="•"/>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IN" sz="1000" dirty="0"/>
                        <a:t>The applicability of this is only if the cost is</a:t>
                      </a:r>
                      <a:r>
                        <a:rPr lang="en-IN" sz="1000" baseline="0" dirty="0"/>
                        <a:t> more than USD 450K</a:t>
                      </a:r>
                    </a:p>
                    <a:p>
                      <a:pPr algn="just">
                        <a:spcAft>
                          <a:spcPts val="500"/>
                        </a:spcAft>
                      </a:pPr>
                      <a:endParaRPr lang="en-IN" sz="1000" baseline="0" dirty="0"/>
                    </a:p>
                    <a:p>
                      <a:pPr algn="just">
                        <a:spcAft>
                          <a:spcPts val="500"/>
                        </a:spcAft>
                      </a:pPr>
                      <a:r>
                        <a:rPr lang="en-IN" sz="1000" baseline="0" dirty="0"/>
                        <a:t>No Supplemental Tariff recovery would be there in case of any damage due to an FM event</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6387994"/>
                  </a:ext>
                </a:extLst>
              </a:tr>
              <a:tr h="421558">
                <a:tc>
                  <a:txBody>
                    <a:bodyPr/>
                    <a:lstStyle/>
                    <a:p>
                      <a:pPr algn="just">
                        <a:spcAft>
                          <a:spcPts val="500"/>
                        </a:spcAft>
                      </a:pPr>
                      <a:r>
                        <a:rPr lang="en-US" sz="1000" dirty="0"/>
                        <a:t>5</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IN" sz="1000" dirty="0"/>
                        <a:t>True-up for Exchange Rate</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In case of variation of the Exchange Rate from the Indexation Date (used for invoicing) and the payment date, the differential amount of foreign components of Tariff due to such changes in Exchange Rate will be paid by BPDB / refunded by the Company, as the case may be</a:t>
                      </a:r>
                      <a:r>
                        <a:rPr lang="en-US" sz="1000" baseline="0" dirty="0"/>
                        <a:t> on the 5</a:t>
                      </a:r>
                      <a:r>
                        <a:rPr lang="en-US" sz="1000" baseline="30000" dirty="0"/>
                        <a:t>th</a:t>
                      </a:r>
                      <a:r>
                        <a:rPr lang="en-US" sz="1000" baseline="0" dirty="0"/>
                        <a:t> Business Day after receiving such Payments from the Company</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8373241"/>
                  </a:ext>
                </a:extLst>
              </a:tr>
              <a:tr h="146629">
                <a:tc gridSpan="4">
                  <a:txBody>
                    <a:bodyPr/>
                    <a:lstStyle/>
                    <a:p>
                      <a:pPr algn="just">
                        <a:spcAft>
                          <a:spcPts val="500"/>
                        </a:spcAft>
                      </a:pPr>
                      <a:r>
                        <a:rPr lang="en-US" sz="1000" b="1" i="1" dirty="0"/>
                        <a:t>Delivery Point for the offtake of power and the applicable transmission and wheeling charges, rebates, incentives and penalties</a:t>
                      </a:r>
                      <a:endParaRPr lang="en-IN" sz="1000" b="1" i="1"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hMerge="1">
                  <a:txBody>
                    <a:bodyPr/>
                    <a:lstStyle/>
                    <a:p>
                      <a:pPr>
                        <a:spcAft>
                          <a:spcPts val="500"/>
                        </a:spcAft>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a:spcAft>
                          <a:spcPts val="500"/>
                        </a:spcAft>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a:spcAft>
                          <a:spcPts val="500"/>
                        </a:spcAft>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22813361"/>
                  </a:ext>
                </a:extLst>
              </a:tr>
              <a:tr h="1246345">
                <a:tc>
                  <a:txBody>
                    <a:bodyPr/>
                    <a:lstStyle/>
                    <a:p>
                      <a:pPr algn="just">
                        <a:spcAft>
                          <a:spcPts val="500"/>
                        </a:spcAft>
                      </a:pPr>
                      <a:r>
                        <a:rPr lang="en-US" sz="1000" dirty="0"/>
                        <a:t>1</a:t>
                      </a:r>
                      <a:endParaRPr lang="en-IN" sz="1000" dirty="0"/>
                    </a:p>
                  </a:txBody>
                  <a:tcPr>
                    <a:lnT w="12700" cap="flat" cmpd="sng" algn="ctr">
                      <a:solidFill>
                        <a:schemeClr val="tx1"/>
                      </a:solidFill>
                      <a:prstDash val="solid"/>
                      <a:round/>
                      <a:headEnd type="none" w="med" len="med"/>
                      <a:tailEnd type="none" w="med" len="med"/>
                    </a:lnT>
                  </a:tcPr>
                </a:tc>
                <a:tc>
                  <a:txBody>
                    <a:bodyPr/>
                    <a:lstStyle/>
                    <a:p>
                      <a:pPr algn="just">
                        <a:spcAft>
                          <a:spcPts val="500"/>
                        </a:spcAft>
                      </a:pPr>
                      <a:r>
                        <a:rPr lang="en-IN" sz="1000" dirty="0"/>
                        <a:t>Point of Delivery - Power</a:t>
                      </a:r>
                    </a:p>
                  </a:txBody>
                  <a:tcPr>
                    <a:lnT w="12700" cap="flat" cmpd="sng" algn="ctr">
                      <a:solidFill>
                        <a:schemeClr val="tx1"/>
                      </a:solidFill>
                      <a:prstDash val="solid"/>
                      <a:round/>
                      <a:headEnd type="none" w="med" len="med"/>
                      <a:tailEnd type="none" w="med" len="med"/>
                    </a:lnT>
                  </a:tcPr>
                </a:tc>
                <a:tc>
                  <a:txBody>
                    <a:bodyPr/>
                    <a:lstStyle/>
                    <a:p>
                      <a:pPr marL="171450" indent="-171450" algn="just">
                        <a:spcAft>
                          <a:spcPts val="500"/>
                        </a:spcAft>
                        <a:buFont typeface="Arial" panose="020B0604020202020204" pitchFamily="34" charset="0"/>
                        <a:buChar char="•"/>
                      </a:pPr>
                      <a:r>
                        <a:rPr lang="en-US" sz="1000" dirty="0"/>
                        <a:t>Point of delivery will be high voltage side of the 230 kV step-up transformer. The Company will construct a 230 kV switchyard at its own cost</a:t>
                      </a:r>
                    </a:p>
                    <a:p>
                      <a:pPr marL="171450" indent="-171450" algn="just">
                        <a:spcAft>
                          <a:spcPts val="500"/>
                        </a:spcAft>
                        <a:buFont typeface="Arial" panose="020B0604020202020204" pitchFamily="34" charset="0"/>
                        <a:buChar char="•"/>
                      </a:pPr>
                      <a:r>
                        <a:rPr lang="en-US" sz="1000" dirty="0"/>
                        <a:t>There are no Transmission and Wheeling Charges,</a:t>
                      </a:r>
                      <a:r>
                        <a:rPr lang="en-US" sz="1000" baseline="0" dirty="0"/>
                        <a:t> Rebates, incentives or penalties in the tariff</a:t>
                      </a:r>
                      <a:r>
                        <a:rPr lang="en-US" sz="1000" dirty="0"/>
                        <a:t> (The point of delivery is at the plant periphery and therefore, no there is no transmission charge component in tariff)</a:t>
                      </a:r>
                    </a:p>
                    <a:p>
                      <a:pPr marL="171450" indent="-171450" algn="just">
                        <a:spcAft>
                          <a:spcPts val="500"/>
                        </a:spcAft>
                        <a:buFont typeface="Arial" panose="020B0604020202020204" pitchFamily="34" charset="0"/>
                        <a:buChar char="•"/>
                      </a:pPr>
                      <a:endParaRPr lang="en-IN" sz="1000" dirty="0"/>
                    </a:p>
                  </a:txBody>
                  <a:tcPr>
                    <a:lnT w="12700" cap="flat" cmpd="sng" algn="ctr">
                      <a:solidFill>
                        <a:schemeClr val="tx1"/>
                      </a:solidFill>
                      <a:prstDash val="solid"/>
                      <a:round/>
                      <a:headEnd type="none" w="med" len="med"/>
                      <a:tailEnd type="none" w="med" len="med"/>
                    </a:lnT>
                  </a:tcPr>
                </a:tc>
                <a:tc>
                  <a:txBody>
                    <a:bodyPr/>
                    <a:lstStyle/>
                    <a:p>
                      <a:pPr marL="0" lvl="0" indent="0" algn="just">
                        <a:spcBef>
                          <a:spcPts val="600"/>
                        </a:spcBef>
                        <a:spcAft>
                          <a:spcPts val="0"/>
                        </a:spcAft>
                        <a:buFont typeface="Arial" panose="020B0604020202020204" pitchFamily="34" charset="0"/>
                        <a:buNone/>
                      </a:pPr>
                      <a:r>
                        <a:rPr lang="en-IN" sz="1000" dirty="0"/>
                        <a:t>No risk of</a:t>
                      </a:r>
                      <a:r>
                        <a:rPr lang="en-IN" sz="1000" baseline="0" dirty="0"/>
                        <a:t> evacuation envisaged. The Tx capacity has a max. loading of 545 MW </a:t>
                      </a:r>
                      <a:r>
                        <a:rPr lang="en-US" sz="1000" b="0" i="0" baseline="0" dirty="0"/>
                        <a:t>Buffer Capacity on Transmission line:  225 MW which should be sufficient to evacuate 220 MW from Nimbus</a:t>
                      </a:r>
                    </a:p>
                  </a:txBody>
                  <a:tcPr>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081265816"/>
                  </a:ext>
                </a:extLst>
              </a:tr>
            </a:tbl>
          </a:graphicData>
        </a:graphic>
      </p:graphicFrame>
      <p:sp>
        <p:nvSpPr>
          <p:cNvPr id="5" name="Rectangle 4"/>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PPA, Deloitte Analysis</a:t>
            </a:r>
          </a:p>
        </p:txBody>
      </p:sp>
    </p:spTree>
    <p:extLst>
      <p:ext uri="{BB962C8B-B14F-4D97-AF65-F5344CB8AC3E}">
        <p14:creationId xmlns:p14="http://schemas.microsoft.com/office/powerpoint/2010/main" val="45293938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Strapline"/>
          <p:cNvSpPr>
            <a:spLocks noGrp="1"/>
          </p:cNvSpPr>
          <p:nvPr>
            <p:ph type="body" sz="quarter" idx="13"/>
          </p:nvPr>
        </p:nvSpPr>
        <p:spPr>
          <a:xfrm>
            <a:off x="449993" y="1079983"/>
            <a:ext cx="9791843" cy="518392"/>
          </a:xfrm>
        </p:spPr>
        <p:txBody>
          <a:bodyPr lIns="0" tIns="0" rIns="0" bIns="0" anchor="t">
            <a:noAutofit/>
          </a:bodyPr>
          <a:lstStyle/>
          <a:p>
            <a:r>
              <a:rPr lang="en-US" b="1" dirty="0">
                <a:solidFill>
                  <a:schemeClr val="tx1">
                    <a:lumMod val="50000"/>
                    <a:lumOff val="50000"/>
                  </a:schemeClr>
                </a:solidFill>
                <a:latin typeface="Verdana" panose="020B0604030504040204" pitchFamily="34" charset="0"/>
              </a:rPr>
              <a:t>Pass Through Costs</a:t>
            </a:r>
          </a:p>
          <a:p>
            <a:endParaRPr lang="en-GB" b="1" dirty="0">
              <a:solidFill>
                <a:schemeClr val="tx1">
                  <a:lumMod val="50000"/>
                  <a:lumOff val="50000"/>
                </a:schemeClr>
              </a:solidFill>
              <a:latin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US" dirty="0"/>
              <a:t>Power Purchase Agreement | Key Terms</a:t>
            </a:r>
            <a:endParaRPr lang="en-GB" noProof="0" dirty="0">
              <a:solidFill>
                <a:srgbClr val="000000"/>
              </a:solidFill>
              <a:latin typeface="Verdana" panose="020B0604030504040204" pitchFamily="34" charset="0"/>
            </a:endParaRPr>
          </a:p>
        </p:txBody>
      </p:sp>
      <p:graphicFrame>
        <p:nvGraphicFramePr>
          <p:cNvPr id="2" name="Table 1"/>
          <p:cNvGraphicFramePr>
            <a:graphicFrameLocks noGrp="1"/>
          </p:cNvGraphicFramePr>
          <p:nvPr>
            <p:extLst>
              <p:ext uri="{D42A27DB-BD31-4B8C-83A1-F6EECF244321}">
                <p14:modId xmlns:p14="http://schemas.microsoft.com/office/powerpoint/2010/main" val="521301988"/>
              </p:ext>
            </p:extLst>
          </p:nvPr>
        </p:nvGraphicFramePr>
        <p:xfrm>
          <a:off x="449992" y="1598375"/>
          <a:ext cx="9791843" cy="5583524"/>
        </p:xfrm>
        <a:graphic>
          <a:graphicData uri="http://schemas.openxmlformats.org/drawingml/2006/table">
            <a:tbl>
              <a:tblPr firstRow="1">
                <a:tableStyleId>{3B4B98B0-60AC-42C2-AFA5-B58CD77FA1E5}</a:tableStyleId>
              </a:tblPr>
              <a:tblGrid>
                <a:gridCol w="553860">
                  <a:extLst>
                    <a:ext uri="{9D8B030D-6E8A-4147-A177-3AD203B41FA5}">
                      <a16:colId xmlns:a16="http://schemas.microsoft.com/office/drawing/2014/main" val="3671827557"/>
                    </a:ext>
                  </a:extLst>
                </a:gridCol>
                <a:gridCol w="1023731">
                  <a:extLst>
                    <a:ext uri="{9D8B030D-6E8A-4147-A177-3AD203B41FA5}">
                      <a16:colId xmlns:a16="http://schemas.microsoft.com/office/drawing/2014/main" val="2911403996"/>
                    </a:ext>
                  </a:extLst>
                </a:gridCol>
                <a:gridCol w="5877926">
                  <a:extLst>
                    <a:ext uri="{9D8B030D-6E8A-4147-A177-3AD203B41FA5}">
                      <a16:colId xmlns:a16="http://schemas.microsoft.com/office/drawing/2014/main" val="1355348493"/>
                    </a:ext>
                  </a:extLst>
                </a:gridCol>
                <a:gridCol w="324091">
                  <a:extLst>
                    <a:ext uri="{9D8B030D-6E8A-4147-A177-3AD203B41FA5}">
                      <a16:colId xmlns:a16="http://schemas.microsoft.com/office/drawing/2014/main" val="1300245100"/>
                    </a:ext>
                  </a:extLst>
                </a:gridCol>
                <a:gridCol w="2012235">
                  <a:extLst>
                    <a:ext uri="{9D8B030D-6E8A-4147-A177-3AD203B41FA5}">
                      <a16:colId xmlns:a16="http://schemas.microsoft.com/office/drawing/2014/main" val="380983293"/>
                    </a:ext>
                  </a:extLst>
                </a:gridCol>
              </a:tblGrid>
              <a:tr h="347381">
                <a:tc>
                  <a:txBody>
                    <a:bodyPr/>
                    <a:lstStyle/>
                    <a:p>
                      <a:pPr algn="just">
                        <a:spcAft>
                          <a:spcPts val="500"/>
                        </a:spcAft>
                      </a:pPr>
                      <a:r>
                        <a:rPr lang="en-US" sz="1000" dirty="0"/>
                        <a:t>Sr. No</a:t>
                      </a:r>
                      <a:endParaRPr lang="en-IN" sz="1000" dirty="0"/>
                    </a:p>
                  </a:txBody>
                  <a:tcPr>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Parameter</a:t>
                      </a:r>
                      <a:endParaRPr lang="en-IN" sz="1000" dirty="0"/>
                    </a:p>
                  </a:txBody>
                  <a:tcPr>
                    <a:lnB w="12700" cap="flat" cmpd="sng" algn="ctr">
                      <a:solidFill>
                        <a:schemeClr val="tx1"/>
                      </a:solidFill>
                      <a:prstDash val="solid"/>
                      <a:round/>
                      <a:headEnd type="none" w="med" len="med"/>
                      <a:tailEnd type="none" w="med" len="med"/>
                    </a:lnB>
                  </a:tcPr>
                </a:tc>
                <a:tc gridSpan="2">
                  <a:txBody>
                    <a:bodyPr/>
                    <a:lstStyle/>
                    <a:p>
                      <a:pPr algn="just">
                        <a:spcAft>
                          <a:spcPts val="500"/>
                        </a:spcAft>
                      </a:pPr>
                      <a:r>
                        <a:rPr lang="en-US" sz="1000" dirty="0"/>
                        <a:t>Conditions</a:t>
                      </a:r>
                      <a:endParaRPr lang="en-IN" sz="1000" dirty="0"/>
                    </a:p>
                  </a:txBody>
                  <a:tcPr>
                    <a:lnB w="12700" cap="flat" cmpd="sng" algn="ctr">
                      <a:solidFill>
                        <a:schemeClr val="tx1"/>
                      </a:solidFill>
                      <a:prstDash val="solid"/>
                      <a:round/>
                      <a:headEnd type="none" w="med" len="med"/>
                      <a:tailEnd type="none" w="med" len="med"/>
                    </a:lnB>
                  </a:tcPr>
                </a:tc>
                <a:tc hMerge="1">
                  <a:txBody>
                    <a:bodyPr/>
                    <a:lstStyle/>
                    <a:p>
                      <a:endParaRPr lang="en-GB"/>
                    </a:p>
                  </a:txBody>
                  <a:tcPr/>
                </a:tc>
                <a:tc>
                  <a:txBody>
                    <a:bodyPr/>
                    <a:lstStyle/>
                    <a:p>
                      <a:pPr algn="just">
                        <a:spcAft>
                          <a:spcPts val="500"/>
                        </a:spcAft>
                      </a:pPr>
                      <a:r>
                        <a:rPr lang="en-US" sz="1000" dirty="0"/>
                        <a:t>Key</a:t>
                      </a:r>
                      <a:r>
                        <a:rPr lang="en-US" sz="1000" baseline="0" dirty="0"/>
                        <a:t> risks</a:t>
                      </a:r>
                      <a:endParaRPr lang="en-IN" sz="10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5669302"/>
                  </a:ext>
                </a:extLst>
              </a:tr>
              <a:tr h="246742">
                <a:tc gridSpan="5">
                  <a:txBody>
                    <a:bodyPr/>
                    <a:lstStyle/>
                    <a:p>
                      <a:pPr marL="0" marR="0" lvl="0" indent="0" algn="just" defTabSz="990571" rtl="0" eaLnBrk="1" fontAlgn="auto" latinLnBrk="0" hangingPunct="1">
                        <a:lnSpc>
                          <a:spcPct val="100000"/>
                        </a:lnSpc>
                        <a:spcBef>
                          <a:spcPts val="0"/>
                        </a:spcBef>
                        <a:spcAft>
                          <a:spcPts val="500"/>
                        </a:spcAft>
                        <a:buClrTx/>
                        <a:buSzTx/>
                        <a:buFontTx/>
                        <a:buNone/>
                        <a:tabLst/>
                        <a:defRPr/>
                      </a:pPr>
                      <a:r>
                        <a:rPr lang="en-US" sz="1000" b="1" i="1" dirty="0"/>
                        <a:t>Ability to pass through costs (fuel costs, fuel quality, major maintenance, O&amp;M, taxes etc.) to BPDB</a:t>
                      </a:r>
                      <a:endParaRPr lang="en-IN" sz="1000" b="1" i="1"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hMerge="1">
                  <a:txBody>
                    <a:bodyPr/>
                    <a:lstStyle/>
                    <a:p>
                      <a:pPr>
                        <a:spcAft>
                          <a:spcPts val="500"/>
                        </a:spcAft>
                      </a:pPr>
                      <a:endParaRPr lang="en-IN" sz="1000" dirty="0"/>
                    </a:p>
                  </a:txBody>
                  <a:tcPr/>
                </a:tc>
                <a:tc hMerge="1">
                  <a:txBody>
                    <a:bodyPr/>
                    <a:lstStyle/>
                    <a:p>
                      <a:pPr>
                        <a:spcAft>
                          <a:spcPts val="500"/>
                        </a:spcAft>
                      </a:pPr>
                      <a:endParaRPr lang="en-IN" sz="1000" dirty="0"/>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val="630256731"/>
                  </a:ext>
                </a:extLst>
              </a:tr>
              <a:tr h="1126760">
                <a:tc>
                  <a:txBody>
                    <a:bodyPr/>
                    <a:lstStyle/>
                    <a:p>
                      <a:pPr algn="just">
                        <a:spcAft>
                          <a:spcPts val="500"/>
                        </a:spcAft>
                      </a:pPr>
                      <a:r>
                        <a:rPr lang="en-US" sz="1000" dirty="0"/>
                        <a:t>1</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Fuel Costs</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just">
                        <a:spcAft>
                          <a:spcPts val="500"/>
                        </a:spcAft>
                        <a:buFont typeface="Arial" panose="020B0604020202020204" pitchFamily="34" charset="0"/>
                        <a:buNone/>
                      </a:pPr>
                      <a:r>
                        <a:rPr lang="en-US" sz="1000" dirty="0"/>
                        <a:t>Fuel Costs</a:t>
                      </a:r>
                      <a:r>
                        <a:rPr lang="en-US" sz="1000" baseline="0" dirty="0"/>
                        <a:t> are pass through:</a:t>
                      </a:r>
                      <a:endParaRPr lang="en-US" sz="1000" dirty="0"/>
                    </a:p>
                    <a:p>
                      <a:pPr marL="171450" indent="-171450" algn="just">
                        <a:spcAft>
                          <a:spcPts val="500"/>
                        </a:spcAft>
                        <a:buFont typeface="Arial" panose="020B0604020202020204" pitchFamily="34" charset="0"/>
                        <a:buChar char="•"/>
                      </a:pPr>
                      <a:r>
                        <a:rPr lang="en-US" sz="1000" dirty="0"/>
                        <a:t>Gas – Gas price (BDT/MSCF)</a:t>
                      </a:r>
                      <a:r>
                        <a:rPr lang="en-US" sz="1000" baseline="0" dirty="0"/>
                        <a:t> as prescribed by the regulatory commission including all transportation charges and taxes payable</a:t>
                      </a:r>
                      <a:endParaRPr lang="en-US" sz="1000" dirty="0"/>
                    </a:p>
                    <a:p>
                      <a:pPr marL="171450" indent="-171450" algn="just">
                        <a:spcAft>
                          <a:spcPts val="500"/>
                        </a:spcAft>
                        <a:buFont typeface="Arial" panose="020B0604020202020204" pitchFamily="34" charset="0"/>
                        <a:buChar char="•"/>
                      </a:pPr>
                      <a:r>
                        <a:rPr lang="en-US" sz="1000" dirty="0"/>
                        <a:t>Fuel Oil – Price paid to the fuel supplier, Duties, taxes, fees, surcharges, etc. paid to Govt. authority, Freight, ocean loss, insurance, bank charges, letter of credit charges, lighterage, handling commission, port dues, survey fee, storage and handling charges, etc. incurred at actuals</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gridSpan="2">
                  <a:txBody>
                    <a:bodyPr/>
                    <a:lstStyle/>
                    <a:p>
                      <a:pPr algn="just"/>
                      <a:endParaRPr lang="en-GB"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GB"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6387994"/>
                  </a:ext>
                </a:extLst>
              </a:tr>
              <a:tr h="670266">
                <a:tc>
                  <a:txBody>
                    <a:bodyPr/>
                    <a:lstStyle/>
                    <a:p>
                      <a:pPr algn="just">
                        <a:spcAft>
                          <a:spcPts val="500"/>
                        </a:spcAft>
                      </a:pPr>
                      <a:r>
                        <a:rPr lang="en-US" sz="1000" dirty="0"/>
                        <a:t>2</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IN" sz="1000" dirty="0"/>
                        <a:t>Fuel Quality</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dirty="0"/>
                        <a:t>Fuel Oil – the actual Heat Value of Fuel Oil are considered for Energy Payment</a:t>
                      </a:r>
                    </a:p>
                    <a:p>
                      <a:pPr marL="171450" indent="-171450" algn="just">
                        <a:spcAft>
                          <a:spcPts val="500"/>
                        </a:spcAft>
                        <a:buFont typeface="Arial" panose="020B0604020202020204" pitchFamily="34" charset="0"/>
                        <a:buChar char="•"/>
                      </a:pPr>
                      <a:r>
                        <a:rPr lang="en-US" sz="1000" dirty="0"/>
                        <a:t>Gas – a HHV of 950 Btu/SCF is considered for Gas.</a:t>
                      </a:r>
                      <a:r>
                        <a:rPr lang="en-US" sz="1000" baseline="0" dirty="0"/>
                        <a:t> </a:t>
                      </a:r>
                      <a:r>
                        <a:rPr lang="en-US" sz="1000" dirty="0"/>
                        <a:t>There is no adjustment for the actual Btu content of the Gas</a:t>
                      </a:r>
                      <a:r>
                        <a:rPr lang="en-US" sz="1000" baseline="0" dirty="0"/>
                        <a:t> as per PPA. However, GSA provides a provision for the revision of the HHV. Thus there is no risk due to fuel quality.</a:t>
                      </a: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gridSpan="2">
                  <a:txBody>
                    <a:bodyPr/>
                    <a:lstStyle/>
                    <a:p>
                      <a:pPr algn="just"/>
                      <a:endParaRPr lang="en-GB"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GB"/>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58999269"/>
                  </a:ext>
                </a:extLst>
              </a:tr>
              <a:tr h="1048822">
                <a:tc>
                  <a:txBody>
                    <a:bodyPr/>
                    <a:lstStyle/>
                    <a:p>
                      <a:pPr algn="just">
                        <a:spcAft>
                          <a:spcPts val="500"/>
                        </a:spcAft>
                      </a:pPr>
                      <a:r>
                        <a:rPr lang="en-US" sz="1000" dirty="0"/>
                        <a:t>3</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IN" sz="1000" dirty="0"/>
                        <a:t>Major Maintenance</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dirty="0"/>
                        <a:t>Costs of major maintenance are built-in in the Tariff.</a:t>
                      </a:r>
                      <a:r>
                        <a:rPr lang="en-US" sz="1000" baseline="0" dirty="0"/>
                        <a:t> </a:t>
                      </a:r>
                      <a:r>
                        <a:rPr lang="en-US" sz="1000" dirty="0"/>
                        <a:t>However, the hours of schedule outages and maintenance outages are taken into consideration for the purpose of scheduling and dispatch</a:t>
                      </a:r>
                    </a:p>
                    <a:p>
                      <a:pPr marL="171450" indent="-171450" algn="just">
                        <a:spcAft>
                          <a:spcPts val="500"/>
                        </a:spcAft>
                        <a:buFont typeface="Arial" panose="020B0604020202020204" pitchFamily="34" charset="0"/>
                        <a:buChar char="•"/>
                      </a:pPr>
                      <a:r>
                        <a:rPr lang="en-US" sz="1000" dirty="0"/>
                        <a:t>Also for LD computation, there are allowable thresholds for the outage hours, up to which LD will not be applicable (876/1376</a:t>
                      </a:r>
                      <a:r>
                        <a:rPr lang="en-US" sz="1000" baseline="0" dirty="0"/>
                        <a:t> hours for gas and 1190/1580 hours for Fuel oil for Major maintenance/standard maintenance)</a:t>
                      </a:r>
                      <a:endParaRPr lang="en-US" sz="1000" dirty="0"/>
                    </a:p>
                    <a:p>
                      <a:pPr marL="171450" indent="-171450" algn="just">
                        <a:spcAft>
                          <a:spcPts val="500"/>
                        </a:spcAft>
                        <a:buFont typeface="Arial" panose="020B0604020202020204" pitchFamily="34" charset="0"/>
                        <a:buChar char="•"/>
                      </a:pP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gridSpan="2">
                  <a:txBody>
                    <a:bodyPr/>
                    <a:lstStyle/>
                    <a:p>
                      <a:pPr marL="0" indent="0" algn="just">
                        <a:spcAft>
                          <a:spcPts val="500"/>
                        </a:spcAft>
                        <a:buFont typeface="Arial" panose="020B0604020202020204" pitchFamily="34" charset="0"/>
                        <a:buNone/>
                      </a:pPr>
                      <a:r>
                        <a:rPr lang="en-US" sz="1000" dirty="0"/>
                        <a:t>There is no provision for separately allowing such costs. Thus in case the</a:t>
                      </a:r>
                      <a:r>
                        <a:rPr lang="en-US" sz="1000" baseline="0" dirty="0"/>
                        <a:t> plant is on 0 PLF then all the maintenance cost would be recovered</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marL="0" indent="0">
                        <a:spcAft>
                          <a:spcPts val="500"/>
                        </a:spcAft>
                        <a:buFont typeface="Arial" panose="020B0604020202020204" pitchFamily="34" charset="0"/>
                        <a:buNone/>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0562183"/>
                  </a:ext>
                </a:extLst>
              </a:tr>
              <a:tr h="1605522">
                <a:tc>
                  <a:txBody>
                    <a:bodyPr/>
                    <a:lstStyle/>
                    <a:p>
                      <a:pPr algn="just">
                        <a:spcAft>
                          <a:spcPts val="500"/>
                        </a:spcAft>
                      </a:pPr>
                      <a:r>
                        <a:rPr lang="en-US" sz="1000" dirty="0"/>
                        <a:t>4</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spcAft>
                          <a:spcPts val="500"/>
                        </a:spcAft>
                      </a:pPr>
                      <a:r>
                        <a:rPr lang="en-US" sz="1000" dirty="0"/>
                        <a:t>O&amp;M</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just">
                        <a:spcAft>
                          <a:spcPts val="500"/>
                        </a:spcAft>
                        <a:buFont typeface="Arial" panose="020B0604020202020204" pitchFamily="34" charset="0"/>
                        <a:buNone/>
                      </a:pPr>
                      <a:r>
                        <a:rPr lang="en-US" sz="1000" dirty="0"/>
                        <a:t>O&amp;M expenses are allowed in the Tariff under the Variable O&amp;M Payment that is payable based on the Reference Rates and the Net Energy Output</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gridSpan="2">
                  <a:txBody>
                    <a:bodyPr/>
                    <a:lstStyle/>
                    <a:p>
                      <a:pPr marL="0" indent="0" algn="just">
                        <a:spcAft>
                          <a:spcPts val="500"/>
                        </a:spcAft>
                        <a:buFont typeface="Arial" panose="020B0604020202020204" pitchFamily="34" charset="0"/>
                        <a:buNone/>
                      </a:pPr>
                      <a:r>
                        <a:rPr lang="en-US" sz="1000" dirty="0"/>
                        <a:t>O&amp;M costs are not pass through and are paid based on a reference rate quoted in the PPA. On the other hand, O&amp;M contracts specifies a flat rate of O&amp;M cost plus escalation. </a:t>
                      </a:r>
                    </a:p>
                    <a:p>
                      <a:pPr marL="0" indent="0" algn="just">
                        <a:spcAft>
                          <a:spcPts val="500"/>
                        </a:spcAft>
                        <a:buFont typeface="Arial" panose="020B0604020202020204" pitchFamily="34" charset="0"/>
                        <a:buNone/>
                      </a:pPr>
                      <a:r>
                        <a:rPr lang="en-US" sz="1000" dirty="0"/>
                        <a:t>Thus in case the plant</a:t>
                      </a:r>
                      <a:r>
                        <a:rPr lang="en-US" sz="1000" baseline="0" dirty="0"/>
                        <a:t> is not dispatched it could lead to under recovery of the O&amp;M costs</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marL="0" indent="0">
                        <a:spcAft>
                          <a:spcPts val="500"/>
                        </a:spcAft>
                        <a:buFont typeface="Arial" panose="020B0604020202020204" pitchFamily="34" charset="0"/>
                        <a:buNone/>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16669908"/>
                  </a:ext>
                </a:extLst>
              </a:tr>
            </a:tbl>
          </a:graphicData>
        </a:graphic>
      </p:graphicFrame>
      <p:sp>
        <p:nvSpPr>
          <p:cNvPr id="5" name="Rectangle 4"/>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PPA, Deloitte Analysis</a:t>
            </a:r>
          </a:p>
        </p:txBody>
      </p:sp>
    </p:spTree>
    <p:extLst>
      <p:ext uri="{BB962C8B-B14F-4D97-AF65-F5344CB8AC3E}">
        <p14:creationId xmlns:p14="http://schemas.microsoft.com/office/powerpoint/2010/main" val="22339483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Strapline"/>
          <p:cNvSpPr>
            <a:spLocks noGrp="1"/>
          </p:cNvSpPr>
          <p:nvPr>
            <p:ph type="body" sz="quarter" idx="13"/>
          </p:nvPr>
        </p:nvSpPr>
        <p:spPr>
          <a:xfrm>
            <a:off x="449993" y="1079983"/>
            <a:ext cx="9791843" cy="518392"/>
          </a:xfrm>
        </p:spPr>
        <p:txBody>
          <a:bodyPr lIns="0" tIns="0" rIns="0" bIns="0" anchor="t">
            <a:noAutofit/>
          </a:bodyPr>
          <a:lstStyle/>
          <a:p>
            <a:r>
              <a:rPr lang="en-US" b="1" dirty="0">
                <a:solidFill>
                  <a:schemeClr val="tx1">
                    <a:lumMod val="50000"/>
                    <a:lumOff val="50000"/>
                  </a:schemeClr>
                </a:solidFill>
                <a:latin typeface="Verdana" panose="020B0604030504040204" pitchFamily="34" charset="0"/>
              </a:rPr>
              <a:t>Additional Tariff</a:t>
            </a:r>
            <a:endParaRPr lang="en-GB" b="1" dirty="0">
              <a:solidFill>
                <a:schemeClr val="tx1">
                  <a:lumMod val="50000"/>
                  <a:lumOff val="50000"/>
                </a:schemeClr>
              </a:solidFill>
              <a:latin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US" dirty="0"/>
              <a:t>Power Purchase Agreement | Key Terms</a:t>
            </a:r>
            <a:endParaRPr lang="en-GB" noProof="0" dirty="0">
              <a:solidFill>
                <a:srgbClr val="000000"/>
              </a:solidFill>
              <a:latin typeface="Verdana" panose="020B0604030504040204" pitchFamily="34" charset="0"/>
            </a:endParaRPr>
          </a:p>
        </p:txBody>
      </p:sp>
      <p:graphicFrame>
        <p:nvGraphicFramePr>
          <p:cNvPr id="2" name="Table 1"/>
          <p:cNvGraphicFramePr>
            <a:graphicFrameLocks noGrp="1"/>
          </p:cNvGraphicFramePr>
          <p:nvPr>
            <p:extLst>
              <p:ext uri="{D42A27DB-BD31-4B8C-83A1-F6EECF244321}">
                <p14:modId xmlns:p14="http://schemas.microsoft.com/office/powerpoint/2010/main" val="1268999189"/>
              </p:ext>
            </p:extLst>
          </p:nvPr>
        </p:nvGraphicFramePr>
        <p:xfrm>
          <a:off x="449992" y="1598375"/>
          <a:ext cx="9791843" cy="2778760"/>
        </p:xfrm>
        <a:graphic>
          <a:graphicData uri="http://schemas.openxmlformats.org/drawingml/2006/table">
            <a:tbl>
              <a:tblPr firstRow="1">
                <a:tableStyleId>{3B4B98B0-60AC-42C2-AFA5-B58CD77FA1E5}</a:tableStyleId>
              </a:tblPr>
              <a:tblGrid>
                <a:gridCol w="553860">
                  <a:extLst>
                    <a:ext uri="{9D8B030D-6E8A-4147-A177-3AD203B41FA5}">
                      <a16:colId xmlns:a16="http://schemas.microsoft.com/office/drawing/2014/main" val="3671827557"/>
                    </a:ext>
                  </a:extLst>
                </a:gridCol>
                <a:gridCol w="1023731">
                  <a:extLst>
                    <a:ext uri="{9D8B030D-6E8A-4147-A177-3AD203B41FA5}">
                      <a16:colId xmlns:a16="http://schemas.microsoft.com/office/drawing/2014/main" val="2911403996"/>
                    </a:ext>
                  </a:extLst>
                </a:gridCol>
                <a:gridCol w="6748669">
                  <a:extLst>
                    <a:ext uri="{9D8B030D-6E8A-4147-A177-3AD203B41FA5}">
                      <a16:colId xmlns:a16="http://schemas.microsoft.com/office/drawing/2014/main" val="1355348493"/>
                    </a:ext>
                  </a:extLst>
                </a:gridCol>
                <a:gridCol w="1465583">
                  <a:extLst>
                    <a:ext uri="{9D8B030D-6E8A-4147-A177-3AD203B41FA5}">
                      <a16:colId xmlns:a16="http://schemas.microsoft.com/office/drawing/2014/main" val="3999508094"/>
                    </a:ext>
                  </a:extLst>
                </a:gridCol>
              </a:tblGrid>
              <a:tr h="298635">
                <a:tc>
                  <a:txBody>
                    <a:bodyPr/>
                    <a:lstStyle/>
                    <a:p>
                      <a:pPr>
                        <a:spcAft>
                          <a:spcPts val="500"/>
                        </a:spcAft>
                      </a:pPr>
                      <a:r>
                        <a:rPr lang="en-US" sz="1000" dirty="0"/>
                        <a:t>Sr. No</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Parameter</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Conditions</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Key</a:t>
                      </a:r>
                      <a:r>
                        <a:rPr lang="en-US" sz="1000" baseline="0" dirty="0"/>
                        <a:t> risks</a:t>
                      </a:r>
                      <a:endParaRPr lang="en-IN" sz="10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5669302"/>
                  </a:ext>
                </a:extLst>
              </a:tr>
              <a:tr h="1083509">
                <a:tc>
                  <a:txBody>
                    <a:bodyPr/>
                    <a:lstStyle/>
                    <a:p>
                      <a:pPr>
                        <a:spcAft>
                          <a:spcPts val="500"/>
                        </a:spcAft>
                      </a:pPr>
                      <a:r>
                        <a:rPr lang="en-US" sz="1000" dirty="0"/>
                        <a:t>5</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Taxes</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dirty="0"/>
                        <a:t>Custom Duties and VAT paid under</a:t>
                      </a:r>
                      <a:r>
                        <a:rPr lang="en-US" sz="1000" baseline="0" dirty="0"/>
                        <a:t> protest but should have been exempted </a:t>
                      </a:r>
                      <a:r>
                        <a:rPr lang="en-US" sz="1000" dirty="0"/>
                        <a:t>and which are not refunded by the Customs Authority within 270 days after Company</a:t>
                      </a:r>
                      <a:r>
                        <a:rPr lang="en-US" sz="1000" baseline="0" dirty="0"/>
                        <a:t> files refund claims </a:t>
                      </a:r>
                      <a:r>
                        <a:rPr lang="en-US" sz="1000" dirty="0"/>
                        <a:t>will be passed through. </a:t>
                      </a:r>
                    </a:p>
                    <a:p>
                      <a:pPr marL="171450" indent="-171450" algn="just">
                        <a:spcAft>
                          <a:spcPts val="500"/>
                        </a:spcAft>
                        <a:buFont typeface="Arial" panose="020B0604020202020204" pitchFamily="34" charset="0"/>
                        <a:buChar char="•"/>
                      </a:pPr>
                      <a:r>
                        <a:rPr lang="en-US" sz="1000" dirty="0"/>
                        <a:t>There are few tax-exemptions to the Company as per Sec. 13.1(e)(ii) to 13.1(e)(xv)</a:t>
                      </a:r>
                      <a:r>
                        <a:rPr lang="en-US" sz="1000" baseline="0" dirty="0"/>
                        <a:t> of the PPA</a:t>
                      </a:r>
                      <a:endParaRPr lang="en-US" sz="1000" dirty="0"/>
                    </a:p>
                    <a:p>
                      <a:pPr marL="171450" indent="-171450" algn="just">
                        <a:spcAft>
                          <a:spcPts val="500"/>
                        </a:spcAft>
                        <a:buFont typeface="Arial" panose="020B0604020202020204" pitchFamily="34" charset="0"/>
                        <a:buChar char="•"/>
                      </a:pPr>
                      <a:r>
                        <a:rPr lang="en-US" sz="1000" dirty="0"/>
                        <a:t>Other than the exemptions as per the PPA and IA, the Company will have to pay all taxes, contributions, rates, charges and fees payable to any Govt. authority, arising in connection to construction, ownership, operation or maintenance of the facility. These are built-in in the Tariff and there is no separate provision for pass-through of these items.</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spcAft>
                          <a:spcPts val="500"/>
                        </a:spcAft>
                        <a:buFont typeface="Arial" panose="020B0604020202020204" pitchFamily="34" charset="0"/>
                        <a:buNone/>
                      </a:pPr>
                      <a:r>
                        <a:rPr lang="en-US" sz="1000" dirty="0"/>
                        <a:t>Taxes are not a pass through except for taxes on fuel/gas</a:t>
                      </a:r>
                    </a:p>
                    <a:p>
                      <a:pPr marL="0" indent="0">
                        <a:spcAft>
                          <a:spcPts val="500"/>
                        </a:spcAft>
                        <a:buFont typeface="Arial" panose="020B0604020202020204" pitchFamily="34" charset="0"/>
                        <a:buNone/>
                      </a:pPr>
                      <a:r>
                        <a:rPr lang="en-US" sz="1000" dirty="0"/>
                        <a:t>Rest exemptions as mentioned still hold true</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6387994"/>
                  </a:ext>
                </a:extLst>
              </a:tr>
              <a:tr h="298635">
                <a:tc>
                  <a:txBody>
                    <a:bodyPr/>
                    <a:lstStyle/>
                    <a:p>
                      <a:pPr>
                        <a:spcAft>
                          <a:spcPts val="500"/>
                        </a:spcAft>
                      </a:pPr>
                      <a:r>
                        <a:rPr lang="en-IN" sz="1000" dirty="0"/>
                        <a:t>6</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spcAft>
                          <a:spcPts val="500"/>
                        </a:spcAft>
                      </a:pPr>
                      <a:r>
                        <a:rPr lang="en-IN" sz="1000" dirty="0"/>
                        <a:t>Insurance </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dirty="0"/>
                        <a:t>In case due to Political Event the cost of insurance increases then the additional cost of insurance due to</a:t>
                      </a:r>
                      <a:r>
                        <a:rPr lang="en-US" sz="1000" baseline="0" dirty="0"/>
                        <a:t> such Political Event shall be treated as a Pass Through Item </a:t>
                      </a: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spcAft>
                          <a:spcPts val="500"/>
                        </a:spcAft>
                        <a:buFont typeface="Arial" panose="020B0604020202020204" pitchFamily="34" charset="0"/>
                        <a:buNone/>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1168640"/>
                  </a:ext>
                </a:extLst>
              </a:tr>
              <a:tr h="413495">
                <a:tc>
                  <a:txBody>
                    <a:bodyPr/>
                    <a:lstStyle/>
                    <a:p>
                      <a:pPr>
                        <a:spcAft>
                          <a:spcPts val="500"/>
                        </a:spcAft>
                      </a:pPr>
                      <a:r>
                        <a:rPr lang="en-IN" sz="1000" dirty="0"/>
                        <a:t>7</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spcAft>
                          <a:spcPts val="500"/>
                        </a:spcAft>
                      </a:pPr>
                      <a:r>
                        <a:rPr lang="en-IN" sz="1000" dirty="0"/>
                        <a:t>Protective Devices for EIF</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dirty="0"/>
                        <a:t>In case PGCB requires the Company to modify or expand the requirements for</a:t>
                      </a:r>
                      <a:r>
                        <a:rPr lang="en-US" sz="1000" baseline="0" dirty="0"/>
                        <a:t> protective devices after Project Effective date then PGCB shall reimburse the Company for these costs as per the IA</a:t>
                      </a: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spcAft>
                          <a:spcPts val="500"/>
                        </a:spcAft>
                        <a:buFont typeface="Arial" panose="020B0604020202020204" pitchFamily="34" charset="0"/>
                        <a:buNone/>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9617361"/>
                  </a:ext>
                </a:extLst>
              </a:tr>
            </a:tbl>
          </a:graphicData>
        </a:graphic>
      </p:graphicFrame>
      <p:sp>
        <p:nvSpPr>
          <p:cNvPr id="5" name="Rectangle 4"/>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PPA, Deloitte Analysis</a:t>
            </a:r>
          </a:p>
        </p:txBody>
      </p:sp>
    </p:spTree>
    <p:extLst>
      <p:ext uri="{BB962C8B-B14F-4D97-AF65-F5344CB8AC3E}">
        <p14:creationId xmlns:p14="http://schemas.microsoft.com/office/powerpoint/2010/main" val="195256540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Strapline"/>
          <p:cNvSpPr>
            <a:spLocks noGrp="1"/>
          </p:cNvSpPr>
          <p:nvPr>
            <p:ph type="body" sz="quarter" idx="13"/>
          </p:nvPr>
        </p:nvSpPr>
        <p:spPr>
          <a:xfrm>
            <a:off x="449993" y="1079983"/>
            <a:ext cx="9791843" cy="518392"/>
          </a:xfrm>
        </p:spPr>
        <p:txBody>
          <a:bodyPr lIns="0" tIns="0" rIns="0" bIns="0" anchor="t">
            <a:noAutofit/>
          </a:bodyPr>
          <a:lstStyle/>
          <a:p>
            <a:r>
              <a:rPr lang="en-US" b="1" dirty="0">
                <a:solidFill>
                  <a:schemeClr val="tx1">
                    <a:lumMod val="50000"/>
                    <a:lumOff val="50000"/>
                  </a:schemeClr>
                </a:solidFill>
                <a:latin typeface="Verdana" panose="020B0604030504040204" pitchFamily="34" charset="0"/>
              </a:rPr>
              <a:t>Additional Tariff</a:t>
            </a:r>
            <a:endParaRPr lang="en-GB" b="1" dirty="0">
              <a:solidFill>
                <a:schemeClr val="tx1">
                  <a:lumMod val="50000"/>
                  <a:lumOff val="50000"/>
                </a:schemeClr>
              </a:solidFill>
              <a:latin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US" dirty="0"/>
              <a:t>Power Purchase Agreement | Key Terms</a:t>
            </a:r>
            <a:endParaRPr lang="en-GB" noProof="0" dirty="0">
              <a:solidFill>
                <a:srgbClr val="000000"/>
              </a:solidFill>
              <a:latin typeface="Verdana" panose="020B0604030504040204" pitchFamily="34" charset="0"/>
            </a:endParaRPr>
          </a:p>
        </p:txBody>
      </p:sp>
      <p:graphicFrame>
        <p:nvGraphicFramePr>
          <p:cNvPr id="2" name="Table 1"/>
          <p:cNvGraphicFramePr>
            <a:graphicFrameLocks noGrp="1"/>
          </p:cNvGraphicFramePr>
          <p:nvPr>
            <p:extLst>
              <p:ext uri="{D42A27DB-BD31-4B8C-83A1-F6EECF244321}">
                <p14:modId xmlns:p14="http://schemas.microsoft.com/office/powerpoint/2010/main" val="773650458"/>
              </p:ext>
            </p:extLst>
          </p:nvPr>
        </p:nvGraphicFramePr>
        <p:xfrm>
          <a:off x="449992" y="1598376"/>
          <a:ext cx="9791843" cy="5433060"/>
        </p:xfrm>
        <a:graphic>
          <a:graphicData uri="http://schemas.openxmlformats.org/drawingml/2006/table">
            <a:tbl>
              <a:tblPr firstRow="1">
                <a:tableStyleId>{3B4B98B0-60AC-42C2-AFA5-B58CD77FA1E5}</a:tableStyleId>
              </a:tblPr>
              <a:tblGrid>
                <a:gridCol w="553860">
                  <a:extLst>
                    <a:ext uri="{9D8B030D-6E8A-4147-A177-3AD203B41FA5}">
                      <a16:colId xmlns:a16="http://schemas.microsoft.com/office/drawing/2014/main" val="3671827557"/>
                    </a:ext>
                  </a:extLst>
                </a:gridCol>
                <a:gridCol w="1023731">
                  <a:extLst>
                    <a:ext uri="{9D8B030D-6E8A-4147-A177-3AD203B41FA5}">
                      <a16:colId xmlns:a16="http://schemas.microsoft.com/office/drawing/2014/main" val="2911403996"/>
                    </a:ext>
                  </a:extLst>
                </a:gridCol>
                <a:gridCol w="6748669">
                  <a:extLst>
                    <a:ext uri="{9D8B030D-6E8A-4147-A177-3AD203B41FA5}">
                      <a16:colId xmlns:a16="http://schemas.microsoft.com/office/drawing/2014/main" val="1355348493"/>
                    </a:ext>
                  </a:extLst>
                </a:gridCol>
                <a:gridCol w="1465583">
                  <a:extLst>
                    <a:ext uri="{9D8B030D-6E8A-4147-A177-3AD203B41FA5}">
                      <a16:colId xmlns:a16="http://schemas.microsoft.com/office/drawing/2014/main" val="3999508094"/>
                    </a:ext>
                  </a:extLst>
                </a:gridCol>
              </a:tblGrid>
              <a:tr h="135679">
                <a:tc>
                  <a:txBody>
                    <a:bodyPr/>
                    <a:lstStyle/>
                    <a:p>
                      <a:pPr>
                        <a:spcAft>
                          <a:spcPts val="500"/>
                        </a:spcAft>
                      </a:pPr>
                      <a:r>
                        <a:rPr lang="en-US" sz="1000" dirty="0"/>
                        <a:t>Sr. No</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Parameter</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Conditions</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Key</a:t>
                      </a:r>
                      <a:r>
                        <a:rPr lang="en-US" sz="1000" baseline="0" dirty="0"/>
                        <a:t> risks</a:t>
                      </a:r>
                      <a:endParaRPr lang="en-IN" sz="10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5669302"/>
                  </a:ext>
                </a:extLst>
              </a:tr>
              <a:tr h="0">
                <a:tc gridSpan="4">
                  <a:txBody>
                    <a:bodyPr/>
                    <a:lstStyle/>
                    <a:p>
                      <a:pPr>
                        <a:spcAft>
                          <a:spcPts val="500"/>
                        </a:spcAft>
                      </a:pPr>
                      <a:r>
                        <a:rPr lang="en-US" sz="1000" b="1" i="1" dirty="0"/>
                        <a:t>Comment on PPA terms (if any) regarding additional tariff (over and above the existing PPA tariff)</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hMerge="1">
                  <a:txBody>
                    <a:bodyPr/>
                    <a:lstStyle/>
                    <a:p>
                      <a:pPr>
                        <a:spcAft>
                          <a:spcPts val="500"/>
                        </a:spcAft>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marL="171450" indent="-171450">
                        <a:spcAft>
                          <a:spcPts val="500"/>
                        </a:spcAft>
                        <a:buFont typeface="Arial" panose="020B0604020202020204" pitchFamily="34" charset="0"/>
                        <a:buChar char="•"/>
                      </a:pP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marL="0" indent="0">
                        <a:spcAft>
                          <a:spcPts val="500"/>
                        </a:spcAft>
                        <a:buFont typeface="Arial" panose="020B0604020202020204" pitchFamily="34" charset="0"/>
                        <a:buNone/>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58999269"/>
                  </a:ext>
                </a:extLst>
              </a:tr>
              <a:tr h="1401144">
                <a:tc>
                  <a:txBody>
                    <a:bodyPr/>
                    <a:lstStyle/>
                    <a:p>
                      <a:pPr>
                        <a:spcAft>
                          <a:spcPts val="500"/>
                        </a:spcAft>
                      </a:pPr>
                      <a:r>
                        <a:rPr lang="en-US" sz="1000" dirty="0"/>
                        <a:t>1</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spcAft>
                          <a:spcPts val="500"/>
                        </a:spcAft>
                      </a:pPr>
                      <a:r>
                        <a:rPr lang="en-IN" sz="1000" dirty="0"/>
                        <a:t>Use of alternate fuels</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dirty="0"/>
                        <a:t>The preferred fuel for operation will be Gas. In case of a Gas Supplier Force Majeure Event or a Political Event, the Company should promptly inform BPDB and the Other Fuel Notice Parties of such an Event. Within 5 days of receipt of notice, BPDB shall decide to:</a:t>
                      </a:r>
                    </a:p>
                    <a:p>
                      <a:pPr marL="666736" lvl="1" indent="-171450" algn="just">
                        <a:spcAft>
                          <a:spcPts val="500"/>
                        </a:spcAft>
                        <a:buFont typeface="Arial" panose="020B0604020202020204" pitchFamily="34" charset="0"/>
                        <a:buChar char="•"/>
                      </a:pPr>
                      <a:r>
                        <a:rPr lang="en-US" sz="1000" dirty="0"/>
                        <a:t>a) Switch from Gas to Other Fuel</a:t>
                      </a:r>
                    </a:p>
                    <a:p>
                      <a:pPr marL="666736" lvl="1" indent="-171450" algn="just">
                        <a:spcAft>
                          <a:spcPts val="500"/>
                        </a:spcAft>
                        <a:buFont typeface="Arial" panose="020B0604020202020204" pitchFamily="34" charset="0"/>
                        <a:buChar char="•"/>
                      </a:pPr>
                      <a:r>
                        <a:rPr lang="en-US" sz="1000" dirty="0"/>
                        <a:t>b) Cease operations</a:t>
                      </a:r>
                    </a:p>
                    <a:p>
                      <a:pPr marL="666736" lvl="1" indent="-171450" algn="just">
                        <a:spcAft>
                          <a:spcPts val="500"/>
                        </a:spcAft>
                        <a:buFont typeface="Arial" panose="020B0604020202020204" pitchFamily="34" charset="0"/>
                        <a:buChar char="•"/>
                      </a:pPr>
                      <a:r>
                        <a:rPr lang="en-US" sz="1000" dirty="0"/>
                        <a:t>and specify whether the Company should use any remaining fuel oil at the facility</a:t>
                      </a:r>
                    </a:p>
                    <a:p>
                      <a:pPr marL="171450" indent="-171450" algn="just">
                        <a:spcAft>
                          <a:spcPts val="500"/>
                        </a:spcAft>
                        <a:buFont typeface="Arial" panose="020B0604020202020204" pitchFamily="34" charset="0"/>
                        <a:buChar char="•"/>
                      </a:pPr>
                      <a:r>
                        <a:rPr lang="en-US" sz="1000" dirty="0"/>
                        <a:t>In case of such an event, the Company will first procure fuel oil for 15 days supply for continuous operation of the facility at 80% dependable capacity (three days supply in case the event occurs before COD)</a:t>
                      </a:r>
                    </a:p>
                    <a:p>
                      <a:pPr marL="171450" indent="-171450" algn="just">
                        <a:spcAft>
                          <a:spcPts val="500"/>
                        </a:spcAft>
                        <a:buFont typeface="Arial" panose="020B0604020202020204" pitchFamily="34" charset="0"/>
                        <a:buChar char="•"/>
                      </a:pPr>
                      <a:r>
                        <a:rPr lang="en-US" sz="1000" dirty="0"/>
                        <a:t>Once the Force Majeure Event/ Political event has passed, the Gas Supplier will serve a Cessation Notice following which the Company shall cancel any outstanding fuel orders within 2 days of receipt of such notice. The canceled outstanding Fuel Oil will be required to be supplied by the Fuel Supplier to BPDB who shall indemnify the Company for loss due to such diverted fuel oil. Any excess store of fuel oil of more than 3 days requirement will be utilized to generation till the stock reduces to 3 days worth of requirement. </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spcAft>
                          <a:spcPts val="500"/>
                        </a:spcAft>
                        <a:buFont typeface="Arial" panose="020B0604020202020204" pitchFamily="34" charset="0"/>
                        <a:buChar char="•"/>
                      </a:pPr>
                      <a:r>
                        <a:rPr lang="en-US" sz="1000" dirty="0"/>
                        <a:t>Switch from Gas to other fuel only covers FM and PE events</a:t>
                      </a:r>
                    </a:p>
                    <a:p>
                      <a:pPr marL="171450" indent="-171450">
                        <a:spcAft>
                          <a:spcPts val="500"/>
                        </a:spcAft>
                        <a:buFont typeface="Arial" panose="020B0604020202020204" pitchFamily="34" charset="0"/>
                        <a:buChar char="•"/>
                      </a:pPr>
                      <a:r>
                        <a:rPr lang="en-US" sz="1000" dirty="0"/>
                        <a:t>Right to switch to alternate fuel is provided only to BPDB,</a:t>
                      </a:r>
                      <a:r>
                        <a:rPr lang="en-US" sz="1000" baseline="0" dirty="0"/>
                        <a:t> NVVN </a:t>
                      </a:r>
                      <a:r>
                        <a:rPr lang="en-US" sz="1000" dirty="0"/>
                        <a:t>cannot do it suo-moto</a:t>
                      </a:r>
                    </a:p>
                    <a:p>
                      <a:pPr marL="171450" indent="-171450">
                        <a:spcAft>
                          <a:spcPts val="500"/>
                        </a:spcAft>
                        <a:buFont typeface="Arial" panose="020B0604020202020204" pitchFamily="34" charset="0"/>
                        <a:buChar char="•"/>
                      </a:pPr>
                      <a:r>
                        <a:rPr lang="en-US" sz="1000" dirty="0"/>
                        <a:t>In</a:t>
                      </a:r>
                      <a:r>
                        <a:rPr lang="en-US" sz="1000" baseline="0" dirty="0"/>
                        <a:t> case Gas is not supplied and NVVN raises it as an PE event and BPDB does not give permission to switch even then Capacity Payments would continue to happen, which reduces any financial risk on the project </a:t>
                      </a: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0562183"/>
                  </a:ext>
                </a:extLst>
              </a:tr>
              <a:tr h="323159">
                <a:tc>
                  <a:txBody>
                    <a:bodyPr/>
                    <a:lstStyle/>
                    <a:p>
                      <a:pPr>
                        <a:spcAft>
                          <a:spcPts val="500"/>
                        </a:spcAft>
                      </a:pPr>
                      <a:r>
                        <a:rPr lang="en-US" sz="1000" dirty="0"/>
                        <a:t>2</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Change in law</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dirty="0"/>
                        <a:t>There is a provision for Supplemental Tariff for Change in Law, in case the Change in Law requires material modification or capital addition by the Company (as per Sec. 11B of the Imp. Agreement), or any increase in operating costs as approved by GOB in the manner provided by the</a:t>
                      </a:r>
                      <a:r>
                        <a:rPr lang="en-US" sz="1000" baseline="0" dirty="0"/>
                        <a:t> IA</a:t>
                      </a:r>
                      <a:endParaRPr lang="en-US" sz="1000" dirty="0"/>
                    </a:p>
                    <a:p>
                      <a:pPr marL="171450" indent="-171450" algn="just">
                        <a:spcAft>
                          <a:spcPts val="500"/>
                        </a:spcAft>
                        <a:buFont typeface="Arial" panose="020B0604020202020204" pitchFamily="34" charset="0"/>
                        <a:buChar char="•"/>
                      </a:pPr>
                      <a:r>
                        <a:rPr lang="en-US" sz="1000" dirty="0"/>
                        <a:t>The Supplemental tariff is to be calculated in the same manner and basis as the Capacity Payment and Energy Payment, and will be payable on monthly basis</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spcAft>
                          <a:spcPts val="500"/>
                        </a:spcAft>
                        <a:buFont typeface="Arial" panose="020B0604020202020204" pitchFamily="34" charset="0"/>
                        <a:buChar char="•"/>
                      </a:pP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01267218"/>
                  </a:ext>
                </a:extLst>
              </a:tr>
            </a:tbl>
          </a:graphicData>
        </a:graphic>
      </p:graphicFrame>
      <p:sp>
        <p:nvSpPr>
          <p:cNvPr id="5" name="Rectangle 4"/>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PPA, Deloitte Analysis</a:t>
            </a:r>
          </a:p>
        </p:txBody>
      </p:sp>
    </p:spTree>
    <p:extLst>
      <p:ext uri="{BB962C8B-B14F-4D97-AF65-F5344CB8AC3E}">
        <p14:creationId xmlns:p14="http://schemas.microsoft.com/office/powerpoint/2010/main" val="367561291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Strapline"/>
          <p:cNvSpPr>
            <a:spLocks noGrp="1"/>
          </p:cNvSpPr>
          <p:nvPr>
            <p:ph type="body" sz="quarter" idx="13"/>
          </p:nvPr>
        </p:nvSpPr>
        <p:spPr>
          <a:xfrm>
            <a:off x="449993" y="1079983"/>
            <a:ext cx="9791843" cy="518392"/>
          </a:xfrm>
        </p:spPr>
        <p:txBody>
          <a:bodyPr lIns="0" tIns="0" rIns="0" bIns="0" anchor="t">
            <a:noAutofit/>
          </a:bodyPr>
          <a:lstStyle/>
          <a:p>
            <a:r>
              <a:rPr lang="en-US" b="1" dirty="0">
                <a:solidFill>
                  <a:schemeClr val="tx1">
                    <a:lumMod val="50000"/>
                    <a:lumOff val="50000"/>
                  </a:schemeClr>
                </a:solidFill>
                <a:latin typeface="Verdana" panose="020B0604030504040204" pitchFamily="34" charset="0"/>
              </a:rPr>
              <a:t>Rebates/Incentives</a:t>
            </a:r>
          </a:p>
          <a:p>
            <a:endParaRPr lang="en-GB" b="1" dirty="0">
              <a:solidFill>
                <a:schemeClr val="tx1">
                  <a:lumMod val="50000"/>
                  <a:lumOff val="50000"/>
                </a:schemeClr>
              </a:solidFill>
              <a:latin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US" dirty="0"/>
              <a:t>Power Purchase Agreement | Key Terms</a:t>
            </a:r>
            <a:endParaRPr lang="en-GB" noProof="0" dirty="0">
              <a:solidFill>
                <a:srgbClr val="000000"/>
              </a:solidFill>
              <a:latin typeface="Verdana" panose="020B0604030504040204" pitchFamily="34" charset="0"/>
            </a:endParaRPr>
          </a:p>
        </p:txBody>
      </p:sp>
      <p:graphicFrame>
        <p:nvGraphicFramePr>
          <p:cNvPr id="2" name="Table 1"/>
          <p:cNvGraphicFramePr>
            <a:graphicFrameLocks noGrp="1"/>
          </p:cNvGraphicFramePr>
          <p:nvPr>
            <p:extLst>
              <p:ext uri="{D42A27DB-BD31-4B8C-83A1-F6EECF244321}">
                <p14:modId xmlns:p14="http://schemas.microsoft.com/office/powerpoint/2010/main" val="1518911056"/>
              </p:ext>
            </p:extLst>
          </p:nvPr>
        </p:nvGraphicFramePr>
        <p:xfrm>
          <a:off x="449992" y="1517351"/>
          <a:ext cx="9791843" cy="5433060"/>
        </p:xfrm>
        <a:graphic>
          <a:graphicData uri="http://schemas.openxmlformats.org/drawingml/2006/table">
            <a:tbl>
              <a:tblPr firstRow="1">
                <a:tableStyleId>{3B4B98B0-60AC-42C2-AFA5-B58CD77FA1E5}</a:tableStyleId>
              </a:tblPr>
              <a:tblGrid>
                <a:gridCol w="553860">
                  <a:extLst>
                    <a:ext uri="{9D8B030D-6E8A-4147-A177-3AD203B41FA5}">
                      <a16:colId xmlns:a16="http://schemas.microsoft.com/office/drawing/2014/main" val="3671827557"/>
                    </a:ext>
                  </a:extLst>
                </a:gridCol>
                <a:gridCol w="1669900">
                  <a:extLst>
                    <a:ext uri="{9D8B030D-6E8A-4147-A177-3AD203B41FA5}">
                      <a16:colId xmlns:a16="http://schemas.microsoft.com/office/drawing/2014/main" val="2911403996"/>
                    </a:ext>
                  </a:extLst>
                </a:gridCol>
                <a:gridCol w="5509549">
                  <a:extLst>
                    <a:ext uri="{9D8B030D-6E8A-4147-A177-3AD203B41FA5}">
                      <a16:colId xmlns:a16="http://schemas.microsoft.com/office/drawing/2014/main" val="1296345571"/>
                    </a:ext>
                  </a:extLst>
                </a:gridCol>
                <a:gridCol w="2058534">
                  <a:extLst>
                    <a:ext uri="{9D8B030D-6E8A-4147-A177-3AD203B41FA5}">
                      <a16:colId xmlns:a16="http://schemas.microsoft.com/office/drawing/2014/main" val="3207811341"/>
                    </a:ext>
                  </a:extLst>
                </a:gridCol>
              </a:tblGrid>
              <a:tr h="315237">
                <a:tc>
                  <a:txBody>
                    <a:bodyPr/>
                    <a:lstStyle/>
                    <a:p>
                      <a:pPr>
                        <a:spcAft>
                          <a:spcPts val="500"/>
                        </a:spcAft>
                      </a:pPr>
                      <a:r>
                        <a:rPr lang="en-US" sz="1000" dirty="0"/>
                        <a:t>Sr. No</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Parameter</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Conditions</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Key</a:t>
                      </a:r>
                      <a:r>
                        <a:rPr lang="en-US" sz="1000" baseline="0" dirty="0"/>
                        <a:t> risks</a:t>
                      </a:r>
                      <a:endParaRPr lang="en-IN" sz="10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5669302"/>
                  </a:ext>
                </a:extLst>
              </a:tr>
              <a:tr h="800216">
                <a:tc>
                  <a:txBody>
                    <a:bodyPr/>
                    <a:lstStyle/>
                    <a:p>
                      <a:pPr>
                        <a:spcAft>
                          <a:spcPts val="500"/>
                        </a:spcAft>
                      </a:pPr>
                      <a:r>
                        <a:rPr lang="en-US" sz="1000" dirty="0"/>
                        <a:t>3</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spcAft>
                          <a:spcPts val="500"/>
                        </a:spcAft>
                      </a:pPr>
                      <a:r>
                        <a:rPr lang="en-IN" sz="1000" dirty="0"/>
                        <a:t>Late payment fee</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dirty="0"/>
                        <a:t>There is no provision for late payment fee or surcharge</a:t>
                      </a:r>
                    </a:p>
                    <a:p>
                      <a:pPr marL="171450" indent="-171450" algn="just">
                        <a:spcAft>
                          <a:spcPts val="500"/>
                        </a:spcAft>
                        <a:buFont typeface="Arial" panose="020B0604020202020204" pitchFamily="34" charset="0"/>
                        <a:buChar char="•"/>
                      </a:pPr>
                      <a:r>
                        <a:rPr lang="en-US" sz="1000" dirty="0"/>
                        <a:t>However, in case of</a:t>
                      </a:r>
                      <a:r>
                        <a:rPr lang="en-US" sz="1000" baseline="0" dirty="0"/>
                        <a:t> non payment of invoices beyond 10 days following the due date (30 days after invoice submission) the Company can suspend delivery of power however BPDB would still need to continue to pay Full Capacity charges </a:t>
                      </a: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just">
                        <a:spcAft>
                          <a:spcPts val="500"/>
                        </a:spcAft>
                        <a:buFont typeface="Arial" panose="020B0604020202020204" pitchFamily="34" charset="0"/>
                        <a:buNone/>
                      </a:pPr>
                      <a:r>
                        <a:rPr lang="en-US" sz="1000" dirty="0"/>
                        <a:t>The PPA does not have any provision for late payment fee whereas</a:t>
                      </a:r>
                      <a:r>
                        <a:rPr lang="en-US" sz="1000" baseline="0" dirty="0"/>
                        <a:t> the GSA/FSA/O&amp;M agreements have the same. This could lead to working capital issues. </a:t>
                      </a:r>
                    </a:p>
                    <a:p>
                      <a:pPr marL="0" indent="0" algn="just">
                        <a:spcAft>
                          <a:spcPts val="500"/>
                        </a:spcAft>
                        <a:buFont typeface="Arial" panose="020B0604020202020204" pitchFamily="34" charset="0"/>
                        <a:buNone/>
                      </a:pPr>
                      <a:r>
                        <a:rPr lang="en-US" sz="1000" baseline="0" dirty="0"/>
                        <a:t>However, the PPA allows right to suspend in case of payment delays</a:t>
                      </a: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0562183"/>
                  </a:ext>
                </a:extLst>
              </a:tr>
              <a:tr h="1537789">
                <a:tc>
                  <a:txBody>
                    <a:bodyPr/>
                    <a:lstStyle/>
                    <a:p>
                      <a:pPr>
                        <a:spcAft>
                          <a:spcPts val="500"/>
                        </a:spcAft>
                      </a:pPr>
                      <a:r>
                        <a:rPr lang="en-US" sz="1000" dirty="0"/>
                        <a:t>4</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spcAft>
                          <a:spcPts val="500"/>
                        </a:spcAft>
                      </a:pPr>
                      <a:r>
                        <a:rPr lang="en-IN" sz="1000" dirty="0"/>
                        <a:t>Force majeure</a:t>
                      </a:r>
                      <a:r>
                        <a:rPr lang="en-IN" sz="1000" baseline="0" dirty="0"/>
                        <a:t> (FM) and Political Events (PE) </a:t>
                      </a:r>
                      <a:r>
                        <a:rPr lang="en-IN" sz="1000" dirty="0"/>
                        <a:t>situations</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dirty="0"/>
                        <a:t>There is no provision for any additional tariff </a:t>
                      </a:r>
                    </a:p>
                    <a:p>
                      <a:pPr marL="171450" indent="-171450" algn="just">
                        <a:spcAft>
                          <a:spcPts val="500"/>
                        </a:spcAft>
                        <a:buFont typeface="Arial" panose="020B0604020202020204" pitchFamily="34" charset="0"/>
                        <a:buChar char="•"/>
                      </a:pPr>
                      <a:r>
                        <a:rPr lang="en-US" sz="1000" dirty="0"/>
                        <a:t> In case of partial operation during FM event, BPDB will pay the Company Energy Payment for Net Energy Output and Capacity Payments based on the ratio of dependable capacity (FM Ratio/PE ratio). </a:t>
                      </a:r>
                    </a:p>
                    <a:p>
                      <a:pPr marL="666736" lvl="1" indent="-171450" algn="just">
                        <a:spcAft>
                          <a:spcPts val="500"/>
                        </a:spcAft>
                        <a:buFont typeface="Arial" panose="020B0604020202020204" pitchFamily="34" charset="0"/>
                        <a:buChar char="•"/>
                      </a:pPr>
                      <a:r>
                        <a:rPr lang="en-US" sz="1000" dirty="0"/>
                        <a:t>In case declared by the Company and partial working is possible then ration of Declared Capacity after FM/Declared Capacity before FM</a:t>
                      </a:r>
                    </a:p>
                    <a:p>
                      <a:pPr marL="666736" lvl="1" indent="-171450" algn="just">
                        <a:spcAft>
                          <a:spcPts val="500"/>
                        </a:spcAft>
                        <a:buFont typeface="Arial" panose="020B0604020202020204" pitchFamily="34" charset="0"/>
                        <a:buChar char="•"/>
                      </a:pPr>
                      <a:r>
                        <a:rPr lang="en-US" sz="1000" dirty="0"/>
                        <a:t>FM/PE</a:t>
                      </a:r>
                      <a:r>
                        <a:rPr lang="en-US" sz="1000" baseline="0" dirty="0"/>
                        <a:t> Ratio shall be </a:t>
                      </a:r>
                      <a:r>
                        <a:rPr lang="en-US" sz="1000" dirty="0"/>
                        <a:t>0 in case no working possible and declared by the company</a:t>
                      </a:r>
                    </a:p>
                    <a:p>
                      <a:pPr marL="666736" lvl="1" indent="-171450" algn="just">
                        <a:spcAft>
                          <a:spcPts val="500"/>
                        </a:spcAft>
                        <a:buFont typeface="Arial" panose="020B0604020202020204" pitchFamily="34" charset="0"/>
                        <a:buChar char="•"/>
                      </a:pPr>
                      <a:r>
                        <a:rPr lang="en-US" sz="1000" dirty="0"/>
                        <a:t>FM/PE</a:t>
                      </a:r>
                      <a:r>
                        <a:rPr lang="en-US" sz="1000" baseline="0" dirty="0"/>
                        <a:t> Ratio shall be 1</a:t>
                      </a:r>
                      <a:r>
                        <a:rPr lang="en-US" sz="1000" dirty="0"/>
                        <a:t> in case declared by BPDB, or event of Gas/Fuel Supplier Failure </a:t>
                      </a:r>
                    </a:p>
                    <a:p>
                      <a:pPr marL="171450" lvl="0" indent="-171450" algn="just">
                        <a:spcAft>
                          <a:spcPts val="500"/>
                        </a:spcAft>
                        <a:buFont typeface="Arial" panose="020B0604020202020204" pitchFamily="34" charset="0"/>
                        <a:buChar char="•"/>
                      </a:pPr>
                      <a:r>
                        <a:rPr lang="en-US" sz="1000" dirty="0"/>
                        <a:t>Notification to be given within 3 days of FM event</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just">
                        <a:spcAft>
                          <a:spcPts val="500"/>
                        </a:spcAft>
                        <a:buFont typeface="Arial" panose="020B0604020202020204" pitchFamily="34" charset="0"/>
                        <a:buNone/>
                      </a:pPr>
                      <a:r>
                        <a:rPr lang="en-US" sz="1000" dirty="0"/>
                        <a:t>No restoration cost can be recovered in the case</a:t>
                      </a:r>
                      <a:r>
                        <a:rPr lang="en-US" sz="1000" baseline="0" dirty="0"/>
                        <a:t> of an FM event</a:t>
                      </a:r>
                    </a:p>
                    <a:p>
                      <a:pPr marL="0" indent="0" algn="just">
                        <a:spcAft>
                          <a:spcPts val="500"/>
                        </a:spcAft>
                        <a:buFont typeface="Arial" panose="020B0604020202020204" pitchFamily="34" charset="0"/>
                        <a:buNone/>
                      </a:pPr>
                      <a:r>
                        <a:rPr lang="en-US" sz="1000" baseline="0" dirty="0"/>
                        <a:t>Also in case FM/PE Event is declared by the Company then the FM/PE Ratio would be dependent on the dependable capacity or 0 in case of non working condition. This would have an impact on the payment of Capacity charges. </a:t>
                      </a:r>
                    </a:p>
                    <a:p>
                      <a:pPr marL="0" indent="0" algn="just">
                        <a:spcAft>
                          <a:spcPts val="500"/>
                        </a:spcAft>
                        <a:buFont typeface="Arial" panose="020B0604020202020204" pitchFamily="34" charset="0"/>
                        <a:buNone/>
                      </a:pPr>
                      <a:r>
                        <a:rPr lang="en-US" sz="1000" baseline="0" dirty="0"/>
                        <a:t>Also since Grid system failure is part of FM event any such failures could lead to under recovery depending on the applicable FM Ratio</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57736"/>
                  </a:ext>
                </a:extLst>
              </a:tr>
              <a:tr h="436481">
                <a:tc>
                  <a:txBody>
                    <a:bodyPr/>
                    <a:lstStyle/>
                    <a:p>
                      <a:pPr>
                        <a:spcAft>
                          <a:spcPts val="500"/>
                        </a:spcAft>
                      </a:pPr>
                      <a:r>
                        <a:rPr lang="en-US" sz="1000" dirty="0"/>
                        <a:t>5</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Back-down instructions from system operators</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lvl="0" indent="-171450">
                        <a:spcAft>
                          <a:spcPts val="500"/>
                        </a:spcAft>
                        <a:buFont typeface="Arial" panose="020B0604020202020204" pitchFamily="34" charset="0"/>
                        <a:buChar char="•"/>
                      </a:pPr>
                      <a:r>
                        <a:rPr lang="en-US" sz="1000" dirty="0">
                          <a:solidFill>
                            <a:schemeClr val="tx1"/>
                          </a:solidFill>
                        </a:rPr>
                        <a:t>Capacity Charges would be continued to be paid by BPDB</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GB"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2455395"/>
                  </a:ext>
                </a:extLst>
              </a:tr>
            </a:tbl>
          </a:graphicData>
        </a:graphic>
      </p:graphicFrame>
      <p:sp>
        <p:nvSpPr>
          <p:cNvPr id="5" name="Rectangle 4"/>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PPA, Deloitte Analysis</a:t>
            </a:r>
          </a:p>
        </p:txBody>
      </p:sp>
    </p:spTree>
    <p:extLst>
      <p:ext uri="{BB962C8B-B14F-4D97-AF65-F5344CB8AC3E}">
        <p14:creationId xmlns:p14="http://schemas.microsoft.com/office/powerpoint/2010/main" val="173251596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Strapline"/>
          <p:cNvSpPr>
            <a:spLocks noGrp="1"/>
          </p:cNvSpPr>
          <p:nvPr>
            <p:ph type="body" sz="quarter" idx="13"/>
          </p:nvPr>
        </p:nvSpPr>
        <p:spPr>
          <a:xfrm>
            <a:off x="449993" y="1079983"/>
            <a:ext cx="9791843" cy="518392"/>
          </a:xfrm>
        </p:spPr>
        <p:txBody>
          <a:bodyPr lIns="0" tIns="0" rIns="0" bIns="0" anchor="t">
            <a:noAutofit/>
          </a:bodyPr>
          <a:lstStyle/>
          <a:p>
            <a:r>
              <a:rPr lang="en-US" b="1" dirty="0">
                <a:solidFill>
                  <a:schemeClr val="tx1">
                    <a:lumMod val="50000"/>
                    <a:lumOff val="50000"/>
                  </a:schemeClr>
                </a:solidFill>
                <a:latin typeface="Verdana" panose="020B0604030504040204" pitchFamily="34" charset="0"/>
              </a:rPr>
              <a:t>Termination Clauses</a:t>
            </a:r>
          </a:p>
          <a:p>
            <a:endParaRPr lang="en-GB" b="1" dirty="0">
              <a:solidFill>
                <a:schemeClr val="tx1">
                  <a:lumMod val="50000"/>
                  <a:lumOff val="50000"/>
                </a:schemeClr>
              </a:solidFill>
              <a:latin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US" dirty="0"/>
              <a:t>Power Purchase Agreement | Key Terms</a:t>
            </a:r>
            <a:endParaRPr lang="en-GB" noProof="0" dirty="0">
              <a:solidFill>
                <a:srgbClr val="000000"/>
              </a:solidFill>
              <a:latin typeface="Verdana" panose="020B0604030504040204" pitchFamily="34" charset="0"/>
            </a:endParaRPr>
          </a:p>
        </p:txBody>
      </p:sp>
      <p:graphicFrame>
        <p:nvGraphicFramePr>
          <p:cNvPr id="2" name="Table 1"/>
          <p:cNvGraphicFramePr>
            <a:graphicFrameLocks noGrp="1"/>
          </p:cNvGraphicFramePr>
          <p:nvPr>
            <p:extLst>
              <p:ext uri="{D42A27DB-BD31-4B8C-83A1-F6EECF244321}">
                <p14:modId xmlns:p14="http://schemas.microsoft.com/office/powerpoint/2010/main" val="4283632297"/>
              </p:ext>
            </p:extLst>
          </p:nvPr>
        </p:nvGraphicFramePr>
        <p:xfrm>
          <a:off x="449992" y="1598377"/>
          <a:ext cx="9791843" cy="5341620"/>
        </p:xfrm>
        <a:graphic>
          <a:graphicData uri="http://schemas.openxmlformats.org/drawingml/2006/table">
            <a:tbl>
              <a:tblPr firstRow="1">
                <a:tableStyleId>{3B4B98B0-60AC-42C2-AFA5-B58CD77FA1E5}</a:tableStyleId>
              </a:tblPr>
              <a:tblGrid>
                <a:gridCol w="524209">
                  <a:extLst>
                    <a:ext uri="{9D8B030D-6E8A-4147-A177-3AD203B41FA5}">
                      <a16:colId xmlns:a16="http://schemas.microsoft.com/office/drawing/2014/main" val="3671827557"/>
                    </a:ext>
                  </a:extLst>
                </a:gridCol>
                <a:gridCol w="524209">
                  <a:extLst>
                    <a:ext uri="{9D8B030D-6E8A-4147-A177-3AD203B41FA5}">
                      <a16:colId xmlns:a16="http://schemas.microsoft.com/office/drawing/2014/main" val="928197820"/>
                    </a:ext>
                  </a:extLst>
                </a:gridCol>
                <a:gridCol w="968925">
                  <a:extLst>
                    <a:ext uri="{9D8B030D-6E8A-4147-A177-3AD203B41FA5}">
                      <a16:colId xmlns:a16="http://schemas.microsoft.com/office/drawing/2014/main" val="2911403996"/>
                    </a:ext>
                  </a:extLst>
                </a:gridCol>
                <a:gridCol w="5705665">
                  <a:extLst>
                    <a:ext uri="{9D8B030D-6E8A-4147-A177-3AD203B41FA5}">
                      <a16:colId xmlns:a16="http://schemas.microsoft.com/office/drawing/2014/main" val="1355348493"/>
                    </a:ext>
                  </a:extLst>
                </a:gridCol>
                <a:gridCol w="2068835">
                  <a:extLst>
                    <a:ext uri="{9D8B030D-6E8A-4147-A177-3AD203B41FA5}">
                      <a16:colId xmlns:a16="http://schemas.microsoft.com/office/drawing/2014/main" val="3630151440"/>
                    </a:ext>
                  </a:extLst>
                </a:gridCol>
              </a:tblGrid>
              <a:tr h="195936">
                <a:tc>
                  <a:txBody>
                    <a:bodyPr/>
                    <a:lstStyle/>
                    <a:p>
                      <a:pPr>
                        <a:spcAft>
                          <a:spcPts val="500"/>
                        </a:spcAft>
                      </a:pPr>
                      <a:r>
                        <a:rPr lang="en-US" sz="1000" dirty="0"/>
                        <a:t>Sr. No</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Parameter</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Conditions</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Key</a:t>
                      </a:r>
                      <a:r>
                        <a:rPr lang="en-US" sz="1000" baseline="0" dirty="0"/>
                        <a:t> risks</a:t>
                      </a:r>
                      <a:endParaRPr lang="en-IN" sz="10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5669302"/>
                  </a:ext>
                </a:extLst>
              </a:tr>
              <a:tr h="120576">
                <a:tc gridSpan="5">
                  <a:txBody>
                    <a:bodyPr/>
                    <a:lstStyle/>
                    <a:p>
                      <a:pPr>
                        <a:spcAft>
                          <a:spcPts val="500"/>
                        </a:spcAft>
                      </a:pPr>
                      <a:r>
                        <a:rPr lang="en-US" sz="1000" b="1" i="1" dirty="0"/>
                        <a:t>Termination clauses</a:t>
                      </a:r>
                      <a:r>
                        <a:rPr lang="en-US" sz="1000" b="1" i="1" baseline="0" dirty="0"/>
                        <a:t> in PPA</a:t>
                      </a:r>
                      <a:endParaRPr lang="en-IN" sz="1000" b="1" i="1"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hMerge="1">
                  <a:txBody>
                    <a:bodyPr/>
                    <a:lstStyle/>
                    <a:p>
                      <a:endParaRPr lang="en-GB"/>
                    </a:p>
                  </a:txBody>
                  <a:tcPr/>
                </a:tc>
                <a:tc hMerge="1">
                  <a:txBody>
                    <a:bodyPr/>
                    <a:lstStyle/>
                    <a:p>
                      <a:pPr>
                        <a:spcAft>
                          <a:spcPts val="500"/>
                        </a:spcAft>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marL="171450" indent="-171450">
                        <a:spcAft>
                          <a:spcPts val="500"/>
                        </a:spcAft>
                        <a:buFont typeface="Arial" panose="020B0604020202020204" pitchFamily="34" charset="0"/>
                        <a:buChar char="•"/>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GB"/>
                    </a:p>
                  </a:txBody>
                  <a:tcPr/>
                </a:tc>
                <a:extLst>
                  <a:ext uri="{0D108BD9-81ED-4DB2-BD59-A6C34878D82A}">
                    <a16:rowId xmlns:a16="http://schemas.microsoft.com/office/drawing/2014/main" val="3506387994"/>
                  </a:ext>
                </a:extLst>
              </a:tr>
              <a:tr h="877563">
                <a:tc>
                  <a:txBody>
                    <a:bodyPr/>
                    <a:lstStyle/>
                    <a:p>
                      <a:pPr>
                        <a:spcAft>
                          <a:spcPts val="500"/>
                        </a:spcAft>
                      </a:pPr>
                      <a:r>
                        <a:rPr lang="en-US" sz="1000" dirty="0"/>
                        <a:t>1</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spcAft>
                          <a:spcPts val="500"/>
                        </a:spcAft>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spcAft>
                          <a:spcPts val="500"/>
                        </a:spcAft>
                      </a:pPr>
                      <a:r>
                        <a:rPr lang="en-IN" sz="1000" dirty="0"/>
                        <a:t>Termination</a:t>
                      </a:r>
                      <a:r>
                        <a:rPr lang="en-IN" sz="1000" baseline="0" dirty="0"/>
                        <a:t> Clause </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just">
                        <a:spcAft>
                          <a:spcPts val="500"/>
                        </a:spcAft>
                        <a:buFont typeface="Arial" panose="020B0604020202020204" pitchFamily="34" charset="0"/>
                        <a:buNone/>
                      </a:pPr>
                      <a:r>
                        <a:rPr lang="en-US" sz="1000" dirty="0"/>
                        <a:t>Termination of</a:t>
                      </a:r>
                      <a:r>
                        <a:rPr lang="en-US" sz="1000" baseline="0" dirty="0"/>
                        <a:t> the PPA is only possible in case of Company Event of Default or BPDB Event of Default</a:t>
                      </a:r>
                    </a:p>
                    <a:p>
                      <a:pPr marL="0" indent="0" algn="just">
                        <a:spcAft>
                          <a:spcPts val="500"/>
                        </a:spcAft>
                        <a:buFont typeface="Arial" panose="020B0604020202020204" pitchFamily="34" charset="0"/>
                        <a:buNone/>
                      </a:pPr>
                      <a:r>
                        <a:rPr lang="en-US" sz="1000" baseline="0" dirty="0"/>
                        <a:t>The remuneration for the different cases is as mentioned in the IA.</a:t>
                      </a: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just">
                        <a:spcAft>
                          <a:spcPts val="500"/>
                        </a:spcAft>
                        <a:buFont typeface="Arial" panose="020B0604020202020204" pitchFamily="34" charset="0"/>
                        <a:buNone/>
                      </a:pPr>
                      <a:r>
                        <a:rPr lang="en-US" sz="1000" dirty="0"/>
                        <a:t>There is not provision of mutual termination or any exit clause in the PPA. </a:t>
                      </a:r>
                    </a:p>
                    <a:p>
                      <a:pPr marL="0" indent="0" algn="just">
                        <a:spcAft>
                          <a:spcPts val="500"/>
                        </a:spcAft>
                        <a:buFont typeface="Arial" panose="020B0604020202020204" pitchFamily="34" charset="0"/>
                        <a:buNone/>
                      </a:pPr>
                      <a:r>
                        <a:rPr lang="en-US" sz="1000" dirty="0"/>
                        <a:t>The PPA shall be terminated on event of default or</a:t>
                      </a:r>
                      <a:r>
                        <a:rPr lang="en-US" sz="1000" baseline="0" dirty="0"/>
                        <a:t> expired</a:t>
                      </a:r>
                    </a:p>
                    <a:p>
                      <a:pPr marL="0" indent="0" algn="just">
                        <a:spcAft>
                          <a:spcPts val="500"/>
                        </a:spcAft>
                        <a:buFont typeface="Arial" panose="020B0604020202020204" pitchFamily="34" charset="0"/>
                        <a:buNone/>
                      </a:pPr>
                      <a:r>
                        <a:rPr lang="en-US" sz="1000" baseline="0" dirty="0"/>
                        <a:t>Payment in case of Company Event of Default is only for any outstanding loans, debts and winding up costs. No compensation for equity investments would be provided</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0562183"/>
                  </a:ext>
                </a:extLst>
              </a:tr>
              <a:tr h="180363">
                <a:tc gridSpan="5">
                  <a:txBody>
                    <a:bodyPr/>
                    <a:lstStyle/>
                    <a:p>
                      <a:pPr algn="just">
                        <a:spcAft>
                          <a:spcPts val="500"/>
                        </a:spcAft>
                      </a:pPr>
                      <a:r>
                        <a:rPr lang="en-US" sz="1000" b="1" i="1" dirty="0"/>
                        <a:t>Comment on the applicable rebates/incentives to be applied to tariff</a:t>
                      </a:r>
                      <a:endParaRPr lang="en-IN" sz="1000" b="1" i="1"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8F6CF"/>
                    </a:solidFill>
                  </a:tcPr>
                </a:tc>
                <a:tc hMerge="1">
                  <a:txBody>
                    <a:bodyPr/>
                    <a:lstStyle/>
                    <a:p>
                      <a:pPr>
                        <a:spcAft>
                          <a:spcPts val="500"/>
                        </a:spcAft>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GB"/>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GB"/>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marL="0" indent="0">
                        <a:spcAft>
                          <a:spcPts val="500"/>
                        </a:spcAft>
                        <a:buFont typeface="Arial" panose="020B0604020202020204" pitchFamily="34" charset="0"/>
                        <a:buNone/>
                      </a:pP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6919115"/>
                  </a:ext>
                </a:extLst>
              </a:tr>
              <a:tr h="271296">
                <a:tc gridSpan="2">
                  <a:txBody>
                    <a:bodyPr/>
                    <a:lstStyle/>
                    <a:p>
                      <a:pPr>
                        <a:spcAft>
                          <a:spcPts val="500"/>
                        </a:spcAft>
                      </a:pPr>
                      <a:r>
                        <a:rPr lang="en-US" sz="1000" dirty="0"/>
                        <a:t>1</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a:spcAft>
                          <a:spcPts val="500"/>
                        </a:spcAft>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Applicable</a:t>
                      </a:r>
                      <a:r>
                        <a:rPr lang="en-US" sz="1000" baseline="0" dirty="0"/>
                        <a:t> rebates / incentives</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lvl="0" indent="-171450" algn="just">
                        <a:spcAft>
                          <a:spcPts val="500"/>
                        </a:spcAft>
                        <a:buFont typeface="Arial" panose="020B0604020202020204" pitchFamily="34" charset="0"/>
                        <a:buChar char="•"/>
                      </a:pPr>
                      <a:r>
                        <a:rPr lang="en-US" sz="1000" dirty="0"/>
                        <a:t>There are no applicable rebates/incentives</a:t>
                      </a:r>
                      <a:r>
                        <a:rPr lang="en-US" sz="1000" baseline="0" dirty="0"/>
                        <a:t> in the PPA</a:t>
                      </a: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endParaRPr lang="en-GB"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55250"/>
                  </a:ext>
                </a:extLst>
              </a:tr>
              <a:tr h="120576">
                <a:tc gridSpan="4">
                  <a:txBody>
                    <a:bodyPr/>
                    <a:lstStyle/>
                    <a:p>
                      <a:pPr algn="just">
                        <a:spcAft>
                          <a:spcPts val="500"/>
                        </a:spcAft>
                      </a:pPr>
                      <a:r>
                        <a:rPr lang="en-US" sz="1000" b="1" i="1" dirty="0"/>
                        <a:t>Options of non-offtake or expiry of PPA</a:t>
                      </a:r>
                      <a:endParaRPr lang="en-IN" sz="1000" b="1" i="1"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8F6CF"/>
                    </a:solidFill>
                  </a:tcPr>
                </a:tc>
                <a:tc hMerge="1">
                  <a:txBody>
                    <a:bodyPr/>
                    <a:lstStyle/>
                    <a:p>
                      <a:endParaRPr lang="en-GB"/>
                    </a:p>
                  </a:txBody>
                  <a:tcPr/>
                </a:tc>
                <a:tc hMerge="1">
                  <a:txBody>
                    <a:bodyPr/>
                    <a:lstStyle/>
                    <a:p>
                      <a:pPr>
                        <a:spcAft>
                          <a:spcPts val="500"/>
                        </a:spcAft>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marL="0" indent="0">
                        <a:spcAft>
                          <a:spcPts val="500"/>
                        </a:spcAft>
                        <a:buFont typeface="Arial" panose="020B0604020202020204" pitchFamily="34" charset="0"/>
                        <a:buNone/>
                      </a:pP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just">
                        <a:spcAft>
                          <a:spcPts val="500"/>
                        </a:spcAft>
                        <a:buFont typeface="Arial" panose="020B0604020202020204" pitchFamily="34" charset="0"/>
                        <a:buNone/>
                      </a:pP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8F6CF"/>
                    </a:solidFill>
                  </a:tcPr>
                </a:tc>
                <a:extLst>
                  <a:ext uri="{0D108BD9-81ED-4DB2-BD59-A6C34878D82A}">
                    <a16:rowId xmlns:a16="http://schemas.microsoft.com/office/drawing/2014/main" val="1097124488"/>
                  </a:ext>
                </a:extLst>
              </a:tr>
              <a:tr h="346656">
                <a:tc>
                  <a:txBody>
                    <a:bodyPr/>
                    <a:lstStyle/>
                    <a:p>
                      <a:pPr>
                        <a:spcAft>
                          <a:spcPts val="500"/>
                        </a:spcAft>
                      </a:pPr>
                      <a:r>
                        <a:rPr lang="en-US" sz="1000" dirty="0"/>
                        <a:t>1</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spcAft>
                          <a:spcPts val="500"/>
                        </a:spcAft>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Non Offtake</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dirty="0"/>
                        <a:t>In case of non-offtake, only Capacity Charges will be payable.</a:t>
                      </a:r>
                    </a:p>
                    <a:p>
                      <a:pPr marL="171450" indent="-171450" algn="just">
                        <a:spcAft>
                          <a:spcPts val="500"/>
                        </a:spcAft>
                        <a:buFont typeface="Arial" panose="020B0604020202020204" pitchFamily="34" charset="0"/>
                        <a:buChar char="•"/>
                      </a:pPr>
                      <a:r>
                        <a:rPr lang="en-US" sz="1000" dirty="0"/>
                        <a:t>Sale to third party will not be possible without prior written consent of BPDB</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just">
                        <a:spcAft>
                          <a:spcPts val="500"/>
                        </a:spcAft>
                        <a:buFont typeface="Arial" panose="020B0604020202020204" pitchFamily="34" charset="0"/>
                        <a:buNone/>
                      </a:pPr>
                      <a:r>
                        <a:rPr lang="en-US" sz="1000" dirty="0"/>
                        <a:t>This is risk however since open Access Provisions do not exist in Bangladesh the relevance of this is limited. </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0208310"/>
                  </a:ext>
                </a:extLst>
              </a:tr>
              <a:tr h="378056">
                <a:tc>
                  <a:txBody>
                    <a:bodyPr/>
                    <a:lstStyle/>
                    <a:p>
                      <a:pPr>
                        <a:spcAft>
                          <a:spcPts val="500"/>
                        </a:spcAft>
                      </a:pPr>
                      <a:r>
                        <a:rPr lang="en-US" sz="1000" dirty="0"/>
                        <a:t>2</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spcAft>
                          <a:spcPts val="500"/>
                        </a:spcAft>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spcAft>
                          <a:spcPts val="500"/>
                        </a:spcAft>
                      </a:pPr>
                      <a:r>
                        <a:rPr lang="en-IN" sz="1000" dirty="0"/>
                        <a:t>Expiry of PPA</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dirty="0"/>
                        <a:t>There is no provision for PPA extension except for Sec 4.1(a), where it states that PPA term will be 22 years following the COD, unless extended or earlier terminated.</a:t>
                      </a:r>
                    </a:p>
                    <a:p>
                      <a:pPr marL="171450" indent="-171450" algn="just">
                        <a:spcAft>
                          <a:spcPts val="500"/>
                        </a:spcAft>
                        <a:buFont typeface="Arial" panose="020B0604020202020204" pitchFamily="34" charset="0"/>
                        <a:buChar char="•"/>
                      </a:pPr>
                      <a:r>
                        <a:rPr lang="en-US" sz="1000" dirty="0"/>
                        <a:t>PPA is silent about the alternative options post termination of PPA</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just">
                        <a:spcAft>
                          <a:spcPts val="500"/>
                        </a:spcAft>
                        <a:buFont typeface="Arial" panose="020B0604020202020204" pitchFamily="34" charset="0"/>
                        <a:buNone/>
                      </a:pPr>
                      <a:r>
                        <a:rPr lang="en-US" sz="1000" dirty="0"/>
                        <a:t>No clear provision for</a:t>
                      </a:r>
                      <a:r>
                        <a:rPr lang="en-US" sz="1000" baseline="0" dirty="0"/>
                        <a:t> extension mentioned in the PPA</a:t>
                      </a: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03445815"/>
                  </a:ext>
                </a:extLst>
              </a:tr>
            </a:tbl>
          </a:graphicData>
        </a:graphic>
      </p:graphicFrame>
      <p:sp>
        <p:nvSpPr>
          <p:cNvPr id="5" name="Rectangle 4"/>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PPA, Deloitte Analysis</a:t>
            </a:r>
          </a:p>
        </p:txBody>
      </p:sp>
    </p:spTree>
    <p:extLst>
      <p:ext uri="{BB962C8B-B14F-4D97-AF65-F5344CB8AC3E}">
        <p14:creationId xmlns:p14="http://schemas.microsoft.com/office/powerpoint/2010/main" val="421498774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Strapline"/>
          <p:cNvSpPr>
            <a:spLocks noGrp="1"/>
          </p:cNvSpPr>
          <p:nvPr>
            <p:ph type="body" sz="quarter" idx="13"/>
          </p:nvPr>
        </p:nvSpPr>
        <p:spPr>
          <a:xfrm>
            <a:off x="449993" y="1079983"/>
            <a:ext cx="9791843" cy="518392"/>
          </a:xfrm>
        </p:spPr>
        <p:txBody>
          <a:bodyPr lIns="0" tIns="0" rIns="0" bIns="0" anchor="t">
            <a:noAutofit/>
          </a:bodyPr>
          <a:lstStyle/>
          <a:p>
            <a:r>
              <a:rPr lang="en-US" b="1" dirty="0">
                <a:solidFill>
                  <a:schemeClr val="tx1">
                    <a:lumMod val="50000"/>
                    <a:lumOff val="50000"/>
                  </a:schemeClr>
                </a:solidFill>
                <a:latin typeface="Verdana" panose="020B0604030504040204" pitchFamily="34" charset="0"/>
              </a:rPr>
              <a:t>Offtake Guarantee</a:t>
            </a:r>
          </a:p>
          <a:p>
            <a:endParaRPr lang="en-GB" b="1" dirty="0">
              <a:solidFill>
                <a:schemeClr val="tx1">
                  <a:lumMod val="50000"/>
                  <a:lumOff val="50000"/>
                </a:schemeClr>
              </a:solidFill>
              <a:latin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US" dirty="0"/>
              <a:t>Power Purchase Agreement | Key Terms</a:t>
            </a:r>
            <a:endParaRPr lang="en-GB" noProof="0" dirty="0">
              <a:solidFill>
                <a:srgbClr val="000000"/>
              </a:solidFill>
              <a:latin typeface="Verdana" panose="020B0604030504040204" pitchFamily="34" charset="0"/>
            </a:endParaRPr>
          </a:p>
        </p:txBody>
      </p:sp>
      <p:graphicFrame>
        <p:nvGraphicFramePr>
          <p:cNvPr id="2" name="Table 1"/>
          <p:cNvGraphicFramePr>
            <a:graphicFrameLocks noGrp="1"/>
          </p:cNvGraphicFramePr>
          <p:nvPr>
            <p:extLst>
              <p:ext uri="{D42A27DB-BD31-4B8C-83A1-F6EECF244321}">
                <p14:modId xmlns:p14="http://schemas.microsoft.com/office/powerpoint/2010/main" val="1816596838"/>
              </p:ext>
            </p:extLst>
          </p:nvPr>
        </p:nvGraphicFramePr>
        <p:xfrm>
          <a:off x="449992" y="1598377"/>
          <a:ext cx="9791843" cy="4020019"/>
        </p:xfrm>
        <a:graphic>
          <a:graphicData uri="http://schemas.openxmlformats.org/drawingml/2006/table">
            <a:tbl>
              <a:tblPr firstRow="1">
                <a:tableStyleId>{3B4B98B0-60AC-42C2-AFA5-B58CD77FA1E5}</a:tableStyleId>
              </a:tblPr>
              <a:tblGrid>
                <a:gridCol w="553860">
                  <a:extLst>
                    <a:ext uri="{9D8B030D-6E8A-4147-A177-3AD203B41FA5}">
                      <a16:colId xmlns:a16="http://schemas.microsoft.com/office/drawing/2014/main" val="3671827557"/>
                    </a:ext>
                  </a:extLst>
                </a:gridCol>
                <a:gridCol w="1023731">
                  <a:extLst>
                    <a:ext uri="{9D8B030D-6E8A-4147-A177-3AD203B41FA5}">
                      <a16:colId xmlns:a16="http://schemas.microsoft.com/office/drawing/2014/main" val="2911403996"/>
                    </a:ext>
                  </a:extLst>
                </a:gridCol>
                <a:gridCol w="6329339">
                  <a:extLst>
                    <a:ext uri="{9D8B030D-6E8A-4147-A177-3AD203B41FA5}">
                      <a16:colId xmlns:a16="http://schemas.microsoft.com/office/drawing/2014/main" val="1355348493"/>
                    </a:ext>
                  </a:extLst>
                </a:gridCol>
                <a:gridCol w="1884913">
                  <a:extLst>
                    <a:ext uri="{9D8B030D-6E8A-4147-A177-3AD203B41FA5}">
                      <a16:colId xmlns:a16="http://schemas.microsoft.com/office/drawing/2014/main" val="4062533320"/>
                    </a:ext>
                  </a:extLst>
                </a:gridCol>
              </a:tblGrid>
              <a:tr h="336714">
                <a:tc>
                  <a:txBody>
                    <a:bodyPr/>
                    <a:lstStyle/>
                    <a:p>
                      <a:pPr>
                        <a:spcAft>
                          <a:spcPts val="500"/>
                        </a:spcAft>
                      </a:pPr>
                      <a:r>
                        <a:rPr lang="en-US" sz="1000" dirty="0"/>
                        <a:t>Sr. No</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Parameter</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Conditions</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Key</a:t>
                      </a:r>
                      <a:r>
                        <a:rPr lang="en-US" sz="1000" baseline="0" dirty="0"/>
                        <a:t> risks</a:t>
                      </a:r>
                      <a:endParaRPr lang="en-IN" sz="10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5669302"/>
                  </a:ext>
                </a:extLst>
              </a:tr>
              <a:tr h="255510">
                <a:tc gridSpan="4">
                  <a:txBody>
                    <a:bodyPr/>
                    <a:lstStyle/>
                    <a:p>
                      <a:pPr>
                        <a:spcAft>
                          <a:spcPts val="500"/>
                        </a:spcAft>
                      </a:pPr>
                      <a:r>
                        <a:rPr lang="en-US" sz="1000" b="1" i="1" dirty="0"/>
                        <a:t>Performance guarantee, offtake guarantee</a:t>
                      </a:r>
                      <a:endParaRPr lang="en-IN" sz="1000" b="1" i="1"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hMerge="1">
                  <a:txBody>
                    <a:bodyPr/>
                    <a:lstStyle/>
                    <a:p>
                      <a:pPr>
                        <a:spcAft>
                          <a:spcPts val="500"/>
                        </a:spcAft>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marL="0" indent="0">
                        <a:spcAft>
                          <a:spcPts val="500"/>
                        </a:spcAft>
                        <a:buFont typeface="Arial" panose="020B0604020202020204" pitchFamily="34" charset="0"/>
                        <a:buNone/>
                      </a:pP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GB"/>
                    </a:p>
                  </a:txBody>
                  <a:tcPr/>
                </a:tc>
                <a:extLst>
                  <a:ext uri="{0D108BD9-81ED-4DB2-BD59-A6C34878D82A}">
                    <a16:rowId xmlns:a16="http://schemas.microsoft.com/office/drawing/2014/main" val="4142744858"/>
                  </a:ext>
                </a:extLst>
              </a:tr>
              <a:tr h="940029">
                <a:tc>
                  <a:txBody>
                    <a:bodyPr/>
                    <a:lstStyle/>
                    <a:p>
                      <a:pPr>
                        <a:spcAft>
                          <a:spcPts val="500"/>
                        </a:spcAft>
                      </a:pPr>
                      <a:r>
                        <a:rPr lang="en-US" sz="1000" dirty="0"/>
                        <a:t>1</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Offtake guarantee</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dirty="0"/>
                        <a:t>No provision for offtake guarantee in the PPA</a:t>
                      </a:r>
                    </a:p>
                    <a:p>
                      <a:pPr marL="171450" indent="-171450" algn="just">
                        <a:spcAft>
                          <a:spcPts val="500"/>
                        </a:spcAft>
                        <a:buFont typeface="Arial" panose="020B0604020202020204" pitchFamily="34" charset="0"/>
                        <a:buChar char="•"/>
                      </a:pPr>
                      <a:r>
                        <a:rPr lang="en-US" sz="1000" dirty="0"/>
                        <a:t>There is no minimum offtake guarantee. Similarly, there is no minimum offtake guarantee (take or pay)  in FSA/GSA. However, schedule has to be consistent with Technical Limits</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just">
                        <a:spcAft>
                          <a:spcPts val="500"/>
                        </a:spcAft>
                        <a:buFont typeface="Arial" panose="020B0604020202020204" pitchFamily="34" charset="0"/>
                        <a:buNone/>
                      </a:pPr>
                      <a:r>
                        <a:rPr lang="en-US" sz="1000" dirty="0"/>
                        <a:t>No offtake guarantee is</a:t>
                      </a:r>
                      <a:r>
                        <a:rPr lang="en-US" sz="1000" baseline="0" dirty="0"/>
                        <a:t> a risk however since capacity payments are guaranteed this could be acceptable.</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0521970"/>
                  </a:ext>
                </a:extLst>
              </a:tr>
              <a:tr h="940029">
                <a:tc>
                  <a:txBody>
                    <a:bodyPr/>
                    <a:lstStyle/>
                    <a:p>
                      <a:pPr>
                        <a:spcAft>
                          <a:spcPts val="500"/>
                        </a:spcAft>
                      </a:pPr>
                      <a:r>
                        <a:rPr lang="en-US" sz="1000" dirty="0"/>
                        <a:t>2</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Performance guarantee</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dirty="0"/>
                        <a:t>Proposal Security</a:t>
                      </a:r>
                      <a:r>
                        <a:rPr lang="en-US" sz="1000" baseline="0" dirty="0"/>
                        <a:t> (In form of BG):</a:t>
                      </a:r>
                      <a:endParaRPr lang="en-US" sz="1000" dirty="0"/>
                    </a:p>
                    <a:p>
                      <a:pPr marL="666736" lvl="1" indent="-171450" algn="just">
                        <a:spcAft>
                          <a:spcPts val="500"/>
                        </a:spcAft>
                        <a:buFont typeface="Arial" panose="020B0604020202020204" pitchFamily="34" charset="0"/>
                        <a:buChar char="•"/>
                      </a:pPr>
                      <a:r>
                        <a:rPr lang="en-US" sz="1000" dirty="0"/>
                        <a:t>Amount = USD 2,200,000</a:t>
                      </a:r>
                    </a:p>
                    <a:p>
                      <a:pPr marL="666736" lvl="1" indent="-171450" algn="just">
                        <a:spcAft>
                          <a:spcPts val="500"/>
                        </a:spcAft>
                        <a:buFont typeface="Arial" panose="020B0604020202020204" pitchFamily="34" charset="0"/>
                        <a:buChar char="•"/>
                      </a:pPr>
                      <a:r>
                        <a:rPr lang="en-US" sz="1000" dirty="0"/>
                        <a:t>To secure the obligations of the Project Sponsor to maintain its proposal until execution of the Project Agreements.</a:t>
                      </a:r>
                    </a:p>
                    <a:p>
                      <a:pPr marL="171450" indent="-171450" algn="just">
                        <a:spcAft>
                          <a:spcPts val="500"/>
                        </a:spcAft>
                        <a:buFont typeface="Arial" panose="020B0604020202020204" pitchFamily="34" charset="0"/>
                        <a:buChar char="•"/>
                      </a:pPr>
                      <a:r>
                        <a:rPr lang="en-US" sz="1000" dirty="0"/>
                        <a:t>Performance Security Deposit</a:t>
                      </a:r>
                      <a:r>
                        <a:rPr lang="en-US" sz="1000" baseline="0" dirty="0"/>
                        <a:t> (In form of BG):</a:t>
                      </a:r>
                      <a:endParaRPr lang="en-US" sz="1000" dirty="0"/>
                    </a:p>
                    <a:p>
                      <a:pPr marL="666736" lvl="1" indent="-171450" algn="just">
                        <a:spcAft>
                          <a:spcPts val="500"/>
                        </a:spcAft>
                        <a:buFont typeface="Arial" panose="020B0604020202020204" pitchFamily="34" charset="0"/>
                        <a:buChar char="•"/>
                      </a:pPr>
                      <a:r>
                        <a:rPr lang="en-US" sz="1000" dirty="0"/>
                        <a:t>Amount = USD 36,000 x Contracted Facility Capacity.</a:t>
                      </a:r>
                    </a:p>
                    <a:p>
                      <a:pPr marL="666736" lvl="1" indent="-171450" algn="just">
                        <a:spcAft>
                          <a:spcPts val="500"/>
                        </a:spcAft>
                        <a:buFont typeface="Arial" panose="020B0604020202020204" pitchFamily="34" charset="0"/>
                        <a:buChar char="•"/>
                      </a:pPr>
                      <a:r>
                        <a:rPr lang="en-US" sz="1000" dirty="0"/>
                        <a:t>As a security for Company’s obligations including obligation to deliver the Operations Security Deposit, pay LD, and achieved Financial Closing by no later than Required Financial Closing Date.</a:t>
                      </a:r>
                    </a:p>
                    <a:p>
                      <a:pPr marL="171450" indent="-171450" algn="just">
                        <a:spcAft>
                          <a:spcPts val="500"/>
                        </a:spcAft>
                        <a:buFont typeface="Arial" panose="020B0604020202020204" pitchFamily="34" charset="0"/>
                        <a:buChar char="•"/>
                      </a:pPr>
                      <a:r>
                        <a:rPr lang="en-US" sz="1000" dirty="0"/>
                        <a:t>Operations Security Deposit (In form of BG):</a:t>
                      </a:r>
                    </a:p>
                    <a:p>
                      <a:pPr marL="666736" lvl="1" indent="-171450" algn="just">
                        <a:spcAft>
                          <a:spcPts val="500"/>
                        </a:spcAft>
                        <a:buFont typeface="Arial" panose="020B0604020202020204" pitchFamily="34" charset="0"/>
                        <a:buChar char="•"/>
                      </a:pPr>
                      <a:r>
                        <a:rPr lang="en-US" sz="1000" dirty="0"/>
                        <a:t>Amount = Two months of Capacity Payments.</a:t>
                      </a:r>
                    </a:p>
                    <a:p>
                      <a:pPr marL="666736" lvl="1" indent="-171450" algn="just">
                        <a:spcAft>
                          <a:spcPts val="500"/>
                        </a:spcAft>
                        <a:buFont typeface="Arial" panose="020B0604020202020204" pitchFamily="34" charset="0"/>
                        <a:buChar char="•"/>
                      </a:pPr>
                      <a:r>
                        <a:rPr lang="en-US" sz="1000" dirty="0"/>
                        <a:t>For payment of LD, other damages, interest or other amounts payable to BPDB.</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endParaRPr lang="en-GB"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5504751"/>
                  </a:ext>
                </a:extLst>
              </a:tr>
            </a:tbl>
          </a:graphicData>
        </a:graphic>
      </p:graphicFrame>
      <p:sp>
        <p:nvSpPr>
          <p:cNvPr id="5" name="Rectangle 4"/>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PPA, Deloitte Analysis</a:t>
            </a:r>
          </a:p>
        </p:txBody>
      </p:sp>
    </p:spTree>
    <p:extLst>
      <p:ext uri="{BB962C8B-B14F-4D97-AF65-F5344CB8AC3E}">
        <p14:creationId xmlns:p14="http://schemas.microsoft.com/office/powerpoint/2010/main" val="212971162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16" imgH="416" progId="TCLayout.ActiveDocument.1">
                  <p:embed/>
                </p:oleObj>
              </mc:Choice>
              <mc:Fallback>
                <p:oleObj name="think-cell Slide" r:id="rId5" imgW="416" imgH="416" progId="TCLayout.ActiveDocument.1">
                  <p:embed/>
                  <p:pic>
                    <p:nvPicPr>
                      <p:cNvPr id="4" name="Object 3"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marR="0" lvl="0" indent="0" algn="ctr" defTabSz="787481" rtl="0" eaLnBrk="1" fontAlgn="auto" latinLnBrk="0" hangingPunct="1">
              <a:lnSpc>
                <a:spcPct val="100000"/>
              </a:lnSpc>
              <a:spcBef>
                <a:spcPct val="0"/>
              </a:spcBef>
              <a:spcAft>
                <a:spcPct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35" name="Strapline"/>
          <p:cNvSpPr>
            <a:spLocks noGrp="1"/>
          </p:cNvSpPr>
          <p:nvPr>
            <p:ph type="body" sz="quarter" idx="13"/>
          </p:nvPr>
        </p:nvSpPr>
        <p:spPr>
          <a:xfrm>
            <a:off x="449993" y="1079983"/>
            <a:ext cx="9791843" cy="518392"/>
          </a:xfrm>
        </p:spPr>
        <p:txBody>
          <a:bodyPr lIns="0" tIns="0" rIns="0" bIns="0" anchor="t">
            <a:noAutofit/>
          </a:bodyPr>
          <a:lstStyle/>
          <a:p>
            <a:r>
              <a:rPr lang="en-US" b="1" dirty="0">
                <a:solidFill>
                  <a:schemeClr val="tx1">
                    <a:lumMod val="50000"/>
                    <a:lumOff val="50000"/>
                  </a:schemeClr>
                </a:solidFill>
                <a:latin typeface="Verdana" panose="020B0604030504040204" pitchFamily="34" charset="0"/>
              </a:rPr>
              <a:t>Comparison of Operational Norms</a:t>
            </a:r>
            <a:endParaRPr lang="en-GB" b="1" dirty="0">
              <a:solidFill>
                <a:schemeClr val="tx1">
                  <a:lumMod val="50000"/>
                  <a:lumOff val="50000"/>
                </a:schemeClr>
              </a:solidFill>
              <a:latin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US" dirty="0"/>
              <a:t>Power Purchase Agreement | Liquidated Damages (1/2)</a:t>
            </a:r>
            <a:endParaRPr lang="en-GB" noProof="0" dirty="0">
              <a:solidFill>
                <a:srgbClr val="000000"/>
              </a:solidFill>
              <a:latin typeface="Verdana" panose="020B0604030504040204" pitchFamily="34" charset="0"/>
            </a:endParaRPr>
          </a:p>
        </p:txBody>
      </p:sp>
      <p:graphicFrame>
        <p:nvGraphicFramePr>
          <p:cNvPr id="2" name="Table 1"/>
          <p:cNvGraphicFramePr>
            <a:graphicFrameLocks noGrp="1"/>
          </p:cNvGraphicFramePr>
          <p:nvPr>
            <p:extLst>
              <p:ext uri="{D42A27DB-BD31-4B8C-83A1-F6EECF244321}">
                <p14:modId xmlns:p14="http://schemas.microsoft.com/office/powerpoint/2010/main" val="482537501"/>
              </p:ext>
            </p:extLst>
          </p:nvPr>
        </p:nvGraphicFramePr>
        <p:xfrm>
          <a:off x="449992" y="1598377"/>
          <a:ext cx="9791843" cy="5326380"/>
        </p:xfrm>
        <a:graphic>
          <a:graphicData uri="http://schemas.openxmlformats.org/drawingml/2006/table">
            <a:tbl>
              <a:tblPr firstRow="1">
                <a:tableStyleId>{3B4B98B0-60AC-42C2-AFA5-B58CD77FA1E5}</a:tableStyleId>
              </a:tblPr>
              <a:tblGrid>
                <a:gridCol w="553860">
                  <a:extLst>
                    <a:ext uri="{9D8B030D-6E8A-4147-A177-3AD203B41FA5}">
                      <a16:colId xmlns:a16="http://schemas.microsoft.com/office/drawing/2014/main" val="3671827557"/>
                    </a:ext>
                  </a:extLst>
                </a:gridCol>
                <a:gridCol w="1023731">
                  <a:extLst>
                    <a:ext uri="{9D8B030D-6E8A-4147-A177-3AD203B41FA5}">
                      <a16:colId xmlns:a16="http://schemas.microsoft.com/office/drawing/2014/main" val="2911403996"/>
                    </a:ext>
                  </a:extLst>
                </a:gridCol>
                <a:gridCol w="4546837">
                  <a:extLst>
                    <a:ext uri="{9D8B030D-6E8A-4147-A177-3AD203B41FA5}">
                      <a16:colId xmlns:a16="http://schemas.microsoft.com/office/drawing/2014/main" val="1355348493"/>
                    </a:ext>
                  </a:extLst>
                </a:gridCol>
                <a:gridCol w="3667415">
                  <a:extLst>
                    <a:ext uri="{9D8B030D-6E8A-4147-A177-3AD203B41FA5}">
                      <a16:colId xmlns:a16="http://schemas.microsoft.com/office/drawing/2014/main" val="3999508094"/>
                    </a:ext>
                  </a:extLst>
                </a:gridCol>
              </a:tblGrid>
              <a:tr h="369628">
                <a:tc>
                  <a:txBody>
                    <a:bodyPr/>
                    <a:lstStyle/>
                    <a:p>
                      <a:pPr>
                        <a:spcAft>
                          <a:spcPts val="500"/>
                        </a:spcAft>
                      </a:pPr>
                      <a:r>
                        <a:rPr lang="en-US" sz="1000" dirty="0"/>
                        <a:t>Sr. No</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Parameter</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Conditions</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Key</a:t>
                      </a:r>
                      <a:r>
                        <a:rPr lang="en-US" sz="1000" baseline="0" dirty="0"/>
                        <a:t> risks</a:t>
                      </a:r>
                      <a:endParaRPr lang="en-IN" sz="10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5669302"/>
                  </a:ext>
                </a:extLst>
              </a:tr>
              <a:tr h="1092042">
                <a:tc>
                  <a:txBody>
                    <a:bodyPr/>
                    <a:lstStyle/>
                    <a:p>
                      <a:pPr>
                        <a:spcAft>
                          <a:spcPts val="500"/>
                        </a:spcAft>
                      </a:pPr>
                      <a:r>
                        <a:rPr lang="en-US" sz="1000" dirty="0"/>
                        <a:t>3</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Liquidated Damages</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spcAft>
                          <a:spcPts val="500"/>
                        </a:spcAft>
                        <a:buFont typeface="Arial" panose="020B0604020202020204" pitchFamily="34" charset="0"/>
                        <a:buChar char="•"/>
                      </a:pPr>
                      <a:r>
                        <a:rPr lang="en-US" sz="1000" b="1" dirty="0"/>
                        <a:t>Delay in Commercial Operation </a:t>
                      </a:r>
                      <a:r>
                        <a:rPr lang="en-US" sz="1000" dirty="0"/>
                        <a:t>- LD = USD 100 x Contracted Capacity x no of days (beyond 28 months from Project Effective Date i.e. Required COD); subject to a cap of 365 days of damages</a:t>
                      </a:r>
                    </a:p>
                    <a:p>
                      <a:pPr marL="171450" indent="-171450">
                        <a:spcAft>
                          <a:spcPts val="500"/>
                        </a:spcAft>
                        <a:buFont typeface="Arial" panose="020B0604020202020204" pitchFamily="34" charset="0"/>
                        <a:buChar char="•"/>
                      </a:pPr>
                      <a:r>
                        <a:rPr lang="en-US" sz="1000" b="1" dirty="0"/>
                        <a:t>Failure to meet Contracted Capacity</a:t>
                      </a:r>
                      <a:r>
                        <a:rPr lang="en-US" sz="1000" dirty="0"/>
                        <a:t> - If the Initial Dependable Capacity &lt; Contracted Capacity, LD = USD 1000 x KW difference in capacity; subject to a cap of 10% of Contracted Capacity</a:t>
                      </a:r>
                    </a:p>
                    <a:p>
                      <a:pPr marL="171450" indent="-171450">
                        <a:spcAft>
                          <a:spcPts val="500"/>
                        </a:spcAft>
                        <a:buFont typeface="Arial" panose="020B0604020202020204" pitchFamily="34" charset="0"/>
                        <a:buChar char="•"/>
                      </a:pP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just">
                        <a:spcAft>
                          <a:spcPts val="500"/>
                        </a:spcAft>
                        <a:buFont typeface="Arial" panose="020B0604020202020204" pitchFamily="34" charset="0"/>
                        <a:buNone/>
                      </a:pPr>
                      <a:r>
                        <a:rPr lang="en-US" sz="1000" b="1" dirty="0"/>
                        <a:t>Delay in Commercial</a:t>
                      </a:r>
                      <a:r>
                        <a:rPr lang="en-US" sz="1000" b="1" baseline="0" dirty="0"/>
                        <a:t> Operations:</a:t>
                      </a:r>
                      <a:endParaRPr lang="en-US" sz="1000" b="1" dirty="0"/>
                    </a:p>
                    <a:p>
                      <a:pPr marL="171450" indent="-171450" algn="just">
                        <a:spcAft>
                          <a:spcPts val="500"/>
                        </a:spcAft>
                        <a:buFont typeface="Arial" panose="020B0604020202020204" pitchFamily="34" charset="0"/>
                        <a:buChar char="•"/>
                      </a:pPr>
                      <a:r>
                        <a:rPr lang="en-US" sz="1000" dirty="0"/>
                        <a:t>If the project effective date is date of execution of this agreement i.e. August 2017, then Required COD occurred in December 2019 (28 months from effective date). Therefore, there is a delay in commissioning which will attract LD</a:t>
                      </a:r>
                      <a:r>
                        <a:rPr lang="en-US" sz="1000" baseline="0" dirty="0"/>
                        <a:t> </a:t>
                      </a:r>
                      <a:r>
                        <a:rPr lang="en-US" sz="1000" dirty="0"/>
                        <a:t>(NBBL has requested for extension of COD </a:t>
                      </a:r>
                      <a:r>
                        <a:rPr lang="en-US" sz="1000" dirty="0" err="1"/>
                        <a:t>upto</a:t>
                      </a:r>
                      <a:r>
                        <a:rPr lang="en-US" sz="1000" dirty="0"/>
                        <a:t> 30th June 2020 vide its letter dated 22nd August 2019 for delay on account of delay in obtaining Government Authorizations and delay in construction of gas transportation facilities). Contract provisions allow</a:t>
                      </a:r>
                      <a:r>
                        <a:rPr lang="en-US" sz="1000" baseline="0" dirty="0"/>
                        <a:t> for such day to day extension</a:t>
                      </a:r>
                      <a:endParaRPr lang="en-US" sz="1000" dirty="0"/>
                    </a:p>
                    <a:p>
                      <a:pPr marL="171450" indent="-171450" algn="just">
                        <a:spcAft>
                          <a:spcPts val="500"/>
                        </a:spcAft>
                        <a:buFont typeface="Arial" panose="020B0604020202020204" pitchFamily="34" charset="0"/>
                        <a:buChar char="•"/>
                      </a:pPr>
                      <a:r>
                        <a:rPr lang="en-US" sz="1000" dirty="0"/>
                        <a:t>Max LD applicable is ~USD 8 Mn</a:t>
                      </a:r>
                    </a:p>
                    <a:p>
                      <a:pPr marL="171450" indent="-171450" algn="just">
                        <a:spcAft>
                          <a:spcPts val="500"/>
                        </a:spcAft>
                        <a:buFont typeface="Arial" panose="020B0604020202020204" pitchFamily="34" charset="0"/>
                        <a:buChar char="•"/>
                      </a:pPr>
                      <a:r>
                        <a:rPr lang="en-US" sz="1000" dirty="0"/>
                        <a:t>EPC contract has a back to back clause in which case for every day of delay in CoD due</a:t>
                      </a:r>
                      <a:r>
                        <a:rPr lang="en-US" sz="1000" baseline="0" dirty="0"/>
                        <a:t> to the EPC contractor a penalty of 0.025% per day with a cap of 10% of the total Contract Value shall be charged</a:t>
                      </a:r>
                    </a:p>
                    <a:p>
                      <a:pPr marL="171450" indent="-171450" algn="just">
                        <a:spcAft>
                          <a:spcPts val="500"/>
                        </a:spcAft>
                        <a:buFont typeface="Arial" panose="020B0604020202020204" pitchFamily="34" charset="0"/>
                        <a:buChar char="•"/>
                      </a:pPr>
                      <a:r>
                        <a:rPr lang="en-US" sz="1000" baseline="0" dirty="0"/>
                        <a:t>Max LD applicable is ~ USD 22 Mn</a:t>
                      </a:r>
                    </a:p>
                    <a:p>
                      <a:pPr marL="171450" indent="-171450" algn="just">
                        <a:spcAft>
                          <a:spcPts val="500"/>
                        </a:spcAft>
                        <a:buFont typeface="Arial" panose="020B0604020202020204" pitchFamily="34" charset="0"/>
                        <a:buChar char="•"/>
                      </a:pPr>
                      <a:r>
                        <a:rPr lang="en-US" sz="1000" baseline="0" dirty="0"/>
                        <a:t>Thus for any delay due to EPC contractor is covered back to back</a:t>
                      </a:r>
                    </a:p>
                    <a:p>
                      <a:pPr marL="0" indent="0" algn="just">
                        <a:spcAft>
                          <a:spcPts val="500"/>
                        </a:spcAft>
                        <a:buFont typeface="Arial" panose="020B0604020202020204" pitchFamily="34" charset="0"/>
                        <a:buNone/>
                      </a:pPr>
                      <a:r>
                        <a:rPr lang="en-US" sz="1000" b="1" dirty="0"/>
                        <a:t>Failure</a:t>
                      </a:r>
                      <a:r>
                        <a:rPr lang="en-US" sz="1000" b="1" baseline="0" dirty="0"/>
                        <a:t> to Meet Contracted Capacity:</a:t>
                      </a:r>
                    </a:p>
                    <a:p>
                      <a:pPr marL="171450" indent="-171450" algn="just">
                        <a:spcAft>
                          <a:spcPts val="500"/>
                        </a:spcAft>
                        <a:buFont typeface="Arial" panose="020B0604020202020204" pitchFamily="34" charset="0"/>
                        <a:buChar char="•"/>
                      </a:pPr>
                      <a:r>
                        <a:rPr lang="en-US" sz="1000" dirty="0"/>
                        <a:t>Max LD applicable is ~ 22 Mn</a:t>
                      </a:r>
                    </a:p>
                    <a:p>
                      <a:pPr marL="171450" indent="-171450" algn="just">
                        <a:spcAft>
                          <a:spcPts val="500"/>
                        </a:spcAft>
                        <a:buFont typeface="Arial" panose="020B0604020202020204" pitchFamily="34" charset="0"/>
                        <a:buChar char="•"/>
                      </a:pPr>
                      <a:r>
                        <a:rPr lang="en-US" sz="1000" dirty="0"/>
                        <a:t>EPC has a back to back clause</a:t>
                      </a:r>
                      <a:r>
                        <a:rPr lang="en-US" sz="1000" baseline="0" dirty="0"/>
                        <a:t> with a 15% cap to contract value. This comes to ~ 33Mn. So not a risk. </a:t>
                      </a:r>
                    </a:p>
                    <a:p>
                      <a:pPr marL="171450" indent="-171450" algn="just">
                        <a:spcAft>
                          <a:spcPts val="500"/>
                        </a:spcAft>
                        <a:buFont typeface="Arial" panose="020B0604020202020204" pitchFamily="34" charset="0"/>
                        <a:buChar char="•"/>
                      </a:pPr>
                      <a:r>
                        <a:rPr lang="en-US" sz="1000" baseline="0" dirty="0"/>
                        <a:t>EPC contract has an overall LD limit of 20% of Contract Value which is sufficient to cover both the above LD amounts</a:t>
                      </a: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35807831"/>
                  </a:ext>
                </a:extLst>
              </a:tr>
            </a:tbl>
          </a:graphicData>
        </a:graphic>
      </p:graphicFrame>
      <p:sp>
        <p:nvSpPr>
          <p:cNvPr id="7" name="Rectangle 6"/>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PPA, Deloitte Analysis</a:t>
            </a:r>
          </a:p>
        </p:txBody>
      </p:sp>
    </p:spTree>
    <p:extLst>
      <p:ext uri="{BB962C8B-B14F-4D97-AF65-F5344CB8AC3E}">
        <p14:creationId xmlns:p14="http://schemas.microsoft.com/office/powerpoint/2010/main" val="384807971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16" imgH="416" progId="TCLayout.ActiveDocument.1">
                  <p:embed/>
                </p:oleObj>
              </mc:Choice>
              <mc:Fallback>
                <p:oleObj name="think-cell Slide" r:id="rId5" imgW="416" imgH="416" progId="TCLayout.ActiveDocument.1">
                  <p:embed/>
                  <p:pic>
                    <p:nvPicPr>
                      <p:cNvPr id="4" name="Object 3"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marR="0" lvl="0" indent="0" algn="ctr" defTabSz="787481" rtl="0" eaLnBrk="1" fontAlgn="auto" latinLnBrk="0" hangingPunct="1">
              <a:lnSpc>
                <a:spcPct val="100000"/>
              </a:lnSpc>
              <a:spcBef>
                <a:spcPct val="0"/>
              </a:spcBef>
              <a:spcAft>
                <a:spcPct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35" name="Strapline"/>
          <p:cNvSpPr>
            <a:spLocks noGrp="1"/>
          </p:cNvSpPr>
          <p:nvPr>
            <p:ph type="body" sz="quarter" idx="13"/>
          </p:nvPr>
        </p:nvSpPr>
        <p:spPr>
          <a:xfrm>
            <a:off x="449993" y="1079983"/>
            <a:ext cx="9791843" cy="518392"/>
          </a:xfrm>
        </p:spPr>
        <p:txBody>
          <a:bodyPr lIns="0" tIns="0" rIns="0" bIns="0" anchor="t">
            <a:noAutofit/>
          </a:bodyPr>
          <a:lstStyle/>
          <a:p>
            <a:r>
              <a:rPr lang="en-US" b="1" dirty="0">
                <a:solidFill>
                  <a:schemeClr val="tx1">
                    <a:lumMod val="50000"/>
                    <a:lumOff val="50000"/>
                  </a:schemeClr>
                </a:solidFill>
                <a:latin typeface="Verdana" panose="020B0604030504040204" pitchFamily="34" charset="0"/>
              </a:rPr>
              <a:t>Comparison of Operational Norms</a:t>
            </a:r>
            <a:endParaRPr lang="en-GB" b="1" dirty="0">
              <a:solidFill>
                <a:schemeClr val="tx1">
                  <a:lumMod val="50000"/>
                  <a:lumOff val="50000"/>
                </a:schemeClr>
              </a:solidFill>
              <a:latin typeface="Verdana" panose="020B0604030504040204" pitchFamily="34" charset="0"/>
            </a:endParaRPr>
          </a:p>
        </p:txBody>
      </p:sp>
      <p:sp>
        <p:nvSpPr>
          <p:cNvPr id="30" name="SlideTitle"/>
          <p:cNvSpPr>
            <a:spLocks noGrp="1"/>
          </p:cNvSpPr>
          <p:nvPr>
            <p:ph type="title"/>
          </p:nvPr>
        </p:nvSpPr>
        <p:spPr>
          <a:xfrm>
            <a:off x="449993" y="636415"/>
            <a:ext cx="9791843" cy="431993"/>
          </a:xfrm>
        </p:spPr>
        <p:txBody>
          <a:bodyPr lIns="0" tIns="0" rIns="0" bIns="0" anchor="ctr">
            <a:noAutofit/>
          </a:bodyPr>
          <a:lstStyle/>
          <a:p>
            <a:r>
              <a:rPr lang="en-US" dirty="0"/>
              <a:t>Power Purchase Agreement | Liquidated Damages (2/2)</a:t>
            </a:r>
            <a:endParaRPr lang="en-GB" noProof="0" dirty="0">
              <a:solidFill>
                <a:srgbClr val="000000"/>
              </a:solidFill>
              <a:latin typeface="Verdana" panose="020B0604030504040204" pitchFamily="34" charset="0"/>
            </a:endParaRPr>
          </a:p>
        </p:txBody>
      </p:sp>
      <p:graphicFrame>
        <p:nvGraphicFramePr>
          <p:cNvPr id="2" name="Table 1"/>
          <p:cNvGraphicFramePr>
            <a:graphicFrameLocks noGrp="1"/>
          </p:cNvGraphicFramePr>
          <p:nvPr>
            <p:extLst>
              <p:ext uri="{D42A27DB-BD31-4B8C-83A1-F6EECF244321}">
                <p14:modId xmlns:p14="http://schemas.microsoft.com/office/powerpoint/2010/main" val="2098992929"/>
              </p:ext>
            </p:extLst>
          </p:nvPr>
        </p:nvGraphicFramePr>
        <p:xfrm>
          <a:off x="449992" y="1598377"/>
          <a:ext cx="9791843" cy="4284980"/>
        </p:xfrm>
        <a:graphic>
          <a:graphicData uri="http://schemas.openxmlformats.org/drawingml/2006/table">
            <a:tbl>
              <a:tblPr firstRow="1">
                <a:tableStyleId>{3B4B98B0-60AC-42C2-AFA5-B58CD77FA1E5}</a:tableStyleId>
              </a:tblPr>
              <a:tblGrid>
                <a:gridCol w="553860">
                  <a:extLst>
                    <a:ext uri="{9D8B030D-6E8A-4147-A177-3AD203B41FA5}">
                      <a16:colId xmlns:a16="http://schemas.microsoft.com/office/drawing/2014/main" val="3671827557"/>
                    </a:ext>
                  </a:extLst>
                </a:gridCol>
                <a:gridCol w="1023731">
                  <a:extLst>
                    <a:ext uri="{9D8B030D-6E8A-4147-A177-3AD203B41FA5}">
                      <a16:colId xmlns:a16="http://schemas.microsoft.com/office/drawing/2014/main" val="2911403996"/>
                    </a:ext>
                  </a:extLst>
                </a:gridCol>
                <a:gridCol w="5426513">
                  <a:extLst>
                    <a:ext uri="{9D8B030D-6E8A-4147-A177-3AD203B41FA5}">
                      <a16:colId xmlns:a16="http://schemas.microsoft.com/office/drawing/2014/main" val="1355348493"/>
                    </a:ext>
                  </a:extLst>
                </a:gridCol>
                <a:gridCol w="2787739">
                  <a:extLst>
                    <a:ext uri="{9D8B030D-6E8A-4147-A177-3AD203B41FA5}">
                      <a16:colId xmlns:a16="http://schemas.microsoft.com/office/drawing/2014/main" val="3999508094"/>
                    </a:ext>
                  </a:extLst>
                </a:gridCol>
              </a:tblGrid>
              <a:tr h="369628">
                <a:tc>
                  <a:txBody>
                    <a:bodyPr/>
                    <a:lstStyle/>
                    <a:p>
                      <a:pPr>
                        <a:spcAft>
                          <a:spcPts val="500"/>
                        </a:spcAft>
                      </a:pPr>
                      <a:r>
                        <a:rPr lang="en-US" sz="1000" dirty="0"/>
                        <a:t>Sr. No</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Parameter</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Conditions</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Key</a:t>
                      </a:r>
                      <a:r>
                        <a:rPr lang="en-US" sz="1000" baseline="0" dirty="0"/>
                        <a:t> risks</a:t>
                      </a:r>
                      <a:endParaRPr lang="en-IN" sz="10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5669302"/>
                  </a:ext>
                </a:extLst>
              </a:tr>
              <a:tr h="1092042">
                <a:tc>
                  <a:txBody>
                    <a:bodyPr/>
                    <a:lstStyle/>
                    <a:p>
                      <a:pPr>
                        <a:spcAft>
                          <a:spcPts val="500"/>
                        </a:spcAft>
                      </a:pPr>
                      <a:r>
                        <a:rPr lang="en-US" sz="1000" dirty="0"/>
                        <a:t>3</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Liquidated Damages</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spcAft>
                          <a:spcPts val="500"/>
                        </a:spcAft>
                        <a:buFont typeface="Arial" panose="020B0604020202020204" pitchFamily="34" charset="0"/>
                        <a:buChar char="•"/>
                      </a:pPr>
                      <a:r>
                        <a:rPr lang="en-US" sz="1000" b="1" dirty="0"/>
                        <a:t>Forced Outages</a:t>
                      </a:r>
                      <a:r>
                        <a:rPr lang="en-US" sz="1000" b="1" baseline="0" dirty="0"/>
                        <a:t> –</a:t>
                      </a:r>
                      <a:r>
                        <a:rPr lang="en-US" sz="1000" baseline="0" dirty="0"/>
                        <a:t> </a:t>
                      </a:r>
                    </a:p>
                    <a:p>
                      <a:pPr marL="666736" lvl="1" indent="-171450">
                        <a:spcAft>
                          <a:spcPts val="500"/>
                        </a:spcAft>
                        <a:buFont typeface="Arial" panose="020B0604020202020204" pitchFamily="34" charset="0"/>
                        <a:buChar char="•"/>
                      </a:pPr>
                      <a:r>
                        <a:rPr lang="en-US" sz="1000" dirty="0"/>
                        <a:t>If Equivalent Forced Outage Energy (a) + Maintenance Outage Energy (b)+ Scheduled Outages Energy (c)&gt; Average Dependable Capacity x 1376 hours for gas operation (or 1580 hours for Fuel Oil Operation) in every third contract year or 876 hours for gas operation (or 1190 hours for Fuel Oil Operation) in every other contract year (d) , LD = Capacity Factor (i.e. Average Capacity Price x 1.522) x (a + b + c - d) </a:t>
                      </a:r>
                    </a:p>
                    <a:p>
                      <a:pPr marL="666736" lvl="1" indent="-171450">
                        <a:spcAft>
                          <a:spcPts val="500"/>
                        </a:spcAft>
                        <a:buFont typeface="Arial" panose="020B0604020202020204" pitchFamily="34" charset="0"/>
                        <a:buChar char="•"/>
                      </a:pPr>
                      <a:r>
                        <a:rPr lang="en-US" sz="1000" dirty="0"/>
                        <a:t>For first contract year an adjustment of 0.75 has been provided </a:t>
                      </a:r>
                    </a:p>
                    <a:p>
                      <a:pPr marL="171450" indent="-171450">
                        <a:spcAft>
                          <a:spcPts val="500"/>
                        </a:spcAft>
                        <a:buFont typeface="Arial" panose="020B0604020202020204" pitchFamily="34" charset="0"/>
                        <a:buChar char="•"/>
                      </a:pPr>
                      <a:r>
                        <a:rPr lang="en-US" sz="1000" b="1" dirty="0"/>
                        <a:t>Declaration and Delivery of Available Capacity</a:t>
                      </a:r>
                    </a:p>
                    <a:p>
                      <a:pPr marL="666736" lvl="1" indent="-171450">
                        <a:spcAft>
                          <a:spcPts val="500"/>
                        </a:spcAft>
                        <a:buFont typeface="Arial" panose="020B0604020202020204" pitchFamily="34" charset="0"/>
                        <a:buChar char="•"/>
                      </a:pPr>
                      <a:r>
                        <a:rPr lang="en-US" sz="1000" dirty="0"/>
                        <a:t>If the company notifies a Revised Declared Capacity which does not result due to Force Majeure Event or BPDB/PGCB/Gas Supplier/Fuel Supplier/GOB,  LD is applied in case of downward revisions in Declared Capacity as follows:</a:t>
                      </a:r>
                    </a:p>
                    <a:p>
                      <a:pPr marL="1162021" lvl="2" indent="-171450">
                        <a:spcAft>
                          <a:spcPts val="500"/>
                        </a:spcAft>
                        <a:buFont typeface="Courier New" panose="02070309020205020404" pitchFamily="49" charset="0"/>
                        <a:buChar char="o"/>
                      </a:pPr>
                      <a:r>
                        <a:rPr lang="en-US" sz="1000" dirty="0"/>
                        <a:t>12 hours before start of Day – 5%*</a:t>
                      </a:r>
                      <a:r>
                        <a:rPr lang="en-US" sz="1000" baseline="0" dirty="0"/>
                        <a:t>Difference in Capacity* Capacity Price </a:t>
                      </a:r>
                    </a:p>
                    <a:p>
                      <a:pPr marL="1162021" lvl="2" indent="-171450">
                        <a:spcAft>
                          <a:spcPts val="500"/>
                        </a:spcAft>
                        <a:buFont typeface="Courier New" panose="02070309020205020404" pitchFamily="49" charset="0"/>
                        <a:buChar char="o"/>
                      </a:pPr>
                      <a:r>
                        <a:rPr lang="en-US" sz="1000" baseline="0" dirty="0"/>
                        <a:t>After beginning of the Day and upto 3 hours prior to the beginning of the relevant hour – 15%* Difference* Capacity Price </a:t>
                      </a:r>
                      <a:endParaRPr lang="en-US" sz="1000" dirty="0"/>
                    </a:p>
                    <a:p>
                      <a:pPr marL="666736" lvl="1" indent="-171450">
                        <a:spcAft>
                          <a:spcPts val="500"/>
                        </a:spcAft>
                        <a:buFont typeface="Arial" panose="020B0604020202020204" pitchFamily="34" charset="0"/>
                        <a:buChar char="•"/>
                      </a:pPr>
                      <a:r>
                        <a:rPr lang="en-US" sz="1000" dirty="0"/>
                        <a:t>If the Company fails to comply with the dispatch instruction which is not due to Force Majeure Event or BPDB/PGCB/Gas Supplier/Fuel, LD = 100% x difference between declared capacity and available capacity x Applicable Relevant Capacity Price </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just">
                        <a:spcAft>
                          <a:spcPts val="500"/>
                        </a:spcAft>
                        <a:buFont typeface="Arial" panose="020B0604020202020204" pitchFamily="34" charset="0"/>
                        <a:buNone/>
                      </a:pPr>
                      <a:r>
                        <a:rPr lang="en-US" sz="1000" b="1" dirty="0"/>
                        <a:t>Forced Outage</a:t>
                      </a:r>
                      <a:r>
                        <a:rPr lang="en-US" sz="1000" b="1" baseline="0" dirty="0"/>
                        <a:t>:</a:t>
                      </a:r>
                      <a:endParaRPr lang="en-US" sz="1000" b="1" dirty="0"/>
                    </a:p>
                    <a:p>
                      <a:pPr marL="171450" indent="-171450" algn="just">
                        <a:spcAft>
                          <a:spcPts val="500"/>
                        </a:spcAft>
                        <a:buFont typeface="Arial" panose="020B0604020202020204" pitchFamily="34" charset="0"/>
                        <a:buChar char="•"/>
                      </a:pPr>
                      <a:r>
                        <a:rPr lang="en-US" sz="1000" dirty="0"/>
                        <a:t>O&amp;M has a back to back LD clause with a Cap of 10% of Base Fee. There is no</a:t>
                      </a:r>
                      <a:r>
                        <a:rPr lang="en-US" sz="1000" baseline="0" dirty="0"/>
                        <a:t> such cap mentioned in the PPA</a:t>
                      </a: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dirty="0"/>
                        <a:t>Declaration and Delivery of Available Capacity</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dirty="0"/>
                        <a:t>For</a:t>
                      </a:r>
                      <a:r>
                        <a:rPr lang="en-US" sz="1000" b="0" baseline="0" dirty="0"/>
                        <a:t> 12 hours before start of day: </a:t>
                      </a:r>
                      <a:r>
                        <a:rPr lang="en-US" sz="1000" dirty="0"/>
                        <a:t>O&amp;M has a back to back LD clause with a Cap of 10% of Base Fee. There is no</a:t>
                      </a:r>
                      <a:r>
                        <a:rPr lang="en-US" sz="1000" baseline="0" dirty="0"/>
                        <a:t> such cap mentioned in the PPA</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dirty="0"/>
                        <a:t>After beginning of day:</a:t>
                      </a:r>
                      <a:r>
                        <a:rPr lang="en-US" sz="1000" b="0" baseline="0" dirty="0"/>
                        <a:t> No back to back clause in the O&amp;M agreement </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t>Failure for dispatch: No back to back clause</a:t>
                      </a:r>
                      <a:endParaRPr lang="en-US" sz="1000" b="0" dirty="0"/>
                    </a:p>
                    <a:p>
                      <a:pPr marL="0" indent="0" algn="just">
                        <a:spcAft>
                          <a:spcPts val="500"/>
                        </a:spcAft>
                        <a:buFont typeface="Arial" panose="020B0604020202020204" pitchFamily="34" charset="0"/>
                        <a:buNone/>
                      </a:pP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35807831"/>
                  </a:ext>
                </a:extLst>
              </a:tr>
            </a:tbl>
          </a:graphicData>
        </a:graphic>
      </p:graphicFrame>
      <p:sp>
        <p:nvSpPr>
          <p:cNvPr id="7" name="Rectangle 6"/>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PPA, Deloitte Analysis</a:t>
            </a:r>
          </a:p>
        </p:txBody>
      </p:sp>
    </p:spTree>
    <p:extLst>
      <p:ext uri="{BB962C8B-B14F-4D97-AF65-F5344CB8AC3E}">
        <p14:creationId xmlns:p14="http://schemas.microsoft.com/office/powerpoint/2010/main" val="240179377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Strapline"/>
          <p:cNvSpPr>
            <a:spLocks noGrp="1"/>
          </p:cNvSpPr>
          <p:nvPr>
            <p:ph type="body" sz="quarter" idx="13"/>
          </p:nvPr>
        </p:nvSpPr>
        <p:spPr>
          <a:xfrm>
            <a:off x="449993" y="1079983"/>
            <a:ext cx="9791843" cy="518392"/>
          </a:xfrm>
        </p:spPr>
        <p:txBody>
          <a:bodyPr lIns="0" tIns="0" rIns="0" bIns="0" anchor="t">
            <a:noAutofit/>
          </a:bodyPr>
          <a:lstStyle/>
          <a:p>
            <a:r>
              <a:rPr lang="en-US" b="1" dirty="0">
                <a:solidFill>
                  <a:schemeClr val="tx1">
                    <a:lumMod val="50000"/>
                    <a:lumOff val="50000"/>
                  </a:schemeClr>
                </a:solidFill>
                <a:latin typeface="Verdana" panose="020B0604030504040204" pitchFamily="34" charset="0"/>
              </a:rPr>
              <a:t>Comparison of Operational Norms</a:t>
            </a:r>
            <a:endParaRPr lang="en-GB" b="1" dirty="0">
              <a:solidFill>
                <a:schemeClr val="tx1">
                  <a:lumMod val="50000"/>
                  <a:lumOff val="50000"/>
                </a:schemeClr>
              </a:solidFill>
              <a:latin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US" dirty="0"/>
              <a:t>Power Purchase Agreement | Key Terms</a:t>
            </a:r>
            <a:endParaRPr lang="en-GB" noProof="0" dirty="0">
              <a:solidFill>
                <a:srgbClr val="000000"/>
              </a:solidFill>
              <a:latin typeface="Verdana" panose="020B0604030504040204" pitchFamily="34" charset="0"/>
            </a:endParaRPr>
          </a:p>
        </p:txBody>
      </p:sp>
      <p:graphicFrame>
        <p:nvGraphicFramePr>
          <p:cNvPr id="2" name="Table 1"/>
          <p:cNvGraphicFramePr>
            <a:graphicFrameLocks noGrp="1"/>
          </p:cNvGraphicFramePr>
          <p:nvPr/>
        </p:nvGraphicFramePr>
        <p:xfrm>
          <a:off x="449992" y="1598377"/>
          <a:ext cx="9791843" cy="5625779"/>
        </p:xfrm>
        <a:graphic>
          <a:graphicData uri="http://schemas.openxmlformats.org/drawingml/2006/table">
            <a:tbl>
              <a:tblPr firstRow="1">
                <a:tableStyleId>{3B4B98B0-60AC-42C2-AFA5-B58CD77FA1E5}</a:tableStyleId>
              </a:tblPr>
              <a:tblGrid>
                <a:gridCol w="553860">
                  <a:extLst>
                    <a:ext uri="{9D8B030D-6E8A-4147-A177-3AD203B41FA5}">
                      <a16:colId xmlns:a16="http://schemas.microsoft.com/office/drawing/2014/main" val="3671827557"/>
                    </a:ext>
                  </a:extLst>
                </a:gridCol>
                <a:gridCol w="1023731">
                  <a:extLst>
                    <a:ext uri="{9D8B030D-6E8A-4147-A177-3AD203B41FA5}">
                      <a16:colId xmlns:a16="http://schemas.microsoft.com/office/drawing/2014/main" val="2911403996"/>
                    </a:ext>
                  </a:extLst>
                </a:gridCol>
                <a:gridCol w="6748669">
                  <a:extLst>
                    <a:ext uri="{9D8B030D-6E8A-4147-A177-3AD203B41FA5}">
                      <a16:colId xmlns:a16="http://schemas.microsoft.com/office/drawing/2014/main" val="1355348493"/>
                    </a:ext>
                  </a:extLst>
                </a:gridCol>
                <a:gridCol w="1465583">
                  <a:extLst>
                    <a:ext uri="{9D8B030D-6E8A-4147-A177-3AD203B41FA5}">
                      <a16:colId xmlns:a16="http://schemas.microsoft.com/office/drawing/2014/main" val="3999508094"/>
                    </a:ext>
                  </a:extLst>
                </a:gridCol>
              </a:tblGrid>
              <a:tr h="441348">
                <a:tc>
                  <a:txBody>
                    <a:bodyPr/>
                    <a:lstStyle/>
                    <a:p>
                      <a:pPr>
                        <a:spcAft>
                          <a:spcPts val="500"/>
                        </a:spcAft>
                      </a:pPr>
                      <a:r>
                        <a:rPr lang="en-US" sz="1000" dirty="0"/>
                        <a:t>Sr. No</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Parameter</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Conditions</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Key</a:t>
                      </a:r>
                      <a:r>
                        <a:rPr lang="en-US" sz="1000" baseline="0" dirty="0"/>
                        <a:t> risks</a:t>
                      </a:r>
                      <a:endParaRPr lang="en-IN" sz="10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5669302"/>
                  </a:ext>
                </a:extLst>
              </a:tr>
              <a:tr h="279691">
                <a:tc gridSpan="4">
                  <a:txBody>
                    <a:bodyPr/>
                    <a:lstStyle/>
                    <a:p>
                      <a:pPr>
                        <a:spcAft>
                          <a:spcPts val="500"/>
                        </a:spcAft>
                      </a:pPr>
                      <a:r>
                        <a:rPr lang="en-US" sz="1000" b="1" i="1" dirty="0"/>
                        <a:t>Comparison</a:t>
                      </a:r>
                      <a:r>
                        <a:rPr lang="en-US" sz="1000" b="1" i="1" baseline="0" dirty="0"/>
                        <a:t> of operational norms of PPA &amp; EPC Contract</a:t>
                      </a:r>
                      <a:endParaRPr lang="en-IN" sz="1000" b="1" i="1"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hMerge="1">
                  <a:txBody>
                    <a:bodyPr/>
                    <a:lstStyle/>
                    <a:p>
                      <a:pPr>
                        <a:spcAft>
                          <a:spcPts val="500"/>
                        </a:spcAft>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marL="171450" indent="-171450">
                        <a:spcAft>
                          <a:spcPts val="500"/>
                        </a:spcAft>
                        <a:buFont typeface="Arial" panose="020B0604020202020204" pitchFamily="34" charset="0"/>
                        <a:buChar char="•"/>
                      </a:pP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marL="0" indent="0">
                        <a:spcAft>
                          <a:spcPts val="500"/>
                        </a:spcAft>
                        <a:buFont typeface="Arial" panose="020B0604020202020204" pitchFamily="34" charset="0"/>
                        <a:buNone/>
                      </a:pP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1887110"/>
                  </a:ext>
                </a:extLst>
              </a:tr>
              <a:tr h="4642305">
                <a:tc>
                  <a:txBody>
                    <a:bodyPr/>
                    <a:lstStyle/>
                    <a:p>
                      <a:pPr>
                        <a:spcAft>
                          <a:spcPts val="500"/>
                        </a:spcAft>
                      </a:pPr>
                      <a:r>
                        <a:rPr lang="en-US" sz="1000" dirty="0"/>
                        <a:t>1</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Operating Norms</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spcAft>
                          <a:spcPts val="500"/>
                        </a:spcAft>
                        <a:buFont typeface="Arial" panose="020B0604020202020204" pitchFamily="34" charset="0"/>
                        <a:buChar char="•"/>
                      </a:pPr>
                      <a:r>
                        <a:rPr lang="en-US" sz="1000" dirty="0"/>
                        <a:t>Operating Norms mentioned in PPA</a:t>
                      </a:r>
                    </a:p>
                    <a:p>
                      <a:pPr marL="666736" lvl="1" indent="-171450">
                        <a:spcAft>
                          <a:spcPts val="500"/>
                        </a:spcAft>
                        <a:buFont typeface="Arial" panose="020B0604020202020204" pitchFamily="34" charset="0"/>
                        <a:buChar char="•"/>
                      </a:pPr>
                      <a:r>
                        <a:rPr lang="en-US" sz="1000" dirty="0"/>
                        <a:t>Norms for Start-ups, Facility Loading, and Frequency, PF and Voltage limits</a:t>
                      </a:r>
                    </a:p>
                    <a:p>
                      <a:pPr marL="666736" lvl="1" indent="-171450">
                        <a:spcAft>
                          <a:spcPts val="500"/>
                        </a:spcAft>
                        <a:buFont typeface="Arial" panose="020B0604020202020204" pitchFamily="34" charset="0"/>
                        <a:buChar char="•"/>
                      </a:pPr>
                      <a:r>
                        <a:rPr lang="en-US" sz="1000" dirty="0"/>
                        <a:t>Expected Maintenance Intervals </a:t>
                      </a:r>
                    </a:p>
                    <a:p>
                      <a:pPr marL="666736" lvl="1" indent="-171450">
                        <a:spcAft>
                          <a:spcPts val="500"/>
                        </a:spcAft>
                        <a:buFont typeface="Arial" panose="020B0604020202020204" pitchFamily="34" charset="0"/>
                        <a:buChar char="•"/>
                      </a:pPr>
                      <a:r>
                        <a:rPr lang="en-US" sz="1000" dirty="0"/>
                        <a:t>Reference Heat Rates (Gas operation)</a:t>
                      </a:r>
                    </a:p>
                    <a:p>
                      <a:pPr marL="666736" lvl="1" indent="-171450">
                        <a:spcAft>
                          <a:spcPts val="500"/>
                        </a:spcAft>
                        <a:buFont typeface="Arial" panose="020B0604020202020204" pitchFamily="34" charset="0"/>
                        <a:buChar char="•"/>
                      </a:pPr>
                      <a:r>
                        <a:rPr lang="en-US" sz="1000" dirty="0"/>
                        <a:t>Reference Heat Rates (Fuel Oil operation) </a:t>
                      </a:r>
                    </a:p>
                    <a:p>
                      <a:pPr marL="171450" lvl="0" indent="-171450">
                        <a:spcAft>
                          <a:spcPts val="500"/>
                        </a:spcAft>
                        <a:buFont typeface="Arial" panose="020B0604020202020204" pitchFamily="34" charset="0"/>
                        <a:buChar char="•"/>
                      </a:pPr>
                      <a:r>
                        <a:rPr lang="en-US" sz="1000" dirty="0"/>
                        <a:t>Operating Norms</a:t>
                      </a:r>
                      <a:r>
                        <a:rPr lang="en-US" sz="1000" baseline="0" dirty="0"/>
                        <a:t> mentioned in EPC Contract</a:t>
                      </a:r>
                    </a:p>
                    <a:p>
                      <a:pPr marL="666736" lvl="1" indent="-171450">
                        <a:spcAft>
                          <a:spcPts val="500"/>
                        </a:spcAft>
                        <a:buFont typeface="Arial" panose="020B0604020202020204" pitchFamily="34" charset="0"/>
                        <a:buChar char="•"/>
                      </a:pPr>
                      <a:r>
                        <a:rPr lang="en-US" sz="1000" dirty="0"/>
                        <a:t>Net plant output (MW) and Heat Rate for combined-cycle operation on gas and fuel oil </a:t>
                      </a:r>
                    </a:p>
                    <a:p>
                      <a:pPr marL="666736" lvl="1" indent="-171450">
                        <a:spcAft>
                          <a:spcPts val="500"/>
                        </a:spcAft>
                        <a:buFont typeface="Arial" panose="020B0604020202020204" pitchFamily="34" charset="0"/>
                        <a:buChar char="•"/>
                      </a:pPr>
                      <a:r>
                        <a:rPr lang="en-US" sz="1000" dirty="0"/>
                        <a:t>Emission, noise and effluent discharge guarantees </a:t>
                      </a:r>
                    </a:p>
                    <a:p>
                      <a:pPr marL="171450" indent="-171450">
                        <a:spcAft>
                          <a:spcPts val="500"/>
                        </a:spcAft>
                        <a:buFont typeface="Arial" panose="020B0604020202020204" pitchFamily="34" charset="0"/>
                        <a:buChar char="•"/>
                      </a:pP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spcAft>
                          <a:spcPts val="500"/>
                        </a:spcAft>
                        <a:buFont typeface="Arial" panose="020B0604020202020204" pitchFamily="34" charset="0"/>
                        <a:buChar char="•"/>
                      </a:pPr>
                      <a:r>
                        <a:rPr lang="en-US" sz="1000" dirty="0"/>
                        <a:t>Fo</a:t>
                      </a:r>
                      <a:r>
                        <a:rPr lang="en-US" sz="1000" baseline="0" dirty="0"/>
                        <a:t>r Gas Operation, the reference heat rate is higher in the PPA only for 100% plant factor</a:t>
                      </a:r>
                    </a:p>
                    <a:p>
                      <a:pPr marL="171450" indent="-171450">
                        <a:spcAft>
                          <a:spcPts val="500"/>
                        </a:spcAft>
                        <a:buFont typeface="Arial" panose="020B0604020202020204" pitchFamily="34" charset="0"/>
                        <a:buChar char="•"/>
                      </a:pPr>
                      <a:r>
                        <a:rPr lang="en-US" sz="1000" baseline="0" dirty="0"/>
                        <a:t>For Fuel Operation, the reference heat rate is the same for 100% Plant factor, but is lower for PPA reference rate at all other plant factors</a:t>
                      </a:r>
                    </a:p>
                    <a:p>
                      <a:pPr marL="0" indent="0">
                        <a:spcAft>
                          <a:spcPts val="500"/>
                        </a:spcAft>
                        <a:buFont typeface="Arial" panose="020B0604020202020204" pitchFamily="34" charset="0"/>
                        <a:buNone/>
                      </a:pPr>
                      <a:endParaRPr lang="en-US" sz="1000" dirty="0"/>
                    </a:p>
                    <a:p>
                      <a:pPr marL="0" indent="0">
                        <a:spcAft>
                          <a:spcPts val="500"/>
                        </a:spcAft>
                        <a:buFont typeface="Arial" panose="020B0604020202020204" pitchFamily="34" charset="0"/>
                        <a:buNone/>
                      </a:pPr>
                      <a:endParaRPr lang="en-US" sz="1000" dirty="0"/>
                    </a:p>
                    <a:p>
                      <a:pPr marL="0" indent="0">
                        <a:spcAft>
                          <a:spcPts val="500"/>
                        </a:spcAft>
                        <a:buFont typeface="Arial" panose="020B0604020202020204" pitchFamily="34" charset="0"/>
                        <a:buNone/>
                      </a:pPr>
                      <a:endParaRPr lang="en-US" sz="1000" dirty="0"/>
                    </a:p>
                    <a:p>
                      <a:pPr marL="0" indent="0">
                        <a:spcAft>
                          <a:spcPts val="500"/>
                        </a:spcAft>
                        <a:buFont typeface="Arial" panose="020B0604020202020204" pitchFamily="34" charset="0"/>
                        <a:buNone/>
                      </a:pPr>
                      <a:endParaRPr lang="en-US" sz="1000" dirty="0"/>
                    </a:p>
                    <a:p>
                      <a:pPr marL="0" indent="0">
                        <a:spcAft>
                          <a:spcPts val="500"/>
                        </a:spcAft>
                        <a:buFont typeface="Arial" panose="020B0604020202020204" pitchFamily="34" charset="0"/>
                        <a:buNone/>
                      </a:pPr>
                      <a:endParaRPr lang="en-US" sz="1000" dirty="0"/>
                    </a:p>
                    <a:p>
                      <a:pPr marL="0" indent="0">
                        <a:spcAft>
                          <a:spcPts val="500"/>
                        </a:spcAft>
                        <a:buFont typeface="Arial" panose="020B0604020202020204" pitchFamily="34" charset="0"/>
                        <a:buNone/>
                      </a:pPr>
                      <a:endParaRPr lang="en-US" sz="1000" dirty="0"/>
                    </a:p>
                    <a:p>
                      <a:pPr marL="0" indent="0">
                        <a:spcAft>
                          <a:spcPts val="500"/>
                        </a:spcAft>
                        <a:buFont typeface="Arial" panose="020B0604020202020204" pitchFamily="34" charset="0"/>
                        <a:buNone/>
                      </a:pPr>
                      <a:endParaRPr lang="en-US" sz="1000" dirty="0"/>
                    </a:p>
                    <a:p>
                      <a:pPr marL="0" indent="0">
                        <a:spcAft>
                          <a:spcPts val="500"/>
                        </a:spcAft>
                        <a:buFont typeface="Arial" panose="020B0604020202020204" pitchFamily="34" charset="0"/>
                        <a:buNone/>
                      </a:pPr>
                      <a:endParaRPr lang="en-US" sz="1000" dirty="0"/>
                    </a:p>
                    <a:p>
                      <a:pPr marL="0" indent="0">
                        <a:spcAft>
                          <a:spcPts val="500"/>
                        </a:spcAft>
                        <a:buFont typeface="Arial" panose="020B0604020202020204" pitchFamily="34" charset="0"/>
                        <a:buNone/>
                      </a:pPr>
                      <a:endParaRPr lang="en-US" sz="1000" dirty="0"/>
                    </a:p>
                    <a:p>
                      <a:pPr marL="0" indent="0">
                        <a:spcAft>
                          <a:spcPts val="500"/>
                        </a:spcAft>
                        <a:buFont typeface="Arial" panose="020B0604020202020204" pitchFamily="34" charset="0"/>
                        <a:buNone/>
                      </a:pP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35807831"/>
                  </a:ext>
                </a:extLst>
              </a:tr>
            </a:tbl>
          </a:graphicData>
        </a:graphic>
      </p:graphicFrame>
      <p:graphicFrame>
        <p:nvGraphicFramePr>
          <p:cNvPr id="5" name="Table 4"/>
          <p:cNvGraphicFramePr>
            <a:graphicFrameLocks noGrp="1"/>
          </p:cNvGraphicFramePr>
          <p:nvPr/>
        </p:nvGraphicFramePr>
        <p:xfrm>
          <a:off x="529504" y="4138494"/>
          <a:ext cx="8395835" cy="2823228"/>
        </p:xfrm>
        <a:graphic>
          <a:graphicData uri="http://schemas.openxmlformats.org/drawingml/2006/table">
            <a:tbl>
              <a:tblPr firstRow="1">
                <a:tableStyleId>{5C22544A-7EE6-4342-B048-85BDC9FD1C3A}</a:tableStyleId>
              </a:tblPr>
              <a:tblGrid>
                <a:gridCol w="2571504">
                  <a:extLst>
                    <a:ext uri="{9D8B030D-6E8A-4147-A177-3AD203B41FA5}">
                      <a16:colId xmlns:a16="http://schemas.microsoft.com/office/drawing/2014/main" val="1938459756"/>
                    </a:ext>
                  </a:extLst>
                </a:gridCol>
                <a:gridCol w="1626415">
                  <a:extLst>
                    <a:ext uri="{9D8B030D-6E8A-4147-A177-3AD203B41FA5}">
                      <a16:colId xmlns:a16="http://schemas.microsoft.com/office/drawing/2014/main" val="3904828296"/>
                    </a:ext>
                  </a:extLst>
                </a:gridCol>
                <a:gridCol w="2098958">
                  <a:extLst>
                    <a:ext uri="{9D8B030D-6E8A-4147-A177-3AD203B41FA5}">
                      <a16:colId xmlns:a16="http://schemas.microsoft.com/office/drawing/2014/main" val="1136282333"/>
                    </a:ext>
                  </a:extLst>
                </a:gridCol>
                <a:gridCol w="2098958">
                  <a:extLst>
                    <a:ext uri="{9D8B030D-6E8A-4147-A177-3AD203B41FA5}">
                      <a16:colId xmlns:a16="http://schemas.microsoft.com/office/drawing/2014/main" val="1909437573"/>
                    </a:ext>
                  </a:extLst>
                </a:gridCol>
              </a:tblGrid>
              <a:tr h="248607">
                <a:tc gridSpan="2">
                  <a:txBody>
                    <a:bodyPr/>
                    <a:lstStyle/>
                    <a:p>
                      <a:pPr algn="ctr"/>
                      <a:r>
                        <a:rPr lang="en-US" sz="900" b="0" dirty="0">
                          <a:solidFill>
                            <a:schemeClr val="tx1"/>
                          </a:solidFill>
                        </a:rPr>
                        <a:t>Reference Heat Rate as per PPA (Gas Operation)</a:t>
                      </a:r>
                      <a:endParaRPr lang="en-IN" sz="900" b="0" dirty="0">
                        <a:solidFill>
                          <a:schemeClr val="tx1"/>
                        </a:solidFill>
                      </a:endParaRPr>
                    </a:p>
                  </a:txBody>
                  <a:tcPr/>
                </a:tc>
                <a:tc hMerge="1">
                  <a:txBody>
                    <a:bodyPr/>
                    <a:lstStyle/>
                    <a:p>
                      <a:endParaRPr lang="en-IN"/>
                    </a:p>
                  </a:txBody>
                  <a:tcPr/>
                </a:tc>
                <a:tc gridSpan="2">
                  <a:txBody>
                    <a:bodyPr/>
                    <a:lstStyle/>
                    <a:p>
                      <a:pPr algn="ctr"/>
                      <a:r>
                        <a:rPr lang="en-US" sz="900" b="0" dirty="0">
                          <a:solidFill>
                            <a:schemeClr val="tx1"/>
                          </a:solidFill>
                        </a:rPr>
                        <a:t>Heat Rate Guarantee as per EPC</a:t>
                      </a:r>
                      <a:r>
                        <a:rPr lang="en-US" sz="900" b="0" baseline="0" dirty="0">
                          <a:solidFill>
                            <a:schemeClr val="tx1"/>
                          </a:solidFill>
                        </a:rPr>
                        <a:t> Contract (Gas Operation)</a:t>
                      </a:r>
                      <a:endParaRPr lang="en-IN" sz="900" b="0" dirty="0">
                        <a:solidFill>
                          <a:schemeClr val="tx1"/>
                        </a:solidFill>
                      </a:endParaRPr>
                    </a:p>
                  </a:txBody>
                  <a:tcPr/>
                </a:tc>
                <a:tc hMerge="1">
                  <a:txBody>
                    <a:bodyPr/>
                    <a:lstStyle/>
                    <a:p>
                      <a:pPr algn="ctr"/>
                      <a:endParaRPr lang="en-IN" sz="1000" b="0" dirty="0">
                        <a:solidFill>
                          <a:schemeClr val="tx1"/>
                        </a:solidFill>
                      </a:endParaRPr>
                    </a:p>
                  </a:txBody>
                  <a:tcPr/>
                </a:tc>
                <a:extLst>
                  <a:ext uri="{0D108BD9-81ED-4DB2-BD59-A6C34878D82A}">
                    <a16:rowId xmlns:a16="http://schemas.microsoft.com/office/drawing/2014/main" val="3256986653"/>
                  </a:ext>
                </a:extLst>
              </a:tr>
              <a:tr h="248607">
                <a:tc>
                  <a:txBody>
                    <a:bodyPr/>
                    <a:lstStyle/>
                    <a:p>
                      <a:pPr algn="ctr"/>
                      <a:r>
                        <a:rPr lang="en-US" sz="900" b="0" dirty="0">
                          <a:solidFill>
                            <a:schemeClr val="tx1"/>
                          </a:solidFill>
                        </a:rPr>
                        <a:t>Plant Factor (% of Dependable Capacity)</a:t>
                      </a:r>
                      <a:endParaRPr lang="en-IN" sz="900" b="0" dirty="0">
                        <a:solidFill>
                          <a:schemeClr val="tx1"/>
                        </a:solidFill>
                      </a:endParaRPr>
                    </a:p>
                  </a:txBody>
                  <a:tcPr/>
                </a:tc>
                <a:tc>
                  <a:txBody>
                    <a:bodyPr/>
                    <a:lstStyle/>
                    <a:p>
                      <a:pPr algn="ctr"/>
                      <a:r>
                        <a:rPr lang="en-AU" sz="900" b="0" kern="1200" dirty="0">
                          <a:solidFill>
                            <a:schemeClr val="tx1"/>
                          </a:solidFill>
                          <a:effectLst/>
                          <a:latin typeface="+mn-lt"/>
                          <a:ea typeface="+mn-ea"/>
                          <a:cs typeface="+mn-cs"/>
                        </a:rPr>
                        <a:t>Ref. Heat Rate (KJ/KWh</a:t>
                      </a:r>
                      <a:endParaRPr lang="en-IN" sz="900" b="0" dirty="0">
                        <a:solidFill>
                          <a:schemeClr val="tx1"/>
                        </a:solidFill>
                      </a:endParaRPr>
                    </a:p>
                  </a:txBody>
                  <a:tcPr/>
                </a:tc>
                <a:tc>
                  <a:txBody>
                    <a:bodyPr/>
                    <a:lstStyle/>
                    <a:p>
                      <a:pPr algn="ctr"/>
                      <a:r>
                        <a:rPr lang="en-AU" sz="900" b="0" kern="1200" dirty="0">
                          <a:solidFill>
                            <a:schemeClr val="tx1"/>
                          </a:solidFill>
                          <a:effectLst/>
                          <a:latin typeface="+mn-lt"/>
                          <a:ea typeface="+mn-ea"/>
                          <a:cs typeface="+mn-cs"/>
                        </a:rPr>
                        <a:t>% Load (% of Plant Capacity)</a:t>
                      </a:r>
                      <a:endParaRPr lang="en-IN" sz="900" b="0" dirty="0">
                        <a:solidFill>
                          <a:schemeClr val="tx1"/>
                        </a:solidFill>
                      </a:endParaRPr>
                    </a:p>
                  </a:txBody>
                  <a:tcPr/>
                </a:tc>
                <a:tc>
                  <a:txBody>
                    <a:bodyPr/>
                    <a:lstStyle/>
                    <a:p>
                      <a:pPr algn="ctr"/>
                      <a:r>
                        <a:rPr lang="en-AU" sz="900" b="0" kern="1200" dirty="0">
                          <a:solidFill>
                            <a:schemeClr val="tx1"/>
                          </a:solidFill>
                          <a:effectLst/>
                          <a:latin typeface="+mn-lt"/>
                          <a:ea typeface="+mn-ea"/>
                          <a:cs typeface="+mn-cs"/>
                        </a:rPr>
                        <a:t>Guarantee Heat Rate (KJ/KWh)</a:t>
                      </a:r>
                      <a:endParaRPr lang="en-IN" sz="900" b="0" dirty="0">
                        <a:solidFill>
                          <a:schemeClr val="tx1"/>
                        </a:solidFill>
                      </a:endParaRPr>
                    </a:p>
                  </a:txBody>
                  <a:tcPr/>
                </a:tc>
                <a:extLst>
                  <a:ext uri="{0D108BD9-81ED-4DB2-BD59-A6C34878D82A}">
                    <a16:rowId xmlns:a16="http://schemas.microsoft.com/office/drawing/2014/main" val="1574759366"/>
                  </a:ext>
                </a:extLst>
              </a:tr>
              <a:tr h="209423">
                <a:tc>
                  <a:txBody>
                    <a:bodyPr/>
                    <a:lstStyle/>
                    <a:p>
                      <a:pPr algn="ctr"/>
                      <a:r>
                        <a:rPr lang="en-US" sz="900" b="0" dirty="0">
                          <a:solidFill>
                            <a:schemeClr val="tx1"/>
                          </a:solidFill>
                        </a:rPr>
                        <a:t>100%</a:t>
                      </a:r>
                      <a:endParaRPr lang="en-IN" sz="900" b="0" dirty="0">
                        <a:solidFill>
                          <a:schemeClr val="tx1"/>
                        </a:solidFill>
                      </a:endParaRPr>
                    </a:p>
                  </a:txBody>
                  <a:tcPr/>
                </a:tc>
                <a:tc>
                  <a:txBody>
                    <a:bodyPr/>
                    <a:lstStyle/>
                    <a:p>
                      <a:pPr algn="ctr"/>
                      <a:r>
                        <a:rPr lang="en-US" sz="900" b="0" dirty="0">
                          <a:solidFill>
                            <a:schemeClr val="tx1"/>
                          </a:solidFill>
                        </a:rPr>
                        <a:t>7845</a:t>
                      </a:r>
                      <a:endParaRPr lang="en-IN" sz="900" b="0" dirty="0">
                        <a:solidFill>
                          <a:schemeClr val="tx1"/>
                        </a:solidFill>
                      </a:endParaRPr>
                    </a:p>
                  </a:txBody>
                  <a:tcPr/>
                </a:tc>
                <a:tc>
                  <a:txBody>
                    <a:bodyPr/>
                    <a:lstStyle/>
                    <a:p>
                      <a:pPr algn="ctr"/>
                      <a:r>
                        <a:rPr lang="en-US" sz="900" b="0" dirty="0">
                          <a:solidFill>
                            <a:schemeClr val="tx1"/>
                          </a:solidFill>
                        </a:rPr>
                        <a:t>100% (221</a:t>
                      </a:r>
                      <a:r>
                        <a:rPr lang="en-US" sz="900" b="0" baseline="0" dirty="0">
                          <a:solidFill>
                            <a:schemeClr val="tx1"/>
                          </a:solidFill>
                        </a:rPr>
                        <a:t> MW)</a:t>
                      </a:r>
                      <a:endParaRPr lang="en-IN" sz="900" b="0" dirty="0">
                        <a:solidFill>
                          <a:schemeClr val="tx1"/>
                        </a:solidFill>
                      </a:endParaRPr>
                    </a:p>
                  </a:txBody>
                  <a:tcPr/>
                </a:tc>
                <a:tc>
                  <a:txBody>
                    <a:bodyPr/>
                    <a:lstStyle/>
                    <a:p>
                      <a:pPr algn="ctr"/>
                      <a:r>
                        <a:rPr lang="en-US" sz="900" b="0" dirty="0">
                          <a:solidFill>
                            <a:schemeClr val="tx1"/>
                          </a:solidFill>
                        </a:rPr>
                        <a:t>7590</a:t>
                      </a:r>
                      <a:endParaRPr lang="en-IN" sz="900" b="0" dirty="0">
                        <a:solidFill>
                          <a:schemeClr val="tx1"/>
                        </a:solidFill>
                      </a:endParaRPr>
                    </a:p>
                  </a:txBody>
                  <a:tcPr/>
                </a:tc>
                <a:extLst>
                  <a:ext uri="{0D108BD9-81ED-4DB2-BD59-A6C34878D82A}">
                    <a16:rowId xmlns:a16="http://schemas.microsoft.com/office/drawing/2014/main" val="3705001208"/>
                  </a:ext>
                </a:extLst>
              </a:tr>
              <a:tr h="209423">
                <a:tc>
                  <a:txBody>
                    <a:bodyPr/>
                    <a:lstStyle/>
                    <a:p>
                      <a:pPr algn="ctr"/>
                      <a:r>
                        <a:rPr lang="en-US" sz="900" b="0" dirty="0">
                          <a:solidFill>
                            <a:srgbClr val="FF0000"/>
                          </a:solidFill>
                        </a:rPr>
                        <a:t>80%</a:t>
                      </a:r>
                      <a:endParaRPr lang="en-IN" sz="900" b="0" dirty="0">
                        <a:solidFill>
                          <a:srgbClr val="FF0000"/>
                        </a:solidFill>
                      </a:endParaRPr>
                    </a:p>
                  </a:txBody>
                  <a:tcPr/>
                </a:tc>
                <a:tc>
                  <a:txBody>
                    <a:bodyPr/>
                    <a:lstStyle/>
                    <a:p>
                      <a:pPr algn="ctr"/>
                      <a:r>
                        <a:rPr lang="en-US" sz="900" b="0" dirty="0">
                          <a:solidFill>
                            <a:srgbClr val="FF0000"/>
                          </a:solidFill>
                        </a:rPr>
                        <a:t>7858</a:t>
                      </a:r>
                      <a:endParaRPr lang="en-IN" sz="900" b="0" dirty="0">
                        <a:solidFill>
                          <a:srgbClr val="FF0000"/>
                        </a:solidFill>
                      </a:endParaRPr>
                    </a:p>
                  </a:txBody>
                  <a:tcPr/>
                </a:tc>
                <a:tc>
                  <a:txBody>
                    <a:bodyPr/>
                    <a:lstStyle/>
                    <a:p>
                      <a:pPr algn="ctr"/>
                      <a:r>
                        <a:rPr lang="en-US" sz="900" b="0" dirty="0">
                          <a:solidFill>
                            <a:schemeClr val="tx1"/>
                          </a:solidFill>
                        </a:rPr>
                        <a:t>80% (176 MW)</a:t>
                      </a:r>
                      <a:endParaRPr lang="en-IN" sz="900" b="0" dirty="0">
                        <a:solidFill>
                          <a:schemeClr val="tx1"/>
                        </a:solidFill>
                      </a:endParaRPr>
                    </a:p>
                  </a:txBody>
                  <a:tcPr/>
                </a:tc>
                <a:tc>
                  <a:txBody>
                    <a:bodyPr/>
                    <a:lstStyle/>
                    <a:p>
                      <a:pPr algn="ctr"/>
                      <a:r>
                        <a:rPr lang="en-US" sz="900" b="0" dirty="0">
                          <a:solidFill>
                            <a:schemeClr val="tx1"/>
                          </a:solidFill>
                        </a:rPr>
                        <a:t>7861</a:t>
                      </a:r>
                      <a:endParaRPr lang="en-IN" sz="900" b="0" dirty="0">
                        <a:solidFill>
                          <a:schemeClr val="tx1"/>
                        </a:solidFill>
                      </a:endParaRPr>
                    </a:p>
                  </a:txBody>
                  <a:tcPr/>
                </a:tc>
                <a:extLst>
                  <a:ext uri="{0D108BD9-81ED-4DB2-BD59-A6C34878D82A}">
                    <a16:rowId xmlns:a16="http://schemas.microsoft.com/office/drawing/2014/main" val="4091546340"/>
                  </a:ext>
                </a:extLst>
              </a:tr>
              <a:tr h="209423">
                <a:tc>
                  <a:txBody>
                    <a:bodyPr/>
                    <a:lstStyle/>
                    <a:p>
                      <a:pPr algn="ctr"/>
                      <a:r>
                        <a:rPr lang="en-US" sz="900" b="0" dirty="0">
                          <a:solidFill>
                            <a:srgbClr val="FF0000"/>
                          </a:solidFill>
                        </a:rPr>
                        <a:t>60%</a:t>
                      </a:r>
                      <a:endParaRPr lang="en-IN" sz="900" b="0" dirty="0">
                        <a:solidFill>
                          <a:srgbClr val="FF0000"/>
                        </a:solidFill>
                      </a:endParaRPr>
                    </a:p>
                  </a:txBody>
                  <a:tcPr/>
                </a:tc>
                <a:tc>
                  <a:txBody>
                    <a:bodyPr/>
                    <a:lstStyle/>
                    <a:p>
                      <a:pPr algn="ctr"/>
                      <a:r>
                        <a:rPr lang="en-US" sz="900" b="0" dirty="0">
                          <a:solidFill>
                            <a:srgbClr val="FF0000"/>
                          </a:solidFill>
                        </a:rPr>
                        <a:t>8384</a:t>
                      </a:r>
                      <a:endParaRPr lang="en-IN" sz="900" b="0" dirty="0">
                        <a:solidFill>
                          <a:srgbClr val="FF0000"/>
                        </a:solidFill>
                      </a:endParaRPr>
                    </a:p>
                  </a:txBody>
                  <a:tcPr/>
                </a:tc>
                <a:tc>
                  <a:txBody>
                    <a:bodyPr/>
                    <a:lstStyle/>
                    <a:p>
                      <a:pPr algn="ctr"/>
                      <a:r>
                        <a:rPr lang="en-US" sz="900" b="0" dirty="0">
                          <a:solidFill>
                            <a:schemeClr val="tx1"/>
                          </a:solidFill>
                        </a:rPr>
                        <a:t>60% (132 MW)</a:t>
                      </a:r>
                      <a:endParaRPr lang="en-IN" sz="900" b="0" dirty="0">
                        <a:solidFill>
                          <a:schemeClr val="tx1"/>
                        </a:solidFill>
                      </a:endParaRPr>
                    </a:p>
                  </a:txBody>
                  <a:tcPr/>
                </a:tc>
                <a:tc>
                  <a:txBody>
                    <a:bodyPr/>
                    <a:lstStyle/>
                    <a:p>
                      <a:pPr algn="ctr"/>
                      <a:r>
                        <a:rPr lang="en-US" sz="900" b="0" dirty="0">
                          <a:solidFill>
                            <a:schemeClr val="tx1"/>
                          </a:solidFill>
                        </a:rPr>
                        <a:t>8521</a:t>
                      </a:r>
                      <a:endParaRPr lang="en-IN" sz="900" b="0" dirty="0">
                        <a:solidFill>
                          <a:schemeClr val="tx1"/>
                        </a:solidFill>
                      </a:endParaRPr>
                    </a:p>
                  </a:txBody>
                  <a:tcPr/>
                </a:tc>
                <a:extLst>
                  <a:ext uri="{0D108BD9-81ED-4DB2-BD59-A6C34878D82A}">
                    <a16:rowId xmlns:a16="http://schemas.microsoft.com/office/drawing/2014/main" val="1044417247"/>
                  </a:ext>
                </a:extLst>
              </a:tr>
              <a:tr h="209423">
                <a:tc>
                  <a:txBody>
                    <a:bodyPr/>
                    <a:lstStyle/>
                    <a:p>
                      <a:pPr algn="ctr"/>
                      <a:r>
                        <a:rPr lang="en-US" sz="900" b="0" dirty="0">
                          <a:solidFill>
                            <a:srgbClr val="FF0000"/>
                          </a:solidFill>
                        </a:rPr>
                        <a:t>40%</a:t>
                      </a:r>
                      <a:endParaRPr lang="en-IN" sz="900" b="0" dirty="0">
                        <a:solidFill>
                          <a:srgbClr val="FF0000"/>
                        </a:solidFill>
                      </a:endParaRPr>
                    </a:p>
                  </a:txBody>
                  <a:tcPr/>
                </a:tc>
                <a:tc>
                  <a:txBody>
                    <a:bodyPr/>
                    <a:lstStyle/>
                    <a:p>
                      <a:pPr algn="ctr"/>
                      <a:r>
                        <a:rPr lang="en-US" sz="900" b="0" dirty="0">
                          <a:solidFill>
                            <a:srgbClr val="FF0000"/>
                          </a:solidFill>
                        </a:rPr>
                        <a:t>8140</a:t>
                      </a:r>
                      <a:endParaRPr lang="en-IN" sz="900" b="0" dirty="0">
                        <a:solidFill>
                          <a:srgbClr val="FF0000"/>
                        </a:solidFill>
                      </a:endParaRPr>
                    </a:p>
                  </a:txBody>
                  <a:tcPr/>
                </a:tc>
                <a:tc>
                  <a:txBody>
                    <a:bodyPr/>
                    <a:lstStyle/>
                    <a:p>
                      <a:pPr algn="ctr"/>
                      <a:r>
                        <a:rPr lang="en-US" sz="900" b="0" dirty="0">
                          <a:solidFill>
                            <a:schemeClr val="tx1"/>
                          </a:solidFill>
                        </a:rPr>
                        <a:t>40% (88 MW)</a:t>
                      </a:r>
                      <a:endParaRPr lang="en-IN" sz="900" b="0" dirty="0">
                        <a:solidFill>
                          <a:schemeClr val="tx1"/>
                        </a:solidFill>
                      </a:endParaRPr>
                    </a:p>
                  </a:txBody>
                  <a:tcPr/>
                </a:tc>
                <a:tc>
                  <a:txBody>
                    <a:bodyPr/>
                    <a:lstStyle/>
                    <a:p>
                      <a:pPr algn="ctr"/>
                      <a:r>
                        <a:rPr lang="en-US" sz="900" b="0" dirty="0">
                          <a:solidFill>
                            <a:schemeClr val="tx1"/>
                          </a:solidFill>
                        </a:rPr>
                        <a:t>8194</a:t>
                      </a:r>
                      <a:endParaRPr lang="en-IN" sz="900" b="0" dirty="0">
                        <a:solidFill>
                          <a:schemeClr val="tx1"/>
                        </a:solidFill>
                      </a:endParaRPr>
                    </a:p>
                  </a:txBody>
                  <a:tcPr/>
                </a:tc>
                <a:extLst>
                  <a:ext uri="{0D108BD9-81ED-4DB2-BD59-A6C34878D82A}">
                    <a16:rowId xmlns:a16="http://schemas.microsoft.com/office/drawing/2014/main" val="2155201310"/>
                  </a:ext>
                </a:extLst>
              </a:tr>
              <a:tr h="248607">
                <a:tc gridSpan="2">
                  <a:txBody>
                    <a:bodyPr/>
                    <a:lstStyle/>
                    <a:p>
                      <a:pPr algn="ctr"/>
                      <a:r>
                        <a:rPr lang="en-US" sz="900" b="0" dirty="0">
                          <a:solidFill>
                            <a:schemeClr val="tx1"/>
                          </a:solidFill>
                        </a:rPr>
                        <a:t>Reference Heat Rate as per PPA (Fuel Oil Operation)</a:t>
                      </a:r>
                      <a:endParaRPr lang="en-IN" sz="900" b="0" dirty="0">
                        <a:solidFill>
                          <a:schemeClr val="tx1"/>
                        </a:solidFill>
                      </a:endParaRPr>
                    </a:p>
                  </a:txBody>
                  <a:tcPr>
                    <a:solidFill>
                      <a:schemeClr val="accent1"/>
                    </a:solidFill>
                  </a:tcPr>
                </a:tc>
                <a:tc hMerge="1">
                  <a:txBody>
                    <a:bodyPr/>
                    <a:lstStyle/>
                    <a:p>
                      <a:endParaRPr lang="en-IN"/>
                    </a:p>
                  </a:txBody>
                  <a:tcPr/>
                </a:tc>
                <a:tc gridSpan="2">
                  <a:txBody>
                    <a:bodyPr/>
                    <a:lstStyle/>
                    <a:p>
                      <a:pPr marL="0" marR="0" lvl="0" indent="0" algn="ctr" defTabSz="990571" rtl="0" eaLnBrk="1" fontAlgn="auto" latinLnBrk="0" hangingPunct="1">
                        <a:lnSpc>
                          <a:spcPct val="100000"/>
                        </a:lnSpc>
                        <a:spcBef>
                          <a:spcPts val="0"/>
                        </a:spcBef>
                        <a:spcAft>
                          <a:spcPts val="0"/>
                        </a:spcAft>
                        <a:buClrTx/>
                        <a:buSzTx/>
                        <a:buFontTx/>
                        <a:buNone/>
                        <a:tabLst/>
                        <a:defRPr/>
                      </a:pPr>
                      <a:r>
                        <a:rPr lang="en-US" sz="900" b="0" dirty="0">
                          <a:solidFill>
                            <a:schemeClr val="tx1"/>
                          </a:solidFill>
                        </a:rPr>
                        <a:t>Heat Rate Guarantee as per EPC</a:t>
                      </a:r>
                      <a:r>
                        <a:rPr lang="en-US" sz="900" b="0" baseline="0" dirty="0">
                          <a:solidFill>
                            <a:schemeClr val="tx1"/>
                          </a:solidFill>
                        </a:rPr>
                        <a:t> Contract (Fuel Oil Operation)</a:t>
                      </a:r>
                      <a:endParaRPr lang="en-IN" sz="900" b="0" dirty="0">
                        <a:solidFill>
                          <a:schemeClr val="tx1"/>
                        </a:solidFill>
                      </a:endParaRPr>
                    </a:p>
                  </a:txBody>
                  <a:tcPr>
                    <a:solidFill>
                      <a:schemeClr val="accent1"/>
                    </a:solidFill>
                  </a:tcPr>
                </a:tc>
                <a:tc hMerge="1">
                  <a:txBody>
                    <a:bodyPr/>
                    <a:lstStyle/>
                    <a:p>
                      <a:pPr algn="ctr"/>
                      <a:endParaRPr lang="en-IN" sz="1000" b="0" dirty="0">
                        <a:solidFill>
                          <a:schemeClr val="tx1"/>
                        </a:solidFill>
                      </a:endParaRPr>
                    </a:p>
                  </a:txBody>
                  <a:tcPr/>
                </a:tc>
                <a:extLst>
                  <a:ext uri="{0D108BD9-81ED-4DB2-BD59-A6C34878D82A}">
                    <a16:rowId xmlns:a16="http://schemas.microsoft.com/office/drawing/2014/main" val="881260030"/>
                  </a:ext>
                </a:extLst>
              </a:tr>
              <a:tr h="248607">
                <a:tc>
                  <a:txBody>
                    <a:bodyPr/>
                    <a:lstStyle/>
                    <a:p>
                      <a:pPr algn="ctr"/>
                      <a:r>
                        <a:rPr lang="en-US" sz="900" b="0" dirty="0">
                          <a:solidFill>
                            <a:schemeClr val="tx1"/>
                          </a:solidFill>
                        </a:rPr>
                        <a:t>Plant Factor (% of Dependable Capacity)</a:t>
                      </a:r>
                      <a:endParaRPr lang="en-IN" sz="900" b="0" dirty="0">
                        <a:solidFill>
                          <a:schemeClr val="tx1"/>
                        </a:solidFill>
                      </a:endParaRPr>
                    </a:p>
                  </a:txBody>
                  <a:tcPr/>
                </a:tc>
                <a:tc>
                  <a:txBody>
                    <a:bodyPr/>
                    <a:lstStyle/>
                    <a:p>
                      <a:pPr algn="ctr"/>
                      <a:r>
                        <a:rPr lang="en-AU" sz="900" b="0" kern="1200" dirty="0">
                          <a:solidFill>
                            <a:schemeClr val="tx1"/>
                          </a:solidFill>
                          <a:effectLst/>
                          <a:latin typeface="+mn-lt"/>
                          <a:ea typeface="+mn-ea"/>
                          <a:cs typeface="+mn-cs"/>
                        </a:rPr>
                        <a:t>Ref. Heat Rate (KJ/KWh</a:t>
                      </a:r>
                      <a:endParaRPr lang="en-IN" sz="900" b="0" dirty="0">
                        <a:solidFill>
                          <a:schemeClr val="tx1"/>
                        </a:solidFill>
                      </a:endParaRPr>
                    </a:p>
                  </a:txBody>
                  <a:tcPr/>
                </a:tc>
                <a:tc>
                  <a:txBody>
                    <a:bodyPr/>
                    <a:lstStyle/>
                    <a:p>
                      <a:pPr algn="ctr"/>
                      <a:r>
                        <a:rPr lang="en-AU" sz="900" b="0" kern="1200" dirty="0">
                          <a:solidFill>
                            <a:schemeClr val="tx1"/>
                          </a:solidFill>
                          <a:effectLst/>
                          <a:latin typeface="+mn-lt"/>
                          <a:ea typeface="+mn-ea"/>
                          <a:cs typeface="+mn-cs"/>
                        </a:rPr>
                        <a:t>% Load (% of Plant Capacity)</a:t>
                      </a:r>
                      <a:endParaRPr lang="en-IN" sz="900" b="0" dirty="0">
                        <a:solidFill>
                          <a:schemeClr val="tx1"/>
                        </a:solidFill>
                      </a:endParaRPr>
                    </a:p>
                  </a:txBody>
                  <a:tcPr/>
                </a:tc>
                <a:tc>
                  <a:txBody>
                    <a:bodyPr/>
                    <a:lstStyle/>
                    <a:p>
                      <a:pPr algn="ctr"/>
                      <a:r>
                        <a:rPr lang="en-AU" sz="900" b="0" kern="1200" dirty="0">
                          <a:solidFill>
                            <a:schemeClr val="tx1"/>
                          </a:solidFill>
                          <a:effectLst/>
                          <a:latin typeface="+mn-lt"/>
                          <a:ea typeface="+mn-ea"/>
                          <a:cs typeface="+mn-cs"/>
                        </a:rPr>
                        <a:t>Guarantee Heat Rate (KJ/KWh)</a:t>
                      </a:r>
                      <a:endParaRPr lang="en-IN" sz="900" b="0" dirty="0">
                        <a:solidFill>
                          <a:schemeClr val="tx1"/>
                        </a:solidFill>
                      </a:endParaRPr>
                    </a:p>
                  </a:txBody>
                  <a:tcPr/>
                </a:tc>
                <a:extLst>
                  <a:ext uri="{0D108BD9-81ED-4DB2-BD59-A6C34878D82A}">
                    <a16:rowId xmlns:a16="http://schemas.microsoft.com/office/drawing/2014/main" val="3588483037"/>
                  </a:ext>
                </a:extLst>
              </a:tr>
              <a:tr h="209423">
                <a:tc>
                  <a:txBody>
                    <a:bodyPr/>
                    <a:lstStyle/>
                    <a:p>
                      <a:pPr algn="ctr"/>
                      <a:r>
                        <a:rPr lang="en-US" sz="900" b="0" dirty="0">
                          <a:solidFill>
                            <a:schemeClr val="tx1"/>
                          </a:solidFill>
                        </a:rPr>
                        <a:t>100%</a:t>
                      </a:r>
                      <a:endParaRPr lang="en-IN" sz="900" b="0" dirty="0">
                        <a:solidFill>
                          <a:schemeClr val="tx1"/>
                        </a:solidFill>
                      </a:endParaRPr>
                    </a:p>
                  </a:txBody>
                  <a:tcPr/>
                </a:tc>
                <a:tc>
                  <a:txBody>
                    <a:bodyPr/>
                    <a:lstStyle/>
                    <a:p>
                      <a:pPr algn="ctr"/>
                      <a:r>
                        <a:rPr lang="en-US" sz="900" b="0" dirty="0">
                          <a:solidFill>
                            <a:schemeClr val="tx1"/>
                          </a:solidFill>
                        </a:rPr>
                        <a:t>7067</a:t>
                      </a:r>
                      <a:endParaRPr lang="en-IN" sz="900" b="0" dirty="0">
                        <a:solidFill>
                          <a:schemeClr val="tx1"/>
                        </a:solidFill>
                      </a:endParaRPr>
                    </a:p>
                  </a:txBody>
                  <a:tcPr/>
                </a:tc>
                <a:tc>
                  <a:txBody>
                    <a:bodyPr/>
                    <a:lstStyle/>
                    <a:p>
                      <a:pPr algn="ctr"/>
                      <a:r>
                        <a:rPr lang="en-US" sz="900" b="0" dirty="0">
                          <a:solidFill>
                            <a:schemeClr val="tx1"/>
                          </a:solidFill>
                        </a:rPr>
                        <a:t>100% (212</a:t>
                      </a:r>
                      <a:r>
                        <a:rPr lang="en-US" sz="900" b="0" baseline="0" dirty="0">
                          <a:solidFill>
                            <a:schemeClr val="tx1"/>
                          </a:solidFill>
                        </a:rPr>
                        <a:t> MW)</a:t>
                      </a:r>
                      <a:endParaRPr lang="en-IN" sz="900" b="0" dirty="0">
                        <a:solidFill>
                          <a:schemeClr val="tx1"/>
                        </a:solidFill>
                      </a:endParaRPr>
                    </a:p>
                  </a:txBody>
                  <a:tcPr/>
                </a:tc>
                <a:tc>
                  <a:txBody>
                    <a:bodyPr/>
                    <a:lstStyle/>
                    <a:p>
                      <a:pPr algn="ctr"/>
                      <a:r>
                        <a:rPr lang="en-US" sz="900" b="0" dirty="0">
                          <a:solidFill>
                            <a:schemeClr val="tx1"/>
                          </a:solidFill>
                        </a:rPr>
                        <a:t>7067</a:t>
                      </a:r>
                      <a:endParaRPr lang="en-IN" sz="900" b="0" dirty="0">
                        <a:solidFill>
                          <a:schemeClr val="tx1"/>
                        </a:solidFill>
                      </a:endParaRPr>
                    </a:p>
                  </a:txBody>
                  <a:tcPr/>
                </a:tc>
                <a:extLst>
                  <a:ext uri="{0D108BD9-81ED-4DB2-BD59-A6C34878D82A}">
                    <a16:rowId xmlns:a16="http://schemas.microsoft.com/office/drawing/2014/main" val="2067681695"/>
                  </a:ext>
                </a:extLst>
              </a:tr>
              <a:tr h="209423">
                <a:tc>
                  <a:txBody>
                    <a:bodyPr/>
                    <a:lstStyle/>
                    <a:p>
                      <a:pPr algn="ctr"/>
                      <a:r>
                        <a:rPr lang="en-US" sz="900" b="0" dirty="0">
                          <a:solidFill>
                            <a:srgbClr val="FF0000"/>
                          </a:solidFill>
                        </a:rPr>
                        <a:t>80%</a:t>
                      </a:r>
                      <a:endParaRPr lang="en-IN" sz="900" b="0" dirty="0">
                        <a:solidFill>
                          <a:srgbClr val="FF0000"/>
                        </a:solidFill>
                      </a:endParaRPr>
                    </a:p>
                  </a:txBody>
                  <a:tcPr/>
                </a:tc>
                <a:tc>
                  <a:txBody>
                    <a:bodyPr/>
                    <a:lstStyle/>
                    <a:p>
                      <a:pPr algn="ctr"/>
                      <a:r>
                        <a:rPr lang="en-US" sz="900" b="0" dirty="0">
                          <a:solidFill>
                            <a:srgbClr val="FF0000"/>
                          </a:solidFill>
                        </a:rPr>
                        <a:t>7356</a:t>
                      </a:r>
                      <a:endParaRPr lang="en-IN" sz="900" b="0" dirty="0">
                        <a:solidFill>
                          <a:srgbClr val="FF0000"/>
                        </a:solidFill>
                      </a:endParaRPr>
                    </a:p>
                  </a:txBody>
                  <a:tcPr/>
                </a:tc>
                <a:tc>
                  <a:txBody>
                    <a:bodyPr/>
                    <a:lstStyle/>
                    <a:p>
                      <a:pPr algn="ctr"/>
                      <a:r>
                        <a:rPr lang="en-US" sz="900" b="0" dirty="0">
                          <a:solidFill>
                            <a:schemeClr val="tx1"/>
                          </a:solidFill>
                        </a:rPr>
                        <a:t>80% (169.6 MW)</a:t>
                      </a:r>
                      <a:endParaRPr lang="en-IN" sz="900" b="0" dirty="0">
                        <a:solidFill>
                          <a:schemeClr val="tx1"/>
                        </a:solidFill>
                      </a:endParaRPr>
                    </a:p>
                  </a:txBody>
                  <a:tcPr/>
                </a:tc>
                <a:tc>
                  <a:txBody>
                    <a:bodyPr/>
                    <a:lstStyle/>
                    <a:p>
                      <a:pPr algn="ctr"/>
                      <a:r>
                        <a:rPr lang="en-US" sz="900" b="0" dirty="0">
                          <a:solidFill>
                            <a:schemeClr val="tx1"/>
                          </a:solidFill>
                        </a:rPr>
                        <a:t>7390</a:t>
                      </a:r>
                      <a:endParaRPr lang="en-IN" sz="900" b="0" dirty="0">
                        <a:solidFill>
                          <a:schemeClr val="tx1"/>
                        </a:solidFill>
                      </a:endParaRPr>
                    </a:p>
                  </a:txBody>
                  <a:tcPr/>
                </a:tc>
                <a:extLst>
                  <a:ext uri="{0D108BD9-81ED-4DB2-BD59-A6C34878D82A}">
                    <a16:rowId xmlns:a16="http://schemas.microsoft.com/office/drawing/2014/main" val="791994331"/>
                  </a:ext>
                </a:extLst>
              </a:tr>
              <a:tr h="209423">
                <a:tc>
                  <a:txBody>
                    <a:bodyPr/>
                    <a:lstStyle/>
                    <a:p>
                      <a:pPr algn="ctr"/>
                      <a:r>
                        <a:rPr lang="en-US" sz="900" b="0" dirty="0">
                          <a:solidFill>
                            <a:srgbClr val="FF0000"/>
                          </a:solidFill>
                        </a:rPr>
                        <a:t>60%</a:t>
                      </a:r>
                      <a:endParaRPr lang="en-IN" sz="900" b="0" dirty="0">
                        <a:solidFill>
                          <a:srgbClr val="FF0000"/>
                        </a:solidFill>
                      </a:endParaRPr>
                    </a:p>
                  </a:txBody>
                  <a:tcPr/>
                </a:tc>
                <a:tc>
                  <a:txBody>
                    <a:bodyPr/>
                    <a:lstStyle/>
                    <a:p>
                      <a:pPr algn="ctr"/>
                      <a:r>
                        <a:rPr lang="en-US" sz="900" b="0" dirty="0">
                          <a:solidFill>
                            <a:srgbClr val="FF0000"/>
                          </a:solidFill>
                        </a:rPr>
                        <a:t>7956</a:t>
                      </a:r>
                      <a:endParaRPr lang="en-IN" sz="900" b="0" dirty="0">
                        <a:solidFill>
                          <a:srgbClr val="FF0000"/>
                        </a:solidFill>
                      </a:endParaRPr>
                    </a:p>
                  </a:txBody>
                  <a:tcPr/>
                </a:tc>
                <a:tc>
                  <a:txBody>
                    <a:bodyPr/>
                    <a:lstStyle/>
                    <a:p>
                      <a:pPr algn="ctr"/>
                      <a:r>
                        <a:rPr lang="en-US" sz="900" b="0" dirty="0">
                          <a:solidFill>
                            <a:schemeClr val="tx1"/>
                          </a:solidFill>
                        </a:rPr>
                        <a:t>60% (127.2 MW)</a:t>
                      </a:r>
                      <a:endParaRPr lang="en-IN" sz="900" b="0" dirty="0">
                        <a:solidFill>
                          <a:schemeClr val="tx1"/>
                        </a:solidFill>
                      </a:endParaRPr>
                    </a:p>
                  </a:txBody>
                  <a:tcPr/>
                </a:tc>
                <a:tc>
                  <a:txBody>
                    <a:bodyPr/>
                    <a:lstStyle/>
                    <a:p>
                      <a:pPr algn="ctr"/>
                      <a:r>
                        <a:rPr lang="en-US" sz="900" b="0" dirty="0">
                          <a:solidFill>
                            <a:schemeClr val="tx1"/>
                          </a:solidFill>
                        </a:rPr>
                        <a:t>8024</a:t>
                      </a:r>
                      <a:endParaRPr lang="en-IN" sz="900" b="0" dirty="0">
                        <a:solidFill>
                          <a:schemeClr val="tx1"/>
                        </a:solidFill>
                      </a:endParaRPr>
                    </a:p>
                  </a:txBody>
                  <a:tcPr/>
                </a:tc>
                <a:extLst>
                  <a:ext uri="{0D108BD9-81ED-4DB2-BD59-A6C34878D82A}">
                    <a16:rowId xmlns:a16="http://schemas.microsoft.com/office/drawing/2014/main" val="1404460697"/>
                  </a:ext>
                </a:extLst>
              </a:tr>
              <a:tr h="209423">
                <a:tc>
                  <a:txBody>
                    <a:bodyPr/>
                    <a:lstStyle/>
                    <a:p>
                      <a:pPr algn="ctr"/>
                      <a:r>
                        <a:rPr lang="en-US" sz="900" b="0" dirty="0">
                          <a:solidFill>
                            <a:srgbClr val="FF0000"/>
                          </a:solidFill>
                        </a:rPr>
                        <a:t>40%</a:t>
                      </a:r>
                      <a:endParaRPr lang="en-IN" sz="900" b="0" dirty="0">
                        <a:solidFill>
                          <a:srgbClr val="FF0000"/>
                        </a:solidFill>
                      </a:endParaRPr>
                    </a:p>
                  </a:txBody>
                  <a:tcPr/>
                </a:tc>
                <a:tc>
                  <a:txBody>
                    <a:bodyPr/>
                    <a:lstStyle/>
                    <a:p>
                      <a:pPr algn="ctr"/>
                      <a:r>
                        <a:rPr lang="en-US" sz="900" b="0" dirty="0">
                          <a:solidFill>
                            <a:srgbClr val="FF0000"/>
                          </a:solidFill>
                        </a:rPr>
                        <a:t>7462</a:t>
                      </a:r>
                      <a:endParaRPr lang="en-IN" sz="900" b="0" dirty="0">
                        <a:solidFill>
                          <a:srgbClr val="FF0000"/>
                        </a:solidFill>
                      </a:endParaRPr>
                    </a:p>
                  </a:txBody>
                  <a:tcPr/>
                </a:tc>
                <a:tc>
                  <a:txBody>
                    <a:bodyPr/>
                    <a:lstStyle/>
                    <a:p>
                      <a:pPr algn="ctr"/>
                      <a:r>
                        <a:rPr lang="en-US" sz="900" b="0" dirty="0">
                          <a:solidFill>
                            <a:schemeClr val="tx1"/>
                          </a:solidFill>
                        </a:rPr>
                        <a:t>40% (84.8 MW)</a:t>
                      </a:r>
                      <a:endParaRPr lang="en-IN" sz="900" b="0" dirty="0">
                        <a:solidFill>
                          <a:schemeClr val="tx1"/>
                        </a:solidFill>
                      </a:endParaRPr>
                    </a:p>
                  </a:txBody>
                  <a:tcPr/>
                </a:tc>
                <a:tc>
                  <a:txBody>
                    <a:bodyPr/>
                    <a:lstStyle/>
                    <a:p>
                      <a:pPr algn="ctr"/>
                      <a:r>
                        <a:rPr lang="en-US" sz="900" b="0" dirty="0">
                          <a:solidFill>
                            <a:schemeClr val="tx1"/>
                          </a:solidFill>
                        </a:rPr>
                        <a:t>7599</a:t>
                      </a:r>
                      <a:endParaRPr lang="en-IN" sz="900" b="0" dirty="0">
                        <a:solidFill>
                          <a:schemeClr val="tx1"/>
                        </a:solidFill>
                      </a:endParaRPr>
                    </a:p>
                  </a:txBody>
                  <a:tcPr/>
                </a:tc>
                <a:extLst>
                  <a:ext uri="{0D108BD9-81ED-4DB2-BD59-A6C34878D82A}">
                    <a16:rowId xmlns:a16="http://schemas.microsoft.com/office/drawing/2014/main" val="1807383308"/>
                  </a:ext>
                </a:extLst>
              </a:tr>
            </a:tbl>
          </a:graphicData>
        </a:graphic>
      </p:graphicFrame>
      <p:sp>
        <p:nvSpPr>
          <p:cNvPr id="6" name="Rectangle 5"/>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PPA, Deloitte Analysis</a:t>
            </a:r>
          </a:p>
        </p:txBody>
      </p:sp>
    </p:spTree>
    <p:extLst>
      <p:ext uri="{BB962C8B-B14F-4D97-AF65-F5344CB8AC3E}">
        <p14:creationId xmlns:p14="http://schemas.microsoft.com/office/powerpoint/2010/main" val="114395071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1"/>
            </p:custDataLst>
            <p:extLst>
              <p:ext uri="{D42A27DB-BD31-4B8C-83A1-F6EECF244321}">
                <p14:modId xmlns:p14="http://schemas.microsoft.com/office/powerpoint/2010/main" val="151220010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8" imgW="530" imgH="531" progId="TCLayout.ActiveDocument.1">
                  <p:embed/>
                </p:oleObj>
              </mc:Choice>
              <mc:Fallback>
                <p:oleObj name="think-cell Slide" r:id="rId18" imgW="530" imgH="531" progId="TCLayout.ActiveDocument.1">
                  <p:embed/>
                  <p:pic>
                    <p:nvPicPr>
                      <p:cNvPr id="15" name="Object 14" hidden="1"/>
                      <p:cNvPicPr/>
                      <p:nvPr/>
                    </p:nvPicPr>
                    <p:blipFill>
                      <a:blip r:embed="rId19"/>
                      <a:stretch>
                        <a:fillRect/>
                      </a:stretch>
                    </p:blipFill>
                    <p:spPr>
                      <a:xfrm>
                        <a:off x="1588" y="1588"/>
                        <a:ext cx="1588" cy="1588"/>
                      </a:xfrm>
                      <a:prstGeom prst="rect">
                        <a:avLst/>
                      </a:prstGeom>
                    </p:spPr>
                  </p:pic>
                </p:oleObj>
              </mc:Fallback>
            </mc:AlternateContent>
          </a:graphicData>
        </a:graphic>
      </p:graphicFrame>
      <p:sp>
        <p:nvSpPr>
          <p:cNvPr id="13" name="Rectangle 1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graphicFrame>
        <p:nvGraphicFramePr>
          <p:cNvPr id="165" name="Table 164"/>
          <p:cNvGraphicFramePr>
            <a:graphicFrameLocks noGrp="1"/>
          </p:cNvGraphicFramePr>
          <p:nvPr>
            <p:custDataLst>
              <p:tags r:id="rId3"/>
            </p:custDataLst>
            <p:extLst>
              <p:ext uri="{D42A27DB-BD31-4B8C-83A1-F6EECF244321}">
                <p14:modId xmlns:p14="http://schemas.microsoft.com/office/powerpoint/2010/main" val="3714302588"/>
              </p:ext>
            </p:extLst>
          </p:nvPr>
        </p:nvGraphicFramePr>
        <p:xfrm>
          <a:off x="449992" y="1961918"/>
          <a:ext cx="9790971" cy="5440367"/>
        </p:xfrm>
        <a:graphic>
          <a:graphicData uri="http://schemas.openxmlformats.org/drawingml/2006/table">
            <a:tbl>
              <a:tblPr firstRow="1" bandRow="1">
                <a:tableStyleId>{5C22544A-7EE6-4342-B048-85BDC9FD1C3A}</a:tableStyleId>
              </a:tblPr>
              <a:tblGrid>
                <a:gridCol w="9790971">
                  <a:extLst>
                    <a:ext uri="{9D8B030D-6E8A-4147-A177-3AD203B41FA5}">
                      <a16:colId xmlns:a16="http://schemas.microsoft.com/office/drawing/2014/main" val="20000"/>
                    </a:ext>
                  </a:extLst>
                </a:gridCol>
              </a:tblGrid>
              <a:tr h="5440367">
                <a:tc>
                  <a:txBody>
                    <a:bodyPr/>
                    <a:lstStyle/>
                    <a:p>
                      <a:pPr marL="0" marR="0" lvl="0" indent="0" algn="ctr"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baseline="0" dirty="0">
                          <a:solidFill>
                            <a:schemeClr val="tx1"/>
                          </a:solidFill>
                        </a:rPr>
                        <a:t>Following graph shows the gas-plant wise Efficiency (kcal / kWh) &amp; their respective PLF (%) in FY19 (Gas Operations)</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107" name="Chart 106"/>
          <p:cNvGraphicFramePr/>
          <p:nvPr>
            <p:custDataLst>
              <p:tags r:id="rId4"/>
            </p:custDataLst>
            <p:extLst>
              <p:ext uri="{D42A27DB-BD31-4B8C-83A1-F6EECF244321}">
                <p14:modId xmlns:p14="http://schemas.microsoft.com/office/powerpoint/2010/main" val="3971308518"/>
              </p:ext>
            </p:extLst>
          </p:nvPr>
        </p:nvGraphicFramePr>
        <p:xfrm>
          <a:off x="493713" y="2546350"/>
          <a:ext cx="10010775" cy="3746500"/>
        </p:xfrm>
        <a:graphic>
          <a:graphicData uri="http://schemas.openxmlformats.org/drawingml/2006/chart">
            <c:chart xmlns:c="http://schemas.openxmlformats.org/drawingml/2006/chart" xmlns:r="http://schemas.openxmlformats.org/officeDocument/2006/relationships" r:id="rId20"/>
          </a:graphicData>
        </a:graphic>
      </p:graphicFrame>
      <p:sp>
        <p:nvSpPr>
          <p:cNvPr id="5" name="StandardTextbox"/>
          <p:cNvSpPr>
            <a:spLocks noGrp="1"/>
          </p:cNvSpPr>
          <p:nvPr>
            <p:custDataLst>
              <p:tags r:id="rId5"/>
            </p:custDataLst>
          </p:nvPr>
        </p:nvSpPr>
        <p:spPr bwMode="auto">
          <a:xfrm>
            <a:off x="4791075" y="6316663"/>
            <a:ext cx="1477963"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r>
              <a:rPr kumimoji="0" lang="en-IN" altLang="en-US" sz="800" b="0" i="0" u="none" strike="noStrike" kern="1200" cap="none" spc="0" normalizeH="0" baseline="0" noProof="0" dirty="0">
                <a:ln>
                  <a:noFill/>
                </a:ln>
                <a:solidFill>
                  <a:prstClr val="black"/>
                </a:solidFill>
                <a:effectLst/>
                <a:uLnTx/>
                <a:uFillTx/>
                <a:latin typeface="Verdana"/>
                <a:ea typeface="+mn-ea"/>
                <a:cs typeface="+mn-cs"/>
                <a:sym typeface="+mn-lt"/>
              </a:rPr>
              <a:t>Efficiency – SHR (kcal</a:t>
            </a:r>
            <a:r>
              <a:rPr kumimoji="0" lang="en-IN" altLang="en-US" sz="800" b="0" i="0" u="none" strike="noStrike" kern="1200" cap="none" spc="0" normalizeH="0" noProof="0" dirty="0">
                <a:ln>
                  <a:noFill/>
                </a:ln>
                <a:solidFill>
                  <a:prstClr val="black"/>
                </a:solidFill>
                <a:effectLst/>
                <a:uLnTx/>
                <a:uFillTx/>
                <a:latin typeface="Verdana"/>
                <a:ea typeface="+mn-ea"/>
                <a:cs typeface="+mn-cs"/>
                <a:sym typeface="+mn-lt"/>
              </a:rPr>
              <a:t> /kWh)</a:t>
            </a:r>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6" name="StandardTextbox"/>
          <p:cNvSpPr>
            <a:spLocks noGrp="1"/>
          </p:cNvSpPr>
          <p:nvPr>
            <p:custDataLst>
              <p:tags r:id="rId6"/>
            </p:custDataLst>
          </p:nvPr>
        </p:nvSpPr>
        <p:spPr bwMode="auto">
          <a:xfrm>
            <a:off x="608013" y="2365375"/>
            <a:ext cx="4159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r>
              <a:rPr kumimoji="0" lang="en-IN" altLang="en-US" sz="800" b="0" i="0" u="none" strike="noStrike" kern="1200" cap="none" spc="0" normalizeH="0" baseline="0" noProof="0" dirty="0">
                <a:ln>
                  <a:noFill/>
                </a:ln>
                <a:solidFill>
                  <a:prstClr val="black"/>
                </a:solidFill>
                <a:effectLst/>
                <a:uLnTx/>
                <a:uFillTx/>
                <a:latin typeface="Verdana"/>
                <a:ea typeface="+mn-ea"/>
                <a:cs typeface="+mn-cs"/>
                <a:sym typeface="+mn-lt"/>
              </a:rPr>
              <a:t>PLF (%)</a:t>
            </a:r>
            <a:endParaRPr kumimoji="0" lang="en-IN" sz="8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17" name="Title 1"/>
          <p:cNvSpPr>
            <a:spLocks noGrp="1"/>
          </p:cNvSpPr>
          <p:nvPr>
            <p:ph type="title"/>
          </p:nvPr>
        </p:nvSpPr>
        <p:spPr>
          <a:xfrm>
            <a:off x="449264" y="647700"/>
            <a:ext cx="9791700" cy="431800"/>
          </a:xfrm>
        </p:spPr>
        <p:txBody>
          <a:bodyPr/>
          <a:lstStyle/>
          <a:p>
            <a:r>
              <a:rPr lang="en-US" dirty="0"/>
              <a:t>Power Purchase Agreement | Benchmarking SHR with other Gas plants</a:t>
            </a:r>
            <a:endParaRPr lang="en-IN" dirty="0"/>
          </a:p>
        </p:txBody>
      </p:sp>
      <p:sp>
        <p:nvSpPr>
          <p:cNvPr id="18"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 Nimbus</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plant’s design SHR is </a:t>
            </a:r>
            <a:r>
              <a:rPr lang="en-US" sz="1400" dirty="0">
                <a:solidFill>
                  <a:prstClr val="black">
                    <a:lumMod val="50000"/>
                    <a:lumOff val="50000"/>
                  </a:prstClr>
                </a:solidFill>
                <a:latin typeface="Verdana" panose="020B0604030504040204" pitchFamily="34" charset="0"/>
              </a:rPr>
              <a:t>lower</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than most gas based power plants in Bangladesh; Actual SHR to be dependent on the dispatch levels achieved</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sp>
        <p:nvSpPr>
          <p:cNvPr id="68" name="Rectangle 67"/>
          <p:cNvSpPr/>
          <p:nvPr/>
        </p:nvSpPr>
        <p:spPr bwMode="gray">
          <a:xfrm>
            <a:off x="377227" y="7260740"/>
            <a:ext cx="9792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Deloitte Analysis Note: 1) The graphs above contain only plants operational in FY19 as per BPDB Annual Report 2) Size of the Bubbles on the graph depict the Installed Capacity of the Plant 2) For Nimbus,</a:t>
            </a:r>
            <a:r>
              <a:rPr kumimoji="0" lang="en-US" sz="700" b="0" i="1" u="none" strike="noStrike" kern="1200" cap="none" spc="0" normalizeH="0" noProof="0" dirty="0">
                <a:ln>
                  <a:noFill/>
                </a:ln>
                <a:solidFill>
                  <a:prstClr val="black"/>
                </a:solidFill>
                <a:effectLst/>
                <a:uLnTx/>
                <a:uFillTx/>
                <a:latin typeface="Verdana"/>
                <a:ea typeface="+mn-ea"/>
                <a:cs typeface="+mn-cs"/>
              </a:rPr>
              <a:t> the SHR has been considered at 80% PLF with design SHR of ~1,878 kcal / kWH</a:t>
            </a:r>
            <a:endParaRPr kumimoji="0" lang="en-US" sz="700" b="0" i="1" u="none" strike="noStrike" kern="1200" cap="none" spc="0" normalizeH="0" baseline="0" noProof="0" dirty="0">
              <a:ln>
                <a:noFill/>
              </a:ln>
              <a:solidFill>
                <a:prstClr val="black"/>
              </a:solidFill>
              <a:effectLst/>
              <a:uLnTx/>
              <a:uFillTx/>
              <a:latin typeface="Verdana"/>
              <a:ea typeface="+mn-ea"/>
              <a:cs typeface="+mn-cs"/>
            </a:endParaRPr>
          </a:p>
        </p:txBody>
      </p:sp>
      <p:sp>
        <p:nvSpPr>
          <p:cNvPr id="4" name="Oval 3"/>
          <p:cNvSpPr/>
          <p:nvPr>
            <p:custDataLst>
              <p:tags r:id="rId7"/>
            </p:custDataLst>
          </p:nvPr>
        </p:nvSpPr>
        <p:spPr bwMode="auto">
          <a:xfrm>
            <a:off x="5326063" y="6592888"/>
            <a:ext cx="107950" cy="107950"/>
          </a:xfrm>
          <a:prstGeom prst="ellipse">
            <a:avLst/>
          </a:prstGeom>
          <a:solidFill>
            <a:schemeClr val="accent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 name="Oval 1"/>
          <p:cNvSpPr/>
          <p:nvPr>
            <p:custDataLst>
              <p:tags r:id="rId8"/>
            </p:custDataLst>
          </p:nvPr>
        </p:nvSpPr>
        <p:spPr bwMode="auto">
          <a:xfrm>
            <a:off x="4289425" y="6592888"/>
            <a:ext cx="107950" cy="107950"/>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 name="Oval 2"/>
          <p:cNvSpPr/>
          <p:nvPr>
            <p:custDataLst>
              <p:tags r:id="rId9"/>
            </p:custDataLst>
          </p:nvPr>
        </p:nvSpPr>
        <p:spPr bwMode="auto">
          <a:xfrm>
            <a:off x="4864100" y="6592888"/>
            <a:ext cx="107950" cy="107950"/>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7" name="Oval 6"/>
          <p:cNvSpPr/>
          <p:nvPr>
            <p:custDataLst>
              <p:tags r:id="rId10"/>
            </p:custDataLst>
          </p:nvPr>
        </p:nvSpPr>
        <p:spPr bwMode="auto">
          <a:xfrm>
            <a:off x="5921375" y="6592888"/>
            <a:ext cx="107950" cy="107950"/>
          </a:xfrm>
          <a:prstGeom prst="ellipse">
            <a:avLst/>
          </a:prstGeom>
          <a:solidFill>
            <a:srgbClr val="01216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8" name="Oval 7"/>
          <p:cNvSpPr/>
          <p:nvPr>
            <p:custDataLst>
              <p:tags r:id="rId11"/>
            </p:custDataLst>
          </p:nvPr>
        </p:nvSpPr>
        <p:spPr bwMode="auto">
          <a:xfrm>
            <a:off x="6542088" y="6592888"/>
            <a:ext cx="107950" cy="107950"/>
          </a:xfrm>
          <a:prstGeom prst="ellipse">
            <a:avLst/>
          </a:prstGeom>
          <a:pattFill prst="pct75">
            <a:fgClr>
              <a:schemeClr val="tx1"/>
            </a:fgClr>
            <a:bgClr>
              <a:schemeClr val="bg1"/>
            </a:bgClr>
          </a:patt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92" name="StandardTextbox"/>
          <p:cNvSpPr>
            <a:spLocks noGrp="1"/>
          </p:cNvSpPr>
          <p:nvPr>
            <p:custDataLst>
              <p:tags r:id="rId12"/>
            </p:custDataLst>
          </p:nvPr>
        </p:nvSpPr>
        <p:spPr bwMode="auto">
          <a:xfrm>
            <a:off x="4465638" y="6589713"/>
            <a:ext cx="279400"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7B808280-B573-481D-A5B2-E61216AF00C5}" type="datetime'B''''P''''''''D''''''''B'''''''''''''''''">
              <a:rPr lang="en-IN" altLang="en-US" sz="800" b="0" smtClean="0">
                <a:sym typeface="+mn-lt"/>
              </a:rPr>
              <a:pPr lvl="1">
                <a:spcBef>
                  <a:spcPct val="0"/>
                </a:spcBef>
                <a:spcAft>
                  <a:spcPct val="0"/>
                </a:spcAft>
              </a:pPr>
              <a:t>BPDB</a:t>
            </a:fld>
            <a:endParaRPr lang="en-IN" sz="800" b="0" noProof="0" dirty="0">
              <a:sym typeface="+mn-lt"/>
            </a:endParaRPr>
          </a:p>
        </p:txBody>
      </p:sp>
      <p:sp>
        <p:nvSpPr>
          <p:cNvPr id="94" name="StandardTextbox"/>
          <p:cNvSpPr>
            <a:spLocks noGrp="1"/>
          </p:cNvSpPr>
          <p:nvPr>
            <p:custDataLst>
              <p:tags r:id="rId13"/>
            </p:custDataLst>
          </p:nvPr>
        </p:nvSpPr>
        <p:spPr bwMode="auto">
          <a:xfrm>
            <a:off x="5040313" y="6589713"/>
            <a:ext cx="16668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3B492BD0-E410-4792-B267-668E14466385}" type="datetime'''''''''''''''''''''''I''''''''''''''''''P''''P'''''''''">
              <a:rPr lang="en-IN" altLang="en-US" sz="800" b="0" smtClean="0">
                <a:sym typeface="+mn-lt"/>
              </a:rPr>
              <a:pPr lvl="1">
                <a:spcBef>
                  <a:spcPct val="0"/>
                </a:spcBef>
                <a:spcAft>
                  <a:spcPct val="0"/>
                </a:spcAft>
              </a:pPr>
              <a:t>IPP</a:t>
            </a:fld>
            <a:endParaRPr lang="en-IN" sz="800" b="0" noProof="0" dirty="0">
              <a:sym typeface="+mn-lt"/>
            </a:endParaRPr>
          </a:p>
        </p:txBody>
      </p:sp>
      <p:sp>
        <p:nvSpPr>
          <p:cNvPr id="93" name="StandardTextbox"/>
          <p:cNvSpPr>
            <a:spLocks noGrp="1"/>
          </p:cNvSpPr>
          <p:nvPr>
            <p:custDataLst>
              <p:tags r:id="rId14"/>
            </p:custDataLst>
          </p:nvPr>
        </p:nvSpPr>
        <p:spPr bwMode="auto">
          <a:xfrm>
            <a:off x="6097588" y="6589713"/>
            <a:ext cx="32543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BB81F288-5F73-4231-B15E-65D4C4480E48}" type="datetime'''''''''''''''''''''''Re''nt''''''''''''''''''al'''''''">
              <a:rPr lang="en-IN" altLang="en-US" sz="800" b="0" smtClean="0">
                <a:sym typeface="+mn-lt"/>
              </a:rPr>
              <a:pPr lvl="1">
                <a:spcBef>
                  <a:spcPct val="0"/>
                </a:spcBef>
                <a:spcAft>
                  <a:spcPct val="0"/>
                </a:spcAft>
              </a:pPr>
              <a:t>Rental</a:t>
            </a:fld>
            <a:endParaRPr lang="en-IN" sz="800" b="0" noProof="0" dirty="0">
              <a:sym typeface="+mn-lt"/>
            </a:endParaRPr>
          </a:p>
        </p:txBody>
      </p:sp>
      <p:sp>
        <p:nvSpPr>
          <p:cNvPr id="95" name="StandardTextbox"/>
          <p:cNvSpPr>
            <a:spLocks noGrp="1"/>
          </p:cNvSpPr>
          <p:nvPr>
            <p:custDataLst>
              <p:tags r:id="rId15"/>
            </p:custDataLst>
          </p:nvPr>
        </p:nvSpPr>
        <p:spPr bwMode="auto">
          <a:xfrm>
            <a:off x="5502275" y="6589713"/>
            <a:ext cx="30003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72F2EB47-E0CB-46AA-B03E-DF1C4D2FCC9E}" type="datetime'''''''''''''''P''u''bl''''''''''''''''''''''''''i''''c'''''">
              <a:rPr lang="en-IN" altLang="en-US" sz="800" b="0" smtClean="0">
                <a:sym typeface="+mn-lt"/>
              </a:rPr>
              <a:pPr lvl="1">
                <a:spcBef>
                  <a:spcPct val="0"/>
                </a:spcBef>
                <a:spcAft>
                  <a:spcPct val="0"/>
                </a:spcAft>
              </a:pPr>
              <a:t>Public</a:t>
            </a:fld>
            <a:endParaRPr lang="en-IN" sz="800" b="0" noProof="0" dirty="0">
              <a:sym typeface="+mn-lt"/>
            </a:endParaRPr>
          </a:p>
        </p:txBody>
      </p:sp>
      <p:sp>
        <p:nvSpPr>
          <p:cNvPr id="102" name="StandardTextbox"/>
          <p:cNvSpPr>
            <a:spLocks noGrp="1"/>
          </p:cNvSpPr>
          <p:nvPr>
            <p:custDataLst>
              <p:tags r:id="rId16"/>
            </p:custDataLst>
          </p:nvPr>
        </p:nvSpPr>
        <p:spPr bwMode="auto">
          <a:xfrm>
            <a:off x="6718300" y="6589713"/>
            <a:ext cx="38417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2F0EF98D-FC29-49F9-B0D8-7F267F601B68}" type="datetime'''''''''N''''''''''i''''''m''b''''''''''u''''s'''''''''">
              <a:rPr lang="en-IN" altLang="en-US" sz="800" b="0" smtClean="0"/>
              <a:pPr lvl="1">
                <a:spcBef>
                  <a:spcPct val="0"/>
                </a:spcBef>
                <a:spcAft>
                  <a:spcPct val="0"/>
                </a:spcAft>
              </a:pPr>
              <a:t>Nimbus</a:t>
            </a:fld>
            <a:endParaRPr lang="en-IN" sz="800" b="0" noProof="0" dirty="0">
              <a:sym typeface="+mn-lt"/>
            </a:endParaRPr>
          </a:p>
        </p:txBody>
      </p:sp>
    </p:spTree>
    <p:extLst>
      <p:ext uri="{BB962C8B-B14F-4D97-AF65-F5344CB8AC3E}">
        <p14:creationId xmlns:p14="http://schemas.microsoft.com/office/powerpoint/2010/main" val="4154917986"/>
      </p:ext>
    </p:extLst>
  </p:cSld>
  <p:clrMapOvr>
    <a:masterClrMapping/>
  </p:clrMapOvr>
  <p:transition>
    <p:fade/>
  </p:transition>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Strapline"/>
          <p:cNvSpPr>
            <a:spLocks noGrp="1"/>
          </p:cNvSpPr>
          <p:nvPr>
            <p:ph type="body" sz="quarter" idx="13"/>
          </p:nvPr>
        </p:nvSpPr>
        <p:spPr>
          <a:xfrm>
            <a:off x="449993" y="1079983"/>
            <a:ext cx="9791843" cy="518392"/>
          </a:xfrm>
        </p:spPr>
        <p:txBody>
          <a:bodyPr lIns="0" tIns="0" rIns="0" bIns="0" anchor="t">
            <a:noAutofit/>
          </a:bodyPr>
          <a:lstStyle/>
          <a:p>
            <a:r>
              <a:rPr lang="en-US" b="1" dirty="0">
                <a:solidFill>
                  <a:schemeClr val="tx1">
                    <a:lumMod val="50000"/>
                    <a:lumOff val="50000"/>
                  </a:schemeClr>
                </a:solidFill>
                <a:latin typeface="Verdana" panose="020B0604030504040204" pitchFamily="34" charset="0"/>
              </a:rPr>
              <a:t>Comparison of Operational Norms</a:t>
            </a:r>
            <a:endParaRPr lang="en-GB" b="1" dirty="0">
              <a:solidFill>
                <a:schemeClr val="tx1">
                  <a:lumMod val="50000"/>
                  <a:lumOff val="50000"/>
                </a:schemeClr>
              </a:solidFill>
              <a:latin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US" dirty="0"/>
              <a:t>Power Purchase Agreement | Other risks</a:t>
            </a:r>
            <a:endParaRPr lang="en-GB" noProof="0" dirty="0">
              <a:solidFill>
                <a:srgbClr val="000000"/>
              </a:solidFill>
              <a:latin typeface="Verdana" panose="020B0604030504040204" pitchFamily="34" charset="0"/>
            </a:endParaRPr>
          </a:p>
        </p:txBody>
      </p:sp>
      <p:graphicFrame>
        <p:nvGraphicFramePr>
          <p:cNvPr id="2" name="Table 1"/>
          <p:cNvGraphicFramePr>
            <a:graphicFrameLocks noGrp="1"/>
          </p:cNvGraphicFramePr>
          <p:nvPr>
            <p:extLst>
              <p:ext uri="{D42A27DB-BD31-4B8C-83A1-F6EECF244321}">
                <p14:modId xmlns:p14="http://schemas.microsoft.com/office/powerpoint/2010/main" val="3398618256"/>
              </p:ext>
            </p:extLst>
          </p:nvPr>
        </p:nvGraphicFramePr>
        <p:xfrm>
          <a:off x="449992" y="1598377"/>
          <a:ext cx="9791843" cy="4691380"/>
        </p:xfrm>
        <a:graphic>
          <a:graphicData uri="http://schemas.openxmlformats.org/drawingml/2006/table">
            <a:tbl>
              <a:tblPr firstRow="1">
                <a:tableStyleId>{3B4B98B0-60AC-42C2-AFA5-B58CD77FA1E5}</a:tableStyleId>
              </a:tblPr>
              <a:tblGrid>
                <a:gridCol w="553860">
                  <a:extLst>
                    <a:ext uri="{9D8B030D-6E8A-4147-A177-3AD203B41FA5}">
                      <a16:colId xmlns:a16="http://schemas.microsoft.com/office/drawing/2014/main" val="3671827557"/>
                    </a:ext>
                  </a:extLst>
                </a:gridCol>
                <a:gridCol w="1023731">
                  <a:extLst>
                    <a:ext uri="{9D8B030D-6E8A-4147-A177-3AD203B41FA5}">
                      <a16:colId xmlns:a16="http://schemas.microsoft.com/office/drawing/2014/main" val="2911403996"/>
                    </a:ext>
                  </a:extLst>
                </a:gridCol>
                <a:gridCol w="6748669">
                  <a:extLst>
                    <a:ext uri="{9D8B030D-6E8A-4147-A177-3AD203B41FA5}">
                      <a16:colId xmlns:a16="http://schemas.microsoft.com/office/drawing/2014/main" val="1355348493"/>
                    </a:ext>
                  </a:extLst>
                </a:gridCol>
                <a:gridCol w="1465583">
                  <a:extLst>
                    <a:ext uri="{9D8B030D-6E8A-4147-A177-3AD203B41FA5}">
                      <a16:colId xmlns:a16="http://schemas.microsoft.com/office/drawing/2014/main" val="3999508094"/>
                    </a:ext>
                  </a:extLst>
                </a:gridCol>
              </a:tblGrid>
              <a:tr h="369628">
                <a:tc>
                  <a:txBody>
                    <a:bodyPr/>
                    <a:lstStyle/>
                    <a:p>
                      <a:pPr>
                        <a:spcAft>
                          <a:spcPts val="500"/>
                        </a:spcAft>
                      </a:pPr>
                      <a:r>
                        <a:rPr lang="en-US" sz="1000" dirty="0"/>
                        <a:t>Sr. No</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Parameter</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Conditions</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Key</a:t>
                      </a:r>
                      <a:r>
                        <a:rPr lang="en-US" sz="1000" baseline="0" dirty="0"/>
                        <a:t> risks</a:t>
                      </a:r>
                      <a:endParaRPr lang="en-IN" sz="10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5669302"/>
                  </a:ext>
                </a:extLst>
              </a:tr>
              <a:tr h="4006675">
                <a:tc>
                  <a:txBody>
                    <a:bodyPr/>
                    <a:lstStyle/>
                    <a:p>
                      <a:pPr>
                        <a:spcAft>
                          <a:spcPts val="500"/>
                        </a:spcAft>
                      </a:pPr>
                      <a:r>
                        <a:rPr lang="en-US" sz="1000" dirty="0"/>
                        <a:t>2</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Pre-operational Period</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spcAft>
                          <a:spcPts val="500"/>
                        </a:spcAft>
                        <a:buFont typeface="Arial" panose="020B0604020202020204" pitchFamily="34" charset="0"/>
                        <a:buChar char="•"/>
                      </a:pPr>
                      <a:r>
                        <a:rPr lang="en-US" sz="1000" dirty="0"/>
                        <a:t>Both BPDB and the Company shall try to obtain all permits/licenses/approvals to enable it to performs its obligations</a:t>
                      </a:r>
                    </a:p>
                    <a:p>
                      <a:pPr marL="171450" indent="-171450">
                        <a:spcAft>
                          <a:spcPts val="500"/>
                        </a:spcAft>
                        <a:buFont typeface="Arial" panose="020B0604020202020204" pitchFamily="34" charset="0"/>
                        <a:buChar char="•"/>
                      </a:pPr>
                      <a:r>
                        <a:rPr lang="en-US" sz="1000" dirty="0"/>
                        <a:t>The Company shall provide the following documents to BPDB - EPC Contract, permits and licenses, O&amp;M Agreement, Testing procedures and protocols, Start up and test schedules, Insurance documents, Test Results, Plans and drawings and Quality Control Programs</a:t>
                      </a:r>
                    </a:p>
                    <a:p>
                      <a:pPr marL="171450" indent="-171450">
                        <a:spcAft>
                          <a:spcPts val="500"/>
                        </a:spcAft>
                        <a:buFont typeface="Arial" panose="020B0604020202020204" pitchFamily="34" charset="0"/>
                        <a:buChar char="•"/>
                      </a:pPr>
                      <a:r>
                        <a:rPr lang="en-US" sz="1000" dirty="0"/>
                        <a:t>The Company will obtain power for construction either by itself or from a relevant electrical utility in Bangladesh as facilitated by BPDB</a:t>
                      </a:r>
                    </a:p>
                    <a:p>
                      <a:pPr marL="171450" indent="-171450">
                        <a:spcAft>
                          <a:spcPts val="500"/>
                        </a:spcAft>
                        <a:buFont typeface="Arial" panose="020B0604020202020204" pitchFamily="34" charset="0"/>
                        <a:buChar char="•"/>
                      </a:pPr>
                      <a:r>
                        <a:rPr lang="en-US" sz="1000" dirty="0"/>
                        <a:t>Operating Procedures - </a:t>
                      </a:r>
                    </a:p>
                    <a:p>
                      <a:pPr marL="666736" lvl="1" indent="-171450">
                        <a:spcAft>
                          <a:spcPts val="500"/>
                        </a:spcAft>
                        <a:buFont typeface="Arial" panose="020B0604020202020204" pitchFamily="34" charset="0"/>
                        <a:buChar char="•"/>
                      </a:pPr>
                      <a:r>
                        <a:rPr lang="en-US" sz="1000" dirty="0"/>
                        <a:t>The company has to provide BPDB with draft operating procedures at least 180 days before the Scheduled COD, dealing with all operational interfaces between BPDB and the Company</a:t>
                      </a:r>
                    </a:p>
                    <a:p>
                      <a:pPr marL="666736" lvl="1" indent="-171450">
                        <a:spcAft>
                          <a:spcPts val="500"/>
                        </a:spcAft>
                        <a:buFont typeface="Arial" panose="020B0604020202020204" pitchFamily="34" charset="0"/>
                        <a:buChar char="•"/>
                      </a:pPr>
                      <a:r>
                        <a:rPr lang="en-US" sz="1000" dirty="0"/>
                        <a:t>Within 90 days BPDB shall notify the company of any changes or amendments. </a:t>
                      </a:r>
                    </a:p>
                    <a:p>
                      <a:pPr marL="666736" lvl="1" indent="-171450">
                        <a:spcAft>
                          <a:spcPts val="500"/>
                        </a:spcAft>
                        <a:buFont typeface="Arial" panose="020B0604020202020204" pitchFamily="34" charset="0"/>
                        <a:buChar char="•"/>
                      </a:pPr>
                      <a:r>
                        <a:rPr lang="en-US" sz="1000" dirty="0"/>
                        <a:t>The company shall provide revised draft operating procedures at least 45 days prior to the Scheduled COD</a:t>
                      </a:r>
                    </a:p>
                    <a:p>
                      <a:pPr marL="666736" lvl="1" indent="-171450">
                        <a:spcAft>
                          <a:spcPts val="500"/>
                        </a:spcAft>
                        <a:buFont typeface="Arial" panose="020B0604020202020204" pitchFamily="34" charset="0"/>
                        <a:buChar char="•"/>
                      </a:pPr>
                      <a:r>
                        <a:rPr lang="en-US" sz="1000" dirty="0"/>
                        <a:t>Disagreement over the revised draft procedures shall be referred for resolution to the Joint Coordinating Committee within 7 days after submission of draft operating procedures. </a:t>
                      </a:r>
                    </a:p>
                    <a:p>
                      <a:pPr marL="666736" lvl="1" indent="-171450">
                        <a:spcAft>
                          <a:spcPts val="500"/>
                        </a:spcAft>
                        <a:buFont typeface="Arial" panose="020B0604020202020204" pitchFamily="34" charset="0"/>
                        <a:buChar char="•"/>
                      </a:pPr>
                      <a:r>
                        <a:rPr lang="en-US" sz="1000" dirty="0"/>
                        <a:t>Either party may, from time to time, request revisions to the Operating procedures on mutual consent</a:t>
                      </a:r>
                    </a:p>
                    <a:p>
                      <a:pPr marL="171450" indent="-171450">
                        <a:spcAft>
                          <a:spcPts val="500"/>
                        </a:spcAft>
                        <a:buFont typeface="Arial" panose="020B0604020202020204" pitchFamily="34" charset="0"/>
                        <a:buChar char="•"/>
                      </a:pPr>
                      <a:r>
                        <a:rPr lang="en-US" sz="1000" dirty="0" err="1"/>
                        <a:t>Upto</a:t>
                      </a:r>
                      <a:r>
                        <a:rPr lang="en-US" sz="1000" dirty="0"/>
                        <a:t> COD, the Company shall submit progress reports to BPDB and the Engineer every month. </a:t>
                      </a:r>
                    </a:p>
                    <a:p>
                      <a:pPr marL="171450" indent="-171450">
                        <a:spcAft>
                          <a:spcPts val="500"/>
                        </a:spcAft>
                        <a:buFont typeface="Arial" panose="020B0604020202020204" pitchFamily="34" charset="0"/>
                        <a:buChar char="•"/>
                      </a:pPr>
                      <a:r>
                        <a:rPr lang="en-US" sz="1000" dirty="0"/>
                        <a:t>After the financial closing date the Company shall also provide a monthly notice the Scheduled COD and any change therein</a:t>
                      </a:r>
                    </a:p>
                    <a:p>
                      <a:pPr marL="171450" indent="-171450">
                        <a:spcAft>
                          <a:spcPts val="500"/>
                        </a:spcAft>
                        <a:buFont typeface="Arial" panose="020B0604020202020204" pitchFamily="34" charset="0"/>
                        <a:buChar char="•"/>
                      </a:pPr>
                      <a:r>
                        <a:rPr lang="en-US" sz="1000" dirty="0" err="1"/>
                        <a:t>Upto</a:t>
                      </a:r>
                      <a:r>
                        <a:rPr lang="en-US" sz="1000" dirty="0"/>
                        <a:t> COD, the Company shall submit quarterly progress reports to BPDB on progress of Gas Transportation Facilities</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spcAft>
                          <a:spcPts val="500"/>
                        </a:spcAft>
                        <a:buFont typeface="Arial" panose="020B0604020202020204" pitchFamily="34" charset="0"/>
                        <a:buNone/>
                      </a:pPr>
                      <a:r>
                        <a:rPr lang="en-US" sz="1000" dirty="0"/>
                        <a:t>The Timelines mentioned in operating procedures don’t add up to ensure that the decision is made 30 days prior to the COD</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72979897"/>
                  </a:ext>
                </a:extLst>
              </a:tr>
            </a:tbl>
          </a:graphicData>
        </a:graphic>
      </p:graphicFrame>
      <p:sp>
        <p:nvSpPr>
          <p:cNvPr id="5" name="Rectangle 4"/>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PPA, Deloitte Analysis</a:t>
            </a:r>
          </a:p>
        </p:txBody>
      </p:sp>
    </p:spTree>
    <p:extLst>
      <p:ext uri="{BB962C8B-B14F-4D97-AF65-F5344CB8AC3E}">
        <p14:creationId xmlns:p14="http://schemas.microsoft.com/office/powerpoint/2010/main" val="109334806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Strapline"/>
          <p:cNvSpPr>
            <a:spLocks noGrp="1"/>
          </p:cNvSpPr>
          <p:nvPr>
            <p:ph type="body" sz="quarter" idx="13"/>
          </p:nvPr>
        </p:nvSpPr>
        <p:spPr>
          <a:xfrm>
            <a:off x="449993" y="1079983"/>
            <a:ext cx="9791843" cy="518392"/>
          </a:xfrm>
        </p:spPr>
        <p:txBody>
          <a:bodyPr lIns="0" tIns="0" rIns="0" bIns="0" anchor="t">
            <a:noAutofit/>
          </a:bodyPr>
          <a:lstStyle/>
          <a:p>
            <a:r>
              <a:rPr lang="en-US" b="1" dirty="0">
                <a:solidFill>
                  <a:schemeClr val="tx1">
                    <a:lumMod val="50000"/>
                    <a:lumOff val="50000"/>
                  </a:schemeClr>
                </a:solidFill>
                <a:latin typeface="Verdana" panose="020B0604030504040204" pitchFamily="34" charset="0"/>
              </a:rPr>
              <a:t>NBBL has a 22 year arrangement with Sundarban Gas Company Limited for supply of gas </a:t>
            </a:r>
            <a:endParaRPr lang="en-GB" b="1" dirty="0">
              <a:solidFill>
                <a:schemeClr val="tx1">
                  <a:lumMod val="50000"/>
                  <a:lumOff val="50000"/>
                </a:schemeClr>
              </a:solidFill>
              <a:latin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Gas Supply Agreement | Salient Features</a:t>
            </a:r>
          </a:p>
        </p:txBody>
      </p:sp>
      <p:graphicFrame>
        <p:nvGraphicFramePr>
          <p:cNvPr id="20" name="Table 19"/>
          <p:cNvGraphicFramePr>
            <a:graphicFrameLocks noGrp="1"/>
          </p:cNvGraphicFramePr>
          <p:nvPr>
            <p:custDataLst>
              <p:tags r:id="rId1"/>
            </p:custDataLst>
            <p:extLst>
              <p:ext uri="{D42A27DB-BD31-4B8C-83A1-F6EECF244321}">
                <p14:modId xmlns:p14="http://schemas.microsoft.com/office/powerpoint/2010/main" val="2263233786"/>
              </p:ext>
            </p:extLst>
          </p:nvPr>
        </p:nvGraphicFramePr>
        <p:xfrm>
          <a:off x="449993" y="1961919"/>
          <a:ext cx="4734896" cy="5419736"/>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4416021">
                <a:tc>
                  <a:txBody>
                    <a:bodyPr/>
                    <a:lstStyle/>
                    <a:p>
                      <a:pPr marL="0" indent="0">
                        <a:spcAft>
                          <a:spcPts val="500"/>
                        </a:spcAft>
                        <a:buFont typeface="Arial" panose="020B0604020202020204" pitchFamily="34" charset="0"/>
                        <a:buNone/>
                      </a:pPr>
                      <a:r>
                        <a:rPr lang="en-US" sz="1000" b="1" baseline="0" dirty="0">
                          <a:solidFill>
                            <a:schemeClr val="tx1"/>
                          </a:solidFill>
                        </a:rPr>
                        <a:t>Salient features: </a:t>
                      </a:r>
                    </a:p>
                    <a:p>
                      <a:pPr marL="268288" marR="0" lvl="1"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Term: 22 years, extendable upon mutual agreement before 15 years</a:t>
                      </a:r>
                    </a:p>
                    <a:p>
                      <a:pPr marL="268288" marR="0" lvl="1"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Procurement from third parties: not allowed unless gas is unavailable at by gas supplier</a:t>
                      </a:r>
                    </a:p>
                    <a:p>
                      <a:pPr marL="268288" marR="0" lvl="1"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Transmission Facility: Pipeline constructed and operated by SGCL; Cost borne by NBBL. Failure of transmission facility will attract liquidated damages to be paid by Gas Supplier</a:t>
                      </a:r>
                    </a:p>
                    <a:p>
                      <a:pPr marL="268288" marR="0" lvl="1"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Quantity: Subject to Maximum Hourly Quantity (1,604 MSCF); doesn’t exceed Daily Contract Quantity (35,000 + 10% MSCF) assuming an HHV of 950 Btu/ SCF</a:t>
                      </a:r>
                    </a:p>
                    <a:p>
                      <a:pPr marL="268288" marR="0" lvl="1"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Point of Delivery: Outlet flange of RMS at the boundary of the site</a:t>
                      </a:r>
                    </a:p>
                    <a:p>
                      <a:pPr marL="268288" marR="0" lvl="1"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Price: As per Published Gas Price by GOB adjusted for Higher Heating Value; inclusive of taxes and transportation charges</a:t>
                      </a:r>
                    </a:p>
                    <a:p>
                      <a:pPr marL="268288" marR="0" lvl="1"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Force Majeure/ Political Event: Either parties can claim relief from obligations. Gas suppliers failure to deliver gas other than due to transportation issue constitutes a Political Event. BPDB will decide whether to switch from gas to fuel or to cease operations</a:t>
                      </a:r>
                    </a:p>
                    <a:p>
                      <a:pPr marL="268288" marR="0" lvl="1"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Minimum Supply Guarantee:  50% of Hourly Contract Quantity (1458 +/-0% MSCF) for 7884 hours reduced by </a:t>
                      </a:r>
                    </a:p>
                    <a:p>
                      <a:pPr marL="763573" marR="0" lvl="2" indent="-171450" algn="just" defTabSz="990571" rtl="0" eaLnBrk="1" fontAlgn="auto" latinLnBrk="0" hangingPunct="1">
                        <a:lnSpc>
                          <a:spcPct val="100000"/>
                        </a:lnSpc>
                        <a:spcBef>
                          <a:spcPts val="0"/>
                        </a:spcBef>
                        <a:spcAft>
                          <a:spcPts val="500"/>
                        </a:spcAft>
                        <a:buClrTx/>
                        <a:buSzTx/>
                        <a:buFont typeface="Courier New" panose="02070309020205020404" pitchFamily="49" charset="0"/>
                        <a:buChar char="o"/>
                        <a:tabLst/>
                        <a:defRPr/>
                      </a:pPr>
                      <a:r>
                        <a:rPr lang="en-US" sz="1000" b="0" baseline="0" dirty="0">
                          <a:solidFill>
                            <a:schemeClr val="tx1"/>
                          </a:solidFill>
                        </a:rPr>
                        <a:t>Gas ordered not delivered or non confirming gas</a:t>
                      </a:r>
                    </a:p>
                    <a:p>
                      <a:pPr marL="763573" marR="0" lvl="2" indent="-171450" algn="just" defTabSz="990571" rtl="0" eaLnBrk="1" fontAlgn="auto" latinLnBrk="0" hangingPunct="1">
                        <a:lnSpc>
                          <a:spcPct val="100000"/>
                        </a:lnSpc>
                        <a:spcBef>
                          <a:spcPts val="0"/>
                        </a:spcBef>
                        <a:spcAft>
                          <a:spcPts val="500"/>
                        </a:spcAft>
                        <a:buClrTx/>
                        <a:buSzTx/>
                        <a:buFont typeface="Courier New" panose="02070309020205020404" pitchFamily="49" charset="0"/>
                        <a:buChar char="o"/>
                        <a:tabLst/>
                        <a:defRPr/>
                      </a:pPr>
                      <a:r>
                        <a:rPr lang="en-US" sz="1000" b="0" baseline="0" dirty="0">
                          <a:solidFill>
                            <a:schemeClr val="tx1"/>
                          </a:solidFill>
                        </a:rPr>
                        <a:t>Interruption due to transmission facility failure</a:t>
                      </a:r>
                    </a:p>
                    <a:p>
                      <a:pPr marL="763573" marR="0" lvl="2" indent="-171450" algn="just" defTabSz="990571" rtl="0" eaLnBrk="1" fontAlgn="auto" latinLnBrk="0" hangingPunct="1">
                        <a:lnSpc>
                          <a:spcPct val="100000"/>
                        </a:lnSpc>
                        <a:spcBef>
                          <a:spcPts val="0"/>
                        </a:spcBef>
                        <a:spcAft>
                          <a:spcPts val="500"/>
                        </a:spcAft>
                        <a:buClrTx/>
                        <a:buSzTx/>
                        <a:buFont typeface="Courier New" panose="02070309020205020404" pitchFamily="49" charset="0"/>
                        <a:buChar char="o"/>
                        <a:tabLst/>
                        <a:defRPr/>
                      </a:pPr>
                      <a:r>
                        <a:rPr lang="en-US" sz="1000" b="0" baseline="0" dirty="0">
                          <a:solidFill>
                            <a:schemeClr val="tx1"/>
                          </a:solidFill>
                        </a:rPr>
                        <a:t>Gas not delivered or accepted due to force majeure/political event</a:t>
                      </a:r>
                    </a:p>
                    <a:p>
                      <a:pPr marL="763573" marR="0" lvl="2" indent="-171450" algn="just" defTabSz="990571" rtl="0" eaLnBrk="1" fontAlgn="auto" latinLnBrk="0" hangingPunct="1">
                        <a:lnSpc>
                          <a:spcPct val="100000"/>
                        </a:lnSpc>
                        <a:spcBef>
                          <a:spcPts val="0"/>
                        </a:spcBef>
                        <a:spcAft>
                          <a:spcPts val="500"/>
                        </a:spcAft>
                        <a:buClrTx/>
                        <a:buSzTx/>
                        <a:buFont typeface="Courier New" panose="02070309020205020404" pitchFamily="49" charset="0"/>
                        <a:buChar char="o"/>
                        <a:tabLst/>
                        <a:defRPr/>
                      </a:pPr>
                      <a:r>
                        <a:rPr lang="en-US" sz="1000" b="0" baseline="0" dirty="0">
                          <a:solidFill>
                            <a:schemeClr val="tx1"/>
                          </a:solidFill>
                        </a:rPr>
                        <a:t>Major Scheduled Outage</a:t>
                      </a:r>
                    </a:p>
                    <a:p>
                      <a:pPr marL="268288" marR="0" lvl="1"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Termination: Event of default; Force Majeure/Political Event not remedied within 12 months</a:t>
                      </a:r>
                    </a:p>
                  </a:txBody>
                  <a:tcPr marL="107998" marT="107998">
                    <a:lnL w="12700" cmpd="sng">
                      <a:noFill/>
                    </a:lnL>
                    <a:lnR w="12700" cmpd="sng">
                      <a:noFill/>
                    </a:lnR>
                    <a:lnT w="38100" cap="flat" cmpd="sng" algn="ctr">
                      <a:solidFill>
                        <a:schemeClr val="accent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25718">
                <a:tc>
                  <a:txBody>
                    <a:bodyPr/>
                    <a:lstStyle/>
                    <a:p>
                      <a:pPr marL="0" marR="0" lvl="0" indent="0" algn="l"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0" baseline="0" dirty="0">
                        <a:solidFill>
                          <a:srgbClr val="FF0000"/>
                        </a:solidFill>
                      </a:endParaRPr>
                    </a:p>
                  </a:txBody>
                  <a:tcPr marL="107998" marT="107998">
                    <a:lnL w="12700" cmpd="sng">
                      <a:noFill/>
                    </a:lnL>
                    <a:lnR w="12700" cmpd="sng">
                      <a:noFill/>
                    </a:lnR>
                    <a:lnT w="381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644354327"/>
                  </a:ext>
                </a:extLst>
              </a:tr>
            </a:tbl>
          </a:graphicData>
        </a:graphic>
      </p:graphicFrame>
      <p:sp>
        <p:nvSpPr>
          <p:cNvPr id="23" name="Rectangle 22"/>
          <p:cNvSpPr/>
          <p:nvPr/>
        </p:nvSpPr>
        <p:spPr bwMode="gray">
          <a:xfrm>
            <a:off x="5614404" y="2140823"/>
            <a:ext cx="4399388" cy="3673568"/>
          </a:xfrm>
          <a:prstGeom prst="rect">
            <a:avLst/>
          </a:prstGeom>
          <a:solidFill>
            <a:srgbClr val="F8FBFA"/>
          </a:solidFill>
          <a:ln w="3175" algn="ctr">
            <a:solidFill>
              <a:srgbClr val="C4D600">
                <a:alpha val="61000"/>
              </a:srgbClr>
            </a:solidFill>
            <a:prstDash val="dash"/>
            <a:miter lim="800000"/>
            <a:headEnd/>
            <a:tailEnd/>
          </a:ln>
        </p:spPr>
        <p:txBody>
          <a:bodyPr wrap="square" lIns="88900" tIns="88900" rIns="88900" bIns="88900" rtlCol="0" anchor="t"/>
          <a:lstStyle/>
          <a:p>
            <a:pPr marL="0" marR="0" lvl="0" indent="0" algn="l" defTabSz="914400" rtl="0" eaLnBrk="0" fontAlgn="base" latinLnBrk="0" hangingPunct="0">
              <a:lnSpc>
                <a:spcPct val="100000"/>
              </a:lnSpc>
              <a:spcBef>
                <a:spcPct val="0"/>
              </a:spcBef>
              <a:spcAft>
                <a:spcPct val="0"/>
              </a:spcAft>
              <a:buClrTx/>
              <a:buSzTx/>
              <a:buFont typeface="Wingdings 2" pitchFamily="18" charset="2"/>
              <a:buNone/>
              <a:tabLst/>
              <a:defRPr/>
            </a:pPr>
            <a:r>
              <a:rPr kumimoji="0" lang="en-US" sz="1600" b="1" i="0" u="none" strike="noStrike" kern="1200" cap="none" spc="0" normalizeH="0" baseline="0" noProof="0" dirty="0">
                <a:ln>
                  <a:noFill/>
                </a:ln>
                <a:solidFill>
                  <a:srgbClr val="75787B"/>
                </a:solidFill>
                <a:effectLst/>
                <a:uLnTx/>
                <a:uFillTx/>
                <a:latin typeface="Arial" panose="020B0604020202020204" pitchFamily="34" charset="0"/>
                <a:ea typeface="+mn-ea"/>
                <a:cs typeface="Arial" panose="020B0604020202020204" pitchFamily="34" charset="0"/>
              </a:rPr>
              <a:t>        </a:t>
            </a:r>
            <a:r>
              <a:rPr kumimoji="0" lang="en-US" sz="1200" b="1" i="0" u="none" strike="noStrike" kern="1200" cap="none" spc="0" normalizeH="0" baseline="0" noProof="0" dirty="0">
                <a:ln>
                  <a:noFill/>
                </a:ln>
                <a:solidFill>
                  <a:srgbClr val="75787B">
                    <a:lumMod val="50000"/>
                  </a:srgbClr>
                </a:solidFill>
                <a:effectLst/>
                <a:uLnTx/>
                <a:uFillTx/>
                <a:latin typeface="Verdana"/>
                <a:ea typeface="+mn-ea"/>
                <a:cs typeface="+mn-cs"/>
              </a:rPr>
              <a:t>Key Risks</a:t>
            </a:r>
          </a:p>
          <a:p>
            <a:pPr marL="0" marR="0" lvl="0" indent="0" algn="l" defTabSz="914400" rtl="0" eaLnBrk="0" fontAlgn="base" latinLnBrk="0" hangingPunct="0">
              <a:lnSpc>
                <a:spcPct val="100000"/>
              </a:lnSpc>
              <a:spcBef>
                <a:spcPct val="0"/>
              </a:spcBef>
              <a:spcAft>
                <a:spcPct val="0"/>
              </a:spcAft>
              <a:buClrTx/>
              <a:buSzTx/>
              <a:buFont typeface="Wingdings 2" pitchFamily="18" charset="2"/>
              <a:buNone/>
              <a:tabLst/>
              <a:defRPr/>
            </a:pPr>
            <a:endParaRPr kumimoji="0" lang="en-US" sz="1600" b="1" i="0" u="none" strike="noStrike" kern="1200" cap="none" spc="0" normalizeH="0" baseline="0" noProof="0" dirty="0">
              <a:ln>
                <a:noFill/>
              </a:ln>
              <a:solidFill>
                <a:srgbClr val="75787B"/>
              </a:solidFill>
              <a:effectLst/>
              <a:uLnTx/>
              <a:uFillTx/>
              <a:latin typeface="Arial" panose="020B0604020202020204" pitchFamily="34" charset="0"/>
              <a:ea typeface="+mn-ea"/>
              <a:cs typeface="Arial" panose="020B0604020202020204" pitchFamily="34" charset="0"/>
            </a:endParaRP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A Gas supplier Event of Default is only in case when the supply is less than 50% of the total aggregate gas demand for the entire year</a:t>
            </a: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SGCL does not give any performance guarantee </a:t>
            </a: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The term of the GSA is valid only subject to availability of gas</a:t>
            </a: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1000" b="0" i="0" u="none" strike="noStrike" kern="1200" cap="none" spc="0" normalizeH="0" baseline="0" noProof="0" dirty="0">
              <a:ln>
                <a:noFill/>
              </a:ln>
              <a:solidFill>
                <a:prstClr val="black"/>
              </a:solidFill>
              <a:effectLst/>
              <a:uLnTx/>
              <a:uFillTx/>
              <a:latin typeface="Verdana"/>
              <a:ea typeface="+mn-ea"/>
              <a:cs typeface="+mn-cs"/>
            </a:endParaRP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1000" b="0" i="0" u="none" strike="noStrike" kern="1200" cap="none" spc="0" normalizeH="0" baseline="0" noProof="0" dirty="0">
              <a:ln>
                <a:noFill/>
              </a:ln>
              <a:solidFill>
                <a:prstClr val="black"/>
              </a:solidFill>
              <a:effectLst/>
              <a:uLnTx/>
              <a:uFillTx/>
              <a:latin typeface="Verdana"/>
              <a:ea typeface="+mn-ea"/>
              <a:cs typeface="+mn-cs"/>
            </a:endParaRP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1000" b="0" i="0" u="none" strike="noStrike" kern="1200" cap="none" spc="0" normalizeH="0" baseline="0" noProof="0" dirty="0">
              <a:ln>
                <a:noFill/>
              </a:ln>
              <a:solidFill>
                <a:prstClr val="black"/>
              </a:solidFill>
              <a:effectLst/>
              <a:uLnTx/>
              <a:uFillTx/>
              <a:latin typeface="Verdana"/>
              <a:ea typeface="+mn-ea"/>
              <a:cs typeface="+mn-cs"/>
            </a:endParaRP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1000" b="0" i="0" u="none" strike="noStrike" kern="1200" cap="none" spc="0" normalizeH="0" baseline="0" noProof="0" dirty="0">
              <a:ln>
                <a:noFill/>
              </a:ln>
              <a:solidFill>
                <a:prstClr val="black"/>
              </a:solidFill>
              <a:effectLst/>
              <a:uLnTx/>
              <a:uFillTx/>
              <a:latin typeface="Verdana"/>
              <a:ea typeface="+mn-ea"/>
              <a:cs typeface="+mn-cs"/>
            </a:endParaRPr>
          </a:p>
        </p:txBody>
      </p:sp>
      <p:grpSp>
        <p:nvGrpSpPr>
          <p:cNvPr id="28" name="Group 449"/>
          <p:cNvGrpSpPr>
            <a:grpSpLocks noChangeAspect="1"/>
          </p:cNvGrpSpPr>
          <p:nvPr/>
        </p:nvGrpSpPr>
        <p:grpSpPr bwMode="auto">
          <a:xfrm>
            <a:off x="5669001" y="2193091"/>
            <a:ext cx="344760" cy="332826"/>
            <a:chOff x="2732" y="1561"/>
            <a:chExt cx="340" cy="340"/>
          </a:xfrm>
          <a:solidFill>
            <a:schemeClr val="accent1"/>
          </a:solidFill>
        </p:grpSpPr>
        <p:sp>
          <p:nvSpPr>
            <p:cNvPr id="29" name="Freeform 450"/>
            <p:cNvSpPr>
              <a:spLocks noEditPoints="1"/>
            </p:cNvSpPr>
            <p:nvPr/>
          </p:nvSpPr>
          <p:spPr bwMode="auto">
            <a:xfrm>
              <a:off x="2732" y="156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solidFill>
                <a:schemeClr val="accent1"/>
              </a:solid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787481" rtl="0" eaLnBrk="1" fontAlgn="auto" latinLnBrk="0" hangingPunct="1">
                <a:lnSpc>
                  <a:spcPct val="100000"/>
                </a:lnSpc>
                <a:spcBef>
                  <a:spcPts val="0"/>
                </a:spcBef>
                <a:spcAft>
                  <a:spcPts val="0"/>
                </a:spcAft>
                <a:buClrTx/>
                <a:buSzTx/>
                <a:buFontTx/>
                <a:buNone/>
                <a:tabLst/>
                <a:defRPr/>
              </a:pPr>
              <a:endParaRPr kumimoji="0" lang="en-GB" sz="1550" b="0" i="0" u="none" strike="noStrike" kern="1200" cap="none" spc="0" normalizeH="0" baseline="0" noProof="0" dirty="0">
                <a:ln>
                  <a:noFill/>
                </a:ln>
                <a:solidFill>
                  <a:prstClr val="black"/>
                </a:solidFill>
                <a:effectLst/>
                <a:uLnTx/>
                <a:uFillTx/>
                <a:latin typeface="Verdana"/>
                <a:ea typeface="+mn-ea"/>
                <a:cs typeface="+mn-cs"/>
              </a:endParaRPr>
            </a:p>
          </p:txBody>
        </p:sp>
        <p:sp>
          <p:nvSpPr>
            <p:cNvPr id="31" name="Freeform 451"/>
            <p:cNvSpPr>
              <a:spLocks noEditPoints="1"/>
            </p:cNvSpPr>
            <p:nvPr/>
          </p:nvSpPr>
          <p:spPr bwMode="auto">
            <a:xfrm>
              <a:off x="2795" y="1630"/>
              <a:ext cx="211" cy="207"/>
            </a:xfrm>
            <a:custGeom>
              <a:avLst/>
              <a:gdLst>
                <a:gd name="T0" fmla="*/ 132 w 318"/>
                <a:gd name="T1" fmla="*/ 312 h 312"/>
                <a:gd name="T2" fmla="*/ 124 w 318"/>
                <a:gd name="T3" fmla="*/ 309 h 312"/>
                <a:gd name="T4" fmla="*/ 4 w 318"/>
                <a:gd name="T5" fmla="*/ 188 h 312"/>
                <a:gd name="T6" fmla="*/ 4 w 318"/>
                <a:gd name="T7" fmla="*/ 173 h 312"/>
                <a:gd name="T8" fmla="*/ 173 w 318"/>
                <a:gd name="T9" fmla="*/ 4 h 312"/>
                <a:gd name="T10" fmla="*/ 182 w 318"/>
                <a:gd name="T11" fmla="*/ 0 h 312"/>
                <a:gd name="T12" fmla="*/ 292 w 318"/>
                <a:gd name="T13" fmla="*/ 11 h 312"/>
                <a:gd name="T14" fmla="*/ 302 w 318"/>
                <a:gd name="T15" fmla="*/ 20 h 312"/>
                <a:gd name="T16" fmla="*/ 317 w 318"/>
                <a:gd name="T17" fmla="*/ 125 h 312"/>
                <a:gd name="T18" fmla="*/ 314 w 318"/>
                <a:gd name="T19" fmla="*/ 134 h 312"/>
                <a:gd name="T20" fmla="*/ 140 w 318"/>
                <a:gd name="T21" fmla="*/ 309 h 312"/>
                <a:gd name="T22" fmla="*/ 132 w 318"/>
                <a:gd name="T23" fmla="*/ 312 h 312"/>
                <a:gd name="T24" fmla="*/ 26 w 318"/>
                <a:gd name="T25" fmla="*/ 180 h 312"/>
                <a:gd name="T26" fmla="*/ 132 w 318"/>
                <a:gd name="T27" fmla="*/ 286 h 312"/>
                <a:gd name="T28" fmla="*/ 295 w 318"/>
                <a:gd name="T29" fmla="*/ 123 h 312"/>
                <a:gd name="T30" fmla="*/ 282 w 318"/>
                <a:gd name="T31" fmla="*/ 31 h 312"/>
                <a:gd name="T32" fmla="*/ 185 w 318"/>
                <a:gd name="T33" fmla="*/ 22 h 312"/>
                <a:gd name="T34" fmla="*/ 26 w 318"/>
                <a:gd name="T35" fmla="*/ 180 h 312"/>
                <a:gd name="T36" fmla="*/ 245 w 318"/>
                <a:gd name="T37" fmla="*/ 67 h 312"/>
                <a:gd name="T38" fmla="*/ 214 w 318"/>
                <a:gd name="T39" fmla="*/ 67 h 312"/>
                <a:gd name="T40" fmla="*/ 214 w 318"/>
                <a:gd name="T41" fmla="*/ 98 h 312"/>
                <a:gd name="T42" fmla="*/ 245 w 318"/>
                <a:gd name="T43" fmla="*/ 98 h 312"/>
                <a:gd name="T44" fmla="*/ 245 w 318"/>
                <a:gd name="T45" fmla="*/ 67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8" h="312">
                  <a:moveTo>
                    <a:pt x="132" y="312"/>
                  </a:moveTo>
                  <a:cubicBezTo>
                    <a:pt x="129" y="312"/>
                    <a:pt x="127" y="311"/>
                    <a:pt x="124" y="309"/>
                  </a:cubicBezTo>
                  <a:cubicBezTo>
                    <a:pt x="4" y="188"/>
                    <a:pt x="4" y="188"/>
                    <a:pt x="4" y="188"/>
                  </a:cubicBezTo>
                  <a:cubicBezTo>
                    <a:pt x="0" y="184"/>
                    <a:pt x="0" y="177"/>
                    <a:pt x="4" y="173"/>
                  </a:cubicBezTo>
                  <a:cubicBezTo>
                    <a:pt x="173" y="4"/>
                    <a:pt x="173" y="4"/>
                    <a:pt x="173" y="4"/>
                  </a:cubicBezTo>
                  <a:cubicBezTo>
                    <a:pt x="175" y="1"/>
                    <a:pt x="178" y="0"/>
                    <a:pt x="182" y="0"/>
                  </a:cubicBezTo>
                  <a:cubicBezTo>
                    <a:pt x="292" y="11"/>
                    <a:pt x="292" y="11"/>
                    <a:pt x="292" y="11"/>
                  </a:cubicBezTo>
                  <a:cubicBezTo>
                    <a:pt x="297" y="11"/>
                    <a:pt x="301" y="15"/>
                    <a:pt x="302" y="20"/>
                  </a:cubicBezTo>
                  <a:cubicBezTo>
                    <a:pt x="317" y="125"/>
                    <a:pt x="317" y="125"/>
                    <a:pt x="317" y="125"/>
                  </a:cubicBezTo>
                  <a:cubicBezTo>
                    <a:pt x="318" y="128"/>
                    <a:pt x="316" y="132"/>
                    <a:pt x="314" y="134"/>
                  </a:cubicBezTo>
                  <a:cubicBezTo>
                    <a:pt x="140" y="309"/>
                    <a:pt x="140" y="309"/>
                    <a:pt x="140" y="309"/>
                  </a:cubicBezTo>
                  <a:cubicBezTo>
                    <a:pt x="137" y="311"/>
                    <a:pt x="135" y="312"/>
                    <a:pt x="132" y="312"/>
                  </a:cubicBezTo>
                  <a:close/>
                  <a:moveTo>
                    <a:pt x="26" y="180"/>
                  </a:moveTo>
                  <a:cubicBezTo>
                    <a:pt x="132" y="286"/>
                    <a:pt x="132" y="286"/>
                    <a:pt x="132" y="286"/>
                  </a:cubicBezTo>
                  <a:cubicBezTo>
                    <a:pt x="295" y="123"/>
                    <a:pt x="295" y="123"/>
                    <a:pt x="295" y="123"/>
                  </a:cubicBezTo>
                  <a:cubicBezTo>
                    <a:pt x="282" y="31"/>
                    <a:pt x="282" y="31"/>
                    <a:pt x="282" y="31"/>
                  </a:cubicBezTo>
                  <a:cubicBezTo>
                    <a:pt x="185" y="22"/>
                    <a:pt x="185" y="22"/>
                    <a:pt x="185" y="22"/>
                  </a:cubicBezTo>
                  <a:lnTo>
                    <a:pt x="26" y="180"/>
                  </a:lnTo>
                  <a:close/>
                  <a:moveTo>
                    <a:pt x="245" y="67"/>
                  </a:moveTo>
                  <a:cubicBezTo>
                    <a:pt x="236" y="58"/>
                    <a:pt x="222" y="58"/>
                    <a:pt x="214" y="67"/>
                  </a:cubicBezTo>
                  <a:cubicBezTo>
                    <a:pt x="205" y="75"/>
                    <a:pt x="205" y="89"/>
                    <a:pt x="214" y="98"/>
                  </a:cubicBezTo>
                  <a:cubicBezTo>
                    <a:pt x="222" y="106"/>
                    <a:pt x="236" y="106"/>
                    <a:pt x="245" y="98"/>
                  </a:cubicBezTo>
                  <a:cubicBezTo>
                    <a:pt x="253" y="89"/>
                    <a:pt x="253" y="75"/>
                    <a:pt x="245" y="67"/>
                  </a:cubicBezTo>
                  <a:close/>
                </a:path>
              </a:pathLst>
            </a:custGeom>
            <a:grpFill/>
            <a:ln>
              <a:solidFill>
                <a:schemeClr val="accent1"/>
              </a:solid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787481" rtl="0" eaLnBrk="1" fontAlgn="auto" latinLnBrk="0" hangingPunct="1">
                <a:lnSpc>
                  <a:spcPct val="100000"/>
                </a:lnSpc>
                <a:spcBef>
                  <a:spcPts val="0"/>
                </a:spcBef>
                <a:spcAft>
                  <a:spcPts val="0"/>
                </a:spcAft>
                <a:buClrTx/>
                <a:buSzTx/>
                <a:buFontTx/>
                <a:buNone/>
                <a:tabLst/>
                <a:defRPr/>
              </a:pPr>
              <a:endParaRPr kumimoji="0" lang="en-GB" sz="1550" b="0" i="0" u="none" strike="noStrike" kern="1200" cap="none" spc="0" normalizeH="0" baseline="0" noProof="0" dirty="0">
                <a:ln>
                  <a:noFill/>
                </a:ln>
                <a:solidFill>
                  <a:prstClr val="black"/>
                </a:solidFill>
                <a:effectLst/>
                <a:uLnTx/>
                <a:uFillTx/>
                <a:latin typeface="Verdana"/>
                <a:ea typeface="+mn-ea"/>
                <a:cs typeface="+mn-cs"/>
              </a:endParaRPr>
            </a:p>
          </p:txBody>
        </p:sp>
      </p:grpSp>
      <p:sp>
        <p:nvSpPr>
          <p:cNvPr id="9" name="Rectangle 8"/>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GSA, Deloitte Analysis</a:t>
            </a:r>
          </a:p>
        </p:txBody>
      </p:sp>
    </p:spTree>
    <p:extLst>
      <p:ext uri="{BB962C8B-B14F-4D97-AF65-F5344CB8AC3E}">
        <p14:creationId xmlns:p14="http://schemas.microsoft.com/office/powerpoint/2010/main" val="263149046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Gas Supply Agreement| Key Terms</a:t>
            </a:r>
            <a:endParaRPr lang="en-IN" dirty="0"/>
          </a:p>
        </p:txBody>
      </p:sp>
      <p:graphicFrame>
        <p:nvGraphicFramePr>
          <p:cNvPr id="3" name="Table 2"/>
          <p:cNvGraphicFramePr>
            <a:graphicFrameLocks noGrp="1"/>
          </p:cNvGraphicFramePr>
          <p:nvPr>
            <p:extLst>
              <p:ext uri="{D42A27DB-BD31-4B8C-83A1-F6EECF244321}">
                <p14:modId xmlns:p14="http://schemas.microsoft.com/office/powerpoint/2010/main" val="1506879976"/>
              </p:ext>
            </p:extLst>
          </p:nvPr>
        </p:nvGraphicFramePr>
        <p:xfrm>
          <a:off x="449992" y="1598375"/>
          <a:ext cx="9791843" cy="4772660"/>
        </p:xfrm>
        <a:graphic>
          <a:graphicData uri="http://schemas.openxmlformats.org/drawingml/2006/table">
            <a:tbl>
              <a:tblPr firstRow="1">
                <a:tableStyleId>{3B4B98B0-60AC-42C2-AFA5-B58CD77FA1E5}</a:tableStyleId>
              </a:tblPr>
              <a:tblGrid>
                <a:gridCol w="553860">
                  <a:extLst>
                    <a:ext uri="{9D8B030D-6E8A-4147-A177-3AD203B41FA5}">
                      <a16:colId xmlns:a16="http://schemas.microsoft.com/office/drawing/2014/main" val="3671827557"/>
                    </a:ext>
                  </a:extLst>
                </a:gridCol>
                <a:gridCol w="1023731">
                  <a:extLst>
                    <a:ext uri="{9D8B030D-6E8A-4147-A177-3AD203B41FA5}">
                      <a16:colId xmlns:a16="http://schemas.microsoft.com/office/drawing/2014/main" val="2911403996"/>
                    </a:ext>
                  </a:extLst>
                </a:gridCol>
                <a:gridCol w="6178868">
                  <a:extLst>
                    <a:ext uri="{9D8B030D-6E8A-4147-A177-3AD203B41FA5}">
                      <a16:colId xmlns:a16="http://schemas.microsoft.com/office/drawing/2014/main" val="1355348493"/>
                    </a:ext>
                  </a:extLst>
                </a:gridCol>
                <a:gridCol w="2035384">
                  <a:extLst>
                    <a:ext uri="{9D8B030D-6E8A-4147-A177-3AD203B41FA5}">
                      <a16:colId xmlns:a16="http://schemas.microsoft.com/office/drawing/2014/main" val="3999508094"/>
                    </a:ext>
                  </a:extLst>
                </a:gridCol>
              </a:tblGrid>
              <a:tr h="370840">
                <a:tc>
                  <a:txBody>
                    <a:bodyPr/>
                    <a:lstStyle/>
                    <a:p>
                      <a:pPr>
                        <a:spcAft>
                          <a:spcPts val="500"/>
                        </a:spcAft>
                      </a:pPr>
                      <a:r>
                        <a:rPr lang="en-US" sz="1000" dirty="0"/>
                        <a:t>Sr. No</a:t>
                      </a:r>
                      <a:endParaRPr lang="en-IN" sz="1000" dirty="0"/>
                    </a:p>
                  </a:txBody>
                  <a:tcPr/>
                </a:tc>
                <a:tc>
                  <a:txBody>
                    <a:bodyPr/>
                    <a:lstStyle/>
                    <a:p>
                      <a:pPr>
                        <a:spcAft>
                          <a:spcPts val="500"/>
                        </a:spcAft>
                      </a:pPr>
                      <a:r>
                        <a:rPr lang="en-US" sz="1000" dirty="0"/>
                        <a:t>Parameter</a:t>
                      </a:r>
                      <a:endParaRPr lang="en-IN" sz="1000" dirty="0"/>
                    </a:p>
                  </a:txBody>
                  <a:tcPr/>
                </a:tc>
                <a:tc>
                  <a:txBody>
                    <a:bodyPr/>
                    <a:lstStyle/>
                    <a:p>
                      <a:pPr>
                        <a:spcAft>
                          <a:spcPts val="500"/>
                        </a:spcAft>
                      </a:pPr>
                      <a:r>
                        <a:rPr lang="en-US" sz="1000" dirty="0"/>
                        <a:t>Conditions</a:t>
                      </a:r>
                      <a:endParaRPr lang="en-IN" sz="1000" dirty="0"/>
                    </a:p>
                  </a:txBody>
                  <a:tcPr/>
                </a:tc>
                <a:tc>
                  <a:txBody>
                    <a:bodyPr/>
                    <a:lstStyle/>
                    <a:p>
                      <a:pPr>
                        <a:spcAft>
                          <a:spcPts val="500"/>
                        </a:spcAft>
                      </a:pPr>
                      <a:r>
                        <a:rPr lang="en-US" sz="1000" dirty="0"/>
                        <a:t>Key</a:t>
                      </a:r>
                      <a:r>
                        <a:rPr lang="en-US" sz="1000" baseline="0" dirty="0"/>
                        <a:t> risks</a:t>
                      </a:r>
                      <a:endParaRPr lang="en-IN" sz="1000" dirty="0"/>
                    </a:p>
                  </a:txBody>
                  <a:tcPr/>
                </a:tc>
                <a:extLst>
                  <a:ext uri="{0D108BD9-81ED-4DB2-BD59-A6C34878D82A}">
                    <a16:rowId xmlns:a16="http://schemas.microsoft.com/office/drawing/2014/main" val="3995669302"/>
                  </a:ext>
                </a:extLst>
              </a:tr>
              <a:tr h="370840">
                <a:tc>
                  <a:txBody>
                    <a:bodyPr/>
                    <a:lstStyle/>
                    <a:p>
                      <a:pPr>
                        <a:spcAft>
                          <a:spcPts val="500"/>
                        </a:spcAft>
                      </a:pPr>
                      <a:r>
                        <a:rPr lang="en-US" sz="1000" dirty="0"/>
                        <a:t>1</a:t>
                      </a:r>
                      <a:endParaRPr lang="en-IN" sz="1000" dirty="0"/>
                    </a:p>
                  </a:txBody>
                  <a:tcPr/>
                </a:tc>
                <a:tc>
                  <a:txBody>
                    <a:bodyPr/>
                    <a:lstStyle/>
                    <a:p>
                      <a:pPr>
                        <a:spcAft>
                          <a:spcPts val="500"/>
                        </a:spcAft>
                      </a:pPr>
                      <a:r>
                        <a:rPr lang="en-US" sz="1000" dirty="0"/>
                        <a:t>Term</a:t>
                      </a:r>
                      <a:endParaRPr lang="en-IN" sz="1000" dirty="0"/>
                    </a:p>
                  </a:txBody>
                  <a:tcPr/>
                </a:tc>
                <a:tc>
                  <a:txBody>
                    <a:bodyPr/>
                    <a:lstStyle/>
                    <a:p>
                      <a:pPr marL="171450" indent="-171450" algn="just">
                        <a:spcAft>
                          <a:spcPts val="500"/>
                        </a:spcAft>
                        <a:buFont typeface="Arial" panose="020B0604020202020204" pitchFamily="34" charset="0"/>
                        <a:buChar char="•"/>
                      </a:pPr>
                      <a:r>
                        <a:rPr lang="en-US" sz="1000" dirty="0"/>
                        <a:t>Agreement commences from the Project Effective Date i.e. when all project agreements have been executed till the expiry of the PPA</a:t>
                      </a:r>
                    </a:p>
                    <a:p>
                      <a:pPr marL="171450" indent="-171450" algn="just">
                        <a:spcAft>
                          <a:spcPts val="500"/>
                        </a:spcAft>
                        <a:buFont typeface="Arial" panose="020B0604020202020204" pitchFamily="34" charset="0"/>
                        <a:buChar char="•"/>
                      </a:pPr>
                      <a:r>
                        <a:rPr lang="en-US" sz="1000" dirty="0"/>
                        <a:t>Before 15 years, the parties may mutually decide to extend the term of the agreement. Else it shall expire at the end of the Contract period.</a:t>
                      </a:r>
                      <a:endParaRPr lang="en-IN" sz="1000" dirty="0"/>
                    </a:p>
                  </a:txBody>
                  <a:tcPr/>
                </a:tc>
                <a:tc>
                  <a:txBody>
                    <a:bodyPr/>
                    <a:lstStyle/>
                    <a:p>
                      <a:pPr marL="0" indent="0" algn="just">
                        <a:spcAft>
                          <a:spcPts val="500"/>
                        </a:spcAft>
                        <a:buFont typeface="Arial" panose="020B0604020202020204" pitchFamily="34" charset="0"/>
                        <a:buNone/>
                      </a:pPr>
                      <a:r>
                        <a:rPr lang="en-US" sz="1000" dirty="0"/>
                        <a:t>The term is subject to availability of gas; which is a risk as in case if</a:t>
                      </a:r>
                      <a:r>
                        <a:rPr lang="en-US" sz="1000" baseline="0" dirty="0"/>
                        <a:t> gas in not available the term of the agreement would not hold</a:t>
                      </a:r>
                      <a:endParaRPr lang="en-IN" sz="1000" dirty="0"/>
                    </a:p>
                  </a:txBody>
                  <a:tcPr/>
                </a:tc>
                <a:extLst>
                  <a:ext uri="{0D108BD9-81ED-4DB2-BD59-A6C34878D82A}">
                    <a16:rowId xmlns:a16="http://schemas.microsoft.com/office/drawing/2014/main" val="3506387994"/>
                  </a:ext>
                </a:extLst>
              </a:tr>
              <a:tr h="370840">
                <a:tc>
                  <a:txBody>
                    <a:bodyPr/>
                    <a:lstStyle/>
                    <a:p>
                      <a:pPr>
                        <a:spcAft>
                          <a:spcPts val="500"/>
                        </a:spcAft>
                      </a:pPr>
                      <a:r>
                        <a:rPr lang="en-US" sz="1000" dirty="0"/>
                        <a:t>2</a:t>
                      </a:r>
                      <a:endParaRPr lang="en-IN" sz="1000" dirty="0"/>
                    </a:p>
                  </a:txBody>
                  <a:tcPr/>
                </a:tc>
                <a:tc>
                  <a:txBody>
                    <a:bodyPr/>
                    <a:lstStyle/>
                    <a:p>
                      <a:pPr>
                        <a:spcAft>
                          <a:spcPts val="500"/>
                        </a:spcAft>
                      </a:pPr>
                      <a:r>
                        <a:rPr lang="en-IN" sz="1000" dirty="0"/>
                        <a:t>Pricing</a:t>
                      </a:r>
                    </a:p>
                  </a:txBody>
                  <a:tcPr/>
                </a:tc>
                <a:tc>
                  <a:txBody>
                    <a:bodyPr/>
                    <a:lstStyle/>
                    <a:p>
                      <a:pPr marL="171450" indent="-171450" algn="just">
                        <a:spcAft>
                          <a:spcPts val="500"/>
                        </a:spcAft>
                        <a:buFont typeface="Arial" panose="020B0604020202020204" pitchFamily="34" charset="0"/>
                        <a:buChar char="•"/>
                      </a:pPr>
                      <a:r>
                        <a:rPr lang="en-US" sz="1000" dirty="0"/>
                        <a:t>Price - as per the Published Gas Price. In case Published Gas Price is not available, parties may mutually decide on an alternate index within 15 days of discontinuance to the Published Gas Price, otherwise the matter will be referred to an Expert</a:t>
                      </a:r>
                    </a:p>
                    <a:p>
                      <a:pPr marL="171450" indent="-171450" algn="just">
                        <a:spcAft>
                          <a:spcPts val="500"/>
                        </a:spcAft>
                        <a:buFont typeface="Arial" panose="020B0604020202020204" pitchFamily="34" charset="0"/>
                        <a:buChar char="•"/>
                      </a:pPr>
                      <a:r>
                        <a:rPr lang="en-US" sz="1000" dirty="0"/>
                        <a:t>Price Adjustment - Invoice amount will be adjusted to accommodate the deviations from 950 Btu per cubic foot</a:t>
                      </a:r>
                    </a:p>
                    <a:p>
                      <a:pPr marL="171450" indent="-171450" algn="just">
                        <a:spcAft>
                          <a:spcPts val="500"/>
                        </a:spcAft>
                        <a:buFont typeface="Arial" panose="020B0604020202020204" pitchFamily="34" charset="0"/>
                        <a:buChar char="•"/>
                      </a:pPr>
                      <a:r>
                        <a:rPr lang="en-US" sz="1000" dirty="0"/>
                        <a:t>The price will be paid including all delivery, transportation charges and taxes payable</a:t>
                      </a:r>
                    </a:p>
                    <a:p>
                      <a:pPr marL="171450" indent="-171450" algn="just">
                        <a:spcAft>
                          <a:spcPts val="500"/>
                        </a:spcAft>
                        <a:buFont typeface="Arial" panose="020B0604020202020204" pitchFamily="34" charset="0"/>
                        <a:buChar char="•"/>
                      </a:pPr>
                      <a:r>
                        <a:rPr lang="en-US" sz="1000" dirty="0"/>
                        <a:t>Amount paid during any month will be equal to the prevailing gas price multiplied by the number of MSCF of gas delivered</a:t>
                      </a:r>
                      <a:endParaRPr lang="en-IN" sz="1000" dirty="0"/>
                    </a:p>
                  </a:txBody>
                  <a:tcPr/>
                </a:tc>
                <a:tc>
                  <a:txBody>
                    <a:bodyPr/>
                    <a:lstStyle/>
                    <a:p>
                      <a:pPr marL="0" indent="0" algn="just">
                        <a:spcAft>
                          <a:spcPts val="500"/>
                        </a:spcAft>
                        <a:buFont typeface="Arial" panose="020B0604020202020204" pitchFamily="34" charset="0"/>
                        <a:buNone/>
                      </a:pPr>
                      <a:r>
                        <a:rPr lang="en-US" sz="1000" dirty="0"/>
                        <a:t>In case the</a:t>
                      </a:r>
                      <a:r>
                        <a:rPr lang="en-US" sz="1000" baseline="0" dirty="0"/>
                        <a:t> quality is less </a:t>
                      </a:r>
                      <a:r>
                        <a:rPr lang="en-US" sz="1000" dirty="0"/>
                        <a:t>than 900 Btu th</a:t>
                      </a:r>
                      <a:r>
                        <a:rPr lang="en-US" sz="1000" baseline="0" dirty="0"/>
                        <a:t>e gas would not be acceptable, however as mentioned in the PPA Capacity charges would be paid in case of Gas supply Failure. So this is not a risk.</a:t>
                      </a:r>
                      <a:endParaRPr lang="en-IN" sz="1000" dirty="0"/>
                    </a:p>
                  </a:txBody>
                  <a:tcPr/>
                </a:tc>
                <a:extLst>
                  <a:ext uri="{0D108BD9-81ED-4DB2-BD59-A6C34878D82A}">
                    <a16:rowId xmlns:a16="http://schemas.microsoft.com/office/drawing/2014/main" val="4003944313"/>
                  </a:ext>
                </a:extLst>
              </a:tr>
              <a:tr h="370840">
                <a:tc>
                  <a:txBody>
                    <a:bodyPr/>
                    <a:lstStyle/>
                    <a:p>
                      <a:pPr>
                        <a:spcAft>
                          <a:spcPts val="500"/>
                        </a:spcAft>
                      </a:pPr>
                      <a:r>
                        <a:rPr lang="en-US" sz="1000" dirty="0"/>
                        <a:t>3</a:t>
                      </a:r>
                      <a:endParaRPr lang="en-IN" sz="1000" dirty="0"/>
                    </a:p>
                  </a:txBody>
                  <a:tcPr/>
                </a:tc>
                <a:tc>
                  <a:txBody>
                    <a:bodyPr/>
                    <a:lstStyle/>
                    <a:p>
                      <a:pPr>
                        <a:spcAft>
                          <a:spcPts val="500"/>
                        </a:spcAft>
                      </a:pPr>
                      <a:r>
                        <a:rPr lang="en-US" sz="1000" dirty="0"/>
                        <a:t>Billing</a:t>
                      </a:r>
                      <a:r>
                        <a:rPr lang="en-US" sz="1000" baseline="0" dirty="0"/>
                        <a:t> and Payment</a:t>
                      </a:r>
                      <a:endParaRPr lang="en-IN" sz="1000" dirty="0"/>
                    </a:p>
                  </a:txBody>
                  <a:tcPr/>
                </a:tc>
                <a:tc>
                  <a:txBody>
                    <a:bodyPr/>
                    <a:lstStyle/>
                    <a:p>
                      <a:pPr marL="171450" indent="-171450" algn="just">
                        <a:spcAft>
                          <a:spcPts val="500"/>
                        </a:spcAft>
                        <a:buFont typeface="Arial" panose="020B0604020202020204" pitchFamily="34" charset="0"/>
                        <a:buChar char="•"/>
                      </a:pPr>
                      <a:r>
                        <a:rPr lang="en-US" sz="1000" dirty="0"/>
                        <a:t>The Supplier shall raise invoices monthly, on or after 7 days after end of month with a due date of 32 days for the Company to make the payment. </a:t>
                      </a:r>
                    </a:p>
                    <a:p>
                      <a:pPr marL="171450" indent="-171450" algn="just">
                        <a:spcAft>
                          <a:spcPts val="500"/>
                        </a:spcAft>
                        <a:buFont typeface="Arial" panose="020B0604020202020204" pitchFamily="34" charset="0"/>
                        <a:buChar char="•"/>
                      </a:pPr>
                      <a:r>
                        <a:rPr lang="en-US" sz="1000" dirty="0"/>
                        <a:t>No dispute can be raised by the Company for a meter inaccuracy of less than 2%</a:t>
                      </a:r>
                    </a:p>
                    <a:p>
                      <a:pPr marL="171450" indent="-171450" algn="just">
                        <a:spcAft>
                          <a:spcPts val="500"/>
                        </a:spcAft>
                        <a:buFont typeface="Arial" panose="020B0604020202020204" pitchFamily="34" charset="0"/>
                        <a:buChar char="•"/>
                      </a:pPr>
                      <a:r>
                        <a:rPr lang="en-US" sz="1000" dirty="0"/>
                        <a:t>Late Payment - Interest payable at Bangladesh Bank Rate plus 2% per annum </a:t>
                      </a:r>
                    </a:p>
                    <a:p>
                      <a:pPr marL="171450" indent="-171450" algn="just">
                        <a:spcAft>
                          <a:spcPts val="500"/>
                        </a:spcAft>
                        <a:buFont typeface="Arial" panose="020B0604020202020204" pitchFamily="34" charset="0"/>
                        <a:buChar char="•"/>
                      </a:pPr>
                      <a:r>
                        <a:rPr lang="en-US" sz="1000" dirty="0"/>
                        <a:t>Payment Dispute: Invoices should be disputed within 180 days and after dispute resolution through an Expert or arbitration, the disputed amount shall be paid within 3 business days </a:t>
                      </a:r>
                    </a:p>
                    <a:p>
                      <a:pPr marL="171450" indent="-171450" algn="just">
                        <a:spcAft>
                          <a:spcPts val="500"/>
                        </a:spcAft>
                        <a:buFont typeface="Arial" panose="020B0604020202020204" pitchFamily="34" charset="0"/>
                        <a:buChar char="•"/>
                      </a:pPr>
                      <a:r>
                        <a:rPr lang="en-US" sz="1000" dirty="0"/>
                        <a:t>The supplier may suspend delivery if the undisputed amount remains unpaid for 3 days unless the company provides a Letter of Credit for an amount equal to 1.5 times the invoice amount with a validity of 60 days. The supplier may suspend delivery and encash LC if amount remains unpaid for 45 days after invoice date</a:t>
                      </a:r>
                      <a:endParaRPr lang="en-IN" sz="1000" dirty="0"/>
                    </a:p>
                  </a:txBody>
                  <a:tcPr/>
                </a:tc>
                <a:tc>
                  <a:txBody>
                    <a:bodyPr/>
                    <a:lstStyle/>
                    <a:p>
                      <a:pPr marL="171450" indent="-171450" algn="just">
                        <a:spcAft>
                          <a:spcPts val="500"/>
                        </a:spcAft>
                        <a:buFont typeface="Arial" panose="020B0604020202020204" pitchFamily="34" charset="0"/>
                        <a:buChar char="•"/>
                      </a:pPr>
                      <a:r>
                        <a:rPr lang="en-US" sz="1000" dirty="0"/>
                        <a:t>There is no performance guarantee from the supplier</a:t>
                      </a:r>
                    </a:p>
                    <a:p>
                      <a:pPr marL="171450" indent="-171450" algn="just">
                        <a:spcAft>
                          <a:spcPts val="500"/>
                        </a:spcAft>
                        <a:buFont typeface="Arial" panose="020B0604020202020204" pitchFamily="34" charset="0"/>
                        <a:buChar char="•"/>
                      </a:pPr>
                      <a:r>
                        <a:rPr lang="en-US" sz="1000" dirty="0"/>
                        <a:t>Late payment fee applicable which is not there in case of the PPA</a:t>
                      </a:r>
                      <a:endParaRPr lang="en-IN" sz="1000" dirty="0"/>
                    </a:p>
                  </a:txBody>
                  <a:tcPr/>
                </a:tc>
                <a:extLst>
                  <a:ext uri="{0D108BD9-81ED-4DB2-BD59-A6C34878D82A}">
                    <a16:rowId xmlns:a16="http://schemas.microsoft.com/office/drawing/2014/main" val="3019819264"/>
                  </a:ext>
                </a:extLst>
              </a:tr>
            </a:tbl>
          </a:graphicData>
        </a:graphic>
      </p:graphicFrame>
      <p:sp>
        <p:nvSpPr>
          <p:cNvPr id="4"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Key risks in GSA</a:t>
            </a:r>
          </a:p>
        </p:txBody>
      </p:sp>
      <p:sp>
        <p:nvSpPr>
          <p:cNvPr id="5" name="Rectangle 4"/>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GSA, Deloitte Analysis</a:t>
            </a:r>
          </a:p>
        </p:txBody>
      </p:sp>
    </p:spTree>
    <p:extLst>
      <p:ext uri="{BB962C8B-B14F-4D97-AF65-F5344CB8AC3E}">
        <p14:creationId xmlns:p14="http://schemas.microsoft.com/office/powerpoint/2010/main" val="3902541741"/>
      </p:ext>
    </p:extLst>
  </p:cSld>
  <p:clrMapOvr>
    <a:masterClrMapping/>
  </p:clrMapOvr>
  <p:transition>
    <p:fade/>
  </p:transition>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Gas Supply Agreement| Key Terms</a:t>
            </a:r>
            <a:endParaRPr lang="en-IN" dirty="0"/>
          </a:p>
        </p:txBody>
      </p:sp>
      <p:graphicFrame>
        <p:nvGraphicFramePr>
          <p:cNvPr id="3" name="Table 2"/>
          <p:cNvGraphicFramePr>
            <a:graphicFrameLocks noGrp="1"/>
          </p:cNvGraphicFramePr>
          <p:nvPr>
            <p:extLst>
              <p:ext uri="{D42A27DB-BD31-4B8C-83A1-F6EECF244321}">
                <p14:modId xmlns:p14="http://schemas.microsoft.com/office/powerpoint/2010/main" val="2441472421"/>
              </p:ext>
            </p:extLst>
          </p:nvPr>
        </p:nvGraphicFramePr>
        <p:xfrm>
          <a:off x="449992" y="1609950"/>
          <a:ext cx="9791843" cy="3462020"/>
        </p:xfrm>
        <a:graphic>
          <a:graphicData uri="http://schemas.openxmlformats.org/drawingml/2006/table">
            <a:tbl>
              <a:tblPr firstRow="1">
                <a:tableStyleId>{3B4B98B0-60AC-42C2-AFA5-B58CD77FA1E5}</a:tableStyleId>
              </a:tblPr>
              <a:tblGrid>
                <a:gridCol w="553860">
                  <a:extLst>
                    <a:ext uri="{9D8B030D-6E8A-4147-A177-3AD203B41FA5}">
                      <a16:colId xmlns:a16="http://schemas.microsoft.com/office/drawing/2014/main" val="3671827557"/>
                    </a:ext>
                  </a:extLst>
                </a:gridCol>
                <a:gridCol w="1023731">
                  <a:extLst>
                    <a:ext uri="{9D8B030D-6E8A-4147-A177-3AD203B41FA5}">
                      <a16:colId xmlns:a16="http://schemas.microsoft.com/office/drawing/2014/main" val="2911403996"/>
                    </a:ext>
                  </a:extLst>
                </a:gridCol>
                <a:gridCol w="6748669">
                  <a:extLst>
                    <a:ext uri="{9D8B030D-6E8A-4147-A177-3AD203B41FA5}">
                      <a16:colId xmlns:a16="http://schemas.microsoft.com/office/drawing/2014/main" val="1355348493"/>
                    </a:ext>
                  </a:extLst>
                </a:gridCol>
                <a:gridCol w="1465583">
                  <a:extLst>
                    <a:ext uri="{9D8B030D-6E8A-4147-A177-3AD203B41FA5}">
                      <a16:colId xmlns:a16="http://schemas.microsoft.com/office/drawing/2014/main" val="3999508094"/>
                    </a:ext>
                  </a:extLst>
                </a:gridCol>
              </a:tblGrid>
              <a:tr h="370840">
                <a:tc>
                  <a:txBody>
                    <a:bodyPr/>
                    <a:lstStyle/>
                    <a:p>
                      <a:pPr>
                        <a:spcAft>
                          <a:spcPts val="500"/>
                        </a:spcAft>
                      </a:pPr>
                      <a:r>
                        <a:rPr lang="en-US" sz="1000" dirty="0"/>
                        <a:t>Sr. No`</a:t>
                      </a:r>
                      <a:endParaRPr lang="en-IN" sz="1000" dirty="0"/>
                    </a:p>
                  </a:txBody>
                  <a:tcPr/>
                </a:tc>
                <a:tc>
                  <a:txBody>
                    <a:bodyPr/>
                    <a:lstStyle/>
                    <a:p>
                      <a:pPr>
                        <a:spcAft>
                          <a:spcPts val="500"/>
                        </a:spcAft>
                      </a:pPr>
                      <a:r>
                        <a:rPr lang="en-US" sz="1000" dirty="0"/>
                        <a:t>Parameter</a:t>
                      </a:r>
                      <a:endParaRPr lang="en-IN" sz="1000" dirty="0"/>
                    </a:p>
                  </a:txBody>
                  <a:tcPr/>
                </a:tc>
                <a:tc>
                  <a:txBody>
                    <a:bodyPr/>
                    <a:lstStyle/>
                    <a:p>
                      <a:pPr>
                        <a:spcAft>
                          <a:spcPts val="500"/>
                        </a:spcAft>
                      </a:pPr>
                      <a:r>
                        <a:rPr lang="en-US" sz="1000" dirty="0"/>
                        <a:t>Conditions</a:t>
                      </a:r>
                      <a:endParaRPr lang="en-IN" sz="1000" dirty="0"/>
                    </a:p>
                  </a:txBody>
                  <a:tcPr/>
                </a:tc>
                <a:tc>
                  <a:txBody>
                    <a:bodyPr/>
                    <a:lstStyle/>
                    <a:p>
                      <a:pPr>
                        <a:spcAft>
                          <a:spcPts val="500"/>
                        </a:spcAft>
                      </a:pPr>
                      <a:r>
                        <a:rPr lang="en-US" sz="1000" dirty="0"/>
                        <a:t>Key</a:t>
                      </a:r>
                      <a:r>
                        <a:rPr lang="en-US" sz="1000" baseline="0" dirty="0"/>
                        <a:t> risks</a:t>
                      </a:r>
                      <a:endParaRPr lang="en-IN" sz="1000" dirty="0"/>
                    </a:p>
                  </a:txBody>
                  <a:tcPr/>
                </a:tc>
                <a:extLst>
                  <a:ext uri="{0D108BD9-81ED-4DB2-BD59-A6C34878D82A}">
                    <a16:rowId xmlns:a16="http://schemas.microsoft.com/office/drawing/2014/main" val="3995669302"/>
                  </a:ext>
                </a:extLst>
              </a:tr>
              <a:tr h="370840">
                <a:tc>
                  <a:txBody>
                    <a:bodyPr/>
                    <a:lstStyle/>
                    <a:p>
                      <a:pPr>
                        <a:spcAft>
                          <a:spcPts val="500"/>
                        </a:spcAft>
                      </a:pPr>
                      <a:r>
                        <a:rPr lang="en-US" sz="1000" dirty="0"/>
                        <a:t>4</a:t>
                      </a:r>
                      <a:endParaRPr lang="en-IN" sz="1000" dirty="0"/>
                    </a:p>
                  </a:txBody>
                  <a:tcPr/>
                </a:tc>
                <a:tc>
                  <a:txBody>
                    <a:bodyPr/>
                    <a:lstStyle/>
                    <a:p>
                      <a:pPr>
                        <a:spcAft>
                          <a:spcPts val="500"/>
                        </a:spcAft>
                      </a:pPr>
                      <a:r>
                        <a:rPr lang="en-US" sz="1000" dirty="0"/>
                        <a:t>Liquidated Damages</a:t>
                      </a:r>
                      <a:endParaRPr lang="en-IN" sz="1000" dirty="0"/>
                    </a:p>
                  </a:txBody>
                  <a:tcPr/>
                </a:tc>
                <a:tc>
                  <a:txBody>
                    <a:bodyPr/>
                    <a:lstStyle/>
                    <a:p>
                      <a:pPr marL="0" indent="0" algn="just">
                        <a:spcAft>
                          <a:spcPts val="500"/>
                        </a:spcAft>
                        <a:buFont typeface="Arial" panose="020B0604020202020204" pitchFamily="34" charset="0"/>
                        <a:buNone/>
                      </a:pPr>
                      <a:r>
                        <a:rPr lang="en-US" sz="1000" b="1" dirty="0"/>
                        <a:t>Payable by Gas Supplier</a:t>
                      </a:r>
                      <a:r>
                        <a:rPr lang="en-US" sz="1000" dirty="0"/>
                        <a:t>: For outage and interruptions in transportation facilities beyond the permitted maintenance (876/1376</a:t>
                      </a:r>
                      <a:r>
                        <a:rPr lang="en-US" sz="1000" baseline="0" dirty="0"/>
                        <a:t> hours)</a:t>
                      </a:r>
                      <a:endParaRPr lang="en-US" sz="1000" dirty="0"/>
                    </a:p>
                    <a:p>
                      <a:pPr marL="0" indent="0" algn="just">
                        <a:spcAft>
                          <a:spcPts val="500"/>
                        </a:spcAft>
                        <a:buFont typeface="Arial" panose="020B0604020202020204" pitchFamily="34" charset="0"/>
                        <a:buNone/>
                      </a:pPr>
                      <a:r>
                        <a:rPr lang="en-US" sz="1000" dirty="0"/>
                        <a:t>1. Applicable in case failure of supplier to deliver gas due to transportation facilities failure other than due to Force Majeure or a Political Event, LD = Capacity Charges</a:t>
                      </a:r>
                      <a:r>
                        <a:rPr lang="en-US" sz="1000" baseline="0" dirty="0"/>
                        <a:t> </a:t>
                      </a:r>
                      <a:r>
                        <a:rPr lang="en-US" sz="1000" dirty="0"/>
                        <a:t>+ any liquidated damages payable by the Company under the PPA</a:t>
                      </a:r>
                    </a:p>
                    <a:p>
                      <a:pPr marL="0" indent="0" algn="just">
                        <a:spcAft>
                          <a:spcPts val="500"/>
                        </a:spcAft>
                        <a:buFont typeface="Arial" panose="020B0604020202020204" pitchFamily="34" charset="0"/>
                        <a:buNone/>
                      </a:pPr>
                      <a:r>
                        <a:rPr lang="en-US" sz="1000" b="1" dirty="0"/>
                        <a:t>Payable by the Company:</a:t>
                      </a:r>
                    </a:p>
                    <a:p>
                      <a:pPr marL="0" indent="0" algn="just">
                        <a:spcAft>
                          <a:spcPts val="500"/>
                        </a:spcAft>
                        <a:buFont typeface="Arial" panose="020B0604020202020204" pitchFamily="34" charset="0"/>
                        <a:buNone/>
                      </a:pPr>
                      <a:r>
                        <a:rPr lang="en-US" sz="1000" dirty="0"/>
                        <a:t>1. If A. Scheduled outages + B. maintenance outages + C. forced outages + D. Delay lost energy &gt; Threshold level (876 hours or 1376 hours for major maintenance years)</a:t>
                      </a:r>
                    </a:p>
                    <a:p>
                      <a:pPr marL="0" indent="0" algn="just">
                        <a:spcAft>
                          <a:spcPts val="500"/>
                        </a:spcAft>
                        <a:buFont typeface="Arial" panose="020B0604020202020204" pitchFamily="34" charset="0"/>
                        <a:buNone/>
                      </a:pPr>
                      <a:r>
                        <a:rPr lang="en-US" sz="1000" dirty="0"/>
                        <a:t>LD = Avg</a:t>
                      </a:r>
                      <a:r>
                        <a:rPr lang="en-US" sz="1000" baseline="0" dirty="0"/>
                        <a:t> Gas Price </a:t>
                      </a:r>
                      <a:r>
                        <a:rPr lang="en-US" sz="1000" dirty="0"/>
                        <a:t>*</a:t>
                      </a:r>
                      <a:r>
                        <a:rPr lang="en-US" sz="1000" baseline="0" dirty="0"/>
                        <a:t> Hourly Supply Quantity </a:t>
                      </a:r>
                      <a:r>
                        <a:rPr lang="en-US" sz="1000" dirty="0"/>
                        <a:t>*0.05*((A+B+C+D) -TL))</a:t>
                      </a:r>
                    </a:p>
                    <a:p>
                      <a:pPr marL="0" indent="0" algn="just">
                        <a:spcAft>
                          <a:spcPts val="500"/>
                        </a:spcAft>
                        <a:buFont typeface="Arial" panose="020B0604020202020204" pitchFamily="34" charset="0"/>
                        <a:buNone/>
                      </a:pPr>
                      <a:endParaRPr lang="en-US" sz="1000" dirty="0"/>
                    </a:p>
                    <a:p>
                      <a:pPr marL="0" indent="0" algn="just">
                        <a:spcAft>
                          <a:spcPts val="500"/>
                        </a:spcAft>
                        <a:buFont typeface="Arial" panose="020B0604020202020204" pitchFamily="34" charset="0"/>
                        <a:buNone/>
                      </a:pPr>
                      <a:r>
                        <a:rPr lang="en-US" sz="1000" dirty="0"/>
                        <a:t>In case aggregate supply is more is greater than Annual Threshold Quantity then no LD shall be paid. Also LD is capped at (Annual Threshold Quantity- Actual Delivered)*Gas price</a:t>
                      </a:r>
                    </a:p>
                    <a:p>
                      <a:pPr marL="0" indent="0" algn="just">
                        <a:spcAft>
                          <a:spcPts val="500"/>
                        </a:spcAft>
                        <a:buFont typeface="Arial" panose="020B0604020202020204" pitchFamily="34" charset="0"/>
                        <a:buNone/>
                      </a:pPr>
                      <a:r>
                        <a:rPr lang="en-US" sz="1000" dirty="0"/>
                        <a:t>Annual Threshold</a:t>
                      </a:r>
                      <a:r>
                        <a:rPr lang="en-US" sz="1000" baseline="0" dirty="0"/>
                        <a:t> Capacity: 50% of the hourly contract quantity (1458 MSCF of gas/hour)  x 7884 hours</a:t>
                      </a:r>
                      <a:endParaRPr lang="en-IN" sz="1000" dirty="0"/>
                    </a:p>
                  </a:txBody>
                  <a:tcPr/>
                </a:tc>
                <a:tc>
                  <a:txBody>
                    <a:bodyPr/>
                    <a:lstStyle/>
                    <a:p>
                      <a:pPr marL="0" indent="0" algn="just">
                        <a:spcAft>
                          <a:spcPts val="500"/>
                        </a:spcAft>
                        <a:buFont typeface="Arial" panose="020B0604020202020204" pitchFamily="34" charset="0"/>
                        <a:buNone/>
                      </a:pPr>
                      <a:endParaRPr lang="en-IN" sz="1000" dirty="0"/>
                    </a:p>
                  </a:txBody>
                  <a:tcPr/>
                </a:tc>
                <a:extLst>
                  <a:ext uri="{0D108BD9-81ED-4DB2-BD59-A6C34878D82A}">
                    <a16:rowId xmlns:a16="http://schemas.microsoft.com/office/drawing/2014/main" val="3506387994"/>
                  </a:ext>
                </a:extLst>
              </a:tr>
              <a:tr h="370840">
                <a:tc>
                  <a:txBody>
                    <a:bodyPr/>
                    <a:lstStyle/>
                    <a:p>
                      <a:pPr>
                        <a:spcAft>
                          <a:spcPts val="500"/>
                        </a:spcAft>
                      </a:pPr>
                      <a:r>
                        <a:rPr lang="en-US" sz="1000" dirty="0"/>
                        <a:t>5</a:t>
                      </a:r>
                      <a:endParaRPr lang="en-IN" sz="1000" dirty="0"/>
                    </a:p>
                  </a:txBody>
                  <a:tcPr/>
                </a:tc>
                <a:tc>
                  <a:txBody>
                    <a:bodyPr/>
                    <a:lstStyle/>
                    <a:p>
                      <a:pPr>
                        <a:spcAft>
                          <a:spcPts val="500"/>
                        </a:spcAft>
                      </a:pPr>
                      <a:r>
                        <a:rPr lang="en-US" sz="1000" dirty="0"/>
                        <a:t>FM/PE Events </a:t>
                      </a:r>
                      <a:endParaRPr lang="en-IN" sz="1000" dirty="0"/>
                    </a:p>
                  </a:txBody>
                  <a:tcPr/>
                </a:tc>
                <a:tc>
                  <a:txBody>
                    <a:bodyPr/>
                    <a:lstStyle/>
                    <a:p>
                      <a:pPr marL="0" indent="0" algn="just">
                        <a:spcAft>
                          <a:spcPts val="500"/>
                        </a:spcAft>
                        <a:buFont typeface="Arial" panose="020B0604020202020204" pitchFamily="34" charset="0"/>
                        <a:buNone/>
                      </a:pPr>
                      <a:r>
                        <a:rPr lang="en-IN" sz="1000" dirty="0"/>
                        <a:t>In case of FM/PE event BPDB</a:t>
                      </a:r>
                      <a:r>
                        <a:rPr lang="en-IN" sz="1000" baseline="0" dirty="0"/>
                        <a:t> can provide an option for switching to liquid fuel or cessation of plant. In case of later BPDB shall continue to pay Capacity charges.</a:t>
                      </a:r>
                      <a:endParaRPr lang="en-IN" sz="1000" dirty="0"/>
                    </a:p>
                  </a:txBody>
                  <a:tcPr/>
                </a:tc>
                <a:tc>
                  <a:txBody>
                    <a:bodyPr/>
                    <a:lstStyle/>
                    <a:p>
                      <a:pPr marL="0" indent="0" algn="just">
                        <a:spcAft>
                          <a:spcPts val="500"/>
                        </a:spcAft>
                        <a:buFont typeface="Arial" panose="020B0604020202020204" pitchFamily="34" charset="0"/>
                        <a:buNone/>
                      </a:pPr>
                      <a:endParaRPr lang="en-IN" sz="1000" dirty="0"/>
                    </a:p>
                  </a:txBody>
                  <a:tcPr/>
                </a:tc>
                <a:extLst>
                  <a:ext uri="{0D108BD9-81ED-4DB2-BD59-A6C34878D82A}">
                    <a16:rowId xmlns:a16="http://schemas.microsoft.com/office/drawing/2014/main" val="449650405"/>
                  </a:ext>
                </a:extLst>
              </a:tr>
            </a:tbl>
          </a:graphicData>
        </a:graphic>
      </p:graphicFrame>
      <p:sp>
        <p:nvSpPr>
          <p:cNvPr id="4"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Key risks in GSA</a:t>
            </a:r>
          </a:p>
        </p:txBody>
      </p:sp>
      <p:sp>
        <p:nvSpPr>
          <p:cNvPr id="5" name="Rectangle 4"/>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GSA, Deloitte Analysis</a:t>
            </a:r>
          </a:p>
        </p:txBody>
      </p:sp>
    </p:spTree>
    <p:extLst>
      <p:ext uri="{BB962C8B-B14F-4D97-AF65-F5344CB8AC3E}">
        <p14:creationId xmlns:p14="http://schemas.microsoft.com/office/powerpoint/2010/main" val="3971030672"/>
      </p:ext>
    </p:extLst>
  </p:cSld>
  <p:clrMapOvr>
    <a:masterClrMapping/>
  </p:clrMapOvr>
  <p:transition>
    <p:fade/>
  </p:transition>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Gas Supply Agreement| Key Terms</a:t>
            </a:r>
            <a:endParaRPr lang="en-IN" dirty="0"/>
          </a:p>
        </p:txBody>
      </p:sp>
      <p:graphicFrame>
        <p:nvGraphicFramePr>
          <p:cNvPr id="3" name="Table 2"/>
          <p:cNvGraphicFramePr>
            <a:graphicFrameLocks noGrp="1"/>
          </p:cNvGraphicFramePr>
          <p:nvPr>
            <p:extLst>
              <p:ext uri="{D42A27DB-BD31-4B8C-83A1-F6EECF244321}">
                <p14:modId xmlns:p14="http://schemas.microsoft.com/office/powerpoint/2010/main" val="1356673741"/>
              </p:ext>
            </p:extLst>
          </p:nvPr>
        </p:nvGraphicFramePr>
        <p:xfrm>
          <a:off x="449992" y="1609950"/>
          <a:ext cx="9791843" cy="3434080"/>
        </p:xfrm>
        <a:graphic>
          <a:graphicData uri="http://schemas.openxmlformats.org/drawingml/2006/table">
            <a:tbl>
              <a:tblPr firstRow="1">
                <a:tableStyleId>{3B4B98B0-60AC-42C2-AFA5-B58CD77FA1E5}</a:tableStyleId>
              </a:tblPr>
              <a:tblGrid>
                <a:gridCol w="553860">
                  <a:extLst>
                    <a:ext uri="{9D8B030D-6E8A-4147-A177-3AD203B41FA5}">
                      <a16:colId xmlns:a16="http://schemas.microsoft.com/office/drawing/2014/main" val="3671827557"/>
                    </a:ext>
                  </a:extLst>
                </a:gridCol>
                <a:gridCol w="1023731">
                  <a:extLst>
                    <a:ext uri="{9D8B030D-6E8A-4147-A177-3AD203B41FA5}">
                      <a16:colId xmlns:a16="http://schemas.microsoft.com/office/drawing/2014/main" val="2911403996"/>
                    </a:ext>
                  </a:extLst>
                </a:gridCol>
                <a:gridCol w="6748669">
                  <a:extLst>
                    <a:ext uri="{9D8B030D-6E8A-4147-A177-3AD203B41FA5}">
                      <a16:colId xmlns:a16="http://schemas.microsoft.com/office/drawing/2014/main" val="1355348493"/>
                    </a:ext>
                  </a:extLst>
                </a:gridCol>
                <a:gridCol w="1465583">
                  <a:extLst>
                    <a:ext uri="{9D8B030D-6E8A-4147-A177-3AD203B41FA5}">
                      <a16:colId xmlns:a16="http://schemas.microsoft.com/office/drawing/2014/main" val="3999508094"/>
                    </a:ext>
                  </a:extLst>
                </a:gridCol>
              </a:tblGrid>
              <a:tr h="370840">
                <a:tc>
                  <a:txBody>
                    <a:bodyPr/>
                    <a:lstStyle/>
                    <a:p>
                      <a:pPr>
                        <a:spcAft>
                          <a:spcPts val="500"/>
                        </a:spcAft>
                      </a:pPr>
                      <a:r>
                        <a:rPr lang="en-US" sz="1000" dirty="0"/>
                        <a:t>Sr. No`</a:t>
                      </a:r>
                      <a:endParaRPr lang="en-IN" sz="1000" dirty="0"/>
                    </a:p>
                  </a:txBody>
                  <a:tcPr/>
                </a:tc>
                <a:tc>
                  <a:txBody>
                    <a:bodyPr/>
                    <a:lstStyle/>
                    <a:p>
                      <a:pPr>
                        <a:spcAft>
                          <a:spcPts val="500"/>
                        </a:spcAft>
                      </a:pPr>
                      <a:r>
                        <a:rPr lang="en-US" sz="1000" dirty="0"/>
                        <a:t>Parameter</a:t>
                      </a:r>
                      <a:endParaRPr lang="en-IN" sz="1000" dirty="0"/>
                    </a:p>
                  </a:txBody>
                  <a:tcPr/>
                </a:tc>
                <a:tc>
                  <a:txBody>
                    <a:bodyPr/>
                    <a:lstStyle/>
                    <a:p>
                      <a:pPr>
                        <a:spcAft>
                          <a:spcPts val="500"/>
                        </a:spcAft>
                      </a:pPr>
                      <a:r>
                        <a:rPr lang="en-US" sz="1000" dirty="0"/>
                        <a:t>Conditions</a:t>
                      </a:r>
                      <a:endParaRPr lang="en-IN" sz="1000" dirty="0"/>
                    </a:p>
                  </a:txBody>
                  <a:tcPr/>
                </a:tc>
                <a:tc>
                  <a:txBody>
                    <a:bodyPr/>
                    <a:lstStyle/>
                    <a:p>
                      <a:pPr>
                        <a:spcAft>
                          <a:spcPts val="500"/>
                        </a:spcAft>
                      </a:pPr>
                      <a:r>
                        <a:rPr lang="en-US" sz="1000" dirty="0"/>
                        <a:t>Key</a:t>
                      </a:r>
                      <a:r>
                        <a:rPr lang="en-US" sz="1000" baseline="0" dirty="0"/>
                        <a:t> risks</a:t>
                      </a:r>
                      <a:endParaRPr lang="en-IN" sz="1000" dirty="0"/>
                    </a:p>
                  </a:txBody>
                  <a:tcPr/>
                </a:tc>
                <a:extLst>
                  <a:ext uri="{0D108BD9-81ED-4DB2-BD59-A6C34878D82A}">
                    <a16:rowId xmlns:a16="http://schemas.microsoft.com/office/drawing/2014/main" val="3995669302"/>
                  </a:ext>
                </a:extLst>
              </a:tr>
              <a:tr h="370840">
                <a:tc>
                  <a:txBody>
                    <a:bodyPr/>
                    <a:lstStyle/>
                    <a:p>
                      <a:pPr>
                        <a:spcAft>
                          <a:spcPts val="500"/>
                        </a:spcAft>
                      </a:pPr>
                      <a:r>
                        <a:rPr lang="en-US" sz="1000" dirty="0"/>
                        <a:t>6</a:t>
                      </a:r>
                      <a:endParaRPr lang="en-IN" sz="1000" dirty="0"/>
                    </a:p>
                  </a:txBody>
                  <a:tcPr/>
                </a:tc>
                <a:tc>
                  <a:txBody>
                    <a:bodyPr/>
                    <a:lstStyle/>
                    <a:p>
                      <a:pPr>
                        <a:spcAft>
                          <a:spcPts val="500"/>
                        </a:spcAft>
                      </a:pPr>
                      <a:r>
                        <a:rPr lang="en-US" sz="1000" dirty="0"/>
                        <a:t>Gas Supplier event of default</a:t>
                      </a:r>
                      <a:endParaRPr lang="en-IN" sz="1000" dirty="0"/>
                    </a:p>
                  </a:txBody>
                  <a:tcPr/>
                </a:tc>
                <a:tc>
                  <a:txBody>
                    <a:bodyPr/>
                    <a:lstStyle/>
                    <a:p>
                      <a:pPr marL="0" indent="0" algn="just">
                        <a:spcAft>
                          <a:spcPts val="500"/>
                        </a:spcAft>
                        <a:buFont typeface="Arial" panose="020B0604020202020204" pitchFamily="34" charset="0"/>
                        <a:buNone/>
                      </a:pPr>
                      <a:r>
                        <a:rPr lang="en-US" sz="1000" dirty="0"/>
                        <a:t>Company shall give a notice of default in case of following events except when such default is caused due to breach of any of the project agreements by the Company or due to Force Majeure or a Political Event:</a:t>
                      </a:r>
                    </a:p>
                    <a:p>
                      <a:pPr marL="171450" indent="-171450" algn="just">
                        <a:spcAft>
                          <a:spcPts val="500"/>
                        </a:spcAft>
                        <a:buFont typeface="Arial" panose="020B0604020202020204" pitchFamily="34" charset="0"/>
                        <a:buChar char="•"/>
                      </a:pPr>
                      <a:r>
                        <a:rPr lang="en-US" sz="1000" dirty="0"/>
                        <a:t>Assignment of Agreement by the supplier in contravention with the provisions of assignment under the agreement</a:t>
                      </a:r>
                    </a:p>
                    <a:p>
                      <a:pPr marL="171450" indent="-171450" algn="just">
                        <a:spcAft>
                          <a:spcPts val="500"/>
                        </a:spcAft>
                        <a:buFont typeface="Arial" panose="020B0604020202020204" pitchFamily="34" charset="0"/>
                        <a:buChar char="•"/>
                      </a:pPr>
                      <a:r>
                        <a:rPr lang="en-US" sz="1000" dirty="0"/>
                        <a:t>Dissolution of the supplier except for privatization or amalgamation/restructuring/reorganization/corporatization provided a reasonable guarantee to the performance of the succeeding entity and all supplier's obligations have been assigned to the new entity</a:t>
                      </a:r>
                    </a:p>
                    <a:p>
                      <a:pPr marL="171450" indent="-171450" algn="just">
                        <a:spcAft>
                          <a:spcPts val="500"/>
                        </a:spcAft>
                        <a:buFont typeface="Arial" panose="020B0604020202020204" pitchFamily="34" charset="0"/>
                        <a:buChar char="•"/>
                      </a:pPr>
                      <a:r>
                        <a:rPr lang="en-US" sz="1000" dirty="0"/>
                        <a:t>Any event of default by GOB, Fuel Supplier or BPDB under their respective agreements </a:t>
                      </a:r>
                    </a:p>
                    <a:p>
                      <a:pPr marL="171450" indent="-171450" algn="just">
                        <a:spcAft>
                          <a:spcPts val="500"/>
                        </a:spcAft>
                        <a:buFont typeface="Arial" panose="020B0604020202020204" pitchFamily="34" charset="0"/>
                        <a:buChar char="•"/>
                      </a:pPr>
                      <a:r>
                        <a:rPr lang="en-US" sz="1000" dirty="0"/>
                        <a:t>Failure of the supplier to commission the transport facility within 30 days after the Required COD</a:t>
                      </a:r>
                    </a:p>
                    <a:p>
                      <a:pPr marL="171450" indent="-171450" algn="just">
                        <a:spcAft>
                          <a:spcPts val="500"/>
                        </a:spcAft>
                        <a:buFont typeface="Arial" panose="020B0604020202020204" pitchFamily="34" charset="0"/>
                        <a:buChar char="•"/>
                      </a:pPr>
                      <a:r>
                        <a:rPr lang="en-US" sz="1000" dirty="0"/>
                        <a:t>Any material breach by BPDB that is not remedied in 30 days after notice from the Company </a:t>
                      </a:r>
                    </a:p>
                    <a:p>
                      <a:pPr marL="171450" indent="-171450" algn="just">
                        <a:spcAft>
                          <a:spcPts val="500"/>
                        </a:spcAft>
                        <a:buFont typeface="Arial" panose="020B0604020202020204" pitchFamily="34" charset="0"/>
                        <a:buChar char="•"/>
                      </a:pPr>
                      <a:r>
                        <a:rPr lang="en-US" sz="1000" dirty="0"/>
                        <a:t>Failure of the Gas Supplier to deliver an aggregate amount of Gas greater than 50% of the aggregate amount of gas shown in the gas order in any 12 month period</a:t>
                      </a:r>
                    </a:p>
                    <a:p>
                      <a:pPr marL="171450" indent="-171450" algn="just">
                        <a:spcAft>
                          <a:spcPts val="500"/>
                        </a:spcAft>
                        <a:buFont typeface="Arial" panose="020B0604020202020204" pitchFamily="34" charset="0"/>
                        <a:buChar char="•"/>
                      </a:pPr>
                      <a:r>
                        <a:rPr lang="en-US" sz="1000" dirty="0"/>
                        <a:t>Incorrect statements, representations, warranties</a:t>
                      </a:r>
                    </a:p>
                    <a:p>
                      <a:pPr marL="171450" indent="-171450" algn="just">
                        <a:spcAft>
                          <a:spcPts val="500"/>
                        </a:spcAft>
                        <a:buFont typeface="Arial" panose="020B0604020202020204" pitchFamily="34" charset="0"/>
                        <a:buChar char="•"/>
                      </a:pPr>
                      <a:r>
                        <a:rPr lang="en-US" sz="1000" dirty="0"/>
                        <a:t>Change in Law making execution unlawful/unenforceable</a:t>
                      </a:r>
                      <a:endParaRPr lang="en-IN" sz="1000" dirty="0"/>
                    </a:p>
                  </a:txBody>
                  <a:tcPr/>
                </a:tc>
                <a:tc>
                  <a:txBody>
                    <a:bodyPr/>
                    <a:lstStyle/>
                    <a:p>
                      <a:pPr marL="0" indent="0" algn="just">
                        <a:spcAft>
                          <a:spcPts val="500"/>
                        </a:spcAft>
                        <a:buFont typeface="Arial" panose="020B0604020202020204" pitchFamily="34" charset="0"/>
                        <a:buNone/>
                      </a:pPr>
                      <a:r>
                        <a:rPr lang="en-US" sz="1000" dirty="0"/>
                        <a:t>Only supply below 50% is Gas Supplier Event of Default </a:t>
                      </a:r>
                      <a:endParaRPr lang="en-IN" sz="1000" dirty="0"/>
                    </a:p>
                  </a:txBody>
                  <a:tcPr/>
                </a:tc>
                <a:extLst>
                  <a:ext uri="{0D108BD9-81ED-4DB2-BD59-A6C34878D82A}">
                    <a16:rowId xmlns:a16="http://schemas.microsoft.com/office/drawing/2014/main" val="449650405"/>
                  </a:ext>
                </a:extLst>
              </a:tr>
            </a:tbl>
          </a:graphicData>
        </a:graphic>
      </p:graphicFrame>
      <p:sp>
        <p:nvSpPr>
          <p:cNvPr id="4"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Key risks in GSA</a:t>
            </a:r>
          </a:p>
        </p:txBody>
      </p:sp>
      <p:sp>
        <p:nvSpPr>
          <p:cNvPr id="5" name="Rectangle 4"/>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GSA, Deloitte Analysis</a:t>
            </a:r>
          </a:p>
        </p:txBody>
      </p:sp>
    </p:spTree>
    <p:extLst>
      <p:ext uri="{BB962C8B-B14F-4D97-AF65-F5344CB8AC3E}">
        <p14:creationId xmlns:p14="http://schemas.microsoft.com/office/powerpoint/2010/main" val="3375339388"/>
      </p:ext>
    </p:extLst>
  </p:cSld>
  <p:clrMapOvr>
    <a:masterClrMapping/>
  </p:clrMapOvr>
  <p:transition>
    <p:fade/>
  </p:transition>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Strapline"/>
          <p:cNvSpPr>
            <a:spLocks noGrp="1"/>
          </p:cNvSpPr>
          <p:nvPr>
            <p:ph type="body" sz="quarter" idx="13"/>
          </p:nvPr>
        </p:nvSpPr>
        <p:spPr>
          <a:xfrm>
            <a:off x="449993" y="1079983"/>
            <a:ext cx="9791843" cy="518392"/>
          </a:xfrm>
        </p:spPr>
        <p:txBody>
          <a:bodyPr lIns="0" tIns="0" rIns="0" bIns="0" anchor="t">
            <a:noAutofit/>
          </a:bodyPr>
          <a:lstStyle/>
          <a:p>
            <a:r>
              <a:rPr lang="en-US" b="1" dirty="0">
                <a:solidFill>
                  <a:schemeClr val="tx1">
                    <a:lumMod val="50000"/>
                    <a:lumOff val="50000"/>
                  </a:schemeClr>
                </a:solidFill>
                <a:latin typeface="Verdana" panose="020B0604030504040204" pitchFamily="34" charset="0"/>
              </a:rPr>
              <a:t>NBBL has a 22 year arrangement with Bangladesh Petroleum Corporation for supply of fuel as a back up fuel</a:t>
            </a:r>
            <a:endParaRPr lang="en-GB" b="1" dirty="0">
              <a:solidFill>
                <a:schemeClr val="tx1">
                  <a:lumMod val="50000"/>
                  <a:lumOff val="50000"/>
                </a:schemeClr>
              </a:solidFill>
              <a:latin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dirty="0">
                <a:solidFill>
                  <a:srgbClr val="000000"/>
                </a:solidFill>
                <a:latin typeface="Verdana" panose="020B0604030504040204" pitchFamily="34" charset="0"/>
              </a:rPr>
              <a:t>Fuel</a:t>
            </a:r>
            <a:r>
              <a:rPr lang="en-GB" noProof="0" dirty="0">
                <a:solidFill>
                  <a:srgbClr val="000000"/>
                </a:solidFill>
                <a:latin typeface="Verdana" panose="020B0604030504040204" pitchFamily="34" charset="0"/>
              </a:rPr>
              <a:t> Supply Agreement | Salient Features</a:t>
            </a:r>
          </a:p>
        </p:txBody>
      </p:sp>
      <p:graphicFrame>
        <p:nvGraphicFramePr>
          <p:cNvPr id="20" name="Table 19"/>
          <p:cNvGraphicFramePr>
            <a:graphicFrameLocks noGrp="1"/>
          </p:cNvGraphicFramePr>
          <p:nvPr>
            <p:custDataLst>
              <p:tags r:id="rId1"/>
            </p:custDataLst>
            <p:extLst>
              <p:ext uri="{D42A27DB-BD31-4B8C-83A1-F6EECF244321}">
                <p14:modId xmlns:p14="http://schemas.microsoft.com/office/powerpoint/2010/main" val="3685470721"/>
              </p:ext>
            </p:extLst>
          </p:nvPr>
        </p:nvGraphicFramePr>
        <p:xfrm>
          <a:off x="449993" y="1961920"/>
          <a:ext cx="4734896" cy="3558636"/>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2955162">
                <a:tc>
                  <a:txBody>
                    <a:bodyPr/>
                    <a:lstStyle/>
                    <a:p>
                      <a:pPr marL="0" indent="0">
                        <a:spcAft>
                          <a:spcPts val="500"/>
                        </a:spcAft>
                        <a:buFont typeface="Arial" panose="020B0604020202020204" pitchFamily="34" charset="0"/>
                        <a:buNone/>
                      </a:pPr>
                      <a:r>
                        <a:rPr lang="en-US" sz="1000" b="1" baseline="0" dirty="0">
                          <a:solidFill>
                            <a:schemeClr val="tx1"/>
                          </a:solidFill>
                        </a:rPr>
                        <a:t>Salient features: </a:t>
                      </a:r>
                    </a:p>
                    <a:p>
                      <a:pPr marL="268288" marR="0" lvl="1"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Term: 22 years, extendable upon mutual agreement</a:t>
                      </a:r>
                    </a:p>
                    <a:p>
                      <a:pPr marL="268288" marR="0" lvl="1"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Point of Delivery: Discharge flange of loading jetty at Barisal/ </a:t>
                      </a:r>
                      <a:r>
                        <a:rPr lang="en-US" sz="1000" b="0" baseline="0" dirty="0" err="1">
                          <a:solidFill>
                            <a:schemeClr val="tx1"/>
                          </a:solidFill>
                        </a:rPr>
                        <a:t>Jhalakati</a:t>
                      </a:r>
                      <a:r>
                        <a:rPr lang="en-US" sz="1000" b="0" baseline="0" dirty="0">
                          <a:solidFill>
                            <a:schemeClr val="tx1"/>
                          </a:solidFill>
                        </a:rPr>
                        <a:t> Depot</a:t>
                      </a:r>
                    </a:p>
                    <a:p>
                      <a:pPr marL="268288" marR="0" lvl="1"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Price: As per price of reference fuel by GOB; inclusive of refinery price, inland freight margin, gross margin, other statutory charges</a:t>
                      </a:r>
                    </a:p>
                    <a:p>
                      <a:pPr marL="268288" marR="0" lvl="1"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Transmission: NBBL responsible for all transportation beyond Receiving Point; Transportation cost recovered from BPDB</a:t>
                      </a:r>
                    </a:p>
                    <a:p>
                      <a:pPr marL="268288" marR="0" lvl="1"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Quantity: Amount of fuel oil equal to 15 days supply for continuous operation of the facility at 80% at the prevailing Dependable Capacity </a:t>
                      </a:r>
                    </a:p>
                    <a:p>
                      <a:pPr marL="268288" marR="0" lvl="1"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Minimum Supply Guarantee:  50% of fuel ordered in any 12 month period</a:t>
                      </a:r>
                    </a:p>
                    <a:p>
                      <a:pPr marL="268288" marR="0" lvl="1"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Termination: Event of default; Force Majeure/Political Event not remedied within 12 months</a:t>
                      </a:r>
                    </a:p>
                    <a:p>
                      <a:pPr marL="268288" marR="0" lvl="1" indent="-171450" algn="l"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baseline="0" dirty="0">
                        <a:solidFill>
                          <a:schemeClr val="tx1"/>
                        </a:solidFill>
                      </a:endParaRPr>
                    </a:p>
                  </a:txBody>
                  <a:tcPr marL="107998" marT="107998">
                    <a:lnL w="12700" cmpd="sng">
                      <a:noFill/>
                    </a:lnL>
                    <a:lnR w="12700" cmpd="sng">
                      <a:noFill/>
                    </a:lnR>
                    <a:lnT w="38100" cap="flat" cmpd="sng" algn="ctr">
                      <a:solidFill>
                        <a:schemeClr val="accent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191631">
                <a:tc>
                  <a:txBody>
                    <a:bodyPr/>
                    <a:lstStyle/>
                    <a:p>
                      <a:pPr marL="0" marR="0" lvl="0" indent="0" algn="l"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0" baseline="0" dirty="0">
                        <a:solidFill>
                          <a:srgbClr val="FF0000"/>
                        </a:solidFill>
                      </a:endParaRPr>
                    </a:p>
                  </a:txBody>
                  <a:tcPr marL="107998" marT="107998">
                    <a:lnL w="12700" cmpd="sng">
                      <a:noFill/>
                    </a:lnL>
                    <a:lnR w="12700" cmpd="sng">
                      <a:noFill/>
                    </a:lnR>
                    <a:lnT w="381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644354327"/>
                  </a:ext>
                </a:extLst>
              </a:tr>
            </a:tbl>
          </a:graphicData>
        </a:graphic>
      </p:graphicFrame>
      <p:sp>
        <p:nvSpPr>
          <p:cNvPr id="23" name="Rectangle 22"/>
          <p:cNvSpPr/>
          <p:nvPr/>
        </p:nvSpPr>
        <p:spPr bwMode="gray">
          <a:xfrm>
            <a:off x="5614404" y="2140823"/>
            <a:ext cx="4399388" cy="2162820"/>
          </a:xfrm>
          <a:prstGeom prst="rect">
            <a:avLst/>
          </a:prstGeom>
          <a:solidFill>
            <a:srgbClr val="F8FBFA"/>
          </a:solidFill>
          <a:ln w="3175" algn="ctr">
            <a:solidFill>
              <a:srgbClr val="C4D600">
                <a:alpha val="61000"/>
              </a:srgbClr>
            </a:solidFill>
            <a:prstDash val="dash"/>
            <a:miter lim="800000"/>
            <a:headEnd/>
            <a:tailEnd/>
          </a:ln>
        </p:spPr>
        <p:txBody>
          <a:bodyPr wrap="square" lIns="88900" tIns="88900" rIns="88900" bIns="88900" rtlCol="0" anchor="t"/>
          <a:lstStyle/>
          <a:p>
            <a:pPr marL="0" marR="0" lvl="0" indent="0" algn="l" defTabSz="914400" rtl="0" eaLnBrk="0" fontAlgn="base" latinLnBrk="0" hangingPunct="0">
              <a:lnSpc>
                <a:spcPct val="100000"/>
              </a:lnSpc>
              <a:spcBef>
                <a:spcPct val="0"/>
              </a:spcBef>
              <a:spcAft>
                <a:spcPct val="0"/>
              </a:spcAft>
              <a:buClrTx/>
              <a:buSzTx/>
              <a:buFont typeface="Wingdings 2" pitchFamily="18" charset="2"/>
              <a:buNone/>
              <a:tabLst/>
              <a:defRPr/>
            </a:pPr>
            <a:r>
              <a:rPr kumimoji="0" lang="en-US" sz="1600" b="1" i="0" u="none" strike="noStrike" kern="1200" cap="none" spc="0" normalizeH="0" baseline="0" noProof="0" dirty="0">
                <a:ln>
                  <a:noFill/>
                </a:ln>
                <a:solidFill>
                  <a:srgbClr val="75787B"/>
                </a:solidFill>
                <a:effectLst/>
                <a:uLnTx/>
                <a:uFillTx/>
                <a:latin typeface="Arial" panose="020B0604020202020204" pitchFamily="34" charset="0"/>
                <a:ea typeface="+mn-ea"/>
                <a:cs typeface="Arial" panose="020B0604020202020204" pitchFamily="34" charset="0"/>
              </a:rPr>
              <a:t>        </a:t>
            </a:r>
            <a:r>
              <a:rPr kumimoji="0" lang="en-US" sz="1200" b="1" i="0" u="none" strike="noStrike" kern="1200" cap="none" spc="0" normalizeH="0" baseline="0" noProof="0" dirty="0">
                <a:ln>
                  <a:noFill/>
                </a:ln>
                <a:solidFill>
                  <a:srgbClr val="75787B">
                    <a:lumMod val="50000"/>
                  </a:srgbClr>
                </a:solidFill>
                <a:effectLst/>
                <a:uLnTx/>
                <a:uFillTx/>
                <a:latin typeface="Verdana"/>
                <a:ea typeface="+mn-ea"/>
                <a:cs typeface="+mn-cs"/>
              </a:rPr>
              <a:t>Key Risks</a:t>
            </a:r>
          </a:p>
          <a:p>
            <a:pPr marL="0" marR="0" lvl="0" indent="0" algn="l" defTabSz="914400" rtl="0" eaLnBrk="0" fontAlgn="base" latinLnBrk="0" hangingPunct="0">
              <a:lnSpc>
                <a:spcPct val="100000"/>
              </a:lnSpc>
              <a:spcBef>
                <a:spcPct val="0"/>
              </a:spcBef>
              <a:spcAft>
                <a:spcPct val="0"/>
              </a:spcAft>
              <a:buClrTx/>
              <a:buSzTx/>
              <a:buFont typeface="Wingdings 2" pitchFamily="18" charset="2"/>
              <a:buNone/>
              <a:tabLst/>
              <a:defRPr/>
            </a:pPr>
            <a:endParaRPr kumimoji="0" lang="en-US" sz="1600" b="1" i="0" u="none" strike="noStrike" kern="1200" cap="none" spc="0" normalizeH="0" baseline="0" noProof="0" dirty="0">
              <a:ln>
                <a:noFill/>
              </a:ln>
              <a:solidFill>
                <a:srgbClr val="75787B"/>
              </a:solidFill>
              <a:effectLst/>
              <a:uLnTx/>
              <a:uFillTx/>
              <a:latin typeface="Arial" panose="020B0604020202020204" pitchFamily="34" charset="0"/>
              <a:ea typeface="+mn-ea"/>
              <a:cs typeface="Arial" panose="020B0604020202020204" pitchFamily="34" charset="0"/>
            </a:endParaRP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Payment for fuel oil needs to be made 3 days before receipt of oil. On the contrary, payment against power supplied to BPDB is made on a monthly basis will a lag of 30 days. Incongruence in payment terms would mean larger working capital lock in.</a:t>
            </a: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NBBL is responsible for transportation of fuel oil from the Receiving Point, unloading at jetty and storage of oil thereafter. Any disruption in the water transportation facility will cause delay in receipt of oil. </a:t>
            </a: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1000" b="0" i="0" u="none" strike="noStrike" kern="1200" cap="none" spc="0" normalizeH="0" baseline="0" noProof="0" dirty="0">
              <a:ln>
                <a:noFill/>
              </a:ln>
              <a:solidFill>
                <a:prstClr val="black"/>
              </a:solidFill>
              <a:effectLst/>
              <a:uLnTx/>
              <a:uFillTx/>
              <a:latin typeface="Verdana"/>
              <a:ea typeface="+mn-ea"/>
              <a:cs typeface="+mn-cs"/>
            </a:endParaRPr>
          </a:p>
        </p:txBody>
      </p:sp>
      <p:grpSp>
        <p:nvGrpSpPr>
          <p:cNvPr id="27" name="Group 26"/>
          <p:cNvGrpSpPr/>
          <p:nvPr/>
        </p:nvGrpSpPr>
        <p:grpSpPr>
          <a:xfrm>
            <a:off x="489749" y="5489343"/>
            <a:ext cx="9791700" cy="1321708"/>
            <a:chOff x="449263" y="3623289"/>
            <a:chExt cx="9791700" cy="1321708"/>
          </a:xfrm>
        </p:grpSpPr>
        <p:sp>
          <p:nvSpPr>
            <p:cNvPr id="29" name="TextBox 28"/>
            <p:cNvSpPr txBox="1"/>
            <p:nvPr/>
          </p:nvSpPr>
          <p:spPr>
            <a:xfrm>
              <a:off x="581729" y="4663179"/>
              <a:ext cx="1284521" cy="153888"/>
            </a:xfrm>
            <a:prstGeom prst="rect">
              <a:avLst/>
            </a:prstGeom>
            <a:noFill/>
          </p:spPr>
          <p:txBody>
            <a:bodyPr wrap="square" lIns="0" tIns="0" rIns="0" bIns="0" rtlCol="0">
              <a:spAutoFit/>
            </a:bodyPr>
            <a:lstStyle/>
            <a:p>
              <a:pPr marL="0" marR="0" lvl="0" indent="0" algn="ctr" defTabSz="787481" rtl="0" eaLnBrk="1" fontAlgn="auto" latinLnBrk="0" hangingPunct="1">
                <a:lnSpc>
                  <a:spcPct val="100000"/>
                </a:lnSpc>
                <a:spcBef>
                  <a:spcPts val="200"/>
                </a:spcBef>
                <a:spcAft>
                  <a:spcPts val="0"/>
                </a:spcAft>
                <a:buClrTx/>
                <a:buSzPct val="100000"/>
                <a:buFontTx/>
                <a:buNone/>
                <a:tabLst/>
                <a:defRPr/>
              </a:pPr>
              <a:r>
                <a:rPr kumimoji="0" lang="en-US" sz="1000" b="1" i="0" u="none" strike="noStrike" kern="1200" cap="none" spc="0" normalizeH="0" baseline="0" noProof="0" dirty="0">
                  <a:ln>
                    <a:noFill/>
                  </a:ln>
                  <a:solidFill>
                    <a:prstClr val="white">
                      <a:lumMod val="50000"/>
                    </a:prstClr>
                  </a:solidFill>
                  <a:effectLst/>
                  <a:uLnTx/>
                  <a:uFillTx/>
                  <a:latin typeface="Verdana"/>
                  <a:ea typeface="+mn-ea"/>
                  <a:cs typeface="+mn-cs"/>
                </a:rPr>
                <a:t>Oil Field</a:t>
              </a:r>
            </a:p>
          </p:txBody>
        </p:sp>
        <p:cxnSp>
          <p:nvCxnSpPr>
            <p:cNvPr id="32" name="Straight Arrow Connector 31"/>
            <p:cNvCxnSpPr>
              <a:stCxn id="5" idx="6"/>
              <a:endCxn id="84" idx="2"/>
            </p:cNvCxnSpPr>
            <p:nvPr/>
          </p:nvCxnSpPr>
          <p:spPr>
            <a:xfrm flipV="1">
              <a:off x="1583990" y="4221560"/>
              <a:ext cx="3351199" cy="30038"/>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8138458" y="4651562"/>
              <a:ext cx="2050739" cy="153888"/>
            </a:xfrm>
            <a:prstGeom prst="rect">
              <a:avLst/>
            </a:prstGeom>
            <a:noFill/>
          </p:spPr>
          <p:txBody>
            <a:bodyPr wrap="square" lIns="0" tIns="0" rIns="0" bIns="0" rtlCol="0">
              <a:spAutoFit/>
            </a:bodyPr>
            <a:lstStyle/>
            <a:p>
              <a:pPr marL="0" marR="0" lvl="0" indent="0" algn="ctr" defTabSz="787481" rtl="0" eaLnBrk="1" fontAlgn="auto" latinLnBrk="0" hangingPunct="1">
                <a:lnSpc>
                  <a:spcPct val="100000"/>
                </a:lnSpc>
                <a:spcBef>
                  <a:spcPts val="600"/>
                </a:spcBef>
                <a:spcAft>
                  <a:spcPts val="0"/>
                </a:spcAft>
                <a:buClrTx/>
                <a:buSzPct val="100000"/>
                <a:buFontTx/>
                <a:buNone/>
                <a:tabLst/>
                <a:defRPr/>
              </a:pPr>
              <a:r>
                <a:rPr kumimoji="0" lang="en-US" sz="1000" b="1" i="0" u="none" strike="noStrike" kern="1200" cap="none" spc="0" normalizeH="0" baseline="0" noProof="0" dirty="0">
                  <a:ln>
                    <a:noFill/>
                  </a:ln>
                  <a:solidFill>
                    <a:prstClr val="white">
                      <a:lumMod val="50000"/>
                    </a:prstClr>
                  </a:solidFill>
                  <a:effectLst/>
                  <a:uLnTx/>
                  <a:uFillTx/>
                  <a:latin typeface="Verdana"/>
                  <a:ea typeface="+mn-ea"/>
                  <a:cs typeface="+mn-cs"/>
                </a:rPr>
                <a:t>NBBL Site Unloading Facility</a:t>
              </a:r>
            </a:p>
          </p:txBody>
        </p:sp>
        <p:sp>
          <p:nvSpPr>
            <p:cNvPr id="39" name="TextBox 38"/>
            <p:cNvSpPr txBox="1"/>
            <p:nvPr/>
          </p:nvSpPr>
          <p:spPr>
            <a:xfrm>
              <a:off x="4404001" y="4600531"/>
              <a:ext cx="1782375" cy="307777"/>
            </a:xfrm>
            <a:prstGeom prst="rect">
              <a:avLst/>
            </a:prstGeom>
            <a:noFill/>
          </p:spPr>
          <p:txBody>
            <a:bodyPr wrap="square" lIns="0" tIns="0" rIns="0" bIns="0" rtlCol="0">
              <a:spAutoFit/>
            </a:bodyPr>
            <a:lstStyle/>
            <a:p>
              <a:pPr marL="0" marR="0" lvl="0" indent="0" algn="ctr" defTabSz="787481" rtl="0" eaLnBrk="1" fontAlgn="auto" latinLnBrk="0" hangingPunct="1">
                <a:lnSpc>
                  <a:spcPct val="100000"/>
                </a:lnSpc>
                <a:spcBef>
                  <a:spcPts val="600"/>
                </a:spcBef>
                <a:spcAft>
                  <a:spcPts val="0"/>
                </a:spcAft>
                <a:buClrTx/>
                <a:buSzPct val="100000"/>
                <a:buFontTx/>
                <a:buNone/>
                <a:tabLst/>
                <a:defRPr/>
              </a:pPr>
              <a:r>
                <a:rPr kumimoji="0" lang="en-US" sz="1000" b="1" i="0" u="none" strike="noStrike" kern="1200" cap="none" spc="0" normalizeH="0" baseline="0" noProof="0" dirty="0">
                  <a:ln>
                    <a:noFill/>
                  </a:ln>
                  <a:solidFill>
                    <a:prstClr val="white">
                      <a:lumMod val="50000"/>
                    </a:prstClr>
                  </a:solidFill>
                  <a:effectLst/>
                  <a:uLnTx/>
                  <a:uFillTx/>
                  <a:latin typeface="Verdana"/>
                  <a:ea typeface="+mn-ea"/>
                  <a:cs typeface="+mn-cs"/>
                </a:rPr>
                <a:t>BPC  (</a:t>
              </a:r>
              <a:r>
                <a:rPr kumimoji="0" lang="en-US" sz="1000" b="1" i="0" u="none" strike="noStrike" kern="1200" cap="none" spc="0" normalizeH="0" baseline="0" noProof="0" dirty="0" err="1">
                  <a:ln>
                    <a:noFill/>
                  </a:ln>
                  <a:solidFill>
                    <a:prstClr val="white">
                      <a:lumMod val="50000"/>
                    </a:prstClr>
                  </a:solidFill>
                  <a:effectLst/>
                  <a:uLnTx/>
                  <a:uFillTx/>
                  <a:latin typeface="Verdana"/>
                  <a:ea typeface="+mn-ea"/>
                  <a:cs typeface="+mn-cs"/>
                </a:rPr>
                <a:t>Jamuna</a:t>
              </a:r>
              <a:r>
                <a:rPr kumimoji="0" lang="en-US" sz="1000" b="1" i="0" u="none" strike="noStrike" kern="1200" cap="none" spc="0" normalizeH="0" baseline="0" noProof="0" dirty="0">
                  <a:ln>
                    <a:noFill/>
                  </a:ln>
                  <a:solidFill>
                    <a:prstClr val="white">
                      <a:lumMod val="50000"/>
                    </a:prstClr>
                  </a:solidFill>
                  <a:effectLst/>
                  <a:uLnTx/>
                  <a:uFillTx/>
                  <a:latin typeface="Verdana"/>
                  <a:ea typeface="+mn-ea"/>
                  <a:cs typeface="+mn-cs"/>
                </a:rPr>
                <a:t>/</a:t>
              </a:r>
              <a:r>
                <a:rPr kumimoji="0" lang="en-US" sz="1000" b="1" i="0" u="none" strike="noStrike" kern="1200" cap="none" spc="0" normalizeH="0" baseline="0" noProof="0" dirty="0" err="1">
                  <a:ln>
                    <a:noFill/>
                  </a:ln>
                  <a:solidFill>
                    <a:prstClr val="white">
                      <a:lumMod val="50000"/>
                    </a:prstClr>
                  </a:solidFill>
                  <a:effectLst/>
                  <a:uLnTx/>
                  <a:uFillTx/>
                  <a:latin typeface="Verdana"/>
                  <a:ea typeface="+mn-ea"/>
                  <a:cs typeface="+mn-cs"/>
                </a:rPr>
                <a:t>Meghna</a:t>
              </a:r>
              <a:r>
                <a:rPr kumimoji="0" lang="en-US" sz="1000" b="1" i="0" u="none" strike="noStrike" kern="1200" cap="none" spc="0" normalizeH="0" baseline="0" noProof="0" dirty="0">
                  <a:ln>
                    <a:noFill/>
                  </a:ln>
                  <a:solidFill>
                    <a:prstClr val="white">
                      <a:lumMod val="50000"/>
                    </a:prstClr>
                  </a:solidFill>
                  <a:effectLst/>
                  <a:uLnTx/>
                  <a:uFillTx/>
                  <a:latin typeface="Verdana"/>
                  <a:ea typeface="+mn-ea"/>
                  <a:cs typeface="+mn-cs"/>
                </a:rPr>
                <a:t>) Depot Tank Terminal</a:t>
              </a:r>
            </a:p>
          </p:txBody>
        </p:sp>
        <p:cxnSp>
          <p:nvCxnSpPr>
            <p:cNvPr id="40" name="Straight Arrow Connector 39"/>
            <p:cNvCxnSpPr>
              <a:stCxn id="84" idx="6"/>
              <a:endCxn id="83" idx="2"/>
            </p:cNvCxnSpPr>
            <p:nvPr/>
          </p:nvCxnSpPr>
          <p:spPr>
            <a:xfrm>
              <a:off x="5655189" y="4221560"/>
              <a:ext cx="3163608" cy="8070"/>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58" name="TextBox 57"/>
            <p:cNvSpPr txBox="1"/>
            <p:nvPr/>
          </p:nvSpPr>
          <p:spPr>
            <a:xfrm>
              <a:off x="6186376" y="3999781"/>
              <a:ext cx="2001973" cy="153888"/>
            </a:xfrm>
            <a:prstGeom prst="rect">
              <a:avLst/>
            </a:prstGeom>
            <a:noFill/>
          </p:spPr>
          <p:txBody>
            <a:bodyPr wrap="square" lIns="0" tIns="0" rIns="0" bIns="0" rtlCol="0">
              <a:spAutoFit/>
            </a:bodyPr>
            <a:lstStyle/>
            <a:p>
              <a:pPr marL="0" marR="0" lvl="0" indent="0" algn="l" defTabSz="787481" rtl="0" eaLnBrk="1" fontAlgn="auto" latinLnBrk="0" hangingPunct="1">
                <a:lnSpc>
                  <a:spcPct val="100000"/>
                </a:lnSpc>
                <a:spcBef>
                  <a:spcPts val="600"/>
                </a:spcBef>
                <a:spcAft>
                  <a:spcPts val="0"/>
                </a:spcAft>
                <a:buClrTx/>
                <a:buSzPct val="100000"/>
                <a:buFontTx/>
                <a:buNone/>
                <a:tabLst/>
                <a:defRPr/>
              </a:pPr>
              <a:r>
                <a:rPr kumimoji="0" lang="en-US" sz="1000" b="0" i="0" u="none" strike="noStrike" kern="1200" cap="none" spc="0" normalizeH="0" baseline="0" noProof="0" dirty="0">
                  <a:ln>
                    <a:noFill/>
                  </a:ln>
                  <a:solidFill>
                    <a:prstClr val="white">
                      <a:lumMod val="50000"/>
                    </a:prstClr>
                  </a:solidFill>
                  <a:effectLst/>
                  <a:uLnTx/>
                  <a:uFillTx/>
                  <a:latin typeface="Verdana"/>
                  <a:ea typeface="+mn-ea"/>
                  <a:cs typeface="+mn-cs"/>
                </a:rPr>
                <a:t>Through Ocean Going Vessel</a:t>
              </a:r>
              <a:endParaRPr kumimoji="0" lang="en-IN" sz="1000" b="0" i="0" u="none" strike="noStrike" kern="1200" cap="none" spc="0" normalizeH="0" baseline="0" noProof="0" dirty="0">
                <a:ln>
                  <a:noFill/>
                </a:ln>
                <a:solidFill>
                  <a:prstClr val="white">
                    <a:lumMod val="50000"/>
                  </a:prstClr>
                </a:solidFill>
                <a:effectLst/>
                <a:uLnTx/>
                <a:uFillTx/>
                <a:latin typeface="Verdana"/>
                <a:ea typeface="+mn-ea"/>
                <a:cs typeface="+mn-cs"/>
              </a:endParaRPr>
            </a:p>
          </p:txBody>
        </p:sp>
        <p:sp>
          <p:nvSpPr>
            <p:cNvPr id="59" name="Rectangle 58"/>
            <p:cNvSpPr/>
            <p:nvPr/>
          </p:nvSpPr>
          <p:spPr bwMode="gray">
            <a:xfrm>
              <a:off x="449263" y="3623289"/>
              <a:ext cx="9791700" cy="1321708"/>
            </a:xfrm>
            <a:prstGeom prst="rect">
              <a:avLst/>
            </a:prstGeom>
            <a:noFill/>
            <a:ln w="19050" algn="ctr">
              <a:solidFill>
                <a:schemeClr val="accent1"/>
              </a:solidFill>
              <a:prstDash val="dash"/>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0" name="TextBox 59"/>
            <p:cNvSpPr txBox="1"/>
            <p:nvPr/>
          </p:nvSpPr>
          <p:spPr>
            <a:xfrm>
              <a:off x="3509989" y="3669218"/>
              <a:ext cx="3807675" cy="153888"/>
            </a:xfrm>
            <a:prstGeom prst="rect">
              <a:avLst/>
            </a:prstGeom>
            <a:noFill/>
          </p:spPr>
          <p:txBody>
            <a:bodyPr wrap="square" lIns="0" tIns="0" rIns="0" bIns="0" rtlCol="0">
              <a:spAutoFit/>
            </a:bodyPr>
            <a:lstStyle/>
            <a:p>
              <a:pPr marL="0" marR="0" lvl="0" indent="0" algn="ctr" defTabSz="787481" rtl="0" eaLnBrk="1" fontAlgn="auto" latinLnBrk="0" hangingPunct="1">
                <a:lnSpc>
                  <a:spcPct val="100000"/>
                </a:lnSpc>
                <a:spcBef>
                  <a:spcPts val="600"/>
                </a:spcBef>
                <a:spcAft>
                  <a:spcPts val="0"/>
                </a:spcAft>
                <a:buClrTx/>
                <a:buSzPct val="100000"/>
                <a:buFontTx/>
                <a:buNone/>
                <a:tabLst/>
                <a:defRPr/>
              </a:pPr>
              <a:r>
                <a:rPr kumimoji="0" lang="en-US" sz="1000" b="1" i="0" u="none" strike="noStrike" kern="1200" cap="none" spc="0" normalizeH="0" baseline="0" noProof="0" dirty="0">
                  <a:ln>
                    <a:noFill/>
                  </a:ln>
                  <a:effectLst/>
                  <a:uLnTx/>
                  <a:uFillTx/>
                  <a:latin typeface="Verdana"/>
                  <a:ea typeface="+mn-ea"/>
                  <a:cs typeface="+mn-cs"/>
                </a:rPr>
                <a:t>Fuel Supply Logistics</a:t>
              </a:r>
            </a:p>
          </p:txBody>
        </p:sp>
      </p:grpSp>
      <p:grpSp>
        <p:nvGrpSpPr>
          <p:cNvPr id="6" name="Group 5"/>
          <p:cNvGrpSpPr/>
          <p:nvPr/>
        </p:nvGrpSpPr>
        <p:grpSpPr>
          <a:xfrm>
            <a:off x="904476" y="5757652"/>
            <a:ext cx="720000" cy="720000"/>
            <a:chOff x="876463" y="5760185"/>
            <a:chExt cx="720000" cy="720000"/>
          </a:xfrm>
        </p:grpSpPr>
        <p:sp>
          <p:nvSpPr>
            <p:cNvPr id="71" name="Freeform 7"/>
            <p:cNvSpPr>
              <a:spLocks noEditPoints="1"/>
            </p:cNvSpPr>
            <p:nvPr/>
          </p:nvSpPr>
          <p:spPr bwMode="auto">
            <a:xfrm>
              <a:off x="953707" y="5923371"/>
              <a:ext cx="565513" cy="361796"/>
            </a:xfrm>
            <a:custGeom>
              <a:avLst/>
              <a:gdLst>
                <a:gd name="T0" fmla="*/ 1641 w 1703"/>
                <a:gd name="T1" fmla="*/ 1193 h 1573"/>
                <a:gd name="T2" fmla="*/ 1586 w 1703"/>
                <a:gd name="T3" fmla="*/ 1177 h 1573"/>
                <a:gd name="T4" fmla="*/ 1493 w 1703"/>
                <a:gd name="T5" fmla="*/ 1174 h 1573"/>
                <a:gd name="T6" fmla="*/ 1166 w 1703"/>
                <a:gd name="T7" fmla="*/ 978 h 1573"/>
                <a:gd name="T8" fmla="*/ 1124 w 1703"/>
                <a:gd name="T9" fmla="*/ 955 h 1573"/>
                <a:gd name="T10" fmla="*/ 1067 w 1703"/>
                <a:gd name="T11" fmla="*/ 773 h 1573"/>
                <a:gd name="T12" fmla="*/ 1154 w 1703"/>
                <a:gd name="T13" fmla="*/ 724 h 1573"/>
                <a:gd name="T14" fmla="*/ 1090 w 1703"/>
                <a:gd name="T15" fmla="*/ 673 h 1573"/>
                <a:gd name="T16" fmla="*/ 1018 w 1703"/>
                <a:gd name="T17" fmla="*/ 348 h 1573"/>
                <a:gd name="T18" fmla="*/ 1029 w 1703"/>
                <a:gd name="T19" fmla="*/ 225 h 1573"/>
                <a:gd name="T20" fmla="*/ 942 w 1703"/>
                <a:gd name="T21" fmla="*/ 0 h 1573"/>
                <a:gd name="T22" fmla="*/ 222 w 1703"/>
                <a:gd name="T23" fmla="*/ 337 h 1573"/>
                <a:gd name="T24" fmla="*/ 189 w 1703"/>
                <a:gd name="T25" fmla="*/ 323 h 1573"/>
                <a:gd name="T26" fmla="*/ 111 w 1703"/>
                <a:gd name="T27" fmla="*/ 332 h 1573"/>
                <a:gd name="T28" fmla="*/ 12 w 1703"/>
                <a:gd name="T29" fmla="*/ 293 h 1573"/>
                <a:gd name="T30" fmla="*/ 0 w 1703"/>
                <a:gd name="T31" fmla="*/ 410 h 1573"/>
                <a:gd name="T32" fmla="*/ 10 w 1703"/>
                <a:gd name="T33" fmla="*/ 542 h 1573"/>
                <a:gd name="T34" fmla="*/ 65 w 1703"/>
                <a:gd name="T35" fmla="*/ 715 h 1573"/>
                <a:gd name="T36" fmla="*/ 134 w 1703"/>
                <a:gd name="T37" fmla="*/ 837 h 1573"/>
                <a:gd name="T38" fmla="*/ 143 w 1703"/>
                <a:gd name="T39" fmla="*/ 537 h 1573"/>
                <a:gd name="T40" fmla="*/ 1703 w 1703"/>
                <a:gd name="T41" fmla="*/ 1462 h 1573"/>
                <a:gd name="T42" fmla="*/ 453 w 1703"/>
                <a:gd name="T43" fmla="*/ 740 h 1573"/>
                <a:gd name="T44" fmla="*/ 376 w 1703"/>
                <a:gd name="T45" fmla="*/ 1334 h 1573"/>
                <a:gd name="T46" fmla="*/ 374 w 1703"/>
                <a:gd name="T47" fmla="*/ 1354 h 1573"/>
                <a:gd name="T48" fmla="*/ 446 w 1703"/>
                <a:gd name="T49" fmla="*/ 1437 h 1573"/>
                <a:gd name="T50" fmla="*/ 919 w 1703"/>
                <a:gd name="T51" fmla="*/ 675 h 1573"/>
                <a:gd name="T52" fmla="*/ 856 w 1703"/>
                <a:gd name="T53" fmla="*/ 727 h 1573"/>
                <a:gd name="T54" fmla="*/ 919 w 1703"/>
                <a:gd name="T55" fmla="*/ 796 h 1573"/>
                <a:gd name="T56" fmla="*/ 910 w 1703"/>
                <a:gd name="T57" fmla="*/ 1020 h 1573"/>
                <a:gd name="T58" fmla="*/ 902 w 1703"/>
                <a:gd name="T59" fmla="*/ 1087 h 1573"/>
                <a:gd name="T60" fmla="*/ 926 w 1703"/>
                <a:gd name="T61" fmla="*/ 157 h 1573"/>
                <a:gd name="T62" fmla="*/ 902 w 1703"/>
                <a:gd name="T63" fmla="*/ 262 h 1573"/>
                <a:gd name="T64" fmla="*/ 935 w 1703"/>
                <a:gd name="T65" fmla="*/ 630 h 1573"/>
                <a:gd name="T66" fmla="*/ 919 w 1703"/>
                <a:gd name="T67" fmla="*/ 675 h 1573"/>
                <a:gd name="T68" fmla="*/ 949 w 1703"/>
                <a:gd name="T69" fmla="*/ 895 h 1573"/>
                <a:gd name="T70" fmla="*/ 947 w 1703"/>
                <a:gd name="T71" fmla="*/ 885 h 1573"/>
                <a:gd name="T72" fmla="*/ 956 w 1703"/>
                <a:gd name="T73" fmla="*/ 879 h 1573"/>
                <a:gd name="T74" fmla="*/ 965 w 1703"/>
                <a:gd name="T75" fmla="*/ 888 h 1573"/>
                <a:gd name="T76" fmla="*/ 960 w 1703"/>
                <a:gd name="T77" fmla="*/ 897 h 1573"/>
                <a:gd name="T78" fmla="*/ 956 w 1703"/>
                <a:gd name="T79" fmla="*/ 810 h 1573"/>
                <a:gd name="T80" fmla="*/ 946 w 1703"/>
                <a:gd name="T81" fmla="*/ 802 h 1573"/>
                <a:gd name="T82" fmla="*/ 953 w 1703"/>
                <a:gd name="T83" fmla="*/ 793 h 1573"/>
                <a:gd name="T84" fmla="*/ 962 w 1703"/>
                <a:gd name="T85" fmla="*/ 795 h 1573"/>
                <a:gd name="T86" fmla="*/ 965 w 1703"/>
                <a:gd name="T87" fmla="*/ 805 h 1573"/>
                <a:gd name="T88" fmla="*/ 956 w 1703"/>
                <a:gd name="T89" fmla="*/ 810 h 1573"/>
                <a:gd name="T90" fmla="*/ 930 w 1703"/>
                <a:gd name="T91" fmla="*/ 267 h 1573"/>
                <a:gd name="T92" fmla="*/ 1029 w 1703"/>
                <a:gd name="T93" fmla="*/ 650 h 1573"/>
                <a:gd name="T94" fmla="*/ 999 w 1703"/>
                <a:gd name="T95" fmla="*/ 643 h 1573"/>
                <a:gd name="T96" fmla="*/ 954 w 1703"/>
                <a:gd name="T97" fmla="*/ 629 h 1573"/>
                <a:gd name="T98" fmla="*/ 1029 w 1703"/>
                <a:gd name="T99" fmla="*/ 907 h 1573"/>
                <a:gd name="T100" fmla="*/ 1018 w 1703"/>
                <a:gd name="T101" fmla="*/ 899 h 1573"/>
                <a:gd name="T102" fmla="*/ 1025 w 1703"/>
                <a:gd name="T103" fmla="*/ 890 h 1573"/>
                <a:gd name="T104" fmla="*/ 1034 w 1703"/>
                <a:gd name="T105" fmla="*/ 892 h 1573"/>
                <a:gd name="T106" fmla="*/ 1037 w 1703"/>
                <a:gd name="T107" fmla="*/ 902 h 1573"/>
                <a:gd name="T108" fmla="*/ 1029 w 1703"/>
                <a:gd name="T109" fmla="*/ 907 h 1573"/>
                <a:gd name="T110" fmla="*/ 1022 w 1703"/>
                <a:gd name="T111" fmla="*/ 817 h 1573"/>
                <a:gd name="T112" fmla="*/ 1020 w 1703"/>
                <a:gd name="T113" fmla="*/ 807 h 1573"/>
                <a:gd name="T114" fmla="*/ 1029 w 1703"/>
                <a:gd name="T115" fmla="*/ 802 h 1573"/>
                <a:gd name="T116" fmla="*/ 1037 w 1703"/>
                <a:gd name="T117" fmla="*/ 810 h 1573"/>
                <a:gd name="T118" fmla="*/ 1032 w 1703"/>
                <a:gd name="T119" fmla="*/ 819 h 1573"/>
                <a:gd name="T120" fmla="*/ 1113 w 1703"/>
                <a:gd name="T121" fmla="*/ 1437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03" h="1573">
                  <a:moveTo>
                    <a:pt x="1611" y="1462"/>
                  </a:moveTo>
                  <a:lnTo>
                    <a:pt x="1611" y="1419"/>
                  </a:lnTo>
                  <a:lnTo>
                    <a:pt x="1641" y="1370"/>
                  </a:lnTo>
                  <a:lnTo>
                    <a:pt x="1641" y="1193"/>
                  </a:lnTo>
                  <a:lnTo>
                    <a:pt x="1641" y="1193"/>
                  </a:lnTo>
                  <a:lnTo>
                    <a:pt x="1627" y="1188"/>
                  </a:lnTo>
                  <a:lnTo>
                    <a:pt x="1609" y="1183"/>
                  </a:lnTo>
                  <a:lnTo>
                    <a:pt x="1586" y="1177"/>
                  </a:lnTo>
                  <a:lnTo>
                    <a:pt x="1560" y="1174"/>
                  </a:lnTo>
                  <a:lnTo>
                    <a:pt x="1528" y="1172"/>
                  </a:lnTo>
                  <a:lnTo>
                    <a:pt x="1510" y="1172"/>
                  </a:lnTo>
                  <a:lnTo>
                    <a:pt x="1493" y="1174"/>
                  </a:lnTo>
                  <a:lnTo>
                    <a:pt x="1473" y="1177"/>
                  </a:lnTo>
                  <a:lnTo>
                    <a:pt x="1454" y="1181"/>
                  </a:lnTo>
                  <a:lnTo>
                    <a:pt x="1454" y="1232"/>
                  </a:lnTo>
                  <a:lnTo>
                    <a:pt x="1166" y="978"/>
                  </a:lnTo>
                  <a:lnTo>
                    <a:pt x="1166" y="978"/>
                  </a:lnTo>
                  <a:lnTo>
                    <a:pt x="1159" y="973"/>
                  </a:lnTo>
                  <a:lnTo>
                    <a:pt x="1138" y="960"/>
                  </a:lnTo>
                  <a:lnTo>
                    <a:pt x="1124" y="955"/>
                  </a:lnTo>
                  <a:lnTo>
                    <a:pt x="1106" y="950"/>
                  </a:lnTo>
                  <a:lnTo>
                    <a:pt x="1087" y="945"/>
                  </a:lnTo>
                  <a:lnTo>
                    <a:pt x="1067" y="943"/>
                  </a:lnTo>
                  <a:lnTo>
                    <a:pt x="1067" y="773"/>
                  </a:lnTo>
                  <a:lnTo>
                    <a:pt x="1161" y="773"/>
                  </a:lnTo>
                  <a:lnTo>
                    <a:pt x="1161" y="735"/>
                  </a:lnTo>
                  <a:lnTo>
                    <a:pt x="1161" y="735"/>
                  </a:lnTo>
                  <a:lnTo>
                    <a:pt x="1154" y="724"/>
                  </a:lnTo>
                  <a:lnTo>
                    <a:pt x="1143" y="713"/>
                  </a:lnTo>
                  <a:lnTo>
                    <a:pt x="1129" y="701"/>
                  </a:lnTo>
                  <a:lnTo>
                    <a:pt x="1112" y="687"/>
                  </a:lnTo>
                  <a:lnTo>
                    <a:pt x="1090" y="673"/>
                  </a:lnTo>
                  <a:lnTo>
                    <a:pt x="1066" y="660"/>
                  </a:lnTo>
                  <a:lnTo>
                    <a:pt x="1052" y="657"/>
                  </a:lnTo>
                  <a:lnTo>
                    <a:pt x="1036" y="652"/>
                  </a:lnTo>
                  <a:lnTo>
                    <a:pt x="1018" y="348"/>
                  </a:lnTo>
                  <a:lnTo>
                    <a:pt x="1025" y="348"/>
                  </a:lnTo>
                  <a:lnTo>
                    <a:pt x="1023" y="290"/>
                  </a:lnTo>
                  <a:lnTo>
                    <a:pt x="1029" y="292"/>
                  </a:lnTo>
                  <a:lnTo>
                    <a:pt x="1029" y="225"/>
                  </a:lnTo>
                  <a:lnTo>
                    <a:pt x="986" y="216"/>
                  </a:lnTo>
                  <a:lnTo>
                    <a:pt x="986" y="184"/>
                  </a:lnTo>
                  <a:lnTo>
                    <a:pt x="986" y="129"/>
                  </a:lnTo>
                  <a:lnTo>
                    <a:pt x="942" y="0"/>
                  </a:lnTo>
                  <a:lnTo>
                    <a:pt x="229" y="353"/>
                  </a:lnTo>
                  <a:lnTo>
                    <a:pt x="229" y="353"/>
                  </a:lnTo>
                  <a:lnTo>
                    <a:pt x="226" y="345"/>
                  </a:lnTo>
                  <a:lnTo>
                    <a:pt x="222" y="337"/>
                  </a:lnTo>
                  <a:lnTo>
                    <a:pt x="215" y="332"/>
                  </a:lnTo>
                  <a:lnTo>
                    <a:pt x="208" y="329"/>
                  </a:lnTo>
                  <a:lnTo>
                    <a:pt x="197" y="325"/>
                  </a:lnTo>
                  <a:lnTo>
                    <a:pt x="189" y="323"/>
                  </a:lnTo>
                  <a:lnTo>
                    <a:pt x="167" y="323"/>
                  </a:lnTo>
                  <a:lnTo>
                    <a:pt x="146" y="325"/>
                  </a:lnTo>
                  <a:lnTo>
                    <a:pt x="129" y="329"/>
                  </a:lnTo>
                  <a:lnTo>
                    <a:pt x="111" y="332"/>
                  </a:lnTo>
                  <a:lnTo>
                    <a:pt x="74" y="269"/>
                  </a:lnTo>
                  <a:lnTo>
                    <a:pt x="19" y="262"/>
                  </a:lnTo>
                  <a:lnTo>
                    <a:pt x="19" y="262"/>
                  </a:lnTo>
                  <a:lnTo>
                    <a:pt x="12" y="293"/>
                  </a:lnTo>
                  <a:lnTo>
                    <a:pt x="7" y="323"/>
                  </a:lnTo>
                  <a:lnTo>
                    <a:pt x="3" y="352"/>
                  </a:lnTo>
                  <a:lnTo>
                    <a:pt x="0" y="382"/>
                  </a:lnTo>
                  <a:lnTo>
                    <a:pt x="0" y="410"/>
                  </a:lnTo>
                  <a:lnTo>
                    <a:pt x="0" y="436"/>
                  </a:lnTo>
                  <a:lnTo>
                    <a:pt x="0" y="465"/>
                  </a:lnTo>
                  <a:lnTo>
                    <a:pt x="3" y="491"/>
                  </a:lnTo>
                  <a:lnTo>
                    <a:pt x="10" y="542"/>
                  </a:lnTo>
                  <a:lnTo>
                    <a:pt x="21" y="590"/>
                  </a:lnTo>
                  <a:lnTo>
                    <a:pt x="33" y="636"/>
                  </a:lnTo>
                  <a:lnTo>
                    <a:pt x="49" y="676"/>
                  </a:lnTo>
                  <a:lnTo>
                    <a:pt x="65" y="715"/>
                  </a:lnTo>
                  <a:lnTo>
                    <a:pt x="81" y="749"/>
                  </a:lnTo>
                  <a:lnTo>
                    <a:pt x="97" y="779"/>
                  </a:lnTo>
                  <a:lnTo>
                    <a:pt x="111" y="803"/>
                  </a:lnTo>
                  <a:lnTo>
                    <a:pt x="134" y="837"/>
                  </a:lnTo>
                  <a:lnTo>
                    <a:pt x="143" y="849"/>
                  </a:lnTo>
                  <a:lnTo>
                    <a:pt x="164" y="855"/>
                  </a:lnTo>
                  <a:lnTo>
                    <a:pt x="183" y="847"/>
                  </a:lnTo>
                  <a:lnTo>
                    <a:pt x="143" y="537"/>
                  </a:lnTo>
                  <a:lnTo>
                    <a:pt x="469" y="378"/>
                  </a:lnTo>
                  <a:lnTo>
                    <a:pt x="303" y="1573"/>
                  </a:lnTo>
                  <a:lnTo>
                    <a:pt x="1703" y="1573"/>
                  </a:lnTo>
                  <a:lnTo>
                    <a:pt x="1703" y="1462"/>
                  </a:lnTo>
                  <a:lnTo>
                    <a:pt x="1611" y="1462"/>
                  </a:lnTo>
                  <a:close/>
                  <a:moveTo>
                    <a:pt x="432" y="1119"/>
                  </a:moveTo>
                  <a:lnTo>
                    <a:pt x="404" y="1119"/>
                  </a:lnTo>
                  <a:lnTo>
                    <a:pt x="453" y="740"/>
                  </a:lnTo>
                  <a:lnTo>
                    <a:pt x="432" y="1119"/>
                  </a:lnTo>
                  <a:close/>
                  <a:moveTo>
                    <a:pt x="430" y="1133"/>
                  </a:moveTo>
                  <a:lnTo>
                    <a:pt x="418" y="1334"/>
                  </a:lnTo>
                  <a:lnTo>
                    <a:pt x="376" y="1334"/>
                  </a:lnTo>
                  <a:lnTo>
                    <a:pt x="402" y="1133"/>
                  </a:lnTo>
                  <a:lnTo>
                    <a:pt x="430" y="1133"/>
                  </a:lnTo>
                  <a:close/>
                  <a:moveTo>
                    <a:pt x="363" y="1437"/>
                  </a:moveTo>
                  <a:lnTo>
                    <a:pt x="374" y="1354"/>
                  </a:lnTo>
                  <a:lnTo>
                    <a:pt x="418" y="1354"/>
                  </a:lnTo>
                  <a:lnTo>
                    <a:pt x="413" y="1437"/>
                  </a:lnTo>
                  <a:lnTo>
                    <a:pt x="363" y="1437"/>
                  </a:lnTo>
                  <a:close/>
                  <a:moveTo>
                    <a:pt x="446" y="1437"/>
                  </a:moveTo>
                  <a:lnTo>
                    <a:pt x="513" y="562"/>
                  </a:lnTo>
                  <a:lnTo>
                    <a:pt x="722" y="1437"/>
                  </a:lnTo>
                  <a:lnTo>
                    <a:pt x="446" y="1437"/>
                  </a:lnTo>
                  <a:close/>
                  <a:moveTo>
                    <a:pt x="919" y="675"/>
                  </a:moveTo>
                  <a:lnTo>
                    <a:pt x="919" y="675"/>
                  </a:lnTo>
                  <a:lnTo>
                    <a:pt x="909" y="682"/>
                  </a:lnTo>
                  <a:lnTo>
                    <a:pt x="886" y="701"/>
                  </a:lnTo>
                  <a:lnTo>
                    <a:pt x="856" y="727"/>
                  </a:lnTo>
                  <a:lnTo>
                    <a:pt x="840" y="743"/>
                  </a:lnTo>
                  <a:lnTo>
                    <a:pt x="826" y="759"/>
                  </a:lnTo>
                  <a:lnTo>
                    <a:pt x="826" y="798"/>
                  </a:lnTo>
                  <a:lnTo>
                    <a:pt x="919" y="796"/>
                  </a:lnTo>
                  <a:lnTo>
                    <a:pt x="919" y="1003"/>
                  </a:lnTo>
                  <a:lnTo>
                    <a:pt x="919" y="1003"/>
                  </a:lnTo>
                  <a:lnTo>
                    <a:pt x="916" y="1006"/>
                  </a:lnTo>
                  <a:lnTo>
                    <a:pt x="910" y="1020"/>
                  </a:lnTo>
                  <a:lnTo>
                    <a:pt x="907" y="1033"/>
                  </a:lnTo>
                  <a:lnTo>
                    <a:pt x="905" y="1047"/>
                  </a:lnTo>
                  <a:lnTo>
                    <a:pt x="903" y="1066"/>
                  </a:lnTo>
                  <a:lnTo>
                    <a:pt x="902" y="1087"/>
                  </a:lnTo>
                  <a:lnTo>
                    <a:pt x="902" y="1433"/>
                  </a:lnTo>
                  <a:lnTo>
                    <a:pt x="771" y="1433"/>
                  </a:lnTo>
                  <a:lnTo>
                    <a:pt x="517" y="355"/>
                  </a:lnTo>
                  <a:lnTo>
                    <a:pt x="926" y="157"/>
                  </a:lnTo>
                  <a:lnTo>
                    <a:pt x="940" y="177"/>
                  </a:lnTo>
                  <a:lnTo>
                    <a:pt x="939" y="200"/>
                  </a:lnTo>
                  <a:lnTo>
                    <a:pt x="902" y="196"/>
                  </a:lnTo>
                  <a:lnTo>
                    <a:pt x="902" y="262"/>
                  </a:lnTo>
                  <a:lnTo>
                    <a:pt x="907" y="262"/>
                  </a:lnTo>
                  <a:lnTo>
                    <a:pt x="912" y="343"/>
                  </a:lnTo>
                  <a:lnTo>
                    <a:pt x="919" y="341"/>
                  </a:lnTo>
                  <a:lnTo>
                    <a:pt x="935" y="630"/>
                  </a:lnTo>
                  <a:lnTo>
                    <a:pt x="935" y="630"/>
                  </a:lnTo>
                  <a:lnTo>
                    <a:pt x="926" y="632"/>
                  </a:lnTo>
                  <a:lnTo>
                    <a:pt x="919" y="636"/>
                  </a:lnTo>
                  <a:lnTo>
                    <a:pt x="919" y="675"/>
                  </a:lnTo>
                  <a:close/>
                  <a:moveTo>
                    <a:pt x="956" y="897"/>
                  </a:moveTo>
                  <a:lnTo>
                    <a:pt x="956" y="897"/>
                  </a:lnTo>
                  <a:lnTo>
                    <a:pt x="953" y="897"/>
                  </a:lnTo>
                  <a:lnTo>
                    <a:pt x="949" y="895"/>
                  </a:lnTo>
                  <a:lnTo>
                    <a:pt x="947" y="892"/>
                  </a:lnTo>
                  <a:lnTo>
                    <a:pt x="946" y="888"/>
                  </a:lnTo>
                  <a:lnTo>
                    <a:pt x="946" y="888"/>
                  </a:lnTo>
                  <a:lnTo>
                    <a:pt x="947" y="885"/>
                  </a:lnTo>
                  <a:lnTo>
                    <a:pt x="949" y="881"/>
                  </a:lnTo>
                  <a:lnTo>
                    <a:pt x="953" y="879"/>
                  </a:lnTo>
                  <a:lnTo>
                    <a:pt x="956" y="879"/>
                  </a:lnTo>
                  <a:lnTo>
                    <a:pt x="956" y="879"/>
                  </a:lnTo>
                  <a:lnTo>
                    <a:pt x="960" y="879"/>
                  </a:lnTo>
                  <a:lnTo>
                    <a:pt x="962" y="881"/>
                  </a:lnTo>
                  <a:lnTo>
                    <a:pt x="965" y="885"/>
                  </a:lnTo>
                  <a:lnTo>
                    <a:pt x="965" y="888"/>
                  </a:lnTo>
                  <a:lnTo>
                    <a:pt x="965" y="888"/>
                  </a:lnTo>
                  <a:lnTo>
                    <a:pt x="965" y="892"/>
                  </a:lnTo>
                  <a:lnTo>
                    <a:pt x="962" y="895"/>
                  </a:lnTo>
                  <a:lnTo>
                    <a:pt x="960" y="897"/>
                  </a:lnTo>
                  <a:lnTo>
                    <a:pt x="956" y="897"/>
                  </a:lnTo>
                  <a:lnTo>
                    <a:pt x="956" y="897"/>
                  </a:lnTo>
                  <a:close/>
                  <a:moveTo>
                    <a:pt x="956" y="810"/>
                  </a:moveTo>
                  <a:lnTo>
                    <a:pt x="956" y="810"/>
                  </a:lnTo>
                  <a:lnTo>
                    <a:pt x="953" y="810"/>
                  </a:lnTo>
                  <a:lnTo>
                    <a:pt x="949" y="807"/>
                  </a:lnTo>
                  <a:lnTo>
                    <a:pt x="947" y="805"/>
                  </a:lnTo>
                  <a:lnTo>
                    <a:pt x="946" y="802"/>
                  </a:lnTo>
                  <a:lnTo>
                    <a:pt x="946" y="802"/>
                  </a:lnTo>
                  <a:lnTo>
                    <a:pt x="947" y="798"/>
                  </a:lnTo>
                  <a:lnTo>
                    <a:pt x="949" y="795"/>
                  </a:lnTo>
                  <a:lnTo>
                    <a:pt x="953" y="793"/>
                  </a:lnTo>
                  <a:lnTo>
                    <a:pt x="956" y="791"/>
                  </a:lnTo>
                  <a:lnTo>
                    <a:pt x="956" y="791"/>
                  </a:lnTo>
                  <a:lnTo>
                    <a:pt x="960" y="793"/>
                  </a:lnTo>
                  <a:lnTo>
                    <a:pt x="962" y="795"/>
                  </a:lnTo>
                  <a:lnTo>
                    <a:pt x="965" y="798"/>
                  </a:lnTo>
                  <a:lnTo>
                    <a:pt x="965" y="802"/>
                  </a:lnTo>
                  <a:lnTo>
                    <a:pt x="965" y="802"/>
                  </a:lnTo>
                  <a:lnTo>
                    <a:pt x="965" y="805"/>
                  </a:lnTo>
                  <a:lnTo>
                    <a:pt x="962" y="807"/>
                  </a:lnTo>
                  <a:lnTo>
                    <a:pt x="960" y="810"/>
                  </a:lnTo>
                  <a:lnTo>
                    <a:pt x="956" y="810"/>
                  </a:lnTo>
                  <a:lnTo>
                    <a:pt x="956" y="810"/>
                  </a:lnTo>
                  <a:close/>
                  <a:moveTo>
                    <a:pt x="942" y="629"/>
                  </a:moveTo>
                  <a:lnTo>
                    <a:pt x="926" y="341"/>
                  </a:lnTo>
                  <a:lnTo>
                    <a:pt x="933" y="341"/>
                  </a:lnTo>
                  <a:lnTo>
                    <a:pt x="930" y="267"/>
                  </a:lnTo>
                  <a:lnTo>
                    <a:pt x="1000" y="285"/>
                  </a:lnTo>
                  <a:lnTo>
                    <a:pt x="1004" y="350"/>
                  </a:lnTo>
                  <a:lnTo>
                    <a:pt x="1011" y="350"/>
                  </a:lnTo>
                  <a:lnTo>
                    <a:pt x="1029" y="650"/>
                  </a:lnTo>
                  <a:lnTo>
                    <a:pt x="1029" y="650"/>
                  </a:lnTo>
                  <a:lnTo>
                    <a:pt x="1004" y="646"/>
                  </a:lnTo>
                  <a:lnTo>
                    <a:pt x="1004" y="646"/>
                  </a:lnTo>
                  <a:lnTo>
                    <a:pt x="999" y="643"/>
                  </a:lnTo>
                  <a:lnTo>
                    <a:pt x="986" y="637"/>
                  </a:lnTo>
                  <a:lnTo>
                    <a:pt x="977" y="634"/>
                  </a:lnTo>
                  <a:lnTo>
                    <a:pt x="967" y="630"/>
                  </a:lnTo>
                  <a:lnTo>
                    <a:pt x="954" y="629"/>
                  </a:lnTo>
                  <a:lnTo>
                    <a:pt x="942" y="629"/>
                  </a:lnTo>
                  <a:lnTo>
                    <a:pt x="942" y="629"/>
                  </a:lnTo>
                  <a:close/>
                  <a:moveTo>
                    <a:pt x="1029" y="907"/>
                  </a:moveTo>
                  <a:lnTo>
                    <a:pt x="1029" y="907"/>
                  </a:lnTo>
                  <a:lnTo>
                    <a:pt x="1025" y="906"/>
                  </a:lnTo>
                  <a:lnTo>
                    <a:pt x="1022" y="904"/>
                  </a:lnTo>
                  <a:lnTo>
                    <a:pt x="1020" y="902"/>
                  </a:lnTo>
                  <a:lnTo>
                    <a:pt x="1018" y="899"/>
                  </a:lnTo>
                  <a:lnTo>
                    <a:pt x="1018" y="899"/>
                  </a:lnTo>
                  <a:lnTo>
                    <a:pt x="1020" y="893"/>
                  </a:lnTo>
                  <a:lnTo>
                    <a:pt x="1022" y="892"/>
                  </a:lnTo>
                  <a:lnTo>
                    <a:pt x="1025" y="890"/>
                  </a:lnTo>
                  <a:lnTo>
                    <a:pt x="1029" y="888"/>
                  </a:lnTo>
                  <a:lnTo>
                    <a:pt x="1029" y="888"/>
                  </a:lnTo>
                  <a:lnTo>
                    <a:pt x="1032" y="890"/>
                  </a:lnTo>
                  <a:lnTo>
                    <a:pt x="1034" y="892"/>
                  </a:lnTo>
                  <a:lnTo>
                    <a:pt x="1037" y="893"/>
                  </a:lnTo>
                  <a:lnTo>
                    <a:pt x="1037" y="899"/>
                  </a:lnTo>
                  <a:lnTo>
                    <a:pt x="1037" y="899"/>
                  </a:lnTo>
                  <a:lnTo>
                    <a:pt x="1037" y="902"/>
                  </a:lnTo>
                  <a:lnTo>
                    <a:pt x="1034" y="904"/>
                  </a:lnTo>
                  <a:lnTo>
                    <a:pt x="1032" y="906"/>
                  </a:lnTo>
                  <a:lnTo>
                    <a:pt x="1029" y="907"/>
                  </a:lnTo>
                  <a:lnTo>
                    <a:pt x="1029" y="907"/>
                  </a:lnTo>
                  <a:close/>
                  <a:moveTo>
                    <a:pt x="1029" y="821"/>
                  </a:moveTo>
                  <a:lnTo>
                    <a:pt x="1029" y="821"/>
                  </a:lnTo>
                  <a:lnTo>
                    <a:pt x="1025" y="819"/>
                  </a:lnTo>
                  <a:lnTo>
                    <a:pt x="1022" y="817"/>
                  </a:lnTo>
                  <a:lnTo>
                    <a:pt x="1020" y="814"/>
                  </a:lnTo>
                  <a:lnTo>
                    <a:pt x="1018" y="810"/>
                  </a:lnTo>
                  <a:lnTo>
                    <a:pt x="1018" y="810"/>
                  </a:lnTo>
                  <a:lnTo>
                    <a:pt x="1020" y="807"/>
                  </a:lnTo>
                  <a:lnTo>
                    <a:pt x="1022" y="803"/>
                  </a:lnTo>
                  <a:lnTo>
                    <a:pt x="1025" y="802"/>
                  </a:lnTo>
                  <a:lnTo>
                    <a:pt x="1029" y="802"/>
                  </a:lnTo>
                  <a:lnTo>
                    <a:pt x="1029" y="802"/>
                  </a:lnTo>
                  <a:lnTo>
                    <a:pt x="1032" y="802"/>
                  </a:lnTo>
                  <a:lnTo>
                    <a:pt x="1034" y="803"/>
                  </a:lnTo>
                  <a:lnTo>
                    <a:pt x="1037" y="807"/>
                  </a:lnTo>
                  <a:lnTo>
                    <a:pt x="1037" y="810"/>
                  </a:lnTo>
                  <a:lnTo>
                    <a:pt x="1037" y="810"/>
                  </a:lnTo>
                  <a:lnTo>
                    <a:pt x="1037" y="814"/>
                  </a:lnTo>
                  <a:lnTo>
                    <a:pt x="1034" y="817"/>
                  </a:lnTo>
                  <a:lnTo>
                    <a:pt x="1032" y="819"/>
                  </a:lnTo>
                  <a:lnTo>
                    <a:pt x="1029" y="821"/>
                  </a:lnTo>
                  <a:lnTo>
                    <a:pt x="1029" y="821"/>
                  </a:lnTo>
                  <a:close/>
                  <a:moveTo>
                    <a:pt x="1433" y="1437"/>
                  </a:moveTo>
                  <a:lnTo>
                    <a:pt x="1113" y="1437"/>
                  </a:lnTo>
                  <a:lnTo>
                    <a:pt x="1113" y="1214"/>
                  </a:lnTo>
                  <a:lnTo>
                    <a:pt x="1433" y="1417"/>
                  </a:lnTo>
                  <a:lnTo>
                    <a:pt x="1433" y="1437"/>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787481" rtl="0" eaLnBrk="1" fontAlgn="auto" latinLnBrk="0" hangingPunct="1">
                <a:lnSpc>
                  <a:spcPct val="100000"/>
                </a:lnSpc>
                <a:spcBef>
                  <a:spcPts val="0"/>
                </a:spcBef>
                <a:spcAft>
                  <a:spcPts val="0"/>
                </a:spcAft>
                <a:buClrTx/>
                <a:buSzTx/>
                <a:buFontTx/>
                <a:buNone/>
                <a:tabLst/>
                <a:defRPr/>
              </a:pPr>
              <a:endParaRPr kumimoji="0" lang="en-US" sz="1550" b="0" i="0" u="none" strike="noStrike" kern="1200" cap="none" spc="0" normalizeH="0" baseline="0" noProof="0">
                <a:ln>
                  <a:noFill/>
                </a:ln>
                <a:solidFill>
                  <a:prstClr val="black"/>
                </a:solidFill>
                <a:effectLst/>
                <a:uLnTx/>
                <a:uFillTx/>
                <a:latin typeface="Verdana"/>
                <a:ea typeface="+mn-ea"/>
                <a:cs typeface="+mn-cs"/>
              </a:endParaRPr>
            </a:p>
          </p:txBody>
        </p:sp>
        <p:sp>
          <p:nvSpPr>
            <p:cNvPr id="5" name="Oval 4"/>
            <p:cNvSpPr/>
            <p:nvPr/>
          </p:nvSpPr>
          <p:spPr bwMode="gray">
            <a:xfrm>
              <a:off x="876463" y="5760185"/>
              <a:ext cx="720000" cy="720000"/>
            </a:xfrm>
            <a:prstGeom prst="ellipse">
              <a:avLst/>
            </a:prstGeom>
            <a:noFill/>
            <a:ln w="28575" algn="ctr">
              <a:solidFill>
                <a:schemeClr val="accent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grpSp>
      <p:grpSp>
        <p:nvGrpSpPr>
          <p:cNvPr id="77" name="Group 76"/>
          <p:cNvGrpSpPr/>
          <p:nvPr/>
        </p:nvGrpSpPr>
        <p:grpSpPr>
          <a:xfrm>
            <a:off x="8943004" y="5884539"/>
            <a:ext cx="589331" cy="379722"/>
            <a:chOff x="4750609" y="3793660"/>
            <a:chExt cx="950456" cy="870719"/>
          </a:xfrm>
          <a:solidFill>
            <a:schemeClr val="accent1"/>
          </a:solidFill>
        </p:grpSpPr>
        <p:sp>
          <p:nvSpPr>
            <p:cNvPr id="78" name="Freeform 77"/>
            <p:cNvSpPr>
              <a:spLocks noEditPoints="1"/>
            </p:cNvSpPr>
            <p:nvPr/>
          </p:nvSpPr>
          <p:spPr bwMode="auto">
            <a:xfrm>
              <a:off x="4750609" y="4250815"/>
              <a:ext cx="238145" cy="403997"/>
            </a:xfrm>
            <a:custGeom>
              <a:avLst/>
              <a:gdLst>
                <a:gd name="T0" fmla="*/ 64 w 168"/>
                <a:gd name="T1" fmla="*/ 13 h 284"/>
                <a:gd name="T2" fmla="*/ 15 w 168"/>
                <a:gd name="T3" fmla="*/ 256 h 284"/>
                <a:gd name="T4" fmla="*/ 113 w 168"/>
                <a:gd name="T5" fmla="*/ 284 h 284"/>
                <a:gd name="T6" fmla="*/ 133 w 168"/>
                <a:gd name="T7" fmla="*/ 284 h 284"/>
                <a:gd name="T8" fmla="*/ 118 w 168"/>
                <a:gd name="T9" fmla="*/ 271 h 284"/>
                <a:gd name="T10" fmla="*/ 118 w 168"/>
                <a:gd name="T11" fmla="*/ 247 h 284"/>
                <a:gd name="T12" fmla="*/ 168 w 168"/>
                <a:gd name="T13" fmla="*/ 82 h 284"/>
                <a:gd name="T14" fmla="*/ 164 w 168"/>
                <a:gd name="T15" fmla="*/ 12 h 284"/>
                <a:gd name="T16" fmla="*/ 164 w 168"/>
                <a:gd name="T17" fmla="*/ 12 h 284"/>
                <a:gd name="T18" fmla="*/ 147 w 168"/>
                <a:gd name="T19" fmla="*/ 2 h 284"/>
                <a:gd name="T20" fmla="*/ 112 w 168"/>
                <a:gd name="T21" fmla="*/ 0 h 284"/>
                <a:gd name="T22" fmla="*/ 78 w 168"/>
                <a:gd name="T23" fmla="*/ 2 h 284"/>
                <a:gd name="T24" fmla="*/ 62 w 168"/>
                <a:gd name="T25" fmla="*/ 12 h 284"/>
                <a:gd name="T26" fmla="*/ 64 w 168"/>
                <a:gd name="T27" fmla="*/ 12 h 284"/>
                <a:gd name="T28" fmla="*/ 64 w 168"/>
                <a:gd name="T29" fmla="*/ 13 h 284"/>
                <a:gd name="T30" fmla="*/ 120 w 168"/>
                <a:gd name="T31" fmla="*/ 26 h 284"/>
                <a:gd name="T32" fmla="*/ 120 w 168"/>
                <a:gd name="T33" fmla="*/ 26 h 284"/>
                <a:gd name="T34" fmla="*/ 121 w 168"/>
                <a:gd name="T35" fmla="*/ 26 h 284"/>
                <a:gd name="T36" fmla="*/ 120 w 168"/>
                <a:gd name="T37" fmla="*/ 26 h 284"/>
                <a:gd name="T38" fmla="*/ 112 w 168"/>
                <a:gd name="T39" fmla="*/ 9 h 284"/>
                <a:gd name="T40" fmla="*/ 152 w 168"/>
                <a:gd name="T41" fmla="*/ 13 h 284"/>
                <a:gd name="T42" fmla="*/ 112 w 168"/>
                <a:gd name="T43" fmla="*/ 17 h 284"/>
                <a:gd name="T44" fmla="*/ 73 w 168"/>
                <a:gd name="T45" fmla="*/ 13 h 284"/>
                <a:gd name="T46" fmla="*/ 112 w 168"/>
                <a:gd name="T47"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8" h="284">
                  <a:moveTo>
                    <a:pt x="64" y="13"/>
                  </a:moveTo>
                  <a:cubicBezTo>
                    <a:pt x="64" y="23"/>
                    <a:pt x="61" y="168"/>
                    <a:pt x="15" y="256"/>
                  </a:cubicBezTo>
                  <a:cubicBezTo>
                    <a:pt x="0" y="284"/>
                    <a:pt x="99" y="284"/>
                    <a:pt x="113" y="284"/>
                  </a:cubicBezTo>
                  <a:cubicBezTo>
                    <a:pt x="116" y="284"/>
                    <a:pt x="123" y="284"/>
                    <a:pt x="133" y="284"/>
                  </a:cubicBezTo>
                  <a:cubicBezTo>
                    <a:pt x="125" y="279"/>
                    <a:pt x="120" y="275"/>
                    <a:pt x="118" y="271"/>
                  </a:cubicBezTo>
                  <a:cubicBezTo>
                    <a:pt x="114" y="264"/>
                    <a:pt x="114" y="255"/>
                    <a:pt x="118" y="247"/>
                  </a:cubicBezTo>
                  <a:cubicBezTo>
                    <a:pt x="143" y="199"/>
                    <a:pt x="159" y="138"/>
                    <a:pt x="168" y="82"/>
                  </a:cubicBezTo>
                  <a:cubicBezTo>
                    <a:pt x="164" y="41"/>
                    <a:pt x="164" y="12"/>
                    <a:pt x="164" y="12"/>
                  </a:cubicBezTo>
                  <a:cubicBezTo>
                    <a:pt x="164" y="12"/>
                    <a:pt x="164" y="12"/>
                    <a:pt x="164" y="12"/>
                  </a:cubicBezTo>
                  <a:cubicBezTo>
                    <a:pt x="164" y="8"/>
                    <a:pt x="159" y="5"/>
                    <a:pt x="147" y="2"/>
                  </a:cubicBezTo>
                  <a:cubicBezTo>
                    <a:pt x="137" y="1"/>
                    <a:pt x="125" y="0"/>
                    <a:pt x="112" y="0"/>
                  </a:cubicBezTo>
                  <a:cubicBezTo>
                    <a:pt x="100" y="0"/>
                    <a:pt x="87" y="1"/>
                    <a:pt x="78" y="2"/>
                  </a:cubicBezTo>
                  <a:cubicBezTo>
                    <a:pt x="66" y="5"/>
                    <a:pt x="63" y="8"/>
                    <a:pt x="62" y="12"/>
                  </a:cubicBezTo>
                  <a:cubicBezTo>
                    <a:pt x="64" y="12"/>
                    <a:pt x="64" y="12"/>
                    <a:pt x="64" y="12"/>
                  </a:cubicBezTo>
                  <a:cubicBezTo>
                    <a:pt x="64" y="12"/>
                    <a:pt x="64" y="13"/>
                    <a:pt x="64" y="13"/>
                  </a:cubicBezTo>
                  <a:close/>
                  <a:moveTo>
                    <a:pt x="120" y="26"/>
                  </a:moveTo>
                  <a:cubicBezTo>
                    <a:pt x="120" y="26"/>
                    <a:pt x="120" y="26"/>
                    <a:pt x="120" y="26"/>
                  </a:cubicBezTo>
                  <a:cubicBezTo>
                    <a:pt x="120" y="26"/>
                    <a:pt x="120" y="26"/>
                    <a:pt x="121" y="26"/>
                  </a:cubicBezTo>
                  <a:lnTo>
                    <a:pt x="120" y="26"/>
                  </a:lnTo>
                  <a:close/>
                  <a:moveTo>
                    <a:pt x="112" y="9"/>
                  </a:moveTo>
                  <a:cubicBezTo>
                    <a:pt x="132" y="9"/>
                    <a:pt x="145" y="11"/>
                    <a:pt x="152" y="13"/>
                  </a:cubicBezTo>
                  <a:cubicBezTo>
                    <a:pt x="145" y="15"/>
                    <a:pt x="132" y="17"/>
                    <a:pt x="112" y="17"/>
                  </a:cubicBezTo>
                  <a:cubicBezTo>
                    <a:pt x="93" y="17"/>
                    <a:pt x="80" y="15"/>
                    <a:pt x="73" y="13"/>
                  </a:cubicBezTo>
                  <a:cubicBezTo>
                    <a:pt x="80" y="11"/>
                    <a:pt x="93" y="9"/>
                    <a:pt x="112"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787481" rtl="0" eaLnBrk="1" fontAlgn="auto" latinLnBrk="0" hangingPunct="1">
                <a:lnSpc>
                  <a:spcPct val="100000"/>
                </a:lnSpc>
                <a:spcBef>
                  <a:spcPts val="0"/>
                </a:spcBef>
                <a:spcAft>
                  <a:spcPts val="0"/>
                </a:spcAft>
                <a:buClrTx/>
                <a:buSzTx/>
                <a:buFontTx/>
                <a:buNone/>
                <a:tabLst/>
                <a:defRPr/>
              </a:pPr>
              <a:endParaRPr kumimoji="0" lang="en-US" sz="1550" b="0" i="0" u="none" strike="noStrike" kern="1200" cap="none" spc="0" normalizeH="0" baseline="0" noProof="0">
                <a:ln>
                  <a:noFill/>
                </a:ln>
                <a:solidFill>
                  <a:prstClr val="black"/>
                </a:solidFill>
                <a:effectLst/>
                <a:uLnTx/>
                <a:uFillTx/>
                <a:latin typeface="Verdana"/>
                <a:ea typeface="+mn-ea"/>
                <a:cs typeface="+mn-cs"/>
              </a:endParaRPr>
            </a:p>
          </p:txBody>
        </p:sp>
        <p:sp>
          <p:nvSpPr>
            <p:cNvPr id="79" name="Freeform 78"/>
            <p:cNvSpPr>
              <a:spLocks/>
            </p:cNvSpPr>
            <p:nvPr/>
          </p:nvSpPr>
          <p:spPr bwMode="auto">
            <a:xfrm>
              <a:off x="5089754" y="3793660"/>
              <a:ext cx="476291" cy="279608"/>
            </a:xfrm>
            <a:custGeom>
              <a:avLst/>
              <a:gdLst>
                <a:gd name="T0" fmla="*/ 162 w 335"/>
                <a:gd name="T1" fmla="*/ 167 h 197"/>
                <a:gd name="T2" fmla="*/ 189 w 335"/>
                <a:gd name="T3" fmla="*/ 178 h 197"/>
                <a:gd name="T4" fmla="*/ 216 w 335"/>
                <a:gd name="T5" fmla="*/ 167 h 197"/>
                <a:gd name="T6" fmla="*/ 241 w 335"/>
                <a:gd name="T7" fmla="*/ 150 h 197"/>
                <a:gd name="T8" fmla="*/ 260 w 335"/>
                <a:gd name="T9" fmla="*/ 142 h 197"/>
                <a:gd name="T10" fmla="*/ 274 w 335"/>
                <a:gd name="T11" fmla="*/ 144 h 197"/>
                <a:gd name="T12" fmla="*/ 289 w 335"/>
                <a:gd name="T13" fmla="*/ 141 h 197"/>
                <a:gd name="T14" fmla="*/ 295 w 335"/>
                <a:gd name="T15" fmla="*/ 142 h 197"/>
                <a:gd name="T16" fmla="*/ 335 w 335"/>
                <a:gd name="T17" fmla="*/ 102 h 197"/>
                <a:gd name="T18" fmla="*/ 332 w 335"/>
                <a:gd name="T19" fmla="*/ 87 h 197"/>
                <a:gd name="T20" fmla="*/ 334 w 335"/>
                <a:gd name="T21" fmla="*/ 74 h 197"/>
                <a:gd name="T22" fmla="*/ 315 w 335"/>
                <a:gd name="T23" fmla="*/ 40 h 197"/>
                <a:gd name="T24" fmla="*/ 279 w 335"/>
                <a:gd name="T25" fmla="*/ 10 h 197"/>
                <a:gd name="T26" fmla="*/ 266 w 335"/>
                <a:gd name="T27" fmla="*/ 12 h 197"/>
                <a:gd name="T28" fmla="*/ 240 w 335"/>
                <a:gd name="T29" fmla="*/ 0 h 197"/>
                <a:gd name="T30" fmla="*/ 211 w 335"/>
                <a:gd name="T31" fmla="*/ 15 h 197"/>
                <a:gd name="T32" fmla="*/ 185 w 335"/>
                <a:gd name="T33" fmla="*/ 33 h 197"/>
                <a:gd name="T34" fmla="*/ 160 w 335"/>
                <a:gd name="T35" fmla="*/ 43 h 197"/>
                <a:gd name="T36" fmla="*/ 150 w 335"/>
                <a:gd name="T37" fmla="*/ 41 h 197"/>
                <a:gd name="T38" fmla="*/ 112 w 335"/>
                <a:gd name="T39" fmla="*/ 70 h 197"/>
                <a:gd name="T40" fmla="*/ 84 w 335"/>
                <a:gd name="T41" fmla="*/ 90 h 197"/>
                <a:gd name="T42" fmla="*/ 80 w 335"/>
                <a:gd name="T43" fmla="*/ 89 h 197"/>
                <a:gd name="T44" fmla="*/ 62 w 335"/>
                <a:gd name="T45" fmla="*/ 97 h 197"/>
                <a:gd name="T46" fmla="*/ 56 w 335"/>
                <a:gd name="T47" fmla="*/ 96 h 197"/>
                <a:gd name="T48" fmla="*/ 33 w 335"/>
                <a:gd name="T49" fmla="*/ 112 h 197"/>
                <a:gd name="T50" fmla="*/ 10 w 335"/>
                <a:gd name="T51" fmla="*/ 140 h 197"/>
                <a:gd name="T52" fmla="*/ 11 w 335"/>
                <a:gd name="T53" fmla="*/ 146 h 197"/>
                <a:gd name="T54" fmla="*/ 0 w 335"/>
                <a:gd name="T55" fmla="*/ 167 h 197"/>
                <a:gd name="T56" fmla="*/ 25 w 335"/>
                <a:gd name="T57" fmla="*/ 192 h 197"/>
                <a:gd name="T58" fmla="*/ 36 w 335"/>
                <a:gd name="T59" fmla="*/ 189 h 197"/>
                <a:gd name="T60" fmla="*/ 55 w 335"/>
                <a:gd name="T61" fmla="*/ 197 h 197"/>
                <a:gd name="T62" fmla="*/ 77 w 335"/>
                <a:gd name="T63" fmla="*/ 182 h 197"/>
                <a:gd name="T64" fmla="*/ 90 w 335"/>
                <a:gd name="T65" fmla="*/ 185 h 197"/>
                <a:gd name="T66" fmla="*/ 114 w 335"/>
                <a:gd name="T67" fmla="*/ 176 h 197"/>
                <a:gd name="T68" fmla="*/ 130 w 335"/>
                <a:gd name="T69" fmla="*/ 178 h 197"/>
                <a:gd name="T70" fmla="*/ 162 w 335"/>
                <a:gd name="T71" fmla="*/ 16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35" h="197">
                  <a:moveTo>
                    <a:pt x="162" y="167"/>
                  </a:moveTo>
                  <a:cubicBezTo>
                    <a:pt x="169" y="174"/>
                    <a:pt x="178" y="178"/>
                    <a:pt x="189" y="178"/>
                  </a:cubicBezTo>
                  <a:cubicBezTo>
                    <a:pt x="199" y="178"/>
                    <a:pt x="209" y="174"/>
                    <a:pt x="216" y="167"/>
                  </a:cubicBezTo>
                  <a:cubicBezTo>
                    <a:pt x="226" y="165"/>
                    <a:pt x="235" y="159"/>
                    <a:pt x="241" y="150"/>
                  </a:cubicBezTo>
                  <a:cubicBezTo>
                    <a:pt x="248" y="150"/>
                    <a:pt x="255" y="147"/>
                    <a:pt x="260" y="142"/>
                  </a:cubicBezTo>
                  <a:cubicBezTo>
                    <a:pt x="264" y="143"/>
                    <a:pt x="269" y="144"/>
                    <a:pt x="274" y="144"/>
                  </a:cubicBezTo>
                  <a:cubicBezTo>
                    <a:pt x="279" y="144"/>
                    <a:pt x="284" y="143"/>
                    <a:pt x="289" y="141"/>
                  </a:cubicBezTo>
                  <a:cubicBezTo>
                    <a:pt x="291" y="142"/>
                    <a:pt x="293" y="142"/>
                    <a:pt x="295" y="142"/>
                  </a:cubicBezTo>
                  <a:cubicBezTo>
                    <a:pt x="317" y="142"/>
                    <a:pt x="335" y="124"/>
                    <a:pt x="335" y="102"/>
                  </a:cubicBezTo>
                  <a:cubicBezTo>
                    <a:pt x="335" y="97"/>
                    <a:pt x="334" y="92"/>
                    <a:pt x="332" y="87"/>
                  </a:cubicBezTo>
                  <a:cubicBezTo>
                    <a:pt x="333" y="83"/>
                    <a:pt x="334" y="79"/>
                    <a:pt x="334" y="74"/>
                  </a:cubicBezTo>
                  <a:cubicBezTo>
                    <a:pt x="334" y="60"/>
                    <a:pt x="326" y="47"/>
                    <a:pt x="315" y="40"/>
                  </a:cubicBezTo>
                  <a:cubicBezTo>
                    <a:pt x="312" y="23"/>
                    <a:pt x="297" y="10"/>
                    <a:pt x="279" y="10"/>
                  </a:cubicBezTo>
                  <a:cubicBezTo>
                    <a:pt x="274" y="10"/>
                    <a:pt x="270" y="10"/>
                    <a:pt x="266" y="12"/>
                  </a:cubicBezTo>
                  <a:cubicBezTo>
                    <a:pt x="260" y="5"/>
                    <a:pt x="250" y="0"/>
                    <a:pt x="240" y="0"/>
                  </a:cubicBezTo>
                  <a:cubicBezTo>
                    <a:pt x="228" y="0"/>
                    <a:pt x="217" y="6"/>
                    <a:pt x="211" y="15"/>
                  </a:cubicBezTo>
                  <a:cubicBezTo>
                    <a:pt x="200" y="17"/>
                    <a:pt x="191" y="24"/>
                    <a:pt x="185" y="33"/>
                  </a:cubicBezTo>
                  <a:cubicBezTo>
                    <a:pt x="176" y="34"/>
                    <a:pt x="168" y="37"/>
                    <a:pt x="160" y="43"/>
                  </a:cubicBezTo>
                  <a:cubicBezTo>
                    <a:pt x="157" y="42"/>
                    <a:pt x="153" y="41"/>
                    <a:pt x="150" y="41"/>
                  </a:cubicBezTo>
                  <a:cubicBezTo>
                    <a:pt x="131" y="41"/>
                    <a:pt x="116" y="53"/>
                    <a:pt x="112" y="70"/>
                  </a:cubicBezTo>
                  <a:cubicBezTo>
                    <a:pt x="100" y="72"/>
                    <a:pt x="90" y="80"/>
                    <a:pt x="84" y="90"/>
                  </a:cubicBezTo>
                  <a:cubicBezTo>
                    <a:pt x="83" y="89"/>
                    <a:pt x="81" y="89"/>
                    <a:pt x="80" y="89"/>
                  </a:cubicBezTo>
                  <a:cubicBezTo>
                    <a:pt x="73" y="89"/>
                    <a:pt x="66" y="92"/>
                    <a:pt x="62" y="97"/>
                  </a:cubicBezTo>
                  <a:cubicBezTo>
                    <a:pt x="60" y="97"/>
                    <a:pt x="58" y="96"/>
                    <a:pt x="56" y="96"/>
                  </a:cubicBezTo>
                  <a:cubicBezTo>
                    <a:pt x="46" y="96"/>
                    <a:pt x="37" y="103"/>
                    <a:pt x="33" y="112"/>
                  </a:cubicBezTo>
                  <a:cubicBezTo>
                    <a:pt x="20" y="114"/>
                    <a:pt x="10" y="126"/>
                    <a:pt x="10" y="140"/>
                  </a:cubicBezTo>
                  <a:cubicBezTo>
                    <a:pt x="10" y="142"/>
                    <a:pt x="11" y="144"/>
                    <a:pt x="11" y="146"/>
                  </a:cubicBezTo>
                  <a:cubicBezTo>
                    <a:pt x="5" y="151"/>
                    <a:pt x="0" y="158"/>
                    <a:pt x="0" y="167"/>
                  </a:cubicBezTo>
                  <a:cubicBezTo>
                    <a:pt x="0" y="181"/>
                    <a:pt x="11" y="192"/>
                    <a:pt x="25" y="192"/>
                  </a:cubicBezTo>
                  <a:cubicBezTo>
                    <a:pt x="29" y="192"/>
                    <a:pt x="33" y="191"/>
                    <a:pt x="36" y="189"/>
                  </a:cubicBezTo>
                  <a:cubicBezTo>
                    <a:pt x="41" y="194"/>
                    <a:pt x="47" y="197"/>
                    <a:pt x="55" y="197"/>
                  </a:cubicBezTo>
                  <a:cubicBezTo>
                    <a:pt x="65" y="197"/>
                    <a:pt x="73" y="191"/>
                    <a:pt x="77" y="182"/>
                  </a:cubicBezTo>
                  <a:cubicBezTo>
                    <a:pt x="81" y="184"/>
                    <a:pt x="86" y="185"/>
                    <a:pt x="90" y="185"/>
                  </a:cubicBezTo>
                  <a:cubicBezTo>
                    <a:pt x="99" y="185"/>
                    <a:pt x="108" y="181"/>
                    <a:pt x="114" y="176"/>
                  </a:cubicBezTo>
                  <a:cubicBezTo>
                    <a:pt x="119" y="177"/>
                    <a:pt x="124" y="178"/>
                    <a:pt x="130" y="178"/>
                  </a:cubicBezTo>
                  <a:cubicBezTo>
                    <a:pt x="142" y="178"/>
                    <a:pt x="153" y="174"/>
                    <a:pt x="162" y="1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787481" rtl="0" eaLnBrk="1" fontAlgn="auto" latinLnBrk="0" hangingPunct="1">
                <a:lnSpc>
                  <a:spcPct val="100000"/>
                </a:lnSpc>
                <a:spcBef>
                  <a:spcPts val="0"/>
                </a:spcBef>
                <a:spcAft>
                  <a:spcPts val="0"/>
                </a:spcAft>
                <a:buClrTx/>
                <a:buSzTx/>
                <a:buFontTx/>
                <a:buNone/>
                <a:tabLst/>
                <a:defRPr/>
              </a:pPr>
              <a:endParaRPr kumimoji="0" lang="en-US" sz="1550" b="0" i="0" u="none" strike="noStrike" kern="1200" cap="none" spc="0" normalizeH="0" baseline="0" noProof="0">
                <a:ln>
                  <a:noFill/>
                </a:ln>
                <a:solidFill>
                  <a:prstClr val="black"/>
                </a:solidFill>
                <a:effectLst/>
                <a:uLnTx/>
                <a:uFillTx/>
                <a:latin typeface="Verdana"/>
                <a:ea typeface="+mn-ea"/>
                <a:cs typeface="+mn-cs"/>
              </a:endParaRPr>
            </a:p>
          </p:txBody>
        </p:sp>
        <p:sp>
          <p:nvSpPr>
            <p:cNvPr id="80" name="Freeform 79"/>
            <p:cNvSpPr>
              <a:spLocks noEditPoints="1"/>
            </p:cNvSpPr>
            <p:nvPr/>
          </p:nvSpPr>
          <p:spPr bwMode="auto">
            <a:xfrm>
              <a:off x="4902639" y="4107289"/>
              <a:ext cx="447586" cy="557090"/>
            </a:xfrm>
            <a:custGeom>
              <a:avLst/>
              <a:gdLst>
                <a:gd name="T0" fmla="*/ 157 w 315"/>
                <a:gd name="T1" fmla="*/ 392 h 392"/>
                <a:gd name="T2" fmla="*/ 295 w 315"/>
                <a:gd name="T3" fmla="*/ 353 h 392"/>
                <a:gd name="T4" fmla="*/ 229 w 315"/>
                <a:gd name="T5" fmla="*/ 17 h 392"/>
                <a:gd name="T6" fmla="*/ 205 w 315"/>
                <a:gd name="T7" fmla="*/ 3 h 392"/>
                <a:gd name="T8" fmla="*/ 157 w 315"/>
                <a:gd name="T9" fmla="*/ 0 h 392"/>
                <a:gd name="T10" fmla="*/ 109 w 315"/>
                <a:gd name="T11" fmla="*/ 3 h 392"/>
                <a:gd name="T12" fmla="*/ 85 w 315"/>
                <a:gd name="T13" fmla="*/ 17 h 392"/>
                <a:gd name="T14" fmla="*/ 85 w 315"/>
                <a:gd name="T15" fmla="*/ 18 h 392"/>
                <a:gd name="T16" fmla="*/ 85 w 315"/>
                <a:gd name="T17" fmla="*/ 18 h 392"/>
                <a:gd name="T18" fmla="*/ 20 w 315"/>
                <a:gd name="T19" fmla="*/ 353 h 392"/>
                <a:gd name="T20" fmla="*/ 157 w 315"/>
                <a:gd name="T21" fmla="*/ 392 h 392"/>
                <a:gd name="T22" fmla="*/ 157 w 315"/>
                <a:gd name="T23" fmla="*/ 12 h 392"/>
                <a:gd name="T24" fmla="*/ 211 w 315"/>
                <a:gd name="T25" fmla="*/ 18 h 392"/>
                <a:gd name="T26" fmla="*/ 157 w 315"/>
                <a:gd name="T27" fmla="*/ 23 h 392"/>
                <a:gd name="T28" fmla="*/ 103 w 315"/>
                <a:gd name="T29" fmla="*/ 18 h 392"/>
                <a:gd name="T30" fmla="*/ 157 w 315"/>
                <a:gd name="T31" fmla="*/ 12 h 392"/>
                <a:gd name="T32" fmla="*/ 169 w 315"/>
                <a:gd name="T33" fmla="*/ 36 h 392"/>
                <a:gd name="T34" fmla="*/ 168 w 315"/>
                <a:gd name="T35" fmla="*/ 36 h 392"/>
                <a:gd name="T36" fmla="*/ 168 w 315"/>
                <a:gd name="T37" fmla="*/ 36 h 392"/>
                <a:gd name="T38" fmla="*/ 169 w 315"/>
                <a:gd name="T39" fmla="*/ 36 h 392"/>
                <a:gd name="T40" fmla="*/ 93 w 315"/>
                <a:gd name="T41" fmla="*/ 246 h 392"/>
                <a:gd name="T42" fmla="*/ 157 w 315"/>
                <a:gd name="T43" fmla="*/ 182 h 392"/>
                <a:gd name="T44" fmla="*/ 222 w 315"/>
                <a:gd name="T45" fmla="*/ 246 h 392"/>
                <a:gd name="T46" fmla="*/ 157 w 315"/>
                <a:gd name="T47" fmla="*/ 310 h 392"/>
                <a:gd name="T48" fmla="*/ 93 w 315"/>
                <a:gd name="T49" fmla="*/ 2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5" h="392">
                  <a:moveTo>
                    <a:pt x="157" y="392"/>
                  </a:moveTo>
                  <a:cubicBezTo>
                    <a:pt x="176" y="392"/>
                    <a:pt x="315" y="392"/>
                    <a:pt x="295" y="353"/>
                  </a:cubicBezTo>
                  <a:cubicBezTo>
                    <a:pt x="229" y="226"/>
                    <a:pt x="229" y="17"/>
                    <a:pt x="229" y="17"/>
                  </a:cubicBezTo>
                  <a:cubicBezTo>
                    <a:pt x="228" y="10"/>
                    <a:pt x="221" y="6"/>
                    <a:pt x="205" y="3"/>
                  </a:cubicBezTo>
                  <a:cubicBezTo>
                    <a:pt x="192" y="1"/>
                    <a:pt x="175" y="0"/>
                    <a:pt x="157" y="0"/>
                  </a:cubicBezTo>
                  <a:cubicBezTo>
                    <a:pt x="139" y="0"/>
                    <a:pt x="122" y="1"/>
                    <a:pt x="109" y="3"/>
                  </a:cubicBezTo>
                  <a:cubicBezTo>
                    <a:pt x="93" y="6"/>
                    <a:pt x="85" y="10"/>
                    <a:pt x="85" y="17"/>
                  </a:cubicBezTo>
                  <a:cubicBezTo>
                    <a:pt x="85" y="17"/>
                    <a:pt x="85" y="17"/>
                    <a:pt x="85" y="18"/>
                  </a:cubicBezTo>
                  <a:cubicBezTo>
                    <a:pt x="85" y="18"/>
                    <a:pt x="85" y="18"/>
                    <a:pt x="85" y="18"/>
                  </a:cubicBezTo>
                  <a:cubicBezTo>
                    <a:pt x="85" y="32"/>
                    <a:pt x="83" y="231"/>
                    <a:pt x="20" y="353"/>
                  </a:cubicBezTo>
                  <a:cubicBezTo>
                    <a:pt x="0" y="392"/>
                    <a:pt x="138" y="392"/>
                    <a:pt x="157" y="392"/>
                  </a:cubicBezTo>
                  <a:close/>
                  <a:moveTo>
                    <a:pt x="157" y="12"/>
                  </a:moveTo>
                  <a:cubicBezTo>
                    <a:pt x="184" y="12"/>
                    <a:pt x="202" y="15"/>
                    <a:pt x="211" y="18"/>
                  </a:cubicBezTo>
                  <a:cubicBezTo>
                    <a:pt x="202" y="20"/>
                    <a:pt x="184" y="23"/>
                    <a:pt x="157" y="23"/>
                  </a:cubicBezTo>
                  <a:cubicBezTo>
                    <a:pt x="131" y="23"/>
                    <a:pt x="112" y="20"/>
                    <a:pt x="103" y="18"/>
                  </a:cubicBezTo>
                  <a:cubicBezTo>
                    <a:pt x="112" y="15"/>
                    <a:pt x="131" y="12"/>
                    <a:pt x="157" y="12"/>
                  </a:cubicBezTo>
                  <a:close/>
                  <a:moveTo>
                    <a:pt x="169" y="36"/>
                  </a:moveTo>
                  <a:cubicBezTo>
                    <a:pt x="168" y="36"/>
                    <a:pt x="168" y="36"/>
                    <a:pt x="168" y="36"/>
                  </a:cubicBezTo>
                  <a:cubicBezTo>
                    <a:pt x="168" y="36"/>
                    <a:pt x="168" y="36"/>
                    <a:pt x="168" y="36"/>
                  </a:cubicBezTo>
                  <a:cubicBezTo>
                    <a:pt x="168" y="36"/>
                    <a:pt x="168" y="36"/>
                    <a:pt x="169" y="36"/>
                  </a:cubicBezTo>
                  <a:close/>
                  <a:moveTo>
                    <a:pt x="93" y="246"/>
                  </a:moveTo>
                  <a:cubicBezTo>
                    <a:pt x="93" y="211"/>
                    <a:pt x="122" y="182"/>
                    <a:pt x="157" y="182"/>
                  </a:cubicBezTo>
                  <a:cubicBezTo>
                    <a:pt x="193" y="182"/>
                    <a:pt x="222" y="211"/>
                    <a:pt x="222" y="246"/>
                  </a:cubicBezTo>
                  <a:cubicBezTo>
                    <a:pt x="222" y="282"/>
                    <a:pt x="193" y="310"/>
                    <a:pt x="157" y="310"/>
                  </a:cubicBezTo>
                  <a:cubicBezTo>
                    <a:pt x="122" y="310"/>
                    <a:pt x="93" y="282"/>
                    <a:pt x="93" y="2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787481" rtl="0" eaLnBrk="1" fontAlgn="auto" latinLnBrk="0" hangingPunct="1">
                <a:lnSpc>
                  <a:spcPct val="100000"/>
                </a:lnSpc>
                <a:spcBef>
                  <a:spcPts val="0"/>
                </a:spcBef>
                <a:spcAft>
                  <a:spcPts val="0"/>
                </a:spcAft>
                <a:buClrTx/>
                <a:buSzTx/>
                <a:buFontTx/>
                <a:buNone/>
                <a:tabLst/>
                <a:defRPr/>
              </a:pPr>
              <a:endParaRPr kumimoji="0" lang="en-US" sz="1550" b="0" i="0" u="none" strike="noStrike" kern="1200" cap="none" spc="0" normalizeH="0" baseline="0" noProof="0">
                <a:ln>
                  <a:noFill/>
                </a:ln>
                <a:solidFill>
                  <a:prstClr val="black"/>
                </a:solidFill>
                <a:effectLst/>
                <a:uLnTx/>
                <a:uFillTx/>
                <a:latin typeface="Verdana"/>
                <a:ea typeface="+mn-ea"/>
                <a:cs typeface="+mn-cs"/>
              </a:endParaRPr>
            </a:p>
          </p:txBody>
        </p:sp>
        <p:sp>
          <p:nvSpPr>
            <p:cNvPr id="81" name="Freeform 80"/>
            <p:cNvSpPr>
              <a:spLocks noEditPoints="1"/>
            </p:cNvSpPr>
            <p:nvPr/>
          </p:nvSpPr>
          <p:spPr bwMode="auto">
            <a:xfrm>
              <a:off x="5266237" y="4250815"/>
              <a:ext cx="242398" cy="403997"/>
            </a:xfrm>
            <a:custGeom>
              <a:avLst/>
              <a:gdLst>
                <a:gd name="T0" fmla="*/ 57 w 171"/>
                <a:gd name="T1" fmla="*/ 284 h 284"/>
                <a:gd name="T2" fmla="*/ 156 w 171"/>
                <a:gd name="T3" fmla="*/ 256 h 284"/>
                <a:gd name="T4" fmla="*/ 109 w 171"/>
                <a:gd name="T5" fmla="*/ 12 h 284"/>
                <a:gd name="T6" fmla="*/ 109 w 171"/>
                <a:gd name="T7" fmla="*/ 12 h 284"/>
                <a:gd name="T8" fmla="*/ 91 w 171"/>
                <a:gd name="T9" fmla="*/ 2 h 284"/>
                <a:gd name="T10" fmla="*/ 57 w 171"/>
                <a:gd name="T11" fmla="*/ 0 h 284"/>
                <a:gd name="T12" fmla="*/ 23 w 171"/>
                <a:gd name="T13" fmla="*/ 2 h 284"/>
                <a:gd name="T14" fmla="*/ 5 w 171"/>
                <a:gd name="T15" fmla="*/ 12 h 284"/>
                <a:gd name="T16" fmla="*/ 5 w 171"/>
                <a:gd name="T17" fmla="*/ 12 h 284"/>
                <a:gd name="T18" fmla="*/ 5 w 171"/>
                <a:gd name="T19" fmla="*/ 13 h 284"/>
                <a:gd name="T20" fmla="*/ 5 w 171"/>
                <a:gd name="T21" fmla="*/ 13 h 284"/>
                <a:gd name="T22" fmla="*/ 0 w 171"/>
                <a:gd name="T23" fmla="*/ 94 h 284"/>
                <a:gd name="T24" fmla="*/ 48 w 171"/>
                <a:gd name="T25" fmla="*/ 247 h 284"/>
                <a:gd name="T26" fmla="*/ 48 w 171"/>
                <a:gd name="T27" fmla="*/ 271 h 284"/>
                <a:gd name="T28" fmla="*/ 34 w 171"/>
                <a:gd name="T29" fmla="*/ 283 h 284"/>
                <a:gd name="T30" fmla="*/ 57 w 171"/>
                <a:gd name="T31" fmla="*/ 284 h 284"/>
                <a:gd name="T32" fmla="*/ 65 w 171"/>
                <a:gd name="T33" fmla="*/ 26 h 284"/>
                <a:gd name="T34" fmla="*/ 65 w 171"/>
                <a:gd name="T35" fmla="*/ 26 h 284"/>
                <a:gd name="T36" fmla="*/ 65 w 171"/>
                <a:gd name="T37" fmla="*/ 26 h 284"/>
                <a:gd name="T38" fmla="*/ 18 w 171"/>
                <a:gd name="T39" fmla="*/ 13 h 284"/>
                <a:gd name="T40" fmla="*/ 57 w 171"/>
                <a:gd name="T41" fmla="*/ 9 h 284"/>
                <a:gd name="T42" fmla="*/ 96 w 171"/>
                <a:gd name="T43" fmla="*/ 13 h 284"/>
                <a:gd name="T44" fmla="*/ 57 w 171"/>
                <a:gd name="T45" fmla="*/ 17 h 284"/>
                <a:gd name="T46" fmla="*/ 18 w 171"/>
                <a:gd name="T47" fmla="*/ 13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1" h="284">
                  <a:moveTo>
                    <a:pt x="57" y="284"/>
                  </a:moveTo>
                  <a:cubicBezTo>
                    <a:pt x="71" y="284"/>
                    <a:pt x="171" y="284"/>
                    <a:pt x="156" y="256"/>
                  </a:cubicBezTo>
                  <a:cubicBezTo>
                    <a:pt x="109" y="164"/>
                    <a:pt x="109" y="12"/>
                    <a:pt x="109" y="12"/>
                  </a:cubicBezTo>
                  <a:cubicBezTo>
                    <a:pt x="109" y="12"/>
                    <a:pt x="109" y="12"/>
                    <a:pt x="109" y="12"/>
                  </a:cubicBezTo>
                  <a:cubicBezTo>
                    <a:pt x="108" y="8"/>
                    <a:pt x="103" y="5"/>
                    <a:pt x="91" y="2"/>
                  </a:cubicBezTo>
                  <a:cubicBezTo>
                    <a:pt x="82" y="1"/>
                    <a:pt x="70" y="0"/>
                    <a:pt x="57" y="0"/>
                  </a:cubicBezTo>
                  <a:cubicBezTo>
                    <a:pt x="44" y="0"/>
                    <a:pt x="32" y="1"/>
                    <a:pt x="23" y="2"/>
                  </a:cubicBezTo>
                  <a:cubicBezTo>
                    <a:pt x="11" y="5"/>
                    <a:pt x="5" y="8"/>
                    <a:pt x="5" y="12"/>
                  </a:cubicBezTo>
                  <a:cubicBezTo>
                    <a:pt x="5" y="12"/>
                    <a:pt x="5" y="12"/>
                    <a:pt x="5" y="12"/>
                  </a:cubicBezTo>
                  <a:cubicBezTo>
                    <a:pt x="5" y="12"/>
                    <a:pt x="5" y="13"/>
                    <a:pt x="5" y="13"/>
                  </a:cubicBezTo>
                  <a:cubicBezTo>
                    <a:pt x="5" y="13"/>
                    <a:pt x="5" y="13"/>
                    <a:pt x="5" y="13"/>
                  </a:cubicBezTo>
                  <a:cubicBezTo>
                    <a:pt x="5" y="18"/>
                    <a:pt x="5" y="51"/>
                    <a:pt x="0" y="94"/>
                  </a:cubicBezTo>
                  <a:cubicBezTo>
                    <a:pt x="9" y="147"/>
                    <a:pt x="24" y="203"/>
                    <a:pt x="48" y="247"/>
                  </a:cubicBezTo>
                  <a:cubicBezTo>
                    <a:pt x="52" y="255"/>
                    <a:pt x="52" y="264"/>
                    <a:pt x="48" y="271"/>
                  </a:cubicBezTo>
                  <a:cubicBezTo>
                    <a:pt x="45" y="275"/>
                    <a:pt x="42" y="279"/>
                    <a:pt x="34" y="283"/>
                  </a:cubicBezTo>
                  <a:cubicBezTo>
                    <a:pt x="45" y="284"/>
                    <a:pt x="53" y="284"/>
                    <a:pt x="57" y="284"/>
                  </a:cubicBezTo>
                  <a:close/>
                  <a:moveTo>
                    <a:pt x="65" y="26"/>
                  </a:moveTo>
                  <a:cubicBezTo>
                    <a:pt x="65" y="26"/>
                    <a:pt x="65" y="26"/>
                    <a:pt x="65" y="26"/>
                  </a:cubicBezTo>
                  <a:cubicBezTo>
                    <a:pt x="65" y="26"/>
                    <a:pt x="65" y="26"/>
                    <a:pt x="65" y="26"/>
                  </a:cubicBezTo>
                  <a:close/>
                  <a:moveTo>
                    <a:pt x="18" y="13"/>
                  </a:moveTo>
                  <a:cubicBezTo>
                    <a:pt x="24" y="11"/>
                    <a:pt x="37" y="9"/>
                    <a:pt x="57" y="9"/>
                  </a:cubicBezTo>
                  <a:cubicBezTo>
                    <a:pt x="76" y="9"/>
                    <a:pt x="89" y="11"/>
                    <a:pt x="96" y="13"/>
                  </a:cubicBezTo>
                  <a:cubicBezTo>
                    <a:pt x="89" y="15"/>
                    <a:pt x="76" y="17"/>
                    <a:pt x="57" y="17"/>
                  </a:cubicBezTo>
                  <a:cubicBezTo>
                    <a:pt x="37" y="17"/>
                    <a:pt x="24" y="15"/>
                    <a:pt x="1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787481" rtl="0" eaLnBrk="1" fontAlgn="auto" latinLnBrk="0" hangingPunct="1">
                <a:lnSpc>
                  <a:spcPct val="100000"/>
                </a:lnSpc>
                <a:spcBef>
                  <a:spcPts val="0"/>
                </a:spcBef>
                <a:spcAft>
                  <a:spcPts val="0"/>
                </a:spcAft>
                <a:buClrTx/>
                <a:buSzTx/>
                <a:buFontTx/>
                <a:buNone/>
                <a:tabLst/>
                <a:defRPr/>
              </a:pPr>
              <a:endParaRPr kumimoji="0" lang="en-US" sz="1550" b="0" i="0" u="none" strike="noStrike" kern="1200" cap="none" spc="0" normalizeH="0" baseline="0" noProof="0">
                <a:ln>
                  <a:noFill/>
                </a:ln>
                <a:solidFill>
                  <a:prstClr val="black"/>
                </a:solidFill>
                <a:effectLst/>
                <a:uLnTx/>
                <a:uFillTx/>
                <a:latin typeface="Verdana"/>
                <a:ea typeface="+mn-ea"/>
                <a:cs typeface="+mn-cs"/>
              </a:endParaRPr>
            </a:p>
          </p:txBody>
        </p:sp>
        <p:sp>
          <p:nvSpPr>
            <p:cNvPr id="82" name="Freeform 81"/>
            <p:cNvSpPr>
              <a:spLocks noEditPoints="1"/>
            </p:cNvSpPr>
            <p:nvPr/>
          </p:nvSpPr>
          <p:spPr bwMode="auto">
            <a:xfrm>
              <a:off x="4861177" y="3989280"/>
              <a:ext cx="839888" cy="540080"/>
            </a:xfrm>
            <a:custGeom>
              <a:avLst/>
              <a:gdLst>
                <a:gd name="T0" fmla="*/ 179 w 591"/>
                <a:gd name="T1" fmla="*/ 329 h 380"/>
                <a:gd name="T2" fmla="*/ 221 w 591"/>
                <a:gd name="T3" fmla="*/ 305 h 380"/>
                <a:gd name="T4" fmla="*/ 200 w 591"/>
                <a:gd name="T5" fmla="*/ 284 h 380"/>
                <a:gd name="T6" fmla="*/ 156 w 591"/>
                <a:gd name="T7" fmla="*/ 279 h 380"/>
                <a:gd name="T8" fmla="*/ 151 w 591"/>
                <a:gd name="T9" fmla="*/ 314 h 380"/>
                <a:gd name="T10" fmla="*/ 149 w 591"/>
                <a:gd name="T11" fmla="*/ 343 h 380"/>
                <a:gd name="T12" fmla="*/ 156 w 591"/>
                <a:gd name="T13" fmla="*/ 379 h 380"/>
                <a:gd name="T14" fmla="*/ 222 w 591"/>
                <a:gd name="T15" fmla="*/ 378 h 380"/>
                <a:gd name="T16" fmla="*/ 217 w 591"/>
                <a:gd name="T17" fmla="*/ 345 h 380"/>
                <a:gd name="T18" fmla="*/ 199 w 591"/>
                <a:gd name="T19" fmla="*/ 296 h 380"/>
                <a:gd name="T20" fmla="*/ 217 w 591"/>
                <a:gd name="T21" fmla="*/ 284 h 380"/>
                <a:gd name="T22" fmla="*/ 195 w 591"/>
                <a:gd name="T23" fmla="*/ 310 h 380"/>
                <a:gd name="T24" fmla="*/ 173 w 591"/>
                <a:gd name="T25" fmla="*/ 341 h 380"/>
                <a:gd name="T26" fmla="*/ 168 w 591"/>
                <a:gd name="T27" fmla="*/ 324 h 380"/>
                <a:gd name="T28" fmla="*/ 168 w 591"/>
                <a:gd name="T29" fmla="*/ 324 h 380"/>
                <a:gd name="T30" fmla="*/ 186 w 591"/>
                <a:gd name="T31" fmla="*/ 315 h 380"/>
                <a:gd name="T32" fmla="*/ 195 w 591"/>
                <a:gd name="T33" fmla="*/ 338 h 380"/>
                <a:gd name="T34" fmla="*/ 178 w 591"/>
                <a:gd name="T35" fmla="*/ 338 h 380"/>
                <a:gd name="T36" fmla="*/ 209 w 591"/>
                <a:gd name="T37" fmla="*/ 341 h 380"/>
                <a:gd name="T38" fmla="*/ 200 w 591"/>
                <a:gd name="T39" fmla="*/ 317 h 380"/>
                <a:gd name="T40" fmla="*/ 187 w 591"/>
                <a:gd name="T41" fmla="*/ 309 h 380"/>
                <a:gd name="T42" fmla="*/ 187 w 591"/>
                <a:gd name="T43" fmla="*/ 309 h 380"/>
                <a:gd name="T44" fmla="*/ 178 w 591"/>
                <a:gd name="T45" fmla="*/ 310 h 380"/>
                <a:gd name="T46" fmla="*/ 150 w 591"/>
                <a:gd name="T47" fmla="*/ 338 h 380"/>
                <a:gd name="T48" fmla="*/ 153 w 591"/>
                <a:gd name="T49" fmla="*/ 319 h 380"/>
                <a:gd name="T50" fmla="*/ 150 w 591"/>
                <a:gd name="T51" fmla="*/ 338 h 380"/>
                <a:gd name="T52" fmla="*/ 162 w 591"/>
                <a:gd name="T53" fmla="*/ 346 h 380"/>
                <a:gd name="T54" fmla="*/ 187 w 591"/>
                <a:gd name="T55" fmla="*/ 349 h 380"/>
                <a:gd name="T56" fmla="*/ 218 w 591"/>
                <a:gd name="T57" fmla="*/ 363 h 380"/>
                <a:gd name="T58" fmla="*/ 195 w 591"/>
                <a:gd name="T59" fmla="*/ 348 h 380"/>
                <a:gd name="T60" fmla="*/ 218 w 591"/>
                <a:gd name="T61" fmla="*/ 363 h 380"/>
                <a:gd name="T62" fmla="*/ 215 w 591"/>
                <a:gd name="T63" fmla="*/ 318 h 380"/>
                <a:gd name="T64" fmla="*/ 589 w 591"/>
                <a:gd name="T65" fmla="*/ 74 h 380"/>
                <a:gd name="T66" fmla="*/ 533 w 591"/>
                <a:gd name="T67" fmla="*/ 11 h 380"/>
                <a:gd name="T68" fmla="*/ 445 w 591"/>
                <a:gd name="T69" fmla="*/ 36 h 380"/>
                <a:gd name="T70" fmla="*/ 377 w 591"/>
                <a:gd name="T71" fmla="*/ 76 h 380"/>
                <a:gd name="T72" fmla="*/ 319 w 591"/>
                <a:gd name="T73" fmla="*/ 118 h 380"/>
                <a:gd name="T74" fmla="*/ 341 w 591"/>
                <a:gd name="T75" fmla="*/ 159 h 380"/>
                <a:gd name="T76" fmla="*/ 406 w 591"/>
                <a:gd name="T77" fmla="*/ 148 h 380"/>
                <a:gd name="T78" fmla="*/ 491 w 591"/>
                <a:gd name="T79" fmla="*/ 141 h 380"/>
                <a:gd name="T80" fmla="*/ 553 w 591"/>
                <a:gd name="T81" fmla="*/ 119 h 380"/>
                <a:gd name="T82" fmla="*/ 280 w 591"/>
                <a:gd name="T83" fmla="*/ 63 h 380"/>
                <a:gd name="T84" fmla="*/ 243 w 591"/>
                <a:gd name="T85" fmla="*/ 57 h 380"/>
                <a:gd name="T86" fmla="*/ 151 w 591"/>
                <a:gd name="T87" fmla="*/ 29 h 380"/>
                <a:gd name="T88" fmla="*/ 71 w 591"/>
                <a:gd name="T89" fmla="*/ 76 h 380"/>
                <a:gd name="T90" fmla="*/ 27 w 591"/>
                <a:gd name="T91" fmla="*/ 94 h 380"/>
                <a:gd name="T92" fmla="*/ 21 w 591"/>
                <a:gd name="T93" fmla="*/ 161 h 380"/>
                <a:gd name="T94" fmla="*/ 76 w 591"/>
                <a:gd name="T95" fmla="*/ 156 h 380"/>
                <a:gd name="T96" fmla="*/ 110 w 591"/>
                <a:gd name="T97" fmla="*/ 99 h 380"/>
                <a:gd name="T98" fmla="*/ 236 w 591"/>
                <a:gd name="T99" fmla="*/ 76 h 380"/>
                <a:gd name="T100" fmla="*/ 267 w 591"/>
                <a:gd name="T101" fmla="*/ 113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1" h="380">
                  <a:moveTo>
                    <a:pt x="186" y="337"/>
                  </a:moveTo>
                  <a:cubicBezTo>
                    <a:pt x="191" y="337"/>
                    <a:pt x="194" y="333"/>
                    <a:pt x="194" y="329"/>
                  </a:cubicBezTo>
                  <a:cubicBezTo>
                    <a:pt x="194" y="325"/>
                    <a:pt x="191" y="321"/>
                    <a:pt x="186" y="321"/>
                  </a:cubicBezTo>
                  <a:cubicBezTo>
                    <a:pt x="182" y="321"/>
                    <a:pt x="179" y="325"/>
                    <a:pt x="179" y="329"/>
                  </a:cubicBezTo>
                  <a:cubicBezTo>
                    <a:pt x="179" y="333"/>
                    <a:pt x="182" y="337"/>
                    <a:pt x="186" y="337"/>
                  </a:cubicBezTo>
                  <a:close/>
                  <a:moveTo>
                    <a:pt x="224" y="314"/>
                  </a:moveTo>
                  <a:cubicBezTo>
                    <a:pt x="222" y="314"/>
                    <a:pt x="220" y="313"/>
                    <a:pt x="217" y="313"/>
                  </a:cubicBezTo>
                  <a:cubicBezTo>
                    <a:pt x="219" y="310"/>
                    <a:pt x="220" y="307"/>
                    <a:pt x="221" y="305"/>
                  </a:cubicBezTo>
                  <a:cubicBezTo>
                    <a:pt x="226" y="293"/>
                    <a:pt x="226" y="284"/>
                    <a:pt x="222" y="281"/>
                  </a:cubicBezTo>
                  <a:cubicBezTo>
                    <a:pt x="221" y="279"/>
                    <a:pt x="219" y="279"/>
                    <a:pt x="217" y="279"/>
                  </a:cubicBezTo>
                  <a:cubicBezTo>
                    <a:pt x="213" y="279"/>
                    <a:pt x="208" y="281"/>
                    <a:pt x="203" y="285"/>
                  </a:cubicBezTo>
                  <a:cubicBezTo>
                    <a:pt x="202" y="284"/>
                    <a:pt x="201" y="284"/>
                    <a:pt x="200" y="284"/>
                  </a:cubicBezTo>
                  <a:cubicBezTo>
                    <a:pt x="197" y="284"/>
                    <a:pt x="194" y="287"/>
                    <a:pt x="194" y="290"/>
                  </a:cubicBezTo>
                  <a:cubicBezTo>
                    <a:pt x="194" y="291"/>
                    <a:pt x="194" y="291"/>
                    <a:pt x="195" y="292"/>
                  </a:cubicBezTo>
                  <a:cubicBezTo>
                    <a:pt x="192" y="294"/>
                    <a:pt x="189" y="297"/>
                    <a:pt x="187" y="300"/>
                  </a:cubicBezTo>
                  <a:cubicBezTo>
                    <a:pt x="176" y="288"/>
                    <a:pt x="164" y="279"/>
                    <a:pt x="156" y="279"/>
                  </a:cubicBezTo>
                  <a:cubicBezTo>
                    <a:pt x="154" y="279"/>
                    <a:pt x="152" y="279"/>
                    <a:pt x="151" y="281"/>
                  </a:cubicBezTo>
                  <a:cubicBezTo>
                    <a:pt x="147" y="284"/>
                    <a:pt x="147" y="293"/>
                    <a:pt x="152" y="305"/>
                  </a:cubicBezTo>
                  <a:cubicBezTo>
                    <a:pt x="153" y="307"/>
                    <a:pt x="154" y="310"/>
                    <a:pt x="156" y="313"/>
                  </a:cubicBezTo>
                  <a:cubicBezTo>
                    <a:pt x="154" y="313"/>
                    <a:pt x="153" y="313"/>
                    <a:pt x="151" y="314"/>
                  </a:cubicBezTo>
                  <a:cubicBezTo>
                    <a:pt x="150" y="313"/>
                    <a:pt x="149" y="312"/>
                    <a:pt x="147" y="312"/>
                  </a:cubicBezTo>
                  <a:cubicBezTo>
                    <a:pt x="144" y="312"/>
                    <a:pt x="142" y="314"/>
                    <a:pt x="142" y="317"/>
                  </a:cubicBezTo>
                  <a:cubicBezTo>
                    <a:pt x="135" y="320"/>
                    <a:pt x="131" y="324"/>
                    <a:pt x="131" y="329"/>
                  </a:cubicBezTo>
                  <a:cubicBezTo>
                    <a:pt x="131" y="335"/>
                    <a:pt x="137" y="340"/>
                    <a:pt x="149" y="343"/>
                  </a:cubicBezTo>
                  <a:cubicBezTo>
                    <a:pt x="151" y="344"/>
                    <a:pt x="153" y="345"/>
                    <a:pt x="156" y="345"/>
                  </a:cubicBezTo>
                  <a:cubicBezTo>
                    <a:pt x="154" y="348"/>
                    <a:pt x="153" y="350"/>
                    <a:pt x="152" y="353"/>
                  </a:cubicBezTo>
                  <a:cubicBezTo>
                    <a:pt x="147" y="365"/>
                    <a:pt x="147" y="373"/>
                    <a:pt x="151" y="377"/>
                  </a:cubicBezTo>
                  <a:cubicBezTo>
                    <a:pt x="152" y="378"/>
                    <a:pt x="154" y="379"/>
                    <a:pt x="156" y="379"/>
                  </a:cubicBezTo>
                  <a:cubicBezTo>
                    <a:pt x="164" y="379"/>
                    <a:pt x="176" y="370"/>
                    <a:pt x="187" y="358"/>
                  </a:cubicBezTo>
                  <a:cubicBezTo>
                    <a:pt x="197" y="370"/>
                    <a:pt x="209" y="380"/>
                    <a:pt x="217" y="380"/>
                  </a:cubicBezTo>
                  <a:cubicBezTo>
                    <a:pt x="217" y="380"/>
                    <a:pt x="217" y="380"/>
                    <a:pt x="217" y="380"/>
                  </a:cubicBezTo>
                  <a:cubicBezTo>
                    <a:pt x="219" y="380"/>
                    <a:pt x="221" y="379"/>
                    <a:pt x="222" y="378"/>
                  </a:cubicBezTo>
                  <a:cubicBezTo>
                    <a:pt x="225" y="375"/>
                    <a:pt x="226" y="369"/>
                    <a:pt x="224" y="362"/>
                  </a:cubicBezTo>
                  <a:cubicBezTo>
                    <a:pt x="225" y="361"/>
                    <a:pt x="225" y="359"/>
                    <a:pt x="225" y="358"/>
                  </a:cubicBezTo>
                  <a:cubicBezTo>
                    <a:pt x="225" y="355"/>
                    <a:pt x="223" y="352"/>
                    <a:pt x="220" y="352"/>
                  </a:cubicBezTo>
                  <a:cubicBezTo>
                    <a:pt x="219" y="350"/>
                    <a:pt x="218" y="347"/>
                    <a:pt x="217" y="345"/>
                  </a:cubicBezTo>
                  <a:cubicBezTo>
                    <a:pt x="220" y="345"/>
                    <a:pt x="222" y="344"/>
                    <a:pt x="224" y="343"/>
                  </a:cubicBezTo>
                  <a:cubicBezTo>
                    <a:pt x="236" y="340"/>
                    <a:pt x="242" y="335"/>
                    <a:pt x="242" y="329"/>
                  </a:cubicBezTo>
                  <a:cubicBezTo>
                    <a:pt x="242" y="323"/>
                    <a:pt x="236" y="318"/>
                    <a:pt x="224" y="314"/>
                  </a:cubicBezTo>
                  <a:close/>
                  <a:moveTo>
                    <a:pt x="199" y="296"/>
                  </a:moveTo>
                  <a:cubicBezTo>
                    <a:pt x="199" y="296"/>
                    <a:pt x="200" y="296"/>
                    <a:pt x="200" y="296"/>
                  </a:cubicBezTo>
                  <a:cubicBezTo>
                    <a:pt x="204" y="296"/>
                    <a:pt x="206" y="293"/>
                    <a:pt x="206" y="290"/>
                  </a:cubicBezTo>
                  <a:cubicBezTo>
                    <a:pt x="206" y="290"/>
                    <a:pt x="206" y="290"/>
                    <a:pt x="206" y="289"/>
                  </a:cubicBezTo>
                  <a:cubicBezTo>
                    <a:pt x="211" y="286"/>
                    <a:pt x="214" y="284"/>
                    <a:pt x="217" y="284"/>
                  </a:cubicBezTo>
                  <a:cubicBezTo>
                    <a:pt x="218" y="284"/>
                    <a:pt x="218" y="285"/>
                    <a:pt x="218" y="285"/>
                  </a:cubicBezTo>
                  <a:cubicBezTo>
                    <a:pt x="219" y="286"/>
                    <a:pt x="220" y="291"/>
                    <a:pt x="215" y="303"/>
                  </a:cubicBezTo>
                  <a:cubicBezTo>
                    <a:pt x="214" y="305"/>
                    <a:pt x="213" y="308"/>
                    <a:pt x="211" y="311"/>
                  </a:cubicBezTo>
                  <a:cubicBezTo>
                    <a:pt x="206" y="311"/>
                    <a:pt x="200" y="310"/>
                    <a:pt x="195" y="310"/>
                  </a:cubicBezTo>
                  <a:cubicBezTo>
                    <a:pt x="193" y="308"/>
                    <a:pt x="192" y="306"/>
                    <a:pt x="190" y="304"/>
                  </a:cubicBezTo>
                  <a:cubicBezTo>
                    <a:pt x="193" y="301"/>
                    <a:pt x="196" y="298"/>
                    <a:pt x="199" y="296"/>
                  </a:cubicBezTo>
                  <a:close/>
                  <a:moveTo>
                    <a:pt x="168" y="334"/>
                  </a:moveTo>
                  <a:cubicBezTo>
                    <a:pt x="170" y="337"/>
                    <a:pt x="171" y="339"/>
                    <a:pt x="173" y="341"/>
                  </a:cubicBezTo>
                  <a:cubicBezTo>
                    <a:pt x="173" y="341"/>
                    <a:pt x="174" y="342"/>
                    <a:pt x="174" y="342"/>
                  </a:cubicBezTo>
                  <a:cubicBezTo>
                    <a:pt x="171" y="342"/>
                    <a:pt x="167" y="341"/>
                    <a:pt x="164" y="341"/>
                  </a:cubicBezTo>
                  <a:cubicBezTo>
                    <a:pt x="166" y="339"/>
                    <a:pt x="167" y="336"/>
                    <a:pt x="168" y="334"/>
                  </a:cubicBezTo>
                  <a:close/>
                  <a:moveTo>
                    <a:pt x="168" y="324"/>
                  </a:moveTo>
                  <a:cubicBezTo>
                    <a:pt x="167" y="321"/>
                    <a:pt x="166" y="319"/>
                    <a:pt x="164" y="317"/>
                  </a:cubicBezTo>
                  <a:cubicBezTo>
                    <a:pt x="167" y="316"/>
                    <a:pt x="171" y="316"/>
                    <a:pt x="174" y="316"/>
                  </a:cubicBezTo>
                  <a:cubicBezTo>
                    <a:pt x="174" y="316"/>
                    <a:pt x="173" y="316"/>
                    <a:pt x="173" y="317"/>
                  </a:cubicBezTo>
                  <a:cubicBezTo>
                    <a:pt x="171" y="319"/>
                    <a:pt x="170" y="321"/>
                    <a:pt x="168" y="324"/>
                  </a:cubicBezTo>
                  <a:close/>
                  <a:moveTo>
                    <a:pt x="172" y="329"/>
                  </a:moveTo>
                  <a:cubicBezTo>
                    <a:pt x="174" y="326"/>
                    <a:pt x="176" y="323"/>
                    <a:pt x="178" y="320"/>
                  </a:cubicBezTo>
                  <a:cubicBezTo>
                    <a:pt x="179" y="318"/>
                    <a:pt x="180" y="317"/>
                    <a:pt x="181" y="315"/>
                  </a:cubicBezTo>
                  <a:cubicBezTo>
                    <a:pt x="183" y="315"/>
                    <a:pt x="185" y="315"/>
                    <a:pt x="186" y="315"/>
                  </a:cubicBezTo>
                  <a:cubicBezTo>
                    <a:pt x="188" y="315"/>
                    <a:pt x="190" y="315"/>
                    <a:pt x="192" y="315"/>
                  </a:cubicBezTo>
                  <a:cubicBezTo>
                    <a:pt x="193" y="317"/>
                    <a:pt x="194" y="318"/>
                    <a:pt x="195" y="320"/>
                  </a:cubicBezTo>
                  <a:cubicBezTo>
                    <a:pt x="197" y="323"/>
                    <a:pt x="199" y="326"/>
                    <a:pt x="201" y="329"/>
                  </a:cubicBezTo>
                  <a:cubicBezTo>
                    <a:pt x="199" y="332"/>
                    <a:pt x="197" y="335"/>
                    <a:pt x="195" y="338"/>
                  </a:cubicBezTo>
                  <a:cubicBezTo>
                    <a:pt x="194" y="339"/>
                    <a:pt x="193" y="341"/>
                    <a:pt x="192" y="342"/>
                  </a:cubicBezTo>
                  <a:cubicBezTo>
                    <a:pt x="190" y="343"/>
                    <a:pt x="188" y="343"/>
                    <a:pt x="186" y="343"/>
                  </a:cubicBezTo>
                  <a:cubicBezTo>
                    <a:pt x="185" y="343"/>
                    <a:pt x="183" y="343"/>
                    <a:pt x="181" y="342"/>
                  </a:cubicBezTo>
                  <a:cubicBezTo>
                    <a:pt x="180" y="341"/>
                    <a:pt x="179" y="339"/>
                    <a:pt x="178" y="338"/>
                  </a:cubicBezTo>
                  <a:cubicBezTo>
                    <a:pt x="176" y="335"/>
                    <a:pt x="174" y="332"/>
                    <a:pt x="172" y="329"/>
                  </a:cubicBezTo>
                  <a:close/>
                  <a:moveTo>
                    <a:pt x="200" y="341"/>
                  </a:moveTo>
                  <a:cubicBezTo>
                    <a:pt x="202" y="339"/>
                    <a:pt x="203" y="337"/>
                    <a:pt x="205" y="334"/>
                  </a:cubicBezTo>
                  <a:cubicBezTo>
                    <a:pt x="206" y="336"/>
                    <a:pt x="207" y="339"/>
                    <a:pt x="209" y="341"/>
                  </a:cubicBezTo>
                  <a:cubicBezTo>
                    <a:pt x="206" y="341"/>
                    <a:pt x="202" y="342"/>
                    <a:pt x="199" y="342"/>
                  </a:cubicBezTo>
                  <a:cubicBezTo>
                    <a:pt x="199" y="342"/>
                    <a:pt x="200" y="341"/>
                    <a:pt x="200" y="341"/>
                  </a:cubicBezTo>
                  <a:close/>
                  <a:moveTo>
                    <a:pt x="205" y="324"/>
                  </a:moveTo>
                  <a:cubicBezTo>
                    <a:pt x="203" y="321"/>
                    <a:pt x="202" y="319"/>
                    <a:pt x="200" y="317"/>
                  </a:cubicBezTo>
                  <a:cubicBezTo>
                    <a:pt x="200" y="316"/>
                    <a:pt x="199" y="316"/>
                    <a:pt x="199" y="316"/>
                  </a:cubicBezTo>
                  <a:cubicBezTo>
                    <a:pt x="202" y="316"/>
                    <a:pt x="206" y="316"/>
                    <a:pt x="209" y="317"/>
                  </a:cubicBezTo>
                  <a:cubicBezTo>
                    <a:pt x="207" y="319"/>
                    <a:pt x="206" y="321"/>
                    <a:pt x="205" y="324"/>
                  </a:cubicBezTo>
                  <a:close/>
                  <a:moveTo>
                    <a:pt x="187" y="309"/>
                  </a:moveTo>
                  <a:cubicBezTo>
                    <a:pt x="187" y="309"/>
                    <a:pt x="187" y="309"/>
                    <a:pt x="187" y="309"/>
                  </a:cubicBezTo>
                  <a:cubicBezTo>
                    <a:pt x="187" y="309"/>
                    <a:pt x="187" y="309"/>
                    <a:pt x="186" y="309"/>
                  </a:cubicBezTo>
                  <a:cubicBezTo>
                    <a:pt x="186" y="309"/>
                    <a:pt x="186" y="309"/>
                    <a:pt x="186" y="309"/>
                  </a:cubicBezTo>
                  <a:cubicBezTo>
                    <a:pt x="186" y="309"/>
                    <a:pt x="186" y="309"/>
                    <a:pt x="187" y="309"/>
                  </a:cubicBezTo>
                  <a:close/>
                  <a:moveTo>
                    <a:pt x="155" y="285"/>
                  </a:moveTo>
                  <a:cubicBezTo>
                    <a:pt x="155" y="285"/>
                    <a:pt x="155" y="284"/>
                    <a:pt x="156" y="284"/>
                  </a:cubicBezTo>
                  <a:cubicBezTo>
                    <a:pt x="161" y="284"/>
                    <a:pt x="171" y="291"/>
                    <a:pt x="183" y="304"/>
                  </a:cubicBezTo>
                  <a:cubicBezTo>
                    <a:pt x="181" y="306"/>
                    <a:pt x="180" y="308"/>
                    <a:pt x="178" y="310"/>
                  </a:cubicBezTo>
                  <a:cubicBezTo>
                    <a:pt x="173" y="310"/>
                    <a:pt x="167" y="311"/>
                    <a:pt x="162" y="311"/>
                  </a:cubicBezTo>
                  <a:cubicBezTo>
                    <a:pt x="160" y="308"/>
                    <a:pt x="159" y="305"/>
                    <a:pt x="158" y="303"/>
                  </a:cubicBezTo>
                  <a:cubicBezTo>
                    <a:pt x="153" y="291"/>
                    <a:pt x="154" y="286"/>
                    <a:pt x="155" y="285"/>
                  </a:cubicBezTo>
                  <a:close/>
                  <a:moveTo>
                    <a:pt x="150" y="338"/>
                  </a:moveTo>
                  <a:cubicBezTo>
                    <a:pt x="141" y="335"/>
                    <a:pt x="137" y="331"/>
                    <a:pt x="137" y="329"/>
                  </a:cubicBezTo>
                  <a:cubicBezTo>
                    <a:pt x="137" y="327"/>
                    <a:pt x="139" y="325"/>
                    <a:pt x="144" y="323"/>
                  </a:cubicBezTo>
                  <a:cubicBezTo>
                    <a:pt x="145" y="323"/>
                    <a:pt x="146" y="324"/>
                    <a:pt x="147" y="324"/>
                  </a:cubicBezTo>
                  <a:cubicBezTo>
                    <a:pt x="150" y="324"/>
                    <a:pt x="153" y="322"/>
                    <a:pt x="153" y="319"/>
                  </a:cubicBezTo>
                  <a:cubicBezTo>
                    <a:pt x="155" y="319"/>
                    <a:pt x="157" y="318"/>
                    <a:pt x="158" y="318"/>
                  </a:cubicBezTo>
                  <a:cubicBezTo>
                    <a:pt x="160" y="321"/>
                    <a:pt x="163" y="325"/>
                    <a:pt x="165" y="329"/>
                  </a:cubicBezTo>
                  <a:cubicBezTo>
                    <a:pt x="163" y="333"/>
                    <a:pt x="160" y="336"/>
                    <a:pt x="158" y="340"/>
                  </a:cubicBezTo>
                  <a:cubicBezTo>
                    <a:pt x="156" y="339"/>
                    <a:pt x="153" y="339"/>
                    <a:pt x="150" y="338"/>
                  </a:cubicBezTo>
                  <a:close/>
                  <a:moveTo>
                    <a:pt x="156" y="373"/>
                  </a:moveTo>
                  <a:cubicBezTo>
                    <a:pt x="155" y="373"/>
                    <a:pt x="155" y="373"/>
                    <a:pt x="155" y="373"/>
                  </a:cubicBezTo>
                  <a:cubicBezTo>
                    <a:pt x="154" y="372"/>
                    <a:pt x="153" y="367"/>
                    <a:pt x="158" y="355"/>
                  </a:cubicBezTo>
                  <a:cubicBezTo>
                    <a:pt x="159" y="352"/>
                    <a:pt x="160" y="349"/>
                    <a:pt x="162" y="346"/>
                  </a:cubicBezTo>
                  <a:cubicBezTo>
                    <a:pt x="167" y="347"/>
                    <a:pt x="173" y="348"/>
                    <a:pt x="178" y="348"/>
                  </a:cubicBezTo>
                  <a:cubicBezTo>
                    <a:pt x="180" y="350"/>
                    <a:pt x="181" y="352"/>
                    <a:pt x="183" y="353"/>
                  </a:cubicBezTo>
                  <a:cubicBezTo>
                    <a:pt x="171" y="366"/>
                    <a:pt x="161" y="373"/>
                    <a:pt x="156" y="373"/>
                  </a:cubicBezTo>
                  <a:close/>
                  <a:moveTo>
                    <a:pt x="187" y="349"/>
                  </a:moveTo>
                  <a:cubicBezTo>
                    <a:pt x="186" y="349"/>
                    <a:pt x="186" y="349"/>
                    <a:pt x="186" y="348"/>
                  </a:cubicBezTo>
                  <a:cubicBezTo>
                    <a:pt x="187" y="348"/>
                    <a:pt x="187" y="348"/>
                    <a:pt x="187" y="348"/>
                  </a:cubicBezTo>
                  <a:cubicBezTo>
                    <a:pt x="187" y="349"/>
                    <a:pt x="187" y="349"/>
                    <a:pt x="187" y="349"/>
                  </a:cubicBezTo>
                  <a:close/>
                  <a:moveTo>
                    <a:pt x="218" y="363"/>
                  </a:moveTo>
                  <a:cubicBezTo>
                    <a:pt x="220" y="369"/>
                    <a:pt x="219" y="372"/>
                    <a:pt x="218" y="373"/>
                  </a:cubicBezTo>
                  <a:cubicBezTo>
                    <a:pt x="218" y="373"/>
                    <a:pt x="218" y="373"/>
                    <a:pt x="217" y="373"/>
                  </a:cubicBezTo>
                  <a:cubicBezTo>
                    <a:pt x="212" y="373"/>
                    <a:pt x="202" y="366"/>
                    <a:pt x="190" y="353"/>
                  </a:cubicBezTo>
                  <a:cubicBezTo>
                    <a:pt x="192" y="352"/>
                    <a:pt x="193" y="350"/>
                    <a:pt x="195" y="348"/>
                  </a:cubicBezTo>
                  <a:cubicBezTo>
                    <a:pt x="200" y="348"/>
                    <a:pt x="206" y="347"/>
                    <a:pt x="211" y="346"/>
                  </a:cubicBezTo>
                  <a:cubicBezTo>
                    <a:pt x="213" y="349"/>
                    <a:pt x="214" y="351"/>
                    <a:pt x="215" y="354"/>
                  </a:cubicBezTo>
                  <a:cubicBezTo>
                    <a:pt x="214" y="355"/>
                    <a:pt x="213" y="356"/>
                    <a:pt x="213" y="358"/>
                  </a:cubicBezTo>
                  <a:cubicBezTo>
                    <a:pt x="213" y="360"/>
                    <a:pt x="215" y="363"/>
                    <a:pt x="218" y="363"/>
                  </a:cubicBezTo>
                  <a:close/>
                  <a:moveTo>
                    <a:pt x="223" y="338"/>
                  </a:moveTo>
                  <a:cubicBezTo>
                    <a:pt x="220" y="339"/>
                    <a:pt x="217" y="339"/>
                    <a:pt x="215" y="340"/>
                  </a:cubicBezTo>
                  <a:cubicBezTo>
                    <a:pt x="213" y="336"/>
                    <a:pt x="210" y="333"/>
                    <a:pt x="208" y="329"/>
                  </a:cubicBezTo>
                  <a:cubicBezTo>
                    <a:pt x="210" y="325"/>
                    <a:pt x="213" y="321"/>
                    <a:pt x="215" y="318"/>
                  </a:cubicBezTo>
                  <a:cubicBezTo>
                    <a:pt x="217" y="318"/>
                    <a:pt x="220" y="319"/>
                    <a:pt x="223" y="320"/>
                  </a:cubicBezTo>
                  <a:cubicBezTo>
                    <a:pt x="232" y="323"/>
                    <a:pt x="236" y="327"/>
                    <a:pt x="236" y="329"/>
                  </a:cubicBezTo>
                  <a:cubicBezTo>
                    <a:pt x="236" y="331"/>
                    <a:pt x="232" y="335"/>
                    <a:pt x="223" y="338"/>
                  </a:cubicBezTo>
                  <a:close/>
                  <a:moveTo>
                    <a:pt x="589" y="74"/>
                  </a:moveTo>
                  <a:cubicBezTo>
                    <a:pt x="590" y="71"/>
                    <a:pt x="591" y="67"/>
                    <a:pt x="591" y="63"/>
                  </a:cubicBezTo>
                  <a:cubicBezTo>
                    <a:pt x="591" y="51"/>
                    <a:pt x="584" y="40"/>
                    <a:pt x="575" y="34"/>
                  </a:cubicBezTo>
                  <a:cubicBezTo>
                    <a:pt x="572" y="20"/>
                    <a:pt x="560" y="9"/>
                    <a:pt x="544" y="9"/>
                  </a:cubicBezTo>
                  <a:cubicBezTo>
                    <a:pt x="540" y="9"/>
                    <a:pt x="537" y="9"/>
                    <a:pt x="533" y="11"/>
                  </a:cubicBezTo>
                  <a:cubicBezTo>
                    <a:pt x="528" y="4"/>
                    <a:pt x="520" y="0"/>
                    <a:pt x="512" y="0"/>
                  </a:cubicBezTo>
                  <a:cubicBezTo>
                    <a:pt x="501" y="0"/>
                    <a:pt x="493" y="6"/>
                    <a:pt x="488" y="14"/>
                  </a:cubicBezTo>
                  <a:cubicBezTo>
                    <a:pt x="478" y="15"/>
                    <a:pt x="470" y="21"/>
                    <a:pt x="466" y="29"/>
                  </a:cubicBezTo>
                  <a:cubicBezTo>
                    <a:pt x="458" y="29"/>
                    <a:pt x="451" y="32"/>
                    <a:pt x="445" y="36"/>
                  </a:cubicBezTo>
                  <a:cubicBezTo>
                    <a:pt x="442" y="35"/>
                    <a:pt x="439" y="35"/>
                    <a:pt x="436" y="35"/>
                  </a:cubicBezTo>
                  <a:cubicBezTo>
                    <a:pt x="420" y="35"/>
                    <a:pt x="408" y="45"/>
                    <a:pt x="404" y="60"/>
                  </a:cubicBezTo>
                  <a:cubicBezTo>
                    <a:pt x="394" y="61"/>
                    <a:pt x="386" y="68"/>
                    <a:pt x="381" y="76"/>
                  </a:cubicBezTo>
                  <a:cubicBezTo>
                    <a:pt x="380" y="76"/>
                    <a:pt x="378" y="76"/>
                    <a:pt x="377" y="76"/>
                  </a:cubicBezTo>
                  <a:cubicBezTo>
                    <a:pt x="371" y="76"/>
                    <a:pt x="366" y="78"/>
                    <a:pt x="362" y="82"/>
                  </a:cubicBezTo>
                  <a:cubicBezTo>
                    <a:pt x="360" y="82"/>
                    <a:pt x="359" y="82"/>
                    <a:pt x="357" y="82"/>
                  </a:cubicBezTo>
                  <a:cubicBezTo>
                    <a:pt x="349" y="82"/>
                    <a:pt x="341" y="87"/>
                    <a:pt x="338" y="94"/>
                  </a:cubicBezTo>
                  <a:cubicBezTo>
                    <a:pt x="327" y="97"/>
                    <a:pt x="319" y="106"/>
                    <a:pt x="319" y="118"/>
                  </a:cubicBezTo>
                  <a:cubicBezTo>
                    <a:pt x="319" y="120"/>
                    <a:pt x="319" y="122"/>
                    <a:pt x="320" y="123"/>
                  </a:cubicBezTo>
                  <a:cubicBezTo>
                    <a:pt x="314" y="127"/>
                    <a:pt x="311" y="134"/>
                    <a:pt x="311" y="141"/>
                  </a:cubicBezTo>
                  <a:cubicBezTo>
                    <a:pt x="311" y="152"/>
                    <a:pt x="320" y="161"/>
                    <a:pt x="331" y="161"/>
                  </a:cubicBezTo>
                  <a:cubicBezTo>
                    <a:pt x="335" y="161"/>
                    <a:pt x="338" y="161"/>
                    <a:pt x="341" y="159"/>
                  </a:cubicBezTo>
                  <a:cubicBezTo>
                    <a:pt x="344" y="163"/>
                    <a:pt x="350" y="166"/>
                    <a:pt x="356" y="166"/>
                  </a:cubicBezTo>
                  <a:cubicBezTo>
                    <a:pt x="365" y="166"/>
                    <a:pt x="372" y="161"/>
                    <a:pt x="375" y="154"/>
                  </a:cubicBezTo>
                  <a:cubicBezTo>
                    <a:pt x="379" y="155"/>
                    <a:pt x="382" y="156"/>
                    <a:pt x="386" y="156"/>
                  </a:cubicBezTo>
                  <a:cubicBezTo>
                    <a:pt x="394" y="156"/>
                    <a:pt x="401" y="153"/>
                    <a:pt x="406" y="148"/>
                  </a:cubicBezTo>
                  <a:cubicBezTo>
                    <a:pt x="410" y="149"/>
                    <a:pt x="415" y="150"/>
                    <a:pt x="419" y="150"/>
                  </a:cubicBezTo>
                  <a:cubicBezTo>
                    <a:pt x="430" y="150"/>
                    <a:pt x="439" y="147"/>
                    <a:pt x="446" y="141"/>
                  </a:cubicBezTo>
                  <a:cubicBezTo>
                    <a:pt x="452" y="146"/>
                    <a:pt x="460" y="150"/>
                    <a:pt x="469" y="150"/>
                  </a:cubicBezTo>
                  <a:cubicBezTo>
                    <a:pt x="478" y="150"/>
                    <a:pt x="485" y="147"/>
                    <a:pt x="491" y="141"/>
                  </a:cubicBezTo>
                  <a:cubicBezTo>
                    <a:pt x="500" y="139"/>
                    <a:pt x="508" y="134"/>
                    <a:pt x="512" y="127"/>
                  </a:cubicBezTo>
                  <a:cubicBezTo>
                    <a:pt x="519" y="126"/>
                    <a:pt x="524" y="124"/>
                    <a:pt x="529" y="120"/>
                  </a:cubicBezTo>
                  <a:cubicBezTo>
                    <a:pt x="532" y="121"/>
                    <a:pt x="536" y="122"/>
                    <a:pt x="540" y="122"/>
                  </a:cubicBezTo>
                  <a:cubicBezTo>
                    <a:pt x="545" y="122"/>
                    <a:pt x="549" y="121"/>
                    <a:pt x="553" y="119"/>
                  </a:cubicBezTo>
                  <a:cubicBezTo>
                    <a:pt x="555" y="120"/>
                    <a:pt x="556" y="120"/>
                    <a:pt x="558" y="120"/>
                  </a:cubicBezTo>
                  <a:cubicBezTo>
                    <a:pt x="576" y="120"/>
                    <a:pt x="591" y="105"/>
                    <a:pt x="591" y="87"/>
                  </a:cubicBezTo>
                  <a:cubicBezTo>
                    <a:pt x="591" y="82"/>
                    <a:pt x="590" y="78"/>
                    <a:pt x="589" y="74"/>
                  </a:cubicBezTo>
                  <a:close/>
                  <a:moveTo>
                    <a:pt x="280" y="63"/>
                  </a:moveTo>
                  <a:cubicBezTo>
                    <a:pt x="280" y="58"/>
                    <a:pt x="279" y="53"/>
                    <a:pt x="277" y="49"/>
                  </a:cubicBezTo>
                  <a:cubicBezTo>
                    <a:pt x="277" y="49"/>
                    <a:pt x="277" y="49"/>
                    <a:pt x="277" y="49"/>
                  </a:cubicBezTo>
                  <a:cubicBezTo>
                    <a:pt x="270" y="54"/>
                    <a:pt x="261" y="57"/>
                    <a:pt x="251" y="57"/>
                  </a:cubicBezTo>
                  <a:cubicBezTo>
                    <a:pt x="248" y="57"/>
                    <a:pt x="246" y="57"/>
                    <a:pt x="243" y="57"/>
                  </a:cubicBezTo>
                  <a:cubicBezTo>
                    <a:pt x="236" y="65"/>
                    <a:pt x="226" y="70"/>
                    <a:pt x="216" y="70"/>
                  </a:cubicBezTo>
                  <a:cubicBezTo>
                    <a:pt x="208" y="70"/>
                    <a:pt x="201" y="67"/>
                    <a:pt x="195" y="63"/>
                  </a:cubicBezTo>
                  <a:cubicBezTo>
                    <a:pt x="192" y="64"/>
                    <a:pt x="189" y="64"/>
                    <a:pt x="186" y="64"/>
                  </a:cubicBezTo>
                  <a:cubicBezTo>
                    <a:pt x="167" y="64"/>
                    <a:pt x="151" y="49"/>
                    <a:pt x="151" y="29"/>
                  </a:cubicBezTo>
                  <a:cubicBezTo>
                    <a:pt x="145" y="30"/>
                    <a:pt x="139" y="33"/>
                    <a:pt x="135" y="36"/>
                  </a:cubicBezTo>
                  <a:cubicBezTo>
                    <a:pt x="132" y="35"/>
                    <a:pt x="129" y="35"/>
                    <a:pt x="125" y="35"/>
                  </a:cubicBezTo>
                  <a:cubicBezTo>
                    <a:pt x="110" y="35"/>
                    <a:pt x="97" y="45"/>
                    <a:pt x="93" y="60"/>
                  </a:cubicBezTo>
                  <a:cubicBezTo>
                    <a:pt x="84" y="61"/>
                    <a:pt x="75" y="68"/>
                    <a:pt x="71" y="76"/>
                  </a:cubicBezTo>
                  <a:cubicBezTo>
                    <a:pt x="69" y="76"/>
                    <a:pt x="68" y="76"/>
                    <a:pt x="67" y="76"/>
                  </a:cubicBezTo>
                  <a:cubicBezTo>
                    <a:pt x="61" y="76"/>
                    <a:pt x="55" y="78"/>
                    <a:pt x="52" y="82"/>
                  </a:cubicBezTo>
                  <a:cubicBezTo>
                    <a:pt x="50" y="82"/>
                    <a:pt x="48" y="82"/>
                    <a:pt x="47" y="82"/>
                  </a:cubicBezTo>
                  <a:cubicBezTo>
                    <a:pt x="38" y="82"/>
                    <a:pt x="31" y="87"/>
                    <a:pt x="27" y="94"/>
                  </a:cubicBezTo>
                  <a:cubicBezTo>
                    <a:pt x="17" y="97"/>
                    <a:pt x="8" y="106"/>
                    <a:pt x="8" y="118"/>
                  </a:cubicBezTo>
                  <a:cubicBezTo>
                    <a:pt x="8" y="120"/>
                    <a:pt x="9" y="122"/>
                    <a:pt x="9" y="123"/>
                  </a:cubicBezTo>
                  <a:cubicBezTo>
                    <a:pt x="4" y="127"/>
                    <a:pt x="0" y="134"/>
                    <a:pt x="0" y="141"/>
                  </a:cubicBezTo>
                  <a:cubicBezTo>
                    <a:pt x="0" y="152"/>
                    <a:pt x="9" y="161"/>
                    <a:pt x="21" y="161"/>
                  </a:cubicBezTo>
                  <a:cubicBezTo>
                    <a:pt x="24" y="161"/>
                    <a:pt x="27" y="161"/>
                    <a:pt x="30" y="159"/>
                  </a:cubicBezTo>
                  <a:cubicBezTo>
                    <a:pt x="34" y="163"/>
                    <a:pt x="40" y="166"/>
                    <a:pt x="46" y="166"/>
                  </a:cubicBezTo>
                  <a:cubicBezTo>
                    <a:pt x="54" y="166"/>
                    <a:pt x="61" y="161"/>
                    <a:pt x="65" y="154"/>
                  </a:cubicBezTo>
                  <a:cubicBezTo>
                    <a:pt x="68" y="155"/>
                    <a:pt x="72" y="156"/>
                    <a:pt x="76" y="156"/>
                  </a:cubicBezTo>
                  <a:cubicBezTo>
                    <a:pt x="83" y="156"/>
                    <a:pt x="90" y="153"/>
                    <a:pt x="96" y="148"/>
                  </a:cubicBezTo>
                  <a:cubicBezTo>
                    <a:pt x="98" y="149"/>
                    <a:pt x="103" y="149"/>
                    <a:pt x="106" y="150"/>
                  </a:cubicBezTo>
                  <a:cubicBezTo>
                    <a:pt x="107" y="120"/>
                    <a:pt x="110" y="101"/>
                    <a:pt x="110" y="101"/>
                  </a:cubicBezTo>
                  <a:cubicBezTo>
                    <a:pt x="110" y="99"/>
                    <a:pt x="110" y="99"/>
                    <a:pt x="110" y="99"/>
                  </a:cubicBezTo>
                  <a:cubicBezTo>
                    <a:pt x="108" y="99"/>
                    <a:pt x="108" y="99"/>
                    <a:pt x="108" y="99"/>
                  </a:cubicBezTo>
                  <a:cubicBezTo>
                    <a:pt x="109" y="81"/>
                    <a:pt x="128" y="77"/>
                    <a:pt x="138" y="76"/>
                  </a:cubicBezTo>
                  <a:cubicBezTo>
                    <a:pt x="152" y="73"/>
                    <a:pt x="168" y="72"/>
                    <a:pt x="187" y="72"/>
                  </a:cubicBezTo>
                  <a:cubicBezTo>
                    <a:pt x="205" y="72"/>
                    <a:pt x="222" y="73"/>
                    <a:pt x="236" y="76"/>
                  </a:cubicBezTo>
                  <a:cubicBezTo>
                    <a:pt x="246" y="77"/>
                    <a:pt x="266" y="81"/>
                    <a:pt x="267" y="99"/>
                  </a:cubicBezTo>
                  <a:cubicBezTo>
                    <a:pt x="266" y="99"/>
                    <a:pt x="266" y="99"/>
                    <a:pt x="266" y="99"/>
                  </a:cubicBezTo>
                  <a:cubicBezTo>
                    <a:pt x="266" y="100"/>
                    <a:pt x="266" y="100"/>
                    <a:pt x="266" y="100"/>
                  </a:cubicBezTo>
                  <a:cubicBezTo>
                    <a:pt x="266" y="100"/>
                    <a:pt x="267" y="105"/>
                    <a:pt x="267" y="113"/>
                  </a:cubicBezTo>
                  <a:cubicBezTo>
                    <a:pt x="275" y="107"/>
                    <a:pt x="280" y="97"/>
                    <a:pt x="280" y="87"/>
                  </a:cubicBezTo>
                  <a:cubicBezTo>
                    <a:pt x="280" y="82"/>
                    <a:pt x="280" y="78"/>
                    <a:pt x="278" y="74"/>
                  </a:cubicBezTo>
                  <a:cubicBezTo>
                    <a:pt x="279" y="71"/>
                    <a:pt x="280" y="67"/>
                    <a:pt x="280"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787481" rtl="0" eaLnBrk="1" fontAlgn="auto" latinLnBrk="0" hangingPunct="1">
                <a:lnSpc>
                  <a:spcPct val="100000"/>
                </a:lnSpc>
                <a:spcBef>
                  <a:spcPts val="0"/>
                </a:spcBef>
                <a:spcAft>
                  <a:spcPts val="0"/>
                </a:spcAft>
                <a:buClrTx/>
                <a:buSzTx/>
                <a:buFontTx/>
                <a:buNone/>
                <a:tabLst/>
                <a:defRPr/>
              </a:pPr>
              <a:endParaRPr kumimoji="0" lang="en-US" sz="1550" b="0" i="0" u="none" strike="noStrike" kern="1200" cap="none" spc="0" normalizeH="0" baseline="0" noProof="0">
                <a:ln>
                  <a:noFill/>
                </a:ln>
                <a:solidFill>
                  <a:prstClr val="black"/>
                </a:solidFill>
                <a:effectLst/>
                <a:uLnTx/>
                <a:uFillTx/>
                <a:latin typeface="Verdana"/>
                <a:ea typeface="+mn-ea"/>
                <a:cs typeface="+mn-cs"/>
              </a:endParaRPr>
            </a:p>
          </p:txBody>
        </p:sp>
      </p:grpSp>
      <p:sp>
        <p:nvSpPr>
          <p:cNvPr id="83" name="Oval 82"/>
          <p:cNvSpPr/>
          <p:nvPr/>
        </p:nvSpPr>
        <p:spPr bwMode="gray">
          <a:xfrm>
            <a:off x="8859283" y="5735684"/>
            <a:ext cx="720000" cy="720000"/>
          </a:xfrm>
          <a:prstGeom prst="ellipse">
            <a:avLst/>
          </a:prstGeom>
          <a:noFill/>
          <a:ln w="28575" algn="ctr">
            <a:solidFill>
              <a:schemeClr val="accent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grpSp>
        <p:nvGrpSpPr>
          <p:cNvPr id="9" name="Group 8"/>
          <p:cNvGrpSpPr/>
          <p:nvPr/>
        </p:nvGrpSpPr>
        <p:grpSpPr>
          <a:xfrm>
            <a:off x="4975675" y="5727614"/>
            <a:ext cx="720000" cy="720000"/>
            <a:chOff x="3750305" y="5668201"/>
            <a:chExt cx="720000" cy="720000"/>
          </a:xfrm>
        </p:grpSpPr>
        <p:pic>
          <p:nvPicPr>
            <p:cNvPr id="8" name="Picture 7"/>
            <p:cNvPicPr>
              <a:picLocks noChangeAspect="1"/>
            </p:cNvPicPr>
            <p:nvPr/>
          </p:nvPicPr>
          <p:blipFill>
            <a:blip r:embed="rId4">
              <a:duotone>
                <a:schemeClr val="accent1">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Lst>
            </a:blip>
            <a:stretch>
              <a:fillRect/>
            </a:stretch>
          </p:blipFill>
          <p:spPr>
            <a:xfrm>
              <a:off x="3817228" y="5883366"/>
              <a:ext cx="611501" cy="339940"/>
            </a:xfrm>
            <a:prstGeom prst="rect">
              <a:avLst/>
            </a:prstGeom>
          </p:spPr>
        </p:pic>
        <p:sp>
          <p:nvSpPr>
            <p:cNvPr id="84" name="Oval 83"/>
            <p:cNvSpPr/>
            <p:nvPr/>
          </p:nvSpPr>
          <p:spPr bwMode="gray">
            <a:xfrm>
              <a:off x="3750305" y="5668201"/>
              <a:ext cx="720000" cy="720000"/>
            </a:xfrm>
            <a:prstGeom prst="ellipse">
              <a:avLst/>
            </a:prstGeom>
            <a:noFill/>
            <a:ln w="28575" algn="ctr">
              <a:solidFill>
                <a:schemeClr val="accent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grpSp>
      <p:grpSp>
        <p:nvGrpSpPr>
          <p:cNvPr id="88" name="Group 449"/>
          <p:cNvGrpSpPr>
            <a:grpSpLocks noChangeAspect="1"/>
          </p:cNvGrpSpPr>
          <p:nvPr/>
        </p:nvGrpSpPr>
        <p:grpSpPr bwMode="auto">
          <a:xfrm>
            <a:off x="5669001" y="2193091"/>
            <a:ext cx="344760" cy="332826"/>
            <a:chOff x="2732" y="1561"/>
            <a:chExt cx="340" cy="340"/>
          </a:xfrm>
          <a:solidFill>
            <a:schemeClr val="accent1"/>
          </a:solidFill>
        </p:grpSpPr>
        <p:sp>
          <p:nvSpPr>
            <p:cNvPr id="89" name="Freeform 450"/>
            <p:cNvSpPr>
              <a:spLocks noEditPoints="1"/>
            </p:cNvSpPr>
            <p:nvPr/>
          </p:nvSpPr>
          <p:spPr bwMode="auto">
            <a:xfrm>
              <a:off x="2732" y="156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solidFill>
                <a:schemeClr val="accent1"/>
              </a:solid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787481" rtl="0" eaLnBrk="1" fontAlgn="auto" latinLnBrk="0" hangingPunct="1">
                <a:lnSpc>
                  <a:spcPct val="100000"/>
                </a:lnSpc>
                <a:spcBef>
                  <a:spcPts val="0"/>
                </a:spcBef>
                <a:spcAft>
                  <a:spcPts val="0"/>
                </a:spcAft>
                <a:buClrTx/>
                <a:buSzTx/>
                <a:buFontTx/>
                <a:buNone/>
                <a:tabLst/>
                <a:defRPr/>
              </a:pPr>
              <a:endParaRPr kumimoji="0" lang="en-GB" sz="1550" b="0" i="0" u="none" strike="noStrike" kern="1200" cap="none" spc="0" normalizeH="0" baseline="0" noProof="0" dirty="0">
                <a:ln>
                  <a:noFill/>
                </a:ln>
                <a:solidFill>
                  <a:prstClr val="black"/>
                </a:solidFill>
                <a:effectLst/>
                <a:uLnTx/>
                <a:uFillTx/>
                <a:latin typeface="Verdana"/>
                <a:ea typeface="+mn-ea"/>
                <a:cs typeface="+mn-cs"/>
              </a:endParaRPr>
            </a:p>
          </p:txBody>
        </p:sp>
        <p:sp>
          <p:nvSpPr>
            <p:cNvPr id="90" name="Freeform 451"/>
            <p:cNvSpPr>
              <a:spLocks noEditPoints="1"/>
            </p:cNvSpPr>
            <p:nvPr/>
          </p:nvSpPr>
          <p:spPr bwMode="auto">
            <a:xfrm>
              <a:off x="2795" y="1630"/>
              <a:ext cx="211" cy="207"/>
            </a:xfrm>
            <a:custGeom>
              <a:avLst/>
              <a:gdLst>
                <a:gd name="T0" fmla="*/ 132 w 318"/>
                <a:gd name="T1" fmla="*/ 312 h 312"/>
                <a:gd name="T2" fmla="*/ 124 w 318"/>
                <a:gd name="T3" fmla="*/ 309 h 312"/>
                <a:gd name="T4" fmla="*/ 4 w 318"/>
                <a:gd name="T5" fmla="*/ 188 h 312"/>
                <a:gd name="T6" fmla="*/ 4 w 318"/>
                <a:gd name="T7" fmla="*/ 173 h 312"/>
                <a:gd name="T8" fmla="*/ 173 w 318"/>
                <a:gd name="T9" fmla="*/ 4 h 312"/>
                <a:gd name="T10" fmla="*/ 182 w 318"/>
                <a:gd name="T11" fmla="*/ 0 h 312"/>
                <a:gd name="T12" fmla="*/ 292 w 318"/>
                <a:gd name="T13" fmla="*/ 11 h 312"/>
                <a:gd name="T14" fmla="*/ 302 w 318"/>
                <a:gd name="T15" fmla="*/ 20 h 312"/>
                <a:gd name="T16" fmla="*/ 317 w 318"/>
                <a:gd name="T17" fmla="*/ 125 h 312"/>
                <a:gd name="T18" fmla="*/ 314 w 318"/>
                <a:gd name="T19" fmla="*/ 134 h 312"/>
                <a:gd name="T20" fmla="*/ 140 w 318"/>
                <a:gd name="T21" fmla="*/ 309 h 312"/>
                <a:gd name="T22" fmla="*/ 132 w 318"/>
                <a:gd name="T23" fmla="*/ 312 h 312"/>
                <a:gd name="T24" fmla="*/ 26 w 318"/>
                <a:gd name="T25" fmla="*/ 180 h 312"/>
                <a:gd name="T26" fmla="*/ 132 w 318"/>
                <a:gd name="T27" fmla="*/ 286 h 312"/>
                <a:gd name="T28" fmla="*/ 295 w 318"/>
                <a:gd name="T29" fmla="*/ 123 h 312"/>
                <a:gd name="T30" fmla="*/ 282 w 318"/>
                <a:gd name="T31" fmla="*/ 31 h 312"/>
                <a:gd name="T32" fmla="*/ 185 w 318"/>
                <a:gd name="T33" fmla="*/ 22 h 312"/>
                <a:gd name="T34" fmla="*/ 26 w 318"/>
                <a:gd name="T35" fmla="*/ 180 h 312"/>
                <a:gd name="T36" fmla="*/ 245 w 318"/>
                <a:gd name="T37" fmla="*/ 67 h 312"/>
                <a:gd name="T38" fmla="*/ 214 w 318"/>
                <a:gd name="T39" fmla="*/ 67 h 312"/>
                <a:gd name="T40" fmla="*/ 214 w 318"/>
                <a:gd name="T41" fmla="*/ 98 h 312"/>
                <a:gd name="T42" fmla="*/ 245 w 318"/>
                <a:gd name="T43" fmla="*/ 98 h 312"/>
                <a:gd name="T44" fmla="*/ 245 w 318"/>
                <a:gd name="T45" fmla="*/ 67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8" h="312">
                  <a:moveTo>
                    <a:pt x="132" y="312"/>
                  </a:moveTo>
                  <a:cubicBezTo>
                    <a:pt x="129" y="312"/>
                    <a:pt x="127" y="311"/>
                    <a:pt x="124" y="309"/>
                  </a:cubicBezTo>
                  <a:cubicBezTo>
                    <a:pt x="4" y="188"/>
                    <a:pt x="4" y="188"/>
                    <a:pt x="4" y="188"/>
                  </a:cubicBezTo>
                  <a:cubicBezTo>
                    <a:pt x="0" y="184"/>
                    <a:pt x="0" y="177"/>
                    <a:pt x="4" y="173"/>
                  </a:cubicBezTo>
                  <a:cubicBezTo>
                    <a:pt x="173" y="4"/>
                    <a:pt x="173" y="4"/>
                    <a:pt x="173" y="4"/>
                  </a:cubicBezTo>
                  <a:cubicBezTo>
                    <a:pt x="175" y="1"/>
                    <a:pt x="178" y="0"/>
                    <a:pt x="182" y="0"/>
                  </a:cubicBezTo>
                  <a:cubicBezTo>
                    <a:pt x="292" y="11"/>
                    <a:pt x="292" y="11"/>
                    <a:pt x="292" y="11"/>
                  </a:cubicBezTo>
                  <a:cubicBezTo>
                    <a:pt x="297" y="11"/>
                    <a:pt x="301" y="15"/>
                    <a:pt x="302" y="20"/>
                  </a:cubicBezTo>
                  <a:cubicBezTo>
                    <a:pt x="317" y="125"/>
                    <a:pt x="317" y="125"/>
                    <a:pt x="317" y="125"/>
                  </a:cubicBezTo>
                  <a:cubicBezTo>
                    <a:pt x="318" y="128"/>
                    <a:pt x="316" y="132"/>
                    <a:pt x="314" y="134"/>
                  </a:cubicBezTo>
                  <a:cubicBezTo>
                    <a:pt x="140" y="309"/>
                    <a:pt x="140" y="309"/>
                    <a:pt x="140" y="309"/>
                  </a:cubicBezTo>
                  <a:cubicBezTo>
                    <a:pt x="137" y="311"/>
                    <a:pt x="135" y="312"/>
                    <a:pt x="132" y="312"/>
                  </a:cubicBezTo>
                  <a:close/>
                  <a:moveTo>
                    <a:pt x="26" y="180"/>
                  </a:moveTo>
                  <a:cubicBezTo>
                    <a:pt x="132" y="286"/>
                    <a:pt x="132" y="286"/>
                    <a:pt x="132" y="286"/>
                  </a:cubicBezTo>
                  <a:cubicBezTo>
                    <a:pt x="295" y="123"/>
                    <a:pt x="295" y="123"/>
                    <a:pt x="295" y="123"/>
                  </a:cubicBezTo>
                  <a:cubicBezTo>
                    <a:pt x="282" y="31"/>
                    <a:pt x="282" y="31"/>
                    <a:pt x="282" y="31"/>
                  </a:cubicBezTo>
                  <a:cubicBezTo>
                    <a:pt x="185" y="22"/>
                    <a:pt x="185" y="22"/>
                    <a:pt x="185" y="22"/>
                  </a:cubicBezTo>
                  <a:lnTo>
                    <a:pt x="26" y="180"/>
                  </a:lnTo>
                  <a:close/>
                  <a:moveTo>
                    <a:pt x="245" y="67"/>
                  </a:moveTo>
                  <a:cubicBezTo>
                    <a:pt x="236" y="58"/>
                    <a:pt x="222" y="58"/>
                    <a:pt x="214" y="67"/>
                  </a:cubicBezTo>
                  <a:cubicBezTo>
                    <a:pt x="205" y="75"/>
                    <a:pt x="205" y="89"/>
                    <a:pt x="214" y="98"/>
                  </a:cubicBezTo>
                  <a:cubicBezTo>
                    <a:pt x="222" y="106"/>
                    <a:pt x="236" y="106"/>
                    <a:pt x="245" y="98"/>
                  </a:cubicBezTo>
                  <a:cubicBezTo>
                    <a:pt x="253" y="89"/>
                    <a:pt x="253" y="75"/>
                    <a:pt x="245" y="67"/>
                  </a:cubicBezTo>
                  <a:close/>
                </a:path>
              </a:pathLst>
            </a:custGeom>
            <a:grpFill/>
            <a:ln>
              <a:solidFill>
                <a:schemeClr val="accent1"/>
              </a:solid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787481" rtl="0" eaLnBrk="1" fontAlgn="auto" latinLnBrk="0" hangingPunct="1">
                <a:lnSpc>
                  <a:spcPct val="100000"/>
                </a:lnSpc>
                <a:spcBef>
                  <a:spcPts val="0"/>
                </a:spcBef>
                <a:spcAft>
                  <a:spcPts val="0"/>
                </a:spcAft>
                <a:buClrTx/>
                <a:buSzTx/>
                <a:buFontTx/>
                <a:buNone/>
                <a:tabLst/>
                <a:defRPr/>
              </a:pPr>
              <a:endParaRPr kumimoji="0" lang="en-GB" sz="1550" b="0" i="0" u="none" strike="noStrike" kern="1200" cap="none" spc="0" normalizeH="0" baseline="0" noProof="0" dirty="0">
                <a:ln>
                  <a:noFill/>
                </a:ln>
                <a:solidFill>
                  <a:prstClr val="black"/>
                </a:solidFill>
                <a:effectLst/>
                <a:uLnTx/>
                <a:uFillTx/>
                <a:latin typeface="Verdana"/>
                <a:ea typeface="+mn-ea"/>
                <a:cs typeface="+mn-cs"/>
              </a:endParaRPr>
            </a:p>
          </p:txBody>
        </p:sp>
      </p:grpSp>
      <p:sp>
        <p:nvSpPr>
          <p:cNvPr id="42" name="Rectangle 41"/>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marL="0" marR="0" lvl="0" indent="0" algn="l" defTabSz="914400"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FSA, Fuel </a:t>
            </a:r>
            <a:r>
              <a:rPr kumimoji="0" lang="en-US" sz="700" b="0" i="1" u="none" strike="noStrike" kern="1200" cap="none" spc="0" normalizeH="0" baseline="0" noProof="0">
                <a:ln>
                  <a:noFill/>
                </a:ln>
                <a:solidFill>
                  <a:prstClr val="black"/>
                </a:solidFill>
                <a:effectLst/>
                <a:uLnTx/>
                <a:uFillTx/>
                <a:latin typeface="Verdana"/>
                <a:ea typeface="+mn-ea"/>
                <a:cs typeface="+mn-cs"/>
              </a:rPr>
              <a:t>Transportation Agreement, Deloitte </a:t>
            </a:r>
            <a:r>
              <a:rPr kumimoji="0" lang="en-US" sz="700" b="0" i="1" u="none" strike="noStrike" kern="1200" cap="none" spc="0" normalizeH="0" baseline="0" noProof="0" dirty="0">
                <a:ln>
                  <a:noFill/>
                </a:ln>
                <a:solidFill>
                  <a:prstClr val="black"/>
                </a:solidFill>
                <a:effectLst/>
                <a:uLnTx/>
                <a:uFillTx/>
                <a:latin typeface="Verdana"/>
                <a:ea typeface="+mn-ea"/>
                <a:cs typeface="+mn-cs"/>
              </a:rPr>
              <a:t>Analysis</a:t>
            </a:r>
          </a:p>
        </p:txBody>
      </p:sp>
    </p:spTree>
    <p:extLst>
      <p:ext uri="{BB962C8B-B14F-4D97-AF65-F5344CB8AC3E}">
        <p14:creationId xmlns:p14="http://schemas.microsoft.com/office/powerpoint/2010/main" val="181161399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Fuel Supply Agreement| Key Terms</a:t>
            </a:r>
            <a:endParaRPr lang="en-IN" dirty="0"/>
          </a:p>
        </p:txBody>
      </p:sp>
      <p:graphicFrame>
        <p:nvGraphicFramePr>
          <p:cNvPr id="3" name="Table 2"/>
          <p:cNvGraphicFramePr>
            <a:graphicFrameLocks noGrp="1"/>
          </p:cNvGraphicFramePr>
          <p:nvPr>
            <p:extLst>
              <p:ext uri="{D42A27DB-BD31-4B8C-83A1-F6EECF244321}">
                <p14:modId xmlns:p14="http://schemas.microsoft.com/office/powerpoint/2010/main" val="1462694885"/>
              </p:ext>
            </p:extLst>
          </p:nvPr>
        </p:nvGraphicFramePr>
        <p:xfrm>
          <a:off x="449992" y="1598375"/>
          <a:ext cx="9791843" cy="5483860"/>
        </p:xfrm>
        <a:graphic>
          <a:graphicData uri="http://schemas.openxmlformats.org/drawingml/2006/table">
            <a:tbl>
              <a:tblPr firstRow="1">
                <a:tableStyleId>{3B4B98B0-60AC-42C2-AFA5-B58CD77FA1E5}</a:tableStyleId>
              </a:tblPr>
              <a:tblGrid>
                <a:gridCol w="553860">
                  <a:extLst>
                    <a:ext uri="{9D8B030D-6E8A-4147-A177-3AD203B41FA5}">
                      <a16:colId xmlns:a16="http://schemas.microsoft.com/office/drawing/2014/main" val="3671827557"/>
                    </a:ext>
                  </a:extLst>
                </a:gridCol>
                <a:gridCol w="1015448">
                  <a:extLst>
                    <a:ext uri="{9D8B030D-6E8A-4147-A177-3AD203B41FA5}">
                      <a16:colId xmlns:a16="http://schemas.microsoft.com/office/drawing/2014/main" val="2911403996"/>
                    </a:ext>
                  </a:extLst>
                </a:gridCol>
                <a:gridCol w="6756952">
                  <a:extLst>
                    <a:ext uri="{9D8B030D-6E8A-4147-A177-3AD203B41FA5}">
                      <a16:colId xmlns:a16="http://schemas.microsoft.com/office/drawing/2014/main" val="1355348493"/>
                    </a:ext>
                  </a:extLst>
                </a:gridCol>
                <a:gridCol w="1465583">
                  <a:extLst>
                    <a:ext uri="{9D8B030D-6E8A-4147-A177-3AD203B41FA5}">
                      <a16:colId xmlns:a16="http://schemas.microsoft.com/office/drawing/2014/main" val="3999508094"/>
                    </a:ext>
                  </a:extLst>
                </a:gridCol>
              </a:tblGrid>
              <a:tr h="161731">
                <a:tc>
                  <a:txBody>
                    <a:bodyPr/>
                    <a:lstStyle/>
                    <a:p>
                      <a:pPr>
                        <a:spcAft>
                          <a:spcPts val="500"/>
                        </a:spcAft>
                      </a:pPr>
                      <a:r>
                        <a:rPr lang="en-US" sz="1000" dirty="0"/>
                        <a:t>Sr. No</a:t>
                      </a:r>
                      <a:endParaRPr lang="en-IN" sz="1000" dirty="0"/>
                    </a:p>
                  </a:txBody>
                  <a:tcPr/>
                </a:tc>
                <a:tc>
                  <a:txBody>
                    <a:bodyPr/>
                    <a:lstStyle/>
                    <a:p>
                      <a:pPr>
                        <a:spcAft>
                          <a:spcPts val="500"/>
                        </a:spcAft>
                      </a:pPr>
                      <a:r>
                        <a:rPr lang="en-US" sz="1000" dirty="0"/>
                        <a:t>Parameter</a:t>
                      </a:r>
                      <a:endParaRPr lang="en-IN" sz="1000" dirty="0"/>
                    </a:p>
                  </a:txBody>
                  <a:tcPr/>
                </a:tc>
                <a:tc>
                  <a:txBody>
                    <a:bodyPr/>
                    <a:lstStyle/>
                    <a:p>
                      <a:pPr>
                        <a:spcAft>
                          <a:spcPts val="500"/>
                        </a:spcAft>
                      </a:pPr>
                      <a:r>
                        <a:rPr lang="en-US" sz="1000" dirty="0"/>
                        <a:t>Conditions</a:t>
                      </a:r>
                      <a:endParaRPr lang="en-IN" sz="1000" dirty="0"/>
                    </a:p>
                  </a:txBody>
                  <a:tcPr/>
                </a:tc>
                <a:tc>
                  <a:txBody>
                    <a:bodyPr/>
                    <a:lstStyle/>
                    <a:p>
                      <a:pPr>
                        <a:spcAft>
                          <a:spcPts val="500"/>
                        </a:spcAft>
                      </a:pPr>
                      <a:r>
                        <a:rPr lang="en-US" sz="1000" dirty="0"/>
                        <a:t>Key</a:t>
                      </a:r>
                      <a:r>
                        <a:rPr lang="en-US" sz="1000" baseline="0" dirty="0"/>
                        <a:t> risks</a:t>
                      </a:r>
                      <a:endParaRPr lang="en-IN" sz="1000" dirty="0"/>
                    </a:p>
                  </a:txBody>
                  <a:tcPr/>
                </a:tc>
                <a:extLst>
                  <a:ext uri="{0D108BD9-81ED-4DB2-BD59-A6C34878D82A}">
                    <a16:rowId xmlns:a16="http://schemas.microsoft.com/office/drawing/2014/main" val="3995669302"/>
                  </a:ext>
                </a:extLst>
              </a:tr>
              <a:tr h="488304">
                <a:tc>
                  <a:txBody>
                    <a:bodyPr/>
                    <a:lstStyle/>
                    <a:p>
                      <a:pPr>
                        <a:spcAft>
                          <a:spcPts val="500"/>
                        </a:spcAft>
                      </a:pPr>
                      <a:r>
                        <a:rPr lang="en-US" sz="1000" dirty="0"/>
                        <a:t>1</a:t>
                      </a:r>
                      <a:endParaRPr lang="en-IN" sz="1000" dirty="0"/>
                    </a:p>
                  </a:txBody>
                  <a:tcPr/>
                </a:tc>
                <a:tc>
                  <a:txBody>
                    <a:bodyPr/>
                    <a:lstStyle/>
                    <a:p>
                      <a:pPr>
                        <a:spcAft>
                          <a:spcPts val="500"/>
                        </a:spcAft>
                      </a:pPr>
                      <a:r>
                        <a:rPr lang="en-US" sz="1000" dirty="0"/>
                        <a:t>Obligation</a:t>
                      </a:r>
                      <a:endParaRPr lang="en-IN" sz="1000" dirty="0"/>
                    </a:p>
                  </a:txBody>
                  <a:tcPr/>
                </a:tc>
                <a:tc>
                  <a:txBody>
                    <a:bodyPr/>
                    <a:lstStyle/>
                    <a:p>
                      <a:pPr marL="171450" indent="-171450" algn="just">
                        <a:spcAft>
                          <a:spcPts val="500"/>
                        </a:spcAft>
                        <a:buFont typeface="Arial" panose="020B0604020202020204" pitchFamily="34" charset="0"/>
                        <a:buChar char="•"/>
                      </a:pPr>
                      <a:r>
                        <a:rPr lang="en-US" sz="1000" dirty="0"/>
                        <a:t>The company agrees to purchase &amp; the supplier agrees to supply fuel to meet the requirement</a:t>
                      </a:r>
                    </a:p>
                    <a:p>
                      <a:pPr marL="171450" indent="-171450" algn="just">
                        <a:spcAft>
                          <a:spcPts val="500"/>
                        </a:spcAft>
                        <a:buFont typeface="Arial" panose="020B0604020202020204" pitchFamily="34" charset="0"/>
                        <a:buChar char="•"/>
                      </a:pPr>
                      <a:r>
                        <a:rPr lang="en-US" sz="1000" dirty="0"/>
                        <a:t>The facility shall operate on Gas and to the extent gas is not available, it shall operate on fuel oil</a:t>
                      </a:r>
                    </a:p>
                    <a:p>
                      <a:pPr marL="171450" indent="-171450" algn="just">
                        <a:spcAft>
                          <a:spcPts val="500"/>
                        </a:spcAft>
                        <a:buFont typeface="Arial" panose="020B0604020202020204" pitchFamily="34" charset="0"/>
                        <a:buChar char="•"/>
                      </a:pPr>
                      <a:r>
                        <a:rPr lang="en-US" sz="1000" dirty="0"/>
                        <a:t>The supplier shall deliver fuel at the Receiving Point</a:t>
                      </a:r>
                    </a:p>
                    <a:p>
                      <a:pPr marL="171450" indent="-171450" algn="just">
                        <a:spcAft>
                          <a:spcPts val="500"/>
                        </a:spcAft>
                        <a:buFont typeface="Arial" panose="020B0604020202020204" pitchFamily="34" charset="0"/>
                        <a:buChar char="•"/>
                      </a:pPr>
                      <a:r>
                        <a:rPr lang="en-US" sz="1000" dirty="0"/>
                        <a:t>Failure to supply fuel shall not constitute a breach if damages are paid to the Company under the FSA and the PPA (paid by company)</a:t>
                      </a:r>
                      <a:endParaRPr lang="en-IN" sz="1000" dirty="0"/>
                    </a:p>
                  </a:txBody>
                  <a:tcPr/>
                </a:tc>
                <a:tc>
                  <a:txBody>
                    <a:bodyPr/>
                    <a:lstStyle/>
                    <a:p>
                      <a:pPr marL="0" indent="0" algn="just">
                        <a:spcAft>
                          <a:spcPts val="500"/>
                        </a:spcAft>
                        <a:buFont typeface="Arial" panose="020B0604020202020204" pitchFamily="34" charset="0"/>
                        <a:buNone/>
                      </a:pPr>
                      <a:endParaRPr lang="en-IN" sz="1000" dirty="0"/>
                    </a:p>
                  </a:txBody>
                  <a:tcPr/>
                </a:tc>
                <a:extLst>
                  <a:ext uri="{0D108BD9-81ED-4DB2-BD59-A6C34878D82A}">
                    <a16:rowId xmlns:a16="http://schemas.microsoft.com/office/drawing/2014/main" val="3506387994"/>
                  </a:ext>
                </a:extLst>
              </a:tr>
              <a:tr h="887449">
                <a:tc>
                  <a:txBody>
                    <a:bodyPr/>
                    <a:lstStyle/>
                    <a:p>
                      <a:pPr>
                        <a:spcAft>
                          <a:spcPts val="500"/>
                        </a:spcAft>
                      </a:pPr>
                      <a:r>
                        <a:rPr lang="en-US" sz="1000" dirty="0"/>
                        <a:t>2</a:t>
                      </a:r>
                      <a:endParaRPr lang="en-IN" sz="1000" dirty="0"/>
                    </a:p>
                  </a:txBody>
                  <a:tcPr/>
                </a:tc>
                <a:tc>
                  <a:txBody>
                    <a:bodyPr/>
                    <a:lstStyle/>
                    <a:p>
                      <a:pPr>
                        <a:spcAft>
                          <a:spcPts val="500"/>
                        </a:spcAft>
                      </a:pPr>
                      <a:r>
                        <a:rPr lang="en-IN" sz="1000" dirty="0"/>
                        <a:t>Transportation Facility</a:t>
                      </a:r>
                    </a:p>
                  </a:txBody>
                  <a:tcPr/>
                </a:tc>
                <a:tc>
                  <a:txBody>
                    <a:bodyPr/>
                    <a:lstStyle/>
                    <a:p>
                      <a:pPr marL="171450" indent="-171450" algn="just">
                        <a:spcAft>
                          <a:spcPts val="500"/>
                        </a:spcAft>
                        <a:buFont typeface="Arial" panose="020B0604020202020204" pitchFamily="34" charset="0"/>
                        <a:buChar char="•"/>
                      </a:pPr>
                      <a:r>
                        <a:rPr lang="en-US" sz="1000" dirty="0"/>
                        <a:t>The receiving point for the fuel transported by water vessel shall be the discharge flange of loading jetty located at Barisal/Jhalakati Depot of the fuel supplier</a:t>
                      </a:r>
                    </a:p>
                    <a:p>
                      <a:pPr marL="171450" indent="-171450" algn="just">
                        <a:spcAft>
                          <a:spcPts val="500"/>
                        </a:spcAft>
                        <a:buFont typeface="Arial" panose="020B0604020202020204" pitchFamily="34" charset="0"/>
                        <a:buChar char="•"/>
                      </a:pPr>
                      <a:r>
                        <a:rPr lang="en-US" sz="1000" dirty="0"/>
                        <a:t>The fuel supplier shall be responsible for all facilities upstream of the Receiving Point and for transportation and delivery of fuel oil to the Receiving Point</a:t>
                      </a:r>
                    </a:p>
                    <a:p>
                      <a:pPr marL="171450" indent="-171450" algn="just">
                        <a:spcAft>
                          <a:spcPts val="500"/>
                        </a:spcAft>
                        <a:buFont typeface="Arial" panose="020B0604020202020204" pitchFamily="34" charset="0"/>
                        <a:buChar char="•"/>
                      </a:pPr>
                      <a:r>
                        <a:rPr lang="en-US" sz="1000" dirty="0"/>
                        <a:t>The Company shall be responsible for all facilities downstream of the Receiving Point and for transportation and delivery of fuel oil from the Receiving Point to the facility</a:t>
                      </a:r>
                    </a:p>
                    <a:p>
                      <a:pPr marL="171450" indent="-171450" algn="just">
                        <a:spcAft>
                          <a:spcPts val="500"/>
                        </a:spcAft>
                        <a:buFont typeface="Arial" panose="020B0604020202020204" pitchFamily="34" charset="0"/>
                        <a:buChar char="•"/>
                      </a:pPr>
                      <a:r>
                        <a:rPr lang="en-US" sz="1000" dirty="0"/>
                        <a:t>The company will install and maintain the Company receipt and storage facilities for storing and utilizing the fuel oil </a:t>
                      </a:r>
                    </a:p>
                    <a:p>
                      <a:pPr marL="171450" indent="-171450" algn="just">
                        <a:spcAft>
                          <a:spcPts val="500"/>
                        </a:spcAft>
                        <a:buFont typeface="Arial" panose="020B0604020202020204" pitchFamily="34" charset="0"/>
                        <a:buChar char="•"/>
                      </a:pPr>
                      <a:r>
                        <a:rPr lang="en-US" sz="1000" dirty="0"/>
                        <a:t>The fuel supplier will ensure that it has all equipments and facilities ready for first delivery of fuel at the Initial Delivery Date (i.e. 18 months or more from the Project Effective Date). The Initial Delivery Date may be delayed on account of Force Majeure or a Political Event but shall not be later than 120 days before the Scheduled COD as per the PPA</a:t>
                      </a:r>
                      <a:endParaRPr lang="en-IN" sz="1000" dirty="0"/>
                    </a:p>
                  </a:txBody>
                  <a:tcPr/>
                </a:tc>
                <a:tc>
                  <a:txBody>
                    <a:bodyPr/>
                    <a:lstStyle/>
                    <a:p>
                      <a:pPr marL="0" indent="0" algn="just">
                        <a:spcAft>
                          <a:spcPts val="500"/>
                        </a:spcAft>
                        <a:buFont typeface="Arial" panose="020B0604020202020204" pitchFamily="34" charset="0"/>
                        <a:buNone/>
                      </a:pPr>
                      <a:r>
                        <a:rPr lang="en-US" sz="1000" baseline="0" dirty="0"/>
                        <a:t>Downstream transportation already completed. Jetty at plant site ready and transportation agreement through barges signed with Kingfisher Limited</a:t>
                      </a:r>
                    </a:p>
                  </a:txBody>
                  <a:tcPr/>
                </a:tc>
                <a:extLst>
                  <a:ext uri="{0D108BD9-81ED-4DB2-BD59-A6C34878D82A}">
                    <a16:rowId xmlns:a16="http://schemas.microsoft.com/office/drawing/2014/main" val="4003944313"/>
                  </a:ext>
                </a:extLst>
              </a:tr>
              <a:tr h="763040">
                <a:tc>
                  <a:txBody>
                    <a:bodyPr/>
                    <a:lstStyle/>
                    <a:p>
                      <a:pPr>
                        <a:spcAft>
                          <a:spcPts val="500"/>
                        </a:spcAft>
                      </a:pPr>
                      <a:r>
                        <a:rPr lang="en-US" sz="1000" dirty="0"/>
                        <a:t>3</a:t>
                      </a:r>
                      <a:endParaRPr lang="en-IN" sz="1000" dirty="0"/>
                    </a:p>
                  </a:txBody>
                  <a:tcPr/>
                </a:tc>
                <a:tc>
                  <a:txBody>
                    <a:bodyPr/>
                    <a:lstStyle/>
                    <a:p>
                      <a:pPr>
                        <a:spcAft>
                          <a:spcPts val="500"/>
                        </a:spcAft>
                      </a:pPr>
                      <a:r>
                        <a:rPr lang="en-US" sz="1000" dirty="0"/>
                        <a:t>Quantity</a:t>
                      </a:r>
                      <a:endParaRPr lang="en-IN" sz="1000" dirty="0"/>
                    </a:p>
                  </a:txBody>
                  <a:tcPr/>
                </a:tc>
                <a:tc>
                  <a:txBody>
                    <a:bodyPr/>
                    <a:lstStyle/>
                    <a:p>
                      <a:pPr marL="171450" indent="-171450" algn="just">
                        <a:spcAft>
                          <a:spcPts val="500"/>
                        </a:spcAft>
                        <a:buFont typeface="Arial" panose="020B0604020202020204" pitchFamily="34" charset="0"/>
                        <a:buChar char="•"/>
                      </a:pPr>
                      <a:r>
                        <a:rPr lang="en-US" sz="1000" dirty="0"/>
                        <a:t>On receipt of Fuel Supplier Switch Order in case of Gas Supplier Force Majeure/Political Event/ Supply Failure, the supplier will have upto 90 days to commence deliveries of Fuel Oil and an additional 15 days to deliver fuel oil in an amount equal to the applicable fuel oil storage quantity</a:t>
                      </a:r>
                    </a:p>
                    <a:p>
                      <a:pPr marL="171450" indent="-171450" algn="just">
                        <a:spcAft>
                          <a:spcPts val="500"/>
                        </a:spcAft>
                        <a:buFont typeface="Arial" panose="020B0604020202020204" pitchFamily="34" charset="0"/>
                        <a:buChar char="•"/>
                      </a:pPr>
                      <a:r>
                        <a:rPr lang="en-US" sz="1000" dirty="0"/>
                        <a:t>Failure to complete delivery within the stipulated time will attract liquidated damages</a:t>
                      </a:r>
                    </a:p>
                    <a:p>
                      <a:pPr marL="171450" indent="-171450" algn="just">
                        <a:spcAft>
                          <a:spcPts val="500"/>
                        </a:spcAft>
                        <a:buFont typeface="Arial" panose="020B0604020202020204" pitchFamily="34" charset="0"/>
                        <a:buChar char="•"/>
                      </a:pPr>
                      <a:r>
                        <a:rPr lang="en-US" sz="1000" dirty="0"/>
                        <a:t>The Company may amend its fuel order 15 days prior to start of the relevant month</a:t>
                      </a:r>
                    </a:p>
                    <a:p>
                      <a:pPr marL="171450" indent="-171450" algn="just">
                        <a:spcAft>
                          <a:spcPts val="500"/>
                        </a:spcAft>
                        <a:buFont typeface="Arial" panose="020B0604020202020204" pitchFamily="34" charset="0"/>
                        <a:buChar char="•"/>
                      </a:pPr>
                      <a:r>
                        <a:rPr lang="en-US" sz="1000" dirty="0"/>
                        <a:t>Any upwards adjustments less than 15 days prior to the relevant month upto 10% will be complied with by the fuel supplier. Fuel supplier shall use reasonable efforts to supply fuel in excess of 10% where required. </a:t>
                      </a:r>
                    </a:p>
                    <a:p>
                      <a:pPr marL="171450" indent="-171450" algn="just">
                        <a:spcAft>
                          <a:spcPts val="500"/>
                        </a:spcAft>
                        <a:buFont typeface="Arial" panose="020B0604020202020204" pitchFamily="34" charset="0"/>
                        <a:buChar char="•"/>
                      </a:pPr>
                      <a:r>
                        <a:rPr lang="en-US" sz="1000" dirty="0"/>
                        <a:t>At any time, the Company shall maintain atleast 3 days fuel oil storage quantity except in cases of Force Majeure, Political Event, or default by GOB/BPDB/PGCB/Gas supplier or fuel supplier</a:t>
                      </a:r>
                      <a:endParaRPr lang="en-IN" sz="1000" dirty="0"/>
                    </a:p>
                  </a:txBody>
                  <a:tcPr/>
                </a:tc>
                <a:tc>
                  <a:txBody>
                    <a:bodyPr/>
                    <a:lstStyle/>
                    <a:p>
                      <a:pPr marL="0" indent="0" algn="just">
                        <a:spcAft>
                          <a:spcPts val="500"/>
                        </a:spcAft>
                        <a:buFont typeface="Arial" panose="020B0604020202020204" pitchFamily="34" charset="0"/>
                        <a:buNone/>
                      </a:pPr>
                      <a:r>
                        <a:rPr lang="en-US" sz="1000" dirty="0"/>
                        <a:t>The upward adjustment of fuel is limited to 10% if the adjustment is made with 15 days or less. The same limit is not applicable in case of revision of schedule by BPDB</a:t>
                      </a:r>
                      <a:endParaRPr lang="en-IN" sz="1000" dirty="0"/>
                    </a:p>
                  </a:txBody>
                  <a:tcPr/>
                </a:tc>
                <a:extLst>
                  <a:ext uri="{0D108BD9-81ED-4DB2-BD59-A6C34878D82A}">
                    <a16:rowId xmlns:a16="http://schemas.microsoft.com/office/drawing/2014/main" val="3019819264"/>
                  </a:ext>
                </a:extLst>
              </a:tr>
            </a:tbl>
          </a:graphicData>
        </a:graphic>
      </p:graphicFrame>
      <p:sp>
        <p:nvSpPr>
          <p:cNvPr id="4"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Key risks in FSA</a:t>
            </a:r>
          </a:p>
        </p:txBody>
      </p:sp>
      <p:sp>
        <p:nvSpPr>
          <p:cNvPr id="5" name="Rectangle 4"/>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FSA, Deloitte Analysis</a:t>
            </a:r>
          </a:p>
        </p:txBody>
      </p:sp>
    </p:spTree>
    <p:extLst>
      <p:ext uri="{BB962C8B-B14F-4D97-AF65-F5344CB8AC3E}">
        <p14:creationId xmlns:p14="http://schemas.microsoft.com/office/powerpoint/2010/main" val="2130536965"/>
      </p:ext>
    </p:extLst>
  </p:cSld>
  <p:clrMapOvr>
    <a:masterClrMapping/>
  </p:clrMapOvr>
  <p:transition>
    <p:fade/>
  </p:transition>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Fuel Supply Agreement| Key Terms</a:t>
            </a:r>
            <a:endParaRPr lang="en-IN" dirty="0"/>
          </a:p>
        </p:txBody>
      </p:sp>
      <p:graphicFrame>
        <p:nvGraphicFramePr>
          <p:cNvPr id="3" name="Table 2"/>
          <p:cNvGraphicFramePr>
            <a:graphicFrameLocks noGrp="1"/>
          </p:cNvGraphicFramePr>
          <p:nvPr>
            <p:extLst>
              <p:ext uri="{D42A27DB-BD31-4B8C-83A1-F6EECF244321}">
                <p14:modId xmlns:p14="http://schemas.microsoft.com/office/powerpoint/2010/main" val="1913516923"/>
              </p:ext>
            </p:extLst>
          </p:nvPr>
        </p:nvGraphicFramePr>
        <p:xfrm>
          <a:off x="449992" y="1598375"/>
          <a:ext cx="9791843" cy="5521496"/>
        </p:xfrm>
        <a:graphic>
          <a:graphicData uri="http://schemas.openxmlformats.org/drawingml/2006/table">
            <a:tbl>
              <a:tblPr firstRow="1">
                <a:tableStyleId>{3B4B98B0-60AC-42C2-AFA5-B58CD77FA1E5}</a:tableStyleId>
              </a:tblPr>
              <a:tblGrid>
                <a:gridCol w="553860">
                  <a:extLst>
                    <a:ext uri="{9D8B030D-6E8A-4147-A177-3AD203B41FA5}">
                      <a16:colId xmlns:a16="http://schemas.microsoft.com/office/drawing/2014/main" val="3671827557"/>
                    </a:ext>
                  </a:extLst>
                </a:gridCol>
                <a:gridCol w="1023731">
                  <a:extLst>
                    <a:ext uri="{9D8B030D-6E8A-4147-A177-3AD203B41FA5}">
                      <a16:colId xmlns:a16="http://schemas.microsoft.com/office/drawing/2014/main" val="2911403996"/>
                    </a:ext>
                  </a:extLst>
                </a:gridCol>
                <a:gridCol w="6748669">
                  <a:extLst>
                    <a:ext uri="{9D8B030D-6E8A-4147-A177-3AD203B41FA5}">
                      <a16:colId xmlns:a16="http://schemas.microsoft.com/office/drawing/2014/main" val="1355348493"/>
                    </a:ext>
                  </a:extLst>
                </a:gridCol>
                <a:gridCol w="1465583">
                  <a:extLst>
                    <a:ext uri="{9D8B030D-6E8A-4147-A177-3AD203B41FA5}">
                      <a16:colId xmlns:a16="http://schemas.microsoft.com/office/drawing/2014/main" val="3999508094"/>
                    </a:ext>
                  </a:extLst>
                </a:gridCol>
              </a:tblGrid>
              <a:tr h="364244">
                <a:tc>
                  <a:txBody>
                    <a:bodyPr/>
                    <a:lstStyle/>
                    <a:p>
                      <a:pPr>
                        <a:spcAft>
                          <a:spcPts val="500"/>
                        </a:spcAft>
                      </a:pPr>
                      <a:r>
                        <a:rPr lang="en-US" sz="1000" dirty="0"/>
                        <a:t>Sr. No</a:t>
                      </a:r>
                      <a:endParaRPr lang="en-IN" sz="1000" dirty="0"/>
                    </a:p>
                  </a:txBody>
                  <a:tcPr/>
                </a:tc>
                <a:tc>
                  <a:txBody>
                    <a:bodyPr/>
                    <a:lstStyle/>
                    <a:p>
                      <a:pPr>
                        <a:spcAft>
                          <a:spcPts val="500"/>
                        </a:spcAft>
                      </a:pPr>
                      <a:r>
                        <a:rPr lang="en-US" sz="1000" dirty="0"/>
                        <a:t>Parameter</a:t>
                      </a:r>
                      <a:endParaRPr lang="en-IN" sz="1000" dirty="0"/>
                    </a:p>
                  </a:txBody>
                  <a:tcPr/>
                </a:tc>
                <a:tc>
                  <a:txBody>
                    <a:bodyPr/>
                    <a:lstStyle/>
                    <a:p>
                      <a:pPr>
                        <a:spcAft>
                          <a:spcPts val="500"/>
                        </a:spcAft>
                      </a:pPr>
                      <a:r>
                        <a:rPr lang="en-US" sz="1000" dirty="0"/>
                        <a:t>Conditions</a:t>
                      </a:r>
                      <a:endParaRPr lang="en-IN" sz="1000" dirty="0"/>
                    </a:p>
                  </a:txBody>
                  <a:tcPr/>
                </a:tc>
                <a:tc>
                  <a:txBody>
                    <a:bodyPr/>
                    <a:lstStyle/>
                    <a:p>
                      <a:pPr>
                        <a:spcAft>
                          <a:spcPts val="500"/>
                        </a:spcAft>
                      </a:pPr>
                      <a:r>
                        <a:rPr lang="en-US" sz="1000" dirty="0"/>
                        <a:t>Key</a:t>
                      </a:r>
                      <a:r>
                        <a:rPr lang="en-US" sz="1000" baseline="0" dirty="0"/>
                        <a:t> risks</a:t>
                      </a:r>
                      <a:endParaRPr lang="en-IN" sz="1000" dirty="0"/>
                    </a:p>
                  </a:txBody>
                  <a:tcPr/>
                </a:tc>
                <a:extLst>
                  <a:ext uri="{0D108BD9-81ED-4DB2-BD59-A6C34878D82A}">
                    <a16:rowId xmlns:a16="http://schemas.microsoft.com/office/drawing/2014/main" val="3995669302"/>
                  </a:ext>
                </a:extLst>
              </a:tr>
              <a:tr h="840276">
                <a:tc>
                  <a:txBody>
                    <a:bodyPr/>
                    <a:lstStyle/>
                    <a:p>
                      <a:pPr>
                        <a:spcAft>
                          <a:spcPts val="500"/>
                        </a:spcAft>
                      </a:pPr>
                      <a:r>
                        <a:rPr lang="en-US" sz="1000" dirty="0"/>
                        <a:t>4</a:t>
                      </a:r>
                      <a:endParaRPr lang="en-IN" sz="1000" dirty="0"/>
                    </a:p>
                  </a:txBody>
                  <a:tcPr/>
                </a:tc>
                <a:tc>
                  <a:txBody>
                    <a:bodyPr/>
                    <a:lstStyle/>
                    <a:p>
                      <a:pPr>
                        <a:spcAft>
                          <a:spcPts val="500"/>
                        </a:spcAft>
                      </a:pPr>
                      <a:r>
                        <a:rPr lang="en-US" sz="1000" dirty="0"/>
                        <a:t>Pricing</a:t>
                      </a:r>
                      <a:endParaRPr lang="en-IN" sz="1000" dirty="0"/>
                    </a:p>
                  </a:txBody>
                  <a:tcPr/>
                </a:tc>
                <a:tc>
                  <a:txBody>
                    <a:bodyPr/>
                    <a:lstStyle/>
                    <a:p>
                      <a:pPr marL="0" indent="0" algn="just">
                        <a:spcAft>
                          <a:spcPts val="500"/>
                        </a:spcAft>
                        <a:buFont typeface="Arial" panose="020B0604020202020204" pitchFamily="34" charset="0"/>
                        <a:buNone/>
                      </a:pPr>
                      <a:r>
                        <a:rPr lang="en-US" sz="1000" dirty="0"/>
                        <a:t>Price will be based on Reference Fuel establish by GOB which may include fixed selling price, Gross Margin, refinery price, inland freight margin, statutory development surcharge and duties, and any change therein</a:t>
                      </a:r>
                      <a:endParaRPr lang="en-IN" sz="1000" dirty="0"/>
                    </a:p>
                  </a:txBody>
                  <a:tcPr/>
                </a:tc>
                <a:tc>
                  <a:txBody>
                    <a:bodyPr/>
                    <a:lstStyle/>
                    <a:p>
                      <a:pPr marL="0" indent="0" algn="just">
                        <a:spcAft>
                          <a:spcPts val="500"/>
                        </a:spcAft>
                        <a:buFont typeface="Arial" panose="020B0604020202020204" pitchFamily="34" charset="0"/>
                        <a:buNone/>
                      </a:pPr>
                      <a:endParaRPr lang="en-IN" sz="1000" dirty="0"/>
                    </a:p>
                  </a:txBody>
                  <a:tcPr/>
                </a:tc>
                <a:extLst>
                  <a:ext uri="{0D108BD9-81ED-4DB2-BD59-A6C34878D82A}">
                    <a16:rowId xmlns:a16="http://schemas.microsoft.com/office/drawing/2014/main" val="3506387994"/>
                  </a:ext>
                </a:extLst>
              </a:tr>
              <a:tr h="1344900">
                <a:tc>
                  <a:txBody>
                    <a:bodyPr/>
                    <a:lstStyle/>
                    <a:p>
                      <a:pPr>
                        <a:spcAft>
                          <a:spcPts val="500"/>
                        </a:spcAft>
                      </a:pPr>
                      <a:r>
                        <a:rPr lang="en-US" sz="1000" dirty="0"/>
                        <a:t>5</a:t>
                      </a:r>
                      <a:endParaRPr lang="en-IN" sz="1000" dirty="0"/>
                    </a:p>
                  </a:txBody>
                  <a:tcPr/>
                </a:tc>
                <a:tc>
                  <a:txBody>
                    <a:bodyPr/>
                    <a:lstStyle/>
                    <a:p>
                      <a:pPr>
                        <a:spcAft>
                          <a:spcPts val="500"/>
                        </a:spcAft>
                      </a:pPr>
                      <a:r>
                        <a:rPr lang="en-IN" sz="1000" dirty="0"/>
                        <a:t>Billing and Payment</a:t>
                      </a:r>
                    </a:p>
                  </a:txBody>
                  <a:tcPr/>
                </a:tc>
                <a:tc>
                  <a:txBody>
                    <a:bodyPr/>
                    <a:lstStyle/>
                    <a:p>
                      <a:pPr marL="171450" indent="-171450" algn="just">
                        <a:spcAft>
                          <a:spcPts val="500"/>
                        </a:spcAft>
                        <a:buFont typeface="Arial" panose="020B0604020202020204" pitchFamily="34" charset="0"/>
                        <a:buChar char="•"/>
                      </a:pPr>
                      <a:r>
                        <a:rPr lang="en-US" sz="1000" dirty="0"/>
                        <a:t>The supplier shall submit an invoice atleast 10 days prior to delivery at Receiving Point based on liter quantity. The Company is required to make payment against the invoice no later than 3 days prior to delivery</a:t>
                      </a:r>
                    </a:p>
                    <a:p>
                      <a:pPr marL="171450" indent="-171450" algn="just">
                        <a:spcAft>
                          <a:spcPts val="500"/>
                        </a:spcAft>
                        <a:buFont typeface="Arial" panose="020B0604020202020204" pitchFamily="34" charset="0"/>
                        <a:buChar char="•"/>
                      </a:pPr>
                      <a:r>
                        <a:rPr lang="en-US" sz="1000" dirty="0"/>
                        <a:t>Any dispute regarding the quantity of fuel oil delivered will be resolved as per the methodology for dispute resolution</a:t>
                      </a:r>
                      <a:endParaRPr lang="en-IN" sz="1000" dirty="0"/>
                    </a:p>
                  </a:txBody>
                  <a:tcPr/>
                </a:tc>
                <a:tc>
                  <a:txBody>
                    <a:bodyPr/>
                    <a:lstStyle/>
                    <a:p>
                      <a:pPr marL="0" indent="0" algn="just">
                        <a:spcAft>
                          <a:spcPts val="500"/>
                        </a:spcAft>
                        <a:buFont typeface="Arial" panose="020B0604020202020204" pitchFamily="34" charset="0"/>
                        <a:buNone/>
                      </a:pPr>
                      <a:r>
                        <a:rPr lang="en-US" sz="1000" dirty="0"/>
                        <a:t>Payment for fuel is to be made before delivery while corresponding recovery through sale of power is made 30 days after invoicing power sold</a:t>
                      </a:r>
                      <a:endParaRPr lang="en-US" sz="1000" baseline="0" dirty="0"/>
                    </a:p>
                  </a:txBody>
                  <a:tcPr/>
                </a:tc>
                <a:extLst>
                  <a:ext uri="{0D108BD9-81ED-4DB2-BD59-A6C34878D82A}">
                    <a16:rowId xmlns:a16="http://schemas.microsoft.com/office/drawing/2014/main" val="4003944313"/>
                  </a:ext>
                </a:extLst>
              </a:tr>
              <a:tr h="2594070">
                <a:tc>
                  <a:txBody>
                    <a:bodyPr/>
                    <a:lstStyle/>
                    <a:p>
                      <a:pPr>
                        <a:spcAft>
                          <a:spcPts val="500"/>
                        </a:spcAft>
                      </a:pPr>
                      <a:r>
                        <a:rPr lang="en-US" sz="1000" dirty="0"/>
                        <a:t>6</a:t>
                      </a:r>
                      <a:endParaRPr lang="en-IN" sz="1000" dirty="0"/>
                    </a:p>
                  </a:txBody>
                  <a:tcPr/>
                </a:tc>
                <a:tc>
                  <a:txBody>
                    <a:bodyPr/>
                    <a:lstStyle/>
                    <a:p>
                      <a:pPr>
                        <a:spcAft>
                          <a:spcPts val="500"/>
                        </a:spcAft>
                      </a:pPr>
                      <a:r>
                        <a:rPr lang="en-US" sz="1000" dirty="0"/>
                        <a:t>Fuel Supplier Event of Default</a:t>
                      </a:r>
                      <a:endParaRPr lang="en-IN" sz="1000" dirty="0"/>
                    </a:p>
                  </a:txBody>
                  <a:tcPr/>
                </a:tc>
                <a:tc>
                  <a:txBody>
                    <a:bodyPr/>
                    <a:lstStyle/>
                    <a:p>
                      <a:pPr marL="171450" indent="-171450" algn="just">
                        <a:spcAft>
                          <a:spcPts val="500"/>
                        </a:spcAft>
                        <a:buFont typeface="Arial" panose="020B0604020202020204" pitchFamily="34" charset="0"/>
                        <a:buChar char="•"/>
                      </a:pPr>
                      <a:r>
                        <a:rPr lang="en-US" sz="1000" dirty="0"/>
                        <a:t>Company shall give a notice of default in case of following events except when such default is caused due to breach of any of the project agreements by the Company or due to Force Majeure or a Political Event:</a:t>
                      </a:r>
                    </a:p>
                    <a:p>
                      <a:pPr marL="171450" indent="-171450" algn="just">
                        <a:spcAft>
                          <a:spcPts val="500"/>
                        </a:spcAft>
                        <a:buFont typeface="Arial" panose="020B0604020202020204" pitchFamily="34" charset="0"/>
                        <a:buChar char="•"/>
                      </a:pPr>
                      <a:r>
                        <a:rPr lang="en-US" sz="1000" dirty="0"/>
                        <a:t>Assignment of Agreement by the supplier in contravention with the provisions of assignment under the agreement</a:t>
                      </a:r>
                    </a:p>
                    <a:p>
                      <a:pPr marL="171450" indent="-171450" algn="just">
                        <a:spcAft>
                          <a:spcPts val="500"/>
                        </a:spcAft>
                        <a:buFont typeface="Arial" panose="020B0604020202020204" pitchFamily="34" charset="0"/>
                        <a:buChar char="•"/>
                      </a:pPr>
                      <a:r>
                        <a:rPr lang="en-US" sz="1000" dirty="0"/>
                        <a:t>Dissolution of the supplier except for privatization or amalgamation/restructuring/reorganization/corporatization provided a reasonable guarantee to the performance of the succeeding entity and all supplier's obligations have been assigned to the new entity</a:t>
                      </a:r>
                    </a:p>
                    <a:p>
                      <a:pPr marL="171450" indent="-171450" algn="just">
                        <a:spcAft>
                          <a:spcPts val="500"/>
                        </a:spcAft>
                        <a:buFont typeface="Arial" panose="020B0604020202020204" pitchFamily="34" charset="0"/>
                        <a:buChar char="•"/>
                      </a:pPr>
                      <a:r>
                        <a:rPr lang="en-US" sz="1000" dirty="0"/>
                        <a:t>Any event of default by GOB, Gas Supplier or BPDB under their respective agreements </a:t>
                      </a:r>
                    </a:p>
                    <a:p>
                      <a:pPr marL="171450" indent="-171450" algn="just">
                        <a:spcAft>
                          <a:spcPts val="500"/>
                        </a:spcAft>
                        <a:buFont typeface="Arial" panose="020B0604020202020204" pitchFamily="34" charset="0"/>
                        <a:buChar char="•"/>
                      </a:pPr>
                      <a:r>
                        <a:rPr lang="en-US" sz="1000" dirty="0"/>
                        <a:t>Any material breach by BPDB that is not remedied in 30 days after notice from the Company </a:t>
                      </a:r>
                    </a:p>
                    <a:p>
                      <a:pPr marL="171450" indent="-171450" algn="just">
                        <a:spcAft>
                          <a:spcPts val="500"/>
                        </a:spcAft>
                        <a:buFont typeface="Arial" panose="020B0604020202020204" pitchFamily="34" charset="0"/>
                        <a:buChar char="•"/>
                      </a:pPr>
                      <a:r>
                        <a:rPr lang="en-US" sz="1000" dirty="0"/>
                        <a:t>Failure of the Fuel Supplier to deliver an aggregate amount of Fuel greater than 50% of the aggregate amount of gas shown in the gas order in any 12 month period</a:t>
                      </a:r>
                    </a:p>
                    <a:p>
                      <a:pPr marL="171450" indent="-171450" algn="just">
                        <a:spcAft>
                          <a:spcPts val="500"/>
                        </a:spcAft>
                        <a:buFont typeface="Arial" panose="020B0604020202020204" pitchFamily="34" charset="0"/>
                        <a:buChar char="•"/>
                      </a:pPr>
                      <a:r>
                        <a:rPr lang="en-US" sz="1000" dirty="0"/>
                        <a:t>Incorrect statements, representations, warranties</a:t>
                      </a:r>
                    </a:p>
                    <a:p>
                      <a:pPr marL="171450" indent="-171450" algn="just">
                        <a:spcAft>
                          <a:spcPts val="500"/>
                        </a:spcAft>
                        <a:buFont typeface="Arial" panose="020B0604020202020204" pitchFamily="34" charset="0"/>
                        <a:buChar char="•"/>
                      </a:pPr>
                      <a:r>
                        <a:rPr lang="en-US" sz="1000" dirty="0"/>
                        <a:t>Change in Law making execution unlawful/unenforceable</a:t>
                      </a:r>
                      <a:endParaRPr lang="en-IN" sz="1000" dirty="0"/>
                    </a:p>
                  </a:txBody>
                  <a:tcPr/>
                </a:tc>
                <a:tc>
                  <a:txBody>
                    <a:bodyPr/>
                    <a:lstStyle/>
                    <a:p>
                      <a:pPr marL="0" indent="0" algn="just">
                        <a:spcAft>
                          <a:spcPts val="500"/>
                        </a:spcAft>
                        <a:buFont typeface="Arial" panose="020B0604020202020204" pitchFamily="34" charset="0"/>
                        <a:buNone/>
                      </a:pPr>
                      <a:r>
                        <a:rPr lang="en-US" sz="1000" dirty="0"/>
                        <a:t>In case of shortfall in delivery of fuel, there is no penalty if the aggregate supply in a year is greater than 50%. </a:t>
                      </a:r>
                      <a:endParaRPr lang="en-IN" sz="1000" dirty="0"/>
                    </a:p>
                  </a:txBody>
                  <a:tcPr/>
                </a:tc>
                <a:extLst>
                  <a:ext uri="{0D108BD9-81ED-4DB2-BD59-A6C34878D82A}">
                    <a16:rowId xmlns:a16="http://schemas.microsoft.com/office/drawing/2014/main" val="3019819264"/>
                  </a:ext>
                </a:extLst>
              </a:tr>
            </a:tbl>
          </a:graphicData>
        </a:graphic>
      </p:graphicFrame>
      <p:sp>
        <p:nvSpPr>
          <p:cNvPr id="4"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Key risks in FSA</a:t>
            </a:r>
          </a:p>
        </p:txBody>
      </p:sp>
      <p:sp>
        <p:nvSpPr>
          <p:cNvPr id="5" name="Rectangle 4"/>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FSA, Deloitte Analysis</a:t>
            </a:r>
          </a:p>
        </p:txBody>
      </p:sp>
    </p:spTree>
    <p:extLst>
      <p:ext uri="{BB962C8B-B14F-4D97-AF65-F5344CB8AC3E}">
        <p14:creationId xmlns:p14="http://schemas.microsoft.com/office/powerpoint/2010/main" val="1026282222"/>
      </p:ext>
    </p:extLst>
  </p:cSld>
  <p:clrMapOvr>
    <a:masterClrMapping/>
  </p:clrMapOvr>
  <p:transition>
    <p:fade/>
  </p:transition>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9" name="Table 18"/>
          <p:cNvGraphicFramePr>
            <a:graphicFrameLocks noGrp="1"/>
          </p:cNvGraphicFramePr>
          <p:nvPr>
            <p:custDataLst>
              <p:tags r:id="rId1"/>
            </p:custDataLst>
          </p:nvPr>
        </p:nvGraphicFramePr>
        <p:xfrm>
          <a:off x="5483725" y="1961879"/>
          <a:ext cx="4758111" cy="1499918"/>
        </p:xfrm>
        <a:graphic>
          <a:graphicData uri="http://schemas.openxmlformats.org/drawingml/2006/table">
            <a:tbl>
              <a:tblPr firstRow="1" bandRow="1">
                <a:tableStyleId>{5C22544A-7EE6-4342-B048-85BDC9FD1C3A}</a:tableStyleId>
              </a:tblPr>
              <a:tblGrid>
                <a:gridCol w="4758111">
                  <a:extLst>
                    <a:ext uri="{9D8B030D-6E8A-4147-A177-3AD203B41FA5}">
                      <a16:colId xmlns:a16="http://schemas.microsoft.com/office/drawing/2014/main" val="20000"/>
                    </a:ext>
                  </a:extLst>
                </a:gridCol>
              </a:tblGrid>
              <a:tr h="696261">
                <a:tc>
                  <a:txBody>
                    <a:bodyPr/>
                    <a:lstStyle/>
                    <a:p>
                      <a:pPr marL="0" indent="0" algn="just">
                        <a:spcAft>
                          <a:spcPts val="500"/>
                        </a:spcAft>
                        <a:buFont typeface="Arial" panose="020B0604020202020204" pitchFamily="34" charset="0"/>
                        <a:buNone/>
                      </a:pPr>
                      <a:r>
                        <a:rPr lang="en-US" sz="1000" b="1" kern="1200" baseline="0" dirty="0">
                          <a:solidFill>
                            <a:schemeClr val="tx1"/>
                          </a:solidFill>
                          <a:latin typeface="+mn-lt"/>
                          <a:ea typeface="+mn-ea"/>
                          <a:cs typeface="+mn-cs"/>
                        </a:rPr>
                        <a:t>Sufficiency of Fuel Storage Arrangement</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At 100% PLF, at the minimum density of FO permissible, the storage capacity of Fuel Oil Tank is sufficient for 15 days storage. At lower PLFs &amp; higher densities, the number of equivalent operational days of FO stored increases, thus the </a:t>
                      </a:r>
                      <a:r>
                        <a:rPr lang="en-US" sz="1000" b="1" kern="1200" baseline="0" dirty="0">
                          <a:solidFill>
                            <a:schemeClr val="tx1"/>
                          </a:solidFill>
                          <a:latin typeface="+mn-lt"/>
                          <a:ea typeface="+mn-ea"/>
                          <a:cs typeface="+mn-cs"/>
                        </a:rPr>
                        <a:t>FO storage capacity is sufficient</a:t>
                      </a:r>
                      <a:r>
                        <a:rPr lang="en-US" sz="1000" b="0" kern="1200" baseline="0" dirty="0">
                          <a:solidFill>
                            <a:schemeClr val="tx1"/>
                          </a:solidFill>
                          <a:latin typeface="+mn-lt"/>
                          <a:ea typeface="+mn-ea"/>
                          <a:cs typeface="+mn-cs"/>
                        </a:rPr>
                        <a:t>.</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Following chart shows the key terms utilized for calculation of storage capacity</a:t>
                      </a:r>
                    </a:p>
                  </a:txBody>
                  <a:tcPr marL="107998" marT="107998">
                    <a:lnL w="12700" cmpd="sng">
                      <a:noFill/>
                    </a:lnL>
                    <a:lnR w="12700" cmpd="sng">
                      <a:noFill/>
                    </a:lnR>
                    <a:lnT w="38100" cap="flat" cmpd="sng" algn="ctr">
                      <a:solidFill>
                        <a:schemeClr val="accent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sp>
        <p:nvSpPr>
          <p:cNvPr id="35" name="Strapline"/>
          <p:cNvSpPr>
            <a:spLocks noGrp="1"/>
          </p:cNvSpPr>
          <p:nvPr>
            <p:ph type="body" sz="quarter" idx="13"/>
          </p:nvPr>
        </p:nvSpPr>
        <p:spPr>
          <a:xfrm>
            <a:off x="449993" y="1079983"/>
            <a:ext cx="9791843" cy="518392"/>
          </a:xfrm>
        </p:spPr>
        <p:txBody>
          <a:bodyPr lIns="0" tIns="0" rIns="0" bIns="0" anchor="t">
            <a:noAutofit/>
          </a:bodyPr>
          <a:lstStyle/>
          <a:p>
            <a:r>
              <a:rPr lang="en-GB" b="1" dirty="0">
                <a:solidFill>
                  <a:schemeClr val="tx1">
                    <a:lumMod val="50000"/>
                    <a:lumOff val="50000"/>
                  </a:schemeClr>
                </a:solidFill>
                <a:latin typeface="Verdana" panose="020B0604030504040204" pitchFamily="34" charset="0"/>
              </a:rPr>
              <a:t>Fuel Storage Requirements and Transportation Arrangements</a:t>
            </a: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Fuel Storage| Key Provisions</a:t>
            </a:r>
          </a:p>
        </p:txBody>
      </p:sp>
      <p:graphicFrame>
        <p:nvGraphicFramePr>
          <p:cNvPr id="20" name="Table 19"/>
          <p:cNvGraphicFramePr>
            <a:graphicFrameLocks noGrp="1"/>
          </p:cNvGraphicFramePr>
          <p:nvPr>
            <p:custDataLst>
              <p:tags r:id="rId2"/>
            </p:custDataLst>
            <p:extLst>
              <p:ext uri="{D42A27DB-BD31-4B8C-83A1-F6EECF244321}">
                <p14:modId xmlns:p14="http://schemas.microsoft.com/office/powerpoint/2010/main" val="1171291233"/>
              </p:ext>
            </p:extLst>
          </p:nvPr>
        </p:nvGraphicFramePr>
        <p:xfrm>
          <a:off x="449993" y="1961920"/>
          <a:ext cx="4758111" cy="5271818"/>
        </p:xfrm>
        <a:graphic>
          <a:graphicData uri="http://schemas.openxmlformats.org/drawingml/2006/table">
            <a:tbl>
              <a:tblPr firstRow="1" bandRow="1">
                <a:tableStyleId>{5C22544A-7EE6-4342-B048-85BDC9FD1C3A}</a:tableStyleId>
              </a:tblPr>
              <a:tblGrid>
                <a:gridCol w="4758111">
                  <a:extLst>
                    <a:ext uri="{9D8B030D-6E8A-4147-A177-3AD203B41FA5}">
                      <a16:colId xmlns:a16="http://schemas.microsoft.com/office/drawing/2014/main" val="20000"/>
                    </a:ext>
                  </a:extLst>
                </a:gridCol>
              </a:tblGrid>
              <a:tr h="5215057">
                <a:tc>
                  <a:txBody>
                    <a:bodyPr/>
                    <a:lstStyle/>
                    <a:p>
                      <a:pPr marL="0" indent="0" algn="just">
                        <a:spcAft>
                          <a:spcPts val="500"/>
                        </a:spcAft>
                        <a:buFont typeface="Arial" panose="020B0604020202020204" pitchFamily="34" charset="0"/>
                        <a:buNone/>
                      </a:pPr>
                      <a:r>
                        <a:rPr lang="en-US" sz="1000" b="1" kern="1200" baseline="0" dirty="0">
                          <a:solidFill>
                            <a:schemeClr val="tx1"/>
                          </a:solidFill>
                          <a:latin typeface="+mn-lt"/>
                          <a:ea typeface="+mn-ea"/>
                          <a:cs typeface="+mn-cs"/>
                        </a:rPr>
                        <a:t>Transport &amp; Storage Arrangement: </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HSD is to be transported via tankers/barges from </a:t>
                      </a:r>
                      <a:r>
                        <a:rPr lang="en-US" sz="1000" b="0" kern="1200" baseline="0" dirty="0" err="1">
                          <a:solidFill>
                            <a:schemeClr val="tx1"/>
                          </a:solidFill>
                          <a:latin typeface="+mn-lt"/>
                          <a:ea typeface="+mn-ea"/>
                          <a:cs typeface="+mn-cs"/>
                        </a:rPr>
                        <a:t>Barishal</a:t>
                      </a:r>
                      <a:r>
                        <a:rPr lang="en-US" sz="1000" b="0" kern="1200" baseline="0" dirty="0">
                          <a:solidFill>
                            <a:schemeClr val="tx1"/>
                          </a:solidFill>
                          <a:latin typeface="+mn-lt"/>
                          <a:ea typeface="+mn-ea"/>
                          <a:cs typeface="+mn-cs"/>
                        </a:rPr>
                        <a:t>/</a:t>
                      </a:r>
                      <a:r>
                        <a:rPr lang="en-US" sz="1000" b="0" kern="1200" baseline="0" dirty="0" err="1">
                          <a:solidFill>
                            <a:schemeClr val="tx1"/>
                          </a:solidFill>
                          <a:latin typeface="+mn-lt"/>
                          <a:ea typeface="+mn-ea"/>
                          <a:cs typeface="+mn-cs"/>
                        </a:rPr>
                        <a:t>Jhalokathi</a:t>
                      </a:r>
                      <a:r>
                        <a:rPr lang="en-US" sz="1000" b="0" kern="1200" baseline="0" dirty="0">
                          <a:solidFill>
                            <a:schemeClr val="tx1"/>
                          </a:solidFill>
                          <a:latin typeface="+mn-lt"/>
                          <a:ea typeface="+mn-ea"/>
                          <a:cs typeface="+mn-cs"/>
                        </a:rPr>
                        <a:t> Fuel Oil Depot to </a:t>
                      </a:r>
                      <a:r>
                        <a:rPr lang="en-US" sz="1000" b="0" kern="1200" baseline="0" dirty="0" err="1">
                          <a:solidFill>
                            <a:schemeClr val="tx1"/>
                          </a:solidFill>
                          <a:latin typeface="+mn-lt"/>
                          <a:ea typeface="+mn-ea"/>
                          <a:cs typeface="+mn-cs"/>
                        </a:rPr>
                        <a:t>Bhola</a:t>
                      </a:r>
                      <a:r>
                        <a:rPr lang="en-US" sz="1000" b="0" kern="1200" baseline="0" dirty="0">
                          <a:solidFill>
                            <a:schemeClr val="tx1"/>
                          </a:solidFill>
                          <a:latin typeface="+mn-lt"/>
                          <a:ea typeface="+mn-ea"/>
                          <a:cs typeface="+mn-cs"/>
                        </a:rPr>
                        <a:t>, </a:t>
                      </a:r>
                      <a:r>
                        <a:rPr lang="en-US" sz="1000" b="0" kern="1200" baseline="0" dirty="0" err="1">
                          <a:solidFill>
                            <a:schemeClr val="tx1"/>
                          </a:solidFill>
                          <a:latin typeface="+mn-lt"/>
                          <a:ea typeface="+mn-ea"/>
                          <a:cs typeface="+mn-cs"/>
                        </a:rPr>
                        <a:t>Borhannudin</a:t>
                      </a:r>
                      <a:r>
                        <a:rPr lang="en-US" sz="1000" b="0" kern="1200" baseline="0" dirty="0">
                          <a:solidFill>
                            <a:schemeClr val="tx1"/>
                          </a:solidFill>
                          <a:latin typeface="+mn-lt"/>
                          <a:ea typeface="+mn-ea"/>
                          <a:cs typeface="+mn-cs"/>
                        </a:rPr>
                        <a:t> NBBL Plant Site and an Agreement is in place between </a:t>
                      </a:r>
                      <a:r>
                        <a:rPr lang="en-US" sz="1000" b="1" kern="1200" baseline="0" dirty="0">
                          <a:solidFill>
                            <a:schemeClr val="tx1"/>
                          </a:solidFill>
                          <a:latin typeface="+mn-lt"/>
                          <a:ea typeface="+mn-ea"/>
                          <a:cs typeface="+mn-cs"/>
                        </a:rPr>
                        <a:t>Kingfisher Shipping Lines</a:t>
                      </a:r>
                      <a:r>
                        <a:rPr lang="en-US" sz="1000" b="0" kern="1200" baseline="0" dirty="0">
                          <a:solidFill>
                            <a:schemeClr val="tx1"/>
                          </a:solidFill>
                          <a:latin typeface="+mn-lt"/>
                          <a:ea typeface="+mn-ea"/>
                          <a:cs typeface="+mn-cs"/>
                        </a:rPr>
                        <a:t> and NBBL</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At Plant Site, Fuel shall be unloaded at Fuel Oil Jetty and transferred to Fuel Oil Tank via unloading pumps. There are </a:t>
                      </a:r>
                      <a:r>
                        <a:rPr lang="en-US" sz="1000" b="1" kern="1200" baseline="0" dirty="0">
                          <a:solidFill>
                            <a:schemeClr val="tx1"/>
                          </a:solidFill>
                          <a:latin typeface="+mn-lt"/>
                          <a:ea typeface="+mn-ea"/>
                          <a:cs typeface="+mn-cs"/>
                        </a:rPr>
                        <a:t>2</a:t>
                      </a:r>
                      <a:r>
                        <a:rPr lang="en-US" sz="1000" b="0" kern="1200" baseline="0" dirty="0">
                          <a:solidFill>
                            <a:schemeClr val="tx1"/>
                          </a:solidFill>
                          <a:latin typeface="+mn-lt"/>
                          <a:ea typeface="+mn-ea"/>
                          <a:cs typeface="+mn-cs"/>
                        </a:rPr>
                        <a:t> </a:t>
                      </a:r>
                      <a:r>
                        <a:rPr lang="en-US" sz="1000" b="1" kern="1200" baseline="0" dirty="0">
                          <a:solidFill>
                            <a:schemeClr val="tx1"/>
                          </a:solidFill>
                          <a:latin typeface="+mn-lt"/>
                          <a:ea typeface="+mn-ea"/>
                          <a:cs typeface="+mn-cs"/>
                        </a:rPr>
                        <a:t>unloading pumps </a:t>
                      </a:r>
                      <a:r>
                        <a:rPr lang="en-US" sz="1000" b="0" kern="1200" baseline="0" dirty="0">
                          <a:solidFill>
                            <a:schemeClr val="tx1"/>
                          </a:solidFill>
                          <a:latin typeface="+mn-lt"/>
                          <a:ea typeface="+mn-ea"/>
                          <a:cs typeface="+mn-cs"/>
                        </a:rPr>
                        <a:t>with capacity of 70 m</a:t>
                      </a:r>
                      <a:r>
                        <a:rPr lang="en-US" sz="1000" b="0" kern="1200" baseline="30000" dirty="0">
                          <a:solidFill>
                            <a:schemeClr val="tx1"/>
                          </a:solidFill>
                          <a:latin typeface="+mn-lt"/>
                          <a:ea typeface="+mn-ea"/>
                          <a:cs typeface="+mn-cs"/>
                        </a:rPr>
                        <a:t>3</a:t>
                      </a:r>
                      <a:r>
                        <a:rPr lang="en-US" sz="1000" b="0" kern="1200" baseline="0" dirty="0">
                          <a:solidFill>
                            <a:schemeClr val="tx1"/>
                          </a:solidFill>
                          <a:latin typeface="+mn-lt"/>
                          <a:ea typeface="+mn-ea"/>
                          <a:cs typeface="+mn-cs"/>
                        </a:rPr>
                        <a:t>/hour each</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Fuel Oil Tank storage capacity comprises </a:t>
                      </a:r>
                      <a:r>
                        <a:rPr lang="en-US" sz="1000" b="1" kern="1200" baseline="0" dirty="0">
                          <a:solidFill>
                            <a:schemeClr val="tx1"/>
                          </a:solidFill>
                          <a:latin typeface="+mn-lt"/>
                          <a:ea typeface="+mn-ea"/>
                          <a:cs typeface="+mn-cs"/>
                        </a:rPr>
                        <a:t>3 X 5400 cum</a:t>
                      </a:r>
                      <a:endParaRPr lang="en-US" sz="1000" b="0" kern="1200" baseline="0" dirty="0">
                        <a:solidFill>
                          <a:schemeClr val="tx1"/>
                        </a:solidFill>
                        <a:latin typeface="+mn-lt"/>
                        <a:ea typeface="+mn-ea"/>
                        <a:cs typeface="+mn-cs"/>
                      </a:endParaRPr>
                    </a:p>
                    <a:p>
                      <a:pPr marL="0" indent="0" algn="just">
                        <a:spcAft>
                          <a:spcPts val="500"/>
                        </a:spcAft>
                        <a:buFont typeface="Arial" panose="020B0604020202020204" pitchFamily="34" charset="0"/>
                        <a:buNone/>
                      </a:pPr>
                      <a:r>
                        <a:rPr lang="en-US" sz="1000" b="1" kern="1200" baseline="0" dirty="0">
                          <a:solidFill>
                            <a:schemeClr val="tx1"/>
                          </a:solidFill>
                          <a:latin typeface="+mn-lt"/>
                          <a:ea typeface="+mn-ea"/>
                          <a:cs typeface="+mn-cs"/>
                        </a:rPr>
                        <a:t>Key Provisions of Fuel Transportation Agreement:</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Term of Agreement: 5 years from execution</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Carrier to ensure </a:t>
                      </a:r>
                      <a:r>
                        <a:rPr lang="en-US" sz="1000" b="1" kern="1200" baseline="0" dirty="0">
                          <a:solidFill>
                            <a:schemeClr val="tx1"/>
                          </a:solidFill>
                          <a:latin typeface="+mn-lt"/>
                          <a:ea typeface="+mn-ea"/>
                          <a:cs typeface="+mn-cs"/>
                        </a:rPr>
                        <a:t>min 3 Tanker Barges </a:t>
                      </a:r>
                      <a:r>
                        <a:rPr lang="en-US" sz="1000" b="0" kern="1200" baseline="0" dirty="0">
                          <a:solidFill>
                            <a:schemeClr val="tx1"/>
                          </a:solidFill>
                          <a:latin typeface="+mn-lt"/>
                          <a:ea typeface="+mn-ea"/>
                          <a:cs typeface="+mn-cs"/>
                        </a:rPr>
                        <a:t>of 300 – 500 MT in operational condition &amp; deputed full time for maintaining stock of Facility</a:t>
                      </a:r>
                      <a:endParaRPr lang="en-US" sz="1000" b="0" i="1" kern="1200" baseline="0" dirty="0">
                        <a:solidFill>
                          <a:schemeClr val="tx1"/>
                        </a:solidFill>
                        <a:latin typeface="+mn-lt"/>
                        <a:ea typeface="+mn-ea"/>
                        <a:cs typeface="+mn-cs"/>
                      </a:endParaRP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After loading at BPC Terminal, each Tanker Barge will reach Facility within 6 hours from leaving BPC Terminal. Max. Unloading time for Discharge of Cargo is 72 hours (after settling time) from the arrival of tanker barge at Facility. Penalty for delay shall be charged at rate of </a:t>
                      </a:r>
                      <a:r>
                        <a:rPr lang="en-US" sz="1000" b="1" kern="1200" baseline="0" dirty="0">
                          <a:solidFill>
                            <a:schemeClr val="tx1"/>
                          </a:solidFill>
                          <a:latin typeface="+mn-lt"/>
                          <a:ea typeface="+mn-ea"/>
                          <a:cs typeface="+mn-cs"/>
                        </a:rPr>
                        <a:t>BDT 15,000 per day</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Total quantity of initial HSD order is 30,20,000 L </a:t>
                      </a:r>
                      <a:r>
                        <a:rPr lang="en-US" sz="1000" b="0" i="1" kern="1200" baseline="0" dirty="0">
                          <a:solidFill>
                            <a:schemeClr val="tx1"/>
                          </a:solidFill>
                          <a:latin typeface="+mn-lt"/>
                          <a:ea typeface="+mn-ea"/>
                          <a:cs typeface="+mn-cs"/>
                        </a:rPr>
                        <a:t>(~ 3 days FO operation) &amp; </a:t>
                      </a:r>
                      <a:r>
                        <a:rPr lang="en-US" sz="1000" b="0" i="0" kern="1200" baseline="0" dirty="0">
                          <a:solidFill>
                            <a:schemeClr val="tx1"/>
                          </a:solidFill>
                          <a:latin typeface="+mn-lt"/>
                          <a:ea typeface="+mn-ea"/>
                          <a:cs typeface="+mn-cs"/>
                        </a:rPr>
                        <a:t>Rate of HSD transportation is </a:t>
                      </a:r>
                      <a:r>
                        <a:rPr lang="en-US" sz="1000" b="1" i="0" kern="1200" baseline="0" dirty="0">
                          <a:solidFill>
                            <a:schemeClr val="tx1"/>
                          </a:solidFill>
                          <a:latin typeface="+mn-lt"/>
                          <a:ea typeface="+mn-ea"/>
                          <a:cs typeface="+mn-cs"/>
                        </a:rPr>
                        <a:t>BDT 0.48/L (</a:t>
                      </a:r>
                      <a:r>
                        <a:rPr lang="en-US" sz="1000" b="1" i="0" kern="1200" baseline="0" dirty="0" err="1">
                          <a:solidFill>
                            <a:schemeClr val="tx1"/>
                          </a:solidFill>
                          <a:latin typeface="+mn-lt"/>
                          <a:ea typeface="+mn-ea"/>
                          <a:cs typeface="+mn-cs"/>
                        </a:rPr>
                        <a:t>incl</a:t>
                      </a:r>
                      <a:r>
                        <a:rPr lang="en-US" sz="1000" b="1" i="0" kern="1200" baseline="0" dirty="0">
                          <a:solidFill>
                            <a:schemeClr val="tx1"/>
                          </a:solidFill>
                          <a:latin typeface="+mn-lt"/>
                          <a:ea typeface="+mn-ea"/>
                          <a:cs typeface="+mn-cs"/>
                        </a:rPr>
                        <a:t> AIT)</a:t>
                      </a:r>
                    </a:p>
                    <a:p>
                      <a:pPr marL="0" indent="0" algn="just">
                        <a:spcAft>
                          <a:spcPts val="500"/>
                        </a:spcAft>
                        <a:buFont typeface="Arial" panose="020B0604020202020204" pitchFamily="34" charset="0"/>
                        <a:buNone/>
                      </a:pPr>
                      <a:r>
                        <a:rPr lang="en-US" sz="1000" b="1" kern="1200" baseline="0" dirty="0">
                          <a:solidFill>
                            <a:schemeClr val="tx1"/>
                          </a:solidFill>
                          <a:latin typeface="+mn-lt"/>
                          <a:ea typeface="+mn-ea"/>
                          <a:cs typeface="+mn-cs"/>
                        </a:rPr>
                        <a:t>Liquidated Damages:</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If Carrier fails to depute their Tanker Barge to BPC Terminal as per date intimated in 15 days advance notice for cargo delivery, Carrier shall reimburse amount equal to </a:t>
                      </a:r>
                      <a:r>
                        <a:rPr lang="en-US" sz="1000" b="1" kern="1200" baseline="0" dirty="0">
                          <a:solidFill>
                            <a:schemeClr val="tx1"/>
                          </a:solidFill>
                          <a:latin typeface="+mn-lt"/>
                          <a:ea typeface="+mn-ea"/>
                          <a:cs typeface="+mn-cs"/>
                        </a:rPr>
                        <a:t>penalty by BPDB as per PPA</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If Cargo contaminated beyond 0.05% in 3 consecutive shipments, the total cost of cargo (found contaminated beyond 0.05% (</a:t>
                      </a:r>
                      <a:r>
                        <a:rPr lang="en-US" sz="1000" b="0" kern="1200" baseline="0" dirty="0" err="1">
                          <a:solidFill>
                            <a:schemeClr val="tx1"/>
                          </a:solidFill>
                          <a:latin typeface="+mn-lt"/>
                          <a:ea typeface="+mn-ea"/>
                          <a:cs typeface="+mn-cs"/>
                        </a:rPr>
                        <a:t>incl</a:t>
                      </a:r>
                      <a:r>
                        <a:rPr lang="en-US" sz="1000" b="0" kern="1200" baseline="0" dirty="0">
                          <a:solidFill>
                            <a:schemeClr val="tx1"/>
                          </a:solidFill>
                          <a:latin typeface="+mn-lt"/>
                          <a:ea typeface="+mn-ea"/>
                          <a:cs typeface="+mn-cs"/>
                        </a:rPr>
                        <a:t> Fuel carrying cost, taxes/duties, any other cost) will be deducted from Carrier invoice</a:t>
                      </a:r>
                    </a:p>
                  </a:txBody>
                  <a:tcPr marL="107998" marT="107998">
                    <a:lnL w="12700" cmpd="sng">
                      <a:noFill/>
                    </a:lnL>
                    <a:lnR w="12700" cmpd="sng">
                      <a:noFill/>
                    </a:lnR>
                    <a:lnT w="38100" cap="flat" cmpd="sng" algn="ctr">
                      <a:solidFill>
                        <a:schemeClr val="accent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graphicFrame>
        <p:nvGraphicFramePr>
          <p:cNvPr id="2" name="Table 1"/>
          <p:cNvGraphicFramePr>
            <a:graphicFrameLocks noGrp="1"/>
          </p:cNvGraphicFramePr>
          <p:nvPr/>
        </p:nvGraphicFramePr>
        <p:xfrm>
          <a:off x="5483725" y="3461797"/>
          <a:ext cx="4758111" cy="3048000"/>
        </p:xfrm>
        <a:graphic>
          <a:graphicData uri="http://schemas.openxmlformats.org/drawingml/2006/table">
            <a:tbl>
              <a:tblPr firstRow="1" bandRow="1">
                <a:tableStyleId>{5C22544A-7EE6-4342-B048-85BDC9FD1C3A}</a:tableStyleId>
              </a:tblPr>
              <a:tblGrid>
                <a:gridCol w="1442831">
                  <a:extLst>
                    <a:ext uri="{9D8B030D-6E8A-4147-A177-3AD203B41FA5}">
                      <a16:colId xmlns:a16="http://schemas.microsoft.com/office/drawing/2014/main" val="833981214"/>
                    </a:ext>
                  </a:extLst>
                </a:gridCol>
                <a:gridCol w="659218">
                  <a:extLst>
                    <a:ext uri="{9D8B030D-6E8A-4147-A177-3AD203B41FA5}">
                      <a16:colId xmlns:a16="http://schemas.microsoft.com/office/drawing/2014/main" val="3846034493"/>
                    </a:ext>
                  </a:extLst>
                </a:gridCol>
                <a:gridCol w="659219">
                  <a:extLst>
                    <a:ext uri="{9D8B030D-6E8A-4147-A177-3AD203B41FA5}">
                      <a16:colId xmlns:a16="http://schemas.microsoft.com/office/drawing/2014/main" val="3833631504"/>
                    </a:ext>
                  </a:extLst>
                </a:gridCol>
                <a:gridCol w="956930">
                  <a:extLst>
                    <a:ext uri="{9D8B030D-6E8A-4147-A177-3AD203B41FA5}">
                      <a16:colId xmlns:a16="http://schemas.microsoft.com/office/drawing/2014/main" val="1555910698"/>
                    </a:ext>
                  </a:extLst>
                </a:gridCol>
                <a:gridCol w="1039913">
                  <a:extLst>
                    <a:ext uri="{9D8B030D-6E8A-4147-A177-3AD203B41FA5}">
                      <a16:colId xmlns:a16="http://schemas.microsoft.com/office/drawing/2014/main" val="3871670631"/>
                    </a:ext>
                  </a:extLst>
                </a:gridCol>
              </a:tblGrid>
              <a:tr h="241809">
                <a:tc>
                  <a:txBody>
                    <a:bodyPr/>
                    <a:lstStyle/>
                    <a:p>
                      <a:r>
                        <a:rPr lang="en-US" sz="1000" b="0" dirty="0"/>
                        <a:t>Term</a:t>
                      </a:r>
                      <a:endParaRPr lang="en-IN" sz="1000" b="0" dirty="0"/>
                    </a:p>
                  </a:txBody>
                  <a:tcPr/>
                </a:tc>
                <a:tc>
                  <a:txBody>
                    <a:bodyPr/>
                    <a:lstStyle/>
                    <a:p>
                      <a:r>
                        <a:rPr lang="en-US" sz="1000" b="0" dirty="0"/>
                        <a:t>Unit</a:t>
                      </a:r>
                      <a:endParaRPr lang="en-IN" sz="1000" b="0" dirty="0"/>
                    </a:p>
                  </a:txBody>
                  <a:tcPr/>
                </a:tc>
                <a:tc>
                  <a:txBody>
                    <a:bodyPr/>
                    <a:lstStyle/>
                    <a:p>
                      <a:r>
                        <a:rPr lang="en-US" sz="1000" b="0" dirty="0"/>
                        <a:t>Legend</a:t>
                      </a:r>
                      <a:endParaRPr lang="en-IN" sz="1000" b="0" dirty="0"/>
                    </a:p>
                  </a:txBody>
                  <a:tcPr/>
                </a:tc>
                <a:tc>
                  <a:txBody>
                    <a:bodyPr/>
                    <a:lstStyle/>
                    <a:p>
                      <a:r>
                        <a:rPr lang="en-US" sz="1000" b="0" dirty="0"/>
                        <a:t>Value</a:t>
                      </a:r>
                      <a:endParaRPr lang="en-IN" sz="1000" b="0" dirty="0"/>
                    </a:p>
                  </a:txBody>
                  <a:tcPr/>
                </a:tc>
                <a:tc>
                  <a:txBody>
                    <a:bodyPr/>
                    <a:lstStyle/>
                    <a:p>
                      <a:r>
                        <a:rPr lang="en-US" sz="1000" b="0" dirty="0"/>
                        <a:t>Source</a:t>
                      </a:r>
                      <a:endParaRPr lang="en-IN" sz="1000" b="0" dirty="0"/>
                    </a:p>
                  </a:txBody>
                  <a:tcPr/>
                </a:tc>
                <a:extLst>
                  <a:ext uri="{0D108BD9-81ED-4DB2-BD59-A6C34878D82A}">
                    <a16:rowId xmlns:a16="http://schemas.microsoft.com/office/drawing/2014/main" val="1327631116"/>
                  </a:ext>
                </a:extLst>
              </a:tr>
              <a:tr h="241809">
                <a:tc>
                  <a:txBody>
                    <a:bodyPr/>
                    <a:lstStyle/>
                    <a:p>
                      <a:r>
                        <a:rPr lang="en-US" sz="1000" b="0" dirty="0"/>
                        <a:t>Plant Capacity</a:t>
                      </a:r>
                      <a:endParaRPr lang="en-IN" sz="1000" b="0" dirty="0"/>
                    </a:p>
                  </a:txBody>
                  <a:tcPr/>
                </a:tc>
                <a:tc>
                  <a:txBody>
                    <a:bodyPr/>
                    <a:lstStyle/>
                    <a:p>
                      <a:r>
                        <a:rPr lang="en-US" sz="1000" b="0" dirty="0"/>
                        <a:t>MW</a:t>
                      </a:r>
                      <a:endParaRPr lang="en-IN" sz="1000" b="0" dirty="0"/>
                    </a:p>
                  </a:txBody>
                  <a:tcPr/>
                </a:tc>
                <a:tc>
                  <a:txBody>
                    <a:bodyPr/>
                    <a:lstStyle/>
                    <a:p>
                      <a:r>
                        <a:rPr lang="en-US" sz="1000" b="0" dirty="0"/>
                        <a:t>Z</a:t>
                      </a:r>
                      <a:endParaRPr lang="en-IN" sz="1000" b="0" dirty="0"/>
                    </a:p>
                  </a:txBody>
                  <a:tcPr/>
                </a:tc>
                <a:tc>
                  <a:txBody>
                    <a:bodyPr/>
                    <a:lstStyle/>
                    <a:p>
                      <a:r>
                        <a:rPr lang="en-US" sz="1000" b="0" dirty="0"/>
                        <a:t>212</a:t>
                      </a:r>
                      <a:endParaRPr lang="en-IN" sz="1000" b="0" dirty="0"/>
                    </a:p>
                  </a:txBody>
                  <a:tcPr/>
                </a:tc>
                <a:tc>
                  <a:txBody>
                    <a:bodyPr/>
                    <a:lstStyle/>
                    <a:p>
                      <a:r>
                        <a:rPr lang="en-US" sz="1000" b="0" dirty="0"/>
                        <a:t>PPA</a:t>
                      </a:r>
                      <a:endParaRPr lang="en-IN" sz="1000" b="0" dirty="0"/>
                    </a:p>
                  </a:txBody>
                  <a:tcPr/>
                </a:tc>
                <a:extLst>
                  <a:ext uri="{0D108BD9-81ED-4DB2-BD59-A6C34878D82A}">
                    <a16:rowId xmlns:a16="http://schemas.microsoft.com/office/drawing/2014/main" val="69093510"/>
                  </a:ext>
                </a:extLst>
              </a:tr>
              <a:tr h="241809">
                <a:tc>
                  <a:txBody>
                    <a:bodyPr/>
                    <a:lstStyle/>
                    <a:p>
                      <a:r>
                        <a:rPr lang="en-US" sz="1000" b="0" dirty="0"/>
                        <a:t>Plant</a:t>
                      </a:r>
                      <a:r>
                        <a:rPr lang="en-US" sz="1000" b="0" baseline="0" dirty="0"/>
                        <a:t> Energy output (100% PLF)</a:t>
                      </a:r>
                      <a:endParaRPr lang="en-IN" sz="1000" b="0" dirty="0"/>
                    </a:p>
                  </a:txBody>
                  <a:tcPr/>
                </a:tc>
                <a:tc>
                  <a:txBody>
                    <a:bodyPr/>
                    <a:lstStyle/>
                    <a:p>
                      <a:r>
                        <a:rPr lang="en-US" sz="1000" b="0" dirty="0"/>
                        <a:t>kWh</a:t>
                      </a:r>
                      <a:endParaRPr lang="en-IN" sz="1000" b="0" dirty="0"/>
                    </a:p>
                  </a:txBody>
                  <a:tcPr/>
                </a:tc>
                <a:tc>
                  <a:txBody>
                    <a:bodyPr/>
                    <a:lstStyle/>
                    <a:p>
                      <a:r>
                        <a:rPr lang="en-US" sz="1000" b="0" dirty="0"/>
                        <a:t>Y</a:t>
                      </a:r>
                      <a:endParaRPr lang="en-IN" sz="1000" b="0" dirty="0"/>
                    </a:p>
                  </a:txBody>
                  <a:tcPr/>
                </a:tc>
                <a:tc>
                  <a:txBody>
                    <a:bodyPr/>
                    <a:lstStyle/>
                    <a:p>
                      <a:r>
                        <a:rPr lang="en-US" sz="1000" b="0" dirty="0"/>
                        <a:t>50,88,000</a:t>
                      </a:r>
                      <a:endParaRPr lang="en-IN" sz="1000" b="0" dirty="0"/>
                    </a:p>
                  </a:txBody>
                  <a:tcPr/>
                </a:tc>
                <a:tc>
                  <a:txBody>
                    <a:bodyPr/>
                    <a:lstStyle/>
                    <a:p>
                      <a:r>
                        <a:rPr lang="en-US" sz="1000" b="0" dirty="0"/>
                        <a:t>Z*24*1000</a:t>
                      </a:r>
                      <a:endParaRPr lang="en-IN" sz="1000" b="0" dirty="0"/>
                    </a:p>
                  </a:txBody>
                  <a:tcPr/>
                </a:tc>
                <a:extLst>
                  <a:ext uri="{0D108BD9-81ED-4DB2-BD59-A6C34878D82A}">
                    <a16:rowId xmlns:a16="http://schemas.microsoft.com/office/drawing/2014/main" val="569932281"/>
                  </a:ext>
                </a:extLst>
              </a:tr>
              <a:tr h="241809">
                <a:tc>
                  <a:txBody>
                    <a:bodyPr/>
                    <a:lstStyle/>
                    <a:p>
                      <a:r>
                        <a:rPr lang="en-US" sz="1000" b="0" dirty="0"/>
                        <a:t>FO Density</a:t>
                      </a:r>
                      <a:endParaRPr lang="en-IN" sz="1000" b="0" dirty="0"/>
                    </a:p>
                  </a:txBody>
                  <a:tcPr/>
                </a:tc>
                <a:tc>
                  <a:txBody>
                    <a:bodyPr/>
                    <a:lstStyle/>
                    <a:p>
                      <a:r>
                        <a:rPr lang="en-US" sz="1000" b="0" dirty="0"/>
                        <a:t>Kg/L</a:t>
                      </a:r>
                      <a:endParaRPr lang="en-IN" sz="1000" b="0" dirty="0"/>
                    </a:p>
                  </a:txBody>
                  <a:tcPr/>
                </a:tc>
                <a:tc>
                  <a:txBody>
                    <a:bodyPr/>
                    <a:lstStyle/>
                    <a:p>
                      <a:r>
                        <a:rPr lang="en-US" sz="1000" b="0" dirty="0"/>
                        <a:t>A</a:t>
                      </a:r>
                      <a:endParaRPr lang="en-IN" sz="1000" b="0" dirty="0"/>
                    </a:p>
                  </a:txBody>
                  <a:tcPr/>
                </a:tc>
                <a:tc>
                  <a:txBody>
                    <a:bodyPr/>
                    <a:lstStyle/>
                    <a:p>
                      <a:r>
                        <a:rPr lang="en-US" sz="1000" b="0" dirty="0"/>
                        <a:t>(0.82-0.87)</a:t>
                      </a:r>
                      <a:endParaRPr lang="en-IN" sz="1000" b="0" dirty="0"/>
                    </a:p>
                  </a:txBody>
                  <a:tcPr/>
                </a:tc>
                <a:tc>
                  <a:txBody>
                    <a:bodyPr/>
                    <a:lstStyle/>
                    <a:p>
                      <a:r>
                        <a:rPr lang="en-US" sz="1000" b="0" dirty="0"/>
                        <a:t>FSA</a:t>
                      </a:r>
                      <a:endParaRPr lang="en-IN" sz="1000" b="0" dirty="0"/>
                    </a:p>
                  </a:txBody>
                  <a:tcPr/>
                </a:tc>
                <a:extLst>
                  <a:ext uri="{0D108BD9-81ED-4DB2-BD59-A6C34878D82A}">
                    <a16:rowId xmlns:a16="http://schemas.microsoft.com/office/drawing/2014/main" val="439483869"/>
                  </a:ext>
                </a:extLst>
              </a:tr>
              <a:tr h="241809">
                <a:tc>
                  <a:txBody>
                    <a:bodyPr/>
                    <a:lstStyle/>
                    <a:p>
                      <a:r>
                        <a:rPr lang="en-US" sz="1000" b="0" dirty="0"/>
                        <a:t>Calorific Value</a:t>
                      </a:r>
                      <a:endParaRPr lang="en-IN" sz="1000" b="0" dirty="0"/>
                    </a:p>
                  </a:txBody>
                  <a:tcPr/>
                </a:tc>
                <a:tc>
                  <a:txBody>
                    <a:bodyPr/>
                    <a:lstStyle/>
                    <a:p>
                      <a:r>
                        <a:rPr lang="en-US" sz="1000" b="0" dirty="0"/>
                        <a:t>kJ/Kg</a:t>
                      </a:r>
                      <a:endParaRPr lang="en-IN" sz="1000" b="0" dirty="0"/>
                    </a:p>
                  </a:txBody>
                  <a:tcPr/>
                </a:tc>
                <a:tc>
                  <a:txBody>
                    <a:bodyPr/>
                    <a:lstStyle/>
                    <a:p>
                      <a:r>
                        <a:rPr lang="en-US" sz="1000" b="0" dirty="0"/>
                        <a:t>B</a:t>
                      </a:r>
                      <a:endParaRPr lang="en-IN" sz="1000" b="0" dirty="0"/>
                    </a:p>
                  </a:txBody>
                  <a:tcPr/>
                </a:tc>
                <a:tc>
                  <a:txBody>
                    <a:bodyPr/>
                    <a:lstStyle/>
                    <a:p>
                      <a:r>
                        <a:rPr lang="en-US" sz="1000" b="0" dirty="0"/>
                        <a:t>43011.52</a:t>
                      </a:r>
                      <a:endParaRPr lang="en-IN" sz="1000" b="0" dirty="0"/>
                    </a:p>
                  </a:txBody>
                  <a:tcPr/>
                </a:tc>
                <a:tc>
                  <a:txBody>
                    <a:bodyPr/>
                    <a:lstStyle/>
                    <a:p>
                      <a:r>
                        <a:rPr lang="en-US" sz="1000" b="0" dirty="0"/>
                        <a:t>FSA</a:t>
                      </a:r>
                      <a:endParaRPr lang="en-IN" sz="1000" b="0" dirty="0"/>
                    </a:p>
                  </a:txBody>
                  <a:tcPr/>
                </a:tc>
                <a:extLst>
                  <a:ext uri="{0D108BD9-81ED-4DB2-BD59-A6C34878D82A}">
                    <a16:rowId xmlns:a16="http://schemas.microsoft.com/office/drawing/2014/main" val="3960207705"/>
                  </a:ext>
                </a:extLst>
              </a:tr>
              <a:tr h="241809">
                <a:tc>
                  <a:txBody>
                    <a:bodyPr/>
                    <a:lstStyle/>
                    <a:p>
                      <a:r>
                        <a:rPr lang="en-US" sz="1000" b="0" dirty="0"/>
                        <a:t>Heat Rate (100% PLF)</a:t>
                      </a:r>
                      <a:endParaRPr lang="en-IN" sz="1000" b="0" dirty="0"/>
                    </a:p>
                  </a:txBody>
                  <a:tcPr/>
                </a:tc>
                <a:tc>
                  <a:txBody>
                    <a:bodyPr/>
                    <a:lstStyle/>
                    <a:p>
                      <a:r>
                        <a:rPr lang="en-US" sz="1000" b="0" dirty="0"/>
                        <a:t>kJ/kWh</a:t>
                      </a:r>
                      <a:endParaRPr lang="en-IN" sz="1000" b="0" dirty="0"/>
                    </a:p>
                  </a:txBody>
                  <a:tcPr/>
                </a:tc>
                <a:tc>
                  <a:txBody>
                    <a:bodyPr/>
                    <a:lstStyle/>
                    <a:p>
                      <a:r>
                        <a:rPr lang="en-US" sz="1000" b="0" dirty="0"/>
                        <a:t>C</a:t>
                      </a:r>
                      <a:r>
                        <a:rPr lang="en-US" sz="1000" b="0" baseline="-25000" dirty="0"/>
                        <a:t>1</a:t>
                      </a:r>
                      <a:endParaRPr lang="en-IN" sz="1000" b="0" dirty="0"/>
                    </a:p>
                  </a:txBody>
                  <a:tcPr/>
                </a:tc>
                <a:tc>
                  <a:txBody>
                    <a:bodyPr/>
                    <a:lstStyle/>
                    <a:p>
                      <a:r>
                        <a:rPr lang="en-US" sz="1000" b="0" dirty="0"/>
                        <a:t>7067</a:t>
                      </a:r>
                      <a:endParaRPr lang="en-IN" sz="1000" b="0" dirty="0"/>
                    </a:p>
                  </a:txBody>
                  <a:tcPr/>
                </a:tc>
                <a:tc>
                  <a:txBody>
                    <a:bodyPr/>
                    <a:lstStyle/>
                    <a:p>
                      <a:r>
                        <a:rPr lang="en-US" sz="1000" b="0" dirty="0"/>
                        <a:t>PPA</a:t>
                      </a:r>
                      <a:endParaRPr lang="en-IN" sz="1000" b="0" dirty="0"/>
                    </a:p>
                  </a:txBody>
                  <a:tcPr/>
                </a:tc>
                <a:extLst>
                  <a:ext uri="{0D108BD9-81ED-4DB2-BD59-A6C34878D82A}">
                    <a16:rowId xmlns:a16="http://schemas.microsoft.com/office/drawing/2014/main" val="3698503614"/>
                  </a:ext>
                </a:extLst>
              </a:tr>
              <a:tr h="241809">
                <a:tc>
                  <a:txBody>
                    <a:bodyPr/>
                    <a:lstStyle/>
                    <a:p>
                      <a:r>
                        <a:rPr lang="en-US" sz="1000" b="0" dirty="0"/>
                        <a:t>Fuel Requirement</a:t>
                      </a:r>
                      <a:r>
                        <a:rPr lang="en-US" sz="1000" b="0" baseline="0" dirty="0"/>
                        <a:t> per day (100% PLF)</a:t>
                      </a:r>
                      <a:endParaRPr lang="en-IN" sz="1000" b="0" dirty="0"/>
                    </a:p>
                  </a:txBody>
                  <a:tcPr/>
                </a:tc>
                <a:tc>
                  <a:txBody>
                    <a:bodyPr/>
                    <a:lstStyle/>
                    <a:p>
                      <a:r>
                        <a:rPr lang="en-US" sz="1000" b="0" dirty="0"/>
                        <a:t>L</a:t>
                      </a:r>
                      <a:endParaRPr lang="en-IN" sz="1000" b="0" dirty="0"/>
                    </a:p>
                  </a:txBody>
                  <a:tcP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US" sz="1000" b="0" dirty="0"/>
                        <a:t>D</a:t>
                      </a:r>
                      <a:r>
                        <a:rPr lang="en-US" sz="1000" b="0" baseline="-25000" dirty="0"/>
                        <a:t>1</a:t>
                      </a:r>
                      <a:endParaRPr lang="en-IN" sz="1000" b="0" dirty="0"/>
                    </a:p>
                  </a:txBody>
                  <a:tcPr/>
                </a:tc>
                <a:tc>
                  <a:txBody>
                    <a:bodyPr/>
                    <a:lstStyle/>
                    <a:p>
                      <a:r>
                        <a:rPr lang="en-US" sz="1000" b="0" dirty="0"/>
                        <a:t>9,60,900 – 10,19,491</a:t>
                      </a:r>
                      <a:endParaRPr lang="en-IN" sz="1000" b="0" dirty="0"/>
                    </a:p>
                  </a:txBody>
                  <a:tcP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US" sz="1000" b="0" dirty="0"/>
                        <a:t>(Y*C</a:t>
                      </a:r>
                      <a:r>
                        <a:rPr lang="en-US" sz="1000" b="0" baseline="-25000" dirty="0"/>
                        <a:t>1</a:t>
                      </a:r>
                      <a:r>
                        <a:rPr lang="en-IN" sz="1000" b="0" baseline="0" dirty="0"/>
                        <a:t>)/(B*A)</a:t>
                      </a:r>
                      <a:endParaRPr lang="en-IN" sz="1000" b="0" dirty="0"/>
                    </a:p>
                  </a:txBody>
                  <a:tcPr/>
                </a:tc>
                <a:extLst>
                  <a:ext uri="{0D108BD9-81ED-4DB2-BD59-A6C34878D82A}">
                    <a16:rowId xmlns:a16="http://schemas.microsoft.com/office/drawing/2014/main" val="2418068880"/>
                  </a:ext>
                </a:extLst>
              </a:tr>
              <a:tr h="241809">
                <a:tc>
                  <a:txBody>
                    <a:bodyPr/>
                    <a:lstStyle/>
                    <a:p>
                      <a:r>
                        <a:rPr lang="en-US" sz="1000" b="0" dirty="0"/>
                        <a:t>FO Tank Size </a:t>
                      </a:r>
                      <a:endParaRPr lang="en-IN" sz="1000" b="0" dirty="0"/>
                    </a:p>
                  </a:txBody>
                  <a:tcPr/>
                </a:tc>
                <a:tc>
                  <a:txBody>
                    <a:bodyPr/>
                    <a:lstStyle/>
                    <a:p>
                      <a:r>
                        <a:rPr lang="en-US" sz="1000" b="0" dirty="0"/>
                        <a:t>L</a:t>
                      </a:r>
                      <a:endParaRPr lang="en-IN" sz="1000" b="0" dirty="0"/>
                    </a:p>
                  </a:txBody>
                  <a:tcP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US" sz="1000" b="0" dirty="0"/>
                        <a:t>E</a:t>
                      </a:r>
                      <a:endParaRPr lang="en-IN" sz="1000" b="0" dirty="0"/>
                    </a:p>
                  </a:txBody>
                  <a:tcPr/>
                </a:tc>
                <a:tc>
                  <a:txBody>
                    <a:bodyPr/>
                    <a:lstStyle/>
                    <a:p>
                      <a:r>
                        <a:rPr lang="en-US" sz="1000" b="0" dirty="0"/>
                        <a:t>54,00,000</a:t>
                      </a:r>
                      <a:endParaRPr lang="en-IN" sz="1000" b="0" dirty="0"/>
                    </a:p>
                  </a:txBody>
                  <a:tcP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US" sz="1000" b="0" dirty="0"/>
                        <a:t>P&amp;ID</a:t>
                      </a:r>
                      <a:endParaRPr lang="en-IN" sz="1000" b="0" dirty="0"/>
                    </a:p>
                  </a:txBody>
                  <a:tcPr/>
                </a:tc>
                <a:extLst>
                  <a:ext uri="{0D108BD9-81ED-4DB2-BD59-A6C34878D82A}">
                    <a16:rowId xmlns:a16="http://schemas.microsoft.com/office/drawing/2014/main" val="3619975694"/>
                  </a:ext>
                </a:extLst>
              </a:tr>
              <a:tr h="241809">
                <a:tc>
                  <a:txBody>
                    <a:bodyPr/>
                    <a:lstStyle/>
                    <a:p>
                      <a:r>
                        <a:rPr lang="en-US" sz="1000" b="0" dirty="0"/>
                        <a:t>FO Tank number</a:t>
                      </a:r>
                      <a:endParaRPr lang="en-IN" sz="1000" b="0" dirty="0"/>
                    </a:p>
                  </a:txBody>
                  <a:tcPr/>
                </a:tc>
                <a:tc>
                  <a:txBody>
                    <a:bodyPr/>
                    <a:lstStyle/>
                    <a:p>
                      <a:r>
                        <a:rPr lang="en-US" sz="1000" b="0" dirty="0"/>
                        <a:t>#</a:t>
                      </a:r>
                      <a:endParaRPr lang="en-IN" sz="1000" b="0" dirty="0"/>
                    </a:p>
                  </a:txBody>
                  <a:tcP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US" sz="1000" b="0" dirty="0"/>
                        <a:t>F</a:t>
                      </a:r>
                      <a:endParaRPr lang="en-IN" sz="1000" b="0" dirty="0"/>
                    </a:p>
                  </a:txBody>
                  <a:tcPr/>
                </a:tc>
                <a:tc>
                  <a:txBody>
                    <a:bodyPr/>
                    <a:lstStyle/>
                    <a:p>
                      <a:r>
                        <a:rPr lang="en-US" sz="1000" b="0" dirty="0"/>
                        <a:t>3</a:t>
                      </a:r>
                      <a:endParaRPr lang="en-IN" sz="1000" b="0" dirty="0"/>
                    </a:p>
                  </a:txBody>
                  <a:tcP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US" sz="1000" b="0" dirty="0"/>
                        <a:t>P&amp;ID</a:t>
                      </a:r>
                      <a:endParaRPr lang="en-IN" sz="1000" b="0" dirty="0"/>
                    </a:p>
                  </a:txBody>
                  <a:tcPr/>
                </a:tc>
                <a:extLst>
                  <a:ext uri="{0D108BD9-81ED-4DB2-BD59-A6C34878D82A}">
                    <a16:rowId xmlns:a16="http://schemas.microsoft.com/office/drawing/2014/main" val="1454395987"/>
                  </a:ext>
                </a:extLst>
              </a:tr>
              <a:tr h="241809">
                <a:tc>
                  <a:txBody>
                    <a:bodyPr/>
                    <a:lstStyle/>
                    <a:p>
                      <a:r>
                        <a:rPr lang="en-US" sz="1000" b="0" dirty="0"/>
                        <a:t>Storage capacity </a:t>
                      </a:r>
                      <a:endParaRPr lang="en-IN" sz="1000" b="0" dirty="0"/>
                    </a:p>
                  </a:txBody>
                  <a:tcPr/>
                </a:tc>
                <a:tc>
                  <a:txBody>
                    <a:bodyPr/>
                    <a:lstStyle/>
                    <a:p>
                      <a:r>
                        <a:rPr lang="en-US" sz="1000" b="0" dirty="0"/>
                        <a:t>Days</a:t>
                      </a:r>
                      <a:endParaRPr lang="en-IN" sz="1000" b="0" dirty="0"/>
                    </a:p>
                  </a:txBody>
                  <a:tcP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US" sz="1000" b="0" dirty="0"/>
                        <a:t>G</a:t>
                      </a:r>
                      <a:endParaRPr lang="en-IN" sz="1000" b="0" dirty="0"/>
                    </a:p>
                  </a:txBody>
                  <a:tcPr/>
                </a:tc>
                <a:tc>
                  <a:txBody>
                    <a:bodyPr/>
                    <a:lstStyle/>
                    <a:p>
                      <a:r>
                        <a:rPr lang="en-US" sz="1000" b="0" dirty="0"/>
                        <a:t>15-16</a:t>
                      </a:r>
                      <a:endParaRPr lang="en-IN" sz="1000" b="0" dirty="0"/>
                    </a:p>
                  </a:txBody>
                  <a:tcP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US" sz="1000" b="0" dirty="0"/>
                        <a:t>(E*F)/(D</a:t>
                      </a:r>
                      <a:r>
                        <a:rPr lang="en-US" sz="1000" b="0" baseline="-25000" dirty="0"/>
                        <a:t>1</a:t>
                      </a:r>
                      <a:r>
                        <a:rPr lang="en-IN" sz="1000" b="0" baseline="0" dirty="0"/>
                        <a:t>)</a:t>
                      </a:r>
                      <a:endParaRPr lang="en-IN" sz="1000" b="0" dirty="0"/>
                    </a:p>
                  </a:txBody>
                  <a:tcPr/>
                </a:tc>
                <a:extLst>
                  <a:ext uri="{0D108BD9-81ED-4DB2-BD59-A6C34878D82A}">
                    <a16:rowId xmlns:a16="http://schemas.microsoft.com/office/drawing/2014/main" val="4274085357"/>
                  </a:ext>
                </a:extLst>
              </a:tr>
            </a:tbl>
          </a:graphicData>
        </a:graphic>
      </p:graphicFrame>
    </p:spTree>
    <p:extLst>
      <p:ext uri="{BB962C8B-B14F-4D97-AF65-F5344CB8AC3E}">
        <p14:creationId xmlns:p14="http://schemas.microsoft.com/office/powerpoint/2010/main" val="312287621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Strapline"/>
          <p:cNvSpPr>
            <a:spLocks noGrp="1"/>
          </p:cNvSpPr>
          <p:nvPr>
            <p:ph type="body" sz="quarter" idx="13"/>
          </p:nvPr>
        </p:nvSpPr>
        <p:spPr>
          <a:xfrm>
            <a:off x="449993" y="1079983"/>
            <a:ext cx="9791843" cy="518392"/>
          </a:xfrm>
        </p:spPr>
        <p:txBody>
          <a:bodyPr lIns="0" tIns="0" rIns="0" bIns="0" anchor="t">
            <a:noAutofit/>
          </a:bodyPr>
          <a:lstStyle/>
          <a:p>
            <a:r>
              <a:rPr lang="en-US" b="1" dirty="0">
                <a:solidFill>
                  <a:schemeClr val="tx1">
                    <a:lumMod val="50000"/>
                    <a:lumOff val="50000"/>
                  </a:schemeClr>
                </a:solidFill>
                <a:latin typeface="Verdana" panose="020B0604030504040204" pitchFamily="34" charset="0"/>
              </a:rPr>
              <a:t>5 year operation and maintenance agreement signed with Chennai based Operations Energy Group, a sister concern of Shapoorji Pallonji</a:t>
            </a:r>
            <a:endParaRPr lang="en-GB" b="1" dirty="0">
              <a:solidFill>
                <a:schemeClr val="tx1">
                  <a:lumMod val="50000"/>
                  <a:lumOff val="50000"/>
                </a:schemeClr>
              </a:solidFill>
              <a:latin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Operations and Maintenance Agreement | Salient Features</a:t>
            </a:r>
          </a:p>
        </p:txBody>
      </p:sp>
      <p:graphicFrame>
        <p:nvGraphicFramePr>
          <p:cNvPr id="20" name="Table 19"/>
          <p:cNvGraphicFramePr>
            <a:graphicFrameLocks noGrp="1"/>
          </p:cNvGraphicFramePr>
          <p:nvPr>
            <p:custDataLst>
              <p:tags r:id="rId1"/>
            </p:custDataLst>
            <p:extLst>
              <p:ext uri="{D42A27DB-BD31-4B8C-83A1-F6EECF244321}">
                <p14:modId xmlns:p14="http://schemas.microsoft.com/office/powerpoint/2010/main" val="2378006651"/>
              </p:ext>
            </p:extLst>
          </p:nvPr>
        </p:nvGraphicFramePr>
        <p:xfrm>
          <a:off x="449993" y="1961920"/>
          <a:ext cx="4734896" cy="5055106"/>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4747264">
                <a:tc>
                  <a:txBody>
                    <a:bodyPr/>
                    <a:lstStyle/>
                    <a:p>
                      <a:pPr marL="0" indent="0" algn="just">
                        <a:spcAft>
                          <a:spcPts val="500"/>
                        </a:spcAft>
                        <a:buFont typeface="Arial" panose="020B0604020202020204" pitchFamily="34" charset="0"/>
                        <a:buNone/>
                      </a:pPr>
                      <a:r>
                        <a:rPr lang="en-US" sz="1000" b="1" kern="1200" baseline="0" dirty="0">
                          <a:solidFill>
                            <a:schemeClr val="tx1"/>
                          </a:solidFill>
                          <a:latin typeface="+mn-lt"/>
                          <a:ea typeface="+mn-ea"/>
                          <a:cs typeface="+mn-cs"/>
                        </a:rPr>
                        <a:t>Salient features: </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Term: 5 years, extendable upon mutual agreement</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Fees: Monthly fee of Tk 11.50 Mn escalated by 5% annually plus any reimbursable expenses</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Obligations: Maintenance of facility, maintain dependable capacity to achieve dependable capacity as per PPA</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Subcontracting: Allowed</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Liquidated Damages:</a:t>
                      </a:r>
                    </a:p>
                    <a:p>
                      <a:pPr marL="666736" lvl="1" indent="-171450" algn="just">
                        <a:spcAft>
                          <a:spcPts val="500"/>
                        </a:spcAft>
                        <a:buFont typeface="Courier New" panose="02070309020205020404" pitchFamily="49" charset="0"/>
                        <a:buChar char="o"/>
                      </a:pPr>
                      <a:r>
                        <a:rPr lang="en-US" sz="1000" b="0" kern="1200" baseline="0" dirty="0">
                          <a:solidFill>
                            <a:schemeClr val="tx1"/>
                          </a:solidFill>
                          <a:latin typeface="+mn-lt"/>
                          <a:ea typeface="+mn-ea"/>
                          <a:cs typeface="+mn-cs"/>
                        </a:rPr>
                        <a:t>For exceeding Forced + Scheduled + Maintenance outages – LD as per PPA subject to 10% of base fee</a:t>
                      </a:r>
                    </a:p>
                    <a:p>
                      <a:pPr marL="666736" marR="0" lvl="1" indent="-171450" algn="just" defTabSz="990571" rtl="0" eaLnBrk="1" fontAlgn="auto" latinLnBrk="0" hangingPunct="1">
                        <a:lnSpc>
                          <a:spcPct val="100000"/>
                        </a:lnSpc>
                        <a:spcBef>
                          <a:spcPts val="0"/>
                        </a:spcBef>
                        <a:spcAft>
                          <a:spcPts val="500"/>
                        </a:spcAft>
                        <a:buClrTx/>
                        <a:buSzTx/>
                        <a:buFont typeface="Courier New" panose="02070309020205020404" pitchFamily="49" charset="0"/>
                        <a:buChar char="o"/>
                        <a:tabLst/>
                        <a:defRPr/>
                      </a:pPr>
                      <a:r>
                        <a:rPr lang="en-US" sz="1000" b="0" kern="1200" baseline="0" dirty="0">
                          <a:solidFill>
                            <a:schemeClr val="tx1"/>
                          </a:solidFill>
                          <a:latin typeface="+mn-lt"/>
                          <a:ea typeface="+mn-ea"/>
                          <a:cs typeface="+mn-cs"/>
                        </a:rPr>
                        <a:t>Downward revision of declared capacity – LD as per PPA subject to 10% of base fee</a:t>
                      </a:r>
                    </a:p>
                    <a:p>
                      <a:pPr marL="666736" marR="0" lvl="1" indent="-171450" algn="just" defTabSz="990571" rtl="0" eaLnBrk="1" fontAlgn="auto" latinLnBrk="0" hangingPunct="1">
                        <a:lnSpc>
                          <a:spcPct val="100000"/>
                        </a:lnSpc>
                        <a:spcBef>
                          <a:spcPts val="0"/>
                        </a:spcBef>
                        <a:spcAft>
                          <a:spcPts val="500"/>
                        </a:spcAft>
                        <a:buClrTx/>
                        <a:buSzTx/>
                        <a:buFont typeface="Courier New" panose="02070309020205020404" pitchFamily="49" charset="0"/>
                        <a:buChar char="o"/>
                        <a:tabLst/>
                        <a:defRPr/>
                      </a:pPr>
                      <a:r>
                        <a:rPr lang="en-US" sz="1000" b="0" kern="1200" baseline="0" dirty="0">
                          <a:solidFill>
                            <a:schemeClr val="tx1"/>
                          </a:solidFill>
                          <a:latin typeface="+mn-lt"/>
                          <a:ea typeface="+mn-ea"/>
                          <a:cs typeface="+mn-cs"/>
                        </a:rPr>
                        <a:t>Facility Heat Rate &gt; Guaranteed Test Heat Rate – LD is payment made for excess fuel subject to 20% of base fee</a:t>
                      </a:r>
                    </a:p>
                    <a:p>
                      <a:pPr marL="666736" lvl="1" indent="-171450" algn="just">
                        <a:spcAft>
                          <a:spcPts val="500"/>
                        </a:spcAft>
                        <a:buFont typeface="Courier New" panose="02070309020205020404" pitchFamily="49" charset="0"/>
                        <a:buChar char="o"/>
                      </a:pPr>
                      <a:r>
                        <a:rPr lang="en-US" sz="1000" b="0" kern="1200" baseline="0" dirty="0">
                          <a:solidFill>
                            <a:schemeClr val="tx1"/>
                          </a:solidFill>
                          <a:latin typeface="+mn-lt"/>
                          <a:ea typeface="+mn-ea"/>
                          <a:cs typeface="+mn-cs"/>
                        </a:rPr>
                        <a:t>Maximum Limit of liability – 30% of base fee</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baseline="0" dirty="0">
                          <a:solidFill>
                            <a:schemeClr val="tx1"/>
                          </a:solidFill>
                        </a:rPr>
                        <a:t>Force Majeure/ Political Event: Either parties can claim relief from obligations</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Termination: Event of default not cured for 45 days, Force Majeure for 6 months or more, mutual consent and Nationalization of the power plant</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Governing Law: Laws of Bangladesh</a:t>
                      </a:r>
                    </a:p>
                  </a:txBody>
                  <a:tcPr marL="107998" marT="107998">
                    <a:lnL w="12700" cmpd="sng">
                      <a:noFill/>
                    </a:lnL>
                    <a:lnR w="12700" cmpd="sng">
                      <a:noFill/>
                    </a:lnR>
                    <a:lnT w="38100" cap="flat" cmpd="sng" algn="ctr">
                      <a:solidFill>
                        <a:schemeClr val="accent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07842">
                <a:tc>
                  <a:txBody>
                    <a:bodyPr/>
                    <a:lstStyle/>
                    <a:p>
                      <a:pPr marL="0" marR="0" lvl="0" indent="0" algn="l"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0" baseline="0" dirty="0">
                        <a:solidFill>
                          <a:srgbClr val="FF0000"/>
                        </a:solidFill>
                      </a:endParaRPr>
                    </a:p>
                  </a:txBody>
                  <a:tcPr marL="107998" marT="107998">
                    <a:lnL w="12700" cmpd="sng">
                      <a:noFill/>
                    </a:lnL>
                    <a:lnR w="12700" cmpd="sng">
                      <a:noFill/>
                    </a:lnR>
                    <a:lnT w="381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644354327"/>
                  </a:ext>
                </a:extLst>
              </a:tr>
            </a:tbl>
          </a:graphicData>
        </a:graphic>
      </p:graphicFrame>
      <p:sp>
        <p:nvSpPr>
          <p:cNvPr id="23" name="Rectangle 22"/>
          <p:cNvSpPr/>
          <p:nvPr/>
        </p:nvSpPr>
        <p:spPr bwMode="gray">
          <a:xfrm>
            <a:off x="5614404" y="2140822"/>
            <a:ext cx="4399388" cy="3961803"/>
          </a:xfrm>
          <a:prstGeom prst="rect">
            <a:avLst/>
          </a:prstGeom>
          <a:solidFill>
            <a:srgbClr val="F8FBFA"/>
          </a:solidFill>
          <a:ln w="3175" algn="ctr">
            <a:solidFill>
              <a:srgbClr val="C4D600">
                <a:alpha val="61000"/>
              </a:srgbClr>
            </a:solidFill>
            <a:prstDash val="dash"/>
            <a:miter lim="800000"/>
            <a:headEnd/>
            <a:tailEnd/>
          </a:ln>
        </p:spPr>
        <p:txBody>
          <a:bodyPr wrap="square" lIns="88900" tIns="88900" rIns="88900" bIns="88900" rtlCol="0" anchor="t"/>
          <a:lstStyle/>
          <a:p>
            <a:pPr marL="0" marR="0" lvl="0" indent="0" algn="l" defTabSz="914400" rtl="0" eaLnBrk="0" fontAlgn="base" latinLnBrk="0" hangingPunct="0">
              <a:lnSpc>
                <a:spcPct val="100000"/>
              </a:lnSpc>
              <a:spcBef>
                <a:spcPct val="0"/>
              </a:spcBef>
              <a:spcAft>
                <a:spcPct val="0"/>
              </a:spcAft>
              <a:buClrTx/>
              <a:buSzTx/>
              <a:buFont typeface="Wingdings 2" pitchFamily="18" charset="2"/>
              <a:buNone/>
              <a:tabLst/>
              <a:defRPr/>
            </a:pPr>
            <a:r>
              <a:rPr kumimoji="0" lang="en-US" sz="1600" b="1" i="0" u="none" strike="noStrike" kern="1200" cap="none" spc="0" normalizeH="0" baseline="0" noProof="0" dirty="0">
                <a:ln>
                  <a:noFill/>
                </a:ln>
                <a:solidFill>
                  <a:srgbClr val="75787B"/>
                </a:solidFill>
                <a:effectLst/>
                <a:uLnTx/>
                <a:uFillTx/>
                <a:latin typeface="Arial" panose="020B0604020202020204" pitchFamily="34" charset="0"/>
                <a:ea typeface="+mn-ea"/>
                <a:cs typeface="Arial" panose="020B0604020202020204" pitchFamily="34" charset="0"/>
              </a:rPr>
              <a:t>        </a:t>
            </a:r>
            <a:r>
              <a:rPr kumimoji="0" lang="en-US" sz="1200" b="1" i="0" u="none" strike="noStrike" kern="1200" cap="none" spc="0" normalizeH="0" baseline="0" noProof="0" dirty="0">
                <a:ln>
                  <a:noFill/>
                </a:ln>
                <a:solidFill>
                  <a:srgbClr val="75787B">
                    <a:lumMod val="50000"/>
                  </a:srgbClr>
                </a:solidFill>
                <a:effectLst/>
                <a:uLnTx/>
                <a:uFillTx/>
                <a:latin typeface="Verdana"/>
                <a:ea typeface="+mn-ea"/>
                <a:cs typeface="+mn-cs"/>
              </a:rPr>
              <a:t>Key Risks</a:t>
            </a:r>
          </a:p>
          <a:p>
            <a:pPr marL="0" marR="0" lvl="0" indent="0" algn="l" defTabSz="914400" rtl="0" eaLnBrk="0" fontAlgn="base" latinLnBrk="0" hangingPunct="0">
              <a:lnSpc>
                <a:spcPct val="100000"/>
              </a:lnSpc>
              <a:spcBef>
                <a:spcPct val="0"/>
              </a:spcBef>
              <a:spcAft>
                <a:spcPct val="0"/>
              </a:spcAft>
              <a:buClrTx/>
              <a:buSzTx/>
              <a:buFont typeface="Wingdings 2" pitchFamily="18" charset="2"/>
              <a:buNone/>
              <a:tabLst/>
              <a:defRPr/>
            </a:pPr>
            <a:endParaRPr kumimoji="0" lang="en-US" sz="1600" b="1" i="0" u="none" strike="noStrike" kern="1200" cap="none" spc="0" normalizeH="0" baseline="0" noProof="0" dirty="0">
              <a:ln>
                <a:noFill/>
              </a:ln>
              <a:solidFill>
                <a:srgbClr val="75787B"/>
              </a:solidFill>
              <a:effectLst/>
              <a:uLnTx/>
              <a:uFillTx/>
              <a:latin typeface="Arial" panose="020B0604020202020204" pitchFamily="34" charset="0"/>
              <a:ea typeface="+mn-ea"/>
              <a:cs typeface="Arial" panose="020B0604020202020204" pitchFamily="34" charset="0"/>
            </a:endParaRP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The obligation of the O&amp;M contractor towards liquidated damages as prescribed in the contract are capped which may not cover the liability incurred by the owner of the power plant.</a:t>
            </a: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The O&amp;M contactor’s performance obligation as per the contract is restricted to maintaining the dependable capacity as per the PPA which specifies a threshold level of dependable capacity. However, the tariff structure under the PPA is such that every increase in dependable capacity beyond the threshold level results in additional recovery of capacity charges. This serves as an incentive for the power plant operator to always maximize his dependable capacity. A corresponding incentive mechanism is absent from the O&amp;M contract resulting in limited merit for the O&amp;M contractor to maximize dependable capacity of the plant beyond the threshold level.</a:t>
            </a:r>
          </a:p>
        </p:txBody>
      </p:sp>
      <p:grpSp>
        <p:nvGrpSpPr>
          <p:cNvPr id="28" name="Group 449"/>
          <p:cNvGrpSpPr>
            <a:grpSpLocks noChangeAspect="1"/>
          </p:cNvGrpSpPr>
          <p:nvPr/>
        </p:nvGrpSpPr>
        <p:grpSpPr bwMode="auto">
          <a:xfrm>
            <a:off x="5669001" y="2193091"/>
            <a:ext cx="344760" cy="332826"/>
            <a:chOff x="2732" y="1561"/>
            <a:chExt cx="340" cy="340"/>
          </a:xfrm>
          <a:solidFill>
            <a:schemeClr val="accent1"/>
          </a:solidFill>
        </p:grpSpPr>
        <p:sp>
          <p:nvSpPr>
            <p:cNvPr id="29" name="Freeform 450"/>
            <p:cNvSpPr>
              <a:spLocks noEditPoints="1"/>
            </p:cNvSpPr>
            <p:nvPr/>
          </p:nvSpPr>
          <p:spPr bwMode="auto">
            <a:xfrm>
              <a:off x="2732" y="156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solidFill>
                <a:schemeClr val="accent1"/>
              </a:solid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787481" rtl="0" eaLnBrk="1" fontAlgn="auto" latinLnBrk="0" hangingPunct="1">
                <a:lnSpc>
                  <a:spcPct val="100000"/>
                </a:lnSpc>
                <a:spcBef>
                  <a:spcPts val="0"/>
                </a:spcBef>
                <a:spcAft>
                  <a:spcPts val="0"/>
                </a:spcAft>
                <a:buClrTx/>
                <a:buSzTx/>
                <a:buFontTx/>
                <a:buNone/>
                <a:tabLst/>
                <a:defRPr/>
              </a:pPr>
              <a:endParaRPr kumimoji="0" lang="en-GB" sz="1550" b="0" i="0" u="none" strike="noStrike" kern="1200" cap="none" spc="0" normalizeH="0" baseline="0" noProof="0" dirty="0">
                <a:ln>
                  <a:noFill/>
                </a:ln>
                <a:solidFill>
                  <a:prstClr val="black"/>
                </a:solidFill>
                <a:effectLst/>
                <a:uLnTx/>
                <a:uFillTx/>
                <a:latin typeface="Verdana"/>
                <a:ea typeface="+mn-ea"/>
                <a:cs typeface="+mn-cs"/>
              </a:endParaRPr>
            </a:p>
          </p:txBody>
        </p:sp>
        <p:sp>
          <p:nvSpPr>
            <p:cNvPr id="31" name="Freeform 451"/>
            <p:cNvSpPr>
              <a:spLocks noEditPoints="1"/>
            </p:cNvSpPr>
            <p:nvPr/>
          </p:nvSpPr>
          <p:spPr bwMode="auto">
            <a:xfrm>
              <a:off x="2795" y="1630"/>
              <a:ext cx="211" cy="207"/>
            </a:xfrm>
            <a:custGeom>
              <a:avLst/>
              <a:gdLst>
                <a:gd name="T0" fmla="*/ 132 w 318"/>
                <a:gd name="T1" fmla="*/ 312 h 312"/>
                <a:gd name="T2" fmla="*/ 124 w 318"/>
                <a:gd name="T3" fmla="*/ 309 h 312"/>
                <a:gd name="T4" fmla="*/ 4 w 318"/>
                <a:gd name="T5" fmla="*/ 188 h 312"/>
                <a:gd name="T6" fmla="*/ 4 w 318"/>
                <a:gd name="T7" fmla="*/ 173 h 312"/>
                <a:gd name="T8" fmla="*/ 173 w 318"/>
                <a:gd name="T9" fmla="*/ 4 h 312"/>
                <a:gd name="T10" fmla="*/ 182 w 318"/>
                <a:gd name="T11" fmla="*/ 0 h 312"/>
                <a:gd name="T12" fmla="*/ 292 w 318"/>
                <a:gd name="T13" fmla="*/ 11 h 312"/>
                <a:gd name="T14" fmla="*/ 302 w 318"/>
                <a:gd name="T15" fmla="*/ 20 h 312"/>
                <a:gd name="T16" fmla="*/ 317 w 318"/>
                <a:gd name="T17" fmla="*/ 125 h 312"/>
                <a:gd name="T18" fmla="*/ 314 w 318"/>
                <a:gd name="T19" fmla="*/ 134 h 312"/>
                <a:gd name="T20" fmla="*/ 140 w 318"/>
                <a:gd name="T21" fmla="*/ 309 h 312"/>
                <a:gd name="T22" fmla="*/ 132 w 318"/>
                <a:gd name="T23" fmla="*/ 312 h 312"/>
                <a:gd name="T24" fmla="*/ 26 w 318"/>
                <a:gd name="T25" fmla="*/ 180 h 312"/>
                <a:gd name="T26" fmla="*/ 132 w 318"/>
                <a:gd name="T27" fmla="*/ 286 h 312"/>
                <a:gd name="T28" fmla="*/ 295 w 318"/>
                <a:gd name="T29" fmla="*/ 123 h 312"/>
                <a:gd name="T30" fmla="*/ 282 w 318"/>
                <a:gd name="T31" fmla="*/ 31 h 312"/>
                <a:gd name="T32" fmla="*/ 185 w 318"/>
                <a:gd name="T33" fmla="*/ 22 h 312"/>
                <a:gd name="T34" fmla="*/ 26 w 318"/>
                <a:gd name="T35" fmla="*/ 180 h 312"/>
                <a:gd name="T36" fmla="*/ 245 w 318"/>
                <a:gd name="T37" fmla="*/ 67 h 312"/>
                <a:gd name="T38" fmla="*/ 214 w 318"/>
                <a:gd name="T39" fmla="*/ 67 h 312"/>
                <a:gd name="T40" fmla="*/ 214 w 318"/>
                <a:gd name="T41" fmla="*/ 98 h 312"/>
                <a:gd name="T42" fmla="*/ 245 w 318"/>
                <a:gd name="T43" fmla="*/ 98 h 312"/>
                <a:gd name="T44" fmla="*/ 245 w 318"/>
                <a:gd name="T45" fmla="*/ 67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8" h="312">
                  <a:moveTo>
                    <a:pt x="132" y="312"/>
                  </a:moveTo>
                  <a:cubicBezTo>
                    <a:pt x="129" y="312"/>
                    <a:pt x="127" y="311"/>
                    <a:pt x="124" y="309"/>
                  </a:cubicBezTo>
                  <a:cubicBezTo>
                    <a:pt x="4" y="188"/>
                    <a:pt x="4" y="188"/>
                    <a:pt x="4" y="188"/>
                  </a:cubicBezTo>
                  <a:cubicBezTo>
                    <a:pt x="0" y="184"/>
                    <a:pt x="0" y="177"/>
                    <a:pt x="4" y="173"/>
                  </a:cubicBezTo>
                  <a:cubicBezTo>
                    <a:pt x="173" y="4"/>
                    <a:pt x="173" y="4"/>
                    <a:pt x="173" y="4"/>
                  </a:cubicBezTo>
                  <a:cubicBezTo>
                    <a:pt x="175" y="1"/>
                    <a:pt x="178" y="0"/>
                    <a:pt x="182" y="0"/>
                  </a:cubicBezTo>
                  <a:cubicBezTo>
                    <a:pt x="292" y="11"/>
                    <a:pt x="292" y="11"/>
                    <a:pt x="292" y="11"/>
                  </a:cubicBezTo>
                  <a:cubicBezTo>
                    <a:pt x="297" y="11"/>
                    <a:pt x="301" y="15"/>
                    <a:pt x="302" y="20"/>
                  </a:cubicBezTo>
                  <a:cubicBezTo>
                    <a:pt x="317" y="125"/>
                    <a:pt x="317" y="125"/>
                    <a:pt x="317" y="125"/>
                  </a:cubicBezTo>
                  <a:cubicBezTo>
                    <a:pt x="318" y="128"/>
                    <a:pt x="316" y="132"/>
                    <a:pt x="314" y="134"/>
                  </a:cubicBezTo>
                  <a:cubicBezTo>
                    <a:pt x="140" y="309"/>
                    <a:pt x="140" y="309"/>
                    <a:pt x="140" y="309"/>
                  </a:cubicBezTo>
                  <a:cubicBezTo>
                    <a:pt x="137" y="311"/>
                    <a:pt x="135" y="312"/>
                    <a:pt x="132" y="312"/>
                  </a:cubicBezTo>
                  <a:close/>
                  <a:moveTo>
                    <a:pt x="26" y="180"/>
                  </a:moveTo>
                  <a:cubicBezTo>
                    <a:pt x="132" y="286"/>
                    <a:pt x="132" y="286"/>
                    <a:pt x="132" y="286"/>
                  </a:cubicBezTo>
                  <a:cubicBezTo>
                    <a:pt x="295" y="123"/>
                    <a:pt x="295" y="123"/>
                    <a:pt x="295" y="123"/>
                  </a:cubicBezTo>
                  <a:cubicBezTo>
                    <a:pt x="282" y="31"/>
                    <a:pt x="282" y="31"/>
                    <a:pt x="282" y="31"/>
                  </a:cubicBezTo>
                  <a:cubicBezTo>
                    <a:pt x="185" y="22"/>
                    <a:pt x="185" y="22"/>
                    <a:pt x="185" y="22"/>
                  </a:cubicBezTo>
                  <a:lnTo>
                    <a:pt x="26" y="180"/>
                  </a:lnTo>
                  <a:close/>
                  <a:moveTo>
                    <a:pt x="245" y="67"/>
                  </a:moveTo>
                  <a:cubicBezTo>
                    <a:pt x="236" y="58"/>
                    <a:pt x="222" y="58"/>
                    <a:pt x="214" y="67"/>
                  </a:cubicBezTo>
                  <a:cubicBezTo>
                    <a:pt x="205" y="75"/>
                    <a:pt x="205" y="89"/>
                    <a:pt x="214" y="98"/>
                  </a:cubicBezTo>
                  <a:cubicBezTo>
                    <a:pt x="222" y="106"/>
                    <a:pt x="236" y="106"/>
                    <a:pt x="245" y="98"/>
                  </a:cubicBezTo>
                  <a:cubicBezTo>
                    <a:pt x="253" y="89"/>
                    <a:pt x="253" y="75"/>
                    <a:pt x="245" y="67"/>
                  </a:cubicBezTo>
                  <a:close/>
                </a:path>
              </a:pathLst>
            </a:custGeom>
            <a:grpFill/>
            <a:ln>
              <a:solidFill>
                <a:schemeClr val="accent1"/>
              </a:solid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787481" rtl="0" eaLnBrk="1" fontAlgn="auto" latinLnBrk="0" hangingPunct="1">
                <a:lnSpc>
                  <a:spcPct val="100000"/>
                </a:lnSpc>
                <a:spcBef>
                  <a:spcPts val="0"/>
                </a:spcBef>
                <a:spcAft>
                  <a:spcPts val="0"/>
                </a:spcAft>
                <a:buClrTx/>
                <a:buSzTx/>
                <a:buFontTx/>
                <a:buNone/>
                <a:tabLst/>
                <a:defRPr/>
              </a:pPr>
              <a:endParaRPr kumimoji="0" lang="en-GB" sz="1550" b="0" i="0" u="none" strike="noStrike" kern="1200" cap="none" spc="0" normalizeH="0" baseline="0" noProof="0" dirty="0">
                <a:ln>
                  <a:noFill/>
                </a:ln>
                <a:solidFill>
                  <a:prstClr val="black"/>
                </a:solidFill>
                <a:effectLst/>
                <a:uLnTx/>
                <a:uFillTx/>
                <a:latin typeface="Verdana"/>
                <a:ea typeface="+mn-ea"/>
                <a:cs typeface="+mn-cs"/>
              </a:endParaRPr>
            </a:p>
          </p:txBody>
        </p:sp>
      </p:grpSp>
      <p:sp>
        <p:nvSpPr>
          <p:cNvPr id="9" name="Rectangle 8"/>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O&amp;M Agreement, Deloitte Analysis</a:t>
            </a:r>
          </a:p>
        </p:txBody>
      </p:sp>
    </p:spTree>
    <p:extLst>
      <p:ext uri="{BB962C8B-B14F-4D97-AF65-F5344CB8AC3E}">
        <p14:creationId xmlns:p14="http://schemas.microsoft.com/office/powerpoint/2010/main" val="110398297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O&amp;M Agreement | Key Terms</a:t>
            </a:r>
            <a:endParaRPr lang="en-IN" dirty="0"/>
          </a:p>
        </p:txBody>
      </p:sp>
      <p:graphicFrame>
        <p:nvGraphicFramePr>
          <p:cNvPr id="3" name="Table 2"/>
          <p:cNvGraphicFramePr>
            <a:graphicFrameLocks noGrp="1"/>
          </p:cNvGraphicFramePr>
          <p:nvPr>
            <p:extLst>
              <p:ext uri="{D42A27DB-BD31-4B8C-83A1-F6EECF244321}">
                <p14:modId xmlns:p14="http://schemas.microsoft.com/office/powerpoint/2010/main" val="1698172213"/>
              </p:ext>
            </p:extLst>
          </p:nvPr>
        </p:nvGraphicFramePr>
        <p:xfrm>
          <a:off x="449992" y="1598375"/>
          <a:ext cx="9791843" cy="4472446"/>
        </p:xfrm>
        <a:graphic>
          <a:graphicData uri="http://schemas.openxmlformats.org/drawingml/2006/table">
            <a:tbl>
              <a:tblPr firstRow="1">
                <a:tableStyleId>{3B4B98B0-60AC-42C2-AFA5-B58CD77FA1E5}</a:tableStyleId>
              </a:tblPr>
              <a:tblGrid>
                <a:gridCol w="553860">
                  <a:extLst>
                    <a:ext uri="{9D8B030D-6E8A-4147-A177-3AD203B41FA5}">
                      <a16:colId xmlns:a16="http://schemas.microsoft.com/office/drawing/2014/main" val="3671827557"/>
                    </a:ext>
                  </a:extLst>
                </a:gridCol>
                <a:gridCol w="1023731">
                  <a:extLst>
                    <a:ext uri="{9D8B030D-6E8A-4147-A177-3AD203B41FA5}">
                      <a16:colId xmlns:a16="http://schemas.microsoft.com/office/drawing/2014/main" val="2911403996"/>
                    </a:ext>
                  </a:extLst>
                </a:gridCol>
                <a:gridCol w="6748669">
                  <a:extLst>
                    <a:ext uri="{9D8B030D-6E8A-4147-A177-3AD203B41FA5}">
                      <a16:colId xmlns:a16="http://schemas.microsoft.com/office/drawing/2014/main" val="1355348493"/>
                    </a:ext>
                  </a:extLst>
                </a:gridCol>
                <a:gridCol w="1465583">
                  <a:extLst>
                    <a:ext uri="{9D8B030D-6E8A-4147-A177-3AD203B41FA5}">
                      <a16:colId xmlns:a16="http://schemas.microsoft.com/office/drawing/2014/main" val="3999508094"/>
                    </a:ext>
                  </a:extLst>
                </a:gridCol>
              </a:tblGrid>
              <a:tr h="370840">
                <a:tc>
                  <a:txBody>
                    <a:bodyPr/>
                    <a:lstStyle/>
                    <a:p>
                      <a:pPr>
                        <a:spcAft>
                          <a:spcPts val="500"/>
                        </a:spcAft>
                      </a:pPr>
                      <a:r>
                        <a:rPr lang="en-US" sz="1000" dirty="0"/>
                        <a:t>Sr. No</a:t>
                      </a:r>
                      <a:endParaRPr lang="en-IN" sz="1000" dirty="0"/>
                    </a:p>
                  </a:txBody>
                  <a:tcPr/>
                </a:tc>
                <a:tc>
                  <a:txBody>
                    <a:bodyPr/>
                    <a:lstStyle/>
                    <a:p>
                      <a:pPr>
                        <a:spcAft>
                          <a:spcPts val="500"/>
                        </a:spcAft>
                      </a:pPr>
                      <a:r>
                        <a:rPr lang="en-US" sz="1000" dirty="0"/>
                        <a:t>Parameter</a:t>
                      </a:r>
                      <a:endParaRPr lang="en-IN" sz="1000" dirty="0"/>
                    </a:p>
                  </a:txBody>
                  <a:tcPr/>
                </a:tc>
                <a:tc>
                  <a:txBody>
                    <a:bodyPr/>
                    <a:lstStyle/>
                    <a:p>
                      <a:pPr>
                        <a:spcAft>
                          <a:spcPts val="500"/>
                        </a:spcAft>
                      </a:pPr>
                      <a:r>
                        <a:rPr lang="en-US" sz="1000" dirty="0"/>
                        <a:t>Conditions</a:t>
                      </a:r>
                      <a:endParaRPr lang="en-IN" sz="1000" dirty="0"/>
                    </a:p>
                  </a:txBody>
                  <a:tcPr/>
                </a:tc>
                <a:tc>
                  <a:txBody>
                    <a:bodyPr/>
                    <a:lstStyle/>
                    <a:p>
                      <a:pPr>
                        <a:spcAft>
                          <a:spcPts val="500"/>
                        </a:spcAft>
                      </a:pPr>
                      <a:r>
                        <a:rPr lang="en-US" sz="1000" dirty="0"/>
                        <a:t>Key</a:t>
                      </a:r>
                      <a:r>
                        <a:rPr lang="en-US" sz="1000" baseline="0" dirty="0"/>
                        <a:t> risks</a:t>
                      </a:r>
                      <a:endParaRPr lang="en-IN" sz="1000" dirty="0"/>
                    </a:p>
                  </a:txBody>
                  <a:tcPr/>
                </a:tc>
                <a:extLst>
                  <a:ext uri="{0D108BD9-81ED-4DB2-BD59-A6C34878D82A}">
                    <a16:rowId xmlns:a16="http://schemas.microsoft.com/office/drawing/2014/main" val="3995669302"/>
                  </a:ext>
                </a:extLst>
              </a:tr>
              <a:tr h="281446">
                <a:tc gridSpan="4">
                  <a:txBody>
                    <a:bodyPr/>
                    <a:lstStyle/>
                    <a:p>
                      <a:pPr marL="0" marR="0" lvl="0" indent="0" algn="l" defTabSz="990571" rtl="0" eaLnBrk="1" fontAlgn="auto" latinLnBrk="0" hangingPunct="1">
                        <a:lnSpc>
                          <a:spcPct val="100000"/>
                        </a:lnSpc>
                        <a:spcBef>
                          <a:spcPts val="0"/>
                        </a:spcBef>
                        <a:spcAft>
                          <a:spcPts val="500"/>
                        </a:spcAft>
                        <a:buClrTx/>
                        <a:buSzTx/>
                        <a:buFontTx/>
                        <a:buNone/>
                        <a:tabLst/>
                        <a:defRPr/>
                      </a:pPr>
                      <a:r>
                        <a:rPr lang="en-US" sz="1000" b="1" i="1" dirty="0"/>
                        <a:t>Study the minimum performance guarantees and penalty mechanisms to meet performance standards</a:t>
                      </a:r>
                      <a:endParaRPr lang="en-IN" sz="1000" b="1" i="1" dirty="0"/>
                    </a:p>
                  </a:txBody>
                  <a:tcPr>
                    <a:solidFill>
                      <a:schemeClr val="accent1">
                        <a:lumMod val="20000"/>
                        <a:lumOff val="80000"/>
                      </a:schemeClr>
                    </a:solidFill>
                  </a:tcPr>
                </a:tc>
                <a:tc hMerge="1">
                  <a:txBody>
                    <a:bodyPr/>
                    <a:lstStyle/>
                    <a:p>
                      <a:pPr>
                        <a:spcAft>
                          <a:spcPts val="500"/>
                        </a:spcAft>
                      </a:pPr>
                      <a:endParaRPr lang="en-IN" sz="1000" dirty="0"/>
                    </a:p>
                  </a:txBody>
                  <a:tcPr/>
                </a:tc>
                <a:tc hMerge="1">
                  <a:txBody>
                    <a:bodyPr/>
                    <a:lstStyle/>
                    <a:p>
                      <a:pPr>
                        <a:spcAft>
                          <a:spcPts val="500"/>
                        </a:spcAft>
                      </a:pPr>
                      <a:endParaRPr lang="en-IN" sz="1000" dirty="0"/>
                    </a:p>
                  </a:txBody>
                  <a:tcPr/>
                </a:tc>
                <a:tc hMerge="1">
                  <a:txBody>
                    <a:bodyPr/>
                    <a:lstStyle/>
                    <a:p>
                      <a:pPr>
                        <a:spcAft>
                          <a:spcPts val="500"/>
                        </a:spcAft>
                      </a:pPr>
                      <a:endParaRPr lang="en-IN" sz="1000" dirty="0"/>
                    </a:p>
                  </a:txBody>
                  <a:tcPr/>
                </a:tc>
                <a:extLst>
                  <a:ext uri="{0D108BD9-81ED-4DB2-BD59-A6C34878D82A}">
                    <a16:rowId xmlns:a16="http://schemas.microsoft.com/office/drawing/2014/main" val="630256731"/>
                  </a:ext>
                </a:extLst>
              </a:tr>
              <a:tr h="370840">
                <a:tc>
                  <a:txBody>
                    <a:bodyPr/>
                    <a:lstStyle/>
                    <a:p>
                      <a:pPr>
                        <a:spcAft>
                          <a:spcPts val="500"/>
                        </a:spcAft>
                      </a:pPr>
                      <a:r>
                        <a:rPr lang="en-US" sz="1000" dirty="0"/>
                        <a:t>1</a:t>
                      </a:r>
                      <a:endParaRPr lang="en-IN" sz="1000" dirty="0"/>
                    </a:p>
                  </a:txBody>
                  <a:tcPr/>
                </a:tc>
                <a:tc>
                  <a:txBody>
                    <a:bodyPr/>
                    <a:lstStyle/>
                    <a:p>
                      <a:pPr>
                        <a:spcAft>
                          <a:spcPts val="500"/>
                        </a:spcAft>
                      </a:pPr>
                      <a:r>
                        <a:rPr lang="en-US" sz="1000" dirty="0"/>
                        <a:t>Minimum performance guarantee</a:t>
                      </a:r>
                      <a:endParaRPr lang="en-IN" sz="1000" dirty="0"/>
                    </a:p>
                  </a:txBody>
                  <a:tcPr/>
                </a:tc>
                <a:tc>
                  <a:txBody>
                    <a:bodyPr/>
                    <a:lstStyle/>
                    <a:p>
                      <a:pPr marL="0" indent="0" algn="just">
                        <a:spcAft>
                          <a:spcPts val="500"/>
                        </a:spcAft>
                        <a:buFont typeface="+mj-lt"/>
                        <a:buNone/>
                      </a:pPr>
                      <a:r>
                        <a:rPr lang="en-US" sz="1000" dirty="0"/>
                        <a:t>No such Minimum performance guarantee has been provided for in the O&amp;M Agreement other than the Guaranteed output that will be determined from the Guarantee Tests performed by the EPC Contractors</a:t>
                      </a:r>
                      <a:endParaRPr lang="en-IN" sz="1000" dirty="0"/>
                    </a:p>
                  </a:txBody>
                  <a:tcPr/>
                </a:tc>
                <a:tc>
                  <a:txBody>
                    <a:bodyPr/>
                    <a:lstStyle/>
                    <a:p>
                      <a:pPr marL="0" indent="0" algn="just">
                        <a:spcAft>
                          <a:spcPts val="500"/>
                        </a:spcAft>
                        <a:buFont typeface="Arial" panose="020B0604020202020204" pitchFamily="34" charset="0"/>
                        <a:buNone/>
                      </a:pPr>
                      <a:endParaRPr lang="en-IN" sz="1000" dirty="0"/>
                    </a:p>
                  </a:txBody>
                  <a:tcPr/>
                </a:tc>
                <a:extLst>
                  <a:ext uri="{0D108BD9-81ED-4DB2-BD59-A6C34878D82A}">
                    <a16:rowId xmlns:a16="http://schemas.microsoft.com/office/drawing/2014/main" val="3506387994"/>
                  </a:ext>
                </a:extLst>
              </a:tr>
              <a:tr h="370840">
                <a:tc>
                  <a:txBody>
                    <a:bodyPr/>
                    <a:lstStyle/>
                    <a:p>
                      <a:pPr>
                        <a:spcAft>
                          <a:spcPts val="500"/>
                        </a:spcAft>
                      </a:pPr>
                      <a:r>
                        <a:rPr lang="en-US" sz="1000" dirty="0"/>
                        <a:t>2</a:t>
                      </a:r>
                      <a:endParaRPr lang="en-IN" sz="1000" dirty="0"/>
                    </a:p>
                  </a:txBody>
                  <a:tcPr/>
                </a:tc>
                <a:tc>
                  <a:txBody>
                    <a:bodyPr/>
                    <a:lstStyle/>
                    <a:p>
                      <a:pPr>
                        <a:spcAft>
                          <a:spcPts val="500"/>
                        </a:spcAft>
                      </a:pPr>
                      <a:r>
                        <a:rPr lang="en-IN" sz="1000" dirty="0"/>
                        <a:t>Penalty Mechanisms </a:t>
                      </a:r>
                    </a:p>
                  </a:txBody>
                  <a:tcPr/>
                </a:tc>
                <a:tc>
                  <a:txBody>
                    <a:bodyPr/>
                    <a:lstStyle/>
                    <a:p>
                      <a:pPr marL="171450" indent="-171450" algn="just">
                        <a:spcAft>
                          <a:spcPts val="500"/>
                        </a:spcAft>
                        <a:buFont typeface="Arial" panose="020B0604020202020204" pitchFamily="34" charset="0"/>
                        <a:buChar char="•"/>
                      </a:pPr>
                      <a:r>
                        <a:rPr lang="en-US" sz="1000" dirty="0"/>
                        <a:t>If the prescribed Forced Outage + Maintenance Outage + Scheduled Outage MWh is exceeded beyond a threshold limit; LD is capped at 10% of the Base Fee </a:t>
                      </a:r>
                    </a:p>
                    <a:p>
                      <a:pPr marL="171450" indent="-171450" algn="just">
                        <a:spcAft>
                          <a:spcPts val="500"/>
                        </a:spcAft>
                        <a:buFont typeface="Arial" panose="020B0604020202020204" pitchFamily="34" charset="0"/>
                        <a:buChar char="•"/>
                      </a:pPr>
                      <a:r>
                        <a:rPr lang="en-US" sz="1000" dirty="0"/>
                        <a:t>In the event of downward revision of the Declared Capacity prior to the beginning of the relevant day; LD is capped at 10% of the Base Fee</a:t>
                      </a:r>
                    </a:p>
                    <a:p>
                      <a:pPr marL="171450" indent="-171450" algn="just">
                        <a:spcAft>
                          <a:spcPts val="500"/>
                        </a:spcAft>
                        <a:buFont typeface="Arial" panose="020B0604020202020204" pitchFamily="34" charset="0"/>
                        <a:buChar char="•"/>
                      </a:pPr>
                      <a:r>
                        <a:rPr lang="en-US" sz="1000" dirty="0"/>
                        <a:t>In case the Facility Heat Rate exceeds the Guarantee Test Heat Rate; LD is capped at 20% of the Base Fee </a:t>
                      </a:r>
                    </a:p>
                    <a:p>
                      <a:pPr marL="171450" indent="-171450" algn="just">
                        <a:spcAft>
                          <a:spcPts val="500"/>
                        </a:spcAft>
                        <a:buFont typeface="Arial" panose="020B0604020202020204" pitchFamily="34" charset="0"/>
                        <a:buChar char="•"/>
                      </a:pPr>
                      <a:r>
                        <a:rPr lang="en-US" sz="1000" dirty="0"/>
                        <a:t>Total LD is capped at 30% of the Base Fee </a:t>
                      </a:r>
                    </a:p>
                    <a:p>
                      <a:pPr marL="0" indent="0" algn="just">
                        <a:spcAft>
                          <a:spcPts val="500"/>
                        </a:spcAft>
                        <a:buFont typeface="+mj-lt"/>
                        <a:buNone/>
                      </a:pPr>
                      <a:endParaRPr lang="en-IN" sz="1000" dirty="0"/>
                    </a:p>
                  </a:txBody>
                  <a:tcPr/>
                </a:tc>
                <a:tc>
                  <a:txBody>
                    <a:bodyPr/>
                    <a:lstStyle/>
                    <a:p>
                      <a:pPr marL="0" indent="0" algn="just">
                        <a:spcAft>
                          <a:spcPts val="500"/>
                        </a:spcAft>
                        <a:buFont typeface="Arial" panose="020B0604020202020204" pitchFamily="34" charset="0"/>
                        <a:buNone/>
                      </a:pPr>
                      <a:r>
                        <a:rPr lang="en-IN" sz="1000" dirty="0"/>
                        <a:t>Liquidated Damages are capped</a:t>
                      </a:r>
                    </a:p>
                    <a:p>
                      <a:pPr marL="0" indent="0" algn="just">
                        <a:spcAft>
                          <a:spcPts val="500"/>
                        </a:spcAft>
                        <a:buFont typeface="Arial" panose="020B0604020202020204" pitchFamily="34" charset="0"/>
                        <a:buNone/>
                      </a:pPr>
                      <a:endParaRPr lang="en-IN" sz="1000" dirty="0"/>
                    </a:p>
                  </a:txBody>
                  <a:tcPr/>
                </a:tc>
                <a:extLst>
                  <a:ext uri="{0D108BD9-81ED-4DB2-BD59-A6C34878D82A}">
                    <a16:rowId xmlns:a16="http://schemas.microsoft.com/office/drawing/2014/main" val="4003944313"/>
                  </a:ext>
                </a:extLst>
              </a:tr>
              <a:tr h="370840">
                <a:tc>
                  <a:txBody>
                    <a:bodyPr/>
                    <a:lstStyle/>
                    <a:p>
                      <a:pPr>
                        <a:spcAft>
                          <a:spcPts val="500"/>
                        </a:spcAft>
                      </a:pPr>
                      <a:r>
                        <a:rPr lang="en-US" sz="1000" dirty="0"/>
                        <a:t>3</a:t>
                      </a:r>
                      <a:endParaRPr lang="en-IN" sz="1000" dirty="0"/>
                    </a:p>
                  </a:txBody>
                  <a:tcPr/>
                </a:tc>
                <a:tc>
                  <a:txBody>
                    <a:bodyPr/>
                    <a:lstStyle/>
                    <a:p>
                      <a:pPr>
                        <a:spcAft>
                          <a:spcPts val="500"/>
                        </a:spcAft>
                      </a:pPr>
                      <a:r>
                        <a:rPr lang="en-US" sz="1000" dirty="0"/>
                        <a:t>Base Fees</a:t>
                      </a:r>
                      <a:endParaRPr lang="en-IN" sz="1000" dirty="0"/>
                    </a:p>
                  </a:txBody>
                  <a:tcPr/>
                </a:tc>
                <a:tc>
                  <a:txBody>
                    <a:bodyPr/>
                    <a:lstStyle/>
                    <a:p>
                      <a:pPr marL="0" indent="0" algn="just">
                        <a:spcAft>
                          <a:spcPts val="500"/>
                        </a:spcAft>
                        <a:buFont typeface="+mj-lt"/>
                        <a:buNone/>
                      </a:pPr>
                      <a:r>
                        <a:rPr lang="en-US" sz="1000" dirty="0"/>
                        <a:t>Base Fees</a:t>
                      </a:r>
                    </a:p>
                    <a:p>
                      <a:pPr marL="666736" lvl="1" indent="-171450" algn="just">
                        <a:spcAft>
                          <a:spcPts val="500"/>
                        </a:spcAft>
                        <a:buFont typeface="Arial" panose="020B0604020202020204" pitchFamily="34" charset="0"/>
                        <a:buChar char="•"/>
                      </a:pPr>
                      <a:r>
                        <a:rPr lang="en-US" sz="1000" dirty="0"/>
                        <a:t>Period 1 - Only reimbursement of expenses incurred as actual costs approved as per the budget plan </a:t>
                      </a:r>
                    </a:p>
                    <a:p>
                      <a:pPr marL="666736" lvl="1" indent="-171450" algn="just">
                        <a:spcAft>
                          <a:spcPts val="500"/>
                        </a:spcAft>
                        <a:buFont typeface="Arial" panose="020B0604020202020204" pitchFamily="34" charset="0"/>
                        <a:buChar char="•"/>
                      </a:pPr>
                      <a:r>
                        <a:rPr lang="en-US" sz="1000" dirty="0"/>
                        <a:t>Period 2 - Monthly fee of Tk 11.50 Mn escalated by 5% annually</a:t>
                      </a:r>
                      <a:r>
                        <a:rPr lang="en-US" sz="1000" baseline="0" dirty="0"/>
                        <a:t> </a:t>
                      </a:r>
                      <a:r>
                        <a:rPr lang="en-US" sz="1000" dirty="0"/>
                        <a:t>plus VAT thereon</a:t>
                      </a:r>
                      <a:endParaRPr lang="en-IN" sz="1000" dirty="0"/>
                    </a:p>
                  </a:txBody>
                  <a:tcPr/>
                </a:tc>
                <a:tc>
                  <a:txBody>
                    <a:bodyPr/>
                    <a:lstStyle/>
                    <a:p>
                      <a:pPr marL="0" indent="0" algn="just">
                        <a:spcAft>
                          <a:spcPts val="500"/>
                        </a:spcAft>
                        <a:buFont typeface="Arial" panose="020B0604020202020204" pitchFamily="34" charset="0"/>
                        <a:buNone/>
                      </a:pPr>
                      <a:r>
                        <a:rPr lang="en-US" sz="1000" dirty="0"/>
                        <a:t>No incentive payments for higher dependable capacity</a:t>
                      </a:r>
                      <a:endParaRPr lang="en-IN" sz="1000" dirty="0"/>
                    </a:p>
                  </a:txBody>
                  <a:tcPr/>
                </a:tc>
                <a:extLst>
                  <a:ext uri="{0D108BD9-81ED-4DB2-BD59-A6C34878D82A}">
                    <a16:rowId xmlns:a16="http://schemas.microsoft.com/office/drawing/2014/main" val="3019819264"/>
                  </a:ext>
                </a:extLst>
              </a:tr>
              <a:tr h="370840">
                <a:tc>
                  <a:txBody>
                    <a:bodyPr/>
                    <a:lstStyle/>
                    <a:p>
                      <a:pPr>
                        <a:spcAft>
                          <a:spcPts val="500"/>
                        </a:spcAft>
                      </a:pPr>
                      <a:r>
                        <a:rPr lang="en-US" sz="1000" dirty="0"/>
                        <a:t>4</a:t>
                      </a:r>
                      <a:endParaRPr lang="en-IN" sz="1000" dirty="0"/>
                    </a:p>
                  </a:txBody>
                  <a:tcPr/>
                </a:tc>
                <a:tc>
                  <a:txBody>
                    <a:bodyPr/>
                    <a:lstStyle/>
                    <a:p>
                      <a:pPr>
                        <a:spcAft>
                          <a:spcPts val="500"/>
                        </a:spcAft>
                      </a:pPr>
                      <a:r>
                        <a:rPr lang="en-US" sz="1000" dirty="0"/>
                        <a:t>Billing and Payment</a:t>
                      </a:r>
                      <a:endParaRPr lang="en-IN" sz="1000" dirty="0"/>
                    </a:p>
                  </a:txBody>
                  <a:tcPr/>
                </a:tc>
                <a:tc>
                  <a:txBody>
                    <a:bodyPr/>
                    <a:lstStyle/>
                    <a:p>
                      <a:pPr marL="171450" lvl="0" indent="-171450" algn="just">
                        <a:spcAft>
                          <a:spcPts val="500"/>
                        </a:spcAft>
                        <a:buFont typeface="Arial" panose="020B0604020202020204" pitchFamily="34" charset="0"/>
                        <a:buChar char="•"/>
                      </a:pPr>
                      <a:r>
                        <a:rPr lang="en-US" sz="1000" dirty="0"/>
                        <a:t>The Operator will raise in invoice within 5 days of every month</a:t>
                      </a:r>
                    </a:p>
                    <a:p>
                      <a:pPr marL="171450" lvl="0" indent="-171450" algn="just">
                        <a:spcAft>
                          <a:spcPts val="500"/>
                        </a:spcAft>
                        <a:buFont typeface="Arial" panose="020B0604020202020204" pitchFamily="34" charset="0"/>
                        <a:buChar char="•"/>
                      </a:pPr>
                      <a:r>
                        <a:rPr lang="en-US" sz="1000" dirty="0"/>
                        <a:t>Payments by the Owner should be made within 30 days</a:t>
                      </a:r>
                    </a:p>
                    <a:p>
                      <a:pPr marL="171450" lvl="0" indent="-171450" algn="just">
                        <a:spcAft>
                          <a:spcPts val="500"/>
                        </a:spcAft>
                        <a:buFont typeface="Arial" panose="020B0604020202020204" pitchFamily="34" charset="0"/>
                        <a:buChar char="•"/>
                      </a:pPr>
                      <a:r>
                        <a:rPr lang="en-US" sz="1000" dirty="0"/>
                        <a:t>Late Payment - If an invoice remains unpaid for 60 days, interest @ 5% needs to be paid</a:t>
                      </a:r>
                      <a:endParaRPr lang="en-IN" sz="1000" dirty="0"/>
                    </a:p>
                  </a:txBody>
                  <a:tcPr/>
                </a:tc>
                <a:tc>
                  <a:txBody>
                    <a:bodyPr/>
                    <a:lstStyle/>
                    <a:p>
                      <a:pPr marL="0" indent="0" algn="just">
                        <a:spcAft>
                          <a:spcPts val="500"/>
                        </a:spcAft>
                        <a:buFont typeface="Arial" panose="020B0604020202020204" pitchFamily="34" charset="0"/>
                        <a:buNone/>
                      </a:pPr>
                      <a:r>
                        <a:rPr lang="en-US" sz="1000" dirty="0"/>
                        <a:t>No late payment surcharge available as per the PPA. This is not back to back with the PPA</a:t>
                      </a:r>
                      <a:endParaRPr lang="en-IN" sz="1000" dirty="0"/>
                    </a:p>
                  </a:txBody>
                  <a:tcPr/>
                </a:tc>
                <a:extLst>
                  <a:ext uri="{0D108BD9-81ED-4DB2-BD59-A6C34878D82A}">
                    <a16:rowId xmlns:a16="http://schemas.microsoft.com/office/drawing/2014/main" val="1473833040"/>
                  </a:ext>
                </a:extLst>
              </a:tr>
            </a:tbl>
          </a:graphicData>
        </a:graphic>
      </p:graphicFrame>
      <p:sp>
        <p:nvSpPr>
          <p:cNvPr id="4"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Minimum performance guarantees and other risks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sp>
        <p:nvSpPr>
          <p:cNvPr id="5" name="Rectangle 4"/>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O&amp;M Agreement, Deloitte Analysis</a:t>
            </a:r>
          </a:p>
        </p:txBody>
      </p:sp>
    </p:spTree>
    <p:extLst>
      <p:ext uri="{BB962C8B-B14F-4D97-AF65-F5344CB8AC3E}">
        <p14:creationId xmlns:p14="http://schemas.microsoft.com/office/powerpoint/2010/main" val="3530187471"/>
      </p:ext>
    </p:extLst>
  </p:cSld>
  <p:clrMapOvr>
    <a:masterClrMapping/>
  </p:clrMapOvr>
  <p:transition>
    <p:fade/>
  </p:transition>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 name="Object 66" hidden="1"/>
          <p:cNvGraphicFramePr>
            <a:graphicFrameLocks noChangeAspect="1"/>
          </p:cNvGraphicFramePr>
          <p:nvPr>
            <p:custDataLst>
              <p:tags r:id="rId1"/>
            </p:custDataLst>
            <p:extLst>
              <p:ext uri="{D42A27DB-BD31-4B8C-83A1-F6EECF244321}">
                <p14:modId xmlns:p14="http://schemas.microsoft.com/office/powerpoint/2010/main" val="402016655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24" imgW="530" imgH="531" progId="TCLayout.ActiveDocument.1">
                  <p:embed/>
                </p:oleObj>
              </mc:Choice>
              <mc:Fallback>
                <p:oleObj name="think-cell Slide" r:id="rId124" imgW="530" imgH="531" progId="TCLayout.ActiveDocument.1">
                  <p:embed/>
                  <p:pic>
                    <p:nvPicPr>
                      <p:cNvPr id="67" name="Object 66" hidden="1"/>
                      <p:cNvPicPr/>
                      <p:nvPr/>
                    </p:nvPicPr>
                    <p:blipFill>
                      <a:blip r:embed="rId125"/>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IN" sz="1000" dirty="0">
              <a:solidFill>
                <a:schemeClr val="bg1"/>
              </a:solidFill>
              <a:sym typeface="+mn-lt"/>
            </a:endParaRPr>
          </a:p>
        </p:txBody>
      </p:sp>
      <p:graphicFrame>
        <p:nvGraphicFramePr>
          <p:cNvPr id="702" name="Table 701"/>
          <p:cNvGraphicFramePr>
            <a:graphicFrameLocks noGrp="1"/>
          </p:cNvGraphicFramePr>
          <p:nvPr>
            <p:custDataLst>
              <p:tags r:id="rId3"/>
            </p:custDataLst>
            <p:extLst>
              <p:ext uri="{D42A27DB-BD31-4B8C-83A1-F6EECF244321}">
                <p14:modId xmlns:p14="http://schemas.microsoft.com/office/powerpoint/2010/main" val="2596800452"/>
              </p:ext>
            </p:extLst>
          </p:nvPr>
        </p:nvGraphicFramePr>
        <p:xfrm>
          <a:off x="450496" y="1593570"/>
          <a:ext cx="9790467" cy="5279177"/>
        </p:xfrm>
        <a:graphic>
          <a:graphicData uri="http://schemas.openxmlformats.org/drawingml/2006/table">
            <a:tbl>
              <a:tblPr firstRow="1" bandRow="1">
                <a:tableStyleId>{5C22544A-7EE6-4342-B048-85BDC9FD1C3A}</a:tableStyleId>
              </a:tblPr>
              <a:tblGrid>
                <a:gridCol w="9790467">
                  <a:extLst>
                    <a:ext uri="{9D8B030D-6E8A-4147-A177-3AD203B41FA5}">
                      <a16:colId xmlns:a16="http://schemas.microsoft.com/office/drawing/2014/main" val="20000"/>
                    </a:ext>
                  </a:extLst>
                </a:gridCol>
              </a:tblGrid>
              <a:tr h="5279177">
                <a:tc>
                  <a:txBody>
                    <a:bodyPr/>
                    <a:lstStyle/>
                    <a:p>
                      <a:pPr marL="0" indent="0" algn="ctr">
                        <a:spcBef>
                          <a:spcPts val="600"/>
                        </a:spcBef>
                        <a:spcAft>
                          <a:spcPts val="600"/>
                        </a:spcAft>
                        <a:buFont typeface="Arial" panose="020B0604020202020204" pitchFamily="34" charset="0"/>
                        <a:buNone/>
                      </a:pPr>
                      <a:r>
                        <a:rPr lang="en-US" sz="1000" b="1" baseline="0" dirty="0">
                          <a:solidFill>
                            <a:schemeClr val="tx1"/>
                          </a:solidFill>
                        </a:rPr>
                        <a:t>O&amp;M Cost Comparison with Power Plants in Bangladesh (Gas Operation)</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38" name="Rectangle 237"/>
          <p:cNvSpPr/>
          <p:nvPr>
            <p:custDataLst>
              <p:tags r:id="rId4"/>
            </p:custDataLst>
          </p:nvPr>
        </p:nvSpPr>
        <p:spPr bwMode="auto">
          <a:xfrm>
            <a:off x="9750425" y="2303463"/>
            <a:ext cx="265113" cy="368458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36" name="Rectangle 235"/>
          <p:cNvSpPr/>
          <p:nvPr>
            <p:custDataLst>
              <p:tags r:id="rId5"/>
            </p:custDataLst>
          </p:nvPr>
        </p:nvSpPr>
        <p:spPr bwMode="auto">
          <a:xfrm>
            <a:off x="9486900" y="3748088"/>
            <a:ext cx="263525" cy="2239963"/>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27" name="Rectangle 226"/>
          <p:cNvSpPr/>
          <p:nvPr>
            <p:custDataLst>
              <p:tags r:id="rId6"/>
            </p:custDataLst>
          </p:nvPr>
        </p:nvSpPr>
        <p:spPr bwMode="auto">
          <a:xfrm>
            <a:off x="9221788" y="4518025"/>
            <a:ext cx="265113" cy="147002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17" name="Rectangle 216"/>
          <p:cNvSpPr/>
          <p:nvPr>
            <p:custDataLst>
              <p:tags r:id="rId7"/>
            </p:custDataLst>
          </p:nvPr>
        </p:nvSpPr>
        <p:spPr bwMode="auto">
          <a:xfrm>
            <a:off x="8956675" y="4687888"/>
            <a:ext cx="265113" cy="1300163"/>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02" name="Rectangle 201"/>
          <p:cNvSpPr/>
          <p:nvPr>
            <p:custDataLst>
              <p:tags r:id="rId8"/>
            </p:custDataLst>
          </p:nvPr>
        </p:nvSpPr>
        <p:spPr bwMode="auto">
          <a:xfrm>
            <a:off x="8691563" y="4732338"/>
            <a:ext cx="265113" cy="1255713"/>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93" name="Rectangle 192"/>
          <p:cNvSpPr/>
          <p:nvPr>
            <p:custDataLst>
              <p:tags r:id="rId9"/>
            </p:custDataLst>
          </p:nvPr>
        </p:nvSpPr>
        <p:spPr bwMode="auto">
          <a:xfrm>
            <a:off x="8428038" y="4775200"/>
            <a:ext cx="263525" cy="1212850"/>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91" name="Rectangle 190"/>
          <p:cNvSpPr/>
          <p:nvPr>
            <p:custDataLst>
              <p:tags r:id="rId10"/>
            </p:custDataLst>
          </p:nvPr>
        </p:nvSpPr>
        <p:spPr bwMode="auto">
          <a:xfrm>
            <a:off x="8162926" y="4981575"/>
            <a:ext cx="265113" cy="1006475"/>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77" name="Rectangle 176"/>
          <p:cNvSpPr/>
          <p:nvPr>
            <p:custDataLst>
              <p:tags r:id="rId11"/>
            </p:custDataLst>
          </p:nvPr>
        </p:nvSpPr>
        <p:spPr bwMode="auto">
          <a:xfrm>
            <a:off x="7897814" y="5075238"/>
            <a:ext cx="265113" cy="912813"/>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61" name="Rectangle 160"/>
          <p:cNvSpPr/>
          <p:nvPr>
            <p:custDataLst>
              <p:tags r:id="rId12"/>
            </p:custDataLst>
          </p:nvPr>
        </p:nvSpPr>
        <p:spPr bwMode="auto">
          <a:xfrm>
            <a:off x="7634288" y="5103813"/>
            <a:ext cx="263525" cy="884238"/>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41" name="Rectangle 140"/>
          <p:cNvSpPr/>
          <p:nvPr>
            <p:custDataLst>
              <p:tags r:id="rId13"/>
            </p:custDataLst>
          </p:nvPr>
        </p:nvSpPr>
        <p:spPr bwMode="auto">
          <a:xfrm>
            <a:off x="7369175" y="5326062"/>
            <a:ext cx="265113" cy="66198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30" name="Rectangle 129"/>
          <p:cNvSpPr/>
          <p:nvPr>
            <p:custDataLst>
              <p:tags r:id="rId14"/>
            </p:custDataLst>
          </p:nvPr>
        </p:nvSpPr>
        <p:spPr bwMode="auto">
          <a:xfrm>
            <a:off x="7104063" y="5378449"/>
            <a:ext cx="265113" cy="60960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27" name="Rectangle 126"/>
          <p:cNvSpPr/>
          <p:nvPr>
            <p:custDataLst>
              <p:tags r:id="rId15"/>
            </p:custDataLst>
          </p:nvPr>
        </p:nvSpPr>
        <p:spPr bwMode="auto">
          <a:xfrm>
            <a:off x="6838950" y="5441950"/>
            <a:ext cx="265113" cy="54610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69" name="Rectangle 168"/>
          <p:cNvSpPr/>
          <p:nvPr>
            <p:custDataLst>
              <p:tags r:id="rId16"/>
            </p:custDataLst>
          </p:nvPr>
        </p:nvSpPr>
        <p:spPr bwMode="auto">
          <a:xfrm>
            <a:off x="6575425" y="5446713"/>
            <a:ext cx="263525" cy="541338"/>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99" name="Rectangle 198"/>
          <p:cNvSpPr/>
          <p:nvPr>
            <p:custDataLst>
              <p:tags r:id="rId17"/>
            </p:custDataLst>
          </p:nvPr>
        </p:nvSpPr>
        <p:spPr bwMode="auto">
          <a:xfrm>
            <a:off x="6310313" y="5468938"/>
            <a:ext cx="265113" cy="519113"/>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14" name="Rectangle 213"/>
          <p:cNvSpPr/>
          <p:nvPr>
            <p:custDataLst>
              <p:tags r:id="rId18"/>
            </p:custDataLst>
          </p:nvPr>
        </p:nvSpPr>
        <p:spPr bwMode="auto">
          <a:xfrm>
            <a:off x="6045200" y="5492750"/>
            <a:ext cx="265113" cy="495300"/>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61" name="Rectangle 260"/>
          <p:cNvSpPr/>
          <p:nvPr>
            <p:custDataLst>
              <p:tags r:id="rId19"/>
            </p:custDataLst>
          </p:nvPr>
        </p:nvSpPr>
        <p:spPr bwMode="auto">
          <a:xfrm>
            <a:off x="5781675" y="5527675"/>
            <a:ext cx="263525" cy="460375"/>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81" name="Rectangle 280"/>
          <p:cNvSpPr/>
          <p:nvPr>
            <p:custDataLst>
              <p:tags r:id="rId20"/>
            </p:custDataLst>
          </p:nvPr>
        </p:nvSpPr>
        <p:spPr bwMode="auto">
          <a:xfrm>
            <a:off x="5516563" y="5587999"/>
            <a:ext cx="265113" cy="4000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60" name="Rectangle 259"/>
          <p:cNvSpPr/>
          <p:nvPr>
            <p:custDataLst>
              <p:tags r:id="rId21"/>
            </p:custDataLst>
          </p:nvPr>
        </p:nvSpPr>
        <p:spPr bwMode="auto">
          <a:xfrm>
            <a:off x="5251450" y="5635625"/>
            <a:ext cx="265113" cy="352425"/>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80" name="Rectangle 279"/>
          <p:cNvSpPr/>
          <p:nvPr>
            <p:custDataLst>
              <p:tags r:id="rId22"/>
            </p:custDataLst>
          </p:nvPr>
        </p:nvSpPr>
        <p:spPr bwMode="auto">
          <a:xfrm>
            <a:off x="4986338" y="5637213"/>
            <a:ext cx="265113" cy="350838"/>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59" name="Rectangle 258"/>
          <p:cNvSpPr/>
          <p:nvPr>
            <p:custDataLst>
              <p:tags r:id="rId23"/>
            </p:custDataLst>
          </p:nvPr>
        </p:nvSpPr>
        <p:spPr bwMode="auto">
          <a:xfrm>
            <a:off x="4722813" y="5672138"/>
            <a:ext cx="263525" cy="315913"/>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79" name="Rectangle 278"/>
          <p:cNvSpPr/>
          <p:nvPr>
            <p:custDataLst>
              <p:tags r:id="rId24"/>
            </p:custDataLst>
          </p:nvPr>
        </p:nvSpPr>
        <p:spPr bwMode="auto">
          <a:xfrm>
            <a:off x="4457700" y="5702300"/>
            <a:ext cx="265113" cy="2857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56" name="Rectangle 255"/>
          <p:cNvSpPr/>
          <p:nvPr>
            <p:custDataLst>
              <p:tags r:id="rId25"/>
            </p:custDataLst>
          </p:nvPr>
        </p:nvSpPr>
        <p:spPr bwMode="auto">
          <a:xfrm>
            <a:off x="4192588" y="5740399"/>
            <a:ext cx="265113" cy="247650"/>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78" name="Rectangle 277"/>
          <p:cNvSpPr/>
          <p:nvPr>
            <p:custDataLst>
              <p:tags r:id="rId26"/>
            </p:custDataLst>
          </p:nvPr>
        </p:nvSpPr>
        <p:spPr bwMode="auto">
          <a:xfrm>
            <a:off x="3929063" y="5743575"/>
            <a:ext cx="263525" cy="244475"/>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55" name="Rectangle 254"/>
          <p:cNvSpPr/>
          <p:nvPr>
            <p:custDataLst>
              <p:tags r:id="rId27"/>
            </p:custDataLst>
          </p:nvPr>
        </p:nvSpPr>
        <p:spPr bwMode="auto">
          <a:xfrm>
            <a:off x="3663950" y="5743575"/>
            <a:ext cx="265113" cy="244475"/>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77" name="Rectangle 276"/>
          <p:cNvSpPr/>
          <p:nvPr>
            <p:custDataLst>
              <p:tags r:id="rId28"/>
            </p:custDataLst>
          </p:nvPr>
        </p:nvSpPr>
        <p:spPr bwMode="auto">
          <a:xfrm>
            <a:off x="3398838" y="5743575"/>
            <a:ext cx="265113" cy="244475"/>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76" name="Rectangle 275"/>
          <p:cNvSpPr/>
          <p:nvPr>
            <p:custDataLst>
              <p:tags r:id="rId29"/>
            </p:custDataLst>
          </p:nvPr>
        </p:nvSpPr>
        <p:spPr bwMode="auto">
          <a:xfrm>
            <a:off x="3133725" y="5764213"/>
            <a:ext cx="265113" cy="223838"/>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54" name="Rectangle 253"/>
          <p:cNvSpPr/>
          <p:nvPr>
            <p:custDataLst>
              <p:tags r:id="rId30"/>
            </p:custDataLst>
          </p:nvPr>
        </p:nvSpPr>
        <p:spPr bwMode="auto">
          <a:xfrm>
            <a:off x="2870200" y="5795963"/>
            <a:ext cx="263525" cy="19208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75" name="Rectangle 274"/>
          <p:cNvSpPr/>
          <p:nvPr>
            <p:custDataLst>
              <p:tags r:id="rId31"/>
            </p:custDataLst>
          </p:nvPr>
        </p:nvSpPr>
        <p:spPr bwMode="auto">
          <a:xfrm>
            <a:off x="2605088" y="5849938"/>
            <a:ext cx="265113" cy="138113"/>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70" name="Rectangle 269"/>
          <p:cNvSpPr/>
          <p:nvPr>
            <p:custDataLst>
              <p:tags r:id="rId32"/>
            </p:custDataLst>
          </p:nvPr>
        </p:nvSpPr>
        <p:spPr bwMode="auto">
          <a:xfrm>
            <a:off x="2339975" y="5849938"/>
            <a:ext cx="265113" cy="138113"/>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69" name="Rectangle 268"/>
          <p:cNvSpPr/>
          <p:nvPr>
            <p:custDataLst>
              <p:tags r:id="rId33"/>
            </p:custDataLst>
          </p:nvPr>
        </p:nvSpPr>
        <p:spPr bwMode="auto">
          <a:xfrm>
            <a:off x="2076450" y="5884862"/>
            <a:ext cx="263525" cy="10318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68" name="Rectangle 267"/>
          <p:cNvSpPr/>
          <p:nvPr>
            <p:custDataLst>
              <p:tags r:id="rId34"/>
            </p:custDataLst>
          </p:nvPr>
        </p:nvSpPr>
        <p:spPr bwMode="auto">
          <a:xfrm>
            <a:off x="1811338" y="5900738"/>
            <a:ext cx="265113" cy="87313"/>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46" name="Rectangle 245"/>
          <p:cNvSpPr/>
          <p:nvPr>
            <p:custDataLst>
              <p:tags r:id="rId35"/>
            </p:custDataLst>
          </p:nvPr>
        </p:nvSpPr>
        <p:spPr bwMode="auto">
          <a:xfrm>
            <a:off x="1546225" y="5915025"/>
            <a:ext cx="265113" cy="73025"/>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67" name="Rectangle 266"/>
          <p:cNvSpPr/>
          <p:nvPr>
            <p:custDataLst>
              <p:tags r:id="rId36"/>
            </p:custDataLst>
          </p:nvPr>
        </p:nvSpPr>
        <p:spPr bwMode="auto">
          <a:xfrm>
            <a:off x="1281113" y="5922963"/>
            <a:ext cx="265113" cy="65088"/>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66" name="Rectangle 265"/>
          <p:cNvSpPr/>
          <p:nvPr>
            <p:custDataLst>
              <p:tags r:id="rId37"/>
            </p:custDataLst>
          </p:nvPr>
        </p:nvSpPr>
        <p:spPr bwMode="auto">
          <a:xfrm>
            <a:off x="1017588" y="5948363"/>
            <a:ext cx="263525" cy="3968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65" name="Rectangle 264"/>
          <p:cNvSpPr/>
          <p:nvPr>
            <p:custDataLst>
              <p:tags r:id="rId38"/>
            </p:custDataLst>
          </p:nvPr>
        </p:nvSpPr>
        <p:spPr bwMode="auto">
          <a:xfrm>
            <a:off x="752475" y="5970588"/>
            <a:ext cx="265113" cy="17463"/>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cxnSp>
        <p:nvCxnSpPr>
          <p:cNvPr id="695" name="Straight Connector 694"/>
          <p:cNvCxnSpPr/>
          <p:nvPr>
            <p:custDataLst>
              <p:tags r:id="rId39"/>
            </p:custDataLst>
          </p:nvPr>
        </p:nvCxnSpPr>
        <p:spPr bwMode="auto">
          <a:xfrm flipV="1">
            <a:off x="8626475"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7" name="Straight Connector 686"/>
          <p:cNvCxnSpPr/>
          <p:nvPr>
            <p:custDataLst>
              <p:tags r:id="rId40"/>
            </p:custDataLst>
          </p:nvPr>
        </p:nvCxnSpPr>
        <p:spPr bwMode="auto">
          <a:xfrm flipV="1">
            <a:off x="1216025"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8" name="Straight Connector 677"/>
          <p:cNvCxnSpPr/>
          <p:nvPr>
            <p:custDataLst>
              <p:tags r:id="rId41"/>
            </p:custDataLst>
          </p:nvPr>
        </p:nvCxnSpPr>
        <p:spPr bwMode="auto">
          <a:xfrm>
            <a:off x="709613" y="4532313"/>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4" name="Straight Connector 693"/>
          <p:cNvCxnSpPr/>
          <p:nvPr>
            <p:custDataLst>
              <p:tags r:id="rId42"/>
            </p:custDataLst>
          </p:nvPr>
        </p:nvCxnSpPr>
        <p:spPr bwMode="auto">
          <a:xfrm flipV="1">
            <a:off x="7699375"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3" name="Straight Connector 612"/>
          <p:cNvCxnSpPr/>
          <p:nvPr>
            <p:custDataLst>
              <p:tags r:id="rId43"/>
            </p:custDataLst>
          </p:nvPr>
        </p:nvCxnSpPr>
        <p:spPr bwMode="auto">
          <a:xfrm>
            <a:off x="747712" y="5988050"/>
            <a:ext cx="9272588"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3" name="Straight Connector 672"/>
          <p:cNvCxnSpPr/>
          <p:nvPr>
            <p:custDataLst>
              <p:tags r:id="rId44"/>
            </p:custDataLst>
          </p:nvPr>
        </p:nvCxnSpPr>
        <p:spPr bwMode="auto">
          <a:xfrm>
            <a:off x="709613" y="5988050"/>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0" name="Straight Connector 289"/>
          <p:cNvCxnSpPr/>
          <p:nvPr>
            <p:custDataLst>
              <p:tags r:id="rId45"/>
            </p:custDataLst>
          </p:nvPr>
        </p:nvCxnSpPr>
        <p:spPr bwMode="auto">
          <a:xfrm>
            <a:off x="709613" y="2784475"/>
            <a:ext cx="42862"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0" name="Straight Connector 679"/>
          <p:cNvCxnSpPr/>
          <p:nvPr>
            <p:custDataLst>
              <p:tags r:id="rId46"/>
            </p:custDataLst>
          </p:nvPr>
        </p:nvCxnSpPr>
        <p:spPr bwMode="auto">
          <a:xfrm>
            <a:off x="709613" y="3949700"/>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9" name="Straight Connector 688"/>
          <p:cNvCxnSpPr/>
          <p:nvPr>
            <p:custDataLst>
              <p:tags r:id="rId47"/>
            </p:custDataLst>
          </p:nvPr>
        </p:nvCxnSpPr>
        <p:spPr bwMode="auto">
          <a:xfrm flipV="1">
            <a:off x="3068638"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1" name="Straight Connector 680"/>
          <p:cNvCxnSpPr/>
          <p:nvPr>
            <p:custDataLst>
              <p:tags r:id="rId48"/>
            </p:custDataLst>
          </p:nvPr>
        </p:nvCxnSpPr>
        <p:spPr bwMode="auto">
          <a:xfrm>
            <a:off x="709613" y="3657600"/>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4" name="Straight Connector 673"/>
          <p:cNvCxnSpPr/>
          <p:nvPr>
            <p:custDataLst>
              <p:tags r:id="rId49"/>
            </p:custDataLst>
          </p:nvPr>
        </p:nvCxnSpPr>
        <p:spPr bwMode="auto">
          <a:xfrm>
            <a:off x="709613" y="5697538"/>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5" name="Straight Connector 674"/>
          <p:cNvCxnSpPr/>
          <p:nvPr>
            <p:custDataLst>
              <p:tags r:id="rId50"/>
            </p:custDataLst>
          </p:nvPr>
        </p:nvCxnSpPr>
        <p:spPr bwMode="auto">
          <a:xfrm>
            <a:off x="709613" y="5405438"/>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8" name="Straight Connector 567"/>
          <p:cNvCxnSpPr/>
          <p:nvPr>
            <p:custDataLst>
              <p:tags r:id="rId51"/>
            </p:custDataLst>
          </p:nvPr>
        </p:nvCxnSpPr>
        <p:spPr bwMode="auto">
          <a:xfrm flipV="1">
            <a:off x="3532188"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7" name="Straight Connector 676"/>
          <p:cNvCxnSpPr/>
          <p:nvPr>
            <p:custDataLst>
              <p:tags r:id="rId52"/>
            </p:custDataLst>
          </p:nvPr>
        </p:nvCxnSpPr>
        <p:spPr bwMode="auto">
          <a:xfrm>
            <a:off x="709613" y="4822825"/>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custDataLst>
              <p:tags r:id="rId53"/>
            </p:custDataLst>
          </p:nvPr>
        </p:nvCxnSpPr>
        <p:spPr bwMode="auto">
          <a:xfrm>
            <a:off x="709613" y="2492375"/>
            <a:ext cx="42862"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3" name="Straight Connector 682"/>
          <p:cNvCxnSpPr/>
          <p:nvPr>
            <p:custDataLst>
              <p:tags r:id="rId54"/>
            </p:custDataLst>
          </p:nvPr>
        </p:nvCxnSpPr>
        <p:spPr bwMode="auto">
          <a:xfrm>
            <a:off x="709613" y="3074988"/>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2" name="Straight Connector 671"/>
          <p:cNvCxnSpPr/>
          <p:nvPr>
            <p:custDataLst>
              <p:tags r:id="rId55"/>
            </p:custDataLst>
          </p:nvPr>
        </p:nvCxnSpPr>
        <p:spPr bwMode="auto">
          <a:xfrm flipV="1">
            <a:off x="752475" y="2197100"/>
            <a:ext cx="0" cy="379571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custDataLst>
              <p:tags r:id="rId56"/>
            </p:custDataLst>
          </p:nvPr>
        </p:nvCxnSpPr>
        <p:spPr bwMode="auto">
          <a:xfrm flipV="1">
            <a:off x="752475"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8" name="Straight Connector 687"/>
          <p:cNvCxnSpPr/>
          <p:nvPr>
            <p:custDataLst>
              <p:tags r:id="rId57"/>
            </p:custDataLst>
          </p:nvPr>
        </p:nvCxnSpPr>
        <p:spPr bwMode="auto">
          <a:xfrm flipV="1">
            <a:off x="2141538"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2" name="Straight Connector 691"/>
          <p:cNvCxnSpPr/>
          <p:nvPr>
            <p:custDataLst>
              <p:tags r:id="rId58"/>
            </p:custDataLst>
          </p:nvPr>
        </p:nvCxnSpPr>
        <p:spPr bwMode="auto">
          <a:xfrm flipV="1">
            <a:off x="5846763"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8" name="Straight Connector 447"/>
          <p:cNvCxnSpPr/>
          <p:nvPr>
            <p:custDataLst>
              <p:tags r:id="rId59"/>
            </p:custDataLst>
          </p:nvPr>
        </p:nvCxnSpPr>
        <p:spPr bwMode="auto">
          <a:xfrm flipV="1">
            <a:off x="6310313"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5" name="Straight Connector 564"/>
          <p:cNvCxnSpPr/>
          <p:nvPr>
            <p:custDataLst>
              <p:tags r:id="rId60"/>
            </p:custDataLst>
          </p:nvPr>
        </p:nvCxnSpPr>
        <p:spPr bwMode="auto">
          <a:xfrm flipV="1">
            <a:off x="1679575"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6" name="Straight Connector 675"/>
          <p:cNvCxnSpPr/>
          <p:nvPr>
            <p:custDataLst>
              <p:tags r:id="rId61"/>
            </p:custDataLst>
          </p:nvPr>
        </p:nvCxnSpPr>
        <p:spPr bwMode="auto">
          <a:xfrm>
            <a:off x="709613" y="5114925"/>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6" name="Straight Connector 445"/>
          <p:cNvCxnSpPr/>
          <p:nvPr>
            <p:custDataLst>
              <p:tags r:id="rId62"/>
            </p:custDataLst>
          </p:nvPr>
        </p:nvCxnSpPr>
        <p:spPr bwMode="auto">
          <a:xfrm flipV="1">
            <a:off x="2605088"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9" name="Straight Connector 678"/>
          <p:cNvCxnSpPr/>
          <p:nvPr>
            <p:custDataLst>
              <p:tags r:id="rId63"/>
            </p:custDataLst>
          </p:nvPr>
        </p:nvCxnSpPr>
        <p:spPr bwMode="auto">
          <a:xfrm>
            <a:off x="709613" y="4240213"/>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0" name="Straight Connector 689"/>
          <p:cNvCxnSpPr/>
          <p:nvPr>
            <p:custDataLst>
              <p:tags r:id="rId64"/>
            </p:custDataLst>
          </p:nvPr>
        </p:nvCxnSpPr>
        <p:spPr bwMode="auto">
          <a:xfrm flipV="1">
            <a:off x="3994150"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7" name="Straight Connector 446"/>
          <p:cNvCxnSpPr/>
          <p:nvPr>
            <p:custDataLst>
              <p:tags r:id="rId65"/>
            </p:custDataLst>
          </p:nvPr>
        </p:nvCxnSpPr>
        <p:spPr bwMode="auto">
          <a:xfrm flipV="1">
            <a:off x="4457700"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7" name="Straight Connector 576"/>
          <p:cNvCxnSpPr/>
          <p:nvPr>
            <p:custDataLst>
              <p:tags r:id="rId66"/>
            </p:custDataLst>
          </p:nvPr>
        </p:nvCxnSpPr>
        <p:spPr bwMode="auto">
          <a:xfrm flipV="1">
            <a:off x="9090025"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6" name="Straight Connector 695"/>
          <p:cNvCxnSpPr/>
          <p:nvPr>
            <p:custDataLst>
              <p:tags r:id="rId67"/>
            </p:custDataLst>
          </p:nvPr>
        </p:nvCxnSpPr>
        <p:spPr bwMode="auto">
          <a:xfrm flipV="1">
            <a:off x="9551988"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1" name="Straight Connector 690"/>
          <p:cNvCxnSpPr/>
          <p:nvPr>
            <p:custDataLst>
              <p:tags r:id="rId68"/>
            </p:custDataLst>
          </p:nvPr>
        </p:nvCxnSpPr>
        <p:spPr bwMode="auto">
          <a:xfrm flipV="1">
            <a:off x="4921250"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1" name="Straight Connector 570"/>
          <p:cNvCxnSpPr/>
          <p:nvPr>
            <p:custDataLst>
              <p:tags r:id="rId69"/>
            </p:custDataLst>
          </p:nvPr>
        </p:nvCxnSpPr>
        <p:spPr bwMode="auto">
          <a:xfrm flipV="1">
            <a:off x="5384800"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3" name="Straight Connector 692"/>
          <p:cNvCxnSpPr/>
          <p:nvPr>
            <p:custDataLst>
              <p:tags r:id="rId70"/>
            </p:custDataLst>
          </p:nvPr>
        </p:nvCxnSpPr>
        <p:spPr bwMode="auto">
          <a:xfrm flipV="1">
            <a:off x="6773863"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4" name="Straight Connector 573"/>
          <p:cNvCxnSpPr/>
          <p:nvPr>
            <p:custDataLst>
              <p:tags r:id="rId71"/>
            </p:custDataLst>
          </p:nvPr>
        </p:nvCxnSpPr>
        <p:spPr bwMode="auto">
          <a:xfrm flipV="1">
            <a:off x="7237413"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custDataLst>
              <p:tags r:id="rId72"/>
            </p:custDataLst>
          </p:nvPr>
        </p:nvCxnSpPr>
        <p:spPr bwMode="auto">
          <a:xfrm>
            <a:off x="709613" y="2201863"/>
            <a:ext cx="42862"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9" name="Straight Connector 448"/>
          <p:cNvCxnSpPr/>
          <p:nvPr>
            <p:custDataLst>
              <p:tags r:id="rId73"/>
            </p:custDataLst>
          </p:nvPr>
        </p:nvCxnSpPr>
        <p:spPr bwMode="auto">
          <a:xfrm flipV="1">
            <a:off x="8162925"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2" name="Straight Connector 681"/>
          <p:cNvCxnSpPr/>
          <p:nvPr>
            <p:custDataLst>
              <p:tags r:id="rId74"/>
            </p:custDataLst>
          </p:nvPr>
        </p:nvCxnSpPr>
        <p:spPr bwMode="auto">
          <a:xfrm>
            <a:off x="709613" y="3367088"/>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0" name="Straight Connector 449"/>
          <p:cNvCxnSpPr/>
          <p:nvPr>
            <p:custDataLst>
              <p:tags r:id="rId75"/>
            </p:custDataLst>
          </p:nvPr>
        </p:nvCxnSpPr>
        <p:spPr bwMode="auto">
          <a:xfrm flipV="1">
            <a:off x="10015538"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69" name="StandardTextbox"/>
          <p:cNvSpPr>
            <a:spLocks noGrp="1"/>
          </p:cNvSpPr>
          <p:nvPr>
            <p:custDataLst>
              <p:tags r:id="rId76"/>
            </p:custDataLst>
          </p:nvPr>
        </p:nvSpPr>
        <p:spPr bwMode="gray">
          <a:xfrm>
            <a:off x="415926" y="2416175"/>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2EB4DE5B-5ED9-48DA-A078-066100631280}" type="datetime'''1.''''2'''''''''''''''''''''''''''''''''''''''''''''''">
              <a:rPr lang="en-IN" altLang="en-US" b="0" smtClean="0">
                <a:sym typeface="+mn-lt"/>
              </a:rPr>
              <a:pPr lvl="1" algn="r">
                <a:spcBef>
                  <a:spcPct val="0"/>
                </a:spcBef>
                <a:spcAft>
                  <a:spcPct val="0"/>
                </a:spcAft>
              </a:pPr>
              <a:t>1.2</a:t>
            </a:fld>
            <a:endParaRPr lang="en-IN" b="0" noProof="0" dirty="0">
              <a:sym typeface="+mn-lt"/>
            </a:endParaRPr>
          </a:p>
        </p:txBody>
      </p:sp>
      <p:sp>
        <p:nvSpPr>
          <p:cNvPr id="666" name="StandardTextbox"/>
          <p:cNvSpPr>
            <a:spLocks noGrp="1"/>
          </p:cNvSpPr>
          <p:nvPr>
            <p:custDataLst>
              <p:tags r:id="rId77"/>
            </p:custDataLst>
          </p:nvPr>
        </p:nvSpPr>
        <p:spPr bwMode="gray">
          <a:xfrm>
            <a:off x="415925" y="3581400"/>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CDA670AC-8958-4C25-A77C-370424FF25D5}" type="datetime'0''''''''''''''''''''''''''''''.''''''''''''''''''8'''">
              <a:rPr lang="en-IN" altLang="en-US" b="0" smtClean="0"/>
              <a:pPr lvl="1" algn="r">
                <a:spcBef>
                  <a:spcPct val="0"/>
                </a:spcBef>
                <a:spcAft>
                  <a:spcPct val="0"/>
                </a:spcAft>
              </a:pPr>
              <a:t>0.8</a:t>
            </a:fld>
            <a:endParaRPr lang="en-IN" b="0" noProof="0" dirty="0">
              <a:sym typeface="+mn-lt"/>
            </a:endParaRPr>
          </a:p>
        </p:txBody>
      </p:sp>
      <p:sp>
        <p:nvSpPr>
          <p:cNvPr id="368" name="StandardTextbox"/>
          <p:cNvSpPr>
            <a:spLocks noGrp="1"/>
          </p:cNvSpPr>
          <p:nvPr>
            <p:custDataLst>
              <p:tags r:id="rId78"/>
            </p:custDataLst>
          </p:nvPr>
        </p:nvSpPr>
        <p:spPr bwMode="gray">
          <a:xfrm>
            <a:off x="415926" y="2708275"/>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B944A7A7-A094-49AA-B37C-582B7D216A50}" type="datetime'''1''''''''.''''''''''1'''''''''''''">
              <a:rPr lang="en-IN" altLang="en-US" b="0" smtClean="0">
                <a:sym typeface="+mn-lt"/>
              </a:rPr>
              <a:pPr lvl="1" algn="r">
                <a:spcBef>
                  <a:spcPct val="0"/>
                </a:spcBef>
                <a:spcAft>
                  <a:spcPct val="0"/>
                </a:spcAft>
              </a:pPr>
              <a:t>1.1</a:t>
            </a:fld>
            <a:endParaRPr lang="en-IN" b="0" noProof="0" dirty="0">
              <a:sym typeface="+mn-lt"/>
            </a:endParaRPr>
          </a:p>
        </p:txBody>
      </p:sp>
      <p:sp>
        <p:nvSpPr>
          <p:cNvPr id="667" name="StandardTextbox"/>
          <p:cNvSpPr>
            <a:spLocks noGrp="1"/>
          </p:cNvSpPr>
          <p:nvPr>
            <p:custDataLst>
              <p:tags r:id="rId79"/>
            </p:custDataLst>
          </p:nvPr>
        </p:nvSpPr>
        <p:spPr bwMode="gray">
          <a:xfrm>
            <a:off x="415925" y="3290888"/>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022FC11E-899B-49CA-B576-A77880368CF2}" type="datetime'''''0''''''.''''''9'''''''">
              <a:rPr lang="en-IN" altLang="en-US" b="0" smtClean="0"/>
              <a:pPr lvl="1" algn="r">
                <a:spcBef>
                  <a:spcPct val="0"/>
                </a:spcBef>
                <a:spcAft>
                  <a:spcPct val="0"/>
                </a:spcAft>
              </a:pPr>
              <a:t>0.9</a:t>
            </a:fld>
            <a:endParaRPr lang="en-IN" b="0" noProof="0" dirty="0">
              <a:sym typeface="+mn-lt"/>
            </a:endParaRPr>
          </a:p>
        </p:txBody>
      </p:sp>
      <p:sp>
        <p:nvSpPr>
          <p:cNvPr id="668" name="StandardTextbox"/>
          <p:cNvSpPr>
            <a:spLocks noGrp="1"/>
          </p:cNvSpPr>
          <p:nvPr>
            <p:custDataLst>
              <p:tags r:id="rId80"/>
            </p:custDataLst>
          </p:nvPr>
        </p:nvSpPr>
        <p:spPr bwMode="gray">
          <a:xfrm>
            <a:off x="415925" y="2998788"/>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F506733C-FF1C-4800-AFB7-B57D4F0ABDE2}" type="datetime'''''''''1''''''.''''''''''0'''''''''''''''''''''''">
              <a:rPr lang="en-IN" altLang="en-US" b="0" smtClean="0"/>
              <a:pPr lvl="1" algn="r">
                <a:spcBef>
                  <a:spcPct val="0"/>
                </a:spcBef>
                <a:spcAft>
                  <a:spcPct val="0"/>
                </a:spcAft>
              </a:pPr>
              <a:t>1.0</a:t>
            </a:fld>
            <a:endParaRPr lang="en-IN" b="0" noProof="0" dirty="0">
              <a:sym typeface="+mn-lt"/>
            </a:endParaRPr>
          </a:p>
        </p:txBody>
      </p:sp>
      <p:sp>
        <p:nvSpPr>
          <p:cNvPr id="662" name="StandardTextbox"/>
          <p:cNvSpPr>
            <a:spLocks noGrp="1"/>
          </p:cNvSpPr>
          <p:nvPr>
            <p:custDataLst>
              <p:tags r:id="rId81"/>
            </p:custDataLst>
          </p:nvPr>
        </p:nvSpPr>
        <p:spPr bwMode="gray">
          <a:xfrm>
            <a:off x="415925" y="4746625"/>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51117641-34A7-439E-8029-0D627B2E8D00}" type="datetime'0''''''''''''''''''''''''.''''''''''4'''">
              <a:rPr lang="en-IN" altLang="en-US" b="0" smtClean="0"/>
              <a:pPr lvl="1" algn="r">
                <a:spcBef>
                  <a:spcPct val="0"/>
                </a:spcBef>
                <a:spcAft>
                  <a:spcPct val="0"/>
                </a:spcAft>
              </a:pPr>
              <a:t>0.4</a:t>
            </a:fld>
            <a:endParaRPr lang="en-IN" b="0" noProof="0" dirty="0">
              <a:sym typeface="+mn-lt"/>
            </a:endParaRPr>
          </a:p>
        </p:txBody>
      </p:sp>
      <p:sp>
        <p:nvSpPr>
          <p:cNvPr id="661" name="StandardTextbox"/>
          <p:cNvSpPr>
            <a:spLocks noGrp="1"/>
          </p:cNvSpPr>
          <p:nvPr>
            <p:custDataLst>
              <p:tags r:id="rId82"/>
            </p:custDataLst>
          </p:nvPr>
        </p:nvSpPr>
        <p:spPr bwMode="gray">
          <a:xfrm>
            <a:off x="415925" y="5038725"/>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4A7EE720-7DA3-4AD4-B067-2F9DA3100BEB}" type="datetime'''''''''''''''''''''''''''''''''''''0.3'''''''''''''''">
              <a:rPr lang="en-IN" altLang="en-US" b="0" smtClean="0"/>
              <a:pPr lvl="1" algn="r">
                <a:spcBef>
                  <a:spcPct val="0"/>
                </a:spcBef>
                <a:spcAft>
                  <a:spcPct val="0"/>
                </a:spcAft>
              </a:pPr>
              <a:t>0.3</a:t>
            </a:fld>
            <a:endParaRPr lang="en-IN" b="0" noProof="0" dirty="0">
              <a:sym typeface="+mn-lt"/>
            </a:endParaRPr>
          </a:p>
        </p:txBody>
      </p:sp>
      <p:sp>
        <p:nvSpPr>
          <p:cNvPr id="658" name="StandardTextbox"/>
          <p:cNvSpPr>
            <a:spLocks noGrp="1"/>
          </p:cNvSpPr>
          <p:nvPr>
            <p:custDataLst>
              <p:tags r:id="rId83"/>
            </p:custDataLst>
          </p:nvPr>
        </p:nvSpPr>
        <p:spPr bwMode="gray">
          <a:xfrm>
            <a:off x="415925" y="5911850"/>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41A5FBBF-07F5-414E-A799-D0D146864E99}" type="datetime'''''''''''''0''''''''''''''''''''.0'''''''''''''''''''''''''''">
              <a:rPr lang="en-IN" altLang="en-US" b="0" smtClean="0"/>
              <a:pPr lvl="1" algn="r">
                <a:spcBef>
                  <a:spcPct val="0"/>
                </a:spcBef>
                <a:spcAft>
                  <a:spcPct val="0"/>
                </a:spcAft>
              </a:pPr>
              <a:t>0.0</a:t>
            </a:fld>
            <a:endParaRPr lang="en-IN" b="0" noProof="0" dirty="0">
              <a:sym typeface="+mn-lt"/>
            </a:endParaRPr>
          </a:p>
        </p:txBody>
      </p:sp>
      <p:sp>
        <p:nvSpPr>
          <p:cNvPr id="370" name="StandardTextbox"/>
          <p:cNvSpPr>
            <a:spLocks noGrp="1"/>
          </p:cNvSpPr>
          <p:nvPr>
            <p:custDataLst>
              <p:tags r:id="rId84"/>
            </p:custDataLst>
          </p:nvPr>
        </p:nvSpPr>
        <p:spPr bwMode="gray">
          <a:xfrm>
            <a:off x="415926" y="2125663"/>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DBDBDD82-1204-441B-8BC8-148431268AA2}" type="datetime'''''''1''''''''''''''.''''''''''''3'''''">
              <a:rPr lang="en-IN" altLang="en-US" b="0" smtClean="0">
                <a:sym typeface="+mn-lt"/>
              </a:rPr>
              <a:pPr lvl="1" algn="r">
                <a:spcBef>
                  <a:spcPct val="0"/>
                </a:spcBef>
                <a:spcAft>
                  <a:spcPct val="0"/>
                </a:spcAft>
              </a:pPr>
              <a:t>1.3</a:t>
            </a:fld>
            <a:endParaRPr lang="en-IN" b="0" noProof="0" dirty="0">
              <a:sym typeface="+mn-lt"/>
            </a:endParaRPr>
          </a:p>
        </p:txBody>
      </p:sp>
      <p:sp>
        <p:nvSpPr>
          <p:cNvPr id="659" name="StandardTextbox"/>
          <p:cNvSpPr>
            <a:spLocks noGrp="1"/>
          </p:cNvSpPr>
          <p:nvPr>
            <p:custDataLst>
              <p:tags r:id="rId85"/>
            </p:custDataLst>
          </p:nvPr>
        </p:nvSpPr>
        <p:spPr bwMode="gray">
          <a:xfrm>
            <a:off x="415925" y="5621338"/>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77A4B8AC-5A44-46B9-93BE-BDEBD04718C1}" type="datetime'''''''''''''''''''''''''''''0''''''''''.''''''''''''1'''''">
              <a:rPr lang="en-IN" altLang="en-US" b="0" smtClean="0"/>
              <a:pPr lvl="1" algn="r">
                <a:spcBef>
                  <a:spcPct val="0"/>
                </a:spcBef>
                <a:spcAft>
                  <a:spcPct val="0"/>
                </a:spcAft>
              </a:pPr>
              <a:t>0.1</a:t>
            </a:fld>
            <a:endParaRPr lang="en-IN" b="0" noProof="0" dirty="0">
              <a:sym typeface="+mn-lt"/>
            </a:endParaRPr>
          </a:p>
        </p:txBody>
      </p:sp>
      <p:sp>
        <p:nvSpPr>
          <p:cNvPr id="663" name="StandardTextbox"/>
          <p:cNvSpPr>
            <a:spLocks noGrp="1"/>
          </p:cNvSpPr>
          <p:nvPr>
            <p:custDataLst>
              <p:tags r:id="rId86"/>
            </p:custDataLst>
          </p:nvPr>
        </p:nvSpPr>
        <p:spPr bwMode="gray">
          <a:xfrm>
            <a:off x="415925" y="4456113"/>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80884CF0-FA65-4333-B0F4-3DA9784DC0FC}" type="datetime'''''''''''''''''''''0''''''''''''''''''.5'''''''''''">
              <a:rPr lang="en-IN" altLang="en-US" b="0" smtClean="0"/>
              <a:pPr lvl="1" algn="r">
                <a:spcBef>
                  <a:spcPct val="0"/>
                </a:spcBef>
                <a:spcAft>
                  <a:spcPct val="0"/>
                </a:spcAft>
              </a:pPr>
              <a:t>0.5</a:t>
            </a:fld>
            <a:endParaRPr lang="en-IN" b="0" noProof="0" dirty="0">
              <a:sym typeface="+mn-lt"/>
            </a:endParaRPr>
          </a:p>
        </p:txBody>
      </p:sp>
      <p:sp>
        <p:nvSpPr>
          <p:cNvPr id="660" name="StandardTextbox"/>
          <p:cNvSpPr>
            <a:spLocks noGrp="1"/>
          </p:cNvSpPr>
          <p:nvPr>
            <p:custDataLst>
              <p:tags r:id="rId87"/>
            </p:custDataLst>
          </p:nvPr>
        </p:nvSpPr>
        <p:spPr bwMode="gray">
          <a:xfrm>
            <a:off x="415925" y="5329238"/>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0B7ED17A-1EF3-4B1E-A81C-A80D6C3F7E01}" type="datetime'''''''''''''''''''''0''''''''''.''''''''''''''''''''2'''''''''">
              <a:rPr lang="en-IN" altLang="en-US" b="0" smtClean="0"/>
              <a:pPr lvl="1" algn="r">
                <a:spcBef>
                  <a:spcPct val="0"/>
                </a:spcBef>
                <a:spcAft>
                  <a:spcPct val="0"/>
                </a:spcAft>
              </a:pPr>
              <a:t>0.2</a:t>
            </a:fld>
            <a:endParaRPr lang="en-IN" b="0" noProof="0" dirty="0">
              <a:sym typeface="+mn-lt"/>
            </a:endParaRPr>
          </a:p>
        </p:txBody>
      </p:sp>
      <p:sp>
        <p:nvSpPr>
          <p:cNvPr id="664" name="StandardTextbox"/>
          <p:cNvSpPr>
            <a:spLocks noGrp="1"/>
          </p:cNvSpPr>
          <p:nvPr>
            <p:custDataLst>
              <p:tags r:id="rId88"/>
            </p:custDataLst>
          </p:nvPr>
        </p:nvSpPr>
        <p:spPr bwMode="gray">
          <a:xfrm>
            <a:off x="415925" y="4164013"/>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9A8C0D7A-7A5E-4E96-9FFB-675DE93DEB7E}" type="datetime'''''''''''''''''''0''''''''''.''''''6'''''''''''''''">
              <a:rPr lang="en-IN" altLang="en-US" b="0" smtClean="0"/>
              <a:pPr lvl="1" algn="r">
                <a:spcBef>
                  <a:spcPct val="0"/>
                </a:spcBef>
                <a:spcAft>
                  <a:spcPct val="0"/>
                </a:spcAft>
              </a:pPr>
              <a:t>0.6</a:t>
            </a:fld>
            <a:endParaRPr lang="en-IN" b="0" noProof="0" dirty="0">
              <a:sym typeface="+mn-lt"/>
            </a:endParaRPr>
          </a:p>
        </p:txBody>
      </p:sp>
      <p:sp>
        <p:nvSpPr>
          <p:cNvPr id="665" name="StandardTextbox"/>
          <p:cNvSpPr>
            <a:spLocks noGrp="1"/>
          </p:cNvSpPr>
          <p:nvPr>
            <p:custDataLst>
              <p:tags r:id="rId89"/>
            </p:custDataLst>
          </p:nvPr>
        </p:nvSpPr>
        <p:spPr bwMode="gray">
          <a:xfrm>
            <a:off x="415925" y="3873500"/>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048CE817-6622-4BA1-8B20-79790D000B27}" type="datetime'''''''0''.''''''''''''''7'''''''''''''''''">
              <a:rPr lang="en-IN" altLang="en-US" b="0" smtClean="0"/>
              <a:pPr lvl="1" algn="r">
                <a:spcBef>
                  <a:spcPct val="0"/>
                </a:spcBef>
                <a:spcAft>
                  <a:spcPct val="0"/>
                </a:spcAft>
              </a:pPr>
              <a:t>0.7</a:t>
            </a:fld>
            <a:endParaRPr lang="en-IN" b="0" noProof="0" dirty="0">
              <a:sym typeface="+mn-lt"/>
            </a:endParaRPr>
          </a:p>
        </p:txBody>
      </p:sp>
      <p:cxnSp>
        <p:nvCxnSpPr>
          <p:cNvPr id="313" name="Straight Connector 312"/>
          <p:cNvCxnSpPr/>
          <p:nvPr>
            <p:custDataLst>
              <p:tags r:id="rId90"/>
            </p:custDataLst>
          </p:nvPr>
        </p:nvCxnSpPr>
        <p:spPr bwMode="auto">
          <a:xfrm>
            <a:off x="9088438" y="4445000"/>
            <a:ext cx="0" cy="319088"/>
          </a:xfrm>
          <a:prstGeom prst="line">
            <a:avLst/>
          </a:prstGeom>
          <a:ln w="6350"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7" name="StandardTextbox"/>
          <p:cNvSpPr>
            <a:spLocks noGrp="1"/>
          </p:cNvSpPr>
          <p:nvPr>
            <p:custDataLst>
              <p:tags r:id="rId91"/>
            </p:custDataLst>
          </p:nvPr>
        </p:nvSpPr>
        <p:spPr bwMode="gray">
          <a:xfrm>
            <a:off x="757238" y="5770563"/>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D01DC5A8-9460-40D8-B743-CB37476AEEA9}" type="datetime'''''''''''''''0''.''''''0''1'''''''''''''''''''''''''''''''''">
              <a:rPr lang="en-IN" altLang="en-US" b="0" smtClean="0">
                <a:sym typeface="+mn-lt"/>
              </a:rPr>
              <a:pPr lvl="1" algn="ctr">
                <a:spcBef>
                  <a:spcPct val="0"/>
                </a:spcBef>
                <a:spcAft>
                  <a:spcPct val="0"/>
                </a:spcAft>
              </a:pPr>
              <a:t>0.01</a:t>
            </a:fld>
            <a:endParaRPr lang="en-IN" b="0" noProof="0" dirty="0">
              <a:sym typeface="+mn-lt"/>
            </a:endParaRPr>
          </a:p>
        </p:txBody>
      </p:sp>
      <p:sp>
        <p:nvSpPr>
          <p:cNvPr id="124" name="StandardTextbox"/>
          <p:cNvSpPr>
            <a:spLocks noGrp="1"/>
          </p:cNvSpPr>
          <p:nvPr>
            <p:custDataLst>
              <p:tags r:id="rId92"/>
            </p:custDataLst>
          </p:nvPr>
        </p:nvSpPr>
        <p:spPr bwMode="gray">
          <a:xfrm>
            <a:off x="1247775" y="5737225"/>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7F39105D-7EFF-4901-8446-539681115FAC}" type="datetime'''''''''''''''''''''''0''''''''.''''''''''''''''0''2'">
              <a:rPr lang="en-IN" altLang="en-US" b="0" smtClean="0">
                <a:sym typeface="+mn-lt"/>
              </a:rPr>
              <a:pPr lvl="1" algn="ctr">
                <a:spcBef>
                  <a:spcPct val="0"/>
                </a:spcBef>
                <a:spcAft>
                  <a:spcPct val="0"/>
                </a:spcAft>
              </a:pPr>
              <a:t>0.02</a:t>
            </a:fld>
            <a:endParaRPr lang="en-IN" b="0" noProof="0" dirty="0">
              <a:sym typeface="+mn-lt"/>
            </a:endParaRPr>
          </a:p>
        </p:txBody>
      </p:sp>
      <p:sp>
        <p:nvSpPr>
          <p:cNvPr id="333" name="StandardTextbox"/>
          <p:cNvSpPr>
            <a:spLocks noGrp="1"/>
          </p:cNvSpPr>
          <p:nvPr>
            <p:custDataLst>
              <p:tags r:id="rId93"/>
            </p:custDataLst>
          </p:nvPr>
        </p:nvSpPr>
        <p:spPr bwMode="gray">
          <a:xfrm>
            <a:off x="1741488" y="5722938"/>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0ADF2FA-3317-4139-AB52-C138439951B8}" type="datetime'0.''''''''''''03'''''''''''''''''''''''''">
              <a:rPr lang="en-IN" altLang="en-US" b="0" smtClean="0">
                <a:sym typeface="+mn-lt"/>
              </a:rPr>
              <a:pPr lvl="1" algn="ctr">
                <a:spcBef>
                  <a:spcPct val="0"/>
                </a:spcBef>
                <a:spcAft>
                  <a:spcPct val="0"/>
                </a:spcAft>
              </a:pPr>
              <a:t>0.03</a:t>
            </a:fld>
            <a:endParaRPr lang="en-IN" b="0" noProof="0" dirty="0">
              <a:sym typeface="+mn-lt"/>
            </a:endParaRPr>
          </a:p>
        </p:txBody>
      </p:sp>
      <p:sp>
        <p:nvSpPr>
          <p:cNvPr id="155" name="StandardTextbox"/>
          <p:cNvSpPr>
            <a:spLocks noGrp="1"/>
          </p:cNvSpPr>
          <p:nvPr>
            <p:custDataLst>
              <p:tags r:id="rId94"/>
            </p:custDataLst>
          </p:nvPr>
        </p:nvSpPr>
        <p:spPr bwMode="gray">
          <a:xfrm>
            <a:off x="3365500" y="5565775"/>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B662692C-49BC-452B-BB20-232B5612B2C0}" type="datetime'''0''''.''''''''''''''''''''08'''''''''''''''''''''">
              <a:rPr lang="en-IN" altLang="en-US" b="0" smtClean="0">
                <a:sym typeface="+mn-lt"/>
              </a:rPr>
              <a:pPr lvl="1" algn="ctr">
                <a:spcBef>
                  <a:spcPct val="0"/>
                </a:spcBef>
                <a:spcAft>
                  <a:spcPct val="0"/>
                </a:spcAft>
              </a:pPr>
              <a:t>0.08</a:t>
            </a:fld>
            <a:endParaRPr lang="en-IN" b="0" noProof="0" dirty="0">
              <a:sym typeface="+mn-lt"/>
            </a:endParaRPr>
          </a:p>
        </p:txBody>
      </p:sp>
      <p:sp>
        <p:nvSpPr>
          <p:cNvPr id="157" name="StandardTextbox"/>
          <p:cNvSpPr>
            <a:spLocks noGrp="1"/>
          </p:cNvSpPr>
          <p:nvPr>
            <p:custDataLst>
              <p:tags r:id="rId95"/>
            </p:custDataLst>
          </p:nvPr>
        </p:nvSpPr>
        <p:spPr bwMode="gray">
          <a:xfrm>
            <a:off x="3857625" y="5565775"/>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DB6CF50-12C8-457D-9C2A-3FACA3FE657F}" type="datetime'''''0''''''''.''''''''''''''''''''''''''''''''''0''''''''8'">
              <a:rPr lang="en-IN" altLang="en-US" b="0" smtClean="0">
                <a:sym typeface="+mn-lt"/>
              </a:rPr>
              <a:pPr lvl="1" algn="ctr">
                <a:spcBef>
                  <a:spcPct val="0"/>
                </a:spcBef>
                <a:spcAft>
                  <a:spcPct val="0"/>
                </a:spcAft>
              </a:pPr>
              <a:t>0.08</a:t>
            </a:fld>
            <a:endParaRPr lang="en-IN" b="0" noProof="0" dirty="0">
              <a:sym typeface="+mn-lt"/>
            </a:endParaRPr>
          </a:p>
        </p:txBody>
      </p:sp>
      <p:sp>
        <p:nvSpPr>
          <p:cNvPr id="158" name="StandardTextbox"/>
          <p:cNvSpPr>
            <a:spLocks noGrp="1"/>
          </p:cNvSpPr>
          <p:nvPr>
            <p:custDataLst>
              <p:tags r:id="rId96"/>
            </p:custDataLst>
          </p:nvPr>
        </p:nvSpPr>
        <p:spPr bwMode="gray">
          <a:xfrm>
            <a:off x="4191000" y="5524500"/>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7CF578F-F117-4DD6-889D-2E00CEF317E7}" type="datetime'''''''''''''''''''''''''0''''''''''''''''''''.''0''''''9'''''">
              <a:rPr lang="en-IN" altLang="en-US" b="0" smtClean="0">
                <a:sym typeface="+mn-lt"/>
              </a:rPr>
              <a:pPr lvl="1" algn="ctr">
                <a:spcBef>
                  <a:spcPct val="0"/>
                </a:spcBef>
                <a:spcAft>
                  <a:spcPct val="0"/>
                </a:spcAft>
              </a:pPr>
              <a:t>0.09</a:t>
            </a:fld>
            <a:endParaRPr lang="en-IN" b="0" noProof="0" dirty="0">
              <a:sym typeface="+mn-lt"/>
            </a:endParaRPr>
          </a:p>
        </p:txBody>
      </p:sp>
      <p:sp>
        <p:nvSpPr>
          <p:cNvPr id="288" name="StandardTextbox"/>
          <p:cNvSpPr>
            <a:spLocks noGrp="1"/>
          </p:cNvSpPr>
          <p:nvPr>
            <p:custDataLst>
              <p:tags r:id="rId97"/>
            </p:custDataLst>
          </p:nvPr>
        </p:nvSpPr>
        <p:spPr bwMode="gray">
          <a:xfrm>
            <a:off x="8621713" y="4445000"/>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18B0271-81CD-484C-82A5-3AE39EA81A49}" type="datetime'''''''''''0''''''''.''''4''3'">
              <a:rPr lang="en-IN" altLang="en-US" b="0" smtClean="0">
                <a:sym typeface="+mn-lt"/>
              </a:rPr>
              <a:pPr lvl="1" algn="ctr">
                <a:spcBef>
                  <a:spcPct val="0"/>
                </a:spcBef>
                <a:spcAft>
                  <a:spcPct val="0"/>
                </a:spcAft>
              </a:pPr>
              <a:t>0.43</a:t>
            </a:fld>
            <a:endParaRPr lang="en-IN" b="0" noProof="0" dirty="0">
              <a:sym typeface="+mn-lt"/>
            </a:endParaRPr>
          </a:p>
        </p:txBody>
      </p:sp>
      <p:sp>
        <p:nvSpPr>
          <p:cNvPr id="175" name="StandardTextbox"/>
          <p:cNvSpPr>
            <a:spLocks noGrp="1"/>
          </p:cNvSpPr>
          <p:nvPr>
            <p:custDataLst>
              <p:tags r:id="rId98"/>
            </p:custDataLst>
          </p:nvPr>
        </p:nvSpPr>
        <p:spPr bwMode="gray">
          <a:xfrm>
            <a:off x="4651375" y="5494338"/>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C8C3F1C-AF30-4B35-A7ED-E9CC5ED345C3}" type="datetime'0''''''''''''.1''''''''''''''''1'''''''''''''">
              <a:rPr lang="en-IN" altLang="en-US" b="0" smtClean="0">
                <a:sym typeface="+mn-lt"/>
              </a:rPr>
              <a:pPr lvl="1" algn="ctr">
                <a:spcBef>
                  <a:spcPct val="0"/>
                </a:spcBef>
                <a:spcAft>
                  <a:spcPct val="0"/>
                </a:spcAft>
              </a:pPr>
              <a:t>0.11</a:t>
            </a:fld>
            <a:endParaRPr lang="en-IN" b="0" noProof="0" dirty="0">
              <a:sym typeface="+mn-lt"/>
            </a:endParaRPr>
          </a:p>
        </p:txBody>
      </p:sp>
      <p:sp>
        <p:nvSpPr>
          <p:cNvPr id="184" name="StandardTextbox"/>
          <p:cNvSpPr>
            <a:spLocks noGrp="1"/>
          </p:cNvSpPr>
          <p:nvPr>
            <p:custDataLst>
              <p:tags r:id="rId99"/>
            </p:custDataLst>
          </p:nvPr>
        </p:nvSpPr>
        <p:spPr bwMode="gray">
          <a:xfrm>
            <a:off x="4984750" y="5457825"/>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5465D73-F1B2-4DB7-90B8-1521AC7685F8}" type="datetime'''''''''''''''''''''''''''''''''''0''''.''1''2'''''">
              <a:rPr lang="en-IN" altLang="en-US" b="0" smtClean="0">
                <a:sym typeface="+mn-lt"/>
              </a:rPr>
              <a:pPr lvl="1" algn="ctr">
                <a:spcBef>
                  <a:spcPct val="0"/>
                </a:spcBef>
                <a:spcAft>
                  <a:spcPct val="0"/>
                </a:spcAft>
              </a:pPr>
              <a:t>0.12</a:t>
            </a:fld>
            <a:endParaRPr lang="en-IN" b="0" noProof="0" dirty="0">
              <a:sym typeface="+mn-lt"/>
            </a:endParaRPr>
          </a:p>
        </p:txBody>
      </p:sp>
      <p:sp>
        <p:nvSpPr>
          <p:cNvPr id="195" name="StandardTextbox"/>
          <p:cNvSpPr>
            <a:spLocks noGrp="1"/>
          </p:cNvSpPr>
          <p:nvPr>
            <p:custDataLst>
              <p:tags r:id="rId100"/>
            </p:custDataLst>
          </p:nvPr>
        </p:nvSpPr>
        <p:spPr bwMode="gray">
          <a:xfrm>
            <a:off x="5446713" y="5410200"/>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F41C1EC-719B-42E6-8C27-99CF292CA6A6}" type="datetime'''''''''''''''''''''''0''''''''''.''''1''''''''''4'''''''''">
              <a:rPr lang="en-IN" altLang="en-US" b="0" smtClean="0">
                <a:sym typeface="+mn-lt"/>
              </a:rPr>
              <a:pPr lvl="1" algn="ctr">
                <a:spcBef>
                  <a:spcPct val="0"/>
                </a:spcBef>
                <a:spcAft>
                  <a:spcPct val="0"/>
                </a:spcAft>
              </a:pPr>
              <a:t>0.14</a:t>
            </a:fld>
            <a:endParaRPr lang="en-IN" b="0" noProof="0" dirty="0">
              <a:sym typeface="+mn-lt"/>
            </a:endParaRPr>
          </a:p>
        </p:txBody>
      </p:sp>
      <p:sp>
        <p:nvSpPr>
          <p:cNvPr id="209" name="StandardTextbox"/>
          <p:cNvSpPr>
            <a:spLocks noGrp="1"/>
          </p:cNvSpPr>
          <p:nvPr>
            <p:custDataLst>
              <p:tags r:id="rId101"/>
            </p:custDataLst>
          </p:nvPr>
        </p:nvSpPr>
        <p:spPr bwMode="gray">
          <a:xfrm>
            <a:off x="5710238" y="5257800"/>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2C255D70-983F-4BD7-82FE-B956E7069776}" type="datetime'0''''''''''''''''''''''''''''''.''''''1''''''''''6'''">
              <a:rPr lang="en-IN" altLang="en-US" b="0" smtClean="0">
                <a:sym typeface="+mn-lt"/>
              </a:rPr>
              <a:pPr lvl="1" algn="ctr">
                <a:spcBef>
                  <a:spcPct val="0"/>
                </a:spcBef>
                <a:spcAft>
                  <a:spcPct val="0"/>
                </a:spcAft>
              </a:pPr>
              <a:t>0.16</a:t>
            </a:fld>
            <a:endParaRPr lang="en-IN" b="0" noProof="0" dirty="0">
              <a:sym typeface="+mn-lt"/>
            </a:endParaRPr>
          </a:p>
        </p:txBody>
      </p:sp>
      <p:sp>
        <p:nvSpPr>
          <p:cNvPr id="210" name="StandardTextbox"/>
          <p:cNvSpPr>
            <a:spLocks noGrp="1"/>
          </p:cNvSpPr>
          <p:nvPr>
            <p:custDataLst>
              <p:tags r:id="rId102"/>
            </p:custDataLst>
          </p:nvPr>
        </p:nvSpPr>
        <p:spPr bwMode="gray">
          <a:xfrm>
            <a:off x="6043613" y="5291138"/>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F824CD1-ADFB-43FB-BE3C-0B22C8132222}" type="datetime'''''0''''''''''''''''''''''''''''''.''''17'">
              <a:rPr lang="en-IN" altLang="en-US" b="0" smtClean="0">
                <a:sym typeface="+mn-lt"/>
              </a:rPr>
              <a:pPr lvl="1" algn="ctr">
                <a:spcBef>
                  <a:spcPct val="0"/>
                </a:spcBef>
                <a:spcAft>
                  <a:spcPct val="0"/>
                </a:spcAft>
              </a:pPr>
              <a:t>0.17</a:t>
            </a:fld>
            <a:endParaRPr lang="en-IN" b="0" noProof="0" dirty="0">
              <a:sym typeface="+mn-lt"/>
            </a:endParaRPr>
          </a:p>
        </p:txBody>
      </p:sp>
      <p:sp>
        <p:nvSpPr>
          <p:cNvPr id="136" name="StandardTextbox"/>
          <p:cNvSpPr>
            <a:spLocks noGrp="1"/>
          </p:cNvSpPr>
          <p:nvPr>
            <p:custDataLst>
              <p:tags r:id="rId103"/>
            </p:custDataLst>
          </p:nvPr>
        </p:nvSpPr>
        <p:spPr bwMode="gray">
          <a:xfrm>
            <a:off x="2306638" y="5672138"/>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7FC34371-8DB0-41A9-BA3F-CAC11B9095DC}" type="datetime'''''''0''.0''''5'''''''">
              <a:rPr lang="en-IN" altLang="en-US" b="0" smtClean="0">
                <a:sym typeface="+mn-lt"/>
              </a:rPr>
              <a:pPr lvl="1" algn="ctr">
                <a:spcBef>
                  <a:spcPct val="0"/>
                </a:spcBef>
                <a:spcAft>
                  <a:spcPct val="0"/>
                </a:spcAft>
              </a:pPr>
              <a:t>0.05</a:t>
            </a:fld>
            <a:endParaRPr lang="en-IN" b="0" noProof="0" dirty="0">
              <a:sym typeface="+mn-lt"/>
            </a:endParaRPr>
          </a:p>
        </p:txBody>
      </p:sp>
      <p:sp>
        <p:nvSpPr>
          <p:cNvPr id="212" name="StandardTextbox"/>
          <p:cNvSpPr>
            <a:spLocks noGrp="1"/>
          </p:cNvSpPr>
          <p:nvPr>
            <p:custDataLst>
              <p:tags r:id="rId104"/>
            </p:custDataLst>
          </p:nvPr>
        </p:nvSpPr>
        <p:spPr bwMode="gray">
          <a:xfrm>
            <a:off x="6580188" y="5264150"/>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A0A9500-792D-4905-9E7A-B0A19037BE9F}" type="datetime'''0''''''''''''''''''.''''''''''''''''''''1''9'''">
              <a:rPr lang="en-IN" altLang="en-US" b="0" smtClean="0">
                <a:sym typeface="+mn-lt"/>
              </a:rPr>
              <a:pPr lvl="1" algn="ctr">
                <a:spcBef>
                  <a:spcPct val="0"/>
                </a:spcBef>
                <a:spcAft>
                  <a:spcPct val="0"/>
                </a:spcAft>
              </a:pPr>
              <a:t>0.19</a:t>
            </a:fld>
            <a:endParaRPr lang="en-IN" b="0" noProof="0" dirty="0">
              <a:sym typeface="+mn-lt"/>
            </a:endParaRPr>
          </a:p>
        </p:txBody>
      </p:sp>
      <p:sp useBgFill="1">
        <p:nvSpPr>
          <p:cNvPr id="235" name="StandardTextbox"/>
          <p:cNvSpPr>
            <a:spLocks noGrp="1"/>
          </p:cNvSpPr>
          <p:nvPr>
            <p:custDataLst>
              <p:tags r:id="rId105"/>
            </p:custDataLst>
          </p:nvPr>
        </p:nvSpPr>
        <p:spPr bwMode="gray">
          <a:xfrm>
            <a:off x="7388225" y="5148263"/>
            <a:ext cx="330200" cy="152400"/>
          </a:xfrm>
          <a:prstGeom prst="rect">
            <a:avLst/>
          </a:prstGeom>
          <a:ln>
            <a:noFill/>
          </a:ln>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40D5641-AC03-479D-81B1-C702F227A4E5}" type="datetime'0''''''''''.''''''''''''2''''3'''''''''''''''''''''''''">
              <a:rPr lang="en-IN" altLang="en-US" b="0" smtClean="0">
                <a:sym typeface="+mn-lt"/>
              </a:rPr>
              <a:pPr lvl="1" algn="ctr">
                <a:spcBef>
                  <a:spcPct val="0"/>
                </a:spcBef>
                <a:spcAft>
                  <a:spcPct val="0"/>
                </a:spcAft>
              </a:pPr>
              <a:t>0.23</a:t>
            </a:fld>
            <a:endParaRPr lang="en-IN" b="0" noProof="0" dirty="0">
              <a:sym typeface="+mn-lt"/>
            </a:endParaRPr>
          </a:p>
        </p:txBody>
      </p:sp>
      <p:sp>
        <p:nvSpPr>
          <p:cNvPr id="248" name="StandardTextbox"/>
          <p:cNvSpPr>
            <a:spLocks noGrp="1"/>
          </p:cNvSpPr>
          <p:nvPr>
            <p:custDataLst>
              <p:tags r:id="rId106"/>
            </p:custDataLst>
          </p:nvPr>
        </p:nvSpPr>
        <p:spPr bwMode="gray">
          <a:xfrm>
            <a:off x="7562850" y="4926013"/>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8E0907F-6B3E-45E9-9F6E-3FD4395AD0D3}" type="datetime'''''''''''''''''0.''''3''0'''''''">
              <a:rPr lang="en-IN" altLang="en-US" b="0" smtClean="0">
                <a:sym typeface="+mn-lt"/>
              </a:rPr>
              <a:pPr lvl="1" algn="ctr">
                <a:spcBef>
                  <a:spcPct val="0"/>
                </a:spcBef>
                <a:spcAft>
                  <a:spcPct val="0"/>
                </a:spcAft>
              </a:pPr>
              <a:t>0.30</a:t>
            </a:fld>
            <a:endParaRPr lang="en-IN" b="0" noProof="0" dirty="0">
              <a:sym typeface="+mn-lt"/>
            </a:endParaRPr>
          </a:p>
        </p:txBody>
      </p:sp>
      <p:sp>
        <p:nvSpPr>
          <p:cNvPr id="258" name="StandardTextbox"/>
          <p:cNvSpPr>
            <a:spLocks noGrp="1"/>
          </p:cNvSpPr>
          <p:nvPr>
            <p:custDataLst>
              <p:tags r:id="rId107"/>
            </p:custDataLst>
          </p:nvPr>
        </p:nvSpPr>
        <p:spPr bwMode="gray">
          <a:xfrm>
            <a:off x="7834313" y="4773613"/>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2B6883B-A721-4FB2-8D83-9E092C2667F1}" type="datetime'''''''''''0''''.''''''''''''''''''''''''3''''''1'''''''''''">
              <a:rPr lang="en-IN" altLang="en-US" b="0" smtClean="0">
                <a:sym typeface="+mn-lt"/>
              </a:rPr>
              <a:pPr lvl="1" algn="ctr">
                <a:spcBef>
                  <a:spcPct val="0"/>
                </a:spcBef>
                <a:spcAft>
                  <a:spcPct val="0"/>
                </a:spcAft>
              </a:pPr>
              <a:t>0.31</a:t>
            </a:fld>
            <a:endParaRPr lang="en-IN" b="0" noProof="0" dirty="0">
              <a:sym typeface="+mn-lt"/>
            </a:endParaRPr>
          </a:p>
        </p:txBody>
      </p:sp>
      <p:sp useBgFill="1">
        <p:nvSpPr>
          <p:cNvPr id="273" name="StandardTextbox"/>
          <p:cNvSpPr>
            <a:spLocks noGrp="1"/>
          </p:cNvSpPr>
          <p:nvPr>
            <p:custDataLst>
              <p:tags r:id="rId108"/>
            </p:custDataLst>
          </p:nvPr>
        </p:nvSpPr>
        <p:spPr bwMode="gray">
          <a:xfrm>
            <a:off x="8188325" y="4803775"/>
            <a:ext cx="330200" cy="152400"/>
          </a:xfrm>
          <a:prstGeom prst="rect">
            <a:avLst/>
          </a:prstGeom>
          <a:ln>
            <a:noFill/>
          </a:ln>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D9EABBBC-141A-4945-A975-DD821B6D3BB4}" type="datetime'''''''''''0''''''.''3''''''''''''''''5'''">
              <a:rPr lang="en-IN" altLang="en-US" b="0" smtClean="0">
                <a:sym typeface="+mn-lt"/>
              </a:rPr>
              <a:pPr lvl="1" algn="ctr">
                <a:spcBef>
                  <a:spcPct val="0"/>
                </a:spcBef>
                <a:spcAft>
                  <a:spcPct val="0"/>
                </a:spcAft>
              </a:pPr>
              <a:t>0.35</a:t>
            </a:fld>
            <a:endParaRPr lang="en-IN" b="0" noProof="0" dirty="0">
              <a:sym typeface="+mn-lt"/>
            </a:endParaRPr>
          </a:p>
        </p:txBody>
      </p:sp>
      <p:sp>
        <p:nvSpPr>
          <p:cNvPr id="274" name="StandardTextbox"/>
          <p:cNvSpPr>
            <a:spLocks noGrp="1"/>
          </p:cNvSpPr>
          <p:nvPr>
            <p:custDataLst>
              <p:tags r:id="rId109"/>
            </p:custDataLst>
          </p:nvPr>
        </p:nvSpPr>
        <p:spPr bwMode="gray">
          <a:xfrm>
            <a:off x="8356600" y="4597400"/>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52C88666-43C1-4686-836D-ADD9BDCE492C}" type="datetime'''''''0''''.''''''''''4''''''2'''''''''''''''''''">
              <a:rPr lang="en-IN" altLang="en-US" b="0" smtClean="0">
                <a:sym typeface="+mn-lt"/>
              </a:rPr>
              <a:pPr lvl="1" algn="ctr">
                <a:spcBef>
                  <a:spcPct val="0"/>
                </a:spcBef>
                <a:spcAft>
                  <a:spcPct val="0"/>
                </a:spcAft>
              </a:pPr>
              <a:t>0.42</a:t>
            </a:fld>
            <a:endParaRPr lang="en-IN" b="0" noProof="0" dirty="0">
              <a:sym typeface="+mn-lt"/>
            </a:endParaRPr>
          </a:p>
        </p:txBody>
      </p:sp>
      <p:sp>
        <p:nvSpPr>
          <p:cNvPr id="234" name="StandardTextbox"/>
          <p:cNvSpPr>
            <a:spLocks noGrp="1"/>
          </p:cNvSpPr>
          <p:nvPr>
            <p:custDataLst>
              <p:tags r:id="rId110"/>
            </p:custDataLst>
          </p:nvPr>
        </p:nvSpPr>
        <p:spPr bwMode="gray">
          <a:xfrm>
            <a:off x="7034213" y="5200650"/>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F7E10BC-D391-4B51-ABF0-6A14AB31B9DE}" type="datetime'''0''''.''''21'''''">
              <a:rPr lang="en-IN" altLang="en-US" b="0" smtClean="0">
                <a:sym typeface="+mn-lt"/>
              </a:rPr>
              <a:pPr lvl="1" algn="ctr">
                <a:spcBef>
                  <a:spcPct val="0"/>
                </a:spcBef>
                <a:spcAft>
                  <a:spcPct val="0"/>
                </a:spcAft>
              </a:pPr>
              <a:t>0.21</a:t>
            </a:fld>
            <a:endParaRPr lang="en-IN" b="0" noProof="0" dirty="0">
              <a:sym typeface="+mn-lt"/>
            </a:endParaRPr>
          </a:p>
        </p:txBody>
      </p:sp>
      <p:sp>
        <p:nvSpPr>
          <p:cNvPr id="297" name="StandardTextbox"/>
          <p:cNvSpPr>
            <a:spLocks noGrp="1"/>
          </p:cNvSpPr>
          <p:nvPr>
            <p:custDataLst>
              <p:tags r:id="rId111"/>
            </p:custDataLst>
          </p:nvPr>
        </p:nvSpPr>
        <p:spPr bwMode="gray">
          <a:xfrm>
            <a:off x="8893175" y="4292600"/>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06A31FD6-A686-4711-A87B-2BB40F7F1334}" type="datetime'''''''''''''0''''''''''''''''''''''''''''''''''.4''''''''5'">
              <a:rPr lang="en-IN" altLang="en-US" b="0" smtClean="0">
                <a:sym typeface="+mn-lt"/>
              </a:rPr>
              <a:pPr lvl="1" algn="ctr">
                <a:spcBef>
                  <a:spcPct val="0"/>
                </a:spcBef>
                <a:spcAft>
                  <a:spcPct val="0"/>
                </a:spcAft>
              </a:pPr>
              <a:t>0.45</a:t>
            </a:fld>
            <a:endParaRPr lang="en-IN" b="0" noProof="0" dirty="0">
              <a:sym typeface="+mn-lt"/>
            </a:endParaRPr>
          </a:p>
        </p:txBody>
      </p:sp>
      <p:sp useBgFill="1">
        <p:nvSpPr>
          <p:cNvPr id="308" name="StandardTextbox"/>
          <p:cNvSpPr>
            <a:spLocks noGrp="1"/>
          </p:cNvSpPr>
          <p:nvPr>
            <p:custDataLst>
              <p:tags r:id="rId112"/>
            </p:custDataLst>
          </p:nvPr>
        </p:nvSpPr>
        <p:spPr bwMode="gray">
          <a:xfrm>
            <a:off x="9247188" y="4340225"/>
            <a:ext cx="330200" cy="152400"/>
          </a:xfrm>
          <a:prstGeom prst="rect">
            <a:avLst/>
          </a:prstGeom>
          <a:ln>
            <a:noFill/>
          </a:ln>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8BD3975D-8052-41D8-BF6A-7DC25EAC37DB}" type="datetime'0''''''''''.''''''''5''''''0'">
              <a:rPr lang="en-IN" altLang="en-US" b="0" smtClean="0">
                <a:sym typeface="+mn-lt"/>
              </a:rPr>
              <a:pPr lvl="1" algn="ctr">
                <a:spcBef>
                  <a:spcPct val="0"/>
                </a:spcBef>
                <a:spcAft>
                  <a:spcPct val="0"/>
                </a:spcAft>
              </a:pPr>
              <a:t>0.50</a:t>
            </a:fld>
            <a:endParaRPr lang="en-IN" b="0" noProof="0" dirty="0">
              <a:sym typeface="+mn-lt"/>
            </a:endParaRPr>
          </a:p>
        </p:txBody>
      </p:sp>
      <p:sp>
        <p:nvSpPr>
          <p:cNvPr id="309" name="StandardTextbox"/>
          <p:cNvSpPr>
            <a:spLocks noGrp="1"/>
          </p:cNvSpPr>
          <p:nvPr>
            <p:custDataLst>
              <p:tags r:id="rId113"/>
            </p:custDataLst>
          </p:nvPr>
        </p:nvSpPr>
        <p:spPr bwMode="gray">
          <a:xfrm>
            <a:off x="9415463" y="3570288"/>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0597087-07B9-4B2F-B9E6-BBB4C3ADF71B}" type="datetime'''''''0''''''''''''''''''''''''''''''''.''7''''7'''''">
              <a:rPr lang="en-IN" altLang="en-US" b="0" smtClean="0">
                <a:sym typeface="+mn-lt"/>
              </a:rPr>
              <a:pPr lvl="1" algn="ctr">
                <a:spcBef>
                  <a:spcPct val="0"/>
                </a:spcBef>
                <a:spcAft>
                  <a:spcPct val="0"/>
                </a:spcAft>
              </a:pPr>
              <a:t>0.77</a:t>
            </a:fld>
            <a:endParaRPr lang="en-IN" b="0" noProof="0" dirty="0">
              <a:sym typeface="+mn-lt"/>
            </a:endParaRPr>
          </a:p>
        </p:txBody>
      </p:sp>
      <p:sp>
        <p:nvSpPr>
          <p:cNvPr id="310" name="StandardTextbox"/>
          <p:cNvSpPr>
            <a:spLocks noGrp="1"/>
          </p:cNvSpPr>
          <p:nvPr>
            <p:custDataLst>
              <p:tags r:id="rId114"/>
            </p:custDataLst>
          </p:nvPr>
        </p:nvSpPr>
        <p:spPr bwMode="gray">
          <a:xfrm>
            <a:off x="9717088" y="2125663"/>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3E3C8E4-6692-417E-96D9-400B4AE8F070}" type="datetime'''''1''''''''''''.''''''''26'''''">
              <a:rPr lang="en-IN" altLang="en-US" b="0" smtClean="0">
                <a:sym typeface="+mn-lt"/>
              </a:rPr>
              <a:pPr lvl="1" algn="ctr">
                <a:spcBef>
                  <a:spcPct val="0"/>
                </a:spcBef>
                <a:spcAft>
                  <a:spcPct val="0"/>
                </a:spcAft>
              </a:pPr>
              <a:t>1.26</a:t>
            </a:fld>
            <a:endParaRPr lang="en-IN" b="0" noProof="0" dirty="0">
              <a:sym typeface="+mn-lt"/>
            </a:endParaRPr>
          </a:p>
        </p:txBody>
      </p:sp>
      <p:sp>
        <p:nvSpPr>
          <p:cNvPr id="138" name="StandardTextbox"/>
          <p:cNvSpPr>
            <a:spLocks noGrp="1"/>
          </p:cNvSpPr>
          <p:nvPr>
            <p:custDataLst>
              <p:tags r:id="rId115"/>
            </p:custDataLst>
          </p:nvPr>
        </p:nvSpPr>
        <p:spPr bwMode="gray">
          <a:xfrm>
            <a:off x="2798763" y="5618163"/>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72731A2D-25CC-4E9C-A799-BD353C21B29B}" type="datetime'''''''''''''''''''''''''0.''''''0''''''''''7'''''''''''''">
              <a:rPr lang="en-IN" altLang="en-US" b="0" smtClean="0">
                <a:sym typeface="+mn-lt"/>
              </a:rPr>
              <a:pPr lvl="1" algn="ctr">
                <a:spcBef>
                  <a:spcPct val="0"/>
                </a:spcBef>
                <a:spcAft>
                  <a:spcPct val="0"/>
                </a:spcAft>
              </a:pPr>
              <a:t>0.07</a:t>
            </a:fld>
            <a:endParaRPr lang="en-IN" b="0" noProof="0" dirty="0">
              <a:sym typeface="+mn-lt"/>
            </a:endParaRPr>
          </a:p>
        </p:txBody>
      </p:sp>
      <p:sp>
        <p:nvSpPr>
          <p:cNvPr id="211" name="StandardTextbox"/>
          <p:cNvSpPr>
            <a:spLocks noGrp="1"/>
          </p:cNvSpPr>
          <p:nvPr>
            <p:custDataLst>
              <p:tags r:id="rId116"/>
            </p:custDataLst>
          </p:nvPr>
        </p:nvSpPr>
        <p:spPr bwMode="gray">
          <a:xfrm>
            <a:off x="6315075" y="5111750"/>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1EA4D888-BAF1-443D-8ADF-851B09EC0605}" type="datetime'''''''''''''''''''0''''''''''.''''''''1''''''8'">
              <a:rPr lang="en-IN" altLang="en-US" b="0" smtClean="0">
                <a:sym typeface="+mn-lt"/>
              </a:rPr>
              <a:pPr lvl="1" algn="ctr">
                <a:spcBef>
                  <a:spcPct val="0"/>
                </a:spcBef>
                <a:spcAft>
                  <a:spcPct val="0"/>
                </a:spcAft>
              </a:pPr>
              <a:t>0.18</a:t>
            </a:fld>
            <a:endParaRPr lang="en-IN" b="0" noProof="0" dirty="0">
              <a:sym typeface="+mn-lt"/>
            </a:endParaRPr>
          </a:p>
        </p:txBody>
      </p:sp>
      <p:sp>
        <p:nvSpPr>
          <p:cNvPr id="699" name="Title 1"/>
          <p:cNvSpPr>
            <a:spLocks noGrp="1"/>
          </p:cNvSpPr>
          <p:nvPr>
            <p:ph type="title"/>
          </p:nvPr>
        </p:nvSpPr>
        <p:spPr>
          <a:xfrm>
            <a:off x="449264" y="647700"/>
            <a:ext cx="9791700" cy="431800"/>
          </a:xfrm>
        </p:spPr>
        <p:txBody>
          <a:bodyPr/>
          <a:lstStyle/>
          <a:p>
            <a:r>
              <a:rPr lang="en-US" dirty="0"/>
              <a:t>O&amp;M Agreement | Benchmarking O&amp;M Cost for Nimbus (Gas Operation)</a:t>
            </a:r>
            <a:endParaRPr lang="en-IN" dirty="0"/>
          </a:p>
        </p:txBody>
      </p:sp>
      <p:sp>
        <p:nvSpPr>
          <p:cNvPr id="70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NBBL’s Reference Rate Tariff for Variable</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O&amp;M under Gas based operations is lower than most of the actual O&amp;M cost of the BPDB plants and in line with O&amp;M costs for Private Plants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sp>
        <p:nvSpPr>
          <p:cNvPr id="701" name="Rectangle 700"/>
          <p:cNvSpPr/>
          <p:nvPr/>
        </p:nvSpPr>
        <p:spPr bwMode="gray">
          <a:xfrm>
            <a:off x="1770861" y="5492749"/>
            <a:ext cx="313528" cy="645583"/>
          </a:xfrm>
          <a:prstGeom prst="rect">
            <a:avLst/>
          </a:prstGeom>
          <a:noFill/>
          <a:ln w="19050" algn="ctr">
            <a:solidFill>
              <a:srgbClr val="86BC25"/>
            </a:solidFill>
            <a:prstDash val="dash"/>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703" name="Rectangle 702"/>
          <p:cNvSpPr/>
          <p:nvPr/>
        </p:nvSpPr>
        <p:spPr bwMode="gray">
          <a:xfrm>
            <a:off x="377227" y="7260739"/>
            <a:ext cx="9976141" cy="230020"/>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Industry Reports, Deloitte Analysis; Note 1) For Nimbus, the Reference O&amp;M costs has been considered as per PPA and have been converted to local BDT / kWh  at 1 USD = 85 BDT 2) Each bar represents one power plant in the above graph </a:t>
            </a:r>
          </a:p>
        </p:txBody>
      </p:sp>
      <p:sp>
        <p:nvSpPr>
          <p:cNvPr id="303" name="Rectangle 302"/>
          <p:cNvSpPr/>
          <p:nvPr>
            <p:custDataLst>
              <p:tags r:id="rId117"/>
            </p:custDataLst>
          </p:nvPr>
        </p:nvSpPr>
        <p:spPr bwMode="auto">
          <a:xfrm>
            <a:off x="2800350" y="6192838"/>
            <a:ext cx="179388" cy="1333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11" name="Rectangle 310"/>
          <p:cNvSpPr/>
          <p:nvPr>
            <p:custDataLst>
              <p:tags r:id="rId118"/>
            </p:custDataLst>
          </p:nvPr>
        </p:nvSpPr>
        <p:spPr bwMode="auto">
          <a:xfrm>
            <a:off x="6251575" y="6192838"/>
            <a:ext cx="179388" cy="13335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04" name="Rectangle 303"/>
          <p:cNvSpPr/>
          <p:nvPr>
            <p:custDataLst>
              <p:tags r:id="rId119"/>
            </p:custDataLst>
          </p:nvPr>
        </p:nvSpPr>
        <p:spPr bwMode="auto">
          <a:xfrm>
            <a:off x="4738688" y="6192838"/>
            <a:ext cx="179388" cy="133350"/>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332" name="StandardTextbox"/>
          <p:cNvSpPr>
            <a:spLocks noGrp="1"/>
          </p:cNvSpPr>
          <p:nvPr>
            <p:custDataLst>
              <p:tags r:id="rId120"/>
            </p:custDataLst>
          </p:nvPr>
        </p:nvSpPr>
        <p:spPr bwMode="auto">
          <a:xfrm>
            <a:off x="6481763" y="6188075"/>
            <a:ext cx="1219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7BED10B9-3448-4ABF-B1A0-AF31E40B28DC}" type="datetime'''Nim''''''''''bu''s ''''''''''''(T''''''k'''' /'' kWh'''')'''">
              <a:rPr lang="en-IN" altLang="en-US" b="0" smtClean="0">
                <a:sym typeface="+mn-lt"/>
              </a:rPr>
              <a:pPr lvl="1">
                <a:spcBef>
                  <a:spcPct val="0"/>
                </a:spcBef>
                <a:spcAft>
                  <a:spcPct val="0"/>
                </a:spcAft>
              </a:pPr>
              <a:t>Nimbus (Tk / kWh)</a:t>
            </a:fld>
            <a:endParaRPr lang="en-IN" b="0" noProof="0" dirty="0">
              <a:sym typeface="+mn-lt"/>
            </a:endParaRPr>
          </a:p>
        </p:txBody>
      </p:sp>
      <p:sp>
        <p:nvSpPr>
          <p:cNvPr id="120" name="StandardTextbox"/>
          <p:cNvSpPr>
            <a:spLocks noGrp="1"/>
          </p:cNvSpPr>
          <p:nvPr>
            <p:custDataLst>
              <p:tags r:id="rId121"/>
            </p:custDataLst>
          </p:nvPr>
        </p:nvSpPr>
        <p:spPr bwMode="auto">
          <a:xfrm>
            <a:off x="3030538" y="6188075"/>
            <a:ext cx="16065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447D28B7-8241-4CDD-BAEE-60658B274C84}" type="datetime'''''BPDB ''/'' P''ubl''''''''''''ic (Tk'''''' / ''k''''''Wh)'">
              <a:rPr lang="en-IN" altLang="en-US" b="0" smtClean="0">
                <a:sym typeface="+mn-lt"/>
              </a:rPr>
              <a:pPr lvl="1">
                <a:spcBef>
                  <a:spcPct val="0"/>
                </a:spcBef>
                <a:spcAft>
                  <a:spcPct val="0"/>
                </a:spcAft>
              </a:pPr>
              <a:t>BPDB / Public (Tk / kWh)</a:t>
            </a:fld>
            <a:endParaRPr lang="en-IN" b="0" noProof="0" dirty="0">
              <a:sym typeface="+mn-lt"/>
            </a:endParaRPr>
          </a:p>
        </p:txBody>
      </p:sp>
      <p:sp>
        <p:nvSpPr>
          <p:cNvPr id="123" name="StandardTextbox"/>
          <p:cNvSpPr>
            <a:spLocks noGrp="1"/>
          </p:cNvSpPr>
          <p:nvPr>
            <p:custDataLst>
              <p:tags r:id="rId122"/>
            </p:custDataLst>
          </p:nvPr>
        </p:nvSpPr>
        <p:spPr bwMode="auto">
          <a:xfrm>
            <a:off x="4968875" y="6188075"/>
            <a:ext cx="11811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BDD035DD-FE65-4E5A-B6CF-0E79EF29AE78}" type="datetime'Pri''va''''''te'' (''''T''''''''k'''''''' /'''''''''' k''Wh)'">
              <a:rPr lang="en-IN" altLang="en-US" b="0" smtClean="0"/>
              <a:pPr lvl="1">
                <a:spcBef>
                  <a:spcPct val="0"/>
                </a:spcBef>
                <a:spcAft>
                  <a:spcPct val="0"/>
                </a:spcAft>
              </a:pPr>
              <a:t>Private (Tk / kWh)</a:t>
            </a:fld>
            <a:endParaRPr lang="en-IN" b="0" noProof="0" dirty="0">
              <a:sym typeface="+mn-lt"/>
            </a:endParaRPr>
          </a:p>
        </p:txBody>
      </p:sp>
    </p:spTree>
    <p:extLst>
      <p:ext uri="{BB962C8B-B14F-4D97-AF65-F5344CB8AC3E}">
        <p14:creationId xmlns:p14="http://schemas.microsoft.com/office/powerpoint/2010/main" val="426227722"/>
      </p:ext>
    </p:extLst>
  </p:cSld>
  <p:clrMapOvr>
    <a:masterClrMapping/>
  </p:clrMapOvr>
  <p:transition>
    <p:fade/>
  </p:transition>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 name="Object 66" hidden="1"/>
          <p:cNvGraphicFramePr>
            <a:graphicFrameLocks noChangeAspect="1"/>
          </p:cNvGraphicFramePr>
          <p:nvPr>
            <p:custDataLst>
              <p:tags r:id="rId1"/>
            </p:custDataLst>
            <p:extLst>
              <p:ext uri="{D42A27DB-BD31-4B8C-83A1-F6EECF244321}">
                <p14:modId xmlns:p14="http://schemas.microsoft.com/office/powerpoint/2010/main" val="286425378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6" imgW="530" imgH="531" progId="TCLayout.ActiveDocument.1">
                  <p:embed/>
                </p:oleObj>
              </mc:Choice>
              <mc:Fallback>
                <p:oleObj name="think-cell Slide" r:id="rId86" imgW="530" imgH="531" progId="TCLayout.ActiveDocument.1">
                  <p:embed/>
                  <p:pic>
                    <p:nvPicPr>
                      <p:cNvPr id="67" name="Object 66" hidden="1"/>
                      <p:cNvPicPr/>
                      <p:nvPr/>
                    </p:nvPicPr>
                    <p:blipFill>
                      <a:blip r:embed="rId8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702" name="Table 701"/>
          <p:cNvGraphicFramePr>
            <a:graphicFrameLocks noGrp="1"/>
          </p:cNvGraphicFramePr>
          <p:nvPr>
            <p:custDataLst>
              <p:tags r:id="rId3"/>
            </p:custDataLst>
            <p:extLst>
              <p:ext uri="{D42A27DB-BD31-4B8C-83A1-F6EECF244321}">
                <p14:modId xmlns:p14="http://schemas.microsoft.com/office/powerpoint/2010/main" val="936797609"/>
              </p:ext>
            </p:extLst>
          </p:nvPr>
        </p:nvGraphicFramePr>
        <p:xfrm>
          <a:off x="450496" y="1593570"/>
          <a:ext cx="9790467" cy="5279177"/>
        </p:xfrm>
        <a:graphic>
          <a:graphicData uri="http://schemas.openxmlformats.org/drawingml/2006/table">
            <a:tbl>
              <a:tblPr firstRow="1" bandRow="1">
                <a:tableStyleId>{5C22544A-7EE6-4342-B048-85BDC9FD1C3A}</a:tableStyleId>
              </a:tblPr>
              <a:tblGrid>
                <a:gridCol w="9790467">
                  <a:extLst>
                    <a:ext uri="{9D8B030D-6E8A-4147-A177-3AD203B41FA5}">
                      <a16:colId xmlns:a16="http://schemas.microsoft.com/office/drawing/2014/main" val="20000"/>
                    </a:ext>
                  </a:extLst>
                </a:gridCol>
              </a:tblGrid>
              <a:tr h="5279177">
                <a:tc>
                  <a:txBody>
                    <a:bodyPr/>
                    <a:lstStyle/>
                    <a:p>
                      <a:pPr marL="0" indent="0" algn="ctr">
                        <a:spcBef>
                          <a:spcPts val="600"/>
                        </a:spcBef>
                        <a:spcAft>
                          <a:spcPts val="600"/>
                        </a:spcAft>
                        <a:buFont typeface="Arial" panose="020B0604020202020204" pitchFamily="34" charset="0"/>
                        <a:buNone/>
                      </a:pPr>
                      <a:r>
                        <a:rPr lang="en-US" sz="1000" b="1" baseline="0" dirty="0">
                          <a:solidFill>
                            <a:schemeClr val="tx1"/>
                          </a:solidFill>
                        </a:rPr>
                        <a:t>O&amp;M Cost Comparison with Power Plants in Bangladesh (HSD Operation)</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625" name="Rectangle 624"/>
          <p:cNvSpPr/>
          <p:nvPr>
            <p:custDataLst>
              <p:tags r:id="rId4"/>
            </p:custDataLst>
          </p:nvPr>
        </p:nvSpPr>
        <p:spPr bwMode="auto">
          <a:xfrm>
            <a:off x="9244013" y="2549525"/>
            <a:ext cx="771525" cy="343852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24" name="Rectangle 623"/>
          <p:cNvSpPr/>
          <p:nvPr>
            <p:custDataLst>
              <p:tags r:id="rId5"/>
            </p:custDataLst>
          </p:nvPr>
        </p:nvSpPr>
        <p:spPr bwMode="auto">
          <a:xfrm>
            <a:off x="8472488" y="4989513"/>
            <a:ext cx="771525" cy="99853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23" name="Rectangle 622"/>
          <p:cNvSpPr/>
          <p:nvPr>
            <p:custDataLst>
              <p:tags r:id="rId6"/>
            </p:custDataLst>
          </p:nvPr>
        </p:nvSpPr>
        <p:spPr bwMode="auto">
          <a:xfrm>
            <a:off x="7699375" y="5299075"/>
            <a:ext cx="773113" cy="68897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22" name="Rectangle 621"/>
          <p:cNvSpPr/>
          <p:nvPr>
            <p:custDataLst>
              <p:tags r:id="rId7"/>
            </p:custDataLst>
          </p:nvPr>
        </p:nvSpPr>
        <p:spPr bwMode="auto">
          <a:xfrm>
            <a:off x="6927850" y="5691188"/>
            <a:ext cx="771525" cy="296863"/>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21" name="Rectangle 620"/>
          <p:cNvSpPr/>
          <p:nvPr>
            <p:custDataLst>
              <p:tags r:id="rId8"/>
            </p:custDataLst>
          </p:nvPr>
        </p:nvSpPr>
        <p:spPr bwMode="auto">
          <a:xfrm>
            <a:off x="6156325" y="5740400"/>
            <a:ext cx="771525" cy="2476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20" name="Rectangle 619"/>
          <p:cNvSpPr/>
          <p:nvPr>
            <p:custDataLst>
              <p:tags r:id="rId9"/>
            </p:custDataLst>
          </p:nvPr>
        </p:nvSpPr>
        <p:spPr bwMode="auto">
          <a:xfrm>
            <a:off x="5383213" y="5753100"/>
            <a:ext cx="773113" cy="2349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19" name="Rectangle 618"/>
          <p:cNvSpPr/>
          <p:nvPr>
            <p:custDataLst>
              <p:tags r:id="rId10"/>
            </p:custDataLst>
          </p:nvPr>
        </p:nvSpPr>
        <p:spPr bwMode="auto">
          <a:xfrm>
            <a:off x="4611688" y="5815012"/>
            <a:ext cx="771525" cy="173038"/>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5" name="Rectangle 14"/>
          <p:cNvSpPr/>
          <p:nvPr>
            <p:custDataLst>
              <p:tags r:id="rId11"/>
            </p:custDataLst>
          </p:nvPr>
        </p:nvSpPr>
        <p:spPr bwMode="auto">
          <a:xfrm>
            <a:off x="3840163" y="5845175"/>
            <a:ext cx="771525" cy="14287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4" name="Rectangle 13"/>
          <p:cNvSpPr/>
          <p:nvPr>
            <p:custDataLst>
              <p:tags r:id="rId12"/>
            </p:custDataLst>
          </p:nvPr>
        </p:nvSpPr>
        <p:spPr bwMode="auto">
          <a:xfrm>
            <a:off x="3068638" y="5899150"/>
            <a:ext cx="771525" cy="88900"/>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16" name="Rectangle 615"/>
          <p:cNvSpPr/>
          <p:nvPr>
            <p:custDataLst>
              <p:tags r:id="rId13"/>
            </p:custDataLst>
          </p:nvPr>
        </p:nvSpPr>
        <p:spPr bwMode="auto">
          <a:xfrm>
            <a:off x="2297113" y="5899150"/>
            <a:ext cx="771525" cy="88900"/>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6" name="Rectangle 15"/>
          <p:cNvSpPr/>
          <p:nvPr>
            <p:custDataLst>
              <p:tags r:id="rId14"/>
            </p:custDataLst>
          </p:nvPr>
        </p:nvSpPr>
        <p:spPr bwMode="auto">
          <a:xfrm>
            <a:off x="1524000" y="5972175"/>
            <a:ext cx="773113" cy="15875"/>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14" name="Rectangle 613"/>
          <p:cNvSpPr/>
          <p:nvPr>
            <p:custDataLst>
              <p:tags r:id="rId15"/>
            </p:custDataLst>
          </p:nvPr>
        </p:nvSpPr>
        <p:spPr bwMode="auto">
          <a:xfrm>
            <a:off x="752475" y="5984876"/>
            <a:ext cx="771525" cy="3175"/>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cxnSp>
        <p:nvCxnSpPr>
          <p:cNvPr id="613" name="Straight Connector 612"/>
          <p:cNvCxnSpPr/>
          <p:nvPr>
            <p:custDataLst>
              <p:tags r:id="rId16"/>
            </p:custDataLst>
          </p:nvPr>
        </p:nvCxnSpPr>
        <p:spPr bwMode="auto">
          <a:xfrm>
            <a:off x="747712" y="5988050"/>
            <a:ext cx="9272588"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5" name="Straight Connector 694"/>
          <p:cNvCxnSpPr/>
          <p:nvPr>
            <p:custDataLst>
              <p:tags r:id="rId17"/>
            </p:custDataLst>
          </p:nvPr>
        </p:nvCxnSpPr>
        <p:spPr bwMode="auto">
          <a:xfrm flipV="1">
            <a:off x="8626475"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2" name="Straight Connector 671"/>
          <p:cNvCxnSpPr/>
          <p:nvPr>
            <p:custDataLst>
              <p:tags r:id="rId18"/>
            </p:custDataLst>
          </p:nvPr>
        </p:nvCxnSpPr>
        <p:spPr bwMode="auto">
          <a:xfrm flipV="1">
            <a:off x="752475" y="2333625"/>
            <a:ext cx="0" cy="3659188"/>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custDataLst>
              <p:tags r:id="rId19"/>
            </p:custDataLst>
          </p:nvPr>
        </p:nvCxnSpPr>
        <p:spPr bwMode="auto">
          <a:xfrm>
            <a:off x="709613" y="3460750"/>
            <a:ext cx="42862"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8" name="Straight Connector 687"/>
          <p:cNvCxnSpPr/>
          <p:nvPr>
            <p:custDataLst>
              <p:tags r:id="rId20"/>
            </p:custDataLst>
          </p:nvPr>
        </p:nvCxnSpPr>
        <p:spPr bwMode="auto">
          <a:xfrm flipV="1">
            <a:off x="2141538"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5" name="Straight Connector 564"/>
          <p:cNvCxnSpPr/>
          <p:nvPr>
            <p:custDataLst>
              <p:tags r:id="rId21"/>
            </p:custDataLst>
          </p:nvPr>
        </p:nvCxnSpPr>
        <p:spPr bwMode="auto">
          <a:xfrm flipV="1">
            <a:off x="1679575"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custDataLst>
              <p:tags r:id="rId22"/>
            </p:custDataLst>
          </p:nvPr>
        </p:nvCxnSpPr>
        <p:spPr bwMode="auto">
          <a:xfrm flipV="1">
            <a:off x="752475"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custDataLst>
              <p:tags r:id="rId23"/>
            </p:custDataLst>
          </p:nvPr>
        </p:nvCxnSpPr>
        <p:spPr bwMode="auto">
          <a:xfrm>
            <a:off x="709613" y="3181350"/>
            <a:ext cx="42862"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7" name="Straight Connector 686"/>
          <p:cNvCxnSpPr/>
          <p:nvPr>
            <p:custDataLst>
              <p:tags r:id="rId24"/>
            </p:custDataLst>
          </p:nvPr>
        </p:nvCxnSpPr>
        <p:spPr bwMode="auto">
          <a:xfrm flipV="1">
            <a:off x="1216025"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6" name="Straight Connector 445"/>
          <p:cNvCxnSpPr/>
          <p:nvPr>
            <p:custDataLst>
              <p:tags r:id="rId25"/>
            </p:custDataLst>
          </p:nvPr>
        </p:nvCxnSpPr>
        <p:spPr bwMode="auto">
          <a:xfrm flipV="1">
            <a:off x="2605088"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9" name="Straight Connector 688"/>
          <p:cNvCxnSpPr/>
          <p:nvPr>
            <p:custDataLst>
              <p:tags r:id="rId26"/>
            </p:custDataLst>
          </p:nvPr>
        </p:nvCxnSpPr>
        <p:spPr bwMode="auto">
          <a:xfrm flipV="1">
            <a:off x="3068638"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8" name="Straight Connector 567"/>
          <p:cNvCxnSpPr/>
          <p:nvPr>
            <p:custDataLst>
              <p:tags r:id="rId27"/>
            </p:custDataLst>
          </p:nvPr>
        </p:nvCxnSpPr>
        <p:spPr bwMode="auto">
          <a:xfrm flipV="1">
            <a:off x="3532188"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0" name="Straight Connector 689"/>
          <p:cNvCxnSpPr/>
          <p:nvPr>
            <p:custDataLst>
              <p:tags r:id="rId28"/>
            </p:custDataLst>
          </p:nvPr>
        </p:nvCxnSpPr>
        <p:spPr bwMode="auto">
          <a:xfrm flipV="1">
            <a:off x="3994150"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custDataLst>
              <p:tags r:id="rId29"/>
            </p:custDataLst>
          </p:nvPr>
        </p:nvCxnSpPr>
        <p:spPr bwMode="auto">
          <a:xfrm>
            <a:off x="709613" y="2900363"/>
            <a:ext cx="42862"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7" name="Straight Connector 446"/>
          <p:cNvCxnSpPr/>
          <p:nvPr>
            <p:custDataLst>
              <p:tags r:id="rId30"/>
            </p:custDataLst>
          </p:nvPr>
        </p:nvCxnSpPr>
        <p:spPr bwMode="auto">
          <a:xfrm flipV="1">
            <a:off x="4457700"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1" name="Straight Connector 690"/>
          <p:cNvCxnSpPr/>
          <p:nvPr>
            <p:custDataLst>
              <p:tags r:id="rId31"/>
            </p:custDataLst>
          </p:nvPr>
        </p:nvCxnSpPr>
        <p:spPr bwMode="auto">
          <a:xfrm flipV="1">
            <a:off x="4921250"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1" name="Straight Connector 570"/>
          <p:cNvCxnSpPr/>
          <p:nvPr>
            <p:custDataLst>
              <p:tags r:id="rId32"/>
            </p:custDataLst>
          </p:nvPr>
        </p:nvCxnSpPr>
        <p:spPr bwMode="auto">
          <a:xfrm flipV="1">
            <a:off x="5384800"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2" name="Straight Connector 691"/>
          <p:cNvCxnSpPr/>
          <p:nvPr>
            <p:custDataLst>
              <p:tags r:id="rId33"/>
            </p:custDataLst>
          </p:nvPr>
        </p:nvCxnSpPr>
        <p:spPr bwMode="auto">
          <a:xfrm flipV="1">
            <a:off x="5846763"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8" name="Straight Connector 447"/>
          <p:cNvCxnSpPr/>
          <p:nvPr>
            <p:custDataLst>
              <p:tags r:id="rId34"/>
            </p:custDataLst>
          </p:nvPr>
        </p:nvCxnSpPr>
        <p:spPr bwMode="auto">
          <a:xfrm flipV="1">
            <a:off x="6310313"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3" name="Straight Connector 692"/>
          <p:cNvCxnSpPr/>
          <p:nvPr>
            <p:custDataLst>
              <p:tags r:id="rId35"/>
            </p:custDataLst>
          </p:nvPr>
        </p:nvCxnSpPr>
        <p:spPr bwMode="auto">
          <a:xfrm flipV="1">
            <a:off x="6773863"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custDataLst>
              <p:tags r:id="rId36"/>
            </p:custDataLst>
          </p:nvPr>
        </p:nvCxnSpPr>
        <p:spPr bwMode="auto">
          <a:xfrm>
            <a:off x="709613" y="2338388"/>
            <a:ext cx="42862"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4" name="Straight Connector 573"/>
          <p:cNvCxnSpPr/>
          <p:nvPr>
            <p:custDataLst>
              <p:tags r:id="rId37"/>
            </p:custDataLst>
          </p:nvPr>
        </p:nvCxnSpPr>
        <p:spPr bwMode="auto">
          <a:xfrm flipV="1">
            <a:off x="7237413"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4" name="Straight Connector 693"/>
          <p:cNvCxnSpPr/>
          <p:nvPr>
            <p:custDataLst>
              <p:tags r:id="rId38"/>
            </p:custDataLst>
          </p:nvPr>
        </p:nvCxnSpPr>
        <p:spPr bwMode="auto">
          <a:xfrm flipV="1">
            <a:off x="7699375"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9" name="Straight Connector 448"/>
          <p:cNvCxnSpPr/>
          <p:nvPr>
            <p:custDataLst>
              <p:tags r:id="rId39"/>
            </p:custDataLst>
          </p:nvPr>
        </p:nvCxnSpPr>
        <p:spPr bwMode="auto">
          <a:xfrm flipV="1">
            <a:off x="8162925"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7" name="Straight Connector 576"/>
          <p:cNvCxnSpPr/>
          <p:nvPr>
            <p:custDataLst>
              <p:tags r:id="rId40"/>
            </p:custDataLst>
          </p:nvPr>
        </p:nvCxnSpPr>
        <p:spPr bwMode="auto">
          <a:xfrm flipV="1">
            <a:off x="9090025"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6" name="Straight Connector 695"/>
          <p:cNvCxnSpPr/>
          <p:nvPr>
            <p:custDataLst>
              <p:tags r:id="rId41"/>
            </p:custDataLst>
          </p:nvPr>
        </p:nvCxnSpPr>
        <p:spPr bwMode="auto">
          <a:xfrm flipV="1">
            <a:off x="9551988"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0" name="Straight Connector 449"/>
          <p:cNvCxnSpPr/>
          <p:nvPr>
            <p:custDataLst>
              <p:tags r:id="rId42"/>
            </p:custDataLst>
          </p:nvPr>
        </p:nvCxnSpPr>
        <p:spPr bwMode="auto">
          <a:xfrm flipV="1">
            <a:off x="10015538" y="5988050"/>
            <a:ext cx="0" cy="42863"/>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8" name="Straight Connector 677"/>
          <p:cNvCxnSpPr/>
          <p:nvPr>
            <p:custDataLst>
              <p:tags r:id="rId43"/>
            </p:custDataLst>
          </p:nvPr>
        </p:nvCxnSpPr>
        <p:spPr bwMode="auto">
          <a:xfrm>
            <a:off x="709613" y="5707063"/>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3" name="Straight Connector 682"/>
          <p:cNvCxnSpPr/>
          <p:nvPr>
            <p:custDataLst>
              <p:tags r:id="rId44"/>
            </p:custDataLst>
          </p:nvPr>
        </p:nvCxnSpPr>
        <p:spPr bwMode="auto">
          <a:xfrm>
            <a:off x="709613" y="5426075"/>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3" name="Straight Connector 672"/>
          <p:cNvCxnSpPr/>
          <p:nvPr>
            <p:custDataLst>
              <p:tags r:id="rId45"/>
            </p:custDataLst>
          </p:nvPr>
        </p:nvCxnSpPr>
        <p:spPr bwMode="auto">
          <a:xfrm>
            <a:off x="709613" y="5988050"/>
            <a:ext cx="42863"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custDataLst>
              <p:tags r:id="rId46"/>
            </p:custDataLst>
          </p:nvPr>
        </p:nvCxnSpPr>
        <p:spPr bwMode="auto">
          <a:xfrm>
            <a:off x="709613" y="2619375"/>
            <a:ext cx="42862"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 name="Straight Connector 1"/>
          <p:cNvCxnSpPr/>
          <p:nvPr>
            <p:custDataLst>
              <p:tags r:id="rId47"/>
            </p:custDataLst>
          </p:nvPr>
        </p:nvCxnSpPr>
        <p:spPr bwMode="auto">
          <a:xfrm>
            <a:off x="709613" y="5145088"/>
            <a:ext cx="42862"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 name="Straight Connector 3"/>
          <p:cNvCxnSpPr/>
          <p:nvPr>
            <p:custDataLst>
              <p:tags r:id="rId48"/>
            </p:custDataLst>
          </p:nvPr>
        </p:nvCxnSpPr>
        <p:spPr bwMode="auto">
          <a:xfrm>
            <a:off x="709613" y="4865688"/>
            <a:ext cx="42862"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custDataLst>
              <p:tags r:id="rId49"/>
            </p:custDataLst>
          </p:nvPr>
        </p:nvCxnSpPr>
        <p:spPr bwMode="auto">
          <a:xfrm>
            <a:off x="709613" y="4584700"/>
            <a:ext cx="42862"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custDataLst>
              <p:tags r:id="rId50"/>
            </p:custDataLst>
          </p:nvPr>
        </p:nvCxnSpPr>
        <p:spPr bwMode="auto">
          <a:xfrm>
            <a:off x="709613" y="4303713"/>
            <a:ext cx="42862"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custDataLst>
              <p:tags r:id="rId51"/>
            </p:custDataLst>
          </p:nvPr>
        </p:nvCxnSpPr>
        <p:spPr bwMode="auto">
          <a:xfrm>
            <a:off x="709613" y="4022725"/>
            <a:ext cx="42862"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custDataLst>
              <p:tags r:id="rId52"/>
            </p:custDataLst>
          </p:nvPr>
        </p:nvCxnSpPr>
        <p:spPr bwMode="auto">
          <a:xfrm>
            <a:off x="709613" y="3741738"/>
            <a:ext cx="42862" cy="0"/>
          </a:xfrm>
          <a:prstGeom prst="line">
            <a:avLst/>
          </a:pr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2" name="StandardTextbox"/>
          <p:cNvSpPr>
            <a:spLocks noGrp="1"/>
          </p:cNvSpPr>
          <p:nvPr>
            <p:custDataLst>
              <p:tags r:id="rId53"/>
            </p:custDataLst>
          </p:nvPr>
        </p:nvSpPr>
        <p:spPr bwMode="gray">
          <a:xfrm>
            <a:off x="415926" y="2824163"/>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90D945E6-7C20-479B-8F82-95FBAE77E0B3}" type="datetime'''''''''''''''''''5''''''''''''''''.''''''''5'''''">
              <a:rPr lang="en-IN" altLang="en-US" b="0" smtClean="0">
                <a:sym typeface="+mn-lt"/>
              </a:rPr>
              <a:pPr lvl="1" algn="r">
                <a:spcBef>
                  <a:spcPct val="0"/>
                </a:spcBef>
                <a:spcAft>
                  <a:spcPct val="0"/>
                </a:spcAft>
              </a:pPr>
              <a:t>5.5</a:t>
            </a:fld>
            <a:endParaRPr lang="en-IN" b="0" noProof="0" dirty="0">
              <a:sym typeface="+mn-lt"/>
            </a:endParaRPr>
          </a:p>
        </p:txBody>
      </p:sp>
      <p:sp>
        <p:nvSpPr>
          <p:cNvPr id="668" name="StandardTextbox"/>
          <p:cNvSpPr>
            <a:spLocks noGrp="1"/>
          </p:cNvSpPr>
          <p:nvPr>
            <p:custDataLst>
              <p:tags r:id="rId54"/>
            </p:custDataLst>
          </p:nvPr>
        </p:nvSpPr>
        <p:spPr bwMode="gray">
          <a:xfrm>
            <a:off x="415925" y="5349875"/>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F506733C-FF1C-4800-AFB7-B57D4F0ABDE2}" type="datetime'''''''''1''''''.''''''''''0'''''''''''''''''''''''">
              <a:rPr lang="en-IN" altLang="en-US" b="0" smtClean="0"/>
              <a:pPr lvl="1" algn="r">
                <a:spcBef>
                  <a:spcPct val="0"/>
                </a:spcBef>
                <a:spcAft>
                  <a:spcPct val="0"/>
                </a:spcAft>
              </a:pPr>
              <a:t>1.0</a:t>
            </a:fld>
            <a:endParaRPr lang="en-IN" b="0" noProof="0" dirty="0">
              <a:sym typeface="+mn-lt"/>
            </a:endParaRPr>
          </a:p>
        </p:txBody>
      </p:sp>
      <p:sp>
        <p:nvSpPr>
          <p:cNvPr id="110" name="StandardTextbox"/>
          <p:cNvSpPr>
            <a:spLocks noGrp="1"/>
          </p:cNvSpPr>
          <p:nvPr>
            <p:custDataLst>
              <p:tags r:id="rId55"/>
            </p:custDataLst>
          </p:nvPr>
        </p:nvSpPr>
        <p:spPr bwMode="gray">
          <a:xfrm>
            <a:off x="415926" y="3384550"/>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E2CE5960-6D2A-4F8C-9992-9346D0309F53}" type="datetime'''''''''''''''''''''''''''''''''''''4''''''''''''.''''5'''''''">
              <a:rPr lang="en-IN" altLang="en-US" b="0" smtClean="0">
                <a:sym typeface="+mn-lt"/>
              </a:rPr>
              <a:pPr lvl="1" algn="r">
                <a:spcBef>
                  <a:spcPct val="0"/>
                </a:spcBef>
                <a:spcAft>
                  <a:spcPct val="0"/>
                </a:spcAft>
              </a:pPr>
              <a:t>4.5</a:t>
            </a:fld>
            <a:endParaRPr lang="en-IN" b="0" noProof="0" dirty="0">
              <a:sym typeface="+mn-lt"/>
            </a:endParaRPr>
          </a:p>
        </p:txBody>
      </p:sp>
      <p:sp>
        <p:nvSpPr>
          <p:cNvPr id="106" name="StandardTextbox"/>
          <p:cNvSpPr>
            <a:spLocks noGrp="1"/>
          </p:cNvSpPr>
          <p:nvPr>
            <p:custDataLst>
              <p:tags r:id="rId56"/>
            </p:custDataLst>
          </p:nvPr>
        </p:nvSpPr>
        <p:spPr bwMode="gray">
          <a:xfrm>
            <a:off x="415926" y="4508500"/>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69A1CB92-2C79-45A9-AADA-74CCEC50A268}" type="datetime'''2''''''''''''''''.''''''''''''''''''''''5'''''''''">
              <a:rPr lang="en-IN" altLang="en-US" b="0" smtClean="0">
                <a:sym typeface="+mn-lt"/>
              </a:rPr>
              <a:pPr lvl="1" algn="r">
                <a:spcBef>
                  <a:spcPct val="0"/>
                </a:spcBef>
                <a:spcAft>
                  <a:spcPct val="0"/>
                </a:spcAft>
              </a:pPr>
              <a:t>2.5</a:t>
            </a:fld>
            <a:endParaRPr lang="en-IN" b="0" noProof="0" dirty="0">
              <a:sym typeface="+mn-lt"/>
            </a:endParaRPr>
          </a:p>
        </p:txBody>
      </p:sp>
      <p:sp>
        <p:nvSpPr>
          <p:cNvPr id="104" name="StandardTextbox"/>
          <p:cNvSpPr>
            <a:spLocks noGrp="1"/>
          </p:cNvSpPr>
          <p:nvPr>
            <p:custDataLst>
              <p:tags r:id="rId57"/>
            </p:custDataLst>
          </p:nvPr>
        </p:nvSpPr>
        <p:spPr bwMode="gray">
          <a:xfrm>
            <a:off x="415926" y="5068888"/>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3A02B1DE-458B-4D49-ADB6-9B77F94CC1DE}" type="datetime'''''''''''''''''''''''''''''''''1''''''''''''''''.5'''''''''">
              <a:rPr lang="en-IN" altLang="en-US" b="0" smtClean="0">
                <a:sym typeface="+mn-lt"/>
              </a:rPr>
              <a:pPr lvl="1" algn="r">
                <a:spcBef>
                  <a:spcPct val="0"/>
                </a:spcBef>
                <a:spcAft>
                  <a:spcPct val="0"/>
                </a:spcAft>
              </a:pPr>
              <a:t>1.5</a:t>
            </a:fld>
            <a:endParaRPr lang="en-IN" b="0" noProof="0" dirty="0">
              <a:sym typeface="+mn-lt"/>
            </a:endParaRPr>
          </a:p>
        </p:txBody>
      </p:sp>
      <p:sp>
        <p:nvSpPr>
          <p:cNvPr id="113" name="StandardTextbox"/>
          <p:cNvSpPr>
            <a:spLocks noGrp="1"/>
          </p:cNvSpPr>
          <p:nvPr>
            <p:custDataLst>
              <p:tags r:id="rId58"/>
            </p:custDataLst>
          </p:nvPr>
        </p:nvSpPr>
        <p:spPr bwMode="gray">
          <a:xfrm>
            <a:off x="415926" y="2543175"/>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91592FAA-23C6-4C82-98D6-E0DFAAEDB68D}" type="datetime'''''''''6''''''''''''''.''''''''''0'''''''">
              <a:rPr lang="en-IN" altLang="en-US" b="0" smtClean="0">
                <a:sym typeface="+mn-lt"/>
              </a:rPr>
              <a:pPr lvl="1" algn="r">
                <a:spcBef>
                  <a:spcPct val="0"/>
                </a:spcBef>
                <a:spcAft>
                  <a:spcPct val="0"/>
                </a:spcAft>
              </a:pPr>
              <a:t>6.0</a:t>
            </a:fld>
            <a:endParaRPr lang="en-IN" b="0" noProof="0" dirty="0">
              <a:sym typeface="+mn-lt"/>
            </a:endParaRPr>
          </a:p>
        </p:txBody>
      </p:sp>
      <p:sp>
        <p:nvSpPr>
          <p:cNvPr id="105" name="StandardTextbox"/>
          <p:cNvSpPr>
            <a:spLocks noGrp="1"/>
          </p:cNvSpPr>
          <p:nvPr>
            <p:custDataLst>
              <p:tags r:id="rId59"/>
            </p:custDataLst>
          </p:nvPr>
        </p:nvSpPr>
        <p:spPr bwMode="gray">
          <a:xfrm>
            <a:off x="415926" y="4789488"/>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DF958362-1CE1-448E-880F-2C2327079F29}" type="datetime'''2''''''''''''''''''''''''''''''''.''''0'''''">
              <a:rPr lang="en-IN" altLang="en-US" b="0" smtClean="0">
                <a:sym typeface="+mn-lt"/>
              </a:rPr>
              <a:pPr lvl="1" algn="r">
                <a:spcBef>
                  <a:spcPct val="0"/>
                </a:spcBef>
                <a:spcAft>
                  <a:spcPct val="0"/>
                </a:spcAft>
              </a:pPr>
              <a:t>2.0</a:t>
            </a:fld>
            <a:endParaRPr lang="en-IN" b="0" noProof="0" dirty="0">
              <a:sym typeface="+mn-lt"/>
            </a:endParaRPr>
          </a:p>
        </p:txBody>
      </p:sp>
      <p:sp>
        <p:nvSpPr>
          <p:cNvPr id="107" name="StandardTextbox"/>
          <p:cNvSpPr>
            <a:spLocks noGrp="1"/>
          </p:cNvSpPr>
          <p:nvPr>
            <p:custDataLst>
              <p:tags r:id="rId60"/>
            </p:custDataLst>
          </p:nvPr>
        </p:nvSpPr>
        <p:spPr bwMode="gray">
          <a:xfrm>
            <a:off x="415926" y="4227513"/>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992E6ACB-C6E5-4362-A070-E331C663ADC7}" type="datetime'''''''''''3''''''.''''''''0'''''''''''''''''">
              <a:rPr lang="en-IN" altLang="en-US" b="0" smtClean="0">
                <a:sym typeface="+mn-lt"/>
              </a:rPr>
              <a:pPr lvl="1" algn="r">
                <a:spcBef>
                  <a:spcPct val="0"/>
                </a:spcBef>
                <a:spcAft>
                  <a:spcPct val="0"/>
                </a:spcAft>
              </a:pPr>
              <a:t>3.0</a:t>
            </a:fld>
            <a:endParaRPr lang="en-IN" b="0" noProof="0" dirty="0">
              <a:sym typeface="+mn-lt"/>
            </a:endParaRPr>
          </a:p>
        </p:txBody>
      </p:sp>
      <p:sp>
        <p:nvSpPr>
          <p:cNvPr id="108" name="StandardTextbox"/>
          <p:cNvSpPr>
            <a:spLocks noGrp="1"/>
          </p:cNvSpPr>
          <p:nvPr>
            <p:custDataLst>
              <p:tags r:id="rId61"/>
            </p:custDataLst>
          </p:nvPr>
        </p:nvSpPr>
        <p:spPr bwMode="gray">
          <a:xfrm>
            <a:off x="415926" y="3946525"/>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27259E1F-BE93-4A72-91C2-4A1B4BDC70B8}" type="datetime'''''3''.''''''''''''''''''''5'''''">
              <a:rPr lang="en-IN" altLang="en-US" b="0" smtClean="0">
                <a:sym typeface="+mn-lt"/>
              </a:rPr>
              <a:pPr lvl="1" algn="r">
                <a:spcBef>
                  <a:spcPct val="0"/>
                </a:spcBef>
                <a:spcAft>
                  <a:spcPct val="0"/>
                </a:spcAft>
              </a:pPr>
              <a:t>3.5</a:t>
            </a:fld>
            <a:endParaRPr lang="en-IN" b="0" noProof="0" dirty="0">
              <a:sym typeface="+mn-lt"/>
            </a:endParaRPr>
          </a:p>
        </p:txBody>
      </p:sp>
      <p:sp>
        <p:nvSpPr>
          <p:cNvPr id="109" name="StandardTextbox"/>
          <p:cNvSpPr>
            <a:spLocks noGrp="1"/>
          </p:cNvSpPr>
          <p:nvPr>
            <p:custDataLst>
              <p:tags r:id="rId62"/>
            </p:custDataLst>
          </p:nvPr>
        </p:nvSpPr>
        <p:spPr bwMode="gray">
          <a:xfrm>
            <a:off x="415926" y="3665538"/>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7272D3C8-7060-4303-85DF-3B701C8DC37B}" type="datetime'''''''4''''''''''''''''.''''0'''''''''">
              <a:rPr lang="en-IN" altLang="en-US" b="0" smtClean="0">
                <a:sym typeface="+mn-lt"/>
              </a:rPr>
              <a:pPr lvl="1" algn="r">
                <a:spcBef>
                  <a:spcPct val="0"/>
                </a:spcBef>
                <a:spcAft>
                  <a:spcPct val="0"/>
                </a:spcAft>
              </a:pPr>
              <a:t>4.0</a:t>
            </a:fld>
            <a:endParaRPr lang="en-IN" b="0" noProof="0" dirty="0">
              <a:sym typeface="+mn-lt"/>
            </a:endParaRPr>
          </a:p>
        </p:txBody>
      </p:sp>
      <p:sp>
        <p:nvSpPr>
          <p:cNvPr id="111" name="StandardTextbox"/>
          <p:cNvSpPr>
            <a:spLocks noGrp="1"/>
          </p:cNvSpPr>
          <p:nvPr>
            <p:custDataLst>
              <p:tags r:id="rId63"/>
            </p:custDataLst>
          </p:nvPr>
        </p:nvSpPr>
        <p:spPr bwMode="gray">
          <a:xfrm>
            <a:off x="415926" y="3105150"/>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F0910986-8F93-4834-B58A-9142547B0C5C}" type="datetime'''''''''''''''''''''''5''''.''''''''0'''''''''''''''''">
              <a:rPr lang="en-IN" altLang="en-US" b="0" smtClean="0">
                <a:sym typeface="+mn-lt"/>
              </a:rPr>
              <a:pPr lvl="1" algn="r">
                <a:spcBef>
                  <a:spcPct val="0"/>
                </a:spcBef>
                <a:spcAft>
                  <a:spcPct val="0"/>
                </a:spcAft>
              </a:pPr>
              <a:t>5.0</a:t>
            </a:fld>
            <a:endParaRPr lang="en-IN" b="0" noProof="0" dirty="0">
              <a:sym typeface="+mn-lt"/>
            </a:endParaRPr>
          </a:p>
        </p:txBody>
      </p:sp>
      <p:sp>
        <p:nvSpPr>
          <p:cNvPr id="114" name="StandardTextbox"/>
          <p:cNvSpPr>
            <a:spLocks noGrp="1"/>
          </p:cNvSpPr>
          <p:nvPr>
            <p:custDataLst>
              <p:tags r:id="rId64"/>
            </p:custDataLst>
          </p:nvPr>
        </p:nvSpPr>
        <p:spPr bwMode="gray">
          <a:xfrm>
            <a:off x="415926" y="2262188"/>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28DB6573-330D-47F5-A2AF-13D4AB38A22F}" type="datetime'''''''''''''6''''''''''''''''''''''''''''.5'''''''''''''''">
              <a:rPr lang="en-IN" altLang="en-US" b="0" smtClean="0">
                <a:sym typeface="+mn-lt"/>
              </a:rPr>
              <a:pPr lvl="1" algn="r">
                <a:spcBef>
                  <a:spcPct val="0"/>
                </a:spcBef>
                <a:spcAft>
                  <a:spcPct val="0"/>
                </a:spcAft>
              </a:pPr>
              <a:t>6.5</a:t>
            </a:fld>
            <a:endParaRPr lang="en-IN" b="0" noProof="0" dirty="0">
              <a:sym typeface="+mn-lt"/>
            </a:endParaRPr>
          </a:p>
        </p:txBody>
      </p:sp>
      <p:sp>
        <p:nvSpPr>
          <p:cNvPr id="663" name="StandardTextbox"/>
          <p:cNvSpPr>
            <a:spLocks noGrp="1"/>
          </p:cNvSpPr>
          <p:nvPr>
            <p:custDataLst>
              <p:tags r:id="rId65"/>
            </p:custDataLst>
          </p:nvPr>
        </p:nvSpPr>
        <p:spPr bwMode="gray">
          <a:xfrm>
            <a:off x="415925" y="5630863"/>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80884CF0-FA65-4333-B0F4-3DA9784DC0FC}" type="datetime'''''''''''''''''''''0''''''''''''''''''.5'''''''''''">
              <a:rPr lang="en-IN" altLang="en-US" b="0" smtClean="0"/>
              <a:pPr lvl="1" algn="r">
                <a:spcBef>
                  <a:spcPct val="0"/>
                </a:spcBef>
                <a:spcAft>
                  <a:spcPct val="0"/>
                </a:spcAft>
              </a:pPr>
              <a:t>0.5</a:t>
            </a:fld>
            <a:endParaRPr lang="en-IN" b="0" noProof="0" dirty="0">
              <a:sym typeface="+mn-lt"/>
            </a:endParaRPr>
          </a:p>
        </p:txBody>
      </p:sp>
      <p:sp>
        <p:nvSpPr>
          <p:cNvPr id="658" name="StandardTextbox"/>
          <p:cNvSpPr>
            <a:spLocks noGrp="1"/>
          </p:cNvSpPr>
          <p:nvPr>
            <p:custDataLst>
              <p:tags r:id="rId66"/>
            </p:custDataLst>
          </p:nvPr>
        </p:nvSpPr>
        <p:spPr bwMode="gray">
          <a:xfrm>
            <a:off x="415925" y="5911850"/>
            <a:ext cx="20796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41A5FBBF-07F5-414E-A799-D0D146864E99}" type="datetime'''''''''''''0''''''''''''''''''''.0'''''''''''''''''''''''''''">
              <a:rPr lang="en-IN" altLang="en-US" b="0" smtClean="0"/>
              <a:pPr lvl="1" algn="r">
                <a:spcBef>
                  <a:spcPct val="0"/>
                </a:spcBef>
                <a:spcAft>
                  <a:spcPct val="0"/>
                </a:spcAft>
              </a:pPr>
              <a:t>0.0</a:t>
            </a:fld>
            <a:endParaRPr lang="en-IN" b="0" noProof="0" dirty="0">
              <a:sym typeface="+mn-lt"/>
            </a:endParaRPr>
          </a:p>
        </p:txBody>
      </p:sp>
      <p:sp>
        <p:nvSpPr>
          <p:cNvPr id="643" name="StandardTextbox"/>
          <p:cNvSpPr>
            <a:spLocks noGrp="1"/>
          </p:cNvSpPr>
          <p:nvPr>
            <p:custDataLst>
              <p:tags r:id="rId67"/>
            </p:custDataLst>
          </p:nvPr>
        </p:nvSpPr>
        <p:spPr bwMode="gray">
          <a:xfrm>
            <a:off x="8693150" y="4811713"/>
            <a:ext cx="330200" cy="152400"/>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C27B74B-06DD-451D-90BF-BFAB5FD18473}" type="datetime'''''''''''''''''''''''''''1.''''''''''''''''''''7''''''8'''">
              <a:rPr lang="en-IN" altLang="en-US" b="0" smtClean="0"/>
              <a:pPr lvl="1" algn="ctr">
                <a:spcBef>
                  <a:spcPct val="0"/>
                </a:spcBef>
                <a:spcAft>
                  <a:spcPct val="0"/>
                </a:spcAft>
              </a:pPr>
              <a:t>1.78</a:t>
            </a:fld>
            <a:endParaRPr lang="en-IN" b="0" noProof="0" dirty="0">
              <a:sym typeface="+mn-lt"/>
            </a:endParaRPr>
          </a:p>
        </p:txBody>
      </p:sp>
      <p:sp>
        <p:nvSpPr>
          <p:cNvPr id="644" name="StandardTextbox"/>
          <p:cNvSpPr>
            <a:spLocks noGrp="1"/>
          </p:cNvSpPr>
          <p:nvPr>
            <p:custDataLst>
              <p:tags r:id="rId68"/>
            </p:custDataLst>
          </p:nvPr>
        </p:nvSpPr>
        <p:spPr bwMode="gray">
          <a:xfrm>
            <a:off x="9464675" y="2371725"/>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B5EBA4D-D705-4ECD-9D8E-40D1CB567E7A}" type="datetime'''6''''''''''''''''''''''''''''''.1''''''''''''2'''''">
              <a:rPr lang="en-IN" altLang="en-US" b="0" smtClean="0"/>
              <a:pPr lvl="1" algn="ctr">
                <a:spcBef>
                  <a:spcPct val="0"/>
                </a:spcBef>
                <a:spcAft>
                  <a:spcPct val="0"/>
                </a:spcAft>
              </a:pPr>
              <a:t>6.12</a:t>
            </a:fld>
            <a:endParaRPr lang="en-IN" b="0" noProof="0" dirty="0">
              <a:sym typeface="+mn-lt"/>
            </a:endParaRPr>
          </a:p>
        </p:txBody>
      </p:sp>
      <p:sp>
        <p:nvSpPr>
          <p:cNvPr id="641" name="StandardTextbox"/>
          <p:cNvSpPr>
            <a:spLocks noGrp="1"/>
          </p:cNvSpPr>
          <p:nvPr>
            <p:custDataLst>
              <p:tags r:id="rId69"/>
            </p:custDataLst>
          </p:nvPr>
        </p:nvSpPr>
        <p:spPr bwMode="gray">
          <a:xfrm>
            <a:off x="7148513" y="5513388"/>
            <a:ext cx="330200" cy="152400"/>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C073D83-DF51-4648-A509-9231D401CE46}" type="datetime'''''''''0''''''''''''''''''.''''5''''''''''''3'''">
              <a:rPr lang="en-IN" altLang="en-US" b="0" smtClean="0"/>
              <a:pPr lvl="1" algn="ctr">
                <a:spcBef>
                  <a:spcPct val="0"/>
                </a:spcBef>
                <a:spcAft>
                  <a:spcPct val="0"/>
                </a:spcAft>
              </a:pPr>
              <a:t>0.53</a:t>
            </a:fld>
            <a:endParaRPr lang="en-IN" b="0" noProof="0" dirty="0">
              <a:sym typeface="+mn-lt"/>
            </a:endParaRPr>
          </a:p>
        </p:txBody>
      </p:sp>
      <p:sp>
        <p:nvSpPr>
          <p:cNvPr id="642" name="StandardTextbox"/>
          <p:cNvSpPr>
            <a:spLocks noGrp="1"/>
          </p:cNvSpPr>
          <p:nvPr>
            <p:custDataLst>
              <p:tags r:id="rId70"/>
            </p:custDataLst>
          </p:nvPr>
        </p:nvSpPr>
        <p:spPr bwMode="gray">
          <a:xfrm>
            <a:off x="7920038" y="5121275"/>
            <a:ext cx="330200" cy="152400"/>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93F69ADE-75CA-47C1-9F9E-2D5F05F61F6E}" type="datetime'''''''''1''.''''''''''''''''''2''''''''''''3'''''''''''''">
              <a:rPr lang="en-IN" altLang="en-US" b="0" smtClean="0"/>
              <a:pPr lvl="1" algn="ctr">
                <a:spcBef>
                  <a:spcPct val="0"/>
                </a:spcBef>
                <a:spcAft>
                  <a:spcPct val="0"/>
                </a:spcAft>
              </a:pPr>
              <a:t>1.23</a:t>
            </a:fld>
            <a:endParaRPr lang="en-IN" b="0" noProof="0" dirty="0">
              <a:sym typeface="+mn-lt"/>
            </a:endParaRPr>
          </a:p>
        </p:txBody>
      </p:sp>
      <p:sp>
        <p:nvSpPr>
          <p:cNvPr id="633" name="StandardTextbox"/>
          <p:cNvSpPr>
            <a:spLocks noGrp="1"/>
          </p:cNvSpPr>
          <p:nvPr>
            <p:custDataLst>
              <p:tags r:id="rId71"/>
            </p:custDataLst>
          </p:nvPr>
        </p:nvSpPr>
        <p:spPr bwMode="gray">
          <a:xfrm>
            <a:off x="973138" y="5807075"/>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C6BD78B-C11C-4E0A-9113-F6795B3F7E5F}" type="datetime'''''''''0''.''''0''''''1'''''''''''''''">
              <a:rPr lang="en-IN" altLang="en-US" b="0" smtClean="0">
                <a:sym typeface="+mn-lt"/>
              </a:rPr>
              <a:pPr lvl="1" algn="ctr">
                <a:spcBef>
                  <a:spcPct val="0"/>
                </a:spcBef>
                <a:spcAft>
                  <a:spcPct val="0"/>
                </a:spcAft>
              </a:pPr>
              <a:t>0.01</a:t>
            </a:fld>
            <a:endParaRPr lang="en-IN" b="0" noProof="0" dirty="0">
              <a:sym typeface="+mn-lt"/>
            </a:endParaRPr>
          </a:p>
        </p:txBody>
      </p:sp>
      <p:sp>
        <p:nvSpPr>
          <p:cNvPr id="634" name="StandardTextbox"/>
          <p:cNvSpPr>
            <a:spLocks noGrp="1"/>
          </p:cNvSpPr>
          <p:nvPr>
            <p:custDataLst>
              <p:tags r:id="rId72"/>
            </p:custDataLst>
          </p:nvPr>
        </p:nvSpPr>
        <p:spPr bwMode="gray">
          <a:xfrm>
            <a:off x="1744663" y="5794375"/>
            <a:ext cx="330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1F259959-DF71-46F7-A0B4-49E27E399B03}" type="datetime'''''''''''''0''''.''''''''''''''''''0''3'''''''''">
              <a:rPr lang="en-IN" altLang="en-US" b="0" smtClean="0"/>
              <a:pPr lvl="1" algn="ctr">
                <a:spcBef>
                  <a:spcPct val="0"/>
                </a:spcBef>
                <a:spcAft>
                  <a:spcPct val="0"/>
                </a:spcAft>
              </a:pPr>
              <a:t>0.03</a:t>
            </a:fld>
            <a:endParaRPr lang="en-IN" b="0" noProof="0" dirty="0">
              <a:sym typeface="+mn-lt"/>
            </a:endParaRPr>
          </a:p>
        </p:txBody>
      </p:sp>
      <p:sp>
        <p:nvSpPr>
          <p:cNvPr id="635" name="StandardTextbox"/>
          <p:cNvSpPr>
            <a:spLocks noGrp="1"/>
          </p:cNvSpPr>
          <p:nvPr>
            <p:custDataLst>
              <p:tags r:id="rId73"/>
            </p:custDataLst>
          </p:nvPr>
        </p:nvSpPr>
        <p:spPr bwMode="gray">
          <a:xfrm>
            <a:off x="2517775" y="5721350"/>
            <a:ext cx="330200" cy="152400"/>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0B8CE1A-F58E-4868-BCD2-943B02D55A74}" type="datetime'''''''0''''''''''.''''''''1''''''''''''''''6'''''''''''''">
              <a:rPr lang="en-IN" altLang="en-US" b="0" smtClean="0"/>
              <a:pPr lvl="1" algn="ctr">
                <a:spcBef>
                  <a:spcPct val="0"/>
                </a:spcBef>
                <a:spcAft>
                  <a:spcPct val="0"/>
                </a:spcAft>
              </a:pPr>
              <a:t>0.16</a:t>
            </a:fld>
            <a:endParaRPr lang="en-IN" b="0" noProof="0" dirty="0">
              <a:sym typeface="+mn-lt"/>
            </a:endParaRPr>
          </a:p>
        </p:txBody>
      </p:sp>
      <p:sp>
        <p:nvSpPr>
          <p:cNvPr id="639" name="StandardTextbox"/>
          <p:cNvSpPr>
            <a:spLocks noGrp="1"/>
          </p:cNvSpPr>
          <p:nvPr>
            <p:custDataLst>
              <p:tags r:id="rId74"/>
            </p:custDataLst>
          </p:nvPr>
        </p:nvSpPr>
        <p:spPr bwMode="gray">
          <a:xfrm>
            <a:off x="5603875" y="5575300"/>
            <a:ext cx="330200" cy="152400"/>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C976778C-E06B-4D9A-B036-5EA020BB7287}" type="datetime'''''''''0''.''''''4''''''''''''''''''''''''''''''''''2'''''''">
              <a:rPr lang="en-IN" altLang="en-US" b="0" smtClean="0"/>
              <a:pPr lvl="1" algn="ctr">
                <a:spcBef>
                  <a:spcPct val="0"/>
                </a:spcBef>
                <a:spcAft>
                  <a:spcPct val="0"/>
                </a:spcAft>
              </a:pPr>
              <a:t>0.42</a:t>
            </a:fld>
            <a:endParaRPr lang="en-IN" b="0" noProof="0" dirty="0">
              <a:sym typeface="+mn-lt"/>
            </a:endParaRPr>
          </a:p>
        </p:txBody>
      </p:sp>
      <p:sp>
        <p:nvSpPr>
          <p:cNvPr id="637" name="StandardTextbox"/>
          <p:cNvSpPr>
            <a:spLocks noGrp="1"/>
          </p:cNvSpPr>
          <p:nvPr>
            <p:custDataLst>
              <p:tags r:id="rId75"/>
            </p:custDataLst>
          </p:nvPr>
        </p:nvSpPr>
        <p:spPr bwMode="gray">
          <a:xfrm>
            <a:off x="4060825" y="5667375"/>
            <a:ext cx="330200" cy="152400"/>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E5FC39B4-ADB2-41EC-A600-DA8A02036D0C}" type="datetime'''''''0''''''.''2''''''''''5'''''''''''">
              <a:rPr lang="en-IN" altLang="en-US" b="0" smtClean="0"/>
              <a:pPr lvl="1" algn="ctr">
                <a:spcBef>
                  <a:spcPct val="0"/>
                </a:spcBef>
                <a:spcAft>
                  <a:spcPct val="0"/>
                </a:spcAft>
              </a:pPr>
              <a:t>0.25</a:t>
            </a:fld>
            <a:endParaRPr lang="en-IN" b="0" noProof="0" dirty="0">
              <a:sym typeface="+mn-lt"/>
            </a:endParaRPr>
          </a:p>
        </p:txBody>
      </p:sp>
      <p:sp>
        <p:nvSpPr>
          <p:cNvPr id="638" name="StandardTextbox"/>
          <p:cNvSpPr>
            <a:spLocks noGrp="1"/>
          </p:cNvSpPr>
          <p:nvPr>
            <p:custDataLst>
              <p:tags r:id="rId76"/>
            </p:custDataLst>
          </p:nvPr>
        </p:nvSpPr>
        <p:spPr bwMode="gray">
          <a:xfrm>
            <a:off x="4832350" y="5637213"/>
            <a:ext cx="330200" cy="152400"/>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FAF59636-02C5-46E7-A96F-386CD2C1847D}" type="datetime'''''''''''''''''''0''''''''''''''''.''''''''''''31'''">
              <a:rPr lang="en-IN" altLang="en-US" b="0" smtClean="0"/>
              <a:pPr lvl="1" algn="ctr">
                <a:spcBef>
                  <a:spcPct val="0"/>
                </a:spcBef>
                <a:spcAft>
                  <a:spcPct val="0"/>
                </a:spcAft>
              </a:pPr>
              <a:t>0.31</a:t>
            </a:fld>
            <a:endParaRPr lang="en-IN" b="0" noProof="0" dirty="0">
              <a:sym typeface="+mn-lt"/>
            </a:endParaRPr>
          </a:p>
        </p:txBody>
      </p:sp>
      <p:sp>
        <p:nvSpPr>
          <p:cNvPr id="640" name="StandardTextbox"/>
          <p:cNvSpPr>
            <a:spLocks noGrp="1"/>
          </p:cNvSpPr>
          <p:nvPr>
            <p:custDataLst>
              <p:tags r:id="rId77"/>
            </p:custDataLst>
          </p:nvPr>
        </p:nvSpPr>
        <p:spPr bwMode="gray">
          <a:xfrm>
            <a:off x="6376988" y="5562600"/>
            <a:ext cx="330200" cy="152400"/>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6E9F99A-CEF6-476F-BBB8-D1C4F035EBEF}" type="datetime'0''''''''''''''''''.''''4''''''4'">
              <a:rPr lang="en-IN" altLang="en-US" b="0" smtClean="0"/>
              <a:pPr lvl="1" algn="ctr">
                <a:spcBef>
                  <a:spcPct val="0"/>
                </a:spcBef>
                <a:spcAft>
                  <a:spcPct val="0"/>
                </a:spcAft>
              </a:pPr>
              <a:t>0.44</a:t>
            </a:fld>
            <a:endParaRPr lang="en-IN" b="0" noProof="0" dirty="0">
              <a:sym typeface="+mn-lt"/>
            </a:endParaRPr>
          </a:p>
        </p:txBody>
      </p:sp>
      <p:sp>
        <p:nvSpPr>
          <p:cNvPr id="636" name="StandardTextbox"/>
          <p:cNvSpPr>
            <a:spLocks noGrp="1"/>
          </p:cNvSpPr>
          <p:nvPr>
            <p:custDataLst>
              <p:tags r:id="rId78"/>
            </p:custDataLst>
          </p:nvPr>
        </p:nvSpPr>
        <p:spPr bwMode="gray">
          <a:xfrm>
            <a:off x="3289300" y="5721350"/>
            <a:ext cx="330200" cy="152400"/>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6845D4DD-036D-4E1B-8087-1A2CC5F0A366}" type="datetime'''''''''''''''''''''''''''''''''''''''''0''''.''1''6'''''">
              <a:rPr lang="en-IN" altLang="en-US" b="0" smtClean="0"/>
              <a:pPr lvl="1" algn="ctr">
                <a:spcBef>
                  <a:spcPct val="0"/>
                </a:spcBef>
                <a:spcAft>
                  <a:spcPct val="0"/>
                </a:spcAft>
              </a:pPr>
              <a:t>0.16</a:t>
            </a:fld>
            <a:endParaRPr lang="en-IN" b="0" noProof="0" dirty="0">
              <a:sym typeface="+mn-lt"/>
            </a:endParaRPr>
          </a:p>
        </p:txBody>
      </p:sp>
      <p:sp>
        <p:nvSpPr>
          <p:cNvPr id="655" name="Rectangle 654"/>
          <p:cNvSpPr/>
          <p:nvPr>
            <p:custDataLst>
              <p:tags r:id="rId79"/>
            </p:custDataLst>
          </p:nvPr>
        </p:nvSpPr>
        <p:spPr bwMode="auto">
          <a:xfrm>
            <a:off x="2865438" y="6207125"/>
            <a:ext cx="179388" cy="133350"/>
          </a:xfrm>
          <a:prstGeom prst="rect">
            <a:avLst/>
          </a:prstGeom>
          <a:solidFill>
            <a:srgbClr val="62B5E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7" name="Rectangle 16"/>
          <p:cNvSpPr/>
          <p:nvPr>
            <p:custDataLst>
              <p:tags r:id="rId80"/>
            </p:custDataLst>
          </p:nvPr>
        </p:nvSpPr>
        <p:spPr bwMode="auto">
          <a:xfrm>
            <a:off x="6316663" y="6207125"/>
            <a:ext cx="179388" cy="133350"/>
          </a:xfrm>
          <a:prstGeom prst="rect">
            <a:avLst/>
          </a:prstGeom>
          <a:solidFill>
            <a:srgbClr val="86BC25"/>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56" name="Rectangle 655"/>
          <p:cNvSpPr/>
          <p:nvPr>
            <p:custDataLst>
              <p:tags r:id="rId81"/>
            </p:custDataLst>
          </p:nvPr>
        </p:nvSpPr>
        <p:spPr bwMode="auto">
          <a:xfrm>
            <a:off x="4803775" y="6207125"/>
            <a:ext cx="179388" cy="133350"/>
          </a:xfrm>
          <a:prstGeom prst="rect">
            <a:avLst/>
          </a:prstGeom>
          <a:solidFill>
            <a:srgbClr val="046A38"/>
          </a:solidFill>
          <a:ln w="9525"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52" name="StandardTextbox"/>
          <p:cNvSpPr>
            <a:spLocks noGrp="1"/>
          </p:cNvSpPr>
          <p:nvPr>
            <p:custDataLst>
              <p:tags r:id="rId82"/>
            </p:custDataLst>
          </p:nvPr>
        </p:nvSpPr>
        <p:spPr bwMode="auto">
          <a:xfrm>
            <a:off x="3095625" y="6202363"/>
            <a:ext cx="16065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EE96B8B4-766E-45A2-9CAD-5F5BE271082C}" type="datetime'BP''DB ''/'''' ''P''''ublic'''' (T''''''''k ''''/ ''kWh)'''">
              <a:rPr lang="en-IN" altLang="en-US" b="0" smtClean="0"/>
              <a:pPr lvl="1">
                <a:spcBef>
                  <a:spcPct val="0"/>
                </a:spcBef>
                <a:spcAft>
                  <a:spcPct val="0"/>
                </a:spcAft>
              </a:pPr>
              <a:t>BPDB / Public (Tk / kWh)</a:t>
            </a:fld>
            <a:endParaRPr lang="en-IN" b="0" noProof="0" dirty="0">
              <a:sym typeface="+mn-lt"/>
            </a:endParaRPr>
          </a:p>
        </p:txBody>
      </p:sp>
      <p:sp>
        <p:nvSpPr>
          <p:cNvPr id="128" name="StandardTextbox"/>
          <p:cNvSpPr>
            <a:spLocks noGrp="1"/>
          </p:cNvSpPr>
          <p:nvPr>
            <p:custDataLst>
              <p:tags r:id="rId83"/>
            </p:custDataLst>
          </p:nvPr>
        </p:nvSpPr>
        <p:spPr bwMode="auto">
          <a:xfrm>
            <a:off x="6546850" y="6202363"/>
            <a:ext cx="12192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868CB68C-20F8-459C-B4C1-6D606EF78F6D}" type="datetime'''Ni''''''''''''mb''u''s'''' ''(''''Tk'' ''''/'' ''kW''''h)'''">
              <a:rPr lang="en-IN" altLang="en-US" b="0" smtClean="0"/>
              <a:pPr lvl="1">
                <a:spcBef>
                  <a:spcPct val="0"/>
                </a:spcBef>
                <a:spcAft>
                  <a:spcPct val="0"/>
                </a:spcAft>
              </a:pPr>
              <a:t>Nimbus (Tk / kWh)</a:t>
            </a:fld>
            <a:endParaRPr lang="en-IN" b="0" noProof="0" dirty="0">
              <a:sym typeface="+mn-lt"/>
            </a:endParaRPr>
          </a:p>
        </p:txBody>
      </p:sp>
      <p:sp>
        <p:nvSpPr>
          <p:cNvPr id="653" name="StandardTextbox"/>
          <p:cNvSpPr>
            <a:spLocks noGrp="1"/>
          </p:cNvSpPr>
          <p:nvPr>
            <p:custDataLst>
              <p:tags r:id="rId84"/>
            </p:custDataLst>
          </p:nvPr>
        </p:nvSpPr>
        <p:spPr bwMode="auto">
          <a:xfrm>
            <a:off x="5033963" y="6202363"/>
            <a:ext cx="11811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D5C591F2-42E9-4490-B481-E89D7EF6D1E8}" type="datetime'''''''''''''Pri''''''v''''''a''''te ''(T''k /'''' ''kWh'')'">
              <a:rPr lang="en-IN" altLang="en-US" b="0" smtClean="0"/>
              <a:pPr lvl="1">
                <a:spcBef>
                  <a:spcPct val="0"/>
                </a:spcBef>
                <a:spcAft>
                  <a:spcPct val="0"/>
                </a:spcAft>
              </a:pPr>
              <a:t>Private (Tk / kWh)</a:t>
            </a:fld>
            <a:endParaRPr lang="en-IN" b="0" noProof="0" dirty="0">
              <a:sym typeface="+mn-lt"/>
            </a:endParaRPr>
          </a:p>
        </p:txBody>
      </p:sp>
      <p:sp>
        <p:nvSpPr>
          <p:cNvPr id="699" name="Title 1"/>
          <p:cNvSpPr>
            <a:spLocks noGrp="1"/>
          </p:cNvSpPr>
          <p:nvPr>
            <p:ph type="title"/>
          </p:nvPr>
        </p:nvSpPr>
        <p:spPr>
          <a:xfrm>
            <a:off x="449264" y="647700"/>
            <a:ext cx="9791700" cy="431800"/>
          </a:xfrm>
        </p:spPr>
        <p:txBody>
          <a:bodyPr/>
          <a:lstStyle/>
          <a:p>
            <a:r>
              <a:rPr lang="en-US" dirty="0"/>
              <a:t>O&amp;M Agreement | Benchmarking O&amp;M Cost for Nimbus (HSD Operation)</a:t>
            </a:r>
            <a:endParaRPr lang="en-IN" dirty="0"/>
          </a:p>
        </p:txBody>
      </p:sp>
      <p:sp>
        <p:nvSpPr>
          <p:cNvPr id="70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NBBL’s Reference Rate Tariff for Variable</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O&amp;M under </a:t>
            </a:r>
            <a:r>
              <a:rPr lang="en-US" sz="1400" dirty="0">
                <a:solidFill>
                  <a:prstClr val="black">
                    <a:lumMod val="50000"/>
                    <a:lumOff val="50000"/>
                  </a:prstClr>
                </a:solidFill>
                <a:latin typeface="Verdana" panose="020B0604030504040204" pitchFamily="34" charset="0"/>
              </a:rPr>
              <a:t>HSD</a:t>
            </a:r>
            <a:r>
              <a:rPr kumimoji="0" lang="en-US" sz="1400" b="1" i="0" u="none" strike="noStrike" kern="1200" cap="none" spc="0" normalizeH="0" noProof="0" dirty="0">
                <a:ln>
                  <a:noFill/>
                </a:ln>
                <a:solidFill>
                  <a:prstClr val="black">
                    <a:lumMod val="50000"/>
                    <a:lumOff val="50000"/>
                  </a:prstClr>
                </a:solidFill>
                <a:effectLst/>
                <a:uLnTx/>
                <a:uFillTx/>
                <a:latin typeface="Verdana" panose="020B0604030504040204" pitchFamily="34" charset="0"/>
                <a:ea typeface="+mn-ea"/>
                <a:cs typeface="+mn-cs"/>
              </a:rPr>
              <a:t> based operations is lower than most of the actual O&amp;M costs of BPDB &amp; private plants </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sp>
        <p:nvSpPr>
          <p:cNvPr id="703" name="Rectangle 702"/>
          <p:cNvSpPr/>
          <p:nvPr/>
        </p:nvSpPr>
        <p:spPr bwMode="gray">
          <a:xfrm>
            <a:off x="377227" y="7260739"/>
            <a:ext cx="9976141" cy="230020"/>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Industry Reports, Deloitte Analysis; Note 1) For Nimbus, the Reference O&amp;M costs has been considered as per PPA and have been converted to local BDT / kWh  at 1 USD = 85 BDT 2) Each bar represents one power plant in the above graph </a:t>
            </a:r>
          </a:p>
        </p:txBody>
      </p:sp>
      <p:sp>
        <p:nvSpPr>
          <p:cNvPr id="138" name="Rectangle 137"/>
          <p:cNvSpPr/>
          <p:nvPr/>
        </p:nvSpPr>
        <p:spPr bwMode="gray">
          <a:xfrm>
            <a:off x="1617663" y="5361854"/>
            <a:ext cx="588961" cy="955530"/>
          </a:xfrm>
          <a:prstGeom prst="rect">
            <a:avLst/>
          </a:prstGeom>
          <a:noFill/>
          <a:ln w="19050" algn="ctr">
            <a:solidFill>
              <a:srgbClr val="86BC25"/>
            </a:solidFill>
            <a:prstDash val="dash"/>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Tree>
    <p:extLst>
      <p:ext uri="{BB962C8B-B14F-4D97-AF65-F5344CB8AC3E}">
        <p14:creationId xmlns:p14="http://schemas.microsoft.com/office/powerpoint/2010/main" val="2992024654"/>
      </p:ext>
    </p:extLst>
  </p:cSld>
  <p:clrMapOvr>
    <a:masterClrMapping/>
  </p:clrMapOvr>
  <p:transition>
    <p:fade/>
  </p:transition>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Strapline"/>
          <p:cNvSpPr>
            <a:spLocks noGrp="1"/>
          </p:cNvSpPr>
          <p:nvPr>
            <p:ph type="body" sz="quarter" idx="13"/>
          </p:nvPr>
        </p:nvSpPr>
        <p:spPr>
          <a:xfrm>
            <a:off x="449993" y="1079983"/>
            <a:ext cx="9791843" cy="518392"/>
          </a:xfrm>
        </p:spPr>
        <p:txBody>
          <a:bodyPr lIns="0" tIns="0" rIns="0" bIns="0" anchor="t">
            <a:noAutofit/>
          </a:bodyPr>
          <a:lstStyle/>
          <a:p>
            <a:r>
              <a:rPr lang="en-US" b="1" dirty="0">
                <a:solidFill>
                  <a:schemeClr val="tx1">
                    <a:lumMod val="50000"/>
                    <a:lumOff val="50000"/>
                  </a:schemeClr>
                </a:solidFill>
                <a:latin typeface="Verdana" panose="020B0604030504040204" pitchFamily="34" charset="0"/>
              </a:rPr>
              <a:t>An overarching tripartite agreement signed with Government of Bangladesh (GOB) and Power Grid Company of Bangladesh (PGCB) for setting up of the power plant on Build-Own-Operate basis on 28</a:t>
            </a:r>
            <a:r>
              <a:rPr lang="en-US" b="1" baseline="30000" dirty="0">
                <a:solidFill>
                  <a:schemeClr val="tx1">
                    <a:lumMod val="50000"/>
                    <a:lumOff val="50000"/>
                  </a:schemeClr>
                </a:solidFill>
                <a:latin typeface="Verdana" panose="020B0604030504040204" pitchFamily="34" charset="0"/>
              </a:rPr>
              <a:t>th</a:t>
            </a:r>
            <a:r>
              <a:rPr lang="en-US" b="1" dirty="0">
                <a:solidFill>
                  <a:schemeClr val="tx1">
                    <a:lumMod val="50000"/>
                    <a:lumOff val="50000"/>
                  </a:schemeClr>
                </a:solidFill>
                <a:latin typeface="Verdana" panose="020B0604030504040204" pitchFamily="34" charset="0"/>
              </a:rPr>
              <a:t> August 2017</a:t>
            </a:r>
            <a:endParaRPr lang="en-GB" b="1" dirty="0">
              <a:solidFill>
                <a:schemeClr val="tx1">
                  <a:lumMod val="50000"/>
                  <a:lumOff val="50000"/>
                </a:schemeClr>
              </a:solidFill>
              <a:latin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Implementation Agreement | Key Provisions</a:t>
            </a:r>
          </a:p>
        </p:txBody>
      </p:sp>
      <p:graphicFrame>
        <p:nvGraphicFramePr>
          <p:cNvPr id="20" name="Table 19"/>
          <p:cNvGraphicFramePr>
            <a:graphicFrameLocks noGrp="1"/>
          </p:cNvGraphicFramePr>
          <p:nvPr>
            <p:custDataLst>
              <p:tags r:id="rId1"/>
            </p:custDataLst>
            <p:extLst>
              <p:ext uri="{D42A27DB-BD31-4B8C-83A1-F6EECF244321}">
                <p14:modId xmlns:p14="http://schemas.microsoft.com/office/powerpoint/2010/main" val="3903106824"/>
              </p:ext>
            </p:extLst>
          </p:nvPr>
        </p:nvGraphicFramePr>
        <p:xfrm>
          <a:off x="449993" y="1961920"/>
          <a:ext cx="4758111" cy="5376460"/>
        </p:xfrm>
        <a:graphic>
          <a:graphicData uri="http://schemas.openxmlformats.org/drawingml/2006/table">
            <a:tbl>
              <a:tblPr firstRow="1" bandRow="1">
                <a:tableStyleId>{5C22544A-7EE6-4342-B048-85BDC9FD1C3A}</a:tableStyleId>
              </a:tblPr>
              <a:tblGrid>
                <a:gridCol w="4758111">
                  <a:extLst>
                    <a:ext uri="{9D8B030D-6E8A-4147-A177-3AD203B41FA5}">
                      <a16:colId xmlns:a16="http://schemas.microsoft.com/office/drawing/2014/main" val="20000"/>
                    </a:ext>
                  </a:extLst>
                </a:gridCol>
              </a:tblGrid>
              <a:tr h="4747264">
                <a:tc>
                  <a:txBody>
                    <a:bodyPr/>
                    <a:lstStyle/>
                    <a:p>
                      <a:pPr marL="0" indent="0" algn="just">
                        <a:spcAft>
                          <a:spcPts val="500"/>
                        </a:spcAft>
                        <a:buFont typeface="Arial" panose="020B0604020202020204" pitchFamily="34" charset="0"/>
                        <a:buNone/>
                      </a:pPr>
                      <a:r>
                        <a:rPr lang="en-US" sz="1000" b="1" kern="1200" baseline="0" dirty="0">
                          <a:solidFill>
                            <a:schemeClr val="tx1"/>
                          </a:solidFill>
                          <a:latin typeface="+mn-lt"/>
                          <a:ea typeface="+mn-ea"/>
                          <a:cs typeface="+mn-cs"/>
                        </a:rPr>
                        <a:t>Salient features: </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Government Authorizations: To be obtained by NBBL. Any delay by GOB will cause the Required COD to be pushed forward</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Equity lock-in</a:t>
                      </a:r>
                      <a:r>
                        <a:rPr lang="en-US" sz="1000" b="1" kern="1200" baseline="0" dirty="0">
                          <a:solidFill>
                            <a:schemeClr val="tx1"/>
                          </a:solidFill>
                          <a:latin typeface="+mn-lt"/>
                          <a:ea typeface="+mn-ea"/>
                          <a:cs typeface="+mn-cs"/>
                        </a:rPr>
                        <a:t>: </a:t>
                      </a:r>
                      <a:r>
                        <a:rPr lang="en-US" sz="1000" b="0" kern="1200" baseline="0" dirty="0">
                          <a:solidFill>
                            <a:schemeClr val="tx1"/>
                          </a:solidFill>
                          <a:latin typeface="+mn-lt"/>
                          <a:ea typeface="+mn-ea"/>
                          <a:cs typeface="+mn-cs"/>
                        </a:rPr>
                        <a:t>51% of Ordinary share capital for 6 years; except with GOB consent or as public offering</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Force Majeure/ Political Event: GOB and PGCB can’t claim relief</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Taxes: NBBL is exempt from tax/withholding tax in Bangladesh</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Guarantee: GOB will pay any amount due from BPDB, PGCB, Gas Supplier, Fuel Supplier in case of failure to pay</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Termination: Event of default, </a:t>
                      </a:r>
                      <a:r>
                        <a:rPr lang="en-US" sz="1000" b="0" baseline="0" dirty="0">
                          <a:solidFill>
                            <a:schemeClr val="tx1"/>
                          </a:solidFill>
                        </a:rPr>
                        <a:t>Force Majeure/Political Event not remedied within 12 months</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Repatriation of funds: Governed by Exchange Regulations Act 2016; NBBL permitted to purchase dollars for repatriation</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Event of Default: Includes default by BPDB, gas/fuel supplier</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Compensation: In case of termination due to GOB event of default, NBBL can choose to transfer the facility to GOB in exchange for a compensation which includes:</a:t>
                      </a:r>
                    </a:p>
                    <a:p>
                      <a:pPr marL="666736" lvl="1" indent="-171450" algn="just">
                        <a:spcAft>
                          <a:spcPts val="500"/>
                        </a:spcAft>
                        <a:buFont typeface="Courier New" panose="02070309020205020404" pitchFamily="49" charset="0"/>
                        <a:buChar char="o"/>
                      </a:pPr>
                      <a:r>
                        <a:rPr lang="en-US" sz="1000" b="0" kern="1200" baseline="0" dirty="0">
                          <a:solidFill>
                            <a:schemeClr val="tx1"/>
                          </a:solidFill>
                          <a:latin typeface="+mn-lt"/>
                          <a:ea typeface="+mn-ea"/>
                          <a:cs typeface="+mn-cs"/>
                        </a:rPr>
                        <a:t>Total principle outstanding + interest thereon + winding up costs</a:t>
                      </a:r>
                    </a:p>
                    <a:p>
                      <a:pPr marL="666736" lvl="1" indent="-171450" algn="just">
                        <a:spcAft>
                          <a:spcPts val="500"/>
                        </a:spcAft>
                        <a:buFont typeface="Courier New" panose="02070309020205020404" pitchFamily="49" charset="0"/>
                        <a:buChar char="o"/>
                      </a:pPr>
                      <a:r>
                        <a:rPr lang="en-US" sz="1000" b="0" kern="1200" baseline="0" dirty="0">
                          <a:solidFill>
                            <a:schemeClr val="tx1"/>
                          </a:solidFill>
                          <a:latin typeface="+mn-lt"/>
                          <a:ea typeface="+mn-ea"/>
                          <a:cs typeface="+mn-cs"/>
                        </a:rPr>
                        <a:t>Equity investment reduced by 5% on straight line basis </a:t>
                      </a:r>
                    </a:p>
                    <a:p>
                      <a:pPr marL="666736" lvl="1" indent="-171450" algn="just">
                        <a:spcAft>
                          <a:spcPts val="500"/>
                        </a:spcAft>
                        <a:buFont typeface="Courier New" panose="02070309020205020404" pitchFamily="49" charset="0"/>
                        <a:buChar char="o"/>
                      </a:pPr>
                      <a:r>
                        <a:rPr lang="en-US" sz="1000" b="0" kern="1200" baseline="0" dirty="0">
                          <a:solidFill>
                            <a:schemeClr val="tx1"/>
                          </a:solidFill>
                          <a:latin typeface="+mn-lt"/>
                          <a:ea typeface="+mn-ea"/>
                          <a:cs typeface="+mn-cs"/>
                        </a:rPr>
                        <a:t>Net Cash Flow for 5 years discounted at 12%</a:t>
                      </a:r>
                    </a:p>
                    <a:p>
                      <a:pPr marL="666736" lvl="1" indent="-171450" algn="just">
                        <a:spcAft>
                          <a:spcPts val="500"/>
                        </a:spcAft>
                        <a:buFont typeface="Courier New" panose="02070309020205020404" pitchFamily="49" charset="0"/>
                        <a:buChar char="o"/>
                      </a:pPr>
                      <a:r>
                        <a:rPr lang="en-US" sz="1000" b="0" kern="1200" baseline="0" dirty="0">
                          <a:solidFill>
                            <a:schemeClr val="tx1"/>
                          </a:solidFill>
                          <a:latin typeface="+mn-lt"/>
                          <a:ea typeface="+mn-ea"/>
                          <a:cs typeface="+mn-cs"/>
                        </a:rPr>
                        <a:t>Any additional equity reduced by 3.2% on straight line basis</a:t>
                      </a:r>
                    </a:p>
                    <a:p>
                      <a:pPr marL="0" indent="0" algn="just">
                        <a:spcAft>
                          <a:spcPts val="500"/>
                        </a:spcAft>
                        <a:buFont typeface="Arial" panose="020B0604020202020204" pitchFamily="34" charset="0"/>
                        <a:buNone/>
                      </a:pPr>
                      <a:r>
                        <a:rPr lang="en-US" sz="1000" b="1" kern="1200" baseline="0" dirty="0">
                          <a:solidFill>
                            <a:schemeClr val="tx1"/>
                          </a:solidFill>
                          <a:latin typeface="+mn-lt"/>
                          <a:ea typeface="+mn-ea"/>
                          <a:cs typeface="+mn-cs"/>
                        </a:rPr>
                        <a:t>Interconnection facility:</a:t>
                      </a:r>
                    </a:p>
                    <a:p>
                      <a:pPr marL="171450" indent="-171450" algn="just">
                        <a:spcAft>
                          <a:spcPts val="500"/>
                        </a:spcAft>
                        <a:buFont typeface="Arial" panose="020B0604020202020204" pitchFamily="34" charset="0"/>
                        <a:buChar char="•"/>
                      </a:pPr>
                      <a:r>
                        <a:rPr lang="en-US" sz="1000" b="0" kern="1200" baseline="0" dirty="0">
                          <a:solidFill>
                            <a:schemeClr val="tx1"/>
                          </a:solidFill>
                          <a:latin typeface="+mn-lt"/>
                          <a:ea typeface="+mn-ea"/>
                          <a:cs typeface="+mn-cs"/>
                        </a:rPr>
                        <a:t>NBBL will construct and operate a 230 kV switchyard adjacent to the power plant where it will deliver power to the existing 230 kV switchyard of PGCB at the existing Bhola I power plant </a:t>
                      </a:r>
                    </a:p>
                  </a:txBody>
                  <a:tcPr marL="107998" marT="107998">
                    <a:lnL w="12700" cmpd="sng">
                      <a:noFill/>
                    </a:lnL>
                    <a:lnR w="12700" cmpd="sng">
                      <a:noFill/>
                    </a:lnR>
                    <a:lnT w="38100" cap="flat" cmpd="sng" algn="ctr">
                      <a:solidFill>
                        <a:schemeClr val="accent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07842">
                <a:tc>
                  <a:txBody>
                    <a:bodyPr/>
                    <a:lstStyle/>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endParaRPr lang="en-US" sz="1000" b="0" baseline="0" dirty="0">
                        <a:solidFill>
                          <a:srgbClr val="FF0000"/>
                        </a:solidFill>
                      </a:endParaRPr>
                    </a:p>
                  </a:txBody>
                  <a:tcPr marL="107998" marT="107998">
                    <a:lnL w="12700" cmpd="sng">
                      <a:noFill/>
                    </a:lnL>
                    <a:lnR w="12700" cmpd="sng">
                      <a:noFill/>
                    </a:lnR>
                    <a:lnT w="381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644354327"/>
                  </a:ext>
                </a:extLst>
              </a:tr>
            </a:tbl>
          </a:graphicData>
        </a:graphic>
      </p:graphicFrame>
      <p:sp>
        <p:nvSpPr>
          <p:cNvPr id="70" name="Rectangle 69"/>
          <p:cNvSpPr/>
          <p:nvPr/>
        </p:nvSpPr>
        <p:spPr bwMode="gray">
          <a:xfrm>
            <a:off x="7469353" y="2126725"/>
            <a:ext cx="765460" cy="342928"/>
          </a:xfrm>
          <a:prstGeom prst="rect">
            <a:avLst/>
          </a:prstGeom>
          <a:solidFill>
            <a:schemeClr val="accent1"/>
          </a:solidFill>
          <a:ln w="19050" algn="ctr">
            <a:solidFill>
              <a:schemeClr val="accent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IA</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cxnSp>
        <p:nvCxnSpPr>
          <p:cNvPr id="73" name="Elbow Connector 72"/>
          <p:cNvCxnSpPr>
            <a:stCxn id="70" idx="2"/>
            <a:endCxn id="108" idx="0"/>
          </p:cNvCxnSpPr>
          <p:nvPr/>
        </p:nvCxnSpPr>
        <p:spPr>
          <a:xfrm rot="16200000" flipH="1">
            <a:off x="8538502" y="1783233"/>
            <a:ext cx="314036" cy="1686875"/>
          </a:xfrm>
          <a:prstGeom prst="bentConnector3">
            <a:avLst/>
          </a:prstGeom>
          <a:ln>
            <a:solidFill>
              <a:schemeClr val="tx2"/>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70" idx="2"/>
            <a:endCxn id="95" idx="0"/>
          </p:cNvCxnSpPr>
          <p:nvPr/>
        </p:nvCxnSpPr>
        <p:spPr>
          <a:xfrm rot="5400000">
            <a:off x="6927682" y="1851844"/>
            <a:ext cx="306592" cy="1542211"/>
          </a:xfrm>
          <a:prstGeom prst="bentConnector3">
            <a:avLst>
              <a:gd name="adj1" fmla="val 50000"/>
            </a:avLst>
          </a:prstGeom>
          <a:ln>
            <a:solidFill>
              <a:schemeClr val="tx2"/>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86" name="Rectangle 85"/>
          <p:cNvSpPr/>
          <p:nvPr/>
        </p:nvSpPr>
        <p:spPr bwMode="gray">
          <a:xfrm>
            <a:off x="5643307" y="2030368"/>
            <a:ext cx="4551224" cy="1478145"/>
          </a:xfrm>
          <a:prstGeom prst="rect">
            <a:avLst/>
          </a:prstGeom>
          <a:noFill/>
          <a:ln w="19050" algn="ctr">
            <a:solidFill>
              <a:schemeClr val="accent1"/>
            </a:solidFill>
            <a:prstDash val="dash"/>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95" name="Rectangle 94"/>
          <p:cNvSpPr/>
          <p:nvPr/>
        </p:nvSpPr>
        <p:spPr bwMode="gray">
          <a:xfrm>
            <a:off x="5829892" y="2776245"/>
            <a:ext cx="959959" cy="503670"/>
          </a:xfrm>
          <a:prstGeom prst="rect">
            <a:avLst/>
          </a:prstGeom>
          <a:noFill/>
          <a:ln w="19050" algn="ctr">
            <a:solidFill>
              <a:schemeClr val="accent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rgbClr val="046A38"/>
                </a:solidFill>
                <a:effectLst/>
                <a:uLnTx/>
                <a:uFillTx/>
                <a:latin typeface="Verdana"/>
                <a:ea typeface="+mn-ea"/>
                <a:cs typeface="+mn-cs"/>
              </a:rPr>
              <a:t>Power Purchase Agreement</a:t>
            </a:r>
            <a:endParaRPr kumimoji="0" lang="en-IN" sz="900" b="0" i="0" u="none" strike="noStrike" kern="1200" cap="none" spc="0" normalizeH="0" baseline="0" noProof="0" dirty="0">
              <a:ln>
                <a:noFill/>
              </a:ln>
              <a:solidFill>
                <a:srgbClr val="046A38"/>
              </a:solidFill>
              <a:effectLst/>
              <a:uLnTx/>
              <a:uFillTx/>
              <a:latin typeface="Verdana"/>
              <a:ea typeface="+mn-ea"/>
              <a:cs typeface="+mn-cs"/>
            </a:endParaRPr>
          </a:p>
        </p:txBody>
      </p:sp>
      <p:sp>
        <p:nvSpPr>
          <p:cNvPr id="106" name="Rectangle 105"/>
          <p:cNvSpPr/>
          <p:nvPr/>
        </p:nvSpPr>
        <p:spPr bwMode="gray">
          <a:xfrm>
            <a:off x="6906254" y="2770323"/>
            <a:ext cx="959959" cy="503670"/>
          </a:xfrm>
          <a:prstGeom prst="rect">
            <a:avLst/>
          </a:prstGeom>
          <a:noFill/>
          <a:ln w="19050" algn="ctr">
            <a:solidFill>
              <a:schemeClr val="accent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rgbClr val="046A38"/>
                </a:solidFill>
                <a:effectLst/>
                <a:uLnTx/>
                <a:uFillTx/>
                <a:latin typeface="Verdana"/>
                <a:ea typeface="+mn-ea"/>
                <a:cs typeface="+mn-cs"/>
              </a:rPr>
              <a:t>Gas Supply Agreement</a:t>
            </a:r>
            <a:endParaRPr kumimoji="0" lang="en-IN" sz="900" b="0" i="0" u="none" strike="noStrike" kern="1200" cap="none" spc="0" normalizeH="0" baseline="0" noProof="0" dirty="0">
              <a:ln>
                <a:noFill/>
              </a:ln>
              <a:solidFill>
                <a:srgbClr val="046A38"/>
              </a:solidFill>
              <a:effectLst/>
              <a:uLnTx/>
              <a:uFillTx/>
              <a:latin typeface="Verdana"/>
              <a:ea typeface="+mn-ea"/>
              <a:cs typeface="+mn-cs"/>
            </a:endParaRPr>
          </a:p>
        </p:txBody>
      </p:sp>
      <p:sp>
        <p:nvSpPr>
          <p:cNvPr id="107" name="Rectangle 106"/>
          <p:cNvSpPr/>
          <p:nvPr/>
        </p:nvSpPr>
        <p:spPr bwMode="gray">
          <a:xfrm>
            <a:off x="7982616" y="2783689"/>
            <a:ext cx="959959" cy="503670"/>
          </a:xfrm>
          <a:prstGeom prst="rect">
            <a:avLst/>
          </a:prstGeom>
          <a:noFill/>
          <a:ln w="19050" algn="ctr">
            <a:solidFill>
              <a:schemeClr val="accent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rgbClr val="046A38"/>
                </a:solidFill>
                <a:effectLst/>
                <a:uLnTx/>
                <a:uFillTx/>
                <a:latin typeface="Verdana"/>
                <a:ea typeface="+mn-ea"/>
                <a:cs typeface="+mn-cs"/>
              </a:rPr>
              <a:t>Fuel Supply Agreement</a:t>
            </a:r>
            <a:endParaRPr kumimoji="0" lang="en-IN" sz="900" b="0" i="0" u="none" strike="noStrike" kern="1200" cap="none" spc="0" normalizeH="0" baseline="0" noProof="0" dirty="0">
              <a:ln>
                <a:noFill/>
              </a:ln>
              <a:solidFill>
                <a:srgbClr val="046A38"/>
              </a:solidFill>
              <a:effectLst/>
              <a:uLnTx/>
              <a:uFillTx/>
              <a:latin typeface="Verdana"/>
              <a:ea typeface="+mn-ea"/>
              <a:cs typeface="+mn-cs"/>
            </a:endParaRPr>
          </a:p>
        </p:txBody>
      </p:sp>
      <p:sp>
        <p:nvSpPr>
          <p:cNvPr id="108" name="Rectangle 107"/>
          <p:cNvSpPr/>
          <p:nvPr/>
        </p:nvSpPr>
        <p:spPr bwMode="gray">
          <a:xfrm>
            <a:off x="9058978" y="2783689"/>
            <a:ext cx="959959" cy="503670"/>
          </a:xfrm>
          <a:prstGeom prst="rect">
            <a:avLst/>
          </a:prstGeom>
          <a:noFill/>
          <a:ln w="19050" algn="ctr">
            <a:solidFill>
              <a:schemeClr val="accent1"/>
            </a:solid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dirty="0">
                <a:ln>
                  <a:noFill/>
                </a:ln>
                <a:solidFill>
                  <a:srgbClr val="046A38"/>
                </a:solidFill>
                <a:effectLst/>
                <a:uLnTx/>
                <a:uFillTx/>
                <a:latin typeface="Verdana"/>
                <a:ea typeface="+mn-ea"/>
                <a:cs typeface="+mn-cs"/>
              </a:rPr>
              <a:t>Land Lease Agreement</a:t>
            </a:r>
            <a:endParaRPr kumimoji="0" lang="en-IN" sz="900" b="0" i="0" u="none" strike="noStrike" kern="1200" cap="none" spc="0" normalizeH="0" baseline="0" noProof="0" dirty="0">
              <a:ln>
                <a:noFill/>
              </a:ln>
              <a:solidFill>
                <a:srgbClr val="046A38"/>
              </a:solidFill>
              <a:effectLst/>
              <a:uLnTx/>
              <a:uFillTx/>
              <a:latin typeface="Verdana"/>
              <a:ea typeface="+mn-ea"/>
              <a:cs typeface="+mn-cs"/>
            </a:endParaRPr>
          </a:p>
        </p:txBody>
      </p:sp>
      <p:cxnSp>
        <p:nvCxnSpPr>
          <p:cNvPr id="109" name="Elbow Connector 108"/>
          <p:cNvCxnSpPr>
            <a:endCxn id="106" idx="0"/>
          </p:cNvCxnSpPr>
          <p:nvPr/>
        </p:nvCxnSpPr>
        <p:spPr>
          <a:xfrm rot="10800000" flipV="1">
            <a:off x="7386235" y="2622947"/>
            <a:ext cx="423547" cy="147376"/>
          </a:xfrm>
          <a:prstGeom prst="bentConnector2">
            <a:avLst/>
          </a:prstGeom>
          <a:ln>
            <a:solidFill>
              <a:schemeClr val="tx2"/>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110" name="Elbow Connector 109"/>
          <p:cNvCxnSpPr>
            <a:endCxn id="107" idx="0"/>
          </p:cNvCxnSpPr>
          <p:nvPr/>
        </p:nvCxnSpPr>
        <p:spPr>
          <a:xfrm>
            <a:off x="7866213" y="2617028"/>
            <a:ext cx="596383" cy="166661"/>
          </a:xfrm>
          <a:prstGeom prst="bentConnector2">
            <a:avLst/>
          </a:prstGeom>
          <a:ln>
            <a:solidFill>
              <a:schemeClr val="tx2"/>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111" name="Rectangle 110"/>
          <p:cNvSpPr/>
          <p:nvPr/>
        </p:nvSpPr>
        <p:spPr bwMode="gray">
          <a:xfrm>
            <a:off x="5614404" y="3769770"/>
            <a:ext cx="4399388" cy="2462066"/>
          </a:xfrm>
          <a:prstGeom prst="rect">
            <a:avLst/>
          </a:prstGeom>
          <a:solidFill>
            <a:srgbClr val="F8FBFA"/>
          </a:solidFill>
          <a:ln w="3175" algn="ctr">
            <a:solidFill>
              <a:srgbClr val="C4D600">
                <a:alpha val="61000"/>
              </a:srgbClr>
            </a:solidFill>
            <a:prstDash val="dash"/>
            <a:miter lim="800000"/>
            <a:headEnd/>
            <a:tailEnd/>
          </a:ln>
        </p:spPr>
        <p:txBody>
          <a:bodyPr wrap="square" lIns="88900" tIns="88900" rIns="88900" bIns="88900" rtlCol="0" anchor="t"/>
          <a:lstStyle/>
          <a:p>
            <a:pPr marL="0" marR="0" lvl="0" indent="0" algn="l" defTabSz="914400" rtl="0" eaLnBrk="0" fontAlgn="base" latinLnBrk="0" hangingPunct="0">
              <a:lnSpc>
                <a:spcPct val="100000"/>
              </a:lnSpc>
              <a:spcBef>
                <a:spcPct val="0"/>
              </a:spcBef>
              <a:spcAft>
                <a:spcPct val="0"/>
              </a:spcAft>
              <a:buClrTx/>
              <a:buSzTx/>
              <a:buFont typeface="Wingdings 2" pitchFamily="18" charset="2"/>
              <a:buNone/>
              <a:tabLst/>
              <a:defRPr/>
            </a:pPr>
            <a:r>
              <a:rPr kumimoji="0" lang="en-US" sz="1600" b="1" i="0" u="none" strike="noStrike" kern="1200" cap="none" spc="0" normalizeH="0" baseline="0" noProof="0" dirty="0">
                <a:ln>
                  <a:noFill/>
                </a:ln>
                <a:solidFill>
                  <a:srgbClr val="75787B"/>
                </a:solidFill>
                <a:effectLst/>
                <a:uLnTx/>
                <a:uFillTx/>
                <a:latin typeface="Arial" panose="020B0604020202020204" pitchFamily="34" charset="0"/>
                <a:ea typeface="+mn-ea"/>
                <a:cs typeface="Arial" panose="020B0604020202020204" pitchFamily="34" charset="0"/>
              </a:rPr>
              <a:t>        </a:t>
            </a:r>
            <a:r>
              <a:rPr kumimoji="0" lang="en-US" sz="1200" b="1" i="0" u="none" strike="noStrike" kern="1200" cap="none" spc="0" normalizeH="0" baseline="0" noProof="0" dirty="0">
                <a:ln>
                  <a:noFill/>
                </a:ln>
                <a:solidFill>
                  <a:srgbClr val="75787B">
                    <a:lumMod val="50000"/>
                  </a:srgbClr>
                </a:solidFill>
                <a:effectLst/>
                <a:uLnTx/>
                <a:uFillTx/>
                <a:latin typeface="Verdana"/>
                <a:ea typeface="+mn-ea"/>
                <a:cs typeface="+mn-cs"/>
              </a:rPr>
              <a:t>Key Risks</a:t>
            </a:r>
          </a:p>
          <a:p>
            <a:pPr marL="0" marR="0" lvl="0" indent="0" algn="l" defTabSz="914400" rtl="0" eaLnBrk="0" fontAlgn="base" latinLnBrk="0" hangingPunct="0">
              <a:lnSpc>
                <a:spcPct val="100000"/>
              </a:lnSpc>
              <a:spcBef>
                <a:spcPct val="0"/>
              </a:spcBef>
              <a:spcAft>
                <a:spcPct val="0"/>
              </a:spcAft>
              <a:buClrTx/>
              <a:buSzTx/>
              <a:buFont typeface="Wingdings 2" pitchFamily="18" charset="2"/>
              <a:buNone/>
              <a:tabLst/>
              <a:defRPr/>
            </a:pPr>
            <a:endParaRPr kumimoji="0" lang="en-US" sz="1600" b="1" i="0" u="none" strike="noStrike" kern="1200" cap="none" spc="0" normalizeH="0" baseline="0" noProof="0" dirty="0">
              <a:ln>
                <a:noFill/>
              </a:ln>
              <a:solidFill>
                <a:srgbClr val="75787B"/>
              </a:solidFill>
              <a:effectLst/>
              <a:uLnTx/>
              <a:uFillTx/>
              <a:latin typeface="Arial" panose="020B0604020202020204" pitchFamily="34" charset="0"/>
              <a:ea typeface="+mn-ea"/>
              <a:cs typeface="Arial" panose="020B0604020202020204" pitchFamily="34" charset="0"/>
            </a:endParaRP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The condition of Equity lock-in restricts the transfer of NBBL’s ownership for a period of 6 years. In case approval is not obtained from the Government of Bangladesh, the transaction cannot be affected. </a:t>
            </a: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In case of termination due to Company event of default, GOB has only an option but not an obligation to take possession of the facility and pay a compensation amount to NBBL equivalent to the principle outstanding and the interest thereon. </a:t>
            </a: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1000" b="0" i="0" u="none" strike="noStrike" kern="1200" cap="none" spc="0" normalizeH="0" baseline="0" noProof="0" dirty="0">
              <a:ln>
                <a:noFill/>
              </a:ln>
              <a:solidFill>
                <a:prstClr val="black"/>
              </a:solidFill>
              <a:effectLst/>
              <a:uLnTx/>
              <a:uFillTx/>
              <a:latin typeface="Verdana"/>
              <a:ea typeface="+mn-ea"/>
              <a:cs typeface="+mn-cs"/>
            </a:endParaRPr>
          </a:p>
          <a:p>
            <a:pPr marL="171442" marR="0" lvl="0" indent="-171442" algn="just" defTabSz="787481"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1000" b="0" i="0" u="none" strike="noStrike" kern="1200" cap="none" spc="0" normalizeH="0" baseline="0" noProof="0" dirty="0">
              <a:ln>
                <a:noFill/>
              </a:ln>
              <a:solidFill>
                <a:prstClr val="black"/>
              </a:solidFill>
              <a:effectLst/>
              <a:uLnTx/>
              <a:uFillTx/>
              <a:latin typeface="Verdana"/>
              <a:ea typeface="+mn-ea"/>
              <a:cs typeface="+mn-cs"/>
            </a:endParaRPr>
          </a:p>
        </p:txBody>
      </p:sp>
      <p:grpSp>
        <p:nvGrpSpPr>
          <p:cNvPr id="112" name="Group 449"/>
          <p:cNvGrpSpPr>
            <a:grpSpLocks noChangeAspect="1"/>
          </p:cNvGrpSpPr>
          <p:nvPr/>
        </p:nvGrpSpPr>
        <p:grpSpPr bwMode="auto">
          <a:xfrm>
            <a:off x="5668748" y="3819623"/>
            <a:ext cx="344760" cy="332826"/>
            <a:chOff x="2732" y="1561"/>
            <a:chExt cx="340" cy="340"/>
          </a:xfrm>
          <a:solidFill>
            <a:schemeClr val="accent1"/>
          </a:solidFill>
        </p:grpSpPr>
        <p:sp>
          <p:nvSpPr>
            <p:cNvPr id="113" name="Freeform 450"/>
            <p:cNvSpPr>
              <a:spLocks noEditPoints="1"/>
            </p:cNvSpPr>
            <p:nvPr/>
          </p:nvSpPr>
          <p:spPr bwMode="auto">
            <a:xfrm>
              <a:off x="2732" y="156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solidFill>
                <a:schemeClr val="accent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787481" rtl="0" eaLnBrk="1" fontAlgn="auto" latinLnBrk="0" hangingPunct="1">
                <a:lnSpc>
                  <a:spcPct val="100000"/>
                </a:lnSpc>
                <a:spcBef>
                  <a:spcPts val="0"/>
                </a:spcBef>
                <a:spcAft>
                  <a:spcPts val="0"/>
                </a:spcAft>
                <a:buClrTx/>
                <a:buSzTx/>
                <a:buFontTx/>
                <a:buNone/>
                <a:tabLst/>
                <a:defRPr/>
              </a:pPr>
              <a:endParaRPr kumimoji="0" lang="en-GB" sz="1550" b="0" i="0" u="none" strike="noStrike" kern="1200" cap="none" spc="0" normalizeH="0" baseline="0" noProof="0" dirty="0">
                <a:ln>
                  <a:noFill/>
                </a:ln>
                <a:solidFill>
                  <a:prstClr val="black"/>
                </a:solidFill>
                <a:effectLst/>
                <a:uLnTx/>
                <a:uFillTx/>
                <a:latin typeface="Verdana"/>
                <a:ea typeface="+mn-ea"/>
                <a:cs typeface="+mn-cs"/>
              </a:endParaRPr>
            </a:p>
          </p:txBody>
        </p:sp>
        <p:sp>
          <p:nvSpPr>
            <p:cNvPr id="114" name="Freeform 451"/>
            <p:cNvSpPr>
              <a:spLocks noEditPoints="1"/>
            </p:cNvSpPr>
            <p:nvPr/>
          </p:nvSpPr>
          <p:spPr bwMode="auto">
            <a:xfrm>
              <a:off x="2795" y="1630"/>
              <a:ext cx="211" cy="207"/>
            </a:xfrm>
            <a:custGeom>
              <a:avLst/>
              <a:gdLst>
                <a:gd name="T0" fmla="*/ 132 w 318"/>
                <a:gd name="T1" fmla="*/ 312 h 312"/>
                <a:gd name="T2" fmla="*/ 124 w 318"/>
                <a:gd name="T3" fmla="*/ 309 h 312"/>
                <a:gd name="T4" fmla="*/ 4 w 318"/>
                <a:gd name="T5" fmla="*/ 188 h 312"/>
                <a:gd name="T6" fmla="*/ 4 w 318"/>
                <a:gd name="T7" fmla="*/ 173 h 312"/>
                <a:gd name="T8" fmla="*/ 173 w 318"/>
                <a:gd name="T9" fmla="*/ 4 h 312"/>
                <a:gd name="T10" fmla="*/ 182 w 318"/>
                <a:gd name="T11" fmla="*/ 0 h 312"/>
                <a:gd name="T12" fmla="*/ 292 w 318"/>
                <a:gd name="T13" fmla="*/ 11 h 312"/>
                <a:gd name="T14" fmla="*/ 302 w 318"/>
                <a:gd name="T15" fmla="*/ 20 h 312"/>
                <a:gd name="T16" fmla="*/ 317 w 318"/>
                <a:gd name="T17" fmla="*/ 125 h 312"/>
                <a:gd name="T18" fmla="*/ 314 w 318"/>
                <a:gd name="T19" fmla="*/ 134 h 312"/>
                <a:gd name="T20" fmla="*/ 140 w 318"/>
                <a:gd name="T21" fmla="*/ 309 h 312"/>
                <a:gd name="T22" fmla="*/ 132 w 318"/>
                <a:gd name="T23" fmla="*/ 312 h 312"/>
                <a:gd name="T24" fmla="*/ 26 w 318"/>
                <a:gd name="T25" fmla="*/ 180 h 312"/>
                <a:gd name="T26" fmla="*/ 132 w 318"/>
                <a:gd name="T27" fmla="*/ 286 h 312"/>
                <a:gd name="T28" fmla="*/ 295 w 318"/>
                <a:gd name="T29" fmla="*/ 123 h 312"/>
                <a:gd name="T30" fmla="*/ 282 w 318"/>
                <a:gd name="T31" fmla="*/ 31 h 312"/>
                <a:gd name="T32" fmla="*/ 185 w 318"/>
                <a:gd name="T33" fmla="*/ 22 h 312"/>
                <a:gd name="T34" fmla="*/ 26 w 318"/>
                <a:gd name="T35" fmla="*/ 180 h 312"/>
                <a:gd name="T36" fmla="*/ 245 w 318"/>
                <a:gd name="T37" fmla="*/ 67 h 312"/>
                <a:gd name="T38" fmla="*/ 214 w 318"/>
                <a:gd name="T39" fmla="*/ 67 h 312"/>
                <a:gd name="T40" fmla="*/ 214 w 318"/>
                <a:gd name="T41" fmla="*/ 98 h 312"/>
                <a:gd name="T42" fmla="*/ 245 w 318"/>
                <a:gd name="T43" fmla="*/ 98 h 312"/>
                <a:gd name="T44" fmla="*/ 245 w 318"/>
                <a:gd name="T45" fmla="*/ 67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8" h="312">
                  <a:moveTo>
                    <a:pt x="132" y="312"/>
                  </a:moveTo>
                  <a:cubicBezTo>
                    <a:pt x="129" y="312"/>
                    <a:pt x="127" y="311"/>
                    <a:pt x="124" y="309"/>
                  </a:cubicBezTo>
                  <a:cubicBezTo>
                    <a:pt x="4" y="188"/>
                    <a:pt x="4" y="188"/>
                    <a:pt x="4" y="188"/>
                  </a:cubicBezTo>
                  <a:cubicBezTo>
                    <a:pt x="0" y="184"/>
                    <a:pt x="0" y="177"/>
                    <a:pt x="4" y="173"/>
                  </a:cubicBezTo>
                  <a:cubicBezTo>
                    <a:pt x="173" y="4"/>
                    <a:pt x="173" y="4"/>
                    <a:pt x="173" y="4"/>
                  </a:cubicBezTo>
                  <a:cubicBezTo>
                    <a:pt x="175" y="1"/>
                    <a:pt x="178" y="0"/>
                    <a:pt x="182" y="0"/>
                  </a:cubicBezTo>
                  <a:cubicBezTo>
                    <a:pt x="292" y="11"/>
                    <a:pt x="292" y="11"/>
                    <a:pt x="292" y="11"/>
                  </a:cubicBezTo>
                  <a:cubicBezTo>
                    <a:pt x="297" y="11"/>
                    <a:pt x="301" y="15"/>
                    <a:pt x="302" y="20"/>
                  </a:cubicBezTo>
                  <a:cubicBezTo>
                    <a:pt x="317" y="125"/>
                    <a:pt x="317" y="125"/>
                    <a:pt x="317" y="125"/>
                  </a:cubicBezTo>
                  <a:cubicBezTo>
                    <a:pt x="318" y="128"/>
                    <a:pt x="316" y="132"/>
                    <a:pt x="314" y="134"/>
                  </a:cubicBezTo>
                  <a:cubicBezTo>
                    <a:pt x="140" y="309"/>
                    <a:pt x="140" y="309"/>
                    <a:pt x="140" y="309"/>
                  </a:cubicBezTo>
                  <a:cubicBezTo>
                    <a:pt x="137" y="311"/>
                    <a:pt x="135" y="312"/>
                    <a:pt x="132" y="312"/>
                  </a:cubicBezTo>
                  <a:close/>
                  <a:moveTo>
                    <a:pt x="26" y="180"/>
                  </a:moveTo>
                  <a:cubicBezTo>
                    <a:pt x="132" y="286"/>
                    <a:pt x="132" y="286"/>
                    <a:pt x="132" y="286"/>
                  </a:cubicBezTo>
                  <a:cubicBezTo>
                    <a:pt x="295" y="123"/>
                    <a:pt x="295" y="123"/>
                    <a:pt x="295" y="123"/>
                  </a:cubicBezTo>
                  <a:cubicBezTo>
                    <a:pt x="282" y="31"/>
                    <a:pt x="282" y="31"/>
                    <a:pt x="282" y="31"/>
                  </a:cubicBezTo>
                  <a:cubicBezTo>
                    <a:pt x="185" y="22"/>
                    <a:pt x="185" y="22"/>
                    <a:pt x="185" y="22"/>
                  </a:cubicBezTo>
                  <a:lnTo>
                    <a:pt x="26" y="180"/>
                  </a:lnTo>
                  <a:close/>
                  <a:moveTo>
                    <a:pt x="245" y="67"/>
                  </a:moveTo>
                  <a:cubicBezTo>
                    <a:pt x="236" y="58"/>
                    <a:pt x="222" y="58"/>
                    <a:pt x="214" y="67"/>
                  </a:cubicBezTo>
                  <a:cubicBezTo>
                    <a:pt x="205" y="75"/>
                    <a:pt x="205" y="89"/>
                    <a:pt x="214" y="98"/>
                  </a:cubicBezTo>
                  <a:cubicBezTo>
                    <a:pt x="222" y="106"/>
                    <a:pt x="236" y="106"/>
                    <a:pt x="245" y="98"/>
                  </a:cubicBezTo>
                  <a:cubicBezTo>
                    <a:pt x="253" y="89"/>
                    <a:pt x="253" y="75"/>
                    <a:pt x="245" y="67"/>
                  </a:cubicBezTo>
                  <a:close/>
                </a:path>
              </a:pathLst>
            </a:custGeom>
            <a:grpFill/>
            <a:ln>
              <a:solidFill>
                <a:schemeClr val="accent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787481" rtl="0" eaLnBrk="1" fontAlgn="auto" latinLnBrk="0" hangingPunct="1">
                <a:lnSpc>
                  <a:spcPct val="100000"/>
                </a:lnSpc>
                <a:spcBef>
                  <a:spcPts val="0"/>
                </a:spcBef>
                <a:spcAft>
                  <a:spcPts val="0"/>
                </a:spcAft>
                <a:buClrTx/>
                <a:buSzTx/>
                <a:buFontTx/>
                <a:buNone/>
                <a:tabLst/>
                <a:defRPr/>
              </a:pPr>
              <a:endParaRPr kumimoji="0" lang="en-GB" sz="1550" b="0" i="0" u="none" strike="noStrike" kern="1200" cap="none" spc="0" normalizeH="0" baseline="0" noProof="0" dirty="0">
                <a:ln>
                  <a:noFill/>
                </a:ln>
                <a:solidFill>
                  <a:prstClr val="black"/>
                </a:solidFill>
                <a:effectLst/>
                <a:uLnTx/>
                <a:uFillTx/>
                <a:latin typeface="Verdana"/>
                <a:ea typeface="+mn-ea"/>
                <a:cs typeface="+mn-cs"/>
              </a:endParaRPr>
            </a:p>
          </p:txBody>
        </p:sp>
      </p:grpSp>
      <p:sp>
        <p:nvSpPr>
          <p:cNvPr id="19" name="Rectangle 18"/>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Implementation Agreement, Deloitte Analysis</a:t>
            </a:r>
          </a:p>
        </p:txBody>
      </p:sp>
    </p:spTree>
    <p:extLst>
      <p:ext uri="{BB962C8B-B14F-4D97-AF65-F5344CB8AC3E}">
        <p14:creationId xmlns:p14="http://schemas.microsoft.com/office/powerpoint/2010/main" val="212841021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152031230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16" imgH="416" progId="TCLayout.ActiveDocument.1">
                  <p:embed/>
                </p:oleObj>
              </mc:Choice>
              <mc:Fallback>
                <p:oleObj name="think-cell Slide" r:id="rId5" imgW="416" imgH="416" progId="TCLayout.ActiveDocument.1">
                  <p:embed/>
                  <p:pic>
                    <p:nvPicPr>
                      <p:cNvPr id="4" name="Object 3"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algn="ctr">
              <a:spcBef>
                <a:spcPct val="0"/>
              </a:spcBef>
              <a:spcAft>
                <a:spcPct val="0"/>
              </a:spcAft>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5" name="Strapline"/>
          <p:cNvSpPr>
            <a:spLocks noGrp="1"/>
          </p:cNvSpPr>
          <p:nvPr>
            <p:ph type="body" sz="quarter" idx="13"/>
          </p:nvPr>
        </p:nvSpPr>
        <p:spPr>
          <a:xfrm>
            <a:off x="449993" y="1079983"/>
            <a:ext cx="9791843" cy="518392"/>
          </a:xfrm>
        </p:spPr>
        <p:txBody>
          <a:bodyPr lIns="0" tIns="0" rIns="0" bIns="0" anchor="t">
            <a:noAutofit/>
          </a:bodyPr>
          <a:lstStyle/>
          <a:p>
            <a:r>
              <a:rPr lang="en-US" b="1" dirty="0">
                <a:solidFill>
                  <a:schemeClr val="tx1">
                    <a:lumMod val="50000"/>
                    <a:lumOff val="50000"/>
                  </a:schemeClr>
                </a:solidFill>
                <a:latin typeface="Verdana" panose="020B0604030504040204" pitchFamily="34" charset="0"/>
              </a:rPr>
              <a:t>Termination Payment</a:t>
            </a:r>
            <a:endParaRPr lang="en-GB" b="1" dirty="0">
              <a:solidFill>
                <a:schemeClr val="tx1">
                  <a:lumMod val="50000"/>
                  <a:lumOff val="50000"/>
                </a:schemeClr>
              </a:solidFill>
              <a:latin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US" dirty="0"/>
              <a:t>Implementation Agreement | Key Terms</a:t>
            </a:r>
            <a:endParaRPr lang="en-GB" noProof="0" dirty="0">
              <a:solidFill>
                <a:srgbClr val="000000"/>
              </a:solidFill>
              <a:latin typeface="Verdana" panose="020B0604030504040204" pitchFamily="34" charset="0"/>
            </a:endParaRPr>
          </a:p>
        </p:txBody>
      </p:sp>
      <p:graphicFrame>
        <p:nvGraphicFramePr>
          <p:cNvPr id="2" name="Table 1"/>
          <p:cNvGraphicFramePr>
            <a:graphicFrameLocks noGrp="1"/>
          </p:cNvGraphicFramePr>
          <p:nvPr>
            <p:extLst>
              <p:ext uri="{D42A27DB-BD31-4B8C-83A1-F6EECF244321}">
                <p14:modId xmlns:p14="http://schemas.microsoft.com/office/powerpoint/2010/main" val="640912967"/>
              </p:ext>
            </p:extLst>
          </p:nvPr>
        </p:nvGraphicFramePr>
        <p:xfrm>
          <a:off x="449992" y="1598377"/>
          <a:ext cx="9791843" cy="2597619"/>
        </p:xfrm>
        <a:graphic>
          <a:graphicData uri="http://schemas.openxmlformats.org/drawingml/2006/table">
            <a:tbl>
              <a:tblPr firstRow="1">
                <a:tableStyleId>{3B4B98B0-60AC-42C2-AFA5-B58CD77FA1E5}</a:tableStyleId>
              </a:tblPr>
              <a:tblGrid>
                <a:gridCol w="553860">
                  <a:extLst>
                    <a:ext uri="{9D8B030D-6E8A-4147-A177-3AD203B41FA5}">
                      <a16:colId xmlns:a16="http://schemas.microsoft.com/office/drawing/2014/main" val="3671827557"/>
                    </a:ext>
                  </a:extLst>
                </a:gridCol>
                <a:gridCol w="1023731">
                  <a:extLst>
                    <a:ext uri="{9D8B030D-6E8A-4147-A177-3AD203B41FA5}">
                      <a16:colId xmlns:a16="http://schemas.microsoft.com/office/drawing/2014/main" val="2911403996"/>
                    </a:ext>
                  </a:extLst>
                </a:gridCol>
                <a:gridCol w="6329339">
                  <a:extLst>
                    <a:ext uri="{9D8B030D-6E8A-4147-A177-3AD203B41FA5}">
                      <a16:colId xmlns:a16="http://schemas.microsoft.com/office/drawing/2014/main" val="1355348493"/>
                    </a:ext>
                  </a:extLst>
                </a:gridCol>
                <a:gridCol w="1884913">
                  <a:extLst>
                    <a:ext uri="{9D8B030D-6E8A-4147-A177-3AD203B41FA5}">
                      <a16:colId xmlns:a16="http://schemas.microsoft.com/office/drawing/2014/main" val="4062533320"/>
                    </a:ext>
                  </a:extLst>
                </a:gridCol>
              </a:tblGrid>
              <a:tr h="336714">
                <a:tc>
                  <a:txBody>
                    <a:bodyPr/>
                    <a:lstStyle/>
                    <a:p>
                      <a:pPr>
                        <a:spcAft>
                          <a:spcPts val="500"/>
                        </a:spcAft>
                      </a:pPr>
                      <a:r>
                        <a:rPr lang="en-US" sz="1000" dirty="0"/>
                        <a:t>Sr. No</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Parameter</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Conditions</a:t>
                      </a:r>
                      <a:endParaRPr lang="en-IN" sz="1000" dirty="0"/>
                    </a:p>
                  </a:txBody>
                  <a:tcPr>
                    <a:lnB w="12700" cap="flat" cmpd="sng" algn="ctr">
                      <a:solidFill>
                        <a:schemeClr val="tx1"/>
                      </a:solidFill>
                      <a:prstDash val="solid"/>
                      <a:round/>
                      <a:headEnd type="none" w="med" len="med"/>
                      <a:tailEnd type="none" w="med" len="med"/>
                    </a:lnB>
                  </a:tcPr>
                </a:tc>
                <a:tc>
                  <a:txBody>
                    <a:bodyPr/>
                    <a:lstStyle/>
                    <a:p>
                      <a:pPr>
                        <a:spcAft>
                          <a:spcPts val="500"/>
                        </a:spcAft>
                      </a:pPr>
                      <a:r>
                        <a:rPr lang="en-US" sz="1000" dirty="0"/>
                        <a:t>Key</a:t>
                      </a:r>
                      <a:r>
                        <a:rPr lang="en-US" sz="1000" baseline="0" dirty="0"/>
                        <a:t> risks</a:t>
                      </a:r>
                      <a:endParaRPr lang="en-IN" sz="10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5669302"/>
                  </a:ext>
                </a:extLst>
              </a:tr>
              <a:tr h="255510">
                <a:tc gridSpan="4">
                  <a:txBody>
                    <a:bodyPr/>
                    <a:lstStyle/>
                    <a:p>
                      <a:pPr>
                        <a:spcAft>
                          <a:spcPts val="500"/>
                        </a:spcAft>
                      </a:pPr>
                      <a:r>
                        <a:rPr lang="en-US" sz="1000" b="1" i="1" dirty="0"/>
                        <a:t>Performance guarantee, offtake guarantee</a:t>
                      </a:r>
                      <a:endParaRPr lang="en-IN" sz="1000" b="1" i="1"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hMerge="1">
                  <a:txBody>
                    <a:bodyPr/>
                    <a:lstStyle/>
                    <a:p>
                      <a:pPr>
                        <a:spcAft>
                          <a:spcPts val="500"/>
                        </a:spcAft>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marL="0" indent="0">
                        <a:spcAft>
                          <a:spcPts val="500"/>
                        </a:spcAft>
                        <a:buFont typeface="Arial" panose="020B0604020202020204" pitchFamily="34" charset="0"/>
                        <a:buNone/>
                      </a:pP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GB"/>
                    </a:p>
                  </a:txBody>
                  <a:tcPr/>
                </a:tc>
                <a:extLst>
                  <a:ext uri="{0D108BD9-81ED-4DB2-BD59-A6C34878D82A}">
                    <a16:rowId xmlns:a16="http://schemas.microsoft.com/office/drawing/2014/main" val="4142744858"/>
                  </a:ext>
                </a:extLst>
              </a:tr>
              <a:tr h="940029">
                <a:tc>
                  <a:txBody>
                    <a:bodyPr/>
                    <a:lstStyle/>
                    <a:p>
                      <a:pPr>
                        <a:spcAft>
                          <a:spcPts val="500"/>
                        </a:spcAft>
                      </a:pPr>
                      <a:r>
                        <a:rPr lang="en-US" sz="1000" dirty="0"/>
                        <a:t>1</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2">
                  <a:txBody>
                    <a:bodyPr/>
                    <a:lstStyle/>
                    <a:p>
                      <a:pPr>
                        <a:spcAft>
                          <a:spcPts val="500"/>
                        </a:spcAft>
                      </a:pPr>
                      <a:r>
                        <a:rPr lang="en-US" sz="1000" dirty="0"/>
                        <a:t>Termination</a:t>
                      </a:r>
                      <a:r>
                        <a:rPr lang="en-US" sz="1000" baseline="0" dirty="0"/>
                        <a:t> Payment </a:t>
                      </a:r>
                      <a:endParaRPr lang="en-IN" sz="1000" dirty="0"/>
                    </a:p>
                    <a:p>
                      <a:pPr>
                        <a:spcAft>
                          <a:spcPts val="500"/>
                        </a:spcAft>
                      </a:pPr>
                      <a:endParaRPr lang="en-IN" sz="1000" dirty="0"/>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b="1" dirty="0"/>
                        <a:t>Company Event of Default:</a:t>
                      </a:r>
                      <a:r>
                        <a:rPr lang="en-US" sz="1000" dirty="0"/>
                        <a:t> In case of Company</a:t>
                      </a:r>
                      <a:r>
                        <a:rPr lang="en-US" sz="1000" baseline="0" dirty="0"/>
                        <a:t> Event of Default, GOB has a right but no obligation to acquire the Company’s rights </a:t>
                      </a:r>
                      <a:r>
                        <a:rPr kumimoji="0" lang="en-US" sz="1000" b="0" i="0" u="none" strike="noStrike" kern="1200" cap="none" spc="0" normalizeH="0" baseline="0" noProof="0" dirty="0">
                          <a:ln>
                            <a:noFill/>
                          </a:ln>
                          <a:solidFill>
                            <a:prstClr val="black"/>
                          </a:solidFill>
                          <a:effectLst/>
                          <a:uLnTx/>
                          <a:uFillTx/>
                          <a:latin typeface="+mn-lt"/>
                          <a:ea typeface="+mn-ea"/>
                          <a:cs typeface="+mn-cs"/>
                        </a:rPr>
                        <a:t>and pay a compensation amount to NBBL equivalent to the principle outstanding and the interest thereon.</a:t>
                      </a:r>
                    </a:p>
                    <a:p>
                      <a:pPr marL="171450" indent="-171450" algn="just">
                        <a:spcAft>
                          <a:spcPts val="500"/>
                        </a:spcAft>
                        <a:buFont typeface="Arial" panose="020B0604020202020204" pitchFamily="34" charset="0"/>
                        <a:buChar char="•"/>
                      </a:pPr>
                      <a:r>
                        <a:rPr kumimoji="0" lang="en-US" sz="1000" b="0" i="0" u="none" strike="noStrike" kern="1200" cap="none" spc="0" normalizeH="0" baseline="0" noProof="0" dirty="0">
                          <a:ln>
                            <a:noFill/>
                          </a:ln>
                          <a:solidFill>
                            <a:prstClr val="black"/>
                          </a:solidFill>
                          <a:effectLst/>
                          <a:uLnTx/>
                          <a:uFillTx/>
                          <a:latin typeface="+mn-lt"/>
                          <a:ea typeface="+mn-ea"/>
                          <a:cs typeface="+mn-cs"/>
                        </a:rPr>
                        <a:t>In case GOB does not purchase the asset no obligation would exist further on GOB</a:t>
                      </a:r>
                      <a:endParaRPr lang="en-US"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just">
                        <a:spcAft>
                          <a:spcPts val="500"/>
                        </a:spcAft>
                        <a:buFont typeface="Arial" panose="020B0604020202020204" pitchFamily="34" charset="0"/>
                        <a:buNone/>
                      </a:pPr>
                      <a:r>
                        <a:rPr lang="en-US" sz="1000" baseline="0" dirty="0"/>
                        <a:t>Right to buy only to BPDB </a:t>
                      </a:r>
                    </a:p>
                    <a:p>
                      <a:pPr marL="0" indent="0" algn="just">
                        <a:spcAft>
                          <a:spcPts val="500"/>
                        </a:spcAft>
                        <a:buFont typeface="Arial" panose="020B0604020202020204" pitchFamily="34" charset="0"/>
                        <a:buNone/>
                      </a:pPr>
                      <a:r>
                        <a:rPr lang="en-US" sz="1000" baseline="0" dirty="0"/>
                        <a:t>No provision to recover equity investments </a:t>
                      </a:r>
                    </a:p>
                    <a:p>
                      <a:pPr marL="0" indent="0" algn="just">
                        <a:spcAft>
                          <a:spcPts val="500"/>
                        </a:spcAft>
                        <a:buFont typeface="Arial" panose="020B0604020202020204" pitchFamily="34" charset="0"/>
                        <a:buNone/>
                      </a:pPr>
                      <a:endParaRPr lang="en-US" sz="1000" baseline="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0521970"/>
                  </a:ext>
                </a:extLst>
              </a:tr>
              <a:tr h="940029">
                <a:tc>
                  <a:txBody>
                    <a:bodyPr/>
                    <a:lstStyle/>
                    <a:p>
                      <a:pPr>
                        <a:spcAft>
                          <a:spcPts val="500"/>
                        </a:spcAft>
                      </a:pPr>
                      <a:r>
                        <a:rPr lang="en-US" sz="1000" dirty="0"/>
                        <a:t>2</a:t>
                      </a: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spcAft>
                          <a:spcPts val="500"/>
                        </a:spcAft>
                      </a:pPr>
                      <a:endParaRPr lang="en-IN"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just">
                        <a:spcAft>
                          <a:spcPts val="500"/>
                        </a:spcAft>
                        <a:buFont typeface="Arial" panose="020B0604020202020204" pitchFamily="34" charset="0"/>
                        <a:buChar char="•"/>
                      </a:pPr>
                      <a:r>
                        <a:rPr lang="en-US" sz="1000" b="1" dirty="0"/>
                        <a:t>Force Majeure: </a:t>
                      </a:r>
                      <a:r>
                        <a:rPr lang="en-US" sz="1000" b="0" dirty="0"/>
                        <a:t>In</a:t>
                      </a:r>
                      <a:r>
                        <a:rPr lang="en-US" sz="1000" b="0" baseline="0" dirty="0"/>
                        <a:t> case of FM event there is no restoration cost which would be reimbursed to the Company. </a:t>
                      </a:r>
                    </a:p>
                    <a:p>
                      <a:pPr marL="171450" indent="-171450" algn="just">
                        <a:spcAft>
                          <a:spcPts val="500"/>
                        </a:spcAft>
                        <a:buFont typeface="Arial" panose="020B0604020202020204" pitchFamily="34" charset="0"/>
                        <a:buChar char="•"/>
                      </a:pPr>
                      <a:r>
                        <a:rPr lang="en-US" sz="1000" b="0" baseline="0" dirty="0"/>
                        <a:t>In case after the FM Event the Company concludes that the Facility cannot be restored in which case the Company can terminate the agreement however there would be no obligation on GOB for any payment </a:t>
                      </a:r>
                      <a:endParaRPr lang="en-US" sz="1000" b="1"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r>
                        <a:rPr lang="en-GB" sz="1000" dirty="0"/>
                        <a:t>In case facility </a:t>
                      </a:r>
                      <a:r>
                        <a:rPr lang="en-GB" sz="1000" baseline="0" dirty="0"/>
                        <a:t>cannot be restored after an FM event no compensation would be paid by GOB only termination rights provided to the Company </a:t>
                      </a:r>
                      <a:endParaRPr lang="en-GB" sz="1000" dirty="0"/>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5504751"/>
                  </a:ext>
                </a:extLst>
              </a:tr>
            </a:tbl>
          </a:graphicData>
        </a:graphic>
      </p:graphicFrame>
      <p:sp>
        <p:nvSpPr>
          <p:cNvPr id="5" name="Rectangle 4"/>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PPA, Deloitte Analysis</a:t>
            </a:r>
          </a:p>
        </p:txBody>
      </p:sp>
    </p:spTree>
    <p:extLst>
      <p:ext uri="{BB962C8B-B14F-4D97-AF65-F5344CB8AC3E}">
        <p14:creationId xmlns:p14="http://schemas.microsoft.com/office/powerpoint/2010/main" val="285853760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0000"/>
              </a:lnSpc>
              <a:spcBef>
                <a:spcPct val="0"/>
              </a:spcBef>
              <a:spcAft>
                <a:spcPct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pic>
        <p:nvPicPr>
          <p:cNvPr id="59" name="Picture 58"/>
          <p:cNvPicPr>
            <a:picLocks noChangeAspect="1"/>
          </p:cNvPicPr>
          <p:nvPr/>
        </p:nvPicPr>
        <p:blipFill rotWithShape="1">
          <a:blip r:embed="rId6" cstate="email">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a:ext>
            </a:extLst>
          </a:blip>
          <a:srcRect/>
          <a:stretch/>
        </p:blipFill>
        <p:spPr>
          <a:xfrm>
            <a:off x="6388099" y="1079499"/>
            <a:ext cx="4303713" cy="5570411"/>
          </a:xfrm>
          <a:prstGeom prst="rect">
            <a:avLst/>
          </a:prstGeom>
        </p:spPr>
      </p:pic>
      <p:sp>
        <p:nvSpPr>
          <p:cNvPr id="61" name="Rectangle 60"/>
          <p:cNvSpPr/>
          <p:nvPr/>
        </p:nvSpPr>
        <p:spPr bwMode="gray">
          <a:xfrm>
            <a:off x="447964" y="1030161"/>
            <a:ext cx="10229273" cy="36000"/>
          </a:xfrm>
          <a:prstGeom prst="rect">
            <a:avLst/>
          </a:prstGeom>
          <a:solidFill>
            <a:srgbClr val="00ABAB"/>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62" name="Rectangle 61"/>
          <p:cNvSpPr/>
          <p:nvPr/>
        </p:nvSpPr>
        <p:spPr bwMode="gray">
          <a:xfrm>
            <a:off x="447964" y="6663250"/>
            <a:ext cx="10229273" cy="36000"/>
          </a:xfrm>
          <a:prstGeom prst="rect">
            <a:avLst/>
          </a:prstGeom>
          <a:solidFill>
            <a:srgbClr val="00ABAB"/>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6" name="Rectangle 15"/>
          <p:cNvSpPr/>
          <p:nvPr/>
        </p:nvSpPr>
        <p:spPr>
          <a:xfrm>
            <a:off x="469900" y="2352070"/>
            <a:ext cx="4552045" cy="4154984"/>
          </a:xfrm>
          <a:prstGeom prst="rect">
            <a:avLst/>
          </a:prstGeom>
        </p:spPr>
        <p:txBody>
          <a:bodyPr wrap="square">
            <a:spAutoFit/>
          </a:bodyPr>
          <a:lstStyle/>
          <a:p>
            <a:pPr marL="0" marR="0" lvl="0" indent="0" algn="l" defTabSz="787481"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Verdana"/>
                <a:ea typeface="+mn-ea"/>
                <a:cs typeface="+mn-cs"/>
              </a:rPr>
              <a:t>Policy</a:t>
            </a:r>
            <a:r>
              <a:rPr kumimoji="0" lang="en-US" sz="2400" b="1" i="0" u="none" strike="noStrike" kern="1200" cap="none" spc="0" normalizeH="0" noProof="0" dirty="0">
                <a:ln>
                  <a:noFill/>
                </a:ln>
                <a:solidFill>
                  <a:prstClr val="black"/>
                </a:solidFill>
                <a:effectLst/>
                <a:uLnTx/>
                <a:uFillTx/>
                <a:latin typeface="Verdana"/>
                <a:ea typeface="+mn-ea"/>
                <a:cs typeface="+mn-cs"/>
              </a:rPr>
              <a:t> &amp; Regulatory Overview</a:t>
            </a:r>
            <a:endParaRPr kumimoji="0" lang="en-US" sz="2400" b="1" i="0" u="none" strike="noStrike" kern="1200" cap="none" spc="0" normalizeH="0" baseline="0" noProof="0" dirty="0">
              <a:ln>
                <a:noFill/>
              </a:ln>
              <a:solidFill>
                <a:prstClr val="black"/>
              </a:solidFill>
              <a:effectLst/>
              <a:uLnTx/>
              <a:uFillTx/>
              <a:latin typeface="Verdana"/>
              <a:ea typeface="+mn-ea"/>
              <a:cs typeface="+mn-cs"/>
            </a:endParaRPr>
          </a:p>
          <a:p>
            <a:pPr marL="0" marR="0" lvl="0" indent="0" algn="l" defTabSz="787481"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0097A9"/>
                </a:solidFill>
                <a:effectLst/>
                <a:uLnTx/>
                <a:uFillTx/>
                <a:latin typeface="Verdana"/>
                <a:ea typeface="+mn-ea"/>
                <a:cs typeface="+mn-cs"/>
              </a:rPr>
              <a:t>Analyze the key clauses affecting Nimbus in Power Sector Governing laws for</a:t>
            </a:r>
            <a:r>
              <a:rPr kumimoji="0" lang="en-US" sz="2400" b="0" i="1" u="none" strike="noStrike" kern="1200" cap="none" spc="0" normalizeH="0" noProof="0" dirty="0">
                <a:ln>
                  <a:noFill/>
                </a:ln>
                <a:solidFill>
                  <a:srgbClr val="0097A9"/>
                </a:solidFill>
                <a:effectLst/>
                <a:uLnTx/>
                <a:uFillTx/>
                <a:latin typeface="Verdana"/>
                <a:ea typeface="+mn-ea"/>
                <a:cs typeface="+mn-cs"/>
              </a:rPr>
              <a:t> licensing, tariff determination, private </a:t>
            </a:r>
            <a:r>
              <a:rPr lang="en-US" sz="2400" i="1" dirty="0">
                <a:solidFill>
                  <a:srgbClr val="0097A9"/>
                </a:solidFill>
                <a:latin typeface="Verdana"/>
              </a:rPr>
              <a:t>s</a:t>
            </a:r>
            <a:r>
              <a:rPr kumimoji="0" lang="en-US" sz="2400" b="0" i="1" u="none" strike="noStrike" kern="1200" cap="none" spc="0" normalizeH="0" noProof="0" dirty="0">
                <a:ln>
                  <a:noFill/>
                </a:ln>
                <a:solidFill>
                  <a:srgbClr val="0097A9"/>
                </a:solidFill>
                <a:effectLst/>
                <a:uLnTx/>
                <a:uFillTx/>
                <a:latin typeface="Verdana"/>
                <a:ea typeface="+mn-ea"/>
                <a:cs typeface="+mn-cs"/>
              </a:rPr>
              <a:t>ector participation, grid rules, energy policy &amp; visions, gas supply among others</a:t>
            </a:r>
            <a:endParaRPr kumimoji="0" lang="en-US" sz="2400" b="0" i="1" u="none" strike="noStrike" kern="1200" cap="none" spc="0" normalizeH="0" baseline="0" noProof="0" dirty="0">
              <a:ln>
                <a:noFill/>
              </a:ln>
              <a:solidFill>
                <a:srgbClr val="0097A9"/>
              </a:solidFill>
              <a:effectLst/>
              <a:uLnTx/>
              <a:uFillTx/>
              <a:latin typeface="Verdana"/>
              <a:ea typeface="+mn-ea"/>
              <a:cs typeface="+mn-cs"/>
            </a:endParaRPr>
          </a:p>
        </p:txBody>
      </p:sp>
      <p:sp>
        <p:nvSpPr>
          <p:cNvPr id="18" name="Oval 17"/>
          <p:cNvSpPr/>
          <p:nvPr/>
        </p:nvSpPr>
        <p:spPr bwMode="gray">
          <a:xfrm>
            <a:off x="5179691" y="1296232"/>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01</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19" name="Oval 18"/>
          <p:cNvSpPr/>
          <p:nvPr/>
        </p:nvSpPr>
        <p:spPr bwMode="gray">
          <a:xfrm>
            <a:off x="5184133" y="1819733"/>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02</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0" name="Oval 19"/>
          <p:cNvSpPr/>
          <p:nvPr/>
        </p:nvSpPr>
        <p:spPr bwMode="gray">
          <a:xfrm>
            <a:off x="5184133" y="2343234"/>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03</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1" name="Oval 20"/>
          <p:cNvSpPr/>
          <p:nvPr/>
        </p:nvSpPr>
        <p:spPr bwMode="gray">
          <a:xfrm>
            <a:off x="5179696" y="2866735"/>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04</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2" name="Oval 21"/>
          <p:cNvSpPr/>
          <p:nvPr/>
        </p:nvSpPr>
        <p:spPr bwMode="gray">
          <a:xfrm>
            <a:off x="5179696" y="3390236"/>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05</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3" name="Oval 22"/>
          <p:cNvSpPr/>
          <p:nvPr/>
        </p:nvSpPr>
        <p:spPr bwMode="gray">
          <a:xfrm>
            <a:off x="5179696" y="3913737"/>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06</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4" name="Oval 23"/>
          <p:cNvSpPr/>
          <p:nvPr/>
        </p:nvSpPr>
        <p:spPr bwMode="gray">
          <a:xfrm>
            <a:off x="5179695" y="4437238"/>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07</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5" name="Oval 24"/>
          <p:cNvSpPr/>
          <p:nvPr/>
        </p:nvSpPr>
        <p:spPr bwMode="gray">
          <a:xfrm>
            <a:off x="5179692" y="4960739"/>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dirty="0">
                <a:ln>
                  <a:noFill/>
                </a:ln>
                <a:solidFill>
                  <a:prstClr val="black"/>
                </a:solidFill>
                <a:effectLst/>
                <a:uLnTx/>
                <a:uFillTx/>
                <a:latin typeface="Verdana"/>
                <a:ea typeface="+mn-ea"/>
                <a:cs typeface="+mn-cs"/>
              </a:rPr>
              <a:t>08</a:t>
            </a:r>
            <a:endParaRPr kumimoji="0" lang="en-IN" sz="1400" b="1" i="0" u="none" strike="noStrike" kern="1200" cap="none" spc="0" normalizeH="0" baseline="0" noProof="0" dirty="0">
              <a:ln>
                <a:noFill/>
              </a:ln>
              <a:solidFill>
                <a:prstClr val="black"/>
              </a:solidFill>
              <a:effectLst/>
              <a:uLnTx/>
              <a:uFillTx/>
              <a:latin typeface="Verdana"/>
              <a:ea typeface="+mn-ea"/>
              <a:cs typeface="+mn-cs"/>
            </a:endParaRPr>
          </a:p>
        </p:txBody>
      </p:sp>
      <p:sp>
        <p:nvSpPr>
          <p:cNvPr id="26" name="Oval 25"/>
          <p:cNvSpPr/>
          <p:nvPr/>
        </p:nvSpPr>
        <p:spPr bwMode="gray">
          <a:xfrm>
            <a:off x="5179694" y="5484240"/>
            <a:ext cx="382909" cy="382909"/>
          </a:xfrm>
          <a:prstGeom prst="ellipse">
            <a:avLst/>
          </a:prstGeom>
          <a:solidFill>
            <a:schemeClr val="accent6">
              <a:lumMod val="20000"/>
              <a:lumOff val="80000"/>
            </a:schemeClr>
          </a:solidFill>
          <a:ln w="19050" algn="ctr">
            <a:noFill/>
            <a:miter lim="800000"/>
            <a:headEnd/>
            <a:tailEnd/>
          </a:ln>
        </p:spPr>
        <p:txBody>
          <a:bodyPr wrap="square" lIns="0" tIns="88900" rIns="0" bIns="88900" rtlCol="0" anchor="ctr"/>
          <a:lstStyle/>
          <a:p>
            <a:pPr algn="ctr">
              <a:lnSpc>
                <a:spcPct val="106000"/>
              </a:lnSpc>
              <a:buFont typeface="Wingdings 2" pitchFamily="18" charset="2"/>
              <a:buNone/>
            </a:pPr>
            <a:r>
              <a:rPr lang="en-US" sz="1400" b="1" dirty="0">
                <a:solidFill>
                  <a:prstClr val="black"/>
                </a:solidFill>
                <a:latin typeface="Verdana"/>
              </a:rPr>
              <a:t>09</a:t>
            </a:r>
            <a:endParaRPr lang="en-IN" sz="1400" b="1" dirty="0">
              <a:solidFill>
                <a:prstClr val="black"/>
              </a:solidFill>
              <a:latin typeface="Verdana"/>
            </a:endParaRPr>
          </a:p>
        </p:txBody>
      </p:sp>
      <p:sp>
        <p:nvSpPr>
          <p:cNvPr id="27" name="Oval 26"/>
          <p:cNvSpPr/>
          <p:nvPr/>
        </p:nvSpPr>
        <p:spPr bwMode="gray">
          <a:xfrm>
            <a:off x="5179691" y="6007743"/>
            <a:ext cx="382909" cy="382909"/>
          </a:xfrm>
          <a:prstGeom prst="ellipse">
            <a:avLst/>
          </a:prstGeom>
          <a:solidFill>
            <a:schemeClr val="accent5"/>
          </a:solidFill>
        </p:spPr>
        <p:txBody>
          <a:bodyPr wrap="square" lIns="0" tIns="88900" rIns="0" bIns="88900" rtlCol="0" anchor="ctr"/>
          <a:lstStyle/>
          <a:p>
            <a:pPr algn="ctr">
              <a:lnSpc>
                <a:spcPct val="106000"/>
              </a:lnSpc>
              <a:buFont typeface="Wingdings 2" pitchFamily="18" charset="2"/>
              <a:buNone/>
            </a:pPr>
            <a:r>
              <a:rPr lang="en-US" sz="1400" b="1" dirty="0">
                <a:solidFill>
                  <a:prstClr val="white"/>
                </a:solidFill>
                <a:latin typeface="Verdana"/>
              </a:rPr>
              <a:t>10</a:t>
            </a:r>
            <a:endParaRPr lang="en-IN" sz="1400" b="1" dirty="0">
              <a:solidFill>
                <a:prstClr val="white"/>
              </a:solidFill>
              <a:latin typeface="Verdana"/>
            </a:endParaRPr>
          </a:p>
        </p:txBody>
      </p:sp>
    </p:spTree>
    <p:extLst>
      <p:ext uri="{BB962C8B-B14F-4D97-AF65-F5344CB8AC3E}">
        <p14:creationId xmlns:p14="http://schemas.microsoft.com/office/powerpoint/2010/main" val="3477540333"/>
      </p:ext>
    </p:extLst>
  </p:cSld>
  <p:clrMapOvr>
    <a:masterClrMapping/>
  </p:clrMapOvr>
  <p:transition>
    <p:fade/>
  </p:transition>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4" name="Object 3"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2" name="Title 1"/>
          <p:cNvSpPr>
            <a:spLocks noGrp="1"/>
          </p:cNvSpPr>
          <p:nvPr>
            <p:ph type="title"/>
          </p:nvPr>
        </p:nvSpPr>
        <p:spPr/>
        <p:txBody>
          <a:bodyPr/>
          <a:lstStyle/>
          <a:p>
            <a:r>
              <a:rPr lang="en-US" dirty="0"/>
              <a:t>Policy &amp; Regulatory Overview | Implications for Power Generators</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We have reviewed the various policies and regulations in force for gas based power generators in Bangladesh and identified the key implications for the generators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86" name="Table 85"/>
          <p:cNvGraphicFramePr>
            <a:graphicFrameLocks noGrp="1"/>
          </p:cNvGraphicFramePr>
          <p:nvPr>
            <p:custDataLst>
              <p:tags r:id="rId3"/>
            </p:custDataLst>
          </p:nvPr>
        </p:nvGraphicFramePr>
        <p:xfrm>
          <a:off x="449993" y="1961919"/>
          <a:ext cx="9790972" cy="306118"/>
        </p:xfrm>
        <a:graphic>
          <a:graphicData uri="http://schemas.openxmlformats.org/drawingml/2006/table">
            <a:tbl>
              <a:tblPr firstRow="1" bandRow="1">
                <a:tableStyleId>{5C22544A-7EE6-4342-B048-85BDC9FD1C3A}</a:tableStyleId>
              </a:tblPr>
              <a:tblGrid>
                <a:gridCol w="9790972">
                  <a:extLst>
                    <a:ext uri="{9D8B030D-6E8A-4147-A177-3AD203B41FA5}">
                      <a16:colId xmlns:a16="http://schemas.microsoft.com/office/drawing/2014/main" val="20000"/>
                    </a:ext>
                  </a:extLst>
                </a:gridCol>
              </a:tblGrid>
              <a:tr h="0">
                <a:tc>
                  <a:txBody>
                    <a:bodyPr/>
                    <a:lstStyle/>
                    <a:p>
                      <a:pPr marL="17145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pSp>
        <p:nvGrpSpPr>
          <p:cNvPr id="8" name="Group 7"/>
          <p:cNvGrpSpPr/>
          <p:nvPr/>
        </p:nvGrpSpPr>
        <p:grpSpPr>
          <a:xfrm>
            <a:off x="421951" y="2156680"/>
            <a:ext cx="9731929" cy="2100819"/>
            <a:chOff x="421951" y="2156680"/>
            <a:chExt cx="9731929" cy="2100819"/>
          </a:xfrm>
        </p:grpSpPr>
        <p:cxnSp>
          <p:nvCxnSpPr>
            <p:cNvPr id="60" name="Straight Connector 59"/>
            <p:cNvCxnSpPr/>
            <p:nvPr/>
          </p:nvCxnSpPr>
          <p:spPr>
            <a:xfrm>
              <a:off x="755018" y="4257499"/>
              <a:ext cx="9398862" cy="0"/>
            </a:xfrm>
            <a:prstGeom prst="line">
              <a:avLst/>
            </a:prstGeom>
            <a:ln>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5" name="Group 4"/>
            <p:cNvGrpSpPr/>
            <p:nvPr/>
          </p:nvGrpSpPr>
          <p:grpSpPr>
            <a:xfrm>
              <a:off x="421951" y="2156680"/>
              <a:ext cx="9574924" cy="1232701"/>
              <a:chOff x="421951" y="2453860"/>
              <a:chExt cx="9574924" cy="1232701"/>
            </a:xfrm>
          </p:grpSpPr>
          <p:grpSp>
            <p:nvGrpSpPr>
              <p:cNvPr id="62" name="Group 61"/>
              <p:cNvGrpSpPr/>
              <p:nvPr/>
            </p:nvGrpSpPr>
            <p:grpSpPr>
              <a:xfrm>
                <a:off x="421951" y="2453860"/>
                <a:ext cx="4674819" cy="1226780"/>
                <a:chOff x="300149" y="1758589"/>
                <a:chExt cx="5434268" cy="1473599"/>
              </a:xfrm>
            </p:grpSpPr>
            <p:sp>
              <p:nvSpPr>
                <p:cNvPr id="66" name="Rectangle 65"/>
                <p:cNvSpPr/>
                <p:nvPr/>
              </p:nvSpPr>
              <p:spPr bwMode="gray">
                <a:xfrm>
                  <a:off x="687325" y="1758589"/>
                  <a:ext cx="5047092" cy="1473599"/>
                </a:xfrm>
                <a:prstGeom prst="rect">
                  <a:avLst/>
                </a:prstGeom>
                <a:noFill/>
                <a:ln w="19050" algn="ctr">
                  <a:noFill/>
                  <a:miter lim="800000"/>
                  <a:headEnd/>
                  <a:tailEnd/>
                </a:ln>
              </p:spPr>
              <p:txBody>
                <a:bodyPr wrap="square" lIns="88900" tIns="88900" rIns="88900" bIns="88900" rtlCol="0" anchor="t"/>
                <a:lstStyle/>
                <a:p>
                  <a:pPr marL="0" marR="0" lvl="0" indent="0" algn="just" defTabSz="1219170" rtl="0" eaLnBrk="1" fontAlgn="auto" latinLnBrk="0" hangingPunct="1">
                    <a:lnSpc>
                      <a:spcPct val="100000"/>
                    </a:lnSpc>
                    <a:spcBef>
                      <a:spcPts val="0"/>
                    </a:spcBef>
                    <a:spcAft>
                      <a:spcPts val="600"/>
                    </a:spcAft>
                    <a:buClrTx/>
                    <a:buSzTx/>
                    <a:buFont typeface="Wingdings 2" pitchFamily="18" charset="2"/>
                    <a:buNone/>
                    <a:tabLst/>
                    <a:defRPr/>
                  </a:pPr>
                  <a:r>
                    <a:rPr kumimoji="0" lang="en-US" sz="1100" b="1" i="0" u="none" strike="noStrike" kern="1200" cap="none" spc="0" normalizeH="0" baseline="0" noProof="0" dirty="0">
                      <a:ln>
                        <a:noFill/>
                      </a:ln>
                      <a:solidFill>
                        <a:prstClr val="black"/>
                      </a:solidFill>
                      <a:effectLst/>
                      <a:uLnTx/>
                      <a:uFillTx/>
                      <a:latin typeface="Verdana"/>
                      <a:ea typeface="+mn-ea"/>
                      <a:cs typeface="+mn-cs"/>
                    </a:rPr>
                    <a:t>Bangladesh Electricity Act, 2018</a:t>
                  </a:r>
                </a:p>
                <a:p>
                  <a:pPr marL="0" marR="0" lvl="0" indent="0" algn="just" defTabSz="121917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dirty="0">
                      <a:ln>
                        <a:noFill/>
                      </a:ln>
                      <a:solidFill>
                        <a:prstClr val="black"/>
                      </a:solidFill>
                      <a:effectLst/>
                      <a:uLnTx/>
                      <a:uFillTx/>
                      <a:latin typeface="Verdana"/>
                      <a:ea typeface="+mn-ea"/>
                      <a:cs typeface="+mn-cs"/>
                    </a:rPr>
                    <a:t>Provides for licensing regulations for electricity generation</a:t>
                  </a:r>
                </a:p>
              </p:txBody>
            </p:sp>
            <p:sp>
              <p:nvSpPr>
                <p:cNvPr id="67" name="Oval 66"/>
                <p:cNvSpPr/>
                <p:nvPr/>
              </p:nvSpPr>
              <p:spPr bwMode="gray">
                <a:xfrm>
                  <a:off x="300149" y="1820537"/>
                  <a:ext cx="338972" cy="348238"/>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121917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0" u="none" strike="noStrike" kern="1200" cap="none" spc="0" normalizeH="0" baseline="0" noProof="0" dirty="0">
                      <a:ln>
                        <a:noFill/>
                      </a:ln>
                      <a:solidFill>
                        <a:prstClr val="white"/>
                      </a:solidFill>
                      <a:effectLst/>
                      <a:uLnTx/>
                      <a:uFillTx/>
                      <a:latin typeface="Verdana"/>
                      <a:ea typeface="+mn-ea"/>
                      <a:cs typeface="+mn-cs"/>
                    </a:rPr>
                    <a:t>1</a:t>
                  </a:r>
                </a:p>
              </p:txBody>
            </p:sp>
          </p:grpSp>
          <p:sp>
            <p:nvSpPr>
              <p:cNvPr id="65" name="Chevron 64"/>
              <p:cNvSpPr/>
              <p:nvPr/>
            </p:nvSpPr>
            <p:spPr bwMode="gray">
              <a:xfrm>
                <a:off x="5224659" y="2775601"/>
                <a:ext cx="302576" cy="583298"/>
              </a:xfrm>
              <a:prstGeom prst="chevron">
                <a:avLst>
                  <a:gd name="adj" fmla="val 60265"/>
                </a:avLst>
              </a:prstGeom>
              <a:solidFill>
                <a:schemeClr val="bg1"/>
              </a:solidFill>
              <a:ln w="19050" algn="ctr">
                <a:solidFill>
                  <a:schemeClr val="accent1"/>
                </a:solidFill>
                <a:miter lim="800000"/>
                <a:headEnd/>
                <a:tailEnd/>
              </a:ln>
            </p:spPr>
            <p:txBody>
              <a:bodyPr wrap="square" lIns="88900" tIns="88900" rIns="88900" bIns="88900" rtlCol="0" anchor="ctr"/>
              <a:lstStyle/>
              <a:p>
                <a:pPr marL="0" marR="0" lvl="0" indent="0" algn="ctr" defTabSz="121917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1" i="0" u="none" strike="noStrike" kern="1200" cap="none" spc="0" normalizeH="0" baseline="0" noProof="0" dirty="0">
                  <a:ln>
                    <a:noFill/>
                  </a:ln>
                  <a:solidFill>
                    <a:prstClr val="white"/>
                  </a:solidFill>
                  <a:effectLst/>
                  <a:uLnTx/>
                  <a:uFillTx/>
                  <a:latin typeface="Verdana"/>
                  <a:ea typeface="+mn-ea"/>
                  <a:cs typeface="+mn-cs"/>
                </a:endParaRPr>
              </a:p>
            </p:txBody>
          </p:sp>
          <p:sp>
            <p:nvSpPr>
              <p:cNvPr id="88" name="Rectangle 87"/>
              <p:cNvSpPr/>
              <p:nvPr/>
            </p:nvSpPr>
            <p:spPr bwMode="gray">
              <a:xfrm>
                <a:off x="5655124" y="2456540"/>
                <a:ext cx="4341751" cy="1230021"/>
              </a:xfrm>
              <a:prstGeom prst="rect">
                <a:avLst/>
              </a:prstGeom>
              <a:noFill/>
              <a:ln w="19050" algn="ctr">
                <a:noFill/>
                <a:miter lim="800000"/>
                <a:headEnd/>
                <a:tailEnd/>
              </a:ln>
            </p:spPr>
            <p:txBody>
              <a:bodyPr wrap="square" lIns="88900" tIns="88900" rIns="88900" bIns="88900" rtlCol="0" anchor="t"/>
              <a:lstStyle/>
              <a:p>
                <a:pPr marL="171450" marR="0" lvl="0" indent="-171450" algn="just" defTabSz="121917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100" b="0" i="1" u="none" strike="noStrike" kern="1200" cap="none" spc="0" normalizeH="0" baseline="0" noProof="0" dirty="0">
                    <a:ln>
                      <a:noFill/>
                    </a:ln>
                    <a:solidFill>
                      <a:prstClr val="black"/>
                    </a:solidFill>
                    <a:effectLst/>
                    <a:uLnTx/>
                    <a:uFillTx/>
                    <a:latin typeface="Verdana"/>
                    <a:ea typeface="+mn-ea"/>
                    <a:cs typeface="+mn-cs"/>
                  </a:rPr>
                  <a:t>Licensing requirement poses entry barrier to a new entrant in the Bangladesh power generation space, resulting in favorable condition for the existing player as far as market competition is concerned;</a:t>
                </a:r>
              </a:p>
              <a:p>
                <a:pPr marL="171450" marR="0" lvl="0" indent="-171450" algn="just" defTabSz="121917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100" b="0" i="1" u="none" strike="noStrike" kern="1200" cap="none" spc="0" normalizeH="0" baseline="0" noProof="0" dirty="0">
                    <a:ln>
                      <a:noFill/>
                    </a:ln>
                    <a:solidFill>
                      <a:prstClr val="black"/>
                    </a:solidFill>
                    <a:effectLst/>
                    <a:uLnTx/>
                    <a:uFillTx/>
                    <a:latin typeface="Verdana"/>
                    <a:ea typeface="+mn-ea"/>
                    <a:cs typeface="+mn-cs"/>
                  </a:rPr>
                  <a:t>The existing gas based generation company has to comply with the license terms and conditions.</a:t>
                </a:r>
              </a:p>
              <a:p>
                <a:pPr marL="171450" lvl="0" indent="-171450" algn="just" defTabSz="1219170">
                  <a:spcAft>
                    <a:spcPts val="600"/>
                  </a:spcAft>
                  <a:buFont typeface="Arial" panose="020B0604020202020204" pitchFamily="34" charset="0"/>
                  <a:buChar char="•"/>
                  <a:defRPr/>
                </a:pPr>
                <a:r>
                  <a:rPr lang="en-US" sz="1100" i="1" dirty="0">
                    <a:solidFill>
                      <a:prstClr val="black"/>
                    </a:solidFill>
                    <a:latin typeface="Verdana"/>
                  </a:rPr>
                  <a:t>The law provides for establishment of an Independent System Operator </a:t>
                </a:r>
                <a:r>
                  <a:rPr lang="en-US" sz="1100" i="1" dirty="0">
                    <a:solidFill>
                      <a:prstClr val="black"/>
                    </a:solidFill>
                  </a:rPr>
                  <a:t>in Bangladesh, thus making power dispatch according to merit order. This is favorable for generators having low cost of generation</a:t>
                </a:r>
                <a:endParaRPr kumimoji="0" lang="en-US" sz="1100" b="0" i="1" u="none" strike="noStrike" kern="1200" cap="none" spc="0" normalizeH="0" baseline="0" noProof="0" dirty="0">
                  <a:ln>
                    <a:noFill/>
                  </a:ln>
                  <a:solidFill>
                    <a:prstClr val="black"/>
                  </a:solidFill>
                  <a:effectLst/>
                  <a:uLnTx/>
                  <a:uFillTx/>
                  <a:latin typeface="Verdana"/>
                  <a:ea typeface="+mn-ea"/>
                  <a:cs typeface="+mn-cs"/>
                </a:endParaRPr>
              </a:p>
            </p:txBody>
          </p:sp>
        </p:grpSp>
      </p:grpSp>
      <p:grpSp>
        <p:nvGrpSpPr>
          <p:cNvPr id="47" name="Group 46"/>
          <p:cNvGrpSpPr/>
          <p:nvPr/>
        </p:nvGrpSpPr>
        <p:grpSpPr>
          <a:xfrm>
            <a:off x="449264" y="4410746"/>
            <a:ext cx="9741655" cy="1434070"/>
            <a:chOff x="421951" y="2156679"/>
            <a:chExt cx="9741655" cy="1434070"/>
          </a:xfrm>
        </p:grpSpPr>
        <p:cxnSp>
          <p:nvCxnSpPr>
            <p:cNvPr id="48" name="Straight Connector 47"/>
            <p:cNvCxnSpPr/>
            <p:nvPr/>
          </p:nvCxnSpPr>
          <p:spPr>
            <a:xfrm>
              <a:off x="764744" y="3590749"/>
              <a:ext cx="9398862" cy="0"/>
            </a:xfrm>
            <a:prstGeom prst="line">
              <a:avLst/>
            </a:prstGeom>
            <a:ln>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49" name="Group 48"/>
            <p:cNvGrpSpPr/>
            <p:nvPr/>
          </p:nvGrpSpPr>
          <p:grpSpPr>
            <a:xfrm>
              <a:off x="421951" y="2156679"/>
              <a:ext cx="9574924" cy="1416690"/>
              <a:chOff x="421951" y="2453859"/>
              <a:chExt cx="9574924" cy="1416690"/>
            </a:xfrm>
          </p:grpSpPr>
          <p:grpSp>
            <p:nvGrpSpPr>
              <p:cNvPr id="51" name="Group 50"/>
              <p:cNvGrpSpPr/>
              <p:nvPr/>
            </p:nvGrpSpPr>
            <p:grpSpPr>
              <a:xfrm>
                <a:off x="421951" y="2453859"/>
                <a:ext cx="4674819" cy="1416690"/>
                <a:chOff x="300149" y="1758588"/>
                <a:chExt cx="5434268" cy="1701718"/>
              </a:xfrm>
            </p:grpSpPr>
            <p:sp>
              <p:nvSpPr>
                <p:cNvPr id="54" name="Rectangle 53"/>
                <p:cNvSpPr/>
                <p:nvPr/>
              </p:nvSpPr>
              <p:spPr bwMode="gray">
                <a:xfrm>
                  <a:off x="687324" y="1758588"/>
                  <a:ext cx="5047093" cy="1701718"/>
                </a:xfrm>
                <a:prstGeom prst="rect">
                  <a:avLst/>
                </a:prstGeom>
                <a:noFill/>
                <a:ln w="19050" algn="ctr">
                  <a:noFill/>
                  <a:miter lim="800000"/>
                  <a:headEnd/>
                  <a:tailEnd/>
                </a:ln>
              </p:spPr>
              <p:txBody>
                <a:bodyPr wrap="square" lIns="88900" tIns="88900" rIns="88900" bIns="88900" rtlCol="0" anchor="t"/>
                <a:lstStyle/>
                <a:p>
                  <a:pPr marL="0" marR="0" lvl="0" indent="0" algn="just" defTabSz="1219170" rtl="0" eaLnBrk="1" fontAlgn="auto" latinLnBrk="0" hangingPunct="1">
                    <a:lnSpc>
                      <a:spcPct val="100000"/>
                    </a:lnSpc>
                    <a:spcBef>
                      <a:spcPts val="0"/>
                    </a:spcBef>
                    <a:spcAft>
                      <a:spcPts val="60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Verdana"/>
                      <a:ea typeface="+mn-ea"/>
                      <a:cs typeface="+mn-cs"/>
                    </a:rPr>
                    <a:t>Bangladesh Energy Regulatory Commission License Regulations, 2006 and its amendment in 2016</a:t>
                  </a:r>
                </a:p>
                <a:p>
                  <a:pPr marL="0" marR="0" lvl="0" indent="0" algn="just" defTabSz="121917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dirty="0">
                      <a:ln>
                        <a:noFill/>
                      </a:ln>
                      <a:solidFill>
                        <a:prstClr val="black"/>
                      </a:solidFill>
                      <a:effectLst/>
                      <a:uLnTx/>
                      <a:uFillTx/>
                      <a:latin typeface="Verdana"/>
                      <a:ea typeface="+mn-ea"/>
                      <a:cs typeface="+mn-cs"/>
                    </a:rPr>
                    <a:t>Provides for the license application and approval processes, responsibilities of a licensee, annual license fees, license renewal process, conditions for license suspension and revocation, and license termination process.</a:t>
                  </a:r>
                </a:p>
              </p:txBody>
            </p:sp>
            <p:sp>
              <p:nvSpPr>
                <p:cNvPr id="55" name="Oval 54"/>
                <p:cNvSpPr/>
                <p:nvPr/>
              </p:nvSpPr>
              <p:spPr bwMode="gray">
                <a:xfrm>
                  <a:off x="300149" y="1820537"/>
                  <a:ext cx="338972" cy="348238"/>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121917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0" u="none" strike="noStrike" kern="1200" cap="none" spc="0" normalizeH="0" baseline="0" noProof="0" dirty="0">
                      <a:ln>
                        <a:noFill/>
                      </a:ln>
                      <a:solidFill>
                        <a:prstClr val="white"/>
                      </a:solidFill>
                      <a:effectLst/>
                      <a:uLnTx/>
                      <a:uFillTx/>
                      <a:latin typeface="Verdana"/>
                      <a:ea typeface="+mn-ea"/>
                      <a:cs typeface="+mn-cs"/>
                    </a:rPr>
                    <a:t>2</a:t>
                  </a:r>
                </a:p>
              </p:txBody>
            </p:sp>
          </p:grpSp>
          <p:sp>
            <p:nvSpPr>
              <p:cNvPr id="52" name="Chevron 51"/>
              <p:cNvSpPr/>
              <p:nvPr/>
            </p:nvSpPr>
            <p:spPr bwMode="gray">
              <a:xfrm>
                <a:off x="5224659" y="2775601"/>
                <a:ext cx="302576" cy="583298"/>
              </a:xfrm>
              <a:prstGeom prst="chevron">
                <a:avLst>
                  <a:gd name="adj" fmla="val 60265"/>
                </a:avLst>
              </a:prstGeom>
              <a:solidFill>
                <a:schemeClr val="bg1"/>
              </a:solidFill>
              <a:ln w="19050" algn="ctr">
                <a:solidFill>
                  <a:schemeClr val="accent1"/>
                </a:solidFill>
                <a:miter lim="800000"/>
                <a:headEnd/>
                <a:tailEnd/>
              </a:ln>
            </p:spPr>
            <p:txBody>
              <a:bodyPr wrap="square" lIns="88900" tIns="88900" rIns="88900" bIns="88900" rtlCol="0" anchor="ctr"/>
              <a:lstStyle/>
              <a:p>
                <a:pPr marL="0" marR="0" lvl="0" indent="0" algn="ctr" defTabSz="121917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1" i="0" u="none" strike="noStrike" kern="1200" cap="none" spc="0" normalizeH="0" baseline="0" noProof="0" dirty="0">
                  <a:ln>
                    <a:noFill/>
                  </a:ln>
                  <a:solidFill>
                    <a:prstClr val="white"/>
                  </a:solidFill>
                  <a:effectLst/>
                  <a:uLnTx/>
                  <a:uFillTx/>
                  <a:latin typeface="Verdana"/>
                  <a:ea typeface="+mn-ea"/>
                  <a:cs typeface="+mn-cs"/>
                </a:endParaRPr>
              </a:p>
            </p:txBody>
          </p:sp>
          <p:sp>
            <p:nvSpPr>
              <p:cNvPr id="53" name="Rectangle 52"/>
              <p:cNvSpPr/>
              <p:nvPr/>
            </p:nvSpPr>
            <p:spPr bwMode="gray">
              <a:xfrm>
                <a:off x="5655124" y="2456540"/>
                <a:ext cx="4341751" cy="1414009"/>
              </a:xfrm>
              <a:prstGeom prst="rect">
                <a:avLst/>
              </a:prstGeom>
              <a:noFill/>
              <a:ln w="19050" algn="ctr">
                <a:noFill/>
                <a:miter lim="800000"/>
                <a:headEnd/>
                <a:tailEnd/>
              </a:ln>
            </p:spPr>
            <p:txBody>
              <a:bodyPr wrap="square" lIns="88900" tIns="88900" rIns="88900" bIns="88900" rtlCol="0" anchor="t"/>
              <a:lstStyle/>
              <a:p>
                <a:pPr marL="171450" marR="0" lvl="0" indent="-171450" algn="just" defTabSz="121917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100" b="0" i="1" u="none" strike="noStrike" kern="1200" cap="none" spc="0" normalizeH="0" baseline="0" noProof="0" dirty="0">
                    <a:ln>
                      <a:noFill/>
                    </a:ln>
                    <a:solidFill>
                      <a:prstClr val="black"/>
                    </a:solidFill>
                    <a:effectLst/>
                    <a:uLnTx/>
                    <a:uFillTx/>
                    <a:latin typeface="Verdana"/>
                    <a:ea typeface="+mn-ea"/>
                    <a:cs typeface="+mn-cs"/>
                  </a:rPr>
                  <a:t>The existing gas based generation company has to comply with the license terms and conditions and exercise its responsibilities as per the regulations, failing which the Commission may suspend or revoke the license.</a:t>
                </a:r>
              </a:p>
            </p:txBody>
          </p:sp>
        </p:grpSp>
      </p:grpSp>
      <p:grpSp>
        <p:nvGrpSpPr>
          <p:cNvPr id="69" name="Group 68"/>
          <p:cNvGrpSpPr/>
          <p:nvPr/>
        </p:nvGrpSpPr>
        <p:grpSpPr>
          <a:xfrm>
            <a:off x="449264" y="5998064"/>
            <a:ext cx="9741655" cy="1416690"/>
            <a:chOff x="421951" y="2156679"/>
            <a:chExt cx="9741655" cy="1416690"/>
          </a:xfrm>
        </p:grpSpPr>
        <p:cxnSp>
          <p:nvCxnSpPr>
            <p:cNvPr id="70" name="Straight Connector 69"/>
            <p:cNvCxnSpPr/>
            <p:nvPr/>
          </p:nvCxnSpPr>
          <p:spPr>
            <a:xfrm>
              <a:off x="764744" y="3233399"/>
              <a:ext cx="9398862" cy="0"/>
            </a:xfrm>
            <a:prstGeom prst="line">
              <a:avLst/>
            </a:prstGeom>
            <a:ln>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71" name="Group 70"/>
            <p:cNvGrpSpPr/>
            <p:nvPr/>
          </p:nvGrpSpPr>
          <p:grpSpPr>
            <a:xfrm>
              <a:off x="421951" y="2156679"/>
              <a:ext cx="9574924" cy="1416690"/>
              <a:chOff x="421951" y="2453859"/>
              <a:chExt cx="9574924" cy="1416690"/>
            </a:xfrm>
          </p:grpSpPr>
          <p:grpSp>
            <p:nvGrpSpPr>
              <p:cNvPr id="72" name="Group 71"/>
              <p:cNvGrpSpPr/>
              <p:nvPr/>
            </p:nvGrpSpPr>
            <p:grpSpPr>
              <a:xfrm>
                <a:off x="421951" y="2453859"/>
                <a:ext cx="4674819" cy="1416690"/>
                <a:chOff x="300149" y="1758588"/>
                <a:chExt cx="5434268" cy="1701718"/>
              </a:xfrm>
            </p:grpSpPr>
            <p:sp>
              <p:nvSpPr>
                <p:cNvPr id="75" name="Rectangle 74"/>
                <p:cNvSpPr/>
                <p:nvPr/>
              </p:nvSpPr>
              <p:spPr bwMode="gray">
                <a:xfrm>
                  <a:off x="687324" y="1758588"/>
                  <a:ext cx="5047093" cy="1701718"/>
                </a:xfrm>
                <a:prstGeom prst="rect">
                  <a:avLst/>
                </a:prstGeom>
                <a:noFill/>
                <a:ln w="19050" algn="ctr">
                  <a:noFill/>
                  <a:miter lim="800000"/>
                  <a:headEnd/>
                  <a:tailEnd/>
                </a:ln>
              </p:spPr>
              <p:txBody>
                <a:bodyPr wrap="square" lIns="88900" tIns="88900" rIns="88900" bIns="88900" rtlCol="0" anchor="t"/>
                <a:lstStyle/>
                <a:p>
                  <a:pPr marL="0" marR="0" lvl="0" indent="0" algn="just" defTabSz="1219170" rtl="0" eaLnBrk="1" fontAlgn="auto" latinLnBrk="0" hangingPunct="1">
                    <a:lnSpc>
                      <a:spcPct val="100000"/>
                    </a:lnSpc>
                    <a:spcBef>
                      <a:spcPts val="0"/>
                    </a:spcBef>
                    <a:spcAft>
                      <a:spcPts val="60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Verdana"/>
                      <a:ea typeface="+mn-ea"/>
                      <a:cs typeface="+mn-cs"/>
                    </a:rPr>
                    <a:t>Bangladesh Energy Regulatory Commission (Natural Gas Distribution Tariff) Regulations, 2010:</a:t>
                  </a:r>
                </a:p>
                <a:p>
                  <a:pPr marL="0" marR="0" lvl="0" indent="0" algn="just" defTabSz="121917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dirty="0">
                      <a:ln>
                        <a:noFill/>
                      </a:ln>
                      <a:solidFill>
                        <a:prstClr val="black"/>
                      </a:solidFill>
                      <a:effectLst/>
                      <a:uLnTx/>
                      <a:uFillTx/>
                      <a:latin typeface="Verdana"/>
                      <a:ea typeface="+mn-ea"/>
                      <a:cs typeface="+mn-cs"/>
                    </a:rPr>
                    <a:t>Provides for determination of gas distribution tariff</a:t>
                  </a:r>
                </a:p>
              </p:txBody>
            </p:sp>
            <p:sp>
              <p:nvSpPr>
                <p:cNvPr id="76" name="Oval 75"/>
                <p:cNvSpPr/>
                <p:nvPr/>
              </p:nvSpPr>
              <p:spPr bwMode="gray">
                <a:xfrm>
                  <a:off x="300149" y="1820537"/>
                  <a:ext cx="338972" cy="348238"/>
                </a:xfrm>
                <a:prstGeom prst="ellipse">
                  <a:avLst/>
                </a:prstGeom>
                <a:solidFill>
                  <a:schemeClr val="accent1"/>
                </a:solidFill>
                <a:ln w="19050" algn="ctr">
                  <a:noFill/>
                  <a:miter lim="800000"/>
                  <a:headEnd/>
                  <a:tailEnd/>
                </a:ln>
              </p:spPr>
              <p:txBody>
                <a:bodyPr wrap="square" lIns="0" tIns="88900" rIns="0" bIns="88900" rtlCol="0" anchor="ctr"/>
                <a:lstStyle/>
                <a:p>
                  <a:pPr marL="0" marR="0" lvl="0" indent="0" algn="ctr" defTabSz="121917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0" u="none" strike="noStrike" kern="1200" cap="none" spc="0" normalizeH="0" baseline="0" noProof="0" dirty="0">
                      <a:ln>
                        <a:noFill/>
                      </a:ln>
                      <a:solidFill>
                        <a:prstClr val="white"/>
                      </a:solidFill>
                      <a:effectLst/>
                      <a:uLnTx/>
                      <a:uFillTx/>
                      <a:latin typeface="Verdana"/>
                      <a:ea typeface="+mn-ea"/>
                      <a:cs typeface="+mn-cs"/>
                    </a:rPr>
                    <a:t>3</a:t>
                  </a:r>
                </a:p>
              </p:txBody>
            </p:sp>
          </p:grpSp>
          <p:sp>
            <p:nvSpPr>
              <p:cNvPr id="73" name="Chevron 72"/>
              <p:cNvSpPr/>
              <p:nvPr/>
            </p:nvSpPr>
            <p:spPr bwMode="gray">
              <a:xfrm>
                <a:off x="5224659" y="2596925"/>
                <a:ext cx="302576" cy="583298"/>
              </a:xfrm>
              <a:prstGeom prst="chevron">
                <a:avLst>
                  <a:gd name="adj" fmla="val 60265"/>
                </a:avLst>
              </a:prstGeom>
              <a:solidFill>
                <a:schemeClr val="bg1"/>
              </a:solidFill>
              <a:ln w="19050" algn="ctr">
                <a:solidFill>
                  <a:schemeClr val="accent1"/>
                </a:solidFill>
                <a:miter lim="800000"/>
                <a:headEnd/>
                <a:tailEnd/>
              </a:ln>
            </p:spPr>
            <p:txBody>
              <a:bodyPr wrap="square" lIns="88900" tIns="88900" rIns="88900" bIns="88900" rtlCol="0" anchor="ctr"/>
              <a:lstStyle/>
              <a:p>
                <a:pPr marL="0" marR="0" lvl="0" indent="0" algn="ctr" defTabSz="121917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1" i="0" u="none" strike="noStrike" kern="1200" cap="none" spc="0" normalizeH="0" baseline="0" noProof="0" dirty="0">
                  <a:ln>
                    <a:noFill/>
                  </a:ln>
                  <a:solidFill>
                    <a:prstClr val="white"/>
                  </a:solidFill>
                  <a:effectLst/>
                  <a:uLnTx/>
                  <a:uFillTx/>
                  <a:latin typeface="Verdana"/>
                  <a:ea typeface="+mn-ea"/>
                  <a:cs typeface="+mn-cs"/>
                </a:endParaRPr>
              </a:p>
            </p:txBody>
          </p:sp>
          <p:sp>
            <p:nvSpPr>
              <p:cNvPr id="74" name="Rectangle 73"/>
              <p:cNvSpPr/>
              <p:nvPr/>
            </p:nvSpPr>
            <p:spPr bwMode="gray">
              <a:xfrm>
                <a:off x="5655124" y="2456541"/>
                <a:ext cx="4341751" cy="734070"/>
              </a:xfrm>
              <a:prstGeom prst="rect">
                <a:avLst/>
              </a:prstGeom>
              <a:noFill/>
              <a:ln w="19050" algn="ctr">
                <a:noFill/>
                <a:miter lim="800000"/>
                <a:headEnd/>
                <a:tailEnd/>
              </a:ln>
            </p:spPr>
            <p:txBody>
              <a:bodyPr wrap="square" lIns="88900" tIns="88900" rIns="88900" bIns="88900" rtlCol="0" anchor="t"/>
              <a:lstStyle/>
              <a:p>
                <a:pPr marL="171450" marR="0" lvl="0" indent="-171450" algn="just" defTabSz="121917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100" b="0" i="1" u="none" strike="noStrike" kern="1200" cap="none" spc="0" normalizeH="0" baseline="0" noProof="0" dirty="0">
                    <a:ln>
                      <a:noFill/>
                    </a:ln>
                    <a:solidFill>
                      <a:prstClr val="black"/>
                    </a:solidFill>
                    <a:effectLst/>
                    <a:uLnTx/>
                    <a:uFillTx/>
                    <a:latin typeface="Verdana"/>
                    <a:ea typeface="+mn-ea"/>
                    <a:cs typeface="+mn-cs"/>
                  </a:rPr>
                  <a:t>Regulated gas distribution tariff means higher certainty for gas price compared to a market-based gas pricing arrangement.</a:t>
                </a:r>
              </a:p>
            </p:txBody>
          </p:sp>
        </p:grpSp>
      </p:grpSp>
      <p:sp>
        <p:nvSpPr>
          <p:cNvPr id="31" name="Rectangle 30"/>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BERC, MPEMR, Bangladesh Bank, BPDB, PGCB, Deloitte Analysis</a:t>
            </a:r>
          </a:p>
        </p:txBody>
      </p:sp>
    </p:spTree>
    <p:extLst>
      <p:ext uri="{BB962C8B-B14F-4D97-AF65-F5344CB8AC3E}">
        <p14:creationId xmlns:p14="http://schemas.microsoft.com/office/powerpoint/2010/main" val="3510206505"/>
      </p:ext>
    </p:extLst>
  </p:cSld>
  <p:clrMapOvr>
    <a:masterClrMapping/>
  </p:clrMapOvr>
  <p:transition>
    <p:fade/>
  </p:transition>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4" name="Object 3"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2" name="Title 1"/>
          <p:cNvSpPr>
            <a:spLocks noGrp="1"/>
          </p:cNvSpPr>
          <p:nvPr>
            <p:ph type="title"/>
          </p:nvPr>
        </p:nvSpPr>
        <p:spPr/>
        <p:txBody>
          <a:bodyPr/>
          <a:lstStyle/>
          <a:p>
            <a:r>
              <a:rPr lang="en-US" dirty="0"/>
              <a:t>Policy &amp; Regulatory Overview | Implications for Power Generators</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We have reviewed the various policies and regulations in force for gas based power generators in Bangladesh and identified the key implications for the generators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86" name="Table 85"/>
          <p:cNvGraphicFramePr>
            <a:graphicFrameLocks noGrp="1"/>
          </p:cNvGraphicFramePr>
          <p:nvPr>
            <p:custDataLst>
              <p:tags r:id="rId3"/>
            </p:custDataLst>
          </p:nvPr>
        </p:nvGraphicFramePr>
        <p:xfrm>
          <a:off x="449993" y="1961919"/>
          <a:ext cx="9790972" cy="306118"/>
        </p:xfrm>
        <a:graphic>
          <a:graphicData uri="http://schemas.openxmlformats.org/drawingml/2006/table">
            <a:tbl>
              <a:tblPr firstRow="1" bandRow="1">
                <a:tableStyleId>{5C22544A-7EE6-4342-B048-85BDC9FD1C3A}</a:tableStyleId>
              </a:tblPr>
              <a:tblGrid>
                <a:gridCol w="9790972">
                  <a:extLst>
                    <a:ext uri="{9D8B030D-6E8A-4147-A177-3AD203B41FA5}">
                      <a16:colId xmlns:a16="http://schemas.microsoft.com/office/drawing/2014/main" val="20000"/>
                    </a:ext>
                  </a:extLst>
                </a:gridCol>
              </a:tblGrid>
              <a:tr h="0">
                <a:tc>
                  <a:txBody>
                    <a:bodyPr/>
                    <a:lstStyle/>
                    <a:p>
                      <a:pPr marL="17145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pSp>
        <p:nvGrpSpPr>
          <p:cNvPr id="6" name="Group 5"/>
          <p:cNvGrpSpPr/>
          <p:nvPr/>
        </p:nvGrpSpPr>
        <p:grpSpPr>
          <a:xfrm>
            <a:off x="421951" y="2156680"/>
            <a:ext cx="9741655" cy="3579099"/>
            <a:chOff x="421951" y="2156680"/>
            <a:chExt cx="9741655" cy="3579099"/>
          </a:xfrm>
        </p:grpSpPr>
        <p:cxnSp>
          <p:nvCxnSpPr>
            <p:cNvPr id="60" name="Straight Connector 59"/>
            <p:cNvCxnSpPr/>
            <p:nvPr/>
          </p:nvCxnSpPr>
          <p:spPr>
            <a:xfrm>
              <a:off x="764744" y="5735779"/>
              <a:ext cx="9398862" cy="0"/>
            </a:xfrm>
            <a:prstGeom prst="line">
              <a:avLst/>
            </a:prstGeom>
            <a:ln>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5" name="Group 4"/>
            <p:cNvGrpSpPr/>
            <p:nvPr/>
          </p:nvGrpSpPr>
          <p:grpSpPr>
            <a:xfrm>
              <a:off x="421951" y="2156680"/>
              <a:ext cx="9574924" cy="1232701"/>
              <a:chOff x="421951" y="2453860"/>
              <a:chExt cx="9574924" cy="1232701"/>
            </a:xfrm>
          </p:grpSpPr>
          <p:grpSp>
            <p:nvGrpSpPr>
              <p:cNvPr id="62" name="Group 61"/>
              <p:cNvGrpSpPr/>
              <p:nvPr/>
            </p:nvGrpSpPr>
            <p:grpSpPr>
              <a:xfrm>
                <a:off x="421951" y="2453860"/>
                <a:ext cx="4674819" cy="1226780"/>
                <a:chOff x="300149" y="1758589"/>
                <a:chExt cx="5434268" cy="1473599"/>
              </a:xfrm>
            </p:grpSpPr>
            <p:sp>
              <p:nvSpPr>
                <p:cNvPr id="66" name="Rectangle 65"/>
                <p:cNvSpPr/>
                <p:nvPr/>
              </p:nvSpPr>
              <p:spPr bwMode="gray">
                <a:xfrm>
                  <a:off x="687325" y="1758589"/>
                  <a:ext cx="5047092" cy="1473599"/>
                </a:xfrm>
                <a:prstGeom prst="rect">
                  <a:avLst/>
                </a:prstGeom>
                <a:noFill/>
                <a:ln w="19050" algn="ctr">
                  <a:noFill/>
                  <a:miter lim="800000"/>
                  <a:headEnd/>
                  <a:tailEnd/>
                </a:ln>
              </p:spPr>
              <p:txBody>
                <a:bodyPr wrap="square" lIns="88900" tIns="88900" rIns="88900" bIns="88900" rtlCol="0" anchor="t"/>
                <a:lstStyle/>
                <a:p>
                  <a:pPr lvl="0" algn="just" defTabSz="1219170">
                    <a:spcAft>
                      <a:spcPts val="600"/>
                    </a:spcAft>
                    <a:defRPr/>
                  </a:pPr>
                  <a:r>
                    <a:rPr lang="en-US" sz="1100" b="1" dirty="0">
                      <a:solidFill>
                        <a:prstClr val="black"/>
                      </a:solidFill>
                    </a:rPr>
                    <a:t>Bangladesh Electricity Regulatory Commission Electricity Grid Code Regulations 2018:</a:t>
                  </a:r>
                </a:p>
                <a:p>
                  <a:pPr lvl="0" algn="just" defTabSz="1219170">
                    <a:spcAft>
                      <a:spcPts val="600"/>
                    </a:spcAft>
                    <a:defRPr/>
                  </a:pPr>
                  <a:r>
                    <a:rPr lang="en-US" sz="1100" dirty="0">
                      <a:solidFill>
                        <a:prstClr val="black"/>
                      </a:solidFill>
                    </a:rPr>
                    <a:t>Provides for grid operation and connectivity standards, scheduling and dispatch procedures, standards for protection, metering and performance, and reporting requirements.</a:t>
                  </a:r>
                </a:p>
              </p:txBody>
            </p:sp>
            <p:sp>
              <p:nvSpPr>
                <p:cNvPr id="67" name="Oval 66"/>
                <p:cNvSpPr/>
                <p:nvPr/>
              </p:nvSpPr>
              <p:spPr bwMode="gray">
                <a:xfrm>
                  <a:off x="300149" y="1820537"/>
                  <a:ext cx="338972" cy="348238"/>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121917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0" u="none" strike="noStrike" kern="1200" cap="none" spc="0" normalizeH="0" baseline="0" noProof="0" dirty="0">
                      <a:ln>
                        <a:noFill/>
                      </a:ln>
                      <a:solidFill>
                        <a:prstClr val="white"/>
                      </a:solidFill>
                      <a:effectLst/>
                      <a:uLnTx/>
                      <a:uFillTx/>
                      <a:latin typeface="Verdana"/>
                      <a:ea typeface="+mn-ea"/>
                      <a:cs typeface="+mn-cs"/>
                    </a:rPr>
                    <a:t>4</a:t>
                  </a:r>
                </a:p>
              </p:txBody>
            </p:sp>
          </p:grpSp>
          <p:sp>
            <p:nvSpPr>
              <p:cNvPr id="65" name="Chevron 64"/>
              <p:cNvSpPr/>
              <p:nvPr/>
            </p:nvSpPr>
            <p:spPr bwMode="gray">
              <a:xfrm>
                <a:off x="5224659" y="2775601"/>
                <a:ext cx="302576" cy="583298"/>
              </a:xfrm>
              <a:prstGeom prst="chevron">
                <a:avLst>
                  <a:gd name="adj" fmla="val 60265"/>
                </a:avLst>
              </a:prstGeom>
              <a:solidFill>
                <a:schemeClr val="bg1"/>
              </a:solidFill>
              <a:ln w="19050" algn="ctr">
                <a:solidFill>
                  <a:schemeClr val="accent1"/>
                </a:solidFill>
                <a:miter lim="800000"/>
                <a:headEnd/>
                <a:tailEnd/>
              </a:ln>
            </p:spPr>
            <p:txBody>
              <a:bodyPr wrap="square" lIns="88900" tIns="88900" rIns="88900" bIns="88900" rtlCol="0" anchor="ctr"/>
              <a:lstStyle/>
              <a:p>
                <a:pPr marL="0" marR="0" lvl="0" indent="0" algn="ctr" defTabSz="121917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1" i="0" u="none" strike="noStrike" kern="1200" cap="none" spc="0" normalizeH="0" baseline="0" noProof="0" dirty="0">
                  <a:ln>
                    <a:noFill/>
                  </a:ln>
                  <a:solidFill>
                    <a:prstClr val="white"/>
                  </a:solidFill>
                  <a:effectLst/>
                  <a:uLnTx/>
                  <a:uFillTx/>
                  <a:latin typeface="Verdana"/>
                  <a:ea typeface="+mn-ea"/>
                  <a:cs typeface="+mn-cs"/>
                </a:endParaRPr>
              </a:p>
            </p:txBody>
          </p:sp>
          <p:sp>
            <p:nvSpPr>
              <p:cNvPr id="88" name="Rectangle 87"/>
              <p:cNvSpPr/>
              <p:nvPr/>
            </p:nvSpPr>
            <p:spPr bwMode="gray">
              <a:xfrm>
                <a:off x="5655124" y="2456540"/>
                <a:ext cx="4341751" cy="1230021"/>
              </a:xfrm>
              <a:prstGeom prst="rect">
                <a:avLst/>
              </a:prstGeom>
              <a:noFill/>
              <a:ln w="19050" algn="ctr">
                <a:noFill/>
                <a:miter lim="800000"/>
                <a:headEnd/>
                <a:tailEnd/>
              </a:ln>
            </p:spPr>
            <p:txBody>
              <a:bodyPr wrap="square" lIns="88900" tIns="88900" rIns="88900" bIns="88900" rtlCol="0" anchor="t"/>
              <a:lstStyle/>
              <a:p>
                <a:pPr marL="171450" lvl="0" indent="-171450" algn="just" defTabSz="1219170">
                  <a:spcAft>
                    <a:spcPts val="600"/>
                  </a:spcAft>
                  <a:buFont typeface="Arial" panose="020B0604020202020204" pitchFamily="34" charset="0"/>
                  <a:buChar char="•"/>
                  <a:defRPr/>
                </a:pPr>
                <a:r>
                  <a:rPr lang="en-US" sz="1100" i="1" dirty="0">
                    <a:solidFill>
                      <a:prstClr val="black"/>
                    </a:solidFill>
                  </a:rPr>
                  <a:t>The gas based plant has to abide by the standards, procedures and compliance requirements as stipulated in the grid code. Violation of the grid code may ultimately lead to grid imbalance and generation outage, thereby causing financial loss.</a:t>
                </a:r>
              </a:p>
              <a:p>
                <a:pPr marL="171450" lvl="0" indent="-171450" algn="just" defTabSz="1219170">
                  <a:spcAft>
                    <a:spcPts val="600"/>
                  </a:spcAft>
                  <a:buFont typeface="Arial" panose="020B0604020202020204" pitchFamily="34" charset="0"/>
                  <a:buChar char="•"/>
                  <a:defRPr/>
                </a:pPr>
                <a:r>
                  <a:rPr lang="en-US" sz="1100" i="1" dirty="0">
                    <a:solidFill>
                      <a:prstClr val="black"/>
                    </a:solidFill>
                  </a:rPr>
                  <a:t>Apart from the operating guidelines, a few key clauses have been presented below:</a:t>
                </a:r>
              </a:p>
              <a:p>
                <a:pPr marL="565191" lvl="1" indent="-171450" algn="just" defTabSz="1219170">
                  <a:spcAft>
                    <a:spcPts val="600"/>
                  </a:spcAft>
                  <a:buFont typeface="Courier New" panose="02070309020205020404" pitchFamily="49" charset="0"/>
                  <a:buChar char="o"/>
                  <a:defRPr/>
                </a:pPr>
                <a:r>
                  <a:rPr lang="en-US" sz="1100" i="1" dirty="0">
                    <a:solidFill>
                      <a:prstClr val="black"/>
                    </a:solidFill>
                  </a:rPr>
                  <a:t>All generators shall provide Licensee, System Operator and Single Buyer with their proposed outage for year ahead by 31st March</a:t>
                </a:r>
              </a:p>
              <a:p>
                <a:pPr marL="565191" lvl="1" indent="-171450" algn="just" defTabSz="1219170">
                  <a:spcAft>
                    <a:spcPts val="600"/>
                  </a:spcAft>
                  <a:buFont typeface="Courier New" panose="02070309020205020404" pitchFamily="49" charset="0"/>
                  <a:buChar char="o"/>
                  <a:defRPr/>
                </a:pPr>
                <a:r>
                  <a:rPr lang="en-US" sz="1100" i="1" dirty="0">
                    <a:solidFill>
                      <a:prstClr val="black"/>
                    </a:solidFill>
                  </a:rPr>
                  <a:t>The System Operator shall provide to the Licensee, the Single Buyer and Generators yearly estimates of requirements for net electrical output on a monthly basis for the year ahead</a:t>
                </a:r>
              </a:p>
              <a:p>
                <a:pPr marL="565191" lvl="1" indent="-171450" algn="just" defTabSz="1219170">
                  <a:spcAft>
                    <a:spcPts val="600"/>
                  </a:spcAft>
                  <a:buFont typeface="Courier New" panose="02070309020205020404" pitchFamily="49" charset="0"/>
                  <a:buChar char="o"/>
                  <a:defRPr/>
                </a:pPr>
                <a:r>
                  <a:rPr lang="en-US" sz="1100" i="1" dirty="0">
                    <a:solidFill>
                      <a:prstClr val="black"/>
                    </a:solidFill>
                  </a:rPr>
                  <a:t>The System Operator shall provide to the Licensee, the Single Buyer and Generators weekly estimates of requirements for net electrical output on an hourly basis for the week ahead</a:t>
                </a:r>
              </a:p>
            </p:txBody>
          </p:sp>
        </p:grpSp>
      </p:grpSp>
      <p:grpSp>
        <p:nvGrpSpPr>
          <p:cNvPr id="40" name="Group 39"/>
          <p:cNvGrpSpPr/>
          <p:nvPr/>
        </p:nvGrpSpPr>
        <p:grpSpPr>
          <a:xfrm>
            <a:off x="421951" y="5791420"/>
            <a:ext cx="9741655" cy="1308339"/>
            <a:chOff x="421951" y="2156680"/>
            <a:chExt cx="9741655" cy="1308339"/>
          </a:xfrm>
        </p:grpSpPr>
        <p:cxnSp>
          <p:nvCxnSpPr>
            <p:cNvPr id="41" name="Straight Connector 40"/>
            <p:cNvCxnSpPr/>
            <p:nvPr/>
          </p:nvCxnSpPr>
          <p:spPr>
            <a:xfrm>
              <a:off x="764744" y="3465019"/>
              <a:ext cx="9398862" cy="0"/>
            </a:xfrm>
            <a:prstGeom prst="line">
              <a:avLst/>
            </a:prstGeom>
            <a:ln>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42" name="Group 41"/>
            <p:cNvGrpSpPr/>
            <p:nvPr/>
          </p:nvGrpSpPr>
          <p:grpSpPr>
            <a:xfrm>
              <a:off x="421951" y="2156680"/>
              <a:ext cx="9574924" cy="1232701"/>
              <a:chOff x="421951" y="2453860"/>
              <a:chExt cx="9574924" cy="1232701"/>
            </a:xfrm>
          </p:grpSpPr>
          <p:grpSp>
            <p:nvGrpSpPr>
              <p:cNvPr id="43" name="Group 42"/>
              <p:cNvGrpSpPr/>
              <p:nvPr/>
            </p:nvGrpSpPr>
            <p:grpSpPr>
              <a:xfrm>
                <a:off x="421951" y="2453860"/>
                <a:ext cx="4674819" cy="1226780"/>
                <a:chOff x="300149" y="1758589"/>
                <a:chExt cx="5434268" cy="1473599"/>
              </a:xfrm>
            </p:grpSpPr>
            <p:sp>
              <p:nvSpPr>
                <p:cNvPr id="46" name="Rectangle 45"/>
                <p:cNvSpPr/>
                <p:nvPr/>
              </p:nvSpPr>
              <p:spPr bwMode="gray">
                <a:xfrm>
                  <a:off x="687325" y="1758589"/>
                  <a:ext cx="5047092" cy="1473599"/>
                </a:xfrm>
                <a:prstGeom prst="rect">
                  <a:avLst/>
                </a:prstGeom>
                <a:noFill/>
                <a:ln w="19050" algn="ctr">
                  <a:noFill/>
                  <a:miter lim="800000"/>
                  <a:headEnd/>
                  <a:tailEnd/>
                </a:ln>
              </p:spPr>
              <p:txBody>
                <a:bodyPr wrap="square" lIns="88900" tIns="88900" rIns="88900" bIns="88900" rtlCol="0" anchor="t"/>
                <a:lstStyle/>
                <a:p>
                  <a:pPr marL="0" marR="0" lvl="0" indent="0" algn="just" defTabSz="1219170" rtl="0" eaLnBrk="1" fontAlgn="auto" latinLnBrk="0" hangingPunct="1">
                    <a:lnSpc>
                      <a:spcPct val="100000"/>
                    </a:lnSpc>
                    <a:spcBef>
                      <a:spcPts val="0"/>
                    </a:spcBef>
                    <a:spcAft>
                      <a:spcPts val="60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Verdana"/>
                      <a:ea typeface="+mn-ea"/>
                      <a:cs typeface="+mn-cs"/>
                    </a:rPr>
                    <a:t>Bangladesh Electricity Regulatory Commission Electricity Distribution (Retail) Tariff Regulations 2016:</a:t>
                  </a:r>
                </a:p>
                <a:p>
                  <a:pPr marL="0" marR="0" lvl="0" indent="0" algn="just" defTabSz="121917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dirty="0">
                      <a:ln>
                        <a:noFill/>
                      </a:ln>
                      <a:solidFill>
                        <a:prstClr val="black"/>
                      </a:solidFill>
                      <a:effectLst/>
                      <a:uLnTx/>
                      <a:uFillTx/>
                      <a:latin typeface="Verdana"/>
                      <a:ea typeface="+mn-ea"/>
                      <a:cs typeface="+mn-cs"/>
                    </a:rPr>
                    <a:t>Provides for determination of retail tariff on cost-plus basis for electricity distribution companies of Bangladesh.</a:t>
                  </a:r>
                </a:p>
              </p:txBody>
            </p:sp>
            <p:sp>
              <p:nvSpPr>
                <p:cNvPr id="47" name="Oval 46"/>
                <p:cNvSpPr/>
                <p:nvPr/>
              </p:nvSpPr>
              <p:spPr bwMode="gray">
                <a:xfrm>
                  <a:off x="300149" y="1820537"/>
                  <a:ext cx="338972" cy="348238"/>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121917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0" u="none" strike="noStrike" kern="1200" cap="none" spc="0" normalizeH="0" baseline="0" noProof="0" dirty="0">
                      <a:ln>
                        <a:noFill/>
                      </a:ln>
                      <a:solidFill>
                        <a:prstClr val="white"/>
                      </a:solidFill>
                      <a:effectLst/>
                      <a:uLnTx/>
                      <a:uFillTx/>
                      <a:latin typeface="Verdana"/>
                      <a:ea typeface="+mn-ea"/>
                      <a:cs typeface="+mn-cs"/>
                    </a:rPr>
                    <a:t>5</a:t>
                  </a:r>
                </a:p>
              </p:txBody>
            </p:sp>
          </p:grpSp>
          <p:sp>
            <p:nvSpPr>
              <p:cNvPr id="44" name="Chevron 43"/>
              <p:cNvSpPr/>
              <p:nvPr/>
            </p:nvSpPr>
            <p:spPr bwMode="gray">
              <a:xfrm>
                <a:off x="5224659" y="2775601"/>
                <a:ext cx="302576" cy="583298"/>
              </a:xfrm>
              <a:prstGeom prst="chevron">
                <a:avLst>
                  <a:gd name="adj" fmla="val 60265"/>
                </a:avLst>
              </a:prstGeom>
              <a:solidFill>
                <a:schemeClr val="bg1"/>
              </a:solidFill>
              <a:ln w="19050" algn="ctr">
                <a:solidFill>
                  <a:schemeClr val="accent1"/>
                </a:solidFill>
                <a:miter lim="800000"/>
                <a:headEnd/>
                <a:tailEnd/>
              </a:ln>
            </p:spPr>
            <p:txBody>
              <a:bodyPr wrap="square" lIns="88900" tIns="88900" rIns="88900" bIns="88900" rtlCol="0" anchor="ctr"/>
              <a:lstStyle/>
              <a:p>
                <a:pPr marL="0" marR="0" lvl="0" indent="0" algn="ctr" defTabSz="121917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1" i="0" u="none" strike="noStrike" kern="1200" cap="none" spc="0" normalizeH="0" baseline="0" noProof="0" dirty="0">
                  <a:ln>
                    <a:noFill/>
                  </a:ln>
                  <a:solidFill>
                    <a:prstClr val="white"/>
                  </a:solidFill>
                  <a:effectLst/>
                  <a:uLnTx/>
                  <a:uFillTx/>
                  <a:latin typeface="Verdana"/>
                  <a:ea typeface="+mn-ea"/>
                  <a:cs typeface="+mn-cs"/>
                </a:endParaRPr>
              </a:p>
            </p:txBody>
          </p:sp>
          <p:sp>
            <p:nvSpPr>
              <p:cNvPr id="45" name="Rectangle 44"/>
              <p:cNvSpPr/>
              <p:nvPr/>
            </p:nvSpPr>
            <p:spPr bwMode="gray">
              <a:xfrm>
                <a:off x="5655124" y="2456540"/>
                <a:ext cx="4341751" cy="1230021"/>
              </a:xfrm>
              <a:prstGeom prst="rect">
                <a:avLst/>
              </a:prstGeom>
              <a:noFill/>
              <a:ln w="19050" algn="ctr">
                <a:noFill/>
                <a:miter lim="800000"/>
                <a:headEnd/>
                <a:tailEnd/>
              </a:ln>
            </p:spPr>
            <p:txBody>
              <a:bodyPr wrap="square" lIns="88900" tIns="88900" rIns="88900" bIns="88900" rtlCol="0" anchor="t"/>
              <a:lstStyle/>
              <a:p>
                <a:pPr marL="171450" marR="0" lvl="0" indent="-171450" algn="just" defTabSz="121917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100" b="0" i="1" u="none" strike="noStrike" kern="1200" cap="none" spc="0" normalizeH="0" baseline="0" noProof="0" dirty="0">
                    <a:ln>
                      <a:noFill/>
                    </a:ln>
                    <a:solidFill>
                      <a:prstClr val="black"/>
                    </a:solidFill>
                    <a:effectLst/>
                    <a:uLnTx/>
                    <a:uFillTx/>
                    <a:latin typeface="Verdana"/>
                    <a:ea typeface="+mn-ea"/>
                    <a:cs typeface="+mn-cs"/>
                  </a:rPr>
                  <a:t>Regulated revenue for distribution companies has a direct impact on the receivables of the single buyer (that sales electricity to all the distribution companies at a regulated Bulk Supply Tariff), which in turn can potentially impact the receivables of the generation company (that sales electricity to the single buyer).</a:t>
                </a:r>
              </a:p>
            </p:txBody>
          </p:sp>
        </p:grpSp>
      </p:grpSp>
      <p:sp>
        <p:nvSpPr>
          <p:cNvPr id="23" name="Rectangle 22"/>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BERC, MPEMR, Bangladesh Bank, BPDB, PGCB, Deloitte Analysis</a:t>
            </a:r>
          </a:p>
        </p:txBody>
      </p:sp>
    </p:spTree>
    <p:extLst>
      <p:ext uri="{BB962C8B-B14F-4D97-AF65-F5344CB8AC3E}">
        <p14:creationId xmlns:p14="http://schemas.microsoft.com/office/powerpoint/2010/main" val="1261642889"/>
      </p:ext>
    </p:extLst>
  </p:cSld>
  <p:clrMapOvr>
    <a:masterClrMapping/>
  </p:clrMapOvr>
  <p:transition>
    <p:fade/>
  </p:transition>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4" name="Object 3"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2" name="Title 1"/>
          <p:cNvSpPr>
            <a:spLocks noGrp="1"/>
          </p:cNvSpPr>
          <p:nvPr>
            <p:ph type="title"/>
          </p:nvPr>
        </p:nvSpPr>
        <p:spPr/>
        <p:txBody>
          <a:bodyPr/>
          <a:lstStyle/>
          <a:p>
            <a:r>
              <a:rPr lang="en-US" dirty="0"/>
              <a:t>Policy &amp; Regulatory Overview | Implications for Power Generators</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We have reviewed the various policies and regulations in force for gas based power generators in Bangladesh and identified the key implications for the generators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86" name="Table 85"/>
          <p:cNvGraphicFramePr>
            <a:graphicFrameLocks noGrp="1"/>
          </p:cNvGraphicFramePr>
          <p:nvPr>
            <p:custDataLst>
              <p:tags r:id="rId3"/>
            </p:custDataLst>
          </p:nvPr>
        </p:nvGraphicFramePr>
        <p:xfrm>
          <a:off x="449993" y="1961919"/>
          <a:ext cx="9790972" cy="306118"/>
        </p:xfrm>
        <a:graphic>
          <a:graphicData uri="http://schemas.openxmlformats.org/drawingml/2006/table">
            <a:tbl>
              <a:tblPr firstRow="1" bandRow="1">
                <a:tableStyleId>{5C22544A-7EE6-4342-B048-85BDC9FD1C3A}</a:tableStyleId>
              </a:tblPr>
              <a:tblGrid>
                <a:gridCol w="9790972">
                  <a:extLst>
                    <a:ext uri="{9D8B030D-6E8A-4147-A177-3AD203B41FA5}">
                      <a16:colId xmlns:a16="http://schemas.microsoft.com/office/drawing/2014/main" val="20000"/>
                    </a:ext>
                  </a:extLst>
                </a:gridCol>
              </a:tblGrid>
              <a:tr h="0">
                <a:tc>
                  <a:txBody>
                    <a:bodyPr/>
                    <a:lstStyle/>
                    <a:p>
                      <a:pPr marL="17145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pSp>
        <p:nvGrpSpPr>
          <p:cNvPr id="6" name="Group 5"/>
          <p:cNvGrpSpPr/>
          <p:nvPr/>
        </p:nvGrpSpPr>
        <p:grpSpPr>
          <a:xfrm>
            <a:off x="421951" y="2156680"/>
            <a:ext cx="9741655" cy="1468359"/>
            <a:chOff x="421951" y="2156680"/>
            <a:chExt cx="9741655" cy="1468359"/>
          </a:xfrm>
        </p:grpSpPr>
        <p:cxnSp>
          <p:nvCxnSpPr>
            <p:cNvPr id="60" name="Straight Connector 59"/>
            <p:cNvCxnSpPr/>
            <p:nvPr/>
          </p:nvCxnSpPr>
          <p:spPr>
            <a:xfrm>
              <a:off x="764744" y="3625039"/>
              <a:ext cx="9398862" cy="0"/>
            </a:xfrm>
            <a:prstGeom prst="line">
              <a:avLst/>
            </a:prstGeom>
            <a:ln>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5" name="Group 4"/>
            <p:cNvGrpSpPr/>
            <p:nvPr/>
          </p:nvGrpSpPr>
          <p:grpSpPr>
            <a:xfrm>
              <a:off x="421951" y="2156680"/>
              <a:ext cx="9574924" cy="1232701"/>
              <a:chOff x="421951" y="2453860"/>
              <a:chExt cx="9574924" cy="1232701"/>
            </a:xfrm>
          </p:grpSpPr>
          <p:grpSp>
            <p:nvGrpSpPr>
              <p:cNvPr id="62" name="Group 61"/>
              <p:cNvGrpSpPr/>
              <p:nvPr/>
            </p:nvGrpSpPr>
            <p:grpSpPr>
              <a:xfrm>
                <a:off x="421951" y="2453860"/>
                <a:ext cx="4674819" cy="1226780"/>
                <a:chOff x="300149" y="1758589"/>
                <a:chExt cx="5434268" cy="1473599"/>
              </a:xfrm>
            </p:grpSpPr>
            <p:sp>
              <p:nvSpPr>
                <p:cNvPr id="66" name="Rectangle 65"/>
                <p:cNvSpPr/>
                <p:nvPr/>
              </p:nvSpPr>
              <p:spPr bwMode="gray">
                <a:xfrm>
                  <a:off x="687325" y="1758589"/>
                  <a:ext cx="5047092" cy="1473599"/>
                </a:xfrm>
                <a:prstGeom prst="rect">
                  <a:avLst/>
                </a:prstGeom>
                <a:noFill/>
                <a:ln w="19050" algn="ctr">
                  <a:noFill/>
                  <a:miter lim="800000"/>
                  <a:headEnd/>
                  <a:tailEnd/>
                </a:ln>
              </p:spPr>
              <p:txBody>
                <a:bodyPr wrap="square" lIns="88900" tIns="88900" rIns="88900" bIns="88900" rtlCol="0" anchor="t"/>
                <a:lstStyle/>
                <a:p>
                  <a:pPr lvl="0" algn="just" defTabSz="1219170">
                    <a:spcAft>
                      <a:spcPts val="600"/>
                    </a:spcAft>
                    <a:defRPr/>
                  </a:pPr>
                  <a:r>
                    <a:rPr lang="en-US" sz="1100" b="1" dirty="0">
                      <a:solidFill>
                        <a:prstClr val="black"/>
                      </a:solidFill>
                    </a:rPr>
                    <a:t>Quick Enhancement of Electricity and Energy Supply (Special Provisions) Act, 2010 and its amendments in 2015 and 2018:</a:t>
                  </a:r>
                </a:p>
                <a:p>
                  <a:pPr lvl="0" algn="just" defTabSz="1219170">
                    <a:spcAft>
                      <a:spcPts val="600"/>
                    </a:spcAft>
                    <a:defRPr/>
                  </a:pPr>
                  <a:r>
                    <a:rPr lang="en-US" sz="1100" dirty="0">
                      <a:solidFill>
                        <a:prstClr val="black"/>
                      </a:solidFill>
                    </a:rPr>
                    <a:t>Provides for measures for fast-tracking of power projects (including generation, transmission, distribution, and import of electricity) with the aim to mitigate electricity supply shortage and ensure uninterrupted supply.</a:t>
                  </a:r>
                </a:p>
              </p:txBody>
            </p:sp>
            <p:sp>
              <p:nvSpPr>
                <p:cNvPr id="67" name="Oval 66"/>
                <p:cNvSpPr/>
                <p:nvPr/>
              </p:nvSpPr>
              <p:spPr bwMode="gray">
                <a:xfrm>
                  <a:off x="300149" y="1820537"/>
                  <a:ext cx="338972" cy="348238"/>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121917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0" u="none" strike="noStrike" kern="1200" cap="none" spc="0" normalizeH="0" baseline="0" noProof="0" dirty="0">
                      <a:ln>
                        <a:noFill/>
                      </a:ln>
                      <a:solidFill>
                        <a:prstClr val="white"/>
                      </a:solidFill>
                      <a:effectLst/>
                      <a:uLnTx/>
                      <a:uFillTx/>
                      <a:latin typeface="Verdana"/>
                      <a:ea typeface="+mn-ea"/>
                      <a:cs typeface="+mn-cs"/>
                    </a:rPr>
                    <a:t>6</a:t>
                  </a:r>
                </a:p>
              </p:txBody>
            </p:sp>
          </p:grpSp>
          <p:sp>
            <p:nvSpPr>
              <p:cNvPr id="65" name="Chevron 64"/>
              <p:cNvSpPr/>
              <p:nvPr/>
            </p:nvSpPr>
            <p:spPr bwMode="gray">
              <a:xfrm>
                <a:off x="5224659" y="2775601"/>
                <a:ext cx="302576" cy="583298"/>
              </a:xfrm>
              <a:prstGeom prst="chevron">
                <a:avLst>
                  <a:gd name="adj" fmla="val 60265"/>
                </a:avLst>
              </a:prstGeom>
              <a:solidFill>
                <a:schemeClr val="bg1"/>
              </a:solidFill>
              <a:ln w="19050" algn="ctr">
                <a:solidFill>
                  <a:schemeClr val="accent1"/>
                </a:solidFill>
                <a:miter lim="800000"/>
                <a:headEnd/>
                <a:tailEnd/>
              </a:ln>
            </p:spPr>
            <p:txBody>
              <a:bodyPr wrap="square" lIns="88900" tIns="88900" rIns="88900" bIns="88900" rtlCol="0" anchor="ctr"/>
              <a:lstStyle/>
              <a:p>
                <a:pPr marL="0" marR="0" lvl="0" indent="0" algn="ctr" defTabSz="121917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1" i="0" u="none" strike="noStrike" kern="1200" cap="none" spc="0" normalizeH="0" baseline="0" noProof="0" dirty="0">
                  <a:ln>
                    <a:noFill/>
                  </a:ln>
                  <a:solidFill>
                    <a:prstClr val="white"/>
                  </a:solidFill>
                  <a:effectLst/>
                  <a:uLnTx/>
                  <a:uFillTx/>
                  <a:latin typeface="Verdana"/>
                  <a:ea typeface="+mn-ea"/>
                  <a:cs typeface="+mn-cs"/>
                </a:endParaRPr>
              </a:p>
            </p:txBody>
          </p:sp>
          <p:sp>
            <p:nvSpPr>
              <p:cNvPr id="88" name="Rectangle 87"/>
              <p:cNvSpPr/>
              <p:nvPr/>
            </p:nvSpPr>
            <p:spPr bwMode="gray">
              <a:xfrm>
                <a:off x="5655124" y="2456540"/>
                <a:ext cx="4341751" cy="1230021"/>
              </a:xfrm>
              <a:prstGeom prst="rect">
                <a:avLst/>
              </a:prstGeom>
              <a:noFill/>
              <a:ln w="19050" algn="ctr">
                <a:noFill/>
                <a:miter lim="800000"/>
                <a:headEnd/>
                <a:tailEnd/>
              </a:ln>
            </p:spPr>
            <p:txBody>
              <a:bodyPr wrap="square" lIns="88900" tIns="88900" rIns="88900" bIns="88900" rtlCol="0" anchor="t"/>
              <a:lstStyle/>
              <a:p>
                <a:pPr marL="171450" lvl="0" indent="-171450" algn="just" defTabSz="1219170">
                  <a:spcAft>
                    <a:spcPts val="600"/>
                  </a:spcAft>
                  <a:buFont typeface="Arial" panose="020B0604020202020204" pitchFamily="34" charset="0"/>
                  <a:buChar char="•"/>
                  <a:defRPr/>
                </a:pPr>
                <a:r>
                  <a:rPr lang="en-US" sz="1100" i="1" dirty="0">
                    <a:solidFill>
                      <a:prstClr val="black"/>
                    </a:solidFill>
                  </a:rPr>
                  <a:t>This Act encourages and facilitates implementation of new generation projects and hence creates competition for the existing generation project. However, the entry barrier in form of licensing requirements exists.</a:t>
                </a:r>
              </a:p>
            </p:txBody>
          </p:sp>
        </p:grpSp>
      </p:grpSp>
      <p:grpSp>
        <p:nvGrpSpPr>
          <p:cNvPr id="90" name="Group 89"/>
          <p:cNvGrpSpPr/>
          <p:nvPr/>
        </p:nvGrpSpPr>
        <p:grpSpPr>
          <a:xfrm>
            <a:off x="449264" y="3803504"/>
            <a:ext cx="9741655" cy="2039860"/>
            <a:chOff x="421951" y="2156679"/>
            <a:chExt cx="9741655" cy="2039860"/>
          </a:xfrm>
        </p:grpSpPr>
        <p:cxnSp>
          <p:nvCxnSpPr>
            <p:cNvPr id="91" name="Straight Connector 90"/>
            <p:cNvCxnSpPr/>
            <p:nvPr/>
          </p:nvCxnSpPr>
          <p:spPr>
            <a:xfrm>
              <a:off x="764744" y="4196539"/>
              <a:ext cx="9398862" cy="0"/>
            </a:xfrm>
            <a:prstGeom prst="line">
              <a:avLst/>
            </a:prstGeom>
            <a:ln>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94" name="Group 93"/>
            <p:cNvGrpSpPr/>
            <p:nvPr/>
          </p:nvGrpSpPr>
          <p:grpSpPr>
            <a:xfrm>
              <a:off x="421951" y="2156679"/>
              <a:ext cx="9574924" cy="1416690"/>
              <a:chOff x="421951" y="2453859"/>
              <a:chExt cx="9574924" cy="1416690"/>
            </a:xfrm>
          </p:grpSpPr>
          <p:grpSp>
            <p:nvGrpSpPr>
              <p:cNvPr id="95" name="Group 94"/>
              <p:cNvGrpSpPr/>
              <p:nvPr/>
            </p:nvGrpSpPr>
            <p:grpSpPr>
              <a:xfrm>
                <a:off x="421951" y="2453859"/>
                <a:ext cx="4674819" cy="1416690"/>
                <a:chOff x="300149" y="1758588"/>
                <a:chExt cx="5434268" cy="1701718"/>
              </a:xfrm>
            </p:grpSpPr>
            <p:sp>
              <p:nvSpPr>
                <p:cNvPr id="98" name="Rectangle 97"/>
                <p:cNvSpPr/>
                <p:nvPr/>
              </p:nvSpPr>
              <p:spPr bwMode="gray">
                <a:xfrm>
                  <a:off x="687324" y="1758588"/>
                  <a:ext cx="5047093" cy="1701718"/>
                </a:xfrm>
                <a:prstGeom prst="rect">
                  <a:avLst/>
                </a:prstGeom>
                <a:noFill/>
                <a:ln w="19050" algn="ctr">
                  <a:noFill/>
                  <a:miter lim="800000"/>
                  <a:headEnd/>
                  <a:tailEnd/>
                </a:ln>
              </p:spPr>
              <p:txBody>
                <a:bodyPr wrap="square" lIns="88900" tIns="88900" rIns="88900" bIns="88900" rtlCol="0" anchor="t"/>
                <a:lstStyle/>
                <a:p>
                  <a:pPr lvl="0" algn="just" defTabSz="1219170">
                    <a:spcAft>
                      <a:spcPts val="600"/>
                    </a:spcAft>
                    <a:defRPr/>
                  </a:pPr>
                  <a:r>
                    <a:rPr lang="en-US" sz="1100" b="1" dirty="0">
                      <a:solidFill>
                        <a:prstClr val="black"/>
                      </a:solidFill>
                    </a:rPr>
                    <a:t>Bangladesh Gas Act 2010:</a:t>
                  </a:r>
                </a:p>
                <a:p>
                  <a:pPr lvl="0" algn="just" defTabSz="1219170">
                    <a:spcAft>
                      <a:spcPts val="600"/>
                    </a:spcAft>
                    <a:defRPr/>
                  </a:pPr>
                  <a:r>
                    <a:rPr lang="en-US" sz="1100" dirty="0">
                      <a:solidFill>
                        <a:prstClr val="black"/>
                      </a:solidFill>
                    </a:rPr>
                    <a:t>Provides for the rules governing the transmission, distribution, marketing, supply and storage of natural gas, LNG, CNG, LPG, CBM, etc. in Bangladesh and licensing for the same.</a:t>
                  </a:r>
                </a:p>
              </p:txBody>
            </p:sp>
            <p:sp>
              <p:nvSpPr>
                <p:cNvPr id="101" name="Oval 100"/>
                <p:cNvSpPr/>
                <p:nvPr/>
              </p:nvSpPr>
              <p:spPr bwMode="gray">
                <a:xfrm>
                  <a:off x="300149" y="1820537"/>
                  <a:ext cx="338972" cy="348238"/>
                </a:xfrm>
                <a:prstGeom prst="ellipse">
                  <a:avLst/>
                </a:prstGeom>
                <a:solidFill>
                  <a:schemeClr val="accent1"/>
                </a:solidFill>
                <a:ln w="19050" algn="ctr">
                  <a:noFill/>
                  <a:miter lim="800000"/>
                  <a:headEnd/>
                  <a:tailEnd/>
                </a:ln>
              </p:spPr>
              <p:txBody>
                <a:bodyPr wrap="square" lIns="88900" tIns="88900" rIns="88900" bIns="88900" rtlCol="0" anchor="ctr"/>
                <a:lstStyle/>
                <a:p>
                  <a:pPr lvl="0" algn="ctr" defTabSz="1219170">
                    <a:lnSpc>
                      <a:spcPct val="106000"/>
                    </a:lnSpc>
                    <a:defRPr/>
                  </a:pPr>
                  <a:r>
                    <a:rPr lang="en-US" sz="1100" b="1" dirty="0">
                      <a:solidFill>
                        <a:prstClr val="white"/>
                      </a:solidFill>
                    </a:rPr>
                    <a:t>7</a:t>
                  </a:r>
                </a:p>
              </p:txBody>
            </p:sp>
          </p:grpSp>
          <p:sp>
            <p:nvSpPr>
              <p:cNvPr id="96" name="Chevron 95"/>
              <p:cNvSpPr/>
              <p:nvPr/>
            </p:nvSpPr>
            <p:spPr bwMode="gray">
              <a:xfrm>
                <a:off x="5224659" y="2775601"/>
                <a:ext cx="302576" cy="583298"/>
              </a:xfrm>
              <a:prstGeom prst="chevron">
                <a:avLst>
                  <a:gd name="adj" fmla="val 60265"/>
                </a:avLst>
              </a:prstGeom>
              <a:solidFill>
                <a:schemeClr val="bg1"/>
              </a:solidFill>
              <a:ln w="19050" algn="ctr">
                <a:solidFill>
                  <a:schemeClr val="accent1"/>
                </a:solidFill>
                <a:miter lim="800000"/>
                <a:headEnd/>
                <a:tailEnd/>
              </a:ln>
            </p:spPr>
            <p:txBody>
              <a:bodyPr wrap="square" lIns="88900" tIns="88900" rIns="88900" bIns="88900" rtlCol="0" anchor="ctr"/>
              <a:lstStyle/>
              <a:p>
                <a:pPr marL="0" marR="0" lvl="0" indent="0" algn="ctr" defTabSz="121917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1" i="0" u="none" strike="noStrike" kern="1200" cap="none" spc="0" normalizeH="0" baseline="0" noProof="0" dirty="0">
                  <a:ln>
                    <a:noFill/>
                  </a:ln>
                  <a:solidFill>
                    <a:prstClr val="white"/>
                  </a:solidFill>
                  <a:effectLst/>
                  <a:uLnTx/>
                  <a:uFillTx/>
                  <a:latin typeface="Verdana"/>
                  <a:ea typeface="+mn-ea"/>
                  <a:cs typeface="+mn-cs"/>
                </a:endParaRPr>
              </a:p>
            </p:txBody>
          </p:sp>
          <p:sp>
            <p:nvSpPr>
              <p:cNvPr id="97" name="Rectangle 96"/>
              <p:cNvSpPr/>
              <p:nvPr/>
            </p:nvSpPr>
            <p:spPr bwMode="gray">
              <a:xfrm>
                <a:off x="5655124" y="2456540"/>
                <a:ext cx="4341751" cy="1414009"/>
              </a:xfrm>
              <a:prstGeom prst="rect">
                <a:avLst/>
              </a:prstGeom>
              <a:noFill/>
              <a:ln w="19050" algn="ctr">
                <a:noFill/>
                <a:miter lim="800000"/>
                <a:headEnd/>
                <a:tailEnd/>
              </a:ln>
            </p:spPr>
            <p:txBody>
              <a:bodyPr wrap="square" lIns="88900" tIns="88900" rIns="88900" bIns="88900" rtlCol="0" anchor="t"/>
              <a:lstStyle/>
              <a:p>
                <a:pPr marL="171450" lvl="0" indent="-171450" algn="just" defTabSz="1219170">
                  <a:spcAft>
                    <a:spcPts val="600"/>
                  </a:spcAft>
                  <a:buFont typeface="Arial" panose="020B0604020202020204" pitchFamily="34" charset="0"/>
                  <a:buChar char="•"/>
                  <a:defRPr/>
                </a:pPr>
                <a:r>
                  <a:rPr lang="en-US" sz="1100" i="1" dirty="0">
                    <a:solidFill>
                      <a:prstClr val="black"/>
                    </a:solidFill>
                  </a:rPr>
                  <a:t>Regulated and licensed gas supply value-chain favors planned and organized supply of gas.</a:t>
                </a:r>
              </a:p>
              <a:p>
                <a:pPr marL="171450" lvl="0" indent="-171450" algn="just" defTabSz="1219170">
                  <a:spcAft>
                    <a:spcPts val="600"/>
                  </a:spcAft>
                  <a:buFont typeface="Arial" panose="020B0604020202020204" pitchFamily="34" charset="0"/>
                  <a:buChar char="•"/>
                  <a:defRPr/>
                </a:pPr>
                <a:r>
                  <a:rPr lang="en-US" sz="1100" i="1" dirty="0">
                    <a:solidFill>
                      <a:prstClr val="black"/>
                    </a:solidFill>
                  </a:rPr>
                  <a:t>The regulation provides for restrictions or suspension in supply of gas to customers or disconnection in the gas line in cases of (not limited to):</a:t>
                </a:r>
              </a:p>
              <a:p>
                <a:pPr marL="565191" lvl="1" indent="-171450" algn="just" defTabSz="1219170">
                  <a:spcAft>
                    <a:spcPts val="600"/>
                  </a:spcAft>
                  <a:buFont typeface="Courier New" panose="02070309020205020404" pitchFamily="49" charset="0"/>
                  <a:buChar char="o"/>
                  <a:defRPr/>
                </a:pPr>
                <a:r>
                  <a:rPr lang="en-US" sz="1100" i="1" dirty="0">
                    <a:solidFill>
                      <a:prstClr val="black"/>
                    </a:solidFill>
                  </a:rPr>
                  <a:t>Gas crisis at national level</a:t>
                </a:r>
              </a:p>
              <a:p>
                <a:pPr marL="565191" lvl="1" indent="-171450" algn="just" defTabSz="1219170">
                  <a:spcAft>
                    <a:spcPts val="600"/>
                  </a:spcAft>
                  <a:buFont typeface="Courier New" panose="02070309020205020404" pitchFamily="49" charset="0"/>
                  <a:buChar char="o"/>
                  <a:defRPr/>
                </a:pPr>
                <a:r>
                  <a:rPr lang="en-US" sz="1100" i="1" dirty="0">
                    <a:solidFill>
                      <a:prstClr val="black"/>
                    </a:solidFill>
                  </a:rPr>
                  <a:t>Need to prioritize gas distribution among users</a:t>
                </a:r>
              </a:p>
              <a:p>
                <a:pPr marL="565191" lvl="1" indent="-171450" algn="just" defTabSz="1219170">
                  <a:spcAft>
                    <a:spcPts val="600"/>
                  </a:spcAft>
                  <a:buFont typeface="Courier New" panose="02070309020205020404" pitchFamily="49" charset="0"/>
                  <a:buChar char="o"/>
                  <a:defRPr/>
                </a:pPr>
                <a:r>
                  <a:rPr lang="en-US" sz="1100" i="1" dirty="0">
                    <a:solidFill>
                      <a:prstClr val="black"/>
                    </a:solidFill>
                  </a:rPr>
                  <a:t>Gas is used less than the efficiency prescribed by the government / commission / company</a:t>
                </a:r>
              </a:p>
            </p:txBody>
          </p:sp>
        </p:grpSp>
      </p:grpSp>
      <p:grpSp>
        <p:nvGrpSpPr>
          <p:cNvPr id="31" name="Group 30"/>
          <p:cNvGrpSpPr/>
          <p:nvPr/>
        </p:nvGrpSpPr>
        <p:grpSpPr>
          <a:xfrm>
            <a:off x="421951" y="5917150"/>
            <a:ext cx="9741655" cy="927339"/>
            <a:chOff x="421951" y="2156680"/>
            <a:chExt cx="9741655" cy="927339"/>
          </a:xfrm>
        </p:grpSpPr>
        <p:cxnSp>
          <p:nvCxnSpPr>
            <p:cNvPr id="32" name="Straight Connector 31"/>
            <p:cNvCxnSpPr/>
            <p:nvPr/>
          </p:nvCxnSpPr>
          <p:spPr>
            <a:xfrm>
              <a:off x="764744" y="3084019"/>
              <a:ext cx="9398862" cy="0"/>
            </a:xfrm>
            <a:prstGeom prst="line">
              <a:avLst/>
            </a:prstGeom>
            <a:ln>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33" name="Group 32"/>
            <p:cNvGrpSpPr/>
            <p:nvPr/>
          </p:nvGrpSpPr>
          <p:grpSpPr>
            <a:xfrm>
              <a:off x="421951" y="2156680"/>
              <a:ext cx="9574924" cy="884363"/>
              <a:chOff x="421951" y="2453860"/>
              <a:chExt cx="9574924" cy="884363"/>
            </a:xfrm>
          </p:grpSpPr>
          <p:grpSp>
            <p:nvGrpSpPr>
              <p:cNvPr id="34" name="Group 33"/>
              <p:cNvGrpSpPr/>
              <p:nvPr/>
            </p:nvGrpSpPr>
            <p:grpSpPr>
              <a:xfrm>
                <a:off x="421951" y="2453860"/>
                <a:ext cx="4674819" cy="884363"/>
                <a:chOff x="300149" y="1758589"/>
                <a:chExt cx="5434268" cy="1062290"/>
              </a:xfrm>
            </p:grpSpPr>
            <p:sp>
              <p:nvSpPr>
                <p:cNvPr id="37" name="Rectangle 36"/>
                <p:cNvSpPr/>
                <p:nvPr/>
              </p:nvSpPr>
              <p:spPr bwMode="gray">
                <a:xfrm>
                  <a:off x="687324" y="1758589"/>
                  <a:ext cx="5047093" cy="1062290"/>
                </a:xfrm>
                <a:prstGeom prst="rect">
                  <a:avLst/>
                </a:prstGeom>
                <a:noFill/>
                <a:ln w="19050" algn="ctr">
                  <a:noFill/>
                  <a:miter lim="800000"/>
                  <a:headEnd/>
                  <a:tailEnd/>
                </a:ln>
              </p:spPr>
              <p:txBody>
                <a:bodyPr wrap="square" lIns="88900" tIns="88900" rIns="88900" bIns="88900" rtlCol="0" anchor="t"/>
                <a:lstStyle/>
                <a:p>
                  <a:pPr marL="0" marR="0" lvl="0" indent="0" algn="just" defTabSz="1219170" rtl="0" eaLnBrk="1" fontAlgn="auto" latinLnBrk="0" hangingPunct="1">
                    <a:lnSpc>
                      <a:spcPct val="100000"/>
                    </a:lnSpc>
                    <a:spcBef>
                      <a:spcPts val="0"/>
                    </a:spcBef>
                    <a:spcAft>
                      <a:spcPts val="60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Verdana"/>
                      <a:ea typeface="+mn-ea"/>
                      <a:cs typeface="+mn-cs"/>
                    </a:rPr>
                    <a:t>Bangladesh Energy Regulatory Commission Dispute Settlement Regulations, 2014:</a:t>
                  </a:r>
                </a:p>
                <a:p>
                  <a:pPr marL="0" marR="0" lvl="0" indent="0" algn="just" defTabSz="121917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dirty="0">
                      <a:ln>
                        <a:noFill/>
                      </a:ln>
                      <a:solidFill>
                        <a:prstClr val="black"/>
                      </a:solidFill>
                      <a:effectLst/>
                      <a:uLnTx/>
                      <a:uFillTx/>
                      <a:latin typeface="Verdana"/>
                      <a:ea typeface="+mn-ea"/>
                      <a:cs typeface="+mn-cs"/>
                    </a:rPr>
                    <a:t>Provides for the procedures and institutional responsibilities for the purpose of resolution of disputes.</a:t>
                  </a:r>
                </a:p>
              </p:txBody>
            </p:sp>
            <p:sp>
              <p:nvSpPr>
                <p:cNvPr id="38" name="Oval 37"/>
                <p:cNvSpPr/>
                <p:nvPr/>
              </p:nvSpPr>
              <p:spPr bwMode="gray">
                <a:xfrm>
                  <a:off x="300149" y="1820537"/>
                  <a:ext cx="338972" cy="348238"/>
                </a:xfrm>
                <a:prstGeom prst="ellipse">
                  <a:avLst/>
                </a:prstGeom>
                <a:solidFill>
                  <a:schemeClr val="accent1"/>
                </a:solidFill>
                <a:ln w="19050" algn="ctr">
                  <a:noFill/>
                  <a:miter lim="800000"/>
                  <a:headEnd/>
                  <a:tailEnd/>
                </a:ln>
              </p:spPr>
              <p:txBody>
                <a:bodyPr wrap="square" lIns="88900" tIns="88900" rIns="88900" bIns="88900" rtlCol="0" anchor="ctr"/>
                <a:lstStyle/>
                <a:p>
                  <a:pPr marL="0" marR="0" lvl="0" indent="0" algn="ctr" defTabSz="121917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0" u="none" strike="noStrike" kern="1200" cap="none" spc="0" normalizeH="0" baseline="0" noProof="0" dirty="0">
                      <a:ln>
                        <a:noFill/>
                      </a:ln>
                      <a:solidFill>
                        <a:prstClr val="white"/>
                      </a:solidFill>
                      <a:effectLst/>
                      <a:uLnTx/>
                      <a:uFillTx/>
                      <a:latin typeface="Verdana"/>
                      <a:ea typeface="+mn-ea"/>
                      <a:cs typeface="+mn-cs"/>
                    </a:rPr>
                    <a:t>8</a:t>
                  </a:r>
                </a:p>
              </p:txBody>
            </p:sp>
          </p:grpSp>
          <p:sp>
            <p:nvSpPr>
              <p:cNvPr id="35" name="Chevron 34"/>
              <p:cNvSpPr/>
              <p:nvPr/>
            </p:nvSpPr>
            <p:spPr bwMode="gray">
              <a:xfrm>
                <a:off x="5224659" y="2577481"/>
                <a:ext cx="302576" cy="583298"/>
              </a:xfrm>
              <a:prstGeom prst="chevron">
                <a:avLst>
                  <a:gd name="adj" fmla="val 60265"/>
                </a:avLst>
              </a:prstGeom>
              <a:solidFill>
                <a:schemeClr val="bg1"/>
              </a:solidFill>
              <a:ln w="19050" algn="ctr">
                <a:solidFill>
                  <a:schemeClr val="accent1"/>
                </a:solidFill>
                <a:miter lim="800000"/>
                <a:headEnd/>
                <a:tailEnd/>
              </a:ln>
            </p:spPr>
            <p:txBody>
              <a:bodyPr wrap="square" lIns="88900" tIns="88900" rIns="88900" bIns="88900" rtlCol="0" anchor="ctr"/>
              <a:lstStyle/>
              <a:p>
                <a:pPr marL="0" marR="0" lvl="0" indent="0" algn="ctr" defTabSz="121917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1" i="0" u="none" strike="noStrike" kern="1200" cap="none" spc="0" normalizeH="0" baseline="0" noProof="0" dirty="0">
                  <a:ln>
                    <a:noFill/>
                  </a:ln>
                  <a:solidFill>
                    <a:prstClr val="white"/>
                  </a:solidFill>
                  <a:effectLst/>
                  <a:uLnTx/>
                  <a:uFillTx/>
                  <a:latin typeface="Verdana"/>
                  <a:ea typeface="+mn-ea"/>
                  <a:cs typeface="+mn-cs"/>
                </a:endParaRPr>
              </a:p>
            </p:txBody>
          </p:sp>
          <p:sp>
            <p:nvSpPr>
              <p:cNvPr id="36" name="Rectangle 35"/>
              <p:cNvSpPr/>
              <p:nvPr/>
            </p:nvSpPr>
            <p:spPr bwMode="gray">
              <a:xfrm>
                <a:off x="5655124" y="2456540"/>
                <a:ext cx="4341751" cy="881683"/>
              </a:xfrm>
              <a:prstGeom prst="rect">
                <a:avLst/>
              </a:prstGeom>
              <a:noFill/>
              <a:ln w="19050" algn="ctr">
                <a:noFill/>
                <a:miter lim="800000"/>
                <a:headEnd/>
                <a:tailEnd/>
              </a:ln>
            </p:spPr>
            <p:txBody>
              <a:bodyPr wrap="square" lIns="88900" tIns="88900" rIns="88900" bIns="88900" rtlCol="0" anchor="t"/>
              <a:lstStyle/>
              <a:p>
                <a:pPr marL="171450" marR="0" lvl="0" indent="-171450" algn="just" defTabSz="121917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100" b="0" i="1" u="none" strike="noStrike" kern="1200" cap="none" spc="0" normalizeH="0" baseline="0" noProof="0" dirty="0">
                    <a:ln>
                      <a:noFill/>
                    </a:ln>
                    <a:solidFill>
                      <a:prstClr val="black"/>
                    </a:solidFill>
                    <a:effectLst/>
                    <a:uLnTx/>
                    <a:uFillTx/>
                    <a:latin typeface="Verdana"/>
                    <a:ea typeface="+mn-ea"/>
                    <a:cs typeface="+mn-cs"/>
                  </a:rPr>
                  <a:t>There is procedural clarity for dispute resolution.</a:t>
                </a:r>
              </a:p>
            </p:txBody>
          </p:sp>
        </p:grpSp>
      </p:grpSp>
      <p:sp>
        <p:nvSpPr>
          <p:cNvPr id="39" name="Rectangle 38"/>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BERC, MPEMR, Bangladesh Bank, BPDB, PGCB, Deloitte Analysis</a:t>
            </a:r>
          </a:p>
        </p:txBody>
      </p:sp>
    </p:spTree>
    <p:extLst>
      <p:ext uri="{BB962C8B-B14F-4D97-AF65-F5344CB8AC3E}">
        <p14:creationId xmlns:p14="http://schemas.microsoft.com/office/powerpoint/2010/main" val="384006157"/>
      </p:ext>
    </p:extLst>
  </p:cSld>
  <p:clrMapOvr>
    <a:masterClrMapping/>
  </p:clrMapOvr>
  <p:transition>
    <p:fade/>
  </p:transition>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4" name="Object 3"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2" name="Title 1"/>
          <p:cNvSpPr>
            <a:spLocks noGrp="1"/>
          </p:cNvSpPr>
          <p:nvPr>
            <p:ph type="title"/>
          </p:nvPr>
        </p:nvSpPr>
        <p:spPr/>
        <p:txBody>
          <a:bodyPr/>
          <a:lstStyle/>
          <a:p>
            <a:r>
              <a:rPr lang="en-US" dirty="0"/>
              <a:t>Policy &amp; Regulatory Overview | Implications for Power Generators</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We have reviewed the various policies and regulations in force for gas based power generators in Bangladesh and identified the key implications for the generators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86" name="Table 85"/>
          <p:cNvGraphicFramePr>
            <a:graphicFrameLocks noGrp="1"/>
          </p:cNvGraphicFramePr>
          <p:nvPr>
            <p:custDataLst>
              <p:tags r:id="rId3"/>
            </p:custDataLst>
          </p:nvPr>
        </p:nvGraphicFramePr>
        <p:xfrm>
          <a:off x="449993" y="1961919"/>
          <a:ext cx="9790972" cy="306118"/>
        </p:xfrm>
        <a:graphic>
          <a:graphicData uri="http://schemas.openxmlformats.org/drawingml/2006/table">
            <a:tbl>
              <a:tblPr firstRow="1" bandRow="1">
                <a:tableStyleId>{5C22544A-7EE6-4342-B048-85BDC9FD1C3A}</a:tableStyleId>
              </a:tblPr>
              <a:tblGrid>
                <a:gridCol w="9790972">
                  <a:extLst>
                    <a:ext uri="{9D8B030D-6E8A-4147-A177-3AD203B41FA5}">
                      <a16:colId xmlns:a16="http://schemas.microsoft.com/office/drawing/2014/main" val="20000"/>
                    </a:ext>
                  </a:extLst>
                </a:gridCol>
              </a:tblGrid>
              <a:tr h="0">
                <a:tc>
                  <a:txBody>
                    <a:bodyPr/>
                    <a:lstStyle/>
                    <a:p>
                      <a:pPr marL="17145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pSp>
        <p:nvGrpSpPr>
          <p:cNvPr id="7" name="Group 6"/>
          <p:cNvGrpSpPr/>
          <p:nvPr/>
        </p:nvGrpSpPr>
        <p:grpSpPr>
          <a:xfrm>
            <a:off x="421951" y="2156680"/>
            <a:ext cx="9741655" cy="4024869"/>
            <a:chOff x="421951" y="2156680"/>
            <a:chExt cx="9741655" cy="4024869"/>
          </a:xfrm>
        </p:grpSpPr>
        <p:grpSp>
          <p:nvGrpSpPr>
            <p:cNvPr id="6" name="Group 5"/>
            <p:cNvGrpSpPr/>
            <p:nvPr/>
          </p:nvGrpSpPr>
          <p:grpSpPr>
            <a:xfrm>
              <a:off x="421951" y="2156680"/>
              <a:ext cx="9741655" cy="4024869"/>
              <a:chOff x="421951" y="2156680"/>
              <a:chExt cx="9741655" cy="4024869"/>
            </a:xfrm>
          </p:grpSpPr>
          <p:cxnSp>
            <p:nvCxnSpPr>
              <p:cNvPr id="60" name="Straight Connector 59"/>
              <p:cNvCxnSpPr/>
              <p:nvPr/>
            </p:nvCxnSpPr>
            <p:spPr>
              <a:xfrm>
                <a:off x="764744" y="6181549"/>
                <a:ext cx="9398862" cy="0"/>
              </a:xfrm>
              <a:prstGeom prst="line">
                <a:avLst/>
              </a:prstGeom>
              <a:ln>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5" name="Group 4"/>
              <p:cNvGrpSpPr/>
              <p:nvPr/>
            </p:nvGrpSpPr>
            <p:grpSpPr>
              <a:xfrm>
                <a:off x="421951" y="2156680"/>
                <a:ext cx="9574924" cy="884363"/>
                <a:chOff x="421951" y="2453860"/>
                <a:chExt cx="9574924" cy="884363"/>
              </a:xfrm>
            </p:grpSpPr>
            <p:grpSp>
              <p:nvGrpSpPr>
                <p:cNvPr id="62" name="Group 61"/>
                <p:cNvGrpSpPr/>
                <p:nvPr/>
              </p:nvGrpSpPr>
              <p:grpSpPr>
                <a:xfrm>
                  <a:off x="421951" y="2453860"/>
                  <a:ext cx="4674819" cy="884363"/>
                  <a:chOff x="300149" y="1758589"/>
                  <a:chExt cx="5434268" cy="1062290"/>
                </a:xfrm>
              </p:grpSpPr>
              <p:sp>
                <p:nvSpPr>
                  <p:cNvPr id="66" name="Rectangle 65"/>
                  <p:cNvSpPr/>
                  <p:nvPr/>
                </p:nvSpPr>
                <p:spPr bwMode="gray">
                  <a:xfrm>
                    <a:off x="687324" y="1758589"/>
                    <a:ext cx="5047093" cy="1062290"/>
                  </a:xfrm>
                  <a:prstGeom prst="rect">
                    <a:avLst/>
                  </a:prstGeom>
                  <a:noFill/>
                  <a:ln w="19050" algn="ctr">
                    <a:noFill/>
                    <a:miter lim="800000"/>
                    <a:headEnd/>
                    <a:tailEnd/>
                  </a:ln>
                </p:spPr>
                <p:txBody>
                  <a:bodyPr wrap="square" lIns="88900" tIns="88900" rIns="88900" bIns="88900" rtlCol="0" anchor="t"/>
                  <a:lstStyle/>
                  <a:p>
                    <a:pPr lvl="0" algn="just" defTabSz="1219170">
                      <a:spcAft>
                        <a:spcPts val="600"/>
                      </a:spcAft>
                      <a:defRPr/>
                    </a:pPr>
                    <a:r>
                      <a:rPr lang="en-US" sz="1100" b="1" dirty="0">
                        <a:solidFill>
                          <a:prstClr val="black"/>
                        </a:solidFill>
                      </a:rPr>
                      <a:t>Vision and Policy Statement on Power Sector Reform, 2000 and National Energy Policy (NEP), 2004:</a:t>
                    </a:r>
                  </a:p>
                  <a:p>
                    <a:pPr lvl="0" algn="just" defTabSz="1219170">
                      <a:spcAft>
                        <a:spcPts val="600"/>
                      </a:spcAft>
                      <a:defRPr/>
                    </a:pPr>
                    <a:r>
                      <a:rPr lang="en-US" sz="1100" dirty="0">
                        <a:solidFill>
                          <a:prstClr val="black"/>
                        </a:solidFill>
                      </a:rPr>
                      <a:t>Vision and Policy Statement – Aims at augmentation of gas-based power generation capacity, network expansion with focus on western region, replacement of liquid fuel in existing generation stations; and recognizes gas resource of Bangladesh </a:t>
                    </a:r>
                  </a:p>
                  <a:p>
                    <a:pPr lvl="0" algn="just" defTabSz="1219170">
                      <a:spcAft>
                        <a:spcPts val="600"/>
                      </a:spcAft>
                      <a:defRPr/>
                    </a:pPr>
                    <a:r>
                      <a:rPr lang="en-US" sz="1100" dirty="0">
                        <a:solidFill>
                          <a:prstClr val="black"/>
                        </a:solidFill>
                      </a:rPr>
                      <a:t>National Energy Policy – Development of indigenous natural gas supply, allocation of natural gas to sectors like power, fertilizer, industrial, commercial, domestic, etc., extension of gas pipeline for equitable development of Bangladesh, gas price setting based on economic cost of supply, provision of stand-by wells to meet emergency situation with an emergency reserve margin of 20%</a:t>
                    </a:r>
                  </a:p>
                </p:txBody>
              </p:sp>
              <p:sp>
                <p:nvSpPr>
                  <p:cNvPr id="67" name="Oval 66"/>
                  <p:cNvSpPr/>
                  <p:nvPr/>
                </p:nvSpPr>
                <p:spPr bwMode="gray">
                  <a:xfrm>
                    <a:off x="300149" y="1820537"/>
                    <a:ext cx="338972" cy="348238"/>
                  </a:xfrm>
                  <a:prstGeom prst="ellipse">
                    <a:avLst/>
                  </a:prstGeom>
                  <a:solidFill>
                    <a:schemeClr val="accent1"/>
                  </a:solidFill>
                  <a:ln w="19050" algn="ctr">
                    <a:noFill/>
                    <a:miter lim="800000"/>
                    <a:headEnd/>
                    <a:tailEnd/>
                  </a:ln>
                </p:spPr>
                <p:txBody>
                  <a:bodyPr wrap="square" lIns="88900" tIns="88900" rIns="88900" bIns="88900" rtlCol="0" anchor="ctr"/>
                  <a:lstStyle/>
                  <a:p>
                    <a:pPr lvl="0" algn="ctr" defTabSz="1219170">
                      <a:lnSpc>
                        <a:spcPct val="106000"/>
                      </a:lnSpc>
                      <a:defRPr/>
                    </a:pPr>
                    <a:r>
                      <a:rPr lang="en-US" sz="1100" b="1" dirty="0">
                        <a:solidFill>
                          <a:prstClr val="white"/>
                        </a:solidFill>
                      </a:rPr>
                      <a:t>9</a:t>
                    </a:r>
                  </a:p>
                </p:txBody>
              </p:sp>
            </p:grpSp>
            <p:sp>
              <p:nvSpPr>
                <p:cNvPr id="88" name="Rectangle 87"/>
                <p:cNvSpPr/>
                <p:nvPr/>
              </p:nvSpPr>
              <p:spPr bwMode="gray">
                <a:xfrm>
                  <a:off x="5655124" y="2456540"/>
                  <a:ext cx="4341751" cy="881683"/>
                </a:xfrm>
                <a:prstGeom prst="rect">
                  <a:avLst/>
                </a:prstGeom>
                <a:noFill/>
                <a:ln w="19050" algn="ctr">
                  <a:noFill/>
                  <a:miter lim="800000"/>
                  <a:headEnd/>
                  <a:tailEnd/>
                </a:ln>
              </p:spPr>
              <p:txBody>
                <a:bodyPr wrap="square" lIns="88900" tIns="88900" rIns="88900" bIns="88900" rtlCol="0" anchor="t"/>
                <a:lstStyle/>
                <a:p>
                  <a:pPr marL="171450" lvl="0" indent="-171450" algn="just" defTabSz="1219170">
                    <a:spcAft>
                      <a:spcPts val="600"/>
                    </a:spcAft>
                    <a:buFont typeface="Arial" panose="020B0604020202020204" pitchFamily="34" charset="0"/>
                    <a:buChar char="•"/>
                    <a:defRPr/>
                  </a:pPr>
                  <a:r>
                    <a:rPr lang="en-US" sz="1100" i="1" dirty="0">
                      <a:solidFill>
                        <a:prstClr val="black"/>
                      </a:solidFill>
                    </a:rPr>
                    <a:t>Policy push for gas-based power generation implies government’s focus on the sector to ensure a facilitating environment for the gas-based generation plants in the country.</a:t>
                  </a:r>
                </a:p>
                <a:p>
                  <a:pPr marL="171450" lvl="0" indent="-171450" algn="just" defTabSz="1219170">
                    <a:spcAft>
                      <a:spcPts val="600"/>
                    </a:spcAft>
                    <a:buFont typeface="Arial" panose="020B0604020202020204" pitchFamily="34" charset="0"/>
                    <a:buChar char="•"/>
                    <a:defRPr/>
                  </a:pPr>
                  <a:r>
                    <a:rPr lang="en-US" sz="1100" i="1" dirty="0">
                      <a:solidFill>
                        <a:prstClr val="black"/>
                      </a:solidFill>
                    </a:rPr>
                    <a:t>The Pricing Policy (NEP) for Energy calls for the present price of natural gas to be raised in phases to reach its economic cost of supply</a:t>
                  </a:r>
                </a:p>
                <a:p>
                  <a:pPr marL="171450" lvl="0" indent="-171450" algn="just" defTabSz="1219170">
                    <a:spcAft>
                      <a:spcPts val="600"/>
                    </a:spcAft>
                    <a:buFont typeface="Arial" panose="020B0604020202020204" pitchFamily="34" charset="0"/>
                    <a:buChar char="•"/>
                    <a:defRPr/>
                  </a:pPr>
                  <a:r>
                    <a:rPr lang="en-US" sz="1100" i="1" dirty="0">
                      <a:solidFill>
                        <a:prstClr val="black"/>
                      </a:solidFill>
                    </a:rPr>
                    <a:t>The pricing policy (NEP) further states that the present subsidy on gas price for power and fertilizer is to be removed gradually. Subsidy, if required, is to be given at the end-user level and the related liabilities cannot be passed on to the utilities</a:t>
                  </a:r>
                </a:p>
                <a:p>
                  <a:pPr marL="171450" lvl="0" indent="-171450" algn="just" defTabSz="1219170">
                    <a:spcAft>
                      <a:spcPts val="600"/>
                    </a:spcAft>
                    <a:buFont typeface="Arial" panose="020B0604020202020204" pitchFamily="34" charset="0"/>
                    <a:buChar char="•"/>
                    <a:defRPr/>
                  </a:pPr>
                  <a:r>
                    <a:rPr lang="en-US" sz="1100" i="1" dirty="0">
                      <a:solidFill>
                        <a:prstClr val="black"/>
                      </a:solidFill>
                    </a:rPr>
                    <a:t>The policy (NEP) provides for duty exemption for machinery, equipment, spares and other consumables for energy related projects and protects the power sector development projects from foreign exchange fluctuations</a:t>
                  </a:r>
                </a:p>
                <a:p>
                  <a:pPr marL="171450" lvl="0" indent="-171450" algn="just" defTabSz="1219170">
                    <a:spcAft>
                      <a:spcPts val="600"/>
                    </a:spcAft>
                    <a:buFont typeface="Arial" panose="020B0604020202020204" pitchFamily="34" charset="0"/>
                    <a:buChar char="•"/>
                    <a:defRPr/>
                  </a:pPr>
                  <a:r>
                    <a:rPr lang="en-US" sz="1100" i="1" dirty="0">
                      <a:solidFill>
                        <a:prstClr val="black"/>
                      </a:solidFill>
                    </a:rPr>
                    <a:t>The Policy (NEP) also calls for maintenance of adequate reserve margin by installing capacities in excess of peak demand (say 25%) so that the system can reliably accommodate planned maintenance and forced outage</a:t>
                  </a:r>
                </a:p>
              </p:txBody>
            </p:sp>
          </p:grpSp>
        </p:grpSp>
        <p:sp>
          <p:nvSpPr>
            <p:cNvPr id="58" name="Chevron 57"/>
            <p:cNvSpPr/>
            <p:nvPr/>
          </p:nvSpPr>
          <p:spPr bwMode="gray">
            <a:xfrm>
              <a:off x="5224659" y="2478421"/>
              <a:ext cx="302576" cy="583298"/>
            </a:xfrm>
            <a:prstGeom prst="chevron">
              <a:avLst>
                <a:gd name="adj" fmla="val 60265"/>
              </a:avLst>
            </a:prstGeom>
            <a:solidFill>
              <a:schemeClr val="bg1"/>
            </a:solidFill>
            <a:ln w="19050" algn="ctr">
              <a:solidFill>
                <a:schemeClr val="accent1"/>
              </a:solidFill>
              <a:miter lim="800000"/>
              <a:headEnd/>
              <a:tailEnd/>
            </a:ln>
          </p:spPr>
          <p:txBody>
            <a:bodyPr wrap="square" lIns="88900" tIns="88900" rIns="88900" bIns="88900" rtlCol="0" anchor="ctr"/>
            <a:lstStyle/>
            <a:p>
              <a:pPr marL="0" marR="0" lvl="0" indent="0" algn="ctr" defTabSz="121917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1" i="0" u="none" strike="noStrike" kern="1200" cap="none" spc="0" normalizeH="0" baseline="0" noProof="0" dirty="0">
                <a:ln>
                  <a:noFill/>
                </a:ln>
                <a:solidFill>
                  <a:prstClr val="white"/>
                </a:solidFill>
                <a:effectLst/>
                <a:uLnTx/>
                <a:uFillTx/>
                <a:latin typeface="Verdana"/>
                <a:ea typeface="+mn-ea"/>
                <a:cs typeface="+mn-cs"/>
              </a:endParaRPr>
            </a:p>
          </p:txBody>
        </p:sp>
      </p:grpSp>
      <p:sp>
        <p:nvSpPr>
          <p:cNvPr id="16" name="Rectangle 15"/>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BERC, MPEMR, Bangladesh Bank, BPDB, PGCB, Deloitte Analysis</a:t>
            </a:r>
          </a:p>
        </p:txBody>
      </p:sp>
    </p:spTree>
    <p:extLst>
      <p:ext uri="{BB962C8B-B14F-4D97-AF65-F5344CB8AC3E}">
        <p14:creationId xmlns:p14="http://schemas.microsoft.com/office/powerpoint/2010/main" val="2188842660"/>
      </p:ext>
    </p:extLst>
  </p:cSld>
  <p:clrMapOvr>
    <a:masterClrMapping/>
  </p:clrMapOvr>
  <p:transition>
    <p:fade/>
  </p:transition>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4" name="Object 3"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2" name="Title 1"/>
          <p:cNvSpPr>
            <a:spLocks noGrp="1"/>
          </p:cNvSpPr>
          <p:nvPr>
            <p:ph type="title"/>
          </p:nvPr>
        </p:nvSpPr>
        <p:spPr/>
        <p:txBody>
          <a:bodyPr/>
          <a:lstStyle/>
          <a:p>
            <a:r>
              <a:rPr lang="en-US" dirty="0"/>
              <a:t>Policy &amp; Regulatory Overview | Implications for Power Generators</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We have reviewed the various policies and regulations in force for gas based power generators in Bangladesh and identified the key implications for the generators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86" name="Table 85"/>
          <p:cNvGraphicFramePr>
            <a:graphicFrameLocks noGrp="1"/>
          </p:cNvGraphicFramePr>
          <p:nvPr>
            <p:custDataLst>
              <p:tags r:id="rId3"/>
            </p:custDataLst>
          </p:nvPr>
        </p:nvGraphicFramePr>
        <p:xfrm>
          <a:off x="449993" y="1961919"/>
          <a:ext cx="9790972" cy="306118"/>
        </p:xfrm>
        <a:graphic>
          <a:graphicData uri="http://schemas.openxmlformats.org/drawingml/2006/table">
            <a:tbl>
              <a:tblPr firstRow="1" bandRow="1">
                <a:tableStyleId>{5C22544A-7EE6-4342-B048-85BDC9FD1C3A}</a:tableStyleId>
              </a:tblPr>
              <a:tblGrid>
                <a:gridCol w="9790972">
                  <a:extLst>
                    <a:ext uri="{9D8B030D-6E8A-4147-A177-3AD203B41FA5}">
                      <a16:colId xmlns:a16="http://schemas.microsoft.com/office/drawing/2014/main" val="20000"/>
                    </a:ext>
                  </a:extLst>
                </a:gridCol>
              </a:tblGrid>
              <a:tr h="0">
                <a:tc>
                  <a:txBody>
                    <a:bodyPr/>
                    <a:lstStyle/>
                    <a:p>
                      <a:pPr marL="17145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pSp>
        <p:nvGrpSpPr>
          <p:cNvPr id="6" name="Group 5"/>
          <p:cNvGrpSpPr/>
          <p:nvPr/>
        </p:nvGrpSpPr>
        <p:grpSpPr>
          <a:xfrm>
            <a:off x="421951" y="2156680"/>
            <a:ext cx="9741655" cy="3951426"/>
            <a:chOff x="421951" y="2156680"/>
            <a:chExt cx="9741655" cy="3951426"/>
          </a:xfrm>
        </p:grpSpPr>
        <p:cxnSp>
          <p:nvCxnSpPr>
            <p:cNvPr id="60" name="Straight Connector 59"/>
            <p:cNvCxnSpPr/>
            <p:nvPr/>
          </p:nvCxnSpPr>
          <p:spPr>
            <a:xfrm>
              <a:off x="764744" y="6108106"/>
              <a:ext cx="9398862" cy="0"/>
            </a:xfrm>
            <a:prstGeom prst="line">
              <a:avLst/>
            </a:prstGeom>
            <a:ln>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5" name="Group 4"/>
            <p:cNvGrpSpPr/>
            <p:nvPr/>
          </p:nvGrpSpPr>
          <p:grpSpPr>
            <a:xfrm>
              <a:off x="421951" y="2156680"/>
              <a:ext cx="9574924" cy="1232701"/>
              <a:chOff x="421951" y="2453860"/>
              <a:chExt cx="9574924" cy="1232701"/>
            </a:xfrm>
          </p:grpSpPr>
          <p:grpSp>
            <p:nvGrpSpPr>
              <p:cNvPr id="62" name="Group 61"/>
              <p:cNvGrpSpPr/>
              <p:nvPr/>
            </p:nvGrpSpPr>
            <p:grpSpPr>
              <a:xfrm>
                <a:off x="421951" y="2453860"/>
                <a:ext cx="4674819" cy="1226780"/>
                <a:chOff x="300149" y="1758589"/>
                <a:chExt cx="5434268" cy="1473599"/>
              </a:xfrm>
            </p:grpSpPr>
            <p:sp>
              <p:nvSpPr>
                <p:cNvPr id="66" name="Rectangle 65"/>
                <p:cNvSpPr/>
                <p:nvPr/>
              </p:nvSpPr>
              <p:spPr bwMode="gray">
                <a:xfrm>
                  <a:off x="687325" y="1758589"/>
                  <a:ext cx="5047092" cy="1473599"/>
                </a:xfrm>
                <a:prstGeom prst="rect">
                  <a:avLst/>
                </a:prstGeom>
                <a:noFill/>
                <a:ln w="19050" algn="ctr">
                  <a:noFill/>
                  <a:miter lim="800000"/>
                  <a:headEnd/>
                  <a:tailEnd/>
                </a:ln>
              </p:spPr>
              <p:txBody>
                <a:bodyPr wrap="square" lIns="88900" tIns="88900" rIns="88900" bIns="88900" rtlCol="0" anchor="t"/>
                <a:lstStyle/>
                <a:p>
                  <a:pPr marL="0" marR="0" lvl="0" indent="0" algn="just" defTabSz="1219170" rtl="0" eaLnBrk="1" fontAlgn="auto" latinLnBrk="0" hangingPunct="1">
                    <a:lnSpc>
                      <a:spcPct val="100000"/>
                    </a:lnSpc>
                    <a:spcBef>
                      <a:spcPts val="0"/>
                    </a:spcBef>
                    <a:spcAft>
                      <a:spcPts val="60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Verdana"/>
                      <a:ea typeface="+mn-ea"/>
                      <a:cs typeface="+mn-cs"/>
                    </a:rPr>
                    <a:t>Private Sector Power Generation Policy of Bangladesh, 2004 and Policy Guideline for Small Power Plant (SPP) in Private Sector</a:t>
                  </a:r>
                </a:p>
                <a:p>
                  <a:pPr marL="0" marR="0" lvl="0" indent="0" algn="just" defTabSz="121917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dirty="0">
                      <a:ln>
                        <a:noFill/>
                      </a:ln>
                      <a:solidFill>
                        <a:prstClr val="black"/>
                      </a:solidFill>
                      <a:effectLst/>
                      <a:uLnTx/>
                      <a:uFillTx/>
                      <a:latin typeface="Verdana"/>
                      <a:ea typeface="+mn-ea"/>
                      <a:cs typeface="+mn-cs"/>
                    </a:rPr>
                    <a:t>Private Sector Power Generation Policy – Provides guidelines on the modality for implementation of IPP projects, determination of generation tariff for such IPPs, and Fiscal incentives.</a:t>
                  </a:r>
                </a:p>
                <a:p>
                  <a:pPr marL="0" marR="0" lvl="0" indent="0" algn="just" defTabSz="121917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dirty="0">
                      <a:ln>
                        <a:noFill/>
                      </a:ln>
                      <a:solidFill>
                        <a:prstClr val="black"/>
                      </a:solidFill>
                      <a:effectLst/>
                      <a:uLnTx/>
                      <a:uFillTx/>
                      <a:latin typeface="Verdana"/>
                      <a:ea typeface="+mn-ea"/>
                      <a:cs typeface="+mn-cs"/>
                    </a:rPr>
                    <a:t>Policy Guideline for SPP – Provides guidelines for establishment of SPPs including plant location, fuel supply, power offtake, price regulation, license requirement, GOB support and Fiscal incentives.</a:t>
                  </a:r>
                </a:p>
              </p:txBody>
            </p:sp>
            <p:sp>
              <p:nvSpPr>
                <p:cNvPr id="67" name="Oval 66"/>
                <p:cNvSpPr/>
                <p:nvPr/>
              </p:nvSpPr>
              <p:spPr bwMode="gray">
                <a:xfrm>
                  <a:off x="300149" y="1820537"/>
                  <a:ext cx="338972" cy="348238"/>
                </a:xfrm>
                <a:prstGeom prst="ellipse">
                  <a:avLst/>
                </a:prstGeom>
                <a:solidFill>
                  <a:schemeClr val="accent1"/>
                </a:solidFill>
                <a:ln w="19050" algn="ctr">
                  <a:noFill/>
                  <a:miter lim="800000"/>
                  <a:headEnd/>
                  <a:tailEnd/>
                </a:ln>
              </p:spPr>
              <p:txBody>
                <a:bodyPr wrap="square" lIns="0" tIns="88900" rIns="0" bIns="88900" rtlCol="0" anchor="ctr"/>
                <a:lstStyle/>
                <a:p>
                  <a:pPr marL="0" marR="0" lvl="0" indent="0" algn="ctr" defTabSz="121917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0" u="none" strike="noStrike" kern="1200" cap="none" spc="0" normalizeH="0" baseline="0" noProof="0" dirty="0">
                      <a:ln>
                        <a:noFill/>
                      </a:ln>
                      <a:solidFill>
                        <a:prstClr val="white"/>
                      </a:solidFill>
                      <a:effectLst/>
                      <a:uLnTx/>
                      <a:uFillTx/>
                      <a:latin typeface="Verdana"/>
                      <a:ea typeface="+mn-ea"/>
                      <a:cs typeface="+mn-cs"/>
                    </a:rPr>
                    <a:t>10</a:t>
                  </a:r>
                </a:p>
              </p:txBody>
            </p:sp>
          </p:grpSp>
          <p:sp>
            <p:nvSpPr>
              <p:cNvPr id="65" name="Chevron 64"/>
              <p:cNvSpPr/>
              <p:nvPr/>
            </p:nvSpPr>
            <p:spPr bwMode="gray">
              <a:xfrm>
                <a:off x="5224659" y="2775601"/>
                <a:ext cx="302576" cy="583298"/>
              </a:xfrm>
              <a:prstGeom prst="chevron">
                <a:avLst>
                  <a:gd name="adj" fmla="val 60265"/>
                </a:avLst>
              </a:prstGeom>
              <a:solidFill>
                <a:schemeClr val="bg1"/>
              </a:solidFill>
              <a:ln w="19050" algn="ctr">
                <a:solidFill>
                  <a:schemeClr val="accent1"/>
                </a:solidFill>
                <a:miter lim="800000"/>
                <a:headEnd/>
                <a:tailEnd/>
              </a:ln>
            </p:spPr>
            <p:txBody>
              <a:bodyPr wrap="square" lIns="88900" tIns="88900" rIns="88900" bIns="88900" rtlCol="0" anchor="ctr"/>
              <a:lstStyle/>
              <a:p>
                <a:pPr marL="0" marR="0" lvl="0" indent="0" algn="ctr" defTabSz="121917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1" i="0" u="none" strike="noStrike" kern="1200" cap="none" spc="0" normalizeH="0" baseline="0" noProof="0" dirty="0">
                  <a:ln>
                    <a:noFill/>
                  </a:ln>
                  <a:solidFill>
                    <a:prstClr val="white"/>
                  </a:solidFill>
                  <a:effectLst/>
                  <a:uLnTx/>
                  <a:uFillTx/>
                  <a:latin typeface="Verdana"/>
                  <a:ea typeface="+mn-ea"/>
                  <a:cs typeface="+mn-cs"/>
                </a:endParaRPr>
              </a:p>
            </p:txBody>
          </p:sp>
          <p:sp>
            <p:nvSpPr>
              <p:cNvPr id="88" name="Rectangle 87"/>
              <p:cNvSpPr/>
              <p:nvPr/>
            </p:nvSpPr>
            <p:spPr bwMode="gray">
              <a:xfrm>
                <a:off x="5655124" y="2456540"/>
                <a:ext cx="4341751" cy="1230021"/>
              </a:xfrm>
              <a:prstGeom prst="rect">
                <a:avLst/>
              </a:prstGeom>
              <a:noFill/>
              <a:ln w="19050" algn="ctr">
                <a:noFill/>
                <a:miter lim="800000"/>
                <a:headEnd/>
                <a:tailEnd/>
              </a:ln>
            </p:spPr>
            <p:txBody>
              <a:bodyPr wrap="square" lIns="88900" tIns="88900" rIns="88900" bIns="88900" rtlCol="0" anchor="t"/>
              <a:lstStyle/>
              <a:p>
                <a:pPr marL="171450" marR="0" lvl="0" indent="-171450" algn="just" defTabSz="121917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100" b="0" i="1" u="none" strike="noStrike" kern="1200" cap="none" spc="0" normalizeH="0" baseline="0" noProof="0" dirty="0">
                    <a:ln>
                      <a:noFill/>
                    </a:ln>
                    <a:solidFill>
                      <a:prstClr val="black"/>
                    </a:solidFill>
                    <a:effectLst/>
                    <a:uLnTx/>
                    <a:uFillTx/>
                    <a:latin typeface="Verdana"/>
                    <a:ea typeface="+mn-ea"/>
                    <a:cs typeface="+mn-cs"/>
                  </a:rPr>
                  <a:t>The policies offer clarity on power offtake and tariff-related matters for existing IPP projects.</a:t>
                </a:r>
              </a:p>
              <a:p>
                <a:pPr marL="171450" marR="0" lvl="0" indent="-171450" algn="just" defTabSz="1219170" rtl="0" eaLnBrk="1" fontAlgn="auto" latinLnBrk="0" hangingPunct="1">
                  <a:lnSpc>
                    <a:spcPct val="100000"/>
                  </a:lnSpc>
                  <a:spcBef>
                    <a:spcPts val="0"/>
                  </a:spcBef>
                  <a:spcAft>
                    <a:spcPts val="600"/>
                  </a:spcAft>
                  <a:buClrTx/>
                  <a:buSzTx/>
                  <a:buFont typeface="Arial" panose="020B0604020202020204" pitchFamily="34" charset="0"/>
                  <a:buChar char="•"/>
                  <a:tabLst/>
                  <a:defRPr/>
                </a:pPr>
                <a:r>
                  <a:rPr lang="en-US" sz="1100" i="1" dirty="0">
                    <a:solidFill>
                      <a:prstClr val="black"/>
                    </a:solidFill>
                    <a:latin typeface="Verdana"/>
                  </a:rPr>
                  <a:t>Some of the salient provisions of the policy are:</a:t>
                </a:r>
              </a:p>
              <a:p>
                <a:pPr marL="565191" lvl="1" indent="-171450" algn="just" defTabSz="1219170">
                  <a:spcAft>
                    <a:spcPts val="600"/>
                  </a:spcAft>
                  <a:buFont typeface="Courier New" panose="02070309020205020404" pitchFamily="49" charset="0"/>
                  <a:buChar char="o"/>
                  <a:defRPr/>
                </a:pPr>
                <a:r>
                  <a:rPr lang="en-US" sz="1100" i="1" dirty="0">
                    <a:solidFill>
                      <a:prstClr val="black"/>
                    </a:solidFill>
                  </a:rPr>
                  <a:t>Minimum requirement for equity will be 20%</a:t>
                </a:r>
              </a:p>
              <a:p>
                <a:pPr marL="565191" lvl="1" indent="-171450" algn="just" defTabSz="1219170">
                  <a:spcAft>
                    <a:spcPts val="600"/>
                  </a:spcAft>
                  <a:buFont typeface="Courier New" panose="02070309020205020404" pitchFamily="49" charset="0"/>
                  <a:buChar char="o"/>
                  <a:defRPr/>
                </a:pPr>
                <a:r>
                  <a:rPr lang="en-US" sz="1100" i="1" dirty="0">
                    <a:solidFill>
                      <a:prstClr val="black"/>
                    </a:solidFill>
                  </a:rPr>
                  <a:t>PPA will be guaranteed by GoB for utility performance</a:t>
                </a:r>
              </a:p>
              <a:p>
                <a:pPr marL="565191" lvl="1" indent="-171450" algn="just" defTabSz="1219170">
                  <a:spcAft>
                    <a:spcPts val="600"/>
                  </a:spcAft>
                  <a:buFont typeface="Courier New" panose="02070309020205020404" pitchFamily="49" charset="0"/>
                  <a:buChar char="o"/>
                  <a:defRPr/>
                </a:pPr>
                <a:r>
                  <a:rPr lang="en-US" sz="1100" i="1" dirty="0">
                    <a:solidFill>
                      <a:prstClr val="black"/>
                    </a:solidFill>
                  </a:rPr>
                  <a:t>Protection against changes in taxes, duties and force majeure risk</a:t>
                </a:r>
              </a:p>
              <a:p>
                <a:pPr marL="565191" lvl="1" indent="-171450" algn="just" defTabSz="1219170">
                  <a:spcAft>
                    <a:spcPts val="600"/>
                  </a:spcAft>
                  <a:buFont typeface="Courier New" panose="02070309020205020404" pitchFamily="49" charset="0"/>
                  <a:buChar char="o"/>
                  <a:defRPr/>
                </a:pPr>
                <a:r>
                  <a:rPr kumimoji="0" lang="en-US" sz="1100" b="0" i="1" u="none" strike="noStrike" kern="1200" cap="none" spc="0" normalizeH="0" baseline="0" noProof="0" dirty="0">
                    <a:ln>
                      <a:noFill/>
                    </a:ln>
                    <a:solidFill>
                      <a:prstClr val="black"/>
                    </a:solidFill>
                    <a:effectLst/>
                    <a:uLnTx/>
                    <a:uFillTx/>
                    <a:latin typeface="Verdana"/>
                    <a:ea typeface="+mn-ea"/>
                    <a:cs typeface="+mn-cs"/>
                  </a:rPr>
                  <a:t>Tax</a:t>
                </a:r>
                <a:r>
                  <a:rPr kumimoji="0" lang="en-US" sz="1100" b="0" i="1" u="none" strike="noStrike" kern="1200" cap="none" spc="0" normalizeH="0" noProof="0" dirty="0">
                    <a:ln>
                      <a:noFill/>
                    </a:ln>
                    <a:solidFill>
                      <a:prstClr val="black"/>
                    </a:solidFill>
                    <a:effectLst/>
                    <a:uLnTx/>
                    <a:uFillTx/>
                    <a:latin typeface="Verdana"/>
                    <a:ea typeface="+mn-ea"/>
                    <a:cs typeface="+mn-cs"/>
                  </a:rPr>
                  <a:t> Holiday for 15 years (Income Tax)</a:t>
                </a:r>
              </a:p>
              <a:p>
                <a:pPr marL="565191" lvl="1" indent="-171450" algn="just" defTabSz="1219170">
                  <a:spcAft>
                    <a:spcPts val="600"/>
                  </a:spcAft>
                  <a:buFont typeface="Courier New" panose="02070309020205020404" pitchFamily="49" charset="0"/>
                  <a:buChar char="o"/>
                  <a:defRPr/>
                </a:pPr>
                <a:r>
                  <a:rPr kumimoji="0" lang="en-US" sz="1100" b="0" i="1" u="none" strike="noStrike" kern="1200" cap="none" spc="0" normalizeH="0" baseline="0" noProof="0" dirty="0">
                    <a:ln>
                      <a:noFill/>
                    </a:ln>
                    <a:solidFill>
                      <a:prstClr val="black"/>
                    </a:solidFill>
                    <a:effectLst/>
                    <a:uLnTx/>
                    <a:uFillTx/>
                    <a:latin typeface="Verdana"/>
                    <a:ea typeface="+mn-ea"/>
                    <a:cs typeface="+mn-cs"/>
                  </a:rPr>
                  <a:t>Repatriation of equity along with dividends to be allowed freely</a:t>
                </a:r>
              </a:p>
              <a:p>
                <a:pPr marL="565191" lvl="1" indent="-171450" algn="just" defTabSz="1219170">
                  <a:spcAft>
                    <a:spcPts val="600"/>
                  </a:spcAft>
                  <a:buFont typeface="Courier New" panose="02070309020205020404" pitchFamily="49" charset="0"/>
                  <a:buChar char="o"/>
                  <a:defRPr/>
                </a:pPr>
                <a:r>
                  <a:rPr lang="en-US" sz="1100" i="1" dirty="0">
                    <a:solidFill>
                      <a:prstClr val="black"/>
                    </a:solidFill>
                  </a:rPr>
                  <a:t>Tax exemption on interest on foreign loans </a:t>
                </a:r>
              </a:p>
              <a:p>
                <a:pPr marL="565191" lvl="1" indent="-171450" algn="just" defTabSz="1219170">
                  <a:spcAft>
                    <a:spcPts val="600"/>
                  </a:spcAft>
                  <a:buFont typeface="Courier New" panose="02070309020205020404" pitchFamily="49" charset="0"/>
                  <a:buChar char="o"/>
                  <a:defRPr/>
                </a:pPr>
                <a:r>
                  <a:rPr lang="en-US" sz="1100" i="1" dirty="0">
                    <a:solidFill>
                      <a:prstClr val="black"/>
                    </a:solidFill>
                  </a:rPr>
                  <a:t>Tax exemption on capital gains from transfer of shares by the investing company</a:t>
                </a:r>
              </a:p>
              <a:p>
                <a:pPr marL="565191" lvl="1" indent="-171450" algn="just" defTabSz="1219170">
                  <a:spcAft>
                    <a:spcPts val="600"/>
                  </a:spcAft>
                  <a:buFont typeface="Courier New" panose="02070309020205020404" pitchFamily="49" charset="0"/>
                  <a:buChar char="o"/>
                  <a:defRPr/>
                </a:pPr>
                <a:r>
                  <a:rPr lang="en-US" sz="1100" i="1" dirty="0">
                    <a:solidFill>
                      <a:prstClr val="black"/>
                    </a:solidFill>
                  </a:rPr>
                  <a:t>Tax exemption on royalties, technical know-how and technical assistance fees, and facilities for their repatriation</a:t>
                </a:r>
                <a:endParaRPr kumimoji="0" lang="en-US" sz="1100" b="0" i="1" u="none" strike="noStrike" kern="1200" cap="none" spc="0" normalizeH="0" baseline="0" noProof="0" dirty="0">
                  <a:ln>
                    <a:noFill/>
                  </a:ln>
                  <a:solidFill>
                    <a:prstClr val="black"/>
                  </a:solidFill>
                  <a:effectLst/>
                  <a:uLnTx/>
                  <a:uFillTx/>
                  <a:latin typeface="Verdana"/>
                  <a:ea typeface="+mn-ea"/>
                  <a:cs typeface="+mn-cs"/>
                </a:endParaRPr>
              </a:p>
            </p:txBody>
          </p:sp>
        </p:grpSp>
      </p:grpSp>
      <p:sp>
        <p:nvSpPr>
          <p:cNvPr id="15" name="Rectangle 14"/>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BERC, MPEMR, Bangladesh Bank, BPDB, PGCB, Deloitte Analysis</a:t>
            </a:r>
          </a:p>
        </p:txBody>
      </p:sp>
    </p:spTree>
    <p:extLst>
      <p:ext uri="{BB962C8B-B14F-4D97-AF65-F5344CB8AC3E}">
        <p14:creationId xmlns:p14="http://schemas.microsoft.com/office/powerpoint/2010/main" val="2822293291"/>
      </p:ext>
    </p:extLst>
  </p:cSld>
  <p:clrMapOvr>
    <a:masterClrMapping/>
  </p:clrMapOvr>
  <p:transition>
    <p:fade/>
  </p:transition>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4" name="Object 3"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2" name="Title 1"/>
          <p:cNvSpPr>
            <a:spLocks noGrp="1"/>
          </p:cNvSpPr>
          <p:nvPr>
            <p:ph type="title"/>
          </p:nvPr>
        </p:nvSpPr>
        <p:spPr/>
        <p:txBody>
          <a:bodyPr/>
          <a:lstStyle/>
          <a:p>
            <a:r>
              <a:rPr lang="en-US" dirty="0"/>
              <a:t>Policy &amp; Regulatory Overview | Implications for Power Generators</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We have reviewed the various policies and regulations in force for gas based power generators in Bangladesh and identified the key implications for the generators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86" name="Table 85"/>
          <p:cNvGraphicFramePr>
            <a:graphicFrameLocks noGrp="1"/>
          </p:cNvGraphicFramePr>
          <p:nvPr>
            <p:custDataLst>
              <p:tags r:id="rId3"/>
            </p:custDataLst>
          </p:nvPr>
        </p:nvGraphicFramePr>
        <p:xfrm>
          <a:off x="449993" y="1961919"/>
          <a:ext cx="9790972" cy="306118"/>
        </p:xfrm>
        <a:graphic>
          <a:graphicData uri="http://schemas.openxmlformats.org/drawingml/2006/table">
            <a:tbl>
              <a:tblPr firstRow="1" bandRow="1">
                <a:tableStyleId>{5C22544A-7EE6-4342-B048-85BDC9FD1C3A}</a:tableStyleId>
              </a:tblPr>
              <a:tblGrid>
                <a:gridCol w="9790972">
                  <a:extLst>
                    <a:ext uri="{9D8B030D-6E8A-4147-A177-3AD203B41FA5}">
                      <a16:colId xmlns:a16="http://schemas.microsoft.com/office/drawing/2014/main" val="20000"/>
                    </a:ext>
                  </a:extLst>
                </a:gridCol>
              </a:tblGrid>
              <a:tr h="0">
                <a:tc>
                  <a:txBody>
                    <a:bodyPr/>
                    <a:lstStyle/>
                    <a:p>
                      <a:pPr marL="17145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pSp>
        <p:nvGrpSpPr>
          <p:cNvPr id="6" name="Group 5"/>
          <p:cNvGrpSpPr/>
          <p:nvPr/>
        </p:nvGrpSpPr>
        <p:grpSpPr>
          <a:xfrm>
            <a:off x="421951" y="2156680"/>
            <a:ext cx="9741655" cy="4957266"/>
            <a:chOff x="421951" y="2156680"/>
            <a:chExt cx="9741655" cy="4957266"/>
          </a:xfrm>
        </p:grpSpPr>
        <p:cxnSp>
          <p:nvCxnSpPr>
            <p:cNvPr id="60" name="Straight Connector 59"/>
            <p:cNvCxnSpPr/>
            <p:nvPr/>
          </p:nvCxnSpPr>
          <p:spPr>
            <a:xfrm>
              <a:off x="764744" y="7113946"/>
              <a:ext cx="9398862" cy="0"/>
            </a:xfrm>
            <a:prstGeom prst="line">
              <a:avLst/>
            </a:prstGeom>
            <a:ln>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5" name="Group 4"/>
            <p:cNvGrpSpPr/>
            <p:nvPr/>
          </p:nvGrpSpPr>
          <p:grpSpPr>
            <a:xfrm>
              <a:off x="421951" y="2156680"/>
              <a:ext cx="9574924" cy="1232701"/>
              <a:chOff x="421951" y="2453860"/>
              <a:chExt cx="9574924" cy="1232701"/>
            </a:xfrm>
          </p:grpSpPr>
          <p:grpSp>
            <p:nvGrpSpPr>
              <p:cNvPr id="62" name="Group 61"/>
              <p:cNvGrpSpPr/>
              <p:nvPr/>
            </p:nvGrpSpPr>
            <p:grpSpPr>
              <a:xfrm>
                <a:off x="421951" y="2453860"/>
                <a:ext cx="4674819" cy="1226780"/>
                <a:chOff x="300149" y="1758589"/>
                <a:chExt cx="5434268" cy="1473599"/>
              </a:xfrm>
            </p:grpSpPr>
            <p:sp>
              <p:nvSpPr>
                <p:cNvPr id="66" name="Rectangle 65"/>
                <p:cNvSpPr/>
                <p:nvPr/>
              </p:nvSpPr>
              <p:spPr bwMode="gray">
                <a:xfrm>
                  <a:off x="687325" y="1758589"/>
                  <a:ext cx="5047092" cy="1473599"/>
                </a:xfrm>
                <a:prstGeom prst="rect">
                  <a:avLst/>
                </a:prstGeom>
                <a:noFill/>
                <a:ln w="19050" algn="ctr">
                  <a:noFill/>
                  <a:miter lim="800000"/>
                  <a:headEnd/>
                  <a:tailEnd/>
                </a:ln>
              </p:spPr>
              <p:txBody>
                <a:bodyPr wrap="square" lIns="88900" tIns="88900" rIns="88900" bIns="88900" rtlCol="0" anchor="t"/>
                <a:lstStyle/>
                <a:p>
                  <a:pPr lvl="0" algn="just" defTabSz="1219170">
                    <a:spcAft>
                      <a:spcPts val="600"/>
                    </a:spcAft>
                    <a:defRPr/>
                  </a:pPr>
                  <a:r>
                    <a:rPr lang="en-US" sz="1100" b="1" dirty="0">
                      <a:solidFill>
                        <a:prstClr val="black"/>
                      </a:solidFill>
                    </a:rPr>
                    <a:t>Policy Guidelines for Enhancement of Private Participation in the Power Sector, 2008</a:t>
                  </a:r>
                </a:p>
                <a:p>
                  <a:pPr lvl="0" algn="just" defTabSz="1219170">
                    <a:spcAft>
                      <a:spcPts val="600"/>
                    </a:spcAft>
                    <a:defRPr/>
                  </a:pPr>
                  <a:r>
                    <a:rPr lang="en-US" sz="1100" dirty="0">
                      <a:solidFill>
                        <a:prstClr val="black"/>
                      </a:solidFill>
                    </a:rPr>
                    <a:t>Aims at establishment of private power generation plants from which electricity can be supplied to large consumers at mutually-negotiated tariff as well as to discoms at BERC-determined tariff, implementation of non-discriminatory open access of transmission and distribution, establishment of new power plants and rehabilitation of old public sector plants in PPP mode.</a:t>
                  </a:r>
                </a:p>
              </p:txBody>
            </p:sp>
            <p:sp>
              <p:nvSpPr>
                <p:cNvPr id="67" name="Oval 66"/>
                <p:cNvSpPr/>
                <p:nvPr/>
              </p:nvSpPr>
              <p:spPr bwMode="gray">
                <a:xfrm>
                  <a:off x="300149" y="1820537"/>
                  <a:ext cx="338972" cy="348238"/>
                </a:xfrm>
                <a:prstGeom prst="ellipse">
                  <a:avLst/>
                </a:prstGeom>
                <a:solidFill>
                  <a:schemeClr val="accent1"/>
                </a:solidFill>
                <a:ln w="19050" algn="ctr">
                  <a:noFill/>
                  <a:miter lim="800000"/>
                  <a:headEnd/>
                  <a:tailEnd/>
                </a:ln>
              </p:spPr>
              <p:txBody>
                <a:bodyPr wrap="square" lIns="0" tIns="88900" rIns="0" bIns="88900" rtlCol="0" anchor="ctr"/>
                <a:lstStyle/>
                <a:p>
                  <a:pPr marL="0" marR="0" lvl="0" indent="0" algn="ctr" defTabSz="121917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0" u="none" strike="noStrike" kern="1200" cap="none" spc="0" normalizeH="0" baseline="0" noProof="0" dirty="0">
                      <a:ln>
                        <a:noFill/>
                      </a:ln>
                      <a:solidFill>
                        <a:prstClr val="white"/>
                      </a:solidFill>
                      <a:effectLst/>
                      <a:uLnTx/>
                      <a:uFillTx/>
                      <a:latin typeface="Verdana"/>
                      <a:ea typeface="+mn-ea"/>
                      <a:cs typeface="+mn-cs"/>
                    </a:rPr>
                    <a:t>11</a:t>
                  </a:r>
                </a:p>
              </p:txBody>
            </p:sp>
          </p:grpSp>
          <p:sp>
            <p:nvSpPr>
              <p:cNvPr id="65" name="Chevron 64"/>
              <p:cNvSpPr/>
              <p:nvPr/>
            </p:nvSpPr>
            <p:spPr bwMode="gray">
              <a:xfrm>
                <a:off x="5224659" y="2775601"/>
                <a:ext cx="302576" cy="583298"/>
              </a:xfrm>
              <a:prstGeom prst="chevron">
                <a:avLst>
                  <a:gd name="adj" fmla="val 60265"/>
                </a:avLst>
              </a:prstGeom>
              <a:solidFill>
                <a:schemeClr val="bg1"/>
              </a:solidFill>
              <a:ln w="19050" algn="ctr">
                <a:solidFill>
                  <a:schemeClr val="accent1"/>
                </a:solidFill>
                <a:miter lim="800000"/>
                <a:headEnd/>
                <a:tailEnd/>
              </a:ln>
            </p:spPr>
            <p:txBody>
              <a:bodyPr wrap="square" lIns="88900" tIns="88900" rIns="88900" bIns="88900" rtlCol="0" anchor="ctr"/>
              <a:lstStyle/>
              <a:p>
                <a:pPr marL="0" marR="0" lvl="0" indent="0" algn="ctr" defTabSz="121917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1" i="0" u="none" strike="noStrike" kern="1200" cap="none" spc="0" normalizeH="0" baseline="0" noProof="0" dirty="0">
                  <a:ln>
                    <a:noFill/>
                  </a:ln>
                  <a:solidFill>
                    <a:prstClr val="white"/>
                  </a:solidFill>
                  <a:effectLst/>
                  <a:uLnTx/>
                  <a:uFillTx/>
                  <a:latin typeface="Verdana"/>
                  <a:ea typeface="+mn-ea"/>
                  <a:cs typeface="+mn-cs"/>
                </a:endParaRPr>
              </a:p>
            </p:txBody>
          </p:sp>
          <p:sp>
            <p:nvSpPr>
              <p:cNvPr id="88" name="Rectangle 87"/>
              <p:cNvSpPr/>
              <p:nvPr/>
            </p:nvSpPr>
            <p:spPr bwMode="gray">
              <a:xfrm>
                <a:off x="5655124" y="2456540"/>
                <a:ext cx="4341751" cy="1230021"/>
              </a:xfrm>
              <a:prstGeom prst="rect">
                <a:avLst/>
              </a:prstGeom>
              <a:noFill/>
              <a:ln w="19050" algn="ctr">
                <a:noFill/>
                <a:miter lim="800000"/>
                <a:headEnd/>
                <a:tailEnd/>
              </a:ln>
            </p:spPr>
            <p:txBody>
              <a:bodyPr wrap="square" lIns="88900" tIns="88900" rIns="88900" bIns="88900" rtlCol="0" anchor="t"/>
              <a:lstStyle/>
              <a:p>
                <a:pPr marL="171450" lvl="0" indent="-171450" algn="just" defTabSz="1219170">
                  <a:spcAft>
                    <a:spcPts val="600"/>
                  </a:spcAft>
                  <a:buFont typeface="Arial" panose="020B0604020202020204" pitchFamily="34" charset="0"/>
                  <a:buChar char="•"/>
                  <a:defRPr/>
                </a:pPr>
                <a:r>
                  <a:rPr lang="en-US" sz="1100" i="1" dirty="0">
                    <a:solidFill>
                      <a:prstClr val="black"/>
                    </a:solidFill>
                  </a:rPr>
                  <a:t>This policy aims at facilitating selling of power from private power plants.</a:t>
                </a:r>
              </a:p>
              <a:p>
                <a:pPr marL="171450" lvl="0" indent="-171450" algn="just" defTabSz="1219170">
                  <a:spcAft>
                    <a:spcPts val="600"/>
                  </a:spcAft>
                  <a:buFont typeface="Arial" panose="020B0604020202020204" pitchFamily="34" charset="0"/>
                  <a:buChar char="•"/>
                  <a:defRPr/>
                </a:pPr>
                <a:r>
                  <a:rPr lang="en-US" sz="1100" i="1" dirty="0">
                    <a:solidFill>
                      <a:prstClr val="black"/>
                    </a:solidFill>
                  </a:rPr>
                  <a:t>Some of the key clauses under the Policy are as follows:</a:t>
                </a:r>
              </a:p>
              <a:p>
                <a:pPr marL="565191" lvl="1" indent="-171450" algn="just" defTabSz="1219170">
                  <a:spcAft>
                    <a:spcPts val="600"/>
                  </a:spcAft>
                  <a:buFont typeface="Courier New" panose="02070309020205020404" pitchFamily="49" charset="0"/>
                  <a:buChar char="o"/>
                  <a:defRPr/>
                </a:pPr>
                <a:r>
                  <a:rPr lang="en-US" sz="1100" i="1" dirty="0">
                    <a:solidFill>
                      <a:prstClr val="black"/>
                    </a:solidFill>
                  </a:rPr>
                  <a:t>Given the fast depleting condition of domestic natural gas, the new power plants shall preferably rely on coal, imported gas, liquid fuel, or renewable energy sources like solar, wind, hydro, biomass, municipal waste, and others, as fuels, instead of domestic natural gas. </a:t>
                </a:r>
              </a:p>
              <a:p>
                <a:pPr marL="565191" lvl="1" indent="-171450" algn="just" defTabSz="1219170">
                  <a:spcAft>
                    <a:spcPts val="600"/>
                  </a:spcAft>
                  <a:buFont typeface="Courier New" panose="02070309020205020404" pitchFamily="49" charset="0"/>
                  <a:buChar char="o"/>
                  <a:defRPr/>
                </a:pPr>
                <a:r>
                  <a:rPr lang="en-US" sz="1100" i="1" dirty="0">
                    <a:solidFill>
                      <a:prstClr val="black"/>
                    </a:solidFill>
                  </a:rPr>
                  <a:t>Any fuel supply or source of energy has to be arranged by developers for Commercial Power Plants.</a:t>
                </a:r>
              </a:p>
              <a:p>
                <a:pPr marL="565191" lvl="1" indent="-171450" algn="just" defTabSz="1219170">
                  <a:spcAft>
                    <a:spcPts val="600"/>
                  </a:spcAft>
                  <a:buFont typeface="Courier New" panose="02070309020205020404" pitchFamily="49" charset="0"/>
                  <a:buChar char="o"/>
                  <a:defRPr/>
                </a:pPr>
                <a:r>
                  <a:rPr lang="en-US" sz="1100" i="1" dirty="0">
                    <a:solidFill>
                      <a:prstClr val="black"/>
                    </a:solidFill>
                  </a:rPr>
                  <a:t>Except for the power plants for which GoB has committed guaranteed fuel supply, GoB will not be responsible to supply fuels, or provide guarantee in favor of any fuel supplier to supply fuels to Commercial Power Plants. </a:t>
                </a:r>
              </a:p>
              <a:p>
                <a:pPr marL="565191" lvl="1" indent="-171450" algn="just" defTabSz="1219170">
                  <a:spcAft>
                    <a:spcPts val="600"/>
                  </a:spcAft>
                  <a:buFont typeface="Courier New" panose="02070309020205020404" pitchFamily="49" charset="0"/>
                  <a:buChar char="o"/>
                  <a:defRPr/>
                </a:pPr>
                <a:r>
                  <a:rPr lang="en-US" sz="1100" i="1" dirty="0">
                    <a:solidFill>
                      <a:prstClr val="black"/>
                    </a:solidFill>
                  </a:rPr>
                  <a:t>The interested Private Investors should posses proven experience in developing and operating power plant of same or higher capacity as IPP, Rental Power Plant, SPP or CPP and selling power to Large Consumers. </a:t>
                </a:r>
              </a:p>
              <a:p>
                <a:pPr marL="171450" lvl="0" indent="-171450" algn="just" defTabSz="1219170">
                  <a:spcAft>
                    <a:spcPts val="600"/>
                  </a:spcAft>
                  <a:buFont typeface="Arial" panose="020B0604020202020204" pitchFamily="34" charset="0"/>
                  <a:buChar char="•"/>
                  <a:defRPr/>
                </a:pPr>
                <a:endParaRPr lang="en-US" sz="1100" i="1" dirty="0">
                  <a:solidFill>
                    <a:prstClr val="black"/>
                  </a:solidFill>
                </a:endParaRPr>
              </a:p>
            </p:txBody>
          </p:sp>
        </p:grpSp>
      </p:grpSp>
      <p:sp>
        <p:nvSpPr>
          <p:cNvPr id="16" name="Rectangle 15"/>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BERC, MPEMR, Bangladesh Bank, BPDB, PGCB, Deloitte Analysis</a:t>
            </a:r>
          </a:p>
        </p:txBody>
      </p:sp>
    </p:spTree>
    <p:extLst>
      <p:ext uri="{BB962C8B-B14F-4D97-AF65-F5344CB8AC3E}">
        <p14:creationId xmlns:p14="http://schemas.microsoft.com/office/powerpoint/2010/main" val="3407575768"/>
      </p:ext>
    </p:extLst>
  </p:cSld>
  <p:clrMapOvr>
    <a:masterClrMapping/>
  </p:clrMapOvr>
  <p:transition>
    <p:fade/>
  </p:transition>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4" name="Object 3"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dirty="0">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2" name="Title 1"/>
          <p:cNvSpPr>
            <a:spLocks noGrp="1"/>
          </p:cNvSpPr>
          <p:nvPr>
            <p:ph type="title"/>
          </p:nvPr>
        </p:nvSpPr>
        <p:spPr/>
        <p:txBody>
          <a:bodyPr/>
          <a:lstStyle/>
          <a:p>
            <a:r>
              <a:rPr lang="en-US" dirty="0"/>
              <a:t>Policy &amp; Regulatory Overview | Implications for Power Generators</a:t>
            </a:r>
            <a:endParaRPr lang="en-IN" dirty="0"/>
          </a:p>
        </p:txBody>
      </p:sp>
      <p:sp>
        <p:nvSpPr>
          <p:cNvPr id="50"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We have reviewed the various policies and regulations in force for gas based power generators in Bangladesh and identified the key implications for the generators</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86" name="Table 85"/>
          <p:cNvGraphicFramePr>
            <a:graphicFrameLocks noGrp="1"/>
          </p:cNvGraphicFramePr>
          <p:nvPr>
            <p:custDataLst>
              <p:tags r:id="rId3"/>
            </p:custDataLst>
          </p:nvPr>
        </p:nvGraphicFramePr>
        <p:xfrm>
          <a:off x="449993" y="1961919"/>
          <a:ext cx="9790972" cy="306118"/>
        </p:xfrm>
        <a:graphic>
          <a:graphicData uri="http://schemas.openxmlformats.org/drawingml/2006/table">
            <a:tbl>
              <a:tblPr firstRow="1" bandRow="1">
                <a:tableStyleId>{5C22544A-7EE6-4342-B048-85BDC9FD1C3A}</a:tableStyleId>
              </a:tblPr>
              <a:tblGrid>
                <a:gridCol w="9790972">
                  <a:extLst>
                    <a:ext uri="{9D8B030D-6E8A-4147-A177-3AD203B41FA5}">
                      <a16:colId xmlns:a16="http://schemas.microsoft.com/office/drawing/2014/main" val="20000"/>
                    </a:ext>
                  </a:extLst>
                </a:gridCol>
              </a:tblGrid>
              <a:tr h="0">
                <a:tc>
                  <a:txBody>
                    <a:bodyPr/>
                    <a:lstStyle/>
                    <a:p>
                      <a:pPr marL="171450" indent="-171450">
                        <a:spcAft>
                          <a:spcPts val="500"/>
                        </a:spcAft>
                        <a:buFont typeface="Arial" panose="020B0604020202020204" pitchFamily="34" charset="0"/>
                        <a:buChar char="•"/>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pSp>
        <p:nvGrpSpPr>
          <p:cNvPr id="6" name="Group 5"/>
          <p:cNvGrpSpPr/>
          <p:nvPr/>
        </p:nvGrpSpPr>
        <p:grpSpPr>
          <a:xfrm>
            <a:off x="421951" y="2156680"/>
            <a:ext cx="9741655" cy="1232701"/>
            <a:chOff x="421951" y="2156680"/>
            <a:chExt cx="9741655" cy="1232701"/>
          </a:xfrm>
        </p:grpSpPr>
        <p:cxnSp>
          <p:nvCxnSpPr>
            <p:cNvPr id="60" name="Straight Connector 59"/>
            <p:cNvCxnSpPr/>
            <p:nvPr/>
          </p:nvCxnSpPr>
          <p:spPr>
            <a:xfrm>
              <a:off x="764744" y="3223282"/>
              <a:ext cx="9398862" cy="0"/>
            </a:xfrm>
            <a:prstGeom prst="line">
              <a:avLst/>
            </a:prstGeom>
            <a:ln>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5" name="Group 4"/>
            <p:cNvGrpSpPr/>
            <p:nvPr/>
          </p:nvGrpSpPr>
          <p:grpSpPr>
            <a:xfrm>
              <a:off x="421951" y="2156680"/>
              <a:ext cx="9574924" cy="1232701"/>
              <a:chOff x="421951" y="2453860"/>
              <a:chExt cx="9574924" cy="1232701"/>
            </a:xfrm>
          </p:grpSpPr>
          <p:grpSp>
            <p:nvGrpSpPr>
              <p:cNvPr id="62" name="Group 61"/>
              <p:cNvGrpSpPr/>
              <p:nvPr/>
            </p:nvGrpSpPr>
            <p:grpSpPr>
              <a:xfrm>
                <a:off x="421951" y="2453860"/>
                <a:ext cx="4674819" cy="1226780"/>
                <a:chOff x="300149" y="1758589"/>
                <a:chExt cx="5434268" cy="1473599"/>
              </a:xfrm>
            </p:grpSpPr>
            <p:sp>
              <p:nvSpPr>
                <p:cNvPr id="66" name="Rectangle 65"/>
                <p:cNvSpPr/>
                <p:nvPr/>
              </p:nvSpPr>
              <p:spPr bwMode="gray">
                <a:xfrm>
                  <a:off x="687325" y="1758589"/>
                  <a:ext cx="5047092" cy="1473599"/>
                </a:xfrm>
                <a:prstGeom prst="rect">
                  <a:avLst/>
                </a:prstGeom>
                <a:noFill/>
                <a:ln w="19050" algn="ctr">
                  <a:noFill/>
                  <a:miter lim="800000"/>
                  <a:headEnd/>
                  <a:tailEnd/>
                </a:ln>
              </p:spPr>
              <p:txBody>
                <a:bodyPr wrap="square" lIns="88900" tIns="88900" rIns="88900" bIns="88900" rtlCol="0" anchor="t"/>
                <a:lstStyle/>
                <a:p>
                  <a:pPr marL="0" marR="0" lvl="0" indent="0" algn="just" defTabSz="1219170" rtl="0" eaLnBrk="1" fontAlgn="auto" latinLnBrk="0" hangingPunct="1">
                    <a:lnSpc>
                      <a:spcPct val="100000"/>
                    </a:lnSpc>
                    <a:spcBef>
                      <a:spcPts val="0"/>
                    </a:spcBef>
                    <a:spcAft>
                      <a:spcPts val="60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Verdana"/>
                      <a:ea typeface="+mn-ea"/>
                      <a:cs typeface="+mn-cs"/>
                    </a:rPr>
                    <a:t>Renewable Energy Policy of Bangladesh, 2008</a:t>
                  </a:r>
                </a:p>
                <a:p>
                  <a:pPr marL="0" marR="0" lvl="0" indent="0" algn="just" defTabSz="121917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dirty="0">
                      <a:ln>
                        <a:noFill/>
                      </a:ln>
                      <a:solidFill>
                        <a:prstClr val="black"/>
                      </a:solidFill>
                      <a:effectLst/>
                      <a:uLnTx/>
                      <a:uFillTx/>
                      <a:latin typeface="Verdana"/>
                      <a:ea typeface="+mn-ea"/>
                      <a:cs typeface="+mn-cs"/>
                    </a:rPr>
                    <a:t>Aims at development of renewable energy resources in Bangladesh and targets to meet 10% of the country’s power demand from RE sources by 2020.</a:t>
                  </a:r>
                </a:p>
              </p:txBody>
            </p:sp>
            <p:sp>
              <p:nvSpPr>
                <p:cNvPr id="67" name="Oval 66"/>
                <p:cNvSpPr/>
                <p:nvPr/>
              </p:nvSpPr>
              <p:spPr bwMode="gray">
                <a:xfrm>
                  <a:off x="300149" y="1820537"/>
                  <a:ext cx="338972" cy="348238"/>
                </a:xfrm>
                <a:prstGeom prst="ellipse">
                  <a:avLst/>
                </a:prstGeom>
                <a:solidFill>
                  <a:schemeClr val="accent1"/>
                </a:solidFill>
                <a:ln w="19050" algn="ctr">
                  <a:noFill/>
                  <a:miter lim="800000"/>
                  <a:headEnd/>
                  <a:tailEnd/>
                </a:ln>
              </p:spPr>
              <p:txBody>
                <a:bodyPr wrap="square" lIns="0" tIns="88900" rIns="0" bIns="88900" rtlCol="0" anchor="ctr"/>
                <a:lstStyle/>
                <a:p>
                  <a:pPr marL="0" marR="0" lvl="0" indent="0" algn="ctr" defTabSz="121917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0" u="none" strike="noStrike" kern="1200" cap="none" spc="0" normalizeH="0" baseline="0" noProof="0" dirty="0">
                      <a:ln>
                        <a:noFill/>
                      </a:ln>
                      <a:solidFill>
                        <a:prstClr val="white"/>
                      </a:solidFill>
                      <a:effectLst/>
                      <a:uLnTx/>
                      <a:uFillTx/>
                      <a:latin typeface="Verdana"/>
                      <a:ea typeface="+mn-ea"/>
                      <a:cs typeface="+mn-cs"/>
                    </a:rPr>
                    <a:t>12</a:t>
                  </a:r>
                </a:p>
              </p:txBody>
            </p:sp>
          </p:grpSp>
          <p:sp>
            <p:nvSpPr>
              <p:cNvPr id="65" name="Chevron 64"/>
              <p:cNvSpPr/>
              <p:nvPr/>
            </p:nvSpPr>
            <p:spPr bwMode="gray">
              <a:xfrm>
                <a:off x="5224659" y="2670498"/>
                <a:ext cx="302576" cy="583298"/>
              </a:xfrm>
              <a:prstGeom prst="chevron">
                <a:avLst>
                  <a:gd name="adj" fmla="val 60265"/>
                </a:avLst>
              </a:prstGeom>
              <a:solidFill>
                <a:schemeClr val="bg1"/>
              </a:solidFill>
              <a:ln w="19050" algn="ctr">
                <a:solidFill>
                  <a:schemeClr val="accent1"/>
                </a:solidFill>
                <a:miter lim="800000"/>
                <a:headEnd/>
                <a:tailEnd/>
              </a:ln>
            </p:spPr>
            <p:txBody>
              <a:bodyPr wrap="square" lIns="88900" tIns="88900" rIns="88900" bIns="88900" rtlCol="0" anchor="ctr"/>
              <a:lstStyle/>
              <a:p>
                <a:pPr marL="0" marR="0" lvl="0" indent="0" algn="ctr" defTabSz="121917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1" i="0" u="none" strike="noStrike" kern="1200" cap="none" spc="0" normalizeH="0" baseline="0" noProof="0" dirty="0">
                  <a:ln>
                    <a:noFill/>
                  </a:ln>
                  <a:solidFill>
                    <a:prstClr val="white"/>
                  </a:solidFill>
                  <a:effectLst/>
                  <a:uLnTx/>
                  <a:uFillTx/>
                  <a:latin typeface="Verdana"/>
                  <a:ea typeface="+mn-ea"/>
                  <a:cs typeface="+mn-cs"/>
                </a:endParaRPr>
              </a:p>
            </p:txBody>
          </p:sp>
          <p:sp>
            <p:nvSpPr>
              <p:cNvPr id="88" name="Rectangle 87"/>
              <p:cNvSpPr/>
              <p:nvPr/>
            </p:nvSpPr>
            <p:spPr bwMode="gray">
              <a:xfrm>
                <a:off x="5655124" y="2456540"/>
                <a:ext cx="4341751" cy="1230021"/>
              </a:xfrm>
              <a:prstGeom prst="rect">
                <a:avLst/>
              </a:prstGeom>
              <a:noFill/>
              <a:ln w="19050" algn="ctr">
                <a:noFill/>
                <a:miter lim="800000"/>
                <a:headEnd/>
                <a:tailEnd/>
              </a:ln>
            </p:spPr>
            <p:txBody>
              <a:bodyPr wrap="square" lIns="88900" tIns="88900" rIns="88900" bIns="88900" rtlCol="0" anchor="t"/>
              <a:lstStyle/>
              <a:p>
                <a:pPr marL="171450" marR="0" lvl="0" indent="-171450" algn="just" defTabSz="121917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100" b="0" i="1" u="none" strike="noStrike" kern="1200" cap="none" spc="0" normalizeH="0" baseline="0" noProof="0" dirty="0">
                    <a:ln>
                      <a:noFill/>
                    </a:ln>
                    <a:solidFill>
                      <a:prstClr val="black"/>
                    </a:solidFill>
                    <a:effectLst/>
                    <a:uLnTx/>
                    <a:uFillTx/>
                    <a:latin typeface="Verdana"/>
                    <a:ea typeface="+mn-ea"/>
                    <a:cs typeface="+mn-cs"/>
                  </a:rPr>
                  <a:t>Gas-based generating plant can act as a quick-ramping facility for the purpose of grid frequency-balancing in the scenario of addition of significant RE generation capacity in the grid.</a:t>
                </a:r>
              </a:p>
            </p:txBody>
          </p:sp>
        </p:grpSp>
      </p:grpSp>
      <p:sp>
        <p:nvSpPr>
          <p:cNvPr id="15" name="Rectangle 14"/>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BERC, MPEMR, Bangladesh Bank, BPDB, PGCB, Deloitte Analysis</a:t>
            </a:r>
          </a:p>
        </p:txBody>
      </p:sp>
    </p:spTree>
    <p:extLst>
      <p:ext uri="{BB962C8B-B14F-4D97-AF65-F5344CB8AC3E}">
        <p14:creationId xmlns:p14="http://schemas.microsoft.com/office/powerpoint/2010/main" val="2045673709"/>
      </p:ext>
    </p:extLst>
  </p:cSld>
  <p:clrMapOvr>
    <a:masterClrMapping/>
  </p:clrMapOvr>
  <p:transition>
    <p:fade/>
  </p:transition>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pic>
        <p:nvPicPr>
          <p:cNvPr id="59" name="Picture 58"/>
          <p:cNvPicPr>
            <a:picLocks noChangeAspect="1"/>
          </p:cNvPicPr>
          <p:nvPr/>
        </p:nvPicPr>
        <p:blipFill rotWithShape="1">
          <a:blip r:embed="rId6" cstate="email">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a:ext>
            </a:extLst>
          </a:blip>
          <a:srcRect/>
          <a:stretch/>
        </p:blipFill>
        <p:spPr>
          <a:xfrm>
            <a:off x="6388099" y="1079499"/>
            <a:ext cx="4303713" cy="5570411"/>
          </a:xfrm>
          <a:prstGeom prst="rect">
            <a:avLst/>
          </a:prstGeom>
        </p:spPr>
      </p:pic>
      <p:sp>
        <p:nvSpPr>
          <p:cNvPr id="61" name="Rectangle 60"/>
          <p:cNvSpPr/>
          <p:nvPr/>
        </p:nvSpPr>
        <p:spPr bwMode="gray">
          <a:xfrm>
            <a:off x="447964" y="1030161"/>
            <a:ext cx="10229273" cy="36000"/>
          </a:xfrm>
          <a:prstGeom prst="rect">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62" name="Rectangle 61"/>
          <p:cNvSpPr/>
          <p:nvPr/>
        </p:nvSpPr>
        <p:spPr bwMode="gray">
          <a:xfrm>
            <a:off x="447964" y="6663250"/>
            <a:ext cx="10229273" cy="36000"/>
          </a:xfrm>
          <a:prstGeom prst="rect">
            <a:avLst/>
          </a:prstGeom>
          <a:solidFill>
            <a:srgbClr val="00ABAB"/>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6" name="Rectangle 15"/>
          <p:cNvSpPr/>
          <p:nvPr/>
        </p:nvSpPr>
        <p:spPr>
          <a:xfrm>
            <a:off x="584200" y="3415740"/>
            <a:ext cx="4552045" cy="461665"/>
          </a:xfrm>
          <a:prstGeom prst="rect">
            <a:avLst/>
          </a:prstGeom>
        </p:spPr>
        <p:txBody>
          <a:bodyPr wrap="square">
            <a:spAutoFit/>
          </a:bodyPr>
          <a:lstStyle/>
          <a:p>
            <a:r>
              <a:rPr lang="en-US" sz="2400" b="1" dirty="0"/>
              <a:t>Annexures</a:t>
            </a:r>
            <a:endParaRPr lang="en-US" sz="2400" i="1" dirty="0">
              <a:solidFill>
                <a:schemeClr val="accent5"/>
              </a:solidFill>
            </a:endParaRPr>
          </a:p>
        </p:txBody>
      </p:sp>
    </p:spTree>
    <p:extLst>
      <p:ext uri="{BB962C8B-B14F-4D97-AF65-F5344CB8AC3E}">
        <p14:creationId xmlns:p14="http://schemas.microsoft.com/office/powerpoint/2010/main" val="2710540907"/>
      </p:ext>
    </p:extLst>
  </p:cSld>
  <p:clrMapOvr>
    <a:masterClrMapping/>
  </p:clrMapOvr>
  <p:transition>
    <p:fade/>
  </p:transition>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78540460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3" name="Object 2"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10" name="Rectangle 9"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5" name="Table 4"/>
          <p:cNvGraphicFramePr>
            <a:graphicFrameLocks noGrp="1"/>
          </p:cNvGraphicFramePr>
          <p:nvPr>
            <p:extLst>
              <p:ext uri="{D42A27DB-BD31-4B8C-83A1-F6EECF244321}">
                <p14:modId xmlns:p14="http://schemas.microsoft.com/office/powerpoint/2010/main" val="1310488051"/>
              </p:ext>
            </p:extLst>
          </p:nvPr>
        </p:nvGraphicFramePr>
        <p:xfrm>
          <a:off x="449264" y="2286428"/>
          <a:ext cx="9791699" cy="4365831"/>
        </p:xfrm>
        <a:graphic>
          <a:graphicData uri="http://schemas.openxmlformats.org/drawingml/2006/table">
            <a:tbl>
              <a:tblPr firstRow="1" firstCol="1" bandRow="1">
                <a:tableStyleId>{FABFCF23-3B69-468F-B69F-88F6DE6A72F2}</a:tableStyleId>
              </a:tblPr>
              <a:tblGrid>
                <a:gridCol w="1241461">
                  <a:extLst>
                    <a:ext uri="{9D8B030D-6E8A-4147-A177-3AD203B41FA5}">
                      <a16:colId xmlns:a16="http://schemas.microsoft.com/office/drawing/2014/main" val="3304318141"/>
                    </a:ext>
                  </a:extLst>
                </a:gridCol>
                <a:gridCol w="775498">
                  <a:extLst>
                    <a:ext uri="{9D8B030D-6E8A-4147-A177-3AD203B41FA5}">
                      <a16:colId xmlns:a16="http://schemas.microsoft.com/office/drawing/2014/main" val="1913242649"/>
                    </a:ext>
                  </a:extLst>
                </a:gridCol>
                <a:gridCol w="966610">
                  <a:extLst>
                    <a:ext uri="{9D8B030D-6E8A-4147-A177-3AD203B41FA5}">
                      <a16:colId xmlns:a16="http://schemas.microsoft.com/office/drawing/2014/main" val="2771522417"/>
                    </a:ext>
                  </a:extLst>
                </a:gridCol>
                <a:gridCol w="960630">
                  <a:extLst>
                    <a:ext uri="{9D8B030D-6E8A-4147-A177-3AD203B41FA5}">
                      <a16:colId xmlns:a16="http://schemas.microsoft.com/office/drawing/2014/main" val="315606993"/>
                    </a:ext>
                  </a:extLst>
                </a:gridCol>
                <a:gridCol w="1222614">
                  <a:extLst>
                    <a:ext uri="{9D8B030D-6E8A-4147-A177-3AD203B41FA5}">
                      <a16:colId xmlns:a16="http://schemas.microsoft.com/office/drawing/2014/main" val="2454619672"/>
                    </a:ext>
                  </a:extLst>
                </a:gridCol>
                <a:gridCol w="848174">
                  <a:extLst>
                    <a:ext uri="{9D8B030D-6E8A-4147-A177-3AD203B41FA5}">
                      <a16:colId xmlns:a16="http://schemas.microsoft.com/office/drawing/2014/main" val="1643548640"/>
                    </a:ext>
                  </a:extLst>
                </a:gridCol>
                <a:gridCol w="941488">
                  <a:extLst>
                    <a:ext uri="{9D8B030D-6E8A-4147-A177-3AD203B41FA5}">
                      <a16:colId xmlns:a16="http://schemas.microsoft.com/office/drawing/2014/main" val="3821387843"/>
                    </a:ext>
                  </a:extLst>
                </a:gridCol>
                <a:gridCol w="967806">
                  <a:extLst>
                    <a:ext uri="{9D8B030D-6E8A-4147-A177-3AD203B41FA5}">
                      <a16:colId xmlns:a16="http://schemas.microsoft.com/office/drawing/2014/main" val="3506457710"/>
                    </a:ext>
                  </a:extLst>
                </a:gridCol>
                <a:gridCol w="934307">
                  <a:extLst>
                    <a:ext uri="{9D8B030D-6E8A-4147-A177-3AD203B41FA5}">
                      <a16:colId xmlns:a16="http://schemas.microsoft.com/office/drawing/2014/main" val="98359406"/>
                    </a:ext>
                  </a:extLst>
                </a:gridCol>
                <a:gridCol w="933111">
                  <a:extLst>
                    <a:ext uri="{9D8B030D-6E8A-4147-A177-3AD203B41FA5}">
                      <a16:colId xmlns:a16="http://schemas.microsoft.com/office/drawing/2014/main" val="1140769317"/>
                    </a:ext>
                  </a:extLst>
                </a:gridCol>
              </a:tblGrid>
              <a:tr h="342106">
                <a:tc rowSpan="2">
                  <a:txBody>
                    <a:bodyPr/>
                    <a:lstStyle/>
                    <a:p>
                      <a:pPr algn="ctr">
                        <a:lnSpc>
                          <a:spcPct val="107000"/>
                        </a:lnSpc>
                        <a:spcAft>
                          <a:spcPts val="0"/>
                        </a:spcAft>
                      </a:pPr>
                      <a:r>
                        <a:rPr lang="en-IN" sz="1100" dirty="0">
                          <a:effectLst/>
                        </a:rPr>
                        <a:t>Effective From</a:t>
                      </a:r>
                      <a:endParaRPr lang="en-IN" sz="11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endParaRPr>
                    </a:p>
                  </a:txBody>
                  <a:tcPr marL="9146" marR="0" marT="21595" marB="0" anchor="ctr">
                    <a:lnL w="12700" cap="flat" cmpd="sng" algn="ctr">
                      <a:solidFill>
                        <a:schemeClr val="accent5"/>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tc rowSpan="2">
                  <a:txBody>
                    <a:bodyPr/>
                    <a:lstStyle/>
                    <a:p>
                      <a:pPr marL="55245" algn="ctr">
                        <a:lnSpc>
                          <a:spcPct val="107000"/>
                        </a:lnSpc>
                        <a:spcAft>
                          <a:spcPts val="0"/>
                        </a:spcAft>
                      </a:pPr>
                      <a:r>
                        <a:rPr lang="en-IN" sz="1100" dirty="0">
                          <a:effectLst/>
                        </a:rPr>
                        <a:t>Power</a:t>
                      </a:r>
                      <a:endParaRPr lang="en-IN" sz="11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endParaRPr>
                    </a:p>
                  </a:txBody>
                  <a:tcPr marL="9146" marR="0" marT="2159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tc rowSpan="2">
                  <a:txBody>
                    <a:bodyPr/>
                    <a:lstStyle/>
                    <a:p>
                      <a:pPr marL="12700" algn="ctr">
                        <a:lnSpc>
                          <a:spcPct val="107000"/>
                        </a:lnSpc>
                        <a:spcAft>
                          <a:spcPts val="0"/>
                        </a:spcAft>
                      </a:pPr>
                      <a:r>
                        <a:rPr lang="en-IN" sz="1100" dirty="0">
                          <a:effectLst/>
                        </a:rPr>
                        <a:t>Fertilizer</a:t>
                      </a:r>
                      <a:endParaRPr lang="en-IN" sz="11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endParaRPr>
                    </a:p>
                  </a:txBody>
                  <a:tcPr marL="9146" marR="0" marT="2159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tc rowSpan="2">
                  <a:txBody>
                    <a:bodyPr/>
                    <a:lstStyle/>
                    <a:p>
                      <a:pPr marL="28575" algn="ctr">
                        <a:lnSpc>
                          <a:spcPct val="107000"/>
                        </a:lnSpc>
                        <a:spcAft>
                          <a:spcPts val="0"/>
                        </a:spcAft>
                      </a:pPr>
                      <a:r>
                        <a:rPr lang="en-IN" sz="1100" dirty="0">
                          <a:effectLst/>
                        </a:rPr>
                        <a:t>Industry</a:t>
                      </a:r>
                      <a:endParaRPr lang="en-IN" sz="11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endParaRPr>
                    </a:p>
                  </a:txBody>
                  <a:tcPr marL="9146" marR="0" marT="2159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tc rowSpan="2">
                  <a:txBody>
                    <a:bodyPr/>
                    <a:lstStyle/>
                    <a:p>
                      <a:pPr algn="ctr">
                        <a:lnSpc>
                          <a:spcPct val="107000"/>
                        </a:lnSpc>
                        <a:spcAft>
                          <a:spcPts val="0"/>
                        </a:spcAft>
                      </a:pPr>
                      <a:r>
                        <a:rPr lang="en-IN" sz="1100" dirty="0">
                          <a:effectLst/>
                        </a:rPr>
                        <a:t>Commercial</a:t>
                      </a:r>
                      <a:endParaRPr lang="en-IN" sz="11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endParaRPr>
                    </a:p>
                  </a:txBody>
                  <a:tcPr marL="9146" marR="0" marT="2159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tc rowSpan="2">
                  <a:txBody>
                    <a:bodyPr/>
                    <a:lstStyle/>
                    <a:p>
                      <a:pPr algn="ctr">
                        <a:lnSpc>
                          <a:spcPct val="107000"/>
                        </a:lnSpc>
                        <a:spcAft>
                          <a:spcPts val="0"/>
                        </a:spcAft>
                      </a:pPr>
                      <a:r>
                        <a:rPr lang="en-IN" sz="1100" dirty="0">
                          <a:effectLst/>
                        </a:rPr>
                        <a:t>Tea estate</a:t>
                      </a:r>
                      <a:endParaRPr lang="en-IN" sz="11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endParaRPr>
                    </a:p>
                  </a:txBody>
                  <a:tcPr marL="9146" marR="0" marT="2159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tc rowSpan="2">
                  <a:txBody>
                    <a:bodyPr/>
                    <a:lstStyle/>
                    <a:p>
                      <a:pPr marR="22860" algn="ctr">
                        <a:lnSpc>
                          <a:spcPct val="107000"/>
                        </a:lnSpc>
                        <a:spcAft>
                          <a:spcPts val="0"/>
                        </a:spcAft>
                      </a:pPr>
                      <a:r>
                        <a:rPr lang="en-IN" sz="1100" dirty="0">
                          <a:effectLst/>
                        </a:rPr>
                        <a:t>Cap. </a:t>
                      </a:r>
                    </a:p>
                    <a:p>
                      <a:pPr marL="80645" algn="ctr">
                        <a:lnSpc>
                          <a:spcPct val="107000"/>
                        </a:lnSpc>
                        <a:spcAft>
                          <a:spcPts val="0"/>
                        </a:spcAft>
                      </a:pPr>
                      <a:r>
                        <a:rPr lang="en-IN" sz="1100" dirty="0">
                          <a:effectLst/>
                        </a:rPr>
                        <a:t>Power</a:t>
                      </a:r>
                      <a:endParaRPr lang="en-IN" sz="11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endParaRPr>
                    </a:p>
                  </a:txBody>
                  <a:tcPr marL="9146" marR="0" marT="2159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tcPr>
                </a:tc>
                <a:tc gridSpan="3">
                  <a:txBody>
                    <a:bodyPr/>
                    <a:lstStyle/>
                    <a:p>
                      <a:pPr marR="24765" algn="ctr">
                        <a:lnSpc>
                          <a:spcPct val="107000"/>
                        </a:lnSpc>
                        <a:spcAft>
                          <a:spcPts val="0"/>
                        </a:spcAft>
                      </a:pPr>
                      <a:r>
                        <a:rPr lang="en-IN" sz="1100" dirty="0">
                          <a:effectLst/>
                        </a:rPr>
                        <a:t>Domestic</a:t>
                      </a:r>
                      <a:endParaRPr lang="en-IN" sz="11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endParaRPr>
                    </a:p>
                  </a:txBody>
                  <a:tcPr marL="9146" marR="0" marT="21595" marB="0">
                    <a:lnL w="12700" cap="flat" cmpd="sng" algn="ctr">
                      <a:solidFill>
                        <a:schemeClr val="bg1"/>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hMerge="1">
                  <a:txBody>
                    <a:bodyPr/>
                    <a:lstStyle/>
                    <a:p>
                      <a:endParaRPr lang="en-IN"/>
                    </a:p>
                  </a:txBody>
                  <a:tcPr/>
                </a:tc>
                <a:tc hMerge="1">
                  <a:txBody>
                    <a:bodyPr/>
                    <a:lstStyle/>
                    <a:p>
                      <a:pPr>
                        <a:lnSpc>
                          <a:spcPct val="107000"/>
                        </a:lnSpc>
                        <a:spcAft>
                          <a:spcPts val="0"/>
                        </a:spcAft>
                      </a:pPr>
                      <a:endParaRPr lang="en-IN" sz="11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endParaRPr>
                    </a:p>
                  </a:txBody>
                  <a:tcPr marL="9146" marR="0" marT="21595"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729778222"/>
                  </a:ext>
                </a:extLst>
              </a:tr>
              <a:tr h="680279">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a:txBody>
                    <a:bodyPr/>
                    <a:lstStyle/>
                    <a:p>
                      <a:pPr marL="23495" algn="ctr">
                        <a:lnSpc>
                          <a:spcPct val="107000"/>
                        </a:lnSpc>
                        <a:spcAft>
                          <a:spcPts val="0"/>
                        </a:spcAft>
                      </a:pPr>
                      <a:r>
                        <a:rPr lang="en-IN" sz="1100" b="1" dirty="0">
                          <a:solidFill>
                            <a:schemeClr val="bg1"/>
                          </a:solidFill>
                          <a:effectLst/>
                        </a:rPr>
                        <a:t>Metered</a:t>
                      </a:r>
                      <a:endParaRPr lang="en-IN" sz="1100" b="1"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9146" marR="0" marT="2159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5"/>
                    </a:solidFill>
                  </a:tcPr>
                </a:tc>
                <a:tc>
                  <a:txBody>
                    <a:bodyPr/>
                    <a:lstStyle/>
                    <a:p>
                      <a:pPr algn="ctr">
                        <a:lnSpc>
                          <a:spcPct val="107000"/>
                        </a:lnSpc>
                        <a:spcAft>
                          <a:spcPts val="0"/>
                        </a:spcAft>
                      </a:pPr>
                      <a:r>
                        <a:rPr lang="en-IN" sz="1100" b="1" dirty="0">
                          <a:solidFill>
                            <a:schemeClr val="bg1"/>
                          </a:solidFill>
                          <a:effectLst/>
                        </a:rPr>
                        <a:t>Single Burner</a:t>
                      </a:r>
                      <a:endParaRPr lang="en-IN" sz="1100" b="1"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9146" marR="0" marT="2159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5"/>
                    </a:solidFill>
                  </a:tcPr>
                </a:tc>
                <a:tc>
                  <a:txBody>
                    <a:bodyPr/>
                    <a:lstStyle/>
                    <a:p>
                      <a:pPr algn="ctr">
                        <a:lnSpc>
                          <a:spcPct val="107000"/>
                        </a:lnSpc>
                        <a:spcAft>
                          <a:spcPts val="0"/>
                        </a:spcAft>
                      </a:pPr>
                      <a:r>
                        <a:rPr lang="en-IN" sz="1100" b="1" dirty="0">
                          <a:solidFill>
                            <a:schemeClr val="bg1"/>
                          </a:solidFill>
                          <a:effectLst/>
                        </a:rPr>
                        <a:t>Double Burner</a:t>
                      </a:r>
                      <a:endParaRPr lang="en-IN" sz="1100" b="1"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9146" marR="0" marT="21595" marB="0" anchor="ctr">
                    <a:lnL w="12700" cap="flat" cmpd="sng" algn="ctr">
                      <a:solidFill>
                        <a:schemeClr val="bg1"/>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656629238"/>
                  </a:ext>
                </a:extLst>
              </a:tr>
              <a:tr h="557241">
                <a:tc>
                  <a:txBody>
                    <a:bodyPr/>
                    <a:lstStyle/>
                    <a:p>
                      <a:pPr marL="11430">
                        <a:lnSpc>
                          <a:spcPct val="107000"/>
                        </a:lnSpc>
                        <a:spcAft>
                          <a:spcPts val="0"/>
                        </a:spcAft>
                      </a:pPr>
                      <a:r>
                        <a:rPr lang="en-IN" sz="1100" dirty="0">
                          <a:effectLst/>
                        </a:rPr>
                        <a:t>01.08.2009</a:t>
                      </a:r>
                      <a:endParaRPr lang="en-IN" sz="11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endParaRPr>
                    </a:p>
                  </a:txBody>
                  <a:tcPr marL="9146" marR="0" marT="21595" marB="0" anchor="ctr">
                    <a:lnT w="12700" cap="flat" cmpd="sng" algn="ctr">
                      <a:solidFill>
                        <a:schemeClr val="accent5"/>
                      </a:solidFill>
                      <a:prstDash val="solid"/>
                      <a:round/>
                      <a:headEnd type="none" w="med" len="med"/>
                      <a:tailEnd type="none" w="med" len="med"/>
                    </a:lnT>
                  </a:tcPr>
                </a:tc>
                <a:tc>
                  <a:txBody>
                    <a:bodyPr/>
                    <a:lstStyle/>
                    <a:p>
                      <a:pPr algn="ctr" fontAlgn="b"/>
                      <a:r>
                        <a:rPr lang="en-IN" sz="1100" b="0" i="0" u="none" strike="noStrike" dirty="0">
                          <a:solidFill>
                            <a:srgbClr val="000000"/>
                          </a:solidFill>
                          <a:effectLst/>
                          <a:latin typeface="+mn-lt"/>
                        </a:rPr>
                        <a:t>2.82</a:t>
                      </a:r>
                    </a:p>
                  </a:txBody>
                  <a:tcPr marL="7620" marR="7620" marT="7620" marB="0" anchor="ctr">
                    <a:lnT w="12700" cap="flat" cmpd="sng" algn="ctr">
                      <a:solidFill>
                        <a:schemeClr val="accent5"/>
                      </a:solidFill>
                      <a:prstDash val="solid"/>
                      <a:round/>
                      <a:headEnd type="none" w="med" len="med"/>
                      <a:tailEnd type="none" w="med" len="med"/>
                    </a:lnT>
                  </a:tcPr>
                </a:tc>
                <a:tc>
                  <a:txBody>
                    <a:bodyPr/>
                    <a:lstStyle/>
                    <a:p>
                      <a:pPr algn="ctr" fontAlgn="b"/>
                      <a:r>
                        <a:rPr lang="en-IN" sz="1100" b="0" i="0" u="none" strike="noStrike" dirty="0">
                          <a:solidFill>
                            <a:srgbClr val="000000"/>
                          </a:solidFill>
                          <a:effectLst/>
                          <a:latin typeface="+mn-lt"/>
                        </a:rPr>
                        <a:t>2.58</a:t>
                      </a:r>
                    </a:p>
                  </a:txBody>
                  <a:tcPr marL="7620" marR="7620" marT="7620" marB="0" anchor="ctr">
                    <a:lnT w="12700" cap="flat" cmpd="sng" algn="ctr">
                      <a:solidFill>
                        <a:schemeClr val="accent5"/>
                      </a:solidFill>
                      <a:prstDash val="solid"/>
                      <a:round/>
                      <a:headEnd type="none" w="med" len="med"/>
                      <a:tailEnd type="none" w="med" len="med"/>
                    </a:lnT>
                  </a:tcPr>
                </a:tc>
                <a:tc>
                  <a:txBody>
                    <a:bodyPr/>
                    <a:lstStyle/>
                    <a:p>
                      <a:pPr algn="ctr" fontAlgn="b"/>
                      <a:r>
                        <a:rPr lang="en-IN" sz="1100" b="0" i="0" u="none" strike="noStrike" dirty="0">
                          <a:solidFill>
                            <a:srgbClr val="000000"/>
                          </a:solidFill>
                          <a:effectLst/>
                          <a:latin typeface="+mn-lt"/>
                        </a:rPr>
                        <a:t>5.86</a:t>
                      </a:r>
                    </a:p>
                  </a:txBody>
                  <a:tcPr marL="7620" marR="7620" marT="7620" marB="0" anchor="ctr">
                    <a:lnT w="12700" cap="flat" cmpd="sng" algn="ctr">
                      <a:solidFill>
                        <a:schemeClr val="accent5"/>
                      </a:solidFill>
                      <a:prstDash val="solid"/>
                      <a:round/>
                      <a:headEnd type="none" w="med" len="med"/>
                      <a:tailEnd type="none" w="med" len="med"/>
                    </a:lnT>
                  </a:tcPr>
                </a:tc>
                <a:tc>
                  <a:txBody>
                    <a:bodyPr/>
                    <a:lstStyle/>
                    <a:p>
                      <a:pPr algn="ctr" fontAlgn="b"/>
                      <a:r>
                        <a:rPr lang="en-IN" sz="1100" b="0" i="0" u="none" strike="noStrike" dirty="0">
                          <a:solidFill>
                            <a:srgbClr val="000000"/>
                          </a:solidFill>
                          <a:effectLst/>
                          <a:latin typeface="+mn-lt"/>
                        </a:rPr>
                        <a:t>9.47</a:t>
                      </a:r>
                    </a:p>
                  </a:txBody>
                  <a:tcPr marL="7620" marR="7620" marT="7620" marB="0" anchor="ctr">
                    <a:lnT w="12700" cap="flat" cmpd="sng" algn="ctr">
                      <a:solidFill>
                        <a:schemeClr val="accent5"/>
                      </a:solidFill>
                      <a:prstDash val="solid"/>
                      <a:round/>
                      <a:headEnd type="none" w="med" len="med"/>
                      <a:tailEnd type="none" w="med" len="med"/>
                    </a:lnT>
                  </a:tcPr>
                </a:tc>
                <a:tc>
                  <a:txBody>
                    <a:bodyPr/>
                    <a:lstStyle/>
                    <a:p>
                      <a:pPr algn="ctr" fontAlgn="b"/>
                      <a:r>
                        <a:rPr lang="en-IN" sz="1100" b="0" i="0" u="none" strike="noStrike" dirty="0">
                          <a:solidFill>
                            <a:srgbClr val="000000"/>
                          </a:solidFill>
                          <a:effectLst/>
                          <a:latin typeface="+mn-lt"/>
                        </a:rPr>
                        <a:t>5.86</a:t>
                      </a:r>
                    </a:p>
                  </a:txBody>
                  <a:tcPr marL="7620" marR="7620" marT="7620" marB="0" anchor="ctr">
                    <a:lnT w="12700" cap="flat" cmpd="sng" algn="ctr">
                      <a:solidFill>
                        <a:schemeClr val="accent5"/>
                      </a:solidFill>
                      <a:prstDash val="solid"/>
                      <a:round/>
                      <a:headEnd type="none" w="med" len="med"/>
                      <a:tailEnd type="none" w="med" len="med"/>
                    </a:lnT>
                  </a:tcPr>
                </a:tc>
                <a:tc>
                  <a:txBody>
                    <a:bodyPr/>
                    <a:lstStyle/>
                    <a:p>
                      <a:pPr algn="ctr" fontAlgn="b"/>
                      <a:r>
                        <a:rPr lang="en-IN" sz="1100" b="0" i="0" u="none" strike="noStrike" dirty="0">
                          <a:solidFill>
                            <a:srgbClr val="000000"/>
                          </a:solidFill>
                          <a:effectLst/>
                          <a:latin typeface="+mn-lt"/>
                        </a:rPr>
                        <a:t>4.18</a:t>
                      </a:r>
                    </a:p>
                  </a:txBody>
                  <a:tcPr marL="7620" marR="7620" marT="7620" marB="0" anchor="ctr">
                    <a:lnT w="12700" cap="flat" cmpd="sng" algn="ctr">
                      <a:solidFill>
                        <a:schemeClr val="accent5"/>
                      </a:solidFill>
                      <a:prstDash val="solid"/>
                      <a:round/>
                      <a:headEnd type="none" w="med" len="med"/>
                      <a:tailEnd type="none" w="med" len="med"/>
                    </a:lnT>
                  </a:tcPr>
                </a:tc>
                <a:tc>
                  <a:txBody>
                    <a:bodyPr/>
                    <a:lstStyle/>
                    <a:p>
                      <a:pPr algn="ctr" fontAlgn="b"/>
                      <a:r>
                        <a:rPr lang="en-IN" sz="1100" b="0" i="0" u="none" strike="noStrike" dirty="0">
                          <a:solidFill>
                            <a:srgbClr val="000000"/>
                          </a:solidFill>
                          <a:effectLst/>
                          <a:latin typeface="+mn-lt"/>
                        </a:rPr>
                        <a:t>5.16</a:t>
                      </a:r>
                    </a:p>
                  </a:txBody>
                  <a:tcPr marL="7620" marR="7620" marT="7620" marB="0" anchor="ctr">
                    <a:lnT w="12700" cap="flat" cmpd="sng" algn="ctr">
                      <a:solidFill>
                        <a:schemeClr val="accent5"/>
                      </a:solidFill>
                      <a:prstDash val="solid"/>
                      <a:round/>
                      <a:headEnd type="none" w="med" len="med"/>
                      <a:tailEnd type="none" w="med" len="med"/>
                    </a:lnT>
                  </a:tcPr>
                </a:tc>
                <a:tc>
                  <a:txBody>
                    <a:bodyPr/>
                    <a:lstStyle/>
                    <a:p>
                      <a:pPr algn="ctr" fontAlgn="b"/>
                      <a:r>
                        <a:rPr lang="en-IN" sz="1100" b="0" i="0" u="none" strike="noStrike" dirty="0">
                          <a:solidFill>
                            <a:srgbClr val="000000"/>
                          </a:solidFill>
                          <a:effectLst/>
                          <a:latin typeface="+mn-lt"/>
                        </a:rPr>
                        <a:t>400.00</a:t>
                      </a:r>
                    </a:p>
                  </a:txBody>
                  <a:tcPr marL="7620" marR="7620" marT="7620" marB="0" anchor="ctr">
                    <a:lnT w="12700" cap="flat" cmpd="sng" algn="ctr">
                      <a:solidFill>
                        <a:schemeClr val="accent5"/>
                      </a:solidFill>
                      <a:prstDash val="solid"/>
                      <a:round/>
                      <a:headEnd type="none" w="med" len="med"/>
                      <a:tailEnd type="none" w="med" len="med"/>
                    </a:lnT>
                  </a:tcPr>
                </a:tc>
                <a:tc>
                  <a:txBody>
                    <a:bodyPr/>
                    <a:lstStyle/>
                    <a:p>
                      <a:pPr algn="ctr" fontAlgn="b"/>
                      <a:r>
                        <a:rPr lang="en-IN" sz="1100" b="0" i="0" u="none" strike="noStrike" dirty="0">
                          <a:solidFill>
                            <a:srgbClr val="000000"/>
                          </a:solidFill>
                          <a:effectLst/>
                          <a:latin typeface="+mn-lt"/>
                        </a:rPr>
                        <a:t>450.00</a:t>
                      </a:r>
                    </a:p>
                  </a:txBody>
                  <a:tcPr marL="7620" marR="7620" marT="7620" marB="0" anchor="ctr">
                    <a:lnT w="12700" cap="flat" cmpd="sng" algn="ctr">
                      <a:solidFill>
                        <a:schemeClr val="accent5"/>
                      </a:solidFill>
                      <a:prstDash val="solid"/>
                      <a:round/>
                      <a:headEnd type="none" w="med" len="med"/>
                      <a:tailEnd type="none" w="med" len="med"/>
                    </a:lnT>
                  </a:tcPr>
                </a:tc>
                <a:extLst>
                  <a:ext uri="{0D108BD9-81ED-4DB2-BD59-A6C34878D82A}">
                    <a16:rowId xmlns:a16="http://schemas.microsoft.com/office/drawing/2014/main" val="1764043058"/>
                  </a:ext>
                </a:extLst>
              </a:tr>
              <a:tr h="557241">
                <a:tc>
                  <a:txBody>
                    <a:bodyPr/>
                    <a:lstStyle/>
                    <a:p>
                      <a:pPr marL="11430">
                        <a:lnSpc>
                          <a:spcPct val="107000"/>
                        </a:lnSpc>
                        <a:spcAft>
                          <a:spcPts val="0"/>
                        </a:spcAft>
                      </a:pPr>
                      <a:r>
                        <a:rPr lang="en-IN" sz="1100" dirty="0">
                          <a:effectLst/>
                        </a:rPr>
                        <a:t>01.09.2015</a:t>
                      </a:r>
                      <a:endParaRPr lang="en-IN" sz="11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endParaRPr>
                    </a:p>
                  </a:txBody>
                  <a:tcPr marL="9146" marR="0" marT="21595" marB="0" anchor="ctr"/>
                </a:tc>
                <a:tc>
                  <a:txBody>
                    <a:bodyPr/>
                    <a:lstStyle/>
                    <a:p>
                      <a:pPr algn="ctr" fontAlgn="b"/>
                      <a:r>
                        <a:rPr lang="en-US" sz="1100" b="0" i="0" u="none" strike="noStrike" dirty="0">
                          <a:solidFill>
                            <a:srgbClr val="000000"/>
                          </a:solidFill>
                          <a:effectLst/>
                          <a:latin typeface="+mn-lt"/>
                        </a:rPr>
                        <a:t>2.82</a:t>
                      </a:r>
                      <a:endParaRPr lang="en-IN" sz="1100" b="0" i="0" u="none" strike="noStrike" dirty="0">
                        <a:solidFill>
                          <a:srgbClr val="000000"/>
                        </a:solidFill>
                        <a:effectLst/>
                        <a:latin typeface="+mn-lt"/>
                      </a:endParaRPr>
                    </a:p>
                  </a:txBody>
                  <a:tcPr marL="7620" marR="7620" marT="7620" marB="0" anchor="ctr"/>
                </a:tc>
                <a:tc>
                  <a:txBody>
                    <a:bodyPr/>
                    <a:lstStyle/>
                    <a:p>
                      <a:pPr algn="ctr" fontAlgn="b"/>
                      <a:r>
                        <a:rPr lang="en-US" sz="1100" b="0" i="0" u="none" strike="noStrike" dirty="0">
                          <a:solidFill>
                            <a:srgbClr val="000000"/>
                          </a:solidFill>
                          <a:effectLst/>
                          <a:latin typeface="+mn-lt"/>
                        </a:rPr>
                        <a:t>2.58</a:t>
                      </a:r>
                      <a:endParaRPr lang="en-IN" sz="1100" b="0" i="0" u="none" strike="noStrike" dirty="0">
                        <a:solidFill>
                          <a:srgbClr val="000000"/>
                        </a:solidFill>
                        <a:effectLst/>
                        <a:latin typeface="+mn-lt"/>
                      </a:endParaRPr>
                    </a:p>
                  </a:txBody>
                  <a:tcPr marL="7620" marR="7620" marT="7620" marB="0" anchor="ctr"/>
                </a:tc>
                <a:tc>
                  <a:txBody>
                    <a:bodyPr/>
                    <a:lstStyle/>
                    <a:p>
                      <a:pPr algn="ctr" fontAlgn="b"/>
                      <a:r>
                        <a:rPr lang="en-IN" sz="1100" b="0" i="0" u="none" strike="noStrike" dirty="0">
                          <a:solidFill>
                            <a:srgbClr val="000000"/>
                          </a:solidFill>
                          <a:effectLst/>
                          <a:latin typeface="+mn-lt"/>
                        </a:rPr>
                        <a:t>6.74</a:t>
                      </a:r>
                    </a:p>
                  </a:txBody>
                  <a:tcPr marL="7620" marR="7620" marT="7620" marB="0" anchor="ctr"/>
                </a:tc>
                <a:tc>
                  <a:txBody>
                    <a:bodyPr/>
                    <a:lstStyle/>
                    <a:p>
                      <a:pPr algn="ctr" fontAlgn="b"/>
                      <a:r>
                        <a:rPr lang="en-IN" sz="1100" b="0" i="0" u="none" strike="noStrike" dirty="0">
                          <a:solidFill>
                            <a:srgbClr val="000000"/>
                          </a:solidFill>
                          <a:effectLst/>
                          <a:latin typeface="+mn-lt"/>
                        </a:rPr>
                        <a:t>11.36</a:t>
                      </a:r>
                    </a:p>
                  </a:txBody>
                  <a:tcPr marL="7620" marR="7620" marT="7620" marB="0" anchor="ctr"/>
                </a:tc>
                <a:tc>
                  <a:txBody>
                    <a:bodyPr/>
                    <a:lstStyle/>
                    <a:p>
                      <a:pPr algn="ctr" fontAlgn="b"/>
                      <a:r>
                        <a:rPr lang="en-IN" sz="1100" b="0" i="0" u="none" strike="noStrike" dirty="0">
                          <a:solidFill>
                            <a:srgbClr val="000000"/>
                          </a:solidFill>
                          <a:effectLst/>
                          <a:latin typeface="+mn-lt"/>
                        </a:rPr>
                        <a:t>6.45</a:t>
                      </a:r>
                    </a:p>
                  </a:txBody>
                  <a:tcPr marL="7620" marR="7620" marT="7620" marB="0" anchor="ctr"/>
                </a:tc>
                <a:tc>
                  <a:txBody>
                    <a:bodyPr/>
                    <a:lstStyle/>
                    <a:p>
                      <a:pPr algn="ctr" fontAlgn="b"/>
                      <a:r>
                        <a:rPr lang="en-IN" sz="1100" b="0" i="0" u="none" strike="noStrike" dirty="0">
                          <a:solidFill>
                            <a:srgbClr val="000000"/>
                          </a:solidFill>
                          <a:effectLst/>
                          <a:latin typeface="+mn-lt"/>
                        </a:rPr>
                        <a:t>8.36</a:t>
                      </a:r>
                    </a:p>
                  </a:txBody>
                  <a:tcPr marL="7620" marR="7620" marT="7620" marB="0" anchor="ctr"/>
                </a:tc>
                <a:tc>
                  <a:txBody>
                    <a:bodyPr/>
                    <a:lstStyle/>
                    <a:p>
                      <a:pPr algn="ctr" fontAlgn="b"/>
                      <a:r>
                        <a:rPr lang="en-IN" sz="1100" b="0" i="0" u="none" strike="noStrike" dirty="0">
                          <a:solidFill>
                            <a:srgbClr val="000000"/>
                          </a:solidFill>
                          <a:effectLst/>
                          <a:latin typeface="+mn-lt"/>
                        </a:rPr>
                        <a:t>7.00</a:t>
                      </a:r>
                    </a:p>
                  </a:txBody>
                  <a:tcPr marL="7620" marR="7620" marT="7620" marB="0" anchor="ctr"/>
                </a:tc>
                <a:tc>
                  <a:txBody>
                    <a:bodyPr/>
                    <a:lstStyle/>
                    <a:p>
                      <a:pPr algn="ctr" fontAlgn="b"/>
                      <a:r>
                        <a:rPr lang="en-IN" sz="1100" b="0" i="0" u="none" strike="noStrike" dirty="0">
                          <a:solidFill>
                            <a:srgbClr val="000000"/>
                          </a:solidFill>
                          <a:effectLst/>
                          <a:latin typeface="+mn-lt"/>
                        </a:rPr>
                        <a:t>600.00</a:t>
                      </a:r>
                    </a:p>
                  </a:txBody>
                  <a:tcPr marL="7620" marR="7620" marT="7620" marB="0" anchor="ctr"/>
                </a:tc>
                <a:tc>
                  <a:txBody>
                    <a:bodyPr/>
                    <a:lstStyle/>
                    <a:p>
                      <a:pPr algn="ctr" fontAlgn="b"/>
                      <a:r>
                        <a:rPr lang="en-IN" sz="1100" b="0" i="0" u="none" strike="noStrike" dirty="0">
                          <a:solidFill>
                            <a:srgbClr val="000000"/>
                          </a:solidFill>
                          <a:effectLst/>
                          <a:latin typeface="+mn-lt"/>
                        </a:rPr>
                        <a:t>650.00</a:t>
                      </a:r>
                    </a:p>
                  </a:txBody>
                  <a:tcPr marL="7620" marR="7620" marT="7620" marB="0" anchor="ctr"/>
                </a:tc>
                <a:extLst>
                  <a:ext uri="{0D108BD9-81ED-4DB2-BD59-A6C34878D82A}">
                    <a16:rowId xmlns:a16="http://schemas.microsoft.com/office/drawing/2014/main" val="3698572916"/>
                  </a:ext>
                </a:extLst>
              </a:tr>
              <a:tr h="557241">
                <a:tc>
                  <a:txBody>
                    <a:bodyPr/>
                    <a:lstStyle/>
                    <a:p>
                      <a:pPr marL="11430">
                        <a:lnSpc>
                          <a:spcPct val="107000"/>
                        </a:lnSpc>
                        <a:spcAft>
                          <a:spcPts val="0"/>
                        </a:spcAft>
                      </a:pPr>
                      <a:r>
                        <a:rPr lang="en-IN" sz="1100" dirty="0">
                          <a:effectLst/>
                        </a:rPr>
                        <a:t>01.03.2017</a:t>
                      </a:r>
                      <a:endParaRPr lang="en-IN" sz="11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endParaRPr>
                    </a:p>
                  </a:txBody>
                  <a:tcPr marL="9146" marR="0" marT="21595" marB="0" anchor="ctr"/>
                </a:tc>
                <a:tc>
                  <a:txBody>
                    <a:bodyPr/>
                    <a:lstStyle/>
                    <a:p>
                      <a:pPr algn="ctr" fontAlgn="b"/>
                      <a:r>
                        <a:rPr lang="en-IN" sz="1100" b="0" i="0" u="none" strike="noStrike" dirty="0">
                          <a:solidFill>
                            <a:srgbClr val="000000"/>
                          </a:solidFill>
                          <a:effectLst/>
                          <a:latin typeface="+mn-lt"/>
                        </a:rPr>
                        <a:t>2.99</a:t>
                      </a:r>
                    </a:p>
                  </a:txBody>
                  <a:tcPr marL="7620" marR="7620" marT="7620" marB="0" anchor="ctr"/>
                </a:tc>
                <a:tc>
                  <a:txBody>
                    <a:bodyPr/>
                    <a:lstStyle/>
                    <a:p>
                      <a:pPr algn="ctr" fontAlgn="b"/>
                      <a:r>
                        <a:rPr lang="en-IN" sz="1100" b="0" i="0" u="none" strike="noStrike" dirty="0">
                          <a:solidFill>
                            <a:srgbClr val="000000"/>
                          </a:solidFill>
                          <a:effectLst/>
                          <a:latin typeface="+mn-lt"/>
                        </a:rPr>
                        <a:t>2.64</a:t>
                      </a:r>
                    </a:p>
                  </a:txBody>
                  <a:tcPr marL="7620" marR="7620" marT="7620" marB="0" anchor="ctr"/>
                </a:tc>
                <a:tc>
                  <a:txBody>
                    <a:bodyPr/>
                    <a:lstStyle/>
                    <a:p>
                      <a:pPr algn="ctr" fontAlgn="b"/>
                      <a:r>
                        <a:rPr lang="en-IN" sz="1100" b="0" i="0" u="none" strike="noStrike" dirty="0">
                          <a:solidFill>
                            <a:srgbClr val="000000"/>
                          </a:solidFill>
                          <a:effectLst/>
                          <a:latin typeface="+mn-lt"/>
                        </a:rPr>
                        <a:t>7.24</a:t>
                      </a:r>
                    </a:p>
                  </a:txBody>
                  <a:tcPr marL="7620" marR="7620" marT="7620" marB="0" anchor="ctr"/>
                </a:tc>
                <a:tc>
                  <a:txBody>
                    <a:bodyPr/>
                    <a:lstStyle/>
                    <a:p>
                      <a:pPr algn="ctr" fontAlgn="b"/>
                      <a:r>
                        <a:rPr lang="en-IN" sz="1100" b="0" i="0" u="none" strike="noStrike" dirty="0">
                          <a:solidFill>
                            <a:srgbClr val="000000"/>
                          </a:solidFill>
                          <a:effectLst/>
                          <a:latin typeface="+mn-lt"/>
                        </a:rPr>
                        <a:t>14.20</a:t>
                      </a:r>
                    </a:p>
                  </a:txBody>
                  <a:tcPr marL="7620" marR="7620" marT="7620" marB="0" anchor="ctr"/>
                </a:tc>
                <a:tc>
                  <a:txBody>
                    <a:bodyPr/>
                    <a:lstStyle/>
                    <a:p>
                      <a:pPr algn="ctr" fontAlgn="b"/>
                      <a:r>
                        <a:rPr lang="en-IN" sz="1100" b="0" i="0" u="none" strike="noStrike" dirty="0">
                          <a:solidFill>
                            <a:srgbClr val="000000"/>
                          </a:solidFill>
                          <a:effectLst/>
                          <a:latin typeface="+mn-lt"/>
                        </a:rPr>
                        <a:t>6.93</a:t>
                      </a:r>
                    </a:p>
                  </a:txBody>
                  <a:tcPr marL="7620" marR="7620" marT="7620" marB="0" anchor="ctr"/>
                </a:tc>
                <a:tc>
                  <a:txBody>
                    <a:bodyPr/>
                    <a:lstStyle/>
                    <a:p>
                      <a:pPr algn="ctr" fontAlgn="b"/>
                      <a:r>
                        <a:rPr lang="en-IN" sz="1100" b="0" i="0" u="none" strike="noStrike" dirty="0">
                          <a:solidFill>
                            <a:srgbClr val="000000"/>
                          </a:solidFill>
                          <a:effectLst/>
                          <a:latin typeface="+mn-lt"/>
                        </a:rPr>
                        <a:t>8.98</a:t>
                      </a:r>
                    </a:p>
                  </a:txBody>
                  <a:tcPr marL="7620" marR="7620" marT="7620" marB="0" anchor="ctr"/>
                </a:tc>
                <a:tc>
                  <a:txBody>
                    <a:bodyPr/>
                    <a:lstStyle/>
                    <a:p>
                      <a:pPr algn="ctr" fontAlgn="b"/>
                      <a:r>
                        <a:rPr lang="en-IN" sz="1100" b="0" i="0" u="none" strike="noStrike" dirty="0">
                          <a:solidFill>
                            <a:srgbClr val="000000"/>
                          </a:solidFill>
                          <a:effectLst/>
                          <a:latin typeface="+mn-lt"/>
                        </a:rPr>
                        <a:t>9.10</a:t>
                      </a:r>
                    </a:p>
                  </a:txBody>
                  <a:tcPr marL="7620" marR="7620" marT="7620" marB="0" anchor="ctr"/>
                </a:tc>
                <a:tc>
                  <a:txBody>
                    <a:bodyPr/>
                    <a:lstStyle/>
                    <a:p>
                      <a:pPr algn="ctr" fontAlgn="b"/>
                      <a:r>
                        <a:rPr lang="en-IN" sz="1100" b="0" i="0" u="none" strike="noStrike" dirty="0">
                          <a:solidFill>
                            <a:srgbClr val="000000"/>
                          </a:solidFill>
                          <a:effectLst/>
                          <a:latin typeface="+mn-lt"/>
                        </a:rPr>
                        <a:t>750.00</a:t>
                      </a:r>
                    </a:p>
                  </a:txBody>
                  <a:tcPr marL="7620" marR="7620" marT="7620" marB="0" anchor="ctr"/>
                </a:tc>
                <a:tc>
                  <a:txBody>
                    <a:bodyPr/>
                    <a:lstStyle/>
                    <a:p>
                      <a:pPr algn="ctr" fontAlgn="b"/>
                      <a:r>
                        <a:rPr lang="en-IN" sz="1100" b="0" i="0" u="none" strike="noStrike" dirty="0">
                          <a:solidFill>
                            <a:srgbClr val="000000"/>
                          </a:solidFill>
                          <a:effectLst/>
                          <a:latin typeface="+mn-lt"/>
                        </a:rPr>
                        <a:t>800.00</a:t>
                      </a:r>
                    </a:p>
                  </a:txBody>
                  <a:tcPr marL="7620" marR="7620" marT="7620" marB="0" anchor="ctr"/>
                </a:tc>
                <a:extLst>
                  <a:ext uri="{0D108BD9-81ED-4DB2-BD59-A6C34878D82A}">
                    <a16:rowId xmlns:a16="http://schemas.microsoft.com/office/drawing/2014/main" val="4180892744"/>
                  </a:ext>
                </a:extLst>
              </a:tr>
              <a:tr h="557241">
                <a:tc>
                  <a:txBody>
                    <a:bodyPr/>
                    <a:lstStyle/>
                    <a:p>
                      <a:pPr marL="11430">
                        <a:lnSpc>
                          <a:spcPct val="107000"/>
                        </a:lnSpc>
                        <a:spcAft>
                          <a:spcPts val="0"/>
                        </a:spcAft>
                      </a:pPr>
                      <a:r>
                        <a:rPr lang="en-IN" sz="1100" dirty="0">
                          <a:effectLst/>
                        </a:rPr>
                        <a:t>01.06.2017</a:t>
                      </a:r>
                      <a:endParaRPr lang="en-IN" sz="11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endParaRPr>
                    </a:p>
                  </a:txBody>
                  <a:tcPr marL="9146" marR="0" marT="21595" marB="0" anchor="ctr"/>
                </a:tc>
                <a:tc>
                  <a:txBody>
                    <a:bodyPr/>
                    <a:lstStyle/>
                    <a:p>
                      <a:pPr algn="ctr" fontAlgn="b"/>
                      <a:r>
                        <a:rPr lang="en-IN" sz="1100" b="0" i="0" u="none" strike="noStrike" dirty="0">
                          <a:solidFill>
                            <a:srgbClr val="000000"/>
                          </a:solidFill>
                          <a:effectLst/>
                          <a:latin typeface="+mn-lt"/>
                        </a:rPr>
                        <a:t>3.16</a:t>
                      </a:r>
                    </a:p>
                  </a:txBody>
                  <a:tcPr marL="7620" marR="7620" marT="7620" marB="0" anchor="ctr"/>
                </a:tc>
                <a:tc>
                  <a:txBody>
                    <a:bodyPr/>
                    <a:lstStyle/>
                    <a:p>
                      <a:pPr algn="ctr" fontAlgn="b"/>
                      <a:r>
                        <a:rPr lang="en-IN" sz="1100" b="0" i="0" u="none" strike="noStrike" dirty="0">
                          <a:solidFill>
                            <a:srgbClr val="000000"/>
                          </a:solidFill>
                          <a:effectLst/>
                          <a:latin typeface="+mn-lt"/>
                        </a:rPr>
                        <a:t>2.71</a:t>
                      </a:r>
                    </a:p>
                  </a:txBody>
                  <a:tcPr marL="7620" marR="7620" marT="7620" marB="0" anchor="ctr"/>
                </a:tc>
                <a:tc>
                  <a:txBody>
                    <a:bodyPr/>
                    <a:lstStyle/>
                    <a:p>
                      <a:pPr algn="ctr" fontAlgn="b"/>
                      <a:r>
                        <a:rPr lang="en-IN" sz="1100" b="0" i="0" u="none" strike="noStrike" dirty="0">
                          <a:solidFill>
                            <a:srgbClr val="000000"/>
                          </a:solidFill>
                          <a:effectLst/>
                          <a:latin typeface="+mn-lt"/>
                        </a:rPr>
                        <a:t>7.76</a:t>
                      </a:r>
                    </a:p>
                  </a:txBody>
                  <a:tcPr marL="7620" marR="7620" marT="7620" marB="0" anchor="ctr"/>
                </a:tc>
                <a:tc>
                  <a:txBody>
                    <a:bodyPr/>
                    <a:lstStyle/>
                    <a:p>
                      <a:pPr algn="ctr" fontAlgn="b"/>
                      <a:r>
                        <a:rPr lang="en-IN" sz="1100" b="0" i="0" u="none" strike="noStrike" dirty="0">
                          <a:solidFill>
                            <a:srgbClr val="000000"/>
                          </a:solidFill>
                          <a:effectLst/>
                          <a:latin typeface="+mn-lt"/>
                        </a:rPr>
                        <a:t>17.04</a:t>
                      </a:r>
                    </a:p>
                  </a:txBody>
                  <a:tcPr marL="7620" marR="7620" marT="7620" marB="0" anchor="ctr"/>
                </a:tc>
                <a:tc>
                  <a:txBody>
                    <a:bodyPr/>
                    <a:lstStyle/>
                    <a:p>
                      <a:pPr algn="ctr" fontAlgn="b"/>
                      <a:r>
                        <a:rPr lang="en-IN" sz="1100" b="0" i="0" u="none" strike="noStrike" dirty="0">
                          <a:solidFill>
                            <a:srgbClr val="000000"/>
                          </a:solidFill>
                          <a:effectLst/>
                          <a:latin typeface="+mn-lt"/>
                        </a:rPr>
                        <a:t>7.42</a:t>
                      </a:r>
                    </a:p>
                  </a:txBody>
                  <a:tcPr marL="7620" marR="7620" marT="7620" marB="0" anchor="ctr"/>
                </a:tc>
                <a:tc>
                  <a:txBody>
                    <a:bodyPr/>
                    <a:lstStyle/>
                    <a:p>
                      <a:pPr algn="ctr" fontAlgn="b"/>
                      <a:r>
                        <a:rPr lang="en-IN" sz="1100" b="0" i="0" u="none" strike="noStrike" dirty="0">
                          <a:solidFill>
                            <a:srgbClr val="000000"/>
                          </a:solidFill>
                          <a:effectLst/>
                          <a:latin typeface="+mn-lt"/>
                        </a:rPr>
                        <a:t>9.62</a:t>
                      </a:r>
                    </a:p>
                  </a:txBody>
                  <a:tcPr marL="7620" marR="7620" marT="7620" marB="0" anchor="ctr"/>
                </a:tc>
                <a:tc>
                  <a:txBody>
                    <a:bodyPr/>
                    <a:lstStyle/>
                    <a:p>
                      <a:pPr algn="ctr" fontAlgn="b"/>
                      <a:r>
                        <a:rPr lang="en-IN" sz="1100" b="0" i="0" u="none" strike="noStrike" dirty="0">
                          <a:solidFill>
                            <a:srgbClr val="000000"/>
                          </a:solidFill>
                          <a:effectLst/>
                          <a:latin typeface="+mn-lt"/>
                        </a:rPr>
                        <a:t>11.20</a:t>
                      </a:r>
                    </a:p>
                  </a:txBody>
                  <a:tcPr marL="7620" marR="7620" marT="7620" marB="0" anchor="ctr"/>
                </a:tc>
                <a:tc>
                  <a:txBody>
                    <a:bodyPr/>
                    <a:lstStyle/>
                    <a:p>
                      <a:pPr algn="ctr" fontAlgn="b"/>
                      <a:r>
                        <a:rPr lang="en-IN" sz="1100" b="0" i="0" u="none" strike="noStrike" dirty="0">
                          <a:solidFill>
                            <a:srgbClr val="000000"/>
                          </a:solidFill>
                          <a:effectLst/>
                          <a:latin typeface="+mn-lt"/>
                        </a:rPr>
                        <a:t>900.00</a:t>
                      </a:r>
                    </a:p>
                  </a:txBody>
                  <a:tcPr marL="7620" marR="7620" marT="7620" marB="0" anchor="ctr"/>
                </a:tc>
                <a:tc>
                  <a:txBody>
                    <a:bodyPr/>
                    <a:lstStyle/>
                    <a:p>
                      <a:pPr algn="ctr" fontAlgn="b"/>
                      <a:r>
                        <a:rPr lang="en-IN" sz="1100" b="0" i="0" u="none" strike="noStrike" dirty="0">
                          <a:solidFill>
                            <a:srgbClr val="000000"/>
                          </a:solidFill>
                          <a:effectLst/>
                          <a:latin typeface="+mn-lt"/>
                        </a:rPr>
                        <a:t>950.00</a:t>
                      </a:r>
                    </a:p>
                  </a:txBody>
                  <a:tcPr marL="7620" marR="7620" marT="7620" marB="0" anchor="ctr"/>
                </a:tc>
                <a:extLst>
                  <a:ext uri="{0D108BD9-81ED-4DB2-BD59-A6C34878D82A}">
                    <a16:rowId xmlns:a16="http://schemas.microsoft.com/office/drawing/2014/main" val="2573866667"/>
                  </a:ext>
                </a:extLst>
              </a:tr>
              <a:tr h="557241">
                <a:tc>
                  <a:txBody>
                    <a:bodyPr/>
                    <a:lstStyle/>
                    <a:p>
                      <a:pPr marL="11430">
                        <a:lnSpc>
                          <a:spcPct val="107000"/>
                        </a:lnSpc>
                        <a:spcAft>
                          <a:spcPts val="0"/>
                        </a:spcAft>
                      </a:pPr>
                      <a:r>
                        <a:rPr lang="en-IN" sz="1100" dirty="0">
                          <a:effectLst/>
                        </a:rPr>
                        <a:t>01.08.2017</a:t>
                      </a:r>
                      <a:endParaRPr lang="en-IN" sz="11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endParaRPr>
                    </a:p>
                  </a:txBody>
                  <a:tcPr marL="9146" marR="0" marT="21595" marB="0" anchor="ctr"/>
                </a:tc>
                <a:tc>
                  <a:txBody>
                    <a:bodyPr/>
                    <a:lstStyle/>
                    <a:p>
                      <a:pPr algn="ctr" fontAlgn="b"/>
                      <a:r>
                        <a:rPr lang="en-IN" sz="1100" b="0" i="0" u="none" strike="noStrike" dirty="0">
                          <a:solidFill>
                            <a:srgbClr val="000000"/>
                          </a:solidFill>
                          <a:effectLst/>
                          <a:latin typeface="+mn-lt"/>
                        </a:rPr>
                        <a:t>3.16</a:t>
                      </a:r>
                    </a:p>
                  </a:txBody>
                  <a:tcPr marL="7620" marR="7620" marT="7620" marB="0" anchor="ctr"/>
                </a:tc>
                <a:tc>
                  <a:txBody>
                    <a:bodyPr/>
                    <a:lstStyle/>
                    <a:p>
                      <a:pPr algn="ctr" fontAlgn="b"/>
                      <a:r>
                        <a:rPr lang="en-IN" sz="1100" b="0" i="0" u="none" strike="noStrike" dirty="0">
                          <a:solidFill>
                            <a:srgbClr val="000000"/>
                          </a:solidFill>
                          <a:effectLst/>
                          <a:latin typeface="+mn-lt"/>
                        </a:rPr>
                        <a:t>2.71</a:t>
                      </a:r>
                    </a:p>
                  </a:txBody>
                  <a:tcPr marL="7620" marR="7620" marT="7620" marB="0" anchor="ctr"/>
                </a:tc>
                <a:tc>
                  <a:txBody>
                    <a:bodyPr/>
                    <a:lstStyle/>
                    <a:p>
                      <a:pPr algn="ctr" fontAlgn="b"/>
                      <a:r>
                        <a:rPr lang="en-IN" sz="1100" b="0" i="0" u="none" strike="noStrike" dirty="0">
                          <a:solidFill>
                            <a:srgbClr val="000000"/>
                          </a:solidFill>
                          <a:effectLst/>
                          <a:latin typeface="+mn-lt"/>
                        </a:rPr>
                        <a:t>7.76</a:t>
                      </a:r>
                    </a:p>
                  </a:txBody>
                  <a:tcPr marL="7620" marR="7620" marT="7620" marB="0" anchor="ctr"/>
                </a:tc>
                <a:tc>
                  <a:txBody>
                    <a:bodyPr/>
                    <a:lstStyle/>
                    <a:p>
                      <a:pPr algn="ctr" fontAlgn="b"/>
                      <a:r>
                        <a:rPr lang="en-IN" sz="1100" b="0" i="0" u="none" strike="noStrike" dirty="0">
                          <a:solidFill>
                            <a:srgbClr val="000000"/>
                          </a:solidFill>
                          <a:effectLst/>
                          <a:latin typeface="+mn-lt"/>
                        </a:rPr>
                        <a:t>17.04</a:t>
                      </a:r>
                    </a:p>
                  </a:txBody>
                  <a:tcPr marL="7620" marR="7620" marT="7620" marB="0" anchor="ctr"/>
                </a:tc>
                <a:tc>
                  <a:txBody>
                    <a:bodyPr/>
                    <a:lstStyle/>
                    <a:p>
                      <a:pPr algn="ctr" fontAlgn="b"/>
                      <a:r>
                        <a:rPr lang="en-IN" sz="1100" b="0" i="0" u="none" strike="noStrike" dirty="0">
                          <a:solidFill>
                            <a:srgbClr val="000000"/>
                          </a:solidFill>
                          <a:effectLst/>
                          <a:latin typeface="+mn-lt"/>
                        </a:rPr>
                        <a:t>7.42</a:t>
                      </a:r>
                    </a:p>
                  </a:txBody>
                  <a:tcPr marL="7620" marR="7620" marT="7620" marB="0" anchor="ctr"/>
                </a:tc>
                <a:tc>
                  <a:txBody>
                    <a:bodyPr/>
                    <a:lstStyle/>
                    <a:p>
                      <a:pPr algn="ctr" fontAlgn="b"/>
                      <a:r>
                        <a:rPr lang="en-IN" sz="1100" b="0" i="0" u="none" strike="noStrike" dirty="0">
                          <a:solidFill>
                            <a:srgbClr val="000000"/>
                          </a:solidFill>
                          <a:effectLst/>
                          <a:latin typeface="+mn-lt"/>
                        </a:rPr>
                        <a:t>9.62</a:t>
                      </a:r>
                    </a:p>
                  </a:txBody>
                  <a:tcPr marL="7620" marR="7620" marT="7620" marB="0" anchor="ctr"/>
                </a:tc>
                <a:tc>
                  <a:txBody>
                    <a:bodyPr/>
                    <a:lstStyle/>
                    <a:p>
                      <a:pPr algn="ctr" fontAlgn="b"/>
                      <a:r>
                        <a:rPr lang="en-IN" sz="1100" b="0" i="0" u="none" strike="noStrike" dirty="0">
                          <a:solidFill>
                            <a:srgbClr val="000000"/>
                          </a:solidFill>
                          <a:effectLst/>
                          <a:latin typeface="+mn-lt"/>
                        </a:rPr>
                        <a:t>9.10</a:t>
                      </a:r>
                    </a:p>
                  </a:txBody>
                  <a:tcPr marL="7620" marR="7620" marT="7620" marB="0" anchor="ctr"/>
                </a:tc>
                <a:tc>
                  <a:txBody>
                    <a:bodyPr/>
                    <a:lstStyle/>
                    <a:p>
                      <a:pPr algn="ctr" fontAlgn="b"/>
                      <a:r>
                        <a:rPr lang="en-IN" sz="1100" b="0" i="0" u="none" strike="noStrike" dirty="0">
                          <a:solidFill>
                            <a:srgbClr val="000000"/>
                          </a:solidFill>
                          <a:effectLst/>
                          <a:latin typeface="+mn-lt"/>
                        </a:rPr>
                        <a:t>750.00</a:t>
                      </a:r>
                    </a:p>
                  </a:txBody>
                  <a:tcPr marL="7620" marR="7620" marT="7620" marB="0" anchor="ctr"/>
                </a:tc>
                <a:tc>
                  <a:txBody>
                    <a:bodyPr/>
                    <a:lstStyle/>
                    <a:p>
                      <a:pPr algn="ctr" fontAlgn="b"/>
                      <a:r>
                        <a:rPr lang="en-IN" sz="1100" b="0" i="0" u="none" strike="noStrike" dirty="0">
                          <a:solidFill>
                            <a:srgbClr val="000000"/>
                          </a:solidFill>
                          <a:effectLst/>
                          <a:latin typeface="+mn-lt"/>
                        </a:rPr>
                        <a:t>800.00</a:t>
                      </a:r>
                    </a:p>
                  </a:txBody>
                  <a:tcPr marL="7620" marR="7620" marT="7620" marB="0" anchor="ctr"/>
                </a:tc>
                <a:extLst>
                  <a:ext uri="{0D108BD9-81ED-4DB2-BD59-A6C34878D82A}">
                    <a16:rowId xmlns:a16="http://schemas.microsoft.com/office/drawing/2014/main" val="1463095216"/>
                  </a:ext>
                </a:extLst>
              </a:tr>
              <a:tr h="557241">
                <a:tc>
                  <a:txBody>
                    <a:bodyPr/>
                    <a:lstStyle/>
                    <a:p>
                      <a:pPr marL="11430" algn="l" defTabSz="990571" rtl="0" eaLnBrk="1" latinLnBrk="0" hangingPunct="1">
                        <a:lnSpc>
                          <a:spcPct val="107000"/>
                        </a:lnSpc>
                        <a:spcAft>
                          <a:spcPts val="0"/>
                        </a:spcAft>
                      </a:pPr>
                      <a:r>
                        <a:rPr lang="en-US" sz="1100" b="1" kern="1200" dirty="0">
                          <a:solidFill>
                            <a:schemeClr val="dk1"/>
                          </a:solidFill>
                          <a:effectLst/>
                          <a:latin typeface="+mn-lt"/>
                          <a:ea typeface="+mn-ea"/>
                          <a:cs typeface="+mn-cs"/>
                        </a:rPr>
                        <a:t>01.07.2019</a:t>
                      </a:r>
                      <a:endParaRPr lang="en-IN" sz="1100" b="1" kern="1200" dirty="0">
                        <a:solidFill>
                          <a:schemeClr val="dk1"/>
                        </a:solidFill>
                        <a:effectLst/>
                        <a:latin typeface="+mn-lt"/>
                        <a:ea typeface="+mn-ea"/>
                        <a:cs typeface="+mn-cs"/>
                      </a:endParaRPr>
                    </a:p>
                  </a:txBody>
                  <a:tcPr marL="9146" marR="0" marT="21595" marB="0" anchor="ctr">
                    <a:lnL w="12700" cap="flat" cmpd="sng" algn="ctr">
                      <a:solidFill>
                        <a:schemeClr val="accent5"/>
                      </a:solidFill>
                      <a:prstDash val="solid"/>
                      <a:round/>
                      <a:headEnd type="none" w="med" len="med"/>
                      <a:tailEnd type="none" w="med" len="med"/>
                    </a:lnL>
                    <a:lnB w="12700" cap="flat" cmpd="sng" algn="ctr">
                      <a:solidFill>
                        <a:schemeClr val="accent5"/>
                      </a:solidFill>
                      <a:prstDash val="solid"/>
                      <a:round/>
                      <a:headEnd type="none" w="med" len="med"/>
                      <a:tailEnd type="none" w="med" len="med"/>
                    </a:lnB>
                  </a:tcPr>
                </a:tc>
                <a:tc>
                  <a:txBody>
                    <a:bodyPr/>
                    <a:lstStyle/>
                    <a:p>
                      <a:pPr algn="ctr" fontAlgn="b"/>
                      <a:r>
                        <a:rPr lang="en-IN" sz="1100" b="0" i="0" u="none" strike="noStrike" dirty="0">
                          <a:solidFill>
                            <a:srgbClr val="000000"/>
                          </a:solidFill>
                          <a:effectLst/>
                          <a:latin typeface="+mn-lt"/>
                        </a:rPr>
                        <a:t>4.45</a:t>
                      </a:r>
                    </a:p>
                  </a:txBody>
                  <a:tcPr marL="7620" marR="7620" marT="7620" marB="0" anchor="ctr">
                    <a:lnB w="12700" cap="flat" cmpd="sng" algn="ctr">
                      <a:solidFill>
                        <a:schemeClr val="accent5"/>
                      </a:solidFill>
                      <a:prstDash val="solid"/>
                      <a:round/>
                      <a:headEnd type="none" w="med" len="med"/>
                      <a:tailEnd type="none" w="med" len="med"/>
                    </a:lnB>
                  </a:tcPr>
                </a:tc>
                <a:tc>
                  <a:txBody>
                    <a:bodyPr/>
                    <a:lstStyle/>
                    <a:p>
                      <a:pPr algn="ctr" fontAlgn="b"/>
                      <a:r>
                        <a:rPr lang="en-IN" sz="1100" b="0" i="0" u="none" strike="noStrike" dirty="0">
                          <a:solidFill>
                            <a:srgbClr val="000000"/>
                          </a:solidFill>
                          <a:effectLst/>
                          <a:latin typeface="+mn-lt"/>
                        </a:rPr>
                        <a:t>4.45</a:t>
                      </a:r>
                    </a:p>
                  </a:txBody>
                  <a:tcPr marL="7620" marR="7620" marT="7620" marB="0" anchor="ctr">
                    <a:lnB w="12700" cap="flat" cmpd="sng" algn="ctr">
                      <a:solidFill>
                        <a:schemeClr val="accent5"/>
                      </a:solidFill>
                      <a:prstDash val="solid"/>
                      <a:round/>
                      <a:headEnd type="none" w="med" len="med"/>
                      <a:tailEnd type="none" w="med" len="med"/>
                    </a:lnB>
                  </a:tcPr>
                </a:tc>
                <a:tc>
                  <a:txBody>
                    <a:bodyPr/>
                    <a:lstStyle/>
                    <a:p>
                      <a:pPr algn="ctr" fontAlgn="b"/>
                      <a:r>
                        <a:rPr lang="en-IN" sz="1100" b="0" i="0" u="none" strike="noStrike" dirty="0">
                          <a:solidFill>
                            <a:srgbClr val="000000"/>
                          </a:solidFill>
                          <a:effectLst/>
                          <a:latin typeface="+mn-lt"/>
                        </a:rPr>
                        <a:t>10.7</a:t>
                      </a:r>
                    </a:p>
                  </a:txBody>
                  <a:tcPr marL="7620" marR="7620" marT="7620" marB="0" anchor="ctr">
                    <a:lnB w="12700" cap="flat" cmpd="sng" algn="ctr">
                      <a:solidFill>
                        <a:schemeClr val="accent5"/>
                      </a:solidFill>
                      <a:prstDash val="solid"/>
                      <a:round/>
                      <a:headEnd type="none" w="med" len="med"/>
                      <a:tailEnd type="none" w="med" len="med"/>
                    </a:lnB>
                  </a:tcPr>
                </a:tc>
                <a:tc>
                  <a:txBody>
                    <a:bodyPr/>
                    <a:lstStyle/>
                    <a:p>
                      <a:pPr algn="ctr" fontAlgn="b"/>
                      <a:r>
                        <a:rPr lang="en-IN" sz="1100" b="0" i="0" u="none" strike="noStrike" dirty="0">
                          <a:solidFill>
                            <a:srgbClr val="000000"/>
                          </a:solidFill>
                          <a:effectLst/>
                          <a:latin typeface="+mn-lt"/>
                        </a:rPr>
                        <a:t>23 / 17.04</a:t>
                      </a:r>
                      <a:r>
                        <a:rPr lang="en-IN" sz="1100" b="0" i="0" u="none" strike="noStrike" baseline="30000" dirty="0">
                          <a:solidFill>
                            <a:srgbClr val="000000"/>
                          </a:solidFill>
                          <a:effectLst/>
                          <a:latin typeface="+mn-lt"/>
                        </a:rPr>
                        <a:t>1</a:t>
                      </a:r>
                      <a:endParaRPr lang="en-IN" sz="1100" b="0" i="0" u="none" strike="noStrike" dirty="0">
                        <a:solidFill>
                          <a:srgbClr val="000000"/>
                        </a:solidFill>
                        <a:effectLst/>
                        <a:latin typeface="+mn-lt"/>
                      </a:endParaRPr>
                    </a:p>
                  </a:txBody>
                  <a:tcPr marL="7620" marR="7620" marT="7620" marB="0" anchor="ctr">
                    <a:lnB w="12700" cap="flat" cmpd="sng" algn="ctr">
                      <a:solidFill>
                        <a:schemeClr val="accent5"/>
                      </a:solidFill>
                      <a:prstDash val="solid"/>
                      <a:round/>
                      <a:headEnd type="none" w="med" len="med"/>
                      <a:tailEnd type="none" w="med" len="med"/>
                    </a:lnB>
                  </a:tcPr>
                </a:tc>
                <a:tc>
                  <a:txBody>
                    <a:bodyPr/>
                    <a:lstStyle/>
                    <a:p>
                      <a:pPr algn="ctr" fontAlgn="b"/>
                      <a:r>
                        <a:rPr lang="en-IN" sz="1100" b="0" i="0" u="none" strike="noStrike" dirty="0">
                          <a:solidFill>
                            <a:srgbClr val="000000"/>
                          </a:solidFill>
                          <a:effectLst/>
                          <a:latin typeface="+mn-lt"/>
                        </a:rPr>
                        <a:t>10.7</a:t>
                      </a:r>
                    </a:p>
                  </a:txBody>
                  <a:tcPr marL="7620" marR="7620" marT="7620" marB="0" anchor="ctr">
                    <a:lnB w="12700" cap="flat" cmpd="sng" algn="ctr">
                      <a:solidFill>
                        <a:schemeClr val="accent5"/>
                      </a:solidFill>
                      <a:prstDash val="solid"/>
                      <a:round/>
                      <a:headEnd type="none" w="med" len="med"/>
                      <a:tailEnd type="none" w="med" len="med"/>
                    </a:lnB>
                  </a:tcPr>
                </a:tc>
                <a:tc>
                  <a:txBody>
                    <a:bodyPr/>
                    <a:lstStyle/>
                    <a:p>
                      <a:pPr algn="ctr" fontAlgn="b"/>
                      <a:r>
                        <a:rPr lang="en-IN" sz="1100" b="0" i="0" u="none" strike="noStrike" dirty="0">
                          <a:solidFill>
                            <a:srgbClr val="000000"/>
                          </a:solidFill>
                          <a:effectLst/>
                          <a:latin typeface="+mn-lt"/>
                        </a:rPr>
                        <a:t>13.85</a:t>
                      </a:r>
                    </a:p>
                  </a:txBody>
                  <a:tcPr marL="7620" marR="7620" marT="7620" marB="0" anchor="ctr">
                    <a:lnB w="12700" cap="flat" cmpd="sng" algn="ctr">
                      <a:solidFill>
                        <a:schemeClr val="accent5"/>
                      </a:solidFill>
                      <a:prstDash val="solid"/>
                      <a:round/>
                      <a:headEnd type="none" w="med" len="med"/>
                      <a:tailEnd type="none" w="med" len="med"/>
                    </a:lnB>
                  </a:tcPr>
                </a:tc>
                <a:tc>
                  <a:txBody>
                    <a:bodyPr/>
                    <a:lstStyle/>
                    <a:p>
                      <a:pPr algn="ctr" fontAlgn="b"/>
                      <a:r>
                        <a:rPr lang="en-IN" sz="1100" b="0" i="0" u="none" strike="noStrike" dirty="0">
                          <a:solidFill>
                            <a:srgbClr val="000000"/>
                          </a:solidFill>
                          <a:effectLst/>
                          <a:latin typeface="+mn-lt"/>
                        </a:rPr>
                        <a:t>12.6</a:t>
                      </a:r>
                    </a:p>
                  </a:txBody>
                  <a:tcPr marL="7620" marR="7620" marT="7620" marB="0" anchor="ctr">
                    <a:lnB w="12700" cap="flat" cmpd="sng" algn="ctr">
                      <a:solidFill>
                        <a:schemeClr val="accent5"/>
                      </a:solidFill>
                      <a:prstDash val="solid"/>
                      <a:round/>
                      <a:headEnd type="none" w="med" len="med"/>
                      <a:tailEnd type="none" w="med" len="med"/>
                    </a:lnB>
                  </a:tcPr>
                </a:tc>
                <a:tc>
                  <a:txBody>
                    <a:bodyPr/>
                    <a:lstStyle/>
                    <a:p>
                      <a:pPr algn="ctr" fontAlgn="b"/>
                      <a:r>
                        <a:rPr lang="en-IN" sz="1100" b="0" i="0" u="none" strike="noStrike" dirty="0">
                          <a:solidFill>
                            <a:srgbClr val="000000"/>
                          </a:solidFill>
                          <a:effectLst/>
                          <a:latin typeface="+mn-lt"/>
                        </a:rPr>
                        <a:t>925.00</a:t>
                      </a:r>
                    </a:p>
                  </a:txBody>
                  <a:tcPr marL="7620" marR="7620" marT="7620" marB="0" anchor="ctr">
                    <a:lnB w="12700" cap="flat" cmpd="sng" algn="ctr">
                      <a:solidFill>
                        <a:schemeClr val="accent5"/>
                      </a:solidFill>
                      <a:prstDash val="solid"/>
                      <a:round/>
                      <a:headEnd type="none" w="med" len="med"/>
                      <a:tailEnd type="none" w="med" len="med"/>
                    </a:lnB>
                  </a:tcPr>
                </a:tc>
                <a:tc>
                  <a:txBody>
                    <a:bodyPr/>
                    <a:lstStyle/>
                    <a:p>
                      <a:pPr algn="ctr" fontAlgn="b"/>
                      <a:r>
                        <a:rPr lang="en-IN" sz="1100" b="0" i="0" u="none" strike="noStrike" dirty="0">
                          <a:solidFill>
                            <a:srgbClr val="000000"/>
                          </a:solidFill>
                          <a:effectLst/>
                          <a:latin typeface="+mn-lt"/>
                        </a:rPr>
                        <a:t>975.00</a:t>
                      </a:r>
                    </a:p>
                  </a:txBody>
                  <a:tcPr marL="7620" marR="7620" marT="7620" marB="0" anchor="ctr">
                    <a:lnR w="12700" cap="flat" cmpd="sng" algn="ctr">
                      <a:solidFill>
                        <a:schemeClr val="accent5"/>
                      </a:solidFill>
                      <a:prstDash val="solid"/>
                      <a:round/>
                      <a:headEnd type="none" w="med" len="med"/>
                      <a:tailEnd type="none" w="med" len="med"/>
                    </a:lnR>
                    <a:lnB w="12700" cap="flat" cmpd="sng" algn="ctr">
                      <a:solidFill>
                        <a:schemeClr val="accent5"/>
                      </a:solidFill>
                      <a:prstDash val="solid"/>
                      <a:round/>
                      <a:headEnd type="none" w="med" len="med"/>
                      <a:tailEnd type="none" w="med" len="med"/>
                    </a:lnB>
                  </a:tcPr>
                </a:tc>
                <a:extLst>
                  <a:ext uri="{0D108BD9-81ED-4DB2-BD59-A6C34878D82A}">
                    <a16:rowId xmlns:a16="http://schemas.microsoft.com/office/drawing/2014/main" val="1257150670"/>
                  </a:ext>
                </a:extLst>
              </a:tr>
            </a:tbl>
          </a:graphicData>
        </a:graphic>
      </p:graphicFrame>
      <p:sp>
        <p:nvSpPr>
          <p:cNvPr id="6" name="Title 1"/>
          <p:cNvSpPr>
            <a:spLocks noGrp="1"/>
          </p:cNvSpPr>
          <p:nvPr>
            <p:ph type="title"/>
          </p:nvPr>
        </p:nvSpPr>
        <p:spPr>
          <a:xfrm>
            <a:off x="449264" y="647700"/>
            <a:ext cx="9791700" cy="431800"/>
          </a:xfrm>
        </p:spPr>
        <p:txBody>
          <a:bodyPr/>
          <a:lstStyle/>
          <a:p>
            <a:r>
              <a:rPr lang="en-US" dirty="0"/>
              <a:t>Annexure A | Natural Gas Tariff History in Bangladesh</a:t>
            </a:r>
            <a:endParaRPr lang="en-IN" dirty="0"/>
          </a:p>
        </p:txBody>
      </p:sp>
      <p:sp>
        <p:nvSpPr>
          <p:cNvPr id="7"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noProof="0" dirty="0">
                <a:solidFill>
                  <a:prstClr val="black">
                    <a:lumMod val="50000"/>
                    <a:lumOff val="50000"/>
                  </a:prstClr>
                </a:solidFill>
                <a:latin typeface="Verdana" panose="020B0604030504040204" pitchFamily="34" charset="0"/>
              </a:rPr>
              <a:t>In the last 10 years, BERC has raised the natural gas prices 6 times for various consumer categories </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8" name="Table 7"/>
          <p:cNvGraphicFramePr>
            <a:graphicFrameLocks noGrp="1"/>
          </p:cNvGraphicFramePr>
          <p:nvPr>
            <p:custDataLst>
              <p:tags r:id="rId3"/>
            </p:custDataLst>
            <p:extLst>
              <p:ext uri="{D42A27DB-BD31-4B8C-83A1-F6EECF244321}">
                <p14:modId xmlns:p14="http://schemas.microsoft.com/office/powerpoint/2010/main" val="558409159"/>
              </p:ext>
            </p:extLst>
          </p:nvPr>
        </p:nvGraphicFramePr>
        <p:xfrm>
          <a:off x="449993" y="1961919"/>
          <a:ext cx="9790972" cy="306118"/>
        </p:xfrm>
        <a:graphic>
          <a:graphicData uri="http://schemas.openxmlformats.org/drawingml/2006/table">
            <a:tbl>
              <a:tblPr firstRow="1" bandRow="1">
                <a:tableStyleId>{5C22544A-7EE6-4342-B048-85BDC9FD1C3A}</a:tableStyleId>
              </a:tblPr>
              <a:tblGrid>
                <a:gridCol w="9790972">
                  <a:extLst>
                    <a:ext uri="{9D8B030D-6E8A-4147-A177-3AD203B41FA5}">
                      <a16:colId xmlns:a16="http://schemas.microsoft.com/office/drawing/2014/main" val="20000"/>
                    </a:ext>
                  </a:extLst>
                </a:gridCol>
              </a:tblGrid>
              <a:tr h="0">
                <a:tc>
                  <a:txBody>
                    <a:bodyPr/>
                    <a:lstStyle/>
                    <a:p>
                      <a:pPr marL="0" indent="0">
                        <a:spcAft>
                          <a:spcPts val="500"/>
                        </a:spcAft>
                        <a:buFont typeface="Arial" panose="020B0604020202020204" pitchFamily="34" charset="0"/>
                        <a:buNone/>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
        <p:nvSpPr>
          <p:cNvPr id="9" name="Rectangle 8"/>
          <p:cNvSpPr/>
          <p:nvPr/>
        </p:nvSpPr>
        <p:spPr bwMode="gray">
          <a:xfrm>
            <a:off x="8526780" y="2077208"/>
            <a:ext cx="1794194" cy="285750"/>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t>Figures in Taka / SCM</a:t>
            </a:r>
            <a:endParaRPr lang="en-IN" sz="1000" b="1" dirty="0"/>
          </a:p>
        </p:txBody>
      </p:sp>
      <p:sp>
        <p:nvSpPr>
          <p:cNvPr id="11" name="Rectangle 10"/>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BERC, Petrobangla, Industry Reports, Deloitte Analysis; Note 1) The Commercial Tariff for Hotels &amp; Restaurants is BDT 23 / cum whereas for small cottage industries is BDT 17.04 / cum</a:t>
            </a:r>
          </a:p>
        </p:txBody>
      </p:sp>
    </p:spTree>
    <p:extLst>
      <p:ext uri="{BB962C8B-B14F-4D97-AF65-F5344CB8AC3E}">
        <p14:creationId xmlns:p14="http://schemas.microsoft.com/office/powerpoint/2010/main" val="2814677419"/>
      </p:ext>
    </p:extLst>
  </p:cSld>
  <p:clrMapOvr>
    <a:masterClrMapping/>
  </p:clrMapOvr>
  <p:transition>
    <p:fade/>
  </p:transition>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115532973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3" name="Object 2"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10" name="Rectangle 9"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5" name="Table 4"/>
          <p:cNvGraphicFramePr>
            <a:graphicFrameLocks noGrp="1"/>
          </p:cNvGraphicFramePr>
          <p:nvPr>
            <p:extLst>
              <p:ext uri="{D42A27DB-BD31-4B8C-83A1-F6EECF244321}">
                <p14:modId xmlns:p14="http://schemas.microsoft.com/office/powerpoint/2010/main" val="1254874719"/>
              </p:ext>
            </p:extLst>
          </p:nvPr>
        </p:nvGraphicFramePr>
        <p:xfrm>
          <a:off x="449264" y="2286428"/>
          <a:ext cx="9791699" cy="4802859"/>
        </p:xfrm>
        <a:graphic>
          <a:graphicData uri="http://schemas.openxmlformats.org/drawingml/2006/table">
            <a:tbl>
              <a:tblPr firstRow="1" firstCol="1" bandRow="1">
                <a:tableStyleId>{FABFCF23-3B69-468F-B69F-88F6DE6A72F2}</a:tableStyleId>
              </a:tblPr>
              <a:tblGrid>
                <a:gridCol w="1372229">
                  <a:extLst>
                    <a:ext uri="{9D8B030D-6E8A-4147-A177-3AD203B41FA5}">
                      <a16:colId xmlns:a16="http://schemas.microsoft.com/office/drawing/2014/main" val="3304318141"/>
                    </a:ext>
                  </a:extLst>
                </a:gridCol>
                <a:gridCol w="898847">
                  <a:extLst>
                    <a:ext uri="{9D8B030D-6E8A-4147-A177-3AD203B41FA5}">
                      <a16:colId xmlns:a16="http://schemas.microsoft.com/office/drawing/2014/main" val="1913242649"/>
                    </a:ext>
                  </a:extLst>
                </a:gridCol>
                <a:gridCol w="1040130">
                  <a:extLst>
                    <a:ext uri="{9D8B030D-6E8A-4147-A177-3AD203B41FA5}">
                      <a16:colId xmlns:a16="http://schemas.microsoft.com/office/drawing/2014/main" val="2771522417"/>
                    </a:ext>
                  </a:extLst>
                </a:gridCol>
                <a:gridCol w="1303020">
                  <a:extLst>
                    <a:ext uri="{9D8B030D-6E8A-4147-A177-3AD203B41FA5}">
                      <a16:colId xmlns:a16="http://schemas.microsoft.com/office/drawing/2014/main" val="315606993"/>
                    </a:ext>
                  </a:extLst>
                </a:gridCol>
                <a:gridCol w="1096828">
                  <a:extLst>
                    <a:ext uri="{9D8B030D-6E8A-4147-A177-3AD203B41FA5}">
                      <a16:colId xmlns:a16="http://schemas.microsoft.com/office/drawing/2014/main" val="2454619672"/>
                    </a:ext>
                  </a:extLst>
                </a:gridCol>
                <a:gridCol w="1154882">
                  <a:extLst>
                    <a:ext uri="{9D8B030D-6E8A-4147-A177-3AD203B41FA5}">
                      <a16:colId xmlns:a16="http://schemas.microsoft.com/office/drawing/2014/main" val="1643548640"/>
                    </a:ext>
                  </a:extLst>
                </a:gridCol>
                <a:gridCol w="1120140">
                  <a:extLst>
                    <a:ext uri="{9D8B030D-6E8A-4147-A177-3AD203B41FA5}">
                      <a16:colId xmlns:a16="http://schemas.microsoft.com/office/drawing/2014/main" val="3821387843"/>
                    </a:ext>
                  </a:extLst>
                </a:gridCol>
                <a:gridCol w="772902">
                  <a:extLst>
                    <a:ext uri="{9D8B030D-6E8A-4147-A177-3AD203B41FA5}">
                      <a16:colId xmlns:a16="http://schemas.microsoft.com/office/drawing/2014/main" val="3506457710"/>
                    </a:ext>
                  </a:extLst>
                </a:gridCol>
                <a:gridCol w="1032721">
                  <a:extLst>
                    <a:ext uri="{9D8B030D-6E8A-4147-A177-3AD203B41FA5}">
                      <a16:colId xmlns:a16="http://schemas.microsoft.com/office/drawing/2014/main" val="98359406"/>
                    </a:ext>
                  </a:extLst>
                </a:gridCol>
              </a:tblGrid>
              <a:tr h="559224">
                <a:tc>
                  <a:txBody>
                    <a:bodyPr/>
                    <a:lstStyle/>
                    <a:p>
                      <a:pPr marL="11430" algn="ctr">
                        <a:lnSpc>
                          <a:spcPct val="107000"/>
                        </a:lnSpc>
                        <a:spcAft>
                          <a:spcPts val="0"/>
                        </a:spcAft>
                      </a:pPr>
                      <a:r>
                        <a:rPr lang="en-US" sz="1100" dirty="0">
                          <a:solidFill>
                            <a:schemeClr val="lt1"/>
                          </a:solidFill>
                          <a:effectLst/>
                          <a:latin typeface="+mn-lt"/>
                          <a:ea typeface="+mn-ea"/>
                          <a:cs typeface="+mn-cs"/>
                        </a:rPr>
                        <a:t>Particulars</a:t>
                      </a:r>
                      <a:endParaRPr lang="en-IN" sz="11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endParaRPr>
                    </a:p>
                  </a:txBody>
                  <a:tcPr marL="9146" marR="0" marT="21595" marB="0" anchor="ctr"/>
                </a:tc>
                <a:tc>
                  <a:txBody>
                    <a:bodyPr/>
                    <a:lstStyle/>
                    <a:p>
                      <a:pPr algn="ctr" fontAlgn="b"/>
                      <a:r>
                        <a:rPr lang="en-IN" sz="1100" b="1" i="0" u="none" strike="noStrike" dirty="0">
                          <a:solidFill>
                            <a:schemeClr val="bg1"/>
                          </a:solidFill>
                          <a:effectLst/>
                          <a:latin typeface="+mn-lt"/>
                        </a:rPr>
                        <a:t>Production</a:t>
                      </a:r>
                      <a:r>
                        <a:rPr lang="en-IN" sz="1100" b="1" i="0" u="none" strike="noStrike" baseline="0" dirty="0">
                          <a:solidFill>
                            <a:schemeClr val="bg1"/>
                          </a:solidFill>
                          <a:effectLst/>
                          <a:latin typeface="+mn-lt"/>
                        </a:rPr>
                        <a:t> Charge</a:t>
                      </a:r>
                      <a:endParaRPr lang="en-IN" sz="1100" b="1" i="0" u="none" strike="noStrike" dirty="0">
                        <a:solidFill>
                          <a:schemeClr val="bg1"/>
                        </a:solidFill>
                        <a:effectLst/>
                        <a:latin typeface="+mn-lt"/>
                      </a:endParaRPr>
                    </a:p>
                  </a:txBody>
                  <a:tcPr marL="7620" marR="7620" marT="7620" marB="0" anchor="ctr"/>
                </a:tc>
                <a:tc>
                  <a:txBody>
                    <a:bodyPr/>
                    <a:lstStyle/>
                    <a:p>
                      <a:pPr algn="ctr" fontAlgn="b"/>
                      <a:r>
                        <a:rPr lang="en-IN" sz="1100" b="1" i="0" u="none" strike="noStrike" dirty="0">
                          <a:solidFill>
                            <a:schemeClr val="bg1"/>
                          </a:solidFill>
                          <a:effectLst/>
                          <a:latin typeface="+mn-lt"/>
                        </a:rPr>
                        <a:t>LNG Charge</a:t>
                      </a:r>
                    </a:p>
                  </a:txBody>
                  <a:tcPr marL="7620" marR="7620" marT="7620" marB="0" anchor="ctr"/>
                </a:tc>
                <a:tc>
                  <a:txBody>
                    <a:bodyPr/>
                    <a:lstStyle/>
                    <a:p>
                      <a:pPr algn="ctr" fontAlgn="b"/>
                      <a:r>
                        <a:rPr lang="en-IN" sz="1100" b="1" i="0" u="none" strike="noStrike" dirty="0">
                          <a:solidFill>
                            <a:schemeClr val="bg1"/>
                          </a:solidFill>
                          <a:effectLst/>
                          <a:latin typeface="+mn-lt"/>
                        </a:rPr>
                        <a:t>Gas Development Fund</a:t>
                      </a:r>
                    </a:p>
                  </a:txBody>
                  <a:tcPr marL="7620" marR="7620" marT="7620" marB="0" anchor="ctr"/>
                </a:tc>
                <a:tc>
                  <a:txBody>
                    <a:bodyPr/>
                    <a:lstStyle/>
                    <a:p>
                      <a:pPr algn="ctr" fontAlgn="b"/>
                      <a:r>
                        <a:rPr lang="en-IN" sz="1100" b="1" i="0" u="none" strike="noStrike" dirty="0">
                          <a:solidFill>
                            <a:schemeClr val="bg1"/>
                          </a:solidFill>
                          <a:effectLst/>
                          <a:latin typeface="+mn-lt"/>
                        </a:rPr>
                        <a:t>Fuel Security Fund</a:t>
                      </a:r>
                    </a:p>
                  </a:txBody>
                  <a:tcPr marL="7620" marR="7620" marT="7620" marB="0" anchor="ctr"/>
                </a:tc>
                <a:tc>
                  <a:txBody>
                    <a:bodyPr/>
                    <a:lstStyle/>
                    <a:p>
                      <a:pPr algn="ctr" fontAlgn="b"/>
                      <a:r>
                        <a:rPr lang="en-IN" sz="1100" b="1" i="0" u="none" strike="noStrike" dirty="0">
                          <a:solidFill>
                            <a:schemeClr val="bg1"/>
                          </a:solidFill>
                          <a:effectLst/>
                          <a:latin typeface="+mn-lt"/>
                        </a:rPr>
                        <a:t>Transmission Charge</a:t>
                      </a:r>
                    </a:p>
                  </a:txBody>
                  <a:tcPr marL="7620" marR="7620" marT="7620" marB="0" anchor="ctr"/>
                </a:tc>
                <a:tc>
                  <a:txBody>
                    <a:bodyPr/>
                    <a:lstStyle/>
                    <a:p>
                      <a:pPr algn="ctr" fontAlgn="b"/>
                      <a:r>
                        <a:rPr lang="en-IN" sz="1100" b="1" i="0" u="none" strike="noStrike" dirty="0">
                          <a:solidFill>
                            <a:schemeClr val="bg1"/>
                          </a:solidFill>
                          <a:effectLst/>
                          <a:latin typeface="+mn-lt"/>
                        </a:rPr>
                        <a:t>Distribution Charge</a:t>
                      </a:r>
                    </a:p>
                  </a:txBody>
                  <a:tcPr marL="7620" marR="7620" marT="7620" marB="0" anchor="ctr"/>
                </a:tc>
                <a:tc>
                  <a:txBody>
                    <a:bodyPr/>
                    <a:lstStyle/>
                    <a:p>
                      <a:pPr algn="ctr" fontAlgn="b"/>
                      <a:r>
                        <a:rPr lang="en-IN" sz="1100" b="1" i="0" u="none" strike="noStrike" dirty="0">
                          <a:solidFill>
                            <a:schemeClr val="bg1"/>
                          </a:solidFill>
                          <a:effectLst/>
                          <a:latin typeface="+mn-lt"/>
                        </a:rPr>
                        <a:t>VAT</a:t>
                      </a:r>
                    </a:p>
                  </a:txBody>
                  <a:tcPr marL="7620" marR="7620" marT="7620" marB="0" anchor="ctr"/>
                </a:tc>
                <a:tc>
                  <a:txBody>
                    <a:bodyPr/>
                    <a:lstStyle/>
                    <a:p>
                      <a:pPr algn="ctr" fontAlgn="b"/>
                      <a:r>
                        <a:rPr lang="en-IN" sz="1100" b="1" i="0" u="none" strike="noStrike" dirty="0">
                          <a:solidFill>
                            <a:schemeClr val="bg1"/>
                          </a:solidFill>
                          <a:effectLst/>
                          <a:latin typeface="+mn-lt"/>
                        </a:rPr>
                        <a:t>End Consumer Price</a:t>
                      </a:r>
                    </a:p>
                  </a:txBody>
                  <a:tcPr marL="7620" marR="7620" marT="7620" marB="0" anchor="ctr"/>
                </a:tc>
                <a:extLst>
                  <a:ext uri="{0D108BD9-81ED-4DB2-BD59-A6C34878D82A}">
                    <a16:rowId xmlns:a16="http://schemas.microsoft.com/office/drawing/2014/main" val="4180892744"/>
                  </a:ext>
                </a:extLst>
              </a:tr>
              <a:tr h="521127">
                <a:tc>
                  <a:txBody>
                    <a:bodyPr/>
                    <a:lstStyle/>
                    <a:p>
                      <a:pPr marL="11430">
                        <a:lnSpc>
                          <a:spcPct val="107000"/>
                        </a:lnSpc>
                        <a:spcAft>
                          <a:spcPts val="0"/>
                        </a:spcAft>
                      </a:pPr>
                      <a:r>
                        <a:rPr lang="en-IN" sz="1100" dirty="0">
                          <a:effectLst/>
                        </a:rPr>
                        <a:t>Power Sector</a:t>
                      </a:r>
                      <a:endParaRPr lang="en-IN" sz="11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endParaRPr>
                    </a:p>
                  </a:txBody>
                  <a:tcPr marL="9146" marR="0" marT="21595" marB="0" anchor="ctr"/>
                </a:tc>
                <a:tc>
                  <a:txBody>
                    <a:bodyPr/>
                    <a:lstStyle/>
                    <a:p>
                      <a:pPr algn="ctr" rtl="0" fontAlgn="b"/>
                      <a:r>
                        <a:rPr lang="en-IN" sz="1100" b="0" i="0" u="none" strike="noStrike" dirty="0">
                          <a:solidFill>
                            <a:srgbClr val="000000"/>
                          </a:solidFill>
                          <a:effectLst/>
                          <a:latin typeface="Verdana" panose="020B0604030504040204" pitchFamily="34" charset="0"/>
                        </a:rPr>
                        <a:t>0.69</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2.15</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0.20</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0.19</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0.42</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0.25</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0.56</a:t>
                      </a:r>
                    </a:p>
                  </a:txBody>
                  <a:tcPr marL="7620" marR="7620" marT="7620" marB="0" anchor="ctr"/>
                </a:tc>
                <a:tc>
                  <a:txBody>
                    <a:bodyPr/>
                    <a:lstStyle/>
                    <a:p>
                      <a:pPr algn="ctr" fontAlgn="b"/>
                      <a:r>
                        <a:rPr lang="en-IN" sz="1100" b="0" i="0" u="none" strike="noStrike" dirty="0">
                          <a:solidFill>
                            <a:srgbClr val="000000"/>
                          </a:solidFill>
                          <a:effectLst/>
                          <a:latin typeface="+mn-lt"/>
                        </a:rPr>
                        <a:t>4.45</a:t>
                      </a:r>
                    </a:p>
                  </a:txBody>
                  <a:tcPr marL="7620" marR="7620" marT="7620" marB="0" anchor="ctr"/>
                </a:tc>
                <a:extLst>
                  <a:ext uri="{0D108BD9-81ED-4DB2-BD59-A6C34878D82A}">
                    <a16:rowId xmlns:a16="http://schemas.microsoft.com/office/drawing/2014/main" val="2573866667"/>
                  </a:ext>
                </a:extLst>
              </a:tr>
              <a:tr h="521127">
                <a:tc>
                  <a:txBody>
                    <a:bodyPr/>
                    <a:lstStyle/>
                    <a:p>
                      <a:pPr marL="11430">
                        <a:lnSpc>
                          <a:spcPct val="107000"/>
                        </a:lnSpc>
                        <a:spcAft>
                          <a:spcPts val="0"/>
                        </a:spcAft>
                      </a:pPr>
                      <a:r>
                        <a:rPr lang="en-IN" sz="1100" dirty="0">
                          <a:effectLst/>
                        </a:rPr>
                        <a:t>Captive Power</a:t>
                      </a:r>
                      <a:endParaRPr lang="en-IN" sz="11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endParaRPr>
                    </a:p>
                  </a:txBody>
                  <a:tcPr marL="9146" marR="0" marT="21595" marB="0" anchor="ctr"/>
                </a:tc>
                <a:tc>
                  <a:txBody>
                    <a:bodyPr/>
                    <a:lstStyle/>
                    <a:p>
                      <a:pPr algn="ctr" rtl="0" fontAlgn="b"/>
                      <a:r>
                        <a:rPr lang="en-IN" sz="1100" b="0" i="0" u="none" strike="noStrike" dirty="0">
                          <a:solidFill>
                            <a:srgbClr val="000000"/>
                          </a:solidFill>
                          <a:effectLst/>
                          <a:latin typeface="Verdana" panose="020B0604030504040204" pitchFamily="34" charset="0"/>
                        </a:rPr>
                        <a:t>2.13</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8.13</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0.61</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0.58</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0.42</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0.25</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1.73</a:t>
                      </a:r>
                    </a:p>
                  </a:txBody>
                  <a:tcPr marL="7620" marR="7620" marT="7620" marB="0" anchor="ctr"/>
                </a:tc>
                <a:tc>
                  <a:txBody>
                    <a:bodyPr/>
                    <a:lstStyle/>
                    <a:p>
                      <a:pPr algn="ctr" fontAlgn="b"/>
                      <a:r>
                        <a:rPr lang="en-IN" sz="1100" b="0" i="0" u="none" strike="noStrike" dirty="0">
                          <a:solidFill>
                            <a:srgbClr val="000000"/>
                          </a:solidFill>
                          <a:effectLst/>
                          <a:latin typeface="+mn-lt"/>
                        </a:rPr>
                        <a:t>13.85</a:t>
                      </a:r>
                    </a:p>
                  </a:txBody>
                  <a:tcPr marL="7620" marR="7620" marT="7620" marB="0" anchor="ctr"/>
                </a:tc>
                <a:extLst>
                  <a:ext uri="{0D108BD9-81ED-4DB2-BD59-A6C34878D82A}">
                    <a16:rowId xmlns:a16="http://schemas.microsoft.com/office/drawing/2014/main" val="1463095216"/>
                  </a:ext>
                </a:extLst>
              </a:tr>
              <a:tr h="521127">
                <a:tc>
                  <a:txBody>
                    <a:bodyPr/>
                    <a:lstStyle/>
                    <a:p>
                      <a:pPr marL="11430" algn="l" defTabSz="990571" rtl="0" eaLnBrk="1" latinLnBrk="0" hangingPunct="1">
                        <a:lnSpc>
                          <a:spcPct val="107000"/>
                        </a:lnSpc>
                        <a:spcAft>
                          <a:spcPts val="0"/>
                        </a:spcAft>
                      </a:pPr>
                      <a:r>
                        <a:rPr lang="en-US" sz="1100" b="1" kern="1200" dirty="0">
                          <a:solidFill>
                            <a:schemeClr val="dk1"/>
                          </a:solidFill>
                          <a:effectLst/>
                          <a:latin typeface="+mn-lt"/>
                          <a:ea typeface="+mn-ea"/>
                          <a:cs typeface="+mn-cs"/>
                        </a:rPr>
                        <a:t>Fertilizer</a:t>
                      </a:r>
                      <a:endParaRPr lang="en-IN" sz="1100" b="1" kern="1200" dirty="0">
                        <a:solidFill>
                          <a:schemeClr val="dk1"/>
                        </a:solidFill>
                        <a:effectLst/>
                        <a:latin typeface="+mn-lt"/>
                        <a:ea typeface="+mn-ea"/>
                        <a:cs typeface="+mn-cs"/>
                      </a:endParaRPr>
                    </a:p>
                  </a:txBody>
                  <a:tcPr marL="9146" marR="0" marT="21595" marB="0" anchor="ctr">
                    <a:lnL w="12700" cap="flat" cmpd="sng" algn="ctr">
                      <a:solidFill>
                        <a:schemeClr val="accent5"/>
                      </a:solidFill>
                      <a:prstDash val="solid"/>
                      <a:round/>
                      <a:headEnd type="none" w="med" len="med"/>
                      <a:tailEnd type="none" w="med" len="med"/>
                    </a:lnL>
                  </a:tcPr>
                </a:tc>
                <a:tc>
                  <a:txBody>
                    <a:bodyPr/>
                    <a:lstStyle/>
                    <a:p>
                      <a:pPr algn="ctr" rtl="0" fontAlgn="b"/>
                      <a:r>
                        <a:rPr lang="en-IN" sz="1100" b="0" i="0" u="none" strike="noStrike" dirty="0">
                          <a:solidFill>
                            <a:srgbClr val="000000"/>
                          </a:solidFill>
                          <a:effectLst/>
                          <a:latin typeface="Verdana" panose="020B0604030504040204" pitchFamily="34" charset="0"/>
                        </a:rPr>
                        <a:t>0.69</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2.15</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0.20</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0.19</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0.42</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0.25</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0.56</a:t>
                      </a:r>
                    </a:p>
                  </a:txBody>
                  <a:tcPr marL="7620" marR="7620" marT="7620" marB="0" anchor="ctr"/>
                </a:tc>
                <a:tc>
                  <a:txBody>
                    <a:bodyPr/>
                    <a:lstStyle/>
                    <a:p>
                      <a:pPr algn="ctr" fontAlgn="b"/>
                      <a:r>
                        <a:rPr lang="en-IN" sz="1100" b="0" i="0" u="none" strike="noStrike" dirty="0">
                          <a:solidFill>
                            <a:srgbClr val="000000"/>
                          </a:solidFill>
                          <a:effectLst/>
                          <a:latin typeface="+mn-lt"/>
                        </a:rPr>
                        <a:t>4.45</a:t>
                      </a:r>
                    </a:p>
                  </a:txBody>
                  <a:tcPr marL="7620" marR="7620" marT="7620" marB="0" anchor="ctr"/>
                </a:tc>
                <a:extLst>
                  <a:ext uri="{0D108BD9-81ED-4DB2-BD59-A6C34878D82A}">
                    <a16:rowId xmlns:a16="http://schemas.microsoft.com/office/drawing/2014/main" val="1257150670"/>
                  </a:ext>
                </a:extLst>
              </a:tr>
              <a:tr h="521127">
                <a:tc>
                  <a:txBody>
                    <a:bodyPr/>
                    <a:lstStyle/>
                    <a:p>
                      <a:pPr marL="11430" algn="l" defTabSz="990571" rtl="0" eaLnBrk="1" latinLnBrk="0" hangingPunct="1">
                        <a:lnSpc>
                          <a:spcPct val="107000"/>
                        </a:lnSpc>
                        <a:spcAft>
                          <a:spcPts val="0"/>
                        </a:spcAft>
                      </a:pPr>
                      <a:r>
                        <a:rPr lang="en-US" sz="1100" b="1" kern="1200" dirty="0">
                          <a:solidFill>
                            <a:schemeClr val="dk1"/>
                          </a:solidFill>
                          <a:effectLst/>
                          <a:latin typeface="+mn-lt"/>
                          <a:ea typeface="+mn-ea"/>
                          <a:cs typeface="+mn-cs"/>
                        </a:rPr>
                        <a:t>Industry</a:t>
                      </a:r>
                      <a:endParaRPr lang="en-IN" sz="1100" b="1" kern="1200" dirty="0">
                        <a:solidFill>
                          <a:schemeClr val="dk1"/>
                        </a:solidFill>
                        <a:effectLst/>
                        <a:latin typeface="+mn-lt"/>
                        <a:ea typeface="+mn-ea"/>
                        <a:cs typeface="+mn-cs"/>
                      </a:endParaRPr>
                    </a:p>
                  </a:txBody>
                  <a:tcPr marL="9146" marR="0" marT="21595" marB="0" anchor="ctr">
                    <a:lnL w="12700" cap="flat" cmpd="sng" algn="ctr">
                      <a:solidFill>
                        <a:schemeClr val="accent5"/>
                      </a:solidFill>
                      <a:prstDash val="solid"/>
                      <a:round/>
                      <a:headEnd type="none" w="med" len="med"/>
                      <a:tailEnd type="none" w="med" len="med"/>
                    </a:lnL>
                  </a:tcPr>
                </a:tc>
                <a:tc>
                  <a:txBody>
                    <a:bodyPr/>
                    <a:lstStyle/>
                    <a:p>
                      <a:pPr algn="ctr" rtl="0" fontAlgn="b"/>
                      <a:r>
                        <a:rPr lang="en-IN" sz="1100" b="0" i="0" u="none" strike="noStrike" dirty="0">
                          <a:solidFill>
                            <a:srgbClr val="000000"/>
                          </a:solidFill>
                          <a:effectLst/>
                          <a:latin typeface="Verdana" panose="020B0604030504040204" pitchFamily="34" charset="0"/>
                        </a:rPr>
                        <a:t>1.65</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6.13</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0.47</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0.45</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0.42</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0.25</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1.33</a:t>
                      </a:r>
                    </a:p>
                  </a:txBody>
                  <a:tcPr marL="7620" marR="7620" marT="7620" marB="0" anchor="ctr"/>
                </a:tc>
                <a:tc>
                  <a:txBody>
                    <a:bodyPr/>
                    <a:lstStyle/>
                    <a:p>
                      <a:pPr algn="ctr" fontAlgn="b"/>
                      <a:r>
                        <a:rPr lang="en-US" sz="1100" b="0" i="0" u="none" strike="noStrike" dirty="0">
                          <a:solidFill>
                            <a:srgbClr val="000000"/>
                          </a:solidFill>
                          <a:effectLst/>
                          <a:latin typeface="+mn-lt"/>
                        </a:rPr>
                        <a:t>10.70</a:t>
                      </a:r>
                      <a:endParaRPr lang="en-IN" sz="1100" b="0" i="0" u="none" strike="noStrike" dirty="0">
                        <a:solidFill>
                          <a:srgbClr val="000000"/>
                        </a:solidFill>
                        <a:effectLst/>
                        <a:latin typeface="+mn-lt"/>
                      </a:endParaRPr>
                    </a:p>
                  </a:txBody>
                  <a:tcPr marL="7620" marR="7620" marT="7620" marB="0" anchor="ctr"/>
                </a:tc>
                <a:extLst>
                  <a:ext uri="{0D108BD9-81ED-4DB2-BD59-A6C34878D82A}">
                    <a16:rowId xmlns:a16="http://schemas.microsoft.com/office/drawing/2014/main" val="1799334118"/>
                  </a:ext>
                </a:extLst>
              </a:tr>
              <a:tr h="521127">
                <a:tc>
                  <a:txBody>
                    <a:bodyPr/>
                    <a:lstStyle/>
                    <a:p>
                      <a:pPr marL="11430" algn="l" defTabSz="990571" rtl="0" eaLnBrk="1" latinLnBrk="0" hangingPunct="1">
                        <a:lnSpc>
                          <a:spcPct val="107000"/>
                        </a:lnSpc>
                        <a:spcAft>
                          <a:spcPts val="0"/>
                        </a:spcAft>
                      </a:pPr>
                      <a:r>
                        <a:rPr lang="en-US" sz="1100" b="1" kern="1200" dirty="0">
                          <a:solidFill>
                            <a:schemeClr val="dk1"/>
                          </a:solidFill>
                          <a:effectLst/>
                          <a:latin typeface="+mn-lt"/>
                          <a:ea typeface="+mn-ea"/>
                          <a:cs typeface="+mn-cs"/>
                        </a:rPr>
                        <a:t>Tea</a:t>
                      </a:r>
                      <a:r>
                        <a:rPr lang="en-US" sz="1100" b="1" kern="1200" baseline="0" dirty="0">
                          <a:solidFill>
                            <a:schemeClr val="dk1"/>
                          </a:solidFill>
                          <a:effectLst/>
                          <a:latin typeface="+mn-lt"/>
                          <a:ea typeface="+mn-ea"/>
                          <a:cs typeface="+mn-cs"/>
                        </a:rPr>
                        <a:t> Estate</a:t>
                      </a:r>
                      <a:endParaRPr lang="en-IN" sz="1100" b="1" kern="1200" dirty="0">
                        <a:solidFill>
                          <a:schemeClr val="dk1"/>
                        </a:solidFill>
                        <a:effectLst/>
                        <a:latin typeface="+mn-lt"/>
                        <a:ea typeface="+mn-ea"/>
                        <a:cs typeface="+mn-cs"/>
                      </a:endParaRPr>
                    </a:p>
                  </a:txBody>
                  <a:tcPr marL="9146" marR="0" marT="21595" marB="0" anchor="ctr">
                    <a:lnL w="12700" cap="flat" cmpd="sng" algn="ctr">
                      <a:solidFill>
                        <a:schemeClr val="accent5"/>
                      </a:solidFill>
                      <a:prstDash val="solid"/>
                      <a:round/>
                      <a:headEnd type="none" w="med" len="med"/>
                      <a:tailEnd type="none" w="med" len="med"/>
                    </a:lnL>
                  </a:tcPr>
                </a:tc>
                <a:tc>
                  <a:txBody>
                    <a:bodyPr/>
                    <a:lstStyle/>
                    <a:p>
                      <a:pPr algn="ctr" rtl="0" fontAlgn="b"/>
                      <a:r>
                        <a:rPr lang="en-IN" sz="1100" b="0" i="0" u="none" strike="noStrike" dirty="0">
                          <a:solidFill>
                            <a:srgbClr val="000000"/>
                          </a:solidFill>
                          <a:effectLst/>
                          <a:latin typeface="Verdana" panose="020B0604030504040204" pitchFamily="34" charset="0"/>
                        </a:rPr>
                        <a:t>1.65</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6.13</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0.47</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0.45</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0.42</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0.25</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1.33</a:t>
                      </a:r>
                    </a:p>
                  </a:txBody>
                  <a:tcPr marL="7620" marR="7620" marT="7620" marB="0" anchor="ctr"/>
                </a:tc>
                <a:tc>
                  <a:txBody>
                    <a:bodyPr/>
                    <a:lstStyle/>
                    <a:p>
                      <a:pPr algn="ctr" fontAlgn="b"/>
                      <a:r>
                        <a:rPr lang="en-US" sz="1100" b="0" i="0" u="none" strike="noStrike" dirty="0">
                          <a:solidFill>
                            <a:srgbClr val="000000"/>
                          </a:solidFill>
                          <a:effectLst/>
                          <a:latin typeface="+mn-lt"/>
                        </a:rPr>
                        <a:t>10.70</a:t>
                      </a:r>
                      <a:endParaRPr lang="en-IN" sz="1100" b="0" i="0" u="none" strike="noStrike" dirty="0">
                        <a:solidFill>
                          <a:srgbClr val="000000"/>
                        </a:solidFill>
                        <a:effectLst/>
                        <a:latin typeface="+mn-lt"/>
                      </a:endParaRPr>
                    </a:p>
                  </a:txBody>
                  <a:tcPr marL="7620" marR="7620" marT="7620" marB="0" anchor="ctr"/>
                </a:tc>
                <a:extLst>
                  <a:ext uri="{0D108BD9-81ED-4DB2-BD59-A6C34878D82A}">
                    <a16:rowId xmlns:a16="http://schemas.microsoft.com/office/drawing/2014/main" val="2055889501"/>
                  </a:ext>
                </a:extLst>
              </a:tr>
              <a:tr h="521127">
                <a:tc>
                  <a:txBody>
                    <a:bodyPr/>
                    <a:lstStyle/>
                    <a:p>
                      <a:pPr marL="11430" algn="l" defTabSz="990571" rtl="0" eaLnBrk="1" latinLnBrk="0" hangingPunct="1">
                        <a:lnSpc>
                          <a:spcPct val="107000"/>
                        </a:lnSpc>
                        <a:spcAft>
                          <a:spcPts val="0"/>
                        </a:spcAft>
                      </a:pPr>
                      <a:r>
                        <a:rPr lang="en-US" sz="1100" b="1" kern="1200" dirty="0">
                          <a:solidFill>
                            <a:schemeClr val="dk1"/>
                          </a:solidFill>
                          <a:effectLst/>
                          <a:latin typeface="+mn-lt"/>
                          <a:ea typeface="+mn-ea"/>
                          <a:cs typeface="+mn-cs"/>
                        </a:rPr>
                        <a:t>Commercial (Hotels)</a:t>
                      </a:r>
                      <a:endParaRPr lang="en-IN" sz="1100" b="1" kern="1200" dirty="0">
                        <a:solidFill>
                          <a:schemeClr val="dk1"/>
                        </a:solidFill>
                        <a:effectLst/>
                        <a:latin typeface="+mn-lt"/>
                        <a:ea typeface="+mn-ea"/>
                        <a:cs typeface="+mn-cs"/>
                      </a:endParaRPr>
                    </a:p>
                  </a:txBody>
                  <a:tcPr marL="9146" marR="0" marT="21595" marB="0" anchor="ctr">
                    <a:lnL w="12700" cap="flat" cmpd="sng" algn="ctr">
                      <a:solidFill>
                        <a:schemeClr val="accent5"/>
                      </a:solidFill>
                      <a:prstDash val="solid"/>
                      <a:round/>
                      <a:headEnd type="none" w="med" len="med"/>
                      <a:tailEnd type="none" w="med" len="med"/>
                    </a:lnL>
                  </a:tcPr>
                </a:tc>
                <a:tc>
                  <a:txBody>
                    <a:bodyPr/>
                    <a:lstStyle/>
                    <a:p>
                      <a:pPr algn="ctr" rtl="0" fontAlgn="b"/>
                      <a:r>
                        <a:rPr lang="en-IN" sz="1100" b="0" i="0" u="none" strike="noStrike" dirty="0">
                          <a:solidFill>
                            <a:srgbClr val="000000"/>
                          </a:solidFill>
                          <a:effectLst/>
                          <a:latin typeface="Verdana" panose="020B0604030504040204" pitchFamily="34" charset="0"/>
                        </a:rPr>
                        <a:t>3.54</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13.94</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1.01</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0.97</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0.42</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0.25</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2.87</a:t>
                      </a:r>
                    </a:p>
                  </a:txBody>
                  <a:tcPr marL="7620" marR="7620" marT="7620" marB="0" anchor="ctr"/>
                </a:tc>
                <a:tc>
                  <a:txBody>
                    <a:bodyPr/>
                    <a:lstStyle/>
                    <a:p>
                      <a:pPr algn="ctr" fontAlgn="b"/>
                      <a:r>
                        <a:rPr lang="en-US" sz="1100" b="0" i="0" u="none" strike="noStrike" dirty="0">
                          <a:solidFill>
                            <a:srgbClr val="000000"/>
                          </a:solidFill>
                          <a:effectLst/>
                          <a:latin typeface="+mn-lt"/>
                        </a:rPr>
                        <a:t>23.00</a:t>
                      </a:r>
                      <a:endParaRPr lang="en-IN" sz="1100" b="0" i="0" u="none" strike="noStrike" dirty="0">
                        <a:solidFill>
                          <a:srgbClr val="000000"/>
                        </a:solidFill>
                        <a:effectLst/>
                        <a:latin typeface="+mn-lt"/>
                      </a:endParaRPr>
                    </a:p>
                  </a:txBody>
                  <a:tcPr marL="7620" marR="7620" marT="7620" marB="0" anchor="ctr"/>
                </a:tc>
                <a:extLst>
                  <a:ext uri="{0D108BD9-81ED-4DB2-BD59-A6C34878D82A}">
                    <a16:rowId xmlns:a16="http://schemas.microsoft.com/office/drawing/2014/main" val="1930461153"/>
                  </a:ext>
                </a:extLst>
              </a:tr>
              <a:tr h="595746">
                <a:tc>
                  <a:txBody>
                    <a:bodyPr/>
                    <a:lstStyle/>
                    <a:p>
                      <a:pPr marL="11430" algn="l" defTabSz="990571" rtl="0" eaLnBrk="1" latinLnBrk="0" hangingPunct="1">
                        <a:lnSpc>
                          <a:spcPct val="107000"/>
                        </a:lnSpc>
                        <a:spcAft>
                          <a:spcPts val="0"/>
                        </a:spcAft>
                      </a:pPr>
                      <a:r>
                        <a:rPr lang="en-US" sz="1100" b="1" kern="1200" dirty="0">
                          <a:solidFill>
                            <a:schemeClr val="dk1"/>
                          </a:solidFill>
                          <a:effectLst/>
                          <a:latin typeface="+mn-lt"/>
                          <a:ea typeface="+mn-ea"/>
                          <a:cs typeface="+mn-cs"/>
                        </a:rPr>
                        <a:t>Commercial</a:t>
                      </a:r>
                      <a:r>
                        <a:rPr lang="en-US" sz="1100" b="1" kern="1200" baseline="0" dirty="0">
                          <a:solidFill>
                            <a:schemeClr val="dk1"/>
                          </a:solidFill>
                          <a:effectLst/>
                          <a:latin typeface="+mn-lt"/>
                          <a:ea typeface="+mn-ea"/>
                          <a:cs typeface="+mn-cs"/>
                        </a:rPr>
                        <a:t> (Small Cottage Industries)</a:t>
                      </a:r>
                      <a:endParaRPr lang="en-IN" sz="1100" b="1" kern="1200" dirty="0">
                        <a:solidFill>
                          <a:schemeClr val="dk1"/>
                        </a:solidFill>
                        <a:effectLst/>
                        <a:latin typeface="+mn-lt"/>
                        <a:ea typeface="+mn-ea"/>
                        <a:cs typeface="+mn-cs"/>
                      </a:endParaRPr>
                    </a:p>
                  </a:txBody>
                  <a:tcPr marL="9146" marR="0" marT="21595" marB="0" anchor="ctr">
                    <a:lnL w="12700" cap="flat" cmpd="sng" algn="ctr">
                      <a:solidFill>
                        <a:schemeClr val="accent5"/>
                      </a:solidFill>
                      <a:prstDash val="solid"/>
                      <a:round/>
                      <a:headEnd type="none" w="med" len="med"/>
                      <a:tailEnd type="none" w="med" len="med"/>
                    </a:lnL>
                  </a:tcPr>
                </a:tc>
                <a:tc>
                  <a:txBody>
                    <a:bodyPr/>
                    <a:lstStyle/>
                    <a:p>
                      <a:pPr algn="ctr" rtl="0" fontAlgn="b"/>
                      <a:r>
                        <a:rPr lang="en-IN" sz="1100" b="0" i="0" u="none" strike="noStrike" dirty="0">
                          <a:solidFill>
                            <a:srgbClr val="000000"/>
                          </a:solidFill>
                          <a:effectLst/>
                          <a:latin typeface="Verdana" panose="020B0604030504040204" pitchFamily="34" charset="0"/>
                        </a:rPr>
                        <a:t>2.62</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10.06</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0.75</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0.72</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0.42</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0.25</a:t>
                      </a:r>
                    </a:p>
                  </a:txBody>
                  <a:tcPr marL="7620" marR="7620" marT="7620" marB="0" anchor="ctr"/>
                </a:tc>
                <a:tc>
                  <a:txBody>
                    <a:bodyPr/>
                    <a:lstStyle/>
                    <a:p>
                      <a:pPr algn="ctr" rtl="0" fontAlgn="b"/>
                      <a:r>
                        <a:rPr lang="en-IN" sz="1100" b="0" i="0" u="none" strike="noStrike" dirty="0">
                          <a:solidFill>
                            <a:srgbClr val="000000"/>
                          </a:solidFill>
                          <a:effectLst/>
                          <a:latin typeface="Verdana" panose="020B0604030504040204" pitchFamily="34" charset="0"/>
                        </a:rPr>
                        <a:t>2.22</a:t>
                      </a:r>
                    </a:p>
                  </a:txBody>
                  <a:tcPr marL="7620" marR="7620" marT="7620" marB="0" anchor="ctr"/>
                </a:tc>
                <a:tc>
                  <a:txBody>
                    <a:bodyPr/>
                    <a:lstStyle/>
                    <a:p>
                      <a:pPr algn="ctr" fontAlgn="b"/>
                      <a:r>
                        <a:rPr lang="en-US" sz="1100" b="0" i="0" u="none" strike="noStrike" dirty="0">
                          <a:solidFill>
                            <a:srgbClr val="000000"/>
                          </a:solidFill>
                          <a:effectLst/>
                          <a:latin typeface="+mn-lt"/>
                        </a:rPr>
                        <a:t>17.04</a:t>
                      </a:r>
                      <a:endParaRPr lang="en-IN" sz="1100" b="0" i="0" u="none" strike="noStrike" dirty="0">
                        <a:solidFill>
                          <a:srgbClr val="000000"/>
                        </a:solidFill>
                        <a:effectLst/>
                        <a:latin typeface="+mn-lt"/>
                      </a:endParaRPr>
                    </a:p>
                  </a:txBody>
                  <a:tcPr marL="7620" marR="7620" marT="7620" marB="0" anchor="ctr"/>
                </a:tc>
                <a:extLst>
                  <a:ext uri="{0D108BD9-81ED-4DB2-BD59-A6C34878D82A}">
                    <a16:rowId xmlns:a16="http://schemas.microsoft.com/office/drawing/2014/main" val="3936542837"/>
                  </a:ext>
                </a:extLst>
              </a:tr>
              <a:tr h="521127">
                <a:tc>
                  <a:txBody>
                    <a:bodyPr/>
                    <a:lstStyle/>
                    <a:p>
                      <a:pPr marL="11430" algn="l" defTabSz="990571" rtl="0" eaLnBrk="1" latinLnBrk="0" hangingPunct="1">
                        <a:lnSpc>
                          <a:spcPct val="107000"/>
                        </a:lnSpc>
                        <a:spcAft>
                          <a:spcPts val="0"/>
                        </a:spcAft>
                      </a:pPr>
                      <a:r>
                        <a:rPr lang="en-US" sz="1100" b="1" kern="1200" dirty="0">
                          <a:solidFill>
                            <a:schemeClr val="dk1"/>
                          </a:solidFill>
                          <a:effectLst/>
                          <a:latin typeface="+mn-lt"/>
                          <a:ea typeface="+mn-ea"/>
                          <a:cs typeface="+mn-cs"/>
                        </a:rPr>
                        <a:t>(Domestic Metering)</a:t>
                      </a:r>
                      <a:endParaRPr lang="en-IN" sz="1100" b="1" kern="1200" dirty="0">
                        <a:solidFill>
                          <a:schemeClr val="dk1"/>
                        </a:solidFill>
                        <a:effectLst/>
                        <a:latin typeface="+mn-lt"/>
                        <a:ea typeface="+mn-ea"/>
                        <a:cs typeface="+mn-cs"/>
                      </a:endParaRPr>
                    </a:p>
                  </a:txBody>
                  <a:tcPr marL="9146" marR="0" marT="21595" marB="0" anchor="ctr">
                    <a:lnL w="12700" cap="flat" cmpd="sng" algn="ctr">
                      <a:solidFill>
                        <a:schemeClr val="accent5"/>
                      </a:solidFill>
                      <a:prstDash val="solid"/>
                      <a:round/>
                      <a:headEnd type="none" w="med" len="med"/>
                      <a:tailEnd type="none" w="med" len="med"/>
                    </a:lnL>
                    <a:lnB w="12700" cap="flat" cmpd="sng" algn="ctr">
                      <a:solidFill>
                        <a:schemeClr val="accent5"/>
                      </a:solidFill>
                      <a:prstDash val="solid"/>
                      <a:round/>
                      <a:headEnd type="none" w="med" len="med"/>
                      <a:tailEnd type="none" w="med" len="med"/>
                    </a:lnB>
                  </a:tcPr>
                </a:tc>
                <a:tc>
                  <a:txBody>
                    <a:bodyPr/>
                    <a:lstStyle/>
                    <a:p>
                      <a:pPr algn="ctr" rtl="0" fontAlgn="b"/>
                      <a:r>
                        <a:rPr lang="en-IN" sz="1100" b="0" i="0" u="none" strike="noStrike" dirty="0">
                          <a:solidFill>
                            <a:srgbClr val="000000"/>
                          </a:solidFill>
                          <a:effectLst/>
                          <a:latin typeface="Verdana" panose="020B0604030504040204" pitchFamily="34" charset="0"/>
                        </a:rPr>
                        <a:t>1.94</a:t>
                      </a:r>
                    </a:p>
                  </a:txBody>
                  <a:tcPr marL="7620" marR="7620" marT="7620" marB="0" anchor="ctr">
                    <a:lnB w="12700" cap="flat" cmpd="sng" algn="ctr">
                      <a:solidFill>
                        <a:schemeClr val="accent5"/>
                      </a:solidFill>
                      <a:prstDash val="solid"/>
                      <a:round/>
                      <a:headEnd type="none" w="med" len="med"/>
                      <a:tailEnd type="none" w="med" len="med"/>
                    </a:lnB>
                  </a:tcPr>
                </a:tc>
                <a:tc>
                  <a:txBody>
                    <a:bodyPr/>
                    <a:lstStyle/>
                    <a:p>
                      <a:pPr algn="ctr" rtl="0" fontAlgn="b"/>
                      <a:r>
                        <a:rPr lang="en-IN" sz="1100" b="0" i="0" u="none" strike="noStrike" dirty="0">
                          <a:solidFill>
                            <a:srgbClr val="000000"/>
                          </a:solidFill>
                          <a:effectLst/>
                          <a:latin typeface="Verdana" panose="020B0604030504040204" pitchFamily="34" charset="0"/>
                        </a:rPr>
                        <a:t>7.33</a:t>
                      </a:r>
                    </a:p>
                  </a:txBody>
                  <a:tcPr marL="7620" marR="7620" marT="7620" marB="0" anchor="ctr">
                    <a:lnB w="12700" cap="flat" cmpd="sng" algn="ctr">
                      <a:solidFill>
                        <a:schemeClr val="accent5"/>
                      </a:solidFill>
                      <a:prstDash val="solid"/>
                      <a:round/>
                      <a:headEnd type="none" w="med" len="med"/>
                      <a:tailEnd type="none" w="med" len="med"/>
                    </a:lnB>
                  </a:tcPr>
                </a:tc>
                <a:tc>
                  <a:txBody>
                    <a:bodyPr/>
                    <a:lstStyle/>
                    <a:p>
                      <a:pPr algn="ctr" rtl="0" fontAlgn="b"/>
                      <a:r>
                        <a:rPr lang="en-IN" sz="1100" b="0" i="0" u="none" strike="noStrike" dirty="0">
                          <a:solidFill>
                            <a:srgbClr val="000000"/>
                          </a:solidFill>
                          <a:effectLst/>
                          <a:latin typeface="Verdana" panose="020B0604030504040204" pitchFamily="34" charset="0"/>
                        </a:rPr>
                        <a:t>0.55</a:t>
                      </a:r>
                    </a:p>
                  </a:txBody>
                  <a:tcPr marL="7620" marR="7620" marT="7620" marB="0" anchor="ctr">
                    <a:lnB w="12700" cap="flat" cmpd="sng" algn="ctr">
                      <a:solidFill>
                        <a:schemeClr val="accent5"/>
                      </a:solidFill>
                      <a:prstDash val="solid"/>
                      <a:round/>
                      <a:headEnd type="none" w="med" len="med"/>
                      <a:tailEnd type="none" w="med" len="med"/>
                    </a:lnB>
                  </a:tcPr>
                </a:tc>
                <a:tc>
                  <a:txBody>
                    <a:bodyPr/>
                    <a:lstStyle/>
                    <a:p>
                      <a:pPr algn="ctr" rtl="0" fontAlgn="b"/>
                      <a:r>
                        <a:rPr lang="en-IN" sz="1100" b="0" i="0" u="none" strike="noStrike" dirty="0">
                          <a:solidFill>
                            <a:srgbClr val="000000"/>
                          </a:solidFill>
                          <a:effectLst/>
                          <a:latin typeface="Verdana" panose="020B0604030504040204" pitchFamily="34" charset="0"/>
                        </a:rPr>
                        <a:t>0.53</a:t>
                      </a:r>
                    </a:p>
                  </a:txBody>
                  <a:tcPr marL="7620" marR="7620" marT="7620" marB="0" anchor="ctr">
                    <a:lnB w="12700" cap="flat" cmpd="sng" algn="ctr">
                      <a:solidFill>
                        <a:schemeClr val="accent5"/>
                      </a:solidFill>
                      <a:prstDash val="solid"/>
                      <a:round/>
                      <a:headEnd type="none" w="med" len="med"/>
                      <a:tailEnd type="none" w="med" len="med"/>
                    </a:lnB>
                  </a:tcPr>
                </a:tc>
                <a:tc>
                  <a:txBody>
                    <a:bodyPr/>
                    <a:lstStyle/>
                    <a:p>
                      <a:pPr algn="ctr" rtl="0" fontAlgn="b"/>
                      <a:r>
                        <a:rPr lang="en-IN" sz="1100" b="0" i="0" u="none" strike="noStrike" dirty="0">
                          <a:solidFill>
                            <a:srgbClr val="000000"/>
                          </a:solidFill>
                          <a:effectLst/>
                          <a:latin typeface="Verdana" panose="020B0604030504040204" pitchFamily="34" charset="0"/>
                        </a:rPr>
                        <a:t>0.42</a:t>
                      </a:r>
                    </a:p>
                  </a:txBody>
                  <a:tcPr marL="7620" marR="7620" marT="7620" marB="0" anchor="ctr">
                    <a:lnB w="12700" cap="flat" cmpd="sng" algn="ctr">
                      <a:solidFill>
                        <a:schemeClr val="accent5"/>
                      </a:solidFill>
                      <a:prstDash val="solid"/>
                      <a:round/>
                      <a:headEnd type="none" w="med" len="med"/>
                      <a:tailEnd type="none" w="med" len="med"/>
                    </a:lnB>
                  </a:tcPr>
                </a:tc>
                <a:tc>
                  <a:txBody>
                    <a:bodyPr/>
                    <a:lstStyle/>
                    <a:p>
                      <a:pPr algn="ctr" rtl="0" fontAlgn="b"/>
                      <a:r>
                        <a:rPr lang="en-IN" sz="1100" b="0" i="0" u="none" strike="noStrike" dirty="0">
                          <a:solidFill>
                            <a:srgbClr val="000000"/>
                          </a:solidFill>
                          <a:effectLst/>
                          <a:latin typeface="Verdana" panose="020B0604030504040204" pitchFamily="34" charset="0"/>
                        </a:rPr>
                        <a:t>0.25</a:t>
                      </a:r>
                    </a:p>
                  </a:txBody>
                  <a:tcPr marL="7620" marR="7620" marT="7620" marB="0" anchor="ctr">
                    <a:lnB w="12700" cap="flat" cmpd="sng" algn="ctr">
                      <a:solidFill>
                        <a:schemeClr val="accent5"/>
                      </a:solidFill>
                      <a:prstDash val="solid"/>
                      <a:round/>
                      <a:headEnd type="none" w="med" len="med"/>
                      <a:tailEnd type="none" w="med" len="med"/>
                    </a:lnB>
                  </a:tcPr>
                </a:tc>
                <a:tc>
                  <a:txBody>
                    <a:bodyPr/>
                    <a:lstStyle/>
                    <a:p>
                      <a:pPr algn="ctr" rtl="0" fontAlgn="b"/>
                      <a:r>
                        <a:rPr lang="en-IN" sz="1100" b="0" i="0" u="none" strike="noStrike" dirty="0">
                          <a:solidFill>
                            <a:srgbClr val="000000"/>
                          </a:solidFill>
                          <a:effectLst/>
                          <a:latin typeface="Verdana" panose="020B0604030504040204" pitchFamily="34" charset="0"/>
                        </a:rPr>
                        <a:t>1.57</a:t>
                      </a:r>
                    </a:p>
                  </a:txBody>
                  <a:tcPr marL="7620" marR="7620" marT="7620" marB="0" anchor="ctr">
                    <a:lnB w="12700" cap="flat" cmpd="sng" algn="ctr">
                      <a:solidFill>
                        <a:schemeClr val="accent5"/>
                      </a:solidFill>
                      <a:prstDash val="solid"/>
                      <a:round/>
                      <a:headEnd type="none" w="med" len="med"/>
                      <a:tailEnd type="none" w="med" len="med"/>
                    </a:lnB>
                  </a:tcPr>
                </a:tc>
                <a:tc>
                  <a:txBody>
                    <a:bodyPr/>
                    <a:lstStyle/>
                    <a:p>
                      <a:pPr algn="ctr" fontAlgn="b"/>
                      <a:r>
                        <a:rPr lang="en-US" sz="1100" b="0" i="0" u="none" strike="noStrike" dirty="0">
                          <a:solidFill>
                            <a:srgbClr val="000000"/>
                          </a:solidFill>
                          <a:effectLst/>
                          <a:latin typeface="+mn-lt"/>
                        </a:rPr>
                        <a:t>12.60</a:t>
                      </a:r>
                      <a:endParaRPr lang="en-IN" sz="1100" b="0" i="0" u="none" strike="noStrike" dirty="0">
                        <a:solidFill>
                          <a:srgbClr val="000000"/>
                        </a:solidFill>
                        <a:effectLst/>
                        <a:latin typeface="+mn-lt"/>
                      </a:endParaRPr>
                    </a:p>
                  </a:txBody>
                  <a:tcPr marL="7620" marR="7620" marT="7620" marB="0" anchor="ctr">
                    <a:lnB w="12700" cap="flat" cmpd="sng" algn="ctr">
                      <a:solidFill>
                        <a:schemeClr val="accent5"/>
                      </a:solidFill>
                      <a:prstDash val="solid"/>
                      <a:round/>
                      <a:headEnd type="none" w="med" len="med"/>
                      <a:tailEnd type="none" w="med" len="med"/>
                    </a:lnB>
                  </a:tcPr>
                </a:tc>
                <a:extLst>
                  <a:ext uri="{0D108BD9-81ED-4DB2-BD59-A6C34878D82A}">
                    <a16:rowId xmlns:a16="http://schemas.microsoft.com/office/drawing/2014/main" val="735325504"/>
                  </a:ext>
                </a:extLst>
              </a:tr>
            </a:tbl>
          </a:graphicData>
        </a:graphic>
      </p:graphicFrame>
      <p:sp>
        <p:nvSpPr>
          <p:cNvPr id="6" name="Title 1"/>
          <p:cNvSpPr>
            <a:spLocks noGrp="1"/>
          </p:cNvSpPr>
          <p:nvPr>
            <p:ph type="title"/>
          </p:nvPr>
        </p:nvSpPr>
        <p:spPr>
          <a:xfrm>
            <a:off x="449264" y="647700"/>
            <a:ext cx="9791700" cy="431800"/>
          </a:xfrm>
        </p:spPr>
        <p:txBody>
          <a:bodyPr/>
          <a:lstStyle/>
          <a:p>
            <a:r>
              <a:rPr lang="en-US" dirty="0"/>
              <a:t>Annexure B | Natural Gas Price Components in Bangladesh</a:t>
            </a:r>
            <a:endParaRPr lang="en-IN" dirty="0"/>
          </a:p>
        </p:txBody>
      </p:sp>
      <p:sp>
        <p:nvSpPr>
          <p:cNvPr id="7"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noProof="0" dirty="0">
                <a:solidFill>
                  <a:prstClr val="black">
                    <a:lumMod val="50000"/>
                    <a:lumOff val="50000"/>
                  </a:prstClr>
                </a:solidFill>
                <a:latin typeface="Verdana" panose="020B0604030504040204" pitchFamily="34" charset="0"/>
              </a:rPr>
              <a:t>The Pricing Mechanism (2019) for each consumer category considers different amount of cross subsidies for each component except transmission &amp; distribution charge which is same for all consumers in Bangladesh</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8" name="Table 7"/>
          <p:cNvGraphicFramePr>
            <a:graphicFrameLocks noGrp="1"/>
          </p:cNvGraphicFramePr>
          <p:nvPr>
            <p:custDataLst>
              <p:tags r:id="rId3"/>
            </p:custDataLst>
          </p:nvPr>
        </p:nvGraphicFramePr>
        <p:xfrm>
          <a:off x="449993" y="1961919"/>
          <a:ext cx="9790972" cy="306118"/>
        </p:xfrm>
        <a:graphic>
          <a:graphicData uri="http://schemas.openxmlformats.org/drawingml/2006/table">
            <a:tbl>
              <a:tblPr firstRow="1" bandRow="1">
                <a:tableStyleId>{5C22544A-7EE6-4342-B048-85BDC9FD1C3A}</a:tableStyleId>
              </a:tblPr>
              <a:tblGrid>
                <a:gridCol w="9790972">
                  <a:extLst>
                    <a:ext uri="{9D8B030D-6E8A-4147-A177-3AD203B41FA5}">
                      <a16:colId xmlns:a16="http://schemas.microsoft.com/office/drawing/2014/main" val="20000"/>
                    </a:ext>
                  </a:extLst>
                </a:gridCol>
              </a:tblGrid>
              <a:tr h="0">
                <a:tc>
                  <a:txBody>
                    <a:bodyPr/>
                    <a:lstStyle/>
                    <a:p>
                      <a:pPr marL="0" indent="0">
                        <a:spcAft>
                          <a:spcPts val="500"/>
                        </a:spcAft>
                        <a:buFont typeface="Arial" panose="020B0604020202020204" pitchFamily="34" charset="0"/>
                        <a:buNone/>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
        <p:nvSpPr>
          <p:cNvPr id="9" name="Rectangle 8"/>
          <p:cNvSpPr/>
          <p:nvPr/>
        </p:nvSpPr>
        <p:spPr bwMode="gray">
          <a:xfrm>
            <a:off x="8446769" y="2000677"/>
            <a:ext cx="1794194" cy="285750"/>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t>Figures in Taka / SCM</a:t>
            </a:r>
            <a:endParaRPr lang="en-IN" sz="1000" b="1" dirty="0"/>
          </a:p>
        </p:txBody>
      </p:sp>
      <p:sp>
        <p:nvSpPr>
          <p:cNvPr id="12" name="Rectangle 11"/>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BERC, Petrobangla, Industry Reports, Deloitte Analysis; Note 1) The Commercial Tariff for Hotels &amp; Restaurants is BDT 23 / cum whereas for small cottage industries is BDT 17.04 / cum</a:t>
            </a:r>
          </a:p>
        </p:txBody>
      </p:sp>
    </p:spTree>
    <p:extLst>
      <p:ext uri="{BB962C8B-B14F-4D97-AF65-F5344CB8AC3E}">
        <p14:creationId xmlns:p14="http://schemas.microsoft.com/office/powerpoint/2010/main" val="172105163"/>
      </p:ext>
    </p:extLst>
  </p:cSld>
  <p:clrMapOvr>
    <a:masterClrMapping/>
  </p:clrMapOvr>
  <p:transition>
    <p:fade/>
  </p:transition>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noChangeAspect="1"/>
          </p:cNvGraphicFramePr>
          <p:nvPr>
            <p:custDataLst>
              <p:tags r:id="rId1"/>
            </p:custDataLst>
            <p:extLst>
              <p:ext uri="{D42A27DB-BD31-4B8C-83A1-F6EECF244321}">
                <p14:modId xmlns:p14="http://schemas.microsoft.com/office/powerpoint/2010/main" val="242840117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6" name="Object 5"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5" name="Rectangle 4"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 name="Title 1"/>
          <p:cNvSpPr>
            <a:spLocks noGrp="1"/>
          </p:cNvSpPr>
          <p:nvPr>
            <p:ph type="title"/>
          </p:nvPr>
        </p:nvSpPr>
        <p:spPr>
          <a:xfrm>
            <a:off x="449264" y="647700"/>
            <a:ext cx="9791700" cy="431800"/>
          </a:xfrm>
        </p:spPr>
        <p:txBody>
          <a:bodyPr/>
          <a:lstStyle/>
          <a:p>
            <a:r>
              <a:rPr lang="en-US" dirty="0"/>
              <a:t>Annexure C | Natural Gas Price Subsidy by Government</a:t>
            </a:r>
            <a:endParaRPr lang="en-IN" dirty="0"/>
          </a:p>
        </p:txBody>
      </p:sp>
      <p:sp>
        <p:nvSpPr>
          <p:cNvPr id="4"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noProof="0" dirty="0">
                <a:solidFill>
                  <a:prstClr val="black">
                    <a:lumMod val="50000"/>
                    <a:lumOff val="50000"/>
                  </a:prstClr>
                </a:solidFill>
                <a:latin typeface="Verdana" panose="020B0604030504040204" pitchFamily="34" charset="0"/>
              </a:rPr>
              <a:t>As per BERC tariff (2019), power &amp; fertilizer sectors receive the highest subsidy at ~65%; CNG Sales and Hotels and Restaurants provide the highest cross subsidy at ~180% and ~80% respectively</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7" name="Table 6"/>
          <p:cNvGraphicFramePr>
            <a:graphicFrameLocks noGrp="1"/>
          </p:cNvGraphicFramePr>
          <p:nvPr>
            <p:extLst>
              <p:ext uri="{D42A27DB-BD31-4B8C-83A1-F6EECF244321}">
                <p14:modId xmlns:p14="http://schemas.microsoft.com/office/powerpoint/2010/main" val="1700233767"/>
              </p:ext>
            </p:extLst>
          </p:nvPr>
        </p:nvGraphicFramePr>
        <p:xfrm>
          <a:off x="449266" y="2281037"/>
          <a:ext cx="9791698" cy="4849706"/>
        </p:xfrm>
        <a:graphic>
          <a:graphicData uri="http://schemas.openxmlformats.org/drawingml/2006/table">
            <a:tbl>
              <a:tblPr firstRow="1" firstCol="1" bandRow="1">
                <a:tableStyleId>{FABFCF23-3B69-468F-B69F-88F6DE6A72F2}</a:tableStyleId>
              </a:tblPr>
              <a:tblGrid>
                <a:gridCol w="1568722">
                  <a:extLst>
                    <a:ext uri="{9D8B030D-6E8A-4147-A177-3AD203B41FA5}">
                      <a16:colId xmlns:a16="http://schemas.microsoft.com/office/drawing/2014/main" val="3304318141"/>
                    </a:ext>
                  </a:extLst>
                </a:gridCol>
                <a:gridCol w="1370496">
                  <a:extLst>
                    <a:ext uri="{9D8B030D-6E8A-4147-A177-3AD203B41FA5}">
                      <a16:colId xmlns:a16="http://schemas.microsoft.com/office/drawing/2014/main" val="1913242649"/>
                    </a:ext>
                  </a:extLst>
                </a:gridCol>
                <a:gridCol w="1078415">
                  <a:extLst>
                    <a:ext uri="{9D8B030D-6E8A-4147-A177-3AD203B41FA5}">
                      <a16:colId xmlns:a16="http://schemas.microsoft.com/office/drawing/2014/main" val="2771522417"/>
                    </a:ext>
                  </a:extLst>
                </a:gridCol>
                <a:gridCol w="1662577">
                  <a:extLst>
                    <a:ext uri="{9D8B030D-6E8A-4147-A177-3AD203B41FA5}">
                      <a16:colId xmlns:a16="http://schemas.microsoft.com/office/drawing/2014/main" val="315606993"/>
                    </a:ext>
                  </a:extLst>
                </a:gridCol>
                <a:gridCol w="1238278">
                  <a:extLst>
                    <a:ext uri="{9D8B030D-6E8A-4147-A177-3AD203B41FA5}">
                      <a16:colId xmlns:a16="http://schemas.microsoft.com/office/drawing/2014/main" val="2454619672"/>
                    </a:ext>
                  </a:extLst>
                </a:gridCol>
                <a:gridCol w="1734207">
                  <a:extLst>
                    <a:ext uri="{9D8B030D-6E8A-4147-A177-3AD203B41FA5}">
                      <a16:colId xmlns:a16="http://schemas.microsoft.com/office/drawing/2014/main" val="1643548640"/>
                    </a:ext>
                  </a:extLst>
                </a:gridCol>
                <a:gridCol w="1139003">
                  <a:extLst>
                    <a:ext uri="{9D8B030D-6E8A-4147-A177-3AD203B41FA5}">
                      <a16:colId xmlns:a16="http://schemas.microsoft.com/office/drawing/2014/main" val="3821387843"/>
                    </a:ext>
                  </a:extLst>
                </a:gridCol>
              </a:tblGrid>
              <a:tr h="496201">
                <a:tc>
                  <a:txBody>
                    <a:bodyPr/>
                    <a:lstStyle/>
                    <a:p>
                      <a:pPr marL="11430" algn="ctr">
                        <a:lnSpc>
                          <a:spcPct val="107000"/>
                        </a:lnSpc>
                        <a:spcAft>
                          <a:spcPts val="0"/>
                        </a:spcAft>
                      </a:pPr>
                      <a:r>
                        <a:rPr lang="en-US" sz="1100" dirty="0">
                          <a:solidFill>
                            <a:schemeClr val="lt1"/>
                          </a:solidFill>
                          <a:effectLst/>
                          <a:latin typeface="+mn-lt"/>
                          <a:ea typeface="+mn-ea"/>
                          <a:cs typeface="+mn-cs"/>
                        </a:rPr>
                        <a:t>Particulars</a:t>
                      </a:r>
                      <a:endParaRPr lang="en-IN" sz="11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36000" marB="36000" anchor="ctr"/>
                </a:tc>
                <a:tc>
                  <a:txBody>
                    <a:bodyPr/>
                    <a:lstStyle/>
                    <a:p>
                      <a:pPr algn="ctr" fontAlgn="b"/>
                      <a:r>
                        <a:rPr lang="en-IN" sz="1100" b="1" i="0" u="none" strike="noStrike" dirty="0">
                          <a:solidFill>
                            <a:schemeClr val="bg1"/>
                          </a:solidFill>
                          <a:effectLst/>
                          <a:latin typeface="+mn-lt"/>
                        </a:rPr>
                        <a:t>Proposed Category</a:t>
                      </a:r>
                      <a:r>
                        <a:rPr lang="en-IN" sz="1100" b="1" i="0" u="none" strike="noStrike" baseline="0" dirty="0">
                          <a:solidFill>
                            <a:schemeClr val="bg1"/>
                          </a:solidFill>
                          <a:effectLst/>
                          <a:latin typeface="+mn-lt"/>
                        </a:rPr>
                        <a:t> Wise Sale (</a:t>
                      </a:r>
                      <a:r>
                        <a:rPr lang="en-IN" sz="1100" b="1" i="0" u="none" strike="noStrike" baseline="0" dirty="0" err="1">
                          <a:solidFill>
                            <a:schemeClr val="bg1"/>
                          </a:solidFill>
                          <a:effectLst/>
                          <a:latin typeface="+mn-lt"/>
                        </a:rPr>
                        <a:t>mmscmd</a:t>
                      </a:r>
                      <a:r>
                        <a:rPr lang="en-IN" sz="1100" b="1" i="0" u="none" strike="noStrike" baseline="0" dirty="0">
                          <a:solidFill>
                            <a:schemeClr val="bg1"/>
                          </a:solidFill>
                          <a:effectLst/>
                          <a:latin typeface="+mn-lt"/>
                        </a:rPr>
                        <a:t>)</a:t>
                      </a:r>
                      <a:endParaRPr lang="en-IN" sz="1100" b="1" i="0" u="none" strike="noStrike" dirty="0">
                        <a:solidFill>
                          <a:schemeClr val="bg1"/>
                        </a:solidFill>
                        <a:effectLst/>
                        <a:latin typeface="+mn-lt"/>
                      </a:endParaRPr>
                    </a:p>
                  </a:txBody>
                  <a:tcPr marL="36000" marR="36000" marT="36000" marB="36000" anchor="ctr"/>
                </a:tc>
                <a:tc>
                  <a:txBody>
                    <a:bodyPr/>
                    <a:lstStyle/>
                    <a:p>
                      <a:pPr algn="ctr" fontAlgn="b"/>
                      <a:r>
                        <a:rPr lang="en-US" sz="1100" b="1" i="0" u="none" strike="noStrike" dirty="0">
                          <a:solidFill>
                            <a:schemeClr val="bg1"/>
                          </a:solidFill>
                          <a:effectLst/>
                          <a:latin typeface="+mn-lt"/>
                        </a:rPr>
                        <a:t>Tariff</a:t>
                      </a:r>
                      <a:r>
                        <a:rPr lang="en-US" sz="1100" b="1" i="0" u="none" strike="noStrike" baseline="0" dirty="0">
                          <a:solidFill>
                            <a:schemeClr val="bg1"/>
                          </a:solidFill>
                          <a:effectLst/>
                          <a:latin typeface="+mn-lt"/>
                        </a:rPr>
                        <a:t> </a:t>
                      </a:r>
                    </a:p>
                    <a:p>
                      <a:pPr algn="ctr" fontAlgn="b"/>
                      <a:r>
                        <a:rPr lang="en-US" sz="1100" b="1" i="0" u="none" strike="noStrike" baseline="0" dirty="0">
                          <a:solidFill>
                            <a:schemeClr val="bg1"/>
                          </a:solidFill>
                          <a:effectLst/>
                          <a:latin typeface="+mn-lt"/>
                        </a:rPr>
                        <a:t>(BDT / SCM)</a:t>
                      </a:r>
                    </a:p>
                  </a:txBody>
                  <a:tcPr marL="36000" marR="36000" marT="36000" marB="36000" anchor="ctr"/>
                </a:tc>
                <a:tc>
                  <a:txBody>
                    <a:bodyPr/>
                    <a:lstStyle/>
                    <a:p>
                      <a:pPr algn="ctr" fontAlgn="b"/>
                      <a:r>
                        <a:rPr lang="en-US" sz="1100" b="1" i="0" u="none" strike="noStrike" dirty="0">
                          <a:solidFill>
                            <a:schemeClr val="bg1"/>
                          </a:solidFill>
                          <a:effectLst/>
                          <a:latin typeface="+mn-lt"/>
                        </a:rPr>
                        <a:t>Total Expected Revenue</a:t>
                      </a:r>
                    </a:p>
                    <a:p>
                      <a:pPr algn="ctr" fontAlgn="b"/>
                      <a:r>
                        <a:rPr lang="en-US" sz="1100" b="1" i="0" u="none" strike="noStrike" dirty="0">
                          <a:solidFill>
                            <a:schemeClr val="bg1"/>
                          </a:solidFill>
                          <a:effectLst/>
                          <a:latin typeface="+mn-lt"/>
                        </a:rPr>
                        <a:t>(</a:t>
                      </a:r>
                      <a:r>
                        <a:rPr lang="en-US" sz="1100" b="1" i="0" u="none" strike="noStrike" dirty="0" err="1">
                          <a:solidFill>
                            <a:schemeClr val="bg1"/>
                          </a:solidFill>
                          <a:effectLst/>
                          <a:latin typeface="+mn-lt"/>
                        </a:rPr>
                        <a:t>Bn</a:t>
                      </a:r>
                      <a:r>
                        <a:rPr lang="en-US" sz="1100" b="1" i="0" u="none" strike="noStrike" dirty="0">
                          <a:solidFill>
                            <a:schemeClr val="bg1"/>
                          </a:solidFill>
                          <a:effectLst/>
                          <a:latin typeface="+mn-lt"/>
                        </a:rPr>
                        <a:t> BDT)</a:t>
                      </a:r>
                      <a:endParaRPr lang="en-IN" sz="1100" b="1" i="0" u="none" strike="noStrike" dirty="0">
                        <a:solidFill>
                          <a:schemeClr val="bg1"/>
                        </a:solidFill>
                        <a:effectLst/>
                        <a:latin typeface="+mn-lt"/>
                      </a:endParaRPr>
                    </a:p>
                  </a:txBody>
                  <a:tcPr marL="36000" marR="36000" marT="36000" marB="36000" anchor="ctr"/>
                </a:tc>
                <a:tc>
                  <a:txBody>
                    <a:bodyPr/>
                    <a:lstStyle/>
                    <a:p>
                      <a:pPr algn="ctr" fontAlgn="b"/>
                      <a:r>
                        <a:rPr lang="en-US" sz="1100" b="1" i="0" u="none" strike="noStrike" dirty="0">
                          <a:solidFill>
                            <a:schemeClr val="bg1"/>
                          </a:solidFill>
                          <a:effectLst/>
                          <a:latin typeface="+mn-lt"/>
                        </a:rPr>
                        <a:t>Average Cost of Natural</a:t>
                      </a:r>
                      <a:r>
                        <a:rPr lang="en-US" sz="1100" b="1" i="0" u="none" strike="noStrike" baseline="0" dirty="0">
                          <a:solidFill>
                            <a:schemeClr val="bg1"/>
                          </a:solidFill>
                          <a:effectLst/>
                          <a:latin typeface="+mn-lt"/>
                        </a:rPr>
                        <a:t> Gas</a:t>
                      </a:r>
                    </a:p>
                    <a:p>
                      <a:pPr algn="ctr" fontAlgn="b"/>
                      <a:r>
                        <a:rPr lang="en-US" sz="1100" b="1" i="0" u="none" strike="noStrike" baseline="0" dirty="0">
                          <a:solidFill>
                            <a:schemeClr val="bg1"/>
                          </a:solidFill>
                          <a:effectLst/>
                          <a:latin typeface="+mn-lt"/>
                        </a:rPr>
                        <a:t>(BDT / SCM)</a:t>
                      </a:r>
                      <a:endParaRPr lang="en-IN" sz="1100" b="1" i="0" u="none" strike="noStrike" dirty="0">
                        <a:solidFill>
                          <a:schemeClr val="bg1"/>
                        </a:solidFill>
                        <a:effectLst/>
                        <a:latin typeface="+mn-lt"/>
                      </a:endParaRPr>
                    </a:p>
                  </a:txBody>
                  <a:tcPr marL="36000" marR="36000" marT="36000" marB="36000" anchor="ctr"/>
                </a:tc>
                <a:tc>
                  <a:txBody>
                    <a:bodyPr/>
                    <a:lstStyle/>
                    <a:p>
                      <a:pPr algn="ctr" fontAlgn="b"/>
                      <a:r>
                        <a:rPr lang="en-US" sz="1100" b="1" i="0" u="none" strike="noStrike" dirty="0">
                          <a:solidFill>
                            <a:schemeClr val="bg1"/>
                          </a:solidFill>
                          <a:effectLst/>
                          <a:latin typeface="+mn-lt"/>
                        </a:rPr>
                        <a:t>Total</a:t>
                      </a:r>
                      <a:r>
                        <a:rPr lang="en-US" sz="1100" b="1" i="0" u="none" strike="noStrike" baseline="0" dirty="0">
                          <a:solidFill>
                            <a:schemeClr val="bg1"/>
                          </a:solidFill>
                          <a:effectLst/>
                          <a:latin typeface="+mn-lt"/>
                        </a:rPr>
                        <a:t> Revenue at Cost Price</a:t>
                      </a:r>
                    </a:p>
                    <a:p>
                      <a:pPr algn="ctr" fontAlgn="b"/>
                      <a:r>
                        <a:rPr lang="en-US" sz="1100" b="1" i="0" u="none" strike="noStrike" baseline="0" dirty="0">
                          <a:solidFill>
                            <a:schemeClr val="bg1"/>
                          </a:solidFill>
                          <a:effectLst/>
                          <a:latin typeface="+mn-lt"/>
                        </a:rPr>
                        <a:t>(BDT </a:t>
                      </a:r>
                      <a:r>
                        <a:rPr lang="en-US" sz="1100" b="1" i="0" u="none" strike="noStrike" baseline="0" dirty="0" err="1">
                          <a:solidFill>
                            <a:schemeClr val="bg1"/>
                          </a:solidFill>
                          <a:effectLst/>
                          <a:latin typeface="+mn-lt"/>
                        </a:rPr>
                        <a:t>Bn</a:t>
                      </a:r>
                      <a:r>
                        <a:rPr lang="en-US" sz="1100" b="1" i="0" u="none" strike="noStrike" baseline="0" dirty="0">
                          <a:solidFill>
                            <a:schemeClr val="bg1"/>
                          </a:solidFill>
                          <a:effectLst/>
                          <a:latin typeface="+mn-lt"/>
                        </a:rPr>
                        <a:t>)</a:t>
                      </a:r>
                      <a:endParaRPr lang="en-IN" sz="1100" b="1" i="0" u="none" strike="noStrike" dirty="0">
                        <a:solidFill>
                          <a:schemeClr val="bg1"/>
                        </a:solidFill>
                        <a:effectLst/>
                        <a:latin typeface="+mn-lt"/>
                      </a:endParaRPr>
                    </a:p>
                  </a:txBody>
                  <a:tcPr marL="36000" marR="36000" marT="36000" marB="36000" anchor="ctr"/>
                </a:tc>
                <a:tc>
                  <a:txBody>
                    <a:bodyPr/>
                    <a:lstStyle/>
                    <a:p>
                      <a:pPr algn="ctr" fontAlgn="b"/>
                      <a:r>
                        <a:rPr lang="en-US" sz="1100" b="1" i="0" u="none" strike="noStrike" dirty="0">
                          <a:solidFill>
                            <a:schemeClr val="bg1"/>
                          </a:solidFill>
                          <a:effectLst/>
                          <a:latin typeface="+mn-lt"/>
                        </a:rPr>
                        <a:t>(+)</a:t>
                      </a:r>
                      <a:r>
                        <a:rPr lang="en-US" sz="1100" b="1" i="0" u="none" strike="noStrike" baseline="0" dirty="0">
                          <a:solidFill>
                            <a:schemeClr val="bg1"/>
                          </a:solidFill>
                          <a:effectLst/>
                          <a:latin typeface="+mn-lt"/>
                        </a:rPr>
                        <a:t> Subsidy / (-) Cross Subsidy</a:t>
                      </a:r>
                      <a:endParaRPr lang="en-IN" sz="1100" b="1" i="0" u="none" strike="noStrike" dirty="0">
                        <a:solidFill>
                          <a:schemeClr val="bg1"/>
                        </a:solidFill>
                        <a:effectLst/>
                        <a:latin typeface="+mn-lt"/>
                      </a:endParaRPr>
                    </a:p>
                  </a:txBody>
                  <a:tcPr marL="36000" marR="36000" marT="36000" marB="36000" anchor="ctr"/>
                </a:tc>
                <a:extLst>
                  <a:ext uri="{0D108BD9-81ED-4DB2-BD59-A6C34878D82A}">
                    <a16:rowId xmlns:a16="http://schemas.microsoft.com/office/drawing/2014/main" val="4180892744"/>
                  </a:ext>
                </a:extLst>
              </a:tr>
              <a:tr h="381291">
                <a:tc>
                  <a:txBody>
                    <a:bodyPr/>
                    <a:lstStyle/>
                    <a:p>
                      <a:pPr marL="0" algn="l" defTabSz="990571" rtl="0" eaLnBrk="1" fontAlgn="b" latinLnBrk="0" hangingPunct="1"/>
                      <a:r>
                        <a:rPr lang="en-US" sz="1100" b="1" i="0" u="none" strike="noStrike" kern="1200" dirty="0">
                          <a:solidFill>
                            <a:srgbClr val="000000"/>
                          </a:solidFill>
                          <a:effectLst/>
                          <a:latin typeface="Verdana" panose="020B0604030504040204" pitchFamily="34" charset="0"/>
                          <a:ea typeface="+mn-ea"/>
                          <a:cs typeface="+mn-cs"/>
                        </a:rPr>
                        <a:t>Symbol</a:t>
                      </a:r>
                      <a:endParaRPr lang="en-IN" sz="1100" b="1" i="0" u="none" strike="noStrike" kern="1200" dirty="0">
                        <a:solidFill>
                          <a:srgbClr val="000000"/>
                        </a:solidFill>
                        <a:effectLst/>
                        <a:latin typeface="Verdana" panose="020B0604030504040204" pitchFamily="34" charset="0"/>
                        <a:ea typeface="+mn-ea"/>
                        <a:cs typeface="+mn-cs"/>
                      </a:endParaRPr>
                    </a:p>
                  </a:txBody>
                  <a:tcPr marL="36000" marR="36000" marT="36000" marB="36000" anchor="ctr"/>
                </a:tc>
                <a:tc>
                  <a:txBody>
                    <a:bodyPr/>
                    <a:lstStyle/>
                    <a:p>
                      <a:pPr marL="0" algn="ctr" defTabSz="990571" rtl="0" eaLnBrk="1" fontAlgn="b" latinLnBrk="0" hangingPunct="1"/>
                      <a:r>
                        <a:rPr lang="en-US" sz="1100" b="1" i="0" u="none" strike="noStrike" kern="1200" dirty="0">
                          <a:solidFill>
                            <a:srgbClr val="000000"/>
                          </a:solidFill>
                          <a:effectLst/>
                          <a:latin typeface="Verdana" panose="020B0604030504040204" pitchFamily="34" charset="0"/>
                          <a:ea typeface="+mn-ea"/>
                          <a:cs typeface="+mn-cs"/>
                        </a:rPr>
                        <a:t>A</a:t>
                      </a:r>
                      <a:endParaRPr lang="en-IN" sz="1100" b="1" i="0" u="none" strike="noStrike" kern="1200" dirty="0">
                        <a:solidFill>
                          <a:srgbClr val="000000"/>
                        </a:solidFill>
                        <a:effectLst/>
                        <a:latin typeface="Verdana" panose="020B0604030504040204" pitchFamily="34" charset="0"/>
                        <a:ea typeface="+mn-ea"/>
                        <a:cs typeface="+mn-cs"/>
                      </a:endParaRPr>
                    </a:p>
                  </a:txBody>
                  <a:tcPr marL="36000" marR="36000" marT="36000" marB="36000" anchor="ctr"/>
                </a:tc>
                <a:tc>
                  <a:txBody>
                    <a:bodyPr/>
                    <a:lstStyle/>
                    <a:p>
                      <a:pPr marL="0" algn="ctr" defTabSz="990571" rtl="0" eaLnBrk="1" fontAlgn="b" latinLnBrk="0" hangingPunct="1"/>
                      <a:r>
                        <a:rPr lang="en-US" sz="1100" b="1" i="0" u="none" strike="noStrike" kern="1200" dirty="0">
                          <a:solidFill>
                            <a:srgbClr val="000000"/>
                          </a:solidFill>
                          <a:effectLst/>
                          <a:latin typeface="Verdana" panose="020B0604030504040204" pitchFamily="34" charset="0"/>
                          <a:ea typeface="+mn-ea"/>
                          <a:cs typeface="+mn-cs"/>
                        </a:rPr>
                        <a:t>B</a:t>
                      </a:r>
                      <a:endParaRPr lang="en-IN" sz="1100" b="1" i="0" u="none" strike="noStrike" kern="1200" dirty="0">
                        <a:solidFill>
                          <a:srgbClr val="000000"/>
                        </a:solidFill>
                        <a:effectLst/>
                        <a:latin typeface="Verdana" panose="020B0604030504040204" pitchFamily="34" charset="0"/>
                        <a:ea typeface="+mn-ea"/>
                        <a:cs typeface="+mn-cs"/>
                      </a:endParaRPr>
                    </a:p>
                  </a:txBody>
                  <a:tcPr marL="36000" marR="36000" marT="36000" marB="36000" anchor="ctr"/>
                </a:tc>
                <a:tc>
                  <a:txBody>
                    <a:bodyPr/>
                    <a:lstStyle/>
                    <a:p>
                      <a:pPr marL="0" algn="ctr" defTabSz="990571" rtl="0" eaLnBrk="1" fontAlgn="b" latinLnBrk="0" hangingPunct="1"/>
                      <a:r>
                        <a:rPr lang="en-US" sz="1100" b="1" i="0" u="none" strike="noStrike" kern="1200" dirty="0">
                          <a:solidFill>
                            <a:srgbClr val="000000"/>
                          </a:solidFill>
                          <a:effectLst/>
                          <a:latin typeface="Verdana" panose="020B0604030504040204" pitchFamily="34" charset="0"/>
                          <a:ea typeface="+mn-ea"/>
                          <a:cs typeface="+mn-cs"/>
                        </a:rPr>
                        <a:t>C = A*B*365/1000</a:t>
                      </a:r>
                      <a:endParaRPr lang="en-IN" sz="1100" b="1" i="0" u="none" strike="noStrike" kern="1200" dirty="0">
                        <a:solidFill>
                          <a:srgbClr val="000000"/>
                        </a:solidFill>
                        <a:effectLst/>
                        <a:latin typeface="Verdana" panose="020B0604030504040204" pitchFamily="34" charset="0"/>
                        <a:ea typeface="+mn-ea"/>
                        <a:cs typeface="+mn-cs"/>
                      </a:endParaRPr>
                    </a:p>
                  </a:txBody>
                  <a:tcPr marL="36000" marR="36000" marT="36000" marB="36000" anchor="ctr"/>
                </a:tc>
                <a:tc>
                  <a:txBody>
                    <a:bodyPr/>
                    <a:lstStyle/>
                    <a:p>
                      <a:pPr marL="0" algn="ctr" defTabSz="990571" rtl="0" eaLnBrk="1" fontAlgn="b" latinLnBrk="0" hangingPunct="1"/>
                      <a:r>
                        <a:rPr lang="en-US" sz="1100" b="1" i="0" u="none" strike="noStrike" kern="1200" dirty="0">
                          <a:solidFill>
                            <a:srgbClr val="000000"/>
                          </a:solidFill>
                          <a:effectLst/>
                          <a:latin typeface="Verdana" panose="020B0604030504040204" pitchFamily="34" charset="0"/>
                          <a:ea typeface="+mn-ea"/>
                          <a:cs typeface="+mn-cs"/>
                        </a:rPr>
                        <a:t>D</a:t>
                      </a:r>
                      <a:endParaRPr lang="en-IN" sz="1100" b="1" i="0" u="none" strike="noStrike" kern="1200" dirty="0">
                        <a:solidFill>
                          <a:srgbClr val="000000"/>
                        </a:solidFill>
                        <a:effectLst/>
                        <a:latin typeface="Verdana" panose="020B0604030504040204" pitchFamily="34" charset="0"/>
                        <a:ea typeface="+mn-ea"/>
                        <a:cs typeface="+mn-cs"/>
                      </a:endParaRPr>
                    </a:p>
                  </a:txBody>
                  <a:tcPr marL="36000" marR="36000" marT="36000" marB="36000" anchor="ctr"/>
                </a:tc>
                <a:tc>
                  <a:txBody>
                    <a:bodyPr/>
                    <a:lstStyle/>
                    <a:p>
                      <a:pPr marL="0" marR="0" lvl="0" indent="0" algn="ctr" defTabSz="990571" rtl="0" eaLnBrk="1" fontAlgn="b" latinLnBrk="0" hangingPunct="1">
                        <a:lnSpc>
                          <a:spcPct val="100000"/>
                        </a:lnSpc>
                        <a:spcBef>
                          <a:spcPts val="0"/>
                        </a:spcBef>
                        <a:spcAft>
                          <a:spcPts val="0"/>
                        </a:spcAft>
                        <a:buClrTx/>
                        <a:buSzTx/>
                        <a:buFontTx/>
                        <a:buNone/>
                        <a:tabLst/>
                        <a:defRPr/>
                      </a:pPr>
                      <a:r>
                        <a:rPr lang="en-US" sz="1100" b="1" i="0" u="none" strike="noStrike" kern="1200" dirty="0">
                          <a:solidFill>
                            <a:srgbClr val="000000"/>
                          </a:solidFill>
                          <a:effectLst/>
                          <a:latin typeface="Verdana" panose="020B0604030504040204" pitchFamily="34" charset="0"/>
                          <a:ea typeface="+mn-ea"/>
                          <a:cs typeface="+mn-cs"/>
                        </a:rPr>
                        <a:t>E = A*D*365/1000</a:t>
                      </a:r>
                      <a:endParaRPr lang="en-IN" sz="1100" b="1" i="0" u="none" strike="noStrike" kern="1200" dirty="0">
                        <a:solidFill>
                          <a:srgbClr val="000000"/>
                        </a:solidFill>
                        <a:effectLst/>
                        <a:latin typeface="Verdana" panose="020B0604030504040204" pitchFamily="34" charset="0"/>
                        <a:ea typeface="+mn-ea"/>
                        <a:cs typeface="+mn-cs"/>
                      </a:endParaRPr>
                    </a:p>
                  </a:txBody>
                  <a:tcPr marL="36000" marR="36000" marT="36000" marB="36000" anchor="ctr"/>
                </a:tc>
                <a:tc>
                  <a:txBody>
                    <a:bodyPr/>
                    <a:lstStyle/>
                    <a:p>
                      <a:pPr marL="0" algn="ctr" defTabSz="990571" rtl="0" eaLnBrk="1" fontAlgn="b" latinLnBrk="0" hangingPunct="1"/>
                      <a:r>
                        <a:rPr lang="en-US" sz="1100" b="1" i="0" u="none" strike="noStrike" kern="1200" dirty="0">
                          <a:solidFill>
                            <a:srgbClr val="000000"/>
                          </a:solidFill>
                          <a:effectLst/>
                          <a:latin typeface="Verdana" panose="020B0604030504040204" pitchFamily="34" charset="0"/>
                          <a:ea typeface="+mn-ea"/>
                          <a:cs typeface="+mn-cs"/>
                        </a:rPr>
                        <a:t>F = 1- E/D</a:t>
                      </a:r>
                      <a:endParaRPr lang="en-IN" sz="1100" b="1" i="0" u="none" strike="noStrike" kern="1200" dirty="0">
                        <a:solidFill>
                          <a:srgbClr val="000000"/>
                        </a:solidFill>
                        <a:effectLst/>
                        <a:latin typeface="Verdana" panose="020B0604030504040204" pitchFamily="34" charset="0"/>
                        <a:ea typeface="+mn-ea"/>
                        <a:cs typeface="+mn-cs"/>
                      </a:endParaRPr>
                    </a:p>
                  </a:txBody>
                  <a:tcPr marL="36000" marR="36000" marT="36000" marB="36000" anchor="ctr"/>
                </a:tc>
                <a:extLst>
                  <a:ext uri="{0D108BD9-81ED-4DB2-BD59-A6C34878D82A}">
                    <a16:rowId xmlns:a16="http://schemas.microsoft.com/office/drawing/2014/main" val="4113985517"/>
                  </a:ext>
                </a:extLst>
              </a:tr>
              <a:tr h="381291">
                <a:tc>
                  <a:txBody>
                    <a:bodyPr/>
                    <a:lstStyle/>
                    <a:p>
                      <a:pPr marL="0" algn="l"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Power</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39.54</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4.45</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64.23</a:t>
                      </a:r>
                    </a:p>
                  </a:txBody>
                  <a:tcPr marL="36000" marR="36000" marT="36000" marB="36000" anchor="ctr"/>
                </a:tc>
                <a:tc>
                  <a:txBody>
                    <a:bodyPr/>
                    <a:lstStyle/>
                    <a:p>
                      <a:pPr marL="0" algn="ctr" defTabSz="990571" rtl="0" eaLnBrk="1" fontAlgn="b" latinLnBrk="0" hangingPunct="1"/>
                      <a:r>
                        <a:rPr lang="en-US" sz="1100" b="0" i="0" u="none" strike="noStrike" kern="1200" dirty="0">
                          <a:solidFill>
                            <a:srgbClr val="000000"/>
                          </a:solidFill>
                          <a:effectLst/>
                          <a:latin typeface="Verdana" panose="020B0604030504040204" pitchFamily="34" charset="0"/>
                          <a:ea typeface="+mn-ea"/>
                          <a:cs typeface="+mn-cs"/>
                        </a:rPr>
                        <a:t>12.6</a:t>
                      </a:r>
                      <a:endParaRPr lang="en-IN" sz="1100" b="0" i="0" u="none" strike="noStrike" kern="1200" dirty="0">
                        <a:solidFill>
                          <a:srgbClr val="000000"/>
                        </a:solidFill>
                        <a:effectLst/>
                        <a:latin typeface="Verdana" panose="020B0604030504040204" pitchFamily="34" charset="0"/>
                        <a:ea typeface="+mn-ea"/>
                        <a:cs typeface="+mn-cs"/>
                      </a:endParaRP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181.81 </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64.67%</a:t>
                      </a:r>
                    </a:p>
                  </a:txBody>
                  <a:tcPr marL="36000" marR="36000" marT="36000" marB="36000" anchor="ctr"/>
                </a:tc>
                <a:extLst>
                  <a:ext uri="{0D108BD9-81ED-4DB2-BD59-A6C34878D82A}">
                    <a16:rowId xmlns:a16="http://schemas.microsoft.com/office/drawing/2014/main" val="2573866667"/>
                  </a:ext>
                </a:extLst>
              </a:tr>
              <a:tr h="381291">
                <a:tc>
                  <a:txBody>
                    <a:bodyPr/>
                    <a:lstStyle/>
                    <a:p>
                      <a:pPr marL="0" algn="l"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Captive power</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15.87</a:t>
                      </a:r>
                    </a:p>
                  </a:txBody>
                  <a:tcPr marL="36000" marR="36000" marT="36000" marB="36000" anchor="ctr"/>
                </a:tc>
                <a:tc>
                  <a:txBody>
                    <a:bodyPr/>
                    <a:lstStyle/>
                    <a:p>
                      <a:pPr marL="0" algn="ctr" defTabSz="990571" rtl="0" eaLnBrk="1" fontAlgn="b" latinLnBrk="0" hangingPunct="1"/>
                      <a:r>
                        <a:rPr lang="en-IN" sz="1100" b="0" i="0" u="none" strike="noStrike" kern="1200">
                          <a:solidFill>
                            <a:srgbClr val="000000"/>
                          </a:solidFill>
                          <a:effectLst/>
                          <a:latin typeface="Verdana" panose="020B0604030504040204" pitchFamily="34" charset="0"/>
                          <a:ea typeface="+mn-ea"/>
                          <a:cs typeface="+mn-cs"/>
                        </a:rPr>
                        <a:t>13.85</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80.20 </a:t>
                      </a:r>
                    </a:p>
                  </a:txBody>
                  <a:tcPr marL="36000" marR="36000" marT="36000" marB="36000" anchor="ctr"/>
                </a:tc>
                <a:tc>
                  <a:txBody>
                    <a:bodyPr/>
                    <a:lstStyle/>
                    <a:p>
                      <a:pPr marL="0" marR="0" lvl="0" indent="0" algn="ctr" defTabSz="990571" rtl="0" eaLnBrk="1" fontAlgn="b" latinLnBrk="0" hangingPunct="1">
                        <a:lnSpc>
                          <a:spcPct val="100000"/>
                        </a:lnSpc>
                        <a:spcBef>
                          <a:spcPts val="0"/>
                        </a:spcBef>
                        <a:spcAft>
                          <a:spcPts val="0"/>
                        </a:spcAft>
                        <a:buClrTx/>
                        <a:buSzTx/>
                        <a:buFontTx/>
                        <a:buNone/>
                        <a:tabLst/>
                        <a:defRPr/>
                      </a:pPr>
                      <a:r>
                        <a:rPr lang="en-US" sz="1100" b="0" i="0" u="none" strike="noStrike" kern="1200" noProof="0" dirty="0">
                          <a:solidFill>
                            <a:srgbClr val="000000"/>
                          </a:solidFill>
                          <a:effectLst/>
                          <a:latin typeface="Verdana" panose="020B0604030504040204" pitchFamily="34" charset="0"/>
                          <a:ea typeface="+mn-ea"/>
                          <a:cs typeface="+mn-cs"/>
                        </a:rPr>
                        <a:t>12.6</a:t>
                      </a:r>
                      <a:endParaRPr lang="en-IN" sz="1100" b="0" i="0" u="none" strike="noStrike" kern="1200" noProof="0" dirty="0">
                        <a:solidFill>
                          <a:srgbClr val="000000"/>
                        </a:solidFill>
                        <a:effectLst/>
                        <a:latin typeface="Verdana" panose="020B0604030504040204" pitchFamily="34" charset="0"/>
                        <a:ea typeface="+mn-ea"/>
                        <a:cs typeface="+mn-cs"/>
                      </a:endParaRP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72.94 </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-9.96%</a:t>
                      </a:r>
                    </a:p>
                  </a:txBody>
                  <a:tcPr marL="36000" marR="36000" marT="36000" marB="36000" anchor="ctr"/>
                </a:tc>
                <a:extLst>
                  <a:ext uri="{0D108BD9-81ED-4DB2-BD59-A6C34878D82A}">
                    <a16:rowId xmlns:a16="http://schemas.microsoft.com/office/drawing/2014/main" val="1463095216"/>
                  </a:ext>
                </a:extLst>
              </a:tr>
              <a:tr h="381291">
                <a:tc>
                  <a:txBody>
                    <a:bodyPr/>
                    <a:lstStyle/>
                    <a:p>
                      <a:pPr marL="0" algn="l"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Fertilizer</a:t>
                      </a:r>
                    </a:p>
                  </a:txBody>
                  <a:tcPr marL="36000" marR="36000" marT="36000" marB="36000" anchor="ctr">
                    <a:lnL w="12700" cap="flat" cmpd="sng" algn="ctr">
                      <a:solidFill>
                        <a:schemeClr val="accent5"/>
                      </a:solidFill>
                      <a:prstDash val="solid"/>
                      <a:round/>
                      <a:headEnd type="none" w="med" len="med"/>
                      <a:tailEnd type="none" w="med" len="med"/>
                    </a:lnL>
                  </a:tcP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5.43</a:t>
                      </a:r>
                    </a:p>
                  </a:txBody>
                  <a:tcPr marL="36000" marR="36000" marT="36000" marB="36000" anchor="ctr"/>
                </a:tc>
                <a:tc>
                  <a:txBody>
                    <a:bodyPr/>
                    <a:lstStyle/>
                    <a:p>
                      <a:pPr marL="0" algn="ctr" defTabSz="990571" rtl="0" eaLnBrk="1" fontAlgn="b" latinLnBrk="0" hangingPunct="1"/>
                      <a:r>
                        <a:rPr lang="en-IN" sz="1100" b="0" i="0" u="none" strike="noStrike" kern="1200">
                          <a:solidFill>
                            <a:srgbClr val="000000"/>
                          </a:solidFill>
                          <a:effectLst/>
                          <a:latin typeface="Verdana" panose="020B0604030504040204" pitchFamily="34" charset="0"/>
                          <a:ea typeface="+mn-ea"/>
                          <a:cs typeface="+mn-cs"/>
                        </a:rPr>
                        <a:t>4.45</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8.82 </a:t>
                      </a:r>
                    </a:p>
                  </a:txBody>
                  <a:tcPr marL="36000" marR="36000" marT="36000" marB="36000" anchor="ctr"/>
                </a:tc>
                <a:tc>
                  <a:txBody>
                    <a:bodyPr/>
                    <a:lstStyle/>
                    <a:p>
                      <a:pPr marL="0" marR="0" lvl="0" indent="0" algn="ctr" defTabSz="990571" rtl="0" eaLnBrk="1" fontAlgn="b" latinLnBrk="0" hangingPunct="1">
                        <a:lnSpc>
                          <a:spcPct val="100000"/>
                        </a:lnSpc>
                        <a:spcBef>
                          <a:spcPts val="0"/>
                        </a:spcBef>
                        <a:spcAft>
                          <a:spcPts val="0"/>
                        </a:spcAft>
                        <a:buClrTx/>
                        <a:buSzTx/>
                        <a:buFontTx/>
                        <a:buNone/>
                        <a:tabLst/>
                        <a:defRPr/>
                      </a:pPr>
                      <a:r>
                        <a:rPr lang="en-US" sz="1100" b="0" i="0" u="none" strike="noStrike" kern="1200" noProof="0">
                          <a:solidFill>
                            <a:srgbClr val="000000"/>
                          </a:solidFill>
                          <a:effectLst/>
                          <a:latin typeface="Verdana" panose="020B0604030504040204" pitchFamily="34" charset="0"/>
                          <a:ea typeface="+mn-ea"/>
                          <a:cs typeface="+mn-cs"/>
                        </a:rPr>
                        <a:t>12.6</a:t>
                      </a:r>
                      <a:endParaRPr lang="en-IN" sz="1100" b="0" i="0" u="none" strike="noStrike" kern="1200" noProof="0" dirty="0">
                        <a:solidFill>
                          <a:srgbClr val="000000"/>
                        </a:solidFill>
                        <a:effectLst/>
                        <a:latin typeface="Verdana" panose="020B0604030504040204" pitchFamily="34" charset="0"/>
                        <a:ea typeface="+mn-ea"/>
                        <a:cs typeface="+mn-cs"/>
                      </a:endParaRP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24.97 </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64.67%</a:t>
                      </a:r>
                    </a:p>
                  </a:txBody>
                  <a:tcPr marL="36000" marR="36000" marT="36000" marB="36000" anchor="ctr"/>
                </a:tc>
                <a:extLst>
                  <a:ext uri="{0D108BD9-81ED-4DB2-BD59-A6C34878D82A}">
                    <a16:rowId xmlns:a16="http://schemas.microsoft.com/office/drawing/2014/main" val="1257150670"/>
                  </a:ext>
                </a:extLst>
              </a:tr>
              <a:tr h="381291">
                <a:tc>
                  <a:txBody>
                    <a:bodyPr/>
                    <a:lstStyle/>
                    <a:p>
                      <a:pPr marL="0" algn="l"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Industry</a:t>
                      </a:r>
                    </a:p>
                  </a:txBody>
                  <a:tcPr marL="36000" marR="36000" marT="36000" marB="36000" anchor="ctr">
                    <a:lnL w="12700" cap="flat" cmpd="sng" algn="ctr">
                      <a:solidFill>
                        <a:schemeClr val="accent5"/>
                      </a:solidFill>
                      <a:prstDash val="solid"/>
                      <a:round/>
                      <a:headEnd type="none" w="med" len="med"/>
                      <a:tailEnd type="none" w="med" len="med"/>
                    </a:lnL>
                  </a:tcP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16.01</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10.7</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62.52 </a:t>
                      </a:r>
                    </a:p>
                  </a:txBody>
                  <a:tcPr marL="36000" marR="36000" marT="36000" marB="36000" anchor="ctr"/>
                </a:tc>
                <a:tc>
                  <a:txBody>
                    <a:bodyPr/>
                    <a:lstStyle/>
                    <a:p>
                      <a:pPr marL="0" marR="0" lvl="0" indent="0" algn="ctr" defTabSz="990571" rtl="0" eaLnBrk="1" fontAlgn="b" latinLnBrk="0" hangingPunct="1">
                        <a:lnSpc>
                          <a:spcPct val="100000"/>
                        </a:lnSpc>
                        <a:spcBef>
                          <a:spcPts val="0"/>
                        </a:spcBef>
                        <a:spcAft>
                          <a:spcPts val="0"/>
                        </a:spcAft>
                        <a:buClrTx/>
                        <a:buSzTx/>
                        <a:buFontTx/>
                        <a:buNone/>
                        <a:tabLst/>
                        <a:defRPr/>
                      </a:pPr>
                      <a:r>
                        <a:rPr lang="en-US" sz="1100" b="0" i="0" u="none" strike="noStrike" kern="1200" noProof="0" dirty="0">
                          <a:solidFill>
                            <a:srgbClr val="000000"/>
                          </a:solidFill>
                          <a:effectLst/>
                          <a:latin typeface="Verdana" panose="020B0604030504040204" pitchFamily="34" charset="0"/>
                          <a:ea typeface="+mn-ea"/>
                          <a:cs typeface="+mn-cs"/>
                        </a:rPr>
                        <a:t>12.6</a:t>
                      </a:r>
                      <a:endParaRPr lang="en-IN" sz="1100" b="0" i="0" u="none" strike="noStrike" kern="1200" noProof="0" dirty="0">
                        <a:solidFill>
                          <a:srgbClr val="000000"/>
                        </a:solidFill>
                        <a:effectLst/>
                        <a:latin typeface="Verdana" panose="020B0604030504040204" pitchFamily="34" charset="0"/>
                        <a:ea typeface="+mn-ea"/>
                        <a:cs typeface="+mn-cs"/>
                      </a:endParaRP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73.60 </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15.05%</a:t>
                      </a:r>
                    </a:p>
                  </a:txBody>
                  <a:tcPr marL="36000" marR="36000" marT="36000" marB="36000" anchor="ctr"/>
                </a:tc>
                <a:extLst>
                  <a:ext uri="{0D108BD9-81ED-4DB2-BD59-A6C34878D82A}">
                    <a16:rowId xmlns:a16="http://schemas.microsoft.com/office/drawing/2014/main" val="1799334118"/>
                  </a:ext>
                </a:extLst>
              </a:tr>
              <a:tr h="381291">
                <a:tc>
                  <a:txBody>
                    <a:bodyPr/>
                    <a:lstStyle/>
                    <a:p>
                      <a:pPr marL="0" algn="l"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Tea garden</a:t>
                      </a:r>
                    </a:p>
                  </a:txBody>
                  <a:tcPr marL="36000" marR="36000" marT="36000" marB="36000" anchor="ctr">
                    <a:lnL w="12700" cap="flat" cmpd="sng" algn="ctr">
                      <a:solidFill>
                        <a:schemeClr val="accent5"/>
                      </a:solidFill>
                      <a:prstDash val="solid"/>
                      <a:round/>
                      <a:headEnd type="none" w="med" len="med"/>
                      <a:tailEnd type="none" w="med" len="med"/>
                    </a:lnL>
                  </a:tcP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0.09</a:t>
                      </a:r>
                    </a:p>
                  </a:txBody>
                  <a:tcPr marL="36000" marR="36000" marT="36000" marB="36000" anchor="ctr"/>
                </a:tc>
                <a:tc>
                  <a:txBody>
                    <a:bodyPr/>
                    <a:lstStyle/>
                    <a:p>
                      <a:pPr marL="0" algn="ctr" defTabSz="990571" rtl="0" eaLnBrk="1" fontAlgn="b" latinLnBrk="0" hangingPunct="1"/>
                      <a:r>
                        <a:rPr lang="en-IN" sz="1100" b="0" i="0" u="none" strike="noStrike" kern="1200">
                          <a:solidFill>
                            <a:srgbClr val="000000"/>
                          </a:solidFill>
                          <a:effectLst/>
                          <a:latin typeface="Verdana" panose="020B0604030504040204" pitchFamily="34" charset="0"/>
                          <a:ea typeface="+mn-ea"/>
                          <a:cs typeface="+mn-cs"/>
                        </a:rPr>
                        <a:t>10.7</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0.33 </a:t>
                      </a:r>
                    </a:p>
                  </a:txBody>
                  <a:tcPr marL="36000" marR="36000" marT="36000" marB="36000" anchor="ctr"/>
                </a:tc>
                <a:tc>
                  <a:txBody>
                    <a:bodyPr/>
                    <a:lstStyle/>
                    <a:p>
                      <a:pPr marL="0" marR="0" lvl="0" indent="0" algn="ctr" defTabSz="990571" rtl="0" eaLnBrk="1" fontAlgn="b" latinLnBrk="0" hangingPunct="1">
                        <a:lnSpc>
                          <a:spcPct val="100000"/>
                        </a:lnSpc>
                        <a:spcBef>
                          <a:spcPts val="0"/>
                        </a:spcBef>
                        <a:spcAft>
                          <a:spcPts val="0"/>
                        </a:spcAft>
                        <a:buClrTx/>
                        <a:buSzTx/>
                        <a:buFontTx/>
                        <a:buNone/>
                        <a:tabLst/>
                        <a:defRPr/>
                      </a:pPr>
                      <a:r>
                        <a:rPr lang="en-US" sz="1100" b="0" i="0" u="none" strike="noStrike" kern="1200" noProof="0" dirty="0">
                          <a:solidFill>
                            <a:srgbClr val="000000"/>
                          </a:solidFill>
                          <a:effectLst/>
                          <a:latin typeface="Verdana" panose="020B0604030504040204" pitchFamily="34" charset="0"/>
                          <a:ea typeface="+mn-ea"/>
                          <a:cs typeface="+mn-cs"/>
                        </a:rPr>
                        <a:t>12.6</a:t>
                      </a:r>
                      <a:endParaRPr lang="en-IN" sz="1100" b="0" i="0" u="none" strike="noStrike" kern="1200" noProof="0" dirty="0">
                        <a:solidFill>
                          <a:srgbClr val="000000"/>
                        </a:solidFill>
                        <a:effectLst/>
                        <a:latin typeface="Verdana" panose="020B0604030504040204" pitchFamily="34" charset="0"/>
                        <a:ea typeface="+mn-ea"/>
                        <a:cs typeface="+mn-cs"/>
                      </a:endParaRP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0.39 </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15.05%</a:t>
                      </a:r>
                    </a:p>
                  </a:txBody>
                  <a:tcPr marL="36000" marR="36000" marT="36000" marB="36000" anchor="ctr"/>
                </a:tc>
                <a:extLst>
                  <a:ext uri="{0D108BD9-81ED-4DB2-BD59-A6C34878D82A}">
                    <a16:rowId xmlns:a16="http://schemas.microsoft.com/office/drawing/2014/main" val="2055889501"/>
                  </a:ext>
                </a:extLst>
              </a:tr>
              <a:tr h="435887">
                <a:tc>
                  <a:txBody>
                    <a:bodyPr/>
                    <a:lstStyle/>
                    <a:p>
                      <a:pPr marL="0" algn="l"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Hotel and restaurant</a:t>
                      </a:r>
                    </a:p>
                  </a:txBody>
                  <a:tcPr marL="36000" marR="36000" marT="36000" marB="36000" anchor="ctr">
                    <a:lnL w="12700" cap="flat" cmpd="sng" algn="ctr">
                      <a:solidFill>
                        <a:schemeClr val="accent5"/>
                      </a:solidFill>
                      <a:prstDash val="solid"/>
                      <a:round/>
                      <a:headEnd type="none" w="med" len="med"/>
                      <a:tailEnd type="none" w="med" len="med"/>
                    </a:lnL>
                  </a:tcP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0.29</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23</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2.40 </a:t>
                      </a:r>
                    </a:p>
                  </a:txBody>
                  <a:tcPr marL="36000" marR="36000" marT="36000" marB="36000" anchor="ctr"/>
                </a:tc>
                <a:tc>
                  <a:txBody>
                    <a:bodyPr/>
                    <a:lstStyle/>
                    <a:p>
                      <a:pPr marL="0" marR="0" lvl="0" indent="0" algn="ctr" defTabSz="990571" rtl="0" eaLnBrk="1" fontAlgn="b" latinLnBrk="0" hangingPunct="1">
                        <a:lnSpc>
                          <a:spcPct val="100000"/>
                        </a:lnSpc>
                        <a:spcBef>
                          <a:spcPts val="0"/>
                        </a:spcBef>
                        <a:spcAft>
                          <a:spcPts val="0"/>
                        </a:spcAft>
                        <a:buClrTx/>
                        <a:buSzTx/>
                        <a:buFontTx/>
                        <a:buNone/>
                        <a:tabLst/>
                        <a:defRPr/>
                      </a:pPr>
                      <a:r>
                        <a:rPr lang="en-US" sz="1100" b="0" i="0" u="none" strike="noStrike" kern="1200" noProof="0" dirty="0">
                          <a:solidFill>
                            <a:srgbClr val="000000"/>
                          </a:solidFill>
                          <a:effectLst/>
                          <a:latin typeface="Verdana" panose="020B0604030504040204" pitchFamily="34" charset="0"/>
                          <a:ea typeface="+mn-ea"/>
                          <a:cs typeface="+mn-cs"/>
                        </a:rPr>
                        <a:t>12.6</a:t>
                      </a:r>
                      <a:endParaRPr lang="en-IN" sz="1100" b="0" i="0" u="none" strike="noStrike" kern="1200" noProof="0" dirty="0">
                        <a:solidFill>
                          <a:srgbClr val="000000"/>
                        </a:solidFill>
                        <a:effectLst/>
                        <a:latin typeface="Verdana" panose="020B0604030504040204" pitchFamily="34" charset="0"/>
                        <a:ea typeface="+mn-ea"/>
                        <a:cs typeface="+mn-cs"/>
                      </a:endParaRP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1.31 </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-82.60%</a:t>
                      </a:r>
                    </a:p>
                  </a:txBody>
                  <a:tcPr marL="36000" marR="36000" marT="36000" marB="36000" anchor="ctr"/>
                </a:tc>
                <a:extLst>
                  <a:ext uri="{0D108BD9-81ED-4DB2-BD59-A6C34878D82A}">
                    <a16:rowId xmlns:a16="http://schemas.microsoft.com/office/drawing/2014/main" val="3936542837"/>
                  </a:ext>
                </a:extLst>
              </a:tr>
              <a:tr h="381291">
                <a:tc>
                  <a:txBody>
                    <a:bodyPr/>
                    <a:lstStyle/>
                    <a:p>
                      <a:pPr marL="0" algn="l"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Small and Cottage Industries</a:t>
                      </a:r>
                    </a:p>
                  </a:txBody>
                  <a:tcPr marL="36000" marR="36000" marT="36000" marB="36000" anchor="ctr">
                    <a:lnL w="12700" cap="flat" cmpd="sng" algn="ctr">
                      <a:solidFill>
                        <a:schemeClr val="accent5"/>
                      </a:solidFill>
                      <a:prstDash val="solid"/>
                      <a:round/>
                      <a:headEnd type="none" w="med" len="med"/>
                      <a:tailEnd type="none" w="med" len="med"/>
                    </a:lnL>
                  </a:tcP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0.44</a:t>
                      </a:r>
                    </a:p>
                  </a:txBody>
                  <a:tcPr marL="36000" marR="36000" marT="36000" marB="36000" anchor="ctr"/>
                </a:tc>
                <a:tc>
                  <a:txBody>
                    <a:bodyPr/>
                    <a:lstStyle/>
                    <a:p>
                      <a:pPr marL="0" algn="ctr" defTabSz="990571" rtl="0" eaLnBrk="1" fontAlgn="b" latinLnBrk="0" hangingPunct="1"/>
                      <a:r>
                        <a:rPr lang="en-IN" sz="1100" b="0" i="0" u="none" strike="noStrike" kern="1200">
                          <a:solidFill>
                            <a:srgbClr val="000000"/>
                          </a:solidFill>
                          <a:effectLst/>
                          <a:latin typeface="Verdana" panose="020B0604030504040204" pitchFamily="34" charset="0"/>
                          <a:ea typeface="+mn-ea"/>
                          <a:cs typeface="+mn-cs"/>
                        </a:rPr>
                        <a:t>17.04</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2.73 </a:t>
                      </a:r>
                    </a:p>
                  </a:txBody>
                  <a:tcPr marL="36000" marR="36000" marT="36000" marB="36000" anchor="ctr"/>
                </a:tc>
                <a:tc>
                  <a:txBody>
                    <a:bodyPr/>
                    <a:lstStyle/>
                    <a:p>
                      <a:pPr marL="0" marR="0" lvl="0" indent="0" algn="ctr" defTabSz="990571" rtl="0" eaLnBrk="1" fontAlgn="b" latinLnBrk="0" hangingPunct="1">
                        <a:lnSpc>
                          <a:spcPct val="100000"/>
                        </a:lnSpc>
                        <a:spcBef>
                          <a:spcPts val="0"/>
                        </a:spcBef>
                        <a:spcAft>
                          <a:spcPts val="0"/>
                        </a:spcAft>
                        <a:buClrTx/>
                        <a:buSzTx/>
                        <a:buFontTx/>
                        <a:buNone/>
                        <a:tabLst/>
                        <a:defRPr/>
                      </a:pPr>
                      <a:r>
                        <a:rPr lang="en-US" sz="1100" b="0" i="0" u="none" strike="noStrike" kern="1200" noProof="0" dirty="0">
                          <a:solidFill>
                            <a:srgbClr val="000000"/>
                          </a:solidFill>
                          <a:effectLst/>
                          <a:latin typeface="Verdana" panose="020B0604030504040204" pitchFamily="34" charset="0"/>
                          <a:ea typeface="+mn-ea"/>
                          <a:cs typeface="+mn-cs"/>
                        </a:rPr>
                        <a:t>12.6</a:t>
                      </a:r>
                      <a:endParaRPr lang="en-IN" sz="1100" b="0" i="0" u="none" strike="noStrike" kern="1200" noProof="0" dirty="0">
                        <a:solidFill>
                          <a:srgbClr val="000000"/>
                        </a:solidFill>
                        <a:effectLst/>
                        <a:latin typeface="Verdana" panose="020B0604030504040204" pitchFamily="34" charset="0"/>
                        <a:ea typeface="+mn-ea"/>
                        <a:cs typeface="+mn-cs"/>
                      </a:endParaRP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2.02 </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-35.28%</a:t>
                      </a:r>
                    </a:p>
                  </a:txBody>
                  <a:tcPr marL="36000" marR="36000" marT="36000" marB="36000" anchor="ctr"/>
                </a:tc>
                <a:extLst>
                  <a:ext uri="{0D108BD9-81ED-4DB2-BD59-A6C34878D82A}">
                    <a16:rowId xmlns:a16="http://schemas.microsoft.com/office/drawing/2014/main" val="735325504"/>
                  </a:ext>
                </a:extLst>
              </a:tr>
              <a:tr h="381291">
                <a:tc>
                  <a:txBody>
                    <a:bodyPr/>
                    <a:lstStyle/>
                    <a:p>
                      <a:pPr marL="0" algn="l"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CNG-feed gas</a:t>
                      </a:r>
                    </a:p>
                  </a:txBody>
                  <a:tcPr marL="36000" marR="36000" marT="36000" marB="36000" anchor="ctr">
                    <a:lnL w="12700" cap="flat" cmpd="sng" algn="ctr">
                      <a:solidFill>
                        <a:schemeClr val="accent5"/>
                      </a:solidFill>
                      <a:prstDash val="solid"/>
                      <a:round/>
                      <a:headEnd type="none" w="med" len="med"/>
                      <a:tailEnd type="none" w="med" len="med"/>
                    </a:lnL>
                  </a:tcP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4.29</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35</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54.78 </a:t>
                      </a:r>
                    </a:p>
                  </a:txBody>
                  <a:tcPr marL="36000" marR="36000" marT="36000" marB="36000" anchor="ctr"/>
                </a:tc>
                <a:tc>
                  <a:txBody>
                    <a:bodyPr/>
                    <a:lstStyle/>
                    <a:p>
                      <a:pPr marL="0" marR="0" lvl="0" indent="0" algn="ctr" defTabSz="990571" rtl="0" eaLnBrk="1" fontAlgn="b" latinLnBrk="0" hangingPunct="1">
                        <a:lnSpc>
                          <a:spcPct val="100000"/>
                        </a:lnSpc>
                        <a:spcBef>
                          <a:spcPts val="0"/>
                        </a:spcBef>
                        <a:spcAft>
                          <a:spcPts val="0"/>
                        </a:spcAft>
                        <a:buClrTx/>
                        <a:buSzTx/>
                        <a:buFontTx/>
                        <a:buNone/>
                        <a:tabLst/>
                        <a:defRPr/>
                      </a:pPr>
                      <a:r>
                        <a:rPr lang="en-US" sz="1100" b="0" i="0" u="none" strike="noStrike" kern="1200" noProof="0" dirty="0">
                          <a:solidFill>
                            <a:srgbClr val="000000"/>
                          </a:solidFill>
                          <a:effectLst/>
                          <a:latin typeface="Verdana" panose="020B0604030504040204" pitchFamily="34" charset="0"/>
                          <a:ea typeface="+mn-ea"/>
                          <a:cs typeface="+mn-cs"/>
                        </a:rPr>
                        <a:t>12.6</a:t>
                      </a:r>
                      <a:endParaRPr lang="en-IN" sz="1100" b="0" i="0" u="none" strike="noStrike" kern="1200" noProof="0" dirty="0">
                        <a:solidFill>
                          <a:srgbClr val="000000"/>
                        </a:solidFill>
                        <a:effectLst/>
                        <a:latin typeface="Verdana" panose="020B0604030504040204" pitchFamily="34" charset="0"/>
                        <a:ea typeface="+mn-ea"/>
                        <a:cs typeface="+mn-cs"/>
                      </a:endParaRP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19.71 </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-177.87%</a:t>
                      </a:r>
                    </a:p>
                  </a:txBody>
                  <a:tcPr marL="36000" marR="36000" marT="36000" marB="36000" anchor="ctr"/>
                </a:tc>
                <a:extLst>
                  <a:ext uri="{0D108BD9-81ED-4DB2-BD59-A6C34878D82A}">
                    <a16:rowId xmlns:a16="http://schemas.microsoft.com/office/drawing/2014/main" val="3859494230"/>
                  </a:ext>
                </a:extLst>
              </a:tr>
              <a:tr h="381291">
                <a:tc>
                  <a:txBody>
                    <a:bodyPr/>
                    <a:lstStyle/>
                    <a:p>
                      <a:pPr marL="0" algn="l"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Domestic</a:t>
                      </a:r>
                    </a:p>
                  </a:txBody>
                  <a:tcPr marL="36000" marR="36000" marT="36000" marB="36000" anchor="ctr">
                    <a:lnL w="12700" cap="flat" cmpd="sng" algn="ctr">
                      <a:solidFill>
                        <a:schemeClr val="accent5"/>
                      </a:solidFill>
                      <a:prstDash val="solid"/>
                      <a:round/>
                      <a:headEnd type="none" w="med" len="med"/>
                      <a:tailEnd type="none" w="med" len="med"/>
                    </a:lnL>
                  </a:tcP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13.34</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12.6</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61.35 </a:t>
                      </a:r>
                    </a:p>
                  </a:txBody>
                  <a:tcPr marL="36000" marR="36000" marT="36000" marB="36000" anchor="ctr"/>
                </a:tc>
                <a:tc>
                  <a:txBody>
                    <a:bodyPr/>
                    <a:lstStyle/>
                    <a:p>
                      <a:pPr marL="0" marR="0" lvl="0" indent="0" algn="ctr" defTabSz="990571" rtl="0" eaLnBrk="1" fontAlgn="b" latinLnBrk="0" hangingPunct="1">
                        <a:lnSpc>
                          <a:spcPct val="100000"/>
                        </a:lnSpc>
                        <a:spcBef>
                          <a:spcPts val="0"/>
                        </a:spcBef>
                        <a:spcAft>
                          <a:spcPts val="0"/>
                        </a:spcAft>
                        <a:buClrTx/>
                        <a:buSzTx/>
                        <a:buFontTx/>
                        <a:buNone/>
                        <a:tabLst/>
                        <a:defRPr/>
                      </a:pPr>
                      <a:r>
                        <a:rPr lang="en-US" sz="1100" b="0" i="0" u="none" strike="noStrike" kern="1200" noProof="0" dirty="0">
                          <a:solidFill>
                            <a:srgbClr val="000000"/>
                          </a:solidFill>
                          <a:effectLst/>
                          <a:latin typeface="Verdana" panose="020B0604030504040204" pitchFamily="34" charset="0"/>
                          <a:ea typeface="+mn-ea"/>
                          <a:cs typeface="+mn-cs"/>
                        </a:rPr>
                        <a:t>12.6</a:t>
                      </a:r>
                      <a:endParaRPr lang="en-IN" sz="1100" b="0" i="0" u="none" strike="noStrike" kern="1200" noProof="0" dirty="0">
                        <a:solidFill>
                          <a:srgbClr val="000000"/>
                        </a:solidFill>
                        <a:effectLst/>
                        <a:latin typeface="Verdana" panose="020B0604030504040204" pitchFamily="34" charset="0"/>
                        <a:ea typeface="+mn-ea"/>
                        <a:cs typeface="+mn-cs"/>
                      </a:endParaRP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61.33 </a:t>
                      </a:r>
                    </a:p>
                  </a:txBody>
                  <a:tcPr marL="36000" marR="36000" marT="36000" marB="36000" anchor="ctr"/>
                </a:tc>
                <a:tc>
                  <a:txBody>
                    <a:bodyPr/>
                    <a:lstStyle/>
                    <a:p>
                      <a:pPr marL="0" algn="ctr" defTabSz="990571" rtl="0" eaLnBrk="1" fontAlgn="b" latinLnBrk="0" hangingPunct="1"/>
                      <a:r>
                        <a:rPr lang="en-IN" sz="1100" b="0" i="0" u="none" strike="noStrike" kern="1200" dirty="0">
                          <a:solidFill>
                            <a:srgbClr val="000000"/>
                          </a:solidFill>
                          <a:effectLst/>
                          <a:latin typeface="Verdana" panose="020B0604030504040204" pitchFamily="34" charset="0"/>
                          <a:ea typeface="+mn-ea"/>
                          <a:cs typeface="+mn-cs"/>
                        </a:rPr>
                        <a:t>-0.03%</a:t>
                      </a:r>
                    </a:p>
                  </a:txBody>
                  <a:tcPr marL="36000" marR="36000" marT="36000" marB="36000" anchor="ctr"/>
                </a:tc>
                <a:extLst>
                  <a:ext uri="{0D108BD9-81ED-4DB2-BD59-A6C34878D82A}">
                    <a16:rowId xmlns:a16="http://schemas.microsoft.com/office/drawing/2014/main" val="2247785642"/>
                  </a:ext>
                </a:extLst>
              </a:tr>
              <a:tr h="381291">
                <a:tc>
                  <a:txBody>
                    <a:bodyPr/>
                    <a:lstStyle/>
                    <a:p>
                      <a:pPr marL="0" algn="l" defTabSz="990571" rtl="0" eaLnBrk="1" fontAlgn="b" latinLnBrk="0" hangingPunct="1"/>
                      <a:r>
                        <a:rPr lang="en-IN" sz="1100" b="1" i="0" u="none" strike="noStrike" kern="1200" dirty="0">
                          <a:solidFill>
                            <a:srgbClr val="000000"/>
                          </a:solidFill>
                          <a:effectLst/>
                          <a:latin typeface="Verdana" panose="020B0604030504040204" pitchFamily="34" charset="0"/>
                          <a:ea typeface="+mn-ea"/>
                          <a:cs typeface="+mn-cs"/>
                        </a:rPr>
                        <a:t>Total</a:t>
                      </a:r>
                    </a:p>
                  </a:txBody>
                  <a:tcPr marL="36000" marR="36000" marT="36000" marB="36000" anchor="ctr">
                    <a:lnL w="12700" cap="flat" cmpd="sng" algn="ctr">
                      <a:solidFill>
                        <a:schemeClr val="accent5"/>
                      </a:solidFill>
                      <a:prstDash val="solid"/>
                      <a:round/>
                      <a:headEnd type="none" w="med" len="med"/>
                      <a:tailEnd type="none" w="med" len="med"/>
                    </a:lnL>
                    <a:lnB w="12700" cap="flat" cmpd="sng" algn="ctr">
                      <a:solidFill>
                        <a:schemeClr val="accent5"/>
                      </a:solidFill>
                      <a:prstDash val="solid"/>
                      <a:round/>
                      <a:headEnd type="none" w="med" len="med"/>
                      <a:tailEnd type="none" w="med" len="med"/>
                    </a:lnB>
                  </a:tcPr>
                </a:tc>
                <a:tc>
                  <a:txBody>
                    <a:bodyPr/>
                    <a:lstStyle/>
                    <a:p>
                      <a:pPr marL="0" algn="ctr" defTabSz="990571" rtl="0" eaLnBrk="1" fontAlgn="b" latinLnBrk="0" hangingPunct="1"/>
                      <a:r>
                        <a:rPr lang="en-IN" sz="1100" b="1" i="0" u="none" strike="noStrike" kern="1200" dirty="0">
                          <a:solidFill>
                            <a:srgbClr val="000000"/>
                          </a:solidFill>
                          <a:effectLst/>
                          <a:latin typeface="Verdana" panose="020B0604030504040204" pitchFamily="34" charset="0"/>
                          <a:ea typeface="+mn-ea"/>
                          <a:cs typeface="+mn-cs"/>
                        </a:rPr>
                        <a:t>95.29</a:t>
                      </a:r>
                    </a:p>
                  </a:txBody>
                  <a:tcPr marL="36000" marR="36000" marT="36000" marB="36000" anchor="ctr">
                    <a:lnB w="12700" cap="flat" cmpd="sng" algn="ctr">
                      <a:solidFill>
                        <a:schemeClr val="accent5"/>
                      </a:solidFill>
                      <a:prstDash val="solid"/>
                      <a:round/>
                      <a:headEnd type="none" w="med" len="med"/>
                      <a:tailEnd type="none" w="med" len="med"/>
                    </a:lnB>
                  </a:tcPr>
                </a:tc>
                <a:tc>
                  <a:txBody>
                    <a:bodyPr/>
                    <a:lstStyle/>
                    <a:p>
                      <a:pPr marL="0" algn="ctr" defTabSz="990571" rtl="0" eaLnBrk="1" fontAlgn="b" latinLnBrk="0" hangingPunct="1"/>
                      <a:r>
                        <a:rPr lang="en-US" sz="1100" b="1" i="0" u="none" strike="noStrike" kern="1200" dirty="0">
                          <a:solidFill>
                            <a:srgbClr val="000000"/>
                          </a:solidFill>
                          <a:effectLst/>
                          <a:latin typeface="Verdana" panose="020B0604030504040204" pitchFamily="34" charset="0"/>
                          <a:ea typeface="+mn-ea"/>
                          <a:cs typeface="+mn-cs"/>
                        </a:rPr>
                        <a:t>9.8</a:t>
                      </a:r>
                      <a:endParaRPr lang="en-IN" sz="1100" b="1" i="0" u="none" strike="noStrike" kern="1200" dirty="0">
                        <a:solidFill>
                          <a:srgbClr val="000000"/>
                        </a:solidFill>
                        <a:effectLst/>
                        <a:latin typeface="Verdana" panose="020B0604030504040204" pitchFamily="34" charset="0"/>
                        <a:ea typeface="+mn-ea"/>
                        <a:cs typeface="+mn-cs"/>
                      </a:endParaRPr>
                    </a:p>
                  </a:txBody>
                  <a:tcPr marL="36000" marR="36000" marT="36000" marB="36000" anchor="ctr">
                    <a:lnB w="12700" cap="flat" cmpd="sng" algn="ctr">
                      <a:solidFill>
                        <a:schemeClr val="accent5"/>
                      </a:solidFill>
                      <a:prstDash val="solid"/>
                      <a:round/>
                      <a:headEnd type="none" w="med" len="med"/>
                      <a:tailEnd type="none" w="med" len="med"/>
                    </a:lnB>
                  </a:tcPr>
                </a:tc>
                <a:tc>
                  <a:txBody>
                    <a:bodyPr/>
                    <a:lstStyle/>
                    <a:p>
                      <a:pPr marL="0" algn="ctr" defTabSz="990571" rtl="0" eaLnBrk="1" fontAlgn="b" latinLnBrk="0" hangingPunct="1"/>
                      <a:r>
                        <a:rPr lang="en-IN" sz="1100" b="1" i="0" u="none" strike="noStrike" kern="1200" dirty="0">
                          <a:solidFill>
                            <a:srgbClr val="000000"/>
                          </a:solidFill>
                          <a:effectLst/>
                          <a:latin typeface="Verdana" panose="020B0604030504040204" pitchFamily="34" charset="0"/>
                          <a:ea typeface="+mn-ea"/>
                          <a:cs typeface="+mn-cs"/>
                        </a:rPr>
                        <a:t>340.84</a:t>
                      </a:r>
                    </a:p>
                  </a:txBody>
                  <a:tcPr marL="36000" marR="36000" marT="36000" marB="36000" anchor="ctr">
                    <a:lnB w="12700" cap="flat" cmpd="sng" algn="ctr">
                      <a:solidFill>
                        <a:schemeClr val="accent5"/>
                      </a:solidFill>
                      <a:prstDash val="solid"/>
                      <a:round/>
                      <a:headEnd type="none" w="med" len="med"/>
                      <a:tailEnd type="none" w="med" len="med"/>
                    </a:lnB>
                  </a:tcPr>
                </a:tc>
                <a:tc>
                  <a:txBody>
                    <a:bodyPr/>
                    <a:lstStyle/>
                    <a:p>
                      <a:pPr marL="0" algn="ctr" defTabSz="990571" rtl="0" eaLnBrk="1" fontAlgn="b" latinLnBrk="0" hangingPunct="1"/>
                      <a:r>
                        <a:rPr lang="en-US" sz="1100" b="1" i="0" u="none" strike="noStrike" kern="1200" dirty="0">
                          <a:solidFill>
                            <a:srgbClr val="000000"/>
                          </a:solidFill>
                          <a:effectLst/>
                          <a:latin typeface="Verdana" panose="020B0604030504040204" pitchFamily="34" charset="0"/>
                          <a:ea typeface="+mn-ea"/>
                          <a:cs typeface="+mn-cs"/>
                        </a:rPr>
                        <a:t>12.6</a:t>
                      </a:r>
                      <a:endParaRPr lang="en-IN" sz="1100" b="1" i="0" u="none" strike="noStrike" kern="1200" dirty="0">
                        <a:solidFill>
                          <a:srgbClr val="000000"/>
                        </a:solidFill>
                        <a:effectLst/>
                        <a:latin typeface="Verdana" panose="020B0604030504040204" pitchFamily="34" charset="0"/>
                        <a:ea typeface="+mn-ea"/>
                        <a:cs typeface="+mn-cs"/>
                      </a:endParaRPr>
                    </a:p>
                  </a:txBody>
                  <a:tcPr marL="36000" marR="36000" marT="36000" marB="36000" anchor="ctr">
                    <a:lnB w="12700" cap="flat" cmpd="sng" algn="ctr">
                      <a:solidFill>
                        <a:schemeClr val="accent5"/>
                      </a:solidFill>
                      <a:prstDash val="solid"/>
                      <a:round/>
                      <a:headEnd type="none" w="med" len="med"/>
                      <a:tailEnd type="none" w="med" len="med"/>
                    </a:lnB>
                  </a:tcPr>
                </a:tc>
                <a:tc>
                  <a:txBody>
                    <a:bodyPr/>
                    <a:lstStyle/>
                    <a:p>
                      <a:pPr marL="0" algn="ctr" defTabSz="990571" rtl="0" eaLnBrk="1" fontAlgn="b" latinLnBrk="0" hangingPunct="1"/>
                      <a:r>
                        <a:rPr lang="en-IN" sz="1100" b="1" i="0" u="none" strike="noStrike" kern="1200" dirty="0">
                          <a:solidFill>
                            <a:srgbClr val="000000"/>
                          </a:solidFill>
                          <a:effectLst/>
                          <a:latin typeface="Verdana" panose="020B0604030504040204" pitchFamily="34" charset="0"/>
                          <a:ea typeface="+mn-ea"/>
                          <a:cs typeface="+mn-cs"/>
                        </a:rPr>
                        <a:t>438.09</a:t>
                      </a:r>
                    </a:p>
                  </a:txBody>
                  <a:tcPr marL="36000" marR="36000" marT="36000" marB="36000" anchor="ctr">
                    <a:lnB w="12700" cap="flat" cmpd="sng" algn="ctr">
                      <a:solidFill>
                        <a:schemeClr val="accent5"/>
                      </a:solidFill>
                      <a:prstDash val="solid"/>
                      <a:round/>
                      <a:headEnd type="none" w="med" len="med"/>
                      <a:tailEnd type="none" w="med" len="med"/>
                    </a:lnB>
                  </a:tcPr>
                </a:tc>
                <a:tc>
                  <a:txBody>
                    <a:bodyPr/>
                    <a:lstStyle/>
                    <a:p>
                      <a:pPr marL="0" algn="ctr" defTabSz="990571" rtl="0" eaLnBrk="1" fontAlgn="b" latinLnBrk="0" hangingPunct="1"/>
                      <a:r>
                        <a:rPr lang="en-IN" sz="1100" b="1" i="0" u="none" strike="noStrike" kern="1200" dirty="0">
                          <a:solidFill>
                            <a:srgbClr val="000000"/>
                          </a:solidFill>
                          <a:effectLst/>
                          <a:latin typeface="Verdana" panose="020B0604030504040204" pitchFamily="34" charset="0"/>
                          <a:ea typeface="+mn-ea"/>
                          <a:cs typeface="+mn-cs"/>
                        </a:rPr>
                        <a:t>22.20%</a:t>
                      </a:r>
                    </a:p>
                  </a:txBody>
                  <a:tcPr marL="36000" marR="36000" marT="36000" marB="36000" anchor="ctr">
                    <a:lnB w="12700" cap="flat" cmpd="sng" algn="ctr">
                      <a:solidFill>
                        <a:schemeClr val="accent5"/>
                      </a:solidFill>
                      <a:prstDash val="solid"/>
                      <a:round/>
                      <a:headEnd type="none" w="med" len="med"/>
                      <a:tailEnd type="none" w="med" len="med"/>
                    </a:lnB>
                  </a:tcPr>
                </a:tc>
                <a:extLst>
                  <a:ext uri="{0D108BD9-81ED-4DB2-BD59-A6C34878D82A}">
                    <a16:rowId xmlns:a16="http://schemas.microsoft.com/office/drawing/2014/main" val="4215608122"/>
                  </a:ext>
                </a:extLst>
              </a:tr>
            </a:tbl>
          </a:graphicData>
        </a:graphic>
      </p:graphicFrame>
      <p:sp>
        <p:nvSpPr>
          <p:cNvPr id="8" name="Rectangle 7"/>
          <p:cNvSpPr/>
          <p:nvPr/>
        </p:nvSpPr>
        <p:spPr bwMode="gray">
          <a:xfrm>
            <a:off x="377227" y="729227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BERC, Deloitte Analysis; Note 1) The Average Cost of Natural Gas has been considered at BDT 12.6 / </a:t>
            </a:r>
            <a:r>
              <a:rPr lang="en-US" sz="700" i="1" dirty="0" err="1">
                <a:solidFill>
                  <a:prstClr val="black"/>
                </a:solidFill>
              </a:rPr>
              <a:t>scm</a:t>
            </a:r>
            <a:r>
              <a:rPr lang="en-US" sz="700" i="1" dirty="0">
                <a:solidFill>
                  <a:prstClr val="black"/>
                </a:solidFill>
              </a:rPr>
              <a:t> which corresponds to a cost of USD 3.97 / MMBTU at 1 USD = 80 BDT and 25.2 SCM = 1 MMBTU</a:t>
            </a:r>
          </a:p>
          <a:p>
            <a:pPr lvl="0">
              <a:lnSpc>
                <a:spcPct val="106000"/>
              </a:lnSpc>
              <a:defRPr/>
            </a:pPr>
            <a:r>
              <a:rPr lang="en-US" sz="700" i="1" dirty="0">
                <a:solidFill>
                  <a:prstClr val="black"/>
                </a:solidFill>
              </a:rPr>
              <a:t>2) The average tariff of BDT 9.8 / SCM (corresponding to USD 3.09 / MMBTU)  has been considered basis the overall revenue projected by BERC from the sale of Natural gas to the consumer segments at the mandated tariff.</a:t>
            </a:r>
          </a:p>
        </p:txBody>
      </p:sp>
      <p:graphicFrame>
        <p:nvGraphicFramePr>
          <p:cNvPr id="9" name="Table 8"/>
          <p:cNvGraphicFramePr>
            <a:graphicFrameLocks noGrp="1"/>
          </p:cNvGraphicFramePr>
          <p:nvPr>
            <p:custDataLst>
              <p:tags r:id="rId3"/>
            </p:custDataLst>
          </p:nvPr>
        </p:nvGraphicFramePr>
        <p:xfrm>
          <a:off x="449993" y="1961919"/>
          <a:ext cx="9790972" cy="306118"/>
        </p:xfrm>
        <a:graphic>
          <a:graphicData uri="http://schemas.openxmlformats.org/drawingml/2006/table">
            <a:tbl>
              <a:tblPr firstRow="1" bandRow="1">
                <a:tableStyleId>{5C22544A-7EE6-4342-B048-85BDC9FD1C3A}</a:tableStyleId>
              </a:tblPr>
              <a:tblGrid>
                <a:gridCol w="9790972">
                  <a:extLst>
                    <a:ext uri="{9D8B030D-6E8A-4147-A177-3AD203B41FA5}">
                      <a16:colId xmlns:a16="http://schemas.microsoft.com/office/drawing/2014/main" val="20000"/>
                    </a:ext>
                  </a:extLst>
                </a:gridCol>
              </a:tblGrid>
              <a:tr h="0">
                <a:tc>
                  <a:txBody>
                    <a:bodyPr/>
                    <a:lstStyle/>
                    <a:p>
                      <a:pPr marL="0" indent="0">
                        <a:spcAft>
                          <a:spcPts val="500"/>
                        </a:spcAft>
                        <a:buFont typeface="Arial" panose="020B0604020202020204" pitchFamily="34" charset="0"/>
                        <a:buNone/>
                      </a:pPr>
                      <a:endParaRPr lang="en-US" sz="1000" b="0"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746231232"/>
      </p:ext>
    </p:extLst>
  </p:cSld>
  <p:clrMapOvr>
    <a:masterClrMapping/>
  </p:clrMapOvr>
  <p:transition>
    <p:fade/>
  </p:transition>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Object 6" hidden="1"/>
          <p:cNvGraphicFramePr>
            <a:graphicFrameLocks noChangeAspect="1"/>
          </p:cNvGraphicFramePr>
          <p:nvPr>
            <p:custDataLst>
              <p:tags r:id="rId1"/>
            </p:custDataLst>
            <p:extLst>
              <p:ext uri="{D42A27DB-BD31-4B8C-83A1-F6EECF244321}">
                <p14:modId xmlns:p14="http://schemas.microsoft.com/office/powerpoint/2010/main" val="240742747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7" imgW="530" imgH="531" progId="TCLayout.ActiveDocument.1">
                  <p:embed/>
                </p:oleObj>
              </mc:Choice>
              <mc:Fallback>
                <p:oleObj name="think-cell Slide" r:id="rId27" imgW="530" imgH="531" progId="TCLayout.ActiveDocument.1">
                  <p:embed/>
                  <p:pic>
                    <p:nvPicPr>
                      <p:cNvPr id="7" name="Object 6" hidden="1"/>
                      <p:cNvPicPr/>
                      <p:nvPr/>
                    </p:nvPicPr>
                    <p:blipFill>
                      <a:blip r:embed="rId28"/>
                      <a:stretch>
                        <a:fillRect/>
                      </a:stretch>
                    </p:blipFill>
                    <p:spPr>
                      <a:xfrm>
                        <a:off x="1588" y="1588"/>
                        <a:ext cx="1588" cy="1588"/>
                      </a:xfrm>
                      <a:prstGeom prst="rect">
                        <a:avLst/>
                      </a:prstGeom>
                    </p:spPr>
                  </p:pic>
                </p:oleObj>
              </mc:Fallback>
            </mc:AlternateContent>
          </a:graphicData>
        </a:graphic>
      </p:graphicFrame>
      <p:sp>
        <p:nvSpPr>
          <p:cNvPr id="10" name="Rectangle 9"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graphicFrame>
        <p:nvGraphicFramePr>
          <p:cNvPr id="11" name="Table 10"/>
          <p:cNvGraphicFramePr>
            <a:graphicFrameLocks noGrp="1"/>
          </p:cNvGraphicFramePr>
          <p:nvPr>
            <p:custDataLst>
              <p:tags r:id="rId3"/>
            </p:custDataLst>
          </p:nvPr>
        </p:nvGraphicFramePr>
        <p:xfrm>
          <a:off x="5404782" y="1961918"/>
          <a:ext cx="4732062" cy="5792518"/>
        </p:xfrm>
        <a:graphic>
          <a:graphicData uri="http://schemas.openxmlformats.org/drawingml/2006/table">
            <a:tbl>
              <a:tblPr firstRow="1" bandRow="1">
                <a:tableStyleId>{5C22544A-7EE6-4342-B048-85BDC9FD1C3A}</a:tableStyleId>
              </a:tblPr>
              <a:tblGrid>
                <a:gridCol w="4732062">
                  <a:extLst>
                    <a:ext uri="{9D8B030D-6E8A-4147-A177-3AD203B41FA5}">
                      <a16:colId xmlns:a16="http://schemas.microsoft.com/office/drawing/2014/main" val="20000"/>
                    </a:ext>
                  </a:extLst>
                </a:gridCol>
              </a:tblGrid>
              <a:tr h="5760000">
                <a:tc>
                  <a:txBody>
                    <a:bodyPr/>
                    <a:lstStyle/>
                    <a:p>
                      <a:pPr marL="171450" lvl="0" indent="-171450">
                        <a:spcAft>
                          <a:spcPts val="500"/>
                        </a:spcAft>
                        <a:buFont typeface="Arial" panose="020B0604020202020204" pitchFamily="34" charset="0"/>
                        <a:buChar char="•"/>
                      </a:pPr>
                      <a:r>
                        <a:rPr lang="en-US" sz="1000" b="0" baseline="0" dirty="0">
                          <a:solidFill>
                            <a:schemeClr val="tx1"/>
                          </a:solidFill>
                        </a:rPr>
                        <a:t>Following graph shows total estimated total variable charge payment impact (BDT </a:t>
                      </a:r>
                      <a:r>
                        <a:rPr lang="en-US" sz="1000" b="0" baseline="0" dirty="0" err="1">
                          <a:solidFill>
                            <a:schemeClr val="tx1"/>
                          </a:solidFill>
                        </a:rPr>
                        <a:t>Bn</a:t>
                      </a:r>
                      <a:r>
                        <a:rPr lang="en-US" sz="1000" b="0" baseline="0" dirty="0">
                          <a:solidFill>
                            <a:schemeClr val="tx1"/>
                          </a:solidFill>
                        </a:rPr>
                        <a:t>) for BPDB till FY26:</a:t>
                      </a: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endParaRPr lang="en-US" sz="1000" b="0" baseline="0" dirty="0">
                        <a:solidFill>
                          <a:schemeClr val="tx1"/>
                        </a:solidFill>
                      </a:endParaRPr>
                    </a:p>
                    <a:p>
                      <a:pPr marL="171450" lvl="0" indent="-171450">
                        <a:spcAft>
                          <a:spcPts val="500"/>
                        </a:spcAft>
                        <a:buFont typeface="Arial" panose="020B0604020202020204" pitchFamily="34" charset="0"/>
                        <a:buChar char="•"/>
                      </a:pPr>
                      <a:r>
                        <a:rPr lang="en-US" sz="1000" b="0" baseline="0" dirty="0">
                          <a:solidFill>
                            <a:schemeClr val="tx1"/>
                          </a:solidFill>
                        </a:rPr>
                        <a:t>Following graph shows the Estimated Per unit Cost &amp; Revenue Forecast (BDT / kWh)</a:t>
                      </a:r>
                      <a:endParaRPr lang="en-US" sz="1000" b="0" baseline="3000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p>
                      <a:pPr marL="0" lvl="0" indent="0">
                        <a:spcAft>
                          <a:spcPts val="500"/>
                        </a:spcAft>
                        <a:buFont typeface="Arial" panose="020B0604020202020204" pitchFamily="34" charset="0"/>
                        <a:buNone/>
                      </a:pPr>
                      <a:endParaRPr lang="en-US" sz="1000" b="0" baseline="0" dirty="0">
                        <a:solidFill>
                          <a:schemeClr val="tx1"/>
                        </a:solidFill>
                      </a:endParaRPr>
                    </a:p>
                  </a:txBody>
                  <a:tcPr marL="107998" marT="107998">
                    <a:lnL w="12700" cmpd="sng">
                      <a:noFill/>
                    </a:lnL>
                    <a:lnR w="12700" cmpd="sng">
                      <a:noFill/>
                    </a:lnR>
                    <a:lnT w="38100" cap="flat" cmpd="sng" algn="ctr">
                      <a:solidFill>
                        <a:schemeClr val="accent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sp>
        <p:nvSpPr>
          <p:cNvPr id="8" name="Title 1"/>
          <p:cNvSpPr>
            <a:spLocks noGrp="1"/>
          </p:cNvSpPr>
          <p:nvPr>
            <p:ph type="title"/>
          </p:nvPr>
        </p:nvSpPr>
        <p:spPr>
          <a:xfrm>
            <a:off x="449264" y="647700"/>
            <a:ext cx="9791700" cy="431800"/>
          </a:xfrm>
        </p:spPr>
        <p:txBody>
          <a:bodyPr/>
          <a:lstStyle/>
          <a:p>
            <a:r>
              <a:rPr lang="en-US" dirty="0"/>
              <a:t>Annexure – D - BPDB – Variable Charge Assessment</a:t>
            </a:r>
            <a:endParaRPr lang="en-IN" dirty="0"/>
          </a:p>
        </p:txBody>
      </p:sp>
      <p:sp>
        <p:nvSpPr>
          <p:cNvPr id="9"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 growth in power demand at 10.4% CAGR would also lead to increase in variable payment for BPDB from the current 217 </a:t>
            </a:r>
            <a:r>
              <a:rPr kumimoji="0" lang="en-US" sz="1400" b="1" i="0" u="none" strike="noStrike" kern="1200" cap="none" spc="0" normalizeH="0" baseline="0" noProof="0" dirty="0" err="1">
                <a:ln>
                  <a:noFill/>
                </a:ln>
                <a:solidFill>
                  <a:prstClr val="black">
                    <a:lumMod val="50000"/>
                    <a:lumOff val="50000"/>
                  </a:prstClr>
                </a:solidFill>
                <a:effectLst/>
                <a:uLnTx/>
                <a:uFillTx/>
                <a:latin typeface="Verdana" panose="020B0604030504040204" pitchFamily="34" charset="0"/>
                <a:ea typeface="+mn-ea"/>
                <a:cs typeface="+mn-cs"/>
              </a:rPr>
              <a:t>Bn</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BDT to ~409 </a:t>
            </a:r>
            <a:r>
              <a:rPr kumimoji="0" lang="en-US" sz="1400" b="1" i="0" u="none" strike="noStrike" kern="1200" cap="none" spc="0" normalizeH="0" baseline="0" noProof="0" dirty="0" err="1">
                <a:ln>
                  <a:noFill/>
                </a:ln>
                <a:solidFill>
                  <a:prstClr val="black">
                    <a:lumMod val="50000"/>
                    <a:lumOff val="50000"/>
                  </a:prstClr>
                </a:solidFill>
                <a:effectLst/>
                <a:uLnTx/>
                <a:uFillTx/>
                <a:latin typeface="Verdana" panose="020B0604030504040204" pitchFamily="34" charset="0"/>
                <a:ea typeface="+mn-ea"/>
                <a:cs typeface="+mn-cs"/>
              </a:rPr>
              <a:t>Bn</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BDT by FY26; However the growth in variable payment would be lower at 9.5% CAGR leading to overall power increase cost at 8.5% CAGR only</a:t>
            </a:r>
            <a:endParaRPr kumimoji="0" lang="en-GB"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12" name="Table 11"/>
          <p:cNvGraphicFramePr>
            <a:graphicFrameLocks noGrp="1"/>
          </p:cNvGraphicFramePr>
          <p:nvPr>
            <p:custDataLst>
              <p:tags r:id="rId4"/>
            </p:custDataLst>
          </p:nvPr>
        </p:nvGraphicFramePr>
        <p:xfrm>
          <a:off x="449993" y="1961918"/>
          <a:ext cx="4734896" cy="5440367"/>
        </p:xfrm>
        <a:graphic>
          <a:graphicData uri="http://schemas.openxmlformats.org/drawingml/2006/table">
            <a:tbl>
              <a:tblPr firstRow="1" bandRow="1">
                <a:tableStyleId>{5C22544A-7EE6-4342-B048-85BDC9FD1C3A}</a:tableStyleId>
              </a:tblPr>
              <a:tblGrid>
                <a:gridCol w="4734896">
                  <a:extLst>
                    <a:ext uri="{9D8B030D-6E8A-4147-A177-3AD203B41FA5}">
                      <a16:colId xmlns:a16="http://schemas.microsoft.com/office/drawing/2014/main" val="20000"/>
                    </a:ext>
                  </a:extLst>
                </a:gridCol>
              </a:tblGrid>
              <a:tr h="5440367">
                <a:tc>
                  <a:txBody>
                    <a:bodyPr/>
                    <a:lstStyle/>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baseline="0" dirty="0">
                          <a:solidFill>
                            <a:schemeClr val="tx1"/>
                          </a:solidFill>
                        </a:rPr>
                        <a:t>Impact Variable Charges Payout by BPDB</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As mentioned earlier, Bangladesh paid ~217 </a:t>
                      </a:r>
                      <a:r>
                        <a:rPr lang="en-US" sz="1000" b="0" kern="1200" baseline="0" dirty="0" err="1">
                          <a:solidFill>
                            <a:schemeClr val="tx1"/>
                          </a:solidFill>
                          <a:latin typeface="+mn-lt"/>
                          <a:ea typeface="+mn-ea"/>
                          <a:cs typeface="+mn-cs"/>
                        </a:rPr>
                        <a:t>Bn</a:t>
                      </a:r>
                      <a:r>
                        <a:rPr lang="en-US" sz="1000" b="0" kern="1200" baseline="0" dirty="0">
                          <a:solidFill>
                            <a:schemeClr val="tx1"/>
                          </a:solidFill>
                          <a:latin typeface="+mn-lt"/>
                          <a:ea typeface="+mn-ea"/>
                          <a:cs typeface="+mn-cs"/>
                        </a:rPr>
                        <a:t> BDT as variable charges for the power produced in the country in FY19 </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Out of the BDT ~217 </a:t>
                      </a:r>
                      <a:r>
                        <a:rPr lang="en-US" sz="1000" b="0" kern="1200" baseline="0" dirty="0" err="1">
                          <a:solidFill>
                            <a:schemeClr val="tx1"/>
                          </a:solidFill>
                          <a:latin typeface="+mn-lt"/>
                          <a:ea typeface="+mn-ea"/>
                          <a:cs typeface="+mn-cs"/>
                        </a:rPr>
                        <a:t>Bn</a:t>
                      </a:r>
                      <a:r>
                        <a:rPr lang="en-US" sz="1000" b="0" kern="1200" baseline="0" dirty="0">
                          <a:solidFill>
                            <a:schemeClr val="tx1"/>
                          </a:solidFill>
                          <a:latin typeface="+mn-lt"/>
                          <a:ea typeface="+mn-ea"/>
                          <a:cs typeface="+mn-cs"/>
                        </a:rPr>
                        <a:t>, liquid fuel based plants (HSD/HFO) are estimated to have contributed to ~142 </a:t>
                      </a:r>
                      <a:r>
                        <a:rPr lang="en-US" sz="1000" b="0" kern="1200" baseline="0" dirty="0" err="1">
                          <a:solidFill>
                            <a:schemeClr val="tx1"/>
                          </a:solidFill>
                          <a:latin typeface="+mn-lt"/>
                          <a:ea typeface="+mn-ea"/>
                          <a:cs typeface="+mn-cs"/>
                        </a:rPr>
                        <a:t>Bn</a:t>
                      </a:r>
                      <a:r>
                        <a:rPr lang="en-US" sz="1000" b="0" kern="1200" baseline="0" dirty="0">
                          <a:solidFill>
                            <a:schemeClr val="tx1"/>
                          </a:solidFill>
                          <a:latin typeface="+mn-lt"/>
                          <a:ea typeface="+mn-ea"/>
                          <a:cs typeface="+mn-cs"/>
                        </a:rPr>
                        <a:t> (65% of the fuel cost) compared to their installed capacity of 6,140 MW (32% of total installed capacity of ~18,961 MW)</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Going forward we expect the average power demand in Bangladesh to be met by ~19,600 MW of non-liquid based power supply capacity in Bangladesh </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graph on the right (below) shows the estimated variable charge payout by BPDB in FY26 to meet the average power demand which may reach BDT ~409 </a:t>
                      </a:r>
                      <a:r>
                        <a:rPr lang="en-US" sz="1000" b="0" kern="1200" baseline="0" dirty="0" err="1">
                          <a:solidFill>
                            <a:schemeClr val="tx1"/>
                          </a:solidFill>
                          <a:latin typeface="+mn-lt"/>
                          <a:ea typeface="+mn-ea"/>
                          <a:cs typeface="+mn-cs"/>
                        </a:rPr>
                        <a:t>Bn</a:t>
                      </a:r>
                      <a:r>
                        <a:rPr lang="en-US" sz="1000" b="0" kern="1200" baseline="0" dirty="0">
                          <a:solidFill>
                            <a:schemeClr val="tx1"/>
                          </a:solidFill>
                          <a:latin typeface="+mn-lt"/>
                          <a:ea typeface="+mn-ea"/>
                          <a:cs typeface="+mn-cs"/>
                        </a:rPr>
                        <a:t> growing at a CAGR of ~9.5% which is lower than estimated average power demand growth</a:t>
                      </a:r>
                    </a:p>
                    <a:p>
                      <a:pPr marL="0" marR="0" lvl="0" indent="0" algn="just" defTabSz="990571" rtl="0" eaLnBrk="1" fontAlgn="auto" latinLnBrk="0" hangingPunct="1">
                        <a:lnSpc>
                          <a:spcPct val="100000"/>
                        </a:lnSpc>
                        <a:spcBef>
                          <a:spcPts val="0"/>
                        </a:spcBef>
                        <a:spcAft>
                          <a:spcPts val="500"/>
                        </a:spcAft>
                        <a:buClrTx/>
                        <a:buSzTx/>
                        <a:buFont typeface="Arial" panose="020B0604020202020204" pitchFamily="34" charset="0"/>
                        <a:buNone/>
                        <a:tabLst/>
                        <a:defRPr/>
                      </a:pPr>
                      <a:r>
                        <a:rPr lang="en-US" sz="1000" b="1" kern="1200" baseline="0" dirty="0">
                          <a:solidFill>
                            <a:schemeClr val="tx1"/>
                          </a:solidFill>
                          <a:latin typeface="+mn-lt"/>
                          <a:ea typeface="+mn-ea"/>
                          <a:cs typeface="+mn-cs"/>
                        </a:rPr>
                        <a:t>Per Unit Cost &amp; Revenue Impact</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The average power purchase cost of BPDB which stood at BDT ~5.7 / kWh in FY19 may reduce to BDT ~5.0 / kWh primarily driven by replacement of expensive HSD/HFO based generation to economical sources of power such as LNG and Imported Coal</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We have also considered that in such as supply scenario, the average bulk power selling rate of BPDB may remain constant at BDT 5 / kWh (at FY19 levels) considering the fall in overall power purchase cost for BPDB</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r>
                        <a:rPr lang="en-US" sz="1000" b="0" kern="1200" baseline="0" dirty="0">
                          <a:solidFill>
                            <a:schemeClr val="tx1"/>
                          </a:solidFill>
                          <a:latin typeface="+mn-lt"/>
                          <a:ea typeface="+mn-ea"/>
                          <a:cs typeface="+mn-cs"/>
                        </a:rPr>
                        <a:t>Thus the gap between BPDB’s revenue and power purchase cost is expected to reduce significantly to marginal levels by FY26</a:t>
                      </a:r>
                    </a:p>
                    <a:p>
                      <a:pPr marL="171450" marR="0" lvl="0" indent="-171450" algn="just" defTabSz="990571" rtl="0" eaLnBrk="1" fontAlgn="auto" latinLnBrk="0" hangingPunct="1">
                        <a:lnSpc>
                          <a:spcPct val="100000"/>
                        </a:lnSpc>
                        <a:spcBef>
                          <a:spcPts val="0"/>
                        </a:spcBef>
                        <a:spcAft>
                          <a:spcPts val="500"/>
                        </a:spcAft>
                        <a:buClrTx/>
                        <a:buSzTx/>
                        <a:buFont typeface="Arial" panose="020B0604020202020204" pitchFamily="34" charset="0"/>
                        <a:buChar char="•"/>
                        <a:tabLst/>
                        <a:defRPr/>
                      </a:pPr>
                      <a:endParaRPr lang="en-US" sz="1000" b="0" kern="1200" baseline="0" dirty="0">
                        <a:solidFill>
                          <a:schemeClr val="tx1"/>
                        </a:solidFill>
                        <a:latin typeface="+mn-lt"/>
                        <a:ea typeface="+mn-ea"/>
                        <a:cs typeface="+mn-cs"/>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sp>
        <p:nvSpPr>
          <p:cNvPr id="2" name="TextBox 1"/>
          <p:cNvSpPr txBox="1"/>
          <p:nvPr/>
        </p:nvSpPr>
        <p:spPr>
          <a:xfrm>
            <a:off x="377114" y="6660285"/>
            <a:ext cx="9936000" cy="387846"/>
          </a:xfrm>
          <a:prstGeom prst="rect">
            <a:avLst/>
          </a:prstGeom>
          <a:noFill/>
          <a:ln w="19050" algn="ctr">
            <a:noFill/>
            <a:miter lim="800000"/>
            <a:headEnd/>
            <a:tailEnd/>
          </a:ln>
        </p:spPr>
        <p:txBody>
          <a:bodyPr wrap="square" lIns="88900" tIns="88900" rIns="88900" bIns="88900" rtlCol="0" anchor="ctr"/>
          <a:lstStyle>
            <a:defPPr>
              <a:defRPr lang="en-US"/>
            </a:defPPr>
            <a:lvl1pPr marR="0" lvl="0" indent="0" fontAlgn="auto">
              <a:lnSpc>
                <a:spcPct val="106000"/>
              </a:lnSpc>
              <a:spcBef>
                <a:spcPts val="0"/>
              </a:spcBef>
              <a:spcAft>
                <a:spcPts val="0"/>
              </a:spcAft>
              <a:buClrTx/>
              <a:buSzTx/>
              <a:buFontTx/>
              <a:buNone/>
              <a:tabLst/>
              <a:defRPr kumimoji="0" sz="700" b="0" i="1" u="none" strike="noStrike" cap="none" spc="0" normalizeH="0" baseline="0">
                <a:ln>
                  <a:noFill/>
                </a:ln>
                <a:solidFill>
                  <a:prstClr val="black"/>
                </a:solidFill>
                <a:effectLst/>
                <a:uLnTx/>
                <a:uFillTx/>
                <a:latin typeface="Verdana"/>
              </a:defRPr>
            </a:lvl1pP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GB" sz="700" b="0" i="1" u="none" strike="noStrike" kern="1200" cap="none" spc="0" normalizeH="0" baseline="0" noProof="0" dirty="0">
                <a:ln>
                  <a:noFill/>
                </a:ln>
                <a:solidFill>
                  <a:prstClr val="black"/>
                </a:solidFill>
                <a:effectLst/>
                <a:uLnTx/>
                <a:uFillTx/>
                <a:latin typeface="Verdana"/>
                <a:ea typeface="+mn-ea"/>
                <a:cs typeface="+mn-cs"/>
              </a:rPr>
              <a:t>Source: BPDB, Industry Reports, Deloitte Analysis; Note 1</a:t>
            </a:r>
            <a:r>
              <a:rPr kumimoji="0" lang="en-US" sz="700" b="0" i="1" u="none" strike="noStrike" kern="1200" cap="none" spc="0" normalizeH="0" baseline="0" noProof="0" dirty="0">
                <a:ln>
                  <a:noFill/>
                </a:ln>
                <a:solidFill>
                  <a:prstClr val="black"/>
                </a:solidFill>
                <a:effectLst/>
                <a:uLnTx/>
                <a:uFillTx/>
                <a:latin typeface="Verdana"/>
                <a:ea typeface="+mn-ea"/>
                <a:cs typeface="+mn-cs"/>
              </a:rPr>
              <a:t>) We have considered the average gas price for power sector at BDT 4.45 / SCM as per prevailing tariff with no escalation. 2) We have considered the average Variable Cost per unit (kWh) for Gas, HSD and HFO based plants belonging to Rental / Quick Rental Ownership (RPP/QRPP) in FY19 at same level as that of the entire Gas, HSD and HFO portfolio in Bangladesh in FY19 3) We have considered the fixed cost of HFO based plants under RPP/QRPP ownership in FY19 based on sample benchmark data of PPAs for a few RPP/QRPP plants in Bangladesh which may lead to variance (+/- 10%) in the total power purchase cost estimated by us and the total power purchase cost reported by BPDB in FY19 4) We have considered the fixed cost of HSD Based plants under RPP / QRPP ownership at the same level as that of entire HSD portfolio in Bangladesh in FY19 which may lead to variance (+/- 10%) in the total power purchase cost estimated by us and the total power purchase cost reported by BPDB in FY19 5) We have</a:t>
            </a:r>
          </a:p>
        </p:txBody>
      </p:sp>
      <p:sp>
        <p:nvSpPr>
          <p:cNvPr id="43" name="TextBox 42"/>
          <p:cNvSpPr txBox="1"/>
          <p:nvPr/>
        </p:nvSpPr>
        <p:spPr>
          <a:xfrm>
            <a:off x="2463113" y="7110378"/>
            <a:ext cx="7755625" cy="190181"/>
          </a:xfrm>
          <a:prstGeom prst="rect">
            <a:avLst/>
          </a:prstGeom>
          <a:noFill/>
          <a:ln w="19050" algn="ctr">
            <a:noFill/>
            <a:miter lim="800000"/>
            <a:headEnd/>
            <a:tailEnd/>
          </a:ln>
        </p:spPr>
        <p:txBody>
          <a:bodyPr wrap="square" lIns="88900" tIns="88900" rIns="88900" bIns="88900" rtlCol="0" anchor="ctr"/>
          <a:lstStyle>
            <a:defPPr>
              <a:defRPr lang="en-US"/>
            </a:defPPr>
            <a:lvl1pPr marR="0" lvl="0" indent="0" fontAlgn="auto">
              <a:lnSpc>
                <a:spcPct val="106000"/>
              </a:lnSpc>
              <a:spcBef>
                <a:spcPts val="0"/>
              </a:spcBef>
              <a:spcAft>
                <a:spcPts val="0"/>
              </a:spcAft>
              <a:buClrTx/>
              <a:buSzTx/>
              <a:buFontTx/>
              <a:buNone/>
              <a:tabLst/>
              <a:defRPr kumimoji="0" sz="700" b="0" i="1" u="none" strike="noStrike" cap="none" spc="0" normalizeH="0" baseline="0">
                <a:ln>
                  <a:noFill/>
                </a:ln>
                <a:solidFill>
                  <a:prstClr val="black"/>
                </a:solidFill>
                <a:effectLst/>
                <a:uLnTx/>
                <a:uFillTx/>
                <a:latin typeface="Verdana"/>
              </a:defRPr>
            </a:lvl1pP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estimated the total power purchase cost of  upcoming LNG and Imported coal based power plants considering the </a:t>
            </a:r>
            <a:r>
              <a:rPr kumimoji="0" lang="en-US" sz="700" b="0" i="1" u="none" strike="noStrike" kern="1200" cap="none" spc="0" normalizeH="0" baseline="0" noProof="0" dirty="0" err="1">
                <a:ln>
                  <a:noFill/>
                </a:ln>
                <a:solidFill>
                  <a:prstClr val="black"/>
                </a:solidFill>
                <a:effectLst/>
                <a:uLnTx/>
                <a:uFillTx/>
                <a:latin typeface="Verdana"/>
                <a:ea typeface="+mn-ea"/>
                <a:cs typeface="+mn-cs"/>
              </a:rPr>
              <a:t>levelized</a:t>
            </a:r>
            <a:r>
              <a:rPr kumimoji="0" lang="en-US" sz="700" b="0" i="1" u="none" strike="noStrike" kern="1200" cap="none" spc="0" normalizeH="0" baseline="0" noProof="0" dirty="0">
                <a:ln>
                  <a:noFill/>
                </a:ln>
                <a:solidFill>
                  <a:prstClr val="black"/>
                </a:solidFill>
                <a:effectLst/>
                <a:uLnTx/>
                <a:uFillTx/>
                <a:latin typeface="Verdana"/>
                <a:ea typeface="+mn-ea"/>
                <a:cs typeface="+mn-cs"/>
              </a:rPr>
              <a:t> projections for fixed cost of such plants</a:t>
            </a:r>
          </a:p>
        </p:txBody>
      </p:sp>
      <p:sp>
        <p:nvSpPr>
          <p:cNvPr id="44" name="TextBox 43"/>
          <p:cNvSpPr txBox="1"/>
          <p:nvPr/>
        </p:nvSpPr>
        <p:spPr>
          <a:xfrm>
            <a:off x="354888" y="7176843"/>
            <a:ext cx="9712818" cy="478817"/>
          </a:xfrm>
          <a:prstGeom prst="rect">
            <a:avLst/>
          </a:prstGeom>
          <a:noFill/>
          <a:ln w="19050" algn="ctr">
            <a:noFill/>
            <a:miter lim="800000"/>
            <a:headEnd/>
            <a:tailEnd/>
          </a:ln>
        </p:spPr>
        <p:txBody>
          <a:bodyPr wrap="square" lIns="88900" tIns="88900" rIns="88900" bIns="88900" rtlCol="0" anchor="ctr"/>
          <a:lstStyle>
            <a:defPPr>
              <a:defRPr lang="en-US"/>
            </a:defPPr>
            <a:lvl1pPr marR="0" lvl="0" indent="0" fontAlgn="auto">
              <a:lnSpc>
                <a:spcPct val="106000"/>
              </a:lnSpc>
              <a:spcBef>
                <a:spcPts val="0"/>
              </a:spcBef>
              <a:spcAft>
                <a:spcPts val="0"/>
              </a:spcAft>
              <a:buClrTx/>
              <a:buSzTx/>
              <a:buFontTx/>
              <a:buNone/>
              <a:tabLst/>
              <a:defRPr kumimoji="0" sz="700" b="0" i="1" u="none" strike="noStrike" cap="none" spc="0" normalizeH="0" baseline="0">
                <a:ln>
                  <a:noFill/>
                </a:ln>
                <a:solidFill>
                  <a:prstClr val="black"/>
                </a:solidFill>
                <a:effectLst/>
                <a:uLnTx/>
                <a:uFillTx/>
                <a:latin typeface="Verdana"/>
              </a:defRPr>
            </a:lvl1pP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based on industry estimates and 1st year fuel price for LNG at $8 / MMBTU (landed cost) and Coal at $~90 / </a:t>
            </a:r>
            <a:r>
              <a:rPr kumimoji="0" lang="en-US" sz="700" b="0" i="1" u="none" strike="noStrike" kern="1200" cap="none" spc="0" normalizeH="0" baseline="0" noProof="0" dirty="0" err="1">
                <a:ln>
                  <a:noFill/>
                </a:ln>
                <a:solidFill>
                  <a:prstClr val="black"/>
                </a:solidFill>
                <a:effectLst/>
                <a:uLnTx/>
                <a:uFillTx/>
                <a:latin typeface="Verdana"/>
                <a:ea typeface="+mn-ea"/>
                <a:cs typeface="+mn-cs"/>
              </a:rPr>
              <a:t>Tonne</a:t>
            </a:r>
            <a:r>
              <a:rPr kumimoji="0" lang="en-US" sz="700" b="0" i="1" u="none" strike="noStrike" kern="1200" cap="none" spc="0" normalizeH="0" baseline="0" noProof="0" dirty="0">
                <a:ln>
                  <a:noFill/>
                </a:ln>
                <a:solidFill>
                  <a:prstClr val="black"/>
                </a:solidFill>
                <a:effectLst/>
                <a:uLnTx/>
                <a:uFillTx/>
                <a:latin typeface="Verdana"/>
                <a:ea typeface="+mn-ea"/>
                <a:cs typeface="+mn-cs"/>
              </a:rPr>
              <a:t> (landed cost) 6) The incremental capacity addition required to meet the average demand (apart from the planned capacity addition) has been assumed to be met by LNG based power plants only 7) We have estimated the projected the BPDB payment obligations for meeting average power demand only and not for meeting peak demand</a:t>
            </a:r>
          </a:p>
        </p:txBody>
      </p:sp>
      <p:sp>
        <p:nvSpPr>
          <p:cNvPr id="24" name="Rectangle 23"/>
          <p:cNvSpPr/>
          <p:nvPr>
            <p:custDataLst>
              <p:tags r:id="rId5"/>
            </p:custDataLst>
          </p:nvPr>
        </p:nvSpPr>
        <p:spPr bwMode="auto">
          <a:xfrm>
            <a:off x="6831013" y="6234113"/>
            <a:ext cx="179388" cy="1333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5" name="StandardTextbox"/>
          <p:cNvSpPr>
            <a:spLocks noGrp="1"/>
          </p:cNvSpPr>
          <p:nvPr>
            <p:custDataLst>
              <p:tags r:id="rId6"/>
            </p:custDataLst>
          </p:nvPr>
        </p:nvSpPr>
        <p:spPr bwMode="auto">
          <a:xfrm>
            <a:off x="7061200" y="6229350"/>
            <a:ext cx="1949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80E37E29-1EF4-4C1F-90B7-3BC63E3D88F7}" type="datetime'Ave''''r''age'' ''Bu''lk'' Po''wer Sa''le'' P''r''''i''''c''e'">
              <a:rPr kumimoji="0" lang="en-US" altLang="en-US" sz="1000" b="0" i="0" u="none" strike="noStrike" kern="1200" cap="none" spc="0" normalizeH="0" baseline="0" noProof="0" smtClean="0">
                <a:ln>
                  <a:noFill/>
                </a:ln>
                <a:solidFill>
                  <a:srgbClr val="000000"/>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Average Bulk Power Sale Price</a:t>
            </a:fld>
            <a:endParaRPr kumimoji="0" lang="en-IN" sz="1000" b="0" i="0" u="none" strike="noStrike" kern="1200" cap="none" spc="0" normalizeH="0" baseline="0" noProof="0" dirty="0">
              <a:ln>
                <a:noFill/>
              </a:ln>
              <a:solidFill>
                <a:srgbClr val="000000"/>
              </a:solidFill>
              <a:effectLst/>
              <a:uLnTx/>
              <a:uFillTx/>
              <a:latin typeface="Verdana"/>
              <a:ea typeface="+mn-ea"/>
              <a:cs typeface="+mn-cs"/>
              <a:sym typeface="+mn-lt"/>
            </a:endParaRPr>
          </a:p>
        </p:txBody>
      </p:sp>
      <p:graphicFrame>
        <p:nvGraphicFramePr>
          <p:cNvPr id="97" name="Chart 96"/>
          <p:cNvGraphicFramePr/>
          <p:nvPr>
            <p:custDataLst>
              <p:tags r:id="rId7"/>
            </p:custDataLst>
          </p:nvPr>
        </p:nvGraphicFramePr>
        <p:xfrm>
          <a:off x="5405438" y="4770438"/>
          <a:ext cx="4711700" cy="1023937"/>
        </p:xfrm>
        <a:graphic>
          <a:graphicData uri="http://schemas.openxmlformats.org/drawingml/2006/chart">
            <c:chart xmlns:c="http://schemas.openxmlformats.org/drawingml/2006/chart" xmlns:r="http://schemas.openxmlformats.org/officeDocument/2006/relationships" r:id="rId29"/>
          </a:graphicData>
        </a:graphic>
      </p:graphicFrame>
      <p:sp>
        <p:nvSpPr>
          <p:cNvPr id="27" name="StandardTextbox"/>
          <p:cNvSpPr>
            <a:spLocks noGrp="1"/>
          </p:cNvSpPr>
          <p:nvPr>
            <p:custDataLst>
              <p:tags r:id="rId8"/>
            </p:custDataLst>
          </p:nvPr>
        </p:nvSpPr>
        <p:spPr bwMode="auto">
          <a:xfrm>
            <a:off x="6462713" y="5797550"/>
            <a:ext cx="3254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2CA79904-E029-42E1-834D-CC778B5BCF25}" type="datetime'''''''''''''F''''''Y''''''''''''19'''''''''''''''''''''''''">
              <a:rPr kumimoji="0" lang="en-IN" altLang="en-US" sz="10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FY19</a:t>
            </a:fld>
            <a:endParaRPr kumimoji="0" lang="en-IN" sz="10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28" name="StandardTextbox"/>
          <p:cNvSpPr>
            <a:spLocks noGrp="1"/>
          </p:cNvSpPr>
          <p:nvPr>
            <p:custDataLst>
              <p:tags r:id="rId9"/>
            </p:custDataLst>
          </p:nvPr>
        </p:nvSpPr>
        <p:spPr bwMode="auto">
          <a:xfrm>
            <a:off x="8335963" y="5797550"/>
            <a:ext cx="11239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83F9D710-2AD0-4C85-9611-BF39FF7DEF75}" type="datetime'''''''''F''''Y26'' (''''E''s''''tim''''at''''''''''''e''d)'''">
              <a:rPr kumimoji="0" lang="en-US" altLang="en-US" sz="10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FY26 (Estimated)</a:t>
            </a:fld>
            <a:endParaRPr kumimoji="0" lang="en-IN" sz="1000" b="0" i="0" u="none" strike="noStrike" kern="1200" cap="none" spc="0" normalizeH="0" baseline="0" noProof="0" dirty="0">
              <a:ln>
                <a:noFill/>
              </a:ln>
              <a:solidFill>
                <a:srgbClr val="000000"/>
              </a:solidFill>
              <a:effectLst/>
              <a:uLnTx/>
              <a:uFillTx/>
              <a:latin typeface="Verdana"/>
              <a:ea typeface="+mn-ea"/>
              <a:cs typeface="+mn-cs"/>
              <a:sym typeface="+mn-lt"/>
            </a:endParaRPr>
          </a:p>
        </p:txBody>
      </p:sp>
      <p:graphicFrame>
        <p:nvGraphicFramePr>
          <p:cNvPr id="98" name="Chart 97"/>
          <p:cNvGraphicFramePr/>
          <p:nvPr>
            <p:custDataLst>
              <p:tags r:id="rId10"/>
            </p:custDataLst>
          </p:nvPr>
        </p:nvGraphicFramePr>
        <p:xfrm>
          <a:off x="7540625" y="4878388"/>
          <a:ext cx="1778000" cy="915987"/>
        </p:xfrm>
        <a:graphic>
          <a:graphicData uri="http://schemas.openxmlformats.org/drawingml/2006/chart">
            <c:chart xmlns:c="http://schemas.openxmlformats.org/drawingml/2006/chart" xmlns:r="http://schemas.openxmlformats.org/officeDocument/2006/relationships" r:id="rId30"/>
          </a:graphicData>
        </a:graphic>
      </p:graphicFrame>
      <p:sp>
        <p:nvSpPr>
          <p:cNvPr id="32" name="StandardTextbox"/>
          <p:cNvSpPr>
            <a:spLocks noGrp="1"/>
          </p:cNvSpPr>
          <p:nvPr>
            <p:custDataLst>
              <p:tags r:id="rId11"/>
            </p:custDataLst>
          </p:nvPr>
        </p:nvSpPr>
        <p:spPr bwMode="gray">
          <a:xfrm>
            <a:off x="8305800" y="4792663"/>
            <a:ext cx="2492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D3621C8-0CD1-4003-ABBE-888446C2BE14}" type="datetime'''''''''5''''.''''''''0'''''''''''''''''''''''''''''''''''''''">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5.0</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graphicFrame>
        <p:nvGraphicFramePr>
          <p:cNvPr id="73" name="Chart 72"/>
          <p:cNvGraphicFramePr/>
          <p:nvPr>
            <p:custDataLst>
              <p:tags r:id="rId12"/>
            </p:custDataLst>
          </p:nvPr>
        </p:nvGraphicFramePr>
        <p:xfrm>
          <a:off x="5245100" y="4575175"/>
          <a:ext cx="1778000" cy="1219200"/>
        </p:xfrm>
        <a:graphic>
          <a:graphicData uri="http://schemas.openxmlformats.org/drawingml/2006/chart">
            <c:chart xmlns:c="http://schemas.openxmlformats.org/drawingml/2006/chart" xmlns:r="http://schemas.openxmlformats.org/officeDocument/2006/relationships" r:id="rId31"/>
          </a:graphicData>
        </a:graphic>
      </p:graphicFrame>
      <p:sp>
        <p:nvSpPr>
          <p:cNvPr id="52" name="StandardTextbox"/>
          <p:cNvSpPr>
            <a:spLocks noGrp="1"/>
          </p:cNvSpPr>
          <p:nvPr>
            <p:custDataLst>
              <p:tags r:id="rId13"/>
            </p:custDataLst>
          </p:nvPr>
        </p:nvSpPr>
        <p:spPr bwMode="gray">
          <a:xfrm>
            <a:off x="6010275" y="4479925"/>
            <a:ext cx="24923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0638" tIns="0" rIns="20638" bIns="0" numCol="1" spcCol="0" rtlCol="0" anchor="b"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DCC56678-ABB9-4D7B-B614-7C84C518D579}" type="datetime'''''''''''''''''''''''5''.''7'''''''">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5.7</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4" name="Rectangle 53"/>
          <p:cNvSpPr/>
          <p:nvPr>
            <p:custDataLst>
              <p:tags r:id="rId14"/>
            </p:custDataLst>
          </p:nvPr>
        </p:nvSpPr>
        <p:spPr bwMode="auto">
          <a:xfrm>
            <a:off x="6015038" y="5980113"/>
            <a:ext cx="179388" cy="133350"/>
          </a:xfrm>
          <a:prstGeom prst="rect">
            <a:avLst/>
          </a:prstGeom>
          <a:solidFill>
            <a:schemeClr val="accent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53" name="Rectangle 52"/>
          <p:cNvSpPr/>
          <p:nvPr>
            <p:custDataLst>
              <p:tags r:id="rId15"/>
            </p:custDataLst>
          </p:nvPr>
        </p:nvSpPr>
        <p:spPr bwMode="auto">
          <a:xfrm>
            <a:off x="7962900" y="5980113"/>
            <a:ext cx="179388" cy="133350"/>
          </a:xfrm>
          <a:prstGeom prst="rect">
            <a:avLst/>
          </a:prstGeom>
          <a:solidFill>
            <a:srgbClr val="012169"/>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55" name="StandardTextbox"/>
          <p:cNvSpPr>
            <a:spLocks noGrp="1"/>
          </p:cNvSpPr>
          <p:nvPr>
            <p:custDataLst>
              <p:tags r:id="rId16"/>
            </p:custDataLst>
          </p:nvPr>
        </p:nvSpPr>
        <p:spPr bwMode="auto">
          <a:xfrm>
            <a:off x="6245225" y="5975350"/>
            <a:ext cx="161607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5D5D4266-26A6-4EC4-9EDC-DA92AB7B6EC8}" type="datetime'A''''ve''''r''a''g''e Cap''a''''cit''''''y'''''' ''C''har''ge'">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Average Capacity Charge</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sp>
        <p:nvSpPr>
          <p:cNvPr id="56" name="StandardTextbox"/>
          <p:cNvSpPr>
            <a:spLocks noGrp="1"/>
          </p:cNvSpPr>
          <p:nvPr>
            <p:custDataLst>
              <p:tags r:id="rId17"/>
            </p:custDataLst>
          </p:nvPr>
        </p:nvSpPr>
        <p:spPr bwMode="auto">
          <a:xfrm>
            <a:off x="8193088" y="5975350"/>
            <a:ext cx="15875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l" defTabSz="990571" rtl="0" eaLnBrk="1" fontAlgn="auto" latinLnBrk="0" hangingPunct="1">
              <a:lnSpc>
                <a:spcPct val="100000"/>
              </a:lnSpc>
              <a:spcBef>
                <a:spcPct val="0"/>
              </a:spcBef>
              <a:spcAft>
                <a:spcPct val="0"/>
              </a:spcAft>
              <a:buClrTx/>
              <a:buSzPct val="100000"/>
              <a:buFont typeface="Arial"/>
              <a:buNone/>
              <a:tabLst/>
              <a:defRPr/>
            </a:pPr>
            <a:fld id="{0B870AE6-063D-44D2-92FE-A0F5D78C4F89}" type="datetime'''''''Ave''''rage'''' ''Variable C''ha''''r''''''''ge'''''''''">
              <a:rPr kumimoji="0" lang="en-IN" altLang="en-US" sz="1000" b="0" i="0" u="none" strike="noStrike" kern="1200" cap="none" spc="0" normalizeH="0" baseline="0" noProof="0" smtClean="0">
                <a:ln>
                  <a:noFill/>
                </a:ln>
                <a:solidFill>
                  <a:prstClr val="black"/>
                </a:solidFill>
                <a:effectLst/>
                <a:uLnTx/>
                <a:uFillTx/>
                <a:latin typeface="Verdana"/>
                <a:ea typeface="+mn-ea"/>
                <a:cs typeface="+mn-cs"/>
              </a:rPr>
              <a:pPr marL="0" marR="0" lvl="1" indent="0" algn="l" defTabSz="990571" rtl="0" eaLnBrk="1" fontAlgn="auto" latinLnBrk="0" hangingPunct="1">
                <a:lnSpc>
                  <a:spcPct val="100000"/>
                </a:lnSpc>
                <a:spcBef>
                  <a:spcPct val="0"/>
                </a:spcBef>
                <a:spcAft>
                  <a:spcPct val="0"/>
                </a:spcAft>
                <a:buClrTx/>
                <a:buSzPct val="100000"/>
                <a:buFont typeface="Arial"/>
                <a:buNone/>
                <a:tabLst/>
                <a:defRPr/>
              </a:pPr>
              <a:t>Average Variable Charge</a:t>
            </a:fld>
            <a:endParaRPr kumimoji="0" lang="en-IN" sz="1000" b="0" i="0" u="none" strike="noStrike" kern="1200" cap="none" spc="0" normalizeH="0" baseline="0" noProof="0" dirty="0">
              <a:ln>
                <a:noFill/>
              </a:ln>
              <a:solidFill>
                <a:prstClr val="black"/>
              </a:solidFill>
              <a:effectLst/>
              <a:uLnTx/>
              <a:uFillTx/>
              <a:latin typeface="Verdana"/>
              <a:ea typeface="+mn-ea"/>
              <a:cs typeface="+mn-cs"/>
              <a:sym typeface="+mn-lt"/>
            </a:endParaRPr>
          </a:p>
        </p:txBody>
      </p:sp>
      <p:cxnSp>
        <p:nvCxnSpPr>
          <p:cNvPr id="69" name="Straight Connector 68"/>
          <p:cNvCxnSpPr/>
          <p:nvPr/>
        </p:nvCxnSpPr>
        <p:spPr>
          <a:xfrm>
            <a:off x="5487987" y="5702300"/>
            <a:ext cx="4343400"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graphicFrame>
        <p:nvGraphicFramePr>
          <p:cNvPr id="94" name="Chart 93"/>
          <p:cNvGraphicFramePr/>
          <p:nvPr>
            <p:custDataLst>
              <p:tags r:id="rId18"/>
            </p:custDataLst>
          </p:nvPr>
        </p:nvGraphicFramePr>
        <p:xfrm>
          <a:off x="5322888" y="2586038"/>
          <a:ext cx="4895850" cy="1239837"/>
        </p:xfrm>
        <a:graphic>
          <a:graphicData uri="http://schemas.openxmlformats.org/drawingml/2006/chart">
            <c:chart xmlns:c="http://schemas.openxmlformats.org/drawingml/2006/chart" xmlns:r="http://schemas.openxmlformats.org/officeDocument/2006/relationships" r:id="rId32"/>
          </a:graphicData>
        </a:graphic>
      </p:graphicFrame>
      <p:sp useBgFill="1">
        <p:nvSpPr>
          <p:cNvPr id="20" name="Freeform 19"/>
          <p:cNvSpPr/>
          <p:nvPr>
            <p:custDataLst>
              <p:tags r:id="rId19"/>
            </p:custDataLst>
          </p:nvPr>
        </p:nvSpPr>
        <p:spPr bwMode="auto">
          <a:xfrm>
            <a:off x="7723188" y="3670300"/>
            <a:ext cx="96838" cy="146051"/>
          </a:xfrm>
          <a:custGeom>
            <a:avLst/>
            <a:gdLst/>
            <a:ahLst/>
            <a:cxnLst/>
            <a:rect l="0" t="0" r="0" b="0"/>
            <a:pathLst>
              <a:path w="96838" h="146051">
                <a:moveTo>
                  <a:pt x="96837" y="0"/>
                </a:moveTo>
                <a:lnTo>
                  <a:pt x="57150" y="146050"/>
                </a:lnTo>
                <a:lnTo>
                  <a:pt x="0" y="146050"/>
                </a:lnTo>
                <a:lnTo>
                  <a:pt x="39687" y="0"/>
                </a:lnTo>
                <a:close/>
              </a:path>
            </a:pathLst>
          </a:custGeom>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19" name="Freeform 18"/>
          <p:cNvSpPr/>
          <p:nvPr>
            <p:custDataLst>
              <p:tags r:id="rId20"/>
            </p:custDataLst>
          </p:nvPr>
        </p:nvSpPr>
        <p:spPr bwMode="auto">
          <a:xfrm>
            <a:off x="7780338" y="3670300"/>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787481" rtl="0" eaLnBrk="1" fontAlgn="auto" latinLnBrk="0" hangingPunct="1">
              <a:lnSpc>
                <a:spcPct val="100000"/>
              </a:lnSpc>
              <a:spcBef>
                <a:spcPts val="0"/>
              </a:spcBef>
              <a:spcAft>
                <a:spcPts val="0"/>
              </a:spcAft>
              <a:buClrTx/>
              <a:buSzTx/>
              <a:buFontTx/>
              <a:buNone/>
              <a:tabLst/>
              <a:defRPr/>
            </a:pPr>
            <a:endParaRPr kumimoji="0" lang="en-IN" sz="1550" b="0" i="0" u="none" strike="noStrike" kern="1200" cap="none" spc="0" normalizeH="0" baseline="0" noProof="0">
              <a:ln>
                <a:noFill/>
              </a:ln>
              <a:solidFill>
                <a:prstClr val="black"/>
              </a:solidFill>
              <a:effectLst/>
              <a:uLnTx/>
              <a:uFillTx/>
              <a:latin typeface="Verdana"/>
              <a:ea typeface="+mn-ea"/>
              <a:cs typeface="+mn-cs"/>
            </a:endParaRPr>
          </a:p>
        </p:txBody>
      </p:sp>
      <p:sp>
        <p:nvSpPr>
          <p:cNvPr id="18" name="Freeform 17"/>
          <p:cNvSpPr/>
          <p:nvPr>
            <p:custDataLst>
              <p:tags r:id="rId21"/>
            </p:custDataLst>
          </p:nvPr>
        </p:nvSpPr>
        <p:spPr bwMode="auto">
          <a:xfrm>
            <a:off x="7723188" y="3670300"/>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787481" rtl="0" eaLnBrk="1" fontAlgn="auto" latinLnBrk="0" hangingPunct="1">
              <a:lnSpc>
                <a:spcPct val="100000"/>
              </a:lnSpc>
              <a:spcBef>
                <a:spcPts val="0"/>
              </a:spcBef>
              <a:spcAft>
                <a:spcPts val="0"/>
              </a:spcAft>
              <a:buClrTx/>
              <a:buSzTx/>
              <a:buFontTx/>
              <a:buNone/>
              <a:tabLst/>
              <a:defRPr/>
            </a:pPr>
            <a:endParaRPr kumimoji="0" lang="en-IN" sz="1550" b="0" i="0" u="none" strike="noStrike" kern="1200" cap="none" spc="0" normalizeH="0" baseline="0" noProof="0">
              <a:ln>
                <a:noFill/>
              </a:ln>
              <a:solidFill>
                <a:prstClr val="black"/>
              </a:solidFill>
              <a:effectLst/>
              <a:uLnTx/>
              <a:uFillTx/>
              <a:latin typeface="Verdana"/>
              <a:ea typeface="+mn-ea"/>
              <a:cs typeface="+mn-cs"/>
            </a:endParaRPr>
          </a:p>
        </p:txBody>
      </p:sp>
      <p:cxnSp>
        <p:nvCxnSpPr>
          <p:cNvPr id="82" name="Straight Connector 81"/>
          <p:cNvCxnSpPr/>
          <p:nvPr>
            <p:custDataLst>
              <p:tags r:id="rId22"/>
            </p:custDataLst>
          </p:nvPr>
        </p:nvCxnSpPr>
        <p:spPr bwMode="auto">
          <a:xfrm flipV="1">
            <a:off x="6588125" y="2479676"/>
            <a:ext cx="2365375" cy="449263"/>
          </a:xfrm>
          <a:prstGeom prst="line">
            <a:avLst/>
          </a:prstGeom>
          <a:ln w="6350" cap="flat" cmpd="sng" algn="ctr">
            <a:solidFill>
              <a:schemeClr val="tx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4" name="StandardTextbox"/>
          <p:cNvSpPr>
            <a:spLocks noGrp="1"/>
          </p:cNvSpPr>
          <p:nvPr>
            <p:custDataLst>
              <p:tags r:id="rId23"/>
            </p:custDataLst>
          </p:nvPr>
        </p:nvSpPr>
        <p:spPr bwMode="auto">
          <a:xfrm>
            <a:off x="8391525" y="3829050"/>
            <a:ext cx="11239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6B32C2B8-FAC9-47A7-A20E-CCA7BD794046}" type="datetime'F''Y2''''''''''6'''' (Esti''m''a''t''''e''''d'''''''')'''">
              <a:rPr kumimoji="0" lang="en-IN" altLang="en-US" sz="10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FY26 (Estimated)</a:t>
            </a:fld>
            <a:endParaRPr kumimoji="0" lang="en-IN" sz="10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83" name="StandardTextbox"/>
          <p:cNvSpPr>
            <a:spLocks noGrp="1"/>
          </p:cNvSpPr>
          <p:nvPr>
            <p:custDataLst>
              <p:tags r:id="rId24"/>
            </p:custDataLst>
          </p:nvPr>
        </p:nvSpPr>
        <p:spPr bwMode="auto">
          <a:xfrm>
            <a:off x="6026150" y="3829050"/>
            <a:ext cx="11239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53496C3B-3E67-407F-99DB-BE2BB8FEF05D}" type="datetime'F''''''Y''''''''''''''19'' (E''''s''t''''i''m''''a''''''ted)'">
              <a:rPr kumimoji="0" lang="en-IN" altLang="en-US" sz="1000" b="0" i="0" u="none" strike="noStrike" kern="1200" cap="none" spc="0" normalizeH="0" baseline="0" noProof="0" smtClean="0">
                <a:ln>
                  <a:noFill/>
                </a:ln>
                <a:solidFill>
                  <a:srgbClr val="000000"/>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FY19 (Estimated)</a:t>
            </a:fld>
            <a:endParaRPr kumimoji="0" lang="en-IN" sz="1000" b="0" i="0" u="none" strike="noStrike" kern="1200" cap="none" spc="0" normalizeH="0" baseline="0" noProof="0" dirty="0">
              <a:ln>
                <a:noFill/>
              </a:ln>
              <a:solidFill>
                <a:srgbClr val="000000"/>
              </a:solidFill>
              <a:effectLst/>
              <a:uLnTx/>
              <a:uFillTx/>
              <a:latin typeface="Verdana"/>
              <a:ea typeface="+mn-ea"/>
              <a:cs typeface="+mn-cs"/>
              <a:sym typeface="+mn-lt"/>
            </a:endParaRPr>
          </a:p>
        </p:txBody>
      </p:sp>
      <p:sp>
        <p:nvSpPr>
          <p:cNvPr id="85" name="StandardTextbox"/>
          <p:cNvSpPr>
            <a:spLocks noGrp="1"/>
          </p:cNvSpPr>
          <p:nvPr>
            <p:custDataLst>
              <p:tags r:id="rId25"/>
            </p:custDataLst>
          </p:nvPr>
        </p:nvSpPr>
        <p:spPr bwMode="auto">
          <a:xfrm>
            <a:off x="7496175" y="2595563"/>
            <a:ext cx="550863" cy="215900"/>
          </a:xfrm>
          <a:prstGeom prst="ellipse">
            <a:avLst/>
          </a:prstGeom>
          <a:solidFill>
            <a:srgbClr val="FFFFFF"/>
          </a:solidFill>
          <a:ln w="9525" algn="ctr">
            <a:solidFill>
              <a:schemeClr val="tx1"/>
            </a:solidFill>
          </a:ln>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1" indent="0" algn="ctr" defTabSz="990571" rtl="0" eaLnBrk="1" fontAlgn="auto" latinLnBrk="0" hangingPunct="1">
              <a:lnSpc>
                <a:spcPct val="100000"/>
              </a:lnSpc>
              <a:spcBef>
                <a:spcPct val="0"/>
              </a:spcBef>
              <a:spcAft>
                <a:spcPct val="0"/>
              </a:spcAft>
              <a:buClrTx/>
              <a:buSzPct val="100000"/>
              <a:buFont typeface="Arial"/>
              <a:buNone/>
              <a:tabLst/>
              <a:defRPr/>
            </a:pPr>
            <a:fld id="{8990107B-184B-4DE2-B516-6033AD12D2E0}" type="datetime'''''''''''''''''''''''9''''''''.5%'''''''''''''''''''''''''''">
              <a:rPr kumimoji="0" lang="en-IN" altLang="en-US" sz="1000" b="1" i="0" u="none" strike="noStrike" kern="1200" cap="none" spc="0" normalizeH="0" baseline="0" noProof="0" smtClean="0">
                <a:ln>
                  <a:noFill/>
                </a:ln>
                <a:solidFill>
                  <a:prstClr val="black"/>
                </a:solidFill>
                <a:effectLst/>
                <a:uLnTx/>
                <a:uFillTx/>
                <a:latin typeface="Verdana"/>
                <a:ea typeface="+mn-ea"/>
                <a:cs typeface="+mn-cs"/>
              </a:rPr>
              <a:pPr marL="0" marR="0" lvl="1" indent="0" algn="ctr" defTabSz="990571" rtl="0" eaLnBrk="1" fontAlgn="auto" latinLnBrk="0" hangingPunct="1">
                <a:lnSpc>
                  <a:spcPct val="100000"/>
                </a:lnSpc>
                <a:spcBef>
                  <a:spcPct val="0"/>
                </a:spcBef>
                <a:spcAft>
                  <a:spcPct val="0"/>
                </a:spcAft>
                <a:buClrTx/>
                <a:buSzPct val="100000"/>
                <a:buFont typeface="Arial"/>
                <a:buNone/>
                <a:tabLst/>
                <a:defRPr/>
              </a:pPr>
              <a:t>9.5%</a:t>
            </a:fld>
            <a:endParaRPr kumimoji="0" lang="en-IN" sz="1000" b="1" i="0" u="none" strike="noStrike" kern="1200" cap="none" spc="0" normalizeH="0" baseline="0" noProof="0" dirty="0">
              <a:ln>
                <a:noFill/>
              </a:ln>
              <a:solidFill>
                <a:prstClr val="black"/>
              </a:solidFill>
              <a:effectLst/>
              <a:uLnTx/>
              <a:uFillTx/>
              <a:latin typeface="Verdana"/>
              <a:ea typeface="+mn-ea"/>
              <a:cs typeface="+mn-cs"/>
              <a:sym typeface="+mn-lt"/>
            </a:endParaRPr>
          </a:p>
        </p:txBody>
      </p:sp>
    </p:spTree>
    <p:extLst>
      <p:ext uri="{BB962C8B-B14F-4D97-AF65-F5344CB8AC3E}">
        <p14:creationId xmlns:p14="http://schemas.microsoft.com/office/powerpoint/2010/main" val="2440211222"/>
      </p:ext>
    </p:extLst>
  </p:cSld>
  <p:clrMapOvr>
    <a:masterClrMapping/>
  </p:clrMapOvr>
  <p:transition>
    <p:fade/>
  </p:transition>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121718092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5" name="Object 4"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6" name="Table 5"/>
          <p:cNvGraphicFramePr>
            <a:graphicFrameLocks noGrp="1"/>
          </p:cNvGraphicFramePr>
          <p:nvPr>
            <p:extLst>
              <p:ext uri="{D42A27DB-BD31-4B8C-83A1-F6EECF244321}">
                <p14:modId xmlns:p14="http://schemas.microsoft.com/office/powerpoint/2010/main" val="971682195"/>
              </p:ext>
            </p:extLst>
          </p:nvPr>
        </p:nvGraphicFramePr>
        <p:xfrm>
          <a:off x="449265" y="1961444"/>
          <a:ext cx="9791699" cy="4541520"/>
        </p:xfrm>
        <a:graphic>
          <a:graphicData uri="http://schemas.openxmlformats.org/drawingml/2006/table">
            <a:tbl>
              <a:tblPr firstRow="1">
                <a:tableStyleId>{3B4B98B0-60AC-42C2-AFA5-B58CD77FA1E5}</a:tableStyleId>
              </a:tblPr>
              <a:tblGrid>
                <a:gridCol w="624161">
                  <a:extLst>
                    <a:ext uri="{9D8B030D-6E8A-4147-A177-3AD203B41FA5}">
                      <a16:colId xmlns:a16="http://schemas.microsoft.com/office/drawing/2014/main" val="840296419"/>
                    </a:ext>
                  </a:extLst>
                </a:gridCol>
                <a:gridCol w="5883965">
                  <a:extLst>
                    <a:ext uri="{9D8B030D-6E8A-4147-A177-3AD203B41FA5}">
                      <a16:colId xmlns:a16="http://schemas.microsoft.com/office/drawing/2014/main" val="4215697382"/>
                    </a:ext>
                  </a:extLst>
                </a:gridCol>
                <a:gridCol w="1262270">
                  <a:extLst>
                    <a:ext uri="{9D8B030D-6E8A-4147-A177-3AD203B41FA5}">
                      <a16:colId xmlns:a16="http://schemas.microsoft.com/office/drawing/2014/main" val="2067057095"/>
                    </a:ext>
                  </a:extLst>
                </a:gridCol>
                <a:gridCol w="1262270">
                  <a:extLst>
                    <a:ext uri="{9D8B030D-6E8A-4147-A177-3AD203B41FA5}">
                      <a16:colId xmlns:a16="http://schemas.microsoft.com/office/drawing/2014/main" val="1641153827"/>
                    </a:ext>
                  </a:extLst>
                </a:gridCol>
                <a:gridCol w="759033">
                  <a:extLst>
                    <a:ext uri="{9D8B030D-6E8A-4147-A177-3AD203B41FA5}">
                      <a16:colId xmlns:a16="http://schemas.microsoft.com/office/drawing/2014/main" val="3422243030"/>
                    </a:ext>
                  </a:extLst>
                </a:gridCol>
              </a:tblGrid>
              <a:tr h="338491">
                <a:tc>
                  <a:txBody>
                    <a:bodyPr/>
                    <a:lstStyle/>
                    <a:p>
                      <a:pPr algn="l" fontAlgn="b"/>
                      <a:r>
                        <a:rPr lang="en-IN" sz="1000" u="none" strike="noStrike" dirty="0">
                          <a:effectLst/>
                        </a:rPr>
                        <a:t>Sr. No</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rPr>
                        <a:t>Project</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rPr>
                        <a:t>Diameter (inch)</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rPr>
                        <a:t>Length (km)</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u="none" strike="noStrike" dirty="0">
                          <a:effectLst/>
                        </a:rPr>
                        <a:t>CoD</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163140"/>
                  </a:ext>
                </a:extLst>
              </a:tr>
              <a:tr h="208302">
                <a:tc>
                  <a:txBody>
                    <a:bodyPr/>
                    <a:lstStyle/>
                    <a:p>
                      <a:pPr algn="l" fontAlgn="b"/>
                      <a:r>
                        <a:rPr lang="en-IN" sz="1000" u="none" strike="noStrike" dirty="0">
                          <a:effectLst/>
                        </a:rPr>
                        <a:t>1</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North-South Gas Transmission 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24</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175</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1993</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8123960"/>
                  </a:ext>
                </a:extLst>
              </a:tr>
              <a:tr h="208302">
                <a:tc>
                  <a:txBody>
                    <a:bodyPr/>
                    <a:lstStyle/>
                    <a:p>
                      <a:pPr algn="l" fontAlgn="b"/>
                      <a:r>
                        <a:rPr lang="en-US" sz="1000" b="0" i="0" u="none" strike="noStrike" dirty="0">
                          <a:solidFill>
                            <a:srgbClr val="000000"/>
                          </a:solidFill>
                          <a:effectLst/>
                          <a:latin typeface="+mj-lt"/>
                        </a:rPr>
                        <a:t>2</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Bakhrabad To Demra Transmission 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20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68.72</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Jul-85</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27935158"/>
                  </a:ext>
                </a:extLst>
              </a:tr>
              <a:tr h="208302">
                <a:tc>
                  <a:txBody>
                    <a:bodyPr/>
                    <a:lstStyle/>
                    <a:p>
                      <a:pPr algn="l" fontAlgn="b"/>
                      <a:r>
                        <a:rPr lang="en-US" sz="1000" b="0" i="0" u="none" strike="noStrike" dirty="0">
                          <a:solidFill>
                            <a:srgbClr val="000000"/>
                          </a:solidFill>
                          <a:effectLst/>
                          <a:latin typeface="+mj-lt"/>
                        </a:rPr>
                        <a:t>3</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Bakhrabad To Chittagong Transmission 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24</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174.65</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Jul-85</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3812204"/>
                  </a:ext>
                </a:extLst>
              </a:tr>
              <a:tr h="208302">
                <a:tc>
                  <a:txBody>
                    <a:bodyPr/>
                    <a:lstStyle/>
                    <a:p>
                      <a:pPr algn="l" fontAlgn="b"/>
                      <a:r>
                        <a:rPr lang="en-US" sz="1000" b="0" i="0" u="none" strike="noStrike" dirty="0">
                          <a:solidFill>
                            <a:srgbClr val="000000"/>
                          </a:solidFill>
                          <a:effectLst/>
                          <a:latin typeface="+mj-lt"/>
                        </a:rPr>
                        <a:t>4</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Ashuganj-Bakhrabad Gas Transmission Pipeline (1st Phase)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30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58.5</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Dec-97</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7096542"/>
                  </a:ext>
                </a:extLst>
              </a:tr>
              <a:tr h="208302">
                <a:tc>
                  <a:txBody>
                    <a:bodyPr/>
                    <a:lstStyle/>
                    <a:p>
                      <a:pPr algn="l" fontAlgn="b"/>
                      <a:r>
                        <a:rPr lang="en-US" sz="1000" b="0" i="0" u="none" strike="noStrike" dirty="0">
                          <a:solidFill>
                            <a:srgbClr val="000000"/>
                          </a:solidFill>
                          <a:effectLst/>
                          <a:latin typeface="+mj-lt"/>
                        </a:rPr>
                        <a:t>5</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Paschimanchal Gas Transmission Project (a)Bangabandhu (B-B) Bridge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30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9</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Jun-00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6660223"/>
                  </a:ext>
                </a:extLst>
              </a:tr>
              <a:tr h="208302">
                <a:tc>
                  <a:txBody>
                    <a:bodyPr/>
                    <a:lstStyle/>
                    <a:p>
                      <a:pPr algn="l" fontAlgn="b"/>
                      <a:r>
                        <a:rPr lang="en-US" sz="1000" b="0" i="0" u="none" strike="noStrike" dirty="0">
                          <a:solidFill>
                            <a:srgbClr val="000000"/>
                          </a:solidFill>
                          <a:effectLst/>
                          <a:latin typeface="+mj-lt"/>
                        </a:rPr>
                        <a:t>6</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Paschimanchal Gas Transmission Project (b) Elenga-Nalka</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24</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28.5</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Jun-00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3831097"/>
                  </a:ext>
                </a:extLst>
              </a:tr>
              <a:tr h="208302">
                <a:tc>
                  <a:txBody>
                    <a:bodyPr/>
                    <a:lstStyle/>
                    <a:p>
                      <a:pPr algn="l" fontAlgn="b"/>
                      <a:r>
                        <a:rPr lang="en-US" sz="1000" b="0" i="0" u="none" strike="noStrike" dirty="0">
                          <a:solidFill>
                            <a:srgbClr val="000000"/>
                          </a:solidFill>
                          <a:effectLst/>
                          <a:latin typeface="+mj-lt"/>
                        </a:rPr>
                        <a:t>7</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Paschimanchal Gas Transmission Project © Nalka-Baghabari</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20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35.5</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Jun-00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16996449"/>
                  </a:ext>
                </a:extLst>
              </a:tr>
              <a:tr h="208302">
                <a:tc>
                  <a:txBody>
                    <a:bodyPr/>
                    <a:lstStyle/>
                    <a:p>
                      <a:pPr algn="l" fontAlgn="b"/>
                      <a:r>
                        <a:rPr lang="en-US" sz="1000" b="0" i="0" u="none" strike="noStrike" dirty="0">
                          <a:solidFill>
                            <a:srgbClr val="000000"/>
                          </a:solidFill>
                          <a:effectLst/>
                          <a:latin typeface="+mj-lt"/>
                        </a:rPr>
                        <a:t>8</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Beanibazar-Kailashtila</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20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18</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Sep-01</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40273808"/>
                  </a:ext>
                </a:extLst>
              </a:tr>
              <a:tr h="208302">
                <a:tc>
                  <a:txBody>
                    <a:bodyPr/>
                    <a:lstStyle/>
                    <a:p>
                      <a:pPr algn="l" fontAlgn="b"/>
                      <a:r>
                        <a:rPr lang="en-US" sz="1000" b="0" i="0" u="none" strike="noStrike" dirty="0">
                          <a:solidFill>
                            <a:srgbClr val="000000"/>
                          </a:solidFill>
                          <a:effectLst/>
                          <a:latin typeface="+mj-lt"/>
                        </a:rPr>
                        <a:t>9</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Rashidpur-Ashuganj Gas Transmission Pipeline (1st Phase): Rashidpur-Habigonj</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30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28</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May-05</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7579023"/>
                  </a:ext>
                </a:extLst>
              </a:tr>
              <a:tr h="208302">
                <a:tc>
                  <a:txBody>
                    <a:bodyPr/>
                    <a:lstStyle/>
                    <a:p>
                      <a:pPr algn="l" fontAlgn="b"/>
                      <a:r>
                        <a:rPr lang="en-US" sz="1000" b="0" i="0" u="none" strike="noStrike" dirty="0">
                          <a:solidFill>
                            <a:srgbClr val="000000"/>
                          </a:solidFill>
                          <a:effectLst/>
                          <a:latin typeface="+mj-lt"/>
                        </a:rPr>
                        <a:t>10</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Rashidpur-Ashuganj Gas Transmission Pipeline (2nd Phase): Habigonj-Ashuganj</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30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54</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May-05</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5787625"/>
                  </a:ext>
                </a:extLst>
              </a:tr>
              <a:tr h="208302">
                <a:tc>
                  <a:txBody>
                    <a:bodyPr/>
                    <a:lstStyle/>
                    <a:p>
                      <a:pPr algn="l" fontAlgn="b"/>
                      <a:r>
                        <a:rPr lang="en-US" sz="1000" b="0" i="0" u="none" strike="noStrike" dirty="0">
                          <a:solidFill>
                            <a:srgbClr val="000000"/>
                          </a:solidFill>
                          <a:effectLst/>
                          <a:latin typeface="+mj-lt"/>
                        </a:rPr>
                        <a:t>11</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Nalka-Bogra Gas Transmission Pipeline (a) Nalka-Hatikumrul</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30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6</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Jun-06</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9034168"/>
                  </a:ext>
                </a:extLst>
              </a:tr>
              <a:tr h="208302">
                <a:tc>
                  <a:txBody>
                    <a:bodyPr/>
                    <a:lstStyle/>
                    <a:p>
                      <a:pPr algn="l" fontAlgn="b"/>
                      <a:r>
                        <a:rPr lang="en-US" sz="1000" b="0" i="0" u="none" strike="noStrike" dirty="0">
                          <a:solidFill>
                            <a:srgbClr val="000000"/>
                          </a:solidFill>
                          <a:effectLst/>
                          <a:latin typeface="+mj-lt"/>
                        </a:rPr>
                        <a:t>12</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Nalka-Bogra Gas Transmission Pipeline (b) Hatikumrul-Bogra</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20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54</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Jun-06</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356563"/>
                  </a:ext>
                </a:extLst>
              </a:tr>
              <a:tr h="208302">
                <a:tc>
                  <a:txBody>
                    <a:bodyPr/>
                    <a:lstStyle/>
                    <a:p>
                      <a:pPr algn="l" fontAlgn="b"/>
                      <a:r>
                        <a:rPr lang="en-US" sz="1000" b="0" i="0" u="none" strike="noStrike" dirty="0">
                          <a:solidFill>
                            <a:srgbClr val="000000"/>
                          </a:solidFill>
                          <a:effectLst/>
                          <a:latin typeface="+mj-lt"/>
                        </a:rPr>
                        <a:t>13</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Ashuganj-Monohordi Gas Transmission 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30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37</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Jul-07</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39851162"/>
                  </a:ext>
                </a:extLst>
              </a:tr>
              <a:tr h="208302">
                <a:tc>
                  <a:txBody>
                    <a:bodyPr/>
                    <a:lstStyle/>
                    <a:p>
                      <a:pPr algn="l" fontAlgn="b"/>
                      <a:r>
                        <a:rPr lang="en-US" sz="1000" b="0" i="0" u="none" strike="noStrike" dirty="0">
                          <a:solidFill>
                            <a:srgbClr val="000000"/>
                          </a:solidFill>
                          <a:effectLst/>
                          <a:latin typeface="+mj-lt"/>
                        </a:rPr>
                        <a:t>14</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Dhaka Clean Fuel Gas Transmission 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20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60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Jun-08</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5587816"/>
                  </a:ext>
                </a:extLst>
              </a:tr>
              <a:tr h="208302">
                <a:tc>
                  <a:txBody>
                    <a:bodyPr/>
                    <a:lstStyle/>
                    <a:p>
                      <a:pPr algn="l" fontAlgn="b"/>
                      <a:r>
                        <a:rPr lang="en-US" sz="1000" b="0" i="0" u="none" strike="noStrike" dirty="0">
                          <a:solidFill>
                            <a:srgbClr val="000000"/>
                          </a:solidFill>
                          <a:effectLst/>
                          <a:latin typeface="+mj-lt"/>
                        </a:rPr>
                        <a:t>15</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Titas Gas Field (Location-G)-AB Pipeline Gas Transmission 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24</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8</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Dec-12</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4923438"/>
                  </a:ext>
                </a:extLst>
              </a:tr>
              <a:tr h="208302">
                <a:tc>
                  <a:txBody>
                    <a:bodyPr/>
                    <a:lstStyle/>
                    <a:p>
                      <a:pPr algn="l" fontAlgn="b"/>
                      <a:r>
                        <a:rPr lang="en-US" sz="1000" b="0" i="0" u="none" strike="noStrike" dirty="0">
                          <a:solidFill>
                            <a:srgbClr val="000000"/>
                          </a:solidFill>
                          <a:effectLst/>
                          <a:latin typeface="+mj-lt"/>
                        </a:rPr>
                        <a:t>16</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Srikail Gas Field (Location-2)-AB Pipeline 20-inch 1.50-km Gas Transmission 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20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1.5</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Mar-13</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8044040"/>
                  </a:ext>
                </a:extLst>
              </a:tr>
              <a:tr h="208302">
                <a:tc>
                  <a:txBody>
                    <a:bodyPr/>
                    <a:lstStyle/>
                    <a:p>
                      <a:pPr algn="l" fontAlgn="b"/>
                      <a:r>
                        <a:rPr lang="en-US" sz="1000" b="0" i="0" u="none" strike="noStrike" dirty="0">
                          <a:solidFill>
                            <a:srgbClr val="000000"/>
                          </a:solidFill>
                          <a:effectLst/>
                          <a:latin typeface="+mj-lt"/>
                        </a:rPr>
                        <a:t>17</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Monohordi-Dhanua &amp; Elenga-Bangabandhu Bridge East Gas Transmission 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30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51</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Jun-14</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92635"/>
                  </a:ext>
                </a:extLst>
              </a:tr>
            </a:tbl>
          </a:graphicData>
        </a:graphic>
      </p:graphicFrame>
      <p:sp>
        <p:nvSpPr>
          <p:cNvPr id="2" name="Title 1"/>
          <p:cNvSpPr>
            <a:spLocks noGrp="1"/>
          </p:cNvSpPr>
          <p:nvPr>
            <p:ph type="title"/>
          </p:nvPr>
        </p:nvSpPr>
        <p:spPr/>
        <p:txBody>
          <a:bodyPr/>
          <a:lstStyle/>
          <a:p>
            <a:r>
              <a:rPr lang="en-US" dirty="0"/>
              <a:t>Annexure E | Gas Transmission | Existing Pipelines (1/2)</a:t>
            </a:r>
            <a:endParaRPr lang="en-IN" dirty="0"/>
          </a:p>
        </p:txBody>
      </p:sp>
      <p:sp>
        <p:nvSpPr>
          <p:cNvPr id="7"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dirty="0">
                <a:solidFill>
                  <a:prstClr val="black">
                    <a:lumMod val="50000"/>
                    <a:lumOff val="50000"/>
                  </a:prstClr>
                </a:solidFill>
                <a:latin typeface="Verdana" panose="020B0604030504040204" pitchFamily="34" charset="0"/>
              </a:rPr>
              <a:t>GTCL has been tasked with maintaining the high pressure transmission lines and has acquired / transferred the major transmission lines from other transmission &amp; distribution companies in Bangladesh as per GoB directive</a:t>
            </a:r>
            <a:endPar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sp>
        <p:nvSpPr>
          <p:cNvPr id="9" name="Rectangle 8"/>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Petrobangla, GTCL, Industry Reports, Deloitte Analysis</a:t>
            </a:r>
          </a:p>
        </p:txBody>
      </p:sp>
    </p:spTree>
    <p:extLst>
      <p:ext uri="{BB962C8B-B14F-4D97-AF65-F5344CB8AC3E}">
        <p14:creationId xmlns:p14="http://schemas.microsoft.com/office/powerpoint/2010/main" val="3128904152"/>
      </p:ext>
    </p:extLst>
  </p:cSld>
  <p:clrMapOvr>
    <a:masterClrMapping/>
  </p:clrMapOvr>
  <p:transition>
    <p:fade/>
  </p:transition>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Object 8" hidden="1"/>
          <p:cNvGraphicFramePr>
            <a:graphicFrameLocks noChangeAspect="1"/>
          </p:cNvGraphicFramePr>
          <p:nvPr>
            <p:custDataLst>
              <p:tags r:id="rId1"/>
            </p:custDataLst>
            <p:extLst>
              <p:ext uri="{D42A27DB-BD31-4B8C-83A1-F6EECF244321}">
                <p14:modId xmlns:p14="http://schemas.microsoft.com/office/powerpoint/2010/main" val="325776457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9" name="Object 8"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11" name="Rectangle 10"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10" name="Title 1"/>
          <p:cNvSpPr>
            <a:spLocks noGrp="1"/>
          </p:cNvSpPr>
          <p:nvPr>
            <p:ph type="title"/>
          </p:nvPr>
        </p:nvSpPr>
        <p:spPr>
          <a:xfrm>
            <a:off x="449264" y="647700"/>
            <a:ext cx="9791700" cy="431800"/>
          </a:xfrm>
        </p:spPr>
        <p:txBody>
          <a:bodyPr/>
          <a:lstStyle/>
          <a:p>
            <a:r>
              <a:rPr lang="en-US" dirty="0"/>
              <a:t>Annexure E | Gas Transmission | Existing Pipelines (2/2)</a:t>
            </a:r>
            <a:endParaRPr lang="en-IN" dirty="0"/>
          </a:p>
        </p:txBody>
      </p:sp>
      <p:graphicFrame>
        <p:nvGraphicFramePr>
          <p:cNvPr id="12" name="Table 11"/>
          <p:cNvGraphicFramePr>
            <a:graphicFrameLocks noGrp="1"/>
          </p:cNvGraphicFramePr>
          <p:nvPr>
            <p:extLst>
              <p:ext uri="{D42A27DB-BD31-4B8C-83A1-F6EECF244321}">
                <p14:modId xmlns:p14="http://schemas.microsoft.com/office/powerpoint/2010/main" val="3606688903"/>
              </p:ext>
            </p:extLst>
          </p:nvPr>
        </p:nvGraphicFramePr>
        <p:xfrm>
          <a:off x="449265" y="1961444"/>
          <a:ext cx="9791699" cy="2987040"/>
        </p:xfrm>
        <a:graphic>
          <a:graphicData uri="http://schemas.openxmlformats.org/drawingml/2006/table">
            <a:tbl>
              <a:tblPr firstRow="1">
                <a:tableStyleId>{3B4B98B0-60AC-42C2-AFA5-B58CD77FA1E5}</a:tableStyleId>
              </a:tblPr>
              <a:tblGrid>
                <a:gridCol w="624161">
                  <a:extLst>
                    <a:ext uri="{9D8B030D-6E8A-4147-A177-3AD203B41FA5}">
                      <a16:colId xmlns:a16="http://schemas.microsoft.com/office/drawing/2014/main" val="840296419"/>
                    </a:ext>
                  </a:extLst>
                </a:gridCol>
                <a:gridCol w="5883965">
                  <a:extLst>
                    <a:ext uri="{9D8B030D-6E8A-4147-A177-3AD203B41FA5}">
                      <a16:colId xmlns:a16="http://schemas.microsoft.com/office/drawing/2014/main" val="4215697382"/>
                    </a:ext>
                  </a:extLst>
                </a:gridCol>
                <a:gridCol w="1262270">
                  <a:extLst>
                    <a:ext uri="{9D8B030D-6E8A-4147-A177-3AD203B41FA5}">
                      <a16:colId xmlns:a16="http://schemas.microsoft.com/office/drawing/2014/main" val="2067057095"/>
                    </a:ext>
                  </a:extLst>
                </a:gridCol>
                <a:gridCol w="1262270">
                  <a:extLst>
                    <a:ext uri="{9D8B030D-6E8A-4147-A177-3AD203B41FA5}">
                      <a16:colId xmlns:a16="http://schemas.microsoft.com/office/drawing/2014/main" val="1641153827"/>
                    </a:ext>
                  </a:extLst>
                </a:gridCol>
                <a:gridCol w="759033">
                  <a:extLst>
                    <a:ext uri="{9D8B030D-6E8A-4147-A177-3AD203B41FA5}">
                      <a16:colId xmlns:a16="http://schemas.microsoft.com/office/drawing/2014/main" val="3422243030"/>
                    </a:ext>
                  </a:extLst>
                </a:gridCol>
              </a:tblGrid>
              <a:tr h="338491">
                <a:tc>
                  <a:txBody>
                    <a:bodyPr/>
                    <a:lstStyle/>
                    <a:p>
                      <a:pPr algn="l" fontAlgn="b"/>
                      <a:r>
                        <a:rPr lang="en-IN" sz="1000" u="none" strike="noStrike" dirty="0">
                          <a:effectLst/>
                        </a:rPr>
                        <a:t>Sr. No</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ctr" fontAlgn="b"/>
                      <a:r>
                        <a:rPr lang="en-IN" sz="1000" u="none" strike="noStrike" dirty="0">
                          <a:effectLst/>
                        </a:rPr>
                        <a:t>Project</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ctr" fontAlgn="b"/>
                      <a:r>
                        <a:rPr lang="en-IN" sz="1000" u="none" strike="noStrike" dirty="0">
                          <a:effectLst/>
                        </a:rPr>
                        <a:t>Diameter (inch)</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ctr" fontAlgn="b"/>
                      <a:r>
                        <a:rPr lang="en-IN" sz="1000" u="none" strike="noStrike" dirty="0">
                          <a:effectLst/>
                        </a:rPr>
                        <a:t>Length (km)</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ctr" fontAlgn="b"/>
                      <a:r>
                        <a:rPr lang="en-US" sz="1000" u="none" strike="noStrike" dirty="0">
                          <a:effectLst/>
                        </a:rPr>
                        <a:t>CoD</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163140"/>
                  </a:ext>
                </a:extLst>
              </a:tr>
              <a:tr h="208302">
                <a:tc>
                  <a:txBody>
                    <a:bodyPr/>
                    <a:lstStyle/>
                    <a:p>
                      <a:pPr algn="l" fontAlgn="b"/>
                      <a:r>
                        <a:rPr lang="en-US" sz="1000" b="0" i="0" u="none" strike="noStrike" dirty="0">
                          <a:solidFill>
                            <a:srgbClr val="000000"/>
                          </a:solidFill>
                          <a:effectLst/>
                          <a:latin typeface="+mj-lt"/>
                        </a:rPr>
                        <a:t>18</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Bonpara-Rajshahi Gas Transmission 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IN" sz="1000" b="0" i="0" u="none" strike="noStrike" dirty="0">
                          <a:solidFill>
                            <a:srgbClr val="000000"/>
                          </a:solidFill>
                          <a:effectLst/>
                          <a:latin typeface="+mj-lt"/>
                        </a:rPr>
                        <a:t>12</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IN" sz="1000" b="0" i="0" u="none" strike="noStrike" dirty="0">
                          <a:solidFill>
                            <a:srgbClr val="000000"/>
                          </a:solidFill>
                          <a:effectLst/>
                          <a:latin typeface="+mj-lt"/>
                        </a:rPr>
                        <a:t>53</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Dec-14</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8123960"/>
                  </a:ext>
                </a:extLst>
              </a:tr>
              <a:tr h="208302">
                <a:tc>
                  <a:txBody>
                    <a:bodyPr/>
                    <a:lstStyle/>
                    <a:p>
                      <a:pPr algn="l" fontAlgn="b"/>
                      <a:r>
                        <a:rPr lang="en-US" sz="1000" b="0" i="0" u="none" strike="noStrike" dirty="0">
                          <a:solidFill>
                            <a:srgbClr val="000000"/>
                          </a:solidFill>
                          <a:effectLst/>
                          <a:latin typeface="+mj-lt"/>
                        </a:rPr>
                        <a:t>19</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Bibiyana-Dhanua Gas Transmission 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IN" sz="1000" b="0" i="0" u="none" strike="noStrike" dirty="0">
                          <a:solidFill>
                            <a:srgbClr val="000000"/>
                          </a:solidFill>
                          <a:effectLst/>
                          <a:latin typeface="+mj-lt"/>
                        </a:rPr>
                        <a:t>36</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IN" sz="1000" b="0" i="0" u="none" strike="noStrike" dirty="0">
                          <a:solidFill>
                            <a:srgbClr val="000000"/>
                          </a:solidFill>
                          <a:effectLst/>
                          <a:latin typeface="+mj-lt"/>
                        </a:rPr>
                        <a:t>137</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Jun-15</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27935158"/>
                  </a:ext>
                </a:extLst>
              </a:tr>
              <a:tr h="208302">
                <a:tc>
                  <a:txBody>
                    <a:bodyPr/>
                    <a:lstStyle/>
                    <a:p>
                      <a:pPr algn="l" fontAlgn="b"/>
                      <a:r>
                        <a:rPr lang="en-US" sz="1000" b="0" i="0" u="none" strike="noStrike" dirty="0">
                          <a:solidFill>
                            <a:srgbClr val="000000"/>
                          </a:solidFill>
                          <a:effectLst/>
                          <a:latin typeface="+mj-lt"/>
                        </a:rPr>
                        <a:t>20</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Titas Gas Field (Location- C, B &amp; A) To Titas A-B Gas Transmission 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IN" sz="1000" b="0" i="0" u="none" strike="noStrike" dirty="0">
                          <a:solidFill>
                            <a:srgbClr val="000000"/>
                          </a:solidFill>
                          <a:effectLst/>
                          <a:latin typeface="+mj-lt"/>
                        </a:rPr>
                        <a:t>10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IN" sz="1000" b="0" i="0" u="none" strike="noStrike" dirty="0">
                          <a:solidFill>
                            <a:srgbClr val="000000"/>
                          </a:solidFill>
                          <a:effectLst/>
                          <a:latin typeface="+mj-lt"/>
                        </a:rPr>
                        <a:t>7.7</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Jun-15</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3812204"/>
                  </a:ext>
                </a:extLst>
              </a:tr>
              <a:tr h="208302">
                <a:tc>
                  <a:txBody>
                    <a:bodyPr/>
                    <a:lstStyle/>
                    <a:p>
                      <a:pPr algn="l" fontAlgn="b"/>
                      <a:r>
                        <a:rPr lang="en-US" sz="1000" b="0" i="0" u="none" strike="noStrike" dirty="0">
                          <a:solidFill>
                            <a:srgbClr val="000000"/>
                          </a:solidFill>
                          <a:effectLst/>
                          <a:latin typeface="+mj-lt"/>
                        </a:rPr>
                        <a:t>21</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Bheramara-Khulna Gas Transmission 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IN" sz="1000" b="0" i="0" u="none" strike="noStrike" dirty="0">
                          <a:solidFill>
                            <a:srgbClr val="000000"/>
                          </a:solidFill>
                          <a:effectLst/>
                          <a:latin typeface="+mj-lt"/>
                        </a:rPr>
                        <a:t>20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IN" sz="1000" b="0" i="0" u="none" strike="noStrike" dirty="0">
                          <a:solidFill>
                            <a:srgbClr val="000000"/>
                          </a:solidFill>
                          <a:effectLst/>
                          <a:latin typeface="+mj-lt"/>
                        </a:rPr>
                        <a:t>165</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Dec-15</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7096542"/>
                  </a:ext>
                </a:extLst>
              </a:tr>
              <a:tr h="208302">
                <a:tc>
                  <a:txBody>
                    <a:bodyPr/>
                    <a:lstStyle/>
                    <a:p>
                      <a:pPr algn="l" fontAlgn="b"/>
                      <a:r>
                        <a:rPr lang="en-US" sz="1000" b="0" i="0" u="none" strike="noStrike" dirty="0">
                          <a:solidFill>
                            <a:schemeClr val="tx1"/>
                          </a:solidFill>
                          <a:effectLst/>
                          <a:latin typeface="+mn-lt"/>
                        </a:rPr>
                        <a:t>22</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Hatikumrul-Bheramara Gas Transmission 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IN" sz="1000" b="0" i="0" u="none" strike="noStrike" dirty="0">
                          <a:solidFill>
                            <a:srgbClr val="000000"/>
                          </a:solidFill>
                          <a:effectLst/>
                          <a:latin typeface="+mj-lt"/>
                        </a:rPr>
                        <a:t>30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IN" sz="1000" b="0" i="0" u="none" strike="noStrike" dirty="0">
                          <a:solidFill>
                            <a:srgbClr val="000000"/>
                          </a:solidFill>
                          <a:effectLst/>
                          <a:latin typeface="+mj-lt"/>
                        </a:rPr>
                        <a:t>84</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Dec-16</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6660223"/>
                  </a:ext>
                </a:extLst>
              </a:tr>
              <a:tr h="208302">
                <a:tc>
                  <a:txBody>
                    <a:bodyPr/>
                    <a:lstStyle/>
                    <a:p>
                      <a:pPr algn="l" fontAlgn="b"/>
                      <a:r>
                        <a:rPr lang="en-IN" sz="1000" u="none" strike="noStrike" dirty="0">
                          <a:effectLst/>
                        </a:rPr>
                        <a:t>23</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Titas Gas Field Well No. 23, 24 (Sorail) To Khatihata and Well No. 25, 26 (Malihata) To Khatihata Gas Transmission 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IN" sz="1000" b="0" i="0" u="none" strike="noStrike" dirty="0">
                          <a:solidFill>
                            <a:srgbClr val="000000"/>
                          </a:solidFill>
                          <a:effectLst/>
                          <a:latin typeface="+mj-lt"/>
                        </a:rPr>
                        <a:t>20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IN" sz="1000" b="0" i="0" u="none" strike="noStrike" dirty="0">
                          <a:solidFill>
                            <a:srgbClr val="000000"/>
                          </a:solidFill>
                          <a:effectLst/>
                          <a:latin typeface="+mj-lt"/>
                        </a:rPr>
                        <a:t>3.3</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Jun-17</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3831097"/>
                  </a:ext>
                </a:extLst>
              </a:tr>
              <a:tr h="208302">
                <a:tc>
                  <a:txBody>
                    <a:bodyPr/>
                    <a:lstStyle/>
                    <a:p>
                      <a:pPr algn="l" fontAlgn="b"/>
                      <a:r>
                        <a:rPr lang="en-US" sz="1000" b="0" i="0" u="none" strike="noStrike" dirty="0">
                          <a:solidFill>
                            <a:srgbClr val="000000"/>
                          </a:solidFill>
                          <a:effectLst/>
                          <a:latin typeface="+mj-lt"/>
                        </a:rPr>
                        <a:t>24</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Gas Transmission Capacity Expansion-Ashuganj to Bakhrabad Gas Transmission 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IN" sz="1000" b="0" i="0" u="none" strike="noStrike" dirty="0">
                          <a:solidFill>
                            <a:srgbClr val="000000"/>
                          </a:solidFill>
                          <a:effectLst/>
                          <a:latin typeface="+mj-lt"/>
                        </a:rPr>
                        <a:t>30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IN" sz="1000" b="0" i="0" u="none" strike="noStrike" dirty="0">
                          <a:solidFill>
                            <a:srgbClr val="000000"/>
                          </a:solidFill>
                          <a:effectLst/>
                          <a:latin typeface="+mj-lt"/>
                        </a:rPr>
                        <a:t>61</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Dec-17</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16996449"/>
                  </a:ext>
                </a:extLst>
              </a:tr>
              <a:tr h="208302">
                <a:tc>
                  <a:txBody>
                    <a:bodyPr/>
                    <a:lstStyle/>
                    <a:p>
                      <a:pPr algn="l" fontAlgn="b"/>
                      <a:r>
                        <a:rPr lang="en-US" sz="1000" b="0" i="0" u="none" strike="noStrike" dirty="0">
                          <a:solidFill>
                            <a:srgbClr val="000000"/>
                          </a:solidFill>
                          <a:effectLst/>
                          <a:latin typeface="+mj-lt"/>
                        </a:rPr>
                        <a:t>25</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Maheshkali-Anwara Gas Transmission 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IN" sz="1000" b="0" i="0" u="none" strike="noStrike" dirty="0">
                          <a:solidFill>
                            <a:srgbClr val="000000"/>
                          </a:solidFill>
                          <a:effectLst/>
                          <a:latin typeface="+mj-lt"/>
                        </a:rPr>
                        <a:t>30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IN" sz="1000" b="0" i="0" u="none" strike="noStrike" dirty="0">
                          <a:solidFill>
                            <a:srgbClr val="000000"/>
                          </a:solidFill>
                          <a:effectLst/>
                          <a:latin typeface="+mj-lt"/>
                        </a:rPr>
                        <a:t>91</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Jun-18</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40273808"/>
                  </a:ext>
                </a:extLst>
              </a:tr>
              <a:tr h="208302">
                <a:tc>
                  <a:txBody>
                    <a:bodyPr/>
                    <a:lstStyle/>
                    <a:p>
                      <a:pPr algn="l" fontAlgn="b"/>
                      <a:r>
                        <a:rPr lang="en-US" sz="1000" b="0" i="0" u="none" strike="noStrike" dirty="0">
                          <a:solidFill>
                            <a:srgbClr val="000000"/>
                          </a:solidFill>
                          <a:effectLst/>
                          <a:latin typeface="+mj-lt"/>
                        </a:rPr>
                        <a:t>26</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Bakhrabad Siddirgonj Transmission Pipelines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IN" sz="1000" b="0" i="0" u="none" strike="noStrike" dirty="0">
                          <a:solidFill>
                            <a:srgbClr val="000000"/>
                          </a:solidFill>
                          <a:effectLst/>
                          <a:latin typeface="+mj-lt"/>
                        </a:rPr>
                        <a:t>30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IN" sz="1000" b="0" i="0" u="none" strike="noStrike" dirty="0">
                          <a:solidFill>
                            <a:srgbClr val="000000"/>
                          </a:solidFill>
                          <a:effectLst/>
                          <a:latin typeface="+mj-lt"/>
                        </a:rPr>
                        <a:t>60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Dec-18</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7579023"/>
                  </a:ext>
                </a:extLst>
              </a:tr>
              <a:tr h="208302">
                <a:tc>
                  <a:txBody>
                    <a:bodyPr/>
                    <a:lstStyle/>
                    <a:p>
                      <a:pPr algn="l" fontAlgn="b"/>
                      <a:r>
                        <a:rPr lang="en-US" sz="1000" b="0" i="0" u="none" strike="noStrike" dirty="0">
                          <a:solidFill>
                            <a:srgbClr val="000000"/>
                          </a:solidFill>
                          <a:effectLst/>
                          <a:latin typeface="+mj-lt"/>
                        </a:rPr>
                        <a:t>27</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Anwara-Fouzdarhat Gas Transmission 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IN" sz="1000" b="0" i="0" u="none" strike="noStrike" dirty="0">
                          <a:solidFill>
                            <a:srgbClr val="000000"/>
                          </a:solidFill>
                          <a:effectLst/>
                          <a:latin typeface="+mj-lt"/>
                        </a:rPr>
                        <a:t>42</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IN" sz="1000" b="0" i="0" u="none" strike="noStrike" dirty="0">
                          <a:solidFill>
                            <a:srgbClr val="000000"/>
                          </a:solidFill>
                          <a:effectLst/>
                          <a:latin typeface="+mj-lt"/>
                        </a:rPr>
                        <a:t>30</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Jun-19</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5787625"/>
                  </a:ext>
                </a:extLst>
              </a:tr>
            </a:tbl>
          </a:graphicData>
        </a:graphic>
      </p:graphicFrame>
      <p:sp>
        <p:nvSpPr>
          <p:cNvPr id="13"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dirty="0">
                <a:solidFill>
                  <a:prstClr val="black">
                    <a:lumMod val="50000"/>
                    <a:lumOff val="50000"/>
                  </a:prstClr>
                </a:solidFill>
                <a:latin typeface="Verdana" panose="020B0604030504040204" pitchFamily="34" charset="0"/>
              </a:rPr>
              <a:t>GTCL has been tasked with maintaining the high pressure transmission lines and has acquired / transferred the major transmission lines from other transmission &amp; distribution companies in Bangladesh as per GoB directive</a:t>
            </a:r>
            <a:endPar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sp>
        <p:nvSpPr>
          <p:cNvPr id="14" name="Rectangle 13"/>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Petrobangla, GTCL, Industry Reports, Deloitte Analysis</a:t>
            </a:r>
          </a:p>
        </p:txBody>
      </p:sp>
    </p:spTree>
    <p:extLst>
      <p:ext uri="{BB962C8B-B14F-4D97-AF65-F5344CB8AC3E}">
        <p14:creationId xmlns:p14="http://schemas.microsoft.com/office/powerpoint/2010/main" val="3978290730"/>
      </p:ext>
    </p:extLst>
  </p:cSld>
  <p:clrMapOvr>
    <a:masterClrMapping/>
  </p:clrMapOvr>
  <p:transition>
    <p:fade/>
  </p:transition>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140040983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5" name="Object 4"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Annexure F | Gas Transmission | Planned Pipelines (1/2)</a:t>
            </a:r>
            <a:endParaRPr lang="en-IN" dirty="0"/>
          </a:p>
        </p:txBody>
      </p:sp>
      <p:graphicFrame>
        <p:nvGraphicFramePr>
          <p:cNvPr id="3" name="Table 2"/>
          <p:cNvGraphicFramePr>
            <a:graphicFrameLocks noGrp="1"/>
          </p:cNvGraphicFramePr>
          <p:nvPr>
            <p:extLst>
              <p:ext uri="{D42A27DB-BD31-4B8C-83A1-F6EECF244321}">
                <p14:modId xmlns:p14="http://schemas.microsoft.com/office/powerpoint/2010/main" val="203544317"/>
              </p:ext>
            </p:extLst>
          </p:nvPr>
        </p:nvGraphicFramePr>
        <p:xfrm>
          <a:off x="449263" y="1961444"/>
          <a:ext cx="9791701" cy="5212080"/>
        </p:xfrm>
        <a:graphic>
          <a:graphicData uri="http://schemas.openxmlformats.org/drawingml/2006/table">
            <a:tbl>
              <a:tblPr firstRow="1">
                <a:tableStyleId>{3B4B98B0-60AC-42C2-AFA5-B58CD77FA1E5}</a:tableStyleId>
              </a:tblPr>
              <a:tblGrid>
                <a:gridCol w="425380">
                  <a:extLst>
                    <a:ext uri="{9D8B030D-6E8A-4147-A177-3AD203B41FA5}">
                      <a16:colId xmlns:a16="http://schemas.microsoft.com/office/drawing/2014/main" val="840296419"/>
                    </a:ext>
                  </a:extLst>
                </a:gridCol>
                <a:gridCol w="1527070">
                  <a:extLst>
                    <a:ext uri="{9D8B030D-6E8A-4147-A177-3AD203B41FA5}">
                      <a16:colId xmlns:a16="http://schemas.microsoft.com/office/drawing/2014/main" val="4215697382"/>
                    </a:ext>
                  </a:extLst>
                </a:gridCol>
                <a:gridCol w="2842638">
                  <a:extLst>
                    <a:ext uri="{9D8B030D-6E8A-4147-A177-3AD203B41FA5}">
                      <a16:colId xmlns:a16="http://schemas.microsoft.com/office/drawing/2014/main" val="2539929000"/>
                    </a:ext>
                  </a:extLst>
                </a:gridCol>
                <a:gridCol w="2378962">
                  <a:extLst>
                    <a:ext uri="{9D8B030D-6E8A-4147-A177-3AD203B41FA5}">
                      <a16:colId xmlns:a16="http://schemas.microsoft.com/office/drawing/2014/main" val="1660639382"/>
                    </a:ext>
                  </a:extLst>
                </a:gridCol>
                <a:gridCol w="864704">
                  <a:extLst>
                    <a:ext uri="{9D8B030D-6E8A-4147-A177-3AD203B41FA5}">
                      <a16:colId xmlns:a16="http://schemas.microsoft.com/office/drawing/2014/main" val="2067057095"/>
                    </a:ext>
                  </a:extLst>
                </a:gridCol>
                <a:gridCol w="769885">
                  <a:extLst>
                    <a:ext uri="{9D8B030D-6E8A-4147-A177-3AD203B41FA5}">
                      <a16:colId xmlns:a16="http://schemas.microsoft.com/office/drawing/2014/main" val="1641153827"/>
                    </a:ext>
                  </a:extLst>
                </a:gridCol>
                <a:gridCol w="983062">
                  <a:extLst>
                    <a:ext uri="{9D8B030D-6E8A-4147-A177-3AD203B41FA5}">
                      <a16:colId xmlns:a16="http://schemas.microsoft.com/office/drawing/2014/main" val="3422243030"/>
                    </a:ext>
                  </a:extLst>
                </a:gridCol>
              </a:tblGrid>
              <a:tr h="365397">
                <a:tc>
                  <a:txBody>
                    <a:bodyPr/>
                    <a:lstStyle/>
                    <a:p>
                      <a:pPr algn="l" fontAlgn="b"/>
                      <a:r>
                        <a:rPr lang="en-IN" sz="1000" u="none" strike="noStrike" dirty="0">
                          <a:effectLst/>
                        </a:rPr>
                        <a:t>Sr. No</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rPr>
                        <a:t>Project</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b="1" i="0" u="none" strike="noStrike" dirty="0">
                          <a:solidFill>
                            <a:srgbClr val="000000"/>
                          </a:solidFill>
                          <a:effectLst/>
                          <a:latin typeface="+mj-lt"/>
                        </a:rPr>
                        <a:t>Objective</a:t>
                      </a:r>
                      <a:endParaRPr lang="en-IN" sz="1000" b="1"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b="1" i="0" u="none" strike="noStrike" dirty="0">
                          <a:solidFill>
                            <a:srgbClr val="000000"/>
                          </a:solidFill>
                          <a:effectLst/>
                          <a:latin typeface="+mj-lt"/>
                        </a:rPr>
                        <a:t>Status</a:t>
                      </a:r>
                      <a:endParaRPr lang="en-IN" sz="1000" b="1"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rPr>
                        <a:t>Diameter (inch)</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rPr>
                        <a:t>Length (km)</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u="none" strike="noStrike" dirty="0">
                          <a:effectLst/>
                        </a:rPr>
                        <a:t>Period</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163140"/>
                  </a:ext>
                </a:extLst>
              </a:tr>
              <a:tr h="802375">
                <a:tc>
                  <a:txBody>
                    <a:bodyPr/>
                    <a:lstStyle/>
                    <a:p>
                      <a:pPr algn="l" fontAlgn="b"/>
                      <a:r>
                        <a:rPr lang="en-US" sz="1000" b="0" i="0" u="none" strike="noStrike" dirty="0">
                          <a:solidFill>
                            <a:srgbClr val="000000"/>
                          </a:solidFill>
                          <a:effectLst/>
                          <a:latin typeface="+mj-lt"/>
                        </a:rPr>
                        <a:t>1</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Bakhrabad-</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Meghnaghat-</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Haripur Gas</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Transmission</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indent="-171450" algn="l" fontAlgn="b">
                        <a:buFont typeface="Arial" panose="020B0604020202020204" pitchFamily="34" charset="0"/>
                        <a:buChar char="•"/>
                      </a:pPr>
                      <a:r>
                        <a:rPr lang="en-US" sz="1000" b="0" i="0" u="none" strike="noStrike" dirty="0">
                          <a:solidFill>
                            <a:srgbClr val="000000"/>
                          </a:solidFill>
                          <a:effectLst/>
                          <a:latin typeface="+mj-lt"/>
                        </a:rPr>
                        <a:t>For gas supply to Meghnaghat</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Power Hub, existing &amp; planned</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Power Stations in Gajaria &amp;</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Haripur, Economic</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Zone</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indent="-171450" algn="l" fontAlgn="b">
                        <a:buFont typeface="Arial" panose="020B0604020202020204" pitchFamily="34" charset="0"/>
                        <a:buChar char="•"/>
                      </a:pPr>
                      <a:r>
                        <a:rPr lang="en-US" sz="1000" b="0" i="0" u="none" strike="noStrike" dirty="0">
                          <a:solidFill>
                            <a:srgbClr val="000000"/>
                          </a:solidFill>
                          <a:effectLst/>
                          <a:latin typeface="+mj-lt"/>
                        </a:rPr>
                        <a:t>Route</a:t>
                      </a:r>
                      <a:r>
                        <a:rPr lang="en-US" sz="1000" b="0" i="0" u="none" strike="noStrike" baseline="0" dirty="0">
                          <a:solidFill>
                            <a:srgbClr val="000000"/>
                          </a:solidFill>
                          <a:effectLst/>
                          <a:latin typeface="+mj-lt"/>
                        </a:rPr>
                        <a:t> survey &amp; environmental examination complete</a:t>
                      </a:r>
                    </a:p>
                    <a:p>
                      <a:pPr marL="171450" indent="-171450" algn="l" fontAlgn="b">
                        <a:buFont typeface="Arial" panose="020B0604020202020204" pitchFamily="34" charset="0"/>
                        <a:buChar char="•"/>
                      </a:pPr>
                      <a:r>
                        <a:rPr lang="en-US" sz="1000" b="0" i="0" u="none" strike="noStrike" baseline="0" dirty="0">
                          <a:solidFill>
                            <a:srgbClr val="000000"/>
                          </a:solidFill>
                          <a:effectLst/>
                          <a:latin typeface="+mj-lt"/>
                        </a:rPr>
                        <a:t>DPP sent to Petrobangla</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42</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50</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2019-2022</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06548936"/>
                  </a:ext>
                </a:extLst>
              </a:tr>
              <a:tr h="505935">
                <a:tc>
                  <a:txBody>
                    <a:bodyPr/>
                    <a:lstStyle/>
                    <a:p>
                      <a:pPr algn="l" fontAlgn="b"/>
                      <a:r>
                        <a:rPr lang="en-US" sz="1000" b="0" i="0" u="none" strike="noStrike" dirty="0">
                          <a:solidFill>
                            <a:srgbClr val="000000"/>
                          </a:solidFill>
                          <a:effectLst/>
                          <a:latin typeface="+mj-lt"/>
                        </a:rPr>
                        <a:t>2</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Gas Pipeline construction</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along</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the 2</a:t>
                      </a:r>
                      <a:r>
                        <a:rPr lang="en-US" sz="1000" b="0" i="0" u="none" strike="noStrike" baseline="30000" dirty="0">
                          <a:solidFill>
                            <a:srgbClr val="000000"/>
                          </a:solidFill>
                          <a:effectLst/>
                          <a:latin typeface="+mj-lt"/>
                        </a:rPr>
                        <a:t>nd</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Bangabandhu</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Bridge (Railway</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indent="-171450" algn="l" fontAlgn="b">
                        <a:buFont typeface="Arial" panose="020B0604020202020204" pitchFamily="34" charset="0"/>
                        <a:buChar char="•"/>
                      </a:pPr>
                      <a:r>
                        <a:rPr lang="en-US" sz="1000" b="0" i="0" u="none" strike="noStrike" dirty="0">
                          <a:solidFill>
                            <a:srgbClr val="000000"/>
                          </a:solidFill>
                          <a:effectLst/>
                          <a:latin typeface="+mj-lt"/>
                        </a:rPr>
                        <a:t>Additional</a:t>
                      </a:r>
                      <a:r>
                        <a:rPr lang="en-US" sz="1000" b="0" i="0" u="none" strike="noStrike" baseline="0" dirty="0">
                          <a:solidFill>
                            <a:srgbClr val="000000"/>
                          </a:solidFill>
                          <a:effectLst/>
                          <a:latin typeface="+mj-lt"/>
                        </a:rPr>
                        <a:t> gas supply to franchise areas of PGDC and SGDC in North, North-west and South Western regions</a:t>
                      </a:r>
                      <a:endParaRPr lang="en-US"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indent="-171450" algn="l" fontAlgn="b">
                        <a:buFont typeface="Arial" panose="020B0604020202020204" pitchFamily="34" charset="0"/>
                        <a:buChar char="•"/>
                      </a:pPr>
                      <a:endParaRPr lang="en-US"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36</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12</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2020-2023</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96123164"/>
                  </a:ext>
                </a:extLst>
              </a:tr>
              <a:tr h="787010">
                <a:tc>
                  <a:txBody>
                    <a:bodyPr/>
                    <a:lstStyle/>
                    <a:p>
                      <a:pPr algn="l" fontAlgn="b"/>
                      <a:r>
                        <a:rPr lang="en-US" sz="1000" b="0" i="0" u="none" strike="noStrike" dirty="0">
                          <a:solidFill>
                            <a:srgbClr val="000000"/>
                          </a:solidFill>
                          <a:effectLst/>
                          <a:latin typeface="+mj-lt"/>
                        </a:rPr>
                        <a:t>3</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Shatkhira</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(Bhomra)-</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Khulna</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Arrongghata)</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Gas</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Transmission</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indent="-171450" algn="l" fontAlgn="b">
                        <a:buFont typeface="Arial" panose="020B0604020202020204" pitchFamily="34" charset="0"/>
                        <a:buChar char="•"/>
                      </a:pPr>
                      <a:r>
                        <a:rPr lang="en-US" sz="1000" b="0" i="0" u="none" strike="noStrike" dirty="0">
                          <a:solidFill>
                            <a:srgbClr val="000000"/>
                          </a:solidFill>
                          <a:effectLst/>
                          <a:latin typeface="+mj-lt"/>
                        </a:rPr>
                        <a:t>To supply RLNG</a:t>
                      </a:r>
                      <a:r>
                        <a:rPr lang="en-US" sz="1000" b="0" i="0" u="none" strike="noStrike" baseline="0" dirty="0">
                          <a:solidFill>
                            <a:srgbClr val="000000"/>
                          </a:solidFill>
                          <a:effectLst/>
                          <a:latin typeface="+mj-lt"/>
                        </a:rPr>
                        <a:t> imported from India to national grid</a:t>
                      </a:r>
                      <a:endParaRPr lang="en-US"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indent="-171450" algn="l" fontAlgn="b">
                        <a:buFont typeface="Arial" panose="020B0604020202020204" pitchFamily="34" charset="0"/>
                        <a:buChar char="•"/>
                      </a:pPr>
                      <a:r>
                        <a:rPr lang="en-US" sz="1000" b="0" i="0" u="none" strike="noStrike" dirty="0">
                          <a:solidFill>
                            <a:srgbClr val="000000"/>
                          </a:solidFill>
                          <a:effectLst/>
                          <a:latin typeface="+mj-lt"/>
                        </a:rPr>
                        <a:t>Route survey completed and environmental examination in progress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30</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65</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2019-2022</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60283373"/>
                  </a:ext>
                </a:extLst>
              </a:tr>
              <a:tr h="505935">
                <a:tc>
                  <a:txBody>
                    <a:bodyPr/>
                    <a:lstStyle/>
                    <a:p>
                      <a:pPr algn="l" fontAlgn="b"/>
                      <a:r>
                        <a:rPr lang="en-US" sz="1000" b="0" i="0" u="none" strike="noStrike" dirty="0">
                          <a:solidFill>
                            <a:srgbClr val="000000"/>
                          </a:solidFill>
                          <a:effectLst/>
                          <a:latin typeface="+mj-lt"/>
                        </a:rPr>
                        <a:t>4</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Langalband-</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Maoua &amp;</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Zajira-Taker Hat</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Gas Transmission</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indent="-171450" algn="l" fontAlgn="b">
                        <a:buFont typeface="Arial" panose="020B0604020202020204" pitchFamily="34" charset="0"/>
                        <a:buChar char="•"/>
                      </a:pPr>
                      <a:r>
                        <a:rPr lang="en-US" sz="1000" b="0" i="0" u="none" strike="noStrike" dirty="0">
                          <a:solidFill>
                            <a:srgbClr val="000000"/>
                          </a:solidFill>
                          <a:effectLst/>
                          <a:latin typeface="+mj-lt"/>
                        </a:rPr>
                        <a:t>Expansion</a:t>
                      </a:r>
                      <a:r>
                        <a:rPr lang="en-US" sz="1000" b="0" i="0" u="none" strike="noStrike" baseline="0" dirty="0">
                          <a:solidFill>
                            <a:srgbClr val="000000"/>
                          </a:solidFill>
                          <a:effectLst/>
                          <a:latin typeface="+mj-lt"/>
                        </a:rPr>
                        <a:t> of gas service to south-western region on interconnecting with UC pipeline over Padma bridge</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indent="-171450" algn="l" fontAlgn="b">
                        <a:buFont typeface="Arial" panose="020B0604020202020204" pitchFamily="34" charset="0"/>
                        <a:buChar char="•"/>
                      </a:pPr>
                      <a:r>
                        <a:rPr lang="en-US" sz="1000" b="0" i="0" u="none" strike="noStrike" dirty="0">
                          <a:solidFill>
                            <a:srgbClr val="000000"/>
                          </a:solidFill>
                          <a:effectLst/>
                          <a:latin typeface="+mj-lt"/>
                        </a:rPr>
                        <a:t>Route survey completed</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30</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70</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2020-2023</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22628254"/>
                  </a:ext>
                </a:extLst>
              </a:tr>
              <a:tr h="365397">
                <a:tc>
                  <a:txBody>
                    <a:bodyPr/>
                    <a:lstStyle/>
                    <a:p>
                      <a:pPr algn="l" fontAlgn="b"/>
                      <a:r>
                        <a:rPr lang="en-US" sz="1000" b="0" i="0" u="none" strike="noStrike" dirty="0">
                          <a:solidFill>
                            <a:srgbClr val="000000"/>
                          </a:solidFill>
                          <a:effectLst/>
                          <a:latin typeface="+mj-lt"/>
                        </a:rPr>
                        <a:t>5</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Taker Hat-</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Faridpur &amp;</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Taker Hat-</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Barishal Gas</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Transmission</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l" fontAlgn="b">
                        <a:buFont typeface="Arial" panose="020B0604020202020204" pitchFamily="34" charset="0"/>
                        <a:buChar char="•"/>
                      </a:pPr>
                      <a:r>
                        <a:rPr lang="en-US" sz="1000" b="0" i="0" u="none" strike="noStrike" dirty="0">
                          <a:solidFill>
                            <a:srgbClr val="000000"/>
                          </a:solidFill>
                          <a:effectLst/>
                          <a:latin typeface="+mj-lt"/>
                        </a:rPr>
                        <a:t>Gas supply to grater Faridpur</a:t>
                      </a:r>
                      <a:r>
                        <a:rPr lang="en-US" sz="1000" b="0" i="0" u="none" strike="noStrike" baseline="0" dirty="0">
                          <a:solidFill>
                            <a:srgbClr val="000000"/>
                          </a:solidFill>
                          <a:effectLst/>
                          <a:latin typeface="+mj-lt"/>
                        </a:rPr>
                        <a:t> and Barishal region</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l" fontAlgn="b">
                        <a:buFont typeface="Arial" panose="020B0604020202020204" pitchFamily="34" charset="0"/>
                        <a:buChar char="•"/>
                      </a:pP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30</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115</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2025-2028</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29704360"/>
                  </a:ext>
                </a:extLst>
              </a:tr>
              <a:tr h="365397">
                <a:tc>
                  <a:txBody>
                    <a:bodyPr/>
                    <a:lstStyle/>
                    <a:p>
                      <a:pPr algn="l" fontAlgn="b"/>
                      <a:r>
                        <a:rPr lang="en-US" sz="1000" b="0" i="0" u="none" strike="noStrike" dirty="0">
                          <a:solidFill>
                            <a:srgbClr val="000000"/>
                          </a:solidFill>
                          <a:effectLst/>
                          <a:latin typeface="+mj-lt"/>
                        </a:rPr>
                        <a:t>6</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Khulna-</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Gopalganj</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Taker</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Hat Gas</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Transmission</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l" fontAlgn="b">
                        <a:buFont typeface="Arial" panose="020B0604020202020204" pitchFamily="34" charset="0"/>
                        <a:buChar char="•"/>
                      </a:pPr>
                      <a:r>
                        <a:rPr lang="en-IN" sz="1000" b="0" i="0" u="none" strike="noStrike" dirty="0">
                          <a:solidFill>
                            <a:srgbClr val="000000"/>
                          </a:solidFill>
                          <a:effectLst/>
                          <a:latin typeface="+mj-lt"/>
                        </a:rPr>
                        <a:t>For supply to Madaripur, Gopalganj &amp; Khulna</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areas.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l" fontAlgn="b">
                        <a:buFont typeface="Arial" panose="020B0604020202020204" pitchFamily="34" charset="0"/>
                        <a:buChar char="•"/>
                      </a:pP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30</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80</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2020-2023</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8943497"/>
                  </a:ext>
                </a:extLst>
              </a:tr>
            </a:tbl>
          </a:graphicData>
        </a:graphic>
      </p:graphicFrame>
      <p:sp>
        <p:nvSpPr>
          <p:cNvPr id="6"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 planned pipeline outlook </a:t>
            </a:r>
            <a:r>
              <a:rPr lang="en-US" sz="1400" dirty="0">
                <a:solidFill>
                  <a:prstClr val="black">
                    <a:lumMod val="50000"/>
                    <a:lumOff val="50000"/>
                  </a:prstClr>
                </a:solidFill>
                <a:latin typeface="Verdana" panose="020B0604030504040204" pitchFamily="34" charset="0"/>
              </a:rPr>
              <a:t>has also been developed to connect the gas starved western region with Natural Gas / LNG Supply</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a:t>
            </a:r>
          </a:p>
        </p:txBody>
      </p:sp>
      <p:sp>
        <p:nvSpPr>
          <p:cNvPr id="8" name="Rectangle 7"/>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Petrobangla, GTCL, Industry Reports, Deloitte Analysis</a:t>
            </a:r>
          </a:p>
        </p:txBody>
      </p:sp>
    </p:spTree>
    <p:extLst>
      <p:ext uri="{BB962C8B-B14F-4D97-AF65-F5344CB8AC3E}">
        <p14:creationId xmlns:p14="http://schemas.microsoft.com/office/powerpoint/2010/main" val="3845561842"/>
      </p:ext>
    </p:extLst>
  </p:cSld>
  <p:clrMapOvr>
    <a:masterClrMapping/>
  </p:clrMapOvr>
  <p:transition>
    <p:fade/>
  </p:transition>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ct 7" hidden="1"/>
          <p:cNvGraphicFramePr>
            <a:graphicFrameLocks noChangeAspect="1"/>
          </p:cNvGraphicFramePr>
          <p:nvPr>
            <p:custDataLst>
              <p:tags r:id="rId1"/>
            </p:custDataLst>
            <p:extLst>
              <p:ext uri="{D42A27DB-BD31-4B8C-83A1-F6EECF244321}">
                <p14:modId xmlns:p14="http://schemas.microsoft.com/office/powerpoint/2010/main" val="179179416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8" name="Object 7"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7" name="Rectangle 6"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Annexure F | Gas Transmission | Planned Pipelines (2/2)</a:t>
            </a:r>
            <a:endParaRPr lang="en-IN" dirty="0"/>
          </a:p>
        </p:txBody>
      </p:sp>
      <p:graphicFrame>
        <p:nvGraphicFramePr>
          <p:cNvPr id="3" name="Table 2"/>
          <p:cNvGraphicFramePr>
            <a:graphicFrameLocks noGrp="1"/>
          </p:cNvGraphicFramePr>
          <p:nvPr>
            <p:extLst>
              <p:ext uri="{D42A27DB-BD31-4B8C-83A1-F6EECF244321}">
                <p14:modId xmlns:p14="http://schemas.microsoft.com/office/powerpoint/2010/main" val="1886327901"/>
              </p:ext>
            </p:extLst>
          </p:nvPr>
        </p:nvGraphicFramePr>
        <p:xfrm>
          <a:off x="449263" y="1961444"/>
          <a:ext cx="9791701" cy="2895600"/>
        </p:xfrm>
        <a:graphic>
          <a:graphicData uri="http://schemas.openxmlformats.org/drawingml/2006/table">
            <a:tbl>
              <a:tblPr firstRow="1">
                <a:tableStyleId>{3B4B98B0-60AC-42C2-AFA5-B58CD77FA1E5}</a:tableStyleId>
              </a:tblPr>
              <a:tblGrid>
                <a:gridCol w="425380">
                  <a:extLst>
                    <a:ext uri="{9D8B030D-6E8A-4147-A177-3AD203B41FA5}">
                      <a16:colId xmlns:a16="http://schemas.microsoft.com/office/drawing/2014/main" val="840296419"/>
                    </a:ext>
                  </a:extLst>
                </a:gridCol>
                <a:gridCol w="1527070">
                  <a:extLst>
                    <a:ext uri="{9D8B030D-6E8A-4147-A177-3AD203B41FA5}">
                      <a16:colId xmlns:a16="http://schemas.microsoft.com/office/drawing/2014/main" val="4215697382"/>
                    </a:ext>
                  </a:extLst>
                </a:gridCol>
                <a:gridCol w="2842638">
                  <a:extLst>
                    <a:ext uri="{9D8B030D-6E8A-4147-A177-3AD203B41FA5}">
                      <a16:colId xmlns:a16="http://schemas.microsoft.com/office/drawing/2014/main" val="2539929000"/>
                    </a:ext>
                  </a:extLst>
                </a:gridCol>
                <a:gridCol w="2378962">
                  <a:extLst>
                    <a:ext uri="{9D8B030D-6E8A-4147-A177-3AD203B41FA5}">
                      <a16:colId xmlns:a16="http://schemas.microsoft.com/office/drawing/2014/main" val="1660639382"/>
                    </a:ext>
                  </a:extLst>
                </a:gridCol>
                <a:gridCol w="864704">
                  <a:extLst>
                    <a:ext uri="{9D8B030D-6E8A-4147-A177-3AD203B41FA5}">
                      <a16:colId xmlns:a16="http://schemas.microsoft.com/office/drawing/2014/main" val="2067057095"/>
                    </a:ext>
                  </a:extLst>
                </a:gridCol>
                <a:gridCol w="769885">
                  <a:extLst>
                    <a:ext uri="{9D8B030D-6E8A-4147-A177-3AD203B41FA5}">
                      <a16:colId xmlns:a16="http://schemas.microsoft.com/office/drawing/2014/main" val="1641153827"/>
                    </a:ext>
                  </a:extLst>
                </a:gridCol>
                <a:gridCol w="983062">
                  <a:extLst>
                    <a:ext uri="{9D8B030D-6E8A-4147-A177-3AD203B41FA5}">
                      <a16:colId xmlns:a16="http://schemas.microsoft.com/office/drawing/2014/main" val="3422243030"/>
                    </a:ext>
                  </a:extLst>
                </a:gridCol>
              </a:tblGrid>
              <a:tr h="365397">
                <a:tc>
                  <a:txBody>
                    <a:bodyPr/>
                    <a:lstStyle/>
                    <a:p>
                      <a:pPr algn="l" fontAlgn="b"/>
                      <a:r>
                        <a:rPr lang="en-IN" sz="1000" u="none" strike="noStrike" dirty="0">
                          <a:effectLst/>
                        </a:rPr>
                        <a:t>Sr. No</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rPr>
                        <a:t>Project</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b="1" i="0" u="none" strike="noStrike" dirty="0">
                          <a:solidFill>
                            <a:srgbClr val="000000"/>
                          </a:solidFill>
                          <a:effectLst/>
                          <a:latin typeface="+mj-lt"/>
                        </a:rPr>
                        <a:t>Objective</a:t>
                      </a:r>
                      <a:endParaRPr lang="en-IN" sz="1000" b="1"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b="1" i="0" u="none" strike="noStrike" dirty="0">
                          <a:solidFill>
                            <a:srgbClr val="000000"/>
                          </a:solidFill>
                          <a:effectLst/>
                          <a:latin typeface="+mj-lt"/>
                        </a:rPr>
                        <a:t>Status</a:t>
                      </a:r>
                      <a:endParaRPr lang="en-IN" sz="1000" b="1"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rPr>
                        <a:t>Diameter (inch)</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rPr>
                        <a:t>Length (km)</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u="none" strike="noStrike" dirty="0">
                          <a:effectLst/>
                        </a:rPr>
                        <a:t>Period</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163140"/>
                  </a:ext>
                </a:extLst>
              </a:tr>
              <a:tr h="505935">
                <a:tc>
                  <a:txBody>
                    <a:bodyPr/>
                    <a:lstStyle/>
                    <a:p>
                      <a:pPr algn="l" fontAlgn="b"/>
                      <a:r>
                        <a:rPr lang="en-US" sz="1000" b="0" i="0" u="none" strike="noStrike" dirty="0">
                          <a:solidFill>
                            <a:srgbClr val="000000"/>
                          </a:solidFill>
                          <a:effectLst/>
                          <a:latin typeface="+mj-lt"/>
                        </a:rPr>
                        <a:t>7</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Bhola-Barisal</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Gas</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Transmission</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indent="-171450" algn="l" fontAlgn="b">
                        <a:buFont typeface="Arial" panose="020B0604020202020204" pitchFamily="34" charset="0"/>
                        <a:buChar char="•"/>
                      </a:pPr>
                      <a:r>
                        <a:rPr lang="en-US" sz="1000" b="0" i="0" u="none" strike="noStrike" dirty="0">
                          <a:solidFill>
                            <a:srgbClr val="000000"/>
                          </a:solidFill>
                          <a:effectLst/>
                          <a:latin typeface="+mj-lt"/>
                        </a:rPr>
                        <a:t>Gas infrastructure development</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for gas supply to Bhola &amp; Barishal</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region.</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indent="-171450" algn="l" fontAlgn="b">
                        <a:buFont typeface="Arial" panose="020B0604020202020204" pitchFamily="34" charset="0"/>
                        <a:buChar char="•"/>
                      </a:pPr>
                      <a:r>
                        <a:rPr lang="en-US" sz="1000" b="0" i="0" u="none" strike="noStrike" dirty="0">
                          <a:solidFill>
                            <a:srgbClr val="000000"/>
                          </a:solidFill>
                          <a:effectLst/>
                          <a:latin typeface="+mj-lt"/>
                        </a:rPr>
                        <a:t>Feasibility study under progress</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30</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60</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2022-2025</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06548936"/>
                  </a:ext>
                </a:extLst>
              </a:tr>
              <a:tr h="505935">
                <a:tc>
                  <a:txBody>
                    <a:bodyPr/>
                    <a:lstStyle/>
                    <a:p>
                      <a:pPr algn="l" fontAlgn="b"/>
                      <a:r>
                        <a:rPr lang="en-US" sz="1000" b="0" i="0" u="none" strike="noStrike" dirty="0">
                          <a:solidFill>
                            <a:srgbClr val="000000"/>
                          </a:solidFill>
                          <a:effectLst/>
                          <a:latin typeface="+mj-lt"/>
                        </a:rPr>
                        <a:t>8</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Payra-Barishal</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Gas</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Transmission</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indent="-171450" algn="l" fontAlgn="b">
                        <a:buFont typeface="Arial" panose="020B0604020202020204" pitchFamily="34" charset="0"/>
                        <a:buChar char="•"/>
                      </a:pPr>
                      <a:r>
                        <a:rPr lang="en-US" sz="1000" b="0" i="0" u="none" strike="noStrike" dirty="0">
                          <a:solidFill>
                            <a:srgbClr val="000000"/>
                          </a:solidFill>
                          <a:effectLst/>
                          <a:latin typeface="+mj-lt"/>
                        </a:rPr>
                        <a:t>To feed RLNG up to Barishal,</a:t>
                      </a:r>
                      <a:r>
                        <a:rPr lang="en-US" sz="1000" b="0" i="0" u="none" strike="noStrike" baseline="0" dirty="0">
                          <a:solidFill>
                            <a:srgbClr val="000000"/>
                          </a:solidFill>
                          <a:effectLst/>
                          <a:latin typeface="+mj-lt"/>
                        </a:rPr>
                        <a:t> which Is to be received at Payra port area</a:t>
                      </a:r>
                      <a:endParaRPr lang="en-US"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indent="-171450" algn="l" fontAlgn="b">
                        <a:buFont typeface="Arial" panose="020B0604020202020204" pitchFamily="34" charset="0"/>
                        <a:buChar char="•"/>
                      </a:pPr>
                      <a:endParaRPr lang="en-US"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42</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87</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2031-2035</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96123164"/>
                  </a:ext>
                </a:extLst>
              </a:tr>
              <a:tr h="787010">
                <a:tc>
                  <a:txBody>
                    <a:bodyPr/>
                    <a:lstStyle/>
                    <a:p>
                      <a:pPr algn="l" fontAlgn="b"/>
                      <a:r>
                        <a:rPr lang="en-US" sz="1000" b="0" i="0" u="none" strike="noStrike" dirty="0">
                          <a:solidFill>
                            <a:srgbClr val="000000"/>
                          </a:solidFill>
                          <a:effectLst/>
                          <a:latin typeface="+mj-lt"/>
                        </a:rPr>
                        <a:t>9</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Khulna-</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Bagerhat-</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Pirojpur-</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Jhalakathi-</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Barisal Gas</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Transmission</a:t>
                      </a:r>
                      <a:r>
                        <a:rPr lang="en-US" sz="1000" b="0" i="0" u="none" strike="noStrike" baseline="0" dirty="0">
                          <a:solidFill>
                            <a:srgbClr val="000000"/>
                          </a:solidFill>
                          <a:effectLst/>
                          <a:latin typeface="+mj-lt"/>
                        </a:rPr>
                        <a:t> </a:t>
                      </a:r>
                      <a:r>
                        <a:rPr lang="en-US" sz="1000" b="0" i="0" u="none" strike="noStrike" dirty="0">
                          <a:solidFill>
                            <a:srgbClr val="000000"/>
                          </a:solidFill>
                          <a:effectLst/>
                          <a:latin typeface="+mj-lt"/>
                        </a:rPr>
                        <a:t>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indent="-171450" algn="l" fontAlgn="b">
                        <a:buFont typeface="Arial" panose="020B0604020202020204" pitchFamily="34" charset="0"/>
                        <a:buChar char="•"/>
                      </a:pPr>
                      <a:r>
                        <a:rPr lang="en-US" sz="1000" b="0" i="0" u="none" strike="noStrike" dirty="0">
                          <a:solidFill>
                            <a:srgbClr val="000000"/>
                          </a:solidFill>
                          <a:effectLst/>
                          <a:latin typeface="+mj-lt"/>
                        </a:rPr>
                        <a:t>Gas supply to South Western region under SGDCL</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indent="-171450" algn="l" fontAlgn="b">
                        <a:buFont typeface="Arial" panose="020B0604020202020204" pitchFamily="34" charset="0"/>
                        <a:buChar char="•"/>
                      </a:pPr>
                      <a:endParaRPr lang="en-US"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36</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110</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2031-2035</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60283373"/>
                  </a:ext>
                </a:extLst>
              </a:tr>
              <a:tr h="505935">
                <a:tc>
                  <a:txBody>
                    <a:bodyPr/>
                    <a:lstStyle/>
                    <a:p>
                      <a:pPr algn="l" fontAlgn="b"/>
                      <a:r>
                        <a:rPr lang="en-US" sz="1000" b="0" i="0" u="none" strike="noStrike" dirty="0">
                          <a:solidFill>
                            <a:srgbClr val="000000"/>
                          </a:solidFill>
                          <a:effectLst/>
                          <a:latin typeface="+mj-lt"/>
                        </a:rPr>
                        <a:t>10</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IN" sz="1000" b="0" i="0" u="none" strike="noStrike" dirty="0">
                          <a:solidFill>
                            <a:srgbClr val="000000"/>
                          </a:solidFill>
                          <a:effectLst/>
                          <a:latin typeface="+mj-lt"/>
                        </a:rPr>
                        <a:t>Hatikumrul-</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Bogra</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Gas</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Transmission</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Pipeline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indent="-171450" algn="l" fontAlgn="b">
                        <a:buFont typeface="Arial" panose="020B0604020202020204" pitchFamily="34" charset="0"/>
                        <a:buChar char="•"/>
                      </a:pPr>
                      <a:r>
                        <a:rPr lang="en-US" sz="1000" b="0" i="0" u="none" strike="noStrike" dirty="0">
                          <a:solidFill>
                            <a:srgbClr val="000000"/>
                          </a:solidFill>
                          <a:effectLst/>
                          <a:latin typeface="+mj-lt"/>
                        </a:rPr>
                        <a:t>Development of gas transmission in Northern</a:t>
                      </a:r>
                      <a:r>
                        <a:rPr lang="en-US" sz="1000" b="0" i="0" u="none" strike="noStrike" baseline="0" dirty="0">
                          <a:solidFill>
                            <a:srgbClr val="000000"/>
                          </a:solidFill>
                          <a:effectLst/>
                          <a:latin typeface="+mj-lt"/>
                        </a:rPr>
                        <a:t> region of country</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indent="-171450" algn="l" fontAlgn="b">
                        <a:buFont typeface="Arial" panose="020B0604020202020204" pitchFamily="34" charset="0"/>
                        <a:buChar char="•"/>
                      </a:pP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30</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55</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2033-2036</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22628254"/>
                  </a:ext>
                </a:extLst>
              </a:tr>
            </a:tbl>
          </a:graphicData>
        </a:graphic>
      </p:graphicFrame>
      <p:sp>
        <p:nvSpPr>
          <p:cNvPr id="6"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The planned pipeline outlook </a:t>
            </a:r>
            <a:r>
              <a:rPr lang="en-US" sz="1400" dirty="0">
                <a:solidFill>
                  <a:prstClr val="black">
                    <a:lumMod val="50000"/>
                    <a:lumOff val="50000"/>
                  </a:prstClr>
                </a:solidFill>
                <a:latin typeface="Verdana" panose="020B0604030504040204" pitchFamily="34" charset="0"/>
              </a:rPr>
              <a:t>has also been developed to connect the gas starved western region with Natural Gas / LNG Supply</a:t>
            </a: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 </a:t>
            </a:r>
          </a:p>
        </p:txBody>
      </p:sp>
      <p:sp>
        <p:nvSpPr>
          <p:cNvPr id="10" name="Rectangle 9"/>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Petrobangla, GTCL, Industry Reports, Deloitte Analysis</a:t>
            </a:r>
          </a:p>
        </p:txBody>
      </p:sp>
    </p:spTree>
    <p:extLst>
      <p:ext uri="{BB962C8B-B14F-4D97-AF65-F5344CB8AC3E}">
        <p14:creationId xmlns:p14="http://schemas.microsoft.com/office/powerpoint/2010/main" val="2322067879"/>
      </p:ext>
    </p:extLst>
  </p:cSld>
  <p:clrMapOvr>
    <a:masterClrMapping/>
  </p:clrMapOvr>
  <p:transition>
    <p:fade/>
  </p:transition>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123282446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5" name="Object 4"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Annexure G | Electricity Transmission | Ongoing Development Projects</a:t>
            </a:r>
            <a:endParaRPr lang="en-IN" dirty="0"/>
          </a:p>
        </p:txBody>
      </p:sp>
      <p:sp>
        <p:nvSpPr>
          <p:cNvPr id="3"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Currently, ~25 major transmission projects are under implementation </a:t>
            </a:r>
          </a:p>
        </p:txBody>
      </p:sp>
      <p:graphicFrame>
        <p:nvGraphicFramePr>
          <p:cNvPr id="6" name="Table 5"/>
          <p:cNvGraphicFramePr>
            <a:graphicFrameLocks noGrp="1"/>
          </p:cNvGraphicFramePr>
          <p:nvPr>
            <p:extLst>
              <p:ext uri="{D42A27DB-BD31-4B8C-83A1-F6EECF244321}">
                <p14:modId xmlns:p14="http://schemas.microsoft.com/office/powerpoint/2010/main" val="3795197503"/>
              </p:ext>
            </p:extLst>
          </p:nvPr>
        </p:nvGraphicFramePr>
        <p:xfrm>
          <a:off x="449261" y="1598375"/>
          <a:ext cx="9791702" cy="5547360"/>
        </p:xfrm>
        <a:graphic>
          <a:graphicData uri="http://schemas.openxmlformats.org/drawingml/2006/table">
            <a:tbl>
              <a:tblPr firstRow="1">
                <a:tableStyleId>{3B4B98B0-60AC-42C2-AFA5-B58CD77FA1E5}</a:tableStyleId>
              </a:tblPr>
              <a:tblGrid>
                <a:gridCol w="424805">
                  <a:extLst>
                    <a:ext uri="{9D8B030D-6E8A-4147-A177-3AD203B41FA5}">
                      <a16:colId xmlns:a16="http://schemas.microsoft.com/office/drawing/2014/main" val="840296419"/>
                    </a:ext>
                  </a:extLst>
                </a:gridCol>
                <a:gridCol w="1868874">
                  <a:extLst>
                    <a:ext uri="{9D8B030D-6E8A-4147-A177-3AD203B41FA5}">
                      <a16:colId xmlns:a16="http://schemas.microsoft.com/office/drawing/2014/main" val="4215697382"/>
                    </a:ext>
                  </a:extLst>
                </a:gridCol>
                <a:gridCol w="2707382">
                  <a:extLst>
                    <a:ext uri="{9D8B030D-6E8A-4147-A177-3AD203B41FA5}">
                      <a16:colId xmlns:a16="http://schemas.microsoft.com/office/drawing/2014/main" val="2539929000"/>
                    </a:ext>
                  </a:extLst>
                </a:gridCol>
                <a:gridCol w="3852704">
                  <a:extLst>
                    <a:ext uri="{9D8B030D-6E8A-4147-A177-3AD203B41FA5}">
                      <a16:colId xmlns:a16="http://schemas.microsoft.com/office/drawing/2014/main" val="2067057095"/>
                    </a:ext>
                  </a:extLst>
                </a:gridCol>
                <a:gridCol w="937937">
                  <a:extLst>
                    <a:ext uri="{9D8B030D-6E8A-4147-A177-3AD203B41FA5}">
                      <a16:colId xmlns:a16="http://schemas.microsoft.com/office/drawing/2014/main" val="3422243030"/>
                    </a:ext>
                  </a:extLst>
                </a:gridCol>
              </a:tblGrid>
              <a:tr h="365397">
                <a:tc>
                  <a:txBody>
                    <a:bodyPr/>
                    <a:lstStyle/>
                    <a:p>
                      <a:pPr algn="l" fontAlgn="b"/>
                      <a:r>
                        <a:rPr lang="en-IN" sz="1000" u="none" strike="noStrike" dirty="0">
                          <a:effectLst/>
                          <a:latin typeface="+mj-lt"/>
                        </a:rPr>
                        <a:t>Sr. No</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latin typeface="+mj-lt"/>
                        </a:rPr>
                        <a:t>Project</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b="1" i="0" u="none" strike="noStrike" dirty="0">
                          <a:solidFill>
                            <a:srgbClr val="000000"/>
                          </a:solidFill>
                          <a:effectLst/>
                          <a:latin typeface="+mj-lt"/>
                        </a:rPr>
                        <a:t>Objective</a:t>
                      </a:r>
                      <a:endParaRPr lang="en-IN" sz="1000" b="1"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latin typeface="+mj-lt"/>
                        </a:rPr>
                        <a:t>Scope</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u="none" strike="noStrike" dirty="0">
                          <a:effectLst/>
                          <a:latin typeface="+mj-lt"/>
                        </a:rPr>
                        <a:t>Period</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163140"/>
                  </a:ext>
                </a:extLst>
              </a:tr>
              <a:tr h="505935">
                <a:tc>
                  <a:txBody>
                    <a:bodyPr/>
                    <a:lstStyle/>
                    <a:p>
                      <a:pPr algn="l" fontAlgn="t"/>
                      <a:r>
                        <a:rPr lang="en-IN" sz="1000" dirty="0">
                          <a:effectLst/>
                          <a:latin typeface="+mj-lt"/>
                        </a:rPr>
                        <a:t>1</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lang="en-US" sz="1000" dirty="0">
                          <a:effectLst/>
                          <a:latin typeface="+mj-lt"/>
                        </a:rPr>
                        <a:t>Construction of Rahanpur to Monakasha Border 400kV Transmission Line in Chapainawabganj District to Import Power from India (Jharkhand) to Bangladesh</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US" sz="1000" dirty="0">
                          <a:effectLst/>
                          <a:latin typeface="+mj-lt"/>
                        </a:rPr>
                        <a:t>To evacuate Imported Power from under construction Adani Power Jharkhand Limited 1496MW power plant in India and supply the power to the national grid.</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IN" sz="1000" b="0" i="0" u="none" strike="noStrike" dirty="0">
                          <a:solidFill>
                            <a:srgbClr val="000000"/>
                          </a:solidFill>
                          <a:effectLst/>
                          <a:latin typeface="+mj-lt"/>
                        </a:rPr>
                        <a:t>400 kV Double Circuit Transmission Line: 28 km</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FY20-FY 22</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06548936"/>
                  </a:ext>
                </a:extLst>
              </a:tr>
              <a:tr h="505935">
                <a:tc>
                  <a:txBody>
                    <a:bodyPr/>
                    <a:lstStyle/>
                    <a:p>
                      <a:pPr algn="l" fontAlgn="t"/>
                      <a:r>
                        <a:rPr lang="en-US" sz="1000" dirty="0">
                          <a:effectLst/>
                          <a:latin typeface="+mj-lt"/>
                        </a:rPr>
                        <a:t>2</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lang="en-US" sz="1000" dirty="0">
                          <a:effectLst/>
                          <a:latin typeface="+mj-lt"/>
                        </a:rPr>
                        <a:t>Southwest Transmission Grid Expansion Project</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US" sz="1000" b="0" i="0" kern="1200" dirty="0">
                          <a:solidFill>
                            <a:schemeClr val="tx1"/>
                          </a:solidFill>
                          <a:effectLst/>
                          <a:latin typeface="+mj-lt"/>
                          <a:ea typeface="+mn-ea"/>
                          <a:cs typeface="+mn-cs"/>
                        </a:rPr>
                        <a:t>To ensure adequate and reliable power supply for the upcoming Economic Zones in Barisal Area as well as in Rajshahi area</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228600" indent="-228600" algn="l" fontAlgn="b">
                        <a:buAutoNum type="arabicPeriod"/>
                      </a:pPr>
                      <a:r>
                        <a:rPr lang="en-IN" sz="1000" b="0" i="0" kern="1200" dirty="0">
                          <a:solidFill>
                            <a:schemeClr val="tx1"/>
                          </a:solidFill>
                          <a:effectLst/>
                          <a:latin typeface="+mj-lt"/>
                          <a:ea typeface="+mn-ea"/>
                          <a:cs typeface="+mn-cs"/>
                        </a:rPr>
                        <a:t>400 kV Transmission Lines: 104 km.</a:t>
                      </a:r>
                    </a:p>
                    <a:p>
                      <a:pPr marL="228600" indent="-228600" algn="l" fontAlgn="b">
                        <a:buAutoNum type="arabicPeriod"/>
                      </a:pPr>
                      <a:r>
                        <a:rPr lang="en-IN" sz="1000" b="0" i="0" kern="1200" dirty="0">
                          <a:solidFill>
                            <a:schemeClr val="tx1"/>
                          </a:solidFill>
                          <a:effectLst/>
                          <a:latin typeface="+mj-lt"/>
                          <a:ea typeface="+mn-ea"/>
                          <a:cs typeface="+mn-cs"/>
                        </a:rPr>
                        <a:t>230 kV Transmission Lines: 137 km</a:t>
                      </a:r>
                    </a:p>
                    <a:p>
                      <a:pPr marL="228600" indent="-228600" algn="l" fontAlgn="b">
                        <a:buAutoNum type="arabicPeriod"/>
                      </a:pPr>
                      <a:r>
                        <a:rPr lang="en-IN" sz="1000" b="0" i="0" kern="1200" dirty="0">
                          <a:solidFill>
                            <a:schemeClr val="tx1"/>
                          </a:solidFill>
                          <a:effectLst/>
                          <a:latin typeface="+mj-lt"/>
                          <a:ea typeface="+mn-ea"/>
                          <a:cs typeface="+mn-cs"/>
                        </a:rPr>
                        <a:t>132 kV Transmission Lines: 27 km.</a:t>
                      </a:r>
                    </a:p>
                    <a:p>
                      <a:pPr marL="228600" indent="-228600" algn="l" fontAlgn="b">
                        <a:buAutoNum type="arabicPeriod"/>
                      </a:pPr>
                      <a:r>
                        <a:rPr lang="en-IN" sz="1000" b="0" i="0" kern="1200" dirty="0">
                          <a:solidFill>
                            <a:schemeClr val="tx1"/>
                          </a:solidFill>
                          <a:effectLst/>
                          <a:latin typeface="+mj-lt"/>
                          <a:ea typeface="+mn-ea"/>
                          <a:cs typeface="+mn-cs"/>
                        </a:rPr>
                        <a:t>400 kV Substations: 3 nos.</a:t>
                      </a:r>
                    </a:p>
                    <a:p>
                      <a:pPr marL="228600" indent="-228600" algn="l" fontAlgn="b">
                        <a:buAutoNum type="arabicPeriod"/>
                      </a:pPr>
                      <a:r>
                        <a:rPr lang="en-IN" sz="1000" b="0" i="0" kern="1200" dirty="0">
                          <a:solidFill>
                            <a:schemeClr val="tx1"/>
                          </a:solidFill>
                          <a:effectLst/>
                          <a:latin typeface="+mj-lt"/>
                          <a:ea typeface="+mn-ea"/>
                          <a:cs typeface="+mn-cs"/>
                        </a:rPr>
                        <a:t>230 kV Substations: 1 nos.</a:t>
                      </a:r>
                    </a:p>
                    <a:p>
                      <a:pPr marL="228600" indent="-228600" algn="l" fontAlgn="b">
                        <a:buAutoNum type="arabicPeriod"/>
                      </a:pPr>
                      <a:r>
                        <a:rPr lang="en-IN" sz="1000" b="0" i="0" kern="1200" dirty="0">
                          <a:solidFill>
                            <a:schemeClr val="tx1"/>
                          </a:solidFill>
                          <a:effectLst/>
                          <a:latin typeface="+mj-lt"/>
                          <a:ea typeface="+mn-ea"/>
                          <a:cs typeface="+mn-cs"/>
                        </a:rPr>
                        <a:t>230 kV GIS Bay Extensions: 2 nos 132 kV GIS Bay Extensions: 2 nos.</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kern="1200" dirty="0">
                          <a:solidFill>
                            <a:schemeClr val="tx1"/>
                          </a:solidFill>
                          <a:effectLst/>
                          <a:latin typeface="+mj-lt"/>
                          <a:ea typeface="+mn-ea"/>
                          <a:cs typeface="+mn-cs"/>
                        </a:rPr>
                        <a:t>FY19-FY24</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050802096"/>
                  </a:ext>
                </a:extLst>
              </a:tr>
              <a:tr h="505935">
                <a:tc>
                  <a:txBody>
                    <a:bodyPr/>
                    <a:lstStyle/>
                    <a:p>
                      <a:pPr algn="l" fontAlgn="t"/>
                      <a:r>
                        <a:rPr lang="en-US" sz="1000" dirty="0">
                          <a:effectLst/>
                          <a:latin typeface="+mj-lt"/>
                        </a:rPr>
                        <a:t>3</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lang="en-US" sz="1000" dirty="0">
                          <a:effectLst/>
                          <a:latin typeface="+mj-lt"/>
                        </a:rPr>
                        <a:t>Construction of 500 MW HVDC Back to Back Station at Comilla North (Bangladesh) for Transfer of Power through Surjamaninagar (Tripura, India) - Comilla North (Bangladesh)</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indent="-171450" algn="l" fontAlgn="t">
                        <a:buFont typeface="Arial" panose="020B0604020202020204" pitchFamily="34" charset="0"/>
                        <a:buChar char="•"/>
                      </a:pPr>
                      <a:r>
                        <a:rPr lang="en-US" sz="1000" dirty="0">
                          <a:effectLst/>
                          <a:latin typeface="+mj-lt"/>
                        </a:rPr>
                        <a:t>To meet the growing electricity demand of the eastern part of the country.</a:t>
                      </a:r>
                    </a:p>
                    <a:p>
                      <a:pPr marL="171450" indent="-171450" algn="l" fontAlgn="t">
                        <a:buFont typeface="Arial" panose="020B0604020202020204" pitchFamily="34" charset="0"/>
                        <a:buChar char="•"/>
                      </a:pPr>
                      <a:r>
                        <a:rPr lang="en-US" sz="1000" dirty="0">
                          <a:effectLst/>
                          <a:latin typeface="+mj-lt"/>
                        </a:rPr>
                        <a:t>To ensure sufficient facilities to import 500 MW power from Tripura &amp; Assam (India).</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Construction of 500 MW HVDC Bacl-to-Back Station at Comilla North including 400 kV GIS Switchyard.</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FY19-FY21</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0029391"/>
                  </a:ext>
                </a:extLst>
              </a:tr>
              <a:tr h="505935">
                <a:tc>
                  <a:txBody>
                    <a:bodyPr/>
                    <a:lstStyle/>
                    <a:p>
                      <a:pPr algn="l" fontAlgn="t"/>
                      <a:r>
                        <a:rPr lang="en-US" sz="1000" dirty="0">
                          <a:effectLst/>
                          <a:latin typeface="+mj-lt"/>
                        </a:rPr>
                        <a:t>4</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lang="en-US" sz="1000" dirty="0">
                          <a:effectLst/>
                          <a:latin typeface="+mj-lt"/>
                        </a:rPr>
                        <a:t>Infrastructure Development for Power Evacuation Facilities of Rooppur Nuclear Power Plant</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US" sz="1000" dirty="0">
                          <a:effectLst/>
                          <a:latin typeface="+mj-lt"/>
                        </a:rPr>
                        <a:t>To</a:t>
                      </a:r>
                      <a:r>
                        <a:rPr lang="en-US" sz="1000" baseline="0" dirty="0">
                          <a:effectLst/>
                          <a:latin typeface="+mj-lt"/>
                        </a:rPr>
                        <a:t> </a:t>
                      </a:r>
                      <a:r>
                        <a:rPr lang="en-US" sz="1000" dirty="0">
                          <a:effectLst/>
                          <a:latin typeface="+mj-lt"/>
                        </a:rPr>
                        <a:t>ensure power evacuation from Rooppur Nuclear Power Plant (RNPP) and qualitative upgradation of Bangladesh power system for the integration &amp; safe operation of Rooppur Nuclear Power Station.</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228600" indent="-228600" algn="l" fontAlgn="b">
                        <a:buAutoNum type="arabicPeriod"/>
                      </a:pPr>
                      <a:r>
                        <a:rPr lang="en-IN" sz="1000" b="0" i="0" u="none" strike="noStrike" dirty="0">
                          <a:solidFill>
                            <a:srgbClr val="000000"/>
                          </a:solidFill>
                          <a:effectLst/>
                          <a:latin typeface="+mj-lt"/>
                        </a:rPr>
                        <a:t>400 kV Transmission Lines: 609 km (20 km river crossing)</a:t>
                      </a:r>
                    </a:p>
                    <a:p>
                      <a:pPr marL="228600" indent="-228600" algn="l" fontAlgn="b">
                        <a:buAutoNum type="arabicPeriod"/>
                      </a:pPr>
                      <a:r>
                        <a:rPr lang="en-IN" sz="1000" b="0" i="0" u="none" strike="noStrike" dirty="0">
                          <a:solidFill>
                            <a:srgbClr val="000000"/>
                          </a:solidFill>
                          <a:effectLst/>
                          <a:latin typeface="+mj-lt"/>
                        </a:rPr>
                        <a:t>230 kV Transmission Lines: 60 km</a:t>
                      </a:r>
                    </a:p>
                    <a:p>
                      <a:pPr marL="228600" indent="-228600" algn="l" fontAlgn="b">
                        <a:buAutoNum type="arabicPeriod"/>
                      </a:pPr>
                      <a:r>
                        <a:rPr lang="en-IN" sz="1000" b="0" i="0" u="none" strike="noStrike" dirty="0">
                          <a:solidFill>
                            <a:srgbClr val="000000"/>
                          </a:solidFill>
                          <a:effectLst/>
                          <a:latin typeface="+mj-lt"/>
                        </a:rPr>
                        <a:t>400 kV Bay Extensions: 8 nos</a:t>
                      </a:r>
                    </a:p>
                    <a:p>
                      <a:pPr marL="228600" indent="-228600" algn="l" fontAlgn="b">
                        <a:buAutoNum type="arabicPeriod"/>
                      </a:pPr>
                      <a:r>
                        <a:rPr lang="en-IN" sz="1000" b="0" i="0" u="none" strike="noStrike" dirty="0">
                          <a:solidFill>
                            <a:srgbClr val="000000"/>
                          </a:solidFill>
                          <a:effectLst/>
                          <a:latin typeface="+mj-lt"/>
                        </a:rPr>
                        <a:t>230 kV Bay Extensions: 4 nos</a:t>
                      </a:r>
                    </a:p>
                    <a:p>
                      <a:pPr marL="228600" indent="-228600" algn="l" fontAlgn="b">
                        <a:buAutoNum type="arabicPeriod"/>
                      </a:pPr>
                      <a:r>
                        <a:rPr lang="en-IN" sz="1000" b="0" i="0" u="none" strike="noStrike" dirty="0">
                          <a:solidFill>
                            <a:srgbClr val="000000"/>
                          </a:solidFill>
                          <a:effectLst/>
                          <a:latin typeface="+mj-lt"/>
                        </a:rPr>
                        <a:t>To implement the frequency control and frequency drop protection, protection system, emergency control system and other associated tasks for qualitative upgradation of Bangladesh Power System.</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FY18-FY23</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54707990"/>
                  </a:ext>
                </a:extLst>
              </a:tr>
            </a:tbl>
          </a:graphicData>
        </a:graphic>
      </p:graphicFrame>
      <p:sp>
        <p:nvSpPr>
          <p:cNvPr id="7" name="Rectangle 6"/>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PGCB, Deloitte Analysis</a:t>
            </a:r>
          </a:p>
        </p:txBody>
      </p:sp>
    </p:spTree>
    <p:extLst>
      <p:ext uri="{BB962C8B-B14F-4D97-AF65-F5344CB8AC3E}">
        <p14:creationId xmlns:p14="http://schemas.microsoft.com/office/powerpoint/2010/main" val="812423494"/>
      </p:ext>
    </p:extLst>
  </p:cSld>
  <p:clrMapOvr>
    <a:masterClrMapping/>
  </p:clrMapOvr>
  <p:transition>
    <p:fade/>
  </p:transition>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370046444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5" name="Object 4"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Annexure G | Electricity Transmission | Ongoing Development Projects</a:t>
            </a:r>
            <a:endParaRPr lang="en-IN" dirty="0"/>
          </a:p>
        </p:txBody>
      </p:sp>
      <p:sp>
        <p:nvSpPr>
          <p:cNvPr id="3"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Currently, ~25 major transmission projects are under implementation </a:t>
            </a:r>
          </a:p>
        </p:txBody>
      </p:sp>
      <p:graphicFrame>
        <p:nvGraphicFramePr>
          <p:cNvPr id="6" name="Table 5"/>
          <p:cNvGraphicFramePr>
            <a:graphicFrameLocks noGrp="1"/>
          </p:cNvGraphicFramePr>
          <p:nvPr>
            <p:extLst>
              <p:ext uri="{D42A27DB-BD31-4B8C-83A1-F6EECF244321}">
                <p14:modId xmlns:p14="http://schemas.microsoft.com/office/powerpoint/2010/main" val="609047987"/>
              </p:ext>
            </p:extLst>
          </p:nvPr>
        </p:nvGraphicFramePr>
        <p:xfrm>
          <a:off x="449261" y="1598375"/>
          <a:ext cx="9791702" cy="5699760"/>
        </p:xfrm>
        <a:graphic>
          <a:graphicData uri="http://schemas.openxmlformats.org/drawingml/2006/table">
            <a:tbl>
              <a:tblPr firstRow="1">
                <a:tableStyleId>{3B4B98B0-60AC-42C2-AFA5-B58CD77FA1E5}</a:tableStyleId>
              </a:tblPr>
              <a:tblGrid>
                <a:gridCol w="424805">
                  <a:extLst>
                    <a:ext uri="{9D8B030D-6E8A-4147-A177-3AD203B41FA5}">
                      <a16:colId xmlns:a16="http://schemas.microsoft.com/office/drawing/2014/main" val="840296419"/>
                    </a:ext>
                  </a:extLst>
                </a:gridCol>
                <a:gridCol w="1868874">
                  <a:extLst>
                    <a:ext uri="{9D8B030D-6E8A-4147-A177-3AD203B41FA5}">
                      <a16:colId xmlns:a16="http://schemas.microsoft.com/office/drawing/2014/main" val="4215697382"/>
                    </a:ext>
                  </a:extLst>
                </a:gridCol>
                <a:gridCol w="2707382">
                  <a:extLst>
                    <a:ext uri="{9D8B030D-6E8A-4147-A177-3AD203B41FA5}">
                      <a16:colId xmlns:a16="http://schemas.microsoft.com/office/drawing/2014/main" val="2539929000"/>
                    </a:ext>
                  </a:extLst>
                </a:gridCol>
                <a:gridCol w="3852704">
                  <a:extLst>
                    <a:ext uri="{9D8B030D-6E8A-4147-A177-3AD203B41FA5}">
                      <a16:colId xmlns:a16="http://schemas.microsoft.com/office/drawing/2014/main" val="2067057095"/>
                    </a:ext>
                  </a:extLst>
                </a:gridCol>
                <a:gridCol w="937937">
                  <a:extLst>
                    <a:ext uri="{9D8B030D-6E8A-4147-A177-3AD203B41FA5}">
                      <a16:colId xmlns:a16="http://schemas.microsoft.com/office/drawing/2014/main" val="3422243030"/>
                    </a:ext>
                  </a:extLst>
                </a:gridCol>
              </a:tblGrid>
              <a:tr h="381282">
                <a:tc>
                  <a:txBody>
                    <a:bodyPr/>
                    <a:lstStyle/>
                    <a:p>
                      <a:pPr algn="l" fontAlgn="b"/>
                      <a:r>
                        <a:rPr lang="en-IN" sz="1000" u="none" strike="noStrike" dirty="0">
                          <a:effectLst/>
                          <a:latin typeface="+mj-lt"/>
                        </a:rPr>
                        <a:t>Sr. No</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latin typeface="+mj-lt"/>
                        </a:rPr>
                        <a:t>Project</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b="1" i="0" u="none" strike="noStrike" dirty="0">
                          <a:solidFill>
                            <a:srgbClr val="000000"/>
                          </a:solidFill>
                          <a:effectLst/>
                          <a:latin typeface="+mj-lt"/>
                        </a:rPr>
                        <a:t>Objective</a:t>
                      </a:r>
                      <a:endParaRPr lang="en-IN" sz="1000" b="1"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latin typeface="+mj-lt"/>
                        </a:rPr>
                        <a:t>Scope</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u="none" strike="noStrike" dirty="0">
                          <a:effectLst/>
                          <a:latin typeface="+mj-lt"/>
                        </a:rPr>
                        <a:t>Period</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163140"/>
                  </a:ext>
                </a:extLst>
              </a:tr>
              <a:tr h="703905">
                <a:tc>
                  <a:txBody>
                    <a:bodyPr/>
                    <a:lstStyle/>
                    <a:p>
                      <a:pPr algn="l" fontAlgn="t"/>
                      <a:r>
                        <a:rPr lang="en-US" sz="1000" dirty="0">
                          <a:effectLst/>
                          <a:latin typeface="+mj-lt"/>
                        </a:rPr>
                        <a:t>5</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lang="en-US" sz="1000" dirty="0">
                          <a:effectLst/>
                          <a:latin typeface="+mj-lt"/>
                        </a:rPr>
                        <a:t>Replacement of Ashuganj Old 132 kV AIS Substation by New 132 kV GIS Substation Project</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US" sz="1000" dirty="0">
                          <a:effectLst/>
                          <a:latin typeface="+mj-lt"/>
                        </a:rPr>
                        <a:t>Modernization of Ashuganj Old Substation to reduce the chance of National Grid Failure</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Replacement of Existing Ashuganj old 132 kV AIS Substation by 132 kV GIS Substation.</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FY18-FY21</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11846839"/>
                  </a:ext>
                </a:extLst>
              </a:tr>
              <a:tr h="850552">
                <a:tc>
                  <a:txBody>
                    <a:bodyPr/>
                    <a:lstStyle/>
                    <a:p>
                      <a:pPr algn="l" fontAlgn="t"/>
                      <a:r>
                        <a:rPr lang="en-US" sz="1000" dirty="0">
                          <a:effectLst/>
                          <a:latin typeface="+mj-lt"/>
                        </a:rPr>
                        <a:t>6</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US" sz="1000" dirty="0">
                          <a:effectLst/>
                          <a:latin typeface="+mj-lt"/>
                        </a:rPr>
                        <a:t>Development of Transmission Infrastructure at Mirsharai Economic Zone for Reliable Power Supply</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US" sz="1000" dirty="0">
                          <a:effectLst/>
                          <a:latin typeface="+mj-lt"/>
                        </a:rPr>
                        <a:t>To supply reliable and uninterrupted electricity to Mirsharai Economic Zone and evacuate generated power from an upcoming power plant in nearby area.</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228600" indent="-228600" algn="l" fontAlgn="b">
                        <a:buAutoNum type="arabicPeriod"/>
                      </a:pPr>
                      <a:r>
                        <a:rPr lang="en-IN" sz="1000" b="0" i="0" u="none" strike="noStrike" dirty="0">
                          <a:solidFill>
                            <a:srgbClr val="000000"/>
                          </a:solidFill>
                          <a:effectLst/>
                          <a:latin typeface="+mj-lt"/>
                        </a:rPr>
                        <a:t>400kV double circuit transmission line of 17 km</a:t>
                      </a:r>
                    </a:p>
                    <a:p>
                      <a:pPr marL="228600" indent="-228600" algn="l" fontAlgn="b">
                        <a:buAutoNum type="arabicPeriod"/>
                      </a:pPr>
                      <a:r>
                        <a:rPr lang="en-IN" sz="1000" b="0" i="0" u="none" strike="noStrike" dirty="0">
                          <a:solidFill>
                            <a:srgbClr val="000000"/>
                          </a:solidFill>
                          <a:effectLst/>
                          <a:latin typeface="+mj-lt"/>
                        </a:rPr>
                        <a:t>230/33kV (2 x120/180 MVA) GIS Substation</a:t>
                      </a:r>
                    </a:p>
                    <a:p>
                      <a:pPr marL="228600" indent="-228600" algn="l" fontAlgn="b">
                        <a:buAutoNum type="arabicPeriod"/>
                      </a:pPr>
                      <a:r>
                        <a:rPr lang="en-IN" sz="1000" b="0" i="0" u="none" strike="noStrike" dirty="0">
                          <a:solidFill>
                            <a:srgbClr val="000000"/>
                          </a:solidFill>
                          <a:effectLst/>
                          <a:latin typeface="+mj-lt"/>
                        </a:rPr>
                        <a:t>Extension of 230kV GIS Substation (2 nos. 400kV bays)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FY18-FY21</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37910943"/>
                  </a:ext>
                </a:extLst>
              </a:tr>
              <a:tr h="850552">
                <a:tc>
                  <a:txBody>
                    <a:bodyPr/>
                    <a:lstStyle/>
                    <a:p>
                      <a:pPr algn="l" fontAlgn="t"/>
                      <a:r>
                        <a:rPr lang="en-US" sz="1000" dirty="0">
                          <a:effectLst/>
                          <a:latin typeface="+mj-lt"/>
                        </a:rPr>
                        <a:t>7</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IN" sz="1000" dirty="0">
                          <a:effectLst/>
                          <a:latin typeface="+mj-lt"/>
                        </a:rPr>
                        <a:t>Construction of </a:t>
                      </a:r>
                      <a:r>
                        <a:rPr lang="en-IN" sz="1000" dirty="0" err="1">
                          <a:effectLst/>
                          <a:latin typeface="+mj-lt"/>
                        </a:rPr>
                        <a:t>Bheramara</a:t>
                      </a:r>
                      <a:r>
                        <a:rPr lang="en-IN" sz="1000" dirty="0">
                          <a:effectLst/>
                          <a:latin typeface="+mj-lt"/>
                        </a:rPr>
                        <a:t> (Bangladesh)-</a:t>
                      </a:r>
                      <a:r>
                        <a:rPr lang="en-IN" sz="1000" dirty="0" err="1">
                          <a:effectLst/>
                          <a:latin typeface="+mj-lt"/>
                        </a:rPr>
                        <a:t>Baharampur</a:t>
                      </a:r>
                      <a:r>
                        <a:rPr lang="en-IN" sz="1000" dirty="0">
                          <a:effectLst/>
                          <a:latin typeface="+mj-lt"/>
                        </a:rPr>
                        <a:t>(India) 2nd 400kV Transmission Line (Bangladesh Portion)</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US" sz="1000" dirty="0">
                          <a:effectLst/>
                          <a:latin typeface="+mj-lt"/>
                        </a:rPr>
                        <a:t>To ensure reliable transmission for 1000MW power import from India</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228600" indent="-228600" algn="l" fontAlgn="b">
                        <a:buAutoNum type="arabicPeriod"/>
                      </a:pPr>
                      <a:r>
                        <a:rPr lang="en-IN" sz="1000" b="0" i="0" u="none" strike="noStrike" dirty="0" err="1">
                          <a:solidFill>
                            <a:srgbClr val="000000"/>
                          </a:solidFill>
                          <a:effectLst/>
                          <a:latin typeface="+mj-lt"/>
                        </a:rPr>
                        <a:t>Bheramara</a:t>
                      </a:r>
                      <a:r>
                        <a:rPr lang="en-IN" sz="1000" b="0" i="0" u="none" strike="noStrike" dirty="0">
                          <a:solidFill>
                            <a:srgbClr val="000000"/>
                          </a:solidFill>
                          <a:effectLst/>
                          <a:latin typeface="+mj-lt"/>
                        </a:rPr>
                        <a:t>(Bangladesh)-</a:t>
                      </a:r>
                      <a:r>
                        <a:rPr lang="en-IN" sz="1000" b="0" i="0" u="none" strike="noStrike" dirty="0" err="1">
                          <a:solidFill>
                            <a:srgbClr val="000000"/>
                          </a:solidFill>
                          <a:effectLst/>
                          <a:latin typeface="+mj-lt"/>
                        </a:rPr>
                        <a:t>Baharampur</a:t>
                      </a:r>
                      <a:r>
                        <a:rPr lang="en-IN" sz="1000" b="0" i="0" u="none" strike="noStrike" dirty="0">
                          <a:solidFill>
                            <a:srgbClr val="000000"/>
                          </a:solidFill>
                          <a:effectLst/>
                          <a:latin typeface="+mj-lt"/>
                        </a:rPr>
                        <a:t>(India) 2nd 400 kV double circuit transmission line construction: 28 km</a:t>
                      </a:r>
                    </a:p>
                    <a:p>
                      <a:pPr marL="228600" indent="-228600" algn="l" fontAlgn="b">
                        <a:buAutoNum type="arabicPeriod"/>
                      </a:pPr>
                      <a:r>
                        <a:rPr lang="en-IN" sz="1000" b="0" i="0" u="none" strike="noStrike" dirty="0">
                          <a:solidFill>
                            <a:srgbClr val="000000"/>
                          </a:solidFill>
                          <a:effectLst/>
                          <a:latin typeface="+mj-lt"/>
                        </a:rPr>
                        <a:t>400kV Bay Extension: 2 no's at </a:t>
                      </a:r>
                      <a:r>
                        <a:rPr lang="en-IN" sz="1000" b="0" i="0" u="none" strike="noStrike" dirty="0" err="1">
                          <a:solidFill>
                            <a:srgbClr val="000000"/>
                          </a:solidFill>
                          <a:effectLst/>
                          <a:latin typeface="+mj-lt"/>
                        </a:rPr>
                        <a:t>Bheramara</a:t>
                      </a:r>
                      <a:r>
                        <a:rPr lang="en-IN" sz="1000" b="0" i="0" u="none" strike="noStrike" dirty="0">
                          <a:solidFill>
                            <a:srgbClr val="000000"/>
                          </a:solidFill>
                          <a:effectLst/>
                          <a:latin typeface="+mj-lt"/>
                        </a:rPr>
                        <a:t> HVDC</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FY18-FY21</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19401282"/>
                  </a:ext>
                </a:extLst>
              </a:tr>
              <a:tr h="850552">
                <a:tc>
                  <a:txBody>
                    <a:bodyPr/>
                    <a:lstStyle/>
                    <a:p>
                      <a:pPr algn="l" fontAlgn="t"/>
                      <a:r>
                        <a:rPr lang="en-US" sz="1000" dirty="0">
                          <a:effectLst/>
                          <a:latin typeface="+mj-lt"/>
                        </a:rPr>
                        <a:t>8</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US" sz="1000">
                          <a:effectLst/>
                          <a:latin typeface="+mj-lt"/>
                        </a:rPr>
                        <a:t>Construction of Bakerganj-Barguna 132kV Transmission Line &amp; Barguna 132/33kV Substation</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US" sz="1000" dirty="0">
                          <a:effectLst/>
                          <a:latin typeface="+mj-lt"/>
                        </a:rPr>
                        <a:t>To ensure reliable and uninterrupted power supply to </a:t>
                      </a:r>
                      <a:r>
                        <a:rPr lang="en-US" sz="1000" dirty="0" err="1">
                          <a:effectLst/>
                          <a:latin typeface="+mj-lt"/>
                        </a:rPr>
                        <a:t>Barguna</a:t>
                      </a:r>
                      <a:r>
                        <a:rPr lang="en-US" sz="1000" dirty="0">
                          <a:effectLst/>
                          <a:latin typeface="+mj-lt"/>
                        </a:rPr>
                        <a:t> and its neighboring areas</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228600" indent="-228600" algn="l" fontAlgn="b">
                        <a:buFont typeface="+mj-lt"/>
                        <a:buAutoNum type="arabicPeriod"/>
                      </a:pPr>
                      <a:r>
                        <a:rPr lang="en-US" sz="1000" b="0" i="0" u="none" strike="noStrike" dirty="0">
                          <a:solidFill>
                            <a:srgbClr val="000000"/>
                          </a:solidFill>
                          <a:effectLst/>
                          <a:latin typeface="+mj-lt"/>
                        </a:rPr>
                        <a:t>Single Circuit Stringing in </a:t>
                      </a:r>
                      <a:r>
                        <a:rPr lang="en-US" sz="1000" b="0" i="0" u="none" strike="noStrike" dirty="0" err="1">
                          <a:solidFill>
                            <a:srgbClr val="000000"/>
                          </a:solidFill>
                          <a:effectLst/>
                          <a:latin typeface="+mj-lt"/>
                        </a:rPr>
                        <a:t>Bakerganj-Barguna</a:t>
                      </a:r>
                      <a:r>
                        <a:rPr lang="en-US" sz="1000" b="0" i="0" u="none" strike="noStrike" dirty="0">
                          <a:solidFill>
                            <a:srgbClr val="000000"/>
                          </a:solidFill>
                          <a:effectLst/>
                          <a:latin typeface="+mj-lt"/>
                        </a:rPr>
                        <a:t> double circuit towers:50 km</a:t>
                      </a:r>
                    </a:p>
                    <a:p>
                      <a:pPr marL="228600" indent="-228600" algn="l" fontAlgn="b">
                        <a:buFont typeface="+mj-lt"/>
                        <a:buAutoNum type="arabicPeriod"/>
                      </a:pPr>
                      <a:r>
                        <a:rPr lang="en-US" sz="1000" b="0" i="0" u="none" strike="noStrike" dirty="0">
                          <a:solidFill>
                            <a:srgbClr val="000000"/>
                          </a:solidFill>
                          <a:effectLst/>
                          <a:latin typeface="+mj-lt"/>
                        </a:rPr>
                        <a:t>Construction of </a:t>
                      </a:r>
                      <a:r>
                        <a:rPr lang="en-US" sz="1000" b="0" i="0" u="none" strike="noStrike" dirty="0" err="1">
                          <a:solidFill>
                            <a:srgbClr val="000000"/>
                          </a:solidFill>
                          <a:effectLst/>
                          <a:latin typeface="+mj-lt"/>
                        </a:rPr>
                        <a:t>Barguna</a:t>
                      </a:r>
                      <a:r>
                        <a:rPr lang="en-US" sz="1000" b="0" i="0" u="none" strike="noStrike" dirty="0">
                          <a:solidFill>
                            <a:srgbClr val="000000"/>
                          </a:solidFill>
                          <a:effectLst/>
                          <a:latin typeface="+mj-lt"/>
                        </a:rPr>
                        <a:t> 132/33 kV AIS Substation: 2x50/75 MVA</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FY18-FY21</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37972680"/>
                  </a:ext>
                </a:extLst>
              </a:tr>
              <a:tr h="997199">
                <a:tc>
                  <a:txBody>
                    <a:bodyPr/>
                    <a:lstStyle/>
                    <a:p>
                      <a:pPr algn="l" fontAlgn="t"/>
                      <a:r>
                        <a:rPr lang="en-US" sz="1000" dirty="0">
                          <a:effectLst/>
                          <a:latin typeface="+mj-lt"/>
                        </a:rPr>
                        <a:t>9</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lang="en-IN" sz="1000">
                          <a:effectLst/>
                          <a:latin typeface="+mj-lt"/>
                        </a:rPr>
                        <a:t>Matarbari Ultra Super Critical Coal-Fired Power Project (II) (PGCB Part: “Matarbari-Madunaghat 400 kV Transmission Line”)</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US" sz="1000" dirty="0">
                          <a:effectLst/>
                          <a:latin typeface="+mj-lt"/>
                        </a:rPr>
                        <a:t>To evacuate power from upcoming </a:t>
                      </a:r>
                      <a:r>
                        <a:rPr lang="en-US" sz="1000" dirty="0" err="1">
                          <a:effectLst/>
                          <a:latin typeface="+mj-lt"/>
                        </a:rPr>
                        <a:t>Matarbari</a:t>
                      </a:r>
                      <a:r>
                        <a:rPr lang="en-US" sz="1000" dirty="0">
                          <a:effectLst/>
                          <a:latin typeface="+mj-lt"/>
                        </a:rPr>
                        <a:t> 1200 MW Power Station and to create power transmission capacity/ facility between </a:t>
                      </a:r>
                      <a:r>
                        <a:rPr lang="en-US" sz="1000" dirty="0" err="1">
                          <a:effectLst/>
                          <a:latin typeface="+mj-lt"/>
                        </a:rPr>
                        <a:t>Matarbari</a:t>
                      </a:r>
                      <a:r>
                        <a:rPr lang="en-US" sz="1000" dirty="0">
                          <a:effectLst/>
                          <a:latin typeface="+mj-lt"/>
                        </a:rPr>
                        <a:t> and </a:t>
                      </a:r>
                      <a:r>
                        <a:rPr lang="en-US" sz="1000" dirty="0" err="1">
                          <a:effectLst/>
                          <a:latin typeface="+mj-lt"/>
                        </a:rPr>
                        <a:t>Madunaghat</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IN" sz="1000" b="0" i="0" u="none" strike="noStrike" dirty="0">
                          <a:solidFill>
                            <a:srgbClr val="000000"/>
                          </a:solidFill>
                          <a:effectLst/>
                          <a:latin typeface="+mj-lt"/>
                        </a:rPr>
                        <a:t>400kV transmission line.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FY18-FY21</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12957358"/>
                  </a:ext>
                </a:extLst>
              </a:tr>
              <a:tr h="850552">
                <a:tc>
                  <a:txBody>
                    <a:bodyPr/>
                    <a:lstStyle/>
                    <a:p>
                      <a:pPr algn="l" fontAlgn="t"/>
                      <a:r>
                        <a:rPr lang="en-US" sz="1000" dirty="0">
                          <a:effectLst/>
                          <a:latin typeface="+mj-lt"/>
                        </a:rPr>
                        <a:t>10</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US" sz="1000" dirty="0" err="1">
                          <a:effectLst/>
                          <a:latin typeface="+mj-lt"/>
                        </a:rPr>
                        <a:t>Patuakhali</a:t>
                      </a:r>
                      <a:r>
                        <a:rPr lang="en-US" sz="1000" dirty="0">
                          <a:effectLst/>
                          <a:latin typeface="+mj-lt"/>
                        </a:rPr>
                        <a:t> -Payra 230 kV Transmission Line Project</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US" sz="1000" dirty="0">
                          <a:effectLst/>
                          <a:latin typeface="+mj-lt"/>
                        </a:rPr>
                        <a:t>To supply back feed power to upcoming 1st unit (660 MW) of Payra 1320 MW Power Plant through a sufficient amount of power in local area from Payra coal power plant in future.</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228600" indent="-228600" algn="l" fontAlgn="b">
                        <a:buFont typeface="+mj-lt"/>
                        <a:buAutoNum type="arabicPeriod"/>
                      </a:pPr>
                      <a:r>
                        <a:rPr lang="en-US" sz="1000" b="0" i="0" u="none" strike="noStrike" dirty="0">
                          <a:solidFill>
                            <a:srgbClr val="000000"/>
                          </a:solidFill>
                          <a:effectLst/>
                          <a:latin typeface="+mj-lt"/>
                        </a:rPr>
                        <a:t>To construct 47 km 230kV transmission line.</a:t>
                      </a:r>
                    </a:p>
                    <a:p>
                      <a:pPr marL="228600" indent="-228600" algn="l" fontAlgn="b">
                        <a:buFont typeface="+mj-lt"/>
                        <a:buAutoNum type="arabicPeriod"/>
                      </a:pPr>
                      <a:r>
                        <a:rPr lang="en-US" sz="1000" b="0" i="0" u="none" strike="noStrike" dirty="0">
                          <a:solidFill>
                            <a:srgbClr val="000000"/>
                          </a:solidFill>
                          <a:effectLst/>
                          <a:latin typeface="+mj-lt"/>
                        </a:rPr>
                        <a:t>To construct 132 kV Switchyard (except transformer).</a:t>
                      </a:r>
                    </a:p>
                    <a:p>
                      <a:pPr marL="228600" indent="-228600" algn="l" fontAlgn="b">
                        <a:buFont typeface="+mj-lt"/>
                        <a:buAutoNum type="arabicPeriod"/>
                      </a:pPr>
                      <a:r>
                        <a:rPr lang="en-US" sz="1000" b="0" i="0" u="none" strike="noStrike" dirty="0">
                          <a:solidFill>
                            <a:srgbClr val="000000"/>
                          </a:solidFill>
                          <a:effectLst/>
                          <a:latin typeface="+mj-lt"/>
                        </a:rPr>
                        <a:t>To extend two 132kV Bay at 132/33 kV existing Substation.</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IN" sz="1000" b="0" i="0" u="none" strike="noStrike" dirty="0">
                          <a:solidFill>
                            <a:srgbClr val="000000"/>
                          </a:solidFill>
                          <a:effectLst/>
                          <a:latin typeface="+mj-lt"/>
                        </a:rPr>
                        <a:t>FY17-FY21</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846279978"/>
                  </a:ext>
                </a:extLst>
              </a:tr>
            </a:tbl>
          </a:graphicData>
        </a:graphic>
      </p:graphicFrame>
      <p:sp>
        <p:nvSpPr>
          <p:cNvPr id="7" name="Rectangle 6"/>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PGCB, Deloitte Analysis</a:t>
            </a:r>
          </a:p>
        </p:txBody>
      </p:sp>
    </p:spTree>
    <p:extLst>
      <p:ext uri="{BB962C8B-B14F-4D97-AF65-F5344CB8AC3E}">
        <p14:creationId xmlns:p14="http://schemas.microsoft.com/office/powerpoint/2010/main" val="270113444"/>
      </p:ext>
    </p:extLst>
  </p:cSld>
  <p:clrMapOvr>
    <a:masterClrMapping/>
  </p:clrMapOvr>
  <p:transition>
    <p:fade/>
  </p:transition>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246845689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5" name="Object 4"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Annexure G | Electricity Transmission | Ongoing Development Projects</a:t>
            </a:r>
            <a:endParaRPr lang="en-IN" dirty="0"/>
          </a:p>
        </p:txBody>
      </p:sp>
      <p:sp>
        <p:nvSpPr>
          <p:cNvPr id="3"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Currently, ~25 major transmission projects are under implementation </a:t>
            </a:r>
          </a:p>
        </p:txBody>
      </p:sp>
      <p:graphicFrame>
        <p:nvGraphicFramePr>
          <p:cNvPr id="6" name="Table 5"/>
          <p:cNvGraphicFramePr>
            <a:graphicFrameLocks noGrp="1"/>
          </p:cNvGraphicFramePr>
          <p:nvPr>
            <p:extLst>
              <p:ext uri="{D42A27DB-BD31-4B8C-83A1-F6EECF244321}">
                <p14:modId xmlns:p14="http://schemas.microsoft.com/office/powerpoint/2010/main" val="1633403405"/>
              </p:ext>
            </p:extLst>
          </p:nvPr>
        </p:nvGraphicFramePr>
        <p:xfrm>
          <a:off x="449261" y="1598375"/>
          <a:ext cx="9791702" cy="5699760"/>
        </p:xfrm>
        <a:graphic>
          <a:graphicData uri="http://schemas.openxmlformats.org/drawingml/2006/table">
            <a:tbl>
              <a:tblPr firstRow="1">
                <a:tableStyleId>{3B4B98B0-60AC-42C2-AFA5-B58CD77FA1E5}</a:tableStyleId>
              </a:tblPr>
              <a:tblGrid>
                <a:gridCol w="424805">
                  <a:extLst>
                    <a:ext uri="{9D8B030D-6E8A-4147-A177-3AD203B41FA5}">
                      <a16:colId xmlns:a16="http://schemas.microsoft.com/office/drawing/2014/main" val="840296419"/>
                    </a:ext>
                  </a:extLst>
                </a:gridCol>
                <a:gridCol w="1868874">
                  <a:extLst>
                    <a:ext uri="{9D8B030D-6E8A-4147-A177-3AD203B41FA5}">
                      <a16:colId xmlns:a16="http://schemas.microsoft.com/office/drawing/2014/main" val="4215697382"/>
                    </a:ext>
                  </a:extLst>
                </a:gridCol>
                <a:gridCol w="2707382">
                  <a:extLst>
                    <a:ext uri="{9D8B030D-6E8A-4147-A177-3AD203B41FA5}">
                      <a16:colId xmlns:a16="http://schemas.microsoft.com/office/drawing/2014/main" val="2539929000"/>
                    </a:ext>
                  </a:extLst>
                </a:gridCol>
                <a:gridCol w="3852704">
                  <a:extLst>
                    <a:ext uri="{9D8B030D-6E8A-4147-A177-3AD203B41FA5}">
                      <a16:colId xmlns:a16="http://schemas.microsoft.com/office/drawing/2014/main" val="2067057095"/>
                    </a:ext>
                  </a:extLst>
                </a:gridCol>
                <a:gridCol w="937937">
                  <a:extLst>
                    <a:ext uri="{9D8B030D-6E8A-4147-A177-3AD203B41FA5}">
                      <a16:colId xmlns:a16="http://schemas.microsoft.com/office/drawing/2014/main" val="3422243030"/>
                    </a:ext>
                  </a:extLst>
                </a:gridCol>
              </a:tblGrid>
              <a:tr h="365397">
                <a:tc>
                  <a:txBody>
                    <a:bodyPr/>
                    <a:lstStyle/>
                    <a:p>
                      <a:pPr algn="l" fontAlgn="b"/>
                      <a:r>
                        <a:rPr lang="en-IN" sz="1000" u="none" strike="noStrike" dirty="0">
                          <a:effectLst/>
                          <a:latin typeface="+mj-lt"/>
                        </a:rPr>
                        <a:t>Sr. No</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latin typeface="+mj-lt"/>
                        </a:rPr>
                        <a:t>Project</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b="1" i="0" u="none" strike="noStrike" dirty="0">
                          <a:solidFill>
                            <a:srgbClr val="000000"/>
                          </a:solidFill>
                          <a:effectLst/>
                          <a:latin typeface="+mj-lt"/>
                        </a:rPr>
                        <a:t>Objective</a:t>
                      </a:r>
                      <a:endParaRPr lang="en-IN" sz="1000" b="1"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latin typeface="+mj-lt"/>
                        </a:rPr>
                        <a:t>Scope</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u="none" strike="noStrike" dirty="0">
                          <a:effectLst/>
                          <a:latin typeface="+mj-lt"/>
                        </a:rPr>
                        <a:t>Period</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163140"/>
                  </a:ext>
                </a:extLst>
              </a:tr>
              <a:tr h="505935">
                <a:tc>
                  <a:txBody>
                    <a:bodyPr/>
                    <a:lstStyle/>
                    <a:p>
                      <a:pPr algn="l" fontAlgn="t"/>
                      <a:r>
                        <a:rPr lang="en-US" sz="1000" dirty="0">
                          <a:effectLst/>
                          <a:latin typeface="+mj-lt"/>
                        </a:rPr>
                        <a:t>11</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IN" sz="1000">
                          <a:effectLst/>
                          <a:latin typeface="+mj-lt"/>
                        </a:rPr>
                        <a:t>Construction of Patuakhali (Payra) - Gopalganj 400 kV Transmission Line &amp; Gopalganj 400 kV Grid Substation</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US" sz="1000" dirty="0">
                          <a:effectLst/>
                          <a:latin typeface="+mj-lt"/>
                        </a:rPr>
                        <a:t>The main objective of the project is to create necessary facilities to evacuate power from upcoming coal based Payra 1320 MW Power Plant.</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228600" indent="-228600" algn="l" fontAlgn="b">
                        <a:buFont typeface="+mj-lt"/>
                        <a:buAutoNum type="arabicPeriod"/>
                      </a:pPr>
                      <a:r>
                        <a:rPr lang="en-IN" sz="1000" b="0" i="0" u="none" strike="noStrike" dirty="0" err="1">
                          <a:solidFill>
                            <a:srgbClr val="000000"/>
                          </a:solidFill>
                          <a:effectLst/>
                          <a:latin typeface="+mj-lt"/>
                        </a:rPr>
                        <a:t>Constrcution</a:t>
                      </a:r>
                      <a:r>
                        <a:rPr lang="en-IN" sz="1000" b="0" i="0" u="none" strike="noStrike" dirty="0">
                          <a:solidFill>
                            <a:srgbClr val="000000"/>
                          </a:solidFill>
                          <a:effectLst/>
                          <a:latin typeface="+mj-lt"/>
                        </a:rPr>
                        <a:t> of 400 kV Double circuit</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transmission line: 160 km</a:t>
                      </a:r>
                    </a:p>
                    <a:p>
                      <a:pPr marL="228600" indent="-228600" algn="l" fontAlgn="b">
                        <a:buFont typeface="+mj-lt"/>
                        <a:buAutoNum type="arabicPeriod"/>
                      </a:pPr>
                      <a:r>
                        <a:rPr lang="en-IN" sz="1000" b="0" i="0" u="none" strike="noStrike" dirty="0" err="1">
                          <a:solidFill>
                            <a:srgbClr val="000000"/>
                          </a:solidFill>
                          <a:effectLst/>
                          <a:latin typeface="+mj-lt"/>
                        </a:rPr>
                        <a:t>Constrcution</a:t>
                      </a:r>
                      <a:r>
                        <a:rPr lang="en-IN" sz="1000" b="0" i="0" u="none" strike="noStrike" dirty="0">
                          <a:solidFill>
                            <a:srgbClr val="000000"/>
                          </a:solidFill>
                          <a:effectLst/>
                          <a:latin typeface="+mj-lt"/>
                        </a:rPr>
                        <a:t> of line in line out (LILO OF) of </a:t>
                      </a:r>
                      <a:r>
                        <a:rPr lang="en-IN" sz="1000" b="0" i="0" u="none" strike="noStrike" dirty="0" err="1">
                          <a:solidFill>
                            <a:srgbClr val="000000"/>
                          </a:solidFill>
                          <a:effectLst/>
                          <a:latin typeface="+mj-lt"/>
                        </a:rPr>
                        <a:t>Madaripur</a:t>
                      </a:r>
                      <a:r>
                        <a:rPr lang="en-IN" sz="1000" b="0" i="0" u="none" strike="noStrike" dirty="0">
                          <a:solidFill>
                            <a:srgbClr val="000000"/>
                          </a:solidFill>
                          <a:effectLst/>
                          <a:latin typeface="+mj-lt"/>
                        </a:rPr>
                        <a:t> –</a:t>
                      </a:r>
                      <a:r>
                        <a:rPr lang="en-IN" sz="1000" b="0" i="0" u="none" strike="noStrike" dirty="0" err="1">
                          <a:solidFill>
                            <a:srgbClr val="000000"/>
                          </a:solidFill>
                          <a:effectLst/>
                          <a:latin typeface="+mj-lt"/>
                        </a:rPr>
                        <a:t>Gopalganj</a:t>
                      </a:r>
                      <a:r>
                        <a:rPr lang="en-IN" sz="1000" b="0" i="0" u="none" strike="noStrike" dirty="0">
                          <a:solidFill>
                            <a:srgbClr val="000000"/>
                          </a:solidFill>
                          <a:effectLst/>
                          <a:latin typeface="+mj-lt"/>
                        </a:rPr>
                        <a:t>(Old) 132 kV double circuit line at </a:t>
                      </a:r>
                      <a:r>
                        <a:rPr lang="en-IN" sz="1000" b="0" i="0" u="none" strike="noStrike" dirty="0" err="1">
                          <a:solidFill>
                            <a:srgbClr val="000000"/>
                          </a:solidFill>
                          <a:effectLst/>
                          <a:latin typeface="+mj-lt"/>
                        </a:rPr>
                        <a:t>Gopalganj</a:t>
                      </a:r>
                      <a:r>
                        <a:rPr lang="en-IN" sz="1000" b="0" i="0" u="none" strike="noStrike" dirty="0">
                          <a:solidFill>
                            <a:srgbClr val="000000"/>
                          </a:solidFill>
                          <a:effectLst/>
                          <a:latin typeface="+mj-lt"/>
                        </a:rPr>
                        <a:t> (New) substation (8km)</a:t>
                      </a:r>
                    </a:p>
                    <a:p>
                      <a:pPr marL="228600" indent="-228600" algn="l" fontAlgn="b">
                        <a:buFont typeface="+mj-lt"/>
                        <a:buAutoNum type="arabicPeriod"/>
                      </a:pPr>
                      <a:r>
                        <a:rPr lang="en-IN" sz="1000" b="0" i="0" u="none" strike="noStrike" dirty="0" err="1">
                          <a:solidFill>
                            <a:srgbClr val="000000"/>
                          </a:solidFill>
                          <a:effectLst/>
                          <a:latin typeface="+mj-lt"/>
                        </a:rPr>
                        <a:t>Constrcution</a:t>
                      </a:r>
                      <a:r>
                        <a:rPr lang="en-IN" sz="1000" b="0" i="0" u="none" strike="noStrike" dirty="0">
                          <a:solidFill>
                            <a:srgbClr val="000000"/>
                          </a:solidFill>
                          <a:effectLst/>
                          <a:latin typeface="+mj-lt"/>
                        </a:rPr>
                        <a:t> of line in line out (LILO OF) of </a:t>
                      </a:r>
                      <a:r>
                        <a:rPr lang="en-IN" sz="1000" b="0" i="0" u="none" strike="noStrike" dirty="0" err="1">
                          <a:solidFill>
                            <a:srgbClr val="000000"/>
                          </a:solidFill>
                          <a:effectLst/>
                          <a:latin typeface="+mj-lt"/>
                        </a:rPr>
                        <a:t>Madaripur</a:t>
                      </a:r>
                      <a:r>
                        <a:rPr lang="en-IN" sz="1000" b="0" i="0" u="none" strike="noStrike" dirty="0">
                          <a:solidFill>
                            <a:srgbClr val="000000"/>
                          </a:solidFill>
                          <a:effectLst/>
                          <a:latin typeface="+mj-lt"/>
                        </a:rPr>
                        <a:t> –</a:t>
                      </a:r>
                      <a:r>
                        <a:rPr lang="en-IN" sz="1000" b="0" i="0" u="none" strike="noStrike" dirty="0" err="1">
                          <a:solidFill>
                            <a:srgbClr val="000000"/>
                          </a:solidFill>
                          <a:effectLst/>
                          <a:latin typeface="+mj-lt"/>
                        </a:rPr>
                        <a:t>Faridpur</a:t>
                      </a:r>
                      <a:r>
                        <a:rPr lang="en-IN" sz="1000" b="0" i="0" u="none" strike="noStrike" dirty="0">
                          <a:solidFill>
                            <a:srgbClr val="000000"/>
                          </a:solidFill>
                          <a:effectLst/>
                          <a:latin typeface="+mj-lt"/>
                        </a:rPr>
                        <a:t> 132 kV double circuit line at </a:t>
                      </a:r>
                      <a:r>
                        <a:rPr lang="en-IN" sz="1000" b="0" i="0" u="none" strike="noStrike" dirty="0" err="1">
                          <a:solidFill>
                            <a:srgbClr val="000000"/>
                          </a:solidFill>
                          <a:effectLst/>
                          <a:latin typeface="+mj-lt"/>
                        </a:rPr>
                        <a:t>Gopalganj</a:t>
                      </a:r>
                      <a:r>
                        <a:rPr lang="en-IN" sz="1000" b="0" i="0" u="none" strike="noStrike" dirty="0">
                          <a:solidFill>
                            <a:srgbClr val="000000"/>
                          </a:solidFill>
                          <a:effectLst/>
                          <a:latin typeface="+mj-lt"/>
                        </a:rPr>
                        <a:t> (New) substation (1km)</a:t>
                      </a:r>
                    </a:p>
                    <a:p>
                      <a:pPr marL="228600" indent="-228600" algn="l" fontAlgn="b">
                        <a:buFont typeface="+mj-lt"/>
                        <a:buAutoNum type="arabicPeriod"/>
                      </a:pPr>
                      <a:r>
                        <a:rPr lang="en-IN" sz="1000" b="0" i="0" u="none" strike="noStrike" dirty="0">
                          <a:solidFill>
                            <a:srgbClr val="000000"/>
                          </a:solidFill>
                          <a:effectLst/>
                          <a:latin typeface="+mj-lt"/>
                        </a:rPr>
                        <a:t>Construction of 400/132 kV, 3x325 MVA AIS Substation.</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FY17-FY21</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73194233"/>
                  </a:ext>
                </a:extLst>
              </a:tr>
              <a:tr h="505935">
                <a:tc>
                  <a:txBody>
                    <a:bodyPr/>
                    <a:lstStyle/>
                    <a:p>
                      <a:pPr algn="l" fontAlgn="t"/>
                      <a:r>
                        <a:rPr lang="en-US" sz="1000" dirty="0">
                          <a:effectLst/>
                          <a:latin typeface="+mj-lt"/>
                        </a:rPr>
                        <a:t>12</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lang="en-US" sz="1000" dirty="0">
                          <a:effectLst/>
                          <a:latin typeface="+mj-lt"/>
                        </a:rPr>
                        <a:t>Dhaka and Western Zone Transmission Grid Expansion Project</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US" sz="1000" dirty="0">
                          <a:effectLst/>
                          <a:latin typeface="+mj-lt"/>
                        </a:rPr>
                        <a:t>To meet up the growing demand by ensuring reliable power supply to industrial, commercial and residential areas of Central Zone (DESCO area of Dhaka), Western Zone, Northern Zone and Southern Zone of Bangladesh by enhancing and strengthening existing grid network.</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228600" indent="-228600" algn="l" fontAlgn="b">
                        <a:buFont typeface="+mj-lt"/>
                        <a:buAutoNum type="arabicPeriod"/>
                      </a:pPr>
                      <a:r>
                        <a:rPr lang="en-IN" sz="1000" b="0" i="0" u="none" strike="noStrike" dirty="0">
                          <a:solidFill>
                            <a:srgbClr val="000000"/>
                          </a:solidFill>
                          <a:effectLst/>
                          <a:latin typeface="+mj-lt"/>
                        </a:rPr>
                        <a:t>400 kV Transmission Line: 22km</a:t>
                      </a:r>
                    </a:p>
                    <a:p>
                      <a:pPr marL="228600" indent="-228600" algn="l" fontAlgn="b">
                        <a:buFont typeface="+mj-lt"/>
                        <a:buAutoNum type="arabicPeriod"/>
                      </a:pPr>
                      <a:r>
                        <a:rPr lang="en-IN" sz="1000" b="0" i="0" u="none" strike="noStrike" dirty="0">
                          <a:solidFill>
                            <a:srgbClr val="000000"/>
                          </a:solidFill>
                          <a:effectLst/>
                          <a:latin typeface="+mj-lt"/>
                        </a:rPr>
                        <a:t>230 kV Transmission Line: 144 km</a:t>
                      </a:r>
                    </a:p>
                    <a:p>
                      <a:pPr marL="228600" indent="-228600" algn="l" fontAlgn="b">
                        <a:buFont typeface="+mj-lt"/>
                        <a:buAutoNum type="arabicPeriod"/>
                      </a:pPr>
                      <a:r>
                        <a:rPr lang="en-IN" sz="1000" b="0" i="0" u="none" strike="noStrike" dirty="0">
                          <a:solidFill>
                            <a:srgbClr val="000000"/>
                          </a:solidFill>
                          <a:effectLst/>
                          <a:latin typeface="+mj-lt"/>
                        </a:rPr>
                        <a:t>132 kV Transmission Line: 242 km</a:t>
                      </a:r>
                    </a:p>
                    <a:p>
                      <a:pPr marL="228600" indent="-228600" algn="l" fontAlgn="b">
                        <a:buFont typeface="+mj-lt"/>
                        <a:buAutoNum type="arabicPeriod"/>
                      </a:pPr>
                      <a:r>
                        <a:rPr lang="en-IN" sz="1000" b="0" i="0" u="none" strike="noStrike" dirty="0">
                          <a:solidFill>
                            <a:srgbClr val="000000"/>
                          </a:solidFill>
                          <a:effectLst/>
                          <a:latin typeface="+mj-lt"/>
                        </a:rPr>
                        <a:t>400 kV Substations: 2 </a:t>
                      </a:r>
                      <a:r>
                        <a:rPr lang="en-IN" sz="1000" b="0" i="0" u="none" strike="noStrike" dirty="0" err="1">
                          <a:solidFill>
                            <a:srgbClr val="000000"/>
                          </a:solidFill>
                          <a:effectLst/>
                          <a:latin typeface="+mj-lt"/>
                        </a:rPr>
                        <a:t>nos</a:t>
                      </a:r>
                      <a:endParaRPr lang="en-IN" sz="1000" b="0" i="0" u="none" strike="noStrike" dirty="0">
                        <a:solidFill>
                          <a:srgbClr val="000000"/>
                        </a:solidFill>
                        <a:effectLst/>
                        <a:latin typeface="+mj-lt"/>
                      </a:endParaRPr>
                    </a:p>
                    <a:p>
                      <a:pPr marL="228600" indent="-228600" algn="l" fontAlgn="b">
                        <a:buFont typeface="+mj-lt"/>
                        <a:buAutoNum type="arabicPeriod"/>
                      </a:pPr>
                      <a:r>
                        <a:rPr lang="en-IN" sz="1000" b="0" i="0" u="none" strike="noStrike" dirty="0">
                          <a:solidFill>
                            <a:srgbClr val="000000"/>
                          </a:solidFill>
                          <a:effectLst/>
                          <a:latin typeface="+mj-lt"/>
                        </a:rPr>
                        <a:t>230 kV Substations: 3 </a:t>
                      </a:r>
                      <a:r>
                        <a:rPr lang="en-IN" sz="1000" b="0" i="0" u="none" strike="noStrike" dirty="0" err="1">
                          <a:solidFill>
                            <a:srgbClr val="000000"/>
                          </a:solidFill>
                          <a:effectLst/>
                          <a:latin typeface="+mj-lt"/>
                        </a:rPr>
                        <a:t>nos</a:t>
                      </a:r>
                      <a:endParaRPr lang="en-IN" sz="1000" b="0" i="0" u="none" strike="noStrike" dirty="0">
                        <a:solidFill>
                          <a:srgbClr val="000000"/>
                        </a:solidFill>
                        <a:effectLst/>
                        <a:latin typeface="+mj-lt"/>
                      </a:endParaRPr>
                    </a:p>
                    <a:p>
                      <a:pPr marL="228600" indent="-228600" algn="l" fontAlgn="b">
                        <a:buFont typeface="+mj-lt"/>
                        <a:buAutoNum type="arabicPeriod"/>
                      </a:pPr>
                      <a:r>
                        <a:rPr lang="en-IN" sz="1000" b="0" i="0" u="none" strike="noStrike" dirty="0">
                          <a:solidFill>
                            <a:srgbClr val="000000"/>
                          </a:solidFill>
                          <a:effectLst/>
                          <a:latin typeface="+mj-lt"/>
                        </a:rPr>
                        <a:t>132 kV Substations: 10 </a:t>
                      </a:r>
                      <a:r>
                        <a:rPr lang="en-IN" sz="1000" b="0" i="0" u="none" strike="noStrike" dirty="0" err="1">
                          <a:solidFill>
                            <a:srgbClr val="000000"/>
                          </a:solidFill>
                          <a:effectLst/>
                          <a:latin typeface="+mj-lt"/>
                        </a:rPr>
                        <a:t>nos</a:t>
                      </a:r>
                      <a:endParaRPr lang="en-IN" sz="1000" b="0" i="0" u="none" strike="noStrike" dirty="0">
                        <a:solidFill>
                          <a:srgbClr val="000000"/>
                        </a:solidFill>
                        <a:effectLst/>
                        <a:latin typeface="+mj-lt"/>
                      </a:endParaRPr>
                    </a:p>
                    <a:p>
                      <a:pPr marL="228600" indent="-228600" algn="l" fontAlgn="b">
                        <a:buFont typeface="+mj-lt"/>
                        <a:buAutoNum type="arabicPeriod"/>
                      </a:pPr>
                      <a:r>
                        <a:rPr lang="en-IN" sz="1000" b="0" i="0" u="none" strike="noStrike" dirty="0">
                          <a:solidFill>
                            <a:srgbClr val="000000"/>
                          </a:solidFill>
                          <a:effectLst/>
                          <a:latin typeface="+mj-lt"/>
                        </a:rPr>
                        <a:t>132 kV Bay Extensions: 20 </a:t>
                      </a:r>
                      <a:r>
                        <a:rPr lang="en-IN" sz="1000" b="0" i="0" u="none" strike="noStrike" dirty="0" err="1">
                          <a:solidFill>
                            <a:srgbClr val="000000"/>
                          </a:solidFill>
                          <a:effectLst/>
                          <a:latin typeface="+mj-lt"/>
                        </a:rPr>
                        <a:t>nos</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FY19-FY24</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90661593"/>
                  </a:ext>
                </a:extLst>
              </a:tr>
              <a:tr h="505935">
                <a:tc>
                  <a:txBody>
                    <a:bodyPr/>
                    <a:lstStyle/>
                    <a:p>
                      <a:pPr algn="l" fontAlgn="t"/>
                      <a:r>
                        <a:rPr lang="en-US" sz="1000" dirty="0">
                          <a:effectLst/>
                          <a:latin typeface="+mj-lt"/>
                        </a:rPr>
                        <a:t>13</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lang="en-US" sz="1000">
                          <a:effectLst/>
                          <a:latin typeface="+mj-lt"/>
                        </a:rPr>
                        <a:t>Expansion and Strengthening of Power System Network under Chattogram Area</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US" sz="1000" dirty="0">
                          <a:effectLst/>
                          <a:latin typeface="+mj-lt"/>
                        </a:rPr>
                        <a:t>To transmit electricity from upcoming United 583 MW as well as United 300MW Power plants and from other upcoming power plants at </a:t>
                      </a:r>
                      <a:r>
                        <a:rPr lang="en-US" sz="1000" dirty="0" err="1">
                          <a:effectLst/>
                          <a:latin typeface="+mj-lt"/>
                        </a:rPr>
                        <a:t>Anowara</a:t>
                      </a:r>
                      <a:r>
                        <a:rPr lang="en-US" sz="1000" dirty="0">
                          <a:effectLst/>
                          <a:latin typeface="+mj-lt"/>
                        </a:rPr>
                        <a:t> to the major load centers of </a:t>
                      </a:r>
                      <a:r>
                        <a:rPr lang="en-US" sz="1000" dirty="0" err="1">
                          <a:effectLst/>
                          <a:latin typeface="+mj-lt"/>
                        </a:rPr>
                        <a:t>Chattogram</a:t>
                      </a:r>
                      <a:r>
                        <a:rPr lang="en-US" sz="1000" dirty="0">
                          <a:effectLst/>
                          <a:latin typeface="+mj-lt"/>
                        </a:rPr>
                        <a:t> city</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228600" indent="-228600" algn="l" fontAlgn="b">
                        <a:buFont typeface="+mj-lt"/>
                        <a:buAutoNum type="arabicPeriod"/>
                      </a:pPr>
                      <a:r>
                        <a:rPr lang="en-IN" sz="1000" b="0" i="0" u="none" strike="noStrike" dirty="0">
                          <a:solidFill>
                            <a:srgbClr val="000000"/>
                          </a:solidFill>
                          <a:effectLst/>
                          <a:latin typeface="+mj-lt"/>
                        </a:rPr>
                        <a:t>400 kV Transmission Line: 25.185 km</a:t>
                      </a:r>
                    </a:p>
                    <a:p>
                      <a:pPr marL="228600" indent="-228600" algn="l" fontAlgn="b">
                        <a:buFont typeface="+mj-lt"/>
                        <a:buAutoNum type="arabicPeriod"/>
                      </a:pPr>
                      <a:r>
                        <a:rPr lang="en-IN" sz="1000" b="0" i="0" u="none" strike="noStrike" dirty="0">
                          <a:solidFill>
                            <a:srgbClr val="000000"/>
                          </a:solidFill>
                          <a:effectLst/>
                          <a:latin typeface="+mj-lt"/>
                        </a:rPr>
                        <a:t>230 kV Transmission Line: 17.24 km</a:t>
                      </a:r>
                    </a:p>
                    <a:p>
                      <a:pPr marL="228600" indent="-228600" algn="l" fontAlgn="b">
                        <a:buFont typeface="+mj-lt"/>
                        <a:buAutoNum type="arabicPeriod"/>
                      </a:pPr>
                      <a:r>
                        <a:rPr lang="en-IN" sz="1000" b="0" i="0" u="none" strike="noStrike" dirty="0">
                          <a:solidFill>
                            <a:srgbClr val="000000"/>
                          </a:solidFill>
                          <a:effectLst/>
                          <a:latin typeface="+mj-lt"/>
                        </a:rPr>
                        <a:t>230 kV Substations: 2nos, 2160 MVA</a:t>
                      </a:r>
                    </a:p>
                    <a:p>
                      <a:pPr marL="228600" indent="-228600" algn="l" fontAlgn="b">
                        <a:buFont typeface="+mj-lt"/>
                        <a:buAutoNum type="arabicPeriod"/>
                      </a:pPr>
                      <a:r>
                        <a:rPr lang="en-IN" sz="1000" b="0" i="0" u="none" strike="noStrike" dirty="0">
                          <a:solidFill>
                            <a:srgbClr val="000000"/>
                          </a:solidFill>
                          <a:effectLst/>
                          <a:latin typeface="+mj-lt"/>
                        </a:rPr>
                        <a:t>230kV Bay Extension: 2 </a:t>
                      </a:r>
                      <a:r>
                        <a:rPr lang="en-IN" sz="1000" b="0" i="0" u="none" strike="noStrike" dirty="0" err="1">
                          <a:solidFill>
                            <a:srgbClr val="000000"/>
                          </a:solidFill>
                          <a:effectLst/>
                          <a:latin typeface="+mj-lt"/>
                        </a:rPr>
                        <a:t>nos</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FY19-FY22</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42832049"/>
                  </a:ext>
                </a:extLst>
              </a:tr>
              <a:tr h="505935">
                <a:tc>
                  <a:txBody>
                    <a:bodyPr/>
                    <a:lstStyle/>
                    <a:p>
                      <a:pPr algn="l" fontAlgn="t"/>
                      <a:r>
                        <a:rPr lang="en-US" sz="1000" dirty="0">
                          <a:effectLst/>
                          <a:latin typeface="+mj-lt"/>
                        </a:rPr>
                        <a:t>14</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lang="en-US" sz="1000">
                          <a:effectLst/>
                          <a:latin typeface="+mj-lt"/>
                        </a:rPr>
                        <a:t>Enhancement and Strengthening of Power Network in Eastern Region</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US" sz="1000" dirty="0">
                          <a:effectLst/>
                          <a:latin typeface="+mj-lt"/>
                        </a:rPr>
                        <a:t>To meet up the growing demand by ensuring reliable power supply to industrial, commercial and residential points of Greater </a:t>
                      </a:r>
                      <a:r>
                        <a:rPr lang="en-US" sz="1000" dirty="0" err="1">
                          <a:effectLst/>
                          <a:latin typeface="+mj-lt"/>
                        </a:rPr>
                        <a:t>Comilla</a:t>
                      </a:r>
                      <a:r>
                        <a:rPr lang="en-US" sz="1000" dirty="0">
                          <a:effectLst/>
                          <a:latin typeface="+mj-lt"/>
                        </a:rPr>
                        <a:t>, Chittagong, Greater </a:t>
                      </a:r>
                      <a:r>
                        <a:rPr lang="en-US" sz="1000" dirty="0" err="1">
                          <a:effectLst/>
                          <a:latin typeface="+mj-lt"/>
                        </a:rPr>
                        <a:t>Noakhali</a:t>
                      </a:r>
                      <a:r>
                        <a:rPr lang="en-US" sz="1000" dirty="0">
                          <a:effectLst/>
                          <a:latin typeface="+mj-lt"/>
                        </a:rPr>
                        <a:t> area by enhancing &amp; strengthening existing grid network of Eastern Region.</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228600" indent="-228600" algn="l" fontAlgn="b">
                        <a:buFont typeface="+mj-lt"/>
                        <a:buAutoNum type="arabicPeriod"/>
                      </a:pPr>
                      <a:r>
                        <a:rPr lang="en-IN" sz="1000" b="0" i="0" u="none" strike="noStrike" dirty="0">
                          <a:solidFill>
                            <a:srgbClr val="000000"/>
                          </a:solidFill>
                          <a:effectLst/>
                          <a:latin typeface="+mj-lt"/>
                        </a:rPr>
                        <a:t>400 kV Transmission Lines: 12.63 km</a:t>
                      </a:r>
                    </a:p>
                    <a:p>
                      <a:pPr marL="228600" indent="-228600" algn="l" fontAlgn="b">
                        <a:buFont typeface="+mj-lt"/>
                        <a:buAutoNum type="arabicPeriod"/>
                      </a:pPr>
                      <a:r>
                        <a:rPr lang="en-IN" sz="1000" b="0" i="0" u="none" strike="noStrike" dirty="0">
                          <a:solidFill>
                            <a:srgbClr val="000000"/>
                          </a:solidFill>
                          <a:effectLst/>
                          <a:latin typeface="+mj-lt"/>
                        </a:rPr>
                        <a:t>230 kV Transmission Lines: 175.91 km</a:t>
                      </a:r>
                    </a:p>
                    <a:p>
                      <a:pPr marL="228600" indent="-228600" algn="l" fontAlgn="b">
                        <a:buFont typeface="+mj-lt"/>
                        <a:buAutoNum type="arabicPeriod"/>
                      </a:pPr>
                      <a:r>
                        <a:rPr lang="en-IN" sz="1000" b="0" i="0" u="none" strike="noStrike" dirty="0">
                          <a:solidFill>
                            <a:srgbClr val="000000"/>
                          </a:solidFill>
                          <a:effectLst/>
                          <a:latin typeface="+mj-lt"/>
                        </a:rPr>
                        <a:t>132 kV Transmission Lines: 256.3 km including 157 km re-</a:t>
                      </a:r>
                      <a:r>
                        <a:rPr lang="en-IN" sz="1000" b="0" i="0" u="none" strike="noStrike" dirty="0" err="1">
                          <a:solidFill>
                            <a:srgbClr val="000000"/>
                          </a:solidFill>
                          <a:effectLst/>
                          <a:latin typeface="+mj-lt"/>
                        </a:rPr>
                        <a:t>conductoring</a:t>
                      </a:r>
                      <a:endParaRPr lang="en-IN" sz="1000" b="0" i="0" u="none" strike="noStrike" dirty="0">
                        <a:solidFill>
                          <a:srgbClr val="000000"/>
                        </a:solidFill>
                        <a:effectLst/>
                        <a:latin typeface="+mj-lt"/>
                      </a:endParaRPr>
                    </a:p>
                    <a:p>
                      <a:pPr marL="228600" indent="-228600" algn="l" fontAlgn="b">
                        <a:buFont typeface="+mj-lt"/>
                        <a:buAutoNum type="arabicPeriod"/>
                      </a:pPr>
                      <a:r>
                        <a:rPr lang="en-IN" sz="1000" b="0" i="0" u="none" strike="noStrike" dirty="0">
                          <a:solidFill>
                            <a:srgbClr val="000000"/>
                          </a:solidFill>
                          <a:effectLst/>
                          <a:latin typeface="+mj-lt"/>
                        </a:rPr>
                        <a:t>400 kV Substations: 2 </a:t>
                      </a:r>
                      <a:r>
                        <a:rPr lang="en-IN" sz="1000" b="0" i="0" u="none" strike="noStrike" dirty="0" err="1">
                          <a:solidFill>
                            <a:srgbClr val="000000"/>
                          </a:solidFill>
                          <a:effectLst/>
                          <a:latin typeface="+mj-lt"/>
                        </a:rPr>
                        <a:t>nos</a:t>
                      </a:r>
                      <a:endParaRPr lang="en-IN" sz="1000" b="0" i="0" u="none" strike="noStrike" dirty="0">
                        <a:solidFill>
                          <a:srgbClr val="000000"/>
                        </a:solidFill>
                        <a:effectLst/>
                        <a:latin typeface="+mj-lt"/>
                      </a:endParaRPr>
                    </a:p>
                    <a:p>
                      <a:pPr marL="228600" indent="-228600" algn="l" fontAlgn="b">
                        <a:buFont typeface="+mj-lt"/>
                        <a:buAutoNum type="arabicPeriod"/>
                      </a:pPr>
                      <a:r>
                        <a:rPr lang="en-IN" sz="1000" b="0" i="0" u="none" strike="noStrike" dirty="0">
                          <a:solidFill>
                            <a:srgbClr val="000000"/>
                          </a:solidFill>
                          <a:effectLst/>
                          <a:latin typeface="+mj-lt"/>
                        </a:rPr>
                        <a:t>230 kV Substations: 2 nos.</a:t>
                      </a:r>
                    </a:p>
                    <a:p>
                      <a:pPr marL="228600" indent="-228600" algn="l" fontAlgn="b">
                        <a:buFont typeface="+mj-lt"/>
                        <a:buAutoNum type="arabicPeriod"/>
                      </a:pPr>
                      <a:r>
                        <a:rPr lang="en-IN" sz="1000" b="0" i="0" u="none" strike="noStrike" dirty="0">
                          <a:solidFill>
                            <a:srgbClr val="000000"/>
                          </a:solidFill>
                          <a:effectLst/>
                          <a:latin typeface="+mj-lt"/>
                        </a:rPr>
                        <a:t>132 kV Substations: 10 nos.</a:t>
                      </a:r>
                    </a:p>
                    <a:p>
                      <a:pPr marL="228600" indent="-228600" algn="l" fontAlgn="b">
                        <a:buFont typeface="+mj-lt"/>
                        <a:buAutoNum type="arabicPeriod"/>
                      </a:pPr>
                      <a:r>
                        <a:rPr lang="en-IN" sz="1000" b="0" i="0" u="none" strike="noStrike" dirty="0">
                          <a:solidFill>
                            <a:srgbClr val="000000"/>
                          </a:solidFill>
                          <a:effectLst/>
                          <a:latin typeface="+mj-lt"/>
                        </a:rPr>
                        <a:t>Bay Extensions: 6 nos.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FY18-FY21</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4927182"/>
                  </a:ext>
                </a:extLst>
              </a:tr>
            </a:tbl>
          </a:graphicData>
        </a:graphic>
      </p:graphicFrame>
      <p:sp>
        <p:nvSpPr>
          <p:cNvPr id="7" name="Rectangle 6"/>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PGCB, Deloitte Analysis</a:t>
            </a:r>
          </a:p>
        </p:txBody>
      </p:sp>
    </p:spTree>
    <p:extLst>
      <p:ext uri="{BB962C8B-B14F-4D97-AF65-F5344CB8AC3E}">
        <p14:creationId xmlns:p14="http://schemas.microsoft.com/office/powerpoint/2010/main" val="3695853468"/>
      </p:ext>
    </p:extLst>
  </p:cSld>
  <p:clrMapOvr>
    <a:masterClrMapping/>
  </p:clrMapOvr>
  <p:transition>
    <p:fade/>
  </p:transition>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290328488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5" name="Object 4"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Annexure G | Electricity Transmission | Ongoing Development Projects</a:t>
            </a:r>
            <a:endParaRPr lang="en-IN" dirty="0"/>
          </a:p>
        </p:txBody>
      </p:sp>
      <p:sp>
        <p:nvSpPr>
          <p:cNvPr id="3"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Currently, ~25 major transmission projects are under implementation </a:t>
            </a:r>
          </a:p>
        </p:txBody>
      </p:sp>
      <p:graphicFrame>
        <p:nvGraphicFramePr>
          <p:cNvPr id="6" name="Table 5"/>
          <p:cNvGraphicFramePr>
            <a:graphicFrameLocks noGrp="1"/>
          </p:cNvGraphicFramePr>
          <p:nvPr/>
        </p:nvGraphicFramePr>
        <p:xfrm>
          <a:off x="449261" y="1598375"/>
          <a:ext cx="9791702" cy="5730240"/>
        </p:xfrm>
        <a:graphic>
          <a:graphicData uri="http://schemas.openxmlformats.org/drawingml/2006/table">
            <a:tbl>
              <a:tblPr firstRow="1">
                <a:tableStyleId>{3B4B98B0-60AC-42C2-AFA5-B58CD77FA1E5}</a:tableStyleId>
              </a:tblPr>
              <a:tblGrid>
                <a:gridCol w="424805">
                  <a:extLst>
                    <a:ext uri="{9D8B030D-6E8A-4147-A177-3AD203B41FA5}">
                      <a16:colId xmlns:a16="http://schemas.microsoft.com/office/drawing/2014/main" val="840296419"/>
                    </a:ext>
                  </a:extLst>
                </a:gridCol>
                <a:gridCol w="1868874">
                  <a:extLst>
                    <a:ext uri="{9D8B030D-6E8A-4147-A177-3AD203B41FA5}">
                      <a16:colId xmlns:a16="http://schemas.microsoft.com/office/drawing/2014/main" val="4215697382"/>
                    </a:ext>
                  </a:extLst>
                </a:gridCol>
                <a:gridCol w="2707382">
                  <a:extLst>
                    <a:ext uri="{9D8B030D-6E8A-4147-A177-3AD203B41FA5}">
                      <a16:colId xmlns:a16="http://schemas.microsoft.com/office/drawing/2014/main" val="2539929000"/>
                    </a:ext>
                  </a:extLst>
                </a:gridCol>
                <a:gridCol w="3852704">
                  <a:extLst>
                    <a:ext uri="{9D8B030D-6E8A-4147-A177-3AD203B41FA5}">
                      <a16:colId xmlns:a16="http://schemas.microsoft.com/office/drawing/2014/main" val="2067057095"/>
                    </a:ext>
                  </a:extLst>
                </a:gridCol>
                <a:gridCol w="937937">
                  <a:extLst>
                    <a:ext uri="{9D8B030D-6E8A-4147-A177-3AD203B41FA5}">
                      <a16:colId xmlns:a16="http://schemas.microsoft.com/office/drawing/2014/main" val="3422243030"/>
                    </a:ext>
                  </a:extLst>
                </a:gridCol>
              </a:tblGrid>
              <a:tr h="365397">
                <a:tc>
                  <a:txBody>
                    <a:bodyPr/>
                    <a:lstStyle/>
                    <a:p>
                      <a:pPr algn="l" fontAlgn="b"/>
                      <a:r>
                        <a:rPr lang="en-IN" sz="1000" u="none" strike="noStrike" dirty="0">
                          <a:effectLst/>
                          <a:latin typeface="+mj-lt"/>
                        </a:rPr>
                        <a:t>Sr. No</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latin typeface="+mj-lt"/>
                        </a:rPr>
                        <a:t>Project</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b="1" i="0" u="none" strike="noStrike" dirty="0">
                          <a:solidFill>
                            <a:srgbClr val="000000"/>
                          </a:solidFill>
                          <a:effectLst/>
                          <a:latin typeface="+mj-lt"/>
                        </a:rPr>
                        <a:t>Objective</a:t>
                      </a:r>
                      <a:endParaRPr lang="en-IN" sz="1000" b="1"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latin typeface="+mj-lt"/>
                        </a:rPr>
                        <a:t>Scope</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u="none" strike="noStrike" dirty="0">
                          <a:effectLst/>
                          <a:latin typeface="+mj-lt"/>
                        </a:rPr>
                        <a:t>Period</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163140"/>
                  </a:ext>
                </a:extLst>
              </a:tr>
              <a:tr h="505935">
                <a:tc>
                  <a:txBody>
                    <a:bodyPr/>
                    <a:lstStyle/>
                    <a:p>
                      <a:pPr algn="l" fontAlgn="t"/>
                      <a:r>
                        <a:rPr lang="en-US" sz="1000" dirty="0">
                          <a:effectLst/>
                          <a:latin typeface="+mj-lt"/>
                        </a:rPr>
                        <a:t>15</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lang="en-IN" sz="1000">
                          <a:effectLst/>
                          <a:latin typeface="+mj-lt"/>
                        </a:rPr>
                        <a:t>Barapukuria - Bogura - Kaliakoir 400 kV Transmission Line Project</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indent="-171450" algn="l" fontAlgn="t">
                        <a:buFont typeface="Arial" panose="020B0604020202020204" pitchFamily="34" charset="0"/>
                        <a:buChar char="•"/>
                      </a:pPr>
                      <a:r>
                        <a:rPr lang="en-US" sz="1000" dirty="0">
                          <a:effectLst/>
                          <a:latin typeface="+mj-lt"/>
                        </a:rPr>
                        <a:t>To extend High Voltage transmission infrastructure </a:t>
                      </a:r>
                      <a:r>
                        <a:rPr lang="en-US" sz="1000" dirty="0" err="1">
                          <a:effectLst/>
                          <a:latin typeface="+mj-lt"/>
                        </a:rPr>
                        <a:t>upto</a:t>
                      </a:r>
                      <a:r>
                        <a:rPr lang="en-US" sz="1000" dirty="0">
                          <a:effectLst/>
                          <a:latin typeface="+mj-lt"/>
                        </a:rPr>
                        <a:t> northern part of the country for import power in future from India, Nepal and Bhutan</a:t>
                      </a:r>
                    </a:p>
                    <a:p>
                      <a:pPr marL="171450" indent="-171450" algn="l" fontAlgn="t">
                        <a:buFont typeface="Arial" panose="020B0604020202020204" pitchFamily="34" charset="0"/>
                        <a:buChar char="•"/>
                      </a:pPr>
                      <a:r>
                        <a:rPr lang="en-US" sz="1000" dirty="0">
                          <a:effectLst/>
                          <a:latin typeface="+mj-lt"/>
                        </a:rPr>
                        <a:t>To transmit the power from proposed 2x800 MW power plant to be built at Jharkhand, India by Adani Group</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228600" indent="-228600" algn="l" fontAlgn="b">
                        <a:buFont typeface="+mj-lt"/>
                        <a:buAutoNum type="arabicPeriod"/>
                      </a:pPr>
                      <a:r>
                        <a:rPr lang="en-IN" sz="1000" b="0" i="0" u="none" strike="noStrike" dirty="0">
                          <a:solidFill>
                            <a:srgbClr val="000000"/>
                          </a:solidFill>
                          <a:effectLst/>
                          <a:latin typeface="+mj-lt"/>
                        </a:rPr>
                        <a:t>400 kV Transmission Line: 260 km</a:t>
                      </a:r>
                    </a:p>
                    <a:p>
                      <a:pPr marL="228600" indent="-228600" algn="l" fontAlgn="b">
                        <a:buFont typeface="+mj-lt"/>
                        <a:buAutoNum type="arabicPeriod"/>
                      </a:pPr>
                      <a:r>
                        <a:rPr lang="en-IN" sz="1000" b="0" i="0" u="none" strike="noStrike" dirty="0">
                          <a:solidFill>
                            <a:srgbClr val="000000"/>
                          </a:solidFill>
                          <a:effectLst/>
                          <a:latin typeface="+mj-lt"/>
                        </a:rPr>
                        <a:t>400 kV AIS Bay Extension: 2 </a:t>
                      </a:r>
                      <a:r>
                        <a:rPr lang="en-IN" sz="1000" b="0" i="0" u="none" strike="noStrike" dirty="0" err="1">
                          <a:solidFill>
                            <a:srgbClr val="000000"/>
                          </a:solidFill>
                          <a:effectLst/>
                          <a:latin typeface="+mj-lt"/>
                        </a:rPr>
                        <a:t>nos</a:t>
                      </a:r>
                      <a:endParaRPr lang="en-IN" sz="1000" b="0" i="0" u="none" strike="noStrike" dirty="0">
                        <a:solidFill>
                          <a:srgbClr val="000000"/>
                        </a:solidFill>
                        <a:effectLst/>
                        <a:latin typeface="+mj-lt"/>
                      </a:endParaRPr>
                    </a:p>
                    <a:p>
                      <a:pPr marL="228600" indent="-228600" algn="l" fontAlgn="b">
                        <a:buFont typeface="+mj-lt"/>
                        <a:buAutoNum type="arabicPeriod"/>
                      </a:pPr>
                      <a:r>
                        <a:rPr lang="en-IN" sz="1000" b="0" i="0" u="none" strike="noStrike" dirty="0">
                          <a:solidFill>
                            <a:srgbClr val="000000"/>
                          </a:solidFill>
                          <a:effectLst/>
                          <a:latin typeface="+mj-lt"/>
                        </a:rPr>
                        <a:t>230 kV AIS Bay Extension: 2 </a:t>
                      </a:r>
                      <a:r>
                        <a:rPr lang="en-IN" sz="1000" b="0" i="0" u="none" strike="noStrike" dirty="0" err="1">
                          <a:solidFill>
                            <a:srgbClr val="000000"/>
                          </a:solidFill>
                          <a:effectLst/>
                          <a:latin typeface="+mj-lt"/>
                        </a:rPr>
                        <a:t>nos</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FY19-FY22</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74274881"/>
                  </a:ext>
                </a:extLst>
              </a:tr>
              <a:tr h="505935">
                <a:tc>
                  <a:txBody>
                    <a:bodyPr/>
                    <a:lstStyle/>
                    <a:p>
                      <a:pPr algn="l" fontAlgn="t"/>
                      <a:r>
                        <a:rPr lang="en-US" sz="1000" dirty="0">
                          <a:effectLst/>
                          <a:latin typeface="+mj-lt"/>
                        </a:rPr>
                        <a:t>16</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lang="en-US" sz="1000">
                          <a:effectLst/>
                          <a:latin typeface="+mj-lt"/>
                        </a:rPr>
                        <a:t>Power Grid Network Strengthening Project under PGCB</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US" sz="1000" dirty="0">
                          <a:effectLst/>
                          <a:latin typeface="+mj-lt"/>
                        </a:rPr>
                        <a:t>The main objective of the project is to build up necessary infrastructures for reliable transmission of power. Specific Objectives</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228600" indent="-228600" algn="l" fontAlgn="b">
                        <a:buFont typeface="+mj-lt"/>
                        <a:buAutoNum type="arabicPeriod"/>
                      </a:pPr>
                      <a:r>
                        <a:rPr lang="en-IN" sz="1000" b="0" i="0" u="none" strike="noStrike" dirty="0">
                          <a:solidFill>
                            <a:srgbClr val="000000"/>
                          </a:solidFill>
                          <a:effectLst/>
                          <a:latin typeface="+mj-lt"/>
                        </a:rPr>
                        <a:t>400 kV Transmission Line: 100 km</a:t>
                      </a:r>
                    </a:p>
                    <a:p>
                      <a:pPr marL="228600" indent="-228600" algn="l" fontAlgn="b">
                        <a:buFont typeface="+mj-lt"/>
                        <a:buAutoNum type="arabicPeriod"/>
                      </a:pPr>
                      <a:r>
                        <a:rPr lang="en-IN" sz="1000" b="0" i="0" u="none" strike="noStrike" dirty="0">
                          <a:solidFill>
                            <a:srgbClr val="000000"/>
                          </a:solidFill>
                          <a:effectLst/>
                          <a:latin typeface="+mj-lt"/>
                        </a:rPr>
                        <a:t>230 kV Transmission Line: 330.20 km</a:t>
                      </a:r>
                    </a:p>
                    <a:p>
                      <a:pPr marL="228600" indent="-228600" algn="l" fontAlgn="b">
                        <a:buFont typeface="+mj-lt"/>
                        <a:buAutoNum type="arabicPeriod"/>
                      </a:pPr>
                      <a:r>
                        <a:rPr lang="en-IN" sz="1000" b="0" i="0" u="none" strike="noStrike" dirty="0">
                          <a:solidFill>
                            <a:srgbClr val="000000"/>
                          </a:solidFill>
                          <a:effectLst/>
                          <a:latin typeface="+mj-lt"/>
                        </a:rPr>
                        <a:t>132 kV Transmission Line: 334.50 km</a:t>
                      </a:r>
                    </a:p>
                    <a:p>
                      <a:pPr marL="228600" indent="-228600" algn="l" fontAlgn="b">
                        <a:buFont typeface="+mj-lt"/>
                        <a:buAutoNum type="arabicPeriod"/>
                      </a:pPr>
                      <a:r>
                        <a:rPr lang="en-IN" sz="1000" b="0" i="0" u="none" strike="noStrike" dirty="0">
                          <a:solidFill>
                            <a:srgbClr val="000000"/>
                          </a:solidFill>
                          <a:effectLst/>
                          <a:latin typeface="+mj-lt"/>
                        </a:rPr>
                        <a:t>Renovation of existing 132 kV Transmission Lines: 225 km</a:t>
                      </a:r>
                    </a:p>
                    <a:p>
                      <a:pPr marL="228600" indent="-228600" algn="l" fontAlgn="b">
                        <a:buFont typeface="+mj-lt"/>
                        <a:buAutoNum type="arabicPeriod"/>
                      </a:pPr>
                      <a:r>
                        <a:rPr lang="en-IN" sz="1000" b="0" i="0" u="none" strike="noStrike" dirty="0">
                          <a:solidFill>
                            <a:srgbClr val="000000"/>
                          </a:solidFill>
                          <a:effectLst/>
                          <a:latin typeface="+mj-lt"/>
                        </a:rPr>
                        <a:t>400/132/33 kV Substations: 1 no.</a:t>
                      </a:r>
                    </a:p>
                    <a:p>
                      <a:pPr marL="228600" indent="-228600" algn="l" fontAlgn="b">
                        <a:buFont typeface="+mj-lt"/>
                        <a:buAutoNum type="arabicPeriod"/>
                      </a:pPr>
                      <a:r>
                        <a:rPr lang="en-IN" sz="1000" b="0" i="0" u="none" strike="noStrike" dirty="0">
                          <a:solidFill>
                            <a:srgbClr val="000000"/>
                          </a:solidFill>
                          <a:effectLst/>
                          <a:latin typeface="+mj-lt"/>
                        </a:rPr>
                        <a:t>230/132 kV new Substations (including one 230 kV Switching Station): 12 nos.</a:t>
                      </a:r>
                    </a:p>
                    <a:p>
                      <a:pPr marL="228600" indent="-228600" algn="l" fontAlgn="b">
                        <a:buFont typeface="+mj-lt"/>
                        <a:buAutoNum type="arabicPeriod"/>
                      </a:pPr>
                      <a:r>
                        <a:rPr lang="en-IN" sz="1000" b="0" i="0" u="none" strike="noStrike" dirty="0">
                          <a:solidFill>
                            <a:srgbClr val="000000"/>
                          </a:solidFill>
                          <a:effectLst/>
                          <a:latin typeface="+mj-lt"/>
                        </a:rPr>
                        <a:t>132/33 kV new Substations: 28 nos.</a:t>
                      </a:r>
                    </a:p>
                    <a:p>
                      <a:pPr marL="228600" indent="-228600" algn="l" fontAlgn="b">
                        <a:buFont typeface="+mj-lt"/>
                        <a:buAutoNum type="arabicPeriod"/>
                      </a:pPr>
                      <a:r>
                        <a:rPr lang="en-IN" sz="1000" b="0" i="0" u="none" strike="noStrike" dirty="0">
                          <a:solidFill>
                            <a:srgbClr val="000000"/>
                          </a:solidFill>
                          <a:effectLst/>
                          <a:latin typeface="+mj-lt"/>
                        </a:rPr>
                        <a:t>Extension of existing substations at</a:t>
                      </a:r>
                    </a:p>
                    <a:p>
                      <a:pPr marL="723886" lvl="1" indent="-228600" algn="l" fontAlgn="b">
                        <a:buFont typeface="+mj-lt"/>
                        <a:buAutoNum type="arabicPeriod"/>
                      </a:pPr>
                      <a:r>
                        <a:rPr lang="en-IN" sz="1000" b="0" i="0" u="none" strike="noStrike" dirty="0">
                          <a:solidFill>
                            <a:srgbClr val="000000"/>
                          </a:solidFill>
                          <a:effectLst/>
                          <a:latin typeface="+mj-lt"/>
                        </a:rPr>
                        <a:t>400 kV Substation: 1 no</a:t>
                      </a:r>
                    </a:p>
                    <a:p>
                      <a:pPr marL="723886" lvl="1" indent="-228600" algn="l" fontAlgn="b">
                        <a:buFont typeface="+mj-lt"/>
                        <a:buAutoNum type="arabicPeriod"/>
                      </a:pPr>
                      <a:r>
                        <a:rPr lang="en-IN" sz="1000" b="0" i="0" u="none" strike="noStrike" dirty="0">
                          <a:solidFill>
                            <a:srgbClr val="000000"/>
                          </a:solidFill>
                          <a:effectLst/>
                          <a:latin typeface="+mj-lt"/>
                        </a:rPr>
                        <a:t>230 kV Substation: 3 nos.</a:t>
                      </a:r>
                    </a:p>
                    <a:p>
                      <a:pPr marL="723886" lvl="1" indent="-228600" algn="l" fontAlgn="b">
                        <a:buFont typeface="+mj-lt"/>
                        <a:buAutoNum type="arabicPeriod"/>
                      </a:pPr>
                      <a:r>
                        <a:rPr lang="en-IN" sz="1000" b="0" i="0" u="none" strike="noStrike" dirty="0">
                          <a:solidFill>
                            <a:srgbClr val="000000"/>
                          </a:solidFill>
                          <a:effectLst/>
                          <a:latin typeface="+mj-lt"/>
                        </a:rPr>
                        <a:t>132 kV Substation: 14 nos.</a:t>
                      </a:r>
                    </a:p>
                    <a:p>
                      <a:pPr marL="228600" indent="-228600" algn="l" fontAlgn="b">
                        <a:buFont typeface="+mj-lt"/>
                        <a:buAutoNum type="arabicPeriod"/>
                      </a:pPr>
                      <a:r>
                        <a:rPr lang="en-IN" sz="1000" b="0" i="0" u="none" strike="noStrike" dirty="0">
                          <a:solidFill>
                            <a:srgbClr val="000000"/>
                          </a:solidFill>
                          <a:effectLst/>
                          <a:latin typeface="+mj-lt"/>
                        </a:rPr>
                        <a:t>Capacity upgradation of existing:</a:t>
                      </a:r>
                    </a:p>
                    <a:p>
                      <a:pPr marL="723886" lvl="1" indent="-228600" algn="l" fontAlgn="b">
                        <a:buFont typeface="+mj-lt"/>
                        <a:buAutoNum type="arabicPeriod"/>
                      </a:pPr>
                      <a:r>
                        <a:rPr lang="en-IN" sz="1000" b="0" i="0" u="none" strike="noStrike" dirty="0">
                          <a:solidFill>
                            <a:srgbClr val="000000"/>
                          </a:solidFill>
                          <a:effectLst/>
                          <a:latin typeface="+mj-lt"/>
                        </a:rPr>
                        <a:t>230/132 kV Substation: 7 nos.</a:t>
                      </a:r>
                    </a:p>
                    <a:p>
                      <a:pPr marL="723886" lvl="1" indent="-228600" algn="l" fontAlgn="b">
                        <a:buFont typeface="+mj-lt"/>
                        <a:buAutoNum type="arabicPeriod"/>
                      </a:pPr>
                      <a:r>
                        <a:rPr lang="en-IN" sz="1000" b="0" i="0" u="none" strike="noStrike" dirty="0">
                          <a:solidFill>
                            <a:srgbClr val="000000"/>
                          </a:solidFill>
                          <a:effectLst/>
                          <a:latin typeface="+mj-lt"/>
                        </a:rPr>
                        <a:t>132/33 kV Substation: 28 nos.</a:t>
                      </a:r>
                    </a:p>
                    <a:p>
                      <a:pPr marL="228600" indent="-228600" algn="l" fontAlgn="b">
                        <a:buFont typeface="+mj-lt"/>
                        <a:buAutoNum type="arabicPeriod"/>
                      </a:pPr>
                      <a:r>
                        <a:rPr lang="en-IN" sz="1000" b="0" i="0" u="none" strike="noStrike" dirty="0">
                          <a:solidFill>
                            <a:srgbClr val="000000"/>
                          </a:solidFill>
                          <a:effectLst/>
                          <a:latin typeface="+mj-lt"/>
                        </a:rPr>
                        <a:t>Renovation of existing 132/33 kV Substation: 5 nos.</a:t>
                      </a:r>
                    </a:p>
                    <a:p>
                      <a:pPr marL="228600" indent="-228600" algn="l" fontAlgn="b">
                        <a:buFont typeface="+mj-lt"/>
                        <a:buAutoNum type="arabicPeriod"/>
                      </a:pPr>
                      <a:r>
                        <a:rPr lang="en-IN" sz="1000" b="0" i="0" u="none" strike="noStrike" dirty="0">
                          <a:solidFill>
                            <a:srgbClr val="000000"/>
                          </a:solidFill>
                          <a:effectLst/>
                          <a:latin typeface="+mj-lt"/>
                        </a:rPr>
                        <a:t>Specialized Engineering Facilities: 7 </a:t>
                      </a:r>
                      <a:r>
                        <a:rPr lang="en-IN" sz="1000" b="0" i="0" u="none" strike="noStrike" dirty="0" err="1">
                          <a:solidFill>
                            <a:srgbClr val="000000"/>
                          </a:solidFill>
                          <a:effectLst/>
                          <a:latin typeface="+mj-lt"/>
                        </a:rPr>
                        <a:t>nos</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FY17-FY24</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97582066"/>
                  </a:ext>
                </a:extLst>
              </a:tr>
              <a:tr h="505935">
                <a:tc>
                  <a:txBody>
                    <a:bodyPr/>
                    <a:lstStyle/>
                    <a:p>
                      <a:pPr algn="l" fontAlgn="t"/>
                      <a:r>
                        <a:rPr lang="en-US" sz="1000" dirty="0">
                          <a:effectLst/>
                          <a:latin typeface="+mj-lt"/>
                        </a:rPr>
                        <a:t>17</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lang="en-US" sz="1000">
                          <a:effectLst/>
                          <a:latin typeface="+mj-lt"/>
                        </a:rPr>
                        <a:t>Energy Efficiency in Grid Based Power Supply Project</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US" sz="1000" dirty="0">
                          <a:effectLst/>
                          <a:latin typeface="+mj-lt"/>
                        </a:rPr>
                        <a:t>The object of this project is to increase reliability and efficiency of the electrical power supply in Bangladesh through expanding and improving the 230 kV and 132 kV power transmission systems of PGCB.</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228600" indent="-228600" algn="l" fontAlgn="b">
                        <a:buFont typeface="+mj-lt"/>
                        <a:buAutoNum type="arabicPeriod"/>
                      </a:pPr>
                      <a:r>
                        <a:rPr lang="en-IN" sz="1000" b="0" i="0" u="none" strike="noStrike" dirty="0">
                          <a:solidFill>
                            <a:srgbClr val="000000"/>
                          </a:solidFill>
                          <a:effectLst/>
                          <a:latin typeface="+mj-lt"/>
                        </a:rPr>
                        <a:t>New 230 kV transmission line: 82.48 km</a:t>
                      </a:r>
                    </a:p>
                    <a:p>
                      <a:pPr marL="228600" indent="-228600" algn="l" fontAlgn="b">
                        <a:buFont typeface="+mj-lt"/>
                        <a:buAutoNum type="arabicPeriod"/>
                      </a:pPr>
                      <a:r>
                        <a:rPr lang="en-IN" sz="1000" b="0" i="0" u="none" strike="noStrike" dirty="0">
                          <a:solidFill>
                            <a:srgbClr val="000000"/>
                          </a:solidFill>
                          <a:effectLst/>
                          <a:latin typeface="+mj-lt"/>
                        </a:rPr>
                        <a:t>New 132 kV transmission line: 111.35 km</a:t>
                      </a:r>
                    </a:p>
                    <a:p>
                      <a:pPr marL="228600" indent="-228600" algn="l" fontAlgn="b">
                        <a:buFont typeface="+mj-lt"/>
                        <a:buAutoNum type="arabicPeriod"/>
                      </a:pPr>
                      <a:r>
                        <a:rPr lang="en-IN" sz="1000" b="0" i="0" u="none" strike="noStrike" dirty="0">
                          <a:solidFill>
                            <a:srgbClr val="000000"/>
                          </a:solidFill>
                          <a:effectLst/>
                          <a:latin typeface="+mj-lt"/>
                        </a:rPr>
                        <a:t>Renovation of existing 132 kV transmission line: 196 km</a:t>
                      </a:r>
                    </a:p>
                    <a:p>
                      <a:pPr marL="228600" indent="-228600" algn="l" fontAlgn="b">
                        <a:buFont typeface="+mj-lt"/>
                        <a:buAutoNum type="arabicPeriod"/>
                      </a:pPr>
                      <a:r>
                        <a:rPr lang="en-IN" sz="1000" b="0" i="0" u="none" strike="noStrike" dirty="0">
                          <a:solidFill>
                            <a:srgbClr val="000000"/>
                          </a:solidFill>
                          <a:effectLst/>
                          <a:latin typeface="+mj-lt"/>
                        </a:rPr>
                        <a:t>New 230/132 kV substations: 5 nos.</a:t>
                      </a:r>
                    </a:p>
                    <a:p>
                      <a:pPr marL="228600" indent="-228600" algn="l" fontAlgn="b">
                        <a:buFont typeface="+mj-lt"/>
                        <a:buAutoNum type="arabicPeriod"/>
                      </a:pPr>
                      <a:r>
                        <a:rPr lang="en-IN" sz="1000" b="0" i="0" u="none" strike="noStrike" dirty="0">
                          <a:solidFill>
                            <a:srgbClr val="000000"/>
                          </a:solidFill>
                          <a:effectLst/>
                          <a:latin typeface="+mj-lt"/>
                        </a:rPr>
                        <a:t>New 132/33 kV substations: 8 nos.</a:t>
                      </a:r>
                    </a:p>
                    <a:p>
                      <a:pPr marL="228600" indent="-228600" algn="l" fontAlgn="b">
                        <a:buFont typeface="+mj-lt"/>
                        <a:buAutoNum type="arabicPeriod"/>
                      </a:pPr>
                      <a:r>
                        <a:rPr lang="en-IN" sz="1000" b="0" i="0" u="none" strike="noStrike" dirty="0">
                          <a:solidFill>
                            <a:srgbClr val="000000"/>
                          </a:solidFill>
                          <a:effectLst/>
                          <a:latin typeface="+mj-lt"/>
                        </a:rPr>
                        <a:t>Renovation of existing 132/33 kV substations: 6 nos.</a:t>
                      </a:r>
                    </a:p>
                    <a:p>
                      <a:pPr marL="228600" indent="-228600" algn="l" fontAlgn="b">
                        <a:buFont typeface="+mj-lt"/>
                        <a:buAutoNum type="arabicPeriod"/>
                      </a:pPr>
                      <a:r>
                        <a:rPr lang="en-IN" sz="1000" b="0" i="0" u="none" strike="noStrike" dirty="0">
                          <a:solidFill>
                            <a:srgbClr val="000000"/>
                          </a:solidFill>
                          <a:effectLst/>
                          <a:latin typeface="+mj-lt"/>
                        </a:rPr>
                        <a:t>Bay extensions: 15 nos.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FY17-FY21</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76298610"/>
                  </a:ext>
                </a:extLst>
              </a:tr>
            </a:tbl>
          </a:graphicData>
        </a:graphic>
      </p:graphicFrame>
      <p:sp>
        <p:nvSpPr>
          <p:cNvPr id="7" name="Rectangle 6"/>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PGCB, Deloitte Analysis</a:t>
            </a:r>
          </a:p>
        </p:txBody>
      </p:sp>
    </p:spTree>
    <p:extLst>
      <p:ext uri="{BB962C8B-B14F-4D97-AF65-F5344CB8AC3E}">
        <p14:creationId xmlns:p14="http://schemas.microsoft.com/office/powerpoint/2010/main" val="3204602345"/>
      </p:ext>
    </p:extLst>
  </p:cSld>
  <p:clrMapOvr>
    <a:masterClrMapping/>
  </p:clrMapOvr>
  <p:transition>
    <p:fade/>
  </p:transition>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195144664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5" name="Object 4"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Annexure G | Electricity Transmission | Ongoing Development Projects</a:t>
            </a:r>
            <a:endParaRPr lang="en-IN" dirty="0"/>
          </a:p>
        </p:txBody>
      </p:sp>
      <p:sp>
        <p:nvSpPr>
          <p:cNvPr id="3"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Currently, ~25 major transmission projects are under implementation </a:t>
            </a:r>
          </a:p>
        </p:txBody>
      </p:sp>
      <p:graphicFrame>
        <p:nvGraphicFramePr>
          <p:cNvPr id="6" name="Table 5"/>
          <p:cNvGraphicFramePr>
            <a:graphicFrameLocks noGrp="1"/>
          </p:cNvGraphicFramePr>
          <p:nvPr>
            <p:extLst>
              <p:ext uri="{D42A27DB-BD31-4B8C-83A1-F6EECF244321}">
                <p14:modId xmlns:p14="http://schemas.microsoft.com/office/powerpoint/2010/main" val="3982825975"/>
              </p:ext>
            </p:extLst>
          </p:nvPr>
        </p:nvGraphicFramePr>
        <p:xfrm>
          <a:off x="449261" y="1598375"/>
          <a:ext cx="9791702" cy="4968240"/>
        </p:xfrm>
        <a:graphic>
          <a:graphicData uri="http://schemas.openxmlformats.org/drawingml/2006/table">
            <a:tbl>
              <a:tblPr firstRow="1">
                <a:tableStyleId>{3B4B98B0-60AC-42C2-AFA5-B58CD77FA1E5}</a:tableStyleId>
              </a:tblPr>
              <a:tblGrid>
                <a:gridCol w="424805">
                  <a:extLst>
                    <a:ext uri="{9D8B030D-6E8A-4147-A177-3AD203B41FA5}">
                      <a16:colId xmlns:a16="http://schemas.microsoft.com/office/drawing/2014/main" val="840296419"/>
                    </a:ext>
                  </a:extLst>
                </a:gridCol>
                <a:gridCol w="1868874">
                  <a:extLst>
                    <a:ext uri="{9D8B030D-6E8A-4147-A177-3AD203B41FA5}">
                      <a16:colId xmlns:a16="http://schemas.microsoft.com/office/drawing/2014/main" val="4215697382"/>
                    </a:ext>
                  </a:extLst>
                </a:gridCol>
                <a:gridCol w="2707382">
                  <a:extLst>
                    <a:ext uri="{9D8B030D-6E8A-4147-A177-3AD203B41FA5}">
                      <a16:colId xmlns:a16="http://schemas.microsoft.com/office/drawing/2014/main" val="2539929000"/>
                    </a:ext>
                  </a:extLst>
                </a:gridCol>
                <a:gridCol w="3852704">
                  <a:extLst>
                    <a:ext uri="{9D8B030D-6E8A-4147-A177-3AD203B41FA5}">
                      <a16:colId xmlns:a16="http://schemas.microsoft.com/office/drawing/2014/main" val="2067057095"/>
                    </a:ext>
                  </a:extLst>
                </a:gridCol>
                <a:gridCol w="937937">
                  <a:extLst>
                    <a:ext uri="{9D8B030D-6E8A-4147-A177-3AD203B41FA5}">
                      <a16:colId xmlns:a16="http://schemas.microsoft.com/office/drawing/2014/main" val="3422243030"/>
                    </a:ext>
                  </a:extLst>
                </a:gridCol>
              </a:tblGrid>
              <a:tr h="365397">
                <a:tc>
                  <a:txBody>
                    <a:bodyPr/>
                    <a:lstStyle/>
                    <a:p>
                      <a:pPr algn="l" fontAlgn="b"/>
                      <a:r>
                        <a:rPr lang="en-IN" sz="1000" u="none" strike="noStrike" dirty="0">
                          <a:effectLst/>
                          <a:latin typeface="+mj-lt"/>
                        </a:rPr>
                        <a:t>Sr. No</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latin typeface="+mj-lt"/>
                        </a:rPr>
                        <a:t>Project</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b="1" i="0" u="none" strike="noStrike" dirty="0">
                          <a:solidFill>
                            <a:srgbClr val="000000"/>
                          </a:solidFill>
                          <a:effectLst/>
                          <a:latin typeface="+mj-lt"/>
                        </a:rPr>
                        <a:t>Objective</a:t>
                      </a:r>
                      <a:endParaRPr lang="en-IN" sz="1000" b="1"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latin typeface="+mj-lt"/>
                        </a:rPr>
                        <a:t>Scope</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u="none" strike="noStrike" dirty="0">
                          <a:effectLst/>
                          <a:latin typeface="+mj-lt"/>
                        </a:rPr>
                        <a:t>Period</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163140"/>
                  </a:ext>
                </a:extLst>
              </a:tr>
              <a:tr h="505935">
                <a:tc>
                  <a:txBody>
                    <a:bodyPr/>
                    <a:lstStyle/>
                    <a:p>
                      <a:pPr algn="l" fontAlgn="t"/>
                      <a:r>
                        <a:rPr lang="en-US" sz="1000" dirty="0">
                          <a:effectLst/>
                          <a:latin typeface="+mj-lt"/>
                        </a:rPr>
                        <a:t>18</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lang="en-US" sz="1000" dirty="0">
                          <a:effectLst/>
                          <a:latin typeface="+mj-lt"/>
                        </a:rPr>
                        <a:t>Dhaka - Chittagong Main Power Grid Strengthening Project</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US" sz="1000" dirty="0">
                          <a:effectLst/>
                          <a:latin typeface="+mj-lt"/>
                        </a:rPr>
                        <a:t>The main objectives of the project are to create facilities to transmit power from upcoming </a:t>
                      </a:r>
                      <a:r>
                        <a:rPr lang="en-US" sz="1000" dirty="0" err="1">
                          <a:effectLst/>
                          <a:latin typeface="+mj-lt"/>
                        </a:rPr>
                        <a:t>Matarbari</a:t>
                      </a:r>
                      <a:r>
                        <a:rPr lang="en-US" sz="1000" dirty="0">
                          <a:effectLst/>
                          <a:latin typeface="+mj-lt"/>
                        </a:rPr>
                        <a:t> 1200 MW Power Station and to enhance the power transmission capability between Chittagong and Dhaka.</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228600" indent="-228600" algn="l" fontAlgn="b">
                        <a:buFont typeface="+mj-lt"/>
                        <a:buAutoNum type="arabicPeriod"/>
                      </a:pPr>
                      <a:r>
                        <a:rPr lang="en-IN" sz="1000" b="0" i="0" u="none" strike="noStrike" dirty="0" err="1">
                          <a:solidFill>
                            <a:srgbClr val="000000"/>
                          </a:solidFill>
                          <a:effectLst/>
                          <a:latin typeface="+mj-lt"/>
                        </a:rPr>
                        <a:t>Meghnaghat-Madunaghat</a:t>
                      </a:r>
                      <a:r>
                        <a:rPr lang="en-IN" sz="1000" b="0" i="0" u="none" strike="noStrike" dirty="0">
                          <a:solidFill>
                            <a:srgbClr val="000000"/>
                          </a:solidFill>
                          <a:effectLst/>
                          <a:latin typeface="+mj-lt"/>
                        </a:rPr>
                        <a:t> 400 kV double circuit line (214 km)</a:t>
                      </a:r>
                    </a:p>
                    <a:p>
                      <a:pPr marL="228600" indent="-228600" algn="l" fontAlgn="b">
                        <a:buFont typeface="+mj-lt"/>
                        <a:buAutoNum type="arabicPeriod"/>
                      </a:pPr>
                      <a:r>
                        <a:rPr lang="en-IN" sz="1000" b="0" i="0" u="none" strike="noStrike" dirty="0">
                          <a:solidFill>
                            <a:srgbClr val="000000"/>
                          </a:solidFill>
                          <a:effectLst/>
                          <a:latin typeface="+mj-lt"/>
                        </a:rPr>
                        <a:t>230 kV double circuit transmission line between Existing </a:t>
                      </a:r>
                      <a:r>
                        <a:rPr lang="en-IN" sz="1000" b="0" i="0" u="none" strike="noStrike" dirty="0" err="1">
                          <a:solidFill>
                            <a:srgbClr val="000000"/>
                          </a:solidFill>
                          <a:effectLst/>
                          <a:latin typeface="+mj-lt"/>
                        </a:rPr>
                        <a:t>Madunaghat</a:t>
                      </a:r>
                      <a:r>
                        <a:rPr lang="en-IN" sz="1000" b="0" i="0" u="none" strike="noStrike" dirty="0">
                          <a:solidFill>
                            <a:srgbClr val="000000"/>
                          </a:solidFill>
                          <a:effectLst/>
                          <a:latin typeface="+mj-lt"/>
                        </a:rPr>
                        <a:t> and New </a:t>
                      </a:r>
                      <a:r>
                        <a:rPr lang="en-IN" sz="1000" b="0" i="0" u="none" strike="noStrike" dirty="0" err="1">
                          <a:solidFill>
                            <a:srgbClr val="000000"/>
                          </a:solidFill>
                          <a:effectLst/>
                          <a:latin typeface="+mj-lt"/>
                        </a:rPr>
                        <a:t>Madunaghat</a:t>
                      </a:r>
                      <a:r>
                        <a:rPr lang="en-IN" sz="1000" b="0" i="0" u="none" strike="noStrike" dirty="0">
                          <a:solidFill>
                            <a:srgbClr val="000000"/>
                          </a:solidFill>
                          <a:effectLst/>
                          <a:latin typeface="+mj-lt"/>
                        </a:rPr>
                        <a:t> Substation (8 km)</a:t>
                      </a:r>
                    </a:p>
                    <a:p>
                      <a:pPr marL="228600" indent="-228600" algn="l" fontAlgn="b">
                        <a:buFont typeface="+mj-lt"/>
                        <a:buAutoNum type="arabicPeriod"/>
                      </a:pPr>
                      <a:r>
                        <a:rPr lang="en-IN" sz="1000" b="0" i="0" u="none" strike="noStrike" dirty="0">
                          <a:solidFill>
                            <a:srgbClr val="000000"/>
                          </a:solidFill>
                          <a:effectLst/>
                          <a:latin typeface="+mj-lt"/>
                        </a:rPr>
                        <a:t>Line In Line Out from </a:t>
                      </a:r>
                      <a:r>
                        <a:rPr lang="en-IN" sz="1000" b="0" i="0" u="none" strike="noStrike" dirty="0" err="1">
                          <a:solidFill>
                            <a:srgbClr val="000000"/>
                          </a:solidFill>
                          <a:effectLst/>
                          <a:latin typeface="+mj-lt"/>
                        </a:rPr>
                        <a:t>Hathazari</a:t>
                      </a:r>
                      <a:r>
                        <a:rPr lang="en-IN" sz="1000" b="0" i="0" u="none" strike="noStrike" dirty="0">
                          <a:solidFill>
                            <a:srgbClr val="000000"/>
                          </a:solidFill>
                          <a:effectLst/>
                          <a:latin typeface="+mj-lt"/>
                        </a:rPr>
                        <a:t> - </a:t>
                      </a:r>
                      <a:r>
                        <a:rPr lang="en-IN" sz="1000" b="0" i="0" u="none" strike="noStrike" dirty="0" err="1">
                          <a:solidFill>
                            <a:srgbClr val="000000"/>
                          </a:solidFill>
                          <a:effectLst/>
                          <a:latin typeface="+mj-lt"/>
                        </a:rPr>
                        <a:t>Shikalbaha</a:t>
                      </a:r>
                      <a:r>
                        <a:rPr lang="en-IN" sz="1000" b="0" i="0" u="none" strike="noStrike" dirty="0">
                          <a:solidFill>
                            <a:srgbClr val="000000"/>
                          </a:solidFill>
                          <a:effectLst/>
                          <a:latin typeface="+mj-lt"/>
                        </a:rPr>
                        <a:t> 230 kV Transmission Line at New </a:t>
                      </a:r>
                      <a:r>
                        <a:rPr lang="en-IN" sz="1000" b="0" i="0" u="none" strike="noStrike" dirty="0" err="1">
                          <a:solidFill>
                            <a:srgbClr val="000000"/>
                          </a:solidFill>
                          <a:effectLst/>
                          <a:latin typeface="+mj-lt"/>
                        </a:rPr>
                        <a:t>Madunaghat</a:t>
                      </a:r>
                      <a:r>
                        <a:rPr lang="en-IN" sz="1000" b="0" i="0" u="none" strike="noStrike" dirty="0">
                          <a:solidFill>
                            <a:srgbClr val="000000"/>
                          </a:solidFill>
                          <a:effectLst/>
                          <a:latin typeface="+mj-lt"/>
                        </a:rPr>
                        <a:t> Substation (5.5 km)</a:t>
                      </a:r>
                    </a:p>
                    <a:p>
                      <a:pPr marL="228600" indent="-228600" algn="l" fontAlgn="b">
                        <a:buFont typeface="+mj-lt"/>
                        <a:buAutoNum type="arabicPeriod"/>
                      </a:pPr>
                      <a:r>
                        <a:rPr lang="en-IN" sz="1000" b="0" i="0" u="none" strike="noStrike" dirty="0">
                          <a:solidFill>
                            <a:srgbClr val="000000"/>
                          </a:solidFill>
                          <a:effectLst/>
                          <a:latin typeface="+mj-lt"/>
                        </a:rPr>
                        <a:t>230 kV AIS Switching Station at Meghnaghat</a:t>
                      </a:r>
                    </a:p>
                    <a:p>
                      <a:pPr marL="228600" indent="-228600" algn="l" fontAlgn="b">
                        <a:buFont typeface="+mj-lt"/>
                        <a:buAutoNum type="arabicPeriod"/>
                      </a:pPr>
                      <a:r>
                        <a:rPr lang="en-IN" sz="1000" b="0" i="0" u="none" strike="noStrike" dirty="0">
                          <a:solidFill>
                            <a:srgbClr val="000000"/>
                          </a:solidFill>
                          <a:effectLst/>
                          <a:latin typeface="+mj-lt"/>
                        </a:rPr>
                        <a:t>230 kV GIS Switching Station at </a:t>
                      </a:r>
                      <a:r>
                        <a:rPr lang="en-IN" sz="1000" b="0" i="0" u="none" strike="noStrike" dirty="0" err="1">
                          <a:solidFill>
                            <a:srgbClr val="000000"/>
                          </a:solidFill>
                          <a:effectLst/>
                          <a:latin typeface="+mj-lt"/>
                        </a:rPr>
                        <a:t>Madunaghat</a:t>
                      </a:r>
                      <a:endParaRPr lang="en-IN" sz="1000" b="0" i="0" u="none" strike="noStrike" dirty="0">
                        <a:solidFill>
                          <a:srgbClr val="000000"/>
                        </a:solidFill>
                        <a:effectLst/>
                        <a:latin typeface="+mj-lt"/>
                      </a:endParaRPr>
                    </a:p>
                    <a:p>
                      <a:pPr marL="228600" indent="-228600" algn="l" fontAlgn="b">
                        <a:buFont typeface="+mj-lt"/>
                        <a:buAutoNum type="arabicPeriod"/>
                      </a:pPr>
                      <a:r>
                        <a:rPr lang="en-IN" sz="1000" b="0" i="0" u="none" strike="noStrike" dirty="0">
                          <a:solidFill>
                            <a:srgbClr val="000000"/>
                          </a:solidFill>
                          <a:effectLst/>
                          <a:latin typeface="+mj-lt"/>
                        </a:rPr>
                        <a:t>400 kV AIS Substation at Meghnaghat with 2x750 MVA transformer</a:t>
                      </a:r>
                    </a:p>
                    <a:p>
                      <a:pPr marL="228600" indent="-228600" algn="l" fontAlgn="b">
                        <a:buFont typeface="+mj-lt"/>
                        <a:buAutoNum type="arabicPeriod"/>
                      </a:pPr>
                      <a:r>
                        <a:rPr lang="en-IN" sz="1000" b="0" i="0" u="none" strike="noStrike" dirty="0">
                          <a:solidFill>
                            <a:srgbClr val="000000"/>
                          </a:solidFill>
                          <a:effectLst/>
                          <a:latin typeface="+mj-lt"/>
                        </a:rPr>
                        <a:t>400 kV GIS Substation at </a:t>
                      </a:r>
                      <a:r>
                        <a:rPr lang="en-IN" sz="1000" b="0" i="0" u="none" strike="noStrike" dirty="0" err="1">
                          <a:solidFill>
                            <a:srgbClr val="000000"/>
                          </a:solidFill>
                          <a:effectLst/>
                          <a:latin typeface="+mj-lt"/>
                        </a:rPr>
                        <a:t>Madunaghat</a:t>
                      </a:r>
                      <a:r>
                        <a:rPr lang="en-IN" sz="1000" b="0" i="0" u="none" strike="noStrike" dirty="0">
                          <a:solidFill>
                            <a:srgbClr val="000000"/>
                          </a:solidFill>
                          <a:effectLst/>
                          <a:latin typeface="+mj-lt"/>
                        </a:rPr>
                        <a:t> with 3x750 MVA transformer</a:t>
                      </a:r>
                    </a:p>
                    <a:p>
                      <a:pPr marL="228600" indent="-228600" algn="l" fontAlgn="b">
                        <a:buFont typeface="+mj-lt"/>
                        <a:buAutoNum type="arabicPeriod"/>
                      </a:pPr>
                      <a:r>
                        <a:rPr lang="en-IN" sz="1000" b="0" i="0" u="none" strike="noStrike" dirty="0">
                          <a:solidFill>
                            <a:srgbClr val="000000"/>
                          </a:solidFill>
                          <a:effectLst/>
                          <a:latin typeface="+mj-lt"/>
                        </a:rPr>
                        <a:t>Upgradation of existing 132 kV Substation to 230 kV voltage level at </a:t>
                      </a:r>
                      <a:r>
                        <a:rPr lang="en-IN" sz="1000" b="0" i="0" u="none" strike="noStrike" dirty="0" err="1">
                          <a:solidFill>
                            <a:srgbClr val="000000"/>
                          </a:solidFill>
                          <a:effectLst/>
                          <a:latin typeface="+mj-lt"/>
                        </a:rPr>
                        <a:t>Madunaghat</a:t>
                      </a:r>
                      <a:endParaRPr lang="en-IN" sz="1000" b="0" i="0" u="none" strike="noStrike" dirty="0">
                        <a:solidFill>
                          <a:srgbClr val="000000"/>
                        </a:solidFill>
                        <a:effectLst/>
                        <a:latin typeface="+mj-lt"/>
                      </a:endParaRPr>
                    </a:p>
                    <a:p>
                      <a:pPr marL="228600" indent="-228600" algn="l" fontAlgn="b">
                        <a:buFont typeface="+mj-lt"/>
                        <a:buAutoNum type="arabicPeriod"/>
                      </a:pPr>
                      <a:r>
                        <a:rPr lang="en-IN" sz="1000" b="0" i="0" u="none" strike="noStrike" dirty="0">
                          <a:solidFill>
                            <a:srgbClr val="000000"/>
                          </a:solidFill>
                          <a:effectLst/>
                          <a:latin typeface="+mj-lt"/>
                        </a:rPr>
                        <a:t>Installation of GIB and Shunt Reactor at </a:t>
                      </a:r>
                      <a:r>
                        <a:rPr lang="en-IN" sz="1000" b="0" i="0" u="none" strike="noStrike" dirty="0" err="1">
                          <a:solidFill>
                            <a:srgbClr val="000000"/>
                          </a:solidFill>
                          <a:effectLst/>
                          <a:latin typeface="+mj-lt"/>
                        </a:rPr>
                        <a:t>Matarbari</a:t>
                      </a:r>
                      <a:r>
                        <a:rPr lang="en-IN" sz="1000" b="0" i="0" u="none" strike="noStrike" dirty="0">
                          <a:solidFill>
                            <a:srgbClr val="000000"/>
                          </a:solidFill>
                          <a:effectLst/>
                          <a:latin typeface="+mj-lt"/>
                        </a:rPr>
                        <a:t>.</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FY17-FY21</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28705608"/>
                  </a:ext>
                </a:extLst>
              </a:tr>
              <a:tr h="505935">
                <a:tc>
                  <a:txBody>
                    <a:bodyPr/>
                    <a:lstStyle/>
                    <a:p>
                      <a:pPr algn="l" fontAlgn="t"/>
                      <a:r>
                        <a:rPr lang="en-US" sz="1000" dirty="0">
                          <a:effectLst/>
                          <a:latin typeface="+mj-lt"/>
                        </a:rPr>
                        <a:t>19</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US" sz="1000" dirty="0" err="1">
                          <a:effectLst/>
                          <a:latin typeface="+mj-lt"/>
                        </a:rPr>
                        <a:t>Aminbazar</a:t>
                      </a:r>
                      <a:r>
                        <a:rPr lang="en-US" sz="1000" dirty="0">
                          <a:effectLst/>
                          <a:latin typeface="+mj-lt"/>
                        </a:rPr>
                        <a:t> - </a:t>
                      </a:r>
                      <a:r>
                        <a:rPr lang="en-US" sz="1000" dirty="0" err="1">
                          <a:effectLst/>
                          <a:latin typeface="+mj-lt"/>
                        </a:rPr>
                        <a:t>Maowa</a:t>
                      </a:r>
                      <a:r>
                        <a:rPr lang="en-US" sz="1000" dirty="0">
                          <a:effectLst/>
                          <a:latin typeface="+mj-lt"/>
                        </a:rPr>
                        <a:t> - Mongla 400 KV Transmission Line Project</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US" sz="1000" dirty="0">
                          <a:effectLst/>
                          <a:latin typeface="+mj-lt"/>
                        </a:rPr>
                        <a:t>The main objective of the project is to create facilities to evacuate power from the upcoming </a:t>
                      </a:r>
                      <a:r>
                        <a:rPr lang="en-US" sz="1000" dirty="0" err="1">
                          <a:effectLst/>
                          <a:latin typeface="+mj-lt"/>
                        </a:rPr>
                        <a:t>Rampal</a:t>
                      </a:r>
                      <a:r>
                        <a:rPr lang="en-US" sz="1000" dirty="0">
                          <a:effectLst/>
                          <a:latin typeface="+mj-lt"/>
                        </a:rPr>
                        <a:t> Coal Power Plant.</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228600" indent="-228600" algn="l" fontAlgn="b">
                        <a:buFont typeface="+mj-lt"/>
                        <a:buAutoNum type="arabicPeriod"/>
                      </a:pPr>
                      <a:r>
                        <a:rPr lang="en-IN" sz="1000" b="0" i="0" u="none" strike="noStrike" dirty="0">
                          <a:solidFill>
                            <a:srgbClr val="000000"/>
                          </a:solidFill>
                          <a:effectLst/>
                          <a:latin typeface="+mj-lt"/>
                        </a:rPr>
                        <a:t>Construction of </a:t>
                      </a:r>
                      <a:r>
                        <a:rPr lang="en-IN" sz="1000" b="0" i="0" u="none" strike="noStrike" dirty="0" err="1">
                          <a:solidFill>
                            <a:srgbClr val="000000"/>
                          </a:solidFill>
                          <a:effectLst/>
                          <a:latin typeface="+mj-lt"/>
                        </a:rPr>
                        <a:t>Aminbazar</a:t>
                      </a:r>
                      <a:r>
                        <a:rPr lang="en-IN" sz="1000" b="0" i="0" u="none" strike="noStrike" dirty="0">
                          <a:solidFill>
                            <a:srgbClr val="000000"/>
                          </a:solidFill>
                          <a:effectLst/>
                          <a:latin typeface="+mj-lt"/>
                        </a:rPr>
                        <a:t> - </a:t>
                      </a:r>
                      <a:r>
                        <a:rPr lang="en-IN" sz="1000" b="0" i="0" u="none" strike="noStrike" dirty="0" err="1">
                          <a:solidFill>
                            <a:srgbClr val="000000"/>
                          </a:solidFill>
                          <a:effectLst/>
                          <a:latin typeface="+mj-lt"/>
                        </a:rPr>
                        <a:t>Maowa</a:t>
                      </a:r>
                      <a:r>
                        <a:rPr lang="en-IN" sz="1000" b="0" i="0" u="none" strike="noStrike" dirty="0">
                          <a:solidFill>
                            <a:srgbClr val="000000"/>
                          </a:solidFill>
                          <a:effectLst/>
                          <a:latin typeface="+mj-lt"/>
                        </a:rPr>
                        <a:t> - </a:t>
                      </a:r>
                      <a:r>
                        <a:rPr lang="en-IN" sz="1000" b="0" i="0" u="none" strike="noStrike" dirty="0" err="1">
                          <a:solidFill>
                            <a:srgbClr val="000000"/>
                          </a:solidFill>
                          <a:effectLst/>
                          <a:latin typeface="+mj-lt"/>
                        </a:rPr>
                        <a:t>Mongla</a:t>
                      </a:r>
                      <a:r>
                        <a:rPr lang="en-IN" sz="1000" b="0" i="0" u="none" strike="noStrike" dirty="0">
                          <a:solidFill>
                            <a:srgbClr val="000000"/>
                          </a:solidFill>
                          <a:effectLst/>
                          <a:latin typeface="+mj-lt"/>
                        </a:rPr>
                        <a:t> 400 kV double circuit line (164.6 km)</a:t>
                      </a:r>
                    </a:p>
                    <a:p>
                      <a:pPr marL="228600" indent="-228600" algn="l" fontAlgn="b">
                        <a:buFont typeface="+mj-lt"/>
                        <a:buAutoNum type="arabicPeriod"/>
                      </a:pPr>
                      <a:r>
                        <a:rPr lang="en-IN" sz="1000" b="0" i="0" u="none" strike="noStrike" dirty="0">
                          <a:solidFill>
                            <a:srgbClr val="000000"/>
                          </a:solidFill>
                          <a:effectLst/>
                          <a:latin typeface="+mj-lt"/>
                        </a:rPr>
                        <a:t>Construction of river crossing line beside Padma Bridge (9.4 km)</a:t>
                      </a:r>
                    </a:p>
                    <a:p>
                      <a:pPr marL="228600" indent="-228600" algn="l" fontAlgn="b">
                        <a:buFont typeface="+mj-lt"/>
                        <a:buAutoNum type="arabicPeriod"/>
                      </a:pPr>
                      <a:r>
                        <a:rPr lang="en-IN" sz="1000" b="0" i="0" u="none" strike="noStrike" dirty="0">
                          <a:solidFill>
                            <a:srgbClr val="000000"/>
                          </a:solidFill>
                          <a:effectLst/>
                          <a:latin typeface="+mj-lt"/>
                        </a:rPr>
                        <a:t>Construction of substation (400 kV portion) at </a:t>
                      </a:r>
                      <a:r>
                        <a:rPr lang="en-IN" sz="1000" b="0" i="0" u="none" strike="noStrike" dirty="0" err="1">
                          <a:solidFill>
                            <a:srgbClr val="000000"/>
                          </a:solidFill>
                          <a:effectLst/>
                          <a:latin typeface="+mj-lt"/>
                        </a:rPr>
                        <a:t>Aminbazar</a:t>
                      </a:r>
                      <a:r>
                        <a:rPr lang="en-IN" sz="1000" b="0" i="0" u="none" strike="noStrike" dirty="0">
                          <a:solidFill>
                            <a:srgbClr val="000000"/>
                          </a:solidFill>
                          <a:effectLst/>
                          <a:latin typeface="+mj-lt"/>
                        </a:rPr>
                        <a:t> with 3x520 MVA transformers.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FY17-FY21</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96123164"/>
                  </a:ext>
                </a:extLst>
              </a:tr>
              <a:tr h="787010">
                <a:tc>
                  <a:txBody>
                    <a:bodyPr/>
                    <a:lstStyle/>
                    <a:p>
                      <a:pPr algn="l" fontAlgn="t"/>
                      <a:r>
                        <a:rPr lang="en-US" sz="1000" dirty="0">
                          <a:effectLst/>
                          <a:latin typeface="+mj-lt"/>
                        </a:rPr>
                        <a:t>20</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lang="en-US" sz="1000">
                          <a:effectLst/>
                          <a:latin typeface="+mj-lt"/>
                        </a:rPr>
                        <a:t>Mongla-Khulna(S) 230 kV Transmission Line Project</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indent="-171450" algn="l" fontAlgn="t">
                        <a:buFont typeface="Arial" panose="020B0604020202020204" pitchFamily="34" charset="0"/>
                        <a:buChar char="•"/>
                      </a:pPr>
                      <a:r>
                        <a:rPr lang="en-US" sz="1000" dirty="0">
                          <a:effectLst/>
                          <a:latin typeface="+mj-lt"/>
                        </a:rPr>
                        <a:t>To create power evacuation facilities for upcoming power plants at Mongla (1st Unit 660MW).</a:t>
                      </a:r>
                    </a:p>
                    <a:p>
                      <a:pPr marL="171450" indent="-171450" algn="l" fontAlgn="t">
                        <a:buFont typeface="Arial" panose="020B0604020202020204" pitchFamily="34" charset="0"/>
                        <a:buChar char="•"/>
                      </a:pPr>
                      <a:r>
                        <a:rPr lang="en-US" sz="1000" dirty="0">
                          <a:effectLst/>
                          <a:latin typeface="+mj-lt"/>
                        </a:rPr>
                        <a:t>To supply back feed power to Mongla power plant.</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228600" indent="-228600" algn="l" fontAlgn="b">
                        <a:buFont typeface="+mj-lt"/>
                        <a:buAutoNum type="arabicPeriod"/>
                      </a:pPr>
                      <a:r>
                        <a:rPr lang="en-US" sz="1000" b="0" i="0" u="none" strike="noStrike" dirty="0">
                          <a:solidFill>
                            <a:srgbClr val="000000"/>
                          </a:solidFill>
                          <a:effectLst/>
                          <a:latin typeface="+mj-lt"/>
                        </a:rPr>
                        <a:t>24 km four circuit 230 kV </a:t>
                      </a:r>
                      <a:r>
                        <a:rPr lang="en-US" sz="1000" b="0" i="0" u="none" strike="noStrike" dirty="0" err="1">
                          <a:solidFill>
                            <a:srgbClr val="000000"/>
                          </a:solidFill>
                          <a:effectLst/>
                          <a:latin typeface="+mj-lt"/>
                        </a:rPr>
                        <a:t>Mongla</a:t>
                      </a:r>
                      <a:r>
                        <a:rPr lang="en-US" sz="1000" b="0" i="0" u="none" strike="noStrike" dirty="0">
                          <a:solidFill>
                            <a:srgbClr val="000000"/>
                          </a:solidFill>
                          <a:effectLst/>
                          <a:latin typeface="+mj-lt"/>
                        </a:rPr>
                        <a:t>-Khulna (S) line (Initially two circuit stringing)</a:t>
                      </a:r>
                    </a:p>
                    <a:p>
                      <a:pPr marL="228600" indent="-228600" algn="l" fontAlgn="b">
                        <a:buFont typeface="+mj-lt"/>
                        <a:buAutoNum type="arabicPeriod"/>
                      </a:pPr>
                      <a:r>
                        <a:rPr lang="en-US" sz="1000" b="0" i="0" u="none" strike="noStrike" dirty="0">
                          <a:solidFill>
                            <a:srgbClr val="000000"/>
                          </a:solidFill>
                          <a:effectLst/>
                          <a:latin typeface="+mj-lt"/>
                        </a:rPr>
                        <a:t>Two 230 kV bay extension at Khulna (S)</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FY15-FY21</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60283373"/>
                  </a:ext>
                </a:extLst>
              </a:tr>
            </a:tbl>
          </a:graphicData>
        </a:graphic>
      </p:graphicFrame>
      <p:sp>
        <p:nvSpPr>
          <p:cNvPr id="7" name="Rectangle 6"/>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PGCB, Deloitte Analysis</a:t>
            </a:r>
          </a:p>
        </p:txBody>
      </p:sp>
    </p:spTree>
    <p:extLst>
      <p:ext uri="{BB962C8B-B14F-4D97-AF65-F5344CB8AC3E}">
        <p14:creationId xmlns:p14="http://schemas.microsoft.com/office/powerpoint/2010/main" val="117330565"/>
      </p:ext>
    </p:extLst>
  </p:cSld>
  <p:clrMapOvr>
    <a:masterClrMapping/>
  </p:clrMapOvr>
  <p:transition>
    <p:fade/>
  </p:transition>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53834194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5" name="Object 4"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Annexure G | Electricity Transmission | Ongoing Development Projects</a:t>
            </a:r>
            <a:endParaRPr lang="en-IN" dirty="0"/>
          </a:p>
        </p:txBody>
      </p:sp>
      <p:sp>
        <p:nvSpPr>
          <p:cNvPr id="3"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Currently, ~25 major transmission projects are under implementation </a:t>
            </a:r>
          </a:p>
        </p:txBody>
      </p:sp>
      <p:graphicFrame>
        <p:nvGraphicFramePr>
          <p:cNvPr id="6" name="Table 5"/>
          <p:cNvGraphicFramePr>
            <a:graphicFrameLocks noGrp="1"/>
          </p:cNvGraphicFramePr>
          <p:nvPr>
            <p:extLst>
              <p:ext uri="{D42A27DB-BD31-4B8C-83A1-F6EECF244321}">
                <p14:modId xmlns:p14="http://schemas.microsoft.com/office/powerpoint/2010/main" val="3136528819"/>
              </p:ext>
            </p:extLst>
          </p:nvPr>
        </p:nvGraphicFramePr>
        <p:xfrm>
          <a:off x="449261" y="1598375"/>
          <a:ext cx="9791702" cy="4267200"/>
        </p:xfrm>
        <a:graphic>
          <a:graphicData uri="http://schemas.openxmlformats.org/drawingml/2006/table">
            <a:tbl>
              <a:tblPr firstRow="1">
                <a:tableStyleId>{3B4B98B0-60AC-42C2-AFA5-B58CD77FA1E5}</a:tableStyleId>
              </a:tblPr>
              <a:tblGrid>
                <a:gridCol w="424805">
                  <a:extLst>
                    <a:ext uri="{9D8B030D-6E8A-4147-A177-3AD203B41FA5}">
                      <a16:colId xmlns:a16="http://schemas.microsoft.com/office/drawing/2014/main" val="840296419"/>
                    </a:ext>
                  </a:extLst>
                </a:gridCol>
                <a:gridCol w="1868874">
                  <a:extLst>
                    <a:ext uri="{9D8B030D-6E8A-4147-A177-3AD203B41FA5}">
                      <a16:colId xmlns:a16="http://schemas.microsoft.com/office/drawing/2014/main" val="4215697382"/>
                    </a:ext>
                  </a:extLst>
                </a:gridCol>
                <a:gridCol w="2707382">
                  <a:extLst>
                    <a:ext uri="{9D8B030D-6E8A-4147-A177-3AD203B41FA5}">
                      <a16:colId xmlns:a16="http://schemas.microsoft.com/office/drawing/2014/main" val="2539929000"/>
                    </a:ext>
                  </a:extLst>
                </a:gridCol>
                <a:gridCol w="3852704">
                  <a:extLst>
                    <a:ext uri="{9D8B030D-6E8A-4147-A177-3AD203B41FA5}">
                      <a16:colId xmlns:a16="http://schemas.microsoft.com/office/drawing/2014/main" val="2067057095"/>
                    </a:ext>
                  </a:extLst>
                </a:gridCol>
                <a:gridCol w="937937">
                  <a:extLst>
                    <a:ext uri="{9D8B030D-6E8A-4147-A177-3AD203B41FA5}">
                      <a16:colId xmlns:a16="http://schemas.microsoft.com/office/drawing/2014/main" val="3422243030"/>
                    </a:ext>
                  </a:extLst>
                </a:gridCol>
              </a:tblGrid>
              <a:tr h="365397">
                <a:tc>
                  <a:txBody>
                    <a:bodyPr/>
                    <a:lstStyle/>
                    <a:p>
                      <a:pPr algn="l" fontAlgn="b"/>
                      <a:r>
                        <a:rPr lang="en-IN" sz="1000" u="none" strike="noStrike" dirty="0">
                          <a:effectLst/>
                          <a:latin typeface="+mj-lt"/>
                        </a:rPr>
                        <a:t>Sr. No</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latin typeface="+mj-lt"/>
                        </a:rPr>
                        <a:t>Project</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b="1" i="0" u="none" strike="noStrike" dirty="0">
                          <a:solidFill>
                            <a:srgbClr val="000000"/>
                          </a:solidFill>
                          <a:effectLst/>
                          <a:latin typeface="+mj-lt"/>
                        </a:rPr>
                        <a:t>Objective</a:t>
                      </a:r>
                      <a:endParaRPr lang="en-IN" sz="1000" b="1"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latin typeface="+mj-lt"/>
                        </a:rPr>
                        <a:t>Scope</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u="none" strike="noStrike" dirty="0">
                          <a:effectLst/>
                          <a:latin typeface="+mj-lt"/>
                        </a:rPr>
                        <a:t>Period</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163140"/>
                  </a:ext>
                </a:extLst>
              </a:tr>
              <a:tr h="505935">
                <a:tc>
                  <a:txBody>
                    <a:bodyPr/>
                    <a:lstStyle/>
                    <a:p>
                      <a:pPr algn="l" fontAlgn="t"/>
                      <a:r>
                        <a:rPr lang="en-US" sz="1000" dirty="0">
                          <a:effectLst/>
                          <a:latin typeface="+mj-lt"/>
                        </a:rPr>
                        <a:t>21</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US" sz="1000" dirty="0" err="1">
                          <a:effectLst/>
                          <a:latin typeface="+mj-lt"/>
                        </a:rPr>
                        <a:t>Amnura</a:t>
                      </a:r>
                      <a:r>
                        <a:rPr lang="en-US" sz="1000" dirty="0">
                          <a:effectLst/>
                          <a:latin typeface="+mj-lt"/>
                        </a:rPr>
                        <a:t> 132/33 kV Grid Substation with associated 132 kV Transmission Line Project.</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t"/>
                      <a:r>
                        <a:rPr lang="en-US" sz="1000" dirty="0">
                          <a:effectLst/>
                          <a:latin typeface="+mj-lt"/>
                        </a:rPr>
                        <a:t>To evacuate power from existing 50 MW and upcoming 100 MW power plants at </a:t>
                      </a:r>
                      <a:r>
                        <a:rPr lang="en-US" sz="1000" dirty="0" err="1">
                          <a:effectLst/>
                          <a:latin typeface="+mj-lt"/>
                        </a:rPr>
                        <a:t>Amnura</a:t>
                      </a:r>
                      <a:r>
                        <a:rPr lang="en-US" sz="1000" dirty="0">
                          <a:effectLst/>
                          <a:latin typeface="+mj-lt"/>
                        </a:rPr>
                        <a:t> and to meet the growing demand of </a:t>
                      </a:r>
                      <a:r>
                        <a:rPr lang="en-US" sz="1000" dirty="0" err="1">
                          <a:effectLst/>
                          <a:latin typeface="+mj-lt"/>
                        </a:rPr>
                        <a:t>Amnura</a:t>
                      </a:r>
                      <a:r>
                        <a:rPr lang="en-US" sz="1000" dirty="0">
                          <a:effectLst/>
                          <a:latin typeface="+mj-lt"/>
                        </a:rPr>
                        <a:t> area of </a:t>
                      </a:r>
                      <a:r>
                        <a:rPr lang="en-US" sz="1000" dirty="0" err="1">
                          <a:effectLst/>
                          <a:latin typeface="+mj-lt"/>
                        </a:rPr>
                        <a:t>Chapainawabganj</a:t>
                      </a:r>
                      <a:r>
                        <a:rPr lang="en-US" sz="1000" dirty="0">
                          <a:effectLst/>
                          <a:latin typeface="+mj-lt"/>
                        </a:rPr>
                        <a:t> district.</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228600" indent="-228600" algn="l" fontAlgn="b">
                        <a:buFont typeface="+mj-lt"/>
                        <a:buAutoNum type="arabicPeriod"/>
                      </a:pPr>
                      <a:r>
                        <a:rPr lang="en-IN" sz="1000" b="0" i="0" u="none" strike="noStrike" dirty="0">
                          <a:solidFill>
                            <a:srgbClr val="000000"/>
                          </a:solidFill>
                          <a:effectLst/>
                          <a:latin typeface="+mj-lt"/>
                        </a:rPr>
                        <a:t>132 kV single circuit pole line from </a:t>
                      </a:r>
                      <a:r>
                        <a:rPr lang="en-IN" sz="1000" b="0" i="0" u="none" strike="noStrike" dirty="0" err="1">
                          <a:solidFill>
                            <a:srgbClr val="000000"/>
                          </a:solidFill>
                          <a:effectLst/>
                          <a:latin typeface="+mj-lt"/>
                        </a:rPr>
                        <a:t>Rajshahi-Chapainawabganj</a:t>
                      </a:r>
                      <a:r>
                        <a:rPr lang="en-IN" sz="1000" b="0" i="0" u="none" strike="noStrike" dirty="0">
                          <a:solidFill>
                            <a:srgbClr val="000000"/>
                          </a:solidFill>
                          <a:effectLst/>
                          <a:latin typeface="+mj-lt"/>
                        </a:rPr>
                        <a:t> 132 kV line to </a:t>
                      </a:r>
                      <a:r>
                        <a:rPr lang="en-IN" sz="1000" b="0" i="0" u="none" strike="noStrike" dirty="0" err="1">
                          <a:solidFill>
                            <a:srgbClr val="000000"/>
                          </a:solidFill>
                          <a:effectLst/>
                          <a:latin typeface="+mj-lt"/>
                        </a:rPr>
                        <a:t>Amunra</a:t>
                      </a:r>
                      <a:r>
                        <a:rPr lang="en-IN" sz="1000" b="0" i="0" u="none" strike="noStrike" dirty="0">
                          <a:solidFill>
                            <a:srgbClr val="000000"/>
                          </a:solidFill>
                          <a:effectLst/>
                          <a:latin typeface="+mj-lt"/>
                        </a:rPr>
                        <a:t> substation on single circuit pole line : 15 km (Single </a:t>
                      </a:r>
                      <a:r>
                        <a:rPr lang="en-IN" sz="1000" b="0" i="0" u="none" strike="noStrike" dirty="0" err="1">
                          <a:solidFill>
                            <a:srgbClr val="000000"/>
                          </a:solidFill>
                          <a:effectLst/>
                          <a:latin typeface="+mj-lt"/>
                        </a:rPr>
                        <a:t>Grossbeak</a:t>
                      </a:r>
                      <a:r>
                        <a:rPr lang="en-IN" sz="1000" b="0" i="0" u="none" strike="noStrike" dirty="0">
                          <a:solidFill>
                            <a:srgbClr val="000000"/>
                          </a:solidFill>
                          <a:effectLst/>
                          <a:latin typeface="+mj-lt"/>
                        </a:rPr>
                        <a:t>)</a:t>
                      </a:r>
                    </a:p>
                    <a:p>
                      <a:pPr marL="228600" indent="-228600" algn="l" fontAlgn="b">
                        <a:buFont typeface="+mj-lt"/>
                        <a:buAutoNum type="arabicPeriod"/>
                      </a:pPr>
                      <a:r>
                        <a:rPr lang="en-IN" sz="1000" b="0" i="0" u="none" strike="noStrike" dirty="0">
                          <a:solidFill>
                            <a:srgbClr val="000000"/>
                          </a:solidFill>
                          <a:effectLst/>
                          <a:latin typeface="+mj-lt"/>
                        </a:rPr>
                        <a:t>132/33 kV AIS substation,</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Double Bus Scheme with 132/33 kV, 1 x 35/50 MVA 3-Phase transformer;</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132 kV Line Bay: 4 </a:t>
                      </a:r>
                      <a:r>
                        <a:rPr lang="en-IN" sz="1000" b="0" i="0" u="none" strike="noStrike" dirty="0" err="1">
                          <a:solidFill>
                            <a:srgbClr val="000000"/>
                          </a:solidFill>
                          <a:effectLst/>
                          <a:latin typeface="+mj-lt"/>
                        </a:rPr>
                        <a:t>nos</a:t>
                      </a:r>
                      <a:r>
                        <a:rPr lang="en-IN" sz="1000" b="0" i="0" u="none" strike="noStrike" dirty="0">
                          <a:solidFill>
                            <a:srgbClr val="000000"/>
                          </a:solidFill>
                          <a:effectLst/>
                          <a:latin typeface="+mj-lt"/>
                        </a:rPr>
                        <a:t>;</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132 kV Transformer Bay: 1 no</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132 kV Coupler Bay: 1 no.;</a:t>
                      </a:r>
                      <a:r>
                        <a:rPr lang="en-IN" sz="1000" b="0" i="0" u="none" strike="noStrike" baseline="0" dirty="0">
                          <a:solidFill>
                            <a:srgbClr val="000000"/>
                          </a:solidFill>
                          <a:effectLst/>
                          <a:latin typeface="+mj-lt"/>
                        </a:rPr>
                        <a:t> </a:t>
                      </a:r>
                      <a:r>
                        <a:rPr lang="en-IN" sz="1000" b="0" i="0" u="none" strike="noStrike" dirty="0">
                          <a:solidFill>
                            <a:srgbClr val="000000"/>
                          </a:solidFill>
                          <a:effectLst/>
                          <a:latin typeface="+mj-lt"/>
                        </a:rPr>
                        <a:t>33 kV Transformer Bay: 1 no.</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US" sz="1000" b="0" i="0" u="none" strike="noStrike" dirty="0">
                          <a:solidFill>
                            <a:srgbClr val="000000"/>
                          </a:solidFill>
                          <a:effectLst/>
                          <a:latin typeface="+mj-lt"/>
                        </a:rPr>
                        <a:t>FY15-FY21</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22628254"/>
                  </a:ext>
                </a:extLst>
              </a:tr>
              <a:tr h="365397">
                <a:tc>
                  <a:txBody>
                    <a:bodyPr/>
                    <a:lstStyle/>
                    <a:p>
                      <a:pPr algn="l" fontAlgn="t"/>
                      <a:r>
                        <a:rPr lang="en-US" sz="1000" dirty="0">
                          <a:effectLst/>
                          <a:latin typeface="+mj-lt"/>
                        </a:rPr>
                        <a:t>22</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lang="en-US" sz="1000">
                          <a:effectLst/>
                          <a:latin typeface="+mj-lt"/>
                        </a:rPr>
                        <a:t>Western Grid Network Development Project</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l" fontAlgn="t">
                        <a:buFont typeface="Arial" panose="020B0604020202020204" pitchFamily="34" charset="0"/>
                        <a:buChar char="•"/>
                      </a:pPr>
                      <a:r>
                        <a:rPr lang="en-IN" sz="1000" dirty="0">
                          <a:effectLst/>
                          <a:latin typeface="+mj-lt"/>
                        </a:rPr>
                        <a:t>To establish a 230 kV transmission link between </a:t>
                      </a:r>
                      <a:r>
                        <a:rPr lang="en-IN" sz="1000" dirty="0" err="1">
                          <a:effectLst/>
                          <a:latin typeface="+mj-lt"/>
                        </a:rPr>
                        <a:t>Rajshahi</a:t>
                      </a:r>
                      <a:r>
                        <a:rPr lang="en-IN" sz="1000" dirty="0">
                          <a:effectLst/>
                          <a:latin typeface="+mj-lt"/>
                        </a:rPr>
                        <a:t> &amp; </a:t>
                      </a:r>
                      <a:r>
                        <a:rPr lang="en-IN" sz="1000" dirty="0" err="1">
                          <a:effectLst/>
                          <a:latin typeface="+mj-lt"/>
                        </a:rPr>
                        <a:t>Ishurdi</a:t>
                      </a:r>
                      <a:r>
                        <a:rPr lang="en-IN" sz="1000" dirty="0">
                          <a:effectLst/>
                          <a:latin typeface="+mj-lt"/>
                        </a:rPr>
                        <a:t>.</a:t>
                      </a:r>
                    </a:p>
                    <a:p>
                      <a:pPr marL="171450" indent="-171450" algn="l" fontAlgn="t">
                        <a:buFont typeface="Arial" panose="020B0604020202020204" pitchFamily="34" charset="0"/>
                        <a:buChar char="•"/>
                      </a:pPr>
                      <a:r>
                        <a:rPr lang="en-IN" sz="1000" dirty="0">
                          <a:effectLst/>
                          <a:latin typeface="+mj-lt"/>
                        </a:rPr>
                        <a:t>To establish a 132 kV transmission link between </a:t>
                      </a:r>
                      <a:r>
                        <a:rPr lang="en-IN" sz="1000" dirty="0" err="1">
                          <a:effectLst/>
                          <a:latin typeface="+mj-lt"/>
                        </a:rPr>
                        <a:t>Gollamari</a:t>
                      </a:r>
                      <a:r>
                        <a:rPr lang="en-IN" sz="1000" dirty="0">
                          <a:effectLst/>
                          <a:latin typeface="+mj-lt"/>
                        </a:rPr>
                        <a:t> &amp; </a:t>
                      </a:r>
                      <a:r>
                        <a:rPr lang="en-IN" sz="1000" dirty="0" err="1">
                          <a:effectLst/>
                          <a:latin typeface="+mj-lt"/>
                        </a:rPr>
                        <a:t>Gopalganj</a:t>
                      </a:r>
                      <a:endParaRPr lang="en-IN" sz="1000" dirty="0">
                        <a:effectLst/>
                        <a:latin typeface="+mj-lt"/>
                      </a:endParaRPr>
                    </a:p>
                    <a:p>
                      <a:pPr marL="171450" indent="-171450" algn="l" fontAlgn="t">
                        <a:buFont typeface="Arial" panose="020B0604020202020204" pitchFamily="34" charset="0"/>
                        <a:buChar char="•"/>
                      </a:pPr>
                      <a:r>
                        <a:rPr lang="en-IN" sz="1000" dirty="0">
                          <a:effectLst/>
                          <a:latin typeface="+mj-lt"/>
                        </a:rPr>
                        <a:t>To establish a 132 kV transmission link between </a:t>
                      </a:r>
                      <a:r>
                        <a:rPr lang="en-IN" sz="1000" dirty="0" err="1">
                          <a:effectLst/>
                          <a:latin typeface="+mj-lt"/>
                        </a:rPr>
                        <a:t>Bangura</a:t>
                      </a:r>
                      <a:r>
                        <a:rPr lang="en-IN" sz="1000" dirty="0">
                          <a:effectLst/>
                          <a:latin typeface="+mj-lt"/>
                        </a:rPr>
                        <a:t> &amp; </a:t>
                      </a:r>
                      <a:r>
                        <a:rPr lang="en-IN" sz="1000" dirty="0" err="1">
                          <a:effectLst/>
                          <a:latin typeface="+mj-lt"/>
                        </a:rPr>
                        <a:t>Baghabari</a:t>
                      </a:r>
                      <a:r>
                        <a:rPr lang="en-IN" sz="1000" dirty="0">
                          <a:effectLst/>
                          <a:latin typeface="+mj-lt"/>
                        </a:rPr>
                        <a:t>.</a:t>
                      </a:r>
                    </a:p>
                    <a:p>
                      <a:pPr marL="171450" indent="-171450" algn="l" fontAlgn="t">
                        <a:buFont typeface="Arial" panose="020B0604020202020204" pitchFamily="34" charset="0"/>
                        <a:buChar char="•"/>
                      </a:pPr>
                      <a:r>
                        <a:rPr lang="en-IN" sz="1000" dirty="0">
                          <a:effectLst/>
                          <a:latin typeface="+mj-lt"/>
                        </a:rPr>
                        <a:t>To supply reliable power to </a:t>
                      </a:r>
                      <a:r>
                        <a:rPr lang="en-IN" sz="1000" dirty="0" err="1">
                          <a:effectLst/>
                          <a:latin typeface="+mj-lt"/>
                        </a:rPr>
                        <a:t>Bangura</a:t>
                      </a:r>
                      <a:r>
                        <a:rPr lang="en-IN" sz="1000" dirty="0">
                          <a:effectLst/>
                          <a:latin typeface="+mj-lt"/>
                        </a:rPr>
                        <a:t>, </a:t>
                      </a:r>
                      <a:r>
                        <a:rPr lang="en-IN" sz="1000" dirty="0" err="1">
                          <a:effectLst/>
                          <a:latin typeface="+mj-lt"/>
                        </a:rPr>
                        <a:t>Satkhira</a:t>
                      </a:r>
                      <a:r>
                        <a:rPr lang="en-IN" sz="1000" dirty="0">
                          <a:effectLst/>
                          <a:latin typeface="+mj-lt"/>
                        </a:rPr>
                        <a:t> &amp; </a:t>
                      </a:r>
                      <a:r>
                        <a:rPr lang="en-IN" sz="1000" dirty="0" err="1">
                          <a:effectLst/>
                          <a:latin typeface="+mj-lt"/>
                        </a:rPr>
                        <a:t>Madaripur</a:t>
                      </a:r>
                      <a:r>
                        <a:rPr lang="en-IN" sz="1000" dirty="0">
                          <a:effectLst/>
                          <a:latin typeface="+mj-lt"/>
                        </a:rPr>
                        <a:t> area.</a:t>
                      </a:r>
                    </a:p>
                    <a:p>
                      <a:pPr marL="171450" indent="-171450" algn="l" fontAlgn="t">
                        <a:buFont typeface="Arial" panose="020B0604020202020204" pitchFamily="34" charset="0"/>
                        <a:buChar char="•"/>
                      </a:pPr>
                      <a:r>
                        <a:rPr lang="en-IN" sz="1000" dirty="0">
                          <a:effectLst/>
                          <a:latin typeface="+mj-lt"/>
                        </a:rPr>
                        <a:t>To create power evacuation facilities for future generating plants at </a:t>
                      </a:r>
                      <a:r>
                        <a:rPr lang="en-IN" sz="1000" dirty="0" err="1">
                          <a:effectLst/>
                          <a:latin typeface="+mj-lt"/>
                        </a:rPr>
                        <a:t>Khulna.To</a:t>
                      </a:r>
                      <a:r>
                        <a:rPr lang="en-IN" sz="1000" dirty="0">
                          <a:effectLst/>
                          <a:latin typeface="+mj-lt"/>
                        </a:rPr>
                        <a:t> cater the growing demand of </a:t>
                      </a:r>
                      <a:r>
                        <a:rPr lang="en-IN" sz="1000" dirty="0" err="1">
                          <a:effectLst/>
                          <a:latin typeface="+mj-lt"/>
                        </a:rPr>
                        <a:t>Barindra</a:t>
                      </a:r>
                      <a:r>
                        <a:rPr lang="en-IN" sz="1000" dirty="0">
                          <a:effectLst/>
                          <a:latin typeface="+mj-lt"/>
                        </a:rPr>
                        <a:t> area (</a:t>
                      </a:r>
                      <a:r>
                        <a:rPr lang="en-IN" sz="1000" dirty="0" err="1">
                          <a:effectLst/>
                          <a:latin typeface="+mj-lt"/>
                        </a:rPr>
                        <a:t>Rajshahi</a:t>
                      </a:r>
                      <a:r>
                        <a:rPr lang="en-IN" sz="1000" dirty="0">
                          <a:effectLst/>
                          <a:latin typeface="+mj-lt"/>
                        </a:rPr>
                        <a:t>).</a:t>
                      </a:r>
                    </a:p>
                    <a:p>
                      <a:pPr marL="171450" indent="-171450" algn="l" fontAlgn="t">
                        <a:buFont typeface="Arial" panose="020B0604020202020204" pitchFamily="34" charset="0"/>
                        <a:buChar char="•"/>
                      </a:pPr>
                      <a:r>
                        <a:rPr lang="en-IN" sz="1000" dirty="0">
                          <a:effectLst/>
                          <a:latin typeface="+mj-lt"/>
                        </a:rPr>
                        <a:t>To reduce the loading of the existing 132 kV </a:t>
                      </a:r>
                      <a:r>
                        <a:rPr lang="en-IN" sz="1000" dirty="0" err="1">
                          <a:effectLst/>
                          <a:latin typeface="+mj-lt"/>
                        </a:rPr>
                        <a:t>Rajshahi-Natore</a:t>
                      </a:r>
                      <a:r>
                        <a:rPr lang="en-IN" sz="1000" dirty="0">
                          <a:effectLst/>
                          <a:latin typeface="+mj-lt"/>
                        </a:rPr>
                        <a:t> line.</a:t>
                      </a:r>
                    </a:p>
                    <a:p>
                      <a:pPr marL="171450" indent="-171450" algn="l" fontAlgn="t">
                        <a:buFont typeface="Arial" panose="020B0604020202020204" pitchFamily="34" charset="0"/>
                        <a:buChar char="•"/>
                      </a:pPr>
                      <a:r>
                        <a:rPr lang="en-IN" sz="1000" dirty="0">
                          <a:effectLst/>
                          <a:latin typeface="+mj-lt"/>
                        </a:rPr>
                        <a:t>To meet up the growing demand of Rangpur area.</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228600" indent="-228600" algn="l" fontAlgn="b">
                        <a:buFont typeface="+mj-lt"/>
                        <a:buAutoNum type="arabicPeriod"/>
                      </a:pPr>
                      <a:r>
                        <a:rPr lang="en-IN" sz="1000" b="0" i="0" u="none" strike="noStrike" dirty="0">
                          <a:solidFill>
                            <a:srgbClr val="000000"/>
                          </a:solidFill>
                          <a:effectLst/>
                          <a:latin typeface="+mj-lt"/>
                        </a:rPr>
                        <a:t>230 kV Transmission Line: 82.15 km</a:t>
                      </a:r>
                    </a:p>
                    <a:p>
                      <a:pPr marL="228600" indent="-228600" algn="l" fontAlgn="b">
                        <a:buFont typeface="+mj-lt"/>
                        <a:buAutoNum type="arabicPeriod"/>
                      </a:pPr>
                      <a:r>
                        <a:rPr lang="en-IN" sz="1000" b="0" i="0" u="none" strike="noStrike" dirty="0">
                          <a:solidFill>
                            <a:srgbClr val="000000"/>
                          </a:solidFill>
                          <a:effectLst/>
                          <a:latin typeface="+mj-lt"/>
                        </a:rPr>
                        <a:t>132 kV Transmission Line: 236.31 km</a:t>
                      </a:r>
                    </a:p>
                    <a:p>
                      <a:pPr marL="228600" indent="-228600" algn="l" fontAlgn="b">
                        <a:buFont typeface="+mj-lt"/>
                        <a:buAutoNum type="arabicPeriod"/>
                      </a:pPr>
                      <a:r>
                        <a:rPr lang="en-IN" sz="1000" b="0" i="0" u="none" strike="noStrike" dirty="0">
                          <a:solidFill>
                            <a:srgbClr val="000000"/>
                          </a:solidFill>
                          <a:effectLst/>
                          <a:latin typeface="+mj-lt"/>
                        </a:rPr>
                        <a:t>230 kV Substations: 2nos, 1200 MVA</a:t>
                      </a:r>
                    </a:p>
                    <a:p>
                      <a:pPr marL="228600" indent="-228600" algn="l" fontAlgn="b">
                        <a:buFont typeface="+mj-lt"/>
                        <a:buAutoNum type="arabicPeriod"/>
                      </a:pPr>
                      <a:r>
                        <a:rPr lang="en-IN" sz="1000" b="0" i="0" u="none" strike="noStrike" dirty="0">
                          <a:solidFill>
                            <a:srgbClr val="000000"/>
                          </a:solidFill>
                          <a:effectLst/>
                          <a:latin typeface="+mj-lt"/>
                        </a:rPr>
                        <a:t>132 kV Substations: 3 </a:t>
                      </a:r>
                      <a:r>
                        <a:rPr lang="en-IN" sz="1000" b="0" i="0" u="none" strike="noStrike" dirty="0" err="1">
                          <a:solidFill>
                            <a:srgbClr val="000000"/>
                          </a:solidFill>
                          <a:effectLst/>
                          <a:latin typeface="+mj-lt"/>
                        </a:rPr>
                        <a:t>nos</a:t>
                      </a:r>
                      <a:r>
                        <a:rPr lang="en-IN" sz="1000" b="0" i="0" u="none" strike="noStrike" dirty="0">
                          <a:solidFill>
                            <a:srgbClr val="000000"/>
                          </a:solidFill>
                          <a:effectLst/>
                          <a:latin typeface="+mj-lt"/>
                        </a:rPr>
                        <a:t>, 450 MVA</a:t>
                      </a:r>
                    </a:p>
                    <a:p>
                      <a:pPr marL="228600" indent="-228600" algn="l" fontAlgn="b">
                        <a:buFont typeface="+mj-lt"/>
                        <a:buAutoNum type="arabicPeriod"/>
                      </a:pPr>
                      <a:r>
                        <a:rPr lang="en-IN" sz="1000" b="0" i="0" u="none" strike="noStrike" dirty="0">
                          <a:solidFill>
                            <a:srgbClr val="000000"/>
                          </a:solidFill>
                          <a:effectLst/>
                          <a:latin typeface="+mj-lt"/>
                        </a:rPr>
                        <a:t>132 kV Bay Extensions: 8 </a:t>
                      </a:r>
                      <a:r>
                        <a:rPr lang="en-IN" sz="1000" b="0" i="0" u="none" strike="noStrike" dirty="0" err="1">
                          <a:solidFill>
                            <a:srgbClr val="000000"/>
                          </a:solidFill>
                          <a:effectLst/>
                          <a:latin typeface="+mj-lt"/>
                        </a:rPr>
                        <a:t>nos</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FY16-FY21</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29704360"/>
                  </a:ext>
                </a:extLst>
              </a:tr>
            </a:tbl>
          </a:graphicData>
        </a:graphic>
      </p:graphicFrame>
      <p:sp>
        <p:nvSpPr>
          <p:cNvPr id="7" name="Rectangle 6"/>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PGCB, Deloitte Analysis</a:t>
            </a:r>
          </a:p>
        </p:txBody>
      </p:sp>
    </p:spTree>
    <p:extLst>
      <p:ext uri="{BB962C8B-B14F-4D97-AF65-F5344CB8AC3E}">
        <p14:creationId xmlns:p14="http://schemas.microsoft.com/office/powerpoint/2010/main" val="1148253661"/>
      </p:ext>
    </p:extLst>
  </p:cSld>
  <p:clrMapOvr>
    <a:masterClrMapping/>
  </p:clrMapOvr>
  <p:transition>
    <p:fade/>
  </p:transition>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231525780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5" name="Object 4"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Annexure G | Electricity Transmission | Ongoing Development Projects</a:t>
            </a:r>
            <a:endParaRPr lang="en-IN" dirty="0"/>
          </a:p>
        </p:txBody>
      </p:sp>
      <p:sp>
        <p:nvSpPr>
          <p:cNvPr id="3"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Currently, ~25 major transmission projects are under implementation </a:t>
            </a:r>
          </a:p>
        </p:txBody>
      </p:sp>
      <p:graphicFrame>
        <p:nvGraphicFramePr>
          <p:cNvPr id="6" name="Table 5"/>
          <p:cNvGraphicFramePr>
            <a:graphicFrameLocks noGrp="1"/>
          </p:cNvGraphicFramePr>
          <p:nvPr/>
        </p:nvGraphicFramePr>
        <p:xfrm>
          <a:off x="449261" y="1598375"/>
          <a:ext cx="9791702" cy="5334000"/>
        </p:xfrm>
        <a:graphic>
          <a:graphicData uri="http://schemas.openxmlformats.org/drawingml/2006/table">
            <a:tbl>
              <a:tblPr firstRow="1">
                <a:tableStyleId>{3B4B98B0-60AC-42C2-AFA5-B58CD77FA1E5}</a:tableStyleId>
              </a:tblPr>
              <a:tblGrid>
                <a:gridCol w="424805">
                  <a:extLst>
                    <a:ext uri="{9D8B030D-6E8A-4147-A177-3AD203B41FA5}">
                      <a16:colId xmlns:a16="http://schemas.microsoft.com/office/drawing/2014/main" val="840296419"/>
                    </a:ext>
                  </a:extLst>
                </a:gridCol>
                <a:gridCol w="1868874">
                  <a:extLst>
                    <a:ext uri="{9D8B030D-6E8A-4147-A177-3AD203B41FA5}">
                      <a16:colId xmlns:a16="http://schemas.microsoft.com/office/drawing/2014/main" val="4215697382"/>
                    </a:ext>
                  </a:extLst>
                </a:gridCol>
                <a:gridCol w="2707382">
                  <a:extLst>
                    <a:ext uri="{9D8B030D-6E8A-4147-A177-3AD203B41FA5}">
                      <a16:colId xmlns:a16="http://schemas.microsoft.com/office/drawing/2014/main" val="2539929000"/>
                    </a:ext>
                  </a:extLst>
                </a:gridCol>
                <a:gridCol w="3852704">
                  <a:extLst>
                    <a:ext uri="{9D8B030D-6E8A-4147-A177-3AD203B41FA5}">
                      <a16:colId xmlns:a16="http://schemas.microsoft.com/office/drawing/2014/main" val="2067057095"/>
                    </a:ext>
                  </a:extLst>
                </a:gridCol>
                <a:gridCol w="937937">
                  <a:extLst>
                    <a:ext uri="{9D8B030D-6E8A-4147-A177-3AD203B41FA5}">
                      <a16:colId xmlns:a16="http://schemas.microsoft.com/office/drawing/2014/main" val="3422243030"/>
                    </a:ext>
                  </a:extLst>
                </a:gridCol>
              </a:tblGrid>
              <a:tr h="365397">
                <a:tc>
                  <a:txBody>
                    <a:bodyPr/>
                    <a:lstStyle/>
                    <a:p>
                      <a:pPr algn="l" fontAlgn="b"/>
                      <a:r>
                        <a:rPr lang="en-IN" sz="1000" u="none" strike="noStrike" dirty="0">
                          <a:effectLst/>
                          <a:latin typeface="+mj-lt"/>
                        </a:rPr>
                        <a:t>Sr. No</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latin typeface="+mj-lt"/>
                        </a:rPr>
                        <a:t>Project</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b="1" i="0" u="none" strike="noStrike" dirty="0">
                          <a:solidFill>
                            <a:srgbClr val="000000"/>
                          </a:solidFill>
                          <a:effectLst/>
                          <a:latin typeface="+mj-lt"/>
                        </a:rPr>
                        <a:t>Objective</a:t>
                      </a:r>
                      <a:endParaRPr lang="en-IN" sz="1000" b="1"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latin typeface="+mj-lt"/>
                        </a:rPr>
                        <a:t>Scope</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u="none" strike="noStrike" dirty="0">
                          <a:effectLst/>
                          <a:latin typeface="+mj-lt"/>
                        </a:rPr>
                        <a:t>Period</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163140"/>
                  </a:ext>
                </a:extLst>
              </a:tr>
              <a:tr h="365397">
                <a:tc>
                  <a:txBody>
                    <a:bodyPr/>
                    <a:lstStyle/>
                    <a:p>
                      <a:pPr algn="l" fontAlgn="t"/>
                      <a:r>
                        <a:rPr lang="en-US" sz="1000" dirty="0">
                          <a:effectLst/>
                          <a:latin typeface="+mj-lt"/>
                        </a:rPr>
                        <a:t>23</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lang="en-US" sz="1000" dirty="0">
                          <a:effectLst/>
                          <a:latin typeface="+mj-lt"/>
                        </a:rPr>
                        <a:t>National Power Transmission Network Development Project</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l">
                        <a:buFont typeface="Arial" panose="020B0604020202020204" pitchFamily="34" charset="0"/>
                        <a:buChar char="•"/>
                      </a:pPr>
                      <a:r>
                        <a:rPr lang="en-IN" sz="1000" dirty="0">
                          <a:latin typeface="+mj-lt"/>
                        </a:rPr>
                        <a:t>To evacuate power from the proposed 225MW power plant at </a:t>
                      </a:r>
                      <a:r>
                        <a:rPr lang="en-IN" sz="1000" dirty="0" err="1">
                          <a:latin typeface="+mj-lt"/>
                        </a:rPr>
                        <a:t>Sikalbaha</a:t>
                      </a:r>
                      <a:endParaRPr lang="en-IN" sz="1000" dirty="0">
                        <a:latin typeface="+mj-lt"/>
                      </a:endParaRPr>
                    </a:p>
                    <a:p>
                      <a:pPr marL="171450" indent="-171450" algn="l">
                        <a:buFont typeface="Arial" panose="020B0604020202020204" pitchFamily="34" charset="0"/>
                        <a:buChar char="•"/>
                      </a:pPr>
                      <a:r>
                        <a:rPr lang="en-IN" sz="1000" dirty="0">
                          <a:latin typeface="+mj-lt"/>
                        </a:rPr>
                        <a:t>To Provide reliable power to Chittagong city through Rampur &amp; </a:t>
                      </a:r>
                      <a:r>
                        <a:rPr lang="en-IN" sz="1000" dirty="0" err="1">
                          <a:latin typeface="+mj-lt"/>
                        </a:rPr>
                        <a:t>Sikalbaha</a:t>
                      </a:r>
                      <a:endParaRPr lang="en-IN" sz="1000" dirty="0">
                        <a:latin typeface="+mj-lt"/>
                      </a:endParaRPr>
                    </a:p>
                    <a:p>
                      <a:pPr marL="171450" indent="-171450" algn="l">
                        <a:buFont typeface="Arial" panose="020B0604020202020204" pitchFamily="34" charset="0"/>
                        <a:buChar char="•"/>
                      </a:pPr>
                      <a:r>
                        <a:rPr lang="en-IN" sz="1000" dirty="0">
                          <a:latin typeface="+mj-lt"/>
                        </a:rPr>
                        <a:t>To Meet the growing load demand of the areas under the proposed new 132/33 kV substations at </a:t>
                      </a:r>
                      <a:r>
                        <a:rPr lang="en-IN" sz="1000" dirty="0" err="1">
                          <a:latin typeface="+mj-lt"/>
                        </a:rPr>
                        <a:t>Agrabad</a:t>
                      </a:r>
                      <a:r>
                        <a:rPr lang="en-IN" sz="1000" dirty="0">
                          <a:latin typeface="+mj-lt"/>
                        </a:rPr>
                        <a:t> (Chittagong).; </a:t>
                      </a:r>
                      <a:r>
                        <a:rPr lang="en-IN" sz="1000" dirty="0" err="1">
                          <a:latin typeface="+mj-lt"/>
                        </a:rPr>
                        <a:t>Chouddagram</a:t>
                      </a:r>
                      <a:r>
                        <a:rPr lang="en-IN" sz="1000" dirty="0">
                          <a:latin typeface="+mj-lt"/>
                        </a:rPr>
                        <a:t>, </a:t>
                      </a:r>
                      <a:r>
                        <a:rPr lang="en-IN" sz="1000" dirty="0" err="1">
                          <a:latin typeface="+mj-lt"/>
                        </a:rPr>
                        <a:t>Ramganj</a:t>
                      </a:r>
                      <a:r>
                        <a:rPr lang="en-IN" sz="1000" dirty="0">
                          <a:latin typeface="+mj-lt"/>
                        </a:rPr>
                        <a:t>, </a:t>
                      </a:r>
                      <a:r>
                        <a:rPr lang="en-IN" sz="1000" dirty="0" err="1">
                          <a:latin typeface="+mj-lt"/>
                        </a:rPr>
                        <a:t>Bhaluka</a:t>
                      </a:r>
                      <a:r>
                        <a:rPr lang="en-IN" sz="1000" dirty="0">
                          <a:latin typeface="+mj-lt"/>
                        </a:rPr>
                        <a:t> (</a:t>
                      </a:r>
                      <a:r>
                        <a:rPr lang="en-IN" sz="1000" dirty="0" err="1">
                          <a:latin typeface="+mj-lt"/>
                        </a:rPr>
                        <a:t>Mymensingh</a:t>
                      </a:r>
                      <a:r>
                        <a:rPr lang="en-IN" sz="1000" dirty="0">
                          <a:latin typeface="+mj-lt"/>
                        </a:rPr>
                        <a:t>), </a:t>
                      </a:r>
                      <a:r>
                        <a:rPr lang="en-IN" sz="1000" dirty="0" err="1">
                          <a:latin typeface="+mj-lt"/>
                        </a:rPr>
                        <a:t>Baroirhat</a:t>
                      </a:r>
                      <a:r>
                        <a:rPr lang="en-IN" sz="1000" dirty="0">
                          <a:latin typeface="+mj-lt"/>
                        </a:rPr>
                        <a:t> (Chittagong), </a:t>
                      </a:r>
                      <a:r>
                        <a:rPr lang="en-IN" sz="1000" dirty="0" err="1">
                          <a:latin typeface="+mj-lt"/>
                        </a:rPr>
                        <a:t>Benapol</a:t>
                      </a:r>
                      <a:r>
                        <a:rPr lang="en-IN" sz="1000" dirty="0">
                          <a:latin typeface="+mj-lt"/>
                        </a:rPr>
                        <a:t>, </a:t>
                      </a:r>
                      <a:r>
                        <a:rPr lang="en-IN" sz="1000" dirty="0" err="1">
                          <a:latin typeface="+mj-lt"/>
                        </a:rPr>
                        <a:t>Shariatpur</a:t>
                      </a:r>
                      <a:r>
                        <a:rPr lang="en-IN" sz="1000" dirty="0">
                          <a:latin typeface="+mj-lt"/>
                        </a:rPr>
                        <a:t>, Barisal-(N), </a:t>
                      </a:r>
                      <a:r>
                        <a:rPr lang="en-IN" sz="1000" dirty="0" err="1">
                          <a:latin typeface="+mj-lt"/>
                        </a:rPr>
                        <a:t>Mahastangarh</a:t>
                      </a:r>
                      <a:r>
                        <a:rPr lang="en-IN" sz="1000" dirty="0">
                          <a:latin typeface="+mj-lt"/>
                        </a:rPr>
                        <a:t> (</a:t>
                      </a:r>
                      <a:r>
                        <a:rPr lang="en-IN" sz="1000" dirty="0" err="1">
                          <a:latin typeface="+mj-lt"/>
                        </a:rPr>
                        <a:t>Bogra</a:t>
                      </a:r>
                      <a:r>
                        <a:rPr lang="en-IN" sz="1000" dirty="0">
                          <a:latin typeface="+mj-lt"/>
                        </a:rPr>
                        <a:t>), </a:t>
                      </a:r>
                      <a:r>
                        <a:rPr lang="en-IN" sz="1000" dirty="0" err="1">
                          <a:latin typeface="+mj-lt"/>
                        </a:rPr>
                        <a:t>Jaldhaka</a:t>
                      </a:r>
                      <a:r>
                        <a:rPr lang="en-IN" sz="1000" dirty="0">
                          <a:latin typeface="+mj-lt"/>
                        </a:rPr>
                        <a:t> (</a:t>
                      </a:r>
                      <a:r>
                        <a:rPr lang="en-IN" sz="1000" dirty="0" err="1">
                          <a:latin typeface="+mj-lt"/>
                        </a:rPr>
                        <a:t>Nilfamari</a:t>
                      </a:r>
                      <a:r>
                        <a:rPr lang="en-IN" sz="1000" dirty="0">
                          <a:latin typeface="+mj-lt"/>
                        </a:rPr>
                        <a:t>) &amp; Rajshahi-2</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228600" indent="-228600" algn="l" fontAlgn="b">
                        <a:buFont typeface="+mj-lt"/>
                        <a:buAutoNum type="arabicPeriod"/>
                      </a:pPr>
                      <a:r>
                        <a:rPr lang="en-IN" sz="1000" b="0" i="0" u="none" strike="noStrike" dirty="0">
                          <a:solidFill>
                            <a:srgbClr val="000000"/>
                          </a:solidFill>
                          <a:effectLst/>
                          <a:latin typeface="+mj-lt"/>
                        </a:rPr>
                        <a:t> 230 kV double circuit Transmission Line : 69 km</a:t>
                      </a:r>
                    </a:p>
                    <a:p>
                      <a:pPr marL="228600" indent="-228600" algn="l" fontAlgn="b">
                        <a:buFont typeface="+mj-lt"/>
                        <a:buAutoNum type="arabicPeriod"/>
                      </a:pPr>
                      <a:r>
                        <a:rPr lang="en-IN" sz="1000" b="0" i="0" u="none" strike="noStrike" dirty="0">
                          <a:solidFill>
                            <a:srgbClr val="000000"/>
                          </a:solidFill>
                          <a:effectLst/>
                          <a:latin typeface="+mj-lt"/>
                        </a:rPr>
                        <a:t>230 kV u/g Line : 8 km</a:t>
                      </a:r>
                    </a:p>
                    <a:p>
                      <a:pPr marL="228600" indent="-228600" algn="l" fontAlgn="b">
                        <a:buFont typeface="+mj-lt"/>
                        <a:buAutoNum type="arabicPeriod"/>
                      </a:pPr>
                      <a:r>
                        <a:rPr lang="en-IN" sz="1000" b="0" i="0" u="none" strike="noStrike" dirty="0">
                          <a:solidFill>
                            <a:srgbClr val="000000"/>
                          </a:solidFill>
                          <a:effectLst/>
                          <a:latin typeface="+mj-lt"/>
                        </a:rPr>
                        <a:t>132 kV Four Circuit In Out Underground Line : 3 km</a:t>
                      </a:r>
                    </a:p>
                    <a:p>
                      <a:pPr marL="228600" indent="-228600" algn="l" fontAlgn="b">
                        <a:buFont typeface="+mj-lt"/>
                        <a:buAutoNum type="arabicPeriod"/>
                      </a:pPr>
                      <a:r>
                        <a:rPr lang="en-IN" sz="1000" b="0" i="0" u="none" strike="noStrike" dirty="0">
                          <a:solidFill>
                            <a:srgbClr val="000000"/>
                          </a:solidFill>
                          <a:effectLst/>
                          <a:latin typeface="+mj-lt"/>
                        </a:rPr>
                        <a:t>132 kV u/g Line : 6 km</a:t>
                      </a:r>
                    </a:p>
                    <a:p>
                      <a:pPr marL="228600" indent="-228600" algn="l" fontAlgn="b">
                        <a:buFont typeface="+mj-lt"/>
                        <a:buAutoNum type="arabicPeriod"/>
                      </a:pPr>
                      <a:r>
                        <a:rPr lang="en-IN" sz="1000" b="0" i="0" u="none" strike="noStrike" dirty="0">
                          <a:solidFill>
                            <a:srgbClr val="000000"/>
                          </a:solidFill>
                          <a:effectLst/>
                          <a:latin typeface="+mj-lt"/>
                        </a:rPr>
                        <a:t>132 kV double circuit interconnecting line : 139 km</a:t>
                      </a:r>
                    </a:p>
                    <a:p>
                      <a:pPr marL="228600" indent="-228600" algn="l" fontAlgn="b">
                        <a:buFont typeface="+mj-lt"/>
                        <a:buAutoNum type="arabicPeriod"/>
                      </a:pPr>
                      <a:r>
                        <a:rPr lang="en-IN" sz="1000" b="0" i="0" u="none" strike="noStrike" dirty="0">
                          <a:solidFill>
                            <a:srgbClr val="000000"/>
                          </a:solidFill>
                          <a:effectLst/>
                          <a:latin typeface="+mj-lt"/>
                        </a:rPr>
                        <a:t>132 kV LILO line : 14 km</a:t>
                      </a:r>
                    </a:p>
                    <a:p>
                      <a:pPr marL="228600" indent="-228600" algn="l" fontAlgn="b">
                        <a:buFont typeface="+mj-lt"/>
                        <a:buAutoNum type="arabicPeriod"/>
                      </a:pPr>
                      <a:r>
                        <a:rPr lang="en-IN" sz="1000" b="0" i="0" u="none" strike="noStrike" dirty="0">
                          <a:solidFill>
                            <a:srgbClr val="000000"/>
                          </a:solidFill>
                          <a:effectLst/>
                          <a:latin typeface="+mj-lt"/>
                        </a:rPr>
                        <a:t>230/132 kV Substation: 2 nos.</a:t>
                      </a:r>
                    </a:p>
                    <a:p>
                      <a:pPr marL="228600" indent="-228600" algn="l" fontAlgn="b">
                        <a:buFont typeface="+mj-lt"/>
                        <a:buAutoNum type="arabicPeriod"/>
                      </a:pPr>
                      <a:r>
                        <a:rPr lang="en-IN" sz="1000" b="0" i="0" u="none" strike="noStrike" dirty="0">
                          <a:solidFill>
                            <a:srgbClr val="000000"/>
                          </a:solidFill>
                          <a:effectLst/>
                          <a:latin typeface="+mj-lt"/>
                        </a:rPr>
                        <a:t>132/33 kV Substation: 11 nos.</a:t>
                      </a:r>
                    </a:p>
                    <a:p>
                      <a:pPr marL="228600" indent="-228600" algn="l" fontAlgn="b">
                        <a:buFont typeface="+mj-lt"/>
                        <a:buAutoNum type="arabicPeriod"/>
                      </a:pPr>
                      <a:r>
                        <a:rPr lang="en-IN" sz="1000" b="0" i="0" u="none" strike="noStrike" dirty="0">
                          <a:solidFill>
                            <a:srgbClr val="000000"/>
                          </a:solidFill>
                          <a:effectLst/>
                          <a:latin typeface="+mj-lt"/>
                        </a:rPr>
                        <a:t>Bay Extension of existing Substations</a:t>
                      </a:r>
                    </a:p>
                    <a:p>
                      <a:pPr marL="723886" lvl="1" indent="-228600" algn="l" fontAlgn="b">
                        <a:buFont typeface="+mj-lt"/>
                        <a:buAutoNum type="arabicPeriod"/>
                      </a:pPr>
                      <a:r>
                        <a:rPr lang="en-IN" sz="1000" b="0" i="0" u="none" strike="noStrike" dirty="0">
                          <a:solidFill>
                            <a:srgbClr val="000000"/>
                          </a:solidFill>
                          <a:effectLst/>
                          <a:latin typeface="+mj-lt"/>
                        </a:rPr>
                        <a:t>230 kV: 4 </a:t>
                      </a:r>
                      <a:r>
                        <a:rPr lang="en-IN" sz="1000" b="0" i="0" u="none" strike="noStrike" dirty="0" err="1">
                          <a:solidFill>
                            <a:srgbClr val="000000"/>
                          </a:solidFill>
                          <a:effectLst/>
                          <a:latin typeface="+mj-lt"/>
                        </a:rPr>
                        <a:t>nos</a:t>
                      </a:r>
                      <a:endParaRPr lang="en-IN" sz="1000" b="0" i="0" u="none" strike="noStrike" dirty="0">
                        <a:solidFill>
                          <a:srgbClr val="000000"/>
                        </a:solidFill>
                        <a:effectLst/>
                        <a:latin typeface="+mj-lt"/>
                      </a:endParaRPr>
                    </a:p>
                    <a:p>
                      <a:pPr marL="723886" lvl="1" indent="-228600" algn="l" fontAlgn="b">
                        <a:buFont typeface="+mj-lt"/>
                        <a:buAutoNum type="arabicPeriod"/>
                      </a:pPr>
                      <a:r>
                        <a:rPr lang="en-IN" sz="1000" b="0" i="0" u="none" strike="noStrike" dirty="0">
                          <a:solidFill>
                            <a:srgbClr val="000000"/>
                          </a:solidFill>
                          <a:effectLst/>
                          <a:latin typeface="+mj-lt"/>
                        </a:rPr>
                        <a:t>132 kV: 9 nos.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FY13-FY21</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8943497"/>
                  </a:ext>
                </a:extLst>
              </a:tr>
              <a:tr h="365397">
                <a:tc>
                  <a:txBody>
                    <a:bodyPr/>
                    <a:lstStyle/>
                    <a:p>
                      <a:pPr algn="ctr" fontAlgn="t"/>
                      <a:r>
                        <a:rPr lang="en-US" sz="1000" dirty="0">
                          <a:effectLst/>
                          <a:latin typeface="+mj-lt"/>
                        </a:rPr>
                        <a:t>24</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fontAlgn="t"/>
                      <a:r>
                        <a:rPr lang="en-US" sz="1000">
                          <a:effectLst/>
                          <a:latin typeface="+mj-lt"/>
                        </a:rPr>
                        <a:t>400/230/132 kV Grid Network Development Project</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lgn="l" fontAlgn="t">
                        <a:buFont typeface="Arial" panose="020B0604020202020204" pitchFamily="34" charset="0"/>
                        <a:buChar char="•"/>
                      </a:pPr>
                      <a:r>
                        <a:rPr lang="en-US" sz="1000" dirty="0">
                          <a:effectLst/>
                          <a:latin typeface="+mj-lt"/>
                        </a:rPr>
                        <a:t>To evacuate power from upcoming power plant at </a:t>
                      </a:r>
                      <a:r>
                        <a:rPr lang="en-US" sz="1000" dirty="0" err="1">
                          <a:effectLst/>
                          <a:latin typeface="+mj-lt"/>
                        </a:rPr>
                        <a:t>Ghorasal</a:t>
                      </a:r>
                      <a:r>
                        <a:rPr lang="en-US" sz="1000" dirty="0">
                          <a:effectLst/>
                          <a:latin typeface="+mj-lt"/>
                        </a:rPr>
                        <a:t>.</a:t>
                      </a:r>
                    </a:p>
                    <a:p>
                      <a:pPr marL="171450" indent="-171450" algn="l" fontAlgn="t">
                        <a:buFont typeface="Arial" panose="020B0604020202020204" pitchFamily="34" charset="0"/>
                        <a:buChar char="•"/>
                      </a:pPr>
                      <a:r>
                        <a:rPr lang="en-US" sz="1000" dirty="0">
                          <a:effectLst/>
                          <a:latin typeface="+mj-lt"/>
                        </a:rPr>
                        <a:t>To minimize the overloading of existing </a:t>
                      </a:r>
                      <a:r>
                        <a:rPr lang="en-US" sz="1000" dirty="0" err="1">
                          <a:effectLst/>
                          <a:latin typeface="+mj-lt"/>
                        </a:rPr>
                        <a:t>Tongi-Ghorasal</a:t>
                      </a:r>
                      <a:r>
                        <a:rPr lang="en-US" sz="1000" dirty="0">
                          <a:effectLst/>
                          <a:latin typeface="+mj-lt"/>
                        </a:rPr>
                        <a:t> 230 kV transmission line</a:t>
                      </a:r>
                    </a:p>
                    <a:p>
                      <a:pPr marL="171450" indent="-171450" algn="l" fontAlgn="t">
                        <a:buFont typeface="Arial" panose="020B0604020202020204" pitchFamily="34" charset="0"/>
                        <a:buChar char="•"/>
                      </a:pPr>
                      <a:r>
                        <a:rPr lang="en-US" sz="1000" dirty="0">
                          <a:effectLst/>
                          <a:latin typeface="+mj-lt"/>
                        </a:rPr>
                        <a:t>To meet up upcoming demand of </a:t>
                      </a:r>
                      <a:r>
                        <a:rPr lang="en-US" sz="1000" dirty="0" err="1">
                          <a:effectLst/>
                          <a:latin typeface="+mj-lt"/>
                        </a:rPr>
                        <a:t>Ullon</a:t>
                      </a:r>
                      <a:r>
                        <a:rPr lang="en-US" sz="1000" dirty="0">
                          <a:effectLst/>
                          <a:latin typeface="+mj-lt"/>
                        </a:rPr>
                        <a:t> and </a:t>
                      </a:r>
                      <a:r>
                        <a:rPr lang="en-US" sz="1000" dirty="0" err="1">
                          <a:effectLst/>
                          <a:latin typeface="+mj-lt"/>
                        </a:rPr>
                        <a:t>Dhanmondi</a:t>
                      </a:r>
                      <a:r>
                        <a:rPr lang="en-US" sz="1000" dirty="0">
                          <a:effectLst/>
                          <a:latin typeface="+mj-lt"/>
                        </a:rPr>
                        <a:t> area.</a:t>
                      </a:r>
                    </a:p>
                    <a:p>
                      <a:pPr marL="171450" indent="-171450" algn="l" fontAlgn="t">
                        <a:buFont typeface="Arial" panose="020B0604020202020204" pitchFamily="34" charset="0"/>
                        <a:buChar char="•"/>
                      </a:pPr>
                      <a:r>
                        <a:rPr lang="en-US" sz="1000" dirty="0">
                          <a:effectLst/>
                          <a:latin typeface="+mj-lt"/>
                        </a:rPr>
                        <a:t>To strengthen the power supply stability, reliability &amp; transmission capability in </a:t>
                      </a:r>
                      <a:r>
                        <a:rPr lang="en-US" sz="1000" dirty="0" err="1">
                          <a:effectLst/>
                          <a:latin typeface="+mj-lt"/>
                        </a:rPr>
                        <a:t>Ullon</a:t>
                      </a:r>
                      <a:r>
                        <a:rPr lang="en-US" sz="1000" dirty="0">
                          <a:effectLst/>
                          <a:latin typeface="+mj-lt"/>
                        </a:rPr>
                        <a:t>, </a:t>
                      </a:r>
                      <a:r>
                        <a:rPr lang="en-US" sz="1000" dirty="0" err="1">
                          <a:effectLst/>
                          <a:latin typeface="+mj-lt"/>
                        </a:rPr>
                        <a:t>Dhanmondi</a:t>
                      </a:r>
                      <a:r>
                        <a:rPr lang="en-US" sz="1000" dirty="0">
                          <a:effectLst/>
                          <a:latin typeface="+mj-lt"/>
                        </a:rPr>
                        <a:t> as well as inner of Dhaka city.</a:t>
                      </a:r>
                    </a:p>
                    <a:p>
                      <a:pPr marL="171450" indent="-171450" algn="l" fontAlgn="t">
                        <a:buFont typeface="Arial" panose="020B0604020202020204" pitchFamily="34" charset="0"/>
                        <a:buChar char="•"/>
                      </a:pPr>
                      <a:r>
                        <a:rPr lang="en-US" sz="1000" dirty="0">
                          <a:effectLst/>
                          <a:latin typeface="+mj-lt"/>
                        </a:rPr>
                        <a:t>To relieve the overloaded adjacent substations in different areas of the country</a:t>
                      </a:r>
                    </a:p>
                    <a:p>
                      <a:pPr marL="171450" indent="-171450" algn="l" fontAlgn="t">
                        <a:buFont typeface="Arial" panose="020B0604020202020204" pitchFamily="34" charset="0"/>
                        <a:buChar char="•"/>
                      </a:pPr>
                      <a:r>
                        <a:rPr lang="en-US" sz="1000" dirty="0">
                          <a:effectLst/>
                          <a:latin typeface="+mj-lt"/>
                        </a:rPr>
                        <a:t>To meet up upcoming demand of potential areas.</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228600" indent="-228600" algn="l" fontAlgn="b">
                        <a:buFont typeface="+mj-lt"/>
                        <a:buAutoNum type="arabicPeriod"/>
                      </a:pPr>
                      <a:r>
                        <a:rPr lang="en-IN" sz="1000" b="0" i="0" u="none" strike="noStrike" dirty="0">
                          <a:solidFill>
                            <a:srgbClr val="000000"/>
                          </a:solidFill>
                          <a:effectLst/>
                          <a:latin typeface="+mj-lt"/>
                        </a:rPr>
                        <a:t>230 kV GIS Switching Substation</a:t>
                      </a:r>
                    </a:p>
                    <a:p>
                      <a:pPr marL="228600" indent="-228600" algn="l" fontAlgn="b">
                        <a:buFont typeface="+mj-lt"/>
                        <a:buAutoNum type="arabicPeriod"/>
                      </a:pPr>
                      <a:r>
                        <a:rPr lang="en-IN" sz="1000" b="0" i="0" u="none" strike="noStrike" dirty="0">
                          <a:solidFill>
                            <a:srgbClr val="000000"/>
                          </a:solidFill>
                          <a:effectLst/>
                          <a:latin typeface="+mj-lt"/>
                        </a:rPr>
                        <a:t>230/132 kV Substation (2x300 MVA): 3 nos.</a:t>
                      </a:r>
                    </a:p>
                    <a:p>
                      <a:pPr marL="228600" indent="-228600" algn="l" fontAlgn="b">
                        <a:buFont typeface="+mj-lt"/>
                        <a:buAutoNum type="arabicPeriod"/>
                      </a:pPr>
                      <a:r>
                        <a:rPr lang="en-IN" sz="1000" b="0" i="0" u="none" strike="noStrike" dirty="0">
                          <a:solidFill>
                            <a:srgbClr val="000000"/>
                          </a:solidFill>
                          <a:effectLst/>
                          <a:latin typeface="+mj-lt"/>
                        </a:rPr>
                        <a:t>230/132 kV Substation (3x300 MVA): 1 no</a:t>
                      </a:r>
                    </a:p>
                    <a:p>
                      <a:pPr marL="228600" indent="-228600" algn="l" fontAlgn="b">
                        <a:buFont typeface="+mj-lt"/>
                        <a:buAutoNum type="arabicPeriod"/>
                      </a:pPr>
                      <a:r>
                        <a:rPr lang="en-IN" sz="1000" b="0" i="0" u="none" strike="noStrike" dirty="0">
                          <a:solidFill>
                            <a:srgbClr val="000000"/>
                          </a:solidFill>
                          <a:effectLst/>
                          <a:latin typeface="+mj-lt"/>
                        </a:rPr>
                        <a:t>132/33 kV Substation (2x120 MVA): 1 no</a:t>
                      </a:r>
                    </a:p>
                    <a:p>
                      <a:pPr marL="228600" indent="-228600" algn="l" fontAlgn="b">
                        <a:buFont typeface="+mj-lt"/>
                        <a:buAutoNum type="arabicPeriod"/>
                      </a:pPr>
                      <a:r>
                        <a:rPr lang="en-IN" sz="1000" b="0" i="0" u="none" strike="noStrike" dirty="0">
                          <a:solidFill>
                            <a:srgbClr val="000000"/>
                          </a:solidFill>
                          <a:effectLst/>
                          <a:latin typeface="+mj-lt"/>
                        </a:rPr>
                        <a:t>132/33 kV Substation: 11 nos.</a:t>
                      </a:r>
                    </a:p>
                    <a:p>
                      <a:pPr marL="228600" indent="-228600" algn="l" fontAlgn="b">
                        <a:buFont typeface="+mj-lt"/>
                        <a:buAutoNum type="arabicPeriod"/>
                      </a:pPr>
                      <a:r>
                        <a:rPr lang="en-IN" sz="1000" b="0" i="0" u="none" strike="noStrike" dirty="0">
                          <a:solidFill>
                            <a:srgbClr val="000000"/>
                          </a:solidFill>
                          <a:effectLst/>
                          <a:latin typeface="+mj-lt"/>
                        </a:rPr>
                        <a:t>Construction of 400 kV double circuit line : 28 km</a:t>
                      </a:r>
                    </a:p>
                    <a:p>
                      <a:pPr marL="228600" indent="-228600" algn="l" fontAlgn="b">
                        <a:buFont typeface="+mj-lt"/>
                        <a:buAutoNum type="arabicPeriod"/>
                      </a:pPr>
                      <a:r>
                        <a:rPr lang="en-IN" sz="1000" b="0" i="0" u="none" strike="noStrike" dirty="0">
                          <a:solidFill>
                            <a:srgbClr val="000000"/>
                          </a:solidFill>
                          <a:effectLst/>
                          <a:latin typeface="+mj-lt"/>
                        </a:rPr>
                        <a:t>Construction of 132 kV line: 358 Ckt.km.</a:t>
                      </a:r>
                    </a:p>
                    <a:p>
                      <a:pPr marL="228600" indent="-228600" algn="l" fontAlgn="b">
                        <a:buFont typeface="+mj-lt"/>
                        <a:buAutoNum type="arabicPeriod"/>
                      </a:pPr>
                      <a:r>
                        <a:rPr lang="en-IN" sz="1000" b="0" i="0" u="none" strike="noStrike" dirty="0">
                          <a:solidFill>
                            <a:srgbClr val="000000"/>
                          </a:solidFill>
                          <a:effectLst/>
                          <a:latin typeface="+mj-lt"/>
                        </a:rPr>
                        <a:t>Construction of 230 kV line: 62.6 Ckt.km.</a:t>
                      </a:r>
                    </a:p>
                    <a:p>
                      <a:pPr marL="228600" indent="-228600" algn="l" fontAlgn="b">
                        <a:buFont typeface="+mj-lt"/>
                        <a:buAutoNum type="arabicPeriod"/>
                      </a:pPr>
                      <a:r>
                        <a:rPr lang="en-IN" sz="1000" b="0" i="0" u="none" strike="noStrike" dirty="0">
                          <a:solidFill>
                            <a:srgbClr val="000000"/>
                          </a:solidFill>
                          <a:effectLst/>
                          <a:latin typeface="+mj-lt"/>
                        </a:rPr>
                        <a:t>Re-</a:t>
                      </a:r>
                      <a:r>
                        <a:rPr lang="en-IN" sz="1000" b="0" i="0" u="none" strike="noStrike" dirty="0" err="1">
                          <a:solidFill>
                            <a:srgbClr val="000000"/>
                          </a:solidFill>
                          <a:effectLst/>
                          <a:latin typeface="+mj-lt"/>
                        </a:rPr>
                        <a:t>conductoring</a:t>
                      </a:r>
                      <a:r>
                        <a:rPr lang="en-IN" sz="1000" b="0" i="0" u="none" strike="noStrike" dirty="0">
                          <a:solidFill>
                            <a:srgbClr val="000000"/>
                          </a:solidFill>
                          <a:effectLst/>
                          <a:latin typeface="+mj-lt"/>
                        </a:rPr>
                        <a:t> of 230 kV line: 54 ckt.km</a:t>
                      </a:r>
                    </a:p>
                    <a:p>
                      <a:pPr marL="228600" indent="-228600" algn="l" fontAlgn="b">
                        <a:buFont typeface="+mj-lt"/>
                        <a:buAutoNum type="arabicPeriod"/>
                      </a:pPr>
                      <a:r>
                        <a:rPr lang="en-IN" sz="1000" b="0" i="0" u="none" strike="noStrike" dirty="0">
                          <a:solidFill>
                            <a:srgbClr val="000000"/>
                          </a:solidFill>
                          <a:effectLst/>
                          <a:latin typeface="+mj-lt"/>
                        </a:rPr>
                        <a:t>132/33 kV SS Renovation: 3 nos.</a:t>
                      </a:r>
                    </a:p>
                    <a:p>
                      <a:pPr marL="228600" indent="-228600" algn="l" fontAlgn="b">
                        <a:buFont typeface="+mj-lt"/>
                        <a:buAutoNum type="arabicPeriod"/>
                      </a:pPr>
                      <a:r>
                        <a:rPr lang="en-IN" sz="1000" b="0" i="0" u="none" strike="noStrike" dirty="0">
                          <a:solidFill>
                            <a:srgbClr val="000000"/>
                          </a:solidFill>
                          <a:effectLst/>
                          <a:latin typeface="+mj-lt"/>
                        </a:rPr>
                        <a:t>132 kV bay Extension: 4 nos.</a:t>
                      </a:r>
                    </a:p>
                    <a:p>
                      <a:pPr marL="228600" indent="-228600" algn="l" fontAlgn="b">
                        <a:buFont typeface="+mj-lt"/>
                        <a:buAutoNum type="arabicPeriod"/>
                      </a:pPr>
                      <a:r>
                        <a:rPr lang="en-IN" sz="1000" b="0" i="0" u="none" strike="noStrike" dirty="0">
                          <a:solidFill>
                            <a:srgbClr val="000000"/>
                          </a:solidFill>
                          <a:effectLst/>
                          <a:latin typeface="+mj-lt"/>
                        </a:rPr>
                        <a:t>230 kV bay Extension: 6 </a:t>
                      </a:r>
                      <a:r>
                        <a:rPr lang="en-IN" sz="1000" b="0" i="0" u="none" strike="noStrike" dirty="0" err="1">
                          <a:solidFill>
                            <a:srgbClr val="000000"/>
                          </a:solidFill>
                          <a:effectLst/>
                          <a:latin typeface="+mj-lt"/>
                        </a:rPr>
                        <a:t>nos</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FY14-FY21</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93723067"/>
                  </a:ext>
                </a:extLst>
              </a:tr>
            </a:tbl>
          </a:graphicData>
        </a:graphic>
      </p:graphicFrame>
      <p:sp>
        <p:nvSpPr>
          <p:cNvPr id="7" name="Rectangle 6"/>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PGCB, Deloitte Analysis</a:t>
            </a:r>
          </a:p>
        </p:txBody>
      </p:sp>
    </p:spTree>
    <p:extLst>
      <p:ext uri="{BB962C8B-B14F-4D97-AF65-F5344CB8AC3E}">
        <p14:creationId xmlns:p14="http://schemas.microsoft.com/office/powerpoint/2010/main" val="2909770228"/>
      </p:ext>
    </p:extLst>
  </p:cSld>
  <p:clrMapOvr>
    <a:masterClrMapping/>
  </p:clrMapOvr>
  <p:transition>
    <p:fade/>
  </p:transition>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329521162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5" name="Object 4"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Annexure G | Electricity Transmission | Ongoing Development Projects</a:t>
            </a:r>
            <a:endParaRPr lang="en-IN" dirty="0"/>
          </a:p>
        </p:txBody>
      </p:sp>
      <p:sp>
        <p:nvSpPr>
          <p:cNvPr id="3"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Currently, ~25 major transmission projects are under implementation </a:t>
            </a:r>
          </a:p>
        </p:txBody>
      </p:sp>
      <p:graphicFrame>
        <p:nvGraphicFramePr>
          <p:cNvPr id="6" name="Table 5"/>
          <p:cNvGraphicFramePr>
            <a:graphicFrameLocks noGrp="1"/>
          </p:cNvGraphicFramePr>
          <p:nvPr/>
        </p:nvGraphicFramePr>
        <p:xfrm>
          <a:off x="449261" y="1598375"/>
          <a:ext cx="9791702" cy="4297680"/>
        </p:xfrm>
        <a:graphic>
          <a:graphicData uri="http://schemas.openxmlformats.org/drawingml/2006/table">
            <a:tbl>
              <a:tblPr firstRow="1">
                <a:tableStyleId>{3B4B98B0-60AC-42C2-AFA5-B58CD77FA1E5}</a:tableStyleId>
              </a:tblPr>
              <a:tblGrid>
                <a:gridCol w="424805">
                  <a:extLst>
                    <a:ext uri="{9D8B030D-6E8A-4147-A177-3AD203B41FA5}">
                      <a16:colId xmlns:a16="http://schemas.microsoft.com/office/drawing/2014/main" val="840296419"/>
                    </a:ext>
                  </a:extLst>
                </a:gridCol>
                <a:gridCol w="1868874">
                  <a:extLst>
                    <a:ext uri="{9D8B030D-6E8A-4147-A177-3AD203B41FA5}">
                      <a16:colId xmlns:a16="http://schemas.microsoft.com/office/drawing/2014/main" val="4215697382"/>
                    </a:ext>
                  </a:extLst>
                </a:gridCol>
                <a:gridCol w="2707382">
                  <a:extLst>
                    <a:ext uri="{9D8B030D-6E8A-4147-A177-3AD203B41FA5}">
                      <a16:colId xmlns:a16="http://schemas.microsoft.com/office/drawing/2014/main" val="2539929000"/>
                    </a:ext>
                  </a:extLst>
                </a:gridCol>
                <a:gridCol w="3852704">
                  <a:extLst>
                    <a:ext uri="{9D8B030D-6E8A-4147-A177-3AD203B41FA5}">
                      <a16:colId xmlns:a16="http://schemas.microsoft.com/office/drawing/2014/main" val="2067057095"/>
                    </a:ext>
                  </a:extLst>
                </a:gridCol>
                <a:gridCol w="937937">
                  <a:extLst>
                    <a:ext uri="{9D8B030D-6E8A-4147-A177-3AD203B41FA5}">
                      <a16:colId xmlns:a16="http://schemas.microsoft.com/office/drawing/2014/main" val="3422243030"/>
                    </a:ext>
                  </a:extLst>
                </a:gridCol>
              </a:tblGrid>
              <a:tr h="365397">
                <a:tc>
                  <a:txBody>
                    <a:bodyPr/>
                    <a:lstStyle/>
                    <a:p>
                      <a:pPr algn="l" fontAlgn="b"/>
                      <a:r>
                        <a:rPr lang="en-IN" sz="1000" u="none" strike="noStrike" dirty="0">
                          <a:effectLst/>
                          <a:latin typeface="+mj-lt"/>
                        </a:rPr>
                        <a:t>Sr. No</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latin typeface="+mj-lt"/>
                        </a:rPr>
                        <a:t>Project</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b="1" i="0" u="none" strike="noStrike" dirty="0">
                          <a:solidFill>
                            <a:srgbClr val="000000"/>
                          </a:solidFill>
                          <a:effectLst/>
                          <a:latin typeface="+mj-lt"/>
                        </a:rPr>
                        <a:t>Objective</a:t>
                      </a:r>
                      <a:endParaRPr lang="en-IN" sz="1000" b="1"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latin typeface="+mj-lt"/>
                        </a:rPr>
                        <a:t>Scope</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u="none" strike="noStrike" dirty="0">
                          <a:effectLst/>
                          <a:latin typeface="+mj-lt"/>
                        </a:rPr>
                        <a:t>Period</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163140"/>
                  </a:ext>
                </a:extLst>
              </a:tr>
              <a:tr h="365397">
                <a:tc>
                  <a:txBody>
                    <a:bodyPr/>
                    <a:lstStyle/>
                    <a:p>
                      <a:pPr algn="ctr" fontAlgn="t"/>
                      <a:r>
                        <a:rPr lang="en-US" sz="1000" dirty="0">
                          <a:effectLst/>
                          <a:latin typeface="+mj-lt"/>
                        </a:rPr>
                        <a:t>25</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fontAlgn="t"/>
                      <a:r>
                        <a:rPr lang="en-US" sz="1000">
                          <a:effectLst/>
                          <a:latin typeface="+mj-lt"/>
                        </a:rPr>
                        <a:t>Enhancement of Capacity of Grid Substations and Transmission Lines for Rural Electrification.</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buFont typeface="Arial" panose="020B0604020202020204" pitchFamily="34" charset="0"/>
                        <a:buChar char="•"/>
                      </a:pPr>
                      <a:r>
                        <a:rPr lang="en-US" sz="1000" dirty="0">
                          <a:latin typeface="+mj-lt"/>
                        </a:rPr>
                        <a:t>To enhance the capacity of existing 132/33 kV substation;</a:t>
                      </a:r>
                    </a:p>
                    <a:p>
                      <a:pPr marL="171450" indent="-171450">
                        <a:buFont typeface="Arial" panose="020B0604020202020204" pitchFamily="34" charset="0"/>
                        <a:buChar char="•"/>
                      </a:pPr>
                      <a:r>
                        <a:rPr lang="en-US" sz="1000" dirty="0">
                          <a:latin typeface="+mj-lt"/>
                        </a:rPr>
                        <a:t>To increase reliability of power supply at Dhaka area and</a:t>
                      </a:r>
                    </a:p>
                    <a:p>
                      <a:pPr marL="171450" indent="-171450">
                        <a:buFont typeface="Arial" panose="020B0604020202020204" pitchFamily="34" charset="0"/>
                        <a:buChar char="•"/>
                      </a:pPr>
                      <a:r>
                        <a:rPr lang="en-US" sz="1000" dirty="0">
                          <a:latin typeface="+mj-lt"/>
                        </a:rPr>
                        <a:t>Renovation /Up-gradation of some existing transmission lines.</a:t>
                      </a:r>
                      <a:endParaRPr lang="en-IN" sz="1000" dirty="0">
                        <a:latin typeface="+mj-lt"/>
                      </a:endParaRP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228600" indent="-228600" algn="l" fontAlgn="b">
                        <a:buFont typeface="+mj-lt"/>
                        <a:buAutoNum type="arabicPeriod"/>
                      </a:pPr>
                      <a:r>
                        <a:rPr lang="en-IN" sz="1000" b="0" i="0" u="none" strike="noStrike" dirty="0">
                          <a:solidFill>
                            <a:srgbClr val="000000"/>
                          </a:solidFill>
                          <a:effectLst/>
                          <a:latin typeface="+mj-lt"/>
                        </a:rPr>
                        <a:t>132 kV double circuit line : 40 km</a:t>
                      </a:r>
                    </a:p>
                    <a:p>
                      <a:pPr marL="228600" indent="-228600" algn="l" fontAlgn="b">
                        <a:buFont typeface="+mj-lt"/>
                        <a:buAutoNum type="arabicPeriod"/>
                      </a:pPr>
                      <a:r>
                        <a:rPr lang="en-IN" sz="1000" b="0" i="0" u="none" strike="noStrike" dirty="0">
                          <a:solidFill>
                            <a:srgbClr val="000000"/>
                          </a:solidFill>
                          <a:effectLst/>
                          <a:latin typeface="+mj-lt"/>
                        </a:rPr>
                        <a:t>132 kV single circuit line on double circuit tower : 60 km</a:t>
                      </a:r>
                    </a:p>
                    <a:p>
                      <a:pPr marL="228600" indent="-228600" algn="l" fontAlgn="b">
                        <a:buFont typeface="+mj-lt"/>
                        <a:buAutoNum type="arabicPeriod"/>
                      </a:pPr>
                      <a:r>
                        <a:rPr lang="en-IN" sz="1000" b="0" i="0" u="none" strike="noStrike" dirty="0">
                          <a:solidFill>
                            <a:srgbClr val="000000"/>
                          </a:solidFill>
                          <a:effectLst/>
                          <a:latin typeface="+mj-lt"/>
                        </a:rPr>
                        <a:t>230 kV double circuit In-Out Line at proposed 230/132/33 kV Substation : 1 km</a:t>
                      </a:r>
                    </a:p>
                    <a:p>
                      <a:pPr marL="228600" indent="-228600" algn="l" fontAlgn="b">
                        <a:buFont typeface="+mj-lt"/>
                        <a:buAutoNum type="arabicPeriod"/>
                      </a:pPr>
                      <a:r>
                        <a:rPr lang="en-IN" sz="1000" b="0" i="0" u="none" strike="noStrike" dirty="0">
                          <a:solidFill>
                            <a:srgbClr val="000000"/>
                          </a:solidFill>
                          <a:effectLst/>
                          <a:latin typeface="+mj-lt"/>
                        </a:rPr>
                        <a:t>Four circuit Interconnecting 132kV line with existing line to connect proposed 230/132/33 kV Substation : 3.5 km</a:t>
                      </a:r>
                    </a:p>
                    <a:p>
                      <a:pPr marL="228600" indent="-228600" algn="l" fontAlgn="b">
                        <a:buFont typeface="+mj-lt"/>
                        <a:buAutoNum type="arabicPeriod"/>
                      </a:pPr>
                      <a:r>
                        <a:rPr lang="en-IN" sz="1000" b="0" i="0" u="none" strike="noStrike" dirty="0">
                          <a:solidFill>
                            <a:srgbClr val="000000"/>
                          </a:solidFill>
                          <a:effectLst/>
                          <a:latin typeface="+mj-lt"/>
                        </a:rPr>
                        <a:t>132 kV Double Circuit In-Out Line at proposed 132/33 kV Substation : 2 km</a:t>
                      </a:r>
                    </a:p>
                    <a:p>
                      <a:pPr marL="228600" indent="-228600" algn="l" fontAlgn="b">
                        <a:buFont typeface="+mj-lt"/>
                        <a:buAutoNum type="arabicPeriod"/>
                      </a:pPr>
                      <a:r>
                        <a:rPr lang="en-IN" sz="1000" b="0" i="0" u="none" strike="noStrike" dirty="0">
                          <a:solidFill>
                            <a:srgbClr val="000000"/>
                          </a:solidFill>
                          <a:effectLst/>
                          <a:latin typeface="+mj-lt"/>
                        </a:rPr>
                        <a:t>Existing 132 kV Four Circuit Line Re-routing at new 230/132 kV Substation : 2 km</a:t>
                      </a:r>
                    </a:p>
                    <a:p>
                      <a:pPr marL="228600" indent="-228600" algn="l" fontAlgn="b">
                        <a:buFont typeface="+mj-lt"/>
                        <a:buAutoNum type="arabicPeriod"/>
                      </a:pPr>
                      <a:r>
                        <a:rPr lang="en-IN" sz="1000" b="0" i="0" u="none" strike="noStrike" dirty="0">
                          <a:solidFill>
                            <a:srgbClr val="000000"/>
                          </a:solidFill>
                          <a:effectLst/>
                          <a:latin typeface="+mj-lt"/>
                        </a:rPr>
                        <a:t>230/132/33 kV Substation with 3x300 MVA transformer and 2x75 MVA transformers</a:t>
                      </a:r>
                    </a:p>
                    <a:p>
                      <a:pPr marL="228600" indent="-228600" algn="l" fontAlgn="b">
                        <a:buFont typeface="+mj-lt"/>
                        <a:buAutoNum type="arabicPeriod"/>
                      </a:pPr>
                      <a:r>
                        <a:rPr lang="en-IN" sz="1000" b="0" i="0" u="none" strike="noStrike" dirty="0">
                          <a:solidFill>
                            <a:srgbClr val="000000"/>
                          </a:solidFill>
                          <a:effectLst/>
                          <a:latin typeface="+mj-lt"/>
                        </a:rPr>
                        <a:t>132/33 kV substation with 2×75 MVA transformer</a:t>
                      </a:r>
                    </a:p>
                    <a:p>
                      <a:pPr marL="228600" indent="-228600" algn="l" fontAlgn="b">
                        <a:buFont typeface="+mj-lt"/>
                        <a:buAutoNum type="arabicPeriod"/>
                      </a:pPr>
                      <a:r>
                        <a:rPr lang="en-IN" sz="1000" b="0" i="0" u="none" strike="noStrike" dirty="0">
                          <a:solidFill>
                            <a:srgbClr val="000000"/>
                          </a:solidFill>
                          <a:effectLst/>
                          <a:latin typeface="+mj-lt"/>
                        </a:rPr>
                        <a:t>132/33 kV substation with 2×41 MVA transformer: 3 nos.</a:t>
                      </a:r>
                    </a:p>
                    <a:p>
                      <a:pPr marL="228600" indent="-228600" algn="l" fontAlgn="b">
                        <a:buFont typeface="+mj-lt"/>
                        <a:buAutoNum type="arabicPeriod"/>
                      </a:pPr>
                      <a:r>
                        <a:rPr lang="en-IN" sz="1000" b="0" i="0" u="none" strike="noStrike" dirty="0">
                          <a:solidFill>
                            <a:srgbClr val="000000"/>
                          </a:solidFill>
                          <a:effectLst/>
                          <a:latin typeface="+mj-lt"/>
                        </a:rPr>
                        <a:t>132/33 kV substation with 2×75 MVA transformer</a:t>
                      </a:r>
                    </a:p>
                    <a:p>
                      <a:pPr marL="228600" indent="-228600" algn="l" fontAlgn="b">
                        <a:buFont typeface="+mj-lt"/>
                        <a:buAutoNum type="arabicPeriod"/>
                      </a:pPr>
                      <a:r>
                        <a:rPr lang="en-IN" sz="1000" b="0" i="0" u="none" strike="noStrike" dirty="0">
                          <a:solidFill>
                            <a:srgbClr val="000000"/>
                          </a:solidFill>
                          <a:effectLst/>
                          <a:latin typeface="+mj-lt"/>
                        </a:rPr>
                        <a:t>2x75 MVA 3 phase power transformer at 132/33 kV Substation: 5 nos.</a:t>
                      </a:r>
                    </a:p>
                    <a:p>
                      <a:pPr marL="228600" indent="-228600" algn="l" fontAlgn="b">
                        <a:buFont typeface="+mj-lt"/>
                        <a:buAutoNum type="arabicPeriod"/>
                      </a:pPr>
                      <a:r>
                        <a:rPr lang="en-IN" sz="1000" b="0" i="0" u="none" strike="noStrike" dirty="0">
                          <a:solidFill>
                            <a:srgbClr val="000000"/>
                          </a:solidFill>
                          <a:effectLst/>
                          <a:latin typeface="+mj-lt"/>
                        </a:rPr>
                        <a:t>Re-</a:t>
                      </a:r>
                      <a:r>
                        <a:rPr lang="en-IN" sz="1000" b="0" i="0" u="none" strike="noStrike" dirty="0" err="1">
                          <a:solidFill>
                            <a:srgbClr val="000000"/>
                          </a:solidFill>
                          <a:effectLst/>
                          <a:latin typeface="+mj-lt"/>
                        </a:rPr>
                        <a:t>conductoring</a:t>
                      </a:r>
                      <a:r>
                        <a:rPr lang="en-IN" sz="1000" b="0" i="0" u="none" strike="noStrike" dirty="0">
                          <a:solidFill>
                            <a:srgbClr val="000000"/>
                          </a:solidFill>
                          <a:effectLst/>
                          <a:latin typeface="+mj-lt"/>
                        </a:rPr>
                        <a:t> of 132 kV double circuit line : 229 km</a:t>
                      </a:r>
                    </a:p>
                    <a:p>
                      <a:pPr marL="228600" indent="-228600" algn="l" fontAlgn="b">
                        <a:buFont typeface="+mj-lt"/>
                        <a:buAutoNum type="arabicPeriod"/>
                      </a:pPr>
                      <a:r>
                        <a:rPr lang="en-IN" sz="1000" b="0" i="0" u="none" strike="noStrike" dirty="0">
                          <a:solidFill>
                            <a:srgbClr val="000000"/>
                          </a:solidFill>
                          <a:effectLst/>
                          <a:latin typeface="+mj-lt"/>
                        </a:rPr>
                        <a:t>132 kV single circuit stringing of existing 132 kV line : 51 km</a:t>
                      </a:r>
                    </a:p>
                    <a:p>
                      <a:pPr marL="228600" indent="-228600" algn="l" fontAlgn="b">
                        <a:buFont typeface="+mj-lt"/>
                        <a:buAutoNum type="arabicPeriod"/>
                      </a:pPr>
                      <a:r>
                        <a:rPr lang="en-IN" sz="1000" b="0" i="0" u="none" strike="noStrike" dirty="0">
                          <a:solidFill>
                            <a:srgbClr val="000000"/>
                          </a:solidFill>
                          <a:effectLst/>
                          <a:latin typeface="+mj-lt"/>
                        </a:rPr>
                        <a:t>Bay Extension : 6 nos.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FY15-FY21</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4440811"/>
                  </a:ext>
                </a:extLst>
              </a:tr>
            </a:tbl>
          </a:graphicData>
        </a:graphic>
      </p:graphicFrame>
      <p:sp>
        <p:nvSpPr>
          <p:cNvPr id="7" name="Rectangle 6"/>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PGCB, Deloitte Analysis</a:t>
            </a:r>
          </a:p>
        </p:txBody>
      </p:sp>
    </p:spTree>
    <p:extLst>
      <p:ext uri="{BB962C8B-B14F-4D97-AF65-F5344CB8AC3E}">
        <p14:creationId xmlns:p14="http://schemas.microsoft.com/office/powerpoint/2010/main" val="2941922194"/>
      </p:ext>
    </p:extLst>
  </p:cSld>
  <p:clrMapOvr>
    <a:masterClrMapping/>
  </p:clrMapOvr>
  <p:transition>
    <p:fade/>
  </p:transition>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137605994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5" name="Object 4"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defRPr/>
            </a:pPr>
            <a:endParaRPr kumimoji="0" lang="en-US" sz="2000" u="none" strike="noStrike" kern="1200" cap="none" spc="0" normalizeH="0" noProof="0" dirty="0">
              <a:ln>
                <a:noFill/>
              </a:ln>
              <a:solidFill>
                <a:prstClr val="white"/>
              </a:solidFill>
              <a:effectLst/>
              <a:uLnTx/>
              <a:uFillTx/>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dirty="0"/>
              <a:t>Annexure H | Electricity Transmission | Planned Projects</a:t>
            </a:r>
            <a:endParaRPr lang="en-IN" dirty="0"/>
          </a:p>
        </p:txBody>
      </p:sp>
      <p:sp>
        <p:nvSpPr>
          <p:cNvPr id="3"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rPr>
              <a:t>~5 major transmission projects are planned by 2024</a:t>
            </a:r>
          </a:p>
        </p:txBody>
      </p:sp>
      <p:graphicFrame>
        <p:nvGraphicFramePr>
          <p:cNvPr id="6" name="Table 5"/>
          <p:cNvGraphicFramePr>
            <a:graphicFrameLocks noGrp="1"/>
          </p:cNvGraphicFramePr>
          <p:nvPr/>
        </p:nvGraphicFramePr>
        <p:xfrm>
          <a:off x="449261" y="1598375"/>
          <a:ext cx="9791702" cy="5303520"/>
        </p:xfrm>
        <a:graphic>
          <a:graphicData uri="http://schemas.openxmlformats.org/drawingml/2006/table">
            <a:tbl>
              <a:tblPr firstRow="1">
                <a:tableStyleId>{3B4B98B0-60AC-42C2-AFA5-B58CD77FA1E5}</a:tableStyleId>
              </a:tblPr>
              <a:tblGrid>
                <a:gridCol w="424805">
                  <a:extLst>
                    <a:ext uri="{9D8B030D-6E8A-4147-A177-3AD203B41FA5}">
                      <a16:colId xmlns:a16="http://schemas.microsoft.com/office/drawing/2014/main" val="840296419"/>
                    </a:ext>
                  </a:extLst>
                </a:gridCol>
                <a:gridCol w="1868874">
                  <a:extLst>
                    <a:ext uri="{9D8B030D-6E8A-4147-A177-3AD203B41FA5}">
                      <a16:colId xmlns:a16="http://schemas.microsoft.com/office/drawing/2014/main" val="4215697382"/>
                    </a:ext>
                  </a:extLst>
                </a:gridCol>
                <a:gridCol w="2707382">
                  <a:extLst>
                    <a:ext uri="{9D8B030D-6E8A-4147-A177-3AD203B41FA5}">
                      <a16:colId xmlns:a16="http://schemas.microsoft.com/office/drawing/2014/main" val="2539929000"/>
                    </a:ext>
                  </a:extLst>
                </a:gridCol>
                <a:gridCol w="3852704">
                  <a:extLst>
                    <a:ext uri="{9D8B030D-6E8A-4147-A177-3AD203B41FA5}">
                      <a16:colId xmlns:a16="http://schemas.microsoft.com/office/drawing/2014/main" val="2067057095"/>
                    </a:ext>
                  </a:extLst>
                </a:gridCol>
                <a:gridCol w="937937">
                  <a:extLst>
                    <a:ext uri="{9D8B030D-6E8A-4147-A177-3AD203B41FA5}">
                      <a16:colId xmlns:a16="http://schemas.microsoft.com/office/drawing/2014/main" val="3422243030"/>
                    </a:ext>
                  </a:extLst>
                </a:gridCol>
              </a:tblGrid>
              <a:tr h="365397">
                <a:tc>
                  <a:txBody>
                    <a:bodyPr/>
                    <a:lstStyle/>
                    <a:p>
                      <a:pPr algn="l" fontAlgn="b"/>
                      <a:r>
                        <a:rPr lang="en-IN" sz="1000" u="none" strike="noStrike" dirty="0">
                          <a:effectLst/>
                          <a:latin typeface="+mj-lt"/>
                        </a:rPr>
                        <a:t>Sr. No</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latin typeface="+mj-lt"/>
                        </a:rPr>
                        <a:t>Project</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b="1" i="0" u="none" strike="noStrike" dirty="0">
                          <a:solidFill>
                            <a:srgbClr val="000000"/>
                          </a:solidFill>
                          <a:effectLst/>
                          <a:latin typeface="+mj-lt"/>
                        </a:rPr>
                        <a:t>Objective</a:t>
                      </a:r>
                      <a:endParaRPr lang="en-IN" sz="1000" b="1"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IN" sz="1000" u="none" strike="noStrike" dirty="0">
                          <a:effectLst/>
                          <a:latin typeface="+mj-lt"/>
                        </a:rPr>
                        <a:t>Scope</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tc>
                  <a:txBody>
                    <a:bodyPr/>
                    <a:lstStyle/>
                    <a:p>
                      <a:pPr algn="l" fontAlgn="b"/>
                      <a:r>
                        <a:rPr lang="en-US" sz="1000" u="none" strike="noStrike" dirty="0">
                          <a:effectLst/>
                          <a:latin typeface="+mj-lt"/>
                        </a:rPr>
                        <a:t>Period</a:t>
                      </a:r>
                      <a:endParaRPr lang="en-IN" sz="1000" b="0" i="0" u="none" strike="noStrike" dirty="0">
                        <a:solidFill>
                          <a:srgbClr val="000000"/>
                        </a:solidFill>
                        <a:effectLst/>
                        <a:latin typeface="+mj-lt"/>
                      </a:endParaRPr>
                    </a:p>
                  </a:txBody>
                  <a:tcPr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163140"/>
                  </a:ext>
                </a:extLst>
              </a:tr>
              <a:tr h="365397">
                <a:tc>
                  <a:txBody>
                    <a:bodyPr/>
                    <a:lstStyle/>
                    <a:p>
                      <a:pPr algn="ctr" fontAlgn="t"/>
                      <a:r>
                        <a:rPr lang="en-US" sz="1000" dirty="0">
                          <a:effectLst/>
                          <a:latin typeface="+mj-lt"/>
                        </a:rPr>
                        <a:t>1</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fontAlgn="t"/>
                      <a:r>
                        <a:rPr lang="en-US" sz="1000" dirty="0">
                          <a:effectLst/>
                          <a:latin typeface="+mj-lt"/>
                        </a:rPr>
                        <a:t>Renovation and Capacity Enhancement of Existing Grid Substations and Transmission Lines</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buFont typeface="Arial" panose="020B0604020202020204" pitchFamily="34" charset="0"/>
                        <a:buChar char="•"/>
                      </a:pPr>
                      <a:r>
                        <a:rPr lang="en-US" sz="1000" dirty="0">
                          <a:latin typeface="+mj-lt"/>
                        </a:rPr>
                        <a:t>Upgrading the capacity of existing substations, installing capacitor banks, </a:t>
                      </a:r>
                      <a:r>
                        <a:rPr lang="en-US" sz="1000" dirty="0" err="1">
                          <a:latin typeface="+mj-lt"/>
                        </a:rPr>
                        <a:t>reconductoring</a:t>
                      </a:r>
                      <a:r>
                        <a:rPr lang="en-US" sz="1000" dirty="0">
                          <a:latin typeface="+mj-lt"/>
                        </a:rPr>
                        <a:t> and second circuit stringing of existing transmission lines.</a:t>
                      </a:r>
                      <a:endParaRPr lang="en-IN" sz="1000" dirty="0">
                        <a:latin typeface="+mj-lt"/>
                      </a:endParaRP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228600" indent="-228600" algn="l" fontAlgn="b">
                        <a:buFont typeface="+mj-lt"/>
                        <a:buAutoNum type="arabicPeriod"/>
                      </a:pPr>
                      <a:r>
                        <a:rPr lang="en-IN" sz="1000" b="0" i="0" u="none" strike="noStrike" dirty="0">
                          <a:solidFill>
                            <a:srgbClr val="000000"/>
                          </a:solidFill>
                          <a:effectLst/>
                          <a:latin typeface="+mj-lt"/>
                        </a:rPr>
                        <a:t>Capacity Upgradation of Existing Substations: 18 </a:t>
                      </a:r>
                      <a:r>
                        <a:rPr lang="en-IN" sz="1000" b="0" i="0" u="none" strike="noStrike" dirty="0" err="1">
                          <a:solidFill>
                            <a:srgbClr val="000000"/>
                          </a:solidFill>
                          <a:effectLst/>
                          <a:latin typeface="+mj-lt"/>
                        </a:rPr>
                        <a:t>nos</a:t>
                      </a:r>
                      <a:endParaRPr lang="en-IN" sz="1000" b="0" i="0" u="none" strike="noStrike" dirty="0">
                        <a:solidFill>
                          <a:srgbClr val="000000"/>
                        </a:solidFill>
                        <a:effectLst/>
                        <a:latin typeface="+mj-lt"/>
                      </a:endParaRPr>
                    </a:p>
                    <a:p>
                      <a:pPr marL="228600" indent="-228600" algn="l" fontAlgn="b">
                        <a:buFont typeface="+mj-lt"/>
                        <a:buAutoNum type="arabicPeriod"/>
                      </a:pPr>
                      <a:r>
                        <a:rPr lang="en-IN" sz="1000" b="0" i="0" u="none" strike="noStrike" dirty="0">
                          <a:solidFill>
                            <a:srgbClr val="000000"/>
                          </a:solidFill>
                          <a:effectLst/>
                          <a:latin typeface="+mj-lt"/>
                        </a:rPr>
                        <a:t>Capacitor Bank at 33 kV</a:t>
                      </a:r>
                    </a:p>
                    <a:p>
                      <a:pPr marL="228600" indent="-228600" algn="l" fontAlgn="b">
                        <a:buFont typeface="+mj-lt"/>
                        <a:buAutoNum type="arabicPeriod"/>
                      </a:pPr>
                      <a:r>
                        <a:rPr lang="en-IN" sz="1000" b="0" i="0" u="none" strike="noStrike" dirty="0" err="1">
                          <a:solidFill>
                            <a:srgbClr val="000000"/>
                          </a:solidFill>
                          <a:effectLst/>
                          <a:latin typeface="+mj-lt"/>
                        </a:rPr>
                        <a:t>Reconductoring</a:t>
                      </a:r>
                      <a:r>
                        <a:rPr lang="en-IN" sz="1000" b="0" i="0" u="none" strike="noStrike" dirty="0">
                          <a:solidFill>
                            <a:srgbClr val="000000"/>
                          </a:solidFill>
                          <a:effectLst/>
                          <a:latin typeface="+mj-lt"/>
                        </a:rPr>
                        <a:t> of Existing 132 kV Transmission Line: 199 km</a:t>
                      </a:r>
                    </a:p>
                    <a:p>
                      <a:pPr marL="228600" indent="-228600" algn="l" fontAlgn="b">
                        <a:buFont typeface="+mj-lt"/>
                        <a:buAutoNum type="arabicPeriod"/>
                      </a:pPr>
                      <a:r>
                        <a:rPr lang="en-IN" sz="1000" b="0" i="0" u="none" strike="noStrike" dirty="0">
                          <a:solidFill>
                            <a:srgbClr val="000000"/>
                          </a:solidFill>
                          <a:effectLst/>
                          <a:latin typeface="+mj-lt"/>
                        </a:rPr>
                        <a:t>Second Circuit Stringing of 132 kV Transmission Lines: 40 km</a:t>
                      </a:r>
                    </a:p>
                    <a:p>
                      <a:pPr marL="228600" indent="-228600" algn="l" fontAlgn="b">
                        <a:buFont typeface="+mj-lt"/>
                        <a:buAutoNum type="arabicPeriod"/>
                      </a:pPr>
                      <a:r>
                        <a:rPr lang="en-IN" sz="1000" b="0" i="0" u="none" strike="noStrike" dirty="0">
                          <a:solidFill>
                            <a:srgbClr val="000000"/>
                          </a:solidFill>
                          <a:effectLst/>
                          <a:latin typeface="+mj-lt"/>
                        </a:rPr>
                        <a:t>132 kV new Transmission Line: 6 km</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FY20-FY23</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3838680"/>
                  </a:ext>
                </a:extLst>
              </a:tr>
              <a:tr h="365397">
                <a:tc>
                  <a:txBody>
                    <a:bodyPr/>
                    <a:lstStyle/>
                    <a:p>
                      <a:pPr algn="ctr" fontAlgn="t"/>
                      <a:r>
                        <a:rPr lang="en-US" sz="1000" dirty="0">
                          <a:effectLst/>
                          <a:latin typeface="+mj-lt"/>
                        </a:rPr>
                        <a:t>2</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fontAlgn="t"/>
                      <a:r>
                        <a:rPr lang="en-US" sz="1000" dirty="0">
                          <a:effectLst/>
                          <a:latin typeface="+mj-lt"/>
                        </a:rPr>
                        <a:t>Construction of Payra - </a:t>
                      </a:r>
                      <a:r>
                        <a:rPr lang="en-US" sz="1000" dirty="0" err="1">
                          <a:effectLst/>
                          <a:latin typeface="+mj-lt"/>
                        </a:rPr>
                        <a:t>Gopalganj</a:t>
                      </a:r>
                      <a:r>
                        <a:rPr lang="en-US" sz="1000" dirty="0">
                          <a:effectLst/>
                          <a:latin typeface="+mj-lt"/>
                        </a:rPr>
                        <a:t> - </a:t>
                      </a:r>
                      <a:r>
                        <a:rPr lang="en-US" sz="1000" dirty="0" err="1">
                          <a:effectLst/>
                          <a:latin typeface="+mj-lt"/>
                        </a:rPr>
                        <a:t>Aminbazar</a:t>
                      </a:r>
                      <a:r>
                        <a:rPr lang="en-US" sz="1000" dirty="0">
                          <a:effectLst/>
                          <a:latin typeface="+mj-lt"/>
                        </a:rPr>
                        <a:t> 400kV Transmission System</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buFont typeface="Arial" panose="020B0604020202020204" pitchFamily="34" charset="0"/>
                        <a:buChar char="•"/>
                      </a:pPr>
                      <a:r>
                        <a:rPr lang="en-IN" sz="1000" dirty="0">
                          <a:latin typeface="+mj-lt"/>
                        </a:rPr>
                        <a:t>To construct transmission infrastructure for evacuating proposed LNG based combined cycle 3600 MW NWPGCL power stations at </a:t>
                      </a:r>
                      <a:r>
                        <a:rPr lang="en-IN" sz="1000" dirty="0" err="1">
                          <a:latin typeface="+mj-lt"/>
                        </a:rPr>
                        <a:t>Payra</a:t>
                      </a:r>
                      <a:r>
                        <a:rPr lang="en-IN" sz="1000" dirty="0">
                          <a:latin typeface="+mj-lt"/>
                        </a:rPr>
                        <a:t> (</a:t>
                      </a:r>
                      <a:r>
                        <a:rPr lang="en-IN" sz="1000" dirty="0" err="1">
                          <a:latin typeface="+mj-lt"/>
                        </a:rPr>
                        <a:t>Patuakhali</a:t>
                      </a:r>
                      <a:r>
                        <a:rPr lang="en-IN" sz="1000" dirty="0">
                          <a:latin typeface="+mj-lt"/>
                        </a:rPr>
                        <a:t>).</a:t>
                      </a:r>
                    </a:p>
                    <a:p>
                      <a:pPr marL="171450" indent="-171450">
                        <a:buFont typeface="Arial" panose="020B0604020202020204" pitchFamily="34" charset="0"/>
                        <a:buChar char="•"/>
                      </a:pPr>
                      <a:r>
                        <a:rPr lang="en-IN" sz="1000" dirty="0">
                          <a:latin typeface="+mj-lt"/>
                        </a:rPr>
                        <a:t>To enhance stability &amp; reliability of transmission network between Central and Southwest Region.</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228600" indent="-228600" algn="l" fontAlgn="b">
                        <a:buFont typeface="+mj-lt"/>
                        <a:buAutoNum type="arabicPeriod"/>
                      </a:pPr>
                      <a:r>
                        <a:rPr lang="en-IN" sz="1000" b="0" i="0" u="none" strike="noStrike" dirty="0">
                          <a:solidFill>
                            <a:srgbClr val="000000"/>
                          </a:solidFill>
                          <a:effectLst/>
                          <a:latin typeface="+mj-lt"/>
                        </a:rPr>
                        <a:t>400kV transmission line: 490 </a:t>
                      </a:r>
                      <a:r>
                        <a:rPr lang="en-IN" sz="1000" b="0" i="0" u="none" strike="noStrike" dirty="0" err="1">
                          <a:solidFill>
                            <a:srgbClr val="000000"/>
                          </a:solidFill>
                          <a:effectLst/>
                          <a:latin typeface="+mj-lt"/>
                        </a:rPr>
                        <a:t>ckt</a:t>
                      </a:r>
                      <a:r>
                        <a:rPr lang="en-IN" sz="1000" b="0" i="0" u="none" strike="noStrike" dirty="0">
                          <a:solidFill>
                            <a:srgbClr val="000000"/>
                          </a:solidFill>
                          <a:effectLst/>
                          <a:latin typeface="+mj-lt"/>
                        </a:rPr>
                        <a:t> km</a:t>
                      </a:r>
                    </a:p>
                    <a:p>
                      <a:pPr marL="228600" indent="-228600" algn="l" fontAlgn="b">
                        <a:buFont typeface="+mj-lt"/>
                        <a:buAutoNum type="arabicPeriod"/>
                      </a:pPr>
                      <a:r>
                        <a:rPr lang="en-IN" sz="1000" b="0" i="0" u="none" strike="noStrike" dirty="0">
                          <a:solidFill>
                            <a:srgbClr val="000000"/>
                          </a:solidFill>
                          <a:effectLst/>
                          <a:latin typeface="+mj-lt"/>
                        </a:rPr>
                        <a:t>Installation of 1000 MVA Power transformer</a:t>
                      </a:r>
                    </a:p>
                    <a:p>
                      <a:pPr marL="228600" indent="-228600" algn="l" fontAlgn="b">
                        <a:buFont typeface="+mj-lt"/>
                        <a:buAutoNum type="arabicPeriod"/>
                      </a:pPr>
                      <a:r>
                        <a:rPr lang="en-IN" sz="1000" b="0" i="0" u="none" strike="noStrike" dirty="0">
                          <a:solidFill>
                            <a:srgbClr val="000000"/>
                          </a:solidFill>
                          <a:effectLst/>
                          <a:latin typeface="+mj-lt"/>
                        </a:rPr>
                        <a:t>400 kV Bay Extension: 8 </a:t>
                      </a:r>
                      <a:r>
                        <a:rPr lang="en-IN" sz="1000" b="0" i="0" u="none" strike="noStrike" dirty="0" err="1">
                          <a:solidFill>
                            <a:srgbClr val="000000"/>
                          </a:solidFill>
                          <a:effectLst/>
                          <a:latin typeface="+mj-lt"/>
                        </a:rPr>
                        <a:t>nos</a:t>
                      </a:r>
                      <a:endParaRPr lang="en-IN" sz="1000" b="0" i="0" u="none" strike="noStrike" dirty="0">
                        <a:solidFill>
                          <a:srgbClr val="000000"/>
                        </a:solidFill>
                        <a:effectLst/>
                        <a:latin typeface="+mj-lt"/>
                      </a:endParaRPr>
                    </a:p>
                    <a:p>
                      <a:pPr marL="228600" indent="-228600" algn="l" fontAlgn="b">
                        <a:buFont typeface="+mj-lt"/>
                        <a:buAutoNum type="arabicPeriod"/>
                      </a:pPr>
                      <a:r>
                        <a:rPr lang="en-IN" sz="1000" b="0" i="0" u="none" strike="noStrike" dirty="0">
                          <a:solidFill>
                            <a:srgbClr val="000000"/>
                          </a:solidFill>
                          <a:effectLst/>
                          <a:latin typeface="+mj-lt"/>
                        </a:rPr>
                        <a:t>230 kV Bay Extension: 2 </a:t>
                      </a:r>
                      <a:r>
                        <a:rPr lang="en-IN" sz="1000" b="0" i="0" u="none" strike="noStrike" dirty="0" err="1">
                          <a:solidFill>
                            <a:srgbClr val="000000"/>
                          </a:solidFill>
                          <a:effectLst/>
                          <a:latin typeface="+mj-lt"/>
                        </a:rPr>
                        <a:t>nos</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FY21-FY23</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30125244"/>
                  </a:ext>
                </a:extLst>
              </a:tr>
              <a:tr h="365397">
                <a:tc>
                  <a:txBody>
                    <a:bodyPr/>
                    <a:lstStyle/>
                    <a:p>
                      <a:pPr algn="ctr" fontAlgn="t"/>
                      <a:r>
                        <a:rPr lang="en-US" sz="1000" dirty="0">
                          <a:effectLst/>
                          <a:latin typeface="+mj-lt"/>
                        </a:rPr>
                        <a:t>3</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fontAlgn="t"/>
                      <a:r>
                        <a:rPr lang="en-US" sz="1000" dirty="0">
                          <a:effectLst/>
                          <a:latin typeface="+mj-lt"/>
                        </a:rPr>
                        <a:t>Transmission Infrastructure Development Project for Southern Area of </a:t>
                      </a:r>
                      <a:r>
                        <a:rPr lang="en-US" sz="1000" dirty="0" err="1">
                          <a:effectLst/>
                          <a:latin typeface="+mj-lt"/>
                        </a:rPr>
                        <a:t>Chattogram</a:t>
                      </a:r>
                      <a:r>
                        <a:rPr lang="en-US" sz="1000" dirty="0">
                          <a:effectLst/>
                          <a:latin typeface="+mj-lt"/>
                        </a:rPr>
                        <a:t> Division &amp; </a:t>
                      </a:r>
                      <a:r>
                        <a:rPr lang="en-US" sz="1000" dirty="0" err="1">
                          <a:effectLst/>
                          <a:latin typeface="+mj-lt"/>
                        </a:rPr>
                        <a:t>Bangabandhu</a:t>
                      </a:r>
                      <a:r>
                        <a:rPr lang="en-US" sz="1000" dirty="0">
                          <a:effectLst/>
                          <a:latin typeface="+mj-lt"/>
                        </a:rPr>
                        <a:t> Hi-Tech City at </a:t>
                      </a:r>
                      <a:r>
                        <a:rPr lang="en-US" sz="1000" dirty="0" err="1">
                          <a:effectLst/>
                          <a:latin typeface="+mj-lt"/>
                        </a:rPr>
                        <a:t>Kaliakoir</a:t>
                      </a:r>
                      <a:endParaRPr lang="en-US"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buFont typeface="Arial" panose="020B0604020202020204" pitchFamily="34" charset="0"/>
                        <a:buChar char="•"/>
                      </a:pPr>
                      <a:r>
                        <a:rPr lang="en-US" sz="1000" dirty="0">
                          <a:latin typeface="+mj-lt"/>
                        </a:rPr>
                        <a:t>To supply power to the </a:t>
                      </a:r>
                      <a:r>
                        <a:rPr lang="en-US" sz="1000" dirty="0" err="1">
                          <a:latin typeface="+mj-lt"/>
                        </a:rPr>
                        <a:t>Bangabandhu</a:t>
                      </a:r>
                      <a:r>
                        <a:rPr lang="en-US" sz="1000" dirty="0">
                          <a:latin typeface="+mj-lt"/>
                        </a:rPr>
                        <a:t> Hi-Tech city.</a:t>
                      </a:r>
                    </a:p>
                    <a:p>
                      <a:pPr marL="171450" indent="-171450">
                        <a:buFont typeface="Arial" panose="020B0604020202020204" pitchFamily="34" charset="0"/>
                        <a:buChar char="•"/>
                      </a:pPr>
                      <a:r>
                        <a:rPr lang="en-US" sz="1000" dirty="0">
                          <a:latin typeface="+mj-lt"/>
                        </a:rPr>
                        <a:t>To ensure reliable power source to the Economic Zones of BEZA at Cox’s Bazar and Chittagong areas.</a:t>
                      </a:r>
                    </a:p>
                    <a:p>
                      <a:pPr marL="171450" indent="-171450">
                        <a:buFont typeface="Arial" panose="020B0604020202020204" pitchFamily="34" charset="0"/>
                        <a:buChar char="•"/>
                      </a:pPr>
                      <a:r>
                        <a:rPr lang="en-US" sz="1000" dirty="0">
                          <a:latin typeface="+mj-lt"/>
                        </a:rPr>
                        <a:t>To evacuate the power generated from the upcoming power plants</a:t>
                      </a:r>
                      <a:endParaRPr lang="en-IN" sz="1000" dirty="0">
                        <a:latin typeface="+mj-lt"/>
                      </a:endParaRP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228600" indent="-228600" algn="l" fontAlgn="b">
                        <a:buFont typeface="+mj-lt"/>
                        <a:buAutoNum type="arabicPeriod"/>
                      </a:pPr>
                      <a:r>
                        <a:rPr lang="en-IN" sz="1000" b="0" i="0" u="none" strike="noStrike" dirty="0">
                          <a:solidFill>
                            <a:srgbClr val="000000"/>
                          </a:solidFill>
                          <a:effectLst/>
                          <a:latin typeface="+mj-lt"/>
                        </a:rPr>
                        <a:t>230 kV GIS Substation: 2 </a:t>
                      </a:r>
                      <a:r>
                        <a:rPr lang="en-IN" sz="1000" b="0" i="0" u="none" strike="noStrike" dirty="0" err="1">
                          <a:solidFill>
                            <a:srgbClr val="000000"/>
                          </a:solidFill>
                          <a:effectLst/>
                          <a:latin typeface="+mj-lt"/>
                        </a:rPr>
                        <a:t>nos</a:t>
                      </a:r>
                      <a:endParaRPr lang="en-IN" sz="1000" b="0" i="0" u="none" strike="noStrike" dirty="0">
                        <a:solidFill>
                          <a:srgbClr val="000000"/>
                        </a:solidFill>
                        <a:effectLst/>
                        <a:latin typeface="+mj-lt"/>
                      </a:endParaRPr>
                    </a:p>
                    <a:p>
                      <a:pPr marL="228600" indent="-228600" algn="l" fontAlgn="b">
                        <a:buFont typeface="+mj-lt"/>
                        <a:buAutoNum type="arabicPeriod"/>
                      </a:pPr>
                      <a:r>
                        <a:rPr lang="en-IN" sz="1000" b="0" i="0" u="none" strike="noStrike" dirty="0">
                          <a:solidFill>
                            <a:srgbClr val="000000"/>
                          </a:solidFill>
                          <a:effectLst/>
                          <a:latin typeface="+mj-lt"/>
                        </a:rPr>
                        <a:t>132/33 kV GIS Substation: 2 </a:t>
                      </a:r>
                      <a:r>
                        <a:rPr lang="en-IN" sz="1000" b="0" i="0" u="none" strike="noStrike" dirty="0" err="1">
                          <a:solidFill>
                            <a:srgbClr val="000000"/>
                          </a:solidFill>
                          <a:effectLst/>
                          <a:latin typeface="+mj-lt"/>
                        </a:rPr>
                        <a:t>nos</a:t>
                      </a:r>
                      <a:endParaRPr lang="en-IN" sz="1000" b="0" i="0" u="none" strike="noStrike" dirty="0">
                        <a:solidFill>
                          <a:srgbClr val="000000"/>
                        </a:solidFill>
                        <a:effectLst/>
                        <a:latin typeface="+mj-lt"/>
                      </a:endParaRPr>
                    </a:p>
                    <a:p>
                      <a:pPr marL="228600" indent="-228600" algn="l" fontAlgn="b">
                        <a:buFont typeface="+mj-lt"/>
                        <a:buAutoNum type="arabicPeriod"/>
                      </a:pPr>
                      <a:r>
                        <a:rPr lang="en-IN" sz="1000" b="0" i="0" u="none" strike="noStrike" dirty="0">
                          <a:solidFill>
                            <a:srgbClr val="000000"/>
                          </a:solidFill>
                          <a:effectLst/>
                          <a:latin typeface="+mj-lt"/>
                        </a:rPr>
                        <a:t>230 kV line: 119 km</a:t>
                      </a:r>
                    </a:p>
                    <a:p>
                      <a:pPr marL="228600" indent="-228600" algn="l" fontAlgn="b">
                        <a:buFont typeface="+mj-lt"/>
                        <a:buAutoNum type="arabicPeriod"/>
                      </a:pPr>
                      <a:r>
                        <a:rPr lang="en-IN" sz="1000" b="0" i="0" u="none" strike="noStrike" dirty="0">
                          <a:solidFill>
                            <a:srgbClr val="000000"/>
                          </a:solidFill>
                          <a:effectLst/>
                          <a:latin typeface="+mj-lt"/>
                        </a:rPr>
                        <a:t>132 kV line: 72 km</a:t>
                      </a:r>
                    </a:p>
                    <a:p>
                      <a:pPr marL="228600" indent="-228600" algn="l" fontAlgn="b">
                        <a:buFont typeface="+mj-lt"/>
                        <a:buAutoNum type="arabicPeriod"/>
                      </a:pPr>
                      <a:r>
                        <a:rPr lang="en-IN" sz="1000" b="0" i="0" u="none" strike="noStrike" dirty="0">
                          <a:solidFill>
                            <a:srgbClr val="000000"/>
                          </a:solidFill>
                          <a:effectLst/>
                          <a:latin typeface="+mj-lt"/>
                        </a:rPr>
                        <a:t>230 kV Bay Extension: 2 </a:t>
                      </a:r>
                      <a:r>
                        <a:rPr lang="en-IN" sz="1000" b="0" i="0" u="none" strike="noStrike" dirty="0" err="1">
                          <a:solidFill>
                            <a:srgbClr val="000000"/>
                          </a:solidFill>
                          <a:effectLst/>
                          <a:latin typeface="+mj-lt"/>
                        </a:rPr>
                        <a:t>nos</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FY21-FY24</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86652423"/>
                  </a:ext>
                </a:extLst>
              </a:tr>
              <a:tr h="365397">
                <a:tc>
                  <a:txBody>
                    <a:bodyPr/>
                    <a:lstStyle/>
                    <a:p>
                      <a:pPr algn="ctr" fontAlgn="t"/>
                      <a:r>
                        <a:rPr lang="en-US" sz="1000" dirty="0">
                          <a:effectLst/>
                          <a:latin typeface="+mj-lt"/>
                        </a:rPr>
                        <a:t>4</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fontAlgn="t"/>
                      <a:r>
                        <a:rPr lang="en-US" sz="1000" dirty="0" err="1">
                          <a:effectLst/>
                          <a:latin typeface="+mj-lt"/>
                        </a:rPr>
                        <a:t>Madunaghat-Bhulta</a:t>
                      </a:r>
                      <a:r>
                        <a:rPr lang="en-US" sz="1000" dirty="0">
                          <a:effectLst/>
                          <a:latin typeface="+mj-lt"/>
                        </a:rPr>
                        <a:t> 765 kV Transmission Line Project</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buFont typeface="Arial" panose="020B0604020202020204" pitchFamily="34" charset="0"/>
                        <a:buChar char="•"/>
                      </a:pPr>
                      <a:r>
                        <a:rPr lang="en-US" sz="1000" dirty="0">
                          <a:latin typeface="+mj-lt"/>
                        </a:rPr>
                        <a:t>To establish high capacity transmission infrastructure for evacuation of power from Chittagong to Dhaka</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228600" indent="-228600" algn="l" fontAlgn="b">
                        <a:buFont typeface="+mj-lt"/>
                        <a:buAutoNum type="arabicPeriod"/>
                      </a:pPr>
                      <a:r>
                        <a:rPr lang="en-IN" sz="1000" b="0" i="0" u="none" strike="noStrike" dirty="0">
                          <a:solidFill>
                            <a:srgbClr val="000000"/>
                          </a:solidFill>
                          <a:effectLst/>
                          <a:latin typeface="+mj-lt"/>
                        </a:rPr>
                        <a:t>765 kV line: 500 </a:t>
                      </a:r>
                      <a:r>
                        <a:rPr lang="en-IN" sz="1000" b="0" i="0" u="none" strike="noStrike" dirty="0" err="1">
                          <a:solidFill>
                            <a:srgbClr val="000000"/>
                          </a:solidFill>
                          <a:effectLst/>
                          <a:latin typeface="+mj-lt"/>
                        </a:rPr>
                        <a:t>ckt</a:t>
                      </a:r>
                      <a:r>
                        <a:rPr lang="en-IN" sz="1000" b="0" i="0" u="none" strike="noStrike" dirty="0">
                          <a:solidFill>
                            <a:srgbClr val="000000"/>
                          </a:solidFill>
                          <a:effectLst/>
                          <a:latin typeface="+mj-lt"/>
                        </a:rPr>
                        <a:t>. Km</a:t>
                      </a:r>
                    </a:p>
                    <a:p>
                      <a:pPr marL="228600" indent="-228600" algn="l" fontAlgn="b">
                        <a:buFont typeface="+mj-lt"/>
                        <a:buAutoNum type="arabicPeriod"/>
                      </a:pPr>
                      <a:r>
                        <a:rPr lang="en-IN" sz="1000" b="0" i="0" u="none" strike="noStrike" dirty="0">
                          <a:solidFill>
                            <a:srgbClr val="000000"/>
                          </a:solidFill>
                          <a:effectLst/>
                          <a:latin typeface="+mj-lt"/>
                        </a:rPr>
                        <a:t>400kV bay extension: 4 </a:t>
                      </a:r>
                      <a:r>
                        <a:rPr lang="en-IN" sz="1000" b="0" i="0" u="none" strike="noStrike" dirty="0" err="1">
                          <a:solidFill>
                            <a:srgbClr val="000000"/>
                          </a:solidFill>
                          <a:effectLst/>
                          <a:latin typeface="+mj-lt"/>
                        </a:rPr>
                        <a:t>nos</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FY21-FY24</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327102"/>
                  </a:ext>
                </a:extLst>
              </a:tr>
              <a:tr h="365397">
                <a:tc>
                  <a:txBody>
                    <a:bodyPr/>
                    <a:lstStyle/>
                    <a:p>
                      <a:pPr algn="ctr" fontAlgn="t"/>
                      <a:r>
                        <a:rPr lang="en-US" sz="1000" dirty="0">
                          <a:effectLst/>
                          <a:latin typeface="+mj-lt"/>
                        </a:rPr>
                        <a:t>5</a:t>
                      </a:r>
                      <a:endParaRPr lang="en-IN" sz="1000" dirty="0">
                        <a:effectLst/>
                        <a:latin typeface="+mj-lt"/>
                      </a:endParaRP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fontAlgn="t"/>
                      <a:r>
                        <a:rPr lang="en-US" sz="1000" dirty="0">
                          <a:effectLst/>
                          <a:latin typeface="+mj-lt"/>
                        </a:rPr>
                        <a:t>Energy Efficiency in Grid Based Power Supply (II)</a:t>
                      </a:r>
                    </a:p>
                  </a:txBody>
                  <a:tcPr marL="60960" marR="60960" marT="60960" marB="6096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indent="-171450">
                        <a:buFont typeface="Arial" panose="020B0604020202020204" pitchFamily="34" charset="0"/>
                        <a:buChar char="•"/>
                      </a:pPr>
                      <a:r>
                        <a:rPr lang="en-US" sz="1000" dirty="0">
                          <a:latin typeface="+mj-lt"/>
                        </a:rPr>
                        <a:t>To meet the growing power demand &amp; quality improvement of</a:t>
                      </a:r>
                      <a:r>
                        <a:rPr lang="en-US" sz="1000" baseline="0" dirty="0">
                          <a:latin typeface="+mj-lt"/>
                        </a:rPr>
                        <a:t> </a:t>
                      </a:r>
                      <a:r>
                        <a:rPr lang="en-US" sz="1000" dirty="0">
                          <a:latin typeface="+mj-lt"/>
                        </a:rPr>
                        <a:t>DESCO &amp; Adjacent area</a:t>
                      </a:r>
                      <a:endParaRPr lang="en-IN" sz="1000" dirty="0">
                        <a:latin typeface="+mj-lt"/>
                      </a:endParaRP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228600" indent="-228600" algn="l" fontAlgn="b">
                        <a:buFont typeface="+mj-lt"/>
                        <a:buAutoNum type="arabicPeriod"/>
                      </a:pPr>
                      <a:r>
                        <a:rPr lang="en-IN" sz="1000" b="0" i="0" u="none" strike="noStrike" dirty="0">
                          <a:solidFill>
                            <a:srgbClr val="000000"/>
                          </a:solidFill>
                          <a:effectLst/>
                          <a:latin typeface="+mj-lt"/>
                        </a:rPr>
                        <a:t>230 kV Substations: 3 </a:t>
                      </a:r>
                      <a:r>
                        <a:rPr lang="en-IN" sz="1000" b="0" i="0" u="none" strike="noStrike" dirty="0" err="1">
                          <a:solidFill>
                            <a:srgbClr val="000000"/>
                          </a:solidFill>
                          <a:effectLst/>
                          <a:latin typeface="+mj-lt"/>
                        </a:rPr>
                        <a:t>nos</a:t>
                      </a:r>
                      <a:endParaRPr lang="en-IN" sz="1000" b="0" i="0" u="none" strike="noStrike" dirty="0">
                        <a:solidFill>
                          <a:srgbClr val="000000"/>
                        </a:solidFill>
                        <a:effectLst/>
                        <a:latin typeface="+mj-lt"/>
                      </a:endParaRPr>
                    </a:p>
                    <a:p>
                      <a:pPr marL="228600" indent="-228600" algn="l" fontAlgn="b">
                        <a:buFont typeface="+mj-lt"/>
                        <a:buAutoNum type="arabicPeriod"/>
                      </a:pPr>
                      <a:r>
                        <a:rPr lang="en-IN" sz="1000" b="0" i="0" u="none" strike="noStrike" dirty="0">
                          <a:solidFill>
                            <a:srgbClr val="000000"/>
                          </a:solidFill>
                          <a:effectLst/>
                          <a:latin typeface="+mj-lt"/>
                        </a:rPr>
                        <a:t>230 kV Transmission Lines: 9 km</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dirty="0">
                          <a:solidFill>
                            <a:srgbClr val="000000"/>
                          </a:solidFill>
                          <a:effectLst/>
                          <a:latin typeface="+mj-lt"/>
                        </a:rPr>
                        <a:t>FY21-FY24</a:t>
                      </a:r>
                      <a:endParaRPr lang="en-IN" sz="1000" b="0" i="0" u="none" strike="noStrike" dirty="0">
                        <a:solidFill>
                          <a:srgbClr val="000000"/>
                        </a:solidFill>
                        <a:effectLst/>
                        <a:latin typeface="+mj-lt"/>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25030167"/>
                  </a:ext>
                </a:extLst>
              </a:tr>
            </a:tbl>
          </a:graphicData>
        </a:graphic>
      </p:graphicFrame>
      <p:sp>
        <p:nvSpPr>
          <p:cNvPr id="7" name="Rectangle 6"/>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PGCB, Deloitte Analysis</a:t>
            </a:r>
          </a:p>
        </p:txBody>
      </p:sp>
    </p:spTree>
    <p:extLst>
      <p:ext uri="{BB962C8B-B14F-4D97-AF65-F5344CB8AC3E}">
        <p14:creationId xmlns:p14="http://schemas.microsoft.com/office/powerpoint/2010/main" val="1911779720"/>
      </p:ext>
    </p:extLst>
  </p:cSld>
  <p:clrMapOvr>
    <a:masterClrMapping/>
  </p:clrMapOvr>
  <p:transition>
    <p:fade/>
  </p:transition>
</p:sld>
</file>

<file path=ppt/slides/slide199.xml><?xml version="1.0" encoding="utf-8"?>
<p:sld xmlns:a="http://schemas.openxmlformats.org/drawingml/2006/main" xmlns:r="http://schemas.openxmlformats.org/officeDocument/2006/relationships" xmlns:p="http://schemas.openxmlformats.org/presentationml/2006/main">
  <p:cSld>
    <p:bg>
      <p:bgPr>
        <a:solidFill>
          <a:schemeClr val="accent6"/>
        </a:solidFill>
        <a:effectLst/>
      </p:bgPr>
    </p:bg>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93673012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US" sz="3898" b="1" u="none" strike="noStrike" kern="1200" cap="none" spc="0" normalizeH="0" noProof="0" dirty="0">
              <a:ln>
                <a:noFill/>
              </a:ln>
              <a:solidFill>
                <a:prstClr val="white"/>
              </a:solidFill>
              <a:effectLst/>
              <a:uLnTx/>
              <a:uFillTx/>
              <a:latin typeface="Verdana" panose="020B0604030504040204" pitchFamily="34" charset="0"/>
              <a:ea typeface="Open Sans" panose="020B0606030504020204" pitchFamily="34" charset="0"/>
              <a:cs typeface="Open Sans" panose="020B0606030504020204" pitchFamily="34" charset="0"/>
              <a:sym typeface="Verdana" panose="020B0604030504040204" pitchFamily="34" charset="0"/>
            </a:endParaRPr>
          </a:p>
        </p:txBody>
      </p:sp>
      <p:sp>
        <p:nvSpPr>
          <p:cNvPr id="2" name="Title 1"/>
          <p:cNvSpPr>
            <a:spLocks noGrp="1"/>
          </p:cNvSpPr>
          <p:nvPr>
            <p:ph type="title"/>
          </p:nvPr>
        </p:nvSpPr>
        <p:spPr>
          <a:xfrm>
            <a:off x="439925" y="1880184"/>
            <a:ext cx="9243963" cy="2147709"/>
          </a:xfrm>
        </p:spPr>
        <p:txBody>
          <a:bodyPr/>
          <a:lstStyle/>
          <a:p>
            <a:r>
              <a:rPr lang="en-US" dirty="0"/>
              <a:t>Contracts Risk Assessment</a:t>
            </a:r>
            <a:endParaRPr lang="en-IN" dirty="0"/>
          </a:p>
        </p:txBody>
      </p:sp>
    </p:spTree>
    <p:extLst>
      <p:ext uri="{BB962C8B-B14F-4D97-AF65-F5344CB8AC3E}">
        <p14:creationId xmlns:p14="http://schemas.microsoft.com/office/powerpoint/2010/main" val="68858218"/>
      </p:ext>
    </p:extLst>
  </p:cSld>
  <p:clrMapOvr>
    <a:masterClrMapping/>
  </p:clrMapOvr>
  <p:transition>
    <p:fade/>
  </p:transition>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420080397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416" imgH="416" progId="TCLayout.ActiveDocument.1">
                  <p:embed/>
                </p:oleObj>
              </mc:Choice>
              <mc:Fallback>
                <p:oleObj name="think-cell Slide" r:id="rId6" imgW="416" imgH="416"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spcBef>
                <a:spcPct val="0"/>
              </a:spcBef>
              <a:spcAft>
                <a:spcPct val="0"/>
              </a:spcAft>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Annexure I | PPA Terms</a:t>
            </a:r>
          </a:p>
        </p:txBody>
      </p:sp>
      <p:graphicFrame>
        <p:nvGraphicFramePr>
          <p:cNvPr id="22" name="Table 21"/>
          <p:cNvGraphicFramePr>
            <a:graphicFrameLocks noGrp="1"/>
          </p:cNvGraphicFramePr>
          <p:nvPr>
            <p:custDataLst>
              <p:tags r:id="rId3"/>
            </p:custDataLst>
            <p:extLst>
              <p:ext uri="{D42A27DB-BD31-4B8C-83A1-F6EECF244321}">
                <p14:modId xmlns:p14="http://schemas.microsoft.com/office/powerpoint/2010/main" val="572503260"/>
              </p:ext>
            </p:extLst>
          </p:nvPr>
        </p:nvGraphicFramePr>
        <p:xfrm>
          <a:off x="449992" y="1943101"/>
          <a:ext cx="9791844" cy="5133560"/>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232457">
                <a:tc>
                  <a:txBody>
                    <a:bodyPr/>
                    <a:lstStyle/>
                    <a:p>
                      <a:pPr algn="l" fontAlgn="ctr">
                        <a:spcAft>
                          <a:spcPts val="4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4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308528">
                <a:tc>
                  <a:txBody>
                    <a:bodyPr/>
                    <a:lstStyle/>
                    <a:p>
                      <a:pPr marL="72000" algn="l" fontAlgn="ctr">
                        <a:spcAft>
                          <a:spcPts val="400"/>
                        </a:spcAft>
                      </a:pPr>
                      <a:r>
                        <a:rPr lang="en-IN" sz="900" b="0" i="0" u="none" strike="noStrike" dirty="0">
                          <a:solidFill>
                            <a:srgbClr val="000000"/>
                          </a:solidFill>
                          <a:effectLst/>
                          <a:latin typeface="Verdana" panose="020B0604030504040204" pitchFamily="34" charset="0"/>
                        </a:rPr>
                        <a:t>Term </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400"/>
                        </a:spcAft>
                        <a:buFont typeface="Arial" panose="020B0604020202020204" pitchFamily="34" charset="0"/>
                        <a:buChar char="•"/>
                      </a:pPr>
                      <a:r>
                        <a:rPr lang="en-US" sz="900" b="0" i="0" u="none" strike="noStrike">
                          <a:solidFill>
                            <a:srgbClr val="000000"/>
                          </a:solidFill>
                          <a:effectLst/>
                          <a:latin typeface="Verdana" panose="020B0604030504040204" pitchFamily="34" charset="0"/>
                        </a:rPr>
                        <a:t>From Project Effective Date till 22 years from COD, extendable</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453188">
                <a:tc>
                  <a:txBody>
                    <a:bodyPr/>
                    <a:lstStyle/>
                    <a:p>
                      <a:pPr marL="72000" algn="l" fontAlgn="ctr">
                        <a:spcAft>
                          <a:spcPts val="400"/>
                        </a:spcAft>
                      </a:pPr>
                      <a:r>
                        <a:rPr lang="en-IN" sz="900" b="0" i="0" u="none" strike="noStrike" dirty="0">
                          <a:solidFill>
                            <a:srgbClr val="000000"/>
                          </a:solidFill>
                          <a:effectLst/>
                          <a:latin typeface="Verdana" panose="020B0604030504040204" pitchFamily="34" charset="0"/>
                        </a:rPr>
                        <a:t>Proposal Security</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400"/>
                        </a:spcAft>
                        <a:buFont typeface="Arial" panose="020B0604020202020204" pitchFamily="34" charset="0"/>
                        <a:buChar char="•"/>
                      </a:pPr>
                      <a:r>
                        <a:rPr lang="en-US" sz="900" b="0" i="0" u="none" strike="noStrike">
                          <a:solidFill>
                            <a:srgbClr val="000000"/>
                          </a:solidFill>
                          <a:effectLst/>
                          <a:latin typeface="Verdana" panose="020B0604030504040204" pitchFamily="34" charset="0"/>
                        </a:rPr>
                        <a:t>Unconditional bank guarantee of $2,200,000 provided by Company to BPDB as guarantee to maintain its proposal until execution of project agreements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923727616"/>
                  </a:ext>
                </a:extLst>
              </a:tr>
              <a:tr h="500607">
                <a:tc>
                  <a:txBody>
                    <a:bodyPr/>
                    <a:lstStyle/>
                    <a:p>
                      <a:pPr marL="72000" algn="l" fontAlgn="ctr">
                        <a:spcAft>
                          <a:spcPts val="400"/>
                        </a:spcAft>
                      </a:pPr>
                      <a:r>
                        <a:rPr lang="en-IN" sz="900" b="0" i="0" u="none" strike="noStrike" dirty="0">
                          <a:solidFill>
                            <a:srgbClr val="000000"/>
                          </a:solidFill>
                          <a:effectLst/>
                          <a:latin typeface="Verdana" panose="020B0604030504040204" pitchFamily="34" charset="0"/>
                        </a:rPr>
                        <a:t>Performance Security Deposit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Unconditional bank guarantee of $36000 multiplied by contracted capacity provided by Company to BPDB. It shall terminate upon delivery of Operations Security Deposit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451436597"/>
                  </a:ext>
                </a:extLst>
              </a:tr>
              <a:tr h="500607">
                <a:tc>
                  <a:txBody>
                    <a:bodyPr/>
                    <a:lstStyle/>
                    <a:p>
                      <a:pPr marL="72000" algn="l" fontAlgn="ctr">
                        <a:spcAft>
                          <a:spcPts val="400"/>
                        </a:spcAft>
                      </a:pPr>
                      <a:r>
                        <a:rPr lang="en-IN" sz="900" b="0" i="0" u="none" strike="noStrike" dirty="0">
                          <a:solidFill>
                            <a:srgbClr val="000000"/>
                          </a:solidFill>
                          <a:effectLst/>
                          <a:latin typeface="Verdana" panose="020B0604030504040204" pitchFamily="34" charset="0"/>
                        </a:rPr>
                        <a:t>Operations Security Deposit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4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Company shall provide Operations Security deposit to BPDB within 30 days of COD equal to 2 months of capacity charge payments. </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864419791"/>
                  </a:ext>
                </a:extLst>
              </a:tr>
              <a:tr h="3138173">
                <a:tc>
                  <a:txBody>
                    <a:bodyPr/>
                    <a:lstStyle/>
                    <a:p>
                      <a:pPr marL="72000" algn="l" fontAlgn="ctr">
                        <a:spcAft>
                          <a:spcPts val="400"/>
                        </a:spcAft>
                      </a:pPr>
                      <a:r>
                        <a:rPr lang="en-IN" sz="900" b="0" i="0" u="none" strike="noStrike" dirty="0">
                          <a:solidFill>
                            <a:srgbClr val="000000"/>
                          </a:solidFill>
                          <a:effectLst/>
                          <a:latin typeface="Verdana" panose="020B0604030504040204" pitchFamily="34" charset="0"/>
                        </a:rPr>
                        <a:t>Company Event of Default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indent="0" algn="l" fontAlgn="ctr">
                        <a:spcAft>
                          <a:spcPts val="400"/>
                        </a:spcAft>
                        <a:buFont typeface="Arial" panose="020B0604020202020204" pitchFamily="34" charset="0"/>
                        <a:buNone/>
                      </a:pPr>
                      <a:r>
                        <a:rPr lang="en-US" sz="900" b="1" i="0" u="none" strike="noStrike" dirty="0">
                          <a:solidFill>
                            <a:srgbClr val="000000"/>
                          </a:solidFill>
                          <a:effectLst/>
                          <a:latin typeface="Verdana" panose="020B0604030504040204" pitchFamily="34" charset="0"/>
                        </a:rPr>
                        <a:t>Company Event of Default:</a:t>
                      </a:r>
                      <a:r>
                        <a:rPr lang="en-US" sz="900" b="0" i="0" u="none" strike="noStrike" dirty="0">
                          <a:solidFill>
                            <a:srgbClr val="000000"/>
                          </a:solidFill>
                          <a:effectLst/>
                          <a:latin typeface="Verdana" panose="020B0604030504040204" pitchFamily="34" charset="0"/>
                        </a:rPr>
                        <a:t> BPDB shall give a notice of default in case of following events except when such default is caused due to breach of relevant agreements by BPDB, GOB, PGCB, Gas Supplier, Fuel Supplier, due to Force Majeure or a Political Event:</a:t>
                      </a:r>
                    </a:p>
                    <a:p>
                      <a:pPr marL="171450" indent="-171450" algn="l" fontAlgn="ctr">
                        <a:spcAft>
                          <a:spcPts val="4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the Company to maintain Performance Security until delivery of Performance Security Deposit or failure to deliver and maintain Performance Security Deposit</a:t>
                      </a:r>
                    </a:p>
                    <a:p>
                      <a:pPr marL="171450" indent="-171450" algn="l" fontAlgn="ctr">
                        <a:spcAft>
                          <a:spcPts val="4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the Company to achieve Financial Closure by Required Financial Closure Date i.e. 9 months from the Effective Date</a:t>
                      </a:r>
                    </a:p>
                    <a:p>
                      <a:pPr marL="171450" indent="-171450" algn="l" fontAlgn="ctr">
                        <a:spcAft>
                          <a:spcPts val="4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the Company to achieve Construction Start Date within 90 days from the Financial Closure Date</a:t>
                      </a:r>
                    </a:p>
                    <a:p>
                      <a:pPr marL="171450" indent="-171450" algn="l" fontAlgn="ctr">
                        <a:spcAft>
                          <a:spcPts val="4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the Company to achieve Commercial Operation Date within 12 months from the Required Commercial Operation Date</a:t>
                      </a:r>
                    </a:p>
                    <a:p>
                      <a:pPr marL="171450" indent="-171450" algn="l" fontAlgn="ctr">
                        <a:spcAft>
                          <a:spcPts val="4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Abandonment of the facility or failure of Company to complete construction of the facility for 30 consecutive days between Construction Start Date and Commercial Operation Date</a:t>
                      </a:r>
                    </a:p>
                    <a:p>
                      <a:pPr marL="171450" indent="-171450" algn="l" fontAlgn="ctr">
                        <a:spcAft>
                          <a:spcPts val="4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the Company to deliver and maintain the Operations Security Deposit within 30 days from the COD</a:t>
                      </a:r>
                    </a:p>
                    <a:p>
                      <a:pPr marL="171450" indent="-171450" algn="l" fontAlgn="ctr">
                        <a:spcAft>
                          <a:spcPts val="4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Abandonment of operations of the facility by the Company for 25 consecutive days after COD</a:t>
                      </a:r>
                    </a:p>
                    <a:p>
                      <a:pPr marL="171450" indent="-171450" algn="l" fontAlgn="ctr">
                        <a:spcAft>
                          <a:spcPts val="4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Any material breach by the Company that is not remedied in 30 days after notice from BPDB</a:t>
                      </a:r>
                    </a:p>
                    <a:p>
                      <a:pPr marL="171450" indent="-171450" algn="l" fontAlgn="ctr">
                        <a:spcAft>
                          <a:spcPts val="4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Transfer of Company's rights, obligations and the facility itself without consent from BPDB</a:t>
                      </a:r>
                    </a:p>
                    <a:p>
                      <a:pPr marL="171450" indent="-171450" algn="l" fontAlgn="ctr">
                        <a:spcAft>
                          <a:spcPts val="4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Company Event of default under Implementation Agreement, Land lease agreement, Gas Supply Agreement or Fuel Supply Agreement unless waived by third party or cured</a:t>
                      </a:r>
                    </a:p>
                    <a:p>
                      <a:pPr marL="171450" indent="-171450" algn="l" fontAlgn="ctr">
                        <a:spcAft>
                          <a:spcPts val="4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the Company to make payments within 30 days from the due date except when security is available</a:t>
                      </a:r>
                    </a:p>
                    <a:p>
                      <a:pPr marL="171450" indent="-171450" algn="l" fontAlgn="ctr">
                        <a:spcAft>
                          <a:spcPts val="4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the Company to achieve Dependable Capacity greater than/equal to threshold capacity (Rectification period of 18 months allowed)</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3539048071"/>
                  </a:ext>
                </a:extLst>
              </a:tr>
            </a:tbl>
          </a:graphicData>
        </a:graphic>
      </p:graphicFrame>
    </p:spTree>
    <p:extLst>
      <p:ext uri="{BB962C8B-B14F-4D97-AF65-F5344CB8AC3E}">
        <p14:creationId xmlns:p14="http://schemas.microsoft.com/office/powerpoint/2010/main" val="330698468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312498235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Annexure I | PPA Terms</a:t>
            </a:r>
          </a:p>
        </p:txBody>
      </p:sp>
      <p:graphicFrame>
        <p:nvGraphicFramePr>
          <p:cNvPr id="22" name="Table 21"/>
          <p:cNvGraphicFramePr>
            <a:graphicFrameLocks noGrp="1"/>
          </p:cNvGraphicFramePr>
          <p:nvPr>
            <p:custDataLst>
              <p:tags r:id="rId3"/>
            </p:custDataLst>
            <p:extLst>
              <p:ext uri="{D42A27DB-BD31-4B8C-83A1-F6EECF244321}">
                <p14:modId xmlns:p14="http://schemas.microsoft.com/office/powerpoint/2010/main" val="4134898902"/>
              </p:ext>
            </p:extLst>
          </p:nvPr>
        </p:nvGraphicFramePr>
        <p:xfrm>
          <a:off x="449992" y="1943100"/>
          <a:ext cx="9791844" cy="5133561"/>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228707">
                <a:tc>
                  <a:txBody>
                    <a:bodyPr/>
                    <a:lstStyle/>
                    <a:p>
                      <a:pPr algn="l" fontAlgn="ctr">
                        <a:spcAft>
                          <a:spcPts val="3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1997371">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BPDB Event of Default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rgbClr val="000000"/>
                          </a:solidFill>
                          <a:effectLst/>
                          <a:latin typeface="Verdana" panose="020B0604030504040204" pitchFamily="34" charset="0"/>
                        </a:rPr>
                        <a:t>BPDB Event of Default: </a:t>
                      </a:r>
                      <a:r>
                        <a:rPr lang="en-US" sz="900" b="0" i="0" u="none" strike="noStrike" dirty="0">
                          <a:solidFill>
                            <a:srgbClr val="000000"/>
                          </a:solidFill>
                          <a:effectLst/>
                          <a:latin typeface="Verdana" panose="020B0604030504040204" pitchFamily="34" charset="0"/>
                        </a:rPr>
                        <a:t>Company shall give a notice of default in case of following events except when such default is caused due to breach of any of the project agreements by the Company or due to Force Majeure or a Political Event: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Dissolution of BPDB except for privatization or amalgamation/restructuring/reorganization/corporatization provided a reasonable guarantee to the performance of the succeeding entity and all BPDB's obligations have been assigned to the new entity</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BPDB in making payments within 30 days from the due date</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Any event of default by GOB, Gas Supplier, Fuel Supplier or BPDB under their respective agreements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Any material breach by BPDB that is not remedied in 30 days after notice from the Company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BPDB to permit commissioning or testing of the facility within 30 days from schedule</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BPDB to establish and maintain letter of credit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BPDB to return any undrawn Proposal Security or Performance Security Deposit within 3 days after the required date</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Incorrect statements, representations, warranties</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Change in Law making execution unlawful/unenforceable</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907203">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Obligation upon termination</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Upon termination, if the facility is transferred to GOB or its assignee, the Company shall have no obligations except those which arose before termination</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company event of default, the transfer to facility to GOB and payment of amount due shall constitute the liquidated damages to BPDB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the agreement is terminated due to the Company's inability to achieve Financial Closure by Required Financial Closure Date, BPDB may draw upon the Proposal Security</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451436597"/>
                  </a:ext>
                </a:extLst>
              </a:tr>
              <a:tr h="594637">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Dispute Resolution</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Either party can give a written notice to the other for any dispute, along with description. Failing to resolve the dispute amicably within 30 days, the dispute shall be settled through referral to CEO and the designated representative of BPDB. After the expiry of 15 days from such referral, if the dispute is not settled, it will be referred to an Expert.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the recommendation of the Expert is not acceptable to either party, it can initiate arbitration proceedings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3539048071"/>
                  </a:ext>
                </a:extLst>
              </a:tr>
              <a:tr h="945321">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Representation and warranties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It is a valid company existing under the laws of Bangladesh</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Execution of obligations under this agreement do not require any further approvals from the Board/Shareholders/Partners</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Execution of obligations under this agreement will not violate or breach any provisions of the company charter/bylaws/agreements/rules/regulations etc.</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There is no pending or, to the best of the company’s knowledge, threatened action or proceeding against the Company before any court, Government Authority or Arbitrator</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567635614"/>
                  </a:ext>
                </a:extLst>
              </a:tr>
              <a:tr h="460322">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Decision Making</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0" i="0" u="none" strike="noStrike" dirty="0">
                          <a:solidFill>
                            <a:srgbClr val="000000"/>
                          </a:solidFill>
                          <a:effectLst/>
                          <a:latin typeface="Verdana" panose="020B0604030504040204" pitchFamily="34" charset="0"/>
                        </a:rPr>
                        <a:t>6 Member Joint Coordinating Committee consisting of members from BPDB (2), PGCB (1) and the Company (3). All decisions to be taken by majority and should be accepted by each party. </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161569638"/>
                  </a:ext>
                </a:extLst>
              </a:tr>
            </a:tbl>
          </a:graphicData>
        </a:graphic>
      </p:graphicFrame>
    </p:spTree>
    <p:extLst>
      <p:ext uri="{BB962C8B-B14F-4D97-AF65-F5344CB8AC3E}">
        <p14:creationId xmlns:p14="http://schemas.microsoft.com/office/powerpoint/2010/main" val="149905660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287507839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Annexure I | PPA Terms</a:t>
            </a:r>
          </a:p>
        </p:txBody>
      </p:sp>
      <p:graphicFrame>
        <p:nvGraphicFramePr>
          <p:cNvPr id="22" name="Table 21"/>
          <p:cNvGraphicFramePr>
            <a:graphicFrameLocks noGrp="1"/>
          </p:cNvGraphicFramePr>
          <p:nvPr>
            <p:custDataLst>
              <p:tags r:id="rId3"/>
            </p:custDataLst>
            <p:extLst>
              <p:ext uri="{D42A27DB-BD31-4B8C-83A1-F6EECF244321}">
                <p14:modId xmlns:p14="http://schemas.microsoft.com/office/powerpoint/2010/main" val="1431226027"/>
              </p:ext>
            </p:extLst>
          </p:nvPr>
        </p:nvGraphicFramePr>
        <p:xfrm>
          <a:off x="449992" y="1943101"/>
          <a:ext cx="9791844" cy="5133560"/>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240767">
                <a:tc>
                  <a:txBody>
                    <a:bodyPr/>
                    <a:lstStyle/>
                    <a:p>
                      <a:pPr algn="l" fontAlgn="ctr">
                        <a:spcAft>
                          <a:spcPts val="3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778091">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Point of Delivery - Power</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0" i="0" u="none" strike="noStrike" dirty="0">
                          <a:solidFill>
                            <a:srgbClr val="000000"/>
                          </a:solidFill>
                          <a:effectLst/>
                          <a:latin typeface="Verdana" panose="020B0604030504040204" pitchFamily="34" charset="0"/>
                        </a:rPr>
                        <a:t>Point of delivery will be high voltage side of the 230 kV step-up transformer. The Company will construct a 230 kV switchyard at its own cost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3282458">
                <a:tc>
                  <a:txBody>
                    <a:bodyPr/>
                    <a:lstStyle/>
                    <a:p>
                      <a:pPr marL="72000" algn="l" fontAlgn="ctr">
                        <a:spcAft>
                          <a:spcPts val="300"/>
                        </a:spcAft>
                      </a:pPr>
                      <a:r>
                        <a:rPr lang="en-US" sz="900" b="0" i="0" u="none" strike="noStrike" dirty="0">
                          <a:solidFill>
                            <a:srgbClr val="000000"/>
                          </a:solidFill>
                          <a:effectLst/>
                          <a:latin typeface="Verdana" panose="020B0604030504040204" pitchFamily="34" charset="0"/>
                        </a:rPr>
                        <a:t>Rights and remedies in the event of default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Upon event of default, the non-defaulting party can choose to terminate this agreement by delivering a Notice of Intent to Terminate, specifying in reasonable detail the event of default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Following the delivery of Intent to Terminate, the parties shall consult in good faith to remedy the default: </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 45 days: in case of default on payments or security</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b) 90 days: in any other event of default, or even longer duration of consulting in mutual agreement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Notwithstanding the consulting, the defaulting party must undertake efforts to cure the default. In case the default is cured before the delivery of termination notice, the non defaulting party shall have no right to terminate</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At the expiry of the consultation period, if the default is not remedied or the parties have not reached an agreement, the non-defaulting party may deliver a Termination Notice to the other party</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BPDB shall not seek to terminate this Agreement without first giving a copy of the notices to the Lenders along with a request to cure the default within the cure period. No such termination will be valid till the expiration of:</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 Initial Cure Period</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b) An Evaluation Period subsequent to expiry of the initial cure period - Earlier of delivery of Election notice by the Lenders to BPDB or 30 days from expiration of Initial Cure Period. Upon delivery of Election Notice, Lenders have a period of 180 days to cure any Company Event of Default</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c) Lenders Cure Period - Period during which the Lenders either attempt to procure the cure of such default or enforce their rights under the Financing Documents</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Company shall not seek to terminate this Agreement without first giving a copy of the notices to GOB along with a request to cure the default within the cure period. No such termination will be valid till the expiration of the cure period.</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If at the expiry of the cure period, if GOB is diligently attempting to remedy the default, other than a payment default, an additional period of 90 days will be provided</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451436597"/>
                  </a:ext>
                </a:extLst>
              </a:tr>
              <a:tr h="441406">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Taxes and Claims </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0" i="0" u="none" strike="noStrike">
                          <a:solidFill>
                            <a:srgbClr val="000000"/>
                          </a:solidFill>
                          <a:effectLst/>
                          <a:latin typeface="Verdana" panose="020B0604030504040204" pitchFamily="34" charset="0"/>
                        </a:rPr>
                        <a:t>The Company shall be responsible for payment of all statutory taxes, levies, duties, royalty, fees and any kind of levies imposed/charges by GoB for construction and operation of the facility except those charges which are exempt/reimbursible by BPDB under the Implementation Agreement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3539048071"/>
                  </a:ext>
                </a:extLst>
              </a:tr>
              <a:tr h="390838">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Governing Law</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0" i="0" u="none" strike="noStrike" dirty="0">
                          <a:solidFill>
                            <a:srgbClr val="000000"/>
                          </a:solidFill>
                          <a:effectLst/>
                          <a:latin typeface="Verdana" panose="020B0604030504040204" pitchFamily="34" charset="0"/>
                        </a:rPr>
                        <a:t>Rights and obligations of the parties shall be interpreted, construed and governed by the laws of England and Wales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567635614"/>
                  </a:ext>
                </a:extLst>
              </a:tr>
            </a:tbl>
          </a:graphicData>
        </a:graphic>
      </p:graphicFrame>
    </p:spTree>
    <p:extLst>
      <p:ext uri="{BB962C8B-B14F-4D97-AF65-F5344CB8AC3E}">
        <p14:creationId xmlns:p14="http://schemas.microsoft.com/office/powerpoint/2010/main" val="207550303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170230356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22" name="Table 21"/>
          <p:cNvGraphicFramePr>
            <a:graphicFrameLocks noGrp="1"/>
          </p:cNvGraphicFramePr>
          <p:nvPr>
            <p:custDataLst>
              <p:tags r:id="rId3"/>
            </p:custDataLst>
            <p:extLst>
              <p:ext uri="{D42A27DB-BD31-4B8C-83A1-F6EECF244321}">
                <p14:modId xmlns:p14="http://schemas.microsoft.com/office/powerpoint/2010/main" val="3043997960"/>
              </p:ext>
            </p:extLst>
          </p:nvPr>
        </p:nvGraphicFramePr>
        <p:xfrm>
          <a:off x="449992" y="1943102"/>
          <a:ext cx="9791844" cy="5133560"/>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228836">
                <a:tc>
                  <a:txBody>
                    <a:bodyPr/>
                    <a:lstStyle/>
                    <a:p>
                      <a:pPr algn="l" fontAlgn="ctr">
                        <a:spcAft>
                          <a:spcPts val="3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4904724">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Liquidated Damages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rgbClr val="000000"/>
                          </a:solidFill>
                          <a:effectLst/>
                          <a:latin typeface="Verdana" panose="020B0604030504040204" pitchFamily="34" charset="0"/>
                        </a:rPr>
                        <a:t>Delay in Commercial Operation - </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LD = USD 100 x Contracted Capacity x no of days (beyond Required COD); subject to a cap of 365 days of damages</a:t>
                      </a:r>
                      <a:br>
                        <a:rPr lang="en-US" sz="900" b="0" i="0" u="none" strike="noStrike" dirty="0">
                          <a:solidFill>
                            <a:srgbClr val="000000"/>
                          </a:solidFill>
                          <a:effectLst/>
                          <a:latin typeface="Verdana" panose="020B0604030504040204" pitchFamily="34" charset="0"/>
                        </a:rPr>
                      </a:br>
                      <a:br>
                        <a:rPr lang="en-US" sz="900" b="0" i="0" u="none" strike="noStrike" dirty="0">
                          <a:solidFill>
                            <a:srgbClr val="000000"/>
                          </a:solidFill>
                          <a:effectLst/>
                          <a:latin typeface="Verdana" panose="020B0604030504040204" pitchFamily="34" charset="0"/>
                        </a:rPr>
                      </a:br>
                      <a:r>
                        <a:rPr lang="en-US" sz="900" b="1" i="0" u="none" strike="noStrike" dirty="0">
                          <a:solidFill>
                            <a:srgbClr val="000000"/>
                          </a:solidFill>
                          <a:effectLst/>
                          <a:latin typeface="Verdana" panose="020B0604030504040204" pitchFamily="34" charset="0"/>
                        </a:rPr>
                        <a:t>Failure to meet Contracted Capacity - </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If Initial Dependable Capacity &lt; Contracted Capacity, LD = USD 1000 x KW difference; capped of 10% of Contracted Capacity</a:t>
                      </a:r>
                      <a:br>
                        <a:rPr lang="en-US" sz="900" b="0" i="0" u="none" strike="noStrike" dirty="0">
                          <a:solidFill>
                            <a:srgbClr val="000000"/>
                          </a:solidFill>
                          <a:effectLst/>
                          <a:latin typeface="Verdana" panose="020B0604030504040204" pitchFamily="34" charset="0"/>
                        </a:rPr>
                      </a:br>
                      <a:br>
                        <a:rPr lang="en-US" sz="900" b="0" i="0" u="none" strike="noStrike" dirty="0">
                          <a:solidFill>
                            <a:srgbClr val="000000"/>
                          </a:solidFill>
                          <a:effectLst/>
                          <a:latin typeface="Verdana" panose="020B0604030504040204" pitchFamily="34" charset="0"/>
                        </a:rPr>
                      </a:br>
                      <a:r>
                        <a:rPr lang="en-US" sz="900" b="1" i="0" u="none" strike="noStrike" dirty="0">
                          <a:solidFill>
                            <a:srgbClr val="000000"/>
                          </a:solidFill>
                          <a:effectLst/>
                          <a:latin typeface="Verdana" panose="020B0604030504040204" pitchFamily="34" charset="0"/>
                        </a:rPr>
                        <a:t>Forced Outages - </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If Equivalent Forced Outage Energy (a) + Maintenance Outage Energy (b)+ Scheduled Outages Energy (c)&gt; Average Dependable Capacity x 1376 hours for gas operation (or 1580 hours for Fuel Oil Operation) in every third contract year or 876 hours for gas operation (or 1190 hours for Fuel Oil Operation) in every other contract year (d) , LD = Capacity Factor (i.e. Average Capacity Price x 1.522) x (a + b + c - d) </a:t>
                      </a:r>
                      <a:br>
                        <a:rPr lang="en-US" sz="900" b="0" i="0" u="none" strike="noStrike" dirty="0">
                          <a:solidFill>
                            <a:srgbClr val="000000"/>
                          </a:solidFill>
                          <a:effectLst/>
                          <a:latin typeface="Verdana" panose="020B0604030504040204" pitchFamily="34" charset="0"/>
                        </a:rPr>
                      </a:br>
                      <a:br>
                        <a:rPr lang="en-US" sz="900" b="0" i="0" u="none" strike="noStrike" dirty="0">
                          <a:solidFill>
                            <a:srgbClr val="000000"/>
                          </a:solidFill>
                          <a:effectLst/>
                          <a:latin typeface="Verdana" panose="020B0604030504040204" pitchFamily="34" charset="0"/>
                        </a:rPr>
                      </a:br>
                      <a:r>
                        <a:rPr lang="en-US" sz="900" b="1" i="0" u="none" strike="noStrike" dirty="0">
                          <a:solidFill>
                            <a:srgbClr val="000000"/>
                          </a:solidFill>
                          <a:effectLst/>
                          <a:latin typeface="Verdana" panose="020B0604030504040204" pitchFamily="34" charset="0"/>
                        </a:rPr>
                        <a:t>Declaration and Delivery of Available Capacity</a:t>
                      </a:r>
                      <a:endParaRPr lang="en-US" sz="900" b="0" i="0" u="none" strike="noStrike" dirty="0">
                        <a:solidFill>
                          <a:srgbClr val="000000"/>
                        </a:solidFill>
                        <a:effectLst/>
                        <a:latin typeface="Verdana" panose="020B0604030504040204" pitchFamily="34" charset="0"/>
                      </a:endParaRP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If the company notifies a Revised Declared Capacity which does not result due to Force Majeure Event or BPDB/PGCB/Gas Supplier/Fuel Supplier/GOB,  LD is applied in case of downward revisions in Declared Capacity if revision is made less than 12 hours prior to the day when such revision is to be implemented.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upwards revision in declared capacity,  If the Company fails to comply with the despatch instruction which is not due to Force Majeure Event or BPDB/PGCB/Gas Supplier/Fuel, LD = 100% x difference between declared capacity and available capacity x Applicable Relevant Capacity Price </a:t>
                      </a:r>
                      <a:br>
                        <a:rPr lang="en-US" sz="900" b="0" i="0" u="none" strike="noStrike" dirty="0">
                          <a:solidFill>
                            <a:srgbClr val="000000"/>
                          </a:solidFill>
                          <a:effectLst/>
                          <a:latin typeface="Verdana" panose="020B0604030504040204" pitchFamily="34" charset="0"/>
                        </a:rPr>
                      </a:br>
                      <a:endParaRPr lang="en-US" sz="900" b="0" i="0" u="none" strike="noStrike" dirty="0">
                        <a:solidFill>
                          <a:srgbClr val="000000"/>
                        </a:solidFill>
                        <a:effectLst/>
                        <a:latin typeface="Verdana" panose="020B0604030504040204" pitchFamily="34" charset="0"/>
                      </a:endParaRPr>
                    </a:p>
                    <a:p>
                      <a:pPr marL="0" indent="0" algn="l" fontAlgn="ctr">
                        <a:spcAft>
                          <a:spcPts val="300"/>
                        </a:spcAft>
                        <a:buFont typeface="Arial" panose="020B0604020202020204" pitchFamily="34" charset="0"/>
                        <a:buNone/>
                      </a:pPr>
                      <a:r>
                        <a:rPr lang="en-US" sz="900" b="1" i="0" u="none" strike="noStrike" dirty="0">
                          <a:solidFill>
                            <a:srgbClr val="000000"/>
                          </a:solidFill>
                          <a:effectLst/>
                          <a:latin typeface="Verdana" panose="020B0604030504040204" pitchFamily="34" charset="0"/>
                        </a:rPr>
                        <a:t>Security Deposits</a:t>
                      </a:r>
                      <a:endParaRPr lang="en-US" sz="900" b="0" i="0" u="none" strike="noStrike" dirty="0">
                        <a:solidFill>
                          <a:srgbClr val="000000"/>
                        </a:solidFill>
                        <a:effectLst/>
                        <a:latin typeface="Verdana" panose="020B0604030504040204" pitchFamily="34" charset="0"/>
                      </a:endParaRP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Proposal Security - Shall terminate upon submission of Performance Security Deposit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Performance Security Deposit (PSD) - </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 Shall terminate upon delivery of Operations security deposit to BPDB, any undrawn portion should be returned to the Company no later than 5 days following the delivery of operations security deposit. </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b) The term should not extend more than 30 days after the supply commencement date</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c) The Performance Security deposit can be can be </a:t>
                      </a:r>
                      <a:r>
                        <a:rPr lang="en-US" sz="900" b="0" i="0" u="none" strike="noStrike" dirty="0" err="1">
                          <a:solidFill>
                            <a:srgbClr val="000000"/>
                          </a:solidFill>
                          <a:effectLst/>
                          <a:latin typeface="Verdana" panose="020B0604030504040204" pitchFamily="34" charset="0"/>
                        </a:rPr>
                        <a:t>encashed</a:t>
                      </a:r>
                      <a:r>
                        <a:rPr lang="en-US" sz="900" b="0" i="0" u="none" strike="noStrike" dirty="0">
                          <a:solidFill>
                            <a:srgbClr val="000000"/>
                          </a:solidFill>
                          <a:effectLst/>
                          <a:latin typeface="Verdana" panose="020B0604030504040204" pitchFamily="34" charset="0"/>
                        </a:rPr>
                        <a:t> by BPDB to satisfy any obligation of the company when in effect. Upon termination of PPA due to company event of default, the Performance Security Deposit can be forfeited without any notice.</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d) If prior to COD, the PSD will expire in 30 days and is not renewed by the Company for </a:t>
                      </a:r>
                      <a:r>
                        <a:rPr lang="en-US" sz="900" b="0" i="0" u="none" strike="noStrike" dirty="0" err="1">
                          <a:solidFill>
                            <a:srgbClr val="000000"/>
                          </a:solidFill>
                          <a:effectLst/>
                          <a:latin typeface="Verdana" panose="020B0604030504040204" pitchFamily="34" charset="0"/>
                        </a:rPr>
                        <a:t>atleast</a:t>
                      </a:r>
                      <a:r>
                        <a:rPr lang="en-US" sz="900" b="0" i="0" u="none" strike="noStrike" dirty="0">
                          <a:solidFill>
                            <a:srgbClr val="000000"/>
                          </a:solidFill>
                          <a:effectLst/>
                          <a:latin typeface="Verdana" panose="020B0604030504040204" pitchFamily="34" charset="0"/>
                        </a:rPr>
                        <a:t> 3 months, BPDB may </a:t>
                      </a:r>
                      <a:r>
                        <a:rPr lang="en-US" sz="900" b="0" i="0" u="none" strike="noStrike" dirty="0" err="1">
                          <a:solidFill>
                            <a:srgbClr val="000000"/>
                          </a:solidFill>
                          <a:effectLst/>
                          <a:latin typeface="Verdana" panose="020B0604030504040204" pitchFamily="34" charset="0"/>
                        </a:rPr>
                        <a:t>encash</a:t>
                      </a:r>
                      <a:r>
                        <a:rPr lang="en-US" sz="900" b="0" i="0" u="none" strike="noStrike" dirty="0">
                          <a:solidFill>
                            <a:srgbClr val="000000"/>
                          </a:solidFill>
                          <a:effectLst/>
                          <a:latin typeface="Verdana" panose="020B0604030504040204" pitchFamily="34" charset="0"/>
                        </a:rPr>
                        <a:t> the deposit in full</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Operations Security Deposit: The Company shall provide Operations Security deposit to BPDB within 30 days equal to 2 months of capacity charge payments. The Operations Security Deposit should be an unconditional irrevocable BG. The Operations Security deposit may be applicable to payment of LD and accrued interest thereon or Payment of other damages, interest or other amounts that the Company shall be required to pay</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bl>
          </a:graphicData>
        </a:graphic>
      </p:graphicFrame>
      <p:sp>
        <p:nvSpPr>
          <p:cNvPr id="21" name="SlideTitle"/>
          <p:cNvSpPr>
            <a:spLocks noGrp="1"/>
          </p:cNvSpPr>
          <p:nvPr>
            <p:ph type="title"/>
          </p:nvPr>
        </p:nvSpPr>
        <p:spPr>
          <a:xfrm>
            <a:off x="449993" y="647990"/>
            <a:ext cx="9791843" cy="431993"/>
          </a:xfrm>
        </p:spPr>
        <p:txBody>
          <a:bodyPr lIns="0" tIns="0" rIns="0" bIns="0" anchor="ctr">
            <a:noAutofit/>
          </a:bodyPr>
          <a:lstStyle/>
          <a:p>
            <a:r>
              <a:rPr lang="en-GB" dirty="0">
                <a:solidFill>
                  <a:srgbClr val="000000"/>
                </a:solidFill>
                <a:latin typeface="Verdana" panose="020B0604030504040204" pitchFamily="34" charset="0"/>
              </a:rPr>
              <a:t>Annexure I | PPA </a:t>
            </a:r>
            <a:r>
              <a:rPr lang="en-GB" noProof="0" dirty="0">
                <a:solidFill>
                  <a:srgbClr val="000000"/>
                </a:solidFill>
                <a:latin typeface="Verdana" panose="020B0604030504040204" pitchFamily="34" charset="0"/>
              </a:rPr>
              <a:t>Terms</a:t>
            </a:r>
          </a:p>
        </p:txBody>
      </p:sp>
    </p:spTree>
    <p:extLst>
      <p:ext uri="{BB962C8B-B14F-4D97-AF65-F5344CB8AC3E}">
        <p14:creationId xmlns:p14="http://schemas.microsoft.com/office/powerpoint/2010/main" val="342377370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365147537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dirty="0">
                <a:solidFill>
                  <a:srgbClr val="000000"/>
                </a:solidFill>
                <a:latin typeface="Verdana" panose="020B0604030504040204" pitchFamily="34" charset="0"/>
              </a:rPr>
              <a:t>Annexure I | PPA </a:t>
            </a:r>
            <a:r>
              <a:rPr lang="en-GB" noProof="0" dirty="0">
                <a:solidFill>
                  <a:srgbClr val="000000"/>
                </a:solidFill>
                <a:latin typeface="Verdana" panose="020B0604030504040204" pitchFamily="34" charset="0"/>
              </a:rPr>
              <a:t>Terms</a:t>
            </a:r>
          </a:p>
        </p:txBody>
      </p:sp>
      <p:graphicFrame>
        <p:nvGraphicFramePr>
          <p:cNvPr id="22" name="Table 21"/>
          <p:cNvGraphicFramePr>
            <a:graphicFrameLocks noGrp="1"/>
          </p:cNvGraphicFramePr>
          <p:nvPr>
            <p:custDataLst>
              <p:tags r:id="rId3"/>
            </p:custDataLst>
            <p:extLst>
              <p:ext uri="{D42A27DB-BD31-4B8C-83A1-F6EECF244321}">
                <p14:modId xmlns:p14="http://schemas.microsoft.com/office/powerpoint/2010/main" val="666620346"/>
              </p:ext>
            </p:extLst>
          </p:nvPr>
        </p:nvGraphicFramePr>
        <p:xfrm>
          <a:off x="449992" y="1943102"/>
          <a:ext cx="9791844" cy="5133559"/>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236933">
                <a:tc>
                  <a:txBody>
                    <a:bodyPr/>
                    <a:lstStyle/>
                    <a:p>
                      <a:pPr algn="l" fontAlgn="ctr">
                        <a:spcAft>
                          <a:spcPts val="3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2961669">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Liquidated Damages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rgbClr val="000000"/>
                          </a:solidFill>
                          <a:effectLst/>
                          <a:latin typeface="Verdana" panose="020B0604030504040204" pitchFamily="34" charset="0"/>
                        </a:rPr>
                        <a:t>Termination of the Agreement</a:t>
                      </a:r>
                      <a:r>
                        <a:rPr lang="en-US" sz="900" b="0" i="0" u="none" strike="noStrike" dirty="0">
                          <a:solidFill>
                            <a:srgbClr val="000000"/>
                          </a:solidFill>
                          <a:effectLst/>
                          <a:latin typeface="Verdana" panose="020B0604030504040204" pitchFamily="34" charset="0"/>
                        </a:rPr>
                        <a:t>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BPDB shall be entitled to retain or collect any damages due to the Company, unless not otherwise paid, from the Performance Security Deposit or the Operations Security Deposit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Remainder of the Performance Security Deposit or the Operations Security Deposit shall be paid to the Company within 10 business days</a:t>
                      </a:r>
                    </a:p>
                    <a:p>
                      <a:pPr algn="l" fontAlgn="ctr">
                        <a:spcAft>
                          <a:spcPts val="300"/>
                        </a:spcAft>
                      </a:pPr>
                      <a:endParaRPr lang="en-US" sz="900" b="0" i="0" u="none" strike="noStrike" dirty="0">
                        <a:solidFill>
                          <a:srgbClr val="000000"/>
                        </a:solidFill>
                        <a:effectLst/>
                        <a:latin typeface="Verdana" panose="020B0604030504040204" pitchFamily="34" charset="0"/>
                      </a:endParaRPr>
                    </a:p>
                    <a:p>
                      <a:pPr algn="l" fontAlgn="ctr">
                        <a:spcAft>
                          <a:spcPts val="300"/>
                        </a:spcAft>
                      </a:pPr>
                      <a:r>
                        <a:rPr lang="en-US" sz="900" b="1" i="0" u="none" strike="noStrike" dirty="0">
                          <a:solidFill>
                            <a:srgbClr val="000000"/>
                          </a:solidFill>
                          <a:effectLst/>
                          <a:latin typeface="Verdana" panose="020B0604030504040204" pitchFamily="34" charset="0"/>
                        </a:rPr>
                        <a:t>Procedural Provisions of the Performance and Operations Security Deposit:</a:t>
                      </a:r>
                      <a:r>
                        <a:rPr lang="en-US" sz="900" b="0" i="0" u="none" strike="noStrike" dirty="0">
                          <a:solidFill>
                            <a:srgbClr val="000000"/>
                          </a:solidFill>
                          <a:effectLst/>
                          <a:latin typeface="Verdana" panose="020B0604030504040204" pitchFamily="34" charset="0"/>
                        </a:rPr>
                        <a:t>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Deposits shall have a term of not less than 365 days. Not less than 30 days before expiration should the Deposit’s validity be extended for not less than 12 months. If at any time there remains less than 20 days for the validity of the security deposit, BPDB may </a:t>
                      </a:r>
                      <a:r>
                        <a:rPr lang="en-US" sz="900" b="0" i="0" u="none" strike="noStrike" dirty="0" err="1">
                          <a:solidFill>
                            <a:srgbClr val="000000"/>
                          </a:solidFill>
                          <a:effectLst/>
                          <a:latin typeface="Verdana" panose="020B0604030504040204" pitchFamily="34" charset="0"/>
                        </a:rPr>
                        <a:t>encash</a:t>
                      </a:r>
                      <a:r>
                        <a:rPr lang="en-US" sz="900" b="0" i="0" u="none" strike="noStrike" dirty="0">
                          <a:solidFill>
                            <a:srgbClr val="000000"/>
                          </a:solidFill>
                          <a:effectLst/>
                          <a:latin typeface="Verdana" panose="020B0604030504040204" pitchFamily="34" charset="0"/>
                        </a:rPr>
                        <a:t> the then existing Security Deposit in full, provided that:</a:t>
                      </a:r>
                    </a:p>
                    <a:p>
                      <a:pPr marL="179388" indent="0" algn="l" fontAlgn="ctr">
                        <a:spcAft>
                          <a:spcPts val="300"/>
                        </a:spcAft>
                      </a:pPr>
                      <a:r>
                        <a:rPr lang="en-US" sz="900" b="0" i="0" u="none" strike="noStrike" dirty="0">
                          <a:solidFill>
                            <a:srgbClr val="000000"/>
                          </a:solidFill>
                          <a:effectLst/>
                          <a:latin typeface="Verdana" panose="020B0604030504040204" pitchFamily="34" charset="0"/>
                        </a:rPr>
                        <a:t>a) Any amounts drawn in these circumstances shall be deposited in a separate bank account established with such bank account as is notified by BPDB to the company</a:t>
                      </a:r>
                    </a:p>
                    <a:p>
                      <a:pPr marL="179388" indent="0" algn="l" fontAlgn="ctr">
                        <a:spcAft>
                          <a:spcPts val="300"/>
                        </a:spcAft>
                      </a:pPr>
                      <a:r>
                        <a:rPr lang="en-US" sz="900" b="0" i="0" u="none" strike="noStrike" dirty="0">
                          <a:solidFill>
                            <a:srgbClr val="000000"/>
                          </a:solidFill>
                          <a:effectLst/>
                          <a:latin typeface="Verdana" panose="020B0604030504040204" pitchFamily="34" charset="0"/>
                        </a:rPr>
                        <a:t>b) BPDB may make withdrawals from such bank account only in such amounts and circumstances as contemplated by this Agreement </a:t>
                      </a:r>
                    </a:p>
                    <a:p>
                      <a:pPr marL="179388" indent="0" algn="l" fontAlgn="ctr">
                        <a:spcAft>
                          <a:spcPts val="300"/>
                        </a:spcAft>
                      </a:pPr>
                      <a:r>
                        <a:rPr lang="en-US" sz="900" b="0" i="0" u="none" strike="noStrike" dirty="0">
                          <a:solidFill>
                            <a:srgbClr val="000000"/>
                          </a:solidFill>
                          <a:effectLst/>
                          <a:latin typeface="Verdana" panose="020B0604030504040204" pitchFamily="34" charset="0"/>
                        </a:rPr>
                        <a:t>c) If the company provides a Deposit of an amount greater than or equal to required, BPDB shall return the </a:t>
                      </a:r>
                      <a:r>
                        <a:rPr lang="en-US" sz="900" b="0" i="0" u="none" strike="noStrike" dirty="0" err="1">
                          <a:solidFill>
                            <a:srgbClr val="000000"/>
                          </a:solidFill>
                          <a:effectLst/>
                          <a:latin typeface="Verdana" panose="020B0604030504040204" pitchFamily="34" charset="0"/>
                        </a:rPr>
                        <a:t>encashed</a:t>
                      </a:r>
                      <a:r>
                        <a:rPr lang="en-US" sz="900" b="0" i="0" u="none" strike="noStrike" dirty="0">
                          <a:solidFill>
                            <a:srgbClr val="000000"/>
                          </a:solidFill>
                          <a:effectLst/>
                          <a:latin typeface="Verdana" panose="020B0604030504040204" pitchFamily="34" charset="0"/>
                        </a:rPr>
                        <a:t> amount to the Company </a:t>
                      </a:r>
                    </a:p>
                    <a:p>
                      <a:pPr algn="l" fontAlgn="ctr">
                        <a:spcAft>
                          <a:spcPts val="300"/>
                        </a:spcAft>
                      </a:pPr>
                      <a:endParaRPr lang="en-US" sz="900" b="0" i="0" u="none" strike="noStrike" dirty="0">
                        <a:solidFill>
                          <a:srgbClr val="000000"/>
                        </a:solidFill>
                        <a:effectLst/>
                        <a:latin typeface="Verdana" panose="020B0604030504040204" pitchFamily="34" charset="0"/>
                      </a:endParaRPr>
                    </a:p>
                    <a:p>
                      <a:pPr algn="l" fontAlgn="ctr">
                        <a:spcAft>
                          <a:spcPts val="300"/>
                        </a:spcAft>
                      </a:pPr>
                      <a:r>
                        <a:rPr lang="en-US" sz="900" b="1" i="0" u="none" strike="noStrike" dirty="0">
                          <a:solidFill>
                            <a:srgbClr val="000000"/>
                          </a:solidFill>
                          <a:effectLst/>
                          <a:latin typeface="Verdana" panose="020B0604030504040204" pitchFamily="34" charset="0"/>
                        </a:rPr>
                        <a:t>Payment</a:t>
                      </a:r>
                      <a:r>
                        <a:rPr lang="en-US" sz="900" b="1" i="0" u="none" strike="noStrike" baseline="0" dirty="0">
                          <a:solidFill>
                            <a:srgbClr val="000000"/>
                          </a:solidFill>
                          <a:effectLst/>
                          <a:latin typeface="Verdana" panose="020B0604030504040204" pitchFamily="34" charset="0"/>
                        </a:rPr>
                        <a:t> - </a:t>
                      </a:r>
                      <a:r>
                        <a:rPr lang="en-US" sz="900" b="0" i="0" u="none" strike="noStrike" dirty="0">
                          <a:solidFill>
                            <a:srgbClr val="000000"/>
                          </a:solidFill>
                          <a:effectLst/>
                          <a:latin typeface="Verdana" panose="020B0604030504040204" pitchFamily="34" charset="0"/>
                        </a:rPr>
                        <a:t>Damages should be paid within 25 days of LD notice</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1934957">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Alternate Fuels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preferred fuel for operation will be Gas. In case of a Gas Supplier Force Majeure Event or a Political Event, the Company should promptly inform BPDB and the Other Fuel Notice Parties of such an Event. Within 5 days of receipt of notice, BPDB shall decide to:</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 Switch from Gas to Other Fuel</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b) Cease operations</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and specify whether the Company should use any remaining fuel oil at the facility</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such an event, the Company will first procure fuel oil for 15 days supply for continuous operation of the facility at 80% dependable capacity (three days supply in case the event occurs before COD)</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Once the Force Majeure Event/ Political event has passed, the Gas Supplier will serve a Cessation Notice following which the Company shall cancel any outstanding fuel orders within 2 days of receipt of such notice. The canceled outstanding Fuel Oil will be required to be supplied by the Fuel Supplier to BPDB who shall indemnify the Company for loss due to such diverted fuel oil. Any excess store of fuel oil of more than 3 days requirement will be utilized to generation till the stock reduces to 3 days worth of requirement. </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4040234158"/>
                  </a:ext>
                </a:extLst>
              </a:tr>
            </a:tbl>
          </a:graphicData>
        </a:graphic>
      </p:graphicFrame>
    </p:spTree>
    <p:extLst>
      <p:ext uri="{BB962C8B-B14F-4D97-AF65-F5344CB8AC3E}">
        <p14:creationId xmlns:p14="http://schemas.microsoft.com/office/powerpoint/2010/main" val="388733082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81726213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dirty="0">
                <a:solidFill>
                  <a:srgbClr val="000000"/>
                </a:solidFill>
                <a:latin typeface="Verdana" panose="020B0604030504040204" pitchFamily="34" charset="0"/>
              </a:rPr>
              <a:t>Annexure I | PPA </a:t>
            </a:r>
            <a:r>
              <a:rPr lang="en-GB" noProof="0" dirty="0">
                <a:solidFill>
                  <a:srgbClr val="000000"/>
                </a:solidFill>
                <a:latin typeface="Verdana" panose="020B0604030504040204" pitchFamily="34" charset="0"/>
              </a:rPr>
              <a:t>Terms</a:t>
            </a:r>
          </a:p>
        </p:txBody>
      </p:sp>
      <p:graphicFrame>
        <p:nvGraphicFramePr>
          <p:cNvPr id="22" name="Table 21"/>
          <p:cNvGraphicFramePr>
            <a:graphicFrameLocks noGrp="1"/>
          </p:cNvGraphicFramePr>
          <p:nvPr>
            <p:custDataLst>
              <p:tags r:id="rId3"/>
            </p:custDataLst>
            <p:extLst>
              <p:ext uri="{D42A27DB-BD31-4B8C-83A1-F6EECF244321}">
                <p14:modId xmlns:p14="http://schemas.microsoft.com/office/powerpoint/2010/main" val="2158478022"/>
              </p:ext>
            </p:extLst>
          </p:nvPr>
        </p:nvGraphicFramePr>
        <p:xfrm>
          <a:off x="449992" y="1943100"/>
          <a:ext cx="9791844" cy="5133559"/>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229200">
                <a:tc>
                  <a:txBody>
                    <a:bodyPr/>
                    <a:lstStyle/>
                    <a:p>
                      <a:pPr algn="l" fontAlgn="ctr">
                        <a:spcAft>
                          <a:spcPts val="3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1673158">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Billings and Payment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Company shall raise invoices monthly, no later than 7 days after end of month with a due date of 30 days for BPDB to make the payment.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If the Company fails to receive the payment by due date, it can draw any the expected amount from the BPDB Letter of Credit (LC)</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Payment Dispute: Invoices should be disputed within 180 days and after dispute resolution the disputed amount shall be paid within 3 business days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Letter of Credit (LC): On the Commercial Operation Date, BPDB shall issue revolving LC for period more than 1 year, to be extended 30 days prior to term expiration, and to be reinstated within 15 days after withdrawal from company. LC amount will be recalculated and adjusted by BPDB within 90 days in case of Gas to Fuel Switch Decision. Upon improper drawing, the Developer shall pay the amount plus interest of bank rate plus 2% p.a., compounded semi-annually</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Termination of Agreement: within 10 days of termination of PPA, the Company shall return any then-outstanding LC</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947359">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Force Majeure</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Every party can claim relief in relation to a force majeure event in regard to its obligations under the PPA except payments to be  made under the agreement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Force Majeure shall include outages due to the Electrical Transmission facilities and Grid System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partial operation during FM event, BPDB will pay the Company Energy Payment for Net Energy Output and Capacity Payments based on the ratio of dependable capacity (FM Ratio)</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Gas Suppliers Failure, the FM ratio will be considered as 1</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4040234158"/>
                  </a:ext>
                </a:extLst>
              </a:tr>
              <a:tr h="1711358">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Political Event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Every party can claim relief in relation to a force majeure event in regard to its obligations under the PPA except payments to be made under the agreement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No payments shall be made by either party affected by a force majeure event for the period of such event on account of its inability to perform its obligations under force majeure event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Political event includes gas and fuel suppliers inability to supply gas/fuel but does not include failure of gas transportation facilities</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partial operation during Political event, BPDB will pay the Company Energy Payment for Net Energy Output and Capacity Payments based on the ratio of dependable capacity (PE Ratio)</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Company will be entitled to receive a supplemental tariff for PE other than Change in Law to recover any restoration costs</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change in law, the Company will be entitled to supplemental tariff to recover costs of material capital additions and operating costs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658142413"/>
                  </a:ext>
                </a:extLst>
              </a:tr>
              <a:tr h="286242">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Sale to third parties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0" i="0" u="none" strike="noStrike">
                          <a:solidFill>
                            <a:srgbClr val="000000"/>
                          </a:solidFill>
                          <a:effectLst/>
                          <a:latin typeface="Verdana" panose="020B0604030504040204" pitchFamily="34" charset="0"/>
                        </a:rPr>
                        <a:t>Sale to third parties is not allowed except with prior written consent from BPDB</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438483844"/>
                  </a:ext>
                </a:extLst>
              </a:tr>
              <a:tr h="286242">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Operational Norms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0" i="0" u="none" strike="noStrike" dirty="0">
                          <a:solidFill>
                            <a:srgbClr val="000000"/>
                          </a:solidFill>
                          <a:effectLst/>
                          <a:latin typeface="Verdana" panose="020B0604030504040204" pitchFamily="34" charset="0"/>
                        </a:rPr>
                        <a:t>The company must operate the plant as per the Technical specifications provided in the PPA and Prudent Utility Practices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783411570"/>
                  </a:ext>
                </a:extLst>
              </a:tr>
            </a:tbl>
          </a:graphicData>
        </a:graphic>
      </p:graphicFrame>
    </p:spTree>
    <p:extLst>
      <p:ext uri="{BB962C8B-B14F-4D97-AF65-F5344CB8AC3E}">
        <p14:creationId xmlns:p14="http://schemas.microsoft.com/office/powerpoint/2010/main" val="367296289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63404024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dirty="0">
                <a:solidFill>
                  <a:srgbClr val="000000"/>
                </a:solidFill>
                <a:latin typeface="Verdana" panose="020B0604030504040204" pitchFamily="34" charset="0"/>
              </a:rPr>
              <a:t>Annexure I | PPA </a:t>
            </a:r>
            <a:r>
              <a:rPr lang="en-GB" noProof="0" dirty="0">
                <a:solidFill>
                  <a:srgbClr val="000000"/>
                </a:solidFill>
                <a:latin typeface="Verdana" panose="020B0604030504040204" pitchFamily="34" charset="0"/>
              </a:rPr>
              <a:t>Terms</a:t>
            </a:r>
          </a:p>
        </p:txBody>
      </p:sp>
      <p:graphicFrame>
        <p:nvGraphicFramePr>
          <p:cNvPr id="22" name="Table 21"/>
          <p:cNvGraphicFramePr>
            <a:graphicFrameLocks noGrp="1"/>
          </p:cNvGraphicFramePr>
          <p:nvPr>
            <p:custDataLst>
              <p:tags r:id="rId3"/>
            </p:custDataLst>
            <p:extLst>
              <p:ext uri="{D42A27DB-BD31-4B8C-83A1-F6EECF244321}">
                <p14:modId xmlns:p14="http://schemas.microsoft.com/office/powerpoint/2010/main" val="1742343074"/>
              </p:ext>
            </p:extLst>
          </p:nvPr>
        </p:nvGraphicFramePr>
        <p:xfrm>
          <a:off x="449992" y="1943102"/>
          <a:ext cx="9791844" cy="3131820"/>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0">
                <a:tc>
                  <a:txBody>
                    <a:bodyPr/>
                    <a:lstStyle/>
                    <a:p>
                      <a:pPr algn="l" fontAlgn="ctr">
                        <a:spcAft>
                          <a:spcPts val="3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738770">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Tariff</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0" i="0" u="none" strike="noStrike" dirty="0">
                          <a:solidFill>
                            <a:srgbClr val="000000"/>
                          </a:solidFill>
                          <a:effectLst/>
                          <a:latin typeface="Verdana" panose="020B0604030504040204" pitchFamily="34" charset="0"/>
                        </a:rPr>
                        <a:t>Reference Tariff = Reference Capacity Price + Reference Energy Price</a:t>
                      </a:r>
                      <a:br>
                        <a:rPr lang="en-US" sz="900" b="0" i="0" u="none" strike="noStrike" dirty="0">
                          <a:solidFill>
                            <a:srgbClr val="000000"/>
                          </a:solidFill>
                          <a:effectLst/>
                          <a:latin typeface="Verdana" panose="020B0604030504040204" pitchFamily="34" charset="0"/>
                        </a:rPr>
                      </a:br>
                      <a:endParaRPr lang="en-US" sz="900" b="0" i="0" u="none" strike="noStrike" dirty="0">
                        <a:solidFill>
                          <a:srgbClr val="000000"/>
                        </a:solidFill>
                        <a:effectLst/>
                        <a:latin typeface="Verdana" panose="020B0604030504040204" pitchFamily="34" charset="0"/>
                      </a:endParaRP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Capacity Payment based on dependable capacity</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 Non Escalable Capacity Price - Reference rate x Exchange Rate x (ratio of dependable capacity x hours/total hours)</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b) Foreign Escalable Capacity Price - Reference rate x Exchange Rate x Foreign Inflation Index Factor x (ratio of dependable capacity x hours/total hours)</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c) Local Escalable Capacity Price - Reference rate x Local Inflation Index Factor x (ratio of dependable capacity x hours/total hours)</a:t>
                      </a:r>
                      <a:br>
                        <a:rPr lang="en-US" sz="900" b="0" i="0" u="none" strike="noStrike" dirty="0">
                          <a:solidFill>
                            <a:srgbClr val="000000"/>
                          </a:solidFill>
                          <a:effectLst/>
                          <a:latin typeface="Verdana" panose="020B0604030504040204" pitchFamily="34" charset="0"/>
                        </a:rPr>
                      </a:br>
                      <a:endParaRPr lang="en-US" sz="900" b="0" i="0" u="none" strike="noStrike" dirty="0">
                        <a:solidFill>
                          <a:srgbClr val="000000"/>
                        </a:solidFill>
                        <a:effectLst/>
                        <a:latin typeface="Verdana" panose="020B0604030504040204" pitchFamily="34" charset="0"/>
                      </a:endParaRP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Energy Payment based on Net Energy Output</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 Foreign Variable O&amp;M Price - Reference rate x Exchange Rate x Foreign Inflation Index Factor x Net Energy Output (kWh) in half hourly interval x number of intervals x power factor adjustment</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b) Local Variable O&amp;M Price - Reference rate x Local Inflation Index Factor x Net Energy Output (kWh) in half hourly interval x number of intervals x power factor adjustment</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c) Gas/ Fuel Oil Price based on Reference Heat Rates - </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Fuel Oil: Price paid to supplier + taxes/duties paid by the company + freight, ocean loss, insurance, port dues, LC, handling loss etc.; </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Gas: Gas Price as per GSA based on energy sent out and Station Heat Rate + all transportation charges + taxes</a:t>
                      </a:r>
                    </a:p>
                    <a:p>
                      <a:pPr marL="171450" indent="-171450" algn="l" fontAlgn="ctr">
                        <a:spcAft>
                          <a:spcPts val="300"/>
                        </a:spcAft>
                        <a:buFont typeface="Arial" panose="020B0604020202020204" pitchFamily="34" charset="0"/>
                        <a:buChar char="•"/>
                      </a:pPr>
                      <a:endParaRPr lang="en-US" sz="900" b="0" i="0" u="none" strike="noStrike" dirty="0">
                        <a:solidFill>
                          <a:srgbClr val="000000"/>
                        </a:solidFill>
                        <a:effectLst/>
                        <a:latin typeface="Verdana" panose="020B0604030504040204" pitchFamily="34" charset="0"/>
                      </a:endParaRP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Only energy charge will be paid for any energy sent out during testing and commissioning</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bl>
          </a:graphicData>
        </a:graphic>
      </p:graphicFrame>
    </p:spTree>
    <p:extLst>
      <p:ext uri="{BB962C8B-B14F-4D97-AF65-F5344CB8AC3E}">
        <p14:creationId xmlns:p14="http://schemas.microsoft.com/office/powerpoint/2010/main" val="138403010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306036470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Annexure J | GSA Terms</a:t>
            </a:r>
          </a:p>
        </p:txBody>
      </p:sp>
      <p:graphicFrame>
        <p:nvGraphicFramePr>
          <p:cNvPr id="18" name="Table 17"/>
          <p:cNvGraphicFramePr>
            <a:graphicFrameLocks noGrp="1"/>
          </p:cNvGraphicFramePr>
          <p:nvPr>
            <p:custDataLst>
              <p:tags r:id="rId3"/>
            </p:custDataLst>
            <p:extLst>
              <p:ext uri="{D42A27DB-BD31-4B8C-83A1-F6EECF244321}">
                <p14:modId xmlns:p14="http://schemas.microsoft.com/office/powerpoint/2010/main" val="642503131"/>
              </p:ext>
            </p:extLst>
          </p:nvPr>
        </p:nvGraphicFramePr>
        <p:xfrm>
          <a:off x="449992" y="1943098"/>
          <a:ext cx="9791844" cy="5133560"/>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259937">
                <a:tc>
                  <a:txBody>
                    <a:bodyPr/>
                    <a:lstStyle/>
                    <a:p>
                      <a:pPr algn="l" fontAlgn="ctr">
                        <a:spcAft>
                          <a:spcPts val="3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1100551">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Obligation</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company agrees to purchase and the supplier agrees to supply gas to meet the facility's requirement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company will not use gas other that that supplied by the supplier except and to the extent the gas is not available at the Point of Delivery</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Gas supplied will be subject to Maximum Hourly Quantity and shall not exceed Daily Contract Quantity</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the Btu is different from 950 Btu (HHV), the Maximum Hourly Quantity and Daily Contract Quantity will be adjusted accordingly. The Btu should not be less than 900 Btu per Standard Cubic Foot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788474">
                <a:tc>
                  <a:txBody>
                    <a:bodyPr/>
                    <a:lstStyle/>
                    <a:p>
                      <a:pPr marL="72000" algn="l" fontAlgn="ctr">
                        <a:spcAft>
                          <a:spcPts val="300"/>
                        </a:spcAft>
                      </a:pPr>
                      <a:r>
                        <a:rPr lang="en-US" sz="900" b="0" i="0" u="none" strike="noStrike" dirty="0">
                          <a:solidFill>
                            <a:srgbClr val="000000"/>
                          </a:solidFill>
                          <a:effectLst/>
                          <a:latin typeface="Verdana" panose="020B0604030504040204" pitchFamily="34" charset="0"/>
                        </a:rPr>
                        <a:t>Failure at Point of Delivery</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rgbClr val="000000"/>
                          </a:solidFill>
                          <a:effectLst/>
                          <a:latin typeface="Verdana" panose="020B0604030504040204" pitchFamily="34" charset="0"/>
                        </a:rPr>
                        <a:t>Before/during commissioning period:</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Failure of gas to flow across point of delivery due to following will not be considered suppliers default </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 Malfunction of suppliers equipment including transportation facility</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b) Breach of agreement by supplier</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c) Gas Supplier Event of Default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4040234158"/>
                  </a:ext>
                </a:extLst>
              </a:tr>
              <a:tr h="523865">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Operations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At least 3 months prior to Commissioning Period Start Date, the parties will mutually prepare operating procedures. The procedures should be available at least 20 days prior to the Scheduled Commissioning Period Start Date</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Either party may, from time to time, request revisions to the Operating procedures on mutual consent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658142413"/>
                  </a:ext>
                </a:extLst>
              </a:tr>
              <a:tr h="1585613">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Transportation Facility</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transportation facility including the RMS will be constructed and operated by the Supplier and all related costs will be borne by the Company including 5% consultancy fee to the supplier (Upstream of Point of Delivery)</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Land for the pipeline will be acquired by the Supplier with assistance from the Company</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If construction is not completed before 30 days prior to the Scheduled Commissioning Period Start Date due to Supplier's failure, Supplier FM or PE, the period will be extended on a day to day basis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Following commissioning of transport facilities, its ownership shall be conveyed to the Supplier, who shall undertake all O&amp;M and bear costs thereof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Company shall install and operate Company Transmission Facility to connect to the point of delivery (downstream from Point of Delivery)</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438483844"/>
                  </a:ext>
                </a:extLst>
              </a:tr>
              <a:tr h="875120">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Dispute Resolution</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Either party can give a written notice to the other for any dispute, along with description. Failing to resolve the dispute amicably within 30 days, the dispute shall be settled through referral to CEO and the designated representative of the supplier. After the expiry of 15 days from such referral, if the dispute is not settled, it will be referred to an Expert.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the recommendation of the Expert is not acceptable to either party, it can initiate arbitration proceedings</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dispute between parties as to quantity of gas delivered which cannot be solved mutually, may be referred to an Expert </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783411570"/>
                  </a:ext>
                </a:extLst>
              </a:tr>
            </a:tbl>
          </a:graphicData>
        </a:graphic>
      </p:graphicFrame>
    </p:spTree>
    <p:extLst>
      <p:ext uri="{BB962C8B-B14F-4D97-AF65-F5344CB8AC3E}">
        <p14:creationId xmlns:p14="http://schemas.microsoft.com/office/powerpoint/2010/main" val="411863579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221075489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Annexure J | GSA Terms</a:t>
            </a:r>
          </a:p>
        </p:txBody>
      </p:sp>
      <p:graphicFrame>
        <p:nvGraphicFramePr>
          <p:cNvPr id="18" name="Table 17"/>
          <p:cNvGraphicFramePr>
            <a:graphicFrameLocks noGrp="1"/>
          </p:cNvGraphicFramePr>
          <p:nvPr>
            <p:custDataLst>
              <p:tags r:id="rId3"/>
            </p:custDataLst>
            <p:extLst>
              <p:ext uri="{D42A27DB-BD31-4B8C-83A1-F6EECF244321}">
                <p14:modId xmlns:p14="http://schemas.microsoft.com/office/powerpoint/2010/main" val="1704893845"/>
              </p:ext>
            </p:extLst>
          </p:nvPr>
        </p:nvGraphicFramePr>
        <p:xfrm>
          <a:off x="449992" y="1943097"/>
          <a:ext cx="9791844" cy="5133560"/>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244587">
                <a:tc>
                  <a:txBody>
                    <a:bodyPr/>
                    <a:lstStyle/>
                    <a:p>
                      <a:pPr algn="l" fontAlgn="ctr">
                        <a:spcAft>
                          <a:spcPts val="3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1426761">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Company event of default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0" i="0" u="none" strike="noStrike" dirty="0">
                          <a:solidFill>
                            <a:srgbClr val="000000"/>
                          </a:solidFill>
                          <a:effectLst/>
                          <a:latin typeface="Verdana" panose="020B0604030504040204" pitchFamily="34" charset="0"/>
                        </a:rPr>
                        <a:t>Supplier shall give a notice of termination in case of following events except when such default is caused due to breach of relevant agreements by BPDB, GOB, PGCB, Gas Supplier, Fuel Supplier, due to Force Majeure or a Political Event: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Assignment of Agreement by the Company without written consent of the supplier</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Occurrence of a Company Event of Default under the Implementation Agreement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Winding up, liquidation, bankruptcy of the Company</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Any material breach by the Company that is not remedied in 30 days after notice from supplier</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Incorrect statements, representations, warranties</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the Company to make payments due under the agreement within 35 days of receiving notice</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2242052">
                <a:tc>
                  <a:txBody>
                    <a:bodyPr/>
                    <a:lstStyle/>
                    <a:p>
                      <a:pPr marL="72000" algn="l" fontAlgn="ctr">
                        <a:spcAft>
                          <a:spcPts val="300"/>
                        </a:spcAft>
                      </a:pPr>
                      <a:r>
                        <a:rPr lang="en-US" sz="900" b="0" i="0" u="none" strike="noStrike" dirty="0">
                          <a:solidFill>
                            <a:srgbClr val="000000"/>
                          </a:solidFill>
                          <a:effectLst/>
                          <a:latin typeface="Verdana" panose="020B0604030504040204" pitchFamily="34" charset="0"/>
                        </a:rPr>
                        <a:t>Gas Supplier event of default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0" i="0" u="none" strike="noStrike" dirty="0">
                          <a:solidFill>
                            <a:srgbClr val="000000"/>
                          </a:solidFill>
                          <a:effectLst/>
                          <a:latin typeface="Verdana" panose="020B0604030504040204" pitchFamily="34" charset="0"/>
                        </a:rPr>
                        <a:t>Company shall give a notice of default in case of following events except when such default is caused due to breach of any of the project agreements by the Company or due to Force Majeure or a Political Event: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Assignment of Agreement by the supplier in contravention with the provisions of assignment under the agreement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Dissolution of the supplier except for privatization or amalgamation/restructuring/reorganization/corporatization provided a reasonable guarantee to the performance of the succeeding entity and all supplier's obligations have been assigned to the new entity</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Any event of default by GOB, Fuel Supplier or BPDB under their respective agreements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the supplier to commission the transport facility within 30 days after the Required COD</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Any material breach by BPDB that is not remedied in 30 days after notice from the Company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the Gas Supplier to deliver an aggregate amount of Gas greater than 50% of the aggregate amount of gas shown in the gas order in any 12 month period</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Incorrect statements, representations, warranties</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Change in Law making execution unlawful/unenforceable</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4040234158"/>
                  </a:ext>
                </a:extLst>
              </a:tr>
              <a:tr h="1220160">
                <a:tc>
                  <a:txBody>
                    <a:bodyPr/>
                    <a:lstStyle/>
                    <a:p>
                      <a:pPr marL="72000" algn="l" fontAlgn="ctr">
                        <a:spcAft>
                          <a:spcPts val="300"/>
                        </a:spcAft>
                      </a:pPr>
                      <a:r>
                        <a:rPr lang="en-US" sz="900" b="0" i="0" u="none" strike="noStrike" dirty="0">
                          <a:solidFill>
                            <a:srgbClr val="000000"/>
                          </a:solidFill>
                          <a:effectLst/>
                          <a:latin typeface="Verdana" panose="020B0604030504040204" pitchFamily="34" charset="0"/>
                        </a:rPr>
                        <a:t>Rights and remedies in the event of default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Upon event of default, the non-defaulting party can choose to terminate this agreement by delivering a Notice of Termination, specifying in reasonable detail the event of default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Following the delivery of Intent to Terminate, the parties shall consult in good faith to remedy the default: </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 45 days: in case of default on payments</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b) 90 days: in any other event of default, or even longer duration of consulting in mutual agreement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Notwithstanding the consulting, the defaulting party must undertake efforts to cure the default. In case the default is cured before the delivery of termination notice, the non defaulting party shall have no right to terminate</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658142413"/>
                  </a:ext>
                </a:extLst>
              </a:tr>
            </a:tbl>
          </a:graphicData>
        </a:graphic>
      </p:graphicFrame>
    </p:spTree>
    <p:extLst>
      <p:ext uri="{BB962C8B-B14F-4D97-AF65-F5344CB8AC3E}">
        <p14:creationId xmlns:p14="http://schemas.microsoft.com/office/powerpoint/2010/main" val="244064374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28222647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Annexure J | GSA Terms</a:t>
            </a:r>
          </a:p>
        </p:txBody>
      </p:sp>
      <p:graphicFrame>
        <p:nvGraphicFramePr>
          <p:cNvPr id="18" name="Table 17"/>
          <p:cNvGraphicFramePr>
            <a:graphicFrameLocks noGrp="1"/>
          </p:cNvGraphicFramePr>
          <p:nvPr>
            <p:custDataLst>
              <p:tags r:id="rId3"/>
            </p:custDataLst>
            <p:extLst>
              <p:ext uri="{D42A27DB-BD31-4B8C-83A1-F6EECF244321}">
                <p14:modId xmlns:p14="http://schemas.microsoft.com/office/powerpoint/2010/main" val="2207042169"/>
              </p:ext>
            </p:extLst>
          </p:nvPr>
        </p:nvGraphicFramePr>
        <p:xfrm>
          <a:off x="449992" y="1943101"/>
          <a:ext cx="9791844" cy="5133561"/>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257539">
                <a:tc>
                  <a:txBody>
                    <a:bodyPr/>
                    <a:lstStyle/>
                    <a:p>
                      <a:pPr algn="l" fontAlgn="ctr">
                        <a:spcAft>
                          <a:spcPts val="3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1862865">
                <a:tc>
                  <a:txBody>
                    <a:bodyPr/>
                    <a:lstStyle/>
                    <a:p>
                      <a:pPr marL="72000" algn="l" fontAlgn="ctr"/>
                      <a:r>
                        <a:rPr lang="en-US" sz="900" b="0" i="0" u="none" strike="noStrike" dirty="0">
                          <a:solidFill>
                            <a:srgbClr val="000000"/>
                          </a:solidFill>
                          <a:effectLst/>
                          <a:latin typeface="Verdana" panose="020B0604030504040204" pitchFamily="34" charset="0"/>
                        </a:rPr>
                        <a:t>Rights and remedies in the event of default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At the expiry of the consultation period, if the default is not remedied or the parties have not reached an agreement, the non-defaulting party may terminate the agreement by giving notice to the other party and their lenders</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the agreement is terminated before COD due to Company Event of Default, the Company shall reimburse the gas supplier for all expenses incurred for procurement of easements rights, design and construction of interconnection facilities etc.</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Supplier shall not seek to terminate this Agreement without first giving a copy of the notices to the Lenders along with a request to cure the default within the cure period. No such termination will be valid till the expiration of:</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 Initial Cure Period</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b) An Evaluation Period subsequent to expiry of the initial cure period - Earlier of delivery of Election notice by the Lenders to the supplier or 30 days from expiration of Initial Cure Period. Upon delivery of Election Notice, Lenders have a period of 270 days to cure any Company Event of Default</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c) Lenders Cure Period - Period during which the Lenders either attempt to procure the cure of such default or enforce their rights under the Financing Documents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626678">
                <a:tc>
                  <a:txBody>
                    <a:bodyPr/>
                    <a:lstStyle/>
                    <a:p>
                      <a:pPr marL="72000" algn="l" fontAlgn="ctr"/>
                      <a:r>
                        <a:rPr lang="en-IN" sz="900" b="0" i="0" u="none" strike="noStrike">
                          <a:solidFill>
                            <a:srgbClr val="000000"/>
                          </a:solidFill>
                          <a:effectLst/>
                          <a:latin typeface="Verdana" panose="020B0604030504040204" pitchFamily="34" charset="0"/>
                        </a:rPr>
                        <a:t>Obligation upon termination</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Upon termination by the Gas supplier, if the facility is transferred to GOB or its assignee, the Company shall have no obligations except those which arose before termination</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company event of default, the transfer to facility to GOB and payment of amount due shall constitute the liquidated damages to the supplier</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4040234158"/>
                  </a:ext>
                </a:extLst>
              </a:tr>
              <a:tr h="472155">
                <a:tc>
                  <a:txBody>
                    <a:bodyPr/>
                    <a:lstStyle/>
                    <a:p>
                      <a:pPr marL="72000" algn="l" fontAlgn="ctr"/>
                      <a:r>
                        <a:rPr lang="en-IN" sz="900" b="0" i="0" u="none" strike="noStrike">
                          <a:solidFill>
                            <a:srgbClr val="000000"/>
                          </a:solidFill>
                          <a:effectLst/>
                          <a:latin typeface="Verdana" panose="020B0604030504040204" pitchFamily="34" charset="0"/>
                        </a:rPr>
                        <a:t>Termination</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Company/supplier event of default not remedied. The Gas Supplier can only terminate the agreement with prior consent from GOB</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Force Majeure or Political Event of more than 12 months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658142413"/>
                  </a:ext>
                </a:extLst>
              </a:tr>
              <a:tr h="1244772">
                <a:tc>
                  <a:txBody>
                    <a:bodyPr/>
                    <a:lstStyle/>
                    <a:p>
                      <a:pPr marL="72000" algn="l" fontAlgn="ctr"/>
                      <a:r>
                        <a:rPr lang="en-IN" sz="900" b="0" i="0" u="none" strike="noStrike" dirty="0">
                          <a:solidFill>
                            <a:srgbClr val="000000"/>
                          </a:solidFill>
                          <a:effectLst/>
                          <a:latin typeface="Verdana" panose="020B0604030504040204" pitchFamily="34" charset="0"/>
                        </a:rPr>
                        <a:t>Force Majeure</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Every party can claim relief in relation to a force majeure event in regard to its obligations under the agreement</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No payments shall be made by either party affected by a force majeure event for the period of such event on account of its inability to perform its obligations under force majeure event. However, the supplier will not be excused from making payments due to the company under the agreement</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a Force Majeure event affects BPDB, GOB, PGCB, fuel supplier or gas supplier under the applicable agreements rendering the Company unable to perform its obligations, the Company will not be liable for such delay</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a Gas Supplier Force Majeure Event, the gas supplier needs to inform BPDB who will decide whether to cease operations of the plant or switch operations to fuel oil</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532712440"/>
                  </a:ext>
                </a:extLst>
              </a:tr>
              <a:tr h="669552">
                <a:tc>
                  <a:txBody>
                    <a:bodyPr/>
                    <a:lstStyle/>
                    <a:p>
                      <a:pPr marL="72000" algn="l" fontAlgn="ctr"/>
                      <a:r>
                        <a:rPr lang="en-IN" sz="900" b="0" i="0" u="none" strike="noStrike" dirty="0">
                          <a:solidFill>
                            <a:srgbClr val="000000"/>
                          </a:solidFill>
                          <a:effectLst/>
                          <a:latin typeface="Verdana" panose="020B0604030504040204" pitchFamily="34" charset="0"/>
                        </a:rPr>
                        <a:t>Political Events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Every party can claim relief in relation to a force majeure event in regard to its obligations under the PPA</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No payments shall be made by either party affected by a force majeure event for the period of such event on account of its inability to perform its obligations under force majeure event. However, the supplier will not be excused from making payments due to the company under the agreement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875594078"/>
                  </a:ext>
                </a:extLst>
              </a:tr>
            </a:tbl>
          </a:graphicData>
        </a:graphic>
      </p:graphicFrame>
    </p:spTree>
    <p:extLst>
      <p:ext uri="{BB962C8B-B14F-4D97-AF65-F5344CB8AC3E}">
        <p14:creationId xmlns:p14="http://schemas.microsoft.com/office/powerpoint/2010/main" val="375666477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295051522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Annexure J | GSA Terms</a:t>
            </a:r>
          </a:p>
        </p:txBody>
      </p:sp>
      <p:graphicFrame>
        <p:nvGraphicFramePr>
          <p:cNvPr id="18" name="Table 17"/>
          <p:cNvGraphicFramePr>
            <a:graphicFrameLocks noGrp="1"/>
          </p:cNvGraphicFramePr>
          <p:nvPr>
            <p:custDataLst>
              <p:tags r:id="rId3"/>
            </p:custDataLst>
            <p:extLst>
              <p:ext uri="{D42A27DB-BD31-4B8C-83A1-F6EECF244321}">
                <p14:modId xmlns:p14="http://schemas.microsoft.com/office/powerpoint/2010/main" val="2764624539"/>
              </p:ext>
            </p:extLst>
          </p:nvPr>
        </p:nvGraphicFramePr>
        <p:xfrm>
          <a:off x="449992" y="1943101"/>
          <a:ext cx="9791844" cy="5133560"/>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281146">
                <a:tc>
                  <a:txBody>
                    <a:bodyPr/>
                    <a:lstStyle/>
                    <a:p>
                      <a:pPr algn="l" fontAlgn="ctr">
                        <a:spcBef>
                          <a:spcPts val="200"/>
                        </a:spcBef>
                        <a:spcAft>
                          <a:spcPts val="2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935107">
                <a:tc>
                  <a:txBody>
                    <a:bodyPr/>
                    <a:lstStyle/>
                    <a:p>
                      <a:pPr marL="72000" algn="l" fontAlgn="ctr"/>
                      <a:r>
                        <a:rPr lang="en-IN" sz="900" b="0" i="0" u="none" strike="noStrike" dirty="0">
                          <a:solidFill>
                            <a:srgbClr val="000000"/>
                          </a:solidFill>
                          <a:effectLst/>
                          <a:latin typeface="Verdana" panose="020B0604030504040204" pitchFamily="34" charset="0"/>
                        </a:rPr>
                        <a:t>Political Events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a Political event affects BPDB, GOB, PGCB, fuel supplier or gas supplier under the applicable agreements rendering the Company unable to perform its obligations, the Company will not be liable for such delay</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Political event includes gas and fuel suppliers inability to supply gas/fuel but does not include failure of transportation facilities</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a Gas Supplier Political Event, the gas supplier needs to inform BPDB who will decide whether to cease operations of the plant or switch operations to fuel oil</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1696250">
                <a:tc>
                  <a:txBody>
                    <a:bodyPr/>
                    <a:lstStyle/>
                    <a:p>
                      <a:pPr marL="72000" algn="l" fontAlgn="ctr"/>
                      <a:r>
                        <a:rPr lang="en-IN" sz="900" b="0" i="0" u="none" strike="noStrike" dirty="0">
                          <a:solidFill>
                            <a:srgbClr val="000000"/>
                          </a:solidFill>
                          <a:effectLst/>
                          <a:latin typeface="Verdana" panose="020B0604030504040204" pitchFamily="34" charset="0"/>
                        </a:rPr>
                        <a:t>Liquidated Damages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r>
                        <a:rPr lang="en-US" sz="900" b="1" i="0" u="none" strike="noStrike" dirty="0">
                          <a:solidFill>
                            <a:srgbClr val="000000"/>
                          </a:solidFill>
                          <a:effectLst/>
                          <a:latin typeface="Verdana" panose="020B0604030504040204" pitchFamily="34" charset="0"/>
                        </a:rPr>
                        <a:t>Payable by Gas Supplier:</a:t>
                      </a:r>
                      <a:br>
                        <a:rPr lang="en-US" sz="900" b="1"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Applicable in case failure of supplier to deliver gas due to transportation facilities failure other than due to Force Majeure or a Political Event, LD = amount that would have been received by the Company from BPDB has the gas supply not been interrupted except energy charges (i.e. Capacity Charges) + any liquidated damages payable by the Company under the PPA</a:t>
                      </a:r>
                      <a:br>
                        <a:rPr lang="en-US" sz="900" b="0" i="0" u="none" strike="noStrike" dirty="0">
                          <a:solidFill>
                            <a:srgbClr val="000000"/>
                          </a:solidFill>
                          <a:effectLst/>
                          <a:latin typeface="Verdana" panose="020B0604030504040204" pitchFamily="34" charset="0"/>
                        </a:rPr>
                      </a:br>
                      <a:br>
                        <a:rPr lang="en-US" sz="900" b="0" i="0" u="none" strike="noStrike" dirty="0">
                          <a:solidFill>
                            <a:srgbClr val="000000"/>
                          </a:solidFill>
                          <a:effectLst/>
                          <a:latin typeface="Verdana" panose="020B0604030504040204" pitchFamily="34" charset="0"/>
                        </a:rPr>
                      </a:br>
                      <a:r>
                        <a:rPr lang="en-US" sz="900" b="1" i="0" u="none" strike="noStrike" dirty="0">
                          <a:solidFill>
                            <a:srgbClr val="000000"/>
                          </a:solidFill>
                          <a:effectLst/>
                          <a:latin typeface="Verdana" panose="020B0604030504040204" pitchFamily="34" charset="0"/>
                        </a:rPr>
                        <a:t>Payable by the Company:</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1. If Scheduled outages + maintenance outages + forced outages + Delay lost energy &gt; Threshold level (876 hours or 1376 hours for major maintenance years)</a:t>
                      </a:r>
                      <a:br>
                        <a:rPr lang="en-US" sz="900" b="0" i="0" u="none" strike="noStrike" dirty="0">
                          <a:solidFill>
                            <a:srgbClr val="000000"/>
                          </a:solidFill>
                          <a:effectLst/>
                          <a:latin typeface="Verdana" panose="020B0604030504040204" pitchFamily="34" charset="0"/>
                        </a:rPr>
                      </a:b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The parties owing the liquidated damages shall pay the amount within 25 days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4040234158"/>
                  </a:ext>
                </a:extLst>
              </a:tr>
              <a:tr h="684123">
                <a:tc>
                  <a:txBody>
                    <a:bodyPr/>
                    <a:lstStyle/>
                    <a:p>
                      <a:pPr marL="72000" algn="l" fontAlgn="ctr"/>
                      <a:r>
                        <a:rPr lang="en-IN" sz="900" b="0" i="0" u="none" strike="noStrike" dirty="0">
                          <a:solidFill>
                            <a:srgbClr val="000000"/>
                          </a:solidFill>
                          <a:effectLst/>
                          <a:latin typeface="Verdana" panose="020B0604030504040204" pitchFamily="34" charset="0"/>
                        </a:rPr>
                        <a:t>Company representation and warranties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It is a valid company existing under the laws of Bangladesh</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There is no pending or, to the best of the company’s knowledge, threatened action or proceeding against the Company before any court, Government Authority or Arbitrator</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Procure and maintain all consents and approvals required for performance under the agreement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658142413"/>
                  </a:ext>
                </a:extLst>
              </a:tr>
              <a:tr h="684123">
                <a:tc>
                  <a:txBody>
                    <a:bodyPr/>
                    <a:lstStyle/>
                    <a:p>
                      <a:pPr marL="72000" algn="l" fontAlgn="ctr"/>
                      <a:r>
                        <a:rPr lang="en-IN" sz="900" b="0" i="0" u="none" strike="noStrike" dirty="0">
                          <a:solidFill>
                            <a:srgbClr val="000000"/>
                          </a:solidFill>
                          <a:effectLst/>
                          <a:latin typeface="Verdana" panose="020B0604030504040204" pitchFamily="34" charset="0"/>
                        </a:rPr>
                        <a:t>Quality</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supplier shall deliver gas in accordance with the quality specifications and max/min pressure specified in the agreement</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Company can reject delivery of gas in case it doesn’t conform with the gas specifications. Till such time that the gas fully conforms to the specifications, the non-conforming shall be deemed to not have been tendered</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Company also has the option to accept non conforming gas, without any subsequent liability of the supplier </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532712440"/>
                  </a:ext>
                </a:extLst>
              </a:tr>
              <a:tr h="852811">
                <a:tc>
                  <a:txBody>
                    <a:bodyPr/>
                    <a:lstStyle/>
                    <a:p>
                      <a:pPr marL="72000" algn="l" fontAlgn="ctr"/>
                      <a:r>
                        <a:rPr lang="en-IN" sz="900" b="0" i="0" u="none" strike="noStrike" dirty="0">
                          <a:solidFill>
                            <a:srgbClr val="000000"/>
                          </a:solidFill>
                          <a:effectLst/>
                          <a:latin typeface="Verdana" panose="020B0604030504040204" pitchFamily="34" charset="0"/>
                        </a:rPr>
                        <a:t>Pricing</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Price - as per the Published Gas Price. In case Published Gas Price is not available, parties may mutually decide on an alternate index within 15 days of discontinuance to the Published Gas Price, otherwise the matter will be referred to an Expert</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Price Adjustment - Invoice amount will be adjusted to accommodate the deviations from 950 Btu per cubic foot</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price will be paid including all delivery, transportation charges and taxes payable</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Amount paid during any month will be equal to the prevailing gas price multiplied by the number of MSCF of gas delivered</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875594078"/>
                  </a:ext>
                </a:extLst>
              </a:tr>
            </a:tbl>
          </a:graphicData>
        </a:graphic>
      </p:graphicFrame>
    </p:spTree>
    <p:extLst>
      <p:ext uri="{BB962C8B-B14F-4D97-AF65-F5344CB8AC3E}">
        <p14:creationId xmlns:p14="http://schemas.microsoft.com/office/powerpoint/2010/main" val="84199680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16067605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Annexure J | GSA Terms</a:t>
            </a:r>
          </a:p>
        </p:txBody>
      </p:sp>
      <p:graphicFrame>
        <p:nvGraphicFramePr>
          <p:cNvPr id="18" name="Table 17"/>
          <p:cNvGraphicFramePr>
            <a:graphicFrameLocks noGrp="1"/>
          </p:cNvGraphicFramePr>
          <p:nvPr>
            <p:custDataLst>
              <p:tags r:id="rId3"/>
            </p:custDataLst>
            <p:extLst>
              <p:ext uri="{D42A27DB-BD31-4B8C-83A1-F6EECF244321}">
                <p14:modId xmlns:p14="http://schemas.microsoft.com/office/powerpoint/2010/main" val="3080604972"/>
              </p:ext>
            </p:extLst>
          </p:nvPr>
        </p:nvGraphicFramePr>
        <p:xfrm>
          <a:off x="449992" y="1943101"/>
          <a:ext cx="9791844" cy="1672340"/>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277880">
                <a:tc>
                  <a:txBody>
                    <a:bodyPr/>
                    <a:lstStyle/>
                    <a:p>
                      <a:pPr algn="l" fontAlgn="ctr">
                        <a:spcAft>
                          <a:spcPts val="3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924244">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Billing and Payment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Supplier shall raise invoices monthly, on or after 7 days after end of month with a due date of 32 days for the Company to make the payment.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No dispute can be raised by the Company for a meter inaccuracy of less than 2%</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Late Payment - Interest payable at Bangladesh Bank Rate plus 2% per annum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Payment Dispute: Invoices should be disputed within 180 days and after dispute resolution through an Expert or arbitration, the disputed amount shall be paid within 3 business days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supplier may suspend delivery if the undisputed amount remains unpaid for 3 days unless the company provides a Letter of Credit for an amount equal to 1.5 times the invoice amount with a validity of 60 days. The supplier may suspend delivery and </a:t>
                      </a:r>
                      <a:r>
                        <a:rPr lang="en-US" sz="900" b="0" i="0" u="none" strike="noStrike" dirty="0" err="1">
                          <a:solidFill>
                            <a:srgbClr val="000000"/>
                          </a:solidFill>
                          <a:effectLst/>
                          <a:latin typeface="Verdana" panose="020B0604030504040204" pitchFamily="34" charset="0"/>
                        </a:rPr>
                        <a:t>encash</a:t>
                      </a:r>
                      <a:r>
                        <a:rPr lang="en-US" sz="900" b="0" i="0" u="none" strike="noStrike" dirty="0">
                          <a:solidFill>
                            <a:srgbClr val="000000"/>
                          </a:solidFill>
                          <a:effectLst/>
                          <a:latin typeface="Verdana" panose="020B0604030504040204" pitchFamily="34" charset="0"/>
                        </a:rPr>
                        <a:t> LC if amount remains unpaid for 45 days after invoice date</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bl>
          </a:graphicData>
        </a:graphic>
      </p:graphicFrame>
    </p:spTree>
    <p:extLst>
      <p:ext uri="{BB962C8B-B14F-4D97-AF65-F5344CB8AC3E}">
        <p14:creationId xmlns:p14="http://schemas.microsoft.com/office/powerpoint/2010/main" val="204118277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108746431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Annexure K | FSA Terms</a:t>
            </a:r>
          </a:p>
        </p:txBody>
      </p:sp>
      <p:graphicFrame>
        <p:nvGraphicFramePr>
          <p:cNvPr id="18" name="Table 17"/>
          <p:cNvGraphicFramePr>
            <a:graphicFrameLocks noGrp="1"/>
          </p:cNvGraphicFramePr>
          <p:nvPr>
            <p:custDataLst>
              <p:tags r:id="rId3"/>
            </p:custDataLst>
            <p:extLst>
              <p:ext uri="{D42A27DB-BD31-4B8C-83A1-F6EECF244321}">
                <p14:modId xmlns:p14="http://schemas.microsoft.com/office/powerpoint/2010/main" val="3064617102"/>
              </p:ext>
            </p:extLst>
          </p:nvPr>
        </p:nvGraphicFramePr>
        <p:xfrm>
          <a:off x="449992" y="1943101"/>
          <a:ext cx="9791844" cy="5133560"/>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265744">
                <a:tc>
                  <a:txBody>
                    <a:bodyPr/>
                    <a:lstStyle/>
                    <a:p>
                      <a:pPr algn="l" fontAlgn="ctr">
                        <a:spcAft>
                          <a:spcPts val="3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695635">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Obligation</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company agrees to purchase and the supplier agrees to supply fuel to meet the facility's requirement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facility shall operate on Gas and to the extent gas is not available, it shall operate on fuel oil</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supplier shall deliver fuel at the Receiving Point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to supply fuel shall not constitute a breach if damages are paid to the Company under the FSA and PPA (paid by company)</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1443876">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Quality</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supplier shall deliver fuel in accordance with the quality specifications specified in the agreement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quality shall be inspected by the Company</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Company can reject delivery of fuel in case it doesn’t conform with the gas specifications. Till such time that the fuel fully conforms to the specifications, the non-conforming fuel shall be deemed to not have been tendered. Company cannot reject delivery if it doesn’t conform to the specification of LHV, unless the deviation is such that the fuel cannot be used in the facility</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Company also has the option to accept non conforming fuel, without any subsequent liability of the supplier</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Testing of fuel oil delivered will be according to the operational procedures</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fuel supplier will test the fuel before loading for transport (in case of transportation by water) and send a Sample Certification to the Company within 2 days of receipt of such oil </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4040234158"/>
                  </a:ext>
                </a:extLst>
              </a:tr>
              <a:tr h="1284429">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Transportation Facility</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receiving point for the fuel transported by water vessel shall be the discharge flange of loading jetty located at Barisal/</a:t>
                      </a:r>
                      <a:r>
                        <a:rPr lang="en-US" sz="900" b="0" i="0" u="none" strike="noStrike" dirty="0" err="1">
                          <a:solidFill>
                            <a:srgbClr val="000000"/>
                          </a:solidFill>
                          <a:effectLst/>
                          <a:latin typeface="Verdana" panose="020B0604030504040204" pitchFamily="34" charset="0"/>
                        </a:rPr>
                        <a:t>Jhalakati</a:t>
                      </a:r>
                      <a:r>
                        <a:rPr lang="en-US" sz="900" b="0" i="0" u="none" strike="noStrike" dirty="0">
                          <a:solidFill>
                            <a:srgbClr val="000000"/>
                          </a:solidFill>
                          <a:effectLst/>
                          <a:latin typeface="Verdana" panose="020B0604030504040204" pitchFamily="34" charset="0"/>
                        </a:rPr>
                        <a:t> Depot of the fuel supplier</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fuel supplier shall be responsible for all facilities upstream of and for transportation of fuel oil to the Receiving Point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Company shall be responsible for all facilities downstream of the Receiving Point and for transportation and delivery of fuel oil from the Receiving Point to the facility</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company will install and maintain the Company receipt and storage facilities for storing and utilizing the fuel oil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fuel supplier will ensure that it has all equipment and facilities ready for first delivery of fuel at the Initial Delivery Date (i.e. 18 months or more from the Project Effective Date). </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658142413"/>
                  </a:ext>
                </a:extLst>
              </a:tr>
              <a:tr h="1443876">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Quantity</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On receipt of Fuel Supplier Switch Order in case of Gas Supplier Force Majeure/Political Event/ Supply Failure, the supplier will have up to 90 days to commence deliveries of Fuel Oil and an additional 15 days to deliver fuel oil in an amount equal to the applicable fuel oil storage quantity</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to complete delivery within the stipulated time will attract liquidated damages</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Company may amend its fuel order 15 days prior to start of the relevant month</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Any </a:t>
                      </a:r>
                      <a:r>
                        <a:rPr lang="en-US" sz="900" b="0" i="0" u="none" strike="noStrike" dirty="0" err="1">
                          <a:solidFill>
                            <a:srgbClr val="000000"/>
                          </a:solidFill>
                          <a:effectLst/>
                          <a:latin typeface="Verdana" panose="020B0604030504040204" pitchFamily="34" charset="0"/>
                        </a:rPr>
                        <a:t>updward</a:t>
                      </a:r>
                      <a:r>
                        <a:rPr lang="en-US" sz="900" b="0" i="0" u="none" strike="noStrike" dirty="0">
                          <a:solidFill>
                            <a:srgbClr val="000000"/>
                          </a:solidFill>
                          <a:effectLst/>
                          <a:latin typeface="Verdana" panose="020B0604030504040204" pitchFamily="34" charset="0"/>
                        </a:rPr>
                        <a:t> adjustments less than 15 days prior to the relevant month up to 10% will be complied with by the fuel supplier. Fuel supplier shall use reasonable efforts to supply fuel in excess of 10% where required.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At any time, the Company shall maintain at least 3 days fuel oil storage quantity except in cases of Force Majeure, Political Event, or default by GOB/BPDB/PGCB/Gas supplier or fuel supplier</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532712440"/>
                  </a:ext>
                </a:extLst>
              </a:tr>
            </a:tbl>
          </a:graphicData>
        </a:graphic>
      </p:graphicFrame>
    </p:spTree>
    <p:extLst>
      <p:ext uri="{BB962C8B-B14F-4D97-AF65-F5344CB8AC3E}">
        <p14:creationId xmlns:p14="http://schemas.microsoft.com/office/powerpoint/2010/main" val="288990394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309895891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Annexure K | FSA Terms</a:t>
            </a:r>
          </a:p>
        </p:txBody>
      </p:sp>
      <p:graphicFrame>
        <p:nvGraphicFramePr>
          <p:cNvPr id="18" name="Table 17"/>
          <p:cNvGraphicFramePr>
            <a:graphicFrameLocks noGrp="1"/>
          </p:cNvGraphicFramePr>
          <p:nvPr>
            <p:custDataLst>
              <p:tags r:id="rId3"/>
            </p:custDataLst>
            <p:extLst>
              <p:ext uri="{D42A27DB-BD31-4B8C-83A1-F6EECF244321}">
                <p14:modId xmlns:p14="http://schemas.microsoft.com/office/powerpoint/2010/main" val="3619195096"/>
              </p:ext>
            </p:extLst>
          </p:nvPr>
        </p:nvGraphicFramePr>
        <p:xfrm>
          <a:off x="449992" y="1943100"/>
          <a:ext cx="9791844" cy="5133560"/>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257524">
                <a:tc>
                  <a:txBody>
                    <a:bodyPr/>
                    <a:lstStyle/>
                    <a:p>
                      <a:pPr algn="l" fontAlgn="ctr">
                        <a:spcAft>
                          <a:spcPts val="3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317613">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Pricing</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0" i="0" u="none" strike="noStrike" dirty="0">
                          <a:solidFill>
                            <a:srgbClr val="000000"/>
                          </a:solidFill>
                          <a:effectLst/>
                          <a:latin typeface="Verdana" panose="020B0604030504040204" pitchFamily="34" charset="0"/>
                        </a:rPr>
                        <a:t>Price will be based on Reference Fuel establish by GOB which may include fixed selling price, Gross Margin, refinery price, inland freight margin, statutory development surcharge and duties, and any change therein</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637730">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Billing and Payment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supplier shall submit an invoice </a:t>
                      </a:r>
                      <a:r>
                        <a:rPr lang="en-US" sz="900" b="0" i="0" u="none" strike="noStrike" dirty="0" err="1">
                          <a:solidFill>
                            <a:srgbClr val="000000"/>
                          </a:solidFill>
                          <a:effectLst/>
                          <a:latin typeface="Verdana" panose="020B0604030504040204" pitchFamily="34" charset="0"/>
                        </a:rPr>
                        <a:t>atleast</a:t>
                      </a:r>
                      <a:r>
                        <a:rPr lang="en-US" sz="900" b="0" i="0" u="none" strike="noStrike" dirty="0">
                          <a:solidFill>
                            <a:srgbClr val="000000"/>
                          </a:solidFill>
                          <a:effectLst/>
                          <a:latin typeface="Verdana" panose="020B0604030504040204" pitchFamily="34" charset="0"/>
                        </a:rPr>
                        <a:t> 10 days prior to delivery at Receiving Point based on liter quantity. The Company is required to make payment against the invoice no later than 3 days prior to delivery</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Any dispute regarding the quantity of fuel oil delivered will be resolved as per the methodology for dispute resolution</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4040234158"/>
                  </a:ext>
                </a:extLst>
              </a:tr>
              <a:tr h="637314">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Company representation and warranties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It is a valid company existing under the laws of Bangladesh</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There is no pending or, to the best of the company’s knowledge, threatened action or proceeding against the Company before any court, Government Authority or Arbitrator</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Procure and maintain all consents and approvals required for performance under the agreement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658142413"/>
                  </a:ext>
                </a:extLst>
              </a:tr>
              <a:tr h="1090185">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Operations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parties will collectively appoint:</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 Operational Coordinators - Responsible for day to day implementation of operating procedures</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b) Regional Coordinators - Responsible for operational and implementation of agreement at district/regional level</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c) Principle Coordinators - Responsible for supervision of all aspects of the agreement and dealing with matters related to pricing and policy</a:t>
                      </a:r>
                    </a:p>
                    <a:p>
                      <a:pPr marL="171450" indent="-171450" algn="l" fontAlgn="ctr">
                        <a:spcAft>
                          <a:spcPts val="300"/>
                        </a:spcAft>
                        <a:buFont typeface="Arial" panose="020B0604020202020204" pitchFamily="34" charset="0"/>
                        <a:buChar char="•"/>
                      </a:pPr>
                      <a:r>
                        <a:rPr lang="en-US" sz="900" b="0" i="0" u="none" strike="noStrike" dirty="0" err="1">
                          <a:solidFill>
                            <a:srgbClr val="000000"/>
                          </a:solidFill>
                          <a:effectLst/>
                          <a:latin typeface="Verdana" panose="020B0604030504040204" pitchFamily="34" charset="0"/>
                        </a:rPr>
                        <a:t>Atleast</a:t>
                      </a:r>
                      <a:r>
                        <a:rPr lang="en-US" sz="900" b="0" i="0" u="none" strike="noStrike" dirty="0">
                          <a:solidFill>
                            <a:srgbClr val="000000"/>
                          </a:solidFill>
                          <a:effectLst/>
                          <a:latin typeface="Verdana" panose="020B0604030504040204" pitchFamily="34" charset="0"/>
                        </a:rPr>
                        <a:t> 6 months prior to the Initial Delivery Date, Operational Procedures shall be mutually prepared or prepared through an expert </a:t>
                      </a:r>
                      <a:r>
                        <a:rPr lang="en-US" sz="900" b="0" i="0" u="none" strike="noStrike" dirty="0" err="1">
                          <a:solidFill>
                            <a:srgbClr val="000000"/>
                          </a:solidFill>
                          <a:effectLst/>
                          <a:latin typeface="Verdana" panose="020B0604030504040204" pitchFamily="34" charset="0"/>
                        </a:rPr>
                        <a:t>atleast</a:t>
                      </a:r>
                      <a:r>
                        <a:rPr lang="en-US" sz="900" b="0" i="0" u="none" strike="noStrike" dirty="0">
                          <a:solidFill>
                            <a:srgbClr val="000000"/>
                          </a:solidFill>
                          <a:effectLst/>
                          <a:latin typeface="Verdana" panose="020B0604030504040204" pitchFamily="34" charset="0"/>
                        </a:rPr>
                        <a:t> 3 months prior to the Initial Delivery Date in case of disagreement between the parties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532712440"/>
                  </a:ext>
                </a:extLst>
              </a:tr>
              <a:tr h="948495">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Dispute Resolution</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Either party can give a written notice to the other for any dispute, along with description. Failing to resolve the dispute amicably within 30 days, the dispute shall be settled through referral to CEO and the designated representative of the supplier. After the expiry of 15 days from such referral, if the dispute is not settled, it will be referred to an Expert.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the recommendation of the Expert is not acceptable to either party, it can initiate arbitration proceedings</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Seat of all arbitration proceedings will be in Singapore</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306883159"/>
                  </a:ext>
                </a:extLst>
              </a:tr>
              <a:tr h="1244699">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Company event of default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0" i="0" u="none" strike="noStrike" dirty="0">
                          <a:solidFill>
                            <a:srgbClr val="000000"/>
                          </a:solidFill>
                          <a:effectLst/>
                          <a:latin typeface="Verdana" panose="020B0604030504040204" pitchFamily="34" charset="0"/>
                        </a:rPr>
                        <a:t>Supplier shall give a notice of termination in case of following events except when such default is caused due to breach of relevant agreements by BPDB, GOB, PGCB, Gas Supplier, Fuel Supplier, due to Force Majeure or a Political Event: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Assignment of Agreement by the Company without written consent of the supplier</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Occurrence of a Company Event of Default under the Implementation Agreement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Winding up, liquidation, bankruptcy of the Company</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Any material breach by the Company that is not remedied in 30 days after notice from supplier</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the Company to make payments due under the agreement within 35 days of receiving notice</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3090309653"/>
                  </a:ext>
                </a:extLst>
              </a:tr>
            </a:tbl>
          </a:graphicData>
        </a:graphic>
      </p:graphicFrame>
    </p:spTree>
    <p:extLst>
      <p:ext uri="{BB962C8B-B14F-4D97-AF65-F5344CB8AC3E}">
        <p14:creationId xmlns:p14="http://schemas.microsoft.com/office/powerpoint/2010/main" val="319586191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61713687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Annexure K | FSA Terms</a:t>
            </a:r>
          </a:p>
        </p:txBody>
      </p:sp>
      <p:graphicFrame>
        <p:nvGraphicFramePr>
          <p:cNvPr id="18" name="Table 17"/>
          <p:cNvGraphicFramePr>
            <a:graphicFrameLocks noGrp="1"/>
          </p:cNvGraphicFramePr>
          <p:nvPr>
            <p:custDataLst>
              <p:tags r:id="rId3"/>
            </p:custDataLst>
            <p:extLst>
              <p:ext uri="{D42A27DB-BD31-4B8C-83A1-F6EECF244321}">
                <p14:modId xmlns:p14="http://schemas.microsoft.com/office/powerpoint/2010/main" val="2477336214"/>
              </p:ext>
            </p:extLst>
          </p:nvPr>
        </p:nvGraphicFramePr>
        <p:xfrm>
          <a:off x="449992" y="1943101"/>
          <a:ext cx="9791844" cy="5133559"/>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257271">
                <a:tc>
                  <a:txBody>
                    <a:bodyPr/>
                    <a:lstStyle/>
                    <a:p>
                      <a:pPr algn="l" fontAlgn="ctr">
                        <a:spcAft>
                          <a:spcPts val="3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1438046">
                <a:tc>
                  <a:txBody>
                    <a:bodyPr/>
                    <a:lstStyle/>
                    <a:p>
                      <a:pPr marL="72000" algn="l" fontAlgn="ctr">
                        <a:spcAft>
                          <a:spcPts val="300"/>
                        </a:spcAft>
                      </a:pPr>
                      <a:r>
                        <a:rPr lang="en-US" sz="900" b="0" i="0" u="none" strike="noStrike" dirty="0">
                          <a:solidFill>
                            <a:srgbClr val="000000"/>
                          </a:solidFill>
                          <a:effectLst/>
                          <a:latin typeface="Verdana" panose="020B0604030504040204" pitchFamily="34" charset="0"/>
                        </a:rPr>
                        <a:t>Fuel Supplier event of default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0" i="0" u="none" strike="noStrike" dirty="0">
                          <a:solidFill>
                            <a:srgbClr val="000000"/>
                          </a:solidFill>
                          <a:effectLst/>
                          <a:latin typeface="Verdana" panose="020B0604030504040204" pitchFamily="34" charset="0"/>
                        </a:rPr>
                        <a:t>Company shall give a notice of default in case of following events except when such default is caused due to breach of any of the project agreements by the Company or due to Force Majeure or a Political Event: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Assignment of Agreement by the supplier in contravention with the provisions of assignment under the agreement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Dissolution of the supplier except for privatization or amalgamation/restructuring/reorganization/corporatization provided a reasonable guarantee to the performance of the succeeding entity</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Any event of default by GOB, Gas Supplier or BPDB under their respective agreements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Any material breach by BPDB that is not remedied in 30 days after notice from the Company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the Fuel Supplier to deliver an aggregate amount of Fuel greater than 50% of the aggregate amount of gas shown in the gas order in any 12 month period</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2941470">
                <a:tc>
                  <a:txBody>
                    <a:bodyPr/>
                    <a:lstStyle/>
                    <a:p>
                      <a:pPr marL="72000" algn="l" fontAlgn="ctr">
                        <a:spcAft>
                          <a:spcPts val="300"/>
                        </a:spcAft>
                      </a:pPr>
                      <a:r>
                        <a:rPr lang="en-US" sz="900" b="0" i="0" u="none" strike="noStrike" dirty="0">
                          <a:solidFill>
                            <a:srgbClr val="000000"/>
                          </a:solidFill>
                          <a:effectLst/>
                          <a:latin typeface="Verdana" panose="020B0604030504040204" pitchFamily="34" charset="0"/>
                        </a:rPr>
                        <a:t>Rights and remedies in the event of default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Upon event of default, the non-defaulting party can choose to terminate this agreement by delivering a Notice of Termination, specifying in reasonable detail the event of default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Following the delivery of Intent to Terminate, the parties shall consult in good faith to remedy the default: </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 45 days: in case of default on payments</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b) 90 days: in any other event of default, or even longer duration of consulting in mutual agreement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Notwithstanding the consulting, the defaulting party must undertake efforts to cure the default. In case the default is cured before the delivery of termination notice, the non defaulting party shall have no right to terminate</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At the expiry of the consultation period, if the default is not remedied or the parties have not reached an agreement, the non-defaulting party may terminate the agreement by giving notice to the other party and their lenders</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the agreement is terminated before COD due to Company Event of Default, the Company shall reimburse the fuel supplier for all expenses incurred for design and construction of any facilities etc.</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Supplier shall not seek to terminate this Agreement without first giving a copy of the notices to the Lenders along with a request to cure the default within the cure period. No such termination will be valid till the expiration of:</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 Initial Cure Period</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b) An Evaluation Period subsequent to expiry of the initial cure period - Earlier of delivery of Election notice by the Lenders to the supplier or 30 days from expiration of Initial Cure Period. Upon delivery of Election Notice, Lenders have a period of 180 days to cure any Company Event of Default</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c) Lenders Cure Period - Period during which the Lenders either attempt to procure the cure of such default or enforce their rights under the Financing Documents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4040234158"/>
                  </a:ext>
                </a:extLst>
              </a:tr>
              <a:tr h="496772">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Obligation upon termination</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Upon termination by the Fuel supplier, if the facility is transferred to GOB or its assignee, the Company shall have no obligations except those which arose before termination</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company event of default, transfer of facility to GOB and payment of amount due shall constitute liquidated damages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658142413"/>
                  </a:ext>
                </a:extLst>
              </a:tr>
            </a:tbl>
          </a:graphicData>
        </a:graphic>
      </p:graphicFrame>
    </p:spTree>
    <p:extLst>
      <p:ext uri="{BB962C8B-B14F-4D97-AF65-F5344CB8AC3E}">
        <p14:creationId xmlns:p14="http://schemas.microsoft.com/office/powerpoint/2010/main" val="235717959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377018109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Annexure K | FSA Terms</a:t>
            </a:r>
          </a:p>
        </p:txBody>
      </p:sp>
      <p:graphicFrame>
        <p:nvGraphicFramePr>
          <p:cNvPr id="18" name="Table 17"/>
          <p:cNvGraphicFramePr>
            <a:graphicFrameLocks noGrp="1"/>
          </p:cNvGraphicFramePr>
          <p:nvPr>
            <p:custDataLst>
              <p:tags r:id="rId3"/>
            </p:custDataLst>
            <p:extLst>
              <p:ext uri="{D42A27DB-BD31-4B8C-83A1-F6EECF244321}">
                <p14:modId xmlns:p14="http://schemas.microsoft.com/office/powerpoint/2010/main" val="1114059026"/>
              </p:ext>
            </p:extLst>
          </p:nvPr>
        </p:nvGraphicFramePr>
        <p:xfrm>
          <a:off x="449992" y="1943101"/>
          <a:ext cx="9791844" cy="5149635"/>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250175">
                <a:tc>
                  <a:txBody>
                    <a:bodyPr/>
                    <a:lstStyle/>
                    <a:p>
                      <a:pPr algn="l" fontAlgn="ctr">
                        <a:spcAft>
                          <a:spcPts val="3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2560120">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Liquidated Damages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rgbClr val="000000"/>
                          </a:solidFill>
                          <a:effectLst/>
                          <a:latin typeface="Verdana" panose="020B0604030504040204" pitchFamily="34" charset="0"/>
                        </a:rPr>
                        <a:t>Payable by Fuel Supplier before COD:</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Applicable in case failure of supplier to deliver fuel before the COD other than due to Force Majeure or a Political Event which results in a delay in the Scheduled COD or commissioning of the facility, LD = Carrying cost + 100% of escalable capacity based on dependable capacity being assumed equal to the contracted capacity for the period of delay +Total amount of principle repayment to be made by the Company on the next scheduled repayment date/ the number of days in beginning on the previous scheduled principle repayment date (or in case of 1st principle repayment, beginning on Scheduled COD) and ending on the first scheduled principle repayment date (which will be returned by the Company after COD) + Any liquidated damages paid by the Company</a:t>
                      </a:r>
                      <a:br>
                        <a:rPr lang="en-US" sz="900" b="0" i="0" u="none" strike="noStrike" dirty="0">
                          <a:solidFill>
                            <a:srgbClr val="000000"/>
                          </a:solidFill>
                          <a:effectLst/>
                          <a:latin typeface="Verdana" panose="020B0604030504040204" pitchFamily="34" charset="0"/>
                        </a:rPr>
                      </a:br>
                      <a:br>
                        <a:rPr lang="en-US" sz="900" b="0" i="0" u="none" strike="noStrike" dirty="0">
                          <a:solidFill>
                            <a:srgbClr val="000000"/>
                          </a:solidFill>
                          <a:effectLst/>
                          <a:latin typeface="Verdana" panose="020B0604030504040204" pitchFamily="34" charset="0"/>
                        </a:rPr>
                      </a:br>
                      <a:r>
                        <a:rPr lang="en-US" sz="900" b="1" i="0" u="none" strike="noStrike" dirty="0">
                          <a:solidFill>
                            <a:srgbClr val="000000"/>
                          </a:solidFill>
                          <a:effectLst/>
                          <a:latin typeface="Verdana" panose="020B0604030504040204" pitchFamily="34" charset="0"/>
                        </a:rPr>
                        <a:t>Payable by the Supplier after COD:</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In case of Supplier's failure to deliver fuel after COD, LD = amount that would have been received by the Company from BPDB had the fuel supply not been interrupted except energy charges (i.e. Capacity Charges) + any liquidated damages payable by the Company under the PPA</a:t>
                      </a:r>
                      <a:br>
                        <a:rPr lang="en-US" sz="900" b="0" i="0" u="none" strike="noStrike" dirty="0">
                          <a:solidFill>
                            <a:srgbClr val="000000"/>
                          </a:solidFill>
                          <a:effectLst/>
                          <a:latin typeface="Verdana" panose="020B0604030504040204" pitchFamily="34" charset="0"/>
                        </a:rPr>
                      </a:br>
                      <a:br>
                        <a:rPr lang="en-US" sz="900" b="0" i="0" u="none" strike="noStrike" dirty="0">
                          <a:solidFill>
                            <a:srgbClr val="000000"/>
                          </a:solidFill>
                          <a:effectLst/>
                          <a:latin typeface="Verdana" panose="020B0604030504040204" pitchFamily="34" charset="0"/>
                        </a:rPr>
                      </a:br>
                      <a:r>
                        <a:rPr lang="en-US" sz="900" b="1" i="0" u="none" strike="noStrike" dirty="0">
                          <a:solidFill>
                            <a:srgbClr val="000000"/>
                          </a:solidFill>
                          <a:effectLst/>
                          <a:latin typeface="Verdana" panose="020B0604030504040204" pitchFamily="34" charset="0"/>
                        </a:rPr>
                        <a:t>Payable by the Company for failure to accept delivery:</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Unless the failure is due to Force Majeure, Political Event or failure of supplier to </a:t>
                      </a:r>
                      <a:r>
                        <a:rPr lang="en-US" sz="900" b="0" i="0" u="none" strike="noStrike" dirty="0" err="1">
                          <a:solidFill>
                            <a:srgbClr val="000000"/>
                          </a:solidFill>
                          <a:effectLst/>
                          <a:latin typeface="Verdana" panose="020B0604030504040204" pitchFamily="34" charset="0"/>
                        </a:rPr>
                        <a:t>to</a:t>
                      </a:r>
                      <a:r>
                        <a:rPr lang="en-US" sz="900" b="0" i="0" u="none" strike="noStrike" dirty="0">
                          <a:solidFill>
                            <a:srgbClr val="000000"/>
                          </a:solidFill>
                          <a:effectLst/>
                          <a:latin typeface="Verdana" panose="020B0604030504040204" pitchFamily="34" charset="0"/>
                        </a:rPr>
                        <a:t> deliver fuel that meets the specifications of the agreement, LD = difference between the amount which would have been paid by the company to the supplier and the price recovered by the supplier by selling the rejected fuel to an alternate buyer</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1074605">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Force Majeure</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Every party can claim relief in relation to a force majeure event in regard to its obligations under the agreement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No payments shall be made by either party affected by a force majeure event for the period of such event on account of its inability to perform its obligations under force majeure event. However, the supplier will not be excused from making payments due to the company under the agreement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a Force Majeure event affects BPDB, GOB, PGCB, fuel supplier or gas supplier under the applicable agreements rendering the Company unable to perform its obligations, the Company will not be liable for such delay</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Fuel Supplier FM event, the supplier will provide a notice to other Fuel Notice Parties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4040234158"/>
                  </a:ext>
                </a:extLst>
              </a:tr>
              <a:tr h="1248660">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Political Events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Every party can claim relief in relation to a force majeure event in regard to its obligations under the PPA</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No payments shall be made by either party affected by a force majeure event for the period of such event on account of its inability to perform its obligations under force majeure event. However, the supplier will not be excused from making payments due to the company under the agreement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a Political event affects BPDB, GOB, PGCB, fuel supplier or gas supplier under the applicable agreements rendering the Company unable to perform its obligations, the Company will not be liable for such delay</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Political event includes fuel suppliers inability to supply gas/fuel including failure of transportation facilities</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Fuel Supplier Political event, the supplier will provide a notice to other Fuel Notice Parties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658142413"/>
                  </a:ext>
                </a:extLst>
              </a:tr>
            </a:tbl>
          </a:graphicData>
        </a:graphic>
      </p:graphicFrame>
    </p:spTree>
    <p:extLst>
      <p:ext uri="{BB962C8B-B14F-4D97-AF65-F5344CB8AC3E}">
        <p14:creationId xmlns:p14="http://schemas.microsoft.com/office/powerpoint/2010/main" val="55272637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202399011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Annexure K | FSA Terms</a:t>
            </a:r>
          </a:p>
        </p:txBody>
      </p:sp>
      <p:graphicFrame>
        <p:nvGraphicFramePr>
          <p:cNvPr id="18" name="Table 17"/>
          <p:cNvGraphicFramePr>
            <a:graphicFrameLocks noGrp="1"/>
          </p:cNvGraphicFramePr>
          <p:nvPr>
            <p:custDataLst>
              <p:tags r:id="rId3"/>
            </p:custDataLst>
            <p:extLst>
              <p:ext uri="{D42A27DB-BD31-4B8C-83A1-F6EECF244321}">
                <p14:modId xmlns:p14="http://schemas.microsoft.com/office/powerpoint/2010/main" val="3510724792"/>
              </p:ext>
            </p:extLst>
          </p:nvPr>
        </p:nvGraphicFramePr>
        <p:xfrm>
          <a:off x="449992" y="1943101"/>
          <a:ext cx="9791844" cy="1138032"/>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252694">
                <a:tc>
                  <a:txBody>
                    <a:bodyPr/>
                    <a:lstStyle/>
                    <a:p>
                      <a:pPr algn="l" fontAlgn="ctr">
                        <a:spcAft>
                          <a:spcPts val="3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626265">
                <a:tc>
                  <a:txBody>
                    <a:bodyPr/>
                    <a:lstStyle/>
                    <a:p>
                      <a:pPr marL="72000" algn="l" fontAlgn="ctr"/>
                      <a:r>
                        <a:rPr lang="en-IN" sz="900" b="0" i="0" u="none" strike="noStrike" dirty="0">
                          <a:solidFill>
                            <a:srgbClr val="000000"/>
                          </a:solidFill>
                          <a:effectLst/>
                          <a:latin typeface="Verdana" panose="020B0604030504040204" pitchFamily="34" charset="0"/>
                        </a:rPr>
                        <a:t>Termination</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Company/supplier event of default not remedied. The Fuel Supplier can only terminate the agreement with prior consent from GOB</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Force Majeure or Political Event of more than 12 months. Fuel supplier shall not terminate this agreement unless the IA is also terminated</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259073">
                <a:tc>
                  <a:txBody>
                    <a:bodyPr/>
                    <a:lstStyle/>
                    <a:p>
                      <a:pPr marL="72000" algn="l" fontAlgn="ctr"/>
                      <a:r>
                        <a:rPr lang="en-IN" sz="900" b="0" i="0" u="none" strike="noStrike" dirty="0">
                          <a:solidFill>
                            <a:srgbClr val="000000"/>
                          </a:solidFill>
                          <a:effectLst/>
                          <a:latin typeface="Verdana" panose="020B0604030504040204" pitchFamily="34" charset="0"/>
                        </a:rPr>
                        <a:t>Governing Law</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r>
                        <a:rPr lang="en-US" sz="900" b="0" i="0" u="none" strike="noStrike" dirty="0">
                          <a:solidFill>
                            <a:srgbClr val="000000"/>
                          </a:solidFill>
                          <a:effectLst/>
                          <a:latin typeface="Verdana" panose="020B0604030504040204" pitchFamily="34" charset="0"/>
                        </a:rPr>
                        <a:t>Rights and obligations of the parties shall be interpreted, construed and governed by the laws of England and Wales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4040234158"/>
                  </a:ext>
                </a:extLst>
              </a:tr>
            </a:tbl>
          </a:graphicData>
        </a:graphic>
      </p:graphicFrame>
    </p:spTree>
    <p:extLst>
      <p:ext uri="{BB962C8B-B14F-4D97-AF65-F5344CB8AC3E}">
        <p14:creationId xmlns:p14="http://schemas.microsoft.com/office/powerpoint/2010/main" val="291144241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126967631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Annexure L | O&amp;M Agreement Terms</a:t>
            </a:r>
          </a:p>
        </p:txBody>
      </p:sp>
      <p:graphicFrame>
        <p:nvGraphicFramePr>
          <p:cNvPr id="18" name="Table 17"/>
          <p:cNvGraphicFramePr>
            <a:graphicFrameLocks noGrp="1"/>
          </p:cNvGraphicFramePr>
          <p:nvPr>
            <p:custDataLst>
              <p:tags r:id="rId3"/>
            </p:custDataLst>
            <p:extLst>
              <p:ext uri="{D42A27DB-BD31-4B8C-83A1-F6EECF244321}">
                <p14:modId xmlns:p14="http://schemas.microsoft.com/office/powerpoint/2010/main" val="925075584"/>
              </p:ext>
            </p:extLst>
          </p:nvPr>
        </p:nvGraphicFramePr>
        <p:xfrm>
          <a:off x="449992" y="1943101"/>
          <a:ext cx="9791844" cy="5133559"/>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253293">
                <a:tc>
                  <a:txBody>
                    <a:bodyPr/>
                    <a:lstStyle/>
                    <a:p>
                      <a:pPr algn="l" fontAlgn="ctr">
                        <a:spcAft>
                          <a:spcPts val="3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3807994">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Obligations of the Operator</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0" i="0" u="none" strike="noStrike" dirty="0">
                          <a:solidFill>
                            <a:srgbClr val="000000"/>
                          </a:solidFill>
                          <a:effectLst/>
                          <a:latin typeface="Verdana" panose="020B0604030504040204" pitchFamily="34" charset="0"/>
                        </a:rPr>
                        <a:t>The agreement will take effect in phases</a:t>
                      </a:r>
                      <a:br>
                        <a:rPr lang="en-US" sz="900" b="0" i="0" u="none" strike="noStrike" dirty="0">
                          <a:solidFill>
                            <a:srgbClr val="000000"/>
                          </a:solidFill>
                          <a:effectLst/>
                          <a:latin typeface="Verdana" panose="020B0604030504040204" pitchFamily="34" charset="0"/>
                        </a:rPr>
                      </a:br>
                      <a:endParaRPr lang="en-US" sz="900" b="0" i="0" u="none" strike="noStrike" dirty="0">
                        <a:solidFill>
                          <a:srgbClr val="000000"/>
                        </a:solidFill>
                        <a:effectLst/>
                        <a:latin typeface="Verdana" panose="020B0604030504040204" pitchFamily="34" charset="0"/>
                      </a:endParaRP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Phase 1</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 Mobilization Plan to be prepared within 6 months from the effective date</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b) Initial Staffing Plan</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c) Identification of facility manger within 3 months from the effective date</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d) Deployment of facility personnel </a:t>
                      </a:r>
                      <a:r>
                        <a:rPr lang="en-US" sz="900" b="0" i="0" u="none" strike="noStrike" dirty="0" err="1">
                          <a:solidFill>
                            <a:srgbClr val="000000"/>
                          </a:solidFill>
                          <a:effectLst/>
                          <a:latin typeface="Verdana" panose="020B0604030504040204" pitchFamily="34" charset="0"/>
                        </a:rPr>
                        <a:t>atleast</a:t>
                      </a:r>
                      <a:r>
                        <a:rPr lang="en-US" sz="900" b="0" i="0" u="none" strike="noStrike" dirty="0">
                          <a:solidFill>
                            <a:srgbClr val="000000"/>
                          </a:solidFill>
                          <a:effectLst/>
                          <a:latin typeface="Verdana" panose="020B0604030504040204" pitchFamily="34" charset="0"/>
                        </a:rPr>
                        <a:t> 3 months before the COD</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e) Provide pre COD, preparatory and assistance services </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f) O&amp;M program </a:t>
                      </a:r>
                      <a:r>
                        <a:rPr lang="en-US" sz="900" b="0" i="0" u="none" strike="noStrike" dirty="0" err="1">
                          <a:solidFill>
                            <a:srgbClr val="000000"/>
                          </a:solidFill>
                          <a:effectLst/>
                          <a:latin typeface="Verdana" panose="020B0604030504040204" pitchFamily="34" charset="0"/>
                        </a:rPr>
                        <a:t>atleast</a:t>
                      </a:r>
                      <a:r>
                        <a:rPr lang="en-US" sz="900" b="0" i="0" u="none" strike="noStrike" dirty="0">
                          <a:solidFill>
                            <a:srgbClr val="000000"/>
                          </a:solidFill>
                          <a:effectLst/>
                          <a:latin typeface="Verdana" panose="020B0604030504040204" pitchFamily="34" charset="0"/>
                        </a:rPr>
                        <a:t> 90 days before the Scheduled COD</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g) Preparation of O&amp;M procedures </a:t>
                      </a:r>
                      <a:r>
                        <a:rPr lang="en-US" sz="900" b="0" i="0" u="none" strike="noStrike" dirty="0" err="1">
                          <a:solidFill>
                            <a:srgbClr val="000000"/>
                          </a:solidFill>
                          <a:effectLst/>
                          <a:latin typeface="Verdana" panose="020B0604030504040204" pitchFamily="34" charset="0"/>
                        </a:rPr>
                        <a:t>atleast</a:t>
                      </a:r>
                      <a:r>
                        <a:rPr lang="en-US" sz="900" b="0" i="0" u="none" strike="noStrike" dirty="0">
                          <a:solidFill>
                            <a:srgbClr val="000000"/>
                          </a:solidFill>
                          <a:effectLst/>
                          <a:latin typeface="Verdana" panose="020B0604030504040204" pitchFamily="34" charset="0"/>
                        </a:rPr>
                        <a:t> 30 days prior to phase 2</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h) Organize training program of facility personnel</a:t>
                      </a:r>
                      <a:br>
                        <a:rPr lang="en-US" sz="900" b="0" i="0" u="none" strike="noStrike" dirty="0">
                          <a:solidFill>
                            <a:srgbClr val="000000"/>
                          </a:solidFill>
                          <a:effectLst/>
                          <a:latin typeface="Verdana" panose="020B0604030504040204" pitchFamily="34" charset="0"/>
                        </a:rPr>
                      </a:br>
                      <a:r>
                        <a:rPr lang="en-US" sz="900" b="0" i="0" u="none" strike="noStrike" dirty="0" err="1">
                          <a:solidFill>
                            <a:srgbClr val="000000"/>
                          </a:solidFill>
                          <a:effectLst/>
                          <a:latin typeface="Verdana" panose="020B0604030504040204" pitchFamily="34" charset="0"/>
                        </a:rPr>
                        <a:t>i</a:t>
                      </a:r>
                      <a:r>
                        <a:rPr lang="en-US" sz="900" b="0" i="0" u="none" strike="noStrike" dirty="0">
                          <a:solidFill>
                            <a:srgbClr val="000000"/>
                          </a:solidFill>
                          <a:effectLst/>
                          <a:latin typeface="Verdana" panose="020B0604030504040204" pitchFamily="34" charset="0"/>
                        </a:rPr>
                        <a:t>) Obtain necessary permits and insurance</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j) Provide technical advice to the owner</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k) Develop accounting policies and procedures</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l) Develop purchasing policies and procedures</a:t>
                      </a:r>
                      <a:br>
                        <a:rPr lang="en-US" sz="900" b="0" i="0" u="none" strike="noStrike" dirty="0">
                          <a:solidFill>
                            <a:srgbClr val="000000"/>
                          </a:solidFill>
                          <a:effectLst/>
                          <a:latin typeface="Verdana" panose="020B0604030504040204" pitchFamily="34" charset="0"/>
                        </a:rPr>
                      </a:br>
                      <a:endParaRPr lang="en-US" sz="900" b="0" i="0" u="none" strike="noStrike" dirty="0">
                        <a:solidFill>
                          <a:srgbClr val="000000"/>
                        </a:solidFill>
                        <a:effectLst/>
                        <a:latin typeface="Verdana" panose="020B0604030504040204" pitchFamily="34" charset="0"/>
                      </a:endParaRP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Phase 2</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 Attempt to maximum operational life of the units</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b) Attempt to minimize unscheduled outages</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c) Maintain the facility</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d) Attempt to minimize Auxiliary Power Consumption and Heat Rate</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e) Minimize take or pay obligations under the fuel/gas supply agreements</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f) Maintain facility in a manner so as to achieve Dependable Capacity as defined in the PPA</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3. Development of an Annual Operation Plan including annual budget, Scheduled Outages, </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4. Perform Scheduled outages in accordance with the OEM specifications and coordinate with BPDB, fuel/gas supplier</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5. Perform Unscheduled outages, approval from Owner required for any work that costs more than USD 25,0000</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6. The Operator may subcontract part of the work</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1072272">
                <a:tc>
                  <a:txBody>
                    <a:bodyPr/>
                    <a:lstStyle/>
                    <a:p>
                      <a:pPr marL="72000" algn="l" fontAlgn="ctr"/>
                      <a:r>
                        <a:rPr lang="en-IN" sz="900" b="0" i="0" u="none" strike="noStrike" dirty="0">
                          <a:solidFill>
                            <a:srgbClr val="000000"/>
                          </a:solidFill>
                          <a:effectLst/>
                          <a:latin typeface="Verdana" panose="020B0604030504040204" pitchFamily="34" charset="0"/>
                        </a:rPr>
                        <a:t>Obligations of the Owner</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Provide the operator with Plant Equipment Manual, as built designs and other such information</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Procure adequate quantity and quality of fuel oil</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Acquire necessary permits/ approvals</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Pay property tax and VAT</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Provision of essential utilities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4040234158"/>
                  </a:ext>
                </a:extLst>
              </a:tr>
            </a:tbl>
          </a:graphicData>
        </a:graphic>
      </p:graphicFrame>
    </p:spTree>
    <p:extLst>
      <p:ext uri="{BB962C8B-B14F-4D97-AF65-F5344CB8AC3E}">
        <p14:creationId xmlns:p14="http://schemas.microsoft.com/office/powerpoint/2010/main" val="272041333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137720602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Annexure L | O&amp;M Agreement Terms</a:t>
            </a:r>
          </a:p>
        </p:txBody>
      </p:sp>
      <p:graphicFrame>
        <p:nvGraphicFramePr>
          <p:cNvPr id="18" name="Table 17"/>
          <p:cNvGraphicFramePr>
            <a:graphicFrameLocks noGrp="1"/>
          </p:cNvGraphicFramePr>
          <p:nvPr>
            <p:custDataLst>
              <p:tags r:id="rId3"/>
            </p:custDataLst>
            <p:extLst>
              <p:ext uri="{D42A27DB-BD31-4B8C-83A1-F6EECF244321}">
                <p14:modId xmlns:p14="http://schemas.microsoft.com/office/powerpoint/2010/main" val="2813306421"/>
              </p:ext>
            </p:extLst>
          </p:nvPr>
        </p:nvGraphicFramePr>
        <p:xfrm>
          <a:off x="449992" y="1943101"/>
          <a:ext cx="9791844" cy="5133559"/>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307619">
                <a:tc>
                  <a:txBody>
                    <a:bodyPr/>
                    <a:lstStyle/>
                    <a:p>
                      <a:pPr algn="l" fontAlgn="ctr">
                        <a:spcAft>
                          <a:spcPts val="3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714108">
                <a:tc>
                  <a:txBody>
                    <a:bodyPr/>
                    <a:lstStyle/>
                    <a:p>
                      <a:pPr marL="72000" algn="l" fontAlgn="ctr"/>
                      <a:r>
                        <a:rPr lang="en-IN" sz="900" b="0" i="0" u="none" strike="noStrike" dirty="0">
                          <a:solidFill>
                            <a:srgbClr val="000000"/>
                          </a:solidFill>
                          <a:effectLst/>
                          <a:latin typeface="Verdana" panose="020B0604030504040204" pitchFamily="34" charset="0"/>
                        </a:rPr>
                        <a:t>Obligations of the Owner</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Open and maintain a Major maintenance reserve account to fund necessary costs of Major Maintenance</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Procuring necessary spare parts/consumables</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Make timely payments to the operator</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933109">
                <a:tc>
                  <a:txBody>
                    <a:bodyPr/>
                    <a:lstStyle/>
                    <a:p>
                      <a:pPr marL="72000" algn="l" fontAlgn="ctr"/>
                      <a:r>
                        <a:rPr lang="en-IN" sz="900" b="0" i="0" u="none" strike="noStrike" dirty="0">
                          <a:solidFill>
                            <a:srgbClr val="000000"/>
                          </a:solidFill>
                          <a:effectLst/>
                          <a:latin typeface="Verdana" panose="020B0604030504040204" pitchFamily="34" charset="0"/>
                        </a:rPr>
                        <a:t>Fees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Base Fees</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 Period 1 - Only reimbursement of expenses incurred </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b) Period 2 - Monthly fee of Tk 11.50 Mn escalated by 5% annually</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plus VAT thereon </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Any reimbursable expenses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4040234158"/>
                  </a:ext>
                </a:extLst>
              </a:tr>
              <a:tr h="563967">
                <a:tc>
                  <a:txBody>
                    <a:bodyPr/>
                    <a:lstStyle/>
                    <a:p>
                      <a:pPr marL="72000" algn="l" fontAlgn="ctr"/>
                      <a:r>
                        <a:rPr lang="en-IN" sz="900" b="0" i="0" u="none" strike="noStrike" dirty="0">
                          <a:solidFill>
                            <a:srgbClr val="000000"/>
                          </a:solidFill>
                          <a:effectLst/>
                          <a:latin typeface="Verdana" panose="020B0604030504040204" pitchFamily="34" charset="0"/>
                        </a:rPr>
                        <a:t>Billing and Payment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Operator will raise in invoice within 5 days of every month</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Payments by the Owner should be made within 30 days</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Late Payment - If an invoice remains unpaid for 60 days, interest @ 5% needs to be paid</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807485080"/>
                  </a:ext>
                </a:extLst>
              </a:tr>
              <a:tr h="1117680">
                <a:tc>
                  <a:txBody>
                    <a:bodyPr/>
                    <a:lstStyle/>
                    <a:p>
                      <a:pPr marL="72000" algn="l" fontAlgn="ctr"/>
                      <a:r>
                        <a:rPr lang="en-IN" sz="900" b="0" i="0" u="none" strike="noStrike" dirty="0">
                          <a:solidFill>
                            <a:srgbClr val="000000"/>
                          </a:solidFill>
                          <a:effectLst/>
                          <a:latin typeface="Verdana" panose="020B0604030504040204" pitchFamily="34" charset="0"/>
                        </a:rPr>
                        <a:t>Liquidated Damages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By the Operator:</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 For exceeding Forced outages, Maintenance outages and scheduled outages, LD = As per PPA subject to a limit of 10% of base fee</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b) Downward revision of base capacity, LD = As per PPA subject to a limit of 10% of base fee</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c) Facility heat rate &gt; Guaranteed test heat rate, LD = Payment for excess fuel used subject to a limit of 20% of base fee</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Maximum limit of liability = 30% of base fee</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4049133803"/>
                  </a:ext>
                </a:extLst>
              </a:tr>
              <a:tr h="379396">
                <a:tc>
                  <a:txBody>
                    <a:bodyPr/>
                    <a:lstStyle/>
                    <a:p>
                      <a:pPr marL="72000" algn="l" fontAlgn="ctr"/>
                      <a:r>
                        <a:rPr lang="en-IN" sz="900" b="0" i="0" u="none" strike="noStrike" dirty="0">
                          <a:solidFill>
                            <a:srgbClr val="000000"/>
                          </a:solidFill>
                          <a:effectLst/>
                          <a:latin typeface="Verdana" panose="020B0604030504040204" pitchFamily="34" charset="0"/>
                        </a:rPr>
                        <a:t>Insurance</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Operator shall maintain a Workers compensation Insurance </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Operator shall ensure that all subcontractors maintain necessary insurances as per the agreement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79093441"/>
                  </a:ext>
                </a:extLst>
              </a:tr>
              <a:tr h="1117680">
                <a:tc>
                  <a:txBody>
                    <a:bodyPr/>
                    <a:lstStyle/>
                    <a:p>
                      <a:pPr marL="72000" algn="l" fontAlgn="ctr"/>
                      <a:r>
                        <a:rPr lang="en-IN" sz="900" b="0" i="0" u="none" strike="noStrike" dirty="0">
                          <a:solidFill>
                            <a:srgbClr val="000000"/>
                          </a:solidFill>
                          <a:effectLst/>
                          <a:latin typeface="Verdana" panose="020B0604030504040204" pitchFamily="34" charset="0"/>
                        </a:rPr>
                        <a:t>Force Majeure &amp; Political Event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Every party can claim relief in relation to a force majeure event in regard to its obligations under the agreement</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No payments shall be made by either party affected by a force majeure event for the period of such event on account of its inability to perform its obligations under force majeure event. However, any party will not be excused from making payments due to the company under the agreement</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No party can claim any loss suffered due to Force Majeure </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Affected party shall give notice within 3 days </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3116340942"/>
                  </a:ext>
                </a:extLst>
              </a:tr>
            </a:tbl>
          </a:graphicData>
        </a:graphic>
      </p:graphicFrame>
    </p:spTree>
    <p:extLst>
      <p:ext uri="{BB962C8B-B14F-4D97-AF65-F5344CB8AC3E}">
        <p14:creationId xmlns:p14="http://schemas.microsoft.com/office/powerpoint/2010/main" val="63972418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127754552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Annexure L | O&amp;M Agreement Terms</a:t>
            </a:r>
          </a:p>
        </p:txBody>
      </p:sp>
      <p:graphicFrame>
        <p:nvGraphicFramePr>
          <p:cNvPr id="18" name="Table 17"/>
          <p:cNvGraphicFramePr>
            <a:graphicFrameLocks noGrp="1"/>
          </p:cNvGraphicFramePr>
          <p:nvPr>
            <p:custDataLst>
              <p:tags r:id="rId3"/>
            </p:custDataLst>
            <p:extLst>
              <p:ext uri="{D42A27DB-BD31-4B8C-83A1-F6EECF244321}">
                <p14:modId xmlns:p14="http://schemas.microsoft.com/office/powerpoint/2010/main" val="1788182647"/>
              </p:ext>
            </p:extLst>
          </p:nvPr>
        </p:nvGraphicFramePr>
        <p:xfrm>
          <a:off x="449992" y="1943101"/>
          <a:ext cx="9791844" cy="5133559"/>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296063">
                <a:tc>
                  <a:txBody>
                    <a:bodyPr/>
                    <a:lstStyle/>
                    <a:p>
                      <a:pPr algn="l" fontAlgn="ctr">
                        <a:spcAft>
                          <a:spcPts val="3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1963885">
                <a:tc>
                  <a:txBody>
                    <a:bodyPr/>
                    <a:lstStyle/>
                    <a:p>
                      <a:pPr marL="72000" algn="l" fontAlgn="ctr"/>
                      <a:r>
                        <a:rPr lang="en-IN" sz="900" b="0" i="0" u="none" strike="noStrike" dirty="0">
                          <a:solidFill>
                            <a:srgbClr val="000000"/>
                          </a:solidFill>
                          <a:effectLst/>
                          <a:latin typeface="Verdana" panose="020B0604030504040204" pitchFamily="34" charset="0"/>
                        </a:rPr>
                        <a:t>Operators Event of Default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r>
                        <a:rPr lang="en-US" sz="900" b="0" i="0" u="none" strike="noStrike" dirty="0">
                          <a:solidFill>
                            <a:srgbClr val="000000"/>
                          </a:solidFill>
                          <a:effectLst/>
                          <a:latin typeface="Verdana" panose="020B0604030504040204" pitchFamily="34" charset="0"/>
                        </a:rPr>
                        <a:t>Operators Event of Default: The Owner shall send a Notice of Default except when such default is caused due to breach of relevant agreements the owner or Force Majeure or an Emergency:</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Contracted capacity falls below Threshold capacity</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the operator to maintain the facility as per Prudent Utility Practices not remedied within 30 days</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the operator to maintain necessary insurance or permits</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the operator to meet payment obligations</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Abandonment of the facility by the operator for 7 days after COD</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Any material breach not remedied within 30 days</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Inability to meet operating parameters of the facility for a continuous period of 18 months</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Winding up, liquidation, bankruptcy of the Company</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Incorrect statements, representations, warranties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720420">
                <a:tc>
                  <a:txBody>
                    <a:bodyPr/>
                    <a:lstStyle/>
                    <a:p>
                      <a:pPr marL="72000" algn="l" fontAlgn="ctr"/>
                      <a:r>
                        <a:rPr lang="en-IN" sz="900" b="0" i="0" u="none" strike="noStrike" dirty="0">
                          <a:solidFill>
                            <a:srgbClr val="000000"/>
                          </a:solidFill>
                          <a:effectLst/>
                          <a:latin typeface="Verdana" panose="020B0604030504040204" pitchFamily="34" charset="0"/>
                        </a:rPr>
                        <a:t>Owners Event of Default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r>
                        <a:rPr lang="en-US" sz="900" b="0" i="0" u="none" strike="noStrike" dirty="0">
                          <a:solidFill>
                            <a:srgbClr val="000000"/>
                          </a:solidFill>
                          <a:effectLst/>
                          <a:latin typeface="Verdana" panose="020B0604030504040204" pitchFamily="34" charset="0"/>
                        </a:rPr>
                        <a:t>Owners Event of Default: The Operator shall send a Notice of Default, except when such default is caused due to breach of relevant agreements by the Operator:</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to make payments for a period of 6 months</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Bankruptcy/insolvency/liquidation of the owner</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4040234158"/>
                  </a:ext>
                </a:extLst>
              </a:tr>
              <a:tr h="365144">
                <a:tc>
                  <a:txBody>
                    <a:bodyPr/>
                    <a:lstStyle/>
                    <a:p>
                      <a:pPr marL="72000" algn="l" fontAlgn="ctr"/>
                      <a:r>
                        <a:rPr lang="en-US" sz="900" b="0" i="0" u="none" strike="noStrike" dirty="0">
                          <a:solidFill>
                            <a:srgbClr val="000000"/>
                          </a:solidFill>
                          <a:effectLst/>
                          <a:latin typeface="Verdana" panose="020B0604030504040204" pitchFamily="34" charset="0"/>
                        </a:rPr>
                        <a:t>Rights and remedies in the event of default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r>
                        <a:rPr lang="en-US" sz="900" b="0" i="0" u="none" strike="noStrike" dirty="0">
                          <a:solidFill>
                            <a:srgbClr val="000000"/>
                          </a:solidFill>
                          <a:effectLst/>
                          <a:latin typeface="Verdana" panose="020B0604030504040204" pitchFamily="34" charset="0"/>
                        </a:rPr>
                        <a:t>If the default is not cured within 45 days of notice of default, the non affected party may terminate the agreement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807485080"/>
                  </a:ext>
                </a:extLst>
              </a:tr>
              <a:tr h="898057">
                <a:tc>
                  <a:txBody>
                    <a:bodyPr/>
                    <a:lstStyle/>
                    <a:p>
                      <a:pPr marL="72000" algn="l" fontAlgn="ctr"/>
                      <a:r>
                        <a:rPr lang="en-IN" sz="900" b="0" i="0" u="none" strike="noStrike" dirty="0">
                          <a:solidFill>
                            <a:srgbClr val="000000"/>
                          </a:solidFill>
                          <a:effectLst/>
                          <a:latin typeface="Verdana" panose="020B0604030504040204" pitchFamily="34" charset="0"/>
                        </a:rPr>
                        <a:t>Termination</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Event of default not cured within 45 days</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If the facility ceased operation (no damages need to be paid by the Owner)</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Force Majeure for more than 6 months</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Termination by mutual consent</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Expropriation/nationalization of the facility</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4049133803"/>
                  </a:ext>
                </a:extLst>
              </a:tr>
              <a:tr h="542783">
                <a:tc>
                  <a:txBody>
                    <a:bodyPr/>
                    <a:lstStyle/>
                    <a:p>
                      <a:pPr marL="72000" algn="l" fontAlgn="ctr"/>
                      <a:r>
                        <a:rPr lang="en-IN" sz="900" b="0" i="0" u="none" strike="noStrike" dirty="0">
                          <a:solidFill>
                            <a:srgbClr val="000000"/>
                          </a:solidFill>
                          <a:effectLst/>
                          <a:latin typeface="Verdana" panose="020B0604030504040204" pitchFamily="34" charset="0"/>
                        </a:rPr>
                        <a:t>Dispute Resolution</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Each party shall nominate an authorized representative for resolution of disputes. If the dispute cannot be resolved, it shall be referred to Senior Representatives of the parties</a:t>
                      </a:r>
                    </a:p>
                    <a:p>
                      <a:pPr marL="171450" indent="-171450" algn="l" fontAlgn="ctr">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failure to resolve dispute, the parties have the right to arbitration subject to laws of India</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79093441"/>
                  </a:ext>
                </a:extLst>
              </a:tr>
              <a:tr h="347207">
                <a:tc>
                  <a:txBody>
                    <a:bodyPr/>
                    <a:lstStyle/>
                    <a:p>
                      <a:pPr marL="72000" algn="l" fontAlgn="ctr"/>
                      <a:r>
                        <a:rPr lang="en-IN" sz="900" b="0" i="0" u="none" strike="noStrike" dirty="0">
                          <a:solidFill>
                            <a:srgbClr val="000000"/>
                          </a:solidFill>
                          <a:effectLst/>
                          <a:latin typeface="Verdana" panose="020B0604030504040204" pitchFamily="34" charset="0"/>
                        </a:rPr>
                        <a:t>Governing Law</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r>
                        <a:rPr lang="en-US" sz="900" b="0" i="0" u="none" strike="noStrike" dirty="0">
                          <a:solidFill>
                            <a:srgbClr val="000000"/>
                          </a:solidFill>
                          <a:effectLst/>
                          <a:latin typeface="Verdana" panose="020B0604030504040204" pitchFamily="34" charset="0"/>
                        </a:rPr>
                        <a:t>Rights and obligations of the parties shall be interpreted, construed and governed by the laws of Bangladesh</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3116340942"/>
                  </a:ext>
                </a:extLst>
              </a:tr>
            </a:tbl>
          </a:graphicData>
        </a:graphic>
      </p:graphicFrame>
    </p:spTree>
    <p:extLst>
      <p:ext uri="{BB962C8B-B14F-4D97-AF65-F5344CB8AC3E}">
        <p14:creationId xmlns:p14="http://schemas.microsoft.com/office/powerpoint/2010/main" val="98496994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261670327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Annexure M | Implementation Agreement Terms</a:t>
            </a:r>
          </a:p>
        </p:txBody>
      </p:sp>
      <p:graphicFrame>
        <p:nvGraphicFramePr>
          <p:cNvPr id="18" name="Table 17"/>
          <p:cNvGraphicFramePr>
            <a:graphicFrameLocks noGrp="1"/>
          </p:cNvGraphicFramePr>
          <p:nvPr>
            <p:custDataLst>
              <p:tags r:id="rId3"/>
            </p:custDataLst>
            <p:extLst>
              <p:ext uri="{D42A27DB-BD31-4B8C-83A1-F6EECF244321}">
                <p14:modId xmlns:p14="http://schemas.microsoft.com/office/powerpoint/2010/main" val="2722414156"/>
              </p:ext>
            </p:extLst>
          </p:nvPr>
        </p:nvGraphicFramePr>
        <p:xfrm>
          <a:off x="449992" y="1943101"/>
          <a:ext cx="9791844" cy="5133561"/>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277490">
                <a:tc>
                  <a:txBody>
                    <a:bodyPr/>
                    <a:lstStyle/>
                    <a:p>
                      <a:pPr algn="l" fontAlgn="ctr">
                        <a:spcAft>
                          <a:spcPts val="3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1507694">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Government Authorizations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Within 60 days of execution of IA, the company shall make application for all Government Authorizations in Schedule 1</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Notice for any deficiency in application will be sent by the relevant authority within 7 days of receiving the application, otherwise the application will be deemed to be complete</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Lapse of Consent, the GOB will make all reasonable efforts to expedite the considerations of the company's application</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Remedy for Government Non-performance - If any Government Authorization is not received within the time prescribed in the IA, then the Required Financial Closing Date and the Required Commercial Operation Date shall be extended on a day-to-day basis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If the Government Authorizations are not issued/renewed within 6 months following the time prescribed in the IA, then the Company has the right to terminate the agreement. Upon termination of this agreement, GOB will obtain an unconditional agreement from BPDB, Fuel Supplier, Gas Supplier and PGCB for termination of their respective agreements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2173670">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Interconnection Facilities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company will be responsible for construction and operation of the switchyard adjacent to the power plant and the interconnecting equipment.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Interconnection facilities (including an existing 230 kV line and a 230 kV switchyard) are already in place owned by PGCB</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PGCB shall at its own cost construct and commission the ITF one month prior to the Scheduled COD</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ITF completion date as above shall be extended on a day for day basis in case completion is delayed due to Force Majeure or failure on part of the Company</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delay in construction of ITF leads to a delay in COD, </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 Scheduled COD shall be extended</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b) After Scheduled COD, PGCB shall pay to the Company LD = Carrying Cost + 100% of Escalable Capacity Payment which would have been paid in case there was no delay based on contracted capacity + Total amount of principle repayment to be made by the Company on the next scheduled repayment date/ the number of days in beginning on the previous scheduled principle repayment date (or in case of 1st principle repayment, beginning on Scheduled COD) and ending on the first scheduled principle repayment date (which will be repaid by the Company after COD)</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4040234158"/>
                  </a:ext>
                </a:extLst>
              </a:tr>
              <a:tr h="1174707">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Acquisition of shares capital</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GOB, BPDB, Gas Supplier, Fuel Supplier or any other Government Authority will not own/control more tan 26% of the ordinary share capital of the company</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Initial Shareholders (i.e. </a:t>
                      </a:r>
                      <a:r>
                        <a:rPr lang="en-US" sz="900" b="0" i="0" u="none" strike="noStrike" dirty="0" err="1">
                          <a:solidFill>
                            <a:srgbClr val="000000"/>
                          </a:solidFill>
                          <a:effectLst/>
                          <a:latin typeface="Verdana" panose="020B0604030504040204" pitchFamily="34" charset="0"/>
                        </a:rPr>
                        <a:t>Shapoorji</a:t>
                      </a:r>
                      <a:r>
                        <a:rPr lang="en-US" sz="900" b="0" i="0" u="none" strike="noStrike" dirty="0">
                          <a:solidFill>
                            <a:srgbClr val="000000"/>
                          </a:solidFill>
                          <a:effectLst/>
                          <a:latin typeface="Verdana" panose="020B0604030504040204" pitchFamily="34" charset="0"/>
                        </a:rPr>
                        <a:t> </a:t>
                      </a:r>
                      <a:r>
                        <a:rPr lang="en-US" sz="900" b="0" i="0" u="none" strike="noStrike" dirty="0" err="1">
                          <a:solidFill>
                            <a:srgbClr val="000000"/>
                          </a:solidFill>
                          <a:effectLst/>
                          <a:latin typeface="Verdana" panose="020B0604030504040204" pitchFamily="34" charset="0"/>
                        </a:rPr>
                        <a:t>Pallonji</a:t>
                      </a:r>
                      <a:r>
                        <a:rPr lang="en-US" sz="900" b="0" i="0" u="none" strike="noStrike" dirty="0">
                          <a:solidFill>
                            <a:srgbClr val="000000"/>
                          </a:solidFill>
                          <a:effectLst/>
                          <a:latin typeface="Verdana" panose="020B0604030504040204" pitchFamily="34" charset="0"/>
                        </a:rPr>
                        <a:t> Infrastructure Capital Company Private Limited) will not transfer shares such that they own less than 51% of the Ordinary Share Capital prior to 6 years following COD, except when:</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 In National Interest</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b) With prior approval from GOB</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c) As part of public offering</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807485080"/>
                  </a:ext>
                </a:extLst>
              </a:tr>
            </a:tbl>
          </a:graphicData>
        </a:graphic>
      </p:graphicFrame>
    </p:spTree>
    <p:extLst>
      <p:ext uri="{BB962C8B-B14F-4D97-AF65-F5344CB8AC3E}">
        <p14:creationId xmlns:p14="http://schemas.microsoft.com/office/powerpoint/2010/main" val="31882197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423061503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Annexure M | Implementation Agreement Terms</a:t>
            </a:r>
          </a:p>
        </p:txBody>
      </p:sp>
      <p:graphicFrame>
        <p:nvGraphicFramePr>
          <p:cNvPr id="18" name="Table 17"/>
          <p:cNvGraphicFramePr>
            <a:graphicFrameLocks noGrp="1"/>
          </p:cNvGraphicFramePr>
          <p:nvPr>
            <p:custDataLst>
              <p:tags r:id="rId3"/>
            </p:custDataLst>
            <p:extLst>
              <p:ext uri="{D42A27DB-BD31-4B8C-83A1-F6EECF244321}">
                <p14:modId xmlns:p14="http://schemas.microsoft.com/office/powerpoint/2010/main" val="799739711"/>
              </p:ext>
            </p:extLst>
          </p:nvPr>
        </p:nvGraphicFramePr>
        <p:xfrm>
          <a:off x="449992" y="1943100"/>
          <a:ext cx="9791844" cy="5133561"/>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268340">
                <a:tc>
                  <a:txBody>
                    <a:bodyPr/>
                    <a:lstStyle/>
                    <a:p>
                      <a:pPr algn="l" fontAlgn="ctr">
                        <a:spcAft>
                          <a:spcPts val="3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1060369">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Force Majeure</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Every party, other than GOB and PGCB, can claim relief in relation to a force majeure event in regard to its obligations</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No payments shall be made by either party affected by a force majeure event for the period of such event on account of its inability to perform its obligations under force majeure event. However, any party will not be excused from making payments due to the company under the agreement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Force Majeure Event that damages the facility, the extension of deadline for fulfilling obligations of the affected party will not be for a duration greater then the restoration schedule</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3804852">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Political Event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Every party, other than GOB and PGCB, can claim relief in relation to a PE event in regard to its obligations under the PPA</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No payments shall be made by either party affected by a force majeure event for the period of such event on account of its inability to perform its obligations under force majeure event. However, the supplier will not be excused from making payments due to the company under the agreement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Political event includes fuel suppliers inability to supply gas/fuel excluding failure of transportation facilities</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Political Event that damages the facility, the extension of deadline for fulfilling obligations of the affected party will not be for a duration greater then the restoration schedule</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a material modification/ capital expenditure (greater than USD 450,000) required in the facility due to Change in Law or a Political Event, the company is required to provide to GOB:</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 A preliminary estimate of the restoration cost subject to a Threshold amount (i.e. 10% of construction contract price through 5th year, 7.5% of construction contract price after 5th year or 5% of construction contract price after 10th year)</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b) A preliminary schedule of the completion of such Restoration</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a political event, </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 Prior to COD, the GOB/PGCB shall pay to the company within 25 days of demand, Carrying Cost + Escalable Capacity payment based on the type of political event + Total amount of principle repayment to be made by the Company on the next scheduled repayment date/ the number of days in beginning on the previous scheduled principle repayment date (or in case of 1st principle repayment, beginning on Scheduled COD) and ending on the first scheduled principle repayment date</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b) After COD, the GOB shall pay within 25 days of demand, Full Capacity payment based on last dependable capacity to the extent such capacity payment is not made by BPDB +Total amount of principle repayment to be made by the Company on the next scheduled repayment date/ the number of days in beginning on the previous scheduled principle repayment date (or in case of 1st principle repayment, beginning on Scheduled COD) and ending on the first scheduled principle repayment date</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a material modification/capital expenditure required in the facility due to a Force Majeure Event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4040234158"/>
                  </a:ext>
                </a:extLst>
              </a:tr>
            </a:tbl>
          </a:graphicData>
        </a:graphic>
      </p:graphicFrame>
    </p:spTree>
    <p:extLst>
      <p:ext uri="{BB962C8B-B14F-4D97-AF65-F5344CB8AC3E}">
        <p14:creationId xmlns:p14="http://schemas.microsoft.com/office/powerpoint/2010/main" val="250922027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84380738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Annexure M | Implementation Agreement Terms</a:t>
            </a:r>
          </a:p>
        </p:txBody>
      </p:sp>
      <p:graphicFrame>
        <p:nvGraphicFramePr>
          <p:cNvPr id="18" name="Table 17"/>
          <p:cNvGraphicFramePr>
            <a:graphicFrameLocks noGrp="1"/>
          </p:cNvGraphicFramePr>
          <p:nvPr>
            <p:custDataLst>
              <p:tags r:id="rId3"/>
            </p:custDataLst>
            <p:extLst>
              <p:ext uri="{D42A27DB-BD31-4B8C-83A1-F6EECF244321}">
                <p14:modId xmlns:p14="http://schemas.microsoft.com/office/powerpoint/2010/main" val="2596240921"/>
              </p:ext>
            </p:extLst>
          </p:nvPr>
        </p:nvGraphicFramePr>
        <p:xfrm>
          <a:off x="449992" y="1943101"/>
          <a:ext cx="9791844" cy="5135133"/>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228480">
                <a:tc>
                  <a:txBody>
                    <a:bodyPr/>
                    <a:lstStyle/>
                    <a:p>
                      <a:pPr algn="l" fontAlgn="ctr">
                        <a:spcAft>
                          <a:spcPts val="3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2756987">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Company event of default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0" i="0" u="none" strike="noStrike" dirty="0">
                          <a:solidFill>
                            <a:srgbClr val="000000"/>
                          </a:solidFill>
                          <a:effectLst/>
                          <a:latin typeface="Verdana" panose="020B0604030504040204" pitchFamily="34" charset="0"/>
                        </a:rPr>
                        <a:t>Company Event of Default: GOB shall give a notice of default in case of following events except when such default is caused due to breach of relevant agreements by BPDB, GOB, PGCB, Gas Supplier, Fuel Supplier, due to Force Majeure or a Political Event: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the Company to maintain Performance Security until delivery of Performance Security Deposit or failure to deliver and maintain Performance Security Deposit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the Company to achieve Financial Closure by Required Financial Closure Date i.e. 9 months from the Project Effective Date</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the Company to achieve Construction Start Date within 90 days from the Financial Closure Date</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the Company to achieve Commercial Operation Date within 12 months from the Required Commercial Operation Date</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Abandonment of the facility or failure of Company to complete construction of the facility for 30 consecutive days between Construction Start Date and Commercial Operation Date</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Abandonment of operations of the facility by the Company for 25 consecutive days after COD</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Transfer of Company's rights, obligations and the facility itself without consent from GOB</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Any material breach by the Company that is not remedied in 30 days after notice from GOB8.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Company Event of default under Implementation Agreement, Land lease agreement, Gas Supply Agreement or Fuel Supply Agreement unless waived by third party or cured</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by company to submit and maintain Performance Security Deposit/ Operations Security Deposit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the Company to make payments within 30 days from the due date except when security is available</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2148093">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GOB event of default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0" i="0" u="none" strike="noStrike" dirty="0">
                          <a:solidFill>
                            <a:srgbClr val="000000"/>
                          </a:solidFill>
                          <a:effectLst/>
                          <a:latin typeface="Verdana" panose="020B0604030504040204" pitchFamily="34" charset="0"/>
                        </a:rPr>
                        <a:t>GOB Event of Default: Company shall give a notice of default in case of following events except when such default is caused due to breach of any of the project agreements by the Company or due to Force Majeure or a Political Event: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Compulsory acquisition of the Company's Ordinary Share Capital or any material assets or rights or procurement of more then 25% of the Company's ordinary share capital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Dissolution of BPDB except for privatization or amalgamation/restructuring/reorganization/corporatization provided a reasonable guarantee to the performance of the succeeding entity and all BPDB's obligations have been assigned to the new entity</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Dissolution of Gas/Fuel Supplier except for privatization or amalgamation/restructuring/reorganization/corporatization provided a reasonable guarantee to the performance of the succeeding entity and all BPDB's obligations have been assigned to the new entity</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Failure of GOB in making payments under Guarantee for 5 days</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Any material breach by GOB/PGCB that is not remedied in 30 days after notice from the Company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Occurrence of an event of default by the gas/fuel Supplier or BPDB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Change in Law making execution unlawful/unenforceable</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4040234158"/>
                  </a:ext>
                </a:extLst>
              </a:tr>
            </a:tbl>
          </a:graphicData>
        </a:graphic>
      </p:graphicFrame>
    </p:spTree>
    <p:extLst>
      <p:ext uri="{BB962C8B-B14F-4D97-AF65-F5344CB8AC3E}">
        <p14:creationId xmlns:p14="http://schemas.microsoft.com/office/powerpoint/2010/main" val="421437777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33611691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Annexure M | Implementation Agreement Terms</a:t>
            </a:r>
          </a:p>
        </p:txBody>
      </p:sp>
      <p:graphicFrame>
        <p:nvGraphicFramePr>
          <p:cNvPr id="18" name="Table 17"/>
          <p:cNvGraphicFramePr>
            <a:graphicFrameLocks noGrp="1"/>
          </p:cNvGraphicFramePr>
          <p:nvPr>
            <p:custDataLst>
              <p:tags r:id="rId3"/>
            </p:custDataLst>
            <p:extLst>
              <p:ext uri="{D42A27DB-BD31-4B8C-83A1-F6EECF244321}">
                <p14:modId xmlns:p14="http://schemas.microsoft.com/office/powerpoint/2010/main" val="1890231330"/>
              </p:ext>
            </p:extLst>
          </p:nvPr>
        </p:nvGraphicFramePr>
        <p:xfrm>
          <a:off x="449992" y="1943101"/>
          <a:ext cx="9791844" cy="5133559"/>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258831">
                <a:tc>
                  <a:txBody>
                    <a:bodyPr/>
                    <a:lstStyle/>
                    <a:p>
                      <a:pPr algn="l" fontAlgn="ctr">
                        <a:spcAft>
                          <a:spcPts val="3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3528725">
                <a:tc>
                  <a:txBody>
                    <a:bodyPr/>
                    <a:lstStyle/>
                    <a:p>
                      <a:pPr marL="72000" algn="l" fontAlgn="ctr">
                        <a:spcAft>
                          <a:spcPts val="300"/>
                        </a:spcAft>
                      </a:pPr>
                      <a:r>
                        <a:rPr lang="en-US" sz="900" b="0" i="0" u="none" strike="noStrike" dirty="0">
                          <a:solidFill>
                            <a:srgbClr val="000000"/>
                          </a:solidFill>
                          <a:effectLst/>
                          <a:latin typeface="Verdana" panose="020B0604030504040204" pitchFamily="34" charset="0"/>
                        </a:rPr>
                        <a:t>Rights and remedies in the event of default</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Upon event of default, the non-defaulting party can choose to terminate this agreement by delivering a Notice of Intent to Terminate, specifying in reasonable detail the event of default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Following the delivery of Intent to Terminate, the parties shall consult in good faith to remedy the default: </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 45 days: in case of default on payments or security</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b) 90 days: in any other event of default, or even longer duration of consulting in mutual agreement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Notwithstanding the consulting, the defaulting party must undertake efforts to cure the default. In case the default is cured before the delivery of termination notice, the non defaulting party shall have no right to terminate</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At the expiry of the consultation period, if the default is not remedied or the parties have not reached an agreement, the non-defaulting party may deliver a Termination Notice to the other party</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Company shall not seek to terminate this Agreement without first giving a copy of the notices to the GOB along with a request to cure the default within the cure period. GOB will have the option but not an obligation to cure default.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If at the expiry of the cure period, if GOB is diligently attempting to remedy the default, other than a payment default, an additional period of 90 days will be provided</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company event of default, GOB is required to give notice to the lenders of the Company with a request to cure the default within the cure period. No such termination will be valid till the expiration of:</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 Initial Cure Period</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b) An Evaluation Period subsequent to expiry of the initial cure period - Earlier of delivery of Election notice by the Lenders to GOB or 30 days from expiration of Initial Cure Period. Upon delivery of Election Notice, Lenders have a period of 180 days to cure any Company Event of Default</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c) Lenders Cure Period - Period during which the Lenders either attempt to procure the cure of such default or enforce their rights under the Financing Documents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828258">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Obligation upon termination</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Company event of default, if the agreement is terminated before financial closing is achieved, the GOB may terminate this agreement and </a:t>
                      </a:r>
                      <a:r>
                        <a:rPr lang="en-US" sz="900" b="0" i="0" u="none" strike="noStrike" dirty="0" err="1">
                          <a:solidFill>
                            <a:srgbClr val="000000"/>
                          </a:solidFill>
                          <a:effectLst/>
                          <a:latin typeface="Verdana" panose="020B0604030504040204" pitchFamily="34" charset="0"/>
                        </a:rPr>
                        <a:t>encash</a:t>
                      </a:r>
                      <a:r>
                        <a:rPr lang="en-US" sz="900" b="0" i="0" u="none" strike="noStrike" dirty="0">
                          <a:solidFill>
                            <a:srgbClr val="000000"/>
                          </a:solidFill>
                          <a:effectLst/>
                          <a:latin typeface="Verdana" panose="020B0604030504040204" pitchFamily="34" charset="0"/>
                        </a:rPr>
                        <a:t> the Performance Security Deposit</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Compensation for termination will be payable in the following manner:</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of termination due to default or Force Majeure or Political Event, the GOB has the option to obtain the rights towards the facility in exchange for reasonable compensation as defined in the IA under different circumstances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4040234158"/>
                  </a:ext>
                </a:extLst>
              </a:tr>
              <a:tr h="517745">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Taxes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The company will be exempt from taxation or withholding tax in Bangladesh on its income</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Several other financial and tax incentives are also prescribed in the IA</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17461742"/>
                  </a:ext>
                </a:extLst>
              </a:tr>
            </a:tbl>
          </a:graphicData>
        </a:graphic>
      </p:graphicFrame>
    </p:spTree>
    <p:extLst>
      <p:ext uri="{BB962C8B-B14F-4D97-AF65-F5344CB8AC3E}">
        <p14:creationId xmlns:p14="http://schemas.microsoft.com/office/powerpoint/2010/main" val="333223113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148525148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0" name="SlideTitle"/>
          <p:cNvSpPr>
            <a:spLocks noGrp="1"/>
          </p:cNvSpPr>
          <p:nvPr>
            <p:ph type="title"/>
          </p:nvPr>
        </p:nvSpPr>
        <p:spPr>
          <a:xfrm>
            <a:off x="449993" y="647990"/>
            <a:ext cx="9791843" cy="431993"/>
          </a:xfrm>
        </p:spPr>
        <p:txBody>
          <a:bodyPr lIns="0" tIns="0" rIns="0" bIns="0" anchor="ctr">
            <a:noAutofit/>
          </a:bodyPr>
          <a:lstStyle/>
          <a:p>
            <a:r>
              <a:rPr lang="en-GB" noProof="0" dirty="0">
                <a:solidFill>
                  <a:srgbClr val="000000"/>
                </a:solidFill>
                <a:latin typeface="Verdana" panose="020B0604030504040204" pitchFamily="34" charset="0"/>
              </a:rPr>
              <a:t>Annexure M | Implementation Agreement Terms</a:t>
            </a:r>
          </a:p>
        </p:txBody>
      </p:sp>
      <p:graphicFrame>
        <p:nvGraphicFramePr>
          <p:cNvPr id="18" name="Table 17"/>
          <p:cNvGraphicFramePr>
            <a:graphicFrameLocks noGrp="1"/>
          </p:cNvGraphicFramePr>
          <p:nvPr>
            <p:custDataLst>
              <p:tags r:id="rId3"/>
            </p:custDataLst>
            <p:extLst>
              <p:ext uri="{D42A27DB-BD31-4B8C-83A1-F6EECF244321}">
                <p14:modId xmlns:p14="http://schemas.microsoft.com/office/powerpoint/2010/main" val="4131945699"/>
              </p:ext>
            </p:extLst>
          </p:nvPr>
        </p:nvGraphicFramePr>
        <p:xfrm>
          <a:off x="449992" y="1943101"/>
          <a:ext cx="9791844" cy="3265008"/>
        </p:xfrm>
        <a:graphic>
          <a:graphicData uri="http://schemas.openxmlformats.org/drawingml/2006/table">
            <a:tbl>
              <a:tblPr>
                <a:tableStyleId>{5C22544A-7EE6-4342-B048-85BDC9FD1C3A}</a:tableStyleId>
              </a:tblPr>
              <a:tblGrid>
                <a:gridCol w="2060979">
                  <a:extLst>
                    <a:ext uri="{9D8B030D-6E8A-4147-A177-3AD203B41FA5}">
                      <a16:colId xmlns:a16="http://schemas.microsoft.com/office/drawing/2014/main" val="1102087775"/>
                    </a:ext>
                  </a:extLst>
                </a:gridCol>
                <a:gridCol w="7730865">
                  <a:extLst>
                    <a:ext uri="{9D8B030D-6E8A-4147-A177-3AD203B41FA5}">
                      <a16:colId xmlns:a16="http://schemas.microsoft.com/office/drawing/2014/main" val="725993939"/>
                    </a:ext>
                  </a:extLst>
                </a:gridCol>
              </a:tblGrid>
              <a:tr h="303252">
                <a:tc>
                  <a:txBody>
                    <a:bodyPr/>
                    <a:lstStyle/>
                    <a:p>
                      <a:pPr algn="l" fontAlgn="ctr">
                        <a:spcAft>
                          <a:spcPts val="300"/>
                        </a:spcAft>
                      </a:pPr>
                      <a:r>
                        <a:rPr lang="en-IN" sz="900" b="1" i="0" u="none" strike="noStrike" dirty="0">
                          <a:solidFill>
                            <a:schemeClr val="accent1"/>
                          </a:solidFill>
                          <a:effectLst/>
                          <a:latin typeface="+mj-lt"/>
                        </a:rPr>
                        <a:t>Parameter</a:t>
                      </a:r>
                    </a:p>
                  </a:txBody>
                  <a:tcPr marL="45720" marR="45720"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Conditions</a:t>
                      </a:r>
                      <a:endParaRPr lang="en-IN" sz="900" b="1" i="0" u="none" strike="noStrike" dirty="0">
                        <a:solidFill>
                          <a:schemeClr val="accent1"/>
                        </a:solidFill>
                        <a:effectLst/>
                        <a:latin typeface="+mj-lt"/>
                      </a:endParaRPr>
                    </a:p>
                  </a:txBody>
                  <a:tcPr marL="45720" marR="45720"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919863">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Dispute Resolution</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Either party can give a written notice to the other for any dispute, along with description. Failing to resolve the dispute amicably within 30 days (or 10 days in case of dispute related to an invoice), the dispute shall be settled through referral to CEO and the designated representative of BPDB. After the expiry of 15 days from such referral, if the dispute is not settled, it will be referred to an Expert.</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 case the recommendation of the Expert is not acceptable to either party, it can initiate arbitration proceedings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374010">
                <a:tc>
                  <a:txBody>
                    <a:bodyPr/>
                    <a:lstStyle/>
                    <a:p>
                      <a:pPr marL="72000" algn="l" fontAlgn="ctr">
                        <a:spcAft>
                          <a:spcPts val="300"/>
                        </a:spcAft>
                      </a:pPr>
                      <a:r>
                        <a:rPr lang="en-IN" sz="900" b="0" i="0" u="none" strike="noStrike">
                          <a:solidFill>
                            <a:srgbClr val="000000"/>
                          </a:solidFill>
                          <a:effectLst/>
                          <a:latin typeface="Verdana" panose="020B0604030504040204" pitchFamily="34" charset="0"/>
                        </a:rPr>
                        <a:t>Guarantee</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0" i="0" u="none" strike="noStrike" dirty="0">
                          <a:solidFill>
                            <a:srgbClr val="000000"/>
                          </a:solidFill>
                          <a:effectLst/>
                          <a:latin typeface="Verdana" panose="020B0604030504040204" pitchFamily="34" charset="0"/>
                        </a:rPr>
                        <a:t>The GOB shall deliver to the Company a Guarantee to the effect that GOB will pay any amount due to the Company by BPDB, PGCB, Gas Supplier, Fuel Supplier in case of failure to pay by the aforementioned parties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4040234158"/>
                  </a:ext>
                </a:extLst>
              </a:tr>
              <a:tr h="919863">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Termination</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Company/GOB event of default not remedied </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Force Majeure or Political Event of BPDB of more than 12 months</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Force Majeure or Political Event of the company preventing it from achieving COD with 12 months of Scheduled COD or after COD, preventing operation for 9 months</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Infeasibility to restore facility due to Political/Force Majeure Event or inability to agree on a restoration schedule</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17461742"/>
                  </a:ext>
                </a:extLst>
              </a:tr>
              <a:tr h="374010">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Repatriation of funds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Transfer of funds outside Bangladesh will be governed by Exchange Regulations Act, 2016</a:t>
                      </a:r>
                    </a:p>
                    <a:p>
                      <a:pPr marL="171450" indent="-171450" algn="l" fontAlgn="ctr">
                        <a:spcAft>
                          <a:spcPts val="300"/>
                        </a:spcAft>
                        <a:buFont typeface="Arial" panose="020B0604020202020204" pitchFamily="34" charset="0"/>
                        <a:buChar char="•"/>
                      </a:pPr>
                      <a:r>
                        <a:rPr lang="en-US" sz="900" b="0" i="0" u="none" strike="noStrike" dirty="0">
                          <a:solidFill>
                            <a:srgbClr val="000000"/>
                          </a:solidFill>
                          <a:effectLst/>
                          <a:latin typeface="Verdana" panose="020B0604030504040204" pitchFamily="34" charset="0"/>
                        </a:rPr>
                        <a:t>Company permitted to purchase dollar through normal commercial banking channels for repatriation of funds</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3200849127"/>
                  </a:ext>
                </a:extLst>
              </a:tr>
              <a:tr h="374010">
                <a:tc>
                  <a:txBody>
                    <a:bodyPr/>
                    <a:lstStyle/>
                    <a:p>
                      <a:pPr marL="72000" algn="l" fontAlgn="ctr">
                        <a:spcAft>
                          <a:spcPts val="300"/>
                        </a:spcAft>
                      </a:pPr>
                      <a:r>
                        <a:rPr lang="en-IN" sz="900" b="0" i="0" u="none" strike="noStrike" dirty="0">
                          <a:solidFill>
                            <a:srgbClr val="000000"/>
                          </a:solidFill>
                          <a:effectLst/>
                          <a:latin typeface="Verdana" panose="020B0604030504040204" pitchFamily="34" charset="0"/>
                        </a:rPr>
                        <a:t>Governing Law</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0" i="0" u="none" strike="noStrike" dirty="0">
                          <a:solidFill>
                            <a:srgbClr val="000000"/>
                          </a:solidFill>
                          <a:effectLst/>
                          <a:latin typeface="Verdana" panose="020B0604030504040204" pitchFamily="34" charset="0"/>
                        </a:rPr>
                        <a:t>Rights and obligations of the parties shall be interpreted, construed and governed by the laws of England and Wales</a:t>
                      </a:r>
                      <a:br>
                        <a:rPr lang="en-US" sz="900" b="0" i="0" u="none" strike="noStrike" dirty="0">
                          <a:solidFill>
                            <a:srgbClr val="000000"/>
                          </a:solidFill>
                          <a:effectLst/>
                          <a:latin typeface="Verdana" panose="020B0604030504040204" pitchFamily="34" charset="0"/>
                        </a:rPr>
                      </a:br>
                      <a:r>
                        <a:rPr lang="en-US" sz="900" b="0" i="0" u="none" strike="noStrike" dirty="0">
                          <a:solidFill>
                            <a:srgbClr val="000000"/>
                          </a:solidFill>
                          <a:effectLst/>
                          <a:latin typeface="Verdana" panose="020B0604030504040204" pitchFamily="34" charset="0"/>
                        </a:rPr>
                        <a:t>Arbitration shall be conducted at Dhaka except when the Company desires otherwise i.e. in Singapore</a:t>
                      </a:r>
                    </a:p>
                  </a:txBody>
                  <a:tcPr marL="7620" marR="7620" marT="7620" marB="0"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39101728"/>
                  </a:ext>
                </a:extLst>
              </a:tr>
            </a:tbl>
          </a:graphicData>
        </a:graphic>
      </p:graphicFrame>
    </p:spTree>
    <p:extLst>
      <p:ext uri="{BB962C8B-B14F-4D97-AF65-F5344CB8AC3E}">
        <p14:creationId xmlns:p14="http://schemas.microsoft.com/office/powerpoint/2010/main" val="394507891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noChangeAspect="1"/>
          </p:cNvGraphicFramePr>
          <p:nvPr>
            <p:custDataLst>
              <p:tags r:id="rId1"/>
            </p:custDataLst>
            <p:extLst>
              <p:ext uri="{D42A27DB-BD31-4B8C-83A1-F6EECF244321}">
                <p14:modId xmlns:p14="http://schemas.microsoft.com/office/powerpoint/2010/main" val="290224451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6" name="Object 5"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5" name="Rectangle 4"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GB" dirty="0">
                <a:solidFill>
                  <a:srgbClr val="000000"/>
                </a:solidFill>
                <a:latin typeface="Verdana" panose="020B0604030504040204" pitchFamily="34" charset="0"/>
              </a:rPr>
              <a:t>Annexure M | </a:t>
            </a:r>
            <a:r>
              <a:rPr lang="en-US" dirty="0"/>
              <a:t>Implementation Agreement - Termination Clause</a:t>
            </a:r>
            <a:endParaRPr lang="en-IN" dirty="0"/>
          </a:p>
        </p:txBody>
      </p:sp>
      <p:sp>
        <p:nvSpPr>
          <p:cNvPr id="3"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noProof="0" dirty="0">
                <a:solidFill>
                  <a:prstClr val="black">
                    <a:lumMod val="50000"/>
                    <a:lumOff val="50000"/>
                  </a:prstClr>
                </a:solidFill>
                <a:latin typeface="Verdana" panose="020B0604030504040204" pitchFamily="34" charset="0"/>
              </a:rPr>
              <a:t>Definition of key terms used for calculation of compensation upon termination</a:t>
            </a:r>
            <a:endPar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4" name="Table 3"/>
          <p:cNvGraphicFramePr>
            <a:graphicFrameLocks noGrp="1"/>
          </p:cNvGraphicFramePr>
          <p:nvPr>
            <p:custDataLst>
              <p:tags r:id="rId3"/>
            </p:custDataLst>
            <p:extLst>
              <p:ext uri="{D42A27DB-BD31-4B8C-83A1-F6EECF244321}">
                <p14:modId xmlns:p14="http://schemas.microsoft.com/office/powerpoint/2010/main" val="538065627"/>
              </p:ext>
            </p:extLst>
          </p:nvPr>
        </p:nvGraphicFramePr>
        <p:xfrm>
          <a:off x="449264" y="1480388"/>
          <a:ext cx="9791844" cy="5623560"/>
        </p:xfrm>
        <a:graphic>
          <a:graphicData uri="http://schemas.openxmlformats.org/drawingml/2006/table">
            <a:tbl>
              <a:tblPr>
                <a:tableStyleId>{5C22544A-7EE6-4342-B048-85BDC9FD1C3A}</a:tableStyleId>
              </a:tblPr>
              <a:tblGrid>
                <a:gridCol w="642117">
                  <a:extLst>
                    <a:ext uri="{9D8B030D-6E8A-4147-A177-3AD203B41FA5}">
                      <a16:colId xmlns:a16="http://schemas.microsoft.com/office/drawing/2014/main" val="1102087775"/>
                    </a:ext>
                  </a:extLst>
                </a:gridCol>
                <a:gridCol w="9149727">
                  <a:extLst>
                    <a:ext uri="{9D8B030D-6E8A-4147-A177-3AD203B41FA5}">
                      <a16:colId xmlns:a16="http://schemas.microsoft.com/office/drawing/2014/main" val="725993939"/>
                    </a:ext>
                  </a:extLst>
                </a:gridCol>
              </a:tblGrid>
              <a:tr h="211527">
                <a:tc>
                  <a:txBody>
                    <a:bodyPr/>
                    <a:lstStyle/>
                    <a:p>
                      <a:pPr algn="l" fontAlgn="ctr">
                        <a:spcAft>
                          <a:spcPts val="300"/>
                        </a:spcAft>
                      </a:pPr>
                      <a:r>
                        <a:rPr lang="en-IN" sz="900" b="1" i="0" u="none" strike="noStrike" dirty="0">
                          <a:solidFill>
                            <a:schemeClr val="accent1"/>
                          </a:solidFill>
                          <a:effectLst/>
                          <a:latin typeface="+mj-lt"/>
                        </a:rPr>
                        <a:t>Term</a:t>
                      </a:r>
                    </a:p>
                  </a:txBody>
                  <a:tcPr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Component</a:t>
                      </a:r>
                      <a:endParaRPr lang="en-IN" sz="900" b="1" i="0" u="none" strike="noStrike" dirty="0">
                        <a:solidFill>
                          <a:schemeClr val="accent1"/>
                        </a:solidFill>
                        <a:effectLst/>
                        <a:latin typeface="+mj-lt"/>
                      </a:endParaRPr>
                    </a:p>
                  </a:txBody>
                  <a:tcPr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1727468">
                <a:tc>
                  <a:txBody>
                    <a:bodyPr/>
                    <a:lstStyle/>
                    <a:p>
                      <a:pPr marL="72000" algn="l" fontAlgn="ctr">
                        <a:spcAft>
                          <a:spcPts val="300"/>
                        </a:spcAft>
                      </a:pPr>
                      <a:r>
                        <a:rPr lang="en-IN" sz="900" b="1" i="0" u="none" strike="noStrike" dirty="0">
                          <a:solidFill>
                            <a:srgbClr val="000000"/>
                          </a:solidFill>
                          <a:effectLst/>
                          <a:latin typeface="+mj-lt"/>
                        </a:rPr>
                        <a:t>A</a:t>
                      </a:r>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indent="0" algn="l" fontAlgn="ctr">
                        <a:spcAft>
                          <a:spcPts val="300"/>
                        </a:spcAft>
                        <a:buFont typeface="Arial" panose="020B0604020202020204" pitchFamily="34" charset="0"/>
                        <a:buNone/>
                      </a:pPr>
                      <a:r>
                        <a:rPr lang="en-US" sz="900" b="0" i="0" u="none" strike="noStrike" dirty="0">
                          <a:solidFill>
                            <a:srgbClr val="000000"/>
                          </a:solidFill>
                          <a:effectLst/>
                          <a:latin typeface="+mj-lt"/>
                        </a:rPr>
                        <a:t>The sum of following terms:</a:t>
                      </a:r>
                    </a:p>
                    <a:p>
                      <a:pPr marL="228600" indent="-228600" algn="l" fontAlgn="ctr">
                        <a:spcAft>
                          <a:spcPts val="300"/>
                        </a:spcAft>
                        <a:buFont typeface="+mj-lt"/>
                        <a:buAutoNum type="arabicPeriod"/>
                      </a:pPr>
                      <a:r>
                        <a:rPr lang="en-US" sz="900" b="0" i="0" u="none" strike="noStrike" dirty="0">
                          <a:solidFill>
                            <a:srgbClr val="000000"/>
                          </a:solidFill>
                          <a:effectLst/>
                          <a:latin typeface="+mj-lt"/>
                        </a:rPr>
                        <a:t>Total amount of principal outstanding to the Lenders under</a:t>
                      </a:r>
                      <a:r>
                        <a:rPr lang="en-US" sz="900" b="0" i="0" u="none" strike="noStrike" baseline="0" dirty="0">
                          <a:solidFill>
                            <a:srgbClr val="000000"/>
                          </a:solidFill>
                          <a:effectLst/>
                          <a:latin typeface="+mj-lt"/>
                        </a:rPr>
                        <a:t> Financing documents and interest</a:t>
                      </a:r>
                    </a:p>
                    <a:p>
                      <a:pPr marL="228600" indent="-228600" algn="l" fontAlgn="ctr">
                        <a:spcAft>
                          <a:spcPts val="300"/>
                        </a:spcAft>
                        <a:buFont typeface="+mj-lt"/>
                        <a:buAutoNum type="arabicPeriod"/>
                      </a:pPr>
                      <a:r>
                        <a:rPr lang="en-US" sz="900" b="0" i="0" u="none" strike="noStrike" baseline="0" dirty="0">
                          <a:solidFill>
                            <a:srgbClr val="000000"/>
                          </a:solidFill>
                          <a:effectLst/>
                          <a:latin typeface="+mj-lt"/>
                        </a:rPr>
                        <a:t>Total amount outstanding under any loan agreements for capital improvements, as approved by </a:t>
                      </a:r>
                      <a:r>
                        <a:rPr lang="en-US" sz="900" b="0" i="0" u="none" strike="noStrike" baseline="0" dirty="0" err="1">
                          <a:solidFill>
                            <a:srgbClr val="000000"/>
                          </a:solidFill>
                          <a:effectLst/>
                          <a:latin typeface="+mj-lt"/>
                        </a:rPr>
                        <a:t>GoB</a:t>
                      </a:r>
                      <a:r>
                        <a:rPr lang="en-US" sz="900" b="0" i="0" u="none" strike="noStrike" baseline="0" dirty="0">
                          <a:solidFill>
                            <a:srgbClr val="000000"/>
                          </a:solidFill>
                          <a:effectLst/>
                          <a:latin typeface="+mj-lt"/>
                        </a:rPr>
                        <a:t>, taking into account all Supplemental Tariff Payments </a:t>
                      </a:r>
                    </a:p>
                    <a:p>
                      <a:pPr marL="228600" indent="-228600" algn="l" fontAlgn="ctr">
                        <a:spcAft>
                          <a:spcPts val="300"/>
                        </a:spcAft>
                        <a:buFont typeface="+mj-lt"/>
                        <a:buAutoNum type="arabicPeriod"/>
                      </a:pPr>
                      <a:r>
                        <a:rPr lang="en-US" sz="900" b="0" i="0" u="none" strike="noStrike" baseline="0" dirty="0">
                          <a:solidFill>
                            <a:srgbClr val="000000"/>
                          </a:solidFill>
                          <a:effectLst/>
                          <a:latin typeface="+mj-lt"/>
                        </a:rPr>
                        <a:t>Total amount of any other outstanding debt incurred by the Company that was approved by </a:t>
                      </a:r>
                      <a:r>
                        <a:rPr lang="en-US" sz="900" b="0" i="0" u="none" strike="noStrike" baseline="0" dirty="0" err="1">
                          <a:solidFill>
                            <a:srgbClr val="000000"/>
                          </a:solidFill>
                          <a:effectLst/>
                          <a:latin typeface="+mj-lt"/>
                        </a:rPr>
                        <a:t>GoG</a:t>
                      </a:r>
                      <a:r>
                        <a:rPr lang="en-US" sz="900" b="0" i="0" u="none" strike="noStrike" baseline="0" dirty="0">
                          <a:solidFill>
                            <a:srgbClr val="000000"/>
                          </a:solidFill>
                          <a:effectLst/>
                          <a:latin typeface="+mj-lt"/>
                        </a:rPr>
                        <a:t>, less any insurance proceeds received by the Company following a FME or PE, and not spent for Restoration</a:t>
                      </a:r>
                    </a:p>
                    <a:p>
                      <a:pPr marL="228600" indent="-228600" algn="l" fontAlgn="ctr">
                        <a:spcAft>
                          <a:spcPts val="300"/>
                        </a:spcAft>
                        <a:buFont typeface="+mj-lt"/>
                        <a:buAutoNum type="arabicPeriod"/>
                      </a:pPr>
                      <a:r>
                        <a:rPr lang="en-US" sz="900" b="0" i="0" u="none" strike="noStrike" baseline="0" dirty="0">
                          <a:solidFill>
                            <a:srgbClr val="000000"/>
                          </a:solidFill>
                          <a:effectLst/>
                          <a:latin typeface="+mj-lt"/>
                        </a:rPr>
                        <a:t>Any winding up costs, prepayment charges or similar charges passed through by Lenders to the Company in accordance with Financing Documents</a:t>
                      </a:r>
                    </a:p>
                    <a:p>
                      <a:pPr marL="171450" indent="-171450" algn="l" fontAlgn="ctr">
                        <a:spcAft>
                          <a:spcPts val="300"/>
                        </a:spcAft>
                        <a:buFont typeface="Arial" panose="020B0604020202020204" pitchFamily="34" charset="0"/>
                        <a:buChar char="•"/>
                      </a:pPr>
                      <a:r>
                        <a:rPr lang="en-US" sz="900" b="0" i="1" u="none" strike="noStrike" baseline="0" dirty="0">
                          <a:solidFill>
                            <a:srgbClr val="000000"/>
                          </a:solidFill>
                          <a:effectLst/>
                          <a:latin typeface="+mj-lt"/>
                        </a:rPr>
                        <a:t>Total amount outstanding equal to unpaid principal, accrued interest, prepayment penalties, fees, commissions, costs and expenses</a:t>
                      </a:r>
                    </a:p>
                    <a:p>
                      <a:pPr marL="171450" indent="-171450" algn="l" fontAlgn="ctr">
                        <a:spcAft>
                          <a:spcPts val="300"/>
                        </a:spcAft>
                        <a:buFont typeface="Arial" panose="020B0604020202020204" pitchFamily="34" charset="0"/>
                        <a:buChar char="•"/>
                      </a:pPr>
                      <a:r>
                        <a:rPr lang="en-US" sz="900" b="0" i="1" u="none" strike="noStrike" baseline="0" dirty="0">
                          <a:solidFill>
                            <a:srgbClr val="000000"/>
                          </a:solidFill>
                          <a:effectLst/>
                          <a:latin typeface="+mj-lt"/>
                        </a:rPr>
                        <a:t>Principal amount shall not exceed the outstanding amount in amortization schedule, unless directly attributable to </a:t>
                      </a:r>
                      <a:r>
                        <a:rPr lang="en-US" sz="900" b="0" i="1" u="none" strike="noStrike" baseline="0" dirty="0" err="1">
                          <a:solidFill>
                            <a:srgbClr val="000000"/>
                          </a:solidFill>
                          <a:effectLst/>
                          <a:latin typeface="+mj-lt"/>
                        </a:rPr>
                        <a:t>GoB</a:t>
                      </a:r>
                      <a:r>
                        <a:rPr lang="en-US" sz="900" b="0" i="1" u="none" strike="noStrike" baseline="0" dirty="0">
                          <a:solidFill>
                            <a:srgbClr val="000000"/>
                          </a:solidFill>
                          <a:effectLst/>
                          <a:latin typeface="+mj-lt"/>
                        </a:rPr>
                        <a:t> Event of Default</a:t>
                      </a:r>
                    </a:p>
                    <a:p>
                      <a:pPr marL="171450" indent="-171450" algn="l" fontAlgn="ctr">
                        <a:spcAft>
                          <a:spcPts val="300"/>
                        </a:spcAft>
                        <a:buFont typeface="Arial" panose="020B0604020202020204" pitchFamily="34" charset="0"/>
                        <a:buChar char="•"/>
                      </a:pPr>
                      <a:r>
                        <a:rPr lang="en-US" sz="900" b="0" i="1" u="none" strike="noStrike" baseline="0" dirty="0">
                          <a:solidFill>
                            <a:srgbClr val="000000"/>
                          </a:solidFill>
                          <a:effectLst/>
                          <a:latin typeface="+mj-lt"/>
                        </a:rPr>
                        <a:t>No accrued interest shall be paid by </a:t>
                      </a:r>
                      <a:r>
                        <a:rPr lang="en-US" sz="900" b="0" i="1" u="none" strike="noStrike" baseline="0" dirty="0" err="1">
                          <a:solidFill>
                            <a:srgbClr val="000000"/>
                          </a:solidFill>
                          <a:effectLst/>
                          <a:latin typeface="+mj-lt"/>
                        </a:rPr>
                        <a:t>GoB</a:t>
                      </a:r>
                      <a:r>
                        <a:rPr lang="en-US" sz="900" b="0" i="1" u="none" strike="noStrike" baseline="0" dirty="0">
                          <a:solidFill>
                            <a:srgbClr val="000000"/>
                          </a:solidFill>
                          <a:effectLst/>
                          <a:latin typeface="+mj-lt"/>
                        </a:rPr>
                        <a:t> for interest under Financing Document or loan agreement from and after default by Company, unless default results from default of </a:t>
                      </a:r>
                      <a:r>
                        <a:rPr lang="en-US" sz="900" b="0" i="1" u="none" strike="noStrike" baseline="0" dirty="0" err="1">
                          <a:solidFill>
                            <a:srgbClr val="000000"/>
                          </a:solidFill>
                          <a:effectLst/>
                          <a:latin typeface="+mj-lt"/>
                        </a:rPr>
                        <a:t>GoB</a:t>
                      </a:r>
                      <a:r>
                        <a:rPr lang="en-US" sz="900" b="0" i="1" u="none" strike="noStrike" baseline="0" dirty="0">
                          <a:solidFill>
                            <a:srgbClr val="000000"/>
                          </a:solidFill>
                          <a:effectLst/>
                          <a:latin typeface="+mj-lt"/>
                        </a:rPr>
                        <a:t>, PGCB, BPDB, Gas Supplier or Fuel Supplier</a:t>
                      </a:r>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951870">
                <a:tc>
                  <a:txBody>
                    <a:bodyPr/>
                    <a:lstStyle/>
                    <a:p>
                      <a:pPr marL="72000" algn="l" fontAlgn="ctr">
                        <a:spcAft>
                          <a:spcPts val="300"/>
                        </a:spcAft>
                      </a:pPr>
                      <a:r>
                        <a:rPr lang="en-US" sz="900" b="1" i="0" u="none" strike="noStrike" dirty="0">
                          <a:solidFill>
                            <a:srgbClr val="000000"/>
                          </a:solidFill>
                          <a:effectLst/>
                          <a:latin typeface="+mj-lt"/>
                        </a:rPr>
                        <a:t>B</a:t>
                      </a:r>
                      <a:endParaRPr lang="en-IN" sz="900" b="1" i="0" u="none" strike="noStrike" dirty="0">
                        <a:solidFill>
                          <a:srgbClr val="000000"/>
                        </a:solidFill>
                        <a:effectLst/>
                        <a:latin typeface="+mj-lt"/>
                      </a:endParaRPr>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indent="0" algn="l" fontAlgn="ctr">
                        <a:spcAft>
                          <a:spcPts val="300"/>
                        </a:spcAft>
                        <a:buFont typeface="Arial" panose="020B0604020202020204" pitchFamily="34" charset="0"/>
                        <a:buNone/>
                      </a:pPr>
                      <a:r>
                        <a:rPr lang="en-US" sz="900" b="0" i="0" u="none" strike="noStrike" dirty="0">
                          <a:solidFill>
                            <a:srgbClr val="000000"/>
                          </a:solidFill>
                          <a:effectLst/>
                          <a:latin typeface="+mj-lt"/>
                        </a:rPr>
                        <a:t>As</a:t>
                      </a:r>
                      <a:r>
                        <a:rPr lang="en-US" sz="900" b="0" i="0" u="none" strike="noStrike" baseline="0" dirty="0">
                          <a:solidFill>
                            <a:srgbClr val="000000"/>
                          </a:solidFill>
                          <a:effectLst/>
                          <a:latin typeface="+mj-lt"/>
                        </a:rPr>
                        <a:t> of date of transfer of Facility to </a:t>
                      </a:r>
                      <a:r>
                        <a:rPr lang="en-US" sz="900" b="0" i="0" u="none" strike="noStrike" baseline="0" dirty="0" err="1">
                          <a:solidFill>
                            <a:srgbClr val="000000"/>
                          </a:solidFill>
                          <a:effectLst/>
                          <a:latin typeface="+mj-lt"/>
                        </a:rPr>
                        <a:t>GoB</a:t>
                      </a:r>
                      <a:r>
                        <a:rPr lang="en-US" sz="900" b="0" i="0" u="none" strike="noStrike" baseline="0" dirty="0">
                          <a:solidFill>
                            <a:srgbClr val="000000"/>
                          </a:solidFill>
                          <a:effectLst/>
                          <a:latin typeface="+mj-lt"/>
                        </a:rPr>
                        <a:t>, the equity investment by shareholders (USD), reduced on a straight line basis from </a:t>
                      </a:r>
                      <a:r>
                        <a:rPr lang="en-US" sz="900" b="0" i="0" u="none" strike="noStrike" baseline="0" dirty="0" err="1">
                          <a:solidFill>
                            <a:srgbClr val="000000"/>
                          </a:solidFill>
                          <a:effectLst/>
                          <a:latin typeface="+mj-lt"/>
                        </a:rPr>
                        <a:t>CoD</a:t>
                      </a:r>
                      <a:r>
                        <a:rPr lang="en-US" sz="900" b="0" i="0" u="none" strike="noStrike" baseline="0" dirty="0">
                          <a:solidFill>
                            <a:srgbClr val="000000"/>
                          </a:solidFill>
                          <a:effectLst/>
                          <a:latin typeface="+mj-lt"/>
                        </a:rPr>
                        <a:t> through the term of Implementation Agreement to 5% of initial value. The equity amount shall be further reduced by the following:</a:t>
                      </a:r>
                    </a:p>
                    <a:p>
                      <a:pPr marL="228600" indent="-228600" algn="l" fontAlgn="ctr">
                        <a:spcAft>
                          <a:spcPts val="300"/>
                        </a:spcAft>
                        <a:buFont typeface="+mj-lt"/>
                        <a:buAutoNum type="arabicPeriod"/>
                      </a:pPr>
                      <a:r>
                        <a:rPr lang="en-US" sz="900" b="0" i="0" u="none" strike="noStrike" baseline="0" dirty="0">
                          <a:solidFill>
                            <a:srgbClr val="000000"/>
                          </a:solidFill>
                          <a:effectLst/>
                          <a:latin typeface="+mj-lt"/>
                        </a:rPr>
                        <a:t>Estimated cost of maintenance during then Scheduled Outages</a:t>
                      </a:r>
                    </a:p>
                    <a:p>
                      <a:pPr marL="228600" indent="-228600" algn="l" fontAlgn="ctr">
                        <a:spcAft>
                          <a:spcPts val="300"/>
                        </a:spcAft>
                        <a:buFont typeface="+mj-lt"/>
                        <a:buAutoNum type="arabicPeriod"/>
                      </a:pPr>
                      <a:r>
                        <a:rPr lang="en-US" sz="900" b="0" i="0" u="none" strike="noStrike" baseline="0" dirty="0">
                          <a:solidFill>
                            <a:srgbClr val="000000"/>
                          </a:solidFill>
                          <a:effectLst/>
                          <a:latin typeface="+mj-lt"/>
                        </a:rPr>
                        <a:t>Estimated cost of maintenance during next major maintenance overhaul</a:t>
                      </a:r>
                    </a:p>
                    <a:p>
                      <a:pPr marL="171450" indent="-171450" algn="l" fontAlgn="ctr">
                        <a:spcAft>
                          <a:spcPts val="300"/>
                        </a:spcAft>
                        <a:buFont typeface="Arial" panose="020B0604020202020204" pitchFamily="34" charset="0"/>
                        <a:buChar char="•"/>
                      </a:pPr>
                      <a:r>
                        <a:rPr lang="en-US" sz="900" b="0" i="1" u="none" strike="noStrike" baseline="0" dirty="0">
                          <a:solidFill>
                            <a:srgbClr val="000000"/>
                          </a:solidFill>
                          <a:effectLst/>
                          <a:latin typeface="+mj-lt"/>
                        </a:rPr>
                        <a:t>Both costs of maintenance to be pro rated by ratio of (</a:t>
                      </a:r>
                      <a:r>
                        <a:rPr lang="en-US" sz="900" b="0" i="1" u="none" strike="noStrike" baseline="0" dirty="0" err="1">
                          <a:solidFill>
                            <a:srgbClr val="000000"/>
                          </a:solidFill>
                          <a:effectLst/>
                          <a:latin typeface="+mj-lt"/>
                        </a:rPr>
                        <a:t>i</a:t>
                      </a:r>
                      <a:r>
                        <a:rPr lang="en-US" sz="900" b="0" i="1" u="none" strike="noStrike" baseline="0" dirty="0">
                          <a:solidFill>
                            <a:srgbClr val="000000"/>
                          </a:solidFill>
                          <a:effectLst/>
                          <a:latin typeface="+mj-lt"/>
                        </a:rPr>
                        <a:t>) Number of Days in the period from last such maintenance until date of termination to (ii) number of Days in period between last such maintenance and scheduled date for next such maintenance</a:t>
                      </a:r>
                      <a:endParaRPr lang="en-US" sz="900" b="0" i="1" u="none" strike="noStrike" dirty="0">
                        <a:solidFill>
                          <a:srgbClr val="000000"/>
                        </a:solidFill>
                        <a:effectLst/>
                        <a:latin typeface="+mj-lt"/>
                      </a:endParaRPr>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923727616"/>
                  </a:ext>
                </a:extLst>
              </a:tr>
              <a:tr h="662783">
                <a:tc>
                  <a:txBody>
                    <a:bodyPr/>
                    <a:lstStyle/>
                    <a:p>
                      <a:pPr marL="72000" algn="l" fontAlgn="ctr">
                        <a:spcAft>
                          <a:spcPts val="300"/>
                        </a:spcAft>
                      </a:pPr>
                      <a:r>
                        <a:rPr lang="en-US" sz="900" b="1" i="0" u="none" strike="noStrike" dirty="0">
                          <a:solidFill>
                            <a:srgbClr val="000000"/>
                          </a:solidFill>
                          <a:effectLst/>
                          <a:latin typeface="+mj-lt"/>
                        </a:rPr>
                        <a:t>C</a:t>
                      </a:r>
                      <a:endParaRPr lang="en-IN" sz="900" b="1" i="0" u="none" strike="noStrike" dirty="0">
                        <a:solidFill>
                          <a:srgbClr val="000000"/>
                        </a:solidFill>
                        <a:effectLst/>
                        <a:latin typeface="+mj-lt"/>
                      </a:endParaRPr>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228600" indent="-228600" algn="l" fontAlgn="ctr">
                        <a:spcAft>
                          <a:spcPts val="300"/>
                        </a:spcAft>
                        <a:buFont typeface="+mj-lt"/>
                        <a:buAutoNum type="arabicPeriod"/>
                      </a:pPr>
                      <a:r>
                        <a:rPr lang="en-US" sz="900" b="0" i="0" u="none" strike="noStrike" dirty="0">
                          <a:solidFill>
                            <a:srgbClr val="000000"/>
                          </a:solidFill>
                          <a:effectLst/>
                          <a:latin typeface="+mj-lt"/>
                        </a:rPr>
                        <a:t>For</a:t>
                      </a:r>
                      <a:r>
                        <a:rPr lang="en-US" sz="900" b="0" i="0" u="none" strike="noStrike" baseline="0" dirty="0">
                          <a:solidFill>
                            <a:srgbClr val="000000"/>
                          </a:solidFill>
                          <a:effectLst/>
                          <a:latin typeface="+mj-lt"/>
                        </a:rPr>
                        <a:t> a period equal to lesser of 5 years and remainder of PPA term (but not less than 2 years), the Net Cash Flow (USD) for such period, discounted to present value by discount rate of 12% to the base case pro forma presented to Lenders at Financial Closing plus</a:t>
                      </a:r>
                    </a:p>
                    <a:p>
                      <a:pPr marL="228600" indent="-228600" algn="l" fontAlgn="ctr">
                        <a:spcAft>
                          <a:spcPts val="300"/>
                        </a:spcAft>
                        <a:buFont typeface="+mj-lt"/>
                        <a:buAutoNum type="arabicPeriod"/>
                      </a:pPr>
                      <a:r>
                        <a:rPr lang="en-US" sz="900" b="0" i="0" u="none" strike="noStrike" baseline="0" dirty="0">
                          <a:solidFill>
                            <a:srgbClr val="000000"/>
                          </a:solidFill>
                          <a:effectLst/>
                          <a:latin typeface="+mj-lt"/>
                        </a:rPr>
                        <a:t>Net Cash Flow under any Supplemental Tariff</a:t>
                      </a:r>
                    </a:p>
                    <a:p>
                      <a:pPr marL="171450" indent="-171450" algn="l" fontAlgn="ctr">
                        <a:spcAft>
                          <a:spcPts val="300"/>
                        </a:spcAft>
                        <a:buFont typeface="Arial" panose="020B0604020202020204" pitchFamily="34" charset="0"/>
                        <a:buChar char="•"/>
                      </a:pPr>
                      <a:r>
                        <a:rPr lang="en-US" sz="900" b="0" i="1" u="none" strike="noStrike" baseline="0" dirty="0">
                          <a:solidFill>
                            <a:srgbClr val="000000"/>
                          </a:solidFill>
                          <a:effectLst/>
                          <a:latin typeface="+mj-lt"/>
                        </a:rPr>
                        <a:t>Net Cash Flow implies net cash profits of the Company less all principal repayment amounts and without regard to depreciation</a:t>
                      </a:r>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451436597"/>
                  </a:ext>
                </a:extLst>
              </a:tr>
              <a:tr h="698038">
                <a:tc>
                  <a:txBody>
                    <a:bodyPr/>
                    <a:lstStyle/>
                    <a:p>
                      <a:pPr marL="72000" algn="l" fontAlgn="ctr">
                        <a:spcAft>
                          <a:spcPts val="300"/>
                        </a:spcAft>
                      </a:pPr>
                      <a:r>
                        <a:rPr lang="en-US" sz="900" b="1" i="0" u="none" strike="noStrike" dirty="0">
                          <a:solidFill>
                            <a:srgbClr val="000000"/>
                          </a:solidFill>
                          <a:effectLst/>
                          <a:latin typeface="+mj-lt"/>
                        </a:rPr>
                        <a:t>D</a:t>
                      </a:r>
                      <a:endParaRPr lang="en-IN" sz="900" b="1" i="0" u="none" strike="noStrike" dirty="0">
                        <a:solidFill>
                          <a:srgbClr val="000000"/>
                        </a:solidFill>
                        <a:effectLst/>
                        <a:latin typeface="+mj-lt"/>
                      </a:endParaRPr>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indent="0" algn="l" fontAlgn="ctr">
                        <a:spcAft>
                          <a:spcPts val="300"/>
                        </a:spcAft>
                        <a:buFont typeface="Arial" panose="020B0604020202020204" pitchFamily="34" charset="0"/>
                        <a:buNone/>
                      </a:pPr>
                      <a:r>
                        <a:rPr lang="en-US" sz="900" b="0" i="0" u="none" strike="noStrike" dirty="0">
                          <a:solidFill>
                            <a:srgbClr val="000000"/>
                          </a:solidFill>
                          <a:effectLst/>
                          <a:latin typeface="+mj-lt"/>
                        </a:rPr>
                        <a:t>The sum of following terms:</a:t>
                      </a:r>
                    </a:p>
                    <a:p>
                      <a:pPr marL="228600" indent="-228600" algn="l" fontAlgn="ctr">
                        <a:spcAft>
                          <a:spcPts val="300"/>
                        </a:spcAft>
                        <a:buFont typeface="+mj-lt"/>
                        <a:buAutoNum type="arabicPeriod"/>
                      </a:pPr>
                      <a:r>
                        <a:rPr lang="en-US" sz="900" b="0" i="0" u="none" strike="noStrike" dirty="0">
                          <a:solidFill>
                            <a:srgbClr val="000000"/>
                          </a:solidFill>
                          <a:effectLst/>
                          <a:latin typeface="+mj-lt"/>
                        </a:rPr>
                        <a:t>Any additional equity amounts (USD) contributed by shareholders under</a:t>
                      </a:r>
                      <a:r>
                        <a:rPr lang="en-US" sz="900" b="0" i="0" u="none" strike="noStrike" baseline="0" dirty="0">
                          <a:solidFill>
                            <a:srgbClr val="000000"/>
                          </a:solidFill>
                          <a:effectLst/>
                          <a:latin typeface="+mj-lt"/>
                        </a:rPr>
                        <a:t> section 11B.1</a:t>
                      </a:r>
                      <a:endParaRPr lang="en-US" sz="900" b="0" i="0" u="none" strike="noStrike" dirty="0">
                        <a:solidFill>
                          <a:srgbClr val="000000"/>
                        </a:solidFill>
                        <a:effectLst/>
                        <a:latin typeface="+mj-lt"/>
                      </a:endParaRPr>
                    </a:p>
                    <a:p>
                      <a:pPr marL="228600" indent="-228600" algn="l" fontAlgn="ctr">
                        <a:spcAft>
                          <a:spcPts val="300"/>
                        </a:spcAft>
                        <a:buFont typeface="+mj-lt"/>
                        <a:buAutoNum type="arabicPeriod"/>
                      </a:pPr>
                      <a:r>
                        <a:rPr lang="en-US" sz="900" b="0" i="0" u="none" strike="noStrike" dirty="0">
                          <a:solidFill>
                            <a:srgbClr val="000000"/>
                          </a:solidFill>
                          <a:effectLst/>
                          <a:latin typeface="+mj-lt"/>
                        </a:rPr>
                        <a:t>Any</a:t>
                      </a:r>
                      <a:r>
                        <a:rPr lang="en-US" sz="900" b="0" i="0" u="none" strike="noStrike" baseline="0" dirty="0">
                          <a:solidFill>
                            <a:srgbClr val="000000"/>
                          </a:solidFill>
                          <a:effectLst/>
                          <a:latin typeface="+mj-lt"/>
                        </a:rPr>
                        <a:t> other equity contributions (USD) approved by </a:t>
                      </a:r>
                      <a:r>
                        <a:rPr lang="en-US" sz="900" b="0" i="0" u="none" strike="noStrike" baseline="0" dirty="0" err="1">
                          <a:solidFill>
                            <a:srgbClr val="000000"/>
                          </a:solidFill>
                          <a:effectLst/>
                          <a:latin typeface="+mj-lt"/>
                        </a:rPr>
                        <a:t>GoB</a:t>
                      </a:r>
                      <a:endParaRPr lang="en-US" sz="900" b="0" i="0" u="none" strike="noStrike" baseline="0" dirty="0">
                        <a:solidFill>
                          <a:srgbClr val="000000"/>
                        </a:solidFill>
                        <a:effectLst/>
                        <a:latin typeface="+mj-lt"/>
                      </a:endParaRPr>
                    </a:p>
                    <a:p>
                      <a:pPr marL="171450" indent="-171450" algn="l" fontAlgn="ctr">
                        <a:spcAft>
                          <a:spcPts val="300"/>
                        </a:spcAft>
                        <a:buFont typeface="Arial" panose="020B0604020202020204" pitchFamily="34" charset="0"/>
                        <a:buChar char="•"/>
                      </a:pPr>
                      <a:r>
                        <a:rPr lang="en-US" sz="900" b="0" i="1" u="none" strike="noStrike" baseline="0" dirty="0">
                          <a:solidFill>
                            <a:srgbClr val="000000"/>
                          </a:solidFill>
                          <a:effectLst/>
                          <a:latin typeface="+mj-lt"/>
                        </a:rPr>
                        <a:t>Each case, the amount to be reduced by 3.2% of original amount of equity contribution for each year following date of contribution</a:t>
                      </a:r>
                      <a:endParaRPr lang="en-US" sz="900" b="0" i="1" u="none" strike="noStrike" dirty="0">
                        <a:solidFill>
                          <a:srgbClr val="000000"/>
                        </a:solidFill>
                        <a:effectLst/>
                        <a:latin typeface="+mj-lt"/>
                      </a:endParaRPr>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864419791"/>
                  </a:ext>
                </a:extLst>
              </a:tr>
              <a:tr h="211527">
                <a:tc>
                  <a:txBody>
                    <a:bodyPr/>
                    <a:lstStyle/>
                    <a:p>
                      <a:pPr marL="72000" algn="l" fontAlgn="ctr">
                        <a:spcAft>
                          <a:spcPts val="300"/>
                        </a:spcAft>
                      </a:pPr>
                      <a:r>
                        <a:rPr lang="en-US" sz="900" b="1" i="0" u="none" strike="noStrike" dirty="0">
                          <a:solidFill>
                            <a:srgbClr val="000000"/>
                          </a:solidFill>
                          <a:effectLst/>
                          <a:latin typeface="+mj-lt"/>
                        </a:rPr>
                        <a:t>E</a:t>
                      </a:r>
                      <a:endParaRPr lang="en-IN" sz="900" b="1" i="0" u="none" strike="noStrike" dirty="0">
                        <a:solidFill>
                          <a:srgbClr val="000000"/>
                        </a:solidFill>
                        <a:effectLst/>
                        <a:latin typeface="+mj-lt"/>
                      </a:endParaRPr>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indent="0" algn="l" fontAlgn="ctr">
                        <a:spcAft>
                          <a:spcPts val="300"/>
                        </a:spcAft>
                        <a:buFont typeface="Arial" panose="020B0604020202020204" pitchFamily="34" charset="0"/>
                        <a:buNone/>
                      </a:pPr>
                      <a:r>
                        <a:rPr lang="en-US" sz="900" b="0" i="0" u="none" strike="noStrike" dirty="0">
                          <a:solidFill>
                            <a:srgbClr val="000000"/>
                          </a:solidFill>
                          <a:effectLst/>
                          <a:latin typeface="+mj-lt"/>
                        </a:rPr>
                        <a:t>The Sum of following terms:</a:t>
                      </a:r>
                    </a:p>
                    <a:p>
                      <a:pPr marL="228600" indent="-228600" algn="l" fontAlgn="ctr">
                        <a:spcAft>
                          <a:spcPts val="300"/>
                        </a:spcAft>
                        <a:buFont typeface="+mj-lt"/>
                        <a:buAutoNum type="arabicPeriod"/>
                      </a:pPr>
                      <a:r>
                        <a:rPr lang="en-US" sz="900" b="0" i="0" u="none" strike="noStrike" dirty="0">
                          <a:solidFill>
                            <a:srgbClr val="000000"/>
                          </a:solidFill>
                          <a:effectLst/>
                          <a:latin typeface="+mj-lt"/>
                        </a:rPr>
                        <a:t>Any additional equity amounts (USD) contributed by shareholders</a:t>
                      </a:r>
                      <a:r>
                        <a:rPr lang="en-US" sz="900" b="0" i="0" u="none" strike="noStrike" baseline="0" dirty="0">
                          <a:solidFill>
                            <a:srgbClr val="000000"/>
                          </a:solidFill>
                          <a:effectLst/>
                          <a:latin typeface="+mj-lt"/>
                        </a:rPr>
                        <a:t> under Section 11B.1 prior to PE/FME giving rise to restoration which led to termination by </a:t>
                      </a:r>
                      <a:r>
                        <a:rPr lang="en-US" sz="900" b="0" i="0" u="none" strike="noStrike" baseline="0" dirty="0" err="1">
                          <a:solidFill>
                            <a:srgbClr val="000000"/>
                          </a:solidFill>
                          <a:effectLst/>
                          <a:latin typeface="+mj-lt"/>
                        </a:rPr>
                        <a:t>GoB</a:t>
                      </a:r>
                      <a:r>
                        <a:rPr lang="en-US" sz="900" b="0" i="0" u="none" strike="noStrike" baseline="0" dirty="0">
                          <a:solidFill>
                            <a:srgbClr val="000000"/>
                          </a:solidFill>
                          <a:effectLst/>
                          <a:latin typeface="+mj-lt"/>
                        </a:rPr>
                        <a:t>, reduced by 3.2% of original amount of equity contributions for each year following date of such contribution</a:t>
                      </a:r>
                    </a:p>
                    <a:p>
                      <a:pPr marL="228600" indent="-228600" algn="l" fontAlgn="ctr">
                        <a:spcAft>
                          <a:spcPts val="300"/>
                        </a:spcAft>
                        <a:buFont typeface="+mj-lt"/>
                        <a:buAutoNum type="arabicPeriod"/>
                      </a:pPr>
                      <a:r>
                        <a:rPr lang="en-US" sz="900" b="0" i="0" u="none" strike="noStrike" baseline="0" dirty="0">
                          <a:solidFill>
                            <a:srgbClr val="000000"/>
                          </a:solidFill>
                          <a:effectLst/>
                          <a:latin typeface="+mj-lt"/>
                        </a:rPr>
                        <a:t>Original equity contributions (USD) adjusted according to </a:t>
                      </a:r>
                      <a:r>
                        <a:rPr lang="en-US" sz="900" b="1" i="0" u="none" strike="noStrike" baseline="0" dirty="0">
                          <a:solidFill>
                            <a:srgbClr val="000000"/>
                          </a:solidFill>
                          <a:effectLst/>
                          <a:latin typeface="+mj-lt"/>
                        </a:rPr>
                        <a:t>B</a:t>
                      </a:r>
                      <a:endParaRPr lang="en-US" sz="900" b="0" i="0" u="none" strike="noStrike" baseline="0" dirty="0">
                        <a:solidFill>
                          <a:srgbClr val="000000"/>
                        </a:solidFill>
                        <a:effectLst/>
                        <a:latin typeface="+mj-lt"/>
                      </a:endParaRPr>
                    </a:p>
                    <a:p>
                      <a:pPr marL="228600" indent="-228600" algn="l" fontAlgn="ctr">
                        <a:spcAft>
                          <a:spcPts val="300"/>
                        </a:spcAft>
                        <a:buFont typeface="+mj-lt"/>
                        <a:buAutoNum type="arabicPeriod"/>
                      </a:pPr>
                      <a:r>
                        <a:rPr lang="en-US" sz="900" b="0" i="0" u="none" strike="noStrike" baseline="0" dirty="0">
                          <a:solidFill>
                            <a:srgbClr val="000000"/>
                          </a:solidFill>
                          <a:effectLst/>
                          <a:latin typeface="+mj-lt"/>
                        </a:rPr>
                        <a:t>Other equity contributions (USD), prior to PE and approved by </a:t>
                      </a:r>
                      <a:r>
                        <a:rPr lang="en-US" sz="900" b="0" i="0" u="none" strike="noStrike" baseline="0" dirty="0" err="1">
                          <a:solidFill>
                            <a:srgbClr val="000000"/>
                          </a:solidFill>
                          <a:effectLst/>
                          <a:latin typeface="+mj-lt"/>
                        </a:rPr>
                        <a:t>GoB</a:t>
                      </a:r>
                      <a:r>
                        <a:rPr lang="en-US" sz="900" b="0" i="0" u="none" strike="noStrike" baseline="0" dirty="0">
                          <a:solidFill>
                            <a:srgbClr val="000000"/>
                          </a:solidFill>
                          <a:effectLst/>
                          <a:latin typeface="+mj-lt"/>
                        </a:rPr>
                        <a:t>, reduced by 3.2 of original amount of equity contributions for each year following date of such equity contribution</a:t>
                      </a:r>
                      <a:endParaRPr lang="en-US" sz="900" b="0" i="0" u="none" strike="noStrike" dirty="0">
                        <a:solidFill>
                          <a:srgbClr val="000000"/>
                        </a:solidFill>
                        <a:effectLst/>
                        <a:latin typeface="+mj-lt"/>
                      </a:endParaRPr>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3539048071"/>
                  </a:ext>
                </a:extLst>
              </a:tr>
            </a:tbl>
          </a:graphicData>
        </a:graphic>
      </p:graphicFrame>
    </p:spTree>
    <p:extLst>
      <p:ext uri="{BB962C8B-B14F-4D97-AF65-F5344CB8AC3E}">
        <p14:creationId xmlns:p14="http://schemas.microsoft.com/office/powerpoint/2010/main" val="2504733843"/>
      </p:ext>
    </p:extLst>
  </p:cSld>
  <p:clrMapOvr>
    <a:masterClrMapping/>
  </p:clrMapOvr>
  <p:transition>
    <p:fade/>
  </p:transition>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noChangeAspect="1"/>
          </p:cNvGraphicFramePr>
          <p:nvPr>
            <p:custDataLst>
              <p:tags r:id="rId1"/>
            </p:custDataLst>
            <p:extLst>
              <p:ext uri="{D42A27DB-BD31-4B8C-83A1-F6EECF244321}">
                <p14:modId xmlns:p14="http://schemas.microsoft.com/office/powerpoint/2010/main" val="429294323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6" name="Object 5"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5" name="Rectangle 4"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GB" dirty="0">
                <a:solidFill>
                  <a:srgbClr val="000000"/>
                </a:solidFill>
                <a:latin typeface="Verdana" panose="020B0604030504040204" pitchFamily="34" charset="0"/>
              </a:rPr>
              <a:t>Annexure M | </a:t>
            </a:r>
            <a:r>
              <a:rPr lang="en-US" dirty="0"/>
              <a:t>Implementation Agreement - Termination Clause</a:t>
            </a:r>
            <a:endParaRPr lang="en-IN" dirty="0"/>
          </a:p>
        </p:txBody>
      </p:sp>
      <p:sp>
        <p:nvSpPr>
          <p:cNvPr id="3"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dirty="0">
                <a:solidFill>
                  <a:prstClr val="black">
                    <a:lumMod val="50000"/>
                    <a:lumOff val="50000"/>
                  </a:prstClr>
                </a:solidFill>
                <a:latin typeface="Verdana" panose="020B0604030504040204" pitchFamily="34" charset="0"/>
              </a:rPr>
              <a:t>Termination Applicability</a:t>
            </a:r>
            <a:endPar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4" name="Table 3"/>
          <p:cNvGraphicFramePr>
            <a:graphicFrameLocks noGrp="1"/>
          </p:cNvGraphicFramePr>
          <p:nvPr>
            <p:custDataLst>
              <p:tags r:id="rId3"/>
            </p:custDataLst>
            <p:extLst>
              <p:ext uri="{D42A27DB-BD31-4B8C-83A1-F6EECF244321}">
                <p14:modId xmlns:p14="http://schemas.microsoft.com/office/powerpoint/2010/main" val="77023462"/>
              </p:ext>
            </p:extLst>
          </p:nvPr>
        </p:nvGraphicFramePr>
        <p:xfrm>
          <a:off x="449264" y="1480391"/>
          <a:ext cx="9791845" cy="5540157"/>
        </p:xfrm>
        <a:graphic>
          <a:graphicData uri="http://schemas.openxmlformats.org/drawingml/2006/table">
            <a:tbl>
              <a:tblPr>
                <a:tableStyleId>{5C22544A-7EE6-4342-B048-85BDC9FD1C3A}</a:tableStyleId>
              </a:tblPr>
              <a:tblGrid>
                <a:gridCol w="667155">
                  <a:extLst>
                    <a:ext uri="{9D8B030D-6E8A-4147-A177-3AD203B41FA5}">
                      <a16:colId xmlns:a16="http://schemas.microsoft.com/office/drawing/2014/main" val="767147308"/>
                    </a:ext>
                  </a:extLst>
                </a:gridCol>
                <a:gridCol w="2254102">
                  <a:extLst>
                    <a:ext uri="{9D8B030D-6E8A-4147-A177-3AD203B41FA5}">
                      <a16:colId xmlns:a16="http://schemas.microsoft.com/office/drawing/2014/main" val="1102087775"/>
                    </a:ext>
                  </a:extLst>
                </a:gridCol>
                <a:gridCol w="6870588">
                  <a:extLst>
                    <a:ext uri="{9D8B030D-6E8A-4147-A177-3AD203B41FA5}">
                      <a16:colId xmlns:a16="http://schemas.microsoft.com/office/drawing/2014/main" val="725993939"/>
                    </a:ext>
                  </a:extLst>
                </a:gridCol>
              </a:tblGrid>
              <a:tr h="212398">
                <a:tc>
                  <a:txBody>
                    <a:bodyPr/>
                    <a:lstStyle/>
                    <a:p>
                      <a:pPr algn="l" fontAlgn="ctr">
                        <a:spcAft>
                          <a:spcPts val="300"/>
                        </a:spcAft>
                      </a:pPr>
                      <a:r>
                        <a:rPr lang="en-US" sz="900" b="1" i="0" u="none" strike="noStrike" dirty="0">
                          <a:solidFill>
                            <a:schemeClr val="accent1"/>
                          </a:solidFill>
                          <a:effectLst/>
                          <a:latin typeface="+mj-lt"/>
                        </a:rPr>
                        <a:t>Sr. No</a:t>
                      </a:r>
                      <a:endParaRPr lang="en-IN" sz="900" b="1" i="0" u="none" strike="noStrike" dirty="0">
                        <a:solidFill>
                          <a:schemeClr val="accent1"/>
                        </a:solidFill>
                        <a:effectLst/>
                        <a:latin typeface="+mj-lt"/>
                      </a:endParaRPr>
                    </a:p>
                  </a:txBody>
                  <a:tcPr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IN" sz="900" b="1" i="0" u="none" strike="noStrike" dirty="0">
                          <a:solidFill>
                            <a:schemeClr val="accent1"/>
                          </a:solidFill>
                          <a:effectLst/>
                          <a:latin typeface="+mj-lt"/>
                        </a:rPr>
                        <a:t>Termination Criteria</a:t>
                      </a:r>
                    </a:p>
                  </a:txBody>
                  <a:tcPr anchor="ctr">
                    <a:lnL w="12700" cap="flat" cmpd="sng" algn="ctr">
                      <a:solidFill>
                        <a:schemeClr val="lt1"/>
                      </a:solidFill>
                      <a:prstDash val="solid"/>
                      <a:round/>
                      <a:headEnd type="none" w="med" len="med"/>
                      <a:tailEnd type="none" w="med" len="med"/>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Compensation</a:t>
                      </a:r>
                      <a:endParaRPr lang="en-IN" sz="900" b="1" i="0" u="none" strike="noStrike" dirty="0">
                        <a:solidFill>
                          <a:schemeClr val="accent1"/>
                        </a:solidFill>
                        <a:effectLst/>
                        <a:latin typeface="+mj-lt"/>
                      </a:endParaRPr>
                    </a:p>
                  </a:txBody>
                  <a:tcPr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509756">
                <a:tc>
                  <a:txBody>
                    <a:bodyPr/>
                    <a:lstStyle/>
                    <a:p>
                      <a:pPr marL="0" indent="0">
                        <a:buFont typeface="Arial" panose="020B0604020202020204" pitchFamily="34" charset="0"/>
                        <a:buNone/>
                      </a:pPr>
                      <a:r>
                        <a:rPr lang="en-US" sz="1000" b="0" dirty="0"/>
                        <a:t>1</a:t>
                      </a:r>
                      <a:endParaRPr lang="en-IN" sz="1000" b="0"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r>
                        <a:rPr lang="en-US" sz="1000" b="1" dirty="0"/>
                        <a:t>Company Event of Default </a:t>
                      </a:r>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indent="0">
                        <a:buFont typeface="Arial" panose="020B0604020202020204" pitchFamily="34" charset="0"/>
                        <a:buNone/>
                      </a:pPr>
                      <a:r>
                        <a:rPr lang="en-US" sz="1000" b="0" dirty="0"/>
                        <a:t>In case</a:t>
                      </a:r>
                      <a:r>
                        <a:rPr lang="en-US" sz="1000" b="0" baseline="0" dirty="0"/>
                        <a:t> of </a:t>
                      </a:r>
                      <a:r>
                        <a:rPr lang="en-US" sz="1000" b="0" dirty="0"/>
                        <a:t>Failure to achieve timely financial closing, or</a:t>
                      </a:r>
                      <a:r>
                        <a:rPr lang="en-US" sz="1000" b="0" baseline="0" dirty="0"/>
                        <a:t> </a:t>
                      </a:r>
                      <a:r>
                        <a:rPr lang="en-US" sz="1000" b="0" dirty="0"/>
                        <a:t>Any other default</a:t>
                      </a:r>
                      <a:r>
                        <a:rPr lang="en-US" sz="1000" b="0" baseline="0" dirty="0"/>
                        <a:t> </a:t>
                      </a:r>
                      <a:r>
                        <a:rPr lang="en-US" sz="1000" b="0" dirty="0"/>
                        <a:t>occurring before Financial Closure</a:t>
                      </a:r>
                      <a:r>
                        <a:rPr lang="en-IN" sz="1000" b="0" baseline="0" dirty="0"/>
                        <a:t> the </a:t>
                      </a:r>
                      <a:r>
                        <a:rPr lang="en-US" sz="1000" b="0" baseline="0" dirty="0"/>
                        <a:t>s</a:t>
                      </a:r>
                      <a:r>
                        <a:rPr lang="en-US" sz="1000" b="0" dirty="0"/>
                        <a:t>ole right (and remedy)</a:t>
                      </a:r>
                      <a:r>
                        <a:rPr lang="en-US" sz="1000" b="0" baseline="0" dirty="0"/>
                        <a:t> of </a:t>
                      </a:r>
                      <a:r>
                        <a:rPr lang="en-US" sz="1000" b="0" baseline="0" dirty="0" err="1"/>
                        <a:t>GoB</a:t>
                      </a:r>
                      <a:r>
                        <a:rPr lang="en-US" sz="1000" b="0" baseline="0" dirty="0"/>
                        <a:t> shall be to </a:t>
                      </a:r>
                      <a:r>
                        <a:rPr lang="en-US" sz="1000" b="1" baseline="0" dirty="0" err="1"/>
                        <a:t>encash</a:t>
                      </a:r>
                      <a:r>
                        <a:rPr lang="en-US" sz="1000" b="1" baseline="0" dirty="0"/>
                        <a:t> the Performance Security Deposit </a:t>
                      </a:r>
                      <a:r>
                        <a:rPr lang="en-US" sz="1000" b="0" baseline="0" dirty="0"/>
                        <a:t>in full (acting through BPDB)</a:t>
                      </a:r>
                      <a:endParaRPr lang="en-IN" sz="1000" b="0"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402299">
                <a:tc>
                  <a:txBody>
                    <a:bodyPr/>
                    <a:lstStyle/>
                    <a:p>
                      <a:r>
                        <a:rPr lang="en-US" sz="1000" b="0" dirty="0"/>
                        <a:t>2</a:t>
                      </a:r>
                      <a:endParaRPr lang="en-IN" sz="1000" b="0"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r>
                        <a:rPr lang="en-US" sz="1000" b="1" dirty="0"/>
                        <a:t>Company Event of Default</a:t>
                      </a:r>
                      <a:r>
                        <a:rPr lang="en-US" sz="1000" b="1" baseline="0" dirty="0"/>
                        <a:t> </a:t>
                      </a:r>
                      <a:r>
                        <a:rPr lang="en-US" sz="1000" b="0" baseline="0" dirty="0"/>
                        <a:t>after Financial closure</a:t>
                      </a:r>
                      <a:endParaRPr lang="en-IN" sz="1000" b="0"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r>
                        <a:rPr lang="en-US" sz="1000" b="1" i="0" baseline="0" dirty="0"/>
                        <a:t>A </a:t>
                      </a:r>
                      <a:r>
                        <a:rPr lang="en-US" sz="1000" b="0" i="0" baseline="0" dirty="0"/>
                        <a:t>(</a:t>
                      </a:r>
                      <a:r>
                        <a:rPr lang="en-US" sz="1000" b="0" i="1" baseline="0" dirty="0"/>
                        <a:t>If </a:t>
                      </a:r>
                      <a:r>
                        <a:rPr lang="en-US" sz="1000" b="0" i="1" baseline="0" dirty="0" err="1"/>
                        <a:t>GoB</a:t>
                      </a:r>
                      <a:r>
                        <a:rPr lang="en-US" sz="1000" b="0" i="1" baseline="0" dirty="0"/>
                        <a:t> / designee acquired rights, title &amp; interests)</a:t>
                      </a:r>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986054502"/>
                  </a:ext>
                </a:extLst>
              </a:tr>
              <a:tr h="290549">
                <a:tc>
                  <a:txBody>
                    <a:bodyPr/>
                    <a:lstStyle/>
                    <a:p>
                      <a:r>
                        <a:rPr lang="en-US" sz="1000" b="0" dirty="0"/>
                        <a:t>3</a:t>
                      </a:r>
                      <a:endParaRPr lang="en-IN" sz="1000" b="0"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r>
                        <a:rPr lang="en-US" sz="1000" b="1" dirty="0" err="1"/>
                        <a:t>GoB</a:t>
                      </a:r>
                      <a:r>
                        <a:rPr lang="en-US" sz="1000" b="1" dirty="0"/>
                        <a:t> Event of Default</a:t>
                      </a:r>
                      <a:endParaRPr lang="en-IN" sz="1000" b="1"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r>
                        <a:rPr lang="en-US" sz="1000" b="1" i="0" dirty="0"/>
                        <a:t>A+B+C+D </a:t>
                      </a:r>
                      <a:r>
                        <a:rPr lang="en-US" sz="1000" b="0" i="0" dirty="0"/>
                        <a:t>(</a:t>
                      </a:r>
                      <a:r>
                        <a:rPr lang="en-US" sz="1000" b="0" i="1" dirty="0"/>
                        <a:t>If Company elects to transfer facility</a:t>
                      </a:r>
                      <a:r>
                        <a:rPr lang="en-US" sz="1000" b="0" i="1" baseline="0" dirty="0"/>
                        <a:t> to </a:t>
                      </a:r>
                      <a:r>
                        <a:rPr lang="en-US" sz="1000" b="0" i="1" baseline="0" dirty="0" err="1"/>
                        <a:t>GoB</a:t>
                      </a:r>
                      <a:r>
                        <a:rPr lang="en-US" sz="1000" b="0" i="1" baseline="0" dirty="0"/>
                        <a:t> / designee)</a:t>
                      </a:r>
                      <a:endParaRPr lang="en-US" sz="1000" b="0" i="1"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3604941216"/>
                  </a:ext>
                </a:extLst>
              </a:tr>
              <a:tr h="509756">
                <a:tc>
                  <a:txBody>
                    <a:bodyPr/>
                    <a:lstStyle/>
                    <a:p>
                      <a:r>
                        <a:rPr lang="en-US" sz="1000" b="0" dirty="0"/>
                        <a:t>4</a:t>
                      </a:r>
                      <a:endParaRPr lang="en-IN" sz="1000" b="0"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r>
                        <a:rPr lang="en-US" sz="1000" b="1" dirty="0"/>
                        <a:t>Change</a:t>
                      </a:r>
                      <a:r>
                        <a:rPr lang="en-US" sz="1000" b="1" baseline="0" dirty="0"/>
                        <a:t> in Law</a:t>
                      </a:r>
                      <a:endParaRPr lang="en-IN" sz="1000" b="0"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marR="0" lvl="0" indent="0" algn="l" defTabSz="990571" rtl="0" eaLnBrk="1" fontAlgn="auto" latinLnBrk="0" hangingPunct="1">
                        <a:lnSpc>
                          <a:spcPct val="100000"/>
                        </a:lnSpc>
                        <a:spcBef>
                          <a:spcPts val="0"/>
                        </a:spcBef>
                        <a:spcAft>
                          <a:spcPts val="0"/>
                        </a:spcAft>
                        <a:buClrTx/>
                        <a:buSzTx/>
                        <a:buFontTx/>
                        <a:buNone/>
                        <a:tabLst/>
                        <a:defRPr/>
                      </a:pPr>
                      <a:r>
                        <a:rPr lang="en-US" sz="1000" b="1" i="0" dirty="0"/>
                        <a:t>A+B+C+D </a:t>
                      </a:r>
                      <a:r>
                        <a:rPr lang="en-US" sz="1000" b="0" baseline="0" dirty="0"/>
                        <a:t>(</a:t>
                      </a:r>
                      <a:r>
                        <a:rPr lang="en-US" sz="1000" b="0" i="1" baseline="0" dirty="0"/>
                        <a:t>other than when Restoration/modification is not feasible or </a:t>
                      </a:r>
                      <a:r>
                        <a:rPr lang="en-US" sz="1000" b="0" i="1" baseline="0" dirty="0" err="1"/>
                        <a:t>GoB</a:t>
                      </a:r>
                      <a:r>
                        <a:rPr lang="en-US" sz="1000" b="0" i="1" baseline="0" dirty="0"/>
                        <a:t> determines cost of not acceptable and the facility does not operate for 180 days and during such period Change in Law is not rescinded or modified in a way to permit Restoration or modification)</a:t>
                      </a:r>
                      <a:endParaRPr lang="en-IN" sz="1000" b="0"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580440301"/>
                  </a:ext>
                </a:extLst>
              </a:tr>
              <a:tr h="514048">
                <a:tc>
                  <a:txBody>
                    <a:bodyPr/>
                    <a:lstStyle/>
                    <a:p>
                      <a:r>
                        <a:rPr lang="en-US" sz="1000" b="0" dirty="0"/>
                        <a:t>5</a:t>
                      </a:r>
                      <a:endParaRPr lang="en-IN" sz="1000" b="0"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r>
                        <a:rPr lang="en-US" sz="1000" b="1" dirty="0"/>
                        <a:t>Failure to achieve Restoration</a:t>
                      </a:r>
                      <a:r>
                        <a:rPr lang="en-US" sz="1000" b="1" baseline="0" dirty="0"/>
                        <a:t> Schedule</a:t>
                      </a:r>
                      <a:r>
                        <a:rPr lang="en-US" sz="1000" b="0" baseline="0" dirty="0"/>
                        <a:t> following Force Majeure</a:t>
                      </a:r>
                      <a:endParaRPr lang="en-IN" sz="1000" b="0"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marR="0" lvl="0" indent="0" algn="l" defTabSz="990571"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000" b="1" i="0" baseline="0" dirty="0"/>
                        <a:t>A+E </a:t>
                      </a:r>
                      <a:r>
                        <a:rPr lang="en-US" sz="1000" b="0" i="1" baseline="0" dirty="0"/>
                        <a:t>(If </a:t>
                      </a:r>
                      <a:r>
                        <a:rPr lang="en-US" sz="1000" b="0" i="1" baseline="0" dirty="0" err="1"/>
                        <a:t>GoB</a:t>
                      </a:r>
                      <a:r>
                        <a:rPr lang="en-US" sz="1000" b="0" i="1" baseline="0" dirty="0"/>
                        <a:t> / designee acquired rights, title &amp; interests)</a:t>
                      </a:r>
                    </a:p>
                    <a:p>
                      <a:pPr marL="0" indent="0">
                        <a:buFont typeface="Arial" panose="020B0604020202020204" pitchFamily="34" charset="0"/>
                        <a:buNone/>
                      </a:pPr>
                      <a:r>
                        <a:rPr lang="en-US" sz="1000" b="0" i="0" dirty="0"/>
                        <a:t>If </a:t>
                      </a:r>
                      <a:r>
                        <a:rPr lang="en-US" sz="1000" b="0" i="0" dirty="0" err="1"/>
                        <a:t>GoB</a:t>
                      </a:r>
                      <a:r>
                        <a:rPr lang="en-US" sz="1000" b="0" i="0" dirty="0"/>
                        <a:t> elects not to purchase Facility</a:t>
                      </a:r>
                      <a:r>
                        <a:rPr lang="en-US" sz="1000" b="0" i="0" baseline="0" dirty="0"/>
                        <a:t> on effective date of termination, then </a:t>
                      </a:r>
                      <a:r>
                        <a:rPr lang="en-US" sz="1000" b="1" i="0" baseline="0" dirty="0"/>
                        <a:t>no obligation</a:t>
                      </a:r>
                      <a:endParaRPr lang="en-IN" sz="1000" b="1" i="0"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923727616"/>
                  </a:ext>
                </a:extLst>
              </a:tr>
              <a:tr h="290549">
                <a:tc rowSpan="7">
                  <a:txBody>
                    <a:bodyPr/>
                    <a:lstStyle/>
                    <a:p>
                      <a:r>
                        <a:rPr lang="en-US" sz="1000" b="0" dirty="0"/>
                        <a:t>6</a:t>
                      </a:r>
                      <a:endParaRPr lang="en-IN" sz="1000" b="0"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rowSpan="7">
                  <a:txBody>
                    <a:bodyPr/>
                    <a:lstStyle/>
                    <a:p>
                      <a:r>
                        <a:rPr lang="en-US" sz="1000" b="1" dirty="0"/>
                        <a:t>Following</a:t>
                      </a:r>
                      <a:r>
                        <a:rPr lang="en-US" sz="1000" b="1" baseline="0" dirty="0"/>
                        <a:t> Political Event</a:t>
                      </a:r>
                      <a:endParaRPr lang="en-IN" sz="1000" b="0"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indent="0">
                        <a:buFont typeface="Arial" panose="020B0604020202020204" pitchFamily="34" charset="0"/>
                        <a:buNone/>
                      </a:pPr>
                      <a:r>
                        <a:rPr lang="en-US" sz="1000" b="1" i="0" dirty="0"/>
                        <a:t>A+B+C+D</a:t>
                      </a:r>
                      <a:r>
                        <a:rPr lang="en-US" sz="1000" b="1" i="0" baseline="0" dirty="0"/>
                        <a:t> </a:t>
                      </a:r>
                      <a:r>
                        <a:rPr lang="en-US" sz="1000" b="0" i="0" baseline="0" dirty="0"/>
                        <a:t>(</a:t>
                      </a:r>
                      <a:r>
                        <a:rPr lang="en-US" sz="1000" b="0" i="1" dirty="0"/>
                        <a:t>If Restoration deemed feasible</a:t>
                      </a:r>
                      <a:r>
                        <a:rPr lang="en-IN" sz="1000" b="0" i="0" baseline="0" dirty="0"/>
                        <a:t>, </a:t>
                      </a:r>
                      <a:r>
                        <a:rPr lang="en-IN" sz="1000" b="0" i="1" baseline="0" dirty="0"/>
                        <a:t>but </a:t>
                      </a:r>
                      <a:r>
                        <a:rPr lang="en-IN" sz="1000" b="0" i="1" baseline="0" dirty="0" err="1"/>
                        <a:t>GoB</a:t>
                      </a:r>
                      <a:r>
                        <a:rPr lang="en-IN" sz="1000" b="0" i="1" baseline="0" dirty="0"/>
                        <a:t> elects to terminate agreement)</a:t>
                      </a:r>
                      <a:r>
                        <a:rPr lang="en-IN" sz="1000" b="0" i="0" baseline="0" dirty="0"/>
                        <a:t> </a:t>
                      </a:r>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451436597"/>
                  </a:ext>
                </a:extLst>
              </a:tr>
              <a:tr h="226558">
                <a:tc vMerge="1">
                  <a:txBody>
                    <a:bodyPr/>
                    <a:lstStyle/>
                    <a:p>
                      <a:endParaRPr lang="en-IN" sz="1000" b="0" dirty="0"/>
                    </a:p>
                  </a:txBody>
                  <a:tcP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vMerge="1">
                  <a:txBody>
                    <a:bodyPr/>
                    <a:lstStyle/>
                    <a:p>
                      <a:endParaRPr lang="en-IN" sz="1000" b="0" dirty="0"/>
                    </a:p>
                  </a:txBody>
                  <a:tcP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indent="0">
                        <a:buFont typeface="Arial" panose="020B0604020202020204" pitchFamily="34" charset="0"/>
                        <a:buNone/>
                      </a:pPr>
                      <a:r>
                        <a:rPr lang="en-US" sz="1000" b="1" i="0" baseline="0" dirty="0"/>
                        <a:t>A+B+C+D </a:t>
                      </a:r>
                      <a:r>
                        <a:rPr lang="en-US" sz="1000" b="0" i="1" baseline="0" dirty="0"/>
                        <a:t>(If Restoration deemed not feasible)</a:t>
                      </a:r>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864419791"/>
                  </a:ext>
                </a:extLst>
              </a:tr>
              <a:tr h="226558">
                <a:tc vMerge="1">
                  <a:txBody>
                    <a:bodyPr/>
                    <a:lstStyle/>
                    <a:p>
                      <a:endParaRPr lang="en-IN" sz="1000" b="0" dirty="0"/>
                    </a:p>
                  </a:txBody>
                  <a:tcP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vMerge="1">
                  <a:txBody>
                    <a:bodyPr/>
                    <a:lstStyle/>
                    <a:p>
                      <a:endParaRPr lang="en-IN" sz="1000" b="0" dirty="0"/>
                    </a:p>
                  </a:txBody>
                  <a:tcP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indent="0">
                        <a:buFont typeface="Arial" panose="020B0604020202020204" pitchFamily="34" charset="0"/>
                        <a:buNone/>
                      </a:pPr>
                      <a:r>
                        <a:rPr lang="en-US" sz="1000" b="1" i="0" baseline="0" dirty="0"/>
                        <a:t>A+B+D </a:t>
                      </a:r>
                      <a:r>
                        <a:rPr lang="en-US" sz="1000" b="0" i="1" baseline="0" dirty="0"/>
                        <a:t>(If Restoration is feasible, but Company unable to obtain financing for Restoration)</a:t>
                      </a:r>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3539048071"/>
                  </a:ext>
                </a:extLst>
              </a:tr>
              <a:tr h="368157">
                <a:tc vMerge="1">
                  <a:txBody>
                    <a:bodyPr/>
                    <a:lstStyle/>
                    <a:p>
                      <a:endParaRPr lang="en-IN" sz="1000" b="0" dirty="0"/>
                    </a:p>
                  </a:txBody>
                  <a:tcP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vMerge="1">
                  <a:txBody>
                    <a:bodyPr/>
                    <a:lstStyle/>
                    <a:p>
                      <a:endParaRPr lang="en-IN" sz="1000" b="0" dirty="0"/>
                    </a:p>
                  </a:txBody>
                  <a:tcP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indent="0">
                        <a:buFont typeface="Arial" panose="020B0604020202020204" pitchFamily="34" charset="0"/>
                        <a:buNone/>
                      </a:pPr>
                      <a:r>
                        <a:rPr lang="en-US" sz="1000" b="1" i="0" baseline="0" dirty="0"/>
                        <a:t>A+E </a:t>
                      </a:r>
                      <a:r>
                        <a:rPr lang="en-US" sz="1000" b="0" i="1" baseline="0" dirty="0"/>
                        <a:t>(Termination due to failure to complete Restoration in timely manner, but Company has made demonstrable good faith effort to effect Restoration)</a:t>
                      </a:r>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93022064"/>
                  </a:ext>
                </a:extLst>
              </a:tr>
              <a:tr h="368157">
                <a:tc vMerge="1">
                  <a:txBody>
                    <a:bodyPr/>
                    <a:lstStyle/>
                    <a:p>
                      <a:endParaRPr lang="en-IN" sz="1000" b="0" dirty="0"/>
                    </a:p>
                  </a:txBody>
                  <a:tcP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vMerge="1">
                  <a:txBody>
                    <a:bodyPr/>
                    <a:lstStyle/>
                    <a:p>
                      <a:endParaRPr lang="en-IN" sz="1000" b="0" dirty="0"/>
                    </a:p>
                  </a:txBody>
                  <a:tcP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indent="0">
                        <a:buFont typeface="Arial" panose="020B0604020202020204" pitchFamily="34" charset="0"/>
                        <a:buNone/>
                      </a:pPr>
                      <a:r>
                        <a:rPr lang="en-US" sz="1000" b="1" i="0" baseline="0" dirty="0"/>
                        <a:t>A + (E/1.25) </a:t>
                      </a:r>
                      <a:r>
                        <a:rPr lang="en-US" sz="1000" b="0" i="1" baseline="0" dirty="0"/>
                        <a:t>(Termination due to failure to complete Restoration in timely manner, but Company has </a:t>
                      </a:r>
                      <a:r>
                        <a:rPr lang="en-US" sz="1000" b="1" i="1" baseline="0" dirty="0"/>
                        <a:t>not</a:t>
                      </a:r>
                      <a:r>
                        <a:rPr lang="en-US" sz="1000" b="0" i="1" baseline="0" dirty="0"/>
                        <a:t> made demonstrable good faith effort to effect Restoration)</a:t>
                      </a:r>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3007103988"/>
                  </a:ext>
                </a:extLst>
              </a:tr>
              <a:tr h="934553">
                <a:tc vMerge="1">
                  <a:txBody>
                    <a:bodyPr/>
                    <a:lstStyle/>
                    <a:p>
                      <a:endParaRPr lang="en-IN" sz="1000" b="0" dirty="0"/>
                    </a:p>
                  </a:txBody>
                  <a:tcP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vMerge="1">
                  <a:txBody>
                    <a:bodyPr/>
                    <a:lstStyle/>
                    <a:p>
                      <a:endParaRPr lang="en-IN" sz="1000" b="0" dirty="0"/>
                    </a:p>
                  </a:txBody>
                  <a:tcP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indent="0">
                        <a:buFont typeface="Arial" panose="020B0604020202020204" pitchFamily="34" charset="0"/>
                        <a:buNone/>
                      </a:pPr>
                      <a:r>
                        <a:rPr lang="en-US" sz="1000" b="0" i="1" dirty="0"/>
                        <a:t>If</a:t>
                      </a:r>
                      <a:r>
                        <a:rPr lang="en-US" sz="1000" b="0" i="1" baseline="0" dirty="0"/>
                        <a:t> PE has continued for 180 days (uninterrupted or intermittent) or following Change in Law, Restoration deemed technically infeasible or </a:t>
                      </a:r>
                      <a:r>
                        <a:rPr lang="en-US" sz="1000" b="0" i="1" baseline="0" dirty="0" err="1"/>
                        <a:t>GoB</a:t>
                      </a:r>
                      <a:r>
                        <a:rPr lang="en-US" sz="1000" b="0" i="1" baseline="0" dirty="0"/>
                        <a:t> determined cost of Restoration unacceptable and Change in Law has not been modified or rescinded to make Restoration technically or financially acceptable and facility has not been operated for 180 days, then:</a:t>
                      </a:r>
                    </a:p>
                    <a:p>
                      <a:pPr marL="171450" indent="-171450">
                        <a:buFont typeface="Arial" panose="020B0604020202020204" pitchFamily="34" charset="0"/>
                        <a:buChar char="•"/>
                      </a:pPr>
                      <a:r>
                        <a:rPr lang="en-US" sz="1000" b="1" i="0" baseline="0" dirty="0"/>
                        <a:t>A+B+C+D  (</a:t>
                      </a:r>
                      <a:r>
                        <a:rPr lang="en-US" sz="1000" b="0" i="0" baseline="0" dirty="0"/>
                        <a:t>If </a:t>
                      </a:r>
                      <a:r>
                        <a:rPr lang="en-US" sz="1000" b="0" i="0" baseline="0" dirty="0" err="1"/>
                        <a:t>GoB</a:t>
                      </a:r>
                      <a:r>
                        <a:rPr lang="en-US" sz="1000" b="0" i="0" baseline="0" dirty="0"/>
                        <a:t> Terminates Agreement)</a:t>
                      </a:r>
                    </a:p>
                    <a:p>
                      <a:pPr marL="171450" indent="-171450">
                        <a:buFont typeface="Arial" panose="020B0604020202020204" pitchFamily="34" charset="0"/>
                        <a:buChar char="•"/>
                      </a:pPr>
                      <a:r>
                        <a:rPr lang="en-US" sz="1000" b="1" i="0" baseline="0" dirty="0"/>
                        <a:t>A + B + C/2 + D </a:t>
                      </a:r>
                      <a:r>
                        <a:rPr lang="en-US" sz="1000" b="0" i="0" baseline="0" dirty="0"/>
                        <a:t>(If Company Terminates Agreement)</a:t>
                      </a:r>
                      <a:endParaRPr lang="en-US" sz="1000" b="1" i="0"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4180196220"/>
                  </a:ext>
                </a:extLst>
              </a:tr>
              <a:tr h="226558">
                <a:tc vMerge="1">
                  <a:txBody>
                    <a:bodyPr/>
                    <a:lstStyle/>
                    <a:p>
                      <a:endParaRPr lang="en-IN" sz="1000" b="0" dirty="0"/>
                    </a:p>
                  </a:txBody>
                  <a:tcP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vMerge="1">
                  <a:txBody>
                    <a:bodyPr/>
                    <a:lstStyle/>
                    <a:p>
                      <a:endParaRPr lang="en-IN" sz="1000" b="0" dirty="0"/>
                    </a:p>
                  </a:txBody>
                  <a:tcP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r>
                        <a:rPr lang="en-US" sz="1000" b="1" i="0" dirty="0"/>
                        <a:t>A+B+D </a:t>
                      </a:r>
                      <a:r>
                        <a:rPr lang="en-US" sz="1000" b="0" i="1" dirty="0"/>
                        <a:t>(</a:t>
                      </a:r>
                      <a:r>
                        <a:rPr lang="en-US" sz="1000" b="0" i="1" baseline="0" dirty="0"/>
                        <a:t>If </a:t>
                      </a:r>
                      <a:r>
                        <a:rPr lang="en-US" sz="1000" b="0" i="1" baseline="0" dirty="0" err="1"/>
                        <a:t>GoB</a:t>
                      </a:r>
                      <a:r>
                        <a:rPr lang="en-US" sz="1000" b="0" i="1" baseline="0" dirty="0"/>
                        <a:t> terminated Agreement post revision of Restoration Cost Estimate or Restoration Schedule resulting from PE or Change in Law)</a:t>
                      </a:r>
                      <a:endParaRPr lang="en-US" sz="1000" b="1" i="0"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3118206756"/>
                  </a:ext>
                </a:extLst>
              </a:tr>
            </a:tbl>
          </a:graphicData>
        </a:graphic>
      </p:graphicFrame>
    </p:spTree>
    <p:extLst>
      <p:ext uri="{BB962C8B-B14F-4D97-AF65-F5344CB8AC3E}">
        <p14:creationId xmlns:p14="http://schemas.microsoft.com/office/powerpoint/2010/main" val="4277353902"/>
      </p:ext>
    </p:extLst>
  </p:cSld>
  <p:clrMapOvr>
    <a:masterClrMapping/>
  </p:clrMapOvr>
  <p:transition>
    <p:fade/>
  </p:transition>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noChangeAspect="1"/>
          </p:cNvGraphicFramePr>
          <p:nvPr>
            <p:custDataLst>
              <p:tags r:id="rId1"/>
            </p:custDataLst>
            <p:extLst>
              <p:ext uri="{D42A27DB-BD31-4B8C-83A1-F6EECF244321}">
                <p14:modId xmlns:p14="http://schemas.microsoft.com/office/powerpoint/2010/main" val="418581429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6" name="Object 5"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5" name="Rectangle 4"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GB" dirty="0">
                <a:solidFill>
                  <a:srgbClr val="000000"/>
                </a:solidFill>
                <a:latin typeface="Verdana" panose="020B0604030504040204" pitchFamily="34" charset="0"/>
              </a:rPr>
              <a:t>Annexure M | </a:t>
            </a:r>
            <a:r>
              <a:rPr lang="en-US" dirty="0"/>
              <a:t>Implementation Agreement - Termination Clause</a:t>
            </a:r>
            <a:endParaRPr lang="en-IN" dirty="0"/>
          </a:p>
        </p:txBody>
      </p:sp>
      <p:sp>
        <p:nvSpPr>
          <p:cNvPr id="3" name="Strapline"/>
          <p:cNvSpPr txBox="1">
            <a:spLocks/>
          </p:cNvSpPr>
          <p:nvPr/>
        </p:nvSpPr>
        <p:spPr>
          <a:xfrm>
            <a:off x="449993" y="1079983"/>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marL="0" marR="0" lvl="0" indent="0" algn="l" defTabSz="990571" rtl="0" eaLnBrk="1" fontAlgn="auto" latinLnBrk="0" hangingPunct="1">
              <a:lnSpc>
                <a:spcPct val="100000"/>
              </a:lnSpc>
              <a:spcBef>
                <a:spcPts val="0"/>
              </a:spcBef>
              <a:spcAft>
                <a:spcPts val="1083"/>
              </a:spcAft>
              <a:buClrTx/>
              <a:buSzPct val="100000"/>
              <a:buFont typeface="Arial" panose="020B0604020202020204" pitchFamily="34" charset="0"/>
              <a:buNone/>
              <a:tabLst/>
              <a:defRPr/>
            </a:pPr>
            <a:r>
              <a:rPr lang="en-US" sz="1400" dirty="0">
                <a:solidFill>
                  <a:prstClr val="black">
                    <a:lumMod val="50000"/>
                    <a:lumOff val="50000"/>
                  </a:prstClr>
                </a:solidFill>
                <a:latin typeface="Verdana" panose="020B0604030504040204" pitchFamily="34" charset="0"/>
              </a:rPr>
              <a:t>Termination Applicability</a:t>
            </a:r>
            <a:endParaRPr kumimoji="0" lang="en-US" sz="1400" b="1" i="0" u="none" strike="noStrike" kern="1200" cap="none" spc="0" normalizeH="0" baseline="0" noProof="0" dirty="0">
              <a:ln>
                <a:noFill/>
              </a:ln>
              <a:solidFill>
                <a:prstClr val="black">
                  <a:lumMod val="50000"/>
                  <a:lumOff val="50000"/>
                </a:prstClr>
              </a:solidFill>
              <a:effectLst/>
              <a:uLnTx/>
              <a:uFillTx/>
              <a:latin typeface="Verdana" panose="020B0604030504040204" pitchFamily="34" charset="0"/>
              <a:ea typeface="+mn-ea"/>
              <a:cs typeface="+mn-cs"/>
            </a:endParaRPr>
          </a:p>
        </p:txBody>
      </p:sp>
      <p:graphicFrame>
        <p:nvGraphicFramePr>
          <p:cNvPr id="4" name="Table 3"/>
          <p:cNvGraphicFramePr>
            <a:graphicFrameLocks noGrp="1"/>
          </p:cNvGraphicFramePr>
          <p:nvPr>
            <p:custDataLst>
              <p:tags r:id="rId3"/>
            </p:custDataLst>
            <p:extLst>
              <p:ext uri="{D42A27DB-BD31-4B8C-83A1-F6EECF244321}">
                <p14:modId xmlns:p14="http://schemas.microsoft.com/office/powerpoint/2010/main" val="1345611404"/>
              </p:ext>
            </p:extLst>
          </p:nvPr>
        </p:nvGraphicFramePr>
        <p:xfrm>
          <a:off x="449264" y="1480392"/>
          <a:ext cx="9791845" cy="1874520"/>
        </p:xfrm>
        <a:graphic>
          <a:graphicData uri="http://schemas.openxmlformats.org/drawingml/2006/table">
            <a:tbl>
              <a:tblPr>
                <a:tableStyleId>{5C22544A-7EE6-4342-B048-85BDC9FD1C3A}</a:tableStyleId>
              </a:tblPr>
              <a:tblGrid>
                <a:gridCol w="667155">
                  <a:extLst>
                    <a:ext uri="{9D8B030D-6E8A-4147-A177-3AD203B41FA5}">
                      <a16:colId xmlns:a16="http://schemas.microsoft.com/office/drawing/2014/main" val="767147308"/>
                    </a:ext>
                  </a:extLst>
                </a:gridCol>
                <a:gridCol w="2254102">
                  <a:extLst>
                    <a:ext uri="{9D8B030D-6E8A-4147-A177-3AD203B41FA5}">
                      <a16:colId xmlns:a16="http://schemas.microsoft.com/office/drawing/2014/main" val="1102087775"/>
                    </a:ext>
                  </a:extLst>
                </a:gridCol>
                <a:gridCol w="6870588">
                  <a:extLst>
                    <a:ext uri="{9D8B030D-6E8A-4147-A177-3AD203B41FA5}">
                      <a16:colId xmlns:a16="http://schemas.microsoft.com/office/drawing/2014/main" val="725993939"/>
                    </a:ext>
                  </a:extLst>
                </a:gridCol>
              </a:tblGrid>
              <a:tr h="173892">
                <a:tc>
                  <a:txBody>
                    <a:bodyPr/>
                    <a:lstStyle/>
                    <a:p>
                      <a:pPr algn="l" fontAlgn="ctr">
                        <a:spcAft>
                          <a:spcPts val="300"/>
                        </a:spcAft>
                      </a:pPr>
                      <a:r>
                        <a:rPr lang="en-US" sz="900" b="1" i="0" u="none" strike="noStrike" dirty="0">
                          <a:solidFill>
                            <a:schemeClr val="accent1"/>
                          </a:solidFill>
                          <a:effectLst/>
                          <a:latin typeface="+mj-lt"/>
                        </a:rPr>
                        <a:t>Sr. No</a:t>
                      </a:r>
                      <a:endParaRPr lang="en-IN" sz="900" b="1" i="0" u="none" strike="noStrike" dirty="0">
                        <a:solidFill>
                          <a:schemeClr val="accent1"/>
                        </a:solidFill>
                        <a:effectLst/>
                        <a:latin typeface="+mj-lt"/>
                      </a:endParaRPr>
                    </a:p>
                  </a:txBody>
                  <a:tcPr anchor="ctr">
                    <a:lnL w="12700" cmpd="sng">
                      <a:solidFill>
                        <a:schemeClr val="lt1"/>
                      </a:solidFill>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IN" sz="900" b="1" i="0" u="none" strike="noStrike" dirty="0">
                          <a:solidFill>
                            <a:schemeClr val="accent1"/>
                          </a:solidFill>
                          <a:effectLst/>
                          <a:latin typeface="+mj-lt"/>
                        </a:rPr>
                        <a:t>Termination Criteria</a:t>
                      </a:r>
                    </a:p>
                  </a:txBody>
                  <a:tcPr anchor="ctr">
                    <a:lnL w="12700" cap="flat" cmpd="sng" algn="ctr">
                      <a:solidFill>
                        <a:schemeClr val="lt1"/>
                      </a:solidFill>
                      <a:prstDash val="solid"/>
                      <a:round/>
                      <a:headEnd type="none" w="med" len="med"/>
                      <a:tailEnd type="none" w="med" len="med"/>
                    </a:lnL>
                    <a:lnR w="12700" cmpd="sng">
                      <a:solidFill>
                        <a:schemeClr val="lt1"/>
                      </a:solidFill>
                    </a:lnR>
                    <a:lnT w="38100" cmpd="sng">
                      <a:solidFill>
                        <a:srgbClr val="86BC25"/>
                      </a:solidFill>
                    </a:lnT>
                    <a:lnB w="12700" cap="flat" cmpd="sng" algn="ctr">
                      <a:solidFill>
                        <a:srgbClr val="86BC25"/>
                      </a:solidFill>
                      <a:prstDash val="solid"/>
                      <a:round/>
                      <a:headEnd type="none" w="med" len="med"/>
                      <a:tailEnd type="none" w="med" len="med"/>
                    </a:lnB>
                    <a:noFill/>
                  </a:tcPr>
                </a:tc>
                <a:tc>
                  <a:txBody>
                    <a:bodyPr/>
                    <a:lstStyle/>
                    <a:p>
                      <a:pPr algn="l" fontAlgn="ctr">
                        <a:spcAft>
                          <a:spcPts val="300"/>
                        </a:spcAft>
                      </a:pPr>
                      <a:r>
                        <a:rPr lang="en-US" sz="900" b="1" i="0" u="none" strike="noStrike" dirty="0">
                          <a:solidFill>
                            <a:schemeClr val="accent1"/>
                          </a:solidFill>
                          <a:effectLst/>
                          <a:latin typeface="+mj-lt"/>
                        </a:rPr>
                        <a:t>Compensation</a:t>
                      </a:r>
                      <a:endParaRPr lang="en-IN" sz="900" b="1" i="0" u="none" strike="noStrike" dirty="0">
                        <a:solidFill>
                          <a:schemeClr val="accent1"/>
                        </a:solidFill>
                        <a:effectLst/>
                        <a:latin typeface="+mj-lt"/>
                      </a:endParaRPr>
                    </a:p>
                  </a:txBody>
                  <a:tcPr anchor="ctr">
                    <a:lnL w="12700" cap="flat" cmpd="sng" algn="ctr">
                      <a:solidFill>
                        <a:schemeClr val="lt1"/>
                      </a:solidFill>
                      <a:prstDash val="solid"/>
                      <a:round/>
                      <a:headEnd type="none" w="med" len="med"/>
                      <a:tailEnd type="none" w="med" len="med"/>
                    </a:lnL>
                    <a:lnR w="12700" cap="flat" cmpd="sng" algn="ctr">
                      <a:solidFill>
                        <a:schemeClr val="lt1"/>
                      </a:solidFill>
                      <a:prstDash val="solid"/>
                      <a:round/>
                      <a:headEnd type="none" w="med" len="med"/>
                      <a:tailEnd type="none" w="med" len="med"/>
                    </a:lnR>
                    <a:lnT w="38100" cmpd="sng">
                      <a:solidFill>
                        <a:srgbClr val="86BC25"/>
                      </a:solidFill>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000"/>
                  </a:ext>
                </a:extLst>
              </a:tr>
              <a:tr h="417341">
                <a:tc rowSpan="2">
                  <a:txBody>
                    <a:bodyPr/>
                    <a:lstStyle/>
                    <a:p>
                      <a:pPr marL="0" indent="0">
                        <a:buFont typeface="Arial" panose="020B0604020202020204" pitchFamily="34" charset="0"/>
                        <a:buNone/>
                      </a:pPr>
                      <a:r>
                        <a:rPr lang="en-US" sz="1000" b="0" dirty="0"/>
                        <a:t>7</a:t>
                      </a:r>
                      <a:endParaRPr lang="en-IN" sz="1000" b="0"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rowSpan="2">
                  <a:txBody>
                    <a:bodyPr/>
                    <a:lstStyle/>
                    <a:p>
                      <a:r>
                        <a:rPr lang="en-US" sz="1000" b="1" dirty="0"/>
                        <a:t>Following</a:t>
                      </a:r>
                      <a:r>
                        <a:rPr lang="en-US" sz="1000" b="1" baseline="0" dirty="0"/>
                        <a:t> FME or PE </a:t>
                      </a:r>
                      <a:r>
                        <a:rPr lang="en-US" sz="1000" b="0" baseline="0" dirty="0"/>
                        <a:t>under IA, PPA, GSA or FSA</a:t>
                      </a:r>
                      <a:endParaRPr lang="en-US" sz="1000" b="1"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pPr marL="0" indent="0">
                        <a:buFont typeface="Arial" panose="020B0604020202020204" pitchFamily="34" charset="0"/>
                        <a:buNone/>
                      </a:pPr>
                      <a:r>
                        <a:rPr lang="en-US" sz="1000" b="0" i="1" dirty="0"/>
                        <a:t>If</a:t>
                      </a:r>
                      <a:r>
                        <a:rPr lang="en-US" sz="1000" b="0" i="1" baseline="0" dirty="0"/>
                        <a:t> FME or PE affects BPDB such that the it prevents operations of Facility for more than 12 months or Schedule </a:t>
                      </a:r>
                      <a:r>
                        <a:rPr lang="en-US" sz="1000" b="0" i="1" baseline="0" dirty="0" err="1"/>
                        <a:t>CoD</a:t>
                      </a:r>
                      <a:r>
                        <a:rPr lang="en-US" sz="1000" b="0" i="1" baseline="0" dirty="0"/>
                        <a:t> is delayed by more than 12 months </a:t>
                      </a:r>
                    </a:p>
                    <a:p>
                      <a:pPr marL="171450" indent="-171450">
                        <a:buFont typeface="Arial" panose="020B0604020202020204" pitchFamily="34" charset="0"/>
                        <a:buChar char="•"/>
                      </a:pPr>
                      <a:r>
                        <a:rPr lang="en-US" sz="1000" b="1" i="0" baseline="0" dirty="0"/>
                        <a:t>A+B+C+D (</a:t>
                      </a:r>
                      <a:r>
                        <a:rPr lang="en-US" sz="1000" b="0" i="0" baseline="0" dirty="0" err="1"/>
                        <a:t>GoB</a:t>
                      </a:r>
                      <a:r>
                        <a:rPr lang="en-US" sz="1000" b="0" i="0" baseline="0" dirty="0"/>
                        <a:t> Termination)</a:t>
                      </a:r>
                    </a:p>
                    <a:p>
                      <a:pPr marL="171450" marR="0" lvl="0" indent="-171450" algn="l" defTabSz="99057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00" b="1" i="0" baseline="0" dirty="0"/>
                        <a:t>A + B + C/2 + D </a:t>
                      </a:r>
                      <a:r>
                        <a:rPr lang="en-US" sz="1000" b="0" i="0" baseline="0" dirty="0"/>
                        <a:t>(Company Termination)</a:t>
                      </a:r>
                      <a:endParaRPr lang="en-US" sz="1000" b="1" i="0"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2971646"/>
                  </a:ext>
                </a:extLst>
              </a:tr>
              <a:tr h="301413">
                <a:tc vMerge="1">
                  <a:txBody>
                    <a:bodyPr/>
                    <a:lstStyle/>
                    <a:p>
                      <a:endParaRPr lang="en-IN" sz="1000" b="0"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vMerge="1">
                  <a:txBody>
                    <a:bodyPr/>
                    <a:lstStyle/>
                    <a:p>
                      <a:endParaRPr lang="en-IN" sz="1000" b="0"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r>
                        <a:rPr lang="en-US" sz="1000" b="1" i="0" baseline="0" dirty="0"/>
                        <a:t>A+B+D </a:t>
                      </a:r>
                      <a:r>
                        <a:rPr lang="en-US" sz="1000" b="0" i="1" baseline="0" dirty="0"/>
                        <a:t>(If FME affects the Facility and </a:t>
                      </a:r>
                      <a:r>
                        <a:rPr lang="en-US" sz="1000" b="0" i="1" baseline="0" dirty="0" err="1"/>
                        <a:t>GoB</a:t>
                      </a:r>
                      <a:r>
                        <a:rPr lang="en-US" sz="1000" b="0" i="1" baseline="0" dirty="0"/>
                        <a:t> elects to terminate if it prevents the Company from achieving the </a:t>
                      </a:r>
                      <a:r>
                        <a:rPr lang="en-US" sz="1000" b="0" i="1" baseline="0" dirty="0" err="1"/>
                        <a:t>CoD</a:t>
                      </a:r>
                      <a:r>
                        <a:rPr lang="en-US" sz="1000" b="0" i="1" baseline="0" dirty="0"/>
                        <a:t> within 12 months of the Scheduled </a:t>
                      </a:r>
                      <a:r>
                        <a:rPr lang="en-US" sz="1000" b="0" i="1" baseline="0" dirty="0" err="1"/>
                        <a:t>CoD</a:t>
                      </a:r>
                      <a:r>
                        <a:rPr lang="en-US" sz="1000" b="0" i="1" baseline="0" dirty="0"/>
                        <a:t> or prevents operations for a continuous period of 9 months or more</a:t>
                      </a:r>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986054502"/>
                  </a:ext>
                </a:extLst>
              </a:tr>
              <a:tr h="221015">
                <a:tc>
                  <a:txBody>
                    <a:bodyPr/>
                    <a:lstStyle/>
                    <a:p>
                      <a:r>
                        <a:rPr lang="en-US" sz="1000" b="0" dirty="0"/>
                        <a:t>8</a:t>
                      </a:r>
                      <a:endParaRPr lang="en-IN" sz="1000" b="0"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r>
                        <a:rPr lang="en-US" sz="1000" b="1" dirty="0"/>
                        <a:t>Company</a:t>
                      </a:r>
                      <a:r>
                        <a:rPr lang="en-US" sz="1000" b="1" baseline="0" dirty="0"/>
                        <a:t> Inability to Obtain Permits</a:t>
                      </a:r>
                      <a:endParaRPr lang="en-IN" sz="1000" b="1"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tc>
                  <a:txBody>
                    <a:bodyPr/>
                    <a:lstStyle/>
                    <a:p>
                      <a:r>
                        <a:rPr lang="en-US" sz="1000" b="1" i="0" dirty="0"/>
                        <a:t>A+B+C+D </a:t>
                      </a:r>
                      <a:r>
                        <a:rPr lang="en-US" sz="1000" b="0" i="1" dirty="0"/>
                        <a:t>(If Company is unable to obtain necessary Government Authorization)</a:t>
                      </a:r>
                      <a:endParaRPr lang="en-US" sz="1000" b="1" i="0" dirty="0"/>
                    </a:p>
                  </a:txBody>
                  <a:tcPr anchor="ct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3604941216"/>
                  </a:ext>
                </a:extLst>
              </a:tr>
            </a:tbl>
          </a:graphicData>
        </a:graphic>
      </p:graphicFrame>
    </p:spTree>
    <p:extLst>
      <p:ext uri="{BB962C8B-B14F-4D97-AF65-F5344CB8AC3E}">
        <p14:creationId xmlns:p14="http://schemas.microsoft.com/office/powerpoint/2010/main" val="1352262879"/>
      </p:ext>
    </p:extLst>
  </p:cSld>
  <p:clrMapOvr>
    <a:masterClrMapping/>
  </p:clrMapOvr>
  <p:transition>
    <p:fade/>
  </p:transition>
</p:sld>
</file>

<file path=ppt/slides/slide228.xml><?xml version="1.0" encoding="utf-8"?>
<p:sld xmlns:a="http://schemas.openxmlformats.org/drawingml/2006/main" xmlns:r="http://schemas.openxmlformats.org/officeDocument/2006/relationships" xmlns:p="http://schemas.openxmlformats.org/presentationml/2006/main">
  <p:cSld>
    <p:bg>
      <p:bgPr>
        <a:solidFill>
          <a:schemeClr val="accent6"/>
        </a:solidFill>
        <a:effectLst/>
      </p:bgPr>
    </p:bg>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extLst>
              <p:ext uri="{D42A27DB-BD31-4B8C-83A1-F6EECF244321}">
                <p14:modId xmlns:p14="http://schemas.microsoft.com/office/powerpoint/2010/main" val="341229397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lnSpc>
                <a:spcPct val="106000"/>
              </a:lnSpc>
              <a:buFont typeface="Wingdings 2" pitchFamily="18" charset="2"/>
              <a:buNone/>
              <a:defRPr/>
            </a:pPr>
            <a:endParaRPr kumimoji="0" lang="en-US" sz="3898" b="1" u="none" strike="noStrike" kern="1200" cap="none" spc="0" normalizeH="0" noProof="0" dirty="0">
              <a:ln>
                <a:noFill/>
              </a:ln>
              <a:solidFill>
                <a:prstClr val="white"/>
              </a:solidFill>
              <a:effectLst/>
              <a:uLnTx/>
              <a:uFillTx/>
              <a:latin typeface="Verdana" panose="020B0604030504040204" pitchFamily="34" charset="0"/>
              <a:ea typeface="Open Sans" panose="020B0606030504020204" pitchFamily="34" charset="0"/>
              <a:cs typeface="Open Sans" panose="020B0606030504020204" pitchFamily="34" charset="0"/>
              <a:sym typeface="Verdana" panose="020B0604030504040204" pitchFamily="34" charset="0"/>
            </a:endParaRPr>
          </a:p>
        </p:txBody>
      </p:sp>
      <p:sp>
        <p:nvSpPr>
          <p:cNvPr id="2" name="Title 1"/>
          <p:cNvSpPr>
            <a:spLocks noGrp="1"/>
          </p:cNvSpPr>
          <p:nvPr>
            <p:ph type="title"/>
          </p:nvPr>
        </p:nvSpPr>
        <p:spPr>
          <a:xfrm>
            <a:off x="439925" y="1880184"/>
            <a:ext cx="9243963" cy="2147709"/>
          </a:xfrm>
        </p:spPr>
        <p:txBody>
          <a:bodyPr/>
          <a:lstStyle/>
          <a:p>
            <a:r>
              <a:rPr lang="en-US" dirty="0"/>
              <a:t>List of Foreign Investment in Bangladesh Power Sector – Privately Owned Plants</a:t>
            </a:r>
            <a:endParaRPr lang="en-IN" dirty="0"/>
          </a:p>
        </p:txBody>
      </p:sp>
    </p:spTree>
    <p:extLst>
      <p:ext uri="{BB962C8B-B14F-4D97-AF65-F5344CB8AC3E}">
        <p14:creationId xmlns:p14="http://schemas.microsoft.com/office/powerpoint/2010/main" val="3229459763"/>
      </p:ext>
    </p:extLst>
  </p:cSld>
  <p:clrMapOvr>
    <a:masterClrMapping/>
  </p:clrMapOvr>
  <p:transition>
    <p:fade/>
  </p:transition>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Object 6" hidden="1"/>
          <p:cNvGraphicFramePr>
            <a:graphicFrameLocks noChangeAspect="1"/>
          </p:cNvGraphicFramePr>
          <p:nvPr>
            <p:custDataLst>
              <p:tags r:id="rId1"/>
            </p:custDataLst>
            <p:extLst>
              <p:ext uri="{D42A27DB-BD31-4B8C-83A1-F6EECF244321}">
                <p14:modId xmlns:p14="http://schemas.microsoft.com/office/powerpoint/2010/main" val="146862102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7" name="Object 6"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6" name="Rectangle 5"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4" name="Table 3"/>
          <p:cNvGraphicFramePr>
            <a:graphicFrameLocks noGrp="1"/>
          </p:cNvGraphicFramePr>
          <p:nvPr>
            <p:extLst>
              <p:ext uri="{D42A27DB-BD31-4B8C-83A1-F6EECF244321}">
                <p14:modId xmlns:p14="http://schemas.microsoft.com/office/powerpoint/2010/main" val="4081067509"/>
              </p:ext>
            </p:extLst>
          </p:nvPr>
        </p:nvGraphicFramePr>
        <p:xfrm>
          <a:off x="449263" y="1697505"/>
          <a:ext cx="9791701" cy="5455920"/>
        </p:xfrm>
        <a:graphic>
          <a:graphicData uri="http://schemas.openxmlformats.org/drawingml/2006/table">
            <a:tbl>
              <a:tblPr firstRow="1">
                <a:tableStyleId>{3B4B98B0-60AC-42C2-AFA5-B58CD77FA1E5}</a:tableStyleId>
              </a:tblPr>
              <a:tblGrid>
                <a:gridCol w="475075">
                  <a:extLst>
                    <a:ext uri="{9D8B030D-6E8A-4147-A177-3AD203B41FA5}">
                      <a16:colId xmlns:a16="http://schemas.microsoft.com/office/drawing/2014/main" val="1711277910"/>
                    </a:ext>
                  </a:extLst>
                </a:gridCol>
                <a:gridCol w="1232895">
                  <a:extLst>
                    <a:ext uri="{9D8B030D-6E8A-4147-A177-3AD203B41FA5}">
                      <a16:colId xmlns:a16="http://schemas.microsoft.com/office/drawing/2014/main" val="3792385821"/>
                    </a:ext>
                  </a:extLst>
                </a:gridCol>
                <a:gridCol w="481464">
                  <a:extLst>
                    <a:ext uri="{9D8B030D-6E8A-4147-A177-3AD203B41FA5}">
                      <a16:colId xmlns:a16="http://schemas.microsoft.com/office/drawing/2014/main" val="396343871"/>
                    </a:ext>
                  </a:extLst>
                </a:gridCol>
                <a:gridCol w="722812">
                  <a:extLst>
                    <a:ext uri="{9D8B030D-6E8A-4147-A177-3AD203B41FA5}">
                      <a16:colId xmlns:a16="http://schemas.microsoft.com/office/drawing/2014/main" val="2529704633"/>
                    </a:ext>
                  </a:extLst>
                </a:gridCol>
                <a:gridCol w="740228">
                  <a:extLst>
                    <a:ext uri="{9D8B030D-6E8A-4147-A177-3AD203B41FA5}">
                      <a16:colId xmlns:a16="http://schemas.microsoft.com/office/drawing/2014/main" val="1132999821"/>
                    </a:ext>
                  </a:extLst>
                </a:gridCol>
                <a:gridCol w="746034">
                  <a:extLst>
                    <a:ext uri="{9D8B030D-6E8A-4147-A177-3AD203B41FA5}">
                      <a16:colId xmlns:a16="http://schemas.microsoft.com/office/drawing/2014/main" val="3691609938"/>
                    </a:ext>
                  </a:extLst>
                </a:gridCol>
                <a:gridCol w="746034">
                  <a:extLst>
                    <a:ext uri="{9D8B030D-6E8A-4147-A177-3AD203B41FA5}">
                      <a16:colId xmlns:a16="http://schemas.microsoft.com/office/drawing/2014/main" val="1090147686"/>
                    </a:ext>
                  </a:extLst>
                </a:gridCol>
                <a:gridCol w="746034">
                  <a:extLst>
                    <a:ext uri="{9D8B030D-6E8A-4147-A177-3AD203B41FA5}">
                      <a16:colId xmlns:a16="http://schemas.microsoft.com/office/drawing/2014/main" val="718023483"/>
                    </a:ext>
                  </a:extLst>
                </a:gridCol>
                <a:gridCol w="3901125">
                  <a:extLst>
                    <a:ext uri="{9D8B030D-6E8A-4147-A177-3AD203B41FA5}">
                      <a16:colId xmlns:a16="http://schemas.microsoft.com/office/drawing/2014/main" val="3494645373"/>
                    </a:ext>
                  </a:extLst>
                </a:gridCol>
              </a:tblGrid>
              <a:tr h="311628">
                <a:tc>
                  <a:txBody>
                    <a:bodyPr/>
                    <a:lstStyle/>
                    <a:p>
                      <a:pPr algn="l"/>
                      <a:r>
                        <a:rPr lang="en-US" sz="800" dirty="0">
                          <a:latin typeface="+mj-lt"/>
                        </a:rPr>
                        <a:t>Sr. No</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Name</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Fuel</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Installed Capacity</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Owner Group</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Foreign Loan</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MLA</a:t>
                      </a:r>
                      <a:r>
                        <a:rPr lang="en-US" sz="800" baseline="0" dirty="0">
                          <a:latin typeface="+mj-lt"/>
                        </a:rPr>
                        <a:t> Funding</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Foreign Equity</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Remarks</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60261459"/>
                  </a:ext>
                </a:extLst>
              </a:tr>
              <a:tr h="311628">
                <a:tc>
                  <a:txBody>
                    <a:bodyPr/>
                    <a:lstStyle/>
                    <a:p>
                      <a:pPr algn="l" fontAlgn="t"/>
                      <a:r>
                        <a:rPr lang="en-IN" sz="800" b="0" i="0" u="none" strike="noStrike" dirty="0">
                          <a:solidFill>
                            <a:srgbClr val="000000"/>
                          </a:solidFill>
                          <a:effectLst/>
                          <a:latin typeface="Verdana" panose="020B0604030504040204" pitchFamily="34" charset="0"/>
                        </a:rPr>
                        <a:t>1</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Haripur Power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360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err="1">
                          <a:solidFill>
                            <a:srgbClr val="000000"/>
                          </a:solidFill>
                          <a:effectLst/>
                          <a:latin typeface="Verdana" panose="020B0604030504040204" pitchFamily="34" charset="0"/>
                        </a:rPr>
                        <a:t>Pendekar</a:t>
                      </a:r>
                      <a:r>
                        <a:rPr lang="en-IN" sz="800" b="0" i="0" u="none" strike="noStrike" dirty="0">
                          <a:solidFill>
                            <a:srgbClr val="000000"/>
                          </a:solidFill>
                          <a:effectLst/>
                          <a:latin typeface="Verdana" panose="020B0604030504040204" pitchFamily="34" charset="0"/>
                        </a:rPr>
                        <a:t>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-AES Corporation served as senior sponsor facility with USD 37 million. </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-PRG (USD 60.9 million) by IDA, underwritten by ANZ Investment bank</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13790700"/>
                  </a:ext>
                </a:extLst>
              </a:tr>
              <a:tr h="878225">
                <a:tc>
                  <a:txBody>
                    <a:bodyPr/>
                    <a:lstStyle/>
                    <a:p>
                      <a:pPr algn="l" fontAlgn="t"/>
                      <a:r>
                        <a:rPr lang="en-IN" sz="800" b="0" i="0" u="none" strike="noStrike" dirty="0">
                          <a:solidFill>
                            <a:srgbClr val="000000"/>
                          </a:solidFill>
                          <a:effectLst/>
                          <a:latin typeface="Verdana" panose="020B0604030504040204" pitchFamily="34" charset="0"/>
                        </a:rPr>
                        <a:t>2</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Sembcorp NWPC Ltd (</a:t>
                      </a:r>
                      <a:r>
                        <a:rPr lang="en-IN" sz="800" b="0" i="0" u="none" strike="noStrike" dirty="0" err="1">
                          <a:solidFill>
                            <a:srgbClr val="000000"/>
                          </a:solidFill>
                          <a:effectLst/>
                          <a:latin typeface="Verdana" panose="020B0604030504040204" pitchFamily="34" charset="0"/>
                        </a:rPr>
                        <a:t>Sirajganj</a:t>
                      </a:r>
                      <a:r>
                        <a:rPr lang="en-IN" sz="800" b="0" i="0" u="none" strike="noStrike" dirty="0">
                          <a:solidFill>
                            <a:srgbClr val="000000"/>
                          </a:solidFill>
                          <a:effectLst/>
                          <a:latin typeface="Verdana" panose="020B0604030504040204" pitchFamily="34" charset="0"/>
                        </a:rPr>
                        <a:t> 281.991 MW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281.991</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Sembcorp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1" i="0" u="none" strike="noStrike" dirty="0">
                          <a:solidFill>
                            <a:srgbClr val="000000"/>
                          </a:solidFill>
                          <a:effectLst/>
                          <a:latin typeface="Verdana" panose="020B0604030504040204" pitchFamily="34" charset="0"/>
                        </a:rPr>
                        <a:t>Loan</a:t>
                      </a:r>
                      <a:r>
                        <a:rPr lang="en-IN" sz="800" b="0" i="0" u="none" strike="noStrike" dirty="0">
                          <a:solidFill>
                            <a:srgbClr val="000000"/>
                          </a:solidFill>
                          <a:effectLst/>
                          <a:latin typeface="Verdana" panose="020B0604030504040204" pitchFamily="34" charset="0"/>
                        </a:rPr>
                        <a:t>:</a:t>
                      </a:r>
                      <a:br>
                        <a:rPr lang="en-IN" sz="800" b="0" i="0" u="none" strike="noStrike" dirty="0">
                          <a:solidFill>
                            <a:srgbClr val="000000"/>
                          </a:solidFill>
                          <a:effectLst/>
                          <a:latin typeface="Verdana" panose="020B0604030504040204" pitchFamily="34" charset="0"/>
                        </a:rPr>
                      </a:br>
                      <a:r>
                        <a:rPr lang="en-IN" sz="800" b="0" i="0" u="none" strike="noStrike" dirty="0">
                          <a:solidFill>
                            <a:srgbClr val="000000"/>
                          </a:solidFill>
                          <a:effectLst/>
                          <a:latin typeface="Verdana" panose="020B0604030504040204" pitchFamily="34" charset="0"/>
                        </a:rPr>
                        <a:t>-IFC: USD 165 million</a:t>
                      </a:r>
                      <a:br>
                        <a:rPr lang="en-IN" sz="800" b="0" i="0" u="none" strike="noStrike" dirty="0">
                          <a:solidFill>
                            <a:srgbClr val="000000"/>
                          </a:solidFill>
                          <a:effectLst/>
                          <a:latin typeface="Verdana" panose="020B0604030504040204" pitchFamily="34" charset="0"/>
                        </a:rPr>
                      </a:br>
                      <a:r>
                        <a:rPr lang="en-IN" sz="800" b="0" i="0" u="none" strike="noStrike" dirty="0">
                          <a:solidFill>
                            <a:srgbClr val="000000"/>
                          </a:solidFill>
                          <a:effectLst/>
                          <a:latin typeface="Verdana" panose="020B0604030504040204" pitchFamily="34" charset="0"/>
                        </a:rPr>
                        <a:t>-CDC Group: USD 103 million</a:t>
                      </a:r>
                      <a:br>
                        <a:rPr lang="en-IN" sz="800" b="0" i="0" u="none" strike="noStrike" dirty="0">
                          <a:solidFill>
                            <a:srgbClr val="000000"/>
                          </a:solidFill>
                          <a:effectLst/>
                          <a:latin typeface="Verdana" panose="020B0604030504040204" pitchFamily="34" charset="0"/>
                        </a:rPr>
                      </a:br>
                      <a:r>
                        <a:rPr lang="en-IN" sz="800" b="0" i="0" u="none" strike="noStrike" dirty="0">
                          <a:solidFill>
                            <a:srgbClr val="000000"/>
                          </a:solidFill>
                          <a:effectLst/>
                          <a:latin typeface="Verdana" panose="020B0604030504040204" pitchFamily="34" charset="0"/>
                        </a:rPr>
                        <a:t>-Clifford Capital: USD 103 million</a:t>
                      </a:r>
                      <a:br>
                        <a:rPr lang="en-IN" sz="800" b="0" i="0" u="none" strike="noStrike" dirty="0">
                          <a:solidFill>
                            <a:srgbClr val="000000"/>
                          </a:solidFill>
                          <a:effectLst/>
                          <a:latin typeface="Verdana" panose="020B0604030504040204" pitchFamily="34" charset="0"/>
                        </a:rPr>
                      </a:br>
                      <a:r>
                        <a:rPr lang="en-IN" sz="800" b="1" i="0" u="none" strike="noStrike" dirty="0">
                          <a:solidFill>
                            <a:srgbClr val="000000"/>
                          </a:solidFill>
                          <a:effectLst/>
                          <a:latin typeface="Verdana" panose="020B0604030504040204" pitchFamily="34" charset="0"/>
                        </a:rPr>
                        <a:t>Equity</a:t>
                      </a:r>
                      <a:r>
                        <a:rPr lang="en-IN" sz="800" b="0" i="0" u="none" strike="noStrike" dirty="0">
                          <a:solidFill>
                            <a:srgbClr val="000000"/>
                          </a:solidFill>
                          <a:effectLst/>
                          <a:latin typeface="Verdana" panose="020B0604030504040204" pitchFamily="34" charset="0"/>
                        </a:rPr>
                        <a:t>:</a:t>
                      </a:r>
                      <a:br>
                        <a:rPr lang="en-IN" sz="800" b="0" i="0" u="none" strike="noStrike" dirty="0">
                          <a:solidFill>
                            <a:srgbClr val="000000"/>
                          </a:solidFill>
                          <a:effectLst/>
                          <a:latin typeface="Verdana" panose="020B0604030504040204" pitchFamily="34" charset="0"/>
                        </a:rPr>
                      </a:br>
                      <a:r>
                        <a:rPr lang="en-IN" sz="800" b="0" i="0" u="none" strike="noStrike" dirty="0">
                          <a:solidFill>
                            <a:srgbClr val="000000"/>
                          </a:solidFill>
                          <a:effectLst/>
                          <a:latin typeface="Verdana" panose="020B0604030504040204" pitchFamily="34" charset="0"/>
                        </a:rPr>
                        <a:t>-Sembcorp Utilities: 71% (USD 103 million)</a:t>
                      </a:r>
                      <a:br>
                        <a:rPr lang="en-IN" sz="800" b="0" i="0" u="none" strike="noStrike" dirty="0">
                          <a:solidFill>
                            <a:srgbClr val="000000"/>
                          </a:solidFill>
                          <a:effectLst/>
                          <a:latin typeface="Verdana" panose="020B0604030504040204" pitchFamily="34" charset="0"/>
                        </a:rPr>
                      </a:br>
                      <a:r>
                        <a:rPr lang="en-IN" sz="800" b="0" i="0" u="none" strike="noStrike" dirty="0">
                          <a:solidFill>
                            <a:srgbClr val="000000"/>
                          </a:solidFill>
                          <a:effectLst/>
                          <a:latin typeface="Verdana" panose="020B0604030504040204" pitchFamily="34" charset="0"/>
                        </a:rPr>
                        <a:t>-NWPGC: 29%</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1729334"/>
                  </a:ext>
                </a:extLst>
              </a:tr>
              <a:tr h="311628">
                <a:tc>
                  <a:txBody>
                    <a:bodyPr/>
                    <a:lstStyle/>
                    <a:p>
                      <a:pPr algn="l" fontAlgn="t"/>
                      <a:r>
                        <a:rPr lang="en-IN" sz="800" b="0" i="0" u="none" strike="noStrike">
                          <a:solidFill>
                            <a:srgbClr val="000000"/>
                          </a:solidFill>
                          <a:effectLst/>
                          <a:latin typeface="Verdana" panose="020B0604030504040204" pitchFamily="34" charset="0"/>
                        </a:rPr>
                        <a:t>3</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Meghnaghat Power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450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err="1">
                          <a:solidFill>
                            <a:srgbClr val="000000"/>
                          </a:solidFill>
                          <a:effectLst/>
                          <a:latin typeface="Verdana" panose="020B0604030504040204" pitchFamily="34" charset="0"/>
                        </a:rPr>
                        <a:t>Pendekar</a:t>
                      </a:r>
                      <a:r>
                        <a:rPr lang="en-IN" sz="800" b="0" i="0" u="none" strike="noStrike" dirty="0">
                          <a:solidFill>
                            <a:srgbClr val="000000"/>
                          </a:solidFill>
                          <a:effectLst/>
                          <a:latin typeface="Verdana" panose="020B0604030504040204" pitchFamily="34" charset="0"/>
                        </a:rPr>
                        <a:t>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1" i="0" u="none" strike="noStrike" dirty="0">
                          <a:solidFill>
                            <a:srgbClr val="000000"/>
                          </a:solidFill>
                          <a:effectLst/>
                          <a:latin typeface="Verdana" panose="020B0604030504040204" pitchFamily="34" charset="0"/>
                        </a:rPr>
                        <a:t>Loan</a:t>
                      </a:r>
                      <a:r>
                        <a:rPr lang="en-US" sz="800" b="0" i="0" u="none" strike="noStrike" baseline="0" dirty="0">
                          <a:solidFill>
                            <a:srgbClr val="000000"/>
                          </a:solidFill>
                          <a:effectLst/>
                          <a:latin typeface="Verdana" panose="020B0604030504040204" pitchFamily="34" charset="0"/>
                        </a:rPr>
                        <a:t> (USD 220 million) by </a:t>
                      </a:r>
                      <a:r>
                        <a:rPr lang="en-US" sz="800" b="0" i="0" u="none" strike="noStrike" dirty="0">
                          <a:solidFill>
                            <a:srgbClr val="000000"/>
                          </a:solidFill>
                          <a:effectLst/>
                          <a:latin typeface="Verdana" panose="020B0604030504040204" pitchFamily="34" charset="0"/>
                        </a:rPr>
                        <a:t>ADB and other facilities</a:t>
                      </a:r>
                      <a:br>
                        <a:rPr lang="en-US" sz="800" b="0" i="0" u="none" strike="noStrike" dirty="0">
                          <a:solidFill>
                            <a:srgbClr val="000000"/>
                          </a:solidFill>
                          <a:effectLst/>
                          <a:latin typeface="Verdana" panose="020B0604030504040204" pitchFamily="34" charset="0"/>
                        </a:rPr>
                      </a:br>
                      <a:r>
                        <a:rPr lang="en-US" sz="800" b="1" i="0" u="none" strike="noStrike" dirty="0">
                          <a:solidFill>
                            <a:srgbClr val="000000"/>
                          </a:solidFill>
                          <a:effectLst/>
                          <a:latin typeface="Verdana" panose="020B0604030504040204" pitchFamily="34" charset="0"/>
                        </a:rPr>
                        <a:t>Equity</a:t>
                      </a:r>
                      <a:r>
                        <a:rPr lang="en-US" sz="800" b="0" i="0" u="none" strike="noStrike" baseline="0" dirty="0">
                          <a:solidFill>
                            <a:srgbClr val="000000"/>
                          </a:solidFill>
                          <a:effectLst/>
                          <a:latin typeface="Verdana" panose="020B0604030504040204" pitchFamily="34" charset="0"/>
                        </a:rPr>
                        <a:t> (76%): </a:t>
                      </a:r>
                      <a:r>
                        <a:rPr lang="en-US" sz="800" b="0" i="0" u="none" strike="noStrike" dirty="0">
                          <a:solidFill>
                            <a:srgbClr val="000000"/>
                          </a:solidFill>
                          <a:effectLst/>
                          <a:latin typeface="Verdana" panose="020B0604030504040204" pitchFamily="34" charset="0"/>
                        </a:rPr>
                        <a:t>Pendekar Energy</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281155263"/>
                  </a:ext>
                </a:extLst>
              </a:tr>
              <a:tr h="651587">
                <a:tc>
                  <a:txBody>
                    <a:bodyPr/>
                    <a:lstStyle/>
                    <a:p>
                      <a:pPr algn="l" fontAlgn="t"/>
                      <a:r>
                        <a:rPr lang="en-IN" sz="800" b="0" i="0" u="none" strike="noStrike" dirty="0">
                          <a:solidFill>
                            <a:srgbClr val="000000"/>
                          </a:solidFill>
                          <a:effectLst/>
                          <a:latin typeface="Verdana" panose="020B0604030504040204" pitchFamily="34" charset="0"/>
                        </a:rPr>
                        <a:t>4</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Summit Bibiyana II Power Company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341</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Summit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1" i="0" u="none" strike="noStrike" dirty="0">
                          <a:solidFill>
                            <a:srgbClr val="000000"/>
                          </a:solidFill>
                          <a:effectLst/>
                          <a:latin typeface="Verdana" panose="020B0604030504040204" pitchFamily="34" charset="0"/>
                        </a:rPr>
                        <a:t>Loan</a:t>
                      </a:r>
                      <a:r>
                        <a:rPr lang="en-US" sz="800" b="0" i="0" u="none" strike="noStrike" dirty="0">
                          <a:solidFill>
                            <a:srgbClr val="000000"/>
                          </a:solidFill>
                          <a:effectLst/>
                          <a:latin typeface="Verdana" panose="020B0604030504040204" pitchFamily="34" charset="0"/>
                        </a:rPr>
                        <a:t>:</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-ADB, IFC, IsDB: USD 210 million</a:t>
                      </a:r>
                      <a:br>
                        <a:rPr lang="en-US" sz="800" b="0" i="0" u="none" strike="noStrike" dirty="0">
                          <a:solidFill>
                            <a:srgbClr val="000000"/>
                          </a:solidFill>
                          <a:effectLst/>
                          <a:latin typeface="Verdana" panose="020B0604030504040204" pitchFamily="34" charset="0"/>
                        </a:rPr>
                      </a:br>
                      <a:r>
                        <a:rPr lang="en-US" sz="800" b="1" i="0" u="none" strike="noStrike" dirty="0">
                          <a:solidFill>
                            <a:srgbClr val="000000"/>
                          </a:solidFill>
                          <a:effectLst/>
                          <a:latin typeface="Verdana" panose="020B0604030504040204" pitchFamily="34" charset="0"/>
                        </a:rPr>
                        <a:t>Equity</a:t>
                      </a:r>
                      <a:r>
                        <a:rPr lang="en-US" sz="800" b="0" i="0" u="none" strike="noStrike" dirty="0">
                          <a:solidFill>
                            <a:srgbClr val="000000"/>
                          </a:solidFill>
                          <a:effectLst/>
                          <a:latin typeface="Verdana" panose="020B0604030504040204" pitchFamily="34" charset="0"/>
                        </a:rPr>
                        <a:t>:</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-Summit Industrial and Mercantile Corporation </a:t>
                      </a:r>
                      <a:r>
                        <a:rPr lang="en-US" sz="800" b="0" i="0" u="none" strike="noStrike" dirty="0" err="1">
                          <a:solidFill>
                            <a:srgbClr val="000000"/>
                          </a:solidFill>
                          <a:effectLst/>
                          <a:latin typeface="Verdana" panose="020B0604030504040204" pitchFamily="34" charset="0"/>
                        </a:rPr>
                        <a:t>Pvt</a:t>
                      </a:r>
                      <a:r>
                        <a:rPr lang="en-US" sz="800" b="0" i="0" u="none" strike="noStrike" dirty="0">
                          <a:solidFill>
                            <a:srgbClr val="000000"/>
                          </a:solidFill>
                          <a:effectLst/>
                          <a:latin typeface="Verdana" panose="020B0604030504040204" pitchFamily="34" charset="0"/>
                        </a:rPr>
                        <a:t> Ltd: 80%</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-General Electric: 20%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959194176"/>
                  </a:ext>
                </a:extLst>
              </a:tr>
              <a:tr h="651587">
                <a:tc>
                  <a:txBody>
                    <a:bodyPr/>
                    <a:lstStyle/>
                    <a:p>
                      <a:pPr algn="l" fontAlgn="t"/>
                      <a:r>
                        <a:rPr lang="en-IN" sz="800" b="0" i="0" u="none" strike="noStrike">
                          <a:solidFill>
                            <a:srgbClr val="000000"/>
                          </a:solidFill>
                          <a:effectLst/>
                          <a:latin typeface="Verdana" panose="020B0604030504040204" pitchFamily="34" charset="0"/>
                        </a:rPr>
                        <a:t>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United Ashugang Energy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195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United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1" i="0" u="none" strike="noStrike" dirty="0">
                          <a:solidFill>
                            <a:srgbClr val="000000"/>
                          </a:solidFill>
                          <a:effectLst/>
                          <a:latin typeface="Verdana" panose="020B0604030504040204" pitchFamily="34" charset="0"/>
                        </a:rPr>
                        <a:t>Loan:</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-ADB, IFC, IsDB: USD 210 million</a:t>
                      </a:r>
                      <a:br>
                        <a:rPr lang="en-US" sz="800" b="0" i="0" u="none" strike="noStrike" dirty="0">
                          <a:solidFill>
                            <a:srgbClr val="000000"/>
                          </a:solidFill>
                          <a:effectLst/>
                          <a:latin typeface="Verdana" panose="020B0604030504040204" pitchFamily="34" charset="0"/>
                        </a:rPr>
                      </a:br>
                      <a:r>
                        <a:rPr lang="en-US" sz="800" b="1" i="0" u="none" strike="noStrike" dirty="0">
                          <a:solidFill>
                            <a:srgbClr val="000000"/>
                          </a:solidFill>
                          <a:effectLst/>
                          <a:latin typeface="Verdana" panose="020B0604030504040204" pitchFamily="34" charset="0"/>
                        </a:rPr>
                        <a:t>Equity:</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-APSCL: 7.58%</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-United Energy Limited: 92.42%</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6292697"/>
                  </a:ext>
                </a:extLst>
              </a:tr>
              <a:tr h="651587">
                <a:tc>
                  <a:txBody>
                    <a:bodyPr/>
                    <a:lstStyle/>
                    <a:p>
                      <a:pPr algn="l" fontAlgn="t"/>
                      <a:r>
                        <a:rPr lang="en-IN" sz="800" b="0" i="0" u="none" strike="noStrike">
                          <a:solidFill>
                            <a:srgbClr val="000000"/>
                          </a:solidFill>
                          <a:effectLst/>
                          <a:latin typeface="Verdana" panose="020B0604030504040204" pitchFamily="34" charset="0"/>
                        </a:rPr>
                        <a:t>6</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ACE Alliance Power Limited (149 MW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149</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Summit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1" i="0" u="none" strike="noStrike" dirty="0">
                          <a:solidFill>
                            <a:srgbClr val="000000"/>
                          </a:solidFill>
                          <a:effectLst/>
                          <a:latin typeface="Verdana" panose="020B0604030504040204" pitchFamily="34" charset="0"/>
                        </a:rPr>
                        <a:t>Loan (USD 68.6 million):</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-OFID: USD 20 million</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-IDCOL, ICD, AAPL: Co-financers</a:t>
                      </a:r>
                      <a:br>
                        <a:rPr lang="en-US" sz="800" b="0" i="0" u="none" strike="noStrike" dirty="0">
                          <a:solidFill>
                            <a:srgbClr val="000000"/>
                          </a:solidFill>
                          <a:effectLst/>
                          <a:latin typeface="Verdana" panose="020B0604030504040204" pitchFamily="34" charset="0"/>
                        </a:rPr>
                      </a:br>
                      <a:r>
                        <a:rPr lang="en-US" sz="800" b="1" i="0" u="none" strike="noStrike" dirty="0">
                          <a:solidFill>
                            <a:srgbClr val="000000"/>
                          </a:solidFill>
                          <a:effectLst/>
                          <a:latin typeface="Verdana" panose="020B0604030504040204" pitchFamily="34" charset="0"/>
                        </a:rPr>
                        <a:t>Equity:</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-Summit Power Limited: 64%</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43605956"/>
                  </a:ext>
                </a:extLst>
              </a:tr>
              <a:tr h="538267">
                <a:tc>
                  <a:txBody>
                    <a:bodyPr/>
                    <a:lstStyle/>
                    <a:p>
                      <a:pPr algn="l" fontAlgn="t"/>
                      <a:r>
                        <a:rPr lang="en-IN" sz="800" b="0" i="0" u="none" strike="noStrike">
                          <a:solidFill>
                            <a:srgbClr val="000000"/>
                          </a:solidFill>
                          <a:effectLst/>
                          <a:latin typeface="Verdana" panose="020B0604030504040204" pitchFamily="34" charset="0"/>
                        </a:rPr>
                        <a:t>7</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KPCL Unit (2)</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115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Summit Group &amp; United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1" i="0" u="none" strike="noStrike" dirty="0">
                          <a:solidFill>
                            <a:srgbClr val="000000"/>
                          </a:solidFill>
                          <a:effectLst/>
                          <a:latin typeface="Verdana" panose="020B0604030504040204" pitchFamily="34" charset="0"/>
                        </a:rPr>
                        <a:t>Loan (USD 50 million) </a:t>
                      </a:r>
                      <a:r>
                        <a:rPr lang="en-US" sz="800" b="0" i="0" u="none" strike="noStrike" dirty="0">
                          <a:solidFill>
                            <a:srgbClr val="000000"/>
                          </a:solidFill>
                          <a:effectLst/>
                          <a:latin typeface="Verdana" panose="020B0604030504040204" pitchFamily="34" charset="0"/>
                        </a:rPr>
                        <a:t>from DEG, Germany and FMO, Netherlands</a:t>
                      </a:r>
                      <a:br>
                        <a:rPr lang="en-US" sz="800" b="1" i="0" u="none" strike="noStrike" dirty="0">
                          <a:solidFill>
                            <a:srgbClr val="000000"/>
                          </a:solidFill>
                          <a:effectLst/>
                          <a:latin typeface="Verdana" panose="020B0604030504040204" pitchFamily="34" charset="0"/>
                        </a:rPr>
                      </a:br>
                      <a:r>
                        <a:rPr lang="en-US" sz="800" b="1" i="0" u="none" strike="noStrike" dirty="0">
                          <a:solidFill>
                            <a:srgbClr val="000000"/>
                          </a:solidFill>
                          <a:effectLst/>
                          <a:latin typeface="Verdana" panose="020B0604030504040204" pitchFamily="34" charset="0"/>
                        </a:rPr>
                        <a:t>Equity:</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-KPCL (Associate company of Summit): 99%</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614342930"/>
                  </a:ext>
                </a:extLst>
              </a:tr>
              <a:tr h="764906">
                <a:tc>
                  <a:txBody>
                    <a:bodyPr/>
                    <a:lstStyle/>
                    <a:p>
                      <a:pPr algn="l" fontAlgn="t"/>
                      <a:r>
                        <a:rPr lang="en-IN" sz="800" b="0" i="0" u="none" strike="noStrike">
                          <a:solidFill>
                            <a:srgbClr val="000000"/>
                          </a:solidFill>
                          <a:effectLst/>
                          <a:latin typeface="Verdana" panose="020B0604030504040204" pitchFamily="34" charset="0"/>
                        </a:rPr>
                        <a:t>8</a:t>
                      </a:r>
                    </a:p>
                  </a:txBody>
                  <a:tcPr anchor="ctr">
                    <a:lnL>
                      <a:noFill/>
                    </a:lnL>
                    <a:lnR>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Regent Power Limited</a:t>
                      </a:r>
                    </a:p>
                  </a:txBody>
                  <a:tcPr anchor="ctr">
                    <a:lnL>
                      <a:noFill/>
                    </a:lnL>
                    <a:lnR>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108</a:t>
                      </a:r>
                    </a:p>
                  </a:txBody>
                  <a:tcPr anchor="ctr">
                    <a:lnL>
                      <a:noFill/>
                    </a:lnL>
                    <a:lnR>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Habib Group</a:t>
                      </a:r>
                    </a:p>
                  </a:txBody>
                  <a:tcPr anchor="ctr">
                    <a:lnL>
                      <a:noFill/>
                    </a:lnL>
                    <a:lnR>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l" fontAlgn="t"/>
                      <a:r>
                        <a:rPr lang="en-IN" sz="800" b="1" i="0" u="none" strike="noStrike" dirty="0">
                          <a:solidFill>
                            <a:srgbClr val="000000"/>
                          </a:solidFill>
                          <a:effectLst/>
                          <a:latin typeface="Verdana" panose="020B0604030504040204" pitchFamily="34" charset="0"/>
                        </a:rPr>
                        <a:t>Loan:</a:t>
                      </a:r>
                      <a:br>
                        <a:rPr lang="en-IN" sz="800" b="0" i="0" u="none" strike="noStrike" dirty="0">
                          <a:solidFill>
                            <a:srgbClr val="000000"/>
                          </a:solidFill>
                          <a:effectLst/>
                          <a:latin typeface="Verdana" panose="020B0604030504040204" pitchFamily="34" charset="0"/>
                        </a:rPr>
                      </a:br>
                      <a:r>
                        <a:rPr lang="en-IN" sz="800" b="0" i="0" u="none" strike="noStrike" dirty="0">
                          <a:solidFill>
                            <a:srgbClr val="000000"/>
                          </a:solidFill>
                          <a:effectLst/>
                          <a:latin typeface="Verdana" panose="020B0604030504040204" pitchFamily="34" charset="0"/>
                        </a:rPr>
                        <a:t>-IDCOL: USD 34 million</a:t>
                      </a:r>
                      <a:br>
                        <a:rPr lang="en-IN" sz="800" b="0" i="0" u="none" strike="noStrike" dirty="0">
                          <a:solidFill>
                            <a:srgbClr val="000000"/>
                          </a:solidFill>
                          <a:effectLst/>
                          <a:latin typeface="Verdana" panose="020B0604030504040204" pitchFamily="34" charset="0"/>
                        </a:rPr>
                      </a:br>
                      <a:r>
                        <a:rPr lang="en-IN" sz="800" b="0" i="0" u="none" strike="noStrike" dirty="0">
                          <a:solidFill>
                            <a:srgbClr val="000000"/>
                          </a:solidFill>
                          <a:effectLst/>
                          <a:latin typeface="Verdana" panose="020B0604030504040204" pitchFamily="34" charset="0"/>
                        </a:rPr>
                        <a:t>-IFC: USD 20.2 million</a:t>
                      </a:r>
                      <a:br>
                        <a:rPr lang="en-IN" sz="800" b="0" i="0" u="none" strike="noStrike" dirty="0">
                          <a:solidFill>
                            <a:srgbClr val="000000"/>
                          </a:solidFill>
                          <a:effectLst/>
                          <a:latin typeface="Verdana" panose="020B0604030504040204" pitchFamily="34" charset="0"/>
                        </a:rPr>
                      </a:br>
                      <a:r>
                        <a:rPr lang="en-IN" sz="800" b="0" i="0" u="none" strike="noStrike" dirty="0">
                          <a:solidFill>
                            <a:srgbClr val="000000"/>
                          </a:solidFill>
                          <a:effectLst/>
                          <a:latin typeface="Verdana" panose="020B0604030504040204" pitchFamily="34" charset="0"/>
                        </a:rPr>
                        <a:t>-Bangladesh Infrastructure Finance Fund Limited: USD 5 million</a:t>
                      </a:r>
                      <a:br>
                        <a:rPr lang="en-IN" sz="800" b="0" i="0" u="none" strike="noStrike" dirty="0">
                          <a:solidFill>
                            <a:srgbClr val="000000"/>
                          </a:solidFill>
                          <a:effectLst/>
                          <a:latin typeface="Verdana" panose="020B0604030504040204" pitchFamily="34" charset="0"/>
                        </a:rPr>
                      </a:br>
                      <a:r>
                        <a:rPr lang="en-IN" sz="800" b="1" i="0" u="none" strike="noStrike" dirty="0">
                          <a:solidFill>
                            <a:srgbClr val="000000"/>
                          </a:solidFill>
                          <a:effectLst/>
                          <a:latin typeface="Verdana" panose="020B0604030504040204" pitchFamily="34" charset="0"/>
                        </a:rPr>
                        <a:t>Equity:</a:t>
                      </a:r>
                      <a:br>
                        <a:rPr lang="en-IN" sz="800" b="1" i="0" u="none" strike="noStrike" dirty="0">
                          <a:solidFill>
                            <a:srgbClr val="000000"/>
                          </a:solidFill>
                          <a:effectLst/>
                          <a:latin typeface="Verdana" panose="020B0604030504040204" pitchFamily="34" charset="0"/>
                        </a:rPr>
                      </a:br>
                      <a:r>
                        <a:rPr lang="en-IN" sz="800" b="0" i="0" u="none" strike="noStrike" dirty="0">
                          <a:solidFill>
                            <a:srgbClr val="000000"/>
                          </a:solidFill>
                          <a:effectLst/>
                          <a:latin typeface="Verdana" panose="020B0604030504040204" pitchFamily="34" charset="0"/>
                        </a:rPr>
                        <a:t>-Owned by Habib Group: 34% equity (USD 28.8 million)</a:t>
                      </a:r>
                    </a:p>
                  </a:txBody>
                  <a:tcPr anchor="ctr">
                    <a:lnL>
                      <a:noFill/>
                    </a:lnL>
                    <a:lnR>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95598892"/>
                  </a:ext>
                </a:extLst>
              </a:tr>
            </a:tbl>
          </a:graphicData>
        </a:graphic>
      </p:graphicFrame>
      <p:sp>
        <p:nvSpPr>
          <p:cNvPr id="5" name="TextBox 4"/>
          <p:cNvSpPr txBox="1"/>
          <p:nvPr/>
        </p:nvSpPr>
        <p:spPr>
          <a:xfrm>
            <a:off x="8032166" y="7145499"/>
            <a:ext cx="2111475" cy="92333"/>
          </a:xfrm>
          <a:prstGeom prst="rect">
            <a:avLst/>
          </a:prstGeom>
          <a:noFill/>
        </p:spPr>
        <p:txBody>
          <a:bodyPr wrap="square" lIns="0" tIns="0" rIns="0" bIns="0" rtlCol="0">
            <a:spAutoFit/>
          </a:bodyPr>
          <a:lstStyle/>
          <a:p>
            <a:pPr fontAlgn="t"/>
            <a:r>
              <a:rPr lang="en-IN" sz="600" b="1" dirty="0">
                <a:solidFill>
                  <a:srgbClr val="000000"/>
                </a:solidFill>
                <a:latin typeface="+mj-lt"/>
              </a:rPr>
              <a:t>Legend</a:t>
            </a:r>
            <a:r>
              <a:rPr lang="en-IN" sz="600" dirty="0">
                <a:solidFill>
                  <a:srgbClr val="000000"/>
                </a:solidFill>
                <a:latin typeface="+mj-lt"/>
              </a:rPr>
              <a:t>:    </a:t>
            </a:r>
            <a:r>
              <a:rPr lang="en-IN" sz="600" dirty="0">
                <a:solidFill>
                  <a:srgbClr val="000000"/>
                </a:solidFill>
                <a:latin typeface="Wingdings" panose="05000000000000000000" pitchFamily="2" charset="2"/>
              </a:rPr>
              <a:t>ü </a:t>
            </a:r>
            <a:r>
              <a:rPr lang="en-IN" sz="600" dirty="0">
                <a:solidFill>
                  <a:srgbClr val="000000"/>
                </a:solidFill>
                <a:latin typeface="+mj-lt"/>
              </a:rPr>
              <a:t>Yes      </a:t>
            </a:r>
            <a:r>
              <a:rPr lang="en-IN" sz="600" dirty="0">
                <a:solidFill>
                  <a:srgbClr val="000000"/>
                </a:solidFill>
                <a:latin typeface="Wingdings" panose="05000000000000000000" pitchFamily="2" charset="2"/>
              </a:rPr>
              <a:t>û </a:t>
            </a:r>
            <a:r>
              <a:rPr lang="en-IN" sz="600" dirty="0">
                <a:solidFill>
                  <a:srgbClr val="000000"/>
                </a:solidFill>
                <a:latin typeface="+mj-lt"/>
              </a:rPr>
              <a:t>No       N/A: Not Available </a:t>
            </a:r>
            <a:endParaRPr lang="en-IN" sz="600" dirty="0">
              <a:solidFill>
                <a:srgbClr val="000000"/>
              </a:solidFill>
              <a:latin typeface="Wingdings" panose="05000000000000000000" pitchFamily="2" charset="2"/>
            </a:endParaRPr>
          </a:p>
        </p:txBody>
      </p:sp>
      <p:sp>
        <p:nvSpPr>
          <p:cNvPr id="12" name="SlideTitle"/>
          <p:cNvSpPr>
            <a:spLocks noGrp="1"/>
          </p:cNvSpPr>
          <p:nvPr>
            <p:ph type="title"/>
          </p:nvPr>
        </p:nvSpPr>
        <p:spPr>
          <a:xfrm>
            <a:off x="449993" y="647990"/>
            <a:ext cx="9791843" cy="431993"/>
          </a:xfrm>
        </p:spPr>
        <p:txBody>
          <a:bodyPr lIns="0" tIns="0" rIns="0" bIns="0" anchor="ctr">
            <a:noAutofit/>
          </a:bodyPr>
          <a:lstStyle/>
          <a:p>
            <a:r>
              <a:rPr lang="en-GB" dirty="0">
                <a:solidFill>
                  <a:srgbClr val="000000"/>
                </a:solidFill>
                <a:latin typeface="Verdana" panose="020B0604030504040204" pitchFamily="34" charset="0"/>
              </a:rPr>
              <a:t>Annexure N | </a:t>
            </a:r>
            <a:r>
              <a:rPr lang="en-GB" noProof="0" dirty="0">
                <a:solidFill>
                  <a:srgbClr val="000000"/>
                </a:solidFill>
                <a:latin typeface="Verdana" panose="020B0604030504040204" pitchFamily="34" charset="0"/>
              </a:rPr>
              <a:t>Plant Sponsors - Commissioned</a:t>
            </a:r>
          </a:p>
        </p:txBody>
      </p:sp>
      <p:sp>
        <p:nvSpPr>
          <p:cNvPr id="13" name="Rectangle 12"/>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Industry Reports, Deloitte Analysis</a:t>
            </a:r>
          </a:p>
        </p:txBody>
      </p:sp>
    </p:spTree>
    <p:extLst>
      <p:ext uri="{BB962C8B-B14F-4D97-AF65-F5344CB8AC3E}">
        <p14:creationId xmlns:p14="http://schemas.microsoft.com/office/powerpoint/2010/main" val="2718347434"/>
      </p:ext>
    </p:extLst>
  </p:cSld>
  <p:clrMapOvr>
    <a:masterClrMapping/>
  </p:clrMapOvr>
  <p:transition>
    <p:fade/>
  </p:transition>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Object 6" hidden="1"/>
          <p:cNvGraphicFramePr>
            <a:graphicFrameLocks noChangeAspect="1"/>
          </p:cNvGraphicFramePr>
          <p:nvPr>
            <p:custDataLst>
              <p:tags r:id="rId1"/>
            </p:custDataLst>
            <p:extLst>
              <p:ext uri="{D42A27DB-BD31-4B8C-83A1-F6EECF244321}">
                <p14:modId xmlns:p14="http://schemas.microsoft.com/office/powerpoint/2010/main" val="300687932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7" name="Object 6"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6" name="Rectangle 5"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4" name="Table 3"/>
          <p:cNvGraphicFramePr>
            <a:graphicFrameLocks noGrp="1"/>
          </p:cNvGraphicFramePr>
          <p:nvPr>
            <p:extLst>
              <p:ext uri="{D42A27DB-BD31-4B8C-83A1-F6EECF244321}">
                <p14:modId xmlns:p14="http://schemas.microsoft.com/office/powerpoint/2010/main" val="1363848666"/>
              </p:ext>
            </p:extLst>
          </p:nvPr>
        </p:nvGraphicFramePr>
        <p:xfrm>
          <a:off x="449263" y="1697505"/>
          <a:ext cx="9791701" cy="5181600"/>
        </p:xfrm>
        <a:graphic>
          <a:graphicData uri="http://schemas.openxmlformats.org/drawingml/2006/table">
            <a:tbl>
              <a:tblPr firstRow="1">
                <a:tableStyleId>{3B4B98B0-60AC-42C2-AFA5-B58CD77FA1E5}</a:tableStyleId>
              </a:tblPr>
              <a:tblGrid>
                <a:gridCol w="475075">
                  <a:extLst>
                    <a:ext uri="{9D8B030D-6E8A-4147-A177-3AD203B41FA5}">
                      <a16:colId xmlns:a16="http://schemas.microsoft.com/office/drawing/2014/main" val="1711277910"/>
                    </a:ext>
                  </a:extLst>
                </a:gridCol>
                <a:gridCol w="1232895">
                  <a:extLst>
                    <a:ext uri="{9D8B030D-6E8A-4147-A177-3AD203B41FA5}">
                      <a16:colId xmlns:a16="http://schemas.microsoft.com/office/drawing/2014/main" val="3792385821"/>
                    </a:ext>
                  </a:extLst>
                </a:gridCol>
                <a:gridCol w="481464">
                  <a:extLst>
                    <a:ext uri="{9D8B030D-6E8A-4147-A177-3AD203B41FA5}">
                      <a16:colId xmlns:a16="http://schemas.microsoft.com/office/drawing/2014/main" val="396343871"/>
                    </a:ext>
                  </a:extLst>
                </a:gridCol>
                <a:gridCol w="722812">
                  <a:extLst>
                    <a:ext uri="{9D8B030D-6E8A-4147-A177-3AD203B41FA5}">
                      <a16:colId xmlns:a16="http://schemas.microsoft.com/office/drawing/2014/main" val="2529704633"/>
                    </a:ext>
                  </a:extLst>
                </a:gridCol>
                <a:gridCol w="740228">
                  <a:extLst>
                    <a:ext uri="{9D8B030D-6E8A-4147-A177-3AD203B41FA5}">
                      <a16:colId xmlns:a16="http://schemas.microsoft.com/office/drawing/2014/main" val="1132999821"/>
                    </a:ext>
                  </a:extLst>
                </a:gridCol>
                <a:gridCol w="746034">
                  <a:extLst>
                    <a:ext uri="{9D8B030D-6E8A-4147-A177-3AD203B41FA5}">
                      <a16:colId xmlns:a16="http://schemas.microsoft.com/office/drawing/2014/main" val="3691609938"/>
                    </a:ext>
                  </a:extLst>
                </a:gridCol>
                <a:gridCol w="746034">
                  <a:extLst>
                    <a:ext uri="{9D8B030D-6E8A-4147-A177-3AD203B41FA5}">
                      <a16:colId xmlns:a16="http://schemas.microsoft.com/office/drawing/2014/main" val="1090147686"/>
                    </a:ext>
                  </a:extLst>
                </a:gridCol>
                <a:gridCol w="746034">
                  <a:extLst>
                    <a:ext uri="{9D8B030D-6E8A-4147-A177-3AD203B41FA5}">
                      <a16:colId xmlns:a16="http://schemas.microsoft.com/office/drawing/2014/main" val="718023483"/>
                    </a:ext>
                  </a:extLst>
                </a:gridCol>
                <a:gridCol w="3901125">
                  <a:extLst>
                    <a:ext uri="{9D8B030D-6E8A-4147-A177-3AD203B41FA5}">
                      <a16:colId xmlns:a16="http://schemas.microsoft.com/office/drawing/2014/main" val="3494645373"/>
                    </a:ext>
                  </a:extLst>
                </a:gridCol>
              </a:tblGrid>
              <a:tr h="277847">
                <a:tc>
                  <a:txBody>
                    <a:bodyPr/>
                    <a:lstStyle/>
                    <a:p>
                      <a:pPr algn="l"/>
                      <a:r>
                        <a:rPr lang="en-US" sz="800" dirty="0">
                          <a:latin typeface="+mj-lt"/>
                        </a:rPr>
                        <a:t>Sr. No</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Name</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Fuel</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Installed Capacity</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Owner Group</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Foreign Loan</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MLA</a:t>
                      </a:r>
                      <a:r>
                        <a:rPr lang="en-US" sz="800" baseline="0" dirty="0">
                          <a:latin typeface="+mj-lt"/>
                        </a:rPr>
                        <a:t> Funding</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Foreign Equity</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Remarks</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60261459"/>
                  </a:ext>
                </a:extLst>
              </a:tr>
              <a:tr h="378882">
                <a:tc>
                  <a:txBody>
                    <a:bodyPr/>
                    <a:lstStyle/>
                    <a:p>
                      <a:pPr algn="l" fontAlgn="t"/>
                      <a:r>
                        <a:rPr lang="en-IN" sz="800" b="0" i="0" u="none" strike="noStrike">
                          <a:solidFill>
                            <a:srgbClr val="000000"/>
                          </a:solidFill>
                          <a:effectLst/>
                          <a:latin typeface="Verdana" panose="020B0604030504040204" pitchFamily="34" charset="0"/>
                        </a:rPr>
                        <a:t>9</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Summit Meghnaghat Power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305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Summit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Loan (USD 22 million) by ADB</a:t>
                      </a:r>
                      <a:br>
                        <a:rPr lang="en-US" sz="800" b="0" i="0" u="none" strike="noStrike">
                          <a:solidFill>
                            <a:srgbClr val="000000"/>
                          </a:solidFill>
                          <a:effectLst/>
                          <a:latin typeface="Verdana" panose="020B0604030504040204" pitchFamily="34" charset="0"/>
                        </a:rPr>
                      </a:br>
                      <a:r>
                        <a:rPr lang="en-US" sz="800" b="0" i="0" u="none" strike="noStrike">
                          <a:solidFill>
                            <a:srgbClr val="000000"/>
                          </a:solidFill>
                          <a:effectLst/>
                          <a:latin typeface="Verdana" panose="020B0604030504040204" pitchFamily="34" charset="0"/>
                        </a:rPr>
                        <a:t>Equity (70%) by Summit</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13790700"/>
                  </a:ext>
                </a:extLst>
              </a:tr>
              <a:tr h="378882">
                <a:tc>
                  <a:txBody>
                    <a:bodyPr/>
                    <a:lstStyle/>
                    <a:p>
                      <a:pPr algn="l" fontAlgn="t"/>
                      <a:r>
                        <a:rPr lang="en-IN" sz="800" b="0" i="0" u="none" strike="noStrike">
                          <a:solidFill>
                            <a:srgbClr val="000000"/>
                          </a:solidFill>
                          <a:effectLst/>
                          <a:latin typeface="Verdana" panose="020B0604030504040204" pitchFamily="34" charset="0"/>
                        </a:rPr>
                        <a:t>10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Dhaka Northern Power Limited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55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Doreen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-75% project cost as debt from IPFF, World Bank and local commercial banks</a:t>
                      </a:r>
                      <a:br>
                        <a:rPr lang="en-US" sz="800" b="0" i="0" u="none" strike="noStrike" dirty="0">
                          <a:solidFill>
                            <a:srgbClr val="000000"/>
                          </a:solidFill>
                          <a:effectLst/>
                          <a:latin typeface="Verdana" panose="020B0604030504040204" pitchFamily="34" charset="0"/>
                        </a:rPr>
                      </a:br>
                      <a:endParaRPr lang="en-US"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1729334"/>
                  </a:ext>
                </a:extLst>
              </a:tr>
              <a:tr h="378882">
                <a:tc>
                  <a:txBody>
                    <a:bodyPr/>
                    <a:lstStyle/>
                    <a:p>
                      <a:pPr algn="l" fontAlgn="t"/>
                      <a:r>
                        <a:rPr lang="en-IN" sz="800" b="0" i="0" u="none" strike="noStrike">
                          <a:solidFill>
                            <a:srgbClr val="000000"/>
                          </a:solidFill>
                          <a:effectLst/>
                          <a:latin typeface="Verdana" panose="020B0604030504040204" pitchFamily="34" charset="0"/>
                        </a:rPr>
                        <a:t>11</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Dhaka Northern Power Limited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55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Doreen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-75% project cost as debt from IPFF, World Bank and local commercial banks</a:t>
                      </a:r>
                      <a:br>
                        <a:rPr lang="en-US" sz="800" b="0" i="0" u="none" strike="noStrike" dirty="0">
                          <a:solidFill>
                            <a:srgbClr val="000000"/>
                          </a:solidFill>
                          <a:effectLst/>
                          <a:latin typeface="Verdana" panose="020B0604030504040204" pitchFamily="34" charset="0"/>
                        </a:rPr>
                      </a:br>
                      <a:endParaRPr lang="en-US"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281155263"/>
                  </a:ext>
                </a:extLst>
              </a:tr>
              <a:tr h="479917">
                <a:tc>
                  <a:txBody>
                    <a:bodyPr/>
                    <a:lstStyle/>
                    <a:p>
                      <a:pPr algn="l" fontAlgn="t"/>
                      <a:r>
                        <a:rPr lang="en-IN" sz="800" b="0" i="0" u="none" strike="noStrike" dirty="0">
                          <a:solidFill>
                            <a:srgbClr val="000000"/>
                          </a:solidFill>
                          <a:effectLst/>
                          <a:latin typeface="Verdana" panose="020B0604030504040204" pitchFamily="34" charset="0"/>
                        </a:rPr>
                        <a:t>12</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Khulna Power Company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110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Summit Group &amp; United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Loan</a:t>
                      </a:r>
                      <a:r>
                        <a:rPr lang="en-US" sz="800" b="0" i="0" u="none" strike="noStrike" baseline="0" dirty="0">
                          <a:solidFill>
                            <a:srgbClr val="000000"/>
                          </a:solidFill>
                          <a:effectLst/>
                          <a:latin typeface="Verdana" panose="020B0604030504040204" pitchFamily="34" charset="0"/>
                        </a:rPr>
                        <a:t> by </a:t>
                      </a:r>
                      <a:r>
                        <a:rPr lang="en-US" sz="800" b="0" i="0" u="none" strike="noStrike" dirty="0">
                          <a:solidFill>
                            <a:srgbClr val="000000"/>
                          </a:solidFill>
                          <a:effectLst/>
                          <a:latin typeface="Verdana" panose="020B0604030504040204" pitchFamily="34" charset="0"/>
                        </a:rPr>
                        <a:t>IFC</a:t>
                      </a:r>
                      <a:r>
                        <a:rPr lang="en-US" sz="800" b="0" i="0" u="none" strike="noStrike" baseline="0" dirty="0">
                          <a:solidFill>
                            <a:srgbClr val="000000"/>
                          </a:solidFill>
                          <a:effectLst/>
                          <a:latin typeface="Verdana" panose="020B0604030504040204" pitchFamily="34" charset="0"/>
                        </a:rPr>
                        <a:t> (</a:t>
                      </a:r>
                      <a:r>
                        <a:rPr lang="en-US" sz="800" b="0" i="0" u="none" strike="noStrike" dirty="0">
                          <a:solidFill>
                            <a:srgbClr val="000000"/>
                          </a:solidFill>
                          <a:effectLst/>
                          <a:latin typeface="Verdana" panose="020B0604030504040204" pitchFamily="34" charset="0"/>
                        </a:rPr>
                        <a:t>USD 55.2 million)</a:t>
                      </a:r>
                      <a:br>
                        <a:rPr lang="en-US" sz="800" b="0" i="0" u="none" strike="noStrike" dirty="0">
                          <a:solidFill>
                            <a:srgbClr val="000000"/>
                          </a:solidFill>
                          <a:effectLst/>
                          <a:latin typeface="Verdana" panose="020B0604030504040204" pitchFamily="34" charset="0"/>
                        </a:rPr>
                      </a:br>
                      <a:endParaRPr lang="en-US"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959194176"/>
                  </a:ext>
                </a:extLst>
              </a:tr>
              <a:tr h="580952">
                <a:tc>
                  <a:txBody>
                    <a:bodyPr/>
                    <a:lstStyle/>
                    <a:p>
                      <a:pPr algn="l" fontAlgn="t"/>
                      <a:r>
                        <a:rPr lang="en-IN" sz="800" b="0" i="0" u="none" strike="noStrike">
                          <a:solidFill>
                            <a:srgbClr val="000000"/>
                          </a:solidFill>
                          <a:effectLst/>
                          <a:latin typeface="Verdana" panose="020B0604030504040204" pitchFamily="34" charset="0"/>
                        </a:rPr>
                        <a:t>13</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Lakdhanavi Bangla Power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52</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Lakdhanavi Ltd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1" i="0" u="none" strike="noStrike" dirty="0">
                          <a:solidFill>
                            <a:srgbClr val="000000"/>
                          </a:solidFill>
                          <a:effectLst/>
                          <a:latin typeface="Verdana" panose="020B0604030504040204" pitchFamily="34" charset="0"/>
                        </a:rPr>
                        <a:t>Loan (USD 35 million):</a:t>
                      </a:r>
                      <a:br>
                        <a:rPr lang="en-IN" sz="800" b="0" i="0" u="none" strike="noStrike" dirty="0">
                          <a:solidFill>
                            <a:srgbClr val="000000"/>
                          </a:solidFill>
                          <a:effectLst/>
                          <a:latin typeface="Verdana" panose="020B0604030504040204" pitchFamily="34" charset="0"/>
                        </a:rPr>
                      </a:br>
                      <a:r>
                        <a:rPr lang="en-IN" sz="800" b="0" i="0" u="none" strike="noStrike" dirty="0">
                          <a:solidFill>
                            <a:srgbClr val="000000"/>
                          </a:solidFill>
                          <a:effectLst/>
                          <a:latin typeface="Verdana" panose="020B0604030504040204" pitchFamily="34" charset="0"/>
                        </a:rPr>
                        <a:t>-IDCOL: USD 15 million</a:t>
                      </a:r>
                      <a:br>
                        <a:rPr lang="en-IN" sz="800" b="0" i="0" u="none" strike="noStrike" dirty="0">
                          <a:solidFill>
                            <a:srgbClr val="000000"/>
                          </a:solidFill>
                          <a:effectLst/>
                          <a:latin typeface="Verdana" panose="020B0604030504040204" pitchFamily="34" charset="0"/>
                        </a:rPr>
                      </a:br>
                      <a:r>
                        <a:rPr lang="en-IN" sz="800" b="0" i="0" u="none" strike="noStrike" dirty="0">
                          <a:solidFill>
                            <a:srgbClr val="000000"/>
                          </a:solidFill>
                          <a:effectLst/>
                          <a:latin typeface="Verdana" panose="020B0604030504040204" pitchFamily="34" charset="0"/>
                        </a:rPr>
                        <a:t>-NDBIB and 4 Sri Lankan banks</a:t>
                      </a:r>
                      <a:br>
                        <a:rPr lang="en-IN" sz="800" b="0" i="0" u="none" strike="noStrike" dirty="0">
                          <a:solidFill>
                            <a:srgbClr val="000000"/>
                          </a:solidFill>
                          <a:effectLst/>
                          <a:latin typeface="Verdana" panose="020B0604030504040204" pitchFamily="34" charset="0"/>
                        </a:rPr>
                      </a:br>
                      <a:r>
                        <a:rPr lang="en-IN" sz="800" b="1" i="0" u="none" strike="noStrike" dirty="0">
                          <a:solidFill>
                            <a:srgbClr val="000000"/>
                          </a:solidFill>
                          <a:effectLst/>
                          <a:latin typeface="Verdana" panose="020B0604030504040204" pitchFamily="34" charset="0"/>
                        </a:rPr>
                        <a:t>Equity:</a:t>
                      </a:r>
                      <a:br>
                        <a:rPr lang="en-IN" sz="800" b="0" i="0" u="none" strike="noStrike" dirty="0">
                          <a:solidFill>
                            <a:srgbClr val="000000"/>
                          </a:solidFill>
                          <a:effectLst/>
                          <a:latin typeface="Verdana" panose="020B0604030504040204" pitchFamily="34" charset="0"/>
                        </a:rPr>
                      </a:br>
                      <a:r>
                        <a:rPr lang="en-IN" sz="800" b="0" i="0" u="none" strike="noStrike" dirty="0" err="1">
                          <a:solidFill>
                            <a:srgbClr val="000000"/>
                          </a:solidFill>
                          <a:effectLst/>
                          <a:latin typeface="Verdana" panose="020B0604030504040204" pitchFamily="34" charset="0"/>
                        </a:rPr>
                        <a:t>Subsidary</a:t>
                      </a:r>
                      <a:r>
                        <a:rPr lang="en-IN" sz="800" b="0" i="0" u="none" strike="noStrike" dirty="0">
                          <a:solidFill>
                            <a:srgbClr val="000000"/>
                          </a:solidFill>
                          <a:effectLst/>
                          <a:latin typeface="Verdana" panose="020B0604030504040204" pitchFamily="34" charset="0"/>
                        </a:rPr>
                        <a:t> of </a:t>
                      </a:r>
                      <a:r>
                        <a:rPr lang="en-IN" sz="800" b="0" i="0" u="none" strike="noStrike" dirty="0" err="1">
                          <a:solidFill>
                            <a:srgbClr val="000000"/>
                          </a:solidFill>
                          <a:effectLst/>
                          <a:latin typeface="Verdana" panose="020B0604030504040204" pitchFamily="34" charset="0"/>
                        </a:rPr>
                        <a:t>Lakdhanavi</a:t>
                      </a:r>
                      <a:r>
                        <a:rPr lang="en-IN" sz="800" b="0" i="0" u="none" strike="noStrike" dirty="0">
                          <a:solidFill>
                            <a:srgbClr val="000000"/>
                          </a:solidFill>
                          <a:effectLst/>
                          <a:latin typeface="Verdana" panose="020B0604030504040204" pitchFamily="34" charset="0"/>
                        </a:rPr>
                        <a:t> Ltd (largest IPP in Sri Lanka)</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6292697"/>
                  </a:ext>
                </a:extLst>
              </a:tr>
              <a:tr h="681987">
                <a:tc>
                  <a:txBody>
                    <a:bodyPr/>
                    <a:lstStyle/>
                    <a:p>
                      <a:pPr algn="l" fontAlgn="t"/>
                      <a:r>
                        <a:rPr lang="en-IN" sz="800" b="0" i="0" u="none" strike="noStrike">
                          <a:solidFill>
                            <a:srgbClr val="000000"/>
                          </a:solidFill>
                          <a:effectLst/>
                          <a:latin typeface="Verdana" panose="020B0604030504040204" pitchFamily="34" charset="0"/>
                        </a:rPr>
                        <a:t>14</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Raj Lanka Power Limited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52</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Lakdhanavi Ltd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1" i="0" u="none" strike="noStrike" dirty="0">
                          <a:solidFill>
                            <a:srgbClr val="000000"/>
                          </a:solidFill>
                          <a:effectLst/>
                          <a:latin typeface="Verdana" panose="020B0604030504040204" pitchFamily="34" charset="0"/>
                        </a:rPr>
                        <a:t>Loan :</a:t>
                      </a:r>
                      <a:br>
                        <a:rPr lang="en-IN" sz="800" b="0" i="0" u="none" strike="noStrike" dirty="0">
                          <a:solidFill>
                            <a:srgbClr val="000000"/>
                          </a:solidFill>
                          <a:effectLst/>
                          <a:latin typeface="Verdana" panose="020B0604030504040204" pitchFamily="34" charset="0"/>
                        </a:rPr>
                      </a:br>
                      <a:r>
                        <a:rPr lang="en-IN" sz="800" b="0" i="0" u="none" strike="noStrike" dirty="0">
                          <a:solidFill>
                            <a:srgbClr val="000000"/>
                          </a:solidFill>
                          <a:effectLst/>
                          <a:latin typeface="Verdana" panose="020B0604030504040204" pitchFamily="34" charset="0"/>
                        </a:rPr>
                        <a:t>-Syndicated term loan with NDB: USD 12 million</a:t>
                      </a:r>
                      <a:br>
                        <a:rPr lang="en-IN" sz="800" b="0" i="0" u="none" strike="noStrike" dirty="0">
                          <a:solidFill>
                            <a:srgbClr val="000000"/>
                          </a:solidFill>
                          <a:effectLst/>
                          <a:latin typeface="Verdana" panose="020B0604030504040204" pitchFamily="34" charset="0"/>
                        </a:rPr>
                      </a:br>
                      <a:r>
                        <a:rPr lang="en-IN" sz="800" b="0" i="0" u="none" strike="noStrike" dirty="0">
                          <a:solidFill>
                            <a:srgbClr val="000000"/>
                          </a:solidFill>
                          <a:effectLst/>
                          <a:latin typeface="Verdana" panose="020B0604030504040204" pitchFamily="34" charset="0"/>
                        </a:rPr>
                        <a:t>-</a:t>
                      </a:r>
                      <a:r>
                        <a:rPr lang="en-IN" sz="800" b="0" i="0" u="none" strike="noStrike" dirty="0" err="1">
                          <a:solidFill>
                            <a:srgbClr val="000000"/>
                          </a:solidFill>
                          <a:effectLst/>
                          <a:latin typeface="Verdana" panose="020B0604030504040204" pitchFamily="34" charset="0"/>
                        </a:rPr>
                        <a:t>Reddemable</a:t>
                      </a:r>
                      <a:r>
                        <a:rPr lang="en-IN" sz="800" b="0" i="0" u="none" strike="noStrike" dirty="0">
                          <a:solidFill>
                            <a:srgbClr val="000000"/>
                          </a:solidFill>
                          <a:effectLst/>
                          <a:latin typeface="Verdana" panose="020B0604030504040204" pitchFamily="34" charset="0"/>
                        </a:rPr>
                        <a:t> convertible Cumulative preference shares (structured by NDBIB): BDT 1.7 billion</a:t>
                      </a:r>
                      <a:br>
                        <a:rPr lang="en-IN" sz="800" b="0" i="0" u="none" strike="noStrike" dirty="0">
                          <a:solidFill>
                            <a:srgbClr val="000000"/>
                          </a:solidFill>
                          <a:effectLst/>
                          <a:latin typeface="Verdana" panose="020B0604030504040204" pitchFamily="34" charset="0"/>
                        </a:rPr>
                      </a:br>
                      <a:r>
                        <a:rPr lang="en-IN" sz="800" b="1" i="0" u="none" strike="noStrike" dirty="0">
                          <a:solidFill>
                            <a:srgbClr val="000000"/>
                          </a:solidFill>
                          <a:effectLst/>
                          <a:latin typeface="Verdana" panose="020B0604030504040204" pitchFamily="34" charset="0"/>
                        </a:rPr>
                        <a:t>Equity:</a:t>
                      </a:r>
                      <a:br>
                        <a:rPr lang="en-IN" sz="800" b="0" i="0" u="none" strike="noStrike" dirty="0">
                          <a:solidFill>
                            <a:srgbClr val="000000"/>
                          </a:solidFill>
                          <a:effectLst/>
                          <a:latin typeface="Verdana" panose="020B0604030504040204" pitchFamily="34" charset="0"/>
                        </a:rPr>
                      </a:br>
                      <a:r>
                        <a:rPr lang="en-IN" sz="800" b="0" i="0" u="none" strike="noStrike" dirty="0" err="1">
                          <a:solidFill>
                            <a:srgbClr val="000000"/>
                          </a:solidFill>
                          <a:effectLst/>
                          <a:latin typeface="Verdana" panose="020B0604030504040204" pitchFamily="34" charset="0"/>
                        </a:rPr>
                        <a:t>Subsidary</a:t>
                      </a:r>
                      <a:r>
                        <a:rPr lang="en-IN" sz="800" b="0" i="0" u="none" strike="noStrike" dirty="0">
                          <a:solidFill>
                            <a:srgbClr val="000000"/>
                          </a:solidFill>
                          <a:effectLst/>
                          <a:latin typeface="Verdana" panose="020B0604030504040204" pitchFamily="34" charset="0"/>
                        </a:rPr>
                        <a:t> of </a:t>
                      </a:r>
                      <a:r>
                        <a:rPr lang="en-IN" sz="800" b="0" i="0" u="none" strike="noStrike" dirty="0" err="1">
                          <a:solidFill>
                            <a:srgbClr val="000000"/>
                          </a:solidFill>
                          <a:effectLst/>
                          <a:latin typeface="Verdana" panose="020B0604030504040204" pitchFamily="34" charset="0"/>
                        </a:rPr>
                        <a:t>Lakdhanavi</a:t>
                      </a:r>
                      <a:r>
                        <a:rPr lang="en-IN" sz="800" b="0" i="0" u="none" strike="noStrike" dirty="0">
                          <a:solidFill>
                            <a:srgbClr val="000000"/>
                          </a:solidFill>
                          <a:effectLst/>
                          <a:latin typeface="Verdana" panose="020B0604030504040204" pitchFamily="34" charset="0"/>
                        </a:rPr>
                        <a:t> Ltd (largest IPP in Sri Lanka)</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43605956"/>
                  </a:ext>
                </a:extLst>
              </a:tr>
              <a:tr h="277847">
                <a:tc>
                  <a:txBody>
                    <a:bodyPr/>
                    <a:lstStyle/>
                    <a:p>
                      <a:pPr algn="l" fontAlgn="t"/>
                      <a:r>
                        <a:rPr lang="en-IN" sz="800" b="0" i="0" u="none" strike="noStrike">
                          <a:solidFill>
                            <a:srgbClr val="000000"/>
                          </a:solidFill>
                          <a:effectLst/>
                          <a:latin typeface="Verdana" panose="020B0604030504040204" pitchFamily="34" charset="0"/>
                        </a:rPr>
                        <a:t>15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United Ashugonj Power</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53</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United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Loan</a:t>
                      </a:r>
                      <a:r>
                        <a:rPr lang="en-US" sz="800" b="0" i="0" u="none" strike="noStrike" baseline="0" dirty="0">
                          <a:solidFill>
                            <a:srgbClr val="000000"/>
                          </a:solidFill>
                          <a:effectLst/>
                          <a:latin typeface="Verdana" panose="020B0604030504040204" pitchFamily="34" charset="0"/>
                        </a:rPr>
                        <a:t> by </a:t>
                      </a:r>
                      <a:r>
                        <a:rPr lang="en-US" sz="800" b="0" i="0" u="none" strike="noStrike" dirty="0">
                          <a:solidFill>
                            <a:srgbClr val="000000"/>
                          </a:solidFill>
                          <a:effectLst/>
                          <a:latin typeface="Verdana" panose="020B0604030504040204" pitchFamily="34" charset="0"/>
                        </a:rPr>
                        <a:t>Standard Chartered Bank, Mauritius</a:t>
                      </a:r>
                      <a:br>
                        <a:rPr lang="en-US" sz="800" b="0" i="0" u="none" strike="noStrike" dirty="0">
                          <a:solidFill>
                            <a:srgbClr val="000000"/>
                          </a:solidFill>
                          <a:effectLst/>
                          <a:latin typeface="Verdana" panose="020B0604030504040204" pitchFamily="34" charset="0"/>
                        </a:rPr>
                      </a:br>
                      <a:endParaRPr lang="en-US"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614342930"/>
                  </a:ext>
                </a:extLst>
              </a:tr>
              <a:tr h="378882">
                <a:tc>
                  <a:txBody>
                    <a:bodyPr/>
                    <a:lstStyle/>
                    <a:p>
                      <a:pPr algn="l" fontAlgn="t"/>
                      <a:r>
                        <a:rPr lang="en-IN" sz="800" b="0" i="0" u="none" strike="noStrike">
                          <a:solidFill>
                            <a:srgbClr val="000000"/>
                          </a:solidFill>
                          <a:effectLst/>
                          <a:latin typeface="Verdana" panose="020B0604030504040204" pitchFamily="34" charset="0"/>
                        </a:rPr>
                        <a:t>16</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M/S Banco Energy Generation Ltd. 53.972MW</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53.972</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Doreen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Loan</a:t>
                      </a:r>
                      <a:r>
                        <a:rPr lang="en-US" sz="800" b="0" i="0" u="none" strike="noStrike" baseline="0" dirty="0">
                          <a:solidFill>
                            <a:srgbClr val="000000"/>
                          </a:solidFill>
                          <a:effectLst/>
                          <a:latin typeface="Verdana" panose="020B0604030504040204" pitchFamily="34" charset="0"/>
                        </a:rPr>
                        <a:t>:</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-AKA Bank and Commerzbank of Germany provided ECA (Euler Hermes)-backed debt funding ($26 million) through City Bank</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95598892"/>
                  </a:ext>
                </a:extLst>
              </a:tr>
              <a:tr h="479917">
                <a:tc>
                  <a:txBody>
                    <a:bodyPr/>
                    <a:lstStyle/>
                    <a:p>
                      <a:pPr algn="l" fontAlgn="t"/>
                      <a:r>
                        <a:rPr lang="en-IN" sz="800" b="0" i="0" u="none" strike="noStrike" dirty="0">
                          <a:solidFill>
                            <a:srgbClr val="000000"/>
                          </a:solidFill>
                          <a:effectLst/>
                          <a:latin typeface="Verdana" panose="020B0604030504040204" pitchFamily="34" charset="0"/>
                        </a:rPr>
                        <a:t>17</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Orion Power Rupsha Limited (OPRL).Khulna (105 MW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105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Orion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Loan:</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-Mercantile Bank (lead lender) with participation of </a:t>
                      </a:r>
                      <a:r>
                        <a:rPr lang="en-US" sz="800" b="0" i="0" u="none" strike="noStrike" dirty="0" err="1">
                          <a:solidFill>
                            <a:srgbClr val="000000"/>
                          </a:solidFill>
                          <a:effectLst/>
                          <a:latin typeface="Verdana" panose="020B0604030504040204" pitchFamily="34" charset="0"/>
                        </a:rPr>
                        <a:t>Mashreqbank</a:t>
                      </a:r>
                      <a:r>
                        <a:rPr lang="en-US" sz="800" b="0" i="0" u="none" strike="noStrike" dirty="0">
                          <a:solidFill>
                            <a:srgbClr val="000000"/>
                          </a:solidFill>
                          <a:effectLst/>
                          <a:latin typeface="Verdana" panose="020B0604030504040204" pitchFamily="34" charset="0"/>
                        </a:rPr>
                        <a:t> PSC</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75462395"/>
                  </a:ext>
                </a:extLst>
              </a:tr>
            </a:tbl>
          </a:graphicData>
        </a:graphic>
      </p:graphicFrame>
      <p:sp>
        <p:nvSpPr>
          <p:cNvPr id="5" name="TextBox 4"/>
          <p:cNvSpPr txBox="1"/>
          <p:nvPr/>
        </p:nvSpPr>
        <p:spPr>
          <a:xfrm>
            <a:off x="8032166" y="7145499"/>
            <a:ext cx="2111475" cy="92333"/>
          </a:xfrm>
          <a:prstGeom prst="rect">
            <a:avLst/>
          </a:prstGeom>
          <a:noFill/>
        </p:spPr>
        <p:txBody>
          <a:bodyPr wrap="square" lIns="0" tIns="0" rIns="0" bIns="0" rtlCol="0">
            <a:spAutoFit/>
          </a:bodyPr>
          <a:lstStyle/>
          <a:p>
            <a:pPr fontAlgn="t"/>
            <a:r>
              <a:rPr lang="en-IN" sz="600" b="1" dirty="0">
                <a:solidFill>
                  <a:srgbClr val="000000"/>
                </a:solidFill>
                <a:latin typeface="+mj-lt"/>
              </a:rPr>
              <a:t>Legend</a:t>
            </a:r>
            <a:r>
              <a:rPr lang="en-IN" sz="600" dirty="0">
                <a:solidFill>
                  <a:srgbClr val="000000"/>
                </a:solidFill>
                <a:latin typeface="+mj-lt"/>
              </a:rPr>
              <a:t>:    </a:t>
            </a:r>
            <a:r>
              <a:rPr lang="en-IN" sz="600" dirty="0">
                <a:solidFill>
                  <a:srgbClr val="000000"/>
                </a:solidFill>
                <a:latin typeface="Wingdings" panose="05000000000000000000" pitchFamily="2" charset="2"/>
              </a:rPr>
              <a:t>ü </a:t>
            </a:r>
            <a:r>
              <a:rPr lang="en-IN" sz="600" dirty="0">
                <a:solidFill>
                  <a:srgbClr val="000000"/>
                </a:solidFill>
                <a:latin typeface="+mj-lt"/>
              </a:rPr>
              <a:t>Yes      </a:t>
            </a:r>
            <a:r>
              <a:rPr lang="en-IN" sz="600" dirty="0">
                <a:solidFill>
                  <a:srgbClr val="000000"/>
                </a:solidFill>
                <a:latin typeface="Wingdings" panose="05000000000000000000" pitchFamily="2" charset="2"/>
              </a:rPr>
              <a:t>û </a:t>
            </a:r>
            <a:r>
              <a:rPr lang="en-IN" sz="600" dirty="0">
                <a:solidFill>
                  <a:srgbClr val="000000"/>
                </a:solidFill>
                <a:latin typeface="+mj-lt"/>
              </a:rPr>
              <a:t>No       N/A: Not Available </a:t>
            </a:r>
            <a:endParaRPr lang="en-IN" sz="600" dirty="0">
              <a:solidFill>
                <a:srgbClr val="000000"/>
              </a:solidFill>
              <a:latin typeface="Wingdings" panose="05000000000000000000" pitchFamily="2" charset="2"/>
            </a:endParaRPr>
          </a:p>
        </p:txBody>
      </p:sp>
      <p:sp>
        <p:nvSpPr>
          <p:cNvPr id="11" name="SlideTitle"/>
          <p:cNvSpPr>
            <a:spLocks noGrp="1"/>
          </p:cNvSpPr>
          <p:nvPr>
            <p:ph type="title"/>
          </p:nvPr>
        </p:nvSpPr>
        <p:spPr>
          <a:xfrm>
            <a:off x="449993" y="647990"/>
            <a:ext cx="9791843" cy="431993"/>
          </a:xfrm>
        </p:spPr>
        <p:txBody>
          <a:bodyPr lIns="0" tIns="0" rIns="0" bIns="0" anchor="ctr">
            <a:noAutofit/>
          </a:bodyPr>
          <a:lstStyle/>
          <a:p>
            <a:r>
              <a:rPr lang="en-GB" dirty="0">
                <a:solidFill>
                  <a:srgbClr val="000000"/>
                </a:solidFill>
                <a:latin typeface="Verdana" panose="020B0604030504040204" pitchFamily="34" charset="0"/>
              </a:rPr>
              <a:t>Annexure N | Plant Sponsors - Commissioned</a:t>
            </a:r>
            <a:endParaRPr lang="en-GB" noProof="0" dirty="0">
              <a:solidFill>
                <a:srgbClr val="000000"/>
              </a:solidFill>
              <a:latin typeface="Verdana" panose="020B0604030504040204" pitchFamily="34" charset="0"/>
            </a:endParaRPr>
          </a:p>
        </p:txBody>
      </p:sp>
      <p:sp>
        <p:nvSpPr>
          <p:cNvPr id="12" name="Rectangle 11"/>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Industry Reports, Deloitte Analysis</a:t>
            </a:r>
          </a:p>
        </p:txBody>
      </p:sp>
    </p:spTree>
    <p:extLst>
      <p:ext uri="{BB962C8B-B14F-4D97-AF65-F5344CB8AC3E}">
        <p14:creationId xmlns:p14="http://schemas.microsoft.com/office/powerpoint/2010/main" val="596435942"/>
      </p:ext>
    </p:extLst>
  </p:cSld>
  <p:clrMapOvr>
    <a:masterClrMapping/>
  </p:clrMapOvr>
  <p:transition>
    <p:fade/>
  </p:transition>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Object 6" hidden="1"/>
          <p:cNvGraphicFramePr>
            <a:graphicFrameLocks noChangeAspect="1"/>
          </p:cNvGraphicFramePr>
          <p:nvPr>
            <p:custDataLst>
              <p:tags r:id="rId1"/>
            </p:custDataLst>
            <p:extLst>
              <p:ext uri="{D42A27DB-BD31-4B8C-83A1-F6EECF244321}">
                <p14:modId xmlns:p14="http://schemas.microsoft.com/office/powerpoint/2010/main" val="290088648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7" name="Object 6"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6" name="Rectangle 5"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4" name="Table 3"/>
          <p:cNvGraphicFramePr>
            <a:graphicFrameLocks noGrp="1"/>
          </p:cNvGraphicFramePr>
          <p:nvPr>
            <p:extLst>
              <p:ext uri="{D42A27DB-BD31-4B8C-83A1-F6EECF244321}">
                <p14:modId xmlns:p14="http://schemas.microsoft.com/office/powerpoint/2010/main" val="1158984992"/>
              </p:ext>
            </p:extLst>
          </p:nvPr>
        </p:nvGraphicFramePr>
        <p:xfrm>
          <a:off x="449263" y="1697505"/>
          <a:ext cx="9791701" cy="5303384"/>
        </p:xfrm>
        <a:graphic>
          <a:graphicData uri="http://schemas.openxmlformats.org/drawingml/2006/table">
            <a:tbl>
              <a:tblPr firstRow="1">
                <a:tableStyleId>{3B4B98B0-60AC-42C2-AFA5-B58CD77FA1E5}</a:tableStyleId>
              </a:tblPr>
              <a:tblGrid>
                <a:gridCol w="475075">
                  <a:extLst>
                    <a:ext uri="{9D8B030D-6E8A-4147-A177-3AD203B41FA5}">
                      <a16:colId xmlns:a16="http://schemas.microsoft.com/office/drawing/2014/main" val="1711277910"/>
                    </a:ext>
                  </a:extLst>
                </a:gridCol>
                <a:gridCol w="1232895">
                  <a:extLst>
                    <a:ext uri="{9D8B030D-6E8A-4147-A177-3AD203B41FA5}">
                      <a16:colId xmlns:a16="http://schemas.microsoft.com/office/drawing/2014/main" val="3792385821"/>
                    </a:ext>
                  </a:extLst>
                </a:gridCol>
                <a:gridCol w="481464">
                  <a:extLst>
                    <a:ext uri="{9D8B030D-6E8A-4147-A177-3AD203B41FA5}">
                      <a16:colId xmlns:a16="http://schemas.microsoft.com/office/drawing/2014/main" val="396343871"/>
                    </a:ext>
                  </a:extLst>
                </a:gridCol>
                <a:gridCol w="722812">
                  <a:extLst>
                    <a:ext uri="{9D8B030D-6E8A-4147-A177-3AD203B41FA5}">
                      <a16:colId xmlns:a16="http://schemas.microsoft.com/office/drawing/2014/main" val="2529704633"/>
                    </a:ext>
                  </a:extLst>
                </a:gridCol>
                <a:gridCol w="740228">
                  <a:extLst>
                    <a:ext uri="{9D8B030D-6E8A-4147-A177-3AD203B41FA5}">
                      <a16:colId xmlns:a16="http://schemas.microsoft.com/office/drawing/2014/main" val="1132999821"/>
                    </a:ext>
                  </a:extLst>
                </a:gridCol>
                <a:gridCol w="746034">
                  <a:extLst>
                    <a:ext uri="{9D8B030D-6E8A-4147-A177-3AD203B41FA5}">
                      <a16:colId xmlns:a16="http://schemas.microsoft.com/office/drawing/2014/main" val="3691609938"/>
                    </a:ext>
                  </a:extLst>
                </a:gridCol>
                <a:gridCol w="746034">
                  <a:extLst>
                    <a:ext uri="{9D8B030D-6E8A-4147-A177-3AD203B41FA5}">
                      <a16:colId xmlns:a16="http://schemas.microsoft.com/office/drawing/2014/main" val="1090147686"/>
                    </a:ext>
                  </a:extLst>
                </a:gridCol>
                <a:gridCol w="746034">
                  <a:extLst>
                    <a:ext uri="{9D8B030D-6E8A-4147-A177-3AD203B41FA5}">
                      <a16:colId xmlns:a16="http://schemas.microsoft.com/office/drawing/2014/main" val="718023483"/>
                    </a:ext>
                  </a:extLst>
                </a:gridCol>
                <a:gridCol w="3901125">
                  <a:extLst>
                    <a:ext uri="{9D8B030D-6E8A-4147-A177-3AD203B41FA5}">
                      <a16:colId xmlns:a16="http://schemas.microsoft.com/office/drawing/2014/main" val="3494645373"/>
                    </a:ext>
                  </a:extLst>
                </a:gridCol>
              </a:tblGrid>
              <a:tr h="285304">
                <a:tc>
                  <a:txBody>
                    <a:bodyPr/>
                    <a:lstStyle/>
                    <a:p>
                      <a:pPr algn="l"/>
                      <a:r>
                        <a:rPr lang="en-US" sz="800" dirty="0">
                          <a:latin typeface="+mj-lt"/>
                        </a:rPr>
                        <a:t>Sr. No</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Name</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Fuel</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Installed Capacity</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Owner Group</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Foreign Loan</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MLA</a:t>
                      </a:r>
                      <a:r>
                        <a:rPr lang="en-US" sz="800" baseline="0" dirty="0">
                          <a:latin typeface="+mj-lt"/>
                        </a:rPr>
                        <a:t> Funding</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Foreign Equity</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Remarks</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60261459"/>
                  </a:ext>
                </a:extLst>
              </a:tr>
              <a:tr h="518024">
                <a:tc>
                  <a:txBody>
                    <a:bodyPr/>
                    <a:lstStyle/>
                    <a:p>
                      <a:pPr algn="l" fontAlgn="t"/>
                      <a:r>
                        <a:rPr lang="en-IN" sz="800" b="0" i="0" u="none" strike="noStrike" dirty="0">
                          <a:solidFill>
                            <a:srgbClr val="000000"/>
                          </a:solidFill>
                          <a:effectLst/>
                          <a:latin typeface="Verdana" panose="020B0604030504040204" pitchFamily="34" charset="0"/>
                        </a:rPr>
                        <a:t>18</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Dutch Bangla Power &amp; Associates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100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Orion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Loan:</a:t>
                      </a:r>
                      <a:br>
                        <a:rPr lang="en-IN" sz="800" b="0" i="0" u="none" strike="noStrike" dirty="0">
                          <a:solidFill>
                            <a:srgbClr val="000000"/>
                          </a:solidFill>
                          <a:effectLst/>
                          <a:latin typeface="Verdana" panose="020B0604030504040204" pitchFamily="34" charset="0"/>
                        </a:rPr>
                      </a:br>
                      <a:r>
                        <a:rPr lang="en-IN" sz="800" b="0" i="0" u="none" strike="noStrike" dirty="0">
                          <a:solidFill>
                            <a:srgbClr val="000000"/>
                          </a:solidFill>
                          <a:effectLst/>
                          <a:latin typeface="Verdana" panose="020B0604030504040204" pitchFamily="34" charset="0"/>
                        </a:rPr>
                        <a:t>-</a:t>
                      </a:r>
                      <a:r>
                        <a:rPr lang="en-IN" sz="800" b="0" i="0" u="none" strike="noStrike" dirty="0" err="1">
                          <a:solidFill>
                            <a:srgbClr val="000000"/>
                          </a:solidFill>
                          <a:effectLst/>
                          <a:latin typeface="Verdana" panose="020B0604030504040204" pitchFamily="34" charset="0"/>
                        </a:rPr>
                        <a:t>Agrani</a:t>
                      </a:r>
                      <a:r>
                        <a:rPr lang="en-IN" sz="800" b="0" i="0" u="none" strike="noStrike" dirty="0">
                          <a:solidFill>
                            <a:srgbClr val="000000"/>
                          </a:solidFill>
                          <a:effectLst/>
                          <a:latin typeface="Verdana" panose="020B0604030504040204" pitchFamily="34" charset="0"/>
                        </a:rPr>
                        <a:t> Bank Limited, Janata Bank Limited and Mashreq Bank </a:t>
                      </a:r>
                      <a:r>
                        <a:rPr lang="en-IN" sz="800" b="0" i="0" u="none" strike="noStrike" dirty="0" err="1">
                          <a:solidFill>
                            <a:srgbClr val="000000"/>
                          </a:solidFill>
                          <a:effectLst/>
                          <a:latin typeface="Verdana" panose="020B0604030504040204" pitchFamily="34" charset="0"/>
                        </a:rPr>
                        <a:t>psc</a:t>
                      </a:r>
                      <a:r>
                        <a:rPr lang="en-IN" sz="800" b="0" i="0" u="none" strike="noStrike" dirty="0">
                          <a:solidFill>
                            <a:srgbClr val="000000"/>
                          </a:solidFill>
                          <a:effectLst/>
                          <a:latin typeface="Verdana" panose="020B0604030504040204" pitchFamily="34" charset="0"/>
                        </a:rPr>
                        <a:t>, Dubai signed a tripartite agreement for providing SBLC facility.</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13790700"/>
                  </a:ext>
                </a:extLst>
              </a:tr>
              <a:tr h="492797">
                <a:tc>
                  <a:txBody>
                    <a:bodyPr/>
                    <a:lstStyle/>
                    <a:p>
                      <a:pPr algn="l" fontAlgn="t"/>
                      <a:r>
                        <a:rPr lang="en-IN" sz="800" b="0" i="0" u="none" strike="noStrike">
                          <a:solidFill>
                            <a:srgbClr val="000000"/>
                          </a:solidFill>
                          <a:effectLst/>
                          <a:latin typeface="Verdana" panose="020B0604030504040204" pitchFamily="34" charset="0"/>
                        </a:rPr>
                        <a:t>19</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IEL Consourtium &amp; Associates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100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Orion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Loan:</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a:t>
                      </a:r>
                      <a:r>
                        <a:rPr lang="en-US" sz="800" b="0" i="0" u="none" strike="noStrike" dirty="0" err="1">
                          <a:solidFill>
                            <a:srgbClr val="000000"/>
                          </a:solidFill>
                          <a:effectLst/>
                          <a:latin typeface="Verdana" panose="020B0604030504040204" pitchFamily="34" charset="0"/>
                        </a:rPr>
                        <a:t>Agrani</a:t>
                      </a:r>
                      <a:r>
                        <a:rPr lang="en-US" sz="800" b="0" i="0" u="none" strike="noStrike" dirty="0">
                          <a:solidFill>
                            <a:srgbClr val="000000"/>
                          </a:solidFill>
                          <a:effectLst/>
                          <a:latin typeface="Verdana" panose="020B0604030504040204" pitchFamily="34" charset="0"/>
                        </a:rPr>
                        <a:t> Bank Limited, Janata Bank Limited and Mashreq Bank </a:t>
                      </a:r>
                      <a:r>
                        <a:rPr lang="en-US" sz="800" b="0" i="0" u="none" strike="noStrike" dirty="0" err="1">
                          <a:solidFill>
                            <a:srgbClr val="000000"/>
                          </a:solidFill>
                          <a:effectLst/>
                          <a:latin typeface="Verdana" panose="020B0604030504040204" pitchFamily="34" charset="0"/>
                        </a:rPr>
                        <a:t>psc</a:t>
                      </a:r>
                      <a:r>
                        <a:rPr lang="en-US" sz="800" b="0" i="0" u="none" strike="noStrike" dirty="0">
                          <a:solidFill>
                            <a:srgbClr val="000000"/>
                          </a:solidFill>
                          <a:effectLst/>
                          <a:latin typeface="Verdana" panose="020B0604030504040204" pitchFamily="34" charset="0"/>
                        </a:rPr>
                        <a:t>, Dubai signed a tripartite agreement for providing SBLC facility.</a:t>
                      </a:r>
                      <a:br>
                        <a:rPr lang="en-US" sz="800" b="0" i="0" u="none" strike="noStrike" dirty="0">
                          <a:solidFill>
                            <a:srgbClr val="000000"/>
                          </a:solidFill>
                          <a:effectLst/>
                          <a:latin typeface="Verdana" panose="020B0604030504040204" pitchFamily="34" charset="0"/>
                        </a:rPr>
                      </a:br>
                      <a:endParaRPr lang="en-US"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1729334"/>
                  </a:ext>
                </a:extLst>
              </a:tr>
              <a:tr h="285304">
                <a:tc>
                  <a:txBody>
                    <a:bodyPr/>
                    <a:lstStyle/>
                    <a:p>
                      <a:pPr algn="l" fontAlgn="t"/>
                      <a:r>
                        <a:rPr lang="en-IN" sz="800" b="0" i="0" u="none" strike="noStrike">
                          <a:solidFill>
                            <a:srgbClr val="000000"/>
                          </a:solidFill>
                          <a:effectLst/>
                          <a:latin typeface="Verdana" panose="020B0604030504040204" pitchFamily="34" charset="0"/>
                        </a:rPr>
                        <a:t>20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Kodda </a:t>
                      </a:r>
                      <a:r>
                        <a:rPr lang="en-US" sz="800" b="0" i="0" u="none" strike="noStrike" dirty="0" err="1">
                          <a:solidFill>
                            <a:srgbClr val="000000"/>
                          </a:solidFill>
                          <a:effectLst/>
                          <a:latin typeface="Verdana" panose="020B0604030504040204" pitchFamily="34" charset="0"/>
                        </a:rPr>
                        <a:t>Gazipur</a:t>
                      </a:r>
                      <a:r>
                        <a:rPr lang="en-US" sz="800" b="0" i="0" u="none" strike="noStrike" dirty="0">
                          <a:solidFill>
                            <a:srgbClr val="000000"/>
                          </a:solidFill>
                          <a:effectLst/>
                          <a:latin typeface="Verdana" panose="020B0604030504040204" pitchFamily="34" charset="0"/>
                        </a:rPr>
                        <a:t> 300 (</a:t>
                      </a:r>
                      <a:r>
                        <a:rPr lang="en-US" sz="800" b="0" i="0" u="none" strike="noStrike" dirty="0" err="1">
                          <a:solidFill>
                            <a:srgbClr val="000000"/>
                          </a:solidFill>
                          <a:effectLst/>
                          <a:latin typeface="Verdana" panose="020B0604030504040204" pitchFamily="34" charset="0"/>
                        </a:rPr>
                        <a:t>Summil</a:t>
                      </a:r>
                      <a:r>
                        <a:rPr lang="en-US" sz="800" b="0" i="0" u="none" strike="noStrike" dirty="0">
                          <a:solidFill>
                            <a:srgbClr val="000000"/>
                          </a:solidFill>
                          <a:effectLst/>
                          <a:latin typeface="Verdana" panose="020B0604030504040204" pitchFamily="34" charset="0"/>
                        </a:rPr>
                        <a:t> Unit-)</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300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Summit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Loan (USD 140 million):</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 Clifford Capital and Sumitomo Mitsui Banking Corporation</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281155263"/>
                  </a:ext>
                </a:extLst>
              </a:tr>
              <a:tr h="492797">
                <a:tc>
                  <a:txBody>
                    <a:bodyPr/>
                    <a:lstStyle/>
                    <a:p>
                      <a:pPr algn="l" fontAlgn="t"/>
                      <a:r>
                        <a:rPr lang="en-IN" sz="800" b="0" i="0" u="none" strike="noStrike">
                          <a:solidFill>
                            <a:srgbClr val="000000"/>
                          </a:solidFill>
                          <a:effectLst/>
                          <a:latin typeface="Verdana" panose="020B0604030504040204" pitchFamily="34" charset="0"/>
                        </a:rPr>
                        <a:t>21</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Khanjahan Ali Power</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40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Summit Group &amp; United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-Term Loan from Standard Chartered Bank, Mauritius (USD 19.5 million)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959194176"/>
                  </a:ext>
                </a:extLst>
              </a:tr>
              <a:tr h="492797">
                <a:tc>
                  <a:txBody>
                    <a:bodyPr/>
                    <a:lstStyle/>
                    <a:p>
                      <a:pPr algn="l" fontAlgn="t"/>
                      <a:r>
                        <a:rPr lang="en-IN" sz="800" b="0" i="0" u="none" strike="noStrike" dirty="0">
                          <a:solidFill>
                            <a:srgbClr val="000000"/>
                          </a:solidFill>
                          <a:effectLst/>
                          <a:latin typeface="Verdana" panose="020B0604030504040204" pitchFamily="34" charset="0"/>
                        </a:rPr>
                        <a:t>22</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Barkatullah Electro Dynamics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51</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Barakatullah Electro Dynamics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Loan by DCL, BRAC Bank, AB Bank, Trust Bank, Janata Bank and Industrial and Infrastructure Development Finance Company Limited (IIDFC) (125 Crore Tk)</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6292697"/>
                  </a:ext>
                </a:extLst>
              </a:tr>
              <a:tr h="285304">
                <a:tc>
                  <a:txBody>
                    <a:bodyPr/>
                    <a:lstStyle/>
                    <a:p>
                      <a:pPr algn="l" fontAlgn="t"/>
                      <a:r>
                        <a:rPr lang="en-IN" sz="800" b="0" i="0" u="none" strike="noStrike">
                          <a:solidFill>
                            <a:srgbClr val="000000"/>
                          </a:solidFill>
                          <a:effectLst/>
                          <a:latin typeface="Verdana" panose="020B0604030504040204" pitchFamily="34" charset="0"/>
                        </a:rPr>
                        <a:t>23</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Doreen Power Ltd, Feni</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22</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Doreen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Loan by NCC Bank: USD 10 million</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43605956"/>
                  </a:ext>
                </a:extLst>
              </a:tr>
              <a:tr h="285304">
                <a:tc>
                  <a:txBody>
                    <a:bodyPr/>
                    <a:lstStyle/>
                    <a:p>
                      <a:pPr algn="l" fontAlgn="t"/>
                      <a:r>
                        <a:rPr lang="en-IN" sz="800" b="0" i="0" u="none" strike="noStrike">
                          <a:solidFill>
                            <a:srgbClr val="000000"/>
                          </a:solidFill>
                          <a:effectLst/>
                          <a:latin typeface="Verdana" panose="020B0604030504040204" pitchFamily="34" charset="0"/>
                        </a:rPr>
                        <a:t>24</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Doreen Power Tangail</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22</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Doreen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Loan by NCC Bank and Bangladesh Bank: USD 4.7 million</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614342930"/>
                  </a:ext>
                </a:extLst>
              </a:tr>
              <a:tr h="285304">
                <a:tc>
                  <a:txBody>
                    <a:bodyPr/>
                    <a:lstStyle/>
                    <a:p>
                      <a:pPr algn="l" fontAlgn="t"/>
                      <a:r>
                        <a:rPr lang="en-IN" sz="800" b="0" i="0" u="none" strike="noStrike" dirty="0">
                          <a:solidFill>
                            <a:srgbClr val="000000"/>
                          </a:solidFill>
                          <a:effectLst/>
                          <a:latin typeface="Verdana" panose="020B0604030504040204" pitchFamily="34" charset="0"/>
                        </a:rPr>
                        <a:t>25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Venture Energy Resources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33</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Sinha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Loan by IDCOL: BDT 200 million</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95598892"/>
                  </a:ext>
                </a:extLst>
              </a:tr>
              <a:tr h="389050">
                <a:tc>
                  <a:txBody>
                    <a:bodyPr/>
                    <a:lstStyle/>
                    <a:p>
                      <a:pPr algn="l" fontAlgn="t"/>
                      <a:r>
                        <a:rPr lang="en-IN" sz="800" b="0" i="0" u="none" strike="noStrike">
                          <a:solidFill>
                            <a:srgbClr val="000000"/>
                          </a:solidFill>
                          <a:effectLst/>
                          <a:latin typeface="Verdana" panose="020B0604030504040204" pitchFamily="34" charset="0"/>
                        </a:rPr>
                        <a:t>26</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Baraka Shikalbaha Power Ltd. 105 MW</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105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Baraka Power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Financed by local banks (BDT 5250 million)</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24701170"/>
                  </a:ext>
                </a:extLst>
              </a:tr>
              <a:tr h="389050">
                <a:tc>
                  <a:txBody>
                    <a:bodyPr/>
                    <a:lstStyle/>
                    <a:p>
                      <a:pPr algn="l" fontAlgn="t"/>
                      <a:r>
                        <a:rPr lang="en-IN" sz="800" b="0" i="0" u="none" strike="noStrike">
                          <a:solidFill>
                            <a:srgbClr val="000000"/>
                          </a:solidFill>
                          <a:effectLst/>
                          <a:latin typeface="Verdana" panose="020B0604030504040204" pitchFamily="34" charset="0"/>
                        </a:rPr>
                        <a:t>27</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Baraka Patenga Power Limited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50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Baraka Power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-Syndicated term loan of (BDT 2.2 billion) by United Commercial Bank </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a:t>
                      </a:r>
                      <a:r>
                        <a:rPr lang="en-US" sz="800" b="0" i="0" u="none" strike="noStrike" dirty="0" err="1">
                          <a:solidFill>
                            <a:srgbClr val="000000"/>
                          </a:solidFill>
                          <a:effectLst/>
                          <a:latin typeface="Verdana" panose="020B0604030504040204" pitchFamily="34" charset="0"/>
                        </a:rPr>
                        <a:t>Barakatullah</a:t>
                      </a:r>
                      <a:r>
                        <a:rPr lang="en-US" sz="800" b="0" i="0" u="none" strike="noStrike" dirty="0">
                          <a:solidFill>
                            <a:srgbClr val="000000"/>
                          </a:solidFill>
                          <a:effectLst/>
                          <a:latin typeface="Verdana" panose="020B0604030504040204" pitchFamily="34" charset="0"/>
                        </a:rPr>
                        <a:t> Electro Dynamics equity (USD 12.8 million)</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75462395"/>
                  </a:ext>
                </a:extLst>
              </a:tr>
              <a:tr h="389050">
                <a:tc>
                  <a:txBody>
                    <a:bodyPr/>
                    <a:lstStyle/>
                    <a:p>
                      <a:pPr algn="l" fontAlgn="t"/>
                      <a:r>
                        <a:rPr lang="en-IN" sz="800" b="0" i="0" u="none" strike="noStrike" dirty="0">
                          <a:solidFill>
                            <a:srgbClr val="000000"/>
                          </a:solidFill>
                          <a:effectLst/>
                          <a:latin typeface="Verdana" panose="020B0604030504040204" pitchFamily="34" charset="0"/>
                        </a:rPr>
                        <a:t>28</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ECPV Power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108</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err="1">
                          <a:solidFill>
                            <a:srgbClr val="000000"/>
                          </a:solidFill>
                          <a:effectLst/>
                          <a:latin typeface="Verdana" panose="020B0604030504040204" pitchFamily="34" charset="0"/>
                        </a:rPr>
                        <a:t>Energypac</a:t>
                      </a:r>
                      <a:r>
                        <a:rPr lang="en-IN" sz="800" b="0" i="0" u="none" strike="noStrike" dirty="0">
                          <a:solidFill>
                            <a:srgbClr val="000000"/>
                          </a:solidFill>
                          <a:effectLst/>
                          <a:latin typeface="Verdana" panose="020B0604030504040204" pitchFamily="34" charset="0"/>
                        </a:rPr>
                        <a:t> </a:t>
                      </a:r>
                      <a:r>
                        <a:rPr lang="en-IN" sz="800" b="0" i="0" u="none" strike="noStrike" dirty="0" err="1">
                          <a:solidFill>
                            <a:srgbClr val="000000"/>
                          </a:solidFill>
                          <a:effectLst/>
                          <a:latin typeface="Verdana" panose="020B0604030504040204" pitchFamily="34" charset="0"/>
                        </a:rPr>
                        <a:t>Powergeneration</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Loan:</a:t>
                      </a:r>
                      <a:br>
                        <a:rPr lang="en-IN" sz="800" b="0" i="0" u="none" strike="noStrike" dirty="0">
                          <a:solidFill>
                            <a:srgbClr val="000000"/>
                          </a:solidFill>
                          <a:effectLst/>
                          <a:latin typeface="Verdana" panose="020B0604030504040204" pitchFamily="34" charset="0"/>
                        </a:rPr>
                      </a:br>
                      <a:r>
                        <a:rPr lang="en-IN" sz="800" b="0" i="0" u="none" strike="noStrike" dirty="0">
                          <a:solidFill>
                            <a:srgbClr val="000000"/>
                          </a:solidFill>
                          <a:effectLst/>
                          <a:latin typeface="Verdana" panose="020B0604030504040204" pitchFamily="34" charset="0"/>
                        </a:rPr>
                        <a:t>-IDCOL: USD 30 million</a:t>
                      </a:r>
                      <a:br>
                        <a:rPr lang="en-IN" sz="800" b="0" i="0" u="none" strike="noStrike" dirty="0">
                          <a:solidFill>
                            <a:srgbClr val="000000"/>
                          </a:solidFill>
                          <a:effectLst/>
                          <a:latin typeface="Verdana" panose="020B0604030504040204" pitchFamily="34" charset="0"/>
                        </a:rPr>
                      </a:br>
                      <a:r>
                        <a:rPr lang="en-IN" sz="800" b="0" i="0" u="none" strike="noStrike" dirty="0">
                          <a:solidFill>
                            <a:srgbClr val="000000"/>
                          </a:solidFill>
                          <a:effectLst/>
                          <a:latin typeface="Verdana" panose="020B0604030504040204" pitchFamily="34" charset="0"/>
                        </a:rPr>
                        <a:t>- IDLC Finance Ltd: BDT 2.28 billion</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93478669"/>
                  </a:ext>
                </a:extLst>
              </a:tr>
            </a:tbl>
          </a:graphicData>
        </a:graphic>
      </p:graphicFrame>
      <p:sp>
        <p:nvSpPr>
          <p:cNvPr id="5" name="TextBox 4"/>
          <p:cNvSpPr txBox="1"/>
          <p:nvPr/>
        </p:nvSpPr>
        <p:spPr>
          <a:xfrm>
            <a:off x="8032166" y="7145499"/>
            <a:ext cx="2111475" cy="92333"/>
          </a:xfrm>
          <a:prstGeom prst="rect">
            <a:avLst/>
          </a:prstGeom>
          <a:noFill/>
        </p:spPr>
        <p:txBody>
          <a:bodyPr wrap="square" lIns="0" tIns="0" rIns="0" bIns="0" rtlCol="0">
            <a:spAutoFit/>
          </a:bodyPr>
          <a:lstStyle/>
          <a:p>
            <a:pPr fontAlgn="t"/>
            <a:r>
              <a:rPr lang="en-IN" sz="600" b="1" dirty="0">
                <a:solidFill>
                  <a:srgbClr val="000000"/>
                </a:solidFill>
                <a:latin typeface="+mj-lt"/>
              </a:rPr>
              <a:t>Legend</a:t>
            </a:r>
            <a:r>
              <a:rPr lang="en-IN" sz="600" dirty="0">
                <a:solidFill>
                  <a:srgbClr val="000000"/>
                </a:solidFill>
                <a:latin typeface="+mj-lt"/>
              </a:rPr>
              <a:t>:    </a:t>
            </a:r>
            <a:r>
              <a:rPr lang="en-IN" sz="600" dirty="0">
                <a:solidFill>
                  <a:srgbClr val="000000"/>
                </a:solidFill>
                <a:latin typeface="Wingdings" panose="05000000000000000000" pitchFamily="2" charset="2"/>
              </a:rPr>
              <a:t>ü </a:t>
            </a:r>
            <a:r>
              <a:rPr lang="en-IN" sz="600" dirty="0">
                <a:solidFill>
                  <a:srgbClr val="000000"/>
                </a:solidFill>
                <a:latin typeface="+mj-lt"/>
              </a:rPr>
              <a:t>Yes      </a:t>
            </a:r>
            <a:r>
              <a:rPr lang="en-IN" sz="600" dirty="0">
                <a:solidFill>
                  <a:srgbClr val="000000"/>
                </a:solidFill>
                <a:latin typeface="Wingdings" panose="05000000000000000000" pitchFamily="2" charset="2"/>
              </a:rPr>
              <a:t>û </a:t>
            </a:r>
            <a:r>
              <a:rPr lang="en-IN" sz="600" dirty="0">
                <a:solidFill>
                  <a:srgbClr val="000000"/>
                </a:solidFill>
                <a:latin typeface="+mj-lt"/>
              </a:rPr>
              <a:t>No       N/A: Not Available </a:t>
            </a:r>
            <a:endParaRPr lang="en-IN" sz="600" dirty="0">
              <a:solidFill>
                <a:srgbClr val="000000"/>
              </a:solidFill>
              <a:latin typeface="Wingdings" panose="05000000000000000000" pitchFamily="2" charset="2"/>
            </a:endParaRPr>
          </a:p>
        </p:txBody>
      </p:sp>
      <p:sp>
        <p:nvSpPr>
          <p:cNvPr id="9" name="SlideTitle"/>
          <p:cNvSpPr>
            <a:spLocks noGrp="1"/>
          </p:cNvSpPr>
          <p:nvPr>
            <p:ph type="title"/>
          </p:nvPr>
        </p:nvSpPr>
        <p:spPr>
          <a:xfrm>
            <a:off x="449993" y="647990"/>
            <a:ext cx="9791843" cy="431993"/>
          </a:xfrm>
        </p:spPr>
        <p:txBody>
          <a:bodyPr lIns="0" tIns="0" rIns="0" bIns="0" anchor="ctr">
            <a:noAutofit/>
          </a:bodyPr>
          <a:lstStyle/>
          <a:p>
            <a:r>
              <a:rPr lang="en-GB" dirty="0">
                <a:solidFill>
                  <a:srgbClr val="000000"/>
                </a:solidFill>
                <a:latin typeface="Verdana" panose="020B0604030504040204" pitchFamily="34" charset="0"/>
              </a:rPr>
              <a:t>Annexure N | Plant Sponsors - Commissioned</a:t>
            </a:r>
            <a:endParaRPr lang="en-GB" noProof="0" dirty="0">
              <a:solidFill>
                <a:srgbClr val="000000"/>
              </a:solidFill>
              <a:latin typeface="Verdana" panose="020B0604030504040204" pitchFamily="34" charset="0"/>
            </a:endParaRPr>
          </a:p>
        </p:txBody>
      </p:sp>
      <p:sp>
        <p:nvSpPr>
          <p:cNvPr id="10" name="Rectangle 9"/>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Industry Reports, Deloitte Analysis</a:t>
            </a:r>
          </a:p>
        </p:txBody>
      </p:sp>
    </p:spTree>
    <p:extLst>
      <p:ext uri="{BB962C8B-B14F-4D97-AF65-F5344CB8AC3E}">
        <p14:creationId xmlns:p14="http://schemas.microsoft.com/office/powerpoint/2010/main" val="2603895552"/>
      </p:ext>
    </p:extLst>
  </p:cSld>
  <p:clrMapOvr>
    <a:masterClrMapping/>
  </p:clrMapOvr>
  <p:transition>
    <p:fade/>
  </p:transition>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noChangeAspect="1"/>
          </p:cNvGraphicFramePr>
          <p:nvPr>
            <p:custDataLst>
              <p:tags r:id="rId1"/>
            </p:custDataLst>
            <p:extLst>
              <p:ext uri="{D42A27DB-BD31-4B8C-83A1-F6EECF244321}">
                <p14:modId xmlns:p14="http://schemas.microsoft.com/office/powerpoint/2010/main" val="19849081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6" name="Object 5"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4" name="Table 3"/>
          <p:cNvGraphicFramePr>
            <a:graphicFrameLocks noGrp="1"/>
          </p:cNvGraphicFramePr>
          <p:nvPr>
            <p:extLst>
              <p:ext uri="{D42A27DB-BD31-4B8C-83A1-F6EECF244321}">
                <p14:modId xmlns:p14="http://schemas.microsoft.com/office/powerpoint/2010/main" val="934626803"/>
              </p:ext>
            </p:extLst>
          </p:nvPr>
        </p:nvGraphicFramePr>
        <p:xfrm>
          <a:off x="449263" y="1697506"/>
          <a:ext cx="9791701" cy="5151120"/>
        </p:xfrm>
        <a:graphic>
          <a:graphicData uri="http://schemas.openxmlformats.org/drawingml/2006/table">
            <a:tbl>
              <a:tblPr firstRow="1">
                <a:tableStyleId>{3B4B98B0-60AC-42C2-AFA5-B58CD77FA1E5}</a:tableStyleId>
              </a:tblPr>
              <a:tblGrid>
                <a:gridCol w="475075">
                  <a:extLst>
                    <a:ext uri="{9D8B030D-6E8A-4147-A177-3AD203B41FA5}">
                      <a16:colId xmlns:a16="http://schemas.microsoft.com/office/drawing/2014/main" val="1711277910"/>
                    </a:ext>
                  </a:extLst>
                </a:gridCol>
                <a:gridCol w="1232895">
                  <a:extLst>
                    <a:ext uri="{9D8B030D-6E8A-4147-A177-3AD203B41FA5}">
                      <a16:colId xmlns:a16="http://schemas.microsoft.com/office/drawing/2014/main" val="3792385821"/>
                    </a:ext>
                  </a:extLst>
                </a:gridCol>
                <a:gridCol w="481464">
                  <a:extLst>
                    <a:ext uri="{9D8B030D-6E8A-4147-A177-3AD203B41FA5}">
                      <a16:colId xmlns:a16="http://schemas.microsoft.com/office/drawing/2014/main" val="396343871"/>
                    </a:ext>
                  </a:extLst>
                </a:gridCol>
                <a:gridCol w="722812">
                  <a:extLst>
                    <a:ext uri="{9D8B030D-6E8A-4147-A177-3AD203B41FA5}">
                      <a16:colId xmlns:a16="http://schemas.microsoft.com/office/drawing/2014/main" val="2529704633"/>
                    </a:ext>
                  </a:extLst>
                </a:gridCol>
                <a:gridCol w="740228">
                  <a:extLst>
                    <a:ext uri="{9D8B030D-6E8A-4147-A177-3AD203B41FA5}">
                      <a16:colId xmlns:a16="http://schemas.microsoft.com/office/drawing/2014/main" val="1132999821"/>
                    </a:ext>
                  </a:extLst>
                </a:gridCol>
                <a:gridCol w="746034">
                  <a:extLst>
                    <a:ext uri="{9D8B030D-6E8A-4147-A177-3AD203B41FA5}">
                      <a16:colId xmlns:a16="http://schemas.microsoft.com/office/drawing/2014/main" val="3691609938"/>
                    </a:ext>
                  </a:extLst>
                </a:gridCol>
                <a:gridCol w="746034">
                  <a:extLst>
                    <a:ext uri="{9D8B030D-6E8A-4147-A177-3AD203B41FA5}">
                      <a16:colId xmlns:a16="http://schemas.microsoft.com/office/drawing/2014/main" val="1090147686"/>
                    </a:ext>
                  </a:extLst>
                </a:gridCol>
                <a:gridCol w="746034">
                  <a:extLst>
                    <a:ext uri="{9D8B030D-6E8A-4147-A177-3AD203B41FA5}">
                      <a16:colId xmlns:a16="http://schemas.microsoft.com/office/drawing/2014/main" val="718023483"/>
                    </a:ext>
                  </a:extLst>
                </a:gridCol>
                <a:gridCol w="3901125">
                  <a:extLst>
                    <a:ext uri="{9D8B030D-6E8A-4147-A177-3AD203B41FA5}">
                      <a16:colId xmlns:a16="http://schemas.microsoft.com/office/drawing/2014/main" val="3494645373"/>
                    </a:ext>
                  </a:extLst>
                </a:gridCol>
              </a:tblGrid>
              <a:tr h="286359">
                <a:tc>
                  <a:txBody>
                    <a:bodyPr/>
                    <a:lstStyle/>
                    <a:p>
                      <a:pPr algn="l"/>
                      <a:r>
                        <a:rPr lang="en-US" sz="800" dirty="0">
                          <a:latin typeface="+mj-lt"/>
                        </a:rPr>
                        <a:t>Sr. No</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Name</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Fuel</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Installed Capacity</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Owner Group</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Foreign Loan</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MLA</a:t>
                      </a:r>
                      <a:r>
                        <a:rPr lang="en-US" sz="800" baseline="0" dirty="0">
                          <a:latin typeface="+mj-lt"/>
                        </a:rPr>
                        <a:t> Funding</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Foreign Equity</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Remarks</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60261459"/>
                  </a:ext>
                </a:extLst>
              </a:tr>
              <a:tr h="286359">
                <a:tc>
                  <a:txBody>
                    <a:bodyPr/>
                    <a:lstStyle/>
                    <a:p>
                      <a:pPr algn="l" fontAlgn="t"/>
                      <a:r>
                        <a:rPr lang="en-IN" sz="800" b="0" i="0" u="none" strike="noStrike" dirty="0">
                          <a:solidFill>
                            <a:srgbClr val="000000"/>
                          </a:solidFill>
                          <a:effectLst/>
                          <a:latin typeface="Verdana" panose="020B0604030504040204" pitchFamily="34" charset="0"/>
                        </a:rPr>
                        <a:t>29</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Sinha people Energy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51</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Sinha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-Syndicated Term loan (BDT 2180 million) by IIDFC, for which Banglaesh Infrastructure Finance Fund gave BDT 100 crore</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1729334"/>
                  </a:ext>
                </a:extLst>
              </a:tr>
              <a:tr h="286359">
                <a:tc>
                  <a:txBody>
                    <a:bodyPr/>
                    <a:lstStyle/>
                    <a:p>
                      <a:pPr algn="l" fontAlgn="t"/>
                      <a:r>
                        <a:rPr lang="en-IN" sz="800" b="0" i="0" u="none" strike="noStrike">
                          <a:solidFill>
                            <a:srgbClr val="000000"/>
                          </a:solidFill>
                          <a:effectLst/>
                          <a:latin typeface="Verdana" panose="020B0604030504040204" pitchFamily="34" charset="0"/>
                        </a:rPr>
                        <a:t>30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Amnura (Sinha Power Generation)</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50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Sinha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 Syndication of 2348.50 million BDT by IIDFC</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281155263"/>
                  </a:ext>
                </a:extLst>
              </a:tr>
              <a:tr h="390490">
                <a:tc>
                  <a:txBody>
                    <a:bodyPr/>
                    <a:lstStyle/>
                    <a:p>
                      <a:pPr algn="l" fontAlgn="t"/>
                      <a:r>
                        <a:rPr lang="en-IN" sz="800" b="0" i="0" u="none" strike="noStrike">
                          <a:solidFill>
                            <a:srgbClr val="000000"/>
                          </a:solidFill>
                          <a:effectLst/>
                          <a:latin typeface="Verdana" panose="020B0604030504040204" pitchFamily="34" charset="0"/>
                        </a:rPr>
                        <a:t>31</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Midland East Power .Ltd(MEPL) 150MW Ashuganj B baria</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150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Youth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 Local Eastern Bank (80% total cost) </a:t>
                      </a:r>
                      <a:br>
                        <a:rPr lang="en-US" sz="800" b="0" i="0" u="none" strike="noStrike">
                          <a:solidFill>
                            <a:srgbClr val="000000"/>
                          </a:solidFill>
                          <a:effectLst/>
                          <a:latin typeface="Verdana" panose="020B0604030504040204" pitchFamily="34" charset="0"/>
                        </a:rPr>
                      </a:br>
                      <a:r>
                        <a:rPr lang="en-US" sz="800" b="0" i="0" u="none" strike="noStrike">
                          <a:solidFill>
                            <a:srgbClr val="000000"/>
                          </a:solidFill>
                          <a:effectLst/>
                          <a:latin typeface="Verdana" panose="020B0604030504040204" pitchFamily="34" charset="0"/>
                        </a:rPr>
                        <a:t>- Viyelletex Group and Shahibazar power(20% cost)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959194176"/>
                  </a:ext>
                </a:extLst>
              </a:tr>
              <a:tr h="494620">
                <a:tc>
                  <a:txBody>
                    <a:bodyPr/>
                    <a:lstStyle/>
                    <a:p>
                      <a:pPr algn="l" fontAlgn="t"/>
                      <a:r>
                        <a:rPr lang="en-IN" sz="800" b="0" i="0" u="none" strike="noStrike">
                          <a:solidFill>
                            <a:srgbClr val="000000"/>
                          </a:solidFill>
                          <a:effectLst/>
                          <a:latin typeface="Verdana" panose="020B0604030504040204" pitchFamily="34" charset="0"/>
                        </a:rPr>
                        <a:t>32</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Paramount BTrac Energy Limited. , Bagabari, Sirajganj (200MW)</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HSD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200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Bangla Trac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6292697"/>
                  </a:ext>
                </a:extLst>
              </a:tr>
              <a:tr h="390490">
                <a:tc>
                  <a:txBody>
                    <a:bodyPr/>
                    <a:lstStyle/>
                    <a:p>
                      <a:pPr algn="l" fontAlgn="t"/>
                      <a:r>
                        <a:rPr lang="en-IN" sz="800" b="0" i="0" u="none" strike="noStrike">
                          <a:solidFill>
                            <a:srgbClr val="000000"/>
                          </a:solidFill>
                          <a:effectLst/>
                          <a:latin typeface="Verdana" panose="020B0604030504040204" pitchFamily="34" charset="0"/>
                        </a:rPr>
                        <a:t>33</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Desh Energy - Shiddhirgonj  100 MW</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HSD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100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Mohammadi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-City Bank: 3280 million BDT Syndicated financing facilities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43605956"/>
                  </a:ext>
                </a:extLst>
              </a:tr>
              <a:tr h="494620">
                <a:tc>
                  <a:txBody>
                    <a:bodyPr/>
                    <a:lstStyle/>
                    <a:p>
                      <a:pPr algn="l" fontAlgn="t"/>
                      <a:r>
                        <a:rPr lang="en-IN" sz="800" b="0" i="0" u="none" strike="noStrike">
                          <a:solidFill>
                            <a:srgbClr val="000000"/>
                          </a:solidFill>
                          <a:effectLst/>
                          <a:latin typeface="Verdana" panose="020B0604030504040204" pitchFamily="34" charset="0"/>
                        </a:rPr>
                        <a:t>34</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Bangla Trac Power Unit-ll Limited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HSD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100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Bangla Trac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mj-lt"/>
                        </a:rPr>
                        <a:t>N/A</a:t>
                      </a:r>
                      <a:endParaRPr lang="en-IN" sz="800" b="0" i="0" u="none" strike="noStrike" dirty="0">
                        <a:solidFill>
                          <a:srgbClr val="000000"/>
                        </a:solidFill>
                        <a:effectLst/>
                        <a:latin typeface="+mj-lt"/>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 Eastern Bank Limited raised syndication term loan of 465 Cr Tk.</a:t>
                      </a:r>
                      <a:br>
                        <a:rPr lang="en-IN" sz="800" b="0" i="0" u="none" strike="noStrike">
                          <a:solidFill>
                            <a:srgbClr val="000000"/>
                          </a:solidFill>
                          <a:effectLst/>
                          <a:latin typeface="Verdana" panose="020B0604030504040204" pitchFamily="34" charset="0"/>
                        </a:rPr>
                      </a:br>
                      <a:r>
                        <a:rPr lang="en-IN" sz="800" b="0" i="0" u="none" strike="noStrike">
                          <a:solidFill>
                            <a:srgbClr val="000000"/>
                          </a:solidFill>
                          <a:effectLst/>
                          <a:latin typeface="Verdana" panose="020B0604030504040204" pitchFamily="34" charset="0"/>
                        </a:rPr>
                        <a:t>- Other participating lenders: Bangladesh Infrastructure Finance Fund, Saudi Bangladesh Industrical and Agricultural Investment Company, Rupali Bank and Shahjalal Islami Bank</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614342930"/>
                  </a:ext>
                </a:extLst>
              </a:tr>
              <a:tr h="807012">
                <a:tc>
                  <a:txBody>
                    <a:bodyPr/>
                    <a:lstStyle/>
                    <a:p>
                      <a:pPr algn="l" fontAlgn="t"/>
                      <a:r>
                        <a:rPr lang="en-IN" sz="800" b="0" i="0" u="none" strike="noStrike">
                          <a:solidFill>
                            <a:srgbClr val="000000"/>
                          </a:solidFill>
                          <a:effectLst/>
                          <a:latin typeface="Verdana" panose="020B0604030504040204" pitchFamily="34" charset="0"/>
                        </a:rPr>
                        <a:t>35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GBB Power Limited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22</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GBB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Loan(BDT 84 Crore):</a:t>
                      </a:r>
                      <a:br>
                        <a:rPr lang="en-IN" sz="800" b="0" i="0" u="none" strike="noStrike">
                          <a:solidFill>
                            <a:srgbClr val="000000"/>
                          </a:solidFill>
                          <a:effectLst/>
                          <a:latin typeface="Verdana" panose="020B0604030504040204" pitchFamily="34" charset="0"/>
                        </a:rPr>
                      </a:br>
                      <a:r>
                        <a:rPr lang="en-IN" sz="800" b="0" i="0" u="none" strike="noStrike">
                          <a:solidFill>
                            <a:srgbClr val="000000"/>
                          </a:solidFill>
                          <a:effectLst/>
                          <a:latin typeface="Verdana" panose="020B0604030504040204" pitchFamily="34" charset="0"/>
                        </a:rPr>
                        <a:t>-Bank Asia and 9 other banks (Uttara Bank Ltd, IFIC Bank Ltd, United Commercial Bank Ltd, Dhaka Bank Ltd, NCC Bank Ltd, Premier Bank Ltd, Mutual Trust Bank Ltd and Bangladesh Commerce Bank Ltd)</a:t>
                      </a:r>
                      <a:br>
                        <a:rPr lang="en-IN" sz="800" b="0" i="0" u="none" strike="noStrike">
                          <a:solidFill>
                            <a:srgbClr val="000000"/>
                          </a:solidFill>
                          <a:effectLst/>
                          <a:latin typeface="Verdana" panose="020B0604030504040204" pitchFamily="34" charset="0"/>
                        </a:rPr>
                      </a:br>
                      <a:r>
                        <a:rPr lang="en-IN" sz="800" b="0" i="0" u="none" strike="noStrike">
                          <a:solidFill>
                            <a:srgbClr val="000000"/>
                          </a:solidFill>
                          <a:effectLst/>
                          <a:latin typeface="Verdana" panose="020B0604030504040204" pitchFamily="34" charset="0"/>
                        </a:rPr>
                        <a:t>Equity:</a:t>
                      </a:r>
                      <a:br>
                        <a:rPr lang="en-IN" sz="800" b="0" i="0" u="none" strike="noStrike">
                          <a:solidFill>
                            <a:srgbClr val="000000"/>
                          </a:solidFill>
                          <a:effectLst/>
                          <a:latin typeface="Verdana" panose="020B0604030504040204" pitchFamily="34" charset="0"/>
                        </a:rPr>
                      </a:br>
                      <a:r>
                        <a:rPr lang="en-IN" sz="800" b="0" i="0" u="none" strike="noStrike">
                          <a:solidFill>
                            <a:srgbClr val="000000"/>
                          </a:solidFill>
                          <a:effectLst/>
                          <a:latin typeface="Verdana" panose="020B0604030504040204" pitchFamily="34" charset="0"/>
                        </a:rPr>
                        <a:t>- Joint Venture Between GBB Group and Caladonian Power Limited</a:t>
                      </a:r>
                      <a:br>
                        <a:rPr lang="en-IN" sz="800" b="0" i="0" u="none" strike="noStrike">
                          <a:solidFill>
                            <a:srgbClr val="000000"/>
                          </a:solidFill>
                          <a:effectLst/>
                          <a:latin typeface="Verdana" panose="020B0604030504040204" pitchFamily="34" charset="0"/>
                        </a:rPr>
                      </a:br>
                      <a:endParaRPr lang="en-IN" sz="800" b="0" i="0" u="none" strike="noStrike">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95598892"/>
                  </a:ext>
                </a:extLst>
              </a:tr>
              <a:tr h="286359">
                <a:tc>
                  <a:txBody>
                    <a:bodyPr/>
                    <a:lstStyle/>
                    <a:p>
                      <a:pPr algn="l" fontAlgn="t"/>
                      <a:r>
                        <a:rPr lang="en-IN" sz="800" b="0" i="0" u="none" strike="noStrike">
                          <a:solidFill>
                            <a:srgbClr val="000000"/>
                          </a:solidFill>
                          <a:effectLst/>
                          <a:latin typeface="Verdana" panose="020B0604030504040204" pitchFamily="34" charset="0"/>
                        </a:rPr>
                        <a:t>36</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Kushiara Power Company Limited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163</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Max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endParaRPr lang="en-IN" sz="800" b="0" i="0" u="none" strike="noStrike">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Loan (USD 50 Million and BDT 3900 million) by IDCOL, Pubali Bank Ltd and NCC Bank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24701170"/>
                  </a:ext>
                </a:extLst>
              </a:tr>
              <a:tr h="390490">
                <a:tc>
                  <a:txBody>
                    <a:bodyPr/>
                    <a:lstStyle/>
                    <a:p>
                      <a:pPr algn="l" fontAlgn="t"/>
                      <a:r>
                        <a:rPr lang="en-IN" sz="800" b="0" i="0" u="none" strike="noStrike">
                          <a:solidFill>
                            <a:srgbClr val="000000"/>
                          </a:solidFill>
                          <a:effectLst/>
                          <a:latin typeface="Verdana" panose="020B0604030504040204" pitchFamily="34" charset="0"/>
                        </a:rPr>
                        <a:t>37</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NEPC Consortium Power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110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err="1">
                          <a:solidFill>
                            <a:srgbClr val="000000"/>
                          </a:solidFill>
                          <a:effectLst/>
                          <a:latin typeface="Verdana" panose="020B0604030504040204" pitchFamily="34" charset="0"/>
                        </a:rPr>
                        <a:t>Pendekar</a:t>
                      </a:r>
                      <a:r>
                        <a:rPr lang="en-IN" sz="800" b="0" i="0" u="none" strike="noStrike" dirty="0">
                          <a:solidFill>
                            <a:srgbClr val="000000"/>
                          </a:solidFill>
                          <a:effectLst/>
                          <a:latin typeface="Verdana" panose="020B0604030504040204" pitchFamily="34" charset="0"/>
                        </a:rPr>
                        <a:t>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 NEPC Consortium Power Limited is an indirect subsidiary of Pendekar Energy (L) Limited, a 55:45 joint venture company between the Group and </a:t>
                      </a:r>
                      <a:r>
                        <a:rPr lang="en-US" sz="800" b="0" i="0" u="none" strike="noStrike" dirty="0" err="1">
                          <a:solidFill>
                            <a:srgbClr val="000000"/>
                          </a:solidFill>
                          <a:effectLst/>
                          <a:latin typeface="Verdana" panose="020B0604030504040204" pitchFamily="34" charset="0"/>
                        </a:rPr>
                        <a:t>Aljomaih</a:t>
                      </a:r>
                      <a:r>
                        <a:rPr lang="en-US" sz="800" b="0" i="0" u="none" strike="noStrike" dirty="0">
                          <a:solidFill>
                            <a:srgbClr val="000000"/>
                          </a:solidFill>
                          <a:effectLst/>
                          <a:latin typeface="Verdana" panose="020B0604030504040204" pitchFamily="34" charset="0"/>
                        </a:rPr>
                        <a:t> Automotive Company Limited.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75462395"/>
                  </a:ext>
                </a:extLst>
              </a:tr>
              <a:tr h="286359">
                <a:tc>
                  <a:txBody>
                    <a:bodyPr/>
                    <a:lstStyle/>
                    <a:p>
                      <a:pPr algn="l" fontAlgn="t"/>
                      <a:r>
                        <a:rPr lang="en-IN" sz="800" b="0" i="0" u="none" strike="noStrike" dirty="0">
                          <a:solidFill>
                            <a:srgbClr val="000000"/>
                          </a:solidFill>
                          <a:effectLst/>
                          <a:latin typeface="Verdana" panose="020B0604030504040204" pitchFamily="34" charset="0"/>
                        </a:rPr>
                        <a:t>38</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APR Energy 300 MW</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HSD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300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APR Energy</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- 100% owned by APR Energy</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271593223"/>
                  </a:ext>
                </a:extLst>
              </a:tr>
            </a:tbl>
          </a:graphicData>
        </a:graphic>
      </p:graphicFrame>
      <p:sp>
        <p:nvSpPr>
          <p:cNvPr id="5" name="TextBox 4"/>
          <p:cNvSpPr txBox="1"/>
          <p:nvPr/>
        </p:nvSpPr>
        <p:spPr>
          <a:xfrm>
            <a:off x="8032166" y="7145499"/>
            <a:ext cx="2111475" cy="92333"/>
          </a:xfrm>
          <a:prstGeom prst="rect">
            <a:avLst/>
          </a:prstGeom>
          <a:noFill/>
        </p:spPr>
        <p:txBody>
          <a:bodyPr wrap="square" lIns="0" tIns="0" rIns="0" bIns="0" rtlCol="0">
            <a:spAutoFit/>
          </a:bodyPr>
          <a:lstStyle/>
          <a:p>
            <a:pPr fontAlgn="t"/>
            <a:r>
              <a:rPr lang="en-IN" sz="600" b="1" dirty="0">
                <a:solidFill>
                  <a:srgbClr val="000000"/>
                </a:solidFill>
                <a:latin typeface="+mj-lt"/>
              </a:rPr>
              <a:t>Legend</a:t>
            </a:r>
            <a:r>
              <a:rPr lang="en-IN" sz="600" dirty="0">
                <a:solidFill>
                  <a:srgbClr val="000000"/>
                </a:solidFill>
                <a:latin typeface="+mj-lt"/>
              </a:rPr>
              <a:t>:    </a:t>
            </a:r>
            <a:r>
              <a:rPr lang="en-IN" sz="600" dirty="0">
                <a:solidFill>
                  <a:srgbClr val="000000"/>
                </a:solidFill>
                <a:latin typeface="Wingdings" panose="05000000000000000000" pitchFamily="2" charset="2"/>
              </a:rPr>
              <a:t>ü </a:t>
            </a:r>
            <a:r>
              <a:rPr lang="en-IN" sz="600" dirty="0">
                <a:solidFill>
                  <a:srgbClr val="000000"/>
                </a:solidFill>
                <a:latin typeface="+mj-lt"/>
              </a:rPr>
              <a:t>Yes      </a:t>
            </a:r>
            <a:r>
              <a:rPr lang="en-IN" sz="600" dirty="0">
                <a:solidFill>
                  <a:srgbClr val="000000"/>
                </a:solidFill>
                <a:latin typeface="Wingdings" panose="05000000000000000000" pitchFamily="2" charset="2"/>
              </a:rPr>
              <a:t>û </a:t>
            </a:r>
            <a:r>
              <a:rPr lang="en-IN" sz="600" dirty="0">
                <a:solidFill>
                  <a:srgbClr val="000000"/>
                </a:solidFill>
                <a:latin typeface="+mj-lt"/>
              </a:rPr>
              <a:t>No       N/A: Not Available </a:t>
            </a:r>
            <a:endParaRPr lang="en-IN" sz="600" dirty="0">
              <a:solidFill>
                <a:srgbClr val="000000"/>
              </a:solidFill>
              <a:latin typeface="Wingdings" panose="05000000000000000000" pitchFamily="2" charset="2"/>
            </a:endParaRPr>
          </a:p>
        </p:txBody>
      </p:sp>
      <p:sp>
        <p:nvSpPr>
          <p:cNvPr id="7" name="SlideTitle"/>
          <p:cNvSpPr>
            <a:spLocks noGrp="1"/>
          </p:cNvSpPr>
          <p:nvPr>
            <p:ph type="title"/>
          </p:nvPr>
        </p:nvSpPr>
        <p:spPr>
          <a:xfrm>
            <a:off x="449993" y="647990"/>
            <a:ext cx="9791843" cy="431993"/>
          </a:xfrm>
        </p:spPr>
        <p:txBody>
          <a:bodyPr lIns="0" tIns="0" rIns="0" bIns="0" anchor="ctr">
            <a:noAutofit/>
          </a:bodyPr>
          <a:lstStyle/>
          <a:p>
            <a:r>
              <a:rPr lang="en-GB" dirty="0">
                <a:solidFill>
                  <a:srgbClr val="000000"/>
                </a:solidFill>
                <a:latin typeface="Verdana" panose="020B0604030504040204" pitchFamily="34" charset="0"/>
              </a:rPr>
              <a:t>Annexure N | Plant Sponsors - Commissioned</a:t>
            </a:r>
            <a:endParaRPr lang="en-GB" noProof="0" dirty="0">
              <a:solidFill>
                <a:srgbClr val="000000"/>
              </a:solidFill>
              <a:latin typeface="Verdana" panose="020B0604030504040204" pitchFamily="34" charset="0"/>
            </a:endParaRPr>
          </a:p>
        </p:txBody>
      </p:sp>
      <p:sp>
        <p:nvSpPr>
          <p:cNvPr id="8" name="Rectangle 7"/>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Industry Reports, Deloitte Analysis</a:t>
            </a:r>
          </a:p>
        </p:txBody>
      </p:sp>
    </p:spTree>
    <p:extLst>
      <p:ext uri="{BB962C8B-B14F-4D97-AF65-F5344CB8AC3E}">
        <p14:creationId xmlns:p14="http://schemas.microsoft.com/office/powerpoint/2010/main" val="236060992"/>
      </p:ext>
    </p:extLst>
  </p:cSld>
  <p:clrMapOvr>
    <a:masterClrMapping/>
  </p:clrMapOvr>
  <p:transition>
    <p:fade/>
  </p:transition>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ct 7" hidden="1"/>
          <p:cNvGraphicFramePr>
            <a:graphicFrameLocks noChangeAspect="1"/>
          </p:cNvGraphicFramePr>
          <p:nvPr>
            <p:custDataLst>
              <p:tags r:id="rId1"/>
            </p:custDataLst>
            <p:extLst>
              <p:ext uri="{D42A27DB-BD31-4B8C-83A1-F6EECF244321}">
                <p14:modId xmlns:p14="http://schemas.microsoft.com/office/powerpoint/2010/main" val="127927841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8" name="Object 7"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7" name="Rectangle 6"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4" name="Table 3"/>
          <p:cNvGraphicFramePr>
            <a:graphicFrameLocks noGrp="1"/>
          </p:cNvGraphicFramePr>
          <p:nvPr>
            <p:extLst>
              <p:ext uri="{D42A27DB-BD31-4B8C-83A1-F6EECF244321}">
                <p14:modId xmlns:p14="http://schemas.microsoft.com/office/powerpoint/2010/main" val="1699414466"/>
              </p:ext>
            </p:extLst>
          </p:nvPr>
        </p:nvGraphicFramePr>
        <p:xfrm>
          <a:off x="449263" y="1697508"/>
          <a:ext cx="9791701" cy="5324529"/>
        </p:xfrm>
        <a:graphic>
          <a:graphicData uri="http://schemas.openxmlformats.org/drawingml/2006/table">
            <a:tbl>
              <a:tblPr firstRow="1">
                <a:tableStyleId>{3B4B98B0-60AC-42C2-AFA5-B58CD77FA1E5}</a:tableStyleId>
              </a:tblPr>
              <a:tblGrid>
                <a:gridCol w="475075">
                  <a:extLst>
                    <a:ext uri="{9D8B030D-6E8A-4147-A177-3AD203B41FA5}">
                      <a16:colId xmlns:a16="http://schemas.microsoft.com/office/drawing/2014/main" val="1711277910"/>
                    </a:ext>
                  </a:extLst>
                </a:gridCol>
                <a:gridCol w="1232895">
                  <a:extLst>
                    <a:ext uri="{9D8B030D-6E8A-4147-A177-3AD203B41FA5}">
                      <a16:colId xmlns:a16="http://schemas.microsoft.com/office/drawing/2014/main" val="3792385821"/>
                    </a:ext>
                  </a:extLst>
                </a:gridCol>
                <a:gridCol w="481464">
                  <a:extLst>
                    <a:ext uri="{9D8B030D-6E8A-4147-A177-3AD203B41FA5}">
                      <a16:colId xmlns:a16="http://schemas.microsoft.com/office/drawing/2014/main" val="396343871"/>
                    </a:ext>
                  </a:extLst>
                </a:gridCol>
                <a:gridCol w="722812">
                  <a:extLst>
                    <a:ext uri="{9D8B030D-6E8A-4147-A177-3AD203B41FA5}">
                      <a16:colId xmlns:a16="http://schemas.microsoft.com/office/drawing/2014/main" val="2529704633"/>
                    </a:ext>
                  </a:extLst>
                </a:gridCol>
                <a:gridCol w="740228">
                  <a:extLst>
                    <a:ext uri="{9D8B030D-6E8A-4147-A177-3AD203B41FA5}">
                      <a16:colId xmlns:a16="http://schemas.microsoft.com/office/drawing/2014/main" val="1132999821"/>
                    </a:ext>
                  </a:extLst>
                </a:gridCol>
                <a:gridCol w="746034">
                  <a:extLst>
                    <a:ext uri="{9D8B030D-6E8A-4147-A177-3AD203B41FA5}">
                      <a16:colId xmlns:a16="http://schemas.microsoft.com/office/drawing/2014/main" val="3691609938"/>
                    </a:ext>
                  </a:extLst>
                </a:gridCol>
                <a:gridCol w="746034">
                  <a:extLst>
                    <a:ext uri="{9D8B030D-6E8A-4147-A177-3AD203B41FA5}">
                      <a16:colId xmlns:a16="http://schemas.microsoft.com/office/drawing/2014/main" val="1090147686"/>
                    </a:ext>
                  </a:extLst>
                </a:gridCol>
                <a:gridCol w="746034">
                  <a:extLst>
                    <a:ext uri="{9D8B030D-6E8A-4147-A177-3AD203B41FA5}">
                      <a16:colId xmlns:a16="http://schemas.microsoft.com/office/drawing/2014/main" val="718023483"/>
                    </a:ext>
                  </a:extLst>
                </a:gridCol>
                <a:gridCol w="3901125">
                  <a:extLst>
                    <a:ext uri="{9D8B030D-6E8A-4147-A177-3AD203B41FA5}">
                      <a16:colId xmlns:a16="http://schemas.microsoft.com/office/drawing/2014/main" val="3494645373"/>
                    </a:ext>
                  </a:extLst>
                </a:gridCol>
              </a:tblGrid>
              <a:tr h="262129">
                <a:tc>
                  <a:txBody>
                    <a:bodyPr/>
                    <a:lstStyle/>
                    <a:p>
                      <a:pPr algn="l"/>
                      <a:r>
                        <a:rPr lang="en-US" sz="800" dirty="0">
                          <a:latin typeface="+mj-lt"/>
                        </a:rPr>
                        <a:t>Sr. No</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Name</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Fuel</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Installed Capacity</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Owner Group</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Foreign Loan</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MLA</a:t>
                      </a:r>
                      <a:r>
                        <a:rPr lang="en-US" sz="800" baseline="0" dirty="0">
                          <a:latin typeface="+mj-lt"/>
                        </a:rPr>
                        <a:t> Funding</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Foreign Equity</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Remarks</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60261459"/>
                  </a:ext>
                </a:extLst>
              </a:tr>
              <a:tr h="262129">
                <a:tc>
                  <a:txBody>
                    <a:bodyPr/>
                    <a:lstStyle/>
                    <a:p>
                      <a:pPr algn="l" fontAlgn="t"/>
                      <a:r>
                        <a:rPr lang="en-IN" sz="800" b="0" i="0" u="none" strike="noStrike" dirty="0">
                          <a:solidFill>
                            <a:srgbClr val="000000"/>
                          </a:solidFill>
                          <a:effectLst/>
                          <a:latin typeface="Verdana" panose="020B0604030504040204" pitchFamily="34" charset="0"/>
                        </a:rPr>
                        <a:t>39</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DPA Power  Gen. Int.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HSD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50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Bangladesh Army</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-joint initiative of the Army-run Bangladesh Diesel Plant, Primordial Energy Ltd and Germany-based </a:t>
                      </a:r>
                      <a:r>
                        <a:rPr lang="en-US" sz="800" b="0" i="0" u="none" strike="noStrike" dirty="0" err="1">
                          <a:solidFill>
                            <a:srgbClr val="000000"/>
                          </a:solidFill>
                          <a:effectLst/>
                          <a:latin typeface="Verdana" panose="020B0604030504040204" pitchFamily="34" charset="0"/>
                        </a:rPr>
                        <a:t>Aggretech</a:t>
                      </a:r>
                      <a:r>
                        <a:rPr lang="en-US" sz="800" b="0" i="0" u="none" strike="noStrike" dirty="0">
                          <a:solidFill>
                            <a:srgbClr val="000000"/>
                          </a:solidFill>
                          <a:effectLst/>
                          <a:latin typeface="Verdana" panose="020B0604030504040204" pitchFamily="34" charset="0"/>
                        </a:rPr>
                        <a:t> AG</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93893729"/>
                  </a:ext>
                </a:extLst>
              </a:tr>
              <a:tr h="357448">
                <a:tc>
                  <a:txBody>
                    <a:bodyPr/>
                    <a:lstStyle/>
                    <a:p>
                      <a:pPr algn="l" fontAlgn="t"/>
                      <a:r>
                        <a:rPr lang="en-IN" sz="800" b="0" i="0" u="none" strike="noStrike">
                          <a:solidFill>
                            <a:srgbClr val="000000"/>
                          </a:solidFill>
                          <a:effectLst/>
                          <a:latin typeface="Verdana" panose="020B0604030504040204" pitchFamily="34" charset="0"/>
                        </a:rPr>
                        <a:t>40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Precision Energy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55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Anlima Yarn Dyeing</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841166589"/>
                  </a:ext>
                </a:extLst>
              </a:tr>
              <a:tr h="262129">
                <a:tc>
                  <a:txBody>
                    <a:bodyPr/>
                    <a:lstStyle/>
                    <a:p>
                      <a:pPr algn="l" fontAlgn="t"/>
                      <a:r>
                        <a:rPr lang="en-IN" sz="800" b="0" i="0" u="none" strike="noStrike">
                          <a:solidFill>
                            <a:srgbClr val="000000"/>
                          </a:solidFill>
                          <a:effectLst/>
                          <a:latin typeface="Verdana" panose="020B0604030504040204" pitchFamily="34" charset="0"/>
                        </a:rPr>
                        <a:t>41</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Regent Energy &amp; Power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22</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Habib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40133394"/>
                  </a:ext>
                </a:extLst>
              </a:tr>
              <a:tr h="262129">
                <a:tc>
                  <a:txBody>
                    <a:bodyPr/>
                    <a:lstStyle/>
                    <a:p>
                      <a:pPr algn="l" fontAlgn="t"/>
                      <a:r>
                        <a:rPr lang="en-IN" sz="800" b="0" i="0" u="none" strike="noStrike">
                          <a:solidFill>
                            <a:srgbClr val="000000"/>
                          </a:solidFill>
                          <a:effectLst/>
                          <a:latin typeface="Verdana" panose="020B0604030504040204" pitchFamily="34" charset="0"/>
                        </a:rPr>
                        <a:t>42</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Energyprima Limited, Kumargaon</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50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Hosaf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-Energyprima Limited (EPL), a sister concern of Hosaf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1729334"/>
                  </a:ext>
                </a:extLst>
              </a:tr>
              <a:tr h="357448">
                <a:tc>
                  <a:txBody>
                    <a:bodyPr/>
                    <a:lstStyle/>
                    <a:p>
                      <a:pPr algn="l" fontAlgn="t"/>
                      <a:r>
                        <a:rPr lang="en-IN" sz="800" b="0" i="0" u="none" strike="noStrike">
                          <a:solidFill>
                            <a:srgbClr val="000000"/>
                          </a:solidFill>
                          <a:effectLst/>
                          <a:latin typeface="Verdana" panose="020B0604030504040204" pitchFamily="34" charset="0"/>
                        </a:rPr>
                        <a:t>43</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Energyprima Limited, Shahjibazar</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50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Hosaf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-Energyprima Limited (EPL), a sister concern of Hosaf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281155263"/>
                  </a:ext>
                </a:extLst>
              </a:tr>
              <a:tr h="262129">
                <a:tc>
                  <a:txBody>
                    <a:bodyPr/>
                    <a:lstStyle/>
                    <a:p>
                      <a:pPr algn="l" fontAlgn="t"/>
                      <a:r>
                        <a:rPr lang="en-IN" sz="800" b="0" i="0" u="none" strike="noStrike">
                          <a:solidFill>
                            <a:srgbClr val="000000"/>
                          </a:solidFill>
                          <a:effectLst/>
                          <a:latin typeface="Verdana" panose="020B0604030504040204" pitchFamily="34" charset="0"/>
                        </a:rPr>
                        <a:t>44</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Energyprima Limited, Fenchugonj</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44</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Hosaf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-Energyprima Limited (EPL), a sister concern of Hosaf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959194176"/>
                  </a:ext>
                </a:extLst>
              </a:tr>
              <a:tr h="293096">
                <a:tc>
                  <a:txBody>
                    <a:bodyPr/>
                    <a:lstStyle/>
                    <a:p>
                      <a:pPr algn="l" fontAlgn="t"/>
                      <a:r>
                        <a:rPr lang="en-IN" sz="800" b="0" i="0" u="none" strike="noStrike">
                          <a:solidFill>
                            <a:srgbClr val="000000"/>
                          </a:solidFill>
                          <a:effectLst/>
                          <a:latin typeface="Verdana" panose="020B0604030504040204" pitchFamily="34" charset="0"/>
                        </a:rPr>
                        <a:t>45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err="1">
                          <a:solidFill>
                            <a:srgbClr val="000000"/>
                          </a:solidFill>
                          <a:effectLst/>
                          <a:latin typeface="Verdana" panose="020B0604030504040204" pitchFamily="34" charset="0"/>
                        </a:rPr>
                        <a:t>Energyprima</a:t>
                      </a:r>
                      <a:r>
                        <a:rPr lang="en-IN" sz="800" b="0" i="0" u="none" strike="noStrike" dirty="0">
                          <a:solidFill>
                            <a:srgbClr val="000000"/>
                          </a:solidFill>
                          <a:effectLst/>
                          <a:latin typeface="Verdana" panose="020B0604030504040204" pitchFamily="34" charset="0"/>
                        </a:rPr>
                        <a:t> Limited, </a:t>
                      </a:r>
                      <a:r>
                        <a:rPr lang="en-IN" sz="800" b="0" i="0" u="none" strike="noStrike" dirty="0" err="1">
                          <a:solidFill>
                            <a:srgbClr val="000000"/>
                          </a:solidFill>
                          <a:effectLst/>
                          <a:latin typeface="Verdana" panose="020B0604030504040204" pitchFamily="34" charset="0"/>
                        </a:rPr>
                        <a:t>Bogra</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20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Hosaf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-Energyprima Limited (EPL), a sister concern of Hosaf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6292697"/>
                  </a:ext>
                </a:extLst>
              </a:tr>
              <a:tr h="231391">
                <a:tc>
                  <a:txBody>
                    <a:bodyPr/>
                    <a:lstStyle/>
                    <a:p>
                      <a:pPr algn="l" fontAlgn="t"/>
                      <a:r>
                        <a:rPr lang="en-IN" sz="800" b="0" i="0" u="none" strike="noStrike">
                          <a:solidFill>
                            <a:srgbClr val="000000"/>
                          </a:solidFill>
                          <a:effectLst/>
                          <a:latin typeface="Verdana" panose="020B0604030504040204" pitchFamily="34" charset="0"/>
                        </a:rPr>
                        <a:t>46</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Max Power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78.5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Max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43605956"/>
                  </a:ext>
                </a:extLst>
              </a:tr>
              <a:tr h="357448">
                <a:tc>
                  <a:txBody>
                    <a:bodyPr/>
                    <a:lstStyle/>
                    <a:p>
                      <a:pPr algn="l" fontAlgn="t"/>
                      <a:r>
                        <a:rPr lang="en-IN" sz="800" b="0" i="0" u="none" strike="noStrike">
                          <a:solidFill>
                            <a:srgbClr val="000000"/>
                          </a:solidFill>
                          <a:effectLst/>
                          <a:latin typeface="Verdana" panose="020B0604030504040204" pitchFamily="34" charset="0"/>
                        </a:rPr>
                        <a:t>47</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Desh Cambridge Kumargaon Power Co.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Mohammadi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614342930"/>
                  </a:ext>
                </a:extLst>
              </a:tr>
              <a:tr h="478209">
                <a:tc>
                  <a:txBody>
                    <a:bodyPr/>
                    <a:lstStyle/>
                    <a:p>
                      <a:pPr algn="l" fontAlgn="t"/>
                      <a:r>
                        <a:rPr lang="en-IN" sz="800" b="0" i="0" u="none" strike="noStrike">
                          <a:solidFill>
                            <a:srgbClr val="000000"/>
                          </a:solidFill>
                          <a:effectLst/>
                          <a:latin typeface="Verdana" panose="020B0604030504040204" pitchFamily="34" charset="0"/>
                        </a:rPr>
                        <a:t>48</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Summmit Purbanchal Power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33</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Summit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95598892"/>
                  </a:ext>
                </a:extLst>
              </a:tr>
              <a:tr h="262129">
                <a:tc>
                  <a:txBody>
                    <a:bodyPr/>
                    <a:lstStyle/>
                    <a:p>
                      <a:pPr algn="l" fontAlgn="t"/>
                      <a:r>
                        <a:rPr lang="en-IN" sz="800" b="0" i="0" u="none" strike="noStrike">
                          <a:solidFill>
                            <a:srgbClr val="000000"/>
                          </a:solidFill>
                          <a:effectLst/>
                          <a:latin typeface="Verdana" panose="020B0604030504040204" pitchFamily="34" charset="0"/>
                        </a:rPr>
                        <a:t>49</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Shahjanullah Power Generation Co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25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United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24701170"/>
                  </a:ext>
                </a:extLst>
              </a:tr>
              <a:tr h="262129">
                <a:tc>
                  <a:txBody>
                    <a:bodyPr/>
                    <a:lstStyle/>
                    <a:p>
                      <a:pPr algn="l" fontAlgn="t"/>
                      <a:r>
                        <a:rPr lang="en-IN" sz="800" b="0" i="0" u="none" strike="noStrike">
                          <a:solidFill>
                            <a:srgbClr val="000000"/>
                          </a:solidFill>
                          <a:effectLst/>
                          <a:latin typeface="Verdana" panose="020B0604030504040204" pitchFamily="34" charset="0"/>
                        </a:rPr>
                        <a:t>50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Shahjibazar Power Co.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86</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Youth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75462395"/>
                  </a:ext>
                </a:extLst>
              </a:tr>
              <a:tr h="262129">
                <a:tc>
                  <a:txBody>
                    <a:bodyPr/>
                    <a:lstStyle/>
                    <a:p>
                      <a:pPr algn="l" fontAlgn="t"/>
                      <a:r>
                        <a:rPr lang="en-IN" sz="800" b="0" i="0" u="none" strike="noStrike" dirty="0">
                          <a:solidFill>
                            <a:srgbClr val="000000"/>
                          </a:solidFill>
                          <a:effectLst/>
                          <a:latin typeface="Verdana" panose="020B0604030504040204" pitchFamily="34" charset="0"/>
                        </a:rPr>
                        <a:t>51</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Midland Power Company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51</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Youth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-Joint venture effort between </a:t>
                      </a:r>
                      <a:r>
                        <a:rPr lang="en-US" sz="800" b="0" i="0" u="none" strike="noStrike" dirty="0" err="1">
                          <a:solidFill>
                            <a:srgbClr val="000000"/>
                          </a:solidFill>
                          <a:effectLst/>
                          <a:latin typeface="Verdana" panose="020B0604030504040204" pitchFamily="34" charset="0"/>
                        </a:rPr>
                        <a:t>Viyellatex</a:t>
                      </a:r>
                      <a:r>
                        <a:rPr lang="en-US" sz="800" b="0" i="0" u="none" strike="noStrike" dirty="0">
                          <a:solidFill>
                            <a:srgbClr val="000000"/>
                          </a:solidFill>
                          <a:effectLst/>
                          <a:latin typeface="Verdana" panose="020B0604030504040204" pitchFamily="34" charset="0"/>
                        </a:rPr>
                        <a:t> Group and </a:t>
                      </a:r>
                      <a:r>
                        <a:rPr lang="en-US" sz="800" b="0" i="0" u="none" strike="noStrike" dirty="0" err="1">
                          <a:solidFill>
                            <a:srgbClr val="000000"/>
                          </a:solidFill>
                          <a:effectLst/>
                          <a:latin typeface="Verdana" panose="020B0604030504040204" pitchFamily="34" charset="0"/>
                        </a:rPr>
                        <a:t>Shahjibazar</a:t>
                      </a:r>
                      <a:r>
                        <a:rPr lang="en-US" sz="800" b="0" i="0" u="none" strike="noStrike" dirty="0">
                          <a:solidFill>
                            <a:srgbClr val="000000"/>
                          </a:solidFill>
                          <a:effectLst/>
                          <a:latin typeface="Verdana" panose="020B0604030504040204" pitchFamily="34" charset="0"/>
                        </a:rPr>
                        <a:t> Power Company Limited (49%)</a:t>
                      </a:r>
                      <a:br>
                        <a:rPr lang="en-US" sz="800" b="0" i="0" u="none" strike="noStrike" dirty="0">
                          <a:solidFill>
                            <a:srgbClr val="000000"/>
                          </a:solidFill>
                          <a:effectLst/>
                          <a:latin typeface="Verdana" panose="020B0604030504040204" pitchFamily="34" charset="0"/>
                        </a:rPr>
                      </a:br>
                      <a:endParaRPr lang="en-US"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273143908"/>
                  </a:ext>
                </a:extLst>
              </a:tr>
            </a:tbl>
          </a:graphicData>
        </a:graphic>
      </p:graphicFrame>
      <p:sp>
        <p:nvSpPr>
          <p:cNvPr id="5" name="TextBox 4"/>
          <p:cNvSpPr txBox="1"/>
          <p:nvPr/>
        </p:nvSpPr>
        <p:spPr>
          <a:xfrm>
            <a:off x="8032166" y="7145499"/>
            <a:ext cx="2111475" cy="92333"/>
          </a:xfrm>
          <a:prstGeom prst="rect">
            <a:avLst/>
          </a:prstGeom>
          <a:noFill/>
        </p:spPr>
        <p:txBody>
          <a:bodyPr wrap="square" lIns="0" tIns="0" rIns="0" bIns="0" rtlCol="0">
            <a:spAutoFit/>
          </a:bodyPr>
          <a:lstStyle/>
          <a:p>
            <a:pPr fontAlgn="t"/>
            <a:r>
              <a:rPr lang="en-IN" sz="600" b="1" dirty="0">
                <a:solidFill>
                  <a:srgbClr val="000000"/>
                </a:solidFill>
                <a:latin typeface="+mj-lt"/>
              </a:rPr>
              <a:t>Legend</a:t>
            </a:r>
            <a:r>
              <a:rPr lang="en-IN" sz="600" dirty="0">
                <a:solidFill>
                  <a:srgbClr val="000000"/>
                </a:solidFill>
                <a:latin typeface="+mj-lt"/>
              </a:rPr>
              <a:t>:    </a:t>
            </a:r>
            <a:r>
              <a:rPr lang="en-IN" sz="600" dirty="0">
                <a:solidFill>
                  <a:srgbClr val="000000"/>
                </a:solidFill>
                <a:latin typeface="Wingdings" panose="05000000000000000000" pitchFamily="2" charset="2"/>
              </a:rPr>
              <a:t>ü </a:t>
            </a:r>
            <a:r>
              <a:rPr lang="en-IN" sz="600" dirty="0">
                <a:solidFill>
                  <a:srgbClr val="000000"/>
                </a:solidFill>
                <a:latin typeface="+mj-lt"/>
              </a:rPr>
              <a:t>Yes      </a:t>
            </a:r>
            <a:r>
              <a:rPr lang="en-IN" sz="600" dirty="0">
                <a:solidFill>
                  <a:srgbClr val="000000"/>
                </a:solidFill>
                <a:latin typeface="Wingdings" panose="05000000000000000000" pitchFamily="2" charset="2"/>
              </a:rPr>
              <a:t>û </a:t>
            </a:r>
            <a:r>
              <a:rPr lang="en-IN" sz="600" dirty="0">
                <a:solidFill>
                  <a:srgbClr val="000000"/>
                </a:solidFill>
                <a:latin typeface="+mj-lt"/>
              </a:rPr>
              <a:t>No       N/A: Not Available </a:t>
            </a:r>
            <a:endParaRPr lang="en-IN" sz="600" dirty="0">
              <a:solidFill>
                <a:srgbClr val="000000"/>
              </a:solidFill>
              <a:latin typeface="Wingdings" panose="05000000000000000000" pitchFamily="2" charset="2"/>
            </a:endParaRPr>
          </a:p>
        </p:txBody>
      </p:sp>
      <p:sp>
        <p:nvSpPr>
          <p:cNvPr id="6" name="SlideTitle"/>
          <p:cNvSpPr>
            <a:spLocks noGrp="1"/>
          </p:cNvSpPr>
          <p:nvPr>
            <p:ph type="title"/>
          </p:nvPr>
        </p:nvSpPr>
        <p:spPr>
          <a:xfrm>
            <a:off x="449993" y="647990"/>
            <a:ext cx="9791843" cy="431993"/>
          </a:xfrm>
        </p:spPr>
        <p:txBody>
          <a:bodyPr lIns="0" tIns="0" rIns="0" bIns="0" anchor="ctr">
            <a:noAutofit/>
          </a:bodyPr>
          <a:lstStyle/>
          <a:p>
            <a:r>
              <a:rPr lang="en-GB" dirty="0">
                <a:solidFill>
                  <a:srgbClr val="000000"/>
                </a:solidFill>
                <a:latin typeface="Verdana" panose="020B0604030504040204" pitchFamily="34" charset="0"/>
              </a:rPr>
              <a:t>Annexure N | Plant Sponsors - Commissioned</a:t>
            </a:r>
            <a:endParaRPr lang="en-GB" noProof="0" dirty="0">
              <a:solidFill>
                <a:srgbClr val="000000"/>
              </a:solidFill>
              <a:latin typeface="Verdana" panose="020B0604030504040204" pitchFamily="34" charset="0"/>
            </a:endParaRPr>
          </a:p>
        </p:txBody>
      </p:sp>
      <p:sp>
        <p:nvSpPr>
          <p:cNvPr id="9" name="Rectangle 8"/>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Industry Reports, Deloitte Analysis</a:t>
            </a:r>
          </a:p>
        </p:txBody>
      </p:sp>
    </p:spTree>
    <p:extLst>
      <p:ext uri="{BB962C8B-B14F-4D97-AF65-F5344CB8AC3E}">
        <p14:creationId xmlns:p14="http://schemas.microsoft.com/office/powerpoint/2010/main" val="357064124"/>
      </p:ext>
    </p:extLst>
  </p:cSld>
  <p:clrMapOvr>
    <a:masterClrMapping/>
  </p:clrMapOvr>
  <p:transition>
    <p:fade/>
  </p:transition>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ct 7" hidden="1"/>
          <p:cNvGraphicFramePr>
            <a:graphicFrameLocks noChangeAspect="1"/>
          </p:cNvGraphicFramePr>
          <p:nvPr>
            <p:custDataLst>
              <p:tags r:id="rId1"/>
            </p:custDataLst>
            <p:extLst>
              <p:ext uri="{D42A27DB-BD31-4B8C-83A1-F6EECF244321}">
                <p14:modId xmlns:p14="http://schemas.microsoft.com/office/powerpoint/2010/main" val="100718639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8" name="Object 7"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7" name="Rectangle 6"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4" name="Table 3"/>
          <p:cNvGraphicFramePr>
            <a:graphicFrameLocks noGrp="1"/>
          </p:cNvGraphicFramePr>
          <p:nvPr>
            <p:extLst>
              <p:ext uri="{D42A27DB-BD31-4B8C-83A1-F6EECF244321}">
                <p14:modId xmlns:p14="http://schemas.microsoft.com/office/powerpoint/2010/main" val="3771514999"/>
              </p:ext>
            </p:extLst>
          </p:nvPr>
        </p:nvGraphicFramePr>
        <p:xfrm>
          <a:off x="449263" y="1697509"/>
          <a:ext cx="9791701" cy="5212080"/>
        </p:xfrm>
        <a:graphic>
          <a:graphicData uri="http://schemas.openxmlformats.org/drawingml/2006/table">
            <a:tbl>
              <a:tblPr firstRow="1">
                <a:tableStyleId>{3B4B98B0-60AC-42C2-AFA5-B58CD77FA1E5}</a:tableStyleId>
              </a:tblPr>
              <a:tblGrid>
                <a:gridCol w="475075">
                  <a:extLst>
                    <a:ext uri="{9D8B030D-6E8A-4147-A177-3AD203B41FA5}">
                      <a16:colId xmlns:a16="http://schemas.microsoft.com/office/drawing/2014/main" val="1711277910"/>
                    </a:ext>
                  </a:extLst>
                </a:gridCol>
                <a:gridCol w="1232895">
                  <a:extLst>
                    <a:ext uri="{9D8B030D-6E8A-4147-A177-3AD203B41FA5}">
                      <a16:colId xmlns:a16="http://schemas.microsoft.com/office/drawing/2014/main" val="3792385821"/>
                    </a:ext>
                  </a:extLst>
                </a:gridCol>
                <a:gridCol w="481464">
                  <a:extLst>
                    <a:ext uri="{9D8B030D-6E8A-4147-A177-3AD203B41FA5}">
                      <a16:colId xmlns:a16="http://schemas.microsoft.com/office/drawing/2014/main" val="396343871"/>
                    </a:ext>
                  </a:extLst>
                </a:gridCol>
                <a:gridCol w="722812">
                  <a:extLst>
                    <a:ext uri="{9D8B030D-6E8A-4147-A177-3AD203B41FA5}">
                      <a16:colId xmlns:a16="http://schemas.microsoft.com/office/drawing/2014/main" val="2529704633"/>
                    </a:ext>
                  </a:extLst>
                </a:gridCol>
                <a:gridCol w="740228">
                  <a:extLst>
                    <a:ext uri="{9D8B030D-6E8A-4147-A177-3AD203B41FA5}">
                      <a16:colId xmlns:a16="http://schemas.microsoft.com/office/drawing/2014/main" val="1132999821"/>
                    </a:ext>
                  </a:extLst>
                </a:gridCol>
                <a:gridCol w="746034">
                  <a:extLst>
                    <a:ext uri="{9D8B030D-6E8A-4147-A177-3AD203B41FA5}">
                      <a16:colId xmlns:a16="http://schemas.microsoft.com/office/drawing/2014/main" val="3691609938"/>
                    </a:ext>
                  </a:extLst>
                </a:gridCol>
                <a:gridCol w="746034">
                  <a:extLst>
                    <a:ext uri="{9D8B030D-6E8A-4147-A177-3AD203B41FA5}">
                      <a16:colId xmlns:a16="http://schemas.microsoft.com/office/drawing/2014/main" val="1090147686"/>
                    </a:ext>
                  </a:extLst>
                </a:gridCol>
                <a:gridCol w="746034">
                  <a:extLst>
                    <a:ext uri="{9D8B030D-6E8A-4147-A177-3AD203B41FA5}">
                      <a16:colId xmlns:a16="http://schemas.microsoft.com/office/drawing/2014/main" val="718023483"/>
                    </a:ext>
                  </a:extLst>
                </a:gridCol>
                <a:gridCol w="3901125">
                  <a:extLst>
                    <a:ext uri="{9D8B030D-6E8A-4147-A177-3AD203B41FA5}">
                      <a16:colId xmlns:a16="http://schemas.microsoft.com/office/drawing/2014/main" val="3494645373"/>
                    </a:ext>
                  </a:extLst>
                </a:gridCol>
              </a:tblGrid>
              <a:tr h="271740">
                <a:tc>
                  <a:txBody>
                    <a:bodyPr/>
                    <a:lstStyle/>
                    <a:p>
                      <a:pPr algn="l"/>
                      <a:r>
                        <a:rPr lang="en-US" sz="800" dirty="0">
                          <a:latin typeface="+mj-lt"/>
                        </a:rPr>
                        <a:t>Sr. No</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Name</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Fuel</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Installed Capacity</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Owner Group</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Foreign Loan</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MLA</a:t>
                      </a:r>
                      <a:r>
                        <a:rPr lang="en-US" sz="800" baseline="0" dirty="0">
                          <a:latin typeface="+mj-lt"/>
                        </a:rPr>
                        <a:t> Funding</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Foreign Equity</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Remarks</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60261459"/>
                  </a:ext>
                </a:extLst>
              </a:tr>
              <a:tr h="370554">
                <a:tc>
                  <a:txBody>
                    <a:bodyPr/>
                    <a:lstStyle/>
                    <a:p>
                      <a:pPr algn="l" fontAlgn="t"/>
                      <a:r>
                        <a:rPr lang="en-IN" sz="800" b="0" i="0" u="none" strike="noStrike" dirty="0">
                          <a:solidFill>
                            <a:srgbClr val="000000"/>
                          </a:solidFill>
                          <a:effectLst/>
                          <a:latin typeface="Verdana" panose="020B0604030504040204" pitchFamily="34" charset="0"/>
                        </a:rPr>
                        <a:t>52</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Acorn Infracture Services Unit-3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100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Bangla </a:t>
                      </a:r>
                      <a:r>
                        <a:rPr lang="en-IN" sz="800" b="0" i="0" u="none" strike="noStrike" dirty="0" err="1">
                          <a:solidFill>
                            <a:srgbClr val="000000"/>
                          </a:solidFill>
                          <a:effectLst/>
                          <a:latin typeface="Verdana" panose="020B0604030504040204" pitchFamily="34" charset="0"/>
                        </a:rPr>
                        <a:t>Trac</a:t>
                      </a:r>
                      <a:r>
                        <a:rPr lang="en-IN" sz="800" b="0" i="0" u="none" strike="noStrike" dirty="0">
                          <a:solidFill>
                            <a:srgbClr val="000000"/>
                          </a:solidFill>
                          <a:effectLst/>
                          <a:latin typeface="Verdana" panose="020B0604030504040204" pitchFamily="34" charset="0"/>
                        </a:rPr>
                        <a:t>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93893729"/>
                  </a:ext>
                </a:extLst>
              </a:tr>
              <a:tr h="370554">
                <a:tc>
                  <a:txBody>
                    <a:bodyPr/>
                    <a:lstStyle/>
                    <a:p>
                      <a:pPr algn="l" fontAlgn="t"/>
                      <a:r>
                        <a:rPr lang="en-IN" sz="800" b="0" i="0" u="none" strike="noStrike">
                          <a:solidFill>
                            <a:srgbClr val="000000"/>
                          </a:solidFill>
                          <a:effectLst/>
                          <a:latin typeface="Verdana" panose="020B0604030504040204" pitchFamily="34" charset="0"/>
                        </a:rPr>
                        <a:t>53</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Acron Infrastructure Services Ltd (Julda)</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100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Bangla Trac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841166589"/>
                  </a:ext>
                </a:extLst>
              </a:tr>
              <a:tr h="370554">
                <a:tc>
                  <a:txBody>
                    <a:bodyPr/>
                    <a:lstStyle/>
                    <a:p>
                      <a:pPr algn="l" fontAlgn="t"/>
                      <a:r>
                        <a:rPr lang="en-IN" sz="800" b="0" i="0" u="none" strike="noStrike">
                          <a:solidFill>
                            <a:srgbClr val="000000"/>
                          </a:solidFill>
                          <a:effectLst/>
                          <a:latin typeface="Verdana" panose="020B0604030504040204" pitchFamily="34" charset="0"/>
                        </a:rPr>
                        <a:t>54</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Confidence Power Bogra Unit-2 Limited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113</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Confidence Cement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40133394"/>
                  </a:ext>
                </a:extLst>
              </a:tr>
              <a:tr h="271740">
                <a:tc>
                  <a:txBody>
                    <a:bodyPr/>
                    <a:lstStyle/>
                    <a:p>
                      <a:pPr algn="l" fontAlgn="t"/>
                      <a:r>
                        <a:rPr lang="en-IN" sz="800" b="0" i="0" u="none" strike="noStrike">
                          <a:solidFill>
                            <a:srgbClr val="000000"/>
                          </a:solidFill>
                          <a:effectLst/>
                          <a:latin typeface="Verdana" panose="020B0604030504040204" pitchFamily="34" charset="0"/>
                        </a:rPr>
                        <a:t>55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CLC Power Company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108</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Maisha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1729334"/>
                  </a:ext>
                </a:extLst>
              </a:tr>
              <a:tr h="469369">
                <a:tc>
                  <a:txBody>
                    <a:bodyPr/>
                    <a:lstStyle/>
                    <a:p>
                      <a:pPr algn="l" fontAlgn="t"/>
                      <a:r>
                        <a:rPr lang="en-IN" sz="800" b="0" i="0" u="none" strike="noStrike">
                          <a:solidFill>
                            <a:srgbClr val="000000"/>
                          </a:solidFill>
                          <a:effectLst/>
                          <a:latin typeface="Verdana" panose="020B0604030504040204" pitchFamily="34" charset="0"/>
                        </a:rPr>
                        <a:t>56</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Desh Energy Chandpur Power Company  Ltd. (DECPCL)</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200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Mohammadi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281155263"/>
                  </a:ext>
                </a:extLst>
              </a:tr>
              <a:tr h="271740">
                <a:tc>
                  <a:txBody>
                    <a:bodyPr/>
                    <a:lstStyle/>
                    <a:p>
                      <a:pPr algn="l" fontAlgn="t"/>
                      <a:r>
                        <a:rPr lang="en-IN" sz="800" b="0" i="0" u="none" strike="noStrike">
                          <a:solidFill>
                            <a:srgbClr val="000000"/>
                          </a:solidFill>
                          <a:effectLst/>
                          <a:latin typeface="Verdana" panose="020B0604030504040204" pitchFamily="34" charset="0"/>
                        </a:rPr>
                        <a:t>57</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Digital Power &amp; Associates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102</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Orion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959194176"/>
                  </a:ext>
                </a:extLst>
              </a:tr>
              <a:tr h="271740">
                <a:tc>
                  <a:txBody>
                    <a:bodyPr/>
                    <a:lstStyle/>
                    <a:p>
                      <a:pPr algn="l" fontAlgn="t"/>
                      <a:r>
                        <a:rPr lang="en-IN" sz="800" b="0" i="0" u="none" strike="noStrike">
                          <a:solidFill>
                            <a:srgbClr val="000000"/>
                          </a:solidFill>
                          <a:effectLst/>
                          <a:latin typeface="Verdana" panose="020B0604030504040204" pitchFamily="34" charset="0"/>
                        </a:rPr>
                        <a:t>58</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err="1">
                          <a:solidFill>
                            <a:srgbClr val="000000"/>
                          </a:solidFill>
                          <a:effectLst/>
                          <a:latin typeface="Verdana" panose="020B0604030504040204" pitchFamily="34" charset="0"/>
                        </a:rPr>
                        <a:t>Energis</a:t>
                      </a:r>
                      <a:r>
                        <a:rPr lang="en-IN" sz="800" b="0" i="0" u="none" strike="noStrike" dirty="0">
                          <a:solidFill>
                            <a:srgbClr val="000000"/>
                          </a:solidFill>
                          <a:effectLst/>
                          <a:latin typeface="Verdana" panose="020B0604030504040204" pitchFamily="34" charset="0"/>
                        </a:rPr>
                        <a:t> Power Corporation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51</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Shaha Denims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-Energis Power Corporation is a subsidiary of Shasha Denims Limited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6292697"/>
                  </a:ext>
                </a:extLst>
              </a:tr>
              <a:tr h="271740">
                <a:tc>
                  <a:txBody>
                    <a:bodyPr/>
                    <a:lstStyle/>
                    <a:p>
                      <a:pPr algn="l" fontAlgn="t"/>
                      <a:r>
                        <a:rPr lang="en-IN" sz="800" b="0" i="0" u="none" strike="noStrike">
                          <a:solidFill>
                            <a:srgbClr val="000000"/>
                          </a:solidFill>
                          <a:effectLst/>
                          <a:latin typeface="Verdana" panose="020B0604030504040204" pitchFamily="34" charset="0"/>
                        </a:rPr>
                        <a:t>59</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Power Pac Mutiara Keranigonj</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100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sikder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43605956"/>
                  </a:ext>
                </a:extLst>
              </a:tr>
              <a:tr h="271740">
                <a:tc>
                  <a:txBody>
                    <a:bodyPr/>
                    <a:lstStyle/>
                    <a:p>
                      <a:pPr algn="l" fontAlgn="t"/>
                      <a:r>
                        <a:rPr lang="en-IN" sz="800" b="0" i="0" u="none" strike="noStrike">
                          <a:solidFill>
                            <a:srgbClr val="000000"/>
                          </a:solidFill>
                          <a:effectLst/>
                          <a:latin typeface="Verdana" panose="020B0604030504040204" pitchFamily="34" charset="0"/>
                        </a:rPr>
                        <a:t>60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PowerPac Muturia-Jamalpur</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95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sikder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614342930"/>
                  </a:ext>
                </a:extLst>
              </a:tr>
              <a:tr h="271740">
                <a:tc>
                  <a:txBody>
                    <a:bodyPr/>
                    <a:lstStyle/>
                    <a:p>
                      <a:pPr algn="l" fontAlgn="t"/>
                      <a:r>
                        <a:rPr lang="en-IN" sz="800" b="0" i="0" u="none" strike="noStrike" dirty="0">
                          <a:solidFill>
                            <a:srgbClr val="000000"/>
                          </a:solidFill>
                          <a:effectLst/>
                          <a:latin typeface="Verdana" panose="020B0604030504040204" pitchFamily="34" charset="0"/>
                        </a:rPr>
                        <a:t>61</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Summit Barisal Power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110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Summit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95598892"/>
                  </a:ext>
                </a:extLst>
              </a:tr>
              <a:tr h="370554">
                <a:tc>
                  <a:txBody>
                    <a:bodyPr/>
                    <a:lstStyle/>
                    <a:p>
                      <a:pPr algn="l" fontAlgn="t"/>
                      <a:r>
                        <a:rPr lang="en-IN" sz="800" b="0" i="0" u="none" strike="noStrike">
                          <a:solidFill>
                            <a:srgbClr val="000000"/>
                          </a:solidFill>
                          <a:effectLst/>
                          <a:latin typeface="Verdana" panose="020B0604030504040204" pitchFamily="34" charset="0"/>
                        </a:rPr>
                        <a:t>62</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Summit Narayangonj Power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103</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Summit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1972683"/>
                  </a:ext>
                </a:extLst>
              </a:tr>
              <a:tr h="370554">
                <a:tc>
                  <a:txBody>
                    <a:bodyPr/>
                    <a:lstStyle/>
                    <a:p>
                      <a:pPr algn="l" fontAlgn="t"/>
                      <a:r>
                        <a:rPr lang="en-IN" sz="800" b="0" i="0" u="none" strike="noStrike" dirty="0">
                          <a:solidFill>
                            <a:srgbClr val="000000"/>
                          </a:solidFill>
                          <a:effectLst/>
                          <a:latin typeface="Verdana" panose="020B0604030504040204" pitchFamily="34" charset="0"/>
                        </a:rPr>
                        <a:t>63</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Summit Narayanganj Power Unit-II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33</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Summit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79552775"/>
                  </a:ext>
                </a:extLst>
              </a:tr>
            </a:tbl>
          </a:graphicData>
        </a:graphic>
      </p:graphicFrame>
      <p:sp>
        <p:nvSpPr>
          <p:cNvPr id="5" name="TextBox 4"/>
          <p:cNvSpPr txBox="1"/>
          <p:nvPr/>
        </p:nvSpPr>
        <p:spPr>
          <a:xfrm>
            <a:off x="8032166" y="7145499"/>
            <a:ext cx="2111475" cy="92333"/>
          </a:xfrm>
          <a:prstGeom prst="rect">
            <a:avLst/>
          </a:prstGeom>
          <a:noFill/>
        </p:spPr>
        <p:txBody>
          <a:bodyPr wrap="square" lIns="0" tIns="0" rIns="0" bIns="0" rtlCol="0">
            <a:spAutoFit/>
          </a:bodyPr>
          <a:lstStyle/>
          <a:p>
            <a:pPr fontAlgn="t"/>
            <a:r>
              <a:rPr lang="en-IN" sz="600" b="1" dirty="0">
                <a:solidFill>
                  <a:srgbClr val="000000"/>
                </a:solidFill>
                <a:latin typeface="+mj-lt"/>
              </a:rPr>
              <a:t>Legend</a:t>
            </a:r>
            <a:r>
              <a:rPr lang="en-IN" sz="600" dirty="0">
                <a:solidFill>
                  <a:srgbClr val="000000"/>
                </a:solidFill>
                <a:latin typeface="+mj-lt"/>
              </a:rPr>
              <a:t>:    </a:t>
            </a:r>
            <a:r>
              <a:rPr lang="en-IN" sz="600" dirty="0">
                <a:solidFill>
                  <a:srgbClr val="000000"/>
                </a:solidFill>
                <a:latin typeface="Wingdings" panose="05000000000000000000" pitchFamily="2" charset="2"/>
              </a:rPr>
              <a:t>ü </a:t>
            </a:r>
            <a:r>
              <a:rPr lang="en-IN" sz="600" dirty="0">
                <a:solidFill>
                  <a:srgbClr val="000000"/>
                </a:solidFill>
                <a:latin typeface="+mj-lt"/>
              </a:rPr>
              <a:t>Yes      </a:t>
            </a:r>
            <a:r>
              <a:rPr lang="en-IN" sz="600" dirty="0">
                <a:solidFill>
                  <a:srgbClr val="000000"/>
                </a:solidFill>
                <a:latin typeface="Wingdings" panose="05000000000000000000" pitchFamily="2" charset="2"/>
              </a:rPr>
              <a:t>û </a:t>
            </a:r>
            <a:r>
              <a:rPr lang="en-IN" sz="600" dirty="0">
                <a:solidFill>
                  <a:srgbClr val="000000"/>
                </a:solidFill>
                <a:latin typeface="+mj-lt"/>
              </a:rPr>
              <a:t>No       N/A: Not Available </a:t>
            </a:r>
            <a:endParaRPr lang="en-IN" sz="600" dirty="0">
              <a:solidFill>
                <a:srgbClr val="000000"/>
              </a:solidFill>
              <a:latin typeface="Wingdings" panose="05000000000000000000" pitchFamily="2" charset="2"/>
            </a:endParaRPr>
          </a:p>
        </p:txBody>
      </p:sp>
      <p:sp>
        <p:nvSpPr>
          <p:cNvPr id="6" name="SlideTitle"/>
          <p:cNvSpPr>
            <a:spLocks noGrp="1"/>
          </p:cNvSpPr>
          <p:nvPr>
            <p:ph type="title"/>
          </p:nvPr>
        </p:nvSpPr>
        <p:spPr>
          <a:xfrm>
            <a:off x="449993" y="647990"/>
            <a:ext cx="9791843" cy="431993"/>
          </a:xfrm>
        </p:spPr>
        <p:txBody>
          <a:bodyPr lIns="0" tIns="0" rIns="0" bIns="0" anchor="ctr">
            <a:noAutofit/>
          </a:bodyPr>
          <a:lstStyle/>
          <a:p>
            <a:r>
              <a:rPr lang="en-GB" dirty="0">
                <a:solidFill>
                  <a:srgbClr val="000000"/>
                </a:solidFill>
                <a:latin typeface="Verdana" panose="020B0604030504040204" pitchFamily="34" charset="0"/>
              </a:rPr>
              <a:t>Annexure N | Plant Sponsors - Commissioned</a:t>
            </a:r>
            <a:endParaRPr lang="en-GB" noProof="0" dirty="0">
              <a:solidFill>
                <a:srgbClr val="000000"/>
              </a:solidFill>
              <a:latin typeface="Verdana" panose="020B0604030504040204" pitchFamily="34" charset="0"/>
            </a:endParaRPr>
          </a:p>
        </p:txBody>
      </p:sp>
      <p:sp>
        <p:nvSpPr>
          <p:cNvPr id="9" name="Rectangle 8"/>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Industry Reports, Deloitte Analysis</a:t>
            </a:r>
          </a:p>
        </p:txBody>
      </p:sp>
    </p:spTree>
    <p:extLst>
      <p:ext uri="{BB962C8B-B14F-4D97-AF65-F5344CB8AC3E}">
        <p14:creationId xmlns:p14="http://schemas.microsoft.com/office/powerpoint/2010/main" val="872238381"/>
      </p:ext>
    </p:extLst>
  </p:cSld>
  <p:clrMapOvr>
    <a:masterClrMapping/>
  </p:clrMapOvr>
  <p:transition>
    <p:fade/>
  </p:transition>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ct 7" hidden="1"/>
          <p:cNvGraphicFramePr>
            <a:graphicFrameLocks noChangeAspect="1"/>
          </p:cNvGraphicFramePr>
          <p:nvPr>
            <p:custDataLst>
              <p:tags r:id="rId1"/>
            </p:custDataLst>
            <p:extLst>
              <p:ext uri="{D42A27DB-BD31-4B8C-83A1-F6EECF244321}">
                <p14:modId xmlns:p14="http://schemas.microsoft.com/office/powerpoint/2010/main" val="25585737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8" name="Object 7"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7" name="Rectangle 6"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4" name="Table 3"/>
          <p:cNvGraphicFramePr>
            <a:graphicFrameLocks noGrp="1"/>
          </p:cNvGraphicFramePr>
          <p:nvPr>
            <p:extLst>
              <p:ext uri="{D42A27DB-BD31-4B8C-83A1-F6EECF244321}">
                <p14:modId xmlns:p14="http://schemas.microsoft.com/office/powerpoint/2010/main" val="3824328457"/>
              </p:ext>
            </p:extLst>
          </p:nvPr>
        </p:nvGraphicFramePr>
        <p:xfrm>
          <a:off x="449263" y="1697509"/>
          <a:ext cx="9791701" cy="5242560"/>
        </p:xfrm>
        <a:graphic>
          <a:graphicData uri="http://schemas.openxmlformats.org/drawingml/2006/table">
            <a:tbl>
              <a:tblPr firstRow="1">
                <a:tableStyleId>{3B4B98B0-60AC-42C2-AFA5-B58CD77FA1E5}</a:tableStyleId>
              </a:tblPr>
              <a:tblGrid>
                <a:gridCol w="475075">
                  <a:extLst>
                    <a:ext uri="{9D8B030D-6E8A-4147-A177-3AD203B41FA5}">
                      <a16:colId xmlns:a16="http://schemas.microsoft.com/office/drawing/2014/main" val="1711277910"/>
                    </a:ext>
                  </a:extLst>
                </a:gridCol>
                <a:gridCol w="1232895">
                  <a:extLst>
                    <a:ext uri="{9D8B030D-6E8A-4147-A177-3AD203B41FA5}">
                      <a16:colId xmlns:a16="http://schemas.microsoft.com/office/drawing/2014/main" val="3792385821"/>
                    </a:ext>
                  </a:extLst>
                </a:gridCol>
                <a:gridCol w="481464">
                  <a:extLst>
                    <a:ext uri="{9D8B030D-6E8A-4147-A177-3AD203B41FA5}">
                      <a16:colId xmlns:a16="http://schemas.microsoft.com/office/drawing/2014/main" val="396343871"/>
                    </a:ext>
                  </a:extLst>
                </a:gridCol>
                <a:gridCol w="722812">
                  <a:extLst>
                    <a:ext uri="{9D8B030D-6E8A-4147-A177-3AD203B41FA5}">
                      <a16:colId xmlns:a16="http://schemas.microsoft.com/office/drawing/2014/main" val="2529704633"/>
                    </a:ext>
                  </a:extLst>
                </a:gridCol>
                <a:gridCol w="740228">
                  <a:extLst>
                    <a:ext uri="{9D8B030D-6E8A-4147-A177-3AD203B41FA5}">
                      <a16:colId xmlns:a16="http://schemas.microsoft.com/office/drawing/2014/main" val="1132999821"/>
                    </a:ext>
                  </a:extLst>
                </a:gridCol>
                <a:gridCol w="746034">
                  <a:extLst>
                    <a:ext uri="{9D8B030D-6E8A-4147-A177-3AD203B41FA5}">
                      <a16:colId xmlns:a16="http://schemas.microsoft.com/office/drawing/2014/main" val="3691609938"/>
                    </a:ext>
                  </a:extLst>
                </a:gridCol>
                <a:gridCol w="746034">
                  <a:extLst>
                    <a:ext uri="{9D8B030D-6E8A-4147-A177-3AD203B41FA5}">
                      <a16:colId xmlns:a16="http://schemas.microsoft.com/office/drawing/2014/main" val="1090147686"/>
                    </a:ext>
                  </a:extLst>
                </a:gridCol>
                <a:gridCol w="746034">
                  <a:extLst>
                    <a:ext uri="{9D8B030D-6E8A-4147-A177-3AD203B41FA5}">
                      <a16:colId xmlns:a16="http://schemas.microsoft.com/office/drawing/2014/main" val="718023483"/>
                    </a:ext>
                  </a:extLst>
                </a:gridCol>
                <a:gridCol w="3901125">
                  <a:extLst>
                    <a:ext uri="{9D8B030D-6E8A-4147-A177-3AD203B41FA5}">
                      <a16:colId xmlns:a16="http://schemas.microsoft.com/office/drawing/2014/main" val="3494645373"/>
                    </a:ext>
                  </a:extLst>
                </a:gridCol>
              </a:tblGrid>
              <a:tr h="206996">
                <a:tc>
                  <a:txBody>
                    <a:bodyPr/>
                    <a:lstStyle/>
                    <a:p>
                      <a:pPr algn="l"/>
                      <a:r>
                        <a:rPr lang="en-US" sz="800" dirty="0">
                          <a:latin typeface="+mj-lt"/>
                        </a:rPr>
                        <a:t>Sr. No</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Name</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Fuel</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Installed Capacity</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Owner Group</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Foreign Loan</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MLA</a:t>
                      </a:r>
                      <a:r>
                        <a:rPr lang="en-US" sz="800" baseline="0" dirty="0">
                          <a:latin typeface="+mj-lt"/>
                        </a:rPr>
                        <a:t> Funding</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Foreign Equity</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Remarks</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60261459"/>
                  </a:ext>
                </a:extLst>
              </a:tr>
              <a:tr h="206996">
                <a:tc>
                  <a:txBody>
                    <a:bodyPr/>
                    <a:lstStyle/>
                    <a:p>
                      <a:pPr algn="l" fontAlgn="t"/>
                      <a:r>
                        <a:rPr lang="en-IN" sz="800" b="0" i="0" u="none" strike="noStrike" dirty="0">
                          <a:solidFill>
                            <a:srgbClr val="000000"/>
                          </a:solidFill>
                          <a:effectLst/>
                          <a:latin typeface="Verdana" panose="020B0604030504040204" pitchFamily="34" charset="0"/>
                        </a:rPr>
                        <a:t>64</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United Anawara  300  MW</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300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United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93893729"/>
                  </a:ext>
                </a:extLst>
              </a:tr>
              <a:tr h="282267">
                <a:tc>
                  <a:txBody>
                    <a:bodyPr/>
                    <a:lstStyle/>
                    <a:p>
                      <a:pPr algn="l" fontAlgn="t"/>
                      <a:r>
                        <a:rPr lang="en-IN" sz="800" b="0" i="0" u="none" strike="noStrike">
                          <a:solidFill>
                            <a:srgbClr val="000000"/>
                          </a:solidFill>
                          <a:effectLst/>
                          <a:latin typeface="Verdana" panose="020B0604030504040204" pitchFamily="34" charset="0"/>
                        </a:rPr>
                        <a:t>65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Summit Meghnaghat Power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HSD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203</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Summit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Loan (USD 22 million) by ADB under Public Private Infrastructure development</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841166589"/>
                  </a:ext>
                </a:extLst>
              </a:tr>
              <a:tr h="357538">
                <a:tc>
                  <a:txBody>
                    <a:bodyPr/>
                    <a:lstStyle/>
                    <a:p>
                      <a:pPr algn="l" fontAlgn="t"/>
                      <a:r>
                        <a:rPr lang="en-IN" sz="800" b="0" i="0" u="none" strike="noStrike">
                          <a:solidFill>
                            <a:srgbClr val="000000"/>
                          </a:solidFill>
                          <a:effectLst/>
                          <a:latin typeface="Verdana" panose="020B0604030504040204" pitchFamily="34" charset="0"/>
                        </a:rPr>
                        <a:t>66</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Aggreko International Projects Ltd. (95MW)</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95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Aggreko Energy</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p>
                      <a:pPr algn="l" fontAlgn="t"/>
                      <a:endParaRPr lang="en-IN" sz="800" b="0" i="0" u="none" strike="noStrike" dirty="0">
                        <a:solidFill>
                          <a:srgbClr val="000000"/>
                        </a:solidFill>
                        <a:effectLst/>
                        <a:latin typeface="Wingdings" panose="05000000000000000000" pitchFamily="2" charset="2"/>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40133394"/>
                  </a:ext>
                </a:extLst>
              </a:tr>
              <a:tr h="357538">
                <a:tc>
                  <a:txBody>
                    <a:bodyPr/>
                    <a:lstStyle/>
                    <a:p>
                      <a:pPr algn="l" fontAlgn="t"/>
                      <a:r>
                        <a:rPr lang="en-IN" sz="800" b="0" i="0" u="none" strike="noStrike">
                          <a:solidFill>
                            <a:srgbClr val="000000"/>
                          </a:solidFill>
                          <a:effectLst/>
                          <a:latin typeface="Verdana" panose="020B0604030504040204" pitchFamily="34" charset="0"/>
                        </a:rPr>
                        <a:t>67</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Aggreko International Projects Ltd. (85MW)</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85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Aggreko Energy</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1729334"/>
                  </a:ext>
                </a:extLst>
              </a:tr>
              <a:tr h="206996">
                <a:tc>
                  <a:txBody>
                    <a:bodyPr/>
                    <a:lstStyle/>
                    <a:p>
                      <a:pPr algn="l" fontAlgn="t"/>
                      <a:r>
                        <a:rPr lang="en-IN" sz="800" b="0" i="0" u="none" strike="noStrike">
                          <a:solidFill>
                            <a:srgbClr val="000000"/>
                          </a:solidFill>
                          <a:effectLst/>
                          <a:latin typeface="Verdana" panose="020B0604030504040204" pitchFamily="34" charset="0"/>
                        </a:rPr>
                        <a:t>68</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Northern Power Solution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50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N/A</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281155263"/>
                  </a:ext>
                </a:extLst>
              </a:tr>
              <a:tr h="206996">
                <a:tc>
                  <a:txBody>
                    <a:bodyPr/>
                    <a:lstStyle/>
                    <a:p>
                      <a:pPr algn="l" fontAlgn="t"/>
                      <a:r>
                        <a:rPr lang="en-IN" sz="800" b="0" i="0" u="none" strike="noStrike">
                          <a:solidFill>
                            <a:srgbClr val="000000"/>
                          </a:solidFill>
                          <a:effectLst/>
                          <a:latin typeface="Verdana" panose="020B0604030504040204" pitchFamily="34" charset="0"/>
                        </a:rPr>
                        <a:t>69</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UMPL 200 MW</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200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United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959194176"/>
                  </a:ext>
                </a:extLst>
              </a:tr>
              <a:tr h="206996">
                <a:tc>
                  <a:txBody>
                    <a:bodyPr/>
                    <a:lstStyle/>
                    <a:p>
                      <a:pPr algn="l" fontAlgn="t"/>
                      <a:r>
                        <a:rPr lang="en-IN" sz="800" b="0" i="0" u="none" strike="noStrike">
                          <a:solidFill>
                            <a:srgbClr val="000000"/>
                          </a:solidFill>
                          <a:effectLst/>
                          <a:latin typeface="Verdana" panose="020B0604030504040204" pitchFamily="34" charset="0"/>
                        </a:rPr>
                        <a:t>70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United Jamalpur 115 MW</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115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United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6292697"/>
                  </a:ext>
                </a:extLst>
              </a:tr>
              <a:tr h="282267">
                <a:tc>
                  <a:txBody>
                    <a:bodyPr/>
                    <a:lstStyle/>
                    <a:p>
                      <a:pPr algn="l" fontAlgn="t"/>
                      <a:r>
                        <a:rPr lang="en-IN" sz="800" b="0" i="0" u="none" strike="noStrike">
                          <a:solidFill>
                            <a:srgbClr val="000000"/>
                          </a:solidFill>
                          <a:effectLst/>
                          <a:latin typeface="Verdana" panose="020B0604030504040204" pitchFamily="34" charset="0"/>
                        </a:rPr>
                        <a:t>71</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Bangla Trac Power Unit- l Limited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HSD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200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Bangla Trac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43605956"/>
                  </a:ext>
                </a:extLst>
              </a:tr>
              <a:tr h="282267">
                <a:tc>
                  <a:txBody>
                    <a:bodyPr/>
                    <a:lstStyle/>
                    <a:p>
                      <a:pPr algn="l" fontAlgn="t"/>
                      <a:r>
                        <a:rPr lang="en-IN" sz="800" b="0" i="0" u="none" strike="noStrike">
                          <a:solidFill>
                            <a:srgbClr val="000000"/>
                          </a:solidFill>
                          <a:effectLst/>
                          <a:latin typeface="Verdana" panose="020B0604030504040204" pitchFamily="34" charset="0"/>
                        </a:rPr>
                        <a:t>72</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Aggreko Energy Solution Ltd 100 MW, Aorahati</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HSD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100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Aggreko Energy</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614342930"/>
                  </a:ext>
                </a:extLst>
              </a:tr>
              <a:tr h="282267">
                <a:tc>
                  <a:txBody>
                    <a:bodyPr/>
                    <a:lstStyle/>
                    <a:p>
                      <a:pPr algn="l" fontAlgn="t"/>
                      <a:r>
                        <a:rPr lang="en-IN" sz="800" b="0" i="0" u="none" strike="noStrike">
                          <a:solidFill>
                            <a:srgbClr val="000000"/>
                          </a:solidFill>
                          <a:effectLst/>
                          <a:latin typeface="Verdana" panose="020B0604030504040204" pitchFamily="34" charset="0"/>
                        </a:rPr>
                        <a:t>73</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Aggreko Power Solution Ltd 100 MW, Bhahmangoan</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HSD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100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Aggreko Energy</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95598892"/>
                  </a:ext>
                </a:extLst>
              </a:tr>
              <a:tr h="357538">
                <a:tc>
                  <a:txBody>
                    <a:bodyPr/>
                    <a:lstStyle/>
                    <a:p>
                      <a:pPr algn="l" fontAlgn="t"/>
                      <a:r>
                        <a:rPr lang="en-IN" sz="800" b="0" i="0" u="none" strike="noStrike" dirty="0">
                          <a:solidFill>
                            <a:srgbClr val="000000"/>
                          </a:solidFill>
                          <a:effectLst/>
                          <a:latin typeface="Verdana" panose="020B0604030504040204" pitchFamily="34" charset="0"/>
                        </a:rPr>
                        <a:t>74</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Aggreko International Projects Ltd. (55MW)</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HSD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55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a:solidFill>
                            <a:srgbClr val="000000"/>
                          </a:solidFill>
                          <a:effectLst/>
                          <a:latin typeface="Verdana" panose="020B0604030504040204" pitchFamily="34" charset="0"/>
                        </a:rPr>
                        <a:t>Aggreko Energy</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1972683"/>
                  </a:ext>
                </a:extLst>
              </a:tr>
            </a:tbl>
          </a:graphicData>
        </a:graphic>
      </p:graphicFrame>
      <p:sp>
        <p:nvSpPr>
          <p:cNvPr id="5" name="TextBox 4"/>
          <p:cNvSpPr txBox="1"/>
          <p:nvPr/>
        </p:nvSpPr>
        <p:spPr>
          <a:xfrm>
            <a:off x="8032166" y="7145499"/>
            <a:ext cx="2111475" cy="92333"/>
          </a:xfrm>
          <a:prstGeom prst="rect">
            <a:avLst/>
          </a:prstGeom>
          <a:noFill/>
        </p:spPr>
        <p:txBody>
          <a:bodyPr wrap="square" lIns="0" tIns="0" rIns="0" bIns="0" rtlCol="0">
            <a:spAutoFit/>
          </a:bodyPr>
          <a:lstStyle/>
          <a:p>
            <a:pPr fontAlgn="t"/>
            <a:r>
              <a:rPr lang="en-IN" sz="600" b="1" dirty="0">
                <a:solidFill>
                  <a:srgbClr val="000000"/>
                </a:solidFill>
                <a:latin typeface="+mj-lt"/>
              </a:rPr>
              <a:t>Legend</a:t>
            </a:r>
            <a:r>
              <a:rPr lang="en-IN" sz="600" dirty="0">
                <a:solidFill>
                  <a:srgbClr val="000000"/>
                </a:solidFill>
                <a:latin typeface="+mj-lt"/>
              </a:rPr>
              <a:t>:    </a:t>
            </a:r>
            <a:r>
              <a:rPr lang="en-IN" sz="600" dirty="0">
                <a:solidFill>
                  <a:srgbClr val="000000"/>
                </a:solidFill>
                <a:latin typeface="Wingdings" panose="05000000000000000000" pitchFamily="2" charset="2"/>
              </a:rPr>
              <a:t>ü </a:t>
            </a:r>
            <a:r>
              <a:rPr lang="en-IN" sz="600" dirty="0">
                <a:solidFill>
                  <a:srgbClr val="000000"/>
                </a:solidFill>
                <a:latin typeface="+mj-lt"/>
              </a:rPr>
              <a:t>Yes      </a:t>
            </a:r>
            <a:r>
              <a:rPr lang="en-IN" sz="600" dirty="0">
                <a:solidFill>
                  <a:srgbClr val="000000"/>
                </a:solidFill>
                <a:latin typeface="Wingdings" panose="05000000000000000000" pitchFamily="2" charset="2"/>
              </a:rPr>
              <a:t>û </a:t>
            </a:r>
            <a:r>
              <a:rPr lang="en-IN" sz="600" dirty="0">
                <a:solidFill>
                  <a:srgbClr val="000000"/>
                </a:solidFill>
                <a:latin typeface="+mj-lt"/>
              </a:rPr>
              <a:t>No       N/A: Not Available </a:t>
            </a:r>
            <a:endParaRPr lang="en-IN" sz="600" dirty="0">
              <a:solidFill>
                <a:srgbClr val="000000"/>
              </a:solidFill>
              <a:latin typeface="Wingdings" panose="05000000000000000000" pitchFamily="2" charset="2"/>
            </a:endParaRPr>
          </a:p>
        </p:txBody>
      </p:sp>
      <p:sp>
        <p:nvSpPr>
          <p:cNvPr id="6" name="SlideTitle"/>
          <p:cNvSpPr>
            <a:spLocks noGrp="1"/>
          </p:cNvSpPr>
          <p:nvPr>
            <p:ph type="title"/>
          </p:nvPr>
        </p:nvSpPr>
        <p:spPr>
          <a:xfrm>
            <a:off x="449993" y="647990"/>
            <a:ext cx="9791843" cy="431993"/>
          </a:xfrm>
        </p:spPr>
        <p:txBody>
          <a:bodyPr lIns="0" tIns="0" rIns="0" bIns="0" anchor="ctr">
            <a:noAutofit/>
          </a:bodyPr>
          <a:lstStyle/>
          <a:p>
            <a:r>
              <a:rPr lang="en-GB" dirty="0">
                <a:solidFill>
                  <a:srgbClr val="000000"/>
                </a:solidFill>
                <a:latin typeface="Verdana" panose="020B0604030504040204" pitchFamily="34" charset="0"/>
              </a:rPr>
              <a:t>Annexure N | Plant Sponsors - Commissioned</a:t>
            </a:r>
            <a:endParaRPr lang="en-GB" noProof="0" dirty="0">
              <a:solidFill>
                <a:srgbClr val="000000"/>
              </a:solidFill>
              <a:latin typeface="Verdana" panose="020B0604030504040204" pitchFamily="34" charset="0"/>
            </a:endParaRPr>
          </a:p>
        </p:txBody>
      </p:sp>
      <p:sp>
        <p:nvSpPr>
          <p:cNvPr id="9" name="Rectangle 8"/>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Industry Reports, Deloitte Analysis</a:t>
            </a:r>
          </a:p>
        </p:txBody>
      </p:sp>
    </p:spTree>
    <p:extLst>
      <p:ext uri="{BB962C8B-B14F-4D97-AF65-F5344CB8AC3E}">
        <p14:creationId xmlns:p14="http://schemas.microsoft.com/office/powerpoint/2010/main" val="3052442053"/>
      </p:ext>
    </p:extLst>
  </p:cSld>
  <p:clrMapOvr>
    <a:masterClrMapping/>
  </p:clrMapOvr>
  <p:transition>
    <p:fade/>
  </p:transition>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Object 8" hidden="1"/>
          <p:cNvGraphicFramePr>
            <a:graphicFrameLocks noChangeAspect="1"/>
          </p:cNvGraphicFramePr>
          <p:nvPr>
            <p:custDataLst>
              <p:tags r:id="rId1"/>
            </p:custDataLst>
            <p:extLst>
              <p:ext uri="{D42A27DB-BD31-4B8C-83A1-F6EECF244321}">
                <p14:modId xmlns:p14="http://schemas.microsoft.com/office/powerpoint/2010/main" val="59295968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9" name="Object 8"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8" name="Rectangle 7"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4" name="Table 3"/>
          <p:cNvGraphicFramePr>
            <a:graphicFrameLocks noGrp="1"/>
          </p:cNvGraphicFramePr>
          <p:nvPr>
            <p:extLst>
              <p:ext uri="{D42A27DB-BD31-4B8C-83A1-F6EECF244321}">
                <p14:modId xmlns:p14="http://schemas.microsoft.com/office/powerpoint/2010/main" val="2459113403"/>
              </p:ext>
            </p:extLst>
          </p:nvPr>
        </p:nvGraphicFramePr>
        <p:xfrm>
          <a:off x="449263" y="1697509"/>
          <a:ext cx="9791701" cy="5334000"/>
        </p:xfrm>
        <a:graphic>
          <a:graphicData uri="http://schemas.openxmlformats.org/drawingml/2006/table">
            <a:tbl>
              <a:tblPr firstRow="1">
                <a:tableStyleId>{3B4B98B0-60AC-42C2-AFA5-B58CD77FA1E5}</a:tableStyleId>
              </a:tblPr>
              <a:tblGrid>
                <a:gridCol w="475075">
                  <a:extLst>
                    <a:ext uri="{9D8B030D-6E8A-4147-A177-3AD203B41FA5}">
                      <a16:colId xmlns:a16="http://schemas.microsoft.com/office/drawing/2014/main" val="1711277910"/>
                    </a:ext>
                  </a:extLst>
                </a:gridCol>
                <a:gridCol w="1232895">
                  <a:extLst>
                    <a:ext uri="{9D8B030D-6E8A-4147-A177-3AD203B41FA5}">
                      <a16:colId xmlns:a16="http://schemas.microsoft.com/office/drawing/2014/main" val="3792385821"/>
                    </a:ext>
                  </a:extLst>
                </a:gridCol>
                <a:gridCol w="481464">
                  <a:extLst>
                    <a:ext uri="{9D8B030D-6E8A-4147-A177-3AD203B41FA5}">
                      <a16:colId xmlns:a16="http://schemas.microsoft.com/office/drawing/2014/main" val="396343871"/>
                    </a:ext>
                  </a:extLst>
                </a:gridCol>
                <a:gridCol w="722812">
                  <a:extLst>
                    <a:ext uri="{9D8B030D-6E8A-4147-A177-3AD203B41FA5}">
                      <a16:colId xmlns:a16="http://schemas.microsoft.com/office/drawing/2014/main" val="2529704633"/>
                    </a:ext>
                  </a:extLst>
                </a:gridCol>
                <a:gridCol w="740228">
                  <a:extLst>
                    <a:ext uri="{9D8B030D-6E8A-4147-A177-3AD203B41FA5}">
                      <a16:colId xmlns:a16="http://schemas.microsoft.com/office/drawing/2014/main" val="1132999821"/>
                    </a:ext>
                  </a:extLst>
                </a:gridCol>
                <a:gridCol w="746034">
                  <a:extLst>
                    <a:ext uri="{9D8B030D-6E8A-4147-A177-3AD203B41FA5}">
                      <a16:colId xmlns:a16="http://schemas.microsoft.com/office/drawing/2014/main" val="3691609938"/>
                    </a:ext>
                  </a:extLst>
                </a:gridCol>
                <a:gridCol w="746034">
                  <a:extLst>
                    <a:ext uri="{9D8B030D-6E8A-4147-A177-3AD203B41FA5}">
                      <a16:colId xmlns:a16="http://schemas.microsoft.com/office/drawing/2014/main" val="1090147686"/>
                    </a:ext>
                  </a:extLst>
                </a:gridCol>
                <a:gridCol w="746034">
                  <a:extLst>
                    <a:ext uri="{9D8B030D-6E8A-4147-A177-3AD203B41FA5}">
                      <a16:colId xmlns:a16="http://schemas.microsoft.com/office/drawing/2014/main" val="718023483"/>
                    </a:ext>
                  </a:extLst>
                </a:gridCol>
                <a:gridCol w="3901125">
                  <a:extLst>
                    <a:ext uri="{9D8B030D-6E8A-4147-A177-3AD203B41FA5}">
                      <a16:colId xmlns:a16="http://schemas.microsoft.com/office/drawing/2014/main" val="3494645373"/>
                    </a:ext>
                  </a:extLst>
                </a:gridCol>
              </a:tblGrid>
              <a:tr h="286889">
                <a:tc>
                  <a:txBody>
                    <a:bodyPr/>
                    <a:lstStyle/>
                    <a:p>
                      <a:pPr algn="l"/>
                      <a:r>
                        <a:rPr lang="en-US" sz="800" dirty="0">
                          <a:latin typeface="+mj-lt"/>
                        </a:rPr>
                        <a:t>Sr. No</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Name</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Fuel</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Installed Capacity</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Owner Group</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Foreign Loan</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MLA</a:t>
                      </a:r>
                      <a:r>
                        <a:rPr lang="en-US" sz="800" baseline="0" dirty="0">
                          <a:latin typeface="+mj-lt"/>
                        </a:rPr>
                        <a:t> Funding</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Foreign Equity</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Remarks</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60261459"/>
                  </a:ext>
                </a:extLst>
              </a:tr>
              <a:tr h="599859">
                <a:tc>
                  <a:txBody>
                    <a:bodyPr/>
                    <a:lstStyle/>
                    <a:p>
                      <a:pPr algn="l" fontAlgn="ctr"/>
                      <a:r>
                        <a:rPr lang="en-US" sz="800" b="0" i="0" u="none" strike="noStrike" dirty="0">
                          <a:solidFill>
                            <a:srgbClr val="000000"/>
                          </a:solidFill>
                          <a:effectLst/>
                          <a:latin typeface="Verdana" panose="020B0604030504040204" pitchFamily="34" charset="0"/>
                        </a:rPr>
                        <a:t>1</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b="0" i="0" u="none" strike="noStrike" dirty="0">
                          <a:solidFill>
                            <a:srgbClr val="000000"/>
                          </a:solidFill>
                          <a:effectLst/>
                          <a:latin typeface="Verdana" panose="020B0604030504040204" pitchFamily="34" charset="0"/>
                        </a:rPr>
                        <a:t>LNG based 750 MW CCPP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LNG</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718</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Reliance Power</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Loan:</a:t>
                      </a:r>
                      <a:br>
                        <a:rPr lang="en-US" sz="800" b="0" i="0" u="none" strike="noStrike">
                          <a:solidFill>
                            <a:srgbClr val="000000"/>
                          </a:solidFill>
                          <a:effectLst/>
                          <a:latin typeface="Verdana" panose="020B0604030504040204" pitchFamily="34" charset="0"/>
                        </a:rPr>
                      </a:br>
                      <a:r>
                        <a:rPr lang="en-US" sz="800" b="0" i="0" u="none" strike="noStrike">
                          <a:solidFill>
                            <a:srgbClr val="000000"/>
                          </a:solidFill>
                          <a:effectLst/>
                          <a:latin typeface="Verdana" panose="020B0604030504040204" pitchFamily="34" charset="0"/>
                        </a:rPr>
                        <a:t>-ADB (USD 330 million) and IDB</a:t>
                      </a:r>
                      <a:br>
                        <a:rPr lang="en-US" sz="800" b="0" i="0" u="none" strike="noStrike">
                          <a:solidFill>
                            <a:srgbClr val="000000"/>
                          </a:solidFill>
                          <a:effectLst/>
                          <a:latin typeface="Verdana" panose="020B0604030504040204" pitchFamily="34" charset="0"/>
                        </a:rPr>
                      </a:br>
                      <a:r>
                        <a:rPr lang="en-US" sz="800" b="0" i="0" u="none" strike="noStrike">
                          <a:solidFill>
                            <a:srgbClr val="000000"/>
                          </a:solidFill>
                          <a:effectLst/>
                          <a:latin typeface="Verdana" panose="020B0604030504040204" pitchFamily="34" charset="0"/>
                        </a:rPr>
                        <a:t>Equity:</a:t>
                      </a:r>
                      <a:br>
                        <a:rPr lang="en-US" sz="800" b="0" i="0" u="none" strike="noStrike">
                          <a:solidFill>
                            <a:srgbClr val="000000"/>
                          </a:solidFill>
                          <a:effectLst/>
                          <a:latin typeface="Verdana" panose="020B0604030504040204" pitchFamily="34" charset="0"/>
                        </a:rPr>
                      </a:br>
                      <a:r>
                        <a:rPr lang="en-US" sz="800" b="0" i="0" u="none" strike="noStrike">
                          <a:solidFill>
                            <a:srgbClr val="000000"/>
                          </a:solidFill>
                          <a:effectLst/>
                          <a:latin typeface="Verdana" panose="020B0604030504040204" pitchFamily="34" charset="0"/>
                        </a:rPr>
                        <a:t>- Reliance Power: 51%</a:t>
                      </a:r>
                      <a:br>
                        <a:rPr lang="en-US" sz="800" b="0" i="0" u="none" strike="noStrike">
                          <a:solidFill>
                            <a:srgbClr val="000000"/>
                          </a:solidFill>
                          <a:effectLst/>
                          <a:latin typeface="Verdana" panose="020B0604030504040204" pitchFamily="34" charset="0"/>
                        </a:rPr>
                      </a:br>
                      <a:r>
                        <a:rPr lang="en-US" sz="800" b="0" i="0" u="none" strike="noStrike">
                          <a:solidFill>
                            <a:srgbClr val="000000"/>
                          </a:solidFill>
                          <a:effectLst/>
                          <a:latin typeface="Verdana" panose="020B0604030504040204" pitchFamily="34" charset="0"/>
                        </a:rPr>
                        <a:t>-JERA (Japanese) : 49%</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93893729"/>
                  </a:ext>
                </a:extLst>
              </a:tr>
              <a:tr h="599859">
                <a:tc>
                  <a:txBody>
                    <a:bodyPr/>
                    <a:lstStyle/>
                    <a:p>
                      <a:pPr algn="l" fontAlgn="ctr"/>
                      <a:r>
                        <a:rPr lang="en-US" sz="800" b="0" i="0" u="none" strike="noStrike" dirty="0">
                          <a:solidFill>
                            <a:srgbClr val="000000"/>
                          </a:solidFill>
                          <a:effectLst/>
                          <a:latin typeface="Verdana" panose="020B0604030504040204" pitchFamily="34" charset="0"/>
                        </a:rPr>
                        <a:t>2</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Meghnaghat 600 MW CCPP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LNG</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583</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Summit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dirty="0">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dirty="0">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dirty="0">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Loan:</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-IFC and Janata Bank</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Equity:</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-Summit Group: 80%</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-GE: 20%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17015699"/>
                  </a:ext>
                </a:extLst>
              </a:tr>
              <a:tr h="808505">
                <a:tc>
                  <a:txBody>
                    <a:bodyPr/>
                    <a:lstStyle/>
                    <a:p>
                      <a:pPr algn="l" fontAlgn="ctr"/>
                      <a:r>
                        <a:rPr lang="en-US" sz="800" b="0" i="0" u="none" strike="noStrike" dirty="0">
                          <a:solidFill>
                            <a:srgbClr val="000000"/>
                          </a:solidFill>
                          <a:effectLst/>
                          <a:latin typeface="Verdana" panose="020B0604030504040204" pitchFamily="34" charset="0"/>
                        </a:rPr>
                        <a:t>3</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b="0" i="0" u="none" strike="noStrike" dirty="0" err="1">
                          <a:solidFill>
                            <a:srgbClr val="000000"/>
                          </a:solidFill>
                          <a:effectLst/>
                          <a:latin typeface="Verdana" panose="020B0604030504040204" pitchFamily="34" charset="0"/>
                        </a:rPr>
                        <a:t>Thakurgaon</a:t>
                      </a:r>
                      <a:r>
                        <a:rPr lang="en-US" sz="800" b="0" i="0" u="none" strike="noStrike" dirty="0">
                          <a:solidFill>
                            <a:srgbClr val="000000"/>
                          </a:solidFill>
                          <a:effectLst/>
                          <a:latin typeface="Verdana" panose="020B0604030504040204" pitchFamily="34" charset="0"/>
                        </a:rPr>
                        <a:t> 100 MW Power Plant</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115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err="1">
                          <a:solidFill>
                            <a:srgbClr val="000000"/>
                          </a:solidFill>
                          <a:effectLst/>
                          <a:latin typeface="Verdana" panose="020B0604030504040204" pitchFamily="34" charset="0"/>
                        </a:rPr>
                        <a:t>Energypac</a:t>
                      </a:r>
                      <a:r>
                        <a:rPr lang="en-IN" sz="800" b="0" i="0" u="none" strike="noStrike" dirty="0">
                          <a:solidFill>
                            <a:srgbClr val="000000"/>
                          </a:solidFill>
                          <a:effectLst/>
                          <a:latin typeface="Verdana" panose="020B0604030504040204" pitchFamily="34" charset="0"/>
                        </a:rPr>
                        <a:t> power venture</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dirty="0">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dirty="0">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dirty="0">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IN" sz="800" b="0" i="0" u="none" strike="noStrike" dirty="0">
                          <a:solidFill>
                            <a:srgbClr val="000000"/>
                          </a:solidFill>
                          <a:effectLst/>
                          <a:latin typeface="Verdana" panose="020B0604030504040204" pitchFamily="34" charset="0"/>
                        </a:rPr>
                        <a:t>Loan:</a:t>
                      </a:r>
                      <a:br>
                        <a:rPr lang="en-IN" sz="800" b="0" i="0" u="none" strike="noStrike" dirty="0">
                          <a:solidFill>
                            <a:srgbClr val="000000"/>
                          </a:solidFill>
                          <a:effectLst/>
                          <a:latin typeface="Verdana" panose="020B0604030504040204" pitchFamily="34" charset="0"/>
                        </a:rPr>
                      </a:br>
                      <a:r>
                        <a:rPr lang="en-IN" sz="800" b="0" i="0" u="none" strike="noStrike" dirty="0">
                          <a:solidFill>
                            <a:srgbClr val="000000"/>
                          </a:solidFill>
                          <a:effectLst/>
                          <a:latin typeface="Verdana" panose="020B0604030504040204" pitchFamily="34" charset="0"/>
                        </a:rPr>
                        <a:t>- ECA and MLA based finances raised by </a:t>
                      </a:r>
                      <a:r>
                        <a:rPr lang="en-IN" sz="800" b="0" i="0" u="none" strike="noStrike" dirty="0" err="1">
                          <a:solidFill>
                            <a:srgbClr val="000000"/>
                          </a:solidFill>
                          <a:effectLst/>
                          <a:latin typeface="Verdana" panose="020B0604030504040204" pitchFamily="34" charset="0"/>
                        </a:rPr>
                        <a:t>Daelim</a:t>
                      </a:r>
                      <a:r>
                        <a:rPr lang="en-IN" sz="800" b="0" i="0" u="none" strike="noStrike" dirty="0">
                          <a:solidFill>
                            <a:srgbClr val="000000"/>
                          </a:solidFill>
                          <a:effectLst/>
                          <a:latin typeface="Verdana" panose="020B0604030504040204" pitchFamily="34" charset="0"/>
                        </a:rPr>
                        <a:t> Energy</a:t>
                      </a:r>
                      <a:br>
                        <a:rPr lang="en-IN" sz="800" b="0" i="0" u="none" strike="noStrike" dirty="0">
                          <a:solidFill>
                            <a:srgbClr val="000000"/>
                          </a:solidFill>
                          <a:effectLst/>
                          <a:latin typeface="Verdana" panose="020B0604030504040204" pitchFamily="34" charset="0"/>
                        </a:rPr>
                      </a:br>
                      <a:r>
                        <a:rPr lang="en-IN" sz="800" b="0" i="0" u="none" strike="noStrike" dirty="0">
                          <a:solidFill>
                            <a:srgbClr val="000000"/>
                          </a:solidFill>
                          <a:effectLst/>
                          <a:latin typeface="Verdana" panose="020B0604030504040204" pitchFamily="34" charset="0"/>
                        </a:rPr>
                        <a:t>Equity:</a:t>
                      </a:r>
                      <a:br>
                        <a:rPr lang="en-IN" sz="800" b="0" i="0" u="none" strike="noStrike" dirty="0">
                          <a:solidFill>
                            <a:srgbClr val="000000"/>
                          </a:solidFill>
                          <a:effectLst/>
                          <a:latin typeface="Verdana" panose="020B0604030504040204" pitchFamily="34" charset="0"/>
                        </a:rPr>
                      </a:br>
                      <a:r>
                        <a:rPr lang="en-IN" sz="800" b="0" i="0" u="none" strike="noStrike" dirty="0">
                          <a:solidFill>
                            <a:srgbClr val="000000"/>
                          </a:solidFill>
                          <a:effectLst/>
                          <a:latin typeface="Verdana" panose="020B0604030504040204" pitchFamily="34" charset="0"/>
                        </a:rPr>
                        <a:t>- EMA Power Investment : 49%</a:t>
                      </a:r>
                      <a:br>
                        <a:rPr lang="en-IN" sz="800" b="0" i="0" u="none" strike="noStrike" dirty="0">
                          <a:solidFill>
                            <a:srgbClr val="000000"/>
                          </a:solidFill>
                          <a:effectLst/>
                          <a:latin typeface="Verdana" panose="020B0604030504040204" pitchFamily="34" charset="0"/>
                        </a:rPr>
                      </a:br>
                      <a:r>
                        <a:rPr lang="en-IN" sz="800" b="0" i="0" u="none" strike="noStrike" dirty="0">
                          <a:solidFill>
                            <a:srgbClr val="000000"/>
                          </a:solidFill>
                          <a:effectLst/>
                          <a:latin typeface="Verdana" panose="020B0604030504040204" pitchFamily="34" charset="0"/>
                        </a:rPr>
                        <a:t>-EMA Power Investment (UAE) is a JV between </a:t>
                      </a:r>
                      <a:r>
                        <a:rPr lang="en-IN" sz="800" b="0" i="0" u="none" strike="noStrike" dirty="0" err="1">
                          <a:solidFill>
                            <a:srgbClr val="000000"/>
                          </a:solidFill>
                          <a:effectLst/>
                          <a:latin typeface="Verdana" panose="020B0604030504040204" pitchFamily="34" charset="0"/>
                        </a:rPr>
                        <a:t>Daelim</a:t>
                      </a:r>
                      <a:r>
                        <a:rPr lang="en-IN" sz="800" b="0" i="0" u="none" strike="noStrike" dirty="0">
                          <a:solidFill>
                            <a:srgbClr val="000000"/>
                          </a:solidFill>
                          <a:effectLst/>
                          <a:latin typeface="Verdana" panose="020B0604030504040204" pitchFamily="34" charset="0"/>
                        </a:rPr>
                        <a:t> Energy(South Korea) and IDB Fund II (Islamic Development Bank Infrastructure Fund II)</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841166589"/>
                  </a:ext>
                </a:extLst>
              </a:tr>
              <a:tr h="495536">
                <a:tc>
                  <a:txBody>
                    <a:bodyPr/>
                    <a:lstStyle/>
                    <a:p>
                      <a:pPr algn="l" fontAlgn="ctr"/>
                      <a:r>
                        <a:rPr lang="en-US" sz="800" b="0" i="0" u="none" strike="noStrike" dirty="0">
                          <a:solidFill>
                            <a:srgbClr val="000000"/>
                          </a:solidFill>
                          <a:effectLst/>
                          <a:latin typeface="Verdana" panose="020B0604030504040204" pitchFamily="34" charset="0"/>
                        </a:rPr>
                        <a:t>4</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err="1">
                          <a:solidFill>
                            <a:srgbClr val="000000"/>
                          </a:solidFill>
                          <a:effectLst/>
                          <a:latin typeface="Verdana" panose="020B0604030504040204" pitchFamily="34" charset="0"/>
                        </a:rPr>
                        <a:t>Bhola</a:t>
                      </a:r>
                      <a:r>
                        <a:rPr lang="en-IN" sz="800" b="0" i="0" u="none" strike="noStrike" dirty="0">
                          <a:solidFill>
                            <a:srgbClr val="000000"/>
                          </a:solidFill>
                          <a:effectLst/>
                          <a:latin typeface="Verdana" panose="020B0604030504040204" pitchFamily="34" charset="0"/>
                        </a:rPr>
                        <a:t> 220 MW CCPP (D/F)</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Gas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220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err="1">
                          <a:solidFill>
                            <a:srgbClr val="000000"/>
                          </a:solidFill>
                          <a:effectLst/>
                          <a:latin typeface="Verdana" panose="020B0604030504040204" pitchFamily="34" charset="0"/>
                        </a:rPr>
                        <a:t>Shapoorji</a:t>
                      </a:r>
                      <a:r>
                        <a:rPr lang="en-IN" sz="800" b="0" i="0" u="none" strike="noStrike" dirty="0">
                          <a:solidFill>
                            <a:srgbClr val="000000"/>
                          </a:solidFill>
                          <a:effectLst/>
                          <a:latin typeface="Verdana" panose="020B0604030504040204" pitchFamily="34" charset="0"/>
                        </a:rPr>
                        <a:t> </a:t>
                      </a:r>
                      <a:r>
                        <a:rPr lang="en-IN" sz="800" b="0" i="0" u="none" strike="noStrike" dirty="0" err="1">
                          <a:solidFill>
                            <a:srgbClr val="000000"/>
                          </a:solidFill>
                          <a:effectLst/>
                          <a:latin typeface="Verdana" panose="020B0604030504040204" pitchFamily="34" charset="0"/>
                        </a:rPr>
                        <a:t>Palloni</a:t>
                      </a:r>
                      <a:r>
                        <a:rPr lang="en-IN" sz="800" b="0" i="0" u="none" strike="noStrike" dirty="0">
                          <a:solidFill>
                            <a:srgbClr val="000000"/>
                          </a:solidFill>
                          <a:effectLst/>
                          <a:latin typeface="Verdana" panose="020B0604030504040204" pitchFamily="34" charset="0"/>
                        </a:rPr>
                        <a:t> Infrastructure Capital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dirty="0">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dirty="0">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Loan: </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-Asian Investment and Infrastructure Bank: USD 60 million </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-Islamic Development Bank: USD 60 million</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40133394"/>
                  </a:ext>
                </a:extLst>
              </a:tr>
              <a:tr h="495536">
                <a:tc>
                  <a:txBody>
                    <a:bodyPr/>
                    <a:lstStyle/>
                    <a:p>
                      <a:pPr algn="l" fontAlgn="ctr"/>
                      <a:r>
                        <a:rPr lang="en-US" sz="800" b="0" i="0" u="none" strike="noStrike" dirty="0">
                          <a:solidFill>
                            <a:srgbClr val="000000"/>
                          </a:solidFill>
                          <a:effectLst/>
                          <a:latin typeface="Verdana" panose="020B0604030504040204" pitchFamily="34" charset="0"/>
                        </a:rPr>
                        <a:t>5</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b="0" i="0" u="none" strike="noStrike" dirty="0">
                          <a:solidFill>
                            <a:srgbClr val="000000"/>
                          </a:solidFill>
                          <a:effectLst/>
                          <a:latin typeface="Verdana" panose="020B0604030504040204" pitchFamily="34" charset="0"/>
                        </a:rPr>
                        <a:t>Chandpur 115 MW Power Plant</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115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Doreen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Loan:</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-Syndicated loans (BDT 520 Crore): arranged by Dhaka Bank</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Equity:</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a:t>
                      </a:r>
                      <a:r>
                        <a:rPr lang="en-US" sz="800" b="0" i="0" u="none" strike="noStrike" dirty="0" err="1">
                          <a:solidFill>
                            <a:srgbClr val="000000"/>
                          </a:solidFill>
                          <a:effectLst/>
                          <a:latin typeface="Verdana" panose="020B0604030504040204" pitchFamily="34" charset="0"/>
                        </a:rPr>
                        <a:t>Subsidary</a:t>
                      </a:r>
                      <a:r>
                        <a:rPr lang="en-US" sz="800" b="0" i="0" u="none" strike="noStrike" dirty="0">
                          <a:solidFill>
                            <a:srgbClr val="000000"/>
                          </a:solidFill>
                          <a:effectLst/>
                          <a:latin typeface="Verdana" panose="020B0604030504040204" pitchFamily="34" charset="0"/>
                        </a:rPr>
                        <a:t> of Doreen; investment of BDT 160 crore</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1729334"/>
                  </a:ext>
                </a:extLst>
              </a:tr>
              <a:tr h="391212">
                <a:tc>
                  <a:txBody>
                    <a:bodyPr/>
                    <a:lstStyle/>
                    <a:p>
                      <a:pPr algn="l" fontAlgn="ctr"/>
                      <a:r>
                        <a:rPr lang="en-US" sz="800" b="0" i="0" u="none" strike="noStrike" dirty="0">
                          <a:solidFill>
                            <a:srgbClr val="000000"/>
                          </a:solidFill>
                          <a:effectLst/>
                          <a:latin typeface="Verdana" panose="020B0604030504040204" pitchFamily="34" charset="0"/>
                        </a:rPr>
                        <a:t>6</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b="0" i="0" u="none" strike="noStrike" dirty="0" err="1">
                          <a:solidFill>
                            <a:srgbClr val="000000"/>
                          </a:solidFill>
                          <a:effectLst/>
                          <a:latin typeface="Verdana" panose="020B0604030504040204" pitchFamily="34" charset="0"/>
                        </a:rPr>
                        <a:t>Tangail</a:t>
                      </a:r>
                      <a:r>
                        <a:rPr lang="en-US" sz="800" b="0" i="0" u="none" strike="noStrike" dirty="0">
                          <a:solidFill>
                            <a:srgbClr val="000000"/>
                          </a:solidFill>
                          <a:effectLst/>
                          <a:latin typeface="Verdana" panose="020B0604030504040204" pitchFamily="34" charset="0"/>
                        </a:rPr>
                        <a:t> 22 MW PP (</a:t>
                      </a:r>
                      <a:r>
                        <a:rPr lang="en-US" sz="800" b="0" i="0" u="none" strike="noStrike" dirty="0" err="1">
                          <a:solidFill>
                            <a:srgbClr val="000000"/>
                          </a:solidFill>
                          <a:effectLst/>
                          <a:latin typeface="Verdana" panose="020B0604030504040204" pitchFamily="34" charset="0"/>
                        </a:rPr>
                        <a:t>Polli</a:t>
                      </a:r>
                      <a:r>
                        <a:rPr lang="en-US" sz="800" b="0" i="0" u="none" strike="noStrike" dirty="0">
                          <a:solidFill>
                            <a:srgbClr val="000000"/>
                          </a:solidFill>
                          <a:effectLst/>
                          <a:latin typeface="Verdana" panose="020B0604030504040204" pitchFamily="34" charset="0"/>
                        </a:rPr>
                        <a:t> Power)</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22</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X Index Companies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a:solidFill>
                            <a:srgbClr val="000000"/>
                          </a:solidFill>
                          <a:effectLst/>
                          <a:latin typeface="Verdana" panose="020B0604030504040204" pitchFamily="34" charset="0"/>
                        </a:rPr>
                        <a:t>-Prime Bank is mandated to raise syndication finance</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281155263"/>
                  </a:ext>
                </a:extLst>
              </a:tr>
              <a:tr h="391212">
                <a:tc>
                  <a:txBody>
                    <a:bodyPr/>
                    <a:lstStyle/>
                    <a:p>
                      <a:pPr algn="l" fontAlgn="ctr"/>
                      <a:r>
                        <a:rPr lang="en-US" sz="800" b="0" i="0" u="none" strike="noStrike" dirty="0">
                          <a:solidFill>
                            <a:srgbClr val="000000"/>
                          </a:solidFill>
                          <a:effectLst/>
                          <a:latin typeface="Verdana" panose="020B0604030504040204" pitchFamily="34" charset="0"/>
                        </a:rPr>
                        <a:t>7</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Kanchan, Narayangonj 55 MW PP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55</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X Index Companies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dirty="0">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dirty="0">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dirty="0">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-Prime Bank is mandated to raise syndication finance</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959194176"/>
                  </a:ext>
                </a:extLst>
              </a:tr>
              <a:tr h="495536">
                <a:tc>
                  <a:txBody>
                    <a:bodyPr/>
                    <a:lstStyle/>
                    <a:p>
                      <a:pPr algn="l" fontAlgn="ctr"/>
                      <a:r>
                        <a:rPr lang="en-US" sz="800" b="0" i="0" u="none" strike="noStrike" dirty="0">
                          <a:solidFill>
                            <a:srgbClr val="000000"/>
                          </a:solidFill>
                          <a:effectLst/>
                          <a:latin typeface="Verdana" panose="020B0604030504040204" pitchFamily="34" charset="0"/>
                        </a:rPr>
                        <a:t>8</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b="0" i="0" u="none" strike="noStrike" dirty="0">
                          <a:solidFill>
                            <a:srgbClr val="000000"/>
                          </a:solidFill>
                          <a:effectLst/>
                          <a:latin typeface="Verdana" panose="020B0604030504040204" pitchFamily="34" charset="0"/>
                        </a:rPr>
                        <a:t>Payra, </a:t>
                      </a:r>
                      <a:r>
                        <a:rPr lang="en-US" sz="800" b="0" i="0" u="none" strike="noStrike" dirty="0" err="1">
                          <a:solidFill>
                            <a:srgbClr val="000000"/>
                          </a:solidFill>
                          <a:effectLst/>
                          <a:latin typeface="Verdana" panose="020B0604030504040204" pitchFamily="34" charset="0"/>
                        </a:rPr>
                        <a:t>Patuakhali</a:t>
                      </a:r>
                      <a:r>
                        <a:rPr lang="en-US" sz="800" b="0" i="0" u="none" strike="noStrike" dirty="0">
                          <a:solidFill>
                            <a:srgbClr val="000000"/>
                          </a:solidFill>
                          <a:effectLst/>
                          <a:latin typeface="Verdana" panose="020B0604030504040204" pitchFamily="34" charset="0"/>
                        </a:rPr>
                        <a:t> 1320 Coal Fired</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Power Plant (1st Phase)</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Imported Coal</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1320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BCPCL</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Loan:</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-CEXIM Bank: USD 1.984 billion</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Equity:</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 JV between NWPGCL and CMC (China)</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6292697"/>
                  </a:ext>
                </a:extLst>
              </a:tr>
            </a:tbl>
          </a:graphicData>
        </a:graphic>
      </p:graphicFrame>
      <p:sp>
        <p:nvSpPr>
          <p:cNvPr id="5" name="TextBox 4"/>
          <p:cNvSpPr txBox="1"/>
          <p:nvPr/>
        </p:nvSpPr>
        <p:spPr>
          <a:xfrm>
            <a:off x="8032166" y="7145499"/>
            <a:ext cx="2111475" cy="92333"/>
          </a:xfrm>
          <a:prstGeom prst="rect">
            <a:avLst/>
          </a:prstGeom>
          <a:noFill/>
        </p:spPr>
        <p:txBody>
          <a:bodyPr wrap="square" lIns="0" tIns="0" rIns="0" bIns="0" rtlCol="0">
            <a:spAutoFit/>
          </a:bodyPr>
          <a:lstStyle/>
          <a:p>
            <a:pPr fontAlgn="t"/>
            <a:r>
              <a:rPr lang="en-IN" sz="600" b="1" dirty="0">
                <a:solidFill>
                  <a:srgbClr val="000000"/>
                </a:solidFill>
                <a:latin typeface="+mj-lt"/>
              </a:rPr>
              <a:t>Legend</a:t>
            </a:r>
            <a:r>
              <a:rPr lang="en-IN" sz="600" dirty="0">
                <a:solidFill>
                  <a:srgbClr val="000000"/>
                </a:solidFill>
                <a:latin typeface="+mj-lt"/>
              </a:rPr>
              <a:t>:    </a:t>
            </a:r>
            <a:r>
              <a:rPr lang="en-IN" sz="600" dirty="0">
                <a:solidFill>
                  <a:srgbClr val="000000"/>
                </a:solidFill>
                <a:latin typeface="Wingdings" panose="05000000000000000000" pitchFamily="2" charset="2"/>
              </a:rPr>
              <a:t>ü </a:t>
            </a:r>
            <a:r>
              <a:rPr lang="en-IN" sz="600" dirty="0">
                <a:solidFill>
                  <a:srgbClr val="000000"/>
                </a:solidFill>
                <a:latin typeface="+mj-lt"/>
              </a:rPr>
              <a:t>Yes      </a:t>
            </a:r>
            <a:r>
              <a:rPr lang="en-IN" sz="600" dirty="0">
                <a:solidFill>
                  <a:srgbClr val="000000"/>
                </a:solidFill>
                <a:latin typeface="Wingdings" panose="05000000000000000000" pitchFamily="2" charset="2"/>
              </a:rPr>
              <a:t>û </a:t>
            </a:r>
            <a:r>
              <a:rPr lang="en-IN" sz="600" dirty="0">
                <a:solidFill>
                  <a:srgbClr val="000000"/>
                </a:solidFill>
                <a:latin typeface="+mj-lt"/>
              </a:rPr>
              <a:t>No       N/A: Not Available </a:t>
            </a:r>
            <a:endParaRPr lang="en-IN" sz="600" dirty="0">
              <a:solidFill>
                <a:srgbClr val="000000"/>
              </a:solidFill>
              <a:latin typeface="Wingdings" panose="05000000000000000000" pitchFamily="2" charset="2"/>
            </a:endParaRPr>
          </a:p>
        </p:txBody>
      </p:sp>
      <p:sp>
        <p:nvSpPr>
          <p:cNvPr id="7" name="SlideTitle"/>
          <p:cNvSpPr>
            <a:spLocks noGrp="1"/>
          </p:cNvSpPr>
          <p:nvPr>
            <p:ph type="title"/>
          </p:nvPr>
        </p:nvSpPr>
        <p:spPr>
          <a:xfrm>
            <a:off x="449993" y="647990"/>
            <a:ext cx="9791843" cy="431993"/>
          </a:xfrm>
        </p:spPr>
        <p:txBody>
          <a:bodyPr lIns="0" tIns="0" rIns="0" bIns="0" anchor="ctr">
            <a:noAutofit/>
          </a:bodyPr>
          <a:lstStyle/>
          <a:p>
            <a:r>
              <a:rPr lang="en-GB" dirty="0">
                <a:solidFill>
                  <a:srgbClr val="000000"/>
                </a:solidFill>
                <a:latin typeface="Verdana" panose="020B0604030504040204" pitchFamily="34" charset="0"/>
              </a:rPr>
              <a:t>Annexure O | </a:t>
            </a:r>
            <a:r>
              <a:rPr lang="en-GB" noProof="0" dirty="0">
                <a:solidFill>
                  <a:srgbClr val="000000"/>
                </a:solidFill>
                <a:latin typeface="Verdana" panose="020B0604030504040204" pitchFamily="34" charset="0"/>
              </a:rPr>
              <a:t>Plant Sponsors – Upcoming / Planned</a:t>
            </a:r>
          </a:p>
        </p:txBody>
      </p:sp>
      <p:sp>
        <p:nvSpPr>
          <p:cNvPr id="10" name="Rectangle 9"/>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Industry Reports, Deloitte Analysis</a:t>
            </a:r>
          </a:p>
        </p:txBody>
      </p:sp>
    </p:spTree>
    <p:extLst>
      <p:ext uri="{BB962C8B-B14F-4D97-AF65-F5344CB8AC3E}">
        <p14:creationId xmlns:p14="http://schemas.microsoft.com/office/powerpoint/2010/main" val="287903348"/>
      </p:ext>
    </p:extLst>
  </p:cSld>
  <p:clrMapOvr>
    <a:masterClrMapping/>
  </p:clrMapOvr>
  <p:transition>
    <p:fade/>
  </p:transition>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Object 8" hidden="1"/>
          <p:cNvGraphicFramePr>
            <a:graphicFrameLocks noChangeAspect="1"/>
          </p:cNvGraphicFramePr>
          <p:nvPr>
            <p:custDataLst>
              <p:tags r:id="rId1"/>
            </p:custDataLst>
            <p:extLst>
              <p:ext uri="{D42A27DB-BD31-4B8C-83A1-F6EECF244321}">
                <p14:modId xmlns:p14="http://schemas.microsoft.com/office/powerpoint/2010/main" val="131413374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9" name="Object 8"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8" name="Rectangle 7"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4" name="Table 3"/>
          <p:cNvGraphicFramePr>
            <a:graphicFrameLocks noGrp="1"/>
          </p:cNvGraphicFramePr>
          <p:nvPr>
            <p:extLst>
              <p:ext uri="{D42A27DB-BD31-4B8C-83A1-F6EECF244321}">
                <p14:modId xmlns:p14="http://schemas.microsoft.com/office/powerpoint/2010/main" val="2955833070"/>
              </p:ext>
            </p:extLst>
          </p:nvPr>
        </p:nvGraphicFramePr>
        <p:xfrm>
          <a:off x="449263" y="1697510"/>
          <a:ext cx="9791701" cy="5181600"/>
        </p:xfrm>
        <a:graphic>
          <a:graphicData uri="http://schemas.openxmlformats.org/drawingml/2006/table">
            <a:tbl>
              <a:tblPr firstRow="1">
                <a:tableStyleId>{3B4B98B0-60AC-42C2-AFA5-B58CD77FA1E5}</a:tableStyleId>
              </a:tblPr>
              <a:tblGrid>
                <a:gridCol w="475075">
                  <a:extLst>
                    <a:ext uri="{9D8B030D-6E8A-4147-A177-3AD203B41FA5}">
                      <a16:colId xmlns:a16="http://schemas.microsoft.com/office/drawing/2014/main" val="1711277910"/>
                    </a:ext>
                  </a:extLst>
                </a:gridCol>
                <a:gridCol w="1232895">
                  <a:extLst>
                    <a:ext uri="{9D8B030D-6E8A-4147-A177-3AD203B41FA5}">
                      <a16:colId xmlns:a16="http://schemas.microsoft.com/office/drawing/2014/main" val="3792385821"/>
                    </a:ext>
                  </a:extLst>
                </a:gridCol>
                <a:gridCol w="481464">
                  <a:extLst>
                    <a:ext uri="{9D8B030D-6E8A-4147-A177-3AD203B41FA5}">
                      <a16:colId xmlns:a16="http://schemas.microsoft.com/office/drawing/2014/main" val="396343871"/>
                    </a:ext>
                  </a:extLst>
                </a:gridCol>
                <a:gridCol w="722812">
                  <a:extLst>
                    <a:ext uri="{9D8B030D-6E8A-4147-A177-3AD203B41FA5}">
                      <a16:colId xmlns:a16="http://schemas.microsoft.com/office/drawing/2014/main" val="2529704633"/>
                    </a:ext>
                  </a:extLst>
                </a:gridCol>
                <a:gridCol w="740228">
                  <a:extLst>
                    <a:ext uri="{9D8B030D-6E8A-4147-A177-3AD203B41FA5}">
                      <a16:colId xmlns:a16="http://schemas.microsoft.com/office/drawing/2014/main" val="1132999821"/>
                    </a:ext>
                  </a:extLst>
                </a:gridCol>
                <a:gridCol w="746034">
                  <a:extLst>
                    <a:ext uri="{9D8B030D-6E8A-4147-A177-3AD203B41FA5}">
                      <a16:colId xmlns:a16="http://schemas.microsoft.com/office/drawing/2014/main" val="3691609938"/>
                    </a:ext>
                  </a:extLst>
                </a:gridCol>
                <a:gridCol w="746034">
                  <a:extLst>
                    <a:ext uri="{9D8B030D-6E8A-4147-A177-3AD203B41FA5}">
                      <a16:colId xmlns:a16="http://schemas.microsoft.com/office/drawing/2014/main" val="1090147686"/>
                    </a:ext>
                  </a:extLst>
                </a:gridCol>
                <a:gridCol w="746034">
                  <a:extLst>
                    <a:ext uri="{9D8B030D-6E8A-4147-A177-3AD203B41FA5}">
                      <a16:colId xmlns:a16="http://schemas.microsoft.com/office/drawing/2014/main" val="718023483"/>
                    </a:ext>
                  </a:extLst>
                </a:gridCol>
                <a:gridCol w="3901125">
                  <a:extLst>
                    <a:ext uri="{9D8B030D-6E8A-4147-A177-3AD203B41FA5}">
                      <a16:colId xmlns:a16="http://schemas.microsoft.com/office/drawing/2014/main" val="3494645373"/>
                    </a:ext>
                  </a:extLst>
                </a:gridCol>
              </a:tblGrid>
              <a:tr h="257871">
                <a:tc>
                  <a:txBody>
                    <a:bodyPr/>
                    <a:lstStyle/>
                    <a:p>
                      <a:pPr algn="l"/>
                      <a:r>
                        <a:rPr lang="en-US" sz="800" dirty="0">
                          <a:latin typeface="+mj-lt"/>
                        </a:rPr>
                        <a:t>Sr. No</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Name</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Fuel</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Installed Capacity</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Owner Group</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Foreign Loan</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MLA</a:t>
                      </a:r>
                      <a:r>
                        <a:rPr lang="en-US" sz="800" baseline="0" dirty="0">
                          <a:latin typeface="+mj-lt"/>
                        </a:rPr>
                        <a:t> Funding</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Foreign Equity</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Remarks</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60261459"/>
                  </a:ext>
                </a:extLst>
              </a:tr>
              <a:tr h="351642">
                <a:tc>
                  <a:txBody>
                    <a:bodyPr/>
                    <a:lstStyle/>
                    <a:p>
                      <a:pPr algn="l" fontAlgn="ctr"/>
                      <a:r>
                        <a:rPr lang="en-US" sz="800" b="0" i="0" u="none" strike="noStrike" dirty="0">
                          <a:solidFill>
                            <a:srgbClr val="000000"/>
                          </a:solidFill>
                          <a:effectLst/>
                          <a:latin typeface="Verdana" panose="020B0604030504040204" pitchFamily="34" charset="0"/>
                        </a:rPr>
                        <a:t>9</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b="0" i="0" u="none" strike="noStrike" dirty="0" err="1">
                          <a:solidFill>
                            <a:srgbClr val="000000"/>
                          </a:solidFill>
                          <a:effectLst/>
                          <a:latin typeface="Verdana" panose="020B0604030504040204" pitchFamily="34" charset="0"/>
                        </a:rPr>
                        <a:t>Julda</a:t>
                      </a:r>
                      <a:r>
                        <a:rPr lang="en-US" sz="800" b="0" i="0" u="none" strike="noStrike" dirty="0">
                          <a:solidFill>
                            <a:srgbClr val="000000"/>
                          </a:solidFill>
                          <a:effectLst/>
                          <a:latin typeface="Verdana" panose="020B0604030504040204" pitchFamily="34" charset="0"/>
                        </a:rPr>
                        <a:t>, </a:t>
                      </a:r>
                      <a:r>
                        <a:rPr lang="en-US" sz="800" b="0" i="0" u="none" strike="noStrike" dirty="0" err="1">
                          <a:solidFill>
                            <a:srgbClr val="000000"/>
                          </a:solidFill>
                          <a:effectLst/>
                          <a:latin typeface="Verdana" panose="020B0604030504040204" pitchFamily="34" charset="0"/>
                        </a:rPr>
                        <a:t>Chattogram</a:t>
                      </a:r>
                      <a:r>
                        <a:rPr lang="en-US" sz="800" b="0" i="0" u="none" strike="noStrike" dirty="0">
                          <a:solidFill>
                            <a:srgbClr val="000000"/>
                          </a:solidFill>
                          <a:effectLst/>
                          <a:latin typeface="Verdana" panose="020B0604030504040204" pitchFamily="34" charset="0"/>
                        </a:rPr>
                        <a:t> 100 MW PP (</a:t>
                      </a:r>
                      <a:r>
                        <a:rPr lang="en-US" sz="800" b="0" i="0" u="none" strike="noStrike" dirty="0" err="1">
                          <a:solidFill>
                            <a:srgbClr val="000000"/>
                          </a:solidFill>
                          <a:effectLst/>
                          <a:latin typeface="Verdana" panose="020B0604030504040204" pitchFamily="34" charset="0"/>
                        </a:rPr>
                        <a:t>Accorn</a:t>
                      </a:r>
                      <a:r>
                        <a:rPr lang="en-US" sz="800" b="0" i="0" u="none" strike="noStrike" dirty="0">
                          <a:solidFill>
                            <a:srgbClr val="000000"/>
                          </a:solidFill>
                          <a:effectLst/>
                          <a:latin typeface="Verdana" panose="020B0604030504040204" pitchFamily="34" charset="0"/>
                        </a:rPr>
                        <a:t> </a:t>
                      </a:r>
                      <a:r>
                        <a:rPr lang="en-US" sz="800" b="0" i="0" u="none" strike="noStrike" dirty="0" err="1">
                          <a:solidFill>
                            <a:srgbClr val="000000"/>
                          </a:solidFill>
                          <a:effectLst/>
                          <a:latin typeface="Verdana" panose="020B0604030504040204" pitchFamily="34" charset="0"/>
                        </a:rPr>
                        <a:t>Inf</a:t>
                      </a:r>
                      <a:r>
                        <a:rPr lang="en-US" sz="800" b="0" i="0" u="none" strike="noStrike" dirty="0">
                          <a:solidFill>
                            <a:srgbClr val="000000"/>
                          </a:solidFill>
                          <a:effectLst/>
                          <a:latin typeface="Verdana" panose="020B0604030504040204" pitchFamily="34" charset="0"/>
                        </a:rPr>
                        <a:t> ) (Unit-2)</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100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Bangla </a:t>
                      </a:r>
                      <a:r>
                        <a:rPr lang="en-IN" sz="800" b="0" i="0" u="none" strike="noStrike" dirty="0" err="1">
                          <a:solidFill>
                            <a:srgbClr val="000000"/>
                          </a:solidFill>
                          <a:effectLst/>
                          <a:latin typeface="Verdana" panose="020B0604030504040204" pitchFamily="34" charset="0"/>
                        </a:rPr>
                        <a:t>Trac</a:t>
                      </a:r>
                      <a:r>
                        <a:rPr lang="en-IN" sz="800" b="0" i="0" u="none" strike="noStrike" dirty="0">
                          <a:solidFill>
                            <a:srgbClr val="000000"/>
                          </a:solidFill>
                          <a:effectLst/>
                          <a:latin typeface="Verdana" panose="020B0604030504040204" pitchFamily="34" charset="0"/>
                        </a:rPr>
                        <a:t>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dirty="0">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dirty="0">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Term loan (USD 63 million): IDCOL </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93893729"/>
                  </a:ext>
                </a:extLst>
              </a:tr>
              <a:tr h="257871">
                <a:tc>
                  <a:txBody>
                    <a:bodyPr/>
                    <a:lstStyle/>
                    <a:p>
                      <a:pPr algn="l" fontAlgn="ctr"/>
                      <a:r>
                        <a:rPr lang="en-US" sz="800" b="0" i="0" u="none" strike="noStrike" dirty="0">
                          <a:solidFill>
                            <a:srgbClr val="000000"/>
                          </a:solidFill>
                          <a:effectLst/>
                          <a:latin typeface="Verdana" panose="020B0604030504040204" pitchFamily="34" charset="0"/>
                        </a:rPr>
                        <a:t>10</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Manikganj 162 MW PP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162</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Chase Power Ltd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dirty="0">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-Consortium of Changzhou Hutang Coal Power Co. Ltd.(China) and Icon Enterprise Ltd., and Chase Power Ltd. (Bangladesh)</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841166589"/>
                  </a:ext>
                </a:extLst>
              </a:tr>
              <a:tr h="632956">
                <a:tc>
                  <a:txBody>
                    <a:bodyPr/>
                    <a:lstStyle/>
                    <a:p>
                      <a:pPr algn="l" fontAlgn="ctr"/>
                      <a:r>
                        <a:rPr lang="en-US" sz="800" b="0" i="0" u="none" strike="noStrike" dirty="0">
                          <a:solidFill>
                            <a:srgbClr val="000000"/>
                          </a:solidFill>
                          <a:effectLst/>
                          <a:latin typeface="Verdana" panose="020B0604030504040204" pitchFamily="34" charset="0"/>
                        </a:rPr>
                        <a:t>11</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b="0" i="0" u="none" strike="noStrike" dirty="0" err="1">
                          <a:solidFill>
                            <a:srgbClr val="000000"/>
                          </a:solidFill>
                          <a:effectLst/>
                          <a:latin typeface="Verdana" panose="020B0604030504040204" pitchFamily="34" charset="0"/>
                        </a:rPr>
                        <a:t>Feni</a:t>
                      </a:r>
                      <a:r>
                        <a:rPr lang="en-US" sz="800" b="0" i="0" u="none" strike="noStrike" dirty="0">
                          <a:solidFill>
                            <a:srgbClr val="000000"/>
                          </a:solidFill>
                          <a:effectLst/>
                          <a:latin typeface="Verdana" panose="020B0604030504040204" pitchFamily="34" charset="0"/>
                        </a:rPr>
                        <a:t> 114 MW Power Plant</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114</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err="1">
                          <a:solidFill>
                            <a:srgbClr val="000000"/>
                          </a:solidFill>
                          <a:effectLst/>
                          <a:latin typeface="Verdana" panose="020B0604030504040204" pitchFamily="34" charset="0"/>
                        </a:rPr>
                        <a:t>Lakdhanavi</a:t>
                      </a:r>
                      <a:r>
                        <a:rPr lang="en-IN" sz="800" b="0" i="0" u="none" strike="noStrike" dirty="0">
                          <a:solidFill>
                            <a:srgbClr val="000000"/>
                          </a:solidFill>
                          <a:effectLst/>
                          <a:latin typeface="Verdana" panose="020B0604030504040204" pitchFamily="34" charset="0"/>
                        </a:rPr>
                        <a:t> Limited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dirty="0">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Loan:</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 DFCC Bank and HNB Bank: INR 750 million</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Equity:</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-Subsidiary of </a:t>
                      </a:r>
                      <a:r>
                        <a:rPr lang="en-US" sz="800" b="0" i="0" u="none" strike="noStrike" dirty="0" err="1">
                          <a:solidFill>
                            <a:srgbClr val="000000"/>
                          </a:solidFill>
                          <a:effectLst/>
                          <a:latin typeface="Verdana" panose="020B0604030504040204" pitchFamily="34" charset="0"/>
                        </a:rPr>
                        <a:t>Lakdhanavi</a:t>
                      </a:r>
                      <a:r>
                        <a:rPr lang="en-US" sz="800" b="0" i="0" u="none" strike="noStrike" dirty="0">
                          <a:solidFill>
                            <a:srgbClr val="000000"/>
                          </a:solidFill>
                          <a:effectLst/>
                          <a:latin typeface="Verdana" panose="020B0604030504040204" pitchFamily="34" charset="0"/>
                        </a:rPr>
                        <a:t> Ltd</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-Lanka Ventures Limited Energy Fund PLC : 26% shareholding and USD 8 million investment</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40133394"/>
                  </a:ext>
                </a:extLst>
              </a:tr>
              <a:tr h="351642">
                <a:tc>
                  <a:txBody>
                    <a:bodyPr/>
                    <a:lstStyle/>
                    <a:p>
                      <a:pPr algn="l" fontAlgn="ctr"/>
                      <a:r>
                        <a:rPr lang="en-US" sz="800" b="0" i="0" u="none" strike="noStrike" dirty="0">
                          <a:solidFill>
                            <a:srgbClr val="000000"/>
                          </a:solidFill>
                          <a:effectLst/>
                          <a:latin typeface="Verdana" panose="020B0604030504040204" pitchFamily="34" charset="0"/>
                        </a:rPr>
                        <a:t>12</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b="0" i="0" u="none" strike="noStrike" dirty="0" err="1">
                          <a:solidFill>
                            <a:srgbClr val="000000"/>
                          </a:solidFill>
                          <a:effectLst/>
                          <a:latin typeface="Verdana" panose="020B0604030504040204" pitchFamily="34" charset="0"/>
                        </a:rPr>
                        <a:t>Barishal</a:t>
                      </a:r>
                      <a:r>
                        <a:rPr lang="en-US" sz="800" b="0" i="0" u="none" strike="noStrike" dirty="0">
                          <a:solidFill>
                            <a:srgbClr val="000000"/>
                          </a:solidFill>
                          <a:effectLst/>
                          <a:latin typeface="Verdana" panose="020B0604030504040204" pitchFamily="34" charset="0"/>
                        </a:rPr>
                        <a:t> 307 MW Coal Fired Power Plant</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Imported Coal</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307</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ISO Tech Electrification</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JV between PowerChina (China) and ISO Tech Electrification (Bangladesh)</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1729334"/>
                  </a:ext>
                </a:extLst>
              </a:tr>
              <a:tr h="539185">
                <a:tc>
                  <a:txBody>
                    <a:bodyPr/>
                    <a:lstStyle/>
                    <a:p>
                      <a:pPr algn="l" fontAlgn="ctr"/>
                      <a:r>
                        <a:rPr lang="en-US" sz="800" b="0" i="0" u="none" strike="noStrike" dirty="0">
                          <a:solidFill>
                            <a:srgbClr val="000000"/>
                          </a:solidFill>
                          <a:effectLst/>
                          <a:latin typeface="Verdana" panose="020B0604030504040204" pitchFamily="34" charset="0"/>
                        </a:rPr>
                        <a:t>13</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b="0" i="0" u="none" strike="noStrike">
                          <a:solidFill>
                            <a:srgbClr val="000000"/>
                          </a:solidFill>
                          <a:effectLst/>
                          <a:latin typeface="Verdana" panose="020B0604030504040204" pitchFamily="34" charset="0"/>
                        </a:rPr>
                        <a:t>Chattogram 2 x 612 MW Coal Fired</a:t>
                      </a:r>
                      <a:br>
                        <a:rPr lang="en-US" sz="800" b="0" i="0" u="none" strike="noStrike">
                          <a:solidFill>
                            <a:srgbClr val="000000"/>
                          </a:solidFill>
                          <a:effectLst/>
                          <a:latin typeface="Verdana" panose="020B0604030504040204" pitchFamily="34" charset="0"/>
                        </a:rPr>
                      </a:br>
                      <a:r>
                        <a:rPr lang="en-US" sz="800" b="0" i="0" u="none" strike="noStrike">
                          <a:solidFill>
                            <a:srgbClr val="000000"/>
                          </a:solidFill>
                          <a:effectLst/>
                          <a:latin typeface="Verdana" panose="020B0604030504040204" pitchFamily="34" charset="0"/>
                        </a:rPr>
                        <a:t>Power Project</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Imported Coal</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1224</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S </a:t>
                      </a:r>
                      <a:r>
                        <a:rPr lang="en-IN" sz="800" b="0" i="0" u="none" strike="noStrike" dirty="0" err="1">
                          <a:solidFill>
                            <a:srgbClr val="000000"/>
                          </a:solidFill>
                          <a:effectLst/>
                          <a:latin typeface="Verdana" panose="020B0604030504040204" pitchFamily="34" charset="0"/>
                        </a:rPr>
                        <a:t>Alam</a:t>
                      </a:r>
                      <a:r>
                        <a:rPr lang="en-IN" sz="800" b="0" i="0" u="none" strike="noStrike" dirty="0">
                          <a:solidFill>
                            <a:srgbClr val="000000"/>
                          </a:solidFill>
                          <a:effectLst/>
                          <a:latin typeface="Verdana" panose="020B0604030504040204" pitchFamily="34" charset="0"/>
                        </a:rPr>
                        <a:t>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dirty="0">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Loan:</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 CEXIM bank: USD 1.739 billion</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Equity:</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-JV of Bangladesh S </a:t>
                      </a:r>
                      <a:r>
                        <a:rPr lang="en-US" sz="800" b="0" i="0" u="none" strike="noStrike" dirty="0" err="1">
                          <a:solidFill>
                            <a:srgbClr val="000000"/>
                          </a:solidFill>
                          <a:effectLst/>
                          <a:latin typeface="Verdana" panose="020B0604030504040204" pitchFamily="34" charset="0"/>
                        </a:rPr>
                        <a:t>Alam</a:t>
                      </a:r>
                      <a:r>
                        <a:rPr lang="en-US" sz="800" b="0" i="0" u="none" strike="noStrike" dirty="0">
                          <a:solidFill>
                            <a:srgbClr val="000000"/>
                          </a:solidFill>
                          <a:effectLst/>
                          <a:latin typeface="Verdana" panose="020B0604030504040204" pitchFamily="34" charset="0"/>
                        </a:rPr>
                        <a:t> Group (70%), China’s SEPCO-3 Electric Power Constitution Corporation(20%) and HTG Group (10%)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281155263"/>
                  </a:ext>
                </a:extLst>
              </a:tr>
              <a:tr h="539185">
                <a:tc>
                  <a:txBody>
                    <a:bodyPr/>
                    <a:lstStyle/>
                    <a:p>
                      <a:pPr algn="l" fontAlgn="ctr"/>
                      <a:r>
                        <a:rPr lang="en-US" sz="800" b="0" i="0" u="none" strike="noStrike" dirty="0">
                          <a:solidFill>
                            <a:srgbClr val="000000"/>
                          </a:solidFill>
                          <a:effectLst/>
                          <a:latin typeface="Verdana" panose="020B0604030504040204" pitchFamily="34" charset="0"/>
                        </a:rPr>
                        <a:t>14</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Meghnaghat 600 MW CCPP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LNG</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584</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Unique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dirty="0">
                          <a:solidFill>
                            <a:srgbClr val="000000"/>
                          </a:solidFill>
                          <a:effectLst/>
                          <a:latin typeface="Wingdings" panose="05000000000000000000" pitchFamily="2" charset="2"/>
                        </a:rPr>
                        <a:t>ü</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Loan:</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-IFC and Janata Bank</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Equity:</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-Summit Group: 80%</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-GE: 20%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959194176"/>
                  </a:ext>
                </a:extLst>
              </a:tr>
              <a:tr h="351642">
                <a:tc>
                  <a:txBody>
                    <a:bodyPr/>
                    <a:lstStyle/>
                    <a:p>
                      <a:pPr algn="l" fontAlgn="ctr"/>
                      <a:r>
                        <a:rPr lang="en-US" sz="800" b="0" i="0" u="none" strike="noStrike" dirty="0">
                          <a:solidFill>
                            <a:srgbClr val="000000"/>
                          </a:solidFill>
                          <a:effectLst/>
                          <a:latin typeface="Verdana" panose="020B0604030504040204" pitchFamily="34" charset="0"/>
                        </a:rPr>
                        <a:t>15</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err="1">
                          <a:solidFill>
                            <a:srgbClr val="000000"/>
                          </a:solidFill>
                          <a:effectLst/>
                          <a:latin typeface="Verdana" panose="020B0604030504040204" pitchFamily="34" charset="0"/>
                        </a:rPr>
                        <a:t>Shikalbaha</a:t>
                      </a:r>
                      <a:r>
                        <a:rPr lang="en-IN" sz="800" b="0" i="0" u="none" strike="noStrike" dirty="0">
                          <a:solidFill>
                            <a:srgbClr val="000000"/>
                          </a:solidFill>
                          <a:effectLst/>
                          <a:latin typeface="Verdana" panose="020B0604030504040204" pitchFamily="34" charset="0"/>
                        </a:rPr>
                        <a:t> 110 MW PP (</a:t>
                      </a:r>
                      <a:r>
                        <a:rPr lang="en-IN" sz="800" b="0" i="0" u="none" strike="noStrike" dirty="0" err="1">
                          <a:solidFill>
                            <a:srgbClr val="000000"/>
                          </a:solidFill>
                          <a:effectLst/>
                          <a:latin typeface="Verdana" panose="020B0604030504040204" pitchFamily="34" charset="0"/>
                        </a:rPr>
                        <a:t>Kornofuly</a:t>
                      </a:r>
                      <a:r>
                        <a:rPr lang="en-IN" sz="800" b="0" i="0" u="none" strike="noStrike" dirty="0">
                          <a:solidFill>
                            <a:srgbClr val="000000"/>
                          </a:solidFill>
                          <a:effectLst/>
                          <a:latin typeface="Verdana" panose="020B0604030504040204" pitchFamily="34" charset="0"/>
                        </a:rPr>
                        <a:t> Power)</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110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Baraka Power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dirty="0">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endParaRPr lang="en-US"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6292697"/>
                  </a:ext>
                </a:extLst>
              </a:tr>
              <a:tr h="351642">
                <a:tc>
                  <a:txBody>
                    <a:bodyPr/>
                    <a:lstStyle/>
                    <a:p>
                      <a:pPr algn="l" fontAlgn="ctr"/>
                      <a:r>
                        <a:rPr lang="en-US" sz="800" b="0" i="0" u="none" strike="noStrike" dirty="0">
                          <a:solidFill>
                            <a:srgbClr val="000000"/>
                          </a:solidFill>
                          <a:effectLst/>
                          <a:latin typeface="Verdana" panose="020B0604030504040204" pitchFamily="34" charset="0"/>
                        </a:rPr>
                        <a:t>16</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err="1">
                          <a:solidFill>
                            <a:srgbClr val="000000"/>
                          </a:solidFill>
                          <a:effectLst/>
                          <a:latin typeface="Verdana" panose="020B0604030504040204" pitchFamily="34" charset="0"/>
                        </a:rPr>
                        <a:t>Choumohoni</a:t>
                      </a:r>
                      <a:r>
                        <a:rPr lang="en-IN" sz="800" b="0" i="0" u="none" strike="noStrike" dirty="0">
                          <a:solidFill>
                            <a:srgbClr val="000000"/>
                          </a:solidFill>
                          <a:effectLst/>
                          <a:latin typeface="Verdana" panose="020B0604030504040204" pitchFamily="34" charset="0"/>
                        </a:rPr>
                        <a:t>, </a:t>
                      </a:r>
                      <a:r>
                        <a:rPr lang="en-IN" sz="800" b="0" i="0" u="none" strike="noStrike" dirty="0" err="1">
                          <a:solidFill>
                            <a:srgbClr val="000000"/>
                          </a:solidFill>
                          <a:effectLst/>
                          <a:latin typeface="Verdana" panose="020B0604030504040204" pitchFamily="34" charset="0"/>
                        </a:rPr>
                        <a:t>Noakhali</a:t>
                      </a:r>
                      <a:r>
                        <a:rPr lang="en-IN" sz="800" b="0" i="0" u="none" strike="noStrike" dirty="0">
                          <a:solidFill>
                            <a:srgbClr val="000000"/>
                          </a:solidFill>
                          <a:effectLst/>
                          <a:latin typeface="Verdana" panose="020B0604030504040204" pitchFamily="34" charset="0"/>
                        </a:rPr>
                        <a:t> 113 MW Power Plant</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113</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err="1">
                          <a:solidFill>
                            <a:srgbClr val="000000"/>
                          </a:solidFill>
                          <a:effectLst/>
                          <a:latin typeface="Verdana" panose="020B0604030504040204" pitchFamily="34" charset="0"/>
                        </a:rPr>
                        <a:t>Hosaf</a:t>
                      </a:r>
                      <a:r>
                        <a:rPr lang="en-IN" sz="800" b="0" i="0" u="none" strike="noStrike" dirty="0">
                          <a:solidFill>
                            <a:srgbClr val="000000"/>
                          </a:solidFill>
                          <a:effectLst/>
                          <a:latin typeface="Verdana" panose="020B0604030504040204" pitchFamily="34" charset="0"/>
                        </a:rPr>
                        <a:t>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IN" sz="800" b="0" i="0" u="none" strike="noStrike" dirty="0">
                          <a:solidFill>
                            <a:srgbClr val="000000"/>
                          </a:solidFill>
                          <a:effectLst/>
                          <a:latin typeface="Wingdings" panose="05000000000000000000" pitchFamily="2" charset="2"/>
                        </a:rPr>
                        <a:t>û</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endParaRPr lang="en-US"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41263780"/>
                  </a:ext>
                </a:extLst>
              </a:tr>
              <a:tr h="351642">
                <a:tc>
                  <a:txBody>
                    <a:bodyPr/>
                    <a:lstStyle/>
                    <a:p>
                      <a:pPr algn="l" fontAlgn="ctr"/>
                      <a:r>
                        <a:rPr lang="en-US" sz="800" b="0" i="0" u="none" strike="noStrike" dirty="0">
                          <a:solidFill>
                            <a:srgbClr val="000000"/>
                          </a:solidFill>
                          <a:effectLst/>
                          <a:latin typeface="Verdana" panose="020B0604030504040204" pitchFamily="34" charset="0"/>
                        </a:rPr>
                        <a:t>17</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Meghnaghat 500 MW CCPP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LNG</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450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err="1">
                          <a:solidFill>
                            <a:srgbClr val="000000"/>
                          </a:solidFill>
                          <a:effectLst/>
                          <a:latin typeface="Verdana" panose="020B0604030504040204" pitchFamily="34" charset="0"/>
                        </a:rPr>
                        <a:t>Anlima</a:t>
                      </a:r>
                      <a:r>
                        <a:rPr lang="en-IN" sz="800" b="0" i="0" u="none" strike="noStrike" dirty="0">
                          <a:solidFill>
                            <a:srgbClr val="000000"/>
                          </a:solidFill>
                          <a:effectLst/>
                          <a:latin typeface="Verdana" panose="020B0604030504040204" pitchFamily="34" charset="0"/>
                        </a:rPr>
                        <a:t> Textiles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Equity:</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 Anlima textiles</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 GE Capital Global Energy Investments BV</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3411803"/>
                  </a:ext>
                </a:extLst>
              </a:tr>
            </a:tbl>
          </a:graphicData>
        </a:graphic>
      </p:graphicFrame>
      <p:sp>
        <p:nvSpPr>
          <p:cNvPr id="5" name="TextBox 4"/>
          <p:cNvSpPr txBox="1"/>
          <p:nvPr/>
        </p:nvSpPr>
        <p:spPr>
          <a:xfrm>
            <a:off x="8032166" y="7145499"/>
            <a:ext cx="2111475" cy="92333"/>
          </a:xfrm>
          <a:prstGeom prst="rect">
            <a:avLst/>
          </a:prstGeom>
          <a:noFill/>
        </p:spPr>
        <p:txBody>
          <a:bodyPr wrap="square" lIns="0" tIns="0" rIns="0" bIns="0" rtlCol="0">
            <a:spAutoFit/>
          </a:bodyPr>
          <a:lstStyle/>
          <a:p>
            <a:pPr fontAlgn="t"/>
            <a:r>
              <a:rPr lang="en-IN" sz="600" b="1" dirty="0">
                <a:solidFill>
                  <a:srgbClr val="000000"/>
                </a:solidFill>
                <a:latin typeface="+mj-lt"/>
              </a:rPr>
              <a:t>Legend</a:t>
            </a:r>
            <a:r>
              <a:rPr lang="en-IN" sz="600" dirty="0">
                <a:solidFill>
                  <a:srgbClr val="000000"/>
                </a:solidFill>
                <a:latin typeface="+mj-lt"/>
              </a:rPr>
              <a:t>:    </a:t>
            </a:r>
            <a:r>
              <a:rPr lang="en-IN" sz="600" dirty="0">
                <a:solidFill>
                  <a:srgbClr val="000000"/>
                </a:solidFill>
                <a:latin typeface="Wingdings" panose="05000000000000000000" pitchFamily="2" charset="2"/>
              </a:rPr>
              <a:t>ü </a:t>
            </a:r>
            <a:r>
              <a:rPr lang="en-IN" sz="600" dirty="0">
                <a:solidFill>
                  <a:srgbClr val="000000"/>
                </a:solidFill>
                <a:latin typeface="+mj-lt"/>
              </a:rPr>
              <a:t>Yes      </a:t>
            </a:r>
            <a:r>
              <a:rPr lang="en-IN" sz="600" dirty="0">
                <a:solidFill>
                  <a:srgbClr val="000000"/>
                </a:solidFill>
                <a:latin typeface="Wingdings" panose="05000000000000000000" pitchFamily="2" charset="2"/>
              </a:rPr>
              <a:t>û </a:t>
            </a:r>
            <a:r>
              <a:rPr lang="en-IN" sz="600" dirty="0">
                <a:solidFill>
                  <a:srgbClr val="000000"/>
                </a:solidFill>
                <a:latin typeface="+mj-lt"/>
              </a:rPr>
              <a:t>No       N/A: Not Available </a:t>
            </a:r>
            <a:endParaRPr lang="en-IN" sz="600" dirty="0">
              <a:solidFill>
                <a:srgbClr val="000000"/>
              </a:solidFill>
              <a:latin typeface="Wingdings" panose="05000000000000000000" pitchFamily="2" charset="2"/>
            </a:endParaRPr>
          </a:p>
        </p:txBody>
      </p:sp>
      <p:sp>
        <p:nvSpPr>
          <p:cNvPr id="21" name="SlideTitle"/>
          <p:cNvSpPr>
            <a:spLocks noGrp="1"/>
          </p:cNvSpPr>
          <p:nvPr>
            <p:ph type="title"/>
          </p:nvPr>
        </p:nvSpPr>
        <p:spPr>
          <a:xfrm>
            <a:off x="449993" y="647990"/>
            <a:ext cx="9791843" cy="431993"/>
          </a:xfrm>
        </p:spPr>
        <p:txBody>
          <a:bodyPr lIns="0" tIns="0" rIns="0" bIns="0" anchor="ctr">
            <a:noAutofit/>
          </a:bodyPr>
          <a:lstStyle/>
          <a:p>
            <a:r>
              <a:rPr lang="en-GB" dirty="0">
                <a:solidFill>
                  <a:srgbClr val="000000"/>
                </a:solidFill>
                <a:latin typeface="Verdana" panose="020B0604030504040204" pitchFamily="34" charset="0"/>
              </a:rPr>
              <a:t>Annexure O | Plant Sponsors – Upcoming / Planned</a:t>
            </a:r>
            <a:endParaRPr lang="en-GB" noProof="0" dirty="0">
              <a:solidFill>
                <a:srgbClr val="000000"/>
              </a:solidFill>
              <a:latin typeface="Verdana" panose="020B0604030504040204" pitchFamily="34" charset="0"/>
            </a:endParaRPr>
          </a:p>
        </p:txBody>
      </p:sp>
      <p:sp>
        <p:nvSpPr>
          <p:cNvPr id="22" name="Rectangle 21"/>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Industry Reports, Deloitte Analysis</a:t>
            </a:r>
          </a:p>
        </p:txBody>
      </p:sp>
    </p:spTree>
    <p:extLst>
      <p:ext uri="{BB962C8B-B14F-4D97-AF65-F5344CB8AC3E}">
        <p14:creationId xmlns:p14="http://schemas.microsoft.com/office/powerpoint/2010/main" val="4249827878"/>
      </p:ext>
    </p:extLst>
  </p:cSld>
  <p:clrMapOvr>
    <a:masterClrMapping/>
  </p:clrMapOvr>
  <p:transition>
    <p:fade/>
  </p:transition>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Object 6" hidden="1"/>
          <p:cNvGraphicFramePr>
            <a:graphicFrameLocks noChangeAspect="1"/>
          </p:cNvGraphicFramePr>
          <p:nvPr>
            <p:custDataLst>
              <p:tags r:id="rId1"/>
            </p:custDataLst>
            <p:extLst>
              <p:ext uri="{D42A27DB-BD31-4B8C-83A1-F6EECF244321}">
                <p14:modId xmlns:p14="http://schemas.microsoft.com/office/powerpoint/2010/main" val="260080626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7" name="Object 6"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GB"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4" name="Table 3"/>
          <p:cNvGraphicFramePr>
            <a:graphicFrameLocks noGrp="1"/>
          </p:cNvGraphicFramePr>
          <p:nvPr>
            <p:extLst>
              <p:ext uri="{D42A27DB-BD31-4B8C-83A1-F6EECF244321}">
                <p14:modId xmlns:p14="http://schemas.microsoft.com/office/powerpoint/2010/main" val="866726063"/>
              </p:ext>
            </p:extLst>
          </p:nvPr>
        </p:nvGraphicFramePr>
        <p:xfrm>
          <a:off x="449263" y="1697509"/>
          <a:ext cx="9791701" cy="3926049"/>
        </p:xfrm>
        <a:graphic>
          <a:graphicData uri="http://schemas.openxmlformats.org/drawingml/2006/table">
            <a:tbl>
              <a:tblPr firstRow="1">
                <a:tableStyleId>{3B4B98B0-60AC-42C2-AFA5-B58CD77FA1E5}</a:tableStyleId>
              </a:tblPr>
              <a:tblGrid>
                <a:gridCol w="475075">
                  <a:extLst>
                    <a:ext uri="{9D8B030D-6E8A-4147-A177-3AD203B41FA5}">
                      <a16:colId xmlns:a16="http://schemas.microsoft.com/office/drawing/2014/main" val="1711277910"/>
                    </a:ext>
                  </a:extLst>
                </a:gridCol>
                <a:gridCol w="1232895">
                  <a:extLst>
                    <a:ext uri="{9D8B030D-6E8A-4147-A177-3AD203B41FA5}">
                      <a16:colId xmlns:a16="http://schemas.microsoft.com/office/drawing/2014/main" val="3792385821"/>
                    </a:ext>
                  </a:extLst>
                </a:gridCol>
                <a:gridCol w="481464">
                  <a:extLst>
                    <a:ext uri="{9D8B030D-6E8A-4147-A177-3AD203B41FA5}">
                      <a16:colId xmlns:a16="http://schemas.microsoft.com/office/drawing/2014/main" val="396343871"/>
                    </a:ext>
                  </a:extLst>
                </a:gridCol>
                <a:gridCol w="722812">
                  <a:extLst>
                    <a:ext uri="{9D8B030D-6E8A-4147-A177-3AD203B41FA5}">
                      <a16:colId xmlns:a16="http://schemas.microsoft.com/office/drawing/2014/main" val="2529704633"/>
                    </a:ext>
                  </a:extLst>
                </a:gridCol>
                <a:gridCol w="740228">
                  <a:extLst>
                    <a:ext uri="{9D8B030D-6E8A-4147-A177-3AD203B41FA5}">
                      <a16:colId xmlns:a16="http://schemas.microsoft.com/office/drawing/2014/main" val="1132999821"/>
                    </a:ext>
                  </a:extLst>
                </a:gridCol>
                <a:gridCol w="746034">
                  <a:extLst>
                    <a:ext uri="{9D8B030D-6E8A-4147-A177-3AD203B41FA5}">
                      <a16:colId xmlns:a16="http://schemas.microsoft.com/office/drawing/2014/main" val="3691609938"/>
                    </a:ext>
                  </a:extLst>
                </a:gridCol>
                <a:gridCol w="746034">
                  <a:extLst>
                    <a:ext uri="{9D8B030D-6E8A-4147-A177-3AD203B41FA5}">
                      <a16:colId xmlns:a16="http://schemas.microsoft.com/office/drawing/2014/main" val="1090147686"/>
                    </a:ext>
                  </a:extLst>
                </a:gridCol>
                <a:gridCol w="746034">
                  <a:extLst>
                    <a:ext uri="{9D8B030D-6E8A-4147-A177-3AD203B41FA5}">
                      <a16:colId xmlns:a16="http://schemas.microsoft.com/office/drawing/2014/main" val="718023483"/>
                    </a:ext>
                  </a:extLst>
                </a:gridCol>
                <a:gridCol w="3901125">
                  <a:extLst>
                    <a:ext uri="{9D8B030D-6E8A-4147-A177-3AD203B41FA5}">
                      <a16:colId xmlns:a16="http://schemas.microsoft.com/office/drawing/2014/main" val="3494645373"/>
                    </a:ext>
                  </a:extLst>
                </a:gridCol>
              </a:tblGrid>
              <a:tr h="266793">
                <a:tc>
                  <a:txBody>
                    <a:bodyPr/>
                    <a:lstStyle/>
                    <a:p>
                      <a:pPr algn="l"/>
                      <a:r>
                        <a:rPr lang="en-US" sz="800" dirty="0">
                          <a:latin typeface="+mj-lt"/>
                        </a:rPr>
                        <a:t>Sr. No</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Name</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Fuel</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Installed Capacity</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Owner Group</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Foreign Loan</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MLA</a:t>
                      </a:r>
                      <a:r>
                        <a:rPr lang="en-US" sz="800" baseline="0" dirty="0">
                          <a:latin typeface="+mj-lt"/>
                        </a:rPr>
                        <a:t> Funding</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Foreign Equity</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latin typeface="+mj-lt"/>
                        </a:rPr>
                        <a:t>Remarks</a:t>
                      </a:r>
                      <a:endParaRPr lang="en-IN" sz="800" dirty="0">
                        <a:latin typeface="+mj-lt"/>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60261459"/>
                  </a:ext>
                </a:extLst>
              </a:tr>
              <a:tr h="529300">
                <a:tc>
                  <a:txBody>
                    <a:bodyPr/>
                    <a:lstStyle/>
                    <a:p>
                      <a:pPr algn="l" fontAlgn="ctr"/>
                      <a:r>
                        <a:rPr lang="en-US" sz="800" b="0" i="0" u="none" strike="noStrike" dirty="0">
                          <a:solidFill>
                            <a:srgbClr val="000000"/>
                          </a:solidFill>
                          <a:effectLst/>
                          <a:latin typeface="Verdana" panose="020B0604030504040204" pitchFamily="34" charset="0"/>
                        </a:rPr>
                        <a:t>18</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b="0" i="0" u="none" strike="noStrike" dirty="0" err="1">
                          <a:solidFill>
                            <a:srgbClr val="000000"/>
                          </a:solidFill>
                          <a:effectLst/>
                          <a:latin typeface="Verdana" panose="020B0604030504040204" pitchFamily="34" charset="0"/>
                        </a:rPr>
                        <a:t>Bogura</a:t>
                      </a:r>
                      <a:r>
                        <a:rPr lang="en-US" sz="800" b="0" i="0" u="none" strike="noStrike" dirty="0">
                          <a:solidFill>
                            <a:srgbClr val="000000"/>
                          </a:solidFill>
                          <a:effectLst/>
                          <a:latin typeface="Verdana" panose="020B0604030504040204" pitchFamily="34" charset="0"/>
                        </a:rPr>
                        <a:t> 100 MW Power Plant (Unit-1)</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113</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Confidence Cement</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 USD135 million term loan facility from IDCOL for </a:t>
                      </a:r>
                      <a:r>
                        <a:rPr lang="en-US" sz="800" b="0" i="0" u="none" strike="noStrike" dirty="0" err="1">
                          <a:solidFill>
                            <a:srgbClr val="000000"/>
                          </a:solidFill>
                          <a:effectLst/>
                          <a:latin typeface="Verdana" panose="020B0604030504040204" pitchFamily="34" charset="0"/>
                        </a:rPr>
                        <a:t>Bogra</a:t>
                      </a:r>
                      <a:r>
                        <a:rPr lang="en-US" sz="800" b="0" i="0" u="none" strike="noStrike" dirty="0">
                          <a:solidFill>
                            <a:srgbClr val="000000"/>
                          </a:solidFill>
                          <a:effectLst/>
                          <a:latin typeface="Verdana" panose="020B0604030504040204" pitchFamily="34" charset="0"/>
                        </a:rPr>
                        <a:t>, Rangpur and Chittagong Projects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93893729"/>
                  </a:ext>
                </a:extLst>
              </a:tr>
              <a:tr h="529300">
                <a:tc>
                  <a:txBody>
                    <a:bodyPr/>
                    <a:lstStyle/>
                    <a:p>
                      <a:pPr algn="l" fontAlgn="ctr"/>
                      <a:r>
                        <a:rPr lang="en-US" sz="800" b="0" i="0" u="none" strike="noStrike" dirty="0">
                          <a:solidFill>
                            <a:srgbClr val="000000"/>
                          </a:solidFill>
                          <a:effectLst/>
                          <a:latin typeface="Verdana" panose="020B0604030504040204" pitchFamily="34" charset="0"/>
                        </a:rPr>
                        <a:t>19</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b="0" i="0" u="none" strike="noStrike">
                          <a:solidFill>
                            <a:srgbClr val="000000"/>
                          </a:solidFill>
                          <a:effectLst/>
                          <a:latin typeface="Verdana" panose="020B0604030504040204" pitchFamily="34" charset="0"/>
                        </a:rPr>
                        <a:t>Rangpur 113 MW Power Plant</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113</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Confidence Cement</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t"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r>
                        <a:rPr lang="en-US" sz="800" b="0" i="0" u="none" strike="noStrike" dirty="0">
                          <a:solidFill>
                            <a:srgbClr val="000000"/>
                          </a:solidFill>
                          <a:effectLst/>
                          <a:latin typeface="Verdana" panose="020B0604030504040204" pitchFamily="34" charset="0"/>
                        </a:rPr>
                        <a:t>- USD135 million term loan facility from IDCOL for </a:t>
                      </a:r>
                      <a:r>
                        <a:rPr lang="en-US" sz="800" b="0" i="0" u="none" strike="noStrike" dirty="0" err="1">
                          <a:solidFill>
                            <a:srgbClr val="000000"/>
                          </a:solidFill>
                          <a:effectLst/>
                          <a:latin typeface="Verdana" panose="020B0604030504040204" pitchFamily="34" charset="0"/>
                        </a:rPr>
                        <a:t>Bogra</a:t>
                      </a:r>
                      <a:r>
                        <a:rPr lang="en-US" sz="800" b="0" i="0" u="none" strike="noStrike" dirty="0">
                          <a:solidFill>
                            <a:srgbClr val="000000"/>
                          </a:solidFill>
                          <a:effectLst/>
                          <a:latin typeface="Verdana" panose="020B0604030504040204" pitchFamily="34" charset="0"/>
                        </a:rPr>
                        <a:t>, Rangpur and Chittagong Projects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17015699"/>
                  </a:ext>
                </a:extLst>
              </a:tr>
              <a:tr h="713405">
                <a:tc>
                  <a:txBody>
                    <a:bodyPr/>
                    <a:lstStyle/>
                    <a:p>
                      <a:pPr algn="l" fontAlgn="ctr"/>
                      <a:r>
                        <a:rPr lang="en-US" sz="800" b="0" i="0" u="none" strike="noStrike" dirty="0">
                          <a:solidFill>
                            <a:srgbClr val="000000"/>
                          </a:solidFill>
                          <a:effectLst/>
                          <a:latin typeface="Verdana" panose="020B0604030504040204" pitchFamily="34" charset="0"/>
                        </a:rPr>
                        <a:t>20</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err="1">
                          <a:solidFill>
                            <a:srgbClr val="000000"/>
                          </a:solidFill>
                          <a:effectLst/>
                          <a:latin typeface="Verdana" panose="020B0604030504040204" pitchFamily="34" charset="0"/>
                        </a:rPr>
                        <a:t>Potiya</a:t>
                      </a:r>
                      <a:r>
                        <a:rPr lang="en-IN" sz="800" b="0" i="0" u="none" strike="noStrike" dirty="0">
                          <a:solidFill>
                            <a:srgbClr val="000000"/>
                          </a:solidFill>
                          <a:effectLst/>
                          <a:latin typeface="Verdana" panose="020B0604030504040204" pitchFamily="34" charset="0"/>
                        </a:rPr>
                        <a:t>, </a:t>
                      </a:r>
                      <a:r>
                        <a:rPr lang="en-IN" sz="800" b="0" i="0" u="none" strike="noStrike" dirty="0" err="1">
                          <a:solidFill>
                            <a:srgbClr val="000000"/>
                          </a:solidFill>
                          <a:effectLst/>
                          <a:latin typeface="Verdana" panose="020B0604030504040204" pitchFamily="34" charset="0"/>
                        </a:rPr>
                        <a:t>Chattogram</a:t>
                      </a:r>
                      <a:r>
                        <a:rPr lang="en-IN" sz="800" b="0" i="0" u="none" strike="noStrike" dirty="0">
                          <a:solidFill>
                            <a:srgbClr val="000000"/>
                          </a:solidFill>
                          <a:effectLst/>
                          <a:latin typeface="Verdana" panose="020B0604030504040204" pitchFamily="34" charset="0"/>
                        </a:rPr>
                        <a:t> 100 MW PP (Precision Energy)</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116</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err="1">
                          <a:solidFill>
                            <a:srgbClr val="000000"/>
                          </a:solidFill>
                          <a:effectLst/>
                          <a:latin typeface="Verdana" panose="020B0604030504040204" pitchFamily="34" charset="0"/>
                        </a:rPr>
                        <a:t>Anlima</a:t>
                      </a:r>
                      <a:r>
                        <a:rPr lang="en-IN" sz="800" b="0" i="0" u="none" strike="noStrike" dirty="0">
                          <a:solidFill>
                            <a:srgbClr val="000000"/>
                          </a:solidFill>
                          <a:effectLst/>
                          <a:latin typeface="Verdana" panose="020B0604030504040204" pitchFamily="34" charset="0"/>
                        </a:rPr>
                        <a:t> Textiles</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841166589"/>
                  </a:ext>
                </a:extLst>
              </a:tr>
              <a:tr h="437248">
                <a:tc>
                  <a:txBody>
                    <a:bodyPr/>
                    <a:lstStyle/>
                    <a:p>
                      <a:pPr algn="l" fontAlgn="ctr"/>
                      <a:r>
                        <a:rPr lang="en-US" sz="800" b="0" i="0" u="none" strike="noStrike" dirty="0">
                          <a:solidFill>
                            <a:srgbClr val="000000"/>
                          </a:solidFill>
                          <a:effectLst/>
                          <a:latin typeface="Verdana" panose="020B0604030504040204" pitchFamily="34" charset="0"/>
                        </a:rPr>
                        <a:t>21</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err="1">
                          <a:solidFill>
                            <a:srgbClr val="000000"/>
                          </a:solidFill>
                          <a:effectLst/>
                          <a:latin typeface="Verdana" panose="020B0604030504040204" pitchFamily="34" charset="0"/>
                        </a:rPr>
                        <a:t>Bhairab</a:t>
                      </a:r>
                      <a:r>
                        <a:rPr lang="en-IN" sz="800" b="0" i="0" u="none" strike="noStrike" dirty="0">
                          <a:solidFill>
                            <a:srgbClr val="000000"/>
                          </a:solidFill>
                          <a:effectLst/>
                          <a:latin typeface="Verdana" panose="020B0604030504040204" pitchFamily="34" charset="0"/>
                        </a:rPr>
                        <a:t> 50 MW PP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54</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N/A</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40133394"/>
                  </a:ext>
                </a:extLst>
              </a:tr>
              <a:tr h="437248">
                <a:tc>
                  <a:txBody>
                    <a:bodyPr/>
                    <a:lstStyle/>
                    <a:p>
                      <a:pPr algn="l" fontAlgn="ctr"/>
                      <a:r>
                        <a:rPr lang="en-US" sz="800" b="0" i="0" u="none" strike="noStrike" dirty="0">
                          <a:solidFill>
                            <a:srgbClr val="000000"/>
                          </a:solidFill>
                          <a:effectLst/>
                          <a:latin typeface="Verdana" panose="020B0604030504040204" pitchFamily="34" charset="0"/>
                        </a:rPr>
                        <a:t>22</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de-DE" sz="800" b="0" i="0" u="none" strike="noStrike" dirty="0">
                          <a:solidFill>
                            <a:srgbClr val="000000"/>
                          </a:solidFill>
                          <a:effectLst/>
                          <a:latin typeface="Verdana" panose="020B0604030504040204" pitchFamily="34" charset="0"/>
                        </a:rPr>
                        <a:t>Shikalbaha, Chattogram 54 MW PP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54</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a:solidFill>
                            <a:srgbClr val="000000"/>
                          </a:solidFill>
                          <a:effectLst/>
                          <a:latin typeface="Verdana" panose="020B0604030504040204" pitchFamily="34" charset="0"/>
                        </a:rPr>
                        <a:t>N/A</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endParaRPr lang="en-US"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1729334"/>
                  </a:ext>
                </a:extLst>
              </a:tr>
              <a:tr h="345196">
                <a:tc>
                  <a:txBody>
                    <a:bodyPr/>
                    <a:lstStyle/>
                    <a:p>
                      <a:pPr algn="l" fontAlgn="ctr"/>
                      <a:r>
                        <a:rPr lang="en-US" sz="800" b="0" i="0" u="none" strike="noStrike" dirty="0">
                          <a:solidFill>
                            <a:srgbClr val="000000"/>
                          </a:solidFill>
                          <a:effectLst/>
                          <a:latin typeface="Verdana" panose="020B0604030504040204" pitchFamily="34" charset="0"/>
                        </a:rPr>
                        <a:t>23</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b="0" i="0" u="none" strike="noStrike" dirty="0">
                          <a:solidFill>
                            <a:srgbClr val="000000"/>
                          </a:solidFill>
                          <a:effectLst/>
                          <a:latin typeface="Verdana" panose="020B0604030504040204" pitchFamily="34" charset="0"/>
                        </a:rPr>
                        <a:t>Meghnaghat 104 MW Power Plant</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HFO</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104</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Orion Group</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endParaRPr lang="en-US"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281155263"/>
                  </a:ext>
                </a:extLst>
              </a:tr>
              <a:tr h="460825">
                <a:tc>
                  <a:txBody>
                    <a:bodyPr/>
                    <a:lstStyle/>
                    <a:p>
                      <a:pPr algn="l" fontAlgn="ctr"/>
                      <a:r>
                        <a:rPr lang="en-US" sz="800" b="0" i="0" u="none" strike="noStrike" dirty="0">
                          <a:solidFill>
                            <a:srgbClr val="000000"/>
                          </a:solidFill>
                          <a:effectLst/>
                          <a:latin typeface="Verdana" panose="020B0604030504040204" pitchFamily="34" charset="0"/>
                        </a:rPr>
                        <a:t>24</a:t>
                      </a:r>
                      <a:endParaRPr lang="en-IN"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b="0" i="0" u="none" strike="noStrike" dirty="0">
                          <a:solidFill>
                            <a:srgbClr val="000000"/>
                          </a:solidFill>
                          <a:effectLst/>
                          <a:latin typeface="Verdana" panose="020B0604030504040204" pitchFamily="34" charset="0"/>
                        </a:rPr>
                        <a:t>Payra, </a:t>
                      </a:r>
                      <a:r>
                        <a:rPr lang="en-US" sz="800" b="0" i="0" u="none" strike="noStrike" dirty="0" err="1">
                          <a:solidFill>
                            <a:srgbClr val="000000"/>
                          </a:solidFill>
                          <a:effectLst/>
                          <a:latin typeface="Verdana" panose="020B0604030504040204" pitchFamily="34" charset="0"/>
                        </a:rPr>
                        <a:t>Patuakhali</a:t>
                      </a:r>
                      <a:r>
                        <a:rPr lang="en-US" sz="800" b="0" i="0" u="none" strike="noStrike" dirty="0">
                          <a:solidFill>
                            <a:srgbClr val="000000"/>
                          </a:solidFill>
                          <a:effectLst/>
                          <a:latin typeface="Verdana" panose="020B0604030504040204" pitchFamily="34" charset="0"/>
                        </a:rPr>
                        <a:t> 1320 Coal Fired</a:t>
                      </a:r>
                      <a:br>
                        <a:rPr lang="en-US" sz="800" b="0" i="0" u="none" strike="noStrike" dirty="0">
                          <a:solidFill>
                            <a:srgbClr val="000000"/>
                          </a:solidFill>
                          <a:effectLst/>
                          <a:latin typeface="Verdana" panose="020B0604030504040204" pitchFamily="34" charset="0"/>
                        </a:rPr>
                      </a:br>
                      <a:r>
                        <a:rPr lang="en-US" sz="800" b="0" i="0" u="none" strike="noStrike" dirty="0">
                          <a:solidFill>
                            <a:srgbClr val="000000"/>
                          </a:solidFill>
                          <a:effectLst/>
                          <a:latin typeface="Verdana" panose="020B0604030504040204" pitchFamily="34" charset="0"/>
                        </a:rPr>
                        <a:t>Power Plant (2nd Phase)</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Imported Coal</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1320</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N" sz="800" b="0" i="0" u="none" strike="noStrike" dirty="0">
                          <a:solidFill>
                            <a:srgbClr val="000000"/>
                          </a:solidFill>
                          <a:effectLst/>
                          <a:latin typeface="Verdana" panose="020B0604030504040204" pitchFamily="34" charset="0"/>
                        </a:rPr>
                        <a:t>BCPCL</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90571" rtl="0" eaLnBrk="1" fontAlgn="b" latinLnBrk="0" hangingPunct="1">
                        <a:lnSpc>
                          <a:spcPct val="100000"/>
                        </a:lnSpc>
                        <a:spcBef>
                          <a:spcPts val="0"/>
                        </a:spcBef>
                        <a:spcAft>
                          <a:spcPts val="0"/>
                        </a:spcAft>
                        <a:buClrTx/>
                        <a:buSzTx/>
                        <a:buFontTx/>
                        <a:buNone/>
                        <a:tabLst/>
                        <a:defRPr/>
                      </a:pPr>
                      <a:r>
                        <a:rPr lang="en-US" sz="800" b="0" i="0" u="none" strike="noStrike" kern="1200" dirty="0">
                          <a:solidFill>
                            <a:srgbClr val="000000"/>
                          </a:solidFill>
                          <a:effectLst/>
                          <a:latin typeface="+mn-lt"/>
                          <a:ea typeface="+mn-ea"/>
                          <a:cs typeface="+mn-cs"/>
                        </a:rPr>
                        <a:t>N/A</a:t>
                      </a:r>
                      <a:endParaRPr lang="en-IN" sz="800" b="0" i="0" u="none" strike="noStrike" kern="1200" dirty="0">
                        <a:solidFill>
                          <a:srgbClr val="000000"/>
                        </a:solidFill>
                        <a:effectLst/>
                        <a:latin typeface="+mn-lt"/>
                        <a:ea typeface="+mn-ea"/>
                        <a:cs typeface="+mn-cs"/>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t"/>
                      <a:endParaRPr lang="en-US" sz="800" b="0" i="0" u="none" strike="noStrike" dirty="0">
                        <a:solidFill>
                          <a:srgbClr val="000000"/>
                        </a:solidFill>
                        <a:effectLst/>
                        <a:latin typeface="Verdana" panose="020B0604030504040204" pitchFamily="34" charset="0"/>
                      </a:endParaRP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959194176"/>
                  </a:ext>
                </a:extLst>
              </a:tr>
            </a:tbl>
          </a:graphicData>
        </a:graphic>
      </p:graphicFrame>
      <p:sp>
        <p:nvSpPr>
          <p:cNvPr id="5" name="TextBox 4"/>
          <p:cNvSpPr txBox="1"/>
          <p:nvPr/>
        </p:nvSpPr>
        <p:spPr>
          <a:xfrm>
            <a:off x="8032166" y="7145499"/>
            <a:ext cx="2111475" cy="92333"/>
          </a:xfrm>
          <a:prstGeom prst="rect">
            <a:avLst/>
          </a:prstGeom>
          <a:noFill/>
        </p:spPr>
        <p:txBody>
          <a:bodyPr wrap="square" lIns="0" tIns="0" rIns="0" bIns="0" rtlCol="0">
            <a:spAutoFit/>
          </a:bodyPr>
          <a:lstStyle/>
          <a:p>
            <a:pPr fontAlgn="t"/>
            <a:r>
              <a:rPr lang="en-IN" sz="600" b="1" dirty="0">
                <a:solidFill>
                  <a:srgbClr val="000000"/>
                </a:solidFill>
                <a:latin typeface="+mj-lt"/>
              </a:rPr>
              <a:t>Legend</a:t>
            </a:r>
            <a:r>
              <a:rPr lang="en-IN" sz="600" dirty="0">
                <a:solidFill>
                  <a:srgbClr val="000000"/>
                </a:solidFill>
                <a:latin typeface="+mj-lt"/>
              </a:rPr>
              <a:t>:    </a:t>
            </a:r>
            <a:r>
              <a:rPr lang="en-IN" sz="600" dirty="0">
                <a:solidFill>
                  <a:srgbClr val="000000"/>
                </a:solidFill>
                <a:latin typeface="Wingdings" panose="05000000000000000000" pitchFamily="2" charset="2"/>
              </a:rPr>
              <a:t>ü </a:t>
            </a:r>
            <a:r>
              <a:rPr lang="en-IN" sz="600" dirty="0">
                <a:solidFill>
                  <a:srgbClr val="000000"/>
                </a:solidFill>
                <a:latin typeface="+mj-lt"/>
              </a:rPr>
              <a:t>Yes      </a:t>
            </a:r>
            <a:r>
              <a:rPr lang="en-IN" sz="600" dirty="0">
                <a:solidFill>
                  <a:srgbClr val="000000"/>
                </a:solidFill>
                <a:latin typeface="Wingdings" panose="05000000000000000000" pitchFamily="2" charset="2"/>
              </a:rPr>
              <a:t>û </a:t>
            </a:r>
            <a:r>
              <a:rPr lang="en-IN" sz="600" dirty="0">
                <a:solidFill>
                  <a:srgbClr val="000000"/>
                </a:solidFill>
                <a:latin typeface="+mj-lt"/>
              </a:rPr>
              <a:t>No       N/A: Not Available </a:t>
            </a:r>
            <a:endParaRPr lang="en-IN" sz="600" dirty="0">
              <a:solidFill>
                <a:srgbClr val="000000"/>
              </a:solidFill>
              <a:latin typeface="Wingdings" panose="05000000000000000000" pitchFamily="2" charset="2"/>
            </a:endParaRPr>
          </a:p>
        </p:txBody>
      </p:sp>
      <p:sp>
        <p:nvSpPr>
          <p:cNvPr id="8" name="SlideTitle"/>
          <p:cNvSpPr>
            <a:spLocks noGrp="1"/>
          </p:cNvSpPr>
          <p:nvPr>
            <p:ph type="title"/>
          </p:nvPr>
        </p:nvSpPr>
        <p:spPr>
          <a:xfrm>
            <a:off x="449993" y="647990"/>
            <a:ext cx="9791843" cy="431993"/>
          </a:xfrm>
        </p:spPr>
        <p:txBody>
          <a:bodyPr lIns="0" tIns="0" rIns="0" bIns="0" anchor="ctr">
            <a:noAutofit/>
          </a:bodyPr>
          <a:lstStyle/>
          <a:p>
            <a:r>
              <a:rPr lang="en-GB" dirty="0">
                <a:solidFill>
                  <a:srgbClr val="000000"/>
                </a:solidFill>
                <a:latin typeface="Verdana" panose="020B0604030504040204" pitchFamily="34" charset="0"/>
              </a:rPr>
              <a:t>Annexure O | Plant Sponsors – Upcoming / Planned</a:t>
            </a:r>
            <a:endParaRPr lang="en-GB" noProof="0" dirty="0">
              <a:solidFill>
                <a:srgbClr val="000000"/>
              </a:solidFill>
              <a:latin typeface="Verdana" panose="020B0604030504040204" pitchFamily="34" charset="0"/>
            </a:endParaRPr>
          </a:p>
        </p:txBody>
      </p:sp>
      <p:sp>
        <p:nvSpPr>
          <p:cNvPr id="9" name="Rectangle 8"/>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lvl="0">
              <a:lnSpc>
                <a:spcPct val="106000"/>
              </a:lnSpc>
              <a:defRPr/>
            </a:pPr>
            <a:r>
              <a:rPr lang="en-US" sz="700" i="1" dirty="0">
                <a:solidFill>
                  <a:prstClr val="black"/>
                </a:solidFill>
              </a:rPr>
              <a:t>Source: Industry Reports, Deloitte Analysis</a:t>
            </a:r>
          </a:p>
        </p:txBody>
      </p:sp>
    </p:spTree>
    <p:extLst>
      <p:ext uri="{BB962C8B-B14F-4D97-AF65-F5344CB8AC3E}">
        <p14:creationId xmlns:p14="http://schemas.microsoft.com/office/powerpoint/2010/main" val="601638083"/>
      </p:ext>
    </p:extLst>
  </p:cSld>
  <p:clrMapOvr>
    <a:masterClrMapping/>
  </p:clrMapOvr>
  <p:transition>
    <p:fade/>
  </p:transition>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noChangeAspect="1"/>
          </p:cNvGraphicFramePr>
          <p:nvPr>
            <p:custDataLst>
              <p:tags r:id="rId1"/>
            </p:custDataLst>
            <p:extLst>
              <p:ext uri="{D42A27DB-BD31-4B8C-83A1-F6EECF244321}">
                <p14:modId xmlns:p14="http://schemas.microsoft.com/office/powerpoint/2010/main" val="369418471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30" imgH="531" progId="TCLayout.ActiveDocument.1">
                  <p:embed/>
                </p:oleObj>
              </mc:Choice>
              <mc:Fallback>
                <p:oleObj name="think-cell Slide" r:id="rId5" imgW="530" imgH="531" progId="TCLayout.ActiveDocument.1">
                  <p:embed/>
                  <p:pic>
                    <p:nvPicPr>
                      <p:cNvPr id="6" name="Object 5"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algn="ctr">
              <a:lnSpc>
                <a:spcPct val="106000"/>
              </a:lnSpc>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graphicFrame>
        <p:nvGraphicFramePr>
          <p:cNvPr id="3" name="Table 2"/>
          <p:cNvGraphicFramePr>
            <a:graphicFrameLocks noGrp="1"/>
          </p:cNvGraphicFramePr>
          <p:nvPr>
            <p:custDataLst>
              <p:tags r:id="rId3"/>
            </p:custDataLst>
            <p:extLst>
              <p:ext uri="{D42A27DB-BD31-4B8C-83A1-F6EECF244321}">
                <p14:modId xmlns:p14="http://schemas.microsoft.com/office/powerpoint/2010/main" val="583849927"/>
              </p:ext>
            </p:extLst>
          </p:nvPr>
        </p:nvGraphicFramePr>
        <p:xfrm>
          <a:off x="449992" y="1961918"/>
          <a:ext cx="9790971" cy="5090748"/>
        </p:xfrm>
        <a:graphic>
          <a:graphicData uri="http://schemas.openxmlformats.org/drawingml/2006/table">
            <a:tbl>
              <a:tblPr firstRow="1" bandRow="1">
                <a:tableStyleId>{5C22544A-7EE6-4342-B048-85BDC9FD1C3A}</a:tableStyleId>
              </a:tblPr>
              <a:tblGrid>
                <a:gridCol w="9790971">
                  <a:extLst>
                    <a:ext uri="{9D8B030D-6E8A-4147-A177-3AD203B41FA5}">
                      <a16:colId xmlns:a16="http://schemas.microsoft.com/office/drawing/2014/main" val="20000"/>
                    </a:ext>
                  </a:extLst>
                </a:gridCol>
              </a:tblGrid>
              <a:tr h="5090748">
                <a:tc>
                  <a:txBody>
                    <a:bodyPr/>
                    <a:lstStyle/>
                    <a:p>
                      <a:pPr marL="0" indent="0" algn="ctr">
                        <a:spcBef>
                          <a:spcPts val="600"/>
                        </a:spcBef>
                        <a:spcAft>
                          <a:spcPts val="600"/>
                        </a:spcAft>
                        <a:buFont typeface="Arial" panose="020B0604020202020204" pitchFamily="34" charset="0"/>
                        <a:buNone/>
                      </a:pPr>
                      <a:r>
                        <a:rPr lang="en-US" sz="1000" b="1" baseline="0" dirty="0">
                          <a:solidFill>
                            <a:schemeClr val="tx1"/>
                          </a:solidFill>
                        </a:rPr>
                        <a:t>Top 20 Private Players in Bangladesh and their Portfolio in FY19</a:t>
                      </a: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graphicFrame>
        <p:nvGraphicFramePr>
          <p:cNvPr id="5" name="Table 4"/>
          <p:cNvGraphicFramePr>
            <a:graphicFrameLocks noGrp="1"/>
          </p:cNvGraphicFramePr>
          <p:nvPr>
            <p:extLst>
              <p:ext uri="{D42A27DB-BD31-4B8C-83A1-F6EECF244321}">
                <p14:modId xmlns:p14="http://schemas.microsoft.com/office/powerpoint/2010/main" val="4081337129"/>
              </p:ext>
            </p:extLst>
          </p:nvPr>
        </p:nvGraphicFramePr>
        <p:xfrm>
          <a:off x="449264" y="2311280"/>
          <a:ext cx="9791698" cy="4741386"/>
        </p:xfrm>
        <a:graphic>
          <a:graphicData uri="http://schemas.openxmlformats.org/drawingml/2006/table">
            <a:tbl>
              <a:tblPr firstRow="1" bandRow="1">
                <a:tableStyleId>{3B4B98B0-60AC-42C2-AFA5-B58CD77FA1E5}</a:tableStyleId>
              </a:tblPr>
              <a:tblGrid>
                <a:gridCol w="721614">
                  <a:extLst>
                    <a:ext uri="{9D8B030D-6E8A-4147-A177-3AD203B41FA5}">
                      <a16:colId xmlns:a16="http://schemas.microsoft.com/office/drawing/2014/main" val="2365367956"/>
                    </a:ext>
                  </a:extLst>
                </a:gridCol>
                <a:gridCol w="1745232">
                  <a:extLst>
                    <a:ext uri="{9D8B030D-6E8A-4147-A177-3AD203B41FA5}">
                      <a16:colId xmlns:a16="http://schemas.microsoft.com/office/drawing/2014/main" val="2464109418"/>
                    </a:ext>
                  </a:extLst>
                </a:gridCol>
                <a:gridCol w="1831213">
                  <a:extLst>
                    <a:ext uri="{9D8B030D-6E8A-4147-A177-3AD203B41FA5}">
                      <a16:colId xmlns:a16="http://schemas.microsoft.com/office/drawing/2014/main" val="1609079058"/>
                    </a:ext>
                  </a:extLst>
                </a:gridCol>
                <a:gridCol w="1831213">
                  <a:extLst>
                    <a:ext uri="{9D8B030D-6E8A-4147-A177-3AD203B41FA5}">
                      <a16:colId xmlns:a16="http://schemas.microsoft.com/office/drawing/2014/main" val="300031576"/>
                    </a:ext>
                  </a:extLst>
                </a:gridCol>
                <a:gridCol w="1831213">
                  <a:extLst>
                    <a:ext uri="{9D8B030D-6E8A-4147-A177-3AD203B41FA5}">
                      <a16:colId xmlns:a16="http://schemas.microsoft.com/office/drawing/2014/main" val="3111663198"/>
                    </a:ext>
                  </a:extLst>
                </a:gridCol>
                <a:gridCol w="1831213">
                  <a:extLst>
                    <a:ext uri="{9D8B030D-6E8A-4147-A177-3AD203B41FA5}">
                      <a16:colId xmlns:a16="http://schemas.microsoft.com/office/drawing/2014/main" val="45573797"/>
                    </a:ext>
                  </a:extLst>
                </a:gridCol>
              </a:tblGrid>
              <a:tr h="290916">
                <a:tc>
                  <a:txBody>
                    <a:bodyPr/>
                    <a:lstStyle/>
                    <a:p>
                      <a:pPr algn="ctr" fontAlgn="ctr"/>
                      <a:r>
                        <a:rPr lang="en-US" sz="1000" b="1" i="0" u="none" strike="noStrike" dirty="0">
                          <a:solidFill>
                            <a:srgbClr val="000000"/>
                          </a:solidFill>
                          <a:effectLst/>
                          <a:latin typeface="Verdana" panose="020B0604030504040204" pitchFamily="34" charset="0"/>
                        </a:rPr>
                        <a:t>S. No.</a:t>
                      </a:r>
                      <a:endParaRPr lang="en-IN" sz="1000" b="1"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Group</a:t>
                      </a:r>
                      <a:endParaRPr lang="en-IN" sz="1000" b="1"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GAS</a:t>
                      </a:r>
                    </a:p>
                    <a:p>
                      <a:pPr algn="ctr" fontAlgn="ctr"/>
                      <a:r>
                        <a:rPr lang="en-US" sz="1000" b="1" i="0" u="none" strike="noStrike" dirty="0">
                          <a:solidFill>
                            <a:srgbClr val="000000"/>
                          </a:solidFill>
                          <a:effectLst/>
                          <a:latin typeface="Verdana" panose="020B0604030504040204" pitchFamily="34" charset="0"/>
                        </a:rPr>
                        <a:t>(MW)</a:t>
                      </a:r>
                      <a:endParaRPr lang="en-IN" sz="1000" b="1"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HFO</a:t>
                      </a:r>
                    </a:p>
                    <a:p>
                      <a:pPr algn="ctr" fontAlgn="ctr"/>
                      <a:r>
                        <a:rPr lang="en-US" sz="1000" b="1" i="0" u="none" strike="noStrike" dirty="0">
                          <a:solidFill>
                            <a:srgbClr val="000000"/>
                          </a:solidFill>
                          <a:effectLst/>
                          <a:latin typeface="Verdana" panose="020B0604030504040204" pitchFamily="34" charset="0"/>
                        </a:rPr>
                        <a:t>(MW)</a:t>
                      </a:r>
                      <a:endParaRPr lang="en-IN" sz="1000" b="1"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HSD</a:t>
                      </a:r>
                    </a:p>
                    <a:p>
                      <a:pPr algn="ctr" fontAlgn="ctr"/>
                      <a:r>
                        <a:rPr lang="en-US" sz="1000" b="1" i="0" u="none" strike="noStrike" dirty="0">
                          <a:solidFill>
                            <a:srgbClr val="000000"/>
                          </a:solidFill>
                          <a:effectLst/>
                          <a:latin typeface="Verdana" panose="020B0604030504040204" pitchFamily="34" charset="0"/>
                        </a:rPr>
                        <a:t>(MW)</a:t>
                      </a:r>
                      <a:endParaRPr lang="en-IN" sz="1000" b="1"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Total</a:t>
                      </a:r>
                    </a:p>
                    <a:p>
                      <a:pPr algn="ctr" fontAlgn="ctr"/>
                      <a:r>
                        <a:rPr lang="en-US" sz="1000" b="1" i="0" u="none" strike="noStrike" dirty="0">
                          <a:solidFill>
                            <a:srgbClr val="000000"/>
                          </a:solidFill>
                          <a:effectLst/>
                          <a:latin typeface="Verdana" panose="020B0604030504040204" pitchFamily="34" charset="0"/>
                        </a:rPr>
                        <a:t>(MW)</a:t>
                      </a:r>
                      <a:endParaRPr lang="en-IN" sz="1000" b="1" i="0" u="none" strike="noStrike" dirty="0">
                        <a:solidFill>
                          <a:srgbClr val="000000"/>
                        </a:solidFill>
                        <a:effectLst/>
                        <a:latin typeface="Verdana" panose="020B0604030504040204" pitchFamily="34" charset="0"/>
                      </a:endParaRPr>
                    </a:p>
                  </a:txBody>
                  <a:tcPr marL="0" marR="0" marT="0" marB="0" anchor="ctr"/>
                </a:tc>
                <a:extLst>
                  <a:ext uri="{0D108BD9-81ED-4DB2-BD59-A6C34878D82A}">
                    <a16:rowId xmlns:a16="http://schemas.microsoft.com/office/drawing/2014/main" val="1245473136"/>
                  </a:ext>
                </a:extLst>
              </a:tr>
              <a:tr h="211266">
                <a:tc>
                  <a:txBody>
                    <a:bodyPr/>
                    <a:lstStyle/>
                    <a:p>
                      <a:pPr algn="ctr" fontAlgn="ctr"/>
                      <a:r>
                        <a:rPr lang="en-US" sz="1000" b="0" i="0" u="none" strike="noStrike" dirty="0">
                          <a:solidFill>
                            <a:srgbClr val="000000"/>
                          </a:solidFill>
                          <a:effectLst/>
                          <a:latin typeface="Verdana" panose="020B0604030504040204" pitchFamily="34" charset="0"/>
                        </a:rPr>
                        <a:t>1</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l" fontAlgn="ctr"/>
                      <a:r>
                        <a:rPr lang="en-IN" sz="1000" u="none" strike="noStrike" dirty="0">
                          <a:effectLst/>
                        </a:rPr>
                        <a:t>Summit Group</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679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695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203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b="1" u="none" strike="noStrike" dirty="0">
                          <a:effectLst/>
                        </a:rPr>
                        <a:t>1,577 </a:t>
                      </a:r>
                      <a:endParaRPr lang="en-IN" sz="1000" b="1" i="0" u="none" strike="noStrike" dirty="0">
                        <a:solidFill>
                          <a:srgbClr val="000000"/>
                        </a:solidFill>
                        <a:effectLst/>
                        <a:latin typeface="Verdana" panose="020B0604030504040204" pitchFamily="34" charset="0"/>
                      </a:endParaRPr>
                    </a:p>
                  </a:txBody>
                  <a:tcPr marL="0" marR="0" marT="0" marB="0" anchor="ctr"/>
                </a:tc>
                <a:extLst>
                  <a:ext uri="{0D108BD9-81ED-4DB2-BD59-A6C34878D82A}">
                    <a16:rowId xmlns:a16="http://schemas.microsoft.com/office/drawing/2014/main" val="3639799885"/>
                  </a:ext>
                </a:extLst>
              </a:tr>
              <a:tr h="211266">
                <a:tc>
                  <a:txBody>
                    <a:bodyPr/>
                    <a:lstStyle/>
                    <a:p>
                      <a:pPr algn="ctr" fontAlgn="ctr"/>
                      <a:r>
                        <a:rPr lang="en-US" sz="1000" b="0" i="0" u="none" strike="noStrike" dirty="0">
                          <a:solidFill>
                            <a:srgbClr val="000000"/>
                          </a:solidFill>
                          <a:effectLst/>
                          <a:latin typeface="Verdana" panose="020B0604030504040204" pitchFamily="34" charset="0"/>
                        </a:rPr>
                        <a:t>2</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l" fontAlgn="ctr"/>
                      <a:r>
                        <a:rPr lang="en-IN" sz="1000" u="none" strike="noStrike" dirty="0" err="1">
                          <a:effectLst/>
                        </a:rPr>
                        <a:t>Pendekar</a:t>
                      </a:r>
                      <a:r>
                        <a:rPr lang="en-IN" sz="1000" u="none" strike="noStrike" dirty="0">
                          <a:effectLst/>
                        </a:rPr>
                        <a:t> Group</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810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110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b="1" u="none" strike="noStrike" dirty="0">
                          <a:effectLst/>
                        </a:rPr>
                        <a:t>920 </a:t>
                      </a:r>
                      <a:endParaRPr lang="en-IN" sz="1000" b="1" i="0" u="none" strike="noStrike" dirty="0">
                        <a:solidFill>
                          <a:srgbClr val="000000"/>
                        </a:solidFill>
                        <a:effectLst/>
                        <a:latin typeface="Verdana" panose="020B0604030504040204" pitchFamily="34" charset="0"/>
                      </a:endParaRPr>
                    </a:p>
                  </a:txBody>
                  <a:tcPr marL="0" marR="0" marT="0" marB="0" anchor="ctr"/>
                </a:tc>
                <a:extLst>
                  <a:ext uri="{0D108BD9-81ED-4DB2-BD59-A6C34878D82A}">
                    <a16:rowId xmlns:a16="http://schemas.microsoft.com/office/drawing/2014/main" val="949253025"/>
                  </a:ext>
                </a:extLst>
              </a:tr>
              <a:tr h="211266">
                <a:tc>
                  <a:txBody>
                    <a:bodyPr/>
                    <a:lstStyle/>
                    <a:p>
                      <a:pPr algn="ctr" fontAlgn="ctr"/>
                      <a:r>
                        <a:rPr lang="en-US" sz="1000" b="0" i="0" u="none" strike="noStrike" dirty="0">
                          <a:solidFill>
                            <a:srgbClr val="000000"/>
                          </a:solidFill>
                          <a:effectLst/>
                          <a:latin typeface="Verdana" panose="020B0604030504040204" pitchFamily="34" charset="0"/>
                        </a:rPr>
                        <a:t>3</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l" fontAlgn="ctr"/>
                      <a:r>
                        <a:rPr lang="en-IN" sz="1000" u="none" strike="noStrike" dirty="0">
                          <a:effectLst/>
                        </a:rPr>
                        <a:t>United Group</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273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615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b="1" u="none" strike="noStrike" dirty="0">
                          <a:effectLst/>
                        </a:rPr>
                        <a:t>888 </a:t>
                      </a:r>
                      <a:endParaRPr lang="en-IN" sz="1000" b="1" i="0" u="none" strike="noStrike" dirty="0">
                        <a:solidFill>
                          <a:srgbClr val="000000"/>
                        </a:solidFill>
                        <a:effectLst/>
                        <a:latin typeface="Verdana" panose="020B0604030504040204" pitchFamily="34" charset="0"/>
                      </a:endParaRPr>
                    </a:p>
                  </a:txBody>
                  <a:tcPr marL="0" marR="0" marT="0" marB="0" anchor="ctr"/>
                </a:tc>
                <a:extLst>
                  <a:ext uri="{0D108BD9-81ED-4DB2-BD59-A6C34878D82A}">
                    <a16:rowId xmlns:a16="http://schemas.microsoft.com/office/drawing/2014/main" val="3780024442"/>
                  </a:ext>
                </a:extLst>
              </a:tr>
              <a:tr h="211266">
                <a:tc>
                  <a:txBody>
                    <a:bodyPr/>
                    <a:lstStyle/>
                    <a:p>
                      <a:pPr algn="ctr" fontAlgn="ctr"/>
                      <a:r>
                        <a:rPr lang="en-US" sz="1000" b="0" i="0" u="none" strike="noStrike" dirty="0">
                          <a:solidFill>
                            <a:srgbClr val="000000"/>
                          </a:solidFill>
                          <a:effectLst/>
                          <a:latin typeface="Verdana" panose="020B0604030504040204" pitchFamily="34" charset="0"/>
                        </a:rPr>
                        <a:t>4</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l" fontAlgn="ctr"/>
                      <a:r>
                        <a:rPr lang="en-IN" sz="1000" u="none" strike="noStrike" dirty="0">
                          <a:effectLst/>
                        </a:rPr>
                        <a:t>Bangla </a:t>
                      </a:r>
                      <a:r>
                        <a:rPr lang="en-IN" sz="1000" u="none" strike="noStrike" dirty="0" err="1">
                          <a:effectLst/>
                        </a:rPr>
                        <a:t>Trac</a:t>
                      </a:r>
                      <a:r>
                        <a:rPr lang="en-IN" sz="1000" u="none" strike="noStrike" dirty="0">
                          <a:effectLst/>
                        </a:rPr>
                        <a:t> Group</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200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500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b="1" u="none" strike="noStrike" dirty="0">
                          <a:effectLst/>
                        </a:rPr>
                        <a:t>700 </a:t>
                      </a:r>
                      <a:endParaRPr lang="en-IN" sz="1000" b="1" i="0" u="none" strike="noStrike" dirty="0">
                        <a:solidFill>
                          <a:srgbClr val="000000"/>
                        </a:solidFill>
                        <a:effectLst/>
                        <a:latin typeface="Verdana" panose="020B0604030504040204" pitchFamily="34" charset="0"/>
                      </a:endParaRPr>
                    </a:p>
                  </a:txBody>
                  <a:tcPr marL="0" marR="0" marT="0" marB="0" anchor="ctr"/>
                </a:tc>
                <a:extLst>
                  <a:ext uri="{0D108BD9-81ED-4DB2-BD59-A6C34878D82A}">
                    <a16:rowId xmlns:a16="http://schemas.microsoft.com/office/drawing/2014/main" val="727125986"/>
                  </a:ext>
                </a:extLst>
              </a:tr>
              <a:tr h="211266">
                <a:tc>
                  <a:txBody>
                    <a:bodyPr/>
                    <a:lstStyle/>
                    <a:p>
                      <a:pPr algn="ctr" fontAlgn="ctr"/>
                      <a:r>
                        <a:rPr lang="en-US" sz="1000" b="0" i="0" u="none" strike="noStrike" dirty="0">
                          <a:solidFill>
                            <a:srgbClr val="000000"/>
                          </a:solidFill>
                          <a:effectLst/>
                          <a:latin typeface="Verdana" panose="020B0604030504040204" pitchFamily="34" charset="0"/>
                        </a:rPr>
                        <a:t>5</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l" fontAlgn="ctr"/>
                      <a:r>
                        <a:rPr lang="en-IN" sz="1000" u="none" strike="noStrike" dirty="0">
                          <a:effectLst/>
                        </a:rPr>
                        <a:t>Aggreko Energy</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180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255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b="1" u="none" strike="noStrike" dirty="0">
                          <a:effectLst/>
                        </a:rPr>
                        <a:t>435 </a:t>
                      </a:r>
                      <a:endParaRPr lang="en-IN" sz="1000" b="1" i="0" u="none" strike="noStrike" dirty="0">
                        <a:solidFill>
                          <a:srgbClr val="000000"/>
                        </a:solidFill>
                        <a:effectLst/>
                        <a:latin typeface="Verdana" panose="020B0604030504040204" pitchFamily="34" charset="0"/>
                      </a:endParaRPr>
                    </a:p>
                  </a:txBody>
                  <a:tcPr marL="0" marR="0" marT="0" marB="0" anchor="ctr"/>
                </a:tc>
                <a:extLst>
                  <a:ext uri="{0D108BD9-81ED-4DB2-BD59-A6C34878D82A}">
                    <a16:rowId xmlns:a16="http://schemas.microsoft.com/office/drawing/2014/main" val="4290838744"/>
                  </a:ext>
                </a:extLst>
              </a:tr>
              <a:tr h="211266">
                <a:tc>
                  <a:txBody>
                    <a:bodyPr/>
                    <a:lstStyle/>
                    <a:p>
                      <a:pPr algn="ctr" fontAlgn="ctr"/>
                      <a:r>
                        <a:rPr lang="en-US" sz="1000" b="0" i="0" u="none" strike="noStrike" dirty="0">
                          <a:solidFill>
                            <a:srgbClr val="000000"/>
                          </a:solidFill>
                          <a:effectLst/>
                          <a:latin typeface="Verdana" panose="020B0604030504040204" pitchFamily="34" charset="0"/>
                        </a:rPr>
                        <a:t>6</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l" fontAlgn="ctr"/>
                      <a:r>
                        <a:rPr lang="en-IN" sz="1000" u="none" strike="noStrike" dirty="0">
                          <a:effectLst/>
                        </a:rPr>
                        <a:t>Orion Group</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407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b="1" u="none" strike="noStrike" dirty="0">
                          <a:effectLst/>
                        </a:rPr>
                        <a:t>407 </a:t>
                      </a:r>
                      <a:endParaRPr lang="en-IN" sz="1000" b="1" i="0" u="none" strike="noStrike" dirty="0">
                        <a:solidFill>
                          <a:srgbClr val="000000"/>
                        </a:solidFill>
                        <a:effectLst/>
                        <a:latin typeface="Verdana" panose="020B0604030504040204" pitchFamily="34" charset="0"/>
                      </a:endParaRPr>
                    </a:p>
                  </a:txBody>
                  <a:tcPr marL="0" marR="0" marT="0" marB="0" anchor="ctr"/>
                </a:tc>
                <a:extLst>
                  <a:ext uri="{0D108BD9-81ED-4DB2-BD59-A6C34878D82A}">
                    <a16:rowId xmlns:a16="http://schemas.microsoft.com/office/drawing/2014/main" val="3393789639"/>
                  </a:ext>
                </a:extLst>
              </a:tr>
              <a:tr h="211266">
                <a:tc>
                  <a:txBody>
                    <a:bodyPr/>
                    <a:lstStyle/>
                    <a:p>
                      <a:pPr algn="ctr" fontAlgn="ctr"/>
                      <a:r>
                        <a:rPr lang="en-US" sz="1000" b="0" i="0" u="none" strike="noStrike" dirty="0">
                          <a:solidFill>
                            <a:srgbClr val="000000"/>
                          </a:solidFill>
                          <a:effectLst/>
                          <a:latin typeface="Verdana" panose="020B0604030504040204" pitchFamily="34" charset="0"/>
                        </a:rPr>
                        <a:t>7</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l" fontAlgn="ctr"/>
                      <a:r>
                        <a:rPr lang="en-IN" sz="1000" u="none" strike="noStrike" dirty="0" err="1">
                          <a:effectLst/>
                        </a:rPr>
                        <a:t>Mohammadi</a:t>
                      </a:r>
                      <a:r>
                        <a:rPr lang="en-IN" sz="1000" u="none" strike="noStrike" dirty="0">
                          <a:effectLst/>
                        </a:rPr>
                        <a:t> Group</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10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200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100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b="1" u="none" strike="noStrike" dirty="0">
                          <a:effectLst/>
                        </a:rPr>
                        <a:t>310 </a:t>
                      </a:r>
                      <a:endParaRPr lang="en-IN" sz="1000" b="1" i="0" u="none" strike="noStrike" dirty="0">
                        <a:solidFill>
                          <a:srgbClr val="000000"/>
                        </a:solidFill>
                        <a:effectLst/>
                        <a:latin typeface="Verdana" panose="020B0604030504040204" pitchFamily="34" charset="0"/>
                      </a:endParaRPr>
                    </a:p>
                  </a:txBody>
                  <a:tcPr marL="0" marR="0" marT="0" marB="0" anchor="ctr"/>
                </a:tc>
                <a:extLst>
                  <a:ext uri="{0D108BD9-81ED-4DB2-BD59-A6C34878D82A}">
                    <a16:rowId xmlns:a16="http://schemas.microsoft.com/office/drawing/2014/main" val="533517491"/>
                  </a:ext>
                </a:extLst>
              </a:tr>
              <a:tr h="211266">
                <a:tc>
                  <a:txBody>
                    <a:bodyPr/>
                    <a:lstStyle/>
                    <a:p>
                      <a:pPr algn="ctr" fontAlgn="ctr"/>
                      <a:r>
                        <a:rPr lang="en-US" sz="1000" b="0" i="0" u="none" strike="noStrike" dirty="0">
                          <a:solidFill>
                            <a:srgbClr val="000000"/>
                          </a:solidFill>
                          <a:effectLst/>
                          <a:latin typeface="Verdana" panose="020B0604030504040204" pitchFamily="34" charset="0"/>
                        </a:rPr>
                        <a:t>8</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l" fontAlgn="ctr"/>
                      <a:r>
                        <a:rPr lang="en-IN" sz="1000" u="none" strike="noStrike" dirty="0">
                          <a:effectLst/>
                        </a:rPr>
                        <a:t>APR Energy</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300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b="1" u="none" strike="noStrike" dirty="0">
                          <a:effectLst/>
                        </a:rPr>
                        <a:t>300 </a:t>
                      </a:r>
                      <a:endParaRPr lang="en-IN" sz="1000" b="1" i="0" u="none" strike="noStrike" dirty="0">
                        <a:solidFill>
                          <a:srgbClr val="000000"/>
                        </a:solidFill>
                        <a:effectLst/>
                        <a:latin typeface="Verdana" panose="020B0604030504040204" pitchFamily="34" charset="0"/>
                      </a:endParaRPr>
                    </a:p>
                  </a:txBody>
                  <a:tcPr marL="0" marR="0" marT="0" marB="0" anchor="ctr"/>
                </a:tc>
                <a:extLst>
                  <a:ext uri="{0D108BD9-81ED-4DB2-BD59-A6C34878D82A}">
                    <a16:rowId xmlns:a16="http://schemas.microsoft.com/office/drawing/2014/main" val="3578178079"/>
                  </a:ext>
                </a:extLst>
              </a:tr>
              <a:tr h="211266">
                <a:tc>
                  <a:txBody>
                    <a:bodyPr/>
                    <a:lstStyle/>
                    <a:p>
                      <a:pPr algn="ctr" fontAlgn="ctr"/>
                      <a:r>
                        <a:rPr lang="en-US" sz="1000" b="0" i="0" u="none" strike="noStrike" dirty="0">
                          <a:solidFill>
                            <a:srgbClr val="000000"/>
                          </a:solidFill>
                          <a:effectLst/>
                          <a:latin typeface="Verdana" panose="020B0604030504040204" pitchFamily="34" charset="0"/>
                        </a:rPr>
                        <a:t>9</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l" fontAlgn="ctr"/>
                      <a:r>
                        <a:rPr lang="en-IN" sz="1000" u="none" strike="noStrike" dirty="0">
                          <a:effectLst/>
                        </a:rPr>
                        <a:t>Youth Group</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137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150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b="1" u="none" strike="noStrike" dirty="0">
                          <a:effectLst/>
                        </a:rPr>
                        <a:t>287 </a:t>
                      </a:r>
                      <a:endParaRPr lang="en-IN" sz="1000" b="1" i="0" u="none" strike="noStrike" dirty="0">
                        <a:solidFill>
                          <a:srgbClr val="000000"/>
                        </a:solidFill>
                        <a:effectLst/>
                        <a:latin typeface="Verdana" panose="020B0604030504040204" pitchFamily="34" charset="0"/>
                      </a:endParaRPr>
                    </a:p>
                  </a:txBody>
                  <a:tcPr marL="0" marR="0" marT="0" marB="0" anchor="ctr"/>
                </a:tc>
                <a:extLst>
                  <a:ext uri="{0D108BD9-81ED-4DB2-BD59-A6C34878D82A}">
                    <a16:rowId xmlns:a16="http://schemas.microsoft.com/office/drawing/2014/main" val="735700652"/>
                  </a:ext>
                </a:extLst>
              </a:tr>
              <a:tr h="211266">
                <a:tc>
                  <a:txBody>
                    <a:bodyPr/>
                    <a:lstStyle/>
                    <a:p>
                      <a:pPr algn="ctr" fontAlgn="ctr"/>
                      <a:r>
                        <a:rPr lang="en-US" sz="1000" b="0" i="0" u="none" strike="noStrike" dirty="0">
                          <a:solidFill>
                            <a:srgbClr val="000000"/>
                          </a:solidFill>
                          <a:effectLst/>
                          <a:latin typeface="Verdana" panose="020B0604030504040204" pitchFamily="34" charset="0"/>
                        </a:rPr>
                        <a:t>10</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l" fontAlgn="ctr"/>
                      <a:r>
                        <a:rPr lang="en-IN" sz="1000" u="none" strike="noStrike" dirty="0">
                          <a:effectLst/>
                        </a:rPr>
                        <a:t>Sembcorp Group</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282</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b="1" u="none" strike="noStrike" dirty="0">
                          <a:effectLst/>
                        </a:rPr>
                        <a:t>282 </a:t>
                      </a:r>
                      <a:endParaRPr lang="en-IN" sz="1000" b="1" i="0" u="none" strike="noStrike" dirty="0">
                        <a:solidFill>
                          <a:srgbClr val="000000"/>
                        </a:solidFill>
                        <a:effectLst/>
                        <a:latin typeface="Verdana" panose="020B0604030504040204" pitchFamily="34" charset="0"/>
                      </a:endParaRPr>
                    </a:p>
                  </a:txBody>
                  <a:tcPr marL="0" marR="0" marT="0" marB="0" anchor="ctr"/>
                </a:tc>
                <a:extLst>
                  <a:ext uri="{0D108BD9-81ED-4DB2-BD59-A6C34878D82A}">
                    <a16:rowId xmlns:a16="http://schemas.microsoft.com/office/drawing/2014/main" val="897874173"/>
                  </a:ext>
                </a:extLst>
              </a:tr>
              <a:tr h="211266">
                <a:tc>
                  <a:txBody>
                    <a:bodyPr/>
                    <a:lstStyle/>
                    <a:p>
                      <a:pPr algn="ctr" fontAlgn="ctr"/>
                      <a:r>
                        <a:rPr lang="en-US" sz="1000" b="0" i="0" u="none" strike="noStrike" dirty="0">
                          <a:solidFill>
                            <a:srgbClr val="000000"/>
                          </a:solidFill>
                          <a:effectLst/>
                          <a:latin typeface="Verdana" panose="020B0604030504040204" pitchFamily="34" charset="0"/>
                        </a:rPr>
                        <a:t>11</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l" fontAlgn="ctr"/>
                      <a:r>
                        <a:rPr lang="en-IN" sz="1000" u="none" strike="noStrike" dirty="0">
                          <a:effectLst/>
                        </a:rPr>
                        <a:t>Summit &amp;</a:t>
                      </a:r>
                      <a:r>
                        <a:rPr lang="en-IN" sz="1000" u="none" strike="noStrike" baseline="0" dirty="0">
                          <a:effectLst/>
                        </a:rPr>
                        <a:t> </a:t>
                      </a:r>
                      <a:r>
                        <a:rPr lang="en-IN" sz="1000" u="none" strike="noStrike" dirty="0">
                          <a:effectLst/>
                        </a:rPr>
                        <a:t>United Group</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265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b="1" u="none" strike="noStrike" dirty="0">
                          <a:effectLst/>
                        </a:rPr>
                        <a:t>265 </a:t>
                      </a:r>
                      <a:endParaRPr lang="en-IN" sz="1000" b="1" i="0" u="none" strike="noStrike" dirty="0">
                        <a:solidFill>
                          <a:srgbClr val="000000"/>
                        </a:solidFill>
                        <a:effectLst/>
                        <a:latin typeface="Verdana" panose="020B0604030504040204" pitchFamily="34" charset="0"/>
                      </a:endParaRPr>
                    </a:p>
                  </a:txBody>
                  <a:tcPr marL="0" marR="0" marT="0" marB="0" anchor="ctr"/>
                </a:tc>
                <a:extLst>
                  <a:ext uri="{0D108BD9-81ED-4DB2-BD59-A6C34878D82A}">
                    <a16:rowId xmlns:a16="http://schemas.microsoft.com/office/drawing/2014/main" val="1474314497"/>
                  </a:ext>
                </a:extLst>
              </a:tr>
              <a:tr h="211266">
                <a:tc>
                  <a:txBody>
                    <a:bodyPr/>
                    <a:lstStyle/>
                    <a:p>
                      <a:pPr algn="ctr" fontAlgn="ctr"/>
                      <a:r>
                        <a:rPr lang="en-US" sz="1000" b="0" i="0" u="none" strike="noStrike" dirty="0">
                          <a:solidFill>
                            <a:srgbClr val="000000"/>
                          </a:solidFill>
                          <a:effectLst/>
                          <a:latin typeface="Verdana" panose="020B0604030504040204" pitchFamily="34" charset="0"/>
                        </a:rPr>
                        <a:t>12</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l" fontAlgn="ctr"/>
                      <a:r>
                        <a:rPr lang="en-IN" sz="1000" u="none" strike="noStrike">
                          <a:effectLst/>
                        </a:rPr>
                        <a:t>Max Group</a:t>
                      </a:r>
                      <a:endParaRPr lang="en-IN" sz="1000" b="0" i="0" u="none" strike="noStrike">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242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b="1" u="none" strike="noStrike" dirty="0">
                          <a:effectLst/>
                        </a:rPr>
                        <a:t>242 </a:t>
                      </a:r>
                      <a:endParaRPr lang="en-IN" sz="1000" b="1" i="0" u="none" strike="noStrike" dirty="0">
                        <a:solidFill>
                          <a:srgbClr val="000000"/>
                        </a:solidFill>
                        <a:effectLst/>
                        <a:latin typeface="Verdana" panose="020B0604030504040204" pitchFamily="34" charset="0"/>
                      </a:endParaRPr>
                    </a:p>
                  </a:txBody>
                  <a:tcPr marL="0" marR="0" marT="0" marB="0" anchor="ctr"/>
                </a:tc>
                <a:extLst>
                  <a:ext uri="{0D108BD9-81ED-4DB2-BD59-A6C34878D82A}">
                    <a16:rowId xmlns:a16="http://schemas.microsoft.com/office/drawing/2014/main" val="3781686441"/>
                  </a:ext>
                </a:extLst>
              </a:tr>
              <a:tr h="211266">
                <a:tc>
                  <a:txBody>
                    <a:bodyPr/>
                    <a:lstStyle/>
                    <a:p>
                      <a:pPr algn="ctr" fontAlgn="ctr"/>
                      <a:r>
                        <a:rPr lang="en-US" sz="1000" b="0" i="0" u="none" strike="noStrike" dirty="0">
                          <a:solidFill>
                            <a:srgbClr val="000000"/>
                          </a:solidFill>
                          <a:effectLst/>
                          <a:latin typeface="Verdana" panose="020B0604030504040204" pitchFamily="34" charset="0"/>
                        </a:rPr>
                        <a:t>13</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l" fontAlgn="ctr"/>
                      <a:r>
                        <a:rPr lang="en-IN" sz="1000" u="none" strike="noStrike">
                          <a:effectLst/>
                        </a:rPr>
                        <a:t>Doreen Group</a:t>
                      </a:r>
                      <a:endParaRPr lang="en-IN" sz="1000" b="0" i="0" u="none" strike="noStrike">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44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164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b="1" u="none" strike="noStrike" dirty="0">
                          <a:effectLst/>
                        </a:rPr>
                        <a:t>208 </a:t>
                      </a:r>
                      <a:endParaRPr lang="en-IN" sz="1000" b="1" i="0" u="none" strike="noStrike" dirty="0">
                        <a:solidFill>
                          <a:srgbClr val="000000"/>
                        </a:solidFill>
                        <a:effectLst/>
                        <a:latin typeface="Verdana" panose="020B0604030504040204" pitchFamily="34" charset="0"/>
                      </a:endParaRPr>
                    </a:p>
                  </a:txBody>
                  <a:tcPr marL="0" marR="0" marT="0" marB="0" anchor="ctr"/>
                </a:tc>
                <a:extLst>
                  <a:ext uri="{0D108BD9-81ED-4DB2-BD59-A6C34878D82A}">
                    <a16:rowId xmlns:a16="http://schemas.microsoft.com/office/drawing/2014/main" val="1132080534"/>
                  </a:ext>
                </a:extLst>
              </a:tr>
              <a:tr h="211266">
                <a:tc>
                  <a:txBody>
                    <a:bodyPr/>
                    <a:lstStyle/>
                    <a:p>
                      <a:pPr algn="ctr" fontAlgn="ctr"/>
                      <a:r>
                        <a:rPr lang="en-US" sz="1000" b="0" i="0" u="none" strike="noStrike" dirty="0">
                          <a:solidFill>
                            <a:srgbClr val="000000"/>
                          </a:solidFill>
                          <a:effectLst/>
                          <a:latin typeface="Verdana" panose="020B0604030504040204" pitchFamily="34" charset="0"/>
                        </a:rPr>
                        <a:t>14</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l" fontAlgn="ctr"/>
                      <a:r>
                        <a:rPr lang="en-IN" sz="1000" u="none" strike="noStrike">
                          <a:effectLst/>
                        </a:rPr>
                        <a:t>sikder group</a:t>
                      </a:r>
                      <a:endParaRPr lang="en-IN" sz="1000" b="0" i="0" u="none" strike="noStrike">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195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b="1" u="none" strike="noStrike" dirty="0">
                          <a:effectLst/>
                        </a:rPr>
                        <a:t>195 </a:t>
                      </a:r>
                      <a:endParaRPr lang="en-IN" sz="1000" b="1" i="0" u="none" strike="noStrike" dirty="0">
                        <a:solidFill>
                          <a:srgbClr val="000000"/>
                        </a:solidFill>
                        <a:effectLst/>
                        <a:latin typeface="Verdana" panose="020B0604030504040204" pitchFamily="34" charset="0"/>
                      </a:endParaRPr>
                    </a:p>
                  </a:txBody>
                  <a:tcPr marL="0" marR="0" marT="0" marB="0" anchor="ctr"/>
                </a:tc>
                <a:extLst>
                  <a:ext uri="{0D108BD9-81ED-4DB2-BD59-A6C34878D82A}">
                    <a16:rowId xmlns:a16="http://schemas.microsoft.com/office/drawing/2014/main" val="2733046481"/>
                  </a:ext>
                </a:extLst>
              </a:tr>
              <a:tr h="211266">
                <a:tc>
                  <a:txBody>
                    <a:bodyPr/>
                    <a:lstStyle/>
                    <a:p>
                      <a:pPr algn="ctr" fontAlgn="ctr"/>
                      <a:r>
                        <a:rPr lang="en-US" sz="1000" b="0" i="0" u="none" strike="noStrike" dirty="0">
                          <a:solidFill>
                            <a:srgbClr val="000000"/>
                          </a:solidFill>
                          <a:effectLst/>
                          <a:latin typeface="Verdana" panose="020B0604030504040204" pitchFamily="34" charset="0"/>
                        </a:rPr>
                        <a:t>15</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l" fontAlgn="ctr"/>
                      <a:r>
                        <a:rPr lang="en-IN" sz="1000" u="none" strike="noStrike">
                          <a:effectLst/>
                        </a:rPr>
                        <a:t>Hosaf Group</a:t>
                      </a:r>
                      <a:endParaRPr lang="en-IN" sz="1000" b="0" i="0" u="none" strike="noStrike">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164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b="1" u="none" strike="noStrike" dirty="0">
                          <a:effectLst/>
                        </a:rPr>
                        <a:t>164 </a:t>
                      </a:r>
                      <a:endParaRPr lang="en-IN" sz="1000" b="1" i="0" u="none" strike="noStrike" dirty="0">
                        <a:solidFill>
                          <a:srgbClr val="000000"/>
                        </a:solidFill>
                        <a:effectLst/>
                        <a:latin typeface="Verdana" panose="020B0604030504040204" pitchFamily="34" charset="0"/>
                      </a:endParaRPr>
                    </a:p>
                  </a:txBody>
                  <a:tcPr marL="0" marR="0" marT="0" marB="0" anchor="ctr"/>
                </a:tc>
                <a:extLst>
                  <a:ext uri="{0D108BD9-81ED-4DB2-BD59-A6C34878D82A}">
                    <a16:rowId xmlns:a16="http://schemas.microsoft.com/office/drawing/2014/main" val="1968163617"/>
                  </a:ext>
                </a:extLst>
              </a:tr>
              <a:tr h="211266">
                <a:tc>
                  <a:txBody>
                    <a:bodyPr/>
                    <a:lstStyle/>
                    <a:p>
                      <a:pPr algn="ctr" fontAlgn="ctr"/>
                      <a:r>
                        <a:rPr lang="en-US" sz="1000" b="0" i="0" u="none" strike="noStrike" dirty="0">
                          <a:solidFill>
                            <a:srgbClr val="000000"/>
                          </a:solidFill>
                          <a:effectLst/>
                          <a:latin typeface="Verdana" panose="020B0604030504040204" pitchFamily="34" charset="0"/>
                        </a:rPr>
                        <a:t>16</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l" fontAlgn="ctr"/>
                      <a:r>
                        <a:rPr lang="en-IN" sz="1000" u="none" strike="noStrike">
                          <a:effectLst/>
                        </a:rPr>
                        <a:t>Baraka Power Group</a:t>
                      </a:r>
                      <a:endParaRPr lang="en-IN" sz="1000" b="0" i="0" u="none" strike="noStrike">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155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b="1" u="none" strike="noStrike" dirty="0">
                          <a:effectLst/>
                        </a:rPr>
                        <a:t>155 </a:t>
                      </a:r>
                      <a:endParaRPr lang="en-IN" sz="1000" b="1" i="0" u="none" strike="noStrike" dirty="0">
                        <a:solidFill>
                          <a:srgbClr val="000000"/>
                        </a:solidFill>
                        <a:effectLst/>
                        <a:latin typeface="Verdana" panose="020B0604030504040204" pitchFamily="34" charset="0"/>
                      </a:endParaRPr>
                    </a:p>
                  </a:txBody>
                  <a:tcPr marL="0" marR="0" marT="0" marB="0" anchor="ctr"/>
                </a:tc>
                <a:extLst>
                  <a:ext uri="{0D108BD9-81ED-4DB2-BD59-A6C34878D82A}">
                    <a16:rowId xmlns:a16="http://schemas.microsoft.com/office/drawing/2014/main" val="1024146494"/>
                  </a:ext>
                </a:extLst>
              </a:tr>
              <a:tr h="211266">
                <a:tc>
                  <a:txBody>
                    <a:bodyPr/>
                    <a:lstStyle/>
                    <a:p>
                      <a:pPr algn="ctr" fontAlgn="ctr"/>
                      <a:r>
                        <a:rPr lang="en-US" sz="1000" b="0" i="0" u="none" strike="noStrike" dirty="0">
                          <a:solidFill>
                            <a:srgbClr val="000000"/>
                          </a:solidFill>
                          <a:effectLst/>
                          <a:latin typeface="Verdana" panose="020B0604030504040204" pitchFamily="34" charset="0"/>
                        </a:rPr>
                        <a:t>17</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l" fontAlgn="ctr"/>
                      <a:r>
                        <a:rPr lang="en-IN" sz="1000" u="none" strike="noStrike">
                          <a:effectLst/>
                        </a:rPr>
                        <a:t>Sinha Group</a:t>
                      </a:r>
                      <a:endParaRPr lang="en-IN" sz="1000" b="0" i="0" u="none" strike="noStrike">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33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101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b="1" u="none" strike="noStrike" dirty="0">
                          <a:effectLst/>
                        </a:rPr>
                        <a:t>134 </a:t>
                      </a:r>
                      <a:endParaRPr lang="en-IN" sz="1000" b="1" i="0" u="none" strike="noStrike" dirty="0">
                        <a:solidFill>
                          <a:srgbClr val="000000"/>
                        </a:solidFill>
                        <a:effectLst/>
                        <a:latin typeface="Verdana" panose="020B0604030504040204" pitchFamily="34" charset="0"/>
                      </a:endParaRPr>
                    </a:p>
                  </a:txBody>
                  <a:tcPr marL="0" marR="0" marT="0" marB="0" anchor="ctr"/>
                </a:tc>
                <a:extLst>
                  <a:ext uri="{0D108BD9-81ED-4DB2-BD59-A6C34878D82A}">
                    <a16:rowId xmlns:a16="http://schemas.microsoft.com/office/drawing/2014/main" val="2657016350"/>
                  </a:ext>
                </a:extLst>
              </a:tr>
              <a:tr h="211266">
                <a:tc>
                  <a:txBody>
                    <a:bodyPr/>
                    <a:lstStyle/>
                    <a:p>
                      <a:pPr algn="ctr" fontAlgn="ctr"/>
                      <a:r>
                        <a:rPr lang="en-US" sz="1000" b="0" i="0" u="none" strike="noStrike" dirty="0">
                          <a:solidFill>
                            <a:srgbClr val="000000"/>
                          </a:solidFill>
                          <a:effectLst/>
                          <a:latin typeface="Verdana" panose="020B0604030504040204" pitchFamily="34" charset="0"/>
                        </a:rPr>
                        <a:t>18</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l" fontAlgn="ctr"/>
                      <a:r>
                        <a:rPr lang="en-IN" sz="1000" u="none" strike="noStrike">
                          <a:effectLst/>
                        </a:rPr>
                        <a:t>Habib Group</a:t>
                      </a:r>
                      <a:endParaRPr lang="en-IN" sz="1000" b="0" i="0" u="none" strike="noStrike">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130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b="1" u="none" strike="noStrike" dirty="0">
                          <a:effectLst/>
                        </a:rPr>
                        <a:t>130 </a:t>
                      </a:r>
                      <a:endParaRPr lang="en-IN" sz="1000" b="1" i="0" u="none" strike="noStrike" dirty="0">
                        <a:solidFill>
                          <a:srgbClr val="000000"/>
                        </a:solidFill>
                        <a:effectLst/>
                        <a:latin typeface="Verdana" panose="020B0604030504040204" pitchFamily="34" charset="0"/>
                      </a:endParaRPr>
                    </a:p>
                  </a:txBody>
                  <a:tcPr marL="0" marR="0" marT="0" marB="0" anchor="ctr"/>
                </a:tc>
                <a:extLst>
                  <a:ext uri="{0D108BD9-81ED-4DB2-BD59-A6C34878D82A}">
                    <a16:rowId xmlns:a16="http://schemas.microsoft.com/office/drawing/2014/main" val="3717698266"/>
                  </a:ext>
                </a:extLst>
              </a:tr>
              <a:tr h="211266">
                <a:tc>
                  <a:txBody>
                    <a:bodyPr/>
                    <a:lstStyle/>
                    <a:p>
                      <a:pPr algn="ctr" fontAlgn="ctr"/>
                      <a:r>
                        <a:rPr lang="en-US" sz="1000" b="0" i="0" u="none" strike="noStrike" dirty="0">
                          <a:solidFill>
                            <a:srgbClr val="000000"/>
                          </a:solidFill>
                          <a:effectLst/>
                          <a:latin typeface="Verdana" panose="020B0604030504040204" pitchFamily="34" charset="0"/>
                        </a:rPr>
                        <a:t>19</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l" fontAlgn="ctr"/>
                      <a:r>
                        <a:rPr lang="en-IN" sz="1000" u="none" strike="noStrike">
                          <a:effectLst/>
                        </a:rPr>
                        <a:t>Confidence Cement Group</a:t>
                      </a:r>
                      <a:endParaRPr lang="en-IN" sz="1000" b="0" i="0" u="none" strike="noStrike">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113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b="1" u="none" strike="noStrike" dirty="0">
                          <a:effectLst/>
                        </a:rPr>
                        <a:t>113 </a:t>
                      </a:r>
                      <a:endParaRPr lang="en-IN" sz="1000" b="1" i="0" u="none" strike="noStrike" dirty="0">
                        <a:solidFill>
                          <a:srgbClr val="000000"/>
                        </a:solidFill>
                        <a:effectLst/>
                        <a:latin typeface="Verdana" panose="020B0604030504040204" pitchFamily="34" charset="0"/>
                      </a:endParaRPr>
                    </a:p>
                  </a:txBody>
                  <a:tcPr marL="0" marR="0" marT="0" marB="0" anchor="ctr"/>
                </a:tc>
                <a:extLst>
                  <a:ext uri="{0D108BD9-81ED-4DB2-BD59-A6C34878D82A}">
                    <a16:rowId xmlns:a16="http://schemas.microsoft.com/office/drawing/2014/main" val="966478281"/>
                  </a:ext>
                </a:extLst>
              </a:tr>
              <a:tr h="211266">
                <a:tc>
                  <a:txBody>
                    <a:bodyPr/>
                    <a:lstStyle/>
                    <a:p>
                      <a:pPr algn="ctr" fontAlgn="ctr"/>
                      <a:r>
                        <a:rPr lang="en-US" sz="1000" b="0" i="0" u="none" strike="noStrike" dirty="0">
                          <a:solidFill>
                            <a:srgbClr val="000000"/>
                          </a:solidFill>
                          <a:effectLst/>
                          <a:latin typeface="Verdana" panose="020B0604030504040204" pitchFamily="34" charset="0"/>
                        </a:rPr>
                        <a:t>20</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l" fontAlgn="ctr"/>
                      <a:r>
                        <a:rPr lang="en-IN" sz="1000" u="none" strike="noStrike" dirty="0" err="1">
                          <a:effectLst/>
                        </a:rPr>
                        <a:t>Energypac</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108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u="none" strike="noStrike" dirty="0">
                          <a:effectLst/>
                        </a:rPr>
                        <a:t>-   </a:t>
                      </a: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ctr" fontAlgn="ctr"/>
                      <a:r>
                        <a:rPr lang="en-IN" sz="1000" b="1" u="none" strike="noStrike" dirty="0">
                          <a:effectLst/>
                        </a:rPr>
                        <a:t>108 </a:t>
                      </a:r>
                      <a:endParaRPr lang="en-IN" sz="1000" b="1" i="0" u="none" strike="noStrike" dirty="0">
                        <a:solidFill>
                          <a:srgbClr val="000000"/>
                        </a:solidFill>
                        <a:effectLst/>
                        <a:latin typeface="Verdana" panose="020B0604030504040204" pitchFamily="34" charset="0"/>
                      </a:endParaRPr>
                    </a:p>
                  </a:txBody>
                  <a:tcPr marL="0" marR="0" marT="0" marB="0" anchor="ctr"/>
                </a:tc>
                <a:extLst>
                  <a:ext uri="{0D108BD9-81ED-4DB2-BD59-A6C34878D82A}">
                    <a16:rowId xmlns:a16="http://schemas.microsoft.com/office/drawing/2014/main" val="2812456887"/>
                  </a:ext>
                </a:extLst>
              </a:tr>
              <a:tr h="211266">
                <a:tc>
                  <a:txBody>
                    <a:bodyPr/>
                    <a:lstStyle/>
                    <a:p>
                      <a:pPr algn="ctr" fontAlgn="ctr"/>
                      <a:endParaRPr lang="en-IN" sz="1000" b="0" i="0" u="none" strike="noStrike" dirty="0">
                        <a:solidFill>
                          <a:srgbClr val="000000"/>
                        </a:solidFill>
                        <a:effectLst/>
                        <a:latin typeface="Verdana" panose="020B0604030504040204" pitchFamily="34" charset="0"/>
                      </a:endParaRPr>
                    </a:p>
                  </a:txBody>
                  <a:tcPr marL="0" marR="0" marT="0" marB="0" anchor="ctr"/>
                </a:tc>
                <a:tc>
                  <a:txBody>
                    <a:bodyPr/>
                    <a:lstStyle/>
                    <a:p>
                      <a:pPr algn="l" fontAlgn="ctr"/>
                      <a:r>
                        <a:rPr lang="en-US" sz="1000" b="1" i="0" u="none" strike="noStrike" dirty="0">
                          <a:solidFill>
                            <a:srgbClr val="000000"/>
                          </a:solidFill>
                          <a:effectLst/>
                          <a:latin typeface="Verdana" panose="020B0604030504040204" pitchFamily="34" charset="0"/>
                        </a:rPr>
                        <a:t>Total</a:t>
                      </a:r>
                      <a:endParaRPr lang="en-IN" sz="1000" b="1" i="0" u="none" strike="noStrike" dirty="0">
                        <a:solidFill>
                          <a:srgbClr val="000000"/>
                        </a:solidFill>
                        <a:effectLst/>
                        <a:latin typeface="Verdana" panose="020B0604030504040204" pitchFamily="34" charset="0"/>
                      </a:endParaRPr>
                    </a:p>
                  </a:txBody>
                  <a:tcPr marL="0" marR="0" marT="0" marB="0" anchor="ctr"/>
                </a:tc>
                <a:tc>
                  <a:txBody>
                    <a:bodyPr/>
                    <a:lstStyle/>
                    <a:p>
                      <a:pPr marL="0" algn="ctr" defTabSz="990571" rtl="0" eaLnBrk="1" fontAlgn="ctr" latinLnBrk="0" hangingPunct="1"/>
                      <a:r>
                        <a:rPr lang="en-IN" sz="1000" b="1" u="none" strike="noStrike" kern="1200" dirty="0">
                          <a:solidFill>
                            <a:schemeClr val="tx1"/>
                          </a:solidFill>
                          <a:effectLst/>
                          <a:latin typeface="+mn-lt"/>
                          <a:ea typeface="+mn-ea"/>
                          <a:cs typeface="+mn-cs"/>
                        </a:rPr>
                        <a:t>2,984</a:t>
                      </a:r>
                    </a:p>
                  </a:txBody>
                  <a:tcPr marL="0" marR="0" marT="0" marB="0" anchor="b"/>
                </a:tc>
                <a:tc>
                  <a:txBody>
                    <a:bodyPr/>
                    <a:lstStyle/>
                    <a:p>
                      <a:pPr marL="0" algn="ctr" defTabSz="990571" rtl="0" eaLnBrk="1" fontAlgn="ctr" latinLnBrk="0" hangingPunct="1"/>
                      <a:r>
                        <a:rPr lang="en-IN" sz="1000" b="1" u="none" strike="noStrike" kern="1200" dirty="0">
                          <a:solidFill>
                            <a:schemeClr val="tx1"/>
                          </a:solidFill>
                          <a:effectLst/>
                          <a:latin typeface="+mn-lt"/>
                          <a:ea typeface="+mn-ea"/>
                          <a:cs typeface="+mn-cs"/>
                        </a:rPr>
                        <a:t>3,478</a:t>
                      </a:r>
                    </a:p>
                  </a:txBody>
                  <a:tcPr marL="0" marR="0" marT="0" marB="0" anchor="b"/>
                </a:tc>
                <a:tc>
                  <a:txBody>
                    <a:bodyPr/>
                    <a:lstStyle/>
                    <a:p>
                      <a:pPr marL="0" algn="ctr" defTabSz="990571" rtl="0" eaLnBrk="1" fontAlgn="ctr" latinLnBrk="0" hangingPunct="1"/>
                      <a:r>
                        <a:rPr lang="en-IN" sz="1000" b="1" u="none" strike="noStrike" kern="1200" dirty="0">
                          <a:solidFill>
                            <a:schemeClr val="tx1"/>
                          </a:solidFill>
                          <a:effectLst/>
                          <a:latin typeface="+mn-lt"/>
                          <a:ea typeface="+mn-ea"/>
                          <a:cs typeface="+mn-cs"/>
                        </a:rPr>
                        <a:t>1,358</a:t>
                      </a:r>
                    </a:p>
                  </a:txBody>
                  <a:tcPr marL="0" marR="0" marT="0" marB="0" anchor="b"/>
                </a:tc>
                <a:tc>
                  <a:txBody>
                    <a:bodyPr/>
                    <a:lstStyle/>
                    <a:p>
                      <a:pPr marL="0" algn="ctr" defTabSz="990571" rtl="0" eaLnBrk="1" fontAlgn="ctr" latinLnBrk="0" hangingPunct="1"/>
                      <a:r>
                        <a:rPr lang="en-IN" sz="1000" b="1" u="none" strike="noStrike" kern="1200" dirty="0">
                          <a:solidFill>
                            <a:schemeClr val="tx1"/>
                          </a:solidFill>
                          <a:effectLst/>
                          <a:latin typeface="+mn-lt"/>
                          <a:ea typeface="+mn-ea"/>
                          <a:cs typeface="+mn-cs"/>
                        </a:rPr>
                        <a:t>7,820</a:t>
                      </a:r>
                    </a:p>
                  </a:txBody>
                  <a:tcPr marL="0" marR="0" marT="0" marB="0" anchor="b"/>
                </a:tc>
                <a:extLst>
                  <a:ext uri="{0D108BD9-81ED-4DB2-BD59-A6C34878D82A}">
                    <a16:rowId xmlns:a16="http://schemas.microsoft.com/office/drawing/2014/main" val="1293490806"/>
                  </a:ext>
                </a:extLst>
              </a:tr>
            </a:tbl>
          </a:graphicData>
        </a:graphic>
      </p:graphicFrame>
      <p:sp>
        <p:nvSpPr>
          <p:cNvPr id="7" name="Title 1"/>
          <p:cNvSpPr>
            <a:spLocks noGrp="1"/>
          </p:cNvSpPr>
          <p:nvPr>
            <p:ph type="title"/>
          </p:nvPr>
        </p:nvSpPr>
        <p:spPr>
          <a:xfrm>
            <a:off x="449264" y="647700"/>
            <a:ext cx="9791700" cy="431800"/>
          </a:xfrm>
        </p:spPr>
        <p:txBody>
          <a:bodyPr/>
          <a:lstStyle/>
          <a:p>
            <a:r>
              <a:rPr lang="en-GB" dirty="0">
                <a:solidFill>
                  <a:srgbClr val="000000"/>
                </a:solidFill>
                <a:latin typeface="Verdana" panose="020B0604030504040204" pitchFamily="34" charset="0"/>
              </a:rPr>
              <a:t>Annexure P | </a:t>
            </a:r>
            <a:r>
              <a:rPr lang="en-US" dirty="0"/>
              <a:t>List of Major Private Investors in Bangladesh</a:t>
            </a:r>
            <a:endParaRPr lang="en-IN" dirty="0"/>
          </a:p>
        </p:txBody>
      </p:sp>
      <p:sp>
        <p:nvSpPr>
          <p:cNvPr id="8" name="Strapline"/>
          <p:cNvSpPr txBox="1">
            <a:spLocks/>
          </p:cNvSpPr>
          <p:nvPr/>
        </p:nvSpPr>
        <p:spPr>
          <a:xfrm>
            <a:off x="449264" y="1079500"/>
            <a:ext cx="9791843" cy="518392"/>
          </a:xfrm>
          <a:prstGeom prst="rect">
            <a:avLst/>
          </a:prstGeom>
        </p:spPr>
        <p:txBody>
          <a:bodyPr lIns="0" tIns="0" rIns="0" bIns="0" anchor="t">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0">
              <a:defRPr/>
            </a:pPr>
            <a:r>
              <a:rPr lang="en-US" sz="1400" dirty="0">
                <a:solidFill>
                  <a:prstClr val="black">
                    <a:lumMod val="50000"/>
                    <a:lumOff val="50000"/>
                  </a:prstClr>
                </a:solidFill>
                <a:latin typeface="Verdana" panose="020B0604030504040204" pitchFamily="34" charset="0"/>
              </a:rPr>
              <a:t>The Summit, Pendekar, United and Bangla </a:t>
            </a:r>
            <a:r>
              <a:rPr lang="en-US" sz="1400" dirty="0" err="1">
                <a:solidFill>
                  <a:prstClr val="black">
                    <a:lumMod val="50000"/>
                    <a:lumOff val="50000"/>
                  </a:prstClr>
                </a:solidFill>
                <a:latin typeface="Verdana" panose="020B0604030504040204" pitchFamily="34" charset="0"/>
              </a:rPr>
              <a:t>Trac</a:t>
            </a:r>
            <a:r>
              <a:rPr lang="en-US" sz="1400" dirty="0">
                <a:solidFill>
                  <a:prstClr val="black">
                    <a:lumMod val="50000"/>
                    <a:lumOff val="50000"/>
                  </a:prstClr>
                </a:solidFill>
                <a:latin typeface="Verdana" panose="020B0604030504040204" pitchFamily="34" charset="0"/>
              </a:rPr>
              <a:t> have a ~50% share in the private power portfolio in Bangladesh; The major gas based power plants players are Summit, Pendekar, United and Sembcorp Groups in Bangladesh with a portfolio of ~2,000 MW</a:t>
            </a:r>
          </a:p>
        </p:txBody>
      </p:sp>
      <p:sp>
        <p:nvSpPr>
          <p:cNvPr id="9" name="Rectangle 8"/>
          <p:cNvSpPr/>
          <p:nvPr/>
        </p:nvSpPr>
        <p:spPr bwMode="gray">
          <a:xfrm>
            <a:off x="377227" y="7260740"/>
            <a:ext cx="9936000" cy="224562"/>
          </a:xfrm>
          <a:prstGeom prst="rect">
            <a:avLst/>
          </a:prstGeom>
          <a:noFill/>
          <a:ln w="19050" algn="ctr">
            <a:noFill/>
            <a:miter lim="800000"/>
            <a:headEnd/>
            <a:tailEnd/>
          </a:ln>
        </p:spPr>
        <p:txBody>
          <a:bodyPr wrap="square" lIns="88900" tIns="88900" rIns="88900" bIns="88900" rtlCol="0" anchor="ctr"/>
          <a:lstStyle/>
          <a:p>
            <a:pPr>
              <a:lnSpc>
                <a:spcPct val="106000"/>
              </a:lnSpc>
              <a:defRPr/>
            </a:pPr>
            <a:r>
              <a:rPr lang="en-US" sz="700" i="1" dirty="0">
                <a:solidFill>
                  <a:prstClr val="black"/>
                </a:solidFill>
              </a:rPr>
              <a:t>Source: BPDB, Industry Reports Deloitte Analysis</a:t>
            </a:r>
          </a:p>
        </p:txBody>
      </p:sp>
    </p:spTree>
    <p:extLst>
      <p:ext uri="{BB962C8B-B14F-4D97-AF65-F5344CB8AC3E}">
        <p14:creationId xmlns:p14="http://schemas.microsoft.com/office/powerpoint/2010/main" val="3511984179"/>
      </p:ext>
    </p:extLst>
  </p:cSld>
  <p:clrMapOvr>
    <a:masterClrMapping/>
  </p:clrMapOvr>
  <p:transition>
    <p:fade/>
  </p:transition>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293142246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6" imgW="530" imgH="531" progId="TCLayout.ActiveDocument.1">
                  <p:embed/>
                </p:oleObj>
              </mc:Choice>
              <mc:Fallback>
                <p:oleObj name="think-cell Slide" r:id="rId26" imgW="530" imgH="531" progId="TCLayout.ActiveDocument.1">
                  <p:embed/>
                  <p:pic>
                    <p:nvPicPr>
                      <p:cNvPr id="4" name="Object 3" hidden="1"/>
                      <p:cNvPicPr/>
                      <p:nvPr/>
                    </p:nvPicPr>
                    <p:blipFill>
                      <a:blip r:embed="rId2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algn="ctr">
              <a:lnSpc>
                <a:spcPct val="106000"/>
              </a:lnSpc>
              <a:buFont typeface="Wingdings 2" pitchFamily="18" charset="2"/>
              <a:buNone/>
            </a:pPr>
            <a:endParaRPr lang="en-IN" sz="1000" dirty="0">
              <a:solidFill>
                <a:schemeClr val="bg1"/>
              </a:solidFill>
              <a:latin typeface="Verdana" panose="020B0604030504040204" pitchFamily="34" charset="0"/>
              <a:sym typeface="Verdana" panose="020B0604030504040204" pitchFamily="34" charset="0"/>
            </a:endParaRPr>
          </a:p>
        </p:txBody>
      </p:sp>
      <p:sp>
        <p:nvSpPr>
          <p:cNvPr id="2" name="Title 1"/>
          <p:cNvSpPr>
            <a:spLocks noGrp="1"/>
          </p:cNvSpPr>
          <p:nvPr>
            <p:ph type="title"/>
          </p:nvPr>
        </p:nvSpPr>
        <p:spPr/>
        <p:txBody>
          <a:bodyPr/>
          <a:lstStyle/>
          <a:p>
            <a:r>
              <a:rPr lang="en-US" dirty="0"/>
              <a:t>Annexure Q | Retail Tariff Hike Trend</a:t>
            </a:r>
            <a:endParaRPr lang="en-IN" dirty="0"/>
          </a:p>
        </p:txBody>
      </p:sp>
      <p:graphicFrame>
        <p:nvGraphicFramePr>
          <p:cNvPr id="6" name="Table 5"/>
          <p:cNvGraphicFramePr>
            <a:graphicFrameLocks noGrp="1"/>
          </p:cNvGraphicFramePr>
          <p:nvPr>
            <p:custDataLst>
              <p:tags r:id="rId3"/>
            </p:custDataLst>
            <p:extLst>
              <p:ext uri="{D42A27DB-BD31-4B8C-83A1-F6EECF244321}">
                <p14:modId xmlns:p14="http://schemas.microsoft.com/office/powerpoint/2010/main" val="2310385941"/>
              </p:ext>
            </p:extLst>
          </p:nvPr>
        </p:nvGraphicFramePr>
        <p:xfrm>
          <a:off x="398462" y="1485900"/>
          <a:ext cx="9786937" cy="306388"/>
        </p:xfrm>
        <a:graphic>
          <a:graphicData uri="http://schemas.openxmlformats.org/drawingml/2006/table">
            <a:tbl>
              <a:tblPr firstRow="1" bandRow="1">
                <a:tableStyleId>{5C22544A-7EE6-4342-B048-85BDC9FD1C3A}</a:tableStyleId>
              </a:tblPr>
              <a:tblGrid>
                <a:gridCol w="9786937">
                  <a:extLst>
                    <a:ext uri="{9D8B030D-6E8A-4147-A177-3AD203B41FA5}">
                      <a16:colId xmlns:a16="http://schemas.microsoft.com/office/drawing/2014/main" val="20000"/>
                    </a:ext>
                  </a:extLst>
                </a:gridCol>
              </a:tblGrid>
              <a:tr h="306388">
                <a:tc>
                  <a:txBody>
                    <a:bodyPr/>
                    <a:lstStyle/>
                    <a:p>
                      <a:pPr marL="0" indent="0" algn="just">
                        <a:spcBef>
                          <a:spcPts val="600"/>
                        </a:spcBef>
                        <a:spcAft>
                          <a:spcPts val="600"/>
                        </a:spcAft>
                        <a:buFont typeface="Arial" panose="020B0604020202020204" pitchFamily="34" charset="0"/>
                        <a:buNone/>
                      </a:pPr>
                      <a:endParaRPr lang="en-US" sz="1000" b="1" i="1" baseline="0" dirty="0">
                        <a:solidFill>
                          <a:schemeClr val="tx1"/>
                        </a:solidFill>
                      </a:endParaRPr>
                    </a:p>
                  </a:txBody>
                  <a:tcPr marL="107998" marT="107998">
                    <a:lnL w="12700" cmpd="sng">
                      <a:solidFill>
                        <a:schemeClr val="lt1"/>
                      </a:solidFill>
                    </a:lnL>
                    <a:lnR w="12700" cmpd="sng">
                      <a:solidFill>
                        <a:schemeClr val="lt1"/>
                      </a:solidFill>
                    </a:lnR>
                    <a:lnT w="38100" cmpd="sng">
                      <a:solidFill>
                        <a:srgbClr val="86BC25"/>
                      </a:solidFill>
                    </a:lnT>
                    <a:lnB w="38100" cmpd="sng">
                      <a:solidFill>
                        <a:schemeClr val="lt1"/>
                      </a:solidFill>
                    </a:lnB>
                    <a:noFill/>
                  </a:tcPr>
                </a:tc>
                <a:extLst>
                  <a:ext uri="{0D108BD9-81ED-4DB2-BD59-A6C34878D82A}">
                    <a16:rowId xmlns:a16="http://schemas.microsoft.com/office/drawing/2014/main" val="10000"/>
                  </a:ext>
                </a:extLst>
              </a:tr>
            </a:tbl>
          </a:graphicData>
        </a:graphic>
      </p:graphicFrame>
      <p:cxnSp>
        <p:nvCxnSpPr>
          <p:cNvPr id="7" name="Straight Connector 6"/>
          <p:cNvCxnSpPr/>
          <p:nvPr/>
        </p:nvCxnSpPr>
        <p:spPr>
          <a:xfrm flipV="1">
            <a:off x="6335713" y="1682750"/>
            <a:ext cx="3725863" cy="14288"/>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6767512" y="1554163"/>
            <a:ext cx="2863850" cy="322263"/>
          </a:xfrm>
          <a:prstGeom prst="rect">
            <a:avLst/>
          </a:prstGeom>
          <a:solidFill>
            <a:schemeClr val="bg1"/>
          </a:solidFill>
        </p:spPr>
        <p:txBody>
          <a:bodyPr wrap="square" lIns="0" tIns="0" rIns="0" bIns="0" rtlCol="0" anchor="ctr">
            <a:spAutoFit/>
          </a:bodyPr>
          <a:lstStyle/>
          <a:p>
            <a:pPr algn="ctr">
              <a:spcBef>
                <a:spcPts val="600"/>
              </a:spcBef>
              <a:buSzPct val="100000"/>
            </a:pPr>
            <a:r>
              <a:rPr lang="en-US" sz="1050" b="1" dirty="0">
                <a:solidFill>
                  <a:srgbClr val="313131"/>
                </a:solidFill>
              </a:rPr>
              <a:t>Consumer Category Wise Electricity Consumption (%)</a:t>
            </a:r>
          </a:p>
        </p:txBody>
      </p:sp>
      <p:graphicFrame>
        <p:nvGraphicFramePr>
          <p:cNvPr id="45" name="Chart 44"/>
          <p:cNvGraphicFramePr/>
          <p:nvPr>
            <p:custDataLst>
              <p:tags r:id="rId4"/>
            </p:custDataLst>
            <p:extLst>
              <p:ext uri="{D42A27DB-BD31-4B8C-83A1-F6EECF244321}">
                <p14:modId xmlns:p14="http://schemas.microsoft.com/office/powerpoint/2010/main" val="3220293828"/>
              </p:ext>
            </p:extLst>
          </p:nvPr>
        </p:nvGraphicFramePr>
        <p:xfrm>
          <a:off x="295275" y="1985963"/>
          <a:ext cx="4967288" cy="1709737"/>
        </p:xfrm>
        <a:graphic>
          <a:graphicData uri="http://schemas.openxmlformats.org/drawingml/2006/chart">
            <c:chart xmlns:c="http://schemas.openxmlformats.org/drawingml/2006/chart" xmlns:r="http://schemas.openxmlformats.org/officeDocument/2006/relationships" r:id="rId28"/>
          </a:graphicData>
        </a:graphic>
      </p:graphicFrame>
      <p:sp>
        <p:nvSpPr>
          <p:cNvPr id="11" name="StandardTextbox"/>
          <p:cNvSpPr>
            <a:spLocks noGrp="1"/>
          </p:cNvSpPr>
          <p:nvPr>
            <p:custDataLst>
              <p:tags r:id="rId5"/>
            </p:custDataLst>
          </p:nvPr>
        </p:nvSpPr>
        <p:spPr bwMode="auto">
          <a:xfrm>
            <a:off x="4391025" y="3679825"/>
            <a:ext cx="3778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1AE7DE09-446C-4C5F-B833-82A971DBA18F}" type="datetime'''M''''''''a''''''r''''''''''''''''''''''''''''-''''20'">
              <a:rPr lang="en-IN" altLang="en-US" sz="800" b="0" smtClean="0"/>
              <a:pPr lvl="1" algn="ctr">
                <a:spcBef>
                  <a:spcPct val="0"/>
                </a:spcBef>
                <a:spcAft>
                  <a:spcPct val="0"/>
                </a:spcAft>
              </a:pPr>
              <a:t>Mar-20</a:t>
            </a:fld>
            <a:endParaRPr lang="en-IN" sz="800" b="0" noProof="0" dirty="0">
              <a:sym typeface="+mn-lt"/>
            </a:endParaRPr>
          </a:p>
        </p:txBody>
      </p:sp>
      <p:sp>
        <p:nvSpPr>
          <p:cNvPr id="10" name="StandardTextbox"/>
          <p:cNvSpPr>
            <a:spLocks noGrp="1"/>
          </p:cNvSpPr>
          <p:nvPr>
            <p:custDataLst>
              <p:tags r:id="rId6"/>
            </p:custDataLst>
          </p:nvPr>
        </p:nvSpPr>
        <p:spPr bwMode="auto">
          <a:xfrm>
            <a:off x="788988" y="3679825"/>
            <a:ext cx="377825"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4D5318FE-10B7-4C7F-9E73-58BFC366AD01}" type="datetime'''''''''M''''''''''''''''''''''''''ar''-1''''''''''4'''''''''">
              <a:rPr lang="en-IN" altLang="en-US" sz="800" b="0" smtClean="0"/>
              <a:pPr lvl="1" algn="ctr">
                <a:spcBef>
                  <a:spcPct val="0"/>
                </a:spcBef>
                <a:spcAft>
                  <a:spcPct val="0"/>
                </a:spcAft>
              </a:pPr>
              <a:t>Mar-14</a:t>
            </a:fld>
            <a:endParaRPr lang="en-IN" sz="800" b="0" noProof="0" dirty="0">
              <a:sym typeface="+mn-lt"/>
            </a:endParaRPr>
          </a:p>
        </p:txBody>
      </p:sp>
      <p:sp>
        <p:nvSpPr>
          <p:cNvPr id="12" name="StandardTextbox"/>
          <p:cNvSpPr>
            <a:spLocks noGrp="1"/>
          </p:cNvSpPr>
          <p:nvPr>
            <p:custDataLst>
              <p:tags r:id="rId7"/>
            </p:custDataLst>
          </p:nvPr>
        </p:nvSpPr>
        <p:spPr bwMode="auto">
          <a:xfrm>
            <a:off x="1987550" y="3679825"/>
            <a:ext cx="382588"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6B5496C-36ED-4E0C-8C3D-541E38C3774E}" type="datetime'S''''''''''e''''p''''''''''''''''''-1''''''''''5'''''''">
              <a:rPr lang="en-IN" altLang="en-US" sz="800" b="0" smtClean="0"/>
              <a:pPr lvl="1" algn="ctr">
                <a:spcBef>
                  <a:spcPct val="0"/>
                </a:spcBef>
                <a:spcAft>
                  <a:spcPct val="0"/>
                </a:spcAft>
              </a:pPr>
              <a:t>Sep-15</a:t>
            </a:fld>
            <a:endParaRPr lang="en-IN" sz="800" b="0" noProof="0" dirty="0">
              <a:sym typeface="+mn-lt"/>
            </a:endParaRPr>
          </a:p>
        </p:txBody>
      </p:sp>
      <p:sp>
        <p:nvSpPr>
          <p:cNvPr id="13" name="StandardTextbox"/>
          <p:cNvSpPr>
            <a:spLocks noGrp="1"/>
          </p:cNvSpPr>
          <p:nvPr>
            <p:custDataLst>
              <p:tags r:id="rId8"/>
            </p:custDataLst>
          </p:nvPr>
        </p:nvSpPr>
        <p:spPr bwMode="auto">
          <a:xfrm>
            <a:off x="3190875" y="3679825"/>
            <a:ext cx="379413" cy="12223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753AE6B2-42DF-4D1F-A556-079F409BC063}" type="datetime'''D''''''''''''e''''c''''-''''''1''''''''''''''7'''''''''''''">
              <a:rPr lang="en-IN" altLang="en-US" sz="800" b="0" smtClean="0"/>
              <a:pPr lvl="1" algn="ctr">
                <a:spcBef>
                  <a:spcPct val="0"/>
                </a:spcBef>
                <a:spcAft>
                  <a:spcPct val="0"/>
                </a:spcAft>
              </a:pPr>
              <a:t>Dec-17</a:t>
            </a:fld>
            <a:endParaRPr lang="en-IN" sz="800" b="0" noProof="0" dirty="0">
              <a:sym typeface="+mn-lt"/>
            </a:endParaRPr>
          </a:p>
        </p:txBody>
      </p:sp>
      <p:sp>
        <p:nvSpPr>
          <p:cNvPr id="15" name="Rectangle 14"/>
          <p:cNvSpPr/>
          <p:nvPr>
            <p:custDataLst>
              <p:tags r:id="rId9"/>
            </p:custDataLst>
          </p:nvPr>
        </p:nvSpPr>
        <p:spPr bwMode="auto">
          <a:xfrm>
            <a:off x="2768600" y="3994150"/>
            <a:ext cx="160338" cy="120650"/>
          </a:xfrm>
          <a:prstGeom prst="rect">
            <a:avLst/>
          </a:prstGeom>
          <a:solidFill>
            <a:srgbClr val="0097A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4" name="Rectangle 13"/>
          <p:cNvSpPr/>
          <p:nvPr>
            <p:custDataLst>
              <p:tags r:id="rId10"/>
            </p:custDataLst>
          </p:nvPr>
        </p:nvSpPr>
        <p:spPr bwMode="auto">
          <a:xfrm>
            <a:off x="5516563" y="3994150"/>
            <a:ext cx="160338" cy="120650"/>
          </a:xfrm>
          <a:prstGeom prst="rect">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7" name="Rectangle 16"/>
          <p:cNvSpPr/>
          <p:nvPr>
            <p:custDataLst>
              <p:tags r:id="rId11"/>
            </p:custDataLst>
          </p:nvPr>
        </p:nvSpPr>
        <p:spPr bwMode="auto">
          <a:xfrm>
            <a:off x="4652963" y="3994150"/>
            <a:ext cx="160338" cy="120650"/>
          </a:xfrm>
          <a:prstGeom prst="rect">
            <a:avLst/>
          </a:prstGeom>
          <a:solidFill>
            <a:srgbClr val="62B5E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6" name="Rectangle 15"/>
          <p:cNvSpPr/>
          <p:nvPr>
            <p:custDataLst>
              <p:tags r:id="rId12"/>
            </p:custDataLst>
          </p:nvPr>
        </p:nvSpPr>
        <p:spPr bwMode="auto">
          <a:xfrm>
            <a:off x="3709988" y="3994150"/>
            <a:ext cx="160338" cy="120650"/>
          </a:xfrm>
          <a:prstGeom prst="rect">
            <a:avLst/>
          </a:prstGeom>
          <a:solidFill>
            <a:srgbClr val="01216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18" name="Rectangle 17"/>
          <p:cNvSpPr/>
          <p:nvPr>
            <p:custDataLst>
              <p:tags r:id="rId13"/>
            </p:custDataLst>
          </p:nvPr>
        </p:nvSpPr>
        <p:spPr bwMode="auto">
          <a:xfrm>
            <a:off x="7002463" y="3994150"/>
            <a:ext cx="160338" cy="120650"/>
          </a:xfrm>
          <a:prstGeom prst="rect">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2" name="StandardTextbox"/>
          <p:cNvSpPr>
            <a:spLocks noGrp="1"/>
          </p:cNvSpPr>
          <p:nvPr>
            <p:custDataLst>
              <p:tags r:id="rId14"/>
            </p:custDataLst>
          </p:nvPr>
        </p:nvSpPr>
        <p:spPr bwMode="auto">
          <a:xfrm>
            <a:off x="7213600" y="3990975"/>
            <a:ext cx="1844675"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D002FD35-BC3D-4274-BBD8-DE0893F6B35D}" type="datetime'''Wt. Ave''rag''e ''''''''Re''tail Supp''ly'''' Tari''''f''f'">
              <a:rPr lang="en-US" altLang="en-US" sz="900" b="0" smtClean="0"/>
              <a:pPr lvl="1">
                <a:spcBef>
                  <a:spcPct val="0"/>
                </a:spcBef>
                <a:spcAft>
                  <a:spcPct val="0"/>
                </a:spcAft>
              </a:pPr>
              <a:t>Wt. Average Retail Supply Tariff</a:t>
            </a:fld>
            <a:endParaRPr lang="en-IN" sz="900" b="0" noProof="0" dirty="0">
              <a:sym typeface="+mn-lt"/>
            </a:endParaRPr>
          </a:p>
        </p:txBody>
      </p:sp>
      <p:sp>
        <p:nvSpPr>
          <p:cNvPr id="20" name="StandardTextbox"/>
          <p:cNvSpPr>
            <a:spLocks noGrp="1"/>
          </p:cNvSpPr>
          <p:nvPr>
            <p:custDataLst>
              <p:tags r:id="rId15"/>
            </p:custDataLst>
          </p:nvPr>
        </p:nvSpPr>
        <p:spPr bwMode="auto">
          <a:xfrm>
            <a:off x="5727700" y="3990975"/>
            <a:ext cx="117316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800BAD59-D570-4DCF-873F-4B92D8EC01D7}" type="datetime'C''om''''mer''''''''''''c''''''ial &amp; ''Of''''''f''ice'">
              <a:rPr lang="en-IN" altLang="en-US" sz="900" b="0" smtClean="0"/>
              <a:pPr lvl="1">
                <a:spcBef>
                  <a:spcPct val="0"/>
                </a:spcBef>
                <a:spcAft>
                  <a:spcPct val="0"/>
                </a:spcAft>
              </a:pPr>
              <a:t>Commercial &amp; Office</a:t>
            </a:fld>
            <a:endParaRPr lang="en-IN" sz="900" b="0" noProof="0" dirty="0">
              <a:sym typeface="+mn-lt"/>
            </a:endParaRPr>
          </a:p>
        </p:txBody>
      </p:sp>
      <p:sp>
        <p:nvSpPr>
          <p:cNvPr id="19" name="StandardTextbox"/>
          <p:cNvSpPr>
            <a:spLocks noGrp="1"/>
          </p:cNvSpPr>
          <p:nvPr>
            <p:custDataLst>
              <p:tags r:id="rId16"/>
            </p:custDataLst>
          </p:nvPr>
        </p:nvSpPr>
        <p:spPr bwMode="auto">
          <a:xfrm>
            <a:off x="2979738" y="3990975"/>
            <a:ext cx="62865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2CA65863-6158-42D8-8773-EC186A5C10A4}" type="datetime'R''e''''s''''i''''''de''''nt''''i''''''''al'''''''''">
              <a:rPr lang="en-IN" altLang="en-US" sz="900" b="0" smtClean="0"/>
              <a:pPr lvl="1">
                <a:spcBef>
                  <a:spcPct val="0"/>
                </a:spcBef>
                <a:spcAft>
                  <a:spcPct val="0"/>
                </a:spcAft>
              </a:pPr>
              <a:t>Residential</a:t>
            </a:fld>
            <a:endParaRPr lang="en-IN" sz="900" b="0" noProof="0" dirty="0">
              <a:sym typeface="+mn-lt"/>
            </a:endParaRPr>
          </a:p>
        </p:txBody>
      </p:sp>
      <p:sp>
        <p:nvSpPr>
          <p:cNvPr id="23" name="StandardTextbox"/>
          <p:cNvSpPr>
            <a:spLocks noGrp="1"/>
          </p:cNvSpPr>
          <p:nvPr>
            <p:custDataLst>
              <p:tags r:id="rId17"/>
            </p:custDataLst>
          </p:nvPr>
        </p:nvSpPr>
        <p:spPr bwMode="auto">
          <a:xfrm>
            <a:off x="4864100" y="3990975"/>
            <a:ext cx="55086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D27016FE-BC0A-4119-A862-D34DA65F5FDF}" type="datetime'''''''I''''''''''n''''''d''''''us''''t''r''ia''''''''l'''''">
              <a:rPr lang="en-IN" altLang="en-US" sz="900" b="0" smtClean="0"/>
              <a:pPr lvl="1">
                <a:spcBef>
                  <a:spcPct val="0"/>
                </a:spcBef>
                <a:spcAft>
                  <a:spcPct val="0"/>
                </a:spcAft>
              </a:pPr>
              <a:t>Industrial</a:t>
            </a:fld>
            <a:endParaRPr lang="en-IN" sz="900" b="0" noProof="0" dirty="0">
              <a:sym typeface="+mn-lt"/>
            </a:endParaRPr>
          </a:p>
        </p:txBody>
      </p:sp>
      <p:sp>
        <p:nvSpPr>
          <p:cNvPr id="21" name="StandardTextbox"/>
          <p:cNvSpPr>
            <a:spLocks noGrp="1"/>
          </p:cNvSpPr>
          <p:nvPr>
            <p:custDataLst>
              <p:tags r:id="rId18"/>
            </p:custDataLst>
          </p:nvPr>
        </p:nvSpPr>
        <p:spPr bwMode="auto">
          <a:xfrm>
            <a:off x="3921125" y="3990975"/>
            <a:ext cx="63023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spcBef>
                <a:spcPct val="0"/>
              </a:spcBef>
              <a:spcAft>
                <a:spcPct val="0"/>
              </a:spcAft>
            </a:pPr>
            <a:fld id="{79759DE3-898A-49A9-A312-C912E9641A1E}" type="datetime'A''''''''''''''''''''''''''gr''ic''''''''ult''''ure'''''">
              <a:rPr lang="en-IN" altLang="en-US" sz="900" b="0" smtClean="0"/>
              <a:pPr lvl="1">
                <a:spcBef>
                  <a:spcPct val="0"/>
                </a:spcBef>
                <a:spcAft>
                  <a:spcPct val="0"/>
                </a:spcAft>
              </a:pPr>
              <a:t>Agriculture</a:t>
            </a:fld>
            <a:endParaRPr lang="en-IN" sz="900" b="0" noProof="0" dirty="0">
              <a:sym typeface="+mn-lt"/>
            </a:endParaRPr>
          </a:p>
        </p:txBody>
      </p:sp>
      <p:graphicFrame>
        <p:nvGraphicFramePr>
          <p:cNvPr id="24" name="Table 23"/>
          <p:cNvGraphicFramePr>
            <a:graphicFrameLocks noGrp="1"/>
          </p:cNvGraphicFramePr>
          <p:nvPr>
            <p:custDataLst>
              <p:tags r:id="rId19"/>
            </p:custDataLst>
            <p:extLst>
              <p:ext uri="{D42A27DB-BD31-4B8C-83A1-F6EECF244321}">
                <p14:modId xmlns:p14="http://schemas.microsoft.com/office/powerpoint/2010/main" val="3648319776"/>
              </p:ext>
            </p:extLst>
          </p:nvPr>
        </p:nvGraphicFramePr>
        <p:xfrm>
          <a:off x="398462" y="4424330"/>
          <a:ext cx="9829800" cy="2123621"/>
        </p:xfrm>
        <a:graphic>
          <a:graphicData uri="http://schemas.openxmlformats.org/drawingml/2006/table">
            <a:tbl>
              <a:tblPr firstRow="1" bandRow="1">
                <a:tableStyleId>{5C22544A-7EE6-4342-B048-85BDC9FD1C3A}</a:tableStyleId>
              </a:tblPr>
              <a:tblGrid>
                <a:gridCol w="9829800">
                  <a:extLst>
                    <a:ext uri="{9D8B030D-6E8A-4147-A177-3AD203B41FA5}">
                      <a16:colId xmlns:a16="http://schemas.microsoft.com/office/drawing/2014/main" val="20000"/>
                    </a:ext>
                  </a:extLst>
                </a:gridCol>
              </a:tblGrid>
              <a:tr h="2123621">
                <a:tc>
                  <a:txBody>
                    <a:bodyPr/>
                    <a:lstStyle/>
                    <a:p>
                      <a:pPr marL="171450" indent="-171450" algn="just">
                        <a:spcBef>
                          <a:spcPts val="600"/>
                        </a:spcBef>
                        <a:spcAft>
                          <a:spcPts val="600"/>
                        </a:spcAft>
                        <a:buFont typeface="Arial" panose="020B0604020202020204" pitchFamily="34" charset="0"/>
                        <a:buChar char="•"/>
                      </a:pPr>
                      <a:r>
                        <a:rPr lang="en-US" sz="1050" b="0" baseline="0" dirty="0">
                          <a:solidFill>
                            <a:schemeClr val="tx1"/>
                          </a:solidFill>
                        </a:rPr>
                        <a:t>The </a:t>
                      </a:r>
                      <a:r>
                        <a:rPr lang="en-US" sz="1050" b="1" baseline="0" dirty="0">
                          <a:solidFill>
                            <a:schemeClr val="tx1"/>
                          </a:solidFill>
                        </a:rPr>
                        <a:t>average retail price covers the overall bulk power selling rate </a:t>
                      </a:r>
                      <a:r>
                        <a:rPr lang="en-US" sz="1050" b="0" baseline="0" dirty="0">
                          <a:solidFill>
                            <a:schemeClr val="tx1"/>
                          </a:solidFill>
                        </a:rPr>
                        <a:t>of BPDB (~BDT 5.0 / kWh) </a:t>
                      </a:r>
                      <a:r>
                        <a:rPr lang="en-US" sz="1050" b="1" baseline="0" dirty="0">
                          <a:solidFill>
                            <a:schemeClr val="tx1"/>
                          </a:solidFill>
                        </a:rPr>
                        <a:t>along with the </a:t>
                      </a:r>
                      <a:r>
                        <a:rPr lang="en-US" sz="1050" b="1" baseline="0" dirty="0" err="1">
                          <a:solidFill>
                            <a:schemeClr val="tx1"/>
                          </a:solidFill>
                        </a:rPr>
                        <a:t>discoms</a:t>
                      </a:r>
                      <a:r>
                        <a:rPr lang="en-US" sz="1050" b="1" baseline="0" dirty="0">
                          <a:solidFill>
                            <a:schemeClr val="tx1"/>
                          </a:solidFill>
                        </a:rPr>
                        <a:t> operations cost</a:t>
                      </a:r>
                    </a:p>
                    <a:p>
                      <a:pPr marL="171450" indent="-171450" algn="just">
                        <a:spcBef>
                          <a:spcPts val="600"/>
                        </a:spcBef>
                        <a:spcAft>
                          <a:spcPts val="600"/>
                        </a:spcAft>
                        <a:buFont typeface="Arial" panose="020B0604020202020204" pitchFamily="34" charset="0"/>
                        <a:buChar char="•"/>
                      </a:pPr>
                      <a:r>
                        <a:rPr lang="en-US" sz="1050" b="0" baseline="0" dirty="0">
                          <a:solidFill>
                            <a:schemeClr val="tx1"/>
                          </a:solidFill>
                        </a:rPr>
                        <a:t>Thus, </a:t>
                      </a:r>
                      <a:r>
                        <a:rPr lang="en-US" sz="1050" b="1" baseline="0" dirty="0">
                          <a:solidFill>
                            <a:schemeClr val="tx1"/>
                          </a:solidFill>
                        </a:rPr>
                        <a:t>most of the </a:t>
                      </a:r>
                      <a:r>
                        <a:rPr lang="en-US" sz="1050" b="1" baseline="0" dirty="0" err="1">
                          <a:solidFill>
                            <a:schemeClr val="tx1"/>
                          </a:solidFill>
                        </a:rPr>
                        <a:t>discoms</a:t>
                      </a:r>
                      <a:r>
                        <a:rPr lang="en-US" sz="1050" b="1" baseline="0" dirty="0">
                          <a:solidFill>
                            <a:schemeClr val="tx1"/>
                          </a:solidFill>
                        </a:rPr>
                        <a:t> in Bangladesh are profitable </a:t>
                      </a:r>
                      <a:r>
                        <a:rPr lang="en-US" sz="1050" b="0" baseline="0" dirty="0">
                          <a:solidFill>
                            <a:schemeClr val="tx1"/>
                          </a:solidFill>
                        </a:rPr>
                        <a:t>(i.e. WZPDDCL, DPDC, DESCO among others) as of FY19</a:t>
                      </a:r>
                    </a:p>
                    <a:p>
                      <a:pPr marL="171450" indent="-171450" algn="just">
                        <a:spcBef>
                          <a:spcPts val="600"/>
                        </a:spcBef>
                        <a:spcAft>
                          <a:spcPts val="600"/>
                        </a:spcAft>
                        <a:buFont typeface="Arial" panose="020B0604020202020204" pitchFamily="34" charset="0"/>
                        <a:buChar char="•"/>
                      </a:pPr>
                      <a:r>
                        <a:rPr lang="en-US" sz="1050" b="0" baseline="0" dirty="0">
                          <a:solidFill>
                            <a:schemeClr val="tx1"/>
                          </a:solidFill>
                        </a:rPr>
                        <a:t>The </a:t>
                      </a:r>
                      <a:r>
                        <a:rPr lang="en-US" sz="1050" b="1" baseline="0" dirty="0">
                          <a:solidFill>
                            <a:schemeClr val="tx1"/>
                          </a:solidFill>
                        </a:rPr>
                        <a:t>agriculture tariff category has witnessed the highest average CAGR in the last 6 years at ~9% followed by residential category at 2.5% </a:t>
                      </a:r>
                      <a:r>
                        <a:rPr lang="en-US" sz="1050" b="0" baseline="0" dirty="0">
                          <a:solidFill>
                            <a:schemeClr val="tx1"/>
                          </a:solidFill>
                        </a:rPr>
                        <a:t>CAGR which contributes ~53% of the total power consumption in Bangladesh</a:t>
                      </a:r>
                    </a:p>
                    <a:p>
                      <a:pPr marL="171450" indent="-171450" algn="just">
                        <a:spcBef>
                          <a:spcPts val="600"/>
                        </a:spcBef>
                        <a:spcAft>
                          <a:spcPts val="600"/>
                        </a:spcAft>
                        <a:buFont typeface="Arial" panose="020B0604020202020204" pitchFamily="34" charset="0"/>
                        <a:buChar char="•"/>
                      </a:pPr>
                      <a:r>
                        <a:rPr lang="en-US" sz="1050" b="0" baseline="0" dirty="0">
                          <a:solidFill>
                            <a:schemeClr val="tx1"/>
                          </a:solidFill>
                        </a:rPr>
                        <a:t>The </a:t>
                      </a:r>
                      <a:r>
                        <a:rPr lang="en-US" sz="1050" b="1" baseline="0" dirty="0">
                          <a:solidFill>
                            <a:schemeClr val="tx1"/>
                          </a:solidFill>
                        </a:rPr>
                        <a:t>Industrial and Commercial Tariff have increased at a lower CAGR of ~2.4% and 1.2% respectively</a:t>
                      </a:r>
                    </a:p>
                    <a:p>
                      <a:pPr marL="171450" marR="0" lvl="0" indent="-171450" algn="just" defTabSz="990571" rtl="0" eaLnBrk="1" fontAlgn="auto" latinLnBrk="0" hangingPunct="1">
                        <a:lnSpc>
                          <a:spcPct val="100000"/>
                        </a:lnSpc>
                        <a:spcBef>
                          <a:spcPts val="600"/>
                        </a:spcBef>
                        <a:spcAft>
                          <a:spcPts val="600"/>
                        </a:spcAft>
                        <a:buClrTx/>
                        <a:buSzTx/>
                        <a:buFont typeface="Arial" panose="020B0604020202020204" pitchFamily="34" charset="0"/>
                        <a:buChar char="•"/>
                        <a:tabLst/>
                        <a:defRPr/>
                      </a:pPr>
                      <a:r>
                        <a:rPr lang="en-US" sz="1050" b="0" baseline="0" dirty="0">
                          <a:solidFill>
                            <a:schemeClr val="tx1"/>
                          </a:solidFill>
                        </a:rPr>
                        <a:t>Thus, at an overall level, the </a:t>
                      </a:r>
                      <a:r>
                        <a:rPr lang="en-US" sz="1050" b="0" baseline="0" dirty="0" err="1">
                          <a:solidFill>
                            <a:schemeClr val="tx1"/>
                          </a:solidFill>
                        </a:rPr>
                        <a:t>the</a:t>
                      </a:r>
                      <a:r>
                        <a:rPr lang="en-US" sz="1050" b="0" baseline="0" dirty="0">
                          <a:solidFill>
                            <a:schemeClr val="tx1"/>
                          </a:solidFill>
                        </a:rPr>
                        <a:t> average retail tariff for consumers has grown at a CAGR of 2.5% in the last 6 years which is higher than the average bulk supply tariff hike rate of ~1.7% CAGR</a:t>
                      </a:r>
                      <a:endParaRPr lang="en-US" sz="1050" b="1" baseline="0" dirty="0">
                        <a:solidFill>
                          <a:schemeClr val="tx1"/>
                        </a:solidFill>
                      </a:endParaRPr>
                    </a:p>
                  </a:txBody>
                  <a:tcPr marL="107998" marT="10799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sp>
        <p:nvSpPr>
          <p:cNvPr id="25" name="Rectangle 24"/>
          <p:cNvSpPr/>
          <p:nvPr/>
        </p:nvSpPr>
        <p:spPr bwMode="gray">
          <a:xfrm>
            <a:off x="377226" y="7260739"/>
            <a:ext cx="10063729" cy="306873"/>
          </a:xfrm>
          <a:prstGeom prst="rect">
            <a:avLst/>
          </a:prstGeom>
          <a:noFill/>
          <a:ln w="19050" algn="ctr">
            <a:noFill/>
            <a:miter lim="800000"/>
            <a:headEnd/>
            <a:tailEnd/>
          </a:ln>
        </p:spPr>
        <p:txBody>
          <a:bodyPr wrap="square" lIns="88900" tIns="88900" rIns="88900" bIns="88900" rtlCol="0" anchor="ctr"/>
          <a:lstStyle/>
          <a:p>
            <a:pPr marL="0" marR="0" lvl="0" indent="0" algn="l" defTabSz="787481" rtl="0" eaLnBrk="1" fontAlgn="auto" latinLnBrk="0" hangingPunct="1">
              <a:lnSpc>
                <a:spcPct val="106000"/>
              </a:lnSpc>
              <a:spcBef>
                <a:spcPts val="0"/>
              </a:spcBef>
              <a:spcAft>
                <a:spcPts val="0"/>
              </a:spcAft>
              <a:buClrTx/>
              <a:buSzTx/>
              <a:buFontTx/>
              <a:buNone/>
              <a:tabLst/>
              <a:defRPr/>
            </a:pPr>
            <a:r>
              <a:rPr kumimoji="0" lang="en-US" sz="700" b="0" i="1" u="none" strike="noStrike" kern="1200" cap="none" spc="0" normalizeH="0" baseline="0" noProof="0" dirty="0">
                <a:ln>
                  <a:noFill/>
                </a:ln>
                <a:solidFill>
                  <a:prstClr val="black"/>
                </a:solidFill>
                <a:effectLst/>
                <a:uLnTx/>
                <a:uFillTx/>
                <a:latin typeface="Verdana"/>
                <a:ea typeface="+mn-ea"/>
                <a:cs typeface="+mn-cs"/>
              </a:rPr>
              <a:t>Source: BPDB, Deloitte Analysis; Note 1) The average tariff </a:t>
            </a:r>
            <a:r>
              <a:rPr lang="en-US" sz="700" i="1" dirty="0">
                <a:solidFill>
                  <a:prstClr val="black"/>
                </a:solidFill>
                <a:latin typeface="Verdana"/>
              </a:rPr>
              <a:t>for residential consumers have been considered as an average of their telescopic tariffs at 11 KV / 132 Volts / 230 Volts levels . The industrial and commercial users have been considered based on the flat rate as per BERC Tariff Orders for BPDB at 11 KV / 132 Volts / 230 Volts level</a:t>
            </a:r>
            <a:endParaRPr kumimoji="0" lang="en-US" sz="700" b="0" i="1" u="none" strike="noStrike" kern="1200" cap="none" spc="0" normalizeH="0" baseline="0" noProof="0" dirty="0">
              <a:ln>
                <a:noFill/>
              </a:ln>
              <a:solidFill>
                <a:prstClr val="black"/>
              </a:solidFill>
              <a:effectLst/>
              <a:uLnTx/>
              <a:uFillTx/>
              <a:latin typeface="Verdana"/>
              <a:ea typeface="+mn-ea"/>
              <a:cs typeface="+mn-cs"/>
            </a:endParaRPr>
          </a:p>
        </p:txBody>
      </p:sp>
      <p:sp>
        <p:nvSpPr>
          <p:cNvPr id="26" name="Rectangle 25"/>
          <p:cNvSpPr/>
          <p:nvPr/>
        </p:nvSpPr>
        <p:spPr bwMode="gray">
          <a:xfrm>
            <a:off x="5267325" y="2268538"/>
            <a:ext cx="684213" cy="198438"/>
          </a:xfrm>
          <a:prstGeom prst="rect">
            <a:avLst/>
          </a:prstGeom>
          <a:solidFill>
            <a:srgbClr val="0097A9"/>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+2.5%</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27" name="Rectangle 26"/>
          <p:cNvSpPr/>
          <p:nvPr/>
        </p:nvSpPr>
        <p:spPr bwMode="gray">
          <a:xfrm>
            <a:off x="5267325" y="2519363"/>
            <a:ext cx="684213" cy="198438"/>
          </a:xfrm>
          <a:prstGeom prst="rect">
            <a:avLst/>
          </a:prstGeom>
          <a:solidFill>
            <a:srgbClr val="012169"/>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+8.8%</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28" name="Rectangle 27"/>
          <p:cNvSpPr/>
          <p:nvPr/>
        </p:nvSpPr>
        <p:spPr bwMode="gray">
          <a:xfrm>
            <a:off x="5262563" y="2770188"/>
            <a:ext cx="684213" cy="198438"/>
          </a:xfrm>
          <a:prstGeom prst="rect">
            <a:avLst/>
          </a:prstGeom>
          <a:solidFill>
            <a:srgbClr val="62B5E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+2.4%</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29" name="Rectangle 28"/>
          <p:cNvSpPr/>
          <p:nvPr/>
        </p:nvSpPr>
        <p:spPr bwMode="gray">
          <a:xfrm>
            <a:off x="5262563" y="3022600"/>
            <a:ext cx="684213" cy="196850"/>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+1.2%</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30" name="Rectangle 29"/>
          <p:cNvSpPr/>
          <p:nvPr/>
        </p:nvSpPr>
        <p:spPr bwMode="gray">
          <a:xfrm>
            <a:off x="5262563" y="3273425"/>
            <a:ext cx="684213" cy="196850"/>
          </a:xfrm>
          <a:prstGeom prst="rect">
            <a:avLst/>
          </a:prstGeom>
          <a:solidFill>
            <a:srgbClr val="86BC2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dirty="0">
                <a:ln>
                  <a:noFill/>
                </a:ln>
                <a:solidFill>
                  <a:prstClr val="white"/>
                </a:solidFill>
                <a:effectLst/>
                <a:uLnTx/>
                <a:uFillTx/>
                <a:latin typeface="Verdana"/>
                <a:ea typeface="+mn-ea"/>
                <a:cs typeface="+mn-cs"/>
              </a:rPr>
              <a:t>+2.5%</a:t>
            </a:r>
            <a:endParaRPr kumimoji="0" lang="en-IN" sz="900" b="1" i="0" u="none" strike="noStrike" kern="1200" cap="none" spc="0" normalizeH="0" baseline="0" noProof="0" dirty="0">
              <a:ln>
                <a:noFill/>
              </a:ln>
              <a:solidFill>
                <a:prstClr val="white"/>
              </a:solidFill>
              <a:effectLst/>
              <a:uLnTx/>
              <a:uFillTx/>
              <a:latin typeface="Verdana"/>
              <a:ea typeface="+mn-ea"/>
              <a:cs typeface="+mn-cs"/>
            </a:endParaRPr>
          </a:p>
        </p:txBody>
      </p:sp>
      <p:sp>
        <p:nvSpPr>
          <p:cNvPr id="31" name="Rectangle 30"/>
          <p:cNvSpPr/>
          <p:nvPr/>
        </p:nvSpPr>
        <p:spPr bwMode="gray">
          <a:xfrm>
            <a:off x="4852988" y="1924050"/>
            <a:ext cx="1701800" cy="323850"/>
          </a:xfrm>
          <a:prstGeom prst="rect">
            <a:avLst/>
          </a:prstGeom>
          <a:no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1" i="1" u="none" strike="noStrike" kern="1200" cap="none" spc="0" normalizeH="0" baseline="0" noProof="0" dirty="0">
                <a:ln>
                  <a:noFill/>
                </a:ln>
                <a:solidFill>
                  <a:prstClr val="black"/>
                </a:solidFill>
                <a:effectLst/>
                <a:uLnTx/>
                <a:uFillTx/>
                <a:latin typeface="Verdana"/>
                <a:ea typeface="+mn-ea"/>
                <a:cs typeface="+mn-cs"/>
              </a:rPr>
              <a:t>CAGR (%)</a:t>
            </a:r>
            <a:endParaRPr kumimoji="0" lang="en-IN" sz="1000" b="1" i="1" u="none" strike="noStrike" kern="1200" cap="none" spc="0" normalizeH="0" baseline="0" noProof="0" dirty="0">
              <a:ln>
                <a:noFill/>
              </a:ln>
              <a:solidFill>
                <a:prstClr val="black"/>
              </a:solidFill>
              <a:effectLst/>
              <a:uLnTx/>
              <a:uFillTx/>
              <a:latin typeface="Verdana"/>
              <a:ea typeface="+mn-ea"/>
              <a:cs typeface="+mn-cs"/>
            </a:endParaRPr>
          </a:p>
        </p:txBody>
      </p:sp>
      <p:cxnSp>
        <p:nvCxnSpPr>
          <p:cNvPr id="32" name="Straight Connector 31"/>
          <p:cNvCxnSpPr/>
          <p:nvPr/>
        </p:nvCxnSpPr>
        <p:spPr>
          <a:xfrm>
            <a:off x="403225" y="1706563"/>
            <a:ext cx="5602288"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33" name="TextBox 32"/>
          <p:cNvSpPr txBox="1"/>
          <p:nvPr/>
        </p:nvSpPr>
        <p:spPr>
          <a:xfrm>
            <a:off x="533400" y="1625600"/>
            <a:ext cx="5341938" cy="160338"/>
          </a:xfrm>
          <a:prstGeom prst="rect">
            <a:avLst/>
          </a:prstGeom>
          <a:solidFill>
            <a:schemeClr val="bg1"/>
          </a:solidFill>
        </p:spPr>
        <p:txBody>
          <a:bodyPr wrap="square" lIns="0" tIns="0" rIns="0" bIns="0" rtlCol="0" anchor="ctr">
            <a:spAutoFit/>
          </a:bodyPr>
          <a:lstStyle/>
          <a:p>
            <a:pPr algn="ctr">
              <a:spcBef>
                <a:spcPts val="600"/>
              </a:spcBef>
              <a:buSzPct val="100000"/>
            </a:pPr>
            <a:r>
              <a:rPr lang="en-US" sz="1050" b="1" dirty="0">
                <a:solidFill>
                  <a:srgbClr val="313131"/>
                </a:solidFill>
              </a:rPr>
              <a:t>Average Total Retail Tariff for Key Consumer Categories (BDT / kWh)</a:t>
            </a:r>
            <a:endParaRPr lang="en-IN" sz="1050" b="1" dirty="0">
              <a:solidFill>
                <a:srgbClr val="313131"/>
              </a:solidFill>
            </a:endParaRPr>
          </a:p>
        </p:txBody>
      </p:sp>
      <p:graphicFrame>
        <p:nvGraphicFramePr>
          <p:cNvPr id="46" name="Chart 45"/>
          <p:cNvGraphicFramePr/>
          <p:nvPr>
            <p:custDataLst>
              <p:tags r:id="rId20"/>
            </p:custDataLst>
            <p:extLst>
              <p:ext uri="{D42A27DB-BD31-4B8C-83A1-F6EECF244321}">
                <p14:modId xmlns:p14="http://schemas.microsoft.com/office/powerpoint/2010/main" val="1039352900"/>
              </p:ext>
            </p:extLst>
          </p:nvPr>
        </p:nvGraphicFramePr>
        <p:xfrm>
          <a:off x="7104063" y="2073275"/>
          <a:ext cx="2395537" cy="1622425"/>
        </p:xfrm>
        <a:graphic>
          <a:graphicData uri="http://schemas.openxmlformats.org/drawingml/2006/chart">
            <c:chart xmlns:c="http://schemas.openxmlformats.org/drawingml/2006/chart" xmlns:r="http://schemas.openxmlformats.org/officeDocument/2006/relationships" r:id="rId29"/>
          </a:graphicData>
        </a:graphic>
      </p:graphicFrame>
      <p:sp>
        <p:nvSpPr>
          <p:cNvPr id="37" name="StandardTextbox"/>
          <p:cNvSpPr>
            <a:spLocks noGrp="1"/>
          </p:cNvSpPr>
          <p:nvPr>
            <p:custDataLst>
              <p:tags r:id="rId21"/>
            </p:custDataLst>
          </p:nvPr>
        </p:nvSpPr>
        <p:spPr bwMode="auto">
          <a:xfrm>
            <a:off x="8018463" y="1978025"/>
            <a:ext cx="42862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r">
              <a:spcBef>
                <a:spcPct val="0"/>
              </a:spcBef>
              <a:spcAft>
                <a:spcPct val="0"/>
              </a:spcAft>
            </a:pPr>
            <a:fld id="{FD1C7B0D-8C97-43F5-B33A-C5D4122CAD86}" type="datetime'''''''''Ot''''''''''''''''''''''''''''''''''''h''''er''''s'">
              <a:rPr lang="en-IN" altLang="en-US" b="0" smtClean="0"/>
              <a:pPr lvl="1" algn="r">
                <a:spcBef>
                  <a:spcPct val="0"/>
                </a:spcBef>
                <a:spcAft>
                  <a:spcPct val="0"/>
                </a:spcAft>
              </a:pPr>
              <a:t>Others</a:t>
            </a:fld>
            <a:endParaRPr lang="en-IN" b="0" noProof="0" dirty="0">
              <a:sym typeface="+mn-lt"/>
            </a:endParaRPr>
          </a:p>
        </p:txBody>
      </p:sp>
      <p:sp>
        <p:nvSpPr>
          <p:cNvPr id="35" name="StandardTextbox"/>
          <p:cNvSpPr>
            <a:spLocks noGrp="1"/>
          </p:cNvSpPr>
          <p:nvPr>
            <p:custDataLst>
              <p:tags r:id="rId22"/>
            </p:custDataLst>
          </p:nvPr>
        </p:nvSpPr>
        <p:spPr bwMode="gray">
          <a:xfrm>
            <a:off x="7985125" y="3389313"/>
            <a:ext cx="258763" cy="152400"/>
          </a:xfrm>
          <a:prstGeom prst="rect">
            <a:avLst/>
          </a:prstGeom>
          <a:solidFill>
            <a:schemeClr val="accent4"/>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3CEADC8F-ECC4-46F6-B88E-DA4D9660D28F}" type="datetime'3''''''''''''''''''''''''''''''''''''%'''''''''">
              <a:rPr lang="en-IN" altLang="en-US" b="0" smtClean="0">
                <a:solidFill>
                  <a:schemeClr val="bg1"/>
                </a:solidFill>
              </a:rPr>
              <a:pPr lvl="1" algn="ctr">
                <a:spcBef>
                  <a:spcPct val="0"/>
                </a:spcBef>
                <a:spcAft>
                  <a:spcPct val="0"/>
                </a:spcAft>
              </a:pPr>
              <a:t>3%</a:t>
            </a:fld>
            <a:endParaRPr lang="en-IN" b="0" noProof="0" dirty="0">
              <a:solidFill>
                <a:schemeClr val="bg1"/>
              </a:solidFill>
              <a:sym typeface="+mn-lt"/>
            </a:endParaRPr>
          </a:p>
        </p:txBody>
      </p:sp>
      <p:sp>
        <p:nvSpPr>
          <p:cNvPr id="36" name="StandardTextbox"/>
          <p:cNvSpPr>
            <a:spLocks noGrp="1"/>
          </p:cNvSpPr>
          <p:nvPr>
            <p:custDataLst>
              <p:tags r:id="rId23"/>
            </p:custDataLst>
          </p:nvPr>
        </p:nvSpPr>
        <p:spPr bwMode="gray">
          <a:xfrm>
            <a:off x="8139113" y="2466975"/>
            <a:ext cx="258763" cy="152400"/>
          </a:xfrm>
          <a:prstGeom prst="rect">
            <a:avLst/>
          </a:prstGeom>
          <a:solidFill>
            <a:srgbClr val="53565A"/>
          </a:solidFill>
          <a:ln>
            <a:noFill/>
          </a:ln>
        </p:spPr>
        <p:txBody>
          <a:bodyPr vert="horz" wrap="none" lIns="20638" tIns="0" rIns="20638"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fld id="{A549AD5E-787F-48FA-9E08-114D621078FD}" type="datetime'''''''''''''''''''''''''''''''''''''''''''''''''2''''%'''''''">
              <a:rPr lang="en-IN" altLang="en-US" b="0" smtClean="0">
                <a:solidFill>
                  <a:schemeClr val="bg1"/>
                </a:solidFill>
              </a:rPr>
              <a:pPr lvl="1" algn="ctr">
                <a:spcBef>
                  <a:spcPct val="0"/>
                </a:spcBef>
                <a:spcAft>
                  <a:spcPct val="0"/>
                </a:spcAft>
              </a:pPr>
              <a:t>2%</a:t>
            </a:fld>
            <a:endParaRPr lang="en-IN" b="0" noProof="0" dirty="0">
              <a:solidFill>
                <a:schemeClr val="bg1"/>
              </a:solidFill>
              <a:sym typeface="+mn-lt"/>
            </a:endParaRPr>
          </a:p>
        </p:txBody>
      </p:sp>
      <p:sp>
        <p:nvSpPr>
          <p:cNvPr id="38" name="StandardTextbox"/>
          <p:cNvSpPr>
            <a:spLocks noGrp="1"/>
          </p:cNvSpPr>
          <p:nvPr>
            <p:custDataLst>
              <p:tags r:id="rId24"/>
            </p:custDataLst>
          </p:nvPr>
        </p:nvSpPr>
        <p:spPr bwMode="auto">
          <a:xfrm>
            <a:off x="8107363" y="2808288"/>
            <a:ext cx="369888"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90571" rtl="0" eaLnBrk="1" latinLnBrk="0" hangingPunct="1">
              <a:spcBef>
                <a:spcPts val="0"/>
              </a:spcBef>
              <a:spcAft>
                <a:spcPts val="1083"/>
              </a:spcAft>
              <a:buSzPct val="100000"/>
              <a:buFont typeface="Arial" panose="020B0604020202020204" pitchFamily="34" charset="0"/>
              <a:buNone/>
              <a:defRPr sz="1000" b="1" kern="1200">
                <a:solidFill>
                  <a:srgbClr val="C4D600"/>
                </a:solidFill>
                <a:latin typeface="+mn-lt"/>
                <a:ea typeface="+mn-ea"/>
                <a:cs typeface="+mn-cs"/>
              </a:defRPr>
            </a:lvl1pPr>
            <a:lvl2pPr marL="0" indent="0" algn="l" defTabSz="990571" rtl="0" eaLnBrk="1" latinLnBrk="0" hangingPunct="1">
              <a:spcBef>
                <a:spcPts val="0"/>
              </a:spcBef>
              <a:spcAft>
                <a:spcPts val="1083"/>
              </a:spcAft>
              <a:buClrTx/>
              <a:buSzPct val="100000"/>
              <a:buFont typeface="Arial"/>
              <a:buNone/>
              <a:defRPr lang="en-US" sz="1000" b="1" kern="1200" dirty="0" smtClean="0">
                <a:solidFill>
                  <a:schemeClr val="tx1"/>
                </a:solidFill>
                <a:latin typeface="+mn-lt"/>
                <a:ea typeface="+mn-ea"/>
                <a:cs typeface="+mn-cs"/>
              </a:defRPr>
            </a:lvl2pPr>
            <a:lvl3pPr marL="191094" indent="-191094" algn="l" defTabSz="990571" rtl="0" eaLnBrk="1" latinLnBrk="0" hangingPunct="1">
              <a:spcBef>
                <a:spcPts val="0"/>
              </a:spcBef>
              <a:spcAft>
                <a:spcPts val="1083"/>
              </a:spcAft>
              <a:buClrTx/>
              <a:buSzPct val="100000"/>
              <a:buFont typeface="Arial" panose="020B0604020202020204" pitchFamily="34" charset="0"/>
              <a:buChar char="•"/>
              <a:defRPr lang="en-US" sz="1000" kern="1200" dirty="0" smtClean="0">
                <a:solidFill>
                  <a:schemeClr val="tx1"/>
                </a:solidFill>
                <a:latin typeface="+mn-lt"/>
                <a:ea typeface="+mn-ea"/>
                <a:cs typeface="+mn-cs"/>
              </a:defRPr>
            </a:lvl3pPr>
            <a:lvl4pPr marL="386089" indent="-191094" algn="l" defTabSz="990571" rtl="0" eaLnBrk="1" latinLnBrk="0" hangingPunct="1">
              <a:spcBef>
                <a:spcPts val="0"/>
              </a:spcBef>
              <a:spcAft>
                <a:spcPts val="1083"/>
              </a:spcAft>
              <a:buClrTx/>
              <a:buSzPct val="100000"/>
              <a:buFont typeface="Verdana" panose="020B0604030504040204" pitchFamily="34" charset="0"/>
              <a:buChar char="−"/>
              <a:defRPr lang="en-US" sz="1000" kern="1200" baseline="0" dirty="0" smtClean="0">
                <a:solidFill>
                  <a:schemeClr val="tx1"/>
                </a:solidFill>
                <a:latin typeface="+mn-lt"/>
                <a:ea typeface="+mn-ea"/>
                <a:cs typeface="+mn-cs"/>
              </a:defRPr>
            </a:lvl4pPr>
            <a:lvl5pPr marL="577182" indent="-191094" algn="l" defTabSz="865030" rtl="0" eaLnBrk="1" latinLnBrk="0" hangingPunct="1">
              <a:spcBef>
                <a:spcPts val="0"/>
              </a:spcBef>
              <a:spcAft>
                <a:spcPts val="1083"/>
              </a:spcAft>
              <a:buClrTx/>
              <a:buSzPct val="100000"/>
              <a:buFont typeface="Verdana" panose="020B0604030504040204" pitchFamily="34" charset="0"/>
              <a:buChar char="−"/>
              <a:tabLst/>
              <a:defRPr lang="en-US" sz="1000" kern="1200" baseline="0" dirty="0" smtClean="0">
                <a:solidFill>
                  <a:schemeClr val="tx1"/>
                </a:solidFill>
                <a:latin typeface="+mn-lt"/>
                <a:ea typeface="+mn-ea"/>
                <a:cs typeface="+mn-cs"/>
              </a:defRPr>
            </a:lvl5pPr>
            <a:lvl6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1"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1"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a:lstStyle>
          <a:p>
            <a:pPr lvl="1" algn="ctr">
              <a:spcBef>
                <a:spcPct val="0"/>
              </a:spcBef>
              <a:spcAft>
                <a:spcPct val="0"/>
              </a:spcAft>
            </a:pPr>
            <a:r>
              <a:rPr lang="en-IN" altLang="en-US" dirty="0">
                <a:sym typeface="+mn-lt"/>
              </a:rPr>
              <a:t>FY19</a:t>
            </a:r>
            <a:endParaRPr lang="en-IN" noProof="0" dirty="0">
              <a:sym typeface="+mn-lt"/>
            </a:endParaRPr>
          </a:p>
        </p:txBody>
      </p:sp>
    </p:spTree>
    <p:extLst>
      <p:ext uri="{BB962C8B-B14F-4D97-AF65-F5344CB8AC3E}">
        <p14:creationId xmlns:p14="http://schemas.microsoft.com/office/powerpoint/2010/main" val="3872242489"/>
      </p:ext>
    </p:extLst>
  </p:cSld>
  <p:clrMapOvr>
    <a:masterClrMapping/>
  </p:clrMapOvr>
  <p:transition>
    <p:fade/>
  </p:transition>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Rectangle 29"/>
          <p:cNvSpPr>
            <a:spLocks noChangeArrowheads="1"/>
          </p:cNvSpPr>
          <p:nvPr/>
        </p:nvSpPr>
        <p:spPr bwMode="auto">
          <a:xfrm>
            <a:off x="458990" y="4927600"/>
            <a:ext cx="8608809" cy="2209800"/>
          </a:xfrm>
          <a:prstGeom prst="rect">
            <a:avLst/>
          </a:prstGeom>
          <a:noFill/>
          <a:ln w="9525">
            <a:noFill/>
            <a:miter lim="800000"/>
            <a:headEnd/>
            <a:tailEnd/>
          </a:ln>
          <a:effectLst/>
        </p:spPr>
        <p:txBody>
          <a:bodyPr lIns="36000" tIns="36000" rIns="0" bIns="0" anchor="b"/>
          <a:lstStyle/>
          <a:p>
            <a:pPr>
              <a:lnSpc>
                <a:spcPct val="115000"/>
              </a:lnSpc>
              <a:spcAft>
                <a:spcPts val="1000"/>
              </a:spcAft>
            </a:pPr>
            <a:r>
              <a:rPr lang="en-US" sz="800" dirty="0">
                <a:solidFill>
                  <a:srgbClr val="000000"/>
                </a:solidFill>
              </a:rPr>
              <a:t>This document is confidential and prepared solely for your information. Therefore you should not, without our prior written consent, refer to or use our name or this document for any other purpose, disclose them or refer to them in any prospectus or other document, or make them available or communicate them to any other party. No other party is entitled to rely on our document for any purpose whatsoever and thus we accept no liability to any party who is shown or gains access to this document.</a:t>
            </a:r>
          </a:p>
          <a:p>
            <a:pPr>
              <a:lnSpc>
                <a:spcPct val="115000"/>
              </a:lnSpc>
              <a:spcAft>
                <a:spcPts val="1000"/>
              </a:spcAft>
            </a:pPr>
            <a:r>
              <a:rPr lang="en-US" sz="800" dirty="0">
                <a:solidFill>
                  <a:srgbClr val="000000"/>
                </a:solidFill>
              </a:rPr>
              <a:t>Deloitte refers to one or more of Deloitte Touche Tohmatsu Limited, a UK private company limited by guarantee, and its network of member firms, each of which is a legally separate and independent entity. Please see www.deloitte.com/about for a detailed description of the legal structure of Deloitte Touche Tohmatsu Limited and its member firms.</a:t>
            </a:r>
          </a:p>
          <a:p>
            <a:pPr>
              <a:lnSpc>
                <a:spcPct val="115000"/>
              </a:lnSpc>
              <a:spcAft>
                <a:spcPts val="1000"/>
              </a:spcAft>
            </a:pPr>
            <a:r>
              <a:rPr lang="en-US" sz="800" dirty="0">
                <a:solidFill>
                  <a:srgbClr val="000000"/>
                </a:solidFill>
              </a:rPr>
              <a:t>© 2020 Deloitte Touche Tohmatsu India LLP. All rights reserved.</a:t>
            </a:r>
          </a:p>
        </p:txBody>
      </p:sp>
    </p:spTree>
    <p:extLst>
      <p:ext uri="{BB962C8B-B14F-4D97-AF65-F5344CB8AC3E}">
        <p14:creationId xmlns:p14="http://schemas.microsoft.com/office/powerpoint/2010/main" val="24946164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THINKCELLPRESENTATIONDONOTDELETE" val="&lt;?xml version=&quot;1.0&quot; encoding=&quot;UTF-16&quot; standalone=&quot;yes&quot;?&gt;&lt;root reqver=&quot;25060&quot;&gt;&lt;version val=&quot;28278&quot;/&gt;&lt;CPresentation id=&quot;1&quot;&gt;&lt;m_precDefaultNumber&gt;&lt;m_bNumberIsYear val=&quot;1&quot;/&gt;&lt;m_chMinusSymbol&gt;-&lt;/m_chMinusSymbol&gt;&lt;m_chDecimalSymbol17909&gt;.&lt;/m_chDecimalSymbol17909&gt;&lt;m_nGroupingDigits17909 val=&quot;3&quot;/&gt;&lt;m_chGroupingSymbol17909&gt;,&lt;/m_chGroupingSymbol17909&gt;&lt;m_yearfmt&gt;&lt;begin val=&quot;0&quot;/&gt;&lt;end val=&quot;4&quot;/&gt;&lt;/m_yearfmt&gt;&lt;/m_precDefaultNumber&gt;&lt;m_precDefaultPercent&gt;&lt;m_bNumberIsYear val=&quot;1&quot;/&gt;&lt;m_chMinusSymbol&gt;-&lt;/m_chMinusSymbol&gt;&lt;m_nDecimalDigits17909 val=&quot;1&quot;/&gt;&lt;m_chDecimalSymbol17909&gt;.&lt;/m_chDecimalSymbol17909&gt;&lt;m_nGroupingDigits17909 val=&quot;2147483647&quot;/&gt;&lt;m_strSuffix17909&gt;%&lt;/m_strSuffix17909&gt;&lt;m_yearfmt&gt;&lt;begin val=&quot;0&quot;/&gt;&lt;end val=&quot;4&quot;/&gt;&lt;/m_yearfmt&gt;&lt;/m_precDefaultPercent&gt;&lt;m_precDefaultDate&gt;&lt;m_bNumberIsYear val=&quot;0&quot;/&gt;&lt;m_strFormatTime&gt;%d-%m-%Y&lt;/m_strFormatTime&gt;&lt;m_yearfmt&gt;&lt;begin val=&quot;0&quot;/&gt;&lt;end val=&quot;0&quot;/&gt;&lt;/m_yearfmt&gt;&lt;/m_precDefaultDate&gt;&lt;m_precDefaultYear&gt;&lt;m_yearfmt&gt;&lt;begin val=&quot;0&quot;/&gt;&lt;end val=&quot;4&quot;/&gt;&lt;/m_yearfmt&gt;&lt;/m_precDefaultYear&gt;&lt;m_precDefaultQuarter&gt;&lt;m_yearfmt&gt;&lt;begin val=&quot;0&quot;/&gt;&lt;end val=&quot;4&quot;/&gt;&lt;/m_yearfmt&gt;&lt;/m_precDefaultQuarter&gt;&lt;m_precDefaultMonth&gt;&lt;m_yearfmt&gt;&lt;begin val=&quot;0&quot;/&gt;&lt;end val=&quot;4&quot;/&gt;&lt;/m_yearfmt&gt;&lt;/m_precDefaultMonth&gt;&lt;m_precDefaultWeek&gt;&lt;m_yearfmt&gt;&lt;begin val=&quot;0&quot;/&gt;&lt;end val=&quot;4&quot;/&gt;&lt;/m_yearfmt&gt;&lt;/m_precDefaultWeek&gt;&lt;m_precDefaultDay&gt;&lt;m_yearfmt&gt;&lt;begin val=&quot;0&quot;/&gt;&lt;end val=&quot;4&quot;/&gt;&lt;/m_yearfmt&gt;&lt;/m_precDefaultDay&gt;&lt;m_mruColor&gt;&lt;m_vecMRU length=&quot;2&quot;&gt;&lt;elem m_fUsage=&quot;3.09509999999999996234E+00&quot;&gt;&lt;m_msothmcolidx val=&quot;0&quot;/&gt;&lt;m_rgb r=&quot;14&quot; g=&quot;14&quot; b=&quot;14&quot;/&gt;&lt;m_nBrightness endver=&quot;26206&quot; val=&quot;0&quot;/&gt;&lt;/elem&gt;&lt;elem m_fUsage=&quot;1.00000000000000000000E+00&quot;&gt;&lt;m_msothmcolidx val=&quot;0&quot;/&gt;&lt;m_rgb r=&quot;00&quot; g=&quot;70&quot; b=&quot;C0&quot;/&gt;&lt;m_nBrightness endver=&quot;26206&quot; val=&quot;0&quot;/&gt;&lt;/elem&gt;&lt;/m_vecMRU&gt;&lt;/m_mruColor&gt;&lt;m_eweekdayFirstOfWeek val=&quot;2&quot;/&gt;&lt;m_eweekdayFirstOfWorkweek val=&quot;2&quot;/&gt;&lt;m_eweekdayFirstOfWeekend val=&quot;7&quot;/&gt;&lt;/CPresentation&gt;&lt;/root&gt;"/>
  <p:tag name="THINKCELLUNDODONOTDELETE" val="0"/>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SlrbWJHQXOQo8v57okDWw"/>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vTYyHo3oIew.fmp_rmfhYg"/>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vTYyHo3oIew.fmp_rmfhYg"/>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vTYyHo3oIew.fmp_rmfhYg"/>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tSfkyGSO2tnPkIWr3xj2PBA"/>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tMrgCpLDNQ1AfIV9RENFRsQ"/>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GEultLeirhLfJT715p1pZQ"/>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tGEultLeirhLfJT715p1pZQ"/>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tGEultLeirhLfJT715p1pZQ"/>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tGEultLeirhLfJT715p1pZQ"/>
</p:tagLst>
</file>

<file path=ppt/tags/tag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1.xml><?xml version="1.0" encoding="utf-8"?>
<p:tagLst xmlns:a="http://schemas.openxmlformats.org/drawingml/2006/main" xmlns:r="http://schemas.openxmlformats.org/officeDocument/2006/relationships" xmlns:p="http://schemas.openxmlformats.org/presentationml/2006/main">
  <p:tag name="THINKCELLSHAPEDONOTDELETE" val="tGEultLeirhLfJT715p1pZQ"/>
</p:tagLst>
</file>

<file path=ppt/tags/tag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xml><?xml version="1.0" encoding="utf-8"?>
<p:tagLst xmlns:a="http://schemas.openxmlformats.org/drawingml/2006/main" xmlns:r="http://schemas.openxmlformats.org/officeDocument/2006/relationships" xmlns:p="http://schemas.openxmlformats.org/presentationml/2006/main">
  <p:tag name="THINKCELLSHAPEDONOTDELETE" val="tGEultLeirhLfJT715p1pZQ"/>
</p:tagLst>
</file>

<file path=ppt/tags/tag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5.xml><?xml version="1.0" encoding="utf-8"?>
<p:tagLst xmlns:a="http://schemas.openxmlformats.org/drawingml/2006/main" xmlns:r="http://schemas.openxmlformats.org/officeDocument/2006/relationships" xmlns:p="http://schemas.openxmlformats.org/presentationml/2006/main">
  <p:tag name="THINKCELLSHAPEDONOTDELETE" val="tGEultLeirhLfJT715p1pZQ"/>
</p:tagLst>
</file>

<file path=ppt/tags/tag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xml><?xml version="1.0" encoding="utf-8"?>
<p:tagLst xmlns:a="http://schemas.openxmlformats.org/drawingml/2006/main" xmlns:r="http://schemas.openxmlformats.org/officeDocument/2006/relationships" xmlns:p="http://schemas.openxmlformats.org/presentationml/2006/main">
  <p:tag name="THINKCELLSHAPEDONOTDELETE" val="tGEultLeirhLfJT715p1pZQ"/>
</p:tagLst>
</file>

<file path=ppt/tags/tag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9.xml><?xml version="1.0" encoding="utf-8"?>
<p:tagLst xmlns:a="http://schemas.openxmlformats.org/drawingml/2006/main" xmlns:r="http://schemas.openxmlformats.org/officeDocument/2006/relationships" xmlns:p="http://schemas.openxmlformats.org/presentationml/2006/main">
  <p:tag name="THINKCELLSHAPEDONOTDELETE" val="tGEultLeirhLfJT715p1pZQ"/>
</p:tagLst>
</file>

<file path=ppt/tags/tag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1.xml><?xml version="1.0" encoding="utf-8"?>
<p:tagLst xmlns:a="http://schemas.openxmlformats.org/drawingml/2006/main" xmlns:r="http://schemas.openxmlformats.org/officeDocument/2006/relationships" xmlns:p="http://schemas.openxmlformats.org/presentationml/2006/main">
  <p:tag name="THINKCELLSHAPEDONOTDELETE" val="tGEultLeirhLfJT715p1pZQ"/>
</p:tagLst>
</file>

<file path=ppt/tags/tag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tGEultLeirhLfJT715p1pZQ"/>
</p:tagLst>
</file>

<file path=ppt/tags/tag4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xml><?xml version="1.0" encoding="utf-8"?>
<p:tagLst xmlns:a="http://schemas.openxmlformats.org/drawingml/2006/main" xmlns:r="http://schemas.openxmlformats.org/officeDocument/2006/relationships" xmlns:p="http://schemas.openxmlformats.org/presentationml/2006/main">
  <p:tag name="THINKCELLSHAPEDONOTDELETE" val="tGEultLeirhLfJT715p1pZQ"/>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9.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5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3.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5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xml><?xml version="1.0" encoding="utf-8"?>
<p:tagLst xmlns:a="http://schemas.openxmlformats.org/drawingml/2006/main" xmlns:r="http://schemas.openxmlformats.org/officeDocument/2006/relationships" xmlns:p="http://schemas.openxmlformats.org/presentationml/2006/main">
  <p:tag name="THINKCELLSHAPEDONOTDELETE" val="tMrgCpLDNQ1AfIV9RENFRsQ"/>
</p:tagLst>
</file>

<file path=ppt/tags/tag5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7.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58.xml><?xml version="1.0" encoding="utf-8"?>
<p:tagLst xmlns:a="http://schemas.openxmlformats.org/drawingml/2006/main" xmlns:r="http://schemas.openxmlformats.org/officeDocument/2006/relationships" xmlns:p="http://schemas.openxmlformats.org/presentationml/2006/main">
  <p:tag name="HEADER" val="True"/>
</p:tagLst>
</file>

<file path=ppt/tags/tag59.xml><?xml version="1.0" encoding="utf-8"?>
<p:tagLst xmlns:a="http://schemas.openxmlformats.org/drawingml/2006/main" xmlns:r="http://schemas.openxmlformats.org/officeDocument/2006/relationships" xmlns:p="http://schemas.openxmlformats.org/presentationml/2006/main">
  <p:tag name="HEADER" val="True"/>
</p:tagLst>
</file>

<file path=ppt/tags/tag60.xml><?xml version="1.0" encoding="utf-8"?>
<p:tagLst xmlns:a="http://schemas.openxmlformats.org/drawingml/2006/main" xmlns:r="http://schemas.openxmlformats.org/officeDocument/2006/relationships" xmlns:p="http://schemas.openxmlformats.org/presentationml/2006/main">
  <p:tag name="THINKCELLSHAPEDONOTDELETE" val="tlAoFd433O7YFK5lSOrTBPw"/>
</p:tagLst>
</file>

<file path=ppt/tags/tag61.xml><?xml version="1.0" encoding="utf-8"?>
<p:tagLst xmlns:a="http://schemas.openxmlformats.org/drawingml/2006/main" xmlns:r="http://schemas.openxmlformats.org/officeDocument/2006/relationships" xmlns:p="http://schemas.openxmlformats.org/presentationml/2006/main">
  <p:tag name="THINKCELLSHAPEDONOTDELETE" val="tbAwykP9_e4q27WBsOAyZYw"/>
</p:tagLst>
</file>

<file path=ppt/tags/tag62.xml><?xml version="1.0" encoding="utf-8"?>
<p:tagLst xmlns:a="http://schemas.openxmlformats.org/drawingml/2006/main" xmlns:r="http://schemas.openxmlformats.org/officeDocument/2006/relationships" xmlns:p="http://schemas.openxmlformats.org/presentationml/2006/main">
  <p:tag name="THINKCELLSHAPEDONOTDELETE" val="tMddAyn97x3agD4fkci6nlA"/>
</p:tagLst>
</file>

<file path=ppt/tags/tag63.xml><?xml version="1.0" encoding="utf-8"?>
<p:tagLst xmlns:a="http://schemas.openxmlformats.org/drawingml/2006/main" xmlns:r="http://schemas.openxmlformats.org/officeDocument/2006/relationships" xmlns:p="http://schemas.openxmlformats.org/presentationml/2006/main">
  <p:tag name="THINKCELLSHAPEDONOTDELETE" val="tWRuy4Airur5hUaoaAOfnmA"/>
</p:tagLst>
</file>

<file path=ppt/tags/tag64.xml><?xml version="1.0" encoding="utf-8"?>
<p:tagLst xmlns:a="http://schemas.openxmlformats.org/drawingml/2006/main" xmlns:r="http://schemas.openxmlformats.org/officeDocument/2006/relationships" xmlns:p="http://schemas.openxmlformats.org/presentationml/2006/main">
  <p:tag name="THINKCELLSHAPEDONOTDELETE" val="tdq3ebYTu3wo3fYBEjPJuqA"/>
</p:tagLst>
</file>

<file path=ppt/tags/tag65.xml><?xml version="1.0" encoding="utf-8"?>
<p:tagLst xmlns:a="http://schemas.openxmlformats.org/drawingml/2006/main" xmlns:r="http://schemas.openxmlformats.org/officeDocument/2006/relationships" xmlns:p="http://schemas.openxmlformats.org/presentationml/2006/main">
  <p:tag name="THINKCELLSHAPEDONOTDELETE" val="tlxFDaiwpHdb9UwC7.wt93w"/>
</p:tagLst>
</file>

<file path=ppt/tags/tag66.xml><?xml version="1.0" encoding="utf-8"?>
<p:tagLst xmlns:a="http://schemas.openxmlformats.org/drawingml/2006/main" xmlns:r="http://schemas.openxmlformats.org/officeDocument/2006/relationships" xmlns:p="http://schemas.openxmlformats.org/presentationml/2006/main">
  <p:tag name="THINKCELLSHAPEDONOTDELETE" val="toTUnGUj5H1OAb0OAfPOhjQ"/>
</p:tagLst>
</file>

<file path=ppt/tags/tag67.xml><?xml version="1.0" encoding="utf-8"?>
<p:tagLst xmlns:a="http://schemas.openxmlformats.org/drawingml/2006/main" xmlns:r="http://schemas.openxmlformats.org/officeDocument/2006/relationships" xmlns:p="http://schemas.openxmlformats.org/presentationml/2006/main">
  <p:tag name="THINKCELLSHAPEDONOTDELETE" val="t9Zbqm52PgFqA1BVzyeb_Aw"/>
</p:tagLst>
</file>

<file path=ppt/tags/tag68.xml><?xml version="1.0" encoding="utf-8"?>
<p:tagLst xmlns:a="http://schemas.openxmlformats.org/drawingml/2006/main" xmlns:r="http://schemas.openxmlformats.org/officeDocument/2006/relationships" xmlns:p="http://schemas.openxmlformats.org/presentationml/2006/main">
  <p:tag name="THINKCELLSHAPEDONOTDELETE" val="thdS8V5Lnr6XTD40fmZRZyQ"/>
</p:tagLst>
</file>

<file path=ppt/tags/tag69.xml><?xml version="1.0" encoding="utf-8"?>
<p:tagLst xmlns:a="http://schemas.openxmlformats.org/drawingml/2006/main" xmlns:r="http://schemas.openxmlformats.org/officeDocument/2006/relationships" xmlns:p="http://schemas.openxmlformats.org/presentationml/2006/main">
  <p:tag name="THINKCELLSHAPEDONOTDELETE" val="tIk6OuiDOE1OhbVtUsmam7Q"/>
</p:tagLst>
</file>

<file path=ppt/tags/tag70.xml><?xml version="1.0" encoding="utf-8"?>
<p:tagLst xmlns:a="http://schemas.openxmlformats.org/drawingml/2006/main" xmlns:r="http://schemas.openxmlformats.org/officeDocument/2006/relationships" xmlns:p="http://schemas.openxmlformats.org/presentationml/2006/main">
  <p:tag name="THINKCELLSHAPEDONOTDELETE" val="tcc5mpW1WiXRGbHcJWrB1_Q"/>
</p:tagLst>
</file>

<file path=ppt/tags/tag71.xml><?xml version="1.0" encoding="utf-8"?>
<p:tagLst xmlns:a="http://schemas.openxmlformats.org/drawingml/2006/main" xmlns:r="http://schemas.openxmlformats.org/officeDocument/2006/relationships" xmlns:p="http://schemas.openxmlformats.org/presentationml/2006/main">
  <p:tag name="THINKCELLSHAPEDONOTDELETE" val="tNK5_avheBqx3skjD0_2tRg"/>
</p:tagLst>
</file>

<file path=ppt/tags/tag72.xml><?xml version="1.0" encoding="utf-8"?>
<p:tagLst xmlns:a="http://schemas.openxmlformats.org/drawingml/2006/main" xmlns:r="http://schemas.openxmlformats.org/officeDocument/2006/relationships" xmlns:p="http://schemas.openxmlformats.org/presentationml/2006/main">
  <p:tag name="THINKCELLSHAPEDONOTDELETE" val="tbCSa06CfXwEhMtr8oCaCjA"/>
</p:tagLst>
</file>

<file path=ppt/tags/tag73.xml><?xml version="1.0" encoding="utf-8"?>
<p:tagLst xmlns:a="http://schemas.openxmlformats.org/drawingml/2006/main" xmlns:r="http://schemas.openxmlformats.org/officeDocument/2006/relationships" xmlns:p="http://schemas.openxmlformats.org/presentationml/2006/main">
  <p:tag name="THINKCELLSHAPEDONOTDELETE" val="trOCcenqurh5.bEIf12AajQ"/>
</p:tagLst>
</file>

<file path=ppt/tags/tag74.xml><?xml version="1.0" encoding="utf-8"?>
<p:tagLst xmlns:a="http://schemas.openxmlformats.org/drawingml/2006/main" xmlns:r="http://schemas.openxmlformats.org/officeDocument/2006/relationships" xmlns:p="http://schemas.openxmlformats.org/presentationml/2006/main">
  <p:tag name="THINKCELLSHAPEDONOTDELETE" val="tc3SV2IzjYwRcR5bZtGwWmQ"/>
</p:tagLst>
</file>

<file path=ppt/tags/tag75.xml><?xml version="1.0" encoding="utf-8"?>
<p:tagLst xmlns:a="http://schemas.openxmlformats.org/drawingml/2006/main" xmlns:r="http://schemas.openxmlformats.org/officeDocument/2006/relationships" xmlns:p="http://schemas.openxmlformats.org/presentationml/2006/main">
  <p:tag name="THINKCELLSHAPEDONOTDELETE" val="t8KZ_l7hYYjhdhkhhJyODng"/>
</p:tagLst>
</file>

<file path=ppt/tags/tag76.xml><?xml version="1.0" encoding="utf-8"?>
<p:tagLst xmlns:a="http://schemas.openxmlformats.org/drawingml/2006/main" xmlns:r="http://schemas.openxmlformats.org/officeDocument/2006/relationships" xmlns:p="http://schemas.openxmlformats.org/presentationml/2006/main">
  <p:tag name="THINKCELLSHAPEDONOTDELETE" val="t1Dc0s0I9VWHby3JouMHchQ"/>
</p:tagLst>
</file>

<file path=ppt/tags/tag77.xml><?xml version="1.0" encoding="utf-8"?>
<p:tagLst xmlns:a="http://schemas.openxmlformats.org/drawingml/2006/main" xmlns:r="http://schemas.openxmlformats.org/officeDocument/2006/relationships" xmlns:p="http://schemas.openxmlformats.org/presentationml/2006/main">
  <p:tag name="THINKCELLSHAPEDONOTDELETE" val="tx4yqx5JtBvLo8GpL_R3RTA"/>
</p:tagLst>
</file>

<file path=ppt/tags/tag78.xml><?xml version="1.0" encoding="utf-8"?>
<p:tagLst xmlns:a="http://schemas.openxmlformats.org/drawingml/2006/main" xmlns:r="http://schemas.openxmlformats.org/officeDocument/2006/relationships" xmlns:p="http://schemas.openxmlformats.org/presentationml/2006/main">
  <p:tag name="THINKCELLSHAPEDONOTDELETE" val="tQyg_NS_FzI25Lho4ma8iqA"/>
</p:tagLst>
</file>

<file path=ppt/tags/tag79.xml><?xml version="1.0" encoding="utf-8"?>
<p:tagLst xmlns:a="http://schemas.openxmlformats.org/drawingml/2006/main" xmlns:r="http://schemas.openxmlformats.org/officeDocument/2006/relationships" xmlns:p="http://schemas.openxmlformats.org/presentationml/2006/main">
  <p:tag name="THINKCELLSHAPEDONOTDELETE" val="txWokGL7onHrj2acuhNpLBg"/>
</p:tagLst>
</file>

<file path=ppt/tags/tag80.xml><?xml version="1.0" encoding="utf-8"?>
<p:tagLst xmlns:a="http://schemas.openxmlformats.org/drawingml/2006/main" xmlns:r="http://schemas.openxmlformats.org/officeDocument/2006/relationships" xmlns:p="http://schemas.openxmlformats.org/presentationml/2006/main">
  <p:tag name="THINKCELLSHAPEDONOTDELETE" val="tCKAYaU6aScSMxAQaC0Nf7g"/>
</p:tagLst>
</file>

<file path=ppt/tags/tag81.xml><?xml version="1.0" encoding="utf-8"?>
<p:tagLst xmlns:a="http://schemas.openxmlformats.org/drawingml/2006/main" xmlns:r="http://schemas.openxmlformats.org/officeDocument/2006/relationships" xmlns:p="http://schemas.openxmlformats.org/presentationml/2006/main">
  <p:tag name="THINKCELLSHAPEDONOTDELETE" val="tOg1PndYxD_nCXe88KIRwgw"/>
</p:tagLst>
</file>

<file path=ppt/tags/tag82.xml><?xml version="1.0" encoding="utf-8"?>
<p:tagLst xmlns:a="http://schemas.openxmlformats.org/drawingml/2006/main" xmlns:r="http://schemas.openxmlformats.org/officeDocument/2006/relationships" xmlns:p="http://schemas.openxmlformats.org/presentationml/2006/main">
  <p:tag name="THINKCELLSHAPEDONOTDELETE" val="tILfjfRksvXdWdvflmutaXA"/>
</p:tagLst>
</file>

<file path=ppt/tags/tag83.xml><?xml version="1.0" encoding="utf-8"?>
<p:tagLst xmlns:a="http://schemas.openxmlformats.org/drawingml/2006/main" xmlns:r="http://schemas.openxmlformats.org/officeDocument/2006/relationships" xmlns:p="http://schemas.openxmlformats.org/presentationml/2006/main">
  <p:tag name="THINKCELLSHAPEDONOTDELETE" val="tP23zb0k9vzu8mNoO1dnH_g"/>
</p:tagLst>
</file>

<file path=ppt/tags/tag84.xml><?xml version="1.0" encoding="utf-8"?>
<p:tagLst xmlns:a="http://schemas.openxmlformats.org/drawingml/2006/main" xmlns:r="http://schemas.openxmlformats.org/officeDocument/2006/relationships" xmlns:p="http://schemas.openxmlformats.org/presentationml/2006/main">
  <p:tag name="THINKCELLSHAPEDONOTDELETE" val="tnYGIk0PS19f4kgvfGanE4Q"/>
</p:tagLst>
</file>

<file path=ppt/tags/tag85.xml><?xml version="1.0" encoding="utf-8"?>
<p:tagLst xmlns:a="http://schemas.openxmlformats.org/drawingml/2006/main" xmlns:r="http://schemas.openxmlformats.org/officeDocument/2006/relationships" xmlns:p="http://schemas.openxmlformats.org/presentationml/2006/main">
  <p:tag name="THINKCELLSHAPEDONOTDELETE" val="tY7b._DgRLVf9Tppd7bGcGQ"/>
</p:tagLst>
</file>

<file path=ppt/tags/tag86.xml><?xml version="1.0" encoding="utf-8"?>
<p:tagLst xmlns:a="http://schemas.openxmlformats.org/drawingml/2006/main" xmlns:r="http://schemas.openxmlformats.org/officeDocument/2006/relationships" xmlns:p="http://schemas.openxmlformats.org/presentationml/2006/main">
  <p:tag name="THINKCELLSHAPEDONOTDELETE" val="t5UNN78PoEzrcan2Z.x6qGA"/>
</p:tagLst>
</file>

<file path=ppt/tags/tag87.xml><?xml version="1.0" encoding="utf-8"?>
<p:tagLst xmlns:a="http://schemas.openxmlformats.org/drawingml/2006/main" xmlns:r="http://schemas.openxmlformats.org/officeDocument/2006/relationships" xmlns:p="http://schemas.openxmlformats.org/presentationml/2006/main">
  <p:tag name="THINKCELLSHAPEDONOTDELETE" val="tVbs89hqqH.94q6cWX7OV1Q"/>
</p:tagLst>
</file>

<file path=ppt/tags/tag88.xml><?xml version="1.0" encoding="utf-8"?>
<p:tagLst xmlns:a="http://schemas.openxmlformats.org/drawingml/2006/main" xmlns:r="http://schemas.openxmlformats.org/officeDocument/2006/relationships" xmlns:p="http://schemas.openxmlformats.org/presentationml/2006/main">
  <p:tag name="THINKCELLSHAPEDONOTDELETE" val="tSf8RHnmHkHzIrox323D.FA"/>
</p:tagLst>
</file>

<file path=ppt/tags/tag89.xml><?xml version="1.0" encoding="utf-8"?>
<p:tagLst xmlns:a="http://schemas.openxmlformats.org/drawingml/2006/main" xmlns:r="http://schemas.openxmlformats.org/officeDocument/2006/relationships" xmlns:p="http://schemas.openxmlformats.org/presentationml/2006/main">
  <p:tag name="THINKCELLSHAPEDONOTDELETE" val="tyPmYlCwYkurTiokeGD1qLw"/>
</p:tagLst>
</file>

<file path=ppt/tags/tag90.xml><?xml version="1.0" encoding="utf-8"?>
<p:tagLst xmlns:a="http://schemas.openxmlformats.org/drawingml/2006/main" xmlns:r="http://schemas.openxmlformats.org/officeDocument/2006/relationships" xmlns:p="http://schemas.openxmlformats.org/presentationml/2006/main">
  <p:tag name="THINKCELLSHAPEDONOTDELETE" val="tYtyocXUE1XUekuh3J.nCrg"/>
</p:tagLst>
</file>

<file path=ppt/tags/tag91.xml><?xml version="1.0" encoding="utf-8"?>
<p:tagLst xmlns:a="http://schemas.openxmlformats.org/drawingml/2006/main" xmlns:r="http://schemas.openxmlformats.org/officeDocument/2006/relationships" xmlns:p="http://schemas.openxmlformats.org/presentationml/2006/main">
  <p:tag name="THINKCELLSHAPEDONOTDELETE" val="tLnjlLPKLV6U..VMxv.1PGQ"/>
</p:tagLst>
</file>

<file path=ppt/tags/tag92.xml><?xml version="1.0" encoding="utf-8"?>
<p:tagLst xmlns:a="http://schemas.openxmlformats.org/drawingml/2006/main" xmlns:r="http://schemas.openxmlformats.org/officeDocument/2006/relationships" xmlns:p="http://schemas.openxmlformats.org/presentationml/2006/main">
  <p:tag name="THINKCELLSHAPEDONOTDELETE" val="txKGVwjieAzJ2gIqlGtDqMw"/>
</p:tagLst>
</file>

<file path=ppt/tags/tag93.xml><?xml version="1.0" encoding="utf-8"?>
<p:tagLst xmlns:a="http://schemas.openxmlformats.org/drawingml/2006/main" xmlns:r="http://schemas.openxmlformats.org/officeDocument/2006/relationships" xmlns:p="http://schemas.openxmlformats.org/presentationml/2006/main">
  <p:tag name="THINKCELLSHAPEDONOTDELETE" val="tusEglMuZdFEGC4i1pL63.A"/>
</p:tagLst>
</file>

<file path=ppt/tags/tag94.xml><?xml version="1.0" encoding="utf-8"?>
<p:tagLst xmlns:a="http://schemas.openxmlformats.org/drawingml/2006/main" xmlns:r="http://schemas.openxmlformats.org/officeDocument/2006/relationships" xmlns:p="http://schemas.openxmlformats.org/presentationml/2006/main">
  <p:tag name="THINKCELLSHAPEDONOTDELETE" val="tB66_lnwjxMsfH7np.NJ5Ig"/>
</p:tagLst>
</file>

<file path=ppt/tags/tag95.xml><?xml version="1.0" encoding="utf-8"?>
<p:tagLst xmlns:a="http://schemas.openxmlformats.org/drawingml/2006/main" xmlns:r="http://schemas.openxmlformats.org/officeDocument/2006/relationships" xmlns:p="http://schemas.openxmlformats.org/presentationml/2006/main">
  <p:tag name="THINKCELLSHAPEDONOTDELETE" val="toZIA5ue5NUvhJ73zWL8xXg"/>
</p:tagLst>
</file>

<file path=ppt/tags/tag96.xml><?xml version="1.0" encoding="utf-8"?>
<p:tagLst xmlns:a="http://schemas.openxmlformats.org/drawingml/2006/main" xmlns:r="http://schemas.openxmlformats.org/officeDocument/2006/relationships" xmlns:p="http://schemas.openxmlformats.org/presentationml/2006/main">
  <p:tag name="THINKCELLSHAPEDONOTDELETE" val="tyaacACIRRWjgknkpbmeuEA"/>
</p:tagLst>
</file>

<file path=ppt/tags/tag97.xml><?xml version="1.0" encoding="utf-8"?>
<p:tagLst xmlns:a="http://schemas.openxmlformats.org/drawingml/2006/main" xmlns:r="http://schemas.openxmlformats.org/officeDocument/2006/relationships" xmlns:p="http://schemas.openxmlformats.org/presentationml/2006/main">
  <p:tag name="THINKCELLSHAPEDONOTDELETE" val="tyQA4DalzrPc6GouTOH3Fgw"/>
</p:tagLst>
</file>

<file path=ppt/tags/tag98.xml><?xml version="1.0" encoding="utf-8"?>
<p:tagLst xmlns:a="http://schemas.openxmlformats.org/drawingml/2006/main" xmlns:r="http://schemas.openxmlformats.org/officeDocument/2006/relationships" xmlns:p="http://schemas.openxmlformats.org/presentationml/2006/main">
  <p:tag name="THINKCELLSHAPEDONOTDELETE" val="trhO83tV9i4JOTbfnMVTZTA"/>
</p:tagLst>
</file>

<file path=ppt/tags/tag99.xml><?xml version="1.0" encoding="utf-8"?>
<p:tagLst xmlns:a="http://schemas.openxmlformats.org/drawingml/2006/main" xmlns:r="http://schemas.openxmlformats.org/officeDocument/2006/relationships" xmlns:p="http://schemas.openxmlformats.org/presentationml/2006/main">
  <p:tag name="THINKCELLSHAPEDONOTDELETE" val="tBE0fkvLssK_.vvhJaeqIOg"/>
</p:tagLst>
</file>

<file path=ppt/tags/tag100.xml><?xml version="1.0" encoding="utf-8"?>
<p:tagLst xmlns:a="http://schemas.openxmlformats.org/drawingml/2006/main" xmlns:r="http://schemas.openxmlformats.org/officeDocument/2006/relationships" xmlns:p="http://schemas.openxmlformats.org/presentationml/2006/main">
  <p:tag name="THINKCELLSHAPEDONOTDELETE" val="tZjmZQjb6s1FtxVAjMLAoEQ"/>
</p:tagLst>
</file>

<file path=ppt/tags/tag101.xml><?xml version="1.0" encoding="utf-8"?>
<p:tagLst xmlns:a="http://schemas.openxmlformats.org/drawingml/2006/main" xmlns:r="http://schemas.openxmlformats.org/officeDocument/2006/relationships" xmlns:p="http://schemas.openxmlformats.org/presentationml/2006/main">
  <p:tag name="THINKCELLSHAPEDONOTDELETE" val="tOAhVxyIWidCpmlbYKlnRTQ"/>
</p:tagLst>
</file>

<file path=ppt/tags/tag102.xml><?xml version="1.0" encoding="utf-8"?>
<p:tagLst xmlns:a="http://schemas.openxmlformats.org/drawingml/2006/main" xmlns:r="http://schemas.openxmlformats.org/officeDocument/2006/relationships" xmlns:p="http://schemas.openxmlformats.org/presentationml/2006/main">
  <p:tag name="THINKCELLSHAPEDONOTDELETE" val="tCDAyRM6mAjBAMuLWajwvgw"/>
</p:tagLst>
</file>

<file path=ppt/tags/tag103.xml><?xml version="1.0" encoding="utf-8"?>
<p:tagLst xmlns:a="http://schemas.openxmlformats.org/drawingml/2006/main" xmlns:r="http://schemas.openxmlformats.org/officeDocument/2006/relationships" xmlns:p="http://schemas.openxmlformats.org/presentationml/2006/main">
  <p:tag name="THINKCELLSHAPEDONOTDELETE" val="tqur6h2wyC15rkbZFDxSp5g"/>
</p:tagLst>
</file>

<file path=ppt/tags/tag104.xml><?xml version="1.0" encoding="utf-8"?>
<p:tagLst xmlns:a="http://schemas.openxmlformats.org/drawingml/2006/main" xmlns:r="http://schemas.openxmlformats.org/officeDocument/2006/relationships" xmlns:p="http://schemas.openxmlformats.org/presentationml/2006/main">
  <p:tag name="THINKCELLSHAPEDONOTDELETE" val="t5JCqluEDlruqpn_nzXZ3cg"/>
</p:tagLst>
</file>

<file path=ppt/tags/tag105.xml><?xml version="1.0" encoding="utf-8"?>
<p:tagLst xmlns:a="http://schemas.openxmlformats.org/drawingml/2006/main" xmlns:r="http://schemas.openxmlformats.org/officeDocument/2006/relationships" xmlns:p="http://schemas.openxmlformats.org/presentationml/2006/main">
  <p:tag name="THINKCELLSHAPEDONOTDELETE" val="tHPx8YaooTnjd89xgLdF0Ow"/>
</p:tagLst>
</file>

<file path=ppt/tags/tag106.xml><?xml version="1.0" encoding="utf-8"?>
<p:tagLst xmlns:a="http://schemas.openxmlformats.org/drawingml/2006/main" xmlns:r="http://schemas.openxmlformats.org/officeDocument/2006/relationships" xmlns:p="http://schemas.openxmlformats.org/presentationml/2006/main">
  <p:tag name="THINKCELLSHAPEDONOTDELETE" val="t4aIJpUhbhiMc_q1DAw9gvg"/>
</p:tagLst>
</file>

<file path=ppt/tags/tag10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8.xml><?xml version="1.0" encoding="utf-8"?>
<p:tagLst xmlns:a="http://schemas.openxmlformats.org/drawingml/2006/main" xmlns:r="http://schemas.openxmlformats.org/officeDocument/2006/relationships" xmlns:p="http://schemas.openxmlformats.org/presentationml/2006/main">
  <p:tag name="THINKCELLSHAPEDONOTDELETE" val="tmJIhhHsgyj63i_32aZ3xJQ"/>
</p:tagLst>
</file>

<file path=ppt/tags/tag109.xml><?xml version="1.0" encoding="utf-8"?>
<p:tagLst xmlns:a="http://schemas.openxmlformats.org/drawingml/2006/main" xmlns:r="http://schemas.openxmlformats.org/officeDocument/2006/relationships" xmlns:p="http://schemas.openxmlformats.org/presentationml/2006/main">
  <p:tag name="HEADER" val="True"/>
</p:tagLst>
</file>

<file path=ppt/tags/tag110.xml><?xml version="1.0" encoding="utf-8"?>
<p:tagLst xmlns:a="http://schemas.openxmlformats.org/drawingml/2006/main" xmlns:r="http://schemas.openxmlformats.org/officeDocument/2006/relationships" xmlns:p="http://schemas.openxmlformats.org/presentationml/2006/main">
  <p:tag name="HEADER" val="True"/>
</p:tagLst>
</file>

<file path=ppt/tags/tag111.xml><?xml version="1.0" encoding="utf-8"?>
<p:tagLst xmlns:a="http://schemas.openxmlformats.org/drawingml/2006/main" xmlns:r="http://schemas.openxmlformats.org/officeDocument/2006/relationships" xmlns:p="http://schemas.openxmlformats.org/presentationml/2006/main">
  <p:tag name="THINKCELLSHAPEDONOTDELETE" val="thVtovCbZnGBiHUTLrsh5Uw"/>
</p:tagLst>
</file>

<file path=ppt/tags/tag112.xml><?xml version="1.0" encoding="utf-8"?>
<p:tagLst xmlns:a="http://schemas.openxmlformats.org/drawingml/2006/main" xmlns:r="http://schemas.openxmlformats.org/officeDocument/2006/relationships" xmlns:p="http://schemas.openxmlformats.org/presentationml/2006/main">
  <p:tag name="THINKCELLSHAPEDONOTDELETE" val="tZdh6EePfobAmQMDqV6g8Dw"/>
</p:tagLst>
</file>

<file path=ppt/tags/tag113.xml><?xml version="1.0" encoding="utf-8"?>
<p:tagLst xmlns:a="http://schemas.openxmlformats.org/drawingml/2006/main" xmlns:r="http://schemas.openxmlformats.org/officeDocument/2006/relationships" xmlns:p="http://schemas.openxmlformats.org/presentationml/2006/main">
  <p:tag name="THINKCELLSHAPEDONOTDELETE" val="tAFeciIOI6K4I.w1Vs2HRoA"/>
</p:tagLst>
</file>

<file path=ppt/tags/tag114.xml><?xml version="1.0" encoding="utf-8"?>
<p:tagLst xmlns:a="http://schemas.openxmlformats.org/drawingml/2006/main" xmlns:r="http://schemas.openxmlformats.org/officeDocument/2006/relationships" xmlns:p="http://schemas.openxmlformats.org/presentationml/2006/main">
  <p:tag name="THINKCELLSHAPEDONOTDELETE" val="tYjBBt4erfjbNUbxUPo9Mvg"/>
</p:tagLst>
</file>

<file path=ppt/tags/tag115.xml><?xml version="1.0" encoding="utf-8"?>
<p:tagLst xmlns:a="http://schemas.openxmlformats.org/drawingml/2006/main" xmlns:r="http://schemas.openxmlformats.org/officeDocument/2006/relationships" xmlns:p="http://schemas.openxmlformats.org/presentationml/2006/main">
  <p:tag name="THINKCELLSHAPEDONOTDELETE" val="tLbUNJMj_ZiSye99_3L1Gvw"/>
</p:tagLst>
</file>

<file path=ppt/tags/tag116.xml><?xml version="1.0" encoding="utf-8"?>
<p:tagLst xmlns:a="http://schemas.openxmlformats.org/drawingml/2006/main" xmlns:r="http://schemas.openxmlformats.org/officeDocument/2006/relationships" xmlns:p="http://schemas.openxmlformats.org/presentationml/2006/main">
  <p:tag name="THINKCELLSHAPEDONOTDELETE" val="tKbq12dPL28DkwVhQS65Rhg"/>
</p:tagLst>
</file>

<file path=ppt/tags/tag117.xml><?xml version="1.0" encoding="utf-8"?>
<p:tagLst xmlns:a="http://schemas.openxmlformats.org/drawingml/2006/main" xmlns:r="http://schemas.openxmlformats.org/officeDocument/2006/relationships" xmlns:p="http://schemas.openxmlformats.org/presentationml/2006/main">
  <p:tag name="THINKCELLSHAPEDONOTDELETE" val="tLkFQ.ekw11n6_qpKj_K5yw"/>
</p:tagLst>
</file>

<file path=ppt/tags/tag118.xml><?xml version="1.0" encoding="utf-8"?>
<p:tagLst xmlns:a="http://schemas.openxmlformats.org/drawingml/2006/main" xmlns:r="http://schemas.openxmlformats.org/officeDocument/2006/relationships" xmlns:p="http://schemas.openxmlformats.org/presentationml/2006/main">
  <p:tag name="THINKCELLSHAPEDONOTDELETE" val="tw4Mgqhk6LmgCzVJxgHrFfg"/>
</p:tagLst>
</file>

<file path=ppt/tags/tag119.xml><?xml version="1.0" encoding="utf-8"?>
<p:tagLst xmlns:a="http://schemas.openxmlformats.org/drawingml/2006/main" xmlns:r="http://schemas.openxmlformats.org/officeDocument/2006/relationships" xmlns:p="http://schemas.openxmlformats.org/presentationml/2006/main">
  <p:tag name="THINKCELLSHAPEDONOTDELETE" val="tWXvr.fJoWGASnncwB1ihew"/>
</p:tagLst>
</file>

<file path=ppt/tags/tag120.xml><?xml version="1.0" encoding="utf-8"?>
<p:tagLst xmlns:a="http://schemas.openxmlformats.org/drawingml/2006/main" xmlns:r="http://schemas.openxmlformats.org/officeDocument/2006/relationships" xmlns:p="http://schemas.openxmlformats.org/presentationml/2006/main">
  <p:tag name="THINKCELLSHAPEDONOTDELETE" val="tZBVEG7jt3mgyNY8SO1eSdA"/>
</p:tagLst>
</file>

<file path=ppt/tags/tag121.xml><?xml version="1.0" encoding="utf-8"?>
<p:tagLst xmlns:a="http://schemas.openxmlformats.org/drawingml/2006/main" xmlns:r="http://schemas.openxmlformats.org/officeDocument/2006/relationships" xmlns:p="http://schemas.openxmlformats.org/presentationml/2006/main">
  <p:tag name="THINKCELLSHAPEDONOTDELETE" val="tN4EZp6sVAtyfQuqyuTrBBw"/>
</p:tagLst>
</file>

<file path=ppt/tags/tag122.xml><?xml version="1.0" encoding="utf-8"?>
<p:tagLst xmlns:a="http://schemas.openxmlformats.org/drawingml/2006/main" xmlns:r="http://schemas.openxmlformats.org/officeDocument/2006/relationships" xmlns:p="http://schemas.openxmlformats.org/presentationml/2006/main">
  <p:tag name="THINKCELLSHAPEDONOTDELETE" val="t2Tthw6Zm1rloICC1KEnWnA"/>
</p:tagLst>
</file>

<file path=ppt/tags/tag123.xml><?xml version="1.0" encoding="utf-8"?>
<p:tagLst xmlns:a="http://schemas.openxmlformats.org/drawingml/2006/main" xmlns:r="http://schemas.openxmlformats.org/officeDocument/2006/relationships" xmlns:p="http://schemas.openxmlformats.org/presentationml/2006/main">
  <p:tag name="THINKCELLSHAPEDONOTDELETE" val="tJ5VVVQsJwPJ6dozLqB1OYA"/>
</p:tagLst>
</file>

<file path=ppt/tags/tag124.xml><?xml version="1.0" encoding="utf-8"?>
<p:tagLst xmlns:a="http://schemas.openxmlformats.org/drawingml/2006/main" xmlns:r="http://schemas.openxmlformats.org/officeDocument/2006/relationships" xmlns:p="http://schemas.openxmlformats.org/presentationml/2006/main">
  <p:tag name="THINKCELLSHAPEDONOTDELETE" val="tTziOtiaPVFKN7kGg.3ovIg"/>
</p:tagLst>
</file>

<file path=ppt/tags/tag125.xml><?xml version="1.0" encoding="utf-8"?>
<p:tagLst xmlns:a="http://schemas.openxmlformats.org/drawingml/2006/main" xmlns:r="http://schemas.openxmlformats.org/officeDocument/2006/relationships" xmlns:p="http://schemas.openxmlformats.org/presentationml/2006/main">
  <p:tag name="THINKCELLSHAPEDONOTDELETE" val="toW_bG1EqCgnrRktAgw7GOg"/>
</p:tagLst>
</file>

<file path=ppt/tags/tag126.xml><?xml version="1.0" encoding="utf-8"?>
<p:tagLst xmlns:a="http://schemas.openxmlformats.org/drawingml/2006/main" xmlns:r="http://schemas.openxmlformats.org/officeDocument/2006/relationships" xmlns:p="http://schemas.openxmlformats.org/presentationml/2006/main">
  <p:tag name="THINKCELLSHAPEDONOTDELETE" val="t3_bnKh39mJQK1hxXVavPBA"/>
</p:tagLst>
</file>

<file path=ppt/tags/tag127.xml><?xml version="1.0" encoding="utf-8"?>
<p:tagLst xmlns:a="http://schemas.openxmlformats.org/drawingml/2006/main" xmlns:r="http://schemas.openxmlformats.org/officeDocument/2006/relationships" xmlns:p="http://schemas.openxmlformats.org/presentationml/2006/main">
  <p:tag name="THINKCELLSHAPEDONOTDELETE" val="t3_bnKh39mJQK1hxXVavPBA"/>
</p:tagLst>
</file>

<file path=ppt/tags/tag128.xml><?xml version="1.0" encoding="utf-8"?>
<p:tagLst xmlns:a="http://schemas.openxmlformats.org/drawingml/2006/main" xmlns:r="http://schemas.openxmlformats.org/officeDocument/2006/relationships" xmlns:p="http://schemas.openxmlformats.org/presentationml/2006/main">
  <p:tag name="THINKCELLSHAPEDONOTDELETE" val="t3_bnKh39mJQK1hxXVavPBA"/>
</p:tagLst>
</file>

<file path=ppt/tags/tag129.xml><?xml version="1.0" encoding="utf-8"?>
<p:tagLst xmlns:a="http://schemas.openxmlformats.org/drawingml/2006/main" xmlns:r="http://schemas.openxmlformats.org/officeDocument/2006/relationships" xmlns:p="http://schemas.openxmlformats.org/presentationml/2006/main">
  <p:tag name="THINKCELLSHAPEDONOTDELETE" val="t3_bnKh39mJQK1hxXVavPBA"/>
</p:tagLst>
</file>

<file path=ppt/tags/tag130.xml><?xml version="1.0" encoding="utf-8"?>
<p:tagLst xmlns:a="http://schemas.openxmlformats.org/drawingml/2006/main" xmlns:r="http://schemas.openxmlformats.org/officeDocument/2006/relationships" xmlns:p="http://schemas.openxmlformats.org/presentationml/2006/main">
  <p:tag name="THINKCELLSHAPEDONOTDELETE" val="t3_bnKh39mJQK1hxXVavPBA"/>
</p:tagLst>
</file>

<file path=ppt/tags/tag131.xml><?xml version="1.0" encoding="utf-8"?>
<p:tagLst xmlns:a="http://schemas.openxmlformats.org/drawingml/2006/main" xmlns:r="http://schemas.openxmlformats.org/officeDocument/2006/relationships" xmlns:p="http://schemas.openxmlformats.org/presentationml/2006/main">
  <p:tag name="THINKCELLSHAPEDONOTDELETE" val="t3_bnKh39mJQK1hxXVavPBA"/>
</p:tagLst>
</file>

<file path=ppt/tags/tag132.xml><?xml version="1.0" encoding="utf-8"?>
<p:tagLst xmlns:a="http://schemas.openxmlformats.org/drawingml/2006/main" xmlns:r="http://schemas.openxmlformats.org/officeDocument/2006/relationships" xmlns:p="http://schemas.openxmlformats.org/presentationml/2006/main">
  <p:tag name="THINKCELLSHAPEDONOTDELETE" val="t3_bnKh39mJQK1hxXVavPBA"/>
</p:tagLst>
</file>

<file path=ppt/tags/tag133.xml><?xml version="1.0" encoding="utf-8"?>
<p:tagLst xmlns:a="http://schemas.openxmlformats.org/drawingml/2006/main" xmlns:r="http://schemas.openxmlformats.org/officeDocument/2006/relationships" xmlns:p="http://schemas.openxmlformats.org/presentationml/2006/main">
  <p:tag name="THINKCELLSHAPEDONOTDELETE" val="t3_bnKh39mJQK1hxXVavPBA"/>
</p:tagLst>
</file>

<file path=ppt/tags/tag134.xml><?xml version="1.0" encoding="utf-8"?>
<p:tagLst xmlns:a="http://schemas.openxmlformats.org/drawingml/2006/main" xmlns:r="http://schemas.openxmlformats.org/officeDocument/2006/relationships" xmlns:p="http://schemas.openxmlformats.org/presentationml/2006/main">
  <p:tag name="THINKCELLSHAPEDONOTDELETE" val="t3_bnKh39mJQK1hxXVavPBA"/>
</p:tagLst>
</file>

<file path=ppt/tags/tag135.xml><?xml version="1.0" encoding="utf-8"?>
<p:tagLst xmlns:a="http://schemas.openxmlformats.org/drawingml/2006/main" xmlns:r="http://schemas.openxmlformats.org/officeDocument/2006/relationships" xmlns:p="http://schemas.openxmlformats.org/presentationml/2006/main">
  <p:tag name="THINKCELLSHAPEDONOTDELETE" val="t3_bnKh39mJQK1hxXVavPBA"/>
</p:tagLst>
</file>

<file path=ppt/tags/tag136.xml><?xml version="1.0" encoding="utf-8"?>
<p:tagLst xmlns:a="http://schemas.openxmlformats.org/drawingml/2006/main" xmlns:r="http://schemas.openxmlformats.org/officeDocument/2006/relationships" xmlns:p="http://schemas.openxmlformats.org/presentationml/2006/main">
  <p:tag name="THINKCELLSHAPEDONOTDELETE" val="tSzXYL0QSeGeo0lGqMVe9hQ"/>
</p:tagLst>
</file>

<file path=ppt/tags/tag137.xml><?xml version="1.0" encoding="utf-8"?>
<p:tagLst xmlns:a="http://schemas.openxmlformats.org/drawingml/2006/main" xmlns:r="http://schemas.openxmlformats.org/officeDocument/2006/relationships" xmlns:p="http://schemas.openxmlformats.org/presentationml/2006/main">
  <p:tag name="THINKCELLSHAPEDONOTDELETE" val="tTC64aLHYeb8v7AVNF_jVHA"/>
</p:tagLst>
</file>

<file path=ppt/tags/tag138.xml><?xml version="1.0" encoding="utf-8"?>
<p:tagLst xmlns:a="http://schemas.openxmlformats.org/drawingml/2006/main" xmlns:r="http://schemas.openxmlformats.org/officeDocument/2006/relationships" xmlns:p="http://schemas.openxmlformats.org/presentationml/2006/main">
  <p:tag name="THINKCELLSHAPEDONOTDELETE" val="tX.byNubW80MYnQpV8daRqw"/>
</p:tagLst>
</file>

<file path=ppt/tags/tag139.xml><?xml version="1.0" encoding="utf-8"?>
<p:tagLst xmlns:a="http://schemas.openxmlformats.org/drawingml/2006/main" xmlns:r="http://schemas.openxmlformats.org/officeDocument/2006/relationships" xmlns:p="http://schemas.openxmlformats.org/presentationml/2006/main">
  <p:tag name="THINKCELLSHAPEDONOTDELETE" val="tUj25WaxSSDKb5ARzVPchhw"/>
</p:tagLst>
</file>

<file path=ppt/tags/tag140.xml><?xml version="1.0" encoding="utf-8"?>
<p:tagLst xmlns:a="http://schemas.openxmlformats.org/drawingml/2006/main" xmlns:r="http://schemas.openxmlformats.org/officeDocument/2006/relationships" xmlns:p="http://schemas.openxmlformats.org/presentationml/2006/main">
  <p:tag name="THINKCELLSHAPEDONOTDELETE" val="tvvTGwNUutff4vWp5XqZTnQ"/>
</p:tagLst>
</file>

<file path=ppt/tags/tag141.xml><?xml version="1.0" encoding="utf-8"?>
<p:tagLst xmlns:a="http://schemas.openxmlformats.org/drawingml/2006/main" xmlns:r="http://schemas.openxmlformats.org/officeDocument/2006/relationships" xmlns:p="http://schemas.openxmlformats.org/presentationml/2006/main">
  <p:tag name="THINKCELLSHAPEDONOTDELETE" val="tml_7lraeHTm2dFwwbWltNg"/>
</p:tagLst>
</file>

<file path=ppt/tags/tag142.xml><?xml version="1.0" encoding="utf-8"?>
<p:tagLst xmlns:a="http://schemas.openxmlformats.org/drawingml/2006/main" xmlns:r="http://schemas.openxmlformats.org/officeDocument/2006/relationships" xmlns:p="http://schemas.openxmlformats.org/presentationml/2006/main">
  <p:tag name="THINKCELLSHAPEDONOTDELETE" val="tHVeV5L9C7vhUNjHpjcOWGw"/>
</p:tagLst>
</file>

<file path=ppt/tags/tag143.xml><?xml version="1.0" encoding="utf-8"?>
<p:tagLst xmlns:a="http://schemas.openxmlformats.org/drawingml/2006/main" xmlns:r="http://schemas.openxmlformats.org/officeDocument/2006/relationships" xmlns:p="http://schemas.openxmlformats.org/presentationml/2006/main">
  <p:tag name="THINKCELLSHAPEDONOTDELETE" val="tSpISl7TID6yrvb5gv._kzQ"/>
</p:tagLst>
</file>

<file path=ppt/tags/tag144.xml><?xml version="1.0" encoding="utf-8"?>
<p:tagLst xmlns:a="http://schemas.openxmlformats.org/drawingml/2006/main" xmlns:r="http://schemas.openxmlformats.org/officeDocument/2006/relationships" xmlns:p="http://schemas.openxmlformats.org/presentationml/2006/main">
  <p:tag name="THINKCELLSHAPEDONOTDELETE" val="t.FUeHyJxUISxV_ydCGi3oA"/>
</p:tagLst>
</file>

<file path=ppt/tags/tag145.xml><?xml version="1.0" encoding="utf-8"?>
<p:tagLst xmlns:a="http://schemas.openxmlformats.org/drawingml/2006/main" xmlns:r="http://schemas.openxmlformats.org/officeDocument/2006/relationships" xmlns:p="http://schemas.openxmlformats.org/presentationml/2006/main">
  <p:tag name="THINKCELLSHAPEDONOTDELETE" val="tdYqy76aIdHeRRdG8922b2w"/>
</p:tagLst>
</file>

<file path=ppt/tags/tag1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7.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9.xml><?xml version="1.0" encoding="utf-8"?>
<p:tagLst xmlns:a="http://schemas.openxmlformats.org/drawingml/2006/main" xmlns:r="http://schemas.openxmlformats.org/officeDocument/2006/relationships" xmlns:p="http://schemas.openxmlformats.org/presentationml/2006/main">
  <p:tag name="THINKCELLSHAPEDONOTDELETE" val="tMrgCpLDNQ1AfIV9RENFRsQ"/>
</p:tagLst>
</file>

<file path=ppt/tags/tag1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1.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5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3.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54.xml><?xml version="1.0" encoding="utf-8"?>
<p:tagLst xmlns:a="http://schemas.openxmlformats.org/drawingml/2006/main" xmlns:r="http://schemas.openxmlformats.org/officeDocument/2006/relationships" xmlns:p="http://schemas.openxmlformats.org/presentationml/2006/main">
  <p:tag name="HEADER" val="True"/>
</p:tagLst>
</file>

<file path=ppt/tags/tag155.xml><?xml version="1.0" encoding="utf-8"?>
<p:tagLst xmlns:a="http://schemas.openxmlformats.org/drawingml/2006/main" xmlns:r="http://schemas.openxmlformats.org/officeDocument/2006/relationships" xmlns:p="http://schemas.openxmlformats.org/presentationml/2006/main">
  <p:tag name="THINKCELLSHAPEDONOTDELETE" val="tzZ902hFXXIfRx7aKvGWNoQ"/>
</p:tagLst>
</file>

<file path=ppt/tags/tag156.xml><?xml version="1.0" encoding="utf-8"?>
<p:tagLst xmlns:a="http://schemas.openxmlformats.org/drawingml/2006/main" xmlns:r="http://schemas.openxmlformats.org/officeDocument/2006/relationships" xmlns:p="http://schemas.openxmlformats.org/presentationml/2006/main">
  <p:tag name="THINKCELLSHAPEDONOTDELETE" val="trXVGZjJgURyZKlxcOIZYPg"/>
</p:tagLst>
</file>

<file path=ppt/tags/tag157.xml><?xml version="1.0" encoding="utf-8"?>
<p:tagLst xmlns:a="http://schemas.openxmlformats.org/drawingml/2006/main" xmlns:r="http://schemas.openxmlformats.org/officeDocument/2006/relationships" xmlns:p="http://schemas.openxmlformats.org/presentationml/2006/main">
  <p:tag name="THINKCELLSHAPEDONOTDELETE" val="tp5tpTXUIJ12W2LKOTy0byw"/>
</p:tagLst>
</file>

<file path=ppt/tags/tag158.xml><?xml version="1.0" encoding="utf-8"?>
<p:tagLst xmlns:a="http://schemas.openxmlformats.org/drawingml/2006/main" xmlns:r="http://schemas.openxmlformats.org/officeDocument/2006/relationships" xmlns:p="http://schemas.openxmlformats.org/presentationml/2006/main">
  <p:tag name="THINKCELLSHAPEDONOTDELETE" val="txXGgIC.sSQrNqOw8YAnVwA"/>
</p:tagLst>
</file>

<file path=ppt/tags/tag159.xml><?xml version="1.0" encoding="utf-8"?>
<p:tagLst xmlns:a="http://schemas.openxmlformats.org/drawingml/2006/main" xmlns:r="http://schemas.openxmlformats.org/officeDocument/2006/relationships" xmlns:p="http://schemas.openxmlformats.org/presentationml/2006/main">
  <p:tag name="THINKCELLSHAPEDONOTDELETE" val="tUoNhl5ZXOmbyDNC.capvCw"/>
</p:tagLst>
</file>

<file path=ppt/tags/tag160.xml><?xml version="1.0" encoding="utf-8"?>
<p:tagLst xmlns:a="http://schemas.openxmlformats.org/drawingml/2006/main" xmlns:r="http://schemas.openxmlformats.org/officeDocument/2006/relationships" xmlns:p="http://schemas.openxmlformats.org/presentationml/2006/main">
  <p:tag name="THINKCELLSHAPEDONOTDELETE" val="twp_AMP1a9iutte3bhq.TPQ"/>
</p:tagLst>
</file>

<file path=ppt/tags/tag161.xml><?xml version="1.0" encoding="utf-8"?>
<p:tagLst xmlns:a="http://schemas.openxmlformats.org/drawingml/2006/main" xmlns:r="http://schemas.openxmlformats.org/officeDocument/2006/relationships" xmlns:p="http://schemas.openxmlformats.org/presentationml/2006/main">
  <p:tag name="THINKCELLSHAPEDONOTDELETE" val="tVaAnpE1vm0MvSvhCtc4tJg"/>
</p:tagLst>
</file>

<file path=ppt/tags/tag162.xml><?xml version="1.0" encoding="utf-8"?>
<p:tagLst xmlns:a="http://schemas.openxmlformats.org/drawingml/2006/main" xmlns:r="http://schemas.openxmlformats.org/officeDocument/2006/relationships" xmlns:p="http://schemas.openxmlformats.org/presentationml/2006/main">
  <p:tag name="THINKCELLSHAPEDONOTDELETE" val="ti.vCsh4qw5sgR5QPNHclww"/>
</p:tagLst>
</file>

<file path=ppt/tags/tag163.xml><?xml version="1.0" encoding="utf-8"?>
<p:tagLst xmlns:a="http://schemas.openxmlformats.org/drawingml/2006/main" xmlns:r="http://schemas.openxmlformats.org/officeDocument/2006/relationships" xmlns:p="http://schemas.openxmlformats.org/presentationml/2006/main">
  <p:tag name="THINKCELLSHAPEDONOTDELETE" val="tadKN05afxta7PaxJwd6eyw"/>
</p:tagLst>
</file>

<file path=ppt/tags/tag164.xml><?xml version="1.0" encoding="utf-8"?>
<p:tagLst xmlns:a="http://schemas.openxmlformats.org/drawingml/2006/main" xmlns:r="http://schemas.openxmlformats.org/officeDocument/2006/relationships" xmlns:p="http://schemas.openxmlformats.org/presentationml/2006/main">
  <p:tag name="THINKCELLSHAPEDONOTDELETE" val="tYruZnkP8p7cirSSW.aqerw"/>
</p:tagLst>
</file>

<file path=ppt/tags/tag165.xml><?xml version="1.0" encoding="utf-8"?>
<p:tagLst xmlns:a="http://schemas.openxmlformats.org/drawingml/2006/main" xmlns:r="http://schemas.openxmlformats.org/officeDocument/2006/relationships" xmlns:p="http://schemas.openxmlformats.org/presentationml/2006/main">
  <p:tag name="HEADER" val="True"/>
</p:tagLst>
</file>

<file path=ppt/tags/tag166.xml><?xml version="1.0" encoding="utf-8"?>
<p:tagLst xmlns:a="http://schemas.openxmlformats.org/drawingml/2006/main" xmlns:r="http://schemas.openxmlformats.org/officeDocument/2006/relationships" xmlns:p="http://schemas.openxmlformats.org/presentationml/2006/main">
  <p:tag name="THINKCELLSHAPEDONOTDELETE" val="tQy4DpVjfFsFqBBfIqcSYyw"/>
</p:tagLst>
</file>

<file path=ppt/tags/tag167.xml><?xml version="1.0" encoding="utf-8"?>
<p:tagLst xmlns:a="http://schemas.openxmlformats.org/drawingml/2006/main" xmlns:r="http://schemas.openxmlformats.org/officeDocument/2006/relationships" xmlns:p="http://schemas.openxmlformats.org/presentationml/2006/main">
  <p:tag name="THINKCELLSHAPEDONOTDELETE" val="t2RISR6bTmYm3EoCAO4JAtg"/>
</p:tagLst>
</file>

<file path=ppt/tags/tag168.xml><?xml version="1.0" encoding="utf-8"?>
<p:tagLst xmlns:a="http://schemas.openxmlformats.org/drawingml/2006/main" xmlns:r="http://schemas.openxmlformats.org/officeDocument/2006/relationships" xmlns:p="http://schemas.openxmlformats.org/presentationml/2006/main">
  <p:tag name="THINKCELLSHAPEDONOTDELETE" val="txABLJGMtMButvbmpTJ5vSg"/>
</p:tagLst>
</file>

<file path=ppt/tags/tag169.xml><?xml version="1.0" encoding="utf-8"?>
<p:tagLst xmlns:a="http://schemas.openxmlformats.org/drawingml/2006/main" xmlns:r="http://schemas.openxmlformats.org/officeDocument/2006/relationships" xmlns:p="http://schemas.openxmlformats.org/presentationml/2006/main">
  <p:tag name="THINKCELLSHAPEDONOTDELETE" val="t2_fxdUkiRY2LfnZclgAQIQ"/>
</p:tagLst>
</file>

<file path=ppt/tags/tag170.xml><?xml version="1.0" encoding="utf-8"?>
<p:tagLst xmlns:a="http://schemas.openxmlformats.org/drawingml/2006/main" xmlns:r="http://schemas.openxmlformats.org/officeDocument/2006/relationships" xmlns:p="http://schemas.openxmlformats.org/presentationml/2006/main">
  <p:tag name="THINKCELLSHAPEDONOTDELETE" val="tSW78LtMWZeeyjmQD8srtXA"/>
</p:tagLst>
</file>

<file path=ppt/tags/tag171.xml><?xml version="1.0" encoding="utf-8"?>
<p:tagLst xmlns:a="http://schemas.openxmlformats.org/drawingml/2006/main" xmlns:r="http://schemas.openxmlformats.org/officeDocument/2006/relationships" xmlns:p="http://schemas.openxmlformats.org/presentationml/2006/main">
  <p:tag name="THINKCELLSHAPEDONOTDELETE" val="tXZPWw7yJ1_HzQQPwuXHCDQ"/>
</p:tagLst>
</file>

<file path=ppt/tags/tag172.xml><?xml version="1.0" encoding="utf-8"?>
<p:tagLst xmlns:a="http://schemas.openxmlformats.org/drawingml/2006/main" xmlns:r="http://schemas.openxmlformats.org/officeDocument/2006/relationships" xmlns:p="http://schemas.openxmlformats.org/presentationml/2006/main">
  <p:tag name="THINKCELLSHAPEDONOTDELETE" val="t0aIbC7ZbLZ9a1KkBfRLnsA"/>
</p:tagLst>
</file>

<file path=ppt/tags/tag173.xml><?xml version="1.0" encoding="utf-8"?>
<p:tagLst xmlns:a="http://schemas.openxmlformats.org/drawingml/2006/main" xmlns:r="http://schemas.openxmlformats.org/officeDocument/2006/relationships" xmlns:p="http://schemas.openxmlformats.org/presentationml/2006/main">
  <p:tag name="THINKCELLSHAPEDONOTDELETE" val="t21FqykWs69TVPO43jtZRYQ"/>
</p:tagLst>
</file>

<file path=ppt/tags/tag174.xml><?xml version="1.0" encoding="utf-8"?>
<p:tagLst xmlns:a="http://schemas.openxmlformats.org/drawingml/2006/main" xmlns:r="http://schemas.openxmlformats.org/officeDocument/2006/relationships" xmlns:p="http://schemas.openxmlformats.org/presentationml/2006/main">
  <p:tag name="THINKCELLSHAPEDONOTDELETE" val="tztN2jlNHi56Fw8zmKcw9qQ"/>
</p:tagLst>
</file>

<file path=ppt/tags/tag175.xml><?xml version="1.0" encoding="utf-8"?>
<p:tagLst xmlns:a="http://schemas.openxmlformats.org/drawingml/2006/main" xmlns:r="http://schemas.openxmlformats.org/officeDocument/2006/relationships" xmlns:p="http://schemas.openxmlformats.org/presentationml/2006/main">
  <p:tag name="THINKCELLSHAPEDONOTDELETE" val="t17OMqqrUAawydftWk43CFw"/>
</p:tagLst>
</file>

<file path=ppt/tags/tag176.xml><?xml version="1.0" encoding="utf-8"?>
<p:tagLst xmlns:a="http://schemas.openxmlformats.org/drawingml/2006/main" xmlns:r="http://schemas.openxmlformats.org/officeDocument/2006/relationships" xmlns:p="http://schemas.openxmlformats.org/presentationml/2006/main">
  <p:tag name="THINKCELLSHAPEDONOTDELETE" val="tcdncugN4r_HAcWI33rteUg"/>
</p:tagLst>
</file>

<file path=ppt/tags/tag177.xml><?xml version="1.0" encoding="utf-8"?>
<p:tagLst xmlns:a="http://schemas.openxmlformats.org/drawingml/2006/main" xmlns:r="http://schemas.openxmlformats.org/officeDocument/2006/relationships" xmlns:p="http://schemas.openxmlformats.org/presentationml/2006/main">
  <p:tag name="THINKCELLSHAPEDONOTDELETE" val="tgl4Vz8JHnmYFbs9sjXZICA"/>
</p:tagLst>
</file>

<file path=ppt/tags/tag178.xml><?xml version="1.0" encoding="utf-8"?>
<p:tagLst xmlns:a="http://schemas.openxmlformats.org/drawingml/2006/main" xmlns:r="http://schemas.openxmlformats.org/officeDocument/2006/relationships" xmlns:p="http://schemas.openxmlformats.org/presentationml/2006/main">
  <p:tag name="THINKCELLSHAPEDONOTDELETE" val="tXQ3b8c4XqeK7wekgITNtlQ"/>
</p:tagLst>
</file>

<file path=ppt/tags/tag179.xml><?xml version="1.0" encoding="utf-8"?>
<p:tagLst xmlns:a="http://schemas.openxmlformats.org/drawingml/2006/main" xmlns:r="http://schemas.openxmlformats.org/officeDocument/2006/relationships" xmlns:p="http://schemas.openxmlformats.org/presentationml/2006/main">
  <p:tag name="THINKCELLSHAPEDONOTDELETE" val="teOOMgk3IBbJosUNTQr_CDg"/>
</p:tagLst>
</file>

<file path=ppt/tags/tag18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1.xml><?xml version="1.0" encoding="utf-8"?>
<p:tagLst xmlns:a="http://schemas.openxmlformats.org/drawingml/2006/main" xmlns:r="http://schemas.openxmlformats.org/officeDocument/2006/relationships" xmlns:p="http://schemas.openxmlformats.org/presentationml/2006/main">
  <p:tag name="THINKCELLSHAPEDONOTDELETE" val="tm_fJm9PU.ZR269_PoY82cw"/>
</p:tagLst>
</file>

<file path=ppt/tags/tag182.xml><?xml version="1.0" encoding="utf-8"?>
<p:tagLst xmlns:a="http://schemas.openxmlformats.org/drawingml/2006/main" xmlns:r="http://schemas.openxmlformats.org/officeDocument/2006/relationships" xmlns:p="http://schemas.openxmlformats.org/presentationml/2006/main">
  <p:tag name="HEADER" val="True"/>
</p:tagLst>
</file>

<file path=ppt/tags/tag183.xml><?xml version="1.0" encoding="utf-8"?>
<p:tagLst xmlns:a="http://schemas.openxmlformats.org/drawingml/2006/main" xmlns:r="http://schemas.openxmlformats.org/officeDocument/2006/relationships" xmlns:p="http://schemas.openxmlformats.org/presentationml/2006/main">
  <p:tag name="HEADER" val="True"/>
</p:tagLst>
</file>

<file path=ppt/tags/tag184.xml><?xml version="1.0" encoding="utf-8"?>
<p:tagLst xmlns:a="http://schemas.openxmlformats.org/drawingml/2006/main" xmlns:r="http://schemas.openxmlformats.org/officeDocument/2006/relationships" xmlns:p="http://schemas.openxmlformats.org/presentationml/2006/main">
  <p:tag name="THINKCELLSHAPEDONOTDELETE" val="tosMTotcCDC13cyw0NfmAXg"/>
</p:tagLst>
</file>

<file path=ppt/tags/tag185.xml><?xml version="1.0" encoding="utf-8"?>
<p:tagLst xmlns:a="http://schemas.openxmlformats.org/drawingml/2006/main" xmlns:r="http://schemas.openxmlformats.org/officeDocument/2006/relationships" xmlns:p="http://schemas.openxmlformats.org/presentationml/2006/main">
  <p:tag name="THINKCELLSHAPEDONOTDELETE" val="tP1AqESbb7lW.jUPr8kzbCA"/>
</p:tagLst>
</file>

<file path=ppt/tags/tag186.xml><?xml version="1.0" encoding="utf-8"?>
<p:tagLst xmlns:a="http://schemas.openxmlformats.org/drawingml/2006/main" xmlns:r="http://schemas.openxmlformats.org/officeDocument/2006/relationships" xmlns:p="http://schemas.openxmlformats.org/presentationml/2006/main">
  <p:tag name="THINKCELLSHAPEDONOTDELETE" val="tV4RdxKz.UxiQDL7NcKX9XQ"/>
</p:tagLst>
</file>

<file path=ppt/tags/tag187.xml><?xml version="1.0" encoding="utf-8"?>
<p:tagLst xmlns:a="http://schemas.openxmlformats.org/drawingml/2006/main" xmlns:r="http://schemas.openxmlformats.org/officeDocument/2006/relationships" xmlns:p="http://schemas.openxmlformats.org/presentationml/2006/main">
  <p:tag name="THINKCELLSHAPEDONOTDELETE" val="tpjB5hcKE1XY0QWIV7VQuhg"/>
</p:tagLst>
</file>

<file path=ppt/tags/tag18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9.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90.xml><?xml version="1.0" encoding="utf-8"?>
<p:tagLst xmlns:a="http://schemas.openxmlformats.org/drawingml/2006/main" xmlns:r="http://schemas.openxmlformats.org/officeDocument/2006/relationships" xmlns:p="http://schemas.openxmlformats.org/presentationml/2006/main">
  <p:tag name="HEADER" val="True"/>
</p:tagLst>
</file>

<file path=ppt/tags/tag191.xml><?xml version="1.0" encoding="utf-8"?>
<p:tagLst xmlns:a="http://schemas.openxmlformats.org/drawingml/2006/main" xmlns:r="http://schemas.openxmlformats.org/officeDocument/2006/relationships" xmlns:p="http://schemas.openxmlformats.org/presentationml/2006/main">
  <p:tag name="HEADER" val="True"/>
</p:tagLst>
</file>

<file path=ppt/tags/tag192.xml><?xml version="1.0" encoding="utf-8"?>
<p:tagLst xmlns:a="http://schemas.openxmlformats.org/drawingml/2006/main" xmlns:r="http://schemas.openxmlformats.org/officeDocument/2006/relationships" xmlns:p="http://schemas.openxmlformats.org/presentationml/2006/main">
  <p:tag name="THINKCELLSHAPEDONOTDELETE" val="twNN8xcVy2CFNfs88w6f_bQ"/>
</p:tagLst>
</file>

<file path=ppt/tags/tag193.xml><?xml version="1.0" encoding="utf-8"?>
<p:tagLst xmlns:a="http://schemas.openxmlformats.org/drawingml/2006/main" xmlns:r="http://schemas.openxmlformats.org/officeDocument/2006/relationships" xmlns:p="http://schemas.openxmlformats.org/presentationml/2006/main">
  <p:tag name="THINKCELLSHAPEDONOTDELETE" val="t1tY9x7Y49rBODPlPb4nzaw"/>
</p:tagLst>
</file>

<file path=ppt/tags/tag194.xml><?xml version="1.0" encoding="utf-8"?>
<p:tagLst xmlns:a="http://schemas.openxmlformats.org/drawingml/2006/main" xmlns:r="http://schemas.openxmlformats.org/officeDocument/2006/relationships" xmlns:p="http://schemas.openxmlformats.org/presentationml/2006/main">
  <p:tag name="THINKCELLSHAPEDONOTDELETE" val="tbuU5NFurB3RhMH57ZkDIfg"/>
</p:tagLst>
</file>

<file path=ppt/tags/tag195.xml><?xml version="1.0" encoding="utf-8"?>
<p:tagLst xmlns:a="http://schemas.openxmlformats.org/drawingml/2006/main" xmlns:r="http://schemas.openxmlformats.org/officeDocument/2006/relationships" xmlns:p="http://schemas.openxmlformats.org/presentationml/2006/main">
  <p:tag name="THINKCELLSHAPEDONOTDELETE" val="tmTKUWRwijf4NIoOqpEudYg"/>
</p:tagLst>
</file>

<file path=ppt/tags/tag196.xml><?xml version="1.0" encoding="utf-8"?>
<p:tagLst xmlns:a="http://schemas.openxmlformats.org/drawingml/2006/main" xmlns:r="http://schemas.openxmlformats.org/officeDocument/2006/relationships" xmlns:p="http://schemas.openxmlformats.org/presentationml/2006/main">
  <p:tag name="THINKCELLSHAPEDONOTDELETE" val="tIYXO35.l8loCALbI8KQN.g"/>
</p:tagLst>
</file>

<file path=ppt/tags/tag197.xml><?xml version="1.0" encoding="utf-8"?>
<p:tagLst xmlns:a="http://schemas.openxmlformats.org/drawingml/2006/main" xmlns:r="http://schemas.openxmlformats.org/officeDocument/2006/relationships" xmlns:p="http://schemas.openxmlformats.org/presentationml/2006/main">
  <p:tag name="THINKCELLSHAPEDONOTDELETE" val="t8we_4TNNSknJk.f4dQE0SA"/>
</p:tagLst>
</file>

<file path=ppt/tags/tag198.xml><?xml version="1.0" encoding="utf-8"?>
<p:tagLst xmlns:a="http://schemas.openxmlformats.org/drawingml/2006/main" xmlns:r="http://schemas.openxmlformats.org/officeDocument/2006/relationships" xmlns:p="http://schemas.openxmlformats.org/presentationml/2006/main">
  <p:tag name="THINKCELLSHAPEDONOTDELETE" val="tSyYqcR7XIQ96TTe1gO_J3Q"/>
</p:tagLst>
</file>

<file path=ppt/tags/tag199.xml><?xml version="1.0" encoding="utf-8"?>
<p:tagLst xmlns:a="http://schemas.openxmlformats.org/drawingml/2006/main" xmlns:r="http://schemas.openxmlformats.org/officeDocument/2006/relationships" xmlns:p="http://schemas.openxmlformats.org/presentationml/2006/main">
  <p:tag name="THINKCELLSHAPEDONOTDELETE" val="tgJ4EdlNOzBFu0xsVnAMmXw"/>
</p:tagLst>
</file>

<file path=ppt/tags/tag200.xml><?xml version="1.0" encoding="utf-8"?>
<p:tagLst xmlns:a="http://schemas.openxmlformats.org/drawingml/2006/main" xmlns:r="http://schemas.openxmlformats.org/officeDocument/2006/relationships" xmlns:p="http://schemas.openxmlformats.org/presentationml/2006/main">
  <p:tag name="THINKCELLSHAPEDONOTDELETE" val="tnnCXw_nYpzwzN7Zc0YJVsw"/>
</p:tagLst>
</file>

<file path=ppt/tags/tag201.xml><?xml version="1.0" encoding="utf-8"?>
<p:tagLst xmlns:a="http://schemas.openxmlformats.org/drawingml/2006/main" xmlns:r="http://schemas.openxmlformats.org/officeDocument/2006/relationships" xmlns:p="http://schemas.openxmlformats.org/presentationml/2006/main">
  <p:tag name="THINKCELLSHAPEDONOTDELETE" val="t0CKTgNf2_v530APEe6OncA"/>
</p:tagLst>
</file>

<file path=ppt/tags/tag202.xml><?xml version="1.0" encoding="utf-8"?>
<p:tagLst xmlns:a="http://schemas.openxmlformats.org/drawingml/2006/main" xmlns:r="http://schemas.openxmlformats.org/officeDocument/2006/relationships" xmlns:p="http://schemas.openxmlformats.org/presentationml/2006/main">
  <p:tag name="THINKCELLSHAPEDONOTDELETE" val="tIbEfBOe4Mio4JNDxiSD87w"/>
</p:tagLst>
</file>

<file path=ppt/tags/tag203.xml><?xml version="1.0" encoding="utf-8"?>
<p:tagLst xmlns:a="http://schemas.openxmlformats.org/drawingml/2006/main" xmlns:r="http://schemas.openxmlformats.org/officeDocument/2006/relationships" xmlns:p="http://schemas.openxmlformats.org/presentationml/2006/main">
  <p:tag name="THINKCELLSHAPEDONOTDELETE" val="tD7xqknBMpOfZ.YxEsTcSrA"/>
</p:tagLst>
</file>

<file path=ppt/tags/tag204.xml><?xml version="1.0" encoding="utf-8"?>
<p:tagLst xmlns:a="http://schemas.openxmlformats.org/drawingml/2006/main" xmlns:r="http://schemas.openxmlformats.org/officeDocument/2006/relationships" xmlns:p="http://schemas.openxmlformats.org/presentationml/2006/main">
  <p:tag name="THINKCELLSHAPEDONOTDELETE" val="tjgLRTxdqILUI1vrhJbmMgw"/>
</p:tagLst>
</file>

<file path=ppt/tags/tag205.xml><?xml version="1.0" encoding="utf-8"?>
<p:tagLst xmlns:a="http://schemas.openxmlformats.org/drawingml/2006/main" xmlns:r="http://schemas.openxmlformats.org/officeDocument/2006/relationships" xmlns:p="http://schemas.openxmlformats.org/presentationml/2006/main">
  <p:tag name="THINKCELLSHAPEDONOTDELETE" val="tUe4tJnEjWQ0ExBzWtyHbnA"/>
</p:tagLst>
</file>

<file path=ppt/tags/tag206.xml><?xml version="1.0" encoding="utf-8"?>
<p:tagLst xmlns:a="http://schemas.openxmlformats.org/drawingml/2006/main" xmlns:r="http://schemas.openxmlformats.org/officeDocument/2006/relationships" xmlns:p="http://schemas.openxmlformats.org/presentationml/2006/main">
  <p:tag name="THINKCELLSHAPEDONOTDELETE" val="tna6MKRatQNeOJd0fvX8lrQ"/>
</p:tagLst>
</file>

<file path=ppt/tags/tag207.xml><?xml version="1.0" encoding="utf-8"?>
<p:tagLst xmlns:a="http://schemas.openxmlformats.org/drawingml/2006/main" xmlns:r="http://schemas.openxmlformats.org/officeDocument/2006/relationships" xmlns:p="http://schemas.openxmlformats.org/presentationml/2006/main">
  <p:tag name="THINKCELLSHAPEDONOTDELETE" val="tyaXSVUFSMBSOkKsDFJjAfQ"/>
</p:tagLst>
</file>

<file path=ppt/tags/tag208.xml><?xml version="1.0" encoding="utf-8"?>
<p:tagLst xmlns:a="http://schemas.openxmlformats.org/drawingml/2006/main" xmlns:r="http://schemas.openxmlformats.org/officeDocument/2006/relationships" xmlns:p="http://schemas.openxmlformats.org/presentationml/2006/main">
  <p:tag name="THINKCELLSHAPEDONOTDELETE" val="tBGG7ycBM0.GfbJBEDz548Q"/>
</p:tagLst>
</file>

<file path=ppt/tags/tag209.xml><?xml version="1.0" encoding="utf-8"?>
<p:tagLst xmlns:a="http://schemas.openxmlformats.org/drawingml/2006/main" xmlns:r="http://schemas.openxmlformats.org/officeDocument/2006/relationships" xmlns:p="http://schemas.openxmlformats.org/presentationml/2006/main">
  <p:tag name="THINKCELLSHAPEDONOTDELETE" val="tJEO.re.AfmllE8dxxiPLSA"/>
</p:tagLst>
</file>

<file path=ppt/tags/tag210.xml><?xml version="1.0" encoding="utf-8"?>
<p:tagLst xmlns:a="http://schemas.openxmlformats.org/drawingml/2006/main" xmlns:r="http://schemas.openxmlformats.org/officeDocument/2006/relationships" xmlns:p="http://schemas.openxmlformats.org/presentationml/2006/main">
  <p:tag name="THINKCELLSHAPEDONOTDELETE" val="t.FXDr6KgV7Dtde.9exipVA"/>
</p:tagLst>
</file>

<file path=ppt/tags/tag211.xml><?xml version="1.0" encoding="utf-8"?>
<p:tagLst xmlns:a="http://schemas.openxmlformats.org/drawingml/2006/main" xmlns:r="http://schemas.openxmlformats.org/officeDocument/2006/relationships" xmlns:p="http://schemas.openxmlformats.org/presentationml/2006/main">
  <p:tag name="THINKCELLSHAPEDONOTDELETE" val="tmtYEY7MvWRZFwwRN67tIjw"/>
</p:tagLst>
</file>

<file path=ppt/tags/tag212.xml><?xml version="1.0" encoding="utf-8"?>
<p:tagLst xmlns:a="http://schemas.openxmlformats.org/drawingml/2006/main" xmlns:r="http://schemas.openxmlformats.org/officeDocument/2006/relationships" xmlns:p="http://schemas.openxmlformats.org/presentationml/2006/main">
  <p:tag name="THINKCELLSHAPEDONOTDELETE" val="tIA7BI06MF9cY.1xCJoXu.A"/>
</p:tagLst>
</file>

<file path=ppt/tags/tag213.xml><?xml version="1.0" encoding="utf-8"?>
<p:tagLst xmlns:a="http://schemas.openxmlformats.org/drawingml/2006/main" xmlns:r="http://schemas.openxmlformats.org/officeDocument/2006/relationships" xmlns:p="http://schemas.openxmlformats.org/presentationml/2006/main">
  <p:tag name="THINKCELLSHAPEDONOTDELETE" val="tp07.Q_BMDzNR_9cFuR_UDg"/>
</p:tagLst>
</file>

<file path=ppt/tags/tag214.xml><?xml version="1.0" encoding="utf-8"?>
<p:tagLst xmlns:a="http://schemas.openxmlformats.org/drawingml/2006/main" xmlns:r="http://schemas.openxmlformats.org/officeDocument/2006/relationships" xmlns:p="http://schemas.openxmlformats.org/presentationml/2006/main">
  <p:tag name="THINKCELLSHAPEDONOTDELETE" val="tA9y.UxPU9sAvGh6F0G3Oaw"/>
</p:tagLst>
</file>

<file path=ppt/tags/tag215.xml><?xml version="1.0" encoding="utf-8"?>
<p:tagLst xmlns:a="http://schemas.openxmlformats.org/drawingml/2006/main" xmlns:r="http://schemas.openxmlformats.org/officeDocument/2006/relationships" xmlns:p="http://schemas.openxmlformats.org/presentationml/2006/main">
  <p:tag name="THINKCELLSHAPEDONOTDELETE" val="t5HDfuLvhbmwbYJaNetFKbg"/>
</p:tagLst>
</file>

<file path=ppt/tags/tag216.xml><?xml version="1.0" encoding="utf-8"?>
<p:tagLst xmlns:a="http://schemas.openxmlformats.org/drawingml/2006/main" xmlns:r="http://schemas.openxmlformats.org/officeDocument/2006/relationships" xmlns:p="http://schemas.openxmlformats.org/presentationml/2006/main">
  <p:tag name="THINKCELLSHAPEDONOTDELETE" val="tYbVHmGGc92E5J1gN9t9sTg"/>
</p:tagLst>
</file>

<file path=ppt/tags/tag217.xml><?xml version="1.0" encoding="utf-8"?>
<p:tagLst xmlns:a="http://schemas.openxmlformats.org/drawingml/2006/main" xmlns:r="http://schemas.openxmlformats.org/officeDocument/2006/relationships" xmlns:p="http://schemas.openxmlformats.org/presentationml/2006/main">
  <p:tag name="THINKCELLSHAPEDONOTDELETE" val="tWuK8mwQcC6nDsaiSBxuQDA"/>
</p:tagLst>
</file>

<file path=ppt/tags/tag218.xml><?xml version="1.0" encoding="utf-8"?>
<p:tagLst xmlns:a="http://schemas.openxmlformats.org/drawingml/2006/main" xmlns:r="http://schemas.openxmlformats.org/officeDocument/2006/relationships" xmlns:p="http://schemas.openxmlformats.org/presentationml/2006/main">
  <p:tag name="THINKCELLSHAPEDONOTDELETE" val="t3H_uRc9HvA146TS9BVEj_g"/>
</p:tagLst>
</file>

<file path=ppt/tags/tag219.xml><?xml version="1.0" encoding="utf-8"?>
<p:tagLst xmlns:a="http://schemas.openxmlformats.org/drawingml/2006/main" xmlns:r="http://schemas.openxmlformats.org/officeDocument/2006/relationships" xmlns:p="http://schemas.openxmlformats.org/presentationml/2006/main">
  <p:tag name="THINKCELLSHAPEDONOTDELETE" val="tpZSbgSr96CjD.SVrWoxMCw"/>
</p:tagLst>
</file>

<file path=ppt/tags/tag220.xml><?xml version="1.0" encoding="utf-8"?>
<p:tagLst xmlns:a="http://schemas.openxmlformats.org/drawingml/2006/main" xmlns:r="http://schemas.openxmlformats.org/officeDocument/2006/relationships" xmlns:p="http://schemas.openxmlformats.org/presentationml/2006/main">
  <p:tag name="THINKCELLSHAPEDONOTDELETE" val="tbtGNJo91tTodlp6zQkByuQ"/>
</p:tagLst>
</file>

<file path=ppt/tags/tag221.xml><?xml version="1.0" encoding="utf-8"?>
<p:tagLst xmlns:a="http://schemas.openxmlformats.org/drawingml/2006/main" xmlns:r="http://schemas.openxmlformats.org/officeDocument/2006/relationships" xmlns:p="http://schemas.openxmlformats.org/presentationml/2006/main">
  <p:tag name="THINKCELLSHAPEDONOTDELETE" val="tpYefLPKu5QEoldbwilSETg"/>
</p:tagLst>
</file>

<file path=ppt/tags/tag222.xml><?xml version="1.0" encoding="utf-8"?>
<p:tagLst xmlns:a="http://schemas.openxmlformats.org/drawingml/2006/main" xmlns:r="http://schemas.openxmlformats.org/officeDocument/2006/relationships" xmlns:p="http://schemas.openxmlformats.org/presentationml/2006/main">
  <p:tag name="THINKCELLSHAPEDONOTDELETE" val="tAj.ETZUeOx5DLLxUqvB_kA"/>
</p:tagLst>
</file>

<file path=ppt/tags/tag223.xml><?xml version="1.0" encoding="utf-8"?>
<p:tagLst xmlns:a="http://schemas.openxmlformats.org/drawingml/2006/main" xmlns:r="http://schemas.openxmlformats.org/officeDocument/2006/relationships" xmlns:p="http://schemas.openxmlformats.org/presentationml/2006/main">
  <p:tag name="THINKCELLSHAPEDONOTDELETE" val="tRSk_MhYMuPZp4qRt4sGCng"/>
</p:tagLst>
</file>

<file path=ppt/tags/tag224.xml><?xml version="1.0" encoding="utf-8"?>
<p:tagLst xmlns:a="http://schemas.openxmlformats.org/drawingml/2006/main" xmlns:r="http://schemas.openxmlformats.org/officeDocument/2006/relationships" xmlns:p="http://schemas.openxmlformats.org/presentationml/2006/main">
  <p:tag name="THINKCELLSHAPEDONOTDELETE" val="tHELf4pTXQ4F7GItoTz_brQ"/>
</p:tagLst>
</file>

<file path=ppt/tags/tag225.xml><?xml version="1.0" encoding="utf-8"?>
<p:tagLst xmlns:a="http://schemas.openxmlformats.org/drawingml/2006/main" xmlns:r="http://schemas.openxmlformats.org/officeDocument/2006/relationships" xmlns:p="http://schemas.openxmlformats.org/presentationml/2006/main">
  <p:tag name="THINKCELLSHAPEDONOTDELETE" val="teAiJgVT0Uoaav_IHZ9v6OQ"/>
</p:tagLst>
</file>

<file path=ppt/tags/tag226.xml><?xml version="1.0" encoding="utf-8"?>
<p:tagLst xmlns:a="http://schemas.openxmlformats.org/drawingml/2006/main" xmlns:r="http://schemas.openxmlformats.org/officeDocument/2006/relationships" xmlns:p="http://schemas.openxmlformats.org/presentationml/2006/main">
  <p:tag name="THINKCELLSHAPEDONOTDELETE" val="tUsXjx7PJTzc1LuzQwjZw8g"/>
</p:tagLst>
</file>

<file path=ppt/tags/tag227.xml><?xml version="1.0" encoding="utf-8"?>
<p:tagLst xmlns:a="http://schemas.openxmlformats.org/drawingml/2006/main" xmlns:r="http://schemas.openxmlformats.org/officeDocument/2006/relationships" xmlns:p="http://schemas.openxmlformats.org/presentationml/2006/main">
  <p:tag name="THINKCELLSHAPEDONOTDELETE" val="tviL8O6ISzYANTKHmdLZ2wQ"/>
</p:tagLst>
</file>

<file path=ppt/tags/tag228.xml><?xml version="1.0" encoding="utf-8"?>
<p:tagLst xmlns:a="http://schemas.openxmlformats.org/drawingml/2006/main" xmlns:r="http://schemas.openxmlformats.org/officeDocument/2006/relationships" xmlns:p="http://schemas.openxmlformats.org/presentationml/2006/main">
  <p:tag name="THINKCELLSHAPEDONOTDELETE" val="tq5D6Y.cw87Iha_c3Csh8tQ"/>
</p:tagLst>
</file>

<file path=ppt/tags/tag229.xml><?xml version="1.0" encoding="utf-8"?>
<p:tagLst xmlns:a="http://schemas.openxmlformats.org/drawingml/2006/main" xmlns:r="http://schemas.openxmlformats.org/officeDocument/2006/relationships" xmlns:p="http://schemas.openxmlformats.org/presentationml/2006/main">
  <p:tag name="THINKCELLSHAPEDONOTDELETE" val="t7NYACpCxj4gVMf3GAFWUTA"/>
</p:tagLst>
</file>

<file path=ppt/tags/tag230.xml><?xml version="1.0" encoding="utf-8"?>
<p:tagLst xmlns:a="http://schemas.openxmlformats.org/drawingml/2006/main" xmlns:r="http://schemas.openxmlformats.org/officeDocument/2006/relationships" xmlns:p="http://schemas.openxmlformats.org/presentationml/2006/main">
  <p:tag name="THINKCELLSHAPEDONOTDELETE" val="tFZ58G8jix_W8UqIrzBYPFg"/>
</p:tagLst>
</file>

<file path=ppt/tags/tag231.xml><?xml version="1.0" encoding="utf-8"?>
<p:tagLst xmlns:a="http://schemas.openxmlformats.org/drawingml/2006/main" xmlns:r="http://schemas.openxmlformats.org/officeDocument/2006/relationships" xmlns:p="http://schemas.openxmlformats.org/presentationml/2006/main">
  <p:tag name="THINKCELLSHAPEDONOTDELETE" val="tFHIubJiyvy._qcnF15B7ow"/>
</p:tagLst>
</file>

<file path=ppt/tags/tag232.xml><?xml version="1.0" encoding="utf-8"?>
<p:tagLst xmlns:a="http://schemas.openxmlformats.org/drawingml/2006/main" xmlns:r="http://schemas.openxmlformats.org/officeDocument/2006/relationships" xmlns:p="http://schemas.openxmlformats.org/presentationml/2006/main">
  <p:tag name="THINKCELLSHAPEDONOTDELETE" val="tPHWkt21gR05YEqgG6H3u5Q"/>
</p:tagLst>
</file>

<file path=ppt/tags/tag233.xml><?xml version="1.0" encoding="utf-8"?>
<p:tagLst xmlns:a="http://schemas.openxmlformats.org/drawingml/2006/main" xmlns:r="http://schemas.openxmlformats.org/officeDocument/2006/relationships" xmlns:p="http://schemas.openxmlformats.org/presentationml/2006/main">
  <p:tag name="THINKCELLSHAPEDONOTDELETE" val="tuXGuLq_PYJ99WeIEqLMWOg"/>
</p:tagLst>
</file>

<file path=ppt/tags/tag234.xml><?xml version="1.0" encoding="utf-8"?>
<p:tagLst xmlns:a="http://schemas.openxmlformats.org/drawingml/2006/main" xmlns:r="http://schemas.openxmlformats.org/officeDocument/2006/relationships" xmlns:p="http://schemas.openxmlformats.org/presentationml/2006/main">
  <p:tag name="THINKCELLSHAPEDONOTDELETE" val="tYbkBIYhIYHkibqXiNBMLtg"/>
</p:tagLst>
</file>

<file path=ppt/tags/tag235.xml><?xml version="1.0" encoding="utf-8"?>
<p:tagLst xmlns:a="http://schemas.openxmlformats.org/drawingml/2006/main" xmlns:r="http://schemas.openxmlformats.org/officeDocument/2006/relationships" xmlns:p="http://schemas.openxmlformats.org/presentationml/2006/main">
  <p:tag name="THINKCELLSHAPEDONOTDELETE" val="tm.3lReivx0febaAWs0g_Mw"/>
</p:tagLst>
</file>

<file path=ppt/tags/tag236.xml><?xml version="1.0" encoding="utf-8"?>
<p:tagLst xmlns:a="http://schemas.openxmlformats.org/drawingml/2006/main" xmlns:r="http://schemas.openxmlformats.org/officeDocument/2006/relationships" xmlns:p="http://schemas.openxmlformats.org/presentationml/2006/main">
  <p:tag name="THINKCELLSHAPEDONOTDELETE" val="tRxE4zp7XBs5_Ko0g0emvFA"/>
</p:tagLst>
</file>

<file path=ppt/tags/tag237.xml><?xml version="1.0" encoding="utf-8"?>
<p:tagLst xmlns:a="http://schemas.openxmlformats.org/drawingml/2006/main" xmlns:r="http://schemas.openxmlformats.org/officeDocument/2006/relationships" xmlns:p="http://schemas.openxmlformats.org/presentationml/2006/main">
  <p:tag name="THINKCELLSHAPEDONOTDELETE" val="t9tna_y.SkhijXA1lZ7vUXg"/>
</p:tagLst>
</file>

<file path=ppt/tags/tag238.xml><?xml version="1.0" encoding="utf-8"?>
<p:tagLst xmlns:a="http://schemas.openxmlformats.org/drawingml/2006/main" xmlns:r="http://schemas.openxmlformats.org/officeDocument/2006/relationships" xmlns:p="http://schemas.openxmlformats.org/presentationml/2006/main">
  <p:tag name="THINKCELLSHAPEDONOTDELETE" val="tVr.078qKgBTZz5kOCu53Vw"/>
</p:tagLst>
</file>

<file path=ppt/tags/tag239.xml><?xml version="1.0" encoding="utf-8"?>
<p:tagLst xmlns:a="http://schemas.openxmlformats.org/drawingml/2006/main" xmlns:r="http://schemas.openxmlformats.org/officeDocument/2006/relationships" xmlns:p="http://schemas.openxmlformats.org/presentationml/2006/main">
  <p:tag name="THINKCELLSHAPEDONOTDELETE" val="t86iVsSLC_STPrw2QD_T8nw"/>
</p:tagLst>
</file>

<file path=ppt/tags/tag240.xml><?xml version="1.0" encoding="utf-8"?>
<p:tagLst xmlns:a="http://schemas.openxmlformats.org/drawingml/2006/main" xmlns:r="http://schemas.openxmlformats.org/officeDocument/2006/relationships" xmlns:p="http://schemas.openxmlformats.org/presentationml/2006/main">
  <p:tag name="THINKCELLSHAPEDONOTDELETE" val="tRPUL_Ja6X7VT11c28FBigA"/>
</p:tagLst>
</file>

<file path=ppt/tags/tag241.xml><?xml version="1.0" encoding="utf-8"?>
<p:tagLst xmlns:a="http://schemas.openxmlformats.org/drawingml/2006/main" xmlns:r="http://schemas.openxmlformats.org/officeDocument/2006/relationships" xmlns:p="http://schemas.openxmlformats.org/presentationml/2006/main">
  <p:tag name="THINKCELLSHAPEDONOTDELETE" val="tCB0gUnDH5DD1N2g.PZ1O4Q"/>
</p:tagLst>
</file>

<file path=ppt/tags/tag242.xml><?xml version="1.0" encoding="utf-8"?>
<p:tagLst xmlns:a="http://schemas.openxmlformats.org/drawingml/2006/main" xmlns:r="http://schemas.openxmlformats.org/officeDocument/2006/relationships" xmlns:p="http://schemas.openxmlformats.org/presentationml/2006/main">
  <p:tag name="THINKCELLSHAPEDONOTDELETE" val="tnGnF3ZTRwBHuTwvjtCOU.w"/>
</p:tagLst>
</file>

<file path=ppt/tags/tag243.xml><?xml version="1.0" encoding="utf-8"?>
<p:tagLst xmlns:a="http://schemas.openxmlformats.org/drawingml/2006/main" xmlns:r="http://schemas.openxmlformats.org/officeDocument/2006/relationships" xmlns:p="http://schemas.openxmlformats.org/presentationml/2006/main">
  <p:tag name="THINKCELLSHAPEDONOTDELETE" val="tg67QsCq75vd.OHwnw1V7Lg"/>
</p:tagLst>
</file>

<file path=ppt/tags/tag244.xml><?xml version="1.0" encoding="utf-8"?>
<p:tagLst xmlns:a="http://schemas.openxmlformats.org/drawingml/2006/main" xmlns:r="http://schemas.openxmlformats.org/officeDocument/2006/relationships" xmlns:p="http://schemas.openxmlformats.org/presentationml/2006/main">
  <p:tag name="THINKCELLSHAPEDONOTDELETE" val="t0k5GXzXZSV79FX9f4sNktw"/>
</p:tagLst>
</file>

<file path=ppt/tags/tag245.xml><?xml version="1.0" encoding="utf-8"?>
<p:tagLst xmlns:a="http://schemas.openxmlformats.org/drawingml/2006/main" xmlns:r="http://schemas.openxmlformats.org/officeDocument/2006/relationships" xmlns:p="http://schemas.openxmlformats.org/presentationml/2006/main">
  <p:tag name="THINKCELLSHAPEDONOTDELETE" val="ttU1xbHcWsZzrra0RLfwCRA"/>
</p:tagLst>
</file>

<file path=ppt/tags/tag246.xml><?xml version="1.0" encoding="utf-8"?>
<p:tagLst xmlns:a="http://schemas.openxmlformats.org/drawingml/2006/main" xmlns:r="http://schemas.openxmlformats.org/officeDocument/2006/relationships" xmlns:p="http://schemas.openxmlformats.org/presentationml/2006/main">
  <p:tag name="THINKCELLSHAPEDONOTDELETE" val="t33PYSnVW0wPkU39HDFTgpA"/>
</p:tagLst>
</file>

<file path=ppt/tags/tag247.xml><?xml version="1.0" encoding="utf-8"?>
<p:tagLst xmlns:a="http://schemas.openxmlformats.org/drawingml/2006/main" xmlns:r="http://schemas.openxmlformats.org/officeDocument/2006/relationships" xmlns:p="http://schemas.openxmlformats.org/presentationml/2006/main">
  <p:tag name="THINKCELLSHAPEDONOTDELETE" val="tnio2a.p5a7TLd6zASYxyRQ"/>
</p:tagLst>
</file>

<file path=ppt/tags/tag248.xml><?xml version="1.0" encoding="utf-8"?>
<p:tagLst xmlns:a="http://schemas.openxmlformats.org/drawingml/2006/main" xmlns:r="http://schemas.openxmlformats.org/officeDocument/2006/relationships" xmlns:p="http://schemas.openxmlformats.org/presentationml/2006/main">
  <p:tag name="THINKCELLSHAPEDONOTDELETE" val="tvfsGTRleDmCCLjeNVViY_A"/>
</p:tagLst>
</file>

<file path=ppt/tags/tag249.xml><?xml version="1.0" encoding="utf-8"?>
<p:tagLst xmlns:a="http://schemas.openxmlformats.org/drawingml/2006/main" xmlns:r="http://schemas.openxmlformats.org/officeDocument/2006/relationships" xmlns:p="http://schemas.openxmlformats.org/presentationml/2006/main">
  <p:tag name="THINKCELLSHAPEDONOTDELETE" val="tvy_yB1mhACkhA6zTxWZDng"/>
</p:tagLst>
</file>

<file path=ppt/tags/tag2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1.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52.xml><?xml version="1.0" encoding="utf-8"?>
<p:tagLst xmlns:a="http://schemas.openxmlformats.org/drawingml/2006/main" xmlns:r="http://schemas.openxmlformats.org/officeDocument/2006/relationships" xmlns:p="http://schemas.openxmlformats.org/presentationml/2006/main">
  <p:tag name="HEADER" val="True"/>
</p:tagLst>
</file>

<file path=ppt/tags/tag253.xml><?xml version="1.0" encoding="utf-8"?>
<p:tagLst xmlns:a="http://schemas.openxmlformats.org/drawingml/2006/main" xmlns:r="http://schemas.openxmlformats.org/officeDocument/2006/relationships" xmlns:p="http://schemas.openxmlformats.org/presentationml/2006/main">
  <p:tag name="HEADER" val="True"/>
</p:tagLst>
</file>

<file path=ppt/tags/tag254.xml><?xml version="1.0" encoding="utf-8"?>
<p:tagLst xmlns:a="http://schemas.openxmlformats.org/drawingml/2006/main" xmlns:r="http://schemas.openxmlformats.org/officeDocument/2006/relationships" xmlns:p="http://schemas.openxmlformats.org/presentationml/2006/main">
  <p:tag name="THINKCELLSHAPEDONOTDELETE" val="tNEEbn1pB1wabDePlYOwaoQ"/>
</p:tagLst>
</file>

<file path=ppt/tags/tag255.xml><?xml version="1.0" encoding="utf-8"?>
<p:tagLst xmlns:a="http://schemas.openxmlformats.org/drawingml/2006/main" xmlns:r="http://schemas.openxmlformats.org/officeDocument/2006/relationships" xmlns:p="http://schemas.openxmlformats.org/presentationml/2006/main">
  <p:tag name="THINKCELLSHAPEDONOTDELETE" val="tXQCtcwJXEhTh9sO1bgZCvA"/>
</p:tagLst>
</file>

<file path=ppt/tags/tag256.xml><?xml version="1.0" encoding="utf-8"?>
<p:tagLst xmlns:a="http://schemas.openxmlformats.org/drawingml/2006/main" xmlns:r="http://schemas.openxmlformats.org/officeDocument/2006/relationships" xmlns:p="http://schemas.openxmlformats.org/presentationml/2006/main">
  <p:tag name="THINKCELLSHAPEDONOTDELETE" val="tg2y9tRhQXY78Avj6Toe6nw"/>
</p:tagLst>
</file>

<file path=ppt/tags/tag257.xml><?xml version="1.0" encoding="utf-8"?>
<p:tagLst xmlns:a="http://schemas.openxmlformats.org/drawingml/2006/main" xmlns:r="http://schemas.openxmlformats.org/officeDocument/2006/relationships" xmlns:p="http://schemas.openxmlformats.org/presentationml/2006/main">
  <p:tag name="THINKCELLSHAPEDONOTDELETE" val="tMcGMnUP7TEx48Fp4RNLR6A"/>
</p:tagLst>
</file>

<file path=ppt/tags/tag258.xml><?xml version="1.0" encoding="utf-8"?>
<p:tagLst xmlns:a="http://schemas.openxmlformats.org/drawingml/2006/main" xmlns:r="http://schemas.openxmlformats.org/officeDocument/2006/relationships" xmlns:p="http://schemas.openxmlformats.org/presentationml/2006/main">
  <p:tag name="THINKCELLSHAPEDONOTDELETE" val="tfKCg7W5fo58vAuc9_lTQ.A"/>
</p:tagLst>
</file>

<file path=ppt/tags/tag259.xml><?xml version="1.0" encoding="utf-8"?>
<p:tagLst xmlns:a="http://schemas.openxmlformats.org/drawingml/2006/main" xmlns:r="http://schemas.openxmlformats.org/officeDocument/2006/relationships" xmlns:p="http://schemas.openxmlformats.org/presentationml/2006/main">
  <p:tag name="THINKCELLSHAPEDONOTDELETE" val="tYEbEOQdj6Nhjmlw3sVE3GQ"/>
</p:tagLst>
</file>

<file path=ppt/tags/tag260.xml><?xml version="1.0" encoding="utf-8"?>
<p:tagLst xmlns:a="http://schemas.openxmlformats.org/drawingml/2006/main" xmlns:r="http://schemas.openxmlformats.org/officeDocument/2006/relationships" xmlns:p="http://schemas.openxmlformats.org/presentationml/2006/main">
  <p:tag name="THINKCELLSHAPEDONOTDELETE" val="tqKqfhFopKlaQsoGpgr8_Rg"/>
</p:tagLst>
</file>

<file path=ppt/tags/tag261.xml><?xml version="1.0" encoding="utf-8"?>
<p:tagLst xmlns:a="http://schemas.openxmlformats.org/drawingml/2006/main" xmlns:r="http://schemas.openxmlformats.org/officeDocument/2006/relationships" xmlns:p="http://schemas.openxmlformats.org/presentationml/2006/main">
  <p:tag name="THINKCELLSHAPEDONOTDELETE" val="tJ8Ovrog2JGzQOyD_3SRaoA"/>
</p:tagLst>
</file>

<file path=ppt/tags/tag262.xml><?xml version="1.0" encoding="utf-8"?>
<p:tagLst xmlns:a="http://schemas.openxmlformats.org/drawingml/2006/main" xmlns:r="http://schemas.openxmlformats.org/officeDocument/2006/relationships" xmlns:p="http://schemas.openxmlformats.org/presentationml/2006/main">
  <p:tag name="THINKCELLSHAPEDONOTDELETE" val="tP2D8jJt.kVF47KsFpSAHgQ"/>
</p:tagLst>
</file>

<file path=ppt/tags/tag263.xml><?xml version="1.0" encoding="utf-8"?>
<p:tagLst xmlns:a="http://schemas.openxmlformats.org/drawingml/2006/main" xmlns:r="http://schemas.openxmlformats.org/officeDocument/2006/relationships" xmlns:p="http://schemas.openxmlformats.org/presentationml/2006/main">
  <p:tag name="THINKCELLSHAPEDONOTDELETE" val="tDqdoBWNx8XO99vNYSnl5zg"/>
</p:tagLst>
</file>

<file path=ppt/tags/tag264.xml><?xml version="1.0" encoding="utf-8"?>
<p:tagLst xmlns:a="http://schemas.openxmlformats.org/drawingml/2006/main" xmlns:r="http://schemas.openxmlformats.org/officeDocument/2006/relationships" xmlns:p="http://schemas.openxmlformats.org/presentationml/2006/main">
  <p:tag name="THINKCELLSHAPEDONOTDELETE" val="tLVdL9US0gOKd5UVnXIwCkQ"/>
</p:tagLst>
</file>

<file path=ppt/tags/tag265.xml><?xml version="1.0" encoding="utf-8"?>
<p:tagLst xmlns:a="http://schemas.openxmlformats.org/drawingml/2006/main" xmlns:r="http://schemas.openxmlformats.org/officeDocument/2006/relationships" xmlns:p="http://schemas.openxmlformats.org/presentationml/2006/main">
  <p:tag name="THINKCELLSHAPEDONOTDELETE" val="t5QLMUrRDGwa63Pk57.IcfQ"/>
</p:tagLst>
</file>

<file path=ppt/tags/tag266.xml><?xml version="1.0" encoding="utf-8"?>
<p:tagLst xmlns:a="http://schemas.openxmlformats.org/drawingml/2006/main" xmlns:r="http://schemas.openxmlformats.org/officeDocument/2006/relationships" xmlns:p="http://schemas.openxmlformats.org/presentationml/2006/main">
  <p:tag name="THINKCELLSHAPEDONOTDELETE" val="t6SUI.okWE_aEFtIsAkhDxA"/>
</p:tagLst>
</file>

<file path=ppt/tags/tag267.xml><?xml version="1.0" encoding="utf-8"?>
<p:tagLst xmlns:a="http://schemas.openxmlformats.org/drawingml/2006/main" xmlns:r="http://schemas.openxmlformats.org/officeDocument/2006/relationships" xmlns:p="http://schemas.openxmlformats.org/presentationml/2006/main">
  <p:tag name="THINKCELLSHAPEDONOTDELETE" val="tqIwffyqLpKA.f2nMdtyWeA"/>
</p:tagLst>
</file>

<file path=ppt/tags/tag268.xml><?xml version="1.0" encoding="utf-8"?>
<p:tagLst xmlns:a="http://schemas.openxmlformats.org/drawingml/2006/main" xmlns:r="http://schemas.openxmlformats.org/officeDocument/2006/relationships" xmlns:p="http://schemas.openxmlformats.org/presentationml/2006/main">
  <p:tag name="THINKCELLSHAPEDONOTDELETE" val="tAVUh7ocsB76dulQsotOLnQ"/>
</p:tagLst>
</file>

<file path=ppt/tags/tag269.xml><?xml version="1.0" encoding="utf-8"?>
<p:tagLst xmlns:a="http://schemas.openxmlformats.org/drawingml/2006/main" xmlns:r="http://schemas.openxmlformats.org/officeDocument/2006/relationships" xmlns:p="http://schemas.openxmlformats.org/presentationml/2006/main">
  <p:tag name="THINKCELLSHAPEDONOTDELETE" val="t_av1Wcwg6P9kRnLjhQY.ag"/>
</p:tagLst>
</file>

<file path=ppt/tags/tag270.xml><?xml version="1.0" encoding="utf-8"?>
<p:tagLst xmlns:a="http://schemas.openxmlformats.org/drawingml/2006/main" xmlns:r="http://schemas.openxmlformats.org/officeDocument/2006/relationships" xmlns:p="http://schemas.openxmlformats.org/presentationml/2006/main">
  <p:tag name="THINKCELLSHAPEDONOTDELETE" val="twDAC2Scn..VuUYRSE2HU4g"/>
</p:tagLst>
</file>

<file path=ppt/tags/tag271.xml><?xml version="1.0" encoding="utf-8"?>
<p:tagLst xmlns:a="http://schemas.openxmlformats.org/drawingml/2006/main" xmlns:r="http://schemas.openxmlformats.org/officeDocument/2006/relationships" xmlns:p="http://schemas.openxmlformats.org/presentationml/2006/main">
  <p:tag name="THINKCELLSHAPEDONOTDELETE" val="tk11uReChhvsujVTGzCMI4Q"/>
</p:tagLst>
</file>

<file path=ppt/tags/tag272.xml><?xml version="1.0" encoding="utf-8"?>
<p:tagLst xmlns:a="http://schemas.openxmlformats.org/drawingml/2006/main" xmlns:r="http://schemas.openxmlformats.org/officeDocument/2006/relationships" xmlns:p="http://schemas.openxmlformats.org/presentationml/2006/main">
  <p:tag name="THINKCELLSHAPEDONOTDELETE" val="tzla8VBJIRZtsyCwCdQSngA"/>
</p:tagLst>
</file>

<file path=ppt/tags/tag273.xml><?xml version="1.0" encoding="utf-8"?>
<p:tagLst xmlns:a="http://schemas.openxmlformats.org/drawingml/2006/main" xmlns:r="http://schemas.openxmlformats.org/officeDocument/2006/relationships" xmlns:p="http://schemas.openxmlformats.org/presentationml/2006/main">
  <p:tag name="THINKCELLSHAPEDONOTDELETE" val="tKfUcvVAi0Hq5jkk7RzpH4g"/>
</p:tagLst>
</file>

<file path=ppt/tags/tag274.xml><?xml version="1.0" encoding="utf-8"?>
<p:tagLst xmlns:a="http://schemas.openxmlformats.org/drawingml/2006/main" xmlns:r="http://schemas.openxmlformats.org/officeDocument/2006/relationships" xmlns:p="http://schemas.openxmlformats.org/presentationml/2006/main">
  <p:tag name="THINKCELLSHAPEDONOTDELETE" val="tO9nNxNCiSQTJQW463YD0pA"/>
</p:tagLst>
</file>

<file path=ppt/tags/tag275.xml><?xml version="1.0" encoding="utf-8"?>
<p:tagLst xmlns:a="http://schemas.openxmlformats.org/drawingml/2006/main" xmlns:r="http://schemas.openxmlformats.org/officeDocument/2006/relationships" xmlns:p="http://schemas.openxmlformats.org/presentationml/2006/main">
  <p:tag name="THINKCELLSHAPEDONOTDELETE" val="tr.zLuIgsZlfvnlyWgRVkXw"/>
</p:tagLst>
</file>

<file path=ppt/tags/tag276.xml><?xml version="1.0" encoding="utf-8"?>
<p:tagLst xmlns:a="http://schemas.openxmlformats.org/drawingml/2006/main" xmlns:r="http://schemas.openxmlformats.org/officeDocument/2006/relationships" xmlns:p="http://schemas.openxmlformats.org/presentationml/2006/main">
  <p:tag name="THINKCELLSHAPEDONOTDELETE" val="t1kAbgTodbXM_biUykZsnUA"/>
</p:tagLst>
</file>

<file path=ppt/tags/tag277.xml><?xml version="1.0" encoding="utf-8"?>
<p:tagLst xmlns:a="http://schemas.openxmlformats.org/drawingml/2006/main" xmlns:r="http://schemas.openxmlformats.org/officeDocument/2006/relationships" xmlns:p="http://schemas.openxmlformats.org/presentationml/2006/main">
  <p:tag name="THINKCELLSHAPEDONOTDELETE" val="tN4x9kajcjNlS3l8hY9Q_jw"/>
</p:tagLst>
</file>

<file path=ppt/tags/tag278.xml><?xml version="1.0" encoding="utf-8"?>
<p:tagLst xmlns:a="http://schemas.openxmlformats.org/drawingml/2006/main" xmlns:r="http://schemas.openxmlformats.org/officeDocument/2006/relationships" xmlns:p="http://schemas.openxmlformats.org/presentationml/2006/main">
  <p:tag name="THINKCELLSHAPEDONOTDELETE" val="tDKBQHM4iU82Ov3DH051zkQ"/>
</p:tagLst>
</file>

<file path=ppt/tags/tag279.xml><?xml version="1.0" encoding="utf-8"?>
<p:tagLst xmlns:a="http://schemas.openxmlformats.org/drawingml/2006/main" xmlns:r="http://schemas.openxmlformats.org/officeDocument/2006/relationships" xmlns:p="http://schemas.openxmlformats.org/presentationml/2006/main">
  <p:tag name="THINKCELLSHAPEDONOTDELETE" val="t2qzQ7G7gUhZ5Pu39HkSQwg"/>
</p:tagLst>
</file>

<file path=ppt/tags/tag280.xml><?xml version="1.0" encoding="utf-8"?>
<p:tagLst xmlns:a="http://schemas.openxmlformats.org/drawingml/2006/main" xmlns:r="http://schemas.openxmlformats.org/officeDocument/2006/relationships" xmlns:p="http://schemas.openxmlformats.org/presentationml/2006/main">
  <p:tag name="THINKCELLSHAPEDONOTDELETE" val="tlQMs2yIix.xsNRFDxUogLw"/>
</p:tagLst>
</file>

<file path=ppt/tags/tag281.xml><?xml version="1.0" encoding="utf-8"?>
<p:tagLst xmlns:a="http://schemas.openxmlformats.org/drawingml/2006/main" xmlns:r="http://schemas.openxmlformats.org/officeDocument/2006/relationships" xmlns:p="http://schemas.openxmlformats.org/presentationml/2006/main">
  <p:tag name="THINKCELLSHAPEDONOTDELETE" val="tB6bi9GSow7KQxhyYOBYUug"/>
</p:tagLst>
</file>

<file path=ppt/tags/tag282.xml><?xml version="1.0" encoding="utf-8"?>
<p:tagLst xmlns:a="http://schemas.openxmlformats.org/drawingml/2006/main" xmlns:r="http://schemas.openxmlformats.org/officeDocument/2006/relationships" xmlns:p="http://schemas.openxmlformats.org/presentationml/2006/main">
  <p:tag name="THINKCELLSHAPEDONOTDELETE" val="tz3Pxy1p8GeLpMw5XH8qKBQ"/>
</p:tagLst>
</file>

<file path=ppt/tags/tag283.xml><?xml version="1.0" encoding="utf-8"?>
<p:tagLst xmlns:a="http://schemas.openxmlformats.org/drawingml/2006/main" xmlns:r="http://schemas.openxmlformats.org/officeDocument/2006/relationships" xmlns:p="http://schemas.openxmlformats.org/presentationml/2006/main">
  <p:tag name="THINKCELLSHAPEDONOTDELETE" val="tn4tuuK18Xmylp70EToDoPA"/>
</p:tagLst>
</file>

<file path=ppt/tags/tag284.xml><?xml version="1.0" encoding="utf-8"?>
<p:tagLst xmlns:a="http://schemas.openxmlformats.org/drawingml/2006/main" xmlns:r="http://schemas.openxmlformats.org/officeDocument/2006/relationships" xmlns:p="http://schemas.openxmlformats.org/presentationml/2006/main">
  <p:tag name="THINKCELLSHAPEDONOTDELETE" val="tXWgSC8bXiwuEJbTUsv_zCQ"/>
</p:tagLst>
</file>

<file path=ppt/tags/tag285.xml><?xml version="1.0" encoding="utf-8"?>
<p:tagLst xmlns:a="http://schemas.openxmlformats.org/drawingml/2006/main" xmlns:r="http://schemas.openxmlformats.org/officeDocument/2006/relationships" xmlns:p="http://schemas.openxmlformats.org/presentationml/2006/main">
  <p:tag name="THINKCELLSHAPEDONOTDELETE" val="tBA.GxpuDo8UgJbQdBO_4mw"/>
</p:tagLst>
</file>

<file path=ppt/tags/tag286.xml><?xml version="1.0" encoding="utf-8"?>
<p:tagLst xmlns:a="http://schemas.openxmlformats.org/drawingml/2006/main" xmlns:r="http://schemas.openxmlformats.org/officeDocument/2006/relationships" xmlns:p="http://schemas.openxmlformats.org/presentationml/2006/main">
  <p:tag name="THINKCELLSHAPEDONOTDELETE" val="tcMTUHn.WWP.A3IqK9BpzEA"/>
</p:tagLst>
</file>

<file path=ppt/tags/tag287.xml><?xml version="1.0" encoding="utf-8"?>
<p:tagLst xmlns:a="http://schemas.openxmlformats.org/drawingml/2006/main" xmlns:r="http://schemas.openxmlformats.org/officeDocument/2006/relationships" xmlns:p="http://schemas.openxmlformats.org/presentationml/2006/main">
  <p:tag name="THINKCELLSHAPEDONOTDELETE" val="t4wZ6J3cpZ2baa90lmJ2NoQ"/>
</p:tagLst>
</file>

<file path=ppt/tags/tag288.xml><?xml version="1.0" encoding="utf-8"?>
<p:tagLst xmlns:a="http://schemas.openxmlformats.org/drawingml/2006/main" xmlns:r="http://schemas.openxmlformats.org/officeDocument/2006/relationships" xmlns:p="http://schemas.openxmlformats.org/presentationml/2006/main">
  <p:tag name="THINKCELLSHAPEDONOTDELETE" val="tze0_W2xz28KDiIUESbvbJw"/>
</p:tagLst>
</file>

<file path=ppt/tags/tag289.xml><?xml version="1.0" encoding="utf-8"?>
<p:tagLst xmlns:a="http://schemas.openxmlformats.org/drawingml/2006/main" xmlns:r="http://schemas.openxmlformats.org/officeDocument/2006/relationships" xmlns:p="http://schemas.openxmlformats.org/presentationml/2006/main">
  <p:tag name="THINKCELLSHAPEDONOTDELETE" val="t_82VE1xFB18jUZUX54yd4w"/>
</p:tagLst>
</file>

<file path=ppt/tags/tag290.xml><?xml version="1.0" encoding="utf-8"?>
<p:tagLst xmlns:a="http://schemas.openxmlformats.org/drawingml/2006/main" xmlns:r="http://schemas.openxmlformats.org/officeDocument/2006/relationships" xmlns:p="http://schemas.openxmlformats.org/presentationml/2006/main">
  <p:tag name="THINKCELLSHAPEDONOTDELETE" val="tkII1SyUi7HSuQOC3EMZKKA"/>
</p:tagLst>
</file>

<file path=ppt/tags/tag291.xml><?xml version="1.0" encoding="utf-8"?>
<p:tagLst xmlns:a="http://schemas.openxmlformats.org/drawingml/2006/main" xmlns:r="http://schemas.openxmlformats.org/officeDocument/2006/relationships" xmlns:p="http://schemas.openxmlformats.org/presentationml/2006/main">
  <p:tag name="THINKCELLSHAPEDONOTDELETE" val="tNltYJeIcJbH2LS64FIhFkw"/>
</p:tagLst>
</file>

<file path=ppt/tags/tag292.xml><?xml version="1.0" encoding="utf-8"?>
<p:tagLst xmlns:a="http://schemas.openxmlformats.org/drawingml/2006/main" xmlns:r="http://schemas.openxmlformats.org/officeDocument/2006/relationships" xmlns:p="http://schemas.openxmlformats.org/presentationml/2006/main">
  <p:tag name="THINKCELLSHAPEDONOTDELETE" val="tZPY92fOnR0HPYAYx.KppxA"/>
</p:tagLst>
</file>

<file path=ppt/tags/tag293.xml><?xml version="1.0" encoding="utf-8"?>
<p:tagLst xmlns:a="http://schemas.openxmlformats.org/drawingml/2006/main" xmlns:r="http://schemas.openxmlformats.org/officeDocument/2006/relationships" xmlns:p="http://schemas.openxmlformats.org/presentationml/2006/main">
  <p:tag name="THINKCELLSHAPEDONOTDELETE" val="trdaaKHc0aiAkSn3I_wGlLA"/>
</p:tagLst>
</file>

<file path=ppt/tags/tag294.xml><?xml version="1.0" encoding="utf-8"?>
<p:tagLst xmlns:a="http://schemas.openxmlformats.org/drawingml/2006/main" xmlns:r="http://schemas.openxmlformats.org/officeDocument/2006/relationships" xmlns:p="http://schemas.openxmlformats.org/presentationml/2006/main">
  <p:tag name="THINKCELLSHAPEDONOTDELETE" val="tfRMD.XJayJLGhwc40weqCA"/>
</p:tagLst>
</file>

<file path=ppt/tags/tag295.xml><?xml version="1.0" encoding="utf-8"?>
<p:tagLst xmlns:a="http://schemas.openxmlformats.org/drawingml/2006/main" xmlns:r="http://schemas.openxmlformats.org/officeDocument/2006/relationships" xmlns:p="http://schemas.openxmlformats.org/presentationml/2006/main">
  <p:tag name="THINKCELLSHAPEDONOTDELETE" val="tFQ_vwAaEEQ.GCN_m0cMdRQ"/>
</p:tagLst>
</file>

<file path=ppt/tags/tag296.xml><?xml version="1.0" encoding="utf-8"?>
<p:tagLst xmlns:a="http://schemas.openxmlformats.org/drawingml/2006/main" xmlns:r="http://schemas.openxmlformats.org/officeDocument/2006/relationships" xmlns:p="http://schemas.openxmlformats.org/presentationml/2006/main">
  <p:tag name="THINKCELLSHAPEDONOTDELETE" val="tsNCydq4ZoUk12jHbnSe2iQ"/>
</p:tagLst>
</file>

<file path=ppt/tags/tag297.xml><?xml version="1.0" encoding="utf-8"?>
<p:tagLst xmlns:a="http://schemas.openxmlformats.org/drawingml/2006/main" xmlns:r="http://schemas.openxmlformats.org/officeDocument/2006/relationships" xmlns:p="http://schemas.openxmlformats.org/presentationml/2006/main">
  <p:tag name="THINKCELLSHAPEDONOTDELETE" val="tLJBes14v7v9ngPvn95BOrA"/>
</p:tagLst>
</file>

<file path=ppt/tags/tag298.xml><?xml version="1.0" encoding="utf-8"?>
<p:tagLst xmlns:a="http://schemas.openxmlformats.org/drawingml/2006/main" xmlns:r="http://schemas.openxmlformats.org/officeDocument/2006/relationships" xmlns:p="http://schemas.openxmlformats.org/presentationml/2006/main">
  <p:tag name="THINKCELLSHAPEDONOTDELETE" val="t5uU56xB72xG4WziosQTAxQ"/>
</p:tagLst>
</file>

<file path=ppt/tags/tag299.xml><?xml version="1.0" encoding="utf-8"?>
<p:tagLst xmlns:a="http://schemas.openxmlformats.org/drawingml/2006/main" xmlns:r="http://schemas.openxmlformats.org/officeDocument/2006/relationships" xmlns:p="http://schemas.openxmlformats.org/presentationml/2006/main">
  <p:tag name="THINKCELLSHAPEDONOTDELETE" val="t6j0ZxbobGuaWH0rTKm9o0A"/>
</p:tagLst>
</file>

<file path=ppt/tags/tag300.xml><?xml version="1.0" encoding="utf-8"?>
<p:tagLst xmlns:a="http://schemas.openxmlformats.org/drawingml/2006/main" xmlns:r="http://schemas.openxmlformats.org/officeDocument/2006/relationships" xmlns:p="http://schemas.openxmlformats.org/presentationml/2006/main">
  <p:tag name="THINKCELLSHAPEDONOTDELETE" val="tp3AUzCTXMqFHiU2V9Li3Vg"/>
</p:tagLst>
</file>

<file path=ppt/tags/tag301.xml><?xml version="1.0" encoding="utf-8"?>
<p:tagLst xmlns:a="http://schemas.openxmlformats.org/drawingml/2006/main" xmlns:r="http://schemas.openxmlformats.org/officeDocument/2006/relationships" xmlns:p="http://schemas.openxmlformats.org/presentationml/2006/main">
  <p:tag name="THINKCELLSHAPEDONOTDELETE" val="t2mfIenwfdAOm3IRRn09.Qg"/>
</p:tagLst>
</file>

<file path=ppt/tags/tag302.xml><?xml version="1.0" encoding="utf-8"?>
<p:tagLst xmlns:a="http://schemas.openxmlformats.org/drawingml/2006/main" xmlns:r="http://schemas.openxmlformats.org/officeDocument/2006/relationships" xmlns:p="http://schemas.openxmlformats.org/presentationml/2006/main">
  <p:tag name="THINKCELLSHAPEDONOTDELETE" val="tl6JomrGfoN8aGn78Qsfm7Q"/>
</p:tagLst>
</file>

<file path=ppt/tags/tag303.xml><?xml version="1.0" encoding="utf-8"?>
<p:tagLst xmlns:a="http://schemas.openxmlformats.org/drawingml/2006/main" xmlns:r="http://schemas.openxmlformats.org/officeDocument/2006/relationships" xmlns:p="http://schemas.openxmlformats.org/presentationml/2006/main">
  <p:tag name="THINKCELLSHAPEDONOTDELETE" val="t0vc_cjRgQQRnm1vXVLD6PQ"/>
</p:tagLst>
</file>

<file path=ppt/tags/tag304.xml><?xml version="1.0" encoding="utf-8"?>
<p:tagLst xmlns:a="http://schemas.openxmlformats.org/drawingml/2006/main" xmlns:r="http://schemas.openxmlformats.org/officeDocument/2006/relationships" xmlns:p="http://schemas.openxmlformats.org/presentationml/2006/main">
  <p:tag name="THINKCELLSHAPEDONOTDELETE" val="tW.LWo3TgAjAEwuwkpgtKdA"/>
</p:tagLst>
</file>

<file path=ppt/tags/tag305.xml><?xml version="1.0" encoding="utf-8"?>
<p:tagLst xmlns:a="http://schemas.openxmlformats.org/drawingml/2006/main" xmlns:r="http://schemas.openxmlformats.org/officeDocument/2006/relationships" xmlns:p="http://schemas.openxmlformats.org/presentationml/2006/main">
  <p:tag name="THINKCELLSHAPEDONOTDELETE" val="twMhiwYpl.ydsyy3HJ0iVKg"/>
</p:tagLst>
</file>

<file path=ppt/tags/tag306.xml><?xml version="1.0" encoding="utf-8"?>
<p:tagLst xmlns:a="http://schemas.openxmlformats.org/drawingml/2006/main" xmlns:r="http://schemas.openxmlformats.org/officeDocument/2006/relationships" xmlns:p="http://schemas.openxmlformats.org/presentationml/2006/main">
  <p:tag name="THINKCELLSHAPEDONOTDELETE" val="tGUKx9zJakR7Qb17KwEi0DQ"/>
</p:tagLst>
</file>

<file path=ppt/tags/tag307.xml><?xml version="1.0" encoding="utf-8"?>
<p:tagLst xmlns:a="http://schemas.openxmlformats.org/drawingml/2006/main" xmlns:r="http://schemas.openxmlformats.org/officeDocument/2006/relationships" xmlns:p="http://schemas.openxmlformats.org/presentationml/2006/main">
  <p:tag name="THINKCELLSHAPEDONOTDELETE" val="t_JhNjKwxVERXG7lw6plfgA"/>
</p:tagLst>
</file>

<file path=ppt/tags/tag308.xml><?xml version="1.0" encoding="utf-8"?>
<p:tagLst xmlns:a="http://schemas.openxmlformats.org/drawingml/2006/main" xmlns:r="http://schemas.openxmlformats.org/officeDocument/2006/relationships" xmlns:p="http://schemas.openxmlformats.org/presentationml/2006/main">
  <p:tag name="THINKCELLSHAPEDONOTDELETE" val="tH4DgvOFPluAPX38wVH.MxA"/>
</p:tagLst>
</file>

<file path=ppt/tags/tag309.xml><?xml version="1.0" encoding="utf-8"?>
<p:tagLst xmlns:a="http://schemas.openxmlformats.org/drawingml/2006/main" xmlns:r="http://schemas.openxmlformats.org/officeDocument/2006/relationships" xmlns:p="http://schemas.openxmlformats.org/presentationml/2006/main">
  <p:tag name="THINKCELLSHAPEDONOTDELETE" val="tpMBkoyJT0QP50levVdet.A"/>
</p:tagLst>
</file>

<file path=ppt/tags/tag310.xml><?xml version="1.0" encoding="utf-8"?>
<p:tagLst xmlns:a="http://schemas.openxmlformats.org/drawingml/2006/main" xmlns:r="http://schemas.openxmlformats.org/officeDocument/2006/relationships" xmlns:p="http://schemas.openxmlformats.org/presentationml/2006/main">
  <p:tag name="THINKCELLSHAPEDONOTDELETE" val="tXG1hNr8ePxi61rCyQGn10g"/>
</p:tagLst>
</file>

<file path=ppt/tags/tag311.xml><?xml version="1.0" encoding="utf-8"?>
<p:tagLst xmlns:a="http://schemas.openxmlformats.org/drawingml/2006/main" xmlns:r="http://schemas.openxmlformats.org/officeDocument/2006/relationships" xmlns:p="http://schemas.openxmlformats.org/presentationml/2006/main">
  <p:tag name="THINKCELLSHAPEDONOTDELETE" val="ta0NuzXwe36ffV0tZ8qd1gw"/>
</p:tagLst>
</file>

<file path=ppt/tags/tag312.xml><?xml version="1.0" encoding="utf-8"?>
<p:tagLst xmlns:a="http://schemas.openxmlformats.org/drawingml/2006/main" xmlns:r="http://schemas.openxmlformats.org/officeDocument/2006/relationships" xmlns:p="http://schemas.openxmlformats.org/presentationml/2006/main">
  <p:tag name="THINKCELLSHAPEDONOTDELETE" val="tYUvUMq0BNcCA3QAfCPkHNQ"/>
</p:tagLst>
</file>

<file path=ppt/tags/tag313.xml><?xml version="1.0" encoding="utf-8"?>
<p:tagLst xmlns:a="http://schemas.openxmlformats.org/drawingml/2006/main" xmlns:r="http://schemas.openxmlformats.org/officeDocument/2006/relationships" xmlns:p="http://schemas.openxmlformats.org/presentationml/2006/main">
  <p:tag name="THINKCELLSHAPEDONOTDELETE" val="tf7Hh50R7skLN1E310G00Hg"/>
</p:tagLst>
</file>

<file path=ppt/tags/tag314.xml><?xml version="1.0" encoding="utf-8"?>
<p:tagLst xmlns:a="http://schemas.openxmlformats.org/drawingml/2006/main" xmlns:r="http://schemas.openxmlformats.org/officeDocument/2006/relationships" xmlns:p="http://schemas.openxmlformats.org/presentationml/2006/main">
  <p:tag name="THINKCELLSHAPEDONOTDELETE" val="tg3EsSr6qEUIhCoKjpWX1eA"/>
</p:tagLst>
</file>

<file path=ppt/tags/tag315.xml><?xml version="1.0" encoding="utf-8"?>
<p:tagLst xmlns:a="http://schemas.openxmlformats.org/drawingml/2006/main" xmlns:r="http://schemas.openxmlformats.org/officeDocument/2006/relationships" xmlns:p="http://schemas.openxmlformats.org/presentationml/2006/main">
  <p:tag name="THINKCELLSHAPEDONOTDELETE" val="tkzLHsUWiJWHO2YKBqjwGUQ"/>
</p:tagLst>
</file>

<file path=ppt/tags/tag316.xml><?xml version="1.0" encoding="utf-8"?>
<p:tagLst xmlns:a="http://schemas.openxmlformats.org/drawingml/2006/main" xmlns:r="http://schemas.openxmlformats.org/officeDocument/2006/relationships" xmlns:p="http://schemas.openxmlformats.org/presentationml/2006/main">
  <p:tag name="THINKCELLSHAPEDONOTDELETE" val="t_VO_ocger8g.y6h0a7OcFA"/>
</p:tagLst>
</file>

<file path=ppt/tags/tag317.xml><?xml version="1.0" encoding="utf-8"?>
<p:tagLst xmlns:a="http://schemas.openxmlformats.org/drawingml/2006/main" xmlns:r="http://schemas.openxmlformats.org/officeDocument/2006/relationships" xmlns:p="http://schemas.openxmlformats.org/presentationml/2006/main">
  <p:tag name="THINKCELLSHAPEDONOTDELETE" val="taQdpPXzq6JDzNBVtj0H_8g"/>
</p:tagLst>
</file>

<file path=ppt/tags/tag318.xml><?xml version="1.0" encoding="utf-8"?>
<p:tagLst xmlns:a="http://schemas.openxmlformats.org/drawingml/2006/main" xmlns:r="http://schemas.openxmlformats.org/officeDocument/2006/relationships" xmlns:p="http://schemas.openxmlformats.org/presentationml/2006/main">
  <p:tag name="THINKCELLSHAPEDONOTDELETE" val="tt4ThtC3WPUt5ztBer6AWRg"/>
</p:tagLst>
</file>

<file path=ppt/tags/tag319.xml><?xml version="1.0" encoding="utf-8"?>
<p:tagLst xmlns:a="http://schemas.openxmlformats.org/drawingml/2006/main" xmlns:r="http://schemas.openxmlformats.org/officeDocument/2006/relationships" xmlns:p="http://schemas.openxmlformats.org/presentationml/2006/main">
  <p:tag name="THINKCELLSHAPEDONOTDELETE" val="tf8IigOdO2wXu_0g.HT3X4A"/>
</p:tagLst>
</file>

<file path=ppt/tags/tag320.xml><?xml version="1.0" encoding="utf-8"?>
<p:tagLst xmlns:a="http://schemas.openxmlformats.org/drawingml/2006/main" xmlns:r="http://schemas.openxmlformats.org/officeDocument/2006/relationships" xmlns:p="http://schemas.openxmlformats.org/presentationml/2006/main">
  <p:tag name="THINKCELLSHAPEDONOTDELETE" val="tVyRhG6s8Ibn0U2oDzTe0Ww"/>
</p:tagLst>
</file>

<file path=ppt/tags/tag321.xml><?xml version="1.0" encoding="utf-8"?>
<p:tagLst xmlns:a="http://schemas.openxmlformats.org/drawingml/2006/main" xmlns:r="http://schemas.openxmlformats.org/officeDocument/2006/relationships" xmlns:p="http://schemas.openxmlformats.org/presentationml/2006/main">
  <p:tag name="THINKCELLSHAPEDONOTDELETE" val="tvgkgzr4senA8pSK0a8tRSA"/>
</p:tagLst>
</file>

<file path=ppt/tags/tag322.xml><?xml version="1.0" encoding="utf-8"?>
<p:tagLst xmlns:a="http://schemas.openxmlformats.org/drawingml/2006/main" xmlns:r="http://schemas.openxmlformats.org/officeDocument/2006/relationships" xmlns:p="http://schemas.openxmlformats.org/presentationml/2006/main">
  <p:tag name="THINKCELLSHAPEDONOTDELETE" val="te9jR0WwK6e8asZmoFd0R0Q"/>
</p:tagLst>
</file>

<file path=ppt/tags/tag323.xml><?xml version="1.0" encoding="utf-8"?>
<p:tagLst xmlns:a="http://schemas.openxmlformats.org/drawingml/2006/main" xmlns:r="http://schemas.openxmlformats.org/officeDocument/2006/relationships" xmlns:p="http://schemas.openxmlformats.org/presentationml/2006/main">
  <p:tag name="THINKCELLSHAPEDONOTDELETE" val="t9TOCmi4M5GlpBV1mkDSONg"/>
</p:tagLst>
</file>

<file path=ppt/tags/tag324.xml><?xml version="1.0" encoding="utf-8"?>
<p:tagLst xmlns:a="http://schemas.openxmlformats.org/drawingml/2006/main" xmlns:r="http://schemas.openxmlformats.org/officeDocument/2006/relationships" xmlns:p="http://schemas.openxmlformats.org/presentationml/2006/main">
  <p:tag name="THINKCELLSHAPEDONOTDELETE" val="tYD2TboCC8bb_RGLNDSZnbg"/>
</p:tagLst>
</file>

<file path=ppt/tags/tag325.xml><?xml version="1.0" encoding="utf-8"?>
<p:tagLst xmlns:a="http://schemas.openxmlformats.org/drawingml/2006/main" xmlns:r="http://schemas.openxmlformats.org/officeDocument/2006/relationships" xmlns:p="http://schemas.openxmlformats.org/presentationml/2006/main">
  <p:tag name="THINKCELLSHAPEDONOTDELETE" val="t_DDqscIkRahr3APCRdRbLQ"/>
</p:tagLst>
</file>

<file path=ppt/tags/tag326.xml><?xml version="1.0" encoding="utf-8"?>
<p:tagLst xmlns:a="http://schemas.openxmlformats.org/drawingml/2006/main" xmlns:r="http://schemas.openxmlformats.org/officeDocument/2006/relationships" xmlns:p="http://schemas.openxmlformats.org/presentationml/2006/main">
  <p:tag name="THINKCELLSHAPEDONOTDELETE" val="thy18BLk9PR0cxHwCqkjoMw"/>
</p:tagLst>
</file>

<file path=ppt/tags/tag327.xml><?xml version="1.0" encoding="utf-8"?>
<p:tagLst xmlns:a="http://schemas.openxmlformats.org/drawingml/2006/main" xmlns:r="http://schemas.openxmlformats.org/officeDocument/2006/relationships" xmlns:p="http://schemas.openxmlformats.org/presentationml/2006/main">
  <p:tag name="THINKCELLSHAPEDONOTDELETE" val="tPq6dBFqHNE.z05qCcRF5GA"/>
</p:tagLst>
</file>

<file path=ppt/tags/tag3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29.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330.xml><?xml version="1.0" encoding="utf-8"?>
<p:tagLst xmlns:a="http://schemas.openxmlformats.org/drawingml/2006/main" xmlns:r="http://schemas.openxmlformats.org/officeDocument/2006/relationships" xmlns:p="http://schemas.openxmlformats.org/presentationml/2006/main">
  <p:tag name="HEADER" val="True"/>
</p:tagLst>
</file>

<file path=ppt/tags/tag331.xml><?xml version="1.0" encoding="utf-8"?>
<p:tagLst xmlns:a="http://schemas.openxmlformats.org/drawingml/2006/main" xmlns:r="http://schemas.openxmlformats.org/officeDocument/2006/relationships" xmlns:p="http://schemas.openxmlformats.org/presentationml/2006/main">
  <p:tag name="THINKCELLSHAPEDONOTDELETE" val="t57UTf5KMbBpbZvoX71S_qw"/>
</p:tagLst>
</file>

<file path=ppt/tags/tag332.xml><?xml version="1.0" encoding="utf-8"?>
<p:tagLst xmlns:a="http://schemas.openxmlformats.org/drawingml/2006/main" xmlns:r="http://schemas.openxmlformats.org/officeDocument/2006/relationships" xmlns:p="http://schemas.openxmlformats.org/presentationml/2006/main">
  <p:tag name="THINKCELLSHAPEDONOTDELETE" val="tpq833ILSjIba6_TkzcLJhw"/>
</p:tagLst>
</file>

<file path=ppt/tags/tag333.xml><?xml version="1.0" encoding="utf-8"?>
<p:tagLst xmlns:a="http://schemas.openxmlformats.org/drawingml/2006/main" xmlns:r="http://schemas.openxmlformats.org/officeDocument/2006/relationships" xmlns:p="http://schemas.openxmlformats.org/presentationml/2006/main">
  <p:tag name="THINKCELLSHAPEDONOTDELETE" val="tGeAZZ3lptTbkBsvy.PBodg"/>
</p:tagLst>
</file>

<file path=ppt/tags/tag334.xml><?xml version="1.0" encoding="utf-8"?>
<p:tagLst xmlns:a="http://schemas.openxmlformats.org/drawingml/2006/main" xmlns:r="http://schemas.openxmlformats.org/officeDocument/2006/relationships" xmlns:p="http://schemas.openxmlformats.org/presentationml/2006/main">
  <p:tag name="THINKCELLSHAPEDONOTDELETE" val="t6IrmGqiPrvQiqoRH8m5OSA"/>
</p:tagLst>
</file>

<file path=ppt/tags/tag335.xml><?xml version="1.0" encoding="utf-8"?>
<p:tagLst xmlns:a="http://schemas.openxmlformats.org/drawingml/2006/main" xmlns:r="http://schemas.openxmlformats.org/officeDocument/2006/relationships" xmlns:p="http://schemas.openxmlformats.org/presentationml/2006/main">
  <p:tag name="THINKCELLSHAPEDONOTDELETE" val="tdm44oamBvS8FXlm2APlkjA"/>
</p:tagLst>
</file>

<file path=ppt/tags/tag336.xml><?xml version="1.0" encoding="utf-8"?>
<p:tagLst xmlns:a="http://schemas.openxmlformats.org/drawingml/2006/main" xmlns:r="http://schemas.openxmlformats.org/officeDocument/2006/relationships" xmlns:p="http://schemas.openxmlformats.org/presentationml/2006/main">
  <p:tag name="THINKCELLSHAPEDONOTDELETE" val="tUwKyuda5_QyrFt_Z6Fo6Rw"/>
</p:tagLst>
</file>

<file path=ppt/tags/tag337.xml><?xml version="1.0" encoding="utf-8"?>
<p:tagLst xmlns:a="http://schemas.openxmlformats.org/drawingml/2006/main" xmlns:r="http://schemas.openxmlformats.org/officeDocument/2006/relationships" xmlns:p="http://schemas.openxmlformats.org/presentationml/2006/main">
  <p:tag name="THINKCELLSHAPEDONOTDELETE" val="tfGGEdolt.Tve0zq_.5_i8w"/>
</p:tagLst>
</file>

<file path=ppt/tags/tag338.xml><?xml version="1.0" encoding="utf-8"?>
<p:tagLst xmlns:a="http://schemas.openxmlformats.org/drawingml/2006/main" xmlns:r="http://schemas.openxmlformats.org/officeDocument/2006/relationships" xmlns:p="http://schemas.openxmlformats.org/presentationml/2006/main">
  <p:tag name="THINKCELLSHAPEDONOTDELETE" val="tT2eBK.3__HrsJWibubAJxQ"/>
</p:tagLst>
</file>

<file path=ppt/tags/tag339.xml><?xml version="1.0" encoding="utf-8"?>
<p:tagLst xmlns:a="http://schemas.openxmlformats.org/drawingml/2006/main" xmlns:r="http://schemas.openxmlformats.org/officeDocument/2006/relationships" xmlns:p="http://schemas.openxmlformats.org/presentationml/2006/main">
  <p:tag name="THINKCELLSHAPEDONOTDELETE" val="t.7kMZe_8_qpANwJbiD9dwg"/>
</p:tagLst>
</file>

<file path=ppt/tags/tag340.xml><?xml version="1.0" encoding="utf-8"?>
<p:tagLst xmlns:a="http://schemas.openxmlformats.org/drawingml/2006/main" xmlns:r="http://schemas.openxmlformats.org/officeDocument/2006/relationships" xmlns:p="http://schemas.openxmlformats.org/presentationml/2006/main">
  <p:tag name="THINKCELLSHAPEDONOTDELETE" val="tJnzOpDAg3U48XBUduOqqhg"/>
</p:tagLst>
</file>

<file path=ppt/tags/tag341.xml><?xml version="1.0" encoding="utf-8"?>
<p:tagLst xmlns:a="http://schemas.openxmlformats.org/drawingml/2006/main" xmlns:r="http://schemas.openxmlformats.org/officeDocument/2006/relationships" xmlns:p="http://schemas.openxmlformats.org/presentationml/2006/main">
  <p:tag name="THINKCELLSHAPEDONOTDELETE" val="toIzhk8i2rPe3Fr1oPSKUdg"/>
</p:tagLst>
</file>

<file path=ppt/tags/tag342.xml><?xml version="1.0" encoding="utf-8"?>
<p:tagLst xmlns:a="http://schemas.openxmlformats.org/drawingml/2006/main" xmlns:r="http://schemas.openxmlformats.org/officeDocument/2006/relationships" xmlns:p="http://schemas.openxmlformats.org/presentationml/2006/main">
  <p:tag name="THINKCELLSHAPEDONOTDELETE" val="tuolvCztfMxMPtxY9kybM6g"/>
</p:tagLst>
</file>

<file path=ppt/tags/tag343.xml><?xml version="1.0" encoding="utf-8"?>
<p:tagLst xmlns:a="http://schemas.openxmlformats.org/drawingml/2006/main" xmlns:r="http://schemas.openxmlformats.org/officeDocument/2006/relationships" xmlns:p="http://schemas.openxmlformats.org/presentationml/2006/main">
  <p:tag name="THINKCELLSHAPEDONOTDELETE" val="tklCCyFH5ZPgbzI49a.sHyw"/>
</p:tagLst>
</file>

<file path=ppt/tags/tag344.xml><?xml version="1.0" encoding="utf-8"?>
<p:tagLst xmlns:a="http://schemas.openxmlformats.org/drawingml/2006/main" xmlns:r="http://schemas.openxmlformats.org/officeDocument/2006/relationships" xmlns:p="http://schemas.openxmlformats.org/presentationml/2006/main">
  <p:tag name="THINKCELLSHAPEDONOTDELETE" val="tbY5GEHyQPWSTT.1W2hMCDg"/>
</p:tagLst>
</file>

<file path=ppt/tags/tag345.xml><?xml version="1.0" encoding="utf-8"?>
<p:tagLst xmlns:a="http://schemas.openxmlformats.org/drawingml/2006/main" xmlns:r="http://schemas.openxmlformats.org/officeDocument/2006/relationships" xmlns:p="http://schemas.openxmlformats.org/presentationml/2006/main">
  <p:tag name="THINKCELLSHAPEDONOTDELETE" val="tTeTlUoxlkbNzHCbezzDm0g"/>
</p:tagLst>
</file>

<file path=ppt/tags/tag346.xml><?xml version="1.0" encoding="utf-8"?>
<p:tagLst xmlns:a="http://schemas.openxmlformats.org/drawingml/2006/main" xmlns:r="http://schemas.openxmlformats.org/officeDocument/2006/relationships" xmlns:p="http://schemas.openxmlformats.org/presentationml/2006/main">
  <p:tag name="THINKCELLSHAPEDONOTDELETE" val="tQZEpAiDZWUm4Z5mNlLc67A"/>
</p:tagLst>
</file>

<file path=ppt/tags/tag347.xml><?xml version="1.0" encoding="utf-8"?>
<p:tagLst xmlns:a="http://schemas.openxmlformats.org/drawingml/2006/main" xmlns:r="http://schemas.openxmlformats.org/officeDocument/2006/relationships" xmlns:p="http://schemas.openxmlformats.org/presentationml/2006/main">
  <p:tag name="THINKCELLSHAPEDONOTDELETE" val="t05banpV1xpm569T5izirPw"/>
</p:tagLst>
</file>

<file path=ppt/tags/tag348.xml><?xml version="1.0" encoding="utf-8"?>
<p:tagLst xmlns:a="http://schemas.openxmlformats.org/drawingml/2006/main" xmlns:r="http://schemas.openxmlformats.org/officeDocument/2006/relationships" xmlns:p="http://schemas.openxmlformats.org/presentationml/2006/main">
  <p:tag name="THINKCELLSHAPEDONOTDELETE" val="t5xiKT.TxKwCas5lDNhQhlg"/>
</p:tagLst>
</file>

<file path=ppt/tags/tag349.xml><?xml version="1.0" encoding="utf-8"?>
<p:tagLst xmlns:a="http://schemas.openxmlformats.org/drawingml/2006/main" xmlns:r="http://schemas.openxmlformats.org/officeDocument/2006/relationships" xmlns:p="http://schemas.openxmlformats.org/presentationml/2006/main">
  <p:tag name="THINKCELLSHAPEDONOTDELETE" val="ta5CYGHT.HNj3eO4_Zx1Z.g"/>
</p:tagLst>
</file>

<file path=ppt/tags/tag350.xml><?xml version="1.0" encoding="utf-8"?>
<p:tagLst xmlns:a="http://schemas.openxmlformats.org/drawingml/2006/main" xmlns:r="http://schemas.openxmlformats.org/officeDocument/2006/relationships" xmlns:p="http://schemas.openxmlformats.org/presentationml/2006/main">
  <p:tag name="THINKCELLSHAPEDONOTDELETE" val="t4es391TEFJjZkXP0YdMuyA"/>
</p:tagLst>
</file>

<file path=ppt/tags/tag351.xml><?xml version="1.0" encoding="utf-8"?>
<p:tagLst xmlns:a="http://schemas.openxmlformats.org/drawingml/2006/main" xmlns:r="http://schemas.openxmlformats.org/officeDocument/2006/relationships" xmlns:p="http://schemas.openxmlformats.org/presentationml/2006/main">
  <p:tag name="THINKCELLSHAPEDONOTDELETE" val="tTWIWjo1tnLL7sLkQO7TgKQ"/>
</p:tagLst>
</file>

<file path=ppt/tags/tag352.xml><?xml version="1.0" encoding="utf-8"?>
<p:tagLst xmlns:a="http://schemas.openxmlformats.org/drawingml/2006/main" xmlns:r="http://schemas.openxmlformats.org/officeDocument/2006/relationships" xmlns:p="http://schemas.openxmlformats.org/presentationml/2006/main">
  <p:tag name="THINKCELLSHAPEDONOTDELETE" val="tdfa9N3pnXz7JEoUWbPe9uw"/>
</p:tagLst>
</file>

<file path=ppt/tags/tag353.xml><?xml version="1.0" encoding="utf-8"?>
<p:tagLst xmlns:a="http://schemas.openxmlformats.org/drawingml/2006/main" xmlns:r="http://schemas.openxmlformats.org/officeDocument/2006/relationships" xmlns:p="http://schemas.openxmlformats.org/presentationml/2006/main">
  <p:tag name="THINKCELLSHAPEDONOTDELETE" val="tuzkjX9DJaDZ71QhhbxYGdQ"/>
</p:tagLst>
</file>

<file path=ppt/tags/tag354.xml><?xml version="1.0" encoding="utf-8"?>
<p:tagLst xmlns:a="http://schemas.openxmlformats.org/drawingml/2006/main" xmlns:r="http://schemas.openxmlformats.org/officeDocument/2006/relationships" xmlns:p="http://schemas.openxmlformats.org/presentationml/2006/main">
  <p:tag name="THINKCELLSHAPEDONOTDELETE" val="tzB7E6rjmM97la70xhLJcQg"/>
</p:tagLst>
</file>

<file path=ppt/tags/tag355.xml><?xml version="1.0" encoding="utf-8"?>
<p:tagLst xmlns:a="http://schemas.openxmlformats.org/drawingml/2006/main" xmlns:r="http://schemas.openxmlformats.org/officeDocument/2006/relationships" xmlns:p="http://schemas.openxmlformats.org/presentationml/2006/main">
  <p:tag name="THINKCELLSHAPEDONOTDELETE" val="t_zuiX2e4bL7Lq9n3yZmvtQ"/>
</p:tagLst>
</file>

<file path=ppt/tags/tag356.xml><?xml version="1.0" encoding="utf-8"?>
<p:tagLst xmlns:a="http://schemas.openxmlformats.org/drawingml/2006/main" xmlns:r="http://schemas.openxmlformats.org/officeDocument/2006/relationships" xmlns:p="http://schemas.openxmlformats.org/presentationml/2006/main">
  <p:tag name="THINKCELLSHAPEDONOTDELETE" val="taXDrXEvYG9kuVHGH_hn8QQ"/>
</p:tagLst>
</file>

<file path=ppt/tags/tag357.xml><?xml version="1.0" encoding="utf-8"?>
<p:tagLst xmlns:a="http://schemas.openxmlformats.org/drawingml/2006/main" xmlns:r="http://schemas.openxmlformats.org/officeDocument/2006/relationships" xmlns:p="http://schemas.openxmlformats.org/presentationml/2006/main">
  <p:tag name="THINKCELLSHAPEDONOTDELETE" val="tYUvMrSN6nestcFRsRP_YjA"/>
</p:tagLst>
</file>

<file path=ppt/tags/tag358.xml><?xml version="1.0" encoding="utf-8"?>
<p:tagLst xmlns:a="http://schemas.openxmlformats.org/drawingml/2006/main" xmlns:r="http://schemas.openxmlformats.org/officeDocument/2006/relationships" xmlns:p="http://schemas.openxmlformats.org/presentationml/2006/main">
  <p:tag name="THINKCELLSHAPEDONOTDELETE" val="t6ndJuSJjqVdV3PjGViM_Uw"/>
</p:tagLst>
</file>

<file path=ppt/tags/tag359.xml><?xml version="1.0" encoding="utf-8"?>
<p:tagLst xmlns:a="http://schemas.openxmlformats.org/drawingml/2006/main" xmlns:r="http://schemas.openxmlformats.org/officeDocument/2006/relationships" xmlns:p="http://schemas.openxmlformats.org/presentationml/2006/main">
  <p:tag name="THINKCELLSHAPEDONOTDELETE" val="tlKkOOG0y565QkwvAtYlHtg"/>
</p:tagLst>
</file>

<file path=ppt/tags/tag360.xml><?xml version="1.0" encoding="utf-8"?>
<p:tagLst xmlns:a="http://schemas.openxmlformats.org/drawingml/2006/main" xmlns:r="http://schemas.openxmlformats.org/officeDocument/2006/relationships" xmlns:p="http://schemas.openxmlformats.org/presentationml/2006/main">
  <p:tag name="THINKCELLSHAPEDONOTDELETE" val="tEbq0x6zbHXFmx9AoZbw0vA"/>
</p:tagLst>
</file>

<file path=ppt/tags/tag361.xml><?xml version="1.0" encoding="utf-8"?>
<p:tagLst xmlns:a="http://schemas.openxmlformats.org/drawingml/2006/main" xmlns:r="http://schemas.openxmlformats.org/officeDocument/2006/relationships" xmlns:p="http://schemas.openxmlformats.org/presentationml/2006/main">
  <p:tag name="THINKCELLSHAPEDONOTDELETE" val="twYqF6ugKjGewZGmwN61xjQ"/>
</p:tagLst>
</file>

<file path=ppt/tags/tag362.xml><?xml version="1.0" encoding="utf-8"?>
<p:tagLst xmlns:a="http://schemas.openxmlformats.org/drawingml/2006/main" xmlns:r="http://schemas.openxmlformats.org/officeDocument/2006/relationships" xmlns:p="http://schemas.openxmlformats.org/presentationml/2006/main">
  <p:tag name="THINKCELLSHAPEDONOTDELETE" val="tXHaTm6ocxhoIkH8pMuHSjA"/>
</p:tagLst>
</file>

<file path=ppt/tags/tag363.xml><?xml version="1.0" encoding="utf-8"?>
<p:tagLst xmlns:a="http://schemas.openxmlformats.org/drawingml/2006/main" xmlns:r="http://schemas.openxmlformats.org/officeDocument/2006/relationships" xmlns:p="http://schemas.openxmlformats.org/presentationml/2006/main">
  <p:tag name="THINKCELLSHAPEDONOTDELETE" val="tKs3rQSsUIF1a8Y_0Gyx0sw"/>
</p:tagLst>
</file>

<file path=ppt/tags/tag364.xml><?xml version="1.0" encoding="utf-8"?>
<p:tagLst xmlns:a="http://schemas.openxmlformats.org/drawingml/2006/main" xmlns:r="http://schemas.openxmlformats.org/officeDocument/2006/relationships" xmlns:p="http://schemas.openxmlformats.org/presentationml/2006/main">
  <p:tag name="THINKCELLSHAPEDONOTDELETE" val="tHR6g4TDpnd18YwLuzhjCVg"/>
</p:tagLst>
</file>

<file path=ppt/tags/tag365.xml><?xml version="1.0" encoding="utf-8"?>
<p:tagLst xmlns:a="http://schemas.openxmlformats.org/drawingml/2006/main" xmlns:r="http://schemas.openxmlformats.org/officeDocument/2006/relationships" xmlns:p="http://schemas.openxmlformats.org/presentationml/2006/main">
  <p:tag name="THINKCELLSHAPEDONOTDELETE" val="tK7mPAwehBqvpT9bJkfOu5A"/>
</p:tagLst>
</file>

<file path=ppt/tags/tag366.xml><?xml version="1.0" encoding="utf-8"?>
<p:tagLst xmlns:a="http://schemas.openxmlformats.org/drawingml/2006/main" xmlns:r="http://schemas.openxmlformats.org/officeDocument/2006/relationships" xmlns:p="http://schemas.openxmlformats.org/presentationml/2006/main">
  <p:tag name="THINKCELLSHAPEDONOTDELETE" val="tfQQX.E7ZqmLjQ1YURKp.sw"/>
</p:tagLst>
</file>

<file path=ppt/tags/tag367.xml><?xml version="1.0" encoding="utf-8"?>
<p:tagLst xmlns:a="http://schemas.openxmlformats.org/drawingml/2006/main" xmlns:r="http://schemas.openxmlformats.org/officeDocument/2006/relationships" xmlns:p="http://schemas.openxmlformats.org/presentationml/2006/main">
  <p:tag name="THINKCELLSHAPEDONOTDELETE" val="tdHSzk2ryNdvqgd9d.ncN3A"/>
</p:tagLst>
</file>

<file path=ppt/tags/tag368.xml><?xml version="1.0" encoding="utf-8"?>
<p:tagLst xmlns:a="http://schemas.openxmlformats.org/drawingml/2006/main" xmlns:r="http://schemas.openxmlformats.org/officeDocument/2006/relationships" xmlns:p="http://schemas.openxmlformats.org/presentationml/2006/main">
  <p:tag name="THINKCELLSHAPEDONOTDELETE" val="tddt8XRYyzvsvDeoBb1OSjw"/>
</p:tagLst>
</file>

<file path=ppt/tags/tag369.xml><?xml version="1.0" encoding="utf-8"?>
<p:tagLst xmlns:a="http://schemas.openxmlformats.org/drawingml/2006/main" xmlns:r="http://schemas.openxmlformats.org/officeDocument/2006/relationships" xmlns:p="http://schemas.openxmlformats.org/presentationml/2006/main">
  <p:tag name="THINKCELLSHAPEDONOTDELETE" val="tfU.rfdo4W_GMAlfbogBYCQ"/>
</p:tagLst>
</file>

<file path=ppt/tags/tag370.xml><?xml version="1.0" encoding="utf-8"?>
<p:tagLst xmlns:a="http://schemas.openxmlformats.org/drawingml/2006/main" xmlns:r="http://schemas.openxmlformats.org/officeDocument/2006/relationships" xmlns:p="http://schemas.openxmlformats.org/presentationml/2006/main">
  <p:tag name="THINKCELLSHAPEDONOTDELETE" val="tH40LPokhqT48T07MOqNSxw"/>
</p:tagLst>
</file>

<file path=ppt/tags/tag371.xml><?xml version="1.0" encoding="utf-8"?>
<p:tagLst xmlns:a="http://schemas.openxmlformats.org/drawingml/2006/main" xmlns:r="http://schemas.openxmlformats.org/officeDocument/2006/relationships" xmlns:p="http://schemas.openxmlformats.org/presentationml/2006/main">
  <p:tag name="THINKCELLSHAPEDONOTDELETE" val="tbo96_IbP9K5FhVb7JJaNbQ"/>
</p:tagLst>
</file>

<file path=ppt/tags/tag372.xml><?xml version="1.0" encoding="utf-8"?>
<p:tagLst xmlns:a="http://schemas.openxmlformats.org/drawingml/2006/main" xmlns:r="http://schemas.openxmlformats.org/officeDocument/2006/relationships" xmlns:p="http://schemas.openxmlformats.org/presentationml/2006/main">
  <p:tag name="THINKCELLSHAPEDONOTDELETE" val="tg9DfkkLysgTluzxG_4GNQw"/>
</p:tagLst>
</file>

<file path=ppt/tags/tag373.xml><?xml version="1.0" encoding="utf-8"?>
<p:tagLst xmlns:a="http://schemas.openxmlformats.org/drawingml/2006/main" xmlns:r="http://schemas.openxmlformats.org/officeDocument/2006/relationships" xmlns:p="http://schemas.openxmlformats.org/presentationml/2006/main">
  <p:tag name="THINKCELLSHAPEDONOTDELETE" val="t7YVkFsTS5zbonkvjUBnVIA"/>
</p:tagLst>
</file>

<file path=ppt/tags/tag374.xml><?xml version="1.0" encoding="utf-8"?>
<p:tagLst xmlns:a="http://schemas.openxmlformats.org/drawingml/2006/main" xmlns:r="http://schemas.openxmlformats.org/officeDocument/2006/relationships" xmlns:p="http://schemas.openxmlformats.org/presentationml/2006/main">
  <p:tag name="THINKCELLSHAPEDONOTDELETE" val="tmjER4nFcG87JejLmTKREHw"/>
</p:tagLst>
</file>

<file path=ppt/tags/tag375.xml><?xml version="1.0" encoding="utf-8"?>
<p:tagLst xmlns:a="http://schemas.openxmlformats.org/drawingml/2006/main" xmlns:r="http://schemas.openxmlformats.org/officeDocument/2006/relationships" xmlns:p="http://schemas.openxmlformats.org/presentationml/2006/main">
  <p:tag name="THINKCELLSHAPEDONOTDELETE" val="tVSB7e_5Ho5omA..bJJ69cA"/>
</p:tagLst>
</file>

<file path=ppt/tags/tag376.xml><?xml version="1.0" encoding="utf-8"?>
<p:tagLst xmlns:a="http://schemas.openxmlformats.org/drawingml/2006/main" xmlns:r="http://schemas.openxmlformats.org/officeDocument/2006/relationships" xmlns:p="http://schemas.openxmlformats.org/presentationml/2006/main">
  <p:tag name="THINKCELLSHAPEDONOTDELETE" val="tCCxg3Fq235p8QZPIIIdL8g"/>
</p:tagLst>
</file>

<file path=ppt/tags/tag377.xml><?xml version="1.0" encoding="utf-8"?>
<p:tagLst xmlns:a="http://schemas.openxmlformats.org/drawingml/2006/main" xmlns:r="http://schemas.openxmlformats.org/officeDocument/2006/relationships" xmlns:p="http://schemas.openxmlformats.org/presentationml/2006/main">
  <p:tag name="THINKCELLSHAPEDONOTDELETE" val="tG1YOUIYVHPjpkzTiFxxOjA"/>
</p:tagLst>
</file>

<file path=ppt/tags/tag378.xml><?xml version="1.0" encoding="utf-8"?>
<p:tagLst xmlns:a="http://schemas.openxmlformats.org/drawingml/2006/main" xmlns:r="http://schemas.openxmlformats.org/officeDocument/2006/relationships" xmlns:p="http://schemas.openxmlformats.org/presentationml/2006/main">
  <p:tag name="THINKCELLSHAPEDONOTDELETE" val="tj1tkTm.wFWxuNwuQYAjQqw"/>
</p:tagLst>
</file>

<file path=ppt/tags/tag379.xml><?xml version="1.0" encoding="utf-8"?>
<p:tagLst xmlns:a="http://schemas.openxmlformats.org/drawingml/2006/main" xmlns:r="http://schemas.openxmlformats.org/officeDocument/2006/relationships" xmlns:p="http://schemas.openxmlformats.org/presentationml/2006/main">
  <p:tag name="THINKCELLSHAPEDONOTDELETE" val="tJfDWbOm.qa4MLBHxoA3IBQ"/>
</p:tagLst>
</file>

<file path=ppt/tags/tag380.xml><?xml version="1.0" encoding="utf-8"?>
<p:tagLst xmlns:a="http://schemas.openxmlformats.org/drawingml/2006/main" xmlns:r="http://schemas.openxmlformats.org/officeDocument/2006/relationships" xmlns:p="http://schemas.openxmlformats.org/presentationml/2006/main">
  <p:tag name="THINKCELLSHAPEDONOTDELETE" val="tJ5DgPrYCbxjngJ0FQki5Nw"/>
</p:tagLst>
</file>

<file path=ppt/tags/tag381.xml><?xml version="1.0" encoding="utf-8"?>
<p:tagLst xmlns:a="http://schemas.openxmlformats.org/drawingml/2006/main" xmlns:r="http://schemas.openxmlformats.org/officeDocument/2006/relationships" xmlns:p="http://schemas.openxmlformats.org/presentationml/2006/main">
  <p:tag name="THINKCELLSHAPEDONOTDELETE" val="tV2aFETraJdz7x0qZryZNRg"/>
</p:tagLst>
</file>

<file path=ppt/tags/tag382.xml><?xml version="1.0" encoding="utf-8"?>
<p:tagLst xmlns:a="http://schemas.openxmlformats.org/drawingml/2006/main" xmlns:r="http://schemas.openxmlformats.org/officeDocument/2006/relationships" xmlns:p="http://schemas.openxmlformats.org/presentationml/2006/main">
  <p:tag name="THINKCELLSHAPEDONOTDELETE" val="tuHpSvjxq98bWWCqJ12DUcQ"/>
</p:tagLst>
</file>

<file path=ppt/tags/tag383.xml><?xml version="1.0" encoding="utf-8"?>
<p:tagLst xmlns:a="http://schemas.openxmlformats.org/drawingml/2006/main" xmlns:r="http://schemas.openxmlformats.org/officeDocument/2006/relationships" xmlns:p="http://schemas.openxmlformats.org/presentationml/2006/main">
  <p:tag name="THINKCELLSHAPEDONOTDELETE" val="tbD1GCEjfsYVsXfTPwApPeQ"/>
</p:tagLst>
</file>

<file path=ppt/tags/tag384.xml><?xml version="1.0" encoding="utf-8"?>
<p:tagLst xmlns:a="http://schemas.openxmlformats.org/drawingml/2006/main" xmlns:r="http://schemas.openxmlformats.org/officeDocument/2006/relationships" xmlns:p="http://schemas.openxmlformats.org/presentationml/2006/main">
  <p:tag name="THINKCELLSHAPEDONOTDELETE" val="tpoVuYrnFPxcmS.UUBeg9sg"/>
</p:tagLst>
</file>

<file path=ppt/tags/tag385.xml><?xml version="1.0" encoding="utf-8"?>
<p:tagLst xmlns:a="http://schemas.openxmlformats.org/drawingml/2006/main" xmlns:r="http://schemas.openxmlformats.org/officeDocument/2006/relationships" xmlns:p="http://schemas.openxmlformats.org/presentationml/2006/main">
  <p:tag name="THINKCELLSHAPEDONOTDELETE" val="tnCVGccF0BPesnlWhloP4AQ"/>
</p:tagLst>
</file>

<file path=ppt/tags/tag386.xml><?xml version="1.0" encoding="utf-8"?>
<p:tagLst xmlns:a="http://schemas.openxmlformats.org/drawingml/2006/main" xmlns:r="http://schemas.openxmlformats.org/officeDocument/2006/relationships" xmlns:p="http://schemas.openxmlformats.org/presentationml/2006/main">
  <p:tag name="THINKCELLSHAPEDONOTDELETE" val="tTa441ODxesBaAFqirkAGyg"/>
</p:tagLst>
</file>

<file path=ppt/tags/tag387.xml><?xml version="1.0" encoding="utf-8"?>
<p:tagLst xmlns:a="http://schemas.openxmlformats.org/drawingml/2006/main" xmlns:r="http://schemas.openxmlformats.org/officeDocument/2006/relationships" xmlns:p="http://schemas.openxmlformats.org/presentationml/2006/main">
  <p:tag name="THINKCELLSHAPEDONOTDELETE" val="t3pmujdFUwpgPDLU8zqrmnw"/>
</p:tagLst>
</file>

<file path=ppt/tags/tag388.xml><?xml version="1.0" encoding="utf-8"?>
<p:tagLst xmlns:a="http://schemas.openxmlformats.org/drawingml/2006/main" xmlns:r="http://schemas.openxmlformats.org/officeDocument/2006/relationships" xmlns:p="http://schemas.openxmlformats.org/presentationml/2006/main">
  <p:tag name="THINKCELLSHAPEDONOTDELETE" val="tSl2Gn.ZiTjLfbQiU1M0RQg"/>
</p:tagLst>
</file>

<file path=ppt/tags/tag389.xml><?xml version="1.0" encoding="utf-8"?>
<p:tagLst xmlns:a="http://schemas.openxmlformats.org/drawingml/2006/main" xmlns:r="http://schemas.openxmlformats.org/officeDocument/2006/relationships" xmlns:p="http://schemas.openxmlformats.org/presentationml/2006/main">
  <p:tag name="THINKCELLSHAPEDONOTDELETE" val="tnKq4x4YjjAFGwfxZQpYMbg"/>
</p:tagLst>
</file>

<file path=ppt/tags/tag390.xml><?xml version="1.0" encoding="utf-8"?>
<p:tagLst xmlns:a="http://schemas.openxmlformats.org/drawingml/2006/main" xmlns:r="http://schemas.openxmlformats.org/officeDocument/2006/relationships" xmlns:p="http://schemas.openxmlformats.org/presentationml/2006/main">
  <p:tag name="THINKCELLSHAPEDONOTDELETE" val="tKp.7dkqr9ZwroD3C1R3Q_w"/>
</p:tagLst>
</file>

<file path=ppt/tags/tag391.xml><?xml version="1.0" encoding="utf-8"?>
<p:tagLst xmlns:a="http://schemas.openxmlformats.org/drawingml/2006/main" xmlns:r="http://schemas.openxmlformats.org/officeDocument/2006/relationships" xmlns:p="http://schemas.openxmlformats.org/presentationml/2006/main">
  <p:tag name="THINKCELLSHAPEDONOTDELETE" val="texS._BCc0M_wDA0Cf5l5Lw"/>
</p:tagLst>
</file>

<file path=ppt/tags/tag392.xml><?xml version="1.0" encoding="utf-8"?>
<p:tagLst xmlns:a="http://schemas.openxmlformats.org/drawingml/2006/main" xmlns:r="http://schemas.openxmlformats.org/officeDocument/2006/relationships" xmlns:p="http://schemas.openxmlformats.org/presentationml/2006/main">
  <p:tag name="THINKCELLSHAPEDONOTDELETE" val="twW8ch1ZkVsek_MhX3Tho5g"/>
</p:tagLst>
</file>

<file path=ppt/tags/tag393.xml><?xml version="1.0" encoding="utf-8"?>
<p:tagLst xmlns:a="http://schemas.openxmlformats.org/drawingml/2006/main" xmlns:r="http://schemas.openxmlformats.org/officeDocument/2006/relationships" xmlns:p="http://schemas.openxmlformats.org/presentationml/2006/main">
  <p:tag name="THINKCELLSHAPEDONOTDELETE" val="tgN5u7EKgHQWPycpuLf1vGg"/>
</p:tagLst>
</file>

<file path=ppt/tags/tag394.xml><?xml version="1.0" encoding="utf-8"?>
<p:tagLst xmlns:a="http://schemas.openxmlformats.org/drawingml/2006/main" xmlns:r="http://schemas.openxmlformats.org/officeDocument/2006/relationships" xmlns:p="http://schemas.openxmlformats.org/presentationml/2006/main">
  <p:tag name="THINKCELLSHAPEDONOTDELETE" val="tMIhKtIPeiI6yc_SHrRI4vQ"/>
</p:tagLst>
</file>

<file path=ppt/tags/tag395.xml><?xml version="1.0" encoding="utf-8"?>
<p:tagLst xmlns:a="http://schemas.openxmlformats.org/drawingml/2006/main" xmlns:r="http://schemas.openxmlformats.org/officeDocument/2006/relationships" xmlns:p="http://schemas.openxmlformats.org/presentationml/2006/main">
  <p:tag name="THINKCELLSHAPEDONOTDELETE" val="tvlEknAtEi2P7SocDFrMqvA"/>
</p:tagLst>
</file>

<file path=ppt/tags/tag396.xml><?xml version="1.0" encoding="utf-8"?>
<p:tagLst xmlns:a="http://schemas.openxmlformats.org/drawingml/2006/main" xmlns:r="http://schemas.openxmlformats.org/officeDocument/2006/relationships" xmlns:p="http://schemas.openxmlformats.org/presentationml/2006/main">
  <p:tag name="THINKCELLSHAPEDONOTDELETE" val="tCgFmP24fAgS_G4e70i2fHg"/>
</p:tagLst>
</file>

<file path=ppt/tags/tag397.xml><?xml version="1.0" encoding="utf-8"?>
<p:tagLst xmlns:a="http://schemas.openxmlformats.org/drawingml/2006/main" xmlns:r="http://schemas.openxmlformats.org/officeDocument/2006/relationships" xmlns:p="http://schemas.openxmlformats.org/presentationml/2006/main">
  <p:tag name="THINKCELLSHAPEDONOTDELETE" val="t.N6tuLEllkIIxm6tcu5vUg"/>
</p:tagLst>
</file>

<file path=ppt/tags/tag398.xml><?xml version="1.0" encoding="utf-8"?>
<p:tagLst xmlns:a="http://schemas.openxmlformats.org/drawingml/2006/main" xmlns:r="http://schemas.openxmlformats.org/officeDocument/2006/relationships" xmlns:p="http://schemas.openxmlformats.org/presentationml/2006/main">
  <p:tag name="THINKCELLSHAPEDONOTDELETE" val="tg5OxC9zFGAHMizzlE1zylA"/>
</p:tagLst>
</file>

<file path=ppt/tags/tag399.xml><?xml version="1.0" encoding="utf-8"?>
<p:tagLst xmlns:a="http://schemas.openxmlformats.org/drawingml/2006/main" xmlns:r="http://schemas.openxmlformats.org/officeDocument/2006/relationships" xmlns:p="http://schemas.openxmlformats.org/presentationml/2006/main">
  <p:tag name="THINKCELLSHAPEDONOTDELETE" val="timzN64OquTktnBCu0Ailcg"/>
</p:tagLst>
</file>

<file path=ppt/tags/tag400.xml><?xml version="1.0" encoding="utf-8"?>
<p:tagLst xmlns:a="http://schemas.openxmlformats.org/drawingml/2006/main" xmlns:r="http://schemas.openxmlformats.org/officeDocument/2006/relationships" xmlns:p="http://schemas.openxmlformats.org/presentationml/2006/main">
  <p:tag name="THINKCELLSHAPEDONOTDELETE" val="t652tQpFWT0VFhd1.izontw"/>
</p:tagLst>
</file>

<file path=ppt/tags/tag401.xml><?xml version="1.0" encoding="utf-8"?>
<p:tagLst xmlns:a="http://schemas.openxmlformats.org/drawingml/2006/main" xmlns:r="http://schemas.openxmlformats.org/officeDocument/2006/relationships" xmlns:p="http://schemas.openxmlformats.org/presentationml/2006/main">
  <p:tag name="THINKCELLSHAPEDONOTDELETE" val="tckd7.ByjmCBFR492OADb7A"/>
</p:tagLst>
</file>

<file path=ppt/tags/tag402.xml><?xml version="1.0" encoding="utf-8"?>
<p:tagLst xmlns:a="http://schemas.openxmlformats.org/drawingml/2006/main" xmlns:r="http://schemas.openxmlformats.org/officeDocument/2006/relationships" xmlns:p="http://schemas.openxmlformats.org/presentationml/2006/main">
  <p:tag name="THINKCELLSHAPEDONOTDELETE" val="tW_ZpnrnanOPA78WqscE0og"/>
</p:tagLst>
</file>

<file path=ppt/tags/tag403.xml><?xml version="1.0" encoding="utf-8"?>
<p:tagLst xmlns:a="http://schemas.openxmlformats.org/drawingml/2006/main" xmlns:r="http://schemas.openxmlformats.org/officeDocument/2006/relationships" xmlns:p="http://schemas.openxmlformats.org/presentationml/2006/main">
  <p:tag name="THINKCELLSHAPEDONOTDELETE" val="tY0cpdf1Q2fJ0DYtofRwPCw"/>
</p:tagLst>
</file>

<file path=ppt/tags/tag404.xml><?xml version="1.0" encoding="utf-8"?>
<p:tagLst xmlns:a="http://schemas.openxmlformats.org/drawingml/2006/main" xmlns:r="http://schemas.openxmlformats.org/officeDocument/2006/relationships" xmlns:p="http://schemas.openxmlformats.org/presentationml/2006/main">
  <p:tag name="THINKCELLSHAPEDONOTDELETE" val="tLauoL0W6gt41.vHAzJUUWw"/>
</p:tagLst>
</file>

<file path=ppt/tags/tag405.xml><?xml version="1.0" encoding="utf-8"?>
<p:tagLst xmlns:a="http://schemas.openxmlformats.org/drawingml/2006/main" xmlns:r="http://schemas.openxmlformats.org/officeDocument/2006/relationships" xmlns:p="http://schemas.openxmlformats.org/presentationml/2006/main">
  <p:tag name="THINKCELLSHAPEDONOTDELETE" val="tDjXlzIaYIJsv9KCLGcpXHQ"/>
</p:tagLst>
</file>

<file path=ppt/tags/tag406.xml><?xml version="1.0" encoding="utf-8"?>
<p:tagLst xmlns:a="http://schemas.openxmlformats.org/drawingml/2006/main" xmlns:r="http://schemas.openxmlformats.org/officeDocument/2006/relationships" xmlns:p="http://schemas.openxmlformats.org/presentationml/2006/main">
  <p:tag name="THINKCELLSHAPEDONOTDELETE" val="t1lbR2HPOSsh.p6fbQNn.nQ"/>
</p:tagLst>
</file>

<file path=ppt/tags/tag407.xml><?xml version="1.0" encoding="utf-8"?>
<p:tagLst xmlns:a="http://schemas.openxmlformats.org/drawingml/2006/main" xmlns:r="http://schemas.openxmlformats.org/officeDocument/2006/relationships" xmlns:p="http://schemas.openxmlformats.org/presentationml/2006/main">
  <p:tag name="THINKCELLSHAPEDONOTDELETE" val="tXuObpJRM9rFq.U4M34Ravw"/>
</p:tagLst>
</file>

<file path=ppt/tags/tag408.xml><?xml version="1.0" encoding="utf-8"?>
<p:tagLst xmlns:a="http://schemas.openxmlformats.org/drawingml/2006/main" xmlns:r="http://schemas.openxmlformats.org/officeDocument/2006/relationships" xmlns:p="http://schemas.openxmlformats.org/presentationml/2006/main">
  <p:tag name="THINKCELLSHAPEDONOTDELETE" val="tTlvmdCoW_JTRNcQlKr4kRg"/>
</p:tagLst>
</file>

<file path=ppt/tags/tag409.xml><?xml version="1.0" encoding="utf-8"?>
<p:tagLst xmlns:a="http://schemas.openxmlformats.org/drawingml/2006/main" xmlns:r="http://schemas.openxmlformats.org/officeDocument/2006/relationships" xmlns:p="http://schemas.openxmlformats.org/presentationml/2006/main">
  <p:tag name="THINKCELLSHAPEDONOTDELETE" val="tKjEPL_pRXd3wIwLjezai.A"/>
</p:tagLst>
</file>

<file path=ppt/tags/tag410.xml><?xml version="1.0" encoding="utf-8"?>
<p:tagLst xmlns:a="http://schemas.openxmlformats.org/drawingml/2006/main" xmlns:r="http://schemas.openxmlformats.org/officeDocument/2006/relationships" xmlns:p="http://schemas.openxmlformats.org/presentationml/2006/main">
  <p:tag name="THINKCELLSHAPEDONOTDELETE" val="tYsx19xYVNW7InfDk9Qz4JQ"/>
</p:tagLst>
</file>

<file path=ppt/tags/tag411.xml><?xml version="1.0" encoding="utf-8"?>
<p:tagLst xmlns:a="http://schemas.openxmlformats.org/drawingml/2006/main" xmlns:r="http://schemas.openxmlformats.org/officeDocument/2006/relationships" xmlns:p="http://schemas.openxmlformats.org/presentationml/2006/main">
  <p:tag name="THINKCELLSHAPEDONOTDELETE" val="th.v.j0ULV0rU6o9eAVunOQ"/>
</p:tagLst>
</file>

<file path=ppt/tags/tag412.xml><?xml version="1.0" encoding="utf-8"?>
<p:tagLst xmlns:a="http://schemas.openxmlformats.org/drawingml/2006/main" xmlns:r="http://schemas.openxmlformats.org/officeDocument/2006/relationships" xmlns:p="http://schemas.openxmlformats.org/presentationml/2006/main">
  <p:tag name="THINKCELLSHAPEDONOTDELETE" val="tbwhTOijg_pokpdYht7XtnQ"/>
</p:tagLst>
</file>

<file path=ppt/tags/tag413.xml><?xml version="1.0" encoding="utf-8"?>
<p:tagLst xmlns:a="http://schemas.openxmlformats.org/drawingml/2006/main" xmlns:r="http://schemas.openxmlformats.org/officeDocument/2006/relationships" xmlns:p="http://schemas.openxmlformats.org/presentationml/2006/main">
  <p:tag name="THINKCELLSHAPEDONOTDELETE" val="tdckCVHc8OlSVKTGkPJvW4Q"/>
</p:tagLst>
</file>

<file path=ppt/tags/tag414.xml><?xml version="1.0" encoding="utf-8"?>
<p:tagLst xmlns:a="http://schemas.openxmlformats.org/drawingml/2006/main" xmlns:r="http://schemas.openxmlformats.org/officeDocument/2006/relationships" xmlns:p="http://schemas.openxmlformats.org/presentationml/2006/main">
  <p:tag name="THINKCELLSHAPEDONOTDELETE" val="ttcKnmx84Vhx7n4BM1Vm57w"/>
</p:tagLst>
</file>

<file path=ppt/tags/tag415.xml><?xml version="1.0" encoding="utf-8"?>
<p:tagLst xmlns:a="http://schemas.openxmlformats.org/drawingml/2006/main" xmlns:r="http://schemas.openxmlformats.org/officeDocument/2006/relationships" xmlns:p="http://schemas.openxmlformats.org/presentationml/2006/main">
  <p:tag name="THINKCELLSHAPEDONOTDELETE" val="tFKkJLpANGEMm8TtKuI5Bcg"/>
</p:tagLst>
</file>

<file path=ppt/tags/tag416.xml><?xml version="1.0" encoding="utf-8"?>
<p:tagLst xmlns:a="http://schemas.openxmlformats.org/drawingml/2006/main" xmlns:r="http://schemas.openxmlformats.org/officeDocument/2006/relationships" xmlns:p="http://schemas.openxmlformats.org/presentationml/2006/main">
  <p:tag name="THINKCELLSHAPEDONOTDELETE" val="tR3T6xAwI3E0wfXb47mbfcQ"/>
</p:tagLst>
</file>

<file path=ppt/tags/tag417.xml><?xml version="1.0" encoding="utf-8"?>
<p:tagLst xmlns:a="http://schemas.openxmlformats.org/drawingml/2006/main" xmlns:r="http://schemas.openxmlformats.org/officeDocument/2006/relationships" xmlns:p="http://schemas.openxmlformats.org/presentationml/2006/main">
  <p:tag name="THINKCELLSHAPEDONOTDELETE" val="tzFmu0w29WkGiQufwFkfFmg"/>
</p:tagLst>
</file>

<file path=ppt/tags/tag418.xml><?xml version="1.0" encoding="utf-8"?>
<p:tagLst xmlns:a="http://schemas.openxmlformats.org/drawingml/2006/main" xmlns:r="http://schemas.openxmlformats.org/officeDocument/2006/relationships" xmlns:p="http://schemas.openxmlformats.org/presentationml/2006/main">
  <p:tag name="THINKCELLSHAPEDONOTDELETE" val="tmckETjNajxBOWKBjwySaQw"/>
</p:tagLst>
</file>

<file path=ppt/tags/tag419.xml><?xml version="1.0" encoding="utf-8"?>
<p:tagLst xmlns:a="http://schemas.openxmlformats.org/drawingml/2006/main" xmlns:r="http://schemas.openxmlformats.org/officeDocument/2006/relationships" xmlns:p="http://schemas.openxmlformats.org/presentationml/2006/main">
  <p:tag name="THINKCELLSHAPEDONOTDELETE" val="tUIB8V73Jy.gRjO7xwzJ4Gw"/>
</p:tagLst>
</file>

<file path=ppt/tags/tag420.xml><?xml version="1.0" encoding="utf-8"?>
<p:tagLst xmlns:a="http://schemas.openxmlformats.org/drawingml/2006/main" xmlns:r="http://schemas.openxmlformats.org/officeDocument/2006/relationships" xmlns:p="http://schemas.openxmlformats.org/presentationml/2006/main">
  <p:tag name="THINKCELLSHAPEDONOTDELETE" val="tqgtv_BPy_04gIM_ugTdOEA"/>
</p:tagLst>
</file>

<file path=ppt/tags/tag421.xml><?xml version="1.0" encoding="utf-8"?>
<p:tagLst xmlns:a="http://schemas.openxmlformats.org/drawingml/2006/main" xmlns:r="http://schemas.openxmlformats.org/officeDocument/2006/relationships" xmlns:p="http://schemas.openxmlformats.org/presentationml/2006/main">
  <p:tag name="THINKCELLSHAPEDONOTDELETE" val="tFgVOna1PVQDU4Gb8.ZPM1Q"/>
</p:tagLst>
</file>

<file path=ppt/tags/tag422.xml><?xml version="1.0" encoding="utf-8"?>
<p:tagLst xmlns:a="http://schemas.openxmlformats.org/drawingml/2006/main" xmlns:r="http://schemas.openxmlformats.org/officeDocument/2006/relationships" xmlns:p="http://schemas.openxmlformats.org/presentationml/2006/main">
  <p:tag name="THINKCELLSHAPEDONOTDELETE" val="ty6iYEU2w2ZikIo928pzy7Q"/>
</p:tagLst>
</file>

<file path=ppt/tags/tag423.xml><?xml version="1.0" encoding="utf-8"?>
<p:tagLst xmlns:a="http://schemas.openxmlformats.org/drawingml/2006/main" xmlns:r="http://schemas.openxmlformats.org/officeDocument/2006/relationships" xmlns:p="http://schemas.openxmlformats.org/presentationml/2006/main">
  <p:tag name="THINKCELLSHAPEDONOTDELETE" val="tiIA28Ki2HMyHUTi.puK.sw"/>
</p:tagLst>
</file>

<file path=ppt/tags/tag424.xml><?xml version="1.0" encoding="utf-8"?>
<p:tagLst xmlns:a="http://schemas.openxmlformats.org/drawingml/2006/main" xmlns:r="http://schemas.openxmlformats.org/officeDocument/2006/relationships" xmlns:p="http://schemas.openxmlformats.org/presentationml/2006/main">
  <p:tag name="THINKCELLSHAPEDONOTDELETE" val="t.yU3AOqjsLBSMHcGTEkiNA"/>
</p:tagLst>
</file>

<file path=ppt/tags/tag425.xml><?xml version="1.0" encoding="utf-8"?>
<p:tagLst xmlns:a="http://schemas.openxmlformats.org/drawingml/2006/main" xmlns:r="http://schemas.openxmlformats.org/officeDocument/2006/relationships" xmlns:p="http://schemas.openxmlformats.org/presentationml/2006/main">
  <p:tag name="THINKCELLSHAPEDONOTDELETE" val="tnxlPNTu1un0VDcmQnQKJcQ"/>
</p:tagLst>
</file>

<file path=ppt/tags/tag426.xml><?xml version="1.0" encoding="utf-8"?>
<p:tagLst xmlns:a="http://schemas.openxmlformats.org/drawingml/2006/main" xmlns:r="http://schemas.openxmlformats.org/officeDocument/2006/relationships" xmlns:p="http://schemas.openxmlformats.org/presentationml/2006/main">
  <p:tag name="THINKCELLSHAPEDONOTDELETE" val="tEGsES48DlUFVdQ_Z8f4m_g"/>
</p:tagLst>
</file>

<file path=ppt/tags/tag427.xml><?xml version="1.0" encoding="utf-8"?>
<p:tagLst xmlns:a="http://schemas.openxmlformats.org/drawingml/2006/main" xmlns:r="http://schemas.openxmlformats.org/officeDocument/2006/relationships" xmlns:p="http://schemas.openxmlformats.org/presentationml/2006/main">
  <p:tag name="THINKCELLSHAPEDONOTDELETE" val="tNKf55roAdgoLQ3q5hRoEHQ"/>
</p:tagLst>
</file>

<file path=ppt/tags/tag428.xml><?xml version="1.0" encoding="utf-8"?>
<p:tagLst xmlns:a="http://schemas.openxmlformats.org/drawingml/2006/main" xmlns:r="http://schemas.openxmlformats.org/officeDocument/2006/relationships" xmlns:p="http://schemas.openxmlformats.org/presentationml/2006/main">
  <p:tag name="THINKCELLSHAPEDONOTDELETE" val="tc_W1n9310zdWBhOiGUTguQ"/>
</p:tagLst>
</file>

<file path=ppt/tags/tag429.xml><?xml version="1.0" encoding="utf-8"?>
<p:tagLst xmlns:a="http://schemas.openxmlformats.org/drawingml/2006/main" xmlns:r="http://schemas.openxmlformats.org/officeDocument/2006/relationships" xmlns:p="http://schemas.openxmlformats.org/presentationml/2006/main">
  <p:tag name="THINKCELLSHAPEDONOTDELETE" val="tikOgd.HHu7zCf8fI6nBZdg"/>
</p:tagLst>
</file>

<file path=ppt/tags/tag430.xml><?xml version="1.0" encoding="utf-8"?>
<p:tagLst xmlns:a="http://schemas.openxmlformats.org/drawingml/2006/main" xmlns:r="http://schemas.openxmlformats.org/officeDocument/2006/relationships" xmlns:p="http://schemas.openxmlformats.org/presentationml/2006/main">
  <p:tag name="THINKCELLSHAPEDONOTDELETE" val="tZJHg8MCDj1QrqWutd9S1OQ"/>
</p:tagLst>
</file>

<file path=ppt/tags/tag431.xml><?xml version="1.0" encoding="utf-8"?>
<p:tagLst xmlns:a="http://schemas.openxmlformats.org/drawingml/2006/main" xmlns:r="http://schemas.openxmlformats.org/officeDocument/2006/relationships" xmlns:p="http://schemas.openxmlformats.org/presentationml/2006/main">
  <p:tag name="THINKCELLSHAPEDONOTDELETE" val="tEDTI5Ojx3bgG0R3pYAk0LA"/>
</p:tagLst>
</file>

<file path=ppt/tags/tag432.xml><?xml version="1.0" encoding="utf-8"?>
<p:tagLst xmlns:a="http://schemas.openxmlformats.org/drawingml/2006/main" xmlns:r="http://schemas.openxmlformats.org/officeDocument/2006/relationships" xmlns:p="http://schemas.openxmlformats.org/presentationml/2006/main">
  <p:tag name="THINKCELLSHAPEDONOTDELETE" val="to6iIkIJzXaDCGIAHd49ezw"/>
</p:tagLst>
</file>

<file path=ppt/tags/tag433.xml><?xml version="1.0" encoding="utf-8"?>
<p:tagLst xmlns:a="http://schemas.openxmlformats.org/drawingml/2006/main" xmlns:r="http://schemas.openxmlformats.org/officeDocument/2006/relationships" xmlns:p="http://schemas.openxmlformats.org/presentationml/2006/main">
  <p:tag name="THINKCELLSHAPEDONOTDELETE" val="tLuFKNgxnDqPPsmQCdwlTVw"/>
</p:tagLst>
</file>

<file path=ppt/tags/tag434.xml><?xml version="1.0" encoding="utf-8"?>
<p:tagLst xmlns:a="http://schemas.openxmlformats.org/drawingml/2006/main" xmlns:r="http://schemas.openxmlformats.org/officeDocument/2006/relationships" xmlns:p="http://schemas.openxmlformats.org/presentationml/2006/main">
  <p:tag name="THINKCELLSHAPEDONOTDELETE" val="t67Df60SRkhE5lhsrbkS0uQ"/>
</p:tagLst>
</file>

<file path=ppt/tags/tag435.xml><?xml version="1.0" encoding="utf-8"?>
<p:tagLst xmlns:a="http://schemas.openxmlformats.org/drawingml/2006/main" xmlns:r="http://schemas.openxmlformats.org/officeDocument/2006/relationships" xmlns:p="http://schemas.openxmlformats.org/presentationml/2006/main">
  <p:tag name="THINKCELLSHAPEDONOTDELETE" val="tFMQr_x8X1jPGrzKbUQW.JA"/>
</p:tagLst>
</file>

<file path=ppt/tags/tag436.xml><?xml version="1.0" encoding="utf-8"?>
<p:tagLst xmlns:a="http://schemas.openxmlformats.org/drawingml/2006/main" xmlns:r="http://schemas.openxmlformats.org/officeDocument/2006/relationships" xmlns:p="http://schemas.openxmlformats.org/presentationml/2006/main">
  <p:tag name="THINKCELLSHAPEDONOTDELETE" val="t1Xe1toQkQdUzP8N_U3DN0w"/>
</p:tagLst>
</file>

<file path=ppt/tags/tag437.xml><?xml version="1.0" encoding="utf-8"?>
<p:tagLst xmlns:a="http://schemas.openxmlformats.org/drawingml/2006/main" xmlns:r="http://schemas.openxmlformats.org/officeDocument/2006/relationships" xmlns:p="http://schemas.openxmlformats.org/presentationml/2006/main">
  <p:tag name="THINKCELLSHAPEDONOTDELETE" val="thLnjhdg8rRK9Lyrrx3.oEg"/>
</p:tagLst>
</file>

<file path=ppt/tags/tag438.xml><?xml version="1.0" encoding="utf-8"?>
<p:tagLst xmlns:a="http://schemas.openxmlformats.org/drawingml/2006/main" xmlns:r="http://schemas.openxmlformats.org/officeDocument/2006/relationships" xmlns:p="http://schemas.openxmlformats.org/presentationml/2006/main">
  <p:tag name="THINKCELLSHAPEDONOTDELETE" val="tSx4jyk3MqXMqjmkenIKQ0w"/>
</p:tagLst>
</file>

<file path=ppt/tags/tag439.xml><?xml version="1.0" encoding="utf-8"?>
<p:tagLst xmlns:a="http://schemas.openxmlformats.org/drawingml/2006/main" xmlns:r="http://schemas.openxmlformats.org/officeDocument/2006/relationships" xmlns:p="http://schemas.openxmlformats.org/presentationml/2006/main">
  <p:tag name="THINKCELLSHAPEDONOTDELETE" val="tOMog9oAVfkQvOxVkpmQSlA"/>
</p:tagLst>
</file>

<file path=ppt/tags/tag440.xml><?xml version="1.0" encoding="utf-8"?>
<p:tagLst xmlns:a="http://schemas.openxmlformats.org/drawingml/2006/main" xmlns:r="http://schemas.openxmlformats.org/officeDocument/2006/relationships" xmlns:p="http://schemas.openxmlformats.org/presentationml/2006/main">
  <p:tag name="THINKCELLSHAPEDONOTDELETE" val="tdOQY4b__BN.cDrzEy0d1xA"/>
</p:tagLst>
</file>

<file path=ppt/tags/tag441.xml><?xml version="1.0" encoding="utf-8"?>
<p:tagLst xmlns:a="http://schemas.openxmlformats.org/drawingml/2006/main" xmlns:r="http://schemas.openxmlformats.org/officeDocument/2006/relationships" xmlns:p="http://schemas.openxmlformats.org/presentationml/2006/main">
  <p:tag name="THINKCELLSHAPEDONOTDELETE" val="t.0CDUA5i1GiabfTRRvuZNg"/>
</p:tagLst>
</file>

<file path=ppt/tags/tag442.xml><?xml version="1.0" encoding="utf-8"?>
<p:tagLst xmlns:a="http://schemas.openxmlformats.org/drawingml/2006/main" xmlns:r="http://schemas.openxmlformats.org/officeDocument/2006/relationships" xmlns:p="http://schemas.openxmlformats.org/presentationml/2006/main">
  <p:tag name="THINKCELLSHAPEDONOTDELETE" val="tz1Z.YPXeTZ4ZbrMBcWVsXg"/>
</p:tagLst>
</file>

<file path=ppt/tags/tag443.xml><?xml version="1.0" encoding="utf-8"?>
<p:tagLst xmlns:a="http://schemas.openxmlformats.org/drawingml/2006/main" xmlns:r="http://schemas.openxmlformats.org/officeDocument/2006/relationships" xmlns:p="http://schemas.openxmlformats.org/presentationml/2006/main">
  <p:tag name="THINKCELLSHAPEDONOTDELETE" val="texsfzqc2M_iNtEuzXdSG3A"/>
</p:tagLst>
</file>

<file path=ppt/tags/tag444.xml><?xml version="1.0" encoding="utf-8"?>
<p:tagLst xmlns:a="http://schemas.openxmlformats.org/drawingml/2006/main" xmlns:r="http://schemas.openxmlformats.org/officeDocument/2006/relationships" xmlns:p="http://schemas.openxmlformats.org/presentationml/2006/main">
  <p:tag name="THINKCELLSHAPEDONOTDELETE" val="t9g_P6Uj9t9F5Tm655H4s9A"/>
</p:tagLst>
</file>

<file path=ppt/tags/tag445.xml><?xml version="1.0" encoding="utf-8"?>
<p:tagLst xmlns:a="http://schemas.openxmlformats.org/drawingml/2006/main" xmlns:r="http://schemas.openxmlformats.org/officeDocument/2006/relationships" xmlns:p="http://schemas.openxmlformats.org/presentationml/2006/main">
  <p:tag name="THINKCELLSHAPEDONOTDELETE" val="tgcFouSgHYTrdzRAMJoJd6g"/>
</p:tagLst>
</file>

<file path=ppt/tags/tag446.xml><?xml version="1.0" encoding="utf-8"?>
<p:tagLst xmlns:a="http://schemas.openxmlformats.org/drawingml/2006/main" xmlns:r="http://schemas.openxmlformats.org/officeDocument/2006/relationships" xmlns:p="http://schemas.openxmlformats.org/presentationml/2006/main">
  <p:tag name="THINKCELLSHAPEDONOTDELETE" val="tIhyKO6YvQ6KUmsDgjQVJBg"/>
</p:tagLst>
</file>

<file path=ppt/tags/tag447.xml><?xml version="1.0" encoding="utf-8"?>
<p:tagLst xmlns:a="http://schemas.openxmlformats.org/drawingml/2006/main" xmlns:r="http://schemas.openxmlformats.org/officeDocument/2006/relationships" xmlns:p="http://schemas.openxmlformats.org/presentationml/2006/main">
  <p:tag name="THINKCELLSHAPEDONOTDELETE" val="te2EjaPYSfDdyUATpMQXfBw"/>
</p:tagLst>
</file>

<file path=ppt/tags/tag448.xml><?xml version="1.0" encoding="utf-8"?>
<p:tagLst xmlns:a="http://schemas.openxmlformats.org/drawingml/2006/main" xmlns:r="http://schemas.openxmlformats.org/officeDocument/2006/relationships" xmlns:p="http://schemas.openxmlformats.org/presentationml/2006/main">
  <p:tag name="THINKCELLSHAPEDONOTDELETE" val="tJshPUND_zHmGZKvnMOFT3w"/>
</p:tagLst>
</file>

<file path=ppt/tags/tag449.xml><?xml version="1.0" encoding="utf-8"?>
<p:tagLst xmlns:a="http://schemas.openxmlformats.org/drawingml/2006/main" xmlns:r="http://schemas.openxmlformats.org/officeDocument/2006/relationships" xmlns:p="http://schemas.openxmlformats.org/presentationml/2006/main">
  <p:tag name="THINKCELLSHAPEDONOTDELETE" val="tbG28jL5NP1L.a2A8e0rySA"/>
</p:tagLst>
</file>

<file path=ppt/tags/tag450.xml><?xml version="1.0" encoding="utf-8"?>
<p:tagLst xmlns:a="http://schemas.openxmlformats.org/drawingml/2006/main" xmlns:r="http://schemas.openxmlformats.org/officeDocument/2006/relationships" xmlns:p="http://schemas.openxmlformats.org/presentationml/2006/main">
  <p:tag name="THINKCELLSHAPEDONOTDELETE" val="txEGfUyzG8aXHheRziTHzxA"/>
</p:tagLst>
</file>

<file path=ppt/tags/tag451.xml><?xml version="1.0" encoding="utf-8"?>
<p:tagLst xmlns:a="http://schemas.openxmlformats.org/drawingml/2006/main" xmlns:r="http://schemas.openxmlformats.org/officeDocument/2006/relationships" xmlns:p="http://schemas.openxmlformats.org/presentationml/2006/main">
  <p:tag name="THINKCELLSHAPEDONOTDELETE" val="tDSeTSnNx9XVS8M2AIjYTZw"/>
</p:tagLst>
</file>

<file path=ppt/tags/tag452.xml><?xml version="1.0" encoding="utf-8"?>
<p:tagLst xmlns:a="http://schemas.openxmlformats.org/drawingml/2006/main" xmlns:r="http://schemas.openxmlformats.org/officeDocument/2006/relationships" xmlns:p="http://schemas.openxmlformats.org/presentationml/2006/main">
  <p:tag name="THINKCELLSHAPEDONOTDELETE" val="t8tnNW7LuHwYy2OyY0vhRfQ"/>
</p:tagLst>
</file>

<file path=ppt/tags/tag453.xml><?xml version="1.0" encoding="utf-8"?>
<p:tagLst xmlns:a="http://schemas.openxmlformats.org/drawingml/2006/main" xmlns:r="http://schemas.openxmlformats.org/officeDocument/2006/relationships" xmlns:p="http://schemas.openxmlformats.org/presentationml/2006/main">
  <p:tag name="THINKCELLSHAPEDONOTDELETE" val="tF8LzIGzTc_s3s9g13UNXNA"/>
</p:tagLst>
</file>

<file path=ppt/tags/tag454.xml><?xml version="1.0" encoding="utf-8"?>
<p:tagLst xmlns:a="http://schemas.openxmlformats.org/drawingml/2006/main" xmlns:r="http://schemas.openxmlformats.org/officeDocument/2006/relationships" xmlns:p="http://schemas.openxmlformats.org/presentationml/2006/main">
  <p:tag name="THINKCELLSHAPEDONOTDELETE" val="ty1KKHqkn9GVNhvYxSNuxSQ"/>
</p:tagLst>
</file>

<file path=ppt/tags/tag455.xml><?xml version="1.0" encoding="utf-8"?>
<p:tagLst xmlns:a="http://schemas.openxmlformats.org/drawingml/2006/main" xmlns:r="http://schemas.openxmlformats.org/officeDocument/2006/relationships" xmlns:p="http://schemas.openxmlformats.org/presentationml/2006/main">
  <p:tag name="THINKCELLSHAPEDONOTDELETE" val="tXhMuF8ro9CLIbAiGgxiNgQ"/>
</p:tagLst>
</file>

<file path=ppt/tags/tag456.xml><?xml version="1.0" encoding="utf-8"?>
<p:tagLst xmlns:a="http://schemas.openxmlformats.org/drawingml/2006/main" xmlns:r="http://schemas.openxmlformats.org/officeDocument/2006/relationships" xmlns:p="http://schemas.openxmlformats.org/presentationml/2006/main">
  <p:tag name="THINKCELLSHAPEDONOTDELETE" val="tszTSiWfqeoM1Uvuf82GFTQ"/>
</p:tagLst>
</file>

<file path=ppt/tags/tag457.xml><?xml version="1.0" encoding="utf-8"?>
<p:tagLst xmlns:a="http://schemas.openxmlformats.org/drawingml/2006/main" xmlns:r="http://schemas.openxmlformats.org/officeDocument/2006/relationships" xmlns:p="http://schemas.openxmlformats.org/presentationml/2006/main">
  <p:tag name="THINKCELLSHAPEDONOTDELETE" val="tV2.8iEOjAdIMdqbmfw5zZw"/>
</p:tagLst>
</file>

<file path=ppt/tags/tag458.xml><?xml version="1.0" encoding="utf-8"?>
<p:tagLst xmlns:a="http://schemas.openxmlformats.org/drawingml/2006/main" xmlns:r="http://schemas.openxmlformats.org/officeDocument/2006/relationships" xmlns:p="http://schemas.openxmlformats.org/presentationml/2006/main">
  <p:tag name="THINKCELLSHAPEDONOTDELETE" val="tPbE1p6EwBBiWZoHQk_ih7w"/>
</p:tagLst>
</file>

<file path=ppt/tags/tag459.xml><?xml version="1.0" encoding="utf-8"?>
<p:tagLst xmlns:a="http://schemas.openxmlformats.org/drawingml/2006/main" xmlns:r="http://schemas.openxmlformats.org/officeDocument/2006/relationships" xmlns:p="http://schemas.openxmlformats.org/presentationml/2006/main">
  <p:tag name="THINKCELLSHAPEDONOTDELETE" val="tbWIhH0dis8toPStI.c5klg"/>
</p:tagLst>
</file>

<file path=ppt/tags/tag460.xml><?xml version="1.0" encoding="utf-8"?>
<p:tagLst xmlns:a="http://schemas.openxmlformats.org/drawingml/2006/main" xmlns:r="http://schemas.openxmlformats.org/officeDocument/2006/relationships" xmlns:p="http://schemas.openxmlformats.org/presentationml/2006/main">
  <p:tag name="THINKCELLSHAPEDONOTDELETE" val="t1vId_rb4XmtFHfum8nc3Vg"/>
</p:tagLst>
</file>

<file path=ppt/tags/tag461.xml><?xml version="1.0" encoding="utf-8"?>
<p:tagLst xmlns:a="http://schemas.openxmlformats.org/drawingml/2006/main" xmlns:r="http://schemas.openxmlformats.org/officeDocument/2006/relationships" xmlns:p="http://schemas.openxmlformats.org/presentationml/2006/main">
  <p:tag name="THINKCELLSHAPEDONOTDELETE" val="t2VR.L6.7J2DeRoiLxMgR5g"/>
</p:tagLst>
</file>

<file path=ppt/tags/tag462.xml><?xml version="1.0" encoding="utf-8"?>
<p:tagLst xmlns:a="http://schemas.openxmlformats.org/drawingml/2006/main" xmlns:r="http://schemas.openxmlformats.org/officeDocument/2006/relationships" xmlns:p="http://schemas.openxmlformats.org/presentationml/2006/main">
  <p:tag name="THINKCELLSHAPEDONOTDELETE" val="tSixCRKprNc3xDi5WNHxMmg"/>
</p:tagLst>
</file>

<file path=ppt/tags/tag463.xml><?xml version="1.0" encoding="utf-8"?>
<p:tagLst xmlns:a="http://schemas.openxmlformats.org/drawingml/2006/main" xmlns:r="http://schemas.openxmlformats.org/officeDocument/2006/relationships" xmlns:p="http://schemas.openxmlformats.org/presentationml/2006/main">
  <p:tag name="THINKCELLSHAPEDONOTDELETE" val="tRLTkfQFuKZ6u8BP_pgufnA"/>
</p:tagLst>
</file>

<file path=ppt/tags/tag464.xml><?xml version="1.0" encoding="utf-8"?>
<p:tagLst xmlns:a="http://schemas.openxmlformats.org/drawingml/2006/main" xmlns:r="http://schemas.openxmlformats.org/officeDocument/2006/relationships" xmlns:p="http://schemas.openxmlformats.org/presentationml/2006/main">
  <p:tag name="THINKCELLSHAPEDONOTDELETE" val="t90ZwvHokRsQvopq7ijbPsA"/>
</p:tagLst>
</file>

<file path=ppt/tags/tag465.xml><?xml version="1.0" encoding="utf-8"?>
<p:tagLst xmlns:a="http://schemas.openxmlformats.org/drawingml/2006/main" xmlns:r="http://schemas.openxmlformats.org/officeDocument/2006/relationships" xmlns:p="http://schemas.openxmlformats.org/presentationml/2006/main">
  <p:tag name="THINKCELLSHAPEDONOTDELETE" val="tYuLDpw6gqL8kry_VE1NItw"/>
</p:tagLst>
</file>

<file path=ppt/tags/tag466.xml><?xml version="1.0" encoding="utf-8"?>
<p:tagLst xmlns:a="http://schemas.openxmlformats.org/drawingml/2006/main" xmlns:r="http://schemas.openxmlformats.org/officeDocument/2006/relationships" xmlns:p="http://schemas.openxmlformats.org/presentationml/2006/main">
  <p:tag name="THINKCELLSHAPEDONOTDELETE" val="tmcB2GF1puCFLANJbMb0kgA"/>
</p:tagLst>
</file>

<file path=ppt/tags/tag467.xml><?xml version="1.0" encoding="utf-8"?>
<p:tagLst xmlns:a="http://schemas.openxmlformats.org/drawingml/2006/main" xmlns:r="http://schemas.openxmlformats.org/officeDocument/2006/relationships" xmlns:p="http://schemas.openxmlformats.org/presentationml/2006/main">
  <p:tag name="THINKCELLSHAPEDONOTDELETE" val="tUtgdOsckaIeZCIY_J13yKg"/>
</p:tagLst>
</file>

<file path=ppt/tags/tag468.xml><?xml version="1.0" encoding="utf-8"?>
<p:tagLst xmlns:a="http://schemas.openxmlformats.org/drawingml/2006/main" xmlns:r="http://schemas.openxmlformats.org/officeDocument/2006/relationships" xmlns:p="http://schemas.openxmlformats.org/presentationml/2006/main">
  <p:tag name="THINKCELLSHAPEDONOTDELETE" val="tL.Z3D6n6jcwu8zBqXFlXyg"/>
</p:tagLst>
</file>

<file path=ppt/tags/tag469.xml><?xml version="1.0" encoding="utf-8"?>
<p:tagLst xmlns:a="http://schemas.openxmlformats.org/drawingml/2006/main" xmlns:r="http://schemas.openxmlformats.org/officeDocument/2006/relationships" xmlns:p="http://schemas.openxmlformats.org/presentationml/2006/main">
  <p:tag name="THINKCELLSHAPEDONOTDELETE" val="tXudA5T57QK9aekSq9QDXNg"/>
</p:tagLst>
</file>

<file path=ppt/tags/tag470.xml><?xml version="1.0" encoding="utf-8"?>
<p:tagLst xmlns:a="http://schemas.openxmlformats.org/drawingml/2006/main" xmlns:r="http://schemas.openxmlformats.org/officeDocument/2006/relationships" xmlns:p="http://schemas.openxmlformats.org/presentationml/2006/main">
  <p:tag name="THINKCELLSHAPEDONOTDELETE" val="tSq.dkwnhtETUYx1iZSQBpA"/>
</p:tagLst>
</file>

<file path=ppt/tags/tag471.xml><?xml version="1.0" encoding="utf-8"?>
<p:tagLst xmlns:a="http://schemas.openxmlformats.org/drawingml/2006/main" xmlns:r="http://schemas.openxmlformats.org/officeDocument/2006/relationships" xmlns:p="http://schemas.openxmlformats.org/presentationml/2006/main">
  <p:tag name="THINKCELLSHAPEDONOTDELETE" val="thjmiYRTvgLTw0QuSUWVOOg"/>
</p:tagLst>
</file>

<file path=ppt/tags/tag472.xml><?xml version="1.0" encoding="utf-8"?>
<p:tagLst xmlns:a="http://schemas.openxmlformats.org/drawingml/2006/main" xmlns:r="http://schemas.openxmlformats.org/officeDocument/2006/relationships" xmlns:p="http://schemas.openxmlformats.org/presentationml/2006/main">
  <p:tag name="THINKCELLSHAPEDONOTDELETE" val="tg12N_yVT2yNuX02rvARU1g"/>
</p:tagLst>
</file>

<file path=ppt/tags/tag473.xml><?xml version="1.0" encoding="utf-8"?>
<p:tagLst xmlns:a="http://schemas.openxmlformats.org/drawingml/2006/main" xmlns:r="http://schemas.openxmlformats.org/officeDocument/2006/relationships" xmlns:p="http://schemas.openxmlformats.org/presentationml/2006/main">
  <p:tag name="THINKCELLSHAPEDONOTDELETE" val="tCi4bYTFtp04jQfwTfNSJgQ"/>
</p:tagLst>
</file>

<file path=ppt/tags/tag474.xml><?xml version="1.0" encoding="utf-8"?>
<p:tagLst xmlns:a="http://schemas.openxmlformats.org/drawingml/2006/main" xmlns:r="http://schemas.openxmlformats.org/officeDocument/2006/relationships" xmlns:p="http://schemas.openxmlformats.org/presentationml/2006/main">
  <p:tag name="THINKCELLSHAPEDONOTDELETE" val="t3OKQYRET5TXATPTa0KPKZA"/>
</p:tagLst>
</file>

<file path=ppt/tags/tag475.xml><?xml version="1.0" encoding="utf-8"?>
<p:tagLst xmlns:a="http://schemas.openxmlformats.org/drawingml/2006/main" xmlns:r="http://schemas.openxmlformats.org/officeDocument/2006/relationships" xmlns:p="http://schemas.openxmlformats.org/presentationml/2006/main">
  <p:tag name="THINKCELLSHAPEDONOTDELETE" val="tSqgSAwhS_UnPURautvwxgQ"/>
</p:tagLst>
</file>

<file path=ppt/tags/tag476.xml><?xml version="1.0" encoding="utf-8"?>
<p:tagLst xmlns:a="http://schemas.openxmlformats.org/drawingml/2006/main" xmlns:r="http://schemas.openxmlformats.org/officeDocument/2006/relationships" xmlns:p="http://schemas.openxmlformats.org/presentationml/2006/main">
  <p:tag name="THINKCELLSHAPEDONOTDELETE" val="tBqaLMFh6PD0eytrOfUxlOA"/>
</p:tagLst>
</file>

<file path=ppt/tags/tag477.xml><?xml version="1.0" encoding="utf-8"?>
<p:tagLst xmlns:a="http://schemas.openxmlformats.org/drawingml/2006/main" xmlns:r="http://schemas.openxmlformats.org/officeDocument/2006/relationships" xmlns:p="http://schemas.openxmlformats.org/presentationml/2006/main">
  <p:tag name="THINKCELLSHAPEDONOTDELETE" val="to4.iKmboZutpEEEwJ6gP8Q"/>
</p:tagLst>
</file>

<file path=ppt/tags/tag478.xml><?xml version="1.0" encoding="utf-8"?>
<p:tagLst xmlns:a="http://schemas.openxmlformats.org/drawingml/2006/main" xmlns:r="http://schemas.openxmlformats.org/officeDocument/2006/relationships" xmlns:p="http://schemas.openxmlformats.org/presentationml/2006/main">
  <p:tag name="THINKCELLSHAPEDONOTDELETE" val="t8HLnU4Beja7WJnoOxirSpQ"/>
</p:tagLst>
</file>

<file path=ppt/tags/tag479.xml><?xml version="1.0" encoding="utf-8"?>
<p:tagLst xmlns:a="http://schemas.openxmlformats.org/drawingml/2006/main" xmlns:r="http://schemas.openxmlformats.org/officeDocument/2006/relationships" xmlns:p="http://schemas.openxmlformats.org/presentationml/2006/main">
  <p:tag name="THINKCELLSHAPEDONOTDELETE" val="tS5coF_qX94E4vSuRLhLKtQ"/>
</p:tagLst>
</file>

<file path=ppt/tags/tag480.xml><?xml version="1.0" encoding="utf-8"?>
<p:tagLst xmlns:a="http://schemas.openxmlformats.org/drawingml/2006/main" xmlns:r="http://schemas.openxmlformats.org/officeDocument/2006/relationships" xmlns:p="http://schemas.openxmlformats.org/presentationml/2006/main">
  <p:tag name="THINKCELLSHAPEDONOTDELETE" val="t6IwS8CMte7s5qrkEYz45tw"/>
</p:tagLst>
</file>

<file path=ppt/tags/tag481.xml><?xml version="1.0" encoding="utf-8"?>
<p:tagLst xmlns:a="http://schemas.openxmlformats.org/drawingml/2006/main" xmlns:r="http://schemas.openxmlformats.org/officeDocument/2006/relationships" xmlns:p="http://schemas.openxmlformats.org/presentationml/2006/main">
  <p:tag name="THINKCELLSHAPEDONOTDELETE" val="t58nAvg0UkKH4F3SNta11rg"/>
</p:tagLst>
</file>

<file path=ppt/tags/tag482.xml><?xml version="1.0" encoding="utf-8"?>
<p:tagLst xmlns:a="http://schemas.openxmlformats.org/drawingml/2006/main" xmlns:r="http://schemas.openxmlformats.org/officeDocument/2006/relationships" xmlns:p="http://schemas.openxmlformats.org/presentationml/2006/main">
  <p:tag name="THINKCELLSHAPEDONOTDELETE" val="t_gC0.oeOCuAp07sBAPlVcA"/>
</p:tagLst>
</file>

<file path=ppt/tags/tag483.xml><?xml version="1.0" encoding="utf-8"?>
<p:tagLst xmlns:a="http://schemas.openxmlformats.org/drawingml/2006/main" xmlns:r="http://schemas.openxmlformats.org/officeDocument/2006/relationships" xmlns:p="http://schemas.openxmlformats.org/presentationml/2006/main">
  <p:tag name="THINKCELLSHAPEDONOTDELETE" val="taLjargrlrjBcbHwSYh2XQQ"/>
</p:tagLst>
</file>

<file path=ppt/tags/tag484.xml><?xml version="1.0" encoding="utf-8"?>
<p:tagLst xmlns:a="http://schemas.openxmlformats.org/drawingml/2006/main" xmlns:r="http://schemas.openxmlformats.org/officeDocument/2006/relationships" xmlns:p="http://schemas.openxmlformats.org/presentationml/2006/main">
  <p:tag name="THINKCELLSHAPEDONOTDELETE" val="timgysl0IOzEHek9oBaMavQ"/>
</p:tagLst>
</file>

<file path=ppt/tags/tag485.xml><?xml version="1.0" encoding="utf-8"?>
<p:tagLst xmlns:a="http://schemas.openxmlformats.org/drawingml/2006/main" xmlns:r="http://schemas.openxmlformats.org/officeDocument/2006/relationships" xmlns:p="http://schemas.openxmlformats.org/presentationml/2006/main">
  <p:tag name="THINKCELLSHAPEDONOTDELETE" val="ty_VgGzxTwgTOMfmJeKRKtA"/>
</p:tagLst>
</file>

<file path=ppt/tags/tag486.xml><?xml version="1.0" encoding="utf-8"?>
<p:tagLst xmlns:a="http://schemas.openxmlformats.org/drawingml/2006/main" xmlns:r="http://schemas.openxmlformats.org/officeDocument/2006/relationships" xmlns:p="http://schemas.openxmlformats.org/presentationml/2006/main">
  <p:tag name="THINKCELLSHAPEDONOTDELETE" val="tBIXKMeeL3rVgMJIav3uBPw"/>
</p:tagLst>
</file>

<file path=ppt/tags/tag487.xml><?xml version="1.0" encoding="utf-8"?>
<p:tagLst xmlns:a="http://schemas.openxmlformats.org/drawingml/2006/main" xmlns:r="http://schemas.openxmlformats.org/officeDocument/2006/relationships" xmlns:p="http://schemas.openxmlformats.org/presentationml/2006/main">
  <p:tag name="THINKCELLSHAPEDONOTDELETE" val="ti6tGHIR1Ma1gm5lT5taCbQ"/>
</p:tagLst>
</file>

<file path=ppt/tags/tag488.xml><?xml version="1.0" encoding="utf-8"?>
<p:tagLst xmlns:a="http://schemas.openxmlformats.org/drawingml/2006/main" xmlns:r="http://schemas.openxmlformats.org/officeDocument/2006/relationships" xmlns:p="http://schemas.openxmlformats.org/presentationml/2006/main">
  <p:tag name="THINKCELLSHAPEDONOTDELETE" val="ttQeT0dXJ3yCgempz5w2IVg"/>
</p:tagLst>
</file>

<file path=ppt/tags/tag489.xml><?xml version="1.0" encoding="utf-8"?>
<p:tagLst xmlns:a="http://schemas.openxmlformats.org/drawingml/2006/main" xmlns:r="http://schemas.openxmlformats.org/officeDocument/2006/relationships" xmlns:p="http://schemas.openxmlformats.org/presentationml/2006/main">
  <p:tag name="THINKCELLSHAPEDONOTDELETE" val="tHzejzLEoE2isnCrDkznv1g"/>
</p:tagLst>
</file>

<file path=ppt/tags/tag490.xml><?xml version="1.0" encoding="utf-8"?>
<p:tagLst xmlns:a="http://schemas.openxmlformats.org/drawingml/2006/main" xmlns:r="http://schemas.openxmlformats.org/officeDocument/2006/relationships" xmlns:p="http://schemas.openxmlformats.org/presentationml/2006/main">
  <p:tag name="THINKCELLSHAPEDONOTDELETE" val="tmt1WDyzQf0wBQSnMQ2nUGA"/>
</p:tagLst>
</file>

<file path=ppt/tags/tag491.xml><?xml version="1.0" encoding="utf-8"?>
<p:tagLst xmlns:a="http://schemas.openxmlformats.org/drawingml/2006/main" xmlns:r="http://schemas.openxmlformats.org/officeDocument/2006/relationships" xmlns:p="http://schemas.openxmlformats.org/presentationml/2006/main">
  <p:tag name="THINKCELLSHAPEDONOTDELETE" val="t_T4o0.KvAuPkBTOgHhDskg"/>
</p:tagLst>
</file>

<file path=ppt/tags/tag492.xml><?xml version="1.0" encoding="utf-8"?>
<p:tagLst xmlns:a="http://schemas.openxmlformats.org/drawingml/2006/main" xmlns:r="http://schemas.openxmlformats.org/officeDocument/2006/relationships" xmlns:p="http://schemas.openxmlformats.org/presentationml/2006/main">
  <p:tag name="THINKCELLSHAPEDONOTDELETE" val="tZL.USBKTFMt8LaezcPn2nQ"/>
</p:tagLst>
</file>

<file path=ppt/tags/tag493.xml><?xml version="1.0" encoding="utf-8"?>
<p:tagLst xmlns:a="http://schemas.openxmlformats.org/drawingml/2006/main" xmlns:r="http://schemas.openxmlformats.org/officeDocument/2006/relationships" xmlns:p="http://schemas.openxmlformats.org/presentationml/2006/main">
  <p:tag name="THINKCELLSHAPEDONOTDELETE" val="t3qPmwcVUbS6o1MTBngb2mw"/>
</p:tagLst>
</file>

<file path=ppt/tags/tag494.xml><?xml version="1.0" encoding="utf-8"?>
<p:tagLst xmlns:a="http://schemas.openxmlformats.org/drawingml/2006/main" xmlns:r="http://schemas.openxmlformats.org/officeDocument/2006/relationships" xmlns:p="http://schemas.openxmlformats.org/presentationml/2006/main">
  <p:tag name="THINKCELLSHAPEDONOTDELETE" val="tLG4rsuNbvC0y5EAdzUQkXQ"/>
</p:tagLst>
</file>

<file path=ppt/tags/tag495.xml><?xml version="1.0" encoding="utf-8"?>
<p:tagLst xmlns:a="http://schemas.openxmlformats.org/drawingml/2006/main" xmlns:r="http://schemas.openxmlformats.org/officeDocument/2006/relationships" xmlns:p="http://schemas.openxmlformats.org/presentationml/2006/main">
  <p:tag name="THINKCELLSHAPEDONOTDELETE" val="tndrXtcdYqwcsp_.9shF5nQ"/>
</p:tagLst>
</file>

<file path=ppt/tags/tag496.xml><?xml version="1.0" encoding="utf-8"?>
<p:tagLst xmlns:a="http://schemas.openxmlformats.org/drawingml/2006/main" xmlns:r="http://schemas.openxmlformats.org/officeDocument/2006/relationships" xmlns:p="http://schemas.openxmlformats.org/presentationml/2006/main">
  <p:tag name="THINKCELLSHAPEDONOTDELETE" val="tzSRWao8ZA8RceIw_AvL6RQ"/>
</p:tagLst>
</file>

<file path=ppt/tags/tag497.xml><?xml version="1.0" encoding="utf-8"?>
<p:tagLst xmlns:a="http://schemas.openxmlformats.org/drawingml/2006/main" xmlns:r="http://schemas.openxmlformats.org/officeDocument/2006/relationships" xmlns:p="http://schemas.openxmlformats.org/presentationml/2006/main">
  <p:tag name="THINKCELLSHAPEDONOTDELETE" val="tV5hvl4sfsFQy56rCfY1RAQ"/>
</p:tagLst>
</file>

<file path=ppt/tags/tag498.xml><?xml version="1.0" encoding="utf-8"?>
<p:tagLst xmlns:a="http://schemas.openxmlformats.org/drawingml/2006/main" xmlns:r="http://schemas.openxmlformats.org/officeDocument/2006/relationships" xmlns:p="http://schemas.openxmlformats.org/presentationml/2006/main">
  <p:tag name="THINKCELLSHAPEDONOTDELETE" val="t7Yf78rY4Wjx_nyxer2pr0A"/>
</p:tagLst>
</file>

<file path=ppt/tags/tag499.xml><?xml version="1.0" encoding="utf-8"?>
<p:tagLst xmlns:a="http://schemas.openxmlformats.org/drawingml/2006/main" xmlns:r="http://schemas.openxmlformats.org/officeDocument/2006/relationships" xmlns:p="http://schemas.openxmlformats.org/presentationml/2006/main">
  <p:tag name="THINKCELLSHAPEDONOTDELETE" val="tz9AD13VMsZWX_9xivOgv8Q"/>
</p:tagLst>
</file>

<file path=ppt/tags/tag500.xml><?xml version="1.0" encoding="utf-8"?>
<p:tagLst xmlns:a="http://schemas.openxmlformats.org/drawingml/2006/main" xmlns:r="http://schemas.openxmlformats.org/officeDocument/2006/relationships" xmlns:p="http://schemas.openxmlformats.org/presentationml/2006/main">
  <p:tag name="THINKCELLSHAPEDONOTDELETE" val="tiq9x9VwSUqSNQ54fOZKtyA"/>
</p:tagLst>
</file>

<file path=ppt/tags/tag501.xml><?xml version="1.0" encoding="utf-8"?>
<p:tagLst xmlns:a="http://schemas.openxmlformats.org/drawingml/2006/main" xmlns:r="http://schemas.openxmlformats.org/officeDocument/2006/relationships" xmlns:p="http://schemas.openxmlformats.org/presentationml/2006/main">
  <p:tag name="THINKCELLSHAPEDONOTDELETE" val="tRbhV8gp7R0R0rO_cMaaStw"/>
</p:tagLst>
</file>

<file path=ppt/tags/tag502.xml><?xml version="1.0" encoding="utf-8"?>
<p:tagLst xmlns:a="http://schemas.openxmlformats.org/drawingml/2006/main" xmlns:r="http://schemas.openxmlformats.org/officeDocument/2006/relationships" xmlns:p="http://schemas.openxmlformats.org/presentationml/2006/main">
  <p:tag name="THINKCELLSHAPEDONOTDELETE" val="tskFDtKXtUejjcGRF75Cmbw"/>
</p:tagLst>
</file>

<file path=ppt/tags/tag503.xml><?xml version="1.0" encoding="utf-8"?>
<p:tagLst xmlns:a="http://schemas.openxmlformats.org/drawingml/2006/main" xmlns:r="http://schemas.openxmlformats.org/officeDocument/2006/relationships" xmlns:p="http://schemas.openxmlformats.org/presentationml/2006/main">
  <p:tag name="THINKCELLSHAPEDONOTDELETE" val="tc78sdvmr.psh3ZwTjYmPEQ"/>
</p:tagLst>
</file>

<file path=ppt/tags/tag504.xml><?xml version="1.0" encoding="utf-8"?>
<p:tagLst xmlns:a="http://schemas.openxmlformats.org/drawingml/2006/main" xmlns:r="http://schemas.openxmlformats.org/officeDocument/2006/relationships" xmlns:p="http://schemas.openxmlformats.org/presentationml/2006/main">
  <p:tag name="THINKCELLSHAPEDONOTDELETE" val="t7QpJ3DsNoK6Tv0EEu8Qirw"/>
</p:tagLst>
</file>

<file path=ppt/tags/tag505.xml><?xml version="1.0" encoding="utf-8"?>
<p:tagLst xmlns:a="http://schemas.openxmlformats.org/drawingml/2006/main" xmlns:r="http://schemas.openxmlformats.org/officeDocument/2006/relationships" xmlns:p="http://schemas.openxmlformats.org/presentationml/2006/main">
  <p:tag name="THINKCELLSHAPEDONOTDELETE" val="tXX3rtK6cLePursFfT__eFA"/>
</p:tagLst>
</file>

<file path=ppt/tags/tag506.xml><?xml version="1.0" encoding="utf-8"?>
<p:tagLst xmlns:a="http://schemas.openxmlformats.org/drawingml/2006/main" xmlns:r="http://schemas.openxmlformats.org/officeDocument/2006/relationships" xmlns:p="http://schemas.openxmlformats.org/presentationml/2006/main">
  <p:tag name="THINKCELLSHAPEDONOTDELETE" val="tW4VFWyv4T0dcxf.7XXcPqg"/>
</p:tagLst>
</file>

<file path=ppt/tags/tag507.xml><?xml version="1.0" encoding="utf-8"?>
<p:tagLst xmlns:a="http://schemas.openxmlformats.org/drawingml/2006/main" xmlns:r="http://schemas.openxmlformats.org/officeDocument/2006/relationships" xmlns:p="http://schemas.openxmlformats.org/presentationml/2006/main">
  <p:tag name="THINKCELLSHAPEDONOTDELETE" val="tiqGsrgxSyflV1_A0Kd0gAg"/>
</p:tagLst>
</file>

<file path=ppt/tags/tag508.xml><?xml version="1.0" encoding="utf-8"?>
<p:tagLst xmlns:a="http://schemas.openxmlformats.org/drawingml/2006/main" xmlns:r="http://schemas.openxmlformats.org/officeDocument/2006/relationships" xmlns:p="http://schemas.openxmlformats.org/presentationml/2006/main">
  <p:tag name="THINKCELLSHAPEDONOTDELETE" val="tYedD9jRXx7k9g5HxWxcFog"/>
</p:tagLst>
</file>

<file path=ppt/tags/tag509.xml><?xml version="1.0" encoding="utf-8"?>
<p:tagLst xmlns:a="http://schemas.openxmlformats.org/drawingml/2006/main" xmlns:r="http://schemas.openxmlformats.org/officeDocument/2006/relationships" xmlns:p="http://schemas.openxmlformats.org/presentationml/2006/main">
  <p:tag name="THINKCELLSHAPEDONOTDELETE" val="tn4lvstNB5xlHp1HUW39G6g"/>
</p:tagLst>
</file>

<file path=ppt/tags/tag510.xml><?xml version="1.0" encoding="utf-8"?>
<p:tagLst xmlns:a="http://schemas.openxmlformats.org/drawingml/2006/main" xmlns:r="http://schemas.openxmlformats.org/officeDocument/2006/relationships" xmlns:p="http://schemas.openxmlformats.org/presentationml/2006/main">
  <p:tag name="THINKCELLSHAPEDONOTDELETE" val="t8I5a91rVT6eRcXCzuZ1zQA"/>
</p:tagLst>
</file>

<file path=ppt/tags/tag511.xml><?xml version="1.0" encoding="utf-8"?>
<p:tagLst xmlns:a="http://schemas.openxmlformats.org/drawingml/2006/main" xmlns:r="http://schemas.openxmlformats.org/officeDocument/2006/relationships" xmlns:p="http://schemas.openxmlformats.org/presentationml/2006/main">
  <p:tag name="THINKCELLSHAPEDONOTDELETE" val="tgRinZwGg_2KpclJ1K8AlvQ"/>
</p:tagLst>
</file>

<file path=ppt/tags/tag512.xml><?xml version="1.0" encoding="utf-8"?>
<p:tagLst xmlns:a="http://schemas.openxmlformats.org/drawingml/2006/main" xmlns:r="http://schemas.openxmlformats.org/officeDocument/2006/relationships" xmlns:p="http://schemas.openxmlformats.org/presentationml/2006/main">
  <p:tag name="THINKCELLSHAPEDONOTDELETE" val="tcswEVghUOyTWfau5wThxyg"/>
</p:tagLst>
</file>

<file path=ppt/tags/tag513.xml><?xml version="1.0" encoding="utf-8"?>
<p:tagLst xmlns:a="http://schemas.openxmlformats.org/drawingml/2006/main" xmlns:r="http://schemas.openxmlformats.org/officeDocument/2006/relationships" xmlns:p="http://schemas.openxmlformats.org/presentationml/2006/main">
  <p:tag name="THINKCELLSHAPEDONOTDELETE" val="tkwOyPLIjYvtVLAdKQfGtnw"/>
</p:tagLst>
</file>

<file path=ppt/tags/tag514.xml><?xml version="1.0" encoding="utf-8"?>
<p:tagLst xmlns:a="http://schemas.openxmlformats.org/drawingml/2006/main" xmlns:r="http://schemas.openxmlformats.org/officeDocument/2006/relationships" xmlns:p="http://schemas.openxmlformats.org/presentationml/2006/main">
  <p:tag name="THINKCELLSHAPEDONOTDELETE" val="t_Wzc15aQ.hxHxUNFTKT0SQ"/>
</p:tagLst>
</file>

<file path=ppt/tags/tag515.xml><?xml version="1.0" encoding="utf-8"?>
<p:tagLst xmlns:a="http://schemas.openxmlformats.org/drawingml/2006/main" xmlns:r="http://schemas.openxmlformats.org/officeDocument/2006/relationships" xmlns:p="http://schemas.openxmlformats.org/presentationml/2006/main">
  <p:tag name="THINKCELLSHAPEDONOTDELETE" val="to_M.FnFY.aBGCLikz8gKFA"/>
</p:tagLst>
</file>

<file path=ppt/tags/tag516.xml><?xml version="1.0" encoding="utf-8"?>
<p:tagLst xmlns:a="http://schemas.openxmlformats.org/drawingml/2006/main" xmlns:r="http://schemas.openxmlformats.org/officeDocument/2006/relationships" xmlns:p="http://schemas.openxmlformats.org/presentationml/2006/main">
  <p:tag name="THINKCELLSHAPEDONOTDELETE" val="ttBAmii3g_clFRa9MAFH7pw"/>
</p:tagLst>
</file>

<file path=ppt/tags/tag517.xml><?xml version="1.0" encoding="utf-8"?>
<p:tagLst xmlns:a="http://schemas.openxmlformats.org/drawingml/2006/main" xmlns:r="http://schemas.openxmlformats.org/officeDocument/2006/relationships" xmlns:p="http://schemas.openxmlformats.org/presentationml/2006/main">
  <p:tag name="THINKCELLSHAPEDONOTDELETE" val="tWPGg0pKIXh4djrlpnfmvnw"/>
</p:tagLst>
</file>

<file path=ppt/tags/tag518.xml><?xml version="1.0" encoding="utf-8"?>
<p:tagLst xmlns:a="http://schemas.openxmlformats.org/drawingml/2006/main" xmlns:r="http://schemas.openxmlformats.org/officeDocument/2006/relationships" xmlns:p="http://schemas.openxmlformats.org/presentationml/2006/main">
  <p:tag name="THINKCELLSHAPEDONOTDELETE" val="tCsl807dJEOfkvGT4BBgAGw"/>
</p:tagLst>
</file>

<file path=ppt/tags/tag519.xml><?xml version="1.0" encoding="utf-8"?>
<p:tagLst xmlns:a="http://schemas.openxmlformats.org/drawingml/2006/main" xmlns:r="http://schemas.openxmlformats.org/officeDocument/2006/relationships" xmlns:p="http://schemas.openxmlformats.org/presentationml/2006/main">
  <p:tag name="THINKCELLSHAPEDONOTDELETE" val="tgwtd3zkua4K2ZyAS4Sqd6A"/>
</p:tagLst>
</file>

<file path=ppt/tags/tag520.xml><?xml version="1.0" encoding="utf-8"?>
<p:tagLst xmlns:a="http://schemas.openxmlformats.org/drawingml/2006/main" xmlns:r="http://schemas.openxmlformats.org/officeDocument/2006/relationships" xmlns:p="http://schemas.openxmlformats.org/presentationml/2006/main">
  <p:tag name="THINKCELLSHAPEDONOTDELETE" val="tQoMvht0H5SsdLIUkUP0LEA"/>
</p:tagLst>
</file>

<file path=ppt/tags/tag521.xml><?xml version="1.0" encoding="utf-8"?>
<p:tagLst xmlns:a="http://schemas.openxmlformats.org/drawingml/2006/main" xmlns:r="http://schemas.openxmlformats.org/officeDocument/2006/relationships" xmlns:p="http://schemas.openxmlformats.org/presentationml/2006/main">
  <p:tag name="THINKCELLSHAPEDONOTDELETE" val="tqtGbx4r92BucnFUdXYnmJw"/>
</p:tagLst>
</file>

<file path=ppt/tags/tag522.xml><?xml version="1.0" encoding="utf-8"?>
<p:tagLst xmlns:a="http://schemas.openxmlformats.org/drawingml/2006/main" xmlns:r="http://schemas.openxmlformats.org/officeDocument/2006/relationships" xmlns:p="http://schemas.openxmlformats.org/presentationml/2006/main">
  <p:tag name="THINKCELLSHAPEDONOTDELETE" val="tovtgQJHWZG3xB84JyCBlqg"/>
</p:tagLst>
</file>

<file path=ppt/tags/tag523.xml><?xml version="1.0" encoding="utf-8"?>
<p:tagLst xmlns:a="http://schemas.openxmlformats.org/drawingml/2006/main" xmlns:r="http://schemas.openxmlformats.org/officeDocument/2006/relationships" xmlns:p="http://schemas.openxmlformats.org/presentationml/2006/main">
  <p:tag name="THINKCELLSHAPEDONOTDELETE" val="tXjvLtLstXOFRaIZjdJGYbA"/>
</p:tagLst>
</file>

<file path=ppt/tags/tag524.xml><?xml version="1.0" encoding="utf-8"?>
<p:tagLst xmlns:a="http://schemas.openxmlformats.org/drawingml/2006/main" xmlns:r="http://schemas.openxmlformats.org/officeDocument/2006/relationships" xmlns:p="http://schemas.openxmlformats.org/presentationml/2006/main">
  <p:tag name="THINKCELLSHAPEDONOTDELETE" val="tkZVDOsaoWpUYdlbZGDJVeA"/>
</p:tagLst>
</file>

<file path=ppt/tags/tag525.xml><?xml version="1.0" encoding="utf-8"?>
<p:tagLst xmlns:a="http://schemas.openxmlformats.org/drawingml/2006/main" xmlns:r="http://schemas.openxmlformats.org/officeDocument/2006/relationships" xmlns:p="http://schemas.openxmlformats.org/presentationml/2006/main">
  <p:tag name="THINKCELLSHAPEDONOTDELETE" val="tu_iiS.tDp_eD6_.9As8LhQ"/>
</p:tagLst>
</file>

<file path=ppt/tags/tag526.xml><?xml version="1.0" encoding="utf-8"?>
<p:tagLst xmlns:a="http://schemas.openxmlformats.org/drawingml/2006/main" xmlns:r="http://schemas.openxmlformats.org/officeDocument/2006/relationships" xmlns:p="http://schemas.openxmlformats.org/presentationml/2006/main">
  <p:tag name="THINKCELLSHAPEDONOTDELETE" val="tocQYTDjEngYvYSnGtI17jQ"/>
</p:tagLst>
</file>

<file path=ppt/tags/tag527.xml><?xml version="1.0" encoding="utf-8"?>
<p:tagLst xmlns:a="http://schemas.openxmlformats.org/drawingml/2006/main" xmlns:r="http://schemas.openxmlformats.org/officeDocument/2006/relationships" xmlns:p="http://schemas.openxmlformats.org/presentationml/2006/main">
  <p:tag name="THINKCELLSHAPEDONOTDELETE" val="tx3KLY6V.EyMVd06Ud4tRqw"/>
</p:tagLst>
</file>

<file path=ppt/tags/tag528.xml><?xml version="1.0" encoding="utf-8"?>
<p:tagLst xmlns:a="http://schemas.openxmlformats.org/drawingml/2006/main" xmlns:r="http://schemas.openxmlformats.org/officeDocument/2006/relationships" xmlns:p="http://schemas.openxmlformats.org/presentationml/2006/main">
  <p:tag name="THINKCELLSHAPEDONOTDELETE" val="tkokd8hk3x_SEOgdwrkhIug"/>
</p:tagLst>
</file>

<file path=ppt/tags/tag529.xml><?xml version="1.0" encoding="utf-8"?>
<p:tagLst xmlns:a="http://schemas.openxmlformats.org/drawingml/2006/main" xmlns:r="http://schemas.openxmlformats.org/officeDocument/2006/relationships" xmlns:p="http://schemas.openxmlformats.org/presentationml/2006/main">
  <p:tag name="THINKCELLSHAPEDONOTDELETE" val="t8aTIrWBruyNSB7sxREp3WQ"/>
</p:tagLst>
</file>

<file path=ppt/tags/tag530.xml><?xml version="1.0" encoding="utf-8"?>
<p:tagLst xmlns:a="http://schemas.openxmlformats.org/drawingml/2006/main" xmlns:r="http://schemas.openxmlformats.org/officeDocument/2006/relationships" xmlns:p="http://schemas.openxmlformats.org/presentationml/2006/main">
  <p:tag name="THINKCELLSHAPEDONOTDELETE" val="tTKRx6yk2TGhTlrzmcRHxfw"/>
</p:tagLst>
</file>

<file path=ppt/tags/tag531.xml><?xml version="1.0" encoding="utf-8"?>
<p:tagLst xmlns:a="http://schemas.openxmlformats.org/drawingml/2006/main" xmlns:r="http://schemas.openxmlformats.org/officeDocument/2006/relationships" xmlns:p="http://schemas.openxmlformats.org/presentationml/2006/main">
  <p:tag name="THINKCELLSHAPEDONOTDELETE" val="tfoM2rfDDnElS8dLzRwWlWg"/>
</p:tagLst>
</file>

<file path=ppt/tags/tag532.xml><?xml version="1.0" encoding="utf-8"?>
<p:tagLst xmlns:a="http://schemas.openxmlformats.org/drawingml/2006/main" xmlns:r="http://schemas.openxmlformats.org/officeDocument/2006/relationships" xmlns:p="http://schemas.openxmlformats.org/presentationml/2006/main">
  <p:tag name="THINKCELLSHAPEDONOTDELETE" val="tpGpGwa86xSei6zKufLBhUw"/>
</p:tagLst>
</file>

<file path=ppt/tags/tag533.xml><?xml version="1.0" encoding="utf-8"?>
<p:tagLst xmlns:a="http://schemas.openxmlformats.org/drawingml/2006/main" xmlns:r="http://schemas.openxmlformats.org/officeDocument/2006/relationships" xmlns:p="http://schemas.openxmlformats.org/presentationml/2006/main">
  <p:tag name="THINKCELLSHAPEDONOTDELETE" val="tO0QH8V_t8O5d80qWDtvG6g"/>
</p:tagLst>
</file>

<file path=ppt/tags/tag534.xml><?xml version="1.0" encoding="utf-8"?>
<p:tagLst xmlns:a="http://schemas.openxmlformats.org/drawingml/2006/main" xmlns:r="http://schemas.openxmlformats.org/officeDocument/2006/relationships" xmlns:p="http://schemas.openxmlformats.org/presentationml/2006/main">
  <p:tag name="THINKCELLSHAPEDONOTDELETE" val="tVnyCGxwtpaN_B1ESnKGOBw"/>
</p:tagLst>
</file>

<file path=ppt/tags/tag535.xml><?xml version="1.0" encoding="utf-8"?>
<p:tagLst xmlns:a="http://schemas.openxmlformats.org/drawingml/2006/main" xmlns:r="http://schemas.openxmlformats.org/officeDocument/2006/relationships" xmlns:p="http://schemas.openxmlformats.org/presentationml/2006/main">
  <p:tag name="THINKCELLSHAPEDONOTDELETE" val="tE1Y0AyKpA2nXTq7uZyciBA"/>
</p:tagLst>
</file>

<file path=ppt/tags/tag536.xml><?xml version="1.0" encoding="utf-8"?>
<p:tagLst xmlns:a="http://schemas.openxmlformats.org/drawingml/2006/main" xmlns:r="http://schemas.openxmlformats.org/officeDocument/2006/relationships" xmlns:p="http://schemas.openxmlformats.org/presentationml/2006/main">
  <p:tag name="THINKCELLSHAPEDONOTDELETE" val="t.aWYWc3fh7B3ipsXFFVIZQ"/>
</p:tagLst>
</file>

<file path=ppt/tags/tag537.xml><?xml version="1.0" encoding="utf-8"?>
<p:tagLst xmlns:a="http://schemas.openxmlformats.org/drawingml/2006/main" xmlns:r="http://schemas.openxmlformats.org/officeDocument/2006/relationships" xmlns:p="http://schemas.openxmlformats.org/presentationml/2006/main">
  <p:tag name="THINKCELLSHAPEDONOTDELETE" val="taqOz72AuWrgf5o8PYlaI4Q"/>
</p:tagLst>
</file>

<file path=ppt/tags/tag538.xml><?xml version="1.0" encoding="utf-8"?>
<p:tagLst xmlns:a="http://schemas.openxmlformats.org/drawingml/2006/main" xmlns:r="http://schemas.openxmlformats.org/officeDocument/2006/relationships" xmlns:p="http://schemas.openxmlformats.org/presentationml/2006/main">
  <p:tag name="THINKCELLSHAPEDONOTDELETE" val="tbOGyCse7fzP0tVhl8.HGXQ"/>
</p:tagLst>
</file>

<file path=ppt/tags/tag539.xml><?xml version="1.0" encoding="utf-8"?>
<p:tagLst xmlns:a="http://schemas.openxmlformats.org/drawingml/2006/main" xmlns:r="http://schemas.openxmlformats.org/officeDocument/2006/relationships" xmlns:p="http://schemas.openxmlformats.org/presentationml/2006/main">
  <p:tag name="THINKCELLSHAPEDONOTDELETE" val="t6T2oxMgHNGCovPJDg4Eoag"/>
</p:tagLst>
</file>

<file path=ppt/tags/tag540.xml><?xml version="1.0" encoding="utf-8"?>
<p:tagLst xmlns:a="http://schemas.openxmlformats.org/drawingml/2006/main" xmlns:r="http://schemas.openxmlformats.org/officeDocument/2006/relationships" xmlns:p="http://schemas.openxmlformats.org/presentationml/2006/main">
  <p:tag name="THINKCELLSHAPEDONOTDELETE" val="tHH.eSB1zlf4aMWKIgS2OBw"/>
</p:tagLst>
</file>

<file path=ppt/tags/tag541.xml><?xml version="1.0" encoding="utf-8"?>
<p:tagLst xmlns:a="http://schemas.openxmlformats.org/drawingml/2006/main" xmlns:r="http://schemas.openxmlformats.org/officeDocument/2006/relationships" xmlns:p="http://schemas.openxmlformats.org/presentationml/2006/main">
  <p:tag name="THINKCELLSHAPEDONOTDELETE" val="tDTfBTILp9kH8u7sko6Ozow"/>
</p:tagLst>
</file>

<file path=ppt/tags/tag542.xml><?xml version="1.0" encoding="utf-8"?>
<p:tagLst xmlns:a="http://schemas.openxmlformats.org/drawingml/2006/main" xmlns:r="http://schemas.openxmlformats.org/officeDocument/2006/relationships" xmlns:p="http://schemas.openxmlformats.org/presentationml/2006/main">
  <p:tag name="THINKCELLSHAPEDONOTDELETE" val="tr0FoHc6MwSrhKJ24upbQ2Q"/>
</p:tagLst>
</file>

<file path=ppt/tags/tag54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44.xml><?xml version="1.0" encoding="utf-8"?>
<p:tagLst xmlns:a="http://schemas.openxmlformats.org/drawingml/2006/main" xmlns:r="http://schemas.openxmlformats.org/officeDocument/2006/relationships" xmlns:p="http://schemas.openxmlformats.org/presentationml/2006/main">
  <p:tag name="THINKCELLSHAPEDONOTDELETE" val="tMrgCpLDNQ1AfIV9RENFRsQ"/>
</p:tagLst>
</file>

<file path=ppt/tags/tag5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46.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547.xml><?xml version="1.0" encoding="utf-8"?>
<p:tagLst xmlns:a="http://schemas.openxmlformats.org/drawingml/2006/main" xmlns:r="http://schemas.openxmlformats.org/officeDocument/2006/relationships" xmlns:p="http://schemas.openxmlformats.org/presentationml/2006/main">
  <p:tag name="HEADER" val="True"/>
</p:tagLst>
</file>

<file path=ppt/tags/tag548.xml><?xml version="1.0" encoding="utf-8"?>
<p:tagLst xmlns:a="http://schemas.openxmlformats.org/drawingml/2006/main" xmlns:r="http://schemas.openxmlformats.org/officeDocument/2006/relationships" xmlns:p="http://schemas.openxmlformats.org/presentationml/2006/main">
  <p:tag name="HEADER" val="True"/>
</p:tagLst>
</file>

<file path=ppt/tags/tag549.xml><?xml version="1.0" encoding="utf-8"?>
<p:tagLst xmlns:a="http://schemas.openxmlformats.org/drawingml/2006/main" xmlns:r="http://schemas.openxmlformats.org/officeDocument/2006/relationships" xmlns:p="http://schemas.openxmlformats.org/presentationml/2006/main">
  <p:tag name="THINKCELLSHAPEDONOTDELETE" val="toNdaz5w5f5xd9hhXuDF0cg"/>
</p:tagLst>
</file>

<file path=ppt/tags/tag550.xml><?xml version="1.0" encoding="utf-8"?>
<p:tagLst xmlns:a="http://schemas.openxmlformats.org/drawingml/2006/main" xmlns:r="http://schemas.openxmlformats.org/officeDocument/2006/relationships" xmlns:p="http://schemas.openxmlformats.org/presentationml/2006/main">
  <p:tag name="THINKCELLSHAPEDONOTDELETE" val="tu3wBUHiusIRE5wkKbqDY1Q"/>
</p:tagLst>
</file>

<file path=ppt/tags/tag551.xml><?xml version="1.0" encoding="utf-8"?>
<p:tagLst xmlns:a="http://schemas.openxmlformats.org/drawingml/2006/main" xmlns:r="http://schemas.openxmlformats.org/officeDocument/2006/relationships" xmlns:p="http://schemas.openxmlformats.org/presentationml/2006/main">
  <p:tag name="THINKCELLSHAPEDONOTDELETE" val="tf4mQuaPSf2K29zhFxvq9oQ"/>
</p:tagLst>
</file>

<file path=ppt/tags/tag552.xml><?xml version="1.0" encoding="utf-8"?>
<p:tagLst xmlns:a="http://schemas.openxmlformats.org/drawingml/2006/main" xmlns:r="http://schemas.openxmlformats.org/officeDocument/2006/relationships" xmlns:p="http://schemas.openxmlformats.org/presentationml/2006/main">
  <p:tag name="THINKCELLSHAPEDONOTDELETE" val="tbeDqROoK3YKuU2hNVUdNEw"/>
</p:tagLst>
</file>

<file path=ppt/tags/tag553.xml><?xml version="1.0" encoding="utf-8"?>
<p:tagLst xmlns:a="http://schemas.openxmlformats.org/drawingml/2006/main" xmlns:r="http://schemas.openxmlformats.org/officeDocument/2006/relationships" xmlns:p="http://schemas.openxmlformats.org/presentationml/2006/main">
  <p:tag name="THINKCELLSHAPEDONOTDELETE" val="t8roScjP7VwGnZ1jDwV1C7w"/>
</p:tagLst>
</file>

<file path=ppt/tags/tag554.xml><?xml version="1.0" encoding="utf-8"?>
<p:tagLst xmlns:a="http://schemas.openxmlformats.org/drawingml/2006/main" xmlns:r="http://schemas.openxmlformats.org/officeDocument/2006/relationships" xmlns:p="http://schemas.openxmlformats.org/presentationml/2006/main">
  <p:tag name="THINKCELLSHAPEDONOTDELETE" val="torPMhaIzxeMovNWWnmlNVQ"/>
</p:tagLst>
</file>

<file path=ppt/tags/tag555.xml><?xml version="1.0" encoding="utf-8"?>
<p:tagLst xmlns:a="http://schemas.openxmlformats.org/drawingml/2006/main" xmlns:r="http://schemas.openxmlformats.org/officeDocument/2006/relationships" xmlns:p="http://schemas.openxmlformats.org/presentationml/2006/main">
  <p:tag name="THINKCELLSHAPEDONOTDELETE" val="tkC6IePdQEvT71U.vAeEISQ"/>
</p:tagLst>
</file>

<file path=ppt/tags/tag556.xml><?xml version="1.0" encoding="utf-8"?>
<p:tagLst xmlns:a="http://schemas.openxmlformats.org/drawingml/2006/main" xmlns:r="http://schemas.openxmlformats.org/officeDocument/2006/relationships" xmlns:p="http://schemas.openxmlformats.org/presentationml/2006/main">
  <p:tag name="THINKCELLSHAPEDONOTDELETE" val="tIzIvP5fKpMViwwYbAdLh7g"/>
</p:tagLst>
</file>

<file path=ppt/tags/tag557.xml><?xml version="1.0" encoding="utf-8"?>
<p:tagLst xmlns:a="http://schemas.openxmlformats.org/drawingml/2006/main" xmlns:r="http://schemas.openxmlformats.org/officeDocument/2006/relationships" xmlns:p="http://schemas.openxmlformats.org/presentationml/2006/main">
  <p:tag name="THINKCELLSHAPEDONOTDELETE" val="tUznfJ9RisTvNEsZ_VRvKNA"/>
</p:tagLst>
</file>

<file path=ppt/tags/tag558.xml><?xml version="1.0" encoding="utf-8"?>
<p:tagLst xmlns:a="http://schemas.openxmlformats.org/drawingml/2006/main" xmlns:r="http://schemas.openxmlformats.org/officeDocument/2006/relationships" xmlns:p="http://schemas.openxmlformats.org/presentationml/2006/main">
  <p:tag name="THINKCELLSHAPEDONOTDELETE" val="tB0CfM.EoWyA1ezxBsZc.0g"/>
</p:tagLst>
</file>

<file path=ppt/tags/tag559.xml><?xml version="1.0" encoding="utf-8"?>
<p:tagLst xmlns:a="http://schemas.openxmlformats.org/drawingml/2006/main" xmlns:r="http://schemas.openxmlformats.org/officeDocument/2006/relationships" xmlns:p="http://schemas.openxmlformats.org/presentationml/2006/main">
  <p:tag name="THINKCELLSHAPEDONOTDELETE" val="t3TLSMcGpII3JqWm1dFJFAQ"/>
</p:tagLst>
</file>

<file path=ppt/tags/tag560.xml><?xml version="1.0" encoding="utf-8"?>
<p:tagLst xmlns:a="http://schemas.openxmlformats.org/drawingml/2006/main" xmlns:r="http://schemas.openxmlformats.org/officeDocument/2006/relationships" xmlns:p="http://schemas.openxmlformats.org/presentationml/2006/main">
  <p:tag name="THINKCELLSHAPEDONOTDELETE" val="tZVwHHklx9If9xX9n0Y2XDg"/>
</p:tagLst>
</file>

<file path=ppt/tags/tag561.xml><?xml version="1.0" encoding="utf-8"?>
<p:tagLst xmlns:a="http://schemas.openxmlformats.org/drawingml/2006/main" xmlns:r="http://schemas.openxmlformats.org/officeDocument/2006/relationships" xmlns:p="http://schemas.openxmlformats.org/presentationml/2006/main">
  <p:tag name="THINKCELLSHAPEDONOTDELETE" val="tdwqFbWCGHUW79Je_JPIORQ"/>
</p:tagLst>
</file>

<file path=ppt/tags/tag562.xml><?xml version="1.0" encoding="utf-8"?>
<p:tagLst xmlns:a="http://schemas.openxmlformats.org/drawingml/2006/main" xmlns:r="http://schemas.openxmlformats.org/officeDocument/2006/relationships" xmlns:p="http://schemas.openxmlformats.org/presentationml/2006/main">
  <p:tag name="THINKCELLSHAPEDONOTDELETE" val="tahC.B7zai4izZC6wXDPCxA"/>
</p:tagLst>
</file>

<file path=ppt/tags/tag563.xml><?xml version="1.0" encoding="utf-8"?>
<p:tagLst xmlns:a="http://schemas.openxmlformats.org/drawingml/2006/main" xmlns:r="http://schemas.openxmlformats.org/officeDocument/2006/relationships" xmlns:p="http://schemas.openxmlformats.org/presentationml/2006/main">
  <p:tag name="THINKCELLSHAPEDONOTDELETE" val="tLkj3evdvgC2L24hjxyiX.A"/>
</p:tagLst>
</file>

<file path=ppt/tags/tag564.xml><?xml version="1.0" encoding="utf-8"?>
<p:tagLst xmlns:a="http://schemas.openxmlformats.org/drawingml/2006/main" xmlns:r="http://schemas.openxmlformats.org/officeDocument/2006/relationships" xmlns:p="http://schemas.openxmlformats.org/presentationml/2006/main">
  <p:tag name="THINKCELLSHAPEDONOTDELETE" val="tbYTgANxz.K5Yj5I0SpAFlA"/>
</p:tagLst>
</file>

<file path=ppt/tags/tag565.xml><?xml version="1.0" encoding="utf-8"?>
<p:tagLst xmlns:a="http://schemas.openxmlformats.org/drawingml/2006/main" xmlns:r="http://schemas.openxmlformats.org/officeDocument/2006/relationships" xmlns:p="http://schemas.openxmlformats.org/presentationml/2006/main">
  <p:tag name="THINKCELLSHAPEDONOTDELETE" val="txNAkbfROsljnXDWBQj78wQ"/>
</p:tagLst>
</file>

<file path=ppt/tags/tag566.xml><?xml version="1.0" encoding="utf-8"?>
<p:tagLst xmlns:a="http://schemas.openxmlformats.org/drawingml/2006/main" xmlns:r="http://schemas.openxmlformats.org/officeDocument/2006/relationships" xmlns:p="http://schemas.openxmlformats.org/presentationml/2006/main">
  <p:tag name="THINKCELLSHAPEDONOTDELETE" val="t3UIytT9vTA9rnu_u44uzQw"/>
</p:tagLst>
</file>

<file path=ppt/tags/tag567.xml><?xml version="1.0" encoding="utf-8"?>
<p:tagLst xmlns:a="http://schemas.openxmlformats.org/drawingml/2006/main" xmlns:r="http://schemas.openxmlformats.org/officeDocument/2006/relationships" xmlns:p="http://schemas.openxmlformats.org/presentationml/2006/main">
  <p:tag name="THINKCELLSHAPEDONOTDELETE" val="tovekWGaMcDdxae1PUAQ20A"/>
</p:tagLst>
</file>

<file path=ppt/tags/tag568.xml><?xml version="1.0" encoding="utf-8"?>
<p:tagLst xmlns:a="http://schemas.openxmlformats.org/drawingml/2006/main" xmlns:r="http://schemas.openxmlformats.org/officeDocument/2006/relationships" xmlns:p="http://schemas.openxmlformats.org/presentationml/2006/main">
  <p:tag name="THINKCELLSHAPEDONOTDELETE" val="tgpeOqbsPZkE2_aoJQJZNfw"/>
</p:tagLst>
</file>

<file path=ppt/tags/tag569.xml><?xml version="1.0" encoding="utf-8"?>
<p:tagLst xmlns:a="http://schemas.openxmlformats.org/drawingml/2006/main" xmlns:r="http://schemas.openxmlformats.org/officeDocument/2006/relationships" xmlns:p="http://schemas.openxmlformats.org/presentationml/2006/main">
  <p:tag name="THINKCELLSHAPEDONOTDELETE" val="tModmJ_YPfeEXaq1LnPOX5w"/>
</p:tagLst>
</file>

<file path=ppt/tags/tag570.xml><?xml version="1.0" encoding="utf-8"?>
<p:tagLst xmlns:a="http://schemas.openxmlformats.org/drawingml/2006/main" xmlns:r="http://schemas.openxmlformats.org/officeDocument/2006/relationships" xmlns:p="http://schemas.openxmlformats.org/presentationml/2006/main">
  <p:tag name="THINKCELLSHAPEDONOTDELETE" val="tqkztNFs9i8HKB_mhL4dmVw"/>
</p:tagLst>
</file>

<file path=ppt/tags/tag571.xml><?xml version="1.0" encoding="utf-8"?>
<p:tagLst xmlns:a="http://schemas.openxmlformats.org/drawingml/2006/main" xmlns:r="http://schemas.openxmlformats.org/officeDocument/2006/relationships" xmlns:p="http://schemas.openxmlformats.org/presentationml/2006/main">
  <p:tag name="THINKCELLSHAPEDONOTDELETE" val="tJKs2o8I9ZNbVFsYTa7nKHw"/>
</p:tagLst>
</file>

<file path=ppt/tags/tag572.xml><?xml version="1.0" encoding="utf-8"?>
<p:tagLst xmlns:a="http://schemas.openxmlformats.org/drawingml/2006/main" xmlns:r="http://schemas.openxmlformats.org/officeDocument/2006/relationships" xmlns:p="http://schemas.openxmlformats.org/presentationml/2006/main">
  <p:tag name="THINKCELLSHAPEDONOTDELETE" val="taYfK1Blsx6ahrBi5YbkWtA"/>
</p:tagLst>
</file>

<file path=ppt/tags/tag573.xml><?xml version="1.0" encoding="utf-8"?>
<p:tagLst xmlns:a="http://schemas.openxmlformats.org/drawingml/2006/main" xmlns:r="http://schemas.openxmlformats.org/officeDocument/2006/relationships" xmlns:p="http://schemas.openxmlformats.org/presentationml/2006/main">
  <p:tag name="THINKCELLSHAPEDONOTDELETE" val="tkp_JG2CwB8fToWHM73NKIw"/>
</p:tagLst>
</file>

<file path=ppt/tags/tag574.xml><?xml version="1.0" encoding="utf-8"?>
<p:tagLst xmlns:a="http://schemas.openxmlformats.org/drawingml/2006/main" xmlns:r="http://schemas.openxmlformats.org/officeDocument/2006/relationships" xmlns:p="http://schemas.openxmlformats.org/presentationml/2006/main">
  <p:tag name="THINKCELLSHAPEDONOTDELETE" val="trOzsI.rsxeIxshqauAyutQ"/>
</p:tagLst>
</file>

<file path=ppt/tags/tag575.xml><?xml version="1.0" encoding="utf-8"?>
<p:tagLst xmlns:a="http://schemas.openxmlformats.org/drawingml/2006/main" xmlns:r="http://schemas.openxmlformats.org/officeDocument/2006/relationships" xmlns:p="http://schemas.openxmlformats.org/presentationml/2006/main">
  <p:tag name="THINKCELLSHAPEDONOTDELETE" val="tOFojBIGfoKGYH7GFZgZL0g"/>
</p:tagLst>
</file>

<file path=ppt/tags/tag576.xml><?xml version="1.0" encoding="utf-8"?>
<p:tagLst xmlns:a="http://schemas.openxmlformats.org/drawingml/2006/main" xmlns:r="http://schemas.openxmlformats.org/officeDocument/2006/relationships" xmlns:p="http://schemas.openxmlformats.org/presentationml/2006/main">
  <p:tag name="THINKCELLSHAPEDONOTDELETE" val="tBCKhyAdPKcY9tl30I_v1Zw"/>
</p:tagLst>
</file>

<file path=ppt/tags/tag577.xml><?xml version="1.0" encoding="utf-8"?>
<p:tagLst xmlns:a="http://schemas.openxmlformats.org/drawingml/2006/main" xmlns:r="http://schemas.openxmlformats.org/officeDocument/2006/relationships" xmlns:p="http://schemas.openxmlformats.org/presentationml/2006/main">
  <p:tag name="THINKCELLSHAPEDONOTDELETE" val="tFJGsmAgOrpEC_t7XlgdBxQ"/>
</p:tagLst>
</file>

<file path=ppt/tags/tag578.xml><?xml version="1.0" encoding="utf-8"?>
<p:tagLst xmlns:a="http://schemas.openxmlformats.org/drawingml/2006/main" xmlns:r="http://schemas.openxmlformats.org/officeDocument/2006/relationships" xmlns:p="http://schemas.openxmlformats.org/presentationml/2006/main">
  <p:tag name="THINKCELLSHAPEDONOTDELETE" val="tvrFrfPMvlZTkepTd1sY58g"/>
</p:tagLst>
</file>

<file path=ppt/tags/tag579.xml><?xml version="1.0" encoding="utf-8"?>
<p:tagLst xmlns:a="http://schemas.openxmlformats.org/drawingml/2006/main" xmlns:r="http://schemas.openxmlformats.org/officeDocument/2006/relationships" xmlns:p="http://schemas.openxmlformats.org/presentationml/2006/main">
  <p:tag name="THINKCELLSHAPEDONOTDELETE" val="tjdhRZNGeOevt1fuP8MYdPA"/>
</p:tagLst>
</file>

<file path=ppt/tags/tag580.xml><?xml version="1.0" encoding="utf-8"?>
<p:tagLst xmlns:a="http://schemas.openxmlformats.org/drawingml/2006/main" xmlns:r="http://schemas.openxmlformats.org/officeDocument/2006/relationships" xmlns:p="http://schemas.openxmlformats.org/presentationml/2006/main">
  <p:tag name="THINKCELLSHAPEDONOTDELETE" val="t5N7w3jf22g9DJ6EIDtfs1w"/>
</p:tagLst>
</file>

<file path=ppt/tags/tag581.xml><?xml version="1.0" encoding="utf-8"?>
<p:tagLst xmlns:a="http://schemas.openxmlformats.org/drawingml/2006/main" xmlns:r="http://schemas.openxmlformats.org/officeDocument/2006/relationships" xmlns:p="http://schemas.openxmlformats.org/presentationml/2006/main">
  <p:tag name="THINKCELLSHAPEDONOTDELETE" val="tb4L3XiAorGkLF0B2FLiKjA"/>
</p:tagLst>
</file>

<file path=ppt/tags/tag582.xml><?xml version="1.0" encoding="utf-8"?>
<p:tagLst xmlns:a="http://schemas.openxmlformats.org/drawingml/2006/main" xmlns:r="http://schemas.openxmlformats.org/officeDocument/2006/relationships" xmlns:p="http://schemas.openxmlformats.org/presentationml/2006/main">
  <p:tag name="THINKCELLSHAPEDONOTDELETE" val="tehvJdnO2w6pdjG9uvlJm1A"/>
</p:tagLst>
</file>

<file path=ppt/tags/tag583.xml><?xml version="1.0" encoding="utf-8"?>
<p:tagLst xmlns:a="http://schemas.openxmlformats.org/drawingml/2006/main" xmlns:r="http://schemas.openxmlformats.org/officeDocument/2006/relationships" xmlns:p="http://schemas.openxmlformats.org/presentationml/2006/main">
  <p:tag name="THINKCELLSHAPEDONOTDELETE" val="tQPZ6vuVFmm0IkOuCJhbKDA"/>
</p:tagLst>
</file>

<file path=ppt/tags/tag584.xml><?xml version="1.0" encoding="utf-8"?>
<p:tagLst xmlns:a="http://schemas.openxmlformats.org/drawingml/2006/main" xmlns:r="http://schemas.openxmlformats.org/officeDocument/2006/relationships" xmlns:p="http://schemas.openxmlformats.org/presentationml/2006/main">
  <p:tag name="THINKCELLSHAPEDONOTDELETE" val="tePEO.nSDij79IECy43lHwg"/>
</p:tagLst>
</file>

<file path=ppt/tags/tag585.xml><?xml version="1.0" encoding="utf-8"?>
<p:tagLst xmlns:a="http://schemas.openxmlformats.org/drawingml/2006/main" xmlns:r="http://schemas.openxmlformats.org/officeDocument/2006/relationships" xmlns:p="http://schemas.openxmlformats.org/presentationml/2006/main">
  <p:tag name="THINKCELLSHAPEDONOTDELETE" val="t6CGLyOxYiMT0dYwbkkB7bA"/>
</p:tagLst>
</file>

<file path=ppt/tags/tag586.xml><?xml version="1.0" encoding="utf-8"?>
<p:tagLst xmlns:a="http://schemas.openxmlformats.org/drawingml/2006/main" xmlns:r="http://schemas.openxmlformats.org/officeDocument/2006/relationships" xmlns:p="http://schemas.openxmlformats.org/presentationml/2006/main">
  <p:tag name="THINKCELLSHAPEDONOTDELETE" val="tiHYI8FgspSSc8lM8AaICnA"/>
</p:tagLst>
</file>

<file path=ppt/tags/tag587.xml><?xml version="1.0" encoding="utf-8"?>
<p:tagLst xmlns:a="http://schemas.openxmlformats.org/drawingml/2006/main" xmlns:r="http://schemas.openxmlformats.org/officeDocument/2006/relationships" xmlns:p="http://schemas.openxmlformats.org/presentationml/2006/main">
  <p:tag name="THINKCELLSHAPEDONOTDELETE" val="tTOpRpw4gii5knP.aE0sBeA"/>
</p:tagLst>
</file>

<file path=ppt/tags/tag588.xml><?xml version="1.0" encoding="utf-8"?>
<p:tagLst xmlns:a="http://schemas.openxmlformats.org/drawingml/2006/main" xmlns:r="http://schemas.openxmlformats.org/officeDocument/2006/relationships" xmlns:p="http://schemas.openxmlformats.org/presentationml/2006/main">
  <p:tag name="THINKCELLSHAPEDONOTDELETE" val="tiPeORSozyYvKwJ7tCiZOwg"/>
</p:tagLst>
</file>

<file path=ppt/tags/tag589.xml><?xml version="1.0" encoding="utf-8"?>
<p:tagLst xmlns:a="http://schemas.openxmlformats.org/drawingml/2006/main" xmlns:r="http://schemas.openxmlformats.org/officeDocument/2006/relationships" xmlns:p="http://schemas.openxmlformats.org/presentationml/2006/main">
  <p:tag name="THINKCELLSHAPEDONOTDELETE" val="tk9YEDyuEO9wkzl_x8zt4dg"/>
</p:tagLst>
</file>

<file path=ppt/tags/tag590.xml><?xml version="1.0" encoding="utf-8"?>
<p:tagLst xmlns:a="http://schemas.openxmlformats.org/drawingml/2006/main" xmlns:r="http://schemas.openxmlformats.org/officeDocument/2006/relationships" xmlns:p="http://schemas.openxmlformats.org/presentationml/2006/main">
  <p:tag name="THINKCELLSHAPEDONOTDELETE" val="th0x0KPgHNNenlJvK6FFcGQ"/>
</p:tagLst>
</file>

<file path=ppt/tags/tag591.xml><?xml version="1.0" encoding="utf-8"?>
<p:tagLst xmlns:a="http://schemas.openxmlformats.org/drawingml/2006/main" xmlns:r="http://schemas.openxmlformats.org/officeDocument/2006/relationships" xmlns:p="http://schemas.openxmlformats.org/presentationml/2006/main">
  <p:tag name="THINKCELLSHAPEDONOTDELETE" val="tdvUgcvMuxhCOiuJQdc.Gtg"/>
</p:tagLst>
</file>

<file path=ppt/tags/tag592.xml><?xml version="1.0" encoding="utf-8"?>
<p:tagLst xmlns:a="http://schemas.openxmlformats.org/drawingml/2006/main" xmlns:r="http://schemas.openxmlformats.org/officeDocument/2006/relationships" xmlns:p="http://schemas.openxmlformats.org/presentationml/2006/main">
  <p:tag name="THINKCELLSHAPEDONOTDELETE" val="tQmYsjhEW7Hyz1WSw7xTkrw"/>
</p:tagLst>
</file>

<file path=ppt/tags/tag593.xml><?xml version="1.0" encoding="utf-8"?>
<p:tagLst xmlns:a="http://schemas.openxmlformats.org/drawingml/2006/main" xmlns:r="http://schemas.openxmlformats.org/officeDocument/2006/relationships" xmlns:p="http://schemas.openxmlformats.org/presentationml/2006/main">
  <p:tag name="THINKCELLSHAPEDONOTDELETE" val="tTn7tdBSs6YZgMYXgDGWyKQ"/>
</p:tagLst>
</file>

<file path=ppt/tags/tag594.xml><?xml version="1.0" encoding="utf-8"?>
<p:tagLst xmlns:a="http://schemas.openxmlformats.org/drawingml/2006/main" xmlns:r="http://schemas.openxmlformats.org/officeDocument/2006/relationships" xmlns:p="http://schemas.openxmlformats.org/presentationml/2006/main">
  <p:tag name="THINKCELLSHAPEDONOTDELETE" val="tJNSgdS5nYeYw9oIhgxdrJw"/>
</p:tagLst>
</file>

<file path=ppt/tags/tag595.xml><?xml version="1.0" encoding="utf-8"?>
<p:tagLst xmlns:a="http://schemas.openxmlformats.org/drawingml/2006/main" xmlns:r="http://schemas.openxmlformats.org/officeDocument/2006/relationships" xmlns:p="http://schemas.openxmlformats.org/presentationml/2006/main">
  <p:tag name="THINKCELLSHAPEDONOTDELETE" val="t.yTJryzk8SSLRArMWM7aUw"/>
</p:tagLst>
</file>

<file path=ppt/tags/tag596.xml><?xml version="1.0" encoding="utf-8"?>
<p:tagLst xmlns:a="http://schemas.openxmlformats.org/drawingml/2006/main" xmlns:r="http://schemas.openxmlformats.org/officeDocument/2006/relationships" xmlns:p="http://schemas.openxmlformats.org/presentationml/2006/main">
  <p:tag name="THINKCELLSHAPEDONOTDELETE" val="ttmeQjINXbZ3aVuS9duUnAg"/>
</p:tagLst>
</file>

<file path=ppt/tags/tag597.xml><?xml version="1.0" encoding="utf-8"?>
<p:tagLst xmlns:a="http://schemas.openxmlformats.org/drawingml/2006/main" xmlns:r="http://schemas.openxmlformats.org/officeDocument/2006/relationships" xmlns:p="http://schemas.openxmlformats.org/presentationml/2006/main">
  <p:tag name="THINKCELLSHAPEDONOTDELETE" val="tyOA0A7F_Gy6Ue8mJrePP3A"/>
</p:tagLst>
</file>

<file path=ppt/tags/tag598.xml><?xml version="1.0" encoding="utf-8"?>
<p:tagLst xmlns:a="http://schemas.openxmlformats.org/drawingml/2006/main" xmlns:r="http://schemas.openxmlformats.org/officeDocument/2006/relationships" xmlns:p="http://schemas.openxmlformats.org/presentationml/2006/main">
  <p:tag name="THINKCELLSHAPEDONOTDELETE" val="tFMIxlHIBZSiV4PXqfbVQ5g"/>
</p:tagLst>
</file>

<file path=ppt/tags/tag599.xml><?xml version="1.0" encoding="utf-8"?>
<p:tagLst xmlns:a="http://schemas.openxmlformats.org/drawingml/2006/main" xmlns:r="http://schemas.openxmlformats.org/officeDocument/2006/relationships" xmlns:p="http://schemas.openxmlformats.org/presentationml/2006/main">
  <p:tag name="THINKCELLSHAPEDONOTDELETE" val="tXQaYLg.VkuUQEuB14POpbA"/>
</p:tagLst>
</file>

<file path=ppt/tags/tag600.xml><?xml version="1.0" encoding="utf-8"?>
<p:tagLst xmlns:a="http://schemas.openxmlformats.org/drawingml/2006/main" xmlns:r="http://schemas.openxmlformats.org/officeDocument/2006/relationships" xmlns:p="http://schemas.openxmlformats.org/presentationml/2006/main">
  <p:tag name="THINKCELLSHAPEDONOTDELETE" val="tQl.RUDSenb01scN8Ip.Lag"/>
</p:tagLst>
</file>

<file path=ppt/tags/tag601.xml><?xml version="1.0" encoding="utf-8"?>
<p:tagLst xmlns:a="http://schemas.openxmlformats.org/drawingml/2006/main" xmlns:r="http://schemas.openxmlformats.org/officeDocument/2006/relationships" xmlns:p="http://schemas.openxmlformats.org/presentationml/2006/main">
  <p:tag name="THINKCELLSHAPEDONOTDELETE" val="ttgDt56zcf7jXeVjZBpIm2g"/>
</p:tagLst>
</file>

<file path=ppt/tags/tag602.xml><?xml version="1.0" encoding="utf-8"?>
<p:tagLst xmlns:a="http://schemas.openxmlformats.org/drawingml/2006/main" xmlns:r="http://schemas.openxmlformats.org/officeDocument/2006/relationships" xmlns:p="http://schemas.openxmlformats.org/presentationml/2006/main">
  <p:tag name="THINKCELLSHAPEDONOTDELETE" val="t0zU2znOSZLhejRUQl1_PLA"/>
</p:tagLst>
</file>

<file path=ppt/tags/tag603.xml><?xml version="1.0" encoding="utf-8"?>
<p:tagLst xmlns:a="http://schemas.openxmlformats.org/drawingml/2006/main" xmlns:r="http://schemas.openxmlformats.org/officeDocument/2006/relationships" xmlns:p="http://schemas.openxmlformats.org/presentationml/2006/main">
  <p:tag name="THINKCELLSHAPEDONOTDELETE" val="tAiE.BDJNjIo_2uKofMN6dA"/>
</p:tagLst>
</file>

<file path=ppt/tags/tag604.xml><?xml version="1.0" encoding="utf-8"?>
<p:tagLst xmlns:a="http://schemas.openxmlformats.org/drawingml/2006/main" xmlns:r="http://schemas.openxmlformats.org/officeDocument/2006/relationships" xmlns:p="http://schemas.openxmlformats.org/presentationml/2006/main">
  <p:tag name="THINKCELLSHAPEDONOTDELETE" val="twr2ZJqILD7tFzj5mNfPYUA"/>
</p:tagLst>
</file>

<file path=ppt/tags/tag60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06.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607.xml><?xml version="1.0" encoding="utf-8"?>
<p:tagLst xmlns:a="http://schemas.openxmlformats.org/drawingml/2006/main" xmlns:r="http://schemas.openxmlformats.org/officeDocument/2006/relationships" xmlns:p="http://schemas.openxmlformats.org/presentationml/2006/main">
  <p:tag name="HEADER" val="True"/>
</p:tagLst>
</file>

<file path=ppt/tags/tag608.xml><?xml version="1.0" encoding="utf-8"?>
<p:tagLst xmlns:a="http://schemas.openxmlformats.org/drawingml/2006/main" xmlns:r="http://schemas.openxmlformats.org/officeDocument/2006/relationships" xmlns:p="http://schemas.openxmlformats.org/presentationml/2006/main">
  <p:tag name="HEADER" val="True"/>
</p:tagLst>
</file>

<file path=ppt/tags/tag609.xml><?xml version="1.0" encoding="utf-8"?>
<p:tagLst xmlns:a="http://schemas.openxmlformats.org/drawingml/2006/main" xmlns:r="http://schemas.openxmlformats.org/officeDocument/2006/relationships" xmlns:p="http://schemas.openxmlformats.org/presentationml/2006/main">
  <p:tag name="THINKCELLSHAPEDONOTDELETE" val="tNwF7j4s4mMjJORP8wecV9g"/>
</p:tagLst>
</file>

<file path=ppt/tags/tag610.xml><?xml version="1.0" encoding="utf-8"?>
<p:tagLst xmlns:a="http://schemas.openxmlformats.org/drawingml/2006/main" xmlns:r="http://schemas.openxmlformats.org/officeDocument/2006/relationships" xmlns:p="http://schemas.openxmlformats.org/presentationml/2006/main">
  <p:tag name="THINKCELLSHAPEDONOTDELETE" val="tjeLVT4P8GidjTFjChDM5Yg"/>
</p:tagLst>
</file>

<file path=ppt/tags/tag611.xml><?xml version="1.0" encoding="utf-8"?>
<p:tagLst xmlns:a="http://schemas.openxmlformats.org/drawingml/2006/main" xmlns:r="http://schemas.openxmlformats.org/officeDocument/2006/relationships" xmlns:p="http://schemas.openxmlformats.org/presentationml/2006/main">
  <p:tag name="THINKCELLSHAPEDONOTDELETE" val="tWnR1sNpqnfmosKCbayeSIA"/>
</p:tagLst>
</file>

<file path=ppt/tags/tag612.xml><?xml version="1.0" encoding="utf-8"?>
<p:tagLst xmlns:a="http://schemas.openxmlformats.org/drawingml/2006/main" xmlns:r="http://schemas.openxmlformats.org/officeDocument/2006/relationships" xmlns:p="http://schemas.openxmlformats.org/presentationml/2006/main">
  <p:tag name="THINKCELLSHAPEDONOTDELETE" val="tdu_60ZPqx_eE805VI5wFng"/>
</p:tagLst>
</file>

<file path=ppt/tags/tag613.xml><?xml version="1.0" encoding="utf-8"?>
<p:tagLst xmlns:a="http://schemas.openxmlformats.org/drawingml/2006/main" xmlns:r="http://schemas.openxmlformats.org/officeDocument/2006/relationships" xmlns:p="http://schemas.openxmlformats.org/presentationml/2006/main">
  <p:tag name="THINKCELLSHAPEDONOTDELETE" val="tISKvATHvumrK4h2OsFaOtg"/>
</p:tagLst>
</file>

<file path=ppt/tags/tag614.xml><?xml version="1.0" encoding="utf-8"?>
<p:tagLst xmlns:a="http://schemas.openxmlformats.org/drawingml/2006/main" xmlns:r="http://schemas.openxmlformats.org/officeDocument/2006/relationships" xmlns:p="http://schemas.openxmlformats.org/presentationml/2006/main">
  <p:tag name="THINKCELLSHAPEDONOTDELETE" val="tjdTngiVyT9htbKZmW5xmSg"/>
</p:tagLst>
</file>

<file path=ppt/tags/tag615.xml><?xml version="1.0" encoding="utf-8"?>
<p:tagLst xmlns:a="http://schemas.openxmlformats.org/drawingml/2006/main" xmlns:r="http://schemas.openxmlformats.org/officeDocument/2006/relationships" xmlns:p="http://schemas.openxmlformats.org/presentationml/2006/main">
  <p:tag name="THINKCELLSHAPEDONOTDELETE" val="t8ga7Mcsh9ZG2wpqSJsKOSw"/>
</p:tagLst>
</file>

<file path=ppt/tags/tag616.xml><?xml version="1.0" encoding="utf-8"?>
<p:tagLst xmlns:a="http://schemas.openxmlformats.org/drawingml/2006/main" xmlns:r="http://schemas.openxmlformats.org/officeDocument/2006/relationships" xmlns:p="http://schemas.openxmlformats.org/presentationml/2006/main">
  <p:tag name="THINKCELLSHAPEDONOTDELETE" val="tJ3hbRVvrECxzi0PqNOsaBA"/>
</p:tagLst>
</file>

<file path=ppt/tags/tag617.xml><?xml version="1.0" encoding="utf-8"?>
<p:tagLst xmlns:a="http://schemas.openxmlformats.org/drawingml/2006/main" xmlns:r="http://schemas.openxmlformats.org/officeDocument/2006/relationships" xmlns:p="http://schemas.openxmlformats.org/presentationml/2006/main">
  <p:tag name="THINKCELLSHAPEDONOTDELETE" val="tTh0dbSFGakYx7eaFMseEdw"/>
</p:tagLst>
</file>

<file path=ppt/tags/tag618.xml><?xml version="1.0" encoding="utf-8"?>
<p:tagLst xmlns:a="http://schemas.openxmlformats.org/drawingml/2006/main" xmlns:r="http://schemas.openxmlformats.org/officeDocument/2006/relationships" xmlns:p="http://schemas.openxmlformats.org/presentationml/2006/main">
  <p:tag name="THINKCELLSHAPEDONOTDELETE" val="tuUQOxZulgZG4ejjskpvT_g"/>
</p:tagLst>
</file>

<file path=ppt/tags/tag619.xml><?xml version="1.0" encoding="utf-8"?>
<p:tagLst xmlns:a="http://schemas.openxmlformats.org/drawingml/2006/main" xmlns:r="http://schemas.openxmlformats.org/officeDocument/2006/relationships" xmlns:p="http://schemas.openxmlformats.org/presentationml/2006/main">
  <p:tag name="THINKCELLSHAPEDONOTDELETE" val="t9ahWUXdreM7DQ1E0C4gYtA"/>
</p:tagLst>
</file>

<file path=ppt/tags/tag620.xml><?xml version="1.0" encoding="utf-8"?>
<p:tagLst xmlns:a="http://schemas.openxmlformats.org/drawingml/2006/main" xmlns:r="http://schemas.openxmlformats.org/officeDocument/2006/relationships" xmlns:p="http://schemas.openxmlformats.org/presentationml/2006/main">
  <p:tag name="THINKCELLSHAPEDONOTDELETE" val="tL6nALG1bdP1wP.JApW9SKg"/>
</p:tagLst>
</file>

<file path=ppt/tags/tag621.xml><?xml version="1.0" encoding="utf-8"?>
<p:tagLst xmlns:a="http://schemas.openxmlformats.org/drawingml/2006/main" xmlns:r="http://schemas.openxmlformats.org/officeDocument/2006/relationships" xmlns:p="http://schemas.openxmlformats.org/presentationml/2006/main">
  <p:tag name="THINKCELLSHAPEDONOTDELETE" val="tgFxTFicuA0pNj0xvfgRLsQ"/>
</p:tagLst>
</file>

<file path=ppt/tags/tag622.xml><?xml version="1.0" encoding="utf-8"?>
<p:tagLst xmlns:a="http://schemas.openxmlformats.org/drawingml/2006/main" xmlns:r="http://schemas.openxmlformats.org/officeDocument/2006/relationships" xmlns:p="http://schemas.openxmlformats.org/presentationml/2006/main">
  <p:tag name="THINKCELLSHAPEDONOTDELETE" val="t8.dxc5rLcDpIbR7QxRydqw"/>
</p:tagLst>
</file>

<file path=ppt/tags/tag623.xml><?xml version="1.0" encoding="utf-8"?>
<p:tagLst xmlns:a="http://schemas.openxmlformats.org/drawingml/2006/main" xmlns:r="http://schemas.openxmlformats.org/officeDocument/2006/relationships" xmlns:p="http://schemas.openxmlformats.org/presentationml/2006/main">
  <p:tag name="THINKCELLSHAPEDONOTDELETE" val="t5fJfvhQYID_84wVivL38vg"/>
</p:tagLst>
</file>

<file path=ppt/tags/tag624.xml><?xml version="1.0" encoding="utf-8"?>
<p:tagLst xmlns:a="http://schemas.openxmlformats.org/drawingml/2006/main" xmlns:r="http://schemas.openxmlformats.org/officeDocument/2006/relationships" xmlns:p="http://schemas.openxmlformats.org/presentationml/2006/main">
  <p:tag name="THINKCELLSHAPEDONOTDELETE" val="tnS10iJwT.bXtPOKs5mddKQ"/>
</p:tagLst>
</file>

<file path=ppt/tags/tag625.xml><?xml version="1.0" encoding="utf-8"?>
<p:tagLst xmlns:a="http://schemas.openxmlformats.org/drawingml/2006/main" xmlns:r="http://schemas.openxmlformats.org/officeDocument/2006/relationships" xmlns:p="http://schemas.openxmlformats.org/presentationml/2006/main">
  <p:tag name="THINKCELLSHAPEDONOTDELETE" val="tiRaWLaeAetS_TAm5ZFY7RQ"/>
</p:tagLst>
</file>

<file path=ppt/tags/tag626.xml><?xml version="1.0" encoding="utf-8"?>
<p:tagLst xmlns:a="http://schemas.openxmlformats.org/drawingml/2006/main" xmlns:r="http://schemas.openxmlformats.org/officeDocument/2006/relationships" xmlns:p="http://schemas.openxmlformats.org/presentationml/2006/main">
  <p:tag name="THINKCELLSHAPEDONOTDELETE" val="t9mSCv8kKM_2ZlhewxR6OXg"/>
</p:tagLst>
</file>

<file path=ppt/tags/tag627.xml><?xml version="1.0" encoding="utf-8"?>
<p:tagLst xmlns:a="http://schemas.openxmlformats.org/drawingml/2006/main" xmlns:r="http://schemas.openxmlformats.org/officeDocument/2006/relationships" xmlns:p="http://schemas.openxmlformats.org/presentationml/2006/main">
  <p:tag name="THINKCELLSHAPEDONOTDELETE" val="t9hZfxgB_8wepZOGF2pCUtQ"/>
</p:tagLst>
</file>

<file path=ppt/tags/tag628.xml><?xml version="1.0" encoding="utf-8"?>
<p:tagLst xmlns:a="http://schemas.openxmlformats.org/drawingml/2006/main" xmlns:r="http://schemas.openxmlformats.org/officeDocument/2006/relationships" xmlns:p="http://schemas.openxmlformats.org/presentationml/2006/main">
  <p:tag name="THINKCELLSHAPEDONOTDELETE" val="tqDIqgPY88JKafTYWONSzGw"/>
</p:tagLst>
</file>

<file path=ppt/tags/tag629.xml><?xml version="1.0" encoding="utf-8"?>
<p:tagLst xmlns:a="http://schemas.openxmlformats.org/drawingml/2006/main" xmlns:r="http://schemas.openxmlformats.org/officeDocument/2006/relationships" xmlns:p="http://schemas.openxmlformats.org/presentationml/2006/main">
  <p:tag name="THINKCELLSHAPEDONOTDELETE" val="tufRBSakdmg4dca2Ji9mwiw"/>
</p:tagLst>
</file>

<file path=ppt/tags/tag630.xml><?xml version="1.0" encoding="utf-8"?>
<p:tagLst xmlns:a="http://schemas.openxmlformats.org/drawingml/2006/main" xmlns:r="http://schemas.openxmlformats.org/officeDocument/2006/relationships" xmlns:p="http://schemas.openxmlformats.org/presentationml/2006/main">
  <p:tag name="THINKCELLSHAPEDONOTDELETE" val="tFM58gNnCgLu9b8sPkM2Zvw"/>
</p:tagLst>
</file>

<file path=ppt/tags/tag631.xml><?xml version="1.0" encoding="utf-8"?>
<p:tagLst xmlns:a="http://schemas.openxmlformats.org/drawingml/2006/main" xmlns:r="http://schemas.openxmlformats.org/officeDocument/2006/relationships" xmlns:p="http://schemas.openxmlformats.org/presentationml/2006/main">
  <p:tag name="THINKCELLSHAPEDONOTDELETE" val="tygwAmp_nNZr1n.jMJipoDA"/>
</p:tagLst>
</file>

<file path=ppt/tags/tag632.xml><?xml version="1.0" encoding="utf-8"?>
<p:tagLst xmlns:a="http://schemas.openxmlformats.org/drawingml/2006/main" xmlns:r="http://schemas.openxmlformats.org/officeDocument/2006/relationships" xmlns:p="http://schemas.openxmlformats.org/presentationml/2006/main">
  <p:tag name="THINKCELLSHAPEDONOTDELETE" val="tzgkhdupcKqFB.6u9ewLK0A"/>
</p:tagLst>
</file>

<file path=ppt/tags/tag633.xml><?xml version="1.0" encoding="utf-8"?>
<p:tagLst xmlns:a="http://schemas.openxmlformats.org/drawingml/2006/main" xmlns:r="http://schemas.openxmlformats.org/officeDocument/2006/relationships" xmlns:p="http://schemas.openxmlformats.org/presentationml/2006/main">
  <p:tag name="THINKCELLSHAPEDONOTDELETE" val="tmj.oyRCx4GN9mzhMiCi7Xw"/>
</p:tagLst>
</file>

<file path=ppt/tags/tag634.xml><?xml version="1.0" encoding="utf-8"?>
<p:tagLst xmlns:a="http://schemas.openxmlformats.org/drawingml/2006/main" xmlns:r="http://schemas.openxmlformats.org/officeDocument/2006/relationships" xmlns:p="http://schemas.openxmlformats.org/presentationml/2006/main">
  <p:tag name="THINKCELLSHAPEDONOTDELETE" val="t30.vivrcNRSWacEwt.yvWw"/>
</p:tagLst>
</file>

<file path=ppt/tags/tag635.xml><?xml version="1.0" encoding="utf-8"?>
<p:tagLst xmlns:a="http://schemas.openxmlformats.org/drawingml/2006/main" xmlns:r="http://schemas.openxmlformats.org/officeDocument/2006/relationships" xmlns:p="http://schemas.openxmlformats.org/presentationml/2006/main">
  <p:tag name="THINKCELLSHAPEDONOTDELETE" val="tE8bMN4jrLcLrW1PxI6Anaw"/>
</p:tagLst>
</file>

<file path=ppt/tags/tag636.xml><?xml version="1.0" encoding="utf-8"?>
<p:tagLst xmlns:a="http://schemas.openxmlformats.org/drawingml/2006/main" xmlns:r="http://schemas.openxmlformats.org/officeDocument/2006/relationships" xmlns:p="http://schemas.openxmlformats.org/presentationml/2006/main">
  <p:tag name="THINKCELLSHAPEDONOTDELETE" val="tcYvO7ucplTRKCbjkwkrVEA"/>
</p:tagLst>
</file>

<file path=ppt/tags/tag637.xml><?xml version="1.0" encoding="utf-8"?>
<p:tagLst xmlns:a="http://schemas.openxmlformats.org/drawingml/2006/main" xmlns:r="http://schemas.openxmlformats.org/officeDocument/2006/relationships" xmlns:p="http://schemas.openxmlformats.org/presentationml/2006/main">
  <p:tag name="THINKCELLSHAPEDONOTDELETE" val="tM1v8QWvAhGaGJDF6NvAgsw"/>
</p:tagLst>
</file>

<file path=ppt/tags/tag638.xml><?xml version="1.0" encoding="utf-8"?>
<p:tagLst xmlns:a="http://schemas.openxmlformats.org/drawingml/2006/main" xmlns:r="http://schemas.openxmlformats.org/officeDocument/2006/relationships" xmlns:p="http://schemas.openxmlformats.org/presentationml/2006/main">
  <p:tag name="THINKCELLSHAPEDONOTDELETE" val="tFTIfJc4nJQ6oK5i.qS4IrQ"/>
</p:tagLst>
</file>

<file path=ppt/tags/tag639.xml><?xml version="1.0" encoding="utf-8"?>
<p:tagLst xmlns:a="http://schemas.openxmlformats.org/drawingml/2006/main" xmlns:r="http://schemas.openxmlformats.org/officeDocument/2006/relationships" xmlns:p="http://schemas.openxmlformats.org/presentationml/2006/main">
  <p:tag name="THINKCELLSHAPEDONOTDELETE" val="t25.Pc6QKSyc1cH8xgqZWwA"/>
</p:tagLst>
</file>

<file path=ppt/tags/tag640.xml><?xml version="1.0" encoding="utf-8"?>
<p:tagLst xmlns:a="http://schemas.openxmlformats.org/drawingml/2006/main" xmlns:r="http://schemas.openxmlformats.org/officeDocument/2006/relationships" xmlns:p="http://schemas.openxmlformats.org/presentationml/2006/main">
  <p:tag name="THINKCELLSHAPEDONOTDELETE" val="t6zs8QrBVh0Y94wMf4wr6kw"/>
</p:tagLst>
</file>

<file path=ppt/tags/tag641.xml><?xml version="1.0" encoding="utf-8"?>
<p:tagLst xmlns:a="http://schemas.openxmlformats.org/drawingml/2006/main" xmlns:r="http://schemas.openxmlformats.org/officeDocument/2006/relationships" xmlns:p="http://schemas.openxmlformats.org/presentationml/2006/main">
  <p:tag name="THINKCELLSHAPEDONOTDELETE" val="td2N5r6ALLcCLlnl39zG1ew"/>
</p:tagLst>
</file>

<file path=ppt/tags/tag642.xml><?xml version="1.0" encoding="utf-8"?>
<p:tagLst xmlns:a="http://schemas.openxmlformats.org/drawingml/2006/main" xmlns:r="http://schemas.openxmlformats.org/officeDocument/2006/relationships" xmlns:p="http://schemas.openxmlformats.org/presentationml/2006/main">
  <p:tag name="THINKCELLSHAPEDONOTDELETE" val="tc51hIZWDL60gLkSHmzocug"/>
</p:tagLst>
</file>

<file path=ppt/tags/tag643.xml><?xml version="1.0" encoding="utf-8"?>
<p:tagLst xmlns:a="http://schemas.openxmlformats.org/drawingml/2006/main" xmlns:r="http://schemas.openxmlformats.org/officeDocument/2006/relationships" xmlns:p="http://schemas.openxmlformats.org/presentationml/2006/main">
  <p:tag name="THINKCELLSHAPEDONOTDELETE" val="tQsOeDFkdLxeKme938885mw"/>
</p:tagLst>
</file>

<file path=ppt/tags/tag644.xml><?xml version="1.0" encoding="utf-8"?>
<p:tagLst xmlns:a="http://schemas.openxmlformats.org/drawingml/2006/main" xmlns:r="http://schemas.openxmlformats.org/officeDocument/2006/relationships" xmlns:p="http://schemas.openxmlformats.org/presentationml/2006/main">
  <p:tag name="THINKCELLSHAPEDONOTDELETE" val="t.dOaqBDSxlITCyHZcVEyXg"/>
</p:tagLst>
</file>

<file path=ppt/tags/tag645.xml><?xml version="1.0" encoding="utf-8"?>
<p:tagLst xmlns:a="http://schemas.openxmlformats.org/drawingml/2006/main" xmlns:r="http://schemas.openxmlformats.org/officeDocument/2006/relationships" xmlns:p="http://schemas.openxmlformats.org/presentationml/2006/main">
  <p:tag name="THINKCELLSHAPEDONOTDELETE" val="tLKJQhXkXlTtAIc.vbTo_yA"/>
</p:tagLst>
</file>

<file path=ppt/tags/tag646.xml><?xml version="1.0" encoding="utf-8"?>
<p:tagLst xmlns:a="http://schemas.openxmlformats.org/drawingml/2006/main" xmlns:r="http://schemas.openxmlformats.org/officeDocument/2006/relationships" xmlns:p="http://schemas.openxmlformats.org/presentationml/2006/main">
  <p:tag name="THINKCELLSHAPEDONOTDELETE" val="tMoZvGR2UQT3vUKJjjXWuDw"/>
</p:tagLst>
</file>

<file path=ppt/tags/tag647.xml><?xml version="1.0" encoding="utf-8"?>
<p:tagLst xmlns:a="http://schemas.openxmlformats.org/drawingml/2006/main" xmlns:r="http://schemas.openxmlformats.org/officeDocument/2006/relationships" xmlns:p="http://schemas.openxmlformats.org/presentationml/2006/main">
  <p:tag name="THINKCELLSHAPEDONOTDELETE" val="tTiYeemBwtdMCLlMvrC1hZA"/>
</p:tagLst>
</file>

<file path=ppt/tags/tag648.xml><?xml version="1.0" encoding="utf-8"?>
<p:tagLst xmlns:a="http://schemas.openxmlformats.org/drawingml/2006/main" xmlns:r="http://schemas.openxmlformats.org/officeDocument/2006/relationships" xmlns:p="http://schemas.openxmlformats.org/presentationml/2006/main">
  <p:tag name="THINKCELLSHAPEDONOTDELETE" val="t6fxpig3O5z4awOF4xWKQCg"/>
</p:tagLst>
</file>

<file path=ppt/tags/tag649.xml><?xml version="1.0" encoding="utf-8"?>
<p:tagLst xmlns:a="http://schemas.openxmlformats.org/drawingml/2006/main" xmlns:r="http://schemas.openxmlformats.org/officeDocument/2006/relationships" xmlns:p="http://schemas.openxmlformats.org/presentationml/2006/main">
  <p:tag name="THINKCELLSHAPEDONOTDELETE" val="t.L0vNt.BBcmCu27.Xe8r2Q"/>
</p:tagLst>
</file>

<file path=ppt/tags/tag650.xml><?xml version="1.0" encoding="utf-8"?>
<p:tagLst xmlns:a="http://schemas.openxmlformats.org/drawingml/2006/main" xmlns:r="http://schemas.openxmlformats.org/officeDocument/2006/relationships" xmlns:p="http://schemas.openxmlformats.org/presentationml/2006/main">
  <p:tag name="THINKCELLSHAPEDONOTDELETE" val="tCEDg1TJL8c.GO_IOsx2zfg"/>
</p:tagLst>
</file>

<file path=ppt/tags/tag651.xml><?xml version="1.0" encoding="utf-8"?>
<p:tagLst xmlns:a="http://schemas.openxmlformats.org/drawingml/2006/main" xmlns:r="http://schemas.openxmlformats.org/officeDocument/2006/relationships" xmlns:p="http://schemas.openxmlformats.org/presentationml/2006/main">
  <p:tag name="THINKCELLSHAPEDONOTDELETE" val="tqkjfKTOn0bMSoX64N39yHg"/>
</p:tagLst>
</file>

<file path=ppt/tags/tag652.xml><?xml version="1.0" encoding="utf-8"?>
<p:tagLst xmlns:a="http://schemas.openxmlformats.org/drawingml/2006/main" xmlns:r="http://schemas.openxmlformats.org/officeDocument/2006/relationships" xmlns:p="http://schemas.openxmlformats.org/presentationml/2006/main">
  <p:tag name="THINKCELLSHAPEDONOTDELETE" val="teTj10BStVgDtrd2F9i.H7Q"/>
</p:tagLst>
</file>

<file path=ppt/tags/tag653.xml><?xml version="1.0" encoding="utf-8"?>
<p:tagLst xmlns:a="http://schemas.openxmlformats.org/drawingml/2006/main" xmlns:r="http://schemas.openxmlformats.org/officeDocument/2006/relationships" xmlns:p="http://schemas.openxmlformats.org/presentationml/2006/main">
  <p:tag name="THINKCELLSHAPEDONOTDELETE" val="t5a07kt4blXKWoV2shdMPhg"/>
</p:tagLst>
</file>

<file path=ppt/tags/tag654.xml><?xml version="1.0" encoding="utf-8"?>
<p:tagLst xmlns:a="http://schemas.openxmlformats.org/drawingml/2006/main" xmlns:r="http://schemas.openxmlformats.org/officeDocument/2006/relationships" xmlns:p="http://schemas.openxmlformats.org/presentationml/2006/main">
  <p:tag name="THINKCELLSHAPEDONOTDELETE" val="tqWJPOzyw83P2kqDk38wOrQ"/>
</p:tagLst>
</file>

<file path=ppt/tags/tag655.xml><?xml version="1.0" encoding="utf-8"?>
<p:tagLst xmlns:a="http://schemas.openxmlformats.org/drawingml/2006/main" xmlns:r="http://schemas.openxmlformats.org/officeDocument/2006/relationships" xmlns:p="http://schemas.openxmlformats.org/presentationml/2006/main">
  <p:tag name="THINKCELLSHAPEDONOTDELETE" val="tJrjNad5jmqg.POquZN1A3g"/>
</p:tagLst>
</file>

<file path=ppt/tags/tag656.xml><?xml version="1.0" encoding="utf-8"?>
<p:tagLst xmlns:a="http://schemas.openxmlformats.org/drawingml/2006/main" xmlns:r="http://schemas.openxmlformats.org/officeDocument/2006/relationships" xmlns:p="http://schemas.openxmlformats.org/presentationml/2006/main">
  <p:tag name="THINKCELLSHAPEDONOTDELETE" val="tFT5wuA23cZP.S.EVgH.zAA"/>
</p:tagLst>
</file>

<file path=ppt/tags/tag657.xml><?xml version="1.0" encoding="utf-8"?>
<p:tagLst xmlns:a="http://schemas.openxmlformats.org/drawingml/2006/main" xmlns:r="http://schemas.openxmlformats.org/officeDocument/2006/relationships" xmlns:p="http://schemas.openxmlformats.org/presentationml/2006/main">
  <p:tag name="THINKCELLSHAPEDONOTDELETE" val="txQl3mY3VOQOFQyp8NzskUg"/>
</p:tagLst>
</file>

<file path=ppt/tags/tag658.xml><?xml version="1.0" encoding="utf-8"?>
<p:tagLst xmlns:a="http://schemas.openxmlformats.org/drawingml/2006/main" xmlns:r="http://schemas.openxmlformats.org/officeDocument/2006/relationships" xmlns:p="http://schemas.openxmlformats.org/presentationml/2006/main">
  <p:tag name="THINKCELLSHAPEDONOTDELETE" val="tHrV88VjPdBnSjfoluDF1GQ"/>
</p:tagLst>
</file>

<file path=ppt/tags/tag659.xml><?xml version="1.0" encoding="utf-8"?>
<p:tagLst xmlns:a="http://schemas.openxmlformats.org/drawingml/2006/main" xmlns:r="http://schemas.openxmlformats.org/officeDocument/2006/relationships" xmlns:p="http://schemas.openxmlformats.org/presentationml/2006/main">
  <p:tag name="THINKCELLSHAPEDONOTDELETE" val="t_jPPGhrU.NdueJ6FTQksbQ"/>
</p:tagLst>
</file>

<file path=ppt/tags/tag660.xml><?xml version="1.0" encoding="utf-8"?>
<p:tagLst xmlns:a="http://schemas.openxmlformats.org/drawingml/2006/main" xmlns:r="http://schemas.openxmlformats.org/officeDocument/2006/relationships" xmlns:p="http://schemas.openxmlformats.org/presentationml/2006/main">
  <p:tag name="THINKCELLSHAPEDONOTDELETE" val="tbGdkR7oMrI.Vm1v1uLGtpg"/>
</p:tagLst>
</file>

<file path=ppt/tags/tag66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62.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663.xml><?xml version="1.0" encoding="utf-8"?>
<p:tagLst xmlns:a="http://schemas.openxmlformats.org/drawingml/2006/main" xmlns:r="http://schemas.openxmlformats.org/officeDocument/2006/relationships" xmlns:p="http://schemas.openxmlformats.org/presentationml/2006/main">
  <p:tag name="HEADER" val="True"/>
</p:tagLst>
</file>

<file path=ppt/tags/tag664.xml><?xml version="1.0" encoding="utf-8"?>
<p:tagLst xmlns:a="http://schemas.openxmlformats.org/drawingml/2006/main" xmlns:r="http://schemas.openxmlformats.org/officeDocument/2006/relationships" xmlns:p="http://schemas.openxmlformats.org/presentationml/2006/main">
  <p:tag name="HEADER" val="True"/>
</p:tagLst>
</file>

<file path=ppt/tags/tag665.xml><?xml version="1.0" encoding="utf-8"?>
<p:tagLst xmlns:a="http://schemas.openxmlformats.org/drawingml/2006/main" xmlns:r="http://schemas.openxmlformats.org/officeDocument/2006/relationships" xmlns:p="http://schemas.openxmlformats.org/presentationml/2006/main">
  <p:tag name="THINKCELLSHAPEDONOTDELETE" val="tl70wJYpqwBmmjRv1Rt1szg"/>
</p:tagLst>
</file>

<file path=ppt/tags/tag666.xml><?xml version="1.0" encoding="utf-8"?>
<p:tagLst xmlns:a="http://schemas.openxmlformats.org/drawingml/2006/main" xmlns:r="http://schemas.openxmlformats.org/officeDocument/2006/relationships" xmlns:p="http://schemas.openxmlformats.org/presentationml/2006/main">
  <p:tag name="THINKCELLSHAPEDONOTDELETE" val="tlaOtZKtgKi0L2UovaHPxkA"/>
</p:tagLst>
</file>

<file path=ppt/tags/tag667.xml><?xml version="1.0" encoding="utf-8"?>
<p:tagLst xmlns:a="http://schemas.openxmlformats.org/drawingml/2006/main" xmlns:r="http://schemas.openxmlformats.org/officeDocument/2006/relationships" xmlns:p="http://schemas.openxmlformats.org/presentationml/2006/main">
  <p:tag name="THINKCELLSHAPEDONOTDELETE" val="t2Xke8GSxrQFCJtuXSH2qNA"/>
</p:tagLst>
</file>

<file path=ppt/tags/tag668.xml><?xml version="1.0" encoding="utf-8"?>
<p:tagLst xmlns:a="http://schemas.openxmlformats.org/drawingml/2006/main" xmlns:r="http://schemas.openxmlformats.org/officeDocument/2006/relationships" xmlns:p="http://schemas.openxmlformats.org/presentationml/2006/main">
  <p:tag name="THINKCELLSHAPEDONOTDELETE" val="tFURDRKPpGDTTEwDKVUq9jw"/>
</p:tagLst>
</file>

<file path=ppt/tags/tag669.xml><?xml version="1.0" encoding="utf-8"?>
<p:tagLst xmlns:a="http://schemas.openxmlformats.org/drawingml/2006/main" xmlns:r="http://schemas.openxmlformats.org/officeDocument/2006/relationships" xmlns:p="http://schemas.openxmlformats.org/presentationml/2006/main">
  <p:tag name="THINKCELLSHAPEDONOTDELETE" val="tHKrF29vWcTbWh32QJ3PfJA"/>
</p:tagLst>
</file>

<file path=ppt/tags/tag670.xml><?xml version="1.0" encoding="utf-8"?>
<p:tagLst xmlns:a="http://schemas.openxmlformats.org/drawingml/2006/main" xmlns:r="http://schemas.openxmlformats.org/officeDocument/2006/relationships" xmlns:p="http://schemas.openxmlformats.org/presentationml/2006/main">
  <p:tag name="THINKCELLSHAPEDONOTDELETE" val="tAjRQ0mb6iX3FkjBYxa_ywA"/>
</p:tagLst>
</file>

<file path=ppt/tags/tag671.xml><?xml version="1.0" encoding="utf-8"?>
<p:tagLst xmlns:a="http://schemas.openxmlformats.org/drawingml/2006/main" xmlns:r="http://schemas.openxmlformats.org/officeDocument/2006/relationships" xmlns:p="http://schemas.openxmlformats.org/presentationml/2006/main">
  <p:tag name="THINKCELLSHAPEDONOTDELETE" val="t.J7cAey_AqU0iKeGlgSl0Q"/>
</p:tagLst>
</file>

<file path=ppt/tags/tag672.xml><?xml version="1.0" encoding="utf-8"?>
<p:tagLst xmlns:a="http://schemas.openxmlformats.org/drawingml/2006/main" xmlns:r="http://schemas.openxmlformats.org/officeDocument/2006/relationships" xmlns:p="http://schemas.openxmlformats.org/presentationml/2006/main">
  <p:tag name="THINKCELLSHAPEDONOTDELETE" val="tPN0RVgscg3is3ZrCtJiEvQ"/>
</p:tagLst>
</file>

<file path=ppt/tags/tag673.xml><?xml version="1.0" encoding="utf-8"?>
<p:tagLst xmlns:a="http://schemas.openxmlformats.org/drawingml/2006/main" xmlns:r="http://schemas.openxmlformats.org/officeDocument/2006/relationships" xmlns:p="http://schemas.openxmlformats.org/presentationml/2006/main">
  <p:tag name="THINKCELLSHAPEDONOTDELETE" val="tuZcT88yLGNnw8GQgbA224g"/>
</p:tagLst>
</file>

<file path=ppt/tags/tag674.xml><?xml version="1.0" encoding="utf-8"?>
<p:tagLst xmlns:a="http://schemas.openxmlformats.org/drawingml/2006/main" xmlns:r="http://schemas.openxmlformats.org/officeDocument/2006/relationships" xmlns:p="http://schemas.openxmlformats.org/presentationml/2006/main">
  <p:tag name="THINKCELLSHAPEDONOTDELETE" val="tzLSKdVRvaq.0q8DolsRSCQ"/>
</p:tagLst>
</file>

<file path=ppt/tags/tag675.xml><?xml version="1.0" encoding="utf-8"?>
<p:tagLst xmlns:a="http://schemas.openxmlformats.org/drawingml/2006/main" xmlns:r="http://schemas.openxmlformats.org/officeDocument/2006/relationships" xmlns:p="http://schemas.openxmlformats.org/presentationml/2006/main">
  <p:tag name="THINKCELLSHAPEDONOTDELETE" val="tO0TRjwbUh8Rmqj2BaUU6kA"/>
</p:tagLst>
</file>

<file path=ppt/tags/tag676.xml><?xml version="1.0" encoding="utf-8"?>
<p:tagLst xmlns:a="http://schemas.openxmlformats.org/drawingml/2006/main" xmlns:r="http://schemas.openxmlformats.org/officeDocument/2006/relationships" xmlns:p="http://schemas.openxmlformats.org/presentationml/2006/main">
  <p:tag name="THINKCELLSHAPEDONOTDELETE" val="t.vu8xLNy3Jvlj3DlQmT3AA"/>
</p:tagLst>
</file>

<file path=ppt/tags/tag677.xml><?xml version="1.0" encoding="utf-8"?>
<p:tagLst xmlns:a="http://schemas.openxmlformats.org/drawingml/2006/main" xmlns:r="http://schemas.openxmlformats.org/officeDocument/2006/relationships" xmlns:p="http://schemas.openxmlformats.org/presentationml/2006/main">
  <p:tag name="THINKCELLSHAPEDONOTDELETE" val="tF6KORSdLqsRiMmrUpnwDbw"/>
</p:tagLst>
</file>

<file path=ppt/tags/tag678.xml><?xml version="1.0" encoding="utf-8"?>
<p:tagLst xmlns:a="http://schemas.openxmlformats.org/drawingml/2006/main" xmlns:r="http://schemas.openxmlformats.org/officeDocument/2006/relationships" xmlns:p="http://schemas.openxmlformats.org/presentationml/2006/main">
  <p:tag name="THINKCELLSHAPEDONOTDELETE" val="tVUZoMhwumCjaBNR1nDqpTA"/>
</p:tagLst>
</file>

<file path=ppt/tags/tag679.xml><?xml version="1.0" encoding="utf-8"?>
<p:tagLst xmlns:a="http://schemas.openxmlformats.org/drawingml/2006/main" xmlns:r="http://schemas.openxmlformats.org/officeDocument/2006/relationships" xmlns:p="http://schemas.openxmlformats.org/presentationml/2006/main">
  <p:tag name="THINKCELLSHAPEDONOTDELETE" val="thBugL4dK2RTunu589igXNg"/>
</p:tagLst>
</file>

<file path=ppt/tags/tag680.xml><?xml version="1.0" encoding="utf-8"?>
<p:tagLst xmlns:a="http://schemas.openxmlformats.org/drawingml/2006/main" xmlns:r="http://schemas.openxmlformats.org/officeDocument/2006/relationships" xmlns:p="http://schemas.openxmlformats.org/presentationml/2006/main">
  <p:tag name="THINKCELLSHAPEDONOTDELETE" val="trPxwJrci7LldFStMZl1eRw"/>
</p:tagLst>
</file>

<file path=ppt/tags/tag681.xml><?xml version="1.0" encoding="utf-8"?>
<p:tagLst xmlns:a="http://schemas.openxmlformats.org/drawingml/2006/main" xmlns:r="http://schemas.openxmlformats.org/officeDocument/2006/relationships" xmlns:p="http://schemas.openxmlformats.org/presentationml/2006/main">
  <p:tag name="THINKCELLSHAPEDONOTDELETE" val="t6.mECYZ59B23vJ8gaaAMUg"/>
</p:tagLst>
</file>

<file path=ppt/tags/tag682.xml><?xml version="1.0" encoding="utf-8"?>
<p:tagLst xmlns:a="http://schemas.openxmlformats.org/drawingml/2006/main" xmlns:r="http://schemas.openxmlformats.org/officeDocument/2006/relationships" xmlns:p="http://schemas.openxmlformats.org/presentationml/2006/main">
  <p:tag name="THINKCELLSHAPEDONOTDELETE" val="t9x7tN1m568gAwly_27U5pw"/>
</p:tagLst>
</file>

<file path=ppt/tags/tag683.xml><?xml version="1.0" encoding="utf-8"?>
<p:tagLst xmlns:a="http://schemas.openxmlformats.org/drawingml/2006/main" xmlns:r="http://schemas.openxmlformats.org/officeDocument/2006/relationships" xmlns:p="http://schemas.openxmlformats.org/presentationml/2006/main">
  <p:tag name="THINKCELLSHAPEDONOTDELETE" val="tUQCx32WAu.wggrL..ldC8g"/>
</p:tagLst>
</file>

<file path=ppt/tags/tag684.xml><?xml version="1.0" encoding="utf-8"?>
<p:tagLst xmlns:a="http://schemas.openxmlformats.org/drawingml/2006/main" xmlns:r="http://schemas.openxmlformats.org/officeDocument/2006/relationships" xmlns:p="http://schemas.openxmlformats.org/presentationml/2006/main">
  <p:tag name="THINKCELLSHAPEDONOTDELETE" val="tP.DvntoqnPPt6UQYdckBUw"/>
</p:tagLst>
</file>

<file path=ppt/tags/tag685.xml><?xml version="1.0" encoding="utf-8"?>
<p:tagLst xmlns:a="http://schemas.openxmlformats.org/drawingml/2006/main" xmlns:r="http://schemas.openxmlformats.org/officeDocument/2006/relationships" xmlns:p="http://schemas.openxmlformats.org/presentationml/2006/main">
  <p:tag name="THINKCELLSHAPEDONOTDELETE" val="tE101dn4JW_0.sY9R8jD8rA"/>
</p:tagLst>
</file>

<file path=ppt/tags/tag686.xml><?xml version="1.0" encoding="utf-8"?>
<p:tagLst xmlns:a="http://schemas.openxmlformats.org/drawingml/2006/main" xmlns:r="http://schemas.openxmlformats.org/officeDocument/2006/relationships" xmlns:p="http://schemas.openxmlformats.org/presentationml/2006/main">
  <p:tag name="THINKCELLSHAPEDONOTDELETE" val="tKVXH4J0tF4d13jjfxmOMnA"/>
</p:tagLst>
</file>

<file path=ppt/tags/tag687.xml><?xml version="1.0" encoding="utf-8"?>
<p:tagLst xmlns:a="http://schemas.openxmlformats.org/drawingml/2006/main" xmlns:r="http://schemas.openxmlformats.org/officeDocument/2006/relationships" xmlns:p="http://schemas.openxmlformats.org/presentationml/2006/main">
  <p:tag name="THINKCELLSHAPEDONOTDELETE" val="tSkojWemDC2p0qIAdtigw9A"/>
</p:tagLst>
</file>

<file path=ppt/tags/tag688.xml><?xml version="1.0" encoding="utf-8"?>
<p:tagLst xmlns:a="http://schemas.openxmlformats.org/drawingml/2006/main" xmlns:r="http://schemas.openxmlformats.org/officeDocument/2006/relationships" xmlns:p="http://schemas.openxmlformats.org/presentationml/2006/main">
  <p:tag name="THINKCELLSHAPEDONOTDELETE" val="trK4iqrA6WwCiZ0AOZ0CWDA"/>
</p:tagLst>
</file>

<file path=ppt/tags/tag689.xml><?xml version="1.0" encoding="utf-8"?>
<p:tagLst xmlns:a="http://schemas.openxmlformats.org/drawingml/2006/main" xmlns:r="http://schemas.openxmlformats.org/officeDocument/2006/relationships" xmlns:p="http://schemas.openxmlformats.org/presentationml/2006/main">
  <p:tag name="THINKCELLSHAPEDONOTDELETE" val="t2LcosLmbWFYhGFuZvx65OQ"/>
</p:tagLst>
</file>

<file path=ppt/tags/tag690.xml><?xml version="1.0" encoding="utf-8"?>
<p:tagLst xmlns:a="http://schemas.openxmlformats.org/drawingml/2006/main" xmlns:r="http://schemas.openxmlformats.org/officeDocument/2006/relationships" xmlns:p="http://schemas.openxmlformats.org/presentationml/2006/main">
  <p:tag name="THINKCELLSHAPEDONOTDELETE" val="t_EVj3nCOyYTSeiMVLsOvPQ"/>
</p:tagLst>
</file>

<file path=ppt/tags/tag691.xml><?xml version="1.0" encoding="utf-8"?>
<p:tagLst xmlns:a="http://schemas.openxmlformats.org/drawingml/2006/main" xmlns:r="http://schemas.openxmlformats.org/officeDocument/2006/relationships" xmlns:p="http://schemas.openxmlformats.org/presentationml/2006/main">
  <p:tag name="THINKCELLSHAPEDONOTDELETE" val="th9xRBkH1gogStQsYTc_KCA"/>
</p:tagLst>
</file>

<file path=ppt/tags/tag692.xml><?xml version="1.0" encoding="utf-8"?>
<p:tagLst xmlns:a="http://schemas.openxmlformats.org/drawingml/2006/main" xmlns:r="http://schemas.openxmlformats.org/officeDocument/2006/relationships" xmlns:p="http://schemas.openxmlformats.org/presentationml/2006/main">
  <p:tag name="THINKCELLSHAPEDONOTDELETE" val="tbpBVp4.CuNQDlvoEJDp3fg"/>
</p:tagLst>
</file>

<file path=ppt/tags/tag693.xml><?xml version="1.0" encoding="utf-8"?>
<p:tagLst xmlns:a="http://schemas.openxmlformats.org/drawingml/2006/main" xmlns:r="http://schemas.openxmlformats.org/officeDocument/2006/relationships" xmlns:p="http://schemas.openxmlformats.org/presentationml/2006/main">
  <p:tag name="THINKCELLSHAPEDONOTDELETE" val="tIn6jbFtbyqwe54xK308GuA"/>
</p:tagLst>
</file>

<file path=ppt/tags/tag694.xml><?xml version="1.0" encoding="utf-8"?>
<p:tagLst xmlns:a="http://schemas.openxmlformats.org/drawingml/2006/main" xmlns:r="http://schemas.openxmlformats.org/officeDocument/2006/relationships" xmlns:p="http://schemas.openxmlformats.org/presentationml/2006/main">
  <p:tag name="THINKCELLSHAPEDONOTDELETE" val="tN6zeP.v9s.9nGSkIg3oVVQ"/>
</p:tagLst>
</file>

<file path=ppt/tags/tag695.xml><?xml version="1.0" encoding="utf-8"?>
<p:tagLst xmlns:a="http://schemas.openxmlformats.org/drawingml/2006/main" xmlns:r="http://schemas.openxmlformats.org/officeDocument/2006/relationships" xmlns:p="http://schemas.openxmlformats.org/presentationml/2006/main">
  <p:tag name="THINKCELLSHAPEDONOTDELETE" val="tfD8yKvWWfmJE.nBmDevEtg"/>
</p:tagLst>
</file>

<file path=ppt/tags/tag69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97.xml><?xml version="1.0" encoding="utf-8"?>
<p:tagLst xmlns:a="http://schemas.openxmlformats.org/drawingml/2006/main" xmlns:r="http://schemas.openxmlformats.org/officeDocument/2006/relationships" xmlns:p="http://schemas.openxmlformats.org/presentationml/2006/main">
  <p:tag name="THINKCELLSHAPEDONOTDELETE" val="tMrgCpLDNQ1AfIV9RENFRsQ"/>
</p:tagLst>
</file>

<file path=ppt/tags/tag69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99.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700.xml><?xml version="1.0" encoding="utf-8"?>
<p:tagLst xmlns:a="http://schemas.openxmlformats.org/drawingml/2006/main" xmlns:r="http://schemas.openxmlformats.org/officeDocument/2006/relationships" xmlns:p="http://schemas.openxmlformats.org/presentationml/2006/main">
  <p:tag name="HEADER" val="True"/>
</p:tagLst>
</file>

<file path=ppt/tags/tag701.xml><?xml version="1.0" encoding="utf-8"?>
<p:tagLst xmlns:a="http://schemas.openxmlformats.org/drawingml/2006/main" xmlns:r="http://schemas.openxmlformats.org/officeDocument/2006/relationships" xmlns:p="http://schemas.openxmlformats.org/presentationml/2006/main">
  <p:tag name="HEADER" val="True"/>
</p:tagLst>
</file>

<file path=ppt/tags/tag702.xml><?xml version="1.0" encoding="utf-8"?>
<p:tagLst xmlns:a="http://schemas.openxmlformats.org/drawingml/2006/main" xmlns:r="http://schemas.openxmlformats.org/officeDocument/2006/relationships" xmlns:p="http://schemas.openxmlformats.org/presentationml/2006/main">
  <p:tag name="THINKCELLSHAPEDONOTDELETE" val="teCASSRIp2.98d9MX3zcD7Q"/>
</p:tagLst>
</file>

<file path=ppt/tags/tag703.xml><?xml version="1.0" encoding="utf-8"?>
<p:tagLst xmlns:a="http://schemas.openxmlformats.org/drawingml/2006/main" xmlns:r="http://schemas.openxmlformats.org/officeDocument/2006/relationships" xmlns:p="http://schemas.openxmlformats.org/presentationml/2006/main">
  <p:tag name="THINKCELLSHAPEDONOTDELETE" val="t_nQfEFhgZuUXgKvps9TB.A"/>
</p:tagLst>
</file>

<file path=ppt/tags/tag704.xml><?xml version="1.0" encoding="utf-8"?>
<p:tagLst xmlns:a="http://schemas.openxmlformats.org/drawingml/2006/main" xmlns:r="http://schemas.openxmlformats.org/officeDocument/2006/relationships" xmlns:p="http://schemas.openxmlformats.org/presentationml/2006/main">
  <p:tag name="THINKCELLSHAPEDONOTDELETE" val="tgIE31lr4X5bCUqfVaZMWOA"/>
</p:tagLst>
</file>

<file path=ppt/tags/tag705.xml><?xml version="1.0" encoding="utf-8"?>
<p:tagLst xmlns:a="http://schemas.openxmlformats.org/drawingml/2006/main" xmlns:r="http://schemas.openxmlformats.org/officeDocument/2006/relationships" xmlns:p="http://schemas.openxmlformats.org/presentationml/2006/main">
  <p:tag name="THINKCELLSHAPEDONOTDELETE" val="tnMSRLiJzS1EcwZgyUgM6Qg"/>
</p:tagLst>
</file>

<file path=ppt/tags/tag706.xml><?xml version="1.0" encoding="utf-8"?>
<p:tagLst xmlns:a="http://schemas.openxmlformats.org/drawingml/2006/main" xmlns:r="http://schemas.openxmlformats.org/officeDocument/2006/relationships" xmlns:p="http://schemas.openxmlformats.org/presentationml/2006/main">
  <p:tag name="THINKCELLSHAPEDONOTDELETE" val="tDyMcqrvnInUjafBOWTOeuw"/>
</p:tagLst>
</file>

<file path=ppt/tags/tag707.xml><?xml version="1.0" encoding="utf-8"?>
<p:tagLst xmlns:a="http://schemas.openxmlformats.org/drawingml/2006/main" xmlns:r="http://schemas.openxmlformats.org/officeDocument/2006/relationships" xmlns:p="http://schemas.openxmlformats.org/presentationml/2006/main">
  <p:tag name="THINKCELLSHAPEDONOTDELETE" val="tDlXFBbn3AeObaVH31JfPSQ"/>
</p:tagLst>
</file>

<file path=ppt/tags/tag708.xml><?xml version="1.0" encoding="utf-8"?>
<p:tagLst xmlns:a="http://schemas.openxmlformats.org/drawingml/2006/main" xmlns:r="http://schemas.openxmlformats.org/officeDocument/2006/relationships" xmlns:p="http://schemas.openxmlformats.org/presentationml/2006/main">
  <p:tag name="THINKCELLSHAPEDONOTDELETE" val="t5TolVMeVixFVIEbgmsWwKA"/>
</p:tagLst>
</file>

<file path=ppt/tags/tag709.xml><?xml version="1.0" encoding="utf-8"?>
<p:tagLst xmlns:a="http://schemas.openxmlformats.org/drawingml/2006/main" xmlns:r="http://schemas.openxmlformats.org/officeDocument/2006/relationships" xmlns:p="http://schemas.openxmlformats.org/presentationml/2006/main">
  <p:tag name="THINKCELLSHAPEDONOTDELETE" val="tqwg2fcHvsKT3p1St2Jp_qA"/>
</p:tagLst>
</file>

<file path=ppt/tags/tag710.xml><?xml version="1.0" encoding="utf-8"?>
<p:tagLst xmlns:a="http://schemas.openxmlformats.org/drawingml/2006/main" xmlns:r="http://schemas.openxmlformats.org/officeDocument/2006/relationships" xmlns:p="http://schemas.openxmlformats.org/presentationml/2006/main">
  <p:tag name="THINKCELLSHAPEDONOTDELETE" val="tOntR3.jlcnroNVIWmwZQmA"/>
</p:tagLst>
</file>

<file path=ppt/tags/tag711.xml><?xml version="1.0" encoding="utf-8"?>
<p:tagLst xmlns:a="http://schemas.openxmlformats.org/drawingml/2006/main" xmlns:r="http://schemas.openxmlformats.org/officeDocument/2006/relationships" xmlns:p="http://schemas.openxmlformats.org/presentationml/2006/main">
  <p:tag name="THINKCELLSHAPEDONOTDELETE" val="tLP_1nq.v3kX2vRKGZaGLOg"/>
</p:tagLst>
</file>

<file path=ppt/tags/tag712.xml><?xml version="1.0" encoding="utf-8"?>
<p:tagLst xmlns:a="http://schemas.openxmlformats.org/drawingml/2006/main" xmlns:r="http://schemas.openxmlformats.org/officeDocument/2006/relationships" xmlns:p="http://schemas.openxmlformats.org/presentationml/2006/main">
  <p:tag name="THINKCELLSHAPEDONOTDELETE" val="t0fDPAfFLzlvAS6WI_Wiw5A"/>
</p:tagLst>
</file>

<file path=ppt/tags/tag7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4.xml><?xml version="1.0" encoding="utf-8"?>
<p:tagLst xmlns:a="http://schemas.openxmlformats.org/drawingml/2006/main" xmlns:r="http://schemas.openxmlformats.org/officeDocument/2006/relationships" xmlns:p="http://schemas.openxmlformats.org/presentationml/2006/main">
  <p:tag name="THINKCELLSHAPEDONOTDELETE" val="tce2yaSG4b7QrcyzjBV.QXw"/>
</p:tagLst>
</file>

<file path=ppt/tags/tag715.xml><?xml version="1.0" encoding="utf-8"?>
<p:tagLst xmlns:a="http://schemas.openxmlformats.org/drawingml/2006/main" xmlns:r="http://schemas.openxmlformats.org/officeDocument/2006/relationships" xmlns:p="http://schemas.openxmlformats.org/presentationml/2006/main">
  <p:tag name="HEADER" val="True"/>
</p:tagLst>
</file>

<file path=ppt/tags/tag716.xml><?xml version="1.0" encoding="utf-8"?>
<p:tagLst xmlns:a="http://schemas.openxmlformats.org/drawingml/2006/main" xmlns:r="http://schemas.openxmlformats.org/officeDocument/2006/relationships" xmlns:p="http://schemas.openxmlformats.org/presentationml/2006/main">
  <p:tag name="HEADER" val="True"/>
</p:tagLst>
</file>

<file path=ppt/tags/tag7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8.xml><?xml version="1.0" encoding="utf-8"?>
<p:tagLst xmlns:a="http://schemas.openxmlformats.org/drawingml/2006/main" xmlns:r="http://schemas.openxmlformats.org/officeDocument/2006/relationships" xmlns:p="http://schemas.openxmlformats.org/presentationml/2006/main">
  <p:tag name="THINKCELLSHAPEDONOTDELETE" val="tHAdf.JIcnB3lewf7lMaF6w"/>
</p:tagLst>
</file>

<file path=ppt/tags/tag719.xml><?xml version="1.0" encoding="utf-8"?>
<p:tagLst xmlns:a="http://schemas.openxmlformats.org/drawingml/2006/main" xmlns:r="http://schemas.openxmlformats.org/officeDocument/2006/relationships" xmlns:p="http://schemas.openxmlformats.org/presentationml/2006/main">
  <p:tag name="HEADER" val="True"/>
</p:tagLst>
</file>

<file path=ppt/tags/tag720.xml><?xml version="1.0" encoding="utf-8"?>
<p:tagLst xmlns:a="http://schemas.openxmlformats.org/drawingml/2006/main" xmlns:r="http://schemas.openxmlformats.org/officeDocument/2006/relationships" xmlns:p="http://schemas.openxmlformats.org/presentationml/2006/main">
  <p:tag name="HEADER" val="True"/>
</p:tagLst>
</file>

<file path=ppt/tags/tag721.xml><?xml version="1.0" encoding="utf-8"?>
<p:tagLst xmlns:a="http://schemas.openxmlformats.org/drawingml/2006/main" xmlns:r="http://schemas.openxmlformats.org/officeDocument/2006/relationships" xmlns:p="http://schemas.openxmlformats.org/presentationml/2006/main">
  <p:tag name="THINKCELLSHAPEDONOTDELETE" val="tWlvXqV0SnFNeVngHw.zZTA"/>
</p:tagLst>
</file>

<file path=ppt/tags/tag722.xml><?xml version="1.0" encoding="utf-8"?>
<p:tagLst xmlns:a="http://schemas.openxmlformats.org/drawingml/2006/main" xmlns:r="http://schemas.openxmlformats.org/officeDocument/2006/relationships" xmlns:p="http://schemas.openxmlformats.org/presentationml/2006/main">
  <p:tag name="THINKCELLSHAPEDONOTDELETE" val="tCja7piPGuLcxgTMXvBSaSw"/>
</p:tagLst>
</file>

<file path=ppt/tags/tag723.xml><?xml version="1.0" encoding="utf-8"?>
<p:tagLst xmlns:a="http://schemas.openxmlformats.org/drawingml/2006/main" xmlns:r="http://schemas.openxmlformats.org/officeDocument/2006/relationships" xmlns:p="http://schemas.openxmlformats.org/presentationml/2006/main">
  <p:tag name="THINKCELLSHAPEDONOTDELETE" val="tyUkmiObvmV5.togbAYF1xA"/>
</p:tagLst>
</file>

<file path=ppt/tags/tag724.xml><?xml version="1.0" encoding="utf-8"?>
<p:tagLst xmlns:a="http://schemas.openxmlformats.org/drawingml/2006/main" xmlns:r="http://schemas.openxmlformats.org/officeDocument/2006/relationships" xmlns:p="http://schemas.openxmlformats.org/presentationml/2006/main">
  <p:tag name="THINKCELLSHAPEDONOTDELETE" val="txrETJbjFdprnDRQ8ZwrtCQ"/>
</p:tagLst>
</file>

<file path=ppt/tags/tag725.xml><?xml version="1.0" encoding="utf-8"?>
<p:tagLst xmlns:a="http://schemas.openxmlformats.org/drawingml/2006/main" xmlns:r="http://schemas.openxmlformats.org/officeDocument/2006/relationships" xmlns:p="http://schemas.openxmlformats.org/presentationml/2006/main">
  <p:tag name="THINKCELLSHAPEDONOTDELETE" val="tyaPNs3AumdsyCh7wtQzbFA"/>
</p:tagLst>
</file>

<file path=ppt/tags/tag726.xml><?xml version="1.0" encoding="utf-8"?>
<p:tagLst xmlns:a="http://schemas.openxmlformats.org/drawingml/2006/main" xmlns:r="http://schemas.openxmlformats.org/officeDocument/2006/relationships" xmlns:p="http://schemas.openxmlformats.org/presentationml/2006/main">
  <p:tag name="THINKCELLSHAPEDONOTDELETE" val="tzNhCuzFh2lCHhgV2V08hlw"/>
</p:tagLst>
</file>

<file path=ppt/tags/tag727.xml><?xml version="1.0" encoding="utf-8"?>
<p:tagLst xmlns:a="http://schemas.openxmlformats.org/drawingml/2006/main" xmlns:r="http://schemas.openxmlformats.org/officeDocument/2006/relationships" xmlns:p="http://schemas.openxmlformats.org/presentationml/2006/main">
  <p:tag name="THINKCELLSHAPEDONOTDELETE" val="tmkD9aYUGulRCyqe0.Yr06w"/>
</p:tagLst>
</file>

<file path=ppt/tags/tag728.xml><?xml version="1.0" encoding="utf-8"?>
<p:tagLst xmlns:a="http://schemas.openxmlformats.org/drawingml/2006/main" xmlns:r="http://schemas.openxmlformats.org/officeDocument/2006/relationships" xmlns:p="http://schemas.openxmlformats.org/presentationml/2006/main">
  <p:tag name="THINKCELLSHAPEDONOTDELETE" val="tVFvM3Tbce75MGHtuHSNkYA"/>
</p:tagLst>
</file>

<file path=ppt/tags/tag729.xml><?xml version="1.0" encoding="utf-8"?>
<p:tagLst xmlns:a="http://schemas.openxmlformats.org/drawingml/2006/main" xmlns:r="http://schemas.openxmlformats.org/officeDocument/2006/relationships" xmlns:p="http://schemas.openxmlformats.org/presentationml/2006/main">
  <p:tag name="THINKCELLSHAPEDONOTDELETE" val="tZWHzUpKanSX1kixMfMFfNQ"/>
</p:tagLst>
</file>

<file path=ppt/tags/tag730.xml><?xml version="1.0" encoding="utf-8"?>
<p:tagLst xmlns:a="http://schemas.openxmlformats.org/drawingml/2006/main" xmlns:r="http://schemas.openxmlformats.org/officeDocument/2006/relationships" xmlns:p="http://schemas.openxmlformats.org/presentationml/2006/main">
  <p:tag name="THINKCELLSHAPEDONOTDELETE" val="tSFiyeC1XgyLiVEyiyMm_ZQ"/>
</p:tagLst>
</file>

<file path=ppt/tags/tag731.xml><?xml version="1.0" encoding="utf-8"?>
<p:tagLst xmlns:a="http://schemas.openxmlformats.org/drawingml/2006/main" xmlns:r="http://schemas.openxmlformats.org/officeDocument/2006/relationships" xmlns:p="http://schemas.openxmlformats.org/presentationml/2006/main">
  <p:tag name="THINKCELLSHAPEDONOTDELETE" val="tuif1WLV8.c6yp.rYrF73Cw"/>
</p:tagLst>
</file>

<file path=ppt/tags/tag732.xml><?xml version="1.0" encoding="utf-8"?>
<p:tagLst xmlns:a="http://schemas.openxmlformats.org/drawingml/2006/main" xmlns:r="http://schemas.openxmlformats.org/officeDocument/2006/relationships" xmlns:p="http://schemas.openxmlformats.org/presentationml/2006/main">
  <p:tag name="THINKCELLSHAPEDONOTDELETE" val="t0Y_VoGwsqCP.1wwOYZzbQQ"/>
</p:tagLst>
</file>

<file path=ppt/tags/tag733.xml><?xml version="1.0" encoding="utf-8"?>
<p:tagLst xmlns:a="http://schemas.openxmlformats.org/drawingml/2006/main" xmlns:r="http://schemas.openxmlformats.org/officeDocument/2006/relationships" xmlns:p="http://schemas.openxmlformats.org/presentationml/2006/main">
  <p:tag name="THINKCELLSHAPEDONOTDELETE" val="tZ6SAHSVTQaVD573OWbkhHA"/>
</p:tagLst>
</file>

<file path=ppt/tags/tag7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5.xml><?xml version="1.0" encoding="utf-8"?>
<p:tagLst xmlns:a="http://schemas.openxmlformats.org/drawingml/2006/main" xmlns:r="http://schemas.openxmlformats.org/officeDocument/2006/relationships" xmlns:p="http://schemas.openxmlformats.org/presentationml/2006/main">
  <p:tag name="THINKCELLSHAPEDONOTDELETE" val="tHAdf.JIcnB3lewf7lMaF6w"/>
</p:tagLst>
</file>

<file path=ppt/tags/tag736.xml><?xml version="1.0" encoding="utf-8"?>
<p:tagLst xmlns:a="http://schemas.openxmlformats.org/drawingml/2006/main" xmlns:r="http://schemas.openxmlformats.org/officeDocument/2006/relationships" xmlns:p="http://schemas.openxmlformats.org/presentationml/2006/main">
  <p:tag name="HEADER" val="True"/>
</p:tagLst>
</file>

<file path=ppt/tags/tag737.xml><?xml version="1.0" encoding="utf-8"?>
<p:tagLst xmlns:a="http://schemas.openxmlformats.org/drawingml/2006/main" xmlns:r="http://schemas.openxmlformats.org/officeDocument/2006/relationships" xmlns:p="http://schemas.openxmlformats.org/presentationml/2006/main">
  <p:tag name="HEADER" val="True"/>
</p:tagLst>
</file>

<file path=ppt/tags/tag738.xml><?xml version="1.0" encoding="utf-8"?>
<p:tagLst xmlns:a="http://schemas.openxmlformats.org/drawingml/2006/main" xmlns:r="http://schemas.openxmlformats.org/officeDocument/2006/relationships" xmlns:p="http://schemas.openxmlformats.org/presentationml/2006/main">
  <p:tag name="THINKCELLSHAPEDONOTDELETE" val="t5k6N_NQKEAk2sEk.9rYUTA"/>
</p:tagLst>
</file>

<file path=ppt/tags/tag739.xml><?xml version="1.0" encoding="utf-8"?>
<p:tagLst xmlns:a="http://schemas.openxmlformats.org/drawingml/2006/main" xmlns:r="http://schemas.openxmlformats.org/officeDocument/2006/relationships" xmlns:p="http://schemas.openxmlformats.org/presentationml/2006/main">
  <p:tag name="THINKCELLSHAPEDONOTDELETE" val="t96Qnp6Lf_1mjJKSK0DKjuA"/>
</p:tagLst>
</file>

<file path=ppt/tags/tag740.xml><?xml version="1.0" encoding="utf-8"?>
<p:tagLst xmlns:a="http://schemas.openxmlformats.org/drawingml/2006/main" xmlns:r="http://schemas.openxmlformats.org/officeDocument/2006/relationships" xmlns:p="http://schemas.openxmlformats.org/presentationml/2006/main">
  <p:tag name="THINKCELLSHAPEDONOTDELETE" val="thv1FFHFL2EotaqSnxaK06w"/>
</p:tagLst>
</file>

<file path=ppt/tags/tag741.xml><?xml version="1.0" encoding="utf-8"?>
<p:tagLst xmlns:a="http://schemas.openxmlformats.org/drawingml/2006/main" xmlns:r="http://schemas.openxmlformats.org/officeDocument/2006/relationships" xmlns:p="http://schemas.openxmlformats.org/presentationml/2006/main">
  <p:tag name="THINKCELLSHAPEDONOTDELETE" val="txTVtCNh5sFzcjrydqguiOg"/>
</p:tagLst>
</file>

<file path=ppt/tags/tag742.xml><?xml version="1.0" encoding="utf-8"?>
<p:tagLst xmlns:a="http://schemas.openxmlformats.org/drawingml/2006/main" xmlns:r="http://schemas.openxmlformats.org/officeDocument/2006/relationships" xmlns:p="http://schemas.openxmlformats.org/presentationml/2006/main">
  <p:tag name="THINKCELLSHAPEDONOTDELETE" val="tePnXZMC3hkfnbvGPWc5OUA"/>
</p:tagLst>
</file>

<file path=ppt/tags/tag743.xml><?xml version="1.0" encoding="utf-8"?>
<p:tagLst xmlns:a="http://schemas.openxmlformats.org/drawingml/2006/main" xmlns:r="http://schemas.openxmlformats.org/officeDocument/2006/relationships" xmlns:p="http://schemas.openxmlformats.org/presentationml/2006/main">
  <p:tag name="THINKCELLSHAPEDONOTDELETE" val="tQaiGwTT.tPxDHcH3T3sX4Q"/>
</p:tagLst>
</file>

<file path=ppt/tags/tag744.xml><?xml version="1.0" encoding="utf-8"?>
<p:tagLst xmlns:a="http://schemas.openxmlformats.org/drawingml/2006/main" xmlns:r="http://schemas.openxmlformats.org/officeDocument/2006/relationships" xmlns:p="http://schemas.openxmlformats.org/presentationml/2006/main">
  <p:tag name="THINKCELLSHAPEDONOTDELETE" val="tQ11jtq9X2ztuqVziTfe1hQ"/>
</p:tagLst>
</file>

<file path=ppt/tags/tag745.xml><?xml version="1.0" encoding="utf-8"?>
<p:tagLst xmlns:a="http://schemas.openxmlformats.org/drawingml/2006/main" xmlns:r="http://schemas.openxmlformats.org/officeDocument/2006/relationships" xmlns:p="http://schemas.openxmlformats.org/presentationml/2006/main">
  <p:tag name="THINKCELLSHAPEDONOTDELETE" val="t37f5Va_7MCILnJOAxA7XmQ"/>
</p:tagLst>
</file>

<file path=ppt/tags/tag746.xml><?xml version="1.0" encoding="utf-8"?>
<p:tagLst xmlns:a="http://schemas.openxmlformats.org/drawingml/2006/main" xmlns:r="http://schemas.openxmlformats.org/officeDocument/2006/relationships" xmlns:p="http://schemas.openxmlformats.org/presentationml/2006/main">
  <p:tag name="THINKCELLSHAPEDONOTDELETE" val="tAKadmaKrZJiFw3nPaHZ.Rw"/>
</p:tagLst>
</file>

<file path=ppt/tags/tag747.xml><?xml version="1.0" encoding="utf-8"?>
<p:tagLst xmlns:a="http://schemas.openxmlformats.org/drawingml/2006/main" xmlns:r="http://schemas.openxmlformats.org/officeDocument/2006/relationships" xmlns:p="http://schemas.openxmlformats.org/presentationml/2006/main">
  <p:tag name="THINKCELLSHAPEDONOTDELETE" val="tvD9yuBVidYZaQb_Scu7N2g"/>
</p:tagLst>
</file>

<file path=ppt/tags/tag748.xml><?xml version="1.0" encoding="utf-8"?>
<p:tagLst xmlns:a="http://schemas.openxmlformats.org/drawingml/2006/main" xmlns:r="http://schemas.openxmlformats.org/officeDocument/2006/relationships" xmlns:p="http://schemas.openxmlformats.org/presentationml/2006/main">
  <p:tag name="THINKCELLSHAPEDONOTDELETE" val="tl3ZvbglsOwYqJMYlh.e4Nw"/>
</p:tagLst>
</file>

<file path=ppt/tags/tag749.xml><?xml version="1.0" encoding="utf-8"?>
<p:tagLst xmlns:a="http://schemas.openxmlformats.org/drawingml/2006/main" xmlns:r="http://schemas.openxmlformats.org/officeDocument/2006/relationships" xmlns:p="http://schemas.openxmlformats.org/presentationml/2006/main">
  <p:tag name="THINKCELLSHAPEDONOTDELETE" val="tszpXTaHDuLTKnO8kJb2v4Q"/>
</p:tagLst>
</file>

<file path=ppt/tags/tag750.xml><?xml version="1.0" encoding="utf-8"?>
<p:tagLst xmlns:a="http://schemas.openxmlformats.org/drawingml/2006/main" xmlns:r="http://schemas.openxmlformats.org/officeDocument/2006/relationships" xmlns:p="http://schemas.openxmlformats.org/presentationml/2006/main">
  <p:tag name="THINKCELLSHAPEDONOTDELETE" val="tjL.XIDKA2G.VlihFFvDdLg"/>
</p:tagLst>
</file>

<file path=ppt/tags/tag751.xml><?xml version="1.0" encoding="utf-8"?>
<p:tagLst xmlns:a="http://schemas.openxmlformats.org/drawingml/2006/main" xmlns:r="http://schemas.openxmlformats.org/officeDocument/2006/relationships" xmlns:p="http://schemas.openxmlformats.org/presentationml/2006/main">
  <p:tag name="THINKCELLSHAPEDONOTDELETE" val="tsI_YDemOLTK.bU1cW6lpXw"/>
</p:tagLst>
</file>

<file path=ppt/tags/tag752.xml><?xml version="1.0" encoding="utf-8"?>
<p:tagLst xmlns:a="http://schemas.openxmlformats.org/drawingml/2006/main" xmlns:r="http://schemas.openxmlformats.org/officeDocument/2006/relationships" xmlns:p="http://schemas.openxmlformats.org/presentationml/2006/main">
  <p:tag name="THINKCELLSHAPEDONOTDELETE" val="t3HQTgU2Q6IlWk_.PWxzWSw"/>
</p:tagLst>
</file>

<file path=ppt/tags/tag753.xml><?xml version="1.0" encoding="utf-8"?>
<p:tagLst xmlns:a="http://schemas.openxmlformats.org/drawingml/2006/main" xmlns:r="http://schemas.openxmlformats.org/officeDocument/2006/relationships" xmlns:p="http://schemas.openxmlformats.org/presentationml/2006/main">
  <p:tag name="THINKCELLSHAPEDONOTDELETE" val="tr1FA8Fh7ES_sJUtmF7rr.g"/>
</p:tagLst>
</file>

<file path=ppt/tags/tag754.xml><?xml version="1.0" encoding="utf-8"?>
<p:tagLst xmlns:a="http://schemas.openxmlformats.org/drawingml/2006/main" xmlns:r="http://schemas.openxmlformats.org/officeDocument/2006/relationships" xmlns:p="http://schemas.openxmlformats.org/presentationml/2006/main">
  <p:tag name="THINKCELLSHAPEDONOTDELETE" val="t0OdKO83KpcrttvNu5R7e4A"/>
</p:tagLst>
</file>

<file path=ppt/tags/tag755.xml><?xml version="1.0" encoding="utf-8"?>
<p:tagLst xmlns:a="http://schemas.openxmlformats.org/drawingml/2006/main" xmlns:r="http://schemas.openxmlformats.org/officeDocument/2006/relationships" xmlns:p="http://schemas.openxmlformats.org/presentationml/2006/main">
  <p:tag name="THINKCELLSHAPEDONOTDELETE" val="tUjFELc59ZhWROtiMMdgYyw"/>
</p:tagLst>
</file>

<file path=ppt/tags/tag756.xml><?xml version="1.0" encoding="utf-8"?>
<p:tagLst xmlns:a="http://schemas.openxmlformats.org/drawingml/2006/main" xmlns:r="http://schemas.openxmlformats.org/officeDocument/2006/relationships" xmlns:p="http://schemas.openxmlformats.org/presentationml/2006/main">
  <p:tag name="THINKCELLSHAPEDONOTDELETE" val="tOwR6OQFKF_ZvMiDVkE_NKw"/>
</p:tagLst>
</file>

<file path=ppt/tags/tag757.xml><?xml version="1.0" encoding="utf-8"?>
<p:tagLst xmlns:a="http://schemas.openxmlformats.org/drawingml/2006/main" xmlns:r="http://schemas.openxmlformats.org/officeDocument/2006/relationships" xmlns:p="http://schemas.openxmlformats.org/presentationml/2006/main">
  <p:tag name="THINKCELLSHAPEDONOTDELETE" val="tZC2IdmRUTNmKoIlbdDZniQ"/>
</p:tagLst>
</file>

<file path=ppt/tags/tag758.xml><?xml version="1.0" encoding="utf-8"?>
<p:tagLst xmlns:a="http://schemas.openxmlformats.org/drawingml/2006/main" xmlns:r="http://schemas.openxmlformats.org/officeDocument/2006/relationships" xmlns:p="http://schemas.openxmlformats.org/presentationml/2006/main">
  <p:tag name="THINKCELLSHAPEDONOTDELETE" val="tYVpwKXNb1yR1QHxU3Nj9Aw"/>
</p:tagLst>
</file>

<file path=ppt/tags/tag75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60.xml><?xml version="1.0" encoding="utf-8"?>
<p:tagLst xmlns:a="http://schemas.openxmlformats.org/drawingml/2006/main" xmlns:r="http://schemas.openxmlformats.org/officeDocument/2006/relationships" xmlns:p="http://schemas.openxmlformats.org/presentationml/2006/main">
  <p:tag name="THINKCELLSHAPEDONOTDELETE" val="tMrgCpLDNQ1AfIV9RENFRsQ"/>
</p:tagLst>
</file>

<file path=ppt/tags/tag76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62.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763.xml><?xml version="1.0" encoding="utf-8"?>
<p:tagLst xmlns:a="http://schemas.openxmlformats.org/drawingml/2006/main" xmlns:r="http://schemas.openxmlformats.org/officeDocument/2006/relationships" xmlns:p="http://schemas.openxmlformats.org/presentationml/2006/main">
  <p:tag name="HEADER" val="True"/>
</p:tagLst>
</file>

<file path=ppt/tags/tag764.xml><?xml version="1.0" encoding="utf-8"?>
<p:tagLst xmlns:a="http://schemas.openxmlformats.org/drawingml/2006/main" xmlns:r="http://schemas.openxmlformats.org/officeDocument/2006/relationships" xmlns:p="http://schemas.openxmlformats.org/presentationml/2006/main">
  <p:tag name="HEADER" val="True"/>
</p:tagLst>
</file>

<file path=ppt/tags/tag765.xml><?xml version="1.0" encoding="utf-8"?>
<p:tagLst xmlns:a="http://schemas.openxmlformats.org/drawingml/2006/main" xmlns:r="http://schemas.openxmlformats.org/officeDocument/2006/relationships" xmlns:p="http://schemas.openxmlformats.org/presentationml/2006/main">
  <p:tag name="THINKCELLSHAPEDONOTDELETE" val="twiCGpxKVoThSHxdPTQJHUQ"/>
</p:tagLst>
</file>

<file path=ppt/tags/tag766.xml><?xml version="1.0" encoding="utf-8"?>
<p:tagLst xmlns:a="http://schemas.openxmlformats.org/drawingml/2006/main" xmlns:r="http://schemas.openxmlformats.org/officeDocument/2006/relationships" xmlns:p="http://schemas.openxmlformats.org/presentationml/2006/main">
  <p:tag name="THINKCELLSHAPEDONOTDELETE" val="txW8nOlxWUfZo.u7ZPSogYg"/>
</p:tagLst>
</file>

<file path=ppt/tags/tag767.xml><?xml version="1.0" encoding="utf-8"?>
<p:tagLst xmlns:a="http://schemas.openxmlformats.org/drawingml/2006/main" xmlns:r="http://schemas.openxmlformats.org/officeDocument/2006/relationships" xmlns:p="http://schemas.openxmlformats.org/presentationml/2006/main">
  <p:tag name="THINKCELLSHAPEDONOTDELETE" val="tBQOilEkFJ7CGUnVZJYM78A"/>
</p:tagLst>
</file>

<file path=ppt/tags/tag768.xml><?xml version="1.0" encoding="utf-8"?>
<p:tagLst xmlns:a="http://schemas.openxmlformats.org/drawingml/2006/main" xmlns:r="http://schemas.openxmlformats.org/officeDocument/2006/relationships" xmlns:p="http://schemas.openxmlformats.org/presentationml/2006/main">
  <p:tag name="THINKCELLSHAPEDONOTDELETE" val="te_PheHPetsZhaFLQooAFFA"/>
</p:tagLst>
</file>

<file path=ppt/tags/tag769.xml><?xml version="1.0" encoding="utf-8"?>
<p:tagLst xmlns:a="http://schemas.openxmlformats.org/drawingml/2006/main" xmlns:r="http://schemas.openxmlformats.org/officeDocument/2006/relationships" xmlns:p="http://schemas.openxmlformats.org/presentationml/2006/main">
  <p:tag name="THINKCELLSHAPEDONOTDELETE" val="tOcOeNTYdacw0unxv2Km08A"/>
</p:tagLst>
</file>

<file path=ppt/tags/tag770.xml><?xml version="1.0" encoding="utf-8"?>
<p:tagLst xmlns:a="http://schemas.openxmlformats.org/drawingml/2006/main" xmlns:r="http://schemas.openxmlformats.org/officeDocument/2006/relationships" xmlns:p="http://schemas.openxmlformats.org/presentationml/2006/main">
  <p:tag name="THINKCELLSHAPEDONOTDELETE" val="tyWY8G4YDrKikG9619q9T5A"/>
</p:tagLst>
</file>

<file path=ppt/tags/tag771.xml><?xml version="1.0" encoding="utf-8"?>
<p:tagLst xmlns:a="http://schemas.openxmlformats.org/drawingml/2006/main" xmlns:r="http://schemas.openxmlformats.org/officeDocument/2006/relationships" xmlns:p="http://schemas.openxmlformats.org/presentationml/2006/main">
  <p:tag name="THINKCELLSHAPEDONOTDELETE" val="tiRuIiu3BXsA7KuRTocCDcg"/>
</p:tagLst>
</file>

<file path=ppt/tags/tag772.xml><?xml version="1.0" encoding="utf-8"?>
<p:tagLst xmlns:a="http://schemas.openxmlformats.org/drawingml/2006/main" xmlns:r="http://schemas.openxmlformats.org/officeDocument/2006/relationships" xmlns:p="http://schemas.openxmlformats.org/presentationml/2006/main">
  <p:tag name="THINKCELLSHAPEDONOTDELETE" val="tGnlpNCGY5nb6xsWFkBb8.Q"/>
</p:tagLst>
</file>

<file path=ppt/tags/tag773.xml><?xml version="1.0" encoding="utf-8"?>
<p:tagLst xmlns:a="http://schemas.openxmlformats.org/drawingml/2006/main" xmlns:r="http://schemas.openxmlformats.org/officeDocument/2006/relationships" xmlns:p="http://schemas.openxmlformats.org/presentationml/2006/main">
  <p:tag name="THINKCELLSHAPEDONOTDELETE" val="tfublqmWUDMgeH3SRuuTTGg"/>
</p:tagLst>
</file>

<file path=ppt/tags/tag774.xml><?xml version="1.0" encoding="utf-8"?>
<p:tagLst xmlns:a="http://schemas.openxmlformats.org/drawingml/2006/main" xmlns:r="http://schemas.openxmlformats.org/officeDocument/2006/relationships" xmlns:p="http://schemas.openxmlformats.org/presentationml/2006/main">
  <p:tag name="THINKCELLSHAPEDONOTDELETE" val="tOcgq.z_naiVO3f09YxGv_w"/>
</p:tagLst>
</file>

<file path=ppt/tags/tag775.xml><?xml version="1.0" encoding="utf-8"?>
<p:tagLst xmlns:a="http://schemas.openxmlformats.org/drawingml/2006/main" xmlns:r="http://schemas.openxmlformats.org/officeDocument/2006/relationships" xmlns:p="http://schemas.openxmlformats.org/presentationml/2006/main">
  <p:tag name="THINKCELLSHAPEDONOTDELETE" val="tSbjPX_opos.RqG3708hUUA"/>
</p:tagLst>
</file>

<file path=ppt/tags/tag776.xml><?xml version="1.0" encoding="utf-8"?>
<p:tagLst xmlns:a="http://schemas.openxmlformats.org/drawingml/2006/main" xmlns:r="http://schemas.openxmlformats.org/officeDocument/2006/relationships" xmlns:p="http://schemas.openxmlformats.org/presentationml/2006/main">
  <p:tag name="THINKCELLSHAPEDONOTDELETE" val="tsdMjjKGcIJnIN1Hz3emwoA"/>
</p:tagLst>
</file>

<file path=ppt/tags/tag777.xml><?xml version="1.0" encoding="utf-8"?>
<p:tagLst xmlns:a="http://schemas.openxmlformats.org/drawingml/2006/main" xmlns:r="http://schemas.openxmlformats.org/officeDocument/2006/relationships" xmlns:p="http://schemas.openxmlformats.org/presentationml/2006/main">
  <p:tag name="THINKCELLSHAPEDONOTDELETE" val="twJzGLrNdoGXCbOAiPd2exw"/>
</p:tagLst>
</file>

<file path=ppt/tags/tag778.xml><?xml version="1.0" encoding="utf-8"?>
<p:tagLst xmlns:a="http://schemas.openxmlformats.org/drawingml/2006/main" xmlns:r="http://schemas.openxmlformats.org/officeDocument/2006/relationships" xmlns:p="http://schemas.openxmlformats.org/presentationml/2006/main">
  <p:tag name="THINKCELLSHAPEDONOTDELETE" val="tlMu.8Pb82URHoV5U_Dlnag"/>
</p:tagLst>
</file>

<file path=ppt/tags/tag779.xml><?xml version="1.0" encoding="utf-8"?>
<p:tagLst xmlns:a="http://schemas.openxmlformats.org/drawingml/2006/main" xmlns:r="http://schemas.openxmlformats.org/officeDocument/2006/relationships" xmlns:p="http://schemas.openxmlformats.org/presentationml/2006/main">
  <p:tag name="THINKCELLSHAPEDONOTDELETE" val="tnbDi3.HRvUWMbse7qYdhsw"/>
</p:tagLst>
</file>

<file path=ppt/tags/tag780.xml><?xml version="1.0" encoding="utf-8"?>
<p:tagLst xmlns:a="http://schemas.openxmlformats.org/drawingml/2006/main" xmlns:r="http://schemas.openxmlformats.org/officeDocument/2006/relationships" xmlns:p="http://schemas.openxmlformats.org/presentationml/2006/main">
  <p:tag name="THINKCELLSHAPEDONOTDELETE" val="tY1XhWNvcBn3Z.uvn_ozmjQ"/>
</p:tagLst>
</file>

<file path=ppt/tags/tag781.xml><?xml version="1.0" encoding="utf-8"?>
<p:tagLst xmlns:a="http://schemas.openxmlformats.org/drawingml/2006/main" xmlns:r="http://schemas.openxmlformats.org/officeDocument/2006/relationships" xmlns:p="http://schemas.openxmlformats.org/presentationml/2006/main">
  <p:tag name="THINKCELLSHAPEDONOTDELETE" val="tbIzr3D0tpUlO0uziZGjzZg"/>
</p:tagLst>
</file>

<file path=ppt/tags/tag782.xml><?xml version="1.0" encoding="utf-8"?>
<p:tagLst xmlns:a="http://schemas.openxmlformats.org/drawingml/2006/main" xmlns:r="http://schemas.openxmlformats.org/officeDocument/2006/relationships" xmlns:p="http://schemas.openxmlformats.org/presentationml/2006/main">
  <p:tag name="THINKCELLSHAPEDONOTDELETE" val="tPhu5uIR2dHDBgwbzmfmNUg"/>
</p:tagLst>
</file>

<file path=ppt/tags/tag783.xml><?xml version="1.0" encoding="utf-8"?>
<p:tagLst xmlns:a="http://schemas.openxmlformats.org/drawingml/2006/main" xmlns:r="http://schemas.openxmlformats.org/officeDocument/2006/relationships" xmlns:p="http://schemas.openxmlformats.org/presentationml/2006/main">
  <p:tag name="THINKCELLSHAPEDONOTDELETE" val="twExbzrGVcu4HIJQSuiLwWw"/>
</p:tagLst>
</file>

<file path=ppt/tags/tag784.xml><?xml version="1.0" encoding="utf-8"?>
<p:tagLst xmlns:a="http://schemas.openxmlformats.org/drawingml/2006/main" xmlns:r="http://schemas.openxmlformats.org/officeDocument/2006/relationships" xmlns:p="http://schemas.openxmlformats.org/presentationml/2006/main">
  <p:tag name="THINKCELLSHAPEDONOTDELETE" val="tJfYb4xxswGyuI5eOL8_Lyw"/>
</p:tagLst>
</file>

<file path=ppt/tags/tag785.xml><?xml version="1.0" encoding="utf-8"?>
<p:tagLst xmlns:a="http://schemas.openxmlformats.org/drawingml/2006/main" xmlns:r="http://schemas.openxmlformats.org/officeDocument/2006/relationships" xmlns:p="http://schemas.openxmlformats.org/presentationml/2006/main">
  <p:tag name="THINKCELLSHAPEDONOTDELETE" val="tGZIo27Nquo28CGpfOAjhHw"/>
</p:tagLst>
</file>

<file path=ppt/tags/tag786.xml><?xml version="1.0" encoding="utf-8"?>
<p:tagLst xmlns:a="http://schemas.openxmlformats.org/drawingml/2006/main" xmlns:r="http://schemas.openxmlformats.org/officeDocument/2006/relationships" xmlns:p="http://schemas.openxmlformats.org/presentationml/2006/main">
  <p:tag name="THINKCELLSHAPEDONOTDELETE" val="tcIm6y3t1nbp7R3Rp47NK_A"/>
</p:tagLst>
</file>

<file path=ppt/tags/tag787.xml><?xml version="1.0" encoding="utf-8"?>
<p:tagLst xmlns:a="http://schemas.openxmlformats.org/drawingml/2006/main" xmlns:r="http://schemas.openxmlformats.org/officeDocument/2006/relationships" xmlns:p="http://schemas.openxmlformats.org/presentationml/2006/main">
  <p:tag name="THINKCELLSHAPEDONOTDELETE" val="tw3eX09eegMj8sCLew3P83w"/>
</p:tagLst>
</file>

<file path=ppt/tags/tag788.xml><?xml version="1.0" encoding="utf-8"?>
<p:tagLst xmlns:a="http://schemas.openxmlformats.org/drawingml/2006/main" xmlns:r="http://schemas.openxmlformats.org/officeDocument/2006/relationships" xmlns:p="http://schemas.openxmlformats.org/presentationml/2006/main">
  <p:tag name="THINKCELLSHAPEDONOTDELETE" val="t5cDQZqwBSCECgfZc_4WJZA"/>
</p:tagLst>
</file>

<file path=ppt/tags/tag789.xml><?xml version="1.0" encoding="utf-8"?>
<p:tagLst xmlns:a="http://schemas.openxmlformats.org/drawingml/2006/main" xmlns:r="http://schemas.openxmlformats.org/officeDocument/2006/relationships" xmlns:p="http://schemas.openxmlformats.org/presentationml/2006/main">
  <p:tag name="THINKCELLSHAPEDONOTDELETE" val="trAEbWdH4jwRgGW5HmxuPew"/>
</p:tagLst>
</file>

<file path=ppt/tags/tag790.xml><?xml version="1.0" encoding="utf-8"?>
<p:tagLst xmlns:a="http://schemas.openxmlformats.org/drawingml/2006/main" xmlns:r="http://schemas.openxmlformats.org/officeDocument/2006/relationships" xmlns:p="http://schemas.openxmlformats.org/presentationml/2006/main">
  <p:tag name="THINKCELLSHAPEDONOTDELETE" val="tt3VG9zEuZFHCs6znQJfLEQ"/>
</p:tagLst>
</file>

<file path=ppt/tags/tag791.xml><?xml version="1.0" encoding="utf-8"?>
<p:tagLst xmlns:a="http://schemas.openxmlformats.org/drawingml/2006/main" xmlns:r="http://schemas.openxmlformats.org/officeDocument/2006/relationships" xmlns:p="http://schemas.openxmlformats.org/presentationml/2006/main">
  <p:tag name="THINKCELLSHAPEDONOTDELETE" val="tyflfGajQOwrtPNdNE3_98g"/>
</p:tagLst>
</file>

<file path=ppt/tags/tag792.xml><?xml version="1.0" encoding="utf-8"?>
<p:tagLst xmlns:a="http://schemas.openxmlformats.org/drawingml/2006/main" xmlns:r="http://schemas.openxmlformats.org/officeDocument/2006/relationships" xmlns:p="http://schemas.openxmlformats.org/presentationml/2006/main">
  <p:tag name="THINKCELLSHAPEDONOTDELETE" val="tNyoXJhPyJM0TiJHaKu8iRQ"/>
</p:tagLst>
</file>

<file path=ppt/tags/tag793.xml><?xml version="1.0" encoding="utf-8"?>
<p:tagLst xmlns:a="http://schemas.openxmlformats.org/drawingml/2006/main" xmlns:r="http://schemas.openxmlformats.org/officeDocument/2006/relationships" xmlns:p="http://schemas.openxmlformats.org/presentationml/2006/main">
  <p:tag name="THINKCELLSHAPEDONOTDELETE" val="tW4joTtouvfjg9YaK_FxHtw"/>
</p:tagLst>
</file>

<file path=ppt/tags/tag794.xml><?xml version="1.0" encoding="utf-8"?>
<p:tagLst xmlns:a="http://schemas.openxmlformats.org/drawingml/2006/main" xmlns:r="http://schemas.openxmlformats.org/officeDocument/2006/relationships" xmlns:p="http://schemas.openxmlformats.org/presentationml/2006/main">
  <p:tag name="THINKCELLSHAPEDONOTDELETE" val="thpf5mgfGitZr45NlP1kleQ"/>
</p:tagLst>
</file>

<file path=ppt/tags/tag795.xml><?xml version="1.0" encoding="utf-8"?>
<p:tagLst xmlns:a="http://schemas.openxmlformats.org/drawingml/2006/main" xmlns:r="http://schemas.openxmlformats.org/officeDocument/2006/relationships" xmlns:p="http://schemas.openxmlformats.org/presentationml/2006/main">
  <p:tag name="THINKCELLSHAPEDONOTDELETE" val="t7RTCnPamVV5_HmvPUa0egg"/>
</p:tagLst>
</file>

<file path=ppt/tags/tag796.xml><?xml version="1.0" encoding="utf-8"?>
<p:tagLst xmlns:a="http://schemas.openxmlformats.org/drawingml/2006/main" xmlns:r="http://schemas.openxmlformats.org/officeDocument/2006/relationships" xmlns:p="http://schemas.openxmlformats.org/presentationml/2006/main">
  <p:tag name="THINKCELLSHAPEDONOTDELETE" val="tjHFvAgGorrRx_tNr7H8wfw"/>
</p:tagLst>
</file>

<file path=ppt/tags/tag797.xml><?xml version="1.0" encoding="utf-8"?>
<p:tagLst xmlns:a="http://schemas.openxmlformats.org/drawingml/2006/main" xmlns:r="http://schemas.openxmlformats.org/officeDocument/2006/relationships" xmlns:p="http://schemas.openxmlformats.org/presentationml/2006/main">
  <p:tag name="THINKCELLSHAPEDONOTDELETE" val="tpTa5mned67LidTtQrLtUtg"/>
</p:tagLst>
</file>

<file path=ppt/tags/tag798.xml><?xml version="1.0" encoding="utf-8"?>
<p:tagLst xmlns:a="http://schemas.openxmlformats.org/drawingml/2006/main" xmlns:r="http://schemas.openxmlformats.org/officeDocument/2006/relationships" xmlns:p="http://schemas.openxmlformats.org/presentationml/2006/main">
  <p:tag name="THINKCELLSHAPEDONOTDELETE" val="tZmTljm5.2BEJQQMctZuL6w"/>
</p:tagLst>
</file>

<file path=ppt/tags/tag799.xml><?xml version="1.0" encoding="utf-8"?>
<p:tagLst xmlns:a="http://schemas.openxmlformats.org/drawingml/2006/main" xmlns:r="http://schemas.openxmlformats.org/officeDocument/2006/relationships" xmlns:p="http://schemas.openxmlformats.org/presentationml/2006/main">
  <p:tag name="THINKCELLSHAPEDONOTDELETE" val="t8uOcBaOksTgBHrBEVRDd4Q"/>
</p:tagLst>
</file>

<file path=ppt/tags/tag80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01.xml><?xml version="1.0" encoding="utf-8"?>
<p:tagLst xmlns:a="http://schemas.openxmlformats.org/drawingml/2006/main" xmlns:r="http://schemas.openxmlformats.org/officeDocument/2006/relationships" xmlns:p="http://schemas.openxmlformats.org/presentationml/2006/main">
  <p:tag name="THINKCELLSHAPEDONOTDELETE" val="tMrgCpLDNQ1AfIV9RENFRsQ"/>
</p:tagLst>
</file>

<file path=ppt/tags/tag80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03.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804.xml><?xml version="1.0" encoding="utf-8"?>
<p:tagLst xmlns:a="http://schemas.openxmlformats.org/drawingml/2006/main" xmlns:r="http://schemas.openxmlformats.org/officeDocument/2006/relationships" xmlns:p="http://schemas.openxmlformats.org/presentationml/2006/main">
  <p:tag name="HEADER" val="True"/>
</p:tagLst>
</file>

<file path=ppt/tags/tag805.xml><?xml version="1.0" encoding="utf-8"?>
<p:tagLst xmlns:a="http://schemas.openxmlformats.org/drawingml/2006/main" xmlns:r="http://schemas.openxmlformats.org/officeDocument/2006/relationships" xmlns:p="http://schemas.openxmlformats.org/presentationml/2006/main">
  <p:tag name="HEADER" val="True"/>
</p:tagLst>
</file>

<file path=ppt/tags/tag806.xml><?xml version="1.0" encoding="utf-8"?>
<p:tagLst xmlns:a="http://schemas.openxmlformats.org/drawingml/2006/main" xmlns:r="http://schemas.openxmlformats.org/officeDocument/2006/relationships" xmlns:p="http://schemas.openxmlformats.org/presentationml/2006/main">
  <p:tag name="THINKCELLSHAPEDONOTDELETE" val="t5CHEOiWQynXCt7Us5j07ag"/>
</p:tagLst>
</file>

<file path=ppt/tags/tag807.xml><?xml version="1.0" encoding="utf-8"?>
<p:tagLst xmlns:a="http://schemas.openxmlformats.org/drawingml/2006/main" xmlns:r="http://schemas.openxmlformats.org/officeDocument/2006/relationships" xmlns:p="http://schemas.openxmlformats.org/presentationml/2006/main">
  <p:tag name="THINKCELLSHAPEDONOTDELETE" val="tMTidXWFiR23LK.RFQQB6Vw"/>
</p:tagLst>
</file>

<file path=ppt/tags/tag808.xml><?xml version="1.0" encoding="utf-8"?>
<p:tagLst xmlns:a="http://schemas.openxmlformats.org/drawingml/2006/main" xmlns:r="http://schemas.openxmlformats.org/officeDocument/2006/relationships" xmlns:p="http://schemas.openxmlformats.org/presentationml/2006/main">
  <p:tag name="THINKCELLSHAPEDONOTDELETE" val="tn2o3LacC6YDEXdWahhxYvw"/>
</p:tagLst>
</file>

<file path=ppt/tags/tag809.xml><?xml version="1.0" encoding="utf-8"?>
<p:tagLst xmlns:a="http://schemas.openxmlformats.org/drawingml/2006/main" xmlns:r="http://schemas.openxmlformats.org/officeDocument/2006/relationships" xmlns:p="http://schemas.openxmlformats.org/presentationml/2006/main">
  <p:tag name="THINKCELLSHAPEDONOTDELETE" val="tuHHPsbWEeLqpgBpUHyIDZw"/>
</p:tagLst>
</file>

<file path=ppt/tags/tag810.xml><?xml version="1.0" encoding="utf-8"?>
<p:tagLst xmlns:a="http://schemas.openxmlformats.org/drawingml/2006/main" xmlns:r="http://schemas.openxmlformats.org/officeDocument/2006/relationships" xmlns:p="http://schemas.openxmlformats.org/presentationml/2006/main">
  <p:tag name="THINKCELLSHAPEDONOTDELETE" val="tN1gjbp3xGOQQxFI_qVEh6w"/>
</p:tagLst>
</file>

<file path=ppt/tags/tag811.xml><?xml version="1.0" encoding="utf-8"?>
<p:tagLst xmlns:a="http://schemas.openxmlformats.org/drawingml/2006/main" xmlns:r="http://schemas.openxmlformats.org/officeDocument/2006/relationships" xmlns:p="http://schemas.openxmlformats.org/presentationml/2006/main">
  <p:tag name="THINKCELLSHAPEDONOTDELETE" val="t1k2jUyl_rLSQgBHswtLdxQ"/>
</p:tagLst>
</file>

<file path=ppt/tags/tag812.xml><?xml version="1.0" encoding="utf-8"?>
<p:tagLst xmlns:a="http://schemas.openxmlformats.org/drawingml/2006/main" xmlns:r="http://schemas.openxmlformats.org/officeDocument/2006/relationships" xmlns:p="http://schemas.openxmlformats.org/presentationml/2006/main">
  <p:tag name="THINKCELLSHAPEDONOTDELETE" val="t8KFpTkjRn_HdfWvnPoqEzw"/>
</p:tagLst>
</file>

<file path=ppt/tags/tag813.xml><?xml version="1.0" encoding="utf-8"?>
<p:tagLst xmlns:a="http://schemas.openxmlformats.org/drawingml/2006/main" xmlns:r="http://schemas.openxmlformats.org/officeDocument/2006/relationships" xmlns:p="http://schemas.openxmlformats.org/presentationml/2006/main">
  <p:tag name="THINKCELLSHAPEDONOTDELETE" val="tKtDM8ALCBnbthcCt93mYSg"/>
</p:tagLst>
</file>

<file path=ppt/tags/tag814.xml><?xml version="1.0" encoding="utf-8"?>
<p:tagLst xmlns:a="http://schemas.openxmlformats.org/drawingml/2006/main" xmlns:r="http://schemas.openxmlformats.org/officeDocument/2006/relationships" xmlns:p="http://schemas.openxmlformats.org/presentationml/2006/main">
  <p:tag name="THINKCELLSHAPEDONOTDELETE" val="tGzz0KqG3g91yDS2avn7g1A"/>
</p:tagLst>
</file>

<file path=ppt/tags/tag815.xml><?xml version="1.0" encoding="utf-8"?>
<p:tagLst xmlns:a="http://schemas.openxmlformats.org/drawingml/2006/main" xmlns:r="http://schemas.openxmlformats.org/officeDocument/2006/relationships" xmlns:p="http://schemas.openxmlformats.org/presentationml/2006/main">
  <p:tag name="THINKCELLSHAPEDONOTDELETE" val="t311E2E4LTOkGyjgHxKR8RA"/>
</p:tagLst>
</file>

<file path=ppt/tags/tag816.xml><?xml version="1.0" encoding="utf-8"?>
<p:tagLst xmlns:a="http://schemas.openxmlformats.org/drawingml/2006/main" xmlns:r="http://schemas.openxmlformats.org/officeDocument/2006/relationships" xmlns:p="http://schemas.openxmlformats.org/presentationml/2006/main">
  <p:tag name="THINKCELLSHAPEDONOTDELETE" val="tlhbmTKNrzVCBnlUUbnAuhQ"/>
</p:tagLst>
</file>

<file path=ppt/tags/tag817.xml><?xml version="1.0" encoding="utf-8"?>
<p:tagLst xmlns:a="http://schemas.openxmlformats.org/drawingml/2006/main" xmlns:r="http://schemas.openxmlformats.org/officeDocument/2006/relationships" xmlns:p="http://schemas.openxmlformats.org/presentationml/2006/main">
  <p:tag name="THINKCELLSHAPEDONOTDELETE" val="tt5V5duQr_nuWMhjhVCk42w"/>
</p:tagLst>
</file>

<file path=ppt/tags/tag818.xml><?xml version="1.0" encoding="utf-8"?>
<p:tagLst xmlns:a="http://schemas.openxmlformats.org/drawingml/2006/main" xmlns:r="http://schemas.openxmlformats.org/officeDocument/2006/relationships" xmlns:p="http://schemas.openxmlformats.org/presentationml/2006/main">
  <p:tag name="THINKCELLSHAPEDONOTDELETE" val="tZR7vdKgHXSeZXH3DXLmKHA"/>
</p:tagLst>
</file>

<file path=ppt/tags/tag819.xml><?xml version="1.0" encoding="utf-8"?>
<p:tagLst xmlns:a="http://schemas.openxmlformats.org/drawingml/2006/main" xmlns:r="http://schemas.openxmlformats.org/officeDocument/2006/relationships" xmlns:p="http://schemas.openxmlformats.org/presentationml/2006/main">
  <p:tag name="THINKCELLSHAPEDONOTDELETE" val="te9zVGE2.JOnzYC50MaGy2A"/>
</p:tagLst>
</file>

<file path=ppt/tags/tag820.xml><?xml version="1.0" encoding="utf-8"?>
<p:tagLst xmlns:a="http://schemas.openxmlformats.org/drawingml/2006/main" xmlns:r="http://schemas.openxmlformats.org/officeDocument/2006/relationships" xmlns:p="http://schemas.openxmlformats.org/presentationml/2006/main">
  <p:tag name="THINKCELLSHAPEDONOTDELETE" val="tbxG91ZhC9PAuwVemZEnO0g"/>
</p:tagLst>
</file>

<file path=ppt/tags/tag821.xml><?xml version="1.0" encoding="utf-8"?>
<p:tagLst xmlns:a="http://schemas.openxmlformats.org/drawingml/2006/main" xmlns:r="http://schemas.openxmlformats.org/officeDocument/2006/relationships" xmlns:p="http://schemas.openxmlformats.org/presentationml/2006/main">
  <p:tag name="THINKCELLSHAPEDONOTDELETE" val="t3OFt_5ugHEuUFL2kEEwEuQ"/>
</p:tagLst>
</file>

<file path=ppt/tags/tag822.xml><?xml version="1.0" encoding="utf-8"?>
<p:tagLst xmlns:a="http://schemas.openxmlformats.org/drawingml/2006/main" xmlns:r="http://schemas.openxmlformats.org/officeDocument/2006/relationships" xmlns:p="http://schemas.openxmlformats.org/presentationml/2006/main">
  <p:tag name="THINKCELLSHAPEDONOTDELETE" val="tKOpCJO0j44p2Ipy_TYVmVg"/>
</p:tagLst>
</file>

<file path=ppt/tags/tag823.xml><?xml version="1.0" encoding="utf-8"?>
<p:tagLst xmlns:a="http://schemas.openxmlformats.org/drawingml/2006/main" xmlns:r="http://schemas.openxmlformats.org/officeDocument/2006/relationships" xmlns:p="http://schemas.openxmlformats.org/presentationml/2006/main">
  <p:tag name="THINKCELLSHAPEDONOTDELETE" val="tKbeIfUrUpw5b6Oy5jJxH0A"/>
</p:tagLst>
</file>

<file path=ppt/tags/tag8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25.xml><?xml version="1.0" encoding="utf-8"?>
<p:tagLst xmlns:a="http://schemas.openxmlformats.org/drawingml/2006/main" xmlns:r="http://schemas.openxmlformats.org/officeDocument/2006/relationships" xmlns:p="http://schemas.openxmlformats.org/presentationml/2006/main">
  <p:tag name="THINKCELLSHAPEDONOTDELETE" val="tp_vI6BZn4aJlUa5qLEJnxg"/>
</p:tagLst>
</file>

<file path=ppt/tags/tag826.xml><?xml version="1.0" encoding="utf-8"?>
<p:tagLst xmlns:a="http://schemas.openxmlformats.org/drawingml/2006/main" xmlns:r="http://schemas.openxmlformats.org/officeDocument/2006/relationships" xmlns:p="http://schemas.openxmlformats.org/presentationml/2006/main">
  <p:tag name="THINKCELLSHAPEDONOTDELETE" val="tuEZtq7Jr7S1SkZv6uZh5oA"/>
</p:tagLst>
</file>

<file path=ppt/tags/tag827.xml><?xml version="1.0" encoding="utf-8"?>
<p:tagLst xmlns:a="http://schemas.openxmlformats.org/drawingml/2006/main" xmlns:r="http://schemas.openxmlformats.org/officeDocument/2006/relationships" xmlns:p="http://schemas.openxmlformats.org/presentationml/2006/main">
  <p:tag name="THINKCELLSHAPEDONOTDELETE" val="ttjbBgFQU.TYRKlRLquharQ"/>
</p:tagLst>
</file>

<file path=ppt/tags/tag828.xml><?xml version="1.0" encoding="utf-8"?>
<p:tagLst xmlns:a="http://schemas.openxmlformats.org/drawingml/2006/main" xmlns:r="http://schemas.openxmlformats.org/officeDocument/2006/relationships" xmlns:p="http://schemas.openxmlformats.org/presentationml/2006/main">
  <p:tag name="THINKCELLSHAPEDONOTDELETE" val="t8JDVufQwARhVlgZwKoWVlw"/>
</p:tagLst>
</file>

<file path=ppt/tags/tag829.xml><?xml version="1.0" encoding="utf-8"?>
<p:tagLst xmlns:a="http://schemas.openxmlformats.org/drawingml/2006/main" xmlns:r="http://schemas.openxmlformats.org/officeDocument/2006/relationships" xmlns:p="http://schemas.openxmlformats.org/presentationml/2006/main">
  <p:tag name="THINKCELLSHAPEDONOTDELETE" val="tvv.wUO.6rqFXxG9k2kYwlA"/>
</p:tagLst>
</file>

<file path=ppt/tags/tag830.xml><?xml version="1.0" encoding="utf-8"?>
<p:tagLst xmlns:a="http://schemas.openxmlformats.org/drawingml/2006/main" xmlns:r="http://schemas.openxmlformats.org/officeDocument/2006/relationships" xmlns:p="http://schemas.openxmlformats.org/presentationml/2006/main">
  <p:tag name="THINKCELLSHAPEDONOTDELETE" val="tIHTeZ.D0HDkEDfPJan.qxA"/>
</p:tagLst>
</file>

<file path=ppt/tags/tag831.xml><?xml version="1.0" encoding="utf-8"?>
<p:tagLst xmlns:a="http://schemas.openxmlformats.org/drawingml/2006/main" xmlns:r="http://schemas.openxmlformats.org/officeDocument/2006/relationships" xmlns:p="http://schemas.openxmlformats.org/presentationml/2006/main">
  <p:tag name="THINKCELLSHAPEDONOTDELETE" val="tYbLTy.ReCmP0mPvnFTvEbw"/>
</p:tagLst>
</file>

<file path=ppt/tags/tag832.xml><?xml version="1.0" encoding="utf-8"?>
<p:tagLst xmlns:a="http://schemas.openxmlformats.org/drawingml/2006/main" xmlns:r="http://schemas.openxmlformats.org/officeDocument/2006/relationships" xmlns:p="http://schemas.openxmlformats.org/presentationml/2006/main">
  <p:tag name="HEADER" val="True"/>
</p:tagLst>
</file>

<file path=ppt/tags/tag833.xml><?xml version="1.0" encoding="utf-8"?>
<p:tagLst xmlns:a="http://schemas.openxmlformats.org/drawingml/2006/main" xmlns:r="http://schemas.openxmlformats.org/officeDocument/2006/relationships" xmlns:p="http://schemas.openxmlformats.org/presentationml/2006/main">
  <p:tag name="THINKCELLSHAPEDONOTDELETE" val="tGWilJXteuspKeRd4tsv_kA"/>
</p:tagLst>
</file>

<file path=ppt/tags/tag834.xml><?xml version="1.0" encoding="utf-8"?>
<p:tagLst xmlns:a="http://schemas.openxmlformats.org/drawingml/2006/main" xmlns:r="http://schemas.openxmlformats.org/officeDocument/2006/relationships" xmlns:p="http://schemas.openxmlformats.org/presentationml/2006/main">
  <p:tag name="THINKCELLSHAPEDONOTDELETE" val="tw5p5PDPT997Whn6ETdnJlQ"/>
</p:tagLst>
</file>

<file path=ppt/tags/tag835.xml><?xml version="1.0" encoding="utf-8"?>
<p:tagLst xmlns:a="http://schemas.openxmlformats.org/drawingml/2006/main" xmlns:r="http://schemas.openxmlformats.org/officeDocument/2006/relationships" xmlns:p="http://schemas.openxmlformats.org/presentationml/2006/main">
  <p:tag name="THINKCELLSHAPEDONOTDELETE" val="tArHN0FfiTbHuVXtC2U4.lA"/>
</p:tagLst>
</file>

<file path=ppt/tags/tag836.xml><?xml version="1.0" encoding="utf-8"?>
<p:tagLst xmlns:a="http://schemas.openxmlformats.org/drawingml/2006/main" xmlns:r="http://schemas.openxmlformats.org/officeDocument/2006/relationships" xmlns:p="http://schemas.openxmlformats.org/presentationml/2006/main">
  <p:tag name="THINKCELLSHAPEDONOTDELETE" val="t_aDC6t1E64eQwpvYaK4hhg"/>
</p:tagLst>
</file>

<file path=ppt/tags/tag837.xml><?xml version="1.0" encoding="utf-8"?>
<p:tagLst xmlns:a="http://schemas.openxmlformats.org/drawingml/2006/main" xmlns:r="http://schemas.openxmlformats.org/officeDocument/2006/relationships" xmlns:p="http://schemas.openxmlformats.org/presentationml/2006/main">
  <p:tag name="THINKCELLSHAPEDONOTDELETE" val="tmFLj5MrSlMZQ6POMjPke0Q"/>
</p:tagLst>
</file>

<file path=ppt/tags/tag838.xml><?xml version="1.0" encoding="utf-8"?>
<p:tagLst xmlns:a="http://schemas.openxmlformats.org/drawingml/2006/main" xmlns:r="http://schemas.openxmlformats.org/officeDocument/2006/relationships" xmlns:p="http://schemas.openxmlformats.org/presentationml/2006/main">
  <p:tag name="THINKCELLSHAPEDONOTDELETE" val="tcpY3bXr_Es6SbCzciDhlCw"/>
</p:tagLst>
</file>

<file path=ppt/tags/tag839.xml><?xml version="1.0" encoding="utf-8"?>
<p:tagLst xmlns:a="http://schemas.openxmlformats.org/drawingml/2006/main" xmlns:r="http://schemas.openxmlformats.org/officeDocument/2006/relationships" xmlns:p="http://schemas.openxmlformats.org/presentationml/2006/main">
  <p:tag name="THINKCELLSHAPEDONOTDELETE" val="tgNDaAjd2AyzzYq716Mg0PA"/>
</p:tagLst>
</file>

<file path=ppt/tags/tag840.xml><?xml version="1.0" encoding="utf-8"?>
<p:tagLst xmlns:a="http://schemas.openxmlformats.org/drawingml/2006/main" xmlns:r="http://schemas.openxmlformats.org/officeDocument/2006/relationships" xmlns:p="http://schemas.openxmlformats.org/presentationml/2006/main">
  <p:tag name="HEADER" val="True"/>
</p:tagLst>
</file>

<file path=ppt/tags/tag841.xml><?xml version="1.0" encoding="utf-8"?>
<p:tagLst xmlns:a="http://schemas.openxmlformats.org/drawingml/2006/main" xmlns:r="http://schemas.openxmlformats.org/officeDocument/2006/relationships" xmlns:p="http://schemas.openxmlformats.org/presentationml/2006/main">
  <p:tag name="THINKCELLSHAPEDONOTDELETE" val="t23l.WdmJsXMe9yFjFAADMA"/>
</p:tagLst>
</file>

<file path=ppt/tags/tag842.xml><?xml version="1.0" encoding="utf-8"?>
<p:tagLst xmlns:a="http://schemas.openxmlformats.org/drawingml/2006/main" xmlns:r="http://schemas.openxmlformats.org/officeDocument/2006/relationships" xmlns:p="http://schemas.openxmlformats.org/presentationml/2006/main">
  <p:tag name="THINKCELLSHAPEDONOTDELETE" val="tOR8HmwH9.xq.bsq2Uvd4dQ"/>
</p:tagLst>
</file>

<file path=ppt/tags/tag843.xml><?xml version="1.0" encoding="utf-8"?>
<p:tagLst xmlns:a="http://schemas.openxmlformats.org/drawingml/2006/main" xmlns:r="http://schemas.openxmlformats.org/officeDocument/2006/relationships" xmlns:p="http://schemas.openxmlformats.org/presentationml/2006/main">
  <p:tag name="THINKCELLSHAPEDONOTDELETE" val="tmpXQbrJNqE80gdKoQpNVMw"/>
</p:tagLst>
</file>

<file path=ppt/tags/tag844.xml><?xml version="1.0" encoding="utf-8"?>
<p:tagLst xmlns:a="http://schemas.openxmlformats.org/drawingml/2006/main" xmlns:r="http://schemas.openxmlformats.org/officeDocument/2006/relationships" xmlns:p="http://schemas.openxmlformats.org/presentationml/2006/main">
  <p:tag name="THINKCELLSHAPEDONOTDELETE" val="tU8bKkvg7vRfckpDgiS_POg"/>
</p:tagLst>
</file>

<file path=ppt/tags/tag845.xml><?xml version="1.0" encoding="utf-8"?>
<p:tagLst xmlns:a="http://schemas.openxmlformats.org/drawingml/2006/main" xmlns:r="http://schemas.openxmlformats.org/officeDocument/2006/relationships" xmlns:p="http://schemas.openxmlformats.org/presentationml/2006/main">
  <p:tag name="THINKCELLSHAPEDONOTDELETE" val="tQgHhc6e5C0ijxy0fS.X.ZA"/>
</p:tagLst>
</file>

<file path=ppt/tags/tag846.xml><?xml version="1.0" encoding="utf-8"?>
<p:tagLst xmlns:a="http://schemas.openxmlformats.org/drawingml/2006/main" xmlns:r="http://schemas.openxmlformats.org/officeDocument/2006/relationships" xmlns:p="http://schemas.openxmlformats.org/presentationml/2006/main">
  <p:tag name="THINKCELLSHAPEDONOTDELETE" val="tYQ7uzE3LB6_HWrjpLnSSHg"/>
</p:tagLst>
</file>

<file path=ppt/tags/tag847.xml><?xml version="1.0" encoding="utf-8"?>
<p:tagLst xmlns:a="http://schemas.openxmlformats.org/drawingml/2006/main" xmlns:r="http://schemas.openxmlformats.org/officeDocument/2006/relationships" xmlns:p="http://schemas.openxmlformats.org/presentationml/2006/main">
  <p:tag name="THINKCELLSHAPEDONOTDELETE" val="tbQKiCsegJy4TAkdxE2z_wA"/>
</p:tagLst>
</file>

<file path=ppt/tags/tag848.xml><?xml version="1.0" encoding="utf-8"?>
<p:tagLst xmlns:a="http://schemas.openxmlformats.org/drawingml/2006/main" xmlns:r="http://schemas.openxmlformats.org/officeDocument/2006/relationships" xmlns:p="http://schemas.openxmlformats.org/presentationml/2006/main">
  <p:tag name="THINKCELLSHAPEDONOTDELETE" val="tbZ0JR4SUOd2v8fqAk_R1UA"/>
</p:tagLst>
</file>

<file path=ppt/tags/tag849.xml><?xml version="1.0" encoding="utf-8"?>
<p:tagLst xmlns:a="http://schemas.openxmlformats.org/drawingml/2006/main" xmlns:r="http://schemas.openxmlformats.org/officeDocument/2006/relationships" xmlns:p="http://schemas.openxmlformats.org/presentationml/2006/main">
  <p:tag name="THINKCELLSHAPEDONOTDELETE" val="tC1NSIx3gKuCZn1kmeeCPag"/>
</p:tagLst>
</file>

<file path=ppt/tags/tag850.xml><?xml version="1.0" encoding="utf-8"?>
<p:tagLst xmlns:a="http://schemas.openxmlformats.org/drawingml/2006/main" xmlns:r="http://schemas.openxmlformats.org/officeDocument/2006/relationships" xmlns:p="http://schemas.openxmlformats.org/presentationml/2006/main">
  <p:tag name="THINKCELLSHAPEDONOTDELETE" val="tJys_YLpLudHx.iezLMl7tQ"/>
</p:tagLst>
</file>

<file path=ppt/tags/tag851.xml><?xml version="1.0" encoding="utf-8"?>
<p:tagLst xmlns:a="http://schemas.openxmlformats.org/drawingml/2006/main" xmlns:r="http://schemas.openxmlformats.org/officeDocument/2006/relationships" xmlns:p="http://schemas.openxmlformats.org/presentationml/2006/main">
  <p:tag name="THINKCELLSHAPEDONOTDELETE" val="t5qTyoer2ycgIc9A6uP09yw"/>
</p:tagLst>
</file>

<file path=ppt/tags/tag852.xml><?xml version="1.0" encoding="utf-8"?>
<p:tagLst xmlns:a="http://schemas.openxmlformats.org/drawingml/2006/main" xmlns:r="http://schemas.openxmlformats.org/officeDocument/2006/relationships" xmlns:p="http://schemas.openxmlformats.org/presentationml/2006/main">
  <p:tag name="THINKCELLSHAPEDONOTDELETE" val="tiKuVQUmENil3qJO93DSXEA"/>
</p:tagLst>
</file>

<file path=ppt/tags/tag853.xml><?xml version="1.0" encoding="utf-8"?>
<p:tagLst xmlns:a="http://schemas.openxmlformats.org/drawingml/2006/main" xmlns:r="http://schemas.openxmlformats.org/officeDocument/2006/relationships" xmlns:p="http://schemas.openxmlformats.org/presentationml/2006/main">
  <p:tag name="THINKCELLSHAPEDONOTDELETE" val="tBjTU_AoEYHQKgHPVDmPnkw"/>
</p:tagLst>
</file>

<file path=ppt/tags/tag854.xml><?xml version="1.0" encoding="utf-8"?>
<p:tagLst xmlns:a="http://schemas.openxmlformats.org/drawingml/2006/main" xmlns:r="http://schemas.openxmlformats.org/officeDocument/2006/relationships" xmlns:p="http://schemas.openxmlformats.org/presentationml/2006/main">
  <p:tag name="THINKCELLSHAPEDONOTDELETE" val="tAQq6nOfoJ_crC85iiz61lw"/>
</p:tagLst>
</file>

<file path=ppt/tags/tag85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56.xml><?xml version="1.0" encoding="utf-8"?>
<p:tagLst xmlns:a="http://schemas.openxmlformats.org/drawingml/2006/main" xmlns:r="http://schemas.openxmlformats.org/officeDocument/2006/relationships" xmlns:p="http://schemas.openxmlformats.org/presentationml/2006/main">
  <p:tag name="THINKCELLSHAPEDONOTDELETE" val="tp_vI6BZn4aJlUa5qLEJnxg"/>
</p:tagLst>
</file>

<file path=ppt/tags/tag857.xml><?xml version="1.0" encoding="utf-8"?>
<p:tagLst xmlns:a="http://schemas.openxmlformats.org/drawingml/2006/main" xmlns:r="http://schemas.openxmlformats.org/officeDocument/2006/relationships" xmlns:p="http://schemas.openxmlformats.org/presentationml/2006/main">
  <p:tag name="HEADER" val="True"/>
</p:tagLst>
</file>

<file path=ppt/tags/tag858.xml><?xml version="1.0" encoding="utf-8"?>
<p:tagLst xmlns:a="http://schemas.openxmlformats.org/drawingml/2006/main" xmlns:r="http://schemas.openxmlformats.org/officeDocument/2006/relationships" xmlns:p="http://schemas.openxmlformats.org/presentationml/2006/main">
  <p:tag name="THINKCELLSHAPEDONOTDELETE" val="tFEWK2Qj_zaXde4gd1qS1xQ"/>
</p:tagLst>
</file>

<file path=ppt/tags/tag859.xml><?xml version="1.0" encoding="utf-8"?>
<p:tagLst xmlns:a="http://schemas.openxmlformats.org/drawingml/2006/main" xmlns:r="http://schemas.openxmlformats.org/officeDocument/2006/relationships" xmlns:p="http://schemas.openxmlformats.org/presentationml/2006/main">
  <p:tag name="THINKCELLSHAPEDONOTDELETE" val="tlvKa6AY_O99A7oM4dP84rA"/>
</p:tagLst>
</file>

<file path=ppt/tags/tag860.xml><?xml version="1.0" encoding="utf-8"?>
<p:tagLst xmlns:a="http://schemas.openxmlformats.org/drawingml/2006/main" xmlns:r="http://schemas.openxmlformats.org/officeDocument/2006/relationships" xmlns:p="http://schemas.openxmlformats.org/presentationml/2006/main">
  <p:tag name="THINKCELLSHAPEDONOTDELETE" val="t8CKJj8E7WSGcj.rr_BQsoA"/>
</p:tagLst>
</file>

<file path=ppt/tags/tag861.xml><?xml version="1.0" encoding="utf-8"?>
<p:tagLst xmlns:a="http://schemas.openxmlformats.org/drawingml/2006/main" xmlns:r="http://schemas.openxmlformats.org/officeDocument/2006/relationships" xmlns:p="http://schemas.openxmlformats.org/presentationml/2006/main">
  <p:tag name="THINKCELLSHAPEDONOTDELETE" val="tbDrvbNhYBMz3HahXNDcg4w"/>
</p:tagLst>
</file>

<file path=ppt/tags/tag862.xml><?xml version="1.0" encoding="utf-8"?>
<p:tagLst xmlns:a="http://schemas.openxmlformats.org/drawingml/2006/main" xmlns:r="http://schemas.openxmlformats.org/officeDocument/2006/relationships" xmlns:p="http://schemas.openxmlformats.org/presentationml/2006/main">
  <p:tag name="THINKCELLSHAPEDONOTDELETE" val="tRxhx9oeyZS9HPzb5MeIMkg"/>
</p:tagLst>
</file>

<file path=ppt/tags/tag863.xml><?xml version="1.0" encoding="utf-8"?>
<p:tagLst xmlns:a="http://schemas.openxmlformats.org/drawingml/2006/main" xmlns:r="http://schemas.openxmlformats.org/officeDocument/2006/relationships" xmlns:p="http://schemas.openxmlformats.org/presentationml/2006/main">
  <p:tag name="THINKCELLSHAPEDONOTDELETE" val="tVWNbXgjW6inGkAIaj0bo2A"/>
</p:tagLst>
</file>

<file path=ppt/tags/tag864.xml><?xml version="1.0" encoding="utf-8"?>
<p:tagLst xmlns:a="http://schemas.openxmlformats.org/drawingml/2006/main" xmlns:r="http://schemas.openxmlformats.org/officeDocument/2006/relationships" xmlns:p="http://schemas.openxmlformats.org/presentationml/2006/main">
  <p:tag name="THINKCELLSHAPEDONOTDELETE" val="tkUYtytTT0K.R3D52rDpL4Q"/>
</p:tagLst>
</file>

<file path=ppt/tags/tag865.xml><?xml version="1.0" encoding="utf-8"?>
<p:tagLst xmlns:a="http://schemas.openxmlformats.org/drawingml/2006/main" xmlns:r="http://schemas.openxmlformats.org/officeDocument/2006/relationships" xmlns:p="http://schemas.openxmlformats.org/presentationml/2006/main">
  <p:tag name="THINKCELLSHAPEDONOTDELETE" val="tQJQuYlJvZ_EhiPuarJpLvQ"/>
</p:tagLst>
</file>

<file path=ppt/tags/tag866.xml><?xml version="1.0" encoding="utf-8"?>
<p:tagLst xmlns:a="http://schemas.openxmlformats.org/drawingml/2006/main" xmlns:r="http://schemas.openxmlformats.org/officeDocument/2006/relationships" xmlns:p="http://schemas.openxmlformats.org/presentationml/2006/main">
  <p:tag name="THINKCELLSHAPEDONOTDELETE" val="t0UWUihgP72wDauLnZXnR6Q"/>
</p:tagLst>
</file>

<file path=ppt/tags/tag867.xml><?xml version="1.0" encoding="utf-8"?>
<p:tagLst xmlns:a="http://schemas.openxmlformats.org/drawingml/2006/main" xmlns:r="http://schemas.openxmlformats.org/officeDocument/2006/relationships" xmlns:p="http://schemas.openxmlformats.org/presentationml/2006/main">
  <p:tag name="THINKCELLSHAPEDONOTDELETE" val="t5MuxWEO4t3BEpNKih6fqgQ"/>
</p:tagLst>
</file>

<file path=ppt/tags/tag868.xml><?xml version="1.0" encoding="utf-8"?>
<p:tagLst xmlns:a="http://schemas.openxmlformats.org/drawingml/2006/main" xmlns:r="http://schemas.openxmlformats.org/officeDocument/2006/relationships" xmlns:p="http://schemas.openxmlformats.org/presentationml/2006/main">
  <p:tag name="THINKCELLSHAPEDONOTDELETE" val="takOa9YwIgXLtE2uXvaH8.w"/>
</p:tagLst>
</file>

<file path=ppt/tags/tag869.xml><?xml version="1.0" encoding="utf-8"?>
<p:tagLst xmlns:a="http://schemas.openxmlformats.org/drawingml/2006/main" xmlns:r="http://schemas.openxmlformats.org/officeDocument/2006/relationships" xmlns:p="http://schemas.openxmlformats.org/presentationml/2006/main">
  <p:tag name="THINKCELLSHAPEDONOTDELETE" val="txIujXJby.sf2G8QJR3SNQA"/>
</p:tagLst>
</file>

<file path=ppt/tags/tag870.xml><?xml version="1.0" encoding="utf-8"?>
<p:tagLst xmlns:a="http://schemas.openxmlformats.org/drawingml/2006/main" xmlns:r="http://schemas.openxmlformats.org/officeDocument/2006/relationships" xmlns:p="http://schemas.openxmlformats.org/presentationml/2006/main">
  <p:tag name="THINKCELLSHAPEDONOTDELETE" val="t_KnrA7dHQsVpD2WDuunf_g"/>
</p:tagLst>
</file>

<file path=ppt/tags/tag871.xml><?xml version="1.0" encoding="utf-8"?>
<p:tagLst xmlns:a="http://schemas.openxmlformats.org/drawingml/2006/main" xmlns:r="http://schemas.openxmlformats.org/officeDocument/2006/relationships" xmlns:p="http://schemas.openxmlformats.org/presentationml/2006/main">
  <p:tag name="THINKCELLSHAPEDONOTDELETE" val="tZGxNtCOHn1ofb_1gKViT1g"/>
</p:tagLst>
</file>

<file path=ppt/tags/tag872.xml><?xml version="1.0" encoding="utf-8"?>
<p:tagLst xmlns:a="http://schemas.openxmlformats.org/drawingml/2006/main" xmlns:r="http://schemas.openxmlformats.org/officeDocument/2006/relationships" xmlns:p="http://schemas.openxmlformats.org/presentationml/2006/main">
  <p:tag name="THINKCELLSHAPEDONOTDELETE" val="tl1qCn86OC2GQfAv6Ix0dBw"/>
</p:tagLst>
</file>

<file path=ppt/tags/tag873.xml><?xml version="1.0" encoding="utf-8"?>
<p:tagLst xmlns:a="http://schemas.openxmlformats.org/drawingml/2006/main" xmlns:r="http://schemas.openxmlformats.org/officeDocument/2006/relationships" xmlns:p="http://schemas.openxmlformats.org/presentationml/2006/main">
  <p:tag name="THINKCELLSHAPEDONOTDELETE" val="t4KS.GuwluE36BFfQvWyFaw"/>
</p:tagLst>
</file>

<file path=ppt/tags/tag874.xml><?xml version="1.0" encoding="utf-8"?>
<p:tagLst xmlns:a="http://schemas.openxmlformats.org/drawingml/2006/main" xmlns:r="http://schemas.openxmlformats.org/officeDocument/2006/relationships" xmlns:p="http://schemas.openxmlformats.org/presentationml/2006/main">
  <p:tag name="THINKCELLSHAPEDONOTDELETE" val="t.LvPs9d7MRtwonwR_6MToA"/>
</p:tagLst>
</file>

<file path=ppt/tags/tag875.xml><?xml version="1.0" encoding="utf-8"?>
<p:tagLst xmlns:a="http://schemas.openxmlformats.org/drawingml/2006/main" xmlns:r="http://schemas.openxmlformats.org/officeDocument/2006/relationships" xmlns:p="http://schemas.openxmlformats.org/presentationml/2006/main">
  <p:tag name="THINKCELLSHAPEDONOTDELETE" val="th80DLe1fxLHYjtbOKje07w"/>
</p:tagLst>
</file>

<file path=ppt/tags/tag876.xml><?xml version="1.0" encoding="utf-8"?>
<p:tagLst xmlns:a="http://schemas.openxmlformats.org/drawingml/2006/main" xmlns:r="http://schemas.openxmlformats.org/officeDocument/2006/relationships" xmlns:p="http://schemas.openxmlformats.org/presentationml/2006/main">
  <p:tag name="THINKCELLSHAPEDONOTDELETE" val="tlasqHyW66ceeBjXzy4QIuw"/>
</p:tagLst>
</file>

<file path=ppt/tags/tag877.xml><?xml version="1.0" encoding="utf-8"?>
<p:tagLst xmlns:a="http://schemas.openxmlformats.org/drawingml/2006/main" xmlns:r="http://schemas.openxmlformats.org/officeDocument/2006/relationships" xmlns:p="http://schemas.openxmlformats.org/presentationml/2006/main">
  <p:tag name="THINKCELLSHAPEDONOTDELETE" val="taRMXdUBUEfGIAJJOIOX2kA"/>
</p:tagLst>
</file>

<file path=ppt/tags/tag878.xml><?xml version="1.0" encoding="utf-8"?>
<p:tagLst xmlns:a="http://schemas.openxmlformats.org/drawingml/2006/main" xmlns:r="http://schemas.openxmlformats.org/officeDocument/2006/relationships" xmlns:p="http://schemas.openxmlformats.org/presentationml/2006/main">
  <p:tag name="THINKCELLSHAPEDONOTDELETE" val="tW49BeiN5hlFMVM1J8hGhqQ"/>
</p:tagLst>
</file>

<file path=ppt/tags/tag879.xml><?xml version="1.0" encoding="utf-8"?>
<p:tagLst xmlns:a="http://schemas.openxmlformats.org/drawingml/2006/main" xmlns:r="http://schemas.openxmlformats.org/officeDocument/2006/relationships" xmlns:p="http://schemas.openxmlformats.org/presentationml/2006/main">
  <p:tag name="THINKCELLSHAPEDONOTDELETE" val="tnkbPVPKVgp3n5x_SxNZGhg"/>
</p:tagLst>
</file>

<file path=ppt/tags/tag880.xml><?xml version="1.0" encoding="utf-8"?>
<p:tagLst xmlns:a="http://schemas.openxmlformats.org/drawingml/2006/main" xmlns:r="http://schemas.openxmlformats.org/officeDocument/2006/relationships" xmlns:p="http://schemas.openxmlformats.org/presentationml/2006/main">
  <p:tag name="THINKCELLSHAPEDONOTDELETE" val="tSu2tEusUKP0lEVe2lBfk6Q"/>
</p:tagLst>
</file>

<file path=ppt/tags/tag881.xml><?xml version="1.0" encoding="utf-8"?>
<p:tagLst xmlns:a="http://schemas.openxmlformats.org/drawingml/2006/main" xmlns:r="http://schemas.openxmlformats.org/officeDocument/2006/relationships" xmlns:p="http://schemas.openxmlformats.org/presentationml/2006/main">
  <p:tag name="THINKCELLSHAPEDONOTDELETE" val="tmQFeMgZ7jzfokh5oTeD7KA"/>
</p:tagLst>
</file>

<file path=ppt/tags/tag882.xml><?xml version="1.0" encoding="utf-8"?>
<p:tagLst xmlns:a="http://schemas.openxmlformats.org/drawingml/2006/main" xmlns:r="http://schemas.openxmlformats.org/officeDocument/2006/relationships" xmlns:p="http://schemas.openxmlformats.org/presentationml/2006/main">
  <p:tag name="THINKCELLSHAPEDONOTDELETE" val="tvPDjOcEAdjH0auVL_sdZMw"/>
</p:tagLst>
</file>

<file path=ppt/tags/tag883.xml><?xml version="1.0" encoding="utf-8"?>
<p:tagLst xmlns:a="http://schemas.openxmlformats.org/drawingml/2006/main" xmlns:r="http://schemas.openxmlformats.org/officeDocument/2006/relationships" xmlns:p="http://schemas.openxmlformats.org/presentationml/2006/main">
  <p:tag name="THINKCELLSHAPEDONOTDELETE" val="t4KoRlzRQvkuft0V9XJRAJw"/>
</p:tagLst>
</file>

<file path=ppt/tags/tag884.xml><?xml version="1.0" encoding="utf-8"?>
<p:tagLst xmlns:a="http://schemas.openxmlformats.org/drawingml/2006/main" xmlns:r="http://schemas.openxmlformats.org/officeDocument/2006/relationships" xmlns:p="http://schemas.openxmlformats.org/presentationml/2006/main">
  <p:tag name="THINKCELLSHAPEDONOTDELETE" val="tZ6t_NHdVvJ2xbpI9hbOBnA"/>
</p:tagLst>
</file>

<file path=ppt/tags/tag885.xml><?xml version="1.0" encoding="utf-8"?>
<p:tagLst xmlns:a="http://schemas.openxmlformats.org/drawingml/2006/main" xmlns:r="http://schemas.openxmlformats.org/officeDocument/2006/relationships" xmlns:p="http://schemas.openxmlformats.org/presentationml/2006/main">
  <p:tag name="THINKCELLSHAPEDONOTDELETE" val="tHEnU6bcmheo3ezdSPIeo6g"/>
</p:tagLst>
</file>

<file path=ppt/tags/tag886.xml><?xml version="1.0" encoding="utf-8"?>
<p:tagLst xmlns:a="http://schemas.openxmlformats.org/drawingml/2006/main" xmlns:r="http://schemas.openxmlformats.org/officeDocument/2006/relationships" xmlns:p="http://schemas.openxmlformats.org/presentationml/2006/main">
  <p:tag name="THINKCELLSHAPEDONOTDELETE" val="tjD0yg6V46vRU8ghyBVJXfg"/>
</p:tagLst>
</file>

<file path=ppt/tags/tag887.xml><?xml version="1.0" encoding="utf-8"?>
<p:tagLst xmlns:a="http://schemas.openxmlformats.org/drawingml/2006/main" xmlns:r="http://schemas.openxmlformats.org/officeDocument/2006/relationships" xmlns:p="http://schemas.openxmlformats.org/presentationml/2006/main">
  <p:tag name="THINKCELLSHAPEDONOTDELETE" val="tL0NG2KoZdSX_HRzOoNqBrQ"/>
</p:tagLst>
</file>

<file path=ppt/tags/tag888.xml><?xml version="1.0" encoding="utf-8"?>
<p:tagLst xmlns:a="http://schemas.openxmlformats.org/drawingml/2006/main" xmlns:r="http://schemas.openxmlformats.org/officeDocument/2006/relationships" xmlns:p="http://schemas.openxmlformats.org/presentationml/2006/main">
  <p:tag name="THINKCELLSHAPEDONOTDELETE" val="tDWh_uDCssH510aDJyE0VIw"/>
</p:tagLst>
</file>

<file path=ppt/tags/tag889.xml><?xml version="1.0" encoding="utf-8"?>
<p:tagLst xmlns:a="http://schemas.openxmlformats.org/drawingml/2006/main" xmlns:r="http://schemas.openxmlformats.org/officeDocument/2006/relationships" xmlns:p="http://schemas.openxmlformats.org/presentationml/2006/main">
  <p:tag name="THINKCELLSHAPEDONOTDELETE" val="tUiGg6RJlxJIRy2mNzqjnzA"/>
</p:tagLst>
</file>

<file path=ppt/tags/tag890.xml><?xml version="1.0" encoding="utf-8"?>
<p:tagLst xmlns:a="http://schemas.openxmlformats.org/drawingml/2006/main" xmlns:r="http://schemas.openxmlformats.org/officeDocument/2006/relationships" xmlns:p="http://schemas.openxmlformats.org/presentationml/2006/main">
  <p:tag name="THINKCELLSHAPEDONOTDELETE" val="tVf62Wik1NqUuKzCaqaP90Q"/>
</p:tagLst>
</file>

<file path=ppt/tags/tag891.xml><?xml version="1.0" encoding="utf-8"?>
<p:tagLst xmlns:a="http://schemas.openxmlformats.org/drawingml/2006/main" xmlns:r="http://schemas.openxmlformats.org/officeDocument/2006/relationships" xmlns:p="http://schemas.openxmlformats.org/presentationml/2006/main">
  <p:tag name="THINKCELLSHAPEDONOTDELETE" val="tJw_MaFAI.irI_Ekqaze7XQ"/>
</p:tagLst>
</file>

<file path=ppt/tags/tag892.xml><?xml version="1.0" encoding="utf-8"?>
<p:tagLst xmlns:a="http://schemas.openxmlformats.org/drawingml/2006/main" xmlns:r="http://schemas.openxmlformats.org/officeDocument/2006/relationships" xmlns:p="http://schemas.openxmlformats.org/presentationml/2006/main">
  <p:tag name="THINKCELLSHAPEDONOTDELETE" val="tkSgLX2KVGZf_dyGRnNv7tA"/>
</p:tagLst>
</file>

<file path=ppt/tags/tag893.xml><?xml version="1.0" encoding="utf-8"?>
<p:tagLst xmlns:a="http://schemas.openxmlformats.org/drawingml/2006/main" xmlns:r="http://schemas.openxmlformats.org/officeDocument/2006/relationships" xmlns:p="http://schemas.openxmlformats.org/presentationml/2006/main">
  <p:tag name="THINKCELLSHAPEDONOTDELETE" val="tyL0FaguwbZIog9bBwRmjmg"/>
</p:tagLst>
</file>

<file path=ppt/tags/tag89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95.xml><?xml version="1.0" encoding="utf-8"?>
<p:tagLst xmlns:a="http://schemas.openxmlformats.org/drawingml/2006/main" xmlns:r="http://schemas.openxmlformats.org/officeDocument/2006/relationships" xmlns:p="http://schemas.openxmlformats.org/presentationml/2006/main">
  <p:tag name="THINKCELLSHAPEDONOTDELETE" val="tMrgCpLDNQ1AfIV9RENFRsQ"/>
</p:tagLst>
</file>

<file path=ppt/tags/tag89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97.xml><?xml version="1.0" encoding="utf-8"?>
<p:tagLst xmlns:a="http://schemas.openxmlformats.org/drawingml/2006/main" xmlns:r="http://schemas.openxmlformats.org/officeDocument/2006/relationships" xmlns:p="http://schemas.openxmlformats.org/presentationml/2006/main">
  <p:tag name="THINKCELLSHAPEDONOTDELETE" val="t8q_8Ney6q.se7.Y302k1PQ"/>
</p:tagLst>
</file>

<file path=ppt/tags/tag898.xml><?xml version="1.0" encoding="utf-8"?>
<p:tagLst xmlns:a="http://schemas.openxmlformats.org/drawingml/2006/main" xmlns:r="http://schemas.openxmlformats.org/officeDocument/2006/relationships" xmlns:p="http://schemas.openxmlformats.org/presentationml/2006/main">
  <p:tag name="HEADER" val="True"/>
</p:tagLst>
</file>

<file path=ppt/tags/tag899.xml><?xml version="1.0" encoding="utf-8"?>
<p:tagLst xmlns:a="http://schemas.openxmlformats.org/drawingml/2006/main" xmlns:r="http://schemas.openxmlformats.org/officeDocument/2006/relationships" xmlns:p="http://schemas.openxmlformats.org/presentationml/2006/main">
  <p:tag name="THINKCELLSHAPEDONOTDELETE" val="tbTCYs_Godc7V50ZwCznllQ"/>
</p:tagLst>
</file>

<file path=ppt/tags/tag900.xml><?xml version="1.0" encoding="utf-8"?>
<p:tagLst xmlns:a="http://schemas.openxmlformats.org/drawingml/2006/main" xmlns:r="http://schemas.openxmlformats.org/officeDocument/2006/relationships" xmlns:p="http://schemas.openxmlformats.org/presentationml/2006/main">
  <p:tag name="THINKCELLSHAPEDONOTDELETE" val="thCSMnD6MfwKHaAtYb4jbig"/>
</p:tagLst>
</file>

<file path=ppt/tags/tag901.xml><?xml version="1.0" encoding="utf-8"?>
<p:tagLst xmlns:a="http://schemas.openxmlformats.org/drawingml/2006/main" xmlns:r="http://schemas.openxmlformats.org/officeDocument/2006/relationships" xmlns:p="http://schemas.openxmlformats.org/presentationml/2006/main">
  <p:tag name="THINKCELLSHAPEDONOTDELETE" val="tn4DxtRSpuHkLU_wZTxPjdg"/>
</p:tagLst>
</file>

<file path=ppt/tags/tag902.xml><?xml version="1.0" encoding="utf-8"?>
<p:tagLst xmlns:a="http://schemas.openxmlformats.org/drawingml/2006/main" xmlns:r="http://schemas.openxmlformats.org/officeDocument/2006/relationships" xmlns:p="http://schemas.openxmlformats.org/presentationml/2006/main">
  <p:tag name="THINKCELLSHAPEDONOTDELETE" val="tyIMwl2BkI97VZV65nQHjcw"/>
</p:tagLst>
</file>

<file path=ppt/tags/tag903.xml><?xml version="1.0" encoding="utf-8"?>
<p:tagLst xmlns:a="http://schemas.openxmlformats.org/drawingml/2006/main" xmlns:r="http://schemas.openxmlformats.org/officeDocument/2006/relationships" xmlns:p="http://schemas.openxmlformats.org/presentationml/2006/main">
  <p:tag name="THINKCELLSHAPEDONOTDELETE" val="toq4IFtrcNJTPyLfWN9yjxA"/>
</p:tagLst>
</file>

<file path=ppt/tags/tag904.xml><?xml version="1.0" encoding="utf-8"?>
<p:tagLst xmlns:a="http://schemas.openxmlformats.org/drawingml/2006/main" xmlns:r="http://schemas.openxmlformats.org/officeDocument/2006/relationships" xmlns:p="http://schemas.openxmlformats.org/presentationml/2006/main">
  <p:tag name="THINKCELLSHAPEDONOTDELETE" val="tCLAp5QJr8gDDZrolfg2pBg"/>
</p:tagLst>
</file>

<file path=ppt/tags/tag905.xml><?xml version="1.0" encoding="utf-8"?>
<p:tagLst xmlns:a="http://schemas.openxmlformats.org/drawingml/2006/main" xmlns:r="http://schemas.openxmlformats.org/officeDocument/2006/relationships" xmlns:p="http://schemas.openxmlformats.org/presentationml/2006/main">
  <p:tag name="THINKCELLSHAPEDONOTDELETE" val="tornC32pmFzV4rrv9t2iR6w"/>
</p:tagLst>
</file>

<file path=ppt/tags/tag906.xml><?xml version="1.0" encoding="utf-8"?>
<p:tagLst xmlns:a="http://schemas.openxmlformats.org/drawingml/2006/main" xmlns:r="http://schemas.openxmlformats.org/officeDocument/2006/relationships" xmlns:p="http://schemas.openxmlformats.org/presentationml/2006/main">
  <p:tag name="THINKCELLSHAPEDONOTDELETE" val="teE.RAjt9Plnvg4gNrbXhgg"/>
</p:tagLst>
</file>

<file path=ppt/tags/tag907.xml><?xml version="1.0" encoding="utf-8"?>
<p:tagLst xmlns:a="http://schemas.openxmlformats.org/drawingml/2006/main" xmlns:r="http://schemas.openxmlformats.org/officeDocument/2006/relationships" xmlns:p="http://schemas.openxmlformats.org/presentationml/2006/main">
  <p:tag name="THINKCELLSHAPEDONOTDELETE" val="tqPbEgHQ16.mwyY2zVPx8iQ"/>
</p:tagLst>
</file>

<file path=ppt/tags/tag908.xml><?xml version="1.0" encoding="utf-8"?>
<p:tagLst xmlns:a="http://schemas.openxmlformats.org/drawingml/2006/main" xmlns:r="http://schemas.openxmlformats.org/officeDocument/2006/relationships" xmlns:p="http://schemas.openxmlformats.org/presentationml/2006/main">
  <p:tag name="THINKCELLSHAPEDONOTDELETE" val="ti8l7hZ2pfi6MTlmS7icHiw"/>
</p:tagLst>
</file>

<file path=ppt/tags/tag909.xml><?xml version="1.0" encoding="utf-8"?>
<p:tagLst xmlns:a="http://schemas.openxmlformats.org/drawingml/2006/main" xmlns:r="http://schemas.openxmlformats.org/officeDocument/2006/relationships" xmlns:p="http://schemas.openxmlformats.org/presentationml/2006/main">
  <p:tag name="THINKCELLSHAPEDONOTDELETE" val="t2NieD9sQFIncu3F7CICyKQ"/>
</p:tagLst>
</file>

<file path=ppt/tags/tag910.xml><?xml version="1.0" encoding="utf-8"?>
<p:tagLst xmlns:a="http://schemas.openxmlformats.org/drawingml/2006/main" xmlns:r="http://schemas.openxmlformats.org/officeDocument/2006/relationships" xmlns:p="http://schemas.openxmlformats.org/presentationml/2006/main">
  <p:tag name="THINKCELLSHAPEDONOTDELETE" val="tSo4.keeBPNfrdv_3ZwDNJw"/>
</p:tagLst>
</file>

<file path=ppt/tags/tag911.xml><?xml version="1.0" encoding="utf-8"?>
<p:tagLst xmlns:a="http://schemas.openxmlformats.org/drawingml/2006/main" xmlns:r="http://schemas.openxmlformats.org/officeDocument/2006/relationships" xmlns:p="http://schemas.openxmlformats.org/presentationml/2006/main">
  <p:tag name="THINKCELLSHAPEDONOTDELETE" val="tNHQNBobW6w3h4sDWjxxZYg"/>
</p:tagLst>
</file>

<file path=ppt/tags/tag912.xml><?xml version="1.0" encoding="utf-8"?>
<p:tagLst xmlns:a="http://schemas.openxmlformats.org/drawingml/2006/main" xmlns:r="http://schemas.openxmlformats.org/officeDocument/2006/relationships" xmlns:p="http://schemas.openxmlformats.org/presentationml/2006/main">
  <p:tag name="THINKCELLSHAPEDONOTDELETE" val="t3lor9sb6wQ_zjenB0M3YBw"/>
</p:tagLst>
</file>

<file path=ppt/tags/tag913.xml><?xml version="1.0" encoding="utf-8"?>
<p:tagLst xmlns:a="http://schemas.openxmlformats.org/drawingml/2006/main" xmlns:r="http://schemas.openxmlformats.org/officeDocument/2006/relationships" xmlns:p="http://schemas.openxmlformats.org/presentationml/2006/main">
  <p:tag name="THINKCELLSHAPEDONOTDELETE" val="t0H32ymkzDRIozAGA2uzsng"/>
</p:tagLst>
</file>

<file path=ppt/tags/tag914.xml><?xml version="1.0" encoding="utf-8"?>
<p:tagLst xmlns:a="http://schemas.openxmlformats.org/drawingml/2006/main" xmlns:r="http://schemas.openxmlformats.org/officeDocument/2006/relationships" xmlns:p="http://schemas.openxmlformats.org/presentationml/2006/main">
  <p:tag name="THINKCELLSHAPEDONOTDELETE" val="t2oY2jtIHBa0HO4UVYj_PUA"/>
</p:tagLst>
</file>

<file path=ppt/tags/tag915.xml><?xml version="1.0" encoding="utf-8"?>
<p:tagLst xmlns:a="http://schemas.openxmlformats.org/drawingml/2006/main" xmlns:r="http://schemas.openxmlformats.org/officeDocument/2006/relationships" xmlns:p="http://schemas.openxmlformats.org/presentationml/2006/main">
  <p:tag name="THINKCELLSHAPEDONOTDELETE" val="tmsx4cMxuKzn8GzE0SKzMRg"/>
</p:tagLst>
</file>

<file path=ppt/tags/tag916.xml><?xml version="1.0" encoding="utf-8"?>
<p:tagLst xmlns:a="http://schemas.openxmlformats.org/drawingml/2006/main" xmlns:r="http://schemas.openxmlformats.org/officeDocument/2006/relationships" xmlns:p="http://schemas.openxmlformats.org/presentationml/2006/main">
  <p:tag name="THINKCELLSHAPEDONOTDELETE" val="tvQk2PYf0vQH0tcIR2748bg"/>
</p:tagLst>
</file>

<file path=ppt/tags/tag917.xml><?xml version="1.0" encoding="utf-8"?>
<p:tagLst xmlns:a="http://schemas.openxmlformats.org/drawingml/2006/main" xmlns:r="http://schemas.openxmlformats.org/officeDocument/2006/relationships" xmlns:p="http://schemas.openxmlformats.org/presentationml/2006/main">
  <p:tag name="THINKCELLSHAPEDONOTDELETE" val="tkrSWGD8gBIun5V8YO8z8lw"/>
</p:tagLst>
</file>

<file path=ppt/tags/tag918.xml><?xml version="1.0" encoding="utf-8"?>
<p:tagLst xmlns:a="http://schemas.openxmlformats.org/drawingml/2006/main" xmlns:r="http://schemas.openxmlformats.org/officeDocument/2006/relationships" xmlns:p="http://schemas.openxmlformats.org/presentationml/2006/main">
  <p:tag name="THINKCELLSHAPEDONOTDELETE" val="t8f5_MiBUXnc6eu3Cy0zNfw"/>
</p:tagLst>
</file>

<file path=ppt/tags/tag919.xml><?xml version="1.0" encoding="utf-8"?>
<p:tagLst xmlns:a="http://schemas.openxmlformats.org/drawingml/2006/main" xmlns:r="http://schemas.openxmlformats.org/officeDocument/2006/relationships" xmlns:p="http://schemas.openxmlformats.org/presentationml/2006/main">
  <p:tag name="THINKCELLSHAPEDONOTDELETE" val="te3HUhLE5PupmgAV77i3kLg"/>
</p:tagLst>
</file>

<file path=ppt/tags/tag920.xml><?xml version="1.0" encoding="utf-8"?>
<p:tagLst xmlns:a="http://schemas.openxmlformats.org/drawingml/2006/main" xmlns:r="http://schemas.openxmlformats.org/officeDocument/2006/relationships" xmlns:p="http://schemas.openxmlformats.org/presentationml/2006/main">
  <p:tag name="THINKCELLSHAPEDONOTDELETE" val="tkCp897NnLEWiTO_gfFrIMQ"/>
</p:tagLst>
</file>

<file path=ppt/tags/tag921.xml><?xml version="1.0" encoding="utf-8"?>
<p:tagLst xmlns:a="http://schemas.openxmlformats.org/drawingml/2006/main" xmlns:r="http://schemas.openxmlformats.org/officeDocument/2006/relationships" xmlns:p="http://schemas.openxmlformats.org/presentationml/2006/main">
  <p:tag name="THINKCELLSHAPEDONOTDELETE" val="tVHodtAv.4DMDgphuOdjp6w"/>
</p:tagLst>
</file>

<file path=ppt/tags/tag922.xml><?xml version="1.0" encoding="utf-8"?>
<p:tagLst xmlns:a="http://schemas.openxmlformats.org/drawingml/2006/main" xmlns:r="http://schemas.openxmlformats.org/officeDocument/2006/relationships" xmlns:p="http://schemas.openxmlformats.org/presentationml/2006/main">
  <p:tag name="THINKCELLSHAPEDONOTDELETE" val="tgvomfrygZwUKOja9jxlZkA"/>
</p:tagLst>
</file>

<file path=ppt/tags/tag923.xml><?xml version="1.0" encoding="utf-8"?>
<p:tagLst xmlns:a="http://schemas.openxmlformats.org/drawingml/2006/main" xmlns:r="http://schemas.openxmlformats.org/officeDocument/2006/relationships" xmlns:p="http://schemas.openxmlformats.org/presentationml/2006/main">
  <p:tag name="THINKCELLSHAPEDONOTDELETE" val="t_.fCCsBk2flF7QY8aIGH8Q"/>
</p:tagLst>
</file>

<file path=ppt/tags/tag924.xml><?xml version="1.0" encoding="utf-8"?>
<p:tagLst xmlns:a="http://schemas.openxmlformats.org/drawingml/2006/main" xmlns:r="http://schemas.openxmlformats.org/officeDocument/2006/relationships" xmlns:p="http://schemas.openxmlformats.org/presentationml/2006/main">
  <p:tag name="THINKCELLSHAPEDONOTDELETE" val="t00ZHSP_a33crwunrb1W_Ew"/>
</p:tagLst>
</file>

<file path=ppt/tags/tag925.xml><?xml version="1.0" encoding="utf-8"?>
<p:tagLst xmlns:a="http://schemas.openxmlformats.org/drawingml/2006/main" xmlns:r="http://schemas.openxmlformats.org/officeDocument/2006/relationships" xmlns:p="http://schemas.openxmlformats.org/presentationml/2006/main">
  <p:tag name="THINKCELLSHAPEDONOTDELETE" val="t4nBbUk7W2ClXePok8jXfhg"/>
</p:tagLst>
</file>

<file path=ppt/tags/tag926.xml><?xml version="1.0" encoding="utf-8"?>
<p:tagLst xmlns:a="http://schemas.openxmlformats.org/drawingml/2006/main" xmlns:r="http://schemas.openxmlformats.org/officeDocument/2006/relationships" xmlns:p="http://schemas.openxmlformats.org/presentationml/2006/main">
  <p:tag name="THINKCELLSHAPEDONOTDELETE" val="tn95H_tse9I5bnyh2X_tgpw"/>
</p:tagLst>
</file>

<file path=ppt/tags/tag927.xml><?xml version="1.0" encoding="utf-8"?>
<p:tagLst xmlns:a="http://schemas.openxmlformats.org/drawingml/2006/main" xmlns:r="http://schemas.openxmlformats.org/officeDocument/2006/relationships" xmlns:p="http://schemas.openxmlformats.org/presentationml/2006/main">
  <p:tag name="THINKCELLSHAPEDONOTDELETE" val="t.IYwJCJWu2ChHGq.XTtvXQ"/>
</p:tagLst>
</file>

<file path=ppt/tags/tag928.xml><?xml version="1.0" encoding="utf-8"?>
<p:tagLst xmlns:a="http://schemas.openxmlformats.org/drawingml/2006/main" xmlns:r="http://schemas.openxmlformats.org/officeDocument/2006/relationships" xmlns:p="http://schemas.openxmlformats.org/presentationml/2006/main">
  <p:tag name="THINKCELLSHAPEDONOTDELETE" val="tYe1LSS251HDs3U5FHJiZhA"/>
</p:tagLst>
</file>

<file path=ppt/tags/tag929.xml><?xml version="1.0" encoding="utf-8"?>
<p:tagLst xmlns:a="http://schemas.openxmlformats.org/drawingml/2006/main" xmlns:r="http://schemas.openxmlformats.org/officeDocument/2006/relationships" xmlns:p="http://schemas.openxmlformats.org/presentationml/2006/main">
  <p:tag name="THINKCELLSHAPEDONOTDELETE" val="tmapYFNRME709W7JKfn2jKQ"/>
</p:tagLst>
</file>

<file path=ppt/tags/tag930.xml><?xml version="1.0" encoding="utf-8"?>
<p:tagLst xmlns:a="http://schemas.openxmlformats.org/drawingml/2006/main" xmlns:r="http://schemas.openxmlformats.org/officeDocument/2006/relationships" xmlns:p="http://schemas.openxmlformats.org/presentationml/2006/main">
  <p:tag name="THINKCELLSHAPEDONOTDELETE" val="tnUmaitHf_bSLMeXFNb1Pkg"/>
</p:tagLst>
</file>

<file path=ppt/tags/tag931.xml><?xml version="1.0" encoding="utf-8"?>
<p:tagLst xmlns:a="http://schemas.openxmlformats.org/drawingml/2006/main" xmlns:r="http://schemas.openxmlformats.org/officeDocument/2006/relationships" xmlns:p="http://schemas.openxmlformats.org/presentationml/2006/main">
  <p:tag name="THINKCELLSHAPEDONOTDELETE" val="tRmbMq6tUCSklTZSFcHnqSA"/>
</p:tagLst>
</file>

<file path=ppt/tags/tag932.xml><?xml version="1.0" encoding="utf-8"?>
<p:tagLst xmlns:a="http://schemas.openxmlformats.org/drawingml/2006/main" xmlns:r="http://schemas.openxmlformats.org/officeDocument/2006/relationships" xmlns:p="http://schemas.openxmlformats.org/presentationml/2006/main">
  <p:tag name="THINKCELLSHAPEDONOTDELETE" val="tMwTGHYGvjsWG3Szxvhir5w"/>
</p:tagLst>
</file>

<file path=ppt/tags/tag933.xml><?xml version="1.0" encoding="utf-8"?>
<p:tagLst xmlns:a="http://schemas.openxmlformats.org/drawingml/2006/main" xmlns:r="http://schemas.openxmlformats.org/officeDocument/2006/relationships" xmlns:p="http://schemas.openxmlformats.org/presentationml/2006/main">
  <p:tag name="THINKCELLSHAPEDONOTDELETE" val="tfIcqmXPjW04wb7iXwC7mSg"/>
</p:tagLst>
</file>

<file path=ppt/tags/tag934.xml><?xml version="1.0" encoding="utf-8"?>
<p:tagLst xmlns:a="http://schemas.openxmlformats.org/drawingml/2006/main" xmlns:r="http://schemas.openxmlformats.org/officeDocument/2006/relationships" xmlns:p="http://schemas.openxmlformats.org/presentationml/2006/main">
  <p:tag name="THINKCELLSHAPEDONOTDELETE" val="tJm098fkpUWWmKGxK8vDBcg"/>
</p:tagLst>
</file>

<file path=ppt/tags/tag935.xml><?xml version="1.0" encoding="utf-8"?>
<p:tagLst xmlns:a="http://schemas.openxmlformats.org/drawingml/2006/main" xmlns:r="http://schemas.openxmlformats.org/officeDocument/2006/relationships" xmlns:p="http://schemas.openxmlformats.org/presentationml/2006/main">
  <p:tag name="THINKCELLSHAPEDONOTDELETE" val="t7MiNJ8LaPtvkjhMD3ZGAbw"/>
</p:tagLst>
</file>

<file path=ppt/tags/tag936.xml><?xml version="1.0" encoding="utf-8"?>
<p:tagLst xmlns:a="http://schemas.openxmlformats.org/drawingml/2006/main" xmlns:r="http://schemas.openxmlformats.org/officeDocument/2006/relationships" xmlns:p="http://schemas.openxmlformats.org/presentationml/2006/main">
  <p:tag name="THINKCELLSHAPEDONOTDELETE" val="tNSJSHpI4euw2Fi37bliWBg"/>
</p:tagLst>
</file>

<file path=ppt/tags/tag937.xml><?xml version="1.0" encoding="utf-8"?>
<p:tagLst xmlns:a="http://schemas.openxmlformats.org/drawingml/2006/main" xmlns:r="http://schemas.openxmlformats.org/officeDocument/2006/relationships" xmlns:p="http://schemas.openxmlformats.org/presentationml/2006/main">
  <p:tag name="THINKCELLSHAPEDONOTDELETE" val="tO_m490OfsBig3kntwXNXFQ"/>
</p:tagLst>
</file>

<file path=ppt/tags/tag938.xml><?xml version="1.0" encoding="utf-8"?>
<p:tagLst xmlns:a="http://schemas.openxmlformats.org/drawingml/2006/main" xmlns:r="http://schemas.openxmlformats.org/officeDocument/2006/relationships" xmlns:p="http://schemas.openxmlformats.org/presentationml/2006/main">
  <p:tag name="THINKCELLSHAPEDONOTDELETE" val="tkgUJuFyKtJNQ_fHY2d40cw"/>
</p:tagLst>
</file>

<file path=ppt/tags/tag939.xml><?xml version="1.0" encoding="utf-8"?>
<p:tagLst xmlns:a="http://schemas.openxmlformats.org/drawingml/2006/main" xmlns:r="http://schemas.openxmlformats.org/officeDocument/2006/relationships" xmlns:p="http://schemas.openxmlformats.org/presentationml/2006/main">
  <p:tag name="THINKCELLSHAPEDONOTDELETE" val="td65k_HktqjN.RiOSoZ8UoA"/>
</p:tagLst>
</file>

<file path=ppt/tags/tag940.xml><?xml version="1.0" encoding="utf-8"?>
<p:tagLst xmlns:a="http://schemas.openxmlformats.org/drawingml/2006/main" xmlns:r="http://schemas.openxmlformats.org/officeDocument/2006/relationships" xmlns:p="http://schemas.openxmlformats.org/presentationml/2006/main">
  <p:tag name="THINKCELLSHAPEDONOTDELETE" val="t6cvL_fZ80bcH74c4jiQ4gg"/>
</p:tagLst>
</file>

<file path=ppt/tags/tag941.xml><?xml version="1.0" encoding="utf-8"?>
<p:tagLst xmlns:a="http://schemas.openxmlformats.org/drawingml/2006/main" xmlns:r="http://schemas.openxmlformats.org/officeDocument/2006/relationships" xmlns:p="http://schemas.openxmlformats.org/presentationml/2006/main">
  <p:tag name="THINKCELLSHAPEDONOTDELETE" val="tefFUEkggkzKjO_QI8L9BXw"/>
</p:tagLst>
</file>

<file path=ppt/tags/tag942.xml><?xml version="1.0" encoding="utf-8"?>
<p:tagLst xmlns:a="http://schemas.openxmlformats.org/drawingml/2006/main" xmlns:r="http://schemas.openxmlformats.org/officeDocument/2006/relationships" xmlns:p="http://schemas.openxmlformats.org/presentationml/2006/main">
  <p:tag name="THINKCELLSHAPEDONOTDELETE" val="t9FCa2WYl9vziaNqaz2GdCA"/>
</p:tagLst>
</file>

<file path=ppt/tags/tag943.xml><?xml version="1.0" encoding="utf-8"?>
<p:tagLst xmlns:a="http://schemas.openxmlformats.org/drawingml/2006/main" xmlns:r="http://schemas.openxmlformats.org/officeDocument/2006/relationships" xmlns:p="http://schemas.openxmlformats.org/presentationml/2006/main">
  <p:tag name="THINKCELLSHAPEDONOTDELETE" val="tyvhXUzA09p4T6FQeMoMKbA"/>
</p:tagLst>
</file>

<file path=ppt/tags/tag944.xml><?xml version="1.0" encoding="utf-8"?>
<p:tagLst xmlns:a="http://schemas.openxmlformats.org/drawingml/2006/main" xmlns:r="http://schemas.openxmlformats.org/officeDocument/2006/relationships" xmlns:p="http://schemas.openxmlformats.org/presentationml/2006/main">
  <p:tag name="THINKCELLSHAPEDONOTDELETE" val="tOX.2rLnc7E1awIzWW.DiDw"/>
</p:tagLst>
</file>

<file path=ppt/tags/tag945.xml><?xml version="1.0" encoding="utf-8"?>
<p:tagLst xmlns:a="http://schemas.openxmlformats.org/drawingml/2006/main" xmlns:r="http://schemas.openxmlformats.org/officeDocument/2006/relationships" xmlns:p="http://schemas.openxmlformats.org/presentationml/2006/main">
  <p:tag name="THINKCELLSHAPEDONOTDELETE" val="tKKPE4C2BdotxrvclX2tLdA"/>
</p:tagLst>
</file>

<file path=ppt/tags/tag946.xml><?xml version="1.0" encoding="utf-8"?>
<p:tagLst xmlns:a="http://schemas.openxmlformats.org/drawingml/2006/main" xmlns:r="http://schemas.openxmlformats.org/officeDocument/2006/relationships" xmlns:p="http://schemas.openxmlformats.org/presentationml/2006/main">
  <p:tag name="THINKCELLSHAPEDONOTDELETE" val="tyUJMB84nMsiorG4KJMz.Aw"/>
</p:tagLst>
</file>

<file path=ppt/tags/tag94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48.xml><?xml version="1.0" encoding="utf-8"?>
<p:tagLst xmlns:a="http://schemas.openxmlformats.org/drawingml/2006/main" xmlns:r="http://schemas.openxmlformats.org/officeDocument/2006/relationships" xmlns:p="http://schemas.openxmlformats.org/presentationml/2006/main">
  <p:tag name="THINKCELLSHAPEDONOTDELETE" val="t8q_8Ney6q.se7.Y302k1PQ"/>
</p:tagLst>
</file>

<file path=ppt/tags/tag949.xml><?xml version="1.0" encoding="utf-8"?>
<p:tagLst xmlns:a="http://schemas.openxmlformats.org/drawingml/2006/main" xmlns:r="http://schemas.openxmlformats.org/officeDocument/2006/relationships" xmlns:p="http://schemas.openxmlformats.org/presentationml/2006/main">
  <p:tag name="HEADER" val="True"/>
</p:tagLst>
</file>

<file path=ppt/tags/tag950.xml><?xml version="1.0" encoding="utf-8"?>
<p:tagLst xmlns:a="http://schemas.openxmlformats.org/drawingml/2006/main" xmlns:r="http://schemas.openxmlformats.org/officeDocument/2006/relationships" xmlns:p="http://schemas.openxmlformats.org/presentationml/2006/main">
  <p:tag name="HEADER" val="True"/>
</p:tagLst>
</file>

<file path=ppt/tags/tag951.xml><?xml version="1.0" encoding="utf-8"?>
<p:tagLst xmlns:a="http://schemas.openxmlformats.org/drawingml/2006/main" xmlns:r="http://schemas.openxmlformats.org/officeDocument/2006/relationships" xmlns:p="http://schemas.openxmlformats.org/presentationml/2006/main">
  <p:tag name="THINKCELLSHAPEDONOTDELETE" val="tNINtUd5siQIVS3FEkHq5JQ"/>
</p:tagLst>
</file>

<file path=ppt/tags/tag952.xml><?xml version="1.0" encoding="utf-8"?>
<p:tagLst xmlns:a="http://schemas.openxmlformats.org/drawingml/2006/main" xmlns:r="http://schemas.openxmlformats.org/officeDocument/2006/relationships" xmlns:p="http://schemas.openxmlformats.org/presentationml/2006/main">
  <p:tag name="THINKCELLSHAPEDONOTDELETE" val="tLhmPWJN5Z.Nny3kwBAmtBg"/>
</p:tagLst>
</file>

<file path=ppt/tags/tag953.xml><?xml version="1.0" encoding="utf-8"?>
<p:tagLst xmlns:a="http://schemas.openxmlformats.org/drawingml/2006/main" xmlns:r="http://schemas.openxmlformats.org/officeDocument/2006/relationships" xmlns:p="http://schemas.openxmlformats.org/presentationml/2006/main">
  <p:tag name="THINKCELLSHAPEDONOTDELETE" val="tELkpAmKkM5iXBHmcsDK7_Q"/>
</p:tagLst>
</file>

<file path=ppt/tags/tag954.xml><?xml version="1.0" encoding="utf-8"?>
<p:tagLst xmlns:a="http://schemas.openxmlformats.org/drawingml/2006/main" xmlns:r="http://schemas.openxmlformats.org/officeDocument/2006/relationships" xmlns:p="http://schemas.openxmlformats.org/presentationml/2006/main">
  <p:tag name="THINKCELLSHAPEDONOTDELETE" val="trCwG4uvFEbSZoJVX_gYEMA"/>
</p:tagLst>
</file>

<file path=ppt/tags/tag955.xml><?xml version="1.0" encoding="utf-8"?>
<p:tagLst xmlns:a="http://schemas.openxmlformats.org/drawingml/2006/main" xmlns:r="http://schemas.openxmlformats.org/officeDocument/2006/relationships" xmlns:p="http://schemas.openxmlformats.org/presentationml/2006/main">
  <p:tag name="THINKCELLSHAPEDONOTDELETE" val="tZDlRuYqu.9POe4Cnuylrrw"/>
</p:tagLst>
</file>

<file path=ppt/tags/tag956.xml><?xml version="1.0" encoding="utf-8"?>
<p:tagLst xmlns:a="http://schemas.openxmlformats.org/drawingml/2006/main" xmlns:r="http://schemas.openxmlformats.org/officeDocument/2006/relationships" xmlns:p="http://schemas.openxmlformats.org/presentationml/2006/main">
  <p:tag name="THINKCELLSHAPEDONOTDELETE" val="tVlRofrQyCyVwr9_KVcCYXw"/>
</p:tagLst>
</file>

<file path=ppt/tags/tag957.xml><?xml version="1.0" encoding="utf-8"?>
<p:tagLst xmlns:a="http://schemas.openxmlformats.org/drawingml/2006/main" xmlns:r="http://schemas.openxmlformats.org/officeDocument/2006/relationships" xmlns:p="http://schemas.openxmlformats.org/presentationml/2006/main">
  <p:tag name="THINKCELLSHAPEDONOTDELETE" val="tZoTeI5qkbZQKp3isLjcEhQ"/>
</p:tagLst>
</file>

<file path=ppt/tags/tag958.xml><?xml version="1.0" encoding="utf-8"?>
<p:tagLst xmlns:a="http://schemas.openxmlformats.org/drawingml/2006/main" xmlns:r="http://schemas.openxmlformats.org/officeDocument/2006/relationships" xmlns:p="http://schemas.openxmlformats.org/presentationml/2006/main">
  <p:tag name="THINKCELLSHAPEDONOTDELETE" val="t5qKDqgUE7evlIE.Yga2c9Q"/>
</p:tagLst>
</file>

<file path=ppt/tags/tag959.xml><?xml version="1.0" encoding="utf-8"?>
<p:tagLst xmlns:a="http://schemas.openxmlformats.org/drawingml/2006/main" xmlns:r="http://schemas.openxmlformats.org/officeDocument/2006/relationships" xmlns:p="http://schemas.openxmlformats.org/presentationml/2006/main">
  <p:tag name="THINKCELLSHAPEDONOTDELETE" val="ta_1BevSWBtyn_FDdaJsLaw"/>
</p:tagLst>
</file>

<file path=ppt/tags/tag960.xml><?xml version="1.0" encoding="utf-8"?>
<p:tagLst xmlns:a="http://schemas.openxmlformats.org/drawingml/2006/main" xmlns:r="http://schemas.openxmlformats.org/officeDocument/2006/relationships" xmlns:p="http://schemas.openxmlformats.org/presentationml/2006/main">
  <p:tag name="THINKCELLSHAPEDONOTDELETE" val="tRdszxH5sTnYBvh8OhsaFjg"/>
</p:tagLst>
</file>

<file path=ppt/tags/tag961.xml><?xml version="1.0" encoding="utf-8"?>
<p:tagLst xmlns:a="http://schemas.openxmlformats.org/drawingml/2006/main" xmlns:r="http://schemas.openxmlformats.org/officeDocument/2006/relationships" xmlns:p="http://schemas.openxmlformats.org/presentationml/2006/main">
  <p:tag name="THINKCELLSHAPEDONOTDELETE" val="t.KfX5i5wnBBhl65orn3u7A"/>
</p:tagLst>
</file>

<file path=ppt/tags/tag962.xml><?xml version="1.0" encoding="utf-8"?>
<p:tagLst xmlns:a="http://schemas.openxmlformats.org/drawingml/2006/main" xmlns:r="http://schemas.openxmlformats.org/officeDocument/2006/relationships" xmlns:p="http://schemas.openxmlformats.org/presentationml/2006/main">
  <p:tag name="THINKCELLSHAPEDONOTDELETE" val="t8.jjKVcvIgBENp7RwclNKg"/>
</p:tagLst>
</file>

<file path=ppt/tags/tag963.xml><?xml version="1.0" encoding="utf-8"?>
<p:tagLst xmlns:a="http://schemas.openxmlformats.org/drawingml/2006/main" xmlns:r="http://schemas.openxmlformats.org/officeDocument/2006/relationships" xmlns:p="http://schemas.openxmlformats.org/presentationml/2006/main">
  <p:tag name="THINKCELLSHAPEDONOTDELETE" val="tS_NdzE3BvxPRtS2SM7lxrA"/>
</p:tagLst>
</file>

<file path=ppt/tags/tag964.xml><?xml version="1.0" encoding="utf-8"?>
<p:tagLst xmlns:a="http://schemas.openxmlformats.org/drawingml/2006/main" xmlns:r="http://schemas.openxmlformats.org/officeDocument/2006/relationships" xmlns:p="http://schemas.openxmlformats.org/presentationml/2006/main">
  <p:tag name="THINKCELLSHAPEDONOTDELETE" val="tfTbHr8z6NrraNMijni6EKw"/>
</p:tagLst>
</file>

<file path=ppt/tags/tag965.xml><?xml version="1.0" encoding="utf-8"?>
<p:tagLst xmlns:a="http://schemas.openxmlformats.org/drawingml/2006/main" xmlns:r="http://schemas.openxmlformats.org/officeDocument/2006/relationships" xmlns:p="http://schemas.openxmlformats.org/presentationml/2006/main">
  <p:tag name="THINKCELLSHAPEDONOTDELETE" val="tckK6rtgPfdpDLm64brGSCg"/>
</p:tagLst>
</file>

<file path=ppt/tags/tag966.xml><?xml version="1.0" encoding="utf-8"?>
<p:tagLst xmlns:a="http://schemas.openxmlformats.org/drawingml/2006/main" xmlns:r="http://schemas.openxmlformats.org/officeDocument/2006/relationships" xmlns:p="http://schemas.openxmlformats.org/presentationml/2006/main">
  <p:tag name="THINKCELLSHAPEDONOTDELETE" val="twiruXhFspKYLmGrl05__6w"/>
</p:tagLst>
</file>

<file path=ppt/tags/tag967.xml><?xml version="1.0" encoding="utf-8"?>
<p:tagLst xmlns:a="http://schemas.openxmlformats.org/drawingml/2006/main" xmlns:r="http://schemas.openxmlformats.org/officeDocument/2006/relationships" xmlns:p="http://schemas.openxmlformats.org/presentationml/2006/main">
  <p:tag name="THINKCELLSHAPEDONOTDELETE" val="tFbbw6iNfWOirSWZ61T4Jzw"/>
</p:tagLst>
</file>

<file path=ppt/tags/tag96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69.xml><?xml version="1.0" encoding="utf-8"?>
<p:tagLst xmlns:a="http://schemas.openxmlformats.org/drawingml/2006/main" xmlns:r="http://schemas.openxmlformats.org/officeDocument/2006/relationships" xmlns:p="http://schemas.openxmlformats.org/presentationml/2006/main">
  <p:tag name="THINKCELLSHAPEDONOTDELETE" val="t8q_8Ney6q.se7.Y302k1PQ"/>
</p:tagLst>
</file>

<file path=ppt/tags/tag970.xml><?xml version="1.0" encoding="utf-8"?>
<p:tagLst xmlns:a="http://schemas.openxmlformats.org/drawingml/2006/main" xmlns:r="http://schemas.openxmlformats.org/officeDocument/2006/relationships" xmlns:p="http://schemas.openxmlformats.org/presentationml/2006/main">
  <p:tag name="HEADER" val="True"/>
</p:tagLst>
</file>

<file path=ppt/tags/tag971.xml><?xml version="1.0" encoding="utf-8"?>
<p:tagLst xmlns:a="http://schemas.openxmlformats.org/drawingml/2006/main" xmlns:r="http://schemas.openxmlformats.org/officeDocument/2006/relationships" xmlns:p="http://schemas.openxmlformats.org/presentationml/2006/main">
  <p:tag name="THINKCELLSHAPEDONOTDELETE" val="teHLNbIV1YCYRIPH2YJYyKg"/>
</p:tagLst>
</file>

<file path=ppt/tags/tag972.xml><?xml version="1.0" encoding="utf-8"?>
<p:tagLst xmlns:a="http://schemas.openxmlformats.org/drawingml/2006/main" xmlns:r="http://schemas.openxmlformats.org/officeDocument/2006/relationships" xmlns:p="http://schemas.openxmlformats.org/presentationml/2006/main">
  <p:tag name="THINKCELLSHAPEDONOTDELETE" val="tQQD1Pk7lfPFyucYStlx6hw"/>
</p:tagLst>
</file>

<file path=ppt/tags/tag973.xml><?xml version="1.0" encoding="utf-8"?>
<p:tagLst xmlns:a="http://schemas.openxmlformats.org/drawingml/2006/main" xmlns:r="http://schemas.openxmlformats.org/officeDocument/2006/relationships" xmlns:p="http://schemas.openxmlformats.org/presentationml/2006/main">
  <p:tag name="THINKCELLSHAPEDONOTDELETE" val="tpqSDTNhRkcUuD8wALCGHkw"/>
</p:tagLst>
</file>

<file path=ppt/tags/tag974.xml><?xml version="1.0" encoding="utf-8"?>
<p:tagLst xmlns:a="http://schemas.openxmlformats.org/drawingml/2006/main" xmlns:r="http://schemas.openxmlformats.org/officeDocument/2006/relationships" xmlns:p="http://schemas.openxmlformats.org/presentationml/2006/main">
  <p:tag name="THINKCELLSHAPEDONOTDELETE" val="t3dKKttKmR54hC3a76wiR9A"/>
</p:tagLst>
</file>

<file path=ppt/tags/tag975.xml><?xml version="1.0" encoding="utf-8"?>
<p:tagLst xmlns:a="http://schemas.openxmlformats.org/drawingml/2006/main" xmlns:r="http://schemas.openxmlformats.org/officeDocument/2006/relationships" xmlns:p="http://schemas.openxmlformats.org/presentationml/2006/main">
  <p:tag name="THINKCELLSHAPEDONOTDELETE" val="toq4IFtrcNJTPyLfWN9yjxA"/>
</p:tagLst>
</file>

<file path=ppt/tags/tag976.xml><?xml version="1.0" encoding="utf-8"?>
<p:tagLst xmlns:a="http://schemas.openxmlformats.org/drawingml/2006/main" xmlns:r="http://schemas.openxmlformats.org/officeDocument/2006/relationships" xmlns:p="http://schemas.openxmlformats.org/presentationml/2006/main">
  <p:tag name="THINKCELLSHAPEDONOTDELETE" val="tornC32pmFzV4rrv9t2iR6w"/>
</p:tagLst>
</file>

<file path=ppt/tags/tag977.xml><?xml version="1.0" encoding="utf-8"?>
<p:tagLst xmlns:a="http://schemas.openxmlformats.org/drawingml/2006/main" xmlns:r="http://schemas.openxmlformats.org/officeDocument/2006/relationships" xmlns:p="http://schemas.openxmlformats.org/presentationml/2006/main">
  <p:tag name="THINKCELLSHAPEDONOTDELETE" val="teE.RAjt9Plnvg4gNrbXhgg"/>
</p:tagLst>
</file>

<file path=ppt/tags/tag978.xml><?xml version="1.0" encoding="utf-8"?>
<p:tagLst xmlns:a="http://schemas.openxmlformats.org/drawingml/2006/main" xmlns:r="http://schemas.openxmlformats.org/officeDocument/2006/relationships" xmlns:p="http://schemas.openxmlformats.org/presentationml/2006/main">
  <p:tag name="THINKCELLSHAPEDONOTDELETE" val="tqPbEgHQ16.mwyY2zVPx8iQ"/>
</p:tagLst>
</file>

<file path=ppt/tags/tag979.xml><?xml version="1.0" encoding="utf-8"?>
<p:tagLst xmlns:a="http://schemas.openxmlformats.org/drawingml/2006/main" xmlns:r="http://schemas.openxmlformats.org/officeDocument/2006/relationships" xmlns:p="http://schemas.openxmlformats.org/presentationml/2006/main">
  <p:tag name="THINKCELLSHAPEDONOTDELETE" val="t.Z6FCV71d1arWXEdV_wpEw"/>
</p:tagLst>
</file>

<file path=ppt/tags/tag980.xml><?xml version="1.0" encoding="utf-8"?>
<p:tagLst xmlns:a="http://schemas.openxmlformats.org/drawingml/2006/main" xmlns:r="http://schemas.openxmlformats.org/officeDocument/2006/relationships" xmlns:p="http://schemas.openxmlformats.org/presentationml/2006/main">
  <p:tag name="THINKCELLSHAPEDONOTDELETE" val="tGTCMT9lHMvZ_Gd1K5M2C3Q"/>
</p:tagLst>
</file>

<file path=ppt/tags/tag981.xml><?xml version="1.0" encoding="utf-8"?>
<p:tagLst xmlns:a="http://schemas.openxmlformats.org/drawingml/2006/main" xmlns:r="http://schemas.openxmlformats.org/officeDocument/2006/relationships" xmlns:p="http://schemas.openxmlformats.org/presentationml/2006/main">
  <p:tag name="THINKCELLSHAPEDONOTDELETE" val="tmf2oaTQnzM4wUbyUuFD0yQ"/>
</p:tagLst>
</file>

<file path=ppt/tags/tag982.xml><?xml version="1.0" encoding="utf-8"?>
<p:tagLst xmlns:a="http://schemas.openxmlformats.org/drawingml/2006/main" xmlns:r="http://schemas.openxmlformats.org/officeDocument/2006/relationships" xmlns:p="http://schemas.openxmlformats.org/presentationml/2006/main">
  <p:tag name="THINKCELLSHAPEDONOTDELETE" val="tTh5n511vI0aJja6SnpHK2Q"/>
</p:tagLst>
</file>

<file path=ppt/tags/tag983.xml><?xml version="1.0" encoding="utf-8"?>
<p:tagLst xmlns:a="http://schemas.openxmlformats.org/drawingml/2006/main" xmlns:r="http://schemas.openxmlformats.org/officeDocument/2006/relationships" xmlns:p="http://schemas.openxmlformats.org/presentationml/2006/main">
  <p:tag name="THINKCELLSHAPEDONOTDELETE" val="tSny4xCrmvx4PSUQRqDiV3A"/>
</p:tagLst>
</file>

<file path=ppt/tags/tag984.xml><?xml version="1.0" encoding="utf-8"?>
<p:tagLst xmlns:a="http://schemas.openxmlformats.org/drawingml/2006/main" xmlns:r="http://schemas.openxmlformats.org/officeDocument/2006/relationships" xmlns:p="http://schemas.openxmlformats.org/presentationml/2006/main">
  <p:tag name="THINKCELLSHAPEDONOTDELETE" val="t8f5_MiBUXnc6eu3Cy0zNfw"/>
</p:tagLst>
</file>

<file path=ppt/tags/tag985.xml><?xml version="1.0" encoding="utf-8"?>
<p:tagLst xmlns:a="http://schemas.openxmlformats.org/drawingml/2006/main" xmlns:r="http://schemas.openxmlformats.org/officeDocument/2006/relationships" xmlns:p="http://schemas.openxmlformats.org/presentationml/2006/main">
  <p:tag name="THINKCELLSHAPEDONOTDELETE" val="tkCp897NnLEWiTO_gfFrIMQ"/>
</p:tagLst>
</file>

<file path=ppt/tags/tag986.xml><?xml version="1.0" encoding="utf-8"?>
<p:tagLst xmlns:a="http://schemas.openxmlformats.org/drawingml/2006/main" xmlns:r="http://schemas.openxmlformats.org/officeDocument/2006/relationships" xmlns:p="http://schemas.openxmlformats.org/presentationml/2006/main">
  <p:tag name="THINKCELLSHAPEDONOTDELETE" val="te3HUhLE5PupmgAV77i3kLg"/>
</p:tagLst>
</file>

<file path=ppt/tags/tag987.xml><?xml version="1.0" encoding="utf-8"?>
<p:tagLst xmlns:a="http://schemas.openxmlformats.org/drawingml/2006/main" xmlns:r="http://schemas.openxmlformats.org/officeDocument/2006/relationships" xmlns:p="http://schemas.openxmlformats.org/presentationml/2006/main">
  <p:tag name="THINKCELLSHAPEDONOTDELETE" val="tZEfxF02LrbBQkhppkRqLGQ"/>
</p:tagLst>
</file>

<file path=ppt/tags/tag988.xml><?xml version="1.0" encoding="utf-8"?>
<p:tagLst xmlns:a="http://schemas.openxmlformats.org/drawingml/2006/main" xmlns:r="http://schemas.openxmlformats.org/officeDocument/2006/relationships" xmlns:p="http://schemas.openxmlformats.org/presentationml/2006/main">
  <p:tag name="THINKCELLSHAPEDONOTDELETE" val="t.5AcLrXr2eaa_W.ZzUNS1A"/>
</p:tagLst>
</file>

<file path=ppt/tags/tag989.xml><?xml version="1.0" encoding="utf-8"?>
<p:tagLst xmlns:a="http://schemas.openxmlformats.org/drawingml/2006/main" xmlns:r="http://schemas.openxmlformats.org/officeDocument/2006/relationships" xmlns:p="http://schemas.openxmlformats.org/presentationml/2006/main">
  <p:tag name="THINKCELLSHAPEDONOTDELETE" val="t1UiPE1NbFQrNA5XKfPcqyA"/>
</p:tagLst>
</file>

<file path=ppt/tags/tag99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91.xml><?xml version="1.0" encoding="utf-8"?>
<p:tagLst xmlns:a="http://schemas.openxmlformats.org/drawingml/2006/main" xmlns:r="http://schemas.openxmlformats.org/officeDocument/2006/relationships" xmlns:p="http://schemas.openxmlformats.org/presentationml/2006/main">
  <p:tag name="THINKCELLSHAPEDONOTDELETE" val="t8q_8Ney6q.se7.Y302k1PQ"/>
</p:tagLst>
</file>

<file path=ppt/tags/tag992.xml><?xml version="1.0" encoding="utf-8"?>
<p:tagLst xmlns:a="http://schemas.openxmlformats.org/drawingml/2006/main" xmlns:r="http://schemas.openxmlformats.org/officeDocument/2006/relationships" xmlns:p="http://schemas.openxmlformats.org/presentationml/2006/main">
  <p:tag name="HEADER" val="True"/>
</p:tagLst>
</file>

<file path=ppt/tags/tag993.xml><?xml version="1.0" encoding="utf-8"?>
<p:tagLst xmlns:a="http://schemas.openxmlformats.org/drawingml/2006/main" xmlns:r="http://schemas.openxmlformats.org/officeDocument/2006/relationships" xmlns:p="http://schemas.openxmlformats.org/presentationml/2006/main">
  <p:tag name="THINKCELLSHAPEDONOTDELETE" val="t97eaX6lk1.aVHHyfJiL5Gg"/>
</p:tagLst>
</file>

<file path=ppt/tags/tag994.xml><?xml version="1.0" encoding="utf-8"?>
<p:tagLst xmlns:a="http://schemas.openxmlformats.org/drawingml/2006/main" xmlns:r="http://schemas.openxmlformats.org/officeDocument/2006/relationships" xmlns:p="http://schemas.openxmlformats.org/presentationml/2006/main">
  <p:tag name="THINKCELLSHAPEDONOTDELETE" val="t60ZXl_mcasOPkKNlfUPOBQ"/>
</p:tagLst>
</file>

<file path=ppt/tags/tag995.xml><?xml version="1.0" encoding="utf-8"?>
<p:tagLst xmlns:a="http://schemas.openxmlformats.org/drawingml/2006/main" xmlns:r="http://schemas.openxmlformats.org/officeDocument/2006/relationships" xmlns:p="http://schemas.openxmlformats.org/presentationml/2006/main">
  <p:tag name="THINKCELLSHAPEDONOTDELETE" val="tw9fEZ.etxCN6YzE0vngu2g"/>
</p:tagLst>
</file>

<file path=ppt/tags/tag996.xml><?xml version="1.0" encoding="utf-8"?>
<p:tagLst xmlns:a="http://schemas.openxmlformats.org/drawingml/2006/main" xmlns:r="http://schemas.openxmlformats.org/officeDocument/2006/relationships" xmlns:p="http://schemas.openxmlformats.org/presentationml/2006/main">
  <p:tag name="THINKCELLSHAPEDONOTDELETE" val="tkA9s2toZfqK4fDeY7vbxbg"/>
</p:tagLst>
</file>

<file path=ppt/tags/tag997.xml><?xml version="1.0" encoding="utf-8"?>
<p:tagLst xmlns:a="http://schemas.openxmlformats.org/drawingml/2006/main" xmlns:r="http://schemas.openxmlformats.org/officeDocument/2006/relationships" xmlns:p="http://schemas.openxmlformats.org/presentationml/2006/main">
  <p:tag name="THINKCELLSHAPEDONOTDELETE" val="tF_uYQXxN582XRsJkNaHH2w"/>
</p:tagLst>
</file>

<file path=ppt/tags/tag998.xml><?xml version="1.0" encoding="utf-8"?>
<p:tagLst xmlns:a="http://schemas.openxmlformats.org/drawingml/2006/main" xmlns:r="http://schemas.openxmlformats.org/officeDocument/2006/relationships" xmlns:p="http://schemas.openxmlformats.org/presentationml/2006/main">
  <p:tag name="THINKCELLSHAPEDONOTDELETE" val="tdWv3yTa5IG0CJaRaD315hQ"/>
</p:tagLst>
</file>

<file path=ppt/tags/tag999.xml><?xml version="1.0" encoding="utf-8"?>
<p:tagLst xmlns:a="http://schemas.openxmlformats.org/drawingml/2006/main" xmlns:r="http://schemas.openxmlformats.org/officeDocument/2006/relationships" xmlns:p="http://schemas.openxmlformats.org/presentationml/2006/main">
  <p:tag name="THINKCELLSHAPEDONOTDELETE" val="tF4FhqDcooMW16iCzzZbbZQ"/>
</p:tagLst>
</file>

<file path=ppt/tags/tag1000.xml><?xml version="1.0" encoding="utf-8"?>
<p:tagLst xmlns:a="http://schemas.openxmlformats.org/drawingml/2006/main" xmlns:r="http://schemas.openxmlformats.org/officeDocument/2006/relationships" xmlns:p="http://schemas.openxmlformats.org/presentationml/2006/main">
  <p:tag name="THINKCELLSHAPEDONOTDELETE" val="tT5_lqO48MXwwfUJu4G55fg"/>
</p:tagLst>
</file>

<file path=ppt/tags/tag1001.xml><?xml version="1.0" encoding="utf-8"?>
<p:tagLst xmlns:a="http://schemas.openxmlformats.org/drawingml/2006/main" xmlns:r="http://schemas.openxmlformats.org/officeDocument/2006/relationships" xmlns:p="http://schemas.openxmlformats.org/presentationml/2006/main">
  <p:tag name="THINKCELLSHAPEDONOTDELETE" val="tOm1aftfM7i1rN2_pLsyr1w"/>
</p:tagLst>
</file>

<file path=ppt/tags/tag1002.xml><?xml version="1.0" encoding="utf-8"?>
<p:tagLst xmlns:a="http://schemas.openxmlformats.org/drawingml/2006/main" xmlns:r="http://schemas.openxmlformats.org/officeDocument/2006/relationships" xmlns:p="http://schemas.openxmlformats.org/presentationml/2006/main">
  <p:tag name="THINKCELLSHAPEDONOTDELETE" val="t.AE8.AYhJn4qzUiuLWZFeA"/>
</p:tagLst>
</file>

<file path=ppt/tags/tag1003.xml><?xml version="1.0" encoding="utf-8"?>
<p:tagLst xmlns:a="http://schemas.openxmlformats.org/drawingml/2006/main" xmlns:r="http://schemas.openxmlformats.org/officeDocument/2006/relationships" xmlns:p="http://schemas.openxmlformats.org/presentationml/2006/main">
  <p:tag name="THINKCELLSHAPEDONOTDELETE" val="tMh3CVTIxun5cBod.1GafHg"/>
</p:tagLst>
</file>

<file path=ppt/tags/tag1004.xml><?xml version="1.0" encoding="utf-8"?>
<p:tagLst xmlns:a="http://schemas.openxmlformats.org/drawingml/2006/main" xmlns:r="http://schemas.openxmlformats.org/officeDocument/2006/relationships" xmlns:p="http://schemas.openxmlformats.org/presentationml/2006/main">
  <p:tag name="THINKCELLSHAPEDONOTDELETE" val="tKYfdHBCH7N85jKnkq92rHg"/>
</p:tagLst>
</file>

<file path=ppt/tags/tag1005.xml><?xml version="1.0" encoding="utf-8"?>
<p:tagLst xmlns:a="http://schemas.openxmlformats.org/drawingml/2006/main" xmlns:r="http://schemas.openxmlformats.org/officeDocument/2006/relationships" xmlns:p="http://schemas.openxmlformats.org/presentationml/2006/main">
  <p:tag name="THINKCELLSHAPEDONOTDELETE" val="tRBlONffyNNcltCgxy.8gCQ"/>
</p:tagLst>
</file>

<file path=ppt/tags/tag1006.xml><?xml version="1.0" encoding="utf-8"?>
<p:tagLst xmlns:a="http://schemas.openxmlformats.org/drawingml/2006/main" xmlns:r="http://schemas.openxmlformats.org/officeDocument/2006/relationships" xmlns:p="http://schemas.openxmlformats.org/presentationml/2006/main">
  <p:tag name="THINKCELLSHAPEDONOTDELETE" val="t.JOcS04.fkaMru3r9ddaXg"/>
</p:tagLst>
</file>

<file path=ppt/tags/tag1007.xml><?xml version="1.0" encoding="utf-8"?>
<p:tagLst xmlns:a="http://schemas.openxmlformats.org/drawingml/2006/main" xmlns:r="http://schemas.openxmlformats.org/officeDocument/2006/relationships" xmlns:p="http://schemas.openxmlformats.org/presentationml/2006/main">
  <p:tag name="THINKCELLSHAPEDONOTDELETE" val="tOjTRAi62.NT79xJ8telt5A"/>
</p:tagLst>
</file>

<file path=ppt/tags/tag1008.xml><?xml version="1.0" encoding="utf-8"?>
<p:tagLst xmlns:a="http://schemas.openxmlformats.org/drawingml/2006/main" xmlns:r="http://schemas.openxmlformats.org/officeDocument/2006/relationships" xmlns:p="http://schemas.openxmlformats.org/presentationml/2006/main">
  <p:tag name="THINKCELLSHAPEDONOTDELETE" val="tKBzgI8lm7NwzaRzb4foXvA"/>
</p:tagLst>
</file>

<file path=ppt/tags/tag1009.xml><?xml version="1.0" encoding="utf-8"?>
<p:tagLst xmlns:a="http://schemas.openxmlformats.org/drawingml/2006/main" xmlns:r="http://schemas.openxmlformats.org/officeDocument/2006/relationships" xmlns:p="http://schemas.openxmlformats.org/presentationml/2006/main">
  <p:tag name="THINKCELLSHAPEDONOTDELETE" val="tODTwghisrb0.lF8FwMaL5w"/>
</p:tagLst>
</file>

<file path=ppt/tags/tag1010.xml><?xml version="1.0" encoding="utf-8"?>
<p:tagLst xmlns:a="http://schemas.openxmlformats.org/drawingml/2006/main" xmlns:r="http://schemas.openxmlformats.org/officeDocument/2006/relationships" xmlns:p="http://schemas.openxmlformats.org/presentationml/2006/main">
  <p:tag name="THINKCELLSHAPEDONOTDELETE" val="tL7wEaX1Jj89s2Zh7pwTxQw"/>
</p:tagLst>
</file>

<file path=ppt/tags/tag1011.xml><?xml version="1.0" encoding="utf-8"?>
<p:tagLst xmlns:a="http://schemas.openxmlformats.org/drawingml/2006/main" xmlns:r="http://schemas.openxmlformats.org/officeDocument/2006/relationships" xmlns:p="http://schemas.openxmlformats.org/presentationml/2006/main">
  <p:tag name="THINKCELLSHAPEDONOTDELETE" val="tnI.U5EtjTaDobfe1nYEPNg"/>
</p:tagLst>
</file>

<file path=ppt/tags/tag1012.xml><?xml version="1.0" encoding="utf-8"?>
<p:tagLst xmlns:a="http://schemas.openxmlformats.org/drawingml/2006/main" xmlns:r="http://schemas.openxmlformats.org/officeDocument/2006/relationships" xmlns:p="http://schemas.openxmlformats.org/presentationml/2006/main">
  <p:tag name="THINKCELLSHAPEDONOTDELETE" val="tRmwAjTbbd7EHILTZGgSHvQ"/>
</p:tagLst>
</file>

<file path=ppt/tags/tag1013.xml><?xml version="1.0" encoding="utf-8"?>
<p:tagLst xmlns:a="http://schemas.openxmlformats.org/drawingml/2006/main" xmlns:r="http://schemas.openxmlformats.org/officeDocument/2006/relationships" xmlns:p="http://schemas.openxmlformats.org/presentationml/2006/main">
  <p:tag name="THINKCELLSHAPEDONOTDELETE" val="tIkKA2dHbkmKoMzMs6Gj_iQ"/>
</p:tagLst>
</file>

<file path=ppt/tags/tag1014.xml><?xml version="1.0" encoding="utf-8"?>
<p:tagLst xmlns:a="http://schemas.openxmlformats.org/drawingml/2006/main" xmlns:r="http://schemas.openxmlformats.org/officeDocument/2006/relationships" xmlns:p="http://schemas.openxmlformats.org/presentationml/2006/main">
  <p:tag name="THINKCELLSHAPEDONOTDELETE" val="tU8Y9NlW6osxzJBu4X4UZIQ"/>
</p:tagLst>
</file>

<file path=ppt/tags/tag1015.xml><?xml version="1.0" encoding="utf-8"?>
<p:tagLst xmlns:a="http://schemas.openxmlformats.org/drawingml/2006/main" xmlns:r="http://schemas.openxmlformats.org/officeDocument/2006/relationships" xmlns:p="http://schemas.openxmlformats.org/presentationml/2006/main">
  <p:tag name="THINKCELLSHAPEDONOTDELETE" val="t3lD2wR_BzRpyZW67RxbbNw"/>
</p:tagLst>
</file>

<file path=ppt/tags/tag1016.xml><?xml version="1.0" encoding="utf-8"?>
<p:tagLst xmlns:a="http://schemas.openxmlformats.org/drawingml/2006/main" xmlns:r="http://schemas.openxmlformats.org/officeDocument/2006/relationships" xmlns:p="http://schemas.openxmlformats.org/presentationml/2006/main">
  <p:tag name="THINKCELLSHAPEDONOTDELETE" val="t5EuOBAIIifFNc84yBeKdsw"/>
</p:tagLst>
</file>

<file path=ppt/tags/tag1017.xml><?xml version="1.0" encoding="utf-8"?>
<p:tagLst xmlns:a="http://schemas.openxmlformats.org/drawingml/2006/main" xmlns:r="http://schemas.openxmlformats.org/officeDocument/2006/relationships" xmlns:p="http://schemas.openxmlformats.org/presentationml/2006/main">
  <p:tag name="THINKCELLSHAPEDONOTDELETE" val="tOvXkm9nUfbFspEXeDshtiA"/>
</p:tagLst>
</file>

<file path=ppt/tags/tag1018.xml><?xml version="1.0" encoding="utf-8"?>
<p:tagLst xmlns:a="http://schemas.openxmlformats.org/drawingml/2006/main" xmlns:r="http://schemas.openxmlformats.org/officeDocument/2006/relationships" xmlns:p="http://schemas.openxmlformats.org/presentationml/2006/main">
  <p:tag name="THINKCELLSHAPEDONOTDELETE" val="teTbxIZA2iBDyxwoSW_di4Q"/>
</p:tagLst>
</file>

<file path=ppt/tags/tag1019.xml><?xml version="1.0" encoding="utf-8"?>
<p:tagLst xmlns:a="http://schemas.openxmlformats.org/drawingml/2006/main" xmlns:r="http://schemas.openxmlformats.org/officeDocument/2006/relationships" xmlns:p="http://schemas.openxmlformats.org/presentationml/2006/main">
  <p:tag name="THINKCELLSHAPEDONOTDELETE" val="tsG3PDEmfh35pTAXDaNLj0Q"/>
</p:tagLst>
</file>

<file path=ppt/tags/tag1020.xml><?xml version="1.0" encoding="utf-8"?>
<p:tagLst xmlns:a="http://schemas.openxmlformats.org/drawingml/2006/main" xmlns:r="http://schemas.openxmlformats.org/officeDocument/2006/relationships" xmlns:p="http://schemas.openxmlformats.org/presentationml/2006/main">
  <p:tag name="THINKCELLSHAPEDONOTDELETE" val="tfz3uCg3IK7RwQxn9jVe5.g"/>
</p:tagLst>
</file>

<file path=ppt/tags/tag1021.xml><?xml version="1.0" encoding="utf-8"?>
<p:tagLst xmlns:a="http://schemas.openxmlformats.org/drawingml/2006/main" xmlns:r="http://schemas.openxmlformats.org/officeDocument/2006/relationships" xmlns:p="http://schemas.openxmlformats.org/presentationml/2006/main">
  <p:tag name="THINKCELLSHAPEDONOTDELETE" val="tJg7HIgZUTRwlCqT1UE6knw"/>
</p:tagLst>
</file>

<file path=ppt/tags/tag1022.xml><?xml version="1.0" encoding="utf-8"?>
<p:tagLst xmlns:a="http://schemas.openxmlformats.org/drawingml/2006/main" xmlns:r="http://schemas.openxmlformats.org/officeDocument/2006/relationships" xmlns:p="http://schemas.openxmlformats.org/presentationml/2006/main">
  <p:tag name="THINKCELLSHAPEDONOTDELETE" val="tu854AASS.XRld2MwFoB43A"/>
</p:tagLst>
</file>

<file path=ppt/tags/tag1023.xml><?xml version="1.0" encoding="utf-8"?>
<p:tagLst xmlns:a="http://schemas.openxmlformats.org/drawingml/2006/main" xmlns:r="http://schemas.openxmlformats.org/officeDocument/2006/relationships" xmlns:p="http://schemas.openxmlformats.org/presentationml/2006/main">
  <p:tag name="THINKCELLSHAPEDONOTDELETE" val="tKkLTrcdPCjGkcNTJzZYSJg"/>
</p:tagLst>
</file>

<file path=ppt/tags/tag1024.xml><?xml version="1.0" encoding="utf-8"?>
<p:tagLst xmlns:a="http://schemas.openxmlformats.org/drawingml/2006/main" xmlns:r="http://schemas.openxmlformats.org/officeDocument/2006/relationships" xmlns:p="http://schemas.openxmlformats.org/presentationml/2006/main">
  <p:tag name="THINKCELLSHAPEDONOTDELETE" val="to2sZK9XG5wU0L1HUb7pXLg"/>
</p:tagLst>
</file>

<file path=ppt/tags/tag1025.xml><?xml version="1.0" encoding="utf-8"?>
<p:tagLst xmlns:a="http://schemas.openxmlformats.org/drawingml/2006/main" xmlns:r="http://schemas.openxmlformats.org/officeDocument/2006/relationships" xmlns:p="http://schemas.openxmlformats.org/presentationml/2006/main">
  <p:tag name="THINKCELLSHAPEDONOTDELETE" val="t.Goh_JPSTt1ovSEd7xDWqw"/>
</p:tagLst>
</file>

<file path=ppt/tags/tag1026.xml><?xml version="1.0" encoding="utf-8"?>
<p:tagLst xmlns:a="http://schemas.openxmlformats.org/drawingml/2006/main" xmlns:r="http://schemas.openxmlformats.org/officeDocument/2006/relationships" xmlns:p="http://schemas.openxmlformats.org/presentationml/2006/main">
  <p:tag name="THINKCELLSHAPEDONOTDELETE" val="tX.x6Rc1s8OEmsmF9XnYBiw"/>
</p:tagLst>
</file>

<file path=ppt/tags/tag1027.xml><?xml version="1.0" encoding="utf-8"?>
<p:tagLst xmlns:a="http://schemas.openxmlformats.org/drawingml/2006/main" xmlns:r="http://schemas.openxmlformats.org/officeDocument/2006/relationships" xmlns:p="http://schemas.openxmlformats.org/presentationml/2006/main">
  <p:tag name="THINKCELLSHAPEDONOTDELETE" val="tP8WDXs5AMpp0gssLlCKWJg"/>
</p:tagLst>
</file>

<file path=ppt/tags/tag10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29.xml><?xml version="1.0" encoding="utf-8"?>
<p:tagLst xmlns:a="http://schemas.openxmlformats.org/drawingml/2006/main" xmlns:r="http://schemas.openxmlformats.org/officeDocument/2006/relationships" xmlns:p="http://schemas.openxmlformats.org/presentationml/2006/main">
  <p:tag name="THINKCELLSHAPEDONOTDELETE" val="tMrgCpLDNQ1AfIV9RENFRsQ"/>
</p:tagLst>
</file>

<file path=ppt/tags/tag10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31.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032.xml><?xml version="1.0" encoding="utf-8"?>
<p:tagLst xmlns:a="http://schemas.openxmlformats.org/drawingml/2006/main" xmlns:r="http://schemas.openxmlformats.org/officeDocument/2006/relationships" xmlns:p="http://schemas.openxmlformats.org/presentationml/2006/main">
  <p:tag name="HEADER" val="True"/>
</p:tagLst>
</file>

<file path=ppt/tags/tag1033.xml><?xml version="1.0" encoding="utf-8"?>
<p:tagLst xmlns:a="http://schemas.openxmlformats.org/drawingml/2006/main" xmlns:r="http://schemas.openxmlformats.org/officeDocument/2006/relationships" xmlns:p="http://schemas.openxmlformats.org/presentationml/2006/main">
  <p:tag name="HEADER" val="True"/>
</p:tagLst>
</file>

<file path=ppt/tags/tag1034.xml><?xml version="1.0" encoding="utf-8"?>
<p:tagLst xmlns:a="http://schemas.openxmlformats.org/drawingml/2006/main" xmlns:r="http://schemas.openxmlformats.org/officeDocument/2006/relationships" xmlns:p="http://schemas.openxmlformats.org/presentationml/2006/main">
  <p:tag name="THINKCELLSHAPEDONOTDELETE" val="tcQUlS914xdMNTYJp9oY9Xg"/>
</p:tagLst>
</file>

<file path=ppt/tags/tag1035.xml><?xml version="1.0" encoding="utf-8"?>
<p:tagLst xmlns:a="http://schemas.openxmlformats.org/drawingml/2006/main" xmlns:r="http://schemas.openxmlformats.org/officeDocument/2006/relationships" xmlns:p="http://schemas.openxmlformats.org/presentationml/2006/main">
  <p:tag name="THINKCELLSHAPEDONOTDELETE" val="tHR03OIhe4iiJQPpvgkba4Q"/>
</p:tagLst>
</file>

<file path=ppt/tags/tag1036.xml><?xml version="1.0" encoding="utf-8"?>
<p:tagLst xmlns:a="http://schemas.openxmlformats.org/drawingml/2006/main" xmlns:r="http://schemas.openxmlformats.org/officeDocument/2006/relationships" xmlns:p="http://schemas.openxmlformats.org/presentationml/2006/main">
  <p:tag name="THINKCELLSHAPEDONOTDELETE" val="thH68Z0.rMJf7yamQGUuR.g"/>
</p:tagLst>
</file>

<file path=ppt/tags/tag1037.xml><?xml version="1.0" encoding="utf-8"?>
<p:tagLst xmlns:a="http://schemas.openxmlformats.org/drawingml/2006/main" xmlns:r="http://schemas.openxmlformats.org/officeDocument/2006/relationships" xmlns:p="http://schemas.openxmlformats.org/presentationml/2006/main">
  <p:tag name="THINKCELLSHAPEDONOTDELETE" val="thoSTBvyf25aFSih6EGgdJA"/>
</p:tagLst>
</file>

<file path=ppt/tags/tag1038.xml><?xml version="1.0" encoding="utf-8"?>
<p:tagLst xmlns:a="http://schemas.openxmlformats.org/drawingml/2006/main" xmlns:r="http://schemas.openxmlformats.org/officeDocument/2006/relationships" xmlns:p="http://schemas.openxmlformats.org/presentationml/2006/main">
  <p:tag name="THINKCELLSHAPEDONOTDELETE" val="tHOReZao.DebeRbIQQsaG4Q"/>
</p:tagLst>
</file>

<file path=ppt/tags/tag1039.xml><?xml version="1.0" encoding="utf-8"?>
<p:tagLst xmlns:a="http://schemas.openxmlformats.org/drawingml/2006/main" xmlns:r="http://schemas.openxmlformats.org/officeDocument/2006/relationships" xmlns:p="http://schemas.openxmlformats.org/presentationml/2006/main">
  <p:tag name="THINKCELLSHAPEDONOTDELETE" val="tR5y.0mA42GC6WoIgEhEiPg"/>
</p:tagLst>
</file>

<file path=ppt/tags/tag1040.xml><?xml version="1.0" encoding="utf-8"?>
<p:tagLst xmlns:a="http://schemas.openxmlformats.org/drawingml/2006/main" xmlns:r="http://schemas.openxmlformats.org/officeDocument/2006/relationships" xmlns:p="http://schemas.openxmlformats.org/presentationml/2006/main">
  <p:tag name="THINKCELLSHAPEDONOTDELETE" val="tEAtg0Vnl.C686gzMNvI8_Q"/>
</p:tagLst>
</file>

<file path=ppt/tags/tag1041.xml><?xml version="1.0" encoding="utf-8"?>
<p:tagLst xmlns:a="http://schemas.openxmlformats.org/drawingml/2006/main" xmlns:r="http://schemas.openxmlformats.org/officeDocument/2006/relationships" xmlns:p="http://schemas.openxmlformats.org/presentationml/2006/main">
  <p:tag name="THINKCELLSHAPEDONOTDELETE" val="tr9SH1ZPmHZSOnP.alY7c3A"/>
</p:tagLst>
</file>

<file path=ppt/tags/tag1042.xml><?xml version="1.0" encoding="utf-8"?>
<p:tagLst xmlns:a="http://schemas.openxmlformats.org/drawingml/2006/main" xmlns:r="http://schemas.openxmlformats.org/officeDocument/2006/relationships" xmlns:p="http://schemas.openxmlformats.org/presentationml/2006/main">
  <p:tag name="THINKCELLSHAPEDONOTDELETE" val="tFkpmwxTlsoX.89pLgWe1IQ"/>
</p:tagLst>
</file>

<file path=ppt/tags/tag1043.xml><?xml version="1.0" encoding="utf-8"?>
<p:tagLst xmlns:a="http://schemas.openxmlformats.org/drawingml/2006/main" xmlns:r="http://schemas.openxmlformats.org/officeDocument/2006/relationships" xmlns:p="http://schemas.openxmlformats.org/presentationml/2006/main">
  <p:tag name="THINKCELLSHAPEDONOTDELETE" val="t_dcShfTlCsaQXwJz75qdFA"/>
</p:tagLst>
</file>

<file path=ppt/tags/tag1044.xml><?xml version="1.0" encoding="utf-8"?>
<p:tagLst xmlns:a="http://schemas.openxmlformats.org/drawingml/2006/main" xmlns:r="http://schemas.openxmlformats.org/officeDocument/2006/relationships" xmlns:p="http://schemas.openxmlformats.org/presentationml/2006/main">
  <p:tag name="THINKCELLSHAPEDONOTDELETE" val="tlUJnfSzHH48BFG1O31kHHQ"/>
</p:tagLst>
</file>

<file path=ppt/tags/tag1045.xml><?xml version="1.0" encoding="utf-8"?>
<p:tagLst xmlns:a="http://schemas.openxmlformats.org/drawingml/2006/main" xmlns:r="http://schemas.openxmlformats.org/officeDocument/2006/relationships" xmlns:p="http://schemas.openxmlformats.org/presentationml/2006/main">
  <p:tag name="THINKCELLSHAPEDONOTDELETE" val="txWTIDNNTJ8w8mgLiqbnnEg"/>
</p:tagLst>
</file>

<file path=ppt/tags/tag1046.xml><?xml version="1.0" encoding="utf-8"?>
<p:tagLst xmlns:a="http://schemas.openxmlformats.org/drawingml/2006/main" xmlns:r="http://schemas.openxmlformats.org/officeDocument/2006/relationships" xmlns:p="http://schemas.openxmlformats.org/presentationml/2006/main">
  <p:tag name="THINKCELLSHAPEDONOTDELETE" val="t5vi2kAc39wL7TAJM1X0L3w"/>
</p:tagLst>
</file>

<file path=ppt/tags/tag1047.xml><?xml version="1.0" encoding="utf-8"?>
<p:tagLst xmlns:a="http://schemas.openxmlformats.org/drawingml/2006/main" xmlns:r="http://schemas.openxmlformats.org/officeDocument/2006/relationships" xmlns:p="http://schemas.openxmlformats.org/presentationml/2006/main">
  <p:tag name="THINKCELLSHAPEDONOTDELETE" val="tPtwX3uHTvwUufIfUWw4PjQ"/>
</p:tagLst>
</file>

<file path=ppt/tags/tag1048.xml><?xml version="1.0" encoding="utf-8"?>
<p:tagLst xmlns:a="http://schemas.openxmlformats.org/drawingml/2006/main" xmlns:r="http://schemas.openxmlformats.org/officeDocument/2006/relationships" xmlns:p="http://schemas.openxmlformats.org/presentationml/2006/main">
  <p:tag name="THINKCELLSHAPEDONOTDELETE" val="tCpuJdjoDv3OLrHXdg3kk0w"/>
</p:tagLst>
</file>

<file path=ppt/tags/tag1049.xml><?xml version="1.0" encoding="utf-8"?>
<p:tagLst xmlns:a="http://schemas.openxmlformats.org/drawingml/2006/main" xmlns:r="http://schemas.openxmlformats.org/officeDocument/2006/relationships" xmlns:p="http://schemas.openxmlformats.org/presentationml/2006/main">
  <p:tag name="THINKCELLSHAPEDONOTDELETE" val="tXsRSNkqfqnXoccatXiO0aA"/>
</p:tagLst>
</file>

<file path=ppt/tags/tag1050.xml><?xml version="1.0" encoding="utf-8"?>
<p:tagLst xmlns:a="http://schemas.openxmlformats.org/drawingml/2006/main" xmlns:r="http://schemas.openxmlformats.org/officeDocument/2006/relationships" xmlns:p="http://schemas.openxmlformats.org/presentationml/2006/main">
  <p:tag name="THINKCELLSHAPEDONOTDELETE" val="tHKU1wGpI474kWkjyyjGs2w"/>
</p:tagLst>
</file>

<file path=ppt/tags/tag1051.xml><?xml version="1.0" encoding="utf-8"?>
<p:tagLst xmlns:a="http://schemas.openxmlformats.org/drawingml/2006/main" xmlns:r="http://schemas.openxmlformats.org/officeDocument/2006/relationships" xmlns:p="http://schemas.openxmlformats.org/presentationml/2006/main">
  <p:tag name="THINKCELLSHAPEDONOTDELETE" val="tui3HUWh1iIjWun1tQWnUfw"/>
</p:tagLst>
</file>

<file path=ppt/tags/tag1052.xml><?xml version="1.0" encoding="utf-8"?>
<p:tagLst xmlns:a="http://schemas.openxmlformats.org/drawingml/2006/main" xmlns:r="http://schemas.openxmlformats.org/officeDocument/2006/relationships" xmlns:p="http://schemas.openxmlformats.org/presentationml/2006/main">
  <p:tag name="THINKCELLSHAPEDONOTDELETE" val="tc6o2TRmBT8F6PfpBYVN0PA"/>
</p:tagLst>
</file>

<file path=ppt/tags/tag1053.xml><?xml version="1.0" encoding="utf-8"?>
<p:tagLst xmlns:a="http://schemas.openxmlformats.org/drawingml/2006/main" xmlns:r="http://schemas.openxmlformats.org/officeDocument/2006/relationships" xmlns:p="http://schemas.openxmlformats.org/presentationml/2006/main">
  <p:tag name="THINKCELLSHAPEDONOTDELETE" val="tnIEZg0EeF0bWZumkl.mlWA"/>
</p:tagLst>
</file>

<file path=ppt/tags/tag1054.xml><?xml version="1.0" encoding="utf-8"?>
<p:tagLst xmlns:a="http://schemas.openxmlformats.org/drawingml/2006/main" xmlns:r="http://schemas.openxmlformats.org/officeDocument/2006/relationships" xmlns:p="http://schemas.openxmlformats.org/presentationml/2006/main">
  <p:tag name="THINKCELLSHAPEDONOTDELETE" val="tylhpY4OFbTSuqhdPCndb1A"/>
</p:tagLst>
</file>

<file path=ppt/tags/tag1055.xml><?xml version="1.0" encoding="utf-8"?>
<p:tagLst xmlns:a="http://schemas.openxmlformats.org/drawingml/2006/main" xmlns:r="http://schemas.openxmlformats.org/officeDocument/2006/relationships" xmlns:p="http://schemas.openxmlformats.org/presentationml/2006/main">
  <p:tag name="THINKCELLSHAPEDONOTDELETE" val="t3gnShrghW_dURu0jkQEW7A"/>
</p:tagLst>
</file>

<file path=ppt/tags/tag1056.xml><?xml version="1.0" encoding="utf-8"?>
<p:tagLst xmlns:a="http://schemas.openxmlformats.org/drawingml/2006/main" xmlns:r="http://schemas.openxmlformats.org/officeDocument/2006/relationships" xmlns:p="http://schemas.openxmlformats.org/presentationml/2006/main">
  <p:tag name="THINKCELLSHAPEDONOTDELETE" val="tFCCQLVAks.QF5kcRwC.Q0Q"/>
</p:tagLst>
</file>

<file path=ppt/tags/tag1057.xml><?xml version="1.0" encoding="utf-8"?>
<p:tagLst xmlns:a="http://schemas.openxmlformats.org/drawingml/2006/main" xmlns:r="http://schemas.openxmlformats.org/officeDocument/2006/relationships" xmlns:p="http://schemas.openxmlformats.org/presentationml/2006/main">
  <p:tag name="THINKCELLSHAPEDONOTDELETE" val="tVHxBOhf3GxI73gy1fpcODQ"/>
</p:tagLst>
</file>

<file path=ppt/tags/tag1058.xml><?xml version="1.0" encoding="utf-8"?>
<p:tagLst xmlns:a="http://schemas.openxmlformats.org/drawingml/2006/main" xmlns:r="http://schemas.openxmlformats.org/officeDocument/2006/relationships" xmlns:p="http://schemas.openxmlformats.org/presentationml/2006/main">
  <p:tag name="THINKCELLSHAPEDONOTDELETE" val="tQLWz573KeRQ0ZpXXcSyoIA"/>
</p:tagLst>
</file>

<file path=ppt/tags/tag1059.xml><?xml version="1.0" encoding="utf-8"?>
<p:tagLst xmlns:a="http://schemas.openxmlformats.org/drawingml/2006/main" xmlns:r="http://schemas.openxmlformats.org/officeDocument/2006/relationships" xmlns:p="http://schemas.openxmlformats.org/presentationml/2006/main">
  <p:tag name="THINKCELLSHAPEDONOTDELETE" val="t98uvHgOhy7elnhNtqiID8g"/>
</p:tagLst>
</file>

<file path=ppt/tags/tag1060.xml><?xml version="1.0" encoding="utf-8"?>
<p:tagLst xmlns:a="http://schemas.openxmlformats.org/drawingml/2006/main" xmlns:r="http://schemas.openxmlformats.org/officeDocument/2006/relationships" xmlns:p="http://schemas.openxmlformats.org/presentationml/2006/main">
  <p:tag name="THINKCELLSHAPEDONOTDELETE" val="tztt6pNJIb2i0_AoSvyEpXg"/>
</p:tagLst>
</file>

<file path=ppt/tags/tag1061.xml><?xml version="1.0" encoding="utf-8"?>
<p:tagLst xmlns:a="http://schemas.openxmlformats.org/drawingml/2006/main" xmlns:r="http://schemas.openxmlformats.org/officeDocument/2006/relationships" xmlns:p="http://schemas.openxmlformats.org/presentationml/2006/main">
  <p:tag name="THINKCELLSHAPEDONOTDELETE" val="thlvTTaXyHa5WkHx4WyrysQ"/>
</p:tagLst>
</file>

<file path=ppt/tags/tag1062.xml><?xml version="1.0" encoding="utf-8"?>
<p:tagLst xmlns:a="http://schemas.openxmlformats.org/drawingml/2006/main" xmlns:r="http://schemas.openxmlformats.org/officeDocument/2006/relationships" xmlns:p="http://schemas.openxmlformats.org/presentationml/2006/main">
  <p:tag name="THINKCELLSHAPEDONOTDELETE" val="tznaAWFmhNw0z259kbkDkKw"/>
</p:tagLst>
</file>

<file path=ppt/tags/tag1063.xml><?xml version="1.0" encoding="utf-8"?>
<p:tagLst xmlns:a="http://schemas.openxmlformats.org/drawingml/2006/main" xmlns:r="http://schemas.openxmlformats.org/officeDocument/2006/relationships" xmlns:p="http://schemas.openxmlformats.org/presentationml/2006/main">
  <p:tag name="THINKCELLSHAPEDONOTDELETE" val="tGikT8Lvsf1bh9kaB93jhlA"/>
</p:tagLst>
</file>

<file path=ppt/tags/tag1064.xml><?xml version="1.0" encoding="utf-8"?>
<p:tagLst xmlns:a="http://schemas.openxmlformats.org/drawingml/2006/main" xmlns:r="http://schemas.openxmlformats.org/officeDocument/2006/relationships" xmlns:p="http://schemas.openxmlformats.org/presentationml/2006/main">
  <p:tag name="THINKCELLSHAPEDONOTDELETE" val="t2U5NKUXJV1SBmG6E6SN4Tg"/>
</p:tagLst>
</file>

<file path=ppt/tags/tag1065.xml><?xml version="1.0" encoding="utf-8"?>
<p:tagLst xmlns:a="http://schemas.openxmlformats.org/drawingml/2006/main" xmlns:r="http://schemas.openxmlformats.org/officeDocument/2006/relationships" xmlns:p="http://schemas.openxmlformats.org/presentationml/2006/main">
  <p:tag name="THINKCELLSHAPEDONOTDELETE" val="tSMC.BH6EmBsoqKuqwD6zAA"/>
</p:tagLst>
</file>

<file path=ppt/tags/tag1066.xml><?xml version="1.0" encoding="utf-8"?>
<p:tagLst xmlns:a="http://schemas.openxmlformats.org/drawingml/2006/main" xmlns:r="http://schemas.openxmlformats.org/officeDocument/2006/relationships" xmlns:p="http://schemas.openxmlformats.org/presentationml/2006/main">
  <p:tag name="THINKCELLSHAPEDONOTDELETE" val="tnE7H7nIrlOJt9Kz0s3nlRg"/>
</p:tagLst>
</file>

<file path=ppt/tags/tag1067.xml><?xml version="1.0" encoding="utf-8"?>
<p:tagLst xmlns:a="http://schemas.openxmlformats.org/drawingml/2006/main" xmlns:r="http://schemas.openxmlformats.org/officeDocument/2006/relationships" xmlns:p="http://schemas.openxmlformats.org/presentationml/2006/main">
  <p:tag name="THINKCELLSHAPEDONOTDELETE" val="tgXZlRRef5kSzC8PQ2WiktQ"/>
</p:tagLst>
</file>

<file path=ppt/tags/tag1068.xml><?xml version="1.0" encoding="utf-8"?>
<p:tagLst xmlns:a="http://schemas.openxmlformats.org/drawingml/2006/main" xmlns:r="http://schemas.openxmlformats.org/officeDocument/2006/relationships" xmlns:p="http://schemas.openxmlformats.org/presentationml/2006/main">
  <p:tag name="THINKCELLSHAPEDONOTDELETE" val="tBSForsipcm18cXrW2tpfYQ"/>
</p:tagLst>
</file>

<file path=ppt/tags/tag1069.xml><?xml version="1.0" encoding="utf-8"?>
<p:tagLst xmlns:a="http://schemas.openxmlformats.org/drawingml/2006/main" xmlns:r="http://schemas.openxmlformats.org/officeDocument/2006/relationships" xmlns:p="http://schemas.openxmlformats.org/presentationml/2006/main">
  <p:tag name="THINKCELLSHAPEDONOTDELETE" val="t0JmjWOR7buDrqDGTvot5WA"/>
</p:tagLst>
</file>

<file path=ppt/tags/tag1070.xml><?xml version="1.0" encoding="utf-8"?>
<p:tagLst xmlns:a="http://schemas.openxmlformats.org/drawingml/2006/main" xmlns:r="http://schemas.openxmlformats.org/officeDocument/2006/relationships" xmlns:p="http://schemas.openxmlformats.org/presentationml/2006/main">
  <p:tag name="THINKCELLSHAPEDONOTDELETE" val="tj6j5ajcknrT0f1xGwiqhGw"/>
</p:tagLst>
</file>

<file path=ppt/tags/tag1071.xml><?xml version="1.0" encoding="utf-8"?>
<p:tagLst xmlns:a="http://schemas.openxmlformats.org/drawingml/2006/main" xmlns:r="http://schemas.openxmlformats.org/officeDocument/2006/relationships" xmlns:p="http://schemas.openxmlformats.org/presentationml/2006/main">
  <p:tag name="THINKCELLSHAPEDONOTDELETE" val="tQ8ZOdOIXMIPdcDHsZYK2tA"/>
</p:tagLst>
</file>

<file path=ppt/tags/tag1072.xml><?xml version="1.0" encoding="utf-8"?>
<p:tagLst xmlns:a="http://schemas.openxmlformats.org/drawingml/2006/main" xmlns:r="http://schemas.openxmlformats.org/officeDocument/2006/relationships" xmlns:p="http://schemas.openxmlformats.org/presentationml/2006/main">
  <p:tag name="THINKCELLSHAPEDONOTDELETE" val="tm5ji0Sy6w5hL_BMaI.1D0Q"/>
</p:tagLst>
</file>

<file path=ppt/tags/tag1073.xml><?xml version="1.0" encoding="utf-8"?>
<p:tagLst xmlns:a="http://schemas.openxmlformats.org/drawingml/2006/main" xmlns:r="http://schemas.openxmlformats.org/officeDocument/2006/relationships" xmlns:p="http://schemas.openxmlformats.org/presentationml/2006/main">
  <p:tag name="THINKCELLSHAPEDONOTDELETE" val="tMqbl89qxKK4mSTxX4DbMkg"/>
</p:tagLst>
</file>

<file path=ppt/tags/tag1074.xml><?xml version="1.0" encoding="utf-8"?>
<p:tagLst xmlns:a="http://schemas.openxmlformats.org/drawingml/2006/main" xmlns:r="http://schemas.openxmlformats.org/officeDocument/2006/relationships" xmlns:p="http://schemas.openxmlformats.org/presentationml/2006/main">
  <p:tag name="THINKCELLSHAPEDONOTDELETE" val="tJzuTR5EhguXtGeGqNAT_fw"/>
</p:tagLst>
</file>

<file path=ppt/tags/tag1075.xml><?xml version="1.0" encoding="utf-8"?>
<p:tagLst xmlns:a="http://schemas.openxmlformats.org/drawingml/2006/main" xmlns:r="http://schemas.openxmlformats.org/officeDocument/2006/relationships" xmlns:p="http://schemas.openxmlformats.org/presentationml/2006/main">
  <p:tag name="THINKCELLSHAPEDONOTDELETE" val="tCOg9OIW53pWcafMEiMYrSg"/>
</p:tagLst>
</file>

<file path=ppt/tags/tag1076.xml><?xml version="1.0" encoding="utf-8"?>
<p:tagLst xmlns:a="http://schemas.openxmlformats.org/drawingml/2006/main" xmlns:r="http://schemas.openxmlformats.org/officeDocument/2006/relationships" xmlns:p="http://schemas.openxmlformats.org/presentationml/2006/main">
  <p:tag name="THINKCELLSHAPEDONOTDELETE" val="tmU1BZt4pkc4S96_dfR2iUg"/>
</p:tagLst>
</file>

<file path=ppt/tags/tag1077.xml><?xml version="1.0" encoding="utf-8"?>
<p:tagLst xmlns:a="http://schemas.openxmlformats.org/drawingml/2006/main" xmlns:r="http://schemas.openxmlformats.org/officeDocument/2006/relationships" xmlns:p="http://schemas.openxmlformats.org/presentationml/2006/main">
  <p:tag name="THINKCELLSHAPEDONOTDELETE" val="tcbhXKFXkyr6GxAgyfLDvoA"/>
</p:tagLst>
</file>

<file path=ppt/tags/tag1078.xml><?xml version="1.0" encoding="utf-8"?>
<p:tagLst xmlns:a="http://schemas.openxmlformats.org/drawingml/2006/main" xmlns:r="http://schemas.openxmlformats.org/officeDocument/2006/relationships" xmlns:p="http://schemas.openxmlformats.org/presentationml/2006/main">
  <p:tag name="THINKCELLSHAPEDONOTDELETE" val="tj3TB.HU5JNojb15ZNswERw"/>
</p:tagLst>
</file>

<file path=ppt/tags/tag1079.xml><?xml version="1.0" encoding="utf-8"?>
<p:tagLst xmlns:a="http://schemas.openxmlformats.org/drawingml/2006/main" xmlns:r="http://schemas.openxmlformats.org/officeDocument/2006/relationships" xmlns:p="http://schemas.openxmlformats.org/presentationml/2006/main">
  <p:tag name="THINKCELLSHAPEDONOTDELETE" val="tG.3AvBukzmmV7meD4Z5.4Q"/>
</p:tagLst>
</file>

<file path=ppt/tags/tag1080.xml><?xml version="1.0" encoding="utf-8"?>
<p:tagLst xmlns:a="http://schemas.openxmlformats.org/drawingml/2006/main" xmlns:r="http://schemas.openxmlformats.org/officeDocument/2006/relationships" xmlns:p="http://schemas.openxmlformats.org/presentationml/2006/main">
  <p:tag name="THINKCELLSHAPEDONOTDELETE" val="tSj.EsOHX3nYfif.6zc7vxw"/>
</p:tagLst>
</file>

<file path=ppt/tags/tag1081.xml><?xml version="1.0" encoding="utf-8"?>
<p:tagLst xmlns:a="http://schemas.openxmlformats.org/drawingml/2006/main" xmlns:r="http://schemas.openxmlformats.org/officeDocument/2006/relationships" xmlns:p="http://schemas.openxmlformats.org/presentationml/2006/main">
  <p:tag name="THINKCELLSHAPEDONOTDELETE" val="tjoCXRV1T.Om2CrAL72.MuQ"/>
</p:tagLst>
</file>

<file path=ppt/tags/tag1082.xml><?xml version="1.0" encoding="utf-8"?>
<p:tagLst xmlns:a="http://schemas.openxmlformats.org/drawingml/2006/main" xmlns:r="http://schemas.openxmlformats.org/officeDocument/2006/relationships" xmlns:p="http://schemas.openxmlformats.org/presentationml/2006/main">
  <p:tag name="THINKCELLSHAPEDONOTDELETE" val="tJ38mJ152u7vWwvFl2O.DHQ"/>
</p:tagLst>
</file>

<file path=ppt/tags/tag108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84.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085.xml><?xml version="1.0" encoding="utf-8"?>
<p:tagLst xmlns:a="http://schemas.openxmlformats.org/drawingml/2006/main" xmlns:r="http://schemas.openxmlformats.org/officeDocument/2006/relationships" xmlns:p="http://schemas.openxmlformats.org/presentationml/2006/main">
  <p:tag name="HEADER" val="True"/>
</p:tagLst>
</file>

<file path=ppt/tags/tag1086.xml><?xml version="1.0" encoding="utf-8"?>
<p:tagLst xmlns:a="http://schemas.openxmlformats.org/drawingml/2006/main" xmlns:r="http://schemas.openxmlformats.org/officeDocument/2006/relationships" xmlns:p="http://schemas.openxmlformats.org/presentationml/2006/main">
  <p:tag name="HEADER" val="True"/>
</p:tagLst>
</file>

<file path=ppt/tags/tag1087.xml><?xml version="1.0" encoding="utf-8"?>
<p:tagLst xmlns:a="http://schemas.openxmlformats.org/drawingml/2006/main" xmlns:r="http://schemas.openxmlformats.org/officeDocument/2006/relationships" xmlns:p="http://schemas.openxmlformats.org/presentationml/2006/main">
  <p:tag name="THINKCELLSHAPEDONOTDELETE" val="ttiHTUN0GfKaCR0Kix1kbhQ"/>
</p:tagLst>
</file>

<file path=ppt/tags/tag1088.xml><?xml version="1.0" encoding="utf-8"?>
<p:tagLst xmlns:a="http://schemas.openxmlformats.org/drawingml/2006/main" xmlns:r="http://schemas.openxmlformats.org/officeDocument/2006/relationships" xmlns:p="http://schemas.openxmlformats.org/presentationml/2006/main">
  <p:tag name="THINKCELLSHAPEDONOTDELETE" val="taCo311ICXlvkqvcs8GR2XA"/>
</p:tagLst>
</file>

<file path=ppt/tags/tag1089.xml><?xml version="1.0" encoding="utf-8"?>
<p:tagLst xmlns:a="http://schemas.openxmlformats.org/drawingml/2006/main" xmlns:r="http://schemas.openxmlformats.org/officeDocument/2006/relationships" xmlns:p="http://schemas.openxmlformats.org/presentationml/2006/main">
  <p:tag name="THINKCELLSHAPEDONOTDELETE" val="t3iURJJQcdEYdD5Zp7pqX9g"/>
</p:tagLst>
</file>

<file path=ppt/tags/tag109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91.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092.xml><?xml version="1.0" encoding="utf-8"?>
<p:tagLst xmlns:a="http://schemas.openxmlformats.org/drawingml/2006/main" xmlns:r="http://schemas.openxmlformats.org/officeDocument/2006/relationships" xmlns:p="http://schemas.openxmlformats.org/presentationml/2006/main">
  <p:tag name="HEADER" val="True"/>
</p:tagLst>
</file>

<file path=ppt/tags/tag1093.xml><?xml version="1.0" encoding="utf-8"?>
<p:tagLst xmlns:a="http://schemas.openxmlformats.org/drawingml/2006/main" xmlns:r="http://schemas.openxmlformats.org/officeDocument/2006/relationships" xmlns:p="http://schemas.openxmlformats.org/presentationml/2006/main">
  <p:tag name="HEADER" val="True"/>
</p:tagLst>
</file>

<file path=ppt/tags/tag1094.xml><?xml version="1.0" encoding="utf-8"?>
<p:tagLst xmlns:a="http://schemas.openxmlformats.org/drawingml/2006/main" xmlns:r="http://schemas.openxmlformats.org/officeDocument/2006/relationships" xmlns:p="http://schemas.openxmlformats.org/presentationml/2006/main">
  <p:tag name="THINKCELLSHAPEDONOTDELETE" val="tkkUGqoxNTYyfnL1Uid206g"/>
</p:tagLst>
</file>

<file path=ppt/tags/tag1095.xml><?xml version="1.0" encoding="utf-8"?>
<p:tagLst xmlns:a="http://schemas.openxmlformats.org/drawingml/2006/main" xmlns:r="http://schemas.openxmlformats.org/officeDocument/2006/relationships" xmlns:p="http://schemas.openxmlformats.org/presentationml/2006/main">
  <p:tag name="THINKCELLSHAPEDONOTDELETE" val="taCo311ICXlvkqvcs8GR2XA"/>
</p:tagLst>
</file>

<file path=ppt/tags/tag1096.xml><?xml version="1.0" encoding="utf-8"?>
<p:tagLst xmlns:a="http://schemas.openxmlformats.org/drawingml/2006/main" xmlns:r="http://schemas.openxmlformats.org/officeDocument/2006/relationships" xmlns:p="http://schemas.openxmlformats.org/presentationml/2006/main">
  <p:tag name="THINKCELLSHAPEDONOTDELETE" val="t3iURJJQcdEYdD5Zp7pqX9g"/>
</p:tagLst>
</file>

<file path=ppt/tags/tag109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98.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099.xml><?xml version="1.0" encoding="utf-8"?>
<p:tagLst xmlns:a="http://schemas.openxmlformats.org/drawingml/2006/main" xmlns:r="http://schemas.openxmlformats.org/officeDocument/2006/relationships" xmlns:p="http://schemas.openxmlformats.org/presentationml/2006/main">
  <p:tag name="HEADER" val="True"/>
</p:tagLst>
</file>

<file path=ppt/tags/tag1100.xml><?xml version="1.0" encoding="utf-8"?>
<p:tagLst xmlns:a="http://schemas.openxmlformats.org/drawingml/2006/main" xmlns:r="http://schemas.openxmlformats.org/officeDocument/2006/relationships" xmlns:p="http://schemas.openxmlformats.org/presentationml/2006/main">
  <p:tag name="HEADER" val="True"/>
</p:tagLst>
</file>

<file path=ppt/tags/tag1101.xml><?xml version="1.0" encoding="utf-8"?>
<p:tagLst xmlns:a="http://schemas.openxmlformats.org/drawingml/2006/main" xmlns:r="http://schemas.openxmlformats.org/officeDocument/2006/relationships" xmlns:p="http://schemas.openxmlformats.org/presentationml/2006/main">
  <p:tag name="THINKCELLSHAPEDONOTDELETE" val="t_dXgnuUSdhiOO1mPt9nxYQ"/>
</p:tagLst>
</file>

<file path=ppt/tags/tag1102.xml><?xml version="1.0" encoding="utf-8"?>
<p:tagLst xmlns:a="http://schemas.openxmlformats.org/drawingml/2006/main" xmlns:r="http://schemas.openxmlformats.org/officeDocument/2006/relationships" xmlns:p="http://schemas.openxmlformats.org/presentationml/2006/main">
  <p:tag name="THINKCELLSHAPEDONOTDELETE" val="tYKApOgZMPUEtoxSFkgcCAg"/>
</p:tagLst>
</file>

<file path=ppt/tags/tag1103.xml><?xml version="1.0" encoding="utf-8"?>
<p:tagLst xmlns:a="http://schemas.openxmlformats.org/drawingml/2006/main" xmlns:r="http://schemas.openxmlformats.org/officeDocument/2006/relationships" xmlns:p="http://schemas.openxmlformats.org/presentationml/2006/main">
  <p:tag name="THINKCELLSHAPEDONOTDELETE" val="t92_Nk2NYrhJcl9ERYHql0Q"/>
</p:tagLst>
</file>

<file path=ppt/tags/tag110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05.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106.xml><?xml version="1.0" encoding="utf-8"?>
<p:tagLst xmlns:a="http://schemas.openxmlformats.org/drawingml/2006/main" xmlns:r="http://schemas.openxmlformats.org/officeDocument/2006/relationships" xmlns:p="http://schemas.openxmlformats.org/presentationml/2006/main">
  <p:tag name="HEADER" val="True"/>
</p:tagLst>
</file>

<file path=ppt/tags/tag1107.xml><?xml version="1.0" encoding="utf-8"?>
<p:tagLst xmlns:a="http://schemas.openxmlformats.org/drawingml/2006/main" xmlns:r="http://schemas.openxmlformats.org/officeDocument/2006/relationships" xmlns:p="http://schemas.openxmlformats.org/presentationml/2006/main">
  <p:tag name="HEADER" val="True"/>
</p:tagLst>
</file>

<file path=ppt/tags/tag1108.xml><?xml version="1.0" encoding="utf-8"?>
<p:tagLst xmlns:a="http://schemas.openxmlformats.org/drawingml/2006/main" xmlns:r="http://schemas.openxmlformats.org/officeDocument/2006/relationships" xmlns:p="http://schemas.openxmlformats.org/presentationml/2006/main">
  <p:tag name="THINKCELLSHAPEDONOTDELETE" val="toFKfod9ALeBFxIsLymY1IA"/>
</p:tagLst>
</file>

<file path=ppt/tags/tag1109.xml><?xml version="1.0" encoding="utf-8"?>
<p:tagLst xmlns:a="http://schemas.openxmlformats.org/drawingml/2006/main" xmlns:r="http://schemas.openxmlformats.org/officeDocument/2006/relationships" xmlns:p="http://schemas.openxmlformats.org/presentationml/2006/main">
  <p:tag name="THINKCELLSHAPEDONOTDELETE" val="txUfqwJLo_qx1IvExvsbAgg"/>
</p:tagLst>
</file>

<file path=ppt/tags/tag1110.xml><?xml version="1.0" encoding="utf-8"?>
<p:tagLst xmlns:a="http://schemas.openxmlformats.org/drawingml/2006/main" xmlns:r="http://schemas.openxmlformats.org/officeDocument/2006/relationships" xmlns:p="http://schemas.openxmlformats.org/presentationml/2006/main">
  <p:tag name="THINKCELLSHAPEDONOTDELETE" val="tgVSYTJ__VlMeFCwTNZPW5A"/>
</p:tagLst>
</file>

<file path=ppt/tags/tag1111.xml><?xml version="1.0" encoding="utf-8"?>
<p:tagLst xmlns:a="http://schemas.openxmlformats.org/drawingml/2006/main" xmlns:r="http://schemas.openxmlformats.org/officeDocument/2006/relationships" xmlns:p="http://schemas.openxmlformats.org/presentationml/2006/main">
  <p:tag name="THINKCELLSHAPEDONOTDELETE" val="tVncUJ6mf469.PbDY6RYFZQ"/>
</p:tagLst>
</file>

<file path=ppt/tags/tag1112.xml><?xml version="1.0" encoding="utf-8"?>
<p:tagLst xmlns:a="http://schemas.openxmlformats.org/drawingml/2006/main" xmlns:r="http://schemas.openxmlformats.org/officeDocument/2006/relationships" xmlns:p="http://schemas.openxmlformats.org/presentationml/2006/main">
  <p:tag name="THINKCELLSHAPEDONOTDELETE" val="tORukzarfKu3tPHawOODoVw"/>
</p:tagLst>
</file>

<file path=ppt/tags/tag1113.xml><?xml version="1.0" encoding="utf-8"?>
<p:tagLst xmlns:a="http://schemas.openxmlformats.org/drawingml/2006/main" xmlns:r="http://schemas.openxmlformats.org/officeDocument/2006/relationships" xmlns:p="http://schemas.openxmlformats.org/presentationml/2006/main">
  <p:tag name="THINKCELLSHAPEDONOTDELETE" val="t4m7EipYYcLQAwSPWCbz8WQ"/>
</p:tagLst>
</file>

<file path=ppt/tags/tag1114.xml><?xml version="1.0" encoding="utf-8"?>
<p:tagLst xmlns:a="http://schemas.openxmlformats.org/drawingml/2006/main" xmlns:r="http://schemas.openxmlformats.org/officeDocument/2006/relationships" xmlns:p="http://schemas.openxmlformats.org/presentationml/2006/main">
  <p:tag name="THINKCELLSHAPEDONOTDELETE" val="tzGPVSeoArK_ySo_8.7nNHA"/>
</p:tagLst>
</file>

<file path=ppt/tags/tag1115.xml><?xml version="1.0" encoding="utf-8"?>
<p:tagLst xmlns:a="http://schemas.openxmlformats.org/drawingml/2006/main" xmlns:r="http://schemas.openxmlformats.org/officeDocument/2006/relationships" xmlns:p="http://schemas.openxmlformats.org/presentationml/2006/main">
  <p:tag name="THINKCELLSHAPEDONOTDELETE" val="tv0pg27HndklSkRxdyQg.8A"/>
</p:tagLst>
</file>

<file path=ppt/tags/tag1116.xml><?xml version="1.0" encoding="utf-8"?>
<p:tagLst xmlns:a="http://schemas.openxmlformats.org/drawingml/2006/main" xmlns:r="http://schemas.openxmlformats.org/officeDocument/2006/relationships" xmlns:p="http://schemas.openxmlformats.org/presentationml/2006/main">
  <p:tag name="THINKCELLSHAPEDONOTDELETE" val="tj0kikX07G7XtIicYWYO3ww"/>
</p:tagLst>
</file>

<file path=ppt/tags/tag1117.xml><?xml version="1.0" encoding="utf-8"?>
<p:tagLst xmlns:a="http://schemas.openxmlformats.org/drawingml/2006/main" xmlns:r="http://schemas.openxmlformats.org/officeDocument/2006/relationships" xmlns:p="http://schemas.openxmlformats.org/presentationml/2006/main">
  <p:tag name="THINKCELLSHAPEDONOTDELETE" val="txBMSw1eq_3sewmSHmoUa4w"/>
</p:tagLst>
</file>

<file path=ppt/tags/tag11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19.xml><?xml version="1.0" encoding="utf-8"?>
<p:tagLst xmlns:a="http://schemas.openxmlformats.org/drawingml/2006/main" xmlns:r="http://schemas.openxmlformats.org/officeDocument/2006/relationships" xmlns:p="http://schemas.openxmlformats.org/presentationml/2006/main">
  <p:tag name="THINKCELLSHAPEDONOTDELETE" val="tR64.nCiBDysOoFJTQrkhgA"/>
</p:tagLst>
</file>

<file path=ppt/tags/tag1120.xml><?xml version="1.0" encoding="utf-8"?>
<p:tagLst xmlns:a="http://schemas.openxmlformats.org/drawingml/2006/main" xmlns:r="http://schemas.openxmlformats.org/officeDocument/2006/relationships" xmlns:p="http://schemas.openxmlformats.org/presentationml/2006/main">
  <p:tag name="HEADER" val="True"/>
</p:tagLst>
</file>

<file path=ppt/tags/tag1121.xml><?xml version="1.0" encoding="utf-8"?>
<p:tagLst xmlns:a="http://schemas.openxmlformats.org/drawingml/2006/main" xmlns:r="http://schemas.openxmlformats.org/officeDocument/2006/relationships" xmlns:p="http://schemas.openxmlformats.org/presentationml/2006/main">
  <p:tag name="HEADER" val="True"/>
</p:tagLst>
</file>

<file path=ppt/tags/tag1122.xml><?xml version="1.0" encoding="utf-8"?>
<p:tagLst xmlns:a="http://schemas.openxmlformats.org/drawingml/2006/main" xmlns:r="http://schemas.openxmlformats.org/officeDocument/2006/relationships" xmlns:p="http://schemas.openxmlformats.org/presentationml/2006/main">
  <p:tag name="THINKCELLSHAPEDONOTDELETE" val="tyyZWqlltyrTXxiAMpgTALw"/>
</p:tagLst>
</file>

<file path=ppt/tags/tag1123.xml><?xml version="1.0" encoding="utf-8"?>
<p:tagLst xmlns:a="http://schemas.openxmlformats.org/drawingml/2006/main" xmlns:r="http://schemas.openxmlformats.org/officeDocument/2006/relationships" xmlns:p="http://schemas.openxmlformats.org/presentationml/2006/main">
  <p:tag name="THINKCELLSHAPEDONOTDELETE" val="t76Ftv69hThc6rvoKVw2OFg"/>
</p:tagLst>
</file>

<file path=ppt/tags/tag1124.xml><?xml version="1.0" encoding="utf-8"?>
<p:tagLst xmlns:a="http://schemas.openxmlformats.org/drawingml/2006/main" xmlns:r="http://schemas.openxmlformats.org/officeDocument/2006/relationships" xmlns:p="http://schemas.openxmlformats.org/presentationml/2006/main">
  <p:tag name="THINKCELLSHAPEDONOTDELETE" val="t0PiMCFJYOfHjSZlDf2MVbg"/>
</p:tagLst>
</file>

<file path=ppt/tags/tag112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26.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127.xml><?xml version="1.0" encoding="utf-8"?>
<p:tagLst xmlns:a="http://schemas.openxmlformats.org/drawingml/2006/main" xmlns:r="http://schemas.openxmlformats.org/officeDocument/2006/relationships" xmlns:p="http://schemas.openxmlformats.org/presentationml/2006/main">
  <p:tag name="HEADER" val="True"/>
</p:tagLst>
</file>

<file path=ppt/tags/tag1128.xml><?xml version="1.0" encoding="utf-8"?>
<p:tagLst xmlns:a="http://schemas.openxmlformats.org/drawingml/2006/main" xmlns:r="http://schemas.openxmlformats.org/officeDocument/2006/relationships" xmlns:p="http://schemas.openxmlformats.org/presentationml/2006/main">
  <p:tag name="HEADER" val="True"/>
</p:tagLst>
</file>

<file path=ppt/tags/tag1129.xml><?xml version="1.0" encoding="utf-8"?>
<p:tagLst xmlns:a="http://schemas.openxmlformats.org/drawingml/2006/main" xmlns:r="http://schemas.openxmlformats.org/officeDocument/2006/relationships" xmlns:p="http://schemas.openxmlformats.org/presentationml/2006/main">
  <p:tag name="THINKCELLSHAPEDONOTDELETE" val="tNaCIQ_EE6G_l7hea4zGPdA"/>
</p:tagLst>
</file>

<file path=ppt/tags/tag1130.xml><?xml version="1.0" encoding="utf-8"?>
<p:tagLst xmlns:a="http://schemas.openxmlformats.org/drawingml/2006/main" xmlns:r="http://schemas.openxmlformats.org/officeDocument/2006/relationships" xmlns:p="http://schemas.openxmlformats.org/presentationml/2006/main">
  <p:tag name="THINKCELLSHAPEDONOTDELETE" val="tkwPnhqEMWu_Cx9Pm5CW4bQ"/>
</p:tagLst>
</file>

<file path=ppt/tags/tag1131.xml><?xml version="1.0" encoding="utf-8"?>
<p:tagLst xmlns:a="http://schemas.openxmlformats.org/drawingml/2006/main" xmlns:r="http://schemas.openxmlformats.org/officeDocument/2006/relationships" xmlns:p="http://schemas.openxmlformats.org/presentationml/2006/main">
  <p:tag name="THINKCELLSHAPEDONOTDELETE" val="ttWPgYa9xZpdr3P8g8cspTw"/>
</p:tagLst>
</file>

<file path=ppt/tags/tag11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33.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134.xml><?xml version="1.0" encoding="utf-8"?>
<p:tagLst xmlns:a="http://schemas.openxmlformats.org/drawingml/2006/main" xmlns:r="http://schemas.openxmlformats.org/officeDocument/2006/relationships" xmlns:p="http://schemas.openxmlformats.org/presentationml/2006/main">
  <p:tag name="HEADER" val="True"/>
</p:tagLst>
</file>

<file path=ppt/tags/tag1135.xml><?xml version="1.0" encoding="utf-8"?>
<p:tagLst xmlns:a="http://schemas.openxmlformats.org/drawingml/2006/main" xmlns:r="http://schemas.openxmlformats.org/officeDocument/2006/relationships" xmlns:p="http://schemas.openxmlformats.org/presentationml/2006/main">
  <p:tag name="HEADER" val="True"/>
</p:tagLst>
</file>

<file path=ppt/tags/tag1136.xml><?xml version="1.0" encoding="utf-8"?>
<p:tagLst xmlns:a="http://schemas.openxmlformats.org/drawingml/2006/main" xmlns:r="http://schemas.openxmlformats.org/officeDocument/2006/relationships" xmlns:p="http://schemas.openxmlformats.org/presentationml/2006/main">
  <p:tag name="THINKCELLSHAPEDONOTDELETE" val="tuJEf2Oe.XF.Ho6aCYTsm.A"/>
</p:tagLst>
</file>

<file path=ppt/tags/tag1137.xml><?xml version="1.0" encoding="utf-8"?>
<p:tagLst xmlns:a="http://schemas.openxmlformats.org/drawingml/2006/main" xmlns:r="http://schemas.openxmlformats.org/officeDocument/2006/relationships" xmlns:p="http://schemas.openxmlformats.org/presentationml/2006/main">
  <p:tag name="THINKCELLSHAPEDONOTDELETE" val="t4yFmu3..9l8BjuLCSRov_g"/>
</p:tagLst>
</file>

<file path=ppt/tags/tag1138.xml><?xml version="1.0" encoding="utf-8"?>
<p:tagLst xmlns:a="http://schemas.openxmlformats.org/drawingml/2006/main" xmlns:r="http://schemas.openxmlformats.org/officeDocument/2006/relationships" xmlns:p="http://schemas.openxmlformats.org/presentationml/2006/main">
  <p:tag name="THINKCELLSHAPEDONOTDELETE" val="tXXufD6iKv5RKhvHPblLSAg"/>
</p:tagLst>
</file>

<file path=ppt/tags/tag1139.xml><?xml version="1.0" encoding="utf-8"?>
<p:tagLst xmlns:a="http://schemas.openxmlformats.org/drawingml/2006/main" xmlns:r="http://schemas.openxmlformats.org/officeDocument/2006/relationships" xmlns:p="http://schemas.openxmlformats.org/presentationml/2006/main">
  <p:tag name="THINKCELLSHAPEDONOTDELETE" val="tc0RVR3nsK2aOKW9hLda9gw"/>
</p:tagLst>
</file>

<file path=ppt/tags/tag1140.xml><?xml version="1.0" encoding="utf-8"?>
<p:tagLst xmlns:a="http://schemas.openxmlformats.org/drawingml/2006/main" xmlns:r="http://schemas.openxmlformats.org/officeDocument/2006/relationships" xmlns:p="http://schemas.openxmlformats.org/presentationml/2006/main">
  <p:tag name="THINKCELLSHAPEDONOTDELETE" val="tw0q6caLXCO4NP0bCMhfE8g"/>
</p:tagLst>
</file>

<file path=ppt/tags/tag1141.xml><?xml version="1.0" encoding="utf-8"?>
<p:tagLst xmlns:a="http://schemas.openxmlformats.org/drawingml/2006/main" xmlns:r="http://schemas.openxmlformats.org/officeDocument/2006/relationships" xmlns:p="http://schemas.openxmlformats.org/presentationml/2006/main">
  <p:tag name="THINKCELLSHAPEDONOTDELETE" val="ttT23DszM5Yft.RcRpShRnA"/>
</p:tagLst>
</file>

<file path=ppt/tags/tag1142.xml><?xml version="1.0" encoding="utf-8"?>
<p:tagLst xmlns:a="http://schemas.openxmlformats.org/drawingml/2006/main" xmlns:r="http://schemas.openxmlformats.org/officeDocument/2006/relationships" xmlns:p="http://schemas.openxmlformats.org/presentationml/2006/main">
  <p:tag name="THINKCELLSHAPEDONOTDELETE" val="tcfvGfyEbRyRDt4JK5A6g9A"/>
</p:tagLst>
</file>

<file path=ppt/tags/tag1143.xml><?xml version="1.0" encoding="utf-8"?>
<p:tagLst xmlns:a="http://schemas.openxmlformats.org/drawingml/2006/main" xmlns:r="http://schemas.openxmlformats.org/officeDocument/2006/relationships" xmlns:p="http://schemas.openxmlformats.org/presentationml/2006/main">
  <p:tag name="THINKCELLSHAPEDONOTDELETE" val="tTwoA0i_9gL7veMtP9TcGvA"/>
</p:tagLst>
</file>

<file path=ppt/tags/tag1144.xml><?xml version="1.0" encoding="utf-8"?>
<p:tagLst xmlns:a="http://schemas.openxmlformats.org/drawingml/2006/main" xmlns:r="http://schemas.openxmlformats.org/officeDocument/2006/relationships" xmlns:p="http://schemas.openxmlformats.org/presentationml/2006/main">
  <p:tag name="THINKCELLSHAPEDONOTDELETE" val="tc2jzqz0rjcEUWsIfpIz5yw"/>
</p:tagLst>
</file>

<file path=ppt/tags/tag1145.xml><?xml version="1.0" encoding="utf-8"?>
<p:tagLst xmlns:a="http://schemas.openxmlformats.org/drawingml/2006/main" xmlns:r="http://schemas.openxmlformats.org/officeDocument/2006/relationships" xmlns:p="http://schemas.openxmlformats.org/presentationml/2006/main">
  <p:tag name="THINKCELLSHAPEDONOTDELETE" val="tWxb92SXVXeezOXWkm5tA4A"/>
</p:tagLst>
</file>

<file path=ppt/tags/tag1146.xml><?xml version="1.0" encoding="utf-8"?>
<p:tagLst xmlns:a="http://schemas.openxmlformats.org/drawingml/2006/main" xmlns:r="http://schemas.openxmlformats.org/officeDocument/2006/relationships" xmlns:p="http://schemas.openxmlformats.org/presentationml/2006/main">
  <p:tag name="THINKCELLSHAPEDONOTDELETE" val="tSExis8phuQmhMwNxDZWsSA"/>
</p:tagLst>
</file>

<file path=ppt/tags/tag1147.xml><?xml version="1.0" encoding="utf-8"?>
<p:tagLst xmlns:a="http://schemas.openxmlformats.org/drawingml/2006/main" xmlns:r="http://schemas.openxmlformats.org/officeDocument/2006/relationships" xmlns:p="http://schemas.openxmlformats.org/presentationml/2006/main">
  <p:tag name="THINKCELLSHAPEDONOTDELETE" val="tS53IIStoEiBWdqV1NaFsVQ"/>
</p:tagLst>
</file>

<file path=ppt/tags/tag1148.xml><?xml version="1.0" encoding="utf-8"?>
<p:tagLst xmlns:a="http://schemas.openxmlformats.org/drawingml/2006/main" xmlns:r="http://schemas.openxmlformats.org/officeDocument/2006/relationships" xmlns:p="http://schemas.openxmlformats.org/presentationml/2006/main">
  <p:tag name="THINKCELLSHAPEDONOTDELETE" val="tAdRQJs9EiRu_rSblsrnY4Q"/>
</p:tagLst>
</file>

<file path=ppt/tags/tag1149.xml><?xml version="1.0" encoding="utf-8"?>
<p:tagLst xmlns:a="http://schemas.openxmlformats.org/drawingml/2006/main" xmlns:r="http://schemas.openxmlformats.org/officeDocument/2006/relationships" xmlns:p="http://schemas.openxmlformats.org/presentationml/2006/main">
  <p:tag name="THINKCELLSHAPEDONOTDELETE" val="tkYsa7fMGZNTuHo9XUqK.Ew"/>
</p:tagLst>
</file>

<file path=ppt/tags/tag1150.xml><?xml version="1.0" encoding="utf-8"?>
<p:tagLst xmlns:a="http://schemas.openxmlformats.org/drawingml/2006/main" xmlns:r="http://schemas.openxmlformats.org/officeDocument/2006/relationships" xmlns:p="http://schemas.openxmlformats.org/presentationml/2006/main">
  <p:tag name="THINKCELLSHAPEDONOTDELETE" val="tlYrb8iY8BKawfAMO_7JJMw"/>
</p:tagLst>
</file>

<file path=ppt/tags/tag1151.xml><?xml version="1.0" encoding="utf-8"?>
<p:tagLst xmlns:a="http://schemas.openxmlformats.org/drawingml/2006/main" xmlns:r="http://schemas.openxmlformats.org/officeDocument/2006/relationships" xmlns:p="http://schemas.openxmlformats.org/presentationml/2006/main">
  <p:tag name="THINKCELLSHAPEDONOTDELETE" val="tfLn0sE4gikFkI3Y6noRTmw"/>
</p:tagLst>
</file>

<file path=ppt/tags/tag1152.xml><?xml version="1.0" encoding="utf-8"?>
<p:tagLst xmlns:a="http://schemas.openxmlformats.org/drawingml/2006/main" xmlns:r="http://schemas.openxmlformats.org/officeDocument/2006/relationships" xmlns:p="http://schemas.openxmlformats.org/presentationml/2006/main">
  <p:tag name="THINKCELLSHAPEDONOTDELETE" val="tyZOIIB1bP7Cb9AWvccLsgg"/>
</p:tagLst>
</file>

<file path=ppt/tags/tag1153.xml><?xml version="1.0" encoding="utf-8"?>
<p:tagLst xmlns:a="http://schemas.openxmlformats.org/drawingml/2006/main" xmlns:r="http://schemas.openxmlformats.org/officeDocument/2006/relationships" xmlns:p="http://schemas.openxmlformats.org/presentationml/2006/main">
  <p:tag name="THINKCELLSHAPEDONOTDELETE" val="tQRJT5BVkz3aSKFGoFgsP5g"/>
</p:tagLst>
</file>

<file path=ppt/tags/tag1154.xml><?xml version="1.0" encoding="utf-8"?>
<p:tagLst xmlns:a="http://schemas.openxmlformats.org/drawingml/2006/main" xmlns:r="http://schemas.openxmlformats.org/officeDocument/2006/relationships" xmlns:p="http://schemas.openxmlformats.org/presentationml/2006/main">
  <p:tag name="THINKCELLSHAPEDONOTDELETE" val="tjyOJme4Lf4vexGm0ZIwjOg"/>
</p:tagLst>
</file>

<file path=ppt/tags/tag1155.xml><?xml version="1.0" encoding="utf-8"?>
<p:tagLst xmlns:a="http://schemas.openxmlformats.org/drawingml/2006/main" xmlns:r="http://schemas.openxmlformats.org/officeDocument/2006/relationships" xmlns:p="http://schemas.openxmlformats.org/presentationml/2006/main">
  <p:tag name="THINKCELLSHAPEDONOTDELETE" val="tJ.3IzxaAopSSWx9AXA9Ocw"/>
</p:tagLst>
</file>

<file path=ppt/tags/tag1156.xml><?xml version="1.0" encoding="utf-8"?>
<p:tagLst xmlns:a="http://schemas.openxmlformats.org/drawingml/2006/main" xmlns:r="http://schemas.openxmlformats.org/officeDocument/2006/relationships" xmlns:p="http://schemas.openxmlformats.org/presentationml/2006/main">
  <p:tag name="THINKCELLSHAPEDONOTDELETE" val="tPQNsDI1C_ECZwxhOpgewPw"/>
</p:tagLst>
</file>

<file path=ppt/tags/tag1157.xml><?xml version="1.0" encoding="utf-8"?>
<p:tagLst xmlns:a="http://schemas.openxmlformats.org/drawingml/2006/main" xmlns:r="http://schemas.openxmlformats.org/officeDocument/2006/relationships" xmlns:p="http://schemas.openxmlformats.org/presentationml/2006/main">
  <p:tag name="THINKCELLSHAPEDONOTDELETE" val="tS.03zBXPJhU9cnUyCRB4jg"/>
</p:tagLst>
</file>

<file path=ppt/tags/tag1158.xml><?xml version="1.0" encoding="utf-8"?>
<p:tagLst xmlns:a="http://schemas.openxmlformats.org/drawingml/2006/main" xmlns:r="http://schemas.openxmlformats.org/officeDocument/2006/relationships" xmlns:p="http://schemas.openxmlformats.org/presentationml/2006/main">
  <p:tag name="THINKCELLSHAPEDONOTDELETE" val="tTuRhQCKHB545SkkbZM2I8w"/>
</p:tagLst>
</file>

<file path=ppt/tags/tag1159.xml><?xml version="1.0" encoding="utf-8"?>
<p:tagLst xmlns:a="http://schemas.openxmlformats.org/drawingml/2006/main" xmlns:r="http://schemas.openxmlformats.org/officeDocument/2006/relationships" xmlns:p="http://schemas.openxmlformats.org/presentationml/2006/main">
  <p:tag name="THINKCELLSHAPEDONOTDELETE" val="tw51erPtTlWIsjFrFMiS5AQ"/>
</p:tagLst>
</file>

<file path=ppt/tags/tag116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61.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162.xml><?xml version="1.0" encoding="utf-8"?>
<p:tagLst xmlns:a="http://schemas.openxmlformats.org/drawingml/2006/main" xmlns:r="http://schemas.openxmlformats.org/officeDocument/2006/relationships" xmlns:p="http://schemas.openxmlformats.org/presentationml/2006/main">
  <p:tag name="HEADER" val="True"/>
</p:tagLst>
</file>

<file path=ppt/tags/tag1163.xml><?xml version="1.0" encoding="utf-8"?>
<p:tagLst xmlns:a="http://schemas.openxmlformats.org/drawingml/2006/main" xmlns:r="http://schemas.openxmlformats.org/officeDocument/2006/relationships" xmlns:p="http://schemas.openxmlformats.org/presentationml/2006/main">
  <p:tag name="HEADER" val="True"/>
</p:tagLst>
</file>

<file path=ppt/tags/tag1164.xml><?xml version="1.0" encoding="utf-8"?>
<p:tagLst xmlns:a="http://schemas.openxmlformats.org/drawingml/2006/main" xmlns:r="http://schemas.openxmlformats.org/officeDocument/2006/relationships" xmlns:p="http://schemas.openxmlformats.org/presentationml/2006/main">
  <p:tag name="THINKCELLSHAPEDONOTDELETE" val="tbJL8TptndQabz0NlOSrzJQ"/>
</p:tagLst>
</file>

<file path=ppt/tags/tag1165.xml><?xml version="1.0" encoding="utf-8"?>
<p:tagLst xmlns:a="http://schemas.openxmlformats.org/drawingml/2006/main" xmlns:r="http://schemas.openxmlformats.org/officeDocument/2006/relationships" xmlns:p="http://schemas.openxmlformats.org/presentationml/2006/main">
  <p:tag name="THINKCELLSHAPEDONOTDELETE" val="tr9SH1ZPmHZSOnP.alY7c3A"/>
</p:tagLst>
</file>

<file path=ppt/tags/tag1166.xml><?xml version="1.0" encoding="utf-8"?>
<p:tagLst xmlns:a="http://schemas.openxmlformats.org/drawingml/2006/main" xmlns:r="http://schemas.openxmlformats.org/officeDocument/2006/relationships" xmlns:p="http://schemas.openxmlformats.org/presentationml/2006/main">
  <p:tag name="THINKCELLSHAPEDONOTDELETE" val="thH68Z0.rMJf7yamQGUuR.g"/>
</p:tagLst>
</file>

<file path=ppt/tags/tag1167.xml><?xml version="1.0" encoding="utf-8"?>
<p:tagLst xmlns:a="http://schemas.openxmlformats.org/drawingml/2006/main" xmlns:r="http://schemas.openxmlformats.org/officeDocument/2006/relationships" xmlns:p="http://schemas.openxmlformats.org/presentationml/2006/main">
  <p:tag name="THINKCELLSHAPEDONOTDELETE" val="tbWPzOr9XY71iEwtDhLdofw"/>
</p:tagLst>
</file>

<file path=ppt/tags/tag1168.xml><?xml version="1.0" encoding="utf-8"?>
<p:tagLst xmlns:a="http://schemas.openxmlformats.org/drawingml/2006/main" xmlns:r="http://schemas.openxmlformats.org/officeDocument/2006/relationships" xmlns:p="http://schemas.openxmlformats.org/presentationml/2006/main">
  <p:tag name="THINKCELLSHAPEDONOTDELETE" val="tfIg3o.B_3Ttv3do9BPJxVg"/>
</p:tagLst>
</file>

<file path=ppt/tags/tag1169.xml><?xml version="1.0" encoding="utf-8"?>
<p:tagLst xmlns:a="http://schemas.openxmlformats.org/drawingml/2006/main" xmlns:r="http://schemas.openxmlformats.org/officeDocument/2006/relationships" xmlns:p="http://schemas.openxmlformats.org/presentationml/2006/main">
  <p:tag name="THINKCELLSHAPEDONOTDELETE" val="thoSTBvyf25aFSih6EGgdJA"/>
</p:tagLst>
</file>

<file path=ppt/tags/tag1170.xml><?xml version="1.0" encoding="utf-8"?>
<p:tagLst xmlns:a="http://schemas.openxmlformats.org/drawingml/2006/main" xmlns:r="http://schemas.openxmlformats.org/officeDocument/2006/relationships" xmlns:p="http://schemas.openxmlformats.org/presentationml/2006/main">
  <p:tag name="THINKCELLSHAPEDONOTDELETE" val="tj8AtWu_bjuBVV8hJYNjSwQ"/>
</p:tagLst>
</file>

<file path=ppt/tags/tag1171.xml><?xml version="1.0" encoding="utf-8"?>
<p:tagLst xmlns:a="http://schemas.openxmlformats.org/drawingml/2006/main" xmlns:r="http://schemas.openxmlformats.org/officeDocument/2006/relationships" xmlns:p="http://schemas.openxmlformats.org/presentationml/2006/main">
  <p:tag name="THINKCELLSHAPEDONOTDELETE" val="tZytx.wN6PqRIJ2DL4Tz.Jw"/>
</p:tagLst>
</file>

<file path=ppt/tags/tag1172.xml><?xml version="1.0" encoding="utf-8"?>
<p:tagLst xmlns:a="http://schemas.openxmlformats.org/drawingml/2006/main" xmlns:r="http://schemas.openxmlformats.org/officeDocument/2006/relationships" xmlns:p="http://schemas.openxmlformats.org/presentationml/2006/main">
  <p:tag name="THINKCELLSHAPEDONOTDELETE" val="t2y1YBPhe_AWoEAFA7MTxWw"/>
</p:tagLst>
</file>

<file path=ppt/tags/tag1173.xml><?xml version="1.0" encoding="utf-8"?>
<p:tagLst xmlns:a="http://schemas.openxmlformats.org/drawingml/2006/main" xmlns:r="http://schemas.openxmlformats.org/officeDocument/2006/relationships" xmlns:p="http://schemas.openxmlformats.org/presentationml/2006/main">
  <p:tag name="THINKCELLSHAPEDONOTDELETE" val="tptC4P_I5U7Bvu6QUtKTm7g"/>
</p:tagLst>
</file>

<file path=ppt/tags/tag1174.xml><?xml version="1.0" encoding="utf-8"?>
<p:tagLst xmlns:a="http://schemas.openxmlformats.org/drawingml/2006/main" xmlns:r="http://schemas.openxmlformats.org/officeDocument/2006/relationships" xmlns:p="http://schemas.openxmlformats.org/presentationml/2006/main">
  <p:tag name="THINKCELLSHAPEDONOTDELETE" val="tB6_ehwPj2DFaofiWgdTNtA"/>
</p:tagLst>
</file>

<file path=ppt/tags/tag1175.xml><?xml version="1.0" encoding="utf-8"?>
<p:tagLst xmlns:a="http://schemas.openxmlformats.org/drawingml/2006/main" xmlns:r="http://schemas.openxmlformats.org/officeDocument/2006/relationships" xmlns:p="http://schemas.openxmlformats.org/presentationml/2006/main">
  <p:tag name="THINKCELLSHAPEDONOTDELETE" val="t6cR0WKgif.AT38ovFe5Uiw"/>
</p:tagLst>
</file>

<file path=ppt/tags/tag1176.xml><?xml version="1.0" encoding="utf-8"?>
<p:tagLst xmlns:a="http://schemas.openxmlformats.org/drawingml/2006/main" xmlns:r="http://schemas.openxmlformats.org/officeDocument/2006/relationships" xmlns:p="http://schemas.openxmlformats.org/presentationml/2006/main">
  <p:tag name="THINKCELLSHAPEDONOTDELETE" val="tPtwX3uHTvwUufIfUWw4PjQ"/>
</p:tagLst>
</file>

<file path=ppt/tags/tag1177.xml><?xml version="1.0" encoding="utf-8"?>
<p:tagLst xmlns:a="http://schemas.openxmlformats.org/drawingml/2006/main" xmlns:r="http://schemas.openxmlformats.org/officeDocument/2006/relationships" xmlns:p="http://schemas.openxmlformats.org/presentationml/2006/main">
  <p:tag name="THINKCELLSHAPEDONOTDELETE" val="th1HKadhGzsvw1l2L2xRQsg"/>
</p:tagLst>
</file>

<file path=ppt/tags/tag1178.xml><?xml version="1.0" encoding="utf-8"?>
<p:tagLst xmlns:a="http://schemas.openxmlformats.org/drawingml/2006/main" xmlns:r="http://schemas.openxmlformats.org/officeDocument/2006/relationships" xmlns:p="http://schemas.openxmlformats.org/presentationml/2006/main">
  <p:tag name="THINKCELLSHAPEDONOTDELETE" val="tc6o2TRmBT8F6PfpBYVN0PA"/>
</p:tagLst>
</file>

<file path=ppt/tags/tag1179.xml><?xml version="1.0" encoding="utf-8"?>
<p:tagLst xmlns:a="http://schemas.openxmlformats.org/drawingml/2006/main" xmlns:r="http://schemas.openxmlformats.org/officeDocument/2006/relationships" xmlns:p="http://schemas.openxmlformats.org/presentationml/2006/main">
  <p:tag name="THINKCELLSHAPEDONOTDELETE" val="tZtuOGF7.tXphX04eieIuWg"/>
</p:tagLst>
</file>

<file path=ppt/tags/tag1180.xml><?xml version="1.0" encoding="utf-8"?>
<p:tagLst xmlns:a="http://schemas.openxmlformats.org/drawingml/2006/main" xmlns:r="http://schemas.openxmlformats.org/officeDocument/2006/relationships" xmlns:p="http://schemas.openxmlformats.org/presentationml/2006/main">
  <p:tag name="THINKCELLSHAPEDONOTDELETE" val="tTrn9wZ5PoWufbDdR8DVtSg"/>
</p:tagLst>
</file>

<file path=ppt/tags/tag1181.xml><?xml version="1.0" encoding="utf-8"?>
<p:tagLst xmlns:a="http://schemas.openxmlformats.org/drawingml/2006/main" xmlns:r="http://schemas.openxmlformats.org/officeDocument/2006/relationships" xmlns:p="http://schemas.openxmlformats.org/presentationml/2006/main">
  <p:tag name="THINKCELLSHAPEDONOTDELETE" val="tirfC9xj4v8n0XKqSVghDUQ"/>
</p:tagLst>
</file>

<file path=ppt/tags/tag1182.xml><?xml version="1.0" encoding="utf-8"?>
<p:tagLst xmlns:a="http://schemas.openxmlformats.org/drawingml/2006/main" xmlns:r="http://schemas.openxmlformats.org/officeDocument/2006/relationships" xmlns:p="http://schemas.openxmlformats.org/presentationml/2006/main">
  <p:tag name="THINKCELLSHAPEDONOTDELETE" val="tztt6pNJIb2i0_AoSvyEpXg"/>
</p:tagLst>
</file>

<file path=ppt/tags/tag1183.xml><?xml version="1.0" encoding="utf-8"?>
<p:tagLst xmlns:a="http://schemas.openxmlformats.org/drawingml/2006/main" xmlns:r="http://schemas.openxmlformats.org/officeDocument/2006/relationships" xmlns:p="http://schemas.openxmlformats.org/presentationml/2006/main">
  <p:tag name="THINKCELLSHAPEDONOTDELETE" val="tNUQFY20pXRGsth9eYmuUDQ"/>
</p:tagLst>
</file>

<file path=ppt/tags/tag1184.xml><?xml version="1.0" encoding="utf-8"?>
<p:tagLst xmlns:a="http://schemas.openxmlformats.org/drawingml/2006/main" xmlns:r="http://schemas.openxmlformats.org/officeDocument/2006/relationships" xmlns:p="http://schemas.openxmlformats.org/presentationml/2006/main">
  <p:tag name="THINKCELLSHAPEDONOTDELETE" val="tTLCbCmx7fnQaeSbja7ARog"/>
</p:tagLst>
</file>

<file path=ppt/tags/tag1185.xml><?xml version="1.0" encoding="utf-8"?>
<p:tagLst xmlns:a="http://schemas.openxmlformats.org/drawingml/2006/main" xmlns:r="http://schemas.openxmlformats.org/officeDocument/2006/relationships" xmlns:p="http://schemas.openxmlformats.org/presentationml/2006/main">
  <p:tag name="THINKCELLSHAPEDONOTDELETE" val="tSMHRt1vfkhPompKnGXR.lQ"/>
</p:tagLst>
</file>

<file path=ppt/tags/tag1186.xml><?xml version="1.0" encoding="utf-8"?>
<p:tagLst xmlns:a="http://schemas.openxmlformats.org/drawingml/2006/main" xmlns:r="http://schemas.openxmlformats.org/officeDocument/2006/relationships" xmlns:p="http://schemas.openxmlformats.org/presentationml/2006/main">
  <p:tag name="THINKCELLSHAPEDONOTDELETE" val="tkbsSOiT4Bw0JL1roRsJitA"/>
</p:tagLst>
</file>

<file path=ppt/tags/tag1187.xml><?xml version="1.0" encoding="utf-8"?>
<p:tagLst xmlns:a="http://schemas.openxmlformats.org/drawingml/2006/main" xmlns:r="http://schemas.openxmlformats.org/officeDocument/2006/relationships" xmlns:p="http://schemas.openxmlformats.org/presentationml/2006/main">
  <p:tag name="THINKCELLSHAPEDONOTDELETE" val="tgmyRw.EdhhF_MoWdO6QLog"/>
</p:tagLst>
</file>

<file path=ppt/tags/tag1188.xml><?xml version="1.0" encoding="utf-8"?>
<p:tagLst xmlns:a="http://schemas.openxmlformats.org/drawingml/2006/main" xmlns:r="http://schemas.openxmlformats.org/officeDocument/2006/relationships" xmlns:p="http://schemas.openxmlformats.org/presentationml/2006/main">
  <p:tag name="THINKCELLSHAPEDONOTDELETE" val="tJU0IxWHFTvRc0jWL.vHpRQ"/>
</p:tagLst>
</file>

<file path=ppt/tags/tag118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90.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191.xml><?xml version="1.0" encoding="utf-8"?>
<p:tagLst xmlns:a="http://schemas.openxmlformats.org/drawingml/2006/main" xmlns:r="http://schemas.openxmlformats.org/officeDocument/2006/relationships" xmlns:p="http://schemas.openxmlformats.org/presentationml/2006/main">
  <p:tag name="HEADER" val="True"/>
</p:tagLst>
</file>

<file path=ppt/tags/tag1192.xml><?xml version="1.0" encoding="utf-8"?>
<p:tagLst xmlns:a="http://schemas.openxmlformats.org/drawingml/2006/main" xmlns:r="http://schemas.openxmlformats.org/officeDocument/2006/relationships" xmlns:p="http://schemas.openxmlformats.org/presentationml/2006/main">
  <p:tag name="THINKCELLSHAPEDONOTDELETE" val="tESKOfhTPeGyJm360hPz_TA"/>
</p:tagLst>
</file>

<file path=ppt/tags/tag1193.xml><?xml version="1.0" encoding="utf-8"?>
<p:tagLst xmlns:a="http://schemas.openxmlformats.org/drawingml/2006/main" xmlns:r="http://schemas.openxmlformats.org/officeDocument/2006/relationships" xmlns:p="http://schemas.openxmlformats.org/presentationml/2006/main">
  <p:tag name="THINKCELLSHAPEDONOTDELETE" val="t6RY3ytw5.Jwb5dTGa6M.PQ"/>
</p:tagLst>
</file>

<file path=ppt/tags/tag1194.xml><?xml version="1.0" encoding="utf-8"?>
<p:tagLst xmlns:a="http://schemas.openxmlformats.org/drawingml/2006/main" xmlns:r="http://schemas.openxmlformats.org/officeDocument/2006/relationships" xmlns:p="http://schemas.openxmlformats.org/presentationml/2006/main">
  <p:tag name="THINKCELLSHAPEDONOTDELETE" val="tHih3BxQyfWsygy0b6ClJ9g"/>
</p:tagLst>
</file>

<file path=ppt/tags/tag1195.xml><?xml version="1.0" encoding="utf-8"?>
<p:tagLst xmlns:a="http://schemas.openxmlformats.org/drawingml/2006/main" xmlns:r="http://schemas.openxmlformats.org/officeDocument/2006/relationships" xmlns:p="http://schemas.openxmlformats.org/presentationml/2006/main">
  <p:tag name="THINKCELLSHAPEDONOTDELETE" val="tJ2Z9XzJ9hV1BkppTNZtgcQ"/>
</p:tagLst>
</file>

<file path=ppt/tags/tag1196.xml><?xml version="1.0" encoding="utf-8"?>
<p:tagLst xmlns:a="http://schemas.openxmlformats.org/drawingml/2006/main" xmlns:r="http://schemas.openxmlformats.org/officeDocument/2006/relationships" xmlns:p="http://schemas.openxmlformats.org/presentationml/2006/main">
  <p:tag name="THINKCELLSHAPEDONOTDELETE" val="tSP2rNt5pLjrFfACmrRYPdw"/>
</p:tagLst>
</file>

<file path=ppt/tags/tag1197.xml><?xml version="1.0" encoding="utf-8"?>
<p:tagLst xmlns:a="http://schemas.openxmlformats.org/drawingml/2006/main" xmlns:r="http://schemas.openxmlformats.org/officeDocument/2006/relationships" xmlns:p="http://schemas.openxmlformats.org/presentationml/2006/main">
  <p:tag name="THINKCELLSHAPEDONOTDELETE" val="ta6FAPLnhLXXF2X95vIdR4Q"/>
</p:tagLst>
</file>

<file path=ppt/tags/tag1198.xml><?xml version="1.0" encoding="utf-8"?>
<p:tagLst xmlns:a="http://schemas.openxmlformats.org/drawingml/2006/main" xmlns:r="http://schemas.openxmlformats.org/officeDocument/2006/relationships" xmlns:p="http://schemas.openxmlformats.org/presentationml/2006/main">
  <p:tag name="THINKCELLSHAPEDONOTDELETE" val="tiTWyAWjtSrAzvBxlTdTATQ"/>
</p:tagLst>
</file>

<file path=ppt/tags/tag1199.xml><?xml version="1.0" encoding="utf-8"?>
<p:tagLst xmlns:a="http://schemas.openxmlformats.org/drawingml/2006/main" xmlns:r="http://schemas.openxmlformats.org/officeDocument/2006/relationships" xmlns:p="http://schemas.openxmlformats.org/presentationml/2006/main">
  <p:tag name="THINKCELLSHAPEDONOTDELETE" val="tK3VH0J0GA5uUz7hpVGnb_Q"/>
</p:tagLst>
</file>

<file path=ppt/tags/tag1200.xml><?xml version="1.0" encoding="utf-8"?>
<p:tagLst xmlns:a="http://schemas.openxmlformats.org/drawingml/2006/main" xmlns:r="http://schemas.openxmlformats.org/officeDocument/2006/relationships" xmlns:p="http://schemas.openxmlformats.org/presentationml/2006/main">
  <p:tag name="THINKCELLSHAPEDONOTDELETE" val="tcU7.Xh91h7XaR_T5SWv2.g"/>
</p:tagLst>
</file>

<file path=ppt/tags/tag1201.xml><?xml version="1.0" encoding="utf-8"?>
<p:tagLst xmlns:a="http://schemas.openxmlformats.org/drawingml/2006/main" xmlns:r="http://schemas.openxmlformats.org/officeDocument/2006/relationships" xmlns:p="http://schemas.openxmlformats.org/presentationml/2006/main">
  <p:tag name="THINKCELLSHAPEDONOTDELETE" val="t37nCFZvhyRiMbKpPtMecBQ"/>
</p:tagLst>
</file>

<file path=ppt/tags/tag1202.xml><?xml version="1.0" encoding="utf-8"?>
<p:tagLst xmlns:a="http://schemas.openxmlformats.org/drawingml/2006/main" xmlns:r="http://schemas.openxmlformats.org/officeDocument/2006/relationships" xmlns:p="http://schemas.openxmlformats.org/presentationml/2006/main">
  <p:tag name="THINKCELLSHAPEDONOTDELETE" val="tKFFpuMNNOfE2c_I3FE.m_w"/>
</p:tagLst>
</file>

<file path=ppt/tags/tag1203.xml><?xml version="1.0" encoding="utf-8"?>
<p:tagLst xmlns:a="http://schemas.openxmlformats.org/drawingml/2006/main" xmlns:r="http://schemas.openxmlformats.org/officeDocument/2006/relationships" xmlns:p="http://schemas.openxmlformats.org/presentationml/2006/main">
  <p:tag name="THINKCELLSHAPEDONOTDELETE" val="tzOmJg_3JkbdHqR2xT4uqlw"/>
</p:tagLst>
</file>

<file path=ppt/tags/tag120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05.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206.xml><?xml version="1.0" encoding="utf-8"?>
<p:tagLst xmlns:a="http://schemas.openxmlformats.org/drawingml/2006/main" xmlns:r="http://schemas.openxmlformats.org/officeDocument/2006/relationships" xmlns:p="http://schemas.openxmlformats.org/presentationml/2006/main">
  <p:tag name="HEADER" val="True"/>
</p:tagLst>
</file>

<file path=ppt/tags/tag1207.xml><?xml version="1.0" encoding="utf-8"?>
<p:tagLst xmlns:a="http://schemas.openxmlformats.org/drawingml/2006/main" xmlns:r="http://schemas.openxmlformats.org/officeDocument/2006/relationships" xmlns:p="http://schemas.openxmlformats.org/presentationml/2006/main">
  <p:tag name="THINKCELLSHAPEDONOTDELETE" val="t_wI3cDFOewG_Qv.V02HoGw"/>
</p:tagLst>
</file>

<file path=ppt/tags/tag1208.xml><?xml version="1.0" encoding="utf-8"?>
<p:tagLst xmlns:a="http://schemas.openxmlformats.org/drawingml/2006/main" xmlns:r="http://schemas.openxmlformats.org/officeDocument/2006/relationships" xmlns:p="http://schemas.openxmlformats.org/presentationml/2006/main">
  <p:tag name="THINKCELLSHAPEDONOTDELETE" val="tiPe6EBqgZqFxImbCOSe6Ug"/>
</p:tagLst>
</file>

<file path=ppt/tags/tag1209.xml><?xml version="1.0" encoding="utf-8"?>
<p:tagLst xmlns:a="http://schemas.openxmlformats.org/drawingml/2006/main" xmlns:r="http://schemas.openxmlformats.org/officeDocument/2006/relationships" xmlns:p="http://schemas.openxmlformats.org/presentationml/2006/main">
  <p:tag name="THINKCELLSHAPEDONOTDELETE" val="trlzJvOBFZKGh.Q0r8W0xeQ"/>
</p:tagLst>
</file>

<file path=ppt/tags/tag1210.xml><?xml version="1.0" encoding="utf-8"?>
<p:tagLst xmlns:a="http://schemas.openxmlformats.org/drawingml/2006/main" xmlns:r="http://schemas.openxmlformats.org/officeDocument/2006/relationships" xmlns:p="http://schemas.openxmlformats.org/presentationml/2006/main">
  <p:tag name="THINKCELLSHAPEDONOTDELETE" val="t.7H4FzTtWTj1LNUP2Yq5sw"/>
</p:tagLst>
</file>

<file path=ppt/tags/tag1211.xml><?xml version="1.0" encoding="utf-8"?>
<p:tagLst xmlns:a="http://schemas.openxmlformats.org/drawingml/2006/main" xmlns:r="http://schemas.openxmlformats.org/officeDocument/2006/relationships" xmlns:p="http://schemas.openxmlformats.org/presentationml/2006/main">
  <p:tag name="THINKCELLSHAPEDONOTDELETE" val="thrrNXwvJYAhwzgeZmqhI7w"/>
</p:tagLst>
</file>

<file path=ppt/tags/tag1212.xml><?xml version="1.0" encoding="utf-8"?>
<p:tagLst xmlns:a="http://schemas.openxmlformats.org/drawingml/2006/main" xmlns:r="http://schemas.openxmlformats.org/officeDocument/2006/relationships" xmlns:p="http://schemas.openxmlformats.org/presentationml/2006/main">
  <p:tag name="THINKCELLSHAPEDONOTDELETE" val="trJeah546_KnzdXIv3sUEfQ"/>
</p:tagLst>
</file>

<file path=ppt/tags/tag1213.xml><?xml version="1.0" encoding="utf-8"?>
<p:tagLst xmlns:a="http://schemas.openxmlformats.org/drawingml/2006/main" xmlns:r="http://schemas.openxmlformats.org/officeDocument/2006/relationships" xmlns:p="http://schemas.openxmlformats.org/presentationml/2006/main">
  <p:tag name="THINKCELLSHAPEDONOTDELETE" val="twOWlI.9AcivYovLXgbHJDA"/>
</p:tagLst>
</file>

<file path=ppt/tags/tag1214.xml><?xml version="1.0" encoding="utf-8"?>
<p:tagLst xmlns:a="http://schemas.openxmlformats.org/drawingml/2006/main" xmlns:r="http://schemas.openxmlformats.org/officeDocument/2006/relationships" xmlns:p="http://schemas.openxmlformats.org/presentationml/2006/main">
  <p:tag name="THINKCELLSHAPEDONOTDELETE" val="tVXhQZufEIO80jNkRSLKYMw"/>
</p:tagLst>
</file>

<file path=ppt/tags/tag1215.xml><?xml version="1.0" encoding="utf-8"?>
<p:tagLst xmlns:a="http://schemas.openxmlformats.org/drawingml/2006/main" xmlns:r="http://schemas.openxmlformats.org/officeDocument/2006/relationships" xmlns:p="http://schemas.openxmlformats.org/presentationml/2006/main">
  <p:tag name="THINKCELLSHAPEDONOTDELETE" val="tjwkavMEgNiv2O8ld78qAiQ"/>
</p:tagLst>
</file>

<file path=ppt/tags/tag1216.xml><?xml version="1.0" encoding="utf-8"?>
<p:tagLst xmlns:a="http://schemas.openxmlformats.org/drawingml/2006/main" xmlns:r="http://schemas.openxmlformats.org/officeDocument/2006/relationships" xmlns:p="http://schemas.openxmlformats.org/presentationml/2006/main">
  <p:tag name="THINKCELLSHAPEDONOTDELETE" val="tlSctTgVvefXuPKUhUOM7OQ"/>
</p:tagLst>
</file>

<file path=ppt/tags/tag1217.xml><?xml version="1.0" encoding="utf-8"?>
<p:tagLst xmlns:a="http://schemas.openxmlformats.org/drawingml/2006/main" xmlns:r="http://schemas.openxmlformats.org/officeDocument/2006/relationships" xmlns:p="http://schemas.openxmlformats.org/presentationml/2006/main">
  <p:tag name="THINKCELLSHAPEDONOTDELETE" val="ts4VT6NgHnNySrD6BB9QclA"/>
</p:tagLst>
</file>

<file path=ppt/tags/tag1218.xml><?xml version="1.0" encoding="utf-8"?>
<p:tagLst xmlns:a="http://schemas.openxmlformats.org/drawingml/2006/main" xmlns:r="http://schemas.openxmlformats.org/officeDocument/2006/relationships" xmlns:p="http://schemas.openxmlformats.org/presentationml/2006/main">
  <p:tag name="THINKCELLSHAPEDONOTDELETE" val="tU.jW7h3YJcc2OR8.jil2WQ"/>
</p:tagLst>
</file>

<file path=ppt/tags/tag1219.xml><?xml version="1.0" encoding="utf-8"?>
<p:tagLst xmlns:a="http://schemas.openxmlformats.org/drawingml/2006/main" xmlns:r="http://schemas.openxmlformats.org/officeDocument/2006/relationships" xmlns:p="http://schemas.openxmlformats.org/presentationml/2006/main">
  <p:tag name="THINKCELLSHAPEDONOTDELETE" val="t9uhVJ1ehw0qNeZAM8Yjklg"/>
</p:tagLst>
</file>

<file path=ppt/tags/tag1220.xml><?xml version="1.0" encoding="utf-8"?>
<p:tagLst xmlns:a="http://schemas.openxmlformats.org/drawingml/2006/main" xmlns:r="http://schemas.openxmlformats.org/officeDocument/2006/relationships" xmlns:p="http://schemas.openxmlformats.org/presentationml/2006/main">
  <p:tag name="THINKCELLSHAPEDONOTDELETE" val="t8e4eFBLvjv2tz3YsVNW3Pg"/>
</p:tagLst>
</file>

<file path=ppt/tags/tag12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22.xml><?xml version="1.0" encoding="utf-8"?>
<p:tagLst xmlns:a="http://schemas.openxmlformats.org/drawingml/2006/main" xmlns:r="http://schemas.openxmlformats.org/officeDocument/2006/relationships" xmlns:p="http://schemas.openxmlformats.org/presentationml/2006/main">
  <p:tag name="THINKCELLSHAPEDONOTDELETE" val="tMrgCpLDNQ1AfIV9RENFRsQ"/>
</p:tagLst>
</file>

<file path=ppt/tags/tag12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24.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225.xml><?xml version="1.0" encoding="utf-8"?>
<p:tagLst xmlns:a="http://schemas.openxmlformats.org/drawingml/2006/main" xmlns:r="http://schemas.openxmlformats.org/officeDocument/2006/relationships" xmlns:p="http://schemas.openxmlformats.org/presentationml/2006/main">
  <p:tag name="HEADER" val="True"/>
</p:tagLst>
</file>

<file path=ppt/tags/tag1226.xml><?xml version="1.0" encoding="utf-8"?>
<p:tagLst xmlns:a="http://schemas.openxmlformats.org/drawingml/2006/main" xmlns:r="http://schemas.openxmlformats.org/officeDocument/2006/relationships" xmlns:p="http://schemas.openxmlformats.org/presentationml/2006/main">
  <p:tag name="HEADER" val="True"/>
</p:tagLst>
</file>

<file path=ppt/tags/tag1227.xml><?xml version="1.0" encoding="utf-8"?>
<p:tagLst xmlns:a="http://schemas.openxmlformats.org/drawingml/2006/main" xmlns:r="http://schemas.openxmlformats.org/officeDocument/2006/relationships" xmlns:p="http://schemas.openxmlformats.org/presentationml/2006/main">
  <p:tag name="THINKCELLSHAPEDONOTDELETE" val="tUlt6t1ngqKvxW6gDtEuxkQ"/>
</p:tagLst>
</file>

<file path=ppt/tags/tag1228.xml><?xml version="1.0" encoding="utf-8"?>
<p:tagLst xmlns:a="http://schemas.openxmlformats.org/drawingml/2006/main" xmlns:r="http://schemas.openxmlformats.org/officeDocument/2006/relationships" xmlns:p="http://schemas.openxmlformats.org/presentationml/2006/main">
  <p:tag name="THINKCELLSHAPEDONOTDELETE" val="tjv_pbDifWnZtJXmZ0ytOxw"/>
</p:tagLst>
</file>

<file path=ppt/tags/tag1229.xml><?xml version="1.0" encoding="utf-8"?>
<p:tagLst xmlns:a="http://schemas.openxmlformats.org/drawingml/2006/main" xmlns:r="http://schemas.openxmlformats.org/officeDocument/2006/relationships" xmlns:p="http://schemas.openxmlformats.org/presentationml/2006/main">
  <p:tag name="THINKCELLSHAPEDONOTDELETE" val="tcqJKqGLvIxqphWbtHScLnA"/>
</p:tagLst>
</file>

<file path=ppt/tags/tag1230.xml><?xml version="1.0" encoding="utf-8"?>
<p:tagLst xmlns:a="http://schemas.openxmlformats.org/drawingml/2006/main" xmlns:r="http://schemas.openxmlformats.org/officeDocument/2006/relationships" xmlns:p="http://schemas.openxmlformats.org/presentationml/2006/main">
  <p:tag name="THINKCELLSHAPEDONOTDELETE" val="t5L7S6Pp0VqV7UhnzgLnH6g"/>
</p:tagLst>
</file>

<file path=ppt/tags/tag1231.xml><?xml version="1.0" encoding="utf-8"?>
<p:tagLst xmlns:a="http://schemas.openxmlformats.org/drawingml/2006/main" xmlns:r="http://schemas.openxmlformats.org/officeDocument/2006/relationships" xmlns:p="http://schemas.openxmlformats.org/presentationml/2006/main">
  <p:tag name="THINKCELLSHAPEDONOTDELETE" val="tOo8Y7A53IDSl5GSx6QO5Yg"/>
</p:tagLst>
</file>

<file path=ppt/tags/tag1232.xml><?xml version="1.0" encoding="utf-8"?>
<p:tagLst xmlns:a="http://schemas.openxmlformats.org/drawingml/2006/main" xmlns:r="http://schemas.openxmlformats.org/officeDocument/2006/relationships" xmlns:p="http://schemas.openxmlformats.org/presentationml/2006/main">
  <p:tag name="THINKCELLSHAPEDONOTDELETE" val="tVda8PNhz30CYwFXztEnjzw"/>
</p:tagLst>
</file>

<file path=ppt/tags/tag1233.xml><?xml version="1.0" encoding="utf-8"?>
<p:tagLst xmlns:a="http://schemas.openxmlformats.org/drawingml/2006/main" xmlns:r="http://schemas.openxmlformats.org/officeDocument/2006/relationships" xmlns:p="http://schemas.openxmlformats.org/presentationml/2006/main">
  <p:tag name="THINKCELLSHAPEDONOTDELETE" val="tock2oYBzsK4TUx9rxbYmZA"/>
</p:tagLst>
</file>

<file path=ppt/tags/tag1234.xml><?xml version="1.0" encoding="utf-8"?>
<p:tagLst xmlns:a="http://schemas.openxmlformats.org/drawingml/2006/main" xmlns:r="http://schemas.openxmlformats.org/officeDocument/2006/relationships" xmlns:p="http://schemas.openxmlformats.org/presentationml/2006/main">
  <p:tag name="THINKCELLSHAPEDONOTDELETE" val="tMEk2KFA3T7rKRTmk1J0CKw"/>
</p:tagLst>
</file>

<file path=ppt/tags/tag1235.xml><?xml version="1.0" encoding="utf-8"?>
<p:tagLst xmlns:a="http://schemas.openxmlformats.org/drawingml/2006/main" xmlns:r="http://schemas.openxmlformats.org/officeDocument/2006/relationships" xmlns:p="http://schemas.openxmlformats.org/presentationml/2006/main">
  <p:tag name="THINKCELLSHAPEDONOTDELETE" val="tApQFTojj4Sr_0CxwiTW.lA"/>
</p:tagLst>
</file>

<file path=ppt/tags/tag1236.xml><?xml version="1.0" encoding="utf-8"?>
<p:tagLst xmlns:a="http://schemas.openxmlformats.org/drawingml/2006/main" xmlns:r="http://schemas.openxmlformats.org/officeDocument/2006/relationships" xmlns:p="http://schemas.openxmlformats.org/presentationml/2006/main">
  <p:tag name="THINKCELLSHAPEDONOTDELETE" val="t7u8EcZmK7iUrIxNYcGdf5Q"/>
</p:tagLst>
</file>

<file path=ppt/tags/tag1237.xml><?xml version="1.0" encoding="utf-8"?>
<p:tagLst xmlns:a="http://schemas.openxmlformats.org/drawingml/2006/main" xmlns:r="http://schemas.openxmlformats.org/officeDocument/2006/relationships" xmlns:p="http://schemas.openxmlformats.org/presentationml/2006/main">
  <p:tag name="THINKCELLSHAPEDONOTDELETE" val="tTgvY9NDmKEBs3TqjXkD.RQ"/>
</p:tagLst>
</file>

<file path=ppt/tags/tag1238.xml><?xml version="1.0" encoding="utf-8"?>
<p:tagLst xmlns:a="http://schemas.openxmlformats.org/drawingml/2006/main" xmlns:r="http://schemas.openxmlformats.org/officeDocument/2006/relationships" xmlns:p="http://schemas.openxmlformats.org/presentationml/2006/main">
  <p:tag name="THINKCELLSHAPEDONOTDELETE" val="tTYYAgeIe6pgYiLxZ.MpHTg"/>
</p:tagLst>
</file>

<file path=ppt/tags/tag1239.xml><?xml version="1.0" encoding="utf-8"?>
<p:tagLst xmlns:a="http://schemas.openxmlformats.org/drawingml/2006/main" xmlns:r="http://schemas.openxmlformats.org/officeDocument/2006/relationships" xmlns:p="http://schemas.openxmlformats.org/presentationml/2006/main">
  <p:tag name="THINKCELLSHAPEDONOTDELETE" val="t91YL7yerqpLShp6kxTXncw"/>
</p:tagLst>
</file>

<file path=ppt/tags/tag1240.xml><?xml version="1.0" encoding="utf-8"?>
<p:tagLst xmlns:a="http://schemas.openxmlformats.org/drawingml/2006/main" xmlns:r="http://schemas.openxmlformats.org/officeDocument/2006/relationships" xmlns:p="http://schemas.openxmlformats.org/presentationml/2006/main">
  <p:tag name="THINKCELLSHAPEDONOTDELETE" val="tnsHC03jrliL8LDSSQVDQUQ"/>
</p:tagLst>
</file>

<file path=ppt/tags/tag1241.xml><?xml version="1.0" encoding="utf-8"?>
<p:tagLst xmlns:a="http://schemas.openxmlformats.org/drawingml/2006/main" xmlns:r="http://schemas.openxmlformats.org/officeDocument/2006/relationships" xmlns:p="http://schemas.openxmlformats.org/presentationml/2006/main">
  <p:tag name="THINKCELLSHAPEDONOTDELETE" val="tBX2ju2vAZHjK2XaHVzWVUg"/>
</p:tagLst>
</file>

<file path=ppt/tags/tag1242.xml><?xml version="1.0" encoding="utf-8"?>
<p:tagLst xmlns:a="http://schemas.openxmlformats.org/drawingml/2006/main" xmlns:r="http://schemas.openxmlformats.org/officeDocument/2006/relationships" xmlns:p="http://schemas.openxmlformats.org/presentationml/2006/main">
  <p:tag name="THINKCELLSHAPEDONOTDELETE" val="tbPeHrFyaJS8vx50tlJdh3Q"/>
</p:tagLst>
</file>

<file path=ppt/tags/tag1243.xml><?xml version="1.0" encoding="utf-8"?>
<p:tagLst xmlns:a="http://schemas.openxmlformats.org/drawingml/2006/main" xmlns:r="http://schemas.openxmlformats.org/officeDocument/2006/relationships" xmlns:p="http://schemas.openxmlformats.org/presentationml/2006/main">
  <p:tag name="THINKCELLSHAPEDONOTDELETE" val="tOiQKMwM54LdJtcoq0i3Rbg"/>
</p:tagLst>
</file>

<file path=ppt/tags/tag1244.xml><?xml version="1.0" encoding="utf-8"?>
<p:tagLst xmlns:a="http://schemas.openxmlformats.org/drawingml/2006/main" xmlns:r="http://schemas.openxmlformats.org/officeDocument/2006/relationships" xmlns:p="http://schemas.openxmlformats.org/presentationml/2006/main">
  <p:tag name="THINKCELLSHAPEDONOTDELETE" val="t0hDIKSAjWJiGFkybp4a_uQ"/>
</p:tagLst>
</file>

<file path=ppt/tags/tag1245.xml><?xml version="1.0" encoding="utf-8"?>
<p:tagLst xmlns:a="http://schemas.openxmlformats.org/drawingml/2006/main" xmlns:r="http://schemas.openxmlformats.org/officeDocument/2006/relationships" xmlns:p="http://schemas.openxmlformats.org/presentationml/2006/main">
  <p:tag name="THINKCELLSHAPEDONOTDELETE" val="tPylQGv61D.eu3Crwvn4N8Q"/>
</p:tagLst>
</file>

<file path=ppt/tags/tag1246.xml><?xml version="1.0" encoding="utf-8"?>
<p:tagLst xmlns:a="http://schemas.openxmlformats.org/drawingml/2006/main" xmlns:r="http://schemas.openxmlformats.org/officeDocument/2006/relationships" xmlns:p="http://schemas.openxmlformats.org/presentationml/2006/main">
  <p:tag name="THINKCELLSHAPEDONOTDELETE" val="tQdkL1cFjFQIKlKglW1jUnQ"/>
</p:tagLst>
</file>

<file path=ppt/tags/tag1247.xml><?xml version="1.0" encoding="utf-8"?>
<p:tagLst xmlns:a="http://schemas.openxmlformats.org/drawingml/2006/main" xmlns:r="http://schemas.openxmlformats.org/officeDocument/2006/relationships" xmlns:p="http://schemas.openxmlformats.org/presentationml/2006/main">
  <p:tag name="THINKCELLSHAPEDONOTDELETE" val="tijPdjd7rZBLYfuJMteC_nA"/>
</p:tagLst>
</file>

<file path=ppt/tags/tag1248.xml><?xml version="1.0" encoding="utf-8"?>
<p:tagLst xmlns:a="http://schemas.openxmlformats.org/drawingml/2006/main" xmlns:r="http://schemas.openxmlformats.org/officeDocument/2006/relationships" xmlns:p="http://schemas.openxmlformats.org/presentationml/2006/main">
  <p:tag name="THINKCELLSHAPEDONOTDELETE" val="txbVzpzYOF80xreOZ1snPsg"/>
</p:tagLst>
</file>

<file path=ppt/tags/tag1249.xml><?xml version="1.0" encoding="utf-8"?>
<p:tagLst xmlns:a="http://schemas.openxmlformats.org/drawingml/2006/main" xmlns:r="http://schemas.openxmlformats.org/officeDocument/2006/relationships" xmlns:p="http://schemas.openxmlformats.org/presentationml/2006/main">
  <p:tag name="THINKCELLSHAPEDONOTDELETE" val="tJsR2TwD7zrmBfT6HS0navA"/>
</p:tagLst>
</file>

<file path=ppt/tags/tag1250.xml><?xml version="1.0" encoding="utf-8"?>
<p:tagLst xmlns:a="http://schemas.openxmlformats.org/drawingml/2006/main" xmlns:r="http://schemas.openxmlformats.org/officeDocument/2006/relationships" xmlns:p="http://schemas.openxmlformats.org/presentationml/2006/main">
  <p:tag name="THINKCELLSHAPEDONOTDELETE" val="tO0EsgZfwCEJSDQypu9x2NQ"/>
</p:tagLst>
</file>

<file path=ppt/tags/tag1251.xml><?xml version="1.0" encoding="utf-8"?>
<p:tagLst xmlns:a="http://schemas.openxmlformats.org/drawingml/2006/main" xmlns:r="http://schemas.openxmlformats.org/officeDocument/2006/relationships" xmlns:p="http://schemas.openxmlformats.org/presentationml/2006/main">
  <p:tag name="THINKCELLSHAPEDONOTDELETE" val="tGY.BYEYvkbkEJDPG_gSuRg"/>
</p:tagLst>
</file>

<file path=ppt/tags/tag1252.xml><?xml version="1.0" encoding="utf-8"?>
<p:tagLst xmlns:a="http://schemas.openxmlformats.org/drawingml/2006/main" xmlns:r="http://schemas.openxmlformats.org/officeDocument/2006/relationships" xmlns:p="http://schemas.openxmlformats.org/presentationml/2006/main">
  <p:tag name="THINKCELLSHAPEDONOTDELETE" val="t66o6i7CSi8QZ25RHT.bX.w"/>
</p:tagLst>
</file>

<file path=ppt/tags/tag1253.xml><?xml version="1.0" encoding="utf-8"?>
<p:tagLst xmlns:a="http://schemas.openxmlformats.org/drawingml/2006/main" xmlns:r="http://schemas.openxmlformats.org/officeDocument/2006/relationships" xmlns:p="http://schemas.openxmlformats.org/presentationml/2006/main">
  <p:tag name="THINKCELLSHAPEDONOTDELETE" val="tnCvOY7C5lYPTn2qZUDhRUg"/>
</p:tagLst>
</file>

<file path=ppt/tags/tag1254.xml><?xml version="1.0" encoding="utf-8"?>
<p:tagLst xmlns:a="http://schemas.openxmlformats.org/drawingml/2006/main" xmlns:r="http://schemas.openxmlformats.org/officeDocument/2006/relationships" xmlns:p="http://schemas.openxmlformats.org/presentationml/2006/main">
  <p:tag name="THINKCELLSHAPEDONOTDELETE" val="tL56hrUROtXtO5TThi0.R9Q"/>
</p:tagLst>
</file>

<file path=ppt/tags/tag1255.xml><?xml version="1.0" encoding="utf-8"?>
<p:tagLst xmlns:a="http://schemas.openxmlformats.org/drawingml/2006/main" xmlns:r="http://schemas.openxmlformats.org/officeDocument/2006/relationships" xmlns:p="http://schemas.openxmlformats.org/presentationml/2006/main">
  <p:tag name="THINKCELLSHAPEDONOTDELETE" val="t1W1aXU7DkzEi5ypfSFgrsQ"/>
</p:tagLst>
</file>

<file path=ppt/tags/tag1256.xml><?xml version="1.0" encoding="utf-8"?>
<p:tagLst xmlns:a="http://schemas.openxmlformats.org/drawingml/2006/main" xmlns:r="http://schemas.openxmlformats.org/officeDocument/2006/relationships" xmlns:p="http://schemas.openxmlformats.org/presentationml/2006/main">
  <p:tag name="THINKCELLSHAPEDONOTDELETE" val="tYuuJFizzmbPwCBSVRGpSZw"/>
</p:tagLst>
</file>

<file path=ppt/tags/tag1257.xml><?xml version="1.0" encoding="utf-8"?>
<p:tagLst xmlns:a="http://schemas.openxmlformats.org/drawingml/2006/main" xmlns:r="http://schemas.openxmlformats.org/officeDocument/2006/relationships" xmlns:p="http://schemas.openxmlformats.org/presentationml/2006/main">
  <p:tag name="THINKCELLSHAPEDONOTDELETE" val="tl054LoJuxfwau44tLMOCOA"/>
</p:tagLst>
</file>

<file path=ppt/tags/tag1258.xml><?xml version="1.0" encoding="utf-8"?>
<p:tagLst xmlns:a="http://schemas.openxmlformats.org/drawingml/2006/main" xmlns:r="http://schemas.openxmlformats.org/officeDocument/2006/relationships" xmlns:p="http://schemas.openxmlformats.org/presentationml/2006/main">
  <p:tag name="THINKCELLSHAPEDONOTDELETE" val="tKxyg.N9V5l_5ycTAYgoWtQ"/>
</p:tagLst>
</file>

<file path=ppt/tags/tag1259.xml><?xml version="1.0" encoding="utf-8"?>
<p:tagLst xmlns:a="http://schemas.openxmlformats.org/drawingml/2006/main" xmlns:r="http://schemas.openxmlformats.org/officeDocument/2006/relationships" xmlns:p="http://schemas.openxmlformats.org/presentationml/2006/main">
  <p:tag name="THINKCELLSHAPEDONOTDELETE" val="ta4e2Y0mKVUs2HwcTcZA3kw"/>
</p:tagLst>
</file>

<file path=ppt/tags/tag1260.xml><?xml version="1.0" encoding="utf-8"?>
<p:tagLst xmlns:a="http://schemas.openxmlformats.org/drawingml/2006/main" xmlns:r="http://schemas.openxmlformats.org/officeDocument/2006/relationships" xmlns:p="http://schemas.openxmlformats.org/presentationml/2006/main">
  <p:tag name="THINKCELLSHAPEDONOTDELETE" val="twEiHay4zxE5AguMFtHKbxw"/>
</p:tagLst>
</file>

<file path=ppt/tags/tag1261.xml><?xml version="1.0" encoding="utf-8"?>
<p:tagLst xmlns:a="http://schemas.openxmlformats.org/drawingml/2006/main" xmlns:r="http://schemas.openxmlformats.org/officeDocument/2006/relationships" xmlns:p="http://schemas.openxmlformats.org/presentationml/2006/main">
  <p:tag name="THINKCELLSHAPEDONOTDELETE" val="tq5wrfvrYe0StURWGF0Um6A"/>
</p:tagLst>
</file>

<file path=ppt/tags/tag1262.xml><?xml version="1.0" encoding="utf-8"?>
<p:tagLst xmlns:a="http://schemas.openxmlformats.org/drawingml/2006/main" xmlns:r="http://schemas.openxmlformats.org/officeDocument/2006/relationships" xmlns:p="http://schemas.openxmlformats.org/presentationml/2006/main">
  <p:tag name="THINKCELLSHAPEDONOTDELETE" val="tcSp6N4YKudKafXlcwQeV9Q"/>
</p:tagLst>
</file>

<file path=ppt/tags/tag1263.xml><?xml version="1.0" encoding="utf-8"?>
<p:tagLst xmlns:a="http://schemas.openxmlformats.org/drawingml/2006/main" xmlns:r="http://schemas.openxmlformats.org/officeDocument/2006/relationships" xmlns:p="http://schemas.openxmlformats.org/presentationml/2006/main">
  <p:tag name="THINKCELLSHAPEDONOTDELETE" val="tHhpdAQ2rXOKkTsbHoLX.Tw"/>
</p:tagLst>
</file>

<file path=ppt/tags/tag1264.xml><?xml version="1.0" encoding="utf-8"?>
<p:tagLst xmlns:a="http://schemas.openxmlformats.org/drawingml/2006/main" xmlns:r="http://schemas.openxmlformats.org/officeDocument/2006/relationships" xmlns:p="http://schemas.openxmlformats.org/presentationml/2006/main">
  <p:tag name="THINKCELLSHAPEDONOTDELETE" val="ttKv6mNGupHz7IqvYwK7h5A"/>
</p:tagLst>
</file>

<file path=ppt/tags/tag1265.xml><?xml version="1.0" encoding="utf-8"?>
<p:tagLst xmlns:a="http://schemas.openxmlformats.org/drawingml/2006/main" xmlns:r="http://schemas.openxmlformats.org/officeDocument/2006/relationships" xmlns:p="http://schemas.openxmlformats.org/presentationml/2006/main">
  <p:tag name="THINKCELLSHAPEDONOTDELETE" val="t7HbbpWvI5AUuCofn65i7ag"/>
</p:tagLst>
</file>

<file path=ppt/tags/tag1266.xml><?xml version="1.0" encoding="utf-8"?>
<p:tagLst xmlns:a="http://schemas.openxmlformats.org/drawingml/2006/main" xmlns:r="http://schemas.openxmlformats.org/officeDocument/2006/relationships" xmlns:p="http://schemas.openxmlformats.org/presentationml/2006/main">
  <p:tag name="THINKCELLSHAPEDONOTDELETE" val="tOSQWDVibYM6yRo1Rgv42JQ"/>
</p:tagLst>
</file>

<file path=ppt/tags/tag1267.xml><?xml version="1.0" encoding="utf-8"?>
<p:tagLst xmlns:a="http://schemas.openxmlformats.org/drawingml/2006/main" xmlns:r="http://schemas.openxmlformats.org/officeDocument/2006/relationships" xmlns:p="http://schemas.openxmlformats.org/presentationml/2006/main">
  <p:tag name="THINKCELLSHAPEDONOTDELETE" val="taHPqC_8qMMa5eS260LLF6A"/>
</p:tagLst>
</file>

<file path=ppt/tags/tag1268.xml><?xml version="1.0" encoding="utf-8"?>
<p:tagLst xmlns:a="http://schemas.openxmlformats.org/drawingml/2006/main" xmlns:r="http://schemas.openxmlformats.org/officeDocument/2006/relationships" xmlns:p="http://schemas.openxmlformats.org/presentationml/2006/main">
  <p:tag name="THINKCELLSHAPEDONOTDELETE" val="t1GSwekNM0tZflSp7qEeAhA"/>
</p:tagLst>
</file>

<file path=ppt/tags/tag1269.xml><?xml version="1.0" encoding="utf-8"?>
<p:tagLst xmlns:a="http://schemas.openxmlformats.org/drawingml/2006/main" xmlns:r="http://schemas.openxmlformats.org/officeDocument/2006/relationships" xmlns:p="http://schemas.openxmlformats.org/presentationml/2006/main">
  <p:tag name="THINKCELLSHAPEDONOTDELETE" val="tn9bHWrFt2CQoZ80_.rKY_w"/>
</p:tagLst>
</file>

<file path=ppt/tags/tag1270.xml><?xml version="1.0" encoding="utf-8"?>
<p:tagLst xmlns:a="http://schemas.openxmlformats.org/drawingml/2006/main" xmlns:r="http://schemas.openxmlformats.org/officeDocument/2006/relationships" xmlns:p="http://schemas.openxmlformats.org/presentationml/2006/main">
  <p:tag name="THINKCELLSHAPEDONOTDELETE" val="tBdsQ7CYVf..WgGQtzr8JKw"/>
</p:tagLst>
</file>

<file path=ppt/tags/tag1271.xml><?xml version="1.0" encoding="utf-8"?>
<p:tagLst xmlns:a="http://schemas.openxmlformats.org/drawingml/2006/main" xmlns:r="http://schemas.openxmlformats.org/officeDocument/2006/relationships" xmlns:p="http://schemas.openxmlformats.org/presentationml/2006/main">
  <p:tag name="THINKCELLSHAPEDONOTDELETE" val="tDqjADSh.eY94umOM6KexCg"/>
</p:tagLst>
</file>

<file path=ppt/tags/tag127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73.xml><?xml version="1.0" encoding="utf-8"?>
<p:tagLst xmlns:a="http://schemas.openxmlformats.org/drawingml/2006/main" xmlns:r="http://schemas.openxmlformats.org/officeDocument/2006/relationships" xmlns:p="http://schemas.openxmlformats.org/presentationml/2006/main">
  <p:tag name="THINKCELLSHAPEDONOTDELETE" val="tahL7R_SDm3sXF7ASnkXFcA"/>
</p:tagLst>
</file>

<file path=ppt/tags/tag1274.xml><?xml version="1.0" encoding="utf-8"?>
<p:tagLst xmlns:a="http://schemas.openxmlformats.org/drawingml/2006/main" xmlns:r="http://schemas.openxmlformats.org/officeDocument/2006/relationships" xmlns:p="http://schemas.openxmlformats.org/presentationml/2006/main">
  <p:tag name="HEADER" val="True"/>
</p:tagLst>
</file>

<file path=ppt/tags/tag1275.xml><?xml version="1.0" encoding="utf-8"?>
<p:tagLst xmlns:a="http://schemas.openxmlformats.org/drawingml/2006/main" xmlns:r="http://schemas.openxmlformats.org/officeDocument/2006/relationships" xmlns:p="http://schemas.openxmlformats.org/presentationml/2006/main">
  <p:tag name="THINKCELLSHAPEDONOTDELETE" val="t4Ul1DSstV1SYPWGolC1Iyg"/>
</p:tagLst>
</file>

<file path=ppt/tags/tag1276.xml><?xml version="1.0" encoding="utf-8"?>
<p:tagLst xmlns:a="http://schemas.openxmlformats.org/drawingml/2006/main" xmlns:r="http://schemas.openxmlformats.org/officeDocument/2006/relationships" xmlns:p="http://schemas.openxmlformats.org/presentationml/2006/main">
  <p:tag name="THINKCELLSHAPEDONOTDELETE" val="tJpi0Yq6nQleyUlA1WjcQcg"/>
</p:tagLst>
</file>

<file path=ppt/tags/tag1277.xml><?xml version="1.0" encoding="utf-8"?>
<p:tagLst xmlns:a="http://schemas.openxmlformats.org/drawingml/2006/main" xmlns:r="http://schemas.openxmlformats.org/officeDocument/2006/relationships" xmlns:p="http://schemas.openxmlformats.org/presentationml/2006/main">
  <p:tag name="THINKCELLSHAPEDONOTDELETE" val="tOANecnuIyQC5R1y.EhcoTA"/>
</p:tagLst>
</file>

<file path=ppt/tags/tag1278.xml><?xml version="1.0" encoding="utf-8"?>
<p:tagLst xmlns:a="http://schemas.openxmlformats.org/drawingml/2006/main" xmlns:r="http://schemas.openxmlformats.org/officeDocument/2006/relationships" xmlns:p="http://schemas.openxmlformats.org/presentationml/2006/main">
  <p:tag name="THINKCELLSHAPEDONOTDELETE" val="tI_M6ys0gjdjsSNrfGTGCAA"/>
</p:tagLst>
</file>

<file path=ppt/tags/tag1279.xml><?xml version="1.0" encoding="utf-8"?>
<p:tagLst xmlns:a="http://schemas.openxmlformats.org/drawingml/2006/main" xmlns:r="http://schemas.openxmlformats.org/officeDocument/2006/relationships" xmlns:p="http://schemas.openxmlformats.org/presentationml/2006/main">
  <p:tag name="THINKCELLSHAPEDONOTDELETE" val="tviATu20fqPDlVJDON54uiQ"/>
</p:tagLst>
</file>

<file path=ppt/tags/tag1280.xml><?xml version="1.0" encoding="utf-8"?>
<p:tagLst xmlns:a="http://schemas.openxmlformats.org/drawingml/2006/main" xmlns:r="http://schemas.openxmlformats.org/officeDocument/2006/relationships" xmlns:p="http://schemas.openxmlformats.org/presentationml/2006/main">
  <p:tag name="THINKCELLSHAPEDONOTDELETE" val="tkO8_nN_uboySMthVSkzySQ"/>
</p:tagLst>
</file>

<file path=ppt/tags/tag1281.xml><?xml version="1.0" encoding="utf-8"?>
<p:tagLst xmlns:a="http://schemas.openxmlformats.org/drawingml/2006/main" xmlns:r="http://schemas.openxmlformats.org/officeDocument/2006/relationships" xmlns:p="http://schemas.openxmlformats.org/presentationml/2006/main">
  <p:tag name="THINKCELLSHAPEDONOTDELETE" val="tV8xOeuowLTWxfG2oB7nBEA"/>
</p:tagLst>
</file>

<file path=ppt/tags/tag1282.xml><?xml version="1.0" encoding="utf-8"?>
<p:tagLst xmlns:a="http://schemas.openxmlformats.org/drawingml/2006/main" xmlns:r="http://schemas.openxmlformats.org/officeDocument/2006/relationships" xmlns:p="http://schemas.openxmlformats.org/presentationml/2006/main">
  <p:tag name="THINKCELLSHAPEDONOTDELETE" val="t.8VJB_lTaJXFM79SCsmVPA"/>
</p:tagLst>
</file>

<file path=ppt/tags/tag1283.xml><?xml version="1.0" encoding="utf-8"?>
<p:tagLst xmlns:a="http://schemas.openxmlformats.org/drawingml/2006/main" xmlns:r="http://schemas.openxmlformats.org/officeDocument/2006/relationships" xmlns:p="http://schemas.openxmlformats.org/presentationml/2006/main">
  <p:tag name="THINKCELLSHAPEDONOTDELETE" val="tCIYbcQVxOHXtyIlZGYxgSg"/>
</p:tagLst>
</file>

<file path=ppt/tags/tag1284.xml><?xml version="1.0" encoding="utf-8"?>
<p:tagLst xmlns:a="http://schemas.openxmlformats.org/drawingml/2006/main" xmlns:r="http://schemas.openxmlformats.org/officeDocument/2006/relationships" xmlns:p="http://schemas.openxmlformats.org/presentationml/2006/main">
  <p:tag name="THINKCELLSHAPEDONOTDELETE" val="tpW8OD0UMSStYknev03N9Xg"/>
</p:tagLst>
</file>

<file path=ppt/tags/tag1285.xml><?xml version="1.0" encoding="utf-8"?>
<p:tagLst xmlns:a="http://schemas.openxmlformats.org/drawingml/2006/main" xmlns:r="http://schemas.openxmlformats.org/officeDocument/2006/relationships" xmlns:p="http://schemas.openxmlformats.org/presentationml/2006/main">
  <p:tag name="THINKCELLSHAPEDONOTDELETE" val="tIOKtHIjgbcZKXlH3nMDjnw"/>
</p:tagLst>
</file>

<file path=ppt/tags/tag128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87.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288.xml><?xml version="1.0" encoding="utf-8"?>
<p:tagLst xmlns:a="http://schemas.openxmlformats.org/drawingml/2006/main" xmlns:r="http://schemas.openxmlformats.org/officeDocument/2006/relationships" xmlns:p="http://schemas.openxmlformats.org/presentationml/2006/main">
  <p:tag name="HEADER" val="True"/>
</p:tagLst>
</file>

<file path=ppt/tags/tag1289.xml><?xml version="1.0" encoding="utf-8"?>
<p:tagLst xmlns:a="http://schemas.openxmlformats.org/drawingml/2006/main" xmlns:r="http://schemas.openxmlformats.org/officeDocument/2006/relationships" xmlns:p="http://schemas.openxmlformats.org/presentationml/2006/main">
  <p:tag name="HEADER" val="True"/>
</p:tagLst>
</file>

<file path=ppt/tags/tag1290.xml><?xml version="1.0" encoding="utf-8"?>
<p:tagLst xmlns:a="http://schemas.openxmlformats.org/drawingml/2006/main" xmlns:r="http://schemas.openxmlformats.org/officeDocument/2006/relationships" xmlns:p="http://schemas.openxmlformats.org/presentationml/2006/main">
  <p:tag name="THINKCELLSHAPEDONOTDELETE" val="trko2ZpX6ZMskEPa52ZMUrg"/>
</p:tagLst>
</file>

<file path=ppt/tags/tag1291.xml><?xml version="1.0" encoding="utf-8"?>
<p:tagLst xmlns:a="http://schemas.openxmlformats.org/drawingml/2006/main" xmlns:r="http://schemas.openxmlformats.org/officeDocument/2006/relationships" xmlns:p="http://schemas.openxmlformats.org/presentationml/2006/main">
  <p:tag name="THINKCELLSHAPEDONOTDELETE" val="t.Srnxq2NElK9qz19kIVpRg"/>
</p:tagLst>
</file>

<file path=ppt/tags/tag1292.xml><?xml version="1.0" encoding="utf-8"?>
<p:tagLst xmlns:a="http://schemas.openxmlformats.org/drawingml/2006/main" xmlns:r="http://schemas.openxmlformats.org/officeDocument/2006/relationships" xmlns:p="http://schemas.openxmlformats.org/presentationml/2006/main">
  <p:tag name="THINKCELLSHAPEDONOTDELETE" val="tlAeWR_hESaZAkGcWDFRaWA"/>
</p:tagLst>
</file>

<file path=ppt/tags/tag1293.xml><?xml version="1.0" encoding="utf-8"?>
<p:tagLst xmlns:a="http://schemas.openxmlformats.org/drawingml/2006/main" xmlns:r="http://schemas.openxmlformats.org/officeDocument/2006/relationships" xmlns:p="http://schemas.openxmlformats.org/presentationml/2006/main">
  <p:tag name="THINKCELLSHAPEDONOTDELETE" val="tqcagu0Ma1UOz7k10IZa5HQ"/>
</p:tagLst>
</file>

<file path=ppt/tags/tag1294.xml><?xml version="1.0" encoding="utf-8"?>
<p:tagLst xmlns:a="http://schemas.openxmlformats.org/drawingml/2006/main" xmlns:r="http://schemas.openxmlformats.org/officeDocument/2006/relationships" xmlns:p="http://schemas.openxmlformats.org/presentationml/2006/main">
  <p:tag name="THINKCELLSHAPEDONOTDELETE" val="ts2Dpr7250C_.9syAO7PFkw"/>
</p:tagLst>
</file>

<file path=ppt/tags/tag1295.xml><?xml version="1.0" encoding="utf-8"?>
<p:tagLst xmlns:a="http://schemas.openxmlformats.org/drawingml/2006/main" xmlns:r="http://schemas.openxmlformats.org/officeDocument/2006/relationships" xmlns:p="http://schemas.openxmlformats.org/presentationml/2006/main">
  <p:tag name="THINKCELLSHAPEDONOTDELETE" val="tnhYVUuZizQ6sbZoC0xfEuQ"/>
</p:tagLst>
</file>

<file path=ppt/tags/tag1296.xml><?xml version="1.0" encoding="utf-8"?>
<p:tagLst xmlns:a="http://schemas.openxmlformats.org/drawingml/2006/main" xmlns:r="http://schemas.openxmlformats.org/officeDocument/2006/relationships" xmlns:p="http://schemas.openxmlformats.org/presentationml/2006/main">
  <p:tag name="THINKCELLSHAPEDONOTDELETE" val="tyjkQKBEkvY3WbV4IAUvIMg"/>
</p:tagLst>
</file>

<file path=ppt/tags/tag129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98.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299.xml><?xml version="1.0" encoding="utf-8"?>
<p:tagLst xmlns:a="http://schemas.openxmlformats.org/drawingml/2006/main" xmlns:r="http://schemas.openxmlformats.org/officeDocument/2006/relationships" xmlns:p="http://schemas.openxmlformats.org/presentationml/2006/main">
  <p:tag name="HEADER" val="True"/>
</p:tagLst>
</file>

<file path=ppt/tags/tag1300.xml><?xml version="1.0" encoding="utf-8"?>
<p:tagLst xmlns:a="http://schemas.openxmlformats.org/drawingml/2006/main" xmlns:r="http://schemas.openxmlformats.org/officeDocument/2006/relationships" xmlns:p="http://schemas.openxmlformats.org/presentationml/2006/main">
  <p:tag name="HEADER" val="True"/>
</p:tagLst>
</file>

<file path=ppt/tags/tag1301.xml><?xml version="1.0" encoding="utf-8"?>
<p:tagLst xmlns:a="http://schemas.openxmlformats.org/drawingml/2006/main" xmlns:r="http://schemas.openxmlformats.org/officeDocument/2006/relationships" xmlns:p="http://schemas.openxmlformats.org/presentationml/2006/main">
  <p:tag name="THINKCELLSHAPEDONOTDELETE" val="tKpWwHbAvDcfakrMWFimsNw"/>
</p:tagLst>
</file>

<file path=ppt/tags/tag1302.xml><?xml version="1.0" encoding="utf-8"?>
<p:tagLst xmlns:a="http://schemas.openxmlformats.org/drawingml/2006/main" xmlns:r="http://schemas.openxmlformats.org/officeDocument/2006/relationships" xmlns:p="http://schemas.openxmlformats.org/presentationml/2006/main">
  <p:tag name="THINKCELLSHAPEDONOTDELETE" val="tpYfa77.w5Eg3DuvLvY7FPA"/>
</p:tagLst>
</file>

<file path=ppt/tags/tag1303.xml><?xml version="1.0" encoding="utf-8"?>
<p:tagLst xmlns:a="http://schemas.openxmlformats.org/drawingml/2006/main" xmlns:r="http://schemas.openxmlformats.org/officeDocument/2006/relationships" xmlns:p="http://schemas.openxmlformats.org/presentationml/2006/main">
  <p:tag name="THINKCELLSHAPEDONOTDELETE" val="tJ5J_hTJj_HifQgKl7z5UOg"/>
</p:tagLst>
</file>

<file path=ppt/tags/tag1304.xml><?xml version="1.0" encoding="utf-8"?>
<p:tagLst xmlns:a="http://schemas.openxmlformats.org/drawingml/2006/main" xmlns:r="http://schemas.openxmlformats.org/officeDocument/2006/relationships" xmlns:p="http://schemas.openxmlformats.org/presentationml/2006/main">
  <p:tag name="THINKCELLSHAPEDONOTDELETE" val="tfAWUvM0bK1TeTmvTyFpi0w"/>
</p:tagLst>
</file>

<file path=ppt/tags/tag1305.xml><?xml version="1.0" encoding="utf-8"?>
<p:tagLst xmlns:a="http://schemas.openxmlformats.org/drawingml/2006/main" xmlns:r="http://schemas.openxmlformats.org/officeDocument/2006/relationships" xmlns:p="http://schemas.openxmlformats.org/presentationml/2006/main">
  <p:tag name="THINKCELLSHAPEDONOTDELETE" val="td7Lm9.pHnQvtChqQ35wouA"/>
</p:tagLst>
</file>

<file path=ppt/tags/tag1306.xml><?xml version="1.0" encoding="utf-8"?>
<p:tagLst xmlns:a="http://schemas.openxmlformats.org/drawingml/2006/main" xmlns:r="http://schemas.openxmlformats.org/officeDocument/2006/relationships" xmlns:p="http://schemas.openxmlformats.org/presentationml/2006/main">
  <p:tag name="THINKCELLSHAPEDONOTDELETE" val="t4qO3v5ef57n0atbKHGH14g"/>
</p:tagLst>
</file>

<file path=ppt/tags/tag1307.xml><?xml version="1.0" encoding="utf-8"?>
<p:tagLst xmlns:a="http://schemas.openxmlformats.org/drawingml/2006/main" xmlns:r="http://schemas.openxmlformats.org/officeDocument/2006/relationships" xmlns:p="http://schemas.openxmlformats.org/presentationml/2006/main">
  <p:tag name="THINKCELLSHAPEDONOTDELETE" val="tGnd4ZHx5w65mAJrA9zyggg"/>
</p:tagLst>
</file>

<file path=ppt/tags/tag1308.xml><?xml version="1.0" encoding="utf-8"?>
<p:tagLst xmlns:a="http://schemas.openxmlformats.org/drawingml/2006/main" xmlns:r="http://schemas.openxmlformats.org/officeDocument/2006/relationships" xmlns:p="http://schemas.openxmlformats.org/presentationml/2006/main">
  <p:tag name="THINKCELLSHAPEDONOTDELETE" val="tJ6fybT8sc2Aw.xBEdyiiYA"/>
</p:tagLst>
</file>

<file path=ppt/tags/tag1309.xml><?xml version="1.0" encoding="utf-8"?>
<p:tagLst xmlns:a="http://schemas.openxmlformats.org/drawingml/2006/main" xmlns:r="http://schemas.openxmlformats.org/officeDocument/2006/relationships" xmlns:p="http://schemas.openxmlformats.org/presentationml/2006/main">
  <p:tag name="THINKCELLSHAPEDONOTDELETE" val="t.j_PHFOjlJjzpvKNHpsiMg"/>
</p:tagLst>
</file>

<file path=ppt/tags/tag1310.xml><?xml version="1.0" encoding="utf-8"?>
<p:tagLst xmlns:a="http://schemas.openxmlformats.org/drawingml/2006/main" xmlns:r="http://schemas.openxmlformats.org/officeDocument/2006/relationships" xmlns:p="http://schemas.openxmlformats.org/presentationml/2006/main">
  <p:tag name="THINKCELLSHAPEDONOTDELETE" val="t1ESam8HyWOrbZj43ie.I8A"/>
</p:tagLst>
</file>

<file path=ppt/tags/tag1311.xml><?xml version="1.0" encoding="utf-8"?>
<p:tagLst xmlns:a="http://schemas.openxmlformats.org/drawingml/2006/main" xmlns:r="http://schemas.openxmlformats.org/officeDocument/2006/relationships" xmlns:p="http://schemas.openxmlformats.org/presentationml/2006/main">
  <p:tag name="THINKCELLSHAPEDONOTDELETE" val="tSJT2xA2PBMQJgLFvGQMh1g"/>
</p:tagLst>
</file>

<file path=ppt/tags/tag1312.xml><?xml version="1.0" encoding="utf-8"?>
<p:tagLst xmlns:a="http://schemas.openxmlformats.org/drawingml/2006/main" xmlns:r="http://schemas.openxmlformats.org/officeDocument/2006/relationships" xmlns:p="http://schemas.openxmlformats.org/presentationml/2006/main">
  <p:tag name="THINKCELLSHAPEDONOTDELETE" val="tmsfHjPrRhdYyPd7jTXPBPA"/>
</p:tagLst>
</file>

<file path=ppt/tags/tag1313.xml><?xml version="1.0" encoding="utf-8"?>
<p:tagLst xmlns:a="http://schemas.openxmlformats.org/drawingml/2006/main" xmlns:r="http://schemas.openxmlformats.org/officeDocument/2006/relationships" xmlns:p="http://schemas.openxmlformats.org/presentationml/2006/main">
  <p:tag name="THINKCELLSHAPEDONOTDELETE" val="tobZdwfLHEHwlTIabRHIuFw"/>
</p:tagLst>
</file>

<file path=ppt/tags/tag1314.xml><?xml version="1.0" encoding="utf-8"?>
<p:tagLst xmlns:a="http://schemas.openxmlformats.org/drawingml/2006/main" xmlns:r="http://schemas.openxmlformats.org/officeDocument/2006/relationships" xmlns:p="http://schemas.openxmlformats.org/presentationml/2006/main">
  <p:tag name="THINKCELLSHAPEDONOTDELETE" val="t6IS1L4AWnp0oVNQxeLl0NA"/>
</p:tagLst>
</file>

<file path=ppt/tags/tag1315.xml><?xml version="1.0" encoding="utf-8"?>
<p:tagLst xmlns:a="http://schemas.openxmlformats.org/drawingml/2006/main" xmlns:r="http://schemas.openxmlformats.org/officeDocument/2006/relationships" xmlns:p="http://schemas.openxmlformats.org/presentationml/2006/main">
  <p:tag name="THINKCELLSHAPEDONOTDELETE" val="ttv3icgR0r1JZf1fUuYKz1A"/>
</p:tagLst>
</file>

<file path=ppt/tags/tag1316.xml><?xml version="1.0" encoding="utf-8"?>
<p:tagLst xmlns:a="http://schemas.openxmlformats.org/drawingml/2006/main" xmlns:r="http://schemas.openxmlformats.org/officeDocument/2006/relationships" xmlns:p="http://schemas.openxmlformats.org/presentationml/2006/main">
  <p:tag name="THINKCELLSHAPEDONOTDELETE" val="tpPx3FFUT_odtpKH.XpZ2Hg"/>
</p:tagLst>
</file>

<file path=ppt/tags/tag1317.xml><?xml version="1.0" encoding="utf-8"?>
<p:tagLst xmlns:a="http://schemas.openxmlformats.org/drawingml/2006/main" xmlns:r="http://schemas.openxmlformats.org/officeDocument/2006/relationships" xmlns:p="http://schemas.openxmlformats.org/presentationml/2006/main">
  <p:tag name="THINKCELLSHAPEDONOTDELETE" val="tNwrdlyHnmEuySD_LjKSLpQ"/>
</p:tagLst>
</file>

<file path=ppt/tags/tag1318.xml><?xml version="1.0" encoding="utf-8"?>
<p:tagLst xmlns:a="http://schemas.openxmlformats.org/drawingml/2006/main" xmlns:r="http://schemas.openxmlformats.org/officeDocument/2006/relationships" xmlns:p="http://schemas.openxmlformats.org/presentationml/2006/main">
  <p:tag name="THINKCELLSHAPEDONOTDELETE" val="twd6S0oJ026zDuTJI_PNqYw"/>
</p:tagLst>
</file>

<file path=ppt/tags/tag1319.xml><?xml version="1.0" encoding="utf-8"?>
<p:tagLst xmlns:a="http://schemas.openxmlformats.org/drawingml/2006/main" xmlns:r="http://schemas.openxmlformats.org/officeDocument/2006/relationships" xmlns:p="http://schemas.openxmlformats.org/presentationml/2006/main">
  <p:tag name="THINKCELLSHAPEDONOTDELETE" val="t4MHzBJPzZyGAyD0HiEdGkg"/>
</p:tagLst>
</file>

<file path=ppt/tags/tag1320.xml><?xml version="1.0" encoding="utf-8"?>
<p:tagLst xmlns:a="http://schemas.openxmlformats.org/drawingml/2006/main" xmlns:r="http://schemas.openxmlformats.org/officeDocument/2006/relationships" xmlns:p="http://schemas.openxmlformats.org/presentationml/2006/main">
  <p:tag name="THINKCELLSHAPEDONOTDELETE" val="t.BVp14tNq6gQL3c8rGhGzQ"/>
</p:tagLst>
</file>

<file path=ppt/tags/tag1321.xml><?xml version="1.0" encoding="utf-8"?>
<p:tagLst xmlns:a="http://schemas.openxmlformats.org/drawingml/2006/main" xmlns:r="http://schemas.openxmlformats.org/officeDocument/2006/relationships" xmlns:p="http://schemas.openxmlformats.org/presentationml/2006/main">
  <p:tag name="THINKCELLSHAPEDONOTDELETE" val="tBUZTr15D3ZaUtjuqmuYvJg"/>
</p:tagLst>
</file>

<file path=ppt/tags/tag1322.xml><?xml version="1.0" encoding="utf-8"?>
<p:tagLst xmlns:a="http://schemas.openxmlformats.org/drawingml/2006/main" xmlns:r="http://schemas.openxmlformats.org/officeDocument/2006/relationships" xmlns:p="http://schemas.openxmlformats.org/presentationml/2006/main">
  <p:tag name="THINKCELLSHAPEDONOTDELETE" val="tuiekUpEeA1s9jaQxfKy0sg"/>
</p:tagLst>
</file>

<file path=ppt/tags/tag1323.xml><?xml version="1.0" encoding="utf-8"?>
<p:tagLst xmlns:a="http://schemas.openxmlformats.org/drawingml/2006/main" xmlns:r="http://schemas.openxmlformats.org/officeDocument/2006/relationships" xmlns:p="http://schemas.openxmlformats.org/presentationml/2006/main">
  <p:tag name="THINKCELLSHAPEDONOTDELETE" val="tn6Ulh4JidvaeMpAMUiAvNg"/>
</p:tagLst>
</file>

<file path=ppt/tags/tag1324.xml><?xml version="1.0" encoding="utf-8"?>
<p:tagLst xmlns:a="http://schemas.openxmlformats.org/drawingml/2006/main" xmlns:r="http://schemas.openxmlformats.org/officeDocument/2006/relationships" xmlns:p="http://schemas.openxmlformats.org/presentationml/2006/main">
  <p:tag name="THINKCELLSHAPEDONOTDELETE" val="th8pvvFQ_Fy4wSI1zllREiA"/>
</p:tagLst>
</file>

<file path=ppt/tags/tag1325.xml><?xml version="1.0" encoding="utf-8"?>
<p:tagLst xmlns:a="http://schemas.openxmlformats.org/drawingml/2006/main" xmlns:r="http://schemas.openxmlformats.org/officeDocument/2006/relationships" xmlns:p="http://schemas.openxmlformats.org/presentationml/2006/main">
  <p:tag name="THINKCELLSHAPEDONOTDELETE" val="tkzBepSNsMkIJaJrcRtBiBQ"/>
</p:tagLst>
</file>

<file path=ppt/tags/tag1326.xml><?xml version="1.0" encoding="utf-8"?>
<p:tagLst xmlns:a="http://schemas.openxmlformats.org/drawingml/2006/main" xmlns:r="http://schemas.openxmlformats.org/officeDocument/2006/relationships" xmlns:p="http://schemas.openxmlformats.org/presentationml/2006/main">
  <p:tag name="THINKCELLSHAPEDONOTDELETE" val="tOKphteukJToizg_aQcy57A"/>
</p:tagLst>
</file>

<file path=ppt/tags/tag1327.xml><?xml version="1.0" encoding="utf-8"?>
<p:tagLst xmlns:a="http://schemas.openxmlformats.org/drawingml/2006/main" xmlns:r="http://schemas.openxmlformats.org/officeDocument/2006/relationships" xmlns:p="http://schemas.openxmlformats.org/presentationml/2006/main">
  <p:tag name="THINKCELLSHAPEDONOTDELETE" val="tz7MATySVI3TtnfgZBy5Ptw"/>
</p:tagLst>
</file>

<file path=ppt/tags/tag1328.xml><?xml version="1.0" encoding="utf-8"?>
<p:tagLst xmlns:a="http://schemas.openxmlformats.org/drawingml/2006/main" xmlns:r="http://schemas.openxmlformats.org/officeDocument/2006/relationships" xmlns:p="http://schemas.openxmlformats.org/presentationml/2006/main">
  <p:tag name="THINKCELLSHAPEDONOTDELETE" val="tThS6tDoDKxUAX6iHvwO7zA"/>
</p:tagLst>
</file>

<file path=ppt/tags/tag1329.xml><?xml version="1.0" encoding="utf-8"?>
<p:tagLst xmlns:a="http://schemas.openxmlformats.org/drawingml/2006/main" xmlns:r="http://schemas.openxmlformats.org/officeDocument/2006/relationships" xmlns:p="http://schemas.openxmlformats.org/presentationml/2006/main">
  <p:tag name="THINKCELLSHAPEDONOTDELETE" val="tODZso8y1oxMZq2wDaRlsoA"/>
</p:tagLst>
</file>

<file path=ppt/tags/tag13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31.xml><?xml version="1.0" encoding="utf-8"?>
<p:tagLst xmlns:a="http://schemas.openxmlformats.org/drawingml/2006/main" xmlns:r="http://schemas.openxmlformats.org/officeDocument/2006/relationships" xmlns:p="http://schemas.openxmlformats.org/presentationml/2006/main">
  <p:tag name="THINKCELLSHAPEDONOTDELETE" val="tMrgCpLDNQ1AfIV9RENFRsQ"/>
</p:tagLst>
</file>

<file path=ppt/tags/tag13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33.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334.xml><?xml version="1.0" encoding="utf-8"?>
<p:tagLst xmlns:a="http://schemas.openxmlformats.org/drawingml/2006/main" xmlns:r="http://schemas.openxmlformats.org/officeDocument/2006/relationships" xmlns:p="http://schemas.openxmlformats.org/presentationml/2006/main">
  <p:tag name="HEADER" val="True"/>
</p:tagLst>
</file>

<file path=ppt/tags/tag1335.xml><?xml version="1.0" encoding="utf-8"?>
<p:tagLst xmlns:a="http://schemas.openxmlformats.org/drawingml/2006/main" xmlns:r="http://schemas.openxmlformats.org/officeDocument/2006/relationships" xmlns:p="http://schemas.openxmlformats.org/presentationml/2006/main">
  <p:tag name="HEADER" val="True"/>
</p:tagLst>
</file>

<file path=ppt/tags/tag13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37.xml><?xml version="1.0" encoding="utf-8"?>
<p:tagLst xmlns:a="http://schemas.openxmlformats.org/drawingml/2006/main" xmlns:r="http://schemas.openxmlformats.org/officeDocument/2006/relationships" xmlns:p="http://schemas.openxmlformats.org/presentationml/2006/main">
  <p:tag name="THINKCELLSHAPEDONOTDELETE" val="tuuoA9QoY73yguTs0LHUj8g"/>
</p:tagLst>
</file>

<file path=ppt/tags/tag1338.xml><?xml version="1.0" encoding="utf-8"?>
<p:tagLst xmlns:a="http://schemas.openxmlformats.org/drawingml/2006/main" xmlns:r="http://schemas.openxmlformats.org/officeDocument/2006/relationships" xmlns:p="http://schemas.openxmlformats.org/presentationml/2006/main">
  <p:tag name="HEADER" val="True"/>
</p:tagLst>
</file>

<file path=ppt/tags/tag133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40.xml><?xml version="1.0" encoding="utf-8"?>
<p:tagLst xmlns:a="http://schemas.openxmlformats.org/drawingml/2006/main" xmlns:r="http://schemas.openxmlformats.org/officeDocument/2006/relationships" xmlns:p="http://schemas.openxmlformats.org/presentationml/2006/main">
  <p:tag name="THINKCELLSHAPEDONOTDELETE" val="tuuoA9QoY73yguTs0LHUj8g"/>
</p:tagLst>
</file>

<file path=ppt/tags/tag1341.xml><?xml version="1.0" encoding="utf-8"?>
<p:tagLst xmlns:a="http://schemas.openxmlformats.org/drawingml/2006/main" xmlns:r="http://schemas.openxmlformats.org/officeDocument/2006/relationships" xmlns:p="http://schemas.openxmlformats.org/presentationml/2006/main">
  <p:tag name="HEADER" val="True"/>
</p:tagLst>
</file>

<file path=ppt/tags/tag13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43.xml><?xml version="1.0" encoding="utf-8"?>
<p:tagLst xmlns:a="http://schemas.openxmlformats.org/drawingml/2006/main" xmlns:r="http://schemas.openxmlformats.org/officeDocument/2006/relationships" xmlns:p="http://schemas.openxmlformats.org/presentationml/2006/main">
  <p:tag name="THINKCELLSHAPEDONOTDELETE" val="tuuoA9QoY73yguTs0LHUj8g"/>
</p:tagLst>
</file>

<file path=ppt/tags/tag1344.xml><?xml version="1.0" encoding="utf-8"?>
<p:tagLst xmlns:a="http://schemas.openxmlformats.org/drawingml/2006/main" xmlns:r="http://schemas.openxmlformats.org/officeDocument/2006/relationships" xmlns:p="http://schemas.openxmlformats.org/presentationml/2006/main">
  <p:tag name="HEADER" val="True"/>
</p:tagLst>
</file>

<file path=ppt/tags/tag13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46.xml><?xml version="1.0" encoding="utf-8"?>
<p:tagLst xmlns:a="http://schemas.openxmlformats.org/drawingml/2006/main" xmlns:r="http://schemas.openxmlformats.org/officeDocument/2006/relationships" xmlns:p="http://schemas.openxmlformats.org/presentationml/2006/main">
  <p:tag name="THINKCELLSHAPEDONOTDELETE" val="tuuoA9QoY73yguTs0LHUj8g"/>
</p:tagLst>
</file>

<file path=ppt/tags/tag1347.xml><?xml version="1.0" encoding="utf-8"?>
<p:tagLst xmlns:a="http://schemas.openxmlformats.org/drawingml/2006/main" xmlns:r="http://schemas.openxmlformats.org/officeDocument/2006/relationships" xmlns:p="http://schemas.openxmlformats.org/presentationml/2006/main">
  <p:tag name="HEADER" val="True"/>
</p:tagLst>
</file>

<file path=ppt/tags/tag13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49.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350.xml><?xml version="1.0" encoding="utf-8"?>
<p:tagLst xmlns:a="http://schemas.openxmlformats.org/drawingml/2006/main" xmlns:r="http://schemas.openxmlformats.org/officeDocument/2006/relationships" xmlns:p="http://schemas.openxmlformats.org/presentationml/2006/main">
  <p:tag name="HEADER" val="True"/>
</p:tagLst>
</file>

<file path=ppt/tags/tag1351.xml><?xml version="1.0" encoding="utf-8"?>
<p:tagLst xmlns:a="http://schemas.openxmlformats.org/drawingml/2006/main" xmlns:r="http://schemas.openxmlformats.org/officeDocument/2006/relationships" xmlns:p="http://schemas.openxmlformats.org/presentationml/2006/main">
  <p:tag name="THINKCELLSHAPEDONOTDELETE" val="tzvjKOefupN7SAyKWJ_Om2Q"/>
</p:tagLst>
</file>

<file path=ppt/tags/tag1352.xml><?xml version="1.0" encoding="utf-8"?>
<p:tagLst xmlns:a="http://schemas.openxmlformats.org/drawingml/2006/main" xmlns:r="http://schemas.openxmlformats.org/officeDocument/2006/relationships" xmlns:p="http://schemas.openxmlformats.org/presentationml/2006/main">
  <p:tag name="THINKCELLSHAPEDONOTDELETE" val="tbC7HeKboUG.NZqqAcyGXbQ"/>
</p:tagLst>
</file>

<file path=ppt/tags/tag1353.xml><?xml version="1.0" encoding="utf-8"?>
<p:tagLst xmlns:a="http://schemas.openxmlformats.org/drawingml/2006/main" xmlns:r="http://schemas.openxmlformats.org/officeDocument/2006/relationships" xmlns:p="http://schemas.openxmlformats.org/presentationml/2006/main">
  <p:tag name="THINKCELLSHAPEDONOTDELETE" val="tL9xR.DkzNi6.8JIaodhhYA"/>
</p:tagLst>
</file>

<file path=ppt/tags/tag1354.xml><?xml version="1.0" encoding="utf-8"?>
<p:tagLst xmlns:a="http://schemas.openxmlformats.org/drawingml/2006/main" xmlns:r="http://schemas.openxmlformats.org/officeDocument/2006/relationships" xmlns:p="http://schemas.openxmlformats.org/presentationml/2006/main">
  <p:tag name="THINKCELLSHAPEDONOTDELETE" val="tfi7eDVfbsMkt7yT19StQYg"/>
</p:tagLst>
</file>

<file path=ppt/tags/tag1355.xml><?xml version="1.0" encoding="utf-8"?>
<p:tagLst xmlns:a="http://schemas.openxmlformats.org/drawingml/2006/main" xmlns:r="http://schemas.openxmlformats.org/officeDocument/2006/relationships" xmlns:p="http://schemas.openxmlformats.org/presentationml/2006/main">
  <p:tag name="THINKCELLSHAPEDONOTDELETE" val="tsni9y7y6Z6HyMAFnclbMag"/>
</p:tagLst>
</file>

<file path=ppt/tags/tag1356.xml><?xml version="1.0" encoding="utf-8"?>
<p:tagLst xmlns:a="http://schemas.openxmlformats.org/drawingml/2006/main" xmlns:r="http://schemas.openxmlformats.org/officeDocument/2006/relationships" xmlns:p="http://schemas.openxmlformats.org/presentationml/2006/main">
  <p:tag name="THINKCELLSHAPEDONOTDELETE" val="tq26niszWBdZqhF.jNq1FIA"/>
</p:tagLst>
</file>

<file path=ppt/tags/tag1357.xml><?xml version="1.0" encoding="utf-8"?>
<p:tagLst xmlns:a="http://schemas.openxmlformats.org/drawingml/2006/main" xmlns:r="http://schemas.openxmlformats.org/officeDocument/2006/relationships" xmlns:p="http://schemas.openxmlformats.org/presentationml/2006/main">
  <p:tag name="THINKCELLSHAPEDONOTDELETE" val="tep98g52oZzKofTCl8nipTw"/>
</p:tagLst>
</file>

<file path=ppt/tags/tag1358.xml><?xml version="1.0" encoding="utf-8"?>
<p:tagLst xmlns:a="http://schemas.openxmlformats.org/drawingml/2006/main" xmlns:r="http://schemas.openxmlformats.org/officeDocument/2006/relationships" xmlns:p="http://schemas.openxmlformats.org/presentationml/2006/main">
  <p:tag name="THINKCELLSHAPEDONOTDELETE" val="tyu_1Zr3bTiANjsPVgskzPg"/>
</p:tagLst>
</file>

<file path=ppt/tags/tag1359.xml><?xml version="1.0" encoding="utf-8"?>
<p:tagLst xmlns:a="http://schemas.openxmlformats.org/drawingml/2006/main" xmlns:r="http://schemas.openxmlformats.org/officeDocument/2006/relationships" xmlns:p="http://schemas.openxmlformats.org/presentationml/2006/main">
  <p:tag name="THINKCELLSHAPEDONOTDELETE" val="tO7VwTiIaGQ6RpkO4P9aG7w"/>
</p:tagLst>
</file>

<file path=ppt/tags/tag1360.xml><?xml version="1.0" encoding="utf-8"?>
<p:tagLst xmlns:a="http://schemas.openxmlformats.org/drawingml/2006/main" xmlns:r="http://schemas.openxmlformats.org/officeDocument/2006/relationships" xmlns:p="http://schemas.openxmlformats.org/presentationml/2006/main">
  <p:tag name="THINKCELLSHAPEDONOTDELETE" val="tw1jWng_q.XMmVtso7NclNw"/>
</p:tagLst>
</file>

<file path=ppt/tags/tag1361.xml><?xml version="1.0" encoding="utf-8"?>
<p:tagLst xmlns:a="http://schemas.openxmlformats.org/drawingml/2006/main" xmlns:r="http://schemas.openxmlformats.org/officeDocument/2006/relationships" xmlns:p="http://schemas.openxmlformats.org/presentationml/2006/main">
  <p:tag name="THINKCELLSHAPEDONOTDELETE" val="tl7LU08YT2irQ4pDkMqiQXg"/>
</p:tagLst>
</file>

<file path=ppt/tags/tag1362.xml><?xml version="1.0" encoding="utf-8"?>
<p:tagLst xmlns:a="http://schemas.openxmlformats.org/drawingml/2006/main" xmlns:r="http://schemas.openxmlformats.org/officeDocument/2006/relationships" xmlns:p="http://schemas.openxmlformats.org/presentationml/2006/main">
  <p:tag name="THINKCELLSHAPEDONOTDELETE" val="tqYOxNFxNLrY6Rz366E2lCQ"/>
</p:tagLst>
</file>

<file path=ppt/tags/tag1363.xml><?xml version="1.0" encoding="utf-8"?>
<p:tagLst xmlns:a="http://schemas.openxmlformats.org/drawingml/2006/main" xmlns:r="http://schemas.openxmlformats.org/officeDocument/2006/relationships" xmlns:p="http://schemas.openxmlformats.org/presentationml/2006/main">
  <p:tag name="THINKCELLSHAPEDONOTDELETE" val="toQUK2V8104UG9X24MrwSqQ"/>
</p:tagLst>
</file>

<file path=ppt/tags/tag1364.xml><?xml version="1.0" encoding="utf-8"?>
<p:tagLst xmlns:a="http://schemas.openxmlformats.org/drawingml/2006/main" xmlns:r="http://schemas.openxmlformats.org/officeDocument/2006/relationships" xmlns:p="http://schemas.openxmlformats.org/presentationml/2006/main">
  <p:tag name="THINKCELLSHAPEDONOTDELETE" val="t6WYPDR5GWxxkwVKp1.n4PQ"/>
</p:tagLst>
</file>

<file path=ppt/tags/tag1365.xml><?xml version="1.0" encoding="utf-8"?>
<p:tagLst xmlns:a="http://schemas.openxmlformats.org/drawingml/2006/main" xmlns:r="http://schemas.openxmlformats.org/officeDocument/2006/relationships" xmlns:p="http://schemas.openxmlformats.org/presentationml/2006/main">
  <p:tag name="THINKCELLSHAPEDONOTDELETE" val="t8HPS.d1RCP9MdCeIquzJVQ"/>
</p:tagLst>
</file>

<file path=ppt/tags/tag1366.xml><?xml version="1.0" encoding="utf-8"?>
<p:tagLst xmlns:a="http://schemas.openxmlformats.org/drawingml/2006/main" xmlns:r="http://schemas.openxmlformats.org/officeDocument/2006/relationships" xmlns:p="http://schemas.openxmlformats.org/presentationml/2006/main">
  <p:tag name="THINKCELLSHAPEDONOTDELETE" val="tHHvzEXAD_SWtBYspeODlZQ"/>
</p:tagLst>
</file>

<file path=ppt/tags/tag1367.xml><?xml version="1.0" encoding="utf-8"?>
<p:tagLst xmlns:a="http://schemas.openxmlformats.org/drawingml/2006/main" xmlns:r="http://schemas.openxmlformats.org/officeDocument/2006/relationships" xmlns:p="http://schemas.openxmlformats.org/presentationml/2006/main">
  <p:tag name="THINKCELLSHAPEDONOTDELETE" val="t97v5xsctfOi7OKPNXQaGpA"/>
</p:tagLst>
</file>

<file path=ppt/tags/tag1368.xml><?xml version="1.0" encoding="utf-8"?>
<p:tagLst xmlns:a="http://schemas.openxmlformats.org/drawingml/2006/main" xmlns:r="http://schemas.openxmlformats.org/officeDocument/2006/relationships" xmlns:p="http://schemas.openxmlformats.org/presentationml/2006/main">
  <p:tag name="THINKCELLSHAPEDONOTDELETE" val="t7Wl0uoWu2aRghGV0uk4Mxg"/>
</p:tagLst>
</file>

<file path=ppt/tags/tag1369.xml><?xml version="1.0" encoding="utf-8"?>
<p:tagLst xmlns:a="http://schemas.openxmlformats.org/drawingml/2006/main" xmlns:r="http://schemas.openxmlformats.org/officeDocument/2006/relationships" xmlns:p="http://schemas.openxmlformats.org/presentationml/2006/main">
  <p:tag name="THINKCELLSHAPEDONOTDELETE" val="t1.Ad7TZ4YPLMfM71yNE1YA"/>
</p:tagLst>
</file>

<file path=ppt/tags/tag1370.xml><?xml version="1.0" encoding="utf-8"?>
<p:tagLst xmlns:a="http://schemas.openxmlformats.org/drawingml/2006/main" xmlns:r="http://schemas.openxmlformats.org/officeDocument/2006/relationships" xmlns:p="http://schemas.openxmlformats.org/presentationml/2006/main">
  <p:tag name="THINKCELLSHAPEDONOTDELETE" val="tSHGFLFJPgH73Si_Yo4TEAA"/>
</p:tagLst>
</file>

<file path=ppt/tags/tag1371.xml><?xml version="1.0" encoding="utf-8"?>
<p:tagLst xmlns:a="http://schemas.openxmlformats.org/drawingml/2006/main" xmlns:r="http://schemas.openxmlformats.org/officeDocument/2006/relationships" xmlns:p="http://schemas.openxmlformats.org/presentationml/2006/main">
  <p:tag name="THINKCELLSHAPEDONOTDELETE" val="t.W39drAYNt0vAeDQNSoPvA"/>
</p:tagLst>
</file>

<file path=ppt/tags/tag1372.xml><?xml version="1.0" encoding="utf-8"?>
<p:tagLst xmlns:a="http://schemas.openxmlformats.org/drawingml/2006/main" xmlns:r="http://schemas.openxmlformats.org/officeDocument/2006/relationships" xmlns:p="http://schemas.openxmlformats.org/presentationml/2006/main">
  <p:tag name="THINKCELLSHAPEDONOTDELETE" val="tUAUPhZ54POY7mirEgh6i8Q"/>
</p:tagLst>
</file>

<file path=ppt/tags/tag1373.xml><?xml version="1.0" encoding="utf-8"?>
<p:tagLst xmlns:a="http://schemas.openxmlformats.org/drawingml/2006/main" xmlns:r="http://schemas.openxmlformats.org/officeDocument/2006/relationships" xmlns:p="http://schemas.openxmlformats.org/presentationml/2006/main">
  <p:tag name="THINKCELLSHAPEDONOTDELETE" val="t8nO_qvovmHBhGiAI0a2.OA"/>
</p:tagLst>
</file>

<file path=ppt/tags/tag1374.xml><?xml version="1.0" encoding="utf-8"?>
<p:tagLst xmlns:a="http://schemas.openxmlformats.org/drawingml/2006/main" xmlns:r="http://schemas.openxmlformats.org/officeDocument/2006/relationships" xmlns:p="http://schemas.openxmlformats.org/presentationml/2006/main">
  <p:tag name="THINKCELLSHAPEDONOTDELETE" val="t5PbOZhtrOO7mSPdZwNDv7A"/>
</p:tagLst>
</file>

<file path=ppt/tags/tag1375.xml><?xml version="1.0" encoding="utf-8"?>
<p:tagLst xmlns:a="http://schemas.openxmlformats.org/drawingml/2006/main" xmlns:r="http://schemas.openxmlformats.org/officeDocument/2006/relationships" xmlns:p="http://schemas.openxmlformats.org/presentationml/2006/main">
  <p:tag name="THINKCELLSHAPEDONOTDELETE" val="teuZP.ii0GbHug7X1PXan2A"/>
</p:tagLst>
</file>

<file path=ppt/tags/tag1376.xml><?xml version="1.0" encoding="utf-8"?>
<p:tagLst xmlns:a="http://schemas.openxmlformats.org/drawingml/2006/main" xmlns:r="http://schemas.openxmlformats.org/officeDocument/2006/relationships" xmlns:p="http://schemas.openxmlformats.org/presentationml/2006/main">
  <p:tag name="THINKCELLSHAPEDONOTDELETE" val="to1T6fF4Hm9Jn_AW9MxksoQ"/>
</p:tagLst>
</file>

<file path=ppt/tags/tag1377.xml><?xml version="1.0" encoding="utf-8"?>
<p:tagLst xmlns:a="http://schemas.openxmlformats.org/drawingml/2006/main" xmlns:r="http://schemas.openxmlformats.org/officeDocument/2006/relationships" xmlns:p="http://schemas.openxmlformats.org/presentationml/2006/main">
  <p:tag name="THINKCELLSHAPEDONOTDELETE" val="tp51Fv7Xz5nm1A_dvwzDQHg"/>
</p:tagLst>
</file>

<file path=ppt/tags/tag1378.xml><?xml version="1.0" encoding="utf-8"?>
<p:tagLst xmlns:a="http://schemas.openxmlformats.org/drawingml/2006/main" xmlns:r="http://schemas.openxmlformats.org/officeDocument/2006/relationships" xmlns:p="http://schemas.openxmlformats.org/presentationml/2006/main">
  <p:tag name="THINKCELLSHAPEDONOTDELETE" val="t59NaurWYkS3CvBmDN_SrzA"/>
</p:tagLst>
</file>

<file path=ppt/tags/tag1379.xml><?xml version="1.0" encoding="utf-8"?>
<p:tagLst xmlns:a="http://schemas.openxmlformats.org/drawingml/2006/main" xmlns:r="http://schemas.openxmlformats.org/officeDocument/2006/relationships" xmlns:p="http://schemas.openxmlformats.org/presentationml/2006/main">
  <p:tag name="THINKCELLSHAPEDONOTDELETE" val="tNlp9HlomXLle7ENZNb7oPA"/>
</p:tagLst>
</file>

<file path=ppt/tags/tag1380.xml><?xml version="1.0" encoding="utf-8"?>
<p:tagLst xmlns:a="http://schemas.openxmlformats.org/drawingml/2006/main" xmlns:r="http://schemas.openxmlformats.org/officeDocument/2006/relationships" xmlns:p="http://schemas.openxmlformats.org/presentationml/2006/main">
  <p:tag name="THINKCELLSHAPEDONOTDELETE" val="tyLN9FnjSHVs8P.tz7v98GQ"/>
</p:tagLst>
</file>

<file path=ppt/tags/tag1381.xml><?xml version="1.0" encoding="utf-8"?>
<p:tagLst xmlns:a="http://schemas.openxmlformats.org/drawingml/2006/main" xmlns:r="http://schemas.openxmlformats.org/officeDocument/2006/relationships" xmlns:p="http://schemas.openxmlformats.org/presentationml/2006/main">
  <p:tag name="THINKCELLSHAPEDONOTDELETE" val="tRUJr6.Ib1aMXfmtGsHmTGw"/>
</p:tagLst>
</file>

<file path=ppt/tags/tag1382.xml><?xml version="1.0" encoding="utf-8"?>
<p:tagLst xmlns:a="http://schemas.openxmlformats.org/drawingml/2006/main" xmlns:r="http://schemas.openxmlformats.org/officeDocument/2006/relationships" xmlns:p="http://schemas.openxmlformats.org/presentationml/2006/main">
  <p:tag name="THINKCELLSHAPEDONOTDELETE" val="tbqcz13qn9DamrDfQhZRYxA"/>
</p:tagLst>
</file>

<file path=ppt/tags/tag1383.xml><?xml version="1.0" encoding="utf-8"?>
<p:tagLst xmlns:a="http://schemas.openxmlformats.org/drawingml/2006/main" xmlns:r="http://schemas.openxmlformats.org/officeDocument/2006/relationships" xmlns:p="http://schemas.openxmlformats.org/presentationml/2006/main">
  <p:tag name="THINKCELLSHAPEDONOTDELETE" val="tGo_nTtlQFJeLaeMt1egmmw"/>
</p:tagLst>
</file>

<file path=ppt/tags/tag1384.xml><?xml version="1.0" encoding="utf-8"?>
<p:tagLst xmlns:a="http://schemas.openxmlformats.org/drawingml/2006/main" xmlns:r="http://schemas.openxmlformats.org/officeDocument/2006/relationships" xmlns:p="http://schemas.openxmlformats.org/presentationml/2006/main">
  <p:tag name="THINKCELLSHAPEDONOTDELETE" val="tQAQmqqT4NMeqpnp9dY7ipA"/>
</p:tagLst>
</file>

<file path=ppt/tags/tag1385.xml><?xml version="1.0" encoding="utf-8"?>
<p:tagLst xmlns:a="http://schemas.openxmlformats.org/drawingml/2006/main" xmlns:r="http://schemas.openxmlformats.org/officeDocument/2006/relationships" xmlns:p="http://schemas.openxmlformats.org/presentationml/2006/main">
  <p:tag name="THINKCELLSHAPEDONOTDELETE" val="tQyClDy4T7GkUHQblzp.d_w"/>
</p:tagLst>
</file>

<file path=ppt/tags/tag1386.xml><?xml version="1.0" encoding="utf-8"?>
<p:tagLst xmlns:a="http://schemas.openxmlformats.org/drawingml/2006/main" xmlns:r="http://schemas.openxmlformats.org/officeDocument/2006/relationships" xmlns:p="http://schemas.openxmlformats.org/presentationml/2006/main">
  <p:tag name="THINKCELLSHAPEDONOTDELETE" val="tvxUsHUm4h91XhLs3B1Upvw"/>
</p:tagLst>
</file>

<file path=ppt/tags/tag1387.xml><?xml version="1.0" encoding="utf-8"?>
<p:tagLst xmlns:a="http://schemas.openxmlformats.org/drawingml/2006/main" xmlns:r="http://schemas.openxmlformats.org/officeDocument/2006/relationships" xmlns:p="http://schemas.openxmlformats.org/presentationml/2006/main">
  <p:tag name="THINKCELLSHAPEDONOTDELETE" val="tn1vulPU710JQLqcM1WUhSg"/>
</p:tagLst>
</file>

<file path=ppt/tags/tag1388.xml><?xml version="1.0" encoding="utf-8"?>
<p:tagLst xmlns:a="http://schemas.openxmlformats.org/drawingml/2006/main" xmlns:r="http://schemas.openxmlformats.org/officeDocument/2006/relationships" xmlns:p="http://schemas.openxmlformats.org/presentationml/2006/main">
  <p:tag name="THINKCELLSHAPEDONOTDELETE" val="tOhHPwEXEMJc7SakcCm8S5g"/>
</p:tagLst>
</file>

<file path=ppt/tags/tag1389.xml><?xml version="1.0" encoding="utf-8"?>
<p:tagLst xmlns:a="http://schemas.openxmlformats.org/drawingml/2006/main" xmlns:r="http://schemas.openxmlformats.org/officeDocument/2006/relationships" xmlns:p="http://schemas.openxmlformats.org/presentationml/2006/main">
  <p:tag name="THINKCELLSHAPEDONOTDELETE" val="trU4GmYhHgxqhkPoEIlx6gA"/>
</p:tagLst>
</file>

<file path=ppt/tags/tag1390.xml><?xml version="1.0" encoding="utf-8"?>
<p:tagLst xmlns:a="http://schemas.openxmlformats.org/drawingml/2006/main" xmlns:r="http://schemas.openxmlformats.org/officeDocument/2006/relationships" xmlns:p="http://schemas.openxmlformats.org/presentationml/2006/main">
  <p:tag name="THINKCELLSHAPEDONOTDELETE" val="tp6ypA7bR7bu06jwvbBe2Hg"/>
</p:tagLst>
</file>

<file path=ppt/tags/tag1391.xml><?xml version="1.0" encoding="utf-8"?>
<p:tagLst xmlns:a="http://schemas.openxmlformats.org/drawingml/2006/main" xmlns:r="http://schemas.openxmlformats.org/officeDocument/2006/relationships" xmlns:p="http://schemas.openxmlformats.org/presentationml/2006/main">
  <p:tag name="THINKCELLSHAPEDONOTDELETE" val="tDMpdysygQPLz9afZZlB.fg"/>
</p:tagLst>
</file>

<file path=ppt/tags/tag1392.xml><?xml version="1.0" encoding="utf-8"?>
<p:tagLst xmlns:a="http://schemas.openxmlformats.org/drawingml/2006/main" xmlns:r="http://schemas.openxmlformats.org/officeDocument/2006/relationships" xmlns:p="http://schemas.openxmlformats.org/presentationml/2006/main">
  <p:tag name="THINKCELLSHAPEDONOTDELETE" val="tVsjgUEpIIQkSbxntAebpug"/>
</p:tagLst>
</file>

<file path=ppt/tags/tag1393.xml><?xml version="1.0" encoding="utf-8"?>
<p:tagLst xmlns:a="http://schemas.openxmlformats.org/drawingml/2006/main" xmlns:r="http://schemas.openxmlformats.org/officeDocument/2006/relationships" xmlns:p="http://schemas.openxmlformats.org/presentationml/2006/main">
  <p:tag name="THINKCELLSHAPEDONOTDELETE" val="tr7gYN8RWOw97PRpCDUokZw"/>
</p:tagLst>
</file>

<file path=ppt/tags/tag1394.xml><?xml version="1.0" encoding="utf-8"?>
<p:tagLst xmlns:a="http://schemas.openxmlformats.org/drawingml/2006/main" xmlns:r="http://schemas.openxmlformats.org/officeDocument/2006/relationships" xmlns:p="http://schemas.openxmlformats.org/presentationml/2006/main">
  <p:tag name="THINKCELLSHAPEDONOTDELETE" val="t0qdStLDxfE4iVFIUdsQFlw"/>
</p:tagLst>
</file>

<file path=ppt/tags/tag1395.xml><?xml version="1.0" encoding="utf-8"?>
<p:tagLst xmlns:a="http://schemas.openxmlformats.org/drawingml/2006/main" xmlns:r="http://schemas.openxmlformats.org/officeDocument/2006/relationships" xmlns:p="http://schemas.openxmlformats.org/presentationml/2006/main">
  <p:tag name="THINKCELLSHAPEDONOTDELETE" val="tj389dCJsV2yDGGkYjwNbCQ"/>
</p:tagLst>
</file>

<file path=ppt/tags/tag1396.xml><?xml version="1.0" encoding="utf-8"?>
<p:tagLst xmlns:a="http://schemas.openxmlformats.org/drawingml/2006/main" xmlns:r="http://schemas.openxmlformats.org/officeDocument/2006/relationships" xmlns:p="http://schemas.openxmlformats.org/presentationml/2006/main">
  <p:tag name="THINKCELLSHAPEDONOTDELETE" val="tIOIxLmcTZZ3iKIaZi3xijg"/>
</p:tagLst>
</file>

<file path=ppt/tags/tag1397.xml><?xml version="1.0" encoding="utf-8"?>
<p:tagLst xmlns:a="http://schemas.openxmlformats.org/drawingml/2006/main" xmlns:r="http://schemas.openxmlformats.org/officeDocument/2006/relationships" xmlns:p="http://schemas.openxmlformats.org/presentationml/2006/main">
  <p:tag name="THINKCELLSHAPEDONOTDELETE" val="tC9tk1.T8wxEOTrWV9z1tGA"/>
</p:tagLst>
</file>

<file path=ppt/tags/tag1398.xml><?xml version="1.0" encoding="utf-8"?>
<p:tagLst xmlns:a="http://schemas.openxmlformats.org/drawingml/2006/main" xmlns:r="http://schemas.openxmlformats.org/officeDocument/2006/relationships" xmlns:p="http://schemas.openxmlformats.org/presentationml/2006/main">
  <p:tag name="THINKCELLSHAPEDONOTDELETE" val="tWAl9Zr7ws2iaVsMkjUe4Iw"/>
</p:tagLst>
</file>

<file path=ppt/tags/tag1399.xml><?xml version="1.0" encoding="utf-8"?>
<p:tagLst xmlns:a="http://schemas.openxmlformats.org/drawingml/2006/main" xmlns:r="http://schemas.openxmlformats.org/officeDocument/2006/relationships" xmlns:p="http://schemas.openxmlformats.org/presentationml/2006/main">
  <p:tag name="THINKCELLSHAPEDONOTDELETE" val="tBSSWmVoqsML922AGyXu3gg"/>
</p:tagLst>
</file>

<file path=ppt/tags/tag1400.xml><?xml version="1.0" encoding="utf-8"?>
<p:tagLst xmlns:a="http://schemas.openxmlformats.org/drawingml/2006/main" xmlns:r="http://schemas.openxmlformats.org/officeDocument/2006/relationships" xmlns:p="http://schemas.openxmlformats.org/presentationml/2006/main">
  <p:tag name="THINKCELLSHAPEDONOTDELETE" val="tzRbNoUNM7DDCUW5grTfIwQ"/>
</p:tagLst>
</file>

<file path=ppt/tags/tag1401.xml><?xml version="1.0" encoding="utf-8"?>
<p:tagLst xmlns:a="http://schemas.openxmlformats.org/drawingml/2006/main" xmlns:r="http://schemas.openxmlformats.org/officeDocument/2006/relationships" xmlns:p="http://schemas.openxmlformats.org/presentationml/2006/main">
  <p:tag name="THINKCELLSHAPEDONOTDELETE" val="tXpB3NbutN01wX4P4rAnHvQ"/>
</p:tagLst>
</file>

<file path=ppt/tags/tag1402.xml><?xml version="1.0" encoding="utf-8"?>
<p:tagLst xmlns:a="http://schemas.openxmlformats.org/drawingml/2006/main" xmlns:r="http://schemas.openxmlformats.org/officeDocument/2006/relationships" xmlns:p="http://schemas.openxmlformats.org/presentationml/2006/main">
  <p:tag name="THINKCELLSHAPEDONOTDELETE" val="taO6uLmB1rAtUZc0dRqwMkw"/>
</p:tagLst>
</file>

<file path=ppt/tags/tag1403.xml><?xml version="1.0" encoding="utf-8"?>
<p:tagLst xmlns:a="http://schemas.openxmlformats.org/drawingml/2006/main" xmlns:r="http://schemas.openxmlformats.org/officeDocument/2006/relationships" xmlns:p="http://schemas.openxmlformats.org/presentationml/2006/main">
  <p:tag name="THINKCELLSHAPEDONOTDELETE" val="twyGsDmSbNlyyBIjuXednag"/>
</p:tagLst>
</file>

<file path=ppt/tags/tag1404.xml><?xml version="1.0" encoding="utf-8"?>
<p:tagLst xmlns:a="http://schemas.openxmlformats.org/drawingml/2006/main" xmlns:r="http://schemas.openxmlformats.org/officeDocument/2006/relationships" xmlns:p="http://schemas.openxmlformats.org/presentationml/2006/main">
  <p:tag name="THINKCELLSHAPEDONOTDELETE" val="thYE8bQvM4q9T.HnL7fXWyg"/>
</p:tagLst>
</file>

<file path=ppt/tags/tag1405.xml><?xml version="1.0" encoding="utf-8"?>
<p:tagLst xmlns:a="http://schemas.openxmlformats.org/drawingml/2006/main" xmlns:r="http://schemas.openxmlformats.org/officeDocument/2006/relationships" xmlns:p="http://schemas.openxmlformats.org/presentationml/2006/main">
  <p:tag name="THINKCELLSHAPEDONOTDELETE" val="tU3gNUaTj2cc.gG4eIUVVmg"/>
</p:tagLst>
</file>

<file path=ppt/tags/tag1406.xml><?xml version="1.0" encoding="utf-8"?>
<p:tagLst xmlns:a="http://schemas.openxmlformats.org/drawingml/2006/main" xmlns:r="http://schemas.openxmlformats.org/officeDocument/2006/relationships" xmlns:p="http://schemas.openxmlformats.org/presentationml/2006/main">
  <p:tag name="THINKCELLSHAPEDONOTDELETE" val="t8jYo0H_Zg5rvOthGMblSOQ"/>
</p:tagLst>
</file>

<file path=ppt/tags/tag1407.xml><?xml version="1.0" encoding="utf-8"?>
<p:tagLst xmlns:a="http://schemas.openxmlformats.org/drawingml/2006/main" xmlns:r="http://schemas.openxmlformats.org/officeDocument/2006/relationships" xmlns:p="http://schemas.openxmlformats.org/presentationml/2006/main">
  <p:tag name="THINKCELLSHAPEDONOTDELETE" val="tKfYxbkBWGRTPbHP4h573vw"/>
</p:tagLst>
</file>

<file path=ppt/tags/tag1408.xml><?xml version="1.0" encoding="utf-8"?>
<p:tagLst xmlns:a="http://schemas.openxmlformats.org/drawingml/2006/main" xmlns:r="http://schemas.openxmlformats.org/officeDocument/2006/relationships" xmlns:p="http://schemas.openxmlformats.org/presentationml/2006/main">
  <p:tag name="THINKCELLSHAPEDONOTDELETE" val="t5Dx1QvXlp9HbIC5DxcaKBg"/>
</p:tagLst>
</file>

<file path=ppt/tags/tag1409.xml><?xml version="1.0" encoding="utf-8"?>
<p:tagLst xmlns:a="http://schemas.openxmlformats.org/drawingml/2006/main" xmlns:r="http://schemas.openxmlformats.org/officeDocument/2006/relationships" xmlns:p="http://schemas.openxmlformats.org/presentationml/2006/main">
  <p:tag name="THINKCELLSHAPEDONOTDELETE" val="ttcl8osoEPY8fAlMcy2gC4w"/>
</p:tagLst>
</file>

<file path=ppt/tags/tag1410.xml><?xml version="1.0" encoding="utf-8"?>
<p:tagLst xmlns:a="http://schemas.openxmlformats.org/drawingml/2006/main" xmlns:r="http://schemas.openxmlformats.org/officeDocument/2006/relationships" xmlns:p="http://schemas.openxmlformats.org/presentationml/2006/main">
  <p:tag name="THINKCELLSHAPEDONOTDELETE" val="tSCxNc6A8qLIbtjAUX2pWXg"/>
</p:tagLst>
</file>

<file path=ppt/tags/tag1411.xml><?xml version="1.0" encoding="utf-8"?>
<p:tagLst xmlns:a="http://schemas.openxmlformats.org/drawingml/2006/main" xmlns:r="http://schemas.openxmlformats.org/officeDocument/2006/relationships" xmlns:p="http://schemas.openxmlformats.org/presentationml/2006/main">
  <p:tag name="THINKCELLSHAPEDONOTDELETE" val="t5a8AWirhZhAwkmdDADlC4g"/>
</p:tagLst>
</file>

<file path=ppt/tags/tag1412.xml><?xml version="1.0" encoding="utf-8"?>
<p:tagLst xmlns:a="http://schemas.openxmlformats.org/drawingml/2006/main" xmlns:r="http://schemas.openxmlformats.org/officeDocument/2006/relationships" xmlns:p="http://schemas.openxmlformats.org/presentationml/2006/main">
  <p:tag name="THINKCELLSHAPEDONOTDELETE" val="tYa_0GgOwXSMSTmPVoS6o0g"/>
</p:tagLst>
</file>

<file path=ppt/tags/tag1413.xml><?xml version="1.0" encoding="utf-8"?>
<p:tagLst xmlns:a="http://schemas.openxmlformats.org/drawingml/2006/main" xmlns:r="http://schemas.openxmlformats.org/officeDocument/2006/relationships" xmlns:p="http://schemas.openxmlformats.org/presentationml/2006/main">
  <p:tag name="THINKCELLSHAPEDONOTDELETE" val="taD0ZQqGqxgsQ98v0wNfgXA"/>
</p:tagLst>
</file>

<file path=ppt/tags/tag1414.xml><?xml version="1.0" encoding="utf-8"?>
<p:tagLst xmlns:a="http://schemas.openxmlformats.org/drawingml/2006/main" xmlns:r="http://schemas.openxmlformats.org/officeDocument/2006/relationships" xmlns:p="http://schemas.openxmlformats.org/presentationml/2006/main">
  <p:tag name="THINKCELLSHAPEDONOTDELETE" val="t4qXgTayd4QePJKTHNX_t2w"/>
</p:tagLst>
</file>

<file path=ppt/tags/tag1415.xml><?xml version="1.0" encoding="utf-8"?>
<p:tagLst xmlns:a="http://schemas.openxmlformats.org/drawingml/2006/main" xmlns:r="http://schemas.openxmlformats.org/officeDocument/2006/relationships" xmlns:p="http://schemas.openxmlformats.org/presentationml/2006/main">
  <p:tag name="THINKCELLSHAPEDONOTDELETE" val="tWIZRgnVPPuK9GfCeueqt9Q"/>
</p:tagLst>
</file>

<file path=ppt/tags/tag1416.xml><?xml version="1.0" encoding="utf-8"?>
<p:tagLst xmlns:a="http://schemas.openxmlformats.org/drawingml/2006/main" xmlns:r="http://schemas.openxmlformats.org/officeDocument/2006/relationships" xmlns:p="http://schemas.openxmlformats.org/presentationml/2006/main">
  <p:tag name="THINKCELLSHAPEDONOTDELETE" val="tvcOZhH8Z.hoUwfx97jYqlg"/>
</p:tagLst>
</file>

<file path=ppt/tags/tag1417.xml><?xml version="1.0" encoding="utf-8"?>
<p:tagLst xmlns:a="http://schemas.openxmlformats.org/drawingml/2006/main" xmlns:r="http://schemas.openxmlformats.org/officeDocument/2006/relationships" xmlns:p="http://schemas.openxmlformats.org/presentationml/2006/main">
  <p:tag name="THINKCELLSHAPEDONOTDELETE" val="tbu0tEQg6xrNkFEYtRObhcA"/>
</p:tagLst>
</file>

<file path=ppt/tags/tag1418.xml><?xml version="1.0" encoding="utf-8"?>
<p:tagLst xmlns:a="http://schemas.openxmlformats.org/drawingml/2006/main" xmlns:r="http://schemas.openxmlformats.org/officeDocument/2006/relationships" xmlns:p="http://schemas.openxmlformats.org/presentationml/2006/main">
  <p:tag name="THINKCELLSHAPEDONOTDELETE" val="tAkl1A1u77j5iFwFti4Q_8w"/>
</p:tagLst>
</file>

<file path=ppt/tags/tag1419.xml><?xml version="1.0" encoding="utf-8"?>
<p:tagLst xmlns:a="http://schemas.openxmlformats.org/drawingml/2006/main" xmlns:r="http://schemas.openxmlformats.org/officeDocument/2006/relationships" xmlns:p="http://schemas.openxmlformats.org/presentationml/2006/main">
  <p:tag name="THINKCELLSHAPEDONOTDELETE" val="t2WZaoD67450R2jqQnaSkCw"/>
</p:tagLst>
</file>

<file path=ppt/tags/tag1420.xml><?xml version="1.0" encoding="utf-8"?>
<p:tagLst xmlns:a="http://schemas.openxmlformats.org/drawingml/2006/main" xmlns:r="http://schemas.openxmlformats.org/officeDocument/2006/relationships" xmlns:p="http://schemas.openxmlformats.org/presentationml/2006/main">
  <p:tag name="THINKCELLSHAPEDONOTDELETE" val="tV4bTJGSc5P2tDrOwvDOPBw"/>
</p:tagLst>
</file>

<file path=ppt/tags/tag1421.xml><?xml version="1.0" encoding="utf-8"?>
<p:tagLst xmlns:a="http://schemas.openxmlformats.org/drawingml/2006/main" xmlns:r="http://schemas.openxmlformats.org/officeDocument/2006/relationships" xmlns:p="http://schemas.openxmlformats.org/presentationml/2006/main">
  <p:tag name="THINKCELLSHAPEDONOTDELETE" val="tsaSagJa.IpjWgIhZXZChgQ"/>
</p:tagLst>
</file>

<file path=ppt/tags/tag1422.xml><?xml version="1.0" encoding="utf-8"?>
<p:tagLst xmlns:a="http://schemas.openxmlformats.org/drawingml/2006/main" xmlns:r="http://schemas.openxmlformats.org/officeDocument/2006/relationships" xmlns:p="http://schemas.openxmlformats.org/presentationml/2006/main">
  <p:tag name="THINKCELLSHAPEDONOTDELETE" val="tUzEsymOsOKEfcoyyYD5w5g"/>
</p:tagLst>
</file>

<file path=ppt/tags/tag1423.xml><?xml version="1.0" encoding="utf-8"?>
<p:tagLst xmlns:a="http://schemas.openxmlformats.org/drawingml/2006/main" xmlns:r="http://schemas.openxmlformats.org/officeDocument/2006/relationships" xmlns:p="http://schemas.openxmlformats.org/presentationml/2006/main">
  <p:tag name="THINKCELLSHAPEDONOTDELETE" val="t9EfhjRAmlRl1tduD3acADg"/>
</p:tagLst>
</file>

<file path=ppt/tags/tag1424.xml><?xml version="1.0" encoding="utf-8"?>
<p:tagLst xmlns:a="http://schemas.openxmlformats.org/drawingml/2006/main" xmlns:r="http://schemas.openxmlformats.org/officeDocument/2006/relationships" xmlns:p="http://schemas.openxmlformats.org/presentationml/2006/main">
  <p:tag name="THINKCELLSHAPEDONOTDELETE" val="tKzFeeuOHmy97YLYxZ1klSg"/>
</p:tagLst>
</file>

<file path=ppt/tags/tag1425.xml><?xml version="1.0" encoding="utf-8"?>
<p:tagLst xmlns:a="http://schemas.openxmlformats.org/drawingml/2006/main" xmlns:r="http://schemas.openxmlformats.org/officeDocument/2006/relationships" xmlns:p="http://schemas.openxmlformats.org/presentationml/2006/main">
  <p:tag name="THINKCELLSHAPEDONOTDELETE" val="tzzhXySKFdTLCt5xARUl94w"/>
</p:tagLst>
</file>

<file path=ppt/tags/tag1426.xml><?xml version="1.0" encoding="utf-8"?>
<p:tagLst xmlns:a="http://schemas.openxmlformats.org/drawingml/2006/main" xmlns:r="http://schemas.openxmlformats.org/officeDocument/2006/relationships" xmlns:p="http://schemas.openxmlformats.org/presentationml/2006/main">
  <p:tag name="THINKCELLSHAPEDONOTDELETE" val="tre3VpAcij1VzDmL1By48bA"/>
</p:tagLst>
</file>

<file path=ppt/tags/tag1427.xml><?xml version="1.0" encoding="utf-8"?>
<p:tagLst xmlns:a="http://schemas.openxmlformats.org/drawingml/2006/main" xmlns:r="http://schemas.openxmlformats.org/officeDocument/2006/relationships" xmlns:p="http://schemas.openxmlformats.org/presentationml/2006/main">
  <p:tag name="THINKCELLSHAPEDONOTDELETE" val="tjSw.oQ_0HyPJ1MeltdzNfQ"/>
</p:tagLst>
</file>

<file path=ppt/tags/tag1428.xml><?xml version="1.0" encoding="utf-8"?>
<p:tagLst xmlns:a="http://schemas.openxmlformats.org/drawingml/2006/main" xmlns:r="http://schemas.openxmlformats.org/officeDocument/2006/relationships" xmlns:p="http://schemas.openxmlformats.org/presentationml/2006/main">
  <p:tag name="THINKCELLSHAPEDONOTDELETE" val="t0RowuSCzNES7kjVEpFrPoA"/>
</p:tagLst>
</file>

<file path=ppt/tags/tag1429.xml><?xml version="1.0" encoding="utf-8"?>
<p:tagLst xmlns:a="http://schemas.openxmlformats.org/drawingml/2006/main" xmlns:r="http://schemas.openxmlformats.org/officeDocument/2006/relationships" xmlns:p="http://schemas.openxmlformats.org/presentationml/2006/main">
  <p:tag name="THINKCELLSHAPEDONOTDELETE" val="tE8F9yZHjgux3_T1_BjbxNg"/>
</p:tagLst>
</file>

<file path=ppt/tags/tag1430.xml><?xml version="1.0" encoding="utf-8"?>
<p:tagLst xmlns:a="http://schemas.openxmlformats.org/drawingml/2006/main" xmlns:r="http://schemas.openxmlformats.org/officeDocument/2006/relationships" xmlns:p="http://schemas.openxmlformats.org/presentationml/2006/main">
  <p:tag name="THINKCELLSHAPEDONOTDELETE" val="t9yEnWSs.vfjFbw9CmZ_yLg"/>
</p:tagLst>
</file>

<file path=ppt/tags/tag1431.xml><?xml version="1.0" encoding="utf-8"?>
<p:tagLst xmlns:a="http://schemas.openxmlformats.org/drawingml/2006/main" xmlns:r="http://schemas.openxmlformats.org/officeDocument/2006/relationships" xmlns:p="http://schemas.openxmlformats.org/presentationml/2006/main">
  <p:tag name="THINKCELLSHAPEDONOTDELETE" val="tj.t3RTZK8n8E8lmB1S63OQ"/>
</p:tagLst>
</file>

<file path=ppt/tags/tag1432.xml><?xml version="1.0" encoding="utf-8"?>
<p:tagLst xmlns:a="http://schemas.openxmlformats.org/drawingml/2006/main" xmlns:r="http://schemas.openxmlformats.org/officeDocument/2006/relationships" xmlns:p="http://schemas.openxmlformats.org/presentationml/2006/main">
  <p:tag name="THINKCELLSHAPEDONOTDELETE" val="tMgRnRZdGV0uWlynkY2OPvA"/>
</p:tagLst>
</file>

<file path=ppt/tags/tag1433.xml><?xml version="1.0" encoding="utf-8"?>
<p:tagLst xmlns:a="http://schemas.openxmlformats.org/drawingml/2006/main" xmlns:r="http://schemas.openxmlformats.org/officeDocument/2006/relationships" xmlns:p="http://schemas.openxmlformats.org/presentationml/2006/main">
  <p:tag name="THINKCELLSHAPEDONOTDELETE" val="tCcianQ0OFdFkHAMyA1PslQ"/>
</p:tagLst>
</file>

<file path=ppt/tags/tag1434.xml><?xml version="1.0" encoding="utf-8"?>
<p:tagLst xmlns:a="http://schemas.openxmlformats.org/drawingml/2006/main" xmlns:r="http://schemas.openxmlformats.org/officeDocument/2006/relationships" xmlns:p="http://schemas.openxmlformats.org/presentationml/2006/main">
  <p:tag name="THINKCELLSHAPEDONOTDELETE" val="t0a.iSoTVAZMKVr1zAAFHRA"/>
</p:tagLst>
</file>

<file path=ppt/tags/tag1435.xml><?xml version="1.0" encoding="utf-8"?>
<p:tagLst xmlns:a="http://schemas.openxmlformats.org/drawingml/2006/main" xmlns:r="http://schemas.openxmlformats.org/officeDocument/2006/relationships" xmlns:p="http://schemas.openxmlformats.org/presentationml/2006/main">
  <p:tag name="THINKCELLSHAPEDONOTDELETE" val="tawbmrTT8q7VJmaQcC8Mh2g"/>
</p:tagLst>
</file>

<file path=ppt/tags/tag1436.xml><?xml version="1.0" encoding="utf-8"?>
<p:tagLst xmlns:a="http://schemas.openxmlformats.org/drawingml/2006/main" xmlns:r="http://schemas.openxmlformats.org/officeDocument/2006/relationships" xmlns:p="http://schemas.openxmlformats.org/presentationml/2006/main">
  <p:tag name="THINKCELLSHAPEDONOTDELETE" val="twlnk5Fq9rVdTcNA_r_FMYw"/>
</p:tagLst>
</file>

<file path=ppt/tags/tag1437.xml><?xml version="1.0" encoding="utf-8"?>
<p:tagLst xmlns:a="http://schemas.openxmlformats.org/drawingml/2006/main" xmlns:r="http://schemas.openxmlformats.org/officeDocument/2006/relationships" xmlns:p="http://schemas.openxmlformats.org/presentationml/2006/main">
  <p:tag name="THINKCELLSHAPEDONOTDELETE" val="t7i2AOmEWopg8cZNpzBqYqw"/>
</p:tagLst>
</file>

<file path=ppt/tags/tag1438.xml><?xml version="1.0" encoding="utf-8"?>
<p:tagLst xmlns:a="http://schemas.openxmlformats.org/drawingml/2006/main" xmlns:r="http://schemas.openxmlformats.org/officeDocument/2006/relationships" xmlns:p="http://schemas.openxmlformats.org/presentationml/2006/main">
  <p:tag name="THINKCELLSHAPEDONOTDELETE" val="tsFM6C5uIFnD3VGR1.sm2QA"/>
</p:tagLst>
</file>

<file path=ppt/tags/tag1439.xml><?xml version="1.0" encoding="utf-8"?>
<p:tagLst xmlns:a="http://schemas.openxmlformats.org/drawingml/2006/main" xmlns:r="http://schemas.openxmlformats.org/officeDocument/2006/relationships" xmlns:p="http://schemas.openxmlformats.org/presentationml/2006/main">
  <p:tag name="THINKCELLSHAPEDONOTDELETE" val="tgD5LSR8yjM66bfBko2jiRQ"/>
</p:tagLst>
</file>

<file path=ppt/tags/tag1440.xml><?xml version="1.0" encoding="utf-8"?>
<p:tagLst xmlns:a="http://schemas.openxmlformats.org/drawingml/2006/main" xmlns:r="http://schemas.openxmlformats.org/officeDocument/2006/relationships" xmlns:p="http://schemas.openxmlformats.org/presentationml/2006/main">
  <p:tag name="THINKCELLSHAPEDONOTDELETE" val="tZjGPghaCM77nQLbGey__EQ"/>
</p:tagLst>
</file>

<file path=ppt/tags/tag1441.xml><?xml version="1.0" encoding="utf-8"?>
<p:tagLst xmlns:a="http://schemas.openxmlformats.org/drawingml/2006/main" xmlns:r="http://schemas.openxmlformats.org/officeDocument/2006/relationships" xmlns:p="http://schemas.openxmlformats.org/presentationml/2006/main">
  <p:tag name="THINKCELLSHAPEDONOTDELETE" val="ta8L.iK0RL4VkU5d_1eolRw"/>
</p:tagLst>
</file>

<file path=ppt/tags/tag1442.xml><?xml version="1.0" encoding="utf-8"?>
<p:tagLst xmlns:a="http://schemas.openxmlformats.org/drawingml/2006/main" xmlns:r="http://schemas.openxmlformats.org/officeDocument/2006/relationships" xmlns:p="http://schemas.openxmlformats.org/presentationml/2006/main">
  <p:tag name="THINKCELLSHAPEDONOTDELETE" val="teixeu9HN9ojz5Lvmi9c6eQ"/>
</p:tagLst>
</file>

<file path=ppt/tags/tag1443.xml><?xml version="1.0" encoding="utf-8"?>
<p:tagLst xmlns:a="http://schemas.openxmlformats.org/drawingml/2006/main" xmlns:r="http://schemas.openxmlformats.org/officeDocument/2006/relationships" xmlns:p="http://schemas.openxmlformats.org/presentationml/2006/main">
  <p:tag name="THINKCELLSHAPEDONOTDELETE" val="ttpN3hX983Am0IXU9DWbxRg"/>
</p:tagLst>
</file>

<file path=ppt/tags/tag1444.xml><?xml version="1.0" encoding="utf-8"?>
<p:tagLst xmlns:a="http://schemas.openxmlformats.org/drawingml/2006/main" xmlns:r="http://schemas.openxmlformats.org/officeDocument/2006/relationships" xmlns:p="http://schemas.openxmlformats.org/presentationml/2006/main">
  <p:tag name="THINKCELLSHAPEDONOTDELETE" val="tLcAUnjT_X1EnlV2J7sibgQ"/>
</p:tagLst>
</file>

<file path=ppt/tags/tag1445.xml><?xml version="1.0" encoding="utf-8"?>
<p:tagLst xmlns:a="http://schemas.openxmlformats.org/drawingml/2006/main" xmlns:r="http://schemas.openxmlformats.org/officeDocument/2006/relationships" xmlns:p="http://schemas.openxmlformats.org/presentationml/2006/main">
  <p:tag name="THINKCELLSHAPEDONOTDELETE" val="tiS4jdwRAkYOUy6iT8oqbyw"/>
</p:tagLst>
</file>

<file path=ppt/tags/tag1446.xml><?xml version="1.0" encoding="utf-8"?>
<p:tagLst xmlns:a="http://schemas.openxmlformats.org/drawingml/2006/main" xmlns:r="http://schemas.openxmlformats.org/officeDocument/2006/relationships" xmlns:p="http://schemas.openxmlformats.org/presentationml/2006/main">
  <p:tag name="THINKCELLSHAPEDONOTDELETE" val="ttTWaQThHuqa91jMhcnz4yw"/>
</p:tagLst>
</file>

<file path=ppt/tags/tag1447.xml><?xml version="1.0" encoding="utf-8"?>
<p:tagLst xmlns:a="http://schemas.openxmlformats.org/drawingml/2006/main" xmlns:r="http://schemas.openxmlformats.org/officeDocument/2006/relationships" xmlns:p="http://schemas.openxmlformats.org/presentationml/2006/main">
  <p:tag name="THINKCELLSHAPEDONOTDELETE" val="ty1RsJzTSwoWrNmTPILhMGA"/>
</p:tagLst>
</file>

<file path=ppt/tags/tag1448.xml><?xml version="1.0" encoding="utf-8"?>
<p:tagLst xmlns:a="http://schemas.openxmlformats.org/drawingml/2006/main" xmlns:r="http://schemas.openxmlformats.org/officeDocument/2006/relationships" xmlns:p="http://schemas.openxmlformats.org/presentationml/2006/main">
  <p:tag name="THINKCELLSHAPEDONOTDELETE" val="t10LgWgXLs8IUrQ9pl2XOEA"/>
</p:tagLst>
</file>

<file path=ppt/tags/tag1449.xml><?xml version="1.0" encoding="utf-8"?>
<p:tagLst xmlns:a="http://schemas.openxmlformats.org/drawingml/2006/main" xmlns:r="http://schemas.openxmlformats.org/officeDocument/2006/relationships" xmlns:p="http://schemas.openxmlformats.org/presentationml/2006/main">
  <p:tag name="THINKCELLSHAPEDONOTDELETE" val="tSfo2WAR5Zs5.3UOqZug4lg"/>
</p:tagLst>
</file>

<file path=ppt/tags/tag1450.xml><?xml version="1.0" encoding="utf-8"?>
<p:tagLst xmlns:a="http://schemas.openxmlformats.org/drawingml/2006/main" xmlns:r="http://schemas.openxmlformats.org/officeDocument/2006/relationships" xmlns:p="http://schemas.openxmlformats.org/presentationml/2006/main">
  <p:tag name="THINKCELLSHAPEDONOTDELETE" val="t3_H9jf.IkLllMlQqZaljgg"/>
</p:tagLst>
</file>

<file path=ppt/tags/tag1451.xml><?xml version="1.0" encoding="utf-8"?>
<p:tagLst xmlns:a="http://schemas.openxmlformats.org/drawingml/2006/main" xmlns:r="http://schemas.openxmlformats.org/officeDocument/2006/relationships" xmlns:p="http://schemas.openxmlformats.org/presentationml/2006/main">
  <p:tag name="THINKCELLSHAPEDONOTDELETE" val="tYHIyQxrsDE4SNECedjDoWQ"/>
</p:tagLst>
</file>

<file path=ppt/tags/tag1452.xml><?xml version="1.0" encoding="utf-8"?>
<p:tagLst xmlns:a="http://schemas.openxmlformats.org/drawingml/2006/main" xmlns:r="http://schemas.openxmlformats.org/officeDocument/2006/relationships" xmlns:p="http://schemas.openxmlformats.org/presentationml/2006/main">
  <p:tag name="THINKCELLSHAPEDONOTDELETE" val="toaZOJH7W4JOC4AThNQEinA"/>
</p:tagLst>
</file>

<file path=ppt/tags/tag1453.xml><?xml version="1.0" encoding="utf-8"?>
<p:tagLst xmlns:a="http://schemas.openxmlformats.org/drawingml/2006/main" xmlns:r="http://schemas.openxmlformats.org/officeDocument/2006/relationships" xmlns:p="http://schemas.openxmlformats.org/presentationml/2006/main">
  <p:tag name="THINKCELLSHAPEDONOTDELETE" val="tfUi6eFK.nHa5e5xMxrNw8g"/>
</p:tagLst>
</file>

<file path=ppt/tags/tag1454.xml><?xml version="1.0" encoding="utf-8"?>
<p:tagLst xmlns:a="http://schemas.openxmlformats.org/drawingml/2006/main" xmlns:r="http://schemas.openxmlformats.org/officeDocument/2006/relationships" xmlns:p="http://schemas.openxmlformats.org/presentationml/2006/main">
  <p:tag name="THINKCELLSHAPEDONOTDELETE" val="tTrrZNVFU_EM47ptjvq6aMQ"/>
</p:tagLst>
</file>

<file path=ppt/tags/tag1455.xml><?xml version="1.0" encoding="utf-8"?>
<p:tagLst xmlns:a="http://schemas.openxmlformats.org/drawingml/2006/main" xmlns:r="http://schemas.openxmlformats.org/officeDocument/2006/relationships" xmlns:p="http://schemas.openxmlformats.org/presentationml/2006/main">
  <p:tag name="THINKCELLSHAPEDONOTDELETE" val="toxyAwPIwyCSAonHU.P8NVA"/>
</p:tagLst>
</file>

<file path=ppt/tags/tag1456.xml><?xml version="1.0" encoding="utf-8"?>
<p:tagLst xmlns:a="http://schemas.openxmlformats.org/drawingml/2006/main" xmlns:r="http://schemas.openxmlformats.org/officeDocument/2006/relationships" xmlns:p="http://schemas.openxmlformats.org/presentationml/2006/main">
  <p:tag name="THINKCELLSHAPEDONOTDELETE" val="ti5dSngUfd9IqoL8TQLsNPQ"/>
</p:tagLst>
</file>

<file path=ppt/tags/tag1457.xml><?xml version="1.0" encoding="utf-8"?>
<p:tagLst xmlns:a="http://schemas.openxmlformats.org/drawingml/2006/main" xmlns:r="http://schemas.openxmlformats.org/officeDocument/2006/relationships" xmlns:p="http://schemas.openxmlformats.org/presentationml/2006/main">
  <p:tag name="THINKCELLSHAPEDONOTDELETE" val="t73yu2zPLXwubr8qcLZ2OUA"/>
</p:tagLst>
</file>

<file path=ppt/tags/tag1458.xml><?xml version="1.0" encoding="utf-8"?>
<p:tagLst xmlns:a="http://schemas.openxmlformats.org/drawingml/2006/main" xmlns:r="http://schemas.openxmlformats.org/officeDocument/2006/relationships" xmlns:p="http://schemas.openxmlformats.org/presentationml/2006/main">
  <p:tag name="THINKCELLSHAPEDONOTDELETE" val="twFUyKelBeE_1rZI3gcI5sQ"/>
</p:tagLst>
</file>

<file path=ppt/tags/tag1459.xml><?xml version="1.0" encoding="utf-8"?>
<p:tagLst xmlns:a="http://schemas.openxmlformats.org/drawingml/2006/main" xmlns:r="http://schemas.openxmlformats.org/officeDocument/2006/relationships" xmlns:p="http://schemas.openxmlformats.org/presentationml/2006/main">
  <p:tag name="THINKCELLSHAPEDONOTDELETE" val="t_jKHsx2BMEfM18puxiNJ9w"/>
</p:tagLst>
</file>

<file path=ppt/tags/tag1460.xml><?xml version="1.0" encoding="utf-8"?>
<p:tagLst xmlns:a="http://schemas.openxmlformats.org/drawingml/2006/main" xmlns:r="http://schemas.openxmlformats.org/officeDocument/2006/relationships" xmlns:p="http://schemas.openxmlformats.org/presentationml/2006/main">
  <p:tag name="THINKCELLSHAPEDONOTDELETE" val="t1ZZziIx.iMPYkFlhMiLxoQ"/>
</p:tagLst>
</file>

<file path=ppt/tags/tag1461.xml><?xml version="1.0" encoding="utf-8"?>
<p:tagLst xmlns:a="http://schemas.openxmlformats.org/drawingml/2006/main" xmlns:r="http://schemas.openxmlformats.org/officeDocument/2006/relationships" xmlns:p="http://schemas.openxmlformats.org/presentationml/2006/main">
  <p:tag name="THINKCELLSHAPEDONOTDELETE" val="tuFZjsAJO9TKu5JlmZJZf2w"/>
</p:tagLst>
</file>

<file path=ppt/tags/tag1462.xml><?xml version="1.0" encoding="utf-8"?>
<p:tagLst xmlns:a="http://schemas.openxmlformats.org/drawingml/2006/main" xmlns:r="http://schemas.openxmlformats.org/officeDocument/2006/relationships" xmlns:p="http://schemas.openxmlformats.org/presentationml/2006/main">
  <p:tag name="THINKCELLSHAPEDONOTDELETE" val="tpYyqZN6B8rpdOi9H0QyuEg"/>
</p:tagLst>
</file>

<file path=ppt/tags/tag1463.xml><?xml version="1.0" encoding="utf-8"?>
<p:tagLst xmlns:a="http://schemas.openxmlformats.org/drawingml/2006/main" xmlns:r="http://schemas.openxmlformats.org/officeDocument/2006/relationships" xmlns:p="http://schemas.openxmlformats.org/presentationml/2006/main">
  <p:tag name="THINKCELLSHAPEDONOTDELETE" val="tiAa4n4jbhG6RoqH1oiXx2Q"/>
</p:tagLst>
</file>

<file path=ppt/tags/tag1464.xml><?xml version="1.0" encoding="utf-8"?>
<p:tagLst xmlns:a="http://schemas.openxmlformats.org/drawingml/2006/main" xmlns:r="http://schemas.openxmlformats.org/officeDocument/2006/relationships" xmlns:p="http://schemas.openxmlformats.org/presentationml/2006/main">
  <p:tag name="THINKCELLSHAPEDONOTDELETE" val="tsxTzTZ1yzqvp5RU4KayEHA"/>
</p:tagLst>
</file>

<file path=ppt/tags/tag1465.xml><?xml version="1.0" encoding="utf-8"?>
<p:tagLst xmlns:a="http://schemas.openxmlformats.org/drawingml/2006/main" xmlns:r="http://schemas.openxmlformats.org/officeDocument/2006/relationships" xmlns:p="http://schemas.openxmlformats.org/presentationml/2006/main">
  <p:tag name="THINKCELLSHAPEDONOTDELETE" val="tg6f3yFAAdLqioM5eT4UmBQ"/>
</p:tagLst>
</file>

<file path=ppt/tags/tag1466.xml><?xml version="1.0" encoding="utf-8"?>
<p:tagLst xmlns:a="http://schemas.openxmlformats.org/drawingml/2006/main" xmlns:r="http://schemas.openxmlformats.org/officeDocument/2006/relationships" xmlns:p="http://schemas.openxmlformats.org/presentationml/2006/main">
  <p:tag name="THINKCELLSHAPEDONOTDELETE" val="tdmm24ZqN9msMYRaiuqavqQ"/>
</p:tagLst>
</file>

<file path=ppt/tags/tag1467.xml><?xml version="1.0" encoding="utf-8"?>
<p:tagLst xmlns:a="http://schemas.openxmlformats.org/drawingml/2006/main" xmlns:r="http://schemas.openxmlformats.org/officeDocument/2006/relationships" xmlns:p="http://schemas.openxmlformats.org/presentationml/2006/main">
  <p:tag name="THINKCELLSHAPEDONOTDELETE" val="t8g75_3iWMmfr3oTzUaPTHg"/>
</p:tagLst>
</file>

<file path=ppt/tags/tag1468.xml><?xml version="1.0" encoding="utf-8"?>
<p:tagLst xmlns:a="http://schemas.openxmlformats.org/drawingml/2006/main" xmlns:r="http://schemas.openxmlformats.org/officeDocument/2006/relationships" xmlns:p="http://schemas.openxmlformats.org/presentationml/2006/main">
  <p:tag name="THINKCELLSHAPEDONOTDELETE" val="tUd3RplRH0jikEWQcc2SUOQ"/>
</p:tagLst>
</file>

<file path=ppt/tags/tag1469.xml><?xml version="1.0" encoding="utf-8"?>
<p:tagLst xmlns:a="http://schemas.openxmlformats.org/drawingml/2006/main" xmlns:r="http://schemas.openxmlformats.org/officeDocument/2006/relationships" xmlns:p="http://schemas.openxmlformats.org/presentationml/2006/main">
  <p:tag name="THINKCELLSHAPEDONOTDELETE" val="tWmwdxPQjo5oj7sNfjuJ9Jw"/>
</p:tagLst>
</file>

<file path=ppt/tags/tag1470.xml><?xml version="1.0" encoding="utf-8"?>
<p:tagLst xmlns:a="http://schemas.openxmlformats.org/drawingml/2006/main" xmlns:r="http://schemas.openxmlformats.org/officeDocument/2006/relationships" xmlns:p="http://schemas.openxmlformats.org/presentationml/2006/main">
  <p:tag name="THINKCELLSHAPEDONOTDELETE" val="tXN7psauQaWQfy9dM5qgHeA"/>
</p:tagLst>
</file>

<file path=ppt/tags/tag1471.xml><?xml version="1.0" encoding="utf-8"?>
<p:tagLst xmlns:a="http://schemas.openxmlformats.org/drawingml/2006/main" xmlns:r="http://schemas.openxmlformats.org/officeDocument/2006/relationships" xmlns:p="http://schemas.openxmlformats.org/presentationml/2006/main">
  <p:tag name="THINKCELLSHAPEDONOTDELETE" val="tgm.FIQd9QFR4CreIi8OTMw"/>
</p:tagLst>
</file>

<file path=ppt/tags/tag1472.xml><?xml version="1.0" encoding="utf-8"?>
<p:tagLst xmlns:a="http://schemas.openxmlformats.org/drawingml/2006/main" xmlns:r="http://schemas.openxmlformats.org/officeDocument/2006/relationships" xmlns:p="http://schemas.openxmlformats.org/presentationml/2006/main">
  <p:tag name="THINKCELLSHAPEDONOTDELETE" val="tFOvdhnifYLSdvV.A.F8_jQ"/>
</p:tagLst>
</file>

<file path=ppt/tags/tag1473.xml><?xml version="1.0" encoding="utf-8"?>
<p:tagLst xmlns:a="http://schemas.openxmlformats.org/drawingml/2006/main" xmlns:r="http://schemas.openxmlformats.org/officeDocument/2006/relationships" xmlns:p="http://schemas.openxmlformats.org/presentationml/2006/main">
  <p:tag name="THINKCELLSHAPEDONOTDELETE" val="tpgChcq95UvySKVfF8HS7OQ"/>
</p:tagLst>
</file>

<file path=ppt/tags/tag1474.xml><?xml version="1.0" encoding="utf-8"?>
<p:tagLst xmlns:a="http://schemas.openxmlformats.org/drawingml/2006/main" xmlns:r="http://schemas.openxmlformats.org/officeDocument/2006/relationships" xmlns:p="http://schemas.openxmlformats.org/presentationml/2006/main">
  <p:tag name="THINKCELLSHAPEDONOTDELETE" val="tzIMHolKE6P2g6WXUO2MLcg"/>
</p:tagLst>
</file>

<file path=ppt/tags/tag1475.xml><?xml version="1.0" encoding="utf-8"?>
<p:tagLst xmlns:a="http://schemas.openxmlformats.org/drawingml/2006/main" xmlns:r="http://schemas.openxmlformats.org/officeDocument/2006/relationships" xmlns:p="http://schemas.openxmlformats.org/presentationml/2006/main">
  <p:tag name="THINKCELLSHAPEDONOTDELETE" val="tC.U.Xt0rIU0SxXHlznmtdg"/>
</p:tagLst>
</file>

<file path=ppt/tags/tag1476.xml><?xml version="1.0" encoding="utf-8"?>
<p:tagLst xmlns:a="http://schemas.openxmlformats.org/drawingml/2006/main" xmlns:r="http://schemas.openxmlformats.org/officeDocument/2006/relationships" xmlns:p="http://schemas.openxmlformats.org/presentationml/2006/main">
  <p:tag name="THINKCELLSHAPEDONOTDELETE" val="t5jTrvluV84UGwrRYyYGvuA"/>
</p:tagLst>
</file>

<file path=ppt/tags/tag1477.xml><?xml version="1.0" encoding="utf-8"?>
<p:tagLst xmlns:a="http://schemas.openxmlformats.org/drawingml/2006/main" xmlns:r="http://schemas.openxmlformats.org/officeDocument/2006/relationships" xmlns:p="http://schemas.openxmlformats.org/presentationml/2006/main">
  <p:tag name="THINKCELLSHAPEDONOTDELETE" val="tBNRId8Wu.Ne28iWn6VuiQA"/>
</p:tagLst>
</file>

<file path=ppt/tags/tag1478.xml><?xml version="1.0" encoding="utf-8"?>
<p:tagLst xmlns:a="http://schemas.openxmlformats.org/drawingml/2006/main" xmlns:r="http://schemas.openxmlformats.org/officeDocument/2006/relationships" xmlns:p="http://schemas.openxmlformats.org/presentationml/2006/main">
  <p:tag name="THINKCELLSHAPEDONOTDELETE" val="thKKA6js2.Zikd3MEN111HQ"/>
</p:tagLst>
</file>

<file path=ppt/tags/tag1479.xml><?xml version="1.0" encoding="utf-8"?>
<p:tagLst xmlns:a="http://schemas.openxmlformats.org/drawingml/2006/main" xmlns:r="http://schemas.openxmlformats.org/officeDocument/2006/relationships" xmlns:p="http://schemas.openxmlformats.org/presentationml/2006/main">
  <p:tag name="THINKCELLSHAPEDONOTDELETE" val="tDPP5AcU.7k534lNJdcCwyQ"/>
</p:tagLst>
</file>

<file path=ppt/tags/tag1480.xml><?xml version="1.0" encoding="utf-8"?>
<p:tagLst xmlns:a="http://schemas.openxmlformats.org/drawingml/2006/main" xmlns:r="http://schemas.openxmlformats.org/officeDocument/2006/relationships" xmlns:p="http://schemas.openxmlformats.org/presentationml/2006/main">
  <p:tag name="THINKCELLSHAPEDONOTDELETE" val="tGRcZ635z_yu6gPjUaFeEZg"/>
</p:tagLst>
</file>

<file path=ppt/tags/tag1481.xml><?xml version="1.0" encoding="utf-8"?>
<p:tagLst xmlns:a="http://schemas.openxmlformats.org/drawingml/2006/main" xmlns:r="http://schemas.openxmlformats.org/officeDocument/2006/relationships" xmlns:p="http://schemas.openxmlformats.org/presentationml/2006/main">
  <p:tag name="THINKCELLSHAPEDONOTDELETE" val="thv3V6MifsDih5drLwufK5Q"/>
</p:tagLst>
</file>

<file path=ppt/tags/tag1482.xml><?xml version="1.0" encoding="utf-8"?>
<p:tagLst xmlns:a="http://schemas.openxmlformats.org/drawingml/2006/main" xmlns:r="http://schemas.openxmlformats.org/officeDocument/2006/relationships" xmlns:p="http://schemas.openxmlformats.org/presentationml/2006/main">
  <p:tag name="THINKCELLSHAPEDONOTDELETE" val="t2CMp_JjQIkzD_7lH6K3JSQ"/>
</p:tagLst>
</file>

<file path=ppt/tags/tag1483.xml><?xml version="1.0" encoding="utf-8"?>
<p:tagLst xmlns:a="http://schemas.openxmlformats.org/drawingml/2006/main" xmlns:r="http://schemas.openxmlformats.org/officeDocument/2006/relationships" xmlns:p="http://schemas.openxmlformats.org/presentationml/2006/main">
  <p:tag name="THINKCELLSHAPEDONOTDELETE" val="tkYZZX4cMXVjumHYOFHI6Pw"/>
</p:tagLst>
</file>

<file path=ppt/tags/tag1484.xml><?xml version="1.0" encoding="utf-8"?>
<p:tagLst xmlns:a="http://schemas.openxmlformats.org/drawingml/2006/main" xmlns:r="http://schemas.openxmlformats.org/officeDocument/2006/relationships" xmlns:p="http://schemas.openxmlformats.org/presentationml/2006/main">
  <p:tag name="THINKCELLSHAPEDONOTDELETE" val="tnnICotRYsDJCISnpP4CPPw"/>
</p:tagLst>
</file>

<file path=ppt/tags/tag1485.xml><?xml version="1.0" encoding="utf-8"?>
<p:tagLst xmlns:a="http://schemas.openxmlformats.org/drawingml/2006/main" xmlns:r="http://schemas.openxmlformats.org/officeDocument/2006/relationships" xmlns:p="http://schemas.openxmlformats.org/presentationml/2006/main">
  <p:tag name="THINKCELLSHAPEDONOTDELETE" val="tJs_kqnO3iHUV7Sx5nEtV9A"/>
</p:tagLst>
</file>

<file path=ppt/tags/tag1486.xml><?xml version="1.0" encoding="utf-8"?>
<p:tagLst xmlns:a="http://schemas.openxmlformats.org/drawingml/2006/main" xmlns:r="http://schemas.openxmlformats.org/officeDocument/2006/relationships" xmlns:p="http://schemas.openxmlformats.org/presentationml/2006/main">
  <p:tag name="THINKCELLSHAPEDONOTDELETE" val="t0V1KNN.GdGsTdjH8.JKOBA"/>
</p:tagLst>
</file>

<file path=ppt/tags/tag1487.xml><?xml version="1.0" encoding="utf-8"?>
<p:tagLst xmlns:a="http://schemas.openxmlformats.org/drawingml/2006/main" xmlns:r="http://schemas.openxmlformats.org/officeDocument/2006/relationships" xmlns:p="http://schemas.openxmlformats.org/presentationml/2006/main">
  <p:tag name="THINKCELLSHAPEDONOTDELETE" val="tUiHGOyF0.hJZKa8BezJAjw"/>
</p:tagLst>
</file>

<file path=ppt/tags/tag1488.xml><?xml version="1.0" encoding="utf-8"?>
<p:tagLst xmlns:a="http://schemas.openxmlformats.org/drawingml/2006/main" xmlns:r="http://schemas.openxmlformats.org/officeDocument/2006/relationships" xmlns:p="http://schemas.openxmlformats.org/presentationml/2006/main">
  <p:tag name="THINKCELLSHAPEDONOTDELETE" val="tMqtstZICX3wTI2BQAHa1Og"/>
</p:tagLst>
</file>

<file path=ppt/tags/tag1489.xml><?xml version="1.0" encoding="utf-8"?>
<p:tagLst xmlns:a="http://schemas.openxmlformats.org/drawingml/2006/main" xmlns:r="http://schemas.openxmlformats.org/officeDocument/2006/relationships" xmlns:p="http://schemas.openxmlformats.org/presentationml/2006/main">
  <p:tag name="THINKCELLSHAPEDONOTDELETE" val="tLr92atsSImYpOoH3C6dUgA"/>
</p:tagLst>
</file>

<file path=ppt/tags/tag1490.xml><?xml version="1.0" encoding="utf-8"?>
<p:tagLst xmlns:a="http://schemas.openxmlformats.org/drawingml/2006/main" xmlns:r="http://schemas.openxmlformats.org/officeDocument/2006/relationships" xmlns:p="http://schemas.openxmlformats.org/presentationml/2006/main">
  <p:tag name="THINKCELLSHAPEDONOTDELETE" val="tdvdZ2FJYSenQjs706NjG4Q"/>
</p:tagLst>
</file>

<file path=ppt/tags/tag1491.xml><?xml version="1.0" encoding="utf-8"?>
<p:tagLst xmlns:a="http://schemas.openxmlformats.org/drawingml/2006/main" xmlns:r="http://schemas.openxmlformats.org/officeDocument/2006/relationships" xmlns:p="http://schemas.openxmlformats.org/presentationml/2006/main">
  <p:tag name="THINKCELLSHAPEDONOTDELETE" val="tidLyfGlhtrSGtBDGAH0s0A"/>
</p:tagLst>
</file>

<file path=ppt/tags/tag1492.xml><?xml version="1.0" encoding="utf-8"?>
<p:tagLst xmlns:a="http://schemas.openxmlformats.org/drawingml/2006/main" xmlns:r="http://schemas.openxmlformats.org/officeDocument/2006/relationships" xmlns:p="http://schemas.openxmlformats.org/presentationml/2006/main">
  <p:tag name="THINKCELLSHAPEDONOTDELETE" val="tWYl6Dedjt2T8v91FeSn5vQ"/>
</p:tagLst>
</file>

<file path=ppt/tags/tag1493.xml><?xml version="1.0" encoding="utf-8"?>
<p:tagLst xmlns:a="http://schemas.openxmlformats.org/drawingml/2006/main" xmlns:r="http://schemas.openxmlformats.org/officeDocument/2006/relationships" xmlns:p="http://schemas.openxmlformats.org/presentationml/2006/main">
  <p:tag name="THINKCELLSHAPEDONOTDELETE" val="tIhlIdi_eI2MeXNWc1wjrrg"/>
</p:tagLst>
</file>

<file path=ppt/tags/tag1494.xml><?xml version="1.0" encoding="utf-8"?>
<p:tagLst xmlns:a="http://schemas.openxmlformats.org/drawingml/2006/main" xmlns:r="http://schemas.openxmlformats.org/officeDocument/2006/relationships" xmlns:p="http://schemas.openxmlformats.org/presentationml/2006/main">
  <p:tag name="THINKCELLSHAPEDONOTDELETE" val="tFke5vTNP5HQIsXF2FagT_w"/>
</p:tagLst>
</file>

<file path=ppt/tags/tag1495.xml><?xml version="1.0" encoding="utf-8"?>
<p:tagLst xmlns:a="http://schemas.openxmlformats.org/drawingml/2006/main" xmlns:r="http://schemas.openxmlformats.org/officeDocument/2006/relationships" xmlns:p="http://schemas.openxmlformats.org/presentationml/2006/main">
  <p:tag name="THINKCELLSHAPEDONOTDELETE" val="tvln2FrslVrsA8LSYhpNR_w"/>
</p:tagLst>
</file>

<file path=ppt/tags/tag1496.xml><?xml version="1.0" encoding="utf-8"?>
<p:tagLst xmlns:a="http://schemas.openxmlformats.org/drawingml/2006/main" xmlns:r="http://schemas.openxmlformats.org/officeDocument/2006/relationships" xmlns:p="http://schemas.openxmlformats.org/presentationml/2006/main">
  <p:tag name="THINKCELLSHAPEDONOTDELETE" val="tqnJNxkOQjDL0O2TMuDBiVw"/>
</p:tagLst>
</file>

<file path=ppt/tags/tag1497.xml><?xml version="1.0" encoding="utf-8"?>
<p:tagLst xmlns:a="http://schemas.openxmlformats.org/drawingml/2006/main" xmlns:r="http://schemas.openxmlformats.org/officeDocument/2006/relationships" xmlns:p="http://schemas.openxmlformats.org/presentationml/2006/main">
  <p:tag name="THINKCELLSHAPEDONOTDELETE" val="tTlkmwq72sER570e1fzSxVA"/>
</p:tagLst>
</file>

<file path=ppt/tags/tag1498.xml><?xml version="1.0" encoding="utf-8"?>
<p:tagLst xmlns:a="http://schemas.openxmlformats.org/drawingml/2006/main" xmlns:r="http://schemas.openxmlformats.org/officeDocument/2006/relationships" xmlns:p="http://schemas.openxmlformats.org/presentationml/2006/main">
  <p:tag name="THINKCELLSHAPEDONOTDELETE" val="tPpTSxGINd9eGmMiwjVTbMw"/>
</p:tagLst>
</file>

<file path=ppt/tags/tag1499.xml><?xml version="1.0" encoding="utf-8"?>
<p:tagLst xmlns:a="http://schemas.openxmlformats.org/drawingml/2006/main" xmlns:r="http://schemas.openxmlformats.org/officeDocument/2006/relationships" xmlns:p="http://schemas.openxmlformats.org/presentationml/2006/main">
  <p:tag name="THINKCELLSHAPEDONOTDELETE" val="tbeYbBXCKA.cfc8YpRDIJCA"/>
</p:tagLst>
</file>

<file path=ppt/tags/tag1500.xml><?xml version="1.0" encoding="utf-8"?>
<p:tagLst xmlns:a="http://schemas.openxmlformats.org/drawingml/2006/main" xmlns:r="http://schemas.openxmlformats.org/officeDocument/2006/relationships" xmlns:p="http://schemas.openxmlformats.org/presentationml/2006/main">
  <p:tag name="THINKCELLSHAPEDONOTDELETE" val="t5NFXegLrfPJjDCBbS_pqng"/>
</p:tagLst>
</file>

<file path=ppt/tags/tag1501.xml><?xml version="1.0" encoding="utf-8"?>
<p:tagLst xmlns:a="http://schemas.openxmlformats.org/drawingml/2006/main" xmlns:r="http://schemas.openxmlformats.org/officeDocument/2006/relationships" xmlns:p="http://schemas.openxmlformats.org/presentationml/2006/main">
  <p:tag name="THINKCELLSHAPEDONOTDELETE" val="t2Gk1ThLDxSwIoabl0ciVjQ"/>
</p:tagLst>
</file>

<file path=ppt/tags/tag1502.xml><?xml version="1.0" encoding="utf-8"?>
<p:tagLst xmlns:a="http://schemas.openxmlformats.org/drawingml/2006/main" xmlns:r="http://schemas.openxmlformats.org/officeDocument/2006/relationships" xmlns:p="http://schemas.openxmlformats.org/presentationml/2006/main">
  <p:tag name="THINKCELLSHAPEDONOTDELETE" val="tZr44FqQbrwYKgFLv3T6lWQ"/>
</p:tagLst>
</file>

<file path=ppt/tags/tag1503.xml><?xml version="1.0" encoding="utf-8"?>
<p:tagLst xmlns:a="http://schemas.openxmlformats.org/drawingml/2006/main" xmlns:r="http://schemas.openxmlformats.org/officeDocument/2006/relationships" xmlns:p="http://schemas.openxmlformats.org/presentationml/2006/main">
  <p:tag name="THINKCELLSHAPEDONOTDELETE" val="tqSA9iA659tq9sD4gOfMnWw"/>
</p:tagLst>
</file>

<file path=ppt/tags/tag1504.xml><?xml version="1.0" encoding="utf-8"?>
<p:tagLst xmlns:a="http://schemas.openxmlformats.org/drawingml/2006/main" xmlns:r="http://schemas.openxmlformats.org/officeDocument/2006/relationships" xmlns:p="http://schemas.openxmlformats.org/presentationml/2006/main">
  <p:tag name="THINKCELLSHAPEDONOTDELETE" val="t9Jyu9cs15iT6x6GEilYfSw"/>
</p:tagLst>
</file>

<file path=ppt/tags/tag1505.xml><?xml version="1.0" encoding="utf-8"?>
<p:tagLst xmlns:a="http://schemas.openxmlformats.org/drawingml/2006/main" xmlns:r="http://schemas.openxmlformats.org/officeDocument/2006/relationships" xmlns:p="http://schemas.openxmlformats.org/presentationml/2006/main">
  <p:tag name="THINKCELLSHAPEDONOTDELETE" val="tWLEpJq6LU5EITLXQ5ediSA"/>
</p:tagLst>
</file>

<file path=ppt/tags/tag1506.xml><?xml version="1.0" encoding="utf-8"?>
<p:tagLst xmlns:a="http://schemas.openxmlformats.org/drawingml/2006/main" xmlns:r="http://schemas.openxmlformats.org/officeDocument/2006/relationships" xmlns:p="http://schemas.openxmlformats.org/presentationml/2006/main">
  <p:tag name="THINKCELLSHAPEDONOTDELETE" val="teYWruMhiv0L3agiBiMw2Mw"/>
</p:tagLst>
</file>

<file path=ppt/tags/tag1507.xml><?xml version="1.0" encoding="utf-8"?>
<p:tagLst xmlns:a="http://schemas.openxmlformats.org/drawingml/2006/main" xmlns:r="http://schemas.openxmlformats.org/officeDocument/2006/relationships" xmlns:p="http://schemas.openxmlformats.org/presentationml/2006/main">
  <p:tag name="THINKCELLSHAPEDONOTDELETE" val="tWNqlGKMwwLR0xrfX.Ud7TQ"/>
</p:tagLst>
</file>

<file path=ppt/tags/tag1508.xml><?xml version="1.0" encoding="utf-8"?>
<p:tagLst xmlns:a="http://schemas.openxmlformats.org/drawingml/2006/main" xmlns:r="http://schemas.openxmlformats.org/officeDocument/2006/relationships" xmlns:p="http://schemas.openxmlformats.org/presentationml/2006/main">
  <p:tag name="THINKCELLSHAPEDONOTDELETE" val="tVmYUUdaGRXhCjvg0ZNqnZw"/>
</p:tagLst>
</file>

<file path=ppt/tags/tag1509.xml><?xml version="1.0" encoding="utf-8"?>
<p:tagLst xmlns:a="http://schemas.openxmlformats.org/drawingml/2006/main" xmlns:r="http://schemas.openxmlformats.org/officeDocument/2006/relationships" xmlns:p="http://schemas.openxmlformats.org/presentationml/2006/main">
  <p:tag name="THINKCELLSHAPEDONOTDELETE" val="tDZKgmQvRizqZ9orI3PSq2g"/>
</p:tagLst>
</file>

<file path=ppt/tags/tag1510.xml><?xml version="1.0" encoding="utf-8"?>
<p:tagLst xmlns:a="http://schemas.openxmlformats.org/drawingml/2006/main" xmlns:r="http://schemas.openxmlformats.org/officeDocument/2006/relationships" xmlns:p="http://schemas.openxmlformats.org/presentationml/2006/main">
  <p:tag name="THINKCELLSHAPEDONOTDELETE" val="tQtf9scCB6C4_dAG0QPEXJg"/>
</p:tagLst>
</file>

<file path=ppt/tags/tag1511.xml><?xml version="1.0" encoding="utf-8"?>
<p:tagLst xmlns:a="http://schemas.openxmlformats.org/drawingml/2006/main" xmlns:r="http://schemas.openxmlformats.org/officeDocument/2006/relationships" xmlns:p="http://schemas.openxmlformats.org/presentationml/2006/main">
  <p:tag name="THINKCELLSHAPEDONOTDELETE" val="tarkkTI9TjZBTMeArgEv0vg"/>
</p:tagLst>
</file>

<file path=ppt/tags/tag1512.xml><?xml version="1.0" encoding="utf-8"?>
<p:tagLst xmlns:a="http://schemas.openxmlformats.org/drawingml/2006/main" xmlns:r="http://schemas.openxmlformats.org/officeDocument/2006/relationships" xmlns:p="http://schemas.openxmlformats.org/presentationml/2006/main">
  <p:tag name="THINKCELLSHAPEDONOTDELETE" val="tEUFU_NvPCehwGaTV9xzh.A"/>
</p:tagLst>
</file>

<file path=ppt/tags/tag1513.xml><?xml version="1.0" encoding="utf-8"?>
<p:tagLst xmlns:a="http://schemas.openxmlformats.org/drawingml/2006/main" xmlns:r="http://schemas.openxmlformats.org/officeDocument/2006/relationships" xmlns:p="http://schemas.openxmlformats.org/presentationml/2006/main">
  <p:tag name="THINKCELLSHAPEDONOTDELETE" val="tXo3IHenmUTgYMq8zBroEvw"/>
</p:tagLst>
</file>

<file path=ppt/tags/tag1514.xml><?xml version="1.0" encoding="utf-8"?>
<p:tagLst xmlns:a="http://schemas.openxmlformats.org/drawingml/2006/main" xmlns:r="http://schemas.openxmlformats.org/officeDocument/2006/relationships" xmlns:p="http://schemas.openxmlformats.org/presentationml/2006/main">
  <p:tag name="THINKCELLSHAPEDONOTDELETE" val="tM8.WuJPP5HzYKUgXFQh00w"/>
</p:tagLst>
</file>

<file path=ppt/tags/tag1515.xml><?xml version="1.0" encoding="utf-8"?>
<p:tagLst xmlns:a="http://schemas.openxmlformats.org/drawingml/2006/main" xmlns:r="http://schemas.openxmlformats.org/officeDocument/2006/relationships" xmlns:p="http://schemas.openxmlformats.org/presentationml/2006/main">
  <p:tag name="THINKCELLSHAPEDONOTDELETE" val="tX5FZHM68Vlf7TBq.XWnt5w"/>
</p:tagLst>
</file>

<file path=ppt/tags/tag1516.xml><?xml version="1.0" encoding="utf-8"?>
<p:tagLst xmlns:a="http://schemas.openxmlformats.org/drawingml/2006/main" xmlns:r="http://schemas.openxmlformats.org/officeDocument/2006/relationships" xmlns:p="http://schemas.openxmlformats.org/presentationml/2006/main">
  <p:tag name="THINKCELLSHAPEDONOTDELETE" val="tuUK4Z47SzFIgR64J0ObPLA"/>
</p:tagLst>
</file>

<file path=ppt/tags/tag1517.xml><?xml version="1.0" encoding="utf-8"?>
<p:tagLst xmlns:a="http://schemas.openxmlformats.org/drawingml/2006/main" xmlns:r="http://schemas.openxmlformats.org/officeDocument/2006/relationships" xmlns:p="http://schemas.openxmlformats.org/presentationml/2006/main">
  <p:tag name="THINKCELLSHAPEDONOTDELETE" val="tGo55TQ3tCdCTpC4_zD0mfA"/>
</p:tagLst>
</file>

<file path=ppt/tags/tag1518.xml><?xml version="1.0" encoding="utf-8"?>
<p:tagLst xmlns:a="http://schemas.openxmlformats.org/drawingml/2006/main" xmlns:r="http://schemas.openxmlformats.org/officeDocument/2006/relationships" xmlns:p="http://schemas.openxmlformats.org/presentationml/2006/main">
  <p:tag name="THINKCELLSHAPEDONOTDELETE" val="tzOlN_FF.V3N2tICwZd950g"/>
</p:tagLst>
</file>

<file path=ppt/tags/tag1519.xml><?xml version="1.0" encoding="utf-8"?>
<p:tagLst xmlns:a="http://schemas.openxmlformats.org/drawingml/2006/main" xmlns:r="http://schemas.openxmlformats.org/officeDocument/2006/relationships" xmlns:p="http://schemas.openxmlformats.org/presentationml/2006/main">
  <p:tag name="THINKCELLSHAPEDONOTDELETE" val="tJct8ioaGay2.grr8D1tSEA"/>
</p:tagLst>
</file>

<file path=ppt/tags/tag1520.xml><?xml version="1.0" encoding="utf-8"?>
<p:tagLst xmlns:a="http://schemas.openxmlformats.org/drawingml/2006/main" xmlns:r="http://schemas.openxmlformats.org/officeDocument/2006/relationships" xmlns:p="http://schemas.openxmlformats.org/presentationml/2006/main">
  <p:tag name="THINKCELLSHAPEDONOTDELETE" val="tL9azjOJ83nFlCx3WyQRHkg"/>
</p:tagLst>
</file>

<file path=ppt/tags/tag1521.xml><?xml version="1.0" encoding="utf-8"?>
<p:tagLst xmlns:a="http://schemas.openxmlformats.org/drawingml/2006/main" xmlns:r="http://schemas.openxmlformats.org/officeDocument/2006/relationships" xmlns:p="http://schemas.openxmlformats.org/presentationml/2006/main">
  <p:tag name="THINKCELLSHAPEDONOTDELETE" val="tR2h.E.PwJMUDsdt14hYgDQ"/>
</p:tagLst>
</file>

<file path=ppt/tags/tag1522.xml><?xml version="1.0" encoding="utf-8"?>
<p:tagLst xmlns:a="http://schemas.openxmlformats.org/drawingml/2006/main" xmlns:r="http://schemas.openxmlformats.org/officeDocument/2006/relationships" xmlns:p="http://schemas.openxmlformats.org/presentationml/2006/main">
  <p:tag name="THINKCELLSHAPEDONOTDELETE" val="teQYJLMUztu9Kd_VAP5qj9w"/>
</p:tagLst>
</file>

<file path=ppt/tags/tag1523.xml><?xml version="1.0" encoding="utf-8"?>
<p:tagLst xmlns:a="http://schemas.openxmlformats.org/drawingml/2006/main" xmlns:r="http://schemas.openxmlformats.org/officeDocument/2006/relationships" xmlns:p="http://schemas.openxmlformats.org/presentationml/2006/main">
  <p:tag name="THINKCELLSHAPEDONOTDELETE" val="tsrocFAfNI6Kpvfo77ASKQA"/>
</p:tagLst>
</file>

<file path=ppt/tags/tag1524.xml><?xml version="1.0" encoding="utf-8"?>
<p:tagLst xmlns:a="http://schemas.openxmlformats.org/drawingml/2006/main" xmlns:r="http://schemas.openxmlformats.org/officeDocument/2006/relationships" xmlns:p="http://schemas.openxmlformats.org/presentationml/2006/main">
  <p:tag name="THINKCELLSHAPEDONOTDELETE" val="tU1TdpeeNwjVuwal769Dyvw"/>
</p:tagLst>
</file>

<file path=ppt/tags/tag1525.xml><?xml version="1.0" encoding="utf-8"?>
<p:tagLst xmlns:a="http://schemas.openxmlformats.org/drawingml/2006/main" xmlns:r="http://schemas.openxmlformats.org/officeDocument/2006/relationships" xmlns:p="http://schemas.openxmlformats.org/presentationml/2006/main">
  <p:tag name="THINKCELLSHAPEDONOTDELETE" val="tsvl1E847dKqGr9y5XiznkQ"/>
</p:tagLst>
</file>

<file path=ppt/tags/tag1526.xml><?xml version="1.0" encoding="utf-8"?>
<p:tagLst xmlns:a="http://schemas.openxmlformats.org/drawingml/2006/main" xmlns:r="http://schemas.openxmlformats.org/officeDocument/2006/relationships" xmlns:p="http://schemas.openxmlformats.org/presentationml/2006/main">
  <p:tag name="THINKCELLSHAPEDONOTDELETE" val="tuBAF96BNox7H1H_tCqq.zA"/>
</p:tagLst>
</file>

<file path=ppt/tags/tag1527.xml><?xml version="1.0" encoding="utf-8"?>
<p:tagLst xmlns:a="http://schemas.openxmlformats.org/drawingml/2006/main" xmlns:r="http://schemas.openxmlformats.org/officeDocument/2006/relationships" xmlns:p="http://schemas.openxmlformats.org/presentationml/2006/main">
  <p:tag name="THINKCELLSHAPEDONOTDELETE" val="tpe1qIm.lgnBL6X2t2LsWXQ"/>
</p:tagLst>
</file>

<file path=ppt/tags/tag1528.xml><?xml version="1.0" encoding="utf-8"?>
<p:tagLst xmlns:a="http://schemas.openxmlformats.org/drawingml/2006/main" xmlns:r="http://schemas.openxmlformats.org/officeDocument/2006/relationships" xmlns:p="http://schemas.openxmlformats.org/presentationml/2006/main">
  <p:tag name="THINKCELLSHAPEDONOTDELETE" val="t1oKO9Ztzpsrm8rzSpNPUUw"/>
</p:tagLst>
</file>

<file path=ppt/tags/tag1529.xml><?xml version="1.0" encoding="utf-8"?>
<p:tagLst xmlns:a="http://schemas.openxmlformats.org/drawingml/2006/main" xmlns:r="http://schemas.openxmlformats.org/officeDocument/2006/relationships" xmlns:p="http://schemas.openxmlformats.org/presentationml/2006/main">
  <p:tag name="THINKCELLSHAPEDONOTDELETE" val="tHKUix0xsxIFIk_KGd_OkpA"/>
</p:tagLst>
</file>

<file path=ppt/tags/tag1530.xml><?xml version="1.0" encoding="utf-8"?>
<p:tagLst xmlns:a="http://schemas.openxmlformats.org/drawingml/2006/main" xmlns:r="http://schemas.openxmlformats.org/officeDocument/2006/relationships" xmlns:p="http://schemas.openxmlformats.org/presentationml/2006/main">
  <p:tag name="THINKCELLSHAPEDONOTDELETE" val="tZVXbXQR5DSPWVUAZ6Iv.Rw"/>
</p:tagLst>
</file>

<file path=ppt/tags/tag1531.xml><?xml version="1.0" encoding="utf-8"?>
<p:tagLst xmlns:a="http://schemas.openxmlformats.org/drawingml/2006/main" xmlns:r="http://schemas.openxmlformats.org/officeDocument/2006/relationships" xmlns:p="http://schemas.openxmlformats.org/presentationml/2006/main">
  <p:tag name="THINKCELLSHAPEDONOTDELETE" val="tHy9H8RyTuGppMWFrXMxsVw"/>
</p:tagLst>
</file>

<file path=ppt/tags/tag1532.xml><?xml version="1.0" encoding="utf-8"?>
<p:tagLst xmlns:a="http://schemas.openxmlformats.org/drawingml/2006/main" xmlns:r="http://schemas.openxmlformats.org/officeDocument/2006/relationships" xmlns:p="http://schemas.openxmlformats.org/presentationml/2006/main">
  <p:tag name="THINKCELLSHAPEDONOTDELETE" val="tR9OQp63laBz6A2UBgrcgLA"/>
</p:tagLst>
</file>

<file path=ppt/tags/tag1533.xml><?xml version="1.0" encoding="utf-8"?>
<p:tagLst xmlns:a="http://schemas.openxmlformats.org/drawingml/2006/main" xmlns:r="http://schemas.openxmlformats.org/officeDocument/2006/relationships" xmlns:p="http://schemas.openxmlformats.org/presentationml/2006/main">
  <p:tag name="THINKCELLSHAPEDONOTDELETE" val="t1VdBbC2CXoGrlR1ujZ5SIw"/>
</p:tagLst>
</file>

<file path=ppt/tags/tag1534.xml><?xml version="1.0" encoding="utf-8"?>
<p:tagLst xmlns:a="http://schemas.openxmlformats.org/drawingml/2006/main" xmlns:r="http://schemas.openxmlformats.org/officeDocument/2006/relationships" xmlns:p="http://schemas.openxmlformats.org/presentationml/2006/main">
  <p:tag name="THINKCELLSHAPEDONOTDELETE" val="txFpR_eVZmtyOnEQq.GsHQg"/>
</p:tagLst>
</file>

<file path=ppt/tags/tag1535.xml><?xml version="1.0" encoding="utf-8"?>
<p:tagLst xmlns:a="http://schemas.openxmlformats.org/drawingml/2006/main" xmlns:r="http://schemas.openxmlformats.org/officeDocument/2006/relationships" xmlns:p="http://schemas.openxmlformats.org/presentationml/2006/main">
  <p:tag name="THINKCELLSHAPEDONOTDELETE" val="ti08lmzpWwOgdddca_orFAw"/>
</p:tagLst>
</file>

<file path=ppt/tags/tag1536.xml><?xml version="1.0" encoding="utf-8"?>
<p:tagLst xmlns:a="http://schemas.openxmlformats.org/drawingml/2006/main" xmlns:r="http://schemas.openxmlformats.org/officeDocument/2006/relationships" xmlns:p="http://schemas.openxmlformats.org/presentationml/2006/main">
  <p:tag name="THINKCELLSHAPEDONOTDELETE" val="tJfB5y5e4olLq92BrNljYqw"/>
</p:tagLst>
</file>

<file path=ppt/tags/tag1537.xml><?xml version="1.0" encoding="utf-8"?>
<p:tagLst xmlns:a="http://schemas.openxmlformats.org/drawingml/2006/main" xmlns:r="http://schemas.openxmlformats.org/officeDocument/2006/relationships" xmlns:p="http://schemas.openxmlformats.org/presentationml/2006/main">
  <p:tag name="THINKCELLSHAPEDONOTDELETE" val="t8i8y4PXUi1QK8rLsi3ye5w"/>
</p:tagLst>
</file>

<file path=ppt/tags/tag1538.xml><?xml version="1.0" encoding="utf-8"?>
<p:tagLst xmlns:a="http://schemas.openxmlformats.org/drawingml/2006/main" xmlns:r="http://schemas.openxmlformats.org/officeDocument/2006/relationships" xmlns:p="http://schemas.openxmlformats.org/presentationml/2006/main">
  <p:tag name="THINKCELLSHAPEDONOTDELETE" val="tMdTMvy4OQ1X8FYC34vL8eg"/>
</p:tagLst>
</file>

<file path=ppt/tags/tag1539.xml><?xml version="1.0" encoding="utf-8"?>
<p:tagLst xmlns:a="http://schemas.openxmlformats.org/drawingml/2006/main" xmlns:r="http://schemas.openxmlformats.org/officeDocument/2006/relationships" xmlns:p="http://schemas.openxmlformats.org/presentationml/2006/main">
  <p:tag name="THINKCELLSHAPEDONOTDELETE" val="tsEesxaUNCFfQyB4LLv3aFw"/>
</p:tagLst>
</file>

<file path=ppt/tags/tag1540.xml><?xml version="1.0" encoding="utf-8"?>
<p:tagLst xmlns:a="http://schemas.openxmlformats.org/drawingml/2006/main" xmlns:r="http://schemas.openxmlformats.org/officeDocument/2006/relationships" xmlns:p="http://schemas.openxmlformats.org/presentationml/2006/main">
  <p:tag name="THINKCELLSHAPEDONOTDELETE" val="txN5zS5KTDY53cTUgvwSoCw"/>
</p:tagLst>
</file>

<file path=ppt/tags/tag1541.xml><?xml version="1.0" encoding="utf-8"?>
<p:tagLst xmlns:a="http://schemas.openxmlformats.org/drawingml/2006/main" xmlns:r="http://schemas.openxmlformats.org/officeDocument/2006/relationships" xmlns:p="http://schemas.openxmlformats.org/presentationml/2006/main">
  <p:tag name="THINKCELLSHAPEDONOTDELETE" val="t1DAQRrQ8dYcKcZxna0thaA"/>
</p:tagLst>
</file>

<file path=ppt/tags/tag1542.xml><?xml version="1.0" encoding="utf-8"?>
<p:tagLst xmlns:a="http://schemas.openxmlformats.org/drawingml/2006/main" xmlns:r="http://schemas.openxmlformats.org/officeDocument/2006/relationships" xmlns:p="http://schemas.openxmlformats.org/presentationml/2006/main">
  <p:tag name="THINKCELLSHAPEDONOTDELETE" val="tND8JTMgD3JRjINbbtFJUzg"/>
</p:tagLst>
</file>

<file path=ppt/tags/tag1543.xml><?xml version="1.0" encoding="utf-8"?>
<p:tagLst xmlns:a="http://schemas.openxmlformats.org/drawingml/2006/main" xmlns:r="http://schemas.openxmlformats.org/officeDocument/2006/relationships" xmlns:p="http://schemas.openxmlformats.org/presentationml/2006/main">
  <p:tag name="THINKCELLSHAPEDONOTDELETE" val="tU4BQy30KDZ3gItTOM6r9ew"/>
</p:tagLst>
</file>

<file path=ppt/tags/tag1544.xml><?xml version="1.0" encoding="utf-8"?>
<p:tagLst xmlns:a="http://schemas.openxmlformats.org/drawingml/2006/main" xmlns:r="http://schemas.openxmlformats.org/officeDocument/2006/relationships" xmlns:p="http://schemas.openxmlformats.org/presentationml/2006/main">
  <p:tag name="THINKCELLSHAPEDONOTDELETE" val="tdv8xofWiOp65V6hvzQCFLA"/>
</p:tagLst>
</file>

<file path=ppt/tags/tag1545.xml><?xml version="1.0" encoding="utf-8"?>
<p:tagLst xmlns:a="http://schemas.openxmlformats.org/drawingml/2006/main" xmlns:r="http://schemas.openxmlformats.org/officeDocument/2006/relationships" xmlns:p="http://schemas.openxmlformats.org/presentationml/2006/main">
  <p:tag name="THINKCELLSHAPEDONOTDELETE" val="thSfReSG3b20LmUR8SpJ_dw"/>
</p:tagLst>
</file>

<file path=ppt/tags/tag1546.xml><?xml version="1.0" encoding="utf-8"?>
<p:tagLst xmlns:a="http://schemas.openxmlformats.org/drawingml/2006/main" xmlns:r="http://schemas.openxmlformats.org/officeDocument/2006/relationships" xmlns:p="http://schemas.openxmlformats.org/presentationml/2006/main">
  <p:tag name="THINKCELLSHAPEDONOTDELETE" val="tClNusgZi3D2xOycHM_rmfg"/>
</p:tagLst>
</file>

<file path=ppt/tags/tag1547.xml><?xml version="1.0" encoding="utf-8"?>
<p:tagLst xmlns:a="http://schemas.openxmlformats.org/drawingml/2006/main" xmlns:r="http://schemas.openxmlformats.org/officeDocument/2006/relationships" xmlns:p="http://schemas.openxmlformats.org/presentationml/2006/main">
  <p:tag name="THINKCELLSHAPEDONOTDELETE" val="tkEf2AT.Tl9dxEznj7DTisw"/>
</p:tagLst>
</file>

<file path=ppt/tags/tag1548.xml><?xml version="1.0" encoding="utf-8"?>
<p:tagLst xmlns:a="http://schemas.openxmlformats.org/drawingml/2006/main" xmlns:r="http://schemas.openxmlformats.org/officeDocument/2006/relationships" xmlns:p="http://schemas.openxmlformats.org/presentationml/2006/main">
  <p:tag name="THINKCELLSHAPEDONOTDELETE" val="ttFuUQc4uuLtf6n5GwAk94w"/>
</p:tagLst>
</file>

<file path=ppt/tags/tag1549.xml><?xml version="1.0" encoding="utf-8"?>
<p:tagLst xmlns:a="http://schemas.openxmlformats.org/drawingml/2006/main" xmlns:r="http://schemas.openxmlformats.org/officeDocument/2006/relationships" xmlns:p="http://schemas.openxmlformats.org/presentationml/2006/main">
  <p:tag name="THINKCELLSHAPEDONOTDELETE" val="tdy52C4HgT8ZEM7GklOTfFQ"/>
</p:tagLst>
</file>

<file path=ppt/tags/tag1550.xml><?xml version="1.0" encoding="utf-8"?>
<p:tagLst xmlns:a="http://schemas.openxmlformats.org/drawingml/2006/main" xmlns:r="http://schemas.openxmlformats.org/officeDocument/2006/relationships" xmlns:p="http://schemas.openxmlformats.org/presentationml/2006/main">
  <p:tag name="THINKCELLSHAPEDONOTDELETE" val="tb87pNGn4dUs8.5g0jZfB5A"/>
</p:tagLst>
</file>

<file path=ppt/tags/tag1551.xml><?xml version="1.0" encoding="utf-8"?>
<p:tagLst xmlns:a="http://schemas.openxmlformats.org/drawingml/2006/main" xmlns:r="http://schemas.openxmlformats.org/officeDocument/2006/relationships" xmlns:p="http://schemas.openxmlformats.org/presentationml/2006/main">
  <p:tag name="THINKCELLSHAPEDONOTDELETE" val="tvN1avN445cIxkwXzUUPFow"/>
</p:tagLst>
</file>

<file path=ppt/tags/tag1552.xml><?xml version="1.0" encoding="utf-8"?>
<p:tagLst xmlns:a="http://schemas.openxmlformats.org/drawingml/2006/main" xmlns:r="http://schemas.openxmlformats.org/officeDocument/2006/relationships" xmlns:p="http://schemas.openxmlformats.org/presentationml/2006/main">
  <p:tag name="THINKCELLSHAPEDONOTDELETE" val="t0KJ.TR29wBKj4Y4M_p6cLQ"/>
</p:tagLst>
</file>

<file path=ppt/tags/tag1553.xml><?xml version="1.0" encoding="utf-8"?>
<p:tagLst xmlns:a="http://schemas.openxmlformats.org/drawingml/2006/main" xmlns:r="http://schemas.openxmlformats.org/officeDocument/2006/relationships" xmlns:p="http://schemas.openxmlformats.org/presentationml/2006/main">
  <p:tag name="THINKCELLSHAPEDONOTDELETE" val="tj6zSysFC4lQIysWXP6BCLA"/>
</p:tagLst>
</file>

<file path=ppt/tags/tag1554.xml><?xml version="1.0" encoding="utf-8"?>
<p:tagLst xmlns:a="http://schemas.openxmlformats.org/drawingml/2006/main" xmlns:r="http://schemas.openxmlformats.org/officeDocument/2006/relationships" xmlns:p="http://schemas.openxmlformats.org/presentationml/2006/main">
  <p:tag name="THINKCELLSHAPEDONOTDELETE" val="tDitaHhdCnFQmkvdnwICzUA"/>
</p:tagLst>
</file>

<file path=ppt/tags/tag1555.xml><?xml version="1.0" encoding="utf-8"?>
<p:tagLst xmlns:a="http://schemas.openxmlformats.org/drawingml/2006/main" xmlns:r="http://schemas.openxmlformats.org/officeDocument/2006/relationships" xmlns:p="http://schemas.openxmlformats.org/presentationml/2006/main">
  <p:tag name="THINKCELLSHAPEDONOTDELETE" val="tluzYJ7Yu7SpYJ7PbXwtsrA"/>
</p:tagLst>
</file>

<file path=ppt/tags/tag1556.xml><?xml version="1.0" encoding="utf-8"?>
<p:tagLst xmlns:a="http://schemas.openxmlformats.org/drawingml/2006/main" xmlns:r="http://schemas.openxmlformats.org/officeDocument/2006/relationships" xmlns:p="http://schemas.openxmlformats.org/presentationml/2006/main">
  <p:tag name="THINKCELLSHAPEDONOTDELETE" val="tOm8P2iEaGVohXQ1lWWtFew"/>
</p:tagLst>
</file>

<file path=ppt/tags/tag1557.xml><?xml version="1.0" encoding="utf-8"?>
<p:tagLst xmlns:a="http://schemas.openxmlformats.org/drawingml/2006/main" xmlns:r="http://schemas.openxmlformats.org/officeDocument/2006/relationships" xmlns:p="http://schemas.openxmlformats.org/presentationml/2006/main">
  <p:tag name="THINKCELLSHAPEDONOTDELETE" val="tlCb4ANavRobanBJfI8nqeA"/>
</p:tagLst>
</file>

<file path=ppt/tags/tag1558.xml><?xml version="1.0" encoding="utf-8"?>
<p:tagLst xmlns:a="http://schemas.openxmlformats.org/drawingml/2006/main" xmlns:r="http://schemas.openxmlformats.org/officeDocument/2006/relationships" xmlns:p="http://schemas.openxmlformats.org/presentationml/2006/main">
  <p:tag name="THINKCELLSHAPEDONOTDELETE" val="tjJNKRYmSlIXNnpZSKdiXpg"/>
</p:tagLst>
</file>

<file path=ppt/tags/tag1559.xml><?xml version="1.0" encoding="utf-8"?>
<p:tagLst xmlns:a="http://schemas.openxmlformats.org/drawingml/2006/main" xmlns:r="http://schemas.openxmlformats.org/officeDocument/2006/relationships" xmlns:p="http://schemas.openxmlformats.org/presentationml/2006/main">
  <p:tag name="THINKCELLSHAPEDONOTDELETE" val="tPojUH_B4fkztFFqNADVl0A"/>
</p:tagLst>
</file>

<file path=ppt/tags/tag1560.xml><?xml version="1.0" encoding="utf-8"?>
<p:tagLst xmlns:a="http://schemas.openxmlformats.org/drawingml/2006/main" xmlns:r="http://schemas.openxmlformats.org/officeDocument/2006/relationships" xmlns:p="http://schemas.openxmlformats.org/presentationml/2006/main">
  <p:tag name="THINKCELLSHAPEDONOTDELETE" val="th5IHh9thP5L_JcMYJKC_Hw"/>
</p:tagLst>
</file>

<file path=ppt/tags/tag1561.xml><?xml version="1.0" encoding="utf-8"?>
<p:tagLst xmlns:a="http://schemas.openxmlformats.org/drawingml/2006/main" xmlns:r="http://schemas.openxmlformats.org/officeDocument/2006/relationships" xmlns:p="http://schemas.openxmlformats.org/presentationml/2006/main">
  <p:tag name="THINKCELLSHAPEDONOTDELETE" val="tjnJr14hkjYtS_6_awEeUQQ"/>
</p:tagLst>
</file>

<file path=ppt/tags/tag1562.xml><?xml version="1.0" encoding="utf-8"?>
<p:tagLst xmlns:a="http://schemas.openxmlformats.org/drawingml/2006/main" xmlns:r="http://schemas.openxmlformats.org/officeDocument/2006/relationships" xmlns:p="http://schemas.openxmlformats.org/presentationml/2006/main">
  <p:tag name="THINKCELLSHAPEDONOTDELETE" val="tZCBCAzNKb7XGV9EL.8hTqA"/>
</p:tagLst>
</file>

<file path=ppt/tags/tag156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64.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56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66.xml><?xml version="1.0" encoding="utf-8"?>
<p:tagLst xmlns:a="http://schemas.openxmlformats.org/drawingml/2006/main" xmlns:r="http://schemas.openxmlformats.org/officeDocument/2006/relationships" xmlns:p="http://schemas.openxmlformats.org/presentationml/2006/main">
  <p:tag name="THINKCELLSHAPEDONOTDELETE" val="t4olG00rfmC8Ykh6c9OcP_Q"/>
</p:tagLst>
</file>

<file path=ppt/tags/tag1567.xml><?xml version="1.0" encoding="utf-8"?>
<p:tagLst xmlns:a="http://schemas.openxmlformats.org/drawingml/2006/main" xmlns:r="http://schemas.openxmlformats.org/officeDocument/2006/relationships" xmlns:p="http://schemas.openxmlformats.org/presentationml/2006/main">
  <p:tag name="HEADER" val="True"/>
</p:tagLst>
</file>

<file path=ppt/tags/tag1568.xml><?xml version="1.0" encoding="utf-8"?>
<p:tagLst xmlns:a="http://schemas.openxmlformats.org/drawingml/2006/main" xmlns:r="http://schemas.openxmlformats.org/officeDocument/2006/relationships" xmlns:p="http://schemas.openxmlformats.org/presentationml/2006/main">
  <p:tag name="THINKCELLSHAPEDONOTDELETE" val="tNh52yA7jx8gMwzIKGnzX5w"/>
</p:tagLst>
</file>

<file path=ppt/tags/tag1569.xml><?xml version="1.0" encoding="utf-8"?>
<p:tagLst xmlns:a="http://schemas.openxmlformats.org/drawingml/2006/main" xmlns:r="http://schemas.openxmlformats.org/officeDocument/2006/relationships" xmlns:p="http://schemas.openxmlformats.org/presentationml/2006/main">
  <p:tag name="THINKCELLSHAPEDONOTDELETE" val="tkwQ5XOjpRuZzc7xCC4Osiw"/>
</p:tagLst>
</file>

<file path=ppt/tags/tag1570.xml><?xml version="1.0" encoding="utf-8"?>
<p:tagLst xmlns:a="http://schemas.openxmlformats.org/drawingml/2006/main" xmlns:r="http://schemas.openxmlformats.org/officeDocument/2006/relationships" xmlns:p="http://schemas.openxmlformats.org/presentationml/2006/main">
  <p:tag name="THINKCELLSHAPEDONOTDELETE" val="t7KIfXqeS5pCIsASXu_z3Mw"/>
</p:tagLst>
</file>

<file path=ppt/tags/tag1571.xml><?xml version="1.0" encoding="utf-8"?>
<p:tagLst xmlns:a="http://schemas.openxmlformats.org/drawingml/2006/main" xmlns:r="http://schemas.openxmlformats.org/officeDocument/2006/relationships" xmlns:p="http://schemas.openxmlformats.org/presentationml/2006/main">
  <p:tag name="THINKCELLSHAPEDONOTDELETE" val="t.phkuTWvBxa7USOB96NxhA"/>
</p:tagLst>
</file>

<file path=ppt/tags/tag1572.xml><?xml version="1.0" encoding="utf-8"?>
<p:tagLst xmlns:a="http://schemas.openxmlformats.org/drawingml/2006/main" xmlns:r="http://schemas.openxmlformats.org/officeDocument/2006/relationships" xmlns:p="http://schemas.openxmlformats.org/presentationml/2006/main">
  <p:tag name="THINKCELLSHAPEDONOTDELETE" val="t4L7_Emo4wqu7kmSs.gdyWw"/>
</p:tagLst>
</file>

<file path=ppt/tags/tag1573.xml><?xml version="1.0" encoding="utf-8"?>
<p:tagLst xmlns:a="http://schemas.openxmlformats.org/drawingml/2006/main" xmlns:r="http://schemas.openxmlformats.org/officeDocument/2006/relationships" xmlns:p="http://schemas.openxmlformats.org/presentationml/2006/main">
  <p:tag name="THINKCELLSHAPEDONOTDELETE" val="tkSUs8PS4BSDDakAXcsODIg"/>
</p:tagLst>
</file>

<file path=ppt/tags/tag1574.xml><?xml version="1.0" encoding="utf-8"?>
<p:tagLst xmlns:a="http://schemas.openxmlformats.org/drawingml/2006/main" xmlns:r="http://schemas.openxmlformats.org/officeDocument/2006/relationships" xmlns:p="http://schemas.openxmlformats.org/presentationml/2006/main">
  <p:tag name="THINKCELLSHAPEDONOTDELETE" val="tXoznX.HgPVzrBkzVEamNiw"/>
</p:tagLst>
</file>

<file path=ppt/tags/tag1575.xml><?xml version="1.0" encoding="utf-8"?>
<p:tagLst xmlns:a="http://schemas.openxmlformats.org/drawingml/2006/main" xmlns:r="http://schemas.openxmlformats.org/officeDocument/2006/relationships" xmlns:p="http://schemas.openxmlformats.org/presentationml/2006/main">
  <p:tag name="THINKCELLSHAPEDONOTDELETE" val="t3pIQhbuzGm01Go42CL1yrg"/>
</p:tagLst>
</file>

<file path=ppt/tags/tag1576.xml><?xml version="1.0" encoding="utf-8"?>
<p:tagLst xmlns:a="http://schemas.openxmlformats.org/drawingml/2006/main" xmlns:r="http://schemas.openxmlformats.org/officeDocument/2006/relationships" xmlns:p="http://schemas.openxmlformats.org/presentationml/2006/main">
  <p:tag name="THINKCELLSHAPEDONOTDELETE" val="teh9AvQvva_rqrghRhqgixA"/>
</p:tagLst>
</file>

<file path=ppt/tags/tag1577.xml><?xml version="1.0" encoding="utf-8"?>
<p:tagLst xmlns:a="http://schemas.openxmlformats.org/drawingml/2006/main" xmlns:r="http://schemas.openxmlformats.org/officeDocument/2006/relationships" xmlns:p="http://schemas.openxmlformats.org/presentationml/2006/main">
  <p:tag name="THINKCELLSHAPEDONOTDELETE" val="tNtsXpNUFC6w5ynRL9_hlIA"/>
</p:tagLst>
</file>

<file path=ppt/tags/tag1578.xml><?xml version="1.0" encoding="utf-8"?>
<p:tagLst xmlns:a="http://schemas.openxmlformats.org/drawingml/2006/main" xmlns:r="http://schemas.openxmlformats.org/officeDocument/2006/relationships" xmlns:p="http://schemas.openxmlformats.org/presentationml/2006/main">
  <p:tag name="THINKCELLSHAPEDONOTDELETE" val="tcAYQ.W4dVOrbTCtZ9D414Q"/>
</p:tagLst>
</file>

<file path=ppt/tags/tag157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80.xml><?xml version="1.0" encoding="utf-8"?>
<p:tagLst xmlns:a="http://schemas.openxmlformats.org/drawingml/2006/main" xmlns:r="http://schemas.openxmlformats.org/officeDocument/2006/relationships" xmlns:p="http://schemas.openxmlformats.org/presentationml/2006/main">
  <p:tag name="THINKCELLSHAPEDONOTDELETE" val="t4olG00rfmC8Ykh6c9OcP_Q"/>
</p:tagLst>
</file>

<file path=ppt/tags/tag1581.xml><?xml version="1.0" encoding="utf-8"?>
<p:tagLst xmlns:a="http://schemas.openxmlformats.org/drawingml/2006/main" xmlns:r="http://schemas.openxmlformats.org/officeDocument/2006/relationships" xmlns:p="http://schemas.openxmlformats.org/presentationml/2006/main">
  <p:tag name="HEADER" val="True"/>
</p:tagLst>
</file>

<file path=ppt/tags/tag158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83.xml><?xml version="1.0" encoding="utf-8"?>
<p:tagLst xmlns:a="http://schemas.openxmlformats.org/drawingml/2006/main" xmlns:r="http://schemas.openxmlformats.org/officeDocument/2006/relationships" xmlns:p="http://schemas.openxmlformats.org/presentationml/2006/main">
  <p:tag name="THINKCELLSHAPEDONOTDELETE" val="t4cVgJxslKUxPTLDufzmarA"/>
</p:tagLst>
</file>

<file path=ppt/tags/tag1584.xml><?xml version="1.0" encoding="utf-8"?>
<p:tagLst xmlns:a="http://schemas.openxmlformats.org/drawingml/2006/main" xmlns:r="http://schemas.openxmlformats.org/officeDocument/2006/relationships" xmlns:p="http://schemas.openxmlformats.org/presentationml/2006/main">
  <p:tag name="HEADER" val="True"/>
</p:tagLst>
</file>

<file path=ppt/tags/tag158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86.xml><?xml version="1.0" encoding="utf-8"?>
<p:tagLst xmlns:a="http://schemas.openxmlformats.org/drawingml/2006/main" xmlns:r="http://schemas.openxmlformats.org/officeDocument/2006/relationships" xmlns:p="http://schemas.openxmlformats.org/presentationml/2006/main">
  <p:tag name="THINKCELLSHAPEDONOTDELETE" val="t4cVgJxslKUxPTLDufzmarA"/>
</p:tagLst>
</file>

<file path=ppt/tags/tag1587.xml><?xml version="1.0" encoding="utf-8"?>
<p:tagLst xmlns:a="http://schemas.openxmlformats.org/drawingml/2006/main" xmlns:r="http://schemas.openxmlformats.org/officeDocument/2006/relationships" xmlns:p="http://schemas.openxmlformats.org/presentationml/2006/main">
  <p:tag name="HEADER" val="True"/>
</p:tagLst>
</file>

<file path=ppt/tags/tag158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89.xml><?xml version="1.0" encoding="utf-8"?>
<p:tagLst xmlns:a="http://schemas.openxmlformats.org/drawingml/2006/main" xmlns:r="http://schemas.openxmlformats.org/officeDocument/2006/relationships" xmlns:p="http://schemas.openxmlformats.org/presentationml/2006/main">
  <p:tag name="THINKCELLSHAPEDONOTDELETE" val="tMrgCpLDNQ1AfIV9RENFRsQ"/>
</p:tagLst>
</file>

<file path=ppt/tags/tag159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91.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592.xml><?xml version="1.0" encoding="utf-8"?>
<p:tagLst xmlns:a="http://schemas.openxmlformats.org/drawingml/2006/main" xmlns:r="http://schemas.openxmlformats.org/officeDocument/2006/relationships" xmlns:p="http://schemas.openxmlformats.org/presentationml/2006/main">
  <p:tag name="HEADER" val="True"/>
</p:tagLst>
</file>

<file path=ppt/tags/tag1593.xml><?xml version="1.0" encoding="utf-8"?>
<p:tagLst xmlns:a="http://schemas.openxmlformats.org/drawingml/2006/main" xmlns:r="http://schemas.openxmlformats.org/officeDocument/2006/relationships" xmlns:p="http://schemas.openxmlformats.org/presentationml/2006/main">
  <p:tag name="HEADER" val="True"/>
</p:tagLst>
</file>

<file path=ppt/tags/tag1594.xml><?xml version="1.0" encoding="utf-8"?>
<p:tagLst xmlns:a="http://schemas.openxmlformats.org/drawingml/2006/main" xmlns:r="http://schemas.openxmlformats.org/officeDocument/2006/relationships" xmlns:p="http://schemas.openxmlformats.org/presentationml/2006/main">
  <p:tag name="THINKCELLSHAPEDONOTDELETE" val="tUKHNKkbSTQlRx9ULU5OVSQ"/>
</p:tagLst>
</file>

<file path=ppt/tags/tag1595.xml><?xml version="1.0" encoding="utf-8"?>
<p:tagLst xmlns:a="http://schemas.openxmlformats.org/drawingml/2006/main" xmlns:r="http://schemas.openxmlformats.org/officeDocument/2006/relationships" xmlns:p="http://schemas.openxmlformats.org/presentationml/2006/main">
  <p:tag name="THINKCELLSHAPEDONOTDELETE" val="tcUyFDLfb4FWPFv_waSPQxg"/>
</p:tagLst>
</file>

<file path=ppt/tags/tag1596.xml><?xml version="1.0" encoding="utf-8"?>
<p:tagLst xmlns:a="http://schemas.openxmlformats.org/drawingml/2006/main" xmlns:r="http://schemas.openxmlformats.org/officeDocument/2006/relationships" xmlns:p="http://schemas.openxmlformats.org/presentationml/2006/main">
  <p:tag name="THINKCELLSHAPEDONOTDELETE" val="tYARfMbKh497F9IVvHEyFQw"/>
</p:tagLst>
</file>

<file path=ppt/tags/tag1597.xml><?xml version="1.0" encoding="utf-8"?>
<p:tagLst xmlns:a="http://schemas.openxmlformats.org/drawingml/2006/main" xmlns:r="http://schemas.openxmlformats.org/officeDocument/2006/relationships" xmlns:p="http://schemas.openxmlformats.org/presentationml/2006/main">
  <p:tag name="THINKCELLSHAPEDONOTDELETE" val="tPNYBlV5We7YMVt5nvS_JGg"/>
</p:tagLst>
</file>

<file path=ppt/tags/tag1598.xml><?xml version="1.0" encoding="utf-8"?>
<p:tagLst xmlns:a="http://schemas.openxmlformats.org/drawingml/2006/main" xmlns:r="http://schemas.openxmlformats.org/officeDocument/2006/relationships" xmlns:p="http://schemas.openxmlformats.org/presentationml/2006/main">
  <p:tag name="THINKCELLSHAPEDONOTDELETE" val="tvP_RISRYnoyTdHwwVNPeEQ"/>
</p:tagLst>
</file>

<file path=ppt/tags/tag1599.xml><?xml version="1.0" encoding="utf-8"?>
<p:tagLst xmlns:a="http://schemas.openxmlformats.org/drawingml/2006/main" xmlns:r="http://schemas.openxmlformats.org/officeDocument/2006/relationships" xmlns:p="http://schemas.openxmlformats.org/presentationml/2006/main">
  <p:tag name="THINKCELLSHAPEDONOTDELETE" val="ttD0_RrD_mgkwPlHvsC7YMw"/>
</p:tagLst>
</file>

<file path=ppt/tags/tag1600.xml><?xml version="1.0" encoding="utf-8"?>
<p:tagLst xmlns:a="http://schemas.openxmlformats.org/drawingml/2006/main" xmlns:r="http://schemas.openxmlformats.org/officeDocument/2006/relationships" xmlns:p="http://schemas.openxmlformats.org/presentationml/2006/main">
  <p:tag name="THINKCELLSHAPEDONOTDELETE" val="tMPMJfFQeTWzY99QkS0MtAg"/>
</p:tagLst>
</file>

<file path=ppt/tags/tag1601.xml><?xml version="1.0" encoding="utf-8"?>
<p:tagLst xmlns:a="http://schemas.openxmlformats.org/drawingml/2006/main" xmlns:r="http://schemas.openxmlformats.org/officeDocument/2006/relationships" xmlns:p="http://schemas.openxmlformats.org/presentationml/2006/main">
  <p:tag name="THINKCELLSHAPEDONOTDELETE" val="tR3_alEKut9cS_JkHz.h9Bg"/>
</p:tagLst>
</file>

<file path=ppt/tags/tag1602.xml><?xml version="1.0" encoding="utf-8"?>
<p:tagLst xmlns:a="http://schemas.openxmlformats.org/drawingml/2006/main" xmlns:r="http://schemas.openxmlformats.org/officeDocument/2006/relationships" xmlns:p="http://schemas.openxmlformats.org/presentationml/2006/main">
  <p:tag name="THINKCELLSHAPEDONOTDELETE" val="tUUI1AMzJ8BinsAJzZmegKw"/>
</p:tagLst>
</file>

<file path=ppt/tags/tag1603.xml><?xml version="1.0" encoding="utf-8"?>
<p:tagLst xmlns:a="http://schemas.openxmlformats.org/drawingml/2006/main" xmlns:r="http://schemas.openxmlformats.org/officeDocument/2006/relationships" xmlns:p="http://schemas.openxmlformats.org/presentationml/2006/main">
  <p:tag name="THINKCELLSHAPEDONOTDELETE" val="tKhjZb1WfIrd2TCgKSdkq5Q"/>
</p:tagLst>
</file>

<file path=ppt/tags/tag1604.xml><?xml version="1.0" encoding="utf-8"?>
<p:tagLst xmlns:a="http://schemas.openxmlformats.org/drawingml/2006/main" xmlns:r="http://schemas.openxmlformats.org/officeDocument/2006/relationships" xmlns:p="http://schemas.openxmlformats.org/presentationml/2006/main">
  <p:tag name="THINKCELLSHAPEDONOTDELETE" val="tJ8vSJNHTJiVvAhn9GuoG8Q"/>
</p:tagLst>
</file>

<file path=ppt/tags/tag1605.xml><?xml version="1.0" encoding="utf-8"?>
<p:tagLst xmlns:a="http://schemas.openxmlformats.org/drawingml/2006/main" xmlns:r="http://schemas.openxmlformats.org/officeDocument/2006/relationships" xmlns:p="http://schemas.openxmlformats.org/presentationml/2006/main">
  <p:tag name="THINKCELLSHAPEDONOTDELETE" val="tMQHvh68ZMcgTUpJDiqKOfA"/>
</p:tagLst>
</file>

<file path=ppt/tags/tag1606.xml><?xml version="1.0" encoding="utf-8"?>
<p:tagLst xmlns:a="http://schemas.openxmlformats.org/drawingml/2006/main" xmlns:r="http://schemas.openxmlformats.org/officeDocument/2006/relationships" xmlns:p="http://schemas.openxmlformats.org/presentationml/2006/main">
  <p:tag name="THINKCELLSHAPEDONOTDELETE" val="twv_QztMQvH4X.ODoBnJUjg"/>
</p:tagLst>
</file>

<file path=ppt/tags/tag1607.xml><?xml version="1.0" encoding="utf-8"?>
<p:tagLst xmlns:a="http://schemas.openxmlformats.org/drawingml/2006/main" xmlns:r="http://schemas.openxmlformats.org/officeDocument/2006/relationships" xmlns:p="http://schemas.openxmlformats.org/presentationml/2006/main">
  <p:tag name="THINKCELLSHAPEDONOTDELETE" val="tuWlZFK9lGvg1X3JP47yjSQ"/>
</p:tagLst>
</file>

<file path=ppt/tags/tag1608.xml><?xml version="1.0" encoding="utf-8"?>
<p:tagLst xmlns:a="http://schemas.openxmlformats.org/drawingml/2006/main" xmlns:r="http://schemas.openxmlformats.org/officeDocument/2006/relationships" xmlns:p="http://schemas.openxmlformats.org/presentationml/2006/main">
  <p:tag name="THINKCELLSHAPEDONOTDELETE" val="t1Mtc_EKRxtwzo53g47X0pg"/>
</p:tagLst>
</file>

<file path=ppt/tags/tag1609.xml><?xml version="1.0" encoding="utf-8"?>
<p:tagLst xmlns:a="http://schemas.openxmlformats.org/drawingml/2006/main" xmlns:r="http://schemas.openxmlformats.org/officeDocument/2006/relationships" xmlns:p="http://schemas.openxmlformats.org/presentationml/2006/main">
  <p:tag name="THINKCELLSHAPEDONOTDELETE" val="tZUXOaFLbAlZSTftH12cwnA"/>
</p:tagLst>
</file>

<file path=ppt/tags/tag1610.xml><?xml version="1.0" encoding="utf-8"?>
<p:tagLst xmlns:a="http://schemas.openxmlformats.org/drawingml/2006/main" xmlns:r="http://schemas.openxmlformats.org/officeDocument/2006/relationships" xmlns:p="http://schemas.openxmlformats.org/presentationml/2006/main">
  <p:tag name="THINKCELLSHAPEDONOTDELETE" val="tiO8mOCL_J_CxfF8Yi7uJnA"/>
</p:tagLst>
</file>

<file path=ppt/tags/tag1611.xml><?xml version="1.0" encoding="utf-8"?>
<p:tagLst xmlns:a="http://schemas.openxmlformats.org/drawingml/2006/main" xmlns:r="http://schemas.openxmlformats.org/officeDocument/2006/relationships" xmlns:p="http://schemas.openxmlformats.org/presentationml/2006/main">
  <p:tag name="THINKCELLSHAPEDONOTDELETE" val="t_rpKYdjaWm4AdC7aQRhRVg"/>
</p:tagLst>
</file>

<file path=ppt/tags/tag16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13.xml><?xml version="1.0" encoding="utf-8"?>
<p:tagLst xmlns:a="http://schemas.openxmlformats.org/drawingml/2006/main" xmlns:r="http://schemas.openxmlformats.org/officeDocument/2006/relationships" xmlns:p="http://schemas.openxmlformats.org/presentationml/2006/main">
  <p:tag name="THINKCELLSHAPEDONOTDELETE" val="t0QXed9eT81bKWfcN7.kImg"/>
</p:tagLst>
</file>

<file path=ppt/tags/tag1614.xml><?xml version="1.0" encoding="utf-8"?>
<p:tagLst xmlns:a="http://schemas.openxmlformats.org/drawingml/2006/main" xmlns:r="http://schemas.openxmlformats.org/officeDocument/2006/relationships" xmlns:p="http://schemas.openxmlformats.org/presentationml/2006/main">
  <p:tag name="HEADER" val="True"/>
</p:tagLst>
</file>

<file path=ppt/tags/tag1615.xml><?xml version="1.0" encoding="utf-8"?>
<p:tagLst xmlns:a="http://schemas.openxmlformats.org/drawingml/2006/main" xmlns:r="http://schemas.openxmlformats.org/officeDocument/2006/relationships" xmlns:p="http://schemas.openxmlformats.org/presentationml/2006/main">
  <p:tag name="HEADER" val="True"/>
</p:tagLst>
</file>

<file path=ppt/tags/tag1616.xml><?xml version="1.0" encoding="utf-8"?>
<p:tagLst xmlns:a="http://schemas.openxmlformats.org/drawingml/2006/main" xmlns:r="http://schemas.openxmlformats.org/officeDocument/2006/relationships" xmlns:p="http://schemas.openxmlformats.org/presentationml/2006/main">
  <p:tag name="THINKCELLSHAPEDONOTDELETE" val="tuE9A1GMfJE.ePBFb840JxQ"/>
</p:tagLst>
</file>

<file path=ppt/tags/tag1617.xml><?xml version="1.0" encoding="utf-8"?>
<p:tagLst xmlns:a="http://schemas.openxmlformats.org/drawingml/2006/main" xmlns:r="http://schemas.openxmlformats.org/officeDocument/2006/relationships" xmlns:p="http://schemas.openxmlformats.org/presentationml/2006/main">
  <p:tag name="THINKCELLSHAPEDONOTDELETE" val="tCFuMj_nJbT2DgKWRWBQkuA"/>
</p:tagLst>
</file>

<file path=ppt/tags/tag1618.xml><?xml version="1.0" encoding="utf-8"?>
<p:tagLst xmlns:a="http://schemas.openxmlformats.org/drawingml/2006/main" xmlns:r="http://schemas.openxmlformats.org/officeDocument/2006/relationships" xmlns:p="http://schemas.openxmlformats.org/presentationml/2006/main">
  <p:tag name="THINKCELLSHAPEDONOTDELETE" val="tAd40dikZyxhij5EFaKzGqw"/>
</p:tagLst>
</file>

<file path=ppt/tags/tag1619.xml><?xml version="1.0" encoding="utf-8"?>
<p:tagLst xmlns:a="http://schemas.openxmlformats.org/drawingml/2006/main" xmlns:r="http://schemas.openxmlformats.org/officeDocument/2006/relationships" xmlns:p="http://schemas.openxmlformats.org/presentationml/2006/main">
  <p:tag name="THINKCELLSHAPEDONOTDELETE" val="t6NTzI2AnQ.Zx3sQNaTlTSg"/>
</p:tagLst>
</file>

<file path=ppt/tags/tag1620.xml><?xml version="1.0" encoding="utf-8"?>
<p:tagLst xmlns:a="http://schemas.openxmlformats.org/drawingml/2006/main" xmlns:r="http://schemas.openxmlformats.org/officeDocument/2006/relationships" xmlns:p="http://schemas.openxmlformats.org/presentationml/2006/main">
  <p:tag name="THINKCELLSHAPEDONOTDELETE" val="t34.i8Sq4FVWAtYYfn5qnSg"/>
</p:tagLst>
</file>

<file path=ppt/tags/tag1621.xml><?xml version="1.0" encoding="utf-8"?>
<p:tagLst xmlns:a="http://schemas.openxmlformats.org/drawingml/2006/main" xmlns:r="http://schemas.openxmlformats.org/officeDocument/2006/relationships" xmlns:p="http://schemas.openxmlformats.org/presentationml/2006/main">
  <p:tag name="THINKCELLSHAPEDONOTDELETE" val="tTRi6YBkjomt8gB7zSHeGsw"/>
</p:tagLst>
</file>

<file path=ppt/tags/tag1622.xml><?xml version="1.0" encoding="utf-8"?>
<p:tagLst xmlns:a="http://schemas.openxmlformats.org/drawingml/2006/main" xmlns:r="http://schemas.openxmlformats.org/officeDocument/2006/relationships" xmlns:p="http://schemas.openxmlformats.org/presentationml/2006/main">
  <p:tag name="THINKCELLSHAPEDONOTDELETE" val="tvMYDcykyvNOngULqwWgGIw"/>
</p:tagLst>
</file>

<file path=ppt/tags/tag16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24.xml><?xml version="1.0" encoding="utf-8"?>
<p:tagLst xmlns:a="http://schemas.openxmlformats.org/drawingml/2006/main" xmlns:r="http://schemas.openxmlformats.org/officeDocument/2006/relationships" xmlns:p="http://schemas.openxmlformats.org/presentationml/2006/main">
  <p:tag name="THINKCELLSHAPEDONOTDELETE" val="tahzYbLxDVjv1aAdLM3OY0g"/>
</p:tagLst>
</file>

<file path=ppt/tags/tag1625.xml><?xml version="1.0" encoding="utf-8"?>
<p:tagLst xmlns:a="http://schemas.openxmlformats.org/drawingml/2006/main" xmlns:r="http://schemas.openxmlformats.org/officeDocument/2006/relationships" xmlns:p="http://schemas.openxmlformats.org/presentationml/2006/main">
  <p:tag name="HEADER" val="True"/>
</p:tagLst>
</file>

<file path=ppt/tags/tag1626.xml><?xml version="1.0" encoding="utf-8"?>
<p:tagLst xmlns:a="http://schemas.openxmlformats.org/drawingml/2006/main" xmlns:r="http://schemas.openxmlformats.org/officeDocument/2006/relationships" xmlns:p="http://schemas.openxmlformats.org/presentationml/2006/main">
  <p:tag name="HEADER" val="True"/>
</p:tagLst>
</file>

<file path=ppt/tags/tag1627.xml><?xml version="1.0" encoding="utf-8"?>
<p:tagLst xmlns:a="http://schemas.openxmlformats.org/drawingml/2006/main" xmlns:r="http://schemas.openxmlformats.org/officeDocument/2006/relationships" xmlns:p="http://schemas.openxmlformats.org/presentationml/2006/main">
  <p:tag name="THINKCELLSHAPEDONOTDELETE" val="tQt6sMCDvG4aNmKqsyVP35Q"/>
</p:tagLst>
</file>

<file path=ppt/tags/tag1628.xml><?xml version="1.0" encoding="utf-8"?>
<p:tagLst xmlns:a="http://schemas.openxmlformats.org/drawingml/2006/main" xmlns:r="http://schemas.openxmlformats.org/officeDocument/2006/relationships" xmlns:p="http://schemas.openxmlformats.org/presentationml/2006/main">
  <p:tag name="THINKCELLSHAPEDONOTDELETE" val="txcSCeCKAM7brJY29pO0X1g"/>
</p:tagLst>
</file>

<file path=ppt/tags/tag1629.xml><?xml version="1.0" encoding="utf-8"?>
<p:tagLst xmlns:a="http://schemas.openxmlformats.org/drawingml/2006/main" xmlns:r="http://schemas.openxmlformats.org/officeDocument/2006/relationships" xmlns:p="http://schemas.openxmlformats.org/presentationml/2006/main">
  <p:tag name="THINKCELLSHAPEDONOTDELETE" val="tLE0T4_MjwvyzgpmzefWheQ"/>
</p:tagLst>
</file>

<file path=ppt/tags/tag1630.xml><?xml version="1.0" encoding="utf-8"?>
<p:tagLst xmlns:a="http://schemas.openxmlformats.org/drawingml/2006/main" xmlns:r="http://schemas.openxmlformats.org/officeDocument/2006/relationships" xmlns:p="http://schemas.openxmlformats.org/presentationml/2006/main">
  <p:tag name="THINKCELLSHAPEDONOTDELETE" val="tmg_Q6O0rzV6HFFrbHJG12w"/>
</p:tagLst>
</file>

<file path=ppt/tags/tag1631.xml><?xml version="1.0" encoding="utf-8"?>
<p:tagLst xmlns:a="http://schemas.openxmlformats.org/drawingml/2006/main" xmlns:r="http://schemas.openxmlformats.org/officeDocument/2006/relationships" xmlns:p="http://schemas.openxmlformats.org/presentationml/2006/main">
  <p:tag name="THINKCELLSHAPEDONOTDELETE" val="trZnBMOfPc1bE5yZKCOLHHQ"/>
</p:tagLst>
</file>

<file path=ppt/tags/tag1632.xml><?xml version="1.0" encoding="utf-8"?>
<p:tagLst xmlns:a="http://schemas.openxmlformats.org/drawingml/2006/main" xmlns:r="http://schemas.openxmlformats.org/officeDocument/2006/relationships" xmlns:p="http://schemas.openxmlformats.org/presentationml/2006/main">
  <p:tag name="THINKCELLSHAPEDONOTDELETE" val="tcNRy18JqnlyaNNiKTdejgQ"/>
</p:tagLst>
</file>

<file path=ppt/tags/tag1633.xml><?xml version="1.0" encoding="utf-8"?>
<p:tagLst xmlns:a="http://schemas.openxmlformats.org/drawingml/2006/main" xmlns:r="http://schemas.openxmlformats.org/officeDocument/2006/relationships" xmlns:p="http://schemas.openxmlformats.org/presentationml/2006/main">
  <p:tag name="THINKCELLSHAPEDONOTDELETE" val="tnLFJTCFuyE_jGE2GtJO0lA"/>
</p:tagLst>
</file>

<file path=ppt/tags/tag1634.xml><?xml version="1.0" encoding="utf-8"?>
<p:tagLst xmlns:a="http://schemas.openxmlformats.org/drawingml/2006/main" xmlns:r="http://schemas.openxmlformats.org/officeDocument/2006/relationships" xmlns:p="http://schemas.openxmlformats.org/presentationml/2006/main">
  <p:tag name="THINKCELLSHAPEDONOTDELETE" val="tzCFiADXpYGXHjtvCH1JRoQ"/>
</p:tagLst>
</file>

<file path=ppt/tags/tag1635.xml><?xml version="1.0" encoding="utf-8"?>
<p:tagLst xmlns:a="http://schemas.openxmlformats.org/drawingml/2006/main" xmlns:r="http://schemas.openxmlformats.org/officeDocument/2006/relationships" xmlns:p="http://schemas.openxmlformats.org/presentationml/2006/main">
  <p:tag name="THINKCELLSHAPEDONOTDELETE" val="tBNJgoPrV3.GUjsMZ.cFtGA"/>
</p:tagLst>
</file>

<file path=ppt/tags/tag1636.xml><?xml version="1.0" encoding="utf-8"?>
<p:tagLst xmlns:a="http://schemas.openxmlformats.org/drawingml/2006/main" xmlns:r="http://schemas.openxmlformats.org/officeDocument/2006/relationships" xmlns:p="http://schemas.openxmlformats.org/presentationml/2006/main">
  <p:tag name="THINKCELLSHAPEDONOTDELETE" val="t2Tz5gaCX5iHbvlCcnuPG6A"/>
</p:tagLst>
</file>

<file path=ppt/tags/tag1637.xml><?xml version="1.0" encoding="utf-8"?>
<p:tagLst xmlns:a="http://schemas.openxmlformats.org/drawingml/2006/main" xmlns:r="http://schemas.openxmlformats.org/officeDocument/2006/relationships" xmlns:p="http://schemas.openxmlformats.org/presentationml/2006/main">
  <p:tag name="THINKCELLSHAPEDONOTDELETE" val="tFey.ZjHeVPZUtRmthqW1YQ"/>
</p:tagLst>
</file>

<file path=ppt/tags/tag1638.xml><?xml version="1.0" encoding="utf-8"?>
<p:tagLst xmlns:a="http://schemas.openxmlformats.org/drawingml/2006/main" xmlns:r="http://schemas.openxmlformats.org/officeDocument/2006/relationships" xmlns:p="http://schemas.openxmlformats.org/presentationml/2006/main">
  <p:tag name="THINKCELLSHAPEDONOTDELETE" val="tHxVNxnSvK78u4xfsMuWItQ"/>
</p:tagLst>
</file>

<file path=ppt/tags/tag1639.xml><?xml version="1.0" encoding="utf-8"?>
<p:tagLst xmlns:a="http://schemas.openxmlformats.org/drawingml/2006/main" xmlns:r="http://schemas.openxmlformats.org/officeDocument/2006/relationships" xmlns:p="http://schemas.openxmlformats.org/presentationml/2006/main">
  <p:tag name="THINKCELLSHAPEDONOTDELETE" val="tJsHUjOXBbSMhVhAx7stGEw"/>
</p:tagLst>
</file>

<file path=ppt/tags/tag1640.xml><?xml version="1.0" encoding="utf-8"?>
<p:tagLst xmlns:a="http://schemas.openxmlformats.org/drawingml/2006/main" xmlns:r="http://schemas.openxmlformats.org/officeDocument/2006/relationships" xmlns:p="http://schemas.openxmlformats.org/presentationml/2006/main">
  <p:tag name="THINKCELLSHAPEDONOTDELETE" val="tjRtmGw.PZkZIlCqm.jZV7w"/>
</p:tagLst>
</file>

<file path=ppt/tags/tag1641.xml><?xml version="1.0" encoding="utf-8"?>
<p:tagLst xmlns:a="http://schemas.openxmlformats.org/drawingml/2006/main" xmlns:r="http://schemas.openxmlformats.org/officeDocument/2006/relationships" xmlns:p="http://schemas.openxmlformats.org/presentationml/2006/main">
  <p:tag name="THINKCELLSHAPEDONOTDELETE" val="tuQOTEESmm8E2IN_.2w4ItQ"/>
</p:tagLst>
</file>

<file path=ppt/tags/tag1642.xml><?xml version="1.0" encoding="utf-8"?>
<p:tagLst xmlns:a="http://schemas.openxmlformats.org/drawingml/2006/main" xmlns:r="http://schemas.openxmlformats.org/officeDocument/2006/relationships" xmlns:p="http://schemas.openxmlformats.org/presentationml/2006/main">
  <p:tag name="THINKCELLSHAPEDONOTDELETE" val="tKhtEY07opFE_VvEQoT9x7w"/>
</p:tagLst>
</file>

<file path=ppt/tags/tag1643.xml><?xml version="1.0" encoding="utf-8"?>
<p:tagLst xmlns:a="http://schemas.openxmlformats.org/drawingml/2006/main" xmlns:r="http://schemas.openxmlformats.org/officeDocument/2006/relationships" xmlns:p="http://schemas.openxmlformats.org/presentationml/2006/main">
  <p:tag name="THINKCELLSHAPEDONOTDELETE" val="tV7BvI.BxrwK4DEa7gPpbVg"/>
</p:tagLst>
</file>

<file path=ppt/tags/tag164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45.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646.xml><?xml version="1.0" encoding="utf-8"?>
<p:tagLst xmlns:a="http://schemas.openxmlformats.org/drawingml/2006/main" xmlns:r="http://schemas.openxmlformats.org/officeDocument/2006/relationships" xmlns:p="http://schemas.openxmlformats.org/presentationml/2006/main">
  <p:tag name="HEADER" val="True"/>
</p:tagLst>
</file>

<file path=ppt/tags/tag164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48.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649.xml><?xml version="1.0" encoding="utf-8"?>
<p:tagLst xmlns:a="http://schemas.openxmlformats.org/drawingml/2006/main" xmlns:r="http://schemas.openxmlformats.org/officeDocument/2006/relationships" xmlns:p="http://schemas.openxmlformats.org/presentationml/2006/main">
  <p:tag name="HEADER" val="True"/>
</p:tagLst>
</file>

<file path=ppt/tags/tag1650.xml><?xml version="1.0" encoding="utf-8"?>
<p:tagLst xmlns:a="http://schemas.openxmlformats.org/drawingml/2006/main" xmlns:r="http://schemas.openxmlformats.org/officeDocument/2006/relationships" xmlns:p="http://schemas.openxmlformats.org/presentationml/2006/main">
  <p:tag name="HEADER" val="True"/>
</p:tagLst>
</file>

<file path=ppt/tags/tag165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52.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65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54.xml><?xml version="1.0" encoding="utf-8"?>
<p:tagLst xmlns:a="http://schemas.openxmlformats.org/drawingml/2006/main" xmlns:r="http://schemas.openxmlformats.org/officeDocument/2006/relationships" xmlns:p="http://schemas.openxmlformats.org/presentationml/2006/main">
  <p:tag name="THINKCELLSHAPEDONOTDELETE" val="tPZJN3emNuEPpDMpakLrC9g"/>
</p:tagLst>
</file>

<file path=ppt/tags/tag1655.xml><?xml version="1.0" encoding="utf-8"?>
<p:tagLst xmlns:a="http://schemas.openxmlformats.org/drawingml/2006/main" xmlns:r="http://schemas.openxmlformats.org/officeDocument/2006/relationships" xmlns:p="http://schemas.openxmlformats.org/presentationml/2006/main">
  <p:tag name="HEADER" val="True"/>
</p:tagLst>
</file>

<file path=ppt/tags/tag1656.xml><?xml version="1.0" encoding="utf-8"?>
<p:tagLst xmlns:a="http://schemas.openxmlformats.org/drawingml/2006/main" xmlns:r="http://schemas.openxmlformats.org/officeDocument/2006/relationships" xmlns:p="http://schemas.openxmlformats.org/presentationml/2006/main">
  <p:tag name="THINKCELLSHAPEDONOTDELETE" val="tW7vOcPcG2g1KGZn1oL3Dgw"/>
</p:tagLst>
</file>

<file path=ppt/tags/tag1657.xml><?xml version="1.0" encoding="utf-8"?>
<p:tagLst xmlns:a="http://schemas.openxmlformats.org/drawingml/2006/main" xmlns:r="http://schemas.openxmlformats.org/officeDocument/2006/relationships" xmlns:p="http://schemas.openxmlformats.org/presentationml/2006/main">
  <p:tag name="THINKCELLSHAPEDONOTDELETE" val="tsUHOmxluZSwv6vAK8E52VA"/>
</p:tagLst>
</file>

<file path=ppt/tags/tag1658.xml><?xml version="1.0" encoding="utf-8"?>
<p:tagLst xmlns:a="http://schemas.openxmlformats.org/drawingml/2006/main" xmlns:r="http://schemas.openxmlformats.org/officeDocument/2006/relationships" xmlns:p="http://schemas.openxmlformats.org/presentationml/2006/main">
  <p:tag name="THINKCELLSHAPEDONOTDELETE" val="tQKGvkAYOgi_ZlIRi9R.ecA"/>
</p:tagLst>
</file>

<file path=ppt/tags/tag1659.xml><?xml version="1.0" encoding="utf-8"?>
<p:tagLst xmlns:a="http://schemas.openxmlformats.org/drawingml/2006/main" xmlns:r="http://schemas.openxmlformats.org/officeDocument/2006/relationships" xmlns:p="http://schemas.openxmlformats.org/presentationml/2006/main">
  <p:tag name="THINKCELLSHAPEDONOTDELETE" val="tSI6u1JwJE0JV8kqorp4LGw"/>
</p:tagLst>
</file>

<file path=ppt/tags/tag1660.xml><?xml version="1.0" encoding="utf-8"?>
<p:tagLst xmlns:a="http://schemas.openxmlformats.org/drawingml/2006/main" xmlns:r="http://schemas.openxmlformats.org/officeDocument/2006/relationships" xmlns:p="http://schemas.openxmlformats.org/presentationml/2006/main">
  <p:tag name="THINKCELLSHAPEDONOTDELETE" val="tdDMzfeC0O5olQS3CcNO9KQ"/>
</p:tagLst>
</file>

<file path=ppt/tags/tag1661.xml><?xml version="1.0" encoding="utf-8"?>
<p:tagLst xmlns:a="http://schemas.openxmlformats.org/drawingml/2006/main" xmlns:r="http://schemas.openxmlformats.org/officeDocument/2006/relationships" xmlns:p="http://schemas.openxmlformats.org/presentationml/2006/main">
  <p:tag name="THINKCELLSHAPEDONOTDELETE" val="txSLt_v78Q0MOrh42zDSbeQ"/>
</p:tagLst>
</file>

<file path=ppt/tags/tag1662.xml><?xml version="1.0" encoding="utf-8"?>
<p:tagLst xmlns:a="http://schemas.openxmlformats.org/drawingml/2006/main" xmlns:r="http://schemas.openxmlformats.org/officeDocument/2006/relationships" xmlns:p="http://schemas.openxmlformats.org/presentationml/2006/main">
  <p:tag name="THINKCELLSHAPEDONOTDELETE" val="t.3xXGTL9sUFLp..unFWbJQ"/>
</p:tagLst>
</file>

<file path=ppt/tags/tag1663.xml><?xml version="1.0" encoding="utf-8"?>
<p:tagLst xmlns:a="http://schemas.openxmlformats.org/drawingml/2006/main" xmlns:r="http://schemas.openxmlformats.org/officeDocument/2006/relationships" xmlns:p="http://schemas.openxmlformats.org/presentationml/2006/main">
  <p:tag name="THINKCELLSHAPEDONOTDELETE" val="t1sn.rGMuyq60ElTa27fZnQ"/>
</p:tagLst>
</file>

<file path=ppt/tags/tag1664.xml><?xml version="1.0" encoding="utf-8"?>
<p:tagLst xmlns:a="http://schemas.openxmlformats.org/drawingml/2006/main" xmlns:r="http://schemas.openxmlformats.org/officeDocument/2006/relationships" xmlns:p="http://schemas.openxmlformats.org/presentationml/2006/main">
  <p:tag name="THINKCELLSHAPEDONOTDELETE" val="tdXhcd5FUQ1UR9CZUJLWFBg"/>
</p:tagLst>
</file>

<file path=ppt/tags/tag1665.xml><?xml version="1.0" encoding="utf-8"?>
<p:tagLst xmlns:a="http://schemas.openxmlformats.org/drawingml/2006/main" xmlns:r="http://schemas.openxmlformats.org/officeDocument/2006/relationships" xmlns:p="http://schemas.openxmlformats.org/presentationml/2006/main">
  <p:tag name="THINKCELLSHAPEDONOTDELETE" val="twEpKHwERu1..9PkSONT1aw"/>
</p:tagLst>
</file>

<file path=ppt/tags/tag1666.xml><?xml version="1.0" encoding="utf-8"?>
<p:tagLst xmlns:a="http://schemas.openxmlformats.org/drawingml/2006/main" xmlns:r="http://schemas.openxmlformats.org/officeDocument/2006/relationships" xmlns:p="http://schemas.openxmlformats.org/presentationml/2006/main">
  <p:tag name="THINKCELLSHAPEDONOTDELETE" val="tkzRy1Z8FGlei8AGkziUxQQ"/>
</p:tagLst>
</file>

<file path=ppt/tags/tag1667.xml><?xml version="1.0" encoding="utf-8"?>
<p:tagLst xmlns:a="http://schemas.openxmlformats.org/drawingml/2006/main" xmlns:r="http://schemas.openxmlformats.org/officeDocument/2006/relationships" xmlns:p="http://schemas.openxmlformats.org/presentationml/2006/main">
  <p:tag name="THINKCELLSHAPEDONOTDELETE" val="tAPGD_5kkMmW1kFcgB8AGog"/>
</p:tagLst>
</file>

<file path=ppt/tags/tag1668.xml><?xml version="1.0" encoding="utf-8"?>
<p:tagLst xmlns:a="http://schemas.openxmlformats.org/drawingml/2006/main" xmlns:r="http://schemas.openxmlformats.org/officeDocument/2006/relationships" xmlns:p="http://schemas.openxmlformats.org/presentationml/2006/main">
  <p:tag name="THINKCELLSHAPEDONOTDELETE" val="tAqVgk44ALOfuQrnu9TK0tw"/>
</p:tagLst>
</file>

<file path=ppt/tags/tag1669.xml><?xml version="1.0" encoding="utf-8"?>
<p:tagLst xmlns:a="http://schemas.openxmlformats.org/drawingml/2006/main" xmlns:r="http://schemas.openxmlformats.org/officeDocument/2006/relationships" xmlns:p="http://schemas.openxmlformats.org/presentationml/2006/main">
  <p:tag name="THINKCELLSHAPEDONOTDELETE" val="tO05ZfHfp7asDBzHIevBbDA"/>
</p:tagLst>
</file>

<file path=ppt/tags/tag167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71.xml><?xml version="1.0" encoding="utf-8"?>
<p:tagLst xmlns:a="http://schemas.openxmlformats.org/drawingml/2006/main" xmlns:r="http://schemas.openxmlformats.org/officeDocument/2006/relationships" xmlns:p="http://schemas.openxmlformats.org/presentationml/2006/main">
  <p:tag name="THINKCELLSHAPEDONOTDELETE" val="tAQoyOmYm8dsXtsPqNX.5lg"/>
</p:tagLst>
</file>

<file path=ppt/tags/tag1672.xml><?xml version="1.0" encoding="utf-8"?>
<p:tagLst xmlns:a="http://schemas.openxmlformats.org/drawingml/2006/main" xmlns:r="http://schemas.openxmlformats.org/officeDocument/2006/relationships" xmlns:p="http://schemas.openxmlformats.org/presentationml/2006/main">
  <p:tag name="HEADER" val="True"/>
</p:tagLst>
</file>

<file path=ppt/tags/tag1673.xml><?xml version="1.0" encoding="utf-8"?>
<p:tagLst xmlns:a="http://schemas.openxmlformats.org/drawingml/2006/main" xmlns:r="http://schemas.openxmlformats.org/officeDocument/2006/relationships" xmlns:p="http://schemas.openxmlformats.org/presentationml/2006/main">
  <p:tag name="HEADER" val="True"/>
</p:tagLst>
</file>

<file path=ppt/tags/tag1674.xml><?xml version="1.0" encoding="utf-8"?>
<p:tagLst xmlns:a="http://schemas.openxmlformats.org/drawingml/2006/main" xmlns:r="http://schemas.openxmlformats.org/officeDocument/2006/relationships" xmlns:p="http://schemas.openxmlformats.org/presentationml/2006/main">
  <p:tag name="THINKCELLSHAPEDONOTDELETE" val="tYujOw55XpTYskbwY954KmA"/>
</p:tagLst>
</file>

<file path=ppt/tags/tag1675.xml><?xml version="1.0" encoding="utf-8"?>
<p:tagLst xmlns:a="http://schemas.openxmlformats.org/drawingml/2006/main" xmlns:r="http://schemas.openxmlformats.org/officeDocument/2006/relationships" xmlns:p="http://schemas.openxmlformats.org/presentationml/2006/main">
  <p:tag name="THINKCELLSHAPEDONOTDELETE" val="t0QlW_7Q6GHe62lMBjkdqxw"/>
</p:tagLst>
</file>

<file path=ppt/tags/tag1676.xml><?xml version="1.0" encoding="utf-8"?>
<p:tagLst xmlns:a="http://schemas.openxmlformats.org/drawingml/2006/main" xmlns:r="http://schemas.openxmlformats.org/officeDocument/2006/relationships" xmlns:p="http://schemas.openxmlformats.org/presentationml/2006/main">
  <p:tag name="THINKCELLSHAPEDONOTDELETE" val="tf94Q5yi9Xka7tNO8cj8oQQ"/>
</p:tagLst>
</file>

<file path=ppt/tags/tag1677.xml><?xml version="1.0" encoding="utf-8"?>
<p:tagLst xmlns:a="http://schemas.openxmlformats.org/drawingml/2006/main" xmlns:r="http://schemas.openxmlformats.org/officeDocument/2006/relationships" xmlns:p="http://schemas.openxmlformats.org/presentationml/2006/main">
  <p:tag name="THINKCELLSHAPEDONOTDELETE" val="tQcm_Q_7z_Jw_D53a3OIygA"/>
</p:tagLst>
</file>

<file path=ppt/tags/tag1678.xml><?xml version="1.0" encoding="utf-8"?>
<p:tagLst xmlns:a="http://schemas.openxmlformats.org/drawingml/2006/main" xmlns:r="http://schemas.openxmlformats.org/officeDocument/2006/relationships" xmlns:p="http://schemas.openxmlformats.org/presentationml/2006/main">
  <p:tag name="THINKCELLSHAPEDONOTDELETE" val="t76vAy5SQH8Tfx_.CGwxsDg"/>
</p:tagLst>
</file>

<file path=ppt/tags/tag1679.xml><?xml version="1.0" encoding="utf-8"?>
<p:tagLst xmlns:a="http://schemas.openxmlformats.org/drawingml/2006/main" xmlns:r="http://schemas.openxmlformats.org/officeDocument/2006/relationships" xmlns:p="http://schemas.openxmlformats.org/presentationml/2006/main">
  <p:tag name="THINKCELLSHAPEDONOTDELETE" val="toTTTcIj2i9reYk7kBJqOag"/>
</p:tagLst>
</file>

<file path=ppt/tags/tag1680.xml><?xml version="1.0" encoding="utf-8"?>
<p:tagLst xmlns:a="http://schemas.openxmlformats.org/drawingml/2006/main" xmlns:r="http://schemas.openxmlformats.org/officeDocument/2006/relationships" xmlns:p="http://schemas.openxmlformats.org/presentationml/2006/main">
  <p:tag name="THINKCELLSHAPEDONOTDELETE" val="tgcppxn5.9fjseO7.QOAMbw"/>
</p:tagLst>
</file>

<file path=ppt/tags/tag1681.xml><?xml version="1.0" encoding="utf-8"?>
<p:tagLst xmlns:a="http://schemas.openxmlformats.org/drawingml/2006/main" xmlns:r="http://schemas.openxmlformats.org/officeDocument/2006/relationships" xmlns:p="http://schemas.openxmlformats.org/presentationml/2006/main">
  <p:tag name="THINKCELLSHAPEDONOTDELETE" val="tD91xwUAU9ujoSPnZPB5JKg"/>
</p:tagLst>
</file>

<file path=ppt/tags/tag1682.xml><?xml version="1.0" encoding="utf-8"?>
<p:tagLst xmlns:a="http://schemas.openxmlformats.org/drawingml/2006/main" xmlns:r="http://schemas.openxmlformats.org/officeDocument/2006/relationships" xmlns:p="http://schemas.openxmlformats.org/presentationml/2006/main">
  <p:tag name="THINKCELLSHAPEDONOTDELETE" val="tqX5kQzvi.YEW2GDkLazfXA"/>
</p:tagLst>
</file>

<file path=ppt/tags/tag1683.xml><?xml version="1.0" encoding="utf-8"?>
<p:tagLst xmlns:a="http://schemas.openxmlformats.org/drawingml/2006/main" xmlns:r="http://schemas.openxmlformats.org/officeDocument/2006/relationships" xmlns:p="http://schemas.openxmlformats.org/presentationml/2006/main">
  <p:tag name="THINKCELLSHAPEDONOTDELETE" val="tsZja.u7FRoAjVmV99aaTbg"/>
</p:tagLst>
</file>

<file path=ppt/tags/tag1684.xml><?xml version="1.0" encoding="utf-8"?>
<p:tagLst xmlns:a="http://schemas.openxmlformats.org/drawingml/2006/main" xmlns:r="http://schemas.openxmlformats.org/officeDocument/2006/relationships" xmlns:p="http://schemas.openxmlformats.org/presentationml/2006/main">
  <p:tag name="THINKCELLSHAPEDONOTDELETE" val="ta0HDYJexlckOf3vEQyHSWw"/>
</p:tagLst>
</file>

<file path=ppt/tags/tag1685.xml><?xml version="1.0" encoding="utf-8"?>
<p:tagLst xmlns:a="http://schemas.openxmlformats.org/drawingml/2006/main" xmlns:r="http://schemas.openxmlformats.org/officeDocument/2006/relationships" xmlns:p="http://schemas.openxmlformats.org/presentationml/2006/main">
  <p:tag name="THINKCELLSHAPEDONOTDELETE" val="tXxk_ngw4krnQ3PXma3scOA"/>
</p:tagLst>
</file>

<file path=ppt/tags/tag1686.xml><?xml version="1.0" encoding="utf-8"?>
<p:tagLst xmlns:a="http://schemas.openxmlformats.org/drawingml/2006/main" xmlns:r="http://schemas.openxmlformats.org/officeDocument/2006/relationships" xmlns:p="http://schemas.openxmlformats.org/presentationml/2006/main">
  <p:tag name="THINKCELLSHAPEDONOTDELETE" val="tWo.IA6HZEkKefH8F69uxNw"/>
</p:tagLst>
</file>

<file path=ppt/tags/tag1687.xml><?xml version="1.0" encoding="utf-8"?>
<p:tagLst xmlns:a="http://schemas.openxmlformats.org/drawingml/2006/main" xmlns:r="http://schemas.openxmlformats.org/officeDocument/2006/relationships" xmlns:p="http://schemas.openxmlformats.org/presentationml/2006/main">
  <p:tag name="THINKCELLSHAPEDONOTDELETE" val="tz2nm3MXbGHQNF1YtTwVdng"/>
</p:tagLst>
</file>

<file path=ppt/tags/tag1688.xml><?xml version="1.0" encoding="utf-8"?>
<p:tagLst xmlns:a="http://schemas.openxmlformats.org/drawingml/2006/main" xmlns:r="http://schemas.openxmlformats.org/officeDocument/2006/relationships" xmlns:p="http://schemas.openxmlformats.org/presentationml/2006/main">
  <p:tag name="THINKCELLSHAPEDONOTDELETE" val="twgBZXIYL4phHvrQtFX._VA"/>
</p:tagLst>
</file>

<file path=ppt/tags/tag1689.xml><?xml version="1.0" encoding="utf-8"?>
<p:tagLst xmlns:a="http://schemas.openxmlformats.org/drawingml/2006/main" xmlns:r="http://schemas.openxmlformats.org/officeDocument/2006/relationships" xmlns:p="http://schemas.openxmlformats.org/presentationml/2006/main">
  <p:tag name="THINKCELLSHAPEDONOTDELETE" val="tJF31KJlyLUno4EzKtQPKbg"/>
</p:tagLst>
</file>

<file path=ppt/tags/tag1690.xml><?xml version="1.0" encoding="utf-8"?>
<p:tagLst xmlns:a="http://schemas.openxmlformats.org/drawingml/2006/main" xmlns:r="http://schemas.openxmlformats.org/officeDocument/2006/relationships" xmlns:p="http://schemas.openxmlformats.org/presentationml/2006/main">
  <p:tag name="THINKCELLSHAPEDONOTDELETE" val="tvRsLI5iu1JbEggyb2nF98g"/>
</p:tagLst>
</file>

<file path=ppt/tags/tag1691.xml><?xml version="1.0" encoding="utf-8"?>
<p:tagLst xmlns:a="http://schemas.openxmlformats.org/drawingml/2006/main" xmlns:r="http://schemas.openxmlformats.org/officeDocument/2006/relationships" xmlns:p="http://schemas.openxmlformats.org/presentationml/2006/main">
  <p:tag name="THINKCELLSHAPEDONOTDELETE" val="tqR6GzgBjkWhejCXwTkHABw"/>
</p:tagLst>
</file>

<file path=ppt/tags/tag1692.xml><?xml version="1.0" encoding="utf-8"?>
<p:tagLst xmlns:a="http://schemas.openxmlformats.org/drawingml/2006/main" xmlns:r="http://schemas.openxmlformats.org/officeDocument/2006/relationships" xmlns:p="http://schemas.openxmlformats.org/presentationml/2006/main">
  <p:tag name="THINKCELLSHAPEDONOTDELETE" val="teYezFO6F9eJSJ6ifTvBTJw"/>
</p:tagLst>
</file>

<file path=ppt/tags/tag1693.xml><?xml version="1.0" encoding="utf-8"?>
<p:tagLst xmlns:a="http://schemas.openxmlformats.org/drawingml/2006/main" xmlns:r="http://schemas.openxmlformats.org/officeDocument/2006/relationships" xmlns:p="http://schemas.openxmlformats.org/presentationml/2006/main">
  <p:tag name="THINKCELLSHAPEDONOTDELETE" val="tD5UiNwKO6yFtInb9xK0_VQ"/>
</p:tagLst>
</file>

<file path=ppt/tags/tag1694.xml><?xml version="1.0" encoding="utf-8"?>
<p:tagLst xmlns:a="http://schemas.openxmlformats.org/drawingml/2006/main" xmlns:r="http://schemas.openxmlformats.org/officeDocument/2006/relationships" xmlns:p="http://schemas.openxmlformats.org/presentationml/2006/main">
  <p:tag name="THINKCELLSHAPEDONOTDELETE" val="tMgm0XR.QwfOklQ10zd.vdA"/>
</p:tagLst>
</file>

<file path=ppt/tags/tag1695.xml><?xml version="1.0" encoding="utf-8"?>
<p:tagLst xmlns:a="http://schemas.openxmlformats.org/drawingml/2006/main" xmlns:r="http://schemas.openxmlformats.org/officeDocument/2006/relationships" xmlns:p="http://schemas.openxmlformats.org/presentationml/2006/main">
  <p:tag name="THINKCELLSHAPEDONOTDELETE" val="tPLW_F3ry9JlTQkNKbpcRwQ"/>
</p:tagLst>
</file>

<file path=ppt/tags/tag1696.xml><?xml version="1.0" encoding="utf-8"?>
<p:tagLst xmlns:a="http://schemas.openxmlformats.org/drawingml/2006/main" xmlns:r="http://schemas.openxmlformats.org/officeDocument/2006/relationships" xmlns:p="http://schemas.openxmlformats.org/presentationml/2006/main">
  <p:tag name="THINKCELLSHAPEDONOTDELETE" val="tOYZX_iffQkMLnUgg.rCDzw"/>
</p:tagLst>
</file>

<file path=ppt/tags/tag1697.xml><?xml version="1.0" encoding="utf-8"?>
<p:tagLst xmlns:a="http://schemas.openxmlformats.org/drawingml/2006/main" xmlns:r="http://schemas.openxmlformats.org/officeDocument/2006/relationships" xmlns:p="http://schemas.openxmlformats.org/presentationml/2006/main">
  <p:tag name="THINKCELLSHAPEDONOTDELETE" val="tD4VuZIUk8xx1dhrxGYc7dg"/>
</p:tagLst>
</file>

<file path=ppt/tags/tag1698.xml><?xml version="1.0" encoding="utf-8"?>
<p:tagLst xmlns:a="http://schemas.openxmlformats.org/drawingml/2006/main" xmlns:r="http://schemas.openxmlformats.org/officeDocument/2006/relationships" xmlns:p="http://schemas.openxmlformats.org/presentationml/2006/main">
  <p:tag name="THINKCELLSHAPEDONOTDELETE" val="tT.zXj.NdCkIdIa7dGBNqjg"/>
</p:tagLst>
</file>

<file path=ppt/tags/tag1699.xml><?xml version="1.0" encoding="utf-8"?>
<p:tagLst xmlns:a="http://schemas.openxmlformats.org/drawingml/2006/main" xmlns:r="http://schemas.openxmlformats.org/officeDocument/2006/relationships" xmlns:p="http://schemas.openxmlformats.org/presentationml/2006/main">
  <p:tag name="THINKCELLSHAPEDONOTDELETE" val="tkKU7mV0OiATOTN1N8K2Jpw"/>
</p:tagLst>
</file>

<file path=ppt/tags/tag1700.xml><?xml version="1.0" encoding="utf-8"?>
<p:tagLst xmlns:a="http://schemas.openxmlformats.org/drawingml/2006/main" xmlns:r="http://schemas.openxmlformats.org/officeDocument/2006/relationships" xmlns:p="http://schemas.openxmlformats.org/presentationml/2006/main">
  <p:tag name="THINKCELLSHAPEDONOTDELETE" val="t.z4psywY5nX4svtc0lCe_A"/>
</p:tagLst>
</file>

<file path=ppt/tags/tag1701.xml><?xml version="1.0" encoding="utf-8"?>
<p:tagLst xmlns:a="http://schemas.openxmlformats.org/drawingml/2006/main" xmlns:r="http://schemas.openxmlformats.org/officeDocument/2006/relationships" xmlns:p="http://schemas.openxmlformats.org/presentationml/2006/main">
  <p:tag name="THINKCELLSHAPEDONOTDELETE" val="t_cmoxlR6SfXVzh2twYI4rg"/>
</p:tagLst>
</file>

<file path=ppt/tags/tag1702.xml><?xml version="1.0" encoding="utf-8"?>
<p:tagLst xmlns:a="http://schemas.openxmlformats.org/drawingml/2006/main" xmlns:r="http://schemas.openxmlformats.org/officeDocument/2006/relationships" xmlns:p="http://schemas.openxmlformats.org/presentationml/2006/main">
  <p:tag name="THINKCELLSHAPEDONOTDELETE" val="tyqB570ae9fgrCVz_z9OSCA"/>
</p:tagLst>
</file>

<file path=ppt/tags/tag1703.xml><?xml version="1.0" encoding="utf-8"?>
<p:tagLst xmlns:a="http://schemas.openxmlformats.org/drawingml/2006/main" xmlns:r="http://schemas.openxmlformats.org/officeDocument/2006/relationships" xmlns:p="http://schemas.openxmlformats.org/presentationml/2006/main">
  <p:tag name="THINKCELLSHAPEDONOTDELETE" val="t4Zz0AC46zGZbe3eTUK1stA"/>
</p:tagLst>
</file>

<file path=ppt/tags/tag1704.xml><?xml version="1.0" encoding="utf-8"?>
<p:tagLst xmlns:a="http://schemas.openxmlformats.org/drawingml/2006/main" xmlns:r="http://schemas.openxmlformats.org/officeDocument/2006/relationships" xmlns:p="http://schemas.openxmlformats.org/presentationml/2006/main">
  <p:tag name="THINKCELLSHAPEDONOTDELETE" val="tFOlOPy_ceqro5ZkpRcKOPA"/>
</p:tagLst>
</file>

<file path=ppt/tags/tag1705.xml><?xml version="1.0" encoding="utf-8"?>
<p:tagLst xmlns:a="http://schemas.openxmlformats.org/drawingml/2006/main" xmlns:r="http://schemas.openxmlformats.org/officeDocument/2006/relationships" xmlns:p="http://schemas.openxmlformats.org/presentationml/2006/main">
  <p:tag name="THINKCELLSHAPEDONOTDELETE" val="tdY2UBgwATo.dZ3g8P_PTNQ"/>
</p:tagLst>
</file>

<file path=ppt/tags/tag170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07.xml><?xml version="1.0" encoding="utf-8"?>
<p:tagLst xmlns:a="http://schemas.openxmlformats.org/drawingml/2006/main" xmlns:r="http://schemas.openxmlformats.org/officeDocument/2006/relationships" xmlns:p="http://schemas.openxmlformats.org/presentationml/2006/main">
  <p:tag name="THINKCELLSHAPEDONOTDELETE" val="tpSBMProlXU.gbXkkfsZvIg"/>
</p:tagLst>
</file>

<file path=ppt/tags/tag1708.xml><?xml version="1.0" encoding="utf-8"?>
<p:tagLst xmlns:a="http://schemas.openxmlformats.org/drawingml/2006/main" xmlns:r="http://schemas.openxmlformats.org/officeDocument/2006/relationships" xmlns:p="http://schemas.openxmlformats.org/presentationml/2006/main">
  <p:tag name="HEADER" val="True"/>
</p:tagLst>
</file>

<file path=ppt/tags/tag1709.xml><?xml version="1.0" encoding="utf-8"?>
<p:tagLst xmlns:a="http://schemas.openxmlformats.org/drawingml/2006/main" xmlns:r="http://schemas.openxmlformats.org/officeDocument/2006/relationships" xmlns:p="http://schemas.openxmlformats.org/presentationml/2006/main">
  <p:tag name="HEADER" val="True"/>
</p:tagLst>
</file>

<file path=ppt/tags/tag1710.xml><?xml version="1.0" encoding="utf-8"?>
<p:tagLst xmlns:a="http://schemas.openxmlformats.org/drawingml/2006/main" xmlns:r="http://schemas.openxmlformats.org/officeDocument/2006/relationships" xmlns:p="http://schemas.openxmlformats.org/presentationml/2006/main">
  <p:tag name="THINKCELLSHAPEDONOTDELETE" val="trBa0MdCJ6CFWhUczQozCHw"/>
</p:tagLst>
</file>

<file path=ppt/tags/tag1711.xml><?xml version="1.0" encoding="utf-8"?>
<p:tagLst xmlns:a="http://schemas.openxmlformats.org/drawingml/2006/main" xmlns:r="http://schemas.openxmlformats.org/officeDocument/2006/relationships" xmlns:p="http://schemas.openxmlformats.org/presentationml/2006/main">
  <p:tag name="THINKCELLSHAPEDONOTDELETE" val="t_42xUOKGn6YTwjnmAjwsLg"/>
</p:tagLst>
</file>

<file path=ppt/tags/tag1712.xml><?xml version="1.0" encoding="utf-8"?>
<p:tagLst xmlns:a="http://schemas.openxmlformats.org/drawingml/2006/main" xmlns:r="http://schemas.openxmlformats.org/officeDocument/2006/relationships" xmlns:p="http://schemas.openxmlformats.org/presentationml/2006/main">
  <p:tag name="THINKCELLSHAPEDONOTDELETE" val="tyua74TW_d0J1snf0o_if9w"/>
</p:tagLst>
</file>

<file path=ppt/tags/tag1713.xml><?xml version="1.0" encoding="utf-8"?>
<p:tagLst xmlns:a="http://schemas.openxmlformats.org/drawingml/2006/main" xmlns:r="http://schemas.openxmlformats.org/officeDocument/2006/relationships" xmlns:p="http://schemas.openxmlformats.org/presentationml/2006/main">
  <p:tag name="THINKCELLSHAPEDONOTDELETE" val="tvCbuoIbYNTHdPOlMYv0SiQ"/>
</p:tagLst>
</file>

<file path=ppt/tags/tag1714.xml><?xml version="1.0" encoding="utf-8"?>
<p:tagLst xmlns:a="http://schemas.openxmlformats.org/drawingml/2006/main" xmlns:r="http://schemas.openxmlformats.org/officeDocument/2006/relationships" xmlns:p="http://schemas.openxmlformats.org/presentationml/2006/main">
  <p:tag name="THINKCELLSHAPEDONOTDELETE" val="tToq7SoFI9cCXzultyEE7Sg"/>
</p:tagLst>
</file>

<file path=ppt/tags/tag1715.xml><?xml version="1.0" encoding="utf-8"?>
<p:tagLst xmlns:a="http://schemas.openxmlformats.org/drawingml/2006/main" xmlns:r="http://schemas.openxmlformats.org/officeDocument/2006/relationships" xmlns:p="http://schemas.openxmlformats.org/presentationml/2006/main">
  <p:tag name="THINKCELLSHAPEDONOTDELETE" val="t4V10p30opL8cUnv7Y_xCpA"/>
</p:tagLst>
</file>

<file path=ppt/tags/tag1716.xml><?xml version="1.0" encoding="utf-8"?>
<p:tagLst xmlns:a="http://schemas.openxmlformats.org/drawingml/2006/main" xmlns:r="http://schemas.openxmlformats.org/officeDocument/2006/relationships" xmlns:p="http://schemas.openxmlformats.org/presentationml/2006/main">
  <p:tag name="THINKCELLSHAPEDONOTDELETE" val="tyqIt28Tk1EiS2ILGZN.UWg"/>
</p:tagLst>
</file>

<file path=ppt/tags/tag1717.xml><?xml version="1.0" encoding="utf-8"?>
<p:tagLst xmlns:a="http://schemas.openxmlformats.org/drawingml/2006/main" xmlns:r="http://schemas.openxmlformats.org/officeDocument/2006/relationships" xmlns:p="http://schemas.openxmlformats.org/presentationml/2006/main">
  <p:tag name="THINKCELLSHAPEDONOTDELETE" val="tr93tuOyA5C8pWiStI_Ma9Q"/>
</p:tagLst>
</file>

<file path=ppt/tags/tag1718.xml><?xml version="1.0" encoding="utf-8"?>
<p:tagLst xmlns:a="http://schemas.openxmlformats.org/drawingml/2006/main" xmlns:r="http://schemas.openxmlformats.org/officeDocument/2006/relationships" xmlns:p="http://schemas.openxmlformats.org/presentationml/2006/main">
  <p:tag name="THINKCELLSHAPEDONOTDELETE" val="tQp6C347dYqlN8acaROk0cw"/>
</p:tagLst>
</file>

<file path=ppt/tags/tag1719.xml><?xml version="1.0" encoding="utf-8"?>
<p:tagLst xmlns:a="http://schemas.openxmlformats.org/drawingml/2006/main" xmlns:r="http://schemas.openxmlformats.org/officeDocument/2006/relationships" xmlns:p="http://schemas.openxmlformats.org/presentationml/2006/main">
  <p:tag name="THINKCELLSHAPEDONOTDELETE" val="t7p8Zo.OxqlUSHWXuUQlPyw"/>
</p:tagLst>
</file>

<file path=ppt/tags/tag1720.xml><?xml version="1.0" encoding="utf-8"?>
<p:tagLst xmlns:a="http://schemas.openxmlformats.org/drawingml/2006/main" xmlns:r="http://schemas.openxmlformats.org/officeDocument/2006/relationships" xmlns:p="http://schemas.openxmlformats.org/presentationml/2006/main">
  <p:tag name="THINKCELLSHAPEDONOTDELETE" val="tHd3BAMkOJctgl6pCYNCsyw"/>
</p:tagLst>
</file>

<file path=ppt/tags/tag1721.xml><?xml version="1.0" encoding="utf-8"?>
<p:tagLst xmlns:a="http://schemas.openxmlformats.org/drawingml/2006/main" xmlns:r="http://schemas.openxmlformats.org/officeDocument/2006/relationships" xmlns:p="http://schemas.openxmlformats.org/presentationml/2006/main">
  <p:tag name="THINKCELLSHAPEDONOTDELETE" val="tLZRuzX1xcuItsDfYe_NRGg"/>
</p:tagLst>
</file>

<file path=ppt/tags/tag1722.xml><?xml version="1.0" encoding="utf-8"?>
<p:tagLst xmlns:a="http://schemas.openxmlformats.org/drawingml/2006/main" xmlns:r="http://schemas.openxmlformats.org/officeDocument/2006/relationships" xmlns:p="http://schemas.openxmlformats.org/presentationml/2006/main">
  <p:tag name="THINKCELLSHAPEDONOTDELETE" val="trGGEjeelA7MHGP1KqRMsHw"/>
</p:tagLst>
</file>

<file path=ppt/tags/tag1723.xml><?xml version="1.0" encoding="utf-8"?>
<p:tagLst xmlns:a="http://schemas.openxmlformats.org/drawingml/2006/main" xmlns:r="http://schemas.openxmlformats.org/officeDocument/2006/relationships" xmlns:p="http://schemas.openxmlformats.org/presentationml/2006/main">
  <p:tag name="THINKCELLSHAPEDONOTDELETE" val="t4DAsJ72ZxadR5Dlrjqv.hg"/>
</p:tagLst>
</file>

<file path=ppt/tags/tag1724.xml><?xml version="1.0" encoding="utf-8"?>
<p:tagLst xmlns:a="http://schemas.openxmlformats.org/drawingml/2006/main" xmlns:r="http://schemas.openxmlformats.org/officeDocument/2006/relationships" xmlns:p="http://schemas.openxmlformats.org/presentationml/2006/main">
  <p:tag name="THINKCELLSHAPEDONOTDELETE" val="thhYN6kXugmVgPv5y5G5dFA"/>
</p:tagLst>
</file>

<file path=ppt/tags/tag1725.xml><?xml version="1.0" encoding="utf-8"?>
<p:tagLst xmlns:a="http://schemas.openxmlformats.org/drawingml/2006/main" xmlns:r="http://schemas.openxmlformats.org/officeDocument/2006/relationships" xmlns:p="http://schemas.openxmlformats.org/presentationml/2006/main">
  <p:tag name="THINKCELLSHAPEDONOTDELETE" val="tKDSk9jUApzZMZLm9TN_snQ"/>
</p:tagLst>
</file>

<file path=ppt/tags/tag1726.xml><?xml version="1.0" encoding="utf-8"?>
<p:tagLst xmlns:a="http://schemas.openxmlformats.org/drawingml/2006/main" xmlns:r="http://schemas.openxmlformats.org/officeDocument/2006/relationships" xmlns:p="http://schemas.openxmlformats.org/presentationml/2006/main">
  <p:tag name="THINKCELLSHAPEDONOTDELETE" val="tm8EK3BWjF5hlfdFdKkriWQ"/>
</p:tagLst>
</file>

<file path=ppt/tags/tag1727.xml><?xml version="1.0" encoding="utf-8"?>
<p:tagLst xmlns:a="http://schemas.openxmlformats.org/drawingml/2006/main" xmlns:r="http://schemas.openxmlformats.org/officeDocument/2006/relationships" xmlns:p="http://schemas.openxmlformats.org/presentationml/2006/main">
  <p:tag name="THINKCELLSHAPEDONOTDELETE" val="t6qHFpEbJTm_imNIgISa.fw"/>
</p:tagLst>
</file>

<file path=ppt/tags/tag1728.xml><?xml version="1.0" encoding="utf-8"?>
<p:tagLst xmlns:a="http://schemas.openxmlformats.org/drawingml/2006/main" xmlns:r="http://schemas.openxmlformats.org/officeDocument/2006/relationships" xmlns:p="http://schemas.openxmlformats.org/presentationml/2006/main">
  <p:tag name="THINKCELLSHAPEDONOTDELETE" val="t.kh2152HAkKIJW.9wgI5Pg"/>
</p:tagLst>
</file>

<file path=ppt/tags/tag1729.xml><?xml version="1.0" encoding="utf-8"?>
<p:tagLst xmlns:a="http://schemas.openxmlformats.org/drawingml/2006/main" xmlns:r="http://schemas.openxmlformats.org/officeDocument/2006/relationships" xmlns:p="http://schemas.openxmlformats.org/presentationml/2006/main">
  <p:tag name="THINKCELLSHAPEDONOTDELETE" val="tMU1Ywq6Y.VqA2Pow5TmjbA"/>
</p:tagLst>
</file>

<file path=ppt/tags/tag1730.xml><?xml version="1.0" encoding="utf-8"?>
<p:tagLst xmlns:a="http://schemas.openxmlformats.org/drawingml/2006/main" xmlns:r="http://schemas.openxmlformats.org/officeDocument/2006/relationships" xmlns:p="http://schemas.openxmlformats.org/presentationml/2006/main">
  <p:tag name="THINKCELLSHAPEDONOTDELETE" val="tTggnBHM14Q.8mwMx1Trw2A"/>
</p:tagLst>
</file>

<file path=ppt/tags/tag1731.xml><?xml version="1.0" encoding="utf-8"?>
<p:tagLst xmlns:a="http://schemas.openxmlformats.org/drawingml/2006/main" xmlns:r="http://schemas.openxmlformats.org/officeDocument/2006/relationships" xmlns:p="http://schemas.openxmlformats.org/presentationml/2006/main">
  <p:tag name="THINKCELLSHAPEDONOTDELETE" val="ttowbxyhCc0x8DLZvlgaVqA"/>
</p:tagLst>
</file>

<file path=ppt/tags/tag1732.xml><?xml version="1.0" encoding="utf-8"?>
<p:tagLst xmlns:a="http://schemas.openxmlformats.org/drawingml/2006/main" xmlns:r="http://schemas.openxmlformats.org/officeDocument/2006/relationships" xmlns:p="http://schemas.openxmlformats.org/presentationml/2006/main">
  <p:tag name="THINKCELLSHAPEDONOTDELETE" val="tC7VxaqKZVLShhkqAw_.WIQ"/>
</p:tagLst>
</file>

<file path=ppt/tags/tag1733.xml><?xml version="1.0" encoding="utf-8"?>
<p:tagLst xmlns:a="http://schemas.openxmlformats.org/drawingml/2006/main" xmlns:r="http://schemas.openxmlformats.org/officeDocument/2006/relationships" xmlns:p="http://schemas.openxmlformats.org/presentationml/2006/main">
  <p:tag name="THINKCELLSHAPEDONOTDELETE" val="tDPQomMdWybr5_fkQyIlY7Q"/>
</p:tagLst>
</file>

<file path=ppt/tags/tag1734.xml><?xml version="1.0" encoding="utf-8"?>
<p:tagLst xmlns:a="http://schemas.openxmlformats.org/drawingml/2006/main" xmlns:r="http://schemas.openxmlformats.org/officeDocument/2006/relationships" xmlns:p="http://schemas.openxmlformats.org/presentationml/2006/main">
  <p:tag name="THINKCELLSHAPEDONOTDELETE" val="tJzmRKqGZKq7HtyEXccrF_g"/>
</p:tagLst>
</file>

<file path=ppt/tags/tag1735.xml><?xml version="1.0" encoding="utf-8"?>
<p:tagLst xmlns:a="http://schemas.openxmlformats.org/drawingml/2006/main" xmlns:r="http://schemas.openxmlformats.org/officeDocument/2006/relationships" xmlns:p="http://schemas.openxmlformats.org/presentationml/2006/main">
  <p:tag name="THINKCELLSHAPEDONOTDELETE" val="tibRB.X4ACc.QDZngtzHs0g"/>
</p:tagLst>
</file>

<file path=ppt/tags/tag1736.xml><?xml version="1.0" encoding="utf-8"?>
<p:tagLst xmlns:a="http://schemas.openxmlformats.org/drawingml/2006/main" xmlns:r="http://schemas.openxmlformats.org/officeDocument/2006/relationships" xmlns:p="http://schemas.openxmlformats.org/presentationml/2006/main">
  <p:tag name="THINKCELLSHAPEDONOTDELETE" val="tyXmIDdFqBGwgJ2l7L8Yxog"/>
</p:tagLst>
</file>

<file path=ppt/tags/tag17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38.xml><?xml version="1.0" encoding="utf-8"?>
<p:tagLst xmlns:a="http://schemas.openxmlformats.org/drawingml/2006/main" xmlns:r="http://schemas.openxmlformats.org/officeDocument/2006/relationships" xmlns:p="http://schemas.openxmlformats.org/presentationml/2006/main">
  <p:tag name="THINKCELLSHAPEDONOTDELETE" val="tPZJN3emNuEPpDMpakLrC9g"/>
</p:tagLst>
</file>

<file path=ppt/tags/tag1739.xml><?xml version="1.0" encoding="utf-8"?>
<p:tagLst xmlns:a="http://schemas.openxmlformats.org/drawingml/2006/main" xmlns:r="http://schemas.openxmlformats.org/officeDocument/2006/relationships" xmlns:p="http://schemas.openxmlformats.org/presentationml/2006/main">
  <p:tag name="HEADER" val="True"/>
</p:tagLst>
</file>

<file path=ppt/tags/tag17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41.xml><?xml version="1.0" encoding="utf-8"?>
<p:tagLst xmlns:a="http://schemas.openxmlformats.org/drawingml/2006/main" xmlns:r="http://schemas.openxmlformats.org/officeDocument/2006/relationships" xmlns:p="http://schemas.openxmlformats.org/presentationml/2006/main">
  <p:tag name="THINKCELLSHAPEDONOTDELETE" val="tMrgCpLDNQ1AfIV9RENFRsQ"/>
</p:tagLst>
</file>

<file path=ppt/tags/tag17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43.xml><?xml version="1.0" encoding="utf-8"?>
<p:tagLst xmlns:a="http://schemas.openxmlformats.org/drawingml/2006/main" xmlns:r="http://schemas.openxmlformats.org/officeDocument/2006/relationships" xmlns:p="http://schemas.openxmlformats.org/presentationml/2006/main">
  <p:tag name="THINKCELLSHAPEDONOTDELETE" val="tahzYbLxDVjv1aAdLM3OY0g"/>
</p:tagLst>
</file>

<file path=ppt/tags/tag1744.xml><?xml version="1.0" encoding="utf-8"?>
<p:tagLst xmlns:a="http://schemas.openxmlformats.org/drawingml/2006/main" xmlns:r="http://schemas.openxmlformats.org/officeDocument/2006/relationships" xmlns:p="http://schemas.openxmlformats.org/presentationml/2006/main">
  <p:tag name="HEADER" val="True"/>
</p:tagLst>
</file>

<file path=ppt/tags/tag17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46.xml><?xml version="1.0" encoding="utf-8"?>
<p:tagLst xmlns:a="http://schemas.openxmlformats.org/drawingml/2006/main" xmlns:r="http://schemas.openxmlformats.org/officeDocument/2006/relationships" xmlns:p="http://schemas.openxmlformats.org/presentationml/2006/main">
  <p:tag name="THINKCELLSHAPEDONOTDELETE" val="tXIaloH.JWmqRNHNMxZfsoA"/>
</p:tagLst>
</file>

<file path=ppt/tags/tag1747.xml><?xml version="1.0" encoding="utf-8"?>
<p:tagLst xmlns:a="http://schemas.openxmlformats.org/drawingml/2006/main" xmlns:r="http://schemas.openxmlformats.org/officeDocument/2006/relationships" xmlns:p="http://schemas.openxmlformats.org/presentationml/2006/main">
  <p:tag name="HEADER" val="True"/>
</p:tagLst>
</file>

<file path=ppt/tags/tag17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49.xml><?xml version="1.0" encoding="utf-8"?>
<p:tagLst xmlns:a="http://schemas.openxmlformats.org/drawingml/2006/main" xmlns:r="http://schemas.openxmlformats.org/officeDocument/2006/relationships" xmlns:p="http://schemas.openxmlformats.org/presentationml/2006/main">
  <p:tag name="THINKCELLSHAPEDONOTDELETE" val="tXIaloH.JWmqRNHNMxZfsoA"/>
</p:tagLst>
</file>

<file path=ppt/tags/tag1750.xml><?xml version="1.0" encoding="utf-8"?>
<p:tagLst xmlns:a="http://schemas.openxmlformats.org/drawingml/2006/main" xmlns:r="http://schemas.openxmlformats.org/officeDocument/2006/relationships" xmlns:p="http://schemas.openxmlformats.org/presentationml/2006/main">
  <p:tag name="HEADER" val="True"/>
</p:tagLst>
</file>

<file path=ppt/tags/tag175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52.xml><?xml version="1.0" encoding="utf-8"?>
<p:tagLst xmlns:a="http://schemas.openxmlformats.org/drawingml/2006/main" xmlns:r="http://schemas.openxmlformats.org/officeDocument/2006/relationships" xmlns:p="http://schemas.openxmlformats.org/presentationml/2006/main">
  <p:tag name="THINKCELLSHAPEDONOTDELETE" val="tXIaloH.JWmqRNHNMxZfsoA"/>
</p:tagLst>
</file>

<file path=ppt/tags/tag1753.xml><?xml version="1.0" encoding="utf-8"?>
<p:tagLst xmlns:a="http://schemas.openxmlformats.org/drawingml/2006/main" xmlns:r="http://schemas.openxmlformats.org/officeDocument/2006/relationships" xmlns:p="http://schemas.openxmlformats.org/presentationml/2006/main">
  <p:tag name="HEADER" val="True"/>
</p:tagLst>
</file>

<file path=ppt/tags/tag175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55.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75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57.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758.xml><?xml version="1.0" encoding="utf-8"?>
<p:tagLst xmlns:a="http://schemas.openxmlformats.org/drawingml/2006/main" xmlns:r="http://schemas.openxmlformats.org/officeDocument/2006/relationships" xmlns:p="http://schemas.openxmlformats.org/presentationml/2006/main">
  <p:tag name="HEADER" val="True"/>
</p:tagLst>
</file>

<file path=ppt/tags/tag1759.xml><?xml version="1.0" encoding="utf-8"?>
<p:tagLst xmlns:a="http://schemas.openxmlformats.org/drawingml/2006/main" xmlns:r="http://schemas.openxmlformats.org/officeDocument/2006/relationships" xmlns:p="http://schemas.openxmlformats.org/presentationml/2006/main">
  <p:tag name="HEADER" val="True"/>
</p:tagLst>
</file>

<file path=ppt/tags/tag176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61.xml><?xml version="1.0" encoding="utf-8"?>
<p:tagLst xmlns:a="http://schemas.openxmlformats.org/drawingml/2006/main" xmlns:r="http://schemas.openxmlformats.org/officeDocument/2006/relationships" xmlns:p="http://schemas.openxmlformats.org/presentationml/2006/main">
  <p:tag name="THINKCELLSHAPEDONOTDELETE" val="tzmuyeBjcyNSrBMeBg039jg"/>
</p:tagLst>
</file>

<file path=ppt/tags/tag1762.xml><?xml version="1.0" encoding="utf-8"?>
<p:tagLst xmlns:a="http://schemas.openxmlformats.org/drawingml/2006/main" xmlns:r="http://schemas.openxmlformats.org/officeDocument/2006/relationships" xmlns:p="http://schemas.openxmlformats.org/presentationml/2006/main">
  <p:tag name="HEADER" val="True"/>
</p:tagLst>
</file>

<file path=ppt/tags/tag1763.xml><?xml version="1.0" encoding="utf-8"?>
<p:tagLst xmlns:a="http://schemas.openxmlformats.org/drawingml/2006/main" xmlns:r="http://schemas.openxmlformats.org/officeDocument/2006/relationships" xmlns:p="http://schemas.openxmlformats.org/presentationml/2006/main">
  <p:tag name="HEADER" val="True"/>
</p:tagLst>
</file>

<file path=ppt/tags/tag176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65.xml><?xml version="1.0" encoding="utf-8"?>
<p:tagLst xmlns:a="http://schemas.openxmlformats.org/drawingml/2006/main" xmlns:r="http://schemas.openxmlformats.org/officeDocument/2006/relationships" xmlns:p="http://schemas.openxmlformats.org/presentationml/2006/main">
  <p:tag name="THINKCELLSHAPEDONOTDELETE" val="tzmuyeBjcyNSrBMeBg039jg"/>
</p:tagLst>
</file>

<file path=ppt/tags/tag1766.xml><?xml version="1.0" encoding="utf-8"?>
<p:tagLst xmlns:a="http://schemas.openxmlformats.org/drawingml/2006/main" xmlns:r="http://schemas.openxmlformats.org/officeDocument/2006/relationships" xmlns:p="http://schemas.openxmlformats.org/presentationml/2006/main">
  <p:tag name="HEADER" val="True"/>
</p:tagLst>
</file>

<file path=ppt/tags/tag1767.xml><?xml version="1.0" encoding="utf-8"?>
<p:tagLst xmlns:a="http://schemas.openxmlformats.org/drawingml/2006/main" xmlns:r="http://schemas.openxmlformats.org/officeDocument/2006/relationships" xmlns:p="http://schemas.openxmlformats.org/presentationml/2006/main">
  <p:tag name="HEADER" val="True"/>
</p:tagLst>
</file>

<file path=ppt/tags/tag176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69.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770.xml><?xml version="1.0" encoding="utf-8"?>
<p:tagLst xmlns:a="http://schemas.openxmlformats.org/drawingml/2006/main" xmlns:r="http://schemas.openxmlformats.org/officeDocument/2006/relationships" xmlns:p="http://schemas.openxmlformats.org/presentationml/2006/main">
  <p:tag name="HEADER" val="True"/>
</p:tagLst>
</file>

<file path=ppt/tags/tag1771.xml><?xml version="1.0" encoding="utf-8"?>
<p:tagLst xmlns:a="http://schemas.openxmlformats.org/drawingml/2006/main" xmlns:r="http://schemas.openxmlformats.org/officeDocument/2006/relationships" xmlns:p="http://schemas.openxmlformats.org/presentationml/2006/main">
  <p:tag name="HEADER" val="True"/>
</p:tagLst>
</file>

<file path=ppt/tags/tag1772.xml><?xml version="1.0" encoding="utf-8"?>
<p:tagLst xmlns:a="http://schemas.openxmlformats.org/drawingml/2006/main" xmlns:r="http://schemas.openxmlformats.org/officeDocument/2006/relationships" xmlns:p="http://schemas.openxmlformats.org/presentationml/2006/main">
  <p:tag name="THINKCELLSHAPEDONOTDELETE" val="tpoAKdk18oGDHXGJkFnnH.w"/>
</p:tagLst>
</file>

<file path=ppt/tags/tag1773.xml><?xml version="1.0" encoding="utf-8"?>
<p:tagLst xmlns:a="http://schemas.openxmlformats.org/drawingml/2006/main" xmlns:r="http://schemas.openxmlformats.org/officeDocument/2006/relationships" xmlns:p="http://schemas.openxmlformats.org/presentationml/2006/main">
  <p:tag name="THINKCELLSHAPEDONOTDELETE" val="tlYYpgtyWnVHbWcY08dU78w"/>
</p:tagLst>
</file>

<file path=ppt/tags/tag1774.xml><?xml version="1.0" encoding="utf-8"?>
<p:tagLst xmlns:a="http://schemas.openxmlformats.org/drawingml/2006/main" xmlns:r="http://schemas.openxmlformats.org/officeDocument/2006/relationships" xmlns:p="http://schemas.openxmlformats.org/presentationml/2006/main">
  <p:tag name="THINKCELLSHAPEDONOTDELETE" val="tOKpr4nuypc9sanongQtL4Q"/>
</p:tagLst>
</file>

<file path=ppt/tags/tag1775.xml><?xml version="1.0" encoding="utf-8"?>
<p:tagLst xmlns:a="http://schemas.openxmlformats.org/drawingml/2006/main" xmlns:r="http://schemas.openxmlformats.org/officeDocument/2006/relationships" xmlns:p="http://schemas.openxmlformats.org/presentationml/2006/main">
  <p:tag name="THINKCELLSHAPEDONOTDELETE" val="tHrfZ90wH_U_GQfCYAKNfFA"/>
</p:tagLst>
</file>

<file path=ppt/tags/tag1776.xml><?xml version="1.0" encoding="utf-8"?>
<p:tagLst xmlns:a="http://schemas.openxmlformats.org/drawingml/2006/main" xmlns:r="http://schemas.openxmlformats.org/officeDocument/2006/relationships" xmlns:p="http://schemas.openxmlformats.org/presentationml/2006/main">
  <p:tag name="THINKCELLSHAPEDONOTDELETE" val="tBsixG9FAEvo1USBA8G97Nw"/>
</p:tagLst>
</file>

<file path=ppt/tags/tag1777.xml><?xml version="1.0" encoding="utf-8"?>
<p:tagLst xmlns:a="http://schemas.openxmlformats.org/drawingml/2006/main" xmlns:r="http://schemas.openxmlformats.org/officeDocument/2006/relationships" xmlns:p="http://schemas.openxmlformats.org/presentationml/2006/main">
  <p:tag name="THINKCELLSHAPEDONOTDELETE" val="tVr1qoOlfekpM9j5.CR5nlQ"/>
</p:tagLst>
</file>

<file path=ppt/tags/tag1778.xml><?xml version="1.0" encoding="utf-8"?>
<p:tagLst xmlns:a="http://schemas.openxmlformats.org/drawingml/2006/main" xmlns:r="http://schemas.openxmlformats.org/officeDocument/2006/relationships" xmlns:p="http://schemas.openxmlformats.org/presentationml/2006/main">
  <p:tag name="THINKCELLSHAPEDONOTDELETE" val="tCjKyucsfOtRqrCrqXZw13Q"/>
</p:tagLst>
</file>

<file path=ppt/tags/tag1779.xml><?xml version="1.0" encoding="utf-8"?>
<p:tagLst xmlns:a="http://schemas.openxmlformats.org/drawingml/2006/main" xmlns:r="http://schemas.openxmlformats.org/officeDocument/2006/relationships" xmlns:p="http://schemas.openxmlformats.org/presentationml/2006/main">
  <p:tag name="THINKCELLSHAPEDONOTDELETE" val="t63dOGTq_op3FASVLvORx7A"/>
</p:tagLst>
</file>

<file path=ppt/tags/tag1780.xml><?xml version="1.0" encoding="utf-8"?>
<p:tagLst xmlns:a="http://schemas.openxmlformats.org/drawingml/2006/main" xmlns:r="http://schemas.openxmlformats.org/officeDocument/2006/relationships" xmlns:p="http://schemas.openxmlformats.org/presentationml/2006/main">
  <p:tag name="THINKCELLSHAPEDONOTDELETE" val="tZ9FiZ3SKGQHCiRb.Z9MK6A"/>
</p:tagLst>
</file>

<file path=ppt/tags/tag1781.xml><?xml version="1.0" encoding="utf-8"?>
<p:tagLst xmlns:a="http://schemas.openxmlformats.org/drawingml/2006/main" xmlns:r="http://schemas.openxmlformats.org/officeDocument/2006/relationships" xmlns:p="http://schemas.openxmlformats.org/presentationml/2006/main">
  <p:tag name="THINKCELLSHAPEDONOTDELETE" val="tu7.VbcDckll6Nyp7g_0eZA"/>
</p:tagLst>
</file>

<file path=ppt/tags/tag1782.xml><?xml version="1.0" encoding="utf-8"?>
<p:tagLst xmlns:a="http://schemas.openxmlformats.org/drawingml/2006/main" xmlns:r="http://schemas.openxmlformats.org/officeDocument/2006/relationships" xmlns:p="http://schemas.openxmlformats.org/presentationml/2006/main">
  <p:tag name="THINKCELLSHAPEDONOTDELETE" val="tRLBOH3Yh80wcVXj37elZQg"/>
</p:tagLst>
</file>

<file path=ppt/tags/tag1783.xml><?xml version="1.0" encoding="utf-8"?>
<p:tagLst xmlns:a="http://schemas.openxmlformats.org/drawingml/2006/main" xmlns:r="http://schemas.openxmlformats.org/officeDocument/2006/relationships" xmlns:p="http://schemas.openxmlformats.org/presentationml/2006/main">
  <p:tag name="THINKCELLSHAPEDONOTDELETE" val="tYffNscoJI3lgf6gMEOYgDQ"/>
</p:tagLst>
</file>

<file path=ppt/tags/tag1784.xml><?xml version="1.0" encoding="utf-8"?>
<p:tagLst xmlns:a="http://schemas.openxmlformats.org/drawingml/2006/main" xmlns:r="http://schemas.openxmlformats.org/officeDocument/2006/relationships" xmlns:p="http://schemas.openxmlformats.org/presentationml/2006/main">
  <p:tag name="THINKCELLSHAPEDONOTDELETE" val="t58zkoc2ON2ny0bRphN5brw"/>
</p:tagLst>
</file>

<file path=ppt/tags/tag1785.xml><?xml version="1.0" encoding="utf-8"?>
<p:tagLst xmlns:a="http://schemas.openxmlformats.org/drawingml/2006/main" xmlns:r="http://schemas.openxmlformats.org/officeDocument/2006/relationships" xmlns:p="http://schemas.openxmlformats.org/presentationml/2006/main">
  <p:tag name="THINKCELLSHAPEDONOTDELETE" val="t_mpc76Ddvb6YJia5AyaaEw"/>
</p:tagLst>
</file>

<file path=ppt/tags/tag1786.xml><?xml version="1.0" encoding="utf-8"?>
<p:tagLst xmlns:a="http://schemas.openxmlformats.org/drawingml/2006/main" xmlns:r="http://schemas.openxmlformats.org/officeDocument/2006/relationships" xmlns:p="http://schemas.openxmlformats.org/presentationml/2006/main">
  <p:tag name="THINKCELLSHAPEDONOTDELETE" val="t2NUAwQOlivZFEaZqgAqwKg"/>
</p:tagLst>
</file>

<file path=ppt/tags/tag1787.xml><?xml version="1.0" encoding="utf-8"?>
<p:tagLst xmlns:a="http://schemas.openxmlformats.org/drawingml/2006/main" xmlns:r="http://schemas.openxmlformats.org/officeDocument/2006/relationships" xmlns:p="http://schemas.openxmlformats.org/presentationml/2006/main">
  <p:tag name="THINKCELLSHAPEDONOTDELETE" val="tb_WYaB4NH4n9KDjU87CKeQ"/>
</p:tagLst>
</file>

<file path=ppt/tags/tag1788.xml><?xml version="1.0" encoding="utf-8"?>
<p:tagLst xmlns:a="http://schemas.openxmlformats.org/drawingml/2006/main" xmlns:r="http://schemas.openxmlformats.org/officeDocument/2006/relationships" xmlns:p="http://schemas.openxmlformats.org/presentationml/2006/main">
  <p:tag name="THINKCELLSHAPEDONOTDELETE" val="tV8_vL9jEFJTVvyjEevi02Q"/>
</p:tagLst>
</file>

<file path=ppt/tags/tag1789.xml><?xml version="1.0" encoding="utf-8"?>
<p:tagLst xmlns:a="http://schemas.openxmlformats.org/drawingml/2006/main" xmlns:r="http://schemas.openxmlformats.org/officeDocument/2006/relationships" xmlns:p="http://schemas.openxmlformats.org/presentationml/2006/main">
  <p:tag name="THINKCELLSHAPEDONOTDELETE" val="tujKL5OzHm0b1uf1bEE.WrA"/>
</p:tagLst>
</file>

<file path=ppt/tags/tag1790.xml><?xml version="1.0" encoding="utf-8"?>
<p:tagLst xmlns:a="http://schemas.openxmlformats.org/drawingml/2006/main" xmlns:r="http://schemas.openxmlformats.org/officeDocument/2006/relationships" xmlns:p="http://schemas.openxmlformats.org/presentationml/2006/main">
  <p:tag name="THINKCELLSHAPEDONOTDELETE" val="tx9J3fxV5EpUUcGYkLMutMA"/>
</p:tagLst>
</file>

<file path=ppt/tags/tag1791.xml><?xml version="1.0" encoding="utf-8"?>
<p:tagLst xmlns:a="http://schemas.openxmlformats.org/drawingml/2006/main" xmlns:r="http://schemas.openxmlformats.org/officeDocument/2006/relationships" xmlns:p="http://schemas.openxmlformats.org/presentationml/2006/main">
  <p:tag name="THINKCELLSHAPEDONOTDELETE" val="t0POf3Ny4YJNOyhp0MXsMRg"/>
</p:tagLst>
</file>

<file path=ppt/tags/tag1792.xml><?xml version="1.0" encoding="utf-8"?>
<p:tagLst xmlns:a="http://schemas.openxmlformats.org/drawingml/2006/main" xmlns:r="http://schemas.openxmlformats.org/officeDocument/2006/relationships" xmlns:p="http://schemas.openxmlformats.org/presentationml/2006/main">
  <p:tag name="THINKCELLSHAPEDONOTDELETE" val="taCV5CAVghtwSj7nbxbocNg"/>
</p:tagLst>
</file>

<file path=ppt/tags/tag1793.xml><?xml version="1.0" encoding="utf-8"?>
<p:tagLst xmlns:a="http://schemas.openxmlformats.org/drawingml/2006/main" xmlns:r="http://schemas.openxmlformats.org/officeDocument/2006/relationships" xmlns:p="http://schemas.openxmlformats.org/presentationml/2006/main">
  <p:tag name="THINKCELLSHAPEDONOTDELETE" val="tDfwPxJ13f9LJl3hLlYyXLQ"/>
</p:tagLst>
</file>

<file path=ppt/tags/tag1794.xml><?xml version="1.0" encoding="utf-8"?>
<p:tagLst xmlns:a="http://schemas.openxmlformats.org/drawingml/2006/main" xmlns:r="http://schemas.openxmlformats.org/officeDocument/2006/relationships" xmlns:p="http://schemas.openxmlformats.org/presentationml/2006/main">
  <p:tag name="THINKCELLSHAPEDONOTDELETE" val="tncRoT6wE57ULHNVv1ThoMg"/>
</p:tagLst>
</file>

<file path=ppt/tags/tag1795.xml><?xml version="1.0" encoding="utf-8"?>
<p:tagLst xmlns:a="http://schemas.openxmlformats.org/drawingml/2006/main" xmlns:r="http://schemas.openxmlformats.org/officeDocument/2006/relationships" xmlns:p="http://schemas.openxmlformats.org/presentationml/2006/main">
  <p:tag name="THINKCELLSHAPEDONOTDELETE" val="t7oWL4sMzNpQnl8zFAXXnMg"/>
</p:tagLst>
</file>

<file path=ppt/tags/tag1796.xml><?xml version="1.0" encoding="utf-8"?>
<p:tagLst xmlns:a="http://schemas.openxmlformats.org/drawingml/2006/main" xmlns:r="http://schemas.openxmlformats.org/officeDocument/2006/relationships" xmlns:p="http://schemas.openxmlformats.org/presentationml/2006/main">
  <p:tag name="THINKCELLSHAPEDONOTDELETE" val="tATDiopN.iV502NzC_e0Jdg"/>
</p:tagLst>
</file>

<file path=ppt/tags/tag1797.xml><?xml version="1.0" encoding="utf-8"?>
<p:tagLst xmlns:a="http://schemas.openxmlformats.org/drawingml/2006/main" xmlns:r="http://schemas.openxmlformats.org/officeDocument/2006/relationships" xmlns:p="http://schemas.openxmlformats.org/presentationml/2006/main">
  <p:tag name="THINKCELLSHAPEDONOTDELETE" val="tQyU9R2kbwPWP4duPhoZWbQ"/>
</p:tagLst>
</file>

<file path=ppt/tags/tag1798.xml><?xml version="1.0" encoding="utf-8"?>
<p:tagLst xmlns:a="http://schemas.openxmlformats.org/drawingml/2006/main" xmlns:r="http://schemas.openxmlformats.org/officeDocument/2006/relationships" xmlns:p="http://schemas.openxmlformats.org/presentationml/2006/main">
  <p:tag name="THINKCELLSHAPEDONOTDELETE" val="tZ5yc0AjJZLob8VFsFWzb0w"/>
</p:tagLst>
</file>

<file path=ppt/tags/tag1799.xml><?xml version="1.0" encoding="utf-8"?>
<p:tagLst xmlns:a="http://schemas.openxmlformats.org/drawingml/2006/main" xmlns:r="http://schemas.openxmlformats.org/officeDocument/2006/relationships" xmlns:p="http://schemas.openxmlformats.org/presentationml/2006/main">
  <p:tag name="THINKCELLSHAPEDONOTDELETE" val="tRBy0sLiYVvx7dII4QXGMCw"/>
</p:tagLst>
</file>

<file path=ppt/tags/tag1800.xml><?xml version="1.0" encoding="utf-8"?>
<p:tagLst xmlns:a="http://schemas.openxmlformats.org/drawingml/2006/main" xmlns:r="http://schemas.openxmlformats.org/officeDocument/2006/relationships" xmlns:p="http://schemas.openxmlformats.org/presentationml/2006/main">
  <p:tag name="THINKCELLSHAPEDONOTDELETE" val="tt4.3xznNGXxfXu3Iv_CBSg"/>
</p:tagLst>
</file>

<file path=ppt/tags/tag180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02.xml><?xml version="1.0" encoding="utf-8"?>
<p:tagLst xmlns:a="http://schemas.openxmlformats.org/drawingml/2006/main" xmlns:r="http://schemas.openxmlformats.org/officeDocument/2006/relationships" xmlns:p="http://schemas.openxmlformats.org/presentationml/2006/main">
  <p:tag name="THINKCELLSHAPEDONOTDELETE" val="tzmuyeBjcyNSrBMeBg039jg"/>
</p:tagLst>
</file>

<file path=ppt/tags/tag1803.xml><?xml version="1.0" encoding="utf-8"?>
<p:tagLst xmlns:a="http://schemas.openxmlformats.org/drawingml/2006/main" xmlns:r="http://schemas.openxmlformats.org/officeDocument/2006/relationships" xmlns:p="http://schemas.openxmlformats.org/presentationml/2006/main">
  <p:tag name="HEADER" val="True"/>
</p:tagLst>
</file>

<file path=ppt/tags/tag1804.xml><?xml version="1.0" encoding="utf-8"?>
<p:tagLst xmlns:a="http://schemas.openxmlformats.org/drawingml/2006/main" xmlns:r="http://schemas.openxmlformats.org/officeDocument/2006/relationships" xmlns:p="http://schemas.openxmlformats.org/presentationml/2006/main">
  <p:tag name="HEADER" val="True"/>
</p:tagLst>
</file>

<file path=ppt/tags/tag180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06.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80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08.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809.xml><?xml version="1.0" encoding="utf-8"?>
<p:tagLst xmlns:a="http://schemas.openxmlformats.org/drawingml/2006/main" xmlns:r="http://schemas.openxmlformats.org/officeDocument/2006/relationships" xmlns:p="http://schemas.openxmlformats.org/presentationml/2006/main">
  <p:tag name="HEADER" val="True"/>
</p:tagLst>
</file>

<file path=ppt/tags/tag1810.xml><?xml version="1.0" encoding="utf-8"?>
<p:tagLst xmlns:a="http://schemas.openxmlformats.org/drawingml/2006/main" xmlns:r="http://schemas.openxmlformats.org/officeDocument/2006/relationships" xmlns:p="http://schemas.openxmlformats.org/presentationml/2006/main">
  <p:tag name="HEADER" val="True"/>
</p:tagLst>
</file>

<file path=ppt/tags/tag1811.xml><?xml version="1.0" encoding="utf-8"?>
<p:tagLst xmlns:a="http://schemas.openxmlformats.org/drawingml/2006/main" xmlns:r="http://schemas.openxmlformats.org/officeDocument/2006/relationships" xmlns:p="http://schemas.openxmlformats.org/presentationml/2006/main">
  <p:tag name="THINKCELLSHAPEDONOTDELETE" val="tBA5_zdVdquWu3jTXClslYA"/>
</p:tagLst>
</file>

<file path=ppt/tags/tag1812.xml><?xml version="1.0" encoding="utf-8"?>
<p:tagLst xmlns:a="http://schemas.openxmlformats.org/drawingml/2006/main" xmlns:r="http://schemas.openxmlformats.org/officeDocument/2006/relationships" xmlns:p="http://schemas.openxmlformats.org/presentationml/2006/main">
  <p:tag name="THINKCELLSHAPEDONOTDELETE" val="tBmSMrd5zAwUE2mRB_a_.ig"/>
</p:tagLst>
</file>

<file path=ppt/tags/tag1813.xml><?xml version="1.0" encoding="utf-8"?>
<p:tagLst xmlns:a="http://schemas.openxmlformats.org/drawingml/2006/main" xmlns:r="http://schemas.openxmlformats.org/officeDocument/2006/relationships" xmlns:p="http://schemas.openxmlformats.org/presentationml/2006/main">
  <p:tag name="THINKCELLSHAPEDONOTDELETE" val="tvdet2D9kU8AfOWzLBX02pw"/>
</p:tagLst>
</file>

<file path=ppt/tags/tag1814.xml><?xml version="1.0" encoding="utf-8"?>
<p:tagLst xmlns:a="http://schemas.openxmlformats.org/drawingml/2006/main" xmlns:r="http://schemas.openxmlformats.org/officeDocument/2006/relationships" xmlns:p="http://schemas.openxmlformats.org/presentationml/2006/main">
  <p:tag name="THINKCELLSHAPEDONOTDELETE" val="tg3vpyf76UV1CRGiuiJXOpQ"/>
</p:tagLst>
</file>

<file path=ppt/tags/tag1815.xml><?xml version="1.0" encoding="utf-8"?>
<p:tagLst xmlns:a="http://schemas.openxmlformats.org/drawingml/2006/main" xmlns:r="http://schemas.openxmlformats.org/officeDocument/2006/relationships" xmlns:p="http://schemas.openxmlformats.org/presentationml/2006/main">
  <p:tag name="THINKCELLSHAPEDONOTDELETE" val="tub0rnyvGywS3fPXuUvc44g"/>
</p:tagLst>
</file>

<file path=ppt/tags/tag1816.xml><?xml version="1.0" encoding="utf-8"?>
<p:tagLst xmlns:a="http://schemas.openxmlformats.org/drawingml/2006/main" xmlns:r="http://schemas.openxmlformats.org/officeDocument/2006/relationships" xmlns:p="http://schemas.openxmlformats.org/presentationml/2006/main">
  <p:tag name="THINKCELLSHAPEDONOTDELETE" val="tOut2mRd_3T7ERMBKfHN6fw"/>
</p:tagLst>
</file>

<file path=ppt/tags/tag1817.xml><?xml version="1.0" encoding="utf-8"?>
<p:tagLst xmlns:a="http://schemas.openxmlformats.org/drawingml/2006/main" xmlns:r="http://schemas.openxmlformats.org/officeDocument/2006/relationships" xmlns:p="http://schemas.openxmlformats.org/presentationml/2006/main">
  <p:tag name="THINKCELLSHAPEDONOTDELETE" val="tzUDBq60qsuucNki4WcHWEA"/>
</p:tagLst>
</file>

<file path=ppt/tags/tag1818.xml><?xml version="1.0" encoding="utf-8"?>
<p:tagLst xmlns:a="http://schemas.openxmlformats.org/drawingml/2006/main" xmlns:r="http://schemas.openxmlformats.org/officeDocument/2006/relationships" xmlns:p="http://schemas.openxmlformats.org/presentationml/2006/main">
  <p:tag name="THINKCELLSHAPEDONOTDELETE" val="tvwYNR74eBUnhWn5uAs1aew"/>
</p:tagLst>
</file>

<file path=ppt/tags/tag1819.xml><?xml version="1.0" encoding="utf-8"?>
<p:tagLst xmlns:a="http://schemas.openxmlformats.org/drawingml/2006/main" xmlns:r="http://schemas.openxmlformats.org/officeDocument/2006/relationships" xmlns:p="http://schemas.openxmlformats.org/presentationml/2006/main">
  <p:tag name="THINKCELLSHAPEDONOTDELETE" val="tReja1DXrCm8jBllIpfc56g"/>
</p:tagLst>
</file>

<file path=ppt/tags/tag1820.xml><?xml version="1.0" encoding="utf-8"?>
<p:tagLst xmlns:a="http://schemas.openxmlformats.org/drawingml/2006/main" xmlns:r="http://schemas.openxmlformats.org/officeDocument/2006/relationships" xmlns:p="http://schemas.openxmlformats.org/presentationml/2006/main">
  <p:tag name="THINKCELLSHAPEDONOTDELETE" val="t8cBtkfEILhbqrYguWQorLA"/>
</p:tagLst>
</file>

<file path=ppt/tags/tag1821.xml><?xml version="1.0" encoding="utf-8"?>
<p:tagLst xmlns:a="http://schemas.openxmlformats.org/drawingml/2006/main" xmlns:r="http://schemas.openxmlformats.org/officeDocument/2006/relationships" xmlns:p="http://schemas.openxmlformats.org/presentationml/2006/main">
  <p:tag name="THINKCELLSHAPEDONOTDELETE" val="tGzGJjRAmCO.rTv7K2mLh5Q"/>
</p:tagLst>
</file>

<file path=ppt/tags/tag1822.xml><?xml version="1.0" encoding="utf-8"?>
<p:tagLst xmlns:a="http://schemas.openxmlformats.org/drawingml/2006/main" xmlns:r="http://schemas.openxmlformats.org/officeDocument/2006/relationships" xmlns:p="http://schemas.openxmlformats.org/presentationml/2006/main">
  <p:tag name="THINKCELLSHAPEDONOTDELETE" val="tmHfZFcrYLdN1BzJ7e6iz7g"/>
</p:tagLst>
</file>

<file path=ppt/tags/tag1823.xml><?xml version="1.0" encoding="utf-8"?>
<p:tagLst xmlns:a="http://schemas.openxmlformats.org/drawingml/2006/main" xmlns:r="http://schemas.openxmlformats.org/officeDocument/2006/relationships" xmlns:p="http://schemas.openxmlformats.org/presentationml/2006/main">
  <p:tag name="THINKCELLSHAPEDONOTDELETE" val="tlpVatw3teCzVc7Qz5mI0jg"/>
</p:tagLst>
</file>

<file path=ppt/tags/tag1824.xml><?xml version="1.0" encoding="utf-8"?>
<p:tagLst xmlns:a="http://schemas.openxmlformats.org/drawingml/2006/main" xmlns:r="http://schemas.openxmlformats.org/officeDocument/2006/relationships" xmlns:p="http://schemas.openxmlformats.org/presentationml/2006/main">
  <p:tag name="THINKCELLSHAPEDONOTDELETE" val="t35LKpYiNh73P0nR8I9J4AQ"/>
</p:tagLst>
</file>

<file path=ppt/tags/tag1825.xml><?xml version="1.0" encoding="utf-8"?>
<p:tagLst xmlns:a="http://schemas.openxmlformats.org/drawingml/2006/main" xmlns:r="http://schemas.openxmlformats.org/officeDocument/2006/relationships" xmlns:p="http://schemas.openxmlformats.org/presentationml/2006/main">
  <p:tag name="THINKCELLSHAPEDONOTDELETE" val="tvHwuQPHJcN7PCzoSlmKVkQ"/>
</p:tagLst>
</file>

<file path=ppt/tags/tag1826.xml><?xml version="1.0" encoding="utf-8"?>
<p:tagLst xmlns:a="http://schemas.openxmlformats.org/drawingml/2006/main" xmlns:r="http://schemas.openxmlformats.org/officeDocument/2006/relationships" xmlns:p="http://schemas.openxmlformats.org/presentationml/2006/main">
  <p:tag name="THINKCELLSHAPEDONOTDELETE" val="toM.MzienB3QnEOocl04Rsg"/>
</p:tagLst>
</file>

<file path=ppt/tags/tag1827.xml><?xml version="1.0" encoding="utf-8"?>
<p:tagLst xmlns:a="http://schemas.openxmlformats.org/drawingml/2006/main" xmlns:r="http://schemas.openxmlformats.org/officeDocument/2006/relationships" xmlns:p="http://schemas.openxmlformats.org/presentationml/2006/main">
  <p:tag name="THINKCELLSHAPEDONOTDELETE" val="tRRxE8z1qsOI45MtLk8CUeg"/>
</p:tagLst>
</file>

<file path=ppt/tags/tag1828.xml><?xml version="1.0" encoding="utf-8"?>
<p:tagLst xmlns:a="http://schemas.openxmlformats.org/drawingml/2006/main" xmlns:r="http://schemas.openxmlformats.org/officeDocument/2006/relationships" xmlns:p="http://schemas.openxmlformats.org/presentationml/2006/main">
  <p:tag name="THINKCELLSHAPEDONOTDELETE" val="tT0KlJCgqEXrOn8ivpZp36g"/>
</p:tagLst>
</file>

<file path=ppt/tags/tag1829.xml><?xml version="1.0" encoding="utf-8"?>
<p:tagLst xmlns:a="http://schemas.openxmlformats.org/drawingml/2006/main" xmlns:r="http://schemas.openxmlformats.org/officeDocument/2006/relationships" xmlns:p="http://schemas.openxmlformats.org/presentationml/2006/main">
  <p:tag name="THINKCELLSHAPEDONOTDELETE" val="tXrs8GwV8hmngEjxHnwg3Zw"/>
</p:tagLst>
</file>

<file path=ppt/tags/tag1830.xml><?xml version="1.0" encoding="utf-8"?>
<p:tagLst xmlns:a="http://schemas.openxmlformats.org/drawingml/2006/main" xmlns:r="http://schemas.openxmlformats.org/officeDocument/2006/relationships" xmlns:p="http://schemas.openxmlformats.org/presentationml/2006/main">
  <p:tag name="THINKCELLSHAPEDONOTDELETE" val="tR1R_SfWHapG8vihC_D3okg"/>
</p:tagLst>
</file>

<file path=ppt/tags/tag1831.xml><?xml version="1.0" encoding="utf-8"?>
<p:tagLst xmlns:a="http://schemas.openxmlformats.org/drawingml/2006/main" xmlns:r="http://schemas.openxmlformats.org/officeDocument/2006/relationships" xmlns:p="http://schemas.openxmlformats.org/presentationml/2006/main">
  <p:tag name="THINKCELLSHAPEDONOTDELETE" val="tGaCaPLC2QKmPG7fPrNiIVA"/>
</p:tagLst>
</file>

<file path=ppt/tags/tag1832.xml><?xml version="1.0" encoding="utf-8"?>
<p:tagLst xmlns:a="http://schemas.openxmlformats.org/drawingml/2006/main" xmlns:r="http://schemas.openxmlformats.org/officeDocument/2006/relationships" xmlns:p="http://schemas.openxmlformats.org/presentationml/2006/main">
  <p:tag name="THINKCELLSHAPEDONOTDELETE" val="tMjZBpANTHTCIpTlE.KHUcQ"/>
</p:tagLst>
</file>

<file path=ppt/tags/tag1833.xml><?xml version="1.0" encoding="utf-8"?>
<p:tagLst xmlns:a="http://schemas.openxmlformats.org/drawingml/2006/main" xmlns:r="http://schemas.openxmlformats.org/officeDocument/2006/relationships" xmlns:p="http://schemas.openxmlformats.org/presentationml/2006/main">
  <p:tag name="THINKCELLSHAPEDONOTDELETE" val="tWAFJxVWmYxu9rSOebRahug"/>
</p:tagLst>
</file>

<file path=ppt/tags/tag1834.xml><?xml version="1.0" encoding="utf-8"?>
<p:tagLst xmlns:a="http://schemas.openxmlformats.org/drawingml/2006/main" xmlns:r="http://schemas.openxmlformats.org/officeDocument/2006/relationships" xmlns:p="http://schemas.openxmlformats.org/presentationml/2006/main">
  <p:tag name="THINKCELLSHAPEDONOTDELETE" val="tJHJGTHH4XJmJfKa20WIh8g"/>
</p:tagLst>
</file>

<file path=ppt/tags/tag1835.xml><?xml version="1.0" encoding="utf-8"?>
<p:tagLst xmlns:a="http://schemas.openxmlformats.org/drawingml/2006/main" xmlns:r="http://schemas.openxmlformats.org/officeDocument/2006/relationships" xmlns:p="http://schemas.openxmlformats.org/presentationml/2006/main">
  <p:tag name="THINKCELLSHAPEDONOTDELETE" val="tAAoRRfKG3g9muF1aeu1.4w"/>
</p:tagLst>
</file>

<file path=ppt/tags/tag1836.xml><?xml version="1.0" encoding="utf-8"?>
<p:tagLst xmlns:a="http://schemas.openxmlformats.org/drawingml/2006/main" xmlns:r="http://schemas.openxmlformats.org/officeDocument/2006/relationships" xmlns:p="http://schemas.openxmlformats.org/presentationml/2006/main">
  <p:tag name="THINKCELLSHAPEDONOTDELETE" val="tfMRnEP7YiOKDMf.2NZSHZQ"/>
</p:tagLst>
</file>

<file path=ppt/tags/tag1837.xml><?xml version="1.0" encoding="utf-8"?>
<p:tagLst xmlns:a="http://schemas.openxmlformats.org/drawingml/2006/main" xmlns:r="http://schemas.openxmlformats.org/officeDocument/2006/relationships" xmlns:p="http://schemas.openxmlformats.org/presentationml/2006/main">
  <p:tag name="THINKCELLSHAPEDONOTDELETE" val="teDXqZbv_Snvn8GIwdfbGQg"/>
</p:tagLst>
</file>

<file path=ppt/tags/tag1838.xml><?xml version="1.0" encoding="utf-8"?>
<p:tagLst xmlns:a="http://schemas.openxmlformats.org/drawingml/2006/main" xmlns:r="http://schemas.openxmlformats.org/officeDocument/2006/relationships" xmlns:p="http://schemas.openxmlformats.org/presentationml/2006/main">
  <p:tag name="THINKCELLSHAPEDONOTDELETE" val="t3LPQ46tFovMNoWaGnQx1Kw"/>
</p:tagLst>
</file>

<file path=ppt/tags/tag1839.xml><?xml version="1.0" encoding="utf-8"?>
<p:tagLst xmlns:a="http://schemas.openxmlformats.org/drawingml/2006/main" xmlns:r="http://schemas.openxmlformats.org/officeDocument/2006/relationships" xmlns:p="http://schemas.openxmlformats.org/presentationml/2006/main">
  <p:tag name="THINKCELLSHAPEDONOTDELETE" val="tmEtpzKk1tVs5WLg_s0f6lQ"/>
</p:tagLst>
</file>

<file path=ppt/tags/tag1840.xml><?xml version="1.0" encoding="utf-8"?>
<p:tagLst xmlns:a="http://schemas.openxmlformats.org/drawingml/2006/main" xmlns:r="http://schemas.openxmlformats.org/officeDocument/2006/relationships" xmlns:p="http://schemas.openxmlformats.org/presentationml/2006/main">
  <p:tag name="THINKCELLSHAPEDONOTDELETE" val="teLWhUQRlRT.yn3XfXTBG3Q"/>
</p:tagLst>
</file>

<file path=ppt/tags/tag1841.xml><?xml version="1.0" encoding="utf-8"?>
<p:tagLst xmlns:a="http://schemas.openxmlformats.org/drawingml/2006/main" xmlns:r="http://schemas.openxmlformats.org/officeDocument/2006/relationships" xmlns:p="http://schemas.openxmlformats.org/presentationml/2006/main">
  <p:tag name="THINKCELLSHAPEDONOTDELETE" val="tlmrBIEfy1xyAYhp.L9GQhQ"/>
</p:tagLst>
</file>

<file path=ppt/tags/tag1842.xml><?xml version="1.0" encoding="utf-8"?>
<p:tagLst xmlns:a="http://schemas.openxmlformats.org/drawingml/2006/main" xmlns:r="http://schemas.openxmlformats.org/officeDocument/2006/relationships" xmlns:p="http://schemas.openxmlformats.org/presentationml/2006/main">
  <p:tag name="THINKCELLSHAPEDONOTDELETE" val="tpIwsbsVAxXAO6FTfkDj71A"/>
</p:tagLst>
</file>

<file path=ppt/tags/tag184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44.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845.xml><?xml version="1.0" encoding="utf-8"?>
<p:tagLst xmlns:a="http://schemas.openxmlformats.org/drawingml/2006/main" xmlns:r="http://schemas.openxmlformats.org/officeDocument/2006/relationships" xmlns:p="http://schemas.openxmlformats.org/presentationml/2006/main">
  <p:tag name="HEADER" val="True"/>
</p:tagLst>
</file>

<file path=ppt/tags/tag1846.xml><?xml version="1.0" encoding="utf-8"?>
<p:tagLst xmlns:a="http://schemas.openxmlformats.org/drawingml/2006/main" xmlns:r="http://schemas.openxmlformats.org/officeDocument/2006/relationships" xmlns:p="http://schemas.openxmlformats.org/presentationml/2006/main">
  <p:tag name="HEADER" val="True"/>
</p:tagLst>
</file>

<file path=ppt/tags/tag1847.xml><?xml version="1.0" encoding="utf-8"?>
<p:tagLst xmlns:a="http://schemas.openxmlformats.org/drawingml/2006/main" xmlns:r="http://schemas.openxmlformats.org/officeDocument/2006/relationships" xmlns:p="http://schemas.openxmlformats.org/presentationml/2006/main">
  <p:tag name="THINKCELLSHAPEDONOTDELETE" val="tIcWT9hjkX.EDUU_UW5ZrNg"/>
</p:tagLst>
</file>

<file path=ppt/tags/tag1848.xml><?xml version="1.0" encoding="utf-8"?>
<p:tagLst xmlns:a="http://schemas.openxmlformats.org/drawingml/2006/main" xmlns:r="http://schemas.openxmlformats.org/officeDocument/2006/relationships" xmlns:p="http://schemas.openxmlformats.org/presentationml/2006/main">
  <p:tag name="THINKCELLSHAPEDONOTDELETE" val="tyqS149V5OodiLkRbfksMWg"/>
</p:tagLst>
</file>

<file path=ppt/tags/tag1849.xml><?xml version="1.0" encoding="utf-8"?>
<p:tagLst xmlns:a="http://schemas.openxmlformats.org/drawingml/2006/main" xmlns:r="http://schemas.openxmlformats.org/officeDocument/2006/relationships" xmlns:p="http://schemas.openxmlformats.org/presentationml/2006/main">
  <p:tag name="THINKCELLSHAPEDONOTDELETE" val="tbDsC4iGp2lGN4Be276zBmA"/>
</p:tagLst>
</file>

<file path=ppt/tags/tag1850.xml><?xml version="1.0" encoding="utf-8"?>
<p:tagLst xmlns:a="http://schemas.openxmlformats.org/drawingml/2006/main" xmlns:r="http://schemas.openxmlformats.org/officeDocument/2006/relationships" xmlns:p="http://schemas.openxmlformats.org/presentationml/2006/main">
  <p:tag name="THINKCELLSHAPEDONOTDELETE" val="tBxd6kn555uDIqjXtl9kTKQ"/>
</p:tagLst>
</file>

<file path=ppt/tags/tag1851.xml><?xml version="1.0" encoding="utf-8"?>
<p:tagLst xmlns:a="http://schemas.openxmlformats.org/drawingml/2006/main" xmlns:r="http://schemas.openxmlformats.org/officeDocument/2006/relationships" xmlns:p="http://schemas.openxmlformats.org/presentationml/2006/main">
  <p:tag name="THINKCELLSHAPEDONOTDELETE" val="tiWHLcLFlWYKYRsSPV6DDaA"/>
</p:tagLst>
</file>

<file path=ppt/tags/tag1852.xml><?xml version="1.0" encoding="utf-8"?>
<p:tagLst xmlns:a="http://schemas.openxmlformats.org/drawingml/2006/main" xmlns:r="http://schemas.openxmlformats.org/officeDocument/2006/relationships" xmlns:p="http://schemas.openxmlformats.org/presentationml/2006/main">
  <p:tag name="THINKCELLSHAPEDONOTDELETE" val="tPjFwo.zXR.BakjPOZ910IA"/>
</p:tagLst>
</file>

<file path=ppt/tags/tag1853.xml><?xml version="1.0" encoding="utf-8"?>
<p:tagLst xmlns:a="http://schemas.openxmlformats.org/drawingml/2006/main" xmlns:r="http://schemas.openxmlformats.org/officeDocument/2006/relationships" xmlns:p="http://schemas.openxmlformats.org/presentationml/2006/main">
  <p:tag name="THINKCELLSHAPEDONOTDELETE" val="tiXCU09VqW76NQRpTFVPqnQ"/>
</p:tagLst>
</file>

<file path=ppt/tags/tag1854.xml><?xml version="1.0" encoding="utf-8"?>
<p:tagLst xmlns:a="http://schemas.openxmlformats.org/drawingml/2006/main" xmlns:r="http://schemas.openxmlformats.org/officeDocument/2006/relationships" xmlns:p="http://schemas.openxmlformats.org/presentationml/2006/main">
  <p:tag name="THINKCELLSHAPEDONOTDELETE" val="tjET0SI4dYJeDRGJ7jmC1_w"/>
</p:tagLst>
</file>

<file path=ppt/tags/tag1855.xml><?xml version="1.0" encoding="utf-8"?>
<p:tagLst xmlns:a="http://schemas.openxmlformats.org/drawingml/2006/main" xmlns:r="http://schemas.openxmlformats.org/officeDocument/2006/relationships" xmlns:p="http://schemas.openxmlformats.org/presentationml/2006/main">
  <p:tag name="THINKCELLSHAPEDONOTDELETE" val="tUmXv_vzFqysMit4cZfr5dw"/>
</p:tagLst>
</file>

<file path=ppt/tags/tag1856.xml><?xml version="1.0" encoding="utf-8"?>
<p:tagLst xmlns:a="http://schemas.openxmlformats.org/drawingml/2006/main" xmlns:r="http://schemas.openxmlformats.org/officeDocument/2006/relationships" xmlns:p="http://schemas.openxmlformats.org/presentationml/2006/main">
  <p:tag name="THINKCELLSHAPEDONOTDELETE" val="tzVHLIe5Jm3p9nczT_3or4g"/>
</p:tagLst>
</file>

<file path=ppt/tags/tag1857.xml><?xml version="1.0" encoding="utf-8"?>
<p:tagLst xmlns:a="http://schemas.openxmlformats.org/drawingml/2006/main" xmlns:r="http://schemas.openxmlformats.org/officeDocument/2006/relationships" xmlns:p="http://schemas.openxmlformats.org/presentationml/2006/main">
  <p:tag name="THINKCELLSHAPEDONOTDELETE" val="tU78weYPru4OamVBMPoBSkw"/>
</p:tagLst>
</file>

<file path=ppt/tags/tag1858.xml><?xml version="1.0" encoding="utf-8"?>
<p:tagLst xmlns:a="http://schemas.openxmlformats.org/drawingml/2006/main" xmlns:r="http://schemas.openxmlformats.org/officeDocument/2006/relationships" xmlns:p="http://schemas.openxmlformats.org/presentationml/2006/main">
  <p:tag name="THINKCELLSHAPEDONOTDELETE" val="tRqlzqe5odNWj_gQ3xZTRig"/>
</p:tagLst>
</file>

<file path=ppt/tags/tag1859.xml><?xml version="1.0" encoding="utf-8"?>
<p:tagLst xmlns:a="http://schemas.openxmlformats.org/drawingml/2006/main" xmlns:r="http://schemas.openxmlformats.org/officeDocument/2006/relationships" xmlns:p="http://schemas.openxmlformats.org/presentationml/2006/main">
  <p:tag name="THINKCELLSHAPEDONOTDELETE" val="t2iqZAFChkpSyzJoz12UHMw"/>
</p:tagLst>
</file>

<file path=ppt/tags/tag1860.xml><?xml version="1.0" encoding="utf-8"?>
<p:tagLst xmlns:a="http://schemas.openxmlformats.org/drawingml/2006/main" xmlns:r="http://schemas.openxmlformats.org/officeDocument/2006/relationships" xmlns:p="http://schemas.openxmlformats.org/presentationml/2006/main">
  <p:tag name="THINKCELLSHAPEDONOTDELETE" val="tfOpSjFX7bD2RUJMJPvyswQ"/>
</p:tagLst>
</file>

<file path=ppt/tags/tag1861.xml><?xml version="1.0" encoding="utf-8"?>
<p:tagLst xmlns:a="http://schemas.openxmlformats.org/drawingml/2006/main" xmlns:r="http://schemas.openxmlformats.org/officeDocument/2006/relationships" xmlns:p="http://schemas.openxmlformats.org/presentationml/2006/main">
  <p:tag name="THINKCELLSHAPEDONOTDELETE" val="tx.Mg_m0TRHKM5JmZWmxIHw"/>
</p:tagLst>
</file>

<file path=ppt/tags/tag1862.xml><?xml version="1.0" encoding="utf-8"?>
<p:tagLst xmlns:a="http://schemas.openxmlformats.org/drawingml/2006/main" xmlns:r="http://schemas.openxmlformats.org/officeDocument/2006/relationships" xmlns:p="http://schemas.openxmlformats.org/presentationml/2006/main">
  <p:tag name="THINKCELLSHAPEDONOTDELETE" val="tkaBMiHhaZWIrtWOuC6KoUQ"/>
</p:tagLst>
</file>

<file path=ppt/tags/tag1863.xml><?xml version="1.0" encoding="utf-8"?>
<p:tagLst xmlns:a="http://schemas.openxmlformats.org/drawingml/2006/main" xmlns:r="http://schemas.openxmlformats.org/officeDocument/2006/relationships" xmlns:p="http://schemas.openxmlformats.org/presentationml/2006/main">
  <p:tag name="THINKCELLSHAPEDONOTDELETE" val="t.JA2CQZItwTlm5loHd0YFA"/>
</p:tagLst>
</file>

<file path=ppt/tags/tag1864.xml><?xml version="1.0" encoding="utf-8"?>
<p:tagLst xmlns:a="http://schemas.openxmlformats.org/drawingml/2006/main" xmlns:r="http://schemas.openxmlformats.org/officeDocument/2006/relationships" xmlns:p="http://schemas.openxmlformats.org/presentationml/2006/main">
  <p:tag name="THINKCELLSHAPEDONOTDELETE" val="tfk14mu2nxXB1FUZvw.rT2A"/>
</p:tagLst>
</file>

<file path=ppt/tags/tag1865.xml><?xml version="1.0" encoding="utf-8"?>
<p:tagLst xmlns:a="http://schemas.openxmlformats.org/drawingml/2006/main" xmlns:r="http://schemas.openxmlformats.org/officeDocument/2006/relationships" xmlns:p="http://schemas.openxmlformats.org/presentationml/2006/main">
  <p:tag name="THINKCELLSHAPEDONOTDELETE" val="tJ43Iu2S5x9rUuKpbUD5NQQ"/>
</p:tagLst>
</file>

<file path=ppt/tags/tag1866.xml><?xml version="1.0" encoding="utf-8"?>
<p:tagLst xmlns:a="http://schemas.openxmlformats.org/drawingml/2006/main" xmlns:r="http://schemas.openxmlformats.org/officeDocument/2006/relationships" xmlns:p="http://schemas.openxmlformats.org/presentationml/2006/main">
  <p:tag name="THINKCELLSHAPEDONOTDELETE" val="t4zBy.Ftc2EEvp5vwhaWkxA"/>
</p:tagLst>
</file>

<file path=ppt/tags/tag1867.xml><?xml version="1.0" encoding="utf-8"?>
<p:tagLst xmlns:a="http://schemas.openxmlformats.org/drawingml/2006/main" xmlns:r="http://schemas.openxmlformats.org/officeDocument/2006/relationships" xmlns:p="http://schemas.openxmlformats.org/presentationml/2006/main">
  <p:tag name="THINKCELLSHAPEDONOTDELETE" val="t3engjskTQydlkVwPYF0nHg"/>
</p:tagLst>
</file>

<file path=ppt/tags/tag1868.xml><?xml version="1.0" encoding="utf-8"?>
<p:tagLst xmlns:a="http://schemas.openxmlformats.org/drawingml/2006/main" xmlns:r="http://schemas.openxmlformats.org/officeDocument/2006/relationships" xmlns:p="http://schemas.openxmlformats.org/presentationml/2006/main">
  <p:tag name="THINKCELLSHAPEDONOTDELETE" val="tPZLRNh7rgTKDFy7BfQWgjg"/>
</p:tagLst>
</file>

<file path=ppt/tags/tag1869.xml><?xml version="1.0" encoding="utf-8"?>
<p:tagLst xmlns:a="http://schemas.openxmlformats.org/drawingml/2006/main" xmlns:r="http://schemas.openxmlformats.org/officeDocument/2006/relationships" xmlns:p="http://schemas.openxmlformats.org/presentationml/2006/main">
  <p:tag name="THINKCELLSHAPEDONOTDELETE" val="tqRykf0vCnPvw.Oc2VlOo7w"/>
</p:tagLst>
</file>

<file path=ppt/tags/tag1870.xml><?xml version="1.0" encoding="utf-8"?>
<p:tagLst xmlns:a="http://schemas.openxmlformats.org/drawingml/2006/main" xmlns:r="http://schemas.openxmlformats.org/officeDocument/2006/relationships" xmlns:p="http://schemas.openxmlformats.org/presentationml/2006/main">
  <p:tag name="THINKCELLSHAPEDONOTDELETE" val="t9TTgQyqhBc2wGxCTNe0pXg"/>
</p:tagLst>
</file>

<file path=ppt/tags/tag1871.xml><?xml version="1.0" encoding="utf-8"?>
<p:tagLst xmlns:a="http://schemas.openxmlformats.org/drawingml/2006/main" xmlns:r="http://schemas.openxmlformats.org/officeDocument/2006/relationships" xmlns:p="http://schemas.openxmlformats.org/presentationml/2006/main">
  <p:tag name="THINKCELLSHAPEDONOTDELETE" val="tZTSgpSPUEEwczM9D.j304Q"/>
</p:tagLst>
</file>

<file path=ppt/tags/tag1872.xml><?xml version="1.0" encoding="utf-8"?>
<p:tagLst xmlns:a="http://schemas.openxmlformats.org/drawingml/2006/main" xmlns:r="http://schemas.openxmlformats.org/officeDocument/2006/relationships" xmlns:p="http://schemas.openxmlformats.org/presentationml/2006/main">
  <p:tag name="THINKCELLSHAPEDONOTDELETE" val="tKP1gsp0K0Vp3Q.hk.fy4vA"/>
</p:tagLst>
</file>

<file path=ppt/tags/tag1873.xml><?xml version="1.0" encoding="utf-8"?>
<p:tagLst xmlns:a="http://schemas.openxmlformats.org/drawingml/2006/main" xmlns:r="http://schemas.openxmlformats.org/officeDocument/2006/relationships" xmlns:p="http://schemas.openxmlformats.org/presentationml/2006/main">
  <p:tag name="THINKCELLSHAPEDONOTDELETE" val="tMoQgCyKvlE0zgFWxwAQPow"/>
</p:tagLst>
</file>

<file path=ppt/tags/tag1874.xml><?xml version="1.0" encoding="utf-8"?>
<p:tagLst xmlns:a="http://schemas.openxmlformats.org/drawingml/2006/main" xmlns:r="http://schemas.openxmlformats.org/officeDocument/2006/relationships" xmlns:p="http://schemas.openxmlformats.org/presentationml/2006/main">
  <p:tag name="THINKCELLSHAPEDONOTDELETE" val="tVR1ICqvn_uBKFnA_1SqM2Q"/>
</p:tagLst>
</file>

<file path=ppt/tags/tag1875.xml><?xml version="1.0" encoding="utf-8"?>
<p:tagLst xmlns:a="http://schemas.openxmlformats.org/drawingml/2006/main" xmlns:r="http://schemas.openxmlformats.org/officeDocument/2006/relationships" xmlns:p="http://schemas.openxmlformats.org/presentationml/2006/main">
  <p:tag name="THINKCELLSHAPEDONOTDELETE" val="tP3BGw40V555tv9hfV.E2BQ"/>
</p:tagLst>
</file>

<file path=ppt/tags/tag1876.xml><?xml version="1.0" encoding="utf-8"?>
<p:tagLst xmlns:a="http://schemas.openxmlformats.org/drawingml/2006/main" xmlns:r="http://schemas.openxmlformats.org/officeDocument/2006/relationships" xmlns:p="http://schemas.openxmlformats.org/presentationml/2006/main">
  <p:tag name="THINKCELLSHAPEDONOTDELETE" val="th.mUslrro2xQJeNvQZFTlA"/>
</p:tagLst>
</file>

<file path=ppt/tags/tag1877.xml><?xml version="1.0" encoding="utf-8"?>
<p:tagLst xmlns:a="http://schemas.openxmlformats.org/drawingml/2006/main" xmlns:r="http://schemas.openxmlformats.org/officeDocument/2006/relationships" xmlns:p="http://schemas.openxmlformats.org/presentationml/2006/main">
  <p:tag name="THINKCELLSHAPEDONOTDELETE" val="tixO_TdgujxqEqm.WuhaRBw"/>
</p:tagLst>
</file>

<file path=ppt/tags/tag1878.xml><?xml version="1.0" encoding="utf-8"?>
<p:tagLst xmlns:a="http://schemas.openxmlformats.org/drawingml/2006/main" xmlns:r="http://schemas.openxmlformats.org/officeDocument/2006/relationships" xmlns:p="http://schemas.openxmlformats.org/presentationml/2006/main">
  <p:tag name="THINKCELLSHAPEDONOTDELETE" val="t2MgB._GAZWu8vo3yLn71jA"/>
</p:tagLst>
</file>

<file path=ppt/tags/tag1879.xml><?xml version="1.0" encoding="utf-8"?>
<p:tagLst xmlns:a="http://schemas.openxmlformats.org/drawingml/2006/main" xmlns:r="http://schemas.openxmlformats.org/officeDocument/2006/relationships" xmlns:p="http://schemas.openxmlformats.org/presentationml/2006/main">
  <p:tag name="THINKCELLSHAPEDONOTDELETE" val="tlX8.qY3e_LwP1j1IuI_hDg"/>
</p:tagLst>
</file>

<file path=ppt/tags/tag1880.xml><?xml version="1.0" encoding="utf-8"?>
<p:tagLst xmlns:a="http://schemas.openxmlformats.org/drawingml/2006/main" xmlns:r="http://schemas.openxmlformats.org/officeDocument/2006/relationships" xmlns:p="http://schemas.openxmlformats.org/presentationml/2006/main">
  <p:tag name="THINKCELLSHAPEDONOTDELETE" val="t_NjSFF3x4cNbmdqLy9.j_A"/>
</p:tagLst>
</file>

<file path=ppt/tags/tag1881.xml><?xml version="1.0" encoding="utf-8"?>
<p:tagLst xmlns:a="http://schemas.openxmlformats.org/drawingml/2006/main" xmlns:r="http://schemas.openxmlformats.org/officeDocument/2006/relationships" xmlns:p="http://schemas.openxmlformats.org/presentationml/2006/main">
  <p:tag name="THINKCELLSHAPEDONOTDELETE" val="tkSxwDVsaNggtN_XJAjcgqg"/>
</p:tagLst>
</file>

<file path=ppt/tags/tag1882.xml><?xml version="1.0" encoding="utf-8"?>
<p:tagLst xmlns:a="http://schemas.openxmlformats.org/drawingml/2006/main" xmlns:r="http://schemas.openxmlformats.org/officeDocument/2006/relationships" xmlns:p="http://schemas.openxmlformats.org/presentationml/2006/main">
  <p:tag name="THINKCELLSHAPEDONOTDELETE" val="tDmN0xAzOZCcE1thBKuwLKg"/>
</p:tagLst>
</file>

<file path=ppt/tags/tag1883.xml><?xml version="1.0" encoding="utf-8"?>
<p:tagLst xmlns:a="http://schemas.openxmlformats.org/drawingml/2006/main" xmlns:r="http://schemas.openxmlformats.org/officeDocument/2006/relationships" xmlns:p="http://schemas.openxmlformats.org/presentationml/2006/main">
  <p:tag name="THINKCELLSHAPEDONOTDELETE" val="tm9ULkpTTAMmVa78TdmregA"/>
</p:tagLst>
</file>

<file path=ppt/tags/tag1884.xml><?xml version="1.0" encoding="utf-8"?>
<p:tagLst xmlns:a="http://schemas.openxmlformats.org/drawingml/2006/main" xmlns:r="http://schemas.openxmlformats.org/officeDocument/2006/relationships" xmlns:p="http://schemas.openxmlformats.org/presentationml/2006/main">
  <p:tag name="THINKCELLSHAPEDONOTDELETE" val="t4BZTfp9NoaCMTw1QW9T1_g"/>
</p:tagLst>
</file>

<file path=ppt/tags/tag1885.xml><?xml version="1.0" encoding="utf-8"?>
<p:tagLst xmlns:a="http://schemas.openxmlformats.org/drawingml/2006/main" xmlns:r="http://schemas.openxmlformats.org/officeDocument/2006/relationships" xmlns:p="http://schemas.openxmlformats.org/presentationml/2006/main">
  <p:tag name="THINKCELLSHAPEDONOTDELETE" val="tUlWDR8.l3PSKNtMOnPqB2w"/>
</p:tagLst>
</file>

<file path=ppt/tags/tag1886.xml><?xml version="1.0" encoding="utf-8"?>
<p:tagLst xmlns:a="http://schemas.openxmlformats.org/drawingml/2006/main" xmlns:r="http://schemas.openxmlformats.org/officeDocument/2006/relationships" xmlns:p="http://schemas.openxmlformats.org/presentationml/2006/main">
  <p:tag name="THINKCELLSHAPEDONOTDELETE" val="twY72EJP493WQQJ1vxVGEAA"/>
</p:tagLst>
</file>

<file path=ppt/tags/tag1887.xml><?xml version="1.0" encoding="utf-8"?>
<p:tagLst xmlns:a="http://schemas.openxmlformats.org/drawingml/2006/main" xmlns:r="http://schemas.openxmlformats.org/officeDocument/2006/relationships" xmlns:p="http://schemas.openxmlformats.org/presentationml/2006/main">
  <p:tag name="THINKCELLSHAPEDONOTDELETE" val="tsr3i2oQi61UmdQ2UAFJ0DA"/>
</p:tagLst>
</file>

<file path=ppt/tags/tag1888.xml><?xml version="1.0" encoding="utf-8"?>
<p:tagLst xmlns:a="http://schemas.openxmlformats.org/drawingml/2006/main" xmlns:r="http://schemas.openxmlformats.org/officeDocument/2006/relationships" xmlns:p="http://schemas.openxmlformats.org/presentationml/2006/main">
  <p:tag name="THINKCELLSHAPEDONOTDELETE" val="tpCUR6AD.r5WsGV4dOb8QHQ"/>
</p:tagLst>
</file>

<file path=ppt/tags/tag1889.xml><?xml version="1.0" encoding="utf-8"?>
<p:tagLst xmlns:a="http://schemas.openxmlformats.org/drawingml/2006/main" xmlns:r="http://schemas.openxmlformats.org/officeDocument/2006/relationships" xmlns:p="http://schemas.openxmlformats.org/presentationml/2006/main">
  <p:tag name="THINKCELLSHAPEDONOTDELETE" val="tUcImjbo5.xSmoFfaEtY1Xg"/>
</p:tagLst>
</file>

<file path=ppt/tags/tag189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91.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892.xml><?xml version="1.0" encoding="utf-8"?>
<p:tagLst xmlns:a="http://schemas.openxmlformats.org/drawingml/2006/main" xmlns:r="http://schemas.openxmlformats.org/officeDocument/2006/relationships" xmlns:p="http://schemas.openxmlformats.org/presentationml/2006/main">
  <p:tag name="HEADER" val="True"/>
</p:tagLst>
</file>

<file path=ppt/tags/tag1893.xml><?xml version="1.0" encoding="utf-8"?>
<p:tagLst xmlns:a="http://schemas.openxmlformats.org/drawingml/2006/main" xmlns:r="http://schemas.openxmlformats.org/officeDocument/2006/relationships" xmlns:p="http://schemas.openxmlformats.org/presentationml/2006/main">
  <p:tag name="HEADER" val="True"/>
</p:tagLst>
</file>

<file path=ppt/tags/tag1894.xml><?xml version="1.0" encoding="utf-8"?>
<p:tagLst xmlns:a="http://schemas.openxmlformats.org/drawingml/2006/main" xmlns:r="http://schemas.openxmlformats.org/officeDocument/2006/relationships" xmlns:p="http://schemas.openxmlformats.org/presentationml/2006/main">
  <p:tag name="THINKCELLSHAPEDONOTDELETE" val="tNEgM8f6QrzjpnwgFYykhJA"/>
</p:tagLst>
</file>

<file path=ppt/tags/tag1895.xml><?xml version="1.0" encoding="utf-8"?>
<p:tagLst xmlns:a="http://schemas.openxmlformats.org/drawingml/2006/main" xmlns:r="http://schemas.openxmlformats.org/officeDocument/2006/relationships" xmlns:p="http://schemas.openxmlformats.org/presentationml/2006/main">
  <p:tag name="THINKCELLSHAPEDONOTDELETE" val="tLDYLOp3_3zgB0rKIlvK38w"/>
</p:tagLst>
</file>

<file path=ppt/tags/tag1896.xml><?xml version="1.0" encoding="utf-8"?>
<p:tagLst xmlns:a="http://schemas.openxmlformats.org/drawingml/2006/main" xmlns:r="http://schemas.openxmlformats.org/officeDocument/2006/relationships" xmlns:p="http://schemas.openxmlformats.org/presentationml/2006/main">
  <p:tag name="THINKCELLSHAPEDONOTDELETE" val="tcsW.7h5N2Qw0x.n3I42g8g"/>
</p:tagLst>
</file>

<file path=ppt/tags/tag1897.xml><?xml version="1.0" encoding="utf-8"?>
<p:tagLst xmlns:a="http://schemas.openxmlformats.org/drawingml/2006/main" xmlns:r="http://schemas.openxmlformats.org/officeDocument/2006/relationships" xmlns:p="http://schemas.openxmlformats.org/presentationml/2006/main">
  <p:tag name="THINKCELLSHAPEDONOTDELETE" val="tp_LtDhzPb5SYBnlPvfyKUQ"/>
</p:tagLst>
</file>

<file path=ppt/tags/tag1898.xml><?xml version="1.0" encoding="utf-8"?>
<p:tagLst xmlns:a="http://schemas.openxmlformats.org/drawingml/2006/main" xmlns:r="http://schemas.openxmlformats.org/officeDocument/2006/relationships" xmlns:p="http://schemas.openxmlformats.org/presentationml/2006/main">
  <p:tag name="THINKCELLSHAPEDONOTDELETE" val="tRUnU3gVCEWitd8bPtkO4SA"/>
</p:tagLst>
</file>

<file path=ppt/tags/tag1899.xml><?xml version="1.0" encoding="utf-8"?>
<p:tagLst xmlns:a="http://schemas.openxmlformats.org/drawingml/2006/main" xmlns:r="http://schemas.openxmlformats.org/officeDocument/2006/relationships" xmlns:p="http://schemas.openxmlformats.org/presentationml/2006/main">
  <p:tag name="THINKCELLSHAPEDONOTDELETE" val="tcombarIQ907rYUidW4pQuw"/>
</p:tagLst>
</file>

<file path=ppt/tags/tag1900.xml><?xml version="1.0" encoding="utf-8"?>
<p:tagLst xmlns:a="http://schemas.openxmlformats.org/drawingml/2006/main" xmlns:r="http://schemas.openxmlformats.org/officeDocument/2006/relationships" xmlns:p="http://schemas.openxmlformats.org/presentationml/2006/main">
  <p:tag name="THINKCELLSHAPEDONOTDELETE" val="tF8GKOuOlkcy0D2qP92gfdA"/>
</p:tagLst>
</file>

<file path=ppt/tags/tag1901.xml><?xml version="1.0" encoding="utf-8"?>
<p:tagLst xmlns:a="http://schemas.openxmlformats.org/drawingml/2006/main" xmlns:r="http://schemas.openxmlformats.org/officeDocument/2006/relationships" xmlns:p="http://schemas.openxmlformats.org/presentationml/2006/main">
  <p:tag name="THINKCELLSHAPEDONOTDELETE" val="tV8dkjRpzezF3dKnDvm9BjQ"/>
</p:tagLst>
</file>

<file path=ppt/tags/tag1902.xml><?xml version="1.0" encoding="utf-8"?>
<p:tagLst xmlns:a="http://schemas.openxmlformats.org/drawingml/2006/main" xmlns:r="http://schemas.openxmlformats.org/officeDocument/2006/relationships" xmlns:p="http://schemas.openxmlformats.org/presentationml/2006/main">
  <p:tag name="THINKCELLSHAPEDONOTDELETE" val="tQtJht0p6G08NwNqdxEes_w"/>
</p:tagLst>
</file>

<file path=ppt/tags/tag1903.xml><?xml version="1.0" encoding="utf-8"?>
<p:tagLst xmlns:a="http://schemas.openxmlformats.org/drawingml/2006/main" xmlns:r="http://schemas.openxmlformats.org/officeDocument/2006/relationships" xmlns:p="http://schemas.openxmlformats.org/presentationml/2006/main">
  <p:tag name="THINKCELLSHAPEDONOTDELETE" val="tw9_WD225TD_IZ1Epj8v8UA"/>
</p:tagLst>
</file>

<file path=ppt/tags/tag1904.xml><?xml version="1.0" encoding="utf-8"?>
<p:tagLst xmlns:a="http://schemas.openxmlformats.org/drawingml/2006/main" xmlns:r="http://schemas.openxmlformats.org/officeDocument/2006/relationships" xmlns:p="http://schemas.openxmlformats.org/presentationml/2006/main">
  <p:tag name="THINKCELLSHAPEDONOTDELETE" val="t7au.BFz5h3KDADr_MmZhwA"/>
</p:tagLst>
</file>

<file path=ppt/tags/tag1905.xml><?xml version="1.0" encoding="utf-8"?>
<p:tagLst xmlns:a="http://schemas.openxmlformats.org/drawingml/2006/main" xmlns:r="http://schemas.openxmlformats.org/officeDocument/2006/relationships" xmlns:p="http://schemas.openxmlformats.org/presentationml/2006/main">
  <p:tag name="THINKCELLSHAPEDONOTDELETE" val="tC_4MeEQROn0ef9bNU1j4Dg"/>
</p:tagLst>
</file>

<file path=ppt/tags/tag1906.xml><?xml version="1.0" encoding="utf-8"?>
<p:tagLst xmlns:a="http://schemas.openxmlformats.org/drawingml/2006/main" xmlns:r="http://schemas.openxmlformats.org/officeDocument/2006/relationships" xmlns:p="http://schemas.openxmlformats.org/presentationml/2006/main">
  <p:tag name="THINKCELLSHAPEDONOTDELETE" val="t4KjxV7LsA2huhRBcO8.Pkg"/>
</p:tagLst>
</file>

<file path=ppt/tags/tag1907.xml><?xml version="1.0" encoding="utf-8"?>
<p:tagLst xmlns:a="http://schemas.openxmlformats.org/drawingml/2006/main" xmlns:r="http://schemas.openxmlformats.org/officeDocument/2006/relationships" xmlns:p="http://schemas.openxmlformats.org/presentationml/2006/main">
  <p:tag name="THINKCELLSHAPEDONOTDELETE" val="tIFGK1HaVaB.a.TxrjiMDfg"/>
</p:tagLst>
</file>

<file path=ppt/tags/tag1908.xml><?xml version="1.0" encoding="utf-8"?>
<p:tagLst xmlns:a="http://schemas.openxmlformats.org/drawingml/2006/main" xmlns:r="http://schemas.openxmlformats.org/officeDocument/2006/relationships" xmlns:p="http://schemas.openxmlformats.org/presentationml/2006/main">
  <p:tag name="THINKCELLSHAPEDONOTDELETE" val="tBbdCqPo1_mNaSHJ_.k7.lA"/>
</p:tagLst>
</file>

<file path=ppt/tags/tag1909.xml><?xml version="1.0" encoding="utf-8"?>
<p:tagLst xmlns:a="http://schemas.openxmlformats.org/drawingml/2006/main" xmlns:r="http://schemas.openxmlformats.org/officeDocument/2006/relationships" xmlns:p="http://schemas.openxmlformats.org/presentationml/2006/main">
  <p:tag name="THINKCELLSHAPEDONOTDELETE" val="tbiPQHQ7QOaZVfSC695oK5A"/>
</p:tagLst>
</file>

<file path=ppt/tags/tag1910.xml><?xml version="1.0" encoding="utf-8"?>
<p:tagLst xmlns:a="http://schemas.openxmlformats.org/drawingml/2006/main" xmlns:r="http://schemas.openxmlformats.org/officeDocument/2006/relationships" xmlns:p="http://schemas.openxmlformats.org/presentationml/2006/main">
  <p:tag name="THINKCELLSHAPEDONOTDELETE" val="tJEYJCQQfv3b1efO6faQXOg"/>
</p:tagLst>
</file>

<file path=ppt/tags/tag1911.xml><?xml version="1.0" encoding="utf-8"?>
<p:tagLst xmlns:a="http://schemas.openxmlformats.org/drawingml/2006/main" xmlns:r="http://schemas.openxmlformats.org/officeDocument/2006/relationships" xmlns:p="http://schemas.openxmlformats.org/presentationml/2006/main">
  <p:tag name="THINKCELLSHAPEDONOTDELETE" val="tt5iyMELiMBdVOM4fe5863w"/>
</p:tagLst>
</file>

<file path=ppt/tags/tag1912.xml><?xml version="1.0" encoding="utf-8"?>
<p:tagLst xmlns:a="http://schemas.openxmlformats.org/drawingml/2006/main" xmlns:r="http://schemas.openxmlformats.org/officeDocument/2006/relationships" xmlns:p="http://schemas.openxmlformats.org/presentationml/2006/main">
  <p:tag name="THINKCELLSHAPEDONOTDELETE" val="tA7_mItMnm8eA_uc8NoPukw"/>
</p:tagLst>
</file>

<file path=ppt/tags/tag1913.xml><?xml version="1.0" encoding="utf-8"?>
<p:tagLst xmlns:a="http://schemas.openxmlformats.org/drawingml/2006/main" xmlns:r="http://schemas.openxmlformats.org/officeDocument/2006/relationships" xmlns:p="http://schemas.openxmlformats.org/presentationml/2006/main">
  <p:tag name="THINKCELLSHAPEDONOTDELETE" val="t9aZATNCG8GAf9xtWg_tnUQ"/>
</p:tagLst>
</file>

<file path=ppt/tags/tag1914.xml><?xml version="1.0" encoding="utf-8"?>
<p:tagLst xmlns:a="http://schemas.openxmlformats.org/drawingml/2006/main" xmlns:r="http://schemas.openxmlformats.org/officeDocument/2006/relationships" xmlns:p="http://schemas.openxmlformats.org/presentationml/2006/main">
  <p:tag name="THINKCELLSHAPEDONOTDELETE" val="tRLAUQjBsAJNHJfSQtmv_rw"/>
</p:tagLst>
</file>

<file path=ppt/tags/tag1915.xml><?xml version="1.0" encoding="utf-8"?>
<p:tagLst xmlns:a="http://schemas.openxmlformats.org/drawingml/2006/main" xmlns:r="http://schemas.openxmlformats.org/officeDocument/2006/relationships" xmlns:p="http://schemas.openxmlformats.org/presentationml/2006/main">
  <p:tag name="THINKCELLSHAPEDONOTDELETE" val="to5f1bKgvkiDfOpKPQvW1ug"/>
</p:tagLst>
</file>

<file path=ppt/tags/tag1916.xml><?xml version="1.0" encoding="utf-8"?>
<p:tagLst xmlns:a="http://schemas.openxmlformats.org/drawingml/2006/main" xmlns:r="http://schemas.openxmlformats.org/officeDocument/2006/relationships" xmlns:p="http://schemas.openxmlformats.org/presentationml/2006/main">
  <p:tag name="THINKCELLSHAPEDONOTDELETE" val="tRYQ4zMoAo9L3N9Y505EoXw"/>
</p:tagLst>
</file>

<file path=ppt/tags/tag1917.xml><?xml version="1.0" encoding="utf-8"?>
<p:tagLst xmlns:a="http://schemas.openxmlformats.org/drawingml/2006/main" xmlns:r="http://schemas.openxmlformats.org/officeDocument/2006/relationships" xmlns:p="http://schemas.openxmlformats.org/presentationml/2006/main">
  <p:tag name="THINKCELLSHAPEDONOTDELETE" val="tGRh3nnfKIyUQ5wZinwDXCA"/>
</p:tagLst>
</file>

<file path=ppt/tags/tag1918.xml><?xml version="1.0" encoding="utf-8"?>
<p:tagLst xmlns:a="http://schemas.openxmlformats.org/drawingml/2006/main" xmlns:r="http://schemas.openxmlformats.org/officeDocument/2006/relationships" xmlns:p="http://schemas.openxmlformats.org/presentationml/2006/main">
  <p:tag name="THINKCELLSHAPEDONOTDELETE" val="ttBA4TDBHVD05dTIpm6MpQA"/>
</p:tagLst>
</file>

<file path=ppt/tags/tag1919.xml><?xml version="1.0" encoding="utf-8"?>
<p:tagLst xmlns:a="http://schemas.openxmlformats.org/drawingml/2006/main" xmlns:r="http://schemas.openxmlformats.org/officeDocument/2006/relationships" xmlns:p="http://schemas.openxmlformats.org/presentationml/2006/main">
  <p:tag name="THINKCELLSHAPEDONOTDELETE" val="tfwHgPbwyWt_3aBB9RRe..Q"/>
</p:tagLst>
</file>

<file path=ppt/tags/tag1920.xml><?xml version="1.0" encoding="utf-8"?>
<p:tagLst xmlns:a="http://schemas.openxmlformats.org/drawingml/2006/main" xmlns:r="http://schemas.openxmlformats.org/officeDocument/2006/relationships" xmlns:p="http://schemas.openxmlformats.org/presentationml/2006/main">
  <p:tag name="THINKCELLSHAPEDONOTDELETE" val="tvY.Jo5mXV6RGXoHrVbMEYA"/>
</p:tagLst>
</file>

<file path=ppt/tags/tag1921.xml><?xml version="1.0" encoding="utf-8"?>
<p:tagLst xmlns:a="http://schemas.openxmlformats.org/drawingml/2006/main" xmlns:r="http://schemas.openxmlformats.org/officeDocument/2006/relationships" xmlns:p="http://schemas.openxmlformats.org/presentationml/2006/main">
  <p:tag name="THINKCELLSHAPEDONOTDELETE" val="tf3yNc9SWlRtwIO0yvqX7.g"/>
</p:tagLst>
</file>

<file path=ppt/tags/tag1922.xml><?xml version="1.0" encoding="utf-8"?>
<p:tagLst xmlns:a="http://schemas.openxmlformats.org/drawingml/2006/main" xmlns:r="http://schemas.openxmlformats.org/officeDocument/2006/relationships" xmlns:p="http://schemas.openxmlformats.org/presentationml/2006/main">
  <p:tag name="THINKCELLSHAPEDONOTDELETE" val="toztrD8olEj7FoSa8acUxag"/>
</p:tagLst>
</file>

<file path=ppt/tags/tag1923.xml><?xml version="1.0" encoding="utf-8"?>
<p:tagLst xmlns:a="http://schemas.openxmlformats.org/drawingml/2006/main" xmlns:r="http://schemas.openxmlformats.org/officeDocument/2006/relationships" xmlns:p="http://schemas.openxmlformats.org/presentationml/2006/main">
  <p:tag name="THINKCELLSHAPEDONOTDELETE" val="t.KPBZ4jjt0nVjr.wV.1j7Q"/>
</p:tagLst>
</file>

<file path=ppt/tags/tag1924.xml><?xml version="1.0" encoding="utf-8"?>
<p:tagLst xmlns:a="http://schemas.openxmlformats.org/drawingml/2006/main" xmlns:r="http://schemas.openxmlformats.org/officeDocument/2006/relationships" xmlns:p="http://schemas.openxmlformats.org/presentationml/2006/main">
  <p:tag name="THINKCELLSHAPEDONOTDELETE" val="tArrtM.Cxcpxjb4lXKho11Q"/>
</p:tagLst>
</file>

<file path=ppt/tags/tag1925.xml><?xml version="1.0" encoding="utf-8"?>
<p:tagLst xmlns:a="http://schemas.openxmlformats.org/drawingml/2006/main" xmlns:r="http://schemas.openxmlformats.org/officeDocument/2006/relationships" xmlns:p="http://schemas.openxmlformats.org/presentationml/2006/main">
  <p:tag name="THINKCELLSHAPEDONOTDELETE" val="totGYlYwcSyjqfvdqHhsPSA"/>
</p:tagLst>
</file>

<file path=ppt/tags/tag1926.xml><?xml version="1.0" encoding="utf-8"?>
<p:tagLst xmlns:a="http://schemas.openxmlformats.org/drawingml/2006/main" xmlns:r="http://schemas.openxmlformats.org/officeDocument/2006/relationships" xmlns:p="http://schemas.openxmlformats.org/presentationml/2006/main">
  <p:tag name="THINKCELLSHAPEDONOTDELETE" val="tNRKwT2Sc.3SaD7V5eR60BQ"/>
</p:tagLst>
</file>

<file path=ppt/tags/tag1927.xml><?xml version="1.0" encoding="utf-8"?>
<p:tagLst xmlns:a="http://schemas.openxmlformats.org/drawingml/2006/main" xmlns:r="http://schemas.openxmlformats.org/officeDocument/2006/relationships" xmlns:p="http://schemas.openxmlformats.org/presentationml/2006/main">
  <p:tag name="THINKCELLSHAPEDONOTDELETE" val="tnWiuzXBw3TMJoA7Mvury3w"/>
</p:tagLst>
</file>

<file path=ppt/tags/tag1928.xml><?xml version="1.0" encoding="utf-8"?>
<p:tagLst xmlns:a="http://schemas.openxmlformats.org/drawingml/2006/main" xmlns:r="http://schemas.openxmlformats.org/officeDocument/2006/relationships" xmlns:p="http://schemas.openxmlformats.org/presentationml/2006/main">
  <p:tag name="THINKCELLSHAPEDONOTDELETE" val="t2PJyV_gWXHv7xbW6gcIpcQ"/>
</p:tagLst>
</file>

<file path=ppt/tags/tag1929.xml><?xml version="1.0" encoding="utf-8"?>
<p:tagLst xmlns:a="http://schemas.openxmlformats.org/drawingml/2006/main" xmlns:r="http://schemas.openxmlformats.org/officeDocument/2006/relationships" xmlns:p="http://schemas.openxmlformats.org/presentationml/2006/main">
  <p:tag name="THINKCELLSHAPEDONOTDELETE" val="teVxBij4Ofvjy7W6z9VptXA"/>
</p:tagLst>
</file>

<file path=ppt/tags/tag1930.xml><?xml version="1.0" encoding="utf-8"?>
<p:tagLst xmlns:a="http://schemas.openxmlformats.org/drawingml/2006/main" xmlns:r="http://schemas.openxmlformats.org/officeDocument/2006/relationships" xmlns:p="http://schemas.openxmlformats.org/presentationml/2006/main">
  <p:tag name="THINKCELLSHAPEDONOTDELETE" val="t_7us8inummisebZ5gSvtaA"/>
</p:tagLst>
</file>

<file path=ppt/tags/tag1931.xml><?xml version="1.0" encoding="utf-8"?>
<p:tagLst xmlns:a="http://schemas.openxmlformats.org/drawingml/2006/main" xmlns:r="http://schemas.openxmlformats.org/officeDocument/2006/relationships" xmlns:p="http://schemas.openxmlformats.org/presentationml/2006/main">
  <p:tag name="THINKCELLSHAPEDONOTDELETE" val="ttjwDmi6g363K5AVYTH8DTQ"/>
</p:tagLst>
</file>

<file path=ppt/tags/tag1932.xml><?xml version="1.0" encoding="utf-8"?>
<p:tagLst xmlns:a="http://schemas.openxmlformats.org/drawingml/2006/main" xmlns:r="http://schemas.openxmlformats.org/officeDocument/2006/relationships" xmlns:p="http://schemas.openxmlformats.org/presentationml/2006/main">
  <p:tag name="THINKCELLSHAPEDONOTDELETE" val="t75MH0cirYwCjCsz6zyJYkw"/>
</p:tagLst>
</file>

<file path=ppt/tags/tag1933.xml><?xml version="1.0" encoding="utf-8"?>
<p:tagLst xmlns:a="http://schemas.openxmlformats.org/drawingml/2006/main" xmlns:r="http://schemas.openxmlformats.org/officeDocument/2006/relationships" xmlns:p="http://schemas.openxmlformats.org/presentationml/2006/main">
  <p:tag name="THINKCELLSHAPEDONOTDELETE" val="tPSj7_wvKN7Iy8b5U0tOHiw"/>
</p:tagLst>
</file>

<file path=ppt/tags/tag1934.xml><?xml version="1.0" encoding="utf-8"?>
<p:tagLst xmlns:a="http://schemas.openxmlformats.org/drawingml/2006/main" xmlns:r="http://schemas.openxmlformats.org/officeDocument/2006/relationships" xmlns:p="http://schemas.openxmlformats.org/presentationml/2006/main">
  <p:tag name="THINKCELLSHAPEDONOTDELETE" val="tne1dnoTBFM6hH0TAcfFliw"/>
</p:tagLst>
</file>

<file path=ppt/tags/tag1935.xml><?xml version="1.0" encoding="utf-8"?>
<p:tagLst xmlns:a="http://schemas.openxmlformats.org/drawingml/2006/main" xmlns:r="http://schemas.openxmlformats.org/officeDocument/2006/relationships" xmlns:p="http://schemas.openxmlformats.org/presentationml/2006/main">
  <p:tag name="THINKCELLSHAPEDONOTDELETE" val="tbGAGvzRs4XVajT50Mk6pjw"/>
</p:tagLst>
</file>

<file path=ppt/tags/tag1936.xml><?xml version="1.0" encoding="utf-8"?>
<p:tagLst xmlns:a="http://schemas.openxmlformats.org/drawingml/2006/main" xmlns:r="http://schemas.openxmlformats.org/officeDocument/2006/relationships" xmlns:p="http://schemas.openxmlformats.org/presentationml/2006/main">
  <p:tag name="THINKCELLSHAPEDONOTDELETE" val="t6Zqqlo9T9cNDr7Lcpfh5Sw"/>
</p:tagLst>
</file>

<file path=ppt/tags/tag1937.xml><?xml version="1.0" encoding="utf-8"?>
<p:tagLst xmlns:a="http://schemas.openxmlformats.org/drawingml/2006/main" xmlns:r="http://schemas.openxmlformats.org/officeDocument/2006/relationships" xmlns:p="http://schemas.openxmlformats.org/presentationml/2006/main">
  <p:tag name="THINKCELLSHAPEDONOTDELETE" val="tJVekeRf9yD7FVTJJtWAe5g"/>
</p:tagLst>
</file>

<file path=ppt/tags/tag1938.xml><?xml version="1.0" encoding="utf-8"?>
<p:tagLst xmlns:a="http://schemas.openxmlformats.org/drawingml/2006/main" xmlns:r="http://schemas.openxmlformats.org/officeDocument/2006/relationships" xmlns:p="http://schemas.openxmlformats.org/presentationml/2006/main">
  <p:tag name="THINKCELLSHAPEDONOTDELETE" val="t3Nuv.M4C8Vg2Yb4EaEEurw"/>
</p:tagLst>
</file>

<file path=ppt/tags/tag1939.xml><?xml version="1.0" encoding="utf-8"?>
<p:tagLst xmlns:a="http://schemas.openxmlformats.org/drawingml/2006/main" xmlns:r="http://schemas.openxmlformats.org/officeDocument/2006/relationships" xmlns:p="http://schemas.openxmlformats.org/presentationml/2006/main">
  <p:tag name="THINKCELLSHAPEDONOTDELETE" val="tSW9WVspHd0a0XcPc_kMr9g"/>
</p:tagLst>
</file>

<file path=ppt/tags/tag1940.xml><?xml version="1.0" encoding="utf-8"?>
<p:tagLst xmlns:a="http://schemas.openxmlformats.org/drawingml/2006/main" xmlns:r="http://schemas.openxmlformats.org/officeDocument/2006/relationships" xmlns:p="http://schemas.openxmlformats.org/presentationml/2006/main">
  <p:tag name="THINKCELLSHAPEDONOTDELETE" val="tQ9Gs.Rf2I1szlnxk6fSpgg"/>
</p:tagLst>
</file>

<file path=ppt/tags/tag1941.xml><?xml version="1.0" encoding="utf-8"?>
<p:tagLst xmlns:a="http://schemas.openxmlformats.org/drawingml/2006/main" xmlns:r="http://schemas.openxmlformats.org/officeDocument/2006/relationships" xmlns:p="http://schemas.openxmlformats.org/presentationml/2006/main">
  <p:tag name="THINKCELLSHAPEDONOTDELETE" val="thUOL4ZTrs8f6Aits1S6N3A"/>
</p:tagLst>
</file>

<file path=ppt/tags/tag1942.xml><?xml version="1.0" encoding="utf-8"?>
<p:tagLst xmlns:a="http://schemas.openxmlformats.org/drawingml/2006/main" xmlns:r="http://schemas.openxmlformats.org/officeDocument/2006/relationships" xmlns:p="http://schemas.openxmlformats.org/presentationml/2006/main">
  <p:tag name="THINKCELLSHAPEDONOTDELETE" val="toxF8cGqQCJGwnjqbaegJuw"/>
</p:tagLst>
</file>

<file path=ppt/tags/tag1943.xml><?xml version="1.0" encoding="utf-8"?>
<p:tagLst xmlns:a="http://schemas.openxmlformats.org/drawingml/2006/main" xmlns:r="http://schemas.openxmlformats.org/officeDocument/2006/relationships" xmlns:p="http://schemas.openxmlformats.org/presentationml/2006/main">
  <p:tag name="THINKCELLSHAPEDONOTDELETE" val="tzddJPPkbk67aC9_fxsWVug"/>
</p:tagLst>
</file>

<file path=ppt/tags/tag1944.xml><?xml version="1.0" encoding="utf-8"?>
<p:tagLst xmlns:a="http://schemas.openxmlformats.org/drawingml/2006/main" xmlns:r="http://schemas.openxmlformats.org/officeDocument/2006/relationships" xmlns:p="http://schemas.openxmlformats.org/presentationml/2006/main">
  <p:tag name="THINKCELLSHAPEDONOTDELETE" val="tdYc0Qv_yfFi7hvPoYVJd_w"/>
</p:tagLst>
</file>

<file path=ppt/tags/tag1945.xml><?xml version="1.0" encoding="utf-8"?>
<p:tagLst xmlns:a="http://schemas.openxmlformats.org/drawingml/2006/main" xmlns:r="http://schemas.openxmlformats.org/officeDocument/2006/relationships" xmlns:p="http://schemas.openxmlformats.org/presentationml/2006/main">
  <p:tag name="THINKCELLSHAPEDONOTDELETE" val="tNppLqFVr.olzNV8ivvGsAw"/>
</p:tagLst>
</file>

<file path=ppt/tags/tag1946.xml><?xml version="1.0" encoding="utf-8"?>
<p:tagLst xmlns:a="http://schemas.openxmlformats.org/drawingml/2006/main" xmlns:r="http://schemas.openxmlformats.org/officeDocument/2006/relationships" xmlns:p="http://schemas.openxmlformats.org/presentationml/2006/main">
  <p:tag name="THINKCELLSHAPEDONOTDELETE" val="t8isN5DoyB8hWJNmtzXRAmQ"/>
</p:tagLst>
</file>

<file path=ppt/tags/tag1947.xml><?xml version="1.0" encoding="utf-8"?>
<p:tagLst xmlns:a="http://schemas.openxmlformats.org/drawingml/2006/main" xmlns:r="http://schemas.openxmlformats.org/officeDocument/2006/relationships" xmlns:p="http://schemas.openxmlformats.org/presentationml/2006/main">
  <p:tag name="THINKCELLSHAPEDONOTDELETE" val="twhxkItIO6SYL7DdeFPYOEA"/>
</p:tagLst>
</file>

<file path=ppt/tags/tag1948.xml><?xml version="1.0" encoding="utf-8"?>
<p:tagLst xmlns:a="http://schemas.openxmlformats.org/drawingml/2006/main" xmlns:r="http://schemas.openxmlformats.org/officeDocument/2006/relationships" xmlns:p="http://schemas.openxmlformats.org/presentationml/2006/main">
  <p:tag name="THINKCELLSHAPEDONOTDELETE" val="tRdXUcg07VrcXAuvDUVzNHQ"/>
</p:tagLst>
</file>

<file path=ppt/tags/tag1949.xml><?xml version="1.0" encoding="utf-8"?>
<p:tagLst xmlns:a="http://schemas.openxmlformats.org/drawingml/2006/main" xmlns:r="http://schemas.openxmlformats.org/officeDocument/2006/relationships" xmlns:p="http://schemas.openxmlformats.org/presentationml/2006/main">
  <p:tag name="THINKCELLSHAPEDONOTDELETE" val="tyQQvMfJWfvpNFK1nGg_xbw"/>
</p:tagLst>
</file>

<file path=ppt/tags/tag1950.xml><?xml version="1.0" encoding="utf-8"?>
<p:tagLst xmlns:a="http://schemas.openxmlformats.org/drawingml/2006/main" xmlns:r="http://schemas.openxmlformats.org/officeDocument/2006/relationships" xmlns:p="http://schemas.openxmlformats.org/presentationml/2006/main">
  <p:tag name="THINKCELLSHAPEDONOTDELETE" val="tpXGBVMohB1kbwhcxW_hFVg"/>
</p:tagLst>
</file>

<file path=ppt/tags/tag1951.xml><?xml version="1.0" encoding="utf-8"?>
<p:tagLst xmlns:a="http://schemas.openxmlformats.org/drawingml/2006/main" xmlns:r="http://schemas.openxmlformats.org/officeDocument/2006/relationships" xmlns:p="http://schemas.openxmlformats.org/presentationml/2006/main">
  <p:tag name="THINKCELLSHAPEDONOTDELETE" val="ttcQvsB_4j72Nn9fgXLEWcg"/>
</p:tagLst>
</file>

<file path=ppt/tags/tag1952.xml><?xml version="1.0" encoding="utf-8"?>
<p:tagLst xmlns:a="http://schemas.openxmlformats.org/drawingml/2006/main" xmlns:r="http://schemas.openxmlformats.org/officeDocument/2006/relationships" xmlns:p="http://schemas.openxmlformats.org/presentationml/2006/main">
  <p:tag name="THINKCELLSHAPEDONOTDELETE" val="tuZeba9dLH081dZDqrT9eiQ"/>
</p:tagLst>
</file>

<file path=ppt/tags/tag1953.xml><?xml version="1.0" encoding="utf-8"?>
<p:tagLst xmlns:a="http://schemas.openxmlformats.org/drawingml/2006/main" xmlns:r="http://schemas.openxmlformats.org/officeDocument/2006/relationships" xmlns:p="http://schemas.openxmlformats.org/presentationml/2006/main">
  <p:tag name="THINKCELLSHAPEDONOTDELETE" val="tD5WU5UpUXKCfl6tHwRpuQw"/>
</p:tagLst>
</file>

<file path=ppt/tags/tag1954.xml><?xml version="1.0" encoding="utf-8"?>
<p:tagLst xmlns:a="http://schemas.openxmlformats.org/drawingml/2006/main" xmlns:r="http://schemas.openxmlformats.org/officeDocument/2006/relationships" xmlns:p="http://schemas.openxmlformats.org/presentationml/2006/main">
  <p:tag name="THINKCELLSHAPEDONOTDELETE" val="t2XTYyp_m58_krVDUzYu.Nw"/>
</p:tagLst>
</file>

<file path=ppt/tags/tag1955.xml><?xml version="1.0" encoding="utf-8"?>
<p:tagLst xmlns:a="http://schemas.openxmlformats.org/drawingml/2006/main" xmlns:r="http://schemas.openxmlformats.org/officeDocument/2006/relationships" xmlns:p="http://schemas.openxmlformats.org/presentationml/2006/main">
  <p:tag name="THINKCELLSHAPEDONOTDELETE" val="t45bMr9Qakdgy0jxymled9A"/>
</p:tagLst>
</file>

<file path=ppt/tags/tag1956.xml><?xml version="1.0" encoding="utf-8"?>
<p:tagLst xmlns:a="http://schemas.openxmlformats.org/drawingml/2006/main" xmlns:r="http://schemas.openxmlformats.org/officeDocument/2006/relationships" xmlns:p="http://schemas.openxmlformats.org/presentationml/2006/main">
  <p:tag name="THINKCELLSHAPEDONOTDELETE" val="t_GT1zfLeI_cKUyDikd8omw"/>
</p:tagLst>
</file>

<file path=ppt/tags/tag1957.xml><?xml version="1.0" encoding="utf-8"?>
<p:tagLst xmlns:a="http://schemas.openxmlformats.org/drawingml/2006/main" xmlns:r="http://schemas.openxmlformats.org/officeDocument/2006/relationships" xmlns:p="http://schemas.openxmlformats.org/presentationml/2006/main">
  <p:tag name="THINKCELLSHAPEDONOTDELETE" val="t6UpqhOHxHQOt0lvMu.gDhw"/>
</p:tagLst>
</file>

<file path=ppt/tags/tag1958.xml><?xml version="1.0" encoding="utf-8"?>
<p:tagLst xmlns:a="http://schemas.openxmlformats.org/drawingml/2006/main" xmlns:r="http://schemas.openxmlformats.org/officeDocument/2006/relationships" xmlns:p="http://schemas.openxmlformats.org/presentationml/2006/main">
  <p:tag name="THINKCELLSHAPEDONOTDELETE" val="tjI8SRFbpGOP72763oUi.vw"/>
</p:tagLst>
</file>

<file path=ppt/tags/tag1959.xml><?xml version="1.0" encoding="utf-8"?>
<p:tagLst xmlns:a="http://schemas.openxmlformats.org/drawingml/2006/main" xmlns:r="http://schemas.openxmlformats.org/officeDocument/2006/relationships" xmlns:p="http://schemas.openxmlformats.org/presentationml/2006/main">
  <p:tag name="THINKCELLSHAPEDONOTDELETE" val="tynHgnpgK8TORHy91X5i0vA"/>
</p:tagLst>
</file>

<file path=ppt/tags/tag1960.xml><?xml version="1.0" encoding="utf-8"?>
<p:tagLst xmlns:a="http://schemas.openxmlformats.org/drawingml/2006/main" xmlns:r="http://schemas.openxmlformats.org/officeDocument/2006/relationships" xmlns:p="http://schemas.openxmlformats.org/presentationml/2006/main">
  <p:tag name="THINKCELLSHAPEDONOTDELETE" val="t7MLG25xLQ.HUFDMLajJu5g"/>
</p:tagLst>
</file>

<file path=ppt/tags/tag1961.xml><?xml version="1.0" encoding="utf-8"?>
<p:tagLst xmlns:a="http://schemas.openxmlformats.org/drawingml/2006/main" xmlns:r="http://schemas.openxmlformats.org/officeDocument/2006/relationships" xmlns:p="http://schemas.openxmlformats.org/presentationml/2006/main">
  <p:tag name="THINKCELLSHAPEDONOTDELETE" val="t1qQd6wpE3OU0TbJ4NA4Q3g"/>
</p:tagLst>
</file>

<file path=ppt/tags/tag1962.xml><?xml version="1.0" encoding="utf-8"?>
<p:tagLst xmlns:a="http://schemas.openxmlformats.org/drawingml/2006/main" xmlns:r="http://schemas.openxmlformats.org/officeDocument/2006/relationships" xmlns:p="http://schemas.openxmlformats.org/presentationml/2006/main">
  <p:tag name="THINKCELLSHAPEDONOTDELETE" val="t9Kr7coCv_0_dy620OI.lwQ"/>
</p:tagLst>
</file>

<file path=ppt/tags/tag1963.xml><?xml version="1.0" encoding="utf-8"?>
<p:tagLst xmlns:a="http://schemas.openxmlformats.org/drawingml/2006/main" xmlns:r="http://schemas.openxmlformats.org/officeDocument/2006/relationships" xmlns:p="http://schemas.openxmlformats.org/presentationml/2006/main">
  <p:tag name="THINKCELLSHAPEDONOTDELETE" val="t9YTCw7vBtTwkT2FsYqyhYQ"/>
</p:tagLst>
</file>

<file path=ppt/tags/tag1964.xml><?xml version="1.0" encoding="utf-8"?>
<p:tagLst xmlns:a="http://schemas.openxmlformats.org/drawingml/2006/main" xmlns:r="http://schemas.openxmlformats.org/officeDocument/2006/relationships" xmlns:p="http://schemas.openxmlformats.org/presentationml/2006/main">
  <p:tag name="THINKCELLSHAPEDONOTDELETE" val="tOT.66mUUkqjQUlNpFI7g1g"/>
</p:tagLst>
</file>

<file path=ppt/tags/tag1965.xml><?xml version="1.0" encoding="utf-8"?>
<p:tagLst xmlns:a="http://schemas.openxmlformats.org/drawingml/2006/main" xmlns:r="http://schemas.openxmlformats.org/officeDocument/2006/relationships" xmlns:p="http://schemas.openxmlformats.org/presentationml/2006/main">
  <p:tag name="THINKCELLSHAPEDONOTDELETE" val="tIBv9vU8SRViOtI2Ld1jd4A"/>
</p:tagLst>
</file>

<file path=ppt/tags/tag1966.xml><?xml version="1.0" encoding="utf-8"?>
<p:tagLst xmlns:a="http://schemas.openxmlformats.org/drawingml/2006/main" xmlns:r="http://schemas.openxmlformats.org/officeDocument/2006/relationships" xmlns:p="http://schemas.openxmlformats.org/presentationml/2006/main">
  <p:tag name="THINKCELLSHAPEDONOTDELETE" val="t5UXlw.w7KQFYWzkcCj.qMA"/>
</p:tagLst>
</file>

<file path=ppt/tags/tag1967.xml><?xml version="1.0" encoding="utf-8"?>
<p:tagLst xmlns:a="http://schemas.openxmlformats.org/drawingml/2006/main" xmlns:r="http://schemas.openxmlformats.org/officeDocument/2006/relationships" xmlns:p="http://schemas.openxmlformats.org/presentationml/2006/main">
  <p:tag name="THINKCELLSHAPEDONOTDELETE" val="tsKm3J2RDyICsVTge9vvXoA"/>
</p:tagLst>
</file>

<file path=ppt/tags/tag1968.xml><?xml version="1.0" encoding="utf-8"?>
<p:tagLst xmlns:a="http://schemas.openxmlformats.org/drawingml/2006/main" xmlns:r="http://schemas.openxmlformats.org/officeDocument/2006/relationships" xmlns:p="http://schemas.openxmlformats.org/presentationml/2006/main">
  <p:tag name="HEADER" val="True"/>
</p:tagLst>
</file>

<file path=ppt/tags/tag196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70.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1971.xml><?xml version="1.0" encoding="utf-8"?>
<p:tagLst xmlns:a="http://schemas.openxmlformats.org/drawingml/2006/main" xmlns:r="http://schemas.openxmlformats.org/officeDocument/2006/relationships" xmlns:p="http://schemas.openxmlformats.org/presentationml/2006/main">
  <p:tag name="HEADER" val="True"/>
</p:tagLst>
</file>

<file path=ppt/tags/tag1972.xml><?xml version="1.0" encoding="utf-8"?>
<p:tagLst xmlns:a="http://schemas.openxmlformats.org/drawingml/2006/main" xmlns:r="http://schemas.openxmlformats.org/officeDocument/2006/relationships" xmlns:p="http://schemas.openxmlformats.org/presentationml/2006/main">
  <p:tag name="HEADER" val="True"/>
</p:tagLst>
</file>

<file path=ppt/tags/tag1973.xml><?xml version="1.0" encoding="utf-8"?>
<p:tagLst xmlns:a="http://schemas.openxmlformats.org/drawingml/2006/main" xmlns:r="http://schemas.openxmlformats.org/officeDocument/2006/relationships" xmlns:p="http://schemas.openxmlformats.org/presentationml/2006/main">
  <p:tag name="THINKCELLSHAPEDONOTDELETE" val="tB71QZAbHGPfkIsL0Hds6qg"/>
</p:tagLst>
</file>

<file path=ppt/tags/tag1974.xml><?xml version="1.0" encoding="utf-8"?>
<p:tagLst xmlns:a="http://schemas.openxmlformats.org/drawingml/2006/main" xmlns:r="http://schemas.openxmlformats.org/officeDocument/2006/relationships" xmlns:p="http://schemas.openxmlformats.org/presentationml/2006/main">
  <p:tag name="THINKCELLSHAPEDONOTDELETE" val="toHpI.TRC5BXxmxN3jQ1qDg"/>
</p:tagLst>
</file>

<file path=ppt/tags/tag1975.xml><?xml version="1.0" encoding="utf-8"?>
<p:tagLst xmlns:a="http://schemas.openxmlformats.org/drawingml/2006/main" xmlns:r="http://schemas.openxmlformats.org/officeDocument/2006/relationships" xmlns:p="http://schemas.openxmlformats.org/presentationml/2006/main">
  <p:tag name="THINKCELLSHAPEDONOTDELETE" val="toNwCAV7vEpWwe_KMhzch_g"/>
</p:tagLst>
</file>

<file path=ppt/tags/tag1976.xml><?xml version="1.0" encoding="utf-8"?>
<p:tagLst xmlns:a="http://schemas.openxmlformats.org/drawingml/2006/main" xmlns:r="http://schemas.openxmlformats.org/officeDocument/2006/relationships" xmlns:p="http://schemas.openxmlformats.org/presentationml/2006/main">
  <p:tag name="THINKCELLSHAPEDONOTDELETE" val="t7wilCsL3g45cJ0gIZTY4NA"/>
</p:tagLst>
</file>

<file path=ppt/tags/tag1977.xml><?xml version="1.0" encoding="utf-8"?>
<p:tagLst xmlns:a="http://schemas.openxmlformats.org/drawingml/2006/main" xmlns:r="http://schemas.openxmlformats.org/officeDocument/2006/relationships" xmlns:p="http://schemas.openxmlformats.org/presentationml/2006/main">
  <p:tag name="THINKCELLSHAPEDONOTDELETE" val="tV0ei.EklgCxW7GLPXMLAog"/>
</p:tagLst>
</file>

<file path=ppt/tags/tag1978.xml><?xml version="1.0" encoding="utf-8"?>
<p:tagLst xmlns:a="http://schemas.openxmlformats.org/drawingml/2006/main" xmlns:r="http://schemas.openxmlformats.org/officeDocument/2006/relationships" xmlns:p="http://schemas.openxmlformats.org/presentationml/2006/main">
  <p:tag name="THINKCELLSHAPEDONOTDELETE" val="ttVkmR_4bJbsG29iCEZ8rhg"/>
</p:tagLst>
</file>

<file path=ppt/tags/tag1979.xml><?xml version="1.0" encoding="utf-8"?>
<p:tagLst xmlns:a="http://schemas.openxmlformats.org/drawingml/2006/main" xmlns:r="http://schemas.openxmlformats.org/officeDocument/2006/relationships" xmlns:p="http://schemas.openxmlformats.org/presentationml/2006/main">
  <p:tag name="THINKCELLSHAPEDONOTDELETE" val="t6Gx1gtynxgPlsT1Lcqt23g"/>
</p:tagLst>
</file>

<file path=ppt/tags/tag1980.xml><?xml version="1.0" encoding="utf-8"?>
<p:tagLst xmlns:a="http://schemas.openxmlformats.org/drawingml/2006/main" xmlns:r="http://schemas.openxmlformats.org/officeDocument/2006/relationships" xmlns:p="http://schemas.openxmlformats.org/presentationml/2006/main">
  <p:tag name="THINKCELLSHAPEDONOTDELETE" val="tePM262o8EJHEOVuIA0al8g"/>
</p:tagLst>
</file>

<file path=ppt/tags/tag1981.xml><?xml version="1.0" encoding="utf-8"?>
<p:tagLst xmlns:a="http://schemas.openxmlformats.org/drawingml/2006/main" xmlns:r="http://schemas.openxmlformats.org/officeDocument/2006/relationships" xmlns:p="http://schemas.openxmlformats.org/presentationml/2006/main">
  <p:tag name="THINKCELLSHAPEDONOTDELETE" val="tIs3OqM5AUdX36eZbIByYkQ"/>
</p:tagLst>
</file>

<file path=ppt/tags/tag1982.xml><?xml version="1.0" encoding="utf-8"?>
<p:tagLst xmlns:a="http://schemas.openxmlformats.org/drawingml/2006/main" xmlns:r="http://schemas.openxmlformats.org/officeDocument/2006/relationships" xmlns:p="http://schemas.openxmlformats.org/presentationml/2006/main">
  <p:tag name="THINKCELLSHAPEDONOTDELETE" val="tx_jyxHsS7Yh.nWGAyeKe5Q"/>
</p:tagLst>
</file>

<file path=ppt/tags/tag1983.xml><?xml version="1.0" encoding="utf-8"?>
<p:tagLst xmlns:a="http://schemas.openxmlformats.org/drawingml/2006/main" xmlns:r="http://schemas.openxmlformats.org/officeDocument/2006/relationships" xmlns:p="http://schemas.openxmlformats.org/presentationml/2006/main">
  <p:tag name="THINKCELLSHAPEDONOTDELETE" val="t4as54j91TkeRVrLIYTIMVg"/>
</p:tagLst>
</file>

<file path=ppt/tags/tag1984.xml><?xml version="1.0" encoding="utf-8"?>
<p:tagLst xmlns:a="http://schemas.openxmlformats.org/drawingml/2006/main" xmlns:r="http://schemas.openxmlformats.org/officeDocument/2006/relationships" xmlns:p="http://schemas.openxmlformats.org/presentationml/2006/main">
  <p:tag name="THINKCELLSHAPEDONOTDELETE" val="tGZWhyM5yUH44J6gXx8K.VA"/>
</p:tagLst>
</file>

<file path=ppt/tags/tag1985.xml><?xml version="1.0" encoding="utf-8"?>
<p:tagLst xmlns:a="http://schemas.openxmlformats.org/drawingml/2006/main" xmlns:r="http://schemas.openxmlformats.org/officeDocument/2006/relationships" xmlns:p="http://schemas.openxmlformats.org/presentationml/2006/main">
  <p:tag name="THINKCELLSHAPEDONOTDELETE" val="twSPrZn3V5zLVHlWCcGSoqg"/>
</p:tagLst>
</file>

<file path=ppt/tags/tag1986.xml><?xml version="1.0" encoding="utf-8"?>
<p:tagLst xmlns:a="http://schemas.openxmlformats.org/drawingml/2006/main" xmlns:r="http://schemas.openxmlformats.org/officeDocument/2006/relationships" xmlns:p="http://schemas.openxmlformats.org/presentationml/2006/main">
  <p:tag name="THINKCELLSHAPEDONOTDELETE" val="trx_plcRNFeErpdNKWWBhGA"/>
</p:tagLst>
</file>

<file path=ppt/tags/tag1987.xml><?xml version="1.0" encoding="utf-8"?>
<p:tagLst xmlns:a="http://schemas.openxmlformats.org/drawingml/2006/main" xmlns:r="http://schemas.openxmlformats.org/officeDocument/2006/relationships" xmlns:p="http://schemas.openxmlformats.org/presentationml/2006/main">
  <p:tag name="THINKCELLSHAPEDONOTDELETE" val="tgv5fzQdz0DRxtKklLk21Ig"/>
</p:tagLst>
</file>

<file path=ppt/tags/tag1988.xml><?xml version="1.0" encoding="utf-8"?>
<p:tagLst xmlns:a="http://schemas.openxmlformats.org/drawingml/2006/main" xmlns:r="http://schemas.openxmlformats.org/officeDocument/2006/relationships" xmlns:p="http://schemas.openxmlformats.org/presentationml/2006/main">
  <p:tag name="THINKCELLSHAPEDONOTDELETE" val="tH7wAtbH19ncqBEpWHZmhRw"/>
</p:tagLst>
</file>

<file path=ppt/tags/tag1989.xml><?xml version="1.0" encoding="utf-8"?>
<p:tagLst xmlns:a="http://schemas.openxmlformats.org/drawingml/2006/main" xmlns:r="http://schemas.openxmlformats.org/officeDocument/2006/relationships" xmlns:p="http://schemas.openxmlformats.org/presentationml/2006/main">
  <p:tag name="THINKCELLSHAPEDONOTDELETE" val="tvsUEoC2bFMbYiu2nO0JaQA"/>
</p:tagLst>
</file>

<file path=ppt/tags/tag1990.xml><?xml version="1.0" encoding="utf-8"?>
<p:tagLst xmlns:a="http://schemas.openxmlformats.org/drawingml/2006/main" xmlns:r="http://schemas.openxmlformats.org/officeDocument/2006/relationships" xmlns:p="http://schemas.openxmlformats.org/presentationml/2006/main">
  <p:tag name="THINKCELLSHAPEDONOTDELETE" val="tiA3VoyUH_vW0vX89_evtmw"/>
</p:tagLst>
</file>

<file path=ppt/tags/tag1991.xml><?xml version="1.0" encoding="utf-8"?>
<p:tagLst xmlns:a="http://schemas.openxmlformats.org/drawingml/2006/main" xmlns:r="http://schemas.openxmlformats.org/officeDocument/2006/relationships" xmlns:p="http://schemas.openxmlformats.org/presentationml/2006/main">
  <p:tag name="THINKCELLSHAPEDONOTDELETE" val="tqWHwZY99sI2IrUsFwUQZcA"/>
</p:tagLst>
</file>

<file path=ppt/tags/tag1992.xml><?xml version="1.0" encoding="utf-8"?>
<p:tagLst xmlns:a="http://schemas.openxmlformats.org/drawingml/2006/main" xmlns:r="http://schemas.openxmlformats.org/officeDocument/2006/relationships" xmlns:p="http://schemas.openxmlformats.org/presentationml/2006/main">
  <p:tag name="THINKCELLSHAPEDONOTDELETE" val="tVUKKf8P33TVFLWkeEQ4UvA"/>
</p:tagLst>
</file>

<file path=ppt/tags/tag1993.xml><?xml version="1.0" encoding="utf-8"?>
<p:tagLst xmlns:a="http://schemas.openxmlformats.org/drawingml/2006/main" xmlns:r="http://schemas.openxmlformats.org/officeDocument/2006/relationships" xmlns:p="http://schemas.openxmlformats.org/presentationml/2006/main">
  <p:tag name="THINKCELLSHAPEDONOTDELETE" val="tWEhVCDHBaC7BZ7hrm5TRdg"/>
</p:tagLst>
</file>

<file path=ppt/tags/tag1994.xml><?xml version="1.0" encoding="utf-8"?>
<p:tagLst xmlns:a="http://schemas.openxmlformats.org/drawingml/2006/main" xmlns:r="http://schemas.openxmlformats.org/officeDocument/2006/relationships" xmlns:p="http://schemas.openxmlformats.org/presentationml/2006/main">
  <p:tag name="THINKCELLSHAPEDONOTDELETE" val="tJwqG0VEXE6JR2uCCYulaGQ"/>
</p:tagLst>
</file>

<file path=ppt/tags/tag1995.xml><?xml version="1.0" encoding="utf-8"?>
<p:tagLst xmlns:a="http://schemas.openxmlformats.org/drawingml/2006/main" xmlns:r="http://schemas.openxmlformats.org/officeDocument/2006/relationships" xmlns:p="http://schemas.openxmlformats.org/presentationml/2006/main">
  <p:tag name="THINKCELLSHAPEDONOTDELETE" val="tYs4.juyHVNwyAEbdWuOyJg"/>
</p:tagLst>
</file>

<file path=ppt/tags/tag1996.xml><?xml version="1.0" encoding="utf-8"?>
<p:tagLst xmlns:a="http://schemas.openxmlformats.org/drawingml/2006/main" xmlns:r="http://schemas.openxmlformats.org/officeDocument/2006/relationships" xmlns:p="http://schemas.openxmlformats.org/presentationml/2006/main">
  <p:tag name="THINKCELLSHAPEDONOTDELETE" val="tPcCMtxWZ1yD.q6SUChPTJQ"/>
</p:tagLst>
</file>

<file path=ppt/tags/tag1997.xml><?xml version="1.0" encoding="utf-8"?>
<p:tagLst xmlns:a="http://schemas.openxmlformats.org/drawingml/2006/main" xmlns:r="http://schemas.openxmlformats.org/officeDocument/2006/relationships" xmlns:p="http://schemas.openxmlformats.org/presentationml/2006/main">
  <p:tag name="THINKCELLSHAPEDONOTDELETE" val="tbanyNe4PcyrtfHiGO87veA"/>
</p:tagLst>
</file>

<file path=ppt/tags/tag1998.xml><?xml version="1.0" encoding="utf-8"?>
<p:tagLst xmlns:a="http://schemas.openxmlformats.org/drawingml/2006/main" xmlns:r="http://schemas.openxmlformats.org/officeDocument/2006/relationships" xmlns:p="http://schemas.openxmlformats.org/presentationml/2006/main">
  <p:tag name="THINKCELLSHAPEDONOTDELETE" val="tmcOY7Z7Nc_OJQlkH5.Zoxg"/>
</p:tagLst>
</file>

<file path=ppt/tags/tag1999.xml><?xml version="1.0" encoding="utf-8"?>
<p:tagLst xmlns:a="http://schemas.openxmlformats.org/drawingml/2006/main" xmlns:r="http://schemas.openxmlformats.org/officeDocument/2006/relationships" xmlns:p="http://schemas.openxmlformats.org/presentationml/2006/main">
  <p:tag name="THINKCELLSHAPEDONOTDELETE" val="tP4drnSyZsz9o7Q6IBSh_sA"/>
</p:tagLst>
</file>

<file path=ppt/tags/tag2000.xml><?xml version="1.0" encoding="utf-8"?>
<p:tagLst xmlns:a="http://schemas.openxmlformats.org/drawingml/2006/main" xmlns:r="http://schemas.openxmlformats.org/officeDocument/2006/relationships" xmlns:p="http://schemas.openxmlformats.org/presentationml/2006/main">
  <p:tag name="THINKCELLSHAPEDONOTDELETE" val="tkQ0Brljad5nJo9OWc1bzbg"/>
</p:tagLst>
</file>

<file path=ppt/tags/tag200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02.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003.xml><?xml version="1.0" encoding="utf-8"?>
<p:tagLst xmlns:a="http://schemas.openxmlformats.org/drawingml/2006/main" xmlns:r="http://schemas.openxmlformats.org/officeDocument/2006/relationships" xmlns:p="http://schemas.openxmlformats.org/presentationml/2006/main">
  <p:tag name="HEADER" val="True"/>
</p:tagLst>
</file>

<file path=ppt/tags/tag2004.xml><?xml version="1.0" encoding="utf-8"?>
<p:tagLst xmlns:a="http://schemas.openxmlformats.org/drawingml/2006/main" xmlns:r="http://schemas.openxmlformats.org/officeDocument/2006/relationships" xmlns:p="http://schemas.openxmlformats.org/presentationml/2006/main">
  <p:tag name="HEADER" val="True"/>
</p:tagLst>
</file>

<file path=ppt/tags/tag2005.xml><?xml version="1.0" encoding="utf-8"?>
<p:tagLst xmlns:a="http://schemas.openxmlformats.org/drawingml/2006/main" xmlns:r="http://schemas.openxmlformats.org/officeDocument/2006/relationships" xmlns:p="http://schemas.openxmlformats.org/presentationml/2006/main">
  <p:tag name="THINKCELLSHAPEDONOTDELETE" val="tSw5VddrC6lwtn3M.km7ctQ"/>
</p:tagLst>
</file>

<file path=ppt/tags/tag2006.xml><?xml version="1.0" encoding="utf-8"?>
<p:tagLst xmlns:a="http://schemas.openxmlformats.org/drawingml/2006/main" xmlns:r="http://schemas.openxmlformats.org/officeDocument/2006/relationships" xmlns:p="http://schemas.openxmlformats.org/presentationml/2006/main">
  <p:tag name="THINKCELLSHAPEDONOTDELETE" val="tu6caXbRHB2jXksESJAKP0A"/>
</p:tagLst>
</file>

<file path=ppt/tags/tag2007.xml><?xml version="1.0" encoding="utf-8"?>
<p:tagLst xmlns:a="http://schemas.openxmlformats.org/drawingml/2006/main" xmlns:r="http://schemas.openxmlformats.org/officeDocument/2006/relationships" xmlns:p="http://schemas.openxmlformats.org/presentationml/2006/main">
  <p:tag name="THINKCELLSHAPEDONOTDELETE" val="tT0dFPRnBZYA5caSFDl9YpA"/>
</p:tagLst>
</file>

<file path=ppt/tags/tag2008.xml><?xml version="1.0" encoding="utf-8"?>
<p:tagLst xmlns:a="http://schemas.openxmlformats.org/drawingml/2006/main" xmlns:r="http://schemas.openxmlformats.org/officeDocument/2006/relationships" xmlns:p="http://schemas.openxmlformats.org/presentationml/2006/main">
  <p:tag name="THINKCELLSHAPEDONOTDELETE" val="te7tOKJ2w8L0O_pSk17FrXw"/>
</p:tagLst>
</file>

<file path=ppt/tags/tag2009.xml><?xml version="1.0" encoding="utf-8"?>
<p:tagLst xmlns:a="http://schemas.openxmlformats.org/drawingml/2006/main" xmlns:r="http://schemas.openxmlformats.org/officeDocument/2006/relationships" xmlns:p="http://schemas.openxmlformats.org/presentationml/2006/main">
  <p:tag name="THINKCELLSHAPEDONOTDELETE" val="tj2bJ6UzScw25erfMNio6fw"/>
</p:tagLst>
</file>

<file path=ppt/tags/tag2010.xml><?xml version="1.0" encoding="utf-8"?>
<p:tagLst xmlns:a="http://schemas.openxmlformats.org/drawingml/2006/main" xmlns:r="http://schemas.openxmlformats.org/officeDocument/2006/relationships" xmlns:p="http://schemas.openxmlformats.org/presentationml/2006/main">
  <p:tag name="THINKCELLSHAPEDONOTDELETE" val="tKBbLW3xp7fn53D50ZmaCqw"/>
</p:tagLst>
</file>

<file path=ppt/tags/tag2011.xml><?xml version="1.0" encoding="utf-8"?>
<p:tagLst xmlns:a="http://schemas.openxmlformats.org/drawingml/2006/main" xmlns:r="http://schemas.openxmlformats.org/officeDocument/2006/relationships" xmlns:p="http://schemas.openxmlformats.org/presentationml/2006/main">
  <p:tag name="THINKCELLSHAPEDONOTDELETE" val="t9nCyipUeK7nsIlXHbHwSFw"/>
</p:tagLst>
</file>

<file path=ppt/tags/tag2012.xml><?xml version="1.0" encoding="utf-8"?>
<p:tagLst xmlns:a="http://schemas.openxmlformats.org/drawingml/2006/main" xmlns:r="http://schemas.openxmlformats.org/officeDocument/2006/relationships" xmlns:p="http://schemas.openxmlformats.org/presentationml/2006/main">
  <p:tag name="THINKCELLSHAPEDONOTDELETE" val="tOMQ5.fJ84B3gdqvto0dX7A"/>
</p:tagLst>
</file>

<file path=ppt/tags/tag2013.xml><?xml version="1.0" encoding="utf-8"?>
<p:tagLst xmlns:a="http://schemas.openxmlformats.org/drawingml/2006/main" xmlns:r="http://schemas.openxmlformats.org/officeDocument/2006/relationships" xmlns:p="http://schemas.openxmlformats.org/presentationml/2006/main">
  <p:tag name="THINKCELLSHAPEDONOTDELETE" val="toQ5jEyAHzGNI0HIm5x_GyQ"/>
</p:tagLst>
</file>

<file path=ppt/tags/tag2014.xml><?xml version="1.0" encoding="utf-8"?>
<p:tagLst xmlns:a="http://schemas.openxmlformats.org/drawingml/2006/main" xmlns:r="http://schemas.openxmlformats.org/officeDocument/2006/relationships" xmlns:p="http://schemas.openxmlformats.org/presentationml/2006/main">
  <p:tag name="THINKCELLSHAPEDONOTDELETE" val="tOpBUXwxM7m6HxUopqyIqRg"/>
</p:tagLst>
</file>

<file path=ppt/tags/tag20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16.xml><?xml version="1.0" encoding="utf-8"?>
<p:tagLst xmlns:a="http://schemas.openxmlformats.org/drawingml/2006/main" xmlns:r="http://schemas.openxmlformats.org/officeDocument/2006/relationships" xmlns:p="http://schemas.openxmlformats.org/presentationml/2006/main">
  <p:tag name="THINKCELLSHAPEDONOTDELETE" val="t3gOqtEJf3HkmbOOHPZZPBg"/>
</p:tagLst>
</file>

<file path=ppt/tags/tag2017.xml><?xml version="1.0" encoding="utf-8"?>
<p:tagLst xmlns:a="http://schemas.openxmlformats.org/drawingml/2006/main" xmlns:r="http://schemas.openxmlformats.org/officeDocument/2006/relationships" xmlns:p="http://schemas.openxmlformats.org/presentationml/2006/main">
  <p:tag name="HEADER" val="True"/>
</p:tagLst>
</file>

<file path=ppt/tags/tag2018.xml><?xml version="1.0" encoding="utf-8"?>
<p:tagLst xmlns:a="http://schemas.openxmlformats.org/drawingml/2006/main" xmlns:r="http://schemas.openxmlformats.org/officeDocument/2006/relationships" xmlns:p="http://schemas.openxmlformats.org/presentationml/2006/main">
  <p:tag name="HEADER" val="True"/>
</p:tagLst>
</file>

<file path=ppt/tags/tag2019.xml><?xml version="1.0" encoding="utf-8"?>
<p:tagLst xmlns:a="http://schemas.openxmlformats.org/drawingml/2006/main" xmlns:r="http://schemas.openxmlformats.org/officeDocument/2006/relationships" xmlns:p="http://schemas.openxmlformats.org/presentationml/2006/main">
  <p:tag name="THINKCELLSHAPEDONOTDELETE" val="tyDd9ntBJhfGIRBZ0prWChA"/>
</p:tagLst>
</file>

<file path=ppt/tags/tag2020.xml><?xml version="1.0" encoding="utf-8"?>
<p:tagLst xmlns:a="http://schemas.openxmlformats.org/drawingml/2006/main" xmlns:r="http://schemas.openxmlformats.org/officeDocument/2006/relationships" xmlns:p="http://schemas.openxmlformats.org/presentationml/2006/main">
  <p:tag name="THINKCELLSHAPEDONOTDELETE" val="t9BRVg.qaNPsWAt3ILGG49g"/>
</p:tagLst>
</file>

<file path=ppt/tags/tag2021.xml><?xml version="1.0" encoding="utf-8"?>
<p:tagLst xmlns:a="http://schemas.openxmlformats.org/drawingml/2006/main" xmlns:r="http://schemas.openxmlformats.org/officeDocument/2006/relationships" xmlns:p="http://schemas.openxmlformats.org/presentationml/2006/main">
  <p:tag name="THINKCELLSHAPEDONOTDELETE" val="tr7RzVIEBwZG6CqJJdVvMTQ"/>
</p:tagLst>
</file>

<file path=ppt/tags/tag2022.xml><?xml version="1.0" encoding="utf-8"?>
<p:tagLst xmlns:a="http://schemas.openxmlformats.org/drawingml/2006/main" xmlns:r="http://schemas.openxmlformats.org/officeDocument/2006/relationships" xmlns:p="http://schemas.openxmlformats.org/presentationml/2006/main">
  <p:tag name="THINKCELLSHAPEDONOTDELETE" val="trZgQRl.S6nUsTslB9nckFQ"/>
</p:tagLst>
</file>

<file path=ppt/tags/tag2023.xml><?xml version="1.0" encoding="utf-8"?>
<p:tagLst xmlns:a="http://schemas.openxmlformats.org/drawingml/2006/main" xmlns:r="http://schemas.openxmlformats.org/officeDocument/2006/relationships" xmlns:p="http://schemas.openxmlformats.org/presentationml/2006/main">
  <p:tag name="THINKCELLSHAPEDONOTDELETE" val="tKsqM2z_dlmdhzpjvjS09Fw"/>
</p:tagLst>
</file>

<file path=ppt/tags/tag2024.xml><?xml version="1.0" encoding="utf-8"?>
<p:tagLst xmlns:a="http://schemas.openxmlformats.org/drawingml/2006/main" xmlns:r="http://schemas.openxmlformats.org/officeDocument/2006/relationships" xmlns:p="http://schemas.openxmlformats.org/presentationml/2006/main">
  <p:tag name="THINKCELLSHAPEDONOTDELETE" val="txPoJNTGIa_6Rm5qfSsuaqw"/>
</p:tagLst>
</file>

<file path=ppt/tags/tag2025.xml><?xml version="1.0" encoding="utf-8"?>
<p:tagLst xmlns:a="http://schemas.openxmlformats.org/drawingml/2006/main" xmlns:r="http://schemas.openxmlformats.org/officeDocument/2006/relationships" xmlns:p="http://schemas.openxmlformats.org/presentationml/2006/main">
  <p:tag name="THINKCELLSHAPEDONOTDELETE" val="tVAISrZroFQfitmGwtv0Jaw"/>
</p:tagLst>
</file>

<file path=ppt/tags/tag2026.xml><?xml version="1.0" encoding="utf-8"?>
<p:tagLst xmlns:a="http://schemas.openxmlformats.org/drawingml/2006/main" xmlns:r="http://schemas.openxmlformats.org/officeDocument/2006/relationships" xmlns:p="http://schemas.openxmlformats.org/presentationml/2006/main">
  <p:tag name="THINKCELLSHAPEDONOTDELETE" val="tnzsSjmqHHXxpa..Q1131xg"/>
</p:tagLst>
</file>

<file path=ppt/tags/tag2027.xml><?xml version="1.0" encoding="utf-8"?>
<p:tagLst xmlns:a="http://schemas.openxmlformats.org/drawingml/2006/main" xmlns:r="http://schemas.openxmlformats.org/officeDocument/2006/relationships" xmlns:p="http://schemas.openxmlformats.org/presentationml/2006/main">
  <p:tag name="THINKCELLSHAPEDONOTDELETE" val="tCKsfNZMBQNKIN7pKKtgMNA"/>
</p:tagLst>
</file>

<file path=ppt/tags/tag2028.xml><?xml version="1.0" encoding="utf-8"?>
<p:tagLst xmlns:a="http://schemas.openxmlformats.org/drawingml/2006/main" xmlns:r="http://schemas.openxmlformats.org/officeDocument/2006/relationships" xmlns:p="http://schemas.openxmlformats.org/presentationml/2006/main">
  <p:tag name="THINKCELLSHAPEDONOTDELETE" val="tzNx_MBEFkq9TiuUwDjp2EA"/>
</p:tagLst>
</file>

<file path=ppt/tags/tag2029.xml><?xml version="1.0" encoding="utf-8"?>
<p:tagLst xmlns:a="http://schemas.openxmlformats.org/drawingml/2006/main" xmlns:r="http://schemas.openxmlformats.org/officeDocument/2006/relationships" xmlns:p="http://schemas.openxmlformats.org/presentationml/2006/main">
  <p:tag name="THINKCELLSHAPEDONOTDELETE" val="txlLZWeTp1eYhVjK3LY_vYA"/>
</p:tagLst>
</file>

<file path=ppt/tags/tag2030.xml><?xml version="1.0" encoding="utf-8"?>
<p:tagLst xmlns:a="http://schemas.openxmlformats.org/drawingml/2006/main" xmlns:r="http://schemas.openxmlformats.org/officeDocument/2006/relationships" xmlns:p="http://schemas.openxmlformats.org/presentationml/2006/main">
  <p:tag name="THINKCELLSHAPEDONOTDELETE" val="tJjiV9Z6Q1DjWn.rskRSa6A"/>
</p:tagLst>
</file>

<file path=ppt/tags/tag2031.xml><?xml version="1.0" encoding="utf-8"?>
<p:tagLst xmlns:a="http://schemas.openxmlformats.org/drawingml/2006/main" xmlns:r="http://schemas.openxmlformats.org/officeDocument/2006/relationships" xmlns:p="http://schemas.openxmlformats.org/presentationml/2006/main">
  <p:tag name="THINKCELLSHAPEDONOTDELETE" val="t.QuBRME_amLiMQDhgN23Fw"/>
</p:tagLst>
</file>

<file path=ppt/tags/tag20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33.xml><?xml version="1.0" encoding="utf-8"?>
<p:tagLst xmlns:a="http://schemas.openxmlformats.org/drawingml/2006/main" xmlns:r="http://schemas.openxmlformats.org/officeDocument/2006/relationships" xmlns:p="http://schemas.openxmlformats.org/presentationml/2006/main">
  <p:tag name="THINKCELLSHAPEDONOTDELETE" val="t3gOqtEJf3HkmbOOHPZZPBg"/>
</p:tagLst>
</file>

<file path=ppt/tags/tag2034.xml><?xml version="1.0" encoding="utf-8"?>
<p:tagLst xmlns:a="http://schemas.openxmlformats.org/drawingml/2006/main" xmlns:r="http://schemas.openxmlformats.org/officeDocument/2006/relationships" xmlns:p="http://schemas.openxmlformats.org/presentationml/2006/main">
  <p:tag name="HEADER" val="True"/>
</p:tagLst>
</file>

<file path=ppt/tags/tag2035.xml><?xml version="1.0" encoding="utf-8"?>
<p:tagLst xmlns:a="http://schemas.openxmlformats.org/drawingml/2006/main" xmlns:r="http://schemas.openxmlformats.org/officeDocument/2006/relationships" xmlns:p="http://schemas.openxmlformats.org/presentationml/2006/main">
  <p:tag name="HEADER" val="True"/>
</p:tagLst>
</file>

<file path=ppt/tags/tag2036.xml><?xml version="1.0" encoding="utf-8"?>
<p:tagLst xmlns:a="http://schemas.openxmlformats.org/drawingml/2006/main" xmlns:r="http://schemas.openxmlformats.org/officeDocument/2006/relationships" xmlns:p="http://schemas.openxmlformats.org/presentationml/2006/main">
  <p:tag name="THINKCELLSHAPEDONOTDELETE" val="ttxMDQIPWhLRrHJA7RbK9gg"/>
</p:tagLst>
</file>

<file path=ppt/tags/tag2037.xml><?xml version="1.0" encoding="utf-8"?>
<p:tagLst xmlns:a="http://schemas.openxmlformats.org/drawingml/2006/main" xmlns:r="http://schemas.openxmlformats.org/officeDocument/2006/relationships" xmlns:p="http://schemas.openxmlformats.org/presentationml/2006/main">
  <p:tag name="THINKCELLSHAPEDONOTDELETE" val="t_f1l1hBTOeyfPlobSQt9kA"/>
</p:tagLst>
</file>

<file path=ppt/tags/tag2038.xml><?xml version="1.0" encoding="utf-8"?>
<p:tagLst xmlns:a="http://schemas.openxmlformats.org/drawingml/2006/main" xmlns:r="http://schemas.openxmlformats.org/officeDocument/2006/relationships" xmlns:p="http://schemas.openxmlformats.org/presentationml/2006/main">
  <p:tag name="THINKCELLSHAPEDONOTDELETE" val="tum3koO6lsI6KN8HeHBwBGg"/>
</p:tagLst>
</file>

<file path=ppt/tags/tag2039.xml><?xml version="1.0" encoding="utf-8"?>
<p:tagLst xmlns:a="http://schemas.openxmlformats.org/drawingml/2006/main" xmlns:r="http://schemas.openxmlformats.org/officeDocument/2006/relationships" xmlns:p="http://schemas.openxmlformats.org/presentationml/2006/main">
  <p:tag name="THINKCELLSHAPEDONOTDELETE" val="tc9M8JFMuzclZa6t3i4AfkQ"/>
</p:tagLst>
</file>

<file path=ppt/tags/tag2040.xml><?xml version="1.0" encoding="utf-8"?>
<p:tagLst xmlns:a="http://schemas.openxmlformats.org/drawingml/2006/main" xmlns:r="http://schemas.openxmlformats.org/officeDocument/2006/relationships" xmlns:p="http://schemas.openxmlformats.org/presentationml/2006/main">
  <p:tag name="THINKCELLSHAPEDONOTDELETE" val="tC12a5Pg67dGyFRAjeZyShg"/>
</p:tagLst>
</file>

<file path=ppt/tags/tag2041.xml><?xml version="1.0" encoding="utf-8"?>
<p:tagLst xmlns:a="http://schemas.openxmlformats.org/drawingml/2006/main" xmlns:r="http://schemas.openxmlformats.org/officeDocument/2006/relationships" xmlns:p="http://schemas.openxmlformats.org/presentationml/2006/main">
  <p:tag name="THINKCELLSHAPEDONOTDELETE" val="tbnmehra49kyE9YrAh.8r4g"/>
</p:tagLst>
</file>

<file path=ppt/tags/tag2042.xml><?xml version="1.0" encoding="utf-8"?>
<p:tagLst xmlns:a="http://schemas.openxmlformats.org/drawingml/2006/main" xmlns:r="http://schemas.openxmlformats.org/officeDocument/2006/relationships" xmlns:p="http://schemas.openxmlformats.org/presentationml/2006/main">
  <p:tag name="THINKCELLSHAPEDONOTDELETE" val="tx1FzMMQ7KOKZCpdTaLkLlQ"/>
</p:tagLst>
</file>

<file path=ppt/tags/tag2043.xml><?xml version="1.0" encoding="utf-8"?>
<p:tagLst xmlns:a="http://schemas.openxmlformats.org/drawingml/2006/main" xmlns:r="http://schemas.openxmlformats.org/officeDocument/2006/relationships" xmlns:p="http://schemas.openxmlformats.org/presentationml/2006/main">
  <p:tag name="THINKCELLSHAPEDONOTDELETE" val="tNXAYlBKOZ86Svty7rcIOWA"/>
</p:tagLst>
</file>

<file path=ppt/tags/tag2044.xml><?xml version="1.0" encoding="utf-8"?>
<p:tagLst xmlns:a="http://schemas.openxmlformats.org/drawingml/2006/main" xmlns:r="http://schemas.openxmlformats.org/officeDocument/2006/relationships" xmlns:p="http://schemas.openxmlformats.org/presentationml/2006/main">
  <p:tag name="THINKCELLSHAPEDONOTDELETE" val="tMwNqF8aUNF99JVOXdnFBVw"/>
</p:tagLst>
</file>

<file path=ppt/tags/tag2045.xml><?xml version="1.0" encoding="utf-8"?>
<p:tagLst xmlns:a="http://schemas.openxmlformats.org/drawingml/2006/main" xmlns:r="http://schemas.openxmlformats.org/officeDocument/2006/relationships" xmlns:p="http://schemas.openxmlformats.org/presentationml/2006/main">
  <p:tag name="THINKCELLSHAPEDONOTDELETE" val="tCjumQ2JIlvVdZOYxBB3.Sg"/>
</p:tagLst>
</file>

<file path=ppt/tags/tag2046.xml><?xml version="1.0" encoding="utf-8"?>
<p:tagLst xmlns:a="http://schemas.openxmlformats.org/drawingml/2006/main" xmlns:r="http://schemas.openxmlformats.org/officeDocument/2006/relationships" xmlns:p="http://schemas.openxmlformats.org/presentationml/2006/main">
  <p:tag name="THINKCELLSHAPEDONOTDELETE" val="tOGpakc2k_dv4K07mGDeOGw"/>
</p:tagLst>
</file>

<file path=ppt/tags/tag2047.xml><?xml version="1.0" encoding="utf-8"?>
<p:tagLst xmlns:a="http://schemas.openxmlformats.org/drawingml/2006/main" xmlns:r="http://schemas.openxmlformats.org/officeDocument/2006/relationships" xmlns:p="http://schemas.openxmlformats.org/presentationml/2006/main">
  <p:tag name="THINKCELLSHAPEDONOTDELETE" val="tO.1ZrnoXfJay6HPAqAv8sw"/>
</p:tagLst>
</file>

<file path=ppt/tags/tag2048.xml><?xml version="1.0" encoding="utf-8"?>
<p:tagLst xmlns:a="http://schemas.openxmlformats.org/drawingml/2006/main" xmlns:r="http://schemas.openxmlformats.org/officeDocument/2006/relationships" xmlns:p="http://schemas.openxmlformats.org/presentationml/2006/main">
  <p:tag name="THINKCELLSHAPEDONOTDELETE" val="t20Z2GAmuPpg8zIcgK3V9kQ"/>
</p:tagLst>
</file>

<file path=ppt/tags/tag2049.xml><?xml version="1.0" encoding="utf-8"?>
<p:tagLst xmlns:a="http://schemas.openxmlformats.org/drawingml/2006/main" xmlns:r="http://schemas.openxmlformats.org/officeDocument/2006/relationships" xmlns:p="http://schemas.openxmlformats.org/presentationml/2006/main">
  <p:tag name="THINKCELLSHAPEDONOTDELETE" val="tBonf5FvhEVauhDCgxCPHdQ"/>
</p:tagLst>
</file>

<file path=ppt/tags/tag2050.xml><?xml version="1.0" encoding="utf-8"?>
<p:tagLst xmlns:a="http://schemas.openxmlformats.org/drawingml/2006/main" xmlns:r="http://schemas.openxmlformats.org/officeDocument/2006/relationships" xmlns:p="http://schemas.openxmlformats.org/presentationml/2006/main">
  <p:tag name="THINKCELLSHAPEDONOTDELETE" val="tQmRoudEeELnP_WIM5Tc0Jw"/>
</p:tagLst>
</file>

<file path=ppt/tags/tag2051.xml><?xml version="1.0" encoding="utf-8"?>
<p:tagLst xmlns:a="http://schemas.openxmlformats.org/drawingml/2006/main" xmlns:r="http://schemas.openxmlformats.org/officeDocument/2006/relationships" xmlns:p="http://schemas.openxmlformats.org/presentationml/2006/main">
  <p:tag name="THINKCELLSHAPEDONOTDELETE" val="tZKrCuHJY8QrZFazmFqh0kg"/>
</p:tagLst>
</file>

<file path=ppt/tags/tag2052.xml><?xml version="1.0" encoding="utf-8"?>
<p:tagLst xmlns:a="http://schemas.openxmlformats.org/drawingml/2006/main" xmlns:r="http://schemas.openxmlformats.org/officeDocument/2006/relationships" xmlns:p="http://schemas.openxmlformats.org/presentationml/2006/main">
  <p:tag name="THINKCELLSHAPEDONOTDELETE" val="tOmurc6R4Y4NjA8almZ.QRQ"/>
</p:tagLst>
</file>

<file path=ppt/tags/tag2053.xml><?xml version="1.0" encoding="utf-8"?>
<p:tagLst xmlns:a="http://schemas.openxmlformats.org/drawingml/2006/main" xmlns:r="http://schemas.openxmlformats.org/officeDocument/2006/relationships" xmlns:p="http://schemas.openxmlformats.org/presentationml/2006/main">
  <p:tag name="THINKCELLSHAPEDONOTDELETE" val="tl1Rw3tobTpLdbTGZTKueTg"/>
</p:tagLst>
</file>

<file path=ppt/tags/tag2054.xml><?xml version="1.0" encoding="utf-8"?>
<p:tagLst xmlns:a="http://schemas.openxmlformats.org/drawingml/2006/main" xmlns:r="http://schemas.openxmlformats.org/officeDocument/2006/relationships" xmlns:p="http://schemas.openxmlformats.org/presentationml/2006/main">
  <p:tag name="THINKCELLSHAPEDONOTDELETE" val="tzxHPpY1IrEJaaSrYpJ6TqA"/>
</p:tagLst>
</file>

<file path=ppt/tags/tag2055.xml><?xml version="1.0" encoding="utf-8"?>
<p:tagLst xmlns:a="http://schemas.openxmlformats.org/drawingml/2006/main" xmlns:r="http://schemas.openxmlformats.org/officeDocument/2006/relationships" xmlns:p="http://schemas.openxmlformats.org/presentationml/2006/main">
  <p:tag name="THINKCELLSHAPEDONOTDELETE" val="tOXY1g6vJlzG4l0lmCgy65w"/>
</p:tagLst>
</file>

<file path=ppt/tags/tag2056.xml><?xml version="1.0" encoding="utf-8"?>
<p:tagLst xmlns:a="http://schemas.openxmlformats.org/drawingml/2006/main" xmlns:r="http://schemas.openxmlformats.org/officeDocument/2006/relationships" xmlns:p="http://schemas.openxmlformats.org/presentationml/2006/main">
  <p:tag name="THINKCELLSHAPEDONOTDELETE" val="tJMUwdUtvG7XS3j3AjCbn1A"/>
</p:tagLst>
</file>

<file path=ppt/tags/tag205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58.xml><?xml version="1.0" encoding="utf-8"?>
<p:tagLst xmlns:a="http://schemas.openxmlformats.org/drawingml/2006/main" xmlns:r="http://schemas.openxmlformats.org/officeDocument/2006/relationships" xmlns:p="http://schemas.openxmlformats.org/presentationml/2006/main">
  <p:tag name="THINKCELLSHAPEDONOTDELETE" val="t3gOqtEJf3HkmbOOHPZZPBg"/>
</p:tagLst>
</file>

<file path=ppt/tags/tag2059.xml><?xml version="1.0" encoding="utf-8"?>
<p:tagLst xmlns:a="http://schemas.openxmlformats.org/drawingml/2006/main" xmlns:r="http://schemas.openxmlformats.org/officeDocument/2006/relationships" xmlns:p="http://schemas.openxmlformats.org/presentationml/2006/main">
  <p:tag name="HEADER" val="True"/>
</p:tagLst>
</file>

<file path=ppt/tags/tag2060.xml><?xml version="1.0" encoding="utf-8"?>
<p:tagLst xmlns:a="http://schemas.openxmlformats.org/drawingml/2006/main" xmlns:r="http://schemas.openxmlformats.org/officeDocument/2006/relationships" xmlns:p="http://schemas.openxmlformats.org/presentationml/2006/main">
  <p:tag name="HEADER" val="True"/>
</p:tagLst>
</file>

<file path=ppt/tags/tag2061.xml><?xml version="1.0" encoding="utf-8"?>
<p:tagLst xmlns:a="http://schemas.openxmlformats.org/drawingml/2006/main" xmlns:r="http://schemas.openxmlformats.org/officeDocument/2006/relationships" xmlns:p="http://schemas.openxmlformats.org/presentationml/2006/main">
  <p:tag name="THINKCELLSHAPEDONOTDELETE" val="ttxMDQIPWhLRrHJA7RbK9gg"/>
</p:tagLst>
</file>

<file path=ppt/tags/tag2062.xml><?xml version="1.0" encoding="utf-8"?>
<p:tagLst xmlns:a="http://schemas.openxmlformats.org/drawingml/2006/main" xmlns:r="http://schemas.openxmlformats.org/officeDocument/2006/relationships" xmlns:p="http://schemas.openxmlformats.org/presentationml/2006/main">
  <p:tag name="THINKCELLSHAPEDONOTDELETE" val="t_f1l1hBTOeyfPlobSQt9kA"/>
</p:tagLst>
</file>

<file path=ppt/tags/tag2063.xml><?xml version="1.0" encoding="utf-8"?>
<p:tagLst xmlns:a="http://schemas.openxmlformats.org/drawingml/2006/main" xmlns:r="http://schemas.openxmlformats.org/officeDocument/2006/relationships" xmlns:p="http://schemas.openxmlformats.org/presentationml/2006/main">
  <p:tag name="THINKCELLSHAPEDONOTDELETE" val="tk9FejfFt26m.gWNDbkqV2g"/>
</p:tagLst>
</file>

<file path=ppt/tags/tag2064.xml><?xml version="1.0" encoding="utf-8"?>
<p:tagLst xmlns:a="http://schemas.openxmlformats.org/drawingml/2006/main" xmlns:r="http://schemas.openxmlformats.org/officeDocument/2006/relationships" xmlns:p="http://schemas.openxmlformats.org/presentationml/2006/main">
  <p:tag name="THINKCELLSHAPEDONOTDELETE" val="tc9M8JFMuzclZa6t3i4AfkQ"/>
</p:tagLst>
</file>

<file path=ppt/tags/tag2065.xml><?xml version="1.0" encoding="utf-8"?>
<p:tagLst xmlns:a="http://schemas.openxmlformats.org/drawingml/2006/main" xmlns:r="http://schemas.openxmlformats.org/officeDocument/2006/relationships" xmlns:p="http://schemas.openxmlformats.org/presentationml/2006/main">
  <p:tag name="THINKCELLSHAPEDONOTDELETE" val="tC12a5Pg67dGyFRAjeZyShg"/>
</p:tagLst>
</file>

<file path=ppt/tags/tag2066.xml><?xml version="1.0" encoding="utf-8"?>
<p:tagLst xmlns:a="http://schemas.openxmlformats.org/drawingml/2006/main" xmlns:r="http://schemas.openxmlformats.org/officeDocument/2006/relationships" xmlns:p="http://schemas.openxmlformats.org/presentationml/2006/main">
  <p:tag name="THINKCELLSHAPEDONOTDELETE" val="tw_5ctEU0dm_Tuw30KvEYJw"/>
</p:tagLst>
</file>

<file path=ppt/tags/tag2067.xml><?xml version="1.0" encoding="utf-8"?>
<p:tagLst xmlns:a="http://schemas.openxmlformats.org/drawingml/2006/main" xmlns:r="http://schemas.openxmlformats.org/officeDocument/2006/relationships" xmlns:p="http://schemas.openxmlformats.org/presentationml/2006/main">
  <p:tag name="THINKCELLSHAPEDONOTDELETE" val="tx1FzMMQ7KOKZCpdTaLkLlQ"/>
</p:tagLst>
</file>

<file path=ppt/tags/tag2068.xml><?xml version="1.0" encoding="utf-8"?>
<p:tagLst xmlns:a="http://schemas.openxmlformats.org/drawingml/2006/main" xmlns:r="http://schemas.openxmlformats.org/officeDocument/2006/relationships" xmlns:p="http://schemas.openxmlformats.org/presentationml/2006/main">
  <p:tag name="THINKCELLSHAPEDONOTDELETE" val="tNXAYlBKOZ86Svty7rcIOWA"/>
</p:tagLst>
</file>

<file path=ppt/tags/tag2069.xml><?xml version="1.0" encoding="utf-8"?>
<p:tagLst xmlns:a="http://schemas.openxmlformats.org/drawingml/2006/main" xmlns:r="http://schemas.openxmlformats.org/officeDocument/2006/relationships" xmlns:p="http://schemas.openxmlformats.org/presentationml/2006/main">
  <p:tag name="THINKCELLSHAPEDONOTDELETE" val="tMwNqF8aUNF99JVOXdnFBVw"/>
</p:tagLst>
</file>

<file path=ppt/tags/tag2070.xml><?xml version="1.0" encoding="utf-8"?>
<p:tagLst xmlns:a="http://schemas.openxmlformats.org/drawingml/2006/main" xmlns:r="http://schemas.openxmlformats.org/officeDocument/2006/relationships" xmlns:p="http://schemas.openxmlformats.org/presentationml/2006/main">
  <p:tag name="THINKCELLSHAPEDONOTDELETE" val="tCjumQ2JIlvVdZOYxBB3.Sg"/>
</p:tagLst>
</file>

<file path=ppt/tags/tag2071.xml><?xml version="1.0" encoding="utf-8"?>
<p:tagLst xmlns:a="http://schemas.openxmlformats.org/drawingml/2006/main" xmlns:r="http://schemas.openxmlformats.org/officeDocument/2006/relationships" xmlns:p="http://schemas.openxmlformats.org/presentationml/2006/main">
  <p:tag name="THINKCELLSHAPEDONOTDELETE" val="tOGpakc2k_dv4K07mGDeOGw"/>
</p:tagLst>
</file>

<file path=ppt/tags/tag2072.xml><?xml version="1.0" encoding="utf-8"?>
<p:tagLst xmlns:a="http://schemas.openxmlformats.org/drawingml/2006/main" xmlns:r="http://schemas.openxmlformats.org/officeDocument/2006/relationships" xmlns:p="http://schemas.openxmlformats.org/presentationml/2006/main">
  <p:tag name="THINKCELLSHAPEDONOTDELETE" val="tO.1ZrnoXfJay6HPAqAv8sw"/>
</p:tagLst>
</file>

<file path=ppt/tags/tag2073.xml><?xml version="1.0" encoding="utf-8"?>
<p:tagLst xmlns:a="http://schemas.openxmlformats.org/drawingml/2006/main" xmlns:r="http://schemas.openxmlformats.org/officeDocument/2006/relationships" xmlns:p="http://schemas.openxmlformats.org/presentationml/2006/main">
  <p:tag name="THINKCELLSHAPEDONOTDELETE" val="t20Z2GAmuPpg8zIcgK3V9kQ"/>
</p:tagLst>
</file>

<file path=ppt/tags/tag2074.xml><?xml version="1.0" encoding="utf-8"?>
<p:tagLst xmlns:a="http://schemas.openxmlformats.org/drawingml/2006/main" xmlns:r="http://schemas.openxmlformats.org/officeDocument/2006/relationships" xmlns:p="http://schemas.openxmlformats.org/presentationml/2006/main">
  <p:tag name="THINKCELLSHAPEDONOTDELETE" val="tpEyaf_dHr6bUegLzEQxykQ"/>
</p:tagLst>
</file>

<file path=ppt/tags/tag2075.xml><?xml version="1.0" encoding="utf-8"?>
<p:tagLst xmlns:a="http://schemas.openxmlformats.org/drawingml/2006/main" xmlns:r="http://schemas.openxmlformats.org/officeDocument/2006/relationships" xmlns:p="http://schemas.openxmlformats.org/presentationml/2006/main">
  <p:tag name="THINKCELLSHAPEDONOTDELETE" val="tPUnFaWiBA8dBhOXq5SmUAQ"/>
</p:tagLst>
</file>

<file path=ppt/tags/tag2076.xml><?xml version="1.0" encoding="utf-8"?>
<p:tagLst xmlns:a="http://schemas.openxmlformats.org/drawingml/2006/main" xmlns:r="http://schemas.openxmlformats.org/officeDocument/2006/relationships" xmlns:p="http://schemas.openxmlformats.org/presentationml/2006/main">
  <p:tag name="THINKCELLSHAPEDONOTDELETE" val="t9RdTo0zKhjost6mb_vc.uQ"/>
</p:tagLst>
</file>

<file path=ppt/tags/tag2077.xml><?xml version="1.0" encoding="utf-8"?>
<p:tagLst xmlns:a="http://schemas.openxmlformats.org/drawingml/2006/main" xmlns:r="http://schemas.openxmlformats.org/officeDocument/2006/relationships" xmlns:p="http://schemas.openxmlformats.org/presentationml/2006/main">
  <p:tag name="THINKCELLSHAPEDONOTDELETE" val="t0KHoOo_GridsLZJI2RCjXg"/>
</p:tagLst>
</file>

<file path=ppt/tags/tag2078.xml><?xml version="1.0" encoding="utf-8"?>
<p:tagLst xmlns:a="http://schemas.openxmlformats.org/drawingml/2006/main" xmlns:r="http://schemas.openxmlformats.org/officeDocument/2006/relationships" xmlns:p="http://schemas.openxmlformats.org/presentationml/2006/main">
  <p:tag name="THINKCELLSHAPEDONOTDELETE" val="trQYgocWySdkbnylEcaFX1g"/>
</p:tagLst>
</file>

<file path=ppt/tags/tag2079.xml><?xml version="1.0" encoding="utf-8"?>
<p:tagLst xmlns:a="http://schemas.openxmlformats.org/drawingml/2006/main" xmlns:r="http://schemas.openxmlformats.org/officeDocument/2006/relationships" xmlns:p="http://schemas.openxmlformats.org/presentationml/2006/main">
  <p:tag name="THINKCELLSHAPEDONOTDELETE" val="twmUNxUDiRJUHi4i0BFQLwA"/>
</p:tagLst>
</file>

<file path=ppt/tags/tag2080.xml><?xml version="1.0" encoding="utf-8"?>
<p:tagLst xmlns:a="http://schemas.openxmlformats.org/drawingml/2006/main" xmlns:r="http://schemas.openxmlformats.org/officeDocument/2006/relationships" xmlns:p="http://schemas.openxmlformats.org/presentationml/2006/main">
  <p:tag name="THINKCELLSHAPEDONOTDELETE" val="tlkcAH9paMPtqBtZQMD6lew"/>
</p:tagLst>
</file>

<file path=ppt/tags/tag2081.xml><?xml version="1.0" encoding="utf-8"?>
<p:tagLst xmlns:a="http://schemas.openxmlformats.org/drawingml/2006/main" xmlns:r="http://schemas.openxmlformats.org/officeDocument/2006/relationships" xmlns:p="http://schemas.openxmlformats.org/presentationml/2006/main">
  <p:tag name="THINKCELLSHAPEDONOTDELETE" val="tkqOF9f52pepdla1T5vxyvw"/>
</p:tagLst>
</file>

<file path=ppt/tags/tag2082.xml><?xml version="1.0" encoding="utf-8"?>
<p:tagLst xmlns:a="http://schemas.openxmlformats.org/drawingml/2006/main" xmlns:r="http://schemas.openxmlformats.org/officeDocument/2006/relationships" xmlns:p="http://schemas.openxmlformats.org/presentationml/2006/main">
  <p:tag name="THINKCELLSHAPEDONOTDELETE" val="tAojH7mPUjZHp7od6HmSYyg"/>
</p:tagLst>
</file>

<file path=ppt/tags/tag2083.xml><?xml version="1.0" encoding="utf-8"?>
<p:tagLst xmlns:a="http://schemas.openxmlformats.org/drawingml/2006/main" xmlns:r="http://schemas.openxmlformats.org/officeDocument/2006/relationships" xmlns:p="http://schemas.openxmlformats.org/presentationml/2006/main">
  <p:tag name="THINKCELLSHAPEDONOTDELETE" val="tbotf7E3LFgLDFbXM4YNzUg"/>
</p:tagLst>
</file>

<file path=ppt/tags/tag2084.xml><?xml version="1.0" encoding="utf-8"?>
<p:tagLst xmlns:a="http://schemas.openxmlformats.org/drawingml/2006/main" xmlns:r="http://schemas.openxmlformats.org/officeDocument/2006/relationships" xmlns:p="http://schemas.openxmlformats.org/presentationml/2006/main">
  <p:tag name="THINKCELLSHAPEDONOTDELETE" val="tfopquvhI0ZWVCaEvXjBySQ"/>
</p:tagLst>
</file>

<file path=ppt/tags/tag2085.xml><?xml version="1.0" encoding="utf-8"?>
<p:tagLst xmlns:a="http://schemas.openxmlformats.org/drawingml/2006/main" xmlns:r="http://schemas.openxmlformats.org/officeDocument/2006/relationships" xmlns:p="http://schemas.openxmlformats.org/presentationml/2006/main">
  <p:tag name="THINKCELLSHAPEDONOTDELETE" val="tSml6Js_WZLhUqvAQs9jYug"/>
</p:tagLst>
</file>

<file path=ppt/tags/tag2086.xml><?xml version="1.0" encoding="utf-8"?>
<p:tagLst xmlns:a="http://schemas.openxmlformats.org/drawingml/2006/main" xmlns:r="http://schemas.openxmlformats.org/officeDocument/2006/relationships" xmlns:p="http://schemas.openxmlformats.org/presentationml/2006/main">
  <p:tag name="THINKCELLSHAPEDONOTDELETE" val="tqlaz.xQWy600KzlOBGpsBg"/>
</p:tagLst>
</file>

<file path=ppt/tags/tag2087.xml><?xml version="1.0" encoding="utf-8"?>
<p:tagLst xmlns:a="http://schemas.openxmlformats.org/drawingml/2006/main" xmlns:r="http://schemas.openxmlformats.org/officeDocument/2006/relationships" xmlns:p="http://schemas.openxmlformats.org/presentationml/2006/main">
  <p:tag name="THINKCELLSHAPEDONOTDELETE" val="t79kEFN0_ufw2rAYJAm0BGg"/>
</p:tagLst>
</file>

<file path=ppt/tags/tag208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89.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090.xml><?xml version="1.0" encoding="utf-8"?>
<p:tagLst xmlns:a="http://schemas.openxmlformats.org/drawingml/2006/main" xmlns:r="http://schemas.openxmlformats.org/officeDocument/2006/relationships" xmlns:p="http://schemas.openxmlformats.org/presentationml/2006/main">
  <p:tag name="HEADER" val="True"/>
</p:tagLst>
</file>

<file path=ppt/tags/tag2091.xml><?xml version="1.0" encoding="utf-8"?>
<p:tagLst xmlns:a="http://schemas.openxmlformats.org/drawingml/2006/main" xmlns:r="http://schemas.openxmlformats.org/officeDocument/2006/relationships" xmlns:p="http://schemas.openxmlformats.org/presentationml/2006/main">
  <p:tag name="HEADER" val="True"/>
</p:tagLst>
</file>

<file path=ppt/tags/tag209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93.xml><?xml version="1.0" encoding="utf-8"?>
<p:tagLst xmlns:a="http://schemas.openxmlformats.org/drawingml/2006/main" xmlns:r="http://schemas.openxmlformats.org/officeDocument/2006/relationships" xmlns:p="http://schemas.openxmlformats.org/presentationml/2006/main">
  <p:tag name="THINKCELLSHAPEDONOTDELETE" val="tagSURM_XLmui82smvZR2qQ"/>
</p:tagLst>
</file>

<file path=ppt/tags/tag2094.xml><?xml version="1.0" encoding="utf-8"?>
<p:tagLst xmlns:a="http://schemas.openxmlformats.org/drawingml/2006/main" xmlns:r="http://schemas.openxmlformats.org/officeDocument/2006/relationships" xmlns:p="http://schemas.openxmlformats.org/presentationml/2006/main">
  <p:tag name="HEADER" val="True"/>
</p:tagLst>
</file>

<file path=ppt/tags/tag2095.xml><?xml version="1.0" encoding="utf-8"?>
<p:tagLst xmlns:a="http://schemas.openxmlformats.org/drawingml/2006/main" xmlns:r="http://schemas.openxmlformats.org/officeDocument/2006/relationships" xmlns:p="http://schemas.openxmlformats.org/presentationml/2006/main">
  <p:tag name="HEADER" val="True"/>
</p:tagLst>
</file>

<file path=ppt/tags/tag209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97.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098.xml><?xml version="1.0" encoding="utf-8"?>
<p:tagLst xmlns:a="http://schemas.openxmlformats.org/drawingml/2006/main" xmlns:r="http://schemas.openxmlformats.org/officeDocument/2006/relationships" xmlns:p="http://schemas.openxmlformats.org/presentationml/2006/main">
  <p:tag name="HEADER" val="True"/>
</p:tagLst>
</file>

<file path=ppt/tags/tag2099.xml><?xml version="1.0" encoding="utf-8"?>
<p:tagLst xmlns:a="http://schemas.openxmlformats.org/drawingml/2006/main" xmlns:r="http://schemas.openxmlformats.org/officeDocument/2006/relationships" xmlns:p="http://schemas.openxmlformats.org/presentationml/2006/main">
  <p:tag name="HEADER" val="True"/>
</p:tagLst>
</file>

<file path=ppt/tags/tag2100.xml><?xml version="1.0" encoding="utf-8"?>
<p:tagLst xmlns:a="http://schemas.openxmlformats.org/drawingml/2006/main" xmlns:r="http://schemas.openxmlformats.org/officeDocument/2006/relationships" xmlns:p="http://schemas.openxmlformats.org/presentationml/2006/main">
  <p:tag name="THINKCELLSHAPEDONOTDELETE" val="tBdFG2dGMySxtz_etTgdagA"/>
</p:tagLst>
</file>

<file path=ppt/tags/tag2101.xml><?xml version="1.0" encoding="utf-8"?>
<p:tagLst xmlns:a="http://schemas.openxmlformats.org/drawingml/2006/main" xmlns:r="http://schemas.openxmlformats.org/officeDocument/2006/relationships" xmlns:p="http://schemas.openxmlformats.org/presentationml/2006/main">
  <p:tag name="THINKCELLSHAPEDONOTDELETE" val="tAhQMFh1ORoO8ARH54NQr.g"/>
</p:tagLst>
</file>

<file path=ppt/tags/tag2102.xml><?xml version="1.0" encoding="utf-8"?>
<p:tagLst xmlns:a="http://schemas.openxmlformats.org/drawingml/2006/main" xmlns:r="http://schemas.openxmlformats.org/officeDocument/2006/relationships" xmlns:p="http://schemas.openxmlformats.org/presentationml/2006/main">
  <p:tag name="THINKCELLSHAPEDONOTDELETE" val="tRmwrQSyhGufMbveTspS2mA"/>
</p:tagLst>
</file>

<file path=ppt/tags/tag2103.xml><?xml version="1.0" encoding="utf-8"?>
<p:tagLst xmlns:a="http://schemas.openxmlformats.org/drawingml/2006/main" xmlns:r="http://schemas.openxmlformats.org/officeDocument/2006/relationships" xmlns:p="http://schemas.openxmlformats.org/presentationml/2006/main">
  <p:tag name="THINKCELLSHAPEDONOTDELETE" val="t8f2ZxuhXfhZiA2rMbz4Zkw"/>
</p:tagLst>
</file>

<file path=ppt/tags/tag2104.xml><?xml version="1.0" encoding="utf-8"?>
<p:tagLst xmlns:a="http://schemas.openxmlformats.org/drawingml/2006/main" xmlns:r="http://schemas.openxmlformats.org/officeDocument/2006/relationships" xmlns:p="http://schemas.openxmlformats.org/presentationml/2006/main">
  <p:tag name="THINKCELLSHAPEDONOTDELETE" val="tDvO2vlpDHYcHgTcUXOP2yA"/>
</p:tagLst>
</file>

<file path=ppt/tags/tag2105.xml><?xml version="1.0" encoding="utf-8"?>
<p:tagLst xmlns:a="http://schemas.openxmlformats.org/drawingml/2006/main" xmlns:r="http://schemas.openxmlformats.org/officeDocument/2006/relationships" xmlns:p="http://schemas.openxmlformats.org/presentationml/2006/main">
  <p:tag name="THINKCELLSHAPEDONOTDELETE" val="ti.EV4efuZd.8.iSxDYo9.g"/>
</p:tagLst>
</file>

<file path=ppt/tags/tag2106.xml><?xml version="1.0" encoding="utf-8"?>
<p:tagLst xmlns:a="http://schemas.openxmlformats.org/drawingml/2006/main" xmlns:r="http://schemas.openxmlformats.org/officeDocument/2006/relationships" xmlns:p="http://schemas.openxmlformats.org/presentationml/2006/main">
  <p:tag name="THINKCELLSHAPEDONOTDELETE" val="tZx8WR3abMeVttduCM2wCnQ"/>
</p:tagLst>
</file>

<file path=ppt/tags/tag2107.xml><?xml version="1.0" encoding="utf-8"?>
<p:tagLst xmlns:a="http://schemas.openxmlformats.org/drawingml/2006/main" xmlns:r="http://schemas.openxmlformats.org/officeDocument/2006/relationships" xmlns:p="http://schemas.openxmlformats.org/presentationml/2006/main">
  <p:tag name="THINKCELLSHAPEDONOTDELETE" val="tZaBBFK8XmP0zI9iWGXjpaA"/>
</p:tagLst>
</file>

<file path=ppt/tags/tag2108.xml><?xml version="1.0" encoding="utf-8"?>
<p:tagLst xmlns:a="http://schemas.openxmlformats.org/drawingml/2006/main" xmlns:r="http://schemas.openxmlformats.org/officeDocument/2006/relationships" xmlns:p="http://schemas.openxmlformats.org/presentationml/2006/main">
  <p:tag name="THINKCELLSHAPEDONOTDELETE" val="twbaAVKsv.hWCprd.8II0WA"/>
</p:tagLst>
</file>

<file path=ppt/tags/tag2109.xml><?xml version="1.0" encoding="utf-8"?>
<p:tagLst xmlns:a="http://schemas.openxmlformats.org/drawingml/2006/main" xmlns:r="http://schemas.openxmlformats.org/officeDocument/2006/relationships" xmlns:p="http://schemas.openxmlformats.org/presentationml/2006/main">
  <p:tag name="THINKCELLSHAPEDONOTDELETE" val="tUdVPCSuu_yOqWCJJGonylw"/>
</p:tagLst>
</file>

<file path=ppt/tags/tag2110.xml><?xml version="1.0" encoding="utf-8"?>
<p:tagLst xmlns:a="http://schemas.openxmlformats.org/drawingml/2006/main" xmlns:r="http://schemas.openxmlformats.org/officeDocument/2006/relationships" xmlns:p="http://schemas.openxmlformats.org/presentationml/2006/main">
  <p:tag name="THINKCELLSHAPEDONOTDELETE" val="tuE.KR50H6Oy2VN6PmUFvpQ"/>
</p:tagLst>
</file>

<file path=ppt/tags/tag2111.xml><?xml version="1.0" encoding="utf-8"?>
<p:tagLst xmlns:a="http://schemas.openxmlformats.org/drawingml/2006/main" xmlns:r="http://schemas.openxmlformats.org/officeDocument/2006/relationships" xmlns:p="http://schemas.openxmlformats.org/presentationml/2006/main">
  <p:tag name="THINKCELLSHAPEDONOTDELETE" val="tr0hRJ0k_uzOHIGEmbWaHgQ"/>
</p:tagLst>
</file>

<file path=ppt/tags/tag2112.xml><?xml version="1.0" encoding="utf-8"?>
<p:tagLst xmlns:a="http://schemas.openxmlformats.org/drawingml/2006/main" xmlns:r="http://schemas.openxmlformats.org/officeDocument/2006/relationships" xmlns:p="http://schemas.openxmlformats.org/presentationml/2006/main">
  <p:tag name="THINKCELLSHAPEDONOTDELETE" val="tIlvGNhoUmZC6BmQnwC8JPA"/>
</p:tagLst>
</file>

<file path=ppt/tags/tag2113.xml><?xml version="1.0" encoding="utf-8"?>
<p:tagLst xmlns:a="http://schemas.openxmlformats.org/drawingml/2006/main" xmlns:r="http://schemas.openxmlformats.org/officeDocument/2006/relationships" xmlns:p="http://schemas.openxmlformats.org/presentationml/2006/main">
  <p:tag name="THINKCELLSHAPEDONOTDELETE" val="tJpgtXxXT9M58f695YWQ8kA"/>
</p:tagLst>
</file>

<file path=ppt/tags/tag2114.xml><?xml version="1.0" encoding="utf-8"?>
<p:tagLst xmlns:a="http://schemas.openxmlformats.org/drawingml/2006/main" xmlns:r="http://schemas.openxmlformats.org/officeDocument/2006/relationships" xmlns:p="http://schemas.openxmlformats.org/presentationml/2006/main">
  <p:tag name="THINKCELLSHAPEDONOTDELETE" val="t3BeZtX3GHBCzPl08qJBhQA"/>
</p:tagLst>
</file>

<file path=ppt/tags/tag2115.xml><?xml version="1.0" encoding="utf-8"?>
<p:tagLst xmlns:a="http://schemas.openxmlformats.org/drawingml/2006/main" xmlns:r="http://schemas.openxmlformats.org/officeDocument/2006/relationships" xmlns:p="http://schemas.openxmlformats.org/presentationml/2006/main">
  <p:tag name="THINKCELLSHAPEDONOTDELETE" val="tIIzbVPNzK2Mkqeb.gd.whw"/>
</p:tagLst>
</file>

<file path=ppt/tags/tag2116.xml><?xml version="1.0" encoding="utf-8"?>
<p:tagLst xmlns:a="http://schemas.openxmlformats.org/drawingml/2006/main" xmlns:r="http://schemas.openxmlformats.org/officeDocument/2006/relationships" xmlns:p="http://schemas.openxmlformats.org/presentationml/2006/main">
  <p:tag name="THINKCELLSHAPEDONOTDELETE" val="tlKR4PSEHRXtOxGywrzlyJA"/>
</p:tagLst>
</file>

<file path=ppt/tags/tag2117.xml><?xml version="1.0" encoding="utf-8"?>
<p:tagLst xmlns:a="http://schemas.openxmlformats.org/drawingml/2006/main" xmlns:r="http://schemas.openxmlformats.org/officeDocument/2006/relationships" xmlns:p="http://schemas.openxmlformats.org/presentationml/2006/main">
  <p:tag name="THINKCELLSHAPEDONOTDELETE" val="tcDtUIj2a_lRp7AU.5BaAMw"/>
</p:tagLst>
</file>

<file path=ppt/tags/tag2118.xml><?xml version="1.0" encoding="utf-8"?>
<p:tagLst xmlns:a="http://schemas.openxmlformats.org/drawingml/2006/main" xmlns:r="http://schemas.openxmlformats.org/officeDocument/2006/relationships" xmlns:p="http://schemas.openxmlformats.org/presentationml/2006/main">
  <p:tag name="THINKCELLSHAPEDONOTDELETE" val="tFqp7XSn.Mll4JZ4vKKiAsg"/>
</p:tagLst>
</file>

<file path=ppt/tags/tag2119.xml><?xml version="1.0" encoding="utf-8"?>
<p:tagLst xmlns:a="http://schemas.openxmlformats.org/drawingml/2006/main" xmlns:r="http://schemas.openxmlformats.org/officeDocument/2006/relationships" xmlns:p="http://schemas.openxmlformats.org/presentationml/2006/main">
  <p:tag name="THINKCELLSHAPEDONOTDELETE" val="twspQc9HPh0mgzf1jSFcrrg"/>
</p:tagLst>
</file>

<file path=ppt/tags/tag2120.xml><?xml version="1.0" encoding="utf-8"?>
<p:tagLst xmlns:a="http://schemas.openxmlformats.org/drawingml/2006/main" xmlns:r="http://schemas.openxmlformats.org/officeDocument/2006/relationships" xmlns:p="http://schemas.openxmlformats.org/presentationml/2006/main">
  <p:tag name="THINKCELLSHAPEDONOTDELETE" val="tEXV3wyou0OVjqowEMIzdzw"/>
</p:tagLst>
</file>

<file path=ppt/tags/tag2121.xml><?xml version="1.0" encoding="utf-8"?>
<p:tagLst xmlns:a="http://schemas.openxmlformats.org/drawingml/2006/main" xmlns:r="http://schemas.openxmlformats.org/officeDocument/2006/relationships" xmlns:p="http://schemas.openxmlformats.org/presentationml/2006/main">
  <p:tag name="THINKCELLSHAPEDONOTDELETE" val="t3A_A4UcstDKGzF9_Xnsdew"/>
</p:tagLst>
</file>

<file path=ppt/tags/tag2122.xml><?xml version="1.0" encoding="utf-8"?>
<p:tagLst xmlns:a="http://schemas.openxmlformats.org/drawingml/2006/main" xmlns:r="http://schemas.openxmlformats.org/officeDocument/2006/relationships" xmlns:p="http://schemas.openxmlformats.org/presentationml/2006/main">
  <p:tag name="THINKCELLSHAPEDONOTDELETE" val="th8G6mta.0ePURr3FHdoFEw"/>
</p:tagLst>
</file>

<file path=ppt/tags/tag2123.xml><?xml version="1.0" encoding="utf-8"?>
<p:tagLst xmlns:a="http://schemas.openxmlformats.org/drawingml/2006/main" xmlns:r="http://schemas.openxmlformats.org/officeDocument/2006/relationships" xmlns:p="http://schemas.openxmlformats.org/presentationml/2006/main">
  <p:tag name="THINKCELLSHAPEDONOTDELETE" val="tI6v20VGqrvhZZwNHr4gaOA"/>
</p:tagLst>
</file>

<file path=ppt/tags/tag2124.xml><?xml version="1.0" encoding="utf-8"?>
<p:tagLst xmlns:a="http://schemas.openxmlformats.org/drawingml/2006/main" xmlns:r="http://schemas.openxmlformats.org/officeDocument/2006/relationships" xmlns:p="http://schemas.openxmlformats.org/presentationml/2006/main">
  <p:tag name="THINKCELLSHAPEDONOTDELETE" val="tFgaDjziN2jrgZ43zJB9HCg"/>
</p:tagLst>
</file>

<file path=ppt/tags/tag2125.xml><?xml version="1.0" encoding="utf-8"?>
<p:tagLst xmlns:a="http://schemas.openxmlformats.org/drawingml/2006/main" xmlns:r="http://schemas.openxmlformats.org/officeDocument/2006/relationships" xmlns:p="http://schemas.openxmlformats.org/presentationml/2006/main">
  <p:tag name="THINKCELLSHAPEDONOTDELETE" val="tX6OOBRbToEotCpDYupGxjA"/>
</p:tagLst>
</file>

<file path=ppt/tags/tag2126.xml><?xml version="1.0" encoding="utf-8"?>
<p:tagLst xmlns:a="http://schemas.openxmlformats.org/drawingml/2006/main" xmlns:r="http://schemas.openxmlformats.org/officeDocument/2006/relationships" xmlns:p="http://schemas.openxmlformats.org/presentationml/2006/main">
  <p:tag name="THINKCELLSHAPEDONOTDELETE" val="tvqUlAvTL7Lehxwd993trAw"/>
</p:tagLst>
</file>

<file path=ppt/tags/tag2127.xml><?xml version="1.0" encoding="utf-8"?>
<p:tagLst xmlns:a="http://schemas.openxmlformats.org/drawingml/2006/main" xmlns:r="http://schemas.openxmlformats.org/officeDocument/2006/relationships" xmlns:p="http://schemas.openxmlformats.org/presentationml/2006/main">
  <p:tag name="THINKCELLSHAPEDONOTDELETE" val="tRqJ4TMY4aNEu6AsNf0ikyw"/>
</p:tagLst>
</file>

<file path=ppt/tags/tag2128.xml><?xml version="1.0" encoding="utf-8"?>
<p:tagLst xmlns:a="http://schemas.openxmlformats.org/drawingml/2006/main" xmlns:r="http://schemas.openxmlformats.org/officeDocument/2006/relationships" xmlns:p="http://schemas.openxmlformats.org/presentationml/2006/main">
  <p:tag name="THINKCELLSHAPEDONOTDELETE" val="tdgl6RZNyFmyP9Rp5DZJOLQ"/>
</p:tagLst>
</file>

<file path=ppt/tags/tag2129.xml><?xml version="1.0" encoding="utf-8"?>
<p:tagLst xmlns:a="http://schemas.openxmlformats.org/drawingml/2006/main" xmlns:r="http://schemas.openxmlformats.org/officeDocument/2006/relationships" xmlns:p="http://schemas.openxmlformats.org/presentationml/2006/main">
  <p:tag name="THINKCELLSHAPEDONOTDELETE" val="tufe1IXDQwJNsbFMPpTW4pQ"/>
</p:tagLst>
</file>

<file path=ppt/tags/tag2130.xml><?xml version="1.0" encoding="utf-8"?>
<p:tagLst xmlns:a="http://schemas.openxmlformats.org/drawingml/2006/main" xmlns:r="http://schemas.openxmlformats.org/officeDocument/2006/relationships" xmlns:p="http://schemas.openxmlformats.org/presentationml/2006/main">
  <p:tag name="THINKCELLSHAPEDONOTDELETE" val="tq9cUoifUa8UOwRtB0kUemQ"/>
</p:tagLst>
</file>

<file path=ppt/tags/tag2131.xml><?xml version="1.0" encoding="utf-8"?>
<p:tagLst xmlns:a="http://schemas.openxmlformats.org/drawingml/2006/main" xmlns:r="http://schemas.openxmlformats.org/officeDocument/2006/relationships" xmlns:p="http://schemas.openxmlformats.org/presentationml/2006/main">
  <p:tag name="THINKCELLSHAPEDONOTDELETE" val="tGkU.T7uPlQM4y.OADHs02w"/>
</p:tagLst>
</file>

<file path=ppt/tags/tag2132.xml><?xml version="1.0" encoding="utf-8"?>
<p:tagLst xmlns:a="http://schemas.openxmlformats.org/drawingml/2006/main" xmlns:r="http://schemas.openxmlformats.org/officeDocument/2006/relationships" xmlns:p="http://schemas.openxmlformats.org/presentationml/2006/main">
  <p:tag name="THINKCELLSHAPEDONOTDELETE" val="tTrVSBnW_YuKfWJVhsu2UXw"/>
</p:tagLst>
</file>

<file path=ppt/tags/tag2133.xml><?xml version="1.0" encoding="utf-8"?>
<p:tagLst xmlns:a="http://schemas.openxmlformats.org/drawingml/2006/main" xmlns:r="http://schemas.openxmlformats.org/officeDocument/2006/relationships" xmlns:p="http://schemas.openxmlformats.org/presentationml/2006/main">
  <p:tag name="THINKCELLSHAPEDONOTDELETE" val="tRpbrnoRkHWd0y4UcIO0vSw"/>
</p:tagLst>
</file>

<file path=ppt/tags/tag2134.xml><?xml version="1.0" encoding="utf-8"?>
<p:tagLst xmlns:a="http://schemas.openxmlformats.org/drawingml/2006/main" xmlns:r="http://schemas.openxmlformats.org/officeDocument/2006/relationships" xmlns:p="http://schemas.openxmlformats.org/presentationml/2006/main">
  <p:tag name="THINKCELLSHAPEDONOTDELETE" val="ttzcc1IHyP2IZ7Tu_14nQ2A"/>
</p:tagLst>
</file>

<file path=ppt/tags/tag2135.xml><?xml version="1.0" encoding="utf-8"?>
<p:tagLst xmlns:a="http://schemas.openxmlformats.org/drawingml/2006/main" xmlns:r="http://schemas.openxmlformats.org/officeDocument/2006/relationships" xmlns:p="http://schemas.openxmlformats.org/presentationml/2006/main">
  <p:tag name="THINKCELLSHAPEDONOTDELETE" val="t4j5CDM0K5ht6CuTcExaWwg"/>
</p:tagLst>
</file>

<file path=ppt/tags/tag2136.xml><?xml version="1.0" encoding="utf-8"?>
<p:tagLst xmlns:a="http://schemas.openxmlformats.org/drawingml/2006/main" xmlns:r="http://schemas.openxmlformats.org/officeDocument/2006/relationships" xmlns:p="http://schemas.openxmlformats.org/presentationml/2006/main">
  <p:tag name="THINKCELLSHAPEDONOTDELETE" val="tdreSuSx9hc_ATUiJnF.RNg"/>
</p:tagLst>
</file>

<file path=ppt/tags/tag2137.xml><?xml version="1.0" encoding="utf-8"?>
<p:tagLst xmlns:a="http://schemas.openxmlformats.org/drawingml/2006/main" xmlns:r="http://schemas.openxmlformats.org/officeDocument/2006/relationships" xmlns:p="http://schemas.openxmlformats.org/presentationml/2006/main">
  <p:tag name="THINKCELLSHAPEDONOTDELETE" val="trtnPbgp6o87_DOSwojNYPg"/>
</p:tagLst>
</file>

<file path=ppt/tags/tag21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39.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140.xml><?xml version="1.0" encoding="utf-8"?>
<p:tagLst xmlns:a="http://schemas.openxmlformats.org/drawingml/2006/main" xmlns:r="http://schemas.openxmlformats.org/officeDocument/2006/relationships" xmlns:p="http://schemas.openxmlformats.org/presentationml/2006/main">
  <p:tag name="HEADER" val="True"/>
</p:tagLst>
</file>

<file path=ppt/tags/tag2141.xml><?xml version="1.0" encoding="utf-8"?>
<p:tagLst xmlns:a="http://schemas.openxmlformats.org/drawingml/2006/main" xmlns:r="http://schemas.openxmlformats.org/officeDocument/2006/relationships" xmlns:p="http://schemas.openxmlformats.org/presentationml/2006/main">
  <p:tag name="HEADER" val="True"/>
</p:tagLst>
</file>

<file path=ppt/tags/tag2142.xml><?xml version="1.0" encoding="utf-8"?>
<p:tagLst xmlns:a="http://schemas.openxmlformats.org/drawingml/2006/main" xmlns:r="http://schemas.openxmlformats.org/officeDocument/2006/relationships" xmlns:p="http://schemas.openxmlformats.org/presentationml/2006/main">
  <p:tag name="THINKCELLSHAPEDONOTDELETE" val="toU.nPSfV9ip3lJfTNDpKTg"/>
</p:tagLst>
</file>

<file path=ppt/tags/tag2143.xml><?xml version="1.0" encoding="utf-8"?>
<p:tagLst xmlns:a="http://schemas.openxmlformats.org/drawingml/2006/main" xmlns:r="http://schemas.openxmlformats.org/officeDocument/2006/relationships" xmlns:p="http://schemas.openxmlformats.org/presentationml/2006/main">
  <p:tag name="THINKCELLSHAPEDONOTDELETE" val="tBMjYLavN49Ytt4kXMXmR3Q"/>
</p:tagLst>
</file>

<file path=ppt/tags/tag2144.xml><?xml version="1.0" encoding="utf-8"?>
<p:tagLst xmlns:a="http://schemas.openxmlformats.org/drawingml/2006/main" xmlns:r="http://schemas.openxmlformats.org/officeDocument/2006/relationships" xmlns:p="http://schemas.openxmlformats.org/presentationml/2006/main">
  <p:tag name="THINKCELLSHAPEDONOTDELETE" val="tbO7XEpuFXgAyYhcW3Hfo_w"/>
</p:tagLst>
</file>

<file path=ppt/tags/tag2145.xml><?xml version="1.0" encoding="utf-8"?>
<p:tagLst xmlns:a="http://schemas.openxmlformats.org/drawingml/2006/main" xmlns:r="http://schemas.openxmlformats.org/officeDocument/2006/relationships" xmlns:p="http://schemas.openxmlformats.org/presentationml/2006/main">
  <p:tag name="THINKCELLSHAPEDONOTDELETE" val="t6bQtlCxrR3vRkJeNUQRTZA"/>
</p:tagLst>
</file>

<file path=ppt/tags/tag2146.xml><?xml version="1.0" encoding="utf-8"?>
<p:tagLst xmlns:a="http://schemas.openxmlformats.org/drawingml/2006/main" xmlns:r="http://schemas.openxmlformats.org/officeDocument/2006/relationships" xmlns:p="http://schemas.openxmlformats.org/presentationml/2006/main">
  <p:tag name="THINKCELLSHAPEDONOTDELETE" val="twTFUGtjjTQhfMcsn7dCK7A"/>
</p:tagLst>
</file>

<file path=ppt/tags/tag2147.xml><?xml version="1.0" encoding="utf-8"?>
<p:tagLst xmlns:a="http://schemas.openxmlformats.org/drawingml/2006/main" xmlns:r="http://schemas.openxmlformats.org/officeDocument/2006/relationships" xmlns:p="http://schemas.openxmlformats.org/presentationml/2006/main">
  <p:tag name="THINKCELLSHAPEDONOTDELETE" val="tKF8CJ4qBmQVfQ5AsAv2IEg"/>
</p:tagLst>
</file>

<file path=ppt/tags/tag2148.xml><?xml version="1.0" encoding="utf-8"?>
<p:tagLst xmlns:a="http://schemas.openxmlformats.org/drawingml/2006/main" xmlns:r="http://schemas.openxmlformats.org/officeDocument/2006/relationships" xmlns:p="http://schemas.openxmlformats.org/presentationml/2006/main">
  <p:tag name="THINKCELLSHAPEDONOTDELETE" val="t7BP7Pm2uIYxe1hQ3clg5Tg"/>
</p:tagLst>
</file>

<file path=ppt/tags/tag2149.xml><?xml version="1.0" encoding="utf-8"?>
<p:tagLst xmlns:a="http://schemas.openxmlformats.org/drawingml/2006/main" xmlns:r="http://schemas.openxmlformats.org/officeDocument/2006/relationships" xmlns:p="http://schemas.openxmlformats.org/presentationml/2006/main">
  <p:tag name="THINKCELLSHAPEDONOTDELETE" val="t3ASGEjk_3KfIZYMQ5mqa8w"/>
</p:tagLst>
</file>

<file path=ppt/tags/tag2150.xml><?xml version="1.0" encoding="utf-8"?>
<p:tagLst xmlns:a="http://schemas.openxmlformats.org/drawingml/2006/main" xmlns:r="http://schemas.openxmlformats.org/officeDocument/2006/relationships" xmlns:p="http://schemas.openxmlformats.org/presentationml/2006/main">
  <p:tag name="THINKCELLSHAPEDONOTDELETE" val="tOoUlDXid.iCFx3bmufOxFA"/>
</p:tagLst>
</file>

<file path=ppt/tags/tag2151.xml><?xml version="1.0" encoding="utf-8"?>
<p:tagLst xmlns:a="http://schemas.openxmlformats.org/drawingml/2006/main" xmlns:r="http://schemas.openxmlformats.org/officeDocument/2006/relationships" xmlns:p="http://schemas.openxmlformats.org/presentationml/2006/main">
  <p:tag name="THINKCELLSHAPEDONOTDELETE" val="tqKSSAHwLlwfWBWGAVFGnQQ"/>
</p:tagLst>
</file>

<file path=ppt/tags/tag2152.xml><?xml version="1.0" encoding="utf-8"?>
<p:tagLst xmlns:a="http://schemas.openxmlformats.org/drawingml/2006/main" xmlns:r="http://schemas.openxmlformats.org/officeDocument/2006/relationships" xmlns:p="http://schemas.openxmlformats.org/presentationml/2006/main">
  <p:tag name="THINKCELLSHAPEDONOTDELETE" val="tbF6Y5HybCFwXZLea6mACwg"/>
</p:tagLst>
</file>

<file path=ppt/tags/tag2153.xml><?xml version="1.0" encoding="utf-8"?>
<p:tagLst xmlns:a="http://schemas.openxmlformats.org/drawingml/2006/main" xmlns:r="http://schemas.openxmlformats.org/officeDocument/2006/relationships" xmlns:p="http://schemas.openxmlformats.org/presentationml/2006/main">
  <p:tag name="THINKCELLSHAPEDONOTDELETE" val="tkgErHYni0ECFwDcFi.ZZng"/>
</p:tagLst>
</file>

<file path=ppt/tags/tag2154.xml><?xml version="1.0" encoding="utf-8"?>
<p:tagLst xmlns:a="http://schemas.openxmlformats.org/drawingml/2006/main" xmlns:r="http://schemas.openxmlformats.org/officeDocument/2006/relationships" xmlns:p="http://schemas.openxmlformats.org/presentationml/2006/main">
  <p:tag name="THINKCELLSHAPEDONOTDELETE" val="t_7lxGyIJVUKE9kmetELG2g"/>
</p:tagLst>
</file>

<file path=ppt/tags/tag2155.xml><?xml version="1.0" encoding="utf-8"?>
<p:tagLst xmlns:a="http://schemas.openxmlformats.org/drawingml/2006/main" xmlns:r="http://schemas.openxmlformats.org/officeDocument/2006/relationships" xmlns:p="http://schemas.openxmlformats.org/presentationml/2006/main">
  <p:tag name="THINKCELLSHAPEDONOTDELETE" val="t20E5gfsEe90WUS4QbUm23Q"/>
</p:tagLst>
</file>

<file path=ppt/tags/tag2156.xml><?xml version="1.0" encoding="utf-8"?>
<p:tagLst xmlns:a="http://schemas.openxmlformats.org/drawingml/2006/main" xmlns:r="http://schemas.openxmlformats.org/officeDocument/2006/relationships" xmlns:p="http://schemas.openxmlformats.org/presentationml/2006/main">
  <p:tag name="THINKCELLSHAPEDONOTDELETE" val="t9snmi5KS4QQ8XDcN_0pUVg"/>
</p:tagLst>
</file>

<file path=ppt/tags/tag2157.xml><?xml version="1.0" encoding="utf-8"?>
<p:tagLst xmlns:a="http://schemas.openxmlformats.org/drawingml/2006/main" xmlns:r="http://schemas.openxmlformats.org/officeDocument/2006/relationships" xmlns:p="http://schemas.openxmlformats.org/presentationml/2006/main">
  <p:tag name="THINKCELLSHAPEDONOTDELETE" val="tzecoCV4ygdaB74SfDVlZPA"/>
</p:tagLst>
</file>

<file path=ppt/tags/tag2158.xml><?xml version="1.0" encoding="utf-8"?>
<p:tagLst xmlns:a="http://schemas.openxmlformats.org/drawingml/2006/main" xmlns:r="http://schemas.openxmlformats.org/officeDocument/2006/relationships" xmlns:p="http://schemas.openxmlformats.org/presentationml/2006/main">
  <p:tag name="THINKCELLSHAPEDONOTDELETE" val="t9xk_m28yItrucj7rVwj0xA"/>
</p:tagLst>
</file>

<file path=ppt/tags/tag2159.xml><?xml version="1.0" encoding="utf-8"?>
<p:tagLst xmlns:a="http://schemas.openxmlformats.org/drawingml/2006/main" xmlns:r="http://schemas.openxmlformats.org/officeDocument/2006/relationships" xmlns:p="http://schemas.openxmlformats.org/presentationml/2006/main">
  <p:tag name="THINKCELLSHAPEDONOTDELETE" val="tA8sdJNQQYE20J.b8VB7Efg"/>
</p:tagLst>
</file>

<file path=ppt/tags/tag2160.xml><?xml version="1.0" encoding="utf-8"?>
<p:tagLst xmlns:a="http://schemas.openxmlformats.org/drawingml/2006/main" xmlns:r="http://schemas.openxmlformats.org/officeDocument/2006/relationships" xmlns:p="http://schemas.openxmlformats.org/presentationml/2006/main">
  <p:tag name="THINKCELLSHAPEDONOTDELETE" val="t919cA9eHTKHNyOY70iPIfA"/>
</p:tagLst>
</file>

<file path=ppt/tags/tag2161.xml><?xml version="1.0" encoding="utf-8"?>
<p:tagLst xmlns:a="http://schemas.openxmlformats.org/drawingml/2006/main" xmlns:r="http://schemas.openxmlformats.org/officeDocument/2006/relationships" xmlns:p="http://schemas.openxmlformats.org/presentationml/2006/main">
  <p:tag name="THINKCELLSHAPEDONOTDELETE" val="tMlUrg5j4LgMcQKUm5E6w_g"/>
</p:tagLst>
</file>

<file path=ppt/tags/tag2162.xml><?xml version="1.0" encoding="utf-8"?>
<p:tagLst xmlns:a="http://schemas.openxmlformats.org/drawingml/2006/main" xmlns:r="http://schemas.openxmlformats.org/officeDocument/2006/relationships" xmlns:p="http://schemas.openxmlformats.org/presentationml/2006/main">
  <p:tag name="THINKCELLSHAPEDONOTDELETE" val="tnPFQNg6x7me2aHWzJ7g7YQ"/>
</p:tagLst>
</file>

<file path=ppt/tags/tag2163.xml><?xml version="1.0" encoding="utf-8"?>
<p:tagLst xmlns:a="http://schemas.openxmlformats.org/drawingml/2006/main" xmlns:r="http://schemas.openxmlformats.org/officeDocument/2006/relationships" xmlns:p="http://schemas.openxmlformats.org/presentationml/2006/main">
  <p:tag name="THINKCELLSHAPEDONOTDELETE" val="toGdFoShKSu_l1g9ZY_EjJg"/>
</p:tagLst>
</file>

<file path=ppt/tags/tag2164.xml><?xml version="1.0" encoding="utf-8"?>
<p:tagLst xmlns:a="http://schemas.openxmlformats.org/drawingml/2006/main" xmlns:r="http://schemas.openxmlformats.org/officeDocument/2006/relationships" xmlns:p="http://schemas.openxmlformats.org/presentationml/2006/main">
  <p:tag name="THINKCELLSHAPEDONOTDELETE" val="tVW4qHfegAX3i1ict6nbEmA"/>
</p:tagLst>
</file>

<file path=ppt/tags/tag2165.xml><?xml version="1.0" encoding="utf-8"?>
<p:tagLst xmlns:a="http://schemas.openxmlformats.org/drawingml/2006/main" xmlns:r="http://schemas.openxmlformats.org/officeDocument/2006/relationships" xmlns:p="http://schemas.openxmlformats.org/presentationml/2006/main">
  <p:tag name="THINKCELLSHAPEDONOTDELETE" val="tX.gZayDvqnO1jqVukz_k9w"/>
</p:tagLst>
</file>

<file path=ppt/tags/tag2166.xml><?xml version="1.0" encoding="utf-8"?>
<p:tagLst xmlns:a="http://schemas.openxmlformats.org/drawingml/2006/main" xmlns:r="http://schemas.openxmlformats.org/officeDocument/2006/relationships" xmlns:p="http://schemas.openxmlformats.org/presentationml/2006/main">
  <p:tag name="THINKCELLSHAPEDONOTDELETE" val="ti20FXMYEGNKA6_f18HxiVw"/>
</p:tagLst>
</file>

<file path=ppt/tags/tag2167.xml><?xml version="1.0" encoding="utf-8"?>
<p:tagLst xmlns:a="http://schemas.openxmlformats.org/drawingml/2006/main" xmlns:r="http://schemas.openxmlformats.org/officeDocument/2006/relationships" xmlns:p="http://schemas.openxmlformats.org/presentationml/2006/main">
  <p:tag name="THINKCELLSHAPEDONOTDELETE" val="tlzu9sLrkmAvHoX5VeBoLpA"/>
</p:tagLst>
</file>

<file path=ppt/tags/tag2168.xml><?xml version="1.0" encoding="utf-8"?>
<p:tagLst xmlns:a="http://schemas.openxmlformats.org/drawingml/2006/main" xmlns:r="http://schemas.openxmlformats.org/officeDocument/2006/relationships" xmlns:p="http://schemas.openxmlformats.org/presentationml/2006/main">
  <p:tag name="THINKCELLSHAPEDONOTDELETE" val="t.XsNfn0bBkNzEpOSaiMopQ"/>
</p:tagLst>
</file>

<file path=ppt/tags/tag2169.xml><?xml version="1.0" encoding="utf-8"?>
<p:tagLst xmlns:a="http://schemas.openxmlformats.org/drawingml/2006/main" xmlns:r="http://schemas.openxmlformats.org/officeDocument/2006/relationships" xmlns:p="http://schemas.openxmlformats.org/presentationml/2006/main">
  <p:tag name="THINKCELLSHAPEDONOTDELETE" val="tjSVgh.QnGZYV0CElrdXezA"/>
</p:tagLst>
</file>

<file path=ppt/tags/tag2170.xml><?xml version="1.0" encoding="utf-8"?>
<p:tagLst xmlns:a="http://schemas.openxmlformats.org/drawingml/2006/main" xmlns:r="http://schemas.openxmlformats.org/officeDocument/2006/relationships" xmlns:p="http://schemas.openxmlformats.org/presentationml/2006/main">
  <p:tag name="THINKCELLSHAPEDONOTDELETE" val="tulakZBC5wHw70nTfbkHpvw"/>
</p:tagLst>
</file>

<file path=ppt/tags/tag2171.xml><?xml version="1.0" encoding="utf-8"?>
<p:tagLst xmlns:a="http://schemas.openxmlformats.org/drawingml/2006/main" xmlns:r="http://schemas.openxmlformats.org/officeDocument/2006/relationships" xmlns:p="http://schemas.openxmlformats.org/presentationml/2006/main">
  <p:tag name="THINKCELLSHAPEDONOTDELETE" val="tRSskG7O0nnTaSa0qXQMxHA"/>
</p:tagLst>
</file>

<file path=ppt/tags/tag2172.xml><?xml version="1.0" encoding="utf-8"?>
<p:tagLst xmlns:a="http://schemas.openxmlformats.org/drawingml/2006/main" xmlns:r="http://schemas.openxmlformats.org/officeDocument/2006/relationships" xmlns:p="http://schemas.openxmlformats.org/presentationml/2006/main">
  <p:tag name="THINKCELLSHAPEDONOTDELETE" val="tGPzGAdiqRkveQ6PTUiDUEQ"/>
</p:tagLst>
</file>

<file path=ppt/tags/tag2173.xml><?xml version="1.0" encoding="utf-8"?>
<p:tagLst xmlns:a="http://schemas.openxmlformats.org/drawingml/2006/main" xmlns:r="http://schemas.openxmlformats.org/officeDocument/2006/relationships" xmlns:p="http://schemas.openxmlformats.org/presentationml/2006/main">
  <p:tag name="THINKCELLSHAPEDONOTDELETE" val="t_TtpQvmgTWfMyRwUAGosYw"/>
</p:tagLst>
</file>

<file path=ppt/tags/tag2174.xml><?xml version="1.0" encoding="utf-8"?>
<p:tagLst xmlns:a="http://schemas.openxmlformats.org/drawingml/2006/main" xmlns:r="http://schemas.openxmlformats.org/officeDocument/2006/relationships" xmlns:p="http://schemas.openxmlformats.org/presentationml/2006/main">
  <p:tag name="THINKCELLSHAPEDONOTDELETE" val="tUz8fNfYxGmldgaqkxUISRg"/>
</p:tagLst>
</file>

<file path=ppt/tags/tag2175.xml><?xml version="1.0" encoding="utf-8"?>
<p:tagLst xmlns:a="http://schemas.openxmlformats.org/drawingml/2006/main" xmlns:r="http://schemas.openxmlformats.org/officeDocument/2006/relationships" xmlns:p="http://schemas.openxmlformats.org/presentationml/2006/main">
  <p:tag name="THINKCELLSHAPEDONOTDELETE" val="toM6UFF7LiZgJ_q5UbGoiyA"/>
</p:tagLst>
</file>

<file path=ppt/tags/tag2176.xml><?xml version="1.0" encoding="utf-8"?>
<p:tagLst xmlns:a="http://schemas.openxmlformats.org/drawingml/2006/main" xmlns:r="http://schemas.openxmlformats.org/officeDocument/2006/relationships" xmlns:p="http://schemas.openxmlformats.org/presentationml/2006/main">
  <p:tag name="THINKCELLSHAPEDONOTDELETE" val="teXnoia8zOxTJDmmwCcwgBw"/>
</p:tagLst>
</file>

<file path=ppt/tags/tag2177.xml><?xml version="1.0" encoding="utf-8"?>
<p:tagLst xmlns:a="http://schemas.openxmlformats.org/drawingml/2006/main" xmlns:r="http://schemas.openxmlformats.org/officeDocument/2006/relationships" xmlns:p="http://schemas.openxmlformats.org/presentationml/2006/main">
  <p:tag name="THINKCELLSHAPEDONOTDELETE" val="tn4XVmqk64bQDQyJmR5jsqw"/>
</p:tagLst>
</file>

<file path=ppt/tags/tag217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79.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180.xml><?xml version="1.0" encoding="utf-8"?>
<p:tagLst xmlns:a="http://schemas.openxmlformats.org/drawingml/2006/main" xmlns:r="http://schemas.openxmlformats.org/officeDocument/2006/relationships" xmlns:p="http://schemas.openxmlformats.org/presentationml/2006/main">
  <p:tag name="HEADER" val="True"/>
</p:tagLst>
</file>

<file path=ppt/tags/tag2181.xml><?xml version="1.0" encoding="utf-8"?>
<p:tagLst xmlns:a="http://schemas.openxmlformats.org/drawingml/2006/main" xmlns:r="http://schemas.openxmlformats.org/officeDocument/2006/relationships" xmlns:p="http://schemas.openxmlformats.org/presentationml/2006/main">
  <p:tag name="HEADER" val="True"/>
</p:tagLst>
</file>

<file path=ppt/tags/tag218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83.xml><?xml version="1.0" encoding="utf-8"?>
<p:tagLst xmlns:a="http://schemas.openxmlformats.org/drawingml/2006/main" xmlns:r="http://schemas.openxmlformats.org/officeDocument/2006/relationships" xmlns:p="http://schemas.openxmlformats.org/presentationml/2006/main">
  <p:tag name="THINKCELLSHAPEDONOTDELETE" val="t5TkVBpzHvV2inaZh__7Frg"/>
</p:tagLst>
</file>

<file path=ppt/tags/tag2184.xml><?xml version="1.0" encoding="utf-8"?>
<p:tagLst xmlns:a="http://schemas.openxmlformats.org/drawingml/2006/main" xmlns:r="http://schemas.openxmlformats.org/officeDocument/2006/relationships" xmlns:p="http://schemas.openxmlformats.org/presentationml/2006/main">
  <p:tag name="HEADER" val="True"/>
</p:tagLst>
</file>

<file path=ppt/tags/tag2185.xml><?xml version="1.0" encoding="utf-8"?>
<p:tagLst xmlns:a="http://schemas.openxmlformats.org/drawingml/2006/main" xmlns:r="http://schemas.openxmlformats.org/officeDocument/2006/relationships" xmlns:p="http://schemas.openxmlformats.org/presentationml/2006/main">
  <p:tag name="HEADER" val="True"/>
</p:tagLst>
</file>

<file path=ppt/tags/tag2186.xml><?xml version="1.0" encoding="utf-8"?>
<p:tagLst xmlns:a="http://schemas.openxmlformats.org/drawingml/2006/main" xmlns:r="http://schemas.openxmlformats.org/officeDocument/2006/relationships" xmlns:p="http://schemas.openxmlformats.org/presentationml/2006/main">
  <p:tag name="THINKCELLSHAPEDONOTDELETE" val="txGUsRpR7tqef2BIUsJSyTw"/>
</p:tagLst>
</file>

<file path=ppt/tags/tag2187.xml><?xml version="1.0" encoding="utf-8"?>
<p:tagLst xmlns:a="http://schemas.openxmlformats.org/drawingml/2006/main" xmlns:r="http://schemas.openxmlformats.org/officeDocument/2006/relationships" xmlns:p="http://schemas.openxmlformats.org/presentationml/2006/main">
  <p:tag name="THINKCELLSHAPEDONOTDELETE" val="tK3wXS0M.5jBiBPhXwwS0xA"/>
</p:tagLst>
</file>

<file path=ppt/tags/tag2188.xml><?xml version="1.0" encoding="utf-8"?>
<p:tagLst xmlns:a="http://schemas.openxmlformats.org/drawingml/2006/main" xmlns:r="http://schemas.openxmlformats.org/officeDocument/2006/relationships" xmlns:p="http://schemas.openxmlformats.org/presentationml/2006/main">
  <p:tag name="THINKCELLSHAPEDONOTDELETE" val="tcWuS3Q65SfoHBUd7okfjOA"/>
</p:tagLst>
</file>

<file path=ppt/tags/tag2189.xml><?xml version="1.0" encoding="utf-8"?>
<p:tagLst xmlns:a="http://schemas.openxmlformats.org/drawingml/2006/main" xmlns:r="http://schemas.openxmlformats.org/officeDocument/2006/relationships" xmlns:p="http://schemas.openxmlformats.org/presentationml/2006/main">
  <p:tag name="THINKCELLSHAPEDONOTDELETE" val="tCvApamDBk7sN6zPXYcIF.A"/>
</p:tagLst>
</file>

<file path=ppt/tags/tag2190.xml><?xml version="1.0" encoding="utf-8"?>
<p:tagLst xmlns:a="http://schemas.openxmlformats.org/drawingml/2006/main" xmlns:r="http://schemas.openxmlformats.org/officeDocument/2006/relationships" xmlns:p="http://schemas.openxmlformats.org/presentationml/2006/main">
  <p:tag name="THINKCELLSHAPEDONOTDELETE" val="tqGRNwSPye1XluT1zakJphQ"/>
</p:tagLst>
</file>

<file path=ppt/tags/tag2191.xml><?xml version="1.0" encoding="utf-8"?>
<p:tagLst xmlns:a="http://schemas.openxmlformats.org/drawingml/2006/main" xmlns:r="http://schemas.openxmlformats.org/officeDocument/2006/relationships" xmlns:p="http://schemas.openxmlformats.org/presentationml/2006/main">
  <p:tag name="THINKCELLSHAPEDONOTDELETE" val="tbPjmqSbLpOPBWR4LCjHtSA"/>
</p:tagLst>
</file>

<file path=ppt/tags/tag2192.xml><?xml version="1.0" encoding="utf-8"?>
<p:tagLst xmlns:a="http://schemas.openxmlformats.org/drawingml/2006/main" xmlns:r="http://schemas.openxmlformats.org/officeDocument/2006/relationships" xmlns:p="http://schemas.openxmlformats.org/presentationml/2006/main">
  <p:tag name="THINKCELLSHAPEDONOTDELETE" val="tLORcErVvH1itpG2Mhmf9lg"/>
</p:tagLst>
</file>

<file path=ppt/tags/tag2193.xml><?xml version="1.0" encoding="utf-8"?>
<p:tagLst xmlns:a="http://schemas.openxmlformats.org/drawingml/2006/main" xmlns:r="http://schemas.openxmlformats.org/officeDocument/2006/relationships" xmlns:p="http://schemas.openxmlformats.org/presentationml/2006/main">
  <p:tag name="THINKCELLSHAPEDONOTDELETE" val="t06cv0m7hyNJm.0RFElBP.g"/>
</p:tagLst>
</file>

<file path=ppt/tags/tag2194.xml><?xml version="1.0" encoding="utf-8"?>
<p:tagLst xmlns:a="http://schemas.openxmlformats.org/drawingml/2006/main" xmlns:r="http://schemas.openxmlformats.org/officeDocument/2006/relationships" xmlns:p="http://schemas.openxmlformats.org/presentationml/2006/main">
  <p:tag name="THINKCELLSHAPEDONOTDELETE" val="tE1rCs3FAAsEs9hErvSJ8hA"/>
</p:tagLst>
</file>

<file path=ppt/tags/tag2195.xml><?xml version="1.0" encoding="utf-8"?>
<p:tagLst xmlns:a="http://schemas.openxmlformats.org/drawingml/2006/main" xmlns:r="http://schemas.openxmlformats.org/officeDocument/2006/relationships" xmlns:p="http://schemas.openxmlformats.org/presentationml/2006/main">
  <p:tag name="THINKCELLSHAPEDONOTDELETE" val="tXb6el05arXSzYDTzFnUDog"/>
</p:tagLst>
</file>

<file path=ppt/tags/tag2196.xml><?xml version="1.0" encoding="utf-8"?>
<p:tagLst xmlns:a="http://schemas.openxmlformats.org/drawingml/2006/main" xmlns:r="http://schemas.openxmlformats.org/officeDocument/2006/relationships" xmlns:p="http://schemas.openxmlformats.org/presentationml/2006/main">
  <p:tag name="THINKCELLSHAPEDONOTDELETE" val="tw1ead2FQE1wHM6gypE_PGA"/>
</p:tagLst>
</file>

<file path=ppt/tags/tag2197.xml><?xml version="1.0" encoding="utf-8"?>
<p:tagLst xmlns:a="http://schemas.openxmlformats.org/drawingml/2006/main" xmlns:r="http://schemas.openxmlformats.org/officeDocument/2006/relationships" xmlns:p="http://schemas.openxmlformats.org/presentationml/2006/main">
  <p:tag name="THINKCELLSHAPEDONOTDELETE" val="tWw3TmLTM8AEDoloQS3m_Dg"/>
</p:tagLst>
</file>

<file path=ppt/tags/tag2198.xml><?xml version="1.0" encoding="utf-8"?>
<p:tagLst xmlns:a="http://schemas.openxmlformats.org/drawingml/2006/main" xmlns:r="http://schemas.openxmlformats.org/officeDocument/2006/relationships" xmlns:p="http://schemas.openxmlformats.org/presentationml/2006/main">
  <p:tag name="THINKCELLSHAPEDONOTDELETE" val="tKw8AyBzbHUJLbg6KIjYcRg"/>
</p:tagLst>
</file>

<file path=ppt/tags/tag2199.xml><?xml version="1.0" encoding="utf-8"?>
<p:tagLst xmlns:a="http://schemas.openxmlformats.org/drawingml/2006/main" xmlns:r="http://schemas.openxmlformats.org/officeDocument/2006/relationships" xmlns:p="http://schemas.openxmlformats.org/presentationml/2006/main">
  <p:tag name="THINKCELLSHAPEDONOTDELETE" val="tjs0GaEsdeze2U2.XyhLLiA"/>
</p:tagLst>
</file>

<file path=ppt/tags/tag2200.xml><?xml version="1.0" encoding="utf-8"?>
<p:tagLst xmlns:a="http://schemas.openxmlformats.org/drawingml/2006/main" xmlns:r="http://schemas.openxmlformats.org/officeDocument/2006/relationships" xmlns:p="http://schemas.openxmlformats.org/presentationml/2006/main">
  <p:tag name="THINKCELLSHAPEDONOTDELETE" val="tFWOOqjD7S_NTk9b07MB43A"/>
</p:tagLst>
</file>

<file path=ppt/tags/tag2201.xml><?xml version="1.0" encoding="utf-8"?>
<p:tagLst xmlns:a="http://schemas.openxmlformats.org/drawingml/2006/main" xmlns:r="http://schemas.openxmlformats.org/officeDocument/2006/relationships" xmlns:p="http://schemas.openxmlformats.org/presentationml/2006/main">
  <p:tag name="THINKCELLSHAPEDONOTDELETE" val="tmw3O1KiFcg9nmK6A9Tja0w"/>
</p:tagLst>
</file>

<file path=ppt/tags/tag2202.xml><?xml version="1.0" encoding="utf-8"?>
<p:tagLst xmlns:a="http://schemas.openxmlformats.org/drawingml/2006/main" xmlns:r="http://schemas.openxmlformats.org/officeDocument/2006/relationships" xmlns:p="http://schemas.openxmlformats.org/presentationml/2006/main">
  <p:tag name="THINKCELLSHAPEDONOTDELETE" val="tHDTpa45_mSHdB73MLw48Nw"/>
</p:tagLst>
</file>

<file path=ppt/tags/tag2203.xml><?xml version="1.0" encoding="utf-8"?>
<p:tagLst xmlns:a="http://schemas.openxmlformats.org/drawingml/2006/main" xmlns:r="http://schemas.openxmlformats.org/officeDocument/2006/relationships" xmlns:p="http://schemas.openxmlformats.org/presentationml/2006/main">
  <p:tag name="THINKCELLSHAPEDONOTDELETE" val="tLwfQ9_0FwoRqouxTRluMyA"/>
</p:tagLst>
</file>

<file path=ppt/tags/tag220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05.xml><?xml version="1.0" encoding="utf-8"?>
<p:tagLst xmlns:a="http://schemas.openxmlformats.org/drawingml/2006/main" xmlns:r="http://schemas.openxmlformats.org/officeDocument/2006/relationships" xmlns:p="http://schemas.openxmlformats.org/presentationml/2006/main">
  <p:tag name="THINKCELLSHAPEDONOTDELETE" val="tXDyRj7QKFSc64hDQhOanaA"/>
</p:tagLst>
</file>

<file path=ppt/tags/tag2206.xml><?xml version="1.0" encoding="utf-8"?>
<p:tagLst xmlns:a="http://schemas.openxmlformats.org/drawingml/2006/main" xmlns:r="http://schemas.openxmlformats.org/officeDocument/2006/relationships" xmlns:p="http://schemas.openxmlformats.org/presentationml/2006/main">
  <p:tag name="HEADER" val="True"/>
</p:tagLst>
</file>

<file path=ppt/tags/tag2207.xml><?xml version="1.0" encoding="utf-8"?>
<p:tagLst xmlns:a="http://schemas.openxmlformats.org/drawingml/2006/main" xmlns:r="http://schemas.openxmlformats.org/officeDocument/2006/relationships" xmlns:p="http://schemas.openxmlformats.org/presentationml/2006/main">
  <p:tag name="HEADER" val="True"/>
</p:tagLst>
</file>

<file path=ppt/tags/tag2208.xml><?xml version="1.0" encoding="utf-8"?>
<p:tagLst xmlns:a="http://schemas.openxmlformats.org/drawingml/2006/main" xmlns:r="http://schemas.openxmlformats.org/officeDocument/2006/relationships" xmlns:p="http://schemas.openxmlformats.org/presentationml/2006/main">
  <p:tag name="THINKCELLSHAPEDONOTDELETE" val="t3Bf6Ft_jvYxqLeHjhwwEUQ"/>
</p:tagLst>
</file>

<file path=ppt/tags/tag2209.xml><?xml version="1.0" encoding="utf-8"?>
<p:tagLst xmlns:a="http://schemas.openxmlformats.org/drawingml/2006/main" xmlns:r="http://schemas.openxmlformats.org/officeDocument/2006/relationships" xmlns:p="http://schemas.openxmlformats.org/presentationml/2006/main">
  <p:tag name="THINKCELLSHAPEDONOTDELETE" val="tSKX6KY4m3hTyDswiXaS4Qg"/>
</p:tagLst>
</file>

<file path=ppt/tags/tag2210.xml><?xml version="1.0" encoding="utf-8"?>
<p:tagLst xmlns:a="http://schemas.openxmlformats.org/drawingml/2006/main" xmlns:r="http://schemas.openxmlformats.org/officeDocument/2006/relationships" xmlns:p="http://schemas.openxmlformats.org/presentationml/2006/main">
  <p:tag name="THINKCELLSHAPEDONOTDELETE" val="tWKNpZfatYt5KB6_8afM_Fw"/>
</p:tagLst>
</file>

<file path=ppt/tags/tag2211.xml><?xml version="1.0" encoding="utf-8"?>
<p:tagLst xmlns:a="http://schemas.openxmlformats.org/drawingml/2006/main" xmlns:r="http://schemas.openxmlformats.org/officeDocument/2006/relationships" xmlns:p="http://schemas.openxmlformats.org/presentationml/2006/main">
  <p:tag name="THINKCELLSHAPEDONOTDELETE" val="tImVyRJXZtISo1rnZDNsG4g"/>
</p:tagLst>
</file>

<file path=ppt/tags/tag2212.xml><?xml version="1.0" encoding="utf-8"?>
<p:tagLst xmlns:a="http://schemas.openxmlformats.org/drawingml/2006/main" xmlns:r="http://schemas.openxmlformats.org/officeDocument/2006/relationships" xmlns:p="http://schemas.openxmlformats.org/presentationml/2006/main">
  <p:tag name="THINKCELLSHAPEDONOTDELETE" val="tsEGjTBpHT183fN7Qd8RfxQ"/>
</p:tagLst>
</file>

<file path=ppt/tags/tag2213.xml><?xml version="1.0" encoding="utf-8"?>
<p:tagLst xmlns:a="http://schemas.openxmlformats.org/drawingml/2006/main" xmlns:r="http://schemas.openxmlformats.org/officeDocument/2006/relationships" xmlns:p="http://schemas.openxmlformats.org/presentationml/2006/main">
  <p:tag name="THINKCELLSHAPEDONOTDELETE" val="tlXeeUgzC4lg.Mdeo.6nh0A"/>
</p:tagLst>
</file>

<file path=ppt/tags/tag2214.xml><?xml version="1.0" encoding="utf-8"?>
<p:tagLst xmlns:a="http://schemas.openxmlformats.org/drawingml/2006/main" xmlns:r="http://schemas.openxmlformats.org/officeDocument/2006/relationships" xmlns:p="http://schemas.openxmlformats.org/presentationml/2006/main">
  <p:tag name="THINKCELLSHAPEDONOTDELETE" val="tcTPLHtbhOTO_ju_PqWFBKA"/>
</p:tagLst>
</file>

<file path=ppt/tags/tag2215.xml><?xml version="1.0" encoding="utf-8"?>
<p:tagLst xmlns:a="http://schemas.openxmlformats.org/drawingml/2006/main" xmlns:r="http://schemas.openxmlformats.org/officeDocument/2006/relationships" xmlns:p="http://schemas.openxmlformats.org/presentationml/2006/main">
  <p:tag name="THINKCELLSHAPEDONOTDELETE" val="tg6Oz4nGqPmBR1IHJ6IuVxw"/>
</p:tagLst>
</file>

<file path=ppt/tags/tag2216.xml><?xml version="1.0" encoding="utf-8"?>
<p:tagLst xmlns:a="http://schemas.openxmlformats.org/drawingml/2006/main" xmlns:r="http://schemas.openxmlformats.org/officeDocument/2006/relationships" xmlns:p="http://schemas.openxmlformats.org/presentationml/2006/main">
  <p:tag name="THINKCELLSHAPEDONOTDELETE" val="tbM3_Qx3pXeUUn9nNoQsNSQ"/>
</p:tagLst>
</file>

<file path=ppt/tags/tag2217.xml><?xml version="1.0" encoding="utf-8"?>
<p:tagLst xmlns:a="http://schemas.openxmlformats.org/drawingml/2006/main" xmlns:r="http://schemas.openxmlformats.org/officeDocument/2006/relationships" xmlns:p="http://schemas.openxmlformats.org/presentationml/2006/main">
  <p:tag name="THINKCELLSHAPEDONOTDELETE" val="t0TkSg5yg4wqW83GnsHDTQw"/>
</p:tagLst>
</file>

<file path=ppt/tags/tag2218.xml><?xml version="1.0" encoding="utf-8"?>
<p:tagLst xmlns:a="http://schemas.openxmlformats.org/drawingml/2006/main" xmlns:r="http://schemas.openxmlformats.org/officeDocument/2006/relationships" xmlns:p="http://schemas.openxmlformats.org/presentationml/2006/main">
  <p:tag name="THINKCELLSHAPEDONOTDELETE" val="t6Dhx8iwehPzy_.3fCQjoag"/>
</p:tagLst>
</file>

<file path=ppt/tags/tag2219.xml><?xml version="1.0" encoding="utf-8"?>
<p:tagLst xmlns:a="http://schemas.openxmlformats.org/drawingml/2006/main" xmlns:r="http://schemas.openxmlformats.org/officeDocument/2006/relationships" xmlns:p="http://schemas.openxmlformats.org/presentationml/2006/main">
  <p:tag name="THINKCELLSHAPEDONOTDELETE" val="tEmKII.eAicTci1sOWW8hDw"/>
</p:tagLst>
</file>

<file path=ppt/tags/tag2220.xml><?xml version="1.0" encoding="utf-8"?>
<p:tagLst xmlns:a="http://schemas.openxmlformats.org/drawingml/2006/main" xmlns:r="http://schemas.openxmlformats.org/officeDocument/2006/relationships" xmlns:p="http://schemas.openxmlformats.org/presentationml/2006/main">
  <p:tag name="THINKCELLSHAPEDONOTDELETE" val="tDwmniyF_rmZgiVp7uRR1bw"/>
</p:tagLst>
</file>

<file path=ppt/tags/tag2221.xml><?xml version="1.0" encoding="utf-8"?>
<p:tagLst xmlns:a="http://schemas.openxmlformats.org/drawingml/2006/main" xmlns:r="http://schemas.openxmlformats.org/officeDocument/2006/relationships" xmlns:p="http://schemas.openxmlformats.org/presentationml/2006/main">
  <p:tag name="THINKCELLSHAPEDONOTDELETE" val="tzJEpWmFqm18gUoxVDCym7g"/>
</p:tagLst>
</file>

<file path=ppt/tags/tag2222.xml><?xml version="1.0" encoding="utf-8"?>
<p:tagLst xmlns:a="http://schemas.openxmlformats.org/drawingml/2006/main" xmlns:r="http://schemas.openxmlformats.org/officeDocument/2006/relationships" xmlns:p="http://schemas.openxmlformats.org/presentationml/2006/main">
  <p:tag name="THINKCELLSHAPEDONOTDELETE" val="t5mcnKv1lTCtCoFImlrZCEQ"/>
</p:tagLst>
</file>

<file path=ppt/tags/tag2223.xml><?xml version="1.0" encoding="utf-8"?>
<p:tagLst xmlns:a="http://schemas.openxmlformats.org/drawingml/2006/main" xmlns:r="http://schemas.openxmlformats.org/officeDocument/2006/relationships" xmlns:p="http://schemas.openxmlformats.org/presentationml/2006/main">
  <p:tag name="THINKCELLSHAPEDONOTDELETE" val="tV2t2.NERcpm8y4MVgYRirw"/>
</p:tagLst>
</file>

<file path=ppt/tags/tag2224.xml><?xml version="1.0" encoding="utf-8"?>
<p:tagLst xmlns:a="http://schemas.openxmlformats.org/drawingml/2006/main" xmlns:r="http://schemas.openxmlformats.org/officeDocument/2006/relationships" xmlns:p="http://schemas.openxmlformats.org/presentationml/2006/main">
  <p:tag name="THINKCELLSHAPEDONOTDELETE" val="tLZoGQ9xXxVUEn1cFlxXWaw"/>
</p:tagLst>
</file>

<file path=ppt/tags/tag2225.xml><?xml version="1.0" encoding="utf-8"?>
<p:tagLst xmlns:a="http://schemas.openxmlformats.org/drawingml/2006/main" xmlns:r="http://schemas.openxmlformats.org/officeDocument/2006/relationships" xmlns:p="http://schemas.openxmlformats.org/presentationml/2006/main">
  <p:tag name="THINKCELLSHAPEDONOTDELETE" val="tuG2U8MptCqHHLbNOEf.mIA"/>
</p:tagLst>
</file>

<file path=ppt/tags/tag2226.xml><?xml version="1.0" encoding="utf-8"?>
<p:tagLst xmlns:a="http://schemas.openxmlformats.org/drawingml/2006/main" xmlns:r="http://schemas.openxmlformats.org/officeDocument/2006/relationships" xmlns:p="http://schemas.openxmlformats.org/presentationml/2006/main">
  <p:tag name="THINKCELLSHAPEDONOTDELETE" val="t3db_zU4rf.ybWuPwjdDQoA"/>
</p:tagLst>
</file>

<file path=ppt/tags/tag2227.xml><?xml version="1.0" encoding="utf-8"?>
<p:tagLst xmlns:a="http://schemas.openxmlformats.org/drawingml/2006/main" xmlns:r="http://schemas.openxmlformats.org/officeDocument/2006/relationships" xmlns:p="http://schemas.openxmlformats.org/presentationml/2006/main">
  <p:tag name="THINKCELLSHAPEDONOTDELETE" val="tJNsezOM.t6n.kusxCk30tQ"/>
</p:tagLst>
</file>

<file path=ppt/tags/tag2228.xml><?xml version="1.0" encoding="utf-8"?>
<p:tagLst xmlns:a="http://schemas.openxmlformats.org/drawingml/2006/main" xmlns:r="http://schemas.openxmlformats.org/officeDocument/2006/relationships" xmlns:p="http://schemas.openxmlformats.org/presentationml/2006/main">
  <p:tag name="THINKCELLSHAPEDONOTDELETE" val="tyUF46qaaBiSPPiCX4Ur9Gw"/>
</p:tagLst>
</file>

<file path=ppt/tags/tag2229.xml><?xml version="1.0" encoding="utf-8"?>
<p:tagLst xmlns:a="http://schemas.openxmlformats.org/drawingml/2006/main" xmlns:r="http://schemas.openxmlformats.org/officeDocument/2006/relationships" xmlns:p="http://schemas.openxmlformats.org/presentationml/2006/main">
  <p:tag name="THINKCELLSHAPEDONOTDELETE" val="tZdOX5s1q5KOENYusE49iJQ"/>
</p:tagLst>
</file>

<file path=ppt/tags/tag2230.xml><?xml version="1.0" encoding="utf-8"?>
<p:tagLst xmlns:a="http://schemas.openxmlformats.org/drawingml/2006/main" xmlns:r="http://schemas.openxmlformats.org/officeDocument/2006/relationships" xmlns:p="http://schemas.openxmlformats.org/presentationml/2006/main">
  <p:tag name="THINKCELLSHAPEDONOTDELETE" val="tozzUmICHbAyguFlWS8CMWQ"/>
</p:tagLst>
</file>

<file path=ppt/tags/tag2231.xml><?xml version="1.0" encoding="utf-8"?>
<p:tagLst xmlns:a="http://schemas.openxmlformats.org/drawingml/2006/main" xmlns:r="http://schemas.openxmlformats.org/officeDocument/2006/relationships" xmlns:p="http://schemas.openxmlformats.org/presentationml/2006/main">
  <p:tag name="THINKCELLSHAPEDONOTDELETE" val="t0KRZ3yVH7TFzaEgsm4bnOQ"/>
</p:tagLst>
</file>

<file path=ppt/tags/tag22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33.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2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35.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236.xml><?xml version="1.0" encoding="utf-8"?>
<p:tagLst xmlns:a="http://schemas.openxmlformats.org/drawingml/2006/main" xmlns:r="http://schemas.openxmlformats.org/officeDocument/2006/relationships" xmlns:p="http://schemas.openxmlformats.org/presentationml/2006/main">
  <p:tag name="HEADER" val="True"/>
</p:tagLst>
</file>

<file path=ppt/tags/tag2237.xml><?xml version="1.0" encoding="utf-8"?>
<p:tagLst xmlns:a="http://schemas.openxmlformats.org/drawingml/2006/main" xmlns:r="http://schemas.openxmlformats.org/officeDocument/2006/relationships" xmlns:p="http://schemas.openxmlformats.org/presentationml/2006/main">
  <p:tag name="HEADER" val="True"/>
</p:tagLst>
</file>

<file path=ppt/tags/tag2238.xml><?xml version="1.0" encoding="utf-8"?>
<p:tagLst xmlns:a="http://schemas.openxmlformats.org/drawingml/2006/main" xmlns:r="http://schemas.openxmlformats.org/officeDocument/2006/relationships" xmlns:p="http://schemas.openxmlformats.org/presentationml/2006/main">
  <p:tag name="THINKCELLSHAPEDONOTDELETE" val="tSauOhFi0Xp8wGXCNzZ6Dkg"/>
</p:tagLst>
</file>

<file path=ppt/tags/tag2239.xml><?xml version="1.0" encoding="utf-8"?>
<p:tagLst xmlns:a="http://schemas.openxmlformats.org/drawingml/2006/main" xmlns:r="http://schemas.openxmlformats.org/officeDocument/2006/relationships" xmlns:p="http://schemas.openxmlformats.org/presentationml/2006/main">
  <p:tag name="THINKCELLSHAPEDONOTDELETE" val="tjpBoHp_F0mq9sB354.3KCg"/>
</p:tagLst>
</file>

<file path=ppt/tags/tag2240.xml><?xml version="1.0" encoding="utf-8"?>
<p:tagLst xmlns:a="http://schemas.openxmlformats.org/drawingml/2006/main" xmlns:r="http://schemas.openxmlformats.org/officeDocument/2006/relationships" xmlns:p="http://schemas.openxmlformats.org/presentationml/2006/main">
  <p:tag name="THINKCELLSHAPEDONOTDELETE" val="twVXN8Uasweq2bhcHeOaRLw"/>
</p:tagLst>
</file>

<file path=ppt/tags/tag2241.xml><?xml version="1.0" encoding="utf-8"?>
<p:tagLst xmlns:a="http://schemas.openxmlformats.org/drawingml/2006/main" xmlns:r="http://schemas.openxmlformats.org/officeDocument/2006/relationships" xmlns:p="http://schemas.openxmlformats.org/presentationml/2006/main">
  <p:tag name="THINKCELLSHAPEDONOTDELETE" val="tzcq0Rl9dWqX21Wu_vgLTwQ"/>
</p:tagLst>
</file>

<file path=ppt/tags/tag2242.xml><?xml version="1.0" encoding="utf-8"?>
<p:tagLst xmlns:a="http://schemas.openxmlformats.org/drawingml/2006/main" xmlns:r="http://schemas.openxmlformats.org/officeDocument/2006/relationships" xmlns:p="http://schemas.openxmlformats.org/presentationml/2006/main">
  <p:tag name="THINKCELLSHAPEDONOTDELETE" val="tPOUD3Sveh8sjbE7M7UI4yw"/>
</p:tagLst>
</file>

<file path=ppt/tags/tag2243.xml><?xml version="1.0" encoding="utf-8"?>
<p:tagLst xmlns:a="http://schemas.openxmlformats.org/drawingml/2006/main" xmlns:r="http://schemas.openxmlformats.org/officeDocument/2006/relationships" xmlns:p="http://schemas.openxmlformats.org/presentationml/2006/main">
  <p:tag name="THINKCELLSHAPEDONOTDELETE" val="tkzFGGPErJmgRqLw4ZFoxDQ"/>
</p:tagLst>
</file>

<file path=ppt/tags/tag2244.xml><?xml version="1.0" encoding="utf-8"?>
<p:tagLst xmlns:a="http://schemas.openxmlformats.org/drawingml/2006/main" xmlns:r="http://schemas.openxmlformats.org/officeDocument/2006/relationships" xmlns:p="http://schemas.openxmlformats.org/presentationml/2006/main">
  <p:tag name="THINKCELLSHAPEDONOTDELETE" val="tGsPAgmn11ov7c2TLzBidTg"/>
</p:tagLst>
</file>

<file path=ppt/tags/tag2245.xml><?xml version="1.0" encoding="utf-8"?>
<p:tagLst xmlns:a="http://schemas.openxmlformats.org/drawingml/2006/main" xmlns:r="http://schemas.openxmlformats.org/officeDocument/2006/relationships" xmlns:p="http://schemas.openxmlformats.org/presentationml/2006/main">
  <p:tag name="THINKCELLSHAPEDONOTDELETE" val="tPaHyI6yHav7SECXEhyQdMQ"/>
</p:tagLst>
</file>

<file path=ppt/tags/tag2246.xml><?xml version="1.0" encoding="utf-8"?>
<p:tagLst xmlns:a="http://schemas.openxmlformats.org/drawingml/2006/main" xmlns:r="http://schemas.openxmlformats.org/officeDocument/2006/relationships" xmlns:p="http://schemas.openxmlformats.org/presentationml/2006/main">
  <p:tag name="THINKCELLSHAPEDONOTDELETE" val="tbRASC77VfsidE9uxotg1SA"/>
</p:tagLst>
</file>

<file path=ppt/tags/tag2247.xml><?xml version="1.0" encoding="utf-8"?>
<p:tagLst xmlns:a="http://schemas.openxmlformats.org/drawingml/2006/main" xmlns:r="http://schemas.openxmlformats.org/officeDocument/2006/relationships" xmlns:p="http://schemas.openxmlformats.org/presentationml/2006/main">
  <p:tag name="THINKCELLSHAPEDONOTDELETE" val="t4WWB5nB6rIv4q3ujhLQRIQ"/>
</p:tagLst>
</file>

<file path=ppt/tags/tag2248.xml><?xml version="1.0" encoding="utf-8"?>
<p:tagLst xmlns:a="http://schemas.openxmlformats.org/drawingml/2006/main" xmlns:r="http://schemas.openxmlformats.org/officeDocument/2006/relationships" xmlns:p="http://schemas.openxmlformats.org/presentationml/2006/main">
  <p:tag name="THINKCELLSHAPEDONOTDELETE" val="tXX5AVDShTZ1PIzOa7XBf5g"/>
</p:tagLst>
</file>

<file path=ppt/tags/tag2249.xml><?xml version="1.0" encoding="utf-8"?>
<p:tagLst xmlns:a="http://schemas.openxmlformats.org/drawingml/2006/main" xmlns:r="http://schemas.openxmlformats.org/officeDocument/2006/relationships" xmlns:p="http://schemas.openxmlformats.org/presentationml/2006/main">
  <p:tag name="THINKCELLSHAPEDONOTDELETE" val="tQCrcv4ToHim_JSzI0sfBcQ"/>
</p:tagLst>
</file>

<file path=ppt/tags/tag2250.xml><?xml version="1.0" encoding="utf-8"?>
<p:tagLst xmlns:a="http://schemas.openxmlformats.org/drawingml/2006/main" xmlns:r="http://schemas.openxmlformats.org/officeDocument/2006/relationships" xmlns:p="http://schemas.openxmlformats.org/presentationml/2006/main">
  <p:tag name="THINKCELLSHAPEDONOTDELETE" val="tH_OaB73lHWNqy1mUVsoM5w"/>
</p:tagLst>
</file>

<file path=ppt/tags/tag2251.xml><?xml version="1.0" encoding="utf-8"?>
<p:tagLst xmlns:a="http://schemas.openxmlformats.org/drawingml/2006/main" xmlns:r="http://schemas.openxmlformats.org/officeDocument/2006/relationships" xmlns:p="http://schemas.openxmlformats.org/presentationml/2006/main">
  <p:tag name="THINKCELLSHAPEDONOTDELETE" val="tZ74Xz2hIB3VU4S_AAuI3mA"/>
</p:tagLst>
</file>

<file path=ppt/tags/tag2252.xml><?xml version="1.0" encoding="utf-8"?>
<p:tagLst xmlns:a="http://schemas.openxmlformats.org/drawingml/2006/main" xmlns:r="http://schemas.openxmlformats.org/officeDocument/2006/relationships" xmlns:p="http://schemas.openxmlformats.org/presentationml/2006/main">
  <p:tag name="THINKCELLSHAPEDONOTDELETE" val="tIjwMMJe0iQby7exWv.e.nA"/>
</p:tagLst>
</file>

<file path=ppt/tags/tag2253.xml><?xml version="1.0" encoding="utf-8"?>
<p:tagLst xmlns:a="http://schemas.openxmlformats.org/drawingml/2006/main" xmlns:r="http://schemas.openxmlformats.org/officeDocument/2006/relationships" xmlns:p="http://schemas.openxmlformats.org/presentationml/2006/main">
  <p:tag name="THINKCELLSHAPEDONOTDELETE" val="tIZsIINTN1Jhn.O72VYLalg"/>
</p:tagLst>
</file>

<file path=ppt/tags/tag2254.xml><?xml version="1.0" encoding="utf-8"?>
<p:tagLst xmlns:a="http://schemas.openxmlformats.org/drawingml/2006/main" xmlns:r="http://schemas.openxmlformats.org/officeDocument/2006/relationships" xmlns:p="http://schemas.openxmlformats.org/presentationml/2006/main">
  <p:tag name="THINKCELLSHAPEDONOTDELETE" val="tB5UAxWD97ScJrIz_TsAH1A"/>
</p:tagLst>
</file>

<file path=ppt/tags/tag2255.xml><?xml version="1.0" encoding="utf-8"?>
<p:tagLst xmlns:a="http://schemas.openxmlformats.org/drawingml/2006/main" xmlns:r="http://schemas.openxmlformats.org/officeDocument/2006/relationships" xmlns:p="http://schemas.openxmlformats.org/presentationml/2006/main">
  <p:tag name="THINKCELLSHAPEDONOTDELETE" val="tAeSTuYnyewGg8oIabK2QbA"/>
</p:tagLst>
</file>

<file path=ppt/tags/tag2256.xml><?xml version="1.0" encoding="utf-8"?>
<p:tagLst xmlns:a="http://schemas.openxmlformats.org/drawingml/2006/main" xmlns:r="http://schemas.openxmlformats.org/officeDocument/2006/relationships" xmlns:p="http://schemas.openxmlformats.org/presentationml/2006/main">
  <p:tag name="THINKCELLSHAPEDONOTDELETE" val="t4ewsg_sARV9F9vGkhNZhXA"/>
</p:tagLst>
</file>

<file path=ppt/tags/tag2257.xml><?xml version="1.0" encoding="utf-8"?>
<p:tagLst xmlns:a="http://schemas.openxmlformats.org/drawingml/2006/main" xmlns:r="http://schemas.openxmlformats.org/officeDocument/2006/relationships" xmlns:p="http://schemas.openxmlformats.org/presentationml/2006/main">
  <p:tag name="THINKCELLSHAPEDONOTDELETE" val="tZ1VhU8SKYK4lDPkyW.vfow"/>
</p:tagLst>
</file>

<file path=ppt/tags/tag2258.xml><?xml version="1.0" encoding="utf-8"?>
<p:tagLst xmlns:a="http://schemas.openxmlformats.org/drawingml/2006/main" xmlns:r="http://schemas.openxmlformats.org/officeDocument/2006/relationships" xmlns:p="http://schemas.openxmlformats.org/presentationml/2006/main">
  <p:tag name="THINKCELLSHAPEDONOTDELETE" val="tGfpBQXlRypDdXs.rRbTZAg"/>
</p:tagLst>
</file>

<file path=ppt/tags/tag2259.xml><?xml version="1.0" encoding="utf-8"?>
<p:tagLst xmlns:a="http://schemas.openxmlformats.org/drawingml/2006/main" xmlns:r="http://schemas.openxmlformats.org/officeDocument/2006/relationships" xmlns:p="http://schemas.openxmlformats.org/presentationml/2006/main">
  <p:tag name="THINKCELLSHAPEDONOTDELETE" val="tLh6Wq.Mc1cCQuFmnnac8xw"/>
</p:tagLst>
</file>

<file path=ppt/tags/tag2260.xml><?xml version="1.0" encoding="utf-8"?>
<p:tagLst xmlns:a="http://schemas.openxmlformats.org/drawingml/2006/main" xmlns:r="http://schemas.openxmlformats.org/officeDocument/2006/relationships" xmlns:p="http://schemas.openxmlformats.org/presentationml/2006/main">
  <p:tag name="THINKCELLSHAPEDONOTDELETE" val="tduM3ytcpvqNR1Js7TQp5LQ"/>
</p:tagLst>
</file>

<file path=ppt/tags/tag2261.xml><?xml version="1.0" encoding="utf-8"?>
<p:tagLst xmlns:a="http://schemas.openxmlformats.org/drawingml/2006/main" xmlns:r="http://schemas.openxmlformats.org/officeDocument/2006/relationships" xmlns:p="http://schemas.openxmlformats.org/presentationml/2006/main">
  <p:tag name="THINKCELLSHAPEDONOTDELETE" val="tBsQ9UfcBSJV5uHf4yD94Fg"/>
</p:tagLst>
</file>

<file path=ppt/tags/tag2262.xml><?xml version="1.0" encoding="utf-8"?>
<p:tagLst xmlns:a="http://schemas.openxmlformats.org/drawingml/2006/main" xmlns:r="http://schemas.openxmlformats.org/officeDocument/2006/relationships" xmlns:p="http://schemas.openxmlformats.org/presentationml/2006/main">
  <p:tag name="THINKCELLSHAPEDONOTDELETE" val="tD_qL7I6dj2U9OB9wyxuIvQ"/>
</p:tagLst>
</file>

<file path=ppt/tags/tag2263.xml><?xml version="1.0" encoding="utf-8"?>
<p:tagLst xmlns:a="http://schemas.openxmlformats.org/drawingml/2006/main" xmlns:r="http://schemas.openxmlformats.org/officeDocument/2006/relationships" xmlns:p="http://schemas.openxmlformats.org/presentationml/2006/main">
  <p:tag name="THINKCELLSHAPEDONOTDELETE" val="t74EHDMcgKdLdjkgask_Mjg"/>
</p:tagLst>
</file>

<file path=ppt/tags/tag2264.xml><?xml version="1.0" encoding="utf-8"?>
<p:tagLst xmlns:a="http://schemas.openxmlformats.org/drawingml/2006/main" xmlns:r="http://schemas.openxmlformats.org/officeDocument/2006/relationships" xmlns:p="http://schemas.openxmlformats.org/presentationml/2006/main">
  <p:tag name="THINKCELLSHAPEDONOTDELETE" val="tYtOrH3zfadbcMfWq1nUuoQ"/>
</p:tagLst>
</file>

<file path=ppt/tags/tag2265.xml><?xml version="1.0" encoding="utf-8"?>
<p:tagLst xmlns:a="http://schemas.openxmlformats.org/drawingml/2006/main" xmlns:r="http://schemas.openxmlformats.org/officeDocument/2006/relationships" xmlns:p="http://schemas.openxmlformats.org/presentationml/2006/main">
  <p:tag name="THINKCELLSHAPEDONOTDELETE" val="t1CH_W5K8M4LzDH8KYCGqwg"/>
</p:tagLst>
</file>

<file path=ppt/tags/tag2266.xml><?xml version="1.0" encoding="utf-8"?>
<p:tagLst xmlns:a="http://schemas.openxmlformats.org/drawingml/2006/main" xmlns:r="http://schemas.openxmlformats.org/officeDocument/2006/relationships" xmlns:p="http://schemas.openxmlformats.org/presentationml/2006/main">
  <p:tag name="THINKCELLSHAPEDONOTDELETE" val="t0_5G0dP3IoDMPSi2kwBuVA"/>
</p:tagLst>
</file>

<file path=ppt/tags/tag2267.xml><?xml version="1.0" encoding="utf-8"?>
<p:tagLst xmlns:a="http://schemas.openxmlformats.org/drawingml/2006/main" xmlns:r="http://schemas.openxmlformats.org/officeDocument/2006/relationships" xmlns:p="http://schemas.openxmlformats.org/presentationml/2006/main">
  <p:tag name="THINKCELLSHAPEDONOTDELETE" val="t3laBOqXrHsw6xRtdk4Atvw"/>
</p:tagLst>
</file>

<file path=ppt/tags/tag226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69.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270.xml><?xml version="1.0" encoding="utf-8"?>
<p:tagLst xmlns:a="http://schemas.openxmlformats.org/drawingml/2006/main" xmlns:r="http://schemas.openxmlformats.org/officeDocument/2006/relationships" xmlns:p="http://schemas.openxmlformats.org/presentationml/2006/main">
  <p:tag name="HEADER" val="True"/>
</p:tagLst>
</file>

<file path=ppt/tags/tag2271.xml><?xml version="1.0" encoding="utf-8"?>
<p:tagLst xmlns:a="http://schemas.openxmlformats.org/drawingml/2006/main" xmlns:r="http://schemas.openxmlformats.org/officeDocument/2006/relationships" xmlns:p="http://schemas.openxmlformats.org/presentationml/2006/main">
  <p:tag name="HEADER" val="True"/>
</p:tagLst>
</file>

<file path=ppt/tags/tag2272.xml><?xml version="1.0" encoding="utf-8"?>
<p:tagLst xmlns:a="http://schemas.openxmlformats.org/drawingml/2006/main" xmlns:r="http://schemas.openxmlformats.org/officeDocument/2006/relationships" xmlns:p="http://schemas.openxmlformats.org/presentationml/2006/main">
  <p:tag name="THINKCELLSHAPEDONOTDELETE" val="touEsdhGwSbGjeoyIW2rp7w"/>
</p:tagLst>
</file>

<file path=ppt/tags/tag2273.xml><?xml version="1.0" encoding="utf-8"?>
<p:tagLst xmlns:a="http://schemas.openxmlformats.org/drawingml/2006/main" xmlns:r="http://schemas.openxmlformats.org/officeDocument/2006/relationships" xmlns:p="http://schemas.openxmlformats.org/presentationml/2006/main">
  <p:tag name="THINKCELLSHAPEDONOTDELETE" val="tt91WI9mFsxM7swT5xwizpw"/>
</p:tagLst>
</file>

<file path=ppt/tags/tag2274.xml><?xml version="1.0" encoding="utf-8"?>
<p:tagLst xmlns:a="http://schemas.openxmlformats.org/drawingml/2006/main" xmlns:r="http://schemas.openxmlformats.org/officeDocument/2006/relationships" xmlns:p="http://schemas.openxmlformats.org/presentationml/2006/main">
  <p:tag name="THINKCELLSHAPEDONOTDELETE" val="t3lcsJVqvx2fKCmQUrwITjQ"/>
</p:tagLst>
</file>

<file path=ppt/tags/tag2275.xml><?xml version="1.0" encoding="utf-8"?>
<p:tagLst xmlns:a="http://schemas.openxmlformats.org/drawingml/2006/main" xmlns:r="http://schemas.openxmlformats.org/officeDocument/2006/relationships" xmlns:p="http://schemas.openxmlformats.org/presentationml/2006/main">
  <p:tag name="THINKCELLSHAPEDONOTDELETE" val="tb8IXRUBs.c127WaxOSwgGA"/>
</p:tagLst>
</file>

<file path=ppt/tags/tag2276.xml><?xml version="1.0" encoding="utf-8"?>
<p:tagLst xmlns:a="http://schemas.openxmlformats.org/drawingml/2006/main" xmlns:r="http://schemas.openxmlformats.org/officeDocument/2006/relationships" xmlns:p="http://schemas.openxmlformats.org/presentationml/2006/main">
  <p:tag name="THINKCELLSHAPEDONOTDELETE" val="t9MmgXH.cCHatNBR223oVZg"/>
</p:tagLst>
</file>

<file path=ppt/tags/tag2277.xml><?xml version="1.0" encoding="utf-8"?>
<p:tagLst xmlns:a="http://schemas.openxmlformats.org/drawingml/2006/main" xmlns:r="http://schemas.openxmlformats.org/officeDocument/2006/relationships" xmlns:p="http://schemas.openxmlformats.org/presentationml/2006/main">
  <p:tag name="THINKCELLSHAPEDONOTDELETE" val="tT0V440e3_xHK64n6G7mEOw"/>
</p:tagLst>
</file>

<file path=ppt/tags/tag2278.xml><?xml version="1.0" encoding="utf-8"?>
<p:tagLst xmlns:a="http://schemas.openxmlformats.org/drawingml/2006/main" xmlns:r="http://schemas.openxmlformats.org/officeDocument/2006/relationships" xmlns:p="http://schemas.openxmlformats.org/presentationml/2006/main">
  <p:tag name="THINKCELLSHAPEDONOTDELETE" val="t8HEg.Ozlci.CdCcMktuu2A"/>
</p:tagLst>
</file>

<file path=ppt/tags/tag2279.xml><?xml version="1.0" encoding="utf-8"?>
<p:tagLst xmlns:a="http://schemas.openxmlformats.org/drawingml/2006/main" xmlns:r="http://schemas.openxmlformats.org/officeDocument/2006/relationships" xmlns:p="http://schemas.openxmlformats.org/presentationml/2006/main">
  <p:tag name="THINKCELLSHAPEDONOTDELETE" val="tlGgStsP4.pV861jiJRPEzQ"/>
</p:tagLst>
</file>

<file path=ppt/tags/tag2280.xml><?xml version="1.0" encoding="utf-8"?>
<p:tagLst xmlns:a="http://schemas.openxmlformats.org/drawingml/2006/main" xmlns:r="http://schemas.openxmlformats.org/officeDocument/2006/relationships" xmlns:p="http://schemas.openxmlformats.org/presentationml/2006/main">
  <p:tag name="THINKCELLSHAPEDONOTDELETE" val="t16Y0XuUWQw0hKzPNIqLAwA"/>
</p:tagLst>
</file>

<file path=ppt/tags/tag2281.xml><?xml version="1.0" encoding="utf-8"?>
<p:tagLst xmlns:a="http://schemas.openxmlformats.org/drawingml/2006/main" xmlns:r="http://schemas.openxmlformats.org/officeDocument/2006/relationships" xmlns:p="http://schemas.openxmlformats.org/presentationml/2006/main">
  <p:tag name="THINKCELLSHAPEDONOTDELETE" val="tj8UjjBEHBw3SnjazrSqD1g"/>
</p:tagLst>
</file>

<file path=ppt/tags/tag2282.xml><?xml version="1.0" encoding="utf-8"?>
<p:tagLst xmlns:a="http://schemas.openxmlformats.org/drawingml/2006/main" xmlns:r="http://schemas.openxmlformats.org/officeDocument/2006/relationships" xmlns:p="http://schemas.openxmlformats.org/presentationml/2006/main">
  <p:tag name="THINKCELLSHAPEDONOTDELETE" val="tifGb_XxoTOiURAm17XFjfA"/>
</p:tagLst>
</file>

<file path=ppt/tags/tag2283.xml><?xml version="1.0" encoding="utf-8"?>
<p:tagLst xmlns:a="http://schemas.openxmlformats.org/drawingml/2006/main" xmlns:r="http://schemas.openxmlformats.org/officeDocument/2006/relationships" xmlns:p="http://schemas.openxmlformats.org/presentationml/2006/main">
  <p:tag name="THINKCELLSHAPEDONOTDELETE" val="tMPThXdkMMgDdgILnbLIJjQ"/>
</p:tagLst>
</file>

<file path=ppt/tags/tag2284.xml><?xml version="1.0" encoding="utf-8"?>
<p:tagLst xmlns:a="http://schemas.openxmlformats.org/drawingml/2006/main" xmlns:r="http://schemas.openxmlformats.org/officeDocument/2006/relationships" xmlns:p="http://schemas.openxmlformats.org/presentationml/2006/main">
  <p:tag name="THINKCELLSHAPEDONOTDELETE" val="t1HW6jzlkKYRY0uIYOb2HRQ"/>
</p:tagLst>
</file>

<file path=ppt/tags/tag2285.xml><?xml version="1.0" encoding="utf-8"?>
<p:tagLst xmlns:a="http://schemas.openxmlformats.org/drawingml/2006/main" xmlns:r="http://schemas.openxmlformats.org/officeDocument/2006/relationships" xmlns:p="http://schemas.openxmlformats.org/presentationml/2006/main">
  <p:tag name="THINKCELLSHAPEDONOTDELETE" val="tggebtvBe8qgst9Pyj4lSmw"/>
</p:tagLst>
</file>

<file path=ppt/tags/tag2286.xml><?xml version="1.0" encoding="utf-8"?>
<p:tagLst xmlns:a="http://schemas.openxmlformats.org/drawingml/2006/main" xmlns:r="http://schemas.openxmlformats.org/officeDocument/2006/relationships" xmlns:p="http://schemas.openxmlformats.org/presentationml/2006/main">
  <p:tag name="THINKCELLSHAPEDONOTDELETE" val="tOyW1Paziy5aRNJU0ATB6Dw"/>
</p:tagLst>
</file>

<file path=ppt/tags/tag2287.xml><?xml version="1.0" encoding="utf-8"?>
<p:tagLst xmlns:a="http://schemas.openxmlformats.org/drawingml/2006/main" xmlns:r="http://schemas.openxmlformats.org/officeDocument/2006/relationships" xmlns:p="http://schemas.openxmlformats.org/presentationml/2006/main">
  <p:tag name="THINKCELLSHAPEDONOTDELETE" val="tuo.21dLde1vbUb_6DsPZIg"/>
</p:tagLst>
</file>

<file path=ppt/tags/tag2288.xml><?xml version="1.0" encoding="utf-8"?>
<p:tagLst xmlns:a="http://schemas.openxmlformats.org/drawingml/2006/main" xmlns:r="http://schemas.openxmlformats.org/officeDocument/2006/relationships" xmlns:p="http://schemas.openxmlformats.org/presentationml/2006/main">
  <p:tag name="THINKCELLSHAPEDONOTDELETE" val="tWFnN1Py_gcyFKNFLwrsRcg"/>
</p:tagLst>
</file>

<file path=ppt/tags/tag2289.xml><?xml version="1.0" encoding="utf-8"?>
<p:tagLst xmlns:a="http://schemas.openxmlformats.org/drawingml/2006/main" xmlns:r="http://schemas.openxmlformats.org/officeDocument/2006/relationships" xmlns:p="http://schemas.openxmlformats.org/presentationml/2006/main">
  <p:tag name="THINKCELLSHAPEDONOTDELETE" val="tJ275s1fFSzyP2aO4cCilZw"/>
</p:tagLst>
</file>

<file path=ppt/tags/tag2290.xml><?xml version="1.0" encoding="utf-8"?>
<p:tagLst xmlns:a="http://schemas.openxmlformats.org/drawingml/2006/main" xmlns:r="http://schemas.openxmlformats.org/officeDocument/2006/relationships" xmlns:p="http://schemas.openxmlformats.org/presentationml/2006/main">
  <p:tag name="THINKCELLSHAPEDONOTDELETE" val="tX3A84t7RniuhNeMFYBlPig"/>
</p:tagLst>
</file>

<file path=ppt/tags/tag2291.xml><?xml version="1.0" encoding="utf-8"?>
<p:tagLst xmlns:a="http://schemas.openxmlformats.org/drawingml/2006/main" xmlns:r="http://schemas.openxmlformats.org/officeDocument/2006/relationships" xmlns:p="http://schemas.openxmlformats.org/presentationml/2006/main">
  <p:tag name="THINKCELLSHAPEDONOTDELETE" val="t9AOS4T6GdZq4445SquZQvg"/>
</p:tagLst>
</file>

<file path=ppt/tags/tag2292.xml><?xml version="1.0" encoding="utf-8"?>
<p:tagLst xmlns:a="http://schemas.openxmlformats.org/drawingml/2006/main" xmlns:r="http://schemas.openxmlformats.org/officeDocument/2006/relationships" xmlns:p="http://schemas.openxmlformats.org/presentationml/2006/main">
  <p:tag name="THINKCELLSHAPEDONOTDELETE" val="ttN6RpRCVhkUdVZJoOlKjow"/>
</p:tagLst>
</file>

<file path=ppt/tags/tag2293.xml><?xml version="1.0" encoding="utf-8"?>
<p:tagLst xmlns:a="http://schemas.openxmlformats.org/drawingml/2006/main" xmlns:r="http://schemas.openxmlformats.org/officeDocument/2006/relationships" xmlns:p="http://schemas.openxmlformats.org/presentationml/2006/main">
  <p:tag name="THINKCELLSHAPEDONOTDELETE" val="tuuUQCs_2jTzAaRiyrC_9Pw"/>
</p:tagLst>
</file>

<file path=ppt/tags/tag2294.xml><?xml version="1.0" encoding="utf-8"?>
<p:tagLst xmlns:a="http://schemas.openxmlformats.org/drawingml/2006/main" xmlns:r="http://schemas.openxmlformats.org/officeDocument/2006/relationships" xmlns:p="http://schemas.openxmlformats.org/presentationml/2006/main">
  <p:tag name="THINKCELLSHAPEDONOTDELETE" val="tLP5yKifGGaLmmKx4gPuOfg"/>
</p:tagLst>
</file>

<file path=ppt/tags/tag2295.xml><?xml version="1.0" encoding="utf-8"?>
<p:tagLst xmlns:a="http://schemas.openxmlformats.org/drawingml/2006/main" xmlns:r="http://schemas.openxmlformats.org/officeDocument/2006/relationships" xmlns:p="http://schemas.openxmlformats.org/presentationml/2006/main">
  <p:tag name="THINKCELLSHAPEDONOTDELETE" val="tqt_G2qYgaIE3zN6kU28vkA"/>
</p:tagLst>
</file>

<file path=ppt/tags/tag2296.xml><?xml version="1.0" encoding="utf-8"?>
<p:tagLst xmlns:a="http://schemas.openxmlformats.org/drawingml/2006/main" xmlns:r="http://schemas.openxmlformats.org/officeDocument/2006/relationships" xmlns:p="http://schemas.openxmlformats.org/presentationml/2006/main">
  <p:tag name="THINKCELLSHAPEDONOTDELETE" val="tIR5RNDvL5G0Z6QPI8K_GlQ"/>
</p:tagLst>
</file>

<file path=ppt/tags/tag2297.xml><?xml version="1.0" encoding="utf-8"?>
<p:tagLst xmlns:a="http://schemas.openxmlformats.org/drawingml/2006/main" xmlns:r="http://schemas.openxmlformats.org/officeDocument/2006/relationships" xmlns:p="http://schemas.openxmlformats.org/presentationml/2006/main">
  <p:tag name="THINKCELLSHAPEDONOTDELETE" val="tTqdoIoxwthv8e_ogLE0zMg"/>
</p:tagLst>
</file>

<file path=ppt/tags/tag2298.xml><?xml version="1.0" encoding="utf-8"?>
<p:tagLst xmlns:a="http://schemas.openxmlformats.org/drawingml/2006/main" xmlns:r="http://schemas.openxmlformats.org/officeDocument/2006/relationships" xmlns:p="http://schemas.openxmlformats.org/presentationml/2006/main">
  <p:tag name="THINKCELLSHAPEDONOTDELETE" val="tZGdo_pvulCVADPkAUqP5bA"/>
</p:tagLst>
</file>

<file path=ppt/tags/tag2299.xml><?xml version="1.0" encoding="utf-8"?>
<p:tagLst xmlns:a="http://schemas.openxmlformats.org/drawingml/2006/main" xmlns:r="http://schemas.openxmlformats.org/officeDocument/2006/relationships" xmlns:p="http://schemas.openxmlformats.org/presentationml/2006/main">
  <p:tag name="THINKCELLSHAPEDONOTDELETE" val="t9rkMgW_q5zmaTbVURBlKYg"/>
</p:tagLst>
</file>

<file path=ppt/tags/tag2300.xml><?xml version="1.0" encoding="utf-8"?>
<p:tagLst xmlns:a="http://schemas.openxmlformats.org/drawingml/2006/main" xmlns:r="http://schemas.openxmlformats.org/officeDocument/2006/relationships" xmlns:p="http://schemas.openxmlformats.org/presentationml/2006/main">
  <p:tag name="THINKCELLSHAPEDONOTDELETE" val="tu6LNgste.U7H_ecygUNImA"/>
</p:tagLst>
</file>

<file path=ppt/tags/tag2301.xml><?xml version="1.0" encoding="utf-8"?>
<p:tagLst xmlns:a="http://schemas.openxmlformats.org/drawingml/2006/main" xmlns:r="http://schemas.openxmlformats.org/officeDocument/2006/relationships" xmlns:p="http://schemas.openxmlformats.org/presentationml/2006/main">
  <p:tag name="THINKCELLSHAPEDONOTDELETE" val="ttKnhdXrNCaoih_l4DXcl_Q"/>
</p:tagLst>
</file>

<file path=ppt/tags/tag2302.xml><?xml version="1.0" encoding="utf-8"?>
<p:tagLst xmlns:a="http://schemas.openxmlformats.org/drawingml/2006/main" xmlns:r="http://schemas.openxmlformats.org/officeDocument/2006/relationships" xmlns:p="http://schemas.openxmlformats.org/presentationml/2006/main">
  <p:tag name="THINKCELLSHAPEDONOTDELETE" val="tOz5i.TX3wzO7T9K8RjwODQ"/>
</p:tagLst>
</file>

<file path=ppt/tags/tag2303.xml><?xml version="1.0" encoding="utf-8"?>
<p:tagLst xmlns:a="http://schemas.openxmlformats.org/drawingml/2006/main" xmlns:r="http://schemas.openxmlformats.org/officeDocument/2006/relationships" xmlns:p="http://schemas.openxmlformats.org/presentationml/2006/main">
  <p:tag name="THINKCELLSHAPEDONOTDELETE" val="tVbBYiY2zcPWjC2RLzHmgJQ"/>
</p:tagLst>
</file>

<file path=ppt/tags/tag2304.xml><?xml version="1.0" encoding="utf-8"?>
<p:tagLst xmlns:a="http://schemas.openxmlformats.org/drawingml/2006/main" xmlns:r="http://schemas.openxmlformats.org/officeDocument/2006/relationships" xmlns:p="http://schemas.openxmlformats.org/presentationml/2006/main">
  <p:tag name="THINKCELLSHAPEDONOTDELETE" val="ttxtSSInCWb0pggszznqkUw"/>
</p:tagLst>
</file>

<file path=ppt/tags/tag2305.xml><?xml version="1.0" encoding="utf-8"?>
<p:tagLst xmlns:a="http://schemas.openxmlformats.org/drawingml/2006/main" xmlns:r="http://schemas.openxmlformats.org/officeDocument/2006/relationships" xmlns:p="http://schemas.openxmlformats.org/presentationml/2006/main">
  <p:tag name="THINKCELLSHAPEDONOTDELETE" val="t.rOSGPc3aVXmIs3yRVp8jw"/>
</p:tagLst>
</file>

<file path=ppt/tags/tag2306.xml><?xml version="1.0" encoding="utf-8"?>
<p:tagLst xmlns:a="http://schemas.openxmlformats.org/drawingml/2006/main" xmlns:r="http://schemas.openxmlformats.org/officeDocument/2006/relationships" xmlns:p="http://schemas.openxmlformats.org/presentationml/2006/main">
  <p:tag name="THINKCELLSHAPEDONOTDELETE" val="t.hp2eJlVfZceZIIiiFLSkg"/>
</p:tagLst>
</file>

<file path=ppt/tags/tag2307.xml><?xml version="1.0" encoding="utf-8"?>
<p:tagLst xmlns:a="http://schemas.openxmlformats.org/drawingml/2006/main" xmlns:r="http://schemas.openxmlformats.org/officeDocument/2006/relationships" xmlns:p="http://schemas.openxmlformats.org/presentationml/2006/main">
  <p:tag name="THINKCELLSHAPEDONOTDELETE" val="tPqzmeOTU4LIJUBYTPoWM2Q"/>
</p:tagLst>
</file>

<file path=ppt/tags/tag2308.xml><?xml version="1.0" encoding="utf-8"?>
<p:tagLst xmlns:a="http://schemas.openxmlformats.org/drawingml/2006/main" xmlns:r="http://schemas.openxmlformats.org/officeDocument/2006/relationships" xmlns:p="http://schemas.openxmlformats.org/presentationml/2006/main">
  <p:tag name="THINKCELLSHAPEDONOTDELETE" val="tQWUxKOXEGv345Qw98HCDsw"/>
</p:tagLst>
</file>

<file path=ppt/tags/tag230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10.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311.xml><?xml version="1.0" encoding="utf-8"?>
<p:tagLst xmlns:a="http://schemas.openxmlformats.org/drawingml/2006/main" xmlns:r="http://schemas.openxmlformats.org/officeDocument/2006/relationships" xmlns:p="http://schemas.openxmlformats.org/presentationml/2006/main">
  <p:tag name="HEADER" val="True"/>
</p:tagLst>
</file>

<file path=ppt/tags/tag2312.xml><?xml version="1.0" encoding="utf-8"?>
<p:tagLst xmlns:a="http://schemas.openxmlformats.org/drawingml/2006/main" xmlns:r="http://schemas.openxmlformats.org/officeDocument/2006/relationships" xmlns:p="http://schemas.openxmlformats.org/presentationml/2006/main">
  <p:tag name="HEADER" val="True"/>
</p:tagLst>
</file>

<file path=ppt/tags/tag2313.xml><?xml version="1.0" encoding="utf-8"?>
<p:tagLst xmlns:a="http://schemas.openxmlformats.org/drawingml/2006/main" xmlns:r="http://schemas.openxmlformats.org/officeDocument/2006/relationships" xmlns:p="http://schemas.openxmlformats.org/presentationml/2006/main">
  <p:tag name="THINKCELLSHAPEDONOTDELETE" val="tAuhHOs_cA7_R.rePJnwHxg"/>
</p:tagLst>
</file>

<file path=ppt/tags/tag23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15.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316.xml><?xml version="1.0" encoding="utf-8"?>
<p:tagLst xmlns:a="http://schemas.openxmlformats.org/drawingml/2006/main" xmlns:r="http://schemas.openxmlformats.org/officeDocument/2006/relationships" xmlns:p="http://schemas.openxmlformats.org/presentationml/2006/main">
  <p:tag name="HEADER" val="True"/>
</p:tagLst>
</file>

<file path=ppt/tags/tag2317.xml><?xml version="1.0" encoding="utf-8"?>
<p:tagLst xmlns:a="http://schemas.openxmlformats.org/drawingml/2006/main" xmlns:r="http://schemas.openxmlformats.org/officeDocument/2006/relationships" xmlns:p="http://schemas.openxmlformats.org/presentationml/2006/main">
  <p:tag name="HEADER" val="True"/>
</p:tagLst>
</file>

<file path=ppt/tags/tag2318.xml><?xml version="1.0" encoding="utf-8"?>
<p:tagLst xmlns:a="http://schemas.openxmlformats.org/drawingml/2006/main" xmlns:r="http://schemas.openxmlformats.org/officeDocument/2006/relationships" xmlns:p="http://schemas.openxmlformats.org/presentationml/2006/main">
  <p:tag name="THINKCELLSHAPEDONOTDELETE" val="tD4QNZui4l7RfrzR07a.24g"/>
</p:tagLst>
</file>

<file path=ppt/tags/tag2319.xml><?xml version="1.0" encoding="utf-8"?>
<p:tagLst xmlns:a="http://schemas.openxmlformats.org/drawingml/2006/main" xmlns:r="http://schemas.openxmlformats.org/officeDocument/2006/relationships" xmlns:p="http://schemas.openxmlformats.org/presentationml/2006/main">
  <p:tag name="THINKCELLSHAPEDONOTDELETE" val="tHisBWbNnhh7DhAFc4gIKFw"/>
</p:tagLst>
</file>

<file path=ppt/tags/tag2320.xml><?xml version="1.0" encoding="utf-8"?>
<p:tagLst xmlns:a="http://schemas.openxmlformats.org/drawingml/2006/main" xmlns:r="http://schemas.openxmlformats.org/officeDocument/2006/relationships" xmlns:p="http://schemas.openxmlformats.org/presentationml/2006/main">
  <p:tag name="THINKCELLSHAPEDONOTDELETE" val="tyjmvKNXF9gUUbUEqDHEPDA"/>
</p:tagLst>
</file>

<file path=ppt/tags/tag2321.xml><?xml version="1.0" encoding="utf-8"?>
<p:tagLst xmlns:a="http://schemas.openxmlformats.org/drawingml/2006/main" xmlns:r="http://schemas.openxmlformats.org/officeDocument/2006/relationships" xmlns:p="http://schemas.openxmlformats.org/presentationml/2006/main">
  <p:tag name="THINKCELLSHAPEDONOTDELETE" val="tRK6zgH6dk0H9GGr_fDP4EQ"/>
</p:tagLst>
</file>

<file path=ppt/tags/tag2322.xml><?xml version="1.0" encoding="utf-8"?>
<p:tagLst xmlns:a="http://schemas.openxmlformats.org/drawingml/2006/main" xmlns:r="http://schemas.openxmlformats.org/officeDocument/2006/relationships" xmlns:p="http://schemas.openxmlformats.org/presentationml/2006/main">
  <p:tag name="THINKCELLSHAPEDONOTDELETE" val="tzykhXt38usxyLa7rA5b.ag"/>
</p:tagLst>
</file>

<file path=ppt/tags/tag2323.xml><?xml version="1.0" encoding="utf-8"?>
<p:tagLst xmlns:a="http://schemas.openxmlformats.org/drawingml/2006/main" xmlns:r="http://schemas.openxmlformats.org/officeDocument/2006/relationships" xmlns:p="http://schemas.openxmlformats.org/presentationml/2006/main">
  <p:tag name="THINKCELLSHAPEDONOTDELETE" val="tQZTwfl9GsFT_6.S_k6fKcw"/>
</p:tagLst>
</file>

<file path=ppt/tags/tag2324.xml><?xml version="1.0" encoding="utf-8"?>
<p:tagLst xmlns:a="http://schemas.openxmlformats.org/drawingml/2006/main" xmlns:r="http://schemas.openxmlformats.org/officeDocument/2006/relationships" xmlns:p="http://schemas.openxmlformats.org/presentationml/2006/main">
  <p:tag name="THINKCELLSHAPEDONOTDELETE" val="tRpPbRLkpb3R2cn4G7JnHdA"/>
</p:tagLst>
</file>

<file path=ppt/tags/tag2325.xml><?xml version="1.0" encoding="utf-8"?>
<p:tagLst xmlns:a="http://schemas.openxmlformats.org/drawingml/2006/main" xmlns:r="http://schemas.openxmlformats.org/officeDocument/2006/relationships" xmlns:p="http://schemas.openxmlformats.org/presentationml/2006/main">
  <p:tag name="THINKCELLSHAPEDONOTDELETE" val="tw32_a32slVQD1VXzIY50gg"/>
</p:tagLst>
</file>

<file path=ppt/tags/tag2326.xml><?xml version="1.0" encoding="utf-8"?>
<p:tagLst xmlns:a="http://schemas.openxmlformats.org/drawingml/2006/main" xmlns:r="http://schemas.openxmlformats.org/officeDocument/2006/relationships" xmlns:p="http://schemas.openxmlformats.org/presentationml/2006/main">
  <p:tag name="THINKCELLSHAPEDONOTDELETE" val="tkLEjmtmoXtS3SgQV6zO7rA"/>
</p:tagLst>
</file>

<file path=ppt/tags/tag2327.xml><?xml version="1.0" encoding="utf-8"?>
<p:tagLst xmlns:a="http://schemas.openxmlformats.org/drawingml/2006/main" xmlns:r="http://schemas.openxmlformats.org/officeDocument/2006/relationships" xmlns:p="http://schemas.openxmlformats.org/presentationml/2006/main">
  <p:tag name="THINKCELLSHAPEDONOTDELETE" val="tqG05zdNwG3PW5zqj5WnQbQ"/>
</p:tagLst>
</file>

<file path=ppt/tags/tag2328.xml><?xml version="1.0" encoding="utf-8"?>
<p:tagLst xmlns:a="http://schemas.openxmlformats.org/drawingml/2006/main" xmlns:r="http://schemas.openxmlformats.org/officeDocument/2006/relationships" xmlns:p="http://schemas.openxmlformats.org/presentationml/2006/main">
  <p:tag name="THINKCELLSHAPEDONOTDELETE" val="tOKpHInv6HdWf0OaEoYJMHQ"/>
</p:tagLst>
</file>

<file path=ppt/tags/tag2329.xml><?xml version="1.0" encoding="utf-8"?>
<p:tagLst xmlns:a="http://schemas.openxmlformats.org/drawingml/2006/main" xmlns:r="http://schemas.openxmlformats.org/officeDocument/2006/relationships" xmlns:p="http://schemas.openxmlformats.org/presentationml/2006/main">
  <p:tag name="THINKCELLSHAPEDONOTDELETE" val="t.ELOWarfXNQLzjrcjUGq9g"/>
</p:tagLst>
</file>

<file path=ppt/tags/tag2330.xml><?xml version="1.0" encoding="utf-8"?>
<p:tagLst xmlns:a="http://schemas.openxmlformats.org/drawingml/2006/main" xmlns:r="http://schemas.openxmlformats.org/officeDocument/2006/relationships" xmlns:p="http://schemas.openxmlformats.org/presentationml/2006/main">
  <p:tag name="THINKCELLSHAPEDONOTDELETE" val="tSNv5fFkPEflo4ahLkI9CGg"/>
</p:tagLst>
</file>

<file path=ppt/tags/tag2331.xml><?xml version="1.0" encoding="utf-8"?>
<p:tagLst xmlns:a="http://schemas.openxmlformats.org/drawingml/2006/main" xmlns:r="http://schemas.openxmlformats.org/officeDocument/2006/relationships" xmlns:p="http://schemas.openxmlformats.org/presentationml/2006/main">
  <p:tag name="THINKCELLSHAPEDONOTDELETE" val="t_M8w2q7quGE22EIs8whYuw"/>
</p:tagLst>
</file>

<file path=ppt/tags/tag2332.xml><?xml version="1.0" encoding="utf-8"?>
<p:tagLst xmlns:a="http://schemas.openxmlformats.org/drawingml/2006/main" xmlns:r="http://schemas.openxmlformats.org/officeDocument/2006/relationships" xmlns:p="http://schemas.openxmlformats.org/presentationml/2006/main">
  <p:tag name="THINKCELLSHAPEDONOTDELETE" val="tBmy38p.9ahri5.aV0hic0Q"/>
</p:tagLst>
</file>

<file path=ppt/tags/tag2333.xml><?xml version="1.0" encoding="utf-8"?>
<p:tagLst xmlns:a="http://schemas.openxmlformats.org/drawingml/2006/main" xmlns:r="http://schemas.openxmlformats.org/officeDocument/2006/relationships" xmlns:p="http://schemas.openxmlformats.org/presentationml/2006/main">
  <p:tag name="THINKCELLSHAPEDONOTDELETE" val="tuMwZhatbjdtbnKn5eUdWzg"/>
</p:tagLst>
</file>

<file path=ppt/tags/tag2334.xml><?xml version="1.0" encoding="utf-8"?>
<p:tagLst xmlns:a="http://schemas.openxmlformats.org/drawingml/2006/main" xmlns:r="http://schemas.openxmlformats.org/officeDocument/2006/relationships" xmlns:p="http://schemas.openxmlformats.org/presentationml/2006/main">
  <p:tag name="THINKCELLSHAPEDONOTDELETE" val="twbdMUTzG7M_EGGrtuaDiew"/>
</p:tagLst>
</file>

<file path=ppt/tags/tag2335.xml><?xml version="1.0" encoding="utf-8"?>
<p:tagLst xmlns:a="http://schemas.openxmlformats.org/drawingml/2006/main" xmlns:r="http://schemas.openxmlformats.org/officeDocument/2006/relationships" xmlns:p="http://schemas.openxmlformats.org/presentationml/2006/main">
  <p:tag name="THINKCELLSHAPEDONOTDELETE" val="tO1EAmjo6a6wY5EABjQ3a5Q"/>
</p:tagLst>
</file>

<file path=ppt/tags/tag2336.xml><?xml version="1.0" encoding="utf-8"?>
<p:tagLst xmlns:a="http://schemas.openxmlformats.org/drawingml/2006/main" xmlns:r="http://schemas.openxmlformats.org/officeDocument/2006/relationships" xmlns:p="http://schemas.openxmlformats.org/presentationml/2006/main">
  <p:tag name="THINKCELLSHAPEDONOTDELETE" val="tyzpni1yDmizdrU0nIAzDgw"/>
</p:tagLst>
</file>

<file path=ppt/tags/tag23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38.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339.xml><?xml version="1.0" encoding="utf-8"?>
<p:tagLst xmlns:a="http://schemas.openxmlformats.org/drawingml/2006/main" xmlns:r="http://schemas.openxmlformats.org/officeDocument/2006/relationships" xmlns:p="http://schemas.openxmlformats.org/presentationml/2006/main">
  <p:tag name="HEADER" val="True"/>
</p:tagLst>
</file>

<file path=ppt/tags/tag2340.xml><?xml version="1.0" encoding="utf-8"?>
<p:tagLst xmlns:a="http://schemas.openxmlformats.org/drawingml/2006/main" xmlns:r="http://schemas.openxmlformats.org/officeDocument/2006/relationships" xmlns:p="http://schemas.openxmlformats.org/presentationml/2006/main">
  <p:tag name="HEADER" val="True"/>
</p:tagLst>
</file>

<file path=ppt/tags/tag2341.xml><?xml version="1.0" encoding="utf-8"?>
<p:tagLst xmlns:a="http://schemas.openxmlformats.org/drawingml/2006/main" xmlns:r="http://schemas.openxmlformats.org/officeDocument/2006/relationships" xmlns:p="http://schemas.openxmlformats.org/presentationml/2006/main">
  <p:tag name="THINKCELLSHAPEDONOTDELETE" val="tCuXRfhGw9R7RgyPOs5iDxQ"/>
</p:tagLst>
</file>

<file path=ppt/tags/tag2342.xml><?xml version="1.0" encoding="utf-8"?>
<p:tagLst xmlns:a="http://schemas.openxmlformats.org/drawingml/2006/main" xmlns:r="http://schemas.openxmlformats.org/officeDocument/2006/relationships" xmlns:p="http://schemas.openxmlformats.org/presentationml/2006/main">
  <p:tag name="THINKCELLSHAPEDONOTDELETE" val="t4CKGn7qloGd9CpcyhQ7M7A"/>
</p:tagLst>
</file>

<file path=ppt/tags/tag2343.xml><?xml version="1.0" encoding="utf-8"?>
<p:tagLst xmlns:a="http://schemas.openxmlformats.org/drawingml/2006/main" xmlns:r="http://schemas.openxmlformats.org/officeDocument/2006/relationships" xmlns:p="http://schemas.openxmlformats.org/presentationml/2006/main">
  <p:tag name="THINKCELLSHAPEDONOTDELETE" val="tE3rDIWYC5C0C4.aBoJuitA"/>
</p:tagLst>
</file>

<file path=ppt/tags/tag2344.xml><?xml version="1.0" encoding="utf-8"?>
<p:tagLst xmlns:a="http://schemas.openxmlformats.org/drawingml/2006/main" xmlns:r="http://schemas.openxmlformats.org/officeDocument/2006/relationships" xmlns:p="http://schemas.openxmlformats.org/presentationml/2006/main">
  <p:tag name="THINKCELLSHAPEDONOTDELETE" val="tlnxq2Qv_KGgE0NnCjNG7fg"/>
</p:tagLst>
</file>

<file path=ppt/tags/tag2345.xml><?xml version="1.0" encoding="utf-8"?>
<p:tagLst xmlns:a="http://schemas.openxmlformats.org/drawingml/2006/main" xmlns:r="http://schemas.openxmlformats.org/officeDocument/2006/relationships" xmlns:p="http://schemas.openxmlformats.org/presentationml/2006/main">
  <p:tag name="THINKCELLSHAPEDONOTDELETE" val="t2cXvLcjwBDMZlYgjp.7HGw"/>
</p:tagLst>
</file>

<file path=ppt/tags/tag2346.xml><?xml version="1.0" encoding="utf-8"?>
<p:tagLst xmlns:a="http://schemas.openxmlformats.org/drawingml/2006/main" xmlns:r="http://schemas.openxmlformats.org/officeDocument/2006/relationships" xmlns:p="http://schemas.openxmlformats.org/presentationml/2006/main">
  <p:tag name="THINKCELLSHAPEDONOTDELETE" val="tCCrrh4_8kURA1hiRDTF9Fw"/>
</p:tagLst>
</file>

<file path=ppt/tags/tag2347.xml><?xml version="1.0" encoding="utf-8"?>
<p:tagLst xmlns:a="http://schemas.openxmlformats.org/drawingml/2006/main" xmlns:r="http://schemas.openxmlformats.org/officeDocument/2006/relationships" xmlns:p="http://schemas.openxmlformats.org/presentationml/2006/main">
  <p:tag name="THINKCELLSHAPEDONOTDELETE" val="tpTshhas4Cf3kGvnGrJ1DSA"/>
</p:tagLst>
</file>

<file path=ppt/tags/tag2348.xml><?xml version="1.0" encoding="utf-8"?>
<p:tagLst xmlns:a="http://schemas.openxmlformats.org/drawingml/2006/main" xmlns:r="http://schemas.openxmlformats.org/officeDocument/2006/relationships" xmlns:p="http://schemas.openxmlformats.org/presentationml/2006/main">
  <p:tag name="THINKCELLSHAPEDONOTDELETE" val="tASPYhMnGTVo_lKmMLHEPtQ"/>
</p:tagLst>
</file>

<file path=ppt/tags/tag2349.xml><?xml version="1.0" encoding="utf-8"?>
<p:tagLst xmlns:a="http://schemas.openxmlformats.org/drawingml/2006/main" xmlns:r="http://schemas.openxmlformats.org/officeDocument/2006/relationships" xmlns:p="http://schemas.openxmlformats.org/presentationml/2006/main">
  <p:tag name="THINKCELLSHAPEDONOTDELETE" val="tsWpvjYxZuho_EpDB9TVhdA"/>
</p:tagLst>
</file>

<file path=ppt/tags/tag2350.xml><?xml version="1.0" encoding="utf-8"?>
<p:tagLst xmlns:a="http://schemas.openxmlformats.org/drawingml/2006/main" xmlns:r="http://schemas.openxmlformats.org/officeDocument/2006/relationships" xmlns:p="http://schemas.openxmlformats.org/presentationml/2006/main">
  <p:tag name="THINKCELLSHAPEDONOTDELETE" val="t3KmNh8NQNGE2KyCndmUSsw"/>
</p:tagLst>
</file>

<file path=ppt/tags/tag2351.xml><?xml version="1.0" encoding="utf-8"?>
<p:tagLst xmlns:a="http://schemas.openxmlformats.org/drawingml/2006/main" xmlns:r="http://schemas.openxmlformats.org/officeDocument/2006/relationships" xmlns:p="http://schemas.openxmlformats.org/presentationml/2006/main">
  <p:tag name="THINKCELLSHAPEDONOTDELETE" val="tNwxmSwKESja0hq1oO.Hwrg"/>
</p:tagLst>
</file>

<file path=ppt/tags/tag2352.xml><?xml version="1.0" encoding="utf-8"?>
<p:tagLst xmlns:a="http://schemas.openxmlformats.org/drawingml/2006/main" xmlns:r="http://schemas.openxmlformats.org/officeDocument/2006/relationships" xmlns:p="http://schemas.openxmlformats.org/presentationml/2006/main">
  <p:tag name="THINKCELLSHAPEDONOTDELETE" val="tchOO4e_nekqQ.IfnXJYPNg"/>
</p:tagLst>
</file>

<file path=ppt/tags/tag2353.xml><?xml version="1.0" encoding="utf-8"?>
<p:tagLst xmlns:a="http://schemas.openxmlformats.org/drawingml/2006/main" xmlns:r="http://schemas.openxmlformats.org/officeDocument/2006/relationships" xmlns:p="http://schemas.openxmlformats.org/presentationml/2006/main">
  <p:tag name="THINKCELLSHAPEDONOTDELETE" val="tQT2z9v3Bl5gUi77wNzcYZA"/>
</p:tagLst>
</file>

<file path=ppt/tags/tag2354.xml><?xml version="1.0" encoding="utf-8"?>
<p:tagLst xmlns:a="http://schemas.openxmlformats.org/drawingml/2006/main" xmlns:r="http://schemas.openxmlformats.org/officeDocument/2006/relationships" xmlns:p="http://schemas.openxmlformats.org/presentationml/2006/main">
  <p:tag name="THINKCELLSHAPEDONOTDELETE" val="tEr4XLTlFxOZ7YW9GmS506A"/>
</p:tagLst>
</file>

<file path=ppt/tags/tag2355.xml><?xml version="1.0" encoding="utf-8"?>
<p:tagLst xmlns:a="http://schemas.openxmlformats.org/drawingml/2006/main" xmlns:r="http://schemas.openxmlformats.org/officeDocument/2006/relationships" xmlns:p="http://schemas.openxmlformats.org/presentationml/2006/main">
  <p:tag name="THINKCELLSHAPEDONOTDELETE" val="tzsfSFu2H5yQt0BVF0BxGtQ"/>
</p:tagLst>
</file>

<file path=ppt/tags/tag2356.xml><?xml version="1.0" encoding="utf-8"?>
<p:tagLst xmlns:a="http://schemas.openxmlformats.org/drawingml/2006/main" xmlns:r="http://schemas.openxmlformats.org/officeDocument/2006/relationships" xmlns:p="http://schemas.openxmlformats.org/presentationml/2006/main">
  <p:tag name="THINKCELLSHAPEDONOTDELETE" val="tOTiXwk9C27wBrhHOomCZeQ"/>
</p:tagLst>
</file>

<file path=ppt/tags/tag2357.xml><?xml version="1.0" encoding="utf-8"?>
<p:tagLst xmlns:a="http://schemas.openxmlformats.org/drawingml/2006/main" xmlns:r="http://schemas.openxmlformats.org/officeDocument/2006/relationships" xmlns:p="http://schemas.openxmlformats.org/presentationml/2006/main">
  <p:tag name="THINKCELLSHAPEDONOTDELETE" val="tbo_VznAQOUaWnGazPxz5OQ"/>
</p:tagLst>
</file>

<file path=ppt/tags/tag2358.xml><?xml version="1.0" encoding="utf-8"?>
<p:tagLst xmlns:a="http://schemas.openxmlformats.org/drawingml/2006/main" xmlns:r="http://schemas.openxmlformats.org/officeDocument/2006/relationships" xmlns:p="http://schemas.openxmlformats.org/presentationml/2006/main">
  <p:tag name="THINKCELLSHAPEDONOTDELETE" val="tCHUZcFD6vt_QjbpaWKwHsQ"/>
</p:tagLst>
</file>

<file path=ppt/tags/tag2359.xml><?xml version="1.0" encoding="utf-8"?>
<p:tagLst xmlns:a="http://schemas.openxmlformats.org/drawingml/2006/main" xmlns:r="http://schemas.openxmlformats.org/officeDocument/2006/relationships" xmlns:p="http://schemas.openxmlformats.org/presentationml/2006/main">
  <p:tag name="THINKCELLSHAPEDONOTDELETE" val="tajOwkdf30.T_GChS5SDJgw"/>
</p:tagLst>
</file>

<file path=ppt/tags/tag2360.xml><?xml version="1.0" encoding="utf-8"?>
<p:tagLst xmlns:a="http://schemas.openxmlformats.org/drawingml/2006/main" xmlns:r="http://schemas.openxmlformats.org/officeDocument/2006/relationships" xmlns:p="http://schemas.openxmlformats.org/presentationml/2006/main">
  <p:tag name="THINKCELLSHAPEDONOTDELETE" val="t6w3IoXLMlW2pQA0dCcJXQA"/>
</p:tagLst>
</file>

<file path=ppt/tags/tag2361.xml><?xml version="1.0" encoding="utf-8"?>
<p:tagLst xmlns:a="http://schemas.openxmlformats.org/drawingml/2006/main" xmlns:r="http://schemas.openxmlformats.org/officeDocument/2006/relationships" xmlns:p="http://schemas.openxmlformats.org/presentationml/2006/main">
  <p:tag name="THINKCELLSHAPEDONOTDELETE" val="tMAogh2J9s.KpbSDB5lAcIg"/>
</p:tagLst>
</file>

<file path=ppt/tags/tag2362.xml><?xml version="1.0" encoding="utf-8"?>
<p:tagLst xmlns:a="http://schemas.openxmlformats.org/drawingml/2006/main" xmlns:r="http://schemas.openxmlformats.org/officeDocument/2006/relationships" xmlns:p="http://schemas.openxmlformats.org/presentationml/2006/main">
  <p:tag name="THINKCELLSHAPEDONOTDELETE" val="t5YCvNlDto_3wowflF_WzpQ"/>
</p:tagLst>
</file>

<file path=ppt/tags/tag2363.xml><?xml version="1.0" encoding="utf-8"?>
<p:tagLst xmlns:a="http://schemas.openxmlformats.org/drawingml/2006/main" xmlns:r="http://schemas.openxmlformats.org/officeDocument/2006/relationships" xmlns:p="http://schemas.openxmlformats.org/presentationml/2006/main">
  <p:tag name="THINKCELLSHAPEDONOTDELETE" val="tthZIsT6BO23kbKzDtygeGg"/>
</p:tagLst>
</file>

<file path=ppt/tags/tag2364.xml><?xml version="1.0" encoding="utf-8"?>
<p:tagLst xmlns:a="http://schemas.openxmlformats.org/drawingml/2006/main" xmlns:r="http://schemas.openxmlformats.org/officeDocument/2006/relationships" xmlns:p="http://schemas.openxmlformats.org/presentationml/2006/main">
  <p:tag name="THINKCELLSHAPEDONOTDELETE" val="tIzdfPd4f5TupsCd5O1p1_g"/>
</p:tagLst>
</file>

<file path=ppt/tags/tag2365.xml><?xml version="1.0" encoding="utf-8"?>
<p:tagLst xmlns:a="http://schemas.openxmlformats.org/drawingml/2006/main" xmlns:r="http://schemas.openxmlformats.org/officeDocument/2006/relationships" xmlns:p="http://schemas.openxmlformats.org/presentationml/2006/main">
  <p:tag name="THINKCELLSHAPEDONOTDELETE" val="t4o3z5TEJlpmy2qZESos2pg"/>
</p:tagLst>
</file>

<file path=ppt/tags/tag2366.xml><?xml version="1.0" encoding="utf-8"?>
<p:tagLst xmlns:a="http://schemas.openxmlformats.org/drawingml/2006/main" xmlns:r="http://schemas.openxmlformats.org/officeDocument/2006/relationships" xmlns:p="http://schemas.openxmlformats.org/presentationml/2006/main">
  <p:tag name="THINKCELLSHAPEDONOTDELETE" val="tay3_YIK_FX2C20Ib0._n2Q"/>
</p:tagLst>
</file>

<file path=ppt/tags/tag2367.xml><?xml version="1.0" encoding="utf-8"?>
<p:tagLst xmlns:a="http://schemas.openxmlformats.org/drawingml/2006/main" xmlns:r="http://schemas.openxmlformats.org/officeDocument/2006/relationships" xmlns:p="http://schemas.openxmlformats.org/presentationml/2006/main">
  <p:tag name="THINKCELLSHAPEDONOTDELETE" val="tX3CbWcgTUurLcgnCcBr7TQ"/>
</p:tagLst>
</file>

<file path=ppt/tags/tag2368.xml><?xml version="1.0" encoding="utf-8"?>
<p:tagLst xmlns:a="http://schemas.openxmlformats.org/drawingml/2006/main" xmlns:r="http://schemas.openxmlformats.org/officeDocument/2006/relationships" xmlns:p="http://schemas.openxmlformats.org/presentationml/2006/main">
  <p:tag name="THINKCELLSHAPEDONOTDELETE" val="t0M9ha_9SLoVoaozFt7Go7A"/>
</p:tagLst>
</file>

<file path=ppt/tags/tag2369.xml><?xml version="1.0" encoding="utf-8"?>
<p:tagLst xmlns:a="http://schemas.openxmlformats.org/drawingml/2006/main" xmlns:r="http://schemas.openxmlformats.org/officeDocument/2006/relationships" xmlns:p="http://schemas.openxmlformats.org/presentationml/2006/main">
  <p:tag name="THINKCELLSHAPEDONOTDELETE" val="tjlKvvbwcG86UMRm1RFptBg"/>
</p:tagLst>
</file>

<file path=ppt/tags/tag237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71.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372.xml><?xml version="1.0" encoding="utf-8"?>
<p:tagLst xmlns:a="http://schemas.openxmlformats.org/drawingml/2006/main" xmlns:r="http://schemas.openxmlformats.org/officeDocument/2006/relationships" xmlns:p="http://schemas.openxmlformats.org/presentationml/2006/main">
  <p:tag name="HEADER" val="True"/>
</p:tagLst>
</file>

<file path=ppt/tags/tag2373.xml><?xml version="1.0" encoding="utf-8"?>
<p:tagLst xmlns:a="http://schemas.openxmlformats.org/drawingml/2006/main" xmlns:r="http://schemas.openxmlformats.org/officeDocument/2006/relationships" xmlns:p="http://schemas.openxmlformats.org/presentationml/2006/main">
  <p:tag name="HEADER" val="True"/>
</p:tagLst>
</file>

<file path=ppt/tags/tag2374.xml><?xml version="1.0" encoding="utf-8"?>
<p:tagLst xmlns:a="http://schemas.openxmlformats.org/drawingml/2006/main" xmlns:r="http://schemas.openxmlformats.org/officeDocument/2006/relationships" xmlns:p="http://schemas.openxmlformats.org/presentationml/2006/main">
  <p:tag name="THINKCELLSHAPEDONOTDELETE" val="t40sTDLDFRe.Dc2pbXXp5hA"/>
</p:tagLst>
</file>

<file path=ppt/tags/tag2375.xml><?xml version="1.0" encoding="utf-8"?>
<p:tagLst xmlns:a="http://schemas.openxmlformats.org/drawingml/2006/main" xmlns:r="http://schemas.openxmlformats.org/officeDocument/2006/relationships" xmlns:p="http://schemas.openxmlformats.org/presentationml/2006/main">
  <p:tag name="THINKCELLSHAPEDONOTDELETE" val="t4CKGn7qloGd9CpcyhQ7M7A"/>
</p:tagLst>
</file>

<file path=ppt/tags/tag2376.xml><?xml version="1.0" encoding="utf-8"?>
<p:tagLst xmlns:a="http://schemas.openxmlformats.org/drawingml/2006/main" xmlns:r="http://schemas.openxmlformats.org/officeDocument/2006/relationships" xmlns:p="http://schemas.openxmlformats.org/presentationml/2006/main">
  <p:tag name="THINKCELLSHAPEDONOTDELETE" val="t2cXvLcjwBDMZlYgjp.7HGw"/>
</p:tagLst>
</file>

<file path=ppt/tags/tag2377.xml><?xml version="1.0" encoding="utf-8"?>
<p:tagLst xmlns:a="http://schemas.openxmlformats.org/drawingml/2006/main" xmlns:r="http://schemas.openxmlformats.org/officeDocument/2006/relationships" xmlns:p="http://schemas.openxmlformats.org/presentationml/2006/main">
  <p:tag name="THINKCELLSHAPEDONOTDELETE" val="tE3rDIWYC5C0C4.aBoJuitA"/>
</p:tagLst>
</file>

<file path=ppt/tags/tag2378.xml><?xml version="1.0" encoding="utf-8"?>
<p:tagLst xmlns:a="http://schemas.openxmlformats.org/drawingml/2006/main" xmlns:r="http://schemas.openxmlformats.org/officeDocument/2006/relationships" xmlns:p="http://schemas.openxmlformats.org/presentationml/2006/main">
  <p:tag name="THINKCELLSHAPEDONOTDELETE" val="tlnxq2Qv_KGgE0NnCjNG7fg"/>
</p:tagLst>
</file>

<file path=ppt/tags/tag2379.xml><?xml version="1.0" encoding="utf-8"?>
<p:tagLst xmlns:a="http://schemas.openxmlformats.org/drawingml/2006/main" xmlns:r="http://schemas.openxmlformats.org/officeDocument/2006/relationships" xmlns:p="http://schemas.openxmlformats.org/presentationml/2006/main">
  <p:tag name="THINKCELLSHAPEDONOTDELETE" val="tCCrrh4_8kURA1hiRDTF9Fw"/>
</p:tagLst>
</file>

<file path=ppt/tags/tag2380.xml><?xml version="1.0" encoding="utf-8"?>
<p:tagLst xmlns:a="http://schemas.openxmlformats.org/drawingml/2006/main" xmlns:r="http://schemas.openxmlformats.org/officeDocument/2006/relationships" xmlns:p="http://schemas.openxmlformats.org/presentationml/2006/main">
  <p:tag name="THINKCELLSHAPEDONOTDELETE" val="tpTshhas4Cf3kGvnGrJ1DSA"/>
</p:tagLst>
</file>

<file path=ppt/tags/tag2381.xml><?xml version="1.0" encoding="utf-8"?>
<p:tagLst xmlns:a="http://schemas.openxmlformats.org/drawingml/2006/main" xmlns:r="http://schemas.openxmlformats.org/officeDocument/2006/relationships" xmlns:p="http://schemas.openxmlformats.org/presentationml/2006/main">
  <p:tag name="THINKCELLSHAPEDONOTDELETE" val="tASPYhMnGTVo_lKmMLHEPtQ"/>
</p:tagLst>
</file>

<file path=ppt/tags/tag2382.xml><?xml version="1.0" encoding="utf-8"?>
<p:tagLst xmlns:a="http://schemas.openxmlformats.org/drawingml/2006/main" xmlns:r="http://schemas.openxmlformats.org/officeDocument/2006/relationships" xmlns:p="http://schemas.openxmlformats.org/presentationml/2006/main">
  <p:tag name="THINKCELLSHAPEDONOTDELETE" val="tsWpvjYxZuho_EpDB9TVhdA"/>
</p:tagLst>
</file>

<file path=ppt/tags/tag2383.xml><?xml version="1.0" encoding="utf-8"?>
<p:tagLst xmlns:a="http://schemas.openxmlformats.org/drawingml/2006/main" xmlns:r="http://schemas.openxmlformats.org/officeDocument/2006/relationships" xmlns:p="http://schemas.openxmlformats.org/presentationml/2006/main">
  <p:tag name="THINKCELLSHAPEDONOTDELETE" val="t3KmNh8NQNGE2KyCndmUSsw"/>
</p:tagLst>
</file>

<file path=ppt/tags/tag238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85.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386.xml><?xml version="1.0" encoding="utf-8"?>
<p:tagLst xmlns:a="http://schemas.openxmlformats.org/drawingml/2006/main" xmlns:r="http://schemas.openxmlformats.org/officeDocument/2006/relationships" xmlns:p="http://schemas.openxmlformats.org/presentationml/2006/main">
  <p:tag name="HEADER" val="True"/>
</p:tagLst>
</file>

<file path=ppt/tags/tag2387.xml><?xml version="1.0" encoding="utf-8"?>
<p:tagLst xmlns:a="http://schemas.openxmlformats.org/drawingml/2006/main" xmlns:r="http://schemas.openxmlformats.org/officeDocument/2006/relationships" xmlns:p="http://schemas.openxmlformats.org/presentationml/2006/main">
  <p:tag name="HEADER" val="True"/>
</p:tagLst>
</file>

<file path=ppt/tags/tag2388.xml><?xml version="1.0" encoding="utf-8"?>
<p:tagLst xmlns:a="http://schemas.openxmlformats.org/drawingml/2006/main" xmlns:r="http://schemas.openxmlformats.org/officeDocument/2006/relationships" xmlns:p="http://schemas.openxmlformats.org/presentationml/2006/main">
  <p:tag name="THINKCELLSHAPEDONOTDELETE" val="tRrwVpbQvp6JqhFkRe1BB8Q"/>
</p:tagLst>
</file>

<file path=ppt/tags/tag2389.xml><?xml version="1.0" encoding="utf-8"?>
<p:tagLst xmlns:a="http://schemas.openxmlformats.org/drawingml/2006/main" xmlns:r="http://schemas.openxmlformats.org/officeDocument/2006/relationships" xmlns:p="http://schemas.openxmlformats.org/presentationml/2006/main">
  <p:tag name="THINKCELLSHAPEDONOTDELETE" val="t5OWEBLw1PZI.XraNy3kiNA"/>
</p:tagLst>
</file>

<file path=ppt/tags/tag2390.xml><?xml version="1.0" encoding="utf-8"?>
<p:tagLst xmlns:a="http://schemas.openxmlformats.org/drawingml/2006/main" xmlns:r="http://schemas.openxmlformats.org/officeDocument/2006/relationships" xmlns:p="http://schemas.openxmlformats.org/presentationml/2006/main">
  <p:tag name="THINKCELLSHAPEDONOTDELETE" val="tYn0kgFd8Vt8PXX_KXve7VA"/>
</p:tagLst>
</file>

<file path=ppt/tags/tag2391.xml><?xml version="1.0" encoding="utf-8"?>
<p:tagLst xmlns:a="http://schemas.openxmlformats.org/drawingml/2006/main" xmlns:r="http://schemas.openxmlformats.org/officeDocument/2006/relationships" xmlns:p="http://schemas.openxmlformats.org/presentationml/2006/main">
  <p:tag name="THINKCELLSHAPEDONOTDELETE" val="thTQrRIxRfqgQ6PaNord6Dg"/>
</p:tagLst>
</file>

<file path=ppt/tags/tag2392.xml><?xml version="1.0" encoding="utf-8"?>
<p:tagLst xmlns:a="http://schemas.openxmlformats.org/drawingml/2006/main" xmlns:r="http://schemas.openxmlformats.org/officeDocument/2006/relationships" xmlns:p="http://schemas.openxmlformats.org/presentationml/2006/main">
  <p:tag name="THINKCELLSHAPEDONOTDELETE" val="tH9VADFdmHAxCaQ6cf4AkyQ"/>
</p:tagLst>
</file>

<file path=ppt/tags/tag2393.xml><?xml version="1.0" encoding="utf-8"?>
<p:tagLst xmlns:a="http://schemas.openxmlformats.org/drawingml/2006/main" xmlns:r="http://schemas.openxmlformats.org/officeDocument/2006/relationships" xmlns:p="http://schemas.openxmlformats.org/presentationml/2006/main">
  <p:tag name="THINKCELLSHAPEDONOTDELETE" val="tanxDwCG2sFgH_aJNwRvErg"/>
</p:tagLst>
</file>

<file path=ppt/tags/tag2394.xml><?xml version="1.0" encoding="utf-8"?>
<p:tagLst xmlns:a="http://schemas.openxmlformats.org/drawingml/2006/main" xmlns:r="http://schemas.openxmlformats.org/officeDocument/2006/relationships" xmlns:p="http://schemas.openxmlformats.org/presentationml/2006/main">
  <p:tag name="THINKCELLSHAPEDONOTDELETE" val="tzTZI2_LBqJBAXzhrHIbvLA"/>
</p:tagLst>
</file>

<file path=ppt/tags/tag2395.xml><?xml version="1.0" encoding="utf-8"?>
<p:tagLst xmlns:a="http://schemas.openxmlformats.org/drawingml/2006/main" xmlns:r="http://schemas.openxmlformats.org/officeDocument/2006/relationships" xmlns:p="http://schemas.openxmlformats.org/presentationml/2006/main">
  <p:tag name="THINKCELLSHAPEDONOTDELETE" val="tbO4HZzRoQZyYv5sVyf8l.g"/>
</p:tagLst>
</file>

<file path=ppt/tags/tag2396.xml><?xml version="1.0" encoding="utf-8"?>
<p:tagLst xmlns:a="http://schemas.openxmlformats.org/drawingml/2006/main" xmlns:r="http://schemas.openxmlformats.org/officeDocument/2006/relationships" xmlns:p="http://schemas.openxmlformats.org/presentationml/2006/main">
  <p:tag name="THINKCELLSHAPEDONOTDELETE" val="tUq38oAqIgKl5kUGhBTQUww"/>
</p:tagLst>
</file>

<file path=ppt/tags/tag2397.xml><?xml version="1.0" encoding="utf-8"?>
<p:tagLst xmlns:a="http://schemas.openxmlformats.org/drawingml/2006/main" xmlns:r="http://schemas.openxmlformats.org/officeDocument/2006/relationships" xmlns:p="http://schemas.openxmlformats.org/presentationml/2006/main">
  <p:tag name="THINKCELLSHAPEDONOTDELETE" val="t5LPYe7g0qzN.KoqM1.wyMQ"/>
</p:tagLst>
</file>

<file path=ppt/tags/tag2398.xml><?xml version="1.0" encoding="utf-8"?>
<p:tagLst xmlns:a="http://schemas.openxmlformats.org/drawingml/2006/main" xmlns:r="http://schemas.openxmlformats.org/officeDocument/2006/relationships" xmlns:p="http://schemas.openxmlformats.org/presentationml/2006/main">
  <p:tag name="THINKCELLSHAPEDONOTDELETE" val="t7hLtvo0pbaFMyFi8_0qspQ"/>
</p:tagLst>
</file>

<file path=ppt/tags/tag2399.xml><?xml version="1.0" encoding="utf-8"?>
<p:tagLst xmlns:a="http://schemas.openxmlformats.org/drawingml/2006/main" xmlns:r="http://schemas.openxmlformats.org/officeDocument/2006/relationships" xmlns:p="http://schemas.openxmlformats.org/presentationml/2006/main">
  <p:tag name="THINKCELLSHAPEDONOTDELETE" val="th.p3feYRW8iRq7aw7onIDA"/>
</p:tagLst>
</file>

<file path=ppt/tags/tag2400.xml><?xml version="1.0" encoding="utf-8"?>
<p:tagLst xmlns:a="http://schemas.openxmlformats.org/drawingml/2006/main" xmlns:r="http://schemas.openxmlformats.org/officeDocument/2006/relationships" xmlns:p="http://schemas.openxmlformats.org/presentationml/2006/main">
  <p:tag name="THINKCELLSHAPEDONOTDELETE" val="t5LsqDsE795gfkougZVcY.A"/>
</p:tagLst>
</file>

<file path=ppt/tags/tag2401.xml><?xml version="1.0" encoding="utf-8"?>
<p:tagLst xmlns:a="http://schemas.openxmlformats.org/drawingml/2006/main" xmlns:r="http://schemas.openxmlformats.org/officeDocument/2006/relationships" xmlns:p="http://schemas.openxmlformats.org/presentationml/2006/main">
  <p:tag name="THINKCELLSHAPEDONOTDELETE" val="t1w0DhEVpxPvwjY8_oE2BEQ"/>
</p:tagLst>
</file>

<file path=ppt/tags/tag2402.xml><?xml version="1.0" encoding="utf-8"?>
<p:tagLst xmlns:a="http://schemas.openxmlformats.org/drawingml/2006/main" xmlns:r="http://schemas.openxmlformats.org/officeDocument/2006/relationships" xmlns:p="http://schemas.openxmlformats.org/presentationml/2006/main">
  <p:tag name="THINKCELLSHAPEDONOTDELETE" val="t8vxAkHwLe362mMspHaORbA"/>
</p:tagLst>
</file>

<file path=ppt/tags/tag2403.xml><?xml version="1.0" encoding="utf-8"?>
<p:tagLst xmlns:a="http://schemas.openxmlformats.org/drawingml/2006/main" xmlns:r="http://schemas.openxmlformats.org/officeDocument/2006/relationships" xmlns:p="http://schemas.openxmlformats.org/presentationml/2006/main">
  <p:tag name="THINKCELLSHAPEDONOTDELETE" val="tXRn0f_Df_wxlEZhqMHEyxQ"/>
</p:tagLst>
</file>

<file path=ppt/tags/tag2404.xml><?xml version="1.0" encoding="utf-8"?>
<p:tagLst xmlns:a="http://schemas.openxmlformats.org/drawingml/2006/main" xmlns:r="http://schemas.openxmlformats.org/officeDocument/2006/relationships" xmlns:p="http://schemas.openxmlformats.org/presentationml/2006/main">
  <p:tag name="THINKCELLSHAPEDONOTDELETE" val="t5knIEirf1ltax6sQGAODhQ"/>
</p:tagLst>
</file>

<file path=ppt/tags/tag2405.xml><?xml version="1.0" encoding="utf-8"?>
<p:tagLst xmlns:a="http://schemas.openxmlformats.org/drawingml/2006/main" xmlns:r="http://schemas.openxmlformats.org/officeDocument/2006/relationships" xmlns:p="http://schemas.openxmlformats.org/presentationml/2006/main">
  <p:tag name="THINKCELLSHAPEDONOTDELETE" val="t1UgN5maVK7SfXE.2CC1Wkw"/>
</p:tagLst>
</file>

<file path=ppt/tags/tag2406.xml><?xml version="1.0" encoding="utf-8"?>
<p:tagLst xmlns:a="http://schemas.openxmlformats.org/drawingml/2006/main" xmlns:r="http://schemas.openxmlformats.org/officeDocument/2006/relationships" xmlns:p="http://schemas.openxmlformats.org/presentationml/2006/main">
  <p:tag name="THINKCELLSHAPEDONOTDELETE" val="tKjYhYBvV_csI5uaX7cf_zg"/>
</p:tagLst>
</file>

<file path=ppt/tags/tag2407.xml><?xml version="1.0" encoding="utf-8"?>
<p:tagLst xmlns:a="http://schemas.openxmlformats.org/drawingml/2006/main" xmlns:r="http://schemas.openxmlformats.org/officeDocument/2006/relationships" xmlns:p="http://schemas.openxmlformats.org/presentationml/2006/main">
  <p:tag name="THINKCELLSHAPEDONOTDELETE" val="tvezcg2a1klJDsqaig3P8zw"/>
</p:tagLst>
</file>

<file path=ppt/tags/tag2408.xml><?xml version="1.0" encoding="utf-8"?>
<p:tagLst xmlns:a="http://schemas.openxmlformats.org/drawingml/2006/main" xmlns:r="http://schemas.openxmlformats.org/officeDocument/2006/relationships" xmlns:p="http://schemas.openxmlformats.org/presentationml/2006/main">
  <p:tag name="THINKCELLSHAPEDONOTDELETE" val="tqoma81RwnEG8pBTOp71RzA"/>
</p:tagLst>
</file>

<file path=ppt/tags/tag2409.xml><?xml version="1.0" encoding="utf-8"?>
<p:tagLst xmlns:a="http://schemas.openxmlformats.org/drawingml/2006/main" xmlns:r="http://schemas.openxmlformats.org/officeDocument/2006/relationships" xmlns:p="http://schemas.openxmlformats.org/presentationml/2006/main">
  <p:tag name="THINKCELLSHAPEDONOTDELETE" val="tSGKk6eG_cvmdzouQyfgo1w"/>
</p:tagLst>
</file>

<file path=ppt/tags/tag2410.xml><?xml version="1.0" encoding="utf-8"?>
<p:tagLst xmlns:a="http://schemas.openxmlformats.org/drawingml/2006/main" xmlns:r="http://schemas.openxmlformats.org/officeDocument/2006/relationships" xmlns:p="http://schemas.openxmlformats.org/presentationml/2006/main">
  <p:tag name="THINKCELLSHAPEDONOTDELETE" val="tpyvN_U3lONLqFG.vvBxLdQ"/>
</p:tagLst>
</file>

<file path=ppt/tags/tag2411.xml><?xml version="1.0" encoding="utf-8"?>
<p:tagLst xmlns:a="http://schemas.openxmlformats.org/drawingml/2006/main" xmlns:r="http://schemas.openxmlformats.org/officeDocument/2006/relationships" xmlns:p="http://schemas.openxmlformats.org/presentationml/2006/main">
  <p:tag name="THINKCELLSHAPEDONOTDELETE" val="t4lhc.NX3LWJmecoKwAyuaw"/>
</p:tagLst>
</file>

<file path=ppt/tags/tag2412.xml><?xml version="1.0" encoding="utf-8"?>
<p:tagLst xmlns:a="http://schemas.openxmlformats.org/drawingml/2006/main" xmlns:r="http://schemas.openxmlformats.org/officeDocument/2006/relationships" xmlns:p="http://schemas.openxmlformats.org/presentationml/2006/main">
  <p:tag name="THINKCELLSHAPEDONOTDELETE" val="tqxbGIAvAE9CHtr51rJZPlQ"/>
</p:tagLst>
</file>

<file path=ppt/tags/tag2413.xml><?xml version="1.0" encoding="utf-8"?>
<p:tagLst xmlns:a="http://schemas.openxmlformats.org/drawingml/2006/main" xmlns:r="http://schemas.openxmlformats.org/officeDocument/2006/relationships" xmlns:p="http://schemas.openxmlformats.org/presentationml/2006/main">
  <p:tag name="THINKCELLSHAPEDONOTDELETE" val="tD09YTQ4N81ySG60JQBAaSg"/>
</p:tagLst>
</file>

<file path=ppt/tags/tag2414.xml><?xml version="1.0" encoding="utf-8"?>
<p:tagLst xmlns:a="http://schemas.openxmlformats.org/drawingml/2006/main" xmlns:r="http://schemas.openxmlformats.org/officeDocument/2006/relationships" xmlns:p="http://schemas.openxmlformats.org/presentationml/2006/main">
  <p:tag name="THINKCELLSHAPEDONOTDELETE" val="tyNsEMF5KQbUn_duZ34lmuA"/>
</p:tagLst>
</file>

<file path=ppt/tags/tag24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16.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4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18.xml><?xml version="1.0" encoding="utf-8"?>
<p:tagLst xmlns:a="http://schemas.openxmlformats.org/drawingml/2006/main" xmlns:r="http://schemas.openxmlformats.org/officeDocument/2006/relationships" xmlns:p="http://schemas.openxmlformats.org/presentationml/2006/main">
  <p:tag name="THINKCELLSHAPEDONOTDELETE" val="tIa0EHbw.vx9kXPxri8Fa3A"/>
</p:tagLst>
</file>

<file path=ppt/tags/tag2419.xml><?xml version="1.0" encoding="utf-8"?>
<p:tagLst xmlns:a="http://schemas.openxmlformats.org/drawingml/2006/main" xmlns:r="http://schemas.openxmlformats.org/officeDocument/2006/relationships" xmlns:p="http://schemas.openxmlformats.org/presentationml/2006/main">
  <p:tag name="HEADER" val="True"/>
</p:tagLst>
</file>

<file path=ppt/tags/tag24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21.xml><?xml version="1.0" encoding="utf-8"?>
<p:tagLst xmlns:a="http://schemas.openxmlformats.org/drawingml/2006/main" xmlns:r="http://schemas.openxmlformats.org/officeDocument/2006/relationships" xmlns:p="http://schemas.openxmlformats.org/presentationml/2006/main">
  <p:tag name="THINKCELLSHAPEDONOTDELETE" val="tIa0EHbw.vx9kXPxri8Fa3A"/>
</p:tagLst>
</file>

<file path=ppt/tags/tag2422.xml><?xml version="1.0" encoding="utf-8"?>
<p:tagLst xmlns:a="http://schemas.openxmlformats.org/drawingml/2006/main" xmlns:r="http://schemas.openxmlformats.org/officeDocument/2006/relationships" xmlns:p="http://schemas.openxmlformats.org/presentationml/2006/main">
  <p:tag name="HEADER" val="True"/>
</p:tagLst>
</file>

<file path=ppt/tags/tag24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24.xml><?xml version="1.0" encoding="utf-8"?>
<p:tagLst xmlns:a="http://schemas.openxmlformats.org/drawingml/2006/main" xmlns:r="http://schemas.openxmlformats.org/officeDocument/2006/relationships" xmlns:p="http://schemas.openxmlformats.org/presentationml/2006/main">
  <p:tag name="THINKCELLSHAPEDONOTDELETE" val="t.WK8nofGjKb3Y8R5ZuBTwA"/>
</p:tagLst>
</file>

<file path=ppt/tags/tag2425.xml><?xml version="1.0" encoding="utf-8"?>
<p:tagLst xmlns:a="http://schemas.openxmlformats.org/drawingml/2006/main" xmlns:r="http://schemas.openxmlformats.org/officeDocument/2006/relationships" xmlns:p="http://schemas.openxmlformats.org/presentationml/2006/main">
  <p:tag name="HEADER" val="True"/>
</p:tagLst>
</file>

<file path=ppt/tags/tag24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27.xml><?xml version="1.0" encoding="utf-8"?>
<p:tagLst xmlns:a="http://schemas.openxmlformats.org/drawingml/2006/main" xmlns:r="http://schemas.openxmlformats.org/officeDocument/2006/relationships" xmlns:p="http://schemas.openxmlformats.org/presentationml/2006/main">
  <p:tag name="THINKCELLSHAPEDONOTDELETE" val="tgZrZLQNLba_OaLzTnoNULw"/>
</p:tagLst>
</file>

<file path=ppt/tags/tag2428.xml><?xml version="1.0" encoding="utf-8"?>
<p:tagLst xmlns:a="http://schemas.openxmlformats.org/drawingml/2006/main" xmlns:r="http://schemas.openxmlformats.org/officeDocument/2006/relationships" xmlns:p="http://schemas.openxmlformats.org/presentationml/2006/main">
  <p:tag name="HEADER" val="True"/>
</p:tagLst>
</file>

<file path=ppt/tags/tag2429.xml><?xml version="1.0" encoding="utf-8"?>
<p:tagLst xmlns:a="http://schemas.openxmlformats.org/drawingml/2006/main" xmlns:r="http://schemas.openxmlformats.org/officeDocument/2006/relationships" xmlns:p="http://schemas.openxmlformats.org/presentationml/2006/main">
  <p:tag name="HEADER" val="True"/>
</p:tagLst>
</file>

<file path=ppt/tags/tag2430.xml><?xml version="1.0" encoding="utf-8"?>
<p:tagLst xmlns:a="http://schemas.openxmlformats.org/drawingml/2006/main" xmlns:r="http://schemas.openxmlformats.org/officeDocument/2006/relationships" xmlns:p="http://schemas.openxmlformats.org/presentationml/2006/main">
  <p:tag name="THINKCELLSHAPEDONOTDELETE" val="tzqlD62XYB1JAUnsZGKGw9A"/>
</p:tagLst>
</file>

<file path=ppt/tags/tag2431.xml><?xml version="1.0" encoding="utf-8"?>
<p:tagLst xmlns:a="http://schemas.openxmlformats.org/drawingml/2006/main" xmlns:r="http://schemas.openxmlformats.org/officeDocument/2006/relationships" xmlns:p="http://schemas.openxmlformats.org/presentationml/2006/main">
  <p:tag name="THINKCELLSHAPEDONOTDELETE" val="tYP7oqRbcTMNAkwSk6nPz1A"/>
</p:tagLst>
</file>

<file path=ppt/tags/tag2432.xml><?xml version="1.0" encoding="utf-8"?>
<p:tagLst xmlns:a="http://schemas.openxmlformats.org/drawingml/2006/main" xmlns:r="http://schemas.openxmlformats.org/officeDocument/2006/relationships" xmlns:p="http://schemas.openxmlformats.org/presentationml/2006/main">
  <p:tag name="THINKCELLSHAPEDONOTDELETE" val="tXKrZhJ_Amx_4wKFgM8U7ng"/>
</p:tagLst>
</file>

<file path=ppt/tags/tag2433.xml><?xml version="1.0" encoding="utf-8"?>
<p:tagLst xmlns:a="http://schemas.openxmlformats.org/drawingml/2006/main" xmlns:r="http://schemas.openxmlformats.org/officeDocument/2006/relationships" xmlns:p="http://schemas.openxmlformats.org/presentationml/2006/main">
  <p:tag name="THINKCELLSHAPEDONOTDELETE" val="tFjNoEaklf1GTZRwsV5N_AA"/>
</p:tagLst>
</file>

<file path=ppt/tags/tag2434.xml><?xml version="1.0" encoding="utf-8"?>
<p:tagLst xmlns:a="http://schemas.openxmlformats.org/drawingml/2006/main" xmlns:r="http://schemas.openxmlformats.org/officeDocument/2006/relationships" xmlns:p="http://schemas.openxmlformats.org/presentationml/2006/main">
  <p:tag name="THINKCELLSHAPEDONOTDELETE" val="tjk2YQpNH.przjNDB0yBuAQ"/>
</p:tagLst>
</file>

<file path=ppt/tags/tag2435.xml><?xml version="1.0" encoding="utf-8"?>
<p:tagLst xmlns:a="http://schemas.openxmlformats.org/drawingml/2006/main" xmlns:r="http://schemas.openxmlformats.org/officeDocument/2006/relationships" xmlns:p="http://schemas.openxmlformats.org/presentationml/2006/main">
  <p:tag name="THINKCELLSHAPEDONOTDELETE" val="ty9NlOW1JUyTSk6gko6D8vw"/>
</p:tagLst>
</file>

<file path=ppt/tags/tag2436.xml><?xml version="1.0" encoding="utf-8"?>
<p:tagLst xmlns:a="http://schemas.openxmlformats.org/drawingml/2006/main" xmlns:r="http://schemas.openxmlformats.org/officeDocument/2006/relationships" xmlns:p="http://schemas.openxmlformats.org/presentationml/2006/main">
  <p:tag name="THINKCELLSHAPEDONOTDELETE" val="tC0EJaDYFNswx9L8egMN.Mg"/>
</p:tagLst>
</file>

<file path=ppt/tags/tag2437.xml><?xml version="1.0" encoding="utf-8"?>
<p:tagLst xmlns:a="http://schemas.openxmlformats.org/drawingml/2006/main" xmlns:r="http://schemas.openxmlformats.org/officeDocument/2006/relationships" xmlns:p="http://schemas.openxmlformats.org/presentationml/2006/main">
  <p:tag name="THINKCELLSHAPEDONOTDELETE" val="tvCww.q4BgvLK5hvzDfFmng"/>
</p:tagLst>
</file>

<file path=ppt/tags/tag2438.xml><?xml version="1.0" encoding="utf-8"?>
<p:tagLst xmlns:a="http://schemas.openxmlformats.org/drawingml/2006/main" xmlns:r="http://schemas.openxmlformats.org/officeDocument/2006/relationships" xmlns:p="http://schemas.openxmlformats.org/presentationml/2006/main">
  <p:tag name="THINKCELLSHAPEDONOTDELETE" val="tILplt_kHcx93zlJqhVBjfA"/>
</p:tagLst>
</file>

<file path=ppt/tags/tag2439.xml><?xml version="1.0" encoding="utf-8"?>
<p:tagLst xmlns:a="http://schemas.openxmlformats.org/drawingml/2006/main" xmlns:r="http://schemas.openxmlformats.org/officeDocument/2006/relationships" xmlns:p="http://schemas.openxmlformats.org/presentationml/2006/main">
  <p:tag name="THINKCELLSHAPEDONOTDELETE" val="t4dgBGgidpNkXcak_i2v9lA"/>
</p:tagLst>
</file>

<file path=ppt/tags/tag2440.xml><?xml version="1.0" encoding="utf-8"?>
<p:tagLst xmlns:a="http://schemas.openxmlformats.org/drawingml/2006/main" xmlns:r="http://schemas.openxmlformats.org/officeDocument/2006/relationships" xmlns:p="http://schemas.openxmlformats.org/presentationml/2006/main">
  <p:tag name="THINKCELLSHAPEDONOTDELETE" val="tQYQpbfFqz1Ifc2XVKMwtHg"/>
</p:tagLst>
</file>

<file path=ppt/tags/tag2441.xml><?xml version="1.0" encoding="utf-8"?>
<p:tagLst xmlns:a="http://schemas.openxmlformats.org/drawingml/2006/main" xmlns:r="http://schemas.openxmlformats.org/officeDocument/2006/relationships" xmlns:p="http://schemas.openxmlformats.org/presentationml/2006/main">
  <p:tag name="THINKCELLSHAPEDONOTDELETE" val="tJVJZn_NTnRs85e.WhfhGXA"/>
</p:tagLst>
</file>

<file path=ppt/tags/tag2442.xml><?xml version="1.0" encoding="utf-8"?>
<p:tagLst xmlns:a="http://schemas.openxmlformats.org/drawingml/2006/main" xmlns:r="http://schemas.openxmlformats.org/officeDocument/2006/relationships" xmlns:p="http://schemas.openxmlformats.org/presentationml/2006/main">
  <p:tag name="THINKCELLSHAPEDONOTDELETE" val="toOiWsgTG7r0tnmc5h6qrnQ"/>
</p:tagLst>
</file>

<file path=ppt/tags/tag2443.xml><?xml version="1.0" encoding="utf-8"?>
<p:tagLst xmlns:a="http://schemas.openxmlformats.org/drawingml/2006/main" xmlns:r="http://schemas.openxmlformats.org/officeDocument/2006/relationships" xmlns:p="http://schemas.openxmlformats.org/presentationml/2006/main">
  <p:tag name="THINKCELLSHAPEDONOTDELETE" val="tjHthPTkUCcoEnxS9SNipdw"/>
</p:tagLst>
</file>

<file path=ppt/tags/tag2444.xml><?xml version="1.0" encoding="utf-8"?>
<p:tagLst xmlns:a="http://schemas.openxmlformats.org/drawingml/2006/main" xmlns:r="http://schemas.openxmlformats.org/officeDocument/2006/relationships" xmlns:p="http://schemas.openxmlformats.org/presentationml/2006/main">
  <p:tag name="THINKCELLSHAPEDONOTDELETE" val="thnOYQWB2aff1BzluuE.pFQ"/>
</p:tagLst>
</file>

<file path=ppt/tags/tag2445.xml><?xml version="1.0" encoding="utf-8"?>
<p:tagLst xmlns:a="http://schemas.openxmlformats.org/drawingml/2006/main" xmlns:r="http://schemas.openxmlformats.org/officeDocument/2006/relationships" xmlns:p="http://schemas.openxmlformats.org/presentationml/2006/main">
  <p:tag name="THINKCELLSHAPEDONOTDELETE" val="tk8fR6RJZvl.4OuAfmL.eLg"/>
</p:tagLst>
</file>

<file path=ppt/tags/tag2446.xml><?xml version="1.0" encoding="utf-8"?>
<p:tagLst xmlns:a="http://schemas.openxmlformats.org/drawingml/2006/main" xmlns:r="http://schemas.openxmlformats.org/officeDocument/2006/relationships" xmlns:p="http://schemas.openxmlformats.org/presentationml/2006/main">
  <p:tag name="THINKCELLSHAPEDONOTDELETE" val="tTMwSMZJN1vJYK5HOfsLcag"/>
</p:tagLst>
</file>

<file path=ppt/tags/tag2447.xml><?xml version="1.0" encoding="utf-8"?>
<p:tagLst xmlns:a="http://schemas.openxmlformats.org/drawingml/2006/main" xmlns:r="http://schemas.openxmlformats.org/officeDocument/2006/relationships" xmlns:p="http://schemas.openxmlformats.org/presentationml/2006/main">
  <p:tag name="THINKCELLSHAPEDONOTDELETE" val="tF_rNLrL74Acjc_5v3thgFw"/>
</p:tagLst>
</file>

<file path=ppt/tags/tag2448.xml><?xml version="1.0" encoding="utf-8"?>
<p:tagLst xmlns:a="http://schemas.openxmlformats.org/drawingml/2006/main" xmlns:r="http://schemas.openxmlformats.org/officeDocument/2006/relationships" xmlns:p="http://schemas.openxmlformats.org/presentationml/2006/main">
  <p:tag name="THINKCELLSHAPEDONOTDELETE" val="tkHfpyluXQuBsQJBubLzf3w"/>
</p:tagLst>
</file>

<file path=ppt/tags/tag244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50.xml><?xml version="1.0" encoding="utf-8"?>
<p:tagLst xmlns:a="http://schemas.openxmlformats.org/drawingml/2006/main" xmlns:r="http://schemas.openxmlformats.org/officeDocument/2006/relationships" xmlns:p="http://schemas.openxmlformats.org/presentationml/2006/main">
  <p:tag name="THINKCELLSHAPEDONOTDELETE" val="tpP3Nv50vAp_6xr_b2ZASZQ"/>
</p:tagLst>
</file>

<file path=ppt/tags/tag2451.xml><?xml version="1.0" encoding="utf-8"?>
<p:tagLst xmlns:a="http://schemas.openxmlformats.org/drawingml/2006/main" xmlns:r="http://schemas.openxmlformats.org/officeDocument/2006/relationships" xmlns:p="http://schemas.openxmlformats.org/presentationml/2006/main">
  <p:tag name="HEADER" val="True"/>
</p:tagLst>
</file>

<file path=ppt/tags/tag2452.xml><?xml version="1.0" encoding="utf-8"?>
<p:tagLst xmlns:a="http://schemas.openxmlformats.org/drawingml/2006/main" xmlns:r="http://schemas.openxmlformats.org/officeDocument/2006/relationships" xmlns:p="http://schemas.openxmlformats.org/presentationml/2006/main">
  <p:tag name="HEADER" val="True"/>
</p:tagLst>
</file>

<file path=ppt/tags/tag2453.xml><?xml version="1.0" encoding="utf-8"?>
<p:tagLst xmlns:a="http://schemas.openxmlformats.org/drawingml/2006/main" xmlns:r="http://schemas.openxmlformats.org/officeDocument/2006/relationships" xmlns:p="http://schemas.openxmlformats.org/presentationml/2006/main">
  <p:tag name="THINKCELLSHAPEDONOTDELETE" val="t6phrFWRKes3O7i0pJC9kYQ"/>
</p:tagLst>
</file>

<file path=ppt/tags/tag2454.xml><?xml version="1.0" encoding="utf-8"?>
<p:tagLst xmlns:a="http://schemas.openxmlformats.org/drawingml/2006/main" xmlns:r="http://schemas.openxmlformats.org/officeDocument/2006/relationships" xmlns:p="http://schemas.openxmlformats.org/presentationml/2006/main">
  <p:tag name="THINKCELLSHAPEDONOTDELETE" val="tEl0EssAYGP_r_Ww1Auzf9g"/>
</p:tagLst>
</file>

<file path=ppt/tags/tag2455.xml><?xml version="1.0" encoding="utf-8"?>
<p:tagLst xmlns:a="http://schemas.openxmlformats.org/drawingml/2006/main" xmlns:r="http://schemas.openxmlformats.org/officeDocument/2006/relationships" xmlns:p="http://schemas.openxmlformats.org/presentationml/2006/main">
  <p:tag name="THINKCELLSHAPEDONOTDELETE" val="tYNX6VgtpWapqNtNLApwUDg"/>
</p:tagLst>
</file>

<file path=ppt/tags/tag2456.xml><?xml version="1.0" encoding="utf-8"?>
<p:tagLst xmlns:a="http://schemas.openxmlformats.org/drawingml/2006/main" xmlns:r="http://schemas.openxmlformats.org/officeDocument/2006/relationships" xmlns:p="http://schemas.openxmlformats.org/presentationml/2006/main">
  <p:tag name="THINKCELLSHAPEDONOTDELETE" val="tPYH7YWv5e4_P1dmvowpfEQ"/>
</p:tagLst>
</file>

<file path=ppt/tags/tag2457.xml><?xml version="1.0" encoding="utf-8"?>
<p:tagLst xmlns:a="http://schemas.openxmlformats.org/drawingml/2006/main" xmlns:r="http://schemas.openxmlformats.org/officeDocument/2006/relationships" xmlns:p="http://schemas.openxmlformats.org/presentationml/2006/main">
  <p:tag name="THINKCELLSHAPEDONOTDELETE" val="t2zUQxd5wQ3dwWI18Cg7hnA"/>
</p:tagLst>
</file>

<file path=ppt/tags/tag2458.xml><?xml version="1.0" encoding="utf-8"?>
<p:tagLst xmlns:a="http://schemas.openxmlformats.org/drawingml/2006/main" xmlns:r="http://schemas.openxmlformats.org/officeDocument/2006/relationships" xmlns:p="http://schemas.openxmlformats.org/presentationml/2006/main">
  <p:tag name="THINKCELLSHAPEDONOTDELETE" val="tqZ.Y4FK_BkXyr7VODrXPTw"/>
</p:tagLst>
</file>

<file path=ppt/tags/tag2459.xml><?xml version="1.0" encoding="utf-8"?>
<p:tagLst xmlns:a="http://schemas.openxmlformats.org/drawingml/2006/main" xmlns:r="http://schemas.openxmlformats.org/officeDocument/2006/relationships" xmlns:p="http://schemas.openxmlformats.org/presentationml/2006/main">
  <p:tag name="THINKCELLSHAPEDONOTDELETE" val="tnZxD46lWeDEoiIFdUuyg4w"/>
</p:tagLst>
</file>

<file path=ppt/tags/tag2460.xml><?xml version="1.0" encoding="utf-8"?>
<p:tagLst xmlns:a="http://schemas.openxmlformats.org/drawingml/2006/main" xmlns:r="http://schemas.openxmlformats.org/officeDocument/2006/relationships" xmlns:p="http://schemas.openxmlformats.org/presentationml/2006/main">
  <p:tag name="THINKCELLSHAPEDONOTDELETE" val="t41FqnPV6rrbsmwAk_86Wqg"/>
</p:tagLst>
</file>

<file path=ppt/tags/tag2461.xml><?xml version="1.0" encoding="utf-8"?>
<p:tagLst xmlns:a="http://schemas.openxmlformats.org/drawingml/2006/main" xmlns:r="http://schemas.openxmlformats.org/officeDocument/2006/relationships" xmlns:p="http://schemas.openxmlformats.org/presentationml/2006/main">
  <p:tag name="THINKCELLSHAPEDONOTDELETE" val="tnUo4ibA5bKv8bHlTbX3Z9g"/>
</p:tagLst>
</file>

<file path=ppt/tags/tag2462.xml><?xml version="1.0" encoding="utf-8"?>
<p:tagLst xmlns:a="http://schemas.openxmlformats.org/drawingml/2006/main" xmlns:r="http://schemas.openxmlformats.org/officeDocument/2006/relationships" xmlns:p="http://schemas.openxmlformats.org/presentationml/2006/main">
  <p:tag name="THINKCELLSHAPEDONOTDELETE" val="tw.FjyZIqIjPril2EllINLA"/>
</p:tagLst>
</file>

<file path=ppt/tags/tag2463.xml><?xml version="1.0" encoding="utf-8"?>
<p:tagLst xmlns:a="http://schemas.openxmlformats.org/drawingml/2006/main" xmlns:r="http://schemas.openxmlformats.org/officeDocument/2006/relationships" xmlns:p="http://schemas.openxmlformats.org/presentationml/2006/main">
  <p:tag name="THINKCELLSHAPEDONOTDELETE" val="tUL2K64q.FX55akI0uivU_Q"/>
</p:tagLst>
</file>

<file path=ppt/tags/tag2464.xml><?xml version="1.0" encoding="utf-8"?>
<p:tagLst xmlns:a="http://schemas.openxmlformats.org/drawingml/2006/main" xmlns:r="http://schemas.openxmlformats.org/officeDocument/2006/relationships" xmlns:p="http://schemas.openxmlformats.org/presentationml/2006/main">
  <p:tag name="THINKCELLSHAPEDONOTDELETE" val="tzTONm__Tc5qyWqkm.gHLSQ"/>
</p:tagLst>
</file>

<file path=ppt/tags/tag2465.xml><?xml version="1.0" encoding="utf-8"?>
<p:tagLst xmlns:a="http://schemas.openxmlformats.org/drawingml/2006/main" xmlns:r="http://schemas.openxmlformats.org/officeDocument/2006/relationships" xmlns:p="http://schemas.openxmlformats.org/presentationml/2006/main">
  <p:tag name="THINKCELLSHAPEDONOTDELETE" val="tESAjXR9aI86UhHW839Y5KA"/>
</p:tagLst>
</file>

<file path=ppt/tags/tag2466.xml><?xml version="1.0" encoding="utf-8"?>
<p:tagLst xmlns:a="http://schemas.openxmlformats.org/drawingml/2006/main" xmlns:r="http://schemas.openxmlformats.org/officeDocument/2006/relationships" xmlns:p="http://schemas.openxmlformats.org/presentationml/2006/main">
  <p:tag name="THINKCELLSHAPEDONOTDELETE" val="tjjNFvxqJ3IGr4XNyoAX0eg"/>
</p:tagLst>
</file>

<file path=ppt/tags/tag246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68.xml><?xml version="1.0" encoding="utf-8"?>
<p:tagLst xmlns:a="http://schemas.openxmlformats.org/drawingml/2006/main" xmlns:r="http://schemas.openxmlformats.org/officeDocument/2006/relationships" xmlns:p="http://schemas.openxmlformats.org/presentationml/2006/main">
  <p:tag name="THINKCELLSHAPEDONOTDELETE" val="tRRRTsfiMqZLh9VRi.urS.Q"/>
</p:tagLst>
</file>

<file path=ppt/tags/tag2469.xml><?xml version="1.0" encoding="utf-8"?>
<p:tagLst xmlns:a="http://schemas.openxmlformats.org/drawingml/2006/main" xmlns:r="http://schemas.openxmlformats.org/officeDocument/2006/relationships" xmlns:p="http://schemas.openxmlformats.org/presentationml/2006/main">
  <p:tag name="HEADER" val="True"/>
</p:tagLst>
</file>

<file path=ppt/tags/tag2470.xml><?xml version="1.0" encoding="utf-8"?>
<p:tagLst xmlns:a="http://schemas.openxmlformats.org/drawingml/2006/main" xmlns:r="http://schemas.openxmlformats.org/officeDocument/2006/relationships" xmlns:p="http://schemas.openxmlformats.org/presentationml/2006/main">
  <p:tag name="HEADER" val="True"/>
</p:tagLst>
</file>

<file path=ppt/tags/tag2471.xml><?xml version="1.0" encoding="utf-8"?>
<p:tagLst xmlns:a="http://schemas.openxmlformats.org/drawingml/2006/main" xmlns:r="http://schemas.openxmlformats.org/officeDocument/2006/relationships" xmlns:p="http://schemas.openxmlformats.org/presentationml/2006/main">
  <p:tag name="THINKCELLSHAPEDONOTDELETE" val="tYpzavxG8E3yAH1odSF5xhQ"/>
</p:tagLst>
</file>

<file path=ppt/tags/tag2472.xml><?xml version="1.0" encoding="utf-8"?>
<p:tagLst xmlns:a="http://schemas.openxmlformats.org/drawingml/2006/main" xmlns:r="http://schemas.openxmlformats.org/officeDocument/2006/relationships" xmlns:p="http://schemas.openxmlformats.org/presentationml/2006/main">
  <p:tag name="THINKCELLSHAPEDONOTDELETE" val="tP6rHVnYiFIlcA6SxlNWnNg"/>
</p:tagLst>
</file>

<file path=ppt/tags/tag2473.xml><?xml version="1.0" encoding="utf-8"?>
<p:tagLst xmlns:a="http://schemas.openxmlformats.org/drawingml/2006/main" xmlns:r="http://schemas.openxmlformats.org/officeDocument/2006/relationships" xmlns:p="http://schemas.openxmlformats.org/presentationml/2006/main">
  <p:tag name="THINKCELLSHAPEDONOTDELETE" val="tQdRce8Av_bhGR.1kiMBvmw"/>
</p:tagLst>
</file>

<file path=ppt/tags/tag2474.xml><?xml version="1.0" encoding="utf-8"?>
<p:tagLst xmlns:a="http://schemas.openxmlformats.org/drawingml/2006/main" xmlns:r="http://schemas.openxmlformats.org/officeDocument/2006/relationships" xmlns:p="http://schemas.openxmlformats.org/presentationml/2006/main">
  <p:tag name="THINKCELLSHAPEDONOTDELETE" val="t53DcxnWQpcjmM6UJFP_ylg"/>
</p:tagLst>
</file>

<file path=ppt/tags/tag2475.xml><?xml version="1.0" encoding="utf-8"?>
<p:tagLst xmlns:a="http://schemas.openxmlformats.org/drawingml/2006/main" xmlns:r="http://schemas.openxmlformats.org/officeDocument/2006/relationships" xmlns:p="http://schemas.openxmlformats.org/presentationml/2006/main">
  <p:tag name="THINKCELLSHAPEDONOTDELETE" val="t.BCXEn7UqBNWP5blnfTJSQ"/>
</p:tagLst>
</file>

<file path=ppt/tags/tag2476.xml><?xml version="1.0" encoding="utf-8"?>
<p:tagLst xmlns:a="http://schemas.openxmlformats.org/drawingml/2006/main" xmlns:r="http://schemas.openxmlformats.org/officeDocument/2006/relationships" xmlns:p="http://schemas.openxmlformats.org/presentationml/2006/main">
  <p:tag name="THINKCELLSHAPEDONOTDELETE" val="tK2_otCQOp0ylhpusejTYFg"/>
</p:tagLst>
</file>

<file path=ppt/tags/tag2477.xml><?xml version="1.0" encoding="utf-8"?>
<p:tagLst xmlns:a="http://schemas.openxmlformats.org/drawingml/2006/main" xmlns:r="http://schemas.openxmlformats.org/officeDocument/2006/relationships" xmlns:p="http://schemas.openxmlformats.org/presentationml/2006/main">
  <p:tag name="THINKCELLSHAPEDONOTDELETE" val="ty5MS_p6CAEvDiaM.5LX5tg"/>
</p:tagLst>
</file>

<file path=ppt/tags/tag2478.xml><?xml version="1.0" encoding="utf-8"?>
<p:tagLst xmlns:a="http://schemas.openxmlformats.org/drawingml/2006/main" xmlns:r="http://schemas.openxmlformats.org/officeDocument/2006/relationships" xmlns:p="http://schemas.openxmlformats.org/presentationml/2006/main">
  <p:tag name="THINKCELLSHAPEDONOTDELETE" val="tKfeQcF9uD8cgDIOE7s4aPg"/>
</p:tagLst>
</file>

<file path=ppt/tags/tag247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80.xml><?xml version="1.0" encoding="utf-8"?>
<p:tagLst xmlns:a="http://schemas.openxmlformats.org/drawingml/2006/main" xmlns:r="http://schemas.openxmlformats.org/officeDocument/2006/relationships" xmlns:p="http://schemas.openxmlformats.org/presentationml/2006/main">
  <p:tag name="THINKCELLSHAPEDONOTDELETE" val="tdNDvO5wHBfOUh5k7Ca6klQ"/>
</p:tagLst>
</file>

<file path=ppt/tags/tag2481.xml><?xml version="1.0" encoding="utf-8"?>
<p:tagLst xmlns:a="http://schemas.openxmlformats.org/drawingml/2006/main" xmlns:r="http://schemas.openxmlformats.org/officeDocument/2006/relationships" xmlns:p="http://schemas.openxmlformats.org/presentationml/2006/main">
  <p:tag name="HEADER" val="True"/>
</p:tagLst>
</file>

<file path=ppt/tags/tag2482.xml><?xml version="1.0" encoding="utf-8"?>
<p:tagLst xmlns:a="http://schemas.openxmlformats.org/drawingml/2006/main" xmlns:r="http://schemas.openxmlformats.org/officeDocument/2006/relationships" xmlns:p="http://schemas.openxmlformats.org/presentationml/2006/main">
  <p:tag name="HEADER" val="True"/>
</p:tagLst>
</file>

<file path=ppt/tags/tag2483.xml><?xml version="1.0" encoding="utf-8"?>
<p:tagLst xmlns:a="http://schemas.openxmlformats.org/drawingml/2006/main" xmlns:r="http://schemas.openxmlformats.org/officeDocument/2006/relationships" xmlns:p="http://schemas.openxmlformats.org/presentationml/2006/main">
  <p:tag name="THINKCELLSHAPEDONOTDELETE" val="tUaP28.nZxJrwjw1QfH_vEQ"/>
</p:tagLst>
</file>

<file path=ppt/tags/tag2484.xml><?xml version="1.0" encoding="utf-8"?>
<p:tagLst xmlns:a="http://schemas.openxmlformats.org/drawingml/2006/main" xmlns:r="http://schemas.openxmlformats.org/officeDocument/2006/relationships" xmlns:p="http://schemas.openxmlformats.org/presentationml/2006/main">
  <p:tag name="THINKCELLSHAPEDONOTDELETE" val="t8lpTGav4kFHBXDVPwQpaDw"/>
</p:tagLst>
</file>

<file path=ppt/tags/tag2485.xml><?xml version="1.0" encoding="utf-8"?>
<p:tagLst xmlns:a="http://schemas.openxmlformats.org/drawingml/2006/main" xmlns:r="http://schemas.openxmlformats.org/officeDocument/2006/relationships" xmlns:p="http://schemas.openxmlformats.org/presentationml/2006/main">
  <p:tag name="THINKCELLSHAPEDONOTDELETE" val="tx2xLsxd5sQYNSt8_Mo3TQg"/>
</p:tagLst>
</file>

<file path=ppt/tags/tag2486.xml><?xml version="1.0" encoding="utf-8"?>
<p:tagLst xmlns:a="http://schemas.openxmlformats.org/drawingml/2006/main" xmlns:r="http://schemas.openxmlformats.org/officeDocument/2006/relationships" xmlns:p="http://schemas.openxmlformats.org/presentationml/2006/main">
  <p:tag name="THINKCELLSHAPEDONOTDELETE" val="tFY.WseJhxrgeo3zDsUOyZQ"/>
</p:tagLst>
</file>

<file path=ppt/tags/tag2487.xml><?xml version="1.0" encoding="utf-8"?>
<p:tagLst xmlns:a="http://schemas.openxmlformats.org/drawingml/2006/main" xmlns:r="http://schemas.openxmlformats.org/officeDocument/2006/relationships" xmlns:p="http://schemas.openxmlformats.org/presentationml/2006/main">
  <p:tag name="THINKCELLSHAPEDONOTDELETE" val="tWzG7s3n_MXl7x0D.Tl0dXQ"/>
</p:tagLst>
</file>

<file path=ppt/tags/tag2488.xml><?xml version="1.0" encoding="utf-8"?>
<p:tagLst xmlns:a="http://schemas.openxmlformats.org/drawingml/2006/main" xmlns:r="http://schemas.openxmlformats.org/officeDocument/2006/relationships" xmlns:p="http://schemas.openxmlformats.org/presentationml/2006/main">
  <p:tag name="THINKCELLSHAPEDONOTDELETE" val="tG1Ynu0WK4LyvyIjrX8JZIA"/>
</p:tagLst>
</file>

<file path=ppt/tags/tag2489.xml><?xml version="1.0" encoding="utf-8"?>
<p:tagLst xmlns:a="http://schemas.openxmlformats.org/drawingml/2006/main" xmlns:r="http://schemas.openxmlformats.org/officeDocument/2006/relationships" xmlns:p="http://schemas.openxmlformats.org/presentationml/2006/main">
  <p:tag name="THINKCELLSHAPEDONOTDELETE" val="t1rMrkN_wbJeYUvBqI.YSvA"/>
</p:tagLst>
</file>

<file path=ppt/tags/tag2490.xml><?xml version="1.0" encoding="utf-8"?>
<p:tagLst xmlns:a="http://schemas.openxmlformats.org/drawingml/2006/main" xmlns:r="http://schemas.openxmlformats.org/officeDocument/2006/relationships" xmlns:p="http://schemas.openxmlformats.org/presentationml/2006/main">
  <p:tag name="THINKCELLSHAPEDONOTDELETE" val="tPj98RXQ4tc1Jj7Sjxw2xQA"/>
</p:tagLst>
</file>

<file path=ppt/tags/tag2491.xml><?xml version="1.0" encoding="utf-8"?>
<p:tagLst xmlns:a="http://schemas.openxmlformats.org/drawingml/2006/main" xmlns:r="http://schemas.openxmlformats.org/officeDocument/2006/relationships" xmlns:p="http://schemas.openxmlformats.org/presentationml/2006/main">
  <p:tag name="THINKCELLSHAPEDONOTDELETE" val="toc97Q.c.oYL_Ad3lNBxEoA"/>
</p:tagLst>
</file>

<file path=ppt/tags/tag2492.xml><?xml version="1.0" encoding="utf-8"?>
<p:tagLst xmlns:a="http://schemas.openxmlformats.org/drawingml/2006/main" xmlns:r="http://schemas.openxmlformats.org/officeDocument/2006/relationships" xmlns:p="http://schemas.openxmlformats.org/presentationml/2006/main">
  <p:tag name="THINKCELLSHAPEDONOTDELETE" val="tdbtjw6zEx1e7VILyb3ssqg"/>
</p:tagLst>
</file>

<file path=ppt/tags/tag2493.xml><?xml version="1.0" encoding="utf-8"?>
<p:tagLst xmlns:a="http://schemas.openxmlformats.org/drawingml/2006/main" xmlns:r="http://schemas.openxmlformats.org/officeDocument/2006/relationships" xmlns:p="http://schemas.openxmlformats.org/presentationml/2006/main">
  <p:tag name="THINKCELLSHAPEDONOTDELETE" val="t.2HjbFDfnyd.e3GGurKibA"/>
</p:tagLst>
</file>

<file path=ppt/tags/tag2494.xml><?xml version="1.0" encoding="utf-8"?>
<p:tagLst xmlns:a="http://schemas.openxmlformats.org/drawingml/2006/main" xmlns:r="http://schemas.openxmlformats.org/officeDocument/2006/relationships" xmlns:p="http://schemas.openxmlformats.org/presentationml/2006/main">
  <p:tag name="THINKCELLSHAPEDONOTDELETE" val="tAjX_AowBuAoZU0hKfNnjLA"/>
</p:tagLst>
</file>

<file path=ppt/tags/tag2495.xml><?xml version="1.0" encoding="utf-8"?>
<p:tagLst xmlns:a="http://schemas.openxmlformats.org/drawingml/2006/main" xmlns:r="http://schemas.openxmlformats.org/officeDocument/2006/relationships" xmlns:p="http://schemas.openxmlformats.org/presentationml/2006/main">
  <p:tag name="THINKCELLSHAPEDONOTDELETE" val="t89cV8jaQj_4jgMkDq3YlZA"/>
</p:tagLst>
</file>

<file path=ppt/tags/tag2496.xml><?xml version="1.0" encoding="utf-8"?>
<p:tagLst xmlns:a="http://schemas.openxmlformats.org/drawingml/2006/main" xmlns:r="http://schemas.openxmlformats.org/officeDocument/2006/relationships" xmlns:p="http://schemas.openxmlformats.org/presentationml/2006/main">
  <p:tag name="THINKCELLSHAPEDONOTDELETE" val="tKapMKgVPTsHVI.YHsLAECQ"/>
</p:tagLst>
</file>

<file path=ppt/tags/tag2497.xml><?xml version="1.0" encoding="utf-8"?>
<p:tagLst xmlns:a="http://schemas.openxmlformats.org/drawingml/2006/main" xmlns:r="http://schemas.openxmlformats.org/officeDocument/2006/relationships" xmlns:p="http://schemas.openxmlformats.org/presentationml/2006/main">
  <p:tag name="THINKCELLSHAPEDONOTDELETE" val="tz1v9VA7phCO206hakS8W.Q"/>
</p:tagLst>
</file>

<file path=ppt/tags/tag2498.xml><?xml version="1.0" encoding="utf-8"?>
<p:tagLst xmlns:a="http://schemas.openxmlformats.org/drawingml/2006/main" xmlns:r="http://schemas.openxmlformats.org/officeDocument/2006/relationships" xmlns:p="http://schemas.openxmlformats.org/presentationml/2006/main">
  <p:tag name="THINKCELLSHAPEDONOTDELETE" val="tHDa93jhvkqWR3TkKFhiGEw"/>
</p:tagLst>
</file>

<file path=ppt/tags/tag2499.xml><?xml version="1.0" encoding="utf-8"?>
<p:tagLst xmlns:a="http://schemas.openxmlformats.org/drawingml/2006/main" xmlns:r="http://schemas.openxmlformats.org/officeDocument/2006/relationships" xmlns:p="http://schemas.openxmlformats.org/presentationml/2006/main">
  <p:tag name="THINKCELLSHAPEDONOTDELETE" val="tc0PoxgUkZBHJZXvDChxRng"/>
</p:tagLst>
</file>

<file path=ppt/tags/tag2500.xml><?xml version="1.0" encoding="utf-8"?>
<p:tagLst xmlns:a="http://schemas.openxmlformats.org/drawingml/2006/main" xmlns:r="http://schemas.openxmlformats.org/officeDocument/2006/relationships" xmlns:p="http://schemas.openxmlformats.org/presentationml/2006/main">
  <p:tag name="THINKCELLSHAPEDONOTDELETE" val="tqqAXQXfUCIEqgkGW.1.2GQ"/>
</p:tagLst>
</file>

<file path=ppt/tags/tag2501.xml><?xml version="1.0" encoding="utf-8"?>
<p:tagLst xmlns:a="http://schemas.openxmlformats.org/drawingml/2006/main" xmlns:r="http://schemas.openxmlformats.org/officeDocument/2006/relationships" xmlns:p="http://schemas.openxmlformats.org/presentationml/2006/main">
  <p:tag name="THINKCELLSHAPEDONOTDELETE" val="tP1pbwi_vcrM2mZA3slqTZA"/>
</p:tagLst>
</file>

<file path=ppt/tags/tag250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03.xml><?xml version="1.0" encoding="utf-8"?>
<p:tagLst xmlns:a="http://schemas.openxmlformats.org/drawingml/2006/main" xmlns:r="http://schemas.openxmlformats.org/officeDocument/2006/relationships" xmlns:p="http://schemas.openxmlformats.org/presentationml/2006/main">
  <p:tag name="THINKCELLSHAPEDONOTDELETE" val="t4z.tsVMrsn6zemEeZL1Qjg"/>
</p:tagLst>
</file>

<file path=ppt/tags/tag2504.xml><?xml version="1.0" encoding="utf-8"?>
<p:tagLst xmlns:a="http://schemas.openxmlformats.org/drawingml/2006/main" xmlns:r="http://schemas.openxmlformats.org/officeDocument/2006/relationships" xmlns:p="http://schemas.openxmlformats.org/presentationml/2006/main">
  <p:tag name="HEADER" val="True"/>
</p:tagLst>
</file>

<file path=ppt/tags/tag2505.xml><?xml version="1.0" encoding="utf-8"?>
<p:tagLst xmlns:a="http://schemas.openxmlformats.org/drawingml/2006/main" xmlns:r="http://schemas.openxmlformats.org/officeDocument/2006/relationships" xmlns:p="http://schemas.openxmlformats.org/presentationml/2006/main">
  <p:tag name="HEADER" val="True"/>
</p:tagLst>
</file>

<file path=ppt/tags/tag2506.xml><?xml version="1.0" encoding="utf-8"?>
<p:tagLst xmlns:a="http://schemas.openxmlformats.org/drawingml/2006/main" xmlns:r="http://schemas.openxmlformats.org/officeDocument/2006/relationships" xmlns:p="http://schemas.openxmlformats.org/presentationml/2006/main">
  <p:tag name="THINKCELLSHAPEDONOTDELETE" val="t05QWutdDsFI_wpHYI15NWw"/>
</p:tagLst>
</file>

<file path=ppt/tags/tag2507.xml><?xml version="1.0" encoding="utf-8"?>
<p:tagLst xmlns:a="http://schemas.openxmlformats.org/drawingml/2006/main" xmlns:r="http://schemas.openxmlformats.org/officeDocument/2006/relationships" xmlns:p="http://schemas.openxmlformats.org/presentationml/2006/main">
  <p:tag name="THINKCELLSHAPEDONOTDELETE" val="t0PiMCFJYOfHjSZlDf2MVbg"/>
</p:tagLst>
</file>

<file path=ppt/tags/tag2508.xml><?xml version="1.0" encoding="utf-8"?>
<p:tagLst xmlns:a="http://schemas.openxmlformats.org/drawingml/2006/main" xmlns:r="http://schemas.openxmlformats.org/officeDocument/2006/relationships" xmlns:p="http://schemas.openxmlformats.org/presentationml/2006/main">
  <p:tag name="THINKCELLSHAPEDONOTDELETE" val="t76Ftv69hThc6rvoKVw2OFg"/>
</p:tagLst>
</file>

<file path=ppt/tags/tag2509.xml><?xml version="1.0" encoding="utf-8"?>
<p:tagLst xmlns:a="http://schemas.openxmlformats.org/drawingml/2006/main" xmlns:r="http://schemas.openxmlformats.org/officeDocument/2006/relationships" xmlns:p="http://schemas.openxmlformats.org/presentationml/2006/main">
  <p:tag name="THINKCELLSHAPEDONOTDELETE" val="tuB9FhlEmSzQDxRA4EY737g"/>
</p:tagLst>
</file>

<file path=ppt/tags/tag2510.xml><?xml version="1.0" encoding="utf-8"?>
<p:tagLst xmlns:a="http://schemas.openxmlformats.org/drawingml/2006/main" xmlns:r="http://schemas.openxmlformats.org/officeDocument/2006/relationships" xmlns:p="http://schemas.openxmlformats.org/presentationml/2006/main">
  <p:tag name="THINKCELLSHAPEDONOTDELETE" val="tLehYmPQZQwsq_IcVXaQhhQ"/>
</p:tagLst>
</file>

<file path=ppt/tags/tag2511.xml><?xml version="1.0" encoding="utf-8"?>
<p:tagLst xmlns:a="http://schemas.openxmlformats.org/drawingml/2006/main" xmlns:r="http://schemas.openxmlformats.org/officeDocument/2006/relationships" xmlns:p="http://schemas.openxmlformats.org/presentationml/2006/main">
  <p:tag name="THINKCELLSHAPEDONOTDELETE" val="tU0bG__gefcoY4ZNUfHkJQQ"/>
</p:tagLst>
</file>

<file path=ppt/tags/tag2512.xml><?xml version="1.0" encoding="utf-8"?>
<p:tagLst xmlns:a="http://schemas.openxmlformats.org/drawingml/2006/main" xmlns:r="http://schemas.openxmlformats.org/officeDocument/2006/relationships" xmlns:p="http://schemas.openxmlformats.org/presentationml/2006/main">
  <p:tag name="THINKCELLSHAPEDONOTDELETE" val="tVMYEvoBnQsBZ5Jprz.5aIg"/>
</p:tagLst>
</file>

<file path=ppt/tags/tag2513.xml><?xml version="1.0" encoding="utf-8"?>
<p:tagLst xmlns:a="http://schemas.openxmlformats.org/drawingml/2006/main" xmlns:r="http://schemas.openxmlformats.org/officeDocument/2006/relationships" xmlns:p="http://schemas.openxmlformats.org/presentationml/2006/main">
  <p:tag name="THINKCELLSHAPEDONOTDELETE" val="t.E_ossMMMfeZRfisKVGBTw"/>
</p:tagLst>
</file>

<file path=ppt/tags/tag2514.xml><?xml version="1.0" encoding="utf-8"?>
<p:tagLst xmlns:a="http://schemas.openxmlformats.org/drawingml/2006/main" xmlns:r="http://schemas.openxmlformats.org/officeDocument/2006/relationships" xmlns:p="http://schemas.openxmlformats.org/presentationml/2006/main">
  <p:tag name="THINKCELLSHAPEDONOTDELETE" val="tenFc25dqvCls1C8plNEkvw"/>
</p:tagLst>
</file>

<file path=ppt/tags/tag25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16.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517.xml><?xml version="1.0" encoding="utf-8"?>
<p:tagLst xmlns:a="http://schemas.openxmlformats.org/drawingml/2006/main" xmlns:r="http://schemas.openxmlformats.org/officeDocument/2006/relationships" xmlns:p="http://schemas.openxmlformats.org/presentationml/2006/main">
  <p:tag name="HEADER" val="True"/>
</p:tagLst>
</file>

<file path=ppt/tags/tag2518.xml><?xml version="1.0" encoding="utf-8"?>
<p:tagLst xmlns:a="http://schemas.openxmlformats.org/drawingml/2006/main" xmlns:r="http://schemas.openxmlformats.org/officeDocument/2006/relationships" xmlns:p="http://schemas.openxmlformats.org/presentationml/2006/main">
  <p:tag name="HEADER" val="True"/>
</p:tagLst>
</file>

<file path=ppt/tags/tag2519.xml><?xml version="1.0" encoding="utf-8"?>
<p:tagLst xmlns:a="http://schemas.openxmlformats.org/drawingml/2006/main" xmlns:r="http://schemas.openxmlformats.org/officeDocument/2006/relationships" xmlns:p="http://schemas.openxmlformats.org/presentationml/2006/main">
  <p:tag name="HEADER" val="True"/>
</p:tagLst>
</file>

<file path=ppt/tags/tag2520.xml><?xml version="1.0" encoding="utf-8"?>
<p:tagLst xmlns:a="http://schemas.openxmlformats.org/drawingml/2006/main" xmlns:r="http://schemas.openxmlformats.org/officeDocument/2006/relationships" xmlns:p="http://schemas.openxmlformats.org/presentationml/2006/main">
  <p:tag name="HEADER" val="True"/>
</p:tagLst>
</file>

<file path=ppt/tags/tag25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22.xml><?xml version="1.0" encoding="utf-8"?>
<p:tagLst xmlns:a="http://schemas.openxmlformats.org/drawingml/2006/main" xmlns:r="http://schemas.openxmlformats.org/officeDocument/2006/relationships" xmlns:p="http://schemas.openxmlformats.org/presentationml/2006/main">
  <p:tag name="THINKCELLSHAPEDONOTDELETE" val="tbn_iz4SQSjOOC1Ah_aUJUg"/>
</p:tagLst>
</file>

<file path=ppt/tags/tag25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24.xml><?xml version="1.0" encoding="utf-8"?>
<p:tagLst xmlns:a="http://schemas.openxmlformats.org/drawingml/2006/main" xmlns:r="http://schemas.openxmlformats.org/officeDocument/2006/relationships" xmlns:p="http://schemas.openxmlformats.org/presentationml/2006/main">
  <p:tag name="THINKCELLSHAPEDONOTDELETE" val="tbn_iz4SQSjOOC1Ah_aUJUg"/>
</p:tagLst>
</file>

<file path=ppt/tags/tag252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26.xml><?xml version="1.0" encoding="utf-8"?>
<p:tagLst xmlns:a="http://schemas.openxmlformats.org/drawingml/2006/main" xmlns:r="http://schemas.openxmlformats.org/officeDocument/2006/relationships" xmlns:p="http://schemas.openxmlformats.org/presentationml/2006/main">
  <p:tag name="THINKCELLSHAPEDONOTDELETE" val="tahL7R_SDm3sXF7ASnkXFcA"/>
</p:tagLst>
</file>

<file path=ppt/tags/tag2527.xml><?xml version="1.0" encoding="utf-8"?>
<p:tagLst xmlns:a="http://schemas.openxmlformats.org/drawingml/2006/main" xmlns:r="http://schemas.openxmlformats.org/officeDocument/2006/relationships" xmlns:p="http://schemas.openxmlformats.org/presentationml/2006/main">
  <p:tag name="HEADER" val="True"/>
</p:tagLst>
</file>

<file path=ppt/tags/tag2528.xml><?xml version="1.0" encoding="utf-8"?>
<p:tagLst xmlns:a="http://schemas.openxmlformats.org/drawingml/2006/main" xmlns:r="http://schemas.openxmlformats.org/officeDocument/2006/relationships" xmlns:p="http://schemas.openxmlformats.org/presentationml/2006/main">
  <p:tag name="THINKCELLSHAPEDONOTDELETE" val="tQ1D1qQIOLTS5iPRnR1mNIA"/>
</p:tagLst>
</file>

<file path=ppt/tags/tag2529.xml><?xml version="1.0" encoding="utf-8"?>
<p:tagLst xmlns:a="http://schemas.openxmlformats.org/drawingml/2006/main" xmlns:r="http://schemas.openxmlformats.org/officeDocument/2006/relationships" xmlns:p="http://schemas.openxmlformats.org/presentationml/2006/main">
  <p:tag name="THINKCELLSHAPEDONOTDELETE" val="tJpi0Yq6nQleyUlA1WjcQcg"/>
</p:tagLst>
</file>

<file path=ppt/tags/tag2530.xml><?xml version="1.0" encoding="utf-8"?>
<p:tagLst xmlns:a="http://schemas.openxmlformats.org/drawingml/2006/main" xmlns:r="http://schemas.openxmlformats.org/officeDocument/2006/relationships" xmlns:p="http://schemas.openxmlformats.org/presentationml/2006/main">
  <p:tag name="THINKCELLSHAPEDONOTDELETE" val="tOANecnuIyQC5R1y.EhcoTA"/>
</p:tagLst>
</file>

<file path=ppt/tags/tag2531.xml><?xml version="1.0" encoding="utf-8"?>
<p:tagLst xmlns:a="http://schemas.openxmlformats.org/drawingml/2006/main" xmlns:r="http://schemas.openxmlformats.org/officeDocument/2006/relationships" xmlns:p="http://schemas.openxmlformats.org/presentationml/2006/main">
  <p:tag name="THINKCELLSHAPEDONOTDELETE" val="t85jZOpXhLD_Wf_bmxeIhMQ"/>
</p:tagLst>
</file>

<file path=ppt/tags/tag2532.xml><?xml version="1.0" encoding="utf-8"?>
<p:tagLst xmlns:a="http://schemas.openxmlformats.org/drawingml/2006/main" xmlns:r="http://schemas.openxmlformats.org/officeDocument/2006/relationships" xmlns:p="http://schemas.openxmlformats.org/presentationml/2006/main">
  <p:tag name="THINKCELLSHAPEDONOTDELETE" val="t5l1Mo1t0z3iyQ.a7qoblwA"/>
</p:tagLst>
</file>

<file path=ppt/tags/tag2533.xml><?xml version="1.0" encoding="utf-8"?>
<p:tagLst xmlns:a="http://schemas.openxmlformats.org/drawingml/2006/main" xmlns:r="http://schemas.openxmlformats.org/officeDocument/2006/relationships" xmlns:p="http://schemas.openxmlformats.org/presentationml/2006/main">
  <p:tag name="THINKCELLSHAPEDONOTDELETE" val="t5ai4W2sOvXiRG8eQcqzzYw"/>
</p:tagLst>
</file>

<file path=ppt/tags/tag2534.xml><?xml version="1.0" encoding="utf-8"?>
<p:tagLst xmlns:a="http://schemas.openxmlformats.org/drawingml/2006/main" xmlns:r="http://schemas.openxmlformats.org/officeDocument/2006/relationships" xmlns:p="http://schemas.openxmlformats.org/presentationml/2006/main">
  <p:tag name="THINKCELLSHAPEDONOTDELETE" val="tWRnO23t4lIodL20964epnw"/>
</p:tagLst>
</file>

<file path=ppt/tags/tag2535.xml><?xml version="1.0" encoding="utf-8"?>
<p:tagLst xmlns:a="http://schemas.openxmlformats.org/drawingml/2006/main" xmlns:r="http://schemas.openxmlformats.org/officeDocument/2006/relationships" xmlns:p="http://schemas.openxmlformats.org/presentationml/2006/main">
  <p:tag name="THINKCELLSHAPEDONOTDELETE" val="t.m80_qehbT5nsT0AR8.i5A"/>
</p:tagLst>
</file>

<file path=ppt/tags/tag2536.xml><?xml version="1.0" encoding="utf-8"?>
<p:tagLst xmlns:a="http://schemas.openxmlformats.org/drawingml/2006/main" xmlns:r="http://schemas.openxmlformats.org/officeDocument/2006/relationships" xmlns:p="http://schemas.openxmlformats.org/presentationml/2006/main">
  <p:tag name="THINKCELLSHAPEDONOTDELETE" val="tyNwxRaMsSEF1gvTQr2JkcA"/>
</p:tagLst>
</file>

<file path=ppt/tags/tag2537.xml><?xml version="1.0" encoding="utf-8"?>
<p:tagLst xmlns:a="http://schemas.openxmlformats.org/drawingml/2006/main" xmlns:r="http://schemas.openxmlformats.org/officeDocument/2006/relationships" xmlns:p="http://schemas.openxmlformats.org/presentationml/2006/main">
  <p:tag name="THINKCELLSHAPEDONOTDELETE" val="tyh.ffp3ZML1oq7hPpP1hxQ"/>
</p:tagLst>
</file>

<file path=ppt/tags/tag2538.xml><?xml version="1.0" encoding="utf-8"?>
<p:tagLst xmlns:a="http://schemas.openxmlformats.org/drawingml/2006/main" xmlns:r="http://schemas.openxmlformats.org/officeDocument/2006/relationships" xmlns:p="http://schemas.openxmlformats.org/presentationml/2006/main">
  <p:tag name="THINKCELLSHAPEDONOTDELETE" val="tSuDTCONhx512GEN4z7EwMQ"/>
</p:tagLst>
</file>

<file path=ppt/tags/tag2539.xml><?xml version="1.0" encoding="utf-8"?>
<p:tagLst xmlns:a="http://schemas.openxmlformats.org/drawingml/2006/main" xmlns:r="http://schemas.openxmlformats.org/officeDocument/2006/relationships" xmlns:p="http://schemas.openxmlformats.org/presentationml/2006/main">
  <p:tag name="THINKCELLSHAPEDONOTDELETE" val="tbuN2b72lxyrOYwhC..dTIQ"/>
</p:tagLst>
</file>

<file path=ppt/tags/tag2540.xml><?xml version="1.0" encoding="utf-8"?>
<p:tagLst xmlns:a="http://schemas.openxmlformats.org/drawingml/2006/main" xmlns:r="http://schemas.openxmlformats.org/officeDocument/2006/relationships" xmlns:p="http://schemas.openxmlformats.org/presentationml/2006/main">
  <p:tag name="THINKCELLSHAPEDONOTDELETE" val="tF75zAU1e72yHGJBiiF715g"/>
</p:tagLst>
</file>

<file path=ppt/tags/tag2541.xml><?xml version="1.0" encoding="utf-8"?>
<p:tagLst xmlns:a="http://schemas.openxmlformats.org/drawingml/2006/main" xmlns:r="http://schemas.openxmlformats.org/officeDocument/2006/relationships" xmlns:p="http://schemas.openxmlformats.org/presentationml/2006/main">
  <p:tag name="HEADER" val="True"/>
</p:tagLst>
</file>

<file path=ppt/tags/tag2542.xml><?xml version="1.0" encoding="utf-8"?>
<p:tagLst xmlns:a="http://schemas.openxmlformats.org/drawingml/2006/main" xmlns:r="http://schemas.openxmlformats.org/officeDocument/2006/relationships" xmlns:p="http://schemas.openxmlformats.org/presentationml/2006/main">
  <p:tag name="HEADER" val="True"/>
</p:tagLst>
</file>

<file path=ppt/tags/tag2543.xml><?xml version="1.0" encoding="utf-8"?>
<p:tagLst xmlns:a="http://schemas.openxmlformats.org/drawingml/2006/main" xmlns:r="http://schemas.openxmlformats.org/officeDocument/2006/relationships" xmlns:p="http://schemas.openxmlformats.org/presentationml/2006/main">
  <p:tag name="HEADER" val="True"/>
</p:tagLst>
</file>

<file path=ppt/tags/tag2544.xml><?xml version="1.0" encoding="utf-8"?>
<p:tagLst xmlns:a="http://schemas.openxmlformats.org/drawingml/2006/main" xmlns:r="http://schemas.openxmlformats.org/officeDocument/2006/relationships" xmlns:p="http://schemas.openxmlformats.org/presentationml/2006/main">
  <p:tag name="HEADER" val="True"/>
</p:tagLst>
</file>

<file path=ppt/tags/tag2545.xml><?xml version="1.0" encoding="utf-8"?>
<p:tagLst xmlns:a="http://schemas.openxmlformats.org/drawingml/2006/main" xmlns:r="http://schemas.openxmlformats.org/officeDocument/2006/relationships" xmlns:p="http://schemas.openxmlformats.org/presentationml/2006/main">
  <p:tag name="HEADER" val="True"/>
</p:tagLst>
</file>

<file path=ppt/tags/tag25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47.xml><?xml version="1.0" encoding="utf-8"?>
<p:tagLst xmlns:a="http://schemas.openxmlformats.org/drawingml/2006/main" xmlns:r="http://schemas.openxmlformats.org/officeDocument/2006/relationships" xmlns:p="http://schemas.openxmlformats.org/presentationml/2006/main">
  <p:tag name="THINKCELLSHAPEDONOTDELETE" val="tXkO2u59egCQrnROSL0pNDw"/>
</p:tagLst>
</file>

<file path=ppt/tags/tag2548.xml><?xml version="1.0" encoding="utf-8"?>
<p:tagLst xmlns:a="http://schemas.openxmlformats.org/drawingml/2006/main" xmlns:r="http://schemas.openxmlformats.org/officeDocument/2006/relationships" xmlns:p="http://schemas.openxmlformats.org/presentationml/2006/main">
  <p:tag name="HEADER" val="True"/>
</p:tagLst>
</file>

<file path=ppt/tags/tag2549.xml><?xml version="1.0" encoding="utf-8"?>
<p:tagLst xmlns:a="http://schemas.openxmlformats.org/drawingml/2006/main" xmlns:r="http://schemas.openxmlformats.org/officeDocument/2006/relationships" xmlns:p="http://schemas.openxmlformats.org/presentationml/2006/main">
  <p:tag name="THINKCELLSHAPEDONOTDELETE" val="thNYvHWeTkGKGeqOG4QKFrw"/>
</p:tagLst>
</file>

<file path=ppt/tags/tag2550.xml><?xml version="1.0" encoding="utf-8"?>
<p:tagLst xmlns:a="http://schemas.openxmlformats.org/drawingml/2006/main" xmlns:r="http://schemas.openxmlformats.org/officeDocument/2006/relationships" xmlns:p="http://schemas.openxmlformats.org/presentationml/2006/main">
  <p:tag name="THINKCELLSHAPEDONOTDELETE" val="t_.leIdGWFsWmtwp4rRQg8Q"/>
</p:tagLst>
</file>

<file path=ppt/tags/tag2551.xml><?xml version="1.0" encoding="utf-8"?>
<p:tagLst xmlns:a="http://schemas.openxmlformats.org/drawingml/2006/main" xmlns:r="http://schemas.openxmlformats.org/officeDocument/2006/relationships" xmlns:p="http://schemas.openxmlformats.org/presentationml/2006/main">
  <p:tag name="THINKCELLSHAPEDONOTDELETE" val="tRva8aX3cwvyQUVbumUDYJg"/>
</p:tagLst>
</file>

<file path=ppt/tags/tag2552.xml><?xml version="1.0" encoding="utf-8"?>
<p:tagLst xmlns:a="http://schemas.openxmlformats.org/drawingml/2006/main" xmlns:r="http://schemas.openxmlformats.org/officeDocument/2006/relationships" xmlns:p="http://schemas.openxmlformats.org/presentationml/2006/main">
  <p:tag name="THINKCELLSHAPEDONOTDELETE" val="taWOMAlJ9XS.URNYgWsXofg"/>
</p:tagLst>
</file>

<file path=ppt/tags/tag2553.xml><?xml version="1.0" encoding="utf-8"?>
<p:tagLst xmlns:a="http://schemas.openxmlformats.org/drawingml/2006/main" xmlns:r="http://schemas.openxmlformats.org/officeDocument/2006/relationships" xmlns:p="http://schemas.openxmlformats.org/presentationml/2006/main">
  <p:tag name="THINKCELLSHAPEDONOTDELETE" val="tseCbknlgVq6Vj0Y2xwPpqw"/>
</p:tagLst>
</file>

<file path=ppt/tags/tag2554.xml><?xml version="1.0" encoding="utf-8"?>
<p:tagLst xmlns:a="http://schemas.openxmlformats.org/drawingml/2006/main" xmlns:r="http://schemas.openxmlformats.org/officeDocument/2006/relationships" xmlns:p="http://schemas.openxmlformats.org/presentationml/2006/main">
  <p:tag name="THINKCELLSHAPEDONOTDELETE" val="thKKf0D2haYe8QsvjQweppw"/>
</p:tagLst>
</file>

<file path=ppt/tags/tag2555.xml><?xml version="1.0" encoding="utf-8"?>
<p:tagLst xmlns:a="http://schemas.openxmlformats.org/drawingml/2006/main" xmlns:r="http://schemas.openxmlformats.org/officeDocument/2006/relationships" xmlns:p="http://schemas.openxmlformats.org/presentationml/2006/main">
  <p:tag name="THINKCELLSHAPEDONOTDELETE" val="td13W0mBdkCKp0g3tN3fHbg"/>
</p:tagLst>
</file>

<file path=ppt/tags/tag2556.xml><?xml version="1.0" encoding="utf-8"?>
<p:tagLst xmlns:a="http://schemas.openxmlformats.org/drawingml/2006/main" xmlns:r="http://schemas.openxmlformats.org/officeDocument/2006/relationships" xmlns:p="http://schemas.openxmlformats.org/presentationml/2006/main">
  <p:tag name="THINKCELLSHAPEDONOTDELETE" val="t6GaiymK38qwsVRXNsTb71Q"/>
</p:tagLst>
</file>

<file path=ppt/tags/tag2557.xml><?xml version="1.0" encoding="utf-8"?>
<p:tagLst xmlns:a="http://schemas.openxmlformats.org/drawingml/2006/main" xmlns:r="http://schemas.openxmlformats.org/officeDocument/2006/relationships" xmlns:p="http://schemas.openxmlformats.org/presentationml/2006/main">
  <p:tag name="THINKCELLSHAPEDONOTDELETE" val="tcT6AQ6_VxS6iJVTST20AXQ"/>
</p:tagLst>
</file>

<file path=ppt/tags/tag2558.xml><?xml version="1.0" encoding="utf-8"?>
<p:tagLst xmlns:a="http://schemas.openxmlformats.org/drawingml/2006/main" xmlns:r="http://schemas.openxmlformats.org/officeDocument/2006/relationships" xmlns:p="http://schemas.openxmlformats.org/presentationml/2006/main">
  <p:tag name="THINKCELLSHAPEDONOTDELETE" val="twv5sSBa9LQW6CH9aOUmnbw"/>
</p:tagLst>
</file>

<file path=ppt/tags/tag2559.xml><?xml version="1.0" encoding="utf-8"?>
<p:tagLst xmlns:a="http://schemas.openxmlformats.org/drawingml/2006/main" xmlns:r="http://schemas.openxmlformats.org/officeDocument/2006/relationships" xmlns:p="http://schemas.openxmlformats.org/presentationml/2006/main">
  <p:tag name="THINKCELLSHAPEDONOTDELETE" val="tjOsBv66FtbpLZtC.NXBt.g"/>
</p:tagLst>
</file>

<file path=ppt/tags/tag2560.xml><?xml version="1.0" encoding="utf-8"?>
<p:tagLst xmlns:a="http://schemas.openxmlformats.org/drawingml/2006/main" xmlns:r="http://schemas.openxmlformats.org/officeDocument/2006/relationships" xmlns:p="http://schemas.openxmlformats.org/presentationml/2006/main">
  <p:tag name="THINKCELLSHAPEDONOTDELETE" val="tIVz6tU9okJyslyt.P1.SUw"/>
</p:tagLst>
</file>

<file path=ppt/tags/tag2561.xml><?xml version="1.0" encoding="utf-8"?>
<p:tagLst xmlns:a="http://schemas.openxmlformats.org/drawingml/2006/main" xmlns:r="http://schemas.openxmlformats.org/officeDocument/2006/relationships" xmlns:p="http://schemas.openxmlformats.org/presentationml/2006/main">
  <p:tag name="THINKCELLSHAPEDONOTDELETE" val="trsWf1B7fMtf.lWeri3q82w"/>
</p:tagLst>
</file>

<file path=ppt/tags/tag2562.xml><?xml version="1.0" encoding="utf-8"?>
<p:tagLst xmlns:a="http://schemas.openxmlformats.org/drawingml/2006/main" xmlns:r="http://schemas.openxmlformats.org/officeDocument/2006/relationships" xmlns:p="http://schemas.openxmlformats.org/presentationml/2006/main">
  <p:tag name="THINKCELLSHAPEDONOTDELETE" val="tEpR7jWoQvNFPZVjHaAuOlQ"/>
</p:tagLst>
</file>

<file path=ppt/tags/tag2563.xml><?xml version="1.0" encoding="utf-8"?>
<p:tagLst xmlns:a="http://schemas.openxmlformats.org/drawingml/2006/main" xmlns:r="http://schemas.openxmlformats.org/officeDocument/2006/relationships" xmlns:p="http://schemas.openxmlformats.org/presentationml/2006/main">
  <p:tag name="THINKCELLSHAPEDONOTDELETE" val="tTF.k_0PZziEA3vwo.u7lyQ"/>
</p:tagLst>
</file>

<file path=ppt/tags/tag2564.xml><?xml version="1.0" encoding="utf-8"?>
<p:tagLst xmlns:a="http://schemas.openxmlformats.org/drawingml/2006/main" xmlns:r="http://schemas.openxmlformats.org/officeDocument/2006/relationships" xmlns:p="http://schemas.openxmlformats.org/presentationml/2006/main">
  <p:tag name="THINKCELLSHAPEDONOTDELETE" val="tGwCzpGnxCKPiAq1ywqcsVg"/>
</p:tagLst>
</file>

<file path=ppt/tags/tag2565.xml><?xml version="1.0" encoding="utf-8"?>
<p:tagLst xmlns:a="http://schemas.openxmlformats.org/drawingml/2006/main" xmlns:r="http://schemas.openxmlformats.org/officeDocument/2006/relationships" xmlns:p="http://schemas.openxmlformats.org/presentationml/2006/main">
  <p:tag name="THINKCELLSHAPEDONOTDELETE" val="tC4bAOL_k5JneXyG8o7Qkfg"/>
</p:tagLst>
</file>

<file path=ppt/tags/tag2566.xml><?xml version="1.0" encoding="utf-8"?>
<p:tagLst xmlns:a="http://schemas.openxmlformats.org/drawingml/2006/main" xmlns:r="http://schemas.openxmlformats.org/officeDocument/2006/relationships" xmlns:p="http://schemas.openxmlformats.org/presentationml/2006/main">
  <p:tag name="THINKCELLSHAPEDONOTDELETE" val="t0X9toBZF58_28J0aiZO8rg"/>
</p:tagLst>
</file>

<file path=ppt/tags/tag2567.xml><?xml version="1.0" encoding="utf-8"?>
<p:tagLst xmlns:a="http://schemas.openxmlformats.org/drawingml/2006/main" xmlns:r="http://schemas.openxmlformats.org/officeDocument/2006/relationships" xmlns:p="http://schemas.openxmlformats.org/presentationml/2006/main">
  <p:tag name="THINKCELLSHAPEDONOTDELETE" val="tFaYPEqfUuNw57.h2SwAz4w"/>
</p:tagLst>
</file>

<file path=ppt/tags/tag2568.xml><?xml version="1.0" encoding="utf-8"?>
<p:tagLst xmlns:a="http://schemas.openxmlformats.org/drawingml/2006/main" xmlns:r="http://schemas.openxmlformats.org/officeDocument/2006/relationships" xmlns:p="http://schemas.openxmlformats.org/presentationml/2006/main">
  <p:tag name="THINKCELLSHAPEDONOTDELETE" val="t1qd536k4tGaRvYoGoSax_Q"/>
</p:tagLst>
</file>

<file path=ppt/tags/tag2569.xml><?xml version="1.0" encoding="utf-8"?>
<p:tagLst xmlns:a="http://schemas.openxmlformats.org/drawingml/2006/main" xmlns:r="http://schemas.openxmlformats.org/officeDocument/2006/relationships" xmlns:p="http://schemas.openxmlformats.org/presentationml/2006/main">
  <p:tag name="THINKCELLSHAPEDONOTDELETE" val="t9IJ6HAi_BS.XQZvzkeb6lQ"/>
</p:tagLst>
</file>

<file path=ppt/tags/tag2570.xml><?xml version="1.0" encoding="utf-8"?>
<p:tagLst xmlns:a="http://schemas.openxmlformats.org/drawingml/2006/main" xmlns:r="http://schemas.openxmlformats.org/officeDocument/2006/relationships" xmlns:p="http://schemas.openxmlformats.org/presentationml/2006/main">
  <p:tag name="THINKCELLSHAPEDONOTDELETE" val="tDqOe5CG5zWWw7B8eqPOYfw"/>
</p:tagLst>
</file>

<file path=ppt/tags/tag2571.xml><?xml version="1.0" encoding="utf-8"?>
<p:tagLst xmlns:a="http://schemas.openxmlformats.org/drawingml/2006/main" xmlns:r="http://schemas.openxmlformats.org/officeDocument/2006/relationships" xmlns:p="http://schemas.openxmlformats.org/presentationml/2006/main">
  <p:tag name="THINKCELLSHAPEDONOTDELETE" val="tSW8a6W9N3_RqmqM1VMGyAA"/>
</p:tagLst>
</file>

<file path=ppt/tags/tag2572.xml><?xml version="1.0" encoding="utf-8"?>
<p:tagLst xmlns:a="http://schemas.openxmlformats.org/drawingml/2006/main" xmlns:r="http://schemas.openxmlformats.org/officeDocument/2006/relationships" xmlns:p="http://schemas.openxmlformats.org/presentationml/2006/main">
  <p:tag name="THINKCELLSHAPEDONOTDELETE" val="tZCvIa8fyCkrR_YZs3BDKXw"/>
</p:tagLst>
</file>

<file path=ppt/tags/tag2573.xml><?xml version="1.0" encoding="utf-8"?>
<p:tagLst xmlns:a="http://schemas.openxmlformats.org/drawingml/2006/main" xmlns:r="http://schemas.openxmlformats.org/officeDocument/2006/relationships" xmlns:p="http://schemas.openxmlformats.org/presentationml/2006/main">
  <p:tag name="THINKCELLSHAPEDONOTDELETE" val="t90MQAQgvDqvjUQ0IjP2qjQ"/>
</p:tagLst>
</file>

<file path=ppt/tags/tag2574.xml><?xml version="1.0" encoding="utf-8"?>
<p:tagLst xmlns:a="http://schemas.openxmlformats.org/drawingml/2006/main" xmlns:r="http://schemas.openxmlformats.org/officeDocument/2006/relationships" xmlns:p="http://schemas.openxmlformats.org/presentationml/2006/main">
  <p:tag name="THINKCELLSHAPEDONOTDELETE" val="t4kJkzuHZgk4Ofbiu81O4YA"/>
</p:tagLst>
</file>

<file path=ppt/tags/tag2575.xml><?xml version="1.0" encoding="utf-8"?>
<p:tagLst xmlns:a="http://schemas.openxmlformats.org/drawingml/2006/main" xmlns:r="http://schemas.openxmlformats.org/officeDocument/2006/relationships" xmlns:p="http://schemas.openxmlformats.org/presentationml/2006/main">
  <p:tag name="THINKCELLSHAPEDONOTDELETE" val="tAkBYgn8an0grY9t.sjiCoQ"/>
</p:tagLst>
</file>

<file path=ppt/tags/tag2576.xml><?xml version="1.0" encoding="utf-8"?>
<p:tagLst xmlns:a="http://schemas.openxmlformats.org/drawingml/2006/main" xmlns:r="http://schemas.openxmlformats.org/officeDocument/2006/relationships" xmlns:p="http://schemas.openxmlformats.org/presentationml/2006/main">
  <p:tag name="THINKCELLSHAPEDONOTDELETE" val="t0Z6Yh64xgHDLbHKuGcra4Q"/>
</p:tagLst>
</file>

<file path=ppt/tags/tag2577.xml><?xml version="1.0" encoding="utf-8"?>
<p:tagLst xmlns:a="http://schemas.openxmlformats.org/drawingml/2006/main" xmlns:r="http://schemas.openxmlformats.org/officeDocument/2006/relationships" xmlns:p="http://schemas.openxmlformats.org/presentationml/2006/main">
  <p:tag name="THINKCELLSHAPEDONOTDELETE" val="tIlY1qNPWllS1qUFc8o0q2g"/>
</p:tagLst>
</file>

<file path=ppt/tags/tag2578.xml><?xml version="1.0" encoding="utf-8"?>
<p:tagLst xmlns:a="http://schemas.openxmlformats.org/drawingml/2006/main" xmlns:r="http://schemas.openxmlformats.org/officeDocument/2006/relationships" xmlns:p="http://schemas.openxmlformats.org/presentationml/2006/main">
  <p:tag name="THINKCELLSHAPEDONOTDELETE" val="tE_imco6mlOm_hWqsot2MWQ"/>
</p:tagLst>
</file>

<file path=ppt/tags/tag2579.xml><?xml version="1.0" encoding="utf-8"?>
<p:tagLst xmlns:a="http://schemas.openxmlformats.org/drawingml/2006/main" xmlns:r="http://schemas.openxmlformats.org/officeDocument/2006/relationships" xmlns:p="http://schemas.openxmlformats.org/presentationml/2006/main">
  <p:tag name="THINKCELLSHAPEDONOTDELETE" val="tJ4LlnIqyldnevBB1o_bRrg"/>
</p:tagLst>
</file>

<file path=ppt/tags/tag2580.xml><?xml version="1.0" encoding="utf-8"?>
<p:tagLst xmlns:a="http://schemas.openxmlformats.org/drawingml/2006/main" xmlns:r="http://schemas.openxmlformats.org/officeDocument/2006/relationships" xmlns:p="http://schemas.openxmlformats.org/presentationml/2006/main">
  <p:tag name="THINKCELLSHAPEDONOTDELETE" val="tvNI9cozu9GsfEN63RrefqA"/>
</p:tagLst>
</file>

<file path=ppt/tags/tag2581.xml><?xml version="1.0" encoding="utf-8"?>
<p:tagLst xmlns:a="http://schemas.openxmlformats.org/drawingml/2006/main" xmlns:r="http://schemas.openxmlformats.org/officeDocument/2006/relationships" xmlns:p="http://schemas.openxmlformats.org/presentationml/2006/main">
  <p:tag name="THINKCELLSHAPEDONOTDELETE" val="tSq0VqWNhRRCyw9.Au2osPw"/>
</p:tagLst>
</file>

<file path=ppt/tags/tag2582.xml><?xml version="1.0" encoding="utf-8"?>
<p:tagLst xmlns:a="http://schemas.openxmlformats.org/drawingml/2006/main" xmlns:r="http://schemas.openxmlformats.org/officeDocument/2006/relationships" xmlns:p="http://schemas.openxmlformats.org/presentationml/2006/main">
  <p:tag name="THINKCELLSHAPEDONOTDELETE" val="tw0qPBXSSbWnZ.1wqq4ox2w"/>
</p:tagLst>
</file>

<file path=ppt/tags/tag2583.xml><?xml version="1.0" encoding="utf-8"?>
<p:tagLst xmlns:a="http://schemas.openxmlformats.org/drawingml/2006/main" xmlns:r="http://schemas.openxmlformats.org/officeDocument/2006/relationships" xmlns:p="http://schemas.openxmlformats.org/presentationml/2006/main">
  <p:tag name="THINKCELLSHAPEDONOTDELETE" val="tOFUy8IVn80FpQ8qLey1Vkw"/>
</p:tagLst>
</file>

<file path=ppt/tags/tag2584.xml><?xml version="1.0" encoding="utf-8"?>
<p:tagLst xmlns:a="http://schemas.openxmlformats.org/drawingml/2006/main" xmlns:r="http://schemas.openxmlformats.org/officeDocument/2006/relationships" xmlns:p="http://schemas.openxmlformats.org/presentationml/2006/main">
  <p:tag name="THINKCELLSHAPEDONOTDELETE" val="tXBVCg4tvTT0BG.aZh72cKw"/>
</p:tagLst>
</file>

<file path=ppt/tags/tag2585.xml><?xml version="1.0" encoding="utf-8"?>
<p:tagLst xmlns:a="http://schemas.openxmlformats.org/drawingml/2006/main" xmlns:r="http://schemas.openxmlformats.org/officeDocument/2006/relationships" xmlns:p="http://schemas.openxmlformats.org/presentationml/2006/main">
  <p:tag name="THINKCELLSHAPEDONOTDELETE" val="twQy82JwyS1Zml_xf4IvleA"/>
</p:tagLst>
</file>

<file path=ppt/tags/tag2586.xml><?xml version="1.0" encoding="utf-8"?>
<p:tagLst xmlns:a="http://schemas.openxmlformats.org/drawingml/2006/main" xmlns:r="http://schemas.openxmlformats.org/officeDocument/2006/relationships" xmlns:p="http://schemas.openxmlformats.org/presentationml/2006/main">
  <p:tag name="THINKCELLSHAPEDONOTDELETE" val="t_.xQpvrexectduBi9MLv6g"/>
</p:tagLst>
</file>

<file path=ppt/tags/tag2587.xml><?xml version="1.0" encoding="utf-8"?>
<p:tagLst xmlns:a="http://schemas.openxmlformats.org/drawingml/2006/main" xmlns:r="http://schemas.openxmlformats.org/officeDocument/2006/relationships" xmlns:p="http://schemas.openxmlformats.org/presentationml/2006/main">
  <p:tag name="THINKCELLSHAPEDONOTDELETE" val="t31Aft.O5NBbpm1e8XAESMg"/>
</p:tagLst>
</file>

<file path=ppt/tags/tag2588.xml><?xml version="1.0" encoding="utf-8"?>
<p:tagLst xmlns:a="http://schemas.openxmlformats.org/drawingml/2006/main" xmlns:r="http://schemas.openxmlformats.org/officeDocument/2006/relationships" xmlns:p="http://schemas.openxmlformats.org/presentationml/2006/main">
  <p:tag name="THINKCELLSHAPEDONOTDELETE" val="tulGl2z4GFKaYedoGMnXrvA"/>
</p:tagLst>
</file>

<file path=ppt/tags/tag2589.xml><?xml version="1.0" encoding="utf-8"?>
<p:tagLst xmlns:a="http://schemas.openxmlformats.org/drawingml/2006/main" xmlns:r="http://schemas.openxmlformats.org/officeDocument/2006/relationships" xmlns:p="http://schemas.openxmlformats.org/presentationml/2006/main">
  <p:tag name="THINKCELLSHAPEDONOTDELETE" val="trmTqmICViU3hu2RnTwNgVg"/>
</p:tagLst>
</file>

<file path=ppt/tags/tag2590.xml><?xml version="1.0" encoding="utf-8"?>
<p:tagLst xmlns:a="http://schemas.openxmlformats.org/drawingml/2006/main" xmlns:r="http://schemas.openxmlformats.org/officeDocument/2006/relationships" xmlns:p="http://schemas.openxmlformats.org/presentationml/2006/main">
  <p:tag name="THINKCELLSHAPEDONOTDELETE" val="tFW0M5T2hplhb8zCxn0GtHg"/>
</p:tagLst>
</file>

<file path=ppt/tags/tag2591.xml><?xml version="1.0" encoding="utf-8"?>
<p:tagLst xmlns:a="http://schemas.openxmlformats.org/drawingml/2006/main" xmlns:r="http://schemas.openxmlformats.org/officeDocument/2006/relationships" xmlns:p="http://schemas.openxmlformats.org/presentationml/2006/main">
  <p:tag name="THINKCELLSHAPEDONOTDELETE" val="tpNAay5hmz41nYlvECFJCZg"/>
</p:tagLst>
</file>

<file path=ppt/tags/tag2592.xml><?xml version="1.0" encoding="utf-8"?>
<p:tagLst xmlns:a="http://schemas.openxmlformats.org/drawingml/2006/main" xmlns:r="http://schemas.openxmlformats.org/officeDocument/2006/relationships" xmlns:p="http://schemas.openxmlformats.org/presentationml/2006/main">
  <p:tag name="THINKCELLSHAPEDONOTDELETE" val="tBC7VCbHw8UnxwNfN5OyXmw"/>
</p:tagLst>
</file>

<file path=ppt/tags/tag2593.xml><?xml version="1.0" encoding="utf-8"?>
<p:tagLst xmlns:a="http://schemas.openxmlformats.org/drawingml/2006/main" xmlns:r="http://schemas.openxmlformats.org/officeDocument/2006/relationships" xmlns:p="http://schemas.openxmlformats.org/presentationml/2006/main">
  <p:tag name="THINKCELLSHAPEDONOTDELETE" val="t2R.z4DMtvXwrC8H85U5Rog"/>
</p:tagLst>
</file>

<file path=ppt/tags/tag2594.xml><?xml version="1.0" encoding="utf-8"?>
<p:tagLst xmlns:a="http://schemas.openxmlformats.org/drawingml/2006/main" xmlns:r="http://schemas.openxmlformats.org/officeDocument/2006/relationships" xmlns:p="http://schemas.openxmlformats.org/presentationml/2006/main">
  <p:tag name="THINKCELLSHAPEDONOTDELETE" val="tqPY3180LUgoes2hjyHu0mw"/>
</p:tagLst>
</file>

<file path=ppt/tags/tag2595.xml><?xml version="1.0" encoding="utf-8"?>
<p:tagLst xmlns:a="http://schemas.openxmlformats.org/drawingml/2006/main" xmlns:r="http://schemas.openxmlformats.org/officeDocument/2006/relationships" xmlns:p="http://schemas.openxmlformats.org/presentationml/2006/main">
  <p:tag name="THINKCELLSHAPEDONOTDELETE" val="tlB3VRaA6jlX1bPInVoyOKg"/>
</p:tagLst>
</file>

<file path=ppt/tags/tag2596.xml><?xml version="1.0" encoding="utf-8"?>
<p:tagLst xmlns:a="http://schemas.openxmlformats.org/drawingml/2006/main" xmlns:r="http://schemas.openxmlformats.org/officeDocument/2006/relationships" xmlns:p="http://schemas.openxmlformats.org/presentationml/2006/main">
  <p:tag name="THINKCELLSHAPEDONOTDELETE" val="tYHI_9hvGHrz7Gih9C2VNsg"/>
</p:tagLst>
</file>

<file path=ppt/tags/tag2597.xml><?xml version="1.0" encoding="utf-8"?>
<p:tagLst xmlns:a="http://schemas.openxmlformats.org/drawingml/2006/main" xmlns:r="http://schemas.openxmlformats.org/officeDocument/2006/relationships" xmlns:p="http://schemas.openxmlformats.org/presentationml/2006/main">
  <p:tag name="THINKCELLSHAPEDONOTDELETE" val="tlHl71oQKCTu0b.GdinP7bw"/>
</p:tagLst>
</file>

<file path=ppt/tags/tag2598.xml><?xml version="1.0" encoding="utf-8"?>
<p:tagLst xmlns:a="http://schemas.openxmlformats.org/drawingml/2006/main" xmlns:r="http://schemas.openxmlformats.org/officeDocument/2006/relationships" xmlns:p="http://schemas.openxmlformats.org/presentationml/2006/main">
  <p:tag name="THINKCELLSHAPEDONOTDELETE" val="tLfLvq4FjcdKkh3yNwe6JfA"/>
</p:tagLst>
</file>

<file path=ppt/tags/tag2599.xml><?xml version="1.0" encoding="utf-8"?>
<p:tagLst xmlns:a="http://schemas.openxmlformats.org/drawingml/2006/main" xmlns:r="http://schemas.openxmlformats.org/officeDocument/2006/relationships" xmlns:p="http://schemas.openxmlformats.org/presentationml/2006/main">
  <p:tag name="THINKCELLSHAPEDONOTDELETE" val="t7S_4Urssn5qB6KfpAwg_Dg"/>
</p:tagLst>
</file>

<file path=ppt/tags/tag2600.xml><?xml version="1.0" encoding="utf-8"?>
<p:tagLst xmlns:a="http://schemas.openxmlformats.org/drawingml/2006/main" xmlns:r="http://schemas.openxmlformats.org/officeDocument/2006/relationships" xmlns:p="http://schemas.openxmlformats.org/presentationml/2006/main">
  <p:tag name="THINKCELLSHAPEDONOTDELETE" val="tmLS_duJxp0eh1.dTUTRcYw"/>
</p:tagLst>
</file>

<file path=ppt/tags/tag2601.xml><?xml version="1.0" encoding="utf-8"?>
<p:tagLst xmlns:a="http://schemas.openxmlformats.org/drawingml/2006/main" xmlns:r="http://schemas.openxmlformats.org/officeDocument/2006/relationships" xmlns:p="http://schemas.openxmlformats.org/presentationml/2006/main">
  <p:tag name="THINKCELLSHAPEDONOTDELETE" val="tImQAzeRIVFFvSzghYMeIKw"/>
</p:tagLst>
</file>

<file path=ppt/tags/tag2602.xml><?xml version="1.0" encoding="utf-8"?>
<p:tagLst xmlns:a="http://schemas.openxmlformats.org/drawingml/2006/main" xmlns:r="http://schemas.openxmlformats.org/officeDocument/2006/relationships" xmlns:p="http://schemas.openxmlformats.org/presentationml/2006/main">
  <p:tag name="THINKCELLSHAPEDONOTDELETE" val="tbl4M1vouXaPBsyR9BPgQ3w"/>
</p:tagLst>
</file>

<file path=ppt/tags/tag2603.xml><?xml version="1.0" encoding="utf-8"?>
<p:tagLst xmlns:a="http://schemas.openxmlformats.org/drawingml/2006/main" xmlns:r="http://schemas.openxmlformats.org/officeDocument/2006/relationships" xmlns:p="http://schemas.openxmlformats.org/presentationml/2006/main">
  <p:tag name="THINKCELLSHAPEDONOTDELETE" val="t6S7h0rpHrBorXNDTHWMrZA"/>
</p:tagLst>
</file>

<file path=ppt/tags/tag2604.xml><?xml version="1.0" encoding="utf-8"?>
<p:tagLst xmlns:a="http://schemas.openxmlformats.org/drawingml/2006/main" xmlns:r="http://schemas.openxmlformats.org/officeDocument/2006/relationships" xmlns:p="http://schemas.openxmlformats.org/presentationml/2006/main">
  <p:tag name="THINKCELLSHAPEDONOTDELETE" val="te29XnOZoEXsYxx8MBrrrdw"/>
</p:tagLst>
</file>

<file path=ppt/tags/tag2605.xml><?xml version="1.0" encoding="utf-8"?>
<p:tagLst xmlns:a="http://schemas.openxmlformats.org/drawingml/2006/main" xmlns:r="http://schemas.openxmlformats.org/officeDocument/2006/relationships" xmlns:p="http://schemas.openxmlformats.org/presentationml/2006/main">
  <p:tag name="THINKCELLSHAPEDONOTDELETE" val="tM14tdySyLll8wQo6k98fZw"/>
</p:tagLst>
</file>

<file path=ppt/tags/tag2606.xml><?xml version="1.0" encoding="utf-8"?>
<p:tagLst xmlns:a="http://schemas.openxmlformats.org/drawingml/2006/main" xmlns:r="http://schemas.openxmlformats.org/officeDocument/2006/relationships" xmlns:p="http://schemas.openxmlformats.org/presentationml/2006/main">
  <p:tag name="THINKCELLSHAPEDONOTDELETE" val="txXfLyyB91GX_sWwoeg2.ag"/>
</p:tagLst>
</file>

<file path=ppt/tags/tag2607.xml><?xml version="1.0" encoding="utf-8"?>
<p:tagLst xmlns:a="http://schemas.openxmlformats.org/drawingml/2006/main" xmlns:r="http://schemas.openxmlformats.org/officeDocument/2006/relationships" xmlns:p="http://schemas.openxmlformats.org/presentationml/2006/main">
  <p:tag name="THINKCELLSHAPEDONOTDELETE" val="trOG5Idi1Pb0D0GhtL2YvdQ"/>
</p:tagLst>
</file>

<file path=ppt/tags/tag2608.xml><?xml version="1.0" encoding="utf-8"?>
<p:tagLst xmlns:a="http://schemas.openxmlformats.org/drawingml/2006/main" xmlns:r="http://schemas.openxmlformats.org/officeDocument/2006/relationships" xmlns:p="http://schemas.openxmlformats.org/presentationml/2006/main">
  <p:tag name="THINKCELLSHAPEDONOTDELETE" val="th80jLOMgo.RTxogo3ULb8Q"/>
</p:tagLst>
</file>

<file path=ppt/tags/tag2609.xml><?xml version="1.0" encoding="utf-8"?>
<p:tagLst xmlns:a="http://schemas.openxmlformats.org/drawingml/2006/main" xmlns:r="http://schemas.openxmlformats.org/officeDocument/2006/relationships" xmlns:p="http://schemas.openxmlformats.org/presentationml/2006/main">
  <p:tag name="THINKCELLSHAPEDONOTDELETE" val="tmDAJh3m02f_KAghaPGb_Dw"/>
</p:tagLst>
</file>

<file path=ppt/tags/tag2610.xml><?xml version="1.0" encoding="utf-8"?>
<p:tagLst xmlns:a="http://schemas.openxmlformats.org/drawingml/2006/main" xmlns:r="http://schemas.openxmlformats.org/officeDocument/2006/relationships" xmlns:p="http://schemas.openxmlformats.org/presentationml/2006/main">
  <p:tag name="THINKCELLSHAPEDONOTDELETE" val="tjkbHc278JTse4RO2Yrwt5g"/>
</p:tagLst>
</file>

<file path=ppt/tags/tag2611.xml><?xml version="1.0" encoding="utf-8"?>
<p:tagLst xmlns:a="http://schemas.openxmlformats.org/drawingml/2006/main" xmlns:r="http://schemas.openxmlformats.org/officeDocument/2006/relationships" xmlns:p="http://schemas.openxmlformats.org/presentationml/2006/main">
  <p:tag name="THINKCELLSHAPEDONOTDELETE" val="tZOTr1xnc9JROXhMMf3cNlQ"/>
</p:tagLst>
</file>

<file path=ppt/tags/tag2612.xml><?xml version="1.0" encoding="utf-8"?>
<p:tagLst xmlns:a="http://schemas.openxmlformats.org/drawingml/2006/main" xmlns:r="http://schemas.openxmlformats.org/officeDocument/2006/relationships" xmlns:p="http://schemas.openxmlformats.org/presentationml/2006/main">
  <p:tag name="THINKCELLSHAPEDONOTDELETE" val="t4Azn2fs1_szenSPv903h4A"/>
</p:tagLst>
</file>

<file path=ppt/tags/tag2613.xml><?xml version="1.0" encoding="utf-8"?>
<p:tagLst xmlns:a="http://schemas.openxmlformats.org/drawingml/2006/main" xmlns:r="http://schemas.openxmlformats.org/officeDocument/2006/relationships" xmlns:p="http://schemas.openxmlformats.org/presentationml/2006/main">
  <p:tag name="THINKCELLSHAPEDONOTDELETE" val="tHbjGCS9FR2C27Gx0KLSZRw"/>
</p:tagLst>
</file>

<file path=ppt/tags/tag2614.xml><?xml version="1.0" encoding="utf-8"?>
<p:tagLst xmlns:a="http://schemas.openxmlformats.org/drawingml/2006/main" xmlns:r="http://schemas.openxmlformats.org/officeDocument/2006/relationships" xmlns:p="http://schemas.openxmlformats.org/presentationml/2006/main">
  <p:tag name="THINKCELLSHAPEDONOTDELETE" val="taC4W6SqSKahQfkzsa4CUgA"/>
</p:tagLst>
</file>

<file path=ppt/tags/tag2615.xml><?xml version="1.0" encoding="utf-8"?>
<p:tagLst xmlns:a="http://schemas.openxmlformats.org/drawingml/2006/main" xmlns:r="http://schemas.openxmlformats.org/officeDocument/2006/relationships" xmlns:p="http://schemas.openxmlformats.org/presentationml/2006/main">
  <p:tag name="THINKCELLSHAPEDONOTDELETE" val="twl8JpyN8qOx1jZBH9PVraQ"/>
</p:tagLst>
</file>

<file path=ppt/tags/tag2616.xml><?xml version="1.0" encoding="utf-8"?>
<p:tagLst xmlns:a="http://schemas.openxmlformats.org/drawingml/2006/main" xmlns:r="http://schemas.openxmlformats.org/officeDocument/2006/relationships" xmlns:p="http://schemas.openxmlformats.org/presentationml/2006/main">
  <p:tag name="THINKCELLSHAPEDONOTDELETE" val="tdO_vwdWZZv1AW6zpiJ..Sg"/>
</p:tagLst>
</file>

<file path=ppt/tags/tag2617.xml><?xml version="1.0" encoding="utf-8"?>
<p:tagLst xmlns:a="http://schemas.openxmlformats.org/drawingml/2006/main" xmlns:r="http://schemas.openxmlformats.org/officeDocument/2006/relationships" xmlns:p="http://schemas.openxmlformats.org/presentationml/2006/main">
  <p:tag name="THINKCELLSHAPEDONOTDELETE" val="t85D.EWqN8dv1V.ao93fviQ"/>
</p:tagLst>
</file>

<file path=ppt/tags/tag2618.xml><?xml version="1.0" encoding="utf-8"?>
<p:tagLst xmlns:a="http://schemas.openxmlformats.org/drawingml/2006/main" xmlns:r="http://schemas.openxmlformats.org/officeDocument/2006/relationships" xmlns:p="http://schemas.openxmlformats.org/presentationml/2006/main">
  <p:tag name="THINKCELLSHAPEDONOTDELETE" val="tD__G.PrSkegpFIJV9xPyPg"/>
</p:tagLst>
</file>

<file path=ppt/tags/tag2619.xml><?xml version="1.0" encoding="utf-8"?>
<p:tagLst xmlns:a="http://schemas.openxmlformats.org/drawingml/2006/main" xmlns:r="http://schemas.openxmlformats.org/officeDocument/2006/relationships" xmlns:p="http://schemas.openxmlformats.org/presentationml/2006/main">
  <p:tag name="THINKCELLSHAPEDONOTDELETE" val="tpPeREfuP6KDZnUBYlV9RDw"/>
</p:tagLst>
</file>

<file path=ppt/tags/tag2620.xml><?xml version="1.0" encoding="utf-8"?>
<p:tagLst xmlns:a="http://schemas.openxmlformats.org/drawingml/2006/main" xmlns:r="http://schemas.openxmlformats.org/officeDocument/2006/relationships" xmlns:p="http://schemas.openxmlformats.org/presentationml/2006/main">
  <p:tag name="THINKCELLSHAPEDONOTDELETE" val="t8ypc8VBYauzi2yRXF1aMrQ"/>
</p:tagLst>
</file>

<file path=ppt/tags/tag2621.xml><?xml version="1.0" encoding="utf-8"?>
<p:tagLst xmlns:a="http://schemas.openxmlformats.org/drawingml/2006/main" xmlns:r="http://schemas.openxmlformats.org/officeDocument/2006/relationships" xmlns:p="http://schemas.openxmlformats.org/presentationml/2006/main">
  <p:tag name="THINKCELLSHAPEDONOTDELETE" val="txF4fgrJmdNjb4cyn9nnNPg"/>
</p:tagLst>
</file>

<file path=ppt/tags/tag2622.xml><?xml version="1.0" encoding="utf-8"?>
<p:tagLst xmlns:a="http://schemas.openxmlformats.org/drawingml/2006/main" xmlns:r="http://schemas.openxmlformats.org/officeDocument/2006/relationships" xmlns:p="http://schemas.openxmlformats.org/presentationml/2006/main">
  <p:tag name="THINKCELLSHAPEDONOTDELETE" val="t.6AJewCh_qdZfNvryD2.cg"/>
</p:tagLst>
</file>

<file path=ppt/tags/tag2623.xml><?xml version="1.0" encoding="utf-8"?>
<p:tagLst xmlns:a="http://schemas.openxmlformats.org/drawingml/2006/main" xmlns:r="http://schemas.openxmlformats.org/officeDocument/2006/relationships" xmlns:p="http://schemas.openxmlformats.org/presentationml/2006/main">
  <p:tag name="THINKCELLSHAPEDONOTDELETE" val="tJHTBcavZtVCc1dQ8Demk4g"/>
</p:tagLst>
</file>

<file path=ppt/tags/tag2624.xml><?xml version="1.0" encoding="utf-8"?>
<p:tagLst xmlns:a="http://schemas.openxmlformats.org/drawingml/2006/main" xmlns:r="http://schemas.openxmlformats.org/officeDocument/2006/relationships" xmlns:p="http://schemas.openxmlformats.org/presentationml/2006/main">
  <p:tag name="THINKCELLSHAPEDONOTDELETE" val="toJQqVvweUQCN8tyaUEb9hg"/>
</p:tagLst>
</file>

<file path=ppt/tags/tag2625.xml><?xml version="1.0" encoding="utf-8"?>
<p:tagLst xmlns:a="http://schemas.openxmlformats.org/drawingml/2006/main" xmlns:r="http://schemas.openxmlformats.org/officeDocument/2006/relationships" xmlns:p="http://schemas.openxmlformats.org/presentationml/2006/main">
  <p:tag name="THINKCELLSHAPEDONOTDELETE" val="tVQeA9rfUExNDVI1cT6vs_A"/>
</p:tagLst>
</file>

<file path=ppt/tags/tag2626.xml><?xml version="1.0" encoding="utf-8"?>
<p:tagLst xmlns:a="http://schemas.openxmlformats.org/drawingml/2006/main" xmlns:r="http://schemas.openxmlformats.org/officeDocument/2006/relationships" xmlns:p="http://schemas.openxmlformats.org/presentationml/2006/main">
  <p:tag name="THINKCELLSHAPEDONOTDELETE" val="t0dIaC.LhscqLbUmJ79VuJQ"/>
</p:tagLst>
</file>

<file path=ppt/tags/tag2627.xml><?xml version="1.0" encoding="utf-8"?>
<p:tagLst xmlns:a="http://schemas.openxmlformats.org/drawingml/2006/main" xmlns:r="http://schemas.openxmlformats.org/officeDocument/2006/relationships" xmlns:p="http://schemas.openxmlformats.org/presentationml/2006/main">
  <p:tag name="THINKCELLSHAPEDONOTDELETE" val="t_JI9iA3P30CQwvjjnVeepg"/>
</p:tagLst>
</file>

<file path=ppt/tags/tag2628.xml><?xml version="1.0" encoding="utf-8"?>
<p:tagLst xmlns:a="http://schemas.openxmlformats.org/drawingml/2006/main" xmlns:r="http://schemas.openxmlformats.org/officeDocument/2006/relationships" xmlns:p="http://schemas.openxmlformats.org/presentationml/2006/main">
  <p:tag name="THINKCELLSHAPEDONOTDELETE" val="t584BlmW_uJpbNet7r3A1Mg"/>
</p:tagLst>
</file>

<file path=ppt/tags/tag2629.xml><?xml version="1.0" encoding="utf-8"?>
<p:tagLst xmlns:a="http://schemas.openxmlformats.org/drawingml/2006/main" xmlns:r="http://schemas.openxmlformats.org/officeDocument/2006/relationships" xmlns:p="http://schemas.openxmlformats.org/presentationml/2006/main">
  <p:tag name="THINKCELLSHAPEDONOTDELETE" val="t2d1i1wy4qi40rzWhwjWaDw"/>
</p:tagLst>
</file>

<file path=ppt/tags/tag2630.xml><?xml version="1.0" encoding="utf-8"?>
<p:tagLst xmlns:a="http://schemas.openxmlformats.org/drawingml/2006/main" xmlns:r="http://schemas.openxmlformats.org/officeDocument/2006/relationships" xmlns:p="http://schemas.openxmlformats.org/presentationml/2006/main">
  <p:tag name="THINKCELLSHAPEDONOTDELETE" val="tgAlh3.mEnEkIR2tZf.01iA"/>
</p:tagLst>
</file>

<file path=ppt/tags/tag2631.xml><?xml version="1.0" encoding="utf-8"?>
<p:tagLst xmlns:a="http://schemas.openxmlformats.org/drawingml/2006/main" xmlns:r="http://schemas.openxmlformats.org/officeDocument/2006/relationships" xmlns:p="http://schemas.openxmlformats.org/presentationml/2006/main">
  <p:tag name="THINKCELLSHAPEDONOTDELETE" val="tlTvw73x293ZSg43oiCLnRA"/>
</p:tagLst>
</file>

<file path=ppt/tags/tag2632.xml><?xml version="1.0" encoding="utf-8"?>
<p:tagLst xmlns:a="http://schemas.openxmlformats.org/drawingml/2006/main" xmlns:r="http://schemas.openxmlformats.org/officeDocument/2006/relationships" xmlns:p="http://schemas.openxmlformats.org/presentationml/2006/main">
  <p:tag name="THINKCELLSHAPEDONOTDELETE" val="t_G6v4N5.oK8RA8ZiUnadOQ"/>
</p:tagLst>
</file>

<file path=ppt/tags/tag2633.xml><?xml version="1.0" encoding="utf-8"?>
<p:tagLst xmlns:a="http://schemas.openxmlformats.org/drawingml/2006/main" xmlns:r="http://schemas.openxmlformats.org/officeDocument/2006/relationships" xmlns:p="http://schemas.openxmlformats.org/presentationml/2006/main">
  <p:tag name="THINKCELLSHAPEDONOTDELETE" val="t_oO7muvEZ77bSJS4cmWYSA"/>
</p:tagLst>
</file>

<file path=ppt/tags/tag2634.xml><?xml version="1.0" encoding="utf-8"?>
<p:tagLst xmlns:a="http://schemas.openxmlformats.org/drawingml/2006/main" xmlns:r="http://schemas.openxmlformats.org/officeDocument/2006/relationships" xmlns:p="http://schemas.openxmlformats.org/presentationml/2006/main">
  <p:tag name="THINKCELLSHAPEDONOTDELETE" val="tQkVsqwDzzh8P25CRmccqDw"/>
</p:tagLst>
</file>

<file path=ppt/tags/tag2635.xml><?xml version="1.0" encoding="utf-8"?>
<p:tagLst xmlns:a="http://schemas.openxmlformats.org/drawingml/2006/main" xmlns:r="http://schemas.openxmlformats.org/officeDocument/2006/relationships" xmlns:p="http://schemas.openxmlformats.org/presentationml/2006/main">
  <p:tag name="THINKCELLSHAPEDONOTDELETE" val="trSJ.NyNAtFjtYvz14_5Xtw"/>
</p:tagLst>
</file>

<file path=ppt/tags/tag2636.xml><?xml version="1.0" encoding="utf-8"?>
<p:tagLst xmlns:a="http://schemas.openxmlformats.org/drawingml/2006/main" xmlns:r="http://schemas.openxmlformats.org/officeDocument/2006/relationships" xmlns:p="http://schemas.openxmlformats.org/presentationml/2006/main">
  <p:tag name="THINKCELLSHAPEDONOTDELETE" val="t73agMw7ZuOrohx7UhxUixA"/>
</p:tagLst>
</file>

<file path=ppt/tags/tag2637.xml><?xml version="1.0" encoding="utf-8"?>
<p:tagLst xmlns:a="http://schemas.openxmlformats.org/drawingml/2006/main" xmlns:r="http://schemas.openxmlformats.org/officeDocument/2006/relationships" xmlns:p="http://schemas.openxmlformats.org/presentationml/2006/main">
  <p:tag name="THINKCELLSHAPEDONOTDELETE" val="tXO.rX63UfqyPaBFWlNH9xQ"/>
</p:tagLst>
</file>

<file path=ppt/tags/tag2638.xml><?xml version="1.0" encoding="utf-8"?>
<p:tagLst xmlns:a="http://schemas.openxmlformats.org/drawingml/2006/main" xmlns:r="http://schemas.openxmlformats.org/officeDocument/2006/relationships" xmlns:p="http://schemas.openxmlformats.org/presentationml/2006/main">
  <p:tag name="THINKCELLSHAPEDONOTDELETE" val="tt10IGyX6VvYo50yxfgLE9w"/>
</p:tagLst>
</file>

<file path=ppt/tags/tag2639.xml><?xml version="1.0" encoding="utf-8"?>
<p:tagLst xmlns:a="http://schemas.openxmlformats.org/drawingml/2006/main" xmlns:r="http://schemas.openxmlformats.org/officeDocument/2006/relationships" xmlns:p="http://schemas.openxmlformats.org/presentationml/2006/main">
  <p:tag name="THINKCELLSHAPEDONOTDELETE" val="toXLY7Kju6p9JH3CKQI1gJg"/>
</p:tagLst>
</file>

<file path=ppt/tags/tag2640.xml><?xml version="1.0" encoding="utf-8"?>
<p:tagLst xmlns:a="http://schemas.openxmlformats.org/drawingml/2006/main" xmlns:r="http://schemas.openxmlformats.org/officeDocument/2006/relationships" xmlns:p="http://schemas.openxmlformats.org/presentationml/2006/main">
  <p:tag name="THINKCELLSHAPEDONOTDELETE" val="tgzq.kXKRy2W1rgSAcz19qQ"/>
</p:tagLst>
</file>

<file path=ppt/tags/tag2641.xml><?xml version="1.0" encoding="utf-8"?>
<p:tagLst xmlns:a="http://schemas.openxmlformats.org/drawingml/2006/main" xmlns:r="http://schemas.openxmlformats.org/officeDocument/2006/relationships" xmlns:p="http://schemas.openxmlformats.org/presentationml/2006/main">
  <p:tag name="THINKCELLSHAPEDONOTDELETE" val="twaopb7RyQG0gC0zOkJXqhA"/>
</p:tagLst>
</file>

<file path=ppt/tags/tag2642.xml><?xml version="1.0" encoding="utf-8"?>
<p:tagLst xmlns:a="http://schemas.openxmlformats.org/drawingml/2006/main" xmlns:r="http://schemas.openxmlformats.org/officeDocument/2006/relationships" xmlns:p="http://schemas.openxmlformats.org/presentationml/2006/main">
  <p:tag name="THINKCELLSHAPEDONOTDELETE" val="tZXrqaRnX69xfuevQTB0Mpg"/>
</p:tagLst>
</file>

<file path=ppt/tags/tag2643.xml><?xml version="1.0" encoding="utf-8"?>
<p:tagLst xmlns:a="http://schemas.openxmlformats.org/drawingml/2006/main" xmlns:r="http://schemas.openxmlformats.org/officeDocument/2006/relationships" xmlns:p="http://schemas.openxmlformats.org/presentationml/2006/main">
  <p:tag name="THINKCELLSHAPEDONOTDELETE" val="tyr_mby4tfKr_pCrxCSfW_g"/>
</p:tagLst>
</file>

<file path=ppt/tags/tag2644.xml><?xml version="1.0" encoding="utf-8"?>
<p:tagLst xmlns:a="http://schemas.openxmlformats.org/drawingml/2006/main" xmlns:r="http://schemas.openxmlformats.org/officeDocument/2006/relationships" xmlns:p="http://schemas.openxmlformats.org/presentationml/2006/main">
  <p:tag name="THINKCELLSHAPEDONOTDELETE" val="tfXnLmZi6zNf4twjpzE1XJg"/>
</p:tagLst>
</file>

<file path=ppt/tags/tag2645.xml><?xml version="1.0" encoding="utf-8"?>
<p:tagLst xmlns:a="http://schemas.openxmlformats.org/drawingml/2006/main" xmlns:r="http://schemas.openxmlformats.org/officeDocument/2006/relationships" xmlns:p="http://schemas.openxmlformats.org/presentationml/2006/main">
  <p:tag name="THINKCELLSHAPEDONOTDELETE" val="tTbBHIl_XYutUkfwt1QHlJA"/>
</p:tagLst>
</file>

<file path=ppt/tags/tag2646.xml><?xml version="1.0" encoding="utf-8"?>
<p:tagLst xmlns:a="http://schemas.openxmlformats.org/drawingml/2006/main" xmlns:r="http://schemas.openxmlformats.org/officeDocument/2006/relationships" xmlns:p="http://schemas.openxmlformats.org/presentationml/2006/main">
  <p:tag name="THINKCELLSHAPEDONOTDELETE" val="t81RLwsY9odmJVV9SziC6DQ"/>
</p:tagLst>
</file>

<file path=ppt/tags/tag2647.xml><?xml version="1.0" encoding="utf-8"?>
<p:tagLst xmlns:a="http://schemas.openxmlformats.org/drawingml/2006/main" xmlns:r="http://schemas.openxmlformats.org/officeDocument/2006/relationships" xmlns:p="http://schemas.openxmlformats.org/presentationml/2006/main">
  <p:tag name="THINKCELLSHAPEDONOTDELETE" val="tYAgvrwqChbQsT.6aAoEJlg"/>
</p:tagLst>
</file>

<file path=ppt/tags/tag2648.xml><?xml version="1.0" encoding="utf-8"?>
<p:tagLst xmlns:a="http://schemas.openxmlformats.org/drawingml/2006/main" xmlns:r="http://schemas.openxmlformats.org/officeDocument/2006/relationships" xmlns:p="http://schemas.openxmlformats.org/presentationml/2006/main">
  <p:tag name="THINKCELLSHAPEDONOTDELETE" val="tSuzWnQZ.TW7nQVlln2_cIA"/>
</p:tagLst>
</file>

<file path=ppt/tags/tag2649.xml><?xml version="1.0" encoding="utf-8"?>
<p:tagLst xmlns:a="http://schemas.openxmlformats.org/drawingml/2006/main" xmlns:r="http://schemas.openxmlformats.org/officeDocument/2006/relationships" xmlns:p="http://schemas.openxmlformats.org/presentationml/2006/main">
  <p:tag name="THINKCELLSHAPEDONOTDELETE" val="ty8YxW0TIVWAHKPO4SSJL1g"/>
</p:tagLst>
</file>

<file path=ppt/tags/tag2650.xml><?xml version="1.0" encoding="utf-8"?>
<p:tagLst xmlns:a="http://schemas.openxmlformats.org/drawingml/2006/main" xmlns:r="http://schemas.openxmlformats.org/officeDocument/2006/relationships" xmlns:p="http://schemas.openxmlformats.org/presentationml/2006/main">
  <p:tag name="THINKCELLSHAPEDONOTDELETE" val="ttMYPAkI8vLWi5Q_R.Dg6uw"/>
</p:tagLst>
</file>

<file path=ppt/tags/tag2651.xml><?xml version="1.0" encoding="utf-8"?>
<p:tagLst xmlns:a="http://schemas.openxmlformats.org/drawingml/2006/main" xmlns:r="http://schemas.openxmlformats.org/officeDocument/2006/relationships" xmlns:p="http://schemas.openxmlformats.org/presentationml/2006/main">
  <p:tag name="THINKCELLSHAPEDONOTDELETE" val="twwC0bMCQayfLs5lfqffD_w"/>
</p:tagLst>
</file>

<file path=ppt/tags/tag2652.xml><?xml version="1.0" encoding="utf-8"?>
<p:tagLst xmlns:a="http://schemas.openxmlformats.org/drawingml/2006/main" xmlns:r="http://schemas.openxmlformats.org/officeDocument/2006/relationships" xmlns:p="http://schemas.openxmlformats.org/presentationml/2006/main">
  <p:tag name="THINKCELLSHAPEDONOTDELETE" val="tmnMOsk0c_KciQLuRtm0ijQ"/>
</p:tagLst>
</file>

<file path=ppt/tags/tag2653.xml><?xml version="1.0" encoding="utf-8"?>
<p:tagLst xmlns:a="http://schemas.openxmlformats.org/drawingml/2006/main" xmlns:r="http://schemas.openxmlformats.org/officeDocument/2006/relationships" xmlns:p="http://schemas.openxmlformats.org/presentationml/2006/main">
  <p:tag name="THINKCELLSHAPEDONOTDELETE" val="t3w1Voyy10JhdcX8hATwjJQ"/>
</p:tagLst>
</file>

<file path=ppt/tags/tag2654.xml><?xml version="1.0" encoding="utf-8"?>
<p:tagLst xmlns:a="http://schemas.openxmlformats.org/drawingml/2006/main" xmlns:r="http://schemas.openxmlformats.org/officeDocument/2006/relationships" xmlns:p="http://schemas.openxmlformats.org/presentationml/2006/main">
  <p:tag name="THINKCELLSHAPEDONOTDELETE" val="tioSEHi4wwCE3fARcJtwaZQ"/>
</p:tagLst>
</file>

<file path=ppt/tags/tag2655.xml><?xml version="1.0" encoding="utf-8"?>
<p:tagLst xmlns:a="http://schemas.openxmlformats.org/drawingml/2006/main" xmlns:r="http://schemas.openxmlformats.org/officeDocument/2006/relationships" xmlns:p="http://schemas.openxmlformats.org/presentationml/2006/main">
  <p:tag name="THINKCELLSHAPEDONOTDELETE" val="thxbubfmYhLCrG27xniJPGw"/>
</p:tagLst>
</file>

<file path=ppt/tags/tag2656.xml><?xml version="1.0" encoding="utf-8"?>
<p:tagLst xmlns:a="http://schemas.openxmlformats.org/drawingml/2006/main" xmlns:r="http://schemas.openxmlformats.org/officeDocument/2006/relationships" xmlns:p="http://schemas.openxmlformats.org/presentationml/2006/main">
  <p:tag name="THINKCELLSHAPEDONOTDELETE" val="tI0WLvS3qKkp.hSpWOecgJQ"/>
</p:tagLst>
</file>

<file path=ppt/tags/tag2657.xml><?xml version="1.0" encoding="utf-8"?>
<p:tagLst xmlns:a="http://schemas.openxmlformats.org/drawingml/2006/main" xmlns:r="http://schemas.openxmlformats.org/officeDocument/2006/relationships" xmlns:p="http://schemas.openxmlformats.org/presentationml/2006/main">
  <p:tag name="THINKCELLSHAPEDONOTDELETE" val="t1YcArXjHDJNdfcaNbVVkgg"/>
</p:tagLst>
</file>

<file path=ppt/tags/tag2658.xml><?xml version="1.0" encoding="utf-8"?>
<p:tagLst xmlns:a="http://schemas.openxmlformats.org/drawingml/2006/main" xmlns:r="http://schemas.openxmlformats.org/officeDocument/2006/relationships" xmlns:p="http://schemas.openxmlformats.org/presentationml/2006/main">
  <p:tag name="THINKCELLSHAPEDONOTDELETE" val="t5u2pJoq2xKUK7FYrNeP04Q"/>
</p:tagLst>
</file>

<file path=ppt/tags/tag2659.xml><?xml version="1.0" encoding="utf-8"?>
<p:tagLst xmlns:a="http://schemas.openxmlformats.org/drawingml/2006/main" xmlns:r="http://schemas.openxmlformats.org/officeDocument/2006/relationships" xmlns:p="http://schemas.openxmlformats.org/presentationml/2006/main">
  <p:tag name="THINKCELLSHAPEDONOTDELETE" val="tSlIGLOUCgWH9.G63dZTttA"/>
</p:tagLst>
</file>

<file path=ppt/tags/tag2660.xml><?xml version="1.0" encoding="utf-8"?>
<p:tagLst xmlns:a="http://schemas.openxmlformats.org/drawingml/2006/main" xmlns:r="http://schemas.openxmlformats.org/officeDocument/2006/relationships" xmlns:p="http://schemas.openxmlformats.org/presentationml/2006/main">
  <p:tag name="THINKCELLSHAPEDONOTDELETE" val="toe5m0ZThKCBQy1TxJXAORQ"/>
</p:tagLst>
</file>

<file path=ppt/tags/tag2661.xml><?xml version="1.0" encoding="utf-8"?>
<p:tagLst xmlns:a="http://schemas.openxmlformats.org/drawingml/2006/main" xmlns:r="http://schemas.openxmlformats.org/officeDocument/2006/relationships" xmlns:p="http://schemas.openxmlformats.org/presentationml/2006/main">
  <p:tag name="THINKCELLSHAPEDONOTDELETE" val="tO5FGjZbWSvBm1B5.2IF0dQ"/>
</p:tagLst>
</file>

<file path=ppt/tags/tag2662.xml><?xml version="1.0" encoding="utf-8"?>
<p:tagLst xmlns:a="http://schemas.openxmlformats.org/drawingml/2006/main" xmlns:r="http://schemas.openxmlformats.org/officeDocument/2006/relationships" xmlns:p="http://schemas.openxmlformats.org/presentationml/2006/main">
  <p:tag name="THINKCELLSHAPEDONOTDELETE" val="tHhPWguIcqZZAl2iLUgJiFg"/>
</p:tagLst>
</file>

<file path=ppt/tags/tag2663.xml><?xml version="1.0" encoding="utf-8"?>
<p:tagLst xmlns:a="http://schemas.openxmlformats.org/drawingml/2006/main" xmlns:r="http://schemas.openxmlformats.org/officeDocument/2006/relationships" xmlns:p="http://schemas.openxmlformats.org/presentationml/2006/main">
  <p:tag name="THINKCELLSHAPEDONOTDELETE" val="tK77BwxgZ7F8Fh23mLsDtfQ"/>
</p:tagLst>
</file>

<file path=ppt/tags/tag2664.xml><?xml version="1.0" encoding="utf-8"?>
<p:tagLst xmlns:a="http://schemas.openxmlformats.org/drawingml/2006/main" xmlns:r="http://schemas.openxmlformats.org/officeDocument/2006/relationships" xmlns:p="http://schemas.openxmlformats.org/presentationml/2006/main">
  <p:tag name="THINKCELLSHAPEDONOTDELETE" val="tJLQiNQOzJlOZIVZa2ADpeg"/>
</p:tagLst>
</file>

<file path=ppt/tags/tag2665.xml><?xml version="1.0" encoding="utf-8"?>
<p:tagLst xmlns:a="http://schemas.openxmlformats.org/drawingml/2006/main" xmlns:r="http://schemas.openxmlformats.org/officeDocument/2006/relationships" xmlns:p="http://schemas.openxmlformats.org/presentationml/2006/main">
  <p:tag name="THINKCELLSHAPEDONOTDELETE" val="t15kBBXMCCWF1lw5qDnQDiw"/>
</p:tagLst>
</file>

<file path=ppt/tags/tag2666.xml><?xml version="1.0" encoding="utf-8"?>
<p:tagLst xmlns:a="http://schemas.openxmlformats.org/drawingml/2006/main" xmlns:r="http://schemas.openxmlformats.org/officeDocument/2006/relationships" xmlns:p="http://schemas.openxmlformats.org/presentationml/2006/main">
  <p:tag name="THINKCELLSHAPEDONOTDELETE" val="t2KN3VlZ3kVTEhnqcz1Bjxw"/>
</p:tagLst>
</file>

<file path=ppt/tags/tag2667.xml><?xml version="1.0" encoding="utf-8"?>
<p:tagLst xmlns:a="http://schemas.openxmlformats.org/drawingml/2006/main" xmlns:r="http://schemas.openxmlformats.org/officeDocument/2006/relationships" xmlns:p="http://schemas.openxmlformats.org/presentationml/2006/main">
  <p:tag name="THINKCELLSHAPEDONOTDELETE" val="tSc3ftbHEBe6PaoGgp2HHtA"/>
</p:tagLst>
</file>

<file path=ppt/tags/tag266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669.xml><?xml version="1.0" encoding="utf-8"?>
<p:tagLst xmlns:a="http://schemas.openxmlformats.org/drawingml/2006/main" xmlns:r="http://schemas.openxmlformats.org/officeDocument/2006/relationships" xmlns:p="http://schemas.openxmlformats.org/presentationml/2006/main">
  <p:tag name="THINKCELLSHAPEDONOTDELETE" val="tXkO2u59egCQrnROSL0pNDw"/>
</p:tagLst>
</file>

<file path=ppt/tags/tag2670.xml><?xml version="1.0" encoding="utf-8"?>
<p:tagLst xmlns:a="http://schemas.openxmlformats.org/drawingml/2006/main" xmlns:r="http://schemas.openxmlformats.org/officeDocument/2006/relationships" xmlns:p="http://schemas.openxmlformats.org/presentationml/2006/main">
  <p:tag name="HEADER" val="True"/>
</p:tagLst>
</file>

<file path=ppt/tags/tag2671.xml><?xml version="1.0" encoding="utf-8"?>
<p:tagLst xmlns:a="http://schemas.openxmlformats.org/drawingml/2006/main" xmlns:r="http://schemas.openxmlformats.org/officeDocument/2006/relationships" xmlns:p="http://schemas.openxmlformats.org/presentationml/2006/main">
  <p:tag name="THINKCELLSHAPEDONOTDELETE" val="txZiLN.lhrMgkPcQZRpXidQ"/>
</p:tagLst>
</file>

<file path=ppt/tags/tag2672.xml><?xml version="1.0" encoding="utf-8"?>
<p:tagLst xmlns:a="http://schemas.openxmlformats.org/drawingml/2006/main" xmlns:r="http://schemas.openxmlformats.org/officeDocument/2006/relationships" xmlns:p="http://schemas.openxmlformats.org/presentationml/2006/main">
  <p:tag name="THINKCELLSHAPEDONOTDELETE" val="tOuD6JWooYsj5aT_kYVPV7w"/>
</p:tagLst>
</file>

<file path=ppt/tags/tag2673.xml><?xml version="1.0" encoding="utf-8"?>
<p:tagLst xmlns:a="http://schemas.openxmlformats.org/drawingml/2006/main" xmlns:r="http://schemas.openxmlformats.org/officeDocument/2006/relationships" xmlns:p="http://schemas.openxmlformats.org/presentationml/2006/main">
  <p:tag name="THINKCELLSHAPEDONOTDELETE" val="tBhdCIkF4VBwQZ0Fil3Hbvg"/>
</p:tagLst>
</file>

<file path=ppt/tags/tag2674.xml><?xml version="1.0" encoding="utf-8"?>
<p:tagLst xmlns:a="http://schemas.openxmlformats.org/drawingml/2006/main" xmlns:r="http://schemas.openxmlformats.org/officeDocument/2006/relationships" xmlns:p="http://schemas.openxmlformats.org/presentationml/2006/main">
  <p:tag name="THINKCELLSHAPEDONOTDELETE" val="tqy9nGt8zSv9rqO1.Ce5ONQ"/>
</p:tagLst>
</file>

<file path=ppt/tags/tag2675.xml><?xml version="1.0" encoding="utf-8"?>
<p:tagLst xmlns:a="http://schemas.openxmlformats.org/drawingml/2006/main" xmlns:r="http://schemas.openxmlformats.org/officeDocument/2006/relationships" xmlns:p="http://schemas.openxmlformats.org/presentationml/2006/main">
  <p:tag name="THINKCELLSHAPEDONOTDELETE" val="tcKjrP7Z4EyJ_4MDSOQg5xA"/>
</p:tagLst>
</file>

<file path=ppt/tags/tag2676.xml><?xml version="1.0" encoding="utf-8"?>
<p:tagLst xmlns:a="http://schemas.openxmlformats.org/drawingml/2006/main" xmlns:r="http://schemas.openxmlformats.org/officeDocument/2006/relationships" xmlns:p="http://schemas.openxmlformats.org/presentationml/2006/main">
  <p:tag name="THINKCELLSHAPEDONOTDELETE" val="tHvUihyxjJ_5ZArACohy8YA"/>
</p:tagLst>
</file>

<file path=ppt/tags/tag2677.xml><?xml version="1.0" encoding="utf-8"?>
<p:tagLst xmlns:a="http://schemas.openxmlformats.org/drawingml/2006/main" xmlns:r="http://schemas.openxmlformats.org/officeDocument/2006/relationships" xmlns:p="http://schemas.openxmlformats.org/presentationml/2006/main">
  <p:tag name="THINKCELLSHAPEDONOTDELETE" val="t.z5tN_C1j3rwVxu6XHhoCQ"/>
</p:tagLst>
</file>

<file path=ppt/tags/tag2678.xml><?xml version="1.0" encoding="utf-8"?>
<p:tagLst xmlns:a="http://schemas.openxmlformats.org/drawingml/2006/main" xmlns:r="http://schemas.openxmlformats.org/officeDocument/2006/relationships" xmlns:p="http://schemas.openxmlformats.org/presentationml/2006/main">
  <p:tag name="THINKCELLSHAPEDONOTDELETE" val="tevZoUlddaFx_0iSA4SbImA"/>
</p:tagLst>
</file>

<file path=ppt/tags/tag2679.xml><?xml version="1.0" encoding="utf-8"?>
<p:tagLst xmlns:a="http://schemas.openxmlformats.org/drawingml/2006/main" xmlns:r="http://schemas.openxmlformats.org/officeDocument/2006/relationships" xmlns:p="http://schemas.openxmlformats.org/presentationml/2006/main">
  <p:tag name="THINKCELLSHAPEDONOTDELETE" val="tM3hIXIow5f76i8RI68dK1g"/>
</p:tagLst>
</file>

<file path=ppt/tags/tag2680.xml><?xml version="1.0" encoding="utf-8"?>
<p:tagLst xmlns:a="http://schemas.openxmlformats.org/drawingml/2006/main" xmlns:r="http://schemas.openxmlformats.org/officeDocument/2006/relationships" xmlns:p="http://schemas.openxmlformats.org/presentationml/2006/main">
  <p:tag name="THINKCELLSHAPEDONOTDELETE" val="ttrCl6qNlWv3sekQevK38qw"/>
</p:tagLst>
</file>

<file path=ppt/tags/tag2681.xml><?xml version="1.0" encoding="utf-8"?>
<p:tagLst xmlns:a="http://schemas.openxmlformats.org/drawingml/2006/main" xmlns:r="http://schemas.openxmlformats.org/officeDocument/2006/relationships" xmlns:p="http://schemas.openxmlformats.org/presentationml/2006/main">
  <p:tag name="THINKCELLSHAPEDONOTDELETE" val="tHYil6o6DE7eJQNZXaQ9mcg"/>
</p:tagLst>
</file>

<file path=ppt/tags/tag2682.xml><?xml version="1.0" encoding="utf-8"?>
<p:tagLst xmlns:a="http://schemas.openxmlformats.org/drawingml/2006/main" xmlns:r="http://schemas.openxmlformats.org/officeDocument/2006/relationships" xmlns:p="http://schemas.openxmlformats.org/presentationml/2006/main">
  <p:tag name="THINKCELLSHAPEDONOTDELETE" val="ttX5DW5bl1zJjjp9kCVzkNA"/>
</p:tagLst>
</file>

<file path=ppt/tags/tag2683.xml><?xml version="1.0" encoding="utf-8"?>
<p:tagLst xmlns:a="http://schemas.openxmlformats.org/drawingml/2006/main" xmlns:r="http://schemas.openxmlformats.org/officeDocument/2006/relationships" xmlns:p="http://schemas.openxmlformats.org/presentationml/2006/main">
  <p:tag name="THINKCELLSHAPEDONOTDELETE" val="tulGl2z4GFKaYedoGMnXrvA"/>
</p:tagLst>
</file>

<file path=ppt/tags/tag2684.xml><?xml version="1.0" encoding="utf-8"?>
<p:tagLst xmlns:a="http://schemas.openxmlformats.org/drawingml/2006/main" xmlns:r="http://schemas.openxmlformats.org/officeDocument/2006/relationships" xmlns:p="http://schemas.openxmlformats.org/presentationml/2006/main">
  <p:tag name="THINKCELLSHAPEDONOTDELETE" val="tXBVCg4tvTT0BG.aZh72cKw"/>
</p:tagLst>
</file>

<file path=ppt/tags/tag2685.xml><?xml version="1.0" encoding="utf-8"?>
<p:tagLst xmlns:a="http://schemas.openxmlformats.org/drawingml/2006/main" xmlns:r="http://schemas.openxmlformats.org/officeDocument/2006/relationships" xmlns:p="http://schemas.openxmlformats.org/presentationml/2006/main">
  <p:tag name="THINKCELLSHAPEDONOTDELETE" val="tmLS_duJxp0eh1.dTUTRcYw"/>
</p:tagLst>
</file>

<file path=ppt/tags/tag2686.xml><?xml version="1.0" encoding="utf-8"?>
<p:tagLst xmlns:a="http://schemas.openxmlformats.org/drawingml/2006/main" xmlns:r="http://schemas.openxmlformats.org/officeDocument/2006/relationships" xmlns:p="http://schemas.openxmlformats.org/presentationml/2006/main">
  <p:tag name="THINKCELLSHAPEDONOTDELETE" val="tdq27D_fvFgY0TYcPgMvLCw"/>
</p:tagLst>
</file>

<file path=ppt/tags/tag2687.xml><?xml version="1.0" encoding="utf-8"?>
<p:tagLst xmlns:a="http://schemas.openxmlformats.org/drawingml/2006/main" xmlns:r="http://schemas.openxmlformats.org/officeDocument/2006/relationships" xmlns:p="http://schemas.openxmlformats.org/presentationml/2006/main">
  <p:tag name="THINKCELLSHAPEDONOTDELETE" val="tbl4M1vouXaPBsyR9BPgQ3w"/>
</p:tagLst>
</file>

<file path=ppt/tags/tag2688.xml><?xml version="1.0" encoding="utf-8"?>
<p:tagLst xmlns:a="http://schemas.openxmlformats.org/drawingml/2006/main" xmlns:r="http://schemas.openxmlformats.org/officeDocument/2006/relationships" xmlns:p="http://schemas.openxmlformats.org/presentationml/2006/main">
  <p:tag name="THINKCELLSHAPEDONOTDELETE" val="tM14tdySyLll8wQo6k98fZw"/>
</p:tagLst>
</file>

<file path=ppt/tags/tag2689.xml><?xml version="1.0" encoding="utf-8"?>
<p:tagLst xmlns:a="http://schemas.openxmlformats.org/drawingml/2006/main" xmlns:r="http://schemas.openxmlformats.org/officeDocument/2006/relationships" xmlns:p="http://schemas.openxmlformats.org/presentationml/2006/main">
  <p:tag name="THINKCELLSHAPEDONOTDELETE" val="tImQAzeRIVFFvSzghYMeIKw"/>
</p:tagLst>
</file>

<file path=ppt/tags/tag2690.xml><?xml version="1.0" encoding="utf-8"?>
<p:tagLst xmlns:a="http://schemas.openxmlformats.org/drawingml/2006/main" xmlns:r="http://schemas.openxmlformats.org/officeDocument/2006/relationships" xmlns:p="http://schemas.openxmlformats.org/presentationml/2006/main">
  <p:tag name="THINKCELLSHAPEDONOTDELETE" val="tpJK65ZRrwV6a0kD7dR806g"/>
</p:tagLst>
</file>

<file path=ppt/tags/tag2691.xml><?xml version="1.0" encoding="utf-8"?>
<p:tagLst xmlns:a="http://schemas.openxmlformats.org/drawingml/2006/main" xmlns:r="http://schemas.openxmlformats.org/officeDocument/2006/relationships" xmlns:p="http://schemas.openxmlformats.org/presentationml/2006/main">
  <p:tag name="THINKCELLSHAPEDONOTDELETE" val="twQy82JwyS1Zml_xf4IvleA"/>
</p:tagLst>
</file>

<file path=ppt/tags/tag2692.xml><?xml version="1.0" encoding="utf-8"?>
<p:tagLst xmlns:a="http://schemas.openxmlformats.org/drawingml/2006/main" xmlns:r="http://schemas.openxmlformats.org/officeDocument/2006/relationships" xmlns:p="http://schemas.openxmlformats.org/presentationml/2006/main">
  <p:tag name="THINKCELLSHAPEDONOTDELETE" val="trOG5Idi1Pb0D0GhtL2YvdQ"/>
</p:tagLst>
</file>

<file path=ppt/tags/tag2693.xml><?xml version="1.0" encoding="utf-8"?>
<p:tagLst xmlns:a="http://schemas.openxmlformats.org/drawingml/2006/main" xmlns:r="http://schemas.openxmlformats.org/officeDocument/2006/relationships" xmlns:p="http://schemas.openxmlformats.org/presentationml/2006/main">
  <p:tag name="THINKCELLSHAPEDONOTDELETE" val="tBC7VCbHw8UnxwNfN5OyXmw"/>
</p:tagLst>
</file>

<file path=ppt/tags/tag2694.xml><?xml version="1.0" encoding="utf-8"?>
<p:tagLst xmlns:a="http://schemas.openxmlformats.org/drawingml/2006/main" xmlns:r="http://schemas.openxmlformats.org/officeDocument/2006/relationships" xmlns:p="http://schemas.openxmlformats.org/presentationml/2006/main">
  <p:tag name="THINKCELLSHAPEDONOTDELETE" val="tYHI_9hvGHrz7Gih9C2VNsg"/>
</p:tagLst>
</file>

<file path=ppt/tags/tag2695.xml><?xml version="1.0" encoding="utf-8"?>
<p:tagLst xmlns:a="http://schemas.openxmlformats.org/drawingml/2006/main" xmlns:r="http://schemas.openxmlformats.org/officeDocument/2006/relationships" xmlns:p="http://schemas.openxmlformats.org/presentationml/2006/main">
  <p:tag name="THINKCELLSHAPEDONOTDELETE" val="tmDAJh3m02f_KAghaPGb_Dw"/>
</p:tagLst>
</file>

<file path=ppt/tags/tag2696.xml><?xml version="1.0" encoding="utf-8"?>
<p:tagLst xmlns:a="http://schemas.openxmlformats.org/drawingml/2006/main" xmlns:r="http://schemas.openxmlformats.org/officeDocument/2006/relationships" xmlns:p="http://schemas.openxmlformats.org/presentationml/2006/main">
  <p:tag name="THINKCELLSHAPEDONOTDELETE" val="tu8.QXh70xKtqw_j4arsYug"/>
</p:tagLst>
</file>

<file path=ppt/tags/tag2697.xml><?xml version="1.0" encoding="utf-8"?>
<p:tagLst xmlns:a="http://schemas.openxmlformats.org/drawingml/2006/main" xmlns:r="http://schemas.openxmlformats.org/officeDocument/2006/relationships" xmlns:p="http://schemas.openxmlformats.org/presentationml/2006/main">
  <p:tag name="THINKCELLSHAPEDONOTDELETE" val="tjkbHc278JTse4RO2Yrwt5g"/>
</p:tagLst>
</file>

<file path=ppt/tags/tag2698.xml><?xml version="1.0" encoding="utf-8"?>
<p:tagLst xmlns:a="http://schemas.openxmlformats.org/drawingml/2006/main" xmlns:r="http://schemas.openxmlformats.org/officeDocument/2006/relationships" xmlns:p="http://schemas.openxmlformats.org/presentationml/2006/main">
  <p:tag name="THINKCELLSHAPEDONOTDELETE" val="tHbjGCS9FR2C27Gx0KLSZRw"/>
</p:tagLst>
</file>

<file path=ppt/tags/tag2699.xml><?xml version="1.0" encoding="utf-8"?>
<p:tagLst xmlns:a="http://schemas.openxmlformats.org/drawingml/2006/main" xmlns:r="http://schemas.openxmlformats.org/officeDocument/2006/relationships" xmlns:p="http://schemas.openxmlformats.org/presentationml/2006/main">
  <p:tag name="THINKCELLSHAPEDONOTDELETE" val="taC4W6SqSKahQfkzsa4CUgA"/>
</p:tagLst>
</file>

<file path=ppt/tags/tag2700.xml><?xml version="1.0" encoding="utf-8"?>
<p:tagLst xmlns:a="http://schemas.openxmlformats.org/drawingml/2006/main" xmlns:r="http://schemas.openxmlformats.org/officeDocument/2006/relationships" xmlns:p="http://schemas.openxmlformats.org/presentationml/2006/main">
  <p:tag name="THINKCELLSHAPEDONOTDELETE" val="t6S7h0rpHrBorXNDTHWMrZA"/>
</p:tagLst>
</file>

<file path=ppt/tags/tag2701.xml><?xml version="1.0" encoding="utf-8"?>
<p:tagLst xmlns:a="http://schemas.openxmlformats.org/drawingml/2006/main" xmlns:r="http://schemas.openxmlformats.org/officeDocument/2006/relationships" xmlns:p="http://schemas.openxmlformats.org/presentationml/2006/main">
  <p:tag name="THINKCELLSHAPEDONOTDELETE" val="te29XnOZoEXsYxx8MBrrrdw"/>
</p:tagLst>
</file>

<file path=ppt/tags/tag2702.xml><?xml version="1.0" encoding="utf-8"?>
<p:tagLst xmlns:a="http://schemas.openxmlformats.org/drawingml/2006/main" xmlns:r="http://schemas.openxmlformats.org/officeDocument/2006/relationships" xmlns:p="http://schemas.openxmlformats.org/presentationml/2006/main">
  <p:tag name="THINKCELLSHAPEDONOTDELETE" val="twl8JpyN8qOx1jZBH9PVraQ"/>
</p:tagLst>
</file>

<file path=ppt/tags/tag2703.xml><?xml version="1.0" encoding="utf-8"?>
<p:tagLst xmlns:a="http://schemas.openxmlformats.org/drawingml/2006/main" xmlns:r="http://schemas.openxmlformats.org/officeDocument/2006/relationships" xmlns:p="http://schemas.openxmlformats.org/presentationml/2006/main">
  <p:tag name="THINKCELLSHAPEDONOTDELETE" val="tYjIq87Yc7tSErrpH0BKQhw"/>
</p:tagLst>
</file>

<file path=ppt/tags/tag2704.xml><?xml version="1.0" encoding="utf-8"?>
<p:tagLst xmlns:a="http://schemas.openxmlformats.org/drawingml/2006/main" xmlns:r="http://schemas.openxmlformats.org/officeDocument/2006/relationships" xmlns:p="http://schemas.openxmlformats.org/presentationml/2006/main">
  <p:tag name="THINKCELLSHAPEDONOTDELETE" val="tdO_vwdWZZv1AW6zpiJ..Sg"/>
</p:tagLst>
</file>

<file path=ppt/tags/tag2705.xml><?xml version="1.0" encoding="utf-8"?>
<p:tagLst xmlns:a="http://schemas.openxmlformats.org/drawingml/2006/main" xmlns:r="http://schemas.openxmlformats.org/officeDocument/2006/relationships" xmlns:p="http://schemas.openxmlformats.org/presentationml/2006/main">
  <p:tag name="THINKCELLSHAPEDONOTDELETE" val="t31Aft.O5NBbpm1e8XAESMg"/>
</p:tagLst>
</file>

<file path=ppt/tags/tag2706.xml><?xml version="1.0" encoding="utf-8"?>
<p:tagLst xmlns:a="http://schemas.openxmlformats.org/drawingml/2006/main" xmlns:r="http://schemas.openxmlformats.org/officeDocument/2006/relationships" xmlns:p="http://schemas.openxmlformats.org/presentationml/2006/main">
  <p:tag name="THINKCELLSHAPEDONOTDELETE" val="tD__G.PrSkegpFIJV9xPyPg"/>
</p:tagLst>
</file>

<file path=ppt/tags/tag2707.xml><?xml version="1.0" encoding="utf-8"?>
<p:tagLst xmlns:a="http://schemas.openxmlformats.org/drawingml/2006/main" xmlns:r="http://schemas.openxmlformats.org/officeDocument/2006/relationships" xmlns:p="http://schemas.openxmlformats.org/presentationml/2006/main">
  <p:tag name="THINKCELLSHAPEDONOTDELETE" val="tZOTr1xnc9JROXhMMf3cNlQ"/>
</p:tagLst>
</file>

<file path=ppt/tags/tag2708.xml><?xml version="1.0" encoding="utf-8"?>
<p:tagLst xmlns:a="http://schemas.openxmlformats.org/drawingml/2006/main" xmlns:r="http://schemas.openxmlformats.org/officeDocument/2006/relationships" xmlns:p="http://schemas.openxmlformats.org/presentationml/2006/main">
  <p:tag name="THINKCELLSHAPEDONOTDELETE" val="t4Azn2fs1_szenSPv903h4A"/>
</p:tagLst>
</file>

<file path=ppt/tags/tag2709.xml><?xml version="1.0" encoding="utf-8"?>
<p:tagLst xmlns:a="http://schemas.openxmlformats.org/drawingml/2006/main" xmlns:r="http://schemas.openxmlformats.org/officeDocument/2006/relationships" xmlns:p="http://schemas.openxmlformats.org/presentationml/2006/main">
  <p:tag name="THINKCELLSHAPEDONOTDELETE" val="t8ypc8VBYauzi2yRXF1aMrQ"/>
</p:tagLst>
</file>

<file path=ppt/tags/tag2710.xml><?xml version="1.0" encoding="utf-8"?>
<p:tagLst xmlns:a="http://schemas.openxmlformats.org/drawingml/2006/main" xmlns:r="http://schemas.openxmlformats.org/officeDocument/2006/relationships" xmlns:p="http://schemas.openxmlformats.org/presentationml/2006/main">
  <p:tag name="THINKCELLSHAPEDONOTDELETE" val="t_.xQpvrexectduBi9MLv6g"/>
</p:tagLst>
</file>

<file path=ppt/tags/tag2711.xml><?xml version="1.0" encoding="utf-8"?>
<p:tagLst xmlns:a="http://schemas.openxmlformats.org/drawingml/2006/main" xmlns:r="http://schemas.openxmlformats.org/officeDocument/2006/relationships" xmlns:p="http://schemas.openxmlformats.org/presentationml/2006/main">
  <p:tag name="THINKCELLSHAPEDONOTDELETE" val="t7S_4Urssn5qB6KfpAwg_Dg"/>
</p:tagLst>
</file>

<file path=ppt/tags/tag2712.xml><?xml version="1.0" encoding="utf-8"?>
<p:tagLst xmlns:a="http://schemas.openxmlformats.org/drawingml/2006/main" xmlns:r="http://schemas.openxmlformats.org/officeDocument/2006/relationships" xmlns:p="http://schemas.openxmlformats.org/presentationml/2006/main">
  <p:tag name="THINKCELLSHAPEDONOTDELETE" val="trmTqmICViU3hu2RnTwNgVg"/>
</p:tagLst>
</file>

<file path=ppt/tags/tag2713.xml><?xml version="1.0" encoding="utf-8"?>
<p:tagLst xmlns:a="http://schemas.openxmlformats.org/drawingml/2006/main" xmlns:r="http://schemas.openxmlformats.org/officeDocument/2006/relationships" xmlns:p="http://schemas.openxmlformats.org/presentationml/2006/main">
  <p:tag name="THINKCELLSHAPEDONOTDELETE" val="toiYrzh0PDQ_fdt3cXPlOAw"/>
</p:tagLst>
</file>

<file path=ppt/tags/tag2714.xml><?xml version="1.0" encoding="utf-8"?>
<p:tagLst xmlns:a="http://schemas.openxmlformats.org/drawingml/2006/main" xmlns:r="http://schemas.openxmlformats.org/officeDocument/2006/relationships" xmlns:p="http://schemas.openxmlformats.org/presentationml/2006/main">
  <p:tag name="THINKCELLSHAPEDONOTDELETE" val="tifdJgXj3VIj5i24cBmA7gw"/>
</p:tagLst>
</file>

<file path=ppt/tags/tag2715.xml><?xml version="1.0" encoding="utf-8"?>
<p:tagLst xmlns:a="http://schemas.openxmlformats.org/drawingml/2006/main" xmlns:r="http://schemas.openxmlformats.org/officeDocument/2006/relationships" xmlns:p="http://schemas.openxmlformats.org/presentationml/2006/main">
  <p:tag name="THINKCELLSHAPEDONOTDELETE" val="tDHiwQUeJJ9w_m1LBmM9quQ"/>
</p:tagLst>
</file>

<file path=ppt/tags/tag2716.xml><?xml version="1.0" encoding="utf-8"?>
<p:tagLst xmlns:a="http://schemas.openxmlformats.org/drawingml/2006/main" xmlns:r="http://schemas.openxmlformats.org/officeDocument/2006/relationships" xmlns:p="http://schemas.openxmlformats.org/presentationml/2006/main">
  <p:tag name="THINKCELLSHAPEDONOTDELETE" val="t5HntF4H9kUeIR51cOLIr_Q"/>
</p:tagLst>
</file>

<file path=ppt/tags/tag2717.xml><?xml version="1.0" encoding="utf-8"?>
<p:tagLst xmlns:a="http://schemas.openxmlformats.org/drawingml/2006/main" xmlns:r="http://schemas.openxmlformats.org/officeDocument/2006/relationships" xmlns:p="http://schemas.openxmlformats.org/presentationml/2006/main">
  <p:tag name="THINKCELLSHAPEDONOTDELETE" val="tb9z.jpThmVCo7SGSHW4jKQ"/>
</p:tagLst>
</file>

<file path=ppt/tags/tag2718.xml><?xml version="1.0" encoding="utf-8"?>
<p:tagLst xmlns:a="http://schemas.openxmlformats.org/drawingml/2006/main" xmlns:r="http://schemas.openxmlformats.org/officeDocument/2006/relationships" xmlns:p="http://schemas.openxmlformats.org/presentationml/2006/main">
  <p:tag name="THINKCELLSHAPEDONOTDELETE" val="tOA5mDM7v7JvNYLW3XZeDJw"/>
</p:tagLst>
</file>

<file path=ppt/tags/tag2719.xml><?xml version="1.0" encoding="utf-8"?>
<p:tagLst xmlns:a="http://schemas.openxmlformats.org/drawingml/2006/main" xmlns:r="http://schemas.openxmlformats.org/officeDocument/2006/relationships" xmlns:p="http://schemas.openxmlformats.org/presentationml/2006/main">
  <p:tag name="THINKCELLSHAPEDONOTDELETE" val="tn0PImrKrZhi5D2kwOggtDg"/>
</p:tagLst>
</file>

<file path=ppt/tags/tag2720.xml><?xml version="1.0" encoding="utf-8"?>
<p:tagLst xmlns:a="http://schemas.openxmlformats.org/drawingml/2006/main" xmlns:r="http://schemas.openxmlformats.org/officeDocument/2006/relationships" xmlns:p="http://schemas.openxmlformats.org/presentationml/2006/main">
  <p:tag name="THINKCELLSHAPEDONOTDELETE" val="tILzF1XsqRQX93L4Pp1cfeQ"/>
</p:tagLst>
</file>

<file path=ppt/tags/tag2721.xml><?xml version="1.0" encoding="utf-8"?>
<p:tagLst xmlns:a="http://schemas.openxmlformats.org/drawingml/2006/main" xmlns:r="http://schemas.openxmlformats.org/officeDocument/2006/relationships" xmlns:p="http://schemas.openxmlformats.org/presentationml/2006/main">
  <p:tag name="THINKCELLSHAPEDONOTDELETE" val="tVQeA9rfUExNDVI1cT6vs_A"/>
</p:tagLst>
</file>

<file path=ppt/tags/tag2722.xml><?xml version="1.0" encoding="utf-8"?>
<p:tagLst xmlns:a="http://schemas.openxmlformats.org/drawingml/2006/main" xmlns:r="http://schemas.openxmlformats.org/officeDocument/2006/relationships" xmlns:p="http://schemas.openxmlformats.org/presentationml/2006/main">
  <p:tag name="THINKCELLSHAPEDONOTDELETE" val="tOmfcXDv6.iGKkScVFMqkUQ"/>
</p:tagLst>
</file>

<file path=ppt/tags/tag2723.xml><?xml version="1.0" encoding="utf-8"?>
<p:tagLst xmlns:a="http://schemas.openxmlformats.org/drawingml/2006/main" xmlns:r="http://schemas.openxmlformats.org/officeDocument/2006/relationships" xmlns:p="http://schemas.openxmlformats.org/presentationml/2006/main">
  <p:tag name="THINKCELLSHAPEDONOTDELETE" val="twJ0u1ZqcALmpZDRHrYa_4A"/>
</p:tagLst>
</file>

<file path=ppt/tags/tag2724.xml><?xml version="1.0" encoding="utf-8"?>
<p:tagLst xmlns:a="http://schemas.openxmlformats.org/drawingml/2006/main" xmlns:r="http://schemas.openxmlformats.org/officeDocument/2006/relationships" xmlns:p="http://schemas.openxmlformats.org/presentationml/2006/main">
  <p:tag name="THINKCELLSHAPEDONOTDELETE" val="tTufKsn4M140Sap8Iqn7v4w"/>
</p:tagLst>
</file>

<file path=ppt/tags/tag2725.xml><?xml version="1.0" encoding="utf-8"?>
<p:tagLst xmlns:a="http://schemas.openxmlformats.org/drawingml/2006/main" xmlns:r="http://schemas.openxmlformats.org/officeDocument/2006/relationships" xmlns:p="http://schemas.openxmlformats.org/presentationml/2006/main">
  <p:tag name="THINKCELLSHAPEDONOTDELETE" val="t92w5_gnAr0yqGiKNRCoGrQ"/>
</p:tagLst>
</file>

<file path=ppt/tags/tag2726.xml><?xml version="1.0" encoding="utf-8"?>
<p:tagLst xmlns:a="http://schemas.openxmlformats.org/drawingml/2006/main" xmlns:r="http://schemas.openxmlformats.org/officeDocument/2006/relationships" xmlns:p="http://schemas.openxmlformats.org/presentationml/2006/main">
  <p:tag name="THINKCELLSHAPEDONOTDELETE" val="tCnRrVERJMoBXKKB9aVWQFg"/>
</p:tagLst>
</file>

<file path=ppt/tags/tag2727.xml><?xml version="1.0" encoding="utf-8"?>
<p:tagLst xmlns:a="http://schemas.openxmlformats.org/drawingml/2006/main" xmlns:r="http://schemas.openxmlformats.org/officeDocument/2006/relationships" xmlns:p="http://schemas.openxmlformats.org/presentationml/2006/main">
  <p:tag name="THINKCELLSHAPEDONOTDELETE" val="tT6c78SqkmaWq7WUIrkRaEg"/>
</p:tagLst>
</file>

<file path=ppt/tags/tag2728.xml><?xml version="1.0" encoding="utf-8"?>
<p:tagLst xmlns:a="http://schemas.openxmlformats.org/drawingml/2006/main" xmlns:r="http://schemas.openxmlformats.org/officeDocument/2006/relationships" xmlns:p="http://schemas.openxmlformats.org/presentationml/2006/main">
  <p:tag name="THINKCELLSHAPEDONOTDELETE" val="tYU0CNo1XkFeRvRB995zgHw"/>
</p:tagLst>
</file>

<file path=ppt/tags/tag2729.xml><?xml version="1.0" encoding="utf-8"?>
<p:tagLst xmlns:a="http://schemas.openxmlformats.org/drawingml/2006/main" xmlns:r="http://schemas.openxmlformats.org/officeDocument/2006/relationships" xmlns:p="http://schemas.openxmlformats.org/presentationml/2006/main">
  <p:tag name="THINKCELLSHAPEDONOTDELETE" val="tziPY_tftodT3dHzvm7zbiw"/>
</p:tagLst>
</file>

<file path=ppt/tags/tag2730.xml><?xml version="1.0" encoding="utf-8"?>
<p:tagLst xmlns:a="http://schemas.openxmlformats.org/drawingml/2006/main" xmlns:r="http://schemas.openxmlformats.org/officeDocument/2006/relationships" xmlns:p="http://schemas.openxmlformats.org/presentationml/2006/main">
  <p:tag name="THINKCELLSHAPEDONOTDELETE" val="tBfqvmiL9f2xVXtQ_B_Uw9Q"/>
</p:tagLst>
</file>

<file path=ppt/tags/tag2731.xml><?xml version="1.0" encoding="utf-8"?>
<p:tagLst xmlns:a="http://schemas.openxmlformats.org/drawingml/2006/main" xmlns:r="http://schemas.openxmlformats.org/officeDocument/2006/relationships" xmlns:p="http://schemas.openxmlformats.org/presentationml/2006/main">
  <p:tag name="THINKCELLSHAPEDONOTDELETE" val="t18atiKTwJF7cC1urU053DQ"/>
</p:tagLst>
</file>

<file path=ppt/tags/tag2732.xml><?xml version="1.0" encoding="utf-8"?>
<p:tagLst xmlns:a="http://schemas.openxmlformats.org/drawingml/2006/main" xmlns:r="http://schemas.openxmlformats.org/officeDocument/2006/relationships" xmlns:p="http://schemas.openxmlformats.org/presentationml/2006/main">
  <p:tag name="THINKCELLSHAPEDONOTDELETE" val="tlTvw73x293ZSg43oiCLnRA"/>
</p:tagLst>
</file>

<file path=ppt/tags/tag2733.xml><?xml version="1.0" encoding="utf-8"?>
<p:tagLst xmlns:a="http://schemas.openxmlformats.org/drawingml/2006/main" xmlns:r="http://schemas.openxmlformats.org/officeDocument/2006/relationships" xmlns:p="http://schemas.openxmlformats.org/presentationml/2006/main">
  <p:tag name="THINKCELLSHAPEDONOTDELETE" val="t584BlmW_uJpbNet7r3A1Mg"/>
</p:tagLst>
</file>

<file path=ppt/tags/tag2734.xml><?xml version="1.0" encoding="utf-8"?>
<p:tagLst xmlns:a="http://schemas.openxmlformats.org/drawingml/2006/main" xmlns:r="http://schemas.openxmlformats.org/officeDocument/2006/relationships" xmlns:p="http://schemas.openxmlformats.org/presentationml/2006/main">
  <p:tag name="THINKCELLSHAPEDONOTDELETE" val="tStNiF9nMdQaY5wWXKV0OlQ"/>
</p:tagLst>
</file>

<file path=ppt/tags/tag2735.xml><?xml version="1.0" encoding="utf-8"?>
<p:tagLst xmlns:a="http://schemas.openxmlformats.org/drawingml/2006/main" xmlns:r="http://schemas.openxmlformats.org/officeDocument/2006/relationships" xmlns:p="http://schemas.openxmlformats.org/presentationml/2006/main">
  <p:tag name="THINKCELLSHAPEDONOTDELETE" val="tRES1C8jF1d68X4ATHGhF1Q"/>
</p:tagLst>
</file>

<file path=ppt/tags/tag2736.xml><?xml version="1.0" encoding="utf-8"?>
<p:tagLst xmlns:a="http://schemas.openxmlformats.org/drawingml/2006/main" xmlns:r="http://schemas.openxmlformats.org/officeDocument/2006/relationships" xmlns:p="http://schemas.openxmlformats.org/presentationml/2006/main">
  <p:tag name="THINKCELLSHAPEDONOTDELETE" val="tR.ziokZdE05.ufvu6ZfbIg"/>
</p:tagLst>
</file>

<file path=ppt/tags/tag2737.xml><?xml version="1.0" encoding="utf-8"?>
<p:tagLst xmlns:a="http://schemas.openxmlformats.org/drawingml/2006/main" xmlns:r="http://schemas.openxmlformats.org/officeDocument/2006/relationships" xmlns:p="http://schemas.openxmlformats.org/presentationml/2006/main">
  <p:tag name="THINKCELLSHAPEDONOTDELETE" val="tltrCB4SourNApsXOz5JS5Q"/>
</p:tagLst>
</file>

<file path=ppt/tags/tag2738.xml><?xml version="1.0" encoding="utf-8"?>
<p:tagLst xmlns:a="http://schemas.openxmlformats.org/drawingml/2006/main" xmlns:r="http://schemas.openxmlformats.org/officeDocument/2006/relationships" xmlns:p="http://schemas.openxmlformats.org/presentationml/2006/main">
  <p:tag name="THINKCELLSHAPEDONOTDELETE" val="tjZqM.a2ExWj7AxNuJurZ8A"/>
</p:tagLst>
</file>

<file path=ppt/tags/tag2739.xml><?xml version="1.0" encoding="utf-8"?>
<p:tagLst xmlns:a="http://schemas.openxmlformats.org/drawingml/2006/main" xmlns:r="http://schemas.openxmlformats.org/officeDocument/2006/relationships" xmlns:p="http://schemas.openxmlformats.org/presentationml/2006/main">
  <p:tag name="THINKCELLSHAPEDONOTDELETE" val="t1NK0aiV9GGEVPl5FCuQSmg"/>
</p:tagLst>
</file>

<file path=ppt/tags/tag2740.xml><?xml version="1.0" encoding="utf-8"?>
<p:tagLst xmlns:a="http://schemas.openxmlformats.org/drawingml/2006/main" xmlns:r="http://schemas.openxmlformats.org/officeDocument/2006/relationships" xmlns:p="http://schemas.openxmlformats.org/presentationml/2006/main">
  <p:tag name="THINKCELLSHAPEDONOTDELETE" val="tayOnjhtlgGTahxPTfZDwPg"/>
</p:tagLst>
</file>

<file path=ppt/tags/tag2741.xml><?xml version="1.0" encoding="utf-8"?>
<p:tagLst xmlns:a="http://schemas.openxmlformats.org/drawingml/2006/main" xmlns:r="http://schemas.openxmlformats.org/officeDocument/2006/relationships" xmlns:p="http://schemas.openxmlformats.org/presentationml/2006/main">
  <p:tag name="THINKCELLSHAPEDONOTDELETE" val="t9R.p2KNuw_AaT.pBoAlUvA"/>
</p:tagLst>
</file>

<file path=ppt/tags/tag2742.xml><?xml version="1.0" encoding="utf-8"?>
<p:tagLst xmlns:a="http://schemas.openxmlformats.org/drawingml/2006/main" xmlns:r="http://schemas.openxmlformats.org/officeDocument/2006/relationships" xmlns:p="http://schemas.openxmlformats.org/presentationml/2006/main">
  <p:tag name="THINKCELLSHAPEDONOTDELETE" val="tCZ..47sYZkBOdrC6tEBL4g"/>
</p:tagLst>
</file>

<file path=ppt/tags/tag2743.xml><?xml version="1.0" encoding="utf-8"?>
<p:tagLst xmlns:a="http://schemas.openxmlformats.org/drawingml/2006/main" xmlns:r="http://schemas.openxmlformats.org/officeDocument/2006/relationships" xmlns:p="http://schemas.openxmlformats.org/presentationml/2006/main">
  <p:tag name="THINKCELLSHAPEDONOTDELETE" val="tlcBS.a8jK_4_YWe2XvktRQ"/>
</p:tagLst>
</file>

<file path=ppt/tags/tag2744.xml><?xml version="1.0" encoding="utf-8"?>
<p:tagLst xmlns:a="http://schemas.openxmlformats.org/drawingml/2006/main" xmlns:r="http://schemas.openxmlformats.org/officeDocument/2006/relationships" xmlns:p="http://schemas.openxmlformats.org/presentationml/2006/main">
  <p:tag name="THINKCELLSHAPEDONOTDELETE" val="tt1hsvrhrR.d5P7bat4ETKA"/>
</p:tagLst>
</file>

<file path=ppt/tags/tag2745.xml><?xml version="1.0" encoding="utf-8"?>
<p:tagLst xmlns:a="http://schemas.openxmlformats.org/drawingml/2006/main" xmlns:r="http://schemas.openxmlformats.org/officeDocument/2006/relationships" xmlns:p="http://schemas.openxmlformats.org/presentationml/2006/main">
  <p:tag name="THINKCELLSHAPEDONOTDELETE" val="tuSGvP0O0.hlxd7BLTs04XQ"/>
</p:tagLst>
</file>

<file path=ppt/tags/tag2746.xml><?xml version="1.0" encoding="utf-8"?>
<p:tagLst xmlns:a="http://schemas.openxmlformats.org/drawingml/2006/main" xmlns:r="http://schemas.openxmlformats.org/officeDocument/2006/relationships" xmlns:p="http://schemas.openxmlformats.org/presentationml/2006/main">
  <p:tag name="THINKCELLSHAPEDONOTDELETE" val="tWRhjo6jTlf7tBjcAajV2iQ"/>
</p:tagLst>
</file>

<file path=ppt/tags/tag2747.xml><?xml version="1.0" encoding="utf-8"?>
<p:tagLst xmlns:a="http://schemas.openxmlformats.org/drawingml/2006/main" xmlns:r="http://schemas.openxmlformats.org/officeDocument/2006/relationships" xmlns:p="http://schemas.openxmlformats.org/presentationml/2006/main">
  <p:tag name="THINKCELLSHAPEDONOTDELETE" val="tM3LzwvSQbpRbWrB.2u_TsA"/>
</p:tagLst>
</file>

<file path=ppt/tags/tag2748.xml><?xml version="1.0" encoding="utf-8"?>
<p:tagLst xmlns:a="http://schemas.openxmlformats.org/drawingml/2006/main" xmlns:r="http://schemas.openxmlformats.org/officeDocument/2006/relationships" xmlns:p="http://schemas.openxmlformats.org/presentationml/2006/main">
  <p:tag name="THINKCELLSHAPEDONOTDELETE" val="tQhrZB4YMy.V5TH.j_JoIug"/>
</p:tagLst>
</file>

<file path=ppt/tags/tag2749.xml><?xml version="1.0" encoding="utf-8"?>
<p:tagLst xmlns:a="http://schemas.openxmlformats.org/drawingml/2006/main" xmlns:r="http://schemas.openxmlformats.org/officeDocument/2006/relationships" xmlns:p="http://schemas.openxmlformats.org/presentationml/2006/main">
  <p:tag name="THINKCELLSHAPEDONOTDELETE" val="tTQUQAnIPeznDIZP4cmOzyA"/>
</p:tagLst>
</file>

<file path=ppt/tags/tag2750.xml><?xml version="1.0" encoding="utf-8"?>
<p:tagLst xmlns:a="http://schemas.openxmlformats.org/drawingml/2006/main" xmlns:r="http://schemas.openxmlformats.org/officeDocument/2006/relationships" xmlns:p="http://schemas.openxmlformats.org/presentationml/2006/main">
  <p:tag name="THINKCELLSHAPEDONOTDELETE" val="thJKNcx5CGpSeXyw4ynMB5Q"/>
</p:tagLst>
</file>

<file path=ppt/tags/tag2751.xml><?xml version="1.0" encoding="utf-8"?>
<p:tagLst xmlns:a="http://schemas.openxmlformats.org/drawingml/2006/main" xmlns:r="http://schemas.openxmlformats.org/officeDocument/2006/relationships" xmlns:p="http://schemas.openxmlformats.org/presentationml/2006/main">
  <p:tag name="THINKCELLSHAPEDONOTDELETE" val="tefmSxyyvcEBCmkk3uWOFJw"/>
</p:tagLst>
</file>

<file path=ppt/tags/tag2752.xml><?xml version="1.0" encoding="utf-8"?>
<p:tagLst xmlns:a="http://schemas.openxmlformats.org/drawingml/2006/main" xmlns:r="http://schemas.openxmlformats.org/officeDocument/2006/relationships" xmlns:p="http://schemas.openxmlformats.org/presentationml/2006/main">
  <p:tag name="HEADER" val="True"/>
</p:tagLst>
</file>

<file path=ppt/tags/tag275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54.xml><?xml version="1.0" encoding="utf-8"?>
<p:tagLst xmlns:a="http://schemas.openxmlformats.org/drawingml/2006/main" xmlns:r="http://schemas.openxmlformats.org/officeDocument/2006/relationships" xmlns:p="http://schemas.openxmlformats.org/presentationml/2006/main">
  <p:tag name="THINKCELLSHAPEDONOTDELETE" val="tCL5VBDipS_GH9Sn7w3phBg"/>
</p:tagLst>
</file>

<file path=ppt/tags/tag275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56.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75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58.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759.xml><?xml version="1.0" encoding="utf-8"?>
<p:tagLst xmlns:a="http://schemas.openxmlformats.org/drawingml/2006/main" xmlns:r="http://schemas.openxmlformats.org/officeDocument/2006/relationships" xmlns:p="http://schemas.openxmlformats.org/presentationml/2006/main">
  <p:tag name="HEADER" val="True"/>
</p:tagLst>
</file>

<file path=ppt/tags/tag276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61.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762.xml><?xml version="1.0" encoding="utf-8"?>
<p:tagLst xmlns:a="http://schemas.openxmlformats.org/drawingml/2006/main" xmlns:r="http://schemas.openxmlformats.org/officeDocument/2006/relationships" xmlns:p="http://schemas.openxmlformats.org/presentationml/2006/main">
  <p:tag name="HEADER" val="True"/>
</p:tagLst>
</file>

<file path=ppt/tags/tag276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64.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765.xml><?xml version="1.0" encoding="utf-8"?>
<p:tagLst xmlns:a="http://schemas.openxmlformats.org/drawingml/2006/main" xmlns:r="http://schemas.openxmlformats.org/officeDocument/2006/relationships" xmlns:p="http://schemas.openxmlformats.org/presentationml/2006/main">
  <p:tag name="HEADER" val="True"/>
</p:tagLst>
</file>

<file path=ppt/tags/tag276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67.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768.xml><?xml version="1.0" encoding="utf-8"?>
<p:tagLst xmlns:a="http://schemas.openxmlformats.org/drawingml/2006/main" xmlns:r="http://schemas.openxmlformats.org/officeDocument/2006/relationships" xmlns:p="http://schemas.openxmlformats.org/presentationml/2006/main">
  <p:tag name="HEADER" val="True"/>
</p:tagLst>
</file>

<file path=ppt/tags/tag276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70.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771.xml><?xml version="1.0" encoding="utf-8"?>
<p:tagLst xmlns:a="http://schemas.openxmlformats.org/drawingml/2006/main" xmlns:r="http://schemas.openxmlformats.org/officeDocument/2006/relationships" xmlns:p="http://schemas.openxmlformats.org/presentationml/2006/main">
  <p:tag name="HEADER" val="True"/>
</p:tagLst>
</file>

<file path=ppt/tags/tag277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73.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774.xml><?xml version="1.0" encoding="utf-8"?>
<p:tagLst xmlns:a="http://schemas.openxmlformats.org/drawingml/2006/main" xmlns:r="http://schemas.openxmlformats.org/officeDocument/2006/relationships" xmlns:p="http://schemas.openxmlformats.org/presentationml/2006/main">
  <p:tag name="HEADER" val="True"/>
</p:tagLst>
</file>

<file path=ppt/tags/tag277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76.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777.xml><?xml version="1.0" encoding="utf-8"?>
<p:tagLst xmlns:a="http://schemas.openxmlformats.org/drawingml/2006/main" xmlns:r="http://schemas.openxmlformats.org/officeDocument/2006/relationships" xmlns:p="http://schemas.openxmlformats.org/presentationml/2006/main">
  <p:tag name="HEADER" val="True"/>
</p:tagLst>
</file>

<file path=ppt/tags/tag277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79.xml><?xml version="1.0" encoding="utf-8"?>
<p:tagLst xmlns:a="http://schemas.openxmlformats.org/drawingml/2006/main" xmlns:r="http://schemas.openxmlformats.org/officeDocument/2006/relationships" xmlns:p="http://schemas.openxmlformats.org/presentationml/2006/main">
  <p:tag name="THINKCELLSHAPEDONOTDELETE" val="tLRSrTnCrELv1.5umNJPiww"/>
</p:tagLst>
</file>

<file path=ppt/tags/tag278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81.xml><?xml version="1.0" encoding="utf-8"?>
<p:tagLst xmlns:a="http://schemas.openxmlformats.org/drawingml/2006/main" xmlns:r="http://schemas.openxmlformats.org/officeDocument/2006/relationships" xmlns:p="http://schemas.openxmlformats.org/presentationml/2006/main">
  <p:tag name="THINKCELLSHAPEDONOTDELETE" val="tr8UB4w30xPUdFfZvEkY3Wg"/>
</p:tagLst>
</file>

<file path=ppt/tags/tag2782.xml><?xml version="1.0" encoding="utf-8"?>
<p:tagLst xmlns:a="http://schemas.openxmlformats.org/drawingml/2006/main" xmlns:r="http://schemas.openxmlformats.org/officeDocument/2006/relationships" xmlns:p="http://schemas.openxmlformats.org/presentationml/2006/main">
  <p:tag name="HEADER" val="True"/>
</p:tagLst>
</file>

<file path=ppt/tags/tag278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84.xml><?xml version="1.0" encoding="utf-8"?>
<p:tagLst xmlns:a="http://schemas.openxmlformats.org/drawingml/2006/main" xmlns:r="http://schemas.openxmlformats.org/officeDocument/2006/relationships" xmlns:p="http://schemas.openxmlformats.org/presentationml/2006/main">
  <p:tag name="THINKCELLSHAPEDONOTDELETE" val="tr8UB4w30xPUdFfZvEkY3Wg"/>
</p:tagLst>
</file>

<file path=ppt/tags/tag2785.xml><?xml version="1.0" encoding="utf-8"?>
<p:tagLst xmlns:a="http://schemas.openxmlformats.org/drawingml/2006/main" xmlns:r="http://schemas.openxmlformats.org/officeDocument/2006/relationships" xmlns:p="http://schemas.openxmlformats.org/presentationml/2006/main">
  <p:tag name="HEADER" val="True"/>
</p:tagLst>
</file>

<file path=ppt/tags/tag278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87.xml><?xml version="1.0" encoding="utf-8"?>
<p:tagLst xmlns:a="http://schemas.openxmlformats.org/drawingml/2006/main" xmlns:r="http://schemas.openxmlformats.org/officeDocument/2006/relationships" xmlns:p="http://schemas.openxmlformats.org/presentationml/2006/main">
  <p:tag name="THINKCELLSHAPEDONOTDELETE" val="tJGUPftVYydywtImCxxeQ9g"/>
</p:tagLst>
</file>

<file path=ppt/tags/tag2788.xml><?xml version="1.0" encoding="utf-8"?>
<p:tagLst xmlns:a="http://schemas.openxmlformats.org/drawingml/2006/main" xmlns:r="http://schemas.openxmlformats.org/officeDocument/2006/relationships" xmlns:p="http://schemas.openxmlformats.org/presentationml/2006/main">
  <p:tag name="HEADER" val="True"/>
</p:tagLst>
</file>

<file path=ppt/tags/tag278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90.xml><?xml version="1.0" encoding="utf-8"?>
<p:tagLst xmlns:a="http://schemas.openxmlformats.org/drawingml/2006/main" xmlns:r="http://schemas.openxmlformats.org/officeDocument/2006/relationships" xmlns:p="http://schemas.openxmlformats.org/presentationml/2006/main">
  <p:tag name="THINKCELLSHAPEDONOTDELETE" val="t3gOqtEJf3HkmbOOHPZZPBg"/>
</p:tagLst>
</file>

<file path=ppt/tags/tag2791.xml><?xml version="1.0" encoding="utf-8"?>
<p:tagLst xmlns:a="http://schemas.openxmlformats.org/drawingml/2006/main" xmlns:r="http://schemas.openxmlformats.org/officeDocument/2006/relationships" xmlns:p="http://schemas.openxmlformats.org/presentationml/2006/main">
  <p:tag name="HEADER" val="True"/>
</p:tagLst>
</file>

<file path=ppt/tags/tag2792.xml><?xml version="1.0" encoding="utf-8"?>
<p:tagLst xmlns:a="http://schemas.openxmlformats.org/drawingml/2006/main" xmlns:r="http://schemas.openxmlformats.org/officeDocument/2006/relationships" xmlns:p="http://schemas.openxmlformats.org/presentationml/2006/main">
  <p:tag name="HEADER" val="True"/>
</p:tagLst>
</file>

<file path=ppt/tags/tag2793.xml><?xml version="1.0" encoding="utf-8"?>
<p:tagLst xmlns:a="http://schemas.openxmlformats.org/drawingml/2006/main" xmlns:r="http://schemas.openxmlformats.org/officeDocument/2006/relationships" xmlns:p="http://schemas.openxmlformats.org/presentationml/2006/main">
  <p:tag name="THINKCELLSHAPEDONOTDELETE" val="ttxMDQIPWhLRrHJA7RbK9gg"/>
</p:tagLst>
</file>

<file path=ppt/tags/tag2794.xml><?xml version="1.0" encoding="utf-8"?>
<p:tagLst xmlns:a="http://schemas.openxmlformats.org/drawingml/2006/main" xmlns:r="http://schemas.openxmlformats.org/officeDocument/2006/relationships" xmlns:p="http://schemas.openxmlformats.org/presentationml/2006/main">
  <p:tag name="THINKCELLSHAPEDONOTDELETE" val="t_f1l1hBTOeyfPlobSQt9kA"/>
</p:tagLst>
</file>

<file path=ppt/tags/tag2795.xml><?xml version="1.0" encoding="utf-8"?>
<p:tagLst xmlns:a="http://schemas.openxmlformats.org/drawingml/2006/main" xmlns:r="http://schemas.openxmlformats.org/officeDocument/2006/relationships" xmlns:p="http://schemas.openxmlformats.org/presentationml/2006/main">
  <p:tag name="THINKCELLSHAPEDONOTDELETE" val="tum3koO6lsI6KN8HeHBwBGg"/>
</p:tagLst>
</file>

<file path=ppt/tags/tag2796.xml><?xml version="1.0" encoding="utf-8"?>
<p:tagLst xmlns:a="http://schemas.openxmlformats.org/drawingml/2006/main" xmlns:r="http://schemas.openxmlformats.org/officeDocument/2006/relationships" xmlns:p="http://schemas.openxmlformats.org/presentationml/2006/main">
  <p:tag name="THINKCELLSHAPEDONOTDELETE" val="tc9M8JFMuzclZa6t3i4AfkQ"/>
</p:tagLst>
</file>

<file path=ppt/tags/tag2797.xml><?xml version="1.0" encoding="utf-8"?>
<p:tagLst xmlns:a="http://schemas.openxmlformats.org/drawingml/2006/main" xmlns:r="http://schemas.openxmlformats.org/officeDocument/2006/relationships" xmlns:p="http://schemas.openxmlformats.org/presentationml/2006/main">
  <p:tag name="THINKCELLSHAPEDONOTDELETE" val="tC12a5Pg67dGyFRAjeZyShg"/>
</p:tagLst>
</file>

<file path=ppt/tags/tag2798.xml><?xml version="1.0" encoding="utf-8"?>
<p:tagLst xmlns:a="http://schemas.openxmlformats.org/drawingml/2006/main" xmlns:r="http://schemas.openxmlformats.org/officeDocument/2006/relationships" xmlns:p="http://schemas.openxmlformats.org/presentationml/2006/main">
  <p:tag name="THINKCELLSHAPEDONOTDELETE" val="tbnmehra49kyE9YrAh.8r4g"/>
</p:tagLst>
</file>

<file path=ppt/tags/tag2799.xml><?xml version="1.0" encoding="utf-8"?>
<p:tagLst xmlns:a="http://schemas.openxmlformats.org/drawingml/2006/main" xmlns:r="http://schemas.openxmlformats.org/officeDocument/2006/relationships" xmlns:p="http://schemas.openxmlformats.org/presentationml/2006/main">
  <p:tag name="THINKCELLSHAPEDONOTDELETE" val="tx1FzMMQ7KOKZCpdTaLkLlQ"/>
</p:tagLst>
</file>

<file path=ppt/tags/tag2800.xml><?xml version="1.0" encoding="utf-8"?>
<p:tagLst xmlns:a="http://schemas.openxmlformats.org/drawingml/2006/main" xmlns:r="http://schemas.openxmlformats.org/officeDocument/2006/relationships" xmlns:p="http://schemas.openxmlformats.org/presentationml/2006/main">
  <p:tag name="THINKCELLSHAPEDONOTDELETE" val="tNXAYlBKOZ86Svty7rcIOWA"/>
</p:tagLst>
</file>

<file path=ppt/tags/tag2801.xml><?xml version="1.0" encoding="utf-8"?>
<p:tagLst xmlns:a="http://schemas.openxmlformats.org/drawingml/2006/main" xmlns:r="http://schemas.openxmlformats.org/officeDocument/2006/relationships" xmlns:p="http://schemas.openxmlformats.org/presentationml/2006/main">
  <p:tag name="THINKCELLSHAPEDONOTDELETE" val="tMwNqF8aUNF99JVOXdnFBVw"/>
</p:tagLst>
</file>

<file path=ppt/tags/tag2802.xml><?xml version="1.0" encoding="utf-8"?>
<p:tagLst xmlns:a="http://schemas.openxmlformats.org/drawingml/2006/main" xmlns:r="http://schemas.openxmlformats.org/officeDocument/2006/relationships" xmlns:p="http://schemas.openxmlformats.org/presentationml/2006/main">
  <p:tag name="THINKCELLSHAPEDONOTDELETE" val="tCjumQ2JIlvVdZOYxBB3.Sg"/>
</p:tagLst>
</file>

<file path=ppt/tags/tag2803.xml><?xml version="1.0" encoding="utf-8"?>
<p:tagLst xmlns:a="http://schemas.openxmlformats.org/drawingml/2006/main" xmlns:r="http://schemas.openxmlformats.org/officeDocument/2006/relationships" xmlns:p="http://schemas.openxmlformats.org/presentationml/2006/main">
  <p:tag name="THINKCELLSHAPEDONOTDELETE" val="tOGpakc2k_dv4K07mGDeOGw"/>
</p:tagLst>
</file>

<file path=ppt/tags/tag2804.xml><?xml version="1.0" encoding="utf-8"?>
<p:tagLst xmlns:a="http://schemas.openxmlformats.org/drawingml/2006/main" xmlns:r="http://schemas.openxmlformats.org/officeDocument/2006/relationships" xmlns:p="http://schemas.openxmlformats.org/presentationml/2006/main">
  <p:tag name="THINKCELLSHAPEDONOTDELETE" val="tO.1ZrnoXfJay6HPAqAv8sw"/>
</p:tagLst>
</file>

<file path=ppt/tags/tag2805.xml><?xml version="1.0" encoding="utf-8"?>
<p:tagLst xmlns:a="http://schemas.openxmlformats.org/drawingml/2006/main" xmlns:r="http://schemas.openxmlformats.org/officeDocument/2006/relationships" xmlns:p="http://schemas.openxmlformats.org/presentationml/2006/main">
  <p:tag name="THINKCELLSHAPEDONOTDELETE" val="t20Z2GAmuPpg8zIcgK3V9kQ"/>
</p:tagLst>
</file>

<file path=ppt/tags/tag2806.xml><?xml version="1.0" encoding="utf-8"?>
<p:tagLst xmlns:a="http://schemas.openxmlformats.org/drawingml/2006/main" xmlns:r="http://schemas.openxmlformats.org/officeDocument/2006/relationships" xmlns:p="http://schemas.openxmlformats.org/presentationml/2006/main">
  <p:tag name="THINKCELLSHAPEDONOTDELETE" val="tBonf5FvhEVauhDCgxCPHdQ"/>
</p:tagLst>
</file>

<file path=ppt/tags/tag2807.xml><?xml version="1.0" encoding="utf-8"?>
<p:tagLst xmlns:a="http://schemas.openxmlformats.org/drawingml/2006/main" xmlns:r="http://schemas.openxmlformats.org/officeDocument/2006/relationships" xmlns:p="http://schemas.openxmlformats.org/presentationml/2006/main">
  <p:tag name="THINKCELLSHAPEDONOTDELETE" val="tQmRoudEeELnP_WIM5Tc0Jw"/>
</p:tagLst>
</file>

<file path=ppt/tags/tag2808.xml><?xml version="1.0" encoding="utf-8"?>
<p:tagLst xmlns:a="http://schemas.openxmlformats.org/drawingml/2006/main" xmlns:r="http://schemas.openxmlformats.org/officeDocument/2006/relationships" xmlns:p="http://schemas.openxmlformats.org/presentationml/2006/main">
  <p:tag name="THINKCELLSHAPEDONOTDELETE" val="tZKrCuHJY8QrZFazmFqh0kg"/>
</p:tagLst>
</file>

<file path=ppt/tags/tag2809.xml><?xml version="1.0" encoding="utf-8"?>
<p:tagLst xmlns:a="http://schemas.openxmlformats.org/drawingml/2006/main" xmlns:r="http://schemas.openxmlformats.org/officeDocument/2006/relationships" xmlns:p="http://schemas.openxmlformats.org/presentationml/2006/main">
  <p:tag name="THINKCELLSHAPEDONOTDELETE" val="tOmurc6R4Y4NjA8almZ.QRQ"/>
</p:tagLst>
</file>

<file path=ppt/tags/tag2810.xml><?xml version="1.0" encoding="utf-8"?>
<p:tagLst xmlns:a="http://schemas.openxmlformats.org/drawingml/2006/main" xmlns:r="http://schemas.openxmlformats.org/officeDocument/2006/relationships" xmlns:p="http://schemas.openxmlformats.org/presentationml/2006/main">
  <p:tag name="THINKCELLSHAPEDONOTDELETE" val="tl1Rw3tobTpLdbTGZTKueTg"/>
</p:tagLst>
</file>

<file path=ppt/tags/tag2811.xml><?xml version="1.0" encoding="utf-8"?>
<p:tagLst xmlns:a="http://schemas.openxmlformats.org/drawingml/2006/main" xmlns:r="http://schemas.openxmlformats.org/officeDocument/2006/relationships" xmlns:p="http://schemas.openxmlformats.org/presentationml/2006/main">
  <p:tag name="THINKCELLSHAPEDONOTDELETE" val="tzxHPpY1IrEJaaSrYpJ6TqA"/>
</p:tagLst>
</file>

<file path=ppt/tags/tag2812.xml><?xml version="1.0" encoding="utf-8"?>
<p:tagLst xmlns:a="http://schemas.openxmlformats.org/drawingml/2006/main" xmlns:r="http://schemas.openxmlformats.org/officeDocument/2006/relationships" xmlns:p="http://schemas.openxmlformats.org/presentationml/2006/main">
  <p:tag name="THINKCELLSHAPEDONOTDELETE" val="tOXY1g6vJlzG4l0lmCgy65w"/>
</p:tagLst>
</file>

<file path=ppt/tags/tag2813.xml><?xml version="1.0" encoding="utf-8"?>
<p:tagLst xmlns:a="http://schemas.openxmlformats.org/drawingml/2006/main" xmlns:r="http://schemas.openxmlformats.org/officeDocument/2006/relationships" xmlns:p="http://schemas.openxmlformats.org/presentationml/2006/main">
  <p:tag name="THINKCELLSHAPEDONOTDELETE" val="tJMUwdUtvG7XS3j3AjCbn1A"/>
</p:tagLst>
</file>

<file path=ppt/tags/tag28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15.xml><?xml version="1.0" encoding="utf-8"?>
<p:tagLst xmlns:a="http://schemas.openxmlformats.org/drawingml/2006/main" xmlns:r="http://schemas.openxmlformats.org/officeDocument/2006/relationships" xmlns:p="http://schemas.openxmlformats.org/presentationml/2006/main">
  <p:tag name="THINKCELLSHAPEDONOTDELETE" val="tglD9Lohj0bMmbx2QYoP8HA"/>
</p:tagLst>
</file>

<file path=ppt/tags/tag28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17.xml><?xml version="1.0" encoding="utf-8"?>
<p:tagLst xmlns:a="http://schemas.openxmlformats.org/drawingml/2006/main" xmlns:r="http://schemas.openxmlformats.org/officeDocument/2006/relationships" xmlns:p="http://schemas.openxmlformats.org/presentationml/2006/main">
  <p:tag name="THINKCELLSHAPEDONOTDELETE" val="txv2DrbQ69wBETCt2tSF4eQ"/>
</p:tagLst>
</file>

<file path=ppt/tags/tag28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19.xml><?xml version="1.0" encoding="utf-8"?>
<p:tagLst xmlns:a="http://schemas.openxmlformats.org/drawingml/2006/main" xmlns:r="http://schemas.openxmlformats.org/officeDocument/2006/relationships" xmlns:p="http://schemas.openxmlformats.org/presentationml/2006/main">
  <p:tag name="THINKCELLSHAPEDONOTDELETE" val="tbNHnsXpFKArrNhC6nEhZGg"/>
</p:tagLst>
</file>

<file path=ppt/tags/tag28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21.xml><?xml version="1.0" encoding="utf-8"?>
<p:tagLst xmlns:a="http://schemas.openxmlformats.org/drawingml/2006/main" xmlns:r="http://schemas.openxmlformats.org/officeDocument/2006/relationships" xmlns:p="http://schemas.openxmlformats.org/presentationml/2006/main">
  <p:tag name="THINKCELLSHAPEDONOTDELETE" val="trVku6WFy3meIEZJgfeglww"/>
</p:tagLst>
</file>

<file path=ppt/tags/tag28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23.xml><?xml version="1.0" encoding="utf-8"?>
<p:tagLst xmlns:a="http://schemas.openxmlformats.org/drawingml/2006/main" xmlns:r="http://schemas.openxmlformats.org/officeDocument/2006/relationships" xmlns:p="http://schemas.openxmlformats.org/presentationml/2006/main">
  <p:tag name="THINKCELLSHAPEDONOTDELETE" val="t6cvz1GBGiU5zxzPiaxn6SQ"/>
</p:tagLst>
</file>

<file path=ppt/tags/tag28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25.xml><?xml version="1.0" encoding="utf-8"?>
<p:tagLst xmlns:a="http://schemas.openxmlformats.org/drawingml/2006/main" xmlns:r="http://schemas.openxmlformats.org/officeDocument/2006/relationships" xmlns:p="http://schemas.openxmlformats.org/presentationml/2006/main">
  <p:tag name="THINKCELLSHAPEDONOTDELETE" val="tV0pxSJvcXkm_a6QNB84NxQ"/>
</p:tagLst>
</file>

<file path=ppt/tags/tag28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27.xml><?xml version="1.0" encoding="utf-8"?>
<p:tagLst xmlns:a="http://schemas.openxmlformats.org/drawingml/2006/main" xmlns:r="http://schemas.openxmlformats.org/officeDocument/2006/relationships" xmlns:p="http://schemas.openxmlformats.org/presentationml/2006/main">
  <p:tag name="THINKCELLSHAPEDONOTDELETE" val="tDI_G18rZCwpZpvgDq_iTpQ"/>
</p:tagLst>
</file>

<file path=ppt/tags/tag28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29.xml><?xml version="1.0" encoding="utf-8"?>
<p:tagLst xmlns:a="http://schemas.openxmlformats.org/drawingml/2006/main" xmlns:r="http://schemas.openxmlformats.org/officeDocument/2006/relationships" xmlns:p="http://schemas.openxmlformats.org/presentationml/2006/main">
  <p:tag name="THINKCELLSHAPEDONOTDELETE" val="tSEgJBqfddr3YTjKsRwLKNA"/>
</p:tagLst>
</file>

<file path=ppt/tags/tag28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31.xml><?xml version="1.0" encoding="utf-8"?>
<p:tagLst xmlns:a="http://schemas.openxmlformats.org/drawingml/2006/main" xmlns:r="http://schemas.openxmlformats.org/officeDocument/2006/relationships" xmlns:p="http://schemas.openxmlformats.org/presentationml/2006/main">
  <p:tag name="THINKCELLSHAPEDONOTDELETE" val="tnc68cPHuxQJ_RurobmKy6A"/>
</p:tagLst>
</file>

<file path=ppt/tags/tag28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33.xml><?xml version="1.0" encoding="utf-8"?>
<p:tagLst xmlns:a="http://schemas.openxmlformats.org/drawingml/2006/main" xmlns:r="http://schemas.openxmlformats.org/officeDocument/2006/relationships" xmlns:p="http://schemas.openxmlformats.org/presentationml/2006/main">
  <p:tag name="THINKCELLSHAPEDONOTDELETE" val="t5SjQ5h.b93fP0VFIMyroQg"/>
</p:tagLst>
</file>

<file path=ppt/tags/tag28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35.xml><?xml version="1.0" encoding="utf-8"?>
<p:tagLst xmlns:a="http://schemas.openxmlformats.org/drawingml/2006/main" xmlns:r="http://schemas.openxmlformats.org/officeDocument/2006/relationships" xmlns:p="http://schemas.openxmlformats.org/presentationml/2006/main">
  <p:tag name="THINKCELLSHAPEDONOTDELETE" val="t.W8Ta_qp.ag95D0c6ACPrg"/>
</p:tagLst>
</file>

<file path=ppt/tags/tag28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37.xml><?xml version="1.0" encoding="utf-8"?>
<p:tagLst xmlns:a="http://schemas.openxmlformats.org/drawingml/2006/main" xmlns:r="http://schemas.openxmlformats.org/officeDocument/2006/relationships" xmlns:p="http://schemas.openxmlformats.org/presentationml/2006/main">
  <p:tag name="THINKCELLSHAPEDONOTDELETE" val="tYrbdC0dai22on6X6pYyvIw"/>
</p:tagLst>
</file>

<file path=ppt/tags/tag28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39.xml><?xml version="1.0" encoding="utf-8"?>
<p:tagLst xmlns:a="http://schemas.openxmlformats.org/drawingml/2006/main" xmlns:r="http://schemas.openxmlformats.org/officeDocument/2006/relationships" xmlns:p="http://schemas.openxmlformats.org/presentationml/2006/main">
  <p:tag name="THINKCELLSHAPEDONOTDELETE" val="t1voR71emYeeeIzDBzJjTEg"/>
</p:tagLst>
</file>

<file path=ppt/tags/tag28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41.xml><?xml version="1.0" encoding="utf-8"?>
<p:tagLst xmlns:a="http://schemas.openxmlformats.org/drawingml/2006/main" xmlns:r="http://schemas.openxmlformats.org/officeDocument/2006/relationships" xmlns:p="http://schemas.openxmlformats.org/presentationml/2006/main">
  <p:tag name="THINKCELLSHAPEDONOTDELETE" val="tMrgCpLDNQ1AfIV9RENFRsQ"/>
</p:tagLst>
</file>

<file path=ppt/tags/tag28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43.xml><?xml version="1.0" encoding="utf-8"?>
<p:tagLst xmlns:a="http://schemas.openxmlformats.org/drawingml/2006/main" xmlns:r="http://schemas.openxmlformats.org/officeDocument/2006/relationships" xmlns:p="http://schemas.openxmlformats.org/presentationml/2006/main">
  <p:tag name="THINKCELLSHAPEDONOTDELETE" val="tflWRNaDQSM.RnGZPSeg24Q"/>
</p:tagLst>
</file>

<file path=ppt/tags/tag2844.xml><?xml version="1.0" encoding="utf-8"?>
<p:tagLst xmlns:a="http://schemas.openxmlformats.org/drawingml/2006/main" xmlns:r="http://schemas.openxmlformats.org/officeDocument/2006/relationships" xmlns:p="http://schemas.openxmlformats.org/presentationml/2006/main">
  <p:tag name="HEADER" val="True"/>
</p:tagLst>
</file>

<file path=ppt/tags/tag28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46.xml><?xml version="1.0" encoding="utf-8"?>
<p:tagLst xmlns:a="http://schemas.openxmlformats.org/drawingml/2006/main" xmlns:r="http://schemas.openxmlformats.org/officeDocument/2006/relationships" xmlns:p="http://schemas.openxmlformats.org/presentationml/2006/main">
  <p:tag name="THINKCELLSHAPEDONOTDELETE" val="tmMMzGDiC1sMQVszLBJ0lyQ"/>
</p:tagLst>
</file>

<file path=ppt/tags/tag2847.xml><?xml version="1.0" encoding="utf-8"?>
<p:tagLst xmlns:a="http://schemas.openxmlformats.org/drawingml/2006/main" xmlns:r="http://schemas.openxmlformats.org/officeDocument/2006/relationships" xmlns:p="http://schemas.openxmlformats.org/presentationml/2006/main">
  <p:tag name="HEADER" val="True"/>
</p:tagLst>
</file>

<file path=ppt/tags/tag28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49.xml><?xml version="1.0" encoding="utf-8"?>
<p:tagLst xmlns:a="http://schemas.openxmlformats.org/drawingml/2006/main" xmlns:r="http://schemas.openxmlformats.org/officeDocument/2006/relationships" xmlns:p="http://schemas.openxmlformats.org/presentationml/2006/main">
  <p:tag name="THINKCELLSHAPEDONOTDELETE" val="tmWAzt6YtZdJe8d2JRPmKTA"/>
</p:tagLst>
</file>

<file path=ppt/tags/tag2850.xml><?xml version="1.0" encoding="utf-8"?>
<p:tagLst xmlns:a="http://schemas.openxmlformats.org/drawingml/2006/main" xmlns:r="http://schemas.openxmlformats.org/officeDocument/2006/relationships" xmlns:p="http://schemas.openxmlformats.org/presentationml/2006/main">
  <p:tag name="HEADER" val="True"/>
</p:tagLst>
</file>

<file path=ppt/tags/tag285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52.xml><?xml version="1.0" encoding="utf-8"?>
<p:tagLst xmlns:a="http://schemas.openxmlformats.org/drawingml/2006/main" xmlns:r="http://schemas.openxmlformats.org/officeDocument/2006/relationships" xmlns:p="http://schemas.openxmlformats.org/presentationml/2006/main">
  <p:tag name="THINKCELLSHAPEDONOTDELETE" val="tTrc9K1LR56WkWJ0QTN9jLw"/>
</p:tagLst>
</file>

<file path=ppt/tags/tag2853.xml><?xml version="1.0" encoding="utf-8"?>
<p:tagLst xmlns:a="http://schemas.openxmlformats.org/drawingml/2006/main" xmlns:r="http://schemas.openxmlformats.org/officeDocument/2006/relationships" xmlns:p="http://schemas.openxmlformats.org/presentationml/2006/main">
  <p:tag name="HEADER" val="True"/>
</p:tagLst>
</file>

<file path=ppt/tags/tag285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55.xml><?xml version="1.0" encoding="utf-8"?>
<p:tagLst xmlns:a="http://schemas.openxmlformats.org/drawingml/2006/main" xmlns:r="http://schemas.openxmlformats.org/officeDocument/2006/relationships" xmlns:p="http://schemas.openxmlformats.org/presentationml/2006/main">
  <p:tag name="THINKCELLSHAPEDONOTDELETE" val="tLrl_8AozC1vbLkZ_KnDUZg"/>
</p:tagLst>
</file>

<file path=ppt/tags/tag2856.xml><?xml version="1.0" encoding="utf-8"?>
<p:tagLst xmlns:a="http://schemas.openxmlformats.org/drawingml/2006/main" xmlns:r="http://schemas.openxmlformats.org/officeDocument/2006/relationships" xmlns:p="http://schemas.openxmlformats.org/presentationml/2006/main">
  <p:tag name="HEADER" val="True"/>
</p:tagLst>
</file>

<file path=ppt/tags/tag285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58.xml><?xml version="1.0" encoding="utf-8"?>
<p:tagLst xmlns:a="http://schemas.openxmlformats.org/drawingml/2006/main" xmlns:r="http://schemas.openxmlformats.org/officeDocument/2006/relationships" xmlns:p="http://schemas.openxmlformats.org/presentationml/2006/main">
  <p:tag name="THINKCELLSHAPEDONOTDELETE" val="tx2YKZjmN7OOmG0dhnU7ppw"/>
</p:tagLst>
</file>

<file path=ppt/tags/tag2859.xml><?xml version="1.0" encoding="utf-8"?>
<p:tagLst xmlns:a="http://schemas.openxmlformats.org/drawingml/2006/main" xmlns:r="http://schemas.openxmlformats.org/officeDocument/2006/relationships" xmlns:p="http://schemas.openxmlformats.org/presentationml/2006/main">
  <p:tag name="HEADER" val="True"/>
</p:tagLst>
</file>

<file path=ppt/tags/tag286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61.xml><?xml version="1.0" encoding="utf-8"?>
<p:tagLst xmlns:a="http://schemas.openxmlformats.org/drawingml/2006/main" xmlns:r="http://schemas.openxmlformats.org/officeDocument/2006/relationships" xmlns:p="http://schemas.openxmlformats.org/presentationml/2006/main">
  <p:tag name="THINKCELLSHAPEDONOTDELETE" val="tcJiPhs2J9SJn5o2uncoIBQ"/>
</p:tagLst>
</file>

<file path=ppt/tags/tag2862.xml><?xml version="1.0" encoding="utf-8"?>
<p:tagLst xmlns:a="http://schemas.openxmlformats.org/drawingml/2006/main" xmlns:r="http://schemas.openxmlformats.org/officeDocument/2006/relationships" xmlns:p="http://schemas.openxmlformats.org/presentationml/2006/main">
  <p:tag name="HEADER" val="True"/>
</p:tagLst>
</file>

<file path=ppt/tags/tag286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64.xml><?xml version="1.0" encoding="utf-8"?>
<p:tagLst xmlns:a="http://schemas.openxmlformats.org/drawingml/2006/main" xmlns:r="http://schemas.openxmlformats.org/officeDocument/2006/relationships" xmlns:p="http://schemas.openxmlformats.org/presentationml/2006/main">
  <p:tag name="THINKCELLSHAPEDONOTDELETE" val="tdc_XAsvPd6NSqC7hLgnY3Q"/>
</p:tagLst>
</file>

<file path=ppt/tags/tag2865.xml><?xml version="1.0" encoding="utf-8"?>
<p:tagLst xmlns:a="http://schemas.openxmlformats.org/drawingml/2006/main" xmlns:r="http://schemas.openxmlformats.org/officeDocument/2006/relationships" xmlns:p="http://schemas.openxmlformats.org/presentationml/2006/main">
  <p:tag name="HEADER" val="True"/>
</p:tagLst>
</file>

<file path=ppt/tags/tag286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67.xml><?xml version="1.0" encoding="utf-8"?>
<p:tagLst xmlns:a="http://schemas.openxmlformats.org/drawingml/2006/main" xmlns:r="http://schemas.openxmlformats.org/officeDocument/2006/relationships" xmlns:p="http://schemas.openxmlformats.org/presentationml/2006/main">
  <p:tag name="THINKCELLSHAPEDONOTDELETE" val="t7CQirMNIh88YS5wLYZAlrw"/>
</p:tagLst>
</file>

<file path=ppt/tags/tag2868.xml><?xml version="1.0" encoding="utf-8"?>
<p:tagLst xmlns:a="http://schemas.openxmlformats.org/drawingml/2006/main" xmlns:r="http://schemas.openxmlformats.org/officeDocument/2006/relationships" xmlns:p="http://schemas.openxmlformats.org/presentationml/2006/main">
  <p:tag name="HEADER" val="True"/>
</p:tagLst>
</file>

<file path=ppt/tags/tag286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70.xml><?xml version="1.0" encoding="utf-8"?>
<p:tagLst xmlns:a="http://schemas.openxmlformats.org/drawingml/2006/main" xmlns:r="http://schemas.openxmlformats.org/officeDocument/2006/relationships" xmlns:p="http://schemas.openxmlformats.org/presentationml/2006/main">
  <p:tag name="THINKCELLSHAPEDONOTDELETE" val="tLK.rVBAjDhQjx2D8mepU.Q"/>
</p:tagLst>
</file>

<file path=ppt/tags/tag2871.xml><?xml version="1.0" encoding="utf-8"?>
<p:tagLst xmlns:a="http://schemas.openxmlformats.org/drawingml/2006/main" xmlns:r="http://schemas.openxmlformats.org/officeDocument/2006/relationships" xmlns:p="http://schemas.openxmlformats.org/presentationml/2006/main">
  <p:tag name="HEADER" val="True"/>
</p:tagLst>
</file>

<file path=ppt/tags/tag287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73.xml><?xml version="1.0" encoding="utf-8"?>
<p:tagLst xmlns:a="http://schemas.openxmlformats.org/drawingml/2006/main" xmlns:r="http://schemas.openxmlformats.org/officeDocument/2006/relationships" xmlns:p="http://schemas.openxmlformats.org/presentationml/2006/main">
  <p:tag name="THINKCELLSHAPEDONOTDELETE" val="ttX5ionfc_9CNmM1CzycMHQ"/>
</p:tagLst>
</file>

<file path=ppt/tags/tag2874.xml><?xml version="1.0" encoding="utf-8"?>
<p:tagLst xmlns:a="http://schemas.openxmlformats.org/drawingml/2006/main" xmlns:r="http://schemas.openxmlformats.org/officeDocument/2006/relationships" xmlns:p="http://schemas.openxmlformats.org/presentationml/2006/main">
  <p:tag name="HEADER" val="True"/>
</p:tagLst>
</file>

<file path=ppt/tags/tag287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76.xml><?xml version="1.0" encoding="utf-8"?>
<p:tagLst xmlns:a="http://schemas.openxmlformats.org/drawingml/2006/main" xmlns:r="http://schemas.openxmlformats.org/officeDocument/2006/relationships" xmlns:p="http://schemas.openxmlformats.org/presentationml/2006/main">
  <p:tag name="THINKCELLSHAPEDONOTDELETE" val="tKhyygEBbx9APWsa9ReTgsg"/>
</p:tagLst>
</file>

<file path=ppt/tags/tag2877.xml><?xml version="1.0" encoding="utf-8"?>
<p:tagLst xmlns:a="http://schemas.openxmlformats.org/drawingml/2006/main" xmlns:r="http://schemas.openxmlformats.org/officeDocument/2006/relationships" xmlns:p="http://schemas.openxmlformats.org/presentationml/2006/main">
  <p:tag name="HEADER" val="True"/>
</p:tagLst>
</file>

<file path=ppt/tags/tag287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79.xml><?xml version="1.0" encoding="utf-8"?>
<p:tagLst xmlns:a="http://schemas.openxmlformats.org/drawingml/2006/main" xmlns:r="http://schemas.openxmlformats.org/officeDocument/2006/relationships" xmlns:p="http://schemas.openxmlformats.org/presentationml/2006/main">
  <p:tag name="THINKCELLSHAPEDONOTDELETE" val="tZln3CJHh2ypvR9NV4fX2gg"/>
</p:tagLst>
</file>

<file path=ppt/tags/tag2880.xml><?xml version="1.0" encoding="utf-8"?>
<p:tagLst xmlns:a="http://schemas.openxmlformats.org/drawingml/2006/main" xmlns:r="http://schemas.openxmlformats.org/officeDocument/2006/relationships" xmlns:p="http://schemas.openxmlformats.org/presentationml/2006/main">
  <p:tag name="HEADER" val="True"/>
</p:tagLst>
</file>

<file path=ppt/tags/tag288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82.xml><?xml version="1.0" encoding="utf-8"?>
<p:tagLst xmlns:a="http://schemas.openxmlformats.org/drawingml/2006/main" xmlns:r="http://schemas.openxmlformats.org/officeDocument/2006/relationships" xmlns:p="http://schemas.openxmlformats.org/presentationml/2006/main">
  <p:tag name="THINKCELLSHAPEDONOTDELETE" val="thogSyj2JIKcmJWm9CdyIhg"/>
</p:tagLst>
</file>

<file path=ppt/tags/tag2883.xml><?xml version="1.0" encoding="utf-8"?>
<p:tagLst xmlns:a="http://schemas.openxmlformats.org/drawingml/2006/main" xmlns:r="http://schemas.openxmlformats.org/officeDocument/2006/relationships" xmlns:p="http://schemas.openxmlformats.org/presentationml/2006/main">
  <p:tag name="HEADER" val="True"/>
</p:tagLst>
</file>

<file path=ppt/tags/tag288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85.xml><?xml version="1.0" encoding="utf-8"?>
<p:tagLst xmlns:a="http://schemas.openxmlformats.org/drawingml/2006/main" xmlns:r="http://schemas.openxmlformats.org/officeDocument/2006/relationships" xmlns:p="http://schemas.openxmlformats.org/presentationml/2006/main">
  <p:tag name="THINKCELLSHAPEDONOTDELETE" val="t2ASJTPFHshQ8nzqfWWbgzg"/>
</p:tagLst>
</file>

<file path=ppt/tags/tag2886.xml><?xml version="1.0" encoding="utf-8"?>
<p:tagLst xmlns:a="http://schemas.openxmlformats.org/drawingml/2006/main" xmlns:r="http://schemas.openxmlformats.org/officeDocument/2006/relationships" xmlns:p="http://schemas.openxmlformats.org/presentationml/2006/main">
  <p:tag name="HEADER" val="True"/>
</p:tagLst>
</file>

<file path=ppt/tags/tag288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88.xml><?xml version="1.0" encoding="utf-8"?>
<p:tagLst xmlns:a="http://schemas.openxmlformats.org/drawingml/2006/main" xmlns:r="http://schemas.openxmlformats.org/officeDocument/2006/relationships" xmlns:p="http://schemas.openxmlformats.org/presentationml/2006/main">
  <p:tag name="THINKCELLSHAPEDONOTDELETE" val="tRISIhJh.mG.Esk3xSgsmJw"/>
</p:tagLst>
</file>

<file path=ppt/tags/tag2889.xml><?xml version="1.0" encoding="utf-8"?>
<p:tagLst xmlns:a="http://schemas.openxmlformats.org/drawingml/2006/main" xmlns:r="http://schemas.openxmlformats.org/officeDocument/2006/relationships" xmlns:p="http://schemas.openxmlformats.org/presentationml/2006/main">
  <p:tag name="HEADER" val="True"/>
</p:tagLst>
</file>

<file path=ppt/tags/tag289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91.xml><?xml version="1.0" encoding="utf-8"?>
<p:tagLst xmlns:a="http://schemas.openxmlformats.org/drawingml/2006/main" xmlns:r="http://schemas.openxmlformats.org/officeDocument/2006/relationships" xmlns:p="http://schemas.openxmlformats.org/presentationml/2006/main">
  <p:tag name="THINKCELLSHAPEDONOTDELETE" val="tcxIN2fod.C2W.9bB0HoDyA"/>
</p:tagLst>
</file>

<file path=ppt/tags/tag2892.xml><?xml version="1.0" encoding="utf-8"?>
<p:tagLst xmlns:a="http://schemas.openxmlformats.org/drawingml/2006/main" xmlns:r="http://schemas.openxmlformats.org/officeDocument/2006/relationships" xmlns:p="http://schemas.openxmlformats.org/presentationml/2006/main">
  <p:tag name="HEADER" val="True"/>
</p:tagLst>
</file>

<file path=ppt/tags/tag289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94.xml><?xml version="1.0" encoding="utf-8"?>
<p:tagLst xmlns:a="http://schemas.openxmlformats.org/drawingml/2006/main" xmlns:r="http://schemas.openxmlformats.org/officeDocument/2006/relationships" xmlns:p="http://schemas.openxmlformats.org/presentationml/2006/main">
  <p:tag name="THINKCELLSHAPEDONOTDELETE" val="tPwEWP2TkS9GHzuKUH4JE3w"/>
</p:tagLst>
</file>

<file path=ppt/tags/tag2895.xml><?xml version="1.0" encoding="utf-8"?>
<p:tagLst xmlns:a="http://schemas.openxmlformats.org/drawingml/2006/main" xmlns:r="http://schemas.openxmlformats.org/officeDocument/2006/relationships" xmlns:p="http://schemas.openxmlformats.org/presentationml/2006/main">
  <p:tag name="HEADER" val="True"/>
</p:tagLst>
</file>

<file path=ppt/tags/tag289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97.xml><?xml version="1.0" encoding="utf-8"?>
<p:tagLst xmlns:a="http://schemas.openxmlformats.org/drawingml/2006/main" xmlns:r="http://schemas.openxmlformats.org/officeDocument/2006/relationships" xmlns:p="http://schemas.openxmlformats.org/presentationml/2006/main">
  <p:tag name="THINKCELLSHAPEDONOTDELETE" val="tEiI8qBAUqkuhoQMhLXknlQ"/>
</p:tagLst>
</file>

<file path=ppt/tags/tag2898.xml><?xml version="1.0" encoding="utf-8"?>
<p:tagLst xmlns:a="http://schemas.openxmlformats.org/drawingml/2006/main" xmlns:r="http://schemas.openxmlformats.org/officeDocument/2006/relationships" xmlns:p="http://schemas.openxmlformats.org/presentationml/2006/main">
  <p:tag name="HEADER" val="True"/>
</p:tagLst>
</file>

<file path=ppt/tags/tag289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00.xml><?xml version="1.0" encoding="utf-8"?>
<p:tagLst xmlns:a="http://schemas.openxmlformats.org/drawingml/2006/main" xmlns:r="http://schemas.openxmlformats.org/officeDocument/2006/relationships" xmlns:p="http://schemas.openxmlformats.org/presentationml/2006/main">
  <p:tag name="THINKCELLSHAPEDONOTDELETE" val="tv_6tknZynxHKiE9d93yy6g"/>
</p:tagLst>
</file>

<file path=ppt/tags/tag2901.xml><?xml version="1.0" encoding="utf-8"?>
<p:tagLst xmlns:a="http://schemas.openxmlformats.org/drawingml/2006/main" xmlns:r="http://schemas.openxmlformats.org/officeDocument/2006/relationships" xmlns:p="http://schemas.openxmlformats.org/presentationml/2006/main">
  <p:tag name="HEADER" val="True"/>
</p:tagLst>
</file>

<file path=ppt/tags/tag290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03.xml><?xml version="1.0" encoding="utf-8"?>
<p:tagLst xmlns:a="http://schemas.openxmlformats.org/drawingml/2006/main" xmlns:r="http://schemas.openxmlformats.org/officeDocument/2006/relationships" xmlns:p="http://schemas.openxmlformats.org/presentationml/2006/main">
  <p:tag name="THINKCELLSHAPEDONOTDELETE" val="t_ZPBmq4HhpVReVcMiBP6vg"/>
</p:tagLst>
</file>

<file path=ppt/tags/tag2904.xml><?xml version="1.0" encoding="utf-8"?>
<p:tagLst xmlns:a="http://schemas.openxmlformats.org/drawingml/2006/main" xmlns:r="http://schemas.openxmlformats.org/officeDocument/2006/relationships" xmlns:p="http://schemas.openxmlformats.org/presentationml/2006/main">
  <p:tag name="HEADER" val="True"/>
</p:tagLst>
</file>

<file path=ppt/tags/tag290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06.xml><?xml version="1.0" encoding="utf-8"?>
<p:tagLst xmlns:a="http://schemas.openxmlformats.org/drawingml/2006/main" xmlns:r="http://schemas.openxmlformats.org/officeDocument/2006/relationships" xmlns:p="http://schemas.openxmlformats.org/presentationml/2006/main">
  <p:tag name="THINKCELLSHAPEDONOTDELETE" val="tUy95r58ptmCrfIdsi6SXxg"/>
</p:tagLst>
</file>

<file path=ppt/tags/tag2907.xml><?xml version="1.0" encoding="utf-8"?>
<p:tagLst xmlns:a="http://schemas.openxmlformats.org/drawingml/2006/main" xmlns:r="http://schemas.openxmlformats.org/officeDocument/2006/relationships" xmlns:p="http://schemas.openxmlformats.org/presentationml/2006/main">
  <p:tag name="HEADER" val="True"/>
</p:tagLst>
</file>

<file path=ppt/tags/tag290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09.xml><?xml version="1.0" encoding="utf-8"?>
<p:tagLst xmlns:a="http://schemas.openxmlformats.org/drawingml/2006/main" xmlns:r="http://schemas.openxmlformats.org/officeDocument/2006/relationships" xmlns:p="http://schemas.openxmlformats.org/presentationml/2006/main">
  <p:tag name="THINKCELLSHAPEDONOTDELETE" val="t9kJWLOwX9N2zPU9KW0jy3w"/>
</p:tagLst>
</file>

<file path=ppt/tags/tag2910.xml><?xml version="1.0" encoding="utf-8"?>
<p:tagLst xmlns:a="http://schemas.openxmlformats.org/drawingml/2006/main" xmlns:r="http://schemas.openxmlformats.org/officeDocument/2006/relationships" xmlns:p="http://schemas.openxmlformats.org/presentationml/2006/main">
  <p:tag name="HEADER" val="True"/>
</p:tagLst>
</file>

<file path=ppt/tags/tag29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12.xml><?xml version="1.0" encoding="utf-8"?>
<p:tagLst xmlns:a="http://schemas.openxmlformats.org/drawingml/2006/main" xmlns:r="http://schemas.openxmlformats.org/officeDocument/2006/relationships" xmlns:p="http://schemas.openxmlformats.org/presentationml/2006/main">
  <p:tag name="THINKCELLSHAPEDONOTDELETE" val="tAhDx9.z0h_C3WtwYa.2KNw"/>
</p:tagLst>
</file>

<file path=ppt/tags/tag2913.xml><?xml version="1.0" encoding="utf-8"?>
<p:tagLst xmlns:a="http://schemas.openxmlformats.org/drawingml/2006/main" xmlns:r="http://schemas.openxmlformats.org/officeDocument/2006/relationships" xmlns:p="http://schemas.openxmlformats.org/presentationml/2006/main">
  <p:tag name="HEADER" val="True"/>
</p:tagLst>
</file>

<file path=ppt/tags/tag29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15.xml><?xml version="1.0" encoding="utf-8"?>
<p:tagLst xmlns:a="http://schemas.openxmlformats.org/drawingml/2006/main" xmlns:r="http://schemas.openxmlformats.org/officeDocument/2006/relationships" xmlns:p="http://schemas.openxmlformats.org/presentationml/2006/main">
  <p:tag name="THINKCELLSHAPEDONOTDELETE" val="tzV0shOUCPyzJSvZRkVehrw"/>
</p:tagLst>
</file>

<file path=ppt/tags/tag2916.xml><?xml version="1.0" encoding="utf-8"?>
<p:tagLst xmlns:a="http://schemas.openxmlformats.org/drawingml/2006/main" xmlns:r="http://schemas.openxmlformats.org/officeDocument/2006/relationships" xmlns:p="http://schemas.openxmlformats.org/presentationml/2006/main">
  <p:tag name="HEADER" val="True"/>
</p:tagLst>
</file>

<file path=ppt/tags/tag29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18.xml><?xml version="1.0" encoding="utf-8"?>
<p:tagLst xmlns:a="http://schemas.openxmlformats.org/drawingml/2006/main" xmlns:r="http://schemas.openxmlformats.org/officeDocument/2006/relationships" xmlns:p="http://schemas.openxmlformats.org/presentationml/2006/main">
  <p:tag name="THINKCELLSHAPEDONOTDELETE" val="tcPXqksoZnneJUuAZ2ieouA"/>
</p:tagLst>
</file>

<file path=ppt/tags/tag2919.xml><?xml version="1.0" encoding="utf-8"?>
<p:tagLst xmlns:a="http://schemas.openxmlformats.org/drawingml/2006/main" xmlns:r="http://schemas.openxmlformats.org/officeDocument/2006/relationships" xmlns:p="http://schemas.openxmlformats.org/presentationml/2006/main">
  <p:tag name="HEADER" val="True"/>
</p:tagLst>
</file>

<file path=ppt/tags/tag29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21.xml><?xml version="1.0" encoding="utf-8"?>
<p:tagLst xmlns:a="http://schemas.openxmlformats.org/drawingml/2006/main" xmlns:r="http://schemas.openxmlformats.org/officeDocument/2006/relationships" xmlns:p="http://schemas.openxmlformats.org/presentationml/2006/main">
  <p:tag name="THINKCELLSHAPEDONOTDELETE" val="t3PSjt0o0rnWbGroBQsNuBQ"/>
</p:tagLst>
</file>

<file path=ppt/tags/tag2922.xml><?xml version="1.0" encoding="utf-8"?>
<p:tagLst xmlns:a="http://schemas.openxmlformats.org/drawingml/2006/main" xmlns:r="http://schemas.openxmlformats.org/officeDocument/2006/relationships" xmlns:p="http://schemas.openxmlformats.org/presentationml/2006/main">
  <p:tag name="HEADER" val="True"/>
</p:tagLst>
</file>

<file path=ppt/tags/tag29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24.xml><?xml version="1.0" encoding="utf-8"?>
<p:tagLst xmlns:a="http://schemas.openxmlformats.org/drawingml/2006/main" xmlns:r="http://schemas.openxmlformats.org/officeDocument/2006/relationships" xmlns:p="http://schemas.openxmlformats.org/presentationml/2006/main">
  <p:tag name="THINKCELLSHAPEDONOTDELETE" val="tE_k4_caN390cXGG2_Fskvw"/>
</p:tagLst>
</file>

<file path=ppt/tags/tag2925.xml><?xml version="1.0" encoding="utf-8"?>
<p:tagLst xmlns:a="http://schemas.openxmlformats.org/drawingml/2006/main" xmlns:r="http://schemas.openxmlformats.org/officeDocument/2006/relationships" xmlns:p="http://schemas.openxmlformats.org/presentationml/2006/main">
  <p:tag name="HEADER" val="True"/>
</p:tagLst>
</file>

<file path=ppt/tags/tag29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27.xml><?xml version="1.0" encoding="utf-8"?>
<p:tagLst xmlns:a="http://schemas.openxmlformats.org/drawingml/2006/main" xmlns:r="http://schemas.openxmlformats.org/officeDocument/2006/relationships" xmlns:p="http://schemas.openxmlformats.org/presentationml/2006/main">
  <p:tag name="THINKCELLSHAPEDONOTDELETE" val="tMrgCpLDNQ1AfIV9RENFRsQ"/>
</p:tagLst>
</file>

<file path=ppt/tags/tag29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29.xml><?xml version="1.0" encoding="utf-8"?>
<p:tagLst xmlns:a="http://schemas.openxmlformats.org/drawingml/2006/main" xmlns:r="http://schemas.openxmlformats.org/officeDocument/2006/relationships" xmlns:p="http://schemas.openxmlformats.org/presentationml/2006/main">
  <p:tag name="THINKCELLSHAPEDONOTDELETE" val="t5PaVbJbpbYr.la2ZxwCkIQ"/>
</p:tagLst>
</file>

<file path=ppt/tags/tag29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31.xml><?xml version="1.0" encoding="utf-8"?>
<p:tagLst xmlns:a="http://schemas.openxmlformats.org/drawingml/2006/main" xmlns:r="http://schemas.openxmlformats.org/officeDocument/2006/relationships" xmlns:p="http://schemas.openxmlformats.org/presentationml/2006/main">
  <p:tag name="THINKCELLSHAPEDONOTDELETE" val="tDCB_ctfSZCeLUvlHC7BTmw"/>
</p:tagLst>
</file>

<file path=ppt/tags/tag29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33.xml><?xml version="1.0" encoding="utf-8"?>
<p:tagLst xmlns:a="http://schemas.openxmlformats.org/drawingml/2006/main" xmlns:r="http://schemas.openxmlformats.org/officeDocument/2006/relationships" xmlns:p="http://schemas.openxmlformats.org/presentationml/2006/main">
  <p:tag name="THINKCELLSHAPEDONOTDELETE" val="txzWxPtfZaax4jgojh2tMww"/>
</p:tagLst>
</file>

<file path=ppt/tags/tag29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35.xml><?xml version="1.0" encoding="utf-8"?>
<p:tagLst xmlns:a="http://schemas.openxmlformats.org/drawingml/2006/main" xmlns:r="http://schemas.openxmlformats.org/officeDocument/2006/relationships" xmlns:p="http://schemas.openxmlformats.org/presentationml/2006/main">
  <p:tag name="THINKCELLSHAPEDONOTDELETE" val="tP5NeBlof3If9UBMzPyRs0w"/>
</p:tagLst>
</file>

<file path=ppt/tags/tag29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37.xml><?xml version="1.0" encoding="utf-8"?>
<p:tagLst xmlns:a="http://schemas.openxmlformats.org/drawingml/2006/main" xmlns:r="http://schemas.openxmlformats.org/officeDocument/2006/relationships" xmlns:p="http://schemas.openxmlformats.org/presentationml/2006/main">
  <p:tag name="THINKCELLSHAPEDONOTDELETE" val="tvf_F9ObUqK32gHpcR2LbrQ"/>
</p:tagLst>
</file>

<file path=ppt/tags/tag29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39.xml><?xml version="1.0" encoding="utf-8"?>
<p:tagLst xmlns:a="http://schemas.openxmlformats.org/drawingml/2006/main" xmlns:r="http://schemas.openxmlformats.org/officeDocument/2006/relationships" xmlns:p="http://schemas.openxmlformats.org/presentationml/2006/main">
  <p:tag name="THINKCELLSHAPEDONOTDELETE" val="tNwXvXYygJGosRUsTFUqc8g"/>
</p:tagLst>
</file>

<file path=ppt/tags/tag29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41.xml><?xml version="1.0" encoding="utf-8"?>
<p:tagLst xmlns:a="http://schemas.openxmlformats.org/drawingml/2006/main" xmlns:r="http://schemas.openxmlformats.org/officeDocument/2006/relationships" xmlns:p="http://schemas.openxmlformats.org/presentationml/2006/main">
  <p:tag name="THINKCELLSHAPEDONOTDELETE" val="txynghwtH7fkFXaKZMyoe6A"/>
</p:tagLst>
</file>

<file path=ppt/tags/tag29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43.xml><?xml version="1.0" encoding="utf-8"?>
<p:tagLst xmlns:a="http://schemas.openxmlformats.org/drawingml/2006/main" xmlns:r="http://schemas.openxmlformats.org/officeDocument/2006/relationships" xmlns:p="http://schemas.openxmlformats.org/presentationml/2006/main">
  <p:tag name="THINKCELLSHAPEDONOTDELETE" val="taKeXY10tQ5817x_O.T9luQ"/>
</p:tagLst>
</file>

<file path=ppt/tags/tag294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45.xml><?xml version="1.0" encoding="utf-8"?>
<p:tagLst xmlns:a="http://schemas.openxmlformats.org/drawingml/2006/main" xmlns:r="http://schemas.openxmlformats.org/officeDocument/2006/relationships" xmlns:p="http://schemas.openxmlformats.org/presentationml/2006/main">
  <p:tag name="THINKCELLSHAPEDONOTDELETE" val="t92G0KVsX2.g2fZXQuvy_Ug"/>
</p:tagLst>
</file>

<file path=ppt/tags/tag29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47.xml><?xml version="1.0" encoding="utf-8"?>
<p:tagLst xmlns:a="http://schemas.openxmlformats.org/drawingml/2006/main" xmlns:r="http://schemas.openxmlformats.org/officeDocument/2006/relationships" xmlns:p="http://schemas.openxmlformats.org/presentationml/2006/main">
  <p:tag name="THINKCELLSHAPEDONOTDELETE" val="t3cR_fACba50g9h8YzfXtyg"/>
</p:tagLst>
</file>

<file path=ppt/tags/tag29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49.xml><?xml version="1.0" encoding="utf-8"?>
<p:tagLst xmlns:a="http://schemas.openxmlformats.org/drawingml/2006/main" xmlns:r="http://schemas.openxmlformats.org/officeDocument/2006/relationships" xmlns:p="http://schemas.openxmlformats.org/presentationml/2006/main">
  <p:tag name="THINKCELLSHAPEDONOTDELETE" val="tWdMuYRH7X06LiFsFnENviQ"/>
</p:tagLst>
</file>

<file path=ppt/tags/tag2950.xml><?xml version="1.0" encoding="utf-8"?>
<p:tagLst xmlns:a="http://schemas.openxmlformats.org/drawingml/2006/main" xmlns:r="http://schemas.openxmlformats.org/officeDocument/2006/relationships" xmlns:p="http://schemas.openxmlformats.org/presentationml/2006/main">
  <p:tag name="HEADER" val="True"/>
</p:tagLst>
</file>

<file path=ppt/tags/tag295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52.xml><?xml version="1.0" encoding="utf-8"?>
<p:tagLst xmlns:a="http://schemas.openxmlformats.org/drawingml/2006/main" xmlns:r="http://schemas.openxmlformats.org/officeDocument/2006/relationships" xmlns:p="http://schemas.openxmlformats.org/presentationml/2006/main">
  <p:tag name="THINKCELLSHAPEDONOTDELETE" val="toTg.Il9tdd5XLiWJhpNb0Q"/>
</p:tagLst>
</file>

<file path=ppt/tags/tag2953.xml><?xml version="1.0" encoding="utf-8"?>
<p:tagLst xmlns:a="http://schemas.openxmlformats.org/drawingml/2006/main" xmlns:r="http://schemas.openxmlformats.org/officeDocument/2006/relationships" xmlns:p="http://schemas.openxmlformats.org/presentationml/2006/main">
  <p:tag name="HEADER" val="True"/>
</p:tagLst>
</file>

<file path=ppt/tags/tag2954.xml><?xml version="1.0" encoding="utf-8"?>
<p:tagLst xmlns:a="http://schemas.openxmlformats.org/drawingml/2006/main" xmlns:r="http://schemas.openxmlformats.org/officeDocument/2006/relationships" xmlns:p="http://schemas.openxmlformats.org/presentationml/2006/main">
  <p:tag name="THINKCELLSHAPEDONOTDELETE" val="tArwnOGYeQasSmvH5VvbIGw"/>
</p:tagLst>
</file>

<file path=ppt/tags/tag2955.xml><?xml version="1.0" encoding="utf-8"?>
<p:tagLst xmlns:a="http://schemas.openxmlformats.org/drawingml/2006/main" xmlns:r="http://schemas.openxmlformats.org/officeDocument/2006/relationships" xmlns:p="http://schemas.openxmlformats.org/presentationml/2006/main">
  <p:tag name="THINKCELLSHAPEDONOTDELETE" val="tRaA_4m4kbm3J8sNl_pFJgA"/>
</p:tagLst>
</file>

<file path=ppt/tags/tag2956.xml><?xml version="1.0" encoding="utf-8"?>
<p:tagLst xmlns:a="http://schemas.openxmlformats.org/drawingml/2006/main" xmlns:r="http://schemas.openxmlformats.org/officeDocument/2006/relationships" xmlns:p="http://schemas.openxmlformats.org/presentationml/2006/main">
  <p:tag name="THINKCELLSHAPEDONOTDELETE" val="tdamZxM2tej.QFtI6MnmkGg"/>
</p:tagLst>
</file>

<file path=ppt/tags/tag2957.xml><?xml version="1.0" encoding="utf-8"?>
<p:tagLst xmlns:a="http://schemas.openxmlformats.org/drawingml/2006/main" xmlns:r="http://schemas.openxmlformats.org/officeDocument/2006/relationships" xmlns:p="http://schemas.openxmlformats.org/presentationml/2006/main">
  <p:tag name="THINKCELLSHAPEDONOTDELETE" val="tkAsCH80nk8PFUebxNjwzsA"/>
</p:tagLst>
</file>

<file path=ppt/tags/tag2958.xml><?xml version="1.0" encoding="utf-8"?>
<p:tagLst xmlns:a="http://schemas.openxmlformats.org/drawingml/2006/main" xmlns:r="http://schemas.openxmlformats.org/officeDocument/2006/relationships" xmlns:p="http://schemas.openxmlformats.org/presentationml/2006/main">
  <p:tag name="THINKCELLSHAPEDONOTDELETE" val="trHfZ8E4IwWcAtp38HNYheQ"/>
</p:tagLst>
</file>

<file path=ppt/tags/tag2959.xml><?xml version="1.0" encoding="utf-8"?>
<p:tagLst xmlns:a="http://schemas.openxmlformats.org/drawingml/2006/main" xmlns:r="http://schemas.openxmlformats.org/officeDocument/2006/relationships" xmlns:p="http://schemas.openxmlformats.org/presentationml/2006/main">
  <p:tag name="THINKCELLSHAPEDONOTDELETE" val="t5nloePDNvbm.w6ldamnSng"/>
</p:tagLst>
</file>

<file path=ppt/tags/tag2960.xml><?xml version="1.0" encoding="utf-8"?>
<p:tagLst xmlns:a="http://schemas.openxmlformats.org/drawingml/2006/main" xmlns:r="http://schemas.openxmlformats.org/officeDocument/2006/relationships" xmlns:p="http://schemas.openxmlformats.org/presentationml/2006/main">
  <p:tag name="THINKCELLSHAPEDONOTDELETE" val="te_48cIA7pegEfKf3cQsL9w"/>
</p:tagLst>
</file>

<file path=ppt/tags/tag2961.xml><?xml version="1.0" encoding="utf-8"?>
<p:tagLst xmlns:a="http://schemas.openxmlformats.org/drawingml/2006/main" xmlns:r="http://schemas.openxmlformats.org/officeDocument/2006/relationships" xmlns:p="http://schemas.openxmlformats.org/presentationml/2006/main">
  <p:tag name="THINKCELLSHAPEDONOTDELETE" val="t8mi4BVysL6IN3Hq5wuG2SQ"/>
</p:tagLst>
</file>

<file path=ppt/tags/tag2962.xml><?xml version="1.0" encoding="utf-8"?>
<p:tagLst xmlns:a="http://schemas.openxmlformats.org/drawingml/2006/main" xmlns:r="http://schemas.openxmlformats.org/officeDocument/2006/relationships" xmlns:p="http://schemas.openxmlformats.org/presentationml/2006/main">
  <p:tag name="THINKCELLSHAPEDONOTDELETE" val="tZ77DO4o.XO5N5gvpB.djTw"/>
</p:tagLst>
</file>

<file path=ppt/tags/tag2963.xml><?xml version="1.0" encoding="utf-8"?>
<p:tagLst xmlns:a="http://schemas.openxmlformats.org/drawingml/2006/main" xmlns:r="http://schemas.openxmlformats.org/officeDocument/2006/relationships" xmlns:p="http://schemas.openxmlformats.org/presentationml/2006/main">
  <p:tag name="THINKCELLSHAPEDONOTDELETE" val="tn_TzWYJGJHgUgzwysEMwZg"/>
</p:tagLst>
</file>

<file path=ppt/tags/tag2964.xml><?xml version="1.0" encoding="utf-8"?>
<p:tagLst xmlns:a="http://schemas.openxmlformats.org/drawingml/2006/main" xmlns:r="http://schemas.openxmlformats.org/officeDocument/2006/relationships" xmlns:p="http://schemas.openxmlformats.org/presentationml/2006/main">
  <p:tag name="THINKCELLSHAPEDONOTDELETE" val="t6wcQU6rkRnQ5I_0UrpJKIA"/>
</p:tagLst>
</file>

<file path=ppt/tags/tag2965.xml><?xml version="1.0" encoding="utf-8"?>
<p:tagLst xmlns:a="http://schemas.openxmlformats.org/drawingml/2006/main" xmlns:r="http://schemas.openxmlformats.org/officeDocument/2006/relationships" xmlns:p="http://schemas.openxmlformats.org/presentationml/2006/main">
  <p:tag name="THINKCELLSHAPEDONOTDELETE" val="tdOeOrz99Om4WrgcF8lH6Bw"/>
</p:tagLst>
</file>

<file path=ppt/tags/tag2966.xml><?xml version="1.0" encoding="utf-8"?>
<p:tagLst xmlns:a="http://schemas.openxmlformats.org/drawingml/2006/main" xmlns:r="http://schemas.openxmlformats.org/officeDocument/2006/relationships" xmlns:p="http://schemas.openxmlformats.org/presentationml/2006/main">
  <p:tag name="THINKCELLSHAPEDONOTDELETE" val="ttqivLZUhP0QE7xE1cdAC8w"/>
</p:tagLst>
</file>

<file path=ppt/tags/tag2967.xml><?xml version="1.0" encoding="utf-8"?>
<p:tagLst xmlns:a="http://schemas.openxmlformats.org/drawingml/2006/main" xmlns:r="http://schemas.openxmlformats.org/officeDocument/2006/relationships" xmlns:p="http://schemas.openxmlformats.org/presentationml/2006/main">
  <p:tag name="THINKCELLSHAPEDONOTDELETE" val="t30DJkDVExVSQxpSnCkBfeg"/>
</p:tagLst>
</file>

<file path=ppt/tags/tag2968.xml><?xml version="1.0" encoding="utf-8"?>
<p:tagLst xmlns:a="http://schemas.openxmlformats.org/drawingml/2006/main" xmlns:r="http://schemas.openxmlformats.org/officeDocument/2006/relationships" xmlns:p="http://schemas.openxmlformats.org/presentationml/2006/main">
  <p:tag name="THINKCELLSHAPEDONOTDELETE" val="tNZBINAbJNuLfgjBK528C2g"/>
</p:tagLst>
</file>

<file path=ppt/tags/tag2969.xml><?xml version="1.0" encoding="utf-8"?>
<p:tagLst xmlns:a="http://schemas.openxmlformats.org/drawingml/2006/main" xmlns:r="http://schemas.openxmlformats.org/officeDocument/2006/relationships" xmlns:p="http://schemas.openxmlformats.org/presentationml/2006/main">
  <p:tag name="HEADER" val="True"/>
</p:tagLst>
</file>

<file path=ppt/tags/tag2970.xml><?xml version="1.0" encoding="utf-8"?>
<p:tagLst xmlns:a="http://schemas.openxmlformats.org/drawingml/2006/main" xmlns:r="http://schemas.openxmlformats.org/officeDocument/2006/relationships" xmlns:p="http://schemas.openxmlformats.org/presentationml/2006/main">
  <p:tag name="THINKCELLSHAPEDONOTDELETE" val="tv2nqDKixqq16GIQxJZFDEg"/>
</p:tagLst>
</file>

<file path=ppt/tags/tag2971.xml><?xml version="1.0" encoding="utf-8"?>
<p:tagLst xmlns:a="http://schemas.openxmlformats.org/drawingml/2006/main" xmlns:r="http://schemas.openxmlformats.org/officeDocument/2006/relationships" xmlns:p="http://schemas.openxmlformats.org/presentationml/2006/main">
  <p:tag name="THINKCELLSHAPEDONOTDELETE" val="tc9BBY4317K4qlPAyH8DFfA"/>
</p:tagLst>
</file>

<file path=ppt/tags/tag2972.xml><?xml version="1.0" encoding="utf-8"?>
<p:tagLst xmlns:a="http://schemas.openxmlformats.org/drawingml/2006/main" xmlns:r="http://schemas.openxmlformats.org/officeDocument/2006/relationships" xmlns:p="http://schemas.openxmlformats.org/presentationml/2006/main">
  <p:tag name="THINKCELLSHAPEDONOTDELETE" val="tkDT9FjK2wzYv4kcQQ9MBkg"/>
</p:tagLst>
</file>

<file path=ppt/tags/tag2973.xml><?xml version="1.0" encoding="utf-8"?>
<p:tagLst xmlns:a="http://schemas.openxmlformats.org/drawingml/2006/main" xmlns:r="http://schemas.openxmlformats.org/officeDocument/2006/relationships" xmlns:p="http://schemas.openxmlformats.org/presentationml/2006/main">
  <p:tag name="THINKCELLSHAPEDONOTDELETE" val="tSqp56bs.WhjEkhmDVEOEgg"/>
</p:tagLst>
</file>

<file path=ppt/tags/tag2974.xml><?xml version="1.0" encoding="utf-8"?>
<p:tagLst xmlns:a="http://schemas.openxmlformats.org/drawingml/2006/main" xmlns:r="http://schemas.openxmlformats.org/officeDocument/2006/relationships" xmlns:p="http://schemas.openxmlformats.org/presentationml/2006/main">
  <p:tag name="THINKCELLSHAPEDONOTDELETE" val="t_b4U5syxsjobB3zbrwII0g"/>
</p:tagLst>
</file>

<file path=ppt/tags/tag17590.xml><?xml version="1.0" encoding="utf-8"?>
<p:tagLst xmlns:a="http://schemas.openxmlformats.org/drawingml/2006/main" xmlns:r="http://schemas.openxmlformats.org/officeDocument/2006/relationships" xmlns:p="http://schemas.openxmlformats.org/presentationml/2006/main">
  <p:tag name="HEADER" val="True"/>
</p:tagLst>
</file>

<file path=ppt/theme/theme1.xml><?xml version="1.0" encoding="utf-8"?>
<a:theme xmlns:a="http://schemas.openxmlformats.org/drawingml/2006/main" name="Deloitte_TS_RoW">
  <a:themeElements>
    <a:clrScheme name="Deloitte colors">
      <a:dk1>
        <a:sysClr val="windowText" lastClr="000000"/>
      </a:dk1>
      <a:lt1>
        <a:sysClr val="window" lastClr="FFFFFF"/>
      </a:lt1>
      <a:dk2>
        <a:srgbClr val="53565A"/>
      </a:dk2>
      <a:lt2>
        <a:srgbClr val="D0D0CE"/>
      </a:lt2>
      <a:accent1>
        <a:srgbClr val="86BC25"/>
      </a:accent1>
      <a:accent2>
        <a:srgbClr val="046A38"/>
      </a:accent2>
      <a:accent3>
        <a:srgbClr val="62B5E5"/>
      </a:accent3>
      <a:accent4>
        <a:srgbClr val="012169"/>
      </a:accent4>
      <a:accent5>
        <a:srgbClr val="0097A9"/>
      </a:accent5>
      <a:accent6>
        <a:srgbClr val="75787B"/>
      </a:accent6>
      <a:hlink>
        <a:srgbClr val="00A3E0"/>
      </a:hlink>
      <a:folHlink>
        <a:srgbClr val="53565A"/>
      </a:folHlink>
    </a:clrScheme>
    <a:fontScheme name="Deloitte Powerpoint font">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gray">
        <a:solidFill>
          <a:schemeClr val="accent3"/>
        </a:solidFill>
        <a:ln w="19050" algn="ctr">
          <a:noFill/>
          <a:miter lim="800000"/>
          <a:headEnd/>
          <a:tailEnd/>
        </a:ln>
      </a:spPr>
      <a:bodyPr wrap="square" lIns="88900" tIns="88900" rIns="88900" bIns="88900" rtlCol="0" anchor="ctr"/>
      <a:lstStyle>
        <a:defPPr>
          <a:lnSpc>
            <a:spcPct val="106000"/>
          </a:lnSpc>
          <a:buFont typeface="Wingdings 2" pitchFamily="18" charset="2"/>
          <a:buNone/>
          <a:defRPr sz="1600" b="1" dirty="0" smtClean="0">
            <a:solidFill>
              <a:schemeClr val="bg1"/>
            </a:solidFill>
          </a:defRPr>
        </a:defPPr>
      </a:lstStyle>
    </a:spDef>
    <a:lnDef>
      <a:spPr>
        <a:ln>
          <a:solidFill>
            <a:schemeClr val="tx2"/>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marL="203200" indent="-203200">
          <a:spcBef>
            <a:spcPts val="600"/>
          </a:spcBef>
          <a:buSzPct val="100000"/>
          <a:buFont typeface="Arial"/>
          <a:buChar char="•"/>
          <a:defRPr dirty="0" smtClean="0">
            <a:solidFill>
              <a:srgbClr val="313131"/>
            </a:solidFill>
          </a:defRPr>
        </a:defPPr>
      </a:lstStyle>
    </a:txDef>
  </a:objectDefaults>
  <a:extraClrSchemeLst/>
  <a:custClrLst>
    <a:custClr name="Green 7">
      <a:srgbClr val="2C5234"/>
    </a:custClr>
    <a:custClr name="Green 6">
      <a:srgbClr val="046A38"/>
    </a:custClr>
    <a:custClr name="Green 5">
      <a:srgbClr val="009A44"/>
    </a:custClr>
    <a:custClr name="Green 4">
      <a:srgbClr val="43B02A"/>
    </a:custClr>
    <a:custClr name="Deloitte Green">
      <a:srgbClr val="86BC25"/>
    </a:custClr>
    <a:custClr name="Green 2">
      <a:srgbClr val="C4D600"/>
    </a:custClr>
    <a:custClr name="Green 1">
      <a:srgbClr val="E3E48D"/>
    </a:custClr>
    <a:custClr name="Teal 7">
      <a:srgbClr val="004F59"/>
    </a:custClr>
    <a:custClr name="Teal 6">
      <a:srgbClr val="007680"/>
    </a:custClr>
    <a:custClr name="Teal 5">
      <a:srgbClr val="0097A9"/>
    </a:custClr>
    <a:custClr name="Teal 4">
      <a:srgbClr val="00ABAB"/>
    </a:custClr>
    <a:custClr name="Teal 3">
      <a:srgbClr val="6FC2B4"/>
    </a:custClr>
    <a:custClr name="Teal 2">
      <a:srgbClr val="9DD4CF"/>
    </a:custClr>
    <a:custClr name="Teal 1">
      <a:srgbClr val="DDEFE8"/>
    </a:custClr>
    <a:custClr name="Blue 7">
      <a:srgbClr val="041E42"/>
    </a:custClr>
    <a:custClr name="Blue 6">
      <a:srgbClr val="012169"/>
    </a:custClr>
    <a:custClr name="Blue 5">
      <a:srgbClr val="005587"/>
    </a:custClr>
    <a:custClr name="Blue 4">
      <a:srgbClr val="0076A8"/>
    </a:custClr>
    <a:custClr name="Blue 3">
      <a:srgbClr val="00A3E0"/>
    </a:custClr>
    <a:custClr name="Blue 2">
      <a:srgbClr val="62B5E5"/>
    </a:custClr>
    <a:custClr name="Blue 1">
      <a:srgbClr val="A0DCFF"/>
    </a:custClr>
    <a:custClr name="Cool Gray 11">
      <a:srgbClr val="53565A"/>
    </a:custClr>
    <a:custClr name="Cool Gray 10">
      <a:srgbClr val="63666A"/>
    </a:custClr>
    <a:custClr name="Cool Gray 9">
      <a:srgbClr val="75787B"/>
    </a:custClr>
    <a:custClr name="Cool Gray 7">
      <a:srgbClr val="97999B"/>
    </a:custClr>
    <a:custClr name="Cool Gray 6">
      <a:srgbClr val="A7A8AA"/>
    </a:custClr>
    <a:custClr name="Cool Gray 4">
      <a:srgbClr val="BBBCBC"/>
    </a:custClr>
    <a:custClr name="Cool Gray 2">
      <a:srgbClr val="D0D0CE"/>
    </a:custClr>
    <a:custClr name="White">
      <a:srgbClr val="FFFFFF"/>
    </a:custClr>
    <a:custClr name="Black">
      <a:srgbClr val="000000"/>
    </a:custClr>
    <a:custClr name="Red">
      <a:srgbClr val="DA291C"/>
    </a:custClr>
    <a:custClr name="Orange">
      <a:srgbClr val="ED8B00"/>
    </a:custClr>
    <a:custClr name="Yellow">
      <a:srgbClr val="FFCD00"/>
    </a:custClr>
  </a:custClrLst>
  <a:extLst>
    <a:ext uri="{05A4C25C-085E-4340-85A3-A5531E510DB2}">
      <thm15:themeFamily xmlns:thm15="http://schemas.microsoft.com/office/thememl/2012/main" name="TS Report Template.potx" id="{189205F8-7F81-4709-8170-4873A1035CE4}" vid="{C2E031F5-18DB-40C4-A67E-8A11AECAB753}"/>
    </a:ext>
  </a:extLst>
</a:theme>
</file>

<file path=ppt/theme/theme2.xml><?xml version="1.0" encoding="utf-8"?>
<a:theme xmlns:a="http://schemas.openxmlformats.org/drawingml/2006/main" name="1_Deloitte_TS_RoW">
  <a:themeElements>
    <a:clrScheme name="Deloitte colors">
      <a:dk1>
        <a:sysClr val="windowText" lastClr="000000"/>
      </a:dk1>
      <a:lt1>
        <a:sysClr val="window" lastClr="FFFFFF"/>
      </a:lt1>
      <a:dk2>
        <a:srgbClr val="53565A"/>
      </a:dk2>
      <a:lt2>
        <a:srgbClr val="D0D0CE"/>
      </a:lt2>
      <a:accent1>
        <a:srgbClr val="86BC25"/>
      </a:accent1>
      <a:accent2>
        <a:srgbClr val="046A38"/>
      </a:accent2>
      <a:accent3>
        <a:srgbClr val="62B5E5"/>
      </a:accent3>
      <a:accent4>
        <a:srgbClr val="012169"/>
      </a:accent4>
      <a:accent5>
        <a:srgbClr val="0097A9"/>
      </a:accent5>
      <a:accent6>
        <a:srgbClr val="75787B"/>
      </a:accent6>
      <a:hlink>
        <a:srgbClr val="00A3E0"/>
      </a:hlink>
      <a:folHlink>
        <a:srgbClr val="53565A"/>
      </a:folHlink>
    </a:clrScheme>
    <a:fontScheme name="Deloitte Powerpoint font">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gray">
        <a:solidFill>
          <a:schemeClr val="accent3"/>
        </a:solidFill>
        <a:ln w="19050" algn="ctr">
          <a:noFill/>
          <a:miter lim="800000"/>
          <a:headEnd/>
          <a:tailEnd/>
        </a:ln>
      </a:spPr>
      <a:bodyPr wrap="square" lIns="88900" tIns="88900" rIns="88900" bIns="88900" rtlCol="0" anchor="ctr"/>
      <a:lstStyle>
        <a:defPPr>
          <a:lnSpc>
            <a:spcPct val="106000"/>
          </a:lnSpc>
          <a:buFont typeface="Wingdings 2" pitchFamily="18" charset="2"/>
          <a:buNone/>
          <a:defRPr sz="1600" b="1" dirty="0" smtClean="0">
            <a:solidFill>
              <a:schemeClr val="bg1"/>
            </a:solidFill>
          </a:defRPr>
        </a:defPPr>
      </a:lstStyle>
    </a:spDef>
    <a:lnDef>
      <a:spPr>
        <a:ln>
          <a:solidFill>
            <a:schemeClr val="tx2"/>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marL="203200" indent="-203200">
          <a:spcBef>
            <a:spcPts val="600"/>
          </a:spcBef>
          <a:buSzPct val="100000"/>
          <a:buFont typeface="Arial"/>
          <a:buChar char="•"/>
          <a:defRPr dirty="0" smtClean="0">
            <a:solidFill>
              <a:srgbClr val="313131"/>
            </a:solidFill>
          </a:defRPr>
        </a:defPPr>
      </a:lstStyle>
    </a:txDef>
  </a:objectDefaults>
  <a:extraClrSchemeLst/>
  <a:custClrLst>
    <a:custClr name="Green 7">
      <a:srgbClr val="2C5234"/>
    </a:custClr>
    <a:custClr name="Green 6">
      <a:srgbClr val="046A38"/>
    </a:custClr>
    <a:custClr name="Green 5">
      <a:srgbClr val="009A44"/>
    </a:custClr>
    <a:custClr name="Green 4">
      <a:srgbClr val="43B02A"/>
    </a:custClr>
    <a:custClr name="Deloitte Green">
      <a:srgbClr val="86BC25"/>
    </a:custClr>
    <a:custClr name="Green 2">
      <a:srgbClr val="C4D600"/>
    </a:custClr>
    <a:custClr name="Green 1">
      <a:srgbClr val="E3E48D"/>
    </a:custClr>
    <a:custClr name="Teal 7">
      <a:srgbClr val="004F59"/>
    </a:custClr>
    <a:custClr name="Teal 6">
      <a:srgbClr val="007680"/>
    </a:custClr>
    <a:custClr name="Teal 5">
      <a:srgbClr val="0097A9"/>
    </a:custClr>
    <a:custClr name="Teal 4">
      <a:srgbClr val="00ABAB"/>
    </a:custClr>
    <a:custClr name="Teal 3">
      <a:srgbClr val="6FC2B4"/>
    </a:custClr>
    <a:custClr name="Teal 2">
      <a:srgbClr val="9DD4CF"/>
    </a:custClr>
    <a:custClr name="Teal 1">
      <a:srgbClr val="DDEFE8"/>
    </a:custClr>
    <a:custClr name="Blue 7">
      <a:srgbClr val="041E42"/>
    </a:custClr>
    <a:custClr name="Blue 6">
      <a:srgbClr val="012169"/>
    </a:custClr>
    <a:custClr name="Blue 5">
      <a:srgbClr val="005587"/>
    </a:custClr>
    <a:custClr name="Blue 4">
      <a:srgbClr val="0076A8"/>
    </a:custClr>
    <a:custClr name="Blue 3">
      <a:srgbClr val="00A3E0"/>
    </a:custClr>
    <a:custClr name="Blue 2">
      <a:srgbClr val="62B5E5"/>
    </a:custClr>
    <a:custClr name="Blue 1">
      <a:srgbClr val="A0DCFF"/>
    </a:custClr>
    <a:custClr name="Cool Gray 11">
      <a:srgbClr val="53565A"/>
    </a:custClr>
    <a:custClr name="Cool Gray 10">
      <a:srgbClr val="63666A"/>
    </a:custClr>
    <a:custClr name="Cool Gray 9">
      <a:srgbClr val="75787B"/>
    </a:custClr>
    <a:custClr name="Cool Gray 7">
      <a:srgbClr val="97999B"/>
    </a:custClr>
    <a:custClr name="Cool Gray 6">
      <a:srgbClr val="A7A8AA"/>
    </a:custClr>
    <a:custClr name="Cool Gray 4">
      <a:srgbClr val="BBBCBC"/>
    </a:custClr>
    <a:custClr name="Cool Gray 2">
      <a:srgbClr val="D0D0CE"/>
    </a:custClr>
    <a:custClr name="White">
      <a:srgbClr val="FFFFFF"/>
    </a:custClr>
    <a:custClr name="Black">
      <a:srgbClr val="000000"/>
    </a:custClr>
    <a:custClr name="Red">
      <a:srgbClr val="DA291C"/>
    </a:custClr>
    <a:custClr name="Orange">
      <a:srgbClr val="ED8B00"/>
    </a:custClr>
    <a:custClr name="Yellow">
      <a:srgbClr val="FFCD00"/>
    </a:custClr>
  </a:custClrLst>
  <a:extLst>
    <a:ext uri="{05A4C25C-085E-4340-85A3-A5531E510DB2}">
      <thm15:themeFamily xmlns:thm15="http://schemas.microsoft.com/office/thememl/2012/main" name="TS Report Template.potx" id="{189205F8-7F81-4709-8170-4873A1035CE4}" vid="{C2E031F5-18DB-40C4-A67E-8A11AECAB753}"/>
    </a:ext>
  </a:extLst>
</a:theme>
</file>

<file path=ppt/theme/theme3.xml><?xml version="1.0" encoding="utf-8"?>
<a:theme xmlns:a="http://schemas.openxmlformats.org/drawingml/2006/main" name="2_Deloitte_TS_RoW">
  <a:themeElements>
    <a:clrScheme name="Deloitte colors">
      <a:dk1>
        <a:sysClr val="windowText" lastClr="000000"/>
      </a:dk1>
      <a:lt1>
        <a:sysClr val="window" lastClr="FFFFFF"/>
      </a:lt1>
      <a:dk2>
        <a:srgbClr val="53565A"/>
      </a:dk2>
      <a:lt2>
        <a:srgbClr val="D0D0CE"/>
      </a:lt2>
      <a:accent1>
        <a:srgbClr val="86BC25"/>
      </a:accent1>
      <a:accent2>
        <a:srgbClr val="046A38"/>
      </a:accent2>
      <a:accent3>
        <a:srgbClr val="62B5E5"/>
      </a:accent3>
      <a:accent4>
        <a:srgbClr val="012169"/>
      </a:accent4>
      <a:accent5>
        <a:srgbClr val="0097A9"/>
      </a:accent5>
      <a:accent6>
        <a:srgbClr val="75787B"/>
      </a:accent6>
      <a:hlink>
        <a:srgbClr val="00A3E0"/>
      </a:hlink>
      <a:folHlink>
        <a:srgbClr val="53565A"/>
      </a:folHlink>
    </a:clrScheme>
    <a:fontScheme name="Deloitte Powerpoint font">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gray">
        <a:solidFill>
          <a:schemeClr val="accent3"/>
        </a:solidFill>
        <a:ln w="19050" algn="ctr">
          <a:noFill/>
          <a:miter lim="800000"/>
          <a:headEnd/>
          <a:tailEnd/>
        </a:ln>
      </a:spPr>
      <a:bodyPr wrap="square" lIns="88900" tIns="88900" rIns="88900" bIns="88900" rtlCol="0" anchor="ctr"/>
      <a:lstStyle>
        <a:defPPr>
          <a:lnSpc>
            <a:spcPct val="106000"/>
          </a:lnSpc>
          <a:buFont typeface="Wingdings 2" pitchFamily="18" charset="2"/>
          <a:buNone/>
          <a:defRPr sz="1600" b="1" dirty="0" smtClean="0">
            <a:solidFill>
              <a:schemeClr val="bg1"/>
            </a:solidFill>
          </a:defRPr>
        </a:defPPr>
      </a:lstStyle>
    </a:spDef>
    <a:lnDef>
      <a:spPr>
        <a:ln>
          <a:solidFill>
            <a:schemeClr val="tx2"/>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marL="203200" indent="-203200">
          <a:spcBef>
            <a:spcPts val="600"/>
          </a:spcBef>
          <a:buSzPct val="100000"/>
          <a:buFont typeface="Arial"/>
          <a:buChar char="•"/>
          <a:defRPr dirty="0" smtClean="0">
            <a:solidFill>
              <a:srgbClr val="313131"/>
            </a:solidFill>
          </a:defRPr>
        </a:defPPr>
      </a:lstStyle>
    </a:txDef>
  </a:objectDefaults>
  <a:extraClrSchemeLst/>
  <a:custClrLst>
    <a:custClr name="Green 7">
      <a:srgbClr val="2C5234"/>
    </a:custClr>
    <a:custClr name="Green 6">
      <a:srgbClr val="046A38"/>
    </a:custClr>
    <a:custClr name="Green 5">
      <a:srgbClr val="009A44"/>
    </a:custClr>
    <a:custClr name="Green 4">
      <a:srgbClr val="43B02A"/>
    </a:custClr>
    <a:custClr name="Deloitte Green">
      <a:srgbClr val="86BC25"/>
    </a:custClr>
    <a:custClr name="Green 2">
      <a:srgbClr val="C4D600"/>
    </a:custClr>
    <a:custClr name="Green 1">
      <a:srgbClr val="E3E48D"/>
    </a:custClr>
    <a:custClr name="Teal 7">
      <a:srgbClr val="004F59"/>
    </a:custClr>
    <a:custClr name="Teal 6">
      <a:srgbClr val="007680"/>
    </a:custClr>
    <a:custClr name="Teal 5">
      <a:srgbClr val="0097A9"/>
    </a:custClr>
    <a:custClr name="Teal 4">
      <a:srgbClr val="00ABAB"/>
    </a:custClr>
    <a:custClr name="Teal 3">
      <a:srgbClr val="6FC2B4"/>
    </a:custClr>
    <a:custClr name="Teal 2">
      <a:srgbClr val="9DD4CF"/>
    </a:custClr>
    <a:custClr name="Teal 1">
      <a:srgbClr val="DDEFE8"/>
    </a:custClr>
    <a:custClr name="Blue 7">
      <a:srgbClr val="041E42"/>
    </a:custClr>
    <a:custClr name="Blue 6">
      <a:srgbClr val="012169"/>
    </a:custClr>
    <a:custClr name="Blue 5">
      <a:srgbClr val="005587"/>
    </a:custClr>
    <a:custClr name="Blue 4">
      <a:srgbClr val="0076A8"/>
    </a:custClr>
    <a:custClr name="Blue 3">
      <a:srgbClr val="00A3E0"/>
    </a:custClr>
    <a:custClr name="Blue 2">
      <a:srgbClr val="62B5E5"/>
    </a:custClr>
    <a:custClr name="Blue 1">
      <a:srgbClr val="A0DCFF"/>
    </a:custClr>
    <a:custClr name="Cool Gray 11">
      <a:srgbClr val="53565A"/>
    </a:custClr>
    <a:custClr name="Cool Gray 10">
      <a:srgbClr val="63666A"/>
    </a:custClr>
    <a:custClr name="Cool Gray 9">
      <a:srgbClr val="75787B"/>
    </a:custClr>
    <a:custClr name="Cool Gray 7">
      <a:srgbClr val="97999B"/>
    </a:custClr>
    <a:custClr name="Cool Gray 6">
      <a:srgbClr val="A7A8AA"/>
    </a:custClr>
    <a:custClr name="Cool Gray 4">
      <a:srgbClr val="BBBCBC"/>
    </a:custClr>
    <a:custClr name="Cool Gray 2">
      <a:srgbClr val="D0D0CE"/>
    </a:custClr>
    <a:custClr name="White">
      <a:srgbClr val="FFFFFF"/>
    </a:custClr>
    <a:custClr name="Black">
      <a:srgbClr val="000000"/>
    </a:custClr>
    <a:custClr name="Red">
      <a:srgbClr val="DA291C"/>
    </a:custClr>
    <a:custClr name="Orange">
      <a:srgbClr val="ED8B00"/>
    </a:custClr>
    <a:custClr name="Yellow">
      <a:srgbClr val="FFCD00"/>
    </a:custClr>
  </a:custClrLst>
  <a:extLst>
    <a:ext uri="{05A4C25C-085E-4340-85A3-A5531E510DB2}">
      <thm15:themeFamily xmlns:thm15="http://schemas.microsoft.com/office/thememl/2012/main" name="TS Report Template.potx" id="{189205F8-7F81-4709-8170-4873A1035CE4}" vid="{C2E031F5-18DB-40C4-A67E-8A11AECAB753}"/>
    </a:ext>
  </a:extLst>
</a:theme>
</file>

<file path=ppt/theme/theme4.xml><?xml version="1.0" encoding="utf-8"?>
<a:theme xmlns:a="http://schemas.openxmlformats.org/drawingml/2006/main" name="3_Deloitte_TS_RoW">
  <a:themeElements>
    <a:clrScheme name="Deloitte colors">
      <a:dk1>
        <a:sysClr val="windowText" lastClr="000000"/>
      </a:dk1>
      <a:lt1>
        <a:sysClr val="window" lastClr="FFFFFF"/>
      </a:lt1>
      <a:dk2>
        <a:srgbClr val="53565A"/>
      </a:dk2>
      <a:lt2>
        <a:srgbClr val="D0D0CE"/>
      </a:lt2>
      <a:accent1>
        <a:srgbClr val="86BC25"/>
      </a:accent1>
      <a:accent2>
        <a:srgbClr val="046A38"/>
      </a:accent2>
      <a:accent3>
        <a:srgbClr val="62B5E5"/>
      </a:accent3>
      <a:accent4>
        <a:srgbClr val="012169"/>
      </a:accent4>
      <a:accent5>
        <a:srgbClr val="0097A9"/>
      </a:accent5>
      <a:accent6>
        <a:srgbClr val="75787B"/>
      </a:accent6>
      <a:hlink>
        <a:srgbClr val="00A3E0"/>
      </a:hlink>
      <a:folHlink>
        <a:srgbClr val="53565A"/>
      </a:folHlink>
    </a:clrScheme>
    <a:fontScheme name="Deloitte Powerpoint font">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gray">
        <a:solidFill>
          <a:schemeClr val="accent3"/>
        </a:solidFill>
        <a:ln w="19050" algn="ctr">
          <a:noFill/>
          <a:miter lim="800000"/>
          <a:headEnd/>
          <a:tailEnd/>
        </a:ln>
      </a:spPr>
      <a:bodyPr wrap="square" lIns="88900" tIns="88900" rIns="88900" bIns="88900" rtlCol="0" anchor="ctr"/>
      <a:lstStyle>
        <a:defPPr>
          <a:lnSpc>
            <a:spcPct val="106000"/>
          </a:lnSpc>
          <a:buFont typeface="Wingdings 2" pitchFamily="18" charset="2"/>
          <a:buNone/>
          <a:defRPr sz="1600" b="1" dirty="0" smtClean="0">
            <a:solidFill>
              <a:schemeClr val="bg1"/>
            </a:solidFill>
          </a:defRPr>
        </a:defPPr>
      </a:lstStyle>
    </a:spDef>
    <a:lnDef>
      <a:spPr>
        <a:ln>
          <a:solidFill>
            <a:schemeClr val="tx2"/>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marL="203200" indent="-203200">
          <a:spcBef>
            <a:spcPts val="600"/>
          </a:spcBef>
          <a:buSzPct val="100000"/>
          <a:buFont typeface="Arial"/>
          <a:buChar char="•"/>
          <a:defRPr dirty="0" smtClean="0">
            <a:solidFill>
              <a:srgbClr val="313131"/>
            </a:solidFill>
          </a:defRPr>
        </a:defPPr>
      </a:lstStyle>
    </a:txDef>
  </a:objectDefaults>
  <a:extraClrSchemeLst/>
  <a:custClrLst>
    <a:custClr name="Green 7">
      <a:srgbClr val="2C5234"/>
    </a:custClr>
    <a:custClr name="Green 6">
      <a:srgbClr val="046A38"/>
    </a:custClr>
    <a:custClr name="Green 5">
      <a:srgbClr val="009A44"/>
    </a:custClr>
    <a:custClr name="Green 4">
      <a:srgbClr val="43B02A"/>
    </a:custClr>
    <a:custClr name="Deloitte Green">
      <a:srgbClr val="86BC25"/>
    </a:custClr>
    <a:custClr name="Green 2">
      <a:srgbClr val="C4D600"/>
    </a:custClr>
    <a:custClr name="Green 1">
      <a:srgbClr val="E3E48D"/>
    </a:custClr>
    <a:custClr name="Teal 7">
      <a:srgbClr val="004F59"/>
    </a:custClr>
    <a:custClr name="Teal 6">
      <a:srgbClr val="007680"/>
    </a:custClr>
    <a:custClr name="Teal 5">
      <a:srgbClr val="0097A9"/>
    </a:custClr>
    <a:custClr name="Teal 4">
      <a:srgbClr val="00ABAB"/>
    </a:custClr>
    <a:custClr name="Teal 3">
      <a:srgbClr val="6FC2B4"/>
    </a:custClr>
    <a:custClr name="Teal 2">
      <a:srgbClr val="9DD4CF"/>
    </a:custClr>
    <a:custClr name="Teal 1">
      <a:srgbClr val="DDEFE8"/>
    </a:custClr>
    <a:custClr name="Blue 7">
      <a:srgbClr val="041E42"/>
    </a:custClr>
    <a:custClr name="Blue 6">
      <a:srgbClr val="012169"/>
    </a:custClr>
    <a:custClr name="Blue 5">
      <a:srgbClr val="005587"/>
    </a:custClr>
    <a:custClr name="Blue 4">
      <a:srgbClr val="0076A8"/>
    </a:custClr>
    <a:custClr name="Blue 3">
      <a:srgbClr val="00A3E0"/>
    </a:custClr>
    <a:custClr name="Blue 2">
      <a:srgbClr val="62B5E5"/>
    </a:custClr>
    <a:custClr name="Blue 1">
      <a:srgbClr val="A0DCFF"/>
    </a:custClr>
    <a:custClr name="Cool Gray 11">
      <a:srgbClr val="53565A"/>
    </a:custClr>
    <a:custClr name="Cool Gray 10">
      <a:srgbClr val="63666A"/>
    </a:custClr>
    <a:custClr name="Cool Gray 9">
      <a:srgbClr val="75787B"/>
    </a:custClr>
    <a:custClr name="Cool Gray 7">
      <a:srgbClr val="97999B"/>
    </a:custClr>
    <a:custClr name="Cool Gray 6">
      <a:srgbClr val="A7A8AA"/>
    </a:custClr>
    <a:custClr name="Cool Gray 4">
      <a:srgbClr val="BBBCBC"/>
    </a:custClr>
    <a:custClr name="Cool Gray 2">
      <a:srgbClr val="D0D0CE"/>
    </a:custClr>
    <a:custClr name="White">
      <a:srgbClr val="FFFFFF"/>
    </a:custClr>
    <a:custClr name="Black">
      <a:srgbClr val="000000"/>
    </a:custClr>
    <a:custClr name="Red">
      <a:srgbClr val="DA291C"/>
    </a:custClr>
    <a:custClr name="Orange">
      <a:srgbClr val="ED8B00"/>
    </a:custClr>
    <a:custClr name="Yellow">
      <a:srgbClr val="FFCD00"/>
    </a:custClr>
  </a:custClrLst>
  <a:extLst>
    <a:ext uri="{05A4C25C-085E-4340-85A3-A5531E510DB2}">
      <thm15:themeFamily xmlns:thm15="http://schemas.microsoft.com/office/thememl/2012/main" name="TS Report Template.potx" id="{189205F8-7F81-4709-8170-4873A1035CE4}" vid="{C2E031F5-18DB-40C4-A67E-8A11AECAB753}"/>
    </a:ext>
  </a:extLst>
</a:theme>
</file>

<file path=ppt/theme/theme5.xml><?xml version="1.0" encoding="utf-8"?>
<a:theme xmlns:a="http://schemas.openxmlformats.org/drawingml/2006/main" name="4_Deloitte_TS_RoW">
  <a:themeElements>
    <a:clrScheme name="Deloitte colors">
      <a:dk1>
        <a:sysClr val="windowText" lastClr="000000"/>
      </a:dk1>
      <a:lt1>
        <a:sysClr val="window" lastClr="FFFFFF"/>
      </a:lt1>
      <a:dk2>
        <a:srgbClr val="53565A"/>
      </a:dk2>
      <a:lt2>
        <a:srgbClr val="D0D0CE"/>
      </a:lt2>
      <a:accent1>
        <a:srgbClr val="86BC25"/>
      </a:accent1>
      <a:accent2>
        <a:srgbClr val="046A38"/>
      </a:accent2>
      <a:accent3>
        <a:srgbClr val="62B5E5"/>
      </a:accent3>
      <a:accent4>
        <a:srgbClr val="012169"/>
      </a:accent4>
      <a:accent5>
        <a:srgbClr val="0097A9"/>
      </a:accent5>
      <a:accent6>
        <a:srgbClr val="75787B"/>
      </a:accent6>
      <a:hlink>
        <a:srgbClr val="00A3E0"/>
      </a:hlink>
      <a:folHlink>
        <a:srgbClr val="53565A"/>
      </a:folHlink>
    </a:clrScheme>
    <a:fontScheme name="Deloitte Powerpoint font">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gray">
        <a:solidFill>
          <a:schemeClr val="accent3"/>
        </a:solidFill>
        <a:ln w="19050" algn="ctr">
          <a:noFill/>
          <a:miter lim="800000"/>
          <a:headEnd/>
          <a:tailEnd/>
        </a:ln>
      </a:spPr>
      <a:bodyPr wrap="square" lIns="88900" tIns="88900" rIns="88900" bIns="88900" rtlCol="0" anchor="ctr"/>
      <a:lstStyle>
        <a:defPPr>
          <a:lnSpc>
            <a:spcPct val="106000"/>
          </a:lnSpc>
          <a:buFont typeface="Wingdings 2" pitchFamily="18" charset="2"/>
          <a:buNone/>
          <a:defRPr sz="1600" b="1" dirty="0" smtClean="0">
            <a:solidFill>
              <a:schemeClr val="bg1"/>
            </a:solidFill>
          </a:defRPr>
        </a:defPPr>
      </a:lstStyle>
    </a:spDef>
    <a:lnDef>
      <a:spPr>
        <a:ln>
          <a:solidFill>
            <a:schemeClr val="tx2"/>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marL="203200" indent="-203200">
          <a:spcBef>
            <a:spcPts val="600"/>
          </a:spcBef>
          <a:buSzPct val="100000"/>
          <a:buFont typeface="Arial"/>
          <a:buChar char="•"/>
          <a:defRPr dirty="0" smtClean="0">
            <a:solidFill>
              <a:srgbClr val="313131"/>
            </a:solidFill>
          </a:defRPr>
        </a:defPPr>
      </a:lstStyle>
    </a:txDef>
  </a:objectDefaults>
  <a:extraClrSchemeLst/>
  <a:custClrLst>
    <a:custClr name="Green 7">
      <a:srgbClr val="2C5234"/>
    </a:custClr>
    <a:custClr name="Green 6">
      <a:srgbClr val="046A38"/>
    </a:custClr>
    <a:custClr name="Green 5">
      <a:srgbClr val="009A44"/>
    </a:custClr>
    <a:custClr name="Green 4">
      <a:srgbClr val="43B02A"/>
    </a:custClr>
    <a:custClr name="Deloitte Green">
      <a:srgbClr val="86BC25"/>
    </a:custClr>
    <a:custClr name="Green 2">
      <a:srgbClr val="C4D600"/>
    </a:custClr>
    <a:custClr name="Green 1">
      <a:srgbClr val="E3E48D"/>
    </a:custClr>
    <a:custClr name="Teal 7">
      <a:srgbClr val="004F59"/>
    </a:custClr>
    <a:custClr name="Teal 6">
      <a:srgbClr val="007680"/>
    </a:custClr>
    <a:custClr name="Teal 5">
      <a:srgbClr val="0097A9"/>
    </a:custClr>
    <a:custClr name="Teal 4">
      <a:srgbClr val="00ABAB"/>
    </a:custClr>
    <a:custClr name="Teal 3">
      <a:srgbClr val="6FC2B4"/>
    </a:custClr>
    <a:custClr name="Teal 2">
      <a:srgbClr val="9DD4CF"/>
    </a:custClr>
    <a:custClr name="Teal 1">
      <a:srgbClr val="DDEFE8"/>
    </a:custClr>
    <a:custClr name="Blue 7">
      <a:srgbClr val="041E42"/>
    </a:custClr>
    <a:custClr name="Blue 6">
      <a:srgbClr val="012169"/>
    </a:custClr>
    <a:custClr name="Blue 5">
      <a:srgbClr val="005587"/>
    </a:custClr>
    <a:custClr name="Blue 4">
      <a:srgbClr val="0076A8"/>
    </a:custClr>
    <a:custClr name="Blue 3">
      <a:srgbClr val="00A3E0"/>
    </a:custClr>
    <a:custClr name="Blue 2">
      <a:srgbClr val="62B5E5"/>
    </a:custClr>
    <a:custClr name="Blue 1">
      <a:srgbClr val="A0DCFF"/>
    </a:custClr>
    <a:custClr name="Cool Gray 11">
      <a:srgbClr val="53565A"/>
    </a:custClr>
    <a:custClr name="Cool Gray 10">
      <a:srgbClr val="63666A"/>
    </a:custClr>
    <a:custClr name="Cool Gray 9">
      <a:srgbClr val="75787B"/>
    </a:custClr>
    <a:custClr name="Cool Gray 7">
      <a:srgbClr val="97999B"/>
    </a:custClr>
    <a:custClr name="Cool Gray 6">
      <a:srgbClr val="A7A8AA"/>
    </a:custClr>
    <a:custClr name="Cool Gray 4">
      <a:srgbClr val="BBBCBC"/>
    </a:custClr>
    <a:custClr name="Cool Gray 2">
      <a:srgbClr val="D0D0CE"/>
    </a:custClr>
    <a:custClr name="White">
      <a:srgbClr val="FFFFFF"/>
    </a:custClr>
    <a:custClr name="Black">
      <a:srgbClr val="000000"/>
    </a:custClr>
    <a:custClr name="Red">
      <a:srgbClr val="DA291C"/>
    </a:custClr>
    <a:custClr name="Orange">
      <a:srgbClr val="ED8B00"/>
    </a:custClr>
    <a:custClr name="Yellow">
      <a:srgbClr val="FFCD00"/>
    </a:custClr>
  </a:custClrLst>
  <a:extLst>
    <a:ext uri="{05A4C25C-085E-4340-85A3-A5531E510DB2}">
      <thm15:themeFamily xmlns:thm15="http://schemas.microsoft.com/office/thememl/2012/main" name="TS Report Template.potx" id="{189205F8-7F81-4709-8170-4873A1035CE4}" vid="{C2E031F5-18DB-40C4-A67E-8A11AECAB753}"/>
    </a:ext>
  </a:extLst>
</a:theme>
</file>

<file path=ppt/theme/theme6.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46EABACCD3B39C49923CC76F9A3899B0" ma:contentTypeVersion="10" ma:contentTypeDescription="Create a new document." ma:contentTypeScope="" ma:versionID="888edbca11eac38050b29462c56b3d83">
  <xsd:schema xmlns:xsd="http://www.w3.org/2001/XMLSchema" xmlns:xs="http://www.w3.org/2001/XMLSchema" xmlns:p="http://schemas.microsoft.com/office/2006/metadata/properties" xmlns:ns2="88ac10d5-d499-482e-8b56-6ab71e10844d" xmlns:ns3="b34fac16-a9a4-4d97-96d6-3d67277b3bbb" targetNamespace="http://schemas.microsoft.com/office/2006/metadata/properties" ma:root="true" ma:fieldsID="b2578cae4076c3a00574eaa070b195d6" ns2:_="" ns3:_="">
    <xsd:import namespace="88ac10d5-d499-482e-8b56-6ab71e10844d"/>
    <xsd:import namespace="b34fac16-a9a4-4d97-96d6-3d67277b3bbb"/>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DateTaken" minOccurs="0"/>
                <xsd:element ref="ns2:lcf76f155ced4ddcb4097134ff3c332f" minOccurs="0"/>
                <xsd:element ref="ns3:TaxCatchAll" minOccurs="0"/>
                <xsd:element ref="ns2:MediaServiceOCR" minOccurs="0"/>
                <xsd:element ref="ns2:MediaServiceGenerationTime" minOccurs="0"/>
                <xsd:element ref="ns2:MediaServiceEventHashCode"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88ac10d5-d499-482e-8b56-6ab71e10844d"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DateTaken" ma:index="11" nillable="true" ma:displayName="MediaServiceDateTaken" ma:hidden="true" ma:indexed="true" ma:internalName="MediaServiceDateTaken" ma:readOnly="true">
      <xsd:simpleType>
        <xsd:restriction base="dms:Text"/>
      </xsd:simpleType>
    </xsd:element>
    <xsd:element name="lcf76f155ced4ddcb4097134ff3c332f" ma:index="13" nillable="true" ma:taxonomy="true" ma:internalName="lcf76f155ced4ddcb4097134ff3c332f" ma:taxonomyFieldName="MediaServiceImageTags" ma:displayName="Image Tags" ma:readOnly="false" ma:fieldId="{5cf76f15-5ced-4ddc-b409-7134ff3c332f}" ma:taxonomyMulti="true" ma:sspId="798d900d-0589-4081-96eb-513de833a507" ma:termSetId="09814cd3-568e-fe90-9814-8d621ff8fb84" ma:anchorId="fba54fb3-c3e1-fe81-a776-ca4b69148c4d" ma:open="true" ma:isKeyword="false">
      <xsd:complexType>
        <xsd:sequence>
          <xsd:element ref="pc:Terms" minOccurs="0" maxOccurs="1"/>
        </xsd:sequence>
      </xsd:complexType>
    </xsd:element>
    <xsd:element name="MediaServiceOCR" ma:index="15" nillable="true" ma:displayName="Extracted Text" ma:internalName="MediaServiceOCR" ma:readOnly="true">
      <xsd:simpleType>
        <xsd:restriction base="dms:Note">
          <xsd:maxLength value="255"/>
        </xsd:restriction>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b34fac16-a9a4-4d97-96d6-3d67277b3bbb" elementFormDefault="qualified">
    <xsd:import namespace="http://schemas.microsoft.com/office/2006/documentManagement/types"/>
    <xsd:import namespace="http://schemas.microsoft.com/office/infopath/2007/PartnerControls"/>
    <xsd:element name="TaxCatchAll" ma:index="14" nillable="true" ma:displayName="Taxonomy Catch All Column" ma:hidden="true" ma:list="{b26a010e-ed09-4f8f-afe2-969c013c94e7}" ma:internalName="TaxCatchAll" ma:showField="CatchAllData" ma:web="b34fac16-a9a4-4d97-96d6-3d67277b3bbb">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lcf76f155ced4ddcb4097134ff3c332f xmlns="88ac10d5-d499-482e-8b56-6ab71e10844d">
      <Terms xmlns="http://schemas.microsoft.com/office/infopath/2007/PartnerControls"/>
    </lcf76f155ced4ddcb4097134ff3c332f>
    <TaxCatchAll xmlns="b34fac16-a9a4-4d97-96d6-3d67277b3bbb" xsi:nil="true"/>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E49B65A5-ED3F-4EF5-A360-F6A425609E79}"/>
</file>

<file path=customXml/itemProps2.xml><?xml version="1.0" encoding="utf-8"?>
<ds:datastoreItem xmlns:ds="http://schemas.openxmlformats.org/officeDocument/2006/customXml" ds:itemID="{5F358958-D8EB-4FB2-BFD2-F843BCD2D4AF}">
  <ds:schemaRefs>
    <ds:schemaRef ds:uri="http://purl.org/dc/terms/"/>
    <ds:schemaRef ds:uri="http://schemas.openxmlformats.org/package/2006/metadata/core-properties"/>
    <ds:schemaRef ds:uri="http://schemas.microsoft.com/office/2006/documentManagement/types"/>
    <ds:schemaRef ds:uri="http://schemas.microsoft.com/office/infopath/2007/PartnerControls"/>
    <ds:schemaRef ds:uri="http://purl.org/dc/elements/1.1/"/>
    <ds:schemaRef ds:uri="http://schemas.microsoft.com/office/2006/metadata/properties"/>
    <ds:schemaRef ds:uri="http://www.w3.org/XML/1998/namespace"/>
    <ds:schemaRef ds:uri="http://purl.org/dc/dcmitype/"/>
  </ds:schemaRefs>
</ds:datastoreItem>
</file>

<file path=customXml/itemProps3.xml><?xml version="1.0" encoding="utf-8"?>
<ds:datastoreItem xmlns:ds="http://schemas.openxmlformats.org/officeDocument/2006/customXml" ds:itemID="{75082FEC-3AA7-4B8F-B62F-519977A950C3}">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DTTL_Brand_Formatted</Template>
  <TotalTime>174495</TotalTime>
  <Words>74495</Words>
  <Application>Microsoft Office PowerPoint</Application>
  <PresentationFormat>Custom</PresentationFormat>
  <Paragraphs>9329</Paragraphs>
  <Slides>241</Slides>
  <Notes>72</Notes>
  <HiddenSlides>0</HiddenSlides>
  <MMClips>0</MMClips>
  <ScaleCrop>false</ScaleCrop>
  <HeadingPairs>
    <vt:vector size="8" baseType="variant">
      <vt:variant>
        <vt:lpstr>Fonts Used</vt:lpstr>
      </vt:variant>
      <vt:variant>
        <vt:i4>8</vt:i4>
      </vt:variant>
      <vt:variant>
        <vt:lpstr>Theme</vt:lpstr>
      </vt:variant>
      <vt:variant>
        <vt:i4>5</vt:i4>
      </vt:variant>
      <vt:variant>
        <vt:lpstr>Embedded OLE Servers</vt:lpstr>
      </vt:variant>
      <vt:variant>
        <vt:i4>1</vt:i4>
      </vt:variant>
      <vt:variant>
        <vt:lpstr>Slide Titles</vt:lpstr>
      </vt:variant>
      <vt:variant>
        <vt:i4>241</vt:i4>
      </vt:variant>
    </vt:vector>
  </HeadingPairs>
  <TitlesOfParts>
    <vt:vector size="255" baseType="lpstr">
      <vt:lpstr>Arial</vt:lpstr>
      <vt:lpstr>Calibri</vt:lpstr>
      <vt:lpstr>Cambria Math</vt:lpstr>
      <vt:lpstr>Courier New</vt:lpstr>
      <vt:lpstr>Times New Roman</vt:lpstr>
      <vt:lpstr>Verdana</vt:lpstr>
      <vt:lpstr>Wingdings</vt:lpstr>
      <vt:lpstr>Wingdings 2</vt:lpstr>
      <vt:lpstr>Deloitte_TS_RoW</vt:lpstr>
      <vt:lpstr>1_Deloitte_TS_RoW</vt:lpstr>
      <vt:lpstr>2_Deloitte_TS_RoW</vt:lpstr>
      <vt:lpstr>3_Deloitte_TS_RoW</vt:lpstr>
      <vt:lpstr>4_Deloitte_TS_RoW</vt:lpstr>
      <vt:lpstr>think-cell Slide</vt:lpstr>
      <vt:lpstr>PowerPoint Presentation</vt:lpstr>
      <vt:lpstr>Disclaimer</vt:lpstr>
      <vt:lpstr>Abbreviation List</vt:lpstr>
      <vt:lpstr>Abbreviation List</vt:lpstr>
      <vt:lpstr>Abbreviation List</vt:lpstr>
      <vt:lpstr>Conversion Factors</vt:lpstr>
      <vt:lpstr>Summary</vt:lpstr>
      <vt:lpstr>Power Market | Supply Requirement to Meet Average Demand (Summary)</vt:lpstr>
      <vt:lpstr>Gas Allocation &amp; Tariff Hikes for Power Sector | Summary</vt:lpstr>
      <vt:lpstr>Plant Dispatch | Summary</vt:lpstr>
      <vt:lpstr>Gas Supply Outlook | Summary</vt:lpstr>
      <vt:lpstr>Gas Transmission Outlook | Summary</vt:lpstr>
      <vt:lpstr>Electricity Transmission Outlook | Summary</vt:lpstr>
      <vt:lpstr>DISCOM Credit Risk Assessment | Summary</vt:lpstr>
      <vt:lpstr>Fuel Supplier Credit Risk Assessment (BPC &amp; SGCL)| Summary</vt:lpstr>
      <vt:lpstr>Foreign Participation Assessment | Summary</vt:lpstr>
      <vt:lpstr>Foreign Participation Assessment | Summary</vt:lpstr>
      <vt:lpstr>Contract Risk Assessment | Summary</vt:lpstr>
      <vt:lpstr>Contract Risk Assessment | Summary</vt:lpstr>
      <vt:lpstr>Contract Risk Assessment | Summary</vt:lpstr>
      <vt:lpstr>Policy &amp; Regulatory Overview | Summary</vt:lpstr>
      <vt:lpstr>Policy &amp; Regulatory Overview | Summary</vt:lpstr>
      <vt:lpstr>Table of Contents</vt:lpstr>
      <vt:lpstr>PowerPoint Presentation</vt:lpstr>
      <vt:lpstr>Bangladesh – Country Overview &amp; Power Sector Value Chain</vt:lpstr>
      <vt:lpstr>Country Overview | Bangladesh</vt:lpstr>
      <vt:lpstr>Country Overview | Bangladesh Trade Balance &amp; Foreign Reserves</vt:lpstr>
      <vt:lpstr>PowerPoint Presentation</vt:lpstr>
      <vt:lpstr>Historical Power Demand, Supply &amp; Merit Order Assessment</vt:lpstr>
      <vt:lpstr>Power Market | Bangladesh Industry Value Chain</vt:lpstr>
      <vt:lpstr>Power Market | Historical Power Demand Met</vt:lpstr>
      <vt:lpstr>Power Market | Unmet Power Demand</vt:lpstr>
      <vt:lpstr>Power Market | Historical Power Demand</vt:lpstr>
      <vt:lpstr>Power Market | Historical Power Supply</vt:lpstr>
      <vt:lpstr>Power Market | Merit Order</vt:lpstr>
      <vt:lpstr>Natural Gas Supply Assessment</vt:lpstr>
      <vt:lpstr>Power Market | Natural Gas Supply</vt:lpstr>
      <vt:lpstr>Power Market | Natural Gas Supply</vt:lpstr>
      <vt:lpstr>Power Market | Natural Gas Supply</vt:lpstr>
      <vt:lpstr>Natural Gas Pricing Assessment</vt:lpstr>
      <vt:lpstr>Power Market | Natural Gas Supply</vt:lpstr>
      <vt:lpstr>Power Market | Natural Gas Supply</vt:lpstr>
      <vt:lpstr>Power Market | Natural Gas Supply</vt:lpstr>
      <vt:lpstr>Power Market | Natural Gas Supply</vt:lpstr>
      <vt:lpstr>Demand Projection - Scenario – Business As Usual (PSMP Revised)</vt:lpstr>
      <vt:lpstr>Power Market | Demand Projection (as per PSMP – Revised)</vt:lpstr>
      <vt:lpstr>Demand Projection &amp; Scenario – Covid – 19 Impact &amp; Scenarios</vt:lpstr>
      <vt:lpstr>Power Market | Demand Projection (COVID 19)</vt:lpstr>
      <vt:lpstr>Power Market | Demand Projection (COVID 19)</vt:lpstr>
      <vt:lpstr>Power Market | Demand Projection (Summary)</vt:lpstr>
      <vt:lpstr>Assessment of Supply Capacity Requirement to meet Power Demand in COVID 19 Base Case</vt:lpstr>
      <vt:lpstr>Power Market | Supply Requirement to Meet Average Demand (FY26)</vt:lpstr>
      <vt:lpstr>Power Market | Supply Requirement to Meet Average Demand (FY26)</vt:lpstr>
      <vt:lpstr>Power Market | Supply Requirement to Meet Average Demand (FY30)</vt:lpstr>
      <vt:lpstr>Power Market | Supply Requirement to Meet Average Demand (Summary)</vt:lpstr>
      <vt:lpstr>Power Market Supply Projection</vt:lpstr>
      <vt:lpstr>Power Market | Supply Projection</vt:lpstr>
      <vt:lpstr>Power Market | Supply Projection (Gas Based Plants)</vt:lpstr>
      <vt:lpstr>Power Market | Supply Projection (HFO)</vt:lpstr>
      <vt:lpstr>Power Market | Supply Projection (Imported Coal based Plants)</vt:lpstr>
      <vt:lpstr>Power Market | Supply Projection (LNG Infrastructure)</vt:lpstr>
      <vt:lpstr>Power Market | Supply Projection (LNG based Power Plants)</vt:lpstr>
      <vt:lpstr>Power Market | Supply Projection (Power Trade &amp; Import)</vt:lpstr>
      <vt:lpstr>Power Market | Supply Projection for average demand (FY26)</vt:lpstr>
      <vt:lpstr>Power Market | Supply Projection for average demand (FY30)</vt:lpstr>
      <vt:lpstr>Power Market | Demand – Supply Projection for average demand (Summary)</vt:lpstr>
      <vt:lpstr>Power Market | Supply Projection for Peak Demand</vt:lpstr>
      <vt:lpstr>Plant Dispatchability</vt:lpstr>
      <vt:lpstr>Power Market | Plant Dispatchability</vt:lpstr>
      <vt:lpstr>Power Market | Plant Dispatchability</vt:lpstr>
      <vt:lpstr>Power Market | Plant Dispatchability</vt:lpstr>
      <vt:lpstr>Power Market | Plant Dispatchability</vt:lpstr>
      <vt:lpstr>Commercial Dispatchability for Nimbus</vt:lpstr>
      <vt:lpstr>Power Market | Plant Dispatchability (Based on merit Order)</vt:lpstr>
      <vt:lpstr>Power Market | Plant Dispatchability – Gas Operations (BDT / unit)</vt:lpstr>
      <vt:lpstr>Power Market | Plant Dispatchability – Gas Operations (US Cents/ unit)</vt:lpstr>
      <vt:lpstr>Power Market | Plant Dispatchability – HSD Operations (BDT/ unit)</vt:lpstr>
      <vt:lpstr>Power Market | Plant Dispatchability – HSD Operations (US Cents/ unit)</vt:lpstr>
      <vt:lpstr>Power Market | Plant Dispatchability (Based on merit Order)</vt:lpstr>
      <vt:lpstr>PowerPoint Presentation</vt:lpstr>
      <vt:lpstr>Gas Transmission | Overview (Bangladesh)</vt:lpstr>
      <vt:lpstr>Gas Transmission | Pipeline &amp; Power Plant (Overview)</vt:lpstr>
      <vt:lpstr>Gas Transmission | LNG Infrastructure (Till March 2020)</vt:lpstr>
      <vt:lpstr>Gas Transmission | LNG Infrastructure (April 2020 onwards)</vt:lpstr>
      <vt:lpstr>Gas Supply &amp; Transmission Outlook for Nimbus </vt:lpstr>
      <vt:lpstr>Gas Supply Outlook (Bhola Island)</vt:lpstr>
      <vt:lpstr>Gas Supply Outlook (Demand Scenario Analysis)</vt:lpstr>
      <vt:lpstr>Gas Supply Outlook (Bhola Island – Bhola I)</vt:lpstr>
      <vt:lpstr>Gas Transmission | Gas Supply Outlook (Bhola Island)</vt:lpstr>
      <vt:lpstr>Gas Transmission | Gas Supply Outlook (Bhola Island)</vt:lpstr>
      <vt:lpstr>PowerPoint Presentation</vt:lpstr>
      <vt:lpstr>Electricity Transmission | Overview</vt:lpstr>
      <vt:lpstr>Electricity Transmission | Historical Growth &amp; Transmission Loss</vt:lpstr>
      <vt:lpstr>Electricity Transmission | Outages</vt:lpstr>
      <vt:lpstr>Electricity Transmission | Major Ongoing Development Projects</vt:lpstr>
      <vt:lpstr>Electricity Transmission Plan for Nimbus</vt:lpstr>
      <vt:lpstr>Electricity Transmission | Current Plan for Evacuation of Power for Nimbus</vt:lpstr>
      <vt:lpstr>Electricity Transmission | Substation Capacity at Barisal (N)</vt:lpstr>
      <vt:lpstr>Electricity Transmission | Delay in Connectivity to Aminbazar</vt:lpstr>
      <vt:lpstr>Electricity Transmission | Delay in Connectivity to Aminbazar</vt:lpstr>
      <vt:lpstr>PowerPoint Presentation</vt:lpstr>
      <vt:lpstr>LNG landed price | Historical</vt:lpstr>
      <vt:lpstr>LNG landed price | Forecast</vt:lpstr>
      <vt:lpstr>Natural Gas Price for Power Sector| Forecast </vt:lpstr>
      <vt:lpstr>HSD landed price | Historical</vt:lpstr>
      <vt:lpstr>HSD landed price | Forecast</vt:lpstr>
      <vt:lpstr>PowerPoint Presentation</vt:lpstr>
      <vt:lpstr>BPDB Historical Performance| Discom Credit Assessment</vt:lpstr>
      <vt:lpstr>BPDB Net Worth| Discom Credit Assessment</vt:lpstr>
      <vt:lpstr>BPDB Power Purchase and Selling Rates| Discom Credit Assessment</vt:lpstr>
      <vt:lpstr>BPDB - Difference in Billing &amp; Collections| Discom Credit Assessment</vt:lpstr>
      <vt:lpstr>BPDB Debtor and Creditor Days| Discom Credit Assessment</vt:lpstr>
      <vt:lpstr>BPDB – Fixed Charge Assessment| Discom Credit Assessment</vt:lpstr>
      <vt:lpstr>BPDB – Variable Charge Assessment| Discom Credit Assessment</vt:lpstr>
      <vt:lpstr>BPDB – Payment Assessment (Case – Power Demand Growth at 5% CAGR)</vt:lpstr>
      <vt:lpstr>BPDB Liquidity Assessment – Public Sources| Discom Credit Assessment</vt:lpstr>
      <vt:lpstr>BPDB – IPP Relations Assessment | Discom Credit Assessment</vt:lpstr>
      <vt:lpstr>BPDB Liquidity Assessment – Covid 19 | Discom Credit Assessment</vt:lpstr>
      <vt:lpstr>BPDB Liquidity Assessment – Covid 19 | Discom Credit Assessment</vt:lpstr>
      <vt:lpstr>BPDB Liquidity Assessment – Covid 19 | Discom Credit Assessment</vt:lpstr>
      <vt:lpstr>Bulk Level &amp; Retail Tariff Hike History | Discom Credit Assessment</vt:lpstr>
      <vt:lpstr>Assessment of Distribution Utility Profitability | Discom Credit Assessment</vt:lpstr>
      <vt:lpstr>PowerPoint Presentation</vt:lpstr>
      <vt:lpstr>Bangladesh Petroleum Corporation | Supplier Credit Assessment</vt:lpstr>
      <vt:lpstr>Bangladesh Petroleum Corporation | Supplier Credit Assessment</vt:lpstr>
      <vt:lpstr>Bangladesh Petroleum Corporation | Supplier Credit Assessment</vt:lpstr>
      <vt:lpstr>Bangladesh Petroleum Corporation | Supplier Credit Assessment</vt:lpstr>
      <vt:lpstr>SGCL Performance</vt:lpstr>
      <vt:lpstr>SGCL Performance</vt:lpstr>
      <vt:lpstr>Financial Performance of Petrobangla</vt:lpstr>
      <vt:lpstr>PowerPoint Presentation</vt:lpstr>
      <vt:lpstr>Foreign Equity Participation in Power Sector | Investments in Power Plants</vt:lpstr>
      <vt:lpstr>Foreign Debt Participation in Power Sector | Investments in Power Plants</vt:lpstr>
      <vt:lpstr>Foreign Participation in Power Sector | Upcoming Investments</vt:lpstr>
      <vt:lpstr>Foreign Participation in Power Sector | Investment Overview</vt:lpstr>
      <vt:lpstr>Foreign Participation in Power Sector | IPP Portfolio</vt:lpstr>
      <vt:lpstr>Foreign Participation in Power Sector | Asset Identification (Commissioned)</vt:lpstr>
      <vt:lpstr>Foreign Participation in Power Sector | Planned Investments in Power Sector</vt:lpstr>
      <vt:lpstr>Foreign Participation in Power Sector | Asset Identification (Upcoming)</vt:lpstr>
      <vt:lpstr>PowerPoint Presentation</vt:lpstr>
      <vt:lpstr>Power Purchase Agreement | Salient Features</vt:lpstr>
      <vt:lpstr>Power Purchase Agreement | Salient Features</vt:lpstr>
      <vt:lpstr>Power Purchase Agreement | Salient Features</vt:lpstr>
      <vt:lpstr>Power Purchase Agreement | Salient Features</vt:lpstr>
      <vt:lpstr>Power Purchase Agreement | Key Terms</vt:lpstr>
      <vt:lpstr>Power Purchase Agreement | Key Terms</vt:lpstr>
      <vt:lpstr>Power Purchase Agreement | Key Terms</vt:lpstr>
      <vt:lpstr>Power Purchase Agreement | Key Terms</vt:lpstr>
      <vt:lpstr>Power Purchase Agreement | Key Terms</vt:lpstr>
      <vt:lpstr>Power Purchase Agreement | Key Terms</vt:lpstr>
      <vt:lpstr>Power Purchase Agreement | Key Terms</vt:lpstr>
      <vt:lpstr>Power Purchase Agreement | Key Terms</vt:lpstr>
      <vt:lpstr>Power Purchase Agreement | Key Terms</vt:lpstr>
      <vt:lpstr>Power Purchase Agreement | Liquidated Damages (1/2)</vt:lpstr>
      <vt:lpstr>Power Purchase Agreement | Liquidated Damages (2/2)</vt:lpstr>
      <vt:lpstr>Power Purchase Agreement | Key Terms</vt:lpstr>
      <vt:lpstr>Power Purchase Agreement | Benchmarking SHR with other Gas plants</vt:lpstr>
      <vt:lpstr>Power Purchase Agreement | Other risks</vt:lpstr>
      <vt:lpstr>Gas Supply Agreement | Salient Features</vt:lpstr>
      <vt:lpstr>Gas Supply Agreement| Key Terms</vt:lpstr>
      <vt:lpstr>Gas Supply Agreement| Key Terms</vt:lpstr>
      <vt:lpstr>Gas Supply Agreement| Key Terms</vt:lpstr>
      <vt:lpstr>Fuel Supply Agreement | Salient Features</vt:lpstr>
      <vt:lpstr>Fuel Supply Agreement| Key Terms</vt:lpstr>
      <vt:lpstr>Fuel Supply Agreement| Key Terms</vt:lpstr>
      <vt:lpstr>Fuel Storage| Key Provisions</vt:lpstr>
      <vt:lpstr>Operations and Maintenance Agreement | Salient Features</vt:lpstr>
      <vt:lpstr>O&amp;M Agreement | Key Terms</vt:lpstr>
      <vt:lpstr>O&amp;M Agreement | Benchmarking O&amp;M Cost for Nimbus (Gas Operation)</vt:lpstr>
      <vt:lpstr>O&amp;M Agreement | Benchmarking O&amp;M Cost for Nimbus (HSD Operation)</vt:lpstr>
      <vt:lpstr>Implementation Agreement | Key Provisions</vt:lpstr>
      <vt:lpstr>Implementation Agreement | Key Terms</vt:lpstr>
      <vt:lpstr>PowerPoint Presentation</vt:lpstr>
      <vt:lpstr>Policy &amp; Regulatory Overview | Implications for Power Generators</vt:lpstr>
      <vt:lpstr>Policy &amp; Regulatory Overview | Implications for Power Generators</vt:lpstr>
      <vt:lpstr>Policy &amp; Regulatory Overview | Implications for Power Generators</vt:lpstr>
      <vt:lpstr>Policy &amp; Regulatory Overview | Implications for Power Generators</vt:lpstr>
      <vt:lpstr>Policy &amp; Regulatory Overview | Implications for Power Generators</vt:lpstr>
      <vt:lpstr>Policy &amp; Regulatory Overview | Implications for Power Generators</vt:lpstr>
      <vt:lpstr>Policy &amp; Regulatory Overview | Implications for Power Generators</vt:lpstr>
      <vt:lpstr>PowerPoint Presentation</vt:lpstr>
      <vt:lpstr>Annexure A | Natural Gas Tariff History in Bangladesh</vt:lpstr>
      <vt:lpstr>Annexure B | Natural Gas Price Components in Bangladesh</vt:lpstr>
      <vt:lpstr>Annexure C | Natural Gas Price Subsidy by Government</vt:lpstr>
      <vt:lpstr>Annexure – D - BPDB – Variable Charge Assessment</vt:lpstr>
      <vt:lpstr>Annexure E | Gas Transmission | Existing Pipelines (1/2)</vt:lpstr>
      <vt:lpstr>Annexure E | Gas Transmission | Existing Pipelines (2/2)</vt:lpstr>
      <vt:lpstr>Annexure F | Gas Transmission | Planned Pipelines (1/2)</vt:lpstr>
      <vt:lpstr>Annexure F | Gas Transmission | Planned Pipelines (2/2)</vt:lpstr>
      <vt:lpstr>Annexure G | Electricity Transmission | Ongoing Development Projects</vt:lpstr>
      <vt:lpstr>Annexure G | Electricity Transmission | Ongoing Development Projects</vt:lpstr>
      <vt:lpstr>Annexure G | Electricity Transmission | Ongoing Development Projects</vt:lpstr>
      <vt:lpstr>Annexure G | Electricity Transmission | Ongoing Development Projects</vt:lpstr>
      <vt:lpstr>Annexure G | Electricity Transmission | Ongoing Development Projects</vt:lpstr>
      <vt:lpstr>Annexure G | Electricity Transmission | Ongoing Development Projects</vt:lpstr>
      <vt:lpstr>Annexure G | Electricity Transmission | Ongoing Development Projects</vt:lpstr>
      <vt:lpstr>Annexure G | Electricity Transmission | Ongoing Development Projects</vt:lpstr>
      <vt:lpstr>Annexure H | Electricity Transmission | Planned Projects</vt:lpstr>
      <vt:lpstr>Contracts Risk Assessment</vt:lpstr>
      <vt:lpstr>Annexure I | PPA Terms</vt:lpstr>
      <vt:lpstr>Annexure I | PPA Terms</vt:lpstr>
      <vt:lpstr>Annexure I | PPA Terms</vt:lpstr>
      <vt:lpstr>Annexure I | PPA Terms</vt:lpstr>
      <vt:lpstr>Annexure I | PPA Terms</vt:lpstr>
      <vt:lpstr>Annexure I | PPA Terms</vt:lpstr>
      <vt:lpstr>Annexure I | PPA Terms</vt:lpstr>
      <vt:lpstr>Annexure J | GSA Terms</vt:lpstr>
      <vt:lpstr>Annexure J | GSA Terms</vt:lpstr>
      <vt:lpstr>Annexure J | GSA Terms</vt:lpstr>
      <vt:lpstr>Annexure J | GSA Terms</vt:lpstr>
      <vt:lpstr>Annexure J | GSA Terms</vt:lpstr>
      <vt:lpstr>Annexure K | FSA Terms</vt:lpstr>
      <vt:lpstr>Annexure K | FSA Terms</vt:lpstr>
      <vt:lpstr>Annexure K | FSA Terms</vt:lpstr>
      <vt:lpstr>Annexure K | FSA Terms</vt:lpstr>
      <vt:lpstr>Annexure K | FSA Terms</vt:lpstr>
      <vt:lpstr>Annexure L | O&amp;M Agreement Terms</vt:lpstr>
      <vt:lpstr>Annexure L | O&amp;M Agreement Terms</vt:lpstr>
      <vt:lpstr>Annexure L | O&amp;M Agreement Terms</vt:lpstr>
      <vt:lpstr>Annexure M | Implementation Agreement Terms</vt:lpstr>
      <vt:lpstr>Annexure M | Implementation Agreement Terms</vt:lpstr>
      <vt:lpstr>Annexure M | Implementation Agreement Terms</vt:lpstr>
      <vt:lpstr>Annexure M | Implementation Agreement Terms</vt:lpstr>
      <vt:lpstr>Annexure M | Implementation Agreement Terms</vt:lpstr>
      <vt:lpstr>Annexure M | Implementation Agreement - Termination Clause</vt:lpstr>
      <vt:lpstr>Annexure M | Implementation Agreement - Termination Clause</vt:lpstr>
      <vt:lpstr>Annexure M | Implementation Agreement - Termination Clause</vt:lpstr>
      <vt:lpstr>List of Foreign Investment in Bangladesh Power Sector – Privately Owned Plants</vt:lpstr>
      <vt:lpstr>Annexure N | Plant Sponsors - Commissioned</vt:lpstr>
      <vt:lpstr>Annexure N | Plant Sponsors - Commissioned</vt:lpstr>
      <vt:lpstr>Annexure N | Plant Sponsors - Commissioned</vt:lpstr>
      <vt:lpstr>Annexure N | Plant Sponsors - Commissioned</vt:lpstr>
      <vt:lpstr>Annexure N | Plant Sponsors - Commissioned</vt:lpstr>
      <vt:lpstr>Annexure N | Plant Sponsors - Commissioned</vt:lpstr>
      <vt:lpstr>Annexure N | Plant Sponsors - Commissioned</vt:lpstr>
      <vt:lpstr>Annexure O | Plant Sponsors – Upcoming / Planned</vt:lpstr>
      <vt:lpstr>Annexure O | Plant Sponsors – Upcoming / Planned</vt:lpstr>
      <vt:lpstr>Annexure O | Plant Sponsors – Upcoming / Planned</vt:lpstr>
      <vt:lpstr>Annexure P | List of Major Private Investors in Bangladesh</vt:lpstr>
      <vt:lpstr>Annexure Q | Retail Tariff Hike Trend</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Microsoft Office User</dc:creator>
  <cp:lastModifiedBy>Khiroria, Adit</cp:lastModifiedBy>
  <cp:revision>10855</cp:revision>
  <cp:lastPrinted>2018-05-23T06:44:47Z</cp:lastPrinted>
  <dcterms:created xsi:type="dcterms:W3CDTF">2016-05-19T16:33:41Z</dcterms:created>
  <dcterms:modified xsi:type="dcterms:W3CDTF">2022-09-25T14:51:51Z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0x01010046EABACCD3B39C49923CC76F9A3899B0</vt:lpwstr>
  </property>
  <property fmtid="{D5CDD505-2E9C-101B-9397-08002B2CF9AE}" pid="3" name="Language">
    <vt:lpwstr>EnglishUK</vt:lpwstr>
  </property>
  <property fmtid="{D5CDD505-2E9C-101B-9397-08002B2CF9AE}" pid="4" name="PaperSize">
    <vt:lpwstr>International</vt:lpwstr>
  </property>
  <property fmtid="{D5CDD505-2E9C-101B-9397-08002B2CF9AE}" pid="5" name="DTAppendix">
    <vt:lpwstr>Appendix</vt:lpwstr>
  </property>
  <property fmtid="{D5CDD505-2E9C-101B-9397-08002B2CF9AE}" pid="6" name="DTSection">
    <vt:lpwstr>Section</vt:lpwstr>
  </property>
  <property fmtid="{D5CDD505-2E9C-101B-9397-08002B2CF9AE}" pid="7" name="DTDocType">
    <vt:lpwstr>Standard</vt:lpwstr>
  </property>
  <property fmtid="{D5CDD505-2E9C-101B-9397-08002B2CF9AE}" pid="8" name="Legal Entity">
    <vt:lpwstr>Deloitte</vt:lpwstr>
  </property>
  <property fmtid="{D5CDD505-2E9C-101B-9397-08002B2CF9AE}" pid="9" name="Version">
    <vt:lpwstr>2.2</vt:lpwstr>
  </property>
  <property fmtid="{D5CDD505-2E9C-101B-9397-08002B2CF9AE}" pid="10" name="DTPage">
    <vt:lpwstr>Page</vt:lpwstr>
  </property>
  <property fmtid="{D5CDD505-2E9C-101B-9397-08002B2CF9AE}" pid="11" name="DTNr">
    <vt:lpwstr>No.</vt:lpwstr>
  </property>
  <property fmtid="{D5CDD505-2E9C-101B-9397-08002B2CF9AE}" pid="12" name="DTGlossary">
    <vt:lpwstr>Gloassary</vt:lpwstr>
  </property>
  <property fmtid="{D5CDD505-2E9C-101B-9397-08002B2CF9AE}" pid="13" name="DeloitteTS">
    <vt:lpwstr>DeloitteTS</vt:lpwstr>
  </property>
  <property fmtid="{D5CDD505-2E9C-101B-9397-08002B2CF9AE}" pid="14" name="Version3.2">
    <vt:bool>true</vt:bool>
  </property>
  <property fmtid="{D5CDD505-2E9C-101B-9397-08002B2CF9AE}" pid="15" name="AdditionalPageBeforeContents">
    <vt:i4>0</vt:i4>
  </property>
  <property fmtid="{D5CDD505-2E9C-101B-9397-08002B2CF9AE}" pid="16" name="MSIP_Label_ea60d57e-af5b-4752-ac57-3e4f28ca11dc_Enabled">
    <vt:lpwstr>true</vt:lpwstr>
  </property>
  <property fmtid="{D5CDD505-2E9C-101B-9397-08002B2CF9AE}" pid="17" name="MSIP_Label_ea60d57e-af5b-4752-ac57-3e4f28ca11dc_SetDate">
    <vt:lpwstr>2022-06-13T09:03:17Z</vt:lpwstr>
  </property>
  <property fmtid="{D5CDD505-2E9C-101B-9397-08002B2CF9AE}" pid="18" name="MSIP_Label_ea60d57e-af5b-4752-ac57-3e4f28ca11dc_Method">
    <vt:lpwstr>Standard</vt:lpwstr>
  </property>
  <property fmtid="{D5CDD505-2E9C-101B-9397-08002B2CF9AE}" pid="19" name="MSIP_Label_ea60d57e-af5b-4752-ac57-3e4f28ca11dc_Name">
    <vt:lpwstr>ea60d57e-af5b-4752-ac57-3e4f28ca11dc</vt:lpwstr>
  </property>
  <property fmtid="{D5CDD505-2E9C-101B-9397-08002B2CF9AE}" pid="20" name="MSIP_Label_ea60d57e-af5b-4752-ac57-3e4f28ca11dc_SiteId">
    <vt:lpwstr>36da45f1-dd2c-4d1f-af13-5abe46b99921</vt:lpwstr>
  </property>
  <property fmtid="{D5CDD505-2E9C-101B-9397-08002B2CF9AE}" pid="21" name="MSIP_Label_ea60d57e-af5b-4752-ac57-3e4f28ca11dc_ActionId">
    <vt:lpwstr>785d2f4d-8c2d-4630-8f03-24adb11cf044</vt:lpwstr>
  </property>
  <property fmtid="{D5CDD505-2E9C-101B-9397-08002B2CF9AE}" pid="22" name="MSIP_Label_ea60d57e-af5b-4752-ac57-3e4f28ca11dc_ContentBits">
    <vt:lpwstr>0</vt:lpwstr>
  </property>
</Properties>
</file>